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68"/>
  </p:notesMasterIdLst>
  <p:sldIdLst>
    <p:sldId id="256" r:id="rId2"/>
    <p:sldId id="372" r:id="rId3"/>
    <p:sldId id="322" r:id="rId4"/>
    <p:sldId id="259" r:id="rId5"/>
    <p:sldId id="324" r:id="rId6"/>
    <p:sldId id="325" r:id="rId7"/>
    <p:sldId id="374" r:id="rId8"/>
    <p:sldId id="327" r:id="rId9"/>
    <p:sldId id="326" r:id="rId10"/>
    <p:sldId id="381" r:id="rId11"/>
    <p:sldId id="282" r:id="rId12"/>
    <p:sldId id="350" r:id="rId13"/>
    <p:sldId id="388" r:id="rId14"/>
    <p:sldId id="375" r:id="rId15"/>
    <p:sldId id="382" r:id="rId16"/>
    <p:sldId id="284" r:id="rId17"/>
    <p:sldId id="283" r:id="rId18"/>
    <p:sldId id="351" r:id="rId19"/>
    <p:sldId id="285" r:id="rId20"/>
    <p:sldId id="286" r:id="rId21"/>
    <p:sldId id="353" r:id="rId22"/>
    <p:sldId id="357" r:id="rId23"/>
    <p:sldId id="358" r:id="rId24"/>
    <p:sldId id="352" r:id="rId25"/>
    <p:sldId id="273" r:id="rId26"/>
    <p:sldId id="274" r:id="rId27"/>
    <p:sldId id="275" r:id="rId28"/>
    <p:sldId id="277" r:id="rId29"/>
    <p:sldId id="276" r:id="rId30"/>
    <p:sldId id="279" r:id="rId31"/>
    <p:sldId id="390" r:id="rId32"/>
    <p:sldId id="270" r:id="rId33"/>
    <p:sldId id="329" r:id="rId34"/>
    <p:sldId id="389" r:id="rId35"/>
    <p:sldId id="272" r:id="rId36"/>
    <p:sldId id="391" r:id="rId37"/>
    <p:sldId id="271" r:id="rId38"/>
    <p:sldId id="344" r:id="rId39"/>
    <p:sldId id="331" r:id="rId40"/>
    <p:sldId id="280" r:id="rId41"/>
    <p:sldId id="281" r:id="rId42"/>
    <p:sldId id="287" r:id="rId43"/>
    <p:sldId id="392" r:id="rId44"/>
    <p:sldId id="336" r:id="rId45"/>
    <p:sldId id="337" r:id="rId46"/>
    <p:sldId id="333" r:id="rId47"/>
    <p:sldId id="338" r:id="rId48"/>
    <p:sldId id="376" r:id="rId49"/>
    <p:sldId id="377" r:id="rId50"/>
    <p:sldId id="378" r:id="rId51"/>
    <p:sldId id="334" r:id="rId52"/>
    <p:sldId id="385" r:id="rId53"/>
    <p:sldId id="340" r:id="rId54"/>
    <p:sldId id="341" r:id="rId55"/>
    <p:sldId id="379" r:id="rId56"/>
    <p:sldId id="347" r:id="rId57"/>
    <p:sldId id="290" r:id="rId58"/>
    <p:sldId id="383" r:id="rId59"/>
    <p:sldId id="348" r:id="rId60"/>
    <p:sldId id="354" r:id="rId61"/>
    <p:sldId id="355" r:id="rId62"/>
    <p:sldId id="292" r:id="rId63"/>
    <p:sldId id="294" r:id="rId64"/>
    <p:sldId id="384" r:id="rId65"/>
    <p:sldId id="295" r:id="rId66"/>
    <p:sldId id="393"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892" autoAdjust="0"/>
    <p:restoredTop sz="76502" autoAdjust="0"/>
  </p:normalViewPr>
  <p:slideViewPr>
    <p:cSldViewPr snapToGrid="0">
      <p:cViewPr varScale="1">
        <p:scale>
          <a:sx n="81" d="100"/>
          <a:sy n="81" d="100"/>
        </p:scale>
        <p:origin x="954" y="96"/>
      </p:cViewPr>
      <p:guideLst/>
    </p:cSldViewPr>
  </p:slideViewPr>
  <p:outlineViewPr>
    <p:cViewPr>
      <p:scale>
        <a:sx n="33" d="100"/>
        <a:sy n="33" d="100"/>
      </p:scale>
      <p:origin x="0" y="-1839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rry, Aaron" userId="b8ef4039-e4b8-4399-9041-f01f7d3f637b" providerId="ADAL" clId="{BB76C928-C062-43F8-9DDA-EA1C5F8A8B16}"/>
    <pc:docChg chg="custSel modSld">
      <pc:chgData name="Perry, Aaron" userId="b8ef4039-e4b8-4399-9041-f01f7d3f637b" providerId="ADAL" clId="{BB76C928-C062-43F8-9DDA-EA1C5F8A8B16}" dt="2026-10-20T18:26:27.105" v="35" actId="368"/>
      <pc:docMkLst>
        <pc:docMk/>
      </pc:docMkLst>
      <pc:sldChg chg="modNotes">
        <pc:chgData name="Perry, Aaron" userId="b8ef4039-e4b8-4399-9041-f01f7d3f637b" providerId="ADAL" clId="{BB76C928-C062-43F8-9DDA-EA1C5F8A8B16}" dt="2026-10-20T18:26:26.747" v="3" actId="368"/>
        <pc:sldMkLst>
          <pc:docMk/>
          <pc:sldMk cId="3737701413" sldId="259"/>
        </pc:sldMkLst>
      </pc:sldChg>
      <pc:sldChg chg="modNotes">
        <pc:chgData name="Perry, Aaron" userId="b8ef4039-e4b8-4399-9041-f01f7d3f637b" providerId="ADAL" clId="{BB76C928-C062-43F8-9DDA-EA1C5F8A8B16}" dt="2026-10-20T18:26:26.978" v="23" actId="368"/>
        <pc:sldMkLst>
          <pc:docMk/>
          <pc:sldMk cId="1959278076" sldId="271"/>
        </pc:sldMkLst>
      </pc:sldChg>
      <pc:sldChg chg="modNotes">
        <pc:chgData name="Perry, Aaron" userId="b8ef4039-e4b8-4399-9041-f01f7d3f637b" providerId="ADAL" clId="{BB76C928-C062-43F8-9DDA-EA1C5F8A8B16}" dt="2026-10-20T18:26:26.960" v="21" actId="368"/>
        <pc:sldMkLst>
          <pc:docMk/>
          <pc:sldMk cId="461718588" sldId="272"/>
        </pc:sldMkLst>
      </pc:sldChg>
      <pc:sldChg chg="modNotes">
        <pc:chgData name="Perry, Aaron" userId="b8ef4039-e4b8-4399-9041-f01f7d3f637b" providerId="ADAL" clId="{BB76C928-C062-43F8-9DDA-EA1C5F8A8B16}" dt="2026-10-20T18:26:26.918" v="19" actId="368"/>
        <pc:sldMkLst>
          <pc:docMk/>
          <pc:sldMk cId="685058704" sldId="276"/>
        </pc:sldMkLst>
      </pc:sldChg>
      <pc:sldChg chg="modNotes">
        <pc:chgData name="Perry, Aaron" userId="b8ef4039-e4b8-4399-9041-f01f7d3f637b" providerId="ADAL" clId="{BB76C928-C062-43F8-9DDA-EA1C5F8A8B16}" dt="2026-10-20T18:26:26.854" v="11" actId="368"/>
        <pc:sldMkLst>
          <pc:docMk/>
          <pc:sldMk cId="968469573" sldId="285"/>
        </pc:sldMkLst>
      </pc:sldChg>
      <pc:sldChg chg="modNotes">
        <pc:chgData name="Perry, Aaron" userId="b8ef4039-e4b8-4399-9041-f01f7d3f637b" providerId="ADAL" clId="{BB76C928-C062-43F8-9DDA-EA1C5F8A8B16}" dt="2026-10-20T18:26:27.105" v="35" actId="368"/>
        <pc:sldMkLst>
          <pc:docMk/>
          <pc:sldMk cId="2128378337" sldId="290"/>
        </pc:sldMkLst>
      </pc:sldChg>
      <pc:sldChg chg="modNotes">
        <pc:chgData name="Perry, Aaron" userId="b8ef4039-e4b8-4399-9041-f01f7d3f637b" providerId="ADAL" clId="{BB76C928-C062-43F8-9DDA-EA1C5F8A8B16}" dt="2026-10-20T18:26:26.756" v="5" actId="368"/>
        <pc:sldMkLst>
          <pc:docMk/>
          <pc:sldMk cId="3068817741" sldId="324"/>
        </pc:sldMkLst>
      </pc:sldChg>
      <pc:sldChg chg="modNotes">
        <pc:chgData name="Perry, Aaron" userId="b8ef4039-e4b8-4399-9041-f01f7d3f637b" providerId="ADAL" clId="{BB76C928-C062-43F8-9DDA-EA1C5F8A8B16}" dt="2026-10-20T18:26:26.776" v="7" actId="368"/>
        <pc:sldMkLst>
          <pc:docMk/>
          <pc:sldMk cId="4096798696" sldId="327"/>
        </pc:sldMkLst>
      </pc:sldChg>
      <pc:sldChg chg="modNotes">
        <pc:chgData name="Perry, Aaron" userId="b8ef4039-e4b8-4399-9041-f01f7d3f637b" providerId="ADAL" clId="{BB76C928-C062-43F8-9DDA-EA1C5F8A8B16}" dt="2026-10-20T18:26:27.033" v="29" actId="368"/>
        <pc:sldMkLst>
          <pc:docMk/>
          <pc:sldMk cId="24618154" sldId="337"/>
        </pc:sldMkLst>
      </pc:sldChg>
      <pc:sldChg chg="modNotes">
        <pc:chgData name="Perry, Aaron" userId="b8ef4039-e4b8-4399-9041-f01f7d3f637b" providerId="ADAL" clId="{BB76C928-C062-43F8-9DDA-EA1C5F8A8B16}" dt="2026-10-20T18:26:27.046" v="31" actId="368"/>
        <pc:sldMkLst>
          <pc:docMk/>
          <pc:sldMk cId="2217169540" sldId="338"/>
        </pc:sldMkLst>
      </pc:sldChg>
      <pc:sldChg chg="modNotes">
        <pc:chgData name="Perry, Aaron" userId="b8ef4039-e4b8-4399-9041-f01f7d3f637b" providerId="ADAL" clId="{BB76C928-C062-43F8-9DDA-EA1C5F8A8B16}" dt="2026-10-20T18:26:26.989" v="25" actId="368"/>
        <pc:sldMkLst>
          <pc:docMk/>
          <pc:sldMk cId="3494926266" sldId="344"/>
        </pc:sldMkLst>
      </pc:sldChg>
      <pc:sldChg chg="modNotes">
        <pc:chgData name="Perry, Aaron" userId="b8ef4039-e4b8-4399-9041-f01f7d3f637b" providerId="ADAL" clId="{BB76C928-C062-43F8-9DDA-EA1C5F8A8B16}" dt="2026-10-20T18:26:26.892" v="17" actId="368"/>
        <pc:sldMkLst>
          <pc:docMk/>
          <pc:sldMk cId="32197259" sldId="352"/>
        </pc:sldMkLst>
      </pc:sldChg>
      <pc:sldChg chg="modNotes">
        <pc:chgData name="Perry, Aaron" userId="b8ef4039-e4b8-4399-9041-f01f7d3f637b" providerId="ADAL" clId="{BB76C928-C062-43F8-9DDA-EA1C5F8A8B16}" dt="2026-10-20T18:26:26.870" v="13" actId="368"/>
        <pc:sldMkLst>
          <pc:docMk/>
          <pc:sldMk cId="1956966320" sldId="353"/>
        </pc:sldMkLst>
      </pc:sldChg>
      <pc:sldChg chg="modNotes">
        <pc:chgData name="Perry, Aaron" userId="b8ef4039-e4b8-4399-9041-f01f7d3f637b" providerId="ADAL" clId="{BB76C928-C062-43F8-9DDA-EA1C5F8A8B16}" dt="2026-10-20T18:26:26.879" v="15" actId="368"/>
        <pc:sldMkLst>
          <pc:docMk/>
          <pc:sldMk cId="4083133401" sldId="357"/>
        </pc:sldMkLst>
      </pc:sldChg>
      <pc:sldChg chg="modNotes">
        <pc:chgData name="Perry, Aaron" userId="b8ef4039-e4b8-4399-9041-f01f7d3f637b" providerId="ADAL" clId="{BB76C928-C062-43F8-9DDA-EA1C5F8A8B16}" dt="2026-10-20T18:26:26.732" v="1" actId="368"/>
        <pc:sldMkLst>
          <pc:docMk/>
          <pc:sldMk cId="2796283669" sldId="372"/>
        </pc:sldMkLst>
      </pc:sldChg>
      <pc:sldChg chg="modNotes">
        <pc:chgData name="Perry, Aaron" userId="b8ef4039-e4b8-4399-9041-f01f7d3f637b" providerId="ADAL" clId="{BB76C928-C062-43F8-9DDA-EA1C5F8A8B16}" dt="2026-10-20T18:26:27.061" v="33" actId="368"/>
        <pc:sldMkLst>
          <pc:docMk/>
          <pc:sldMk cId="3610329310" sldId="377"/>
        </pc:sldMkLst>
      </pc:sldChg>
      <pc:sldChg chg="modNotes">
        <pc:chgData name="Perry, Aaron" userId="b8ef4039-e4b8-4399-9041-f01f7d3f637b" providerId="ADAL" clId="{BB76C928-C062-43F8-9DDA-EA1C5F8A8B16}" dt="2026-10-20T18:26:26.810" v="9" actId="368"/>
        <pc:sldMkLst>
          <pc:docMk/>
          <pc:sldMk cId="2147105950" sldId="388"/>
        </pc:sldMkLst>
      </pc:sldChg>
      <pc:sldChg chg="modNotes">
        <pc:chgData name="Perry, Aaron" userId="b8ef4039-e4b8-4399-9041-f01f7d3f637b" providerId="ADAL" clId="{BB76C928-C062-43F8-9DDA-EA1C5F8A8B16}" dt="2026-10-20T18:26:27.022" v="27" actId="368"/>
        <pc:sldMkLst>
          <pc:docMk/>
          <pc:sldMk cId="3580799260" sldId="3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7D6DB-B3BA-F840-9696-2B9467D33103}"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D71CA9-1553-7D49-BC0A-E4DD3782C82C}" type="slidenum">
              <a:rPr lang="en-US" smtClean="0"/>
              <a:t>‹#›</a:t>
            </a:fld>
            <a:endParaRPr lang="en-US"/>
          </a:p>
        </p:txBody>
      </p:sp>
    </p:spTree>
    <p:extLst>
      <p:ext uri="{BB962C8B-B14F-4D97-AF65-F5344CB8AC3E}">
        <p14:creationId xmlns:p14="http://schemas.microsoft.com/office/powerpoint/2010/main" val="2861068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1</a:t>
            </a:fld>
            <a:endParaRPr lang="en-US"/>
          </a:p>
        </p:txBody>
      </p:sp>
    </p:spTree>
    <p:extLst>
      <p:ext uri="{BB962C8B-B14F-4D97-AF65-F5344CB8AC3E}">
        <p14:creationId xmlns:p14="http://schemas.microsoft.com/office/powerpoint/2010/main" val="3438874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2</a:t>
            </a:fld>
            <a:endParaRPr lang="en-US"/>
          </a:p>
        </p:txBody>
      </p:sp>
    </p:spTree>
    <p:extLst>
      <p:ext uri="{BB962C8B-B14F-4D97-AF65-F5344CB8AC3E}">
        <p14:creationId xmlns:p14="http://schemas.microsoft.com/office/powerpoint/2010/main" val="2244585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3</a:t>
            </a:fld>
            <a:endParaRPr lang="en-US"/>
          </a:p>
        </p:txBody>
      </p:sp>
    </p:spTree>
    <p:extLst>
      <p:ext uri="{BB962C8B-B14F-4D97-AF65-F5344CB8AC3E}">
        <p14:creationId xmlns:p14="http://schemas.microsoft.com/office/powerpoint/2010/main" val="3781731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4</a:t>
            </a:fld>
            <a:endParaRPr lang="en-US"/>
          </a:p>
        </p:txBody>
      </p:sp>
    </p:spTree>
    <p:extLst>
      <p:ext uri="{BB962C8B-B14F-4D97-AF65-F5344CB8AC3E}">
        <p14:creationId xmlns:p14="http://schemas.microsoft.com/office/powerpoint/2010/main" val="3035864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5</a:t>
            </a:fld>
            <a:endParaRPr lang="en-US"/>
          </a:p>
        </p:txBody>
      </p:sp>
    </p:spTree>
    <p:extLst>
      <p:ext uri="{BB962C8B-B14F-4D97-AF65-F5344CB8AC3E}">
        <p14:creationId xmlns:p14="http://schemas.microsoft.com/office/powerpoint/2010/main" val="3776026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6</a:t>
            </a:fld>
            <a:endParaRPr lang="en-US"/>
          </a:p>
        </p:txBody>
      </p:sp>
    </p:spTree>
    <p:extLst>
      <p:ext uri="{BB962C8B-B14F-4D97-AF65-F5344CB8AC3E}">
        <p14:creationId xmlns:p14="http://schemas.microsoft.com/office/powerpoint/2010/main" val="3603529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7</a:t>
            </a:fld>
            <a:endParaRPr lang="en-US"/>
          </a:p>
        </p:txBody>
      </p:sp>
    </p:spTree>
    <p:extLst>
      <p:ext uri="{BB962C8B-B14F-4D97-AF65-F5344CB8AC3E}">
        <p14:creationId xmlns:p14="http://schemas.microsoft.com/office/powerpoint/2010/main" val="2068601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8</a:t>
            </a:fld>
            <a:endParaRPr lang="en-US"/>
          </a:p>
        </p:txBody>
      </p:sp>
    </p:spTree>
    <p:extLst>
      <p:ext uri="{BB962C8B-B14F-4D97-AF65-F5344CB8AC3E}">
        <p14:creationId xmlns:p14="http://schemas.microsoft.com/office/powerpoint/2010/main" val="719436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9</a:t>
            </a:fld>
            <a:endParaRPr lang="en-US"/>
          </a:p>
        </p:txBody>
      </p:sp>
    </p:spTree>
    <p:extLst>
      <p:ext uri="{BB962C8B-B14F-4D97-AF65-F5344CB8AC3E}">
        <p14:creationId xmlns:p14="http://schemas.microsoft.com/office/powerpoint/2010/main" val="237479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10</a:t>
            </a:fld>
            <a:endParaRPr lang="en-US"/>
          </a:p>
        </p:txBody>
      </p:sp>
    </p:spTree>
    <p:extLst>
      <p:ext uri="{BB962C8B-B14F-4D97-AF65-F5344CB8AC3E}">
        <p14:creationId xmlns:p14="http://schemas.microsoft.com/office/powerpoint/2010/main" val="738876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baseline="-25000" dirty="0"/>
          </a:p>
        </p:txBody>
      </p:sp>
      <p:sp>
        <p:nvSpPr>
          <p:cNvPr id="4" name="Slide Number Placeholder 3"/>
          <p:cNvSpPr>
            <a:spLocks noGrp="1"/>
          </p:cNvSpPr>
          <p:nvPr>
            <p:ph type="sldNum" sz="quarter" idx="5"/>
          </p:nvPr>
        </p:nvSpPr>
        <p:spPr/>
        <p:txBody>
          <a:bodyPr/>
          <a:lstStyle/>
          <a:p>
            <a:fld id="{2ED71CA9-1553-7D49-BC0A-E4DD3782C82C}" type="slidenum">
              <a:rPr lang="en-US" smtClean="0"/>
              <a:t>11</a:t>
            </a:fld>
            <a:endParaRPr lang="en-US"/>
          </a:p>
        </p:txBody>
      </p:sp>
    </p:spTree>
    <p:extLst>
      <p:ext uri="{BB962C8B-B14F-4D97-AF65-F5344CB8AC3E}">
        <p14:creationId xmlns:p14="http://schemas.microsoft.com/office/powerpoint/2010/main" val="4233760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12</a:t>
            </a:fld>
            <a:endParaRPr lang="en-US"/>
          </a:p>
        </p:txBody>
      </p:sp>
    </p:spTree>
    <p:extLst>
      <p:ext uri="{BB962C8B-B14F-4D97-AF65-F5344CB8AC3E}">
        <p14:creationId xmlns:p14="http://schemas.microsoft.com/office/powerpoint/2010/main" val="1517489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13</a:t>
            </a:fld>
            <a:endParaRPr lang="en-US"/>
          </a:p>
        </p:txBody>
      </p:sp>
    </p:spTree>
    <p:extLst>
      <p:ext uri="{BB962C8B-B14F-4D97-AF65-F5344CB8AC3E}">
        <p14:creationId xmlns:p14="http://schemas.microsoft.com/office/powerpoint/2010/main" val="970722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14</a:t>
            </a:fld>
            <a:endParaRPr lang="en-US"/>
          </a:p>
        </p:txBody>
      </p:sp>
    </p:spTree>
    <p:extLst>
      <p:ext uri="{BB962C8B-B14F-4D97-AF65-F5344CB8AC3E}">
        <p14:creationId xmlns:p14="http://schemas.microsoft.com/office/powerpoint/2010/main" val="3045885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15</a:t>
            </a:fld>
            <a:endParaRPr lang="en-US"/>
          </a:p>
        </p:txBody>
      </p:sp>
    </p:spTree>
    <p:extLst>
      <p:ext uri="{BB962C8B-B14F-4D97-AF65-F5344CB8AC3E}">
        <p14:creationId xmlns:p14="http://schemas.microsoft.com/office/powerpoint/2010/main" val="30876917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16</a:t>
            </a:fld>
            <a:endParaRPr lang="en-US"/>
          </a:p>
        </p:txBody>
      </p:sp>
    </p:spTree>
    <p:extLst>
      <p:ext uri="{BB962C8B-B14F-4D97-AF65-F5344CB8AC3E}">
        <p14:creationId xmlns:p14="http://schemas.microsoft.com/office/powerpoint/2010/main" val="1912092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17</a:t>
            </a:fld>
            <a:endParaRPr lang="en-US"/>
          </a:p>
        </p:txBody>
      </p:sp>
    </p:spTree>
    <p:extLst>
      <p:ext uri="{BB962C8B-B14F-4D97-AF65-F5344CB8AC3E}">
        <p14:creationId xmlns:p14="http://schemas.microsoft.com/office/powerpoint/2010/main" val="39573438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18</a:t>
            </a:fld>
            <a:endParaRPr lang="en-US"/>
          </a:p>
        </p:txBody>
      </p:sp>
    </p:spTree>
    <p:extLst>
      <p:ext uri="{BB962C8B-B14F-4D97-AF65-F5344CB8AC3E}">
        <p14:creationId xmlns:p14="http://schemas.microsoft.com/office/powerpoint/2010/main" val="30271331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19</a:t>
            </a:fld>
            <a:endParaRPr lang="en-US"/>
          </a:p>
        </p:txBody>
      </p:sp>
    </p:spTree>
    <p:extLst>
      <p:ext uri="{BB962C8B-B14F-4D97-AF65-F5344CB8AC3E}">
        <p14:creationId xmlns:p14="http://schemas.microsoft.com/office/powerpoint/2010/main" val="3730631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20</a:t>
            </a:fld>
            <a:endParaRPr lang="en-US"/>
          </a:p>
        </p:txBody>
      </p:sp>
    </p:spTree>
    <p:extLst>
      <p:ext uri="{BB962C8B-B14F-4D97-AF65-F5344CB8AC3E}">
        <p14:creationId xmlns:p14="http://schemas.microsoft.com/office/powerpoint/2010/main" val="10535120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21</a:t>
            </a:fld>
            <a:endParaRPr lang="en-US"/>
          </a:p>
        </p:txBody>
      </p:sp>
    </p:spTree>
    <p:extLst>
      <p:ext uri="{BB962C8B-B14F-4D97-AF65-F5344CB8AC3E}">
        <p14:creationId xmlns:p14="http://schemas.microsoft.com/office/powerpoint/2010/main" val="21762367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22</a:t>
            </a:fld>
            <a:endParaRPr lang="en-US"/>
          </a:p>
        </p:txBody>
      </p:sp>
    </p:spTree>
    <p:extLst>
      <p:ext uri="{BB962C8B-B14F-4D97-AF65-F5344CB8AC3E}">
        <p14:creationId xmlns:p14="http://schemas.microsoft.com/office/powerpoint/2010/main" val="5905896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23</a:t>
            </a:fld>
            <a:endParaRPr lang="en-US"/>
          </a:p>
        </p:txBody>
      </p:sp>
    </p:spTree>
    <p:extLst>
      <p:ext uri="{BB962C8B-B14F-4D97-AF65-F5344CB8AC3E}">
        <p14:creationId xmlns:p14="http://schemas.microsoft.com/office/powerpoint/2010/main" val="2691956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24</a:t>
            </a:fld>
            <a:endParaRPr lang="en-US"/>
          </a:p>
        </p:txBody>
      </p:sp>
    </p:spTree>
    <p:extLst>
      <p:ext uri="{BB962C8B-B14F-4D97-AF65-F5344CB8AC3E}">
        <p14:creationId xmlns:p14="http://schemas.microsoft.com/office/powerpoint/2010/main" val="18429757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25</a:t>
            </a:fld>
            <a:endParaRPr lang="en-US"/>
          </a:p>
        </p:txBody>
      </p:sp>
    </p:spTree>
    <p:extLst>
      <p:ext uri="{BB962C8B-B14F-4D97-AF65-F5344CB8AC3E}">
        <p14:creationId xmlns:p14="http://schemas.microsoft.com/office/powerpoint/2010/main" val="11883697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26</a:t>
            </a:fld>
            <a:endParaRPr lang="en-US"/>
          </a:p>
        </p:txBody>
      </p:sp>
    </p:spTree>
    <p:extLst>
      <p:ext uri="{BB962C8B-B14F-4D97-AF65-F5344CB8AC3E}">
        <p14:creationId xmlns:p14="http://schemas.microsoft.com/office/powerpoint/2010/main" val="875322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27</a:t>
            </a:fld>
            <a:endParaRPr lang="en-US"/>
          </a:p>
        </p:txBody>
      </p:sp>
    </p:spTree>
    <p:extLst>
      <p:ext uri="{BB962C8B-B14F-4D97-AF65-F5344CB8AC3E}">
        <p14:creationId xmlns:p14="http://schemas.microsoft.com/office/powerpoint/2010/main" val="28932090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p:cNvSpPr>
            <a:spLocks noGrp="1"/>
          </p:cNvSpPr>
          <p:nvPr>
            <p:ph type="sldNum" sz="quarter" idx="5"/>
          </p:nvPr>
        </p:nvSpPr>
        <p:spPr/>
        <p:txBody>
          <a:bodyPr/>
          <a:lstStyle/>
          <a:p>
            <a:fld id="{2ED71CA9-1553-7D49-BC0A-E4DD3782C82C}" type="slidenum">
              <a:rPr lang="en-US" smtClean="0"/>
              <a:t>28</a:t>
            </a:fld>
            <a:endParaRPr lang="en-US"/>
          </a:p>
        </p:txBody>
      </p:sp>
    </p:spTree>
    <p:extLst>
      <p:ext uri="{BB962C8B-B14F-4D97-AF65-F5344CB8AC3E}">
        <p14:creationId xmlns:p14="http://schemas.microsoft.com/office/powerpoint/2010/main" val="41333186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29</a:t>
            </a:fld>
            <a:endParaRPr lang="en-US"/>
          </a:p>
        </p:txBody>
      </p:sp>
    </p:spTree>
    <p:extLst>
      <p:ext uri="{BB962C8B-B14F-4D97-AF65-F5344CB8AC3E}">
        <p14:creationId xmlns:p14="http://schemas.microsoft.com/office/powerpoint/2010/main" val="6503504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30</a:t>
            </a:fld>
            <a:endParaRPr lang="en-US"/>
          </a:p>
        </p:txBody>
      </p:sp>
    </p:spTree>
    <p:extLst>
      <p:ext uri="{BB962C8B-B14F-4D97-AF65-F5344CB8AC3E}">
        <p14:creationId xmlns:p14="http://schemas.microsoft.com/office/powerpoint/2010/main" val="34926809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31</a:t>
            </a:fld>
            <a:endParaRPr lang="en-US"/>
          </a:p>
        </p:txBody>
      </p:sp>
    </p:spTree>
    <p:extLst>
      <p:ext uri="{BB962C8B-B14F-4D97-AF65-F5344CB8AC3E}">
        <p14:creationId xmlns:p14="http://schemas.microsoft.com/office/powerpoint/2010/main" val="32932795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32</a:t>
            </a:fld>
            <a:endParaRPr lang="en-US"/>
          </a:p>
        </p:txBody>
      </p:sp>
    </p:spTree>
    <p:extLst>
      <p:ext uri="{BB962C8B-B14F-4D97-AF65-F5344CB8AC3E}">
        <p14:creationId xmlns:p14="http://schemas.microsoft.com/office/powerpoint/2010/main" val="15828582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33</a:t>
            </a:fld>
            <a:endParaRPr lang="en-US"/>
          </a:p>
        </p:txBody>
      </p:sp>
    </p:spTree>
    <p:extLst>
      <p:ext uri="{BB962C8B-B14F-4D97-AF65-F5344CB8AC3E}">
        <p14:creationId xmlns:p14="http://schemas.microsoft.com/office/powerpoint/2010/main" val="2592718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34</a:t>
            </a:fld>
            <a:endParaRPr lang="en-US"/>
          </a:p>
        </p:txBody>
      </p:sp>
    </p:spTree>
    <p:extLst>
      <p:ext uri="{BB962C8B-B14F-4D97-AF65-F5344CB8AC3E}">
        <p14:creationId xmlns:p14="http://schemas.microsoft.com/office/powerpoint/2010/main" val="29492563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35</a:t>
            </a:fld>
            <a:endParaRPr lang="en-US"/>
          </a:p>
        </p:txBody>
      </p:sp>
    </p:spTree>
    <p:extLst>
      <p:ext uri="{BB962C8B-B14F-4D97-AF65-F5344CB8AC3E}">
        <p14:creationId xmlns:p14="http://schemas.microsoft.com/office/powerpoint/2010/main" val="41448149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36</a:t>
            </a:fld>
            <a:endParaRPr lang="en-US"/>
          </a:p>
        </p:txBody>
      </p:sp>
    </p:spTree>
    <p:extLst>
      <p:ext uri="{BB962C8B-B14F-4D97-AF65-F5344CB8AC3E}">
        <p14:creationId xmlns:p14="http://schemas.microsoft.com/office/powerpoint/2010/main" val="25831538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37</a:t>
            </a:fld>
            <a:endParaRPr lang="en-US"/>
          </a:p>
        </p:txBody>
      </p:sp>
    </p:spTree>
    <p:extLst>
      <p:ext uri="{BB962C8B-B14F-4D97-AF65-F5344CB8AC3E}">
        <p14:creationId xmlns:p14="http://schemas.microsoft.com/office/powerpoint/2010/main" val="6338919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38</a:t>
            </a:fld>
            <a:endParaRPr lang="en-US"/>
          </a:p>
        </p:txBody>
      </p:sp>
    </p:spTree>
    <p:extLst>
      <p:ext uri="{BB962C8B-B14F-4D97-AF65-F5344CB8AC3E}">
        <p14:creationId xmlns:p14="http://schemas.microsoft.com/office/powerpoint/2010/main" val="10238788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39</a:t>
            </a:fld>
            <a:endParaRPr lang="en-US"/>
          </a:p>
        </p:txBody>
      </p:sp>
    </p:spTree>
    <p:extLst>
      <p:ext uri="{BB962C8B-B14F-4D97-AF65-F5344CB8AC3E}">
        <p14:creationId xmlns:p14="http://schemas.microsoft.com/office/powerpoint/2010/main" val="10544726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40</a:t>
            </a:fld>
            <a:endParaRPr lang="en-US"/>
          </a:p>
        </p:txBody>
      </p:sp>
    </p:spTree>
    <p:extLst>
      <p:ext uri="{BB962C8B-B14F-4D97-AF65-F5344CB8AC3E}">
        <p14:creationId xmlns:p14="http://schemas.microsoft.com/office/powerpoint/2010/main" val="984761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41</a:t>
            </a:fld>
            <a:endParaRPr lang="en-US"/>
          </a:p>
        </p:txBody>
      </p:sp>
    </p:spTree>
    <p:extLst>
      <p:ext uri="{BB962C8B-B14F-4D97-AF65-F5344CB8AC3E}">
        <p14:creationId xmlns:p14="http://schemas.microsoft.com/office/powerpoint/2010/main" val="15866363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42</a:t>
            </a:fld>
            <a:endParaRPr lang="en-US"/>
          </a:p>
        </p:txBody>
      </p:sp>
    </p:spTree>
    <p:extLst>
      <p:ext uri="{BB962C8B-B14F-4D97-AF65-F5344CB8AC3E}">
        <p14:creationId xmlns:p14="http://schemas.microsoft.com/office/powerpoint/2010/main" val="31409269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43</a:t>
            </a:fld>
            <a:endParaRPr lang="en-US"/>
          </a:p>
        </p:txBody>
      </p:sp>
    </p:spTree>
    <p:extLst>
      <p:ext uri="{BB962C8B-B14F-4D97-AF65-F5344CB8AC3E}">
        <p14:creationId xmlns:p14="http://schemas.microsoft.com/office/powerpoint/2010/main" val="11334669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2ED71CA9-1553-7D49-BC0A-E4DD3782C82C}" type="slidenum">
              <a:rPr lang="en-US" smtClean="0"/>
              <a:t>44</a:t>
            </a:fld>
            <a:endParaRPr lang="en-US"/>
          </a:p>
        </p:txBody>
      </p:sp>
    </p:spTree>
    <p:extLst>
      <p:ext uri="{BB962C8B-B14F-4D97-AF65-F5344CB8AC3E}">
        <p14:creationId xmlns:p14="http://schemas.microsoft.com/office/powerpoint/2010/main" val="181100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45</a:t>
            </a:fld>
            <a:endParaRPr lang="en-US"/>
          </a:p>
        </p:txBody>
      </p:sp>
    </p:spTree>
    <p:extLst>
      <p:ext uri="{BB962C8B-B14F-4D97-AF65-F5344CB8AC3E}">
        <p14:creationId xmlns:p14="http://schemas.microsoft.com/office/powerpoint/2010/main" val="17642806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46</a:t>
            </a:fld>
            <a:endParaRPr lang="en-US"/>
          </a:p>
        </p:txBody>
      </p:sp>
    </p:spTree>
    <p:extLst>
      <p:ext uri="{BB962C8B-B14F-4D97-AF65-F5344CB8AC3E}">
        <p14:creationId xmlns:p14="http://schemas.microsoft.com/office/powerpoint/2010/main" val="2099576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47</a:t>
            </a:fld>
            <a:endParaRPr lang="en-US"/>
          </a:p>
        </p:txBody>
      </p:sp>
    </p:spTree>
    <p:extLst>
      <p:ext uri="{BB962C8B-B14F-4D97-AF65-F5344CB8AC3E}">
        <p14:creationId xmlns:p14="http://schemas.microsoft.com/office/powerpoint/2010/main" val="42168672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48</a:t>
            </a:fld>
            <a:endParaRPr lang="en-US"/>
          </a:p>
        </p:txBody>
      </p:sp>
    </p:spTree>
    <p:extLst>
      <p:ext uri="{BB962C8B-B14F-4D97-AF65-F5344CB8AC3E}">
        <p14:creationId xmlns:p14="http://schemas.microsoft.com/office/powerpoint/2010/main" val="35170077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49</a:t>
            </a:fld>
            <a:endParaRPr lang="en-US"/>
          </a:p>
        </p:txBody>
      </p:sp>
    </p:spTree>
    <p:extLst>
      <p:ext uri="{BB962C8B-B14F-4D97-AF65-F5344CB8AC3E}">
        <p14:creationId xmlns:p14="http://schemas.microsoft.com/office/powerpoint/2010/main" val="19780280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50</a:t>
            </a:fld>
            <a:endParaRPr lang="en-US"/>
          </a:p>
        </p:txBody>
      </p:sp>
    </p:spTree>
    <p:extLst>
      <p:ext uri="{BB962C8B-B14F-4D97-AF65-F5344CB8AC3E}">
        <p14:creationId xmlns:p14="http://schemas.microsoft.com/office/powerpoint/2010/main" val="30289726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51</a:t>
            </a:fld>
            <a:endParaRPr lang="en-US"/>
          </a:p>
        </p:txBody>
      </p:sp>
    </p:spTree>
    <p:extLst>
      <p:ext uri="{BB962C8B-B14F-4D97-AF65-F5344CB8AC3E}">
        <p14:creationId xmlns:p14="http://schemas.microsoft.com/office/powerpoint/2010/main" val="3343398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A7F3B-03E6-A1BD-10C2-394BEFC1E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FB962-1181-B398-545B-8E10AB8246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2D111-BA6D-FFFA-689D-B890BE8EE84E}"/>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EA3DA847-7264-177C-EC08-102C30032B03}"/>
              </a:ext>
            </a:extLst>
          </p:cNvPr>
          <p:cNvSpPr>
            <a:spLocks noGrp="1"/>
          </p:cNvSpPr>
          <p:nvPr>
            <p:ph type="sldNum" sz="quarter" idx="5"/>
          </p:nvPr>
        </p:nvSpPr>
        <p:spPr/>
        <p:txBody>
          <a:bodyPr/>
          <a:lstStyle/>
          <a:p>
            <a:fld id="{2ED71CA9-1553-7D49-BC0A-E4DD3782C82C}" type="slidenum">
              <a:rPr lang="en-US" smtClean="0"/>
              <a:t>52</a:t>
            </a:fld>
            <a:endParaRPr lang="en-US"/>
          </a:p>
        </p:txBody>
      </p:sp>
    </p:spTree>
    <p:extLst>
      <p:ext uri="{BB962C8B-B14F-4D97-AF65-F5344CB8AC3E}">
        <p14:creationId xmlns:p14="http://schemas.microsoft.com/office/powerpoint/2010/main" val="35697228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53</a:t>
            </a:fld>
            <a:endParaRPr lang="en-US"/>
          </a:p>
        </p:txBody>
      </p:sp>
    </p:spTree>
    <p:extLst>
      <p:ext uri="{BB962C8B-B14F-4D97-AF65-F5344CB8AC3E}">
        <p14:creationId xmlns:p14="http://schemas.microsoft.com/office/powerpoint/2010/main" val="35970242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54</a:t>
            </a:fld>
            <a:endParaRPr lang="en-US"/>
          </a:p>
        </p:txBody>
      </p:sp>
    </p:spTree>
    <p:extLst>
      <p:ext uri="{BB962C8B-B14F-4D97-AF65-F5344CB8AC3E}">
        <p14:creationId xmlns:p14="http://schemas.microsoft.com/office/powerpoint/2010/main" val="38611697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55</a:t>
            </a:fld>
            <a:endParaRPr lang="en-US"/>
          </a:p>
        </p:txBody>
      </p:sp>
    </p:spTree>
    <p:extLst>
      <p:ext uri="{BB962C8B-B14F-4D97-AF65-F5344CB8AC3E}">
        <p14:creationId xmlns:p14="http://schemas.microsoft.com/office/powerpoint/2010/main" val="15827445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56</a:t>
            </a:fld>
            <a:endParaRPr lang="en-US"/>
          </a:p>
        </p:txBody>
      </p:sp>
    </p:spTree>
    <p:extLst>
      <p:ext uri="{BB962C8B-B14F-4D97-AF65-F5344CB8AC3E}">
        <p14:creationId xmlns:p14="http://schemas.microsoft.com/office/powerpoint/2010/main" val="162838262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57</a:t>
            </a:fld>
            <a:endParaRPr lang="en-US"/>
          </a:p>
        </p:txBody>
      </p:sp>
    </p:spTree>
    <p:extLst>
      <p:ext uri="{BB962C8B-B14F-4D97-AF65-F5344CB8AC3E}">
        <p14:creationId xmlns:p14="http://schemas.microsoft.com/office/powerpoint/2010/main" val="14275149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58</a:t>
            </a:fld>
            <a:endParaRPr lang="en-US"/>
          </a:p>
        </p:txBody>
      </p:sp>
    </p:spTree>
    <p:extLst>
      <p:ext uri="{BB962C8B-B14F-4D97-AF65-F5344CB8AC3E}">
        <p14:creationId xmlns:p14="http://schemas.microsoft.com/office/powerpoint/2010/main" val="29404614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59</a:t>
            </a:fld>
            <a:endParaRPr lang="en-US"/>
          </a:p>
        </p:txBody>
      </p:sp>
    </p:spTree>
    <p:extLst>
      <p:ext uri="{BB962C8B-B14F-4D97-AF65-F5344CB8AC3E}">
        <p14:creationId xmlns:p14="http://schemas.microsoft.com/office/powerpoint/2010/main" val="21959101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60</a:t>
            </a:fld>
            <a:endParaRPr lang="en-US"/>
          </a:p>
        </p:txBody>
      </p:sp>
    </p:spTree>
    <p:extLst>
      <p:ext uri="{BB962C8B-B14F-4D97-AF65-F5344CB8AC3E}">
        <p14:creationId xmlns:p14="http://schemas.microsoft.com/office/powerpoint/2010/main" val="20219307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61</a:t>
            </a:fld>
            <a:endParaRPr lang="en-US"/>
          </a:p>
        </p:txBody>
      </p:sp>
    </p:spTree>
    <p:extLst>
      <p:ext uri="{BB962C8B-B14F-4D97-AF65-F5344CB8AC3E}">
        <p14:creationId xmlns:p14="http://schemas.microsoft.com/office/powerpoint/2010/main" val="373998328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62</a:t>
            </a:fld>
            <a:endParaRPr lang="en-US"/>
          </a:p>
        </p:txBody>
      </p:sp>
    </p:spTree>
    <p:extLst>
      <p:ext uri="{BB962C8B-B14F-4D97-AF65-F5344CB8AC3E}">
        <p14:creationId xmlns:p14="http://schemas.microsoft.com/office/powerpoint/2010/main" val="180442505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63</a:t>
            </a:fld>
            <a:endParaRPr lang="en-US"/>
          </a:p>
        </p:txBody>
      </p:sp>
    </p:spTree>
    <p:extLst>
      <p:ext uri="{BB962C8B-B14F-4D97-AF65-F5344CB8AC3E}">
        <p14:creationId xmlns:p14="http://schemas.microsoft.com/office/powerpoint/2010/main" val="31955396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64</a:t>
            </a:fld>
            <a:endParaRPr lang="en-US"/>
          </a:p>
        </p:txBody>
      </p:sp>
    </p:spTree>
    <p:extLst>
      <p:ext uri="{BB962C8B-B14F-4D97-AF65-F5344CB8AC3E}">
        <p14:creationId xmlns:p14="http://schemas.microsoft.com/office/powerpoint/2010/main" val="144111145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71CA9-1553-7D49-BC0A-E4DD3782C82C}" type="slidenum">
              <a:rPr lang="en-US" smtClean="0"/>
              <a:t>65</a:t>
            </a:fld>
            <a:endParaRPr lang="en-US"/>
          </a:p>
        </p:txBody>
      </p:sp>
    </p:spTree>
    <p:extLst>
      <p:ext uri="{BB962C8B-B14F-4D97-AF65-F5344CB8AC3E}">
        <p14:creationId xmlns:p14="http://schemas.microsoft.com/office/powerpoint/2010/main" val="1342948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7F2CA-9AC7-C77F-AF05-737555D3D5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1D65C8-1B79-3A81-7C39-CC1AA2D28F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DEA68D-3822-918D-F754-DB20F1AD4AAC}"/>
              </a:ext>
            </a:extLst>
          </p:cNvPr>
          <p:cNvSpPr>
            <a:spLocks noGrp="1"/>
          </p:cNvSpPr>
          <p:nvPr>
            <p:ph type="dt" sz="half" idx="10"/>
          </p:nvPr>
        </p:nvSpPr>
        <p:spPr/>
        <p:txBody>
          <a:bodyPr/>
          <a:lstStyle/>
          <a:p>
            <a:fld id="{1160EA64-D806-43AC-9DF2-F8C432F32B4C}" type="datetimeFigureOut">
              <a:rPr lang="en-US" smtClean="0"/>
              <a:t>10/20/2026</a:t>
            </a:fld>
            <a:endParaRPr lang="en-US" dirty="0"/>
          </a:p>
        </p:txBody>
      </p:sp>
      <p:sp>
        <p:nvSpPr>
          <p:cNvPr id="5" name="Footer Placeholder 4">
            <a:extLst>
              <a:ext uri="{FF2B5EF4-FFF2-40B4-BE49-F238E27FC236}">
                <a16:creationId xmlns:a16="http://schemas.microsoft.com/office/drawing/2014/main" id="{C4FD4681-A656-E94F-DE00-7AB181F6617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2309C7E-156D-CED6-546B-E2D85C686698}"/>
              </a:ext>
            </a:extLst>
          </p:cNvPr>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731929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2DE41-4F7E-FE41-AB64-74A09A5DB8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F767D5-DE0A-368F-9182-18F0B814FF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C7802C-8A97-C5C3-97D3-F6068983A4A4}"/>
              </a:ext>
            </a:extLst>
          </p:cNvPr>
          <p:cNvSpPr>
            <a:spLocks noGrp="1"/>
          </p:cNvSpPr>
          <p:nvPr>
            <p:ph type="dt" sz="half" idx="10"/>
          </p:nvPr>
        </p:nvSpPr>
        <p:spPr/>
        <p:txBody>
          <a:bodyPr/>
          <a:lstStyle/>
          <a:p>
            <a:fld id="{F070A7B3-6521-4DCA-87E5-044747A908C1}" type="datetimeFigureOut">
              <a:rPr lang="en-US" smtClean="0"/>
              <a:t>10/20/2026</a:t>
            </a:fld>
            <a:endParaRPr lang="en-US" dirty="0"/>
          </a:p>
        </p:txBody>
      </p:sp>
      <p:sp>
        <p:nvSpPr>
          <p:cNvPr id="5" name="Footer Placeholder 4">
            <a:extLst>
              <a:ext uri="{FF2B5EF4-FFF2-40B4-BE49-F238E27FC236}">
                <a16:creationId xmlns:a16="http://schemas.microsoft.com/office/drawing/2014/main" id="{509909C7-1B1B-B03B-1E35-8228644FA6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7750AD-E5C8-3240-22A1-8C743D5854D5}"/>
              </a:ext>
            </a:extLst>
          </p:cNvPr>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994030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E5291-6540-D23C-FE90-14D56922F7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90DC01-B175-628B-DC45-CA59B3C437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1ACCEE-0972-D420-39CC-53F8B6D52D6D}"/>
              </a:ext>
            </a:extLst>
          </p:cNvPr>
          <p:cNvSpPr>
            <a:spLocks noGrp="1"/>
          </p:cNvSpPr>
          <p:nvPr>
            <p:ph type="dt" sz="half" idx="10"/>
          </p:nvPr>
        </p:nvSpPr>
        <p:spPr/>
        <p:txBody>
          <a:bodyPr/>
          <a:lstStyle/>
          <a:p>
            <a:fld id="{1160EA64-D806-43AC-9DF2-F8C432F32B4C}" type="datetimeFigureOut">
              <a:rPr lang="en-US" smtClean="0"/>
              <a:t>10/20/2026</a:t>
            </a:fld>
            <a:endParaRPr lang="en-US" dirty="0"/>
          </a:p>
        </p:txBody>
      </p:sp>
      <p:sp>
        <p:nvSpPr>
          <p:cNvPr id="5" name="Footer Placeholder 4">
            <a:extLst>
              <a:ext uri="{FF2B5EF4-FFF2-40B4-BE49-F238E27FC236}">
                <a16:creationId xmlns:a16="http://schemas.microsoft.com/office/drawing/2014/main" id="{CC9E3D06-36E4-9EFD-EA9F-ED362C15D7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9667478-61A1-9B59-436B-D2C12098456F}"/>
              </a:ext>
            </a:extLst>
          </p:cNvPr>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79909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D3F49-3E56-39D8-7C4E-363B50D03B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E9D7E5-3A5B-3B16-1FA0-5D4A897C1E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D2E744-7940-9FF7-3A5C-7FBE444C15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70E653-DE95-FE61-C02B-27D8749C3E9F}"/>
              </a:ext>
            </a:extLst>
          </p:cNvPr>
          <p:cNvSpPr>
            <a:spLocks noGrp="1"/>
          </p:cNvSpPr>
          <p:nvPr>
            <p:ph type="dt" sz="half" idx="10"/>
          </p:nvPr>
        </p:nvSpPr>
        <p:spPr/>
        <p:txBody>
          <a:bodyPr/>
          <a:lstStyle/>
          <a:p>
            <a:fld id="{AB134690-1557-4C89-A502-4959FE7FAD70}" type="datetimeFigureOut">
              <a:rPr lang="en-US" smtClean="0"/>
              <a:t>10/20/2026</a:t>
            </a:fld>
            <a:endParaRPr lang="en-US" dirty="0"/>
          </a:p>
        </p:txBody>
      </p:sp>
      <p:sp>
        <p:nvSpPr>
          <p:cNvPr id="6" name="Footer Placeholder 5">
            <a:extLst>
              <a:ext uri="{FF2B5EF4-FFF2-40B4-BE49-F238E27FC236}">
                <a16:creationId xmlns:a16="http://schemas.microsoft.com/office/drawing/2014/main" id="{865F176F-F78E-7DFC-75AF-9B047E50E9C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42479D-741E-625A-B9D6-AF143D171E39}"/>
              </a:ext>
            </a:extLst>
          </p:cNvPr>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080026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E363D-0C9C-ED47-DD13-78BF41EEDB3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6503E6-A54C-6FB8-3113-46EE161930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554E63-4492-75AE-1017-6533F7A107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B7E416-BF82-B0CF-407F-F6B23A2560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D92D2C-27F7-5154-A609-D86D5D9B10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43765E-AE18-FEF8-AD28-D25F139590C4}"/>
              </a:ext>
            </a:extLst>
          </p:cNvPr>
          <p:cNvSpPr>
            <a:spLocks noGrp="1"/>
          </p:cNvSpPr>
          <p:nvPr>
            <p:ph type="dt" sz="half" idx="10"/>
          </p:nvPr>
        </p:nvSpPr>
        <p:spPr/>
        <p:txBody>
          <a:bodyPr/>
          <a:lstStyle/>
          <a:p>
            <a:fld id="{1160EA64-D806-43AC-9DF2-F8C432F32B4C}" type="datetimeFigureOut">
              <a:rPr lang="en-US" smtClean="0"/>
              <a:t>10/20/2026</a:t>
            </a:fld>
            <a:endParaRPr lang="en-US" dirty="0"/>
          </a:p>
        </p:txBody>
      </p:sp>
      <p:sp>
        <p:nvSpPr>
          <p:cNvPr id="8" name="Footer Placeholder 7">
            <a:extLst>
              <a:ext uri="{FF2B5EF4-FFF2-40B4-BE49-F238E27FC236}">
                <a16:creationId xmlns:a16="http://schemas.microsoft.com/office/drawing/2014/main" id="{8284A3EF-C517-4C3C-02AC-6E28E30AC2C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9E95131-C160-7542-731E-A47E3356C66A}"/>
              </a:ext>
            </a:extLst>
          </p:cNvPr>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25577445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21552-A9A7-20C2-399B-3703FF4A6E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F8E795-25A2-EEE3-E641-1430E02EF69E}"/>
              </a:ext>
            </a:extLst>
          </p:cNvPr>
          <p:cNvSpPr>
            <a:spLocks noGrp="1"/>
          </p:cNvSpPr>
          <p:nvPr>
            <p:ph type="dt" sz="half" idx="10"/>
          </p:nvPr>
        </p:nvSpPr>
        <p:spPr/>
        <p:txBody>
          <a:bodyPr/>
          <a:lstStyle/>
          <a:p>
            <a:fld id="{E1037C31-9E7A-4F99-8774-A0E530DE1A42}" type="datetimeFigureOut">
              <a:rPr lang="en-US" smtClean="0"/>
              <a:t>10/20/2026</a:t>
            </a:fld>
            <a:endParaRPr lang="en-US" dirty="0"/>
          </a:p>
        </p:txBody>
      </p:sp>
      <p:sp>
        <p:nvSpPr>
          <p:cNvPr id="4" name="Footer Placeholder 3">
            <a:extLst>
              <a:ext uri="{FF2B5EF4-FFF2-40B4-BE49-F238E27FC236}">
                <a16:creationId xmlns:a16="http://schemas.microsoft.com/office/drawing/2014/main" id="{955224BB-9384-1334-4CE4-F11680157F6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94DFBD5-4EBF-100F-EC34-C758FF95D4B9}"/>
              </a:ext>
            </a:extLst>
          </p:cNvPr>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4256185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17773E-34B3-DDD8-E5B3-2D97F332DB8B}"/>
              </a:ext>
            </a:extLst>
          </p:cNvPr>
          <p:cNvSpPr>
            <a:spLocks noGrp="1"/>
          </p:cNvSpPr>
          <p:nvPr>
            <p:ph type="dt" sz="half" idx="10"/>
          </p:nvPr>
        </p:nvSpPr>
        <p:spPr/>
        <p:txBody>
          <a:bodyPr/>
          <a:lstStyle/>
          <a:p>
            <a:fld id="{C278504F-A551-4DE0-9316-4DCD1D8CC752}" type="datetimeFigureOut">
              <a:rPr lang="en-US" smtClean="0"/>
              <a:t>10/20/2026</a:t>
            </a:fld>
            <a:endParaRPr lang="en-US" dirty="0"/>
          </a:p>
        </p:txBody>
      </p:sp>
      <p:sp>
        <p:nvSpPr>
          <p:cNvPr id="3" name="Footer Placeholder 2">
            <a:extLst>
              <a:ext uri="{FF2B5EF4-FFF2-40B4-BE49-F238E27FC236}">
                <a16:creationId xmlns:a16="http://schemas.microsoft.com/office/drawing/2014/main" id="{1AB71E5C-5251-3E65-9579-9FA3D55D85A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3BFF0A6-862C-897E-F9A5-0556A52247BE}"/>
              </a:ext>
            </a:extLst>
          </p:cNvPr>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787871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A5079-DE19-EF82-F2CF-EE706658C9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899109-5E53-EE5E-C06C-E9DD6B8DDA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0C8F5A-2649-5196-3C35-5CC2541D21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EEC45D-FC50-4BD3-CE94-C1759AA4A3DA}"/>
              </a:ext>
            </a:extLst>
          </p:cNvPr>
          <p:cNvSpPr>
            <a:spLocks noGrp="1"/>
          </p:cNvSpPr>
          <p:nvPr>
            <p:ph type="dt" sz="half" idx="10"/>
          </p:nvPr>
        </p:nvSpPr>
        <p:spPr/>
        <p:txBody>
          <a:bodyPr/>
          <a:lstStyle/>
          <a:p>
            <a:fld id="{D1BE4249-C0D0-4B06-8692-E8BB871AF643}" type="datetimeFigureOut">
              <a:rPr lang="en-US" smtClean="0"/>
              <a:t>10/20/2026</a:t>
            </a:fld>
            <a:endParaRPr lang="en-US" dirty="0"/>
          </a:p>
        </p:txBody>
      </p:sp>
      <p:sp>
        <p:nvSpPr>
          <p:cNvPr id="6" name="Footer Placeholder 5">
            <a:extLst>
              <a:ext uri="{FF2B5EF4-FFF2-40B4-BE49-F238E27FC236}">
                <a16:creationId xmlns:a16="http://schemas.microsoft.com/office/drawing/2014/main" id="{F10659F5-3128-56DF-C5C0-DE3218C023B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CA335CF-EF63-3D04-FD64-AA4BCFF6BDB5}"/>
              </a:ext>
            </a:extLst>
          </p:cNvPr>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953065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675E4-0F73-1F8C-23BE-327D3215DD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3C9EC8-B8FE-8231-4CAA-1882A651C1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3A39588-4CC8-6E19-FFDC-FFB47BB2CF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B18768-4291-389C-C6CA-6A81553054AC}"/>
              </a:ext>
            </a:extLst>
          </p:cNvPr>
          <p:cNvSpPr>
            <a:spLocks noGrp="1"/>
          </p:cNvSpPr>
          <p:nvPr>
            <p:ph type="dt" sz="half" idx="10"/>
          </p:nvPr>
        </p:nvSpPr>
        <p:spPr/>
        <p:txBody>
          <a:bodyPr/>
          <a:lstStyle/>
          <a:p>
            <a:fld id="{042B0DB6-F5C7-45FB-8CF3-31B45F9C2DAC}" type="datetimeFigureOut">
              <a:rPr lang="en-US" smtClean="0"/>
              <a:t>10/20/2026</a:t>
            </a:fld>
            <a:endParaRPr lang="en-US" dirty="0"/>
          </a:p>
        </p:txBody>
      </p:sp>
      <p:sp>
        <p:nvSpPr>
          <p:cNvPr id="6" name="Footer Placeholder 5">
            <a:extLst>
              <a:ext uri="{FF2B5EF4-FFF2-40B4-BE49-F238E27FC236}">
                <a16:creationId xmlns:a16="http://schemas.microsoft.com/office/drawing/2014/main" id="{D46BF2C5-2030-3DB2-3B74-E81527D06F0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2D8B93D-E11A-5115-3F7E-51DC3BA5092A}"/>
              </a:ext>
            </a:extLst>
          </p:cNvPr>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140092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3C74D-2765-BAAE-C7AE-CBE1B50E2B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9492EA-0C8F-F4BF-E2A1-43A56D6D5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3A0C67-C7D2-3D11-168C-095809DB1ED0}"/>
              </a:ext>
            </a:extLst>
          </p:cNvPr>
          <p:cNvSpPr>
            <a:spLocks noGrp="1"/>
          </p:cNvSpPr>
          <p:nvPr>
            <p:ph type="dt" sz="half" idx="10"/>
          </p:nvPr>
        </p:nvSpPr>
        <p:spPr/>
        <p:txBody>
          <a:bodyPr/>
          <a:lstStyle/>
          <a:p>
            <a:fld id="{E9F9C37B-1D36-470B-8223-D6C91242EC14}" type="datetimeFigureOut">
              <a:rPr lang="en-US" smtClean="0"/>
              <a:t>10/20/2026</a:t>
            </a:fld>
            <a:endParaRPr lang="en-US" dirty="0"/>
          </a:p>
        </p:txBody>
      </p:sp>
      <p:sp>
        <p:nvSpPr>
          <p:cNvPr id="5" name="Footer Placeholder 4">
            <a:extLst>
              <a:ext uri="{FF2B5EF4-FFF2-40B4-BE49-F238E27FC236}">
                <a16:creationId xmlns:a16="http://schemas.microsoft.com/office/drawing/2014/main" id="{4324992B-84CE-BB2D-C2FE-DCC1232ECB6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FEBEED6-D8FB-49D5-9232-C3DA3D68B35E}"/>
              </a:ext>
            </a:extLst>
          </p:cNvPr>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242001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97B090-3948-4AD9-18AE-69E6FAD41A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2E488C-6533-D8B5-67BC-6F17155028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EFFE0-E621-C5CA-5F49-7C7EF3E5CD69}"/>
              </a:ext>
            </a:extLst>
          </p:cNvPr>
          <p:cNvSpPr>
            <a:spLocks noGrp="1"/>
          </p:cNvSpPr>
          <p:nvPr>
            <p:ph type="dt" sz="half" idx="10"/>
          </p:nvPr>
        </p:nvSpPr>
        <p:spPr/>
        <p:txBody>
          <a:bodyPr/>
          <a:lstStyle/>
          <a:p>
            <a:fld id="{67C6F52A-A82B-47A2-A83A-8C4C91F2D59F}" type="datetimeFigureOut">
              <a:rPr lang="en-US" smtClean="0"/>
              <a:t>10/20/2026</a:t>
            </a:fld>
            <a:endParaRPr lang="en-US" dirty="0"/>
          </a:p>
        </p:txBody>
      </p:sp>
      <p:sp>
        <p:nvSpPr>
          <p:cNvPr id="5" name="Footer Placeholder 4">
            <a:extLst>
              <a:ext uri="{FF2B5EF4-FFF2-40B4-BE49-F238E27FC236}">
                <a16:creationId xmlns:a16="http://schemas.microsoft.com/office/drawing/2014/main" id="{8E309DFD-DC59-7D4E-ACAD-431F936A481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C1E8689-B2B0-0B5A-D8F7-2A9BA56037F2}"/>
              </a:ext>
            </a:extLst>
          </p:cNvPr>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424075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88B55E-3AE1-C24B-6AA5-9542D7371A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34A597-6302-83FB-C36F-90932AF517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A33EF-28D7-635A-8387-0AD28A8ADC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60EA64-D806-43AC-9DF2-F8C432F32B4C}" type="datetimeFigureOut">
              <a:rPr lang="en-US" smtClean="0"/>
              <a:t>10/20/2026</a:t>
            </a:fld>
            <a:endParaRPr lang="en-US" dirty="0"/>
          </a:p>
        </p:txBody>
      </p:sp>
      <p:sp>
        <p:nvSpPr>
          <p:cNvPr id="5" name="Footer Placeholder 4">
            <a:extLst>
              <a:ext uri="{FF2B5EF4-FFF2-40B4-BE49-F238E27FC236}">
                <a16:creationId xmlns:a16="http://schemas.microsoft.com/office/drawing/2014/main" id="{A50B8ECF-176F-0C69-B32D-E29DB82575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029DD03-4F98-D12B-C294-12E5CCACCE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24808322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youtu.be/fqG0QmlaFMs?si=dDDP-19_k95-Q_1C"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1-I3lDjGvc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39.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4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jpeg"/></Relationships>
</file>

<file path=ppt/slides/_rels/slide4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tif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3.tiff"/><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57.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51.jpeg"/><Relationship Id="rId4" Type="http://schemas.openxmlformats.org/officeDocument/2006/relationships/image" Target="../media/image50.jpeg"/></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00407-D599-423A-9748-D8F8890C028C}"/>
              </a:ext>
            </a:extLst>
          </p:cNvPr>
          <p:cNvSpPr>
            <a:spLocks noGrp="1"/>
          </p:cNvSpPr>
          <p:nvPr>
            <p:ph type="ctrTitle"/>
          </p:nvPr>
        </p:nvSpPr>
        <p:spPr>
          <a:xfrm>
            <a:off x="643468" y="820010"/>
            <a:ext cx="3415288" cy="3212654"/>
          </a:xfrm>
          <a:noFill/>
          <a:ln>
            <a:solidFill>
              <a:schemeClr val="bg1"/>
            </a:solidFill>
          </a:ln>
        </p:spPr>
        <p:txBody>
          <a:bodyPr>
            <a:normAutofit/>
          </a:bodyPr>
          <a:lstStyle/>
          <a:p>
            <a:r>
              <a:rPr lang="en-US" cap="none" dirty="0">
                <a:solidFill>
                  <a:schemeClr val="bg1"/>
                </a:solidFill>
              </a:rPr>
              <a:t>Intro to Radiology</a:t>
            </a:r>
          </a:p>
        </p:txBody>
      </p:sp>
      <p:sp>
        <p:nvSpPr>
          <p:cNvPr id="6" name="Subtitle 5">
            <a:extLst>
              <a:ext uri="{FF2B5EF4-FFF2-40B4-BE49-F238E27FC236}">
                <a16:creationId xmlns:a16="http://schemas.microsoft.com/office/drawing/2014/main" id="{4AFC6052-CE33-4390-C67D-2BEE25B934DE}"/>
              </a:ext>
            </a:extLst>
          </p:cNvPr>
          <p:cNvSpPr>
            <a:spLocks noGrp="1"/>
          </p:cNvSpPr>
          <p:nvPr>
            <p:ph type="subTitle" idx="1"/>
          </p:nvPr>
        </p:nvSpPr>
        <p:spPr>
          <a:xfrm>
            <a:off x="1524000" y="3997217"/>
            <a:ext cx="9144000" cy="1244317"/>
          </a:xfrm>
        </p:spPr>
        <p:txBody>
          <a:bodyPr>
            <a:normAutofit/>
          </a:bodyPr>
          <a:lstStyle/>
          <a:p>
            <a:endParaRPr lang="en-US" dirty="0"/>
          </a:p>
          <a:p>
            <a:r>
              <a:rPr lang="en-US" dirty="0"/>
              <a:t>Presented by: Aaron Perry, PA-C</a:t>
            </a:r>
          </a:p>
          <a:p>
            <a:endParaRPr lang="en-US" dirty="0"/>
          </a:p>
        </p:txBody>
      </p:sp>
      <p:sp>
        <p:nvSpPr>
          <p:cNvPr id="7" name="Title 1">
            <a:extLst>
              <a:ext uri="{FF2B5EF4-FFF2-40B4-BE49-F238E27FC236}">
                <a16:creationId xmlns:a16="http://schemas.microsoft.com/office/drawing/2014/main" id="{B1E63328-185E-9EC8-2FF5-631DCCD9FB8A}"/>
              </a:ext>
            </a:extLst>
          </p:cNvPr>
          <p:cNvSpPr txBox="1">
            <a:spLocks/>
          </p:cNvSpPr>
          <p:nvPr/>
        </p:nvSpPr>
        <p:spPr>
          <a:xfrm>
            <a:off x="1524000" y="2010386"/>
            <a:ext cx="9144000" cy="1418614"/>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u="sng" dirty="0"/>
              <a:t>INTRO TO RADIOLOGY</a:t>
            </a:r>
          </a:p>
          <a:p>
            <a:r>
              <a:rPr lang="en-US" sz="4800" dirty="0"/>
              <a:t>Part I</a:t>
            </a:r>
          </a:p>
        </p:txBody>
      </p:sp>
    </p:spTree>
    <p:extLst>
      <p:ext uri="{BB962C8B-B14F-4D97-AF65-F5344CB8AC3E}">
        <p14:creationId xmlns:p14="http://schemas.microsoft.com/office/powerpoint/2010/main" val="13018888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2FCA-BCBB-4493-9769-FCD4D9C8846F}"/>
              </a:ext>
            </a:extLst>
          </p:cNvPr>
          <p:cNvSpPr>
            <a:spLocks noGrp="1"/>
          </p:cNvSpPr>
          <p:nvPr>
            <p:ph type="title"/>
          </p:nvPr>
        </p:nvSpPr>
        <p:spPr>
          <a:xfrm>
            <a:off x="1297675" y="225560"/>
            <a:ext cx="10045147" cy="838510"/>
          </a:xfrm>
        </p:spPr>
        <p:txBody>
          <a:bodyPr/>
          <a:lstStyle/>
          <a:p>
            <a:pPr algn="ctr"/>
            <a:r>
              <a:rPr lang="en-US" u="sng" cap="none" dirty="0"/>
              <a:t>RADIOLOGY</a:t>
            </a:r>
          </a:p>
        </p:txBody>
      </p:sp>
      <p:sp>
        <p:nvSpPr>
          <p:cNvPr id="3" name="Content Placeholder 2">
            <a:extLst>
              <a:ext uri="{FF2B5EF4-FFF2-40B4-BE49-F238E27FC236}">
                <a16:creationId xmlns:a16="http://schemas.microsoft.com/office/drawing/2014/main" id="{DF3C1FD7-DA25-4CB7-814D-8F434947C5A5}"/>
              </a:ext>
            </a:extLst>
          </p:cNvPr>
          <p:cNvSpPr>
            <a:spLocks noGrp="1"/>
          </p:cNvSpPr>
          <p:nvPr>
            <p:ph idx="1"/>
          </p:nvPr>
        </p:nvSpPr>
        <p:spPr>
          <a:xfrm>
            <a:off x="173572" y="1199289"/>
            <a:ext cx="11844855" cy="5327374"/>
          </a:xfrm>
        </p:spPr>
        <p:txBody>
          <a:bodyPr>
            <a:normAutofit/>
          </a:bodyPr>
          <a:lstStyle/>
          <a:p>
            <a:pPr>
              <a:buClr>
                <a:schemeClr val="tx1"/>
              </a:buClr>
              <a:buSzPct val="80000"/>
            </a:pPr>
            <a:r>
              <a:rPr lang="en-US" sz="3200" i="1" dirty="0">
                <a:latin typeface="Calibri" panose="020F0502020204030204" pitchFamily="34" charset="0"/>
                <a:cs typeface="Calibri" panose="020F0502020204030204" pitchFamily="34" charset="0"/>
              </a:rPr>
              <a:t>Imaging is a powerful tool in the </a:t>
            </a:r>
            <a:r>
              <a:rPr lang="en-US" sz="3200" b="1" i="1" dirty="0">
                <a:latin typeface="Calibri" panose="020F0502020204030204" pitchFamily="34" charset="0"/>
                <a:cs typeface="Calibri" panose="020F0502020204030204" pitchFamily="34" charset="0"/>
              </a:rPr>
              <a:t>pursuit of a diagnosis </a:t>
            </a:r>
            <a:endParaRPr lang="en-US" sz="1900" b="1" dirty="0">
              <a:latin typeface="Calibri" panose="020F0502020204030204" pitchFamily="34" charset="0"/>
              <a:cs typeface="Calibri" panose="020F0502020204030204" pitchFamily="34" charset="0"/>
            </a:endParaRPr>
          </a:p>
          <a:p>
            <a:pPr>
              <a:buClr>
                <a:schemeClr val="tx1"/>
              </a:buClr>
              <a:buSzPct val="80000"/>
            </a:pPr>
            <a:r>
              <a:rPr lang="en-US" sz="3200" dirty="0">
                <a:latin typeface="Calibri" panose="020F0502020204030204" pitchFamily="34" charset="0"/>
                <a:cs typeface="Calibri" panose="020F0502020204030204" pitchFamily="34" charset="0"/>
              </a:rPr>
              <a:t>Imaging is used to identify:</a:t>
            </a:r>
          </a:p>
          <a:p>
            <a:pPr lvl="1" fontAlgn="base">
              <a:buClr>
                <a:schemeClr val="tx1"/>
              </a:buClr>
              <a:buSzPct val="80000"/>
            </a:pPr>
            <a:r>
              <a:rPr lang="en-US" sz="3000" dirty="0">
                <a:latin typeface="Calibri" panose="020F0502020204030204" pitchFamily="34" charset="0"/>
                <a:cs typeface="Calibri" panose="020F0502020204030204" pitchFamily="34" charset="0"/>
              </a:rPr>
              <a:t>The </a:t>
            </a:r>
            <a:r>
              <a:rPr lang="en-US" sz="3000" b="1" i="1" dirty="0">
                <a:latin typeface="Calibri" panose="020F0502020204030204" pitchFamily="34" charset="0"/>
                <a:cs typeface="Calibri" panose="020F0502020204030204" pitchFamily="34" charset="0"/>
              </a:rPr>
              <a:t>patient’s</a:t>
            </a:r>
            <a:r>
              <a:rPr lang="en-US" sz="3000" dirty="0">
                <a:latin typeface="Calibri" panose="020F0502020204030204" pitchFamily="34" charset="0"/>
                <a:cs typeface="Calibri" panose="020F0502020204030204" pitchFamily="34" charset="0"/>
              </a:rPr>
              <a:t> </a:t>
            </a:r>
            <a:r>
              <a:rPr lang="en-US" sz="3000" b="1" i="1" dirty="0">
                <a:latin typeface="Calibri" panose="020F0502020204030204" pitchFamily="34" charset="0"/>
                <a:cs typeface="Calibri" panose="020F0502020204030204" pitchFamily="34" charset="0"/>
              </a:rPr>
              <a:t>anatomy</a:t>
            </a:r>
            <a:r>
              <a:rPr lang="en-US" sz="3000" dirty="0">
                <a:latin typeface="Calibri" panose="020F0502020204030204" pitchFamily="34" charset="0"/>
                <a:cs typeface="Calibri" panose="020F0502020204030204" pitchFamily="34" charset="0"/>
              </a:rPr>
              <a:t> and any </a:t>
            </a:r>
            <a:r>
              <a:rPr lang="en-US" sz="3000" b="1" i="1" dirty="0">
                <a:latin typeface="Calibri" panose="020F0502020204030204" pitchFamily="34" charset="0"/>
                <a:cs typeface="Calibri" panose="020F0502020204030204" pitchFamily="34" charset="0"/>
              </a:rPr>
              <a:t>alterations to the normal anatomy</a:t>
            </a:r>
            <a:r>
              <a:rPr lang="en-US" sz="3000" dirty="0">
                <a:latin typeface="Calibri" panose="020F0502020204030204" pitchFamily="34" charset="0"/>
                <a:cs typeface="Calibri" panose="020F0502020204030204" pitchFamily="34" charset="0"/>
              </a:rPr>
              <a:t>.</a:t>
            </a:r>
          </a:p>
          <a:p>
            <a:pPr lvl="1" fontAlgn="base">
              <a:buClr>
                <a:schemeClr val="tx1"/>
              </a:buClr>
              <a:buSzPct val="80000"/>
            </a:pPr>
            <a:r>
              <a:rPr lang="en-US" sz="3000" dirty="0">
                <a:latin typeface="Calibri" panose="020F0502020204030204" pitchFamily="34" charset="0"/>
                <a:cs typeface="Calibri" panose="020F0502020204030204" pitchFamily="34" charset="0"/>
              </a:rPr>
              <a:t>The </a:t>
            </a:r>
            <a:r>
              <a:rPr lang="en-US" sz="3000" b="1" i="1" dirty="0">
                <a:latin typeface="Calibri" panose="020F0502020204030204" pitchFamily="34" charset="0"/>
                <a:cs typeface="Calibri" panose="020F0502020204030204" pitchFamily="34" charset="0"/>
              </a:rPr>
              <a:t>patient’s physiology </a:t>
            </a:r>
            <a:r>
              <a:rPr lang="en-US" sz="3000" dirty="0">
                <a:latin typeface="Calibri" panose="020F0502020204030204" pitchFamily="34" charset="0"/>
                <a:cs typeface="Calibri" panose="020F0502020204030204" pitchFamily="34" charset="0"/>
              </a:rPr>
              <a:t>either </a:t>
            </a:r>
            <a:r>
              <a:rPr lang="en-US" sz="3000" b="1" i="1" dirty="0">
                <a:latin typeface="Calibri" panose="020F0502020204030204" pitchFamily="34" charset="0"/>
                <a:cs typeface="Calibri" panose="020F0502020204030204" pitchFamily="34" charset="0"/>
              </a:rPr>
              <a:t>directly with dynamic real-time images </a:t>
            </a:r>
            <a:r>
              <a:rPr lang="en-US" sz="3000" dirty="0">
                <a:latin typeface="Calibri" panose="020F0502020204030204" pitchFamily="34" charset="0"/>
                <a:cs typeface="Calibri" panose="020F0502020204030204" pitchFamily="34" charset="0"/>
              </a:rPr>
              <a:t>or </a:t>
            </a:r>
            <a:r>
              <a:rPr lang="en-US" sz="3000" b="1" i="1" dirty="0">
                <a:latin typeface="Calibri" panose="020F0502020204030204" pitchFamily="34" charset="0"/>
                <a:cs typeface="Calibri" panose="020F0502020204030204" pitchFamily="34" charset="0"/>
              </a:rPr>
              <a:t>indirectly by seeing alterations to normal tissue</a:t>
            </a:r>
            <a:r>
              <a:rPr lang="en-US" sz="3000" dirty="0">
                <a:latin typeface="Calibri" panose="020F0502020204030204" pitchFamily="34" charset="0"/>
                <a:cs typeface="Calibri" panose="020F0502020204030204" pitchFamily="34" charset="0"/>
              </a:rPr>
              <a:t>. </a:t>
            </a:r>
          </a:p>
          <a:p>
            <a:pPr lvl="1" fontAlgn="base">
              <a:buClr>
                <a:schemeClr val="tx1"/>
              </a:buClr>
              <a:buSzPct val="80000"/>
            </a:pPr>
            <a:endParaRPr lang="en-US" sz="1100" dirty="0">
              <a:latin typeface="Calibri" panose="020F0502020204030204" pitchFamily="34" charset="0"/>
              <a:cs typeface="Calibri" panose="020F0502020204030204" pitchFamily="34" charset="0"/>
            </a:endParaRPr>
          </a:p>
          <a:p>
            <a:pPr>
              <a:buClr>
                <a:schemeClr val="tx1"/>
              </a:buClr>
              <a:buSzPct val="80000"/>
            </a:pPr>
            <a:r>
              <a:rPr lang="en-US" sz="3200" dirty="0">
                <a:latin typeface="Calibri" panose="020F0502020204030204" pitchFamily="34" charset="0"/>
                <a:cs typeface="Calibri" panose="020F0502020204030204" pitchFamily="34" charset="0"/>
              </a:rPr>
              <a:t>Imaging modalities differ in how they “see” the body, primarily using the </a:t>
            </a:r>
            <a:r>
              <a:rPr lang="en-US" sz="3200" b="1" i="1" dirty="0">
                <a:latin typeface="Calibri" panose="020F0502020204030204" pitchFamily="34" charset="0"/>
                <a:cs typeface="Calibri" panose="020F0502020204030204" pitchFamily="34" charset="0"/>
              </a:rPr>
              <a:t>water in our bodies </a:t>
            </a:r>
            <a:r>
              <a:rPr lang="en-US" sz="3200" dirty="0">
                <a:latin typeface="Calibri" panose="020F0502020204030204" pitchFamily="34" charset="0"/>
                <a:cs typeface="Calibri" panose="020F0502020204030204" pitchFamily="34" charset="0"/>
              </a:rPr>
              <a:t>to detect and process images.</a:t>
            </a:r>
          </a:p>
        </p:txBody>
      </p:sp>
    </p:spTree>
    <p:extLst>
      <p:ext uri="{BB962C8B-B14F-4D97-AF65-F5344CB8AC3E}">
        <p14:creationId xmlns:p14="http://schemas.microsoft.com/office/powerpoint/2010/main" val="2796283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2FCA-BCBB-4493-9769-FCD4D9C8846F}"/>
              </a:ext>
            </a:extLst>
          </p:cNvPr>
          <p:cNvSpPr>
            <a:spLocks noGrp="1"/>
          </p:cNvSpPr>
          <p:nvPr>
            <p:ph type="title"/>
          </p:nvPr>
        </p:nvSpPr>
        <p:spPr>
          <a:xfrm>
            <a:off x="1160216" y="470596"/>
            <a:ext cx="10045147" cy="838510"/>
          </a:xfrm>
        </p:spPr>
        <p:txBody>
          <a:bodyPr/>
          <a:lstStyle/>
          <a:p>
            <a:pPr algn="ctr"/>
            <a:r>
              <a:rPr lang="en-US" u="sng" cap="none" dirty="0"/>
              <a:t>RADIOLOGY</a:t>
            </a:r>
          </a:p>
        </p:txBody>
      </p:sp>
      <p:sp>
        <p:nvSpPr>
          <p:cNvPr id="3" name="Content Placeholder 2">
            <a:extLst>
              <a:ext uri="{FF2B5EF4-FFF2-40B4-BE49-F238E27FC236}">
                <a16:creationId xmlns:a16="http://schemas.microsoft.com/office/drawing/2014/main" id="{DF3C1FD7-DA25-4CB7-814D-8F434947C5A5}"/>
              </a:ext>
            </a:extLst>
          </p:cNvPr>
          <p:cNvSpPr>
            <a:spLocks noGrp="1"/>
          </p:cNvSpPr>
          <p:nvPr>
            <p:ph idx="1"/>
          </p:nvPr>
        </p:nvSpPr>
        <p:spPr>
          <a:xfrm>
            <a:off x="161615" y="1404730"/>
            <a:ext cx="11844855" cy="5327374"/>
          </a:xfrm>
        </p:spPr>
        <p:txBody>
          <a:bodyPr>
            <a:normAutofit/>
          </a:bodyPr>
          <a:lstStyle/>
          <a:p>
            <a:pPr marL="0" indent="0">
              <a:buNone/>
            </a:pPr>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The goal is to </a:t>
            </a:r>
            <a:r>
              <a:rPr lang="en-US" sz="3200" b="1" i="1" dirty="0">
                <a:latin typeface="Calibri" panose="020F0502020204030204" pitchFamily="34" charset="0"/>
                <a:cs typeface="Calibri" panose="020F0502020204030204" pitchFamily="34" charset="0"/>
              </a:rPr>
              <a:t>select the best modality to investigate the possible diagnoses</a:t>
            </a:r>
            <a:r>
              <a:rPr lang="en-US" sz="3200" dirty="0">
                <a:latin typeface="Calibri" panose="020F0502020204030204" pitchFamily="34" charset="0"/>
                <a:cs typeface="Calibri" panose="020F0502020204030204" pitchFamily="34" charset="0"/>
              </a:rPr>
              <a:t>.</a:t>
            </a:r>
          </a:p>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This depends on:</a:t>
            </a:r>
          </a:p>
          <a:p>
            <a:pPr marL="514350" indent="-514350">
              <a:buFont typeface="+mj-lt"/>
              <a:buAutoNum type="arabicPeriod"/>
            </a:pPr>
            <a:r>
              <a:rPr lang="en-US" sz="3200" dirty="0">
                <a:latin typeface="Calibri" panose="020F0502020204030204" pitchFamily="34" charset="0"/>
                <a:cs typeface="Calibri" panose="020F0502020204030204" pitchFamily="34" charset="0"/>
              </a:rPr>
              <a:t>Which area of the body is being studied </a:t>
            </a:r>
          </a:p>
          <a:p>
            <a:pPr marL="514350" indent="-514350">
              <a:buFont typeface="+mj-lt"/>
              <a:buAutoNum type="arabicPeriod"/>
            </a:pPr>
            <a:r>
              <a:rPr lang="en-US" sz="3200" dirty="0">
                <a:latin typeface="Calibri" panose="020F0502020204030204" pitchFamily="34" charset="0"/>
                <a:cs typeface="Calibri" panose="020F0502020204030204" pitchFamily="34" charset="0"/>
              </a:rPr>
              <a:t>What your diagnostic suspicion is, your </a:t>
            </a:r>
            <a:r>
              <a:rPr lang="en-US" sz="3200" b="1" i="1" dirty="0">
                <a:latin typeface="Calibri" panose="020F0502020204030204" pitchFamily="34" charset="0"/>
                <a:cs typeface="Calibri" panose="020F0502020204030204" pitchFamily="34" charset="0"/>
              </a:rPr>
              <a:t>differential diagnosis</a:t>
            </a:r>
            <a:r>
              <a:rPr lang="en-US" sz="3200" dirty="0">
                <a:latin typeface="Calibri" panose="020F0502020204030204" pitchFamily="34" charset="0"/>
                <a:cs typeface="Calibri" panose="020F0502020204030204" pitchFamily="34" charset="0"/>
              </a:rPr>
              <a:t>.</a:t>
            </a:r>
          </a:p>
          <a:p>
            <a:pPr marL="0" indent="0">
              <a:buNone/>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49495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2FCA-BCBB-4493-9769-FCD4D9C8846F}"/>
              </a:ext>
            </a:extLst>
          </p:cNvPr>
          <p:cNvSpPr>
            <a:spLocks noGrp="1"/>
          </p:cNvSpPr>
          <p:nvPr>
            <p:ph type="title"/>
          </p:nvPr>
        </p:nvSpPr>
        <p:spPr>
          <a:xfrm>
            <a:off x="1267168" y="215954"/>
            <a:ext cx="10045147" cy="838510"/>
          </a:xfrm>
        </p:spPr>
        <p:txBody>
          <a:bodyPr/>
          <a:lstStyle/>
          <a:p>
            <a:pPr algn="ctr"/>
            <a:r>
              <a:rPr lang="en-US" u="sng" cap="none" dirty="0"/>
              <a:t>RADIOLOGY</a:t>
            </a:r>
          </a:p>
        </p:txBody>
      </p:sp>
      <p:sp>
        <p:nvSpPr>
          <p:cNvPr id="3" name="Content Placeholder 2">
            <a:extLst>
              <a:ext uri="{FF2B5EF4-FFF2-40B4-BE49-F238E27FC236}">
                <a16:creationId xmlns:a16="http://schemas.microsoft.com/office/drawing/2014/main" id="{DF3C1FD7-DA25-4CB7-814D-8F434947C5A5}"/>
              </a:ext>
            </a:extLst>
          </p:cNvPr>
          <p:cNvSpPr>
            <a:spLocks noGrp="1"/>
          </p:cNvSpPr>
          <p:nvPr>
            <p:ph idx="1"/>
          </p:nvPr>
        </p:nvSpPr>
        <p:spPr>
          <a:xfrm>
            <a:off x="392658" y="5793850"/>
            <a:ext cx="11794165" cy="1064150"/>
          </a:xfrm>
        </p:spPr>
        <p:txBody>
          <a:bodyPr>
            <a:normAutofit/>
          </a:bodyPr>
          <a:lstStyle/>
          <a:p>
            <a:pPr>
              <a:buClr>
                <a:schemeClr val="tx1"/>
              </a:buClr>
              <a:buSzPct val="80000"/>
            </a:pPr>
            <a:r>
              <a:rPr lang="en-US" dirty="0">
                <a:latin typeface="Calibri" panose="020F0502020204030204" pitchFamily="34" charset="0"/>
                <a:cs typeface="Calibri" panose="020F0502020204030204" pitchFamily="34" charset="0"/>
              </a:rPr>
              <a:t>All imaging studies have associated cost and possible associated risk. Understanding these factors help us make wise decisions.</a:t>
            </a:r>
          </a:p>
          <a:p>
            <a:pPr>
              <a:buClr>
                <a:schemeClr val="tx1"/>
              </a:buClr>
              <a:buSzPct val="80000"/>
            </a:pPr>
            <a:endParaRPr lang="en-US" sz="32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C9CBD6F2-AB98-9E7E-45A0-03797FA4193B}"/>
              </a:ext>
            </a:extLst>
          </p:cNvPr>
          <p:cNvPicPr>
            <a:picLocks noChangeAspect="1"/>
          </p:cNvPicPr>
          <p:nvPr/>
        </p:nvPicPr>
        <p:blipFill>
          <a:blip r:embed="rId3"/>
          <a:stretch>
            <a:fillRect/>
          </a:stretch>
        </p:blipFill>
        <p:spPr>
          <a:xfrm>
            <a:off x="1808261" y="967579"/>
            <a:ext cx="8575478" cy="4826271"/>
          </a:xfrm>
          <a:prstGeom prst="rect">
            <a:avLst/>
          </a:prstGeom>
        </p:spPr>
      </p:pic>
    </p:spTree>
    <p:extLst>
      <p:ext uri="{BB962C8B-B14F-4D97-AF65-F5344CB8AC3E}">
        <p14:creationId xmlns:p14="http://schemas.microsoft.com/office/powerpoint/2010/main" val="3737701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2FCA-BCBB-4493-9769-FCD4D9C8846F}"/>
              </a:ext>
            </a:extLst>
          </p:cNvPr>
          <p:cNvSpPr>
            <a:spLocks noGrp="1"/>
          </p:cNvSpPr>
          <p:nvPr>
            <p:ph type="title"/>
          </p:nvPr>
        </p:nvSpPr>
        <p:spPr>
          <a:xfrm>
            <a:off x="1190098" y="291302"/>
            <a:ext cx="10045147" cy="838510"/>
          </a:xfrm>
        </p:spPr>
        <p:txBody>
          <a:bodyPr/>
          <a:lstStyle/>
          <a:p>
            <a:pPr algn="ctr"/>
            <a:r>
              <a:rPr lang="en-US" u="sng" cap="none" dirty="0"/>
              <a:t>WORKING IN RADIOLOGY</a:t>
            </a:r>
          </a:p>
        </p:txBody>
      </p:sp>
      <p:sp>
        <p:nvSpPr>
          <p:cNvPr id="3" name="Content Placeholder 2">
            <a:extLst>
              <a:ext uri="{FF2B5EF4-FFF2-40B4-BE49-F238E27FC236}">
                <a16:creationId xmlns:a16="http://schemas.microsoft.com/office/drawing/2014/main" id="{DF3C1FD7-DA25-4CB7-814D-8F434947C5A5}"/>
              </a:ext>
            </a:extLst>
          </p:cNvPr>
          <p:cNvSpPr>
            <a:spLocks noGrp="1"/>
          </p:cNvSpPr>
          <p:nvPr>
            <p:ph idx="1"/>
          </p:nvPr>
        </p:nvSpPr>
        <p:spPr>
          <a:xfrm>
            <a:off x="239310" y="1368871"/>
            <a:ext cx="11844855" cy="5327374"/>
          </a:xfrm>
        </p:spPr>
        <p:txBody>
          <a:bodyPr>
            <a:normAutofit/>
          </a:bodyPr>
          <a:lstStyle/>
          <a:p>
            <a:r>
              <a:rPr lang="en-US" sz="3200" dirty="0">
                <a:latin typeface="Calibri" panose="020F0502020204030204" pitchFamily="34" charset="0"/>
                <a:cs typeface="Calibri" panose="020F0502020204030204" pitchFamily="34" charset="0"/>
              </a:rPr>
              <a:t>The clinician working in radiology must </a:t>
            </a:r>
            <a:r>
              <a:rPr lang="en-US" sz="3200" b="1" i="1" dirty="0">
                <a:latin typeface="Calibri" panose="020F0502020204030204" pitchFamily="34" charset="0"/>
                <a:cs typeface="Calibri" panose="020F0502020204030204" pitchFamily="34" charset="0"/>
              </a:rPr>
              <a:t>combine knowledge of imaging physics and anatomy with a broad fund of medical knowledge </a:t>
            </a:r>
            <a:r>
              <a:rPr lang="en-US" sz="3200" dirty="0">
                <a:latin typeface="Calibri" panose="020F0502020204030204" pitchFamily="34" charset="0"/>
                <a:cs typeface="Calibri" panose="020F0502020204030204" pitchFamily="34" charset="0"/>
              </a:rPr>
              <a:t>to arrive at a diagnosis relevant to the patient's clinical presentation. </a:t>
            </a:r>
          </a:p>
          <a:p>
            <a:endParaRPr lang="en-US" sz="3200" dirty="0">
              <a:latin typeface="Calibri" panose="020F0502020204030204" pitchFamily="34" charset="0"/>
              <a:cs typeface="Calibri" panose="020F0502020204030204" pitchFamily="34" charset="0"/>
            </a:endParaRPr>
          </a:p>
          <a:p>
            <a:r>
              <a:rPr lang="en-US" sz="3200" b="1" i="1" dirty="0">
                <a:latin typeface="Calibri" panose="020F0502020204030204" pitchFamily="34" charset="0"/>
                <a:cs typeface="Calibri" panose="020F0502020204030204" pitchFamily="34" charset="0"/>
              </a:rPr>
              <a:t>Effective communication </a:t>
            </a:r>
            <a:r>
              <a:rPr lang="en-US" sz="3200" dirty="0">
                <a:latin typeface="Calibri" panose="020F0502020204030204" pitchFamily="34" charset="0"/>
                <a:cs typeface="Calibri" panose="020F0502020204030204" pitchFamily="34" charset="0"/>
              </a:rPr>
              <a:t>between the referring clinician and the radiology clinician is vital in all stages of imaging</a:t>
            </a:r>
          </a:p>
        </p:txBody>
      </p:sp>
    </p:spTree>
    <p:extLst>
      <p:ext uri="{BB962C8B-B14F-4D97-AF65-F5344CB8AC3E}">
        <p14:creationId xmlns:p14="http://schemas.microsoft.com/office/powerpoint/2010/main" val="3068817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2FCA-BCBB-4493-9769-FCD4D9C8846F}"/>
              </a:ext>
            </a:extLst>
          </p:cNvPr>
          <p:cNvSpPr>
            <a:spLocks noGrp="1"/>
          </p:cNvSpPr>
          <p:nvPr>
            <p:ph type="title"/>
          </p:nvPr>
        </p:nvSpPr>
        <p:spPr>
          <a:xfrm>
            <a:off x="184143" y="194973"/>
            <a:ext cx="10954351" cy="838510"/>
          </a:xfrm>
        </p:spPr>
        <p:txBody>
          <a:bodyPr>
            <a:normAutofit/>
          </a:bodyPr>
          <a:lstStyle/>
          <a:p>
            <a:pPr algn="ctr"/>
            <a:r>
              <a:rPr lang="en-US" u="sng" cap="none" dirty="0"/>
              <a:t>WORKING IN RADIOLOGY</a:t>
            </a:r>
          </a:p>
        </p:txBody>
      </p:sp>
      <p:sp>
        <p:nvSpPr>
          <p:cNvPr id="3" name="Content Placeholder 2">
            <a:extLst>
              <a:ext uri="{FF2B5EF4-FFF2-40B4-BE49-F238E27FC236}">
                <a16:creationId xmlns:a16="http://schemas.microsoft.com/office/drawing/2014/main" id="{DF3C1FD7-DA25-4CB7-814D-8F434947C5A5}"/>
              </a:ext>
            </a:extLst>
          </p:cNvPr>
          <p:cNvSpPr>
            <a:spLocks noGrp="1"/>
          </p:cNvSpPr>
          <p:nvPr>
            <p:ph idx="1"/>
          </p:nvPr>
        </p:nvSpPr>
        <p:spPr>
          <a:xfrm>
            <a:off x="304799" y="2589820"/>
            <a:ext cx="7131057" cy="5327374"/>
          </a:xfrm>
        </p:spPr>
        <p:txBody>
          <a:bodyPr>
            <a:normAutofit/>
          </a:bodyPr>
          <a:lstStyle/>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Examples of </a:t>
            </a:r>
            <a:r>
              <a:rPr lang="en-US" sz="3200" b="1" i="1" dirty="0">
                <a:latin typeface="Calibri" panose="020F0502020204030204" pitchFamily="34" charset="0"/>
                <a:cs typeface="Calibri" panose="020F0502020204030204" pitchFamily="34" charset="0"/>
              </a:rPr>
              <a:t>commonly performed procedures by PAs</a:t>
            </a:r>
            <a:r>
              <a:rPr lang="en-US" sz="3200" dirty="0">
                <a:latin typeface="Calibri" panose="020F0502020204030204" pitchFamily="34" charset="0"/>
                <a:cs typeface="Calibri" panose="020F0502020204030204" pitchFamily="34" charset="0"/>
              </a:rPr>
              <a:t> include:</a:t>
            </a:r>
          </a:p>
          <a:p>
            <a:pPr lvl="1"/>
            <a:r>
              <a:rPr lang="en-US" sz="3000" dirty="0">
                <a:latin typeface="Calibri" panose="020F0502020204030204" pitchFamily="34" charset="0"/>
                <a:cs typeface="Calibri" panose="020F0502020204030204" pitchFamily="34" charset="0"/>
              </a:rPr>
              <a:t>Chest tube placement and </a:t>
            </a:r>
            <a:r>
              <a:rPr lang="en-US" sz="3000" dirty="0" err="1">
                <a:latin typeface="Calibri" panose="020F0502020204030204" pitchFamily="34" charset="0"/>
                <a:cs typeface="Calibri" panose="020F0502020204030204" pitchFamily="34" charset="0"/>
              </a:rPr>
              <a:t>PleurX</a:t>
            </a:r>
            <a:r>
              <a:rPr lang="en-US" sz="3000" dirty="0">
                <a:latin typeface="Calibri" panose="020F0502020204030204" pitchFamily="34" charset="0"/>
                <a:cs typeface="Calibri" panose="020F0502020204030204" pitchFamily="34" charset="0"/>
              </a:rPr>
              <a:t> catheter placement</a:t>
            </a:r>
          </a:p>
          <a:p>
            <a:pPr lvl="1"/>
            <a:r>
              <a:rPr lang="en-US" sz="3000" dirty="0">
                <a:latin typeface="Calibri" panose="020F0502020204030204" pitchFamily="34" charset="0"/>
                <a:cs typeface="Calibri" panose="020F0502020204030204" pitchFamily="34" charset="0"/>
              </a:rPr>
              <a:t>Diagnostic paracentesis and thoracentesis</a:t>
            </a:r>
          </a:p>
          <a:p>
            <a:pPr lvl="1"/>
            <a:r>
              <a:rPr lang="en-US" sz="3000" dirty="0">
                <a:latin typeface="Calibri" panose="020F0502020204030204" pitchFamily="34" charset="0"/>
                <a:cs typeface="Calibri" panose="020F0502020204030204" pitchFamily="34" charset="0"/>
              </a:rPr>
              <a:t>Diagnostic lumbar punctures</a:t>
            </a:r>
          </a:p>
        </p:txBody>
      </p:sp>
      <p:pic>
        <p:nvPicPr>
          <p:cNvPr id="1026" name="Picture 2">
            <a:extLst>
              <a:ext uri="{FF2B5EF4-FFF2-40B4-BE49-F238E27FC236}">
                <a16:creationId xmlns:a16="http://schemas.microsoft.com/office/drawing/2014/main" id="{06482155-2916-42FC-B345-A0207C858B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0977"/>
          <a:stretch>
            <a:fillRect/>
          </a:stretch>
        </p:blipFill>
        <p:spPr bwMode="auto">
          <a:xfrm>
            <a:off x="7029450" y="2511630"/>
            <a:ext cx="4648207" cy="415139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4859F54-759B-043F-86F7-D593A694F39D}"/>
              </a:ext>
            </a:extLst>
          </p:cNvPr>
          <p:cNvSpPr txBox="1"/>
          <p:nvPr/>
        </p:nvSpPr>
        <p:spPr>
          <a:xfrm>
            <a:off x="304799" y="1395317"/>
            <a:ext cx="11487150" cy="1077218"/>
          </a:xfrm>
          <a:prstGeom prst="rect">
            <a:avLst/>
          </a:prstGeom>
          <a:noFill/>
        </p:spPr>
        <p:txBody>
          <a:bodyPr wrap="square" rtlCol="0">
            <a:spAutoFit/>
          </a:bodyPr>
          <a:lstStyle/>
          <a:p>
            <a:pPr marL="285750" indent="-285750">
              <a:buFont typeface="Arial" panose="020B0604020202020204" pitchFamily="34" charset="0"/>
              <a:buChar char="•"/>
            </a:pPr>
            <a:r>
              <a:rPr lang="en-US" sz="3000" dirty="0">
                <a:latin typeface="Calibri" panose="020F0502020204030204" pitchFamily="34" charset="0"/>
                <a:cs typeface="Calibri" panose="020F0502020204030204" pitchFamily="34" charset="0"/>
              </a:rPr>
              <a:t>Physician assistants working in radiology </a:t>
            </a:r>
            <a:r>
              <a:rPr lang="en-US" sz="3200" b="1" i="1" dirty="0">
                <a:latin typeface="Calibri" panose="020F0502020204030204" pitchFamily="34" charset="0"/>
                <a:cs typeface="Calibri" panose="020F0502020204030204" pitchFamily="34" charset="0"/>
              </a:rPr>
              <a:t>often</a:t>
            </a:r>
            <a:r>
              <a:rPr lang="en-US" sz="3200" dirty="0">
                <a:latin typeface="Calibri" panose="020F0502020204030204" pitchFamily="34" charset="0"/>
                <a:cs typeface="Calibri" panose="020F0502020204030204" pitchFamily="34" charset="0"/>
              </a:rPr>
              <a:t> </a:t>
            </a:r>
            <a:r>
              <a:rPr lang="en-US" sz="3200" b="1" i="1" dirty="0">
                <a:latin typeface="Calibri" panose="020F0502020204030204" pitchFamily="34" charset="0"/>
                <a:cs typeface="Calibri" panose="020F0502020204030204" pitchFamily="34" charset="0"/>
              </a:rPr>
              <a:t>work on the intervention side</a:t>
            </a:r>
            <a:r>
              <a:rPr lang="en-US" sz="3200" dirty="0">
                <a:latin typeface="Calibri" panose="020F0502020204030204" pitchFamily="34" charset="0"/>
                <a:cs typeface="Calibri" panose="020F0502020204030204" pitchFamily="34" charset="0"/>
              </a:rPr>
              <a:t> </a:t>
            </a:r>
            <a:r>
              <a:rPr lang="en-US" sz="3000" dirty="0">
                <a:latin typeface="Calibri" panose="020F0502020204030204" pitchFamily="34" charset="0"/>
                <a:cs typeface="Calibri" panose="020F0502020204030204" pitchFamily="34" charset="0"/>
              </a:rPr>
              <a:t>of the specialty</a:t>
            </a:r>
          </a:p>
        </p:txBody>
      </p:sp>
    </p:spTree>
    <p:extLst>
      <p:ext uri="{BB962C8B-B14F-4D97-AF65-F5344CB8AC3E}">
        <p14:creationId xmlns:p14="http://schemas.microsoft.com/office/powerpoint/2010/main" val="694921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2FCA-BCBB-4493-9769-FCD4D9C8846F}"/>
              </a:ext>
            </a:extLst>
          </p:cNvPr>
          <p:cNvSpPr>
            <a:spLocks noGrp="1"/>
          </p:cNvSpPr>
          <p:nvPr>
            <p:ph type="title"/>
          </p:nvPr>
        </p:nvSpPr>
        <p:spPr>
          <a:xfrm>
            <a:off x="177802" y="158182"/>
            <a:ext cx="4695423" cy="838510"/>
          </a:xfrm>
        </p:spPr>
        <p:txBody>
          <a:bodyPr/>
          <a:lstStyle/>
          <a:p>
            <a:r>
              <a:rPr lang="en-US" u="sng" cap="none" dirty="0"/>
              <a:t>RADIOLOGY TERMS</a:t>
            </a:r>
          </a:p>
        </p:txBody>
      </p:sp>
      <p:sp>
        <p:nvSpPr>
          <p:cNvPr id="3" name="Content Placeholder 2">
            <a:extLst>
              <a:ext uri="{FF2B5EF4-FFF2-40B4-BE49-F238E27FC236}">
                <a16:creationId xmlns:a16="http://schemas.microsoft.com/office/drawing/2014/main" id="{DF3C1FD7-DA25-4CB7-814D-8F434947C5A5}"/>
              </a:ext>
            </a:extLst>
          </p:cNvPr>
          <p:cNvSpPr>
            <a:spLocks noGrp="1"/>
          </p:cNvSpPr>
          <p:nvPr>
            <p:ph idx="1"/>
          </p:nvPr>
        </p:nvSpPr>
        <p:spPr>
          <a:xfrm>
            <a:off x="379233" y="1075909"/>
            <a:ext cx="4695423" cy="5504639"/>
          </a:xfrm>
        </p:spPr>
        <p:txBody>
          <a:bodyPr>
            <a:noAutofit/>
          </a:bodyPr>
          <a:lstStyle/>
          <a:p>
            <a:r>
              <a:rPr lang="en-US" sz="3200" b="1" u="sng" dirty="0">
                <a:latin typeface="Calibri" panose="020F0502020204030204" pitchFamily="34" charset="0"/>
                <a:cs typeface="Calibri" panose="020F0502020204030204" pitchFamily="34" charset="0"/>
              </a:rPr>
              <a:t>Planar images</a:t>
            </a:r>
            <a:r>
              <a:rPr lang="en-US" sz="3200" b="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are shadows of complex three-dimensional objects. These images compress a large amount of information into a two-dimensional image; however, when compressed, important data may be obscured.  </a:t>
            </a:r>
          </a:p>
        </p:txBody>
      </p:sp>
      <p:pic>
        <p:nvPicPr>
          <p:cNvPr id="2050" name="Picture 2" descr="The Radiology Assistant : Basic Interpretation">
            <a:extLst>
              <a:ext uri="{FF2B5EF4-FFF2-40B4-BE49-F238E27FC236}">
                <a16:creationId xmlns:a16="http://schemas.microsoft.com/office/drawing/2014/main" id="{AF10F35B-4400-7449-A035-97AEDE139E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6086" y="158182"/>
            <a:ext cx="6738112" cy="566206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D538BEAF-CF17-E81A-FD7F-90845EE8F12E}"/>
              </a:ext>
            </a:extLst>
          </p:cNvPr>
          <p:cNvSpPr txBox="1">
            <a:spLocks/>
          </p:cNvSpPr>
          <p:nvPr/>
        </p:nvSpPr>
        <p:spPr>
          <a:xfrm>
            <a:off x="244062" y="6005825"/>
            <a:ext cx="8953498" cy="5747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u="sng" dirty="0">
                <a:latin typeface="Calibri" panose="020F0502020204030204" pitchFamily="34" charset="0"/>
                <a:cs typeface="Calibri" panose="020F0502020204030204" pitchFamily="34" charset="0"/>
              </a:rPr>
              <a:t>A CXR is an example of a planar study</a:t>
            </a:r>
            <a:endParaRPr lang="en-US"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06886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2FCA-BCBB-4493-9769-FCD4D9C8846F}"/>
              </a:ext>
            </a:extLst>
          </p:cNvPr>
          <p:cNvSpPr>
            <a:spLocks noGrp="1"/>
          </p:cNvSpPr>
          <p:nvPr>
            <p:ph type="title"/>
          </p:nvPr>
        </p:nvSpPr>
        <p:spPr>
          <a:xfrm>
            <a:off x="161615" y="136593"/>
            <a:ext cx="10045147" cy="838510"/>
          </a:xfrm>
        </p:spPr>
        <p:txBody>
          <a:bodyPr/>
          <a:lstStyle/>
          <a:p>
            <a:pPr algn="ctr"/>
            <a:r>
              <a:rPr lang="en-US" u="sng" cap="none" dirty="0"/>
              <a:t>RADIOLOGY TERMS</a:t>
            </a:r>
          </a:p>
        </p:txBody>
      </p:sp>
      <p:sp>
        <p:nvSpPr>
          <p:cNvPr id="3" name="Content Placeholder 2">
            <a:extLst>
              <a:ext uri="{FF2B5EF4-FFF2-40B4-BE49-F238E27FC236}">
                <a16:creationId xmlns:a16="http://schemas.microsoft.com/office/drawing/2014/main" id="{DF3C1FD7-DA25-4CB7-814D-8F434947C5A5}"/>
              </a:ext>
            </a:extLst>
          </p:cNvPr>
          <p:cNvSpPr>
            <a:spLocks noGrp="1"/>
          </p:cNvSpPr>
          <p:nvPr>
            <p:ph idx="1"/>
          </p:nvPr>
        </p:nvSpPr>
        <p:spPr>
          <a:xfrm>
            <a:off x="161615" y="3429000"/>
            <a:ext cx="8580603" cy="4276287"/>
          </a:xfrm>
        </p:spPr>
        <p:txBody>
          <a:bodyPr>
            <a:noAutofit/>
          </a:bodyPr>
          <a:lstStyle/>
          <a:p>
            <a:r>
              <a:rPr lang="en-US" sz="3200" dirty="0">
                <a:latin typeface="Calibri" panose="020F0502020204030204" pitchFamily="34" charset="0"/>
                <a:cs typeface="Calibri" panose="020F0502020204030204" pitchFamily="34" charset="0"/>
              </a:rPr>
              <a:t>Depending on the modality, images can be acquired in two or three dimensions.  The images can be mathematically manipulated to obtain two-dimensional images in different planes or three-dimensional images highlighting specific regions or anatomy. </a:t>
            </a:r>
          </a:p>
        </p:txBody>
      </p:sp>
      <p:sp>
        <p:nvSpPr>
          <p:cNvPr id="4" name="TextBox 3">
            <a:extLst>
              <a:ext uri="{FF2B5EF4-FFF2-40B4-BE49-F238E27FC236}">
                <a16:creationId xmlns:a16="http://schemas.microsoft.com/office/drawing/2014/main" id="{07AC5FAA-81BA-A146-9923-5787CB05D8B0}"/>
              </a:ext>
            </a:extLst>
          </p:cNvPr>
          <p:cNvSpPr txBox="1"/>
          <p:nvPr/>
        </p:nvSpPr>
        <p:spPr>
          <a:xfrm>
            <a:off x="161615" y="975103"/>
            <a:ext cx="11516580" cy="2369880"/>
          </a:xfrm>
          <a:prstGeom prst="rect">
            <a:avLst/>
          </a:prstGeom>
          <a:noFill/>
        </p:spPr>
        <p:txBody>
          <a:bodyPr wrap="square" rtlCol="0">
            <a:spAutoFit/>
          </a:bodyPr>
          <a:lstStyle/>
          <a:p>
            <a:pPr marL="457200" indent="-457200">
              <a:buFont typeface="Arial" panose="020B0604020202020204" pitchFamily="34" charset="0"/>
              <a:buChar char="•"/>
            </a:pPr>
            <a:r>
              <a:rPr lang="en-US" sz="3400" b="1" u="sng" dirty="0">
                <a:latin typeface="Calibri" panose="020F0502020204030204" pitchFamily="34" charset="0"/>
                <a:cs typeface="Calibri" panose="020F0502020204030204" pitchFamily="34" charset="0"/>
              </a:rPr>
              <a:t>Cross-sectional imaging</a:t>
            </a:r>
            <a:r>
              <a:rPr lang="en-US" sz="3400" b="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techniques depict the three-dimensional reality of human anatomy by creating a detailed composite analysis in two-dimensional “slices”.</a:t>
            </a:r>
          </a:p>
          <a:p>
            <a:pPr marL="914400" lvl="1" indent="-457200">
              <a:buFont typeface="Arial" panose="020B0604020202020204" pitchFamily="34" charset="0"/>
              <a:buChar char="•"/>
            </a:pPr>
            <a:r>
              <a:rPr lang="en-US" sz="3200" b="1" i="1" dirty="0">
                <a:latin typeface="Calibri" panose="020F0502020204030204" pitchFamily="34" charset="0"/>
                <a:cs typeface="Calibri" panose="020F0502020204030204" pitchFamily="34" charset="0"/>
              </a:rPr>
              <a:t>CT, ultrasound and MRI </a:t>
            </a:r>
            <a:r>
              <a:rPr lang="en-US" sz="3200" dirty="0">
                <a:latin typeface="Calibri" panose="020F0502020204030204" pitchFamily="34" charset="0"/>
                <a:cs typeface="Calibri" panose="020F0502020204030204" pitchFamily="34" charset="0"/>
              </a:rPr>
              <a:t>are cross-sectional imaging modalities</a:t>
            </a:r>
          </a:p>
          <a:p>
            <a:endParaRPr lang="en-US" dirty="0"/>
          </a:p>
        </p:txBody>
      </p:sp>
      <p:pic>
        <p:nvPicPr>
          <p:cNvPr id="3074" name="Picture 2" descr="Optimization of head and neck vascular CT angiography using variable rate  bolus tracking technique and third-generation dual-source CT dual-energy  scanning | BMC Medical Imaging | Full Text">
            <a:extLst>
              <a:ext uri="{FF2B5EF4-FFF2-40B4-BE49-F238E27FC236}">
                <a16:creationId xmlns:a16="http://schemas.microsoft.com/office/drawing/2014/main" id="{32A31A68-63B2-BA3C-4534-D225FA5125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6881"/>
          <a:stretch>
            <a:fillRect/>
          </a:stretch>
        </p:blipFill>
        <p:spPr bwMode="auto">
          <a:xfrm>
            <a:off x="8742218" y="3142119"/>
            <a:ext cx="3082637" cy="3464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6798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2FCA-BCBB-4493-9769-FCD4D9C8846F}"/>
              </a:ext>
            </a:extLst>
          </p:cNvPr>
          <p:cNvSpPr>
            <a:spLocks noGrp="1"/>
          </p:cNvSpPr>
          <p:nvPr>
            <p:ph type="title"/>
          </p:nvPr>
        </p:nvSpPr>
        <p:spPr>
          <a:xfrm>
            <a:off x="-1326877" y="76850"/>
            <a:ext cx="10045147" cy="838510"/>
          </a:xfrm>
        </p:spPr>
        <p:txBody>
          <a:bodyPr/>
          <a:lstStyle/>
          <a:p>
            <a:pPr algn="ctr"/>
            <a:r>
              <a:rPr lang="en-US" u="sng" cap="none" dirty="0"/>
              <a:t>RADIOLOGY TERMS</a:t>
            </a:r>
          </a:p>
        </p:txBody>
      </p:sp>
      <p:sp>
        <p:nvSpPr>
          <p:cNvPr id="3" name="Content Placeholder 2">
            <a:extLst>
              <a:ext uri="{FF2B5EF4-FFF2-40B4-BE49-F238E27FC236}">
                <a16:creationId xmlns:a16="http://schemas.microsoft.com/office/drawing/2014/main" id="{DF3C1FD7-DA25-4CB7-814D-8F434947C5A5}"/>
              </a:ext>
            </a:extLst>
          </p:cNvPr>
          <p:cNvSpPr>
            <a:spLocks noGrp="1"/>
          </p:cNvSpPr>
          <p:nvPr>
            <p:ph idx="1"/>
          </p:nvPr>
        </p:nvSpPr>
        <p:spPr>
          <a:xfrm>
            <a:off x="185580" y="1020896"/>
            <a:ext cx="7020234" cy="5456757"/>
          </a:xfrm>
        </p:spPr>
        <p:txBody>
          <a:bodyPr>
            <a:noAutofit/>
          </a:bodyPr>
          <a:lstStyle/>
          <a:p>
            <a:r>
              <a:rPr lang="en-US" sz="3200" b="1" u="sng" dirty="0">
                <a:latin typeface="Calibri" panose="020F0502020204030204" pitchFamily="34" charset="0"/>
                <a:cs typeface="Calibri" panose="020F0502020204030204" pitchFamily="34" charset="0"/>
              </a:rPr>
              <a:t>Artifact</a:t>
            </a:r>
            <a:r>
              <a:rPr lang="en-US" sz="3200" i="1" dirty="0">
                <a:latin typeface="Calibri" panose="020F0502020204030204" pitchFamily="34" charset="0"/>
                <a:cs typeface="Calibri" panose="020F0502020204030204" pitchFamily="34" charset="0"/>
              </a:rPr>
              <a:t>:</a:t>
            </a:r>
            <a:r>
              <a:rPr lang="en-US" sz="3200" dirty="0">
                <a:latin typeface="Calibri" panose="020F0502020204030204" pitchFamily="34" charset="0"/>
                <a:cs typeface="Calibri" panose="020F0502020204030204" pitchFamily="34" charset="0"/>
              </a:rPr>
              <a:t> an imaging finding that does not directly correspond to the reality of the patient and may mimic a clinical feature, degrade image quality, or obscure anatomy. </a:t>
            </a:r>
          </a:p>
          <a:p>
            <a:endParaRPr lang="en-US" sz="2000" dirty="0">
              <a:latin typeface="Calibri" panose="020F0502020204030204" pitchFamily="34" charset="0"/>
              <a:cs typeface="Calibri" panose="020F0502020204030204" pitchFamily="34" charset="0"/>
            </a:endParaRPr>
          </a:p>
          <a:p>
            <a:r>
              <a:rPr lang="en-US" sz="3200" b="1" u="sng" dirty="0">
                <a:latin typeface="Calibri" panose="020F0502020204030204" pitchFamily="34" charset="0"/>
                <a:cs typeface="Calibri" panose="020F0502020204030204" pitchFamily="34" charset="0"/>
              </a:rPr>
              <a:t>Image contrast</a:t>
            </a:r>
            <a:r>
              <a:rPr lang="en-US" sz="3200" b="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is the difference in brightness between an area of interest and its surroundings. The larger the difference in brightness, the easier it is to differentiate one structure from another.</a:t>
            </a:r>
          </a:p>
        </p:txBody>
      </p:sp>
      <p:pic>
        <p:nvPicPr>
          <p:cNvPr id="1026" name="Picture 2" descr="Startradiology">
            <a:extLst>
              <a:ext uri="{FF2B5EF4-FFF2-40B4-BE49-F238E27FC236}">
                <a16:creationId xmlns:a16="http://schemas.microsoft.com/office/drawing/2014/main" id="{A7E7E5FA-67E0-364F-A369-404064843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2330" y="717399"/>
            <a:ext cx="4824570" cy="504230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9A57C3E-E454-FA25-C8DB-7153F34828E2}"/>
              </a:ext>
            </a:extLst>
          </p:cNvPr>
          <p:cNvSpPr txBox="1"/>
          <p:nvPr/>
        </p:nvSpPr>
        <p:spPr>
          <a:xfrm>
            <a:off x="7037230" y="5865241"/>
            <a:ext cx="5154770" cy="830997"/>
          </a:xfrm>
          <a:prstGeom prst="rect">
            <a:avLst/>
          </a:prstGeom>
          <a:noFill/>
        </p:spPr>
        <p:txBody>
          <a:bodyPr wrap="square" rtlCol="0">
            <a:spAutoFit/>
          </a:bodyPr>
          <a:lstStyle/>
          <a:p>
            <a:pPr algn="ctr"/>
            <a:r>
              <a:rPr lang="en-US" sz="2400" dirty="0"/>
              <a:t>When looking at a CT, the perspective is from the </a:t>
            </a:r>
            <a:r>
              <a:rPr lang="en-US" sz="2400" b="1" i="1" dirty="0"/>
              <a:t>patient’s feet.</a:t>
            </a:r>
          </a:p>
        </p:txBody>
      </p:sp>
    </p:spTree>
    <p:extLst>
      <p:ext uri="{BB962C8B-B14F-4D97-AF65-F5344CB8AC3E}">
        <p14:creationId xmlns:p14="http://schemas.microsoft.com/office/powerpoint/2010/main" val="1762685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2FCA-BCBB-4493-9769-FCD4D9C8846F}"/>
              </a:ext>
            </a:extLst>
          </p:cNvPr>
          <p:cNvSpPr>
            <a:spLocks noGrp="1"/>
          </p:cNvSpPr>
          <p:nvPr>
            <p:ph type="title"/>
          </p:nvPr>
        </p:nvSpPr>
        <p:spPr>
          <a:xfrm>
            <a:off x="1073426" y="187393"/>
            <a:ext cx="10045147" cy="838510"/>
          </a:xfrm>
        </p:spPr>
        <p:txBody>
          <a:bodyPr/>
          <a:lstStyle/>
          <a:p>
            <a:pPr algn="ctr"/>
            <a:r>
              <a:rPr lang="en-US" u="sng" cap="none" dirty="0"/>
              <a:t>RADIOLOGY TERMS</a:t>
            </a:r>
          </a:p>
        </p:txBody>
      </p:sp>
      <p:sp>
        <p:nvSpPr>
          <p:cNvPr id="4" name="TextBox 3">
            <a:extLst>
              <a:ext uri="{FF2B5EF4-FFF2-40B4-BE49-F238E27FC236}">
                <a16:creationId xmlns:a16="http://schemas.microsoft.com/office/drawing/2014/main" id="{07AC5FAA-81BA-A146-9923-5787CB05D8B0}"/>
              </a:ext>
            </a:extLst>
          </p:cNvPr>
          <p:cNvSpPr txBox="1"/>
          <p:nvPr/>
        </p:nvSpPr>
        <p:spPr>
          <a:xfrm>
            <a:off x="161016" y="1025903"/>
            <a:ext cx="11869965" cy="5016758"/>
          </a:xfrm>
          <a:prstGeom prst="rect">
            <a:avLst/>
          </a:prstGeom>
          <a:noFill/>
        </p:spPr>
        <p:txBody>
          <a:bodyPr wrap="square" rtlCol="0">
            <a:spAutoFit/>
          </a:bodyPr>
          <a:lstStyle/>
          <a:p>
            <a:pPr marL="457200" indent="-457200">
              <a:buFont typeface="Arial" panose="020B0604020202020204" pitchFamily="34" charset="0"/>
              <a:buChar char="•"/>
            </a:pPr>
            <a:r>
              <a:rPr lang="en-US" sz="3200" b="1" u="sng" dirty="0">
                <a:latin typeface="Calibri" panose="020F0502020204030204" pitchFamily="34" charset="0"/>
                <a:cs typeface="Calibri" panose="020F0502020204030204" pitchFamily="34" charset="0"/>
              </a:rPr>
              <a:t>Attenuation:</a:t>
            </a:r>
            <a:r>
              <a:rPr lang="en-US" sz="3200" b="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refers to the reduction in the intensity of an x-ray beam as it passes through matter due to either the </a:t>
            </a:r>
            <a:r>
              <a:rPr lang="en-US" sz="3200" b="1" i="1" dirty="0">
                <a:latin typeface="Calibri" panose="020F0502020204030204" pitchFamily="34" charset="0"/>
                <a:cs typeface="Calibri" panose="020F0502020204030204" pitchFamily="34" charset="0"/>
              </a:rPr>
              <a:t>absorption or scattering </a:t>
            </a:r>
            <a:r>
              <a:rPr lang="en-US" sz="3200" dirty="0">
                <a:latin typeface="Calibri" panose="020F0502020204030204" pitchFamily="34" charset="0"/>
                <a:cs typeface="Calibri" panose="020F0502020204030204" pitchFamily="34" charset="0"/>
              </a:rPr>
              <a:t>of photons.</a:t>
            </a:r>
          </a:p>
          <a:p>
            <a:pPr marL="457200" indent="-4572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Different materials in the body will </a:t>
            </a:r>
            <a:r>
              <a:rPr lang="en-US" sz="3200" b="1" i="1" dirty="0">
                <a:latin typeface="Calibri" panose="020F0502020204030204" pitchFamily="34" charset="0"/>
                <a:cs typeface="Calibri" panose="020F0502020204030204" pitchFamily="34" charset="0"/>
              </a:rPr>
              <a:t>attenuate</a:t>
            </a:r>
            <a:r>
              <a:rPr lang="en-US" sz="3200" dirty="0">
                <a:latin typeface="Calibri" panose="020F0502020204030204" pitchFamily="34" charset="0"/>
                <a:cs typeface="Calibri" panose="020F0502020204030204" pitchFamily="34" charset="0"/>
              </a:rPr>
              <a:t> x-rays to different degrees to help produce images.</a:t>
            </a:r>
          </a:p>
          <a:p>
            <a:pPr marL="914400" lvl="1"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X-rays pass through air-filled lungs with little attenuation, but the x-ray beam is substantially attenuated when passing through bone.</a:t>
            </a:r>
          </a:p>
          <a:p>
            <a:pPr lvl="1"/>
            <a:endParaRPr lang="en-US"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06627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491F7-796D-4025-84FF-9C8094AFFA79}"/>
              </a:ext>
            </a:extLst>
          </p:cNvPr>
          <p:cNvSpPr>
            <a:spLocks noGrp="1"/>
          </p:cNvSpPr>
          <p:nvPr>
            <p:ph type="title"/>
          </p:nvPr>
        </p:nvSpPr>
        <p:spPr>
          <a:xfrm>
            <a:off x="458494" y="172453"/>
            <a:ext cx="11412664" cy="871538"/>
          </a:xfrm>
        </p:spPr>
        <p:txBody>
          <a:bodyPr>
            <a:normAutofit/>
          </a:bodyPr>
          <a:lstStyle/>
          <a:p>
            <a:pPr algn="ctr"/>
            <a:r>
              <a:rPr lang="en-US" u="sng" cap="none" dirty="0"/>
              <a:t>CONTRAST AGENTS</a:t>
            </a:r>
            <a:endParaRPr lang="en-US" u="sng" dirty="0"/>
          </a:p>
        </p:txBody>
      </p:sp>
      <p:sp>
        <p:nvSpPr>
          <p:cNvPr id="5" name="Content Placeholder 2">
            <a:extLst>
              <a:ext uri="{FF2B5EF4-FFF2-40B4-BE49-F238E27FC236}">
                <a16:creationId xmlns:a16="http://schemas.microsoft.com/office/drawing/2014/main" id="{B812453D-7301-EB4A-ADEF-64A35075957D}"/>
              </a:ext>
            </a:extLst>
          </p:cNvPr>
          <p:cNvSpPr txBox="1">
            <a:spLocks/>
          </p:cNvSpPr>
          <p:nvPr/>
        </p:nvSpPr>
        <p:spPr>
          <a:xfrm>
            <a:off x="300515" y="1299485"/>
            <a:ext cx="11129485" cy="381574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buClrTx/>
            </a:pPr>
            <a:r>
              <a:rPr lang="en-US" sz="3200" b="1" i="1" dirty="0">
                <a:latin typeface="Calibri" panose="020F0502020204030204" pitchFamily="34" charset="0"/>
                <a:cs typeface="Calibri" panose="020F0502020204030204" pitchFamily="34" charset="0"/>
              </a:rPr>
              <a:t>Contrast agents, such as </a:t>
            </a:r>
            <a:r>
              <a:rPr lang="en-US" sz="3400" b="1" i="1" dirty="0">
                <a:latin typeface="Calibri" panose="020F0502020204030204" pitchFamily="34" charset="0"/>
                <a:cs typeface="Calibri" panose="020F0502020204030204" pitchFamily="34" charset="0"/>
              </a:rPr>
              <a:t>iodine and barium</a:t>
            </a:r>
            <a:r>
              <a:rPr lang="en-US" sz="3200" dirty="0">
                <a:latin typeface="Calibri" panose="020F0502020204030204" pitchFamily="34" charset="0"/>
                <a:cs typeface="Calibri" panose="020F0502020204030204" pitchFamily="34" charset="0"/>
              </a:rPr>
              <a:t>, are most commonly positively enhancing an image and result in attenuation of the x-ray beam which increases image contrast.</a:t>
            </a:r>
          </a:p>
          <a:p>
            <a:endParaRPr lang="en-US" sz="3200" dirty="0">
              <a:latin typeface="Calibri" panose="020F0502020204030204" pitchFamily="34" charset="0"/>
              <a:cs typeface="Calibri" panose="020F0502020204030204" pitchFamily="34" charset="0"/>
            </a:endParaRPr>
          </a:p>
          <a:p>
            <a:pPr>
              <a:buClrTx/>
            </a:pPr>
            <a:r>
              <a:rPr lang="en-US" sz="3200" dirty="0">
                <a:latin typeface="Calibri" panose="020F0502020204030204" pitchFamily="34" charset="0"/>
                <a:cs typeface="Calibri" panose="020F0502020204030204" pitchFamily="34" charset="0"/>
              </a:rPr>
              <a:t>Contrast agents can be administered through any cavity (natural or iatrogenic) and enhance a difference between tissues that would normally have similar x-ray absorption. </a:t>
            </a:r>
            <a:br>
              <a:rPr lang="en-US" sz="2400" dirty="0"/>
            </a:br>
            <a:endParaRPr lang="en-US" sz="2400" dirty="0"/>
          </a:p>
        </p:txBody>
      </p:sp>
    </p:spTree>
    <p:extLst>
      <p:ext uri="{BB962C8B-B14F-4D97-AF65-F5344CB8AC3E}">
        <p14:creationId xmlns:p14="http://schemas.microsoft.com/office/powerpoint/2010/main" val="770742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B812453D-7301-EB4A-ADEF-64A35075957D}"/>
              </a:ext>
            </a:extLst>
          </p:cNvPr>
          <p:cNvSpPr txBox="1">
            <a:spLocks/>
          </p:cNvSpPr>
          <p:nvPr/>
        </p:nvSpPr>
        <p:spPr>
          <a:xfrm>
            <a:off x="144379" y="1257300"/>
            <a:ext cx="11947358" cy="5443539"/>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buClr>
                <a:schemeClr val="tx1"/>
              </a:buClr>
            </a:pPr>
            <a:r>
              <a:rPr lang="en-US" sz="3200" b="1" u="sng" dirty="0">
                <a:latin typeface="Calibri" panose="020F0502020204030204" pitchFamily="34" charset="0"/>
                <a:cs typeface="Calibri" panose="020F0502020204030204" pitchFamily="34" charset="0"/>
              </a:rPr>
              <a:t>Barium sulfate</a:t>
            </a:r>
            <a:r>
              <a:rPr lang="en-US" sz="3200" dirty="0">
                <a:latin typeface="Calibri" panose="020F0502020204030204" pitchFamily="34" charset="0"/>
                <a:cs typeface="Calibri" panose="020F0502020204030204" pitchFamily="34" charset="0"/>
              </a:rPr>
              <a:t>: cheap, used in fluoroscopic and CT studies to opacify the GI tract.  Generally, well tolerated, but can cause peritonitis if spilled into the abdominal cavity in cases of perforation. </a:t>
            </a:r>
          </a:p>
          <a:p>
            <a:pPr>
              <a:buClr>
                <a:schemeClr val="tx1"/>
              </a:buClr>
            </a:pPr>
            <a:endParaRPr lang="en-US" sz="3200" dirty="0">
              <a:latin typeface="Calibri" panose="020F0502020204030204" pitchFamily="34" charset="0"/>
              <a:cs typeface="Calibri" panose="020F0502020204030204" pitchFamily="34" charset="0"/>
            </a:endParaRPr>
          </a:p>
          <a:p>
            <a:pPr>
              <a:buClrTx/>
            </a:pPr>
            <a:r>
              <a:rPr lang="en-US" sz="3200" dirty="0"/>
              <a:t>Barium Swallow:</a:t>
            </a:r>
            <a:br>
              <a:rPr lang="en-US" sz="2200" dirty="0"/>
            </a:br>
            <a:endParaRPr lang="en-US" sz="2200" dirty="0"/>
          </a:p>
        </p:txBody>
      </p:sp>
      <p:sp>
        <p:nvSpPr>
          <p:cNvPr id="3" name="Title 1">
            <a:extLst>
              <a:ext uri="{FF2B5EF4-FFF2-40B4-BE49-F238E27FC236}">
                <a16:creationId xmlns:a16="http://schemas.microsoft.com/office/drawing/2014/main" id="{5981EF49-45FD-C8F4-596D-38633A3D4481}"/>
              </a:ext>
            </a:extLst>
          </p:cNvPr>
          <p:cNvSpPr txBox="1">
            <a:spLocks/>
          </p:cNvSpPr>
          <p:nvPr/>
        </p:nvSpPr>
        <p:spPr>
          <a:xfrm>
            <a:off x="297129" y="257873"/>
            <a:ext cx="11412664" cy="8715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u="sng" dirty="0"/>
              <a:t>CONTRAST AGENTS</a:t>
            </a:r>
          </a:p>
        </p:txBody>
      </p:sp>
      <p:sp>
        <p:nvSpPr>
          <p:cNvPr id="4" name="Content Placeholder 2">
            <a:extLst>
              <a:ext uri="{FF2B5EF4-FFF2-40B4-BE49-F238E27FC236}">
                <a16:creationId xmlns:a16="http://schemas.microsoft.com/office/drawing/2014/main" id="{CD327565-656E-B9C8-0ECE-087DEADBA064}"/>
              </a:ext>
            </a:extLst>
          </p:cNvPr>
          <p:cNvSpPr>
            <a:spLocks noGrp="1"/>
          </p:cNvSpPr>
          <p:nvPr>
            <p:ph idx="1"/>
          </p:nvPr>
        </p:nvSpPr>
        <p:spPr>
          <a:xfrm>
            <a:off x="342153" y="5064218"/>
            <a:ext cx="10515600" cy="1072963"/>
          </a:xfrm>
        </p:spPr>
        <p:txBody>
          <a:bodyPr/>
          <a:lstStyle/>
          <a:p>
            <a:r>
              <a:rPr lang="en-US" dirty="0">
                <a:hlinkClick r:id="rId3"/>
              </a:rPr>
              <a:t>https://youtu.be/fqG0QmlaFMs?si=dDDP-19_k95-Q_1C</a:t>
            </a:r>
            <a:endParaRPr lang="en-US" dirty="0"/>
          </a:p>
        </p:txBody>
      </p:sp>
    </p:spTree>
    <p:extLst>
      <p:ext uri="{BB962C8B-B14F-4D97-AF65-F5344CB8AC3E}">
        <p14:creationId xmlns:p14="http://schemas.microsoft.com/office/powerpoint/2010/main" val="1832001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B4404F-FD76-F1FD-1FB5-C9CA1A89BE47}"/>
              </a:ext>
            </a:extLst>
          </p:cNvPr>
          <p:cNvSpPr>
            <a:spLocks noGrp="1"/>
          </p:cNvSpPr>
          <p:nvPr>
            <p:ph idx="1"/>
          </p:nvPr>
        </p:nvSpPr>
        <p:spPr>
          <a:xfrm>
            <a:off x="320842" y="1036123"/>
            <a:ext cx="11248516" cy="4351338"/>
          </a:xfrm>
        </p:spPr>
        <p:txBody>
          <a:bodyPr/>
          <a:lstStyle/>
          <a:p>
            <a:r>
              <a:rPr lang="en-US" b="1" i="1" dirty="0">
                <a:latin typeface="Calibri" panose="020F0502020204030204" pitchFamily="34" charset="0"/>
                <a:cs typeface="Calibri" panose="020F0502020204030204" pitchFamily="34" charset="0"/>
              </a:rPr>
              <a:t>2</a:t>
            </a:r>
            <a:r>
              <a:rPr lang="en-US" b="1" i="1" baseline="30000" dirty="0">
                <a:latin typeface="Calibri" panose="020F0502020204030204" pitchFamily="34" charset="0"/>
                <a:cs typeface="Calibri" panose="020F0502020204030204" pitchFamily="34" charset="0"/>
              </a:rPr>
              <a:t>nd</a:t>
            </a:r>
            <a:r>
              <a:rPr lang="en-US" b="1" i="1" dirty="0">
                <a:latin typeface="Calibri" panose="020F0502020204030204" pitchFamily="34" charset="0"/>
                <a:cs typeface="Calibri" panose="020F0502020204030204" pitchFamily="34" charset="0"/>
              </a:rPr>
              <a:t> and 3</a:t>
            </a:r>
            <a:r>
              <a:rPr lang="en-US" b="1" i="1" baseline="30000" dirty="0">
                <a:latin typeface="Calibri" panose="020F0502020204030204" pitchFamily="34" charset="0"/>
                <a:cs typeface="Calibri" panose="020F0502020204030204" pitchFamily="34" charset="0"/>
              </a:rPr>
              <a:t>rd</a:t>
            </a:r>
            <a:r>
              <a:rPr lang="en-US" b="1" i="1" dirty="0">
                <a:latin typeface="Calibri" panose="020F0502020204030204" pitchFamily="34" charset="0"/>
                <a:cs typeface="Calibri" panose="020F0502020204030204" pitchFamily="34" charset="0"/>
              </a:rPr>
              <a:t> generation iodinated contrast agents </a:t>
            </a:r>
            <a:r>
              <a:rPr lang="en-US" dirty="0">
                <a:latin typeface="Calibri" panose="020F0502020204030204" pitchFamily="34" charset="0"/>
                <a:cs typeface="Calibri" panose="020F0502020204030204" pitchFamily="34" charset="0"/>
              </a:rPr>
              <a:t>are given IV to create contrast during CT image acquisition.  Often, contrast agent administration is timed to increase detection of pathology.</a:t>
            </a:r>
            <a:endParaRPr lang="en-US" dirty="0"/>
          </a:p>
        </p:txBody>
      </p:sp>
      <p:sp>
        <p:nvSpPr>
          <p:cNvPr id="4" name="Title 1">
            <a:extLst>
              <a:ext uri="{FF2B5EF4-FFF2-40B4-BE49-F238E27FC236}">
                <a16:creationId xmlns:a16="http://schemas.microsoft.com/office/drawing/2014/main" id="{ABC07AED-109C-AC2E-9C58-3D7BA668333D}"/>
              </a:ext>
            </a:extLst>
          </p:cNvPr>
          <p:cNvSpPr txBox="1">
            <a:spLocks/>
          </p:cNvSpPr>
          <p:nvPr/>
        </p:nvSpPr>
        <p:spPr>
          <a:xfrm>
            <a:off x="458494" y="172453"/>
            <a:ext cx="11412664" cy="8715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u="sng" dirty="0"/>
              <a:t>CONTRAST AGENTS</a:t>
            </a:r>
          </a:p>
        </p:txBody>
      </p:sp>
      <p:pic>
        <p:nvPicPr>
          <p:cNvPr id="5" name="Picture 2" descr="This example illustrates how much we can miss when forced to perform a non-contrast CT in someone with renal failure or a contrast allergy. The image on the left, from a triphasic CT liver, has been performed without contrast; the liver looks a little bit nodular (the patient had cirrhosis) but otherwise fine. On the right is an image from the arterial phase of the CT, taken at the same position - it shows multifocal hepatocellular carcinoma (arrows).">
            <a:extLst>
              <a:ext uri="{FF2B5EF4-FFF2-40B4-BE49-F238E27FC236}">
                <a16:creationId xmlns:a16="http://schemas.microsoft.com/office/drawing/2014/main" id="{DB6250F6-1DE7-42DC-AC07-A7A0484263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642" y="2452926"/>
            <a:ext cx="10813708" cy="415246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5B3E207-5F3E-1503-FDBC-00455BE59032}"/>
              </a:ext>
            </a:extLst>
          </p:cNvPr>
          <p:cNvSpPr txBox="1"/>
          <p:nvPr/>
        </p:nvSpPr>
        <p:spPr>
          <a:xfrm>
            <a:off x="2538518" y="2624244"/>
            <a:ext cx="2343783" cy="523220"/>
          </a:xfrm>
          <a:prstGeom prst="rect">
            <a:avLst/>
          </a:prstGeom>
          <a:noFill/>
        </p:spPr>
        <p:txBody>
          <a:bodyPr wrap="none" rtlCol="0">
            <a:spAutoFit/>
          </a:bodyPr>
          <a:lstStyle/>
          <a:p>
            <a:r>
              <a:rPr lang="en-US" sz="2400" b="1" dirty="0">
                <a:solidFill>
                  <a:schemeClr val="bg1"/>
                </a:solidFill>
              </a:rPr>
              <a:t>Non-Contrast</a:t>
            </a:r>
            <a:r>
              <a:rPr lang="en-US" sz="2800" b="1" dirty="0">
                <a:solidFill>
                  <a:schemeClr val="bg1"/>
                </a:solidFill>
              </a:rPr>
              <a:t> CT</a:t>
            </a:r>
          </a:p>
        </p:txBody>
      </p:sp>
      <p:sp>
        <p:nvSpPr>
          <p:cNvPr id="7" name="TextBox 6">
            <a:extLst>
              <a:ext uri="{FF2B5EF4-FFF2-40B4-BE49-F238E27FC236}">
                <a16:creationId xmlns:a16="http://schemas.microsoft.com/office/drawing/2014/main" id="{FD0DC8F2-A977-5B6C-B2EF-6B3D56D5930E}"/>
              </a:ext>
            </a:extLst>
          </p:cNvPr>
          <p:cNvSpPr txBox="1"/>
          <p:nvPr/>
        </p:nvSpPr>
        <p:spPr>
          <a:xfrm>
            <a:off x="8240545" y="2685799"/>
            <a:ext cx="1949188" cy="461665"/>
          </a:xfrm>
          <a:prstGeom prst="rect">
            <a:avLst/>
          </a:prstGeom>
          <a:noFill/>
        </p:spPr>
        <p:txBody>
          <a:bodyPr wrap="none" rtlCol="0">
            <a:spAutoFit/>
          </a:bodyPr>
          <a:lstStyle/>
          <a:p>
            <a:r>
              <a:rPr lang="en-US" sz="2400" b="1" dirty="0">
                <a:solidFill>
                  <a:schemeClr val="bg1"/>
                </a:solidFill>
              </a:rPr>
              <a:t>CT w Contrast</a:t>
            </a:r>
            <a:endParaRPr lang="en-US" b="1" dirty="0">
              <a:solidFill>
                <a:schemeClr val="bg1"/>
              </a:solidFill>
            </a:endParaRPr>
          </a:p>
        </p:txBody>
      </p:sp>
    </p:spTree>
    <p:extLst>
      <p:ext uri="{BB962C8B-B14F-4D97-AF65-F5344CB8AC3E}">
        <p14:creationId xmlns:p14="http://schemas.microsoft.com/office/powerpoint/2010/main" val="2147105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ompare of Ct Whole Abdomen Stock Footage Video (100% Royalty-free)  1020494176 | Shutterstock">
            <a:extLst>
              <a:ext uri="{FF2B5EF4-FFF2-40B4-BE49-F238E27FC236}">
                <a16:creationId xmlns:a16="http://schemas.microsoft.com/office/drawing/2014/main" id="{2FE7F564-7562-7B4C-AA9C-8348DBB7EB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641751"/>
            <a:ext cx="10820400" cy="6096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BDB6041-9D6D-6D43-B4EF-AD0386156744}"/>
              </a:ext>
            </a:extLst>
          </p:cNvPr>
          <p:cNvSpPr txBox="1"/>
          <p:nvPr/>
        </p:nvSpPr>
        <p:spPr>
          <a:xfrm>
            <a:off x="2256503" y="221226"/>
            <a:ext cx="1885453" cy="369332"/>
          </a:xfrm>
          <a:prstGeom prst="rect">
            <a:avLst/>
          </a:prstGeom>
          <a:noFill/>
        </p:spPr>
        <p:txBody>
          <a:bodyPr wrap="none" rtlCol="0">
            <a:spAutoFit/>
          </a:bodyPr>
          <a:lstStyle/>
          <a:p>
            <a:r>
              <a:rPr lang="en-US" dirty="0"/>
              <a:t>Non-Contrast CT</a:t>
            </a:r>
          </a:p>
        </p:txBody>
      </p:sp>
      <p:sp>
        <p:nvSpPr>
          <p:cNvPr id="7" name="TextBox 6">
            <a:extLst>
              <a:ext uri="{FF2B5EF4-FFF2-40B4-BE49-F238E27FC236}">
                <a16:creationId xmlns:a16="http://schemas.microsoft.com/office/drawing/2014/main" id="{B1242AF2-67B7-804C-8FB5-90B6FB718475}"/>
              </a:ext>
            </a:extLst>
          </p:cNvPr>
          <p:cNvSpPr txBox="1"/>
          <p:nvPr/>
        </p:nvSpPr>
        <p:spPr>
          <a:xfrm>
            <a:off x="8050046" y="272419"/>
            <a:ext cx="1388522" cy="369332"/>
          </a:xfrm>
          <a:prstGeom prst="rect">
            <a:avLst/>
          </a:prstGeom>
          <a:noFill/>
        </p:spPr>
        <p:txBody>
          <a:bodyPr wrap="none" rtlCol="0">
            <a:spAutoFit/>
          </a:bodyPr>
          <a:lstStyle/>
          <a:p>
            <a:r>
              <a:rPr lang="en-US" dirty="0"/>
              <a:t>Contrast CT</a:t>
            </a:r>
          </a:p>
        </p:txBody>
      </p:sp>
    </p:spTree>
    <p:extLst>
      <p:ext uri="{BB962C8B-B14F-4D97-AF65-F5344CB8AC3E}">
        <p14:creationId xmlns:p14="http://schemas.microsoft.com/office/powerpoint/2010/main" val="3160911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B812453D-7301-EB4A-ADEF-64A35075957D}"/>
              </a:ext>
            </a:extLst>
          </p:cNvPr>
          <p:cNvSpPr txBox="1">
            <a:spLocks/>
          </p:cNvSpPr>
          <p:nvPr/>
        </p:nvSpPr>
        <p:spPr>
          <a:xfrm>
            <a:off x="204788" y="970429"/>
            <a:ext cx="11782424" cy="5443539"/>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buClrTx/>
            </a:pPr>
            <a:r>
              <a:rPr lang="en-US" sz="3200" dirty="0">
                <a:latin typeface="Calibri" panose="020F0502020204030204" pitchFamily="34" charset="0"/>
                <a:cs typeface="Calibri" panose="020F0502020204030204" pitchFamily="34" charset="0"/>
              </a:rPr>
              <a:t>Precisely timed </a:t>
            </a:r>
            <a:r>
              <a:rPr lang="en-US" sz="3200" b="1" i="1" dirty="0">
                <a:latin typeface="Calibri" panose="020F0502020204030204" pitchFamily="34" charset="0"/>
                <a:cs typeface="Calibri" panose="020F0502020204030204" pitchFamily="34" charset="0"/>
              </a:rPr>
              <a:t>iodinated IV contrast </a:t>
            </a:r>
            <a:r>
              <a:rPr lang="en-US" sz="3200" dirty="0">
                <a:latin typeface="Calibri" panose="020F0502020204030204" pitchFamily="34" charset="0"/>
                <a:cs typeface="Calibri" panose="020F0502020204030204" pitchFamily="34" charset="0"/>
              </a:rPr>
              <a:t>agents move quickly into the extracellular fluid and are excreted primarily by the </a:t>
            </a:r>
            <a:r>
              <a:rPr lang="en-US" sz="3200" b="1" dirty="0">
                <a:latin typeface="Calibri" panose="020F0502020204030204" pitchFamily="34" charset="0"/>
                <a:cs typeface="Calibri" panose="020F0502020204030204" pitchFamily="34" charset="0"/>
              </a:rPr>
              <a:t>kidneys</a:t>
            </a:r>
            <a:r>
              <a:rPr lang="en-US" sz="3200" dirty="0">
                <a:latin typeface="Calibri" panose="020F0502020204030204" pitchFamily="34" charset="0"/>
                <a:cs typeface="Calibri" panose="020F0502020204030204" pitchFamily="34" charset="0"/>
              </a:rPr>
              <a:t>. </a:t>
            </a:r>
          </a:p>
          <a:p>
            <a:pPr>
              <a:buClrTx/>
            </a:pPr>
            <a:r>
              <a:rPr lang="en-US" sz="3200" b="1" i="1" dirty="0">
                <a:latin typeface="Calibri" panose="020F0502020204030204" pitchFamily="34" charset="0"/>
                <a:cs typeface="Calibri" panose="020F0502020204030204" pitchFamily="34" charset="0"/>
              </a:rPr>
              <a:t>Dynamic contrast-enhanced imaging </a:t>
            </a:r>
            <a:r>
              <a:rPr lang="en-US" sz="3200" dirty="0">
                <a:latin typeface="Calibri" panose="020F0502020204030204" pitchFamily="34" charset="0"/>
                <a:cs typeface="Calibri" panose="020F0502020204030204" pitchFamily="34" charset="0"/>
              </a:rPr>
              <a:t>refers to precise timing of the contrast injection and image acquisition.  This technique can help identify and classify abnormalities by taking advantage of the difference in contrast enhancement among different tissues across time.</a:t>
            </a:r>
          </a:p>
          <a:p>
            <a:pPr lvl="4">
              <a:buClrTx/>
            </a:pPr>
            <a:r>
              <a:rPr lang="en-US" sz="2600" dirty="0">
                <a:latin typeface="Calibri" panose="020F0502020204030204" pitchFamily="34" charset="0"/>
                <a:cs typeface="Calibri" panose="020F0502020204030204" pitchFamily="34" charset="0"/>
              </a:rPr>
              <a:t>For example, a lesion can have the same attenuation as its surroundings on non-contrast and delayed contrasted images, but will have intense enhancement on arterial phase images (When contrast is first administered)</a:t>
            </a:r>
            <a:br>
              <a:rPr lang="en-US" sz="2200" dirty="0"/>
            </a:br>
            <a:endParaRPr lang="en-US" sz="2200" dirty="0"/>
          </a:p>
        </p:txBody>
      </p:sp>
      <p:sp>
        <p:nvSpPr>
          <p:cNvPr id="6" name="Title 1">
            <a:extLst>
              <a:ext uri="{FF2B5EF4-FFF2-40B4-BE49-F238E27FC236}">
                <a16:creationId xmlns:a16="http://schemas.microsoft.com/office/drawing/2014/main" id="{E63B7CFF-15EF-5D6F-613C-AD7E4402ECA2}"/>
              </a:ext>
            </a:extLst>
          </p:cNvPr>
          <p:cNvSpPr txBox="1">
            <a:spLocks/>
          </p:cNvSpPr>
          <p:nvPr/>
        </p:nvSpPr>
        <p:spPr>
          <a:xfrm>
            <a:off x="452517" y="98891"/>
            <a:ext cx="11412664" cy="8715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u="sng" dirty="0"/>
              <a:t>CONTRAST ROUTES: INTRAVENOUS (IV)</a:t>
            </a:r>
          </a:p>
        </p:txBody>
      </p:sp>
    </p:spTree>
    <p:extLst>
      <p:ext uri="{BB962C8B-B14F-4D97-AF65-F5344CB8AC3E}">
        <p14:creationId xmlns:p14="http://schemas.microsoft.com/office/powerpoint/2010/main" val="2449804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D544CB-033B-4104-A829-21FFDACB5185}"/>
              </a:ext>
            </a:extLst>
          </p:cNvPr>
          <p:cNvSpPr>
            <a:spLocks noGrp="1"/>
          </p:cNvSpPr>
          <p:nvPr>
            <p:ph idx="1"/>
          </p:nvPr>
        </p:nvSpPr>
        <p:spPr>
          <a:xfrm>
            <a:off x="236070" y="1229029"/>
            <a:ext cx="4793130" cy="5072063"/>
          </a:xfrm>
        </p:spPr>
        <p:txBody>
          <a:bodyPr>
            <a:normAutofit/>
          </a:bodyPr>
          <a:lstStyle/>
          <a:p>
            <a:pPr marL="228600" lvl="1" indent="0">
              <a:buNone/>
            </a:pPr>
            <a:r>
              <a:rPr lang="en-US" sz="3200" b="1" u="sng" dirty="0">
                <a:latin typeface="Calibri" panose="020F0502020204030204" pitchFamily="34" charset="0"/>
                <a:cs typeface="Calibri" panose="020F0502020204030204" pitchFamily="34" charset="0"/>
              </a:rPr>
              <a:t>Angiogram</a:t>
            </a:r>
            <a:r>
              <a:rPr lang="en-US" sz="3200" dirty="0">
                <a:latin typeface="Calibri" panose="020F0502020204030204" pitchFamily="34" charset="0"/>
                <a:cs typeface="Calibri" panose="020F0502020204030204" pitchFamily="34" charset="0"/>
              </a:rPr>
              <a:t>:  Visualization of specific arteries either by direct injection of Iodine contrast into a specific artery or by IV injection. Visualization with either fluoroscopic images or computed tomography angiogram (CTA)</a:t>
            </a:r>
          </a:p>
          <a:p>
            <a:endParaRPr lang="en-US" sz="1600" dirty="0"/>
          </a:p>
          <a:p>
            <a:endParaRPr lang="en-US" sz="1600" dirty="0"/>
          </a:p>
          <a:p>
            <a:endParaRPr lang="en-US" sz="1600" dirty="0"/>
          </a:p>
          <a:p>
            <a:endParaRPr lang="en-US" sz="1600" dirty="0"/>
          </a:p>
        </p:txBody>
      </p:sp>
      <p:pic>
        <p:nvPicPr>
          <p:cNvPr id="32774" name="Picture 6" descr="CT Brain/Neck Angiography | Cedars-Sinai">
            <a:extLst>
              <a:ext uri="{FF2B5EF4-FFF2-40B4-BE49-F238E27FC236}">
                <a16:creationId xmlns:a16="http://schemas.microsoft.com/office/drawing/2014/main" id="{200FCCDC-CFE7-4A4C-9108-ADA121C490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551" r="-1" b="-1"/>
          <a:stretch/>
        </p:blipFill>
        <p:spPr bwMode="auto">
          <a:xfrm>
            <a:off x="5372100" y="874668"/>
            <a:ext cx="6353735" cy="5780786"/>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D7E20A43-FBF3-286F-296B-740CA6F45D3D}"/>
              </a:ext>
            </a:extLst>
          </p:cNvPr>
          <p:cNvSpPr txBox="1">
            <a:spLocks/>
          </p:cNvSpPr>
          <p:nvPr/>
        </p:nvSpPr>
        <p:spPr>
          <a:xfrm>
            <a:off x="2242670" y="0"/>
            <a:ext cx="7574430" cy="94514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u="sng" dirty="0"/>
              <a:t>CONTRAST ROUTES: ARTERIAL</a:t>
            </a:r>
          </a:p>
        </p:txBody>
      </p:sp>
    </p:spTree>
    <p:extLst>
      <p:ext uri="{BB962C8B-B14F-4D97-AF65-F5344CB8AC3E}">
        <p14:creationId xmlns:p14="http://schemas.microsoft.com/office/powerpoint/2010/main" val="520080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3DF20F-66CD-452C-AB2C-D4EBBA7895A8}"/>
              </a:ext>
            </a:extLst>
          </p:cNvPr>
          <p:cNvSpPr>
            <a:spLocks noGrp="1"/>
          </p:cNvSpPr>
          <p:nvPr>
            <p:ph idx="1"/>
          </p:nvPr>
        </p:nvSpPr>
        <p:spPr>
          <a:xfrm>
            <a:off x="7173687" y="323850"/>
            <a:ext cx="4873097" cy="6534150"/>
          </a:xfrm>
        </p:spPr>
        <p:txBody>
          <a:bodyPr>
            <a:noAutofit/>
          </a:bodyPr>
          <a:lstStyle/>
          <a:p>
            <a:pPr marL="0" indent="0" fontAlgn="base">
              <a:spcBef>
                <a:spcPts val="0"/>
              </a:spcBef>
              <a:spcAft>
                <a:spcPts val="600"/>
              </a:spcAft>
              <a:buNone/>
            </a:pPr>
            <a:r>
              <a:rPr lang="en-US" sz="3000" dirty="0">
                <a:latin typeface="Calibri" panose="020F0502020204030204" pitchFamily="34" charset="0"/>
                <a:cs typeface="Calibri" panose="020F0502020204030204" pitchFamily="34" charset="0"/>
              </a:rPr>
              <a:t>By mouth (PO) or per rectum</a:t>
            </a:r>
          </a:p>
          <a:p>
            <a:pPr lvl="1" fontAlgn="base">
              <a:spcBef>
                <a:spcPts val="0"/>
              </a:spcBef>
              <a:spcAft>
                <a:spcPts val="600"/>
              </a:spcAft>
            </a:pPr>
            <a:r>
              <a:rPr lang="en-US" sz="3000" dirty="0">
                <a:latin typeface="Calibri" panose="020F0502020204030204" pitchFamily="34" charset="0"/>
                <a:cs typeface="Calibri" panose="020F0502020204030204" pitchFamily="34" charset="0"/>
              </a:rPr>
              <a:t>Oral contrast enhances the GI tract from mouth to rectum</a:t>
            </a:r>
          </a:p>
          <a:p>
            <a:pPr lvl="1" fontAlgn="base">
              <a:spcBef>
                <a:spcPts val="0"/>
              </a:spcBef>
              <a:spcAft>
                <a:spcPts val="600"/>
              </a:spcAft>
            </a:pPr>
            <a:r>
              <a:rPr lang="en-US" sz="3000" dirty="0">
                <a:latin typeface="Calibri" panose="020F0502020204030204" pitchFamily="34" charset="0"/>
                <a:cs typeface="Calibri" panose="020F0502020204030204" pitchFamily="34" charset="0"/>
              </a:rPr>
              <a:t>Double contrast is often used in the rectum- distending the colon with air and then barium</a:t>
            </a:r>
          </a:p>
          <a:p>
            <a:pPr marL="228600" lvl="1" indent="0" fontAlgn="base">
              <a:spcBef>
                <a:spcPts val="0"/>
              </a:spcBef>
              <a:spcAft>
                <a:spcPts val="600"/>
              </a:spcAft>
              <a:buNone/>
            </a:pPr>
            <a:endParaRPr lang="en-US" sz="3000" dirty="0">
              <a:latin typeface="Calibri" panose="020F0502020204030204" pitchFamily="34" charset="0"/>
              <a:cs typeface="Calibri" panose="020F0502020204030204" pitchFamily="34" charset="0"/>
            </a:endParaRPr>
          </a:p>
          <a:p>
            <a:pPr marL="228600" lvl="1" indent="0" fontAlgn="base">
              <a:spcBef>
                <a:spcPts val="0"/>
              </a:spcBef>
              <a:spcAft>
                <a:spcPts val="600"/>
              </a:spcAft>
              <a:buNone/>
            </a:pPr>
            <a:r>
              <a:rPr lang="en-US" sz="3000" dirty="0">
                <a:latin typeface="Calibri" panose="020F0502020204030204" pitchFamily="34" charset="0"/>
                <a:cs typeface="Calibri" panose="020F0502020204030204" pitchFamily="34" charset="0"/>
              </a:rPr>
              <a:t>Intravenous (IV)</a:t>
            </a:r>
          </a:p>
          <a:p>
            <a:pPr lvl="2" fontAlgn="base">
              <a:spcBef>
                <a:spcPts val="0"/>
              </a:spcBef>
              <a:spcAft>
                <a:spcPts val="600"/>
              </a:spcAft>
            </a:pPr>
            <a:r>
              <a:rPr lang="en-US" sz="3000" dirty="0">
                <a:latin typeface="Calibri" panose="020F0502020204030204" pitchFamily="34" charset="0"/>
                <a:cs typeface="Calibri" panose="020F0502020204030204" pitchFamily="34" charset="0"/>
              </a:rPr>
              <a:t>Enhances any inflammation, better defines the organs and tumors</a:t>
            </a:r>
          </a:p>
        </p:txBody>
      </p:sp>
      <p:pic>
        <p:nvPicPr>
          <p:cNvPr id="6" name="Picture 2" descr="Image result for double contrast barium enema">
            <a:extLst>
              <a:ext uri="{FF2B5EF4-FFF2-40B4-BE49-F238E27FC236}">
                <a16:creationId xmlns:a16="http://schemas.microsoft.com/office/drawing/2014/main" id="{B444847E-BAFE-E748-9E8C-1BB0CBE367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763" r="6749" b="2"/>
          <a:stretch/>
        </p:blipFill>
        <p:spPr bwMode="auto">
          <a:xfrm rot="5400000">
            <a:off x="829039" y="354111"/>
            <a:ext cx="5675918" cy="685799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7ED40785-E345-2827-7D64-F5E0A9C6A8AB}"/>
              </a:ext>
            </a:extLst>
          </p:cNvPr>
          <p:cNvSpPr txBox="1">
            <a:spLocks/>
          </p:cNvSpPr>
          <p:nvPr/>
        </p:nvSpPr>
        <p:spPr>
          <a:xfrm>
            <a:off x="717549" y="0"/>
            <a:ext cx="10728223" cy="94514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u="sng" dirty="0"/>
              <a:t>CONTRAST ROUTES: GI</a:t>
            </a:r>
          </a:p>
        </p:txBody>
      </p:sp>
    </p:spTree>
    <p:extLst>
      <p:ext uri="{BB962C8B-B14F-4D97-AF65-F5344CB8AC3E}">
        <p14:creationId xmlns:p14="http://schemas.microsoft.com/office/powerpoint/2010/main" val="1806349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Image result for hysterosalpingogram">
            <a:extLst>
              <a:ext uri="{FF2B5EF4-FFF2-40B4-BE49-F238E27FC236}">
                <a16:creationId xmlns:a16="http://schemas.microsoft.com/office/drawing/2014/main" id="{A983249B-915C-4005-AE90-C125478EF3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566" y="105670"/>
            <a:ext cx="3467821" cy="3323329"/>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Image result for fluoroscopic cystogram">
            <a:extLst>
              <a:ext uri="{FF2B5EF4-FFF2-40B4-BE49-F238E27FC236}">
                <a16:creationId xmlns:a16="http://schemas.microsoft.com/office/drawing/2014/main" id="{D1C8782E-894E-4DD7-BFFA-1A36D75D9A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807" y="3837313"/>
            <a:ext cx="5182254" cy="291501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5D544CB-033B-4104-A829-21FFDACB5185}"/>
              </a:ext>
            </a:extLst>
          </p:cNvPr>
          <p:cNvSpPr>
            <a:spLocks noGrp="1"/>
          </p:cNvSpPr>
          <p:nvPr>
            <p:ph idx="1"/>
          </p:nvPr>
        </p:nvSpPr>
        <p:spPr>
          <a:xfrm>
            <a:off x="5408566" y="1116235"/>
            <a:ext cx="6650627" cy="5943192"/>
          </a:xfrm>
        </p:spPr>
        <p:txBody>
          <a:bodyPr>
            <a:noAutofit/>
          </a:bodyPr>
          <a:lstStyle/>
          <a:p>
            <a:r>
              <a:rPr lang="en-US" sz="3200" b="1" u="sng" dirty="0">
                <a:solidFill>
                  <a:schemeClr val="tx1"/>
                </a:solidFill>
                <a:latin typeface="Calibri" panose="020F0502020204030204" pitchFamily="34" charset="0"/>
                <a:cs typeface="Calibri" panose="020F0502020204030204" pitchFamily="34" charset="0"/>
              </a:rPr>
              <a:t>Hysterosalpingogram</a:t>
            </a:r>
            <a:r>
              <a:rPr lang="en-US" sz="3200" dirty="0">
                <a:solidFill>
                  <a:schemeClr val="tx1"/>
                </a:solidFill>
                <a:latin typeface="Calibri" panose="020F0502020204030204" pitchFamily="34" charset="0"/>
                <a:cs typeface="Calibri" panose="020F0502020204030204" pitchFamily="34" charset="0"/>
              </a:rPr>
              <a:t>: catheter is used to administer Iodine contrast into the cervical canal to visualize the uterine cavity and fallopian tubes</a:t>
            </a:r>
          </a:p>
          <a:p>
            <a:r>
              <a:rPr lang="en-US" sz="3200" b="1" u="sng" dirty="0">
                <a:solidFill>
                  <a:schemeClr val="tx1"/>
                </a:solidFill>
                <a:latin typeface="Calibri" panose="020F0502020204030204" pitchFamily="34" charset="0"/>
                <a:cs typeface="Calibri" panose="020F0502020204030204" pitchFamily="34" charset="0"/>
              </a:rPr>
              <a:t>Cystogram</a:t>
            </a:r>
            <a:r>
              <a:rPr lang="en-US" sz="3200" dirty="0">
                <a:solidFill>
                  <a:schemeClr val="tx1"/>
                </a:solidFill>
                <a:latin typeface="Calibri" panose="020F0502020204030204" pitchFamily="34" charset="0"/>
                <a:cs typeface="Calibri" panose="020F0502020204030204" pitchFamily="34" charset="0"/>
              </a:rPr>
              <a:t>: a foley catheter is used to administer Iodine contrast into the bladder retrograde. Can also visualize the bladder filled with contrast after it has traveled through the venous system and enters the urinary system</a:t>
            </a:r>
            <a:endParaRPr lang="en-US" sz="2000" dirty="0">
              <a:solidFill>
                <a:srgbClr val="FFFFFF"/>
              </a:solidFill>
            </a:endParaRPr>
          </a:p>
          <a:p>
            <a:pPr>
              <a:lnSpc>
                <a:spcPct val="90000"/>
              </a:lnSpc>
            </a:pPr>
            <a:endParaRPr lang="en-US" sz="2000" dirty="0">
              <a:solidFill>
                <a:srgbClr val="FFFFFF"/>
              </a:solidFill>
            </a:endParaRPr>
          </a:p>
          <a:p>
            <a:pPr>
              <a:lnSpc>
                <a:spcPct val="90000"/>
              </a:lnSpc>
            </a:pPr>
            <a:endParaRPr lang="en-US" sz="2000" dirty="0">
              <a:solidFill>
                <a:srgbClr val="FFFFFF"/>
              </a:solidFill>
            </a:endParaRPr>
          </a:p>
          <a:p>
            <a:pPr>
              <a:lnSpc>
                <a:spcPct val="90000"/>
              </a:lnSpc>
            </a:pPr>
            <a:endParaRPr lang="en-US" sz="2000" dirty="0">
              <a:solidFill>
                <a:srgbClr val="FFFFFF"/>
              </a:solidFill>
            </a:endParaRPr>
          </a:p>
        </p:txBody>
      </p:sp>
      <p:sp>
        <p:nvSpPr>
          <p:cNvPr id="6" name="Title 1">
            <a:extLst>
              <a:ext uri="{FF2B5EF4-FFF2-40B4-BE49-F238E27FC236}">
                <a16:creationId xmlns:a16="http://schemas.microsoft.com/office/drawing/2014/main" id="{8C6933FB-52BE-2D8B-597B-5B468F4DB6CB}"/>
              </a:ext>
            </a:extLst>
          </p:cNvPr>
          <p:cNvSpPr txBox="1">
            <a:spLocks noGrp="1"/>
          </p:cNvSpPr>
          <p:nvPr>
            <p:ph type="title"/>
          </p:nvPr>
        </p:nvSpPr>
        <p:spPr>
          <a:xfrm>
            <a:off x="4817165" y="-70877"/>
            <a:ext cx="10510614" cy="13255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u="sng" dirty="0"/>
              <a:t>CONTRAST ROUTES: GU</a:t>
            </a:r>
          </a:p>
        </p:txBody>
      </p:sp>
    </p:spTree>
    <p:extLst>
      <p:ext uri="{BB962C8B-B14F-4D97-AF65-F5344CB8AC3E}">
        <p14:creationId xmlns:p14="http://schemas.microsoft.com/office/powerpoint/2010/main" val="3438987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54E089-03E3-4317-BCBA-9E30CBE93A89}"/>
              </a:ext>
            </a:extLst>
          </p:cNvPr>
          <p:cNvSpPr>
            <a:spLocks noGrp="1"/>
          </p:cNvSpPr>
          <p:nvPr>
            <p:ph idx="1"/>
          </p:nvPr>
        </p:nvSpPr>
        <p:spPr>
          <a:xfrm>
            <a:off x="171451" y="5123794"/>
            <a:ext cx="8197849" cy="2057399"/>
          </a:xfrm>
        </p:spPr>
        <p:txBody>
          <a:bodyPr>
            <a:noAutofit/>
          </a:bodyPr>
          <a:lstStyle/>
          <a:p>
            <a:pPr marL="0" indent="0">
              <a:buNone/>
            </a:pPr>
            <a:r>
              <a:rPr lang="en-US" sz="2800" b="1" u="sng" dirty="0">
                <a:latin typeface="Calibri" panose="020F0502020204030204" pitchFamily="34" charset="0"/>
                <a:cs typeface="Calibri" panose="020F0502020204030204" pitchFamily="34" charset="0"/>
              </a:rPr>
              <a:t>Intrathecal</a:t>
            </a:r>
          </a:p>
          <a:p>
            <a:pPr lvl="1"/>
            <a:r>
              <a:rPr lang="en-US" sz="2800" b="1" i="1" dirty="0">
                <a:latin typeface="Calibri" panose="020F0502020204030204" pitchFamily="34" charset="0"/>
                <a:cs typeface="Calibri" panose="020F0502020204030204" pitchFamily="34" charset="0"/>
              </a:rPr>
              <a:t>Myelogram:</a:t>
            </a:r>
            <a:r>
              <a:rPr lang="en-US" sz="2800" dirty="0">
                <a:latin typeface="Calibri" panose="020F0502020204030204" pitchFamily="34" charset="0"/>
                <a:cs typeface="Calibri" panose="020F0502020204030204" pitchFamily="34" charset="0"/>
              </a:rPr>
              <a:t> Iodine contrast injected into the subarachnoid space in the nervous system for imaging of the spine and nerve roots.</a:t>
            </a:r>
          </a:p>
          <a:p>
            <a:endParaRPr lang="en-US" sz="2000" dirty="0"/>
          </a:p>
          <a:p>
            <a:endParaRPr lang="en-US" sz="2000" dirty="0"/>
          </a:p>
          <a:p>
            <a:endParaRPr lang="en-US" sz="2000" dirty="0"/>
          </a:p>
          <a:p>
            <a:endParaRPr lang="en-US" sz="2000" dirty="0"/>
          </a:p>
        </p:txBody>
      </p:sp>
      <p:sp>
        <p:nvSpPr>
          <p:cNvPr id="4" name="TextBox 3">
            <a:extLst>
              <a:ext uri="{FF2B5EF4-FFF2-40B4-BE49-F238E27FC236}">
                <a16:creationId xmlns:a16="http://schemas.microsoft.com/office/drawing/2014/main" id="{6A738590-E5ED-3B4D-AEC0-D2074CC4BD2F}"/>
              </a:ext>
            </a:extLst>
          </p:cNvPr>
          <p:cNvSpPr txBox="1"/>
          <p:nvPr/>
        </p:nvSpPr>
        <p:spPr>
          <a:xfrm>
            <a:off x="171451" y="852826"/>
            <a:ext cx="6984999" cy="4678204"/>
          </a:xfrm>
          <a:prstGeom prst="rect">
            <a:avLst/>
          </a:prstGeom>
          <a:noFill/>
        </p:spPr>
        <p:txBody>
          <a:bodyPr wrap="square" rtlCol="0">
            <a:spAutoFit/>
          </a:bodyPr>
          <a:lstStyle/>
          <a:p>
            <a:r>
              <a:rPr lang="en-US" sz="2800" b="1" u="sng" dirty="0">
                <a:latin typeface="Calibri" panose="020F0502020204030204" pitchFamily="34" charset="0"/>
                <a:cs typeface="Calibri" panose="020F0502020204030204" pitchFamily="34" charset="0"/>
              </a:rPr>
              <a:t>Kidneys</a:t>
            </a:r>
          </a:p>
          <a:p>
            <a:pPr marL="914400" lvl="1" indent="-457200">
              <a:buFont typeface="Arial" panose="020B0604020202020204" pitchFamily="34" charset="0"/>
              <a:buChar char="•"/>
            </a:pPr>
            <a:r>
              <a:rPr lang="en-US" sz="2800" b="1" i="1" dirty="0">
                <a:latin typeface="Calibri" panose="020F0502020204030204" pitchFamily="34" charset="0"/>
                <a:cs typeface="Calibri" panose="020F0502020204030204" pitchFamily="34" charset="0"/>
              </a:rPr>
              <a:t>Nephrostogram</a:t>
            </a:r>
            <a:r>
              <a:rPr lang="en-US" sz="2800" dirty="0">
                <a:latin typeface="Calibri" panose="020F0502020204030204" pitchFamily="34" charset="0"/>
                <a:cs typeface="Calibri" panose="020F0502020204030204" pitchFamily="34" charset="0"/>
              </a:rPr>
              <a:t>: Direct injection of Iodine contrast into the kidney via a nephrostomy tube with fluoroscopic visualization of kidneys, ureters and bladder antegrade.</a:t>
            </a:r>
          </a:p>
          <a:p>
            <a:pPr marL="914400" lvl="1" indent="-457200">
              <a:buFont typeface="Arial" panose="020B0604020202020204" pitchFamily="34" charset="0"/>
              <a:buChar char="•"/>
            </a:pPr>
            <a:r>
              <a:rPr lang="en-US" sz="2800" b="1" i="1" dirty="0">
                <a:latin typeface="Calibri" panose="020F0502020204030204" pitchFamily="34" charset="0"/>
                <a:cs typeface="Calibri" panose="020F0502020204030204" pitchFamily="34" charset="0"/>
              </a:rPr>
              <a:t>Intravenous pyelogram </a:t>
            </a:r>
            <a:r>
              <a:rPr lang="en-US" sz="2800" dirty="0">
                <a:latin typeface="Calibri" panose="020F0502020204030204" pitchFamily="34" charset="0"/>
                <a:cs typeface="Calibri" panose="020F0502020204030204" pitchFamily="34" charset="0"/>
              </a:rPr>
              <a:t>(IVP): contrast injected in the venous system with delayed radiographic images lighting up the renal pelvis.</a:t>
            </a:r>
          </a:p>
          <a:p>
            <a:endParaRPr lang="en-US" dirty="0"/>
          </a:p>
        </p:txBody>
      </p:sp>
      <p:pic>
        <p:nvPicPr>
          <p:cNvPr id="33794" name="Picture 2" descr="Esse Health - Myelography">
            <a:extLst>
              <a:ext uri="{FF2B5EF4-FFF2-40B4-BE49-F238E27FC236}">
                <a16:creationId xmlns:a16="http://schemas.microsoft.com/office/drawing/2014/main" id="{FB738795-F340-8A40-AF25-25BFEA9DF0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2349" y="4395666"/>
            <a:ext cx="3378200" cy="24130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1C3EB806-22B2-3FB8-65A1-999935B6BF2B}"/>
              </a:ext>
            </a:extLst>
          </p:cNvPr>
          <p:cNvSpPr txBox="1">
            <a:spLocks/>
          </p:cNvSpPr>
          <p:nvPr/>
        </p:nvSpPr>
        <p:spPr>
          <a:xfrm>
            <a:off x="171451" y="-231914"/>
            <a:ext cx="8909051" cy="13255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u="sng" dirty="0"/>
              <a:t>CONTRAST ROUTES</a:t>
            </a:r>
            <a:endParaRPr lang="en-US" sz="3800" u="sng" dirty="0"/>
          </a:p>
        </p:txBody>
      </p:sp>
      <p:pic>
        <p:nvPicPr>
          <p:cNvPr id="1026" name="Picture 2">
            <a:extLst>
              <a:ext uri="{FF2B5EF4-FFF2-40B4-BE49-F238E27FC236}">
                <a16:creationId xmlns:a16="http://schemas.microsoft.com/office/drawing/2014/main" id="{2F7A2D9E-C739-604C-BD53-CF3A53A8F4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198" y="49334"/>
            <a:ext cx="4267201" cy="4301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8469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FB1B1B-51DC-4DD8-B875-960B3DD1BFF6}"/>
              </a:ext>
            </a:extLst>
          </p:cNvPr>
          <p:cNvSpPr>
            <a:spLocks noGrp="1"/>
          </p:cNvSpPr>
          <p:nvPr>
            <p:ph idx="1"/>
          </p:nvPr>
        </p:nvSpPr>
        <p:spPr>
          <a:xfrm>
            <a:off x="347663" y="1301656"/>
            <a:ext cx="11844337" cy="5291760"/>
          </a:xfrm>
        </p:spPr>
        <p:txBody>
          <a:bodyPr>
            <a:noAutofit/>
          </a:bodyPr>
          <a:lstStyle/>
          <a:p>
            <a:r>
              <a:rPr lang="en-US" sz="3200" b="1" u="sng" dirty="0">
                <a:latin typeface="Calibri" panose="020F0502020204030204" pitchFamily="34" charset="0"/>
                <a:cs typeface="Calibri" panose="020F0502020204030204" pitchFamily="34" charset="0"/>
              </a:rPr>
              <a:t>Renal impairment</a:t>
            </a:r>
          </a:p>
          <a:p>
            <a:pPr lvl="1"/>
            <a:r>
              <a:rPr lang="en-US" sz="3200" dirty="0">
                <a:latin typeface="Calibri" panose="020F0502020204030204" pitchFamily="34" charset="0"/>
                <a:cs typeface="Calibri" panose="020F0502020204030204" pitchFamily="34" charset="0"/>
              </a:rPr>
              <a:t>Important with </a:t>
            </a:r>
            <a:r>
              <a:rPr lang="en-US" sz="3200" b="1" i="1" dirty="0">
                <a:latin typeface="Calibri" panose="020F0502020204030204" pitchFamily="34" charset="0"/>
                <a:cs typeface="Calibri" panose="020F0502020204030204" pitchFamily="34" charset="0"/>
              </a:rPr>
              <a:t>IV iodine or gadolinium contrast </a:t>
            </a:r>
            <a:r>
              <a:rPr lang="en-US" sz="3200" dirty="0">
                <a:latin typeface="Calibri" panose="020F0502020204030204" pitchFamily="34" charset="0"/>
                <a:cs typeface="Calibri" panose="020F0502020204030204" pitchFamily="34" charset="0"/>
              </a:rPr>
              <a:t>as these are </a:t>
            </a:r>
            <a:r>
              <a:rPr lang="en-US" sz="3200" b="1" i="1" dirty="0">
                <a:latin typeface="Calibri" panose="020F0502020204030204" pitchFamily="34" charset="0"/>
                <a:cs typeface="Calibri" panose="020F0502020204030204" pitchFamily="34" charset="0"/>
              </a:rPr>
              <a:t>cleared by the kidneys</a:t>
            </a:r>
            <a:r>
              <a:rPr lang="en-US" sz="3200" dirty="0">
                <a:latin typeface="Calibri" panose="020F0502020204030204" pitchFamily="34" charset="0"/>
                <a:cs typeface="Calibri" panose="020F0502020204030204" pitchFamily="34" charset="0"/>
              </a:rPr>
              <a:t>. Evaluate the eGFR before ordering to determine benefit versus risk. </a:t>
            </a:r>
          </a:p>
          <a:p>
            <a:pPr lvl="1"/>
            <a:endParaRPr lang="en-US" sz="3200" dirty="0">
              <a:latin typeface="Calibri" panose="020F0502020204030204" pitchFamily="34" charset="0"/>
              <a:cs typeface="Calibri" panose="020F0502020204030204" pitchFamily="34" charset="0"/>
            </a:endParaRPr>
          </a:p>
          <a:p>
            <a:r>
              <a:rPr lang="en-US" sz="3200" b="1" u="sng" dirty="0">
                <a:latin typeface="Calibri" panose="020F0502020204030204" pitchFamily="34" charset="0"/>
                <a:cs typeface="Calibri" panose="020F0502020204030204" pitchFamily="34" charset="0"/>
              </a:rPr>
              <a:t>Pregnancy</a:t>
            </a:r>
          </a:p>
          <a:p>
            <a:pPr lvl="1"/>
            <a:r>
              <a:rPr lang="en-US" sz="3200" dirty="0">
                <a:latin typeface="Calibri" panose="020F0502020204030204" pitchFamily="34" charset="0"/>
                <a:cs typeface="Calibri" panose="020F0502020204030204" pitchFamily="34" charset="0"/>
              </a:rPr>
              <a:t>Generally, CT is avoided in pregnancy but can be used after risk-benefit assessment. Low osmolality iodinated contrast is considered appropriate when diagnostically needed. </a:t>
            </a:r>
          </a:p>
        </p:txBody>
      </p:sp>
      <p:sp>
        <p:nvSpPr>
          <p:cNvPr id="6" name="Title 1">
            <a:extLst>
              <a:ext uri="{FF2B5EF4-FFF2-40B4-BE49-F238E27FC236}">
                <a16:creationId xmlns:a16="http://schemas.microsoft.com/office/drawing/2014/main" id="{67E0832B-AD8C-9D24-C74B-9E99A1A97277}"/>
              </a:ext>
            </a:extLst>
          </p:cNvPr>
          <p:cNvSpPr txBox="1">
            <a:spLocks/>
          </p:cNvSpPr>
          <p:nvPr/>
        </p:nvSpPr>
        <p:spPr>
          <a:xfrm>
            <a:off x="2529168" y="-23906"/>
            <a:ext cx="10515600" cy="13255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u="sng" dirty="0"/>
              <a:t>CONTRAST CONSIDERATIONS</a:t>
            </a:r>
            <a:endParaRPr lang="en-US" sz="3800" u="sng" dirty="0"/>
          </a:p>
        </p:txBody>
      </p:sp>
    </p:spTree>
    <p:extLst>
      <p:ext uri="{BB962C8B-B14F-4D97-AF65-F5344CB8AC3E}">
        <p14:creationId xmlns:p14="http://schemas.microsoft.com/office/powerpoint/2010/main" val="2287814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FB1B1B-51DC-4DD8-B875-960B3DD1BFF6}"/>
              </a:ext>
            </a:extLst>
          </p:cNvPr>
          <p:cNvSpPr>
            <a:spLocks noGrp="1"/>
          </p:cNvSpPr>
          <p:nvPr>
            <p:ph idx="1"/>
          </p:nvPr>
        </p:nvSpPr>
        <p:spPr>
          <a:xfrm>
            <a:off x="119997" y="1176712"/>
            <a:ext cx="11844337" cy="5291760"/>
          </a:xfrm>
        </p:spPr>
        <p:txBody>
          <a:bodyPr>
            <a:noAutofit/>
          </a:bodyPr>
          <a:lstStyle/>
          <a:p>
            <a:r>
              <a:rPr lang="en-US" sz="3200" b="1" u="sng" dirty="0">
                <a:latin typeface="Calibri" panose="020F0502020204030204" pitchFamily="34" charset="0"/>
                <a:cs typeface="Calibri" panose="020F0502020204030204" pitchFamily="34" charset="0"/>
              </a:rPr>
              <a:t>GI perforation</a:t>
            </a:r>
          </a:p>
          <a:p>
            <a:pPr lvl="2" indent="-457200"/>
            <a:r>
              <a:rPr lang="en-US" sz="3200" dirty="0">
                <a:latin typeface="Calibri" panose="020F0502020204030204" pitchFamily="34" charset="0"/>
                <a:cs typeface="Calibri" panose="020F0502020204030204" pitchFamily="34" charset="0"/>
              </a:rPr>
              <a:t>Water-soluble contrast agent, such as </a:t>
            </a:r>
            <a:r>
              <a:rPr lang="en-US" sz="3200" dirty="0" err="1">
                <a:latin typeface="Calibri" panose="020F0502020204030204" pitchFamily="34" charset="0"/>
                <a:cs typeface="Calibri" panose="020F0502020204030204" pitchFamily="34" charset="0"/>
              </a:rPr>
              <a:t>Gastrografin</a:t>
            </a:r>
            <a:r>
              <a:rPr lang="en-US" sz="3200" dirty="0">
                <a:latin typeface="Calibri" panose="020F0502020204030204" pitchFamily="34" charset="0"/>
                <a:cs typeface="Calibri" panose="020F0502020204030204" pitchFamily="34" charset="0"/>
              </a:rPr>
              <a:t>, should be used when the clinician is looking for esophageal or bowel perforation, obstruction, or when a surgery is planned as Barium causes severe peritonitis</a:t>
            </a:r>
          </a:p>
          <a:p>
            <a:pPr lvl="2" indent="-457200"/>
            <a:endParaRPr lang="en-US" sz="1000" dirty="0">
              <a:latin typeface="Calibri" panose="020F0502020204030204" pitchFamily="34" charset="0"/>
              <a:cs typeface="Calibri" panose="020F0502020204030204" pitchFamily="34" charset="0"/>
            </a:endParaRPr>
          </a:p>
          <a:p>
            <a:r>
              <a:rPr lang="en-US" sz="3200" b="1" u="sng" dirty="0">
                <a:latin typeface="Calibri" panose="020F0502020204030204" pitchFamily="34" charset="0"/>
                <a:cs typeface="Calibri" panose="020F0502020204030204" pitchFamily="34" charset="0"/>
              </a:rPr>
              <a:t>Allergies and medications</a:t>
            </a:r>
          </a:p>
          <a:p>
            <a:pPr lvl="1"/>
            <a:r>
              <a:rPr lang="en-US" sz="3200" dirty="0">
                <a:latin typeface="Calibri" panose="020F0502020204030204" pitchFamily="34" charset="0"/>
                <a:cs typeface="Calibri" panose="020F0502020204030204" pitchFamily="34" charset="0"/>
              </a:rPr>
              <a:t>Modern iodinated allergic-like reactions are uncommon (about 0.6% overall, 0.04% severe).  Reactions range from mild such as hives and itching to severe, anaphylaxis. </a:t>
            </a:r>
          </a:p>
          <a:p>
            <a:pPr lvl="1"/>
            <a:r>
              <a:rPr lang="en-US" sz="3200" dirty="0">
                <a:latin typeface="Calibri" panose="020F0502020204030204" pitchFamily="34" charset="0"/>
                <a:cs typeface="Calibri" panose="020F0502020204030204" pitchFamily="34" charset="0"/>
              </a:rPr>
              <a:t>If a study must be done with contrast, an institutional premedication protocol may be used when indicated.</a:t>
            </a:r>
          </a:p>
        </p:txBody>
      </p:sp>
      <p:sp>
        <p:nvSpPr>
          <p:cNvPr id="6" name="Title 1">
            <a:extLst>
              <a:ext uri="{FF2B5EF4-FFF2-40B4-BE49-F238E27FC236}">
                <a16:creationId xmlns:a16="http://schemas.microsoft.com/office/drawing/2014/main" id="{6D8A261B-F937-ABA6-0946-DF136E83DE5F}"/>
              </a:ext>
            </a:extLst>
          </p:cNvPr>
          <p:cNvSpPr txBox="1">
            <a:spLocks/>
          </p:cNvSpPr>
          <p:nvPr/>
        </p:nvSpPr>
        <p:spPr>
          <a:xfrm>
            <a:off x="2421591" y="0"/>
            <a:ext cx="10515600" cy="13255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u="sng" dirty="0"/>
              <a:t>CONTRAST CONSIDERATIONS</a:t>
            </a:r>
            <a:endParaRPr lang="en-US" sz="3800" u="sng" dirty="0"/>
          </a:p>
        </p:txBody>
      </p:sp>
    </p:spTree>
    <p:extLst>
      <p:ext uri="{BB962C8B-B14F-4D97-AF65-F5344CB8AC3E}">
        <p14:creationId xmlns:p14="http://schemas.microsoft.com/office/powerpoint/2010/main" val="1956966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FB1B1B-51DC-4DD8-B875-960B3DD1BFF6}"/>
              </a:ext>
            </a:extLst>
          </p:cNvPr>
          <p:cNvSpPr>
            <a:spLocks noGrp="1"/>
          </p:cNvSpPr>
          <p:nvPr>
            <p:ph idx="1"/>
          </p:nvPr>
        </p:nvSpPr>
        <p:spPr>
          <a:xfrm>
            <a:off x="173831" y="1463021"/>
            <a:ext cx="11844337" cy="4759948"/>
          </a:xfrm>
        </p:spPr>
        <p:txBody>
          <a:bodyPr>
            <a:noAutofit/>
          </a:bodyPr>
          <a:lstStyle/>
          <a:p>
            <a:pPr marL="0" indent="0">
              <a:buNone/>
            </a:pPr>
            <a:endParaRPr lang="en-US" sz="3200" dirty="0">
              <a:latin typeface="Calibri" panose="020F0502020204030204" pitchFamily="34" charset="0"/>
              <a:cs typeface="Calibri" panose="020F0502020204030204" pitchFamily="34" charset="0"/>
            </a:endParaRPr>
          </a:p>
          <a:p>
            <a:pPr lvl="1"/>
            <a:r>
              <a:rPr lang="en-US" sz="2800" b="1" i="1" dirty="0">
                <a:latin typeface="Calibri" panose="020F0502020204030204" pitchFamily="34" charset="0"/>
                <a:cs typeface="Calibri" panose="020F0502020204030204" pitchFamily="34" charset="0"/>
              </a:rPr>
              <a:t>Mild reactions </a:t>
            </a:r>
            <a:r>
              <a:rPr lang="en-US" sz="2800" dirty="0">
                <a:latin typeface="Calibri" panose="020F0502020204030204" pitchFamily="34" charset="0"/>
                <a:cs typeface="Calibri" panose="020F0502020204030204" pitchFamily="34" charset="0"/>
              </a:rPr>
              <a:t>occur when patients develop warmth, flushing, N/V, mild urticaria, scratchy throat.  Treatment is observation ~ 30 minutes +/- </a:t>
            </a:r>
            <a:r>
              <a:rPr lang="en-US" sz="2800" dirty="0" err="1">
                <a:latin typeface="Calibri" panose="020F0502020204030204" pitchFamily="34" charset="0"/>
                <a:cs typeface="Calibri" panose="020F0502020204030204" pitchFamily="34" charset="0"/>
              </a:rPr>
              <a:t>benadryl</a:t>
            </a:r>
            <a:endParaRPr lang="en-US" sz="2800" dirty="0">
              <a:latin typeface="Calibri" panose="020F0502020204030204" pitchFamily="34" charset="0"/>
              <a:cs typeface="Calibri" panose="020F0502020204030204" pitchFamily="34" charset="0"/>
            </a:endParaRPr>
          </a:p>
          <a:p>
            <a:pPr lvl="1"/>
            <a:endParaRPr lang="en-US" sz="1500" dirty="0">
              <a:latin typeface="Calibri" panose="020F0502020204030204" pitchFamily="34" charset="0"/>
              <a:cs typeface="Calibri" panose="020F0502020204030204" pitchFamily="34" charset="0"/>
            </a:endParaRPr>
          </a:p>
          <a:p>
            <a:pPr lvl="1"/>
            <a:r>
              <a:rPr lang="en-US" sz="2800" b="1" i="1" dirty="0">
                <a:latin typeface="Calibri" panose="020F0502020204030204" pitchFamily="34" charset="0"/>
                <a:cs typeface="Calibri" panose="020F0502020204030204" pitchFamily="34" charset="0"/>
              </a:rPr>
              <a:t>Moderate reactions </a:t>
            </a:r>
            <a:r>
              <a:rPr lang="en-US" sz="2800" dirty="0">
                <a:latin typeface="Calibri" panose="020F0502020204030204" pitchFamily="34" charset="0"/>
                <a:cs typeface="Calibri" panose="020F0502020204030204" pitchFamily="34" charset="0"/>
              </a:rPr>
              <a:t>include severe urticaria, bronchospasm, transient hypotension and tachycardia.  These require close monitoring until the symptoms resolve completely.</a:t>
            </a:r>
          </a:p>
          <a:p>
            <a:pPr lvl="1"/>
            <a:endParaRPr lang="en-US" sz="1500" dirty="0">
              <a:latin typeface="Calibri" panose="020F0502020204030204" pitchFamily="34" charset="0"/>
              <a:cs typeface="Calibri" panose="020F0502020204030204" pitchFamily="34" charset="0"/>
            </a:endParaRPr>
          </a:p>
          <a:p>
            <a:pPr lvl="1"/>
            <a:r>
              <a:rPr lang="en-US" sz="2800" b="1" i="1" dirty="0">
                <a:latin typeface="Calibri" panose="020F0502020204030204" pitchFamily="34" charset="0"/>
                <a:cs typeface="Calibri" panose="020F0502020204030204" pitchFamily="34" charset="0"/>
              </a:rPr>
              <a:t>Severe reactions </a:t>
            </a:r>
            <a:r>
              <a:rPr lang="en-US" sz="2800" dirty="0">
                <a:latin typeface="Calibri" panose="020F0502020204030204" pitchFamily="34" charset="0"/>
                <a:cs typeface="Calibri" panose="020F0502020204030204" pitchFamily="34" charset="0"/>
              </a:rPr>
              <a:t>include diffuse erythema, altered mental status, seizures, severe bronchospasm, laryngeal edema, severe hypotension, or sudden cardiac arrest.</a:t>
            </a:r>
            <a:endParaRPr lang="en-US" sz="3000" dirty="0">
              <a:latin typeface="Calibri" panose="020F0502020204030204" pitchFamily="34" charset="0"/>
              <a:cs typeface="Calibri" panose="020F0502020204030204" pitchFamily="34" charset="0"/>
            </a:endParaRPr>
          </a:p>
        </p:txBody>
      </p:sp>
      <p:sp>
        <p:nvSpPr>
          <p:cNvPr id="6" name="Title 1">
            <a:extLst>
              <a:ext uri="{FF2B5EF4-FFF2-40B4-BE49-F238E27FC236}">
                <a16:creationId xmlns:a16="http://schemas.microsoft.com/office/drawing/2014/main" id="{7C5535CB-F7A9-3152-D947-923CC0A79BE2}"/>
              </a:ext>
            </a:extLst>
          </p:cNvPr>
          <p:cNvSpPr txBox="1">
            <a:spLocks/>
          </p:cNvSpPr>
          <p:nvPr/>
        </p:nvSpPr>
        <p:spPr>
          <a:xfrm>
            <a:off x="2302062" y="137459"/>
            <a:ext cx="10515600" cy="13255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u="sng" dirty="0"/>
              <a:t>IODATED CONTRAST REACTIONS</a:t>
            </a:r>
            <a:endParaRPr lang="en-US" sz="3800" u="sng" dirty="0"/>
          </a:p>
        </p:txBody>
      </p:sp>
    </p:spTree>
    <p:extLst>
      <p:ext uri="{BB962C8B-B14F-4D97-AF65-F5344CB8AC3E}">
        <p14:creationId xmlns:p14="http://schemas.microsoft.com/office/powerpoint/2010/main" val="4083133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FB1B1B-51DC-4DD8-B875-960B3DD1BFF6}"/>
              </a:ext>
            </a:extLst>
          </p:cNvPr>
          <p:cNvSpPr>
            <a:spLocks noGrp="1"/>
          </p:cNvSpPr>
          <p:nvPr>
            <p:ph idx="1"/>
          </p:nvPr>
        </p:nvSpPr>
        <p:spPr>
          <a:xfrm>
            <a:off x="173831" y="1243013"/>
            <a:ext cx="11844337" cy="5434635"/>
          </a:xfrm>
        </p:spPr>
        <p:txBody>
          <a:bodyPr>
            <a:noAutofit/>
          </a:bodyPr>
          <a:lstStyle/>
          <a:p>
            <a:r>
              <a:rPr lang="en-US" sz="3000" dirty="0">
                <a:latin typeface="Calibri" panose="020F0502020204030204" pitchFamily="34" charset="0"/>
                <a:cs typeface="Calibri" panose="020F0502020204030204" pitchFamily="34" charset="0"/>
              </a:rPr>
              <a:t>Only about one third of patients with </a:t>
            </a:r>
            <a:r>
              <a:rPr lang="en-US" sz="3000" b="1" i="1" dirty="0">
                <a:latin typeface="Calibri" panose="020F0502020204030204" pitchFamily="34" charset="0"/>
                <a:cs typeface="Calibri" panose="020F0502020204030204" pitchFamily="34" charset="0"/>
              </a:rPr>
              <a:t>severe reactions</a:t>
            </a:r>
            <a:r>
              <a:rPr lang="en-US" sz="3000" dirty="0">
                <a:latin typeface="Calibri" panose="020F0502020204030204" pitchFamily="34" charset="0"/>
                <a:cs typeface="Calibri" panose="020F0502020204030204" pitchFamily="34" charset="0"/>
              </a:rPr>
              <a:t> have a prior history of reactions and </a:t>
            </a:r>
            <a:r>
              <a:rPr lang="en-US" sz="3000" b="1" i="1" dirty="0">
                <a:latin typeface="Calibri" panose="020F0502020204030204" pitchFamily="34" charset="0"/>
                <a:cs typeface="Calibri" panose="020F0502020204030204" pitchFamily="34" charset="0"/>
              </a:rPr>
              <a:t>pre-treatment to prevent these has very poor evidence showing efficacy</a:t>
            </a:r>
            <a:r>
              <a:rPr lang="en-US" sz="3000" dirty="0">
                <a:latin typeface="Calibri" panose="020F0502020204030204" pitchFamily="34" charset="0"/>
                <a:cs typeface="Calibri" panose="020F0502020204030204" pitchFamily="34" charset="0"/>
              </a:rPr>
              <a:t> for anything other than mild reactions.</a:t>
            </a:r>
          </a:p>
          <a:p>
            <a:endParaRPr lang="en-US" sz="1000" dirty="0">
              <a:latin typeface="Calibri" panose="020F0502020204030204" pitchFamily="34" charset="0"/>
              <a:cs typeface="Calibri" panose="020F0502020204030204" pitchFamily="34" charset="0"/>
            </a:endParaRPr>
          </a:p>
          <a:p>
            <a:endParaRPr lang="en-US" sz="1000" dirty="0">
              <a:latin typeface="Calibri" panose="020F0502020204030204" pitchFamily="34" charset="0"/>
              <a:cs typeface="Calibri" panose="020F0502020204030204" pitchFamily="34" charset="0"/>
            </a:endParaRPr>
          </a:p>
          <a:p>
            <a:r>
              <a:rPr lang="en-US" sz="3000" b="1" i="1" dirty="0">
                <a:latin typeface="Calibri" panose="020F0502020204030204" pitchFamily="34" charset="0"/>
                <a:cs typeface="Calibri" panose="020F0502020204030204" pitchFamily="34" charset="0"/>
              </a:rPr>
              <a:t>Contrast extravasation </a:t>
            </a:r>
            <a:r>
              <a:rPr lang="en-US" sz="3000" dirty="0">
                <a:latin typeface="Calibri" panose="020F0502020204030204" pitchFamily="34" charset="0"/>
                <a:cs typeface="Calibri" panose="020F0502020204030204" pitchFamily="34" charset="0"/>
              </a:rPr>
              <a:t>is also potentially severe.  Patients with extravasation will need close monitoring of skin and soft tissue. Typically, limb elevation and hot or cold compresses are used. Observation can range from several hours to overnight if needed.  </a:t>
            </a:r>
            <a:r>
              <a:rPr lang="en-US" sz="3000" u="sng" dirty="0">
                <a:latin typeface="Calibri" panose="020F0502020204030204" pitchFamily="34" charset="0"/>
                <a:cs typeface="Calibri" panose="020F0502020204030204" pitchFamily="34" charset="0"/>
              </a:rPr>
              <a:t>Watch for compartment syndrome and consider surgical consultation</a:t>
            </a:r>
            <a:r>
              <a:rPr lang="en-US" sz="3000" dirty="0">
                <a:latin typeface="Calibri" panose="020F0502020204030204" pitchFamily="34" charset="0"/>
                <a:cs typeface="Calibri" panose="020F0502020204030204" pitchFamily="34" charset="0"/>
              </a:rPr>
              <a:t>.</a:t>
            </a:r>
          </a:p>
        </p:txBody>
      </p:sp>
      <p:sp>
        <p:nvSpPr>
          <p:cNvPr id="6" name="Title 1">
            <a:extLst>
              <a:ext uri="{FF2B5EF4-FFF2-40B4-BE49-F238E27FC236}">
                <a16:creationId xmlns:a16="http://schemas.microsoft.com/office/drawing/2014/main" id="{268D1FC3-DE90-5C40-CC73-B56BA82B890F}"/>
              </a:ext>
            </a:extLst>
          </p:cNvPr>
          <p:cNvSpPr txBox="1">
            <a:spLocks/>
          </p:cNvSpPr>
          <p:nvPr/>
        </p:nvSpPr>
        <p:spPr>
          <a:xfrm>
            <a:off x="2421591" y="0"/>
            <a:ext cx="10515600" cy="13255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u="sng" dirty="0"/>
              <a:t>IODATED CONTRAST REACTIONS</a:t>
            </a:r>
            <a:endParaRPr lang="en-US" sz="3800" u="sng" dirty="0"/>
          </a:p>
        </p:txBody>
      </p:sp>
    </p:spTree>
    <p:extLst>
      <p:ext uri="{BB962C8B-B14F-4D97-AF65-F5344CB8AC3E}">
        <p14:creationId xmlns:p14="http://schemas.microsoft.com/office/powerpoint/2010/main" val="2123010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FB1B1B-51DC-4DD8-B875-960B3DD1BFF6}"/>
              </a:ext>
            </a:extLst>
          </p:cNvPr>
          <p:cNvSpPr>
            <a:spLocks noGrp="1"/>
          </p:cNvSpPr>
          <p:nvPr>
            <p:ph idx="1"/>
          </p:nvPr>
        </p:nvSpPr>
        <p:spPr>
          <a:xfrm>
            <a:off x="262528" y="1084680"/>
            <a:ext cx="5941422" cy="4630334"/>
          </a:xfrm>
        </p:spPr>
        <p:txBody>
          <a:bodyPr>
            <a:normAutofit/>
          </a:bodyPr>
          <a:lstStyle/>
          <a:p>
            <a:pPr marL="0" indent="0">
              <a:spcBef>
                <a:spcPts val="600"/>
              </a:spcBef>
              <a:spcAft>
                <a:spcPts val="600"/>
              </a:spcAft>
              <a:buClr>
                <a:schemeClr val="tx1"/>
              </a:buClr>
              <a:buNone/>
            </a:pPr>
            <a:r>
              <a:rPr lang="en-US" sz="3200" b="1" u="sng" dirty="0">
                <a:solidFill>
                  <a:schemeClr val="tx1"/>
                </a:solidFill>
                <a:latin typeface="Calibri" panose="020F0502020204030204" pitchFamily="34" charset="0"/>
                <a:cs typeface="Calibri" panose="020F0502020204030204" pitchFamily="34" charset="0"/>
              </a:rPr>
              <a:t>Contrast preferred</a:t>
            </a:r>
            <a:r>
              <a:rPr lang="en-US" sz="3200" dirty="0">
                <a:solidFill>
                  <a:schemeClr val="tx1"/>
                </a:solidFill>
                <a:latin typeface="Calibri" panose="020F0502020204030204" pitchFamily="34" charset="0"/>
                <a:cs typeface="Calibri" panose="020F0502020204030204" pitchFamily="34" charset="0"/>
              </a:rPr>
              <a:t>:</a:t>
            </a:r>
          </a:p>
          <a:p>
            <a:pPr>
              <a:spcBef>
                <a:spcPts val="600"/>
              </a:spcBef>
              <a:spcAft>
                <a:spcPts val="600"/>
              </a:spcAft>
              <a:buClr>
                <a:schemeClr val="tx1"/>
              </a:buClr>
            </a:pPr>
            <a:r>
              <a:rPr lang="en-US" sz="3200" b="1" i="1" dirty="0">
                <a:solidFill>
                  <a:schemeClr val="tx1"/>
                </a:solidFill>
                <a:latin typeface="Calibri" panose="020F0502020204030204" pitchFamily="34" charset="0"/>
                <a:cs typeface="Calibri" panose="020F0502020204030204" pitchFamily="34" charset="0"/>
              </a:rPr>
              <a:t>Tumor</a:t>
            </a:r>
          </a:p>
          <a:p>
            <a:pPr>
              <a:spcBef>
                <a:spcPts val="600"/>
              </a:spcBef>
              <a:spcAft>
                <a:spcPts val="600"/>
              </a:spcAft>
              <a:buClr>
                <a:schemeClr val="tx1"/>
              </a:buClr>
            </a:pPr>
            <a:r>
              <a:rPr lang="en-US" sz="3200" b="1" i="1" dirty="0">
                <a:solidFill>
                  <a:schemeClr val="tx1"/>
                </a:solidFill>
                <a:latin typeface="Calibri" panose="020F0502020204030204" pitchFamily="34" charset="0"/>
                <a:cs typeface="Calibri" panose="020F0502020204030204" pitchFamily="34" charset="0"/>
              </a:rPr>
              <a:t>Intravascular pathology</a:t>
            </a:r>
          </a:p>
          <a:p>
            <a:pPr lvl="1">
              <a:spcBef>
                <a:spcPts val="600"/>
              </a:spcBef>
              <a:spcAft>
                <a:spcPts val="600"/>
              </a:spcAft>
              <a:buClr>
                <a:schemeClr val="tx1"/>
              </a:buClr>
            </a:pPr>
            <a:r>
              <a:rPr lang="en-US" sz="3000" dirty="0">
                <a:latin typeface="Calibri" panose="020F0502020204030204" pitchFamily="34" charset="0"/>
                <a:cs typeface="Calibri" panose="020F0502020204030204" pitchFamily="34" charset="0"/>
              </a:rPr>
              <a:t>Clot</a:t>
            </a:r>
            <a:r>
              <a:rPr lang="en-US" sz="3000" dirty="0">
                <a:solidFill>
                  <a:schemeClr val="tx1"/>
                </a:solidFill>
                <a:latin typeface="Calibri" panose="020F0502020204030204" pitchFamily="34" charset="0"/>
                <a:cs typeface="Calibri" panose="020F0502020204030204" pitchFamily="34" charset="0"/>
              </a:rPr>
              <a:t>, stenosis, ischemia of distal tissues, perforation</a:t>
            </a:r>
            <a:r>
              <a:rPr lang="en-US" sz="3000" dirty="0">
                <a:latin typeface="Calibri" panose="020F0502020204030204" pitchFamily="34" charset="0"/>
                <a:cs typeface="Calibri" panose="020F0502020204030204" pitchFamily="34" charset="0"/>
              </a:rPr>
              <a:t>, </a:t>
            </a:r>
            <a:r>
              <a:rPr lang="en-US" sz="3000" dirty="0">
                <a:solidFill>
                  <a:schemeClr val="tx1"/>
                </a:solidFill>
                <a:latin typeface="Calibri" panose="020F0502020204030204" pitchFamily="34" charset="0"/>
                <a:cs typeface="Calibri" panose="020F0502020204030204" pitchFamily="34" charset="0"/>
              </a:rPr>
              <a:t>dissection</a:t>
            </a:r>
          </a:p>
          <a:p>
            <a:pPr>
              <a:spcBef>
                <a:spcPts val="600"/>
              </a:spcBef>
              <a:spcAft>
                <a:spcPts val="600"/>
              </a:spcAft>
              <a:buClr>
                <a:schemeClr val="tx1"/>
              </a:buClr>
            </a:pPr>
            <a:r>
              <a:rPr lang="en-US" sz="3200" b="1" i="1" dirty="0">
                <a:solidFill>
                  <a:schemeClr val="tx1"/>
                </a:solidFill>
                <a:latin typeface="Calibri" panose="020F0502020204030204" pitchFamily="34" charset="0"/>
                <a:cs typeface="Calibri" panose="020F0502020204030204" pitchFamily="34" charset="0"/>
              </a:rPr>
              <a:t>Inflammatory etiology</a:t>
            </a:r>
          </a:p>
          <a:p>
            <a:pPr lvl="1">
              <a:spcBef>
                <a:spcPts val="600"/>
              </a:spcBef>
              <a:spcAft>
                <a:spcPts val="600"/>
              </a:spcAft>
              <a:buClr>
                <a:schemeClr val="tx1"/>
              </a:buClr>
            </a:pPr>
            <a:r>
              <a:rPr lang="en-US" sz="3000" dirty="0">
                <a:solidFill>
                  <a:schemeClr val="tx1"/>
                </a:solidFill>
                <a:latin typeface="Calibri" panose="020F0502020204030204" pitchFamily="34" charset="0"/>
                <a:cs typeface="Calibri" panose="020F0502020204030204" pitchFamily="34" charset="0"/>
              </a:rPr>
              <a:t>colitis, encephalitis</a:t>
            </a:r>
          </a:p>
        </p:txBody>
      </p:sp>
      <p:sp>
        <p:nvSpPr>
          <p:cNvPr id="4" name="TextBox 3">
            <a:extLst>
              <a:ext uri="{FF2B5EF4-FFF2-40B4-BE49-F238E27FC236}">
                <a16:creationId xmlns:a16="http://schemas.microsoft.com/office/drawing/2014/main" id="{86C09196-AA2A-9B4D-94B0-FE012D2EE4D5}"/>
              </a:ext>
            </a:extLst>
          </p:cNvPr>
          <p:cNvSpPr txBox="1"/>
          <p:nvPr/>
        </p:nvSpPr>
        <p:spPr>
          <a:xfrm>
            <a:off x="6470650" y="1089860"/>
            <a:ext cx="5721350" cy="4462760"/>
          </a:xfrm>
          <a:prstGeom prst="rect">
            <a:avLst/>
          </a:prstGeom>
          <a:noFill/>
        </p:spPr>
        <p:txBody>
          <a:bodyPr wrap="square" rtlCol="0">
            <a:spAutoFit/>
          </a:bodyPr>
          <a:lstStyle/>
          <a:p>
            <a:pPr>
              <a:spcBef>
                <a:spcPts val="600"/>
              </a:spcBef>
              <a:spcAft>
                <a:spcPts val="600"/>
              </a:spcAft>
            </a:pPr>
            <a:r>
              <a:rPr lang="en-US" sz="3200" b="1" u="sng" dirty="0">
                <a:latin typeface="Calibri" panose="020F0502020204030204" pitchFamily="34" charset="0"/>
                <a:cs typeface="Calibri" panose="020F0502020204030204" pitchFamily="34" charset="0"/>
              </a:rPr>
              <a:t>Contrast is helpful</a:t>
            </a:r>
            <a:r>
              <a:rPr lang="en-US" sz="3200" dirty="0">
                <a:latin typeface="Calibri" panose="020F0502020204030204" pitchFamily="34" charset="0"/>
                <a:cs typeface="Calibri" panose="020F0502020204030204" pitchFamily="34" charset="0"/>
              </a:rPr>
              <a:t>:</a:t>
            </a:r>
          </a:p>
          <a:p>
            <a:pPr marL="457200" indent="-457200">
              <a:spcBef>
                <a:spcPts val="600"/>
              </a:spcBef>
              <a:spcAft>
                <a:spcPts val="600"/>
              </a:spcAft>
              <a:buFont typeface="Arial" panose="020B0604020202020204" pitchFamily="34" charset="0"/>
              <a:buChar char="•"/>
            </a:pPr>
            <a:r>
              <a:rPr lang="en-US" sz="3200" dirty="0">
                <a:latin typeface="Calibri" panose="020F0502020204030204" pitchFamily="34" charset="0"/>
                <a:cs typeface="Calibri" panose="020F0502020204030204" pitchFamily="34" charset="0"/>
              </a:rPr>
              <a:t>Infection (most)</a:t>
            </a:r>
            <a:endParaRPr lang="en-US" sz="1500" dirty="0">
              <a:latin typeface="Calibri" panose="020F0502020204030204" pitchFamily="34" charset="0"/>
              <a:cs typeface="Calibri" panose="020F0502020204030204" pitchFamily="34" charset="0"/>
            </a:endParaRPr>
          </a:p>
          <a:p>
            <a:pPr>
              <a:spcBef>
                <a:spcPts val="600"/>
              </a:spcBef>
              <a:spcAft>
                <a:spcPts val="600"/>
              </a:spcAft>
            </a:pPr>
            <a:r>
              <a:rPr lang="en-US" sz="3200" b="1" u="sng" dirty="0">
                <a:latin typeface="Calibri" panose="020F0502020204030204" pitchFamily="34" charset="0"/>
                <a:cs typeface="Calibri" panose="020F0502020204030204" pitchFamily="34" charset="0"/>
              </a:rPr>
              <a:t>Contrast generally not needed</a:t>
            </a:r>
            <a:r>
              <a:rPr lang="en-US" sz="3200" dirty="0">
                <a:latin typeface="Calibri" panose="020F0502020204030204" pitchFamily="34" charset="0"/>
                <a:cs typeface="Calibri" panose="020F0502020204030204" pitchFamily="34" charset="0"/>
              </a:rPr>
              <a:t>:</a:t>
            </a:r>
          </a:p>
          <a:p>
            <a:pPr marL="457200" indent="-457200">
              <a:spcBef>
                <a:spcPts val="600"/>
              </a:spcBef>
              <a:spcAft>
                <a:spcPts val="600"/>
              </a:spcAft>
              <a:buFont typeface="Arial" panose="020B0604020202020204" pitchFamily="34" charset="0"/>
              <a:buChar char="•"/>
            </a:pPr>
            <a:r>
              <a:rPr lang="en-US" sz="3200" dirty="0">
                <a:latin typeface="Calibri" panose="020F0502020204030204" pitchFamily="34" charset="0"/>
                <a:cs typeface="Calibri" panose="020F0502020204030204" pitchFamily="34" charset="0"/>
              </a:rPr>
              <a:t>Stroke</a:t>
            </a:r>
          </a:p>
          <a:p>
            <a:pPr marL="457200" indent="-457200">
              <a:spcBef>
                <a:spcPts val="600"/>
              </a:spcBef>
              <a:spcAft>
                <a:spcPts val="600"/>
              </a:spcAft>
              <a:buFont typeface="Arial" panose="020B0604020202020204" pitchFamily="34" charset="0"/>
              <a:buChar char="•"/>
            </a:pPr>
            <a:r>
              <a:rPr lang="en-US" sz="3200" dirty="0">
                <a:latin typeface="Calibri" panose="020F0502020204030204" pitchFamily="34" charset="0"/>
                <a:cs typeface="Calibri" panose="020F0502020204030204" pitchFamily="34" charset="0"/>
              </a:rPr>
              <a:t>Bones or calcification</a:t>
            </a:r>
          </a:p>
          <a:p>
            <a:pPr marL="457200" indent="-457200">
              <a:spcBef>
                <a:spcPts val="600"/>
              </a:spcBef>
              <a:spcAft>
                <a:spcPts val="600"/>
              </a:spcAft>
              <a:buFont typeface="Arial" panose="020B0604020202020204" pitchFamily="34" charset="0"/>
              <a:buChar char="•"/>
            </a:pPr>
            <a:r>
              <a:rPr lang="en-US" sz="3200" dirty="0">
                <a:latin typeface="Calibri" panose="020F0502020204030204" pitchFamily="34" charset="0"/>
                <a:cs typeface="Calibri" panose="020F0502020204030204" pitchFamily="34" charset="0"/>
              </a:rPr>
              <a:t>Lung parenchyma or pleura</a:t>
            </a:r>
          </a:p>
          <a:p>
            <a:pPr marL="457200" indent="-457200">
              <a:spcBef>
                <a:spcPts val="600"/>
              </a:spcBef>
              <a:spcAft>
                <a:spcPts val="600"/>
              </a:spcAft>
              <a:buFont typeface="Arial" panose="020B0604020202020204" pitchFamily="34" charset="0"/>
              <a:buChar char="•"/>
            </a:pPr>
            <a:r>
              <a:rPr lang="en-US" sz="3200" dirty="0">
                <a:latin typeface="Calibri" panose="020F0502020204030204" pitchFamily="34" charset="0"/>
                <a:cs typeface="Calibri" panose="020F0502020204030204" pitchFamily="34" charset="0"/>
              </a:rPr>
              <a:t>General abdominal evaluation</a:t>
            </a:r>
          </a:p>
        </p:txBody>
      </p:sp>
      <p:sp>
        <p:nvSpPr>
          <p:cNvPr id="5" name="TextBox 4">
            <a:extLst>
              <a:ext uri="{FF2B5EF4-FFF2-40B4-BE49-F238E27FC236}">
                <a16:creationId xmlns:a16="http://schemas.microsoft.com/office/drawing/2014/main" id="{83782FC3-2799-3741-8040-AF35490FA95D}"/>
              </a:ext>
            </a:extLst>
          </p:cNvPr>
          <p:cNvSpPr txBox="1"/>
          <p:nvPr/>
        </p:nvSpPr>
        <p:spPr>
          <a:xfrm>
            <a:off x="262528" y="5862320"/>
            <a:ext cx="7503521" cy="584775"/>
          </a:xfrm>
          <a:prstGeom prst="rect">
            <a:avLst/>
          </a:prstGeom>
          <a:noFill/>
        </p:spPr>
        <p:txBody>
          <a:bodyPr wrap="square" rtlCol="0">
            <a:spAutoFit/>
          </a:bodyPr>
          <a:lstStyle/>
          <a:p>
            <a:r>
              <a:rPr lang="en-US" sz="3200" dirty="0">
                <a:latin typeface="Calibri" panose="020F0502020204030204" pitchFamily="34" charset="0"/>
                <a:cs typeface="Calibri" panose="020F0502020204030204" pitchFamily="34" charset="0"/>
              </a:rPr>
              <a:t>When in doubt . . . Call radiology to ask!! </a:t>
            </a:r>
          </a:p>
        </p:txBody>
      </p:sp>
      <p:sp>
        <p:nvSpPr>
          <p:cNvPr id="6" name="Title 1">
            <a:extLst>
              <a:ext uri="{FF2B5EF4-FFF2-40B4-BE49-F238E27FC236}">
                <a16:creationId xmlns:a16="http://schemas.microsoft.com/office/drawing/2014/main" id="{E726BCF2-D491-598C-61A6-9C45B20D1645}"/>
              </a:ext>
            </a:extLst>
          </p:cNvPr>
          <p:cNvSpPr txBox="1">
            <a:spLocks/>
          </p:cNvSpPr>
          <p:nvPr/>
        </p:nvSpPr>
        <p:spPr>
          <a:xfrm>
            <a:off x="2830045" y="0"/>
            <a:ext cx="6531909" cy="10846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u="sng" dirty="0"/>
              <a:t>WHEN TO USE CONTRAST</a:t>
            </a:r>
            <a:endParaRPr lang="en-US" sz="3800" u="sng" dirty="0"/>
          </a:p>
        </p:txBody>
      </p:sp>
    </p:spTree>
    <p:extLst>
      <p:ext uri="{BB962C8B-B14F-4D97-AF65-F5344CB8AC3E}">
        <p14:creationId xmlns:p14="http://schemas.microsoft.com/office/powerpoint/2010/main" val="32197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A2D8B-0BB2-4B2D-B786-E09254395D47}"/>
              </a:ext>
            </a:extLst>
          </p:cNvPr>
          <p:cNvSpPr>
            <a:spLocks noGrp="1"/>
          </p:cNvSpPr>
          <p:nvPr>
            <p:ph type="title"/>
          </p:nvPr>
        </p:nvSpPr>
        <p:spPr>
          <a:xfrm>
            <a:off x="1196554" y="0"/>
            <a:ext cx="10779919" cy="935831"/>
          </a:xfrm>
        </p:spPr>
        <p:txBody>
          <a:bodyPr/>
          <a:lstStyle/>
          <a:p>
            <a:r>
              <a:rPr lang="en-US" u="sng" dirty="0"/>
              <a:t>MODALITIES USING IONIZED RADIATION</a:t>
            </a:r>
          </a:p>
        </p:txBody>
      </p:sp>
      <p:sp>
        <p:nvSpPr>
          <p:cNvPr id="3" name="Content Placeholder 2">
            <a:extLst>
              <a:ext uri="{FF2B5EF4-FFF2-40B4-BE49-F238E27FC236}">
                <a16:creationId xmlns:a16="http://schemas.microsoft.com/office/drawing/2014/main" id="{4D7E5F05-E9FC-456A-87AD-582B16F8C1C3}"/>
              </a:ext>
            </a:extLst>
          </p:cNvPr>
          <p:cNvSpPr>
            <a:spLocks noGrp="1"/>
          </p:cNvSpPr>
          <p:nvPr>
            <p:ph idx="1"/>
          </p:nvPr>
        </p:nvSpPr>
        <p:spPr>
          <a:xfrm>
            <a:off x="172278" y="982103"/>
            <a:ext cx="11847443" cy="5318781"/>
          </a:xfrm>
        </p:spPr>
        <p:txBody>
          <a:bodyPr>
            <a:noAutofit/>
          </a:bodyPr>
          <a:lstStyle/>
          <a:p>
            <a:pPr fontAlgn="base"/>
            <a:r>
              <a:rPr lang="en-US" sz="3200" b="1" i="1" dirty="0">
                <a:latin typeface="Calibri" panose="020F0502020204030204" pitchFamily="34" charset="0"/>
                <a:cs typeface="Calibri" panose="020F0502020204030204" pitchFamily="34" charset="0"/>
              </a:rPr>
              <a:t>Radiography</a:t>
            </a:r>
            <a:r>
              <a:rPr lang="en-US" sz="3200" i="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commonly called x-rays, they are the oldest imaging modality</a:t>
            </a:r>
          </a:p>
          <a:p>
            <a:pPr fontAlgn="base"/>
            <a:endParaRPr lang="en-US" sz="1500" dirty="0">
              <a:latin typeface="Calibri" panose="020F0502020204030204" pitchFamily="34" charset="0"/>
              <a:cs typeface="Calibri" panose="020F0502020204030204" pitchFamily="34" charset="0"/>
            </a:endParaRPr>
          </a:p>
          <a:p>
            <a:pPr fontAlgn="base"/>
            <a:r>
              <a:rPr lang="en-US" sz="3200" b="1" i="1" dirty="0">
                <a:latin typeface="Calibri" panose="020F0502020204030204" pitchFamily="34" charset="0"/>
                <a:cs typeface="Calibri" panose="020F0502020204030204" pitchFamily="34" charset="0"/>
              </a:rPr>
              <a:t>Fluoroscopy</a:t>
            </a:r>
            <a:r>
              <a:rPr lang="en-US" sz="3200" dirty="0">
                <a:latin typeface="Calibri" panose="020F0502020204030204" pitchFamily="34" charset="0"/>
                <a:cs typeface="Calibri" panose="020F0502020204030204" pitchFamily="34" charset="0"/>
              </a:rPr>
              <a:t> are sequential x rays seen real-time to produce a dynamic moving study. It is useful for evaluating function. </a:t>
            </a:r>
          </a:p>
          <a:p>
            <a:pPr lvl="3" fontAlgn="base"/>
            <a:r>
              <a:rPr lang="en-US" sz="2800" dirty="0">
                <a:latin typeface="Calibri" panose="020F0502020204030204" pitchFamily="34" charset="0"/>
                <a:cs typeface="Calibri" panose="020F0502020204030204" pitchFamily="34" charset="0"/>
              </a:rPr>
              <a:t>Barium Swallow video </a:t>
            </a:r>
            <a:r>
              <a:rPr lang="en-US" sz="2800" u="sng" dirty="0">
                <a:latin typeface="Calibri" panose="020F0502020204030204" pitchFamily="34" charset="0"/>
                <a:cs typeface="Calibri" panose="020F0502020204030204" pitchFamily="34" charset="0"/>
                <a:hlinkClick r:id="rId3"/>
              </a:rPr>
              <a:t>https://www.youtube.com/watch?v=1-I3lDjGvcs</a:t>
            </a:r>
            <a:endParaRPr lang="en-US" sz="3200" u="sng" dirty="0">
              <a:latin typeface="Calibri" panose="020F0502020204030204" pitchFamily="34" charset="0"/>
              <a:cs typeface="Calibri" panose="020F0502020204030204" pitchFamily="34" charset="0"/>
            </a:endParaRPr>
          </a:p>
          <a:p>
            <a:pPr lvl="3" fontAlgn="base"/>
            <a:endParaRPr lang="en-US" sz="1500" dirty="0">
              <a:latin typeface="Calibri" panose="020F0502020204030204" pitchFamily="34" charset="0"/>
              <a:cs typeface="Calibri" panose="020F0502020204030204" pitchFamily="34" charset="0"/>
            </a:endParaRPr>
          </a:p>
          <a:p>
            <a:pPr fontAlgn="base"/>
            <a:r>
              <a:rPr lang="en-US" sz="3200" b="1" i="1" dirty="0">
                <a:latin typeface="Calibri" panose="020F0502020204030204" pitchFamily="34" charset="0"/>
                <a:cs typeface="Calibri" panose="020F0502020204030204" pitchFamily="34" charset="0"/>
              </a:rPr>
              <a:t>Computed Tomography (CT) scan</a:t>
            </a:r>
            <a:r>
              <a:rPr lang="en-US" sz="3200" b="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uses a moving x-ray tube and moving detector to capture and process cross sectional images in different body planes</a:t>
            </a:r>
          </a:p>
        </p:txBody>
      </p:sp>
    </p:spTree>
    <p:extLst>
      <p:ext uri="{BB962C8B-B14F-4D97-AF65-F5344CB8AC3E}">
        <p14:creationId xmlns:p14="http://schemas.microsoft.com/office/powerpoint/2010/main" val="22039567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7E5F05-E9FC-456A-87AD-582B16F8C1C3}"/>
              </a:ext>
            </a:extLst>
          </p:cNvPr>
          <p:cNvSpPr>
            <a:spLocks noGrp="1"/>
          </p:cNvSpPr>
          <p:nvPr>
            <p:ph idx="1"/>
          </p:nvPr>
        </p:nvSpPr>
        <p:spPr>
          <a:xfrm>
            <a:off x="5389257" y="1269935"/>
            <a:ext cx="6657545" cy="2646074"/>
          </a:xfrm>
        </p:spPr>
        <p:txBody>
          <a:bodyPr>
            <a:noAutofit/>
          </a:bodyPr>
          <a:lstStyle/>
          <a:p>
            <a:pPr fontAlgn="base"/>
            <a:r>
              <a:rPr lang="en-US" sz="3200" b="1" i="1" dirty="0">
                <a:solidFill>
                  <a:schemeClr val="tx1"/>
                </a:solidFill>
                <a:latin typeface="Calibri" panose="020F0502020204030204" pitchFamily="34" charset="0"/>
                <a:cs typeface="Calibri" panose="020F0502020204030204" pitchFamily="34" charset="0"/>
              </a:rPr>
              <a:t>Mammography</a:t>
            </a:r>
            <a:r>
              <a:rPr lang="en-US" sz="3200" b="1" dirty="0">
                <a:solidFill>
                  <a:schemeClr val="tx1"/>
                </a:solidFill>
                <a:latin typeface="Calibri" panose="020F0502020204030204" pitchFamily="34" charset="0"/>
                <a:cs typeface="Calibri" panose="020F0502020204030204" pitchFamily="34" charset="0"/>
              </a:rPr>
              <a:t> </a:t>
            </a:r>
            <a:r>
              <a:rPr lang="en-US" sz="3200" dirty="0">
                <a:solidFill>
                  <a:schemeClr val="tx1"/>
                </a:solidFill>
                <a:latin typeface="Calibri" panose="020F0502020204030204" pitchFamily="34" charset="0"/>
                <a:cs typeface="Calibri" panose="020F0502020204030204" pitchFamily="34" charset="0"/>
              </a:rPr>
              <a:t>uses low dose radiation to </a:t>
            </a:r>
            <a:r>
              <a:rPr lang="en-US" sz="3200" b="1" i="1" dirty="0">
                <a:solidFill>
                  <a:schemeClr val="tx1"/>
                </a:solidFill>
                <a:latin typeface="Calibri" panose="020F0502020204030204" pitchFamily="34" charset="0"/>
                <a:cs typeface="Calibri" panose="020F0502020204030204" pitchFamily="34" charset="0"/>
              </a:rPr>
              <a:t>image the breast</a:t>
            </a:r>
            <a:r>
              <a:rPr lang="en-US" sz="3200" dirty="0">
                <a:solidFill>
                  <a:schemeClr val="tx1"/>
                </a:solidFill>
                <a:latin typeface="Calibri" panose="020F0502020204030204" pitchFamily="34" charset="0"/>
                <a:cs typeface="Calibri" panose="020F0502020204030204" pitchFamily="34" charset="0"/>
              </a:rPr>
              <a:t>.  Routine diagnostic mammograms are essential in the early detection of breast malignancies.</a:t>
            </a:r>
            <a:endParaRPr lang="en-US" sz="3200" dirty="0">
              <a:latin typeface="Calibri" panose="020F0502020204030204" pitchFamily="34" charset="0"/>
              <a:cs typeface="Calibri" panose="020F0502020204030204" pitchFamily="34" charset="0"/>
            </a:endParaRPr>
          </a:p>
          <a:p>
            <a:pPr fontAlgn="base"/>
            <a:endParaRPr lang="en-US" sz="3200" dirty="0">
              <a:solidFill>
                <a:schemeClr val="tx1"/>
              </a:solidFill>
              <a:latin typeface="Calibri" panose="020F0502020204030204" pitchFamily="34" charset="0"/>
              <a:cs typeface="Calibri" panose="020F0502020204030204" pitchFamily="34" charset="0"/>
            </a:endParaRPr>
          </a:p>
          <a:p>
            <a:pPr marL="0" indent="0" fontAlgn="base">
              <a:buNone/>
            </a:pPr>
            <a:endParaRPr lang="en-US" sz="3200" dirty="0">
              <a:solidFill>
                <a:schemeClr val="tx1"/>
              </a:solidFill>
              <a:latin typeface="Calibri" panose="020F0502020204030204" pitchFamily="34" charset="0"/>
              <a:cs typeface="Calibri" panose="020F0502020204030204" pitchFamily="34" charset="0"/>
            </a:endParaRPr>
          </a:p>
          <a:p>
            <a:pPr marL="0" indent="0" fontAlgn="base">
              <a:buNone/>
            </a:pPr>
            <a:endParaRPr lang="en-US" sz="3200" dirty="0">
              <a:solidFill>
                <a:schemeClr val="tx1"/>
              </a:solidFill>
              <a:latin typeface="Calibri" panose="020F0502020204030204" pitchFamily="34" charset="0"/>
              <a:cs typeface="Calibri" panose="020F0502020204030204" pitchFamily="34" charset="0"/>
            </a:endParaRPr>
          </a:p>
          <a:p>
            <a:pPr fontAlgn="base"/>
            <a:endParaRPr lang="en-US" sz="2800" dirty="0">
              <a:solidFill>
                <a:schemeClr val="tx1"/>
              </a:solidFill>
              <a:latin typeface="Calibri" panose="020F0502020204030204" pitchFamily="34" charset="0"/>
              <a:cs typeface="Calibri" panose="020F0502020204030204" pitchFamily="34" charset="0"/>
            </a:endParaRPr>
          </a:p>
        </p:txBody>
      </p:sp>
      <p:pic>
        <p:nvPicPr>
          <p:cNvPr id="4" name="Picture 2" descr="When a 'normal' mammogram result may not be 'normal' – Seniors 101">
            <a:extLst>
              <a:ext uri="{FF2B5EF4-FFF2-40B4-BE49-F238E27FC236}">
                <a16:creationId xmlns:a16="http://schemas.microsoft.com/office/drawing/2014/main" id="{7696183F-4BB0-E947-A23E-A22FB143B3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197" y="127343"/>
            <a:ext cx="5027558" cy="3115162"/>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5B965D1B-EAD0-A32D-C936-2799AADE8F48}"/>
              </a:ext>
            </a:extLst>
          </p:cNvPr>
          <p:cNvSpPr txBox="1">
            <a:spLocks/>
          </p:cNvSpPr>
          <p:nvPr/>
        </p:nvSpPr>
        <p:spPr>
          <a:xfrm>
            <a:off x="5389258" y="222451"/>
            <a:ext cx="6440792" cy="93583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800" u="sng" dirty="0"/>
              <a:t>MODALITIES USING IONIZED RADIATION</a:t>
            </a:r>
          </a:p>
        </p:txBody>
      </p:sp>
      <p:pic>
        <p:nvPicPr>
          <p:cNvPr id="11" name="Content Placeholder 4" descr="DEXA Bone Density Studies - Women's Imaging Center">
            <a:extLst>
              <a:ext uri="{FF2B5EF4-FFF2-40B4-BE49-F238E27FC236}">
                <a16:creationId xmlns:a16="http://schemas.microsoft.com/office/drawing/2014/main" id="{FBF85DC7-F988-1F46-B2C9-A559691104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924" y="3284315"/>
            <a:ext cx="3435654" cy="343565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CD0A972-1486-CC58-7654-014BB8F20236}"/>
              </a:ext>
            </a:extLst>
          </p:cNvPr>
          <p:cNvSpPr txBox="1"/>
          <p:nvPr/>
        </p:nvSpPr>
        <p:spPr>
          <a:xfrm>
            <a:off x="4043380" y="3724869"/>
            <a:ext cx="8072419" cy="2554545"/>
          </a:xfrm>
          <a:prstGeom prst="rect">
            <a:avLst/>
          </a:prstGeom>
          <a:noFill/>
        </p:spPr>
        <p:txBody>
          <a:bodyPr wrap="square">
            <a:spAutoFit/>
          </a:bodyPr>
          <a:lstStyle/>
          <a:p>
            <a:pPr marL="457200" indent="-457200" fontAlgn="base">
              <a:buFont typeface="Arial" panose="020B0604020202020204" pitchFamily="34" charset="0"/>
              <a:buChar char="•"/>
            </a:pPr>
            <a:r>
              <a:rPr lang="en-US" sz="3200" b="1" i="1" dirty="0">
                <a:solidFill>
                  <a:schemeClr val="tx1"/>
                </a:solidFill>
                <a:latin typeface="Calibri" panose="020F0502020204030204" pitchFamily="34" charset="0"/>
                <a:cs typeface="Calibri" panose="020F0502020204030204" pitchFamily="34" charset="0"/>
              </a:rPr>
              <a:t>Densitometry</a:t>
            </a:r>
            <a:r>
              <a:rPr lang="en-US" sz="3200" dirty="0">
                <a:solidFill>
                  <a:schemeClr val="tx1"/>
                </a:solidFill>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a:t>
            </a:r>
            <a:r>
              <a:rPr lang="en-US" sz="3200" dirty="0">
                <a:solidFill>
                  <a:schemeClr val="tx1"/>
                </a:solidFill>
                <a:latin typeface="Calibri" panose="020F0502020204030204" pitchFamily="34" charset="0"/>
                <a:cs typeface="Calibri" panose="020F0502020204030204" pitchFamily="34" charset="0"/>
              </a:rPr>
              <a:t> Dual Energy X-ray </a:t>
            </a:r>
            <a:r>
              <a:rPr lang="en-US" sz="3200" dirty="0" err="1">
                <a:solidFill>
                  <a:schemeClr val="tx1"/>
                </a:solidFill>
                <a:latin typeface="Calibri" panose="020F0502020204030204" pitchFamily="34" charset="0"/>
                <a:cs typeface="Calibri" panose="020F0502020204030204" pitchFamily="34" charset="0"/>
              </a:rPr>
              <a:t>Absorbitometry</a:t>
            </a:r>
            <a:r>
              <a:rPr lang="en-US" sz="3200" dirty="0">
                <a:solidFill>
                  <a:schemeClr val="tx1"/>
                </a:solidFill>
                <a:latin typeface="Calibri" panose="020F0502020204030204" pitchFamily="34" charset="0"/>
                <a:cs typeface="Calibri" panose="020F0502020204030204" pitchFamily="34" charset="0"/>
              </a:rPr>
              <a:t> (DEXA) uses low dose radiation to evaluate </a:t>
            </a:r>
            <a:r>
              <a:rPr lang="en-US" sz="3200" b="1" i="1" dirty="0">
                <a:solidFill>
                  <a:schemeClr val="tx1"/>
                </a:solidFill>
                <a:latin typeface="Calibri" panose="020F0502020204030204" pitchFamily="34" charset="0"/>
                <a:cs typeface="Calibri" panose="020F0502020204030204" pitchFamily="34" charset="0"/>
              </a:rPr>
              <a:t>bone mineral density</a:t>
            </a:r>
            <a:r>
              <a:rPr lang="en-US" sz="3200" dirty="0">
                <a:solidFill>
                  <a:schemeClr val="tx1"/>
                </a:solidFill>
                <a:latin typeface="Calibri" panose="020F0502020204030204" pitchFamily="34" charset="0"/>
                <a:cs typeface="Calibri" panose="020F0502020204030204" pitchFamily="34" charset="0"/>
              </a:rPr>
              <a:t>.  It is used to screen for osteoporosis and guide therapeutic intervention.</a:t>
            </a:r>
          </a:p>
        </p:txBody>
      </p:sp>
    </p:spTree>
    <p:extLst>
      <p:ext uri="{BB962C8B-B14F-4D97-AF65-F5344CB8AC3E}">
        <p14:creationId xmlns:p14="http://schemas.microsoft.com/office/powerpoint/2010/main" val="3079607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56BC81-EEC8-44C3-8982-B55939227631}"/>
              </a:ext>
            </a:extLst>
          </p:cNvPr>
          <p:cNvSpPr>
            <a:spLocks noGrp="1"/>
          </p:cNvSpPr>
          <p:nvPr>
            <p:ph idx="1"/>
          </p:nvPr>
        </p:nvSpPr>
        <p:spPr>
          <a:xfrm>
            <a:off x="6682457" y="143051"/>
            <a:ext cx="5183693" cy="6472807"/>
          </a:xfrm>
        </p:spPr>
        <p:txBody>
          <a:bodyPr>
            <a:normAutofit fontScale="92500" lnSpcReduction="10000"/>
          </a:bodyPr>
          <a:lstStyle/>
          <a:p>
            <a:pPr>
              <a:lnSpc>
                <a:spcPct val="120000"/>
              </a:lnSpc>
            </a:pPr>
            <a:r>
              <a:rPr lang="en-US" sz="3500" b="1" i="1" dirty="0">
                <a:latin typeface="Calibri" panose="020F0502020204030204" pitchFamily="34" charset="0"/>
                <a:cs typeface="Calibri" panose="020F0502020204030204" pitchFamily="34" charset="0"/>
              </a:rPr>
              <a:t>Ionizing </a:t>
            </a:r>
            <a:r>
              <a:rPr lang="en-US" sz="3500" b="1" i="1" dirty="0">
                <a:solidFill>
                  <a:schemeClr val="tx1"/>
                </a:solidFill>
                <a:latin typeface="Calibri" panose="020F0502020204030204" pitchFamily="34" charset="0"/>
                <a:cs typeface="Calibri" panose="020F0502020204030204" pitchFamily="34" charset="0"/>
              </a:rPr>
              <a:t>radiation </a:t>
            </a:r>
            <a:r>
              <a:rPr lang="en-US" sz="3500" dirty="0">
                <a:solidFill>
                  <a:schemeClr val="tx1"/>
                </a:solidFill>
                <a:latin typeface="Calibri" panose="020F0502020204030204" pitchFamily="34" charset="0"/>
                <a:cs typeface="Calibri" panose="020F0502020204030204" pitchFamily="34" charset="0"/>
              </a:rPr>
              <a:t>means enough energy is produced to displace orbiting electrons, forming ions aka </a:t>
            </a:r>
            <a:r>
              <a:rPr lang="en-US" sz="3500" b="1" i="1" dirty="0">
                <a:solidFill>
                  <a:schemeClr val="tx1"/>
                </a:solidFill>
                <a:latin typeface="Calibri" panose="020F0502020204030204" pitchFamily="34" charset="0"/>
                <a:cs typeface="Calibri" panose="020F0502020204030204" pitchFamily="34" charset="0"/>
              </a:rPr>
              <a:t>free radicals</a:t>
            </a:r>
            <a:r>
              <a:rPr lang="en-US" sz="3500" dirty="0">
                <a:solidFill>
                  <a:schemeClr val="tx1"/>
                </a:solidFill>
                <a:latin typeface="Calibri" panose="020F0502020204030204" pitchFamily="34" charset="0"/>
                <a:cs typeface="Calibri" panose="020F0502020204030204" pitchFamily="34" charset="0"/>
              </a:rPr>
              <a:t>.  </a:t>
            </a:r>
          </a:p>
          <a:p>
            <a:pPr>
              <a:lnSpc>
                <a:spcPct val="120000"/>
              </a:lnSpc>
            </a:pPr>
            <a:r>
              <a:rPr lang="en-US" sz="3500" dirty="0">
                <a:solidFill>
                  <a:schemeClr val="tx1"/>
                </a:solidFill>
                <a:latin typeface="Calibri" panose="020F0502020204030204" pitchFamily="34" charset="0"/>
                <a:cs typeface="Calibri" panose="020F0502020204030204" pitchFamily="34" charset="0"/>
              </a:rPr>
              <a:t>These </a:t>
            </a:r>
            <a:r>
              <a:rPr lang="en-US" sz="3500" b="1" i="1" dirty="0">
                <a:solidFill>
                  <a:schemeClr val="tx1"/>
                </a:solidFill>
                <a:latin typeface="Calibri" panose="020F0502020204030204" pitchFamily="34" charset="0"/>
                <a:cs typeface="Calibri" panose="020F0502020204030204" pitchFamily="34" charset="0"/>
              </a:rPr>
              <a:t>unstable molecules </a:t>
            </a:r>
            <a:r>
              <a:rPr lang="en-US" sz="3500" dirty="0">
                <a:solidFill>
                  <a:schemeClr val="tx1"/>
                </a:solidFill>
                <a:latin typeface="Calibri" panose="020F0502020204030204" pitchFamily="34" charset="0"/>
                <a:cs typeface="Calibri" panose="020F0502020204030204" pitchFamily="34" charset="0"/>
              </a:rPr>
              <a:t>can bind to organic material causing a change in cellular metabolism.  Free radicals can also bind to DNA causing </a:t>
            </a:r>
            <a:r>
              <a:rPr lang="en-US" sz="3500" b="1" i="1" dirty="0">
                <a:solidFill>
                  <a:schemeClr val="tx1"/>
                </a:solidFill>
                <a:latin typeface="Calibri" panose="020F0502020204030204" pitchFamily="34" charset="0"/>
                <a:cs typeface="Calibri" panose="020F0502020204030204" pitchFamily="34" charset="0"/>
              </a:rPr>
              <a:t>mutation</a:t>
            </a:r>
            <a:r>
              <a:rPr lang="en-US" sz="3500" dirty="0">
                <a:solidFill>
                  <a:schemeClr val="tx1"/>
                </a:solidFill>
                <a:latin typeface="Calibri" panose="020F0502020204030204" pitchFamily="34" charset="0"/>
                <a:cs typeface="Calibri" panose="020F0502020204030204" pitchFamily="34" charset="0"/>
              </a:rPr>
              <a:t> or </a:t>
            </a:r>
            <a:r>
              <a:rPr lang="en-US" sz="3500" b="1" i="1" dirty="0">
                <a:solidFill>
                  <a:schemeClr val="tx1"/>
                </a:solidFill>
                <a:latin typeface="Calibri" panose="020F0502020204030204" pitchFamily="34" charset="0"/>
                <a:cs typeface="Calibri" panose="020F0502020204030204" pitchFamily="34" charset="0"/>
              </a:rPr>
              <a:t>cell death</a:t>
            </a:r>
            <a:r>
              <a:rPr lang="en-US" sz="3500" dirty="0">
                <a:solidFill>
                  <a:schemeClr val="tx1"/>
                </a:solidFill>
                <a:latin typeface="Calibri" panose="020F0502020204030204" pitchFamily="34" charset="0"/>
                <a:cs typeface="Calibri" panose="020F0502020204030204" pitchFamily="34" charset="0"/>
              </a:rPr>
              <a:t>.</a:t>
            </a:r>
            <a:endParaRPr lang="en-US" sz="3500" dirty="0">
              <a:solidFill>
                <a:schemeClr val="bg1"/>
              </a:solidFill>
              <a:latin typeface="Calibri" panose="020F0502020204030204" pitchFamily="34" charset="0"/>
              <a:cs typeface="Calibri" panose="020F0502020204030204" pitchFamily="34" charset="0"/>
            </a:endParaRPr>
          </a:p>
          <a:p>
            <a:endParaRPr lang="en-US" dirty="0">
              <a:solidFill>
                <a:schemeClr val="bg1"/>
              </a:solidFill>
            </a:endParaRPr>
          </a:p>
          <a:p>
            <a:endParaRPr lang="en-US" dirty="0">
              <a:solidFill>
                <a:schemeClr val="bg1"/>
              </a:solidFill>
            </a:endParaRPr>
          </a:p>
        </p:txBody>
      </p:sp>
      <p:pic>
        <p:nvPicPr>
          <p:cNvPr id="6146" name="Picture 2" descr="Image result for ionizing radiation DNA">
            <a:extLst>
              <a:ext uri="{FF2B5EF4-FFF2-40B4-BE49-F238E27FC236}">
                <a16:creationId xmlns:a16="http://schemas.microsoft.com/office/drawing/2014/main" id="{09C36C48-A0C9-4A8F-A7DA-07C7B30610C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56" t="2837" r="3920" b="8511"/>
          <a:stretch/>
        </p:blipFill>
        <p:spPr bwMode="auto">
          <a:xfrm>
            <a:off x="164353" y="1923731"/>
            <a:ext cx="6586223" cy="4429472"/>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4984D142-A881-FD72-8C6A-3306757BC70F}"/>
              </a:ext>
            </a:extLst>
          </p:cNvPr>
          <p:cNvSpPr txBox="1">
            <a:spLocks/>
          </p:cNvSpPr>
          <p:nvPr/>
        </p:nvSpPr>
        <p:spPr>
          <a:xfrm>
            <a:off x="-130658" y="143051"/>
            <a:ext cx="7176246" cy="15180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u="sng" dirty="0"/>
              <a:t>EFFECTS OF IONIZING RADIATION</a:t>
            </a:r>
          </a:p>
        </p:txBody>
      </p:sp>
    </p:spTree>
    <p:extLst>
      <p:ext uri="{BB962C8B-B14F-4D97-AF65-F5344CB8AC3E}">
        <p14:creationId xmlns:p14="http://schemas.microsoft.com/office/powerpoint/2010/main" val="2784480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E7C2228-2D9B-4B75-80D7-35C8060A8F5D}"/>
              </a:ext>
            </a:extLst>
          </p:cNvPr>
          <p:cNvSpPr>
            <a:spLocks noGrp="1"/>
          </p:cNvSpPr>
          <p:nvPr>
            <p:ph sz="half" idx="1"/>
          </p:nvPr>
        </p:nvSpPr>
        <p:spPr>
          <a:xfrm>
            <a:off x="223888" y="1478476"/>
            <a:ext cx="5800564" cy="5168658"/>
          </a:xfrm>
        </p:spPr>
        <p:txBody>
          <a:bodyPr>
            <a:normAutofit/>
          </a:bodyPr>
          <a:lstStyle/>
          <a:p>
            <a:pPr marL="0" indent="0">
              <a:buNone/>
            </a:pPr>
            <a:r>
              <a:rPr lang="en-US" sz="2800" b="1" u="sng" dirty="0">
                <a:latin typeface="Calibri" panose="020F0502020204030204" pitchFamily="34" charset="0"/>
                <a:cs typeface="Calibri" panose="020F0502020204030204" pitchFamily="34" charset="0"/>
              </a:rPr>
              <a:t>Female of reproductive age </a:t>
            </a:r>
            <a:r>
              <a:rPr lang="en-US" sz="2800" u="sng" dirty="0">
                <a:latin typeface="Calibri" panose="020F0502020204030204" pitchFamily="34" charset="0"/>
                <a:cs typeface="Calibri" panose="020F0502020204030204" pitchFamily="34" charset="0"/>
              </a:rPr>
              <a:t>(6-60 y/o)</a:t>
            </a:r>
          </a:p>
          <a:p>
            <a:r>
              <a:rPr lang="en-US" sz="2800" dirty="0">
                <a:latin typeface="Calibri" panose="020F0502020204030204" pitchFamily="34" charset="0"/>
                <a:cs typeface="Calibri" panose="020F0502020204030204" pitchFamily="34" charset="0"/>
              </a:rPr>
              <a:t>Gonadal cells are more sensitive to ionizing radiation at high dose, much higher than most diagnostic imaging studies. Caution is advised.</a:t>
            </a:r>
          </a:p>
          <a:p>
            <a:r>
              <a:rPr lang="en-US" sz="2800" b="1" i="1" dirty="0">
                <a:latin typeface="Calibri" panose="020F0502020204030204" pitchFamily="34" charset="0"/>
                <a:cs typeface="Calibri" panose="020F0502020204030204" pitchFamily="34" charset="0"/>
              </a:rPr>
              <a:t>Carcinogenesis</a:t>
            </a:r>
            <a:r>
              <a:rPr lang="en-US" sz="2800" dirty="0">
                <a:latin typeface="Calibri" panose="020F0502020204030204" pitchFamily="34" charset="0"/>
                <a:cs typeface="Calibri" panose="020F0502020204030204" pitchFamily="34" charset="0"/>
              </a:rPr>
              <a:t> from in utero radiation can lead to childhood malignancy.</a:t>
            </a:r>
          </a:p>
          <a:p>
            <a:endParaRPr lang="en-US" sz="2400" dirty="0"/>
          </a:p>
          <a:p>
            <a:endParaRPr lang="en-US" sz="2400" dirty="0"/>
          </a:p>
          <a:p>
            <a:endParaRPr lang="en-US" sz="2400" dirty="0"/>
          </a:p>
          <a:p>
            <a:endParaRPr lang="en-US" sz="2400" dirty="0"/>
          </a:p>
        </p:txBody>
      </p:sp>
      <p:sp>
        <p:nvSpPr>
          <p:cNvPr id="6" name="Content Placeholder 5">
            <a:extLst>
              <a:ext uri="{FF2B5EF4-FFF2-40B4-BE49-F238E27FC236}">
                <a16:creationId xmlns:a16="http://schemas.microsoft.com/office/drawing/2014/main" id="{DE486780-9B47-4F31-AAE8-8818567EC5D5}"/>
              </a:ext>
            </a:extLst>
          </p:cNvPr>
          <p:cNvSpPr>
            <a:spLocks noGrp="1"/>
          </p:cNvSpPr>
          <p:nvPr>
            <p:ph sz="half" idx="2"/>
          </p:nvPr>
        </p:nvSpPr>
        <p:spPr>
          <a:xfrm>
            <a:off x="6504997" y="1478476"/>
            <a:ext cx="5336737" cy="5168658"/>
          </a:xfrm>
        </p:spPr>
        <p:txBody>
          <a:bodyPr>
            <a:normAutofit/>
          </a:bodyPr>
          <a:lstStyle/>
          <a:p>
            <a:pPr marL="0" indent="0">
              <a:buNone/>
            </a:pPr>
            <a:r>
              <a:rPr lang="en-US" sz="2800" b="1" u="sng" dirty="0">
                <a:latin typeface="Calibri" panose="020F0502020204030204" pitchFamily="34" charset="0"/>
                <a:cs typeface="Calibri" panose="020F0502020204030204" pitchFamily="34" charset="0"/>
              </a:rPr>
              <a:t>Children</a:t>
            </a:r>
          </a:p>
          <a:p>
            <a:r>
              <a:rPr lang="en-US" sz="2800" dirty="0">
                <a:latin typeface="Calibri" panose="020F0502020204030204" pitchFamily="34" charset="0"/>
                <a:cs typeface="Calibri" panose="020F0502020204030204" pitchFamily="34" charset="0"/>
              </a:rPr>
              <a:t>Their young rapidly dividing cells are more prone to the harmful effects of ionizing radiation, i.e. mutations.</a:t>
            </a:r>
          </a:p>
          <a:p>
            <a:r>
              <a:rPr lang="en-US" sz="2800" dirty="0">
                <a:latin typeface="Calibri" panose="020F0502020204030204" pitchFamily="34" charset="0"/>
                <a:cs typeface="Calibri" panose="020F0502020204030204" pitchFamily="34" charset="0"/>
              </a:rPr>
              <a:t>Can impact all cell lines leading to risk of malignancy</a:t>
            </a:r>
          </a:p>
          <a:p>
            <a:endParaRPr lang="en-US" sz="2400" dirty="0"/>
          </a:p>
          <a:p>
            <a:endParaRPr lang="en-US" dirty="0"/>
          </a:p>
          <a:p>
            <a:endParaRPr lang="en-US" dirty="0"/>
          </a:p>
          <a:p>
            <a:endParaRPr lang="en-US" dirty="0"/>
          </a:p>
        </p:txBody>
      </p:sp>
      <p:sp>
        <p:nvSpPr>
          <p:cNvPr id="7" name="Title 1">
            <a:extLst>
              <a:ext uri="{FF2B5EF4-FFF2-40B4-BE49-F238E27FC236}">
                <a16:creationId xmlns:a16="http://schemas.microsoft.com/office/drawing/2014/main" id="{7260BCE1-02D0-64BA-9C78-0254A04BC385}"/>
              </a:ext>
            </a:extLst>
          </p:cNvPr>
          <p:cNvSpPr txBox="1">
            <a:spLocks/>
          </p:cNvSpPr>
          <p:nvPr/>
        </p:nvSpPr>
        <p:spPr>
          <a:xfrm>
            <a:off x="992436" y="374719"/>
            <a:ext cx="10064033" cy="935831"/>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u="sng" dirty="0"/>
              <a:t>EFFECTS OF IONIZING RADIATION: CONSIDERATIONS</a:t>
            </a:r>
          </a:p>
        </p:txBody>
      </p:sp>
    </p:spTree>
    <p:extLst>
      <p:ext uri="{BB962C8B-B14F-4D97-AF65-F5344CB8AC3E}">
        <p14:creationId xmlns:p14="http://schemas.microsoft.com/office/powerpoint/2010/main" val="26797823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72C18F-B564-41B2-736D-F23789C4AD06}"/>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685058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C1C89-45CB-449C-AED1-72D8173A8EE5}"/>
              </a:ext>
            </a:extLst>
          </p:cNvPr>
          <p:cNvSpPr>
            <a:spLocks noGrp="1"/>
          </p:cNvSpPr>
          <p:nvPr>
            <p:ph type="title"/>
          </p:nvPr>
        </p:nvSpPr>
        <p:spPr>
          <a:xfrm>
            <a:off x="349211" y="383848"/>
            <a:ext cx="10898095" cy="871252"/>
          </a:xfrm>
        </p:spPr>
        <p:txBody>
          <a:bodyPr>
            <a:normAutofit fontScale="90000"/>
          </a:bodyPr>
          <a:lstStyle/>
          <a:p>
            <a:r>
              <a:rPr lang="en-US" u="sng" dirty="0"/>
              <a:t>SPECIAL NOTE ON DIAGNOSTIC MAMMOGRAPHY</a:t>
            </a:r>
          </a:p>
        </p:txBody>
      </p:sp>
      <p:sp>
        <p:nvSpPr>
          <p:cNvPr id="3" name="Content Placeholder 2">
            <a:extLst>
              <a:ext uri="{FF2B5EF4-FFF2-40B4-BE49-F238E27FC236}">
                <a16:creationId xmlns:a16="http://schemas.microsoft.com/office/drawing/2014/main" id="{C503CDAA-18BD-42F3-9DD7-F7FCBC023E74}"/>
              </a:ext>
            </a:extLst>
          </p:cNvPr>
          <p:cNvSpPr>
            <a:spLocks noGrp="1"/>
          </p:cNvSpPr>
          <p:nvPr>
            <p:ph idx="1"/>
          </p:nvPr>
        </p:nvSpPr>
        <p:spPr>
          <a:xfrm>
            <a:off x="130979" y="1575190"/>
            <a:ext cx="11930041" cy="5014520"/>
          </a:xfrm>
        </p:spPr>
        <p:txBody>
          <a:bodyPr/>
          <a:lstStyle/>
          <a:p>
            <a:r>
              <a:rPr lang="en-US" sz="3200" dirty="0">
                <a:latin typeface="Calibri" panose="020F0502020204030204" pitchFamily="34" charset="0"/>
                <a:cs typeface="Calibri" panose="020F0502020204030204" pitchFamily="34" charset="0"/>
              </a:rPr>
              <a:t>For most women, the </a:t>
            </a:r>
            <a:r>
              <a:rPr lang="en-US" sz="3200" b="1" i="1" dirty="0">
                <a:latin typeface="Calibri" panose="020F0502020204030204" pitchFamily="34" charset="0"/>
                <a:cs typeface="Calibri" panose="020F0502020204030204" pitchFamily="34" charset="0"/>
              </a:rPr>
              <a:t>benefits of regular mammograms outweigh the risks</a:t>
            </a:r>
            <a:r>
              <a:rPr lang="en-US" sz="3200" dirty="0">
                <a:latin typeface="Calibri" panose="020F0502020204030204" pitchFamily="34" charset="0"/>
                <a:cs typeface="Calibri" panose="020F0502020204030204" pitchFamily="34" charset="0"/>
              </a:rPr>
              <a:t> posed by the small amount of radiation. </a:t>
            </a:r>
          </a:p>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The risk associated with this dose appears to be greater among younger women (under age 40). </a:t>
            </a:r>
          </a:p>
          <a:p>
            <a:endParaRPr lang="en-US" sz="3200" dirty="0">
              <a:latin typeface="Calibri" panose="020F0502020204030204" pitchFamily="34" charset="0"/>
              <a:cs typeface="Calibri" panose="020F0502020204030204" pitchFamily="34" charset="0"/>
            </a:endParaRPr>
          </a:p>
          <a:p>
            <a:endParaRPr lang="en-US" sz="2800" dirty="0"/>
          </a:p>
          <a:p>
            <a:endParaRPr lang="en-US" dirty="0"/>
          </a:p>
          <a:p>
            <a:endParaRPr lang="en-US" dirty="0"/>
          </a:p>
          <a:p>
            <a:endParaRPr lang="en-US" dirty="0"/>
          </a:p>
          <a:p>
            <a:endParaRPr lang="en-US" dirty="0"/>
          </a:p>
        </p:txBody>
      </p:sp>
      <p:sp>
        <p:nvSpPr>
          <p:cNvPr id="4" name="AutoShape 2" descr="Image result for breast cancer awareness">
            <a:extLst>
              <a:ext uri="{FF2B5EF4-FFF2-40B4-BE49-F238E27FC236}">
                <a16:creationId xmlns:a16="http://schemas.microsoft.com/office/drawing/2014/main" id="{9478A237-7815-441B-A4EB-4B3D57207B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20" name="Picture 4" descr="Image result for breast cancer awareness">
            <a:extLst>
              <a:ext uri="{FF2B5EF4-FFF2-40B4-BE49-F238E27FC236}">
                <a16:creationId xmlns:a16="http://schemas.microsoft.com/office/drawing/2014/main" id="{3B822A34-A797-46B6-8551-FFDCEF7E1F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541" r="17280"/>
          <a:stretch/>
        </p:blipFill>
        <p:spPr bwMode="auto">
          <a:xfrm rot="1486549">
            <a:off x="10709537" y="135399"/>
            <a:ext cx="982404" cy="1530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28796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1D764-9A8D-3758-CFC7-CD71AF657514}"/>
              </a:ext>
            </a:extLst>
          </p:cNvPr>
          <p:cNvSpPr>
            <a:spLocks noGrp="1"/>
          </p:cNvSpPr>
          <p:nvPr>
            <p:ph type="title"/>
          </p:nvPr>
        </p:nvSpPr>
        <p:spPr>
          <a:xfrm>
            <a:off x="388257" y="2103437"/>
            <a:ext cx="10515600" cy="1325563"/>
          </a:xfrm>
        </p:spPr>
        <p:txBody>
          <a:bodyPr>
            <a:normAutofit/>
          </a:bodyPr>
          <a:lstStyle/>
          <a:p>
            <a:pPr algn="ctr"/>
            <a:r>
              <a:rPr lang="en-US" sz="8000" u="sng" dirty="0"/>
              <a:t>XRAY</a:t>
            </a:r>
          </a:p>
        </p:txBody>
      </p:sp>
    </p:spTree>
    <p:extLst>
      <p:ext uri="{BB962C8B-B14F-4D97-AF65-F5344CB8AC3E}">
        <p14:creationId xmlns:p14="http://schemas.microsoft.com/office/powerpoint/2010/main" val="75363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B7F43-4F8C-40F5-BF16-7EE91D2753B2}"/>
              </a:ext>
            </a:extLst>
          </p:cNvPr>
          <p:cNvSpPr>
            <a:spLocks noGrp="1"/>
          </p:cNvSpPr>
          <p:nvPr>
            <p:ph type="title"/>
          </p:nvPr>
        </p:nvSpPr>
        <p:spPr>
          <a:xfrm>
            <a:off x="735806" y="221456"/>
            <a:ext cx="11094244" cy="648120"/>
          </a:xfrm>
        </p:spPr>
        <p:txBody>
          <a:bodyPr>
            <a:normAutofit fontScale="90000"/>
          </a:bodyPr>
          <a:lstStyle/>
          <a:p>
            <a:pPr algn="ctr"/>
            <a:r>
              <a:rPr lang="en-US" u="sng" dirty="0"/>
              <a:t>RADIOGRAPHY</a:t>
            </a:r>
          </a:p>
        </p:txBody>
      </p:sp>
      <p:sp>
        <p:nvSpPr>
          <p:cNvPr id="3" name="Content Placeholder 2">
            <a:extLst>
              <a:ext uri="{FF2B5EF4-FFF2-40B4-BE49-F238E27FC236}">
                <a16:creationId xmlns:a16="http://schemas.microsoft.com/office/drawing/2014/main" id="{70859F2C-530F-4279-A278-23B5E883608C}"/>
              </a:ext>
            </a:extLst>
          </p:cNvPr>
          <p:cNvSpPr>
            <a:spLocks noGrp="1"/>
          </p:cNvSpPr>
          <p:nvPr>
            <p:ph idx="1"/>
          </p:nvPr>
        </p:nvSpPr>
        <p:spPr>
          <a:xfrm>
            <a:off x="206188" y="1039906"/>
            <a:ext cx="11731018" cy="5596638"/>
          </a:xfrm>
        </p:spPr>
        <p:txBody>
          <a:bodyPr>
            <a:normAutofit/>
          </a:bodyPr>
          <a:lstStyle/>
          <a:p>
            <a:r>
              <a:rPr lang="en-US" sz="3200" b="1" i="1" dirty="0">
                <a:latin typeface="Calibri" panose="020F0502020204030204" pitchFamily="34" charset="0"/>
                <a:cs typeface="Calibri" panose="020F0502020204030204" pitchFamily="34" charset="0"/>
              </a:rPr>
              <a:t>Radiography</a:t>
            </a:r>
            <a:r>
              <a:rPr lang="en-US" sz="3200" dirty="0">
                <a:latin typeface="Calibri" panose="020F0502020204030204" pitchFamily="34" charset="0"/>
                <a:cs typeface="Calibri" panose="020F0502020204030204" pitchFamily="34" charset="0"/>
              </a:rPr>
              <a:t>, the use of x-rays to generate images, is the oldest of the imaging modalities used in diagnostic radiology. </a:t>
            </a:r>
          </a:p>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The words x-ray, plain film, radiograph, and conventional radiograph are used interchangeably to refer to radiography. </a:t>
            </a:r>
          </a:p>
          <a:p>
            <a:endParaRPr lang="en-US" sz="3200" dirty="0">
              <a:latin typeface="Calibri" panose="020F0502020204030204" pitchFamily="34" charset="0"/>
              <a:cs typeface="Calibri" panose="020F0502020204030204" pitchFamily="34" charset="0"/>
            </a:endParaRPr>
          </a:p>
          <a:p>
            <a:r>
              <a:rPr lang="en-US" sz="3200" b="1" i="1" dirty="0">
                <a:latin typeface="Calibri" panose="020F0502020204030204" pitchFamily="34" charset="0"/>
                <a:cs typeface="Calibri" panose="020F0502020204030204" pitchFamily="34" charset="0"/>
              </a:rPr>
              <a:t>Fluoroscopy</a:t>
            </a:r>
            <a:r>
              <a:rPr lang="en-US" sz="3200" dirty="0">
                <a:latin typeface="Calibri" panose="020F0502020204030204" pitchFamily="34" charset="0"/>
                <a:cs typeface="Calibri" panose="020F0502020204030204" pitchFamily="34" charset="0"/>
              </a:rPr>
              <a:t> is an application of radiography that allows real-time observation of internal structures of a patient and is used predominantly in gastrointestinal imaging, interventional radiology, and musculoskeletal radiology.</a:t>
            </a:r>
          </a:p>
        </p:txBody>
      </p:sp>
    </p:spTree>
    <p:extLst>
      <p:ext uri="{BB962C8B-B14F-4D97-AF65-F5344CB8AC3E}">
        <p14:creationId xmlns:p14="http://schemas.microsoft.com/office/powerpoint/2010/main" val="3533483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B7F43-4F8C-40F5-BF16-7EE91D2753B2}"/>
              </a:ext>
            </a:extLst>
          </p:cNvPr>
          <p:cNvSpPr>
            <a:spLocks noGrp="1"/>
          </p:cNvSpPr>
          <p:nvPr>
            <p:ph type="title"/>
          </p:nvPr>
        </p:nvSpPr>
        <p:spPr>
          <a:xfrm>
            <a:off x="3018818" y="221456"/>
            <a:ext cx="11094244" cy="648120"/>
          </a:xfrm>
        </p:spPr>
        <p:txBody>
          <a:bodyPr>
            <a:normAutofit fontScale="90000"/>
          </a:bodyPr>
          <a:lstStyle/>
          <a:p>
            <a:r>
              <a:rPr lang="en-US" u="sng" dirty="0"/>
              <a:t>SCIENCE OF RADIOGRAPHY</a:t>
            </a:r>
          </a:p>
        </p:txBody>
      </p:sp>
      <p:sp>
        <p:nvSpPr>
          <p:cNvPr id="3" name="Content Placeholder 2">
            <a:extLst>
              <a:ext uri="{FF2B5EF4-FFF2-40B4-BE49-F238E27FC236}">
                <a16:creationId xmlns:a16="http://schemas.microsoft.com/office/drawing/2014/main" id="{70859F2C-530F-4279-A278-23B5E883608C}"/>
              </a:ext>
            </a:extLst>
          </p:cNvPr>
          <p:cNvSpPr>
            <a:spLocks noGrp="1"/>
          </p:cNvSpPr>
          <p:nvPr>
            <p:ph idx="1"/>
          </p:nvPr>
        </p:nvSpPr>
        <p:spPr>
          <a:xfrm>
            <a:off x="206187" y="1039906"/>
            <a:ext cx="11893047" cy="5596638"/>
          </a:xfrm>
        </p:spPr>
        <p:txBody>
          <a:bodyPr>
            <a:noAutofit/>
          </a:bodyPr>
          <a:lstStyle/>
          <a:p>
            <a:pPr fontAlgn="base"/>
            <a:r>
              <a:rPr lang="en-US" sz="3200" dirty="0">
                <a:latin typeface="Calibri" panose="020F0502020204030204" pitchFamily="34" charset="0"/>
                <a:cs typeface="Calibri" panose="020F0502020204030204" pitchFamily="34" charset="0"/>
              </a:rPr>
              <a:t>X-rays are part of the </a:t>
            </a:r>
            <a:r>
              <a:rPr lang="en-US" sz="3200" b="1" i="1" dirty="0">
                <a:latin typeface="Calibri" panose="020F0502020204030204" pitchFamily="34" charset="0"/>
                <a:cs typeface="Calibri" panose="020F0502020204030204" pitchFamily="34" charset="0"/>
              </a:rPr>
              <a:t>electromagnetic spectrum</a:t>
            </a:r>
            <a:r>
              <a:rPr lang="en-US" sz="3200" dirty="0">
                <a:latin typeface="Calibri" panose="020F0502020204030204" pitchFamily="34" charset="0"/>
                <a:cs typeface="Calibri" panose="020F0502020204030204" pitchFamily="34" charset="0"/>
              </a:rPr>
              <a:t>, like visible light and radio waves, but are at a much higher frequency.</a:t>
            </a:r>
          </a:p>
          <a:p>
            <a:pPr marL="0" indent="0" fontAlgn="base">
              <a:buNone/>
            </a:pPr>
            <a:endParaRPr lang="en-US" sz="3200" dirty="0">
              <a:latin typeface="Calibri" panose="020F0502020204030204" pitchFamily="34" charset="0"/>
              <a:cs typeface="Calibri" panose="020F0502020204030204" pitchFamily="34" charset="0"/>
            </a:endParaRPr>
          </a:p>
        </p:txBody>
      </p:sp>
      <p:pic>
        <p:nvPicPr>
          <p:cNvPr id="2050" name="Picture 2" descr="Diagram shows the electromagnetic spectrum from radio (lower frequency) to gamma rays (higher frequency) with the visible light portion highlighted and a wavy line below denoting longer to shorter wavelengths. ">
            <a:extLst>
              <a:ext uri="{FF2B5EF4-FFF2-40B4-BE49-F238E27FC236}">
                <a16:creationId xmlns:a16="http://schemas.microsoft.com/office/drawing/2014/main" id="{FE79BE9A-4F62-7C8D-0C35-E7AFA7A2D7E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04" t="9447" r="2737" b="8330"/>
          <a:stretch>
            <a:fillRect/>
          </a:stretch>
        </p:blipFill>
        <p:spPr bwMode="auto">
          <a:xfrm>
            <a:off x="1051181" y="2246244"/>
            <a:ext cx="10089637" cy="4154557"/>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0BCCAE58-BD64-E042-B398-A83C60C3C516}"/>
              </a:ext>
            </a:extLst>
          </p:cNvPr>
          <p:cNvSpPr/>
          <p:nvPr/>
        </p:nvSpPr>
        <p:spPr>
          <a:xfrm>
            <a:off x="7195930" y="2299252"/>
            <a:ext cx="1060174" cy="530087"/>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18408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2A874F-FAD3-9A23-67CD-ACEA1226604E}"/>
              </a:ext>
            </a:extLst>
          </p:cNvPr>
          <p:cNvSpPr>
            <a:spLocks noGrp="1"/>
          </p:cNvSpPr>
          <p:nvPr>
            <p:ph idx="1"/>
          </p:nvPr>
        </p:nvSpPr>
        <p:spPr>
          <a:xfrm>
            <a:off x="318052" y="1007165"/>
            <a:ext cx="11035748" cy="934279"/>
          </a:xfrm>
        </p:spPr>
        <p:txBody>
          <a:bodyPr/>
          <a:lstStyle/>
          <a:p>
            <a:pPr fontAlgn="base"/>
            <a:r>
              <a:rPr lang="en-US" dirty="0">
                <a:latin typeface="Calibri" panose="020F0502020204030204" pitchFamily="34" charset="0"/>
                <a:cs typeface="Calibri" panose="020F0502020204030204" pitchFamily="34" charset="0"/>
              </a:rPr>
              <a:t>The different densities of our body’s tissues will either </a:t>
            </a:r>
            <a:r>
              <a:rPr lang="en-US" b="1" i="1" dirty="0">
                <a:latin typeface="Calibri" panose="020F0502020204030204" pitchFamily="34" charset="0"/>
                <a:cs typeface="Calibri" panose="020F0502020204030204" pitchFamily="34" charset="0"/>
              </a:rPr>
              <a:t>absorb, reflect (scatter), or allow the x rays to pass through</a:t>
            </a:r>
            <a:r>
              <a:rPr lang="en-US" dirty="0">
                <a:latin typeface="Calibri" panose="020F0502020204030204" pitchFamily="34" charset="0"/>
                <a:cs typeface="Calibri" panose="020F0502020204030204" pitchFamily="34" charset="0"/>
              </a:rPr>
              <a:t> without change.  </a:t>
            </a:r>
          </a:p>
          <a:p>
            <a:pPr fontAlgn="base"/>
            <a:endParaRPr lang="en-US" dirty="0">
              <a:latin typeface="Calibri" panose="020F0502020204030204" pitchFamily="34" charset="0"/>
              <a:cs typeface="Calibri" panose="020F0502020204030204" pitchFamily="34" charset="0"/>
            </a:endParaRPr>
          </a:p>
          <a:p>
            <a:pPr marL="0" indent="0">
              <a:buNone/>
            </a:pPr>
            <a:endParaRPr lang="en-US" dirty="0"/>
          </a:p>
        </p:txBody>
      </p:sp>
      <p:sp>
        <p:nvSpPr>
          <p:cNvPr id="4" name="Title 1">
            <a:extLst>
              <a:ext uri="{FF2B5EF4-FFF2-40B4-BE49-F238E27FC236}">
                <a16:creationId xmlns:a16="http://schemas.microsoft.com/office/drawing/2014/main" id="{63EB6E46-876A-1FAC-67CE-9484A593FE70}"/>
              </a:ext>
            </a:extLst>
          </p:cNvPr>
          <p:cNvSpPr>
            <a:spLocks noGrp="1"/>
          </p:cNvSpPr>
          <p:nvPr>
            <p:ph type="title"/>
          </p:nvPr>
        </p:nvSpPr>
        <p:spPr>
          <a:xfrm>
            <a:off x="838200" y="-162734"/>
            <a:ext cx="10515600" cy="1325563"/>
          </a:xfrm>
        </p:spPr>
        <p:txBody>
          <a:bodyPr>
            <a:normAutofit/>
          </a:bodyPr>
          <a:lstStyle/>
          <a:p>
            <a:pPr algn="ctr"/>
            <a:r>
              <a:rPr lang="en-US" u="sng" dirty="0"/>
              <a:t>SCIENCE OF RADIOGRAPHY</a:t>
            </a:r>
          </a:p>
        </p:txBody>
      </p:sp>
      <p:pic>
        <p:nvPicPr>
          <p:cNvPr id="6" name="Picture 5">
            <a:extLst>
              <a:ext uri="{FF2B5EF4-FFF2-40B4-BE49-F238E27FC236}">
                <a16:creationId xmlns:a16="http://schemas.microsoft.com/office/drawing/2014/main" id="{839B6032-1680-4639-5EC3-DA40EDBB0A70}"/>
              </a:ext>
            </a:extLst>
          </p:cNvPr>
          <p:cNvPicPr>
            <a:picLocks noChangeAspect="1"/>
          </p:cNvPicPr>
          <p:nvPr/>
        </p:nvPicPr>
        <p:blipFill>
          <a:blip r:embed="rId3"/>
          <a:stretch>
            <a:fillRect/>
          </a:stretch>
        </p:blipFill>
        <p:spPr>
          <a:xfrm>
            <a:off x="5582484" y="2123020"/>
            <a:ext cx="6182133" cy="4316846"/>
          </a:xfrm>
          <a:prstGeom prst="rect">
            <a:avLst/>
          </a:prstGeom>
        </p:spPr>
      </p:pic>
      <p:sp>
        <p:nvSpPr>
          <p:cNvPr id="7" name="TextBox 6">
            <a:extLst>
              <a:ext uri="{FF2B5EF4-FFF2-40B4-BE49-F238E27FC236}">
                <a16:creationId xmlns:a16="http://schemas.microsoft.com/office/drawing/2014/main" id="{7B65A04A-917B-7ECE-580C-4DA8567802CE}"/>
              </a:ext>
            </a:extLst>
          </p:cNvPr>
          <p:cNvSpPr txBox="1"/>
          <p:nvPr/>
        </p:nvSpPr>
        <p:spPr>
          <a:xfrm>
            <a:off x="318052" y="2373228"/>
            <a:ext cx="4866860" cy="3816429"/>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Calibri" panose="020F0502020204030204" pitchFamily="34" charset="0"/>
                <a:cs typeface="Calibri" panose="020F0502020204030204" pitchFamily="34" charset="0"/>
              </a:rPr>
              <a:t>A digital detector (or film) on the other side of the patient, will quantify the number of x-rays that have passed through the differing body densities and produce the image that we see in a 2D grayscale image called </a:t>
            </a:r>
            <a:r>
              <a:rPr lang="en-US" sz="2800" b="1" i="1" dirty="0">
                <a:latin typeface="Calibri" panose="020F0502020204030204" pitchFamily="34" charset="0"/>
                <a:cs typeface="Calibri" panose="020F0502020204030204" pitchFamily="34" charset="0"/>
              </a:rPr>
              <a:t>radiographs</a:t>
            </a:r>
            <a:r>
              <a:rPr lang="en-US" sz="2800" dirty="0">
                <a:latin typeface="Calibri" panose="020F0502020204030204" pitchFamily="34" charset="0"/>
                <a:cs typeface="Calibri" panose="020F0502020204030204" pitchFamily="34" charset="0"/>
              </a:rPr>
              <a:t>.</a:t>
            </a:r>
          </a:p>
          <a:p>
            <a:endParaRPr lang="en-US" dirty="0"/>
          </a:p>
        </p:txBody>
      </p:sp>
    </p:spTree>
    <p:extLst>
      <p:ext uri="{BB962C8B-B14F-4D97-AF65-F5344CB8AC3E}">
        <p14:creationId xmlns:p14="http://schemas.microsoft.com/office/powerpoint/2010/main" val="5679611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CFFDC-6AF1-4098-87E2-30EC08D2CD4E}"/>
              </a:ext>
            </a:extLst>
          </p:cNvPr>
          <p:cNvSpPr>
            <a:spLocks noGrp="1"/>
          </p:cNvSpPr>
          <p:nvPr>
            <p:ph type="title"/>
          </p:nvPr>
        </p:nvSpPr>
        <p:spPr>
          <a:xfrm>
            <a:off x="874206" y="227352"/>
            <a:ext cx="3873051" cy="701239"/>
          </a:xfrm>
          <a:noFill/>
          <a:ln>
            <a:solidFill>
              <a:schemeClr val="bg1"/>
            </a:solidFill>
          </a:ln>
        </p:spPr>
        <p:txBody>
          <a:bodyPr wrap="square">
            <a:normAutofit fontScale="90000"/>
          </a:bodyPr>
          <a:lstStyle/>
          <a:p>
            <a:r>
              <a:rPr lang="en-US" u="sng" dirty="0">
                <a:solidFill>
                  <a:schemeClr val="tx1"/>
                </a:solidFill>
              </a:rPr>
              <a:t>THE RADIOGRAPH</a:t>
            </a:r>
          </a:p>
        </p:txBody>
      </p:sp>
      <p:sp>
        <p:nvSpPr>
          <p:cNvPr id="3" name="Content Placeholder 2">
            <a:extLst>
              <a:ext uri="{FF2B5EF4-FFF2-40B4-BE49-F238E27FC236}">
                <a16:creationId xmlns:a16="http://schemas.microsoft.com/office/drawing/2014/main" id="{CAAD8DF2-E817-4CAF-B827-A292AC58F416}"/>
              </a:ext>
            </a:extLst>
          </p:cNvPr>
          <p:cNvSpPr>
            <a:spLocks noGrp="1"/>
          </p:cNvSpPr>
          <p:nvPr>
            <p:ph idx="1"/>
          </p:nvPr>
        </p:nvSpPr>
        <p:spPr>
          <a:xfrm>
            <a:off x="234462" y="3961881"/>
            <a:ext cx="6570536" cy="2896119"/>
          </a:xfrm>
        </p:spPr>
        <p:txBody>
          <a:bodyPr>
            <a:normAutofit/>
          </a:bodyPr>
          <a:lstStyle/>
          <a:p>
            <a:r>
              <a:rPr lang="en-US" sz="3000" b="1" dirty="0">
                <a:latin typeface="Calibri" panose="020F0502020204030204" pitchFamily="34" charset="0"/>
                <a:cs typeface="Calibri" panose="020F0502020204030204" pitchFamily="34" charset="0"/>
              </a:rPr>
              <a:t>Air</a:t>
            </a:r>
            <a:r>
              <a:rPr lang="en-US" sz="3000" dirty="0">
                <a:solidFill>
                  <a:schemeClr val="tx1"/>
                </a:solidFill>
                <a:latin typeface="Calibri" panose="020F0502020204030204" pitchFamily="34" charset="0"/>
                <a:cs typeface="Calibri" panose="020F0502020204030204" pitchFamily="34" charset="0"/>
              </a:rPr>
              <a:t> appears </a:t>
            </a:r>
            <a:r>
              <a:rPr lang="en-US" sz="3000" u="sng" dirty="0">
                <a:solidFill>
                  <a:schemeClr val="tx1"/>
                </a:solidFill>
                <a:latin typeface="Calibri" panose="020F0502020204030204" pitchFamily="34" charset="0"/>
                <a:cs typeface="Calibri" panose="020F0502020204030204" pitchFamily="34" charset="0"/>
              </a:rPr>
              <a:t>BLACK</a:t>
            </a:r>
          </a:p>
          <a:p>
            <a:r>
              <a:rPr lang="en-US" sz="3000" b="1" dirty="0">
                <a:solidFill>
                  <a:schemeClr val="tx1"/>
                </a:solidFill>
                <a:latin typeface="Calibri" panose="020F0502020204030204" pitchFamily="34" charset="0"/>
                <a:cs typeface="Calibri" panose="020F0502020204030204" pitchFamily="34" charset="0"/>
              </a:rPr>
              <a:t>Fat</a:t>
            </a:r>
            <a:r>
              <a:rPr lang="en-US" sz="3000" dirty="0">
                <a:solidFill>
                  <a:schemeClr val="tx1"/>
                </a:solidFill>
                <a:latin typeface="Calibri" panose="020F0502020204030204" pitchFamily="34" charset="0"/>
                <a:cs typeface="Calibri" panose="020F0502020204030204" pitchFamily="34" charset="0"/>
              </a:rPr>
              <a:t> appears </a:t>
            </a:r>
            <a:r>
              <a:rPr lang="en-US" sz="3000" u="sng" dirty="0">
                <a:solidFill>
                  <a:schemeClr val="tx1"/>
                </a:solidFill>
                <a:latin typeface="Calibri" panose="020F0502020204030204" pitchFamily="34" charset="0"/>
                <a:cs typeface="Calibri" panose="020F0502020204030204" pitchFamily="34" charset="0"/>
              </a:rPr>
              <a:t>DARK GREY</a:t>
            </a:r>
          </a:p>
          <a:p>
            <a:r>
              <a:rPr lang="en-US" sz="3000" b="1" dirty="0">
                <a:solidFill>
                  <a:schemeClr val="tx1"/>
                </a:solidFill>
                <a:latin typeface="Calibri" panose="020F0502020204030204" pitchFamily="34" charset="0"/>
                <a:cs typeface="Calibri" panose="020F0502020204030204" pitchFamily="34" charset="0"/>
              </a:rPr>
              <a:t>Water</a:t>
            </a:r>
            <a:r>
              <a:rPr lang="en-US" sz="3000" dirty="0">
                <a:solidFill>
                  <a:schemeClr val="tx1"/>
                </a:solidFill>
                <a:latin typeface="Calibri" panose="020F0502020204030204" pitchFamily="34" charset="0"/>
                <a:cs typeface="Calibri" panose="020F0502020204030204" pitchFamily="34" charset="0"/>
              </a:rPr>
              <a:t> appears </a:t>
            </a:r>
            <a:r>
              <a:rPr lang="en-US" sz="3000" u="sng" dirty="0">
                <a:solidFill>
                  <a:schemeClr val="tx1"/>
                </a:solidFill>
                <a:latin typeface="Calibri" panose="020F0502020204030204" pitchFamily="34" charset="0"/>
                <a:cs typeface="Calibri" panose="020F0502020204030204" pitchFamily="34" charset="0"/>
              </a:rPr>
              <a:t>LIGHT GREY</a:t>
            </a:r>
          </a:p>
          <a:p>
            <a:r>
              <a:rPr lang="en-US" sz="3000" b="1" dirty="0">
                <a:solidFill>
                  <a:schemeClr val="tx1"/>
                </a:solidFill>
                <a:latin typeface="Calibri" panose="020F0502020204030204" pitchFamily="34" charset="0"/>
                <a:cs typeface="Calibri" panose="020F0502020204030204" pitchFamily="34" charset="0"/>
              </a:rPr>
              <a:t>Bone</a:t>
            </a:r>
            <a:r>
              <a:rPr lang="en-US" sz="3000" dirty="0">
                <a:solidFill>
                  <a:schemeClr val="tx1"/>
                </a:solidFill>
                <a:latin typeface="Calibri" panose="020F0502020204030204" pitchFamily="34" charset="0"/>
                <a:cs typeface="Calibri" panose="020F0502020204030204" pitchFamily="34" charset="0"/>
              </a:rPr>
              <a:t> appears </a:t>
            </a:r>
            <a:r>
              <a:rPr lang="en-US" sz="3000" u="sng" dirty="0">
                <a:solidFill>
                  <a:schemeClr val="tx1"/>
                </a:solidFill>
                <a:latin typeface="Calibri" panose="020F0502020204030204" pitchFamily="34" charset="0"/>
                <a:cs typeface="Calibri" panose="020F0502020204030204" pitchFamily="34" charset="0"/>
              </a:rPr>
              <a:t>WHITE</a:t>
            </a:r>
          </a:p>
          <a:p>
            <a:r>
              <a:rPr lang="en-US" sz="3000" b="1" dirty="0">
                <a:latin typeface="Calibri" panose="020F0502020204030204" pitchFamily="34" charset="0"/>
                <a:cs typeface="Calibri" panose="020F0502020204030204" pitchFamily="34" charset="0"/>
              </a:rPr>
              <a:t>Metal/contrast </a:t>
            </a:r>
            <a:r>
              <a:rPr lang="en-US" sz="3000" dirty="0">
                <a:latin typeface="Calibri" panose="020F0502020204030204" pitchFamily="34" charset="0"/>
                <a:cs typeface="Calibri" panose="020F0502020204030204" pitchFamily="34" charset="0"/>
              </a:rPr>
              <a:t>appears </a:t>
            </a:r>
            <a:r>
              <a:rPr lang="en-US" sz="3000" u="sng" dirty="0">
                <a:latin typeface="Calibri" panose="020F0502020204030204" pitchFamily="34" charset="0"/>
                <a:cs typeface="Calibri" panose="020F0502020204030204" pitchFamily="34" charset="0"/>
              </a:rPr>
              <a:t>BRIGHT WHITE</a:t>
            </a:r>
            <a:endParaRPr lang="en-US" sz="3000" u="sng" dirty="0">
              <a:solidFill>
                <a:schemeClr val="tx1"/>
              </a:solidFill>
              <a:latin typeface="Calibri" panose="020F0502020204030204" pitchFamily="34" charset="0"/>
              <a:cs typeface="Calibri" panose="020F0502020204030204" pitchFamily="34" charset="0"/>
            </a:endParaRPr>
          </a:p>
          <a:p>
            <a:pPr lvl="1">
              <a:lnSpc>
                <a:spcPct val="90000"/>
              </a:lnSpc>
            </a:pPr>
            <a:endParaRPr lang="en-US" sz="2600" dirty="0">
              <a:solidFill>
                <a:schemeClr val="bg1"/>
              </a:solidFill>
              <a:latin typeface="Calibri" panose="020F0502020204030204" pitchFamily="34" charset="0"/>
              <a:cs typeface="Calibri" panose="020F0502020204030204" pitchFamily="34" charset="0"/>
            </a:endParaRPr>
          </a:p>
          <a:p>
            <a:pPr marL="0" indent="0">
              <a:lnSpc>
                <a:spcPct val="90000"/>
              </a:lnSpc>
              <a:buNone/>
            </a:pPr>
            <a:endParaRPr lang="en-US" sz="2600" dirty="0">
              <a:solidFill>
                <a:schemeClr val="bg1"/>
              </a:solidFill>
              <a:latin typeface="Calibri" panose="020F0502020204030204" pitchFamily="34" charset="0"/>
              <a:cs typeface="Calibri" panose="020F0502020204030204" pitchFamily="34" charset="0"/>
            </a:endParaRPr>
          </a:p>
          <a:p>
            <a:pPr>
              <a:lnSpc>
                <a:spcPct val="90000"/>
              </a:lnSpc>
            </a:pPr>
            <a:endParaRPr lang="en-US" sz="1400" dirty="0">
              <a:solidFill>
                <a:schemeClr val="bg1"/>
              </a:solidFill>
            </a:endParaRPr>
          </a:p>
          <a:p>
            <a:pPr>
              <a:lnSpc>
                <a:spcPct val="90000"/>
              </a:lnSpc>
            </a:pPr>
            <a:endParaRPr lang="en-US" sz="1400" dirty="0">
              <a:solidFill>
                <a:schemeClr val="bg1"/>
              </a:solidFill>
            </a:endParaRPr>
          </a:p>
          <a:p>
            <a:pPr>
              <a:lnSpc>
                <a:spcPct val="90000"/>
              </a:lnSpc>
            </a:pPr>
            <a:endParaRPr lang="en-US" sz="1400" dirty="0">
              <a:solidFill>
                <a:schemeClr val="bg1"/>
              </a:solidFill>
            </a:endParaRPr>
          </a:p>
          <a:p>
            <a:pPr>
              <a:lnSpc>
                <a:spcPct val="90000"/>
              </a:lnSpc>
            </a:pPr>
            <a:endParaRPr lang="en-US" sz="1400" dirty="0">
              <a:solidFill>
                <a:schemeClr val="bg1"/>
              </a:solidFill>
            </a:endParaRPr>
          </a:p>
        </p:txBody>
      </p:sp>
      <p:pic>
        <p:nvPicPr>
          <p:cNvPr id="3074" name="Picture 2" descr="The Radiology Assistant : Basic Interpretation">
            <a:extLst>
              <a:ext uri="{FF2B5EF4-FFF2-40B4-BE49-F238E27FC236}">
                <a16:creationId xmlns:a16="http://schemas.microsoft.com/office/drawing/2014/main" id="{395F7F93-753F-EE4E-BE58-7FC1BEC1DC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5015" y="661078"/>
            <a:ext cx="6295292" cy="528995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9D58A27-AF5B-026D-D177-E30D9D5C256D}"/>
              </a:ext>
            </a:extLst>
          </p:cNvPr>
          <p:cNvSpPr txBox="1"/>
          <p:nvPr/>
        </p:nvSpPr>
        <p:spPr>
          <a:xfrm>
            <a:off x="35170" y="1012473"/>
            <a:ext cx="5615353" cy="2917722"/>
          </a:xfrm>
          <a:prstGeom prst="rect">
            <a:avLst/>
          </a:prstGeom>
          <a:noFill/>
        </p:spPr>
        <p:txBody>
          <a:bodyPr wrap="square" rtlCol="0">
            <a:spAutoFit/>
          </a:bodyPr>
          <a:lstStyle/>
          <a:p>
            <a:pPr marL="457200" indent="-457200">
              <a:lnSpc>
                <a:spcPct val="9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The number of x-rays that pass through depends on the </a:t>
            </a:r>
            <a:r>
              <a:rPr lang="en-US" sz="2800" b="1" i="1" dirty="0">
                <a:latin typeface="Calibri" panose="020F0502020204030204" pitchFamily="34" charset="0"/>
                <a:cs typeface="Calibri" panose="020F0502020204030204" pitchFamily="34" charset="0"/>
              </a:rPr>
              <a:t>density of the tissue </a:t>
            </a:r>
            <a:r>
              <a:rPr lang="en-US" sz="2800" i="1" dirty="0">
                <a:latin typeface="Calibri" panose="020F0502020204030204" pitchFamily="34" charset="0"/>
                <a:cs typeface="Calibri" panose="020F0502020204030204" pitchFamily="34" charset="0"/>
              </a:rPr>
              <a:t>(</a:t>
            </a:r>
            <a:r>
              <a:rPr lang="en-US" sz="2800" dirty="0">
                <a:latin typeface="Calibri" panose="020F0502020204030204" pitchFamily="34" charset="0"/>
                <a:cs typeface="Calibri" panose="020F0502020204030204" pitchFamily="34" charset="0"/>
              </a:rPr>
              <a:t>relative to water)</a:t>
            </a:r>
          </a:p>
          <a:p>
            <a:pPr marL="914400" lvl="1" indent="-457200">
              <a:lnSpc>
                <a:spcPct val="9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The more x rays that pass through, the darker the image</a:t>
            </a:r>
          </a:p>
          <a:p>
            <a:pPr marL="914400" lvl="1" indent="-457200">
              <a:lnSpc>
                <a:spcPct val="9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If fewer</a:t>
            </a:r>
            <a:r>
              <a:rPr lang="en-US" sz="2600" dirty="0">
                <a:latin typeface="Calibri" panose="020F0502020204030204" pitchFamily="34" charset="0"/>
                <a:cs typeface="Calibri" panose="020F0502020204030204" pitchFamily="34" charset="0"/>
              </a:rPr>
              <a:t> x rays that pass through, the lighter the image</a:t>
            </a:r>
          </a:p>
          <a:p>
            <a:endParaRPr lang="en-US" dirty="0"/>
          </a:p>
        </p:txBody>
      </p:sp>
    </p:spTree>
    <p:extLst>
      <p:ext uri="{BB962C8B-B14F-4D97-AF65-F5344CB8AC3E}">
        <p14:creationId xmlns:p14="http://schemas.microsoft.com/office/powerpoint/2010/main" val="4617185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2FDB7-601C-F560-A3AD-AFC187308F79}"/>
              </a:ext>
            </a:extLst>
          </p:cNvPr>
          <p:cNvSpPr>
            <a:spLocks noGrp="1"/>
          </p:cNvSpPr>
          <p:nvPr>
            <p:ph type="title"/>
          </p:nvPr>
        </p:nvSpPr>
        <p:spPr>
          <a:xfrm>
            <a:off x="838200" y="0"/>
            <a:ext cx="10515600" cy="1325563"/>
          </a:xfrm>
        </p:spPr>
        <p:txBody>
          <a:bodyPr/>
          <a:lstStyle/>
          <a:p>
            <a:pPr algn="ctr"/>
            <a:r>
              <a:rPr lang="en-US" u="sng" dirty="0"/>
              <a:t>TISSUE DENSITY &amp; XRAY APPEARANCE</a:t>
            </a:r>
          </a:p>
        </p:txBody>
      </p:sp>
      <p:graphicFrame>
        <p:nvGraphicFramePr>
          <p:cNvPr id="4" name="Table 3">
            <a:extLst>
              <a:ext uri="{FF2B5EF4-FFF2-40B4-BE49-F238E27FC236}">
                <a16:creationId xmlns:a16="http://schemas.microsoft.com/office/drawing/2014/main" id="{7A1C92DD-5664-915C-F931-0F1DB7795B39}"/>
              </a:ext>
            </a:extLst>
          </p:cNvPr>
          <p:cNvGraphicFramePr>
            <a:graphicFrameLocks noGrp="1"/>
          </p:cNvGraphicFramePr>
          <p:nvPr>
            <p:extLst>
              <p:ext uri="{D42A27DB-BD31-4B8C-83A1-F6EECF244321}">
                <p14:modId xmlns:p14="http://schemas.microsoft.com/office/powerpoint/2010/main" val="1733429731"/>
              </p:ext>
            </p:extLst>
          </p:nvPr>
        </p:nvGraphicFramePr>
        <p:xfrm>
          <a:off x="1135672" y="1325563"/>
          <a:ext cx="10218128" cy="4971732"/>
        </p:xfrm>
        <a:graphic>
          <a:graphicData uri="http://schemas.openxmlformats.org/drawingml/2006/table">
            <a:tbl>
              <a:tblPr firstRow="1" bandRow="1"/>
              <a:tblGrid>
                <a:gridCol w="1666000">
                  <a:extLst>
                    <a:ext uri="{9D8B030D-6E8A-4147-A177-3AD203B41FA5}">
                      <a16:colId xmlns:a16="http://schemas.microsoft.com/office/drawing/2014/main" val="20000"/>
                    </a:ext>
                  </a:extLst>
                </a:gridCol>
                <a:gridCol w="2221332">
                  <a:extLst>
                    <a:ext uri="{9D8B030D-6E8A-4147-A177-3AD203B41FA5}">
                      <a16:colId xmlns:a16="http://schemas.microsoft.com/office/drawing/2014/main" val="20001"/>
                    </a:ext>
                  </a:extLst>
                </a:gridCol>
                <a:gridCol w="2221332">
                  <a:extLst>
                    <a:ext uri="{9D8B030D-6E8A-4147-A177-3AD203B41FA5}">
                      <a16:colId xmlns:a16="http://schemas.microsoft.com/office/drawing/2014/main" val="20002"/>
                    </a:ext>
                  </a:extLst>
                </a:gridCol>
                <a:gridCol w="1888132">
                  <a:extLst>
                    <a:ext uri="{9D8B030D-6E8A-4147-A177-3AD203B41FA5}">
                      <a16:colId xmlns:a16="http://schemas.microsoft.com/office/drawing/2014/main" val="20003"/>
                    </a:ext>
                  </a:extLst>
                </a:gridCol>
                <a:gridCol w="2221332">
                  <a:extLst>
                    <a:ext uri="{9D8B030D-6E8A-4147-A177-3AD203B41FA5}">
                      <a16:colId xmlns:a16="http://schemas.microsoft.com/office/drawing/2014/main" val="20004"/>
                    </a:ext>
                  </a:extLst>
                </a:gridCol>
              </a:tblGrid>
              <a:tr h="86682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sz="1600" b="1"/>
                      </a:pPr>
                      <a:r>
                        <a:rPr sz="2000"/>
                        <a:t>Tissue Type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sz="1600" b="1"/>
                      </a:pPr>
                      <a:r>
                        <a:rPr sz="2000"/>
                        <a:t>Density Relative to Water</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sz="1600" b="1"/>
                      </a:pPr>
                      <a:r>
                        <a:rPr sz="2000" dirty="0"/>
                        <a:t>X-ray Attenuation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sz="1600" b="1"/>
                      </a:pPr>
                      <a:r>
                        <a:rPr sz="2000"/>
                        <a:t>Appearance on X-ray/CT</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sz="1600" b="1"/>
                      </a:pPr>
                      <a:r>
                        <a:rPr sz="2000" dirty="0"/>
                        <a:t>Example</a:t>
                      </a:r>
                      <a:r>
                        <a:rPr lang="en-US" sz="2000" dirty="0"/>
                        <a:t>s</a:t>
                      </a:r>
                      <a:endParaRPr sz="20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79154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Air</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Least dense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Minimal attenuation</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Black</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Lungs, bowel gas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79154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Fat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Less dense than water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dirty="0"/>
                        <a:t>Low attenuation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Dark gray</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Subcutaneous tissue, mesentery</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79154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Water / Soft Tissue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Reference point (CT = 0 HU)</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Moderate attenuation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lang="en-US" sz="2000" dirty="0"/>
                        <a:t>Light </a:t>
                      </a:r>
                      <a:r>
                        <a:rPr sz="2000" dirty="0"/>
                        <a:t>Gray</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Muscles, organs, blood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59457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Bone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Very dense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High attenuation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White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Ribs, skull, spine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113569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Metal / Contrast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a:t>Extremely dense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dirty="0"/>
                        <a:t>Max attenuation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dirty="0"/>
                        <a:t>Bright white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400"/>
                      </a:pPr>
                      <a:r>
                        <a:rPr sz="2000" dirty="0"/>
                        <a:t>Prosthetics, calcifications, iodinated contrast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6275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12661B7-9173-45D9-8817-F3D44DE7A99C}"/>
              </a:ext>
            </a:extLst>
          </p:cNvPr>
          <p:cNvSpPr>
            <a:spLocks noGrp="1"/>
          </p:cNvSpPr>
          <p:nvPr>
            <p:ph idx="1"/>
          </p:nvPr>
        </p:nvSpPr>
        <p:spPr>
          <a:xfrm>
            <a:off x="960121" y="964692"/>
            <a:ext cx="3707652" cy="4775335"/>
          </a:xfrm>
        </p:spPr>
        <p:txBody>
          <a:bodyPr>
            <a:normAutofit/>
          </a:bodyPr>
          <a:lstStyle/>
          <a:p>
            <a:endParaRPr lang="en-US" dirty="0"/>
          </a:p>
          <a:p>
            <a:endParaRPr lang="en-US" dirty="0"/>
          </a:p>
          <a:p>
            <a:endParaRPr lang="en-US" dirty="0"/>
          </a:p>
        </p:txBody>
      </p:sp>
      <p:pic>
        <p:nvPicPr>
          <p:cNvPr id="19460" name="Picture 4" descr="This film is over-penetrated, made evident by the fact that the ribs can not be fully visualized (source) ">
            <a:extLst>
              <a:ext uri="{FF2B5EF4-FFF2-40B4-BE49-F238E27FC236}">
                <a16:creationId xmlns:a16="http://schemas.microsoft.com/office/drawing/2014/main" id="{1FCD002F-C223-A64D-868A-2474DE97770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72578" y="1771933"/>
            <a:ext cx="3705818" cy="4197585"/>
          </a:xfrm>
          <a:prstGeom prst="rect">
            <a:avLst/>
          </a:prstGeom>
          <a:noFill/>
          <a:ln w="31750" cap="sq">
            <a:solidFill>
              <a:srgbClr val="FFFFFF"/>
            </a:solidFill>
            <a:miter lim="800000"/>
          </a:ln>
          <a:extLst>
            <a:ext uri="{909E8E84-426E-40DD-AFC4-6F175D3DCCD1}">
              <a14:hiddenFill xmlns:a14="http://schemas.microsoft.com/office/drawing/2010/main">
                <a:solidFill>
                  <a:srgbClr val="FFFFFF"/>
                </a:solidFill>
              </a14:hiddenFill>
            </a:ext>
          </a:extLst>
        </p:spPr>
      </p:pic>
      <p:pic>
        <p:nvPicPr>
          <p:cNvPr id="19458" name="Picture 2" descr="This image shows a clearly underpenetrated chest X-ray. It is very difficult to interpret such a film (source) ">
            <a:extLst>
              <a:ext uri="{FF2B5EF4-FFF2-40B4-BE49-F238E27FC236}">
                <a16:creationId xmlns:a16="http://schemas.microsoft.com/office/drawing/2014/main" id="{0002A2BA-6079-6F4C-8D1E-C87A8F7B4227}"/>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440838" y="2448095"/>
            <a:ext cx="4558805" cy="3218438"/>
          </a:xfrm>
          <a:prstGeom prst="rect">
            <a:avLst/>
          </a:prstGeom>
          <a:noFill/>
          <a:ln w="31750" cap="sq">
            <a:solidFill>
              <a:srgbClr val="FFFFFF"/>
            </a:solidFill>
            <a:miter lim="800000"/>
          </a:ln>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3EE9ED6-2D7E-4491-9AAE-0109DDA537E2}"/>
              </a:ext>
            </a:extLst>
          </p:cNvPr>
          <p:cNvSpPr/>
          <p:nvPr/>
        </p:nvSpPr>
        <p:spPr>
          <a:xfrm>
            <a:off x="278606" y="464344"/>
            <a:ext cx="5650707" cy="1077218"/>
          </a:xfrm>
          <a:prstGeom prst="rect">
            <a:avLst/>
          </a:prstGeom>
        </p:spPr>
        <p:txBody>
          <a:bodyPr wrap="square">
            <a:spAutoFit/>
          </a:bodyPr>
          <a:lstStyle/>
          <a:p>
            <a:pPr>
              <a:spcAft>
                <a:spcPts val="600"/>
              </a:spcAft>
            </a:pPr>
            <a:endParaRPr lang="en-US"/>
          </a:p>
          <a:p>
            <a:pPr>
              <a:spcAft>
                <a:spcPts val="600"/>
              </a:spcAft>
            </a:pPr>
            <a:endParaRPr lang="en-US"/>
          </a:p>
          <a:p>
            <a:pPr>
              <a:spcAft>
                <a:spcPts val="600"/>
              </a:spcAft>
            </a:pPr>
            <a:endParaRPr lang="en-US"/>
          </a:p>
        </p:txBody>
      </p:sp>
      <p:sp>
        <p:nvSpPr>
          <p:cNvPr id="3" name="TextBox 2">
            <a:extLst>
              <a:ext uri="{FF2B5EF4-FFF2-40B4-BE49-F238E27FC236}">
                <a16:creationId xmlns:a16="http://schemas.microsoft.com/office/drawing/2014/main" id="{FBF00769-59CA-5547-8A00-A27CF88CCBDF}"/>
              </a:ext>
            </a:extLst>
          </p:cNvPr>
          <p:cNvSpPr txBox="1"/>
          <p:nvPr/>
        </p:nvSpPr>
        <p:spPr>
          <a:xfrm>
            <a:off x="7388721" y="5666533"/>
            <a:ext cx="3014223" cy="461665"/>
          </a:xfrm>
          <a:prstGeom prst="rect">
            <a:avLst/>
          </a:prstGeom>
          <a:noFill/>
        </p:spPr>
        <p:txBody>
          <a:bodyPr wrap="none" rtlCol="0">
            <a:spAutoFit/>
          </a:bodyPr>
          <a:lstStyle/>
          <a:p>
            <a:r>
              <a:rPr lang="en-US" sz="2400" dirty="0"/>
              <a:t>Under-penetrated CXR</a:t>
            </a:r>
          </a:p>
        </p:txBody>
      </p:sp>
      <p:sp>
        <p:nvSpPr>
          <p:cNvPr id="7" name="TextBox 6">
            <a:extLst>
              <a:ext uri="{FF2B5EF4-FFF2-40B4-BE49-F238E27FC236}">
                <a16:creationId xmlns:a16="http://schemas.microsoft.com/office/drawing/2014/main" id="{BAA29519-03C8-FF46-B47B-BE0861B4DBCB}"/>
              </a:ext>
            </a:extLst>
          </p:cNvPr>
          <p:cNvSpPr txBox="1"/>
          <p:nvPr/>
        </p:nvSpPr>
        <p:spPr>
          <a:xfrm>
            <a:off x="1609685" y="5969518"/>
            <a:ext cx="2833276" cy="461665"/>
          </a:xfrm>
          <a:prstGeom prst="rect">
            <a:avLst/>
          </a:prstGeom>
          <a:noFill/>
        </p:spPr>
        <p:txBody>
          <a:bodyPr wrap="none" rtlCol="0">
            <a:spAutoFit/>
          </a:bodyPr>
          <a:lstStyle/>
          <a:p>
            <a:r>
              <a:rPr lang="en-US" sz="2400" dirty="0"/>
              <a:t>Over-penetrated CXR</a:t>
            </a:r>
          </a:p>
        </p:txBody>
      </p:sp>
      <p:sp>
        <p:nvSpPr>
          <p:cNvPr id="8" name="TextBox 7">
            <a:extLst>
              <a:ext uri="{FF2B5EF4-FFF2-40B4-BE49-F238E27FC236}">
                <a16:creationId xmlns:a16="http://schemas.microsoft.com/office/drawing/2014/main" id="{BF2D2947-D1FA-3844-9C09-B4BDAD3AA236}"/>
              </a:ext>
            </a:extLst>
          </p:cNvPr>
          <p:cNvSpPr txBox="1"/>
          <p:nvPr/>
        </p:nvSpPr>
        <p:spPr>
          <a:xfrm>
            <a:off x="4936264" y="233973"/>
            <a:ext cx="7000377" cy="1938992"/>
          </a:xfrm>
          <a:prstGeom prst="rect">
            <a:avLst/>
          </a:prstGeom>
          <a:noFill/>
        </p:spPr>
        <p:txBody>
          <a:bodyPr wrap="square" rtlCol="0">
            <a:spAutoFit/>
          </a:bodyPr>
          <a:lstStyle/>
          <a:p>
            <a:pPr marL="457200" indent="-457200">
              <a:buFont typeface="Arial" panose="020B0604020202020204" pitchFamily="34" charset="0"/>
              <a:buChar char="•"/>
            </a:pPr>
            <a:r>
              <a:rPr lang="en-US" sz="3000" dirty="0">
                <a:latin typeface="Calibri" panose="020F0502020204030204" pitchFamily="34" charset="0"/>
                <a:cs typeface="Calibri" panose="020F0502020204030204" pitchFamily="34" charset="0"/>
              </a:rPr>
              <a:t>The</a:t>
            </a:r>
            <a:r>
              <a:rPr lang="en-US" sz="3000" i="1" dirty="0">
                <a:latin typeface="Calibri" panose="020F0502020204030204" pitchFamily="34" charset="0"/>
                <a:cs typeface="Calibri" panose="020F0502020204030204" pitchFamily="34" charset="0"/>
              </a:rPr>
              <a:t> </a:t>
            </a:r>
            <a:r>
              <a:rPr lang="en-US" sz="3000" b="1" u="sng" dirty="0">
                <a:latin typeface="Calibri" panose="020F0502020204030204" pitchFamily="34" charset="0"/>
                <a:cs typeface="Calibri" panose="020F0502020204030204" pitchFamily="34" charset="0"/>
              </a:rPr>
              <a:t>penetration</a:t>
            </a:r>
            <a:r>
              <a:rPr lang="en-US" sz="3000" i="1" dirty="0">
                <a:latin typeface="Calibri" panose="020F0502020204030204" pitchFamily="34" charset="0"/>
                <a:cs typeface="Calibri" panose="020F0502020204030204" pitchFamily="34" charset="0"/>
              </a:rPr>
              <a:t> </a:t>
            </a:r>
            <a:r>
              <a:rPr lang="en-US" sz="3000" dirty="0">
                <a:latin typeface="Calibri" panose="020F0502020204030204" pitchFamily="34" charset="0"/>
                <a:cs typeface="Calibri" panose="020F0502020204030204" pitchFamily="34" charset="0"/>
              </a:rPr>
              <a:t>of the film refers to how well the X-rays have passed through the patient and been detected by the image detector. </a:t>
            </a:r>
            <a:endParaRPr lang="en-US" sz="3000" b="1" dirty="0"/>
          </a:p>
        </p:txBody>
      </p:sp>
      <p:sp>
        <p:nvSpPr>
          <p:cNvPr id="10" name="Title 9">
            <a:extLst>
              <a:ext uri="{FF2B5EF4-FFF2-40B4-BE49-F238E27FC236}">
                <a16:creationId xmlns:a16="http://schemas.microsoft.com/office/drawing/2014/main" id="{A18FB305-2DE1-2D0D-3A57-A5A4052E320E}"/>
              </a:ext>
            </a:extLst>
          </p:cNvPr>
          <p:cNvSpPr>
            <a:spLocks noGrp="1"/>
          </p:cNvSpPr>
          <p:nvPr>
            <p:ph type="title"/>
          </p:nvPr>
        </p:nvSpPr>
        <p:spPr>
          <a:xfrm>
            <a:off x="278606" y="62969"/>
            <a:ext cx="5144248" cy="901722"/>
          </a:xfrm>
        </p:spPr>
        <p:txBody>
          <a:bodyPr/>
          <a:lstStyle/>
          <a:p>
            <a:r>
              <a:rPr lang="en-US" u="sng" dirty="0"/>
              <a:t>XRAY Penetration</a:t>
            </a:r>
          </a:p>
        </p:txBody>
      </p:sp>
    </p:spTree>
    <p:extLst>
      <p:ext uri="{BB962C8B-B14F-4D97-AF65-F5344CB8AC3E}">
        <p14:creationId xmlns:p14="http://schemas.microsoft.com/office/powerpoint/2010/main" val="19592780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3EE9ED6-2D7E-4491-9AAE-0109DDA537E2}"/>
              </a:ext>
            </a:extLst>
          </p:cNvPr>
          <p:cNvSpPr/>
          <p:nvPr/>
        </p:nvSpPr>
        <p:spPr>
          <a:xfrm>
            <a:off x="278606" y="464344"/>
            <a:ext cx="5650707" cy="923330"/>
          </a:xfrm>
          <a:prstGeom prst="rect">
            <a:avLst/>
          </a:prstGeom>
        </p:spPr>
        <p:txBody>
          <a:bodyPr wrap="square">
            <a:spAutoFit/>
          </a:bodyPr>
          <a:lstStyle/>
          <a:p>
            <a:endParaRPr lang="en-US" dirty="0"/>
          </a:p>
          <a:p>
            <a:endParaRPr lang="en-US" dirty="0"/>
          </a:p>
          <a:p>
            <a:endParaRPr lang="en-US" dirty="0"/>
          </a:p>
        </p:txBody>
      </p:sp>
      <p:sp>
        <p:nvSpPr>
          <p:cNvPr id="5" name="Title 4">
            <a:extLst>
              <a:ext uri="{FF2B5EF4-FFF2-40B4-BE49-F238E27FC236}">
                <a16:creationId xmlns:a16="http://schemas.microsoft.com/office/drawing/2014/main" id="{14A85A41-BDDD-4A21-872E-1C6B217350A6}"/>
              </a:ext>
            </a:extLst>
          </p:cNvPr>
          <p:cNvSpPr>
            <a:spLocks noGrp="1"/>
          </p:cNvSpPr>
          <p:nvPr>
            <p:ph type="title"/>
          </p:nvPr>
        </p:nvSpPr>
        <p:spPr>
          <a:xfrm>
            <a:off x="424574" y="82433"/>
            <a:ext cx="5358770" cy="763821"/>
          </a:xfrm>
        </p:spPr>
        <p:txBody>
          <a:bodyPr/>
          <a:lstStyle/>
          <a:p>
            <a:pPr algn="ctr"/>
            <a:r>
              <a:rPr lang="en-US" u="sng" dirty="0"/>
              <a:t>PROJECTIONS</a:t>
            </a:r>
          </a:p>
        </p:txBody>
      </p:sp>
      <p:sp>
        <p:nvSpPr>
          <p:cNvPr id="6" name="Content Placeholder 5">
            <a:extLst>
              <a:ext uri="{FF2B5EF4-FFF2-40B4-BE49-F238E27FC236}">
                <a16:creationId xmlns:a16="http://schemas.microsoft.com/office/drawing/2014/main" id="{512661B7-9173-45D9-8817-F3D44DE7A99C}"/>
              </a:ext>
            </a:extLst>
          </p:cNvPr>
          <p:cNvSpPr>
            <a:spLocks noGrp="1"/>
          </p:cNvSpPr>
          <p:nvPr>
            <p:ph idx="1"/>
          </p:nvPr>
        </p:nvSpPr>
        <p:spPr>
          <a:xfrm>
            <a:off x="124256" y="1109972"/>
            <a:ext cx="6435294" cy="5771322"/>
          </a:xfrm>
        </p:spPr>
        <p:txBody>
          <a:bodyPr>
            <a:normAutofit fontScale="77500" lnSpcReduction="20000"/>
          </a:bodyPr>
          <a:lstStyle/>
          <a:p>
            <a:pPr>
              <a:lnSpc>
                <a:spcPct val="120000"/>
              </a:lnSpc>
            </a:pPr>
            <a:r>
              <a:rPr lang="en-US" sz="3900" dirty="0">
                <a:latin typeface="Calibri" panose="020F0502020204030204" pitchFamily="34" charset="0"/>
                <a:cs typeface="Calibri" panose="020F0502020204030204" pitchFamily="34" charset="0"/>
              </a:rPr>
              <a:t>The “</a:t>
            </a:r>
            <a:r>
              <a:rPr lang="en-US" sz="3900" b="1" dirty="0">
                <a:latin typeface="Calibri" panose="020F0502020204030204" pitchFamily="34" charset="0"/>
                <a:cs typeface="Calibri" panose="020F0502020204030204" pitchFamily="34" charset="0"/>
              </a:rPr>
              <a:t>projection</a:t>
            </a:r>
            <a:r>
              <a:rPr lang="en-US" sz="3900" dirty="0">
                <a:latin typeface="Calibri" panose="020F0502020204030204" pitchFamily="34" charset="0"/>
                <a:cs typeface="Calibri" panose="020F0502020204030204" pitchFamily="34" charset="0"/>
              </a:rPr>
              <a:t>” refers to the path the beam takes through the body</a:t>
            </a:r>
          </a:p>
          <a:p>
            <a:pPr>
              <a:lnSpc>
                <a:spcPct val="120000"/>
              </a:lnSpc>
            </a:pPr>
            <a:r>
              <a:rPr lang="en-US" sz="3900" dirty="0">
                <a:latin typeface="Calibri" panose="020F0502020204030204" pitchFamily="34" charset="0"/>
                <a:cs typeface="Calibri" panose="020F0502020204030204" pitchFamily="34" charset="0"/>
              </a:rPr>
              <a:t>Because radiographs are flat 2D images, </a:t>
            </a:r>
            <a:r>
              <a:rPr lang="en-US" sz="3900" b="1" i="1" dirty="0">
                <a:latin typeface="Calibri" panose="020F0502020204030204" pitchFamily="34" charset="0"/>
                <a:cs typeface="Calibri" panose="020F0502020204030204" pitchFamily="34" charset="0"/>
              </a:rPr>
              <a:t>multiple projections are taken</a:t>
            </a:r>
            <a:r>
              <a:rPr lang="en-US" sz="3900" dirty="0">
                <a:latin typeface="Calibri" panose="020F0502020204030204" pitchFamily="34" charset="0"/>
                <a:cs typeface="Calibri" panose="020F0502020204030204" pitchFamily="34" charset="0"/>
              </a:rPr>
              <a:t> to see several angles of the area of interest.  </a:t>
            </a:r>
            <a:endParaRPr lang="en-US" sz="3500" dirty="0">
              <a:latin typeface="Calibri" panose="020F0502020204030204" pitchFamily="34" charset="0"/>
              <a:cs typeface="Calibri" panose="020F0502020204030204" pitchFamily="34" charset="0"/>
            </a:endParaRPr>
          </a:p>
          <a:p>
            <a:pPr>
              <a:lnSpc>
                <a:spcPct val="120000"/>
              </a:lnSpc>
            </a:pPr>
            <a:r>
              <a:rPr lang="en-US" sz="3900" dirty="0">
                <a:latin typeface="Calibri" panose="020F0502020204030204" pitchFamily="34" charset="0"/>
                <a:cs typeface="Calibri" panose="020F0502020204030204" pitchFamily="34" charset="0"/>
              </a:rPr>
              <a:t>You will see orders written 2 view, 3 view, etc.  </a:t>
            </a:r>
            <a:r>
              <a:rPr lang="en-US" sz="3600" dirty="0">
                <a:latin typeface="Calibri" panose="020F0502020204030204" pitchFamily="34" charset="0"/>
                <a:cs typeface="Calibri" panose="020F0502020204030204" pitchFamily="34" charset="0"/>
              </a:rPr>
              <a:t>This refers to different projections: </a:t>
            </a:r>
            <a:r>
              <a:rPr lang="en-US" sz="3600" u="sng" dirty="0">
                <a:latin typeface="Calibri" panose="020F0502020204030204" pitchFamily="34" charset="0"/>
                <a:cs typeface="Calibri" panose="020F0502020204030204" pitchFamily="34" charset="0"/>
              </a:rPr>
              <a:t>anteroposterior (AP), posteroanterior (PA), lateral or oblique</a:t>
            </a:r>
            <a:r>
              <a:rPr lang="en-US" sz="3600" dirty="0">
                <a:latin typeface="Calibri" panose="020F0502020204030204" pitchFamily="34" charset="0"/>
                <a:cs typeface="Calibri" panose="020F0502020204030204" pitchFamily="34" charset="0"/>
              </a:rPr>
              <a:t>.</a:t>
            </a:r>
          </a:p>
          <a:p>
            <a:endParaRPr lang="en-US" dirty="0"/>
          </a:p>
        </p:txBody>
      </p:sp>
      <p:pic>
        <p:nvPicPr>
          <p:cNvPr id="3079" name="Picture 7" descr="Image result for 3 view foot xray">
            <a:extLst>
              <a:ext uri="{FF2B5EF4-FFF2-40B4-BE49-F238E27FC236}">
                <a16:creationId xmlns:a16="http://schemas.microsoft.com/office/drawing/2014/main" id="{594EF84E-B150-4718-9415-9F3DDFB4F6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573" b="5783"/>
          <a:stretch/>
        </p:blipFill>
        <p:spPr bwMode="auto">
          <a:xfrm>
            <a:off x="6754761" y="3106371"/>
            <a:ext cx="5203394" cy="3669196"/>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CF8EAB5F-5D83-BAEA-05E2-7217351ED08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34" t="24073" r="1957" b="23440"/>
          <a:stretch>
            <a:fillRect/>
          </a:stretch>
        </p:blipFill>
        <p:spPr bwMode="auto">
          <a:xfrm>
            <a:off x="6645173" y="82433"/>
            <a:ext cx="5422571" cy="2949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49262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3C7CB98-43DB-F845-A9C0-801FF859913A}"/>
              </a:ext>
            </a:extLst>
          </p:cNvPr>
          <p:cNvPicPr>
            <a:picLocks noChangeAspect="1"/>
          </p:cNvPicPr>
          <p:nvPr/>
        </p:nvPicPr>
        <p:blipFill rotWithShape="1">
          <a:blip r:embed="rId3"/>
          <a:srcRect b="54388"/>
          <a:stretch/>
        </p:blipFill>
        <p:spPr>
          <a:xfrm>
            <a:off x="2064343" y="1097135"/>
            <a:ext cx="7966090" cy="4015232"/>
          </a:xfrm>
          <a:prstGeom prst="rect">
            <a:avLst/>
          </a:prstGeom>
        </p:spPr>
      </p:pic>
      <p:sp>
        <p:nvSpPr>
          <p:cNvPr id="2" name="TextBox 1">
            <a:extLst>
              <a:ext uri="{FF2B5EF4-FFF2-40B4-BE49-F238E27FC236}">
                <a16:creationId xmlns:a16="http://schemas.microsoft.com/office/drawing/2014/main" id="{2460BDB3-1540-EDE6-3DAE-55CA3B2B55CF}"/>
              </a:ext>
            </a:extLst>
          </p:cNvPr>
          <p:cNvSpPr txBox="1"/>
          <p:nvPr/>
        </p:nvSpPr>
        <p:spPr>
          <a:xfrm>
            <a:off x="3215727" y="1301923"/>
            <a:ext cx="1891223" cy="461665"/>
          </a:xfrm>
          <a:prstGeom prst="rect">
            <a:avLst/>
          </a:prstGeom>
          <a:noFill/>
        </p:spPr>
        <p:txBody>
          <a:bodyPr wrap="none" rtlCol="0">
            <a:spAutoFit/>
          </a:bodyPr>
          <a:lstStyle/>
          <a:p>
            <a:r>
              <a:rPr lang="en-US" sz="2400" b="1" dirty="0">
                <a:solidFill>
                  <a:schemeClr val="bg1"/>
                </a:solidFill>
              </a:rPr>
              <a:t>PA Projection</a:t>
            </a:r>
            <a:endParaRPr lang="en-US" sz="2800" b="1" dirty="0">
              <a:solidFill>
                <a:schemeClr val="bg1"/>
              </a:solidFill>
            </a:endParaRPr>
          </a:p>
        </p:txBody>
      </p:sp>
      <p:sp>
        <p:nvSpPr>
          <p:cNvPr id="3" name="TextBox 2">
            <a:extLst>
              <a:ext uri="{FF2B5EF4-FFF2-40B4-BE49-F238E27FC236}">
                <a16:creationId xmlns:a16="http://schemas.microsoft.com/office/drawing/2014/main" id="{FAF818C9-5CBA-0F84-27D5-1B6349380117}"/>
              </a:ext>
            </a:extLst>
          </p:cNvPr>
          <p:cNvSpPr txBox="1"/>
          <p:nvPr/>
        </p:nvSpPr>
        <p:spPr>
          <a:xfrm>
            <a:off x="7046036" y="1319743"/>
            <a:ext cx="1912127" cy="461665"/>
          </a:xfrm>
          <a:prstGeom prst="rect">
            <a:avLst/>
          </a:prstGeom>
          <a:noFill/>
        </p:spPr>
        <p:txBody>
          <a:bodyPr wrap="none" rtlCol="0">
            <a:spAutoFit/>
          </a:bodyPr>
          <a:lstStyle/>
          <a:p>
            <a:r>
              <a:rPr lang="en-US" sz="2400" b="1" dirty="0">
                <a:solidFill>
                  <a:schemeClr val="bg1"/>
                </a:solidFill>
              </a:rPr>
              <a:t>AP Projection</a:t>
            </a:r>
            <a:endParaRPr lang="en-US" sz="2800" b="1" dirty="0">
              <a:solidFill>
                <a:schemeClr val="bg1"/>
              </a:solidFill>
            </a:endParaRPr>
          </a:p>
        </p:txBody>
      </p:sp>
      <p:sp>
        <p:nvSpPr>
          <p:cNvPr id="11" name="TextBox 10">
            <a:extLst>
              <a:ext uri="{FF2B5EF4-FFF2-40B4-BE49-F238E27FC236}">
                <a16:creationId xmlns:a16="http://schemas.microsoft.com/office/drawing/2014/main" id="{BA4C7E05-EDE0-E744-8744-0A50A0D5C90E}"/>
              </a:ext>
            </a:extLst>
          </p:cNvPr>
          <p:cNvSpPr txBox="1"/>
          <p:nvPr/>
        </p:nvSpPr>
        <p:spPr>
          <a:xfrm>
            <a:off x="8821446" y="5935100"/>
            <a:ext cx="3427086" cy="646331"/>
          </a:xfrm>
          <a:prstGeom prst="rect">
            <a:avLst/>
          </a:prstGeom>
          <a:noFill/>
        </p:spPr>
        <p:txBody>
          <a:bodyPr wrap="square" rtlCol="0">
            <a:spAutoFit/>
          </a:bodyPr>
          <a:lstStyle/>
          <a:p>
            <a:pPr algn="ctr"/>
            <a:r>
              <a:rPr lang="en-US" dirty="0"/>
              <a:t>*Note the difference in image quality between the two as well.</a:t>
            </a:r>
          </a:p>
        </p:txBody>
      </p:sp>
      <p:pic>
        <p:nvPicPr>
          <p:cNvPr id="5124" name="Picture 4" descr="Radiologic Examination of the Chest | Thoracic Key">
            <a:extLst>
              <a:ext uri="{FF2B5EF4-FFF2-40B4-BE49-F238E27FC236}">
                <a16:creationId xmlns:a16="http://schemas.microsoft.com/office/drawing/2014/main" id="{F2F53E38-BE15-0D9D-D186-15A3362552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3688" y="4234056"/>
            <a:ext cx="6191250" cy="2552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5329771-2773-E564-7C04-CDFD525AF600}"/>
              </a:ext>
            </a:extLst>
          </p:cNvPr>
          <p:cNvSpPr txBox="1"/>
          <p:nvPr/>
        </p:nvSpPr>
        <p:spPr>
          <a:xfrm>
            <a:off x="3627651" y="4468386"/>
            <a:ext cx="450850" cy="369332"/>
          </a:xfrm>
          <a:prstGeom prst="rect">
            <a:avLst/>
          </a:prstGeom>
          <a:noFill/>
        </p:spPr>
        <p:txBody>
          <a:bodyPr wrap="square">
            <a:spAutoFit/>
          </a:bodyPr>
          <a:lstStyle/>
          <a:p>
            <a:r>
              <a:rPr lang="en-US" sz="1800" b="1" dirty="0"/>
              <a:t>PA</a:t>
            </a:r>
            <a:endParaRPr lang="en-US" dirty="0"/>
          </a:p>
        </p:txBody>
      </p:sp>
      <p:sp>
        <p:nvSpPr>
          <p:cNvPr id="12" name="TextBox 11">
            <a:extLst>
              <a:ext uri="{FF2B5EF4-FFF2-40B4-BE49-F238E27FC236}">
                <a16:creationId xmlns:a16="http://schemas.microsoft.com/office/drawing/2014/main" id="{0003C9EE-494E-A05A-7DA7-EC241C3D5FF0}"/>
              </a:ext>
            </a:extLst>
          </p:cNvPr>
          <p:cNvSpPr txBox="1"/>
          <p:nvPr/>
        </p:nvSpPr>
        <p:spPr>
          <a:xfrm>
            <a:off x="7776674" y="4530209"/>
            <a:ext cx="450850" cy="369332"/>
          </a:xfrm>
          <a:prstGeom prst="rect">
            <a:avLst/>
          </a:prstGeom>
          <a:noFill/>
        </p:spPr>
        <p:txBody>
          <a:bodyPr wrap="square">
            <a:spAutoFit/>
          </a:bodyPr>
          <a:lstStyle/>
          <a:p>
            <a:r>
              <a:rPr lang="en-US" sz="1800" b="1" dirty="0"/>
              <a:t>AP</a:t>
            </a:r>
            <a:endParaRPr lang="en-US" dirty="0"/>
          </a:p>
        </p:txBody>
      </p:sp>
      <p:sp>
        <p:nvSpPr>
          <p:cNvPr id="14" name="Title 4">
            <a:extLst>
              <a:ext uri="{FF2B5EF4-FFF2-40B4-BE49-F238E27FC236}">
                <a16:creationId xmlns:a16="http://schemas.microsoft.com/office/drawing/2014/main" id="{00F1B972-112B-CDD5-D7B7-004A4AAA7596}"/>
              </a:ext>
            </a:extLst>
          </p:cNvPr>
          <p:cNvSpPr>
            <a:spLocks noGrp="1"/>
          </p:cNvSpPr>
          <p:nvPr>
            <p:ph type="title"/>
          </p:nvPr>
        </p:nvSpPr>
        <p:spPr>
          <a:xfrm>
            <a:off x="3249928" y="71244"/>
            <a:ext cx="5358770" cy="763821"/>
          </a:xfrm>
        </p:spPr>
        <p:txBody>
          <a:bodyPr/>
          <a:lstStyle/>
          <a:p>
            <a:pPr algn="ctr"/>
            <a:r>
              <a:rPr lang="en-US" u="sng" dirty="0"/>
              <a:t>PROJECTIONS</a:t>
            </a:r>
          </a:p>
        </p:txBody>
      </p:sp>
    </p:spTree>
    <p:extLst>
      <p:ext uri="{BB962C8B-B14F-4D97-AF65-F5344CB8AC3E}">
        <p14:creationId xmlns:p14="http://schemas.microsoft.com/office/powerpoint/2010/main" val="35033894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5FB7F-AA8D-4B53-9777-52F0316BB3D9}"/>
              </a:ext>
            </a:extLst>
          </p:cNvPr>
          <p:cNvSpPr>
            <a:spLocks noGrp="1"/>
          </p:cNvSpPr>
          <p:nvPr>
            <p:ph type="title"/>
          </p:nvPr>
        </p:nvSpPr>
        <p:spPr>
          <a:xfrm>
            <a:off x="205168" y="228600"/>
            <a:ext cx="4265147" cy="868810"/>
          </a:xfrm>
          <a:noFill/>
          <a:ln>
            <a:solidFill>
              <a:schemeClr val="bg1"/>
            </a:solidFill>
          </a:ln>
        </p:spPr>
        <p:txBody>
          <a:bodyPr wrap="square">
            <a:normAutofit fontScale="90000"/>
          </a:bodyPr>
          <a:lstStyle/>
          <a:p>
            <a:r>
              <a:rPr lang="en-US" u="sng" dirty="0"/>
              <a:t>XRAY APPLICATIONS</a:t>
            </a:r>
          </a:p>
        </p:txBody>
      </p:sp>
      <p:sp>
        <p:nvSpPr>
          <p:cNvPr id="3" name="Content Placeholder 2">
            <a:extLst>
              <a:ext uri="{FF2B5EF4-FFF2-40B4-BE49-F238E27FC236}">
                <a16:creationId xmlns:a16="http://schemas.microsoft.com/office/drawing/2014/main" id="{DE6AC9E9-CFB3-4631-9EA3-7198823075C3}"/>
              </a:ext>
            </a:extLst>
          </p:cNvPr>
          <p:cNvSpPr>
            <a:spLocks noGrp="1"/>
          </p:cNvSpPr>
          <p:nvPr>
            <p:ph idx="1"/>
          </p:nvPr>
        </p:nvSpPr>
        <p:spPr>
          <a:xfrm>
            <a:off x="215301" y="1266092"/>
            <a:ext cx="4220308" cy="5363308"/>
          </a:xfrm>
        </p:spPr>
        <p:txBody>
          <a:bodyPr>
            <a:normAutofit/>
          </a:bodyPr>
          <a:lstStyle/>
          <a:p>
            <a:r>
              <a:rPr lang="en-US" sz="3200" dirty="0">
                <a:latin typeface="Calibri" panose="020F0502020204030204" pitchFamily="34" charset="0"/>
                <a:cs typeface="Calibri" panose="020F0502020204030204" pitchFamily="34" charset="0"/>
              </a:rPr>
              <a:t>Evaluation of bones or pathology of bones (lesions/malignancy)</a:t>
            </a:r>
          </a:p>
          <a:p>
            <a:endParaRPr lang="en-US" sz="3200" dirty="0">
              <a:latin typeface="Calibri" panose="020F0502020204030204" pitchFamily="34" charset="0"/>
              <a:cs typeface="Calibri" panose="020F0502020204030204" pitchFamily="34" charset="0"/>
            </a:endParaRPr>
          </a:p>
          <a:p>
            <a:endParaRPr lang="en-US" dirty="0">
              <a:solidFill>
                <a:schemeClr val="bg1"/>
              </a:solidFill>
            </a:endParaRPr>
          </a:p>
        </p:txBody>
      </p:sp>
      <p:pic>
        <p:nvPicPr>
          <p:cNvPr id="30722" name="Picture 2" descr="Startradiology">
            <a:extLst>
              <a:ext uri="{FF2B5EF4-FFF2-40B4-BE49-F238E27FC236}">
                <a16:creationId xmlns:a16="http://schemas.microsoft.com/office/drawing/2014/main" id="{C1AFB0A7-8075-C545-B1BF-236219521A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1883" y="3305908"/>
            <a:ext cx="3729697" cy="3552092"/>
          </a:xfrm>
          <a:prstGeom prst="rect">
            <a:avLst/>
          </a:prstGeom>
          <a:noFill/>
          <a:extLst>
            <a:ext uri="{909E8E84-426E-40DD-AFC4-6F175D3DCCD1}">
              <a14:hiddenFill xmlns:a14="http://schemas.microsoft.com/office/drawing/2010/main">
                <a:solidFill>
                  <a:srgbClr val="FFFFFF"/>
                </a:solidFill>
              </a14:hiddenFill>
            </a:ext>
          </a:extLst>
        </p:spPr>
      </p:pic>
      <p:pic>
        <p:nvPicPr>
          <p:cNvPr id="30724" name="Picture 4" descr="Normal chest x-ray: Anatomy tutorial | Kenhub">
            <a:extLst>
              <a:ext uri="{FF2B5EF4-FFF2-40B4-BE49-F238E27FC236}">
                <a16:creationId xmlns:a16="http://schemas.microsoft.com/office/drawing/2014/main" id="{ECF0564C-46CE-7D44-8758-E6842657152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692" b="8975"/>
          <a:stretch/>
        </p:blipFill>
        <p:spPr bwMode="auto">
          <a:xfrm>
            <a:off x="4650910" y="0"/>
            <a:ext cx="4579034" cy="3815862"/>
          </a:xfrm>
          <a:prstGeom prst="rect">
            <a:avLst/>
          </a:prstGeom>
          <a:noFill/>
          <a:extLst>
            <a:ext uri="{909E8E84-426E-40DD-AFC4-6F175D3DCCD1}">
              <a14:hiddenFill xmlns:a14="http://schemas.microsoft.com/office/drawing/2010/main">
                <a:solidFill>
                  <a:srgbClr val="FFFFFF"/>
                </a:solidFill>
              </a14:hiddenFill>
            </a:ext>
          </a:extLst>
        </p:spPr>
      </p:pic>
      <p:pic>
        <p:nvPicPr>
          <p:cNvPr id="30726" name="Picture 6" descr="Normal Bones">
            <a:extLst>
              <a:ext uri="{FF2B5EF4-FFF2-40B4-BE49-F238E27FC236}">
                <a16:creationId xmlns:a16="http://schemas.microsoft.com/office/drawing/2014/main" id="{B784DF52-4E6A-5549-A9A6-F4E9E31266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66899" y="127000"/>
            <a:ext cx="2209800" cy="650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34478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descr="Image result for Xray abdomen ileus">
            <a:extLst>
              <a:ext uri="{FF2B5EF4-FFF2-40B4-BE49-F238E27FC236}">
                <a16:creationId xmlns:a16="http://schemas.microsoft.com/office/drawing/2014/main" id="{724105FF-0950-47CC-9D15-553750457C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 b="7189"/>
          <a:stretch/>
        </p:blipFill>
        <p:spPr bwMode="auto">
          <a:xfrm>
            <a:off x="5598638" y="349634"/>
            <a:ext cx="2994212" cy="336848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A19AA0D1-BD59-4200-8BFB-135D83CF4E0D}"/>
              </a:ext>
            </a:extLst>
          </p:cNvPr>
          <p:cNvSpPr>
            <a:spLocks noGrp="1"/>
          </p:cNvSpPr>
          <p:nvPr>
            <p:ph idx="1"/>
          </p:nvPr>
        </p:nvSpPr>
        <p:spPr>
          <a:xfrm>
            <a:off x="106017" y="1470991"/>
            <a:ext cx="5380383" cy="2524155"/>
          </a:xfrm>
        </p:spPr>
        <p:txBody>
          <a:bodyPr>
            <a:normAutofit/>
          </a:bodyPr>
          <a:lstStyle/>
          <a:p>
            <a:pPr>
              <a:buClr>
                <a:schemeClr val="tx1"/>
              </a:buClr>
            </a:pPr>
            <a:r>
              <a:rPr lang="en-US" sz="2800" dirty="0">
                <a:latin typeface="Calibri" panose="020F0502020204030204" pitchFamily="34" charset="0"/>
                <a:cs typeface="Calibri" panose="020F0502020204030204" pitchFamily="34" charset="0"/>
              </a:rPr>
              <a:t>Good for imaging </a:t>
            </a:r>
            <a:r>
              <a:rPr lang="en-US" sz="2800" b="1" i="1" dirty="0">
                <a:latin typeface="Calibri" panose="020F0502020204030204" pitchFamily="34" charset="0"/>
                <a:cs typeface="Calibri" panose="020F0502020204030204" pitchFamily="34" charset="0"/>
              </a:rPr>
              <a:t>gas or air that define body structures when the ACUITY IS LOW.</a:t>
            </a:r>
          </a:p>
          <a:p>
            <a:pPr lvl="1">
              <a:buClr>
                <a:schemeClr val="tx1"/>
              </a:buClr>
            </a:pPr>
            <a:r>
              <a:rPr lang="en-US" sz="2800" dirty="0">
                <a:latin typeface="Calibri" panose="020F0502020204030204" pitchFamily="34" charset="0"/>
                <a:cs typeface="Calibri" panose="020F0502020204030204" pitchFamily="34" charset="0"/>
              </a:rPr>
              <a:t>Lungs</a:t>
            </a:r>
          </a:p>
          <a:p>
            <a:pPr lvl="1">
              <a:buClr>
                <a:schemeClr val="tx1"/>
              </a:buClr>
            </a:pPr>
            <a:r>
              <a:rPr lang="en-US" sz="2800" dirty="0">
                <a:latin typeface="Calibri" panose="020F0502020204030204" pitchFamily="34" charset="0"/>
                <a:cs typeface="Calibri" panose="020F0502020204030204" pitchFamily="34" charset="0"/>
              </a:rPr>
              <a:t>Gastrointestinal tract</a:t>
            </a:r>
          </a:p>
          <a:p>
            <a:pPr marL="228600" lvl="1" indent="0">
              <a:buNone/>
            </a:pPr>
            <a:endParaRPr lang="en-US" sz="2800" dirty="0">
              <a:latin typeface="Calibri" panose="020F0502020204030204" pitchFamily="34" charset="0"/>
              <a:cs typeface="Calibri" panose="020F0502020204030204" pitchFamily="34" charset="0"/>
            </a:endParaRPr>
          </a:p>
          <a:p>
            <a:endParaRPr lang="en-US" dirty="0"/>
          </a:p>
          <a:p>
            <a:endParaRPr lang="en-US" dirty="0"/>
          </a:p>
          <a:p>
            <a:endParaRPr lang="en-US" dirty="0"/>
          </a:p>
          <a:p>
            <a:endParaRPr lang="en-US" dirty="0"/>
          </a:p>
        </p:txBody>
      </p:sp>
      <p:pic>
        <p:nvPicPr>
          <p:cNvPr id="11269" name="Picture 5" descr="Image result for xray kidney stone">
            <a:extLst>
              <a:ext uri="{FF2B5EF4-FFF2-40B4-BE49-F238E27FC236}">
                <a16:creationId xmlns:a16="http://schemas.microsoft.com/office/drawing/2014/main" id="{75623A8B-8596-4325-894C-BD458DA3B6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4718" y="349634"/>
            <a:ext cx="3129430" cy="3368484"/>
          </a:xfrm>
          <a:prstGeom prst="rect">
            <a:avLst/>
          </a:prstGeom>
          <a:noFill/>
          <a:extLst>
            <a:ext uri="{909E8E84-426E-40DD-AFC4-6F175D3DCCD1}">
              <a14:hiddenFill xmlns:a14="http://schemas.microsoft.com/office/drawing/2010/main">
                <a:solidFill>
                  <a:srgbClr val="FFFFFF"/>
                </a:solidFill>
              </a14:hiddenFill>
            </a:ext>
          </a:extLst>
        </p:spPr>
      </p:pic>
      <p:pic>
        <p:nvPicPr>
          <p:cNvPr id="11273" name="Picture 9" descr="Image result for xray foreign body">
            <a:extLst>
              <a:ext uri="{FF2B5EF4-FFF2-40B4-BE49-F238E27FC236}">
                <a16:creationId xmlns:a16="http://schemas.microsoft.com/office/drawing/2014/main" id="{6A092529-C8CD-4DED-B201-A9E71918DC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29754" y="3726933"/>
            <a:ext cx="2334394" cy="31125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F1DD10D-0AE2-8744-A93C-C264190F2847}"/>
              </a:ext>
            </a:extLst>
          </p:cNvPr>
          <p:cNvSpPr txBox="1"/>
          <p:nvPr/>
        </p:nvSpPr>
        <p:spPr>
          <a:xfrm>
            <a:off x="185028" y="4181748"/>
            <a:ext cx="6644397" cy="2523768"/>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Can visualize some organs and soft tissues and </a:t>
            </a:r>
            <a:r>
              <a:rPr lang="en-US" sz="2800" b="1" i="1" dirty="0">
                <a:latin typeface="Calibri" panose="020F0502020204030204" pitchFamily="34" charset="0"/>
                <a:cs typeface="Calibri" panose="020F0502020204030204" pitchFamily="34" charset="0"/>
              </a:rPr>
              <a:t>calcifications</a:t>
            </a:r>
            <a:r>
              <a:rPr lang="en-US" sz="2800" dirty="0">
                <a:latin typeface="Calibri" panose="020F0502020204030204" pitchFamily="34" charset="0"/>
                <a:cs typeface="Calibri" panose="020F0502020204030204" pitchFamily="34" charset="0"/>
              </a:rPr>
              <a:t> within them, for example, kidney stones</a:t>
            </a:r>
          </a:p>
          <a:p>
            <a:pPr marL="457200"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Can also find </a:t>
            </a:r>
            <a:r>
              <a:rPr lang="en-US" sz="2800" b="1" i="1" dirty="0">
                <a:latin typeface="Calibri" panose="020F0502020204030204" pitchFamily="34" charset="0"/>
                <a:cs typeface="Calibri" panose="020F0502020204030204" pitchFamily="34" charset="0"/>
              </a:rPr>
              <a:t>foreign bodies </a:t>
            </a:r>
            <a:r>
              <a:rPr lang="en-US" sz="2800" dirty="0">
                <a:latin typeface="Calibri" panose="020F0502020204030204" pitchFamily="34" charset="0"/>
                <a:cs typeface="Calibri" panose="020F0502020204030204" pitchFamily="34" charset="0"/>
              </a:rPr>
              <a:t>that are dense, i.e. metallic objects</a:t>
            </a:r>
          </a:p>
          <a:p>
            <a:endParaRPr lang="en-US" dirty="0"/>
          </a:p>
        </p:txBody>
      </p:sp>
      <p:pic>
        <p:nvPicPr>
          <p:cNvPr id="31746" name="Picture 2" descr="Pediatric foreign body | Radiology Case | Radiopaedia.org">
            <a:extLst>
              <a:ext uri="{FF2B5EF4-FFF2-40B4-BE49-F238E27FC236}">
                <a16:creationId xmlns:a16="http://schemas.microsoft.com/office/drawing/2014/main" id="{E7C0BEF3-C36A-4340-B9E1-A02330CBCA7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238" t="7692" r="11091" b="9487"/>
          <a:stretch/>
        </p:blipFill>
        <p:spPr bwMode="auto">
          <a:xfrm>
            <a:off x="6380291" y="3704327"/>
            <a:ext cx="3129430" cy="313513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17747DFF-6916-08DE-432F-B956218E643F}"/>
              </a:ext>
            </a:extLst>
          </p:cNvPr>
          <p:cNvSpPr>
            <a:spLocks noGrp="1"/>
          </p:cNvSpPr>
          <p:nvPr>
            <p:ph type="title"/>
          </p:nvPr>
        </p:nvSpPr>
        <p:spPr>
          <a:xfrm>
            <a:off x="663634" y="415579"/>
            <a:ext cx="4265147" cy="868810"/>
          </a:xfrm>
          <a:noFill/>
          <a:ln>
            <a:solidFill>
              <a:schemeClr val="bg1"/>
            </a:solidFill>
          </a:ln>
        </p:spPr>
        <p:txBody>
          <a:bodyPr wrap="square">
            <a:normAutofit fontScale="90000"/>
          </a:bodyPr>
          <a:lstStyle/>
          <a:p>
            <a:r>
              <a:rPr lang="en-US" u="sng" dirty="0"/>
              <a:t>XRAY APPLICATIONS</a:t>
            </a:r>
          </a:p>
        </p:txBody>
      </p:sp>
    </p:spTree>
    <p:extLst>
      <p:ext uri="{BB962C8B-B14F-4D97-AF65-F5344CB8AC3E}">
        <p14:creationId xmlns:p14="http://schemas.microsoft.com/office/powerpoint/2010/main" val="13322460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FEADA-1DE4-4900-8D43-376D521D72C6}"/>
              </a:ext>
            </a:extLst>
          </p:cNvPr>
          <p:cNvSpPr>
            <a:spLocks noGrp="1"/>
          </p:cNvSpPr>
          <p:nvPr>
            <p:ph type="title"/>
          </p:nvPr>
        </p:nvSpPr>
        <p:spPr>
          <a:xfrm>
            <a:off x="1301262" y="229367"/>
            <a:ext cx="10026625" cy="1174991"/>
          </a:xfrm>
        </p:spPr>
        <p:txBody>
          <a:bodyPr>
            <a:noAutofit/>
          </a:bodyPr>
          <a:lstStyle/>
          <a:p>
            <a:pPr algn="ctr"/>
            <a:r>
              <a:rPr lang="en-US" sz="3600" u="sng" dirty="0">
                <a:latin typeface="Calibri Light" panose="020F0302020204030204" pitchFamily="34" charset="0"/>
                <a:ea typeface="Calibri Light" panose="020F0302020204030204" pitchFamily="34" charset="0"/>
                <a:cs typeface="Calibri Light" panose="020F0302020204030204" pitchFamily="34" charset="0"/>
              </a:rPr>
              <a:t>WHEN DO WE USE GENERAL RADIOGRAPHY OVER OTHER MODALITIES?</a:t>
            </a:r>
          </a:p>
        </p:txBody>
      </p:sp>
      <p:sp>
        <p:nvSpPr>
          <p:cNvPr id="3" name="Content Placeholder 2">
            <a:extLst>
              <a:ext uri="{FF2B5EF4-FFF2-40B4-BE49-F238E27FC236}">
                <a16:creationId xmlns:a16="http://schemas.microsoft.com/office/drawing/2014/main" id="{71F05111-CA7F-44CB-9F90-30835600B7E4}"/>
              </a:ext>
            </a:extLst>
          </p:cNvPr>
          <p:cNvSpPr>
            <a:spLocks noGrp="1"/>
          </p:cNvSpPr>
          <p:nvPr>
            <p:ph idx="1"/>
          </p:nvPr>
        </p:nvSpPr>
        <p:spPr>
          <a:xfrm>
            <a:off x="621322" y="1612976"/>
            <a:ext cx="10706565" cy="5819455"/>
          </a:xfrm>
        </p:spPr>
        <p:txBody>
          <a:bodyPr>
            <a:noAutofit/>
          </a:bodyPr>
          <a:lstStyle/>
          <a:p>
            <a:pPr marL="514350" indent="-514350">
              <a:lnSpc>
                <a:spcPct val="90000"/>
              </a:lnSpc>
              <a:buFont typeface="+mj-lt"/>
              <a:buAutoNum type="arabicPeriod"/>
            </a:pPr>
            <a:r>
              <a:rPr lang="en-US" sz="2800" dirty="0">
                <a:latin typeface="Calibri" panose="020F0502020204030204" pitchFamily="34" charset="0"/>
                <a:cs typeface="Calibri" panose="020F0502020204030204" pitchFamily="34" charset="0"/>
              </a:rPr>
              <a:t>Initial diagnosis of </a:t>
            </a:r>
            <a:r>
              <a:rPr lang="en-US" sz="2800" b="1" i="1" dirty="0">
                <a:latin typeface="Calibri" panose="020F0502020204030204" pitchFamily="34" charset="0"/>
                <a:cs typeface="Calibri" panose="020F0502020204030204" pitchFamily="34" charset="0"/>
              </a:rPr>
              <a:t>bony structures </a:t>
            </a:r>
            <a:r>
              <a:rPr lang="en-US" sz="2800" dirty="0">
                <a:latin typeface="Calibri" panose="020F0502020204030204" pitchFamily="34" charset="0"/>
                <a:cs typeface="Calibri" panose="020F0502020204030204" pitchFamily="34" charset="0"/>
              </a:rPr>
              <a:t>in the outpatient and emergent settings </a:t>
            </a:r>
          </a:p>
          <a:p>
            <a:pPr lvl="1">
              <a:lnSpc>
                <a:spcPct val="90000"/>
              </a:lnSpc>
            </a:pPr>
            <a:r>
              <a:rPr lang="en-US" sz="2400" dirty="0">
                <a:latin typeface="Calibri" panose="020F0502020204030204" pitchFamily="34" charset="0"/>
                <a:cs typeface="Calibri" panose="020F0502020204030204" pitchFamily="34" charset="0"/>
              </a:rPr>
              <a:t>fractures, bone lesions</a:t>
            </a:r>
            <a:r>
              <a:rPr lang="en-US" dirty="0">
                <a:latin typeface="Calibri" panose="020F0502020204030204" pitchFamily="34" charset="0"/>
                <a:cs typeface="Calibri" panose="020F0502020204030204" pitchFamily="34" charset="0"/>
              </a:rPr>
              <a:t>/tumors</a:t>
            </a:r>
            <a:r>
              <a:rPr lang="en-US" sz="2400" dirty="0">
                <a:latin typeface="Calibri" panose="020F0502020204030204" pitchFamily="34" charset="0"/>
                <a:cs typeface="Calibri" panose="020F0502020204030204" pitchFamily="34" charset="0"/>
              </a:rPr>
              <a:t> or degenerative changes (</a:t>
            </a:r>
            <a:r>
              <a:rPr lang="en-US" sz="2400" dirty="0" err="1">
                <a:latin typeface="Calibri" panose="020F0502020204030204" pitchFamily="34" charset="0"/>
                <a:cs typeface="Calibri" panose="020F0502020204030204" pitchFamily="34" charset="0"/>
              </a:rPr>
              <a:t>ie</a:t>
            </a:r>
            <a:r>
              <a:rPr lang="en-US" sz="2400" dirty="0">
                <a:latin typeface="Calibri" panose="020F0502020204030204" pitchFamily="34" charset="0"/>
                <a:cs typeface="Calibri" panose="020F0502020204030204" pitchFamily="34" charset="0"/>
              </a:rPr>
              <a:t>. arthritis)</a:t>
            </a:r>
          </a:p>
          <a:p>
            <a:pPr lvl="1">
              <a:lnSpc>
                <a:spcPct val="90000"/>
              </a:lnSpc>
            </a:pPr>
            <a:endParaRPr lang="en-US" sz="2800" dirty="0">
              <a:latin typeface="Calibri" panose="020F0502020204030204" pitchFamily="34" charset="0"/>
              <a:cs typeface="Calibri" panose="020F0502020204030204" pitchFamily="34" charset="0"/>
            </a:endParaRPr>
          </a:p>
          <a:p>
            <a:pPr marL="514350" indent="-514350">
              <a:lnSpc>
                <a:spcPct val="90000"/>
              </a:lnSpc>
              <a:buFont typeface="+mj-lt"/>
              <a:buAutoNum type="arabicPeriod"/>
            </a:pPr>
            <a:r>
              <a:rPr lang="en-US" sz="2800" dirty="0">
                <a:latin typeface="Calibri" panose="020F0502020204030204" pitchFamily="34" charset="0"/>
                <a:cs typeface="Calibri" panose="020F0502020204030204" pitchFamily="34" charset="0"/>
              </a:rPr>
              <a:t>A “</a:t>
            </a:r>
            <a:r>
              <a:rPr lang="en-US" sz="2800" b="1" i="1" dirty="0">
                <a:latin typeface="Calibri" panose="020F0502020204030204" pitchFamily="34" charset="0"/>
                <a:cs typeface="Calibri" panose="020F0502020204030204" pitchFamily="34" charset="0"/>
              </a:rPr>
              <a:t>first look</a:t>
            </a:r>
            <a:r>
              <a:rPr lang="en-US" sz="2800" dirty="0">
                <a:latin typeface="Calibri" panose="020F0502020204030204" pitchFamily="34" charset="0"/>
                <a:cs typeface="Calibri" panose="020F0502020204030204" pitchFamily="34" charset="0"/>
              </a:rPr>
              <a:t>” at many pathologies when the </a:t>
            </a:r>
            <a:r>
              <a:rPr lang="en-US" sz="2800" b="1" dirty="0">
                <a:latin typeface="Calibri" panose="020F0502020204030204" pitchFamily="34" charset="0"/>
                <a:cs typeface="Calibri" panose="020F0502020204030204" pitchFamily="34" charset="0"/>
              </a:rPr>
              <a:t>ACUITY IS LOW.  </a:t>
            </a:r>
          </a:p>
          <a:p>
            <a:pPr lvl="1">
              <a:lnSpc>
                <a:spcPct val="90000"/>
              </a:lnSpc>
            </a:pPr>
            <a:r>
              <a:rPr lang="en-US" sz="2400" dirty="0">
                <a:latin typeface="Calibri" panose="020F0502020204030204" pitchFamily="34" charset="0"/>
                <a:cs typeface="Calibri" panose="020F0502020204030204" pitchFamily="34" charset="0"/>
              </a:rPr>
              <a:t>Uses less radiation than CT</a:t>
            </a:r>
          </a:p>
          <a:p>
            <a:pPr lvl="1">
              <a:lnSpc>
                <a:spcPct val="90000"/>
              </a:lnSpc>
            </a:pPr>
            <a:r>
              <a:rPr lang="en-US" sz="2400" dirty="0">
                <a:latin typeface="Calibri" panose="020F0502020204030204" pitchFamily="34" charset="0"/>
                <a:cs typeface="Calibri" panose="020F0502020204030204" pitchFamily="34" charset="0"/>
              </a:rPr>
              <a:t>Less costly, insurance companies often require a general radiograph in outpatients before ordering more extensive (expensive) imaging modalities</a:t>
            </a:r>
          </a:p>
          <a:p>
            <a:pPr lvl="1">
              <a:lnSpc>
                <a:spcPct val="90000"/>
              </a:lnSpc>
            </a:pPr>
            <a:endParaRPr lang="en-US" sz="2800" dirty="0">
              <a:latin typeface="Calibri" panose="020F0502020204030204" pitchFamily="34" charset="0"/>
              <a:cs typeface="Calibri" panose="020F0502020204030204" pitchFamily="34" charset="0"/>
            </a:endParaRPr>
          </a:p>
          <a:p>
            <a:pPr marL="514350" indent="-514350">
              <a:lnSpc>
                <a:spcPct val="90000"/>
              </a:lnSpc>
              <a:buFont typeface="+mj-lt"/>
              <a:buAutoNum type="arabicPeriod"/>
            </a:pPr>
            <a:r>
              <a:rPr lang="en-US" sz="2800" b="1" i="1" dirty="0">
                <a:latin typeface="Calibri" panose="020F0502020204030204" pitchFamily="34" charset="0"/>
                <a:cs typeface="Calibri" panose="020F0502020204030204" pitchFamily="34" charset="0"/>
              </a:rPr>
              <a:t>Ease of use </a:t>
            </a:r>
            <a:r>
              <a:rPr lang="en-US" sz="2800" dirty="0">
                <a:latin typeface="Calibri" panose="020F0502020204030204" pitchFamily="34" charset="0"/>
                <a:cs typeface="Calibri" panose="020F0502020204030204" pitchFamily="34" charset="0"/>
              </a:rPr>
              <a:t>and </a:t>
            </a:r>
            <a:r>
              <a:rPr lang="en-US" sz="2800" b="1" i="1" dirty="0">
                <a:latin typeface="Calibri" panose="020F0502020204030204" pitchFamily="34" charset="0"/>
                <a:cs typeface="Calibri" panose="020F0502020204030204" pitchFamily="34" charset="0"/>
              </a:rPr>
              <a:t>portability</a:t>
            </a:r>
            <a:r>
              <a:rPr lang="en-US" sz="2800" dirty="0">
                <a:latin typeface="Calibri" panose="020F0502020204030204" pitchFamily="34" charset="0"/>
                <a:cs typeface="Calibri" panose="020F0502020204030204" pitchFamily="34" charset="0"/>
              </a:rPr>
              <a:t>: can be done at bedside with the patient in any condition!</a:t>
            </a:r>
          </a:p>
        </p:txBody>
      </p:sp>
    </p:spTree>
    <p:extLst>
      <p:ext uri="{BB962C8B-B14F-4D97-AF65-F5344CB8AC3E}">
        <p14:creationId xmlns:p14="http://schemas.microsoft.com/office/powerpoint/2010/main" val="30961315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2F134D-646F-5A8E-67DF-05C599545B75}"/>
              </a:ext>
            </a:extLst>
          </p:cNvPr>
          <p:cNvSpPr>
            <a:spLocks noGrp="1"/>
          </p:cNvSpPr>
          <p:nvPr>
            <p:ph type="title"/>
          </p:nvPr>
        </p:nvSpPr>
        <p:spPr>
          <a:xfrm>
            <a:off x="838200" y="1792514"/>
            <a:ext cx="10515600" cy="1128539"/>
          </a:xfrm>
        </p:spPr>
        <p:txBody>
          <a:bodyPr>
            <a:noAutofit/>
          </a:bodyPr>
          <a:lstStyle/>
          <a:p>
            <a:pPr algn="ctr"/>
            <a:br>
              <a:rPr lang="en-US" sz="4800" u="sng" dirty="0"/>
            </a:br>
            <a:r>
              <a:rPr lang="en-US" sz="5200" u="sng" dirty="0"/>
              <a:t>COMPUTED TOMOGRAPHY (CT)</a:t>
            </a:r>
          </a:p>
        </p:txBody>
      </p:sp>
    </p:spTree>
    <p:extLst>
      <p:ext uri="{BB962C8B-B14F-4D97-AF65-F5344CB8AC3E}">
        <p14:creationId xmlns:p14="http://schemas.microsoft.com/office/powerpoint/2010/main" val="35807992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5C6AF1-1528-4374-AAA3-6DA108F3683B}"/>
              </a:ext>
            </a:extLst>
          </p:cNvPr>
          <p:cNvSpPr>
            <a:spLocks noGrp="1"/>
          </p:cNvSpPr>
          <p:nvPr>
            <p:ph idx="1"/>
          </p:nvPr>
        </p:nvSpPr>
        <p:spPr>
          <a:xfrm>
            <a:off x="341435" y="1507577"/>
            <a:ext cx="6332415" cy="4232966"/>
          </a:xfrm>
        </p:spPr>
        <p:txBody>
          <a:bodyPr>
            <a:normAutofit/>
          </a:bodyPr>
          <a:lstStyle/>
          <a:p>
            <a:r>
              <a:rPr lang="en-US" sz="3200" dirty="0">
                <a:latin typeface="Calibri" panose="020F0502020204030204" pitchFamily="34" charset="0"/>
                <a:cs typeface="Calibri" panose="020F0502020204030204" pitchFamily="34" charset="0"/>
              </a:rPr>
              <a:t>The donut-shaped gantry contains the radiation source (</a:t>
            </a:r>
            <a:r>
              <a:rPr lang="en-US" sz="3200" b="1" i="1" dirty="0">
                <a:latin typeface="Calibri" panose="020F0502020204030204" pitchFamily="34" charset="0"/>
                <a:cs typeface="Calibri" panose="020F0502020204030204" pitchFamily="34" charset="0"/>
              </a:rPr>
              <a:t>x-ray tube</a:t>
            </a:r>
            <a:r>
              <a:rPr lang="en-US" sz="3200" dirty="0">
                <a:latin typeface="Calibri" panose="020F0502020204030204" pitchFamily="34" charset="0"/>
                <a:cs typeface="Calibri" panose="020F0502020204030204" pitchFamily="34" charset="0"/>
              </a:rPr>
              <a:t>) and detectors of the CT scanner. </a:t>
            </a:r>
          </a:p>
          <a:p>
            <a:endParaRPr lang="en-US" sz="20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The examination table carries the patient through the gantry while images are obtained by rapid rotations of the x-ray tube around the patient. </a:t>
            </a:r>
          </a:p>
          <a:p>
            <a:endParaRPr lang="en-US" dirty="0">
              <a:solidFill>
                <a:schemeClr val="bg1"/>
              </a:solidFill>
            </a:endParaRPr>
          </a:p>
          <a:p>
            <a:endParaRPr lang="en-US" dirty="0">
              <a:solidFill>
                <a:schemeClr val="bg1"/>
              </a:solidFill>
            </a:endParaRPr>
          </a:p>
        </p:txBody>
      </p:sp>
      <p:pic>
        <p:nvPicPr>
          <p:cNvPr id="5" name="Picture 4">
            <a:extLst>
              <a:ext uri="{FF2B5EF4-FFF2-40B4-BE49-F238E27FC236}">
                <a16:creationId xmlns:a16="http://schemas.microsoft.com/office/drawing/2014/main" id="{EC23850A-AAF5-0C4B-91D3-0B8F3C2F889B}"/>
              </a:ext>
            </a:extLst>
          </p:cNvPr>
          <p:cNvPicPr>
            <a:picLocks noChangeAspect="1"/>
          </p:cNvPicPr>
          <p:nvPr/>
        </p:nvPicPr>
        <p:blipFill rotWithShape="1">
          <a:blip r:embed="rId3"/>
          <a:srcRect b="41199"/>
          <a:stretch/>
        </p:blipFill>
        <p:spPr>
          <a:xfrm>
            <a:off x="6483350" y="1507577"/>
            <a:ext cx="5456602" cy="4551108"/>
          </a:xfrm>
          <a:prstGeom prst="rect">
            <a:avLst/>
          </a:prstGeom>
        </p:spPr>
      </p:pic>
      <p:sp>
        <p:nvSpPr>
          <p:cNvPr id="2" name="Title 1">
            <a:extLst>
              <a:ext uri="{FF2B5EF4-FFF2-40B4-BE49-F238E27FC236}">
                <a16:creationId xmlns:a16="http://schemas.microsoft.com/office/drawing/2014/main" id="{A0111A9F-6E9C-AB4A-63E2-70AA4FFD5A64}"/>
              </a:ext>
            </a:extLst>
          </p:cNvPr>
          <p:cNvSpPr>
            <a:spLocks noGrp="1"/>
          </p:cNvSpPr>
          <p:nvPr>
            <p:ph type="title"/>
          </p:nvPr>
        </p:nvSpPr>
        <p:spPr>
          <a:xfrm>
            <a:off x="630780" y="200169"/>
            <a:ext cx="11129420" cy="902777"/>
          </a:xfrm>
        </p:spPr>
        <p:txBody>
          <a:bodyPr>
            <a:normAutofit/>
          </a:bodyPr>
          <a:lstStyle/>
          <a:p>
            <a:r>
              <a:rPr lang="en-US" u="sng" dirty="0">
                <a:latin typeface="Calibri Light" panose="020F0302020204030204" pitchFamily="34" charset="0"/>
                <a:ea typeface="Calibri Light" panose="020F0302020204030204" pitchFamily="34" charset="0"/>
                <a:cs typeface="Calibri Light" panose="020F0302020204030204" pitchFamily="34" charset="0"/>
              </a:rPr>
              <a:t>THE SCIENCE OF COMPUTED TOMOGRAPHY (CT)</a:t>
            </a:r>
          </a:p>
        </p:txBody>
      </p:sp>
    </p:spTree>
    <p:extLst>
      <p:ext uri="{BB962C8B-B14F-4D97-AF65-F5344CB8AC3E}">
        <p14:creationId xmlns:p14="http://schemas.microsoft.com/office/powerpoint/2010/main" val="20176274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5C6AF1-1528-4374-AAA3-6DA108F3683B}"/>
              </a:ext>
            </a:extLst>
          </p:cNvPr>
          <p:cNvSpPr>
            <a:spLocks noGrp="1"/>
          </p:cNvSpPr>
          <p:nvPr>
            <p:ph idx="1"/>
          </p:nvPr>
        </p:nvSpPr>
        <p:spPr>
          <a:xfrm>
            <a:off x="257175" y="1054358"/>
            <a:ext cx="11887200" cy="1654071"/>
          </a:xfrm>
        </p:spPr>
        <p:txBody>
          <a:bodyPr>
            <a:normAutofit/>
          </a:bodyPr>
          <a:lstStyle/>
          <a:p>
            <a:pPr>
              <a:buClr>
                <a:schemeClr val="tx1"/>
              </a:buClr>
            </a:pPr>
            <a:r>
              <a:rPr lang="en-US" sz="3200" dirty="0">
                <a:latin typeface="Calibri" panose="020F0502020204030204" pitchFamily="34" charset="0"/>
                <a:cs typeface="Calibri" panose="020F0502020204030204" pitchFamily="34" charset="0"/>
              </a:rPr>
              <a:t>Essentially, a narrow beam of x-rays passes through a section of the patient and sensitive detectors on the other side measure the transmitted x-rays. </a:t>
            </a:r>
          </a:p>
        </p:txBody>
      </p:sp>
      <p:sp>
        <p:nvSpPr>
          <p:cNvPr id="7" name="TextBox 6">
            <a:extLst>
              <a:ext uri="{FF2B5EF4-FFF2-40B4-BE49-F238E27FC236}">
                <a16:creationId xmlns:a16="http://schemas.microsoft.com/office/drawing/2014/main" id="{02368C76-0C10-AF43-A06F-48BDAC984A79}"/>
              </a:ext>
            </a:extLst>
          </p:cNvPr>
          <p:cNvSpPr txBox="1"/>
          <p:nvPr/>
        </p:nvSpPr>
        <p:spPr>
          <a:xfrm>
            <a:off x="257175" y="2708429"/>
            <a:ext cx="7222148" cy="2939266"/>
          </a:xfrm>
          <a:prstGeom prst="rect">
            <a:avLst/>
          </a:prstGeom>
          <a:noFill/>
        </p:spPr>
        <p:txBody>
          <a:bodyPr wrap="square" rtlCol="0">
            <a:spAutoFit/>
          </a:bodyPr>
          <a:lstStyle/>
          <a:p>
            <a:pPr marL="285750" indent="-285750">
              <a:buFont typeface="Arial" panose="020B0604020202020204" pitchFamily="34" charset="0"/>
              <a:buChar char="•"/>
            </a:pPr>
            <a:r>
              <a:rPr lang="en-US" sz="3200" dirty="0">
                <a:latin typeface="Calibri" panose="020F0502020204030204" pitchFamily="34" charset="0"/>
                <a:cs typeface="Calibri" panose="020F0502020204030204" pitchFamily="34" charset="0"/>
              </a:rPr>
              <a:t>Computer processing of the data constructs a cross-sectional image of the body in slices.</a:t>
            </a:r>
          </a:p>
          <a:p>
            <a:pPr marL="285750" indent="-285750">
              <a:buFont typeface="Arial" panose="020B0604020202020204" pitchFamily="34" charset="0"/>
              <a:buChar char="•"/>
            </a:pPr>
            <a:endParaRPr lang="en-US" sz="25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3200" dirty="0">
                <a:latin typeface="Calibri" panose="020F0502020204030204" pitchFamily="34" charset="0"/>
                <a:cs typeface="Calibri" panose="020F0502020204030204" pitchFamily="34" charset="0"/>
              </a:rPr>
              <a:t>More intense computational processing can also produce 3D images.</a:t>
            </a:r>
          </a:p>
        </p:txBody>
      </p:sp>
      <p:sp>
        <p:nvSpPr>
          <p:cNvPr id="2" name="Title 1">
            <a:extLst>
              <a:ext uri="{FF2B5EF4-FFF2-40B4-BE49-F238E27FC236}">
                <a16:creationId xmlns:a16="http://schemas.microsoft.com/office/drawing/2014/main" id="{FB2D051A-8CF2-3C09-A54C-1E13B70BF349}"/>
              </a:ext>
            </a:extLst>
          </p:cNvPr>
          <p:cNvSpPr>
            <a:spLocks noGrp="1"/>
          </p:cNvSpPr>
          <p:nvPr>
            <p:ph type="title"/>
          </p:nvPr>
        </p:nvSpPr>
        <p:spPr>
          <a:xfrm>
            <a:off x="630780" y="200169"/>
            <a:ext cx="11129420" cy="902777"/>
          </a:xfrm>
        </p:spPr>
        <p:txBody>
          <a:bodyPr>
            <a:normAutofit/>
          </a:bodyPr>
          <a:lstStyle/>
          <a:p>
            <a:r>
              <a:rPr lang="en-US" u="sng" dirty="0">
                <a:latin typeface="Calibri Light" panose="020F0302020204030204" pitchFamily="34" charset="0"/>
                <a:ea typeface="Calibri Light" panose="020F0302020204030204" pitchFamily="34" charset="0"/>
                <a:cs typeface="Calibri Light" panose="020F0302020204030204" pitchFamily="34" charset="0"/>
              </a:rPr>
              <a:t>THE SCIENCE OF COMPUTED TOMOGRAPHY (CT)</a:t>
            </a:r>
          </a:p>
        </p:txBody>
      </p:sp>
      <p:pic>
        <p:nvPicPr>
          <p:cNvPr id="3076" name="Picture 4" descr="CP Advanced Imaging | CT Angiogram">
            <a:extLst>
              <a:ext uri="{FF2B5EF4-FFF2-40B4-BE49-F238E27FC236}">
                <a16:creationId xmlns:a16="http://schemas.microsoft.com/office/drawing/2014/main" id="{A1CE6701-D63D-E248-AA08-C98D703F49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434" r="4611"/>
          <a:stretch/>
        </p:blipFill>
        <p:spPr bwMode="auto">
          <a:xfrm>
            <a:off x="8030146" y="2403629"/>
            <a:ext cx="2977824"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181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5C6AF1-1528-4374-AAA3-6DA108F3683B}"/>
              </a:ext>
            </a:extLst>
          </p:cNvPr>
          <p:cNvSpPr>
            <a:spLocks noGrp="1"/>
          </p:cNvSpPr>
          <p:nvPr>
            <p:ph idx="1"/>
          </p:nvPr>
        </p:nvSpPr>
        <p:spPr>
          <a:xfrm>
            <a:off x="132522" y="1126436"/>
            <a:ext cx="11913704" cy="2116828"/>
          </a:xfrm>
        </p:spPr>
        <p:txBody>
          <a:bodyPr>
            <a:normAutofit/>
          </a:bodyPr>
          <a:lstStyle/>
          <a:p>
            <a:pPr>
              <a:buClr>
                <a:schemeClr val="tx1"/>
              </a:buClr>
              <a:buSzPct val="80000"/>
            </a:pPr>
            <a:r>
              <a:rPr lang="en-US" sz="3200" dirty="0">
                <a:latin typeface="Calibri" panose="020F0502020204030204" pitchFamily="34" charset="0"/>
                <a:cs typeface="Calibri" panose="020F0502020204030204" pitchFamily="34" charset="0"/>
              </a:rPr>
              <a:t>Unlike radiographs, the </a:t>
            </a:r>
            <a:r>
              <a:rPr lang="en-US" sz="3200" b="1" i="1" dirty="0">
                <a:latin typeface="Calibri" panose="020F0502020204030204" pitchFamily="34" charset="0"/>
                <a:cs typeface="Calibri" panose="020F0502020204030204" pitchFamily="34" charset="0"/>
              </a:rPr>
              <a:t>differences in density on CT is quantifiable </a:t>
            </a:r>
            <a:r>
              <a:rPr lang="en-US" sz="3200" dirty="0">
                <a:latin typeface="Calibri" panose="020F0502020204030204" pitchFamily="34" charset="0"/>
                <a:cs typeface="Calibri" panose="020F0502020204030204" pitchFamily="34" charset="0"/>
              </a:rPr>
              <a:t>and is assigned a value on the Hounsfield unit (HU) scale.  The numbers are, by convention, compared to the average attenuation value of water.   </a:t>
            </a:r>
          </a:p>
          <a:p>
            <a:endParaRPr lang="en-US" sz="3200" dirty="0">
              <a:latin typeface="Calibri" panose="020F0502020204030204" pitchFamily="34" charset="0"/>
              <a:cs typeface="Calibri" panose="020F0502020204030204" pitchFamily="34" charset="0"/>
            </a:endParaRPr>
          </a:p>
          <a:p>
            <a:endParaRPr lang="en-US" sz="3200" dirty="0">
              <a:latin typeface="Calibri" panose="020F0502020204030204" pitchFamily="34" charset="0"/>
              <a:cs typeface="Calibri" panose="020F0502020204030204" pitchFamily="34" charset="0"/>
            </a:endParaRPr>
          </a:p>
        </p:txBody>
      </p:sp>
      <p:pic>
        <p:nvPicPr>
          <p:cNvPr id="12290" name="Picture 2">
            <a:extLst>
              <a:ext uri="{FF2B5EF4-FFF2-40B4-BE49-F238E27FC236}">
                <a16:creationId xmlns:a16="http://schemas.microsoft.com/office/drawing/2014/main" id="{AC12861A-157F-334F-8610-ABB99365D2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4561" y="3468552"/>
            <a:ext cx="7747439" cy="28800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283DDB4-F723-FF4F-9207-DCF885A8B438}"/>
              </a:ext>
            </a:extLst>
          </p:cNvPr>
          <p:cNvSpPr txBox="1"/>
          <p:nvPr/>
        </p:nvSpPr>
        <p:spPr>
          <a:xfrm>
            <a:off x="132522" y="3066211"/>
            <a:ext cx="4153013" cy="3539430"/>
          </a:xfrm>
          <a:prstGeom prst="rect">
            <a:avLst/>
          </a:prstGeom>
          <a:noFill/>
        </p:spPr>
        <p:txBody>
          <a:bodyPr wrap="square" rtlCol="0">
            <a:spAutoFit/>
          </a:bodyPr>
          <a:lstStyle/>
          <a:p>
            <a:pPr marL="457200" indent="-457200">
              <a:buSzPct val="80000"/>
              <a:buFont typeface="Arial" panose="020B0604020202020204" pitchFamily="34" charset="0"/>
              <a:buChar char="•"/>
            </a:pPr>
            <a:r>
              <a:rPr lang="en-US" sz="3200" dirty="0">
                <a:latin typeface="Calibri" panose="020F0502020204030204" pitchFamily="34" charset="0"/>
                <a:cs typeface="Calibri" panose="020F0502020204030204" pitchFamily="34" charset="0"/>
              </a:rPr>
              <a:t>Water is assigned a value of 0 HU. The scale ranges from approximately –1000 HU (black) for air to greater than +1000 HU (white) for metal.</a:t>
            </a:r>
          </a:p>
        </p:txBody>
      </p:sp>
      <p:sp>
        <p:nvSpPr>
          <p:cNvPr id="2" name="Title 1">
            <a:extLst>
              <a:ext uri="{FF2B5EF4-FFF2-40B4-BE49-F238E27FC236}">
                <a16:creationId xmlns:a16="http://schemas.microsoft.com/office/drawing/2014/main" id="{85FEBD3F-BD7A-07DA-E29B-646767F688D3}"/>
              </a:ext>
            </a:extLst>
          </p:cNvPr>
          <p:cNvSpPr>
            <a:spLocks noGrp="1"/>
          </p:cNvSpPr>
          <p:nvPr>
            <p:ph type="title"/>
          </p:nvPr>
        </p:nvSpPr>
        <p:spPr>
          <a:xfrm>
            <a:off x="630780" y="200169"/>
            <a:ext cx="11129420" cy="902777"/>
          </a:xfrm>
        </p:spPr>
        <p:txBody>
          <a:bodyPr>
            <a:normAutofit/>
          </a:bodyPr>
          <a:lstStyle/>
          <a:p>
            <a:r>
              <a:rPr lang="en-US" u="sng" dirty="0">
                <a:latin typeface="Calibri Light" panose="020F0302020204030204" pitchFamily="34" charset="0"/>
                <a:ea typeface="Calibri Light" panose="020F0302020204030204" pitchFamily="34" charset="0"/>
                <a:cs typeface="Calibri Light" panose="020F0302020204030204" pitchFamily="34" charset="0"/>
              </a:rPr>
              <a:t>THE SCIENCE OF COMPUTED TOMOGRAPHY (CT)</a:t>
            </a:r>
          </a:p>
        </p:txBody>
      </p:sp>
    </p:spTree>
    <p:extLst>
      <p:ext uri="{BB962C8B-B14F-4D97-AF65-F5344CB8AC3E}">
        <p14:creationId xmlns:p14="http://schemas.microsoft.com/office/powerpoint/2010/main" val="1896693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5C6AF1-1528-4374-AAA3-6DA108F3683B}"/>
              </a:ext>
            </a:extLst>
          </p:cNvPr>
          <p:cNvSpPr>
            <a:spLocks noGrp="1"/>
          </p:cNvSpPr>
          <p:nvPr>
            <p:ph idx="1"/>
          </p:nvPr>
        </p:nvSpPr>
        <p:spPr>
          <a:xfrm>
            <a:off x="132522" y="1126435"/>
            <a:ext cx="10878378" cy="1762539"/>
          </a:xfrm>
        </p:spPr>
        <p:txBody>
          <a:bodyPr>
            <a:normAutofit/>
          </a:bodyPr>
          <a:lstStyle/>
          <a:p>
            <a:r>
              <a:rPr lang="en-US" sz="3200" dirty="0">
                <a:latin typeface="Calibri" panose="020F0502020204030204" pitchFamily="34" charset="0"/>
                <a:cs typeface="Calibri" panose="020F0502020204030204" pitchFamily="34" charset="0"/>
              </a:rPr>
              <a:t>The data can be reconstructed to view in different body planes: 				</a:t>
            </a:r>
            <a:r>
              <a:rPr lang="en-US" sz="3800" b="1" u="sng" dirty="0">
                <a:latin typeface="Calibri" panose="020F0502020204030204" pitchFamily="34" charset="0"/>
                <a:cs typeface="Calibri" panose="020F0502020204030204" pitchFamily="34" charset="0"/>
              </a:rPr>
              <a:t>axial, coronal and sagittal</a:t>
            </a:r>
          </a:p>
        </p:txBody>
      </p:sp>
      <p:pic>
        <p:nvPicPr>
          <p:cNvPr id="4" name="Picture 4" descr="Image result for CT planes">
            <a:extLst>
              <a:ext uri="{FF2B5EF4-FFF2-40B4-BE49-F238E27FC236}">
                <a16:creationId xmlns:a16="http://schemas.microsoft.com/office/drawing/2014/main" id="{BA7315FE-0755-CD4D-9498-DA5274717B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2903" y="2409981"/>
            <a:ext cx="8886194" cy="423457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E9A6F84-125A-ADE3-3877-DF99F5CBD45B}"/>
              </a:ext>
            </a:extLst>
          </p:cNvPr>
          <p:cNvSpPr>
            <a:spLocks noGrp="1"/>
          </p:cNvSpPr>
          <p:nvPr>
            <p:ph type="title"/>
          </p:nvPr>
        </p:nvSpPr>
        <p:spPr>
          <a:xfrm>
            <a:off x="3086751" y="213443"/>
            <a:ext cx="4969920" cy="902777"/>
          </a:xfrm>
        </p:spPr>
        <p:txBody>
          <a:bodyPr>
            <a:normAutofit/>
          </a:bodyPr>
          <a:lstStyle/>
          <a:p>
            <a:pPr algn="ctr"/>
            <a:r>
              <a:rPr lang="en-US" u="sng" dirty="0">
                <a:latin typeface="Calibri Light" panose="020F0302020204030204" pitchFamily="34" charset="0"/>
                <a:ea typeface="Calibri Light" panose="020F0302020204030204" pitchFamily="34" charset="0"/>
                <a:cs typeface="Calibri Light" panose="020F0302020204030204" pitchFamily="34" charset="0"/>
              </a:rPr>
              <a:t>READING A CT SCAN</a:t>
            </a:r>
          </a:p>
        </p:txBody>
      </p:sp>
    </p:spTree>
    <p:extLst>
      <p:ext uri="{BB962C8B-B14F-4D97-AF65-F5344CB8AC3E}">
        <p14:creationId xmlns:p14="http://schemas.microsoft.com/office/powerpoint/2010/main" val="22171695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483F3-7B03-4C1D-A7EC-E000C85EFDC4}"/>
              </a:ext>
            </a:extLst>
          </p:cNvPr>
          <p:cNvSpPr>
            <a:spLocks noGrp="1"/>
          </p:cNvSpPr>
          <p:nvPr>
            <p:ph type="title"/>
          </p:nvPr>
        </p:nvSpPr>
        <p:spPr>
          <a:xfrm>
            <a:off x="573432" y="235362"/>
            <a:ext cx="4874663" cy="795131"/>
          </a:xfrm>
        </p:spPr>
        <p:txBody>
          <a:bodyPr>
            <a:normAutofit/>
          </a:bodyPr>
          <a:lstStyle/>
          <a:p>
            <a:r>
              <a:rPr lang="en-US" u="sng" dirty="0">
                <a:latin typeface="Calibri Light" panose="020F0302020204030204" pitchFamily="34" charset="0"/>
                <a:ea typeface="Calibri Light" panose="020F0302020204030204" pitchFamily="34" charset="0"/>
                <a:cs typeface="Calibri Light" panose="020F0302020204030204" pitchFamily="34" charset="0"/>
              </a:rPr>
              <a:t>AXIAL PLANE </a:t>
            </a:r>
          </a:p>
        </p:txBody>
      </p:sp>
      <p:sp>
        <p:nvSpPr>
          <p:cNvPr id="5" name="TextBox 4">
            <a:extLst>
              <a:ext uri="{FF2B5EF4-FFF2-40B4-BE49-F238E27FC236}">
                <a16:creationId xmlns:a16="http://schemas.microsoft.com/office/drawing/2014/main" id="{698A59D3-AB5F-1D46-A79C-AA2D72AC4C21}"/>
              </a:ext>
            </a:extLst>
          </p:cNvPr>
          <p:cNvSpPr txBox="1"/>
          <p:nvPr/>
        </p:nvSpPr>
        <p:spPr>
          <a:xfrm>
            <a:off x="0" y="1113438"/>
            <a:ext cx="5224463" cy="4524315"/>
          </a:xfrm>
          <a:prstGeom prst="rect">
            <a:avLst/>
          </a:prstGeom>
          <a:noFill/>
        </p:spPr>
        <p:txBody>
          <a:bodyPr wrap="square" rtlCol="0">
            <a:spAutoFit/>
          </a:bodyPr>
          <a:lstStyle/>
          <a:p>
            <a:pPr marL="342900" indent="-342900">
              <a:buFont typeface="Arial" panose="020B0604020202020204" pitchFamily="34" charset="0"/>
              <a:buChar char="•"/>
            </a:pPr>
            <a:r>
              <a:rPr lang="en-US" sz="3200" dirty="0">
                <a:latin typeface="Calibri" panose="020F0502020204030204" pitchFamily="34" charset="0"/>
                <a:cs typeface="Calibri" panose="020F0502020204030204" pitchFamily="34" charset="0"/>
              </a:rPr>
              <a:t>An </a:t>
            </a:r>
            <a:r>
              <a:rPr lang="en-US" sz="3200" b="1" u="sng" dirty="0">
                <a:latin typeface="Calibri" panose="020F0502020204030204" pitchFamily="34" charset="0"/>
                <a:cs typeface="Calibri" panose="020F0502020204030204" pitchFamily="34" charset="0"/>
              </a:rPr>
              <a:t>axial CT image </a:t>
            </a:r>
            <a:r>
              <a:rPr lang="en-US" sz="3200" dirty="0">
                <a:latin typeface="Calibri" panose="020F0502020204030204" pitchFamily="34" charset="0"/>
                <a:cs typeface="Calibri" panose="020F0502020204030204" pitchFamily="34" charset="0"/>
              </a:rPr>
              <a:t>is displayed </a:t>
            </a:r>
            <a:r>
              <a:rPr lang="en-US" sz="3200" b="1" i="1" dirty="0">
                <a:latin typeface="Calibri" panose="020F0502020204030204" pitchFamily="34" charset="0"/>
                <a:cs typeface="Calibri" panose="020F0502020204030204" pitchFamily="34" charset="0"/>
              </a:rPr>
              <a:t>as if the clinician is standing at the patient's feet looking up</a:t>
            </a:r>
            <a:endParaRPr lang="en-US" sz="3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3200" dirty="0">
                <a:latin typeface="Calibri" panose="020F0502020204030204" pitchFamily="34" charset="0"/>
                <a:cs typeface="Calibri" panose="020F0502020204030204" pitchFamily="34" charset="0"/>
              </a:rPr>
              <a:t>The axial plane is most commonly used, and the clinician scrolls through a series of images- going up and down the area imaged.</a:t>
            </a:r>
          </a:p>
        </p:txBody>
      </p:sp>
      <p:pic>
        <p:nvPicPr>
          <p:cNvPr id="1026" name="Picture 2" descr="Chest CT imaging of an early Canadian case of COVID-19 in a 28-year-old man  | CMAJ">
            <a:extLst>
              <a:ext uri="{FF2B5EF4-FFF2-40B4-BE49-F238E27FC236}">
                <a16:creationId xmlns:a16="http://schemas.microsoft.com/office/drawing/2014/main" id="{CD639BD1-169E-A44C-AAFB-092493BBAB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3759" y="101600"/>
            <a:ext cx="6761091" cy="665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6043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483F3-7B03-4C1D-A7EC-E000C85EFDC4}"/>
              </a:ext>
            </a:extLst>
          </p:cNvPr>
          <p:cNvSpPr>
            <a:spLocks noGrp="1"/>
          </p:cNvSpPr>
          <p:nvPr>
            <p:ph type="title"/>
          </p:nvPr>
        </p:nvSpPr>
        <p:spPr>
          <a:xfrm>
            <a:off x="459337" y="356428"/>
            <a:ext cx="4874663" cy="795131"/>
          </a:xfrm>
        </p:spPr>
        <p:txBody>
          <a:bodyPr>
            <a:normAutofit/>
          </a:bodyPr>
          <a:lstStyle/>
          <a:p>
            <a:r>
              <a:rPr lang="en-US" u="sng" dirty="0">
                <a:latin typeface="Calibri Light" panose="020F0302020204030204" pitchFamily="34" charset="0"/>
                <a:ea typeface="Calibri Light" panose="020F0302020204030204" pitchFamily="34" charset="0"/>
                <a:cs typeface="Calibri Light" panose="020F0302020204030204" pitchFamily="34" charset="0"/>
              </a:rPr>
              <a:t>SAGITTAL PLANE</a:t>
            </a:r>
          </a:p>
        </p:txBody>
      </p:sp>
      <p:sp>
        <p:nvSpPr>
          <p:cNvPr id="5" name="TextBox 4">
            <a:extLst>
              <a:ext uri="{FF2B5EF4-FFF2-40B4-BE49-F238E27FC236}">
                <a16:creationId xmlns:a16="http://schemas.microsoft.com/office/drawing/2014/main" id="{698A59D3-AB5F-1D46-A79C-AA2D72AC4C21}"/>
              </a:ext>
            </a:extLst>
          </p:cNvPr>
          <p:cNvSpPr txBox="1"/>
          <p:nvPr/>
        </p:nvSpPr>
        <p:spPr>
          <a:xfrm>
            <a:off x="214171" y="1511003"/>
            <a:ext cx="4874663" cy="3539430"/>
          </a:xfrm>
          <a:prstGeom prst="rect">
            <a:avLst/>
          </a:prstGeom>
          <a:noFill/>
        </p:spPr>
        <p:txBody>
          <a:bodyPr wrap="square" rtlCol="0">
            <a:spAutoFit/>
          </a:bodyPr>
          <a:lstStyle/>
          <a:p>
            <a:pPr marL="342900" indent="-342900">
              <a:buFont typeface="Arial" panose="020B0604020202020204" pitchFamily="34" charset="0"/>
              <a:buChar char="•"/>
            </a:pPr>
            <a:r>
              <a:rPr lang="en-US" sz="3200" dirty="0">
                <a:latin typeface="Calibri" panose="020F0502020204030204" pitchFamily="34" charset="0"/>
                <a:cs typeface="Calibri" panose="020F0502020204030204" pitchFamily="34" charset="0"/>
              </a:rPr>
              <a:t>A </a:t>
            </a:r>
            <a:r>
              <a:rPr lang="en-US" sz="3200" b="1" u="sng" dirty="0">
                <a:latin typeface="Calibri" panose="020F0502020204030204" pitchFamily="34" charset="0"/>
                <a:cs typeface="Calibri" panose="020F0502020204030204" pitchFamily="34" charset="0"/>
              </a:rPr>
              <a:t>sagittal CT image </a:t>
            </a:r>
            <a:r>
              <a:rPr lang="en-US" sz="3200" dirty="0">
                <a:latin typeface="Calibri" panose="020F0502020204030204" pitchFamily="34" charset="0"/>
                <a:cs typeface="Calibri" panose="020F0502020204030204" pitchFamily="34" charset="0"/>
              </a:rPr>
              <a:t>is displayed </a:t>
            </a:r>
            <a:r>
              <a:rPr lang="en-US" sz="3200" b="1" i="1" dirty="0">
                <a:latin typeface="Calibri" panose="020F0502020204030204" pitchFamily="34" charset="0"/>
                <a:cs typeface="Calibri" panose="020F0502020204030204" pitchFamily="34" charset="0"/>
              </a:rPr>
              <a:t>as if the clinician is standing at the patient’s left shoulder </a:t>
            </a:r>
            <a:r>
              <a:rPr lang="en-US" sz="3200" dirty="0">
                <a:latin typeface="Calibri" panose="020F0502020204030204" pitchFamily="34" charset="0"/>
                <a:cs typeface="Calibri" panose="020F0502020204030204" pitchFamily="34" charset="0"/>
              </a:rPr>
              <a:t>and viewing slices of the body area as they pass to the right shoulder.  </a:t>
            </a:r>
          </a:p>
        </p:txBody>
      </p:sp>
      <p:pic>
        <p:nvPicPr>
          <p:cNvPr id="3074" name="Picture 2" descr="Check out this sagittal view of a CT aorta...⁣ ⁣ TAKE NOTE OF:⁣ ⁣ 📝We can  see one branch of the ar… | Radiology student, Medical school studying,  Medical knowledge">
            <a:extLst>
              <a:ext uri="{FF2B5EF4-FFF2-40B4-BE49-F238E27FC236}">
                <a16:creationId xmlns:a16="http://schemas.microsoft.com/office/drawing/2014/main" id="{41EB0725-CB82-104F-8F69-0899191A5C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03293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483F3-7B03-4C1D-A7EC-E000C85EFDC4}"/>
              </a:ext>
            </a:extLst>
          </p:cNvPr>
          <p:cNvSpPr>
            <a:spLocks noGrp="1"/>
          </p:cNvSpPr>
          <p:nvPr>
            <p:ph type="title"/>
          </p:nvPr>
        </p:nvSpPr>
        <p:spPr>
          <a:xfrm>
            <a:off x="2577481" y="190766"/>
            <a:ext cx="6853903" cy="795131"/>
          </a:xfrm>
        </p:spPr>
        <p:txBody>
          <a:bodyPr>
            <a:normAutofit/>
          </a:bodyPr>
          <a:lstStyle/>
          <a:p>
            <a:pPr algn="ctr"/>
            <a:r>
              <a:rPr lang="en-US" u="sng" dirty="0">
                <a:latin typeface="Calibri Light" panose="020F0302020204030204" pitchFamily="34" charset="0"/>
                <a:ea typeface="Calibri Light" panose="020F0302020204030204" pitchFamily="34" charset="0"/>
                <a:cs typeface="Calibri Light" panose="020F0302020204030204" pitchFamily="34" charset="0"/>
              </a:rPr>
              <a:t>CORONAL PLANE</a:t>
            </a:r>
          </a:p>
        </p:txBody>
      </p:sp>
      <p:sp>
        <p:nvSpPr>
          <p:cNvPr id="5" name="TextBox 4">
            <a:extLst>
              <a:ext uri="{FF2B5EF4-FFF2-40B4-BE49-F238E27FC236}">
                <a16:creationId xmlns:a16="http://schemas.microsoft.com/office/drawing/2014/main" id="{698A59D3-AB5F-1D46-A79C-AA2D72AC4C21}"/>
              </a:ext>
            </a:extLst>
          </p:cNvPr>
          <p:cNvSpPr txBox="1"/>
          <p:nvPr/>
        </p:nvSpPr>
        <p:spPr>
          <a:xfrm>
            <a:off x="235974" y="985897"/>
            <a:ext cx="8596876" cy="2062103"/>
          </a:xfrm>
          <a:prstGeom prst="rect">
            <a:avLst/>
          </a:prstGeom>
          <a:noFill/>
        </p:spPr>
        <p:txBody>
          <a:bodyPr wrap="square" rtlCol="0">
            <a:spAutoFit/>
          </a:bodyPr>
          <a:lstStyle/>
          <a:p>
            <a:pPr marL="342900" indent="-342900">
              <a:buFont typeface="Arial" panose="020B0604020202020204" pitchFamily="34" charset="0"/>
              <a:buChar char="•"/>
            </a:pPr>
            <a:r>
              <a:rPr lang="en-US" sz="3200" dirty="0">
                <a:latin typeface="Calibri" panose="020F0502020204030204" pitchFamily="34" charset="0"/>
                <a:cs typeface="Calibri" panose="020F0502020204030204" pitchFamily="34" charset="0"/>
              </a:rPr>
              <a:t>A </a:t>
            </a:r>
            <a:r>
              <a:rPr lang="en-US" sz="3200" b="1" u="sng" dirty="0">
                <a:latin typeface="Calibri" panose="020F0502020204030204" pitchFamily="34" charset="0"/>
                <a:cs typeface="Calibri" panose="020F0502020204030204" pitchFamily="34" charset="0"/>
              </a:rPr>
              <a:t>coronal CT image </a:t>
            </a:r>
            <a:r>
              <a:rPr lang="en-US" sz="3200" dirty="0">
                <a:latin typeface="Calibri" panose="020F0502020204030204" pitchFamily="34" charset="0"/>
                <a:cs typeface="Calibri" panose="020F0502020204030204" pitchFamily="34" charset="0"/>
              </a:rPr>
              <a:t>is displayed </a:t>
            </a:r>
            <a:r>
              <a:rPr lang="en-US" sz="3200" b="1" i="1" dirty="0">
                <a:latin typeface="Calibri" panose="020F0502020204030204" pitchFamily="34" charset="0"/>
                <a:cs typeface="Calibri" panose="020F0502020204030204" pitchFamily="34" charset="0"/>
              </a:rPr>
              <a:t>as if the clinician is standing in front of the patient</a:t>
            </a:r>
            <a:r>
              <a:rPr lang="en-US" sz="3200" dirty="0">
                <a:latin typeface="Calibri" panose="020F0502020204030204" pitchFamily="34" charset="0"/>
                <a:cs typeface="Calibri" panose="020F0502020204030204" pitchFamily="34" charset="0"/>
              </a:rPr>
              <a:t> and viewing slices of the body area under evaluation from the front to the back.  </a:t>
            </a:r>
          </a:p>
        </p:txBody>
      </p:sp>
      <p:pic>
        <p:nvPicPr>
          <p:cNvPr id="5122" name="Picture 2" descr="figure image">
            <a:extLst>
              <a:ext uri="{FF2B5EF4-FFF2-40B4-BE49-F238E27FC236}">
                <a16:creationId xmlns:a16="http://schemas.microsoft.com/office/drawing/2014/main" id="{B9761719-FF5B-CD42-B254-2D853C0DABA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174" b="1"/>
          <a:stretch/>
        </p:blipFill>
        <p:spPr bwMode="auto">
          <a:xfrm>
            <a:off x="52840" y="3048000"/>
            <a:ext cx="11903186"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19886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5C6AF1-1528-4374-AAA3-6DA108F3683B}"/>
              </a:ext>
            </a:extLst>
          </p:cNvPr>
          <p:cNvSpPr>
            <a:spLocks noGrp="1"/>
          </p:cNvSpPr>
          <p:nvPr>
            <p:ph idx="1"/>
          </p:nvPr>
        </p:nvSpPr>
        <p:spPr>
          <a:xfrm>
            <a:off x="132522" y="1126436"/>
            <a:ext cx="11913704" cy="5625548"/>
          </a:xfrm>
        </p:spPr>
        <p:txBody>
          <a:bodyPr>
            <a:normAutofit/>
          </a:bodyPr>
          <a:lstStyle/>
          <a:p>
            <a:r>
              <a:rPr lang="en-US" sz="3200" dirty="0">
                <a:latin typeface="Calibri" panose="020F0502020204030204" pitchFamily="34" charset="0"/>
                <a:cs typeface="Calibri" panose="020F0502020204030204" pitchFamily="34" charset="0"/>
              </a:rPr>
              <a:t>The human eye cannot effectively differentiate between all the shades of gray that make up the full spectrum of attenuation values in a CT image (-1000 to 1000 HU). </a:t>
            </a:r>
          </a:p>
          <a:p>
            <a:endParaRPr lang="en-US" sz="30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To make a CT easier to read, the clinician establishes a limited view of the CT by selecting those Hounsfield units that will best look at what they want to see.  </a:t>
            </a:r>
          </a:p>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A radiologist performing an official reading of a CT will do this multiple times to look at tissues of varying densities.</a:t>
            </a:r>
          </a:p>
          <a:p>
            <a:endParaRPr lang="en-US" sz="3200" dirty="0">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6154C2A6-835B-3A54-8419-4CB9B4F488F4}"/>
              </a:ext>
            </a:extLst>
          </p:cNvPr>
          <p:cNvSpPr>
            <a:spLocks noGrp="1"/>
          </p:cNvSpPr>
          <p:nvPr>
            <p:ph type="title"/>
          </p:nvPr>
        </p:nvSpPr>
        <p:spPr>
          <a:xfrm>
            <a:off x="3086751" y="213443"/>
            <a:ext cx="4969920" cy="902777"/>
          </a:xfrm>
        </p:spPr>
        <p:txBody>
          <a:bodyPr>
            <a:normAutofit/>
          </a:bodyPr>
          <a:lstStyle/>
          <a:p>
            <a:pPr algn="ctr"/>
            <a:r>
              <a:rPr lang="en-US" u="sng" dirty="0">
                <a:latin typeface="Calibri Light" panose="020F0302020204030204" pitchFamily="34" charset="0"/>
                <a:ea typeface="Calibri Light" panose="020F0302020204030204" pitchFamily="34" charset="0"/>
                <a:cs typeface="Calibri Light" panose="020F0302020204030204" pitchFamily="34" charset="0"/>
              </a:rPr>
              <a:t>READING A CT SCAN</a:t>
            </a:r>
          </a:p>
        </p:txBody>
      </p:sp>
    </p:spTree>
    <p:extLst>
      <p:ext uri="{BB962C8B-B14F-4D97-AF65-F5344CB8AC3E}">
        <p14:creationId xmlns:p14="http://schemas.microsoft.com/office/powerpoint/2010/main" val="31124058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B1BB3-D4FE-1B9E-13C2-190582C7F0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B02AA5-BFEB-3962-4E20-877259734DB9}"/>
              </a:ext>
            </a:extLst>
          </p:cNvPr>
          <p:cNvSpPr>
            <a:spLocks noGrp="1"/>
          </p:cNvSpPr>
          <p:nvPr>
            <p:ph idx="1"/>
          </p:nvPr>
        </p:nvSpPr>
        <p:spPr>
          <a:xfrm>
            <a:off x="132522" y="1126436"/>
            <a:ext cx="11913704" cy="5625548"/>
          </a:xfrm>
        </p:spPr>
        <p:txBody>
          <a:bodyPr>
            <a:normAutofit/>
          </a:bodyPr>
          <a:lstStyle/>
          <a:p>
            <a:pPr marL="0" indent="0">
              <a:buNone/>
            </a:pPr>
            <a:r>
              <a:rPr lang="en-US" sz="3200" dirty="0">
                <a:latin typeface="Calibri" panose="020F0502020204030204" pitchFamily="34" charset="0"/>
                <a:cs typeface="Calibri" panose="020F0502020204030204" pitchFamily="34" charset="0"/>
              </a:rPr>
              <a:t>Here is how it works:</a:t>
            </a:r>
            <a:endParaRPr lang="en-US" sz="30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A limited gray scale is established by reducing the number of Hounsfield units being displayed by setting a “window width” – for example: -100 HU to 500 HU.</a:t>
            </a:r>
          </a:p>
          <a:p>
            <a:pPr marL="0" indent="0">
              <a:buNone/>
            </a:pPr>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This also sets a “window level” in the exact middle of the scale, in this example the level would be 200 HU </a:t>
            </a:r>
          </a:p>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The window width sets parameters so that only HU in that range are included.  Those above and below the window width limits are displayed as white and black, respectively. </a:t>
            </a:r>
          </a:p>
        </p:txBody>
      </p:sp>
      <p:sp>
        <p:nvSpPr>
          <p:cNvPr id="2" name="Title 1">
            <a:extLst>
              <a:ext uri="{FF2B5EF4-FFF2-40B4-BE49-F238E27FC236}">
                <a16:creationId xmlns:a16="http://schemas.microsoft.com/office/drawing/2014/main" id="{EB9668E4-A488-E371-8C68-1B0AD3FD994F}"/>
              </a:ext>
            </a:extLst>
          </p:cNvPr>
          <p:cNvSpPr>
            <a:spLocks noGrp="1"/>
          </p:cNvSpPr>
          <p:nvPr>
            <p:ph type="title"/>
          </p:nvPr>
        </p:nvSpPr>
        <p:spPr>
          <a:xfrm>
            <a:off x="3086751" y="213443"/>
            <a:ext cx="4969920" cy="902777"/>
          </a:xfrm>
        </p:spPr>
        <p:txBody>
          <a:bodyPr>
            <a:normAutofit/>
          </a:bodyPr>
          <a:lstStyle/>
          <a:p>
            <a:pPr algn="ctr"/>
            <a:r>
              <a:rPr lang="en-US" u="sng" dirty="0">
                <a:latin typeface="Calibri Light" panose="020F0302020204030204" pitchFamily="34" charset="0"/>
                <a:ea typeface="Calibri Light" panose="020F0302020204030204" pitchFamily="34" charset="0"/>
                <a:cs typeface="Calibri Light" panose="020F0302020204030204" pitchFamily="34" charset="0"/>
              </a:rPr>
              <a:t>READING A CT SCAN</a:t>
            </a:r>
          </a:p>
        </p:txBody>
      </p:sp>
    </p:spTree>
    <p:extLst>
      <p:ext uri="{BB962C8B-B14F-4D97-AF65-F5344CB8AC3E}">
        <p14:creationId xmlns:p14="http://schemas.microsoft.com/office/powerpoint/2010/main" val="3926509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A92F9BA7-4D78-3143-A61C-364A05DBB201}"/>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533" t="10837" r="2292" b="6769"/>
          <a:stretch/>
        </p:blipFill>
        <p:spPr bwMode="auto">
          <a:xfrm>
            <a:off x="851296" y="2560854"/>
            <a:ext cx="10389394" cy="396403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F32A9ED-57D2-9B4E-B619-CB641B4A5B7D}"/>
              </a:ext>
            </a:extLst>
          </p:cNvPr>
          <p:cNvSpPr txBox="1"/>
          <p:nvPr/>
        </p:nvSpPr>
        <p:spPr>
          <a:xfrm>
            <a:off x="266699" y="91082"/>
            <a:ext cx="11558588" cy="2400657"/>
          </a:xfrm>
          <a:prstGeom prst="rect">
            <a:avLst/>
          </a:prstGeom>
          <a:noFill/>
        </p:spPr>
        <p:txBody>
          <a:bodyPr wrap="square" rtlCol="0">
            <a:spAutoFit/>
          </a:bodyPr>
          <a:lstStyle/>
          <a:p>
            <a:r>
              <a:rPr lang="en-US" sz="3000" b="1" u="sng" dirty="0">
                <a:latin typeface="Calibri" panose="020F0502020204030204" pitchFamily="34" charset="0"/>
                <a:cs typeface="Calibri" panose="020F0502020204030204" pitchFamily="34" charset="0"/>
              </a:rPr>
              <a:t>Window width: </a:t>
            </a:r>
            <a:r>
              <a:rPr lang="en-US" sz="3000" dirty="0">
                <a:latin typeface="Calibri" panose="020F0502020204030204" pitchFamily="34" charset="0"/>
                <a:cs typeface="Calibri" panose="020F0502020204030204" pitchFamily="34" charset="0"/>
              </a:rPr>
              <a:t>the window width refers to the number of different HU units that will be represented by different shades of gray. Any HU value that falls below the lower value of the window width will show up as BLACK on the scan while any HU value that is above the upper value of the window width will be WHITE.</a:t>
            </a:r>
          </a:p>
        </p:txBody>
      </p:sp>
    </p:spTree>
    <p:extLst>
      <p:ext uri="{BB962C8B-B14F-4D97-AF65-F5344CB8AC3E}">
        <p14:creationId xmlns:p14="http://schemas.microsoft.com/office/powerpoint/2010/main" val="42551627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5C6AF1-1528-4374-AAA3-6DA108F3683B}"/>
              </a:ext>
            </a:extLst>
          </p:cNvPr>
          <p:cNvSpPr>
            <a:spLocks noGrp="1"/>
          </p:cNvSpPr>
          <p:nvPr>
            <p:ph idx="1"/>
          </p:nvPr>
        </p:nvSpPr>
        <p:spPr>
          <a:xfrm>
            <a:off x="157163" y="1042988"/>
            <a:ext cx="5772150" cy="5609959"/>
          </a:xfrm>
        </p:spPr>
        <p:txBody>
          <a:bodyPr>
            <a:normAutofit fontScale="85000" lnSpcReduction="10000"/>
          </a:bodyPr>
          <a:lstStyle/>
          <a:p>
            <a:pPr>
              <a:lnSpc>
                <a:spcPct val="110000"/>
              </a:lnSpc>
            </a:pPr>
            <a:r>
              <a:rPr lang="en-US" sz="3200" b="1" dirty="0">
                <a:latin typeface="Calibri" panose="020F0502020204030204" pitchFamily="34" charset="0"/>
                <a:cs typeface="Calibri" panose="020F0502020204030204" pitchFamily="34" charset="0"/>
              </a:rPr>
              <a:t>Increasing the window width will DECREASE the contrast of the image </a:t>
            </a:r>
            <a:r>
              <a:rPr lang="en-US" sz="3200" dirty="0">
                <a:latin typeface="Calibri" panose="020F0502020204030204" pitchFamily="34" charset="0"/>
                <a:cs typeface="Calibri" panose="020F0502020204030204" pitchFamily="34" charset="0"/>
              </a:rPr>
              <a:t>because a larger change in density will be required to change the shade of grey represented by a HU.  </a:t>
            </a:r>
            <a:r>
              <a:rPr lang="en-US" sz="3200" b="1" dirty="0">
                <a:latin typeface="Calibri" panose="020F0502020204030204" pitchFamily="34" charset="0"/>
                <a:cs typeface="Calibri" panose="020F0502020204030204" pitchFamily="34" charset="0"/>
              </a:rPr>
              <a:t>Decreasing the window width will INCREASE the contrast of the image.</a:t>
            </a:r>
          </a:p>
          <a:p>
            <a:pPr>
              <a:lnSpc>
                <a:spcPct val="110000"/>
              </a:lnSpc>
            </a:pPr>
            <a:endParaRPr lang="en-US" sz="3000" dirty="0">
              <a:latin typeface="Calibri" panose="020F0502020204030204" pitchFamily="34" charset="0"/>
              <a:cs typeface="Calibri" panose="020F0502020204030204" pitchFamily="34" charset="0"/>
            </a:endParaRPr>
          </a:p>
          <a:p>
            <a:pPr>
              <a:lnSpc>
                <a:spcPct val="110000"/>
              </a:lnSpc>
            </a:pPr>
            <a:r>
              <a:rPr lang="en-US" sz="3000" dirty="0">
                <a:latin typeface="Calibri" panose="020F0502020204030204" pitchFamily="34" charset="0"/>
                <a:cs typeface="Calibri" panose="020F0502020204030204" pitchFamily="34" charset="0"/>
              </a:rPr>
              <a:t>Note the ability to detect the muscles and fat in the subcutaneous tissues of the chest wall is significantly reduced when the window width is increased from 400 to 1,000.</a:t>
            </a:r>
          </a:p>
        </p:txBody>
      </p:sp>
      <p:pic>
        <p:nvPicPr>
          <p:cNvPr id="14338" name="Picture 2">
            <a:extLst>
              <a:ext uri="{FF2B5EF4-FFF2-40B4-BE49-F238E27FC236}">
                <a16:creationId xmlns:a16="http://schemas.microsoft.com/office/drawing/2014/main" id="{218D7C8D-03C1-A448-B4D3-B17D61B43C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3" r="-2" b="4601"/>
          <a:stretch/>
        </p:blipFill>
        <p:spPr bwMode="auto">
          <a:xfrm>
            <a:off x="6096000" y="10"/>
            <a:ext cx="609600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BDDA339-CFB4-AEAF-8D1A-EA3E31160D00}"/>
              </a:ext>
            </a:extLst>
          </p:cNvPr>
          <p:cNvSpPr>
            <a:spLocks noGrp="1"/>
          </p:cNvSpPr>
          <p:nvPr>
            <p:ph type="title"/>
          </p:nvPr>
        </p:nvSpPr>
        <p:spPr>
          <a:xfrm>
            <a:off x="558278" y="205053"/>
            <a:ext cx="4969920" cy="902777"/>
          </a:xfrm>
        </p:spPr>
        <p:txBody>
          <a:bodyPr>
            <a:normAutofit/>
          </a:bodyPr>
          <a:lstStyle/>
          <a:p>
            <a:pPr algn="ctr"/>
            <a:r>
              <a:rPr lang="en-US" u="sng" dirty="0">
                <a:latin typeface="Calibri Light" panose="020F0302020204030204" pitchFamily="34" charset="0"/>
                <a:ea typeface="Calibri Light" panose="020F0302020204030204" pitchFamily="34" charset="0"/>
                <a:cs typeface="Calibri Light" panose="020F0302020204030204" pitchFamily="34" charset="0"/>
              </a:rPr>
              <a:t>READING A CT SCAN</a:t>
            </a:r>
          </a:p>
        </p:txBody>
      </p:sp>
    </p:spTree>
    <p:extLst>
      <p:ext uri="{BB962C8B-B14F-4D97-AF65-F5344CB8AC3E}">
        <p14:creationId xmlns:p14="http://schemas.microsoft.com/office/powerpoint/2010/main" val="4919305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5C6AF1-1528-4374-AAA3-6DA108F3683B}"/>
              </a:ext>
            </a:extLst>
          </p:cNvPr>
          <p:cNvSpPr>
            <a:spLocks noGrp="1"/>
          </p:cNvSpPr>
          <p:nvPr>
            <p:ph idx="1"/>
          </p:nvPr>
        </p:nvSpPr>
        <p:spPr>
          <a:xfrm>
            <a:off x="139148" y="1446392"/>
            <a:ext cx="11913704" cy="5121965"/>
          </a:xfrm>
        </p:spPr>
        <p:txBody>
          <a:bodyPr>
            <a:normAutofit/>
          </a:bodyPr>
          <a:lstStyle/>
          <a:p>
            <a:r>
              <a:rPr lang="en-US" sz="3200" dirty="0">
                <a:latin typeface="Calibri" panose="020F0502020204030204" pitchFamily="34" charset="0"/>
                <a:cs typeface="Calibri" panose="020F0502020204030204" pitchFamily="34" charset="0"/>
              </a:rPr>
              <a:t>So, when a clinician reads a CT scan, they will look at the images multiple times.  Each time they will </a:t>
            </a:r>
            <a:r>
              <a:rPr lang="en-US" sz="3200" b="1" i="1" dirty="0">
                <a:latin typeface="Calibri" panose="020F0502020204030204" pitchFamily="34" charset="0"/>
                <a:cs typeface="Calibri" panose="020F0502020204030204" pitchFamily="34" charset="0"/>
              </a:rPr>
              <a:t>look at different structures using a window width and level</a:t>
            </a:r>
            <a:r>
              <a:rPr lang="en-US" sz="3200" dirty="0">
                <a:latin typeface="Calibri" panose="020F0502020204030204" pitchFamily="34" charset="0"/>
                <a:cs typeface="Calibri" panose="020F0502020204030204" pitchFamily="34" charset="0"/>
              </a:rPr>
              <a:t> that brings those areas into sharper focus.</a:t>
            </a:r>
          </a:p>
          <a:p>
            <a:endParaRPr lang="en-US" sz="20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For example, when a radiology clinician reads a chest CT, they will look at</a:t>
            </a:r>
          </a:p>
          <a:p>
            <a:pPr marL="742950" lvl="1" indent="-514350">
              <a:buFont typeface="+mj-lt"/>
              <a:buAutoNum type="arabicPeriod"/>
            </a:pPr>
            <a:r>
              <a:rPr lang="en-US" sz="3200" dirty="0">
                <a:latin typeface="Calibri" panose="020F0502020204030204" pitchFamily="34" charset="0"/>
                <a:cs typeface="Calibri" panose="020F0502020204030204" pitchFamily="34" charset="0"/>
              </a:rPr>
              <a:t>At bone windows to evaluate the ribs, sternum and spine</a:t>
            </a:r>
          </a:p>
          <a:p>
            <a:pPr marL="742950" lvl="1" indent="-514350">
              <a:buFont typeface="+mj-lt"/>
              <a:buAutoNum type="arabicPeriod"/>
            </a:pPr>
            <a:r>
              <a:rPr lang="en-US" sz="3200" dirty="0">
                <a:latin typeface="Calibri" panose="020F0502020204030204" pitchFamily="34" charset="0"/>
                <a:cs typeface="Calibri" panose="020F0502020204030204" pitchFamily="34" charset="0"/>
              </a:rPr>
              <a:t>At lung windows to evaluate the lung parenchyma</a:t>
            </a:r>
          </a:p>
          <a:p>
            <a:pPr marL="742950" lvl="1" indent="-514350">
              <a:buFont typeface="+mj-lt"/>
              <a:buAutoNum type="arabicPeriod"/>
            </a:pPr>
            <a:r>
              <a:rPr lang="en-US" sz="3200" dirty="0">
                <a:latin typeface="Calibri" panose="020F0502020204030204" pitchFamily="34" charset="0"/>
                <a:cs typeface="Calibri" panose="020F0502020204030204" pitchFamily="34" charset="0"/>
              </a:rPr>
              <a:t>At chest windows to evaluate the vascular structures and the air- filled bronchi/ trachea</a:t>
            </a:r>
          </a:p>
        </p:txBody>
      </p:sp>
      <p:sp>
        <p:nvSpPr>
          <p:cNvPr id="2" name="Title 1">
            <a:extLst>
              <a:ext uri="{FF2B5EF4-FFF2-40B4-BE49-F238E27FC236}">
                <a16:creationId xmlns:a16="http://schemas.microsoft.com/office/drawing/2014/main" id="{5A12F0BC-8DEA-F9B0-6227-48770A30129F}"/>
              </a:ext>
            </a:extLst>
          </p:cNvPr>
          <p:cNvSpPr>
            <a:spLocks noGrp="1"/>
          </p:cNvSpPr>
          <p:nvPr>
            <p:ph type="title"/>
          </p:nvPr>
        </p:nvSpPr>
        <p:spPr>
          <a:xfrm>
            <a:off x="3611040" y="289643"/>
            <a:ext cx="4969920" cy="902777"/>
          </a:xfrm>
        </p:spPr>
        <p:txBody>
          <a:bodyPr>
            <a:normAutofit/>
          </a:bodyPr>
          <a:lstStyle/>
          <a:p>
            <a:pPr algn="ctr"/>
            <a:r>
              <a:rPr lang="en-US" u="sng" dirty="0">
                <a:latin typeface="Calibri Light" panose="020F0302020204030204" pitchFamily="34" charset="0"/>
                <a:ea typeface="Calibri Light" panose="020F0302020204030204" pitchFamily="34" charset="0"/>
                <a:cs typeface="Calibri Light" panose="020F0302020204030204" pitchFamily="34" charset="0"/>
              </a:rPr>
              <a:t>READING A CT SCAN</a:t>
            </a:r>
          </a:p>
        </p:txBody>
      </p:sp>
    </p:spTree>
    <p:extLst>
      <p:ext uri="{BB962C8B-B14F-4D97-AF65-F5344CB8AC3E}">
        <p14:creationId xmlns:p14="http://schemas.microsoft.com/office/powerpoint/2010/main" val="17624381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917D8-E4F6-7549-9629-EC3F6D30A50F}"/>
              </a:ext>
            </a:extLst>
          </p:cNvPr>
          <p:cNvSpPr>
            <a:spLocks noGrp="1"/>
          </p:cNvSpPr>
          <p:nvPr>
            <p:ph type="title"/>
          </p:nvPr>
        </p:nvSpPr>
        <p:spPr>
          <a:xfrm>
            <a:off x="1552575" y="164592"/>
            <a:ext cx="9086850" cy="953381"/>
          </a:xfrm>
        </p:spPr>
        <p:txBody>
          <a:bodyPr>
            <a:normAutofit fontScale="90000"/>
          </a:bodyPr>
          <a:lstStyle/>
          <a:p>
            <a:r>
              <a:rPr lang="en-US" u="sng" dirty="0"/>
              <a:t>3 DIMENSIONAL CT RECONSTRUCTIONS</a:t>
            </a:r>
          </a:p>
        </p:txBody>
      </p:sp>
      <p:pic>
        <p:nvPicPr>
          <p:cNvPr id="5" name="Picture 4">
            <a:extLst>
              <a:ext uri="{FF2B5EF4-FFF2-40B4-BE49-F238E27FC236}">
                <a16:creationId xmlns:a16="http://schemas.microsoft.com/office/drawing/2014/main" id="{825CBEF4-6982-0F4D-A49C-0664B84C0616}"/>
              </a:ext>
            </a:extLst>
          </p:cNvPr>
          <p:cNvPicPr>
            <a:picLocks noChangeAspect="1"/>
          </p:cNvPicPr>
          <p:nvPr/>
        </p:nvPicPr>
        <p:blipFill rotWithShape="1">
          <a:blip r:embed="rId3"/>
          <a:srcRect l="13943" r="7092" b="54768"/>
          <a:stretch/>
        </p:blipFill>
        <p:spPr>
          <a:xfrm>
            <a:off x="369277" y="967154"/>
            <a:ext cx="4325816" cy="5226629"/>
          </a:xfrm>
          <a:prstGeom prst="rect">
            <a:avLst/>
          </a:prstGeom>
        </p:spPr>
      </p:pic>
      <p:pic>
        <p:nvPicPr>
          <p:cNvPr id="7" name="Picture 6">
            <a:extLst>
              <a:ext uri="{FF2B5EF4-FFF2-40B4-BE49-F238E27FC236}">
                <a16:creationId xmlns:a16="http://schemas.microsoft.com/office/drawing/2014/main" id="{4D90B0C8-3671-FB4F-AB99-8BBAC2CB6A03}"/>
              </a:ext>
            </a:extLst>
          </p:cNvPr>
          <p:cNvPicPr>
            <a:picLocks noChangeAspect="1"/>
          </p:cNvPicPr>
          <p:nvPr/>
        </p:nvPicPr>
        <p:blipFill rotWithShape="1">
          <a:blip r:embed="rId3"/>
          <a:srcRect l="17187" t="46667" r="13582" b="5583"/>
          <a:stretch/>
        </p:blipFill>
        <p:spPr>
          <a:xfrm>
            <a:off x="4817440" y="967153"/>
            <a:ext cx="3592429" cy="5226629"/>
          </a:xfrm>
          <a:prstGeom prst="rect">
            <a:avLst/>
          </a:prstGeom>
        </p:spPr>
      </p:pic>
      <p:pic>
        <p:nvPicPr>
          <p:cNvPr id="8" name="Picture 2" descr="Image result for ct bone reconstruction">
            <a:extLst>
              <a:ext uri="{FF2B5EF4-FFF2-40B4-BE49-F238E27FC236}">
                <a16:creationId xmlns:a16="http://schemas.microsoft.com/office/drawing/2014/main" id="{1B7C28DD-9F34-7245-8F73-0C3D580DD31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730" r="7690" b="-1"/>
          <a:stretch/>
        </p:blipFill>
        <p:spPr bwMode="auto">
          <a:xfrm>
            <a:off x="8529529" y="1867966"/>
            <a:ext cx="3488946" cy="4325816"/>
          </a:xfrm>
          <a:prstGeom prst="rect">
            <a:avLst/>
          </a:prstGeom>
          <a:noFill/>
          <a:ln w="31750" cap="sq">
            <a:solidFill>
              <a:srgbClr val="FFFFFF"/>
            </a:solidFill>
            <a:miter lim="800000"/>
          </a:ln>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DCB3CC8-3C21-0040-8CE4-7D4DEA7BD17D}"/>
              </a:ext>
            </a:extLst>
          </p:cNvPr>
          <p:cNvSpPr txBox="1"/>
          <p:nvPr/>
        </p:nvSpPr>
        <p:spPr>
          <a:xfrm>
            <a:off x="1039533" y="6278326"/>
            <a:ext cx="2985304" cy="369332"/>
          </a:xfrm>
          <a:prstGeom prst="rect">
            <a:avLst/>
          </a:prstGeom>
          <a:noFill/>
        </p:spPr>
        <p:txBody>
          <a:bodyPr wrap="none" rtlCol="0">
            <a:spAutoFit/>
          </a:bodyPr>
          <a:lstStyle/>
          <a:p>
            <a:r>
              <a:rPr lang="en-US" dirty="0"/>
              <a:t>Surface rendering of the spine</a:t>
            </a:r>
          </a:p>
        </p:txBody>
      </p:sp>
      <p:sp>
        <p:nvSpPr>
          <p:cNvPr id="10" name="TextBox 9">
            <a:extLst>
              <a:ext uri="{FF2B5EF4-FFF2-40B4-BE49-F238E27FC236}">
                <a16:creationId xmlns:a16="http://schemas.microsoft.com/office/drawing/2014/main" id="{7A9DED70-FA78-9846-9FE3-F3F1D14C29C7}"/>
              </a:ext>
            </a:extLst>
          </p:cNvPr>
          <p:cNvSpPr txBox="1"/>
          <p:nvPr/>
        </p:nvSpPr>
        <p:spPr>
          <a:xfrm>
            <a:off x="4814753" y="6193782"/>
            <a:ext cx="3592429" cy="646331"/>
          </a:xfrm>
          <a:prstGeom prst="rect">
            <a:avLst/>
          </a:prstGeom>
          <a:noFill/>
        </p:spPr>
        <p:txBody>
          <a:bodyPr wrap="square" rtlCol="0">
            <a:spAutoFit/>
          </a:bodyPr>
          <a:lstStyle/>
          <a:p>
            <a:pPr algn="ctr"/>
            <a:r>
              <a:rPr lang="en-US" dirty="0"/>
              <a:t>Volumetric rendering of the thoracic spine with hardware (red)</a:t>
            </a:r>
          </a:p>
        </p:txBody>
      </p:sp>
      <p:sp>
        <p:nvSpPr>
          <p:cNvPr id="11" name="TextBox 10">
            <a:extLst>
              <a:ext uri="{FF2B5EF4-FFF2-40B4-BE49-F238E27FC236}">
                <a16:creationId xmlns:a16="http://schemas.microsoft.com/office/drawing/2014/main" id="{080D289A-BAA3-9646-87EF-FC554CB68122}"/>
              </a:ext>
            </a:extLst>
          </p:cNvPr>
          <p:cNvSpPr txBox="1"/>
          <p:nvPr/>
        </p:nvSpPr>
        <p:spPr>
          <a:xfrm>
            <a:off x="8931072" y="1167300"/>
            <a:ext cx="2685860" cy="646331"/>
          </a:xfrm>
          <a:prstGeom prst="rect">
            <a:avLst/>
          </a:prstGeom>
          <a:noFill/>
        </p:spPr>
        <p:txBody>
          <a:bodyPr wrap="square" rtlCol="0">
            <a:spAutoFit/>
          </a:bodyPr>
          <a:lstStyle/>
          <a:p>
            <a:pPr algn="ctr"/>
            <a:r>
              <a:rPr lang="en-US" dirty="0"/>
              <a:t>CT reconstruction of the distal aorta</a:t>
            </a:r>
          </a:p>
        </p:txBody>
      </p:sp>
    </p:spTree>
    <p:extLst>
      <p:ext uri="{BB962C8B-B14F-4D97-AF65-F5344CB8AC3E}">
        <p14:creationId xmlns:p14="http://schemas.microsoft.com/office/powerpoint/2010/main" val="34713843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7FE42-C17F-44B8-8FC1-CCC481D65A3E}"/>
              </a:ext>
            </a:extLst>
          </p:cNvPr>
          <p:cNvSpPr>
            <a:spLocks noGrp="1"/>
          </p:cNvSpPr>
          <p:nvPr>
            <p:ph type="title"/>
          </p:nvPr>
        </p:nvSpPr>
        <p:spPr>
          <a:xfrm>
            <a:off x="2354228" y="77742"/>
            <a:ext cx="7729728" cy="881693"/>
          </a:xfrm>
        </p:spPr>
        <p:txBody>
          <a:bodyPr>
            <a:normAutofit/>
          </a:bodyPr>
          <a:lstStyle/>
          <a:p>
            <a:pPr algn="ctr"/>
            <a:r>
              <a:rPr lang="en-US" u="sng" dirty="0"/>
              <a:t>CT APPLICATIONS</a:t>
            </a:r>
          </a:p>
        </p:txBody>
      </p:sp>
      <p:sp>
        <p:nvSpPr>
          <p:cNvPr id="3" name="Content Placeholder 2">
            <a:extLst>
              <a:ext uri="{FF2B5EF4-FFF2-40B4-BE49-F238E27FC236}">
                <a16:creationId xmlns:a16="http://schemas.microsoft.com/office/drawing/2014/main" id="{0F03649F-087E-4839-BE65-251069519C37}"/>
              </a:ext>
            </a:extLst>
          </p:cNvPr>
          <p:cNvSpPr>
            <a:spLocks noGrp="1"/>
          </p:cNvSpPr>
          <p:nvPr>
            <p:ph idx="1"/>
          </p:nvPr>
        </p:nvSpPr>
        <p:spPr>
          <a:xfrm>
            <a:off x="193431" y="959435"/>
            <a:ext cx="11805138" cy="1778823"/>
          </a:xfrm>
        </p:spPr>
        <p:txBody>
          <a:bodyPr>
            <a:normAutofit lnSpcReduction="10000"/>
          </a:bodyPr>
          <a:lstStyle/>
          <a:p>
            <a:pPr>
              <a:buClr>
                <a:schemeClr val="tx1"/>
              </a:buClr>
            </a:pPr>
            <a:r>
              <a:rPr lang="en-US" sz="3200" b="1" i="1" dirty="0">
                <a:solidFill>
                  <a:schemeClr val="tx1"/>
                </a:solidFill>
                <a:latin typeface="Calibri" panose="020F0502020204030204" pitchFamily="34" charset="0"/>
                <a:cs typeface="Calibri" panose="020F0502020204030204" pitchFamily="34" charset="0"/>
              </a:rPr>
              <a:t>CT is a common imaging choice when evaluating the viscera </a:t>
            </a:r>
            <a:r>
              <a:rPr lang="en-US" sz="3200" dirty="0">
                <a:solidFill>
                  <a:schemeClr val="tx1"/>
                </a:solidFill>
                <a:latin typeface="Calibri" panose="020F0502020204030204" pitchFamily="34" charset="0"/>
                <a:cs typeface="Calibri" panose="020F0502020204030204" pitchFamily="34" charset="0"/>
              </a:rPr>
              <a:t>because they can be viewed from many cross-sectional planes and the organs readily </a:t>
            </a:r>
            <a:r>
              <a:rPr lang="en-US" sz="3200" b="1" i="1" dirty="0">
                <a:solidFill>
                  <a:schemeClr val="tx1"/>
                </a:solidFill>
                <a:latin typeface="Calibri" panose="020F0502020204030204" pitchFamily="34" charset="0"/>
                <a:cs typeface="Calibri" panose="020F0502020204030204" pitchFamily="34" charset="0"/>
              </a:rPr>
              <a:t>enhance with contrast</a:t>
            </a:r>
            <a:r>
              <a:rPr lang="en-US" sz="3200" dirty="0">
                <a:solidFill>
                  <a:schemeClr val="tx1"/>
                </a:solidFill>
                <a:latin typeface="Calibri" panose="020F0502020204030204" pitchFamily="34" charset="0"/>
                <a:cs typeface="Calibri" panose="020F0502020204030204" pitchFamily="34" charset="0"/>
              </a:rPr>
              <a:t>, providing optimal definition.</a:t>
            </a:r>
          </a:p>
        </p:txBody>
      </p:sp>
      <p:pic>
        <p:nvPicPr>
          <p:cNvPr id="6" name="Picture 3" descr="Image result for ct abdomen coronal">
            <a:extLst>
              <a:ext uri="{FF2B5EF4-FFF2-40B4-BE49-F238E27FC236}">
                <a16:creationId xmlns:a16="http://schemas.microsoft.com/office/drawing/2014/main" id="{8B9EF9F0-ECB6-D640-B746-321D32EC39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112" b="18113"/>
          <a:stretch/>
        </p:blipFill>
        <p:spPr bwMode="auto">
          <a:xfrm>
            <a:off x="4270537" y="2385076"/>
            <a:ext cx="7848611" cy="369523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6EDCAD5-765B-1167-B073-04C5CD4E756E}"/>
              </a:ext>
            </a:extLst>
          </p:cNvPr>
          <p:cNvSpPr txBox="1"/>
          <p:nvPr/>
        </p:nvSpPr>
        <p:spPr>
          <a:xfrm>
            <a:off x="47453" y="2447092"/>
            <a:ext cx="4223084" cy="4031873"/>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CT provides an excellent look at the:</a:t>
            </a:r>
          </a:p>
          <a:p>
            <a:pPr marL="914400" lvl="1" indent="-457200">
              <a:buFont typeface="Arial" panose="020B0604020202020204" pitchFamily="34" charset="0"/>
              <a:buChar char="•"/>
            </a:pPr>
            <a:r>
              <a:rPr lang="en-US" sz="3200" b="1" i="1" dirty="0">
                <a:latin typeface="Calibri" panose="020F0502020204030204" pitchFamily="34" charset="0"/>
                <a:cs typeface="Calibri" panose="020F0502020204030204" pitchFamily="34" charset="0"/>
              </a:rPr>
              <a:t>Small/large bowel</a:t>
            </a:r>
          </a:p>
          <a:p>
            <a:pPr marL="914400" lvl="1" indent="-457200">
              <a:buFont typeface="Arial" panose="020B0604020202020204" pitchFamily="34" charset="0"/>
              <a:buChar char="•"/>
            </a:pPr>
            <a:r>
              <a:rPr lang="en-US" sz="3200" b="1" i="1" dirty="0">
                <a:latin typeface="Calibri" panose="020F0502020204030204" pitchFamily="34" charset="0"/>
                <a:cs typeface="Calibri" panose="020F0502020204030204" pitchFamily="34" charset="0"/>
              </a:rPr>
              <a:t>Liver</a:t>
            </a:r>
          </a:p>
          <a:p>
            <a:pPr marL="914400" lvl="1" indent="-457200">
              <a:buFont typeface="Arial" panose="020B0604020202020204" pitchFamily="34" charset="0"/>
              <a:buChar char="•"/>
            </a:pPr>
            <a:r>
              <a:rPr lang="en-US" sz="3200" b="1" i="1" dirty="0">
                <a:latin typeface="Calibri" panose="020F0502020204030204" pitchFamily="34" charset="0"/>
                <a:cs typeface="Calibri" panose="020F0502020204030204" pitchFamily="34" charset="0"/>
              </a:rPr>
              <a:t>Pancreas</a:t>
            </a:r>
          </a:p>
          <a:p>
            <a:pPr marL="914400" lvl="1" indent="-457200">
              <a:buFont typeface="Arial" panose="020B0604020202020204" pitchFamily="34" charset="0"/>
              <a:buChar char="•"/>
            </a:pPr>
            <a:r>
              <a:rPr lang="en-US" sz="3200" b="1" i="1" dirty="0">
                <a:latin typeface="Calibri" panose="020F0502020204030204" pitchFamily="34" charset="0"/>
                <a:cs typeface="Calibri" panose="020F0502020204030204" pitchFamily="34" charset="0"/>
              </a:rPr>
              <a:t>Spleen</a:t>
            </a:r>
          </a:p>
          <a:p>
            <a:pPr marL="914400" lvl="1" indent="-457200">
              <a:buFont typeface="Arial" panose="020B0604020202020204" pitchFamily="34" charset="0"/>
              <a:buChar char="•"/>
            </a:pPr>
            <a:r>
              <a:rPr lang="en-US" sz="3200" b="1" i="1" dirty="0">
                <a:latin typeface="Calibri" panose="020F0502020204030204" pitchFamily="34" charset="0"/>
                <a:cs typeface="Calibri" panose="020F0502020204030204" pitchFamily="34" charset="0"/>
              </a:rPr>
              <a:t>Lungs</a:t>
            </a:r>
          </a:p>
          <a:p>
            <a:pPr marL="914400" lvl="1" indent="-457200">
              <a:buFont typeface="Arial" panose="020B0604020202020204" pitchFamily="34" charset="0"/>
              <a:buChar char="•"/>
            </a:pPr>
            <a:r>
              <a:rPr lang="en-US" sz="3200" b="1" i="1" dirty="0">
                <a:latin typeface="Calibri" panose="020F0502020204030204" pitchFamily="34" charset="0"/>
                <a:cs typeface="Calibri" panose="020F0502020204030204" pitchFamily="34" charset="0"/>
              </a:rPr>
              <a:t>Brain</a:t>
            </a:r>
          </a:p>
        </p:txBody>
      </p:sp>
    </p:spTree>
    <p:extLst>
      <p:ext uri="{BB962C8B-B14F-4D97-AF65-F5344CB8AC3E}">
        <p14:creationId xmlns:p14="http://schemas.microsoft.com/office/powerpoint/2010/main" val="21283783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03649F-087E-4839-BE65-251069519C37}"/>
              </a:ext>
            </a:extLst>
          </p:cNvPr>
          <p:cNvSpPr>
            <a:spLocks noGrp="1"/>
          </p:cNvSpPr>
          <p:nvPr>
            <p:ph idx="1"/>
          </p:nvPr>
        </p:nvSpPr>
        <p:spPr>
          <a:xfrm>
            <a:off x="193432" y="1301261"/>
            <a:ext cx="4332074" cy="5365770"/>
          </a:xfrm>
        </p:spPr>
        <p:txBody>
          <a:bodyPr>
            <a:normAutofit/>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CT is </a:t>
            </a:r>
            <a:r>
              <a:rPr lang="en-US" sz="3200" b="1" i="1" dirty="0">
                <a:latin typeface="Calibri" panose="020F0502020204030204" pitchFamily="34" charset="0"/>
                <a:cs typeface="Calibri" panose="020F0502020204030204" pitchFamily="34" charset="0"/>
              </a:rPr>
              <a:t>an excellent modality for imaging vascular structures and evaluate for any evidence of active bleeding- contrast extravasation.</a:t>
            </a:r>
            <a:r>
              <a:rPr lang="en-US" sz="3200" dirty="0">
                <a:latin typeface="Calibri" panose="020F0502020204030204" pitchFamily="34" charset="0"/>
                <a:cs typeface="Calibri" panose="020F0502020204030204" pitchFamily="34" charset="0"/>
              </a:rPr>
              <a:t>  Evaluation of the vasculature does require the use of IV contrast.</a:t>
            </a:r>
            <a:endParaRPr lang="en-US" sz="3200" dirty="0">
              <a:solidFill>
                <a:schemeClr val="tx1"/>
              </a:solidFill>
              <a:latin typeface="Calibri" panose="020F0502020204030204" pitchFamily="34" charset="0"/>
              <a:cs typeface="Calibri" panose="020F0502020204030204" pitchFamily="34" charset="0"/>
            </a:endParaRPr>
          </a:p>
        </p:txBody>
      </p:sp>
      <p:pic>
        <p:nvPicPr>
          <p:cNvPr id="1026" name="Picture 2" descr="Contrast CT scan demonstrating the aorta (A) with extravasation of contrast (B) and a large collection (C) around it with trapped air suggestive of infection. ">
            <a:extLst>
              <a:ext uri="{FF2B5EF4-FFF2-40B4-BE49-F238E27FC236}">
                <a16:creationId xmlns:a16="http://schemas.microsoft.com/office/drawing/2014/main" id="{BE18CCE8-7202-4326-FB73-C9011F8E13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5506" y="1189050"/>
            <a:ext cx="7186047" cy="54779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4056788-57A0-5587-730C-581FD60037F0}"/>
              </a:ext>
            </a:extLst>
          </p:cNvPr>
          <p:cNvSpPr txBox="1"/>
          <p:nvPr/>
        </p:nvSpPr>
        <p:spPr>
          <a:xfrm>
            <a:off x="8581727" y="149332"/>
            <a:ext cx="3413114" cy="923330"/>
          </a:xfrm>
          <a:prstGeom prst="rect">
            <a:avLst/>
          </a:prstGeom>
          <a:noFill/>
        </p:spPr>
        <p:txBody>
          <a:bodyPr wrap="none" rtlCol="0">
            <a:spAutoFit/>
          </a:bodyPr>
          <a:lstStyle/>
          <a:p>
            <a:r>
              <a:rPr lang="en-US" dirty="0"/>
              <a:t>A= the abdominal aorta</a:t>
            </a:r>
          </a:p>
          <a:p>
            <a:r>
              <a:rPr lang="en-US" dirty="0"/>
              <a:t>B= contrast extravasation</a:t>
            </a:r>
          </a:p>
          <a:p>
            <a:r>
              <a:rPr lang="en-US" dirty="0"/>
              <a:t>C= a large fluid collection with gas</a:t>
            </a:r>
          </a:p>
        </p:txBody>
      </p:sp>
      <p:sp>
        <p:nvSpPr>
          <p:cNvPr id="7" name="Title 1">
            <a:extLst>
              <a:ext uri="{FF2B5EF4-FFF2-40B4-BE49-F238E27FC236}">
                <a16:creationId xmlns:a16="http://schemas.microsoft.com/office/drawing/2014/main" id="{03C0A3B8-0F61-BB2D-F070-1CFB03BE59D6}"/>
              </a:ext>
            </a:extLst>
          </p:cNvPr>
          <p:cNvSpPr txBox="1">
            <a:spLocks/>
          </p:cNvSpPr>
          <p:nvPr/>
        </p:nvSpPr>
        <p:spPr>
          <a:xfrm>
            <a:off x="-503272" y="199460"/>
            <a:ext cx="7729728" cy="8816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u="sng" dirty="0"/>
              <a:t>CT APPLICATIONS</a:t>
            </a:r>
          </a:p>
        </p:txBody>
      </p:sp>
    </p:spTree>
    <p:extLst>
      <p:ext uri="{BB962C8B-B14F-4D97-AF65-F5344CB8AC3E}">
        <p14:creationId xmlns:p14="http://schemas.microsoft.com/office/powerpoint/2010/main" val="4843706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03649F-087E-4839-BE65-251069519C37}"/>
              </a:ext>
            </a:extLst>
          </p:cNvPr>
          <p:cNvSpPr>
            <a:spLocks noGrp="1"/>
          </p:cNvSpPr>
          <p:nvPr>
            <p:ph idx="1"/>
          </p:nvPr>
        </p:nvSpPr>
        <p:spPr>
          <a:xfrm>
            <a:off x="193431" y="1301261"/>
            <a:ext cx="11874243" cy="5365769"/>
          </a:xfrm>
        </p:spPr>
        <p:txBody>
          <a:bodyPr>
            <a:normAutofit/>
          </a:bodyPr>
          <a:lstStyle/>
          <a:p>
            <a:r>
              <a:rPr lang="en-US" sz="3200" dirty="0">
                <a:latin typeface="Calibri" panose="020F0502020204030204" pitchFamily="34" charset="0"/>
                <a:cs typeface="Calibri" panose="020F0502020204030204" pitchFamily="34" charset="0"/>
              </a:rPr>
              <a:t>CT is used for imaging the fine detail of bony structures.  However, more radiation is used, and the CT is more costly, so plain radiographs are typically used first line to evaluate the bones. </a:t>
            </a:r>
          </a:p>
          <a:p>
            <a:endParaRPr lang="en-US" sz="10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If radiographs are not diagnostic of a fracture, further evaluation with CT is warranted if the clinician suspects an occult fracture. </a:t>
            </a:r>
          </a:p>
          <a:p>
            <a:endParaRPr lang="en-US" sz="1000" dirty="0">
              <a:latin typeface="Calibri" panose="020F0502020204030204" pitchFamily="34" charset="0"/>
              <a:cs typeface="Calibri" panose="020F0502020204030204" pitchFamily="34" charset="0"/>
            </a:endParaRPr>
          </a:p>
          <a:p>
            <a:r>
              <a:rPr lang="en-US" sz="3200" i="1" dirty="0">
                <a:latin typeface="Calibri" panose="020F0502020204030204" pitchFamily="34" charset="0"/>
                <a:cs typeface="Calibri" panose="020F0502020204030204" pitchFamily="34" charset="0"/>
              </a:rPr>
              <a:t>CT is generally chosen to evaluate bony structure of skull and spine after traumatic injury due to the level of detail often needed in these areas.</a:t>
            </a:r>
            <a:endParaRPr lang="en-US" sz="2000" dirty="0"/>
          </a:p>
        </p:txBody>
      </p:sp>
      <p:sp>
        <p:nvSpPr>
          <p:cNvPr id="6" name="Title 1">
            <a:extLst>
              <a:ext uri="{FF2B5EF4-FFF2-40B4-BE49-F238E27FC236}">
                <a16:creationId xmlns:a16="http://schemas.microsoft.com/office/drawing/2014/main" id="{254AA33B-37C7-5A29-03AF-4CC3722D8CFD}"/>
              </a:ext>
            </a:extLst>
          </p:cNvPr>
          <p:cNvSpPr txBox="1">
            <a:spLocks/>
          </p:cNvSpPr>
          <p:nvPr/>
        </p:nvSpPr>
        <p:spPr>
          <a:xfrm>
            <a:off x="2265688" y="190970"/>
            <a:ext cx="7729728" cy="8816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u="sng" dirty="0"/>
              <a:t>CT APPLICATIONS</a:t>
            </a:r>
          </a:p>
        </p:txBody>
      </p:sp>
    </p:spTree>
    <p:extLst>
      <p:ext uri="{BB962C8B-B14F-4D97-AF65-F5344CB8AC3E}">
        <p14:creationId xmlns:p14="http://schemas.microsoft.com/office/powerpoint/2010/main" val="16481249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03649F-087E-4839-BE65-251069519C37}"/>
              </a:ext>
            </a:extLst>
          </p:cNvPr>
          <p:cNvSpPr>
            <a:spLocks noGrp="1"/>
          </p:cNvSpPr>
          <p:nvPr>
            <p:ph idx="1"/>
          </p:nvPr>
        </p:nvSpPr>
        <p:spPr>
          <a:xfrm>
            <a:off x="193431" y="3615379"/>
            <a:ext cx="8476722" cy="3160514"/>
          </a:xfrm>
        </p:spPr>
        <p:txBody>
          <a:bodyPr>
            <a:normAutofit/>
          </a:bodyPr>
          <a:lstStyle/>
          <a:p>
            <a:pPr>
              <a:lnSpc>
                <a:spcPct val="110000"/>
              </a:lnSpc>
              <a:buClr>
                <a:schemeClr val="tx1"/>
              </a:buClr>
            </a:pPr>
            <a:r>
              <a:rPr lang="en-US" sz="3400" b="1" dirty="0">
                <a:latin typeface="Calibri" panose="020F0502020204030204" pitchFamily="34" charset="0"/>
                <a:cs typeface="Calibri" panose="020F0502020204030204" pitchFamily="34" charset="0"/>
              </a:rPr>
              <a:t>Am I able to image my pregnant patient with another modality?</a:t>
            </a:r>
          </a:p>
          <a:p>
            <a:pPr lvl="2">
              <a:lnSpc>
                <a:spcPct val="110000"/>
              </a:lnSpc>
              <a:buClr>
                <a:schemeClr val="tx1"/>
              </a:buClr>
            </a:pPr>
            <a:r>
              <a:rPr lang="en-US" sz="3000" dirty="0">
                <a:latin typeface="Calibri" panose="020F0502020204030204" pitchFamily="34" charset="0"/>
                <a:cs typeface="Calibri" panose="020F0502020204030204" pitchFamily="34" charset="0"/>
              </a:rPr>
              <a:t>Risk/benefit assessment should be done in this population to avoid undue radiation to the fetus</a:t>
            </a:r>
          </a:p>
        </p:txBody>
      </p:sp>
      <p:pic>
        <p:nvPicPr>
          <p:cNvPr id="4" name="Picture 3" descr="Image result for pregnancy and radiation">
            <a:extLst>
              <a:ext uri="{FF2B5EF4-FFF2-40B4-BE49-F238E27FC236}">
                <a16:creationId xmlns:a16="http://schemas.microsoft.com/office/drawing/2014/main" id="{0330DD9A-097D-7449-8AF0-418178E07C0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566" b="16981"/>
          <a:stretch/>
        </p:blipFill>
        <p:spPr bwMode="auto">
          <a:xfrm>
            <a:off x="8670153" y="3779593"/>
            <a:ext cx="3328416" cy="27432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BDAB484-9228-B649-B952-561C0DF351A4}"/>
              </a:ext>
            </a:extLst>
          </p:cNvPr>
          <p:cNvSpPr txBox="1"/>
          <p:nvPr/>
        </p:nvSpPr>
        <p:spPr>
          <a:xfrm>
            <a:off x="193431" y="1292755"/>
            <a:ext cx="11805138" cy="2246769"/>
          </a:xfrm>
          <a:prstGeom prst="rect">
            <a:avLst/>
          </a:prstGeom>
          <a:noFill/>
        </p:spPr>
        <p:txBody>
          <a:bodyPr wrap="square" rtlCol="0">
            <a:spAutoFit/>
          </a:bodyPr>
          <a:lstStyle/>
          <a:p>
            <a:pPr marL="457200" indent="-457200">
              <a:buFont typeface="Arial" panose="020B0604020202020204" pitchFamily="34" charset="0"/>
              <a:buChar char="•"/>
            </a:pPr>
            <a:r>
              <a:rPr lang="en-US" sz="3200" b="1" dirty="0">
                <a:latin typeface="Calibri" panose="020F0502020204030204" pitchFamily="34" charset="0"/>
                <a:cs typeface="Calibri" panose="020F0502020204030204" pitchFamily="34" charset="0"/>
              </a:rPr>
              <a:t>CT uses much more radiation than a plain radiograph.</a:t>
            </a:r>
          </a:p>
          <a:p>
            <a:pPr marL="914400" lvl="1" indent="-457200">
              <a:buFont typeface="Arial" panose="020B0604020202020204" pitchFamily="34" charset="0"/>
              <a:buChar char="•"/>
            </a:pPr>
            <a:r>
              <a:rPr lang="en-US" sz="3000" dirty="0">
                <a:latin typeface="Calibri" panose="020F0502020204030204" pitchFamily="34" charset="0"/>
                <a:cs typeface="Calibri" panose="020F0502020204030204" pitchFamily="34" charset="0"/>
              </a:rPr>
              <a:t>Has the patient received multiple CTs and or received a large radiation dose over time? </a:t>
            </a:r>
          </a:p>
          <a:p>
            <a:pPr marL="914400" lvl="1" indent="-457200">
              <a:buFont typeface="Arial" panose="020B0604020202020204" pitchFamily="34" charset="0"/>
              <a:buChar char="•"/>
            </a:pPr>
            <a:r>
              <a:rPr lang="en-US" sz="3000" dirty="0">
                <a:latin typeface="Calibri" panose="020F0502020204030204" pitchFamily="34" charset="0"/>
                <a:cs typeface="Calibri" panose="020F0502020204030204" pitchFamily="34" charset="0"/>
              </a:rPr>
              <a:t>Can another test be ordered to make my diagnosis?</a:t>
            </a:r>
          </a:p>
          <a:p>
            <a:endParaRPr lang="en-US" dirty="0"/>
          </a:p>
        </p:txBody>
      </p:sp>
      <p:sp>
        <p:nvSpPr>
          <p:cNvPr id="8" name="Title 1">
            <a:extLst>
              <a:ext uri="{FF2B5EF4-FFF2-40B4-BE49-F238E27FC236}">
                <a16:creationId xmlns:a16="http://schemas.microsoft.com/office/drawing/2014/main" id="{79F83526-5FF7-59F3-DAFF-655A46C0421F}"/>
              </a:ext>
            </a:extLst>
          </p:cNvPr>
          <p:cNvSpPr txBox="1">
            <a:spLocks/>
          </p:cNvSpPr>
          <p:nvPr/>
        </p:nvSpPr>
        <p:spPr>
          <a:xfrm>
            <a:off x="1884328" y="335207"/>
            <a:ext cx="7729728" cy="8816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u="sng" dirty="0"/>
              <a:t>CT CONSIDERATIONS</a:t>
            </a:r>
          </a:p>
        </p:txBody>
      </p:sp>
    </p:spTree>
    <p:extLst>
      <p:ext uri="{BB962C8B-B14F-4D97-AF65-F5344CB8AC3E}">
        <p14:creationId xmlns:p14="http://schemas.microsoft.com/office/powerpoint/2010/main" val="35709515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0687CA-6BB3-774E-85AC-331B963A9B0E}"/>
              </a:ext>
            </a:extLst>
          </p:cNvPr>
          <p:cNvSpPr txBox="1"/>
          <p:nvPr/>
        </p:nvSpPr>
        <p:spPr>
          <a:xfrm>
            <a:off x="282331" y="1216900"/>
            <a:ext cx="11850180" cy="5324535"/>
          </a:xfrm>
          <a:prstGeom prst="rect">
            <a:avLst/>
          </a:prstGeom>
          <a:noFill/>
        </p:spPr>
        <p:txBody>
          <a:bodyPr wrap="square" rtlCol="0">
            <a:spAutoFit/>
          </a:bodyPr>
          <a:lstStyle/>
          <a:p>
            <a:pPr marL="457200" indent="-457200">
              <a:buFont typeface="Arial" panose="020B0604020202020204" pitchFamily="34" charset="0"/>
              <a:buChar char="•"/>
            </a:pPr>
            <a:r>
              <a:rPr lang="en-US" sz="3200" b="1" dirty="0">
                <a:latin typeface="Calibri" panose="020F0502020204030204" pitchFamily="34" charset="0"/>
                <a:cs typeface="Calibri" panose="020F0502020204030204" pitchFamily="34" charset="0"/>
              </a:rPr>
              <a:t>Is my patient able to hold still for the test? </a:t>
            </a:r>
          </a:p>
          <a:p>
            <a:pPr marL="914400" lvl="1"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A moving patient causes imaging artifact, creating a blurry and nondiagnostic study. Repeat of the test to obtain an optimal image exposes the patient to additional radiation. </a:t>
            </a:r>
          </a:p>
          <a:p>
            <a:pPr marL="914400" lvl="1" indent="-457200">
              <a:buFont typeface="Arial" panose="020B0604020202020204" pitchFamily="34" charset="0"/>
              <a:buChar char="•"/>
            </a:pPr>
            <a:endParaRPr lang="en-US" sz="1000" dirty="0">
              <a:latin typeface="Calibri" panose="020F0502020204030204" pitchFamily="34" charset="0"/>
              <a:cs typeface="Calibri" panose="020F0502020204030204" pitchFamily="34" charset="0"/>
            </a:endParaRPr>
          </a:p>
          <a:p>
            <a:pPr marL="914400" lvl="1"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An important consideration in small children, encephalopathic patients and those with dementia who may not be able to remain still.</a:t>
            </a:r>
          </a:p>
          <a:p>
            <a:pPr marL="914400" lvl="1" indent="-457200">
              <a:buFont typeface="Arial" panose="020B0604020202020204" pitchFamily="34" charset="0"/>
              <a:buChar char="•"/>
            </a:pPr>
            <a:endParaRPr lang="en-US" sz="1000" dirty="0">
              <a:latin typeface="Calibri" panose="020F0502020204030204" pitchFamily="34" charset="0"/>
              <a:cs typeface="Calibri" panose="020F0502020204030204" pitchFamily="34" charset="0"/>
            </a:endParaRPr>
          </a:p>
          <a:p>
            <a:pPr marL="914400" lvl="1"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Less of a concern for CT- which acquires images quickly and much more of an issue for MRI which has a longer image acquisition time and a more claustrophobic environment.</a:t>
            </a:r>
          </a:p>
        </p:txBody>
      </p:sp>
      <p:sp>
        <p:nvSpPr>
          <p:cNvPr id="6" name="Title 1">
            <a:extLst>
              <a:ext uri="{FF2B5EF4-FFF2-40B4-BE49-F238E27FC236}">
                <a16:creationId xmlns:a16="http://schemas.microsoft.com/office/drawing/2014/main" id="{11D2A273-D42E-233C-A7D2-A4447C145B77}"/>
              </a:ext>
            </a:extLst>
          </p:cNvPr>
          <p:cNvSpPr txBox="1">
            <a:spLocks/>
          </p:cNvSpPr>
          <p:nvPr/>
        </p:nvSpPr>
        <p:spPr>
          <a:xfrm>
            <a:off x="1884328" y="335207"/>
            <a:ext cx="7729728" cy="8816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u="sng" dirty="0"/>
              <a:t>CT CONSIDERATIONS</a:t>
            </a:r>
          </a:p>
        </p:txBody>
      </p:sp>
    </p:spTree>
    <p:extLst>
      <p:ext uri="{BB962C8B-B14F-4D97-AF65-F5344CB8AC3E}">
        <p14:creationId xmlns:p14="http://schemas.microsoft.com/office/powerpoint/2010/main" val="3617954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E1306-8151-4DF1-BB8D-7CDA5D2600AE}"/>
              </a:ext>
            </a:extLst>
          </p:cNvPr>
          <p:cNvSpPr>
            <a:spLocks noGrp="1"/>
          </p:cNvSpPr>
          <p:nvPr>
            <p:ph type="title"/>
          </p:nvPr>
        </p:nvSpPr>
        <p:spPr>
          <a:xfrm>
            <a:off x="307181" y="178879"/>
            <a:ext cx="11444287" cy="1188720"/>
          </a:xfrm>
        </p:spPr>
        <p:txBody>
          <a:bodyPr>
            <a:normAutofit/>
          </a:bodyPr>
          <a:lstStyle/>
          <a:p>
            <a:pPr algn="ctr"/>
            <a:r>
              <a:rPr lang="en-US" u="sng" cap="none" dirty="0"/>
              <a:t>WITH OR WITHOUT CONTRAST?</a:t>
            </a:r>
            <a:endParaRPr lang="en-US" u="sng" dirty="0"/>
          </a:p>
        </p:txBody>
      </p:sp>
      <p:sp>
        <p:nvSpPr>
          <p:cNvPr id="3" name="Content Placeholder 2">
            <a:extLst>
              <a:ext uri="{FF2B5EF4-FFF2-40B4-BE49-F238E27FC236}">
                <a16:creationId xmlns:a16="http://schemas.microsoft.com/office/drawing/2014/main" id="{E80C5E24-3BB8-477E-B5D5-07702AB3E4B5}"/>
              </a:ext>
            </a:extLst>
          </p:cNvPr>
          <p:cNvSpPr>
            <a:spLocks noGrp="1"/>
          </p:cNvSpPr>
          <p:nvPr>
            <p:ph idx="1"/>
          </p:nvPr>
        </p:nvSpPr>
        <p:spPr>
          <a:xfrm>
            <a:off x="319087" y="1367599"/>
            <a:ext cx="11872913" cy="5136071"/>
          </a:xfrm>
        </p:spPr>
        <p:txBody>
          <a:bodyPr>
            <a:normAutofit lnSpcReduction="10000"/>
          </a:bodyPr>
          <a:lstStyle/>
          <a:p>
            <a:pPr marL="0" indent="0">
              <a:lnSpc>
                <a:spcPct val="110000"/>
              </a:lnSpc>
              <a:spcBef>
                <a:spcPts val="0"/>
              </a:spcBef>
              <a:buNone/>
            </a:pPr>
            <a:r>
              <a:rPr lang="en-US" sz="3200" dirty="0">
                <a:latin typeface="Calibri" panose="020F0502020204030204" pitchFamily="34" charset="0"/>
                <a:cs typeface="Calibri" panose="020F0502020204030204" pitchFamily="34" charset="0"/>
              </a:rPr>
              <a:t>Obtain a CT </a:t>
            </a:r>
            <a:r>
              <a:rPr lang="en-US" sz="3200" b="1" u="sng" dirty="0">
                <a:latin typeface="Calibri" panose="020F0502020204030204" pitchFamily="34" charset="0"/>
                <a:cs typeface="Calibri" panose="020F0502020204030204" pitchFamily="34" charset="0"/>
              </a:rPr>
              <a:t>WITHOUT</a:t>
            </a:r>
            <a:r>
              <a:rPr lang="en-US" sz="3200" dirty="0">
                <a:latin typeface="Calibri" panose="020F0502020204030204" pitchFamily="34" charset="0"/>
                <a:cs typeface="Calibri" panose="020F0502020204030204" pitchFamily="34" charset="0"/>
              </a:rPr>
              <a:t> contrast if:</a:t>
            </a:r>
          </a:p>
          <a:p>
            <a:pPr marL="514350" indent="-514350">
              <a:lnSpc>
                <a:spcPct val="110000"/>
              </a:lnSpc>
              <a:spcBef>
                <a:spcPts val="0"/>
              </a:spcBef>
              <a:buClr>
                <a:schemeClr val="tx1"/>
              </a:buClr>
              <a:buFont typeface="+mj-lt"/>
              <a:buAutoNum type="arabicPeriod"/>
            </a:pPr>
            <a:r>
              <a:rPr lang="en-US" sz="3200" b="1" dirty="0">
                <a:latin typeface="Calibri" panose="020F0502020204030204" pitchFamily="34" charset="0"/>
                <a:cs typeface="Calibri" panose="020F0502020204030204" pitchFamily="34" charset="0"/>
              </a:rPr>
              <a:t>The patient has a contraindication to the administration of iodinated contrast- </a:t>
            </a:r>
            <a:r>
              <a:rPr lang="en-US" sz="3000" dirty="0">
                <a:latin typeface="Calibri" panose="020F0502020204030204" pitchFamily="34" charset="0"/>
                <a:cs typeface="Calibri" panose="020F0502020204030204" pitchFamily="34" charset="0"/>
              </a:rPr>
              <a:t>prior severe allergic-like reaction to iodinated contrast. R</a:t>
            </a:r>
            <a:r>
              <a:rPr lang="en-US" sz="3000">
                <a:latin typeface="Calibri" panose="020F0502020204030204" pitchFamily="34" charset="0"/>
                <a:cs typeface="Calibri" panose="020F0502020204030204" pitchFamily="34" charset="0"/>
              </a:rPr>
              <a:t>educed </a:t>
            </a:r>
            <a:r>
              <a:rPr lang="en-US" sz="3000" dirty="0">
                <a:latin typeface="Calibri" panose="020F0502020204030204" pitchFamily="34" charset="0"/>
                <a:cs typeface="Calibri" panose="020F0502020204030204" pitchFamily="34" charset="0"/>
              </a:rPr>
              <a:t>eGFR or AKI must also be taken into account</a:t>
            </a:r>
          </a:p>
          <a:p>
            <a:pPr marL="514350" indent="-514350">
              <a:lnSpc>
                <a:spcPct val="110000"/>
              </a:lnSpc>
              <a:spcBef>
                <a:spcPts val="0"/>
              </a:spcBef>
              <a:buClr>
                <a:schemeClr val="tx1"/>
              </a:buClr>
              <a:buFont typeface="+mj-lt"/>
              <a:buAutoNum type="arabicPeriod"/>
            </a:pPr>
            <a:endParaRPr lang="en-US" sz="3000" dirty="0">
              <a:latin typeface="Calibri" panose="020F0502020204030204" pitchFamily="34" charset="0"/>
              <a:cs typeface="Calibri" panose="020F0502020204030204" pitchFamily="34" charset="0"/>
            </a:endParaRPr>
          </a:p>
          <a:p>
            <a:pPr marL="514350" indent="-514350">
              <a:lnSpc>
                <a:spcPct val="110000"/>
              </a:lnSpc>
              <a:spcBef>
                <a:spcPts val="0"/>
              </a:spcBef>
              <a:buClr>
                <a:schemeClr val="tx1"/>
              </a:buClr>
              <a:buFont typeface="+mj-lt"/>
              <a:buAutoNum type="arabicPeriod" startAt="2"/>
            </a:pPr>
            <a:r>
              <a:rPr lang="en-US" sz="3200" b="1" dirty="0">
                <a:latin typeface="Calibri" panose="020F0502020204030204" pitchFamily="34" charset="0"/>
                <a:cs typeface="Calibri" panose="020F0502020204030204" pitchFamily="34" charset="0"/>
              </a:rPr>
              <a:t>Contrast does not enhance the area of interest thus it is not needed for diagnosis.</a:t>
            </a:r>
          </a:p>
          <a:p>
            <a:pPr lvl="1">
              <a:lnSpc>
                <a:spcPct val="110000"/>
              </a:lnSpc>
              <a:spcBef>
                <a:spcPts val="0"/>
              </a:spcBef>
              <a:buClr>
                <a:schemeClr val="tx1"/>
              </a:buClr>
            </a:pPr>
            <a:r>
              <a:rPr lang="en-US" sz="3000" dirty="0">
                <a:latin typeface="Calibri" panose="020F0502020204030204" pitchFamily="34" charset="0"/>
                <a:cs typeface="Calibri" panose="020F0502020204030204" pitchFamily="34" charset="0"/>
              </a:rPr>
              <a:t>If the examiner is looking at bone, calcifications, kidney stones</a:t>
            </a:r>
          </a:p>
          <a:p>
            <a:pPr lvl="1">
              <a:lnSpc>
                <a:spcPct val="110000"/>
              </a:lnSpc>
              <a:spcBef>
                <a:spcPts val="0"/>
              </a:spcBef>
              <a:buClr>
                <a:schemeClr val="tx1"/>
              </a:buClr>
            </a:pPr>
            <a:r>
              <a:rPr lang="en-US" sz="3000" dirty="0">
                <a:latin typeface="Calibri" panose="020F0502020204030204" pitchFamily="34" charset="0"/>
                <a:cs typeface="Calibri" panose="020F0502020204030204" pitchFamily="34" charset="0"/>
              </a:rPr>
              <a:t>Lung pleura and parenchyma- except in cases of malignancy.  Lung infection can be seen without contrast.</a:t>
            </a:r>
          </a:p>
          <a:p>
            <a:pPr marL="514350" indent="-514350">
              <a:lnSpc>
                <a:spcPct val="110000"/>
              </a:lnSpc>
              <a:spcBef>
                <a:spcPts val="0"/>
              </a:spcBef>
              <a:buClr>
                <a:schemeClr val="tx1"/>
              </a:buClr>
              <a:buFont typeface="+mj-lt"/>
              <a:buAutoNum type="arabicPeriod"/>
            </a:pPr>
            <a:endParaRPr lang="en-US" sz="3000" dirty="0">
              <a:latin typeface="Calibri" panose="020F0502020204030204" pitchFamily="34" charset="0"/>
              <a:cs typeface="Calibri" panose="020F0502020204030204" pitchFamily="34" charset="0"/>
            </a:endParaRPr>
          </a:p>
          <a:p>
            <a:pPr marL="514350" indent="-514350">
              <a:lnSpc>
                <a:spcPct val="110000"/>
              </a:lnSpc>
              <a:spcBef>
                <a:spcPts val="0"/>
              </a:spcBef>
              <a:buClr>
                <a:schemeClr val="tx1"/>
              </a:buClr>
              <a:buFont typeface="+mj-lt"/>
              <a:buAutoNum type="arabicPeriod"/>
            </a:pPr>
            <a:endParaRPr lang="en-US" sz="3000" dirty="0">
              <a:latin typeface="Calibri" panose="020F0502020204030204" pitchFamily="34" charset="0"/>
              <a:cs typeface="Calibri" panose="020F0502020204030204" pitchFamily="34" charset="0"/>
            </a:endParaRPr>
          </a:p>
          <a:p>
            <a:pPr marL="571500" lvl="1" indent="-342900">
              <a:lnSpc>
                <a:spcPct val="110000"/>
              </a:lnSpc>
              <a:spcBef>
                <a:spcPts val="0"/>
              </a:spcBef>
              <a:buClr>
                <a:schemeClr val="tx1"/>
              </a:buClr>
              <a:buFont typeface="+mj-lt"/>
              <a:buAutoNum type="arabicPeriod"/>
            </a:pPr>
            <a:endParaRPr lang="en-US" sz="1500" dirty="0">
              <a:latin typeface="Calibri" panose="020F0502020204030204" pitchFamily="34" charset="0"/>
              <a:cs typeface="Calibri" panose="020F0502020204030204" pitchFamily="34" charset="0"/>
            </a:endParaRPr>
          </a:p>
          <a:p>
            <a:endParaRPr lang="en-US" dirty="0"/>
          </a:p>
          <a:p>
            <a:endParaRPr lang="en-US" dirty="0"/>
          </a:p>
          <a:p>
            <a:endParaRPr lang="en-US" dirty="0"/>
          </a:p>
        </p:txBody>
      </p:sp>
    </p:spTree>
    <p:extLst>
      <p:ext uri="{BB962C8B-B14F-4D97-AF65-F5344CB8AC3E}">
        <p14:creationId xmlns:p14="http://schemas.microsoft.com/office/powerpoint/2010/main" val="28960504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A56AB-7170-448E-9737-1DEE55E35680}"/>
              </a:ext>
            </a:extLst>
          </p:cNvPr>
          <p:cNvSpPr>
            <a:spLocks noGrp="1"/>
          </p:cNvSpPr>
          <p:nvPr>
            <p:ph sz="half" idx="1"/>
          </p:nvPr>
        </p:nvSpPr>
        <p:spPr>
          <a:xfrm>
            <a:off x="171450" y="1106905"/>
            <a:ext cx="11758613" cy="5615507"/>
          </a:xfrm>
        </p:spPr>
        <p:txBody>
          <a:bodyPr>
            <a:normAutofit/>
          </a:bodyPr>
          <a:lstStyle/>
          <a:p>
            <a:pPr marL="0" indent="0">
              <a:lnSpc>
                <a:spcPct val="110000"/>
              </a:lnSpc>
              <a:spcBef>
                <a:spcPts val="0"/>
              </a:spcBef>
              <a:buNone/>
            </a:pPr>
            <a:r>
              <a:rPr lang="en-US" sz="3200" dirty="0">
                <a:latin typeface="Calibri" panose="020F0502020204030204" pitchFamily="34" charset="0"/>
                <a:cs typeface="Calibri" panose="020F0502020204030204" pitchFamily="34" charset="0"/>
              </a:rPr>
              <a:t>Obtain a CT </a:t>
            </a:r>
            <a:r>
              <a:rPr lang="en-US" sz="3200" b="1" u="sng" dirty="0">
                <a:latin typeface="Calibri" panose="020F0502020204030204" pitchFamily="34" charset="0"/>
                <a:cs typeface="Calibri" panose="020F0502020204030204" pitchFamily="34" charset="0"/>
              </a:rPr>
              <a:t>WITH</a:t>
            </a:r>
            <a:r>
              <a:rPr lang="en-US" sz="3200" dirty="0">
                <a:latin typeface="Calibri" panose="020F0502020204030204" pitchFamily="34" charset="0"/>
                <a:cs typeface="Calibri" panose="020F0502020204030204" pitchFamily="34" charset="0"/>
              </a:rPr>
              <a:t> contrast for:</a:t>
            </a:r>
          </a:p>
          <a:p>
            <a:pPr marL="514350" indent="-514350">
              <a:buClr>
                <a:schemeClr val="tx1"/>
              </a:buClr>
              <a:buFont typeface="+mj-lt"/>
              <a:buAutoNum type="arabicPeriod"/>
            </a:pPr>
            <a:r>
              <a:rPr lang="en-US" sz="3200" b="1" dirty="0">
                <a:latin typeface="Calibri" panose="020F0502020204030204" pitchFamily="34" charset="0"/>
                <a:cs typeface="Calibri" panose="020F0502020204030204" pitchFamily="34" charset="0"/>
              </a:rPr>
              <a:t>Enhancement of inflammatory processes</a:t>
            </a:r>
          </a:p>
          <a:p>
            <a:pPr lvl="1">
              <a:buClr>
                <a:schemeClr val="tx1"/>
              </a:buClr>
            </a:pPr>
            <a:r>
              <a:rPr lang="en-US" sz="3200" dirty="0">
                <a:latin typeface="Calibri" panose="020F0502020204030204" pitchFamily="34" charset="0"/>
                <a:cs typeface="Calibri" panose="020F0502020204030204" pitchFamily="34" charset="0"/>
              </a:rPr>
              <a:t>“Fat stranding” seen in inflammatory processes such as diverticulitis or appendicitis.</a:t>
            </a:r>
          </a:p>
          <a:p>
            <a:pPr lvl="1">
              <a:buClr>
                <a:schemeClr val="tx1"/>
              </a:buClr>
            </a:pPr>
            <a:r>
              <a:rPr lang="en-US" sz="3200" dirty="0">
                <a:latin typeface="Calibri" panose="020F0502020204030204" pitchFamily="34" charset="0"/>
                <a:cs typeface="Calibri" panose="020F0502020204030204" pitchFamily="34" charset="0"/>
              </a:rPr>
              <a:t>Evaluation of infectious process/abscess</a:t>
            </a:r>
          </a:p>
          <a:p>
            <a:pPr lvl="1">
              <a:buClr>
                <a:schemeClr val="tx1"/>
              </a:buClr>
            </a:pPr>
            <a:endParaRPr lang="en-US" sz="3200" dirty="0">
              <a:latin typeface="Calibri" panose="020F0502020204030204" pitchFamily="34" charset="0"/>
              <a:cs typeface="Calibri" panose="020F0502020204030204" pitchFamily="34" charset="0"/>
            </a:endParaRPr>
          </a:p>
          <a:p>
            <a:pPr marL="514350" indent="-514350">
              <a:buClr>
                <a:schemeClr val="tx1"/>
              </a:buClr>
              <a:buFont typeface="+mj-lt"/>
              <a:buAutoNum type="arabicPeriod"/>
            </a:pPr>
            <a:r>
              <a:rPr lang="en-US" sz="3200" b="1" dirty="0">
                <a:latin typeface="Calibri" panose="020F0502020204030204" pitchFamily="34" charset="0"/>
                <a:cs typeface="Calibri" panose="020F0502020204030204" pitchFamily="34" charset="0"/>
              </a:rPr>
              <a:t>Evaluation of vascular structures</a:t>
            </a:r>
            <a:r>
              <a:rPr lang="en-US" sz="3200" dirty="0">
                <a:latin typeface="Calibri" panose="020F0502020204030204" pitchFamily="34" charset="0"/>
                <a:cs typeface="Calibri" panose="020F0502020204030204" pitchFamily="34" charset="0"/>
              </a:rPr>
              <a:t>, </a:t>
            </a:r>
            <a:r>
              <a:rPr lang="en-US" sz="3200" dirty="0" err="1">
                <a:latin typeface="Calibri" panose="020F0502020204030204" pitchFamily="34" charset="0"/>
                <a:cs typeface="Calibri" panose="020F0502020204030204" pitchFamily="34" charset="0"/>
              </a:rPr>
              <a:t>ie</a:t>
            </a:r>
            <a:r>
              <a:rPr lang="en-US" sz="3200" dirty="0">
                <a:latin typeface="Calibri" panose="020F0502020204030204" pitchFamily="34" charset="0"/>
                <a:cs typeface="Calibri" panose="020F0502020204030204" pitchFamily="34" charset="0"/>
              </a:rPr>
              <a:t>. aorta and arterial branches, order a CT angiogram or CTA- not a CT with IV contrast.</a:t>
            </a:r>
            <a:endParaRPr lang="en-US" dirty="0"/>
          </a:p>
          <a:p>
            <a:endParaRPr lang="en-US" dirty="0"/>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C5EF194B-8D4E-FFC8-57DE-E6B5E1DCDD4A}"/>
              </a:ext>
            </a:extLst>
          </p:cNvPr>
          <p:cNvSpPr>
            <a:spLocks noGrp="1"/>
          </p:cNvSpPr>
          <p:nvPr>
            <p:ph type="title"/>
          </p:nvPr>
        </p:nvSpPr>
        <p:spPr>
          <a:xfrm>
            <a:off x="307181" y="178879"/>
            <a:ext cx="11444287" cy="1188720"/>
          </a:xfrm>
        </p:spPr>
        <p:txBody>
          <a:bodyPr>
            <a:normAutofit/>
          </a:bodyPr>
          <a:lstStyle/>
          <a:p>
            <a:pPr algn="ctr"/>
            <a:r>
              <a:rPr lang="en-US" u="sng" cap="none" dirty="0"/>
              <a:t>WITH OR WITHOUT CONTRAST?</a:t>
            </a:r>
            <a:endParaRPr lang="en-US" u="sng" dirty="0"/>
          </a:p>
        </p:txBody>
      </p:sp>
    </p:spTree>
    <p:extLst>
      <p:ext uri="{BB962C8B-B14F-4D97-AF65-F5344CB8AC3E}">
        <p14:creationId xmlns:p14="http://schemas.microsoft.com/office/powerpoint/2010/main" val="10423720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A56AB-7170-448E-9737-1DEE55E35680}"/>
              </a:ext>
            </a:extLst>
          </p:cNvPr>
          <p:cNvSpPr>
            <a:spLocks noGrp="1"/>
          </p:cNvSpPr>
          <p:nvPr>
            <p:ph sz="half" idx="1"/>
          </p:nvPr>
        </p:nvSpPr>
        <p:spPr>
          <a:xfrm>
            <a:off x="171451" y="1367599"/>
            <a:ext cx="6903119" cy="5058508"/>
          </a:xfrm>
        </p:spPr>
        <p:txBody>
          <a:bodyPr>
            <a:noAutofit/>
          </a:bodyPr>
          <a:lstStyle/>
          <a:p>
            <a:pPr marL="0" indent="0">
              <a:lnSpc>
                <a:spcPct val="110000"/>
              </a:lnSpc>
              <a:spcBef>
                <a:spcPts val="0"/>
              </a:spcBef>
              <a:buNone/>
            </a:pPr>
            <a:r>
              <a:rPr lang="en-US" sz="3200" dirty="0">
                <a:latin typeface="Calibri" panose="020F0502020204030204" pitchFamily="34" charset="0"/>
                <a:cs typeface="Calibri" panose="020F0502020204030204" pitchFamily="34" charset="0"/>
              </a:rPr>
              <a:t>Obtain a CT </a:t>
            </a:r>
            <a:r>
              <a:rPr lang="en-US" sz="3200" b="1" u="sng" dirty="0">
                <a:latin typeface="Calibri" panose="020F0502020204030204" pitchFamily="34" charset="0"/>
                <a:cs typeface="Calibri" panose="020F0502020204030204" pitchFamily="34" charset="0"/>
              </a:rPr>
              <a:t>WITH</a:t>
            </a:r>
            <a:r>
              <a:rPr lang="en-US" sz="3200" dirty="0">
                <a:latin typeface="Calibri" panose="020F0502020204030204" pitchFamily="34" charset="0"/>
                <a:cs typeface="Calibri" panose="020F0502020204030204" pitchFamily="34" charset="0"/>
              </a:rPr>
              <a:t> contrast for:</a:t>
            </a:r>
          </a:p>
          <a:p>
            <a:pPr marL="91440" indent="0">
              <a:spcBef>
                <a:spcPts val="400"/>
              </a:spcBef>
              <a:buClr>
                <a:schemeClr val="tx1"/>
              </a:buClr>
              <a:buFont typeface="+mj-lt"/>
              <a:buAutoNum type="arabicPeriod" startAt="3"/>
            </a:pPr>
            <a:r>
              <a:rPr lang="en-US" sz="3200" b="1" dirty="0">
                <a:latin typeface="Calibri" panose="020F0502020204030204" pitchFamily="34" charset="0"/>
                <a:cs typeface="Calibri" panose="020F0502020204030204" pitchFamily="34" charset="0"/>
              </a:rPr>
              <a:t> Suspected malignancy</a:t>
            </a:r>
          </a:p>
          <a:p>
            <a:pPr lvl="1">
              <a:spcBef>
                <a:spcPts val="400"/>
              </a:spcBef>
              <a:buClr>
                <a:schemeClr val="tx1"/>
              </a:buClr>
            </a:pPr>
            <a:r>
              <a:rPr lang="en-US" sz="3200" dirty="0">
                <a:latin typeface="Calibri" panose="020F0502020204030204" pitchFamily="34" charset="0"/>
                <a:cs typeface="Calibri" panose="020F0502020204030204" pitchFamily="34" charset="0"/>
              </a:rPr>
              <a:t>Contrast will help to differentiate normal from abnormal tissue and to identify metastasis.</a:t>
            </a:r>
          </a:p>
          <a:p>
            <a:pPr lvl="1">
              <a:spcBef>
                <a:spcPts val="400"/>
              </a:spcBef>
              <a:buClr>
                <a:schemeClr val="tx1"/>
              </a:buClr>
            </a:pPr>
            <a:r>
              <a:rPr lang="en-US" sz="3200" dirty="0" err="1">
                <a:latin typeface="Calibri" panose="020F0502020204030204" pitchFamily="34" charset="0"/>
                <a:cs typeface="Calibri" panose="020F0502020204030204" pitchFamily="34" charset="0"/>
              </a:rPr>
              <a:t>Hypervascular</a:t>
            </a:r>
            <a:r>
              <a:rPr lang="en-US" sz="3200" dirty="0">
                <a:latin typeface="Calibri" panose="020F0502020204030204" pitchFamily="34" charset="0"/>
                <a:cs typeface="Calibri" panose="020F0502020204030204" pitchFamily="34" charset="0"/>
              </a:rPr>
              <a:t> lesions will readily enhance with IV contrast</a:t>
            </a:r>
          </a:p>
          <a:p>
            <a:pPr lvl="1">
              <a:spcBef>
                <a:spcPts val="400"/>
              </a:spcBef>
              <a:buClr>
                <a:schemeClr val="tx1"/>
              </a:buClr>
            </a:pPr>
            <a:r>
              <a:rPr lang="en-US" sz="3200" dirty="0">
                <a:latin typeface="Calibri" panose="020F0502020204030204" pitchFamily="34" charset="0"/>
                <a:cs typeface="Calibri" panose="020F0502020204030204" pitchFamily="34" charset="0"/>
              </a:rPr>
              <a:t>Some lesions are </a:t>
            </a:r>
            <a:r>
              <a:rPr lang="en-US" sz="3200" dirty="0" err="1">
                <a:latin typeface="Calibri" panose="020F0502020204030204" pitchFamily="34" charset="0"/>
                <a:cs typeface="Calibri" panose="020F0502020204030204" pitchFamily="34" charset="0"/>
              </a:rPr>
              <a:t>hypovascular</a:t>
            </a:r>
            <a:r>
              <a:rPr lang="en-US" sz="3200" dirty="0">
                <a:latin typeface="Calibri" panose="020F0502020204030204" pitchFamily="34" charset="0"/>
                <a:cs typeface="Calibri" panose="020F0502020204030204" pitchFamily="34" charset="0"/>
              </a:rPr>
              <a:t> compared to surrounding structures.</a:t>
            </a:r>
          </a:p>
        </p:txBody>
      </p:sp>
      <p:sp>
        <p:nvSpPr>
          <p:cNvPr id="4" name="Content Placeholder 3">
            <a:extLst>
              <a:ext uri="{FF2B5EF4-FFF2-40B4-BE49-F238E27FC236}">
                <a16:creationId xmlns:a16="http://schemas.microsoft.com/office/drawing/2014/main" id="{0D3D63C6-5CF7-4B0C-94BD-239F31F77683}"/>
              </a:ext>
            </a:extLst>
          </p:cNvPr>
          <p:cNvSpPr>
            <a:spLocks noGrp="1"/>
          </p:cNvSpPr>
          <p:nvPr>
            <p:ph sz="half" idx="2"/>
          </p:nvPr>
        </p:nvSpPr>
        <p:spPr>
          <a:xfrm>
            <a:off x="7230980" y="4583749"/>
            <a:ext cx="4789569" cy="2045649"/>
          </a:xfrm>
        </p:spPr>
        <p:txBody>
          <a:bodyPr>
            <a:normAutofit fontScale="62500" lnSpcReduction="20000"/>
          </a:bodyPr>
          <a:lstStyle/>
          <a:p>
            <a:pPr>
              <a:lnSpc>
                <a:spcPct val="120000"/>
              </a:lnSpc>
            </a:pPr>
            <a:r>
              <a:rPr lang="en-US" sz="3400" dirty="0">
                <a:latin typeface="Calibri" panose="020F0502020204030204" pitchFamily="34" charset="0"/>
                <a:cs typeface="Calibri" panose="020F0502020204030204" pitchFamily="34" charset="0"/>
              </a:rPr>
              <a:t>Different phases of enhancement based on blood flow are found in the liver, pancreas and kidney.  The radiologist may suggest a particular “protocol” for imaging these organs in order to take advantage of this to make a diagnosis.</a:t>
            </a:r>
          </a:p>
          <a:p>
            <a:endParaRPr lang="en-US" dirty="0"/>
          </a:p>
        </p:txBody>
      </p:sp>
      <p:pic>
        <p:nvPicPr>
          <p:cNvPr id="21514" name="Picture 10" descr=".">
            <a:extLst>
              <a:ext uri="{FF2B5EF4-FFF2-40B4-BE49-F238E27FC236}">
                <a16:creationId xmlns:a16="http://schemas.microsoft.com/office/drawing/2014/main" id="{2DB06817-044B-416A-BD96-11E503F583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0980" y="1271588"/>
            <a:ext cx="4699084" cy="300062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3F24DCC-05D8-6916-18FC-3FC7C57DE23C}"/>
              </a:ext>
            </a:extLst>
          </p:cNvPr>
          <p:cNvSpPr>
            <a:spLocks noGrp="1"/>
          </p:cNvSpPr>
          <p:nvPr>
            <p:ph type="title"/>
          </p:nvPr>
        </p:nvSpPr>
        <p:spPr>
          <a:xfrm>
            <a:off x="307181" y="178879"/>
            <a:ext cx="11444287" cy="1188720"/>
          </a:xfrm>
        </p:spPr>
        <p:txBody>
          <a:bodyPr>
            <a:normAutofit/>
          </a:bodyPr>
          <a:lstStyle/>
          <a:p>
            <a:pPr algn="ctr"/>
            <a:r>
              <a:rPr lang="en-US" u="sng" cap="none" dirty="0"/>
              <a:t>WITH OR WITHOUT CONTRAST?</a:t>
            </a:r>
            <a:endParaRPr lang="en-US" u="sng" dirty="0"/>
          </a:p>
        </p:txBody>
      </p:sp>
    </p:spTree>
    <p:extLst>
      <p:ext uri="{BB962C8B-B14F-4D97-AF65-F5344CB8AC3E}">
        <p14:creationId xmlns:p14="http://schemas.microsoft.com/office/powerpoint/2010/main" val="14915531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2" name="Picture 4" descr="Image result for ct angiogram">
            <a:extLst>
              <a:ext uri="{FF2B5EF4-FFF2-40B4-BE49-F238E27FC236}">
                <a16:creationId xmlns:a16="http://schemas.microsoft.com/office/drawing/2014/main" id="{88658DD1-567B-48B4-B9C4-27AAF0DA5C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399" y="3599796"/>
            <a:ext cx="4251651" cy="2997414"/>
          </a:xfrm>
          <a:prstGeom prst="rect">
            <a:avLst/>
          </a:prstGeom>
          <a:noFill/>
          <a:extLst>
            <a:ext uri="{909E8E84-426E-40DD-AFC4-6F175D3DCCD1}">
              <a14:hiddenFill xmlns:a14="http://schemas.microsoft.com/office/drawing/2010/main">
                <a:solidFill>
                  <a:srgbClr val="FFFFFF"/>
                </a:solidFill>
              </a14:hiddenFill>
            </a:ext>
          </a:extLst>
        </p:spPr>
      </p:pic>
      <p:pic>
        <p:nvPicPr>
          <p:cNvPr id="22530" name="Picture 2" descr="Image result for ct abdomen and pelvis with contrast">
            <a:extLst>
              <a:ext uri="{FF2B5EF4-FFF2-40B4-BE49-F238E27FC236}">
                <a16:creationId xmlns:a16="http://schemas.microsoft.com/office/drawing/2014/main" id="{644E70A1-CF8F-45C5-BEE3-49E0E3620C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180" y="369394"/>
            <a:ext cx="2973203" cy="2888810"/>
          </a:xfrm>
          <a:prstGeom prst="rect">
            <a:avLst/>
          </a:prstGeom>
          <a:noFill/>
          <a:extLst>
            <a:ext uri="{909E8E84-426E-40DD-AFC4-6F175D3DCCD1}">
              <a14:hiddenFill xmlns:a14="http://schemas.microsoft.com/office/drawing/2010/main">
                <a:solidFill>
                  <a:srgbClr val="FFFFFF"/>
                </a:solidFill>
              </a14:hiddenFill>
            </a:ext>
          </a:extLst>
        </p:spPr>
      </p:pic>
      <p:pic>
        <p:nvPicPr>
          <p:cNvPr id="22534" name="Picture 6" descr="Image result for ct angiogram">
            <a:extLst>
              <a:ext uri="{FF2B5EF4-FFF2-40B4-BE49-F238E27FC236}">
                <a16:creationId xmlns:a16="http://schemas.microsoft.com/office/drawing/2014/main" id="{2DCCE1EF-D42B-4290-88C4-8AFB03482E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88902" y="369394"/>
            <a:ext cx="1679068" cy="297180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4ED0F2E-DB15-497B-9357-459AD7E655BA}"/>
              </a:ext>
            </a:extLst>
          </p:cNvPr>
          <p:cNvSpPr>
            <a:spLocks noGrp="1"/>
          </p:cNvSpPr>
          <p:nvPr>
            <p:ph idx="1"/>
          </p:nvPr>
        </p:nvSpPr>
        <p:spPr>
          <a:xfrm>
            <a:off x="5110836" y="1813799"/>
            <a:ext cx="6673184" cy="4946772"/>
          </a:xfrm>
        </p:spPr>
        <p:txBody>
          <a:bodyPr>
            <a:normAutofit/>
          </a:bodyPr>
          <a:lstStyle/>
          <a:p>
            <a:pPr marL="0" indent="0">
              <a:buNone/>
            </a:pPr>
            <a:r>
              <a:rPr lang="en-US" sz="2800" dirty="0">
                <a:solidFill>
                  <a:schemeClr val="tx1"/>
                </a:solidFill>
                <a:latin typeface="Calibri" panose="020F0502020204030204" pitchFamily="34" charset="0"/>
                <a:cs typeface="Calibri" panose="020F0502020204030204" pitchFamily="34" charset="0"/>
              </a:rPr>
              <a:t>A </a:t>
            </a:r>
            <a:r>
              <a:rPr lang="en-US" sz="2800" b="1" i="1" dirty="0">
                <a:solidFill>
                  <a:schemeClr val="tx1"/>
                </a:solidFill>
                <a:latin typeface="Calibri" panose="020F0502020204030204" pitchFamily="34" charset="0"/>
                <a:cs typeface="Calibri" panose="020F0502020204030204" pitchFamily="34" charset="0"/>
              </a:rPr>
              <a:t>CT with IV contrast </a:t>
            </a:r>
            <a:r>
              <a:rPr lang="en-US" sz="2800" dirty="0">
                <a:solidFill>
                  <a:schemeClr val="tx1"/>
                </a:solidFill>
                <a:latin typeface="Calibri" panose="020F0502020204030204" pitchFamily="34" charset="0"/>
                <a:cs typeface="Calibri" panose="020F0502020204030204" pitchFamily="34" charset="0"/>
              </a:rPr>
              <a:t>is timed to begin the scan at the optimal time to enhance organs, soft tissues, and vessels (arterial vs. venous) </a:t>
            </a:r>
          </a:p>
          <a:p>
            <a:pPr marL="0" indent="0">
              <a:buNone/>
            </a:pPr>
            <a:endParaRPr lang="en-US" dirty="0">
              <a:latin typeface="Calibri" panose="020F0502020204030204" pitchFamily="34" charset="0"/>
              <a:cs typeface="Calibri" panose="020F0502020204030204" pitchFamily="34" charset="0"/>
            </a:endParaRPr>
          </a:p>
          <a:p>
            <a:pPr marL="0" indent="0">
              <a:buNone/>
            </a:pPr>
            <a:r>
              <a:rPr lang="en-US" sz="2800" dirty="0">
                <a:solidFill>
                  <a:schemeClr val="tx1"/>
                </a:solidFill>
                <a:latin typeface="Calibri" panose="020F0502020204030204" pitchFamily="34" charset="0"/>
                <a:cs typeface="Calibri" panose="020F0502020204030204" pitchFamily="34" charset="0"/>
              </a:rPr>
              <a:t>A </a:t>
            </a:r>
            <a:r>
              <a:rPr lang="en-US" sz="2800" b="1" i="1" dirty="0">
                <a:solidFill>
                  <a:schemeClr val="tx1"/>
                </a:solidFill>
                <a:latin typeface="Calibri" panose="020F0502020204030204" pitchFamily="34" charset="0"/>
                <a:cs typeface="Calibri" panose="020F0502020204030204" pitchFamily="34" charset="0"/>
              </a:rPr>
              <a:t>CT angiogram (CTA) </a:t>
            </a:r>
            <a:r>
              <a:rPr lang="en-US" sz="2800" dirty="0">
                <a:solidFill>
                  <a:schemeClr val="tx1"/>
                </a:solidFill>
                <a:latin typeface="Calibri" panose="020F0502020204030204" pitchFamily="34" charset="0"/>
                <a:cs typeface="Calibri" panose="020F0502020204030204" pitchFamily="34" charset="0"/>
              </a:rPr>
              <a:t>specifically looks at the vasculature of the body using contrast. </a:t>
            </a:r>
            <a:endParaRPr lang="en-US" sz="2000" dirty="0">
              <a:solidFill>
                <a:srgbClr val="FFFFFF"/>
              </a:solidFill>
            </a:endParaRPr>
          </a:p>
          <a:p>
            <a:endParaRPr lang="en-US" sz="2000" dirty="0">
              <a:solidFill>
                <a:srgbClr val="FFFFFF"/>
              </a:solidFill>
            </a:endParaRPr>
          </a:p>
          <a:p>
            <a:endParaRPr lang="en-US" sz="2000" dirty="0">
              <a:solidFill>
                <a:srgbClr val="FFFFFF"/>
              </a:solidFill>
            </a:endParaRPr>
          </a:p>
        </p:txBody>
      </p:sp>
      <p:sp>
        <p:nvSpPr>
          <p:cNvPr id="4" name="Title 1">
            <a:extLst>
              <a:ext uri="{FF2B5EF4-FFF2-40B4-BE49-F238E27FC236}">
                <a16:creationId xmlns:a16="http://schemas.microsoft.com/office/drawing/2014/main" id="{40BE3B18-37A3-767A-0D96-3784EC5D6D83}"/>
              </a:ext>
            </a:extLst>
          </p:cNvPr>
          <p:cNvSpPr txBox="1">
            <a:spLocks/>
          </p:cNvSpPr>
          <p:nvPr/>
        </p:nvSpPr>
        <p:spPr>
          <a:xfrm>
            <a:off x="4718050" y="385598"/>
            <a:ext cx="7128668" cy="118872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u="sng" dirty="0"/>
              <a:t>CT WITH CONTRAST VS </a:t>
            </a:r>
          </a:p>
          <a:p>
            <a:pPr algn="ctr"/>
            <a:r>
              <a:rPr lang="en-US" u="sng" dirty="0"/>
              <a:t>CT ANGIOGRAM (CTA)</a:t>
            </a:r>
          </a:p>
        </p:txBody>
      </p:sp>
    </p:spTree>
    <p:extLst>
      <p:ext uri="{BB962C8B-B14F-4D97-AF65-F5344CB8AC3E}">
        <p14:creationId xmlns:p14="http://schemas.microsoft.com/office/powerpoint/2010/main" val="40448394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E863527-C414-6D0D-7FCF-38A6BE592ED5}"/>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3357060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33273</TotalTime>
  <Words>3782</Words>
  <Application>Microsoft Office PowerPoint</Application>
  <PresentationFormat>Widescreen</PresentationFormat>
  <Paragraphs>440</Paragraphs>
  <Slides>66</Slides>
  <Notes>65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66</vt:i4>
      </vt:variant>
    </vt:vector>
  </HeadingPairs>
  <TitlesOfParts>
    <vt:vector size="70" baseType="lpstr">
      <vt:lpstr>Arial</vt:lpstr>
      <vt:lpstr>Calibri</vt:lpstr>
      <vt:lpstr>Calibri Light</vt:lpstr>
      <vt:lpstr>Office Theme</vt:lpstr>
      <vt:lpstr>Intro to Radiology</vt:lpstr>
      <vt:lpstr>RADIOLOGY</vt:lpstr>
      <vt:lpstr>RADIOLOGY</vt:lpstr>
      <vt:lpstr>RADIOLOGY</vt:lpstr>
      <vt:lpstr>WORKING IN RADIOLOGY</vt:lpstr>
      <vt:lpstr>WORKING IN RADIOLOGY</vt:lpstr>
      <vt:lpstr>RADIOLOGY TERMS</vt:lpstr>
      <vt:lpstr>RADIOLOGY TERMS</vt:lpstr>
      <vt:lpstr>RADIOLOGY TERMS</vt:lpstr>
      <vt:lpstr>RADIOLOGY TERMS</vt:lpstr>
      <vt:lpstr>CONTRAST AGENTS</vt:lpstr>
      <vt:lpstr>PowerPoint Presentation</vt:lpstr>
      <vt:lpstr>PowerPoint Presentation</vt:lpstr>
      <vt:lpstr>PowerPoint Presentation</vt:lpstr>
      <vt:lpstr>PowerPoint Presentation</vt:lpstr>
      <vt:lpstr>PowerPoint Presentation</vt:lpstr>
      <vt:lpstr>PowerPoint Presentation</vt:lpstr>
      <vt:lpstr>CONTRAST ROUTES: GU</vt:lpstr>
      <vt:lpstr>PowerPoint Presentation</vt:lpstr>
      <vt:lpstr>PowerPoint Presentation</vt:lpstr>
      <vt:lpstr>PowerPoint Presentation</vt:lpstr>
      <vt:lpstr>PowerPoint Presentation</vt:lpstr>
      <vt:lpstr>PowerPoint Presentation</vt:lpstr>
      <vt:lpstr>PowerPoint Presentation</vt:lpstr>
      <vt:lpstr>MODALITIES USING IONIZED RADIATION</vt:lpstr>
      <vt:lpstr>PowerPoint Presentation</vt:lpstr>
      <vt:lpstr>PowerPoint Presentation</vt:lpstr>
      <vt:lpstr>PowerPoint Presentation</vt:lpstr>
      <vt:lpstr>PowerPoint Presentation</vt:lpstr>
      <vt:lpstr>SPECIAL NOTE ON DIAGNOSTIC MAMMOGRAPHY</vt:lpstr>
      <vt:lpstr>XRAY</vt:lpstr>
      <vt:lpstr>RADIOGRAPHY</vt:lpstr>
      <vt:lpstr>SCIENCE OF RADIOGRAPHY</vt:lpstr>
      <vt:lpstr>SCIENCE OF RADIOGRAPHY</vt:lpstr>
      <vt:lpstr>THE RADIOGRAPH</vt:lpstr>
      <vt:lpstr>TISSUE DENSITY &amp; XRAY APPEARANCE</vt:lpstr>
      <vt:lpstr>XRAY Penetration</vt:lpstr>
      <vt:lpstr>PROJECTIONS</vt:lpstr>
      <vt:lpstr>PROJECTIONS</vt:lpstr>
      <vt:lpstr>XRAY APPLICATIONS</vt:lpstr>
      <vt:lpstr>XRAY APPLICATIONS</vt:lpstr>
      <vt:lpstr>WHEN DO WE USE GENERAL RADIOGRAPHY OVER OTHER MODALITIES?</vt:lpstr>
      <vt:lpstr> COMPUTED TOMOGRAPHY (CT)</vt:lpstr>
      <vt:lpstr>THE SCIENCE OF COMPUTED TOMOGRAPHY (CT)</vt:lpstr>
      <vt:lpstr>THE SCIENCE OF COMPUTED TOMOGRAPHY (CT)</vt:lpstr>
      <vt:lpstr>THE SCIENCE OF COMPUTED TOMOGRAPHY (CT)</vt:lpstr>
      <vt:lpstr>READING A CT SCAN</vt:lpstr>
      <vt:lpstr>AXIAL PLANE </vt:lpstr>
      <vt:lpstr>SAGITTAL PLANE</vt:lpstr>
      <vt:lpstr>CORONAL PLANE</vt:lpstr>
      <vt:lpstr>READING A CT SCAN</vt:lpstr>
      <vt:lpstr>READING A CT SCAN</vt:lpstr>
      <vt:lpstr>PowerPoint Presentation</vt:lpstr>
      <vt:lpstr>READING A CT SCAN</vt:lpstr>
      <vt:lpstr>READING A CT SCAN</vt:lpstr>
      <vt:lpstr>3 DIMENSIONAL CT RECONSTRUCTIONS</vt:lpstr>
      <vt:lpstr>CT APPLICATIONS</vt:lpstr>
      <vt:lpstr>PowerPoint Presentation</vt:lpstr>
      <vt:lpstr>PowerPoint Presentation</vt:lpstr>
      <vt:lpstr>PowerPoint Presentation</vt:lpstr>
      <vt:lpstr>PowerPoint Presentation</vt:lpstr>
      <vt:lpstr>WITH OR WITHOUT CONTRAST?</vt:lpstr>
      <vt:lpstr>WITH OR WITHOUT CONTRAST?</vt:lpstr>
      <vt:lpstr>WITH OR WITHOUT CONTRAST?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Radiology</dc:title>
  <dc:creator>Gulczinski, Jill-Renae</dc:creator>
  <cp:lastModifiedBy>Perry, Aaron</cp:lastModifiedBy>
  <cp:revision>19</cp:revision>
  <dcterms:created xsi:type="dcterms:W3CDTF">2021-01-10T20:09:27Z</dcterms:created>
  <dcterms:modified xsi:type="dcterms:W3CDTF">2026-10-20T18:26:35Z</dcterms:modified>
</cp:coreProperties>
</file>