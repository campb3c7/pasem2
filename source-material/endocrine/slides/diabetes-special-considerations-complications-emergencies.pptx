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7"/>
  </p:notesMasterIdLst>
  <p:sldIdLst>
    <p:sldId id="256" r:id="rId5"/>
    <p:sldId id="257" r:id="rId6"/>
    <p:sldId id="722" r:id="rId7"/>
    <p:sldId id="724" r:id="rId8"/>
    <p:sldId id="272" r:id="rId9"/>
    <p:sldId id="725" r:id="rId10"/>
    <p:sldId id="275" r:id="rId11"/>
    <p:sldId id="276" r:id="rId12"/>
    <p:sldId id="726" r:id="rId13"/>
    <p:sldId id="278" r:id="rId14"/>
    <p:sldId id="730" r:id="rId15"/>
    <p:sldId id="279" r:id="rId16"/>
    <p:sldId id="728" r:id="rId17"/>
    <p:sldId id="763" r:id="rId18"/>
    <p:sldId id="765" r:id="rId19"/>
    <p:sldId id="785" r:id="rId20"/>
    <p:sldId id="786" r:id="rId21"/>
    <p:sldId id="780" r:id="rId22"/>
    <p:sldId id="606" r:id="rId23"/>
    <p:sldId id="258" r:id="rId24"/>
    <p:sldId id="732" r:id="rId25"/>
    <p:sldId id="751" r:id="rId26"/>
    <p:sldId id="756" r:id="rId27"/>
    <p:sldId id="611" r:id="rId28"/>
    <p:sldId id="757" r:id="rId29"/>
    <p:sldId id="747" r:id="rId30"/>
    <p:sldId id="758" r:id="rId31"/>
    <p:sldId id="616" r:id="rId32"/>
    <p:sldId id="759" r:id="rId33"/>
    <p:sldId id="259" r:id="rId34"/>
    <p:sldId id="787" r:id="rId35"/>
    <p:sldId id="752" r:id="rId36"/>
    <p:sldId id="776" r:id="rId37"/>
    <p:sldId id="620" r:id="rId38"/>
    <p:sldId id="621" r:id="rId39"/>
    <p:sldId id="623" r:id="rId40"/>
    <p:sldId id="624" r:id="rId41"/>
    <p:sldId id="627" r:id="rId42"/>
    <p:sldId id="628" r:id="rId43"/>
    <p:sldId id="629" r:id="rId44"/>
    <p:sldId id="777" r:id="rId45"/>
    <p:sldId id="642" r:id="rId46"/>
    <p:sldId id="748" r:id="rId47"/>
    <p:sldId id="669" r:id="rId48"/>
    <p:sldId id="654" r:id="rId49"/>
    <p:sldId id="643" r:id="rId50"/>
    <p:sldId id="644" r:id="rId51"/>
    <p:sldId id="645" r:id="rId52"/>
    <p:sldId id="646" r:id="rId53"/>
    <p:sldId id="647" r:id="rId54"/>
    <p:sldId id="648" r:id="rId55"/>
    <p:sldId id="649" r:id="rId56"/>
    <p:sldId id="650" r:id="rId57"/>
    <p:sldId id="661" r:id="rId58"/>
    <p:sldId id="655" r:id="rId59"/>
    <p:sldId id="656" r:id="rId60"/>
    <p:sldId id="657" r:id="rId61"/>
    <p:sldId id="658" r:id="rId62"/>
    <p:sldId id="659" r:id="rId63"/>
    <p:sldId id="662" r:id="rId64"/>
    <p:sldId id="749" r:id="rId65"/>
    <p:sldId id="663" r:id="rId66"/>
    <p:sldId id="753" r:id="rId67"/>
    <p:sldId id="754" r:id="rId68"/>
    <p:sldId id="755" r:id="rId69"/>
    <p:sldId id="778" r:id="rId70"/>
    <p:sldId id="267" r:id="rId71"/>
    <p:sldId id="268" r:id="rId72"/>
    <p:sldId id="733" r:id="rId73"/>
    <p:sldId id="270" r:id="rId74"/>
    <p:sldId id="281" r:id="rId75"/>
    <p:sldId id="739" r:id="rId76"/>
    <p:sldId id="264" r:id="rId77"/>
    <p:sldId id="735" r:id="rId78"/>
    <p:sldId id="736" r:id="rId79"/>
    <p:sldId id="266" r:id="rId80"/>
    <p:sldId id="265" r:id="rId81"/>
    <p:sldId id="740" r:id="rId82"/>
    <p:sldId id="678" r:id="rId83"/>
    <p:sldId id="788" r:id="rId84"/>
    <p:sldId id="679" r:id="rId85"/>
    <p:sldId id="680" r:id="rId86"/>
    <p:sldId id="681" r:id="rId87"/>
    <p:sldId id="682" r:id="rId88"/>
    <p:sldId id="719" r:id="rId89"/>
    <p:sldId id="684" r:id="rId90"/>
    <p:sldId id="685" r:id="rId91"/>
    <p:sldId id="686" r:id="rId92"/>
    <p:sldId id="687" r:id="rId93"/>
    <p:sldId id="688" r:id="rId94"/>
    <p:sldId id="689" r:id="rId95"/>
    <p:sldId id="692" r:id="rId96"/>
    <p:sldId id="720" r:id="rId97"/>
    <p:sldId id="690" r:id="rId98"/>
    <p:sldId id="691" r:id="rId99"/>
    <p:sldId id="693" r:id="rId100"/>
    <p:sldId id="694" r:id="rId101"/>
    <p:sldId id="695" r:id="rId102"/>
    <p:sldId id="789" r:id="rId103"/>
    <p:sldId id="696" r:id="rId104"/>
    <p:sldId id="741" r:id="rId105"/>
    <p:sldId id="697" r:id="rId106"/>
    <p:sldId id="698" r:id="rId107"/>
    <p:sldId id="699" r:id="rId108"/>
    <p:sldId id="700" r:id="rId109"/>
    <p:sldId id="701" r:id="rId110"/>
    <p:sldId id="702" r:id="rId111"/>
    <p:sldId id="703" r:id="rId112"/>
    <p:sldId id="704" r:id="rId113"/>
    <p:sldId id="705" r:id="rId114"/>
    <p:sldId id="706" r:id="rId115"/>
    <p:sldId id="742" r:id="rId1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ndell, Sarah" initials="BS" lastIdx="2" clrIdx="0">
    <p:extLst>
      <p:ext uri="{19B8F6BF-5375-455C-9EA6-DF929625EA0E}">
        <p15:presenceInfo xmlns:p15="http://schemas.microsoft.com/office/powerpoint/2012/main" userId="S-1-5-21-537949374-2100125933-666385194-6082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84" dt="2026-10-04T04:19:11.804"/>
    <p1510:client id="{DDA16263-E760-83AF-8469-B019C0200350}" v="5" dt="2026-10-04T04:17:24.770"/>
  </p1510:revLst>
</p1510:revInfo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63097" autoAdjust="0"/>
  </p:normalViewPr>
  <p:slideViewPr>
    <p:cSldViewPr snapToGrid="0">
      <p:cViewPr varScale="1">
        <p:scale>
          <a:sx n="63" d="100"/>
          <a:sy n="63" d="100"/>
        </p:scale>
        <p:origin x="23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microsoft.com/office/2016/11/relationships/changesInfo" Target="changesInfos/changesInfo1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commentAuthors" Target="commentAuthor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microsoft.com/office/2015/10/relationships/revisionInfo" Target="revisionInfo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presProps" Target="presProps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theme" Target="theme/theme1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ell, Sarah" userId="S::k134829@ketteringhealth.org::82e0543b-ab0e-44d1-b40d-f7dfc8a07e8d" providerId="AD" clId="Web-{DDA16263-E760-83AF-8469-B019C0200350}"/>
    <pc:docChg chg="modSld">
      <pc:chgData name="Brandell, Sarah" userId="S::k134829@ketteringhealth.org::82e0543b-ab0e-44d1-b40d-f7dfc8a07e8d" providerId="AD" clId="Web-{DDA16263-E760-83AF-8469-B019C0200350}" dt="2026-10-04T04:17:24.770" v="4" actId="20577"/>
      <pc:docMkLst>
        <pc:docMk/>
      </pc:docMkLst>
      <pc:sldChg chg="modSp">
        <pc:chgData name="Brandell, Sarah" userId="S::k134829@ketteringhealth.org::82e0543b-ab0e-44d1-b40d-f7dfc8a07e8d" providerId="AD" clId="Web-{DDA16263-E760-83AF-8469-B019C0200350}" dt="2026-10-04T04:17:24.770" v="4" actId="20577"/>
        <pc:sldMkLst>
          <pc:docMk/>
          <pc:sldMk cId="3058230574" sldId="257"/>
        </pc:sldMkLst>
        <pc:spChg chg="mod">
          <ac:chgData name="Brandell, Sarah" userId="S::k134829@ketteringhealth.org::82e0543b-ab0e-44d1-b40d-f7dfc8a07e8d" providerId="AD" clId="Web-{DDA16263-E760-83AF-8469-B019C0200350}" dt="2026-10-04T04:17:24.770" v="4" actId="20577"/>
          <ac:spMkLst>
            <pc:docMk/>
            <pc:sldMk cId="3058230574" sldId="257"/>
            <ac:spMk id="3" creationId="{C46B40CA-0A76-4E6C-AEE5-B8D5730D6C64}"/>
          </ac:spMkLst>
        </pc:spChg>
      </pc:sldChg>
      <pc:sldChg chg="addSp delSp modSp">
        <pc:chgData name="Brandell, Sarah" userId="S::k134829@ketteringhealth.org::82e0543b-ab0e-44d1-b40d-f7dfc8a07e8d" providerId="AD" clId="Web-{DDA16263-E760-83AF-8469-B019C0200350}" dt="2026-10-04T04:16:42.534" v="1"/>
        <pc:sldMkLst>
          <pc:docMk/>
          <pc:sldMk cId="1779847048" sldId="690"/>
        </pc:sldMkLst>
        <pc:spChg chg="add mod">
          <ac:chgData name="Brandell, Sarah" userId="S::k134829@ketteringhealth.org::82e0543b-ab0e-44d1-b40d-f7dfc8a07e8d" providerId="AD" clId="Web-{DDA16263-E760-83AF-8469-B019C0200350}" dt="2026-10-04T04:16:41.597" v="0"/>
          <ac:spMkLst>
            <pc:docMk/>
            <pc:sldMk cId="1779847048" sldId="690"/>
            <ac:spMk id="3" creationId="{20B6D0F4-4AC7-CE97-D4C2-6E248A104B22}"/>
          </ac:spMkLst>
        </pc:spChg>
        <pc:spChg chg="add">
          <ac:chgData name="Brandell, Sarah" userId="S::k134829@ketteringhealth.org::82e0543b-ab0e-44d1-b40d-f7dfc8a07e8d" providerId="AD" clId="Web-{DDA16263-E760-83AF-8469-B019C0200350}" dt="2026-10-04T04:16:42.534" v="1"/>
          <ac:spMkLst>
            <pc:docMk/>
            <pc:sldMk cId="1779847048" sldId="690"/>
            <ac:spMk id="4" creationId="{4A3F34BE-DB91-5D45-9B5F-AF2154DFA073}"/>
          </ac:spMkLst>
        </pc:spChg>
        <pc:spChg chg="del">
          <ac:chgData name="Brandell, Sarah" userId="S::k134829@ketteringhealth.org::82e0543b-ab0e-44d1-b40d-f7dfc8a07e8d" providerId="AD" clId="Web-{DDA16263-E760-83AF-8469-B019C0200350}" dt="2026-10-04T04:16:41.597" v="0"/>
          <ac:spMkLst>
            <pc:docMk/>
            <pc:sldMk cId="1779847048" sldId="690"/>
            <ac:spMk id="167938" creationId="{00000000-0000-0000-0000-000000000000}"/>
          </ac:spMkLst>
        </pc:spChg>
      </pc:sldChg>
    </pc:docChg>
  </pc:docChgLst>
  <pc:docChgLst>
    <pc:chgData name="Brandell, Sarah" userId="S::k134829@ketteringhealth.org::82e0543b-ab0e-44d1-b40d-f7dfc8a07e8d" providerId="AD" clId="Web-{00000000-0000-0000-0000-000000000000}"/>
    <pc:docChg chg="modSld">
      <pc:chgData name="Brandell, Sarah" userId="S::k134829@ketteringhealth.org::82e0543b-ab0e-44d1-b40d-f7dfc8a07e8d" providerId="AD" clId="Web-{00000000-0000-0000-0000-000000000000}" dt="2026-10-04T04:19:11.804" v="19" actId="20577"/>
      <pc:docMkLst>
        <pc:docMk/>
      </pc:docMkLst>
      <pc:sldChg chg="modNotes">
        <pc:chgData name="Brandell, Sarah" userId="S::k134829@ketteringhealth.org::82e0543b-ab0e-44d1-b40d-f7dfc8a07e8d" providerId="AD" clId="Web-{00000000-0000-0000-0000-000000000000}" dt="2026-10-04T04:00:07.683" v="0"/>
        <pc:sldMkLst>
          <pc:docMk/>
          <pc:sldMk cId="4215268132" sldId="278"/>
        </pc:sldMkLst>
      </pc:sldChg>
      <pc:sldChg chg="modNotes">
        <pc:chgData name="Brandell, Sarah" userId="S::k134829@ketteringhealth.org::82e0543b-ab0e-44d1-b40d-f7dfc8a07e8d" providerId="AD" clId="Web-{00000000-0000-0000-0000-000000000000}" dt="2026-10-04T04:00:37.011" v="2"/>
        <pc:sldMkLst>
          <pc:docMk/>
          <pc:sldMk cId="1476671619" sldId="628"/>
        </pc:sldMkLst>
      </pc:sldChg>
      <pc:sldChg chg="modNotes">
        <pc:chgData name="Brandell, Sarah" userId="S::k134829@ketteringhealth.org::82e0543b-ab0e-44d1-b40d-f7dfc8a07e8d" providerId="AD" clId="Web-{00000000-0000-0000-0000-000000000000}" dt="2026-10-04T04:00:43.261" v="3"/>
        <pc:sldMkLst>
          <pc:docMk/>
          <pc:sldMk cId="2098875801" sldId="629"/>
        </pc:sldMkLst>
      </pc:sldChg>
      <pc:sldChg chg="modNotes">
        <pc:chgData name="Brandell, Sarah" userId="S::k134829@ketteringhealth.org::82e0543b-ab0e-44d1-b40d-f7dfc8a07e8d" providerId="AD" clId="Web-{00000000-0000-0000-0000-000000000000}" dt="2026-10-04T04:00:49.449" v="4"/>
        <pc:sldMkLst>
          <pc:docMk/>
          <pc:sldMk cId="377068440" sldId="642"/>
        </pc:sldMkLst>
      </pc:sldChg>
      <pc:sldChg chg="modNotes">
        <pc:chgData name="Brandell, Sarah" userId="S::k134829@ketteringhealth.org::82e0543b-ab0e-44d1-b40d-f7dfc8a07e8d" providerId="AD" clId="Web-{00000000-0000-0000-0000-000000000000}" dt="2026-10-04T04:01:04.137" v="5"/>
        <pc:sldMkLst>
          <pc:docMk/>
          <pc:sldMk cId="487979874" sldId="662"/>
        </pc:sldMkLst>
      </pc:sldChg>
      <pc:sldChg chg="modNotes">
        <pc:chgData name="Brandell, Sarah" userId="S::k134829@ketteringhealth.org::82e0543b-ab0e-44d1-b40d-f7dfc8a07e8d" providerId="AD" clId="Web-{00000000-0000-0000-0000-000000000000}" dt="2026-10-04T04:01:43.371" v="10"/>
        <pc:sldMkLst>
          <pc:docMk/>
          <pc:sldMk cId="1779847048" sldId="690"/>
        </pc:sldMkLst>
      </pc:sldChg>
      <pc:sldChg chg="modNotes">
        <pc:chgData name="Brandell, Sarah" userId="S::k134829@ketteringhealth.org::82e0543b-ab0e-44d1-b40d-f7dfc8a07e8d" providerId="AD" clId="Web-{00000000-0000-0000-0000-000000000000}" dt="2026-10-04T04:01:33.621" v="7"/>
        <pc:sldMkLst>
          <pc:docMk/>
          <pc:sldMk cId="1990854431" sldId="692"/>
        </pc:sldMkLst>
      </pc:sldChg>
      <pc:sldChg chg="modNotes">
        <pc:chgData name="Brandell, Sarah" userId="S::k134829@ketteringhealth.org::82e0543b-ab0e-44d1-b40d-f7dfc8a07e8d" providerId="AD" clId="Web-{00000000-0000-0000-0000-000000000000}" dt="2026-10-04T04:01:57.856" v="12"/>
        <pc:sldMkLst>
          <pc:docMk/>
          <pc:sldMk cId="630600125" sldId="697"/>
        </pc:sldMkLst>
      </pc:sldChg>
      <pc:sldChg chg="modNotes">
        <pc:chgData name="Brandell, Sarah" userId="S::k134829@ketteringhealth.org::82e0543b-ab0e-44d1-b40d-f7dfc8a07e8d" providerId="AD" clId="Web-{00000000-0000-0000-0000-000000000000}" dt="2026-10-04T04:02:05.012" v="13"/>
        <pc:sldMkLst>
          <pc:docMk/>
          <pc:sldMk cId="1385780110" sldId="699"/>
        </pc:sldMkLst>
      </pc:sldChg>
      <pc:sldChg chg="modNotes">
        <pc:chgData name="Brandell, Sarah" userId="S::k134829@ketteringhealth.org::82e0543b-ab0e-44d1-b40d-f7dfc8a07e8d" providerId="AD" clId="Web-{00000000-0000-0000-0000-000000000000}" dt="2026-10-04T04:02:10.793" v="14"/>
        <pc:sldMkLst>
          <pc:docMk/>
          <pc:sldMk cId="1346157055" sldId="700"/>
        </pc:sldMkLst>
      </pc:sldChg>
      <pc:sldChg chg="modNotes">
        <pc:chgData name="Brandell, Sarah" userId="S::k134829@ketteringhealth.org::82e0543b-ab0e-44d1-b40d-f7dfc8a07e8d" providerId="AD" clId="Web-{00000000-0000-0000-0000-000000000000}" dt="2026-10-04T04:02:17.965" v="15"/>
        <pc:sldMkLst>
          <pc:docMk/>
          <pc:sldMk cId="576367570" sldId="703"/>
        </pc:sldMkLst>
      </pc:sldChg>
      <pc:sldChg chg="modNotes">
        <pc:chgData name="Brandell, Sarah" userId="S::k134829@ketteringhealth.org::82e0543b-ab0e-44d1-b40d-f7dfc8a07e8d" providerId="AD" clId="Web-{00000000-0000-0000-0000-000000000000}" dt="2026-10-04T04:02:24.372" v="16"/>
        <pc:sldMkLst>
          <pc:docMk/>
          <pc:sldMk cId="676997525" sldId="705"/>
        </pc:sldMkLst>
      </pc:sldChg>
      <pc:sldChg chg="modNotes">
        <pc:chgData name="Brandell, Sarah" userId="S::k134829@ketteringhealth.org::82e0543b-ab0e-44d1-b40d-f7dfc8a07e8d" providerId="AD" clId="Web-{00000000-0000-0000-0000-000000000000}" dt="2026-10-04T04:02:28.840" v="17"/>
        <pc:sldMkLst>
          <pc:docMk/>
          <pc:sldMk cId="929040869" sldId="706"/>
        </pc:sldMkLst>
      </pc:sldChg>
      <pc:sldChg chg="modNotes">
        <pc:chgData name="Brandell, Sarah" userId="S::k134829@ketteringhealth.org::82e0543b-ab0e-44d1-b40d-f7dfc8a07e8d" providerId="AD" clId="Web-{00000000-0000-0000-0000-000000000000}" dt="2026-10-04T04:01:37.277" v="9"/>
        <pc:sldMkLst>
          <pc:docMk/>
          <pc:sldMk cId="1879832284" sldId="720"/>
        </pc:sldMkLst>
      </pc:sldChg>
      <pc:sldChg chg="modNotes">
        <pc:chgData name="Brandell, Sarah" userId="S::k134829@ketteringhealth.org::82e0543b-ab0e-44d1-b40d-f7dfc8a07e8d" providerId="AD" clId="Web-{00000000-0000-0000-0000-000000000000}" dt="2026-10-04T04:00:19.730" v="1"/>
        <pc:sldMkLst>
          <pc:docMk/>
          <pc:sldMk cId="2958451971" sldId="732"/>
        </pc:sldMkLst>
      </pc:sldChg>
      <pc:sldChg chg="modNotes">
        <pc:chgData name="Brandell, Sarah" userId="S::k134829@ketteringhealth.org::82e0543b-ab0e-44d1-b40d-f7dfc8a07e8d" providerId="AD" clId="Web-{00000000-0000-0000-0000-000000000000}" dt="2026-10-04T04:02:33.309" v="18"/>
        <pc:sldMkLst>
          <pc:docMk/>
          <pc:sldMk cId="4287896773" sldId="742"/>
        </pc:sldMkLst>
      </pc:sldChg>
      <pc:sldChg chg="modSp">
        <pc:chgData name="Brandell, Sarah" userId="S::k134829@ketteringhealth.org::82e0543b-ab0e-44d1-b40d-f7dfc8a07e8d" providerId="AD" clId="Web-{00000000-0000-0000-0000-000000000000}" dt="2026-10-04T04:19:11.804" v="19" actId="20577"/>
        <pc:sldMkLst>
          <pc:docMk/>
          <pc:sldMk cId="1136983505" sldId="785"/>
        </pc:sldMkLst>
        <pc:spChg chg="mod">
          <ac:chgData name="Brandell, Sarah" userId="S::k134829@ketteringhealth.org::82e0543b-ab0e-44d1-b40d-f7dfc8a07e8d" providerId="AD" clId="Web-{00000000-0000-0000-0000-000000000000}" dt="2026-10-04T04:19:11.804" v="19" actId="20577"/>
          <ac:spMkLst>
            <pc:docMk/>
            <pc:sldMk cId="1136983505" sldId="785"/>
            <ac:spMk id="3" creationId="{DA915BF6-633A-AE94-7E92-8A91A561CC70}"/>
          </ac:spMkLst>
        </pc:spChg>
      </pc:sldChg>
      <pc:sldChg chg="modNotes">
        <pc:chgData name="Brandell, Sarah" userId="S::k134829@ketteringhealth.org::82e0543b-ab0e-44d1-b40d-f7dfc8a07e8d" providerId="AD" clId="Web-{00000000-0000-0000-0000-000000000000}" dt="2026-10-04T04:01:22.105" v="6"/>
        <pc:sldMkLst>
          <pc:docMk/>
          <pc:sldMk cId="1243715383" sldId="788"/>
        </pc:sldMkLst>
      </pc:sldChg>
      <pc:sldChg chg="modNotes">
        <pc:chgData name="Brandell, Sarah" userId="S::k134829@ketteringhealth.org::82e0543b-ab0e-44d1-b40d-f7dfc8a07e8d" providerId="AD" clId="Web-{00000000-0000-0000-0000-000000000000}" dt="2026-10-04T04:01:50.934" v="11"/>
        <pc:sldMkLst>
          <pc:docMk/>
          <pc:sldMk cId="2732990717" sldId="7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1CAF20-C0C2-43BC-B603-3B9F75F397BE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41E55B-340E-4F2E-AB1F-8E8625780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50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hronic_Somogyi_rebound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ebeye.ophth.uiowa.edu/eyeforum/tutorials/Diabetic-Retinopathy-Med-Students/Classification.htm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https://en.wikipedia.org/wiki/Chronic_Somogyi_rebound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91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99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55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02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485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194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92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056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306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05376" indent="-205376" defTabSz="914144">
              <a:spcBef>
                <a:spcPts val="492"/>
              </a:spcBef>
              <a:defRPr sz="4500" b="1" i="1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964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UpToDate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937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ADCCD-9401-0D38-8193-E3E27EEB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E0911-CABF-0B10-58C8-8C8A7B8F8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4ADC49-0BF4-FF5A-56DD-A23B3FAAC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UpToDate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3A119-935A-A2A3-526D-2DE1172A0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062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400" b="0" i="0" dirty="0">
              <a:solidFill>
                <a:srgbClr val="572E2D"/>
              </a:solidFill>
              <a:effectLst/>
              <a:latin typeface="+mn-lt"/>
              <a:ea typeface="+mn-ea"/>
              <a:cs typeface="+mn-cs"/>
              <a:sym typeface="Noteworthy Bold"/>
            </a:endParaRPr>
          </a:p>
          <a:p>
            <a:r>
              <a:rPr lang="en-US" dirty="0">
                <a:hlinkClick r:id="rId3"/>
              </a:rPr>
              <a:t>https://webeye.ophth.uiowa.edu/eyeforum/tutorials/Diabetic-Retinopathy-Med-Students/Classification.htm</a:t>
            </a:r>
            <a:endParaRPr lang="en-US" sz="2400" b="0" i="0" dirty="0">
              <a:solidFill>
                <a:srgbClr val="572E2D"/>
              </a:solidFill>
              <a:effectLst/>
              <a:latin typeface="+mn-lt"/>
              <a:ea typeface="+mn-ea"/>
              <a:cs typeface="+mn-cs"/>
              <a:sym typeface="Noteworthy Bold"/>
            </a:endParaRPr>
          </a:p>
          <a:p>
            <a:r>
              <a:rPr lang="en-US" sz="2400" b="0" i="0" dirty="0">
                <a:solidFill>
                  <a:srgbClr val="572E2D"/>
                </a:solidFill>
                <a:effectLst/>
                <a:latin typeface="+mn-lt"/>
                <a:ea typeface="+mn-ea"/>
                <a:cs typeface="+mn-cs"/>
                <a:sym typeface="Noteworthy Bold"/>
              </a:rPr>
              <a:t> 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086249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120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63752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04518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1624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3338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7663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0331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7162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3236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4946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8746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399654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5820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678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57584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664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400" b="0" i="0" dirty="0">
              <a:solidFill>
                <a:srgbClr val="572E2D"/>
              </a:solidFill>
              <a:effectLst/>
              <a:latin typeface="+mn-lt"/>
              <a:ea typeface="+mn-ea"/>
              <a:cs typeface="+mn-cs"/>
              <a:sym typeface="Noteworthy Bold"/>
            </a:endParaRPr>
          </a:p>
        </p:txBody>
      </p:sp>
    </p:spTree>
    <p:extLst>
      <p:ext uri="{BB962C8B-B14F-4D97-AF65-F5344CB8AC3E}">
        <p14:creationId xmlns:p14="http://schemas.microsoft.com/office/powerpoint/2010/main" val="11113475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518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594679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02365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605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UPToDate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531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678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165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19640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67881" indent="-267881">
              <a:buFontTx/>
              <a:buChar char="•"/>
            </a:pPr>
            <a:endParaRPr lang="en-US" sz="1200" dirty="0">
              <a:latin typeface="Calibri" charset="0"/>
              <a:ea typeface="Calibri" charset="0"/>
              <a:cs typeface="Calibri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265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646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5789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85421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563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290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9145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415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0211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205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4895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0339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2304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4510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2225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E55B-340E-4F2E-AB1F-8E8625780E42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51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B714-92EE-4FCB-848B-E9CB48DBE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B2400-AE44-4EB1-A3EA-0C1D5E80E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89276-C534-4070-BA28-A4E7AAEF3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205F-38AF-4886-8388-AB88E1EC098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24AD2-3B91-4171-A608-EF193918C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E55A7-16B4-4148-9E48-D05ADAF5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86B7-42BB-41FD-930B-9A18E98E2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40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43873-659F-4605-B973-7F2C181E1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42774-0580-4DA8-87B4-016D69F78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CF3C7-9327-46C0-B6B0-EF4BEB609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205F-38AF-4886-8388-AB88E1EC098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370AA-BEBA-47CA-BBAC-6141BF9F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9111A-E074-4842-937F-5D1E97B4E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86B7-42BB-41FD-930B-9A18E98E2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561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11442-B021-49AE-B948-62A5C545B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B87E-8B10-4D33-82FF-A6DB72447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FD0DA-9CED-4A01-B060-67276BBC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205F-38AF-4886-8388-AB88E1EC098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51F3A-08CC-410B-AAC8-ADAF1F119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64AA0-4E00-4BC6-8139-B652DD3E6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86B7-42BB-41FD-930B-9A18E98E2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30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0C63A-2DC5-4AD0-8034-D26FC00B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BBCB6-82D6-4AC7-86C5-5ECCD80AF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A8F74-6DCE-42FA-BE88-D0EDF72F6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7A5A1-B82F-4B71-9DD8-B7E1E09F4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205F-38AF-4886-8388-AB88E1EC098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7D30C-4362-4417-877E-FCC37D9E5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C7108-73FE-489C-BBDD-A3F6F8086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86B7-42BB-41FD-930B-9A18E98E2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4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0A342-2320-4A00-8457-E0119F2CD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714A7-0730-4CB4-95D3-B75C7F644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F7F8D-96D9-4C93-B4CF-CAE5D9AF3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05C32E-CA40-4AE9-84C3-21B684F25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39B498-0934-426A-A585-AFE230ED73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6E512E-DED1-4A3A-8F98-F848C1C8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205F-38AF-4886-8388-AB88E1EC098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0380D7-8B4B-45B3-AE12-5563FB8A1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3E61A9-FF72-4C64-BADA-A0319B4CF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86B7-42BB-41FD-930B-9A18E98E2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74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1C68-5E20-4D33-9C69-C029588C3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43DEAD-B5A4-4C9E-B0BD-C29CAB5B3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205F-38AF-4886-8388-AB88E1EC098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1CACC5-C0CA-464B-AAE2-3E182D359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9781F-C6EF-438A-B74D-D6BDFC9A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86B7-42BB-41FD-930B-9A18E98E2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9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B876DE-7F32-4293-B9A8-40AAB99D4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205F-38AF-4886-8388-AB88E1EC098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BC0F94-7E4F-4B71-871B-5465FD918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73C96-255D-4052-9B53-04C7FD4C2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86B7-42BB-41FD-930B-9A18E98E2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82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733D-185C-4653-85E9-484382AE1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EC51-1EF8-46A1-B40D-186913814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ED6FA-AD7C-4632-8C6C-1DAAC2347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AB520-548E-4CFB-B212-6BD42D978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205F-38AF-4886-8388-AB88E1EC098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A992B-5483-45C2-B74E-07770815B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21624-61AC-4D4D-BDC0-3BE6F9002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86B7-42BB-41FD-930B-9A18E98E2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97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775E0-78C4-41E0-8B6E-83EB8C293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0B6CDF-F765-4B19-AA3A-64085A2319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0594D-7F9A-4584-ACEC-D7776847A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22275-B17D-492C-BB0A-08C24B45F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205F-38AF-4886-8388-AB88E1EC098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F5A22-8316-4F7A-A545-0637752AC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BC331-9A73-4E6D-B12F-F08D27465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86B7-42BB-41FD-930B-9A18E98E2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92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D615C-B312-4AB9-A7D2-419A13F01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7B7EE-92F8-426C-8D08-EBCA48B26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5FDE3-413C-4909-ACAA-02B08E266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205F-38AF-4886-8388-AB88E1EC098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EB3B3-4E1F-4323-98AF-0A0EE0F35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4ADA3-0789-4BBA-89F8-41B0E372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86B7-42BB-41FD-930B-9A18E98E2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18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EA46F9-A485-4D8F-B88A-C8EBE80E9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3657E-28A0-4B62-BE54-0D93EED16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68080-74FD-41B7-BE17-3BB91CDAA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205F-38AF-4886-8388-AB88E1EC098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432D2-9329-4394-9EDE-567FC43B8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A246A-4550-454D-94F2-6B441DB4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D86B7-42BB-41FD-930B-9A18E98E2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433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065571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CAF4C0-22E5-4628-BB6B-162FA104C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7878D-8723-4297-B2B0-0DD54D5F6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6C9F4-CCF5-4909-9F31-C8AEE9BC37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3205F-38AF-4886-8388-AB88E1EC098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7CAE1-3058-4B95-A781-5642AE0BD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9AB26-F8C1-4097-B89E-9EFD6DEAF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D86B7-42BB-41FD-930B-9A18E98E2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70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008280-EA26-4219-BC79-700FF0A29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8587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/>
              <a:t>Diabetes Special Considerations, Complications </a:t>
            </a:r>
            <a:r>
              <a:rPr lang="en-US" sz="5400" dirty="0"/>
              <a:t>and Emergencies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EB344-5356-455C-B38B-D613E6515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0338"/>
            <a:ext cx="9144000" cy="1563686"/>
          </a:xfrm>
        </p:spPr>
        <p:txBody>
          <a:bodyPr>
            <a:normAutofit/>
          </a:bodyPr>
          <a:lstStyle/>
          <a:p>
            <a:r>
              <a:rPr lang="en-US" dirty="0"/>
              <a:t>Endocrinology Module </a:t>
            </a:r>
          </a:p>
          <a:p>
            <a:r>
              <a:rPr lang="en-US" dirty="0"/>
              <a:t>Fall Semester</a:t>
            </a:r>
          </a:p>
          <a:p>
            <a:r>
              <a:rPr lang="en-US" dirty="0"/>
              <a:t>Sarah Brandell MPAS, PA-C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340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2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2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2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748764-17F0-4CD5-87FA-05D843651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12" y="112781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B40CA-0A76-4E6C-AEE5-B8D5730D6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7261"/>
            <a:ext cx="10515600" cy="4474919"/>
          </a:xfrm>
        </p:spPr>
        <p:txBody>
          <a:bodyPr numCol="2" anchor="ctr">
            <a:noAutofit/>
          </a:bodyPr>
          <a:lstStyle/>
          <a:p>
            <a:pPr marL="0" indent="0">
              <a:buNone/>
            </a:pPr>
            <a:r>
              <a:rPr lang="en-US" sz="2000" dirty="0"/>
              <a:t>Special Considerations: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685800" lvl="2"/>
            <a:r>
              <a:rPr lang="en-US" dirty="0"/>
              <a:t>AM Hyperglycemia</a:t>
            </a:r>
          </a:p>
          <a:p>
            <a:pPr lvl="1"/>
            <a:r>
              <a:rPr lang="en-US" sz="2000" dirty="0"/>
              <a:t>Surgery Implications</a:t>
            </a:r>
          </a:p>
          <a:p>
            <a:pPr lvl="1"/>
            <a:r>
              <a:rPr lang="en-US" sz="2000" dirty="0"/>
              <a:t>Pregnancy:</a:t>
            </a:r>
          </a:p>
          <a:p>
            <a:pPr marL="1143000" lvl="3"/>
            <a:r>
              <a:rPr lang="en-US" sz="2000" dirty="0"/>
              <a:t>Preconception</a:t>
            </a:r>
          </a:p>
          <a:p>
            <a:pPr marL="1143000" lvl="3"/>
            <a:r>
              <a:rPr lang="en-US" sz="2000" dirty="0"/>
              <a:t>Gestational Diabetes</a:t>
            </a:r>
          </a:p>
          <a:p>
            <a:pPr lvl="1"/>
            <a:r>
              <a:rPr lang="en-US" sz="2000" dirty="0"/>
              <a:t>Weight loss</a:t>
            </a:r>
          </a:p>
          <a:p>
            <a:pPr marL="0" indent="0">
              <a:buNone/>
            </a:pPr>
            <a:r>
              <a:rPr lang="en-US" sz="2000" dirty="0"/>
              <a:t>Complications:</a:t>
            </a:r>
          </a:p>
          <a:p>
            <a:r>
              <a:rPr lang="en-US" sz="2000" dirty="0"/>
              <a:t>DM Vascular Complications</a:t>
            </a:r>
          </a:p>
          <a:p>
            <a:pPr lvl="1"/>
            <a:r>
              <a:rPr lang="en-US" sz="2000" dirty="0"/>
              <a:t>Macrovascular</a:t>
            </a:r>
          </a:p>
          <a:p>
            <a:pPr marL="1143000" lvl="3"/>
            <a:r>
              <a:rPr lang="en-US" sz="2000" dirty="0"/>
              <a:t>Lipid abnormalities</a:t>
            </a:r>
          </a:p>
          <a:p>
            <a:pPr marL="1143000" lvl="3"/>
            <a:r>
              <a:rPr lang="en-US" sz="2000" dirty="0"/>
              <a:t>HTN</a:t>
            </a:r>
          </a:p>
          <a:p>
            <a:pPr marL="1143000" lvl="3"/>
            <a:r>
              <a:rPr lang="en-US" sz="2000" dirty="0"/>
              <a:t>Cardiovascular Risk</a:t>
            </a:r>
          </a:p>
          <a:p>
            <a:pPr lvl="1"/>
            <a:r>
              <a:rPr lang="en-US" sz="2000" dirty="0"/>
              <a:t>Microvascular</a:t>
            </a:r>
            <a:endParaRPr lang="en-US" sz="2000">
              <a:ea typeface="Calibri"/>
              <a:cs typeface="Calibri"/>
            </a:endParaRPr>
          </a:p>
          <a:p>
            <a:pPr marL="1143000" lvl="3"/>
            <a:r>
              <a:rPr lang="en-US" sz="2000" dirty="0"/>
              <a:t>Retinopathy</a:t>
            </a:r>
          </a:p>
          <a:p>
            <a:pPr marL="1143000" lvl="4"/>
            <a:r>
              <a:rPr lang="en-US" sz="2000" dirty="0"/>
              <a:t>Other Ocular DM Complications</a:t>
            </a:r>
          </a:p>
          <a:p>
            <a:pPr marL="1143000" lvl="3"/>
            <a:r>
              <a:rPr lang="en-US" sz="2000" dirty="0"/>
              <a:t>Neuropathy</a:t>
            </a:r>
          </a:p>
          <a:p>
            <a:pPr marL="1143000" lvl="3"/>
            <a:r>
              <a:rPr lang="en-US" sz="2000" dirty="0"/>
              <a:t>Nephropathy</a:t>
            </a:r>
          </a:p>
          <a:p>
            <a:pPr marL="228600" lvl="1"/>
            <a:r>
              <a:rPr lang="en-US" sz="2000" dirty="0"/>
              <a:t>Emergencies</a:t>
            </a:r>
          </a:p>
          <a:p>
            <a:pPr marL="685800" lvl="2"/>
            <a:r>
              <a:rPr lang="en-US" dirty="0"/>
              <a:t>Foot Ulcers</a:t>
            </a:r>
          </a:p>
          <a:p>
            <a:pPr marL="685800" lvl="2"/>
            <a:r>
              <a:rPr lang="en-US" dirty="0"/>
              <a:t>DKA</a:t>
            </a:r>
          </a:p>
          <a:p>
            <a:pPr marL="685800" lvl="2"/>
            <a:r>
              <a:rPr lang="en-US" dirty="0"/>
              <a:t>HHS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230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46E8E6-4703-4A2E-AF10-DF374E30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DM Special Considerations</a:t>
            </a:r>
          </a:p>
        </p:txBody>
      </p:sp>
      <p:cxnSp>
        <p:nvCxnSpPr>
          <p:cNvPr id="10" name="Straight Connector 1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091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C4B24C7E-2D5E-4C4E-9CD5-D61F243C9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99072643-A0EC-42FB-B66A-24C0E6FFD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2" y="1846371"/>
            <a:ext cx="12048829" cy="3165257"/>
            <a:chOff x="143163" y="5763486"/>
            <a:chExt cx="12048829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45065" y="5763486"/>
              <a:ext cx="11546927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11">
              <a:extLst>
                <a:ext uri="{FF2B5EF4-FFF2-40B4-BE49-F238E27FC236}">
                  <a16:creationId xmlns:a16="http://schemas.microsoft.com/office/drawing/2014/main" id="{5FB1B595-4E0E-4913-822E-EB9B40163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434108" y="5763486"/>
              <a:ext cx="1" cy="739555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C48EA58-53D6-4E4A-9BDB-087D34617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0752" y="389517"/>
            <a:ext cx="6686629" cy="60586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72A176-0A69-40E1-88B1-DEBB2C6C4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8432"/>
            <a:ext cx="5597236" cy="49211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AM Hyperglycemia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57796-639C-45DC-A373-F18AED6C8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26275" y="2366751"/>
            <a:ext cx="3618381" cy="2124496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2380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378F-3557-4274-B428-3D4DAFE43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 Hyperglycemia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148BD-7773-4ABD-9A54-D50AFF9CC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861" y="1690688"/>
            <a:ext cx="11752289" cy="4919974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sz="3600" b="1" dirty="0">
                <a:ea typeface="+mn-lt"/>
                <a:cs typeface="+mn-lt"/>
              </a:rPr>
              <a:t>Common Causes</a:t>
            </a:r>
          </a:p>
          <a:p>
            <a:pPr>
              <a:buFont typeface="Arial"/>
              <a:buChar char="•"/>
            </a:pPr>
            <a:r>
              <a:rPr lang="en-US" sz="3600" b="1" dirty="0">
                <a:ea typeface="+mn-lt"/>
                <a:cs typeface="+mn-lt"/>
              </a:rPr>
              <a:t>Dawn phenomenon:</a:t>
            </a:r>
            <a:r>
              <a:rPr lang="en-US" sz="3600" dirty="0">
                <a:ea typeface="+mn-lt"/>
                <a:cs typeface="+mn-lt"/>
              </a:rPr>
              <a:t> early-morning glucose rise without preceding hypoglycemia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3600" b="1" dirty="0">
                <a:ea typeface="+mn-lt"/>
                <a:cs typeface="+mn-lt"/>
              </a:rPr>
              <a:t>Insufficient overnight insulin:</a:t>
            </a:r>
            <a:r>
              <a:rPr lang="en-US" sz="3600" dirty="0">
                <a:ea typeface="+mn-lt"/>
                <a:cs typeface="+mn-lt"/>
              </a:rPr>
              <a:t> inadequate dose/duration or pump delivery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3600" b="1" dirty="0">
                <a:ea typeface="+mn-lt"/>
                <a:cs typeface="+mn-lt"/>
              </a:rPr>
              <a:t>Administration issues:</a:t>
            </a:r>
            <a:r>
              <a:rPr lang="en-US" sz="3600" dirty="0">
                <a:ea typeface="+mn-lt"/>
                <a:cs typeface="+mn-lt"/>
              </a:rPr>
              <a:t> missed insulin, injection/site problems</a:t>
            </a:r>
            <a:endParaRPr lang="en-US" dirty="0"/>
          </a:p>
          <a:p>
            <a:pPr>
              <a:buFont typeface="Arial"/>
            </a:pPr>
            <a:r>
              <a:rPr lang="en-US" sz="3600" b="1" dirty="0">
                <a:ea typeface="+mn-lt"/>
                <a:cs typeface="+mn-lt"/>
              </a:rPr>
              <a:t>Evening intake/illness/medications</a:t>
            </a:r>
            <a:endParaRPr lang="en-US" b="1" dirty="0">
              <a:ea typeface="+mn-lt"/>
              <a:cs typeface="+mn-lt"/>
            </a:endParaRPr>
          </a:p>
          <a:p>
            <a:pPr indent="0">
              <a:buNone/>
            </a:pPr>
            <a:r>
              <a:rPr lang="en-US" sz="3600" b="1" dirty="0">
                <a:ea typeface="+mn-lt"/>
                <a:cs typeface="+mn-lt"/>
              </a:rPr>
              <a:t>How do you determine the cause?</a:t>
            </a:r>
            <a:br>
              <a:rPr lang="en-US" sz="3600" b="1" dirty="0">
                <a:ea typeface="+mn-lt"/>
                <a:cs typeface="+mn-lt"/>
              </a:rPr>
            </a:br>
            <a:r>
              <a:rPr lang="en-US" sz="3600" b="1" dirty="0">
                <a:ea typeface="+mn-lt"/>
                <a:cs typeface="+mn-lt"/>
              </a:rPr>
              <a:t>→ Review the overnight CGM/glucose pattern</a:t>
            </a:r>
            <a:endParaRPr lang="en-US" dirty="0"/>
          </a:p>
          <a:p>
            <a:pPr marL="971550" lvl="1" indent="-285750">
              <a:buFont typeface="Arial"/>
            </a:pPr>
            <a:endParaRPr lang="en-US"/>
          </a:p>
          <a:p>
            <a:pPr>
              <a:buNone/>
            </a:pPr>
            <a:endParaRPr lang="en-US" sz="3600" b="1" dirty="0">
              <a:ea typeface="Calibri"/>
              <a:cs typeface="Calibri"/>
            </a:endParaRPr>
          </a:p>
          <a:p>
            <a:pPr marL="0" indent="0">
              <a:buFont typeface="Arial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1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4B24C7E-2D5E-4C4E-9CD5-D61F243C9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99072643-A0EC-42FB-B66A-24C0E6FFD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2" y="1846371"/>
            <a:ext cx="12048829" cy="3165257"/>
            <a:chOff x="143163" y="5763486"/>
            <a:chExt cx="12048829" cy="73955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45065" y="5763486"/>
              <a:ext cx="11546927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10">
              <a:extLst>
                <a:ext uri="{FF2B5EF4-FFF2-40B4-BE49-F238E27FC236}">
                  <a16:creationId xmlns:a16="http://schemas.microsoft.com/office/drawing/2014/main" id="{5FB1B595-4E0E-4913-822E-EB9B40163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434108" y="5763486"/>
              <a:ext cx="1" cy="739555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C48EA58-53D6-4E4A-9BDB-087D34617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0752" y="389517"/>
            <a:ext cx="6686629" cy="60586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27F874-0085-4CF9-839F-7ADD2D77E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8432"/>
            <a:ext cx="5597236" cy="49211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Surgery Implications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00157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92C9-974C-4F4C-A1E9-20D895E21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 and Surgery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B8D4E-C7A0-41F0-841F-4EAD88519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324" y="1825625"/>
            <a:ext cx="1110756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dirty="0">
                <a:ea typeface="Calibri"/>
                <a:cs typeface="Calibri"/>
              </a:rPr>
              <a:t>Perioperative Goals:</a:t>
            </a:r>
            <a:endParaRPr lang="en-US" sz="3200" dirty="0">
              <a:ea typeface="+mn-lt"/>
              <a:cs typeface="+mn-lt"/>
            </a:endParaRPr>
          </a:p>
          <a:p>
            <a:r>
              <a:rPr lang="en-US" sz="3200" dirty="0">
                <a:ea typeface="+mn-lt"/>
                <a:cs typeface="+mn-lt"/>
              </a:rPr>
              <a:t>Hyperglycemia is associated with increased </a:t>
            </a:r>
            <a:r>
              <a:rPr lang="en-US" sz="3200" b="1" dirty="0">
                <a:ea typeface="+mn-lt"/>
                <a:cs typeface="+mn-lt"/>
              </a:rPr>
              <a:t>infection and postoperative complications</a:t>
            </a:r>
            <a:endParaRPr lang="en-US" sz="3200">
              <a:ea typeface="Calibri"/>
              <a:cs typeface="Calibri"/>
            </a:endParaRPr>
          </a:p>
          <a:p>
            <a:r>
              <a:rPr lang="en-US" sz="3200" dirty="0">
                <a:ea typeface="+mn-lt"/>
                <a:cs typeface="+mn-lt"/>
              </a:rPr>
              <a:t>Excessively aggressive treatment increases </a:t>
            </a:r>
            <a:r>
              <a:rPr lang="en-US" sz="3200" b="1" dirty="0">
                <a:ea typeface="+mn-lt"/>
                <a:cs typeface="+mn-lt"/>
              </a:rPr>
              <a:t>hypoglycemia risk</a:t>
            </a:r>
            <a:endParaRPr lang="en-US" dirty="0"/>
          </a:p>
          <a:p>
            <a:r>
              <a:rPr lang="en-US" sz="3200" b="1" dirty="0">
                <a:ea typeface="+mn-lt"/>
                <a:cs typeface="+mn-lt"/>
              </a:rPr>
              <a:t>Perioperative glucose goal: 100–180 mg/dL</a:t>
            </a:r>
            <a:endParaRPr lang="en-US" dirty="0"/>
          </a:p>
          <a:p>
            <a:r>
              <a:rPr lang="en-US" sz="3200" dirty="0">
                <a:ea typeface="+mn-lt"/>
                <a:cs typeface="+mn-lt"/>
              </a:rPr>
              <a:t>For elective surgery: aim for </a:t>
            </a:r>
            <a:r>
              <a:rPr lang="en-US" sz="3200" b="1" dirty="0">
                <a:ea typeface="+mn-lt"/>
                <a:cs typeface="+mn-lt"/>
              </a:rPr>
              <a:t>A1C &lt;8% within 3 months</a:t>
            </a:r>
            <a:r>
              <a:rPr lang="en-US" sz="3200" dirty="0">
                <a:ea typeface="+mn-lt"/>
                <a:cs typeface="+mn-lt"/>
              </a:rPr>
              <a:t>, when appropriate</a:t>
            </a:r>
            <a:endParaRPr lang="en-US" dirty="0"/>
          </a:p>
          <a:p>
            <a:r>
              <a:rPr lang="en-US" sz="3200" dirty="0">
                <a:ea typeface="+mn-lt"/>
                <a:cs typeface="+mn-lt"/>
              </a:rPr>
              <a:t>Monitor glucose throughout the perioperative period</a:t>
            </a:r>
            <a:endParaRPr lang="en-US" dirty="0"/>
          </a:p>
          <a:p>
            <a:pPr marL="0" indent="0">
              <a:buNone/>
            </a:pPr>
            <a:endParaRPr lang="en-US" sz="3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8166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2841A-87CA-4C5A-8C01-D71C1CD5A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 and Surgery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7A162-FBB0-4A6C-B49A-65FDC2B4E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84" y="1825625"/>
            <a:ext cx="11512446" cy="481501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Medication Management:</a:t>
            </a: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Metformin and most oral agents:</a:t>
            </a:r>
            <a:r>
              <a:rPr lang="en-US" dirty="0">
                <a:ea typeface="+mn-lt"/>
                <a:cs typeface="+mn-lt"/>
              </a:rPr>
              <a:t> hold </a:t>
            </a:r>
            <a:r>
              <a:rPr lang="en-US" b="1" dirty="0">
                <a:ea typeface="+mn-lt"/>
                <a:cs typeface="+mn-lt"/>
              </a:rPr>
              <a:t>day of surgery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SGLT2 inhibitors:</a:t>
            </a:r>
            <a:r>
              <a:rPr lang="en-US" dirty="0">
                <a:ea typeface="+mn-lt"/>
                <a:cs typeface="+mn-lt"/>
              </a:rPr>
              <a:t> hold </a:t>
            </a:r>
            <a:r>
              <a:rPr lang="en-US" b="1" dirty="0">
                <a:ea typeface="+mn-lt"/>
                <a:cs typeface="+mn-lt"/>
              </a:rPr>
              <a:t>3–4 days before surgery</a:t>
            </a:r>
            <a:r>
              <a:rPr lang="en-US" dirty="0">
                <a:ea typeface="+mn-lt"/>
                <a:cs typeface="+mn-lt"/>
              </a:rPr>
              <a:t> due to risk of perioperative/euglycemic DKA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GLP-1–based therapy: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b="1" dirty="0">
                <a:ea typeface="+mn-lt"/>
                <a:cs typeface="+mn-lt"/>
              </a:rPr>
              <a:t>individualize</a:t>
            </a:r>
            <a:r>
              <a:rPr lang="en-US" dirty="0">
                <a:ea typeface="+mn-lt"/>
                <a:cs typeface="+mn-lt"/>
              </a:rPr>
              <a:t> based on GI symptoms, dose, procedure/anesthesia, and aspiration risk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Basal insulin:</a:t>
            </a:r>
            <a:r>
              <a:rPr lang="en-US" dirty="0">
                <a:ea typeface="+mn-lt"/>
                <a:cs typeface="+mn-lt"/>
              </a:rPr>
              <a:t> generally </a:t>
            </a:r>
            <a:r>
              <a:rPr lang="en-US" b="1" dirty="0">
                <a:ea typeface="+mn-lt"/>
                <a:cs typeface="+mn-lt"/>
              </a:rPr>
              <a:t>reduce rather than eliminate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NPH: ~</a:t>
            </a:r>
            <a:r>
              <a:rPr lang="en-US" b="1" dirty="0">
                <a:ea typeface="+mn-lt"/>
                <a:cs typeface="+mn-lt"/>
              </a:rPr>
              <a:t>50%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Long-acting basal analog: ~</a:t>
            </a:r>
            <a:r>
              <a:rPr lang="en-US" b="1" dirty="0">
                <a:ea typeface="+mn-lt"/>
                <a:cs typeface="+mn-lt"/>
              </a:rPr>
              <a:t>75–80%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T1DM always requires basal insulin</a:t>
            </a:r>
            <a:r>
              <a:rPr lang="en-US" dirty="0">
                <a:ea typeface="+mn-lt"/>
                <a:cs typeface="+mn-lt"/>
              </a:rPr>
              <a:t> — avoid complete insulin interruption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Insulin pumps may sometimes continue depending on procedure and institutional protocol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559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C4B24C7E-2D5E-4C4E-9CD5-D61F243C9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10">
            <a:extLst>
              <a:ext uri="{FF2B5EF4-FFF2-40B4-BE49-F238E27FC236}">
                <a16:creationId xmlns:a16="http://schemas.microsoft.com/office/drawing/2014/main" id="{99072643-A0EC-42FB-B66A-24C0E6FFD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2" y="1846371"/>
            <a:ext cx="12048829" cy="3165257"/>
            <a:chOff x="143163" y="5763486"/>
            <a:chExt cx="12048829" cy="7395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45065" y="5763486"/>
              <a:ext cx="11546927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12">
              <a:extLst>
                <a:ext uri="{FF2B5EF4-FFF2-40B4-BE49-F238E27FC236}">
                  <a16:creationId xmlns:a16="http://schemas.microsoft.com/office/drawing/2014/main" id="{5FB1B595-4E0E-4913-822E-EB9B40163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434108" y="5763486"/>
              <a:ext cx="1" cy="739555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15">
            <a:extLst>
              <a:ext uri="{FF2B5EF4-FFF2-40B4-BE49-F238E27FC236}">
                <a16:creationId xmlns:a16="http://schemas.microsoft.com/office/drawing/2014/main" id="{3C48EA58-53D6-4E4A-9BDB-087D34617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0752" y="389517"/>
            <a:ext cx="6686629" cy="60586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FD2166-90FC-4476-B455-51567CA8A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8432"/>
            <a:ext cx="5597236" cy="49211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Pregnancy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C68B65-0333-4BC1-9333-71500DB2C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26275" y="2366751"/>
            <a:ext cx="3618381" cy="212449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Pre-Conception DM vs Gestational DM</a:t>
            </a:r>
          </a:p>
        </p:txBody>
      </p:sp>
    </p:spTree>
    <p:extLst>
      <p:ext uri="{BB962C8B-B14F-4D97-AF65-F5344CB8AC3E}">
        <p14:creationId xmlns:p14="http://schemas.microsoft.com/office/powerpoint/2010/main" val="593577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4D368-8FBA-4CD6-8832-F1222E3EB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Pregnancy and DM - Patho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AAF77-B7D7-4E0B-A212-5AA2BFDEA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705" y="1825625"/>
            <a:ext cx="11197652" cy="466725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,Sans-Serif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,Sans-Serif"/>
              <a:buChar char="•"/>
            </a:pPr>
            <a:r>
              <a:rPr lang="en-US" dirty="0">
                <a:ea typeface="+mn-lt"/>
                <a:cs typeface="+mn-lt"/>
              </a:rPr>
              <a:t>Pregnancy is a progressively </a:t>
            </a:r>
            <a:r>
              <a:rPr lang="en-US" b="1" dirty="0">
                <a:ea typeface="+mn-lt"/>
                <a:cs typeface="+mn-lt"/>
              </a:rPr>
              <a:t>insulin-resistant state</a:t>
            </a:r>
            <a:r>
              <a:rPr lang="en-US" dirty="0">
                <a:ea typeface="+mn-lt"/>
                <a:cs typeface="+mn-lt"/>
              </a:rPr>
              <a:t>, particularly during the </a:t>
            </a:r>
            <a:r>
              <a:rPr lang="en-US" b="1" dirty="0">
                <a:ea typeface="+mn-lt"/>
                <a:cs typeface="+mn-lt"/>
              </a:rPr>
              <a:t>2nd and 3rd trimesters</a:t>
            </a:r>
          </a:p>
          <a:p>
            <a:pPr>
              <a:buFont typeface="Arial,Sans-Serif"/>
              <a:buChar char="•"/>
            </a:pPr>
            <a:r>
              <a:rPr lang="en-US" dirty="0">
                <a:ea typeface="+mn-lt"/>
                <a:cs typeface="+mn-lt"/>
              </a:rPr>
              <a:t>The </a:t>
            </a:r>
            <a:r>
              <a:rPr lang="en-US" b="1" dirty="0">
                <a:ea typeface="+mn-lt"/>
                <a:cs typeface="+mn-lt"/>
              </a:rPr>
              <a:t>placenta produces hormones that oppose insulin action</a:t>
            </a:r>
            <a:r>
              <a:rPr lang="en-US" dirty="0">
                <a:ea typeface="+mn-lt"/>
                <a:cs typeface="+mn-lt"/>
              </a:rPr>
              <a:t>, helping ensure glucose and other nutrients remain available to the developing fetus</a:t>
            </a:r>
            <a:endParaRPr lang="en-US" dirty="0"/>
          </a:p>
          <a:p>
            <a:pPr>
              <a:buFont typeface="Arial,Sans-Serif"/>
              <a:buChar char="•"/>
            </a:pPr>
            <a:r>
              <a:rPr lang="en-US" dirty="0">
                <a:ea typeface="+mn-lt"/>
                <a:cs typeface="+mn-lt"/>
              </a:rPr>
              <a:t>Normally, pancreatic β-cells compensate by </a:t>
            </a:r>
            <a:r>
              <a:rPr lang="en-US" b="1" dirty="0">
                <a:ea typeface="+mn-lt"/>
                <a:cs typeface="+mn-lt"/>
              </a:rPr>
              <a:t>increasing insulin secretion</a:t>
            </a:r>
            <a:endParaRPr lang="en-US" dirty="0"/>
          </a:p>
          <a:p>
            <a:pPr>
              <a:buFont typeface="Arial,Sans-Serif"/>
            </a:pPr>
            <a:r>
              <a:rPr lang="en-US" dirty="0">
                <a:ea typeface="+mn-lt"/>
                <a:cs typeface="+mn-lt"/>
              </a:rPr>
              <a:t>If β-cell compensation is inadequate → </a:t>
            </a:r>
            <a:r>
              <a:rPr lang="en-US" b="1" dirty="0">
                <a:ea typeface="+mn-lt"/>
                <a:cs typeface="+mn-lt"/>
              </a:rPr>
              <a:t>maternal hyperglycemia / gestational diabetes</a:t>
            </a:r>
            <a:endParaRPr lang="en-US" dirty="0"/>
          </a:p>
          <a:p>
            <a:pPr>
              <a:buFont typeface="Arial"/>
            </a:pPr>
            <a:endParaRPr lang="en-US"/>
          </a:p>
          <a:p>
            <a:pPr marL="0" indent="0">
              <a:buFont typeface="Arial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68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4D368-8FBA-4CD6-8832-F1222E3EB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Pregnancy and DM - Screening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AAF77-B7D7-4E0B-A212-5AA2BFDEA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Screen for GDM at </a:t>
            </a:r>
            <a:r>
              <a:rPr lang="en-US" b="1" dirty="0">
                <a:ea typeface="+mn-lt"/>
                <a:cs typeface="+mn-lt"/>
              </a:rPr>
              <a:t>24–28 weeks</a:t>
            </a:r>
            <a:r>
              <a:rPr lang="en-US" dirty="0">
                <a:ea typeface="+mn-lt"/>
                <a:cs typeface="+mn-lt"/>
              </a:rPr>
              <a:t> in individuals not already known to have diabetes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Earlier pregnancy: evaluate for </a:t>
            </a:r>
            <a:r>
              <a:rPr lang="en-US" b="1" dirty="0">
                <a:ea typeface="+mn-lt"/>
                <a:cs typeface="+mn-lt"/>
              </a:rPr>
              <a:t>preexisting diabetes</a:t>
            </a:r>
            <a:r>
              <a:rPr lang="en-US" dirty="0">
                <a:ea typeface="+mn-lt"/>
                <a:cs typeface="+mn-lt"/>
              </a:rPr>
              <a:t> when risk factors are present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Screening may use either a </a:t>
            </a:r>
            <a:r>
              <a:rPr lang="en-US" b="1" dirty="0">
                <a:ea typeface="+mn-lt"/>
                <a:cs typeface="+mn-lt"/>
              </a:rPr>
              <a:t>one-step 75-g OGTT</a:t>
            </a:r>
            <a:r>
              <a:rPr lang="en-US" dirty="0">
                <a:ea typeface="+mn-lt"/>
                <a:cs typeface="+mn-lt"/>
              </a:rPr>
              <a:t> or </a:t>
            </a:r>
            <a:r>
              <a:rPr lang="en-US" b="1" dirty="0">
                <a:ea typeface="+mn-lt"/>
                <a:cs typeface="+mn-lt"/>
              </a:rPr>
              <a:t>two-step approach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 the two-step approach:</a:t>
            </a:r>
          </a:p>
          <a:p>
            <a:pPr lvl="1" indent="-285750">
              <a:buFont typeface="Courier New"/>
              <a:buChar char="o"/>
            </a:pPr>
            <a:r>
              <a:rPr lang="en-US" sz="2800" b="1" dirty="0">
                <a:ea typeface="+mn-lt"/>
                <a:cs typeface="+mn-lt"/>
              </a:rPr>
              <a:t>50-g 1-hour glucose challenge</a:t>
            </a:r>
            <a:endParaRPr lang="en-US" sz="2800">
              <a:ea typeface="Calibri"/>
              <a:cs typeface="Calibri"/>
            </a:endParaRPr>
          </a:p>
          <a:p>
            <a:pPr lvl="1" indent="-285750">
              <a:buFont typeface="Courier New"/>
              <a:buChar char="o"/>
            </a:pPr>
            <a:r>
              <a:rPr lang="en-US" sz="2800" dirty="0">
                <a:ea typeface="+mn-lt"/>
                <a:cs typeface="+mn-lt"/>
              </a:rPr>
              <a:t>If abnormal → </a:t>
            </a:r>
            <a:r>
              <a:rPr lang="en-US" sz="2800" b="1" dirty="0">
                <a:ea typeface="+mn-lt"/>
                <a:cs typeface="+mn-lt"/>
              </a:rPr>
              <a:t>100-g 3-hour OGTT</a:t>
            </a:r>
            <a:endParaRPr lang="en-US" sz="2800">
              <a:ea typeface="Calibri"/>
              <a:cs typeface="Calibri"/>
            </a:endParaRPr>
          </a:p>
          <a:p>
            <a:pPr marL="0" indent="0">
              <a:buFont typeface="Arial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70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4D368-8FBA-4CD6-8832-F1222E3EB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Pregnancy and DM – Preexisting DM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AAF77-B7D7-4E0B-A212-5AA2BFDEA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Font typeface="Arial"/>
              <a:buChar char="•"/>
            </a:pPr>
            <a:r>
              <a:rPr lang="en-US" sz="3600" b="1" dirty="0">
                <a:ea typeface="+mn-lt"/>
                <a:cs typeface="+mn-lt"/>
              </a:rPr>
              <a:t>Preconception counseling is essential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3600" dirty="0">
                <a:ea typeface="+mn-lt"/>
                <a:cs typeface="+mn-lt"/>
              </a:rPr>
              <a:t>Goal before conception: </a:t>
            </a:r>
            <a:r>
              <a:rPr lang="en-US" sz="3600" b="1" dirty="0">
                <a:ea typeface="+mn-lt"/>
                <a:cs typeface="+mn-lt"/>
              </a:rPr>
              <a:t>A1C &lt;6.5%</a:t>
            </a:r>
            <a:r>
              <a:rPr lang="en-US" sz="3600" dirty="0">
                <a:ea typeface="+mn-lt"/>
                <a:cs typeface="+mn-lt"/>
              </a:rPr>
              <a:t>, if safely achievable</a:t>
            </a:r>
            <a:endParaRPr lang="en-US" dirty="0"/>
          </a:p>
          <a:p>
            <a:pPr>
              <a:buFont typeface="Arial"/>
            </a:pPr>
            <a:r>
              <a:rPr lang="en-US" sz="3600" dirty="0">
                <a:ea typeface="+mn-lt"/>
                <a:cs typeface="+mn-lt"/>
              </a:rPr>
              <a:t>Assess diabetes complications, particularly </a:t>
            </a:r>
            <a:r>
              <a:rPr lang="en-US" sz="3600" b="1" dirty="0">
                <a:ea typeface="+mn-lt"/>
                <a:cs typeface="+mn-lt"/>
              </a:rPr>
              <a:t>retinopathy and kidney disease</a:t>
            </a:r>
            <a:endParaRPr lang="en-US" dirty="0"/>
          </a:p>
          <a:p>
            <a:pPr>
              <a:buFont typeface="Arial"/>
            </a:pPr>
            <a:r>
              <a:rPr lang="en-US" sz="3600" dirty="0">
                <a:ea typeface="+mn-lt"/>
                <a:cs typeface="+mn-lt"/>
              </a:rPr>
              <a:t>Review medications for pregnancy safety</a:t>
            </a:r>
            <a:endParaRPr lang="en-US" dirty="0"/>
          </a:p>
          <a:p>
            <a:pPr>
              <a:buFont typeface="Arial"/>
            </a:pPr>
            <a:r>
              <a:rPr lang="en-US" sz="3600" dirty="0">
                <a:ea typeface="+mn-lt"/>
                <a:cs typeface="+mn-lt"/>
              </a:rPr>
              <a:t>Hyperglycemia around conception/early pregnancy increases risk of </a:t>
            </a:r>
            <a:r>
              <a:rPr lang="en-US" sz="3600" b="1" dirty="0">
                <a:ea typeface="+mn-lt"/>
                <a:cs typeface="+mn-lt"/>
              </a:rPr>
              <a:t>congenital anomalies</a:t>
            </a:r>
            <a:endParaRPr lang="en-US" dirty="0"/>
          </a:p>
          <a:p>
            <a:pPr>
              <a:buFont typeface="Arial"/>
            </a:pPr>
            <a:r>
              <a:rPr lang="en-US" sz="3600" dirty="0">
                <a:ea typeface="+mn-lt"/>
                <a:cs typeface="+mn-lt"/>
              </a:rPr>
              <a:t>Later pregnancy hyperglycemia increases risk of </a:t>
            </a:r>
            <a:r>
              <a:rPr lang="en-US" sz="3600" b="1" dirty="0">
                <a:ea typeface="+mn-lt"/>
                <a:cs typeface="+mn-lt"/>
              </a:rPr>
              <a:t>macrosomia/LGA, obstetric complications, stillbirth, and neonatal complications</a:t>
            </a:r>
            <a:endParaRPr lang="en-US" dirty="0"/>
          </a:p>
          <a:p>
            <a:pPr marL="0" indent="0">
              <a:buFont typeface="Arial"/>
            </a:pPr>
            <a:endParaRPr lang="en-US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049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3408-7143-4200-9D81-B1A88C9CF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Pregnancy and DM –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E0BCB-9729-4BEF-BA9A-01B987129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55" y="1825624"/>
            <a:ext cx="11077731" cy="469518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Lifestyle and medical nutrition therapy</a:t>
            </a:r>
            <a:r>
              <a:rPr lang="en-US" dirty="0">
                <a:ea typeface="+mn-lt"/>
                <a:cs typeface="+mn-lt"/>
              </a:rPr>
              <a:t> are first-line for GDM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If medication is required, </a:t>
            </a:r>
            <a:r>
              <a:rPr lang="en-US" b="1" dirty="0">
                <a:ea typeface="+mn-lt"/>
                <a:cs typeface="+mn-lt"/>
              </a:rPr>
              <a:t>insulin is preferred</a:t>
            </a:r>
            <a:endParaRPr lang="en-US" dirty="0"/>
          </a:p>
          <a:p>
            <a:pPr lvl="1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Metformin may be considered but has less data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Glucose goals: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</a:pPr>
            <a:r>
              <a:rPr lang="en-US" b="1" dirty="0">
                <a:ea typeface="+mn-lt"/>
                <a:cs typeface="+mn-lt"/>
              </a:rPr>
              <a:t>Fasting &lt;95 mg/dL</a:t>
            </a:r>
            <a:endParaRPr lang="en-US" dirty="0"/>
          </a:p>
          <a:p>
            <a:pPr>
              <a:buFont typeface="Arial"/>
            </a:pPr>
            <a:r>
              <a:rPr lang="en-US" b="1" dirty="0">
                <a:ea typeface="+mn-lt"/>
                <a:cs typeface="+mn-lt"/>
              </a:rPr>
              <a:t>1-hour postprandial &lt;140 mg/dL</a:t>
            </a:r>
            <a:endParaRPr lang="en-US" dirty="0"/>
          </a:p>
          <a:p>
            <a:pPr>
              <a:buFont typeface="Arial"/>
            </a:pPr>
            <a:r>
              <a:rPr lang="en-US" b="1" dirty="0">
                <a:ea typeface="+mn-lt"/>
                <a:cs typeface="+mn-lt"/>
              </a:rPr>
              <a:t>2-hour postprandial &lt;120 mg/dL</a:t>
            </a:r>
            <a:endParaRPr lang="en-US" dirty="0"/>
          </a:p>
          <a:p>
            <a:pPr>
              <a:buFont typeface="Arial"/>
            </a:pPr>
            <a:endParaRPr lang="en-US" b="1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Delivery timing is individualized based on diabetes type/control and maternal-fetal status.</a:t>
            </a:r>
            <a:endParaRPr lang="en-US" b="1" dirty="0">
              <a:ea typeface="Calibri"/>
              <a:cs typeface="Calibri"/>
            </a:endParaRPr>
          </a:p>
          <a:p>
            <a:pPr marL="0" indent="0">
              <a:buFont typeface="Arial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09401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C4B24C7E-2D5E-4C4E-9CD5-D61F243C9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10">
            <a:extLst>
              <a:ext uri="{FF2B5EF4-FFF2-40B4-BE49-F238E27FC236}">
                <a16:creationId xmlns:a16="http://schemas.microsoft.com/office/drawing/2014/main" id="{99072643-A0EC-42FB-B66A-24C0E6FFD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2" y="1846371"/>
            <a:ext cx="12048829" cy="3165257"/>
            <a:chOff x="143163" y="5763486"/>
            <a:chExt cx="12048829" cy="7395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45065" y="5763486"/>
              <a:ext cx="11546927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FB1B595-4E0E-4913-822E-EB9B40163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434108" y="5763486"/>
              <a:ext cx="1" cy="739555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C48EA58-53D6-4E4A-9BDB-087D34617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0752" y="389517"/>
            <a:ext cx="6686629" cy="60586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ECB482-F462-4F0E-BEAD-48240E82D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8432"/>
            <a:ext cx="5597236" cy="49211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Managing Adiposity in Diabetes</a:t>
            </a:r>
          </a:p>
        </p:txBody>
      </p:sp>
    </p:spTree>
    <p:extLst>
      <p:ext uri="{BB962C8B-B14F-4D97-AF65-F5344CB8AC3E}">
        <p14:creationId xmlns:p14="http://schemas.microsoft.com/office/powerpoint/2010/main" val="3160397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A9874-2004-49B8-B3E2-FCBBA645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Management in T2DM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360C-998C-4A33-81BE-E1184EAED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134" y="1699674"/>
            <a:ext cx="11271302" cy="47984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Weight management is a primary treatment goal alongside glycemic management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Lifestyle/behavioral treatment</a:t>
            </a:r>
            <a:r>
              <a:rPr lang="en-US" dirty="0">
                <a:ea typeface="+mn-lt"/>
                <a:cs typeface="+mn-lt"/>
              </a:rPr>
              <a:t> remains foundational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5–7% weight loss</a:t>
            </a:r>
            <a:r>
              <a:rPr lang="en-US" dirty="0">
                <a:ea typeface="+mn-lt"/>
                <a:cs typeface="+mn-lt"/>
              </a:rPr>
              <a:t> improves glycemia and cardiovascular risk factors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&gt;10% sustained weight loss</a:t>
            </a:r>
            <a:r>
              <a:rPr lang="en-US" dirty="0">
                <a:ea typeface="+mn-lt"/>
                <a:cs typeface="+mn-lt"/>
              </a:rPr>
              <a:t> generally provides greater metabolic benefit and may lead to diabetes remission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Consider </a:t>
            </a:r>
            <a:r>
              <a:rPr lang="en-US" b="1" dirty="0">
                <a:ea typeface="+mn-lt"/>
                <a:cs typeface="+mn-lt"/>
              </a:rPr>
              <a:t>anti-obesity pharmacotherapy</a:t>
            </a:r>
            <a:r>
              <a:rPr lang="en-US" dirty="0">
                <a:ea typeface="+mn-lt"/>
                <a:cs typeface="+mn-lt"/>
              </a:rPr>
              <a:t> in appropriate patients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198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0318E-5723-B11C-5994-55A16EF75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C273E-4EFC-6CA1-6961-B3B66F44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Management in T2DM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15BF6-633A-AE94-7E92-8A91A561C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134" y="1699674"/>
            <a:ext cx="11271302" cy="47984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 T2DM with overweight/obesity, prioritize diabetes medications that also promote weight loss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sz="2800" b="1" dirty="0">
                <a:ea typeface="+mn-lt"/>
                <a:cs typeface="+mn-lt"/>
              </a:rPr>
              <a:t>Semaglutide and tirzepatide</a:t>
            </a:r>
            <a:r>
              <a:rPr lang="en-US" sz="2800" dirty="0">
                <a:ea typeface="+mn-lt"/>
                <a:cs typeface="+mn-lt"/>
              </a:rPr>
              <a:t> have high weight-loss efficacy</a:t>
            </a:r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Treatment should be </a:t>
            </a:r>
            <a:r>
              <a:rPr lang="en-US" b="1" dirty="0">
                <a:ea typeface="+mn-lt"/>
                <a:cs typeface="+mn-lt"/>
              </a:rPr>
              <a:t>individualized</a:t>
            </a:r>
            <a:r>
              <a:rPr lang="en-US" dirty="0">
                <a:ea typeface="+mn-lt"/>
                <a:cs typeface="+mn-lt"/>
              </a:rPr>
              <a:t> based on comorbidities, goals, risks, access, and patient preference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983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8FAED-031E-7903-FB2B-27B6D676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B4D34-CD09-8C60-5C25-1418BFF95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Management in T2DM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7BB1D-2DAA-3922-7BAA-AE9FC5C06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19" y="1479262"/>
            <a:ext cx="11485417" cy="5245584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Consider metabolic surgery in appropriate surgical candidates with T2DM and: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BMI ≥30 kg/m²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BMI ≥27.5 kg/m² in Asian American individuals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Potential benefits include: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Substantial and durable </a:t>
            </a:r>
            <a:r>
              <a:rPr lang="en-US" b="1" dirty="0">
                <a:ea typeface="+mn-lt"/>
                <a:cs typeface="+mn-lt"/>
              </a:rPr>
              <a:t>weight loss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Improved </a:t>
            </a:r>
            <a:r>
              <a:rPr lang="en-US" b="1" dirty="0">
                <a:ea typeface="+mn-lt"/>
                <a:cs typeface="+mn-lt"/>
              </a:rPr>
              <a:t>glycemic control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Reduced medication requirements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Possible </a:t>
            </a:r>
            <a:r>
              <a:rPr lang="en-US" b="1" dirty="0">
                <a:ea typeface="+mn-lt"/>
                <a:cs typeface="+mn-lt"/>
              </a:rPr>
              <a:t>T2DM remission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Improved cardiovascular outcomes and mortality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Requires experienced multidisciplinary care and </a:t>
            </a:r>
            <a:r>
              <a:rPr lang="en-US" b="1" dirty="0">
                <a:ea typeface="+mn-lt"/>
                <a:cs typeface="+mn-lt"/>
              </a:rPr>
              <a:t>long-term nutritional/metabolic monitoring</a:t>
            </a:r>
            <a:r>
              <a:rPr lang="en-US" dirty="0">
                <a:ea typeface="+mn-lt"/>
                <a:cs typeface="+mn-lt"/>
              </a:rPr>
              <a:t>. 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20179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2EACD-78EA-8F87-A166-A2F40038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Complications of Diabetes</a:t>
            </a:r>
          </a:p>
        </p:txBody>
      </p:sp>
    </p:spTree>
    <p:extLst>
      <p:ext uri="{BB962C8B-B14F-4D97-AF65-F5344CB8AC3E}">
        <p14:creationId xmlns:p14="http://schemas.microsoft.com/office/powerpoint/2010/main" val="4093528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>
            <a:spLocks noGrp="1"/>
          </p:cNvSpPr>
          <p:nvPr>
            <p:ph type="title" idx="4294967295"/>
          </p:nvPr>
        </p:nvSpPr>
        <p:spPr>
          <a:xfrm>
            <a:off x="1416942" y="415636"/>
            <a:ext cx="9411054" cy="1071563"/>
          </a:xfrm>
          <a:prstGeom prst="rect">
            <a:avLst/>
          </a:prstGeom>
        </p:spPr>
        <p:txBody>
          <a:bodyPr vert="horz" lIns="35719" tIns="35719" rIns="35719" bIns="35719" rtlCol="0" anchor="ctr">
            <a:noAutofit/>
          </a:bodyPr>
          <a:lstStyle>
            <a:lvl1pPr>
              <a:defRPr sz="6000"/>
            </a:lvl1pPr>
          </a:lstStyle>
          <a:p>
            <a:pPr algn="ctr"/>
            <a:r>
              <a:rPr lang="en-US" sz="4800" dirty="0">
                <a:ea typeface="+mj-lt"/>
                <a:cs typeface="+mj-lt"/>
              </a:rPr>
              <a:t>Chronic Complications of Diabetes</a:t>
            </a:r>
            <a:endParaRPr lang="en-US" sz="4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D9DAFC-7457-F06F-5524-FACFEA326969}"/>
              </a:ext>
            </a:extLst>
          </p:cNvPr>
          <p:cNvSpPr txBox="1"/>
          <p:nvPr/>
        </p:nvSpPr>
        <p:spPr>
          <a:xfrm>
            <a:off x="251902" y="1505108"/>
            <a:ext cx="11600031" cy="50998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600" dirty="0">
                <a:latin typeface="Arial"/>
                <a:cs typeface="Arial"/>
              </a:rPr>
              <a:t>Diabetes causes both </a:t>
            </a:r>
            <a:r>
              <a:rPr lang="en-US" sz="2600" b="1" dirty="0">
                <a:latin typeface="Arial"/>
                <a:cs typeface="Arial"/>
              </a:rPr>
              <a:t>microvascular and macrovascular complications.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600" dirty="0">
                <a:latin typeface="Arial"/>
                <a:cs typeface="Arial"/>
              </a:rPr>
              <a:t>Microvascular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en-US" sz="2600" b="1" dirty="0">
                <a:latin typeface="Arial"/>
                <a:cs typeface="Arial"/>
              </a:rPr>
              <a:t>Retinopathy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en-US" sz="2600" b="1" dirty="0">
                <a:latin typeface="Arial"/>
                <a:cs typeface="Arial"/>
              </a:rPr>
              <a:t>Kidney disease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en-US" sz="2600" b="1" dirty="0">
                <a:latin typeface="Arial"/>
                <a:cs typeface="Arial"/>
              </a:rPr>
              <a:t>Neuropathy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600" dirty="0">
                <a:latin typeface="Arial"/>
                <a:cs typeface="Arial"/>
              </a:rPr>
              <a:t>Macrovascular (ASCVD)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en-US" sz="2600" b="1" dirty="0">
                <a:latin typeface="Arial"/>
                <a:cs typeface="Arial"/>
              </a:rPr>
              <a:t>Coronary artery disease / MI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en-US" sz="2600" b="1" dirty="0">
                <a:latin typeface="Arial"/>
                <a:cs typeface="Arial"/>
              </a:rPr>
              <a:t>Cerebrovascular disease / stroke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en-US" sz="2600" b="1" dirty="0">
                <a:latin typeface="Arial"/>
                <a:cs typeface="Arial"/>
              </a:rPr>
              <a:t>Peripheral artery disease</a:t>
            </a:r>
          </a:p>
          <a:p>
            <a:pPr marL="0" lvl="1">
              <a:lnSpc>
                <a:spcPct val="90000"/>
              </a:lnSpc>
              <a:spcBef>
                <a:spcPts val="500"/>
              </a:spcBef>
            </a:pPr>
            <a:endParaRPr lang="en-US" sz="2600" dirty="0">
              <a:latin typeface="Arial"/>
              <a:cs typeface="Arial"/>
            </a:endParaRPr>
          </a:p>
          <a:p>
            <a:pPr marL="0" lvl="1">
              <a:lnSpc>
                <a:spcPct val="90000"/>
              </a:lnSpc>
              <a:spcBef>
                <a:spcPts val="500"/>
              </a:spcBef>
            </a:pPr>
            <a:r>
              <a:rPr lang="en-US" sz="2600" dirty="0">
                <a:latin typeface="Arial"/>
                <a:cs typeface="Arial"/>
              </a:rPr>
              <a:t>Risk increases with duration of diabetes and cumulative glycemic exposure.</a:t>
            </a:r>
            <a:endParaRPr lang="en-US" sz="2600">
              <a:ea typeface="Calibri" panose="020F0502020204030204"/>
              <a:cs typeface="Calibri" panose="020F0502020204030204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325771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09DD72-C692-455A-959D-706E08FC4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36" y="388040"/>
            <a:ext cx="8866238" cy="590857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484992-043D-4298-7700-DC5944040D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A7368D-825C-7066-DDEF-3598BC00F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D2661AB-2463-ED4E-FCCE-12CC85E51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84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22B34-DB77-4159-BCF4-16E07BA0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Why Does Diabetes Cause Vascular Damage?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693C4-C07E-4EC5-96B8-A34DCAAD2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854" y="1825625"/>
            <a:ext cx="5691698" cy="480475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700" b="1" dirty="0">
                <a:ea typeface="+mn-lt"/>
                <a:cs typeface="+mn-lt"/>
              </a:rPr>
              <a:t>Chronic hyperglycemia contributes to:</a:t>
            </a:r>
            <a:endParaRPr lang="en-US" sz="27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700" dirty="0">
                <a:ea typeface="+mn-lt"/>
                <a:cs typeface="+mn-lt"/>
              </a:rPr>
              <a:t>Formation of </a:t>
            </a:r>
            <a:r>
              <a:rPr lang="en-US" sz="2700" b="1" dirty="0">
                <a:ea typeface="+mn-lt"/>
                <a:cs typeface="+mn-lt"/>
              </a:rPr>
              <a:t>advanced glycation end products (AGEs)</a:t>
            </a:r>
            <a:endParaRPr lang="en-US" sz="27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700" b="1" dirty="0">
                <a:ea typeface="+mn-lt"/>
                <a:cs typeface="+mn-lt"/>
              </a:rPr>
              <a:t>Oxidative stress</a:t>
            </a:r>
            <a:endParaRPr lang="en-US" sz="27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700" dirty="0">
                <a:ea typeface="+mn-lt"/>
                <a:cs typeface="+mn-lt"/>
              </a:rPr>
              <a:t>Inflammation</a:t>
            </a:r>
            <a:endParaRPr lang="en-US" sz="27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700" b="1" dirty="0">
                <a:ea typeface="+mn-lt"/>
                <a:cs typeface="+mn-lt"/>
              </a:rPr>
              <a:t>Endothelial dysfunction</a:t>
            </a:r>
            <a:endParaRPr lang="en-US" sz="27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700" dirty="0">
                <a:ea typeface="+mn-lt"/>
                <a:cs typeface="+mn-lt"/>
              </a:rPr>
              <a:t>Vascular injury</a:t>
            </a:r>
            <a:endParaRPr lang="en-US" sz="2700">
              <a:ea typeface="Calibri"/>
              <a:cs typeface="Calibri"/>
            </a:endParaRPr>
          </a:p>
          <a:p>
            <a:pPr indent="0">
              <a:buNone/>
            </a:pPr>
            <a:r>
              <a:rPr lang="en-US" sz="2700" b="1" dirty="0">
                <a:ea typeface="+mn-lt"/>
                <a:cs typeface="+mn-lt"/>
              </a:rPr>
              <a:t>Microvascular disease</a:t>
            </a:r>
            <a:r>
              <a:rPr lang="en-US" sz="2700" dirty="0">
                <a:ea typeface="+mn-lt"/>
                <a:cs typeface="+mn-lt"/>
              </a:rPr>
              <a:t> is strongly associated with </a:t>
            </a:r>
            <a:r>
              <a:rPr lang="en-US" sz="2700" b="1" dirty="0">
                <a:ea typeface="+mn-lt"/>
                <a:cs typeface="+mn-lt"/>
              </a:rPr>
              <a:t>duration and degree of hyperglycemia.</a:t>
            </a:r>
            <a:endParaRPr lang="en-US" sz="2700">
              <a:ea typeface="Calibri"/>
              <a:cs typeface="Calibri"/>
            </a:endParaRPr>
          </a:p>
          <a:p>
            <a:pPr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0F8078-46FF-233E-B880-EFB05759027F}"/>
              </a:ext>
            </a:extLst>
          </p:cNvPr>
          <p:cNvSpPr txBox="1">
            <a:spLocks/>
          </p:cNvSpPr>
          <p:nvPr/>
        </p:nvSpPr>
        <p:spPr>
          <a:xfrm>
            <a:off x="6293113" y="1826884"/>
            <a:ext cx="5490178" cy="4804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2700" b="1" dirty="0">
                <a:ea typeface="+mn-lt"/>
                <a:cs typeface="+mn-lt"/>
              </a:rPr>
              <a:t>Macrovascular disease</a:t>
            </a:r>
            <a:r>
              <a:rPr lang="en-US" sz="2700" dirty="0">
                <a:ea typeface="+mn-lt"/>
                <a:cs typeface="+mn-lt"/>
              </a:rPr>
              <a:t> is multifactorial:</a:t>
            </a:r>
            <a:endParaRPr lang="en-US" sz="27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700" dirty="0">
                <a:ea typeface="+mn-lt"/>
                <a:cs typeface="+mn-lt"/>
              </a:rPr>
              <a:t>Hyperglycemia</a:t>
            </a:r>
            <a:endParaRPr lang="en-US" sz="27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700" dirty="0">
                <a:ea typeface="+mn-lt"/>
                <a:cs typeface="+mn-lt"/>
              </a:rPr>
              <a:t>Hypertension</a:t>
            </a:r>
            <a:endParaRPr lang="en-US" sz="27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700" dirty="0">
                <a:ea typeface="+mn-lt"/>
                <a:cs typeface="+mn-lt"/>
              </a:rPr>
              <a:t>Dyslipidemia</a:t>
            </a:r>
            <a:endParaRPr lang="en-US" sz="27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700" dirty="0">
                <a:ea typeface="+mn-lt"/>
                <a:cs typeface="+mn-lt"/>
              </a:rPr>
              <a:t>Smoking</a:t>
            </a:r>
            <a:endParaRPr lang="en-US" sz="27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700" dirty="0">
                <a:ea typeface="+mn-lt"/>
                <a:cs typeface="+mn-lt"/>
              </a:rPr>
              <a:t>Insulin resistance/obesity</a:t>
            </a:r>
            <a:endParaRPr lang="en-US" sz="27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700" dirty="0">
                <a:ea typeface="+mn-lt"/>
                <a:cs typeface="+mn-lt"/>
              </a:rPr>
              <a:t>Kidney disease</a:t>
            </a:r>
            <a:endParaRPr lang="en-US" sz="270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8451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89636-BFD5-4F39-A612-FE0B5273A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/>
              <a:t>Macrovascular Complications</a:t>
            </a:r>
          </a:p>
        </p:txBody>
      </p:sp>
    </p:spTree>
    <p:extLst>
      <p:ext uri="{BB962C8B-B14F-4D97-AF65-F5344CB8AC3E}">
        <p14:creationId xmlns:p14="http://schemas.microsoft.com/office/powerpoint/2010/main" val="1153621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89636-BFD5-4F39-A612-FE0B5273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Lipoprotein Abnormalities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C863F-A430-4CB6-ABAA-EC0582415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1055" y="4571890"/>
            <a:ext cx="9144000" cy="1182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Macrovascular Complications</a:t>
            </a:r>
          </a:p>
        </p:txBody>
      </p:sp>
    </p:spTree>
    <p:extLst>
      <p:ext uri="{BB962C8B-B14F-4D97-AF65-F5344CB8AC3E}">
        <p14:creationId xmlns:p14="http://schemas.microsoft.com/office/powerpoint/2010/main" val="2349956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hape 480"/>
          <p:cNvSpPr>
            <a:spLocks noGrp="1"/>
          </p:cNvSpPr>
          <p:nvPr>
            <p:ph type="title" idx="4294967295"/>
          </p:nvPr>
        </p:nvSpPr>
        <p:spPr>
          <a:xfrm>
            <a:off x="462579" y="0"/>
            <a:ext cx="10467190" cy="1178719"/>
          </a:xfrm>
          <a:prstGeom prst="rect">
            <a:avLst/>
          </a:prstGeom>
        </p:spPr>
        <p:txBody>
          <a:bodyPr vert="horz" lIns="50799" tIns="50799" rIns="50799" bIns="50799" rtlCol="0" anchor="ctr">
            <a:no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lang="en-US" sz="4800" dirty="0">
                <a:latin typeface="+mj-lt"/>
              </a:rPr>
              <a:t>Macrovascular: </a:t>
            </a:r>
            <a:r>
              <a:rPr sz="4800" dirty="0">
                <a:latin typeface="+mj-lt"/>
              </a:rPr>
              <a:t>Lipoprotein Abnormalities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06B2B3-4299-C65B-714E-15FD98C5EAA7}"/>
              </a:ext>
            </a:extLst>
          </p:cNvPr>
          <p:cNvSpPr txBox="1"/>
          <p:nvPr/>
        </p:nvSpPr>
        <p:spPr>
          <a:xfrm>
            <a:off x="453421" y="1234314"/>
            <a:ext cx="11234776" cy="56225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800" dirty="0">
                <a:latin typeface="Arial"/>
                <a:cs typeface="Arial"/>
              </a:rPr>
              <a:t>T2DM commonly associated with:</a:t>
            </a:r>
          </a:p>
          <a:p>
            <a:pPr marL="9715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en-US" sz="2800" b="1" dirty="0">
                <a:latin typeface="Arial"/>
                <a:cs typeface="Arial"/>
              </a:rPr>
              <a:t>↑ triglycerides</a:t>
            </a:r>
          </a:p>
          <a:p>
            <a:pPr marL="9715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en-US" sz="2800" b="1" dirty="0">
                <a:latin typeface="Arial"/>
                <a:cs typeface="Arial"/>
              </a:rPr>
              <a:t>↓ HDL</a:t>
            </a:r>
          </a:p>
          <a:p>
            <a:pPr marL="9715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en-US" sz="2800" dirty="0">
                <a:latin typeface="Arial"/>
                <a:cs typeface="Arial"/>
              </a:rPr>
              <a:t>More atherogenic LDL particles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800" dirty="0">
                <a:latin typeface="Arial"/>
                <a:cs typeface="Arial"/>
              </a:rPr>
              <a:t>Diabetes substantially increases</a:t>
            </a:r>
            <a:r>
              <a:rPr lang="en-US" sz="2800" b="1" dirty="0">
                <a:latin typeface="Arial"/>
                <a:cs typeface="Arial"/>
              </a:rPr>
              <a:t> ASCVD risk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800" dirty="0">
                <a:latin typeface="Arial"/>
                <a:cs typeface="Arial"/>
              </a:rPr>
              <a:t>Treatment of dyslipidemia is an important component of ASCVD prevention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latin typeface="Arial"/>
                <a:cs typeface="Arial"/>
              </a:rPr>
              <a:t>Statins are first-line therapy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800" dirty="0">
                <a:latin typeface="Arial"/>
                <a:cs typeface="Arial"/>
              </a:rPr>
              <a:t>Intensity depends on </a:t>
            </a:r>
            <a:r>
              <a:rPr lang="en-US" sz="2800" b="1" dirty="0">
                <a:latin typeface="Arial"/>
                <a:cs typeface="Arial"/>
              </a:rPr>
              <a:t>age, ASCVD status, and cardiovascular risk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800" dirty="0">
                <a:latin typeface="Arial"/>
                <a:cs typeface="Arial"/>
              </a:rPr>
              <a:t>Additional LDL-lowering therapy may be needed when LDL goals are not achieved</a:t>
            </a:r>
          </a:p>
          <a:p>
            <a:pPr algn="l"/>
            <a:endParaRPr lang="en-US" sz="2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85948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89636-BFD5-4F39-A612-FE0B5273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Hypertension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C863F-A430-4CB6-ABAA-EC0582415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682484"/>
            <a:ext cx="9144000" cy="1182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Macrovascular Complications</a:t>
            </a:r>
          </a:p>
        </p:txBody>
      </p:sp>
    </p:spTree>
    <p:extLst>
      <p:ext uri="{BB962C8B-B14F-4D97-AF65-F5344CB8AC3E}">
        <p14:creationId xmlns:p14="http://schemas.microsoft.com/office/powerpoint/2010/main" val="3688712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A56C0-5ACD-44AE-8AF1-DE8F73C8D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275" y="14953"/>
            <a:ext cx="11349318" cy="1093085"/>
          </a:xfrm>
        </p:spPr>
        <p:txBody>
          <a:bodyPr>
            <a:normAutofit/>
          </a:bodyPr>
          <a:lstStyle/>
          <a:p>
            <a:r>
              <a:rPr lang="en-US" sz="4000" b="1" dirty="0"/>
              <a:t>Macrovascular: Hypertension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30912-9D01-42D1-BC67-CF2F712E5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274" y="1410318"/>
            <a:ext cx="11192015" cy="54476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Hypertension is common in diabetes and increases cardiovascular and kidney risk.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Goal BP &lt;130/80 mmHg</a:t>
            </a:r>
            <a:r>
              <a:rPr lang="en-US" dirty="0">
                <a:ea typeface="+mn-lt"/>
                <a:cs typeface="+mn-lt"/>
              </a:rPr>
              <a:t>, if safely attainable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Lifestyle management:</a:t>
            </a:r>
          </a:p>
          <a:p>
            <a:pPr marL="971550" lvl="1" indent="-285750">
              <a:buFont typeface="Arial"/>
            </a:pPr>
            <a:r>
              <a:rPr lang="en-US" sz="2800" dirty="0">
                <a:ea typeface="+mn-lt"/>
                <a:cs typeface="+mn-lt"/>
              </a:rPr>
              <a:t>Weight management</a:t>
            </a:r>
            <a:endParaRPr lang="en-US" sz="2800" dirty="0">
              <a:ea typeface="Calibri"/>
              <a:cs typeface="Calibri"/>
            </a:endParaRPr>
          </a:p>
          <a:p>
            <a:pPr marL="971550" lvl="1" indent="-285750">
              <a:buFont typeface="Arial"/>
            </a:pPr>
            <a:r>
              <a:rPr lang="en-US" sz="2800" dirty="0">
                <a:ea typeface="+mn-lt"/>
                <a:cs typeface="+mn-lt"/>
              </a:rPr>
              <a:t>Physical activity</a:t>
            </a:r>
            <a:endParaRPr lang="en-US" sz="2800" dirty="0">
              <a:ea typeface="Calibri"/>
              <a:cs typeface="Calibri"/>
            </a:endParaRPr>
          </a:p>
          <a:p>
            <a:pPr marL="971550" lvl="1" indent="-285750">
              <a:buFont typeface="Arial"/>
            </a:pPr>
            <a:r>
              <a:rPr lang="en-US" sz="2800" dirty="0">
                <a:ea typeface="+mn-lt"/>
                <a:cs typeface="+mn-lt"/>
              </a:rPr>
              <a:t>Sodium reduction</a:t>
            </a:r>
            <a:endParaRPr lang="en-US" sz="2800" dirty="0">
              <a:ea typeface="Calibri"/>
              <a:cs typeface="Calibri"/>
            </a:endParaRPr>
          </a:p>
          <a:p>
            <a:pPr marL="971550" lvl="1" indent="-285750">
              <a:buFont typeface="Arial"/>
            </a:pPr>
            <a:r>
              <a:rPr lang="en-US" sz="2800" dirty="0">
                <a:ea typeface="+mn-lt"/>
                <a:cs typeface="+mn-lt"/>
              </a:rPr>
              <a:t>Appropriate alcohol intake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Antihypertensive therapy is often required</a:t>
            </a:r>
            <a:endParaRPr lang="en-US" dirty="0"/>
          </a:p>
          <a:p>
            <a:pPr marL="0" indent="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Choice of medication should consider </a:t>
            </a:r>
            <a:r>
              <a:rPr lang="en-US" b="1" dirty="0">
                <a:ea typeface="+mn-lt"/>
                <a:cs typeface="+mn-lt"/>
              </a:rPr>
              <a:t>ASCVD, heart failure, and kidney disease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994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89636-BFD5-4F39-A612-FE0B5273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C863F-A430-4CB6-ABAA-EC0582415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765612"/>
            <a:ext cx="9144000" cy="1182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Macrovascular Complications</a:t>
            </a:r>
          </a:p>
        </p:txBody>
      </p:sp>
    </p:spTree>
    <p:extLst>
      <p:ext uri="{BB962C8B-B14F-4D97-AF65-F5344CB8AC3E}">
        <p14:creationId xmlns:p14="http://schemas.microsoft.com/office/powerpoint/2010/main" val="4209781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Shape 497"/>
          <p:cNvSpPr>
            <a:spLocks noGrp="1"/>
          </p:cNvSpPr>
          <p:nvPr>
            <p:ph type="title" idx="4294967295"/>
          </p:nvPr>
        </p:nvSpPr>
        <p:spPr>
          <a:xfrm>
            <a:off x="333487" y="151805"/>
            <a:ext cx="11360075" cy="914177"/>
          </a:xfrm>
          <a:prstGeom prst="rect">
            <a:avLst/>
          </a:prstGeom>
        </p:spPr>
        <p:txBody>
          <a:bodyPr vert="horz" lIns="50799" tIns="50799" rIns="50799" bIns="50799" rtlCol="0" anchor="ctr">
            <a:no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lang="en-US" sz="4800" dirty="0">
                <a:latin typeface="+mj-lt"/>
              </a:rPr>
              <a:t>Macrovascular: </a:t>
            </a:r>
            <a:r>
              <a:rPr sz="4800" dirty="0">
                <a:latin typeface="+mj-lt"/>
              </a:rPr>
              <a:t>Cardiovascular Complications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CFBCED-28B2-B02F-BDDD-E4287EBD3873}"/>
              </a:ext>
            </a:extLst>
          </p:cNvPr>
          <p:cNvSpPr txBox="1"/>
          <p:nvPr/>
        </p:nvSpPr>
        <p:spPr>
          <a:xfrm>
            <a:off x="390446" y="1297289"/>
            <a:ext cx="11259966" cy="62217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latin typeface="Arial"/>
                <a:cs typeface="Arial"/>
              </a:rPr>
              <a:t>Diabetes significantly increases risk of ASCVD:</a:t>
            </a:r>
            <a:endParaRPr lang="en-US"/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800" b="1" dirty="0">
                <a:latin typeface="Arial"/>
                <a:cs typeface="Arial"/>
              </a:rPr>
              <a:t>Coronary artery disease / MI</a:t>
            </a:r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800" b="1" dirty="0">
                <a:latin typeface="Arial"/>
                <a:cs typeface="Arial"/>
              </a:rPr>
              <a:t>Ischemic stroke</a:t>
            </a:r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800" b="1" dirty="0">
                <a:latin typeface="Arial"/>
                <a:cs typeface="Arial"/>
              </a:rPr>
              <a:t>Peripheral artery disease</a:t>
            </a:r>
          </a:p>
          <a:p>
            <a:pPr>
              <a:lnSpc>
                <a:spcPct val="90000"/>
              </a:lnSpc>
              <a:spcBef>
                <a:spcPts val="500"/>
              </a:spcBef>
            </a:pPr>
            <a:endParaRPr lang="en-US" sz="2800" b="1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ts val="500"/>
              </a:spcBef>
            </a:pPr>
            <a:r>
              <a:rPr lang="en-US" sz="2800" dirty="0">
                <a:latin typeface="Arial"/>
                <a:cs typeface="Arial"/>
              </a:rPr>
              <a:t>Risk reduction requires comprehensive management:</a:t>
            </a:r>
            <a:endParaRPr lang="en-US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600" dirty="0">
                <a:latin typeface="Arial"/>
                <a:cs typeface="Arial"/>
              </a:rPr>
              <a:t>Glycemic management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600" b="1" dirty="0">
                <a:latin typeface="Arial"/>
                <a:cs typeface="Arial"/>
              </a:rPr>
              <a:t>BP control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600" b="1" dirty="0">
                <a:latin typeface="Arial"/>
                <a:cs typeface="Arial"/>
              </a:rPr>
              <a:t>Lipid management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600" dirty="0">
                <a:latin typeface="Arial"/>
                <a:cs typeface="Arial"/>
              </a:rPr>
              <a:t>Smoking cessation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600" dirty="0">
                <a:latin typeface="Arial"/>
                <a:cs typeface="Arial"/>
              </a:rPr>
              <a:t>Physical activity/weight management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600" dirty="0">
                <a:latin typeface="Arial"/>
                <a:cs typeface="Arial"/>
              </a:rPr>
              <a:t>Use medications with cardiovascular benefit when indicated</a:t>
            </a:r>
          </a:p>
          <a:p>
            <a:pPr marL="205105" indent="-205105">
              <a:lnSpc>
                <a:spcPct val="90000"/>
              </a:lnSpc>
              <a:spcBef>
                <a:spcPts val="492"/>
              </a:spcBef>
              <a:buFont typeface="Arial"/>
              <a:buChar char="•"/>
            </a:pPr>
            <a:endParaRPr lang="en-US" sz="3100" dirty="0">
              <a:latin typeface="Arial"/>
              <a:cs typeface="Arial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740566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89636-BFD5-4F39-A612-FE0B5273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PVD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C863F-A430-4CB6-ABAA-EC0582415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724049"/>
            <a:ext cx="9144000" cy="1182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Macrovascular Complications</a:t>
            </a:r>
          </a:p>
        </p:txBody>
      </p:sp>
    </p:spTree>
    <p:extLst>
      <p:ext uri="{BB962C8B-B14F-4D97-AF65-F5344CB8AC3E}">
        <p14:creationId xmlns:p14="http://schemas.microsoft.com/office/powerpoint/2010/main" val="883552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41682F-9058-46EF-97FE-393C9E449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Macrovascular: Peripheral Vascular Disease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11260A-5274-433A-8960-211601E10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74" y="1678628"/>
            <a:ext cx="11397252" cy="449833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Diabetes increases the risk of </a:t>
            </a:r>
            <a:r>
              <a:rPr lang="en-US" b="1" dirty="0">
                <a:latin typeface="Arial"/>
                <a:cs typeface="Arial"/>
              </a:rPr>
              <a:t>atherosclerotic PAD</a:t>
            </a:r>
            <a:r>
              <a:rPr lang="en-US" dirty="0">
                <a:latin typeface="Arial"/>
                <a:cs typeface="Arial"/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b="1" dirty="0">
                <a:latin typeface="Arial"/>
                <a:cs typeface="Arial"/>
              </a:rPr>
              <a:t>Clinical clues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sz="2800" dirty="0">
                <a:latin typeface="Arial"/>
                <a:cs typeface="Arial"/>
              </a:rPr>
              <a:t>Claudication</a:t>
            </a:r>
            <a:endParaRPr lang="en-US" sz="2800" dirty="0"/>
          </a:p>
          <a:p>
            <a:pPr lvl="1"/>
            <a:r>
              <a:rPr lang="en-US" sz="2800" dirty="0">
                <a:latin typeface="Arial"/>
                <a:cs typeface="Arial"/>
              </a:rPr>
              <a:t>Diminished/absent pedal pulses</a:t>
            </a:r>
            <a:endParaRPr lang="en-US" sz="2800" dirty="0"/>
          </a:p>
          <a:p>
            <a:pPr lvl="1"/>
            <a:r>
              <a:rPr lang="en-US" sz="2800" dirty="0">
                <a:latin typeface="Arial"/>
                <a:cs typeface="Arial"/>
              </a:rPr>
              <a:t>Nonhealing wounds</a:t>
            </a:r>
            <a:endParaRPr lang="en-US" sz="2800" dirty="0"/>
          </a:p>
          <a:p>
            <a:pPr lvl="1"/>
            <a:r>
              <a:rPr lang="en-US" sz="2800" dirty="0">
                <a:latin typeface="Arial"/>
                <a:cs typeface="Arial"/>
              </a:rPr>
              <a:t>Ischemic rest pain in advanced disease</a:t>
            </a:r>
            <a:endParaRPr lang="en-US" sz="2800" dirty="0">
              <a:latin typeface="Arial"/>
              <a:ea typeface="Calibri" panose="020F0502020204030204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95046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42CB3-BE3E-CFAE-F408-168E2A8A6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567476-34B5-E3C9-548E-BAA3B6C6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Macrovascular: Peripheral Vascular Disease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402D9C-394F-3F26-0AE7-08EDAAE7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74" y="1678628"/>
            <a:ext cx="11397252" cy="449833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>
                <a:latin typeface="Arial"/>
                <a:cs typeface="Arial"/>
              </a:rPr>
              <a:t>Evaluation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US" sz="2800" dirty="0">
                <a:latin typeface="Arial"/>
                <a:cs typeface="Arial"/>
              </a:rPr>
              <a:t>Vascular examination including </a:t>
            </a:r>
            <a:r>
              <a:rPr lang="en-US" sz="2800" b="1" dirty="0">
                <a:latin typeface="Arial"/>
                <a:cs typeface="Arial"/>
              </a:rPr>
              <a:t>pedal pulses</a:t>
            </a:r>
            <a:endParaRPr lang="en-US" sz="2800" dirty="0"/>
          </a:p>
          <a:p>
            <a:pPr lvl="1"/>
            <a:r>
              <a:rPr lang="en-US" sz="2800" b="1" dirty="0">
                <a:latin typeface="Arial"/>
                <a:cs typeface="Arial"/>
              </a:rPr>
              <a:t>ABI</a:t>
            </a:r>
            <a:r>
              <a:rPr lang="en-US" sz="2800" dirty="0">
                <a:latin typeface="Arial"/>
                <a:cs typeface="Arial"/>
              </a:rPr>
              <a:t> when PAD is suspected</a:t>
            </a:r>
            <a:endParaRPr lang="en-US" sz="2800" dirty="0"/>
          </a:p>
          <a:p>
            <a:pPr lvl="1"/>
            <a:r>
              <a:rPr lang="en-US" sz="2800" dirty="0">
                <a:latin typeface="Arial"/>
                <a:cs typeface="Arial"/>
              </a:rPr>
              <a:t>ABI </a:t>
            </a:r>
            <a:r>
              <a:rPr lang="en-US" sz="2800" b="1" dirty="0">
                <a:latin typeface="Arial"/>
                <a:cs typeface="Arial"/>
              </a:rPr>
              <a:t>≤0.90 is abnormal</a:t>
            </a:r>
            <a:endParaRPr lang="en-US" sz="2800" dirty="0"/>
          </a:p>
          <a:p>
            <a:pPr lvl="1"/>
            <a:r>
              <a:rPr lang="en-US" sz="2800" dirty="0">
                <a:latin typeface="Arial"/>
                <a:cs typeface="Arial"/>
              </a:rPr>
              <a:t>Diabetes can cause </a:t>
            </a:r>
            <a:r>
              <a:rPr lang="en-US" sz="2800" b="1" dirty="0">
                <a:latin typeface="Arial"/>
                <a:cs typeface="Arial"/>
              </a:rPr>
              <a:t>noncompressible/calcified arteries</a:t>
            </a:r>
            <a:r>
              <a:rPr lang="en-US" sz="2800" dirty="0">
                <a:latin typeface="Arial"/>
                <a:cs typeface="Arial"/>
              </a:rPr>
              <a:t>, potentially producing falsely elevated ABI → additional vascular testing may be needed</a:t>
            </a:r>
          </a:p>
          <a:p>
            <a:r>
              <a:rPr lang="en-US" b="1" dirty="0">
                <a:ea typeface="+mn-lt"/>
                <a:cs typeface="+mn-lt"/>
              </a:rPr>
              <a:t>Risk reduction:</a:t>
            </a:r>
            <a:r>
              <a:rPr lang="en-US" dirty="0">
                <a:ea typeface="+mn-lt"/>
                <a:cs typeface="+mn-lt"/>
              </a:rPr>
              <a:t> smoking cessation, lipid/BP/glycemic management, foot care + appropriate PAD treatment.</a:t>
            </a:r>
            <a:endParaRPr lang="en-US" dirty="0">
              <a:latin typeface="Arial"/>
              <a:cs typeface="Arial"/>
            </a:endParaRPr>
          </a:p>
          <a:p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955327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89636-BFD5-4F39-A612-FE0B5273A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/>
              <a:t>Microvascular Complications</a:t>
            </a:r>
          </a:p>
        </p:txBody>
      </p:sp>
    </p:spTree>
    <p:extLst>
      <p:ext uri="{BB962C8B-B14F-4D97-AF65-F5344CB8AC3E}">
        <p14:creationId xmlns:p14="http://schemas.microsoft.com/office/powerpoint/2010/main" val="30822419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0682E9-CEF1-4808-82EA-54635583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Ocular Complications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0B245-B334-40EB-97DB-60750B630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1055" y="4670814"/>
            <a:ext cx="9144000" cy="1182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Microvascular Complication</a:t>
            </a:r>
          </a:p>
        </p:txBody>
      </p:sp>
    </p:spTree>
    <p:extLst>
      <p:ext uri="{BB962C8B-B14F-4D97-AF65-F5344CB8AC3E}">
        <p14:creationId xmlns:p14="http://schemas.microsoft.com/office/powerpoint/2010/main" val="12092408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>
            <a:spLocks noGrp="1"/>
          </p:cNvSpPr>
          <p:nvPr>
            <p:ph type="title" idx="4294967295"/>
          </p:nvPr>
        </p:nvSpPr>
        <p:spPr>
          <a:xfrm>
            <a:off x="548640" y="274588"/>
            <a:ext cx="10983558" cy="791394"/>
          </a:xfrm>
          <a:prstGeom prst="rect">
            <a:avLst/>
          </a:prstGeom>
        </p:spPr>
        <p:txBody>
          <a:bodyPr vert="horz" lIns="50799" tIns="50799" rIns="50799" bIns="50799" rtlCol="0" anchor="ctr">
            <a:normAutofit fontScale="90000"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lang="en-US" dirty="0">
                <a:latin typeface="+mj-lt"/>
              </a:rPr>
              <a:t>Microvascular: </a:t>
            </a:r>
            <a:r>
              <a:rPr dirty="0">
                <a:latin typeface="+mj-lt"/>
              </a:rPr>
              <a:t>Ocular Complications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1DAA0A-320D-279C-E288-B0627EFDAF46}"/>
              </a:ext>
            </a:extLst>
          </p:cNvPr>
          <p:cNvSpPr txBox="1"/>
          <p:nvPr/>
        </p:nvSpPr>
        <p:spPr>
          <a:xfrm>
            <a:off x="352660" y="1259504"/>
            <a:ext cx="11411107" cy="41349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0000"/>
              </a:lnSpc>
              <a:spcBef>
                <a:spcPts val="492"/>
              </a:spcBef>
            </a:pPr>
            <a:r>
              <a:rPr lang="en-US" sz="2800" dirty="0">
                <a:latin typeface="Calibri Light"/>
                <a:ea typeface="Calibri Light"/>
                <a:cs typeface="Calibri Light"/>
              </a:rPr>
              <a:t>Retinopathy: 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 sz="2800" dirty="0">
              <a:latin typeface="Calibri Light"/>
              <a:ea typeface="Calibri Light"/>
              <a:cs typeface="Calibri Light"/>
            </a:endParaRP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b="1" dirty="0" err="1">
                <a:latin typeface="Calibri Light"/>
                <a:ea typeface="Calibri Light"/>
                <a:cs typeface="Calibri Light"/>
              </a:rPr>
              <a:t>Nonproliferative</a:t>
            </a:r>
            <a:r>
              <a:rPr lang="en-US" sz="2800" b="1" dirty="0">
                <a:latin typeface="Calibri Light"/>
                <a:ea typeface="Calibri Light"/>
                <a:cs typeface="Calibri Light"/>
              </a:rPr>
              <a:t> (NPDR): </a:t>
            </a:r>
            <a:r>
              <a:rPr lang="en-US" sz="2800" dirty="0">
                <a:latin typeface="Calibri Light"/>
                <a:ea typeface="Calibri Light"/>
                <a:cs typeface="Calibri Light"/>
              </a:rPr>
              <a:t>microaneurysms, retinal hemorrhages, exudates, ischemia/cotton-wool spots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b="1" dirty="0">
                <a:latin typeface="Calibri Light"/>
                <a:ea typeface="Calibri Light"/>
                <a:cs typeface="Calibri Light"/>
              </a:rPr>
              <a:t>Proliferative (PDR):</a:t>
            </a:r>
            <a:r>
              <a:rPr lang="en-US" sz="2800" dirty="0">
                <a:latin typeface="Calibri Light"/>
                <a:ea typeface="Calibri Light"/>
                <a:cs typeface="Calibri Light"/>
              </a:rPr>
              <a:t> retinal ischemia → </a:t>
            </a:r>
            <a:r>
              <a:rPr lang="en-US" sz="2800" b="1" dirty="0">
                <a:latin typeface="Calibri Light"/>
                <a:ea typeface="Calibri Light"/>
                <a:cs typeface="Calibri Light"/>
              </a:rPr>
              <a:t>neovascularization</a:t>
            </a:r>
          </a:p>
          <a:p>
            <a:pPr marL="914400" lvl="1" indent="-45720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800" dirty="0">
                <a:latin typeface="Calibri Light"/>
                <a:ea typeface="Calibri Light"/>
                <a:cs typeface="Calibri Light"/>
              </a:rPr>
              <a:t>Can lead to vitreous hemorrhage and tractional retinal detachment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b="1" dirty="0">
                <a:latin typeface="Calibri Light"/>
                <a:ea typeface="Calibri Light"/>
                <a:cs typeface="Calibri Light"/>
              </a:rPr>
              <a:t>Diabetic macular edema (DME)</a:t>
            </a:r>
            <a:r>
              <a:rPr lang="en-US" sz="2800" dirty="0">
                <a:latin typeface="Calibri Light"/>
                <a:ea typeface="Calibri Light"/>
                <a:cs typeface="Calibri Light"/>
              </a:rPr>
              <a:t> can occur at any stage and threatens central vision.</a:t>
            </a: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9409876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940" y="857250"/>
            <a:ext cx="8598173" cy="48220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37373277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640" y="267891"/>
            <a:ext cx="7929563" cy="634342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20283431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342"/>
          <p:cNvSpPr>
            <a:spLocks noGrp="1"/>
          </p:cNvSpPr>
          <p:nvPr>
            <p:ph type="title" idx="4294967295"/>
          </p:nvPr>
        </p:nvSpPr>
        <p:spPr>
          <a:xfrm>
            <a:off x="1524000" y="178594"/>
            <a:ext cx="7358063" cy="892969"/>
          </a:xfrm>
          <a:prstGeom prst="rect">
            <a:avLst/>
          </a:prstGeom>
        </p:spPr>
        <p:txBody>
          <a:bodyPr vert="horz" lIns="35719" tIns="35719" rIns="35719" bIns="35719" rtlCol="0" anchor="ctr">
            <a:normAutofit fontScale="90000"/>
          </a:bodyPr>
          <a:lstStyle>
            <a:lvl1pPr>
              <a:defRPr sz="6000"/>
            </a:lvl1pPr>
          </a:lstStyle>
          <a:p>
            <a:pPr>
              <a:buNone/>
            </a:pPr>
            <a:r>
              <a:rPr dirty="0"/>
              <a:t>Proliferative Retinopathy</a:t>
            </a:r>
          </a:p>
        </p:txBody>
      </p:sp>
      <p:pic>
        <p:nvPicPr>
          <p:cNvPr id="343" name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366" y="1232297"/>
            <a:ext cx="8142759" cy="547278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38306678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>
            <a:spLocks noGrp="1"/>
          </p:cNvSpPr>
          <p:nvPr>
            <p:ph type="title" idx="4294967295"/>
          </p:nvPr>
        </p:nvSpPr>
        <p:spPr>
          <a:xfrm>
            <a:off x="441063" y="274588"/>
            <a:ext cx="11112649" cy="791394"/>
          </a:xfrm>
          <a:prstGeom prst="rect">
            <a:avLst/>
          </a:prstGeom>
        </p:spPr>
        <p:txBody>
          <a:bodyPr vert="horz" lIns="50799" tIns="50799" rIns="50799" bIns="50799" rtlCol="0" anchor="ctr">
            <a:noAutofit/>
          </a:bodyPr>
          <a:lstStyle>
            <a:lvl1pPr defTabSz="1274159">
              <a:defRPr sz="6076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800" b="1" dirty="0"/>
              <a:t>Microvascular: Ocular Complications</a:t>
            </a:r>
            <a:endParaRPr sz="4800" dirty="0">
              <a:latin typeface="+mj-lt"/>
            </a:endParaRPr>
          </a:p>
        </p:txBody>
      </p:sp>
      <p:sp>
        <p:nvSpPr>
          <p:cNvPr id="352" name="Shape 352"/>
          <p:cNvSpPr>
            <a:spLocks noGrp="1"/>
          </p:cNvSpPr>
          <p:nvPr>
            <p:ph type="body" idx="4294967295"/>
          </p:nvPr>
        </p:nvSpPr>
        <p:spPr>
          <a:xfrm>
            <a:off x="441064" y="1584958"/>
            <a:ext cx="11370832" cy="5233809"/>
          </a:xfrm>
          <a:prstGeom prst="rect">
            <a:avLst/>
          </a:prstGeom>
        </p:spPr>
        <p:txBody>
          <a:bodyPr vert="horz" lIns="50799" tIns="50799" rIns="50799" bIns="50799" rtlCol="0" anchor="t">
            <a:normAutofit/>
          </a:bodyPr>
          <a:lstStyle/>
          <a:p>
            <a:pPr defTabSz="914144"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b="1" dirty="0">
                <a:ea typeface="+mn-lt"/>
                <a:cs typeface="+mn-lt"/>
              </a:rPr>
              <a:t>Retinopathy Screening</a:t>
            </a:r>
            <a:endParaRPr lang="en-US" sz="3200" dirty="0">
              <a:ea typeface="+mn-lt"/>
              <a:cs typeface="+mn-lt"/>
            </a:endParaRPr>
          </a:p>
          <a:p>
            <a:pPr defTabSz="914144">
              <a:buFont typeface="Arial"/>
              <a:buChar char="•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b="1" dirty="0">
                <a:ea typeface="+mn-lt"/>
                <a:cs typeface="+mn-lt"/>
              </a:rPr>
              <a:t>T1DM:</a:t>
            </a:r>
            <a:r>
              <a:rPr lang="en-US" sz="3200" dirty="0">
                <a:ea typeface="+mn-lt"/>
                <a:cs typeface="+mn-lt"/>
              </a:rPr>
              <a:t> initial dilated comprehensive eye exam </a:t>
            </a:r>
            <a:r>
              <a:rPr lang="en-US" sz="3200" b="1" dirty="0">
                <a:ea typeface="+mn-lt"/>
                <a:cs typeface="+mn-lt"/>
              </a:rPr>
              <a:t>5 years after onset</a:t>
            </a:r>
            <a:endParaRPr lang="en-US" sz="3200"/>
          </a:p>
          <a:p>
            <a:pPr defTabSz="914144">
              <a:buFont typeface="Arial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b="1" dirty="0">
                <a:ea typeface="+mn-lt"/>
                <a:cs typeface="+mn-lt"/>
              </a:rPr>
              <a:t>T2DM:</a:t>
            </a:r>
            <a:r>
              <a:rPr lang="en-US" sz="3200" dirty="0">
                <a:ea typeface="+mn-lt"/>
                <a:cs typeface="+mn-lt"/>
              </a:rPr>
              <a:t> initial exam </a:t>
            </a:r>
            <a:r>
              <a:rPr lang="en-US" sz="3200" b="1" dirty="0">
                <a:ea typeface="+mn-lt"/>
                <a:cs typeface="+mn-lt"/>
              </a:rPr>
              <a:t>at diagnosis</a:t>
            </a:r>
            <a:endParaRPr lang="en-US" sz="3200" dirty="0">
              <a:ea typeface="+mn-lt"/>
              <a:cs typeface="+mn-lt"/>
            </a:endParaRPr>
          </a:p>
          <a:p>
            <a:pPr defTabSz="914144">
              <a:buFont typeface="Arial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ea typeface="+mn-lt"/>
                <a:cs typeface="+mn-lt"/>
              </a:rPr>
              <a:t>If no retinopathy and glycemia is at goal: </a:t>
            </a:r>
            <a:r>
              <a:rPr lang="en-US" sz="3200" b="1" dirty="0">
                <a:ea typeface="+mn-lt"/>
                <a:cs typeface="+mn-lt"/>
              </a:rPr>
              <a:t>every 1–2 years may be considered</a:t>
            </a:r>
            <a:endParaRPr lang="en-US" sz="3200"/>
          </a:p>
          <a:p>
            <a:pPr defTabSz="914144">
              <a:buFont typeface="Arial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ea typeface="+mn-lt"/>
                <a:cs typeface="+mn-lt"/>
              </a:rPr>
              <a:t>If retinopathy is present: </a:t>
            </a:r>
            <a:r>
              <a:rPr lang="en-US" sz="3200" b="1" dirty="0">
                <a:ea typeface="+mn-lt"/>
                <a:cs typeface="+mn-lt"/>
              </a:rPr>
              <a:t>at least annually</a:t>
            </a:r>
            <a:r>
              <a:rPr lang="en-US" sz="3200" dirty="0">
                <a:ea typeface="+mn-lt"/>
                <a:cs typeface="+mn-lt"/>
              </a:rPr>
              <a:t>, more often if progressing/sight-threatening</a:t>
            </a:r>
            <a:endParaRPr lang="en-US" sz="3200"/>
          </a:p>
          <a:p>
            <a:pPr marL="0" indent="0" defTabSz="914144">
              <a:spcBef>
                <a:spcPts val="492"/>
              </a:spcBef>
              <a:buFont typeface="Arial"/>
              <a:defRPr sz="45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6776368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>
            <a:spLocks noGrp="1"/>
          </p:cNvSpPr>
          <p:nvPr>
            <p:ph type="title" idx="4294967295"/>
          </p:nvPr>
        </p:nvSpPr>
        <p:spPr>
          <a:xfrm>
            <a:off x="279699" y="274588"/>
            <a:ext cx="11489167" cy="791394"/>
          </a:xfrm>
          <a:prstGeom prst="rect">
            <a:avLst/>
          </a:prstGeom>
        </p:spPr>
        <p:txBody>
          <a:bodyPr vert="horz" lIns="50799" tIns="50799" rIns="50799" bIns="50799" rtlCol="0" anchor="ctr">
            <a:noAutofit/>
          </a:bodyPr>
          <a:lstStyle>
            <a:lvl1pPr defTabSz="1274159">
              <a:defRPr sz="6076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800" b="1" dirty="0"/>
              <a:t>Microvascular: Ocular Complications</a:t>
            </a:r>
            <a:endParaRPr sz="4800" dirty="0">
              <a:latin typeface="+mj-lt"/>
            </a:endParaRPr>
          </a:p>
        </p:txBody>
      </p:sp>
      <p:sp>
        <p:nvSpPr>
          <p:cNvPr id="356" name="Shape 356"/>
          <p:cNvSpPr>
            <a:spLocks noGrp="1"/>
          </p:cNvSpPr>
          <p:nvPr>
            <p:ph type="body" idx="4294967295"/>
          </p:nvPr>
        </p:nvSpPr>
        <p:spPr>
          <a:xfrm>
            <a:off x="430306" y="1761067"/>
            <a:ext cx="11338560" cy="5019915"/>
          </a:xfrm>
          <a:prstGeom prst="rect">
            <a:avLst/>
          </a:prstGeom>
        </p:spPr>
        <p:txBody>
          <a:bodyPr vert="horz" lIns="50799" tIns="50799" rIns="50799" bIns="50799" rtlCol="0">
            <a:normAutofit/>
          </a:bodyPr>
          <a:lstStyle/>
          <a:p>
            <a:pPr marL="0" lvl="1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More frequent exams for: </a:t>
            </a:r>
          </a:p>
          <a:p>
            <a:pPr marL="482186" lvl="1" indent="-482186" defTabSz="914144">
              <a:spcBef>
                <a:spcPts val="492"/>
              </a:spcBef>
              <a:buFontTx/>
              <a:buAutoNum type="arabicPeriod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regnant women and in the first year postpartum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642915" lvl="1" indent="-642915" defTabSz="914144">
              <a:spcBef>
                <a:spcPts val="492"/>
              </a:spcBef>
              <a:buFont typeface="+mj-lt"/>
              <a:buAutoNum type="arabicPeriod" startAt="2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atients with existing retinopathy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642915" lvl="1" indent="-642915" defTabSz="914144">
              <a:spcBef>
                <a:spcPts val="492"/>
              </a:spcBef>
              <a:buFont typeface="+mj-lt"/>
              <a:buAutoNum type="arabicPeriod" startAt="3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hose receiving treatment for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macular edema</a:t>
            </a:r>
          </a:p>
          <a:p>
            <a:pPr marL="642915" lvl="1" indent="-642915" defTabSz="914144">
              <a:spcBef>
                <a:spcPts val="492"/>
              </a:spcBef>
              <a:buFont typeface="+mj-lt"/>
              <a:buAutoNum type="arabicPeriod" startAt="3"/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42915" lvl="1" indent="-642915" defTabSz="914144">
              <a:spcBef>
                <a:spcPts val="492"/>
              </a:spcBef>
              <a:buFont typeface="Calibri" panose="020F0502020204030204" pitchFamily="34" charset="0"/>
              <a:buChar char="±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Those starting GLP1 therapy from a “high” A1C (9+)</a:t>
            </a:r>
          </a:p>
        </p:txBody>
      </p:sp>
    </p:spTree>
    <p:extLst>
      <p:ext uri="{BB962C8B-B14F-4D97-AF65-F5344CB8AC3E}">
        <p14:creationId xmlns:p14="http://schemas.microsoft.com/office/powerpoint/2010/main" val="1476671619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359"/>
          <p:cNvSpPr>
            <a:spLocks noGrp="1"/>
          </p:cNvSpPr>
          <p:nvPr>
            <p:ph type="title" idx="4294967295"/>
          </p:nvPr>
        </p:nvSpPr>
        <p:spPr>
          <a:xfrm>
            <a:off x="365760" y="107156"/>
            <a:ext cx="11456894" cy="910828"/>
          </a:xfrm>
          <a:prstGeom prst="rect">
            <a:avLst/>
          </a:prstGeom>
        </p:spPr>
        <p:txBody>
          <a:bodyPr vert="horz" lIns="50799" tIns="50799" rIns="50799" bIns="50799" rtlCol="0" anchor="ctr">
            <a:no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800" b="1" dirty="0"/>
              <a:t>Microvascular: Ocular Complications</a:t>
            </a:r>
            <a:endParaRPr sz="4800" dirty="0">
              <a:latin typeface="+mj-lt"/>
            </a:endParaRPr>
          </a:p>
        </p:txBody>
      </p:sp>
      <p:sp>
        <p:nvSpPr>
          <p:cNvPr id="360" name="Shape 360"/>
          <p:cNvSpPr>
            <a:spLocks noGrp="1"/>
          </p:cNvSpPr>
          <p:nvPr>
            <p:ph type="body" idx="4294967295"/>
          </p:nvPr>
        </p:nvSpPr>
        <p:spPr>
          <a:xfrm>
            <a:off x="699248" y="1232297"/>
            <a:ext cx="10897496" cy="5472783"/>
          </a:xfrm>
          <a:prstGeom prst="rect">
            <a:avLst/>
          </a:prstGeom>
        </p:spPr>
        <p:txBody>
          <a:bodyPr vert="horz" lIns="50799" tIns="50799" rIns="50799" bIns="50799" rtlCol="0" anchor="t">
            <a:normAutofit/>
          </a:bodyPr>
          <a:lstStyle/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b="1" dirty="0">
                <a:latin typeface="Calibri"/>
                <a:cs typeface="Calibri"/>
              </a:rPr>
              <a:t>Clinical Presentation &amp; Management</a:t>
            </a:r>
            <a:endParaRPr lang="en-US" sz="32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sz="3200" dirty="0">
              <a:latin typeface="Calibri"/>
              <a:cs typeface="Calibri"/>
            </a:endParaRPr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ea typeface="+mn-lt"/>
                <a:cs typeface="+mn-lt"/>
              </a:rPr>
              <a:t>Often </a:t>
            </a:r>
            <a:r>
              <a:rPr lang="en-US" sz="3200" b="1" dirty="0">
                <a:ea typeface="+mn-lt"/>
                <a:cs typeface="+mn-lt"/>
              </a:rPr>
              <a:t>asymptomatic initially</a:t>
            </a:r>
            <a:endParaRPr lang="en-US" sz="3200" dirty="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ea typeface="+mn-lt"/>
                <a:cs typeface="+mn-lt"/>
              </a:rPr>
              <a:t>Later: blurred vision, floaters, visual loss</a:t>
            </a:r>
            <a:endParaRPr sz="3200" dirty="0"/>
          </a:p>
          <a:p>
            <a:pPr defTabSz="914144"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ea typeface="+mn-lt"/>
                <a:cs typeface="+mn-lt"/>
              </a:rPr>
              <a:t>Optimize </a:t>
            </a:r>
            <a:r>
              <a:rPr lang="en-US" sz="3200" b="1" dirty="0">
                <a:ea typeface="+mn-lt"/>
                <a:cs typeface="+mn-lt"/>
              </a:rPr>
              <a:t>glycemia, BP, and lipids</a:t>
            </a:r>
            <a:endParaRPr sz="3200" dirty="0"/>
          </a:p>
          <a:p>
            <a:pPr defTabSz="914144"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ea typeface="+mn-lt"/>
                <a:cs typeface="+mn-lt"/>
              </a:rPr>
              <a:t>Refer DME, moderate-or-worse NPDR, or PDR to ophthalmology</a:t>
            </a:r>
            <a:endParaRPr sz="3200" dirty="0"/>
          </a:p>
          <a:p>
            <a:pPr defTabSz="914144"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ea typeface="+mn-lt"/>
                <a:cs typeface="+mn-lt"/>
              </a:rPr>
              <a:t>Treatment may include </a:t>
            </a:r>
            <a:r>
              <a:rPr lang="en-US" sz="3200" b="1" dirty="0">
                <a:ea typeface="+mn-lt"/>
                <a:cs typeface="+mn-lt"/>
              </a:rPr>
              <a:t>anti-VEGF therapy and/or laser photocoagulation</a:t>
            </a:r>
            <a:endParaRPr sz="3200" dirty="0"/>
          </a:p>
          <a:p>
            <a:pPr marL="205105" indent="-205105" defTabSz="914144">
              <a:spcBef>
                <a:spcPts val="492"/>
              </a:spcBef>
              <a:defRPr sz="44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8875801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0682E9-CEF1-4808-82EA-54635583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Neuropathy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0B245-B334-40EB-97DB-60750B630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1055" y="4546432"/>
            <a:ext cx="9144000" cy="1182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Microvascular Complication</a:t>
            </a:r>
          </a:p>
        </p:txBody>
      </p:sp>
    </p:spTree>
    <p:extLst>
      <p:ext uri="{BB962C8B-B14F-4D97-AF65-F5344CB8AC3E}">
        <p14:creationId xmlns:p14="http://schemas.microsoft.com/office/powerpoint/2010/main" val="35591503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404"/>
          <p:cNvSpPr>
            <a:spLocks noGrp="1"/>
          </p:cNvSpPr>
          <p:nvPr>
            <p:ph type="title" idx="4294967295"/>
          </p:nvPr>
        </p:nvSpPr>
        <p:spPr>
          <a:xfrm>
            <a:off x="451821" y="107156"/>
            <a:ext cx="11263257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lang="en-US" b="1" dirty="0">
                <a:latin typeface="+mj-lt"/>
              </a:rPr>
              <a:t>Microvascular: </a:t>
            </a:r>
            <a:r>
              <a:rPr b="1" dirty="0">
                <a:latin typeface="+mj-lt"/>
              </a:rPr>
              <a:t>Neuropathy</a:t>
            </a:r>
          </a:p>
        </p:txBody>
      </p:sp>
      <p:sp>
        <p:nvSpPr>
          <p:cNvPr id="405" name="Shape 405"/>
          <p:cNvSpPr>
            <a:spLocks noGrp="1"/>
          </p:cNvSpPr>
          <p:nvPr>
            <p:ph type="body" idx="4294967295"/>
          </p:nvPr>
        </p:nvSpPr>
        <p:spPr>
          <a:xfrm>
            <a:off x="580914" y="1602888"/>
            <a:ext cx="11134164" cy="5094377"/>
          </a:xfrm>
          <a:prstGeom prst="rect">
            <a:avLst/>
          </a:prstGeom>
        </p:spPr>
        <p:txBody>
          <a:bodyPr vert="horz" lIns="50799" tIns="50799" rIns="50799" bIns="50799" rtlCol="0">
            <a:normAutofit fontScale="85000" lnSpcReduction="20000"/>
          </a:bodyPr>
          <a:lstStyle/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Diabetic neuropathy is classified into distinct clinical syndromes.</a:t>
            </a:r>
          </a:p>
          <a:p>
            <a:pPr marL="228363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A characteristic set of s/s exist for each syndrome</a:t>
            </a:r>
          </a:p>
          <a:p>
            <a:pPr marL="228363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Each variant has a different component of the peripheral nervous system that is affected.</a:t>
            </a:r>
          </a:p>
          <a:p>
            <a:pPr marL="685563" lvl="1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Types:</a:t>
            </a:r>
          </a:p>
          <a:p>
            <a:pPr marL="228363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4200" b="1" dirty="0">
                <a:latin typeface="Calibri" panose="020F0502020204030204" pitchFamily="34" charset="0"/>
                <a:cs typeface="Calibri" panose="020F0502020204030204" pitchFamily="34" charset="0"/>
              </a:rPr>
              <a:t>Distal symmetric poly neuropathy</a:t>
            </a:r>
          </a:p>
          <a:p>
            <a:pPr marL="228363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4200" b="1" dirty="0">
                <a:latin typeface="Calibri" panose="020F0502020204030204" pitchFamily="34" charset="0"/>
                <a:cs typeface="Calibri" panose="020F0502020204030204" pitchFamily="34" charset="0"/>
              </a:rPr>
              <a:t>Isolated peripheral neuropathy/mononeuropathy</a:t>
            </a:r>
          </a:p>
          <a:p>
            <a:pPr marL="228363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4200" b="1" dirty="0">
                <a:latin typeface="Calibri" panose="020F0502020204030204" pitchFamily="34" charset="0"/>
                <a:cs typeface="Calibri" panose="020F0502020204030204" pitchFamily="34" charset="0"/>
              </a:rPr>
              <a:t>Acute painful DM neuropathy</a:t>
            </a:r>
          </a:p>
          <a:p>
            <a:pPr marL="228363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4200" b="1" dirty="0">
                <a:latin typeface="Calibri" panose="020F0502020204030204" pitchFamily="34" charset="0"/>
                <a:cs typeface="Calibri" panose="020F0502020204030204" pitchFamily="34" charset="0"/>
              </a:rPr>
              <a:t>Autonomic neuropathy</a:t>
            </a:r>
          </a:p>
          <a:p>
            <a:pPr marL="228363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5563" lvl="1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sz="2812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5563" lvl="1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68440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404"/>
          <p:cNvSpPr>
            <a:spLocks noGrp="1"/>
          </p:cNvSpPr>
          <p:nvPr>
            <p:ph type="title" idx="4294967295"/>
          </p:nvPr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Neuropathy</a:t>
            </a:r>
            <a:endParaRPr sz="4400" dirty="0">
              <a:latin typeface="+mj-lt"/>
            </a:endParaRPr>
          </a:p>
        </p:txBody>
      </p:sp>
      <p:sp>
        <p:nvSpPr>
          <p:cNvPr id="405" name="Shape 405"/>
          <p:cNvSpPr>
            <a:spLocks noGrp="1"/>
          </p:cNvSpPr>
          <p:nvPr>
            <p:ph type="body" idx="4294967295"/>
          </p:nvPr>
        </p:nvSpPr>
        <p:spPr>
          <a:xfrm>
            <a:off x="408792" y="1339453"/>
            <a:ext cx="11058860" cy="5357813"/>
          </a:xfrm>
          <a:prstGeom prst="rect">
            <a:avLst/>
          </a:prstGeom>
        </p:spPr>
        <p:txBody>
          <a:bodyPr vert="horz" lIns="50799" tIns="50799" rIns="50799" bIns="50799" rtlCol="0">
            <a:normAutofit fontScale="92500" lnSpcReduction="10000"/>
          </a:bodyPr>
          <a:lstStyle/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Screening for DM neuropathy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is performed annually and begins at:</a:t>
            </a:r>
          </a:p>
          <a:p>
            <a:pPr marL="1065943" lvl="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5 years after diagnosis of T1DM</a:t>
            </a:r>
          </a:p>
          <a:p>
            <a:pPr marL="1065943" lvl="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At the time of diagnosis in T2DM</a:t>
            </a:r>
          </a:p>
          <a:p>
            <a:pPr marL="1065943" lvl="4" indent="-342664" defTabSz="914144">
              <a:spcBef>
                <a:spcPts val="492"/>
              </a:spcBef>
              <a:defRPr sz="2000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Screening involves a thorough assessment of the feet looking for DM ulcers, skin temp and pulses.  Then a </a:t>
            </a:r>
            <a:r>
              <a:rPr b="1" u="sng" dirty="0">
                <a:latin typeface="Calibri" panose="020F0502020204030204" pitchFamily="34" charset="0"/>
                <a:cs typeface="Calibri" panose="020F0502020204030204" pitchFamily="34" charset="0"/>
              </a:rPr>
              <a:t>monofilament exam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, as well as assessing for vibratory, touch, heat, cold and pinprick sensation.  Ankle reflexes are tested.</a:t>
            </a:r>
          </a:p>
        </p:txBody>
      </p:sp>
    </p:spTree>
    <p:extLst>
      <p:ext uri="{BB962C8B-B14F-4D97-AF65-F5344CB8AC3E}">
        <p14:creationId xmlns:p14="http://schemas.microsoft.com/office/powerpoint/2010/main" val="738282930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Shape 527"/>
          <p:cNvSpPr>
            <a:spLocks noGrp="1"/>
          </p:cNvSpPr>
          <p:nvPr>
            <p:ph type="body" idx="4294967295"/>
          </p:nvPr>
        </p:nvSpPr>
        <p:spPr>
          <a:xfrm>
            <a:off x="893618" y="1125141"/>
            <a:ext cx="10266218" cy="5416609"/>
          </a:xfrm>
          <a:prstGeom prst="rect">
            <a:avLst/>
          </a:prstGeom>
        </p:spPr>
        <p:txBody>
          <a:bodyPr vert="horz" lIns="35719" tIns="35719" rIns="35719" bIns="35719" rtlCol="0" anchor="ctr">
            <a:normAutofit/>
          </a:bodyPr>
          <a:lstStyle/>
          <a:p>
            <a:pPr marL="0" indent="0">
              <a:buNone/>
              <a:defRPr sz="4400"/>
            </a:pPr>
            <a:r>
              <a:rPr lang="en-US" dirty="0">
                <a:latin typeface="Calibri"/>
                <a:ea typeface="Calibri"/>
                <a:cs typeface="Calibri"/>
              </a:rPr>
              <a:t>Diabetic Foot Exams:</a:t>
            </a:r>
          </a:p>
          <a:p>
            <a:pPr lvl="1">
              <a:defRPr sz="4400"/>
            </a:pPr>
            <a:r>
              <a:rPr lang="en-US" sz="2800" dirty="0">
                <a:latin typeface="Arial"/>
                <a:ea typeface="Calibri"/>
                <a:cs typeface="Arial"/>
              </a:rPr>
              <a:t>Inspect skin and assess deformities</a:t>
            </a:r>
            <a:endParaRPr sz="2800" dirty="0"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  <a:defRPr sz="4400"/>
            </a:pPr>
            <a:r>
              <a:rPr lang="en-US" sz="2800" dirty="0">
                <a:latin typeface="Arial"/>
                <a:ea typeface="Calibri"/>
                <a:cs typeface="Arial"/>
              </a:rPr>
              <a:t>Assess neurologic function/loss of protective sensation</a:t>
            </a:r>
            <a:endParaRPr lang="en-US" sz="2800" dirty="0"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  <a:defRPr sz="4400"/>
            </a:pPr>
            <a:r>
              <a:rPr lang="en-US" sz="2800" b="1" dirty="0">
                <a:latin typeface="Arial"/>
                <a:ea typeface="Calibri"/>
                <a:cs typeface="Arial"/>
              </a:rPr>
              <a:t>10-g monofilament + at least one additional sensory assessment</a:t>
            </a:r>
            <a:endParaRPr sz="2800" dirty="0"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  <a:defRPr sz="4400"/>
            </a:pPr>
            <a:r>
              <a:rPr lang="en-US" sz="2800" dirty="0">
                <a:latin typeface="Arial"/>
                <a:ea typeface="Calibri"/>
                <a:cs typeface="Arial"/>
              </a:rPr>
              <a:t>Palpate lower-extremity pulses</a:t>
            </a:r>
          </a:p>
          <a:p>
            <a:pPr lvl="1">
              <a:buFont typeface="Arial" panose="020B0604020202020204" pitchFamily="34" charset="0"/>
              <a:buChar char="•"/>
              <a:defRPr sz="4400"/>
            </a:pPr>
            <a:r>
              <a:rPr lang="en-US" sz="2800" b="1" dirty="0">
                <a:latin typeface="Arial"/>
                <a:ea typeface="Calibri"/>
                <a:cs typeface="Arial"/>
              </a:rPr>
              <a:t>Inspect feet at every visit in patients with sensory loss or prior ulcer/amputation.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  <a:defRPr sz="4400"/>
            </a:pPr>
            <a:endParaRPr/>
          </a:p>
        </p:txBody>
      </p:sp>
      <p:sp>
        <p:nvSpPr>
          <p:cNvPr id="4" name="Shape 404">
            <a:extLst>
              <a:ext uri="{FF2B5EF4-FFF2-40B4-BE49-F238E27FC236}">
                <a16:creationId xmlns:a16="http://schemas.microsoft.com/office/drawing/2014/main" id="{24EE9CD2-2B68-403E-A0D9-33647FB991F1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/>
              <a:t>Microvascular: Neuropathy</a:t>
            </a:r>
            <a:endParaRPr lang="en-US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80704031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315" y="1493491"/>
            <a:ext cx="5316513" cy="5203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703" y="1607344"/>
            <a:ext cx="2143125" cy="2581796"/>
          </a:xfrm>
          <a:prstGeom prst="rect">
            <a:avLst/>
          </a:prstGeom>
          <a:ln w="12700">
            <a:miter lim="400000"/>
          </a:ln>
        </p:spPr>
      </p:pic>
      <p:sp>
        <p:nvSpPr>
          <p:cNvPr id="447" name="Shape 447"/>
          <p:cNvSpPr/>
          <p:nvPr/>
        </p:nvSpPr>
        <p:spPr>
          <a:xfrm>
            <a:off x="7113984" y="5036344"/>
            <a:ext cx="3051571" cy="481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2146" rIns="32146">
            <a:spAutoFit/>
          </a:bodyPr>
          <a:lstStyle>
            <a:lvl1pPr defTabSz="457200">
              <a:defRPr sz="1800"/>
            </a:lvl1pPr>
          </a:lstStyle>
          <a:p>
            <a:pPr>
              <a:buNone/>
            </a:pPr>
            <a:r>
              <a:rPr sz="2531" dirty="0"/>
              <a:t>Done every 12 months</a:t>
            </a:r>
          </a:p>
        </p:txBody>
      </p:sp>
      <p:sp>
        <p:nvSpPr>
          <p:cNvPr id="6" name="Shape 404">
            <a:extLst>
              <a:ext uri="{FF2B5EF4-FFF2-40B4-BE49-F238E27FC236}">
                <a16:creationId xmlns:a16="http://schemas.microsoft.com/office/drawing/2014/main" id="{773A1D34-AE47-487F-BC7B-FCEDD5780D9B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/>
              <a:t>Microvascular: Neuropathy</a:t>
            </a:r>
            <a:endParaRPr lang="en-US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07361579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Shape 408"/>
          <p:cNvSpPr>
            <a:spLocks noGrp="1"/>
          </p:cNvSpPr>
          <p:nvPr>
            <p:ph type="body" idx="4294967295"/>
          </p:nvPr>
        </p:nvSpPr>
        <p:spPr>
          <a:xfrm>
            <a:off x="408791" y="1178719"/>
            <a:ext cx="11317044" cy="5602263"/>
          </a:xfrm>
          <a:prstGeom prst="rect">
            <a:avLst/>
          </a:prstGeom>
        </p:spPr>
        <p:txBody>
          <a:bodyPr vert="horz" lIns="50799" tIns="50799" rIns="50799" bIns="50799" rtlCol="0">
            <a:normAutofit fontScale="85000" lnSpcReduction="20000"/>
          </a:bodyPr>
          <a:lstStyle/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45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Caucasian female with poorly controlled DM II for 15 years</a:t>
            </a: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She comes in for the first time in six months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endParaRPr sz="3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She has gradually noticed that both of her feet seem to be going numb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in the past six months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She now presents with </a:t>
            </a:r>
          </a:p>
          <a:p>
            <a:pPr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several blisters that began </a:t>
            </a:r>
          </a:p>
          <a:p>
            <a:pPr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yesterday when she wore </a:t>
            </a:r>
          </a:p>
          <a:p>
            <a:pPr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 new pair of heels to </a:t>
            </a:r>
          </a:p>
          <a:p>
            <a:pPr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work all day</a:t>
            </a:r>
          </a:p>
        </p:txBody>
      </p:sp>
      <p:pic>
        <p:nvPicPr>
          <p:cNvPr id="409" name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203" y="3696891"/>
            <a:ext cx="4009430" cy="3007072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404">
            <a:extLst>
              <a:ext uri="{FF2B5EF4-FFF2-40B4-BE49-F238E27FC236}">
                <a16:creationId xmlns:a16="http://schemas.microsoft.com/office/drawing/2014/main" id="{B1828F26-854F-47E7-B463-532A05E6DDD6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 fontScale="92500"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Distal symmetric poly neuropathy</a:t>
            </a:r>
          </a:p>
        </p:txBody>
      </p:sp>
    </p:spTree>
    <p:extLst>
      <p:ext uri="{BB962C8B-B14F-4D97-AF65-F5344CB8AC3E}">
        <p14:creationId xmlns:p14="http://schemas.microsoft.com/office/powerpoint/2010/main" val="165028783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>
            <a:spLocks noGrp="1"/>
          </p:cNvSpPr>
          <p:nvPr>
            <p:ph type="body" idx="4294967295"/>
          </p:nvPr>
        </p:nvSpPr>
        <p:spPr>
          <a:xfrm>
            <a:off x="408792" y="1753496"/>
            <a:ext cx="8896607" cy="5027486"/>
          </a:xfrm>
          <a:prstGeom prst="rect">
            <a:avLst/>
          </a:prstGeom>
        </p:spPr>
        <p:txBody>
          <a:bodyPr vert="horz" lIns="50799" tIns="50799" rIns="50799" bIns="50799" rtlCol="0">
            <a:normAutofit/>
          </a:bodyPr>
          <a:lstStyle/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dirty="0">
                <a:latin typeface="Calibri" panose="020F0502020204030204" pitchFamily="34" charset="0"/>
              </a:rPr>
              <a:t>MC form</a:t>
            </a:r>
            <a:r>
              <a:rPr sz="4000" b="1" dirty="0">
                <a:latin typeface="Calibri" panose="020F0502020204030204" pitchFamily="34" charset="0"/>
              </a:rPr>
              <a:t> DM neuropathy</a:t>
            </a:r>
          </a:p>
          <a:p>
            <a:pPr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sz="4000" dirty="0">
              <a:latin typeface="Calibri" panose="020F0502020204030204" pitchFamily="34" charset="0"/>
            </a:endParaRPr>
          </a:p>
          <a:p>
            <a:pPr marL="170774" indent="-17077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4000" dirty="0">
                <a:latin typeface="Calibri" panose="020F0502020204030204" pitchFamily="34" charset="0"/>
              </a:rPr>
              <a:t>Presents in a </a:t>
            </a:r>
            <a:r>
              <a:rPr sz="4000" b="1" dirty="0">
                <a:latin typeface="Calibri" panose="020F0502020204030204" pitchFamily="34" charset="0"/>
              </a:rPr>
              <a:t>stocking- glove </a:t>
            </a:r>
            <a:r>
              <a:rPr sz="4000" dirty="0">
                <a:latin typeface="Calibri" panose="020F0502020204030204" pitchFamily="34" charset="0"/>
              </a:rPr>
              <a:t>pattern</a:t>
            </a:r>
            <a:r>
              <a:rPr sz="4000" b="0" dirty="0">
                <a:latin typeface="Calibri" panose="020F0502020204030204" pitchFamily="34" charset="0"/>
              </a:rPr>
              <a:t> and is due to an axonal </a:t>
            </a:r>
            <a:r>
              <a:rPr sz="4000" dirty="0">
                <a:latin typeface="Calibri" panose="020F0502020204030204" pitchFamily="34" charset="0"/>
              </a:rPr>
              <a:t>neuropathic process</a:t>
            </a:r>
          </a:p>
          <a:p>
            <a:pPr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sz="4000" dirty="0">
              <a:latin typeface="Calibri" panose="020F0502020204030204" pitchFamily="34" charset="0"/>
            </a:endParaRPr>
          </a:p>
          <a:p>
            <a:pPr marL="170774" indent="-17077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4000" dirty="0">
                <a:latin typeface="Calibri" panose="020F0502020204030204" pitchFamily="34" charset="0"/>
              </a:rPr>
              <a:t>Sensory involvement occurs first with </a:t>
            </a:r>
            <a:r>
              <a:rPr lang="en-US" sz="4000" dirty="0">
                <a:latin typeface="Calibri" panose="020F0502020204030204" pitchFamily="34" charset="0"/>
              </a:rPr>
              <a:t>d</a:t>
            </a:r>
            <a:r>
              <a:rPr sz="4000" dirty="0">
                <a:latin typeface="Calibri" panose="020F0502020204030204" pitchFamily="34" charset="0"/>
              </a:rPr>
              <a:t>ulled perception of vibration, pain and temperature.</a:t>
            </a:r>
          </a:p>
        </p:txBody>
      </p:sp>
      <p:pic>
        <p:nvPicPr>
          <p:cNvPr id="413" name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399" y="1889745"/>
            <a:ext cx="2597423" cy="4763989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404">
            <a:extLst>
              <a:ext uri="{FF2B5EF4-FFF2-40B4-BE49-F238E27FC236}">
                <a16:creationId xmlns:a16="http://schemas.microsoft.com/office/drawing/2014/main" id="{E6B7676F-8DCE-4750-B10D-A07A576FBB8D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 fontScale="92500"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Distal symmetric poly neuropathy</a:t>
            </a:r>
          </a:p>
        </p:txBody>
      </p:sp>
    </p:spTree>
    <p:extLst>
      <p:ext uri="{BB962C8B-B14F-4D97-AF65-F5344CB8AC3E}">
        <p14:creationId xmlns:p14="http://schemas.microsoft.com/office/powerpoint/2010/main" val="1237367604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416"/>
          <p:cNvSpPr>
            <a:spLocks noGrp="1"/>
          </p:cNvSpPr>
          <p:nvPr>
            <p:ph type="body" idx="4294967295"/>
          </p:nvPr>
        </p:nvSpPr>
        <p:spPr>
          <a:xfrm>
            <a:off x="527126" y="1232297"/>
            <a:ext cx="11101890" cy="5548685"/>
          </a:xfrm>
          <a:prstGeom prst="rect">
            <a:avLst/>
          </a:prstGeom>
        </p:spPr>
        <p:txBody>
          <a:bodyPr vert="horz" lIns="50799" tIns="50799" rIns="50799" bIns="50799" rtlCol="0">
            <a:normAutofit/>
          </a:bodyPr>
          <a:lstStyle/>
          <a:p>
            <a:pPr marL="200911" indent="-200911" defTabSz="914144">
              <a:spcBef>
                <a:spcPts val="492"/>
              </a:spcBef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Progressive disease leads to denervation of the small muscles of the foot.  This results in clawing of the toes and fat pad displacement.</a:t>
            </a:r>
          </a:p>
          <a:p>
            <a:pPr defTabSz="914144">
              <a:spcBef>
                <a:spcPts val="492"/>
              </a:spcBef>
              <a:defRPr sz="4400">
                <a:latin typeface="Arial"/>
                <a:ea typeface="Arial"/>
                <a:cs typeface="Arial"/>
                <a:sym typeface="Arial"/>
              </a:defRPr>
            </a:pPr>
            <a:endParaRPr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0911" indent="-200911" defTabSz="914144">
              <a:spcBef>
                <a:spcPts val="492"/>
              </a:spcBef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These changes </a:t>
            </a:r>
            <a:r>
              <a:rPr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alter the biomechanics</a:t>
            </a: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 of the foot and </a:t>
            </a:r>
            <a:r>
              <a:rPr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increase plantar pressures</a:t>
            </a:r>
          </a:p>
          <a:p>
            <a:pPr defTabSz="914144">
              <a:spcBef>
                <a:spcPts val="492"/>
              </a:spcBef>
              <a:defRPr sz="4400">
                <a:latin typeface="Arial"/>
                <a:ea typeface="Arial"/>
                <a:cs typeface="Arial"/>
                <a:sym typeface="Arial"/>
              </a:defRPr>
            </a:pPr>
            <a:endParaRPr sz="3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0911" indent="-200911" defTabSz="914144">
              <a:spcBef>
                <a:spcPts val="492"/>
              </a:spcBef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Decreased pain threshold, abnormally high foot pressures and repetitive stress leads to calluses/ ulcerations of high pressure areas.</a:t>
            </a:r>
          </a:p>
        </p:txBody>
      </p:sp>
      <p:sp>
        <p:nvSpPr>
          <p:cNvPr id="4" name="Shape 404">
            <a:extLst>
              <a:ext uri="{FF2B5EF4-FFF2-40B4-BE49-F238E27FC236}">
                <a16:creationId xmlns:a16="http://schemas.microsoft.com/office/drawing/2014/main" id="{DFC49A6A-98E5-4538-9F20-12EB73DCC485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 fontScale="92500"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Distal symmetric poly neuropathy</a:t>
            </a:r>
          </a:p>
        </p:txBody>
      </p:sp>
    </p:spTree>
    <p:extLst>
      <p:ext uri="{BB962C8B-B14F-4D97-AF65-F5344CB8AC3E}">
        <p14:creationId xmlns:p14="http://schemas.microsoft.com/office/powerpoint/2010/main" val="205682880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DM neuro.jpeg" descr="DM neu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04725"/>
            <a:ext cx="9144000" cy="624743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10976137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Shape 421"/>
          <p:cNvSpPr>
            <a:spLocks noGrp="1"/>
          </p:cNvSpPr>
          <p:nvPr>
            <p:ph type="body" idx="4294967295"/>
          </p:nvPr>
        </p:nvSpPr>
        <p:spPr>
          <a:xfrm>
            <a:off x="247427" y="1252389"/>
            <a:ext cx="11478408" cy="5528593"/>
          </a:xfrm>
          <a:prstGeom prst="rect">
            <a:avLst/>
          </a:prstGeom>
        </p:spPr>
        <p:txBody>
          <a:bodyPr vert="horz" lIns="50799" tIns="50799" rIns="50799" bIns="50799" rtlCol="0">
            <a:normAutofit lnSpcReduction="10000"/>
          </a:bodyPr>
          <a:lstStyle/>
          <a:p>
            <a:pPr marL="0" indent="0" defTabSz="914144">
              <a:spcBef>
                <a:spcPts val="492"/>
              </a:spcBef>
              <a:buNone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Charcot’s foot</a:t>
            </a:r>
            <a:r>
              <a:rPr sz="3600" b="0" dirty="0">
                <a:latin typeface="Calibri" panose="020F0502020204030204" pitchFamily="34" charset="0"/>
                <a:cs typeface="Calibri" panose="020F0502020204030204" pitchFamily="34" charset="0"/>
              </a:rPr>
              <a:t>: a further progression </a:t>
            </a:r>
            <a:endParaRPr lang="en-US" sz="36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4623" indent="-284623" defTabSz="914144">
              <a:spcBef>
                <a:spcPts val="492"/>
              </a:spcBef>
              <a:defRPr sz="4500" b="1">
                <a:latin typeface="Arial"/>
                <a:ea typeface="Arial"/>
                <a:cs typeface="Arial"/>
                <a:sym typeface="Arial"/>
              </a:defRPr>
            </a:pPr>
            <a:endParaRPr sz="36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4623" indent="-284623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Pain and swelling of the soft tissues with joint subluxation and periarticular fractures</a:t>
            </a:r>
          </a:p>
          <a:p>
            <a:pPr marL="284623" indent="-284623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If untreated, progresses to a “rocker-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bottom” deformity with frank 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osteoclastic destruction, with unstable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joints, particularly of the midfoot</a:t>
            </a:r>
          </a:p>
          <a:p>
            <a:pPr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 Pts are at high risk of infections</a:t>
            </a:r>
          </a:p>
        </p:txBody>
      </p:sp>
      <p:sp>
        <p:nvSpPr>
          <p:cNvPr id="5" name="Shape 404">
            <a:extLst>
              <a:ext uri="{FF2B5EF4-FFF2-40B4-BE49-F238E27FC236}">
                <a16:creationId xmlns:a16="http://schemas.microsoft.com/office/drawing/2014/main" id="{F90180CC-6682-4822-9228-2CCF778D0BE6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 fontScale="92500"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Distal symmetric poly neuropathy</a:t>
            </a:r>
          </a:p>
        </p:txBody>
      </p:sp>
      <p:pic>
        <p:nvPicPr>
          <p:cNvPr id="6" name="Picture 2" descr="Charcot Foot; Symptoms, Causes, Diagnosis, Treatment &amp; Management">
            <a:extLst>
              <a:ext uri="{FF2B5EF4-FFF2-40B4-BE49-F238E27FC236}">
                <a16:creationId xmlns:a16="http://schemas.microsoft.com/office/drawing/2014/main" id="{0FFEA2DE-E947-42EE-AAD7-2E073DE03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992" y="3539307"/>
            <a:ext cx="3968629" cy="321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13183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Charcot.jpg" descr="Charc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628" y="380627"/>
            <a:ext cx="8763372" cy="62485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44620774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charcots.jpg" descr="charco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9632480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Shape 428"/>
          <p:cNvSpPr>
            <a:spLocks noGrp="1"/>
          </p:cNvSpPr>
          <p:nvPr>
            <p:ph type="body" idx="4294967295"/>
          </p:nvPr>
        </p:nvSpPr>
        <p:spPr>
          <a:xfrm>
            <a:off x="236668" y="1178719"/>
            <a:ext cx="6712771" cy="5526361"/>
          </a:xfrm>
          <a:prstGeom prst="rect">
            <a:avLst/>
          </a:prstGeom>
        </p:spPr>
        <p:txBody>
          <a:bodyPr vert="horz" lIns="50799" tIns="50799" rIns="50799" bIns="50799" rtlCol="0">
            <a:normAutofit/>
          </a:bodyPr>
          <a:lstStyle/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Protecting the Feet:</a:t>
            </a: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Appropriate footwear distributing the weight load over as large an area as possible</a:t>
            </a:r>
          </a:p>
          <a:p>
            <a:pPr marL="342664" indent="-342664" defTabSz="914144">
              <a:spcBef>
                <a:spcPts val="492"/>
              </a:spcBef>
              <a:defRPr sz="1000">
                <a:latin typeface="Arial"/>
                <a:ea typeface="Arial"/>
                <a:cs typeface="Arial"/>
                <a:sym typeface="Arial"/>
              </a:defRPr>
            </a:pP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Daily foot inspection for reddened areas, blisters, abrasions or lacerations</a:t>
            </a:r>
          </a:p>
          <a:p>
            <a:pPr marL="342664" indent="-342664" defTabSz="914144">
              <a:spcBef>
                <a:spcPts val="492"/>
              </a:spcBef>
              <a:defRPr sz="1000">
                <a:latin typeface="Arial"/>
                <a:ea typeface="Arial"/>
                <a:cs typeface="Arial"/>
                <a:sym typeface="Arial"/>
              </a:defRPr>
            </a:pP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Meticulous hygiene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6B0819-888E-4D0F-BD92-677DA4EFC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676" y="1017984"/>
            <a:ext cx="4544911" cy="5431569"/>
          </a:xfrm>
          <a:prstGeom prst="rect">
            <a:avLst/>
          </a:prstGeom>
        </p:spPr>
      </p:pic>
      <p:sp>
        <p:nvSpPr>
          <p:cNvPr id="6" name="Shape 404">
            <a:extLst>
              <a:ext uri="{FF2B5EF4-FFF2-40B4-BE49-F238E27FC236}">
                <a16:creationId xmlns:a16="http://schemas.microsoft.com/office/drawing/2014/main" id="{24F40118-5027-4143-B4C5-BAC1129F2B40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 fontScale="92500"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Distal symmetric poly neuropathy</a:t>
            </a:r>
          </a:p>
        </p:txBody>
      </p:sp>
    </p:spTree>
    <p:extLst>
      <p:ext uri="{BB962C8B-B14F-4D97-AF65-F5344CB8AC3E}">
        <p14:creationId xmlns:p14="http://schemas.microsoft.com/office/powerpoint/2010/main" val="1633330347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467"/>
          <p:cNvSpPr>
            <a:spLocks noGrp="1"/>
          </p:cNvSpPr>
          <p:nvPr>
            <p:ph type="body" idx="4294967295"/>
          </p:nvPr>
        </p:nvSpPr>
        <p:spPr>
          <a:xfrm>
            <a:off x="1075766" y="1339454"/>
            <a:ext cx="10327340" cy="5365626"/>
          </a:xfrm>
          <a:prstGeom prst="rect">
            <a:avLst/>
          </a:prstGeom>
        </p:spPr>
        <p:txBody>
          <a:bodyPr vert="horz" lIns="50799" tIns="50799" rIns="50799" bIns="50799" rtlCol="0">
            <a:normAutofit/>
          </a:bodyPr>
          <a:lstStyle/>
          <a:p>
            <a:pPr marL="205376" indent="-205376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There are NO effective treatments to reverse DM neuropathy once it is present</a:t>
            </a:r>
          </a:p>
          <a:p>
            <a:pPr marL="205376" indent="-205376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5376" indent="-205376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Better glycemic control, lipid and HTN control may prevent progression</a:t>
            </a:r>
          </a:p>
          <a:p>
            <a:pPr marL="205376" indent="-205376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5376" indent="-205376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Aggressive protection of feet, therapy/ strengthening exercises and surgical correction of deformities cause by neuropathy may be helpful.</a:t>
            </a:r>
          </a:p>
        </p:txBody>
      </p:sp>
      <p:sp>
        <p:nvSpPr>
          <p:cNvPr id="4" name="Shape 404">
            <a:extLst>
              <a:ext uri="{FF2B5EF4-FFF2-40B4-BE49-F238E27FC236}">
                <a16:creationId xmlns:a16="http://schemas.microsoft.com/office/drawing/2014/main" id="{CCAA72CE-D738-4170-BD19-549F89A56499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 fontScale="92500"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Distal symmetric poly neuropathy</a:t>
            </a:r>
          </a:p>
        </p:txBody>
      </p:sp>
    </p:spTree>
    <p:extLst>
      <p:ext uri="{BB962C8B-B14F-4D97-AF65-F5344CB8AC3E}">
        <p14:creationId xmlns:p14="http://schemas.microsoft.com/office/powerpoint/2010/main" val="647966773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450"/>
          <p:cNvSpPr>
            <a:spLocks noGrp="1"/>
          </p:cNvSpPr>
          <p:nvPr>
            <p:ph type="body" idx="4294967295"/>
          </p:nvPr>
        </p:nvSpPr>
        <p:spPr>
          <a:xfrm>
            <a:off x="505609" y="1178719"/>
            <a:ext cx="11220226" cy="5526361"/>
          </a:xfrm>
          <a:prstGeom prst="rect">
            <a:avLst/>
          </a:prstGeom>
        </p:spPr>
        <p:txBody>
          <a:bodyPr vert="horz" lIns="50799" tIns="50799" rIns="50799" bIns="50799" rtlCol="0">
            <a:normAutofit/>
          </a:bodyPr>
          <a:lstStyle/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55 </a:t>
            </a:r>
            <a:r>
              <a:rPr lang="en-U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yo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female </a:t>
            </a: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reports the abrupt onset of HA and blurred vision four weeks ago.  She was on a cruise and her sugars had been running high due to poor adherence to her diet.</a:t>
            </a: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Examination by the ship’s doctor revealed PERRLA but some left sided weakness of extra-ocular movements.  Otherwise no other focal abnormalities.  Neuroimaging was negative for TIA or CVA  The previous exam findings seem unchanged at this time.</a:t>
            </a:r>
          </a:p>
        </p:txBody>
      </p:sp>
      <p:sp>
        <p:nvSpPr>
          <p:cNvPr id="4" name="Shape 404">
            <a:extLst>
              <a:ext uri="{FF2B5EF4-FFF2-40B4-BE49-F238E27FC236}">
                <a16:creationId xmlns:a16="http://schemas.microsoft.com/office/drawing/2014/main" id="{FEB58D7C-C336-4C43-9A5B-47CE4DB70026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Isolated peripheral neuropathy</a:t>
            </a:r>
          </a:p>
        </p:txBody>
      </p:sp>
    </p:spTree>
    <p:extLst>
      <p:ext uri="{BB962C8B-B14F-4D97-AF65-F5344CB8AC3E}">
        <p14:creationId xmlns:p14="http://schemas.microsoft.com/office/powerpoint/2010/main" val="1616302998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Shape 453"/>
          <p:cNvSpPr>
            <a:spLocks noGrp="1"/>
          </p:cNvSpPr>
          <p:nvPr>
            <p:ph type="body" idx="4294967295"/>
          </p:nvPr>
        </p:nvSpPr>
        <p:spPr>
          <a:xfrm>
            <a:off x="613186" y="1218903"/>
            <a:ext cx="11015830" cy="5486177"/>
          </a:xfrm>
          <a:prstGeom prst="rect">
            <a:avLst/>
          </a:prstGeom>
        </p:spPr>
        <p:txBody>
          <a:bodyPr vert="horz" lIns="50799" tIns="50799" rIns="50799" bIns="50799" rtlCol="0">
            <a:noAutofit/>
          </a:bodyPr>
          <a:lstStyle/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Involves either:</a:t>
            </a:r>
          </a:p>
          <a:p>
            <a:pPr marL="607197" lvl="1" indent="-285740" defTabSz="914144">
              <a:spcBef>
                <a:spcPts val="42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one nerve (mononeuropathy) </a:t>
            </a:r>
            <a:r>
              <a:rPr sz="3600" u="sng" dirty="0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607197" lvl="1" indent="-285740" defTabSz="914144">
              <a:spcBef>
                <a:spcPts val="42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multiple nerves in one area (mononeuropathy multiplex)</a:t>
            </a:r>
          </a:p>
          <a:p>
            <a:pPr marL="227699" indent="-227699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Characterized by the </a:t>
            </a:r>
            <a:r>
              <a:rPr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sudden loss of function </a:t>
            </a: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of the nerve, with </a:t>
            </a:r>
            <a:r>
              <a:rPr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subsequent slow recovery of all or most function </a:t>
            </a:r>
            <a:endParaRPr lang="en-US" sz="3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7699" indent="-227699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sz="3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7699" indent="-227699" defTabSz="914144">
              <a:spcBef>
                <a:spcPts val="492"/>
              </a:spcBef>
              <a:buFont typeface="Arial"/>
              <a:buChar char="•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Causes of isolated peripheral neuropathy include vascular ischemia and traumatic damage</a:t>
            </a:r>
          </a:p>
        </p:txBody>
      </p:sp>
      <p:sp>
        <p:nvSpPr>
          <p:cNvPr id="4" name="Shape 404">
            <a:extLst>
              <a:ext uri="{FF2B5EF4-FFF2-40B4-BE49-F238E27FC236}">
                <a16:creationId xmlns:a16="http://schemas.microsoft.com/office/drawing/2014/main" id="{49FF4F81-F56A-4A45-ACC8-1BAE9E2CF38B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Isolated peripheral neuropathy</a:t>
            </a:r>
          </a:p>
        </p:txBody>
      </p:sp>
    </p:spTree>
    <p:extLst>
      <p:ext uri="{BB962C8B-B14F-4D97-AF65-F5344CB8AC3E}">
        <p14:creationId xmlns:p14="http://schemas.microsoft.com/office/powerpoint/2010/main" val="1683836483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456"/>
          <p:cNvSpPr>
            <a:spLocks noGrp="1"/>
          </p:cNvSpPr>
          <p:nvPr>
            <p:ph type="body" idx="4294967295"/>
          </p:nvPr>
        </p:nvSpPr>
        <p:spPr>
          <a:xfrm>
            <a:off x="408791" y="1393032"/>
            <a:ext cx="11134164" cy="5312048"/>
          </a:xfrm>
          <a:prstGeom prst="rect">
            <a:avLst/>
          </a:prstGeom>
        </p:spPr>
        <p:txBody>
          <a:bodyPr vert="horz" lIns="50799" tIns="50799" rIns="50799" bIns="50799" rtlCol="0">
            <a:normAutofit fontScale="92500" lnSpcReduction="20000"/>
          </a:bodyPr>
          <a:lstStyle/>
          <a:p>
            <a:pPr marL="401822" indent="-401822" defTabSz="914144">
              <a:spcBef>
                <a:spcPts val="492"/>
              </a:spcBef>
              <a:defRPr sz="4400" b="1" i="1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Cranial/ femoral nerves frequently involved</a:t>
            </a:r>
            <a:r>
              <a:rPr b="0" i="0" dirty="0">
                <a:latin typeface="Calibri" panose="020F0502020204030204" pitchFamily="34" charset="0"/>
                <a:cs typeface="Calibri" panose="020F0502020204030204" pitchFamily="34" charset="0"/>
              </a:rPr>
              <a:t>, and there is a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predominance of motor abnormalities</a:t>
            </a:r>
          </a:p>
          <a:p>
            <a:pPr defTabSz="914144">
              <a:spcBef>
                <a:spcPts val="492"/>
              </a:spcBef>
              <a:defRPr sz="4400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0911" indent="-200911" defTabSz="914144">
              <a:spcBef>
                <a:spcPts val="492"/>
              </a:spcBef>
              <a:defRPr sz="4400"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0911" indent="-200911" defTabSz="914144">
              <a:spcBef>
                <a:spcPts val="492"/>
              </a:spcBef>
              <a:defRPr sz="4400"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0911" indent="-200911" defTabSz="914144">
              <a:spcBef>
                <a:spcPts val="492"/>
              </a:spcBef>
              <a:defRPr sz="4400"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0911" indent="-200911" defTabSz="914144">
              <a:spcBef>
                <a:spcPts val="492"/>
              </a:spcBef>
              <a:defRPr sz="4400"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0911" indent="-200911" defTabSz="914144">
              <a:spcBef>
                <a:spcPts val="492"/>
              </a:spcBef>
              <a:defRPr sz="4400"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0911" indent="-200911" defTabSz="914144">
              <a:spcBef>
                <a:spcPts val="492"/>
              </a:spcBef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Treatment includes analgesics and improved DM control.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0911" indent="-200911" defTabSz="914144">
              <a:spcBef>
                <a:spcPts val="492"/>
              </a:spcBef>
              <a:defRPr sz="4400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4CF3D3-05DF-8848-BA0E-3A0DBA111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658" y="2786062"/>
            <a:ext cx="8746547" cy="2183309"/>
          </a:xfrm>
          <a:prstGeom prst="rect">
            <a:avLst/>
          </a:prstGeom>
        </p:spPr>
      </p:pic>
      <p:sp>
        <p:nvSpPr>
          <p:cNvPr id="5" name="Shape 404">
            <a:extLst>
              <a:ext uri="{FF2B5EF4-FFF2-40B4-BE49-F238E27FC236}">
                <a16:creationId xmlns:a16="http://schemas.microsoft.com/office/drawing/2014/main" id="{1A948893-A9C5-428E-A20B-CD6888CB1AB2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Isolated peripheral neuropathy</a:t>
            </a:r>
          </a:p>
        </p:txBody>
      </p:sp>
    </p:spTree>
    <p:extLst>
      <p:ext uri="{BB962C8B-B14F-4D97-AF65-F5344CB8AC3E}">
        <p14:creationId xmlns:p14="http://schemas.microsoft.com/office/powerpoint/2010/main" val="700269615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459"/>
          <p:cNvSpPr>
            <a:spLocks noGrp="1"/>
          </p:cNvSpPr>
          <p:nvPr>
            <p:ph type="body" idx="4294967295"/>
          </p:nvPr>
        </p:nvSpPr>
        <p:spPr>
          <a:xfrm>
            <a:off x="742278" y="1441525"/>
            <a:ext cx="10639313" cy="5263555"/>
          </a:xfrm>
          <a:prstGeom prst="rect">
            <a:avLst/>
          </a:prstGeom>
        </p:spPr>
        <p:txBody>
          <a:bodyPr vert="horz" lIns="50799" tIns="50799" rIns="50799" bIns="50799" rtlCol="0">
            <a:normAutofit fontScale="92500" lnSpcReduction="20000"/>
          </a:bodyPr>
          <a:lstStyle/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64 year old Caucasian man with Type II DM for 20 years.</a:t>
            </a: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He states that for the past year he has had progressively worsening burning pain to his feet at night.  Lately the pain has become so severe that he has rigged up a tent-like support structure for his bedding so that it does not contact his feet.  He confides that he has not had a full night’s sleep in the past six months.</a:t>
            </a:r>
          </a:p>
        </p:txBody>
      </p:sp>
      <p:sp>
        <p:nvSpPr>
          <p:cNvPr id="4" name="Shape 404">
            <a:extLst>
              <a:ext uri="{FF2B5EF4-FFF2-40B4-BE49-F238E27FC236}">
                <a16:creationId xmlns:a16="http://schemas.microsoft.com/office/drawing/2014/main" id="{8C98F1E0-AC47-4791-BE0B-DD17D4821FC3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Acute painful DM neuropathy</a:t>
            </a:r>
          </a:p>
        </p:txBody>
      </p:sp>
    </p:spTree>
    <p:extLst>
      <p:ext uri="{BB962C8B-B14F-4D97-AF65-F5344CB8AC3E}">
        <p14:creationId xmlns:p14="http://schemas.microsoft.com/office/powerpoint/2010/main" val="1221033745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>
            <a:spLocks noGrp="1"/>
          </p:cNvSpPr>
          <p:nvPr>
            <p:ph type="body" idx="4294967295"/>
          </p:nvPr>
        </p:nvSpPr>
        <p:spPr>
          <a:xfrm>
            <a:off x="731520" y="1463040"/>
            <a:ext cx="10746889" cy="5242040"/>
          </a:xfrm>
          <a:prstGeom prst="rect">
            <a:avLst/>
          </a:prstGeom>
        </p:spPr>
        <p:txBody>
          <a:bodyPr vert="horz" lIns="50799" tIns="50799" rIns="50799" bIns="50799" rtlCol="0">
            <a:normAutofit fontScale="77500" lnSpcReduction="20000"/>
          </a:bodyPr>
          <a:lstStyle/>
          <a:p>
            <a:pPr marL="205376" indent="-205376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Characterized by a </a:t>
            </a:r>
            <a:r>
              <a:rPr b="1" i="1" dirty="0">
                <a:latin typeface="Calibri" panose="020F0502020204030204" pitchFamily="34" charset="0"/>
                <a:cs typeface="Calibri" panose="020F0502020204030204" pitchFamily="34" charset="0"/>
              </a:rPr>
              <a:t>hypersensitivity to light touch and occasionally severe burning pain, most often in the lower extremities</a:t>
            </a:r>
          </a:p>
          <a:p>
            <a:pPr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5376" indent="-205376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Occurs particularly </a:t>
            </a:r>
            <a:r>
              <a:rPr b="1" i="1" dirty="0">
                <a:latin typeface="Calibri" panose="020F0502020204030204" pitchFamily="34" charset="0"/>
                <a:cs typeface="Calibri" panose="020F0502020204030204" pitchFamily="34" charset="0"/>
              </a:rPr>
              <a:t>at night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, can become physically and emotionally disabling.</a:t>
            </a:r>
          </a:p>
          <a:p>
            <a:pPr marL="205376" indent="-205376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5376" indent="-205376" defTabSz="914144">
              <a:spcBef>
                <a:spcPts val="492"/>
              </a:spcBef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Diabetic neuropathic cachexia</a:t>
            </a:r>
            <a:r>
              <a:rPr b="0" dirty="0">
                <a:latin typeface="Calibri" panose="020F0502020204030204" pitchFamily="34" charset="0"/>
                <a:cs typeface="Calibri" panose="020F0502020204030204" pitchFamily="34" charset="0"/>
              </a:rPr>
              <a:t>: profound and rapid weight loss and unremitting pain.  Most commonly occurs in older men.  Treat with insulin to improve DM control and analgesics, generally very difficult to successfully treat.</a:t>
            </a:r>
          </a:p>
        </p:txBody>
      </p:sp>
      <p:sp>
        <p:nvSpPr>
          <p:cNvPr id="4" name="Shape 404">
            <a:extLst>
              <a:ext uri="{FF2B5EF4-FFF2-40B4-BE49-F238E27FC236}">
                <a16:creationId xmlns:a16="http://schemas.microsoft.com/office/drawing/2014/main" id="{231D3E8C-B110-4117-82B4-28E2BD36C12C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Acute painful DM neuropathy</a:t>
            </a:r>
          </a:p>
        </p:txBody>
      </p:sp>
    </p:spTree>
    <p:extLst>
      <p:ext uri="{BB962C8B-B14F-4D97-AF65-F5344CB8AC3E}">
        <p14:creationId xmlns:p14="http://schemas.microsoft.com/office/powerpoint/2010/main" val="560421483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>
            <a:spLocks noGrp="1"/>
          </p:cNvSpPr>
          <p:nvPr>
            <p:ph type="body" idx="4294967295"/>
          </p:nvPr>
        </p:nvSpPr>
        <p:spPr>
          <a:xfrm>
            <a:off x="742278" y="1021333"/>
            <a:ext cx="10531735" cy="5683746"/>
          </a:xfrm>
          <a:prstGeom prst="rect">
            <a:avLst/>
          </a:prstGeom>
        </p:spPr>
        <p:txBody>
          <a:bodyPr vert="horz" lIns="50799" tIns="50799" rIns="50799" bIns="50799" rtlCol="0">
            <a:normAutofit/>
          </a:bodyPr>
          <a:lstStyle/>
          <a:p>
            <a:pPr marL="191981" lvl="1" indent="0" defTabSz="914144">
              <a:spcBef>
                <a:spcPts val="422"/>
              </a:spcBef>
              <a:buSzPct val="80000"/>
              <a:buNone/>
              <a:defRPr sz="39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2812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Treatment Options: </a:t>
            </a:r>
            <a:r>
              <a:rPr lang="en-US" sz="2812" dirty="0">
                <a:latin typeface="Calibri" panose="020F0502020204030204" pitchFamily="34" charset="0"/>
                <a:cs typeface="Calibri" panose="020F0502020204030204" pitchFamily="34" charset="0"/>
              </a:rPr>
              <a:t>(continue above neuropathy </a:t>
            </a:r>
            <a:r>
              <a:rPr lang="en-US" sz="2812" dirty="0" err="1">
                <a:latin typeface="Calibri" panose="020F0502020204030204" pitchFamily="34" charset="0"/>
                <a:cs typeface="Calibri" panose="020F0502020204030204" pitchFamily="34" charset="0"/>
              </a:rPr>
              <a:t>tx</a:t>
            </a:r>
            <a:r>
              <a:rPr lang="en-US" sz="2812" dirty="0">
                <a:latin typeface="Calibri" panose="020F0502020204030204" pitchFamily="34" charset="0"/>
                <a:cs typeface="Calibri" panose="020F0502020204030204" pitchFamily="34" charset="0"/>
              </a:rPr>
              <a:t> plus:)</a:t>
            </a:r>
            <a:endParaRPr lang="en-US" sz="2812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91981" lvl="1" indent="0" defTabSz="914144">
              <a:spcBef>
                <a:spcPts val="422"/>
              </a:spcBef>
              <a:buSzPct val="80000"/>
              <a:buNone/>
              <a:defRPr sz="3900" b="1">
                <a:latin typeface="Arial"/>
                <a:ea typeface="Arial"/>
                <a:cs typeface="Arial"/>
                <a:sym typeface="Arial"/>
              </a:defRPr>
            </a:pPr>
            <a:r>
              <a:rPr sz="2812" dirty="0">
                <a:latin typeface="Calibri" panose="020F0502020204030204" pitchFamily="34" charset="0"/>
                <a:cs typeface="Calibri" panose="020F0502020204030204" pitchFamily="34" charset="0"/>
              </a:rPr>
              <a:t>Antiepileptic Drugs: </a:t>
            </a:r>
          </a:p>
          <a:p>
            <a:pPr marL="377696" lvl="1" indent="-401822" defTabSz="914144">
              <a:spcBef>
                <a:spcPts val="422"/>
              </a:spcBef>
              <a:buSzPct val="80000"/>
              <a:buFontTx/>
              <a:buChar char="•"/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sz="3212" dirty="0">
                <a:latin typeface="Calibri" panose="020F0502020204030204" pitchFamily="34" charset="0"/>
                <a:cs typeface="Calibri" panose="020F0502020204030204" pitchFamily="34" charset="0"/>
              </a:rPr>
              <a:t>Pregabalin (Lyrica) is first line; Gabapentin (Neurontin) works well but sedation side effects. Other AEDs are third line.</a:t>
            </a:r>
            <a:endParaRPr lang="en-US" sz="140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91981" lvl="1" indent="0" defTabSz="914144">
              <a:spcBef>
                <a:spcPts val="422"/>
              </a:spcBef>
              <a:buSzPct val="80000"/>
              <a:buNone/>
              <a:defRPr sz="39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2812" dirty="0">
                <a:latin typeface="Calibri" panose="020F0502020204030204" pitchFamily="34" charset="0"/>
                <a:cs typeface="Calibri" panose="020F0502020204030204" pitchFamily="34" charset="0"/>
              </a:rPr>
              <a:t>Antidepressants</a:t>
            </a:r>
          </a:p>
          <a:p>
            <a:pPr marL="834896" lvl="2" indent="-401822" defTabSz="914144">
              <a:spcBef>
                <a:spcPts val="422"/>
              </a:spcBef>
              <a:buSzPct val="80000"/>
              <a:buFontTx/>
              <a:buChar char="•"/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sz="2812" dirty="0">
                <a:latin typeface="Calibri" panose="020F0502020204030204" pitchFamily="34" charset="0"/>
                <a:cs typeface="Calibri" panose="020F0502020204030204" pitchFamily="34" charset="0"/>
              </a:rPr>
              <a:t>Duloxetine (		) is first line or venlafaxine (            ), SSRI’s or TCAs are second line</a:t>
            </a:r>
            <a:endParaRPr sz="140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91981" lvl="1" indent="0" defTabSz="914144">
              <a:spcBef>
                <a:spcPts val="422"/>
              </a:spcBef>
              <a:buSzPct val="80000"/>
              <a:buNone/>
              <a:defRPr sz="3900" b="1">
                <a:latin typeface="Arial"/>
                <a:ea typeface="Arial"/>
                <a:cs typeface="Arial"/>
                <a:sym typeface="Arial"/>
              </a:defRPr>
            </a:pPr>
            <a:r>
              <a:rPr sz="2812" dirty="0">
                <a:latin typeface="Calibri" panose="020F0502020204030204" pitchFamily="34" charset="0"/>
                <a:cs typeface="Calibri" panose="020F0502020204030204" pitchFamily="34" charset="0"/>
              </a:rPr>
              <a:t>Topical agents</a:t>
            </a:r>
          </a:p>
          <a:p>
            <a:pPr marL="834896" lvl="2" indent="-401822" defTabSz="914144">
              <a:spcBef>
                <a:spcPts val="422"/>
              </a:spcBef>
              <a:buSzPct val="80000"/>
              <a:buFontTx/>
              <a:buChar char="•"/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sz="2812" dirty="0">
                <a:latin typeface="Calibri" panose="020F0502020204030204" pitchFamily="34" charset="0"/>
                <a:cs typeface="Calibri" panose="020F0502020204030204" pitchFamily="34" charset="0"/>
              </a:rPr>
              <a:t>Capsaicin cream: works by depleting substance P in nerve fibers, hurts first few applications.</a:t>
            </a:r>
          </a:p>
          <a:p>
            <a:pPr marL="834896" lvl="2" indent="-401822" defTabSz="914144">
              <a:spcBef>
                <a:spcPts val="422"/>
              </a:spcBef>
              <a:buSzPct val="80000"/>
              <a:buFontTx/>
              <a:buChar char="•"/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sz="2812" dirty="0">
                <a:latin typeface="Calibri" panose="020F0502020204030204" pitchFamily="34" charset="0"/>
                <a:cs typeface="Calibri" panose="020F0502020204030204" pitchFamily="34" charset="0"/>
              </a:rPr>
              <a:t>Topical lidocaine</a:t>
            </a:r>
          </a:p>
        </p:txBody>
      </p:sp>
      <p:sp>
        <p:nvSpPr>
          <p:cNvPr id="4" name="Shape 404">
            <a:extLst>
              <a:ext uri="{FF2B5EF4-FFF2-40B4-BE49-F238E27FC236}">
                <a16:creationId xmlns:a16="http://schemas.microsoft.com/office/drawing/2014/main" id="{FF884A5E-234E-4002-B5F5-5D77303CEDCA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Acute painful DM neuropathy</a:t>
            </a:r>
          </a:p>
        </p:txBody>
      </p:sp>
    </p:spTree>
    <p:extLst>
      <p:ext uri="{BB962C8B-B14F-4D97-AF65-F5344CB8AC3E}">
        <p14:creationId xmlns:p14="http://schemas.microsoft.com/office/powerpoint/2010/main" val="487979874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>
            <a:spLocks noGrp="1"/>
          </p:cNvSpPr>
          <p:nvPr>
            <p:ph type="body" idx="4294967295"/>
          </p:nvPr>
        </p:nvSpPr>
        <p:spPr>
          <a:xfrm>
            <a:off x="753035" y="1071562"/>
            <a:ext cx="10639313" cy="5786438"/>
          </a:xfrm>
          <a:prstGeom prst="rect">
            <a:avLst/>
          </a:prstGeom>
        </p:spPr>
        <p:txBody>
          <a:bodyPr vert="horz" lIns="50799" tIns="50799" rIns="50799" bIns="50799" rtlCol="0">
            <a:noAutofit/>
          </a:bodyPr>
          <a:lstStyle/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2250" dirty="0">
                <a:latin typeface="Calibri" panose="020F0502020204030204" pitchFamily="34" charset="0"/>
                <a:cs typeface="Calibri" panose="020F0502020204030204" pitchFamily="34" charset="0"/>
              </a:rPr>
              <a:t>Diabetic autonomic neuropathy is a common and debilitating form of neuropathy. </a:t>
            </a: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2250" dirty="0">
                <a:latin typeface="Calibri" panose="020F0502020204030204" pitchFamily="34" charset="0"/>
                <a:cs typeface="Calibri" panose="020F0502020204030204" pitchFamily="34" charset="0"/>
              </a:rPr>
              <a:t>A wide spectrum of manifestations can occur just depending on which organ systems are affected:</a:t>
            </a:r>
          </a:p>
          <a:p>
            <a:pPr marL="685563" lvl="1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2250" b="1" dirty="0">
                <a:latin typeface="Calibri" panose="020F0502020204030204" pitchFamily="34" charset="0"/>
                <a:cs typeface="Calibri" panose="020F0502020204030204" pitchFamily="34" charset="0"/>
              </a:rPr>
              <a:t>Cardiovascular</a:t>
            </a:r>
          </a:p>
          <a:p>
            <a:pPr marL="685563" lvl="1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2250" b="1" dirty="0">
                <a:latin typeface="Calibri" panose="020F0502020204030204" pitchFamily="34" charset="0"/>
                <a:cs typeface="Calibri" panose="020F0502020204030204" pitchFamily="34" charset="0"/>
              </a:rPr>
              <a:t>GI</a:t>
            </a:r>
          </a:p>
          <a:p>
            <a:pPr marL="685563" lvl="1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2250" b="1" dirty="0">
                <a:latin typeface="Calibri" panose="020F0502020204030204" pitchFamily="34" charset="0"/>
                <a:cs typeface="Calibri" panose="020F0502020204030204" pitchFamily="34" charset="0"/>
              </a:rPr>
              <a:t>GU</a:t>
            </a:r>
          </a:p>
          <a:p>
            <a:pPr marL="685563" lvl="1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2250" b="1" dirty="0">
                <a:latin typeface="Calibri" panose="020F0502020204030204" pitchFamily="34" charset="0"/>
                <a:cs typeface="Calibri" panose="020F0502020204030204" pitchFamily="34" charset="0"/>
              </a:rPr>
              <a:t>Pupillary</a:t>
            </a:r>
          </a:p>
          <a:p>
            <a:pPr marL="685563" lvl="1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2250" b="1" dirty="0">
                <a:latin typeface="Calibri" panose="020F0502020204030204" pitchFamily="34" charset="0"/>
                <a:cs typeface="Calibri" panose="020F0502020204030204" pitchFamily="34" charset="0"/>
              </a:rPr>
              <a:t>Sudomotor</a:t>
            </a:r>
          </a:p>
          <a:p>
            <a:pPr marL="685563" lvl="1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2250" b="1" dirty="0">
                <a:latin typeface="Calibri" panose="020F0502020204030204" pitchFamily="34" charset="0"/>
                <a:cs typeface="Calibri" panose="020F0502020204030204" pitchFamily="34" charset="0"/>
              </a:rPr>
              <a:t>Neuroendocrine</a:t>
            </a:r>
          </a:p>
          <a:p>
            <a:pPr marL="685563" lvl="1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sz="22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2250" dirty="0">
                <a:latin typeface="Calibri" panose="020F0502020204030204" pitchFamily="34" charset="0"/>
                <a:cs typeface="Calibri" panose="020F0502020204030204" pitchFamily="34" charset="0"/>
              </a:rPr>
              <a:t>Treatment can be challenging and it is therefore desirable to prevent this complication if possible, or if established, slow disease progression. </a:t>
            </a: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2250" dirty="0">
                <a:latin typeface="Calibri" panose="020F0502020204030204" pitchFamily="34" charset="0"/>
                <a:cs typeface="Calibri" panose="020F0502020204030204" pitchFamily="34" charset="0"/>
              </a:rPr>
              <a:t>ALL diabetic autonomic neuropathy patients should have a goal to decrease modifiable risk factors- hyperglycemia, smoking, HLD, and HTN.</a:t>
            </a:r>
            <a:endParaRPr sz="22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404">
            <a:extLst>
              <a:ext uri="{FF2B5EF4-FFF2-40B4-BE49-F238E27FC236}">
                <a16:creationId xmlns:a16="http://schemas.microsoft.com/office/drawing/2014/main" id="{8DA7C0C0-5D10-4680-927D-E51FE3F7DDEA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Autonomic Neuropathy</a:t>
            </a:r>
          </a:p>
        </p:txBody>
      </p:sp>
    </p:spTree>
    <p:extLst>
      <p:ext uri="{BB962C8B-B14F-4D97-AF65-F5344CB8AC3E}">
        <p14:creationId xmlns:p14="http://schemas.microsoft.com/office/powerpoint/2010/main" val="2560704540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>
            <a:spLocks noGrp="1"/>
          </p:cNvSpPr>
          <p:nvPr>
            <p:ph type="body" idx="4294967295"/>
          </p:nvPr>
        </p:nvSpPr>
        <p:spPr>
          <a:xfrm>
            <a:off x="408791" y="1071563"/>
            <a:ext cx="11317043" cy="5611193"/>
          </a:xfrm>
          <a:prstGeom prst="rect">
            <a:avLst/>
          </a:prstGeom>
        </p:spPr>
        <p:txBody>
          <a:bodyPr vert="horz" lIns="50799" tIns="50799" rIns="50799" bIns="50799" rtlCol="0">
            <a:normAutofit/>
          </a:bodyPr>
          <a:lstStyle/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latin typeface="Calibri" panose="020F0502020204030204" pitchFamily="34" charset="0"/>
              </a:rPr>
              <a:t>M</a:t>
            </a:r>
            <a:r>
              <a:rPr sz="3600" dirty="0">
                <a:latin typeface="Calibri" panose="020F0502020204030204" pitchFamily="34" charset="0"/>
              </a:rPr>
              <a:t>anifestations</a:t>
            </a:r>
            <a:r>
              <a:rPr lang="en-US" sz="3600" dirty="0">
                <a:latin typeface="Calibri" panose="020F0502020204030204" pitchFamily="34" charset="0"/>
              </a:rPr>
              <a:t> of Autonomic Neuropathy:</a:t>
            </a:r>
          </a:p>
          <a:p>
            <a:pPr marL="514350" indent="-514350" defTabSz="914144">
              <a:spcBef>
                <a:spcPts val="492"/>
              </a:spcBef>
              <a:buFont typeface="+mj-lt"/>
              <a:buAutoNum type="arabicPeriod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b="1" dirty="0">
                <a:latin typeface="Calibri" panose="020F0502020204030204" pitchFamily="34" charset="0"/>
                <a:cs typeface="Calibri" panose="020F0502020204030204" pitchFamily="34" charset="0"/>
              </a:rPr>
              <a:t>Postural hypotension: </a:t>
            </a: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patients develop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dizziness, orthostasis, syncope when upright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 defTabSz="914144">
              <a:spcBef>
                <a:spcPts val="492"/>
              </a:spcBef>
              <a:buFont typeface="+mj-lt"/>
              <a:buAutoNum type="arabicPeriod"/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  Treatment?</a:t>
            </a:r>
          </a:p>
        </p:txBody>
      </p:sp>
      <p:sp>
        <p:nvSpPr>
          <p:cNvPr id="5" name="Shape 404">
            <a:extLst>
              <a:ext uri="{FF2B5EF4-FFF2-40B4-BE49-F238E27FC236}">
                <a16:creationId xmlns:a16="http://schemas.microsoft.com/office/drawing/2014/main" id="{502F1745-BE5A-4607-BC38-70CBF28ACFB3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Autonomic Neuropathy</a:t>
            </a:r>
          </a:p>
        </p:txBody>
      </p:sp>
    </p:spTree>
    <p:extLst>
      <p:ext uri="{BB962C8B-B14F-4D97-AF65-F5344CB8AC3E}">
        <p14:creationId xmlns:p14="http://schemas.microsoft.com/office/powerpoint/2010/main" val="237694425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>
            <a:spLocks noGrp="1"/>
          </p:cNvSpPr>
          <p:nvPr>
            <p:ph type="body" idx="4294967295"/>
          </p:nvPr>
        </p:nvSpPr>
        <p:spPr>
          <a:xfrm>
            <a:off x="408791" y="1071563"/>
            <a:ext cx="11317043" cy="5611193"/>
          </a:xfrm>
          <a:prstGeom prst="rect">
            <a:avLst/>
          </a:prstGeom>
        </p:spPr>
        <p:txBody>
          <a:bodyPr vert="horz" lIns="50799" tIns="50799" rIns="50799" bIns="50799" rtlCol="0">
            <a:normAutofit/>
          </a:bodyPr>
          <a:lstStyle/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latin typeface="Calibri" panose="020F0502020204030204" pitchFamily="34" charset="0"/>
              </a:rPr>
              <a:t>M</a:t>
            </a:r>
            <a:r>
              <a:rPr sz="3600" dirty="0">
                <a:latin typeface="Calibri" panose="020F0502020204030204" pitchFamily="34" charset="0"/>
              </a:rPr>
              <a:t>anifestations</a:t>
            </a:r>
            <a:r>
              <a:rPr lang="en-US" sz="3600" dirty="0">
                <a:latin typeface="Calibri" panose="020F0502020204030204" pitchFamily="34" charset="0"/>
              </a:rPr>
              <a:t> of Autonomic Neuropathy:</a:t>
            </a:r>
          </a:p>
          <a:p>
            <a:pPr marL="742950" indent="-742950" defTabSz="914144">
              <a:spcBef>
                <a:spcPts val="492"/>
              </a:spcBef>
              <a:buFont typeface="+mj-lt"/>
              <a:buAutoNum type="arabicPeriod" startAt="2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b="1" dirty="0">
                <a:latin typeface="Calibri" panose="020F0502020204030204" pitchFamily="34" charset="0"/>
                <a:cs typeface="Calibri" panose="020F0502020204030204" pitchFamily="34" charset="0"/>
              </a:rPr>
              <a:t>GI autonomic neuropathy</a:t>
            </a: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07270" lvl="2" indent="-642915" defTabSz="914144">
              <a:spcBef>
                <a:spcPts val="422"/>
              </a:spcBef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Gastroparesis</a:t>
            </a:r>
            <a:r>
              <a:rPr sz="3600" dirty="0">
                <a:latin typeface="Calibri Light" panose="020F0302020204030204" pitchFamily="34" charset="0"/>
                <a:cs typeface="Calibri" panose="020F0502020204030204" pitchFamily="34" charset="0"/>
              </a:rPr>
              <a:t>: slow gastric emptying (</a:t>
            </a:r>
            <a:r>
              <a:rPr lang="en-US" sz="3600" dirty="0">
                <a:latin typeface="Calibri Light" panose="020F0302020204030204" pitchFamily="34" charset="0"/>
                <a:cs typeface="Calibri" panose="020F0502020204030204" pitchFamily="34" charset="0"/>
              </a:rPr>
              <a:t>Diet modification, R</a:t>
            </a:r>
            <a:r>
              <a:rPr sz="3600" dirty="0">
                <a:latin typeface="Calibri Light" panose="020F0302020204030204" pitchFamily="34" charset="0"/>
                <a:cs typeface="Calibri" panose="020F0502020204030204" pitchFamily="34" charset="0"/>
              </a:rPr>
              <a:t>eglan, </a:t>
            </a:r>
            <a:r>
              <a:rPr lang="en-US" sz="3600" dirty="0">
                <a:latin typeface="Calibri Light" panose="020F0302020204030204" pitchFamily="34" charset="0"/>
                <a:cs typeface="Calibri" panose="020F0502020204030204" pitchFamily="34" charset="0"/>
              </a:rPr>
              <a:t>erythro</a:t>
            </a:r>
            <a:r>
              <a:rPr sz="3600" dirty="0">
                <a:latin typeface="Calibri Light" panose="020F0302020204030204" pitchFamily="34" charset="0"/>
                <a:cs typeface="Calibri" panose="020F0502020204030204" pitchFamily="34" charset="0"/>
              </a:rPr>
              <a:t>mycin, gastric stimulator) </a:t>
            </a:r>
            <a:endParaRPr lang="en-US" sz="3600" dirty="0">
              <a:latin typeface="Calibri Light" panose="020F0302020204030204" pitchFamily="34" charset="0"/>
              <a:cs typeface="Calibri" panose="020F0502020204030204" pitchFamily="34" charset="0"/>
            </a:endParaRPr>
          </a:p>
          <a:p>
            <a:pPr marL="1307270" lvl="2" indent="-642915" defTabSz="914144">
              <a:spcBef>
                <a:spcPts val="422"/>
              </a:spcBef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iarrhea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with sometimes alternating</a:t>
            </a: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 constipation (anti-diarrheals, clonidine or fiber therapies)</a:t>
            </a:r>
          </a:p>
        </p:txBody>
      </p:sp>
      <p:pic>
        <p:nvPicPr>
          <p:cNvPr id="474" name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4690" y="4210348"/>
            <a:ext cx="1191144" cy="247240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404">
            <a:extLst>
              <a:ext uri="{FF2B5EF4-FFF2-40B4-BE49-F238E27FC236}">
                <a16:creationId xmlns:a16="http://schemas.microsoft.com/office/drawing/2014/main" id="{502F1745-BE5A-4607-BC38-70CBF28ACFB3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Autonomic Neuropathy</a:t>
            </a:r>
          </a:p>
        </p:txBody>
      </p:sp>
    </p:spTree>
    <p:extLst>
      <p:ext uri="{BB962C8B-B14F-4D97-AF65-F5344CB8AC3E}">
        <p14:creationId xmlns:p14="http://schemas.microsoft.com/office/powerpoint/2010/main" val="10567182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>
            <a:spLocks noGrp="1"/>
          </p:cNvSpPr>
          <p:nvPr>
            <p:ph type="body" idx="4294967295"/>
          </p:nvPr>
        </p:nvSpPr>
        <p:spPr>
          <a:xfrm>
            <a:off x="408791" y="1071563"/>
            <a:ext cx="11317043" cy="5611193"/>
          </a:xfrm>
          <a:prstGeom prst="rect">
            <a:avLst/>
          </a:prstGeom>
        </p:spPr>
        <p:txBody>
          <a:bodyPr vert="horz" lIns="50799" tIns="50799" rIns="50799" bIns="50799" rtlCol="0">
            <a:normAutofit/>
          </a:bodyPr>
          <a:lstStyle/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latin typeface="Calibri" panose="020F0502020204030204" pitchFamily="34" charset="0"/>
              </a:rPr>
              <a:t>M</a:t>
            </a:r>
            <a:r>
              <a:rPr sz="3600" dirty="0">
                <a:latin typeface="Calibri" panose="020F0502020204030204" pitchFamily="34" charset="0"/>
              </a:rPr>
              <a:t>anifestations</a:t>
            </a:r>
            <a:r>
              <a:rPr lang="en-US" sz="3600" dirty="0">
                <a:latin typeface="Calibri" panose="020F0502020204030204" pitchFamily="34" charset="0"/>
              </a:rPr>
              <a:t> of Autonomic Neuropathy:</a:t>
            </a:r>
          </a:p>
          <a:p>
            <a:pPr marL="742950" indent="-742950" defTabSz="914144">
              <a:spcBef>
                <a:spcPts val="492"/>
              </a:spcBef>
              <a:buFont typeface="+mj-lt"/>
              <a:buAutoNum type="arabicPeriod" startAt="3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Inability to fully empty bladder resulting in urinary retention</a:t>
            </a:r>
          </a:p>
          <a:p>
            <a:pPr marL="742950" indent="-742950" defTabSz="914144">
              <a:spcBef>
                <a:spcPts val="492"/>
              </a:spcBef>
              <a:buFont typeface="+mj-lt"/>
              <a:buAutoNum type="arabicPeriod" startAt="3"/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indent="-742950" defTabSz="914144">
              <a:spcBef>
                <a:spcPts val="492"/>
              </a:spcBef>
              <a:buFont typeface="+mj-lt"/>
              <a:buAutoNum type="arabicPeriod" startAt="3"/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Treatment?</a:t>
            </a:r>
          </a:p>
        </p:txBody>
      </p:sp>
      <p:sp>
        <p:nvSpPr>
          <p:cNvPr id="5" name="Shape 404">
            <a:extLst>
              <a:ext uri="{FF2B5EF4-FFF2-40B4-BE49-F238E27FC236}">
                <a16:creationId xmlns:a16="http://schemas.microsoft.com/office/drawing/2014/main" id="{502F1745-BE5A-4607-BC38-70CBF28ACFB3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Autonomic Neuropathy</a:t>
            </a:r>
          </a:p>
        </p:txBody>
      </p:sp>
      <p:pic>
        <p:nvPicPr>
          <p:cNvPr id="1026" name="Picture 2" descr="Atomic-bladder - Neurogenic Bladder Clipart , Free Transparent Clipart -  ClipartKey">
            <a:extLst>
              <a:ext uri="{FF2B5EF4-FFF2-40B4-BE49-F238E27FC236}">
                <a16:creationId xmlns:a16="http://schemas.microsoft.com/office/drawing/2014/main" id="{BBDF6340-1640-4B36-A550-705FB4C21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6477" y="4364182"/>
            <a:ext cx="3395599" cy="1901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854483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>
            <a:spLocks noGrp="1"/>
          </p:cNvSpPr>
          <p:nvPr>
            <p:ph type="body" idx="4294967295"/>
          </p:nvPr>
        </p:nvSpPr>
        <p:spPr>
          <a:xfrm>
            <a:off x="408791" y="1071563"/>
            <a:ext cx="11317043" cy="5611193"/>
          </a:xfrm>
          <a:prstGeom prst="rect">
            <a:avLst/>
          </a:prstGeom>
        </p:spPr>
        <p:txBody>
          <a:bodyPr vert="horz" lIns="50799" tIns="50799" rIns="50799" bIns="50799" rtlCol="0">
            <a:normAutofit/>
          </a:bodyPr>
          <a:lstStyle/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latin typeface="Calibri" panose="020F0502020204030204" pitchFamily="34" charset="0"/>
              </a:rPr>
              <a:t>M</a:t>
            </a:r>
            <a:r>
              <a:rPr sz="3600" dirty="0">
                <a:latin typeface="Calibri" panose="020F0502020204030204" pitchFamily="34" charset="0"/>
              </a:rPr>
              <a:t>anifestations</a:t>
            </a:r>
            <a:r>
              <a:rPr lang="en-US" sz="3600" dirty="0">
                <a:latin typeface="Calibri" panose="020F0502020204030204" pitchFamily="34" charset="0"/>
              </a:rPr>
              <a:t> of Autonomic Neuropathy:</a:t>
            </a:r>
          </a:p>
          <a:p>
            <a:pPr marL="742950" indent="-742950" defTabSz="914144">
              <a:spcBef>
                <a:spcPts val="492"/>
              </a:spcBef>
              <a:buFont typeface="+mj-lt"/>
              <a:buAutoNum type="arabicPeriod" startAt="4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Erectile Dysfunction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(medical, mechanical and surgical treatment)</a:t>
            </a:r>
          </a:p>
          <a:p>
            <a:pPr marL="742950" indent="-742950" defTabSz="914144">
              <a:spcBef>
                <a:spcPts val="492"/>
              </a:spcBef>
              <a:buFont typeface="+mj-lt"/>
              <a:buAutoNum type="arabicPeriod" startAt="4"/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Treatment?</a:t>
            </a:r>
          </a:p>
        </p:txBody>
      </p:sp>
      <p:sp>
        <p:nvSpPr>
          <p:cNvPr id="5" name="Shape 404">
            <a:extLst>
              <a:ext uri="{FF2B5EF4-FFF2-40B4-BE49-F238E27FC236}">
                <a16:creationId xmlns:a16="http://schemas.microsoft.com/office/drawing/2014/main" id="{502F1745-BE5A-4607-BC38-70CBF28ACFB3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Autonomic Neuropathy</a:t>
            </a:r>
          </a:p>
        </p:txBody>
      </p:sp>
    </p:spTree>
    <p:extLst>
      <p:ext uri="{BB962C8B-B14F-4D97-AF65-F5344CB8AC3E}">
        <p14:creationId xmlns:p14="http://schemas.microsoft.com/office/powerpoint/2010/main" val="2141412600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1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Rectangle 15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0682E9-CEF1-4808-82EA-54635583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Nephropathy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0B245-B334-40EB-97DB-60750B630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1055" y="4682249"/>
            <a:ext cx="9144000" cy="1182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Microvascular Complication</a:t>
            </a:r>
          </a:p>
        </p:txBody>
      </p:sp>
    </p:spTree>
    <p:extLst>
      <p:ext uri="{BB962C8B-B14F-4D97-AF65-F5344CB8AC3E}">
        <p14:creationId xmlns:p14="http://schemas.microsoft.com/office/powerpoint/2010/main" val="8855713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279BA-3CCB-4ADE-AB7B-9A31547D7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615" y="1690688"/>
            <a:ext cx="11412416" cy="48021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Diabetic Kidney Disease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Diabetes is a major cause of CKD and kidney failure.</a:t>
            </a:r>
            <a:endParaRPr lang="en-US" dirty="0"/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DKD may manifest as: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</a:pPr>
            <a:r>
              <a:rPr lang="en-US" b="1" dirty="0">
                <a:ea typeface="+mn-lt"/>
                <a:cs typeface="+mn-lt"/>
              </a:rPr>
              <a:t>Albuminuria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Declining </a:t>
            </a:r>
            <a:r>
              <a:rPr lang="en-US" b="1" dirty="0">
                <a:ea typeface="+mn-lt"/>
                <a:cs typeface="+mn-lt"/>
              </a:rPr>
              <a:t>eGFR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Or both</a:t>
            </a:r>
            <a:endParaRPr lang="en-US" dirty="0"/>
          </a:p>
          <a:p>
            <a:pPr indent="0">
              <a:buNone/>
            </a:pPr>
            <a:r>
              <a:rPr lang="en-US" dirty="0">
                <a:ea typeface="+mn-lt"/>
                <a:cs typeface="+mn-lt"/>
              </a:rPr>
              <a:t>Chronic hyperglycemia and hypertension contribute to progressive glomerular injury.</a:t>
            </a:r>
            <a:endParaRPr lang="en-US" dirty="0"/>
          </a:p>
          <a:p>
            <a:pPr>
              <a:buFont typeface="Arial"/>
            </a:pPr>
            <a:endParaRPr lang="en-US"/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6" name="Shape 404">
            <a:extLst>
              <a:ext uri="{FF2B5EF4-FFF2-40B4-BE49-F238E27FC236}">
                <a16:creationId xmlns:a16="http://schemas.microsoft.com/office/drawing/2014/main" id="{74FAAEB5-33B5-45AC-ADC9-39C81704B285}"/>
              </a:ext>
            </a:extLst>
          </p:cNvPr>
          <p:cNvSpPr txBox="1">
            <a:spLocks/>
          </p:cNvSpPr>
          <p:nvPr/>
        </p:nvSpPr>
        <p:spPr>
          <a:xfrm>
            <a:off x="408791" y="107156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Nephropathy</a:t>
            </a:r>
          </a:p>
        </p:txBody>
      </p:sp>
    </p:spTree>
    <p:extLst>
      <p:ext uri="{BB962C8B-B14F-4D97-AF65-F5344CB8AC3E}">
        <p14:creationId xmlns:p14="http://schemas.microsoft.com/office/powerpoint/2010/main" val="17390397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CF60A-4E86-4CD1-AB17-1AA6637CB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432" y="1690688"/>
            <a:ext cx="11764106" cy="502663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3200" dirty="0">
                <a:ea typeface="+mn-lt"/>
                <a:cs typeface="+mn-lt"/>
              </a:rPr>
              <a:t>Assess </a:t>
            </a:r>
            <a:r>
              <a:rPr lang="en-US" sz="3200" b="1" dirty="0">
                <a:ea typeface="+mn-lt"/>
                <a:cs typeface="+mn-lt"/>
              </a:rPr>
              <a:t>both:</a:t>
            </a:r>
            <a:endParaRPr lang="en-US" dirty="0"/>
          </a:p>
          <a:p>
            <a:pPr>
              <a:buFont typeface="Arial"/>
            </a:pPr>
            <a:r>
              <a:rPr lang="en-US" sz="3200" b="1" dirty="0">
                <a:ea typeface="+mn-lt"/>
                <a:cs typeface="+mn-lt"/>
              </a:rPr>
              <a:t>Spot urine albumin-to-creatinine ratio (UACR)</a:t>
            </a:r>
          </a:p>
          <a:p>
            <a:pPr>
              <a:buFont typeface="Arial"/>
            </a:pPr>
            <a:r>
              <a:rPr lang="en-US" sz="3200" b="1" dirty="0">
                <a:ea typeface="+mn-lt"/>
                <a:cs typeface="+mn-lt"/>
              </a:rPr>
              <a:t>eGFR</a:t>
            </a:r>
            <a:endParaRPr lang="en-US" dirty="0"/>
          </a:p>
          <a:p>
            <a:pPr indent="0">
              <a:buNone/>
            </a:pPr>
            <a:r>
              <a:rPr lang="en-US" sz="3200" dirty="0">
                <a:ea typeface="+mn-lt"/>
                <a:cs typeface="+mn-lt"/>
              </a:rPr>
              <a:t>Begin:</a:t>
            </a:r>
            <a:endParaRPr lang="en-US" dirty="0"/>
          </a:p>
          <a:p>
            <a:pPr>
              <a:buFont typeface="Arial"/>
            </a:pPr>
            <a:r>
              <a:rPr lang="en-US" sz="3200" b="1" dirty="0">
                <a:ea typeface="+mn-lt"/>
                <a:cs typeface="+mn-lt"/>
              </a:rPr>
              <a:t>T1DM:</a:t>
            </a:r>
            <a:r>
              <a:rPr lang="en-US" sz="3200" dirty="0">
                <a:ea typeface="+mn-lt"/>
                <a:cs typeface="+mn-lt"/>
              </a:rPr>
              <a:t> after ≥5 years duration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3200" b="1" dirty="0">
                <a:ea typeface="+mn-lt"/>
                <a:cs typeface="+mn-lt"/>
              </a:rPr>
              <a:t>T2DM:</a:t>
            </a:r>
            <a:r>
              <a:rPr lang="en-US" sz="3200" dirty="0">
                <a:ea typeface="+mn-lt"/>
                <a:cs typeface="+mn-lt"/>
              </a:rPr>
              <a:t> at diagnosis</a:t>
            </a:r>
            <a:endParaRPr lang="en-US" dirty="0"/>
          </a:p>
          <a:p>
            <a:pPr marL="0" indent="0">
              <a:buNone/>
            </a:pPr>
            <a:r>
              <a:rPr lang="en-US" sz="3200" dirty="0">
                <a:ea typeface="+mn-lt"/>
                <a:cs typeface="+mn-lt"/>
              </a:rPr>
              <a:t>If normal → </a:t>
            </a:r>
            <a:r>
              <a:rPr lang="en-US" sz="3200" b="1" dirty="0">
                <a:ea typeface="+mn-lt"/>
                <a:cs typeface="+mn-lt"/>
              </a:rPr>
              <a:t>at least annually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3200" dirty="0">
                <a:ea typeface="+mn-lt"/>
                <a:cs typeface="+mn-lt"/>
              </a:rPr>
              <a:t>If CKD present → monitor </a:t>
            </a:r>
            <a:r>
              <a:rPr lang="en-US" sz="3200" b="1" dirty="0">
                <a:ea typeface="+mn-lt"/>
                <a:cs typeface="+mn-lt"/>
              </a:rPr>
              <a:t>1–4 times/year</a:t>
            </a:r>
            <a:r>
              <a:rPr lang="en-US" sz="3200" dirty="0">
                <a:ea typeface="+mn-lt"/>
                <a:cs typeface="+mn-lt"/>
              </a:rPr>
              <a:t>, depending on severity.</a:t>
            </a:r>
          </a:p>
        </p:txBody>
      </p:sp>
      <p:sp>
        <p:nvSpPr>
          <p:cNvPr id="6" name="Shape 404">
            <a:extLst>
              <a:ext uri="{FF2B5EF4-FFF2-40B4-BE49-F238E27FC236}">
                <a16:creationId xmlns:a16="http://schemas.microsoft.com/office/drawing/2014/main" id="{B59DF598-BD9F-4340-A25A-9A9033BF06BA}"/>
              </a:ext>
            </a:extLst>
          </p:cNvPr>
          <p:cNvSpPr txBox="1">
            <a:spLocks/>
          </p:cNvSpPr>
          <p:nvPr/>
        </p:nvSpPr>
        <p:spPr>
          <a:xfrm>
            <a:off x="408791" y="294194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Nephropathy</a:t>
            </a:r>
          </a:p>
        </p:txBody>
      </p:sp>
    </p:spTree>
    <p:extLst>
      <p:ext uri="{BB962C8B-B14F-4D97-AF65-F5344CB8AC3E}">
        <p14:creationId xmlns:p14="http://schemas.microsoft.com/office/powerpoint/2010/main" val="76324761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CF60A-4E86-4CD1-AB17-1AA6637CB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954" y="1690688"/>
            <a:ext cx="11148646" cy="502663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b="1" dirty="0"/>
              <a:t>Albuminuria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UACR &lt;30 mg/g:</a:t>
            </a:r>
            <a:r>
              <a:rPr lang="en-US" dirty="0">
                <a:ea typeface="+mn-lt"/>
                <a:cs typeface="+mn-lt"/>
              </a:rPr>
              <a:t> normal to mildly increased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UACR 30–299 mg/g:</a:t>
            </a:r>
            <a:r>
              <a:rPr lang="en-US" dirty="0">
                <a:ea typeface="+mn-lt"/>
                <a:cs typeface="+mn-lt"/>
              </a:rPr>
              <a:t> moderately increased albuminuria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UACR ≥300 mg/g:</a:t>
            </a:r>
            <a:r>
              <a:rPr lang="en-US" dirty="0">
                <a:ea typeface="+mn-lt"/>
                <a:cs typeface="+mn-lt"/>
              </a:rPr>
              <a:t> severely increased albuminuria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Because UACR varies, abnormal results should generally be </a:t>
            </a:r>
            <a:r>
              <a:rPr lang="en-US" b="1" dirty="0">
                <a:ea typeface="+mn-lt"/>
                <a:cs typeface="+mn-lt"/>
              </a:rPr>
              <a:t>confirmed with repeat testing</a:t>
            </a:r>
            <a:endParaRPr lang="en-US" dirty="0"/>
          </a:p>
          <a:p>
            <a:pPr marL="0" indent="0">
              <a:buNone/>
            </a:pPr>
            <a:endParaRPr lang="en-US" sz="3200" b="1" dirty="0">
              <a:ea typeface="Calibri"/>
              <a:cs typeface="Calibri"/>
            </a:endParaRPr>
          </a:p>
        </p:txBody>
      </p:sp>
      <p:sp>
        <p:nvSpPr>
          <p:cNvPr id="6" name="Shape 404">
            <a:extLst>
              <a:ext uri="{FF2B5EF4-FFF2-40B4-BE49-F238E27FC236}">
                <a16:creationId xmlns:a16="http://schemas.microsoft.com/office/drawing/2014/main" id="{32BCA9C2-D546-4B4B-8F3B-3A651EDFAE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Nephropathy</a:t>
            </a:r>
          </a:p>
        </p:txBody>
      </p:sp>
    </p:spTree>
    <p:extLst>
      <p:ext uri="{BB962C8B-B14F-4D97-AF65-F5344CB8AC3E}">
        <p14:creationId xmlns:p14="http://schemas.microsoft.com/office/powerpoint/2010/main" val="237784636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AEBE6-E924-4D19-B4C7-A03D40F5C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317" y="1460369"/>
            <a:ext cx="11694736" cy="503250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b="1" dirty="0"/>
              <a:t>DKD Treatment:</a:t>
            </a:r>
            <a:endParaRPr lang="en-US" b="1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Optimize </a:t>
            </a:r>
            <a:r>
              <a:rPr lang="en-US" b="1" dirty="0">
                <a:ea typeface="+mn-lt"/>
                <a:cs typeface="+mn-lt"/>
              </a:rPr>
              <a:t>glycemic and blood pressure control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ACE inhibitor or ARB</a:t>
            </a:r>
            <a:r>
              <a:rPr lang="en-US" dirty="0">
                <a:ea typeface="+mn-lt"/>
                <a:cs typeface="+mn-lt"/>
              </a:rPr>
              <a:t> recommended in diabetes + hypertension with </a:t>
            </a:r>
            <a:r>
              <a:rPr lang="en-US" b="1" dirty="0">
                <a:ea typeface="+mn-lt"/>
                <a:cs typeface="+mn-lt"/>
              </a:rPr>
              <a:t>UACR ≥30 mg/g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Strongly recommended with </a:t>
            </a:r>
            <a:r>
              <a:rPr lang="en-US" b="1" dirty="0">
                <a:ea typeface="+mn-lt"/>
                <a:cs typeface="+mn-lt"/>
              </a:rPr>
              <a:t>UACR ≥300 mg/g and/or eGFR &lt;60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Monitor </a:t>
            </a:r>
            <a:r>
              <a:rPr lang="en-US" b="1" dirty="0">
                <a:ea typeface="+mn-lt"/>
                <a:cs typeface="+mn-lt"/>
              </a:rPr>
              <a:t>creatinine/eGFR and potassium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Do </a:t>
            </a:r>
            <a:r>
              <a:rPr lang="en-US" b="1" dirty="0">
                <a:ea typeface="+mn-lt"/>
                <a:cs typeface="+mn-lt"/>
              </a:rPr>
              <a:t>not</a:t>
            </a:r>
            <a:r>
              <a:rPr lang="en-US" dirty="0">
                <a:ea typeface="+mn-lt"/>
                <a:cs typeface="+mn-lt"/>
              </a:rPr>
              <a:t> discontinue </a:t>
            </a:r>
            <a:r>
              <a:rPr lang="en-US" dirty="0" err="1">
                <a:ea typeface="+mn-lt"/>
                <a:cs typeface="+mn-lt"/>
              </a:rPr>
              <a:t>ACEi</a:t>
            </a:r>
            <a:r>
              <a:rPr lang="en-US" dirty="0">
                <a:ea typeface="+mn-lt"/>
                <a:cs typeface="+mn-lt"/>
              </a:rPr>
              <a:t>/ARB for a mild–moderate creatinine increase (≤30%) without volume depletion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SGLT2 inhibitors</a:t>
            </a:r>
            <a:r>
              <a:rPr lang="en-US" dirty="0">
                <a:ea typeface="+mn-lt"/>
                <a:cs typeface="+mn-lt"/>
              </a:rPr>
              <a:t> provide important kidney and cardiovascular protection in appropriate patients with T2DM + CKD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hape 404">
            <a:extLst>
              <a:ext uri="{FF2B5EF4-FFF2-40B4-BE49-F238E27FC236}">
                <a16:creationId xmlns:a16="http://schemas.microsoft.com/office/drawing/2014/main" id="{FD37E306-931B-4154-9C2D-93D89D7025C3}"/>
              </a:ext>
            </a:extLst>
          </p:cNvPr>
          <p:cNvSpPr txBox="1">
            <a:spLocks/>
          </p:cNvSpPr>
          <p:nvPr/>
        </p:nvSpPr>
        <p:spPr>
          <a:xfrm>
            <a:off x="408791" y="502011"/>
            <a:ext cx="11317044" cy="964406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4400" b="1" dirty="0"/>
              <a:t>Microvascular: </a:t>
            </a:r>
            <a:r>
              <a:rPr lang="en-US" sz="4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Nephropathy</a:t>
            </a:r>
          </a:p>
        </p:txBody>
      </p:sp>
    </p:spTree>
    <p:extLst>
      <p:ext uri="{BB962C8B-B14F-4D97-AF65-F5344CB8AC3E}">
        <p14:creationId xmlns:p14="http://schemas.microsoft.com/office/powerpoint/2010/main" val="16503333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19D46A-7C8A-485B-83EC-A42A7DFE5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Diabetic Emergencies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40398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8BC1DA-CA46-43B4-B609-7FB2A960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Foot Ulcers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92894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D2F5-8DC5-4A5E-A280-88F8D3784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DM Foot Ulcers - Patho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719FE-B1F8-4E54-B103-9E862C2C3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862" y="1825625"/>
            <a:ext cx="1139483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Generally start as an area of irritation, blistering, or reddening that occurs in a patient wearing ill fitting footwear</a:t>
            </a:r>
          </a:p>
          <a:p>
            <a:r>
              <a:rPr lang="en-US" dirty="0"/>
              <a:t>Irritated area does not heal well and skin breakdown occurs</a:t>
            </a:r>
          </a:p>
          <a:p>
            <a:r>
              <a:rPr lang="en-US" dirty="0"/>
              <a:t>Foot ulcers are prone to progression, why?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148" name="Picture 4" descr="Image">
            <a:extLst>
              <a:ext uri="{FF2B5EF4-FFF2-40B4-BE49-F238E27FC236}">
                <a16:creationId xmlns:a16="http://schemas.microsoft.com/office/drawing/2014/main" id="{2DC47E2F-12B4-4257-8BE8-4346901AD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707" y="3971559"/>
            <a:ext cx="4732093" cy="2648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64234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E9490-3918-4F49-84C4-375291401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DM Foot Ulcers - Patho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D438-C705-4C12-8BCA-94CD1B700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78" y="1690688"/>
            <a:ext cx="3429000" cy="5167312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400" dirty="0"/>
              <a:t>Contractures 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400" dirty="0"/>
              <a:t>Hammer toes/Charcot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400" dirty="0"/>
              <a:t>Improper weight bearing  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400" dirty="0"/>
              <a:t>Ulcer 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400" dirty="0"/>
              <a:t>Infection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400" dirty="0"/>
              <a:t>Osteomyelitis 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400" dirty="0"/>
              <a:t>Amputation</a:t>
            </a:r>
          </a:p>
        </p:txBody>
      </p:sp>
      <p:pic>
        <p:nvPicPr>
          <p:cNvPr id="5122" name="Picture 2" descr="Neuropathic Ulcer: Severe diabetes induced neuropathy has resulted in  Charcot foot deformity. This">
            <a:extLst>
              <a:ext uri="{FF2B5EF4-FFF2-40B4-BE49-F238E27FC236}">
                <a16:creationId xmlns:a16="http://schemas.microsoft.com/office/drawing/2014/main" id="{266379B5-7C50-4614-84CD-4BF91CFAB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727" y="2511390"/>
            <a:ext cx="7176965" cy="4118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AFA415AB-453B-4328-8357-A062FCD10639}"/>
              </a:ext>
            </a:extLst>
          </p:cNvPr>
          <p:cNvSpPr/>
          <p:nvPr/>
        </p:nvSpPr>
        <p:spPr>
          <a:xfrm>
            <a:off x="1711570" y="2245974"/>
            <a:ext cx="287215" cy="3516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6061FB2-D172-4D10-8739-612EE83C1390}"/>
              </a:ext>
            </a:extLst>
          </p:cNvPr>
          <p:cNvSpPr/>
          <p:nvPr/>
        </p:nvSpPr>
        <p:spPr>
          <a:xfrm>
            <a:off x="1737943" y="2977106"/>
            <a:ext cx="287215" cy="3516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9764A050-0368-409A-92DC-99BAE528F086}"/>
              </a:ext>
            </a:extLst>
          </p:cNvPr>
          <p:cNvSpPr/>
          <p:nvPr/>
        </p:nvSpPr>
        <p:spPr>
          <a:xfrm>
            <a:off x="1737942" y="3708238"/>
            <a:ext cx="287215" cy="3516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EDCD544F-4CB7-4296-89CA-93938F2F2951}"/>
              </a:ext>
            </a:extLst>
          </p:cNvPr>
          <p:cNvSpPr/>
          <p:nvPr/>
        </p:nvSpPr>
        <p:spPr>
          <a:xfrm>
            <a:off x="1737941" y="4439370"/>
            <a:ext cx="287215" cy="3516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094527B2-942C-4494-AB34-17B6817F3B0B}"/>
              </a:ext>
            </a:extLst>
          </p:cNvPr>
          <p:cNvSpPr/>
          <p:nvPr/>
        </p:nvSpPr>
        <p:spPr>
          <a:xfrm>
            <a:off x="1737941" y="5107273"/>
            <a:ext cx="287215" cy="3516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09A0674A-9763-429A-8F0C-C6FCA90249E3}"/>
              </a:ext>
            </a:extLst>
          </p:cNvPr>
          <p:cNvSpPr/>
          <p:nvPr/>
        </p:nvSpPr>
        <p:spPr>
          <a:xfrm>
            <a:off x="1737941" y="5806790"/>
            <a:ext cx="287215" cy="3516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4789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D2F5-8DC5-4A5E-A280-88F8D3784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DM Foot Ulcers – Work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719FE-B1F8-4E54-B103-9E862C2C3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862" y="1825625"/>
            <a:ext cx="10966938" cy="439932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Can be deep, should be probed with a sterile swab to determine depth</a:t>
            </a:r>
          </a:p>
          <a:p>
            <a:r>
              <a:rPr lang="en-US" dirty="0"/>
              <a:t>Ulcers that probe the bone are very likely to contain osteomyelitis</a:t>
            </a:r>
          </a:p>
          <a:p>
            <a:endParaRPr lang="en-US" dirty="0"/>
          </a:p>
          <a:p>
            <a:r>
              <a:rPr lang="en-US" dirty="0"/>
              <a:t>Imaging: </a:t>
            </a:r>
            <a:r>
              <a:rPr lang="en-US" dirty="0" err="1"/>
              <a:t>xray</a:t>
            </a:r>
            <a:r>
              <a:rPr lang="en-US" dirty="0"/>
              <a:t>/</a:t>
            </a:r>
            <a:r>
              <a:rPr lang="en-US" dirty="0" err="1"/>
              <a:t>mri</a:t>
            </a:r>
            <a:r>
              <a:rPr lang="en-US" dirty="0"/>
              <a:t> and bone scan to eval for osteomyelitis</a:t>
            </a:r>
          </a:p>
          <a:p>
            <a:endParaRPr lang="en-US" dirty="0"/>
          </a:p>
          <a:p>
            <a:r>
              <a:rPr lang="en-US" dirty="0"/>
              <a:t>Ulcers can be non infected, with cellulitis,</a:t>
            </a:r>
          </a:p>
          <a:p>
            <a:pPr indent="0">
              <a:buNone/>
            </a:pPr>
            <a:r>
              <a:rPr lang="en-US" dirty="0"/>
              <a:t> with osteomyelitis or both</a:t>
            </a:r>
          </a:p>
        </p:txBody>
      </p:sp>
      <p:pic>
        <p:nvPicPr>
          <p:cNvPr id="7170" name="Picture 2" descr="Non Healing Wounds - Podiatry HQ Clinics">
            <a:extLst>
              <a:ext uri="{FF2B5EF4-FFF2-40B4-BE49-F238E27FC236}">
                <a16:creationId xmlns:a16="http://schemas.microsoft.com/office/drawing/2014/main" id="{80AE7132-F02B-4D23-AB07-72BA37369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564" y="4607169"/>
            <a:ext cx="4689232" cy="225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498565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233BE-97DB-45D2-96B8-2FBECE3B2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DM foot ulcers -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AC6BD-3DBC-4ABE-AC41-E26A10E6F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• </a:t>
            </a:r>
            <a:r>
              <a:rPr lang="en-US" b="1" dirty="0">
                <a:ea typeface="+mn-lt"/>
                <a:cs typeface="+mn-lt"/>
              </a:rPr>
              <a:t>Off-loading</a:t>
            </a:r>
            <a:r>
              <a:rPr lang="en-US" dirty="0">
                <a:ea typeface="+mn-lt"/>
                <a:cs typeface="+mn-lt"/>
              </a:rPr>
              <a:t> pressure from the ulcer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• Wound care/debridement as appropriate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• Assess for </a:t>
            </a:r>
            <a:r>
              <a:rPr lang="en-US" b="1" dirty="0">
                <a:ea typeface="+mn-lt"/>
                <a:cs typeface="+mn-lt"/>
              </a:rPr>
              <a:t>infection</a:t>
            </a:r>
            <a:r>
              <a:rPr lang="en-US" dirty="0">
                <a:ea typeface="+mn-lt"/>
                <a:cs typeface="+mn-lt"/>
              </a:rPr>
              <a:t> — antibiotics only when clinically infected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• Assess </a:t>
            </a:r>
            <a:r>
              <a:rPr lang="en-US" b="1" dirty="0">
                <a:ea typeface="+mn-lt"/>
                <a:cs typeface="+mn-lt"/>
              </a:rPr>
              <a:t>vascular status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• PAD/poor perfusion → consider revascularization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• Severe infection, necrosis, or non-salvageable tissue may require surgery/amputation</a:t>
            </a:r>
            <a:br>
              <a:rPr lang="en-US" b="1" dirty="0">
                <a:ea typeface="+mn-lt"/>
                <a:cs typeface="+mn-lt"/>
              </a:rPr>
            </a:br>
            <a:endParaRPr lang="en-US" b="1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Do NOT give antibiotics to a clinically uninfected diabetic foot ulcer.</a:t>
            </a:r>
            <a:endParaRPr lang="en-US" dirty="0"/>
          </a:p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b="1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700743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362B7-6381-4087-91B9-A376AEB16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DM Foot Ulcers - Infected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B1E61-B9DA-4FED-9EF5-F97A57DAC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MC pathogens: anaerobes, gram – rods, gram + from skin</a:t>
            </a:r>
          </a:p>
          <a:p>
            <a:pPr marL="0" indent="0">
              <a:buNone/>
            </a:pPr>
            <a:r>
              <a:rPr lang="en-US" b="1" dirty="0"/>
              <a:t>Treatment: </a:t>
            </a:r>
          </a:p>
          <a:p>
            <a:r>
              <a:rPr lang="en-US" dirty="0"/>
              <a:t>Outpatient: </a:t>
            </a:r>
          </a:p>
          <a:p>
            <a:pPr lvl="1"/>
            <a:r>
              <a:rPr lang="en-US" sz="2800" dirty="0"/>
              <a:t>Strep - dicloxacillin or cephalexin</a:t>
            </a:r>
          </a:p>
          <a:p>
            <a:pPr lvl="1">
              <a:buFont typeface="Calibri" panose="020F0502020204030204" pitchFamily="34" charset="0"/>
              <a:buChar char="±"/>
            </a:pPr>
            <a:r>
              <a:rPr lang="en-US" sz="2800" dirty="0"/>
              <a:t>MRSA -TMP-SMX or doxycycline or clindamycin</a:t>
            </a:r>
          </a:p>
          <a:p>
            <a:r>
              <a:rPr lang="en-US" dirty="0"/>
              <a:t>Inpatient:</a:t>
            </a:r>
          </a:p>
          <a:p>
            <a:pPr lvl="1"/>
            <a:r>
              <a:rPr lang="en-US" sz="2800" dirty="0"/>
              <a:t>IV Unasyn or IV Zosyn </a:t>
            </a:r>
          </a:p>
          <a:p>
            <a:pPr lvl="1">
              <a:buFont typeface="Calibri" panose="020F0502020204030204" pitchFamily="34" charset="0"/>
              <a:buChar char="±"/>
            </a:pPr>
            <a:r>
              <a:rPr lang="en-US" sz="2800" dirty="0"/>
              <a:t>Vancomycin for MRSA coverage</a:t>
            </a:r>
          </a:p>
        </p:txBody>
      </p:sp>
    </p:spTree>
    <p:extLst>
      <p:ext uri="{BB962C8B-B14F-4D97-AF65-F5344CB8AC3E}">
        <p14:creationId xmlns:p14="http://schemas.microsoft.com/office/powerpoint/2010/main" val="298904129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64CB2C-5F2F-4355-8665-4CEE07FD4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Diabetic Ketoacidosis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18325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Shape 57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lang="en-US" dirty="0"/>
              <a:t>Diabetic Ketoacidosis</a:t>
            </a:r>
            <a:endParaRPr dirty="0"/>
          </a:p>
        </p:txBody>
      </p:sp>
      <p:sp>
        <p:nvSpPr>
          <p:cNvPr id="577" name="Shape 577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t">
            <a:noAutofit/>
          </a:bodyPr>
          <a:lstStyle/>
          <a:p>
            <a:pPr defTabSz="914144">
              <a:buFont typeface="Arial"/>
              <a:buChar char="•"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3050" dirty="0">
                <a:ea typeface="+mn-lt"/>
                <a:cs typeface="+mn-lt"/>
              </a:rPr>
              <a:t>Life-threatening acute complication of diabetes</a:t>
            </a:r>
            <a:endParaRPr lang="en-US" dirty="0"/>
          </a:p>
          <a:p>
            <a:pPr defTabSz="914144">
              <a:buFont typeface="Arial"/>
              <a:buChar char="•"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3050" dirty="0">
                <a:ea typeface="+mn-lt"/>
                <a:cs typeface="+mn-lt"/>
              </a:rPr>
              <a:t>Hospitalizations for DKA have increased substantially in recent decades</a:t>
            </a:r>
            <a:endParaRPr dirty="0"/>
          </a:p>
          <a:p>
            <a:pPr defTabSz="914144">
              <a:buFont typeface="Arial"/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lang="en-US" sz="3050" dirty="0">
                <a:ea typeface="+mn-lt"/>
                <a:cs typeface="+mn-lt"/>
              </a:rPr>
              <a:t>Mortality is now </a:t>
            </a:r>
            <a:r>
              <a:rPr lang="en-US" sz="3050" b="1" dirty="0">
                <a:ea typeface="+mn-lt"/>
                <a:cs typeface="+mn-lt"/>
              </a:rPr>
              <a:t>&lt;1% with appropriate treatment</a:t>
            </a:r>
            <a:r>
              <a:rPr lang="en-US" sz="3050" dirty="0">
                <a:ea typeface="+mn-lt"/>
                <a:cs typeface="+mn-lt"/>
              </a:rPr>
              <a:t>, but risk increases substantially with severe illness/comorbidities</a:t>
            </a:r>
            <a:endParaRPr lang="en-US" dirty="0"/>
          </a:p>
          <a:p>
            <a:pPr defTabSz="914144">
              <a:buFont typeface="Arial"/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lang="en-US" sz="3050" dirty="0">
                <a:ea typeface="+mn-lt"/>
                <a:cs typeface="+mn-lt"/>
              </a:rPr>
              <a:t>Can occur in </a:t>
            </a:r>
            <a:r>
              <a:rPr lang="en-US" sz="3050" b="1" dirty="0">
                <a:ea typeface="+mn-lt"/>
                <a:cs typeface="+mn-lt"/>
              </a:rPr>
              <a:t>T1DM or T2DM</a:t>
            </a:r>
            <a:endParaRPr sz="309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64327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3432B-3A01-0435-3FF2-3A0A6EB21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Shape 576">
            <a:extLst>
              <a:ext uri="{FF2B5EF4-FFF2-40B4-BE49-F238E27FC236}">
                <a16:creationId xmlns:a16="http://schemas.microsoft.com/office/drawing/2014/main" id="{10FB8AFA-4DC6-C0B1-08B6-2493EDC1834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lang="en-US" dirty="0"/>
              <a:t>Diabetic Ketoacidosis</a:t>
            </a:r>
            <a:endParaRPr dirty="0"/>
          </a:p>
        </p:txBody>
      </p:sp>
      <p:sp>
        <p:nvSpPr>
          <p:cNvPr id="577" name="Shape 577">
            <a:extLst>
              <a:ext uri="{FF2B5EF4-FFF2-40B4-BE49-F238E27FC236}">
                <a16:creationId xmlns:a16="http://schemas.microsoft.com/office/drawing/2014/main" id="{57518021-A779-2D88-55A1-992E73F47E57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t">
            <a:noAutofit/>
          </a:bodyPr>
          <a:lstStyle/>
          <a:p>
            <a:pPr marL="1028700" lvl="1" indent="-342900" defTabSz="914144">
              <a:buAutoNum type="arabicPeriod"/>
              <a:defRPr sz="3900">
                <a:latin typeface="Arial"/>
                <a:ea typeface="Arial"/>
                <a:cs typeface="Arial"/>
                <a:sym typeface="Arial"/>
              </a:defRPr>
            </a:pPr>
            <a:endParaRPr lang="en-US"/>
          </a:p>
          <a:p>
            <a:pPr marL="321310" lvl="1" indent="0" defTabSz="914144">
              <a:spcBef>
                <a:spcPts val="422"/>
              </a:spcBef>
              <a:buNone/>
              <a:defRPr sz="3900">
                <a:latin typeface="Arial"/>
                <a:ea typeface="Arial"/>
                <a:cs typeface="Arial"/>
                <a:sym typeface="Arial"/>
              </a:defRPr>
            </a:pPr>
            <a:endParaRPr sz="3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6CE350-0190-0AB5-4BE8-06D697F575BC}"/>
              </a:ext>
            </a:extLst>
          </p:cNvPr>
          <p:cNvSpPr txBox="1"/>
          <p:nvPr/>
        </p:nvSpPr>
        <p:spPr>
          <a:xfrm>
            <a:off x="642346" y="1586974"/>
            <a:ext cx="10781355" cy="2693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lvl="1" indent="-228600">
              <a:lnSpc>
                <a:spcPct val="90000"/>
              </a:lnSpc>
              <a:spcBef>
                <a:spcPts val="500"/>
              </a:spcBef>
            </a:pPr>
            <a:r>
              <a:rPr lang="en-US" sz="2800" b="1" dirty="0">
                <a:latin typeface="Arial"/>
                <a:cs typeface="Arial"/>
              </a:rPr>
              <a:t>Diagnosis requires ALL 3:</a:t>
            </a:r>
            <a:endParaRPr lang="en-US" sz="2800" dirty="0">
              <a:latin typeface="Arial"/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800" b="1" dirty="0">
                <a:latin typeface="Arial"/>
                <a:cs typeface="Arial"/>
              </a:rPr>
              <a:t>Diabetes/hyperglycemia:</a:t>
            </a:r>
            <a:r>
              <a:rPr lang="en-US" sz="2800" dirty="0">
                <a:latin typeface="Arial"/>
                <a:cs typeface="Arial"/>
              </a:rPr>
              <a:t> glucose ≥200 mg/dL </a:t>
            </a:r>
            <a:r>
              <a:rPr lang="en-US" sz="2800" b="1" dirty="0">
                <a:latin typeface="Arial"/>
                <a:cs typeface="Arial"/>
              </a:rPr>
              <a:t>OR known diabetes</a:t>
            </a:r>
            <a:endParaRPr lang="en-US" sz="2800" dirty="0">
              <a:latin typeface="Arial"/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800" b="1" dirty="0">
                <a:latin typeface="Arial"/>
                <a:cs typeface="Arial"/>
              </a:rPr>
              <a:t>Ketosis:</a:t>
            </a:r>
            <a:r>
              <a:rPr lang="en-US" sz="2800" dirty="0">
                <a:latin typeface="Arial"/>
                <a:cs typeface="Arial"/>
              </a:rPr>
              <a:t> β-hydroxybutyrate ≥3.0 mmol/L or urine ketones ≥2+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800" b="1" dirty="0">
                <a:latin typeface="Arial"/>
                <a:cs typeface="Arial"/>
              </a:rPr>
              <a:t>Metabolic acidosis:</a:t>
            </a:r>
            <a:r>
              <a:rPr lang="en-US" sz="2800" dirty="0">
                <a:latin typeface="Arial"/>
                <a:cs typeface="Arial"/>
              </a:rPr>
              <a:t> pH &lt;7.3 and/or HCO₃ &lt;18 </a:t>
            </a:r>
            <a:r>
              <a:rPr lang="en-US" sz="2800" dirty="0" err="1">
                <a:latin typeface="Arial"/>
                <a:cs typeface="Arial"/>
              </a:rPr>
              <a:t>mEq</a:t>
            </a:r>
            <a:r>
              <a:rPr lang="en-US" sz="2800" dirty="0">
                <a:latin typeface="Arial"/>
                <a:cs typeface="Arial"/>
              </a:rPr>
              <a:t>/L</a:t>
            </a: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371538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Shape 57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 fontScale="90000"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dirty="0"/>
              <a:t>Diabetic Ketoacidosis</a:t>
            </a:r>
            <a:r>
              <a:rPr lang="en-US" dirty="0"/>
              <a:t> Etiologies</a:t>
            </a:r>
            <a:endParaRPr dirty="0"/>
          </a:p>
        </p:txBody>
      </p:sp>
      <p:sp>
        <p:nvSpPr>
          <p:cNvPr id="580" name="Shape 580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t">
            <a:normAutofit/>
          </a:bodyPr>
          <a:lstStyle/>
          <a:p>
            <a:pPr marL="642620" indent="-642620" defTabSz="914144">
              <a:spcBef>
                <a:spcPts val="492"/>
              </a:spcBef>
              <a:buAutoNum type="arabicPeriod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050" b="1" dirty="0">
                <a:latin typeface="Calibri"/>
                <a:ea typeface="Calibri"/>
                <a:cs typeface="Calibri"/>
              </a:rPr>
              <a:t>Missed or inadequate insulin</a:t>
            </a:r>
            <a:endParaRPr lang="en-US" sz="3050" b="1" dirty="0">
              <a:latin typeface="Calibri" charset="0"/>
              <a:ea typeface="Calibri" charset="0"/>
              <a:cs typeface="Calibri" charset="0"/>
            </a:endParaRPr>
          </a:p>
          <a:p>
            <a:pPr marL="642915" indent="-642915" defTabSz="914144">
              <a:spcBef>
                <a:spcPts val="492"/>
              </a:spcBef>
              <a:buFont typeface="+mj-lt"/>
              <a:buAutoNum type="arabicPeriod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094" b="1" dirty="0">
                <a:latin typeface="Calibri" charset="0"/>
                <a:ea typeface="Calibri" charset="0"/>
                <a:cs typeface="Calibri" charset="0"/>
              </a:rPr>
              <a:t>Infection- usually UTI or pneumonia</a:t>
            </a:r>
            <a:endParaRPr sz="3094" b="1" dirty="0">
              <a:latin typeface="Calibri" charset="0"/>
              <a:ea typeface="Calibri" charset="0"/>
              <a:cs typeface="Calibri" charset="0"/>
            </a:endParaRPr>
          </a:p>
          <a:p>
            <a:pPr marL="642915" indent="-642915" defTabSz="914144">
              <a:spcBef>
                <a:spcPts val="492"/>
              </a:spcBef>
              <a:buFont typeface="+mj-lt"/>
              <a:buAutoNum type="arabicPeriod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094" dirty="0">
                <a:latin typeface="Calibri" charset="0"/>
                <a:ea typeface="Calibri" charset="0"/>
                <a:cs typeface="Calibri" charset="0"/>
              </a:rPr>
              <a:t>The initial presentation of acute type I DM</a:t>
            </a:r>
          </a:p>
          <a:p>
            <a:pPr marL="642915" indent="-642915" defTabSz="914144">
              <a:spcBef>
                <a:spcPts val="492"/>
              </a:spcBef>
              <a:buFont typeface="+mj-lt"/>
              <a:buAutoNum type="arabicPeriod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094" dirty="0">
                <a:latin typeface="Calibri" charset="0"/>
                <a:ea typeface="Calibri" charset="0"/>
                <a:cs typeface="Calibri" charset="0"/>
              </a:rPr>
              <a:t>In the setting of </a:t>
            </a: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illness:</a:t>
            </a:r>
            <a:r>
              <a:rPr sz="3094" dirty="0">
                <a:latin typeface="Calibri" charset="0"/>
                <a:ea typeface="Calibri" charset="0"/>
                <a:cs typeface="Calibri" charset="0"/>
              </a:rPr>
              <a:t> MI, </a:t>
            </a: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pancreatitis, </a:t>
            </a:r>
            <a:r>
              <a:rPr sz="3094" dirty="0">
                <a:latin typeface="Calibri" charset="0"/>
                <a:ea typeface="Calibri" charset="0"/>
                <a:cs typeface="Calibri" charset="0"/>
              </a:rPr>
              <a:t>surgery or trauma when insulin requirements increase</a:t>
            </a:r>
            <a:endParaRPr lang="en-US" sz="3094" dirty="0">
              <a:latin typeface="Calibri" charset="0"/>
              <a:ea typeface="Calibri" charset="0"/>
              <a:cs typeface="Calibri" charset="0"/>
            </a:endParaRPr>
          </a:p>
          <a:p>
            <a:pPr marL="642915" indent="-642915" defTabSz="914144">
              <a:spcBef>
                <a:spcPts val="492"/>
              </a:spcBef>
              <a:buFont typeface="+mj-lt"/>
              <a:buAutoNum type="arabicPeriod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094" dirty="0">
                <a:latin typeface="Calibri" charset="0"/>
                <a:ea typeface="Calibri" charset="0"/>
                <a:cs typeface="Calibri" charset="0"/>
              </a:rPr>
              <a:t>Severe stress in type II DM, such as sepsis or trauma</a:t>
            </a:r>
            <a:endParaRPr lang="en-US" sz="3094" dirty="0">
              <a:latin typeface="Calibri" charset="0"/>
              <a:ea typeface="Calibri" charset="0"/>
              <a:cs typeface="Calibri" charset="0"/>
            </a:endParaRPr>
          </a:p>
          <a:p>
            <a:pPr marL="642620" indent="-642620" defTabSz="914144">
              <a:spcBef>
                <a:spcPts val="492"/>
              </a:spcBef>
              <a:buFont typeface="+mj-lt"/>
              <a:buAutoNum type="arabicPeriod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050" dirty="0">
                <a:latin typeface="Calibri"/>
                <a:ea typeface="Calibri"/>
                <a:cs typeface="Calibri"/>
              </a:rPr>
              <a:t>Complication of SGLT-2 usage (euglycemic DKA)</a:t>
            </a:r>
            <a:endParaRPr lang="en-US" sz="3050" dirty="0">
              <a:latin typeface="Calibri" charset="0"/>
              <a:ea typeface="Calibri" charset="0"/>
              <a:cs typeface="Calibri" charset="0"/>
            </a:endParaRPr>
          </a:p>
          <a:p>
            <a:pPr marL="642915" indent="-642915" defTabSz="914144">
              <a:spcBef>
                <a:spcPts val="492"/>
              </a:spcBef>
              <a:buFont typeface="+mj-lt"/>
              <a:buAutoNum type="arabicPeriod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094" dirty="0">
                <a:latin typeface="Calibri" charset="0"/>
                <a:ea typeface="Calibri" charset="0"/>
                <a:cs typeface="Calibri" charset="0"/>
              </a:rPr>
              <a:t>As a complication of insulin pump failure or insulin leakage </a:t>
            </a:r>
          </a:p>
        </p:txBody>
      </p:sp>
    </p:spTree>
    <p:extLst>
      <p:ext uri="{BB962C8B-B14F-4D97-AF65-F5344CB8AC3E}">
        <p14:creationId xmlns:p14="http://schemas.microsoft.com/office/powerpoint/2010/main" val="18837518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Shape 58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dirty="0"/>
              <a:t>Symptoms of DKA</a:t>
            </a:r>
          </a:p>
        </p:txBody>
      </p:sp>
      <p:sp>
        <p:nvSpPr>
          <p:cNvPr id="583" name="Shape 583"/>
          <p:cNvSpPr>
            <a:spLocks noGrp="1"/>
          </p:cNvSpPr>
          <p:nvPr>
            <p:ph idx="1"/>
          </p:nvPr>
        </p:nvSpPr>
        <p:spPr>
          <a:xfrm>
            <a:off x="298938" y="1825625"/>
            <a:ext cx="11588261" cy="4351338"/>
          </a:xfrm>
          <a:prstGeom prst="rect">
            <a:avLst/>
          </a:prstGeom>
        </p:spPr>
        <p:txBody>
          <a:bodyPr vert="horz" lIns="50799" tIns="50799" rIns="50799" bIns="50799" rtlCol="0">
            <a:noAutofit/>
          </a:bodyPr>
          <a:lstStyle/>
          <a:p>
            <a:pPr marL="0" indent="0" defTabSz="914144">
              <a:spcBef>
                <a:spcPts val="492"/>
              </a:spcBef>
              <a:buNone/>
              <a:defRPr sz="4500" b="1" i="1">
                <a:latin typeface="Arial"/>
                <a:ea typeface="Arial"/>
                <a:cs typeface="Arial"/>
                <a:sym typeface="Arial"/>
              </a:defRPr>
            </a:pPr>
            <a:r>
              <a:rPr sz="3200" dirty="0"/>
              <a:t>Onset within 24-48 hours</a:t>
            </a:r>
          </a:p>
          <a:p>
            <a:pPr marL="364302" lvl="2" indent="-339316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dirty="0"/>
              <a:t>Polyuria and polydipsia</a:t>
            </a:r>
          </a:p>
          <a:p>
            <a:pPr marL="364302" lvl="2" indent="-339316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dirty="0"/>
              <a:t>Fatigue/ weakness</a:t>
            </a:r>
          </a:p>
          <a:p>
            <a:pPr marL="364302" lvl="2" indent="-339316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dirty="0"/>
              <a:t>Anorexia/ nausea/ vomiting</a:t>
            </a:r>
            <a:endParaRPr lang="en-US" sz="3200" dirty="0"/>
          </a:p>
          <a:p>
            <a:pPr marL="364302" lvl="2" indent="-339316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/>
              <a:t>Tachypnea</a:t>
            </a:r>
            <a:endParaRPr sz="3200" dirty="0"/>
          </a:p>
          <a:p>
            <a:pPr marL="364302" lvl="2" indent="-339316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dirty="0"/>
              <a:t>Mental stupor progressing to coma</a:t>
            </a:r>
          </a:p>
          <a:p>
            <a:pPr marL="364302" lvl="2" indent="-339316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dirty="0"/>
              <a:t>Abdominal pain</a:t>
            </a:r>
          </a:p>
          <a:p>
            <a:pPr marL="339316" indent="-339316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sz="800" dirty="0"/>
          </a:p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000" dirty="0"/>
              <a:t>May be subtle, especially early in course</a:t>
            </a:r>
            <a:r>
              <a:rPr lang="en-US" sz="3000" dirty="0"/>
              <a:t>, but progresses rapidly</a:t>
            </a:r>
            <a:r>
              <a:rPr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293147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hape 58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dirty="0"/>
              <a:t>Signs of DKA</a:t>
            </a:r>
          </a:p>
        </p:txBody>
      </p:sp>
      <p:sp>
        <p:nvSpPr>
          <p:cNvPr id="586" name="Shape 586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>
            <a:noAutofit/>
          </a:bodyPr>
          <a:lstStyle/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094" b="1" i="1" dirty="0">
                <a:latin typeface="Calibri" charset="0"/>
                <a:ea typeface="Calibri" charset="0"/>
                <a:cs typeface="Calibri" charset="0"/>
              </a:rPr>
              <a:t>Evidence of dehydration</a:t>
            </a: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: dry MM,  ↓ skin turgor, initially ↑ UOP that decreases</a:t>
            </a:r>
            <a:endParaRPr sz="3094" dirty="0">
              <a:latin typeface="Calibri" charset="0"/>
              <a:ea typeface="Calibri" charset="0"/>
              <a:cs typeface="Calibri" charset="0"/>
            </a:endParaRP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094" b="1" i="1" dirty="0">
                <a:latin typeface="Calibri" charset="0"/>
                <a:ea typeface="Calibri" charset="0"/>
                <a:cs typeface="Calibri" charset="0"/>
              </a:rPr>
              <a:t>Rapid deep breathing </a:t>
            </a:r>
            <a:r>
              <a:rPr sz="3094" dirty="0">
                <a:latin typeface="Calibri" charset="0"/>
                <a:ea typeface="Calibri" charset="0"/>
                <a:cs typeface="Calibri" charset="0"/>
              </a:rPr>
              <a:t>(Kussmaul respirations)</a:t>
            </a: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094" dirty="0">
                <a:latin typeface="Calibri" charset="0"/>
                <a:ea typeface="Calibri" charset="0"/>
                <a:cs typeface="Calibri" charset="0"/>
              </a:rPr>
              <a:t>Fruity breath odor</a:t>
            </a: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094" b="1" i="1" dirty="0">
                <a:latin typeface="Calibri" charset="0"/>
                <a:ea typeface="Calibri" charset="0"/>
                <a:cs typeface="Calibri" charset="0"/>
              </a:rPr>
              <a:t>Hypotension and tachycardia </a:t>
            </a:r>
            <a:r>
              <a:rPr lang="en-US" sz="3094" i="1" dirty="0">
                <a:latin typeface="Calibri" charset="0"/>
                <a:ea typeface="Calibri" charset="0"/>
                <a:cs typeface="Calibri" charset="0"/>
              </a:rPr>
              <a:t>2/2</a:t>
            </a: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 to </a:t>
            </a:r>
            <a:r>
              <a:rPr sz="3094" dirty="0">
                <a:latin typeface="Calibri" charset="0"/>
                <a:ea typeface="Calibri" charset="0"/>
                <a:cs typeface="Calibri" charset="0"/>
              </a:rPr>
              <a:t>fluid/ electrolyte loss</a:t>
            </a:r>
            <a:endParaRPr lang="en-US" sz="3094" dirty="0">
              <a:latin typeface="Calibri" charset="0"/>
              <a:ea typeface="Calibri" charset="0"/>
              <a:cs typeface="Calibri" charset="0"/>
            </a:endParaRPr>
          </a:p>
          <a:p>
            <a:pPr marL="342664" indent="-342664" defTabSz="914144">
              <a:spcBef>
                <a:spcPts val="492"/>
              </a:spcBef>
              <a:buFont typeface="Arial"/>
              <a:buChar char="•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094" b="1" i="1" dirty="0">
                <a:latin typeface="Calibri" charset="0"/>
                <a:ea typeface="Calibri" charset="0"/>
                <a:cs typeface="Calibri" charset="0"/>
              </a:rPr>
              <a:t>Abdominal pain</a:t>
            </a: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: corresponds with severity of hyperglycemia</a:t>
            </a:r>
          </a:p>
          <a:p>
            <a:pPr marL="342664" indent="-342664" defTabSz="914144">
              <a:spcBef>
                <a:spcPts val="492"/>
              </a:spcBef>
              <a:buFont typeface="Arial"/>
              <a:buChar char="•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094" b="1" i="1" dirty="0">
                <a:latin typeface="Calibri" charset="0"/>
                <a:ea typeface="Calibri" charset="0"/>
                <a:cs typeface="Calibri" charset="0"/>
              </a:rPr>
              <a:t>Progressively worsening mental status</a:t>
            </a: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/ lethargic </a:t>
            </a:r>
            <a:r>
              <a:rPr lang="en-US" sz="3094" dirty="0" err="1">
                <a:latin typeface="Calibri" charset="0"/>
                <a:ea typeface="Calibri" charset="0"/>
                <a:cs typeface="Calibri" charset="0"/>
              </a:rPr>
              <a:t>stuporous</a:t>
            </a: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 patient- reflects the worsening acidosis</a:t>
            </a:r>
            <a:endParaRPr sz="3094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37552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Shape 58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dirty="0"/>
              <a:t>Lab Findings in DKA</a:t>
            </a:r>
          </a:p>
        </p:txBody>
      </p:sp>
      <p:sp>
        <p:nvSpPr>
          <p:cNvPr id="589" name="Shape 589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t">
            <a:normAutofit fontScale="92500" lnSpcReduction="20000"/>
          </a:bodyPr>
          <a:lstStyle/>
          <a:p>
            <a:pPr>
              <a:buFont typeface="Arial,Sans-Serif" charset="0"/>
              <a:buChar char="•"/>
            </a:pPr>
            <a:endParaRPr lang="en-US" sz="3050" dirty="0">
              <a:latin typeface="Calibri" charset="0"/>
              <a:ea typeface="Calibri" charset="0"/>
              <a:cs typeface="Calibri" charset="0"/>
            </a:endParaRPr>
          </a:p>
          <a:p>
            <a:pPr>
              <a:buFont typeface="Arial,Sans-Serif" charset="0"/>
              <a:buChar char="•"/>
            </a:pPr>
            <a:r>
              <a:rPr lang="en-US" sz="3050" dirty="0">
                <a:ea typeface="+mn-lt"/>
                <a:cs typeface="+mn-lt"/>
              </a:rPr>
              <a:t>Hyperglycemia, degree varies: often 250-600 mg/dL</a:t>
            </a:r>
            <a:endParaRPr lang="en-US" dirty="0"/>
          </a:p>
          <a:p>
            <a:pPr lvl="1">
              <a:buFont typeface="Courier New" charset="0"/>
              <a:buChar char="o"/>
            </a:pPr>
            <a:r>
              <a:rPr lang="en-US" sz="2650" dirty="0">
                <a:ea typeface="+mn-lt"/>
                <a:cs typeface="+mn-lt"/>
              </a:rPr>
              <a:t>May be &lt;200 in euglycemic DKA</a:t>
            </a:r>
          </a:p>
          <a:p>
            <a:pPr>
              <a:buFont typeface="Arial,Sans-Serif" charset="0"/>
              <a:buChar char="•"/>
            </a:pPr>
            <a:r>
              <a:rPr lang="en-US" sz="3050" b="1" dirty="0">
                <a:ea typeface="+mn-lt"/>
                <a:cs typeface="+mn-lt"/>
              </a:rPr>
              <a:t>↑ β-hydroxybutyrate: </a:t>
            </a:r>
            <a:r>
              <a:rPr lang="en-US" dirty="0">
                <a:ea typeface="+mn-lt"/>
                <a:cs typeface="+mn-lt"/>
              </a:rPr>
              <a:t>≥ 3.0 mmol/L</a:t>
            </a:r>
            <a:endParaRPr lang="en-US" dirty="0"/>
          </a:p>
          <a:p>
            <a:pPr>
              <a:buFont typeface="Arial,Sans-Serif" charset="0"/>
              <a:buChar char="•"/>
            </a:pPr>
            <a:r>
              <a:rPr lang="en-US" sz="3050" dirty="0">
                <a:ea typeface="+mn-lt"/>
                <a:cs typeface="+mn-lt"/>
              </a:rPr>
              <a:t>↓ pH: &lt;7.30</a:t>
            </a:r>
            <a:endParaRPr lang="en-US" dirty="0"/>
          </a:p>
          <a:p>
            <a:pPr lvl="1">
              <a:buFont typeface="Courier New" charset="0"/>
              <a:buChar char="o"/>
            </a:pPr>
            <a:r>
              <a:rPr lang="en-US" sz="2650" dirty="0">
                <a:ea typeface="+mn-lt"/>
                <a:cs typeface="+mn-lt"/>
              </a:rPr>
              <a:t>Severe DKA may be &lt;7.0</a:t>
            </a:r>
          </a:p>
          <a:p>
            <a:pPr>
              <a:buFont typeface="Arial,Sans-Serif" charset="0"/>
              <a:buChar char="•"/>
            </a:pPr>
            <a:r>
              <a:rPr lang="en-US" sz="3050" dirty="0">
                <a:ea typeface="+mn-lt"/>
                <a:cs typeface="+mn-lt"/>
              </a:rPr>
              <a:t>↓ bicarbonate: &lt;18 </a:t>
            </a:r>
            <a:r>
              <a:rPr lang="en-US" sz="3050" dirty="0" err="1">
                <a:ea typeface="+mn-lt"/>
                <a:cs typeface="+mn-lt"/>
              </a:rPr>
              <a:t>mEq</a:t>
            </a:r>
            <a:r>
              <a:rPr lang="en-US" sz="3050" dirty="0">
                <a:ea typeface="+mn-lt"/>
                <a:cs typeface="+mn-lt"/>
              </a:rPr>
              <a:t>/L</a:t>
            </a:r>
          </a:p>
          <a:p>
            <a:pPr>
              <a:buFont typeface="Arial,Sans-Serif" charset="0"/>
              <a:buChar char="•"/>
            </a:pPr>
            <a:r>
              <a:rPr lang="en-US" sz="3050" dirty="0">
                <a:ea typeface="+mn-lt"/>
                <a:cs typeface="+mn-lt"/>
              </a:rPr>
              <a:t>Usually ↑ anion gap: often &gt;12 </a:t>
            </a:r>
            <a:r>
              <a:rPr lang="en-US" sz="3050" dirty="0" err="1">
                <a:ea typeface="+mn-lt"/>
                <a:cs typeface="+mn-lt"/>
              </a:rPr>
              <a:t>mEq</a:t>
            </a:r>
            <a:r>
              <a:rPr lang="en-US" sz="3050" dirty="0">
                <a:ea typeface="+mn-lt"/>
                <a:cs typeface="+mn-lt"/>
              </a:rPr>
              <a:t>/L</a:t>
            </a:r>
          </a:p>
          <a:p>
            <a:pPr>
              <a:buFont typeface="Arial,Sans-Serif" charset="0"/>
              <a:buChar char="•"/>
            </a:pPr>
            <a:r>
              <a:rPr lang="en-US" sz="3050" dirty="0">
                <a:ea typeface="+mn-lt"/>
                <a:cs typeface="+mn-lt"/>
              </a:rPr>
              <a:t>Urine/serum ketones positive</a:t>
            </a:r>
            <a:endParaRPr lang="en-US" dirty="0"/>
          </a:p>
          <a:p>
            <a:pPr>
              <a:buFont typeface="Arial,Sans-Serif" charset="0"/>
              <a:buChar char="•"/>
            </a:pPr>
            <a:r>
              <a:rPr lang="en-US" sz="3050" b="1" dirty="0">
                <a:ea typeface="+mn-lt"/>
                <a:cs typeface="+mn-lt"/>
              </a:rPr>
              <a:t>Blood β-hydroxybutyrate is preferred for diagnosis and monitoring</a:t>
            </a:r>
            <a:endParaRPr lang="en-US" dirty="0"/>
          </a:p>
          <a:p>
            <a:pPr marL="401320" indent="-401320">
              <a:lnSpc>
                <a:spcPct val="120000"/>
              </a:lnSpc>
              <a:spcBef>
                <a:spcPts val="0"/>
              </a:spcBef>
              <a:buFont typeface="Arial" charset="0"/>
              <a:buChar char="•"/>
            </a:pPr>
            <a:endParaRPr lang="en-US"/>
          </a:p>
          <a:p>
            <a:pPr marL="401822" indent="-401822">
              <a:spcBef>
                <a:spcPts val="0"/>
              </a:spcBef>
              <a:buFont typeface="Arial" charset="0"/>
              <a:buChar char="•"/>
            </a:pPr>
            <a:endParaRPr lang="en-US" sz="3094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08298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Shape 58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dirty="0"/>
              <a:t>Lab Findings in DKA</a:t>
            </a:r>
          </a:p>
        </p:txBody>
      </p:sp>
      <p:sp>
        <p:nvSpPr>
          <p:cNvPr id="589" name="Shape 589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t">
            <a:noAutofit/>
          </a:bodyPr>
          <a:lstStyle/>
          <a:p>
            <a:pPr>
              <a:buFont typeface="Arial,Sans-Serif" charset="0"/>
              <a:buChar char="•"/>
            </a:pPr>
            <a:endParaRPr lang="en-US" sz="3050" dirty="0">
              <a:latin typeface="Calibri" charset="0"/>
              <a:ea typeface="Calibri" charset="0"/>
              <a:cs typeface="Calibri" charset="0"/>
            </a:endParaRPr>
          </a:p>
          <a:p>
            <a:pPr>
              <a:buFont typeface="Arial,Sans-Serif" charset="0"/>
              <a:buChar char="•"/>
            </a:pPr>
            <a:r>
              <a:rPr lang="en-US" sz="3050" dirty="0">
                <a:ea typeface="+mn-lt"/>
                <a:cs typeface="+mn-lt"/>
              </a:rPr>
              <a:t>↑ BUN/creatinine from dehydration</a:t>
            </a:r>
            <a:endParaRPr lang="en-US" dirty="0"/>
          </a:p>
          <a:p>
            <a:pPr>
              <a:buFont typeface="Arial,Sans-Serif" charset="0"/>
              <a:buChar char="•"/>
            </a:pPr>
            <a:r>
              <a:rPr lang="en-US" sz="3050" dirty="0">
                <a:ea typeface="+mn-lt"/>
                <a:cs typeface="+mn-lt"/>
              </a:rPr>
              <a:t>Sodium may be low due to hyperglycemia</a:t>
            </a:r>
            <a:endParaRPr lang="en-US" dirty="0"/>
          </a:p>
          <a:p>
            <a:pPr>
              <a:buFont typeface="Arial,Sans-Serif" charset="0"/>
              <a:buChar char="•"/>
            </a:pPr>
            <a:r>
              <a:rPr lang="en-US" sz="3050" dirty="0">
                <a:ea typeface="+mn-lt"/>
                <a:cs typeface="+mn-lt"/>
              </a:rPr>
              <a:t>Serum K⁺ may initially be </a:t>
            </a:r>
            <a:r>
              <a:rPr lang="en-US" sz="3050" b="1" dirty="0">
                <a:ea typeface="+mn-lt"/>
                <a:cs typeface="+mn-lt"/>
              </a:rPr>
              <a:t>normal or elevated</a:t>
            </a:r>
            <a:endParaRPr lang="en-US" dirty="0"/>
          </a:p>
          <a:p>
            <a:pPr>
              <a:buFont typeface="Arial,Sans-Serif" charset="0"/>
              <a:buChar char="•"/>
            </a:pPr>
            <a:r>
              <a:rPr lang="en-US" sz="3050" dirty="0">
                <a:ea typeface="+mn-lt"/>
                <a:cs typeface="+mn-lt"/>
              </a:rPr>
              <a:t>BUT </a:t>
            </a:r>
            <a:r>
              <a:rPr lang="en-US" sz="3050" b="1" dirty="0">
                <a:ea typeface="+mn-lt"/>
                <a:cs typeface="+mn-lt"/>
              </a:rPr>
              <a:t>total-body potassium is depleted</a:t>
            </a:r>
            <a:endParaRPr lang="en-US" dirty="0"/>
          </a:p>
          <a:p>
            <a:pPr>
              <a:buFont typeface="Arial,Sans-Serif" charset="0"/>
              <a:buChar char="•"/>
            </a:pPr>
            <a:r>
              <a:rPr lang="en-US" sz="3050" dirty="0">
                <a:ea typeface="+mn-lt"/>
                <a:cs typeface="+mn-lt"/>
              </a:rPr>
              <a:t>Leukocytosis may occur from stress and does not automatically indicate infection</a:t>
            </a:r>
            <a:endParaRPr lang="en-US" dirty="0"/>
          </a:p>
          <a:p>
            <a:pPr marL="401320" indent="-401320">
              <a:spcBef>
                <a:spcPts val="0"/>
              </a:spcBef>
              <a:buFont typeface="Arial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866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Shape 594"/>
          <p:cNvSpPr>
            <a:spLocks noGrp="1"/>
          </p:cNvSpPr>
          <p:nvPr>
            <p:ph type="title"/>
          </p:nvPr>
        </p:nvSpPr>
        <p:spPr>
          <a:xfrm>
            <a:off x="246185" y="365125"/>
            <a:ext cx="11711353" cy="1325563"/>
          </a:xfrm>
          <a:prstGeom prst="rect">
            <a:avLst/>
          </a:prstGeom>
        </p:spPr>
        <p:txBody>
          <a:bodyPr vert="horz" lIns="50799" tIns="50799" rIns="50799" bIns="50799" rtlCol="0" anchor="ctr">
            <a:noAutofit/>
          </a:bodyPr>
          <a:lstStyle>
            <a:lvl1pPr defTabSz="1300162">
              <a:defRPr sz="5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sz="4219" dirty="0"/>
              <a:t>Why has my patient </a:t>
            </a:r>
            <a:r>
              <a:rPr lang="en-US" sz="4219" dirty="0"/>
              <a:t>become</a:t>
            </a:r>
            <a:r>
              <a:rPr sz="4219" dirty="0"/>
              <a:t> so ill, so quickly? </a:t>
            </a:r>
          </a:p>
        </p:txBody>
      </p:sp>
      <p:sp>
        <p:nvSpPr>
          <p:cNvPr id="595" name="Shape 595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t">
            <a:normAutofit/>
          </a:bodyPr>
          <a:lstStyle/>
          <a:p>
            <a:pPr marL="642915" indent="-642915" defTabSz="914144">
              <a:spcBef>
                <a:spcPts val="914"/>
              </a:spcBef>
              <a:buFont typeface="+mj-lt"/>
              <a:buAutoNum type="arabicPeriod"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sz="4000" dirty="0"/>
              <a:t>Hyperglycemia</a:t>
            </a:r>
          </a:p>
          <a:p>
            <a:pPr marL="256719" indent="-256719" defTabSz="914144">
              <a:spcBef>
                <a:spcPts val="914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dirty="0">
                <a:latin typeface="Calibri" charset="0"/>
                <a:ea typeface="Calibri" charset="0"/>
                <a:cs typeface="Calibri" charset="0"/>
              </a:rPr>
              <a:t>In DKA there is </a:t>
            </a:r>
            <a:r>
              <a:rPr sz="3200" u="sng" dirty="0">
                <a:latin typeface="Calibri" charset="0"/>
                <a:ea typeface="Calibri" charset="0"/>
                <a:cs typeface="Calibri" charset="0"/>
              </a:rPr>
              <a:t>insufficien</a:t>
            </a:r>
            <a:r>
              <a:rPr lang="en-US" sz="3200" u="sng" dirty="0">
                <a:latin typeface="Calibri" charset="0"/>
                <a:ea typeface="Calibri" charset="0"/>
                <a:cs typeface="Calibri" charset="0"/>
              </a:rPr>
              <a:t>t </a:t>
            </a:r>
            <a:r>
              <a:rPr sz="3200" u="sng" dirty="0">
                <a:latin typeface="Calibri" charset="0"/>
                <a:ea typeface="Calibri" charset="0"/>
                <a:cs typeface="Calibri" charset="0"/>
              </a:rPr>
              <a:t>insulin</a:t>
            </a:r>
            <a:r>
              <a:rPr sz="3200" dirty="0">
                <a:latin typeface="Calibri" charset="0"/>
                <a:ea typeface="Calibri" charset="0"/>
                <a:cs typeface="Calibri" charset="0"/>
              </a:rPr>
              <a:t> causing increased hepatic production of glucose and diminished glucose uptake by peripheral tissues.</a:t>
            </a:r>
          </a:p>
          <a:p>
            <a:pPr defTabSz="914144">
              <a:spcBef>
                <a:spcPts val="914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sz="3200" dirty="0">
              <a:latin typeface="Calibri" charset="0"/>
              <a:ea typeface="Calibri" charset="0"/>
              <a:cs typeface="Calibri" charset="0"/>
            </a:endParaRPr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dirty="0">
                <a:latin typeface="Calibri"/>
                <a:ea typeface="Calibri"/>
                <a:cs typeface="Calibri"/>
              </a:rPr>
              <a:t>In DKA there </a:t>
            </a:r>
            <a:r>
              <a:rPr lang="en-US" sz="3200" dirty="0">
                <a:latin typeface="Calibri"/>
                <a:ea typeface="+mn-lt"/>
                <a:cs typeface="+mn-lt"/>
              </a:rPr>
              <a:t>are </a:t>
            </a:r>
            <a:r>
              <a:rPr lang="en-US" sz="3200" dirty="0">
                <a:ea typeface="+mn-lt"/>
                <a:cs typeface="+mn-lt"/>
              </a:rPr>
              <a:t>↑ counterregulatory hormones, especially glucagon, </a:t>
            </a: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sz="3200" dirty="0">
                <a:latin typeface="Calibri"/>
                <a:ea typeface="Calibri"/>
                <a:cs typeface="Calibri"/>
              </a:rPr>
              <a:t>released </a:t>
            </a:r>
            <a:r>
              <a:rPr lang="en-US" sz="3200" dirty="0">
                <a:latin typeface="Calibri"/>
                <a:ea typeface="Calibri"/>
                <a:cs typeface="Calibri"/>
              </a:rPr>
              <a:t>in response to intracellular energy deficit, </a:t>
            </a:r>
            <a:r>
              <a:rPr sz="3200" dirty="0">
                <a:latin typeface="Calibri"/>
                <a:ea typeface="Calibri"/>
                <a:cs typeface="Calibri"/>
              </a:rPr>
              <a:t>causing increased hepatic glucose output</a:t>
            </a:r>
            <a:endParaRPr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36518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Shape 597"/>
          <p:cNvSpPr>
            <a:spLocks noGrp="1"/>
          </p:cNvSpPr>
          <p:nvPr>
            <p:ph type="title"/>
          </p:nvPr>
        </p:nvSpPr>
        <p:spPr>
          <a:xfrm>
            <a:off x="369277" y="365125"/>
            <a:ext cx="11482754" cy="1325563"/>
          </a:xfrm>
          <a:prstGeom prst="rect">
            <a:avLst/>
          </a:prstGeom>
        </p:spPr>
        <p:txBody>
          <a:bodyPr vert="horz" lIns="50799" tIns="50799" rIns="50799" bIns="50799" rtlCol="0" anchor="ctr">
            <a:noAutofit/>
          </a:bodyPr>
          <a:lstStyle>
            <a:lvl1pPr defTabSz="1300162">
              <a:defRPr sz="5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sz="4400" dirty="0"/>
              <a:t>Why has my patient gotten so ill, so quickly? </a:t>
            </a:r>
          </a:p>
        </p:txBody>
      </p:sp>
      <p:sp>
        <p:nvSpPr>
          <p:cNvPr id="598" name="Shape 598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>
            <a:normAutofit fontScale="85000" lnSpcReduction="20000"/>
          </a:bodyPr>
          <a:lstStyle/>
          <a:p>
            <a:pPr marL="642915" indent="-642915" defTabSz="914144">
              <a:spcBef>
                <a:spcPts val="492"/>
              </a:spcBef>
              <a:buFont typeface="+mj-lt"/>
              <a:buAutoNum type="arabicPeriod" startAt="2"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sz="4700" dirty="0"/>
              <a:t>Ketoacidemia</a:t>
            </a:r>
          </a:p>
          <a:p>
            <a:pPr marL="227699" indent="-227699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800" dirty="0">
                <a:latin typeface="Calibri" panose="020F0502020204030204" pitchFamily="34" charset="0"/>
                <a:cs typeface="Calibri" panose="020F0502020204030204" pitchFamily="34" charset="0"/>
              </a:rPr>
              <a:t>In DKA there is </a:t>
            </a:r>
            <a:r>
              <a:rPr lang="en-US" sz="3800" u="sng" dirty="0">
                <a:latin typeface="Calibri" panose="020F0502020204030204" pitchFamily="34" charset="0"/>
                <a:cs typeface="Calibri" panose="020F0502020204030204" pitchFamily="34" charset="0"/>
              </a:rPr>
              <a:t>too little </a:t>
            </a:r>
            <a:r>
              <a:rPr sz="3800" u="sng" dirty="0">
                <a:latin typeface="Calibri" panose="020F0502020204030204" pitchFamily="34" charset="0"/>
                <a:cs typeface="Calibri" panose="020F0502020204030204" pitchFamily="34" charset="0"/>
              </a:rPr>
              <a:t>insulin</a:t>
            </a:r>
            <a:r>
              <a:rPr sz="3800" dirty="0">
                <a:latin typeface="Calibri" panose="020F0502020204030204" pitchFamily="34" charset="0"/>
                <a:cs typeface="Calibri" panose="020F0502020204030204" pitchFamily="34" charset="0"/>
              </a:rPr>
              <a:t> and</a:t>
            </a:r>
            <a:r>
              <a:rPr lang="en-US" sz="3800" dirty="0">
                <a:latin typeface="Calibri" panose="020F0502020204030204" pitchFamily="34" charset="0"/>
                <a:cs typeface="Calibri" panose="020F0502020204030204" pitchFamily="34" charset="0"/>
              </a:rPr>
              <a:t> an</a:t>
            </a:r>
            <a:r>
              <a:rPr sz="3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800" u="sng" dirty="0">
                <a:latin typeface="Calibri" panose="020F0502020204030204" pitchFamily="34" charset="0"/>
                <a:cs typeface="Calibri" panose="020F0502020204030204" pitchFamily="34" charset="0"/>
              </a:rPr>
              <a:t>excess of stress hormones</a:t>
            </a:r>
            <a:r>
              <a:rPr sz="3800" dirty="0">
                <a:latin typeface="Calibri" panose="020F0502020204030204" pitchFamily="34" charset="0"/>
                <a:cs typeface="Calibri" panose="020F0502020204030204" pitchFamily="34" charset="0"/>
              </a:rPr>
              <a:t> causing </a:t>
            </a:r>
            <a:r>
              <a:rPr lang="en-US" sz="3800" dirty="0">
                <a:latin typeface="Calibri" panose="020F0502020204030204" pitchFamily="34" charset="0"/>
                <a:cs typeface="Calibri" panose="020F0502020204030204" pitchFamily="34" charset="0"/>
              </a:rPr>
              <a:t>breakdown of fat and creation of ketone bodies</a:t>
            </a:r>
            <a:r>
              <a:rPr sz="3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sz="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7699" indent="-227699" defTabSz="914144">
              <a:spcBef>
                <a:spcPts val="492"/>
              </a:spcBef>
              <a:defRPr sz="4500" u="sng">
                <a:latin typeface="Arial"/>
                <a:ea typeface="Arial"/>
                <a:cs typeface="Arial"/>
                <a:sym typeface="Arial"/>
              </a:defRPr>
            </a:pPr>
            <a:r>
              <a:rPr sz="3800" dirty="0">
                <a:latin typeface="Calibri" panose="020F0502020204030204" pitchFamily="34" charset="0"/>
                <a:cs typeface="Calibri" panose="020F0502020204030204" pitchFamily="34" charset="0"/>
              </a:rPr>
              <a:t>Insulin insufficiency</a:t>
            </a:r>
            <a:r>
              <a:rPr sz="3800" u="none" dirty="0">
                <a:latin typeface="Calibri" panose="020F0502020204030204" pitchFamily="34" charset="0"/>
                <a:cs typeface="Calibri" panose="020F0502020204030204" pitchFamily="34" charset="0"/>
              </a:rPr>
              <a:t> also causes reduced keto</a:t>
            </a:r>
            <a:r>
              <a:rPr lang="en-US" sz="3800" u="none" dirty="0">
                <a:latin typeface="Calibri" panose="020F0502020204030204" pitchFamily="34" charset="0"/>
                <a:cs typeface="Calibri" panose="020F0502020204030204" pitchFamily="34" charset="0"/>
              </a:rPr>
              <a:t>ne breakdown</a:t>
            </a:r>
            <a:r>
              <a:rPr sz="3800" u="none" dirty="0">
                <a:latin typeface="Calibri" panose="020F0502020204030204" pitchFamily="34" charset="0"/>
                <a:cs typeface="Calibri" panose="020F0502020204030204" pitchFamily="34" charset="0"/>
              </a:rPr>
              <a:t> in peripheral tissues</a:t>
            </a:r>
          </a:p>
          <a:p>
            <a:pPr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sz="3800" u="non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7699" indent="-227699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8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3800" dirty="0">
                <a:latin typeface="Calibri" panose="020F0502020204030204" pitchFamily="34" charset="0"/>
                <a:cs typeface="Calibri" panose="020F0502020204030204" pitchFamily="34" charset="0"/>
              </a:rPr>
              <a:t>here is a </a:t>
            </a:r>
            <a:r>
              <a:rPr sz="3800" u="sng" dirty="0">
                <a:latin typeface="Calibri" panose="020F0502020204030204" pitchFamily="34" charset="0"/>
                <a:cs typeface="Calibri" panose="020F0502020204030204" pitchFamily="34" charset="0"/>
              </a:rPr>
              <a:t>too much glucagon</a:t>
            </a:r>
            <a:r>
              <a:rPr sz="3800" dirty="0">
                <a:latin typeface="Calibri" panose="020F0502020204030204" pitchFamily="34" charset="0"/>
                <a:cs typeface="Calibri" panose="020F0502020204030204" pitchFamily="34" charset="0"/>
              </a:rPr>
              <a:t> causing increased lipolysis and hepatic ketogenesis</a:t>
            </a:r>
          </a:p>
        </p:txBody>
      </p:sp>
    </p:spTree>
    <p:extLst>
      <p:ext uri="{BB962C8B-B14F-4D97-AF65-F5344CB8AC3E}">
        <p14:creationId xmlns:p14="http://schemas.microsoft.com/office/powerpoint/2010/main" val="208352835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pe 600"/>
          <p:cNvSpPr>
            <a:spLocks noGrp="1"/>
          </p:cNvSpPr>
          <p:nvPr>
            <p:ph type="title"/>
          </p:nvPr>
        </p:nvSpPr>
        <p:spPr>
          <a:xfrm>
            <a:off x="298937" y="365125"/>
            <a:ext cx="11500339" cy="1325563"/>
          </a:xfrm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5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sz="4219" dirty="0"/>
              <a:t>Why has my patient gotten so ill, so quickly?</a:t>
            </a:r>
          </a:p>
        </p:txBody>
      </p:sp>
      <p:sp>
        <p:nvSpPr>
          <p:cNvPr id="601" name="Shape 60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>
            <a:normAutofit/>
          </a:bodyPr>
          <a:lstStyle/>
          <a:p>
            <a:pPr marL="522368" indent="-522368" defTabSz="914144">
              <a:spcBef>
                <a:spcPts val="492"/>
              </a:spcBef>
              <a:buFont typeface="+mj-lt"/>
              <a:buAutoNum type="arabicPeriod" startAt="3"/>
              <a:defRPr sz="4300" b="1">
                <a:latin typeface="Arial"/>
                <a:ea typeface="Arial"/>
                <a:cs typeface="Arial"/>
                <a:sym typeface="Arial"/>
              </a:defRPr>
            </a:pPr>
            <a:r>
              <a:rPr sz="4000" dirty="0"/>
              <a:t>Fluid and Electrolyte Depletion</a:t>
            </a:r>
          </a:p>
          <a:p>
            <a:pPr marL="161844" indent="-161844" defTabSz="914144">
              <a:spcBef>
                <a:spcPts val="492"/>
              </a:spcBef>
              <a:defRPr sz="4300" u="sng">
                <a:latin typeface="Arial"/>
                <a:ea typeface="Arial"/>
                <a:cs typeface="Arial"/>
                <a:sym typeface="Arial"/>
              </a:defRPr>
            </a:pPr>
            <a:r>
              <a:rPr sz="3200" dirty="0"/>
              <a:t>Osmotic diuresis</a:t>
            </a:r>
            <a:r>
              <a:rPr sz="3200" u="none" dirty="0"/>
              <a:t> results from hyperglycemia with </a:t>
            </a:r>
            <a:r>
              <a:rPr sz="3200" dirty="0"/>
              <a:t>loss of water and electrolytes</a:t>
            </a:r>
            <a:r>
              <a:rPr sz="3200" u="none" dirty="0"/>
              <a:t>.</a:t>
            </a:r>
          </a:p>
          <a:p>
            <a:pPr defTabSz="914144">
              <a:spcBef>
                <a:spcPts val="492"/>
              </a:spcBef>
              <a:defRPr sz="4300">
                <a:latin typeface="Arial"/>
                <a:ea typeface="Arial"/>
                <a:cs typeface="Arial"/>
                <a:sym typeface="Arial"/>
              </a:defRPr>
            </a:pPr>
            <a:endParaRPr sz="3200" u="none" dirty="0"/>
          </a:p>
          <a:p>
            <a:pPr marL="161844" indent="-161844" defTabSz="914144">
              <a:spcBef>
                <a:spcPts val="492"/>
              </a:spcBef>
              <a:defRPr sz="4300">
                <a:latin typeface="Arial"/>
                <a:ea typeface="Arial"/>
                <a:cs typeface="Arial"/>
                <a:sym typeface="Arial"/>
              </a:defRPr>
            </a:pPr>
            <a:r>
              <a:rPr sz="3200" dirty="0"/>
              <a:t>Ketonuria causes</a:t>
            </a:r>
            <a:r>
              <a:rPr lang="en-US" sz="3200" dirty="0"/>
              <a:t> an</a:t>
            </a:r>
            <a:r>
              <a:rPr sz="3200" dirty="0"/>
              <a:t> </a:t>
            </a:r>
            <a:r>
              <a:rPr sz="3200" u="sng" dirty="0"/>
              <a:t>osmotic diuresis</a:t>
            </a:r>
            <a:r>
              <a:rPr sz="3200" dirty="0"/>
              <a:t> as well</a:t>
            </a:r>
          </a:p>
          <a:p>
            <a:pPr defTabSz="914144">
              <a:spcBef>
                <a:spcPts val="492"/>
              </a:spcBef>
              <a:defRPr sz="4300">
                <a:latin typeface="Arial"/>
                <a:ea typeface="Arial"/>
                <a:cs typeface="Arial"/>
                <a:sym typeface="Arial"/>
              </a:defRPr>
            </a:pPr>
            <a:endParaRPr sz="3200" dirty="0"/>
          </a:p>
          <a:p>
            <a:pPr marL="161844" indent="-161844" defTabSz="914144">
              <a:spcBef>
                <a:spcPts val="492"/>
              </a:spcBef>
              <a:defRPr sz="4300">
                <a:latin typeface="Arial"/>
                <a:ea typeface="Arial"/>
                <a:cs typeface="Arial"/>
                <a:sym typeface="Arial"/>
              </a:defRPr>
            </a:pPr>
            <a:r>
              <a:rPr sz="3200" dirty="0"/>
              <a:t>The average water loss in DKA is 5L</a:t>
            </a:r>
          </a:p>
        </p:txBody>
      </p:sp>
    </p:spTree>
    <p:extLst>
      <p:ext uri="{BB962C8B-B14F-4D97-AF65-F5344CB8AC3E}">
        <p14:creationId xmlns:p14="http://schemas.microsoft.com/office/powerpoint/2010/main" val="99274811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Shape 60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lang="en-US" dirty="0"/>
              <a:t>Prevention</a:t>
            </a:r>
            <a:r>
              <a:rPr dirty="0"/>
              <a:t> of DKA</a:t>
            </a:r>
          </a:p>
        </p:txBody>
      </p:sp>
      <p:sp>
        <p:nvSpPr>
          <p:cNvPr id="604" name="Shape 60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>
            <a:normAutofit/>
          </a:bodyPr>
          <a:lstStyle/>
          <a:p>
            <a:pPr marL="65368" indent="-401822" defTabSz="914144">
              <a:spcBef>
                <a:spcPts val="422"/>
              </a:spcBef>
              <a:buFont typeface="Arial" charset="0"/>
              <a:buChar char="•"/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sz="3094" dirty="0">
                <a:latin typeface="Calibri" charset="0"/>
                <a:ea typeface="Calibri" charset="0"/>
                <a:cs typeface="Calibri" charset="0"/>
              </a:rPr>
              <a:t>Patient education to recognize early </a:t>
            </a: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s/s,</a:t>
            </a:r>
            <a:r>
              <a:rPr sz="3094" dirty="0">
                <a:latin typeface="Calibri" charset="0"/>
                <a:ea typeface="Calibri" charset="0"/>
                <a:cs typeface="Calibri" charset="0"/>
              </a:rPr>
              <a:t> as well as situation</a:t>
            </a: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s</a:t>
            </a:r>
            <a:r>
              <a:rPr sz="3094" dirty="0">
                <a:latin typeface="Calibri" charset="0"/>
                <a:ea typeface="Calibri" charset="0"/>
                <a:cs typeface="Calibri" charset="0"/>
              </a:rPr>
              <a:t> when DKA is likely</a:t>
            </a:r>
          </a:p>
          <a:p>
            <a:pPr marL="65368" indent="-401822" defTabSz="914144">
              <a:spcBef>
                <a:spcPts val="422"/>
              </a:spcBef>
              <a:buFont typeface="Arial" charset="0"/>
              <a:buChar char="•"/>
              <a:defRPr sz="3900">
                <a:latin typeface="Arial"/>
                <a:ea typeface="Arial"/>
                <a:cs typeface="Arial"/>
                <a:sym typeface="Arial"/>
              </a:defRPr>
            </a:pPr>
            <a:endParaRPr sz="1758" dirty="0">
              <a:latin typeface="Calibri" charset="0"/>
              <a:ea typeface="Calibri" charset="0"/>
              <a:cs typeface="Calibri" charset="0"/>
            </a:endParaRPr>
          </a:p>
          <a:p>
            <a:pPr marL="65368" indent="-401822" defTabSz="914144">
              <a:spcBef>
                <a:spcPts val="422"/>
              </a:spcBef>
              <a:buFont typeface="Arial" charset="0"/>
              <a:buChar char="•"/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Home m</a:t>
            </a:r>
            <a:r>
              <a:rPr sz="3094" dirty="0">
                <a:latin typeface="Calibri" charset="0"/>
                <a:ea typeface="Calibri" charset="0"/>
                <a:cs typeface="Calibri" charset="0"/>
              </a:rPr>
              <a:t>easurement of urine ketones if s/s of infection or if unexpected persistent</a:t>
            </a: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ly</a:t>
            </a:r>
            <a:r>
              <a:rPr sz="3094" dirty="0">
                <a:latin typeface="Calibri" charset="0"/>
                <a:ea typeface="Calibri" charset="0"/>
                <a:cs typeface="Calibri" charset="0"/>
              </a:rPr>
              <a:t> high glucose levels noted</a:t>
            </a:r>
          </a:p>
          <a:p>
            <a:pPr marL="65368" indent="-401822" defTabSz="914144">
              <a:spcBef>
                <a:spcPts val="422"/>
              </a:spcBef>
              <a:buFont typeface="Arial" charset="0"/>
              <a:buChar char="•"/>
              <a:defRPr sz="3900">
                <a:latin typeface="Arial"/>
                <a:ea typeface="Arial"/>
                <a:cs typeface="Arial"/>
                <a:sym typeface="Arial"/>
              </a:defRPr>
            </a:pPr>
            <a:endParaRPr sz="1758" dirty="0">
              <a:latin typeface="Calibri" charset="0"/>
              <a:ea typeface="Calibri" charset="0"/>
              <a:cs typeface="Calibri" charset="0"/>
            </a:endParaRPr>
          </a:p>
          <a:p>
            <a:pPr marL="65368" indent="-401822" defTabSz="914144">
              <a:spcBef>
                <a:spcPts val="422"/>
              </a:spcBef>
              <a:buFont typeface="Arial" charset="0"/>
              <a:buChar char="•"/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sz="3094" dirty="0">
                <a:latin typeface="Calibri" charset="0"/>
                <a:ea typeface="Calibri" charset="0"/>
                <a:cs typeface="Calibri" charset="0"/>
              </a:rPr>
              <a:t>Education in the way to obtain supplemental liquids and electrolytes</a:t>
            </a:r>
          </a:p>
          <a:p>
            <a:pPr marL="65368" indent="-401822" defTabSz="914144">
              <a:spcBef>
                <a:spcPts val="422"/>
              </a:spcBef>
              <a:buFont typeface="Arial" charset="0"/>
              <a:buChar char="•"/>
              <a:defRPr sz="3900">
                <a:latin typeface="Arial"/>
                <a:ea typeface="Arial"/>
                <a:cs typeface="Arial"/>
                <a:sym typeface="Arial"/>
              </a:defRPr>
            </a:pPr>
            <a:endParaRPr sz="1758" dirty="0">
              <a:latin typeface="Calibri" charset="0"/>
              <a:ea typeface="Calibri" charset="0"/>
              <a:cs typeface="Calibri" charset="0"/>
            </a:endParaRPr>
          </a:p>
          <a:p>
            <a:pPr marL="65368" indent="-401822" defTabSz="914144">
              <a:spcBef>
                <a:spcPts val="422"/>
              </a:spcBef>
              <a:buFont typeface="Arial" charset="0"/>
              <a:buChar char="•"/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sz="3094" dirty="0">
                <a:latin typeface="Calibri" charset="0"/>
                <a:ea typeface="Calibri" charset="0"/>
                <a:cs typeface="Calibri" charset="0"/>
              </a:rPr>
              <a:t>Extra insulin on a sliding scale, education</a:t>
            </a:r>
          </a:p>
        </p:txBody>
      </p:sp>
    </p:spTree>
    <p:extLst>
      <p:ext uri="{BB962C8B-B14F-4D97-AF65-F5344CB8AC3E}">
        <p14:creationId xmlns:p14="http://schemas.microsoft.com/office/powerpoint/2010/main" val="131714887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Shape 60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lang="en-US" dirty="0"/>
              <a:t>Prevention</a:t>
            </a:r>
            <a:r>
              <a:rPr dirty="0"/>
              <a:t> of DKA</a:t>
            </a:r>
          </a:p>
        </p:txBody>
      </p:sp>
      <p:sp>
        <p:nvSpPr>
          <p:cNvPr id="607" name="Shape 607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>
            <a:normAutofit/>
          </a:bodyPr>
          <a:lstStyle/>
          <a:p>
            <a:pPr marL="214305" lvl="1" indent="0" defTabSz="914144">
              <a:spcBef>
                <a:spcPts val="422"/>
              </a:spcBef>
              <a:buNone/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sz="3094" dirty="0">
                <a:latin typeface="Calibri" charset="0"/>
                <a:ea typeface="Calibri" charset="0"/>
                <a:cs typeface="Calibri" charset="0"/>
              </a:rPr>
              <a:t>If persistent ketonuria occurs x2 </a:t>
            </a: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on </a:t>
            </a:r>
            <a:r>
              <a:rPr sz="3094" dirty="0">
                <a:latin typeface="Calibri" charset="0"/>
                <a:ea typeface="Calibri" charset="0"/>
                <a:cs typeface="Calibri" charset="0"/>
              </a:rPr>
              <a:t>urine tests</a:t>
            </a: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:</a:t>
            </a:r>
            <a:r>
              <a:rPr sz="3094" dirty="0">
                <a:latin typeface="Calibri" charset="0"/>
                <a:ea typeface="Calibri" charset="0"/>
                <a:cs typeface="Calibri" charset="0"/>
              </a:rPr>
              <a:t> p</a:t>
            </a: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atien</a:t>
            </a:r>
            <a:r>
              <a:rPr sz="3094" dirty="0">
                <a:latin typeface="Calibri" charset="0"/>
                <a:ea typeface="Calibri" charset="0"/>
                <a:cs typeface="Calibri" charset="0"/>
              </a:rPr>
              <a:t>ts should contact </a:t>
            </a: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their </a:t>
            </a:r>
            <a:r>
              <a:rPr sz="3094" dirty="0">
                <a:latin typeface="Calibri" charset="0"/>
                <a:ea typeface="Calibri" charset="0"/>
                <a:cs typeface="Calibri" charset="0"/>
              </a:rPr>
              <a:t>physician</a:t>
            </a:r>
            <a:endParaRPr lang="en-US" sz="3094" dirty="0">
              <a:latin typeface="Calibri" charset="0"/>
              <a:ea typeface="Calibri" charset="0"/>
              <a:cs typeface="Calibri" charset="0"/>
            </a:endParaRPr>
          </a:p>
          <a:p>
            <a:pPr marL="671505" lvl="1" indent="-457200" defTabSz="914144">
              <a:spcBef>
                <a:spcPts val="422"/>
              </a:spcBef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E</a:t>
            </a:r>
            <a:r>
              <a:rPr sz="3094" dirty="0">
                <a:latin typeface="Calibri" charset="0"/>
                <a:ea typeface="Calibri" charset="0"/>
                <a:cs typeface="Calibri" charset="0"/>
              </a:rPr>
              <a:t>specially if vomiting develops, or </a:t>
            </a: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if </a:t>
            </a:r>
            <a:r>
              <a:rPr sz="3094" dirty="0">
                <a:latin typeface="Calibri" charset="0"/>
                <a:ea typeface="Calibri" charset="0"/>
                <a:cs typeface="Calibri" charset="0"/>
              </a:rPr>
              <a:t>increased insulin doesn’t correct </a:t>
            </a: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the </a:t>
            </a:r>
            <a:r>
              <a:rPr sz="3094" dirty="0">
                <a:latin typeface="Calibri" charset="0"/>
                <a:ea typeface="Calibri" charset="0"/>
                <a:cs typeface="Calibri" charset="0"/>
              </a:rPr>
              <a:t>hyperglycemia</a:t>
            </a:r>
            <a:endParaRPr lang="en-US" sz="3094" dirty="0">
              <a:latin typeface="Calibri" charset="0"/>
              <a:ea typeface="Calibri" charset="0"/>
              <a:cs typeface="Calibri" charset="0"/>
            </a:endParaRPr>
          </a:p>
          <a:p>
            <a:pPr marL="671505" lvl="1" indent="-457200" defTabSz="914144">
              <a:spcBef>
                <a:spcPts val="422"/>
              </a:spcBef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sz="3094" dirty="0">
                <a:latin typeface="Calibri" charset="0"/>
                <a:ea typeface="Calibri" charset="0"/>
                <a:cs typeface="Calibri" charset="0"/>
              </a:rPr>
              <a:t>Patient will likely need ED eval/ hospitalization</a:t>
            </a:r>
          </a:p>
          <a:p>
            <a:pPr marL="214305" lvl="1" indent="0" defTabSz="914144">
              <a:spcBef>
                <a:spcPts val="422"/>
              </a:spcBef>
              <a:buNone/>
              <a:defRPr sz="3900">
                <a:latin typeface="Arial"/>
                <a:ea typeface="Arial"/>
                <a:cs typeface="Arial"/>
                <a:sym typeface="Arial"/>
              </a:defRPr>
            </a:pPr>
            <a:endParaRPr lang="en-US" sz="3094" dirty="0">
              <a:latin typeface="Calibri" charset="0"/>
              <a:ea typeface="Calibri" charset="0"/>
              <a:cs typeface="Calibri" charset="0"/>
            </a:endParaRPr>
          </a:p>
          <a:p>
            <a:pPr marL="214305" lvl="1" indent="0" defTabSz="914144">
              <a:spcBef>
                <a:spcPts val="422"/>
              </a:spcBef>
              <a:buNone/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sz="3094" b="1" dirty="0">
                <a:latin typeface="Calibri" charset="0"/>
                <a:ea typeface="Calibri" charset="0"/>
                <a:cs typeface="Calibri" charset="0"/>
              </a:rPr>
              <a:t>Recurrent episodes </a:t>
            </a:r>
            <a:r>
              <a:rPr sz="3094" dirty="0">
                <a:latin typeface="Calibri" charset="0"/>
                <a:ea typeface="Calibri" charset="0"/>
                <a:cs typeface="Calibri" charset="0"/>
              </a:rPr>
              <a:t>of DKA usually indicate poor compliance with therapy and diet.  PCP counseling and more provider oversight is required.</a:t>
            </a:r>
          </a:p>
        </p:txBody>
      </p:sp>
    </p:spTree>
    <p:extLst>
      <p:ext uri="{BB962C8B-B14F-4D97-AF65-F5344CB8AC3E}">
        <p14:creationId xmlns:p14="http://schemas.microsoft.com/office/powerpoint/2010/main" val="105972565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Shape 60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>
              <a:buNone/>
              <a:defRPr sz="8000"/>
            </a:pPr>
            <a:r>
              <a:rPr sz="4219" dirty="0">
                <a:latin typeface="Calibri" panose="020F0502020204030204" pitchFamily="34" charset="0"/>
                <a:cs typeface="Calibri" panose="020F0502020204030204" pitchFamily="34" charset="0"/>
              </a:rPr>
              <a:t>Emergent Treatment of DKA</a:t>
            </a:r>
          </a:p>
        </p:txBody>
      </p:sp>
      <p:sp>
        <p:nvSpPr>
          <p:cNvPr id="610" name="Shape 610"/>
          <p:cNvSpPr>
            <a:spLocks noGrp="1"/>
          </p:cNvSpPr>
          <p:nvPr>
            <p:ph idx="1"/>
          </p:nvPr>
        </p:nvSpPr>
        <p:spPr>
          <a:xfrm>
            <a:off x="838200" y="1825625"/>
            <a:ext cx="10660380" cy="4351338"/>
          </a:xfrm>
          <a:prstGeom prst="rect">
            <a:avLst/>
          </a:prstGeom>
        </p:spPr>
        <p:txBody>
          <a:bodyPr/>
          <a:lstStyle/>
          <a:p>
            <a:pPr marL="0" indent="0">
              <a:buSzPct val="80000"/>
              <a:buNone/>
            </a:pP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Step 1:</a:t>
            </a:r>
          </a:p>
          <a:p>
            <a:pPr marL="267881" indent="-267881">
              <a:buSzPct val="80000"/>
              <a:buFontTx/>
              <a:buChar char="•"/>
            </a:pPr>
            <a:r>
              <a:rPr sz="3094" dirty="0">
                <a:latin typeface="Calibri" charset="0"/>
                <a:ea typeface="Calibri" charset="0"/>
                <a:cs typeface="Calibri" charset="0"/>
              </a:rPr>
              <a:t>Begin with a brief H&amp;P, looking for precipitants</a:t>
            </a:r>
          </a:p>
          <a:p>
            <a:pPr marL="267881" indent="-267881">
              <a:buSzPct val="80000"/>
              <a:buFontTx/>
              <a:buChar char="•"/>
            </a:pPr>
            <a:r>
              <a:rPr sz="3094" dirty="0">
                <a:latin typeface="Calibri" charset="0"/>
                <a:ea typeface="Calibri" charset="0"/>
                <a:cs typeface="Calibri" charset="0"/>
              </a:rPr>
              <a:t>Place patient on tele, </a:t>
            </a:r>
            <a:r>
              <a:rPr sz="3094" b="1" dirty="0">
                <a:latin typeface="Calibri" charset="0"/>
                <a:ea typeface="Calibri" charset="0"/>
                <a:cs typeface="Calibri" charset="0"/>
              </a:rPr>
              <a:t>large bore IV of NS wide open</a:t>
            </a:r>
          </a:p>
          <a:p>
            <a:pPr marL="267881" indent="-267881">
              <a:buSzPct val="80000"/>
              <a:buFontTx/>
              <a:buChar char="•"/>
            </a:pPr>
            <a:r>
              <a:rPr sz="3094" dirty="0">
                <a:latin typeface="Calibri" charset="0"/>
                <a:ea typeface="Calibri" charset="0"/>
                <a:cs typeface="Calibri" charset="0"/>
              </a:rPr>
              <a:t>Check CBC, lytes, culture</a:t>
            </a: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s</a:t>
            </a:r>
            <a:r>
              <a:rPr sz="3094" dirty="0">
                <a:latin typeface="Calibri" charset="0"/>
                <a:ea typeface="Calibri" charset="0"/>
                <a:cs typeface="Calibri" charset="0"/>
              </a:rPr>
              <a:t>, ABG if critically ill.  EKG</a:t>
            </a: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, CXR</a:t>
            </a:r>
            <a:r>
              <a:rPr sz="3094" dirty="0">
                <a:latin typeface="Calibri" charset="0"/>
                <a:ea typeface="Calibri" charset="0"/>
                <a:cs typeface="Calibri" charset="0"/>
              </a:rPr>
              <a:t> and UA.  </a:t>
            </a:r>
            <a:endParaRPr lang="en-US" sz="3094" dirty="0">
              <a:latin typeface="Calibri" charset="0"/>
              <a:ea typeface="Calibri" charset="0"/>
              <a:cs typeface="Calibri" charset="0"/>
            </a:endParaRPr>
          </a:p>
          <a:p>
            <a:pPr marL="267881" indent="-267881">
              <a:buSzPct val="80000"/>
              <a:buFontTx/>
              <a:buChar char="•"/>
            </a:pPr>
            <a:r>
              <a:rPr lang="en-US" sz="3094" dirty="0">
                <a:latin typeface="Calibri" charset="0"/>
                <a:ea typeface="Calibri" charset="0"/>
                <a:cs typeface="Calibri" charset="0"/>
              </a:rPr>
              <a:t>Where are the major sources of infection?  What will you expect to see on labs?</a:t>
            </a:r>
          </a:p>
        </p:txBody>
      </p:sp>
    </p:spTree>
    <p:extLst>
      <p:ext uri="{BB962C8B-B14F-4D97-AF65-F5344CB8AC3E}">
        <p14:creationId xmlns:p14="http://schemas.microsoft.com/office/powerpoint/2010/main" val="172721582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hape 6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 fontScale="90000"/>
          </a:bodyPr>
          <a:lstStyle/>
          <a:p>
            <a:pPr defTabSz="914144">
              <a:defRPr sz="5100" b="1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Hospital</a:t>
            </a:r>
            <a:r>
              <a:rPr dirty="0"/>
              <a:t> Treatment of DKA</a:t>
            </a:r>
            <a:br>
              <a:rPr dirty="0"/>
            </a:br>
            <a:endParaRPr dirty="0"/>
          </a:p>
        </p:txBody>
      </p:sp>
      <p:sp>
        <p:nvSpPr>
          <p:cNvPr id="613" name="Shape 613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t">
            <a:normAutofit fontScale="62500" lnSpcReduction="20000"/>
          </a:bodyPr>
          <a:lstStyle/>
          <a:p>
            <a:pPr marL="0" indent="0" defTabSz="914144">
              <a:spcBef>
                <a:spcPts val="492"/>
              </a:spcBef>
              <a:buNone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Fluid</a:t>
            </a:r>
            <a:r>
              <a:rPr dirty="0"/>
              <a:t> Replacement</a:t>
            </a:r>
            <a:r>
              <a:rPr lang="en-US" dirty="0"/>
              <a:t>:</a:t>
            </a:r>
            <a:endParaRPr dirty="0"/>
          </a:p>
          <a:p>
            <a:pPr defTabSz="914144">
              <a:defRPr sz="4500" b="1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Calibri" charset="0"/>
              <a:ea typeface="Calibri" charset="0"/>
              <a:cs typeface="Calibri" charset="0"/>
            </a:endParaRPr>
          </a:p>
          <a:p>
            <a:pPr defTabSz="914144">
              <a:buFont typeface="Arial" panose="020B0604020202020204" pitchFamily="34" charset="0"/>
              <a:buChar char="•"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Begin isotonic saline or </a:t>
            </a:r>
            <a:r>
              <a:rPr lang="en-US" b="1" dirty="0">
                <a:ea typeface="+mn-lt"/>
                <a:cs typeface="+mn-lt"/>
              </a:rPr>
              <a:t>balanced crystalloid</a:t>
            </a:r>
            <a:endParaRPr dirty="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Initial rate: </a:t>
            </a:r>
            <a:r>
              <a:rPr lang="en-US" b="1" dirty="0">
                <a:ea typeface="+mn-lt"/>
                <a:cs typeface="+mn-lt"/>
              </a:rPr>
              <a:t>500–1,000 mL/</a:t>
            </a:r>
            <a:r>
              <a:rPr lang="en-US" b="1" dirty="0" err="1">
                <a:ea typeface="+mn-lt"/>
                <a:cs typeface="+mn-lt"/>
              </a:rPr>
              <a:t>hr</a:t>
            </a:r>
            <a:r>
              <a:rPr lang="en-US" b="1" dirty="0">
                <a:ea typeface="+mn-lt"/>
                <a:cs typeface="+mn-lt"/>
              </a:rPr>
              <a:t> for the first 2–4 hours</a:t>
            </a:r>
            <a:endParaRPr dirty="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Then adjust based on:</a:t>
            </a:r>
            <a:endParaRPr dirty="0"/>
          </a:p>
          <a:p>
            <a:pPr lvl="1"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hemodynamics</a:t>
            </a:r>
            <a:endParaRPr dirty="0"/>
          </a:p>
          <a:p>
            <a:pPr lvl="1"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fluid balance/urine output</a:t>
            </a:r>
            <a:endParaRPr lang="en-US" dirty="0"/>
          </a:p>
          <a:p>
            <a:pPr lvl="1"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sodium</a:t>
            </a:r>
            <a:endParaRPr lang="en-US" dirty="0"/>
          </a:p>
          <a:p>
            <a:pPr lvl="1"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comorbidities</a:t>
            </a:r>
            <a:endParaRPr lang="en-US" dirty="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Use smaller boluses/caution in older adults, HF, or kidney disease</a:t>
            </a:r>
            <a:endParaRPr dirty="0"/>
          </a:p>
          <a:p>
            <a:pPr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298" y="1042134"/>
            <a:ext cx="2902028" cy="156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5443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Shape 60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>
              <a:buNone/>
              <a:defRPr sz="8000"/>
            </a:pPr>
            <a:r>
              <a:rPr sz="4219" dirty="0">
                <a:latin typeface="Calibri" panose="020F0502020204030204" pitchFamily="34" charset="0"/>
                <a:cs typeface="Calibri" panose="020F0502020204030204" pitchFamily="34" charset="0"/>
              </a:rPr>
              <a:t>Emergent Treatment of DKA</a:t>
            </a:r>
          </a:p>
        </p:txBody>
      </p:sp>
      <p:sp>
        <p:nvSpPr>
          <p:cNvPr id="610" name="Shape 610"/>
          <p:cNvSpPr>
            <a:spLocks noGrp="1"/>
          </p:cNvSpPr>
          <p:nvPr>
            <p:ph idx="1"/>
          </p:nvPr>
        </p:nvSpPr>
        <p:spPr>
          <a:xfrm>
            <a:off x="545123" y="1825625"/>
            <a:ext cx="11060723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SzPct val="80000"/>
              <a:buNone/>
            </a:pPr>
            <a:r>
              <a:rPr lang="en-US" sz="3200" dirty="0">
                <a:latin typeface="Calibri" charset="0"/>
                <a:ea typeface="Calibri" charset="0"/>
                <a:cs typeface="Calibri" charset="0"/>
              </a:rPr>
              <a:t>Step 2:</a:t>
            </a:r>
          </a:p>
          <a:p>
            <a:pPr marL="267881" indent="-267881">
              <a:buSzPct val="80000"/>
              <a:buFontTx/>
              <a:buChar char="•"/>
            </a:pPr>
            <a:r>
              <a:rPr sz="3200" dirty="0">
                <a:latin typeface="Calibri" charset="0"/>
                <a:ea typeface="Calibri" charset="0"/>
                <a:cs typeface="Calibri" charset="0"/>
              </a:rPr>
              <a:t>More detailed H&amp;P while awaiting </a:t>
            </a:r>
            <a:r>
              <a:rPr lang="en-US" sz="3200" dirty="0">
                <a:latin typeface="Calibri" charset="0"/>
                <a:ea typeface="Calibri" charset="0"/>
                <a:cs typeface="Calibri" charset="0"/>
              </a:rPr>
              <a:t>labs</a:t>
            </a:r>
          </a:p>
          <a:p>
            <a:pPr marL="267881" indent="-267881">
              <a:buSzPct val="80000"/>
              <a:buFontTx/>
              <a:buChar char="•"/>
            </a:pPr>
            <a:endParaRPr sz="3200" dirty="0">
              <a:latin typeface="Calibri" charset="0"/>
              <a:ea typeface="Calibri" charset="0"/>
              <a:cs typeface="Calibri" charset="0"/>
            </a:endParaRPr>
          </a:p>
          <a:p>
            <a:pPr marL="0" indent="0">
              <a:spcBef>
                <a:spcPts val="844"/>
              </a:spcBef>
              <a:spcAft>
                <a:spcPts val="422"/>
              </a:spcAft>
              <a:buSzPct val="80000"/>
              <a:buNone/>
            </a:pPr>
            <a:r>
              <a:rPr sz="3200" dirty="0">
                <a:latin typeface="Calibri" charset="0"/>
                <a:ea typeface="Calibri" charset="0"/>
                <a:cs typeface="Calibri" charset="0"/>
              </a:rPr>
              <a:t>Next </a:t>
            </a:r>
            <a:r>
              <a:rPr sz="3200" u="sng" dirty="0">
                <a:latin typeface="Calibri" charset="0"/>
                <a:ea typeface="Calibri" charset="0"/>
                <a:cs typeface="Calibri" charset="0"/>
              </a:rPr>
              <a:t>step depends on </a:t>
            </a:r>
            <a:r>
              <a:rPr lang="en-US" sz="3200" u="sng" dirty="0">
                <a:latin typeface="Calibri" charset="0"/>
                <a:ea typeface="Calibri" charset="0"/>
                <a:cs typeface="Calibri" charset="0"/>
              </a:rPr>
              <a:t>the </a:t>
            </a:r>
            <a:r>
              <a:rPr sz="3200" u="sng" dirty="0">
                <a:latin typeface="Calibri" charset="0"/>
                <a:ea typeface="Calibri" charset="0"/>
                <a:cs typeface="Calibri" charset="0"/>
              </a:rPr>
              <a:t>serum potassium</a:t>
            </a:r>
          </a:p>
          <a:p>
            <a:pPr marL="78105" indent="-267335">
              <a:spcBef>
                <a:spcPts val="844"/>
              </a:spcBef>
              <a:spcAft>
                <a:spcPts val="422"/>
              </a:spcAft>
              <a:buSzPct val="80000"/>
              <a:buFontTx/>
              <a:buChar char="•"/>
              <a:defRPr sz="3200"/>
            </a:pPr>
            <a:r>
              <a:rPr sz="3200" dirty="0">
                <a:latin typeface="Calibri"/>
                <a:ea typeface="Calibri"/>
                <a:cs typeface="Calibri"/>
              </a:rPr>
              <a:t>K</a:t>
            </a:r>
            <a:r>
              <a:rPr sz="3200" baseline="30000" dirty="0">
                <a:latin typeface="Calibri"/>
                <a:ea typeface="Calibri"/>
                <a:cs typeface="Calibri"/>
              </a:rPr>
              <a:t>+</a:t>
            </a:r>
            <a:r>
              <a:rPr sz="3200" dirty="0">
                <a:latin typeface="Calibri"/>
                <a:ea typeface="Calibri"/>
                <a:cs typeface="Calibri"/>
              </a:rPr>
              <a:t>&gt; </a:t>
            </a:r>
            <a:r>
              <a:rPr lang="en-US" sz="3200" dirty="0">
                <a:latin typeface="Calibri"/>
                <a:ea typeface="Calibri"/>
                <a:cs typeface="Calibri"/>
              </a:rPr>
              <a:t>5</a:t>
            </a:r>
            <a:r>
              <a:rPr sz="3200" dirty="0">
                <a:latin typeface="Calibri"/>
                <a:ea typeface="Calibri"/>
                <a:cs typeface="Calibri"/>
              </a:rPr>
              <a:t> </a:t>
            </a:r>
            <a:r>
              <a:rPr sz="3200" dirty="0" err="1">
                <a:latin typeface="Calibri"/>
                <a:ea typeface="Calibri"/>
                <a:cs typeface="Calibri"/>
              </a:rPr>
              <a:t>mEq</a:t>
            </a:r>
            <a:r>
              <a:rPr sz="3200" dirty="0">
                <a:latin typeface="Calibri"/>
                <a:ea typeface="Calibri"/>
                <a:cs typeface="Calibri"/>
              </a:rPr>
              <a:t>- begin </a:t>
            </a:r>
            <a:r>
              <a:rPr lang="en-US" sz="3200" dirty="0">
                <a:latin typeface="Calibri"/>
                <a:ea typeface="Calibri"/>
                <a:cs typeface="Calibri"/>
              </a:rPr>
              <a:t>an </a:t>
            </a:r>
            <a:r>
              <a:rPr sz="3200" dirty="0">
                <a:latin typeface="Calibri"/>
                <a:ea typeface="Calibri"/>
                <a:cs typeface="Calibri"/>
              </a:rPr>
              <a:t>insulin gtt</a:t>
            </a:r>
          </a:p>
          <a:p>
            <a:pPr marL="78105" indent="-267335">
              <a:spcBef>
                <a:spcPts val="844"/>
              </a:spcBef>
              <a:spcAft>
                <a:spcPts val="422"/>
              </a:spcAft>
              <a:buSzPct val="80000"/>
              <a:buFontTx/>
              <a:buChar char="•"/>
              <a:defRPr sz="3200"/>
            </a:pPr>
            <a:r>
              <a:rPr sz="3200" dirty="0">
                <a:latin typeface="Calibri"/>
                <a:ea typeface="Calibri"/>
                <a:cs typeface="Calibri"/>
              </a:rPr>
              <a:t>K</a:t>
            </a:r>
            <a:r>
              <a:rPr sz="3200" baseline="30000" dirty="0">
                <a:latin typeface="Calibri"/>
                <a:ea typeface="Calibri"/>
                <a:cs typeface="Calibri"/>
              </a:rPr>
              <a:t>+</a:t>
            </a:r>
            <a:r>
              <a:rPr sz="3200" dirty="0">
                <a:latin typeface="Calibri"/>
                <a:ea typeface="Calibri"/>
                <a:cs typeface="Calibri"/>
              </a:rPr>
              <a:t> of </a:t>
            </a:r>
            <a:r>
              <a:rPr lang="en-US" sz="3200" dirty="0">
                <a:latin typeface="Calibri"/>
                <a:ea typeface="Calibri"/>
                <a:cs typeface="Calibri"/>
              </a:rPr>
              <a:t>3.5-5</a:t>
            </a:r>
            <a:r>
              <a:rPr sz="3200" dirty="0">
                <a:latin typeface="Calibri"/>
                <a:ea typeface="Calibri"/>
                <a:cs typeface="Calibri"/>
              </a:rPr>
              <a:t> </a:t>
            </a:r>
            <a:r>
              <a:rPr sz="3200" dirty="0" err="1">
                <a:latin typeface="Calibri"/>
                <a:ea typeface="Calibri"/>
                <a:cs typeface="Calibri"/>
              </a:rPr>
              <a:t>mEq</a:t>
            </a:r>
            <a:r>
              <a:rPr sz="3200" dirty="0">
                <a:latin typeface="Calibri"/>
                <a:ea typeface="Calibri"/>
                <a:cs typeface="Calibri"/>
              </a:rPr>
              <a:t> - begin K</a:t>
            </a:r>
            <a:r>
              <a:rPr sz="3200" baseline="30000" dirty="0">
                <a:latin typeface="Calibri"/>
                <a:ea typeface="Calibri"/>
                <a:cs typeface="Calibri"/>
              </a:rPr>
              <a:t>+</a:t>
            </a:r>
            <a:r>
              <a:rPr sz="3200" dirty="0">
                <a:latin typeface="Calibri"/>
                <a:ea typeface="Calibri"/>
                <a:cs typeface="Calibri"/>
              </a:rPr>
              <a:t> replacement and insulin gtt</a:t>
            </a:r>
          </a:p>
          <a:p>
            <a:pPr marL="36195" indent="-225425">
              <a:spcBef>
                <a:spcPts val="844"/>
              </a:spcBef>
              <a:spcAft>
                <a:spcPts val="422"/>
              </a:spcAft>
              <a:buSzPct val="80000"/>
              <a:buFontTx/>
              <a:buChar char="•"/>
            </a:pPr>
            <a:r>
              <a:rPr sz="3200" dirty="0">
                <a:latin typeface="Calibri"/>
                <a:ea typeface="Calibri"/>
                <a:cs typeface="Calibri"/>
              </a:rPr>
              <a:t>K</a:t>
            </a:r>
            <a:r>
              <a:rPr sz="3200" baseline="30000" dirty="0">
                <a:latin typeface="Calibri"/>
                <a:ea typeface="Calibri"/>
                <a:cs typeface="Calibri"/>
              </a:rPr>
              <a:t>+</a:t>
            </a:r>
            <a:r>
              <a:rPr sz="3200" dirty="0">
                <a:latin typeface="Calibri"/>
                <a:ea typeface="Calibri"/>
                <a:cs typeface="Calibri"/>
              </a:rPr>
              <a:t> </a:t>
            </a:r>
            <a:r>
              <a:rPr lang="en-US" sz="3200" dirty="0">
                <a:latin typeface="Calibri"/>
                <a:ea typeface="Calibri"/>
                <a:cs typeface="Calibri"/>
              </a:rPr>
              <a:t>&lt; 3.5 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mEq</a:t>
            </a:r>
            <a:r>
              <a:rPr lang="en-US" sz="3200" dirty="0">
                <a:latin typeface="Calibri"/>
                <a:ea typeface="Calibri"/>
                <a:cs typeface="Calibri"/>
              </a:rPr>
              <a:t> -</a:t>
            </a:r>
            <a:r>
              <a:rPr sz="3200" dirty="0">
                <a:latin typeface="Calibri"/>
                <a:ea typeface="Calibri"/>
                <a:cs typeface="Calibri"/>
              </a:rPr>
              <a:t> begin K</a:t>
            </a:r>
            <a:r>
              <a:rPr sz="3200" baseline="30000" dirty="0">
                <a:latin typeface="Calibri"/>
                <a:ea typeface="Calibri"/>
                <a:cs typeface="Calibri"/>
              </a:rPr>
              <a:t>+</a:t>
            </a:r>
            <a:r>
              <a:rPr sz="3200" dirty="0">
                <a:latin typeface="Calibri"/>
                <a:ea typeface="Calibri"/>
                <a:cs typeface="Calibri"/>
              </a:rPr>
              <a:t> replacement and</a:t>
            </a:r>
            <a:r>
              <a:rPr sz="3200" b="1" dirty="0">
                <a:latin typeface="Calibri"/>
                <a:ea typeface="Calibri"/>
                <a:cs typeface="Calibri"/>
              </a:rPr>
              <a:t> hold off on insulin gtt</a:t>
            </a:r>
          </a:p>
        </p:txBody>
      </p:sp>
    </p:spTree>
    <p:extLst>
      <p:ext uri="{BB962C8B-B14F-4D97-AF65-F5344CB8AC3E}">
        <p14:creationId xmlns:p14="http://schemas.microsoft.com/office/powerpoint/2010/main" val="187983228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1"/>
          <p:cNvSpPr>
            <a:spLocks noGrp="1" noChangeArrowheads="1"/>
          </p:cNvSpPr>
          <p:nvPr>
            <p:ph type="title"/>
          </p:nvPr>
        </p:nvSpPr>
        <p:spPr/>
        <p:txBody>
          <a:bodyPr vert="horz" lIns="88900" tIns="50799" rIns="88900" bIns="50799" rtlCol="0" anchor="ctr">
            <a:normAutofit/>
          </a:bodyPr>
          <a:lstStyle/>
          <a:p>
            <a:pPr defTabSz="914145">
              <a:defRPr/>
            </a:pPr>
            <a:r>
              <a:rPr lang="en-US" sz="4359">
                <a:latin typeface="Arial" charset="0"/>
                <a:cs typeface="Arial" charset="0"/>
                <a:sym typeface="Arial" charset="0"/>
              </a:rPr>
              <a:t>Hospital </a:t>
            </a:r>
            <a:r>
              <a:rPr lang="en-US" sz="4359" dirty="0">
                <a:latin typeface="Arial" charset="0"/>
                <a:cs typeface="Arial" charset="0"/>
                <a:sym typeface="Arial" charset="0"/>
              </a:rPr>
              <a:t>Treatment of DKA</a:t>
            </a:r>
            <a:endParaRPr lang="en-US" dirty="0">
              <a:ea typeface="+mj-e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6D0F4-4AC7-CE97-D4C2-6E248A104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F34BE-DB91-5D45-9B5F-AF2154DFA073}"/>
              </a:ext>
            </a:extLst>
          </p:cNvPr>
          <p:cNvSpPr>
            <a:spLocks noGrp="1" noChangeArrowheads="1"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88900" tIns="50799" rIns="88900" bIns="50799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145">
              <a:spcBef>
                <a:spcPts val="492"/>
              </a:spcBef>
              <a:buNone/>
              <a:defRPr/>
            </a:pPr>
            <a:r>
              <a:rPr lang="en-US" sz="3200" b="1" dirty="0">
                <a:latin typeface="Arial"/>
                <a:cs typeface="Arial"/>
                <a:sym typeface="Arial" charset="0"/>
              </a:rPr>
              <a:t>Insulin Replacement</a:t>
            </a:r>
            <a:endParaRPr lang="en-US" sz="3200" b="1" dirty="0">
              <a:latin typeface="Arial"/>
              <a:cs typeface="Arial"/>
            </a:endParaRPr>
          </a:p>
          <a:p>
            <a:pPr defTabSz="914145">
              <a:buClr>
                <a:srgbClr val="000000"/>
              </a:buClr>
              <a:buFont typeface="ArialMT,sans-serif" charset="0"/>
              <a:buChar char="•"/>
              <a:defRPr/>
            </a:pPr>
            <a:endParaRPr lang="en-US" sz="1100" dirty="0">
              <a:latin typeface="Calibri"/>
              <a:ea typeface="Calibri"/>
              <a:cs typeface="Calibri"/>
            </a:endParaRPr>
          </a:p>
          <a:p>
            <a:pPr defTabSz="914145">
              <a:buFont typeface="ArialMT,sans-serif" charset="0"/>
              <a:buChar char="•"/>
              <a:defRPr/>
            </a:pPr>
            <a:r>
              <a:rPr lang="en-US" sz="3200" b="1" dirty="0">
                <a:ea typeface="+mn-lt"/>
                <a:cs typeface="+mn-lt"/>
                <a:sym typeface="Arial" charset="0"/>
              </a:rPr>
              <a:t>IV regular insulin: 0.1 units/kg/hr</a:t>
            </a:r>
            <a:endParaRPr lang="en-US" sz="3200">
              <a:ea typeface="Calibri"/>
              <a:cs typeface="Calibri"/>
            </a:endParaRPr>
          </a:p>
          <a:p>
            <a:pPr defTabSz="914145">
              <a:buFont typeface="ArialMT,sans-serif" charset="0"/>
              <a:buChar char="•"/>
              <a:defRPr/>
            </a:pPr>
            <a:r>
              <a:rPr lang="en-US" sz="3200" dirty="0">
                <a:ea typeface="+mn-lt"/>
                <a:cs typeface="+mn-lt"/>
                <a:sym typeface="Arial" charset="0"/>
              </a:rPr>
              <a:t>Routine IV insulin bolus is </a:t>
            </a:r>
            <a:r>
              <a:rPr lang="en-US" sz="3200" b="1" dirty="0">
                <a:ea typeface="+mn-lt"/>
                <a:cs typeface="+mn-lt"/>
                <a:sym typeface="Arial" charset="0"/>
              </a:rPr>
              <a:t>not necessary</a:t>
            </a:r>
            <a:endParaRPr lang="en-US" sz="3200">
              <a:ea typeface="Calibri"/>
              <a:cs typeface="Calibri"/>
            </a:endParaRPr>
          </a:p>
          <a:p>
            <a:pPr marL="299085" indent="-299085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endParaRPr lang="en-US" sz="3200" dirty="0">
              <a:latin typeface="Calibri" charset="0"/>
              <a:ea typeface="Calibri" charset="0"/>
              <a:cs typeface="Calibri" charset="0"/>
            </a:endParaRPr>
          </a:p>
          <a:p>
            <a:pPr marL="299085" indent="-299085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200" dirty="0">
                <a:latin typeface="Calibri"/>
                <a:ea typeface="Calibri"/>
                <a:cs typeface="Calibri"/>
                <a:sym typeface="Arial" charset="0"/>
              </a:rPr>
              <a:t>Prevent cerebral edema from a rapid decline in serum osmolality with IV fluid choice, initially 0.9 or 0.45% NS. </a:t>
            </a:r>
            <a:endParaRPr lang="en-US" sz="3200" dirty="0">
              <a:latin typeface="Calibri"/>
              <a:ea typeface="Calibri"/>
              <a:cs typeface="Calibri"/>
            </a:endParaRPr>
          </a:p>
          <a:p>
            <a:pPr marL="299085" indent="-299085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200" b="1" dirty="0">
                <a:latin typeface="Calibri"/>
                <a:ea typeface="Calibri"/>
                <a:cs typeface="Calibri"/>
                <a:sym typeface="Arial" charset="0"/>
              </a:rPr>
              <a:t>Convert to D5 once BG &lt; 250. </a:t>
            </a:r>
            <a:r>
              <a:rPr lang="en-US" sz="3200" dirty="0">
                <a:latin typeface="Calibri"/>
                <a:ea typeface="Calibri"/>
                <a:cs typeface="Calibri"/>
                <a:sym typeface="Arial" charset="0"/>
              </a:rPr>
              <a:t> </a:t>
            </a:r>
            <a:r>
              <a:rPr lang="en-US" sz="3200" dirty="0">
                <a:latin typeface="Arial"/>
                <a:ea typeface="Calibri"/>
                <a:cs typeface="Arial"/>
                <a:sym typeface="Arial" charset="0"/>
              </a:rPr>
              <a:t>Continue insulin until ketoacidosis resolves; do not stop solely because glucose normalizes.</a:t>
            </a:r>
            <a:br>
              <a:rPr lang="en-US" sz="3200" dirty="0">
                <a:latin typeface="Arial"/>
                <a:ea typeface="Calibri"/>
                <a:cs typeface="Arial"/>
              </a:rPr>
            </a:br>
            <a:endParaRPr lang="en-US" sz="3200" dirty="0"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984704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Rectangle 1"/>
          <p:cNvSpPr>
            <a:spLocks noGrp="1" noChangeArrowheads="1"/>
          </p:cNvSpPr>
          <p:nvPr>
            <p:ph type="title"/>
          </p:nvPr>
        </p:nvSpPr>
        <p:spPr>
          <a:xfrm>
            <a:off x="334107" y="365125"/>
            <a:ext cx="11535507" cy="1325563"/>
          </a:xfrm>
        </p:spPr>
        <p:txBody>
          <a:bodyPr vert="horz" lIns="88900" tIns="50799" rIns="88900" bIns="50799" rtlCol="0" anchor="ctr">
            <a:normAutofit/>
          </a:bodyPr>
          <a:lstStyle/>
          <a:p>
            <a:pPr defTabSz="914145">
              <a:defRPr/>
            </a:pPr>
            <a:r>
              <a:rPr lang="en-US" sz="4000" dirty="0">
                <a:latin typeface="Arial" charset="0"/>
                <a:cs typeface="Arial" charset="0"/>
                <a:sym typeface="Arial" charset="0"/>
              </a:rPr>
              <a:t>What does insulin replacement do physiologically?</a:t>
            </a:r>
            <a:endParaRPr lang="en-US" sz="4000" dirty="0"/>
          </a:p>
        </p:txBody>
      </p:sp>
      <p:sp>
        <p:nvSpPr>
          <p:cNvPr id="168962" name="Rectangle 2"/>
          <p:cNvSpPr>
            <a:spLocks noGrp="1" noChangeArrowheads="1"/>
          </p:cNvSpPr>
          <p:nvPr>
            <p:ph idx="1"/>
          </p:nvPr>
        </p:nvSpPr>
        <p:spPr/>
        <p:txBody>
          <a:bodyPr vert="horz" lIns="88900" tIns="50799" rIns="88900" bIns="50799" rtlCol="0" anchor="t">
            <a:normAutofit/>
          </a:bodyPr>
          <a:lstStyle/>
          <a:p>
            <a:pPr marL="342665" indent="-342665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164" b="1" dirty="0">
                <a:latin typeface="Calibri" charset="0"/>
                <a:ea typeface="Calibri" charset="0"/>
                <a:cs typeface="Calibri" charset="0"/>
                <a:sym typeface="Arial" charset="0"/>
              </a:rPr>
              <a:t>Insulin corrects acidosis</a:t>
            </a:r>
            <a:r>
              <a:rPr lang="en-US" sz="3164" dirty="0">
                <a:latin typeface="Calibri" charset="0"/>
                <a:ea typeface="Calibri" charset="0"/>
                <a:cs typeface="Calibri" charset="0"/>
                <a:sym typeface="Arial" charset="0"/>
              </a:rPr>
              <a:t> by:</a:t>
            </a:r>
          </a:p>
          <a:p>
            <a:pPr marL="433074" lvl="1" indent="-204260" defTabSz="914145">
              <a:spcBef>
                <a:spcPts val="422"/>
              </a:spcBef>
              <a:buClr>
                <a:srgbClr val="000000"/>
              </a:buClr>
              <a:buFont typeface="ArialMT" charset="0"/>
              <a:buChar char="–"/>
              <a:defRPr/>
            </a:pPr>
            <a:r>
              <a:rPr lang="en-US" sz="2953" dirty="0">
                <a:latin typeface="Calibri" charset="0"/>
                <a:ea typeface="Calibri" charset="0"/>
                <a:cs typeface="Calibri" charset="0"/>
                <a:sym typeface="Arial" charset="0"/>
              </a:rPr>
              <a:t>reducing hepatic ketone production </a:t>
            </a:r>
          </a:p>
          <a:p>
            <a:pPr marL="433074" lvl="1" indent="-204260" defTabSz="914145">
              <a:spcBef>
                <a:spcPts val="422"/>
              </a:spcBef>
              <a:buClr>
                <a:srgbClr val="000000"/>
              </a:buClr>
              <a:buFont typeface="ArialMT" charset="0"/>
              <a:buChar char="–"/>
              <a:defRPr/>
            </a:pPr>
            <a:r>
              <a:rPr lang="en-US" sz="2953" dirty="0">
                <a:latin typeface="Calibri" charset="0"/>
                <a:ea typeface="Calibri" charset="0"/>
                <a:cs typeface="Calibri" charset="0"/>
                <a:sym typeface="Arial" charset="0"/>
              </a:rPr>
              <a:t> improves ketone removal from the blood</a:t>
            </a:r>
          </a:p>
          <a:p>
            <a:pPr marL="433074" lvl="1" indent="-204260" defTabSz="914145">
              <a:spcBef>
                <a:spcPts val="422"/>
              </a:spcBef>
              <a:buClr>
                <a:srgbClr val="000000"/>
              </a:buClr>
              <a:buFont typeface="ArialMT" charset="0"/>
              <a:buChar char="–"/>
              <a:defRPr/>
            </a:pPr>
            <a:r>
              <a:rPr lang="en-US" sz="2953" dirty="0">
                <a:latin typeface="Calibri" charset="0"/>
                <a:ea typeface="Calibri" charset="0"/>
                <a:cs typeface="Calibri" charset="0"/>
                <a:sym typeface="Arial" charset="0"/>
              </a:rPr>
              <a:t> reducing fatty acids </a:t>
            </a:r>
          </a:p>
          <a:p>
            <a:pPr marL="433074" lvl="1" indent="-204260" defTabSz="914145">
              <a:spcBef>
                <a:spcPts val="422"/>
              </a:spcBef>
              <a:defRPr/>
            </a:pPr>
            <a:endParaRPr lang="en-US" sz="1406" dirty="0">
              <a:latin typeface="Calibri" charset="0"/>
              <a:ea typeface="Calibri" charset="0"/>
              <a:cs typeface="Calibri" charset="0"/>
              <a:sym typeface="Arial" charset="0"/>
            </a:endParaRPr>
          </a:p>
          <a:p>
            <a:pPr marL="342665" indent="-342665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164" b="1" dirty="0">
                <a:latin typeface="Calibri" charset="0"/>
                <a:ea typeface="Calibri" charset="0"/>
                <a:cs typeface="Calibri" charset="0"/>
                <a:sym typeface="Arial" charset="0"/>
              </a:rPr>
              <a:t>Insulin reduces hyperosmolality</a:t>
            </a:r>
            <a:r>
              <a:rPr lang="en-US" sz="3164" dirty="0">
                <a:latin typeface="Calibri" charset="0"/>
                <a:ea typeface="Calibri" charset="0"/>
                <a:cs typeface="Calibri" charset="0"/>
                <a:sym typeface="Arial" charset="0"/>
              </a:rPr>
              <a:t> by: </a:t>
            </a:r>
          </a:p>
          <a:p>
            <a:pPr marL="433074" lvl="1" indent="-204260" defTabSz="914145">
              <a:spcBef>
                <a:spcPts val="422"/>
              </a:spcBef>
              <a:buClr>
                <a:srgbClr val="000000"/>
              </a:buClr>
              <a:buFont typeface="ArialMT" charset="0"/>
              <a:buChar char="–"/>
              <a:defRPr/>
            </a:pPr>
            <a:r>
              <a:rPr lang="en-US" sz="2953" dirty="0">
                <a:latin typeface="Calibri" charset="0"/>
                <a:ea typeface="Calibri" charset="0"/>
                <a:cs typeface="Calibri" charset="0"/>
                <a:sym typeface="Arial" charset="0"/>
              </a:rPr>
              <a:t>increasing tissue uptake of glucose </a:t>
            </a:r>
          </a:p>
          <a:p>
            <a:pPr marL="433074" lvl="1" indent="-204260" defTabSz="914145">
              <a:spcBef>
                <a:spcPts val="422"/>
              </a:spcBef>
              <a:buClr>
                <a:srgbClr val="000000"/>
              </a:buClr>
              <a:buFont typeface="ArialMT" charset="0"/>
              <a:buChar char="–"/>
              <a:defRPr/>
            </a:pPr>
            <a:r>
              <a:rPr lang="en-US" sz="2953" dirty="0">
                <a:latin typeface="Calibri" charset="0"/>
                <a:ea typeface="Calibri" charset="0"/>
                <a:cs typeface="Calibri" charset="0"/>
                <a:sym typeface="Arial" charset="0"/>
              </a:rPr>
              <a:t>decreasing hepatic production of glucose.</a:t>
            </a:r>
          </a:p>
          <a:p>
            <a:pPr marL="433074" lvl="1" indent="-204260" defTabSz="914145">
              <a:spcBef>
                <a:spcPts val="422"/>
              </a:spcBef>
              <a:defRPr/>
            </a:pPr>
            <a:endParaRPr lang="en-US" sz="1406" dirty="0">
              <a:latin typeface="Calibri" charset="0"/>
              <a:ea typeface="Calibri" charset="0"/>
              <a:cs typeface="Calibri" charset="0"/>
              <a:sym typeface="Arial" charset="0"/>
            </a:endParaRPr>
          </a:p>
          <a:p>
            <a:pPr marL="342665" indent="-342665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164" b="1" dirty="0">
                <a:latin typeface="Calibri" charset="0"/>
                <a:ea typeface="Calibri" charset="0"/>
                <a:cs typeface="Calibri" charset="0"/>
                <a:sym typeface="Arial" charset="0"/>
              </a:rPr>
              <a:t>Insulin reduces hyperglucagonemia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61667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hape 61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51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lang="en-US" dirty="0"/>
              <a:t>Hospital</a:t>
            </a:r>
            <a:r>
              <a:rPr dirty="0"/>
              <a:t> Treatment of DKA</a:t>
            </a:r>
          </a:p>
        </p:txBody>
      </p:sp>
      <p:sp>
        <p:nvSpPr>
          <p:cNvPr id="616" name="Shape 616"/>
          <p:cNvSpPr>
            <a:spLocks noGrp="1"/>
          </p:cNvSpPr>
          <p:nvPr>
            <p:ph idx="1"/>
          </p:nvPr>
        </p:nvSpPr>
        <p:spPr>
          <a:xfrm>
            <a:off x="474785" y="1825625"/>
            <a:ext cx="11218984" cy="4667250"/>
          </a:xfrm>
          <a:prstGeom prst="rect">
            <a:avLst/>
          </a:prstGeom>
        </p:spPr>
        <p:txBody>
          <a:bodyPr vert="horz" lIns="50799" tIns="50799" rIns="50799" bIns="50799" rtlCol="0">
            <a:normAutofit lnSpcReduction="10000"/>
          </a:bodyPr>
          <a:lstStyle/>
          <a:p>
            <a:pPr marL="0" indent="0" defTabSz="914144">
              <a:spcBef>
                <a:spcPts val="492"/>
              </a:spcBef>
              <a:buNone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Potassium Replacement</a:t>
            </a:r>
          </a:p>
          <a:p>
            <a:pPr marL="607197" lvl="1" indent="-285740" defTabSz="914144">
              <a:spcBef>
                <a:spcPts val="422"/>
              </a:spcBef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sz="3200" dirty="0">
                <a:latin typeface="Calibri" charset="0"/>
                <a:ea typeface="Calibri" charset="0"/>
                <a:cs typeface="Calibri" charset="0"/>
              </a:rPr>
              <a:t>Potassium loss </a:t>
            </a:r>
            <a:r>
              <a:rPr lang="en-US" sz="3200" dirty="0">
                <a:latin typeface="Calibri" charset="0"/>
                <a:ea typeface="Calibri" charset="0"/>
                <a:cs typeface="Calibri" charset="0"/>
              </a:rPr>
              <a:t>occurs </a:t>
            </a:r>
            <a:r>
              <a:rPr sz="3200" dirty="0">
                <a:latin typeface="Calibri" charset="0"/>
                <a:ea typeface="Calibri" charset="0"/>
                <a:cs typeface="Calibri" charset="0"/>
              </a:rPr>
              <a:t>from vomiting/ polyuria </a:t>
            </a:r>
          </a:p>
          <a:p>
            <a:pPr marL="607197" lvl="1" indent="-285740" defTabSz="914144">
              <a:spcBef>
                <a:spcPts val="422"/>
              </a:spcBef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sz="3200" dirty="0">
                <a:latin typeface="Calibri" charset="0"/>
                <a:ea typeface="Calibri" charset="0"/>
                <a:cs typeface="Calibri" charset="0"/>
              </a:rPr>
              <a:t>Acidosis shifts </a:t>
            </a:r>
            <a:r>
              <a:rPr lang="en-US" sz="3200" dirty="0">
                <a:latin typeface="Calibri" charset="0"/>
                <a:ea typeface="Calibri" charset="0"/>
                <a:cs typeface="Calibri" charset="0"/>
              </a:rPr>
              <a:t>K</a:t>
            </a:r>
            <a:r>
              <a:rPr lang="en-US" sz="3200" baseline="30000" dirty="0">
                <a:latin typeface="Calibri" charset="0"/>
                <a:ea typeface="Calibri" charset="0"/>
                <a:cs typeface="Calibri" charset="0"/>
              </a:rPr>
              <a:t>+</a:t>
            </a:r>
            <a:r>
              <a:rPr sz="3200" dirty="0">
                <a:latin typeface="Calibri" charset="0"/>
                <a:ea typeface="Calibri" charset="0"/>
                <a:cs typeface="Calibri" charset="0"/>
              </a:rPr>
              <a:t> into the extracellular space so initially measurements may be high or  normal</a:t>
            </a:r>
          </a:p>
          <a:p>
            <a:pPr marL="607197" lvl="1" indent="-285740" defTabSz="914144">
              <a:spcBef>
                <a:spcPts val="422"/>
              </a:spcBef>
              <a:defRPr sz="3900">
                <a:latin typeface="Arial"/>
                <a:ea typeface="Arial"/>
                <a:cs typeface="Arial"/>
                <a:sym typeface="Arial"/>
              </a:defRPr>
            </a:pPr>
            <a:endParaRPr sz="1400" dirty="0">
              <a:latin typeface="Calibri" charset="0"/>
              <a:ea typeface="Calibri" charset="0"/>
              <a:cs typeface="Calibri" charset="0"/>
            </a:endParaRPr>
          </a:p>
          <a:p>
            <a:pPr marL="607197" lvl="1" indent="-285740" defTabSz="914144">
              <a:spcBef>
                <a:spcPts val="422"/>
              </a:spcBef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sz="3200" dirty="0">
                <a:latin typeface="Calibri" charset="0"/>
                <a:ea typeface="Calibri" charset="0"/>
                <a:cs typeface="Calibri" charset="0"/>
              </a:rPr>
              <a:t>Correction of acidosis causes K</a:t>
            </a:r>
            <a:r>
              <a:rPr lang="en-US" sz="3200" baseline="30000" dirty="0">
                <a:latin typeface="Calibri" charset="0"/>
                <a:ea typeface="Calibri" charset="0"/>
                <a:cs typeface="Calibri" charset="0"/>
              </a:rPr>
              <a:t>+</a:t>
            </a:r>
            <a:r>
              <a:rPr sz="3200" dirty="0">
                <a:latin typeface="Calibri" charset="0"/>
                <a:ea typeface="Calibri" charset="0"/>
                <a:cs typeface="Calibri" charset="0"/>
              </a:rPr>
              <a:t> to shift into cells so begin replacement in the 2</a:t>
            </a:r>
            <a:r>
              <a:rPr sz="3200" baseline="31000" dirty="0">
                <a:latin typeface="Calibri" charset="0"/>
                <a:ea typeface="Calibri" charset="0"/>
                <a:cs typeface="Calibri" charset="0"/>
              </a:rPr>
              <a:t>nd</a:t>
            </a:r>
            <a:r>
              <a:rPr sz="3200" dirty="0">
                <a:latin typeface="Calibri" charset="0"/>
                <a:ea typeface="Calibri" charset="0"/>
                <a:cs typeface="Calibri" charset="0"/>
              </a:rPr>
              <a:t> or 3</a:t>
            </a:r>
            <a:r>
              <a:rPr sz="3200" baseline="31000" dirty="0">
                <a:latin typeface="Calibri" charset="0"/>
                <a:ea typeface="Calibri" charset="0"/>
                <a:cs typeface="Calibri" charset="0"/>
              </a:rPr>
              <a:t>rd</a:t>
            </a:r>
            <a:r>
              <a:rPr sz="3200" dirty="0">
                <a:latin typeface="Calibri" charset="0"/>
                <a:ea typeface="Calibri" charset="0"/>
                <a:cs typeface="Calibri" charset="0"/>
              </a:rPr>
              <a:t> hours as acidosis resolves </a:t>
            </a:r>
            <a:endParaRPr lang="en-US" sz="3200" dirty="0">
              <a:latin typeface="Calibri" charset="0"/>
              <a:ea typeface="Calibri" charset="0"/>
              <a:cs typeface="Calibri" charset="0"/>
            </a:endParaRPr>
          </a:p>
          <a:p>
            <a:pPr marL="321457" lvl="1" indent="0" defTabSz="914144">
              <a:spcBef>
                <a:spcPts val="422"/>
              </a:spcBef>
              <a:buNone/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latin typeface="Calibri" charset="0"/>
                <a:ea typeface="Calibri" charset="0"/>
                <a:cs typeface="Calibri" charset="0"/>
              </a:rPr>
              <a:t>           </a:t>
            </a:r>
            <a:r>
              <a:rPr sz="3200" dirty="0">
                <a:latin typeface="Calibri" charset="0"/>
                <a:ea typeface="Calibri" charset="0"/>
                <a:cs typeface="Calibri" charset="0"/>
              </a:rPr>
              <a:t>(10-30mEq/ hr)</a:t>
            </a:r>
          </a:p>
          <a:p>
            <a:pPr marL="607197" lvl="1" indent="-285740" defTabSz="914144">
              <a:spcBef>
                <a:spcPts val="422"/>
              </a:spcBef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sz="3200" dirty="0">
                <a:latin typeface="Calibri" charset="0"/>
                <a:ea typeface="Calibri" charset="0"/>
                <a:cs typeface="Calibri" charset="0"/>
              </a:rPr>
              <a:t>If pts are uremic, have poor UOP or persistent K &gt;5, hold off on potassium supplementation</a:t>
            </a:r>
            <a:r>
              <a:rPr lang="en-US" sz="3200" dirty="0">
                <a:latin typeface="Calibri" charset="0"/>
                <a:ea typeface="Calibri" charset="0"/>
                <a:cs typeface="Calibri" charset="0"/>
              </a:rPr>
              <a:t> until UOP improves</a:t>
            </a:r>
            <a:r>
              <a:rPr sz="3200" dirty="0">
                <a:latin typeface="Calibri" charset="0"/>
                <a:ea typeface="Calibri" charset="0"/>
                <a:cs typeface="Calibri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71791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Shape 61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lang="en-US" dirty="0"/>
              <a:t>Hospital</a:t>
            </a:r>
            <a:r>
              <a:rPr dirty="0"/>
              <a:t> Treatment of DKA</a:t>
            </a:r>
          </a:p>
        </p:txBody>
      </p:sp>
      <p:sp>
        <p:nvSpPr>
          <p:cNvPr id="619" name="Shape 619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>
            <a:normAutofit fontScale="77500" lnSpcReduction="20000"/>
          </a:bodyPr>
          <a:lstStyle/>
          <a:p>
            <a:pPr marL="0" indent="0" defTabSz="914144">
              <a:spcBef>
                <a:spcPts val="492"/>
              </a:spcBef>
              <a:buNone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Phosphate replacement</a:t>
            </a:r>
          </a:p>
          <a:p>
            <a:pPr marL="404054" lvl="1" indent="-189749" defTabSz="914144">
              <a:spcBef>
                <a:spcPts val="422"/>
              </a:spcBef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May or may not be needed, replace slowly</a:t>
            </a:r>
          </a:p>
          <a:p>
            <a:pPr marL="500045" lvl="1" indent="-285740" defTabSz="914144">
              <a:spcBef>
                <a:spcPts val="422"/>
              </a:spcBef>
              <a:defRPr sz="3900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144">
              <a:spcBef>
                <a:spcPts val="492"/>
              </a:spcBef>
              <a:buNone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Hyperchloremia</a:t>
            </a:r>
          </a:p>
          <a:p>
            <a:pPr marL="404054" lvl="1" indent="-189749" defTabSz="914144">
              <a:spcBef>
                <a:spcPts val="422"/>
              </a:spcBef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Hyperchloremia should self resolve within 12-24 hours of stopping saline administration</a:t>
            </a:r>
          </a:p>
          <a:p>
            <a:pPr marL="500045" lvl="1" indent="-285740" defTabSz="914144">
              <a:spcBef>
                <a:spcPts val="422"/>
              </a:spcBef>
              <a:defRPr sz="3900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144">
              <a:spcBef>
                <a:spcPts val="492"/>
              </a:spcBef>
              <a:buNone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Sodium Bicarbonate</a:t>
            </a:r>
          </a:p>
          <a:p>
            <a:pPr marL="404054" lvl="1" indent="-189749" defTabSz="914144">
              <a:spcBef>
                <a:spcPts val="422"/>
              </a:spcBef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Used to correct a </a:t>
            </a:r>
            <a:r>
              <a:rPr u="sng" dirty="0">
                <a:latin typeface="Calibri" panose="020F0502020204030204" pitchFamily="34" charset="0"/>
                <a:cs typeface="Calibri" panose="020F0502020204030204" pitchFamily="34" charset="0"/>
              </a:rPr>
              <a:t>very severe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acidosis (pH&lt; 7.0)</a:t>
            </a:r>
          </a:p>
          <a:p>
            <a:pPr marL="404054" lvl="1" indent="-189749" defTabSz="914144">
              <a:spcBef>
                <a:spcPts val="422"/>
              </a:spcBef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Use is highly controversial as it may predispose to harm, reserved for the most critical acidosis</a:t>
            </a:r>
          </a:p>
        </p:txBody>
      </p:sp>
    </p:spTree>
    <p:extLst>
      <p:ext uri="{BB962C8B-B14F-4D97-AF65-F5344CB8AC3E}">
        <p14:creationId xmlns:p14="http://schemas.microsoft.com/office/powerpoint/2010/main" val="79190988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Shape 6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lang="en-US" dirty="0"/>
              <a:t>Hospital</a:t>
            </a:r>
            <a:r>
              <a:rPr dirty="0"/>
              <a:t> Treatment of DKA</a:t>
            </a:r>
          </a:p>
        </p:txBody>
      </p:sp>
      <p:sp>
        <p:nvSpPr>
          <p:cNvPr id="622" name="Shape 62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>
            <a:noAutofit/>
          </a:bodyPr>
          <a:lstStyle/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dirty="0"/>
              <a:t>Treatment of associated infections</a:t>
            </a:r>
            <a:endParaRPr lang="en-US" sz="3200" dirty="0"/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dirty="0"/>
              <a:t>Meticulous documentation/ communication with family and other providers</a:t>
            </a:r>
            <a:endParaRPr lang="en-US" sz="3200" dirty="0"/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dirty="0"/>
              <a:t>Strict I/ </a:t>
            </a:r>
            <a:r>
              <a:rPr sz="3200" dirty="0" err="1"/>
              <a:t>Os</a:t>
            </a:r>
            <a:endParaRPr lang="en-US" sz="3200" dirty="0"/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/>
              <a:t>Anti-emetics</a:t>
            </a: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dirty="0"/>
              <a:t>May need an NG tube placement to decompress the stomach and prevent aspiration and continued vomiting.</a:t>
            </a:r>
            <a:endParaRPr lang="en-US" sz="3200" dirty="0"/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dirty="0"/>
              <a:t>Avoid sedatives/ narcotics</a:t>
            </a:r>
          </a:p>
        </p:txBody>
      </p:sp>
    </p:spTree>
    <p:extLst>
      <p:ext uri="{BB962C8B-B14F-4D97-AF65-F5344CB8AC3E}">
        <p14:creationId xmlns:p14="http://schemas.microsoft.com/office/powerpoint/2010/main" val="167324312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7DBB1-D656-2FC3-7A9F-7E7C7F360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Shape 621">
            <a:extLst>
              <a:ext uri="{FF2B5EF4-FFF2-40B4-BE49-F238E27FC236}">
                <a16:creationId xmlns:a16="http://schemas.microsoft.com/office/drawing/2014/main" id="{9DBDE653-7237-7696-CCF5-C81231D4A6C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lang="en-US" dirty="0"/>
              <a:t>Hospital</a:t>
            </a:r>
            <a:r>
              <a:rPr dirty="0"/>
              <a:t> Treatment of DKA</a:t>
            </a:r>
          </a:p>
        </p:txBody>
      </p:sp>
      <p:sp>
        <p:nvSpPr>
          <p:cNvPr id="622" name="Shape 622">
            <a:extLst>
              <a:ext uri="{FF2B5EF4-FFF2-40B4-BE49-F238E27FC236}">
                <a16:creationId xmlns:a16="http://schemas.microsoft.com/office/drawing/2014/main" id="{B80BAE70-8A59-6CD9-38A2-24626B06387F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t">
            <a:noAutofit/>
          </a:bodyPr>
          <a:lstStyle/>
          <a:p>
            <a:pPr marL="0" indent="0" defTabSz="914144"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b="1" dirty="0"/>
              <a:t>DKA Resolution</a:t>
            </a:r>
            <a:endParaRPr lang="en-US" sz="3200" dirty="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/>
              <a:t>DKA is considered resolved when:</a:t>
            </a:r>
          </a:p>
          <a:p>
            <a:pPr lvl="1"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b="1" dirty="0"/>
              <a:t>β-hydroxybutyrate &lt;0.6 mmol/L</a:t>
            </a:r>
            <a:endParaRPr lang="en-US" sz="3200" dirty="0"/>
          </a:p>
          <a:p>
            <a:pPr lvl="1"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/>
              <a:t>AND </a:t>
            </a:r>
            <a:r>
              <a:rPr lang="en-US" sz="3200" b="1" dirty="0"/>
              <a:t>venous pH ≥7.3 OR HCO₃⁻ ≥18 </a:t>
            </a:r>
            <a:r>
              <a:rPr lang="en-US" sz="3200" b="1" dirty="0" err="1"/>
              <a:t>mEq</a:t>
            </a:r>
            <a:r>
              <a:rPr lang="en-US" sz="3200" b="1" dirty="0"/>
              <a:t>/L</a:t>
            </a:r>
            <a:endParaRPr lang="en-US" sz="3200" dirty="0"/>
          </a:p>
          <a:p>
            <a:pPr lvl="1"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/>
              <a:t>Ideally glucose </a:t>
            </a:r>
            <a:r>
              <a:rPr lang="en-US" sz="3200" b="1" dirty="0"/>
              <a:t>&lt;200 mg/dL</a:t>
            </a:r>
            <a:endParaRPr lang="en-US" sz="3200" dirty="0"/>
          </a:p>
          <a:p>
            <a:pPr marL="342265" indent="-342265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273299071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Shape 6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lang="en-US" dirty="0"/>
              <a:t>Hospital</a:t>
            </a:r>
            <a:r>
              <a:rPr dirty="0"/>
              <a:t> Treatment of DKA</a:t>
            </a:r>
          </a:p>
        </p:txBody>
      </p:sp>
      <p:sp>
        <p:nvSpPr>
          <p:cNvPr id="622" name="Shape 622"/>
          <p:cNvSpPr>
            <a:spLocks noGrp="1"/>
          </p:cNvSpPr>
          <p:nvPr>
            <p:ph idx="1"/>
          </p:nvPr>
        </p:nvSpPr>
        <p:spPr>
          <a:xfrm>
            <a:off x="668215" y="1825625"/>
            <a:ext cx="10972800" cy="4667250"/>
          </a:xfrm>
          <a:prstGeom prst="rect">
            <a:avLst/>
          </a:prstGeom>
        </p:spPr>
        <p:txBody>
          <a:bodyPr vert="horz" lIns="50799" tIns="50799" rIns="50799" bIns="50799" rtlCol="0">
            <a:normAutofit/>
          </a:bodyPr>
          <a:lstStyle/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Once the acidosis resolves and the precipitant improves, the patient may be restarted on their home DM meds.</a:t>
            </a: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Often, DKA indicates poor control, so consider medication adjustment and DM education to address this.</a:t>
            </a: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Discuss with the patient that they were seriously/ critically ill.</a:t>
            </a: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Arrange for close PCP/endo follow up</a:t>
            </a: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79398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02ACAA-32BE-42E5-9863-10FC36605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Hyperglycemic Hyperosmolar </a:t>
            </a:r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State</a:t>
            </a:r>
            <a:endParaRPr lang="en-US" sz="7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66958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Shape 62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 fontScale="90000"/>
          </a:bodyPr>
          <a:lstStyle>
            <a:lvl1pPr defTabSz="1300162">
              <a:defRPr sz="5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dirty="0"/>
              <a:t>Hyperglycemic, Hyperosmolar </a:t>
            </a:r>
            <a:r>
              <a:rPr lang="en-US" dirty="0"/>
              <a:t>State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C0FAD-83AD-B150-8FA0-7EF0C3428A6B}"/>
              </a:ext>
            </a:extLst>
          </p:cNvPr>
          <p:cNvSpPr txBox="1"/>
          <p:nvPr/>
        </p:nvSpPr>
        <p:spPr>
          <a:xfrm>
            <a:off x="604562" y="1662545"/>
            <a:ext cx="11083636" cy="33855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Life-threatening hyperglycemic emergency</a:t>
            </a:r>
            <a:endParaRPr lang="en-US" sz="28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Occurs most commonly in </a:t>
            </a:r>
            <a:r>
              <a:rPr lang="en-US" sz="2800" b="1" dirty="0">
                <a:ea typeface="+mn-lt"/>
                <a:cs typeface="+mn-lt"/>
              </a:rPr>
              <a:t>older adults with T2DM</a:t>
            </a:r>
            <a:r>
              <a:rPr lang="en-US" sz="2800" dirty="0">
                <a:ea typeface="+mn-lt"/>
                <a:cs typeface="+mn-lt"/>
              </a:rPr>
              <a:t>, but can occur with any type of diabetes</a:t>
            </a:r>
            <a:endParaRPr lang="en-US" sz="28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Develops more gradually than DKA, typically </a:t>
            </a:r>
            <a:r>
              <a:rPr lang="en-US" sz="2800" b="1" dirty="0">
                <a:ea typeface="+mn-lt"/>
                <a:cs typeface="+mn-lt"/>
              </a:rPr>
              <a:t>days to weeks</a:t>
            </a:r>
            <a:endParaRPr lang="en-US" sz="28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Characterized by </a:t>
            </a:r>
            <a:r>
              <a:rPr lang="en-US" sz="2800" b="1" dirty="0">
                <a:ea typeface="+mn-lt"/>
                <a:cs typeface="+mn-lt"/>
              </a:rPr>
              <a:t>severe hyperglycemia, hyperosmolality, and profound dehydration</a:t>
            </a:r>
            <a:endParaRPr lang="en-US" sz="28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Mortality remains approximately </a:t>
            </a:r>
            <a:r>
              <a:rPr lang="en-US" sz="2800" b="1" dirty="0">
                <a:ea typeface="+mn-lt"/>
                <a:cs typeface="+mn-lt"/>
              </a:rPr>
              <a:t>5–10× higher than DKA</a:t>
            </a:r>
            <a:endParaRPr lang="en-US" sz="2800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060012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Shape 62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 fontScale="90000"/>
          </a:bodyPr>
          <a:lstStyle>
            <a:lvl1pPr defTabSz="1300162">
              <a:defRPr sz="5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dirty="0"/>
              <a:t>Hyperglycemic, Hyperosmolar </a:t>
            </a:r>
            <a:r>
              <a:rPr lang="en-US" dirty="0"/>
              <a:t>State</a:t>
            </a:r>
            <a:endParaRPr dirty="0"/>
          </a:p>
        </p:txBody>
      </p:sp>
      <p:sp>
        <p:nvSpPr>
          <p:cNvPr id="628" name="Shape 628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t">
            <a:normAutofit/>
          </a:bodyPr>
          <a:lstStyle/>
          <a:p>
            <a:pPr marL="0" indent="0" defTabSz="914144"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b="1" dirty="0">
                <a:latin typeface="Arial"/>
                <a:cs typeface="Arial"/>
              </a:rPr>
              <a:t>Common precipitating factors:</a:t>
            </a:r>
            <a:endParaRPr lang="en-US" dirty="0"/>
          </a:p>
          <a:p>
            <a:pPr lvl="1"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2800" dirty="0">
                <a:latin typeface="Arial"/>
                <a:cs typeface="Arial"/>
              </a:rPr>
              <a:t>Infection</a:t>
            </a:r>
            <a:endParaRPr sz="2800" dirty="0"/>
          </a:p>
          <a:p>
            <a:pPr lvl="1"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2800" dirty="0">
                <a:latin typeface="Arial"/>
                <a:cs typeface="Arial"/>
              </a:rPr>
              <a:t>MI or stroke</a:t>
            </a:r>
            <a:endParaRPr lang="en-US" sz="2800" dirty="0"/>
          </a:p>
          <a:p>
            <a:pPr lvl="1"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2800" dirty="0">
                <a:latin typeface="Arial"/>
                <a:cs typeface="Arial"/>
              </a:rPr>
              <a:t>Surgery/acute illness</a:t>
            </a:r>
            <a:endParaRPr lang="en-US" sz="2800" dirty="0"/>
          </a:p>
          <a:p>
            <a:pPr lvl="1"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2800" dirty="0">
                <a:latin typeface="Arial"/>
                <a:cs typeface="Arial"/>
              </a:rPr>
              <a:t>Inadequate diabetes treatment or newly diagnosed diabetes</a:t>
            </a:r>
            <a:endParaRPr lang="en-US" sz="2800" dirty="0"/>
          </a:p>
          <a:p>
            <a:pPr lvl="1"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2800" dirty="0">
                <a:latin typeface="Arial"/>
                <a:cs typeface="Arial"/>
              </a:rPr>
              <a:t>Medications that worsen hyperglycemia or dehydration</a:t>
            </a:r>
            <a:endParaRPr lang="en-US" sz="2800" dirty="0"/>
          </a:p>
          <a:p>
            <a:pPr lvl="1"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2800" b="1" dirty="0">
                <a:latin typeface="Arial"/>
                <a:cs typeface="Arial"/>
              </a:rPr>
              <a:t>Limited access to fluids / inability to maintain hydration</a:t>
            </a:r>
            <a:endParaRPr lang="en-US" sz="2800" dirty="0"/>
          </a:p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450293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Shape 63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dirty="0"/>
              <a:t>Pathogenesis of HH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631" name="Shape 63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t">
            <a:normAutofit lnSpcReduction="10000"/>
          </a:bodyPr>
          <a:lstStyle/>
          <a:p>
            <a:pPr marL="342265" indent="-342265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A partial or relative </a:t>
            </a:r>
            <a:r>
              <a:rPr sz="3200" b="1" i="1" dirty="0">
                <a:latin typeface="Calibri" panose="020F0502020204030204" pitchFamily="34" charset="0"/>
                <a:cs typeface="Calibri" panose="020F0502020204030204" pitchFamily="34" charset="0"/>
              </a:rPr>
              <a:t>insulin deficiency</a:t>
            </a: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 reduces glucose utilization in peripheral tissues.</a:t>
            </a:r>
            <a:endParaRPr 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ea typeface="+mn-lt"/>
                <a:cs typeface="+mn-lt"/>
              </a:rPr>
              <a:t>There is usually </a:t>
            </a:r>
            <a:r>
              <a:rPr lang="en-US" sz="3200" b="1" dirty="0">
                <a:ea typeface="+mn-lt"/>
                <a:cs typeface="+mn-lt"/>
              </a:rPr>
              <a:t>enough insulin to largely suppress lipolysis and ketogenesis</a:t>
            </a:r>
            <a:r>
              <a:rPr lang="en-US" sz="3200" dirty="0">
                <a:ea typeface="+mn-lt"/>
                <a:cs typeface="+mn-lt"/>
              </a:rPr>
              <a:t>, but not enough to prevent severe hyperglycemia.</a:t>
            </a:r>
            <a:endParaRPr lang="en-US" sz="3200">
              <a:ea typeface="+mn-lt"/>
              <a:cs typeface="+mn-lt"/>
            </a:endParaRP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265" indent="-342265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b="1" dirty="0">
                <a:latin typeface="Arial"/>
                <a:cs typeface="Arial"/>
              </a:rPr>
              <a:t>↑ counterregulatory hormones</a:t>
            </a:r>
            <a:r>
              <a:rPr lang="en-US" sz="3200" dirty="0">
                <a:latin typeface="Arial"/>
                <a:cs typeface="Arial"/>
              </a:rPr>
              <a:t> (including glucagon) further increase hepatic glucose production.</a:t>
            </a:r>
          </a:p>
        </p:txBody>
      </p:sp>
    </p:spTree>
    <p:extLst>
      <p:ext uri="{BB962C8B-B14F-4D97-AF65-F5344CB8AC3E}">
        <p14:creationId xmlns:p14="http://schemas.microsoft.com/office/powerpoint/2010/main" val="138578011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Shape 63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dirty="0"/>
              <a:t>Pathogenesis of HH</a:t>
            </a:r>
            <a:r>
              <a:rPr lang="en-US" dirty="0"/>
              <a:t>S</a:t>
            </a:r>
            <a:r>
              <a:rPr dirty="0"/>
              <a:t> </a:t>
            </a:r>
          </a:p>
        </p:txBody>
      </p:sp>
      <p:sp>
        <p:nvSpPr>
          <p:cNvPr id="634" name="Shape 634"/>
          <p:cNvSpPr>
            <a:spLocks noGrp="1"/>
          </p:cNvSpPr>
          <p:nvPr>
            <p:ph idx="1"/>
          </p:nvPr>
        </p:nvSpPr>
        <p:spPr>
          <a:xfrm>
            <a:off x="527537" y="1825625"/>
            <a:ext cx="11113477" cy="4351338"/>
          </a:xfrm>
          <a:prstGeom prst="rect">
            <a:avLst/>
          </a:prstGeom>
        </p:spPr>
        <p:txBody>
          <a:bodyPr vert="horz" lIns="50799" tIns="50799" rIns="50799" bIns="50799" rtlCol="0" anchor="t">
            <a:noAutofit/>
          </a:bodyPr>
          <a:lstStyle/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latin typeface="Arial"/>
                <a:cs typeface="Arial"/>
              </a:rPr>
              <a:t>Severe hyperglycemia exceeds the renal threshold → </a:t>
            </a:r>
            <a:r>
              <a:rPr lang="en-US" sz="3200" b="1" dirty="0">
                <a:latin typeface="Arial"/>
                <a:cs typeface="Arial"/>
              </a:rPr>
              <a:t>glucosuria and osmotic diuresis</a:t>
            </a:r>
            <a:endParaRPr lang="en-US" sz="3200" dirty="0">
              <a:latin typeface="Arial"/>
              <a:cs typeface="Arial"/>
            </a:endParaRPr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latin typeface="Arial"/>
                <a:cs typeface="Arial"/>
              </a:rPr>
              <a:t>If the patient cannot maintain adequate fluid intake, </a:t>
            </a:r>
            <a:r>
              <a:rPr lang="en-US" sz="3200" b="1" dirty="0">
                <a:latin typeface="Arial"/>
                <a:cs typeface="Arial"/>
              </a:rPr>
              <a:t>profound dehydration</a:t>
            </a:r>
            <a:r>
              <a:rPr lang="en-US" sz="3200" dirty="0">
                <a:latin typeface="Arial"/>
                <a:cs typeface="Arial"/>
              </a:rPr>
              <a:t> develops.</a:t>
            </a:r>
            <a:endParaRPr lang="en-US" sz="3200" dirty="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latin typeface="Arial"/>
                <a:cs typeface="Arial"/>
              </a:rPr>
              <a:t>↓ circulating volume → ↓ renal perfusion → decreased glucose clearance → </a:t>
            </a:r>
            <a:r>
              <a:rPr lang="en-US" sz="3200" b="1" dirty="0">
                <a:latin typeface="Arial"/>
                <a:cs typeface="Arial"/>
              </a:rPr>
              <a:t>worsening hyperglycemia</a:t>
            </a:r>
            <a:endParaRPr sz="3200" dirty="0"/>
          </a:p>
          <a:p>
            <a:pPr marL="273050" indent="-273050" defTabSz="914144">
              <a:lnSpc>
                <a:spcPct val="110000"/>
              </a:lnSpc>
              <a:spcBef>
                <a:spcPts val="492"/>
              </a:spcBef>
              <a:defRPr sz="4500" b="1" i="1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615705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Shape 6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dirty="0"/>
              <a:t>Pathogenesis of HH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637" name="Shape 637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t">
            <a:normAutofit lnSpcReduction="10000"/>
          </a:bodyPr>
          <a:lstStyle/>
          <a:p>
            <a:pPr marL="273050" indent="-273050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latin typeface="Calibri"/>
                <a:cs typeface="Calibri"/>
              </a:rPr>
              <a:t>Declining renal perfusion/function develops</a:t>
            </a:r>
            <a:r>
              <a:rPr sz="3200" dirty="0">
                <a:latin typeface="Calibri"/>
                <a:cs typeface="Calibri"/>
              </a:rPr>
              <a:t>, the kidney is less</a:t>
            </a:r>
            <a:r>
              <a:rPr lang="en-US" sz="3200" dirty="0">
                <a:latin typeface="Calibri"/>
                <a:cs typeface="Calibri"/>
              </a:rPr>
              <a:t> and less</a:t>
            </a:r>
            <a:r>
              <a:rPr sz="3200" dirty="0">
                <a:latin typeface="Calibri"/>
                <a:cs typeface="Calibri"/>
              </a:rPr>
              <a:t> able to rid the body of glucose. </a:t>
            </a:r>
            <a:endParaRPr lang="en-US">
              <a:latin typeface="Calibri"/>
              <a:cs typeface="Calibri"/>
            </a:endParaRPr>
          </a:p>
          <a:p>
            <a:pPr marL="273462" indent="-273462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latin typeface="Arial"/>
                <a:cs typeface="Arial"/>
              </a:rPr>
              <a:t>Increasing glucose + profound free-water loss → </a:t>
            </a:r>
            <a:r>
              <a:rPr lang="en-US" sz="3200" b="1" dirty="0">
                <a:latin typeface="Arial"/>
                <a:cs typeface="Arial"/>
              </a:rPr>
              <a:t>hyperosmolality</a:t>
            </a:r>
            <a:endParaRPr lang="en-US" sz="3200" dirty="0">
              <a:latin typeface="Arial"/>
              <a:cs typeface="Arial"/>
            </a:endParaRPr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latin typeface="Arial"/>
                <a:cs typeface="Arial"/>
              </a:rPr>
              <a:t>Increasing hyperosmolality can cause </a:t>
            </a:r>
            <a:r>
              <a:rPr lang="en-US" sz="3200" b="1" dirty="0">
                <a:latin typeface="Arial"/>
                <a:cs typeface="Arial"/>
              </a:rPr>
              <a:t>progressive neurologic dysfunction</a:t>
            </a:r>
            <a:endParaRPr sz="3200" dirty="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latin typeface="Arial"/>
                <a:cs typeface="Arial"/>
              </a:rPr>
              <a:t>Confusion, lethargy, focal neurologic deficits, seizures, and coma may occur.</a:t>
            </a:r>
          </a:p>
          <a:p>
            <a:pPr marL="273050" indent="-273050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140224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Shape 63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/>
          <a:p>
            <a:pPr defTabSz="914144">
              <a:defRPr sz="56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H</a:t>
            </a:r>
            <a:r>
              <a:rPr lang="en-US" dirty="0"/>
              <a:t>HS </a:t>
            </a:r>
            <a:r>
              <a:rPr dirty="0"/>
              <a:t>Clinical Findings</a:t>
            </a:r>
          </a:p>
        </p:txBody>
      </p:sp>
      <p:sp>
        <p:nvSpPr>
          <p:cNvPr id="640" name="Shape 640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>
            <a:normAutofit/>
          </a:bodyPr>
          <a:lstStyle/>
          <a:p>
            <a:pPr marL="0" indent="0" defTabSz="914144">
              <a:spcBef>
                <a:spcPts val="492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Onset may be </a:t>
            </a:r>
            <a:r>
              <a:rPr sz="3200" b="1" i="1" dirty="0">
                <a:latin typeface="Calibri" panose="020F0502020204030204" pitchFamily="34" charset="0"/>
                <a:cs typeface="Calibri" panose="020F0502020204030204" pitchFamily="34" charset="0"/>
              </a:rPr>
              <a:t>insidious</a:t>
            </a: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 over days or weeks</a:t>
            </a:r>
          </a:p>
          <a:p>
            <a:pPr marL="342664" indent="-342664" defTabSz="914144">
              <a:spcBef>
                <a:spcPts val="492"/>
              </a:spcBef>
              <a:defRPr sz="4500" b="1" i="1">
                <a:latin typeface="Arial"/>
                <a:ea typeface="Arial"/>
                <a:cs typeface="Arial"/>
                <a:sym typeface="Arial"/>
              </a:defRPr>
            </a:pP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Weakness</a:t>
            </a:r>
            <a:r>
              <a:rPr sz="3200" b="0" i="0" dirty="0">
                <a:latin typeface="Calibri" panose="020F0502020204030204" pitchFamily="34" charset="0"/>
                <a:cs typeface="Calibri" panose="020F0502020204030204" pitchFamily="34" charset="0"/>
              </a:rPr>
              <a:t>, polyuria, and polydipsia</a:t>
            </a:r>
          </a:p>
          <a:p>
            <a:pPr marL="342664" indent="-342664" defTabSz="914144">
              <a:spcBef>
                <a:spcPts val="492"/>
              </a:spcBef>
              <a:defRPr sz="4500" b="1" i="1">
                <a:latin typeface="Arial"/>
                <a:ea typeface="Arial"/>
                <a:cs typeface="Arial"/>
                <a:sym typeface="Arial"/>
              </a:defRPr>
            </a:pP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Lethargy, confusion </a:t>
            </a:r>
            <a:r>
              <a:rPr sz="3200" b="0" i="0" dirty="0">
                <a:latin typeface="Calibri" panose="020F0502020204030204" pitchFamily="34" charset="0"/>
                <a:cs typeface="Calibri" panose="020F0502020204030204" pitchFamily="34" charset="0"/>
              </a:rPr>
              <a:t>and progressive </a:t>
            </a:r>
            <a:r>
              <a:rPr sz="3200" b="1" i="0" dirty="0">
                <a:latin typeface="Calibri" panose="020F0502020204030204" pitchFamily="34" charset="0"/>
                <a:cs typeface="Calibri" panose="020F0502020204030204" pitchFamily="34" charset="0"/>
              </a:rPr>
              <a:t>decrease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in cognition</a:t>
            </a:r>
            <a:r>
              <a:rPr sz="3200" b="0" i="0" dirty="0">
                <a:latin typeface="Calibri" panose="020F0502020204030204" pitchFamily="34" charset="0"/>
                <a:cs typeface="Calibri" panose="020F0502020204030204" pitchFamily="34" charset="0"/>
              </a:rPr>
              <a:t>.  </a:t>
            </a: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Convulsions and deep coma if untreated</a:t>
            </a:r>
          </a:p>
          <a:p>
            <a:pPr marL="342664" indent="-342664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200" b="1" dirty="0">
                <a:latin typeface="Calibri" panose="020F0502020204030204" pitchFamily="34" charset="0"/>
                <a:cs typeface="Calibri" panose="020F0502020204030204" pitchFamily="34" charset="0"/>
              </a:rPr>
              <a:t>Low fluid intake </a:t>
            </a: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may occur in</a:t>
            </a:r>
          </a:p>
          <a:p>
            <a:pPr marL="607197" lvl="1" indent="-285740" defTabSz="914144">
              <a:spcBef>
                <a:spcPts val="422"/>
              </a:spcBef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Nausea, inappropriate lack of thirst</a:t>
            </a:r>
          </a:p>
          <a:p>
            <a:pPr marL="607197" lvl="1" indent="-285740" defTabSz="914144">
              <a:spcBef>
                <a:spcPts val="422"/>
              </a:spcBef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Elderly, bedridden pts with inaccessibility to fluids</a:t>
            </a:r>
          </a:p>
        </p:txBody>
      </p:sp>
    </p:spTree>
    <p:extLst>
      <p:ext uri="{BB962C8B-B14F-4D97-AF65-F5344CB8AC3E}">
        <p14:creationId xmlns:p14="http://schemas.microsoft.com/office/powerpoint/2010/main" val="109096160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Shape 64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/>
          <a:p>
            <a:pPr defTabSz="914144">
              <a:defRPr sz="56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HHS </a:t>
            </a:r>
            <a:r>
              <a:rPr dirty="0"/>
              <a:t>Laboratory Findings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5E6103-9B74-A80A-83B9-292C031F30DF}"/>
              </a:ext>
            </a:extLst>
          </p:cNvPr>
          <p:cNvSpPr txBox="1"/>
          <p:nvPr/>
        </p:nvSpPr>
        <p:spPr>
          <a:xfrm>
            <a:off x="705322" y="1574379"/>
            <a:ext cx="10806545" cy="5109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ea typeface="+mn-lt"/>
                <a:cs typeface="+mn-lt"/>
              </a:rPr>
              <a:t>Diagnosis of HHS Requires ALL 4</a:t>
            </a:r>
            <a:endParaRPr lang="en-US" sz="28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 dirty="0">
                <a:ea typeface="+mn-lt"/>
                <a:cs typeface="+mn-lt"/>
              </a:rPr>
              <a:t>Glucose ≥600 mg/dL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 dirty="0">
                <a:ea typeface="+mn-lt"/>
                <a:cs typeface="+mn-lt"/>
              </a:rPr>
              <a:t>Hyperosmolality</a:t>
            </a:r>
            <a:endParaRPr lang="en-US" sz="280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effective serum osmolality </a:t>
            </a:r>
            <a:r>
              <a:rPr lang="en-US" sz="2800" b="1" dirty="0">
                <a:ea typeface="+mn-lt"/>
                <a:cs typeface="+mn-lt"/>
              </a:rPr>
              <a:t>&gt;300 </a:t>
            </a:r>
            <a:r>
              <a:rPr lang="en-US" sz="2800" b="1" dirty="0" err="1">
                <a:ea typeface="+mn-lt"/>
                <a:cs typeface="+mn-lt"/>
              </a:rPr>
              <a:t>mOsm</a:t>
            </a:r>
            <a:r>
              <a:rPr lang="en-US" sz="2800" b="1" dirty="0">
                <a:ea typeface="+mn-lt"/>
                <a:cs typeface="+mn-lt"/>
              </a:rPr>
              <a:t>/kg</a:t>
            </a:r>
            <a:endParaRPr lang="en-US" sz="280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OR total serum osmolality </a:t>
            </a:r>
            <a:r>
              <a:rPr lang="en-US" sz="2800" b="1" dirty="0">
                <a:ea typeface="+mn-lt"/>
                <a:cs typeface="+mn-lt"/>
              </a:rPr>
              <a:t>&gt;320 </a:t>
            </a:r>
            <a:r>
              <a:rPr lang="en-US" sz="2800" b="1" dirty="0" err="1">
                <a:ea typeface="+mn-lt"/>
                <a:cs typeface="+mn-lt"/>
              </a:rPr>
              <a:t>mOsm</a:t>
            </a:r>
            <a:r>
              <a:rPr lang="en-US" sz="2800" b="1" dirty="0">
                <a:ea typeface="+mn-lt"/>
                <a:cs typeface="+mn-lt"/>
              </a:rPr>
              <a:t>/kg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 dirty="0">
                <a:ea typeface="+mn-lt"/>
                <a:cs typeface="+mn-lt"/>
              </a:rPr>
              <a:t>No significant ketonemia</a:t>
            </a:r>
            <a:endParaRPr lang="en-US" sz="280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β-hydroxybutyrate </a:t>
            </a:r>
            <a:r>
              <a:rPr lang="en-US" sz="2800" b="1" dirty="0">
                <a:ea typeface="+mn-lt"/>
                <a:cs typeface="+mn-lt"/>
              </a:rPr>
              <a:t>&lt;3.0 mmol/L</a:t>
            </a:r>
            <a:endParaRPr lang="en-US" sz="280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or urine ketones &lt;2+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 dirty="0">
                <a:ea typeface="+mn-lt"/>
                <a:cs typeface="+mn-lt"/>
              </a:rPr>
              <a:t>No significant acidosis</a:t>
            </a:r>
            <a:endParaRPr lang="en-US" sz="280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pH </a:t>
            </a:r>
            <a:r>
              <a:rPr lang="en-US" sz="2800" b="1" dirty="0">
                <a:ea typeface="+mn-lt"/>
                <a:cs typeface="+mn-lt"/>
              </a:rPr>
              <a:t>≥7.3</a:t>
            </a:r>
            <a:endParaRPr lang="en-US" sz="280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bicarbonate </a:t>
            </a:r>
            <a:r>
              <a:rPr lang="en-US" sz="2800" b="1" dirty="0">
                <a:ea typeface="+mn-lt"/>
                <a:cs typeface="+mn-lt"/>
              </a:rPr>
              <a:t>≥15 </a:t>
            </a:r>
            <a:r>
              <a:rPr lang="en-US" sz="2800" b="1" dirty="0" err="1">
                <a:ea typeface="+mn-lt"/>
                <a:cs typeface="+mn-lt"/>
              </a:rPr>
              <a:t>mEq</a:t>
            </a:r>
            <a:r>
              <a:rPr lang="en-US" sz="2800" b="1" dirty="0">
                <a:ea typeface="+mn-lt"/>
                <a:cs typeface="+mn-lt"/>
              </a:rPr>
              <a:t>/L</a:t>
            </a:r>
            <a:endParaRPr lang="en-US" sz="280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636757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Shape 64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/>
          <a:p>
            <a:pPr defTabSz="914144">
              <a:defRPr sz="56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H</a:t>
            </a:r>
            <a:r>
              <a:rPr lang="en-US" dirty="0"/>
              <a:t>HS </a:t>
            </a:r>
            <a:r>
              <a:rPr dirty="0"/>
              <a:t>Laboratory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89C7D-B60A-4869-A496-349418077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b="1" dirty="0">
                <a:ea typeface="+mn-lt"/>
                <a:cs typeface="+mn-lt"/>
              </a:rPr>
              <a:t>CBC:</a:t>
            </a:r>
            <a:r>
              <a:rPr lang="en-US" sz="3200" dirty="0">
                <a:ea typeface="+mn-lt"/>
                <a:cs typeface="+mn-lt"/>
              </a:rPr>
              <a:t> hemoconcentration; leukocytosis may occur from physiologic stress</a:t>
            </a:r>
            <a:endParaRPr lang="en-US" sz="3200" dirty="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b="1" dirty="0">
                <a:ea typeface="+mn-lt"/>
                <a:cs typeface="+mn-lt"/>
              </a:rPr>
              <a:t>BUN/Cr:</a:t>
            </a:r>
            <a:r>
              <a:rPr lang="en-US" sz="3200" dirty="0">
                <a:ea typeface="+mn-lt"/>
                <a:cs typeface="+mn-lt"/>
              </a:rPr>
              <a:t> often elevated from profound dehydration/AKI</a:t>
            </a:r>
            <a:endParaRPr lang="en-US" sz="3200" dirty="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b="1" dirty="0">
                <a:ea typeface="+mn-lt"/>
                <a:cs typeface="+mn-lt"/>
              </a:rPr>
              <a:t>Na⁺:</a:t>
            </a:r>
            <a:r>
              <a:rPr lang="en-US" sz="3200" dirty="0">
                <a:ea typeface="+mn-lt"/>
                <a:cs typeface="+mn-lt"/>
              </a:rPr>
              <a:t> variable; may be low, normal, or high</a:t>
            </a:r>
            <a:endParaRPr lang="en-US" sz="3200" dirty="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b="1" dirty="0">
                <a:ea typeface="+mn-lt"/>
                <a:cs typeface="+mn-lt"/>
              </a:rPr>
              <a:t>K⁺:</a:t>
            </a:r>
            <a:r>
              <a:rPr lang="en-US" sz="3200" dirty="0">
                <a:ea typeface="+mn-lt"/>
                <a:cs typeface="+mn-lt"/>
              </a:rPr>
              <a:t> variable initially, despite </a:t>
            </a:r>
            <a:r>
              <a:rPr lang="en-US" sz="3200" b="1" dirty="0">
                <a:ea typeface="+mn-lt"/>
                <a:cs typeface="+mn-lt"/>
              </a:rPr>
              <a:t>total-body potassium depletion</a:t>
            </a:r>
            <a:endParaRPr lang="en-US" sz="3200" dirty="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ea typeface="+mn-lt"/>
                <a:cs typeface="+mn-lt"/>
              </a:rPr>
              <a:t>Ketones: absent to mild</a:t>
            </a:r>
            <a:endParaRPr lang="en-US" sz="3200" dirty="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ea typeface="+mn-lt"/>
                <a:cs typeface="+mn-lt"/>
              </a:rPr>
              <a:t>Acid-base status: generally </a:t>
            </a:r>
            <a:r>
              <a:rPr lang="en-US" sz="3200" b="1" dirty="0">
                <a:ea typeface="+mn-lt"/>
                <a:cs typeface="+mn-lt"/>
              </a:rPr>
              <a:t>no significant metabolic acidosis</a:t>
            </a:r>
            <a:endParaRPr lang="en-US" sz="3200" dirty="0"/>
          </a:p>
          <a:p>
            <a:pPr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50102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Shape 6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dirty="0"/>
              <a:t>Treatment of HH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649" name="Shape 649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t">
            <a:normAutofit fontScale="77500" lnSpcReduction="20000"/>
          </a:bodyPr>
          <a:lstStyle/>
          <a:p>
            <a:pPr marL="305831" indent="-305831" defTabSz="914144">
              <a:spcBef>
                <a:spcPts val="492"/>
              </a:spcBef>
              <a:buFontTx/>
              <a:buAutoNum type="arabicPeriod"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Fluid Replacement</a:t>
            </a:r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800" b="1" dirty="0">
                <a:ea typeface="+mn-lt"/>
                <a:cs typeface="+mn-lt"/>
              </a:rPr>
              <a:t>Fluid replacement is the cornerstone of treatment</a:t>
            </a:r>
            <a:endParaRPr dirty="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800" dirty="0">
                <a:ea typeface="+mn-lt"/>
                <a:cs typeface="+mn-lt"/>
              </a:rPr>
              <a:t>Begin </a:t>
            </a:r>
            <a:r>
              <a:rPr lang="en-US" sz="3800" b="1" dirty="0">
                <a:ea typeface="+mn-lt"/>
                <a:cs typeface="+mn-lt"/>
              </a:rPr>
              <a:t>0.9% saline or balanced crystalloid</a:t>
            </a:r>
            <a:endParaRPr lang="en-US" dirty="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800" dirty="0">
                <a:ea typeface="+mn-lt"/>
                <a:cs typeface="+mn-lt"/>
              </a:rPr>
              <a:t>Typical initial rate: </a:t>
            </a:r>
            <a:r>
              <a:rPr lang="en-US" sz="3800" b="1" dirty="0">
                <a:ea typeface="+mn-lt"/>
                <a:cs typeface="+mn-lt"/>
              </a:rPr>
              <a:t>500–1,000 mL/</a:t>
            </a:r>
            <a:r>
              <a:rPr lang="en-US" sz="3800" b="1" dirty="0" err="1">
                <a:ea typeface="+mn-lt"/>
                <a:cs typeface="+mn-lt"/>
              </a:rPr>
              <a:t>hr</a:t>
            </a:r>
            <a:r>
              <a:rPr lang="en-US" sz="3800" b="1" dirty="0">
                <a:ea typeface="+mn-lt"/>
                <a:cs typeface="+mn-lt"/>
              </a:rPr>
              <a:t> for first 2–4 hours</a:t>
            </a:r>
            <a:endParaRPr lang="en-US" dirty="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800" dirty="0">
                <a:ea typeface="+mn-lt"/>
                <a:cs typeface="+mn-lt"/>
              </a:rPr>
              <a:t>Then adjust based on:</a:t>
            </a:r>
            <a:endParaRPr lang="en-US" dirty="0"/>
          </a:p>
          <a:p>
            <a:pPr lvl="1"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800" dirty="0">
                <a:ea typeface="+mn-lt"/>
                <a:cs typeface="+mn-lt"/>
              </a:rPr>
              <a:t>hemodynamics</a:t>
            </a:r>
            <a:endParaRPr dirty="0"/>
          </a:p>
          <a:p>
            <a:pPr lvl="1"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800" dirty="0">
                <a:ea typeface="+mn-lt"/>
                <a:cs typeface="+mn-lt"/>
              </a:rPr>
              <a:t>sodium</a:t>
            </a:r>
            <a:endParaRPr dirty="0"/>
          </a:p>
          <a:p>
            <a:pPr lvl="1"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800" dirty="0">
                <a:ea typeface="+mn-lt"/>
                <a:cs typeface="+mn-lt"/>
              </a:rPr>
              <a:t>urine output/fluid balance</a:t>
            </a:r>
            <a:endParaRPr lang="en-US" dirty="0"/>
          </a:p>
          <a:p>
            <a:pPr lvl="1"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800" b="1" dirty="0">
                <a:ea typeface="+mn-lt"/>
                <a:cs typeface="+mn-lt"/>
              </a:rPr>
              <a:t>serum osmolality</a:t>
            </a:r>
            <a:endParaRPr lang="en-US" dirty="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800" dirty="0">
                <a:ea typeface="+mn-lt"/>
                <a:cs typeface="+mn-lt"/>
              </a:rPr>
              <a:t>Use caution with older adults, HF, or kidney disease</a:t>
            </a:r>
            <a:endParaRPr dirty="0"/>
          </a:p>
          <a:p>
            <a:pPr marL="305435" indent="-305435" defTabSz="914144">
              <a:spcBef>
                <a:spcPts val="492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699752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Shape 65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50799" tIns="50799" rIns="50799" bIns="50799" rtlCol="0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dirty="0"/>
              <a:t>Treatment of HH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652" name="Shape 652"/>
          <p:cNvSpPr>
            <a:spLocks noGrp="1"/>
          </p:cNvSpPr>
          <p:nvPr>
            <p:ph idx="1"/>
          </p:nvPr>
        </p:nvSpPr>
        <p:spPr>
          <a:xfrm>
            <a:off x="598895" y="1825625"/>
            <a:ext cx="11145351" cy="4351338"/>
          </a:xfrm>
          <a:prstGeom prst="rect">
            <a:avLst/>
          </a:prstGeom>
        </p:spPr>
        <p:txBody>
          <a:bodyPr vert="horz" lIns="50799" tIns="50799" rIns="50799" bIns="50799" rtlCol="0" anchor="t">
            <a:normAutofit fontScale="92500"/>
          </a:bodyPr>
          <a:lstStyle/>
          <a:p>
            <a:pPr marL="642620" indent="-642620" defTabSz="914144">
              <a:spcBef>
                <a:spcPts val="492"/>
              </a:spcBef>
              <a:spcAft>
                <a:spcPts val="422"/>
              </a:spcAft>
              <a:buFontTx/>
              <a:buAutoNum type="arabicPeriod" startAt="2"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sz="3200" dirty="0">
                <a:latin typeface="Calibri"/>
                <a:cs typeface="Calibri"/>
              </a:rPr>
              <a:t>Insulin</a:t>
            </a:r>
            <a:endParaRPr lang="en-US" sz="3200" dirty="0">
              <a:latin typeface="Calibri"/>
              <a:cs typeface="Calibri"/>
            </a:endParaRPr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sz="3200" dirty="0">
              <a:latin typeface="Calibri"/>
              <a:cs typeface="Calibri"/>
            </a:endParaRPr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b="1" dirty="0">
                <a:ea typeface="+mn-lt"/>
                <a:cs typeface="+mn-lt"/>
              </a:rPr>
              <a:t>Fluid replacement alone may substantially lower glucose</a:t>
            </a:r>
            <a:endParaRPr lang="en-US" sz="320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ea typeface="+mn-lt"/>
                <a:cs typeface="+mn-lt"/>
              </a:rPr>
              <a:t>After initial fluid resuscitation, IV regular insulin may be started</a:t>
            </a:r>
            <a:endParaRPr lang="en-US" sz="3200" dirty="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b="1" dirty="0">
                <a:ea typeface="+mn-lt"/>
                <a:cs typeface="+mn-lt"/>
              </a:rPr>
              <a:t>IV insulin: 0.05 units/kg/</a:t>
            </a:r>
            <a:r>
              <a:rPr lang="en-US" sz="3200" b="1" dirty="0" err="1">
                <a:ea typeface="+mn-lt"/>
                <a:cs typeface="+mn-lt"/>
              </a:rPr>
              <a:t>hr</a:t>
            </a:r>
            <a:endParaRPr lang="en-US" sz="3200" dirty="0" err="1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ea typeface="+mn-lt"/>
                <a:cs typeface="+mn-lt"/>
              </a:rPr>
              <a:t>Monitor glucose and potassium closely</a:t>
            </a:r>
            <a:endParaRPr lang="en-US" sz="3200" dirty="0"/>
          </a:p>
          <a:p>
            <a:pPr defTabSz="914144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ea typeface="+mn-lt"/>
                <a:cs typeface="+mn-lt"/>
              </a:rPr>
              <a:t>Add dextrose as glucose approaches </a:t>
            </a:r>
            <a:r>
              <a:rPr lang="en-US" sz="3200" b="1" dirty="0">
                <a:ea typeface="+mn-lt"/>
                <a:cs typeface="+mn-lt"/>
              </a:rPr>
              <a:t>250 mg/dL</a:t>
            </a:r>
            <a:r>
              <a:rPr lang="en-US" sz="3200" dirty="0">
                <a:ea typeface="+mn-lt"/>
                <a:cs typeface="+mn-lt"/>
              </a:rPr>
              <a:t> so insulin can continue while hyperosmolality resolves</a:t>
            </a:r>
            <a:endParaRPr lang="en-US" sz="3200" dirty="0"/>
          </a:p>
          <a:p>
            <a:pPr marL="642620" indent="-642620" defTabSz="914144">
              <a:spcBef>
                <a:spcPts val="492"/>
              </a:spcBef>
              <a:spcAft>
                <a:spcPts val="422"/>
              </a:spcAft>
              <a:defRPr sz="45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04086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8E35B3-5847-42EB-AF72-57E3E1A34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DKA vs HHS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C1E63B91-8B0E-C8C0-D97F-BF4A1DC3C0E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16810" y="961812"/>
          <a:ext cx="6031780" cy="4930990"/>
        </p:xfrm>
        <a:graphic>
          <a:graphicData uri="http://schemas.openxmlformats.org/drawingml/2006/table">
            <a:tbl>
              <a:tblPr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811646">
                  <a:extLst>
                    <a:ext uri="{9D8B030D-6E8A-4147-A177-3AD203B41FA5}">
                      <a16:colId xmlns:a16="http://schemas.microsoft.com/office/drawing/2014/main" val="4078589722"/>
                    </a:ext>
                  </a:extLst>
                </a:gridCol>
                <a:gridCol w="2399444">
                  <a:extLst>
                    <a:ext uri="{9D8B030D-6E8A-4147-A177-3AD203B41FA5}">
                      <a16:colId xmlns:a16="http://schemas.microsoft.com/office/drawing/2014/main" val="1989567624"/>
                    </a:ext>
                  </a:extLst>
                </a:gridCol>
                <a:gridCol w="1820690">
                  <a:extLst>
                    <a:ext uri="{9D8B030D-6E8A-4147-A177-3AD203B41FA5}">
                      <a16:colId xmlns:a16="http://schemas.microsoft.com/office/drawing/2014/main" val="4119352814"/>
                    </a:ext>
                  </a:extLst>
                </a:gridCol>
              </a:tblGrid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DKA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HHS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626334"/>
                  </a:ext>
                </a:extLst>
              </a:tr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Onset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Hours–days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Days–weeks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511780"/>
                  </a:ext>
                </a:extLst>
              </a:tr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Glucose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Variable; may be &lt;200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≥600 mg/dL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560381"/>
                  </a:ext>
                </a:extLst>
              </a:tr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Ketosis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Significant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Minimal/absent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331134"/>
                  </a:ext>
                </a:extLst>
              </a:tr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Acidosis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Present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Absent/minimal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826922"/>
                  </a:ext>
                </a:extLst>
              </a:tr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Hyperosmolality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Marked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609317"/>
                  </a:ext>
                </a:extLst>
              </a:tr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Dehydration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Significant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Profound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574171"/>
                  </a:ext>
                </a:extLst>
              </a:tr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Neuro changes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Often prominent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333123"/>
                  </a:ext>
                </a:extLst>
              </a:tr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Initial insulin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0.1 U/kg/hr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0.05 U/kg/hr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114424"/>
                  </a:ext>
                </a:extLst>
              </a:tr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Mortality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Lower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5–10× higher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890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896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AFE420A7EF1D4ABFC67E13CCF380F4" ma:contentTypeVersion="14" ma:contentTypeDescription="Create a new document." ma:contentTypeScope="" ma:versionID="51d109aabf79ffeb20f2d4f05a66b1a5">
  <xsd:schema xmlns:xsd="http://www.w3.org/2001/XMLSchema" xmlns:xs="http://www.w3.org/2001/XMLSchema" xmlns:p="http://schemas.microsoft.com/office/2006/metadata/properties" xmlns:ns3="9dbb2718-4180-40db-98fb-f9fe20588b96" xmlns:ns4="0d63d358-a8c1-4dbc-9cc4-1710aecef28f" targetNamespace="http://schemas.microsoft.com/office/2006/metadata/properties" ma:root="true" ma:fieldsID="5a642810939fbf2c1b55a2c355089b0a" ns3:_="" ns4:_="">
    <xsd:import namespace="9dbb2718-4180-40db-98fb-f9fe20588b96"/>
    <xsd:import namespace="0d63d358-a8c1-4dbc-9cc4-1710aecef28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bb2718-4180-40db-98fb-f9fe20588b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63d358-a8c1-4dbc-9cc4-1710aecef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6F6026-84BC-4759-A916-E0AD20C3A3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bb2718-4180-40db-98fb-f9fe20588b96"/>
    <ds:schemaRef ds:uri="0d63d358-a8c1-4dbc-9cc4-1710aecef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CCD0704-F56C-461E-8E2F-415B4D9A6B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46A9F9-712B-4026-9412-AC95BA2FB89F}">
  <ds:schemaRefs>
    <ds:schemaRef ds:uri="http://purl.org/dc/terms/"/>
    <ds:schemaRef ds:uri="9dbb2718-4180-40db-98fb-f9fe20588b96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d63d358-a8c1-4dbc-9cc4-1710aecef28f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3406</TotalTime>
  <Words>5891</Words>
  <Application>Microsoft Office PowerPoint</Application>
  <PresentationFormat>Widescreen</PresentationFormat>
  <Paragraphs>859</Paragraphs>
  <Slides>112</Slides>
  <Notes>54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3" baseType="lpstr">
      <vt:lpstr>Office Theme</vt:lpstr>
      <vt:lpstr>Diabetes Special Considerations, Complications and Emergencies </vt:lpstr>
      <vt:lpstr>Outline</vt:lpstr>
      <vt:lpstr>DM Special Considerations</vt:lpstr>
      <vt:lpstr>AM Hyperglycemia</vt:lpstr>
      <vt:lpstr>AM Hyperglycemia</vt:lpstr>
      <vt:lpstr>Surgery Implications</vt:lpstr>
      <vt:lpstr>DM and Surgery</vt:lpstr>
      <vt:lpstr>DM and Surgery</vt:lpstr>
      <vt:lpstr>Pregnancy</vt:lpstr>
      <vt:lpstr>Pregnancy and DM - Patho</vt:lpstr>
      <vt:lpstr>Pregnancy and DM - Screening</vt:lpstr>
      <vt:lpstr>Pregnancy and DM – Preexisting DM</vt:lpstr>
      <vt:lpstr>Pregnancy and DM – Treatment</vt:lpstr>
      <vt:lpstr>Managing Adiposity in Diabetes</vt:lpstr>
      <vt:lpstr>Weight Management in T2DM</vt:lpstr>
      <vt:lpstr>Weight Management in T2DM</vt:lpstr>
      <vt:lpstr>Weight Management in T2DM</vt:lpstr>
      <vt:lpstr>Complications of Diabetes</vt:lpstr>
      <vt:lpstr>Chronic Complications of Diabetes</vt:lpstr>
      <vt:lpstr>PowerPoint Presentation</vt:lpstr>
      <vt:lpstr>Why Does Diabetes Cause Vascular Damage?</vt:lpstr>
      <vt:lpstr>Macrovascular Complications</vt:lpstr>
      <vt:lpstr>Lipoprotein Abnormalities</vt:lpstr>
      <vt:lpstr>Macrovascular: Lipoprotein Abnormalities</vt:lpstr>
      <vt:lpstr>Hypertension</vt:lpstr>
      <vt:lpstr>Macrovascular: Hypertension</vt:lpstr>
      <vt:lpstr>CAD</vt:lpstr>
      <vt:lpstr>Macrovascular: Cardiovascular Complications</vt:lpstr>
      <vt:lpstr>PVD</vt:lpstr>
      <vt:lpstr>Macrovascular: Peripheral Vascular Disease</vt:lpstr>
      <vt:lpstr>Macrovascular: Peripheral Vascular Disease</vt:lpstr>
      <vt:lpstr>Microvascular Complications</vt:lpstr>
      <vt:lpstr>Ocular Complications</vt:lpstr>
      <vt:lpstr>Microvascular: Ocular Complications</vt:lpstr>
      <vt:lpstr>PowerPoint Presentation</vt:lpstr>
      <vt:lpstr>PowerPoint Presentation</vt:lpstr>
      <vt:lpstr>Proliferative Retinopathy</vt:lpstr>
      <vt:lpstr>Microvascular: Ocular Complications</vt:lpstr>
      <vt:lpstr>Microvascular: Ocular Complications</vt:lpstr>
      <vt:lpstr>Microvascular: Ocular Complications</vt:lpstr>
      <vt:lpstr>Neuropathy</vt:lpstr>
      <vt:lpstr>Microvascular: Neuropathy</vt:lpstr>
      <vt:lpstr>Microvascular: Neuropathy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Nephropathy</vt:lpstr>
      <vt:lpstr>PowerPoint Presentation</vt:lpstr>
      <vt:lpstr>PowerPoint Presentation</vt:lpstr>
      <vt:lpstr>Microvascular: Nephropathy</vt:lpstr>
      <vt:lpstr>PowerPoint Presentation</vt:lpstr>
      <vt:lpstr>Diabetic Emergencies</vt:lpstr>
      <vt:lpstr>Foot Ulcers</vt:lpstr>
      <vt:lpstr>DM Foot Ulcers - Patho</vt:lpstr>
      <vt:lpstr>DM Foot Ulcers - Patho</vt:lpstr>
      <vt:lpstr>DM Foot Ulcers – Work Up</vt:lpstr>
      <vt:lpstr>DM foot ulcers - Management</vt:lpstr>
      <vt:lpstr>DM Foot Ulcers - Infected</vt:lpstr>
      <vt:lpstr>Diabetic Ketoacidosis</vt:lpstr>
      <vt:lpstr>Diabetic Ketoacidosis</vt:lpstr>
      <vt:lpstr>Diabetic Ketoacidosis</vt:lpstr>
      <vt:lpstr>Diabetic Ketoacidosis Etiologies</vt:lpstr>
      <vt:lpstr>Symptoms of DKA</vt:lpstr>
      <vt:lpstr>Signs of DKA</vt:lpstr>
      <vt:lpstr>Lab Findings in DKA</vt:lpstr>
      <vt:lpstr>Lab Findings in DKA</vt:lpstr>
      <vt:lpstr>Why has my patient become so ill, so quickly? </vt:lpstr>
      <vt:lpstr>Why has my patient gotten so ill, so quickly? </vt:lpstr>
      <vt:lpstr>Why has my patient gotten so ill, so quickly?</vt:lpstr>
      <vt:lpstr>Prevention of DKA</vt:lpstr>
      <vt:lpstr>Prevention of DKA</vt:lpstr>
      <vt:lpstr>Emergent Treatment of DKA</vt:lpstr>
      <vt:lpstr>Hospital Treatment of DKA </vt:lpstr>
      <vt:lpstr>Emergent Treatment of DKA</vt:lpstr>
      <vt:lpstr>Hospital Treatment of DKA</vt:lpstr>
      <vt:lpstr>What does insulin replacement do physiologically?</vt:lpstr>
      <vt:lpstr>Hospital Treatment of DKA</vt:lpstr>
      <vt:lpstr>Hospital Treatment of DKA</vt:lpstr>
      <vt:lpstr>Hospital Treatment of DKA</vt:lpstr>
      <vt:lpstr>Hospital Treatment of DKA</vt:lpstr>
      <vt:lpstr>Hospital Treatment of DKA</vt:lpstr>
      <vt:lpstr>Hyperglycemic Hyperosmolar State</vt:lpstr>
      <vt:lpstr>Hyperglycemic, Hyperosmolar State</vt:lpstr>
      <vt:lpstr>Hyperglycemic, Hyperosmolar State</vt:lpstr>
      <vt:lpstr>Pathogenesis of HHS</vt:lpstr>
      <vt:lpstr>Pathogenesis of HHS </vt:lpstr>
      <vt:lpstr>Pathogenesis of HHS</vt:lpstr>
      <vt:lpstr>HHS Clinical Findings</vt:lpstr>
      <vt:lpstr>HHS Laboratory Findings</vt:lpstr>
      <vt:lpstr>HHS Laboratory Findings</vt:lpstr>
      <vt:lpstr>Treatment of HHS</vt:lpstr>
      <vt:lpstr>Treatment of HHS</vt:lpstr>
      <vt:lpstr>DKA vs HHS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Special Considerations, Complications, and Emergencies</dc:title>
  <dc:creator>Brandell, Sarah</dc:creator>
  <cp:lastModifiedBy>Brandell, Sarah</cp:lastModifiedBy>
  <cp:revision>434</cp:revision>
  <dcterms:created xsi:type="dcterms:W3CDTF">2020-08-28T00:44:48Z</dcterms:created>
  <dcterms:modified xsi:type="dcterms:W3CDTF">2026-10-04T04:19:22Z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0x0101000BAFE420A7EF1D4ABFC67E13CCF380F4</vt:lpwstr>
  </property>
</Properties>
</file>