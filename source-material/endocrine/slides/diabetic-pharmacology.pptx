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102"/>
  </p:notesMasterIdLst>
  <p:sldIdLst>
    <p:sldId id="564" r:id="rId2"/>
    <p:sldId id="535" r:id="rId3"/>
    <p:sldId id="536" r:id="rId4"/>
    <p:sldId id="537" r:id="rId5"/>
    <p:sldId id="538" r:id="rId6"/>
    <p:sldId id="588" r:id="rId7"/>
    <p:sldId id="534" r:id="rId8"/>
    <p:sldId id="669" r:id="rId9"/>
    <p:sldId id="613" r:id="rId10"/>
    <p:sldId id="533" r:id="rId11"/>
    <p:sldId id="622" r:id="rId12"/>
    <p:sldId id="623" r:id="rId13"/>
    <p:sldId id="531" r:id="rId14"/>
    <p:sldId id="511" r:id="rId15"/>
    <p:sldId id="494" r:id="rId16"/>
    <p:sldId id="495" r:id="rId17"/>
    <p:sldId id="297" r:id="rId18"/>
    <p:sldId id="626" r:id="rId19"/>
    <p:sldId id="605" r:id="rId20"/>
    <p:sldId id="301" r:id="rId21"/>
    <p:sldId id="627" r:id="rId22"/>
    <p:sldId id="515" r:id="rId23"/>
    <p:sldId id="500" r:id="rId24"/>
    <p:sldId id="514" r:id="rId25"/>
    <p:sldId id="519" r:id="rId26"/>
    <p:sldId id="575" r:id="rId27"/>
    <p:sldId id="520" r:id="rId28"/>
    <p:sldId id="518" r:id="rId29"/>
    <p:sldId id="653" r:id="rId30"/>
    <p:sldId id="654" r:id="rId31"/>
    <p:sldId id="628" r:id="rId32"/>
    <p:sldId id="502" r:id="rId33"/>
    <p:sldId id="503" r:id="rId34"/>
    <p:sldId id="517" r:id="rId35"/>
    <p:sldId id="516" r:id="rId36"/>
    <p:sldId id="584" r:id="rId37"/>
    <p:sldId id="587" r:id="rId38"/>
    <p:sldId id="630" r:id="rId39"/>
    <p:sldId id="505" r:id="rId40"/>
    <p:sldId id="521" r:id="rId41"/>
    <p:sldId id="648" r:id="rId42"/>
    <p:sldId id="308" r:id="rId43"/>
    <p:sldId id="507" r:id="rId44"/>
    <p:sldId id="670" r:id="rId45"/>
    <p:sldId id="624" r:id="rId46"/>
    <p:sldId id="496" r:id="rId47"/>
    <p:sldId id="497" r:id="rId48"/>
    <p:sldId id="513" r:id="rId49"/>
    <p:sldId id="499" r:id="rId50"/>
    <p:sldId id="572" r:id="rId51"/>
    <p:sldId id="631" r:id="rId52"/>
    <p:sldId id="508" r:id="rId53"/>
    <p:sldId id="509" r:id="rId54"/>
    <p:sldId id="529" r:id="rId55"/>
    <p:sldId id="632" r:id="rId56"/>
    <p:sldId id="467" r:id="rId57"/>
    <p:sldId id="527" r:id="rId58"/>
    <p:sldId id="633" r:id="rId59"/>
    <p:sldId id="469" r:id="rId60"/>
    <p:sldId id="528" r:id="rId61"/>
    <p:sldId id="634" r:id="rId62"/>
    <p:sldId id="472" r:id="rId63"/>
    <p:sldId id="610" r:id="rId64"/>
    <p:sldId id="611" r:id="rId65"/>
    <p:sldId id="315" r:id="rId66"/>
    <p:sldId id="571" r:id="rId67"/>
    <p:sldId id="314" r:id="rId68"/>
    <p:sldId id="487" r:id="rId69"/>
    <p:sldId id="316" r:id="rId70"/>
    <p:sldId id="635" r:id="rId71"/>
    <p:sldId id="317" r:id="rId72"/>
    <p:sldId id="318" r:id="rId73"/>
    <p:sldId id="672" r:id="rId74"/>
    <p:sldId id="673" r:id="rId75"/>
    <p:sldId id="473" r:id="rId76"/>
    <p:sldId id="612" r:id="rId77"/>
    <p:sldId id="546" r:id="rId78"/>
    <p:sldId id="549" r:id="rId79"/>
    <p:sldId id="637" r:id="rId80"/>
    <p:sldId id="483" r:id="rId81"/>
    <p:sldId id="674" r:id="rId82"/>
    <p:sldId id="321" r:id="rId83"/>
    <p:sldId id="322" r:id="rId84"/>
    <p:sldId id="323" r:id="rId85"/>
    <p:sldId id="638" r:id="rId86"/>
    <p:sldId id="641" r:id="rId87"/>
    <p:sldId id="328" r:id="rId88"/>
    <p:sldId id="680" r:id="rId89"/>
    <p:sldId id="675" r:id="rId90"/>
    <p:sldId id="676" r:id="rId91"/>
    <p:sldId id="663" r:id="rId92"/>
    <p:sldId id="644" r:id="rId93"/>
    <p:sldId id="484" r:id="rId94"/>
    <p:sldId id="677" r:id="rId95"/>
    <p:sldId id="678" r:id="rId96"/>
    <p:sldId id="579" r:id="rId97"/>
    <p:sldId id="580" r:id="rId98"/>
    <p:sldId id="581" r:id="rId99"/>
    <p:sldId id="582" r:id="rId100"/>
    <p:sldId id="679" r:id="rId101"/>
  </p:sldIdLst>
  <p:sldSz cx="13004800"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0"/>
      </a:spcBef>
      <a:spcAft>
        <a:spcPts val="0"/>
      </a:spcAft>
      <a:buClr>
        <a:srgbClr val="000000"/>
      </a:buClr>
      <a:buSzPct val="100000"/>
      <a:buFont typeface="Arial"/>
      <a:buChar char="–"/>
      <a:tabLst/>
      <a:defRPr kumimoji="0" sz="3600" b="0" i="0" u="none" strike="noStrike" cap="none" spc="0" normalizeH="0" baseline="0">
        <a:ln>
          <a:noFill/>
        </a:ln>
        <a:solidFill>
          <a:srgbClr val="000000"/>
        </a:solidFill>
        <a:effectLst/>
        <a:uFillTx/>
        <a:latin typeface="Helvetica Light"/>
        <a:ea typeface="Helvetica Light"/>
        <a:cs typeface="Helvetica Light"/>
        <a:sym typeface="Helvetica Light"/>
      </a:defRPr>
    </a:lvl1pPr>
    <a:lvl2pPr marL="718038" marR="0" indent="-375138" algn="l" defTabSz="584200" rtl="0" fontAlgn="auto" latinLnBrk="0" hangingPunct="0">
      <a:lnSpc>
        <a:spcPct val="100000"/>
      </a:lnSpc>
      <a:spcBef>
        <a:spcPts val="0"/>
      </a:spcBef>
      <a:spcAft>
        <a:spcPts val="0"/>
      </a:spcAft>
      <a:buClr>
        <a:srgbClr val="000000"/>
      </a:buClr>
      <a:buSzPct val="100000"/>
      <a:buFont typeface="Arial"/>
      <a:buChar char="–"/>
      <a:tabLst/>
      <a:defRPr kumimoji="0" sz="3600" b="0" i="0" u="none" strike="noStrike" cap="none" spc="0" normalizeH="0" baseline="0">
        <a:ln>
          <a:noFill/>
        </a:ln>
        <a:solidFill>
          <a:srgbClr val="000000"/>
        </a:solidFill>
        <a:effectLst/>
        <a:uFillTx/>
        <a:latin typeface="Helvetica Light"/>
        <a:ea typeface="Helvetica Light"/>
        <a:cs typeface="Helvetica Light"/>
        <a:sym typeface="Helvetica Light"/>
      </a:defRPr>
    </a:lvl2pPr>
    <a:lvl3pPr marL="685800" marR="0" indent="0" algn="l" defTabSz="584200" rtl="0" fontAlgn="auto" latinLnBrk="0" hangingPunct="0">
      <a:lnSpc>
        <a:spcPct val="100000"/>
      </a:lnSpc>
      <a:spcBef>
        <a:spcPts val="0"/>
      </a:spcBef>
      <a:spcAft>
        <a:spcPts val="0"/>
      </a:spcAft>
      <a:buClr>
        <a:srgbClr val="000000"/>
      </a:buClr>
      <a:buSzPct val="100000"/>
      <a:buFont typeface="Arial"/>
      <a:buChar char="–"/>
      <a:tabLst/>
      <a:defRPr kumimoji="0" sz="3600" b="0" i="0" u="none" strike="noStrike" cap="none" spc="0" normalizeH="0" baseline="0">
        <a:ln>
          <a:noFill/>
        </a:ln>
        <a:solidFill>
          <a:srgbClr val="000000"/>
        </a:solidFill>
        <a:effectLst/>
        <a:uFillTx/>
        <a:latin typeface="Helvetica Light"/>
        <a:ea typeface="Helvetica Light"/>
        <a:cs typeface="Helvetica Light"/>
        <a:sym typeface="Helvetica Light"/>
      </a:defRPr>
    </a:lvl3pPr>
    <a:lvl4pPr marL="1028700" marR="0" indent="0" algn="l" defTabSz="584200" rtl="0" fontAlgn="auto" latinLnBrk="0" hangingPunct="0">
      <a:lnSpc>
        <a:spcPct val="100000"/>
      </a:lnSpc>
      <a:spcBef>
        <a:spcPts val="0"/>
      </a:spcBef>
      <a:spcAft>
        <a:spcPts val="0"/>
      </a:spcAft>
      <a:buClr>
        <a:srgbClr val="000000"/>
      </a:buClr>
      <a:buSzPct val="100000"/>
      <a:buFont typeface="Arial"/>
      <a:buChar char="–"/>
      <a:tabLst/>
      <a:defRPr kumimoji="0" sz="3600" b="0" i="0" u="none" strike="noStrike" cap="none" spc="0" normalizeH="0" baseline="0">
        <a:ln>
          <a:noFill/>
        </a:ln>
        <a:solidFill>
          <a:srgbClr val="000000"/>
        </a:solidFill>
        <a:effectLst/>
        <a:uFillTx/>
        <a:latin typeface="Helvetica Light"/>
        <a:ea typeface="Helvetica Light"/>
        <a:cs typeface="Helvetica Light"/>
        <a:sym typeface="Helvetica Light"/>
      </a:defRPr>
    </a:lvl4pPr>
    <a:lvl5pPr marL="1371600" marR="0" indent="0" algn="l" defTabSz="584200" rtl="0" fontAlgn="auto" latinLnBrk="0" hangingPunct="0">
      <a:lnSpc>
        <a:spcPct val="100000"/>
      </a:lnSpc>
      <a:spcBef>
        <a:spcPts val="0"/>
      </a:spcBef>
      <a:spcAft>
        <a:spcPts val="0"/>
      </a:spcAft>
      <a:buClr>
        <a:srgbClr val="000000"/>
      </a:buClr>
      <a:buSzPct val="100000"/>
      <a:buFont typeface="Arial"/>
      <a:buChar char="–"/>
      <a:tabLst/>
      <a:defRPr kumimoji="0" sz="3600" b="0" i="0" u="none" strike="noStrike" cap="none" spc="0" normalizeH="0" baseline="0">
        <a:ln>
          <a:noFill/>
        </a:ln>
        <a:solidFill>
          <a:srgbClr val="000000"/>
        </a:solidFill>
        <a:effectLst/>
        <a:uFillTx/>
        <a:latin typeface="Helvetica Light"/>
        <a:ea typeface="Helvetica Light"/>
        <a:cs typeface="Helvetica Light"/>
        <a:sym typeface="Helvetica Light"/>
      </a:defRPr>
    </a:lvl5pPr>
    <a:lvl6pPr marL="0" marR="0" indent="0" algn="l" defTabSz="584200" rtl="0" fontAlgn="auto" latinLnBrk="0" hangingPunct="0">
      <a:lnSpc>
        <a:spcPct val="100000"/>
      </a:lnSpc>
      <a:spcBef>
        <a:spcPts val="0"/>
      </a:spcBef>
      <a:spcAft>
        <a:spcPts val="0"/>
      </a:spcAft>
      <a:buClr>
        <a:srgbClr val="000000"/>
      </a:buClr>
      <a:buSzPct val="100000"/>
      <a:buFont typeface="Arial"/>
      <a:buChar char="–"/>
      <a:tabLst/>
      <a:defRPr kumimoji="0" sz="3600" b="0" i="0" u="none" strike="noStrike" cap="none" spc="0" normalizeH="0" baseline="0">
        <a:ln>
          <a:noFill/>
        </a:ln>
        <a:solidFill>
          <a:srgbClr val="000000"/>
        </a:solidFill>
        <a:effectLst/>
        <a:uFillTx/>
        <a:latin typeface="Helvetica Light"/>
        <a:ea typeface="Helvetica Light"/>
        <a:cs typeface="Helvetica Light"/>
        <a:sym typeface="Helvetica Light"/>
      </a:defRPr>
    </a:lvl6pPr>
    <a:lvl7pPr marL="0" marR="0" indent="0" algn="l" defTabSz="584200" rtl="0" fontAlgn="auto" latinLnBrk="0" hangingPunct="0">
      <a:lnSpc>
        <a:spcPct val="100000"/>
      </a:lnSpc>
      <a:spcBef>
        <a:spcPts val="0"/>
      </a:spcBef>
      <a:spcAft>
        <a:spcPts val="0"/>
      </a:spcAft>
      <a:buClr>
        <a:srgbClr val="000000"/>
      </a:buClr>
      <a:buSzPct val="100000"/>
      <a:buFont typeface="Arial"/>
      <a:buChar char="–"/>
      <a:tabLst/>
      <a:defRPr kumimoji="0" sz="3600" b="0" i="0" u="none" strike="noStrike" cap="none" spc="0" normalizeH="0" baseline="0">
        <a:ln>
          <a:noFill/>
        </a:ln>
        <a:solidFill>
          <a:srgbClr val="000000"/>
        </a:solidFill>
        <a:effectLst/>
        <a:uFillTx/>
        <a:latin typeface="Helvetica Light"/>
        <a:ea typeface="Helvetica Light"/>
        <a:cs typeface="Helvetica Light"/>
        <a:sym typeface="Helvetica Light"/>
      </a:defRPr>
    </a:lvl7pPr>
    <a:lvl8pPr marL="0" marR="0" indent="0" algn="l" defTabSz="584200" rtl="0" fontAlgn="auto" latinLnBrk="0" hangingPunct="0">
      <a:lnSpc>
        <a:spcPct val="100000"/>
      </a:lnSpc>
      <a:spcBef>
        <a:spcPts val="0"/>
      </a:spcBef>
      <a:spcAft>
        <a:spcPts val="0"/>
      </a:spcAft>
      <a:buClr>
        <a:srgbClr val="000000"/>
      </a:buClr>
      <a:buSzPct val="100000"/>
      <a:buFont typeface="Arial"/>
      <a:buChar char="–"/>
      <a:tabLst/>
      <a:defRPr kumimoji="0" sz="3600" b="0" i="0" u="none" strike="noStrike" cap="none" spc="0" normalizeH="0" baseline="0">
        <a:ln>
          <a:noFill/>
        </a:ln>
        <a:solidFill>
          <a:srgbClr val="000000"/>
        </a:solidFill>
        <a:effectLst/>
        <a:uFillTx/>
        <a:latin typeface="Helvetica Light"/>
        <a:ea typeface="Helvetica Light"/>
        <a:cs typeface="Helvetica Light"/>
        <a:sym typeface="Helvetica Light"/>
      </a:defRPr>
    </a:lvl8pPr>
    <a:lvl9pPr marL="0" marR="0" indent="0" algn="l" defTabSz="584200" rtl="0" fontAlgn="auto" latinLnBrk="0" hangingPunct="0">
      <a:lnSpc>
        <a:spcPct val="100000"/>
      </a:lnSpc>
      <a:spcBef>
        <a:spcPts val="0"/>
      </a:spcBef>
      <a:spcAft>
        <a:spcPts val="0"/>
      </a:spcAft>
      <a:buClr>
        <a:srgbClr val="000000"/>
      </a:buClr>
      <a:buSzPct val="100000"/>
      <a:buFont typeface="Arial"/>
      <a:buChar char="–"/>
      <a:tabLst/>
      <a:defRPr kumimoji="0" sz="3600" b="0" i="0" u="none" strike="noStrike" cap="none" spc="0" normalizeH="0" baseline="0">
        <a:ln>
          <a:noFill/>
        </a:ln>
        <a:solidFill>
          <a:srgbClr val="000000"/>
        </a:solidFill>
        <a:effectLst/>
        <a:uFillTx/>
        <a:latin typeface="Helvetica Light"/>
        <a:ea typeface="Helvetica Light"/>
        <a:cs typeface="Helvetica Light"/>
        <a:sym typeface="Helvetica Light"/>
      </a:defRPr>
    </a:lvl9pPr>
  </p:defaultTextStyle>
  <p:extLst>
    <p:ext uri="{EFAFB233-063F-42B5-8137-9DF3F51BA10A}">
      <p15:sldGuideLst xmlns:p15="http://schemas.microsoft.com/office/powerpoint/2012/main">
        <p15:guide id="1" orient="horz" pos="3072">
          <p15:clr>
            <a:srgbClr val="A4A3A4"/>
          </p15:clr>
        </p15:guide>
        <p15:guide id="2" pos="4096">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Light"/>
          <a:ea typeface="Helvetica Light"/>
          <a:cs typeface="Helvetica Light"/>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1EA"/>
          </a:solidFill>
        </a:fill>
      </a:tcStyle>
    </a:wholeTbl>
    <a:band2H>
      <a:tcTxStyle/>
      <a:tcStyle>
        <a:tcBdr/>
        <a:fill>
          <a:solidFill>
            <a:srgbClr val="E6E9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Helvetica Light"/>
          <a:ea typeface="Helvetica Light"/>
          <a:cs typeface="Helvetica Light"/>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Helvetica Light"/>
          <a:ea typeface="Helvetica Light"/>
          <a:cs typeface="Helvetica Light"/>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Helvetica Light"/>
          <a:ea typeface="Helvetica Light"/>
          <a:cs typeface="Helvetica Light"/>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Helvetica Light"/>
          <a:ea typeface="Helvetica Light"/>
          <a:cs typeface="Helvetica Light"/>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
          <a:latin typeface="Helvetica Light"/>
          <a:ea typeface="Helvetica Light"/>
          <a:cs typeface="Helvetica Light"/>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638" autoAdjust="0"/>
    <p:restoredTop sz="57264" autoAdjust="0"/>
  </p:normalViewPr>
  <p:slideViewPr>
    <p:cSldViewPr snapToGrid="0" snapToObjects="1">
      <p:cViewPr varScale="1">
        <p:scale>
          <a:sx n="42" d="100"/>
          <a:sy n="42" d="100"/>
        </p:scale>
        <p:origin x="2952" y="60"/>
      </p:cViewPr>
      <p:guideLst>
        <p:guide orient="horz" pos="3072"/>
        <p:guide pos="4096"/>
      </p:guideLst>
    </p:cSldViewPr>
  </p:slideViewPr>
  <p:notesTextViewPr>
    <p:cViewPr>
      <p:scale>
        <a:sx n="1" d="1"/>
        <a:sy n="1" d="1"/>
      </p:scale>
      <p:origin x="0" y="0"/>
    </p:cViewPr>
  </p:notesTextViewPr>
  <p:sorterViewPr>
    <p:cViewPr>
      <p:scale>
        <a:sx n="86" d="100"/>
        <a:sy n="86" d="100"/>
      </p:scale>
      <p:origin x="0" y="3712"/>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tableStyles" Target="tableStyle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notesMaster" Target="notesMasters/notes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commentAuthors" Target="commentAuthors.xml"/><Relationship Id="rId108" Type="http://schemas.microsoft.com/office/2018/10/relationships/authors" Target="author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4" name="Shape 24"/>
          <p:cNvSpPr>
            <a:spLocks noGrp="1" noRot="1" noChangeAspect="1"/>
          </p:cNvSpPr>
          <p:nvPr>
            <p:ph type="sldImg"/>
          </p:nvPr>
        </p:nvSpPr>
        <p:spPr>
          <a:xfrm>
            <a:off x="1143000" y="685800"/>
            <a:ext cx="4572000" cy="3429000"/>
          </a:xfrm>
          <a:prstGeom prst="rect">
            <a:avLst/>
          </a:prstGeom>
        </p:spPr>
        <p:txBody>
          <a:bodyPr/>
          <a:lstStyle/>
          <a:p>
            <a:endParaRPr/>
          </a:p>
        </p:txBody>
      </p:sp>
      <p:sp>
        <p:nvSpPr>
          <p:cNvPr id="25" name="Shape 25"/>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1124274329"/>
      </p:ext>
    </p:extLst>
  </p:cSld>
  <p:clrMap bg1="lt1" tx1="dk1" bg2="lt2" tx2="dk2" accent1="accent1" accent2="accent2" accent3="accent3" accent4="accent4" accent5="accent5" accent6="accent6" hlink="hlink" folHlink="folHlink"/>
  <p:notesStyle>
    <a:lvl1pPr defTabSz="457200" latinLnBrk="0">
      <a:lnSpc>
        <a:spcPts val="3500"/>
      </a:lnSpc>
      <a:defRPr sz="2400">
        <a:solidFill>
          <a:srgbClr val="572E2D"/>
        </a:solidFill>
        <a:latin typeface="+mn-lt"/>
        <a:ea typeface="+mn-ea"/>
        <a:cs typeface="+mn-cs"/>
        <a:sym typeface="Noteworthy Bold"/>
      </a:defRPr>
    </a:lvl1pPr>
    <a:lvl2pPr indent="228600" defTabSz="457200" latinLnBrk="0">
      <a:lnSpc>
        <a:spcPts val="3500"/>
      </a:lnSpc>
      <a:defRPr sz="2400">
        <a:solidFill>
          <a:srgbClr val="572E2D"/>
        </a:solidFill>
        <a:latin typeface="+mn-lt"/>
        <a:ea typeface="+mn-ea"/>
        <a:cs typeface="+mn-cs"/>
        <a:sym typeface="Noteworthy Bold"/>
      </a:defRPr>
    </a:lvl2pPr>
    <a:lvl3pPr indent="457200" defTabSz="457200" latinLnBrk="0">
      <a:lnSpc>
        <a:spcPts val="3500"/>
      </a:lnSpc>
      <a:defRPr sz="2400">
        <a:solidFill>
          <a:srgbClr val="572E2D"/>
        </a:solidFill>
        <a:latin typeface="+mn-lt"/>
        <a:ea typeface="+mn-ea"/>
        <a:cs typeface="+mn-cs"/>
        <a:sym typeface="Noteworthy Bold"/>
      </a:defRPr>
    </a:lvl3pPr>
    <a:lvl4pPr indent="685800" defTabSz="457200" latinLnBrk="0">
      <a:lnSpc>
        <a:spcPts val="3500"/>
      </a:lnSpc>
      <a:defRPr sz="2400">
        <a:solidFill>
          <a:srgbClr val="572E2D"/>
        </a:solidFill>
        <a:latin typeface="+mn-lt"/>
        <a:ea typeface="+mn-ea"/>
        <a:cs typeface="+mn-cs"/>
        <a:sym typeface="Noteworthy Bold"/>
      </a:defRPr>
    </a:lvl4pPr>
    <a:lvl5pPr indent="914400" defTabSz="457200" latinLnBrk="0">
      <a:lnSpc>
        <a:spcPts val="3500"/>
      </a:lnSpc>
      <a:defRPr sz="2400">
        <a:solidFill>
          <a:srgbClr val="572E2D"/>
        </a:solidFill>
        <a:latin typeface="+mn-lt"/>
        <a:ea typeface="+mn-ea"/>
        <a:cs typeface="+mn-cs"/>
        <a:sym typeface="Noteworthy Bold"/>
      </a:defRPr>
    </a:lvl5pPr>
    <a:lvl6pPr indent="1143000" defTabSz="457200" latinLnBrk="0">
      <a:lnSpc>
        <a:spcPts val="3500"/>
      </a:lnSpc>
      <a:defRPr sz="2400">
        <a:solidFill>
          <a:srgbClr val="572E2D"/>
        </a:solidFill>
        <a:latin typeface="+mn-lt"/>
        <a:ea typeface="+mn-ea"/>
        <a:cs typeface="+mn-cs"/>
        <a:sym typeface="Noteworthy Bold"/>
      </a:defRPr>
    </a:lvl6pPr>
    <a:lvl7pPr indent="1371600" defTabSz="457200" latinLnBrk="0">
      <a:lnSpc>
        <a:spcPts val="3500"/>
      </a:lnSpc>
      <a:defRPr sz="2400">
        <a:solidFill>
          <a:srgbClr val="572E2D"/>
        </a:solidFill>
        <a:latin typeface="+mn-lt"/>
        <a:ea typeface="+mn-ea"/>
        <a:cs typeface="+mn-cs"/>
        <a:sym typeface="Noteworthy Bold"/>
      </a:defRPr>
    </a:lvl7pPr>
    <a:lvl8pPr indent="1600200" defTabSz="457200" latinLnBrk="0">
      <a:lnSpc>
        <a:spcPts val="3500"/>
      </a:lnSpc>
      <a:defRPr sz="2400">
        <a:solidFill>
          <a:srgbClr val="572E2D"/>
        </a:solidFill>
        <a:latin typeface="+mn-lt"/>
        <a:ea typeface="+mn-ea"/>
        <a:cs typeface="+mn-cs"/>
        <a:sym typeface="Noteworthy Bold"/>
      </a:defRPr>
    </a:lvl8pPr>
    <a:lvl9pPr indent="1828800" defTabSz="457200" latinLnBrk="0">
      <a:lnSpc>
        <a:spcPts val="3500"/>
      </a:lnSpc>
      <a:defRPr sz="2400">
        <a:solidFill>
          <a:srgbClr val="572E2D"/>
        </a:solidFill>
        <a:latin typeface="+mn-lt"/>
        <a:ea typeface="+mn-ea"/>
        <a:cs typeface="+mn-cs"/>
        <a:sym typeface="Noteworthy Bold"/>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3" Type="http://schemas.openxmlformats.org/officeDocument/2006/relationships/hyperlink" Target="https://www.youtube.com/watch?v=fJPzkzyuMZ8" TargetMode="External"/><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382408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Diabetes Attitudes Wishes Needs Study</a:t>
            </a:r>
          </a:p>
        </p:txBody>
      </p:sp>
    </p:spTree>
    <p:extLst>
      <p:ext uri="{BB962C8B-B14F-4D97-AF65-F5344CB8AC3E}">
        <p14:creationId xmlns:p14="http://schemas.microsoft.com/office/powerpoint/2010/main" val="3541164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4162594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8085313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304982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457200" eaLnBrk="1" fontAlgn="auto" latinLnBrk="0" hangingPunct="1">
              <a:lnSpc>
                <a:spcPts val="35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095269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251944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8902692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457200" eaLnBrk="1" fontAlgn="auto" latinLnBrk="0" hangingPunct="1">
              <a:lnSpc>
                <a:spcPts val="35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399999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53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5601226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https://www.sciencedirect.com/science/article/pii/S2666667724000473#:~:text=GLP%2D1RAs%20significantly%20reduced%20MACE,reduced%20MACE%20in%20both%20sexes.</a:t>
            </a:r>
          </a:p>
          <a:p>
            <a:endParaRPr lang="en-US" dirty="0"/>
          </a:p>
          <a:p>
            <a:r>
              <a:rPr lang="en-US" b="0" i="0" dirty="0">
                <a:solidFill>
                  <a:srgbClr val="1F1F1F"/>
                </a:solidFill>
                <a:effectLst/>
                <a:latin typeface="ElsevierGulliver"/>
              </a:rPr>
              <a:t> comprising 83,258 patients were included</a:t>
            </a:r>
            <a:endParaRPr lang="en-US" dirty="0"/>
          </a:p>
        </p:txBody>
      </p:sp>
    </p:spTree>
    <p:extLst>
      <p:ext uri="{BB962C8B-B14F-4D97-AF65-F5344CB8AC3E}">
        <p14:creationId xmlns:p14="http://schemas.microsoft.com/office/powerpoint/2010/main" val="26534108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8606120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975357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Tree>
    <p:extLst>
      <p:ext uri="{BB962C8B-B14F-4D97-AF65-F5344CB8AC3E}">
        <p14:creationId xmlns:p14="http://schemas.microsoft.com/office/powerpoint/2010/main" val="30001038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406049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08DAD-B808-0CEA-078F-C2BF39FC8F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AB6ABD-F2FA-1CD2-36F3-1BA2E13411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EA65E9-7293-1452-0412-A1BD821276A9}"/>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059458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74428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8761576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408760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Uptodate</a:t>
            </a:r>
            <a:endParaRPr lang="en-US" dirty="0"/>
          </a:p>
        </p:txBody>
      </p:sp>
    </p:spTree>
    <p:extLst>
      <p:ext uri="{BB962C8B-B14F-4D97-AF65-F5344CB8AC3E}">
        <p14:creationId xmlns:p14="http://schemas.microsoft.com/office/powerpoint/2010/main" val="36826551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7569024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9785814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7C447F-2F60-D61A-EB28-FBDCC9726E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CB69C3-2D79-A073-9B3F-BE85C5AE9B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8BC9A9-C8B8-9128-B792-F7EBC9372B1D}"/>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26908918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2581808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https://www.youtube.com/watch?v=fJPzkzyuMZ8</a:t>
            </a:r>
            <a:endParaRPr lang="en-US" dirty="0"/>
          </a:p>
        </p:txBody>
      </p:sp>
    </p:spTree>
    <p:extLst>
      <p:ext uri="{BB962C8B-B14F-4D97-AF65-F5344CB8AC3E}">
        <p14:creationId xmlns:p14="http://schemas.microsoft.com/office/powerpoint/2010/main" val="338086417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3404819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C9871E-EFF1-8096-5EF0-0FBDF4993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D1F958-B5C4-6891-C161-1DC8828550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EC2A8A-DDF4-CDC5-8B23-26EF3A82D852}"/>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82305577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67396564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https://diabetesjournals.org/care/article/49/Supplement_1/S183/163934/9-Pharmacologic-Approaches-to-Glycemic-Treatment</a:t>
            </a:r>
          </a:p>
        </p:txBody>
      </p:sp>
    </p:spTree>
    <p:extLst>
      <p:ext uri="{BB962C8B-B14F-4D97-AF65-F5344CB8AC3E}">
        <p14:creationId xmlns:p14="http://schemas.microsoft.com/office/powerpoint/2010/main" val="356876583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86492144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B241B-370E-064C-6C97-0C6E67FD92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E8E7B1-2DE9-3ED6-41C4-75EF0E1379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90AAAC-853D-21AE-0B32-2BF2BDA4F25E}"/>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5208129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B748ED-40D2-A4D9-9215-3B3171BDA2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6AFE71-3B3A-9011-AB38-D1148D2BC0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FFF2DD-B4E2-1B32-F5D7-9F1B5A60DE72}"/>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43451795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832EB-A738-C4F1-9947-E1377F60BE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403659-A731-D4D3-E75C-52C63FED5D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53F69B-0D8B-122D-82B7-7B275D45958A}"/>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5769071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60379881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https://diabetesjournals.org/care/article/49/Supplement_1/S297/163923/14-Children-and-Adolescents-Standards-of-Care-in</a:t>
            </a:r>
          </a:p>
        </p:txBody>
      </p:sp>
    </p:spTree>
    <p:extLst>
      <p:ext uri="{BB962C8B-B14F-4D97-AF65-F5344CB8AC3E}">
        <p14:creationId xmlns:p14="http://schemas.microsoft.com/office/powerpoint/2010/main" val="199863169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3480407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7643641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Tree>
    <p:extLst>
      <p:ext uri="{BB962C8B-B14F-4D97-AF65-F5344CB8AC3E}">
        <p14:creationId xmlns:p14="http://schemas.microsoft.com/office/powerpoint/2010/main" val="68938961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34702725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1D6AC7-C8A0-1B3F-4CA3-F52FE9D473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98ADCA-87C7-1616-5918-F15C882AF0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75DFDB-9991-35D4-6808-6378AF05E6AC}"/>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7179634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1" name="Shape 11"/>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8" name="Shape 18"/>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50240" y="9040143"/>
            <a:ext cx="3034453" cy="519289"/>
          </a:xfrm>
          <a:prstGeom prst="rect">
            <a:avLst/>
          </a:prstGeom>
        </p:spPr>
        <p:txBody>
          <a:bodyPr lIns="130046" tIns="65023" rIns="130046" bIns="65023"/>
          <a:lstStyle/>
          <a:p>
            <a:fld id="{9BDB6C7F-926A-E843-9BD6-F0E9DA386F07}" type="datetimeFigureOut">
              <a:rPr lang="en-US" smtClean="0"/>
              <a:t>10/3/2026</a:t>
            </a:fld>
            <a:endParaRPr lang="en-US"/>
          </a:p>
        </p:txBody>
      </p:sp>
      <p:sp>
        <p:nvSpPr>
          <p:cNvPr id="5" name="Footer Placeholder 4"/>
          <p:cNvSpPr>
            <a:spLocks noGrp="1"/>
          </p:cNvSpPr>
          <p:nvPr>
            <p:ph type="ftr" sz="quarter" idx="11"/>
          </p:nvPr>
        </p:nvSpPr>
        <p:spPr>
          <a:xfrm>
            <a:off x="4443307" y="9040143"/>
            <a:ext cx="4118187" cy="519289"/>
          </a:xfrm>
          <a:prstGeom prst="rect">
            <a:avLst/>
          </a:prstGeom>
        </p:spPr>
        <p:txBody>
          <a:bodyPr lIns="130046" tIns="65023" rIns="130046" bIns="65023"/>
          <a:lstStyle/>
          <a:p>
            <a:endParaRPr lang="en-US"/>
          </a:p>
        </p:txBody>
      </p:sp>
      <p:sp>
        <p:nvSpPr>
          <p:cNvPr id="6" name="Slide Number Placeholder 5"/>
          <p:cNvSpPr>
            <a:spLocks noGrp="1"/>
          </p:cNvSpPr>
          <p:nvPr>
            <p:ph type="sldNum" sz="quarter" idx="12"/>
          </p:nvPr>
        </p:nvSpPr>
        <p:spPr>
          <a:xfrm>
            <a:off x="8955266" y="8882150"/>
            <a:ext cx="364841" cy="315982"/>
          </a:xfrm>
        </p:spPr>
        <p:txBody>
          <a:bodyPr tIns="65023" bIns="65023"/>
          <a:lstStyle/>
          <a:p>
            <a:fld id="{52EAC821-6E9E-634C-9441-CE64F615AD07}" type="slidenum">
              <a:rPr lang="en-US" smtClean="0"/>
              <a:t>‹#›</a:t>
            </a:fld>
            <a:endParaRPr lang="en-US"/>
          </a:p>
        </p:txBody>
      </p:sp>
    </p:spTree>
    <p:extLst>
      <p:ext uri="{BB962C8B-B14F-4D97-AF65-F5344CB8AC3E}">
        <p14:creationId xmlns:p14="http://schemas.microsoft.com/office/powerpoint/2010/main" val="31570556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75360" y="1596249"/>
            <a:ext cx="11054080" cy="3395698"/>
          </a:xfrm>
        </p:spPr>
        <p:txBody>
          <a:bodyPr anchor="b"/>
          <a:lstStyle>
            <a:lvl1pPr algn="ctr">
              <a:defRPr sz="8533"/>
            </a:lvl1pPr>
          </a:lstStyle>
          <a:p>
            <a:r>
              <a:rPr lang="en-US"/>
              <a:t>Click to edit Master title style</a:t>
            </a:r>
            <a:endParaRPr lang="en-US" dirty="0"/>
          </a:p>
        </p:txBody>
      </p:sp>
      <p:sp>
        <p:nvSpPr>
          <p:cNvPr id="3" name="Subtitle 2"/>
          <p:cNvSpPr>
            <a:spLocks noGrp="1"/>
          </p:cNvSpPr>
          <p:nvPr>
            <p:ph type="subTitle" idx="1"/>
          </p:nvPr>
        </p:nvSpPr>
        <p:spPr>
          <a:xfrm>
            <a:off x="1625600" y="5122898"/>
            <a:ext cx="9753600" cy="2354862"/>
          </a:xfrm>
        </p:spPr>
        <p:txBody>
          <a:bodyPr/>
          <a:lstStyle>
            <a:lvl1pPr marL="0" indent="0" algn="ctr">
              <a:buNone/>
              <a:defRPr sz="3413"/>
            </a:lvl1pPr>
            <a:lvl2pPr marL="650230" indent="0" algn="ctr">
              <a:buNone/>
              <a:defRPr sz="2844"/>
            </a:lvl2pPr>
            <a:lvl3pPr marL="1300460" indent="0" algn="ctr">
              <a:buNone/>
              <a:defRPr sz="2560"/>
            </a:lvl3pPr>
            <a:lvl4pPr marL="1950690" indent="0" algn="ctr">
              <a:buNone/>
              <a:defRPr sz="2276"/>
            </a:lvl4pPr>
            <a:lvl5pPr marL="2600919" indent="0" algn="ctr">
              <a:buNone/>
              <a:defRPr sz="2276"/>
            </a:lvl5pPr>
            <a:lvl6pPr marL="3251149" indent="0" algn="ctr">
              <a:buNone/>
              <a:defRPr sz="2276"/>
            </a:lvl6pPr>
            <a:lvl7pPr marL="3901379" indent="0" algn="ctr">
              <a:buNone/>
              <a:defRPr sz="2276"/>
            </a:lvl7pPr>
            <a:lvl8pPr marL="4551609" indent="0" algn="ctr">
              <a:buNone/>
              <a:defRPr sz="2276"/>
            </a:lvl8pPr>
            <a:lvl9pPr marL="5201839" indent="0" algn="ctr">
              <a:buNone/>
              <a:defRPr sz="2276"/>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9FCF114-1E03-5E47-9B31-62C70DFEC0E7}"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939236" y="8901642"/>
            <a:ext cx="380871" cy="276999"/>
          </a:xfrm>
        </p:spPr>
        <p:txBody>
          <a:bodyPr/>
          <a:lstStyle/>
          <a:p>
            <a:fld id="{16BAA5F0-A25E-4E48-9A47-F31B98EFC8A1}" type="slidenum">
              <a:rPr lang="en-US" smtClean="0"/>
              <a:t>‹#›</a:t>
            </a:fld>
            <a:endParaRPr lang="en-US"/>
          </a:p>
        </p:txBody>
      </p:sp>
    </p:spTree>
    <p:extLst>
      <p:ext uri="{BB962C8B-B14F-4D97-AF65-F5344CB8AC3E}">
        <p14:creationId xmlns:p14="http://schemas.microsoft.com/office/powerpoint/2010/main" val="186827908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a:spLocks noGrp="1"/>
          </p:cNvSpPr>
          <p:nvPr>
            <p:ph type="title"/>
          </p:nvPr>
        </p:nvSpPr>
        <p:spPr>
          <a:xfrm>
            <a:off x="650240" y="-1"/>
            <a:ext cx="11704320" cy="2016197"/>
          </a:xfrm>
          <a:prstGeom prst="rect">
            <a:avLst/>
          </a:prstGeom>
          <a:ln w="12700">
            <a:miter lim="400000"/>
          </a:ln>
          <a:extLst>
            <a:ext uri="{C572A759-6A51-4108-AA02-DFA0A04FC94B}">
              <ma14:wrappingTextBoxFlag xmlns="" xmlns:ma14="http://schemas.microsoft.com/office/mac/drawingml/2011/main" val="1"/>
            </a:ext>
          </a:extLst>
        </p:spPr>
        <p:txBody>
          <a:bodyPr lIns="0" tIns="0" rIns="0" bIns="0" anchor="b"/>
          <a:lstStyle/>
          <a:p>
            <a:r>
              <a:t>Title Text</a:t>
            </a:r>
          </a:p>
        </p:txBody>
      </p:sp>
      <p:sp>
        <p:nvSpPr>
          <p:cNvPr id="3" name="Shape 3"/>
          <p:cNvSpPr>
            <a:spLocks noGrp="1"/>
          </p:cNvSpPr>
          <p:nvPr>
            <p:ph type="body" idx="1"/>
          </p:nvPr>
        </p:nvSpPr>
        <p:spPr>
          <a:xfrm>
            <a:off x="650240" y="2275839"/>
            <a:ext cx="11704320" cy="7477761"/>
          </a:xfrm>
          <a:prstGeom prst="rect">
            <a:avLst/>
          </a:prstGeom>
          <a:ln w="12700">
            <a:miter lim="400000"/>
          </a:ln>
          <a:extLst>
            <a:ext uri="{C572A759-6A51-4108-AA02-DFA0A04FC94B}">
              <ma14:wrappingTextBoxFlag xmlns="" xmlns:ma14="http://schemas.microsoft.com/office/mac/drawingml/2011/main" val="1"/>
            </a:ext>
          </a:extLst>
        </p:spPr>
        <p:txBody>
          <a:bodyPr lIns="0" tIns="0" rIns="0" bIns="0"/>
          <a:lstStyle/>
          <a:p>
            <a:r>
              <a:t>Body Level One</a:t>
            </a:r>
          </a:p>
          <a:p>
            <a:pPr lvl="1"/>
            <a:r>
              <a:t>Body Level Two</a:t>
            </a:r>
          </a:p>
          <a:p>
            <a:pPr lvl="2"/>
            <a:r>
              <a:t>Body Level Three</a:t>
            </a:r>
          </a:p>
          <a:p>
            <a:pPr lvl="3"/>
            <a:r>
              <a:t>Body Level Four</a:t>
            </a:r>
          </a:p>
          <a:p>
            <a:pPr lvl="4"/>
            <a:r>
              <a:t>Body Level Five</a:t>
            </a:r>
          </a:p>
        </p:txBody>
      </p:sp>
      <p:sp>
        <p:nvSpPr>
          <p:cNvPr id="4" name="Shape 4"/>
          <p:cNvSpPr>
            <a:spLocks noGrp="1"/>
          </p:cNvSpPr>
          <p:nvPr>
            <p:ph type="sldNum" sz="quarter" idx="2"/>
          </p:nvPr>
        </p:nvSpPr>
        <p:spPr>
          <a:xfrm>
            <a:off x="6285652" y="8779791"/>
            <a:ext cx="3034455" cy="520701"/>
          </a:xfrm>
          <a:prstGeom prst="rect">
            <a:avLst/>
          </a:prstGeom>
          <a:ln w="12700">
            <a:miter lim="400000"/>
          </a:ln>
        </p:spPr>
        <p:txBody>
          <a:bodyPr wrap="none" lIns="45719" rIns="45719" anchor="ctr">
            <a:spAutoFit/>
          </a:bodyPr>
          <a:lstStyle>
            <a:lvl1pPr algn="r">
              <a:defRPr sz="1200"/>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xStyles>
    <p:titleStyle>
      <a:lvl1pPr marL="0" marR="0" indent="0" algn="ctr" defTabSz="584200" rtl="0" latinLnBrk="0">
        <a:lnSpc>
          <a:spcPct val="100000"/>
        </a:lnSpc>
        <a:spcBef>
          <a:spcPts val="0"/>
        </a:spcBef>
        <a:spcAft>
          <a:spcPts val="0"/>
        </a:spcAft>
        <a:buClr>
          <a:srgbClr val="000000"/>
        </a:buClr>
        <a:buSzPct val="100000"/>
        <a:buFont typeface="Arial"/>
        <a:buChar char="–"/>
        <a:tabLst/>
        <a:defRPr sz="8000" b="0" i="0" u="none" strike="noStrike" cap="none" spc="0" baseline="0">
          <a:ln>
            <a:noFill/>
          </a:ln>
          <a:solidFill>
            <a:srgbClr val="000000"/>
          </a:solidFill>
          <a:uFillTx/>
          <a:latin typeface="Helvetica Light"/>
          <a:ea typeface="Helvetica Light"/>
          <a:cs typeface="Helvetica Light"/>
          <a:sym typeface="Helvetica Light"/>
        </a:defRPr>
      </a:lvl1pPr>
      <a:lvl2pPr marL="833641" marR="0" indent="-833641" algn="ctr" defTabSz="584200" rtl="0" latinLnBrk="0">
        <a:lnSpc>
          <a:spcPct val="100000"/>
        </a:lnSpc>
        <a:spcBef>
          <a:spcPts val="0"/>
        </a:spcBef>
        <a:spcAft>
          <a:spcPts val="0"/>
        </a:spcAft>
        <a:buClr>
          <a:srgbClr val="000000"/>
        </a:buClr>
        <a:buSzPct val="100000"/>
        <a:buFont typeface="Arial"/>
        <a:buChar char="–"/>
        <a:tabLst/>
        <a:defRPr sz="8000" b="0" i="0" u="none" strike="noStrike" cap="none" spc="0" baseline="0">
          <a:ln>
            <a:noFill/>
          </a:ln>
          <a:solidFill>
            <a:srgbClr val="000000"/>
          </a:solidFill>
          <a:uFillTx/>
          <a:latin typeface="Helvetica Light"/>
          <a:ea typeface="Helvetica Light"/>
          <a:cs typeface="Helvetica Light"/>
          <a:sym typeface="Helvetica Light"/>
        </a:defRPr>
      </a:lvl2pPr>
      <a:lvl3pPr marL="0" marR="0" indent="0" algn="ctr" defTabSz="584200" rtl="0" latinLnBrk="0">
        <a:lnSpc>
          <a:spcPct val="100000"/>
        </a:lnSpc>
        <a:spcBef>
          <a:spcPts val="0"/>
        </a:spcBef>
        <a:spcAft>
          <a:spcPts val="0"/>
        </a:spcAft>
        <a:buClr>
          <a:srgbClr val="000000"/>
        </a:buClr>
        <a:buSzPct val="100000"/>
        <a:buFont typeface="Arial"/>
        <a:buChar char="–"/>
        <a:tabLst/>
        <a:defRPr sz="8000" b="0" i="0" u="none" strike="noStrike" cap="none" spc="0" baseline="0">
          <a:ln>
            <a:noFill/>
          </a:ln>
          <a:solidFill>
            <a:srgbClr val="000000"/>
          </a:solidFill>
          <a:uFillTx/>
          <a:latin typeface="Helvetica Light"/>
          <a:ea typeface="Helvetica Light"/>
          <a:cs typeface="Helvetica Light"/>
          <a:sym typeface="Helvetica Light"/>
        </a:defRPr>
      </a:lvl3pPr>
      <a:lvl4pPr marL="0" marR="0" indent="0" algn="ctr" defTabSz="584200" rtl="0" latinLnBrk="0">
        <a:lnSpc>
          <a:spcPct val="100000"/>
        </a:lnSpc>
        <a:spcBef>
          <a:spcPts val="0"/>
        </a:spcBef>
        <a:spcAft>
          <a:spcPts val="0"/>
        </a:spcAft>
        <a:buClr>
          <a:srgbClr val="000000"/>
        </a:buClr>
        <a:buSzPct val="100000"/>
        <a:buFont typeface="Arial"/>
        <a:buChar char="–"/>
        <a:tabLst/>
        <a:defRPr sz="8000" b="0" i="0" u="none" strike="noStrike" cap="none" spc="0" baseline="0">
          <a:ln>
            <a:noFill/>
          </a:ln>
          <a:solidFill>
            <a:srgbClr val="000000"/>
          </a:solidFill>
          <a:uFillTx/>
          <a:latin typeface="Helvetica Light"/>
          <a:ea typeface="Helvetica Light"/>
          <a:cs typeface="Helvetica Light"/>
          <a:sym typeface="Helvetica Light"/>
        </a:defRPr>
      </a:lvl4pPr>
      <a:lvl5pPr marL="0" marR="0" indent="0" algn="ctr" defTabSz="584200" rtl="0" latinLnBrk="0">
        <a:lnSpc>
          <a:spcPct val="100000"/>
        </a:lnSpc>
        <a:spcBef>
          <a:spcPts val="0"/>
        </a:spcBef>
        <a:spcAft>
          <a:spcPts val="0"/>
        </a:spcAft>
        <a:buClr>
          <a:srgbClr val="000000"/>
        </a:buClr>
        <a:buSzPct val="100000"/>
        <a:buFont typeface="Arial"/>
        <a:buChar char="–"/>
        <a:tabLst/>
        <a:defRPr sz="8000" b="0" i="0" u="none" strike="noStrike" cap="none" spc="0" baseline="0">
          <a:ln>
            <a:noFill/>
          </a:ln>
          <a:solidFill>
            <a:srgbClr val="000000"/>
          </a:solidFill>
          <a:uFillTx/>
          <a:latin typeface="Helvetica Light"/>
          <a:ea typeface="Helvetica Light"/>
          <a:cs typeface="Helvetica Light"/>
          <a:sym typeface="Helvetica Light"/>
        </a:defRPr>
      </a:lvl5pPr>
      <a:lvl6pPr marL="457200" marR="0" indent="0" algn="ctr" defTabSz="584200" rtl="0" latinLnBrk="0">
        <a:lnSpc>
          <a:spcPct val="100000"/>
        </a:lnSpc>
        <a:spcBef>
          <a:spcPts val="0"/>
        </a:spcBef>
        <a:spcAft>
          <a:spcPts val="0"/>
        </a:spcAft>
        <a:buClr>
          <a:srgbClr val="000000"/>
        </a:buClr>
        <a:buSzPct val="100000"/>
        <a:buFont typeface="Arial"/>
        <a:buChar char="–"/>
        <a:tabLst/>
        <a:defRPr sz="8000" b="0" i="0" u="none" strike="noStrike" cap="none" spc="0" baseline="0">
          <a:ln>
            <a:noFill/>
          </a:ln>
          <a:solidFill>
            <a:srgbClr val="000000"/>
          </a:solidFill>
          <a:uFillTx/>
          <a:latin typeface="Helvetica Light"/>
          <a:ea typeface="Helvetica Light"/>
          <a:cs typeface="Helvetica Light"/>
          <a:sym typeface="Helvetica Light"/>
        </a:defRPr>
      </a:lvl6pPr>
      <a:lvl7pPr marL="914400" marR="0" indent="0" algn="ctr" defTabSz="584200" rtl="0" latinLnBrk="0">
        <a:lnSpc>
          <a:spcPct val="100000"/>
        </a:lnSpc>
        <a:spcBef>
          <a:spcPts val="0"/>
        </a:spcBef>
        <a:spcAft>
          <a:spcPts val="0"/>
        </a:spcAft>
        <a:buClr>
          <a:srgbClr val="000000"/>
        </a:buClr>
        <a:buSzPct val="100000"/>
        <a:buFont typeface="Arial"/>
        <a:buChar char="–"/>
        <a:tabLst/>
        <a:defRPr sz="8000" b="0" i="0" u="none" strike="noStrike" cap="none" spc="0" baseline="0">
          <a:ln>
            <a:noFill/>
          </a:ln>
          <a:solidFill>
            <a:srgbClr val="000000"/>
          </a:solidFill>
          <a:uFillTx/>
          <a:latin typeface="Helvetica Light"/>
          <a:ea typeface="Helvetica Light"/>
          <a:cs typeface="Helvetica Light"/>
          <a:sym typeface="Helvetica Light"/>
        </a:defRPr>
      </a:lvl7pPr>
      <a:lvl8pPr marL="1371600" marR="0" indent="0" algn="ctr" defTabSz="584200" rtl="0" latinLnBrk="0">
        <a:lnSpc>
          <a:spcPct val="100000"/>
        </a:lnSpc>
        <a:spcBef>
          <a:spcPts val="0"/>
        </a:spcBef>
        <a:spcAft>
          <a:spcPts val="0"/>
        </a:spcAft>
        <a:buClr>
          <a:srgbClr val="000000"/>
        </a:buClr>
        <a:buSzPct val="100000"/>
        <a:buFont typeface="Arial"/>
        <a:buChar char="–"/>
        <a:tabLst/>
        <a:defRPr sz="8000" b="0" i="0" u="none" strike="noStrike" cap="none" spc="0" baseline="0">
          <a:ln>
            <a:noFill/>
          </a:ln>
          <a:solidFill>
            <a:srgbClr val="000000"/>
          </a:solidFill>
          <a:uFillTx/>
          <a:latin typeface="Helvetica Light"/>
          <a:ea typeface="Helvetica Light"/>
          <a:cs typeface="Helvetica Light"/>
          <a:sym typeface="Helvetica Light"/>
        </a:defRPr>
      </a:lvl8pPr>
      <a:lvl9pPr marL="1828800" marR="0" indent="0" algn="ctr" defTabSz="584200" rtl="0" latinLnBrk="0">
        <a:lnSpc>
          <a:spcPct val="100000"/>
        </a:lnSpc>
        <a:spcBef>
          <a:spcPts val="0"/>
        </a:spcBef>
        <a:spcAft>
          <a:spcPts val="0"/>
        </a:spcAft>
        <a:buClr>
          <a:srgbClr val="000000"/>
        </a:buClr>
        <a:buSzPct val="100000"/>
        <a:buFont typeface="Arial"/>
        <a:buChar char="–"/>
        <a:tabLst/>
        <a:defRPr sz="8000" b="0" i="0" u="none" strike="noStrike" cap="none" spc="0" baseline="0">
          <a:ln>
            <a:noFill/>
          </a:ln>
          <a:solidFill>
            <a:srgbClr val="000000"/>
          </a:solidFill>
          <a:uFillTx/>
          <a:latin typeface="Helvetica Light"/>
          <a:ea typeface="Helvetica Light"/>
          <a:cs typeface="Helvetica Light"/>
          <a:sym typeface="Helvetica Light"/>
        </a:defRPr>
      </a:lvl9pPr>
    </p:titleStyle>
    <p:bodyStyle>
      <a:lvl1pPr marL="0" marR="0" indent="0" algn="l" defTabSz="584200" rtl="0" latinLnBrk="0">
        <a:lnSpc>
          <a:spcPct val="100000"/>
        </a:lnSpc>
        <a:spcBef>
          <a:spcPts val="4200"/>
        </a:spcBef>
        <a:spcAft>
          <a:spcPts val="0"/>
        </a:spcAft>
        <a:buClr>
          <a:srgbClr val="000000"/>
        </a:buClr>
        <a:buSzPct val="100000"/>
        <a:buFont typeface="Arial"/>
        <a:buChar char="–"/>
        <a:tabLst/>
        <a:defRPr sz="3800" b="0" i="0" u="none" strike="noStrike" cap="none" spc="0" baseline="0">
          <a:ln>
            <a:noFill/>
          </a:ln>
          <a:solidFill>
            <a:srgbClr val="000000"/>
          </a:solidFill>
          <a:uFillTx/>
          <a:latin typeface="Helvetica Light"/>
          <a:ea typeface="Helvetica Light"/>
          <a:cs typeface="Helvetica Light"/>
          <a:sym typeface="Helvetica Light"/>
        </a:defRPr>
      </a:lvl1pPr>
      <a:lvl2pPr marL="738879" marR="0" indent="-395979" algn="l" defTabSz="584200" rtl="0" latinLnBrk="0">
        <a:lnSpc>
          <a:spcPct val="100000"/>
        </a:lnSpc>
        <a:spcBef>
          <a:spcPts val="4200"/>
        </a:spcBef>
        <a:spcAft>
          <a:spcPts val="0"/>
        </a:spcAft>
        <a:buClr>
          <a:srgbClr val="000000"/>
        </a:buClr>
        <a:buSzPct val="100000"/>
        <a:buFont typeface="Arial"/>
        <a:buChar char="–"/>
        <a:tabLst/>
        <a:defRPr sz="3800" b="0" i="0" u="none" strike="noStrike" cap="none" spc="0" baseline="0">
          <a:ln>
            <a:noFill/>
          </a:ln>
          <a:solidFill>
            <a:srgbClr val="000000"/>
          </a:solidFill>
          <a:uFillTx/>
          <a:latin typeface="Helvetica Light"/>
          <a:ea typeface="Helvetica Light"/>
          <a:cs typeface="Helvetica Light"/>
          <a:sym typeface="Helvetica Light"/>
        </a:defRPr>
      </a:lvl2pPr>
      <a:lvl3pPr marL="685800" marR="0" indent="0" algn="l" defTabSz="584200" rtl="0" latinLnBrk="0">
        <a:lnSpc>
          <a:spcPct val="100000"/>
        </a:lnSpc>
        <a:spcBef>
          <a:spcPts val="4200"/>
        </a:spcBef>
        <a:spcAft>
          <a:spcPts val="0"/>
        </a:spcAft>
        <a:buClr>
          <a:srgbClr val="000000"/>
        </a:buClr>
        <a:buSzPct val="100000"/>
        <a:buFont typeface="Arial"/>
        <a:buChar char="–"/>
        <a:tabLst/>
        <a:defRPr sz="3800" b="0" i="0" u="none" strike="noStrike" cap="none" spc="0" baseline="0">
          <a:ln>
            <a:noFill/>
          </a:ln>
          <a:solidFill>
            <a:srgbClr val="000000"/>
          </a:solidFill>
          <a:uFillTx/>
          <a:latin typeface="Helvetica Light"/>
          <a:ea typeface="Helvetica Light"/>
          <a:cs typeface="Helvetica Light"/>
          <a:sym typeface="Helvetica Light"/>
        </a:defRPr>
      </a:lvl3pPr>
      <a:lvl4pPr marL="1028700" marR="0" indent="0" algn="l" defTabSz="584200" rtl="0" latinLnBrk="0">
        <a:lnSpc>
          <a:spcPct val="100000"/>
        </a:lnSpc>
        <a:spcBef>
          <a:spcPts val="4200"/>
        </a:spcBef>
        <a:spcAft>
          <a:spcPts val="0"/>
        </a:spcAft>
        <a:buClr>
          <a:srgbClr val="000000"/>
        </a:buClr>
        <a:buSzPct val="100000"/>
        <a:buFont typeface="Arial"/>
        <a:buChar char="–"/>
        <a:tabLst/>
        <a:defRPr sz="3800" b="0" i="0" u="none" strike="noStrike" cap="none" spc="0" baseline="0">
          <a:ln>
            <a:noFill/>
          </a:ln>
          <a:solidFill>
            <a:srgbClr val="000000"/>
          </a:solidFill>
          <a:uFillTx/>
          <a:latin typeface="Helvetica Light"/>
          <a:ea typeface="Helvetica Light"/>
          <a:cs typeface="Helvetica Light"/>
          <a:sym typeface="Helvetica Light"/>
        </a:defRPr>
      </a:lvl4pPr>
      <a:lvl5pPr marL="1371600" marR="0" indent="0" algn="l" defTabSz="584200" rtl="0" latinLnBrk="0">
        <a:lnSpc>
          <a:spcPct val="100000"/>
        </a:lnSpc>
        <a:spcBef>
          <a:spcPts val="4200"/>
        </a:spcBef>
        <a:spcAft>
          <a:spcPts val="0"/>
        </a:spcAft>
        <a:buClr>
          <a:srgbClr val="000000"/>
        </a:buClr>
        <a:buSzPct val="100000"/>
        <a:buFont typeface="Arial"/>
        <a:buChar char="–"/>
        <a:tabLst/>
        <a:defRPr sz="3800" b="0" i="0" u="none" strike="noStrike" cap="none" spc="0" baseline="0">
          <a:ln>
            <a:noFill/>
          </a:ln>
          <a:solidFill>
            <a:srgbClr val="000000"/>
          </a:solidFill>
          <a:uFillTx/>
          <a:latin typeface="Helvetica Light"/>
          <a:ea typeface="Helvetica Light"/>
          <a:cs typeface="Helvetica Light"/>
          <a:sym typeface="Helvetica Light"/>
        </a:defRPr>
      </a:lvl5pPr>
      <a:lvl6pPr marL="1828800" marR="0" indent="0" algn="l" defTabSz="584200" rtl="0" latinLnBrk="0">
        <a:lnSpc>
          <a:spcPct val="100000"/>
        </a:lnSpc>
        <a:spcBef>
          <a:spcPts val="4200"/>
        </a:spcBef>
        <a:spcAft>
          <a:spcPts val="0"/>
        </a:spcAft>
        <a:buClr>
          <a:srgbClr val="000000"/>
        </a:buClr>
        <a:buSzPct val="100000"/>
        <a:buFont typeface="Arial"/>
        <a:buChar char="–"/>
        <a:tabLst/>
        <a:defRPr sz="3800" b="0" i="0" u="none" strike="noStrike" cap="none" spc="0" baseline="0">
          <a:ln>
            <a:noFill/>
          </a:ln>
          <a:solidFill>
            <a:srgbClr val="000000"/>
          </a:solidFill>
          <a:uFillTx/>
          <a:latin typeface="Helvetica Light"/>
          <a:ea typeface="Helvetica Light"/>
          <a:cs typeface="Helvetica Light"/>
          <a:sym typeface="Helvetica Light"/>
        </a:defRPr>
      </a:lvl6pPr>
      <a:lvl7pPr marL="2286000" marR="0" indent="0" algn="l" defTabSz="584200" rtl="0" latinLnBrk="0">
        <a:lnSpc>
          <a:spcPct val="100000"/>
        </a:lnSpc>
        <a:spcBef>
          <a:spcPts val="4200"/>
        </a:spcBef>
        <a:spcAft>
          <a:spcPts val="0"/>
        </a:spcAft>
        <a:buClr>
          <a:srgbClr val="000000"/>
        </a:buClr>
        <a:buSzPct val="100000"/>
        <a:buFont typeface="Arial"/>
        <a:buChar char="–"/>
        <a:tabLst/>
        <a:defRPr sz="3800" b="0" i="0" u="none" strike="noStrike" cap="none" spc="0" baseline="0">
          <a:ln>
            <a:noFill/>
          </a:ln>
          <a:solidFill>
            <a:srgbClr val="000000"/>
          </a:solidFill>
          <a:uFillTx/>
          <a:latin typeface="Helvetica Light"/>
          <a:ea typeface="Helvetica Light"/>
          <a:cs typeface="Helvetica Light"/>
          <a:sym typeface="Helvetica Light"/>
        </a:defRPr>
      </a:lvl7pPr>
      <a:lvl8pPr marL="2743200" marR="0" indent="0" algn="l" defTabSz="584200" rtl="0" latinLnBrk="0">
        <a:lnSpc>
          <a:spcPct val="100000"/>
        </a:lnSpc>
        <a:spcBef>
          <a:spcPts val="4200"/>
        </a:spcBef>
        <a:spcAft>
          <a:spcPts val="0"/>
        </a:spcAft>
        <a:buClr>
          <a:srgbClr val="000000"/>
        </a:buClr>
        <a:buSzPct val="100000"/>
        <a:buFont typeface="Arial"/>
        <a:buChar char="–"/>
        <a:tabLst/>
        <a:defRPr sz="3800" b="0" i="0" u="none" strike="noStrike" cap="none" spc="0" baseline="0">
          <a:ln>
            <a:noFill/>
          </a:ln>
          <a:solidFill>
            <a:srgbClr val="000000"/>
          </a:solidFill>
          <a:uFillTx/>
          <a:latin typeface="Helvetica Light"/>
          <a:ea typeface="Helvetica Light"/>
          <a:cs typeface="Helvetica Light"/>
          <a:sym typeface="Helvetica Light"/>
        </a:defRPr>
      </a:lvl8pPr>
      <a:lvl9pPr marL="3200400" marR="0" indent="0" algn="l" defTabSz="584200" rtl="0" latinLnBrk="0">
        <a:lnSpc>
          <a:spcPct val="100000"/>
        </a:lnSpc>
        <a:spcBef>
          <a:spcPts val="4200"/>
        </a:spcBef>
        <a:spcAft>
          <a:spcPts val="0"/>
        </a:spcAft>
        <a:buClr>
          <a:srgbClr val="000000"/>
        </a:buClr>
        <a:buSzPct val="100000"/>
        <a:buFont typeface="Arial"/>
        <a:buChar char="–"/>
        <a:tabLst/>
        <a:defRPr sz="3800" b="0" i="0" u="none" strike="noStrike" cap="none" spc="0" baseline="0">
          <a:ln>
            <a:noFill/>
          </a:ln>
          <a:solidFill>
            <a:srgbClr val="000000"/>
          </a:solidFill>
          <a:uFillTx/>
          <a:latin typeface="Helvetica Light"/>
          <a:ea typeface="Helvetica Light"/>
          <a:cs typeface="Helvetica Light"/>
          <a:sym typeface="Helvetica Light"/>
        </a:defRPr>
      </a:lvl9pPr>
    </p:bodyStyle>
    <p:otherStyle>
      <a:lvl1pPr marL="0" marR="0" indent="0" algn="r" defTabSz="584200" rtl="0" latinLnBrk="0">
        <a:lnSpc>
          <a:spcPct val="100000"/>
        </a:lnSpc>
        <a:spcBef>
          <a:spcPts val="0"/>
        </a:spcBef>
        <a:spcAft>
          <a:spcPts val="0"/>
        </a:spcAft>
        <a:buClr>
          <a:srgbClr val="000000"/>
        </a:buClr>
        <a:buSzPct val="100000"/>
        <a:buFont typeface="Arial"/>
        <a:buChar char="–"/>
        <a:tabLst/>
        <a:defRPr sz="1200" b="0" i="0" u="none" strike="noStrike" cap="none" spc="0" baseline="0">
          <a:ln>
            <a:noFill/>
          </a:ln>
          <a:solidFill>
            <a:schemeClr val="tx1"/>
          </a:solidFill>
          <a:uFillTx/>
          <a:latin typeface="+mn-lt"/>
          <a:ea typeface="+mn-ea"/>
          <a:cs typeface="+mn-cs"/>
          <a:sym typeface="Helvetica Light"/>
        </a:defRPr>
      </a:lvl1pPr>
      <a:lvl2pPr marL="467946" marR="0" indent="-125046" algn="r" defTabSz="584200" rtl="0" latinLnBrk="0">
        <a:lnSpc>
          <a:spcPct val="100000"/>
        </a:lnSpc>
        <a:spcBef>
          <a:spcPts val="0"/>
        </a:spcBef>
        <a:spcAft>
          <a:spcPts val="0"/>
        </a:spcAft>
        <a:buClr>
          <a:srgbClr val="000000"/>
        </a:buClr>
        <a:buSzPct val="100000"/>
        <a:buFont typeface="Arial"/>
        <a:buChar char="–"/>
        <a:tabLst/>
        <a:defRPr sz="1200" b="0" i="0" u="none" strike="noStrike" cap="none" spc="0" baseline="0">
          <a:ln>
            <a:noFill/>
          </a:ln>
          <a:solidFill>
            <a:schemeClr val="tx1"/>
          </a:solidFill>
          <a:uFillTx/>
          <a:latin typeface="+mn-lt"/>
          <a:ea typeface="+mn-ea"/>
          <a:cs typeface="+mn-cs"/>
          <a:sym typeface="Helvetica Light"/>
        </a:defRPr>
      </a:lvl2pPr>
      <a:lvl3pPr marL="685800" marR="0" indent="0" algn="r" defTabSz="584200" rtl="0" latinLnBrk="0">
        <a:lnSpc>
          <a:spcPct val="100000"/>
        </a:lnSpc>
        <a:spcBef>
          <a:spcPts val="0"/>
        </a:spcBef>
        <a:spcAft>
          <a:spcPts val="0"/>
        </a:spcAft>
        <a:buClr>
          <a:srgbClr val="000000"/>
        </a:buClr>
        <a:buSzPct val="100000"/>
        <a:buFont typeface="Arial"/>
        <a:buChar char="–"/>
        <a:tabLst/>
        <a:defRPr sz="1200" b="0" i="0" u="none" strike="noStrike" cap="none" spc="0" baseline="0">
          <a:ln>
            <a:noFill/>
          </a:ln>
          <a:solidFill>
            <a:schemeClr val="tx1"/>
          </a:solidFill>
          <a:uFillTx/>
          <a:latin typeface="+mn-lt"/>
          <a:ea typeface="+mn-ea"/>
          <a:cs typeface="+mn-cs"/>
          <a:sym typeface="Helvetica Light"/>
        </a:defRPr>
      </a:lvl3pPr>
      <a:lvl4pPr marL="1028700" marR="0" indent="0" algn="r" defTabSz="584200" rtl="0" latinLnBrk="0">
        <a:lnSpc>
          <a:spcPct val="100000"/>
        </a:lnSpc>
        <a:spcBef>
          <a:spcPts val="0"/>
        </a:spcBef>
        <a:spcAft>
          <a:spcPts val="0"/>
        </a:spcAft>
        <a:buClr>
          <a:srgbClr val="000000"/>
        </a:buClr>
        <a:buSzPct val="100000"/>
        <a:buFont typeface="Arial"/>
        <a:buChar char="–"/>
        <a:tabLst/>
        <a:defRPr sz="1200" b="0" i="0" u="none" strike="noStrike" cap="none" spc="0" baseline="0">
          <a:ln>
            <a:noFill/>
          </a:ln>
          <a:solidFill>
            <a:schemeClr val="tx1"/>
          </a:solidFill>
          <a:uFillTx/>
          <a:latin typeface="+mn-lt"/>
          <a:ea typeface="+mn-ea"/>
          <a:cs typeface="+mn-cs"/>
          <a:sym typeface="Helvetica Light"/>
        </a:defRPr>
      </a:lvl4pPr>
      <a:lvl5pPr marL="1371600" marR="0" indent="0" algn="r" defTabSz="584200" rtl="0" latinLnBrk="0">
        <a:lnSpc>
          <a:spcPct val="100000"/>
        </a:lnSpc>
        <a:spcBef>
          <a:spcPts val="0"/>
        </a:spcBef>
        <a:spcAft>
          <a:spcPts val="0"/>
        </a:spcAft>
        <a:buClr>
          <a:srgbClr val="000000"/>
        </a:buClr>
        <a:buSzPct val="100000"/>
        <a:buFont typeface="Arial"/>
        <a:buChar char="–"/>
        <a:tabLst/>
        <a:defRPr sz="1200" b="0" i="0" u="none" strike="noStrike" cap="none" spc="0" baseline="0">
          <a:ln>
            <a:noFill/>
          </a:ln>
          <a:solidFill>
            <a:schemeClr val="tx1"/>
          </a:solidFill>
          <a:uFillTx/>
          <a:latin typeface="+mn-lt"/>
          <a:ea typeface="+mn-ea"/>
          <a:cs typeface="+mn-cs"/>
          <a:sym typeface="Helvetica Light"/>
        </a:defRPr>
      </a:lvl5pPr>
      <a:lvl6pPr marL="0" marR="0" indent="0" algn="r" defTabSz="584200" rtl="0" latinLnBrk="0">
        <a:lnSpc>
          <a:spcPct val="100000"/>
        </a:lnSpc>
        <a:spcBef>
          <a:spcPts val="0"/>
        </a:spcBef>
        <a:spcAft>
          <a:spcPts val="0"/>
        </a:spcAft>
        <a:buClr>
          <a:srgbClr val="000000"/>
        </a:buClr>
        <a:buSzPct val="100000"/>
        <a:buFont typeface="Arial"/>
        <a:buChar char="–"/>
        <a:tabLst/>
        <a:defRPr sz="1200" b="0" i="0" u="none" strike="noStrike" cap="none" spc="0" baseline="0">
          <a:ln>
            <a:noFill/>
          </a:ln>
          <a:solidFill>
            <a:schemeClr val="tx1"/>
          </a:solidFill>
          <a:uFillTx/>
          <a:latin typeface="+mn-lt"/>
          <a:ea typeface="+mn-ea"/>
          <a:cs typeface="+mn-cs"/>
          <a:sym typeface="Helvetica Light"/>
        </a:defRPr>
      </a:lvl6pPr>
      <a:lvl7pPr marL="0" marR="0" indent="0" algn="r" defTabSz="584200" rtl="0" latinLnBrk="0">
        <a:lnSpc>
          <a:spcPct val="100000"/>
        </a:lnSpc>
        <a:spcBef>
          <a:spcPts val="0"/>
        </a:spcBef>
        <a:spcAft>
          <a:spcPts val="0"/>
        </a:spcAft>
        <a:buClr>
          <a:srgbClr val="000000"/>
        </a:buClr>
        <a:buSzPct val="100000"/>
        <a:buFont typeface="Arial"/>
        <a:buChar char="–"/>
        <a:tabLst/>
        <a:defRPr sz="1200" b="0" i="0" u="none" strike="noStrike" cap="none" spc="0" baseline="0">
          <a:ln>
            <a:noFill/>
          </a:ln>
          <a:solidFill>
            <a:schemeClr val="tx1"/>
          </a:solidFill>
          <a:uFillTx/>
          <a:latin typeface="+mn-lt"/>
          <a:ea typeface="+mn-ea"/>
          <a:cs typeface="+mn-cs"/>
          <a:sym typeface="Helvetica Light"/>
        </a:defRPr>
      </a:lvl7pPr>
      <a:lvl8pPr marL="0" marR="0" indent="0" algn="r" defTabSz="584200" rtl="0" latinLnBrk="0">
        <a:lnSpc>
          <a:spcPct val="100000"/>
        </a:lnSpc>
        <a:spcBef>
          <a:spcPts val="0"/>
        </a:spcBef>
        <a:spcAft>
          <a:spcPts val="0"/>
        </a:spcAft>
        <a:buClr>
          <a:srgbClr val="000000"/>
        </a:buClr>
        <a:buSzPct val="100000"/>
        <a:buFont typeface="Arial"/>
        <a:buChar char="–"/>
        <a:tabLst/>
        <a:defRPr sz="1200" b="0" i="0" u="none" strike="noStrike" cap="none" spc="0" baseline="0">
          <a:ln>
            <a:noFill/>
          </a:ln>
          <a:solidFill>
            <a:schemeClr val="tx1"/>
          </a:solidFill>
          <a:uFillTx/>
          <a:latin typeface="+mn-lt"/>
          <a:ea typeface="+mn-ea"/>
          <a:cs typeface="+mn-cs"/>
          <a:sym typeface="Helvetica Light"/>
        </a:defRPr>
      </a:lvl8pPr>
      <a:lvl9pPr marL="0" marR="0" indent="0" algn="r" defTabSz="584200" rtl="0" latinLnBrk="0">
        <a:lnSpc>
          <a:spcPct val="100000"/>
        </a:lnSpc>
        <a:spcBef>
          <a:spcPts val="0"/>
        </a:spcBef>
        <a:spcAft>
          <a:spcPts val="0"/>
        </a:spcAft>
        <a:buClr>
          <a:srgbClr val="000000"/>
        </a:buClr>
        <a:buSzPct val="100000"/>
        <a:buFont typeface="Arial"/>
        <a:buChar char="–"/>
        <a:tabLst/>
        <a:defRPr sz="1200" b="0" i="0" u="none" strike="noStrike" cap="none" spc="0" baseline="0">
          <a:ln>
            <a:noFill/>
          </a:ln>
          <a:solidFill>
            <a:schemeClr val="tx1"/>
          </a:solidFill>
          <a:uFillTx/>
          <a:latin typeface="+mn-lt"/>
          <a:ea typeface="+mn-ea"/>
          <a:cs typeface="+mn-cs"/>
          <a:sym typeface="Helvetica Ligh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tiff"/><Relationship Id="rId4" Type="http://schemas.openxmlformats.org/officeDocument/2006/relationships/image" Target="../media/image3.tiff"/></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tiff"/><Relationship Id="rId4" Type="http://schemas.openxmlformats.org/officeDocument/2006/relationships/image" Target="../media/image3.tiff"/></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6.tiff"/><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image" Target="../media/image9.tiff"/><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1.tiff"/><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1.xml"/><Relationship Id="rId4" Type="http://schemas.openxmlformats.org/officeDocument/2006/relationships/image" Target="../media/image14.tiff"/></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6.tiff"/><Relationship Id="rId7" Type="http://schemas.openxmlformats.org/officeDocument/2006/relationships/hyperlink" Target="https://www.youtube.com/watch?v=fJPzkzyuMZ8"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19.tiff"/><Relationship Id="rId5" Type="http://schemas.openxmlformats.org/officeDocument/2006/relationships/image" Target="../media/image18.tiff"/><Relationship Id="rId4" Type="http://schemas.openxmlformats.org/officeDocument/2006/relationships/image" Target="../media/image17.tiff"/></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3" Type="http://schemas.openxmlformats.org/officeDocument/2006/relationships/image" Target="../media/image23.tiff"/><Relationship Id="rId2" Type="http://schemas.openxmlformats.org/officeDocument/2006/relationships/image" Target="../media/image22.tiff"/><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8" name="Rectangle 59">
            <a:extLst>
              <a:ext uri="{FF2B5EF4-FFF2-40B4-BE49-F238E27FC236}">
                <a16:creationId xmlns:a16="http://schemas.microsoft.com/office/drawing/2014/main" id="{9C7E0A2C-7C0A-4AAC-B3B0-6C12B2EBAE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798" cy="975269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1">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3004800" cy="737726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 name="Rectangle 63">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6228" y="785011"/>
            <a:ext cx="11732343" cy="767992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Shape 27"/>
          <p:cNvSpPr>
            <a:spLocks noGrp="1"/>
          </p:cNvSpPr>
          <p:nvPr>
            <p:ph type="ctrTitle"/>
          </p:nvPr>
        </p:nvSpPr>
        <p:spPr>
          <a:xfrm>
            <a:off x="1625600" y="1775768"/>
            <a:ext cx="9753600" cy="3395697"/>
          </a:xfrm>
          <a:prstGeom prst="rect">
            <a:avLst/>
          </a:prstGeom>
        </p:spPr>
        <p:txBody>
          <a:bodyPr lIns="72248" tIns="72248" rIns="72248" bIns="72248">
            <a:normAutofit/>
          </a:bodyPr>
          <a:lstStyle/>
          <a:p>
            <a:pPr defTabSz="1300162">
              <a:buNone/>
              <a:defRPr sz="6200">
                <a:latin typeface="Arial"/>
                <a:ea typeface="Arial"/>
                <a:cs typeface="Arial"/>
                <a:sym typeface="Arial"/>
              </a:defRPr>
            </a:pPr>
            <a:r>
              <a:rPr lang="en-US" sz="7900" dirty="0"/>
              <a:t>Pharmacology of Diabetes Mellitus</a:t>
            </a:r>
          </a:p>
        </p:txBody>
      </p:sp>
      <p:sp>
        <p:nvSpPr>
          <p:cNvPr id="28" name="Shape 28"/>
          <p:cNvSpPr>
            <a:spLocks noGrp="1"/>
          </p:cNvSpPr>
          <p:nvPr>
            <p:ph type="subTitle" idx="1"/>
          </p:nvPr>
        </p:nvSpPr>
        <p:spPr>
          <a:xfrm>
            <a:off x="1625600" y="5433369"/>
            <a:ext cx="9753600" cy="2223909"/>
          </a:xfrm>
          <a:prstGeom prst="rect">
            <a:avLst/>
          </a:prstGeom>
        </p:spPr>
        <p:txBody>
          <a:bodyPr lIns="72248" tIns="72248" rIns="72248" bIns="72248">
            <a:normAutofit/>
          </a:bodyPr>
          <a:lstStyle>
            <a:lvl1pPr algn="ctr" defTabSz="1300162">
              <a:spcBef>
                <a:spcPts val="700"/>
              </a:spcBef>
              <a:defRPr sz="4500">
                <a:latin typeface="Arial"/>
                <a:ea typeface="Arial"/>
                <a:cs typeface="Arial"/>
                <a:sym typeface="Arial"/>
              </a:defRPr>
            </a:lvl1pPr>
          </a:lstStyle>
          <a:p>
            <a:pPr>
              <a:lnSpc>
                <a:spcPct val="90000"/>
              </a:lnSpc>
              <a:buNone/>
            </a:pPr>
            <a:r>
              <a:rPr lang="en-US" dirty="0"/>
              <a:t>Endocrinology Module</a:t>
            </a:r>
          </a:p>
          <a:p>
            <a:pPr>
              <a:lnSpc>
                <a:spcPct val="90000"/>
              </a:lnSpc>
              <a:buNone/>
            </a:pPr>
            <a:r>
              <a:rPr lang="en-US" dirty="0"/>
              <a:t>Fall Semester</a:t>
            </a:r>
          </a:p>
          <a:p>
            <a:pPr>
              <a:lnSpc>
                <a:spcPct val="90000"/>
              </a:lnSpc>
              <a:buNone/>
            </a:pPr>
            <a:r>
              <a:rPr lang="en-US" dirty="0"/>
              <a:t>Sarah Brandell MPAS, PA-C</a:t>
            </a:r>
          </a:p>
        </p:txBody>
      </p:sp>
      <p:cxnSp>
        <p:nvCxnSpPr>
          <p:cNvPr id="71" name="Straight Connector 65">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36228" y="9002338"/>
            <a:ext cx="11733581"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55785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Shape 152"/>
          <p:cNvSpPr>
            <a:spLocks noGrp="1"/>
          </p:cNvSpPr>
          <p:nvPr>
            <p:ph type="title" idx="4294967295"/>
          </p:nvPr>
        </p:nvSpPr>
        <p:spPr>
          <a:xfrm>
            <a:off x="323850" y="0"/>
            <a:ext cx="12463463" cy="2261937"/>
          </a:xfrm>
          <a:prstGeom prst="rect">
            <a:avLst/>
          </a:prstGeom>
        </p:spPr>
        <p:txBody>
          <a:bodyPr lIns="72248" tIns="72248" rIns="72248" bIns="72248" anchor="ctr">
            <a:normAutofit/>
          </a:bodyPr>
          <a:lstStyle>
            <a:lvl1pPr defTabSz="1300162">
              <a:defRPr sz="5600">
                <a:latin typeface="Arial"/>
                <a:ea typeface="Arial"/>
                <a:cs typeface="Arial"/>
                <a:sym typeface="Arial"/>
              </a:defRPr>
            </a:lvl1pPr>
          </a:lstStyle>
          <a:p>
            <a:pPr>
              <a:buNone/>
            </a:pPr>
            <a:r>
              <a:rPr lang="en-US" dirty="0"/>
              <a:t>DAWN and DAWN2: </a:t>
            </a:r>
            <a:r>
              <a:rPr lang="en-US" sz="3600" dirty="0"/>
              <a:t>large international studies surveying patients, their families and their clinicians</a:t>
            </a:r>
            <a:endParaRPr sz="3600" dirty="0"/>
          </a:p>
        </p:txBody>
      </p:sp>
      <p:sp>
        <p:nvSpPr>
          <p:cNvPr id="153" name="Shape 153"/>
          <p:cNvSpPr>
            <a:spLocks noGrp="1"/>
          </p:cNvSpPr>
          <p:nvPr>
            <p:ph type="body" idx="4294967295"/>
          </p:nvPr>
        </p:nvSpPr>
        <p:spPr>
          <a:xfrm>
            <a:off x="323850" y="2664372"/>
            <a:ext cx="12463463" cy="6352037"/>
          </a:xfrm>
          <a:prstGeom prst="rect">
            <a:avLst/>
          </a:prstGeom>
        </p:spPr>
        <p:txBody>
          <a:bodyPr lIns="72248" tIns="72248" rIns="72248" bIns="72248">
            <a:normAutofit/>
          </a:bodyPr>
          <a:lstStyle/>
          <a:p>
            <a:pPr marL="722312" indent="-722312" defTabSz="1300162">
              <a:spcBef>
                <a:spcPts val="700"/>
              </a:spcBef>
              <a:buFont typeface="Arial"/>
              <a:buChar char="•"/>
              <a:defRPr sz="4400">
                <a:latin typeface="Arial"/>
                <a:ea typeface="Arial"/>
                <a:cs typeface="Arial"/>
                <a:sym typeface="Arial"/>
              </a:defRPr>
            </a:pPr>
            <a:r>
              <a:rPr lang="en-US" sz="4000" dirty="0">
                <a:latin typeface="Calibri" charset="0"/>
                <a:ea typeface="Calibri" charset="0"/>
                <a:cs typeface="Calibri" charset="0"/>
              </a:rPr>
              <a:t>24% of diabetics reported that their HCP asked them on a regular basis how DM affects their lives</a:t>
            </a:r>
          </a:p>
          <a:p>
            <a:pPr marL="722312" indent="-722312" defTabSz="1300162">
              <a:spcBef>
                <a:spcPts val="700"/>
              </a:spcBef>
              <a:buFont typeface="Arial"/>
              <a:buChar char="•"/>
              <a:defRPr sz="4400">
                <a:latin typeface="Arial"/>
                <a:ea typeface="Arial"/>
                <a:cs typeface="Arial"/>
                <a:sym typeface="Arial"/>
              </a:defRPr>
            </a:pPr>
            <a:r>
              <a:rPr lang="en-US" sz="4000" dirty="0">
                <a:latin typeface="Calibri" charset="0"/>
                <a:ea typeface="Calibri" charset="0"/>
                <a:cs typeface="Calibri" charset="0"/>
              </a:rPr>
              <a:t>Just over 36% of people with diabetes felt that they were capable of self-managing their DM</a:t>
            </a:r>
          </a:p>
          <a:p>
            <a:pPr marL="722312" indent="-722312" defTabSz="1300162">
              <a:spcBef>
                <a:spcPts val="700"/>
              </a:spcBef>
              <a:buFont typeface="Arial"/>
              <a:buChar char="•"/>
              <a:defRPr sz="4400">
                <a:latin typeface="Arial"/>
                <a:ea typeface="Arial"/>
                <a:cs typeface="Arial"/>
                <a:sym typeface="Arial"/>
              </a:defRPr>
            </a:pPr>
            <a:r>
              <a:rPr lang="en-US" sz="4000" dirty="0">
                <a:latin typeface="Calibri" charset="0"/>
                <a:ea typeface="Calibri" charset="0"/>
                <a:cs typeface="Calibri" charset="0"/>
              </a:rPr>
              <a:t>33% of people with diabetes were encouraged by their HCP to ask questions during the visit</a:t>
            </a:r>
          </a:p>
          <a:p>
            <a:pPr marL="722312" indent="-722312" defTabSz="1300162">
              <a:spcBef>
                <a:spcPts val="700"/>
              </a:spcBef>
              <a:buFont typeface="Arial"/>
              <a:buChar char="•"/>
              <a:defRPr sz="4400">
                <a:latin typeface="Arial"/>
                <a:ea typeface="Arial"/>
                <a:cs typeface="Arial"/>
                <a:sym typeface="Arial"/>
              </a:defRPr>
            </a:pPr>
            <a:r>
              <a:rPr lang="en-US" sz="4000" dirty="0">
                <a:latin typeface="Calibri" charset="0"/>
                <a:ea typeface="Calibri" charset="0"/>
                <a:cs typeface="Calibri" charset="0"/>
              </a:rPr>
              <a:t>29% of people with DM said that their HCP asked for their input when making treatment plans</a:t>
            </a:r>
            <a:endParaRPr sz="4000" dirty="0">
              <a:latin typeface="Calibri" charset="0"/>
              <a:ea typeface="Calibri" charset="0"/>
              <a:cs typeface="Calibri" charset="0"/>
            </a:endParaRPr>
          </a:p>
        </p:txBody>
      </p:sp>
    </p:spTree>
    <p:extLst>
      <p:ext uri="{BB962C8B-B14F-4D97-AF65-F5344CB8AC3E}">
        <p14:creationId xmlns:p14="http://schemas.microsoft.com/office/powerpoint/2010/main" val="21240545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Shape 152"/>
          <p:cNvSpPr>
            <a:spLocks noGrp="1"/>
          </p:cNvSpPr>
          <p:nvPr>
            <p:ph type="title" idx="4294967295"/>
          </p:nvPr>
        </p:nvSpPr>
        <p:spPr>
          <a:xfrm>
            <a:off x="649287" y="0"/>
            <a:ext cx="11704638" cy="1516063"/>
          </a:xfrm>
          <a:prstGeom prst="rect">
            <a:avLst/>
          </a:prstGeom>
        </p:spPr>
        <p:txBody>
          <a:bodyPr lIns="72248" tIns="72248" rIns="72248" bIns="72248" anchor="ctr">
            <a:normAutofit/>
          </a:bodyPr>
          <a:lstStyle>
            <a:lvl1pPr defTabSz="1300162">
              <a:defRPr sz="5600">
                <a:latin typeface="Arial"/>
                <a:ea typeface="Arial"/>
                <a:cs typeface="Arial"/>
                <a:sym typeface="Arial"/>
              </a:defRPr>
            </a:lvl1pPr>
          </a:lstStyle>
          <a:p>
            <a:pPr>
              <a:buNone/>
            </a:pPr>
            <a:r>
              <a:rPr lang="en-US" dirty="0"/>
              <a:t>Motivational Interviewing</a:t>
            </a:r>
            <a:endParaRPr dirty="0"/>
          </a:p>
        </p:txBody>
      </p:sp>
      <p:sp>
        <p:nvSpPr>
          <p:cNvPr id="153" name="Shape 153"/>
          <p:cNvSpPr>
            <a:spLocks noGrp="1"/>
          </p:cNvSpPr>
          <p:nvPr>
            <p:ph type="body" idx="4294967295"/>
          </p:nvPr>
        </p:nvSpPr>
        <p:spPr>
          <a:xfrm>
            <a:off x="323850" y="1813034"/>
            <a:ext cx="12304329" cy="7309701"/>
          </a:xfrm>
          <a:prstGeom prst="rect">
            <a:avLst/>
          </a:prstGeom>
        </p:spPr>
        <p:txBody>
          <a:bodyPr lIns="72248" tIns="72248" rIns="72248" bIns="72248">
            <a:normAutofit/>
          </a:bodyPr>
          <a:lstStyle/>
          <a:p>
            <a:pPr defTabSz="1300162">
              <a:spcBef>
                <a:spcPts val="700"/>
              </a:spcBef>
              <a:buNone/>
              <a:defRPr sz="4400">
                <a:latin typeface="Arial"/>
                <a:ea typeface="Arial"/>
                <a:cs typeface="Arial"/>
                <a:sym typeface="Arial"/>
              </a:defRPr>
            </a:pPr>
            <a:r>
              <a:rPr lang="en-US" sz="4000" dirty="0">
                <a:latin typeface="Calibri" charset="0"/>
                <a:ea typeface="Calibri" charset="0"/>
                <a:cs typeface="Calibri" charset="0"/>
              </a:rPr>
              <a:t>We must be patient centered!!</a:t>
            </a:r>
          </a:p>
          <a:p>
            <a:pPr marL="722312" indent="-722312" defTabSz="1300162">
              <a:spcBef>
                <a:spcPts val="700"/>
              </a:spcBef>
              <a:buFont typeface="Arial"/>
              <a:buChar char="•"/>
              <a:defRPr sz="4400">
                <a:latin typeface="Arial"/>
                <a:ea typeface="Arial"/>
                <a:cs typeface="Arial"/>
                <a:sym typeface="Arial"/>
              </a:defRPr>
            </a:pPr>
            <a:r>
              <a:rPr lang="en-US" sz="4000" dirty="0">
                <a:latin typeface="Calibri" charset="0"/>
                <a:ea typeface="Calibri" charset="0"/>
                <a:cs typeface="Calibri" charset="0"/>
              </a:rPr>
              <a:t>Discuss the disadvantages of the status quo, point out the advantages of change, have optimism for change, enforce patient’s intention to change</a:t>
            </a:r>
          </a:p>
          <a:p>
            <a:pPr marL="1461191" lvl="1" indent="-722312" defTabSz="1300162">
              <a:spcBef>
                <a:spcPts val="700"/>
              </a:spcBef>
              <a:buFont typeface="Arial"/>
              <a:buChar char="•"/>
              <a:defRPr sz="4400">
                <a:latin typeface="Arial"/>
                <a:ea typeface="Arial"/>
                <a:cs typeface="Arial"/>
                <a:sym typeface="Arial"/>
              </a:defRPr>
            </a:pPr>
            <a:endParaRPr lang="en-US" sz="4000" dirty="0">
              <a:latin typeface="Calibri" charset="0"/>
              <a:ea typeface="Calibri" charset="0"/>
              <a:cs typeface="Calibri" charset="0"/>
            </a:endParaRPr>
          </a:p>
          <a:p>
            <a:pPr defTabSz="1300162">
              <a:spcBef>
                <a:spcPts val="700"/>
              </a:spcBef>
              <a:buNone/>
              <a:defRPr sz="4400">
                <a:latin typeface="Arial"/>
                <a:ea typeface="Arial"/>
                <a:cs typeface="Arial"/>
                <a:sym typeface="Arial"/>
              </a:defRPr>
            </a:pPr>
            <a:r>
              <a:rPr lang="en-US" sz="4000" dirty="0">
                <a:latin typeface="Calibri" charset="0"/>
                <a:ea typeface="Calibri" charset="0"/>
                <a:cs typeface="Calibri" charset="0"/>
              </a:rPr>
              <a:t>We must express </a:t>
            </a:r>
          </a:p>
          <a:p>
            <a:pPr marL="722312" indent="-722312" defTabSz="1300162">
              <a:spcBef>
                <a:spcPts val="700"/>
              </a:spcBef>
              <a:buFont typeface="Arial"/>
              <a:buChar char="•"/>
              <a:defRPr sz="4400">
                <a:latin typeface="Arial"/>
                <a:ea typeface="Arial"/>
                <a:cs typeface="Arial"/>
                <a:sym typeface="Arial"/>
              </a:defRPr>
            </a:pPr>
            <a:r>
              <a:rPr lang="en-US" sz="4000" dirty="0">
                <a:latin typeface="Calibri" charset="0"/>
                <a:ea typeface="Calibri" charset="0"/>
                <a:cs typeface="Calibri" charset="0"/>
              </a:rPr>
              <a:t>Genuine interest: pay attention to the patient</a:t>
            </a:r>
          </a:p>
          <a:p>
            <a:pPr marL="722312" indent="-722312" defTabSz="1300162">
              <a:spcBef>
                <a:spcPts val="700"/>
              </a:spcBef>
              <a:buFont typeface="Arial"/>
              <a:buChar char="•"/>
              <a:defRPr sz="4400">
                <a:latin typeface="Arial"/>
                <a:ea typeface="Arial"/>
                <a:cs typeface="Arial"/>
                <a:sym typeface="Arial"/>
              </a:defRPr>
            </a:pPr>
            <a:r>
              <a:rPr lang="en-US" sz="4000" dirty="0">
                <a:latin typeface="Calibri" charset="0"/>
                <a:ea typeface="Calibri" charset="0"/>
                <a:cs typeface="Calibri" charset="0"/>
              </a:rPr>
              <a:t>Empathy: willingness to see it their way</a:t>
            </a:r>
          </a:p>
          <a:p>
            <a:pPr marL="722312" indent="-722312" defTabSz="1300162">
              <a:spcBef>
                <a:spcPts val="700"/>
              </a:spcBef>
              <a:buFont typeface="Arial"/>
              <a:buChar char="•"/>
              <a:defRPr sz="4400">
                <a:latin typeface="Arial"/>
                <a:ea typeface="Arial"/>
                <a:cs typeface="Arial"/>
                <a:sym typeface="Arial"/>
              </a:defRPr>
            </a:pPr>
            <a:r>
              <a:rPr lang="en-US" sz="4000" dirty="0">
                <a:latin typeface="Calibri" charset="0"/>
                <a:ea typeface="Calibri" charset="0"/>
                <a:cs typeface="Calibri" charset="0"/>
              </a:rPr>
              <a:t>Positive regard: roll with patient resistance, see the positive in everything</a:t>
            </a:r>
            <a:endParaRPr sz="4000" dirty="0">
              <a:latin typeface="Calibri" charset="0"/>
              <a:ea typeface="Calibri" charset="0"/>
              <a:cs typeface="Calibri" charset="0"/>
            </a:endParaRPr>
          </a:p>
        </p:txBody>
      </p:sp>
    </p:spTree>
    <p:extLst>
      <p:ext uri="{BB962C8B-B14F-4D97-AF65-F5344CB8AC3E}">
        <p14:creationId xmlns:p14="http://schemas.microsoft.com/office/powerpoint/2010/main" val="16788301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Shape 152"/>
          <p:cNvSpPr>
            <a:spLocks noGrp="1"/>
          </p:cNvSpPr>
          <p:nvPr>
            <p:ph type="title" idx="4294967295"/>
          </p:nvPr>
        </p:nvSpPr>
        <p:spPr>
          <a:xfrm>
            <a:off x="649287" y="0"/>
            <a:ext cx="11704638" cy="1516063"/>
          </a:xfrm>
          <a:prstGeom prst="rect">
            <a:avLst/>
          </a:prstGeom>
        </p:spPr>
        <p:txBody>
          <a:bodyPr lIns="72248" tIns="72248" rIns="72248" bIns="72248" anchor="ctr">
            <a:normAutofit/>
          </a:bodyPr>
          <a:lstStyle>
            <a:lvl1pPr defTabSz="1300162">
              <a:defRPr sz="5600">
                <a:latin typeface="Arial"/>
                <a:ea typeface="Arial"/>
                <a:cs typeface="Arial"/>
                <a:sym typeface="Arial"/>
              </a:defRPr>
            </a:lvl1pPr>
          </a:lstStyle>
          <a:p>
            <a:pPr>
              <a:buNone/>
            </a:pPr>
            <a:r>
              <a:rPr lang="en-US" dirty="0"/>
              <a:t>Motivational Interviewing</a:t>
            </a:r>
            <a:endParaRPr dirty="0"/>
          </a:p>
        </p:txBody>
      </p:sp>
      <p:sp>
        <p:nvSpPr>
          <p:cNvPr id="153" name="Shape 153"/>
          <p:cNvSpPr>
            <a:spLocks noGrp="1"/>
          </p:cNvSpPr>
          <p:nvPr>
            <p:ph type="body" idx="4294967295"/>
          </p:nvPr>
        </p:nvSpPr>
        <p:spPr>
          <a:xfrm>
            <a:off x="914400" y="2402958"/>
            <a:ext cx="10611293" cy="7241105"/>
          </a:xfrm>
          <a:prstGeom prst="rect">
            <a:avLst/>
          </a:prstGeom>
        </p:spPr>
        <p:txBody>
          <a:bodyPr lIns="72248" tIns="72248" rIns="72248" bIns="72248">
            <a:normAutofit/>
          </a:bodyPr>
          <a:lstStyle/>
          <a:p>
            <a:pPr marL="722312" indent="-722312" defTabSz="1300162">
              <a:spcBef>
                <a:spcPts val="700"/>
              </a:spcBef>
              <a:buFont typeface="Arial"/>
              <a:buChar char="•"/>
              <a:defRPr sz="4400">
                <a:latin typeface="Arial"/>
                <a:ea typeface="Arial"/>
                <a:cs typeface="Arial"/>
                <a:sym typeface="Arial"/>
              </a:defRPr>
            </a:pPr>
            <a:r>
              <a:rPr lang="en-US" sz="4000" dirty="0"/>
              <a:t>Varying levels of health literacy/ numeracy</a:t>
            </a:r>
          </a:p>
          <a:p>
            <a:pPr marL="722312" indent="-722312" defTabSz="1300162">
              <a:spcBef>
                <a:spcPts val="700"/>
              </a:spcBef>
              <a:buFont typeface="Arial"/>
              <a:buChar char="•"/>
              <a:defRPr sz="4400">
                <a:latin typeface="Arial"/>
                <a:ea typeface="Arial"/>
                <a:cs typeface="Arial"/>
                <a:sym typeface="Arial"/>
              </a:defRPr>
            </a:pPr>
            <a:endParaRPr lang="en-US" sz="4000" dirty="0"/>
          </a:p>
          <a:p>
            <a:pPr marL="722312" indent="-722312" defTabSz="1300162">
              <a:spcBef>
                <a:spcPts val="700"/>
              </a:spcBef>
              <a:buFont typeface="Arial"/>
              <a:buChar char="•"/>
              <a:defRPr sz="4400">
                <a:latin typeface="Arial"/>
                <a:ea typeface="Arial"/>
                <a:cs typeface="Arial"/>
                <a:sym typeface="Arial"/>
              </a:defRPr>
            </a:pPr>
            <a:r>
              <a:rPr lang="en-US" sz="4000" dirty="0"/>
              <a:t>Teach back method- but don’t quiz</a:t>
            </a:r>
          </a:p>
          <a:p>
            <a:pPr marL="722312" indent="-722312" defTabSz="1300162">
              <a:spcBef>
                <a:spcPts val="700"/>
              </a:spcBef>
              <a:buFont typeface="Arial"/>
              <a:buChar char="•"/>
              <a:defRPr sz="4400">
                <a:latin typeface="Arial"/>
                <a:ea typeface="Arial"/>
                <a:cs typeface="Arial"/>
                <a:sym typeface="Arial"/>
              </a:defRPr>
            </a:pPr>
            <a:endParaRPr lang="en-US" sz="4000" dirty="0"/>
          </a:p>
          <a:p>
            <a:pPr marL="722312" indent="-722312" defTabSz="1300162">
              <a:spcBef>
                <a:spcPts val="700"/>
              </a:spcBef>
              <a:buFont typeface="Arial"/>
              <a:buChar char="•"/>
              <a:defRPr sz="4400">
                <a:latin typeface="Arial"/>
                <a:ea typeface="Arial"/>
                <a:cs typeface="Arial"/>
                <a:sym typeface="Arial"/>
              </a:defRPr>
            </a:pPr>
            <a:r>
              <a:rPr lang="en-US" sz="4000" dirty="0"/>
              <a:t>Other factors to consider:</a:t>
            </a:r>
          </a:p>
          <a:p>
            <a:pPr marL="1461191" lvl="1" indent="-722312" defTabSz="1300162">
              <a:spcBef>
                <a:spcPts val="700"/>
              </a:spcBef>
              <a:buFont typeface="Arial"/>
              <a:buChar char="•"/>
              <a:defRPr sz="4400">
                <a:latin typeface="Arial"/>
                <a:ea typeface="Arial"/>
                <a:cs typeface="Arial"/>
                <a:sym typeface="Arial"/>
              </a:defRPr>
            </a:pPr>
            <a:r>
              <a:rPr lang="en-US" sz="4000" dirty="0"/>
              <a:t>Ethnicity and cultural beliefs</a:t>
            </a:r>
          </a:p>
          <a:p>
            <a:pPr marL="1461191" lvl="1" indent="-722312" defTabSz="1300162">
              <a:spcBef>
                <a:spcPts val="700"/>
              </a:spcBef>
              <a:buFont typeface="Arial"/>
              <a:buChar char="•"/>
              <a:defRPr sz="4400">
                <a:latin typeface="Arial"/>
                <a:ea typeface="Arial"/>
                <a:cs typeface="Arial"/>
                <a:sym typeface="Arial"/>
              </a:defRPr>
            </a:pPr>
            <a:r>
              <a:rPr lang="en-US" sz="4000" dirty="0"/>
              <a:t>Food security</a:t>
            </a:r>
          </a:p>
          <a:p>
            <a:pPr marL="1461191" lvl="1" indent="-722312" defTabSz="1300162">
              <a:spcBef>
                <a:spcPts val="700"/>
              </a:spcBef>
              <a:buFont typeface="Arial"/>
              <a:buChar char="•"/>
              <a:defRPr sz="4400">
                <a:latin typeface="Arial"/>
                <a:ea typeface="Arial"/>
                <a:cs typeface="Arial"/>
                <a:sym typeface="Arial"/>
              </a:defRPr>
            </a:pPr>
            <a:r>
              <a:rPr lang="en-US" sz="4000" dirty="0"/>
              <a:t>Economics</a:t>
            </a:r>
          </a:p>
          <a:p>
            <a:pPr marL="1461191" lvl="1" indent="-722312" defTabSz="1300162">
              <a:spcBef>
                <a:spcPts val="700"/>
              </a:spcBef>
              <a:buFont typeface="Arial"/>
              <a:buChar char="•"/>
              <a:defRPr sz="4400">
                <a:latin typeface="Arial"/>
                <a:ea typeface="Arial"/>
                <a:cs typeface="Arial"/>
                <a:sym typeface="Arial"/>
              </a:defRPr>
            </a:pPr>
            <a:r>
              <a:rPr lang="en-US" sz="4000" dirty="0"/>
              <a:t>Family members opinions</a:t>
            </a:r>
            <a:endParaRPr sz="4000" dirty="0"/>
          </a:p>
        </p:txBody>
      </p:sp>
    </p:spTree>
    <p:extLst>
      <p:ext uri="{BB962C8B-B14F-4D97-AF65-F5344CB8AC3E}">
        <p14:creationId xmlns:p14="http://schemas.microsoft.com/office/powerpoint/2010/main" val="19312933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Shape 152"/>
          <p:cNvSpPr>
            <a:spLocks noGrp="1"/>
          </p:cNvSpPr>
          <p:nvPr>
            <p:ph type="title" idx="4294967295"/>
          </p:nvPr>
        </p:nvSpPr>
        <p:spPr>
          <a:xfrm>
            <a:off x="649287" y="0"/>
            <a:ext cx="11704638" cy="1516063"/>
          </a:xfrm>
          <a:prstGeom prst="rect">
            <a:avLst/>
          </a:prstGeom>
        </p:spPr>
        <p:txBody>
          <a:bodyPr lIns="72248" tIns="72248" rIns="72248" bIns="72248" anchor="ctr">
            <a:normAutofit/>
          </a:bodyPr>
          <a:lstStyle>
            <a:lvl1pPr defTabSz="1300162">
              <a:defRPr sz="5600">
                <a:latin typeface="Arial"/>
                <a:ea typeface="Arial"/>
                <a:cs typeface="Arial"/>
                <a:sym typeface="Arial"/>
              </a:defRPr>
            </a:lvl1pPr>
          </a:lstStyle>
          <a:p>
            <a:pPr>
              <a:buNone/>
            </a:pPr>
            <a:r>
              <a:rPr lang="en-US" dirty="0"/>
              <a:t>Motivational Interviewing</a:t>
            </a:r>
            <a:endParaRPr dirty="0"/>
          </a:p>
        </p:txBody>
      </p:sp>
      <p:sp>
        <p:nvSpPr>
          <p:cNvPr id="153" name="Shape 153"/>
          <p:cNvSpPr>
            <a:spLocks noGrp="1"/>
          </p:cNvSpPr>
          <p:nvPr>
            <p:ph type="body" idx="4294967295"/>
          </p:nvPr>
        </p:nvSpPr>
        <p:spPr>
          <a:xfrm>
            <a:off x="323850" y="2074985"/>
            <a:ext cx="12463463" cy="7244861"/>
          </a:xfrm>
          <a:prstGeom prst="rect">
            <a:avLst/>
          </a:prstGeom>
        </p:spPr>
        <p:txBody>
          <a:bodyPr lIns="72248" tIns="72248" rIns="72248" bIns="72248">
            <a:normAutofit/>
          </a:bodyPr>
          <a:lstStyle/>
          <a:p>
            <a:pPr marL="722312" indent="-722312" defTabSz="1300162">
              <a:spcBef>
                <a:spcPts val="700"/>
              </a:spcBef>
              <a:buFont typeface="Arial"/>
              <a:buChar char="•"/>
              <a:defRPr sz="4400">
                <a:latin typeface="Arial"/>
                <a:ea typeface="Arial"/>
                <a:cs typeface="Arial"/>
                <a:sym typeface="Arial"/>
              </a:defRPr>
            </a:pPr>
            <a:r>
              <a:rPr lang="en-US" sz="4000" dirty="0">
                <a:latin typeface="Calibri" panose="020F0502020204030204" pitchFamily="34" charset="0"/>
                <a:cs typeface="Calibri" panose="020F0502020204030204" pitchFamily="34" charset="0"/>
              </a:rPr>
              <a:t>Integrate concepts- discuss how increased exercise will reduce BP and glucose</a:t>
            </a:r>
          </a:p>
          <a:p>
            <a:pPr marL="722312" indent="-722312" defTabSz="1300162">
              <a:spcBef>
                <a:spcPts val="700"/>
              </a:spcBef>
              <a:buFont typeface="Arial"/>
              <a:buChar char="•"/>
              <a:defRPr sz="4400">
                <a:latin typeface="Arial"/>
                <a:ea typeface="Arial"/>
                <a:cs typeface="Arial"/>
                <a:sym typeface="Arial"/>
              </a:defRPr>
            </a:pPr>
            <a:r>
              <a:rPr lang="en-US" sz="4000" dirty="0">
                <a:latin typeface="Calibri" panose="020F0502020204030204" pitchFamily="34" charset="0"/>
                <a:cs typeface="Calibri" panose="020F0502020204030204" pitchFamily="34" charset="0"/>
              </a:rPr>
              <a:t>Create specific goals, WITH the PATIENT </a:t>
            </a:r>
            <a:r>
              <a:rPr lang="en-US" sz="4000" i="1" u="sng" dirty="0">
                <a:latin typeface="Calibri" panose="020F0502020204030204" pitchFamily="34" charset="0"/>
                <a:cs typeface="Calibri" panose="020F0502020204030204" pitchFamily="34" charset="0"/>
              </a:rPr>
              <a:t>and</a:t>
            </a:r>
            <a:r>
              <a:rPr lang="en-US" sz="4000" dirty="0">
                <a:latin typeface="Calibri" panose="020F0502020204030204" pitchFamily="34" charset="0"/>
                <a:cs typeface="Calibri" panose="020F0502020204030204" pitchFamily="34" charset="0"/>
              </a:rPr>
              <a:t> create a realistic way to reach them</a:t>
            </a:r>
          </a:p>
          <a:p>
            <a:pPr marL="722312" indent="-722312" defTabSz="1300162">
              <a:spcBef>
                <a:spcPts val="700"/>
              </a:spcBef>
              <a:buFont typeface="Arial"/>
              <a:buChar char="•"/>
              <a:defRPr sz="4400">
                <a:latin typeface="Arial"/>
                <a:ea typeface="Arial"/>
                <a:cs typeface="Arial"/>
                <a:sym typeface="Arial"/>
              </a:defRPr>
            </a:pPr>
            <a:r>
              <a:rPr lang="en-US" sz="4000" dirty="0">
                <a:latin typeface="Calibri" panose="020F0502020204030204" pitchFamily="34" charset="0"/>
                <a:cs typeface="Calibri" panose="020F0502020204030204" pitchFamily="34" charset="0"/>
              </a:rPr>
              <a:t>Consider the patient’s situation, insurance coverage, willingness to use different forms of the medications, and culture</a:t>
            </a:r>
          </a:p>
          <a:p>
            <a:pPr marL="722312" indent="-722312" defTabSz="1300162">
              <a:spcBef>
                <a:spcPts val="700"/>
              </a:spcBef>
              <a:buFont typeface="Arial"/>
              <a:buChar char="•"/>
              <a:defRPr sz="4400">
                <a:latin typeface="Arial"/>
                <a:ea typeface="Arial"/>
                <a:cs typeface="Arial"/>
                <a:sym typeface="Arial"/>
              </a:defRPr>
            </a:pPr>
            <a:r>
              <a:rPr lang="en-US" sz="4000" dirty="0">
                <a:latin typeface="Calibri" panose="020F0502020204030204" pitchFamily="34" charset="0"/>
                <a:cs typeface="Calibri" panose="020F0502020204030204" pitchFamily="34" charset="0"/>
              </a:rPr>
              <a:t>LISTEN to patient beliefs, particularly about meds</a:t>
            </a:r>
          </a:p>
          <a:p>
            <a:pPr marL="722312" indent="-722312" defTabSz="1300162">
              <a:spcBef>
                <a:spcPts val="700"/>
              </a:spcBef>
              <a:buFont typeface="Arial"/>
              <a:buChar char="•"/>
              <a:defRPr sz="4400">
                <a:latin typeface="Arial"/>
                <a:ea typeface="Arial"/>
                <a:cs typeface="Arial"/>
                <a:sym typeface="Arial"/>
              </a:defRPr>
            </a:pPr>
            <a:r>
              <a:rPr lang="en-US" sz="4000" dirty="0">
                <a:latin typeface="Calibri" panose="020F0502020204030204" pitchFamily="34" charset="0"/>
                <a:cs typeface="Calibri" panose="020F0502020204030204" pitchFamily="34" charset="0"/>
              </a:rPr>
              <a:t>Goal is long term risk reduction- review, review, review</a:t>
            </a:r>
          </a:p>
          <a:p>
            <a:pPr marL="722312" indent="-722312" defTabSz="1300162">
              <a:spcBef>
                <a:spcPts val="700"/>
              </a:spcBef>
              <a:buFont typeface="Arial"/>
              <a:buChar char="•"/>
              <a:defRPr sz="4400">
                <a:latin typeface="Arial"/>
                <a:ea typeface="Arial"/>
                <a:cs typeface="Arial"/>
                <a:sym typeface="Arial"/>
              </a:defRPr>
            </a:pPr>
            <a:r>
              <a:rPr lang="en-US" sz="4000" dirty="0">
                <a:latin typeface="Calibri" panose="020F0502020204030204" pitchFamily="34" charset="0"/>
                <a:cs typeface="Calibri" panose="020F0502020204030204" pitchFamily="34" charset="0"/>
              </a:rPr>
              <a:t>Persistence- “slow” progress is better than none</a:t>
            </a:r>
            <a:endParaRPr sz="4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330579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Shape 152"/>
          <p:cNvSpPr>
            <a:spLocks noGrp="1"/>
          </p:cNvSpPr>
          <p:nvPr>
            <p:ph type="title" idx="4294967295"/>
          </p:nvPr>
        </p:nvSpPr>
        <p:spPr>
          <a:xfrm>
            <a:off x="649287" y="0"/>
            <a:ext cx="11704638" cy="1869440"/>
          </a:xfrm>
          <a:prstGeom prst="rect">
            <a:avLst/>
          </a:prstGeom>
        </p:spPr>
        <p:txBody>
          <a:bodyPr lIns="72248" tIns="72248" rIns="72248" bIns="72248" anchor="ctr">
            <a:normAutofit/>
          </a:bodyPr>
          <a:lstStyle>
            <a:lvl1pPr defTabSz="1300162">
              <a:defRPr sz="5600">
                <a:latin typeface="Arial"/>
                <a:ea typeface="Arial"/>
                <a:cs typeface="Arial"/>
                <a:sym typeface="Arial"/>
              </a:defRPr>
            </a:lvl1pPr>
          </a:lstStyle>
          <a:p>
            <a:pPr>
              <a:buNone/>
            </a:pPr>
            <a:r>
              <a:rPr lang="en-US" dirty="0"/>
              <a:t>Diabetes Self Management, Education and Support</a:t>
            </a:r>
            <a:endParaRPr dirty="0"/>
          </a:p>
        </p:txBody>
      </p:sp>
      <p:sp>
        <p:nvSpPr>
          <p:cNvPr id="153" name="Shape 153"/>
          <p:cNvSpPr>
            <a:spLocks noGrp="1"/>
          </p:cNvSpPr>
          <p:nvPr>
            <p:ph type="body" idx="4294967295"/>
          </p:nvPr>
        </p:nvSpPr>
        <p:spPr>
          <a:xfrm>
            <a:off x="649287" y="3147237"/>
            <a:ext cx="11704638" cy="6496826"/>
          </a:xfrm>
          <a:prstGeom prst="rect">
            <a:avLst/>
          </a:prstGeom>
        </p:spPr>
        <p:txBody>
          <a:bodyPr lIns="72248" tIns="72248" rIns="72248" bIns="72248">
            <a:normAutofit/>
          </a:bodyPr>
          <a:lstStyle/>
          <a:p>
            <a:pPr marL="722312" indent="-722312" defTabSz="1300162">
              <a:spcBef>
                <a:spcPts val="700"/>
              </a:spcBef>
              <a:spcAft>
                <a:spcPts val="600"/>
              </a:spcAft>
              <a:buFont typeface="Arial"/>
              <a:buChar char="•"/>
              <a:defRPr sz="4400">
                <a:latin typeface="Arial"/>
                <a:ea typeface="Arial"/>
                <a:cs typeface="Arial"/>
                <a:sym typeface="Arial"/>
              </a:defRPr>
            </a:pPr>
            <a:r>
              <a:rPr lang="en-US" sz="4000" dirty="0">
                <a:latin typeface="Calibri" panose="020F0502020204030204" pitchFamily="34" charset="0"/>
                <a:cs typeface="Calibri" panose="020F0502020204030204" pitchFamily="34" charset="0"/>
              </a:rPr>
              <a:t>Overall medication adherence rates are about 70%- shared decision making is critical in improving this outcome</a:t>
            </a:r>
          </a:p>
          <a:p>
            <a:pPr marL="722312" indent="-722312" defTabSz="1300162">
              <a:spcBef>
                <a:spcPts val="700"/>
              </a:spcBef>
              <a:spcAft>
                <a:spcPts val="600"/>
              </a:spcAft>
              <a:buFont typeface="Arial"/>
              <a:buChar char="•"/>
              <a:defRPr sz="4400">
                <a:latin typeface="Arial"/>
                <a:ea typeface="Arial"/>
                <a:cs typeface="Arial"/>
                <a:sym typeface="Arial"/>
              </a:defRPr>
            </a:pPr>
            <a:endParaRPr lang="en-US" sz="4000" dirty="0">
              <a:latin typeface="Calibri" panose="020F0502020204030204" pitchFamily="34" charset="0"/>
              <a:cs typeface="Calibri" panose="020F0502020204030204" pitchFamily="34" charset="0"/>
            </a:endParaRPr>
          </a:p>
          <a:p>
            <a:pPr marL="722312" indent="-722312" defTabSz="1300162">
              <a:spcBef>
                <a:spcPts val="700"/>
              </a:spcBef>
              <a:spcAft>
                <a:spcPts val="600"/>
              </a:spcAft>
              <a:buFont typeface="Arial"/>
              <a:buChar char="•"/>
              <a:defRPr sz="4400">
                <a:latin typeface="Arial"/>
                <a:ea typeface="Arial"/>
                <a:cs typeface="Arial"/>
                <a:sym typeface="Arial"/>
              </a:defRPr>
            </a:pPr>
            <a:r>
              <a:rPr lang="en-US" sz="4000" dirty="0">
                <a:latin typeface="Calibri" panose="020F0502020204030204" pitchFamily="34" charset="0"/>
                <a:cs typeface="Calibri" panose="020F0502020204030204" pitchFamily="34" charset="0"/>
              </a:rPr>
              <a:t>Involve the family and friends- get loved ones to assist you with helping your patient make wise choices</a:t>
            </a:r>
          </a:p>
          <a:p>
            <a:pPr marL="722312" indent="-722312" defTabSz="1300162">
              <a:spcBef>
                <a:spcPts val="700"/>
              </a:spcBef>
              <a:spcAft>
                <a:spcPts val="600"/>
              </a:spcAft>
              <a:buFont typeface="Arial"/>
              <a:buChar char="•"/>
              <a:defRPr sz="4400">
                <a:latin typeface="Arial"/>
                <a:ea typeface="Arial"/>
                <a:cs typeface="Arial"/>
                <a:sym typeface="Arial"/>
              </a:defRPr>
            </a:pPr>
            <a:endParaRPr lang="en-US" sz="4000" dirty="0">
              <a:latin typeface="Calibri" panose="020F0502020204030204" pitchFamily="34" charset="0"/>
              <a:cs typeface="Calibri" panose="020F0502020204030204" pitchFamily="34" charset="0"/>
            </a:endParaRPr>
          </a:p>
          <a:p>
            <a:pPr marL="722312" indent="-722312" defTabSz="1300162">
              <a:spcBef>
                <a:spcPts val="700"/>
              </a:spcBef>
              <a:spcAft>
                <a:spcPts val="600"/>
              </a:spcAft>
              <a:buFont typeface="Arial"/>
              <a:buChar char="•"/>
              <a:defRPr sz="4400">
                <a:latin typeface="Arial"/>
                <a:ea typeface="Arial"/>
                <a:cs typeface="Arial"/>
                <a:sym typeface="Arial"/>
              </a:defRPr>
            </a:pPr>
            <a:r>
              <a:rPr lang="en-US" sz="4000" dirty="0">
                <a:latin typeface="Calibri" panose="020F0502020204030204" pitchFamily="34" charset="0"/>
                <a:cs typeface="Calibri" panose="020F0502020204030204" pitchFamily="34" charset="0"/>
              </a:rPr>
              <a:t>Be relentlessly positive!</a:t>
            </a:r>
            <a:endParaRPr sz="4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832472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5" name="Rectangle 164">
            <a:extLst>
              <a:ext uri="{FF2B5EF4-FFF2-40B4-BE49-F238E27FC236}">
                <a16:creationId xmlns:a16="http://schemas.microsoft.com/office/drawing/2014/main" id="{94BFCCA4-109C-4B21-816E-144FE75C38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1548" cy="975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Shape 152"/>
          <p:cNvSpPr>
            <a:spLocks noGrp="1"/>
          </p:cNvSpPr>
          <p:nvPr>
            <p:ph type="title" idx="4294967295"/>
          </p:nvPr>
        </p:nvSpPr>
        <p:spPr>
          <a:xfrm>
            <a:off x="672979" y="915150"/>
            <a:ext cx="4155049" cy="2626297"/>
          </a:xfrm>
          <a:prstGeom prst="rect">
            <a:avLst/>
          </a:prstGeom>
        </p:spPr>
        <p:txBody>
          <a:bodyPr vert="horz" lIns="91440" tIns="45720" rIns="91440" bIns="45720" rtlCol="0" anchor="b">
            <a:normAutofit/>
          </a:bodyPr>
          <a:lstStyle>
            <a:lvl1pPr defTabSz="1300162">
              <a:defRPr sz="5600">
                <a:latin typeface="Arial"/>
                <a:ea typeface="Arial"/>
                <a:cs typeface="Arial"/>
                <a:sym typeface="Arial"/>
              </a:defRPr>
            </a:lvl1pPr>
          </a:lstStyle>
          <a:p>
            <a:pPr algn="l" defTabSz="914400">
              <a:lnSpc>
                <a:spcPct val="90000"/>
              </a:lnSpc>
              <a:spcBef>
                <a:spcPct val="0"/>
              </a:spcBef>
              <a:buNone/>
            </a:pPr>
            <a:r>
              <a:rPr lang="en-US" sz="4200" kern="1200">
                <a:solidFill>
                  <a:schemeClr val="tx1"/>
                </a:solidFill>
                <a:latin typeface="+mj-lt"/>
                <a:ea typeface="+mj-ea"/>
                <a:cs typeface="+mj-cs"/>
              </a:rPr>
              <a:t>Diabetes Treatment- Monitoring Equipment</a:t>
            </a:r>
          </a:p>
        </p:txBody>
      </p:sp>
      <p:sp>
        <p:nvSpPr>
          <p:cNvPr id="167" name="sketch line">
            <a:extLst>
              <a:ext uri="{FF2B5EF4-FFF2-40B4-BE49-F238E27FC236}">
                <a16:creationId xmlns:a16="http://schemas.microsoft.com/office/drawing/2014/main" id="{0059B5C0-FEC8-4370-AF45-02E3AEF6F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752" y="3781893"/>
            <a:ext cx="3803904" cy="26010"/>
          </a:xfrm>
          <a:custGeom>
            <a:avLst/>
            <a:gdLst>
              <a:gd name="csX0" fmla="*/ 0 w 3803904"/>
              <a:gd name="csY0" fmla="*/ 0 h 26010"/>
              <a:gd name="csX1" fmla="*/ 710062 w 3803904"/>
              <a:gd name="csY1" fmla="*/ 0 h 26010"/>
              <a:gd name="csX2" fmla="*/ 1420124 w 3803904"/>
              <a:gd name="csY2" fmla="*/ 0 h 26010"/>
              <a:gd name="csX3" fmla="*/ 1939991 w 3803904"/>
              <a:gd name="csY3" fmla="*/ 0 h 26010"/>
              <a:gd name="csX4" fmla="*/ 2573975 w 3803904"/>
              <a:gd name="csY4" fmla="*/ 0 h 26010"/>
              <a:gd name="csX5" fmla="*/ 3131881 w 3803904"/>
              <a:gd name="csY5" fmla="*/ 0 h 26010"/>
              <a:gd name="csX6" fmla="*/ 3803904 w 3803904"/>
              <a:gd name="csY6" fmla="*/ 0 h 26010"/>
              <a:gd name="csX7" fmla="*/ 3803904 w 3803904"/>
              <a:gd name="csY7" fmla="*/ 26010 h 26010"/>
              <a:gd name="csX8" fmla="*/ 3169920 w 3803904"/>
              <a:gd name="csY8" fmla="*/ 26010 h 26010"/>
              <a:gd name="csX9" fmla="*/ 2612014 w 3803904"/>
              <a:gd name="csY9" fmla="*/ 26010 h 26010"/>
              <a:gd name="csX10" fmla="*/ 1978030 w 3803904"/>
              <a:gd name="csY10" fmla="*/ 26010 h 26010"/>
              <a:gd name="csX11" fmla="*/ 1382085 w 3803904"/>
              <a:gd name="csY11" fmla="*/ 26010 h 26010"/>
              <a:gd name="csX12" fmla="*/ 824179 w 3803904"/>
              <a:gd name="csY12" fmla="*/ 26010 h 26010"/>
              <a:gd name="csX13" fmla="*/ 0 w 3803904"/>
              <a:gd name="csY13" fmla="*/ 26010 h 26010"/>
              <a:gd name="csX14" fmla="*/ 0 w 3803904"/>
              <a:gd name="csY14" fmla="*/ 0 h 260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3803904" h="26010" fill="none" extrusionOk="0">
                <a:moveTo>
                  <a:pt x="0" y="0"/>
                </a:moveTo>
                <a:cubicBezTo>
                  <a:pt x="165190" y="-35404"/>
                  <a:pt x="469711" y="11327"/>
                  <a:pt x="710062" y="0"/>
                </a:cubicBezTo>
                <a:cubicBezTo>
                  <a:pt x="950413" y="-11327"/>
                  <a:pt x="1119444" y="-21714"/>
                  <a:pt x="1420124" y="0"/>
                </a:cubicBezTo>
                <a:cubicBezTo>
                  <a:pt x="1720804" y="21714"/>
                  <a:pt x="1714684" y="16968"/>
                  <a:pt x="1939991" y="0"/>
                </a:cubicBezTo>
                <a:cubicBezTo>
                  <a:pt x="2165298" y="-16968"/>
                  <a:pt x="2426999" y="-26498"/>
                  <a:pt x="2573975" y="0"/>
                </a:cubicBezTo>
                <a:cubicBezTo>
                  <a:pt x="2720951" y="26498"/>
                  <a:pt x="2959578" y="9480"/>
                  <a:pt x="3131881" y="0"/>
                </a:cubicBezTo>
                <a:cubicBezTo>
                  <a:pt x="3304184" y="-9480"/>
                  <a:pt x="3647453" y="-1736"/>
                  <a:pt x="3803904" y="0"/>
                </a:cubicBezTo>
                <a:cubicBezTo>
                  <a:pt x="3804396" y="9107"/>
                  <a:pt x="3804042" y="14754"/>
                  <a:pt x="3803904" y="26010"/>
                </a:cubicBezTo>
                <a:cubicBezTo>
                  <a:pt x="3627009" y="39753"/>
                  <a:pt x="3310976" y="17979"/>
                  <a:pt x="3169920" y="26010"/>
                </a:cubicBezTo>
                <a:cubicBezTo>
                  <a:pt x="3028864" y="34041"/>
                  <a:pt x="2779230" y="19110"/>
                  <a:pt x="2612014" y="26010"/>
                </a:cubicBezTo>
                <a:cubicBezTo>
                  <a:pt x="2444798" y="32910"/>
                  <a:pt x="2129598" y="2660"/>
                  <a:pt x="1978030" y="26010"/>
                </a:cubicBezTo>
                <a:cubicBezTo>
                  <a:pt x="1826462" y="49360"/>
                  <a:pt x="1572864" y="55455"/>
                  <a:pt x="1382085" y="26010"/>
                </a:cubicBezTo>
                <a:cubicBezTo>
                  <a:pt x="1191306" y="-3435"/>
                  <a:pt x="970043" y="40873"/>
                  <a:pt x="824179" y="26010"/>
                </a:cubicBezTo>
                <a:cubicBezTo>
                  <a:pt x="678315" y="11147"/>
                  <a:pt x="238871" y="5963"/>
                  <a:pt x="0" y="26010"/>
                </a:cubicBezTo>
                <a:cubicBezTo>
                  <a:pt x="395" y="16274"/>
                  <a:pt x="398" y="12821"/>
                  <a:pt x="0" y="0"/>
                </a:cubicBezTo>
                <a:close/>
              </a:path>
              <a:path w="3803904" h="26010" stroke="0" extrusionOk="0">
                <a:moveTo>
                  <a:pt x="0" y="0"/>
                </a:moveTo>
                <a:cubicBezTo>
                  <a:pt x="298135" y="-14914"/>
                  <a:pt x="420991" y="-7612"/>
                  <a:pt x="633984" y="0"/>
                </a:cubicBezTo>
                <a:cubicBezTo>
                  <a:pt x="846977" y="7612"/>
                  <a:pt x="1071685" y="-28507"/>
                  <a:pt x="1306007" y="0"/>
                </a:cubicBezTo>
                <a:cubicBezTo>
                  <a:pt x="1540329" y="28507"/>
                  <a:pt x="1660807" y="8116"/>
                  <a:pt x="1901952" y="0"/>
                </a:cubicBezTo>
                <a:cubicBezTo>
                  <a:pt x="2143098" y="-8116"/>
                  <a:pt x="2367855" y="-22295"/>
                  <a:pt x="2612014" y="0"/>
                </a:cubicBezTo>
                <a:cubicBezTo>
                  <a:pt x="2856173" y="22295"/>
                  <a:pt x="2975778" y="-15824"/>
                  <a:pt x="3245998" y="0"/>
                </a:cubicBezTo>
                <a:cubicBezTo>
                  <a:pt x="3516218" y="15824"/>
                  <a:pt x="3621586" y="8084"/>
                  <a:pt x="3803904" y="0"/>
                </a:cubicBezTo>
                <a:cubicBezTo>
                  <a:pt x="3804276" y="9657"/>
                  <a:pt x="3804892" y="16359"/>
                  <a:pt x="3803904" y="26010"/>
                </a:cubicBezTo>
                <a:cubicBezTo>
                  <a:pt x="3638360" y="22989"/>
                  <a:pt x="3345542" y="53313"/>
                  <a:pt x="3169920" y="26010"/>
                </a:cubicBezTo>
                <a:cubicBezTo>
                  <a:pt x="2994298" y="-1293"/>
                  <a:pt x="2619945" y="-2950"/>
                  <a:pt x="2459858" y="26010"/>
                </a:cubicBezTo>
                <a:cubicBezTo>
                  <a:pt x="2299771" y="54970"/>
                  <a:pt x="2056432" y="11062"/>
                  <a:pt x="1787835" y="26010"/>
                </a:cubicBezTo>
                <a:cubicBezTo>
                  <a:pt x="1519238" y="40958"/>
                  <a:pt x="1390182" y="32235"/>
                  <a:pt x="1229929" y="26010"/>
                </a:cubicBezTo>
                <a:cubicBezTo>
                  <a:pt x="1069676" y="19785"/>
                  <a:pt x="897737" y="25765"/>
                  <a:pt x="710062" y="26010"/>
                </a:cubicBezTo>
                <a:cubicBezTo>
                  <a:pt x="522387" y="26255"/>
                  <a:pt x="311465" y="47983"/>
                  <a:pt x="0" y="26010"/>
                </a:cubicBezTo>
                <a:cubicBezTo>
                  <a:pt x="163" y="15516"/>
                  <a:pt x="-80" y="624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448976505">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Shape 153"/>
          <p:cNvSpPr>
            <a:spLocks noGrp="1"/>
          </p:cNvSpPr>
          <p:nvPr>
            <p:ph type="body" idx="4294967295"/>
          </p:nvPr>
        </p:nvSpPr>
        <p:spPr>
          <a:xfrm>
            <a:off x="672998" y="3992415"/>
            <a:ext cx="4155223" cy="4816212"/>
          </a:xfrm>
          <a:prstGeom prst="rect">
            <a:avLst/>
          </a:prstGeom>
        </p:spPr>
        <p:txBody>
          <a:bodyPr vert="horz" lIns="91440" tIns="45720" rIns="91440" bIns="45720" rtlCol="0">
            <a:normAutofit/>
          </a:bodyPr>
          <a:lstStyle/>
          <a:p>
            <a:pPr marL="722312" indent="-228600" defTabSz="914400">
              <a:lnSpc>
                <a:spcPct val="90000"/>
              </a:lnSpc>
              <a:spcBef>
                <a:spcPts val="700"/>
              </a:spcBef>
              <a:buFont typeface="Arial" panose="020B0604020202020204" pitchFamily="34" charset="0"/>
              <a:buChar char="•"/>
              <a:defRPr sz="4400">
                <a:latin typeface="Arial"/>
                <a:ea typeface="Arial"/>
                <a:cs typeface="Arial"/>
                <a:sym typeface="Arial"/>
              </a:defRPr>
            </a:pPr>
            <a:r>
              <a:rPr lang="en-US" sz="3200" kern="1200" dirty="0">
                <a:solidFill>
                  <a:schemeClr val="tx1"/>
                </a:solidFill>
                <a:latin typeface="+mn-lt"/>
                <a:ea typeface="+mn-ea"/>
                <a:cs typeface="+mn-cs"/>
              </a:rPr>
              <a:t>Blood Glucose Monitors with Lancets &amp; Strips</a:t>
            </a:r>
          </a:p>
          <a:p>
            <a:pPr marL="722312" indent="-228600" defTabSz="914400">
              <a:lnSpc>
                <a:spcPct val="90000"/>
              </a:lnSpc>
              <a:spcBef>
                <a:spcPts val="700"/>
              </a:spcBef>
              <a:buFont typeface="Arial" panose="020B0604020202020204" pitchFamily="34" charset="0"/>
              <a:buChar char="•"/>
              <a:defRPr sz="4400">
                <a:latin typeface="Arial"/>
                <a:ea typeface="Arial"/>
                <a:cs typeface="Arial"/>
                <a:sym typeface="Arial"/>
              </a:defRPr>
            </a:pPr>
            <a:r>
              <a:rPr lang="en-US" sz="3200" kern="1200" dirty="0">
                <a:solidFill>
                  <a:schemeClr val="tx1"/>
                </a:solidFill>
                <a:latin typeface="+mn-lt"/>
                <a:ea typeface="+mn-ea"/>
                <a:cs typeface="+mn-cs"/>
              </a:rPr>
              <a:t>CGM – Continuous Glucose Monitors</a:t>
            </a:r>
          </a:p>
          <a:p>
            <a:pPr marL="722312" indent="-228600" defTabSz="914400">
              <a:lnSpc>
                <a:spcPct val="90000"/>
              </a:lnSpc>
              <a:spcBef>
                <a:spcPts val="700"/>
              </a:spcBef>
              <a:buFont typeface="Arial" panose="020B0604020202020204" pitchFamily="34" charset="0"/>
              <a:buChar char="•"/>
              <a:defRPr sz="4400">
                <a:latin typeface="Arial"/>
                <a:ea typeface="Arial"/>
                <a:cs typeface="Arial"/>
                <a:sym typeface="Arial"/>
              </a:defRPr>
            </a:pPr>
            <a:r>
              <a:rPr lang="en-US" sz="3200" kern="1200" dirty="0">
                <a:solidFill>
                  <a:schemeClr val="tx1"/>
                </a:solidFill>
                <a:latin typeface="+mn-lt"/>
                <a:ea typeface="+mn-ea"/>
                <a:cs typeface="+mn-cs"/>
              </a:rPr>
              <a:t>Logs to track their data</a:t>
            </a:r>
          </a:p>
        </p:txBody>
      </p:sp>
      <p:pic>
        <p:nvPicPr>
          <p:cNvPr id="5" name="Picture 2" descr="Scan FreeStyle Libre CGM Sensor with Your iPhone! FreeStyle LibreLink and  LibreLinkUp Apps Available in US | diaTribe">
            <a:extLst>
              <a:ext uri="{FF2B5EF4-FFF2-40B4-BE49-F238E27FC236}">
                <a16:creationId xmlns:a16="http://schemas.microsoft.com/office/drawing/2014/main" id="{2A971BE1-3278-4AE8-126F-ABD1EB15CDA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tretch/>
        </p:blipFill>
        <p:spPr bwMode="auto">
          <a:xfrm>
            <a:off x="5755892" y="234086"/>
            <a:ext cx="2445617" cy="491581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Where To Put CGM On Arm 2026: Right Placement Guide!">
            <a:extLst>
              <a:ext uri="{FF2B5EF4-FFF2-40B4-BE49-F238E27FC236}">
                <a16:creationId xmlns:a16="http://schemas.microsoft.com/office/drawing/2014/main" id="{8A435674-7BA7-9056-B48D-678F5CBC4F81}"/>
              </a:ext>
            </a:extLst>
          </p:cNvPr>
          <p:cNvPicPr>
            <a:picLocks noChangeAspect="1"/>
          </p:cNvPicPr>
          <p:nvPr/>
        </p:nvPicPr>
        <p:blipFill>
          <a:blip r:embed="rId3"/>
          <a:stretch>
            <a:fillRect/>
          </a:stretch>
        </p:blipFill>
        <p:spPr>
          <a:xfrm>
            <a:off x="8797747" y="765571"/>
            <a:ext cx="4037990" cy="2695358"/>
          </a:xfrm>
          <a:prstGeom prst="rect">
            <a:avLst/>
          </a:prstGeom>
        </p:spPr>
      </p:pic>
      <p:pic>
        <p:nvPicPr>
          <p:cNvPr id="3" name="Picture 2">
            <a:extLst>
              <a:ext uri="{FF2B5EF4-FFF2-40B4-BE49-F238E27FC236}">
                <a16:creationId xmlns:a16="http://schemas.microsoft.com/office/drawing/2014/main" id="{6F17FBBC-AC48-8345-8CC6-29F506B93A41}"/>
              </a:ext>
            </a:extLst>
          </p:cNvPr>
          <p:cNvPicPr>
            <a:picLocks noChangeAspect="1"/>
          </p:cNvPicPr>
          <p:nvPr/>
        </p:nvPicPr>
        <p:blipFill>
          <a:blip r:embed="rId4"/>
          <a:stretch>
            <a:fillRect/>
          </a:stretch>
        </p:blipFill>
        <p:spPr>
          <a:xfrm>
            <a:off x="5325465" y="5999816"/>
            <a:ext cx="3306471" cy="2207069"/>
          </a:xfrm>
          <a:prstGeom prst="rect">
            <a:avLst/>
          </a:prstGeom>
        </p:spPr>
      </p:pic>
      <p:pic>
        <p:nvPicPr>
          <p:cNvPr id="4" name="Picture 3">
            <a:extLst>
              <a:ext uri="{FF2B5EF4-FFF2-40B4-BE49-F238E27FC236}">
                <a16:creationId xmlns:a16="http://schemas.microsoft.com/office/drawing/2014/main" id="{5DC24237-59B4-7648-B353-47265A34D098}"/>
              </a:ext>
            </a:extLst>
          </p:cNvPr>
          <p:cNvPicPr>
            <a:picLocks noChangeAspect="1"/>
          </p:cNvPicPr>
          <p:nvPr/>
        </p:nvPicPr>
        <p:blipFill>
          <a:blip r:embed="rId5"/>
          <a:stretch>
            <a:fillRect/>
          </a:stretch>
        </p:blipFill>
        <p:spPr>
          <a:xfrm>
            <a:off x="8797747" y="4498569"/>
            <a:ext cx="4037990" cy="4037990"/>
          </a:xfrm>
          <a:prstGeom prst="rect">
            <a:avLst/>
          </a:prstGeom>
        </p:spPr>
      </p:pic>
    </p:spTree>
    <p:extLst>
      <p:ext uri="{BB962C8B-B14F-4D97-AF65-F5344CB8AC3E}">
        <p14:creationId xmlns:p14="http://schemas.microsoft.com/office/powerpoint/2010/main" val="16082896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32AB940-8524-489B-8878-3955D3C11571}"/>
            </a:ext>
          </a:extLst>
        </p:cNvPr>
        <p:cNvGrpSpPr/>
        <p:nvPr/>
      </p:nvGrpSpPr>
      <p:grpSpPr>
        <a:xfrm>
          <a:off x="0" y="0"/>
          <a:ext cx="0" cy="0"/>
          <a:chOff x="0" y="0"/>
          <a:chExt cx="0" cy="0"/>
        </a:xfrm>
      </p:grpSpPr>
      <p:sp useBgFill="1">
        <p:nvSpPr>
          <p:cNvPr id="165" name="Rectangle 164">
            <a:extLst>
              <a:ext uri="{FF2B5EF4-FFF2-40B4-BE49-F238E27FC236}">
                <a16:creationId xmlns:a16="http://schemas.microsoft.com/office/drawing/2014/main" id="{927A8FFD-02EF-0D0F-692E-A7942257CD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1548" cy="975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Shape 152">
            <a:extLst>
              <a:ext uri="{FF2B5EF4-FFF2-40B4-BE49-F238E27FC236}">
                <a16:creationId xmlns:a16="http://schemas.microsoft.com/office/drawing/2014/main" id="{81204715-7EAB-C077-9911-0B6D98A11C59}"/>
              </a:ext>
            </a:extLst>
          </p:cNvPr>
          <p:cNvSpPr>
            <a:spLocks noGrp="1"/>
          </p:cNvSpPr>
          <p:nvPr>
            <p:ph type="title" idx="4294967295"/>
          </p:nvPr>
        </p:nvSpPr>
        <p:spPr>
          <a:xfrm>
            <a:off x="672979" y="915150"/>
            <a:ext cx="4155049" cy="2626297"/>
          </a:xfrm>
          <a:prstGeom prst="rect">
            <a:avLst/>
          </a:prstGeom>
        </p:spPr>
        <p:txBody>
          <a:bodyPr vert="horz" lIns="91440" tIns="45720" rIns="91440" bIns="45720" rtlCol="0" anchor="b">
            <a:normAutofit/>
          </a:bodyPr>
          <a:lstStyle>
            <a:lvl1pPr defTabSz="1300162">
              <a:defRPr sz="5600">
                <a:latin typeface="Arial"/>
                <a:ea typeface="Arial"/>
                <a:cs typeface="Arial"/>
                <a:sym typeface="Arial"/>
              </a:defRPr>
            </a:lvl1pPr>
          </a:lstStyle>
          <a:p>
            <a:pPr algn="l" defTabSz="914400">
              <a:lnSpc>
                <a:spcPct val="90000"/>
              </a:lnSpc>
              <a:spcBef>
                <a:spcPct val="0"/>
              </a:spcBef>
              <a:buNone/>
            </a:pPr>
            <a:r>
              <a:rPr lang="en-US" sz="4200" kern="1200">
                <a:solidFill>
                  <a:schemeClr val="tx1"/>
                </a:solidFill>
                <a:latin typeface="+mj-lt"/>
                <a:ea typeface="+mj-ea"/>
                <a:cs typeface="+mj-cs"/>
              </a:rPr>
              <a:t>Diabetes Treatment- Monitoring Equipment</a:t>
            </a:r>
          </a:p>
        </p:txBody>
      </p:sp>
      <p:sp>
        <p:nvSpPr>
          <p:cNvPr id="167" name="sketch line">
            <a:extLst>
              <a:ext uri="{FF2B5EF4-FFF2-40B4-BE49-F238E27FC236}">
                <a16:creationId xmlns:a16="http://schemas.microsoft.com/office/drawing/2014/main" id="{33839FA1-8AF7-6ED5-7144-60A2A22143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752" y="3781893"/>
            <a:ext cx="3803904" cy="26010"/>
          </a:xfrm>
          <a:custGeom>
            <a:avLst/>
            <a:gdLst>
              <a:gd name="csX0" fmla="*/ 0 w 3803904"/>
              <a:gd name="csY0" fmla="*/ 0 h 26010"/>
              <a:gd name="csX1" fmla="*/ 710062 w 3803904"/>
              <a:gd name="csY1" fmla="*/ 0 h 26010"/>
              <a:gd name="csX2" fmla="*/ 1420124 w 3803904"/>
              <a:gd name="csY2" fmla="*/ 0 h 26010"/>
              <a:gd name="csX3" fmla="*/ 1939991 w 3803904"/>
              <a:gd name="csY3" fmla="*/ 0 h 26010"/>
              <a:gd name="csX4" fmla="*/ 2573975 w 3803904"/>
              <a:gd name="csY4" fmla="*/ 0 h 26010"/>
              <a:gd name="csX5" fmla="*/ 3131881 w 3803904"/>
              <a:gd name="csY5" fmla="*/ 0 h 26010"/>
              <a:gd name="csX6" fmla="*/ 3803904 w 3803904"/>
              <a:gd name="csY6" fmla="*/ 0 h 26010"/>
              <a:gd name="csX7" fmla="*/ 3803904 w 3803904"/>
              <a:gd name="csY7" fmla="*/ 26010 h 26010"/>
              <a:gd name="csX8" fmla="*/ 3169920 w 3803904"/>
              <a:gd name="csY8" fmla="*/ 26010 h 26010"/>
              <a:gd name="csX9" fmla="*/ 2612014 w 3803904"/>
              <a:gd name="csY9" fmla="*/ 26010 h 26010"/>
              <a:gd name="csX10" fmla="*/ 1978030 w 3803904"/>
              <a:gd name="csY10" fmla="*/ 26010 h 26010"/>
              <a:gd name="csX11" fmla="*/ 1382085 w 3803904"/>
              <a:gd name="csY11" fmla="*/ 26010 h 26010"/>
              <a:gd name="csX12" fmla="*/ 824179 w 3803904"/>
              <a:gd name="csY12" fmla="*/ 26010 h 26010"/>
              <a:gd name="csX13" fmla="*/ 0 w 3803904"/>
              <a:gd name="csY13" fmla="*/ 26010 h 26010"/>
              <a:gd name="csX14" fmla="*/ 0 w 3803904"/>
              <a:gd name="csY14" fmla="*/ 0 h 260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3803904" h="26010" fill="none" extrusionOk="0">
                <a:moveTo>
                  <a:pt x="0" y="0"/>
                </a:moveTo>
                <a:cubicBezTo>
                  <a:pt x="165190" y="-35404"/>
                  <a:pt x="469711" y="11327"/>
                  <a:pt x="710062" y="0"/>
                </a:cubicBezTo>
                <a:cubicBezTo>
                  <a:pt x="950413" y="-11327"/>
                  <a:pt x="1119444" y="-21714"/>
                  <a:pt x="1420124" y="0"/>
                </a:cubicBezTo>
                <a:cubicBezTo>
                  <a:pt x="1720804" y="21714"/>
                  <a:pt x="1714684" y="16968"/>
                  <a:pt x="1939991" y="0"/>
                </a:cubicBezTo>
                <a:cubicBezTo>
                  <a:pt x="2165298" y="-16968"/>
                  <a:pt x="2426999" y="-26498"/>
                  <a:pt x="2573975" y="0"/>
                </a:cubicBezTo>
                <a:cubicBezTo>
                  <a:pt x="2720951" y="26498"/>
                  <a:pt x="2959578" y="9480"/>
                  <a:pt x="3131881" y="0"/>
                </a:cubicBezTo>
                <a:cubicBezTo>
                  <a:pt x="3304184" y="-9480"/>
                  <a:pt x="3647453" y="-1736"/>
                  <a:pt x="3803904" y="0"/>
                </a:cubicBezTo>
                <a:cubicBezTo>
                  <a:pt x="3804396" y="9107"/>
                  <a:pt x="3804042" y="14754"/>
                  <a:pt x="3803904" y="26010"/>
                </a:cubicBezTo>
                <a:cubicBezTo>
                  <a:pt x="3627009" y="39753"/>
                  <a:pt x="3310976" y="17979"/>
                  <a:pt x="3169920" y="26010"/>
                </a:cubicBezTo>
                <a:cubicBezTo>
                  <a:pt x="3028864" y="34041"/>
                  <a:pt x="2779230" y="19110"/>
                  <a:pt x="2612014" y="26010"/>
                </a:cubicBezTo>
                <a:cubicBezTo>
                  <a:pt x="2444798" y="32910"/>
                  <a:pt x="2129598" y="2660"/>
                  <a:pt x="1978030" y="26010"/>
                </a:cubicBezTo>
                <a:cubicBezTo>
                  <a:pt x="1826462" y="49360"/>
                  <a:pt x="1572864" y="55455"/>
                  <a:pt x="1382085" y="26010"/>
                </a:cubicBezTo>
                <a:cubicBezTo>
                  <a:pt x="1191306" y="-3435"/>
                  <a:pt x="970043" y="40873"/>
                  <a:pt x="824179" y="26010"/>
                </a:cubicBezTo>
                <a:cubicBezTo>
                  <a:pt x="678315" y="11147"/>
                  <a:pt x="238871" y="5963"/>
                  <a:pt x="0" y="26010"/>
                </a:cubicBezTo>
                <a:cubicBezTo>
                  <a:pt x="395" y="16274"/>
                  <a:pt x="398" y="12821"/>
                  <a:pt x="0" y="0"/>
                </a:cubicBezTo>
                <a:close/>
              </a:path>
              <a:path w="3803904" h="26010" stroke="0" extrusionOk="0">
                <a:moveTo>
                  <a:pt x="0" y="0"/>
                </a:moveTo>
                <a:cubicBezTo>
                  <a:pt x="298135" y="-14914"/>
                  <a:pt x="420991" y="-7612"/>
                  <a:pt x="633984" y="0"/>
                </a:cubicBezTo>
                <a:cubicBezTo>
                  <a:pt x="846977" y="7612"/>
                  <a:pt x="1071685" y="-28507"/>
                  <a:pt x="1306007" y="0"/>
                </a:cubicBezTo>
                <a:cubicBezTo>
                  <a:pt x="1540329" y="28507"/>
                  <a:pt x="1660807" y="8116"/>
                  <a:pt x="1901952" y="0"/>
                </a:cubicBezTo>
                <a:cubicBezTo>
                  <a:pt x="2143098" y="-8116"/>
                  <a:pt x="2367855" y="-22295"/>
                  <a:pt x="2612014" y="0"/>
                </a:cubicBezTo>
                <a:cubicBezTo>
                  <a:pt x="2856173" y="22295"/>
                  <a:pt x="2975778" y="-15824"/>
                  <a:pt x="3245998" y="0"/>
                </a:cubicBezTo>
                <a:cubicBezTo>
                  <a:pt x="3516218" y="15824"/>
                  <a:pt x="3621586" y="8084"/>
                  <a:pt x="3803904" y="0"/>
                </a:cubicBezTo>
                <a:cubicBezTo>
                  <a:pt x="3804276" y="9657"/>
                  <a:pt x="3804892" y="16359"/>
                  <a:pt x="3803904" y="26010"/>
                </a:cubicBezTo>
                <a:cubicBezTo>
                  <a:pt x="3638360" y="22989"/>
                  <a:pt x="3345542" y="53313"/>
                  <a:pt x="3169920" y="26010"/>
                </a:cubicBezTo>
                <a:cubicBezTo>
                  <a:pt x="2994298" y="-1293"/>
                  <a:pt x="2619945" y="-2950"/>
                  <a:pt x="2459858" y="26010"/>
                </a:cubicBezTo>
                <a:cubicBezTo>
                  <a:pt x="2299771" y="54970"/>
                  <a:pt x="2056432" y="11062"/>
                  <a:pt x="1787835" y="26010"/>
                </a:cubicBezTo>
                <a:cubicBezTo>
                  <a:pt x="1519238" y="40958"/>
                  <a:pt x="1390182" y="32235"/>
                  <a:pt x="1229929" y="26010"/>
                </a:cubicBezTo>
                <a:cubicBezTo>
                  <a:pt x="1069676" y="19785"/>
                  <a:pt x="897737" y="25765"/>
                  <a:pt x="710062" y="26010"/>
                </a:cubicBezTo>
                <a:cubicBezTo>
                  <a:pt x="522387" y="26255"/>
                  <a:pt x="311465" y="47983"/>
                  <a:pt x="0" y="26010"/>
                </a:cubicBezTo>
                <a:cubicBezTo>
                  <a:pt x="163" y="15516"/>
                  <a:pt x="-80" y="624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448976505">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Shape 153">
            <a:extLst>
              <a:ext uri="{FF2B5EF4-FFF2-40B4-BE49-F238E27FC236}">
                <a16:creationId xmlns:a16="http://schemas.microsoft.com/office/drawing/2014/main" id="{13664251-C29E-09FA-B0B1-41D8602980C6}"/>
              </a:ext>
            </a:extLst>
          </p:cNvPr>
          <p:cNvSpPr>
            <a:spLocks noGrp="1"/>
          </p:cNvSpPr>
          <p:nvPr>
            <p:ph type="body" idx="4294967295"/>
          </p:nvPr>
        </p:nvSpPr>
        <p:spPr>
          <a:xfrm>
            <a:off x="672998" y="3992415"/>
            <a:ext cx="4155223" cy="4816212"/>
          </a:xfrm>
          <a:prstGeom prst="rect">
            <a:avLst/>
          </a:prstGeom>
        </p:spPr>
        <p:txBody>
          <a:bodyPr vert="horz" lIns="91440" tIns="45720" rIns="91440" bIns="45720" rtlCol="0">
            <a:normAutofit/>
          </a:bodyPr>
          <a:lstStyle/>
          <a:p>
            <a:pPr marL="722312" indent="-228600" defTabSz="914400">
              <a:lnSpc>
                <a:spcPct val="90000"/>
              </a:lnSpc>
              <a:spcBef>
                <a:spcPts val="700"/>
              </a:spcBef>
              <a:buFont typeface="Arial" panose="020B0604020202020204" pitchFamily="34" charset="0"/>
              <a:buChar char="•"/>
              <a:defRPr sz="4400">
                <a:latin typeface="Arial"/>
                <a:ea typeface="Arial"/>
                <a:cs typeface="Arial"/>
                <a:sym typeface="Arial"/>
              </a:defRPr>
            </a:pPr>
            <a:r>
              <a:rPr lang="en-US" sz="3200" dirty="0">
                <a:latin typeface="+mn-lt"/>
                <a:sym typeface="Arial"/>
              </a:rPr>
              <a:t>Individualize monitoring based on treatment and hypoglycemia risk</a:t>
            </a:r>
          </a:p>
          <a:p>
            <a:pPr marL="722312" indent="-228600" defTabSz="914400">
              <a:lnSpc>
                <a:spcPct val="90000"/>
              </a:lnSpc>
              <a:spcBef>
                <a:spcPts val="700"/>
              </a:spcBef>
              <a:buFont typeface="Arial" panose="020B0604020202020204" pitchFamily="34" charset="0"/>
              <a:buChar char="•"/>
              <a:defRPr sz="4400">
                <a:latin typeface="Arial"/>
                <a:ea typeface="Arial"/>
                <a:cs typeface="Arial"/>
                <a:sym typeface="Arial"/>
              </a:defRPr>
            </a:pPr>
            <a:r>
              <a:rPr lang="en-US" sz="3200" dirty="0">
                <a:latin typeface="+mn-lt"/>
                <a:sym typeface="Arial"/>
              </a:rPr>
              <a:t>CGM users should have access to a backup glucometer</a:t>
            </a:r>
            <a:endParaRPr lang="en-US" sz="3200" kern="1200" dirty="0">
              <a:solidFill>
                <a:schemeClr val="tx1"/>
              </a:solidFill>
              <a:latin typeface="+mn-lt"/>
              <a:ea typeface="+mn-ea"/>
              <a:cs typeface="+mn-cs"/>
            </a:endParaRPr>
          </a:p>
        </p:txBody>
      </p:sp>
      <p:pic>
        <p:nvPicPr>
          <p:cNvPr id="5" name="Picture 2" descr="Scan FreeStyle Libre CGM Sensor with Your iPhone! FreeStyle LibreLink and  LibreLinkUp Apps Available in US | diaTribe">
            <a:extLst>
              <a:ext uri="{FF2B5EF4-FFF2-40B4-BE49-F238E27FC236}">
                <a16:creationId xmlns:a16="http://schemas.microsoft.com/office/drawing/2014/main" id="{23CFB35A-A8D5-F441-A3AA-0E4D55722EB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tretch/>
        </p:blipFill>
        <p:spPr bwMode="auto">
          <a:xfrm>
            <a:off x="5755892" y="234086"/>
            <a:ext cx="2445617" cy="491581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Where To Put CGM On Arm 2026: Right Placement Guide!">
            <a:extLst>
              <a:ext uri="{FF2B5EF4-FFF2-40B4-BE49-F238E27FC236}">
                <a16:creationId xmlns:a16="http://schemas.microsoft.com/office/drawing/2014/main" id="{AB9F9126-4DFE-C484-EE94-A8853912D4E4}"/>
              </a:ext>
            </a:extLst>
          </p:cNvPr>
          <p:cNvPicPr>
            <a:picLocks noChangeAspect="1"/>
          </p:cNvPicPr>
          <p:nvPr/>
        </p:nvPicPr>
        <p:blipFill>
          <a:blip r:embed="rId3"/>
          <a:stretch>
            <a:fillRect/>
          </a:stretch>
        </p:blipFill>
        <p:spPr>
          <a:xfrm>
            <a:off x="8797747" y="765571"/>
            <a:ext cx="4037990" cy="2695358"/>
          </a:xfrm>
          <a:prstGeom prst="rect">
            <a:avLst/>
          </a:prstGeom>
        </p:spPr>
      </p:pic>
      <p:pic>
        <p:nvPicPr>
          <p:cNvPr id="3" name="Picture 2">
            <a:extLst>
              <a:ext uri="{FF2B5EF4-FFF2-40B4-BE49-F238E27FC236}">
                <a16:creationId xmlns:a16="http://schemas.microsoft.com/office/drawing/2014/main" id="{F3B67033-B8D5-7922-ED62-10EFD36490C9}"/>
              </a:ext>
            </a:extLst>
          </p:cNvPr>
          <p:cNvPicPr>
            <a:picLocks noChangeAspect="1"/>
          </p:cNvPicPr>
          <p:nvPr/>
        </p:nvPicPr>
        <p:blipFill>
          <a:blip r:embed="rId4"/>
          <a:stretch>
            <a:fillRect/>
          </a:stretch>
        </p:blipFill>
        <p:spPr>
          <a:xfrm>
            <a:off x="5325465" y="5999816"/>
            <a:ext cx="3306471" cy="2207069"/>
          </a:xfrm>
          <a:prstGeom prst="rect">
            <a:avLst/>
          </a:prstGeom>
        </p:spPr>
      </p:pic>
      <p:pic>
        <p:nvPicPr>
          <p:cNvPr id="4" name="Picture 3">
            <a:extLst>
              <a:ext uri="{FF2B5EF4-FFF2-40B4-BE49-F238E27FC236}">
                <a16:creationId xmlns:a16="http://schemas.microsoft.com/office/drawing/2014/main" id="{89E30BA7-4A03-4DBB-BE00-0DA83FE566E7}"/>
              </a:ext>
            </a:extLst>
          </p:cNvPr>
          <p:cNvPicPr>
            <a:picLocks noChangeAspect="1"/>
          </p:cNvPicPr>
          <p:nvPr/>
        </p:nvPicPr>
        <p:blipFill>
          <a:blip r:embed="rId5"/>
          <a:stretch>
            <a:fillRect/>
          </a:stretch>
        </p:blipFill>
        <p:spPr>
          <a:xfrm>
            <a:off x="8797747" y="4498569"/>
            <a:ext cx="4037990" cy="4037990"/>
          </a:xfrm>
          <a:prstGeom prst="rect">
            <a:avLst/>
          </a:prstGeom>
        </p:spPr>
      </p:pic>
    </p:spTree>
    <p:extLst>
      <p:ext uri="{BB962C8B-B14F-4D97-AF65-F5344CB8AC3E}">
        <p14:creationId xmlns:p14="http://schemas.microsoft.com/office/powerpoint/2010/main" val="24544268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798" cy="975269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Shape 152"/>
          <p:cNvSpPr>
            <a:spLocks noGrp="1"/>
          </p:cNvSpPr>
          <p:nvPr>
            <p:ph type="title" idx="4294967295"/>
          </p:nvPr>
        </p:nvSpPr>
        <p:spPr>
          <a:xfrm>
            <a:off x="639582" y="966728"/>
            <a:ext cx="4450127" cy="5314190"/>
          </a:xfrm>
          <a:prstGeom prst="rect">
            <a:avLst/>
          </a:prstGeom>
        </p:spPr>
        <p:txBody>
          <a:bodyPr vert="horz" lIns="91440" tIns="45720" rIns="91440" bIns="45720" rtlCol="0" anchor="b">
            <a:normAutofit/>
          </a:bodyPr>
          <a:lstStyle>
            <a:lvl1pPr defTabSz="1300162">
              <a:defRPr sz="5600">
                <a:latin typeface="Arial"/>
                <a:ea typeface="Arial"/>
                <a:cs typeface="Arial"/>
                <a:sym typeface="Arial"/>
              </a:defRPr>
            </a:lvl1pPr>
          </a:lstStyle>
          <a:p>
            <a:pPr algn="l" defTabSz="914400">
              <a:lnSpc>
                <a:spcPct val="90000"/>
              </a:lnSpc>
              <a:spcBef>
                <a:spcPct val="0"/>
              </a:spcBef>
              <a:buNone/>
            </a:pPr>
            <a:r>
              <a:rPr lang="en-US" sz="6000" kern="1200">
                <a:solidFill>
                  <a:schemeClr val="tx1"/>
                </a:solidFill>
                <a:latin typeface="+mj-lt"/>
                <a:ea typeface="+mj-ea"/>
                <a:cs typeface="+mj-cs"/>
              </a:rPr>
              <a:t>Diabetes Treatment Goals</a:t>
            </a:r>
          </a:p>
        </p:txBody>
      </p:sp>
      <p:grpSp>
        <p:nvGrpSpPr>
          <p:cNvPr id="1033" name="Group 1032">
            <a:extLst>
              <a:ext uri="{FF2B5EF4-FFF2-40B4-BE49-F238E27FC236}">
                <a16:creationId xmlns:a16="http://schemas.microsoft.com/office/drawing/2014/main" id="{3AF6A671-C637-4547-85F4-51B6D18813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044194" y="1"/>
            <a:ext cx="2609476" cy="5777808"/>
            <a:chOff x="329184" y="1"/>
            <a:chExt cx="524256" cy="5777808"/>
          </a:xfrm>
        </p:grpSpPr>
        <p:cxnSp>
          <p:nvCxnSpPr>
            <p:cNvPr id="1034" name="Straight Connector 1033">
              <a:extLst>
                <a:ext uri="{FF2B5EF4-FFF2-40B4-BE49-F238E27FC236}">
                  <a16:creationId xmlns:a16="http://schemas.microsoft.com/office/drawing/2014/main" id="{C575CF26-3D3C-4C5A-A2B7-00432016EF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1208"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035" name="Rectangle 1034">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1"/>
              <a:ext cx="524256" cy="55321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37" name="Rectangle 1036">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45704" y="383038"/>
            <a:ext cx="6524564" cy="883025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A screenshot of a cell phone&#10;&#10;Description automatically generated">
            <a:extLst>
              <a:ext uri="{FF2B5EF4-FFF2-40B4-BE49-F238E27FC236}">
                <a16:creationId xmlns:a16="http://schemas.microsoft.com/office/drawing/2014/main" id="{C58ED25B-51B5-4560-8DD8-007BAF330768}"/>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016610" y="2210627"/>
            <a:ext cx="5982752" cy="51750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30157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Shape 152"/>
          <p:cNvSpPr>
            <a:spLocks noGrp="1"/>
          </p:cNvSpPr>
          <p:nvPr>
            <p:ph type="title" idx="4294967295"/>
          </p:nvPr>
        </p:nvSpPr>
        <p:spPr>
          <a:xfrm>
            <a:off x="649287" y="0"/>
            <a:ext cx="11704638" cy="1516063"/>
          </a:xfrm>
          <a:prstGeom prst="rect">
            <a:avLst/>
          </a:prstGeom>
        </p:spPr>
        <p:txBody>
          <a:bodyPr lIns="72248" tIns="72248" rIns="72248" bIns="72248" anchor="ctr">
            <a:normAutofit/>
          </a:bodyPr>
          <a:lstStyle>
            <a:lvl1pPr defTabSz="1300162">
              <a:defRPr sz="5600">
                <a:latin typeface="Arial"/>
                <a:ea typeface="Arial"/>
                <a:cs typeface="Arial"/>
                <a:sym typeface="Arial"/>
              </a:defRPr>
            </a:lvl1pPr>
          </a:lstStyle>
          <a:p>
            <a:pPr>
              <a:buNone/>
            </a:pPr>
            <a:r>
              <a:rPr lang="en-US" dirty="0"/>
              <a:t>Diabetes Treatment Goals</a:t>
            </a:r>
            <a:endParaRPr dirty="0"/>
          </a:p>
        </p:txBody>
      </p:sp>
      <p:sp>
        <p:nvSpPr>
          <p:cNvPr id="153" name="Shape 153"/>
          <p:cNvSpPr>
            <a:spLocks noGrp="1"/>
          </p:cNvSpPr>
          <p:nvPr>
            <p:ph type="body" idx="4294967295"/>
          </p:nvPr>
        </p:nvSpPr>
        <p:spPr>
          <a:xfrm>
            <a:off x="323850" y="1860332"/>
            <a:ext cx="12463463" cy="7783732"/>
          </a:xfrm>
          <a:prstGeom prst="rect">
            <a:avLst/>
          </a:prstGeom>
        </p:spPr>
        <p:txBody>
          <a:bodyPr lIns="72248" tIns="72248" rIns="72248" bIns="72248">
            <a:normAutofit fontScale="92500" lnSpcReduction="10000"/>
          </a:bodyPr>
          <a:lstStyle/>
          <a:p>
            <a:pPr defTabSz="1300162">
              <a:spcBef>
                <a:spcPts val="700"/>
              </a:spcBef>
              <a:buNone/>
              <a:defRPr sz="4400">
                <a:latin typeface="Arial"/>
                <a:ea typeface="Arial"/>
                <a:cs typeface="Arial"/>
                <a:sym typeface="Arial"/>
              </a:defRPr>
            </a:pPr>
            <a:r>
              <a:rPr lang="en-US" sz="4400" b="1" dirty="0">
                <a:latin typeface="Calibri" panose="020F0502020204030204" pitchFamily="34" charset="0"/>
                <a:cs typeface="Calibri" panose="020F0502020204030204" pitchFamily="34" charset="0"/>
              </a:rPr>
              <a:t>Goal A1C of &lt; 7% is common for most non pregnant adults</a:t>
            </a:r>
          </a:p>
          <a:p>
            <a:pPr defTabSz="1300162">
              <a:spcBef>
                <a:spcPts val="700"/>
              </a:spcBef>
              <a:buNone/>
              <a:defRPr sz="4400">
                <a:latin typeface="Arial"/>
                <a:ea typeface="Arial"/>
                <a:cs typeface="Arial"/>
                <a:sym typeface="Arial"/>
              </a:defRPr>
            </a:pPr>
            <a:endParaRPr lang="en-US" sz="4400" b="1" dirty="0">
              <a:latin typeface="Calibri" panose="020F0502020204030204" pitchFamily="34" charset="0"/>
              <a:cs typeface="Calibri" panose="020F0502020204030204" pitchFamily="34" charset="0"/>
            </a:endParaRPr>
          </a:p>
          <a:p>
            <a:pPr defTabSz="1300162">
              <a:spcBef>
                <a:spcPts val="700"/>
              </a:spcBef>
              <a:buNone/>
              <a:defRPr sz="4400">
                <a:latin typeface="Arial"/>
                <a:ea typeface="Arial"/>
                <a:cs typeface="Arial"/>
                <a:sym typeface="Arial"/>
              </a:defRPr>
            </a:pPr>
            <a:r>
              <a:rPr lang="en-US" sz="4400" b="1" dirty="0">
                <a:latin typeface="Calibri" panose="020F0502020204030204" pitchFamily="34" charset="0"/>
                <a:cs typeface="Calibri" panose="020F0502020204030204" pitchFamily="34" charset="0"/>
              </a:rPr>
              <a:t>Consider &lt;6.5% if safely achievable</a:t>
            </a:r>
          </a:p>
          <a:p>
            <a:pPr marL="1408112" lvl="2" indent="-722312" defTabSz="1300162">
              <a:spcBef>
                <a:spcPts val="700"/>
              </a:spcBef>
              <a:buFont typeface="Arial"/>
              <a:buChar char="•"/>
              <a:defRPr sz="4400">
                <a:latin typeface="Arial"/>
                <a:ea typeface="Arial"/>
                <a:cs typeface="Arial"/>
                <a:sym typeface="Arial"/>
              </a:defRPr>
            </a:pPr>
            <a:r>
              <a:rPr lang="en-US" sz="3200" dirty="0">
                <a:latin typeface="Calibri" panose="020F0502020204030204" pitchFamily="34" charset="0"/>
                <a:cs typeface="Calibri" panose="020F0502020204030204" pitchFamily="34" charset="0"/>
              </a:rPr>
              <a:t>Good Health/ Long Life Expectancy</a:t>
            </a:r>
          </a:p>
          <a:p>
            <a:pPr marL="1408112" lvl="2" indent="-722312" defTabSz="1300162">
              <a:spcBef>
                <a:spcPts val="700"/>
              </a:spcBef>
              <a:buFont typeface="Arial"/>
              <a:buChar char="•"/>
              <a:defRPr sz="4400">
                <a:latin typeface="Arial"/>
                <a:ea typeface="Arial"/>
                <a:cs typeface="Arial"/>
                <a:sym typeface="Arial"/>
              </a:defRPr>
            </a:pPr>
            <a:r>
              <a:rPr lang="en-US" sz="3200" dirty="0">
                <a:latin typeface="Calibri" panose="020F0502020204030204" pitchFamily="34" charset="0"/>
                <a:cs typeface="Calibri" panose="020F0502020204030204" pitchFamily="34" charset="0"/>
              </a:rPr>
              <a:t>Low hypoglycemia risk</a:t>
            </a:r>
          </a:p>
          <a:p>
            <a:pPr marL="1408112" lvl="2" indent="-722312" defTabSz="1300162">
              <a:spcBef>
                <a:spcPts val="700"/>
              </a:spcBef>
              <a:buFont typeface="Arial"/>
              <a:buChar char="•"/>
              <a:defRPr sz="4400">
                <a:latin typeface="Arial"/>
                <a:ea typeface="Arial"/>
                <a:cs typeface="Arial"/>
                <a:sym typeface="Arial"/>
              </a:defRPr>
            </a:pPr>
            <a:r>
              <a:rPr lang="en-US" sz="3200" dirty="0">
                <a:latin typeface="Calibri" panose="020F0502020204030204" pitchFamily="34" charset="0"/>
                <a:cs typeface="Calibri" panose="020F0502020204030204" pitchFamily="34" charset="0"/>
              </a:rPr>
              <a:t>Low treatment burden</a:t>
            </a:r>
          </a:p>
          <a:p>
            <a:pPr defTabSz="1300162">
              <a:spcBef>
                <a:spcPts val="700"/>
              </a:spcBef>
              <a:buNone/>
              <a:defRPr sz="4400">
                <a:latin typeface="Arial"/>
                <a:ea typeface="Arial"/>
                <a:cs typeface="Arial"/>
                <a:sym typeface="Arial"/>
              </a:defRPr>
            </a:pPr>
            <a:endParaRPr lang="en-US" sz="4400" b="1" dirty="0">
              <a:latin typeface="Calibri" panose="020F0502020204030204" pitchFamily="34" charset="0"/>
              <a:cs typeface="Calibri" panose="020F0502020204030204" pitchFamily="34" charset="0"/>
            </a:endParaRPr>
          </a:p>
          <a:p>
            <a:pPr defTabSz="1300162">
              <a:spcBef>
                <a:spcPts val="700"/>
              </a:spcBef>
              <a:buNone/>
              <a:defRPr sz="4400">
                <a:latin typeface="Arial"/>
                <a:ea typeface="Arial"/>
                <a:cs typeface="Arial"/>
                <a:sym typeface="Arial"/>
              </a:defRPr>
            </a:pPr>
            <a:endParaRPr lang="en-US" sz="4400" b="1" dirty="0">
              <a:latin typeface="Calibri" panose="020F0502020204030204" pitchFamily="34" charset="0"/>
              <a:cs typeface="Calibri" panose="020F0502020204030204" pitchFamily="34" charset="0"/>
            </a:endParaRPr>
          </a:p>
          <a:p>
            <a:pPr defTabSz="1300162">
              <a:spcBef>
                <a:spcPts val="700"/>
              </a:spcBef>
              <a:buNone/>
              <a:defRPr sz="4400">
                <a:latin typeface="Arial"/>
                <a:ea typeface="Arial"/>
                <a:cs typeface="Arial"/>
                <a:sym typeface="Arial"/>
              </a:defRPr>
            </a:pPr>
            <a:r>
              <a:rPr lang="en-US" sz="4400" b="1" dirty="0">
                <a:latin typeface="Calibri" panose="020F0502020204030204" pitchFamily="34" charset="0"/>
                <a:cs typeface="Calibri" panose="020F0502020204030204" pitchFamily="34" charset="0"/>
              </a:rPr>
              <a:t>Goal of A1C &lt;8% is suitable for a few selected pts </a:t>
            </a:r>
          </a:p>
          <a:p>
            <a:pPr marL="722312" indent="-722312" defTabSz="1300162">
              <a:spcBef>
                <a:spcPts val="700"/>
              </a:spcBef>
              <a:buFont typeface="Arial"/>
              <a:buChar char="•"/>
              <a:defRPr sz="4400">
                <a:latin typeface="Arial"/>
                <a:ea typeface="Arial"/>
                <a:cs typeface="Arial"/>
                <a:sym typeface="Arial"/>
              </a:defRPr>
            </a:pPr>
            <a:endParaRPr lang="en-US" sz="1000" b="1" dirty="0">
              <a:latin typeface="Calibri" panose="020F0502020204030204" pitchFamily="34" charset="0"/>
              <a:cs typeface="Calibri" panose="020F0502020204030204" pitchFamily="34" charset="0"/>
            </a:endParaRPr>
          </a:p>
          <a:p>
            <a:pPr marL="1408112" lvl="2" indent="-722312" defTabSz="1300162">
              <a:spcBef>
                <a:spcPts val="700"/>
              </a:spcBef>
              <a:buFont typeface="Arial"/>
              <a:buChar char="•"/>
              <a:defRPr sz="4400">
                <a:latin typeface="Arial"/>
                <a:ea typeface="Arial"/>
                <a:cs typeface="Arial"/>
                <a:sym typeface="Arial"/>
              </a:defRPr>
            </a:pPr>
            <a:r>
              <a:rPr lang="en-US" sz="3200" dirty="0">
                <a:latin typeface="Calibri" panose="020F0502020204030204" pitchFamily="34" charset="0"/>
                <a:cs typeface="Calibri" panose="020F0502020204030204" pitchFamily="34" charset="0"/>
              </a:rPr>
              <a:t>Limited life expectancy</a:t>
            </a:r>
          </a:p>
          <a:p>
            <a:pPr marL="1408112" lvl="2" indent="-722312" defTabSz="1300162">
              <a:spcBef>
                <a:spcPts val="700"/>
              </a:spcBef>
              <a:buFont typeface="Arial"/>
              <a:buChar char="•"/>
              <a:defRPr sz="4400">
                <a:latin typeface="Arial"/>
                <a:ea typeface="Arial"/>
                <a:cs typeface="Arial"/>
                <a:sym typeface="Arial"/>
              </a:defRPr>
            </a:pPr>
            <a:r>
              <a:rPr lang="en-US" sz="3200" dirty="0">
                <a:latin typeface="Calibri" panose="020F0502020204030204" pitchFamily="34" charset="0"/>
                <a:cs typeface="Calibri" panose="020F0502020204030204" pitchFamily="34" charset="0"/>
              </a:rPr>
              <a:t>Frailty or extensive medical comorbidities</a:t>
            </a:r>
          </a:p>
          <a:p>
            <a:pPr marL="1408112" lvl="2" indent="-722312" defTabSz="1300162">
              <a:spcBef>
                <a:spcPts val="700"/>
              </a:spcBef>
              <a:buFont typeface="Arial"/>
              <a:buChar char="•"/>
              <a:defRPr sz="4400">
                <a:latin typeface="Arial"/>
                <a:ea typeface="Arial"/>
                <a:cs typeface="Arial"/>
                <a:sym typeface="Arial"/>
              </a:defRPr>
            </a:pPr>
            <a:r>
              <a:rPr lang="en-US" sz="3200" dirty="0">
                <a:latin typeface="Calibri" panose="020F0502020204030204" pitchFamily="34" charset="0"/>
                <a:cs typeface="Calibri" panose="020F0502020204030204" pitchFamily="34" charset="0"/>
              </a:rPr>
              <a:t>High hypoglycemia risk</a:t>
            </a:r>
          </a:p>
        </p:txBody>
      </p:sp>
    </p:spTree>
    <p:extLst>
      <p:ext uri="{BB962C8B-B14F-4D97-AF65-F5344CB8AC3E}">
        <p14:creationId xmlns:p14="http://schemas.microsoft.com/office/powerpoint/2010/main" val="1138432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800" cy="975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ight Triangle 41">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148501" y="4744344"/>
            <a:ext cx="3511296" cy="455168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Rectangle 43">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558" y="886435"/>
            <a:ext cx="11632057" cy="7975654"/>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58B440B9-DFA7-474B-A07B-180B7674B66B}"/>
              </a:ext>
            </a:extLst>
          </p:cNvPr>
          <p:cNvSpPr>
            <a:spLocks noGrp="1"/>
          </p:cNvSpPr>
          <p:nvPr>
            <p:ph type="title"/>
          </p:nvPr>
        </p:nvSpPr>
        <p:spPr>
          <a:xfrm>
            <a:off x="1370922" y="1494179"/>
            <a:ext cx="8613136" cy="2301851"/>
          </a:xfrm>
        </p:spPr>
        <p:txBody>
          <a:bodyPr anchor="ctr">
            <a:normAutofit/>
          </a:bodyPr>
          <a:lstStyle/>
          <a:p>
            <a:pPr>
              <a:lnSpc>
                <a:spcPct val="90000"/>
              </a:lnSpc>
              <a:buNone/>
            </a:pPr>
            <a:r>
              <a:rPr lang="en-US" sz="8200"/>
              <a:t>Antidiabetic Pharm Classes</a:t>
            </a:r>
          </a:p>
        </p:txBody>
      </p:sp>
      <p:sp>
        <p:nvSpPr>
          <p:cNvPr id="6" name="Content Placeholder 5">
            <a:extLst>
              <a:ext uri="{FF2B5EF4-FFF2-40B4-BE49-F238E27FC236}">
                <a16:creationId xmlns:a16="http://schemas.microsoft.com/office/drawing/2014/main" id="{DCB2313D-EB01-412E-A45C-A8C4F4BEEAD8}"/>
              </a:ext>
            </a:extLst>
          </p:cNvPr>
          <p:cNvSpPr>
            <a:spLocks noGrp="1"/>
          </p:cNvSpPr>
          <p:nvPr>
            <p:ph idx="1"/>
          </p:nvPr>
        </p:nvSpPr>
        <p:spPr>
          <a:xfrm>
            <a:off x="1370922" y="4223244"/>
            <a:ext cx="8613136" cy="3982784"/>
          </a:xfrm>
        </p:spPr>
        <p:txBody>
          <a:bodyPr anchor="t">
            <a:normAutofit lnSpcReduction="10000"/>
          </a:bodyPr>
          <a:lstStyle/>
          <a:p>
            <a:pPr marL="571500" indent="-571500">
              <a:lnSpc>
                <a:spcPct val="90000"/>
              </a:lnSpc>
              <a:spcBef>
                <a:spcPts val="0"/>
              </a:spcBef>
              <a:spcAft>
                <a:spcPts val="600"/>
              </a:spcAft>
              <a:buFont typeface="Arial" panose="020B0604020202020204" pitchFamily="34" charset="0"/>
              <a:buChar char="•"/>
            </a:pPr>
            <a:r>
              <a:rPr lang="en-US" sz="2300" dirty="0">
                <a:latin typeface="Calibri" panose="020F0502020204030204" pitchFamily="34" charset="0"/>
                <a:ea typeface="Calibri" charset="0"/>
                <a:cs typeface="Calibri" panose="020F0502020204030204" pitchFamily="34" charset="0"/>
              </a:rPr>
              <a:t>Biguanides</a:t>
            </a:r>
          </a:p>
          <a:p>
            <a:pPr marL="571500" indent="-571500">
              <a:lnSpc>
                <a:spcPct val="90000"/>
              </a:lnSpc>
              <a:spcBef>
                <a:spcPts val="0"/>
              </a:spcBef>
              <a:spcAft>
                <a:spcPts val="600"/>
              </a:spcAft>
              <a:buFont typeface="Arial" panose="020B0604020202020204" pitchFamily="34" charset="0"/>
              <a:buChar char="•"/>
            </a:pPr>
            <a:r>
              <a:rPr lang="en-US" sz="2300" dirty="0">
                <a:latin typeface="Calibri" panose="020F0502020204030204" pitchFamily="34" charset="0"/>
                <a:cs typeface="Calibri" panose="020F0502020204030204" pitchFamily="34" charset="0"/>
              </a:rPr>
              <a:t>Incretin Therapy</a:t>
            </a:r>
          </a:p>
          <a:p>
            <a:pPr marL="1310379" lvl="1" indent="-571500">
              <a:lnSpc>
                <a:spcPct val="90000"/>
              </a:lnSpc>
              <a:spcBef>
                <a:spcPts val="0"/>
              </a:spcBef>
              <a:spcAft>
                <a:spcPts val="600"/>
              </a:spcAft>
              <a:buFont typeface="Arial" panose="020B0604020202020204" pitchFamily="34" charset="0"/>
              <a:buChar char="•"/>
            </a:pPr>
            <a:r>
              <a:rPr lang="en-US" sz="2300" dirty="0">
                <a:latin typeface="Calibri" panose="020F0502020204030204" pitchFamily="34" charset="0"/>
                <a:cs typeface="Calibri" panose="020F0502020204030204" pitchFamily="34" charset="0"/>
              </a:rPr>
              <a:t>GLP – 1 receptor agonists</a:t>
            </a:r>
          </a:p>
          <a:p>
            <a:pPr marL="1310379" lvl="1" indent="-571500">
              <a:lnSpc>
                <a:spcPct val="90000"/>
              </a:lnSpc>
              <a:spcBef>
                <a:spcPts val="0"/>
              </a:spcBef>
              <a:spcAft>
                <a:spcPts val="600"/>
              </a:spcAft>
              <a:buFont typeface="Arial" panose="020B0604020202020204" pitchFamily="34" charset="0"/>
              <a:buChar char="•"/>
            </a:pPr>
            <a:r>
              <a:rPr lang="en-US" sz="2300" dirty="0">
                <a:latin typeface="Calibri" panose="020F0502020204030204" pitchFamily="34" charset="0"/>
                <a:cs typeface="Calibri" panose="020F0502020204030204" pitchFamily="34" charset="0"/>
              </a:rPr>
              <a:t>GIP/GLP-1 receptor agonist</a:t>
            </a:r>
          </a:p>
          <a:p>
            <a:pPr marL="1310379" lvl="1" indent="-571500">
              <a:lnSpc>
                <a:spcPct val="90000"/>
              </a:lnSpc>
              <a:spcBef>
                <a:spcPts val="0"/>
              </a:spcBef>
              <a:spcAft>
                <a:spcPts val="600"/>
              </a:spcAft>
              <a:buFont typeface="Arial" panose="020B0604020202020204" pitchFamily="34" charset="0"/>
              <a:buChar char="•"/>
            </a:pPr>
            <a:r>
              <a:rPr lang="en-US" sz="2300" dirty="0">
                <a:latin typeface="Calibri" panose="020F0502020204030204" pitchFamily="34" charset="0"/>
                <a:cs typeface="Calibri" panose="020F0502020204030204" pitchFamily="34" charset="0"/>
              </a:rPr>
              <a:t>DPP-4 Inhibitor</a:t>
            </a:r>
          </a:p>
          <a:p>
            <a:pPr marL="571500" indent="-571500">
              <a:lnSpc>
                <a:spcPct val="90000"/>
              </a:lnSpc>
              <a:spcBef>
                <a:spcPts val="0"/>
              </a:spcBef>
              <a:spcAft>
                <a:spcPts val="600"/>
              </a:spcAft>
              <a:buFont typeface="Arial" panose="020B0604020202020204" pitchFamily="34" charset="0"/>
              <a:buChar char="•"/>
            </a:pPr>
            <a:r>
              <a:rPr lang="en-US" sz="2300" dirty="0">
                <a:latin typeface="Calibri" panose="020F0502020204030204" pitchFamily="34" charset="0"/>
                <a:cs typeface="Calibri" panose="020F0502020204030204" pitchFamily="34" charset="0"/>
              </a:rPr>
              <a:t>SGLT2 Inhibitor</a:t>
            </a:r>
          </a:p>
          <a:p>
            <a:pPr marL="571500" indent="-571500">
              <a:lnSpc>
                <a:spcPct val="90000"/>
              </a:lnSpc>
              <a:spcBef>
                <a:spcPts val="0"/>
              </a:spcBef>
              <a:spcAft>
                <a:spcPts val="600"/>
              </a:spcAft>
              <a:buFont typeface="Arial" panose="020B0604020202020204" pitchFamily="34" charset="0"/>
              <a:buChar char="•"/>
            </a:pPr>
            <a:r>
              <a:rPr lang="en-US" sz="2300" dirty="0">
                <a:latin typeface="Calibri" panose="020F0502020204030204" pitchFamily="34" charset="0"/>
                <a:cs typeface="Calibri" panose="020F0502020204030204" pitchFamily="34" charset="0"/>
              </a:rPr>
              <a:t>Sulfonylureas</a:t>
            </a:r>
          </a:p>
          <a:p>
            <a:pPr marL="571500" indent="-571500">
              <a:lnSpc>
                <a:spcPct val="90000"/>
              </a:lnSpc>
              <a:spcBef>
                <a:spcPts val="0"/>
              </a:spcBef>
              <a:spcAft>
                <a:spcPts val="600"/>
              </a:spcAft>
              <a:buFont typeface="Arial" panose="020B0604020202020204" pitchFamily="34" charset="0"/>
              <a:buChar char="•"/>
            </a:pPr>
            <a:r>
              <a:rPr lang="en-US" sz="2300" dirty="0">
                <a:latin typeface="Calibri" panose="020F0502020204030204" pitchFamily="34" charset="0"/>
                <a:cs typeface="Calibri" panose="020F0502020204030204" pitchFamily="34" charset="0"/>
              </a:rPr>
              <a:t>Thiazolidinediones</a:t>
            </a:r>
          </a:p>
          <a:p>
            <a:pPr marL="571500" indent="-571500">
              <a:lnSpc>
                <a:spcPct val="90000"/>
              </a:lnSpc>
              <a:spcBef>
                <a:spcPts val="0"/>
              </a:spcBef>
              <a:spcAft>
                <a:spcPts val="600"/>
              </a:spcAft>
              <a:buFont typeface="Arial" panose="020B0604020202020204" pitchFamily="34" charset="0"/>
              <a:buChar char="•"/>
            </a:pPr>
            <a:r>
              <a:rPr lang="en-US" sz="2300" dirty="0">
                <a:latin typeface="Calibri" panose="020F0502020204030204" pitchFamily="34" charset="0"/>
                <a:cs typeface="Calibri" panose="020F0502020204030204" pitchFamily="34" charset="0"/>
              </a:rPr>
              <a:t>Meglitinides</a:t>
            </a:r>
          </a:p>
          <a:p>
            <a:pPr marL="571500" indent="-571500">
              <a:lnSpc>
                <a:spcPct val="90000"/>
              </a:lnSpc>
              <a:spcBef>
                <a:spcPts val="0"/>
              </a:spcBef>
              <a:spcAft>
                <a:spcPts val="600"/>
              </a:spcAft>
              <a:buFont typeface="Arial" panose="020B0604020202020204" pitchFamily="34" charset="0"/>
              <a:buChar char="•"/>
            </a:pPr>
            <a:r>
              <a:rPr lang="en-US" sz="2300" dirty="0">
                <a:latin typeface="Calibri" panose="020F0502020204030204" pitchFamily="34" charset="0"/>
                <a:cs typeface="Calibri" panose="020F0502020204030204" pitchFamily="34" charset="0"/>
              </a:rPr>
              <a:t>Alpha-Glucosidase Inhibitor</a:t>
            </a:r>
          </a:p>
          <a:p>
            <a:pPr marL="571500" indent="-571500">
              <a:lnSpc>
                <a:spcPct val="90000"/>
              </a:lnSpc>
              <a:spcBef>
                <a:spcPts val="0"/>
              </a:spcBef>
              <a:spcAft>
                <a:spcPts val="600"/>
              </a:spcAft>
              <a:buFont typeface="Arial" panose="020B0604020202020204" pitchFamily="34" charset="0"/>
              <a:buChar char="•"/>
            </a:pPr>
            <a:r>
              <a:rPr lang="en-US" sz="2300" dirty="0">
                <a:latin typeface="Calibri" panose="020F0502020204030204" pitchFamily="34" charset="0"/>
                <a:cs typeface="Calibri" panose="020F0502020204030204" pitchFamily="34" charset="0"/>
              </a:rPr>
              <a:t>Insulins</a:t>
            </a:r>
          </a:p>
        </p:txBody>
      </p:sp>
    </p:spTree>
    <p:extLst>
      <p:ext uri="{BB962C8B-B14F-4D97-AF65-F5344CB8AC3E}">
        <p14:creationId xmlns:p14="http://schemas.microsoft.com/office/powerpoint/2010/main" val="12167092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6">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800" cy="975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Freeform: Shape 8">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8720" y="0"/>
            <a:ext cx="10627360" cy="97536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4" name="Freeform: Shape 10">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96441" y="0"/>
            <a:ext cx="10611917" cy="97536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E0F2304-DCC1-403E-BE8C-C33A7C3287DA}"/>
              </a:ext>
            </a:extLst>
          </p:cNvPr>
          <p:cNvSpPr>
            <a:spLocks noGrp="1"/>
          </p:cNvSpPr>
          <p:nvPr>
            <p:ph type="ctrTitle"/>
          </p:nvPr>
        </p:nvSpPr>
        <p:spPr>
          <a:xfrm>
            <a:off x="1625603" y="2843896"/>
            <a:ext cx="9753600" cy="3931062"/>
          </a:xfrm>
        </p:spPr>
        <p:txBody>
          <a:bodyPr anchor="ctr">
            <a:normAutofit/>
          </a:bodyPr>
          <a:lstStyle/>
          <a:p>
            <a:pPr>
              <a:buNone/>
            </a:pPr>
            <a:r>
              <a:rPr lang="en-US" sz="8900">
                <a:latin typeface="Calibri" panose="020F0502020204030204" pitchFamily="34" charset="0"/>
                <a:ea typeface="Calibri" charset="0"/>
                <a:cs typeface="Calibri" panose="020F0502020204030204" pitchFamily="34" charset="0"/>
              </a:rPr>
              <a:t>Biguanides</a:t>
            </a:r>
            <a:endParaRPr lang="en-US" sz="8900" b="1"/>
          </a:p>
        </p:txBody>
      </p:sp>
      <p:sp>
        <p:nvSpPr>
          <p:cNvPr id="25" name="Rectangle 12">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66464" y="7857473"/>
            <a:ext cx="5071872" cy="390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57432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Shape 152"/>
          <p:cNvSpPr>
            <a:spLocks noGrp="1"/>
          </p:cNvSpPr>
          <p:nvPr>
            <p:ph type="title"/>
          </p:nvPr>
        </p:nvSpPr>
        <p:spPr>
          <a:prstGeom prst="rect">
            <a:avLst/>
          </a:prstGeom>
        </p:spPr>
        <p:txBody>
          <a:bodyPr lIns="72248" tIns="72248" rIns="72248" bIns="72248" anchor="ctr">
            <a:normAutofit/>
          </a:bodyPr>
          <a:lstStyle>
            <a:lvl1pPr defTabSz="1300162">
              <a:defRPr sz="5600">
                <a:latin typeface="Arial"/>
                <a:ea typeface="Arial"/>
                <a:cs typeface="Arial"/>
                <a:sym typeface="Arial"/>
              </a:defRPr>
            </a:lvl1pPr>
          </a:lstStyle>
          <a:p>
            <a:pPr algn="l">
              <a:buNone/>
            </a:pPr>
            <a:r>
              <a:rPr dirty="0"/>
              <a:t>Metformin (Glucophage)</a:t>
            </a:r>
          </a:p>
        </p:txBody>
      </p:sp>
      <p:sp>
        <p:nvSpPr>
          <p:cNvPr id="153" name="Shape 153"/>
          <p:cNvSpPr>
            <a:spLocks noGrp="1"/>
          </p:cNvSpPr>
          <p:nvPr>
            <p:ph idx="1"/>
          </p:nvPr>
        </p:nvSpPr>
        <p:spPr>
          <a:xfrm>
            <a:off x="489098" y="1786271"/>
            <a:ext cx="11865462" cy="6911162"/>
          </a:xfrm>
          <a:prstGeom prst="rect">
            <a:avLst/>
          </a:prstGeom>
        </p:spPr>
        <p:txBody>
          <a:bodyPr lIns="72248" tIns="72248" rIns="72248" bIns="72248">
            <a:noAutofit/>
          </a:bodyPr>
          <a:lstStyle/>
          <a:p>
            <a:pPr defTabSz="1300162">
              <a:spcBef>
                <a:spcPts val="700"/>
              </a:spcBef>
              <a:buNone/>
              <a:defRPr sz="4400">
                <a:latin typeface="Arial"/>
                <a:ea typeface="Arial"/>
                <a:cs typeface="Arial"/>
                <a:sym typeface="Arial"/>
              </a:defRPr>
            </a:pPr>
            <a:r>
              <a:rPr lang="en-US" sz="3200" b="1" dirty="0">
                <a:latin typeface="Calibri" charset="0"/>
                <a:ea typeface="Calibri" charset="0"/>
                <a:cs typeface="Calibri" charset="0"/>
              </a:rPr>
              <a:t>Drug class</a:t>
            </a:r>
            <a:r>
              <a:rPr lang="en-US" sz="3200" dirty="0">
                <a:latin typeface="Calibri" charset="0"/>
                <a:ea typeface="Calibri" charset="0"/>
                <a:cs typeface="Calibri" charset="0"/>
              </a:rPr>
              <a:t>: biguanides (the only drug in the class)</a:t>
            </a:r>
          </a:p>
          <a:p>
            <a:pPr defTabSz="1300162">
              <a:spcBef>
                <a:spcPts val="700"/>
              </a:spcBef>
              <a:buNone/>
              <a:defRPr sz="4400">
                <a:latin typeface="Arial"/>
                <a:ea typeface="Arial"/>
                <a:cs typeface="Arial"/>
                <a:sym typeface="Arial"/>
              </a:defRPr>
            </a:pPr>
            <a:endParaRPr lang="en-US" sz="3200" b="1" dirty="0">
              <a:latin typeface="Calibri" charset="0"/>
              <a:ea typeface="Calibri" charset="0"/>
              <a:cs typeface="Calibri" charset="0"/>
            </a:endParaRPr>
          </a:p>
          <a:p>
            <a:pPr defTabSz="1300162">
              <a:spcBef>
                <a:spcPts val="700"/>
              </a:spcBef>
              <a:buNone/>
              <a:defRPr sz="4400">
                <a:latin typeface="Arial"/>
                <a:ea typeface="Arial"/>
                <a:cs typeface="Arial"/>
                <a:sym typeface="Arial"/>
              </a:defRPr>
            </a:pPr>
            <a:r>
              <a:rPr lang="en-US" sz="3200" b="1" dirty="0">
                <a:latin typeface="Calibri" charset="0"/>
                <a:ea typeface="Calibri" charset="0"/>
                <a:cs typeface="Calibri" charset="0"/>
              </a:rPr>
              <a:t>MOA</a:t>
            </a:r>
            <a:r>
              <a:rPr lang="en-US" sz="3200" dirty="0">
                <a:latin typeface="Calibri" charset="0"/>
                <a:ea typeface="Calibri" charset="0"/>
                <a:cs typeface="Calibri" charset="0"/>
              </a:rPr>
              <a:t>: </a:t>
            </a:r>
            <a:r>
              <a:rPr sz="3200" dirty="0">
                <a:latin typeface="Calibri" charset="0"/>
                <a:ea typeface="Calibri" charset="0"/>
                <a:cs typeface="Calibri" charset="0"/>
              </a:rPr>
              <a:t> </a:t>
            </a:r>
            <a:endParaRPr lang="en-US" sz="3200" dirty="0">
              <a:latin typeface="Calibri" charset="0"/>
              <a:ea typeface="Calibri" charset="0"/>
              <a:cs typeface="Calibri" charset="0"/>
            </a:endParaRPr>
          </a:p>
          <a:p>
            <a:pPr marL="1020763" lvl="1" indent="-742950" defTabSz="1300162">
              <a:spcBef>
                <a:spcPts val="700"/>
              </a:spcBef>
              <a:buFont typeface="+mj-lt"/>
              <a:buAutoNum type="arabicPeriod"/>
              <a:defRPr sz="4400">
                <a:latin typeface="Arial"/>
                <a:ea typeface="Arial"/>
                <a:cs typeface="Arial"/>
                <a:sym typeface="Arial"/>
              </a:defRPr>
            </a:pPr>
            <a:r>
              <a:rPr lang="en-US" sz="3200" dirty="0">
                <a:latin typeface="Calibri" panose="020F0502020204030204" pitchFamily="34" charset="0"/>
                <a:ea typeface="Calibri" panose="020F0502020204030204" pitchFamily="34" charset="0"/>
                <a:cs typeface="Calibri" panose="020F0502020204030204" pitchFamily="34" charset="0"/>
              </a:rPr>
              <a:t>↓</a:t>
            </a:r>
            <a:r>
              <a:rPr sz="3200" dirty="0">
                <a:latin typeface="Calibri" charset="0"/>
                <a:ea typeface="Calibri" charset="0"/>
                <a:cs typeface="Calibri" charset="0"/>
              </a:rPr>
              <a:t> hepatic production of glucose </a:t>
            </a:r>
            <a:endParaRPr lang="en-US" sz="3200" dirty="0">
              <a:latin typeface="Calibri" charset="0"/>
              <a:ea typeface="Calibri" charset="0"/>
              <a:cs typeface="Calibri" charset="0"/>
            </a:endParaRPr>
          </a:p>
          <a:p>
            <a:pPr marL="1020763" lvl="1" indent="-742950" defTabSz="1300162">
              <a:spcBef>
                <a:spcPts val="700"/>
              </a:spcBef>
              <a:buFont typeface="+mj-lt"/>
              <a:buAutoNum type="arabicPeriod"/>
              <a:defRPr sz="4400">
                <a:latin typeface="Arial"/>
                <a:ea typeface="Arial"/>
                <a:cs typeface="Arial"/>
                <a:sym typeface="Arial"/>
              </a:defRPr>
            </a:pPr>
            <a:r>
              <a:rPr lang="en-US" sz="3200" dirty="0">
                <a:latin typeface="Calibri" panose="020F0502020204030204" pitchFamily="34" charset="0"/>
                <a:ea typeface="Calibri" panose="020F0502020204030204" pitchFamily="34" charset="0"/>
                <a:cs typeface="Calibri" panose="020F0502020204030204" pitchFamily="34" charset="0"/>
              </a:rPr>
              <a:t>↓</a:t>
            </a:r>
            <a:r>
              <a:rPr lang="en-US" sz="3200" dirty="0">
                <a:latin typeface="Calibri" charset="0"/>
                <a:ea typeface="Calibri" charset="0"/>
                <a:cs typeface="Calibri" charset="0"/>
              </a:rPr>
              <a:t> absorption of glucose from GI tract</a:t>
            </a:r>
          </a:p>
          <a:p>
            <a:pPr marL="1020763" lvl="1" indent="-742950" defTabSz="1300162">
              <a:spcBef>
                <a:spcPts val="700"/>
              </a:spcBef>
              <a:buFont typeface="+mj-lt"/>
              <a:buAutoNum type="arabicPeriod"/>
              <a:defRPr sz="4400">
                <a:latin typeface="Arial"/>
                <a:ea typeface="Arial"/>
                <a:cs typeface="Arial"/>
                <a:sym typeface="Arial"/>
              </a:defRPr>
            </a:pPr>
            <a:r>
              <a:rPr lang="en-US" sz="3200" dirty="0">
                <a:latin typeface="Calibri" panose="020F0502020204030204" pitchFamily="34" charset="0"/>
                <a:ea typeface="Calibri" panose="020F0502020204030204" pitchFamily="34" charset="0"/>
                <a:cs typeface="Calibri" panose="020F0502020204030204" pitchFamily="34" charset="0"/>
              </a:rPr>
              <a:t>↑</a:t>
            </a:r>
            <a:r>
              <a:rPr lang="en-US" sz="3200" dirty="0">
                <a:latin typeface="Calibri" charset="0"/>
                <a:ea typeface="Calibri" charset="0"/>
                <a:cs typeface="Calibri" charset="0"/>
              </a:rPr>
              <a:t> insulin sensitivity / peripheral glucose uptake</a:t>
            </a:r>
          </a:p>
          <a:p>
            <a:pPr marL="1020763" lvl="1" indent="-742950" defTabSz="1300162">
              <a:spcBef>
                <a:spcPts val="700"/>
              </a:spcBef>
              <a:buFont typeface="+mj-lt"/>
              <a:buAutoNum type="arabicPeriod"/>
              <a:defRPr sz="4400">
                <a:latin typeface="Arial"/>
                <a:ea typeface="Arial"/>
                <a:cs typeface="Arial"/>
                <a:sym typeface="Arial"/>
              </a:defRPr>
            </a:pPr>
            <a:endParaRPr lang="en-US" sz="3200" dirty="0">
              <a:latin typeface="Calibri" charset="0"/>
              <a:ea typeface="Calibri" charset="0"/>
              <a:cs typeface="Calibri" charset="0"/>
            </a:endParaRPr>
          </a:p>
          <a:p>
            <a:pPr marL="0" lvl="1" indent="0" defTabSz="1300162">
              <a:spcBef>
                <a:spcPts val="700"/>
              </a:spcBef>
              <a:buNone/>
              <a:defRPr sz="4400">
                <a:latin typeface="Arial"/>
                <a:ea typeface="Arial"/>
                <a:cs typeface="Arial"/>
                <a:sym typeface="Arial"/>
              </a:defRPr>
            </a:pPr>
            <a:r>
              <a:rPr lang="en-US" sz="3200" b="1" dirty="0">
                <a:latin typeface="Calibri" charset="0"/>
                <a:ea typeface="Calibri" charset="0"/>
                <a:cs typeface="Calibri" charset="0"/>
              </a:rPr>
              <a:t>Formulations</a:t>
            </a:r>
            <a:r>
              <a:rPr lang="en-US" sz="3200" dirty="0">
                <a:latin typeface="Calibri" charset="0"/>
                <a:ea typeface="Calibri" charset="0"/>
                <a:cs typeface="Calibri" charset="0"/>
              </a:rPr>
              <a:t>: Immediate-release (IR) and Extended-release (ER) </a:t>
            </a:r>
          </a:p>
          <a:p>
            <a:pPr marL="0" lvl="1" indent="0" defTabSz="1300162">
              <a:spcBef>
                <a:spcPts val="700"/>
              </a:spcBef>
              <a:buNone/>
              <a:defRPr sz="4400">
                <a:latin typeface="Arial"/>
                <a:ea typeface="Arial"/>
                <a:cs typeface="Arial"/>
                <a:sym typeface="Arial"/>
              </a:defRPr>
            </a:pPr>
            <a:endParaRPr lang="en-US" sz="3200" dirty="0">
              <a:latin typeface="Calibri" charset="0"/>
              <a:ea typeface="Calibri" charset="0"/>
              <a:cs typeface="Calibri" charset="0"/>
            </a:endParaRPr>
          </a:p>
          <a:p>
            <a:pPr marL="0" lvl="1" indent="0" defTabSz="1300162">
              <a:spcBef>
                <a:spcPts val="700"/>
              </a:spcBef>
              <a:buNone/>
              <a:defRPr sz="4400">
                <a:latin typeface="Arial"/>
                <a:ea typeface="Arial"/>
                <a:cs typeface="Arial"/>
                <a:sym typeface="Arial"/>
              </a:defRPr>
            </a:pPr>
            <a:r>
              <a:rPr lang="en-US" sz="3200" b="1" dirty="0">
                <a:latin typeface="Calibri" charset="0"/>
                <a:ea typeface="Calibri" charset="0"/>
                <a:cs typeface="Calibri" charset="0"/>
              </a:rPr>
              <a:t>Typical Max Dose: </a:t>
            </a:r>
            <a:r>
              <a:rPr lang="en-US" sz="3200" dirty="0">
                <a:latin typeface="Calibri" charset="0"/>
                <a:ea typeface="Calibri" charset="0"/>
                <a:cs typeface="Calibri" charset="0"/>
              </a:rPr>
              <a:t>The maximum dose is 2000mg per day</a:t>
            </a:r>
            <a:endParaRPr sz="3200" dirty="0">
              <a:latin typeface="Calibri" charset="0"/>
              <a:ea typeface="Calibri" charset="0"/>
              <a:cs typeface="Calibri" charset="0"/>
            </a:endParaRPr>
          </a:p>
        </p:txBody>
      </p:sp>
    </p:spTree>
    <p:extLst>
      <p:ext uri="{BB962C8B-B14F-4D97-AF65-F5344CB8AC3E}">
        <p14:creationId xmlns:p14="http://schemas.microsoft.com/office/powerpoint/2010/main" val="2181678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Shape 152"/>
          <p:cNvSpPr>
            <a:spLocks noGrp="1"/>
          </p:cNvSpPr>
          <p:nvPr>
            <p:ph type="title" idx="4294967295"/>
          </p:nvPr>
        </p:nvSpPr>
        <p:spPr>
          <a:xfrm>
            <a:off x="649287" y="0"/>
            <a:ext cx="11704638" cy="1516063"/>
          </a:xfrm>
          <a:prstGeom prst="rect">
            <a:avLst/>
          </a:prstGeom>
        </p:spPr>
        <p:txBody>
          <a:bodyPr lIns="72248" tIns="72248" rIns="72248" bIns="72248" anchor="ctr">
            <a:normAutofit/>
          </a:bodyPr>
          <a:lstStyle>
            <a:lvl1pPr defTabSz="1300162">
              <a:defRPr sz="5600">
                <a:latin typeface="Arial"/>
                <a:ea typeface="Arial"/>
                <a:cs typeface="Arial"/>
                <a:sym typeface="Arial"/>
              </a:defRPr>
            </a:lvl1pPr>
          </a:lstStyle>
          <a:p>
            <a:pPr algn="l">
              <a:buNone/>
            </a:pPr>
            <a:r>
              <a:rPr dirty="0"/>
              <a:t>Metformin (Glucophage)</a:t>
            </a:r>
          </a:p>
        </p:txBody>
      </p:sp>
      <p:sp>
        <p:nvSpPr>
          <p:cNvPr id="153" name="Shape 153"/>
          <p:cNvSpPr>
            <a:spLocks noGrp="1"/>
          </p:cNvSpPr>
          <p:nvPr>
            <p:ph type="body" idx="4294967295"/>
          </p:nvPr>
        </p:nvSpPr>
        <p:spPr>
          <a:xfrm>
            <a:off x="331076" y="1625600"/>
            <a:ext cx="12456238" cy="8018463"/>
          </a:xfrm>
          <a:prstGeom prst="rect">
            <a:avLst/>
          </a:prstGeom>
        </p:spPr>
        <p:txBody>
          <a:bodyPr lIns="72248" tIns="72248" rIns="72248" bIns="72248">
            <a:noAutofit/>
          </a:bodyPr>
          <a:lstStyle/>
          <a:p>
            <a:pPr defTabSz="1300162">
              <a:lnSpc>
                <a:spcPct val="110000"/>
              </a:lnSpc>
              <a:spcBef>
                <a:spcPts val="700"/>
              </a:spcBef>
              <a:buNone/>
              <a:defRPr sz="4400">
                <a:latin typeface="Arial"/>
                <a:ea typeface="Arial"/>
                <a:cs typeface="Arial"/>
                <a:sym typeface="Arial"/>
              </a:defRPr>
            </a:pPr>
            <a:r>
              <a:rPr lang="en-US" sz="3600" b="1" dirty="0">
                <a:latin typeface="Calibri" charset="0"/>
                <a:ea typeface="Calibri" charset="0"/>
                <a:cs typeface="Calibri" charset="0"/>
              </a:rPr>
              <a:t>Indications</a:t>
            </a:r>
            <a:r>
              <a:rPr lang="en-US" sz="3600" dirty="0">
                <a:latin typeface="Calibri" charset="0"/>
                <a:ea typeface="Calibri" charset="0"/>
                <a:cs typeface="Calibri" charset="0"/>
              </a:rPr>
              <a:t>: Treatment of T2DM</a:t>
            </a:r>
          </a:p>
          <a:p>
            <a:pPr marL="1461191" lvl="1" indent="-722312" defTabSz="1300162">
              <a:lnSpc>
                <a:spcPct val="110000"/>
              </a:lnSpc>
              <a:spcBef>
                <a:spcPts val="700"/>
              </a:spcBef>
              <a:buChar char="•"/>
              <a:defRPr sz="4400">
                <a:latin typeface="Arial"/>
                <a:ea typeface="Arial"/>
                <a:cs typeface="Arial"/>
                <a:sym typeface="Arial"/>
              </a:defRPr>
            </a:pPr>
            <a:endParaRPr lang="en-US" sz="1800" dirty="0">
              <a:latin typeface="Calibri" charset="0"/>
              <a:ea typeface="Calibri" charset="0"/>
              <a:cs typeface="Calibri" charset="0"/>
            </a:endParaRPr>
          </a:p>
          <a:p>
            <a:pPr defTabSz="1300162">
              <a:lnSpc>
                <a:spcPct val="110000"/>
              </a:lnSpc>
              <a:spcBef>
                <a:spcPts val="700"/>
              </a:spcBef>
              <a:buNone/>
              <a:defRPr sz="4400">
                <a:latin typeface="Arial"/>
                <a:ea typeface="Arial"/>
                <a:cs typeface="Arial"/>
                <a:sym typeface="Arial"/>
              </a:defRPr>
            </a:pPr>
            <a:r>
              <a:rPr lang="en-US" sz="3600" b="1" dirty="0">
                <a:latin typeface="Calibri" charset="0"/>
                <a:ea typeface="Calibri" charset="0"/>
                <a:cs typeface="Calibri" charset="0"/>
              </a:rPr>
              <a:t>Off-label uses</a:t>
            </a:r>
          </a:p>
          <a:p>
            <a:pPr marL="720725" indent="-211138" defTabSz="1300162">
              <a:lnSpc>
                <a:spcPct val="110000"/>
              </a:lnSpc>
              <a:spcBef>
                <a:spcPts val="700"/>
              </a:spcBef>
              <a:buFont typeface="Arial"/>
              <a:buChar char="•"/>
              <a:defRPr sz="4400">
                <a:latin typeface="Arial"/>
                <a:ea typeface="Arial"/>
                <a:cs typeface="Arial"/>
                <a:sym typeface="Arial"/>
              </a:defRPr>
            </a:pPr>
            <a:r>
              <a:rPr lang="en-US" sz="3600" dirty="0">
                <a:latin typeface="Calibri" charset="0"/>
                <a:ea typeface="Calibri" charset="0"/>
                <a:cs typeface="Calibri" charset="0"/>
              </a:rPr>
              <a:t>Pre-diabetes prevention</a:t>
            </a:r>
          </a:p>
          <a:p>
            <a:pPr marL="720725" indent="-211138" defTabSz="1300162">
              <a:lnSpc>
                <a:spcPct val="110000"/>
              </a:lnSpc>
              <a:spcBef>
                <a:spcPts val="700"/>
              </a:spcBef>
              <a:buFont typeface="Arial"/>
              <a:buChar char="•"/>
              <a:defRPr sz="4400">
                <a:latin typeface="Arial"/>
                <a:ea typeface="Arial"/>
                <a:cs typeface="Arial"/>
                <a:sym typeface="Arial"/>
              </a:defRPr>
            </a:pPr>
            <a:r>
              <a:rPr lang="en-US" sz="3600" dirty="0">
                <a:latin typeface="Calibri" charset="0"/>
                <a:ea typeface="Calibri" charset="0"/>
                <a:cs typeface="Calibri" charset="0"/>
              </a:rPr>
              <a:t>Polycystic ovarian syndrome</a:t>
            </a:r>
          </a:p>
          <a:p>
            <a:pPr marL="720725" indent="-211138" defTabSz="1300162">
              <a:lnSpc>
                <a:spcPct val="110000"/>
              </a:lnSpc>
              <a:spcBef>
                <a:spcPts val="700"/>
              </a:spcBef>
              <a:buFont typeface="Arial"/>
              <a:buChar char="•"/>
              <a:defRPr sz="4400">
                <a:latin typeface="Arial"/>
                <a:ea typeface="Arial"/>
                <a:cs typeface="Arial"/>
                <a:sym typeface="Arial"/>
              </a:defRPr>
            </a:pPr>
            <a:r>
              <a:rPr lang="en-US" sz="3600" dirty="0">
                <a:latin typeface="Calibri" charset="0"/>
                <a:ea typeface="Calibri" charset="0"/>
                <a:cs typeface="Calibri" charset="0"/>
              </a:rPr>
              <a:t>Gestational Diabetes</a:t>
            </a:r>
          </a:p>
          <a:p>
            <a:pPr lvl="1" indent="0" defTabSz="1300162">
              <a:lnSpc>
                <a:spcPct val="110000"/>
              </a:lnSpc>
              <a:spcBef>
                <a:spcPts val="700"/>
              </a:spcBef>
              <a:buNone/>
              <a:defRPr sz="4400">
                <a:latin typeface="Arial"/>
                <a:ea typeface="Arial"/>
                <a:cs typeface="Arial"/>
                <a:sym typeface="Arial"/>
              </a:defRPr>
            </a:pPr>
            <a:endParaRPr lang="en-US" sz="2000" dirty="0">
              <a:latin typeface="Calibri" charset="0"/>
              <a:ea typeface="Calibri" charset="0"/>
              <a:cs typeface="Calibri" charset="0"/>
            </a:endParaRPr>
          </a:p>
          <a:p>
            <a:pPr defTabSz="1300162">
              <a:lnSpc>
                <a:spcPct val="110000"/>
              </a:lnSpc>
              <a:spcBef>
                <a:spcPts val="700"/>
              </a:spcBef>
              <a:buNone/>
              <a:defRPr sz="4400">
                <a:latin typeface="Arial"/>
                <a:ea typeface="Arial"/>
                <a:cs typeface="Arial"/>
                <a:sym typeface="Arial"/>
              </a:defRPr>
            </a:pPr>
            <a:r>
              <a:rPr lang="en-US" sz="3600" b="1" dirty="0">
                <a:latin typeface="Calibri" charset="0"/>
                <a:ea typeface="Calibri" charset="0"/>
                <a:cs typeface="Calibri" charset="0"/>
              </a:rPr>
              <a:t>Elimination</a:t>
            </a:r>
            <a:r>
              <a:rPr lang="en-US" sz="3600" dirty="0">
                <a:latin typeface="Calibri" charset="0"/>
                <a:ea typeface="Calibri" charset="0"/>
                <a:cs typeface="Calibri" charset="0"/>
              </a:rPr>
              <a:t>: renal</a:t>
            </a:r>
          </a:p>
          <a:p>
            <a:pPr defTabSz="1300162">
              <a:lnSpc>
                <a:spcPct val="110000"/>
              </a:lnSpc>
              <a:spcBef>
                <a:spcPts val="700"/>
              </a:spcBef>
              <a:buNone/>
              <a:defRPr sz="4400">
                <a:latin typeface="Arial"/>
                <a:ea typeface="Arial"/>
                <a:cs typeface="Arial"/>
                <a:sym typeface="Arial"/>
              </a:defRPr>
            </a:pPr>
            <a:r>
              <a:rPr lang="en-US" sz="3600" b="1" dirty="0">
                <a:latin typeface="Calibri" charset="0"/>
                <a:ea typeface="Calibri" charset="0"/>
                <a:cs typeface="Calibri" charset="0"/>
              </a:rPr>
              <a:t>Pregnancy: </a:t>
            </a:r>
            <a:r>
              <a:rPr lang="en-US" sz="3600" dirty="0">
                <a:latin typeface="Calibri" charset="0"/>
                <a:ea typeface="Calibri" charset="0"/>
                <a:cs typeface="Calibri" charset="0"/>
              </a:rPr>
              <a:t>crosses placenta, insulin preferred</a:t>
            </a:r>
          </a:p>
          <a:p>
            <a:pPr defTabSz="1300162">
              <a:lnSpc>
                <a:spcPct val="110000"/>
              </a:lnSpc>
              <a:spcBef>
                <a:spcPts val="700"/>
              </a:spcBef>
              <a:buNone/>
              <a:defRPr sz="4400">
                <a:latin typeface="Arial"/>
                <a:ea typeface="Arial"/>
                <a:cs typeface="Arial"/>
                <a:sym typeface="Arial"/>
              </a:defRPr>
            </a:pPr>
            <a:r>
              <a:rPr lang="en-US" sz="3600" b="1" dirty="0">
                <a:latin typeface="Calibri" charset="0"/>
                <a:ea typeface="Calibri" charset="0"/>
                <a:cs typeface="Calibri" charset="0"/>
              </a:rPr>
              <a:t>Lactation: </a:t>
            </a:r>
            <a:r>
              <a:rPr lang="en-US" sz="3600" dirty="0">
                <a:latin typeface="Calibri" charset="0"/>
                <a:ea typeface="Calibri" charset="0"/>
                <a:cs typeface="Calibri" charset="0"/>
              </a:rPr>
              <a:t>does enter breastmilk, relative infant dose (RID) is low</a:t>
            </a:r>
            <a:endParaRPr sz="3600" dirty="0">
              <a:latin typeface="Calibri" charset="0"/>
              <a:ea typeface="Calibri" charset="0"/>
              <a:cs typeface="Calibri" charset="0"/>
            </a:endParaRPr>
          </a:p>
        </p:txBody>
      </p:sp>
    </p:spTree>
    <p:extLst>
      <p:ext uri="{BB962C8B-B14F-4D97-AF65-F5344CB8AC3E}">
        <p14:creationId xmlns:p14="http://schemas.microsoft.com/office/powerpoint/2010/main" val="13959846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Shape 155"/>
          <p:cNvSpPr>
            <a:spLocks noGrp="1"/>
          </p:cNvSpPr>
          <p:nvPr>
            <p:ph type="title" idx="4294967295"/>
          </p:nvPr>
        </p:nvSpPr>
        <p:spPr>
          <a:xfrm>
            <a:off x="649287" y="0"/>
            <a:ext cx="11704638" cy="1516063"/>
          </a:xfrm>
          <a:prstGeom prst="rect">
            <a:avLst/>
          </a:prstGeom>
        </p:spPr>
        <p:txBody>
          <a:bodyPr lIns="72248" tIns="72248" rIns="72248" bIns="72248" anchor="ctr">
            <a:normAutofit/>
          </a:bodyPr>
          <a:lstStyle>
            <a:lvl1pPr defTabSz="1300162">
              <a:defRPr sz="5600">
                <a:latin typeface="Arial"/>
                <a:ea typeface="Arial"/>
                <a:cs typeface="Arial"/>
                <a:sym typeface="Arial"/>
              </a:defRPr>
            </a:lvl1pPr>
          </a:lstStyle>
          <a:p>
            <a:pPr algn="l">
              <a:buNone/>
            </a:pPr>
            <a:r>
              <a:rPr dirty="0"/>
              <a:t>Metformin:  Advantages</a:t>
            </a:r>
          </a:p>
        </p:txBody>
      </p:sp>
      <p:sp>
        <p:nvSpPr>
          <p:cNvPr id="156" name="Shape 156"/>
          <p:cNvSpPr>
            <a:spLocks noGrp="1"/>
          </p:cNvSpPr>
          <p:nvPr>
            <p:ph type="body" idx="4294967295"/>
          </p:nvPr>
        </p:nvSpPr>
        <p:spPr>
          <a:xfrm>
            <a:off x="323850" y="2244436"/>
            <a:ext cx="12463463" cy="7399627"/>
          </a:xfrm>
          <a:prstGeom prst="rect">
            <a:avLst/>
          </a:prstGeom>
        </p:spPr>
        <p:txBody>
          <a:bodyPr lIns="72248" tIns="72248" rIns="72248" bIns="72248">
            <a:normAutofit/>
          </a:bodyPr>
          <a:lstStyle/>
          <a:p>
            <a:pPr defTabSz="1300162">
              <a:spcBef>
                <a:spcPts val="700"/>
              </a:spcBef>
              <a:buSzPct val="80000"/>
              <a:buNone/>
              <a:defRPr sz="4800">
                <a:latin typeface="Arial"/>
                <a:ea typeface="Arial"/>
                <a:cs typeface="Arial"/>
                <a:sym typeface="Arial"/>
              </a:defRPr>
            </a:pPr>
            <a:r>
              <a:rPr lang="en-US" sz="3200" dirty="0">
                <a:latin typeface="Calibri" charset="0"/>
                <a:ea typeface="Calibri" charset="0"/>
                <a:cs typeface="Calibri" charset="0"/>
              </a:rPr>
              <a:t>Metformin is effective</a:t>
            </a:r>
            <a:endParaRPr sz="3200" dirty="0">
              <a:latin typeface="Calibri" charset="0"/>
              <a:ea typeface="Calibri" charset="0"/>
              <a:cs typeface="Calibri" charset="0"/>
            </a:endParaRPr>
          </a:p>
          <a:p>
            <a:pPr marL="685800" indent="-217488" defTabSz="1300162">
              <a:spcBef>
                <a:spcPts val="700"/>
              </a:spcBef>
              <a:buSzPct val="80000"/>
              <a:buFontTx/>
              <a:buChar char="•"/>
              <a:defRPr sz="4500">
                <a:latin typeface="Arial"/>
                <a:ea typeface="Arial"/>
                <a:cs typeface="Arial"/>
                <a:sym typeface="Arial"/>
              </a:defRPr>
            </a:pPr>
            <a:r>
              <a:rPr lang="en-US" sz="3200" b="1" dirty="0">
                <a:latin typeface="Calibri" panose="020F0502020204030204" pitchFamily="34" charset="0"/>
                <a:ea typeface="Calibri" panose="020F0502020204030204" pitchFamily="34" charset="0"/>
                <a:cs typeface="Calibri" panose="020F0502020204030204" pitchFamily="34" charset="0"/>
              </a:rPr>
              <a:t>↓ </a:t>
            </a:r>
            <a:r>
              <a:rPr sz="3200" b="1" dirty="0">
                <a:latin typeface="Calibri" charset="0"/>
                <a:ea typeface="Calibri" charset="0"/>
                <a:cs typeface="Calibri" charset="0"/>
              </a:rPr>
              <a:t>A</a:t>
            </a:r>
            <a:r>
              <a:rPr sz="3200" b="1" baseline="-18999" dirty="0">
                <a:latin typeface="Calibri" charset="0"/>
                <a:ea typeface="Calibri" charset="0"/>
                <a:cs typeface="Calibri" charset="0"/>
              </a:rPr>
              <a:t>1C</a:t>
            </a:r>
            <a:r>
              <a:rPr sz="3200" b="1" dirty="0">
                <a:latin typeface="Calibri" charset="0"/>
                <a:ea typeface="Calibri" charset="0"/>
                <a:cs typeface="Calibri" charset="0"/>
              </a:rPr>
              <a:t> by 1</a:t>
            </a:r>
            <a:r>
              <a:rPr lang="en-US" sz="3200" b="1" dirty="0">
                <a:latin typeface="Calibri" charset="0"/>
                <a:ea typeface="Calibri" charset="0"/>
                <a:cs typeface="Calibri" charset="0"/>
              </a:rPr>
              <a:t>-1.5</a:t>
            </a:r>
            <a:r>
              <a:rPr sz="3200" b="1" dirty="0">
                <a:latin typeface="Calibri" charset="0"/>
                <a:ea typeface="Calibri" charset="0"/>
                <a:cs typeface="Calibri" charset="0"/>
              </a:rPr>
              <a:t>%</a:t>
            </a:r>
            <a:endParaRPr lang="en-US" sz="3200" b="1" dirty="0">
              <a:latin typeface="Calibri" charset="0"/>
              <a:ea typeface="Calibri" charset="0"/>
              <a:cs typeface="Calibri" charset="0"/>
            </a:endParaRPr>
          </a:p>
          <a:p>
            <a:pPr marL="685800" indent="-217488" defTabSz="1300162">
              <a:spcBef>
                <a:spcPts val="700"/>
              </a:spcBef>
              <a:buSzPct val="80000"/>
              <a:buFontTx/>
              <a:buChar char="•"/>
              <a:defRPr sz="4500">
                <a:latin typeface="Arial"/>
                <a:ea typeface="Arial"/>
                <a:cs typeface="Arial"/>
                <a:sym typeface="Arial"/>
              </a:defRPr>
            </a:pPr>
            <a:r>
              <a:rPr lang="en-US" sz="3200" b="1" dirty="0" err="1">
                <a:latin typeface="Calibri" charset="0"/>
                <a:ea typeface="Calibri" charset="0"/>
                <a:cs typeface="Calibri" charset="0"/>
              </a:rPr>
              <a:t>Wt</a:t>
            </a:r>
            <a:r>
              <a:rPr lang="en-US" sz="3200" b="1" dirty="0">
                <a:latin typeface="Calibri" charset="0"/>
                <a:ea typeface="Calibri" charset="0"/>
                <a:cs typeface="Calibri" charset="0"/>
              </a:rPr>
              <a:t> neutral to modest weight loss</a:t>
            </a:r>
          </a:p>
          <a:p>
            <a:pPr marL="685800" indent="-217488" defTabSz="1300162">
              <a:spcBef>
                <a:spcPts val="700"/>
              </a:spcBef>
              <a:buSzPct val="80000"/>
              <a:buFontTx/>
              <a:buChar char="•"/>
              <a:defRPr sz="4500">
                <a:latin typeface="Arial"/>
                <a:ea typeface="Arial"/>
                <a:cs typeface="Arial"/>
                <a:sym typeface="Arial"/>
              </a:defRPr>
            </a:pPr>
            <a:r>
              <a:rPr lang="en-US" sz="3200" b="1" dirty="0">
                <a:latin typeface="Calibri" charset="0"/>
                <a:ea typeface="Calibri" charset="0"/>
                <a:cs typeface="Calibri" charset="0"/>
              </a:rPr>
              <a:t>Low risk of hypoglycemia </a:t>
            </a:r>
            <a:r>
              <a:rPr lang="en-US" sz="3200" dirty="0">
                <a:latin typeface="Calibri" charset="0"/>
                <a:ea typeface="Calibri" charset="0"/>
                <a:cs typeface="Calibri" charset="0"/>
              </a:rPr>
              <a:t>when used as monotherapy</a:t>
            </a:r>
          </a:p>
          <a:p>
            <a:pPr marL="685800" indent="-217488" defTabSz="1300162">
              <a:spcBef>
                <a:spcPts val="700"/>
              </a:spcBef>
              <a:buSzPct val="80000"/>
              <a:buFontTx/>
              <a:buChar char="•"/>
              <a:defRPr sz="4500">
                <a:latin typeface="Arial"/>
                <a:ea typeface="Arial"/>
                <a:cs typeface="Arial"/>
                <a:sym typeface="Arial"/>
              </a:defRPr>
            </a:pPr>
            <a:r>
              <a:rPr lang="en-US" sz="3200" dirty="0">
                <a:latin typeface="Calibri" charset="0"/>
                <a:ea typeface="Calibri" charset="0"/>
                <a:cs typeface="Calibri" charset="0"/>
              </a:rPr>
              <a:t>FDA approved for age ≥ 10 years</a:t>
            </a:r>
          </a:p>
          <a:p>
            <a:pPr defTabSz="1300162">
              <a:spcBef>
                <a:spcPts val="700"/>
              </a:spcBef>
              <a:buSzPct val="80000"/>
              <a:buNone/>
              <a:defRPr sz="4500">
                <a:latin typeface="Arial"/>
                <a:ea typeface="Arial"/>
                <a:cs typeface="Arial"/>
                <a:sym typeface="Arial"/>
              </a:defRPr>
            </a:pPr>
            <a:endParaRPr sz="4000" dirty="0">
              <a:latin typeface="Calibri" charset="0"/>
              <a:ea typeface="Calibri" charset="0"/>
              <a:cs typeface="Calibri" charset="0"/>
            </a:endParaRPr>
          </a:p>
          <a:p>
            <a:pPr marL="685800" indent="-685800" defTabSz="1300162">
              <a:spcBef>
                <a:spcPts val="700"/>
              </a:spcBef>
              <a:buSzPct val="80000"/>
              <a:buChar char="•"/>
              <a:defRPr sz="4500">
                <a:latin typeface="Arial"/>
                <a:ea typeface="Arial"/>
                <a:cs typeface="Arial"/>
                <a:sym typeface="Arial"/>
              </a:defRPr>
            </a:pPr>
            <a:endParaRPr sz="3000" dirty="0">
              <a:latin typeface="Calibri" charset="0"/>
              <a:ea typeface="Calibri" charset="0"/>
              <a:cs typeface="Calibri" charset="0"/>
            </a:endParaRPr>
          </a:p>
          <a:p>
            <a:pPr marL="1424679" lvl="1" indent="-685800" defTabSz="1300162">
              <a:spcBef>
                <a:spcPts val="700"/>
              </a:spcBef>
              <a:buSzPct val="80000"/>
              <a:buChar char="•"/>
              <a:defRPr sz="4500">
                <a:latin typeface="Arial"/>
                <a:ea typeface="Arial"/>
                <a:cs typeface="Arial"/>
                <a:sym typeface="Arial"/>
              </a:defRPr>
            </a:pPr>
            <a:endParaRPr lang="en-US" sz="2000" dirty="0">
              <a:latin typeface="Calibri" charset="0"/>
              <a:ea typeface="Calibri" charset="0"/>
              <a:cs typeface="Calibri" charset="0"/>
            </a:endParaRPr>
          </a:p>
        </p:txBody>
      </p:sp>
    </p:spTree>
    <p:extLst>
      <p:ext uri="{BB962C8B-B14F-4D97-AF65-F5344CB8AC3E}">
        <p14:creationId xmlns:p14="http://schemas.microsoft.com/office/powerpoint/2010/main" val="8903178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Shape 158"/>
          <p:cNvSpPr>
            <a:spLocks noGrp="1"/>
          </p:cNvSpPr>
          <p:nvPr>
            <p:ph type="title"/>
          </p:nvPr>
        </p:nvSpPr>
        <p:spPr>
          <a:prstGeom prst="rect">
            <a:avLst/>
          </a:prstGeom>
        </p:spPr>
        <p:txBody>
          <a:bodyPr lIns="72248" tIns="72248" rIns="72248" bIns="72248" anchor="ctr">
            <a:normAutofit/>
          </a:bodyPr>
          <a:lstStyle>
            <a:lvl1pPr defTabSz="1300162">
              <a:defRPr sz="5600">
                <a:latin typeface="Arial"/>
                <a:ea typeface="Arial"/>
                <a:cs typeface="Arial"/>
                <a:sym typeface="Arial"/>
              </a:defRPr>
            </a:lvl1pPr>
          </a:lstStyle>
          <a:p>
            <a:pPr algn="l">
              <a:buNone/>
            </a:pPr>
            <a:r>
              <a:rPr dirty="0"/>
              <a:t>Metformin: </a:t>
            </a:r>
            <a:r>
              <a:rPr lang="en-US" dirty="0"/>
              <a:t>Side Effects</a:t>
            </a:r>
            <a:endParaRPr dirty="0"/>
          </a:p>
        </p:txBody>
      </p:sp>
      <p:sp>
        <p:nvSpPr>
          <p:cNvPr id="7" name="TextBox 6">
            <a:extLst>
              <a:ext uri="{FF2B5EF4-FFF2-40B4-BE49-F238E27FC236}">
                <a16:creationId xmlns:a16="http://schemas.microsoft.com/office/drawing/2014/main" id="{78D2CE69-2591-4149-B024-A268C51B5260}"/>
              </a:ext>
            </a:extLst>
          </p:cNvPr>
          <p:cNvSpPr txBox="1"/>
          <p:nvPr/>
        </p:nvSpPr>
        <p:spPr>
          <a:xfrm>
            <a:off x="650240" y="2190307"/>
            <a:ext cx="11704320" cy="45243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742950" indent="-742950">
              <a:buFont typeface="+mj-lt"/>
              <a:buAutoNum type="arabicPeriod"/>
            </a:pPr>
            <a:r>
              <a:rPr lang="en-US" b="1" dirty="0">
                <a:latin typeface="Calibri" panose="020F0502020204030204" pitchFamily="34" charset="0"/>
                <a:cs typeface="Calibri" panose="020F0502020204030204" pitchFamily="34" charset="0"/>
              </a:rPr>
              <a:t>GI side effects *</a:t>
            </a:r>
            <a:endParaRPr lang="en-US" dirty="0">
              <a:latin typeface="Calibri" panose="020F0502020204030204" pitchFamily="34" charset="0"/>
              <a:cs typeface="Calibri" panose="020F0502020204030204" pitchFamily="34" charset="0"/>
            </a:endParaRPr>
          </a:p>
          <a:p>
            <a:pPr marL="1084263" lvl="1" indent="-269875">
              <a:buFont typeface="Arial" panose="020B0604020202020204" pitchFamily="34" charset="0"/>
              <a:buChar char="•"/>
            </a:pPr>
            <a:r>
              <a:rPr lang="en-US" dirty="0">
                <a:latin typeface="Calibri" panose="020F0502020204030204" pitchFamily="34" charset="0"/>
                <a:cs typeface="Calibri" panose="020F0502020204030204" pitchFamily="34" charset="0"/>
              </a:rPr>
              <a:t>Diarrhea, N/V</a:t>
            </a:r>
          </a:p>
          <a:p>
            <a:pPr marL="1084263" lvl="1" indent="-269875">
              <a:buFont typeface="Arial" panose="020B0604020202020204" pitchFamily="34" charset="0"/>
              <a:buChar char="•"/>
            </a:pPr>
            <a:r>
              <a:rPr lang="en-US" dirty="0">
                <a:latin typeface="Calibri" panose="020F0502020204030204" pitchFamily="34" charset="0"/>
                <a:cs typeface="Calibri" panose="020F0502020204030204" pitchFamily="34" charset="0"/>
              </a:rPr>
              <a:t>Metallic taste</a:t>
            </a:r>
          </a:p>
          <a:p>
            <a:pPr marL="1084263" lvl="1" indent="-269875">
              <a:buFont typeface="Arial" panose="020B0604020202020204" pitchFamily="34" charset="0"/>
              <a:buChar char="•"/>
            </a:pPr>
            <a:r>
              <a:rPr lang="en-US" dirty="0">
                <a:latin typeface="Calibri" panose="020F0502020204030204" pitchFamily="34" charset="0"/>
                <a:cs typeface="Calibri" panose="020F0502020204030204" pitchFamily="34" charset="0"/>
              </a:rPr>
              <a:t>Minimized by slow titration and/or XR formulation</a:t>
            </a:r>
          </a:p>
          <a:p>
            <a:pPr marL="742950" indent="-742950">
              <a:buFont typeface="+mj-lt"/>
              <a:buAutoNum type="arabicPeriod"/>
            </a:pPr>
            <a:r>
              <a:rPr lang="en-US" b="1" dirty="0">
                <a:latin typeface="Calibri" charset="0"/>
                <a:ea typeface="Calibri" charset="0"/>
                <a:cs typeface="Calibri" charset="0"/>
              </a:rPr>
              <a:t>Vitamin B-12 deficiency </a:t>
            </a:r>
            <a:r>
              <a:rPr lang="en-US" dirty="0">
                <a:latin typeface="Calibri" charset="0"/>
                <a:ea typeface="Calibri" charset="0"/>
                <a:cs typeface="Calibri" charset="0"/>
              </a:rPr>
              <a:t>with long term use</a:t>
            </a:r>
          </a:p>
          <a:p>
            <a:pPr marL="1460988" lvl="1" indent="-742950">
              <a:buFont typeface="+mj-lt"/>
              <a:buAutoNum type="arabicPeriod"/>
            </a:pPr>
            <a:r>
              <a:rPr lang="en-US" dirty="0">
                <a:latin typeface="Calibri" charset="0"/>
                <a:ea typeface="Calibri" charset="0"/>
                <a:cs typeface="Calibri" charset="0"/>
              </a:rPr>
              <a:t>Consider periodic B12 monitoring</a:t>
            </a:r>
          </a:p>
          <a:p>
            <a:pPr marL="742950" indent="-742950">
              <a:buFont typeface="+mj-lt"/>
              <a:buAutoNum type="arabicPeriod"/>
            </a:pPr>
            <a:r>
              <a:rPr lang="en-US" b="1" dirty="0">
                <a:latin typeface="Calibri" panose="020F0502020204030204" pitchFamily="34" charset="0"/>
                <a:cs typeface="Calibri" panose="020F0502020204030204" pitchFamily="34" charset="0"/>
              </a:rPr>
              <a:t>Lactic Acidosis, </a:t>
            </a:r>
            <a:r>
              <a:rPr lang="en-US" dirty="0">
                <a:latin typeface="Calibri" panose="020F0502020204030204" pitchFamily="34" charset="0"/>
                <a:cs typeface="Calibri" panose="020F0502020204030204" pitchFamily="34" charset="0"/>
              </a:rPr>
              <a:t>rare but serious</a:t>
            </a:r>
            <a:r>
              <a:rPr lang="en-US" b="1"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(BBW)</a:t>
            </a:r>
          </a:p>
          <a:p>
            <a:pPr marL="0" marR="0" indent="0" algn="l" defTabSz="584200" rtl="0" fontAlgn="auto" latinLnBrk="0" hangingPunct="0">
              <a:lnSpc>
                <a:spcPct val="100000"/>
              </a:lnSpc>
              <a:spcBef>
                <a:spcPts val="0"/>
              </a:spcBef>
              <a:spcAft>
                <a:spcPts val="0"/>
              </a:spcAft>
              <a:buClr>
                <a:srgbClr val="000000"/>
              </a:buClr>
              <a:buSzPct val="100000"/>
              <a:buFont typeface="Arial"/>
              <a:buChar char="–"/>
              <a:tabLst/>
            </a:pPr>
            <a:endParaRPr kumimoji="0" lang="en-US" sz="3600" b="0" i="0" u="none" strike="noStrike" cap="none" spc="0" normalizeH="0" baseline="0" dirty="0">
              <a:ln>
                <a:noFill/>
              </a:ln>
              <a:solidFill>
                <a:srgbClr val="000000"/>
              </a:solidFill>
              <a:effectLst/>
              <a:uFillTx/>
              <a:latin typeface="Helvetica Light"/>
              <a:ea typeface="Helvetica Light"/>
              <a:cs typeface="Helvetica Light"/>
              <a:sym typeface="Helvetica Light"/>
            </a:endParaRPr>
          </a:p>
        </p:txBody>
      </p:sp>
    </p:spTree>
    <p:extLst>
      <p:ext uri="{BB962C8B-B14F-4D97-AF65-F5344CB8AC3E}">
        <p14:creationId xmlns:p14="http://schemas.microsoft.com/office/powerpoint/2010/main" val="20540741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Shape 155"/>
          <p:cNvSpPr>
            <a:spLocks noGrp="1"/>
          </p:cNvSpPr>
          <p:nvPr>
            <p:ph type="title" idx="4294967295"/>
          </p:nvPr>
        </p:nvSpPr>
        <p:spPr>
          <a:xfrm>
            <a:off x="649287" y="0"/>
            <a:ext cx="11704638" cy="1516063"/>
          </a:xfrm>
          <a:prstGeom prst="rect">
            <a:avLst/>
          </a:prstGeom>
        </p:spPr>
        <p:txBody>
          <a:bodyPr lIns="72248" tIns="72248" rIns="72248" bIns="72248" anchor="ctr">
            <a:normAutofit/>
          </a:bodyPr>
          <a:lstStyle>
            <a:lvl1pPr defTabSz="1300162">
              <a:defRPr sz="5600">
                <a:latin typeface="Arial"/>
                <a:ea typeface="Arial"/>
                <a:cs typeface="Arial"/>
                <a:sym typeface="Arial"/>
              </a:defRPr>
            </a:lvl1pPr>
          </a:lstStyle>
          <a:p>
            <a:pPr algn="l">
              <a:buNone/>
            </a:pPr>
            <a:r>
              <a:rPr dirty="0"/>
              <a:t>Metformin:  </a:t>
            </a:r>
            <a:r>
              <a:rPr lang="en-US" dirty="0"/>
              <a:t>Clinical Considerations</a:t>
            </a:r>
            <a:endParaRPr dirty="0"/>
          </a:p>
        </p:txBody>
      </p:sp>
      <p:sp>
        <p:nvSpPr>
          <p:cNvPr id="156" name="Shape 156"/>
          <p:cNvSpPr>
            <a:spLocks noGrp="1"/>
          </p:cNvSpPr>
          <p:nvPr>
            <p:ph type="body" idx="4294967295"/>
          </p:nvPr>
        </p:nvSpPr>
        <p:spPr>
          <a:xfrm>
            <a:off x="649287" y="1828800"/>
            <a:ext cx="11704638" cy="7815263"/>
          </a:xfrm>
          <a:prstGeom prst="rect">
            <a:avLst/>
          </a:prstGeom>
        </p:spPr>
        <p:txBody>
          <a:bodyPr lIns="72248" tIns="72248" rIns="72248" bIns="72248">
            <a:normAutofit/>
          </a:bodyPr>
          <a:lstStyle/>
          <a:p>
            <a:pPr>
              <a:spcBef>
                <a:spcPts val="1200"/>
              </a:spcBef>
              <a:buNone/>
            </a:pPr>
            <a:r>
              <a:rPr lang="en-US" sz="3200" b="1" dirty="0">
                <a:latin typeface="+mn-lt"/>
              </a:rPr>
              <a:t>Dosing</a:t>
            </a:r>
          </a:p>
          <a:p>
            <a:pPr marL="457200" indent="-457200">
              <a:spcBef>
                <a:spcPts val="1200"/>
              </a:spcBef>
            </a:pPr>
            <a:r>
              <a:rPr lang="en-US" sz="3200" dirty="0">
                <a:latin typeface="+mn-lt"/>
              </a:rPr>
              <a:t>Start low and titrate gradually</a:t>
            </a:r>
          </a:p>
          <a:p>
            <a:pPr marL="457200" indent="-457200">
              <a:spcBef>
                <a:spcPts val="1200"/>
              </a:spcBef>
            </a:pPr>
            <a:r>
              <a:rPr lang="en-US" sz="3200" dirty="0">
                <a:latin typeface="+mn-lt"/>
              </a:rPr>
              <a:t>Example: </a:t>
            </a:r>
            <a:r>
              <a:rPr lang="en-US" sz="3200" b="1" dirty="0">
                <a:latin typeface="+mn-lt"/>
              </a:rPr>
              <a:t>500 mg daily → 500 mg BID</a:t>
            </a:r>
            <a:endParaRPr lang="en-US" sz="3200" dirty="0">
              <a:latin typeface="+mn-lt"/>
            </a:endParaRPr>
          </a:p>
          <a:p>
            <a:pPr marL="457200" indent="-457200">
              <a:spcBef>
                <a:spcPts val="1200"/>
              </a:spcBef>
            </a:pPr>
            <a:r>
              <a:rPr lang="en-US" sz="3200" dirty="0">
                <a:latin typeface="+mn-lt"/>
              </a:rPr>
              <a:t>XR may improve GI tolerability</a:t>
            </a:r>
          </a:p>
          <a:p>
            <a:pPr>
              <a:spcBef>
                <a:spcPts val="1200"/>
              </a:spcBef>
              <a:buNone/>
            </a:pPr>
            <a:r>
              <a:rPr lang="en-US" sz="3200" b="1" dirty="0">
                <a:latin typeface="+mn-lt"/>
              </a:rPr>
              <a:t>Renal</a:t>
            </a:r>
            <a:endParaRPr lang="en-US" sz="3200" dirty="0">
              <a:latin typeface="+mn-lt"/>
            </a:endParaRPr>
          </a:p>
          <a:p>
            <a:pPr marL="457200" indent="-457200">
              <a:spcBef>
                <a:spcPts val="1200"/>
              </a:spcBef>
            </a:pPr>
            <a:r>
              <a:rPr lang="en-US" sz="3200" b="1" dirty="0">
                <a:latin typeface="+mn-lt"/>
              </a:rPr>
              <a:t>Do not use if eGFR &lt;30</a:t>
            </a:r>
            <a:endParaRPr lang="en-US" sz="3200" dirty="0">
              <a:latin typeface="+mn-lt"/>
            </a:endParaRPr>
          </a:p>
          <a:p>
            <a:pPr marL="457200" indent="-457200">
              <a:spcBef>
                <a:spcPts val="1200"/>
              </a:spcBef>
            </a:pPr>
            <a:r>
              <a:rPr lang="en-US" sz="3200" dirty="0">
                <a:latin typeface="+mn-lt"/>
              </a:rPr>
              <a:t>Starting at </a:t>
            </a:r>
            <a:r>
              <a:rPr lang="en-US" sz="3200" b="1" dirty="0">
                <a:latin typeface="+mn-lt"/>
              </a:rPr>
              <a:t>eGFR 30–45 is not recommended</a:t>
            </a:r>
            <a:endParaRPr lang="en-US" sz="3200" dirty="0">
              <a:latin typeface="+mn-lt"/>
            </a:endParaRPr>
          </a:p>
          <a:p>
            <a:pPr marL="457200" indent="-457200">
              <a:spcBef>
                <a:spcPts val="1200"/>
              </a:spcBef>
            </a:pPr>
            <a:r>
              <a:rPr lang="en-US" sz="3200" dirty="0">
                <a:latin typeface="+mn-lt"/>
              </a:rPr>
              <a:t>If eGFR falls &lt;45 → reassess benefits/risks</a:t>
            </a:r>
          </a:p>
          <a:p>
            <a:pPr>
              <a:spcBef>
                <a:spcPts val="1200"/>
              </a:spcBef>
              <a:buNone/>
            </a:pPr>
            <a:r>
              <a:rPr lang="en-US" sz="3200" b="1" dirty="0">
                <a:latin typeface="+mn-lt"/>
              </a:rPr>
              <a:t>Iodinated contrast</a:t>
            </a:r>
            <a:endParaRPr lang="en-US" sz="3200" dirty="0">
              <a:latin typeface="+mn-lt"/>
            </a:endParaRPr>
          </a:p>
          <a:p>
            <a:pPr marL="457200" indent="-457200">
              <a:spcBef>
                <a:spcPts val="1200"/>
              </a:spcBef>
            </a:pPr>
            <a:r>
              <a:rPr lang="en-US" sz="3200" dirty="0">
                <a:latin typeface="+mn-lt"/>
              </a:rPr>
              <a:t>Hold metformin in </a:t>
            </a:r>
            <a:r>
              <a:rPr lang="en-US" sz="3200" b="1" dirty="0">
                <a:latin typeface="+mn-lt"/>
              </a:rPr>
              <a:t>at-risk patients</a:t>
            </a:r>
            <a:endParaRPr lang="en-US" sz="3200" dirty="0">
              <a:latin typeface="+mn-lt"/>
            </a:endParaRPr>
          </a:p>
          <a:p>
            <a:pPr marL="457200" indent="-457200">
              <a:spcBef>
                <a:spcPts val="1200"/>
              </a:spcBef>
            </a:pPr>
            <a:r>
              <a:rPr lang="en-US" sz="3200" dirty="0">
                <a:latin typeface="+mn-lt"/>
              </a:rPr>
              <a:t>Recheck renal function after </a:t>
            </a:r>
            <a:r>
              <a:rPr lang="en-US" sz="3200" b="1" dirty="0">
                <a:latin typeface="+mn-lt"/>
              </a:rPr>
              <a:t>48 </a:t>
            </a:r>
            <a:r>
              <a:rPr lang="en-US" sz="3200" b="1" dirty="0" err="1">
                <a:latin typeface="+mn-lt"/>
              </a:rPr>
              <a:t>hr</a:t>
            </a:r>
            <a:r>
              <a:rPr lang="en-US" sz="3200" dirty="0">
                <a:latin typeface="+mn-lt"/>
              </a:rPr>
              <a:t> before restarting</a:t>
            </a:r>
          </a:p>
          <a:p>
            <a:pPr marL="685800" indent="-685800" defTabSz="1300162">
              <a:spcBef>
                <a:spcPts val="700"/>
              </a:spcBef>
              <a:buSzPct val="80000"/>
              <a:buChar char="•"/>
              <a:defRPr sz="4500">
                <a:latin typeface="Arial"/>
                <a:ea typeface="Arial"/>
                <a:cs typeface="Arial"/>
                <a:sym typeface="Arial"/>
              </a:defRPr>
            </a:pPr>
            <a:endParaRPr lang="en-US" sz="3600" dirty="0">
              <a:latin typeface="+mn-lt"/>
              <a:ea typeface="Calibri" charset="0"/>
              <a:cs typeface="Calibri" charset="0"/>
            </a:endParaRPr>
          </a:p>
          <a:p>
            <a:pPr marL="685800" indent="-685800" defTabSz="1300162">
              <a:spcBef>
                <a:spcPts val="700"/>
              </a:spcBef>
              <a:buChar char="•"/>
              <a:defRPr sz="4500">
                <a:latin typeface="Arial"/>
                <a:ea typeface="Arial"/>
                <a:cs typeface="Arial"/>
                <a:sym typeface="Arial"/>
              </a:defRPr>
            </a:pPr>
            <a:endParaRPr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594648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800" cy="975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Freeform: Shape 8">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8720" y="0"/>
            <a:ext cx="10627360" cy="97536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96441" y="0"/>
            <a:ext cx="10611917" cy="97536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42E6B37-84EB-43CE-AAD9-9E714C831730}"/>
              </a:ext>
            </a:extLst>
          </p:cNvPr>
          <p:cNvSpPr>
            <a:spLocks noGrp="1"/>
          </p:cNvSpPr>
          <p:nvPr>
            <p:ph type="ctrTitle"/>
          </p:nvPr>
        </p:nvSpPr>
        <p:spPr>
          <a:xfrm>
            <a:off x="1625603" y="2843896"/>
            <a:ext cx="9753600" cy="3931062"/>
          </a:xfrm>
        </p:spPr>
        <p:txBody>
          <a:bodyPr anchor="ctr">
            <a:normAutofit/>
          </a:bodyPr>
          <a:lstStyle/>
          <a:p>
            <a:pPr>
              <a:buNone/>
            </a:pPr>
            <a:r>
              <a:rPr lang="en-US" sz="8900"/>
              <a:t>Incretin Therapy</a:t>
            </a:r>
          </a:p>
        </p:txBody>
      </p:sp>
      <p:sp>
        <p:nvSpPr>
          <p:cNvPr id="13" name="Rectangle 12">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66464" y="7857473"/>
            <a:ext cx="5071872" cy="390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544598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Shape 166"/>
          <p:cNvSpPr>
            <a:spLocks noGrp="1"/>
          </p:cNvSpPr>
          <p:nvPr>
            <p:ph type="title" idx="4294967295"/>
          </p:nvPr>
        </p:nvSpPr>
        <p:spPr>
          <a:xfrm>
            <a:off x="649287" y="0"/>
            <a:ext cx="11704638" cy="1219200"/>
          </a:xfrm>
          <a:prstGeom prst="rect">
            <a:avLst/>
          </a:prstGeom>
        </p:spPr>
        <p:txBody>
          <a:bodyPr lIns="72248" tIns="72248" rIns="72248" bIns="72248" anchor="ctr">
            <a:normAutofit/>
          </a:bodyPr>
          <a:lstStyle>
            <a:lvl1pPr defTabSz="1300162">
              <a:defRPr sz="5600">
                <a:latin typeface="Arial"/>
                <a:ea typeface="Arial"/>
                <a:cs typeface="Arial"/>
                <a:sym typeface="Arial"/>
              </a:defRPr>
            </a:lvl1pPr>
          </a:lstStyle>
          <a:p>
            <a:pPr>
              <a:buNone/>
            </a:pPr>
            <a:r>
              <a:rPr dirty="0"/>
              <a:t>Incretin Therapy</a:t>
            </a:r>
          </a:p>
        </p:txBody>
      </p:sp>
      <p:pic>
        <p:nvPicPr>
          <p:cNvPr id="2" name="Picture 1">
            <a:extLst>
              <a:ext uri="{FF2B5EF4-FFF2-40B4-BE49-F238E27FC236}">
                <a16:creationId xmlns:a16="http://schemas.microsoft.com/office/drawing/2014/main" id="{A22E0C94-5179-5543-BE15-358FD54BBD66}"/>
              </a:ext>
            </a:extLst>
          </p:cNvPr>
          <p:cNvPicPr>
            <a:picLocks noChangeAspect="1"/>
          </p:cNvPicPr>
          <p:nvPr/>
        </p:nvPicPr>
        <p:blipFill rotWithShape="1">
          <a:blip r:embed="rId2"/>
          <a:srcRect t="11475"/>
          <a:stretch/>
        </p:blipFill>
        <p:spPr>
          <a:xfrm>
            <a:off x="993378" y="2933702"/>
            <a:ext cx="9930676" cy="6649325"/>
          </a:xfrm>
          <a:prstGeom prst="rect">
            <a:avLst/>
          </a:prstGeom>
        </p:spPr>
      </p:pic>
      <p:sp>
        <p:nvSpPr>
          <p:cNvPr id="167" name="Shape 167"/>
          <p:cNvSpPr>
            <a:spLocks noGrp="1"/>
          </p:cNvSpPr>
          <p:nvPr>
            <p:ph type="body" idx="4294967295"/>
          </p:nvPr>
        </p:nvSpPr>
        <p:spPr>
          <a:xfrm>
            <a:off x="323850" y="1295401"/>
            <a:ext cx="12463463" cy="1562100"/>
          </a:xfrm>
          <a:prstGeom prst="rect">
            <a:avLst/>
          </a:prstGeom>
        </p:spPr>
        <p:txBody>
          <a:bodyPr lIns="72248" tIns="72248" rIns="72248" bIns="72248">
            <a:normAutofit fontScale="85000" lnSpcReduction="20000"/>
          </a:bodyPr>
          <a:lstStyle/>
          <a:p>
            <a:pPr marL="242887" indent="-242887" defTabSz="1300162">
              <a:spcBef>
                <a:spcPts val="700"/>
              </a:spcBef>
              <a:buChar char="•"/>
              <a:defRPr sz="4500" b="1" i="1">
                <a:latin typeface="Arial"/>
                <a:ea typeface="Arial"/>
                <a:cs typeface="Arial"/>
                <a:sym typeface="Arial"/>
              </a:defRPr>
            </a:pPr>
            <a:r>
              <a:rPr lang="en-US" dirty="0">
                <a:latin typeface="Calibri" panose="020F0502020204030204" pitchFamily="34" charset="0"/>
                <a:cs typeface="Calibri" panose="020F0502020204030204" pitchFamily="34" charset="0"/>
              </a:rPr>
              <a:t>Endogenous i</a:t>
            </a:r>
            <a:r>
              <a:rPr dirty="0">
                <a:latin typeface="Calibri" panose="020F0502020204030204" pitchFamily="34" charset="0"/>
                <a:cs typeface="Calibri" panose="020F0502020204030204" pitchFamily="34" charset="0"/>
              </a:rPr>
              <a:t>ncretin hormones</a:t>
            </a:r>
            <a:r>
              <a:rPr lang="en-US" dirty="0">
                <a:latin typeface="Calibri" panose="020F0502020204030204" pitchFamily="34" charset="0"/>
                <a:cs typeface="Calibri" panose="020F0502020204030204" pitchFamily="34" charset="0"/>
              </a:rPr>
              <a:t> (GLP-1 and GIP)</a:t>
            </a:r>
            <a:r>
              <a:rPr dirty="0">
                <a:latin typeface="Calibri" panose="020F0502020204030204" pitchFamily="34" charset="0"/>
                <a:cs typeface="Calibri" panose="020F0502020204030204" pitchFamily="34" charset="0"/>
              </a:rPr>
              <a:t> are released from the gut </a:t>
            </a:r>
            <a:r>
              <a:rPr lang="en-US" dirty="0">
                <a:latin typeface="Calibri" panose="020F0502020204030204" pitchFamily="34" charset="0"/>
                <a:cs typeface="Calibri" panose="020F0502020204030204" pitchFamily="34" charset="0"/>
              </a:rPr>
              <a:t>in response to nutrients </a:t>
            </a:r>
            <a:r>
              <a:rPr dirty="0">
                <a:latin typeface="Calibri" panose="020F0502020204030204" pitchFamily="34" charset="0"/>
                <a:cs typeface="Calibri" panose="020F0502020204030204" pitchFamily="34" charset="0"/>
              </a:rPr>
              <a:t>and </a:t>
            </a:r>
            <a:r>
              <a:rPr lang="en-US" dirty="0">
                <a:latin typeface="Calibri" panose="020F0502020204030204" pitchFamily="34" charset="0"/>
                <a:cs typeface="Calibri" panose="020F0502020204030204" pitchFamily="34" charset="0"/>
              </a:rPr>
              <a:t>stimulate glucose-dependent </a:t>
            </a:r>
            <a:r>
              <a:rPr dirty="0">
                <a:latin typeface="Calibri" panose="020F0502020204030204" pitchFamily="34" charset="0"/>
                <a:cs typeface="Calibri" panose="020F0502020204030204" pitchFamily="34" charset="0"/>
              </a:rPr>
              <a:t>insulin secretion.  </a:t>
            </a:r>
          </a:p>
        </p:txBody>
      </p:sp>
    </p:spTree>
    <p:extLst>
      <p:ext uri="{BB962C8B-B14F-4D97-AF65-F5344CB8AC3E}">
        <p14:creationId xmlns:p14="http://schemas.microsoft.com/office/powerpoint/2010/main" val="25143779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Shape 166"/>
          <p:cNvSpPr>
            <a:spLocks noGrp="1"/>
          </p:cNvSpPr>
          <p:nvPr>
            <p:ph type="title" idx="4294967295"/>
          </p:nvPr>
        </p:nvSpPr>
        <p:spPr>
          <a:xfrm>
            <a:off x="649287" y="0"/>
            <a:ext cx="11704638" cy="1219200"/>
          </a:xfrm>
          <a:prstGeom prst="rect">
            <a:avLst/>
          </a:prstGeom>
        </p:spPr>
        <p:txBody>
          <a:bodyPr lIns="72248" tIns="72248" rIns="72248" bIns="72248" anchor="ctr">
            <a:normAutofit/>
          </a:bodyPr>
          <a:lstStyle>
            <a:lvl1pPr defTabSz="1300162">
              <a:defRPr sz="5600">
                <a:latin typeface="Arial"/>
                <a:ea typeface="Arial"/>
                <a:cs typeface="Arial"/>
                <a:sym typeface="Arial"/>
              </a:defRPr>
            </a:lvl1pPr>
          </a:lstStyle>
          <a:p>
            <a:pPr>
              <a:buNone/>
            </a:pPr>
            <a:r>
              <a:rPr dirty="0"/>
              <a:t>Incretin Therapy</a:t>
            </a:r>
          </a:p>
        </p:txBody>
      </p:sp>
      <p:sp>
        <p:nvSpPr>
          <p:cNvPr id="167" name="Shape 167"/>
          <p:cNvSpPr>
            <a:spLocks noGrp="1"/>
          </p:cNvSpPr>
          <p:nvPr>
            <p:ph type="body" idx="4294967295"/>
          </p:nvPr>
        </p:nvSpPr>
        <p:spPr>
          <a:xfrm>
            <a:off x="323850" y="2148840"/>
            <a:ext cx="12463463" cy="7495223"/>
          </a:xfrm>
          <a:prstGeom prst="rect">
            <a:avLst/>
          </a:prstGeom>
        </p:spPr>
        <p:txBody>
          <a:bodyPr lIns="72248" tIns="72248" rIns="72248" bIns="72248">
            <a:normAutofit/>
          </a:bodyPr>
          <a:lstStyle/>
          <a:p>
            <a:r>
              <a:rPr lang="en-US" sz="3200" dirty="0">
                <a:latin typeface="+mn-lt"/>
              </a:rPr>
              <a:t>The </a:t>
            </a:r>
            <a:r>
              <a:rPr lang="en-US" sz="3200" b="1" dirty="0">
                <a:latin typeface="+mn-lt"/>
              </a:rPr>
              <a:t>incretin effect is reduced in T2DM</a:t>
            </a:r>
          </a:p>
          <a:p>
            <a:r>
              <a:rPr lang="en-US" sz="3200" dirty="0">
                <a:latin typeface="+mn-lt"/>
              </a:rPr>
              <a:t>Incretin-based medications enhance or mimic incretin activity:</a:t>
            </a:r>
          </a:p>
          <a:p>
            <a:pPr lvl="1"/>
            <a:r>
              <a:rPr lang="en-US" sz="3200" b="1" dirty="0">
                <a:latin typeface="+mn-lt"/>
              </a:rPr>
              <a:t>GLP-1 receptor agonists</a:t>
            </a:r>
            <a:r>
              <a:rPr lang="en-US" sz="3200" dirty="0">
                <a:latin typeface="+mn-lt"/>
              </a:rPr>
              <a:t> mimic GLP-1 activity</a:t>
            </a:r>
          </a:p>
          <a:p>
            <a:pPr lvl="1"/>
            <a:r>
              <a:rPr lang="en-US" sz="3200" b="1" dirty="0">
                <a:latin typeface="+mn-lt"/>
              </a:rPr>
              <a:t>Dual GIP/GLP-1 receptor agonists</a:t>
            </a:r>
            <a:r>
              <a:rPr lang="en-US" sz="3200" dirty="0">
                <a:latin typeface="+mn-lt"/>
              </a:rPr>
              <a:t> activate both receptors</a:t>
            </a:r>
          </a:p>
          <a:p>
            <a:pPr lvl="1"/>
            <a:r>
              <a:rPr lang="en-US" sz="3200" b="1" dirty="0">
                <a:latin typeface="+mn-lt"/>
              </a:rPr>
              <a:t>DPP-4 inhibitors</a:t>
            </a:r>
            <a:r>
              <a:rPr lang="en-US" sz="3200" dirty="0">
                <a:latin typeface="+mn-lt"/>
              </a:rPr>
              <a:t> prolong endogenous incretin activity</a:t>
            </a:r>
          </a:p>
        </p:txBody>
      </p:sp>
    </p:spTree>
    <p:extLst>
      <p:ext uri="{BB962C8B-B14F-4D97-AF65-F5344CB8AC3E}">
        <p14:creationId xmlns:p14="http://schemas.microsoft.com/office/powerpoint/2010/main" val="14768199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17">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800" cy="975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6" name="Freeform: Shape 19">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8720" y="0"/>
            <a:ext cx="10627360" cy="97536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7" name="Freeform: Shape 21">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96441" y="0"/>
            <a:ext cx="10611917" cy="97536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CFF9017-3EBF-40AC-B6EA-1ADCF95934F6}"/>
              </a:ext>
            </a:extLst>
          </p:cNvPr>
          <p:cNvSpPr>
            <a:spLocks noGrp="1"/>
          </p:cNvSpPr>
          <p:nvPr>
            <p:ph type="ctrTitle"/>
          </p:nvPr>
        </p:nvSpPr>
        <p:spPr>
          <a:xfrm>
            <a:off x="1625603" y="2843896"/>
            <a:ext cx="9753600" cy="3931062"/>
          </a:xfrm>
        </p:spPr>
        <p:txBody>
          <a:bodyPr anchor="ctr">
            <a:normAutofit fontScale="90000"/>
          </a:bodyPr>
          <a:lstStyle/>
          <a:p>
            <a:pPr>
              <a:buNone/>
            </a:pPr>
            <a:r>
              <a:rPr lang="en-US" sz="8900" dirty="0"/>
              <a:t>Incretion Therapy: GLP-1 Receptor Agonists</a:t>
            </a:r>
          </a:p>
        </p:txBody>
      </p:sp>
      <p:sp>
        <p:nvSpPr>
          <p:cNvPr id="24" name="Rectangle 23">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66464" y="7857473"/>
            <a:ext cx="5071872" cy="390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45760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Shape 169"/>
          <p:cNvSpPr>
            <a:spLocks noGrp="1"/>
          </p:cNvSpPr>
          <p:nvPr>
            <p:ph type="title" idx="4294967295"/>
          </p:nvPr>
        </p:nvSpPr>
        <p:spPr>
          <a:xfrm>
            <a:off x="558128" y="248652"/>
            <a:ext cx="11888544" cy="1371600"/>
          </a:xfrm>
          <a:prstGeom prst="rect">
            <a:avLst/>
          </a:prstGeom>
        </p:spPr>
        <p:txBody>
          <a:bodyPr lIns="72248" tIns="72248" rIns="72248" bIns="72248" anchor="ctr">
            <a:normAutofit/>
          </a:bodyPr>
          <a:lstStyle>
            <a:lvl1pPr defTabSz="1300162">
              <a:defRPr sz="5600">
                <a:latin typeface="Arial"/>
                <a:ea typeface="Arial"/>
                <a:cs typeface="Arial"/>
                <a:sym typeface="Arial"/>
              </a:defRPr>
            </a:lvl1pPr>
          </a:lstStyle>
          <a:p>
            <a:pPr algn="l">
              <a:buNone/>
            </a:pPr>
            <a:r>
              <a:rPr lang="en-US" dirty="0"/>
              <a:t>GLP-1 Receptor Agonists, MOA</a:t>
            </a:r>
            <a:endParaRPr dirty="0"/>
          </a:p>
        </p:txBody>
      </p:sp>
      <p:sp>
        <p:nvSpPr>
          <p:cNvPr id="170" name="Shape 170"/>
          <p:cNvSpPr>
            <a:spLocks noGrp="1"/>
          </p:cNvSpPr>
          <p:nvPr>
            <p:ph type="body" idx="4294967295"/>
          </p:nvPr>
        </p:nvSpPr>
        <p:spPr>
          <a:xfrm>
            <a:off x="288758" y="1371601"/>
            <a:ext cx="12498555" cy="6785810"/>
          </a:xfrm>
          <a:prstGeom prst="rect">
            <a:avLst/>
          </a:prstGeom>
        </p:spPr>
        <p:txBody>
          <a:bodyPr lIns="72248" tIns="72248" rIns="72248" bIns="72248">
            <a:normAutofit fontScale="92500" lnSpcReduction="10000"/>
          </a:bodyPr>
          <a:lstStyle/>
          <a:p>
            <a:pPr marL="336550" indent="-228600" defTabSz="1300162">
              <a:spcBef>
                <a:spcPts val="700"/>
              </a:spcBef>
              <a:buFontTx/>
              <a:buChar char="•"/>
              <a:tabLst>
                <a:tab pos="336550" algn="l"/>
              </a:tabLst>
              <a:defRPr sz="4400">
                <a:latin typeface="Arial"/>
                <a:ea typeface="Arial"/>
                <a:cs typeface="Arial"/>
                <a:sym typeface="Arial"/>
              </a:defRPr>
            </a:pPr>
            <a:endParaRPr lang="en-US" sz="3500" dirty="0">
              <a:latin typeface="+mn-lt"/>
              <a:ea typeface="Calibri" charset="0"/>
              <a:cs typeface="Calibri" charset="0"/>
            </a:endParaRPr>
          </a:p>
          <a:p>
            <a:pPr marL="336550" indent="-228600" defTabSz="1300162">
              <a:spcBef>
                <a:spcPts val="700"/>
              </a:spcBef>
              <a:buFontTx/>
              <a:buChar char="•"/>
              <a:tabLst>
                <a:tab pos="336550" algn="l"/>
              </a:tabLst>
              <a:defRPr sz="4400">
                <a:latin typeface="Arial"/>
                <a:ea typeface="Arial"/>
                <a:cs typeface="Arial"/>
                <a:sym typeface="Arial"/>
              </a:defRPr>
            </a:pPr>
            <a:r>
              <a:rPr lang="en-US" sz="3500" b="1" dirty="0">
                <a:latin typeface="+mn-lt"/>
                <a:sym typeface="Arial"/>
              </a:rPr>
              <a:t>GLP-1 is an endogenous incretin hormone</a:t>
            </a:r>
            <a:r>
              <a:rPr lang="en-US" sz="3500" dirty="0">
                <a:latin typeface="+mn-lt"/>
                <a:sym typeface="Arial"/>
              </a:rPr>
              <a:t> released from the intestine in response to nutrients.</a:t>
            </a:r>
          </a:p>
          <a:p>
            <a:r>
              <a:rPr lang="en-US" sz="3500" dirty="0">
                <a:latin typeface="+mn-lt"/>
                <a:sym typeface="Arial"/>
              </a:rPr>
              <a:t>GLP-1 receptors are present in multiple tissues, including the </a:t>
            </a:r>
            <a:r>
              <a:rPr lang="en-US" sz="3500" b="1" dirty="0">
                <a:latin typeface="+mn-lt"/>
                <a:sym typeface="Arial"/>
              </a:rPr>
              <a:t>pancreas, GI tract, and CNS</a:t>
            </a:r>
            <a:r>
              <a:rPr lang="en-US" sz="3500" dirty="0">
                <a:latin typeface="+mn-lt"/>
                <a:sym typeface="Arial"/>
              </a:rPr>
              <a:t>.</a:t>
            </a:r>
            <a:r>
              <a:rPr lang="en-US" sz="3500" b="1" dirty="0">
                <a:latin typeface="+mn-lt"/>
              </a:rPr>
              <a:t> </a:t>
            </a:r>
          </a:p>
          <a:p>
            <a:pPr>
              <a:buNone/>
            </a:pPr>
            <a:r>
              <a:rPr lang="en-US" sz="3500" b="1" dirty="0">
                <a:latin typeface="+mn-lt"/>
              </a:rPr>
              <a:t>GLP-1 receptor activation:</a:t>
            </a:r>
            <a:endParaRPr lang="en-US" sz="3500" dirty="0">
              <a:latin typeface="+mn-lt"/>
            </a:endParaRPr>
          </a:p>
          <a:p>
            <a:pPr>
              <a:lnSpc>
                <a:spcPct val="120000"/>
              </a:lnSpc>
              <a:spcBef>
                <a:spcPts val="1200"/>
              </a:spcBef>
            </a:pPr>
            <a:r>
              <a:rPr lang="en-US" sz="3500" dirty="0">
                <a:latin typeface="+mn-lt"/>
              </a:rPr>
              <a:t>↑ </a:t>
            </a:r>
            <a:r>
              <a:rPr lang="en-US" sz="3500" b="1" dirty="0">
                <a:latin typeface="+mn-lt"/>
              </a:rPr>
              <a:t>Glucose-dependent insulin secretion</a:t>
            </a:r>
            <a:endParaRPr lang="en-US" sz="3500" dirty="0">
              <a:latin typeface="+mn-lt"/>
            </a:endParaRPr>
          </a:p>
          <a:p>
            <a:pPr>
              <a:lnSpc>
                <a:spcPct val="120000"/>
              </a:lnSpc>
              <a:spcBef>
                <a:spcPts val="1200"/>
              </a:spcBef>
            </a:pPr>
            <a:r>
              <a:rPr lang="en-US" sz="3500" dirty="0">
                <a:latin typeface="+mn-lt"/>
              </a:rPr>
              <a:t>↓ </a:t>
            </a:r>
            <a:r>
              <a:rPr lang="en-US" sz="3500" b="1" dirty="0">
                <a:latin typeface="+mn-lt"/>
              </a:rPr>
              <a:t>Inappropriate glucagon secretion</a:t>
            </a:r>
            <a:endParaRPr lang="en-US" sz="3500" dirty="0">
              <a:latin typeface="+mn-lt"/>
            </a:endParaRPr>
          </a:p>
          <a:p>
            <a:pPr>
              <a:lnSpc>
                <a:spcPct val="120000"/>
              </a:lnSpc>
              <a:spcBef>
                <a:spcPts val="1200"/>
              </a:spcBef>
            </a:pPr>
            <a:r>
              <a:rPr lang="en-US" sz="3500" dirty="0">
                <a:latin typeface="+mn-lt"/>
              </a:rPr>
              <a:t>↓ </a:t>
            </a:r>
            <a:r>
              <a:rPr lang="en-US" sz="3500" b="1" dirty="0">
                <a:latin typeface="+mn-lt"/>
              </a:rPr>
              <a:t>Gastric emptying</a:t>
            </a:r>
            <a:endParaRPr lang="en-US" sz="3500" dirty="0">
              <a:latin typeface="+mn-lt"/>
            </a:endParaRPr>
          </a:p>
          <a:p>
            <a:pPr>
              <a:lnSpc>
                <a:spcPct val="120000"/>
              </a:lnSpc>
              <a:spcBef>
                <a:spcPts val="1200"/>
              </a:spcBef>
            </a:pPr>
            <a:r>
              <a:rPr lang="en-US" sz="3500" dirty="0">
                <a:latin typeface="+mn-lt"/>
              </a:rPr>
              <a:t>↑ </a:t>
            </a:r>
            <a:r>
              <a:rPr lang="en-US" sz="3500" b="1" dirty="0">
                <a:latin typeface="+mn-lt"/>
              </a:rPr>
              <a:t>Satiety / ↓ food intake</a:t>
            </a:r>
            <a:endParaRPr lang="en-US" sz="3500" dirty="0">
              <a:latin typeface="+mn-lt"/>
            </a:endParaRPr>
          </a:p>
          <a:p>
            <a:pPr marL="336550" indent="-228600" defTabSz="1300162">
              <a:spcBef>
                <a:spcPts val="700"/>
              </a:spcBef>
              <a:buFontTx/>
              <a:buChar char="•"/>
              <a:tabLst>
                <a:tab pos="336550" algn="l"/>
              </a:tabLst>
              <a:defRPr sz="4400">
                <a:latin typeface="Arial"/>
                <a:ea typeface="Arial"/>
                <a:cs typeface="Arial"/>
                <a:sym typeface="Arial"/>
              </a:defRPr>
            </a:pPr>
            <a:endParaRPr lang="en-US" sz="3200" dirty="0">
              <a:latin typeface="+mn-lt"/>
              <a:sym typeface="Arial"/>
            </a:endParaRPr>
          </a:p>
          <a:p>
            <a:pPr marL="336550" indent="-228600" defTabSz="1300162">
              <a:spcBef>
                <a:spcPts val="700"/>
              </a:spcBef>
              <a:buFontTx/>
              <a:buChar char="•"/>
              <a:tabLst>
                <a:tab pos="336550" algn="l"/>
              </a:tabLst>
              <a:defRPr sz="4400">
                <a:latin typeface="Arial"/>
                <a:ea typeface="Arial"/>
                <a:cs typeface="Arial"/>
                <a:sym typeface="Arial"/>
              </a:defRPr>
            </a:pPr>
            <a:endParaRPr lang="en-US" sz="3200" dirty="0">
              <a:latin typeface="+mn-lt"/>
              <a:sym typeface="Arial"/>
            </a:endParaRPr>
          </a:p>
          <a:p>
            <a:pPr marL="107950" defTabSz="1300162">
              <a:spcBef>
                <a:spcPts val="700"/>
              </a:spcBef>
              <a:buNone/>
              <a:tabLst>
                <a:tab pos="336550" algn="l"/>
              </a:tabLst>
              <a:defRPr sz="4400">
                <a:latin typeface="Arial"/>
                <a:ea typeface="Arial"/>
                <a:cs typeface="Arial"/>
                <a:sym typeface="Arial"/>
              </a:defRPr>
            </a:pPr>
            <a:endParaRPr lang="en-US" sz="3200" dirty="0">
              <a:latin typeface="+mn-lt"/>
              <a:sym typeface="Arial"/>
            </a:endParaRPr>
          </a:p>
        </p:txBody>
      </p:sp>
    </p:spTree>
    <p:extLst>
      <p:ext uri="{BB962C8B-B14F-4D97-AF65-F5344CB8AC3E}">
        <p14:creationId xmlns:p14="http://schemas.microsoft.com/office/powerpoint/2010/main" val="14382685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 name="Shape 172"/>
          <p:cNvSpPr>
            <a:spLocks noGrp="1"/>
          </p:cNvSpPr>
          <p:nvPr>
            <p:ph type="title" idx="4294967295"/>
          </p:nvPr>
        </p:nvSpPr>
        <p:spPr>
          <a:xfrm>
            <a:off x="649287" y="1"/>
            <a:ext cx="11704638" cy="1259840"/>
          </a:xfrm>
          <a:prstGeom prst="rect">
            <a:avLst/>
          </a:prstGeom>
        </p:spPr>
        <p:txBody>
          <a:bodyPr lIns="72248" tIns="72248" rIns="72248" bIns="72248" anchor="ctr">
            <a:normAutofit/>
          </a:bodyPr>
          <a:lstStyle>
            <a:lvl1pPr defTabSz="1300162">
              <a:defRPr sz="5600">
                <a:latin typeface="Arial"/>
                <a:ea typeface="Arial"/>
                <a:cs typeface="Arial"/>
                <a:sym typeface="Arial"/>
              </a:defRPr>
            </a:lvl1pPr>
          </a:lstStyle>
          <a:p>
            <a:pPr>
              <a:buNone/>
            </a:pPr>
            <a:r>
              <a:rPr dirty="0"/>
              <a:t>GLP-1 </a:t>
            </a:r>
            <a:r>
              <a:rPr lang="en-US" dirty="0"/>
              <a:t>Receptor Agonists</a:t>
            </a:r>
            <a:endParaRPr dirty="0"/>
          </a:p>
        </p:txBody>
      </p:sp>
      <p:sp>
        <p:nvSpPr>
          <p:cNvPr id="173" name="Shape 173"/>
          <p:cNvSpPr>
            <a:spLocks noGrp="1"/>
          </p:cNvSpPr>
          <p:nvPr>
            <p:ph type="body" idx="4294967295"/>
          </p:nvPr>
        </p:nvSpPr>
        <p:spPr>
          <a:xfrm>
            <a:off x="323850" y="1950720"/>
            <a:ext cx="12463463" cy="7693344"/>
          </a:xfrm>
          <a:prstGeom prst="rect">
            <a:avLst/>
          </a:prstGeom>
        </p:spPr>
        <p:txBody>
          <a:bodyPr lIns="72248" tIns="72248" rIns="72248" bIns="72248">
            <a:normAutofit/>
          </a:bodyPr>
          <a:lstStyle/>
          <a:p>
            <a:pPr defTabSz="1300162">
              <a:spcBef>
                <a:spcPts val="700"/>
              </a:spcBef>
              <a:defRPr sz="3000">
                <a:latin typeface="Arial"/>
                <a:ea typeface="Arial"/>
                <a:cs typeface="Arial"/>
                <a:sym typeface="Arial"/>
              </a:defRPr>
            </a:pPr>
            <a:r>
              <a:rPr lang="en-US" sz="3200" b="1" dirty="0">
                <a:latin typeface="+mn-lt"/>
                <a:sym typeface="Arial"/>
              </a:rPr>
              <a:t>Liraglutide (Victoza)</a:t>
            </a:r>
            <a:r>
              <a:rPr lang="en-US" sz="3200" dirty="0">
                <a:latin typeface="+mn-lt"/>
                <a:sym typeface="Arial"/>
              </a:rPr>
              <a:t> SQ daily</a:t>
            </a:r>
          </a:p>
          <a:p>
            <a:pPr defTabSz="1300162">
              <a:spcBef>
                <a:spcPts val="700"/>
              </a:spcBef>
              <a:defRPr sz="3000">
                <a:latin typeface="Arial"/>
                <a:ea typeface="Arial"/>
                <a:cs typeface="Arial"/>
                <a:sym typeface="Arial"/>
              </a:defRPr>
            </a:pPr>
            <a:r>
              <a:rPr lang="en-US" sz="3200" b="1" dirty="0">
                <a:latin typeface="+mn-lt"/>
                <a:sym typeface="Arial"/>
              </a:rPr>
              <a:t>Semaglutide (Ozempic)</a:t>
            </a:r>
            <a:r>
              <a:rPr lang="en-US" sz="3200" dirty="0">
                <a:latin typeface="+mn-lt"/>
                <a:sym typeface="Arial"/>
              </a:rPr>
              <a:t> — SQ weekly</a:t>
            </a:r>
          </a:p>
          <a:p>
            <a:pPr defTabSz="1300162">
              <a:spcBef>
                <a:spcPts val="700"/>
              </a:spcBef>
              <a:defRPr sz="3000">
                <a:latin typeface="Arial"/>
                <a:ea typeface="Arial"/>
                <a:cs typeface="Arial"/>
                <a:sym typeface="Arial"/>
              </a:defRPr>
            </a:pPr>
            <a:r>
              <a:rPr lang="en-US" sz="3200" b="1" dirty="0">
                <a:latin typeface="+mn-lt"/>
                <a:sym typeface="Arial"/>
              </a:rPr>
              <a:t>Semaglutide (Rybelsus)</a:t>
            </a:r>
            <a:r>
              <a:rPr lang="en-US" sz="3200" dirty="0">
                <a:latin typeface="+mn-lt"/>
                <a:sym typeface="Arial"/>
              </a:rPr>
              <a:t> — oral daily</a:t>
            </a:r>
          </a:p>
          <a:p>
            <a:pPr defTabSz="1300162">
              <a:spcBef>
                <a:spcPts val="700"/>
              </a:spcBef>
              <a:defRPr sz="3000">
                <a:latin typeface="Arial"/>
                <a:ea typeface="Arial"/>
                <a:cs typeface="Arial"/>
                <a:sym typeface="Arial"/>
              </a:defRPr>
            </a:pPr>
            <a:r>
              <a:rPr lang="en-US" sz="3200" b="1" dirty="0">
                <a:latin typeface="+mn-lt"/>
                <a:sym typeface="Arial"/>
              </a:rPr>
              <a:t>Dulaglutide (Trulicity)</a:t>
            </a:r>
            <a:r>
              <a:rPr lang="en-US" sz="3200" dirty="0">
                <a:latin typeface="+mn-lt"/>
                <a:sym typeface="Arial"/>
              </a:rPr>
              <a:t> — SQ weekly</a:t>
            </a:r>
          </a:p>
          <a:p>
            <a:pPr defTabSz="1300162">
              <a:spcBef>
                <a:spcPts val="700"/>
              </a:spcBef>
              <a:defRPr sz="3000">
                <a:latin typeface="Arial"/>
                <a:ea typeface="Arial"/>
                <a:cs typeface="Arial"/>
                <a:sym typeface="Arial"/>
              </a:defRPr>
            </a:pPr>
            <a:r>
              <a:rPr lang="en-US" sz="3200" b="1" dirty="0">
                <a:latin typeface="+mn-lt"/>
                <a:sym typeface="Arial"/>
              </a:rPr>
              <a:t>Exenatide (Byetta)</a:t>
            </a:r>
            <a:r>
              <a:rPr lang="en-US" sz="3200" dirty="0">
                <a:latin typeface="+mn-lt"/>
                <a:sym typeface="Arial"/>
              </a:rPr>
              <a:t> — SQ twice daily</a:t>
            </a:r>
          </a:p>
          <a:p>
            <a:pPr defTabSz="1300162">
              <a:spcBef>
                <a:spcPts val="700"/>
              </a:spcBef>
              <a:defRPr sz="3000">
                <a:latin typeface="Arial"/>
                <a:ea typeface="Arial"/>
                <a:cs typeface="Arial"/>
                <a:sym typeface="Arial"/>
              </a:defRPr>
            </a:pPr>
            <a:r>
              <a:rPr lang="en-US" sz="3200" b="1" dirty="0">
                <a:latin typeface="+mn-lt"/>
                <a:sym typeface="Arial"/>
              </a:rPr>
              <a:t>Exenatide ER (</a:t>
            </a:r>
            <a:r>
              <a:rPr lang="en-US" sz="3200" b="1" dirty="0" err="1">
                <a:latin typeface="+mn-lt"/>
                <a:sym typeface="Arial"/>
              </a:rPr>
              <a:t>Bydureon</a:t>
            </a:r>
            <a:r>
              <a:rPr lang="en-US" sz="3200" b="1" dirty="0">
                <a:latin typeface="+mn-lt"/>
                <a:sym typeface="Arial"/>
              </a:rPr>
              <a:t> </a:t>
            </a:r>
            <a:r>
              <a:rPr lang="en-US" sz="3200" b="1" dirty="0" err="1">
                <a:latin typeface="+mn-lt"/>
                <a:sym typeface="Arial"/>
              </a:rPr>
              <a:t>BCise</a:t>
            </a:r>
            <a:r>
              <a:rPr lang="en-US" sz="3200" b="1" dirty="0">
                <a:latin typeface="+mn-lt"/>
                <a:sym typeface="Arial"/>
              </a:rPr>
              <a:t>)</a:t>
            </a:r>
            <a:r>
              <a:rPr lang="en-US" sz="3200" dirty="0">
                <a:latin typeface="+mn-lt"/>
                <a:sym typeface="Arial"/>
              </a:rPr>
              <a:t> — SQ weekly</a:t>
            </a:r>
            <a:endParaRPr sz="3200" dirty="0">
              <a:latin typeface="+mn-lt"/>
              <a:ea typeface="Arial"/>
              <a:cs typeface="Arial"/>
              <a:sym typeface="Arial"/>
            </a:endParaRPr>
          </a:p>
        </p:txBody>
      </p:sp>
      <p:pic>
        <p:nvPicPr>
          <p:cNvPr id="2" name="Picture 1" descr="Ozempic Pen Colors: Red vs Blue vs Yellow Explained!">
            <a:extLst>
              <a:ext uri="{FF2B5EF4-FFF2-40B4-BE49-F238E27FC236}">
                <a16:creationId xmlns:a16="http://schemas.microsoft.com/office/drawing/2014/main" id="{4C8ABD25-FFDB-AE60-FEEF-444152230BD8}"/>
              </a:ext>
            </a:extLst>
          </p:cNvPr>
          <p:cNvPicPr>
            <a:picLocks noChangeAspect="1"/>
          </p:cNvPicPr>
          <p:nvPr/>
        </p:nvPicPr>
        <p:blipFill>
          <a:blip r:embed="rId3"/>
          <a:stretch>
            <a:fillRect/>
          </a:stretch>
        </p:blipFill>
        <p:spPr>
          <a:xfrm>
            <a:off x="6499859" y="5797392"/>
            <a:ext cx="5686425" cy="3190875"/>
          </a:xfrm>
          <a:prstGeom prst="rect">
            <a:avLst/>
          </a:prstGeom>
        </p:spPr>
      </p:pic>
    </p:spTree>
    <p:extLst>
      <p:ext uri="{BB962C8B-B14F-4D97-AF65-F5344CB8AC3E}">
        <p14:creationId xmlns:p14="http://schemas.microsoft.com/office/powerpoint/2010/main" val="345073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 name="Shape 172"/>
          <p:cNvSpPr>
            <a:spLocks noGrp="1"/>
          </p:cNvSpPr>
          <p:nvPr>
            <p:ph type="title" idx="4294967295"/>
          </p:nvPr>
        </p:nvSpPr>
        <p:spPr>
          <a:xfrm>
            <a:off x="649287" y="215900"/>
            <a:ext cx="11704638" cy="1408113"/>
          </a:xfrm>
          <a:prstGeom prst="rect">
            <a:avLst/>
          </a:prstGeom>
        </p:spPr>
        <p:txBody>
          <a:bodyPr lIns="72248" tIns="72248" rIns="72248" bIns="72248" anchor="ctr">
            <a:noAutofit/>
          </a:bodyPr>
          <a:lstStyle>
            <a:lvl1pPr defTabSz="1300162">
              <a:defRPr sz="5600">
                <a:latin typeface="Arial"/>
                <a:ea typeface="Arial"/>
                <a:cs typeface="Arial"/>
                <a:sym typeface="Arial"/>
              </a:defRPr>
            </a:lvl1pPr>
          </a:lstStyle>
          <a:p>
            <a:pPr>
              <a:buNone/>
            </a:pPr>
            <a:r>
              <a:rPr sz="4400" dirty="0"/>
              <a:t>GLP-1 </a:t>
            </a:r>
            <a:r>
              <a:rPr lang="en-US" sz="4400" dirty="0"/>
              <a:t>RA: A1C + Renal Function</a:t>
            </a:r>
            <a:endParaRPr sz="4400" dirty="0"/>
          </a:p>
        </p:txBody>
      </p:sp>
      <p:sp>
        <p:nvSpPr>
          <p:cNvPr id="173" name="Shape 173"/>
          <p:cNvSpPr>
            <a:spLocks noGrp="1"/>
          </p:cNvSpPr>
          <p:nvPr>
            <p:ph type="body" idx="4294967295"/>
          </p:nvPr>
        </p:nvSpPr>
        <p:spPr>
          <a:xfrm>
            <a:off x="323850" y="2270760"/>
            <a:ext cx="12463463" cy="7373303"/>
          </a:xfrm>
          <a:prstGeom prst="rect">
            <a:avLst/>
          </a:prstGeom>
        </p:spPr>
        <p:txBody>
          <a:bodyPr lIns="72248" tIns="72248" rIns="72248" bIns="72248">
            <a:normAutofit/>
          </a:bodyPr>
          <a:lstStyle/>
          <a:p>
            <a:pPr>
              <a:spcBef>
                <a:spcPts val="1200"/>
              </a:spcBef>
            </a:pPr>
            <a:r>
              <a:rPr lang="en-US" sz="3200" b="1" dirty="0">
                <a:latin typeface="+mn-lt"/>
              </a:rPr>
              <a:t>Expected A1C reduction: ~1–2%</a:t>
            </a:r>
          </a:p>
          <a:p>
            <a:pPr>
              <a:spcBef>
                <a:spcPts val="1200"/>
              </a:spcBef>
            </a:pPr>
            <a:r>
              <a:rPr lang="en-US" sz="3200" b="1" dirty="0">
                <a:latin typeface="+mn-lt"/>
              </a:rPr>
              <a:t>Low intrinsic risk of hypoglycemia</a:t>
            </a:r>
          </a:p>
          <a:p>
            <a:pPr>
              <a:spcBef>
                <a:spcPts val="1200"/>
              </a:spcBef>
            </a:pPr>
            <a:r>
              <a:rPr lang="en-US" sz="3200" dirty="0">
                <a:latin typeface="+mn-lt"/>
              </a:rPr>
              <a:t>Renal considerations are </a:t>
            </a:r>
            <a:r>
              <a:rPr lang="en-US" sz="3200" b="1" dirty="0">
                <a:latin typeface="+mn-lt"/>
              </a:rPr>
              <a:t>agent-specific</a:t>
            </a:r>
          </a:p>
          <a:p>
            <a:pPr lvl="1">
              <a:spcBef>
                <a:spcPts val="1200"/>
              </a:spcBef>
            </a:pPr>
            <a:r>
              <a:rPr lang="en-US" sz="3200" dirty="0">
                <a:latin typeface="+mn-lt"/>
              </a:rPr>
              <a:t>Most GLP-1 RAs do </a:t>
            </a:r>
            <a:r>
              <a:rPr lang="en-US" sz="3200" b="1" dirty="0">
                <a:latin typeface="+mn-lt"/>
              </a:rPr>
              <a:t>not require renal dose adjustment</a:t>
            </a:r>
            <a:endParaRPr lang="en-US" sz="3200" dirty="0">
              <a:latin typeface="+mn-lt"/>
            </a:endParaRPr>
          </a:p>
          <a:p>
            <a:pPr lvl="1">
              <a:spcBef>
                <a:spcPts val="1200"/>
              </a:spcBef>
            </a:pPr>
            <a:r>
              <a:rPr lang="en-US" sz="3200" b="1" dirty="0">
                <a:latin typeface="+mn-lt"/>
              </a:rPr>
              <a:t>Exenatide has greater renal restrictions</a:t>
            </a:r>
            <a:endParaRPr lang="en-US" sz="3200" dirty="0">
              <a:latin typeface="+mn-lt"/>
            </a:endParaRPr>
          </a:p>
          <a:p>
            <a:pPr>
              <a:spcBef>
                <a:spcPts val="1200"/>
              </a:spcBef>
            </a:pPr>
            <a:r>
              <a:rPr lang="en-US" sz="3200" dirty="0">
                <a:latin typeface="+mn-lt"/>
              </a:rPr>
              <a:t>Monitor for </a:t>
            </a:r>
            <a:r>
              <a:rPr lang="en-US" sz="3200" b="1" dirty="0">
                <a:latin typeface="+mn-lt"/>
              </a:rPr>
              <a:t>volume depletion/AKI</a:t>
            </a:r>
            <a:r>
              <a:rPr lang="en-US" sz="3200" dirty="0">
                <a:latin typeface="+mn-lt"/>
              </a:rPr>
              <a:t> with significant GI adverse effects</a:t>
            </a:r>
            <a:endParaRPr sz="3200" dirty="0">
              <a:latin typeface="+mn-lt"/>
            </a:endParaRPr>
          </a:p>
        </p:txBody>
      </p:sp>
    </p:spTree>
    <p:extLst>
      <p:ext uri="{BB962C8B-B14F-4D97-AF65-F5344CB8AC3E}">
        <p14:creationId xmlns:p14="http://schemas.microsoft.com/office/powerpoint/2010/main" val="319247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 name="Shape 172"/>
          <p:cNvSpPr>
            <a:spLocks noGrp="1"/>
          </p:cNvSpPr>
          <p:nvPr>
            <p:ph type="title" idx="4294967295"/>
          </p:nvPr>
        </p:nvSpPr>
        <p:spPr>
          <a:xfrm>
            <a:off x="649287" y="215900"/>
            <a:ext cx="11704638" cy="1408113"/>
          </a:xfrm>
          <a:prstGeom prst="rect">
            <a:avLst/>
          </a:prstGeom>
        </p:spPr>
        <p:txBody>
          <a:bodyPr lIns="72248" tIns="72248" rIns="72248" bIns="72248" anchor="ctr">
            <a:noAutofit/>
          </a:bodyPr>
          <a:lstStyle>
            <a:lvl1pPr defTabSz="1300162">
              <a:defRPr sz="5600">
                <a:latin typeface="Arial"/>
                <a:ea typeface="Arial"/>
                <a:cs typeface="Arial"/>
                <a:sym typeface="Arial"/>
              </a:defRPr>
            </a:lvl1pPr>
          </a:lstStyle>
          <a:p>
            <a:pPr>
              <a:buNone/>
            </a:pPr>
            <a:r>
              <a:rPr lang="en-US" sz="4800" dirty="0"/>
              <a:t>GLP-1 Receptor Agonists: Adverse Effects</a:t>
            </a:r>
            <a:endParaRPr sz="4800" dirty="0"/>
          </a:p>
        </p:txBody>
      </p:sp>
      <p:sp>
        <p:nvSpPr>
          <p:cNvPr id="173" name="Shape 173"/>
          <p:cNvSpPr>
            <a:spLocks noGrp="1"/>
          </p:cNvSpPr>
          <p:nvPr>
            <p:ph type="body" idx="4294967295"/>
          </p:nvPr>
        </p:nvSpPr>
        <p:spPr>
          <a:xfrm>
            <a:off x="323850" y="2250831"/>
            <a:ext cx="12463463" cy="7393232"/>
          </a:xfrm>
          <a:prstGeom prst="rect">
            <a:avLst/>
          </a:prstGeom>
        </p:spPr>
        <p:txBody>
          <a:bodyPr lIns="72248" tIns="72248" rIns="72248" bIns="72248">
            <a:normAutofit/>
          </a:bodyPr>
          <a:lstStyle/>
          <a:p>
            <a:pPr marL="685800" indent="-685800" defTabSz="1300162">
              <a:lnSpc>
                <a:spcPct val="110000"/>
              </a:lnSpc>
              <a:spcBef>
                <a:spcPts val="700"/>
              </a:spcBef>
              <a:buFontTx/>
              <a:buChar char="•"/>
              <a:defRPr sz="4500">
                <a:latin typeface="Arial"/>
                <a:ea typeface="Arial"/>
                <a:cs typeface="Arial"/>
                <a:sym typeface="Arial"/>
              </a:defRPr>
            </a:pPr>
            <a:r>
              <a:rPr lang="en-US" sz="3200" b="1" dirty="0">
                <a:latin typeface="Calibri" charset="0"/>
                <a:ea typeface="Calibri" charset="0"/>
                <a:cs typeface="Calibri" charset="0"/>
              </a:rPr>
              <a:t>GI effects are most common *</a:t>
            </a:r>
          </a:p>
          <a:p>
            <a:pPr marL="1424679" lvl="1" indent="-685800" defTabSz="1300162">
              <a:lnSpc>
                <a:spcPct val="110000"/>
              </a:lnSpc>
              <a:spcBef>
                <a:spcPts val="700"/>
              </a:spcBef>
              <a:buFontTx/>
              <a:buChar char="•"/>
              <a:defRPr sz="4500">
                <a:latin typeface="Arial"/>
                <a:ea typeface="Arial"/>
                <a:cs typeface="Arial"/>
                <a:sym typeface="Arial"/>
              </a:defRPr>
            </a:pPr>
            <a:r>
              <a:rPr lang="en-US" sz="3200" b="1" dirty="0">
                <a:latin typeface="Calibri" charset="0"/>
                <a:ea typeface="Calibri" charset="0"/>
                <a:cs typeface="Calibri" charset="0"/>
              </a:rPr>
              <a:t>Nausea, vomiting diarrhea, or constipation</a:t>
            </a:r>
          </a:p>
          <a:p>
            <a:pPr marL="1424679" lvl="1" indent="-685800" defTabSz="1300162">
              <a:lnSpc>
                <a:spcPct val="110000"/>
              </a:lnSpc>
              <a:spcBef>
                <a:spcPts val="700"/>
              </a:spcBef>
              <a:buFontTx/>
              <a:buChar char="•"/>
              <a:defRPr sz="4500">
                <a:latin typeface="Arial"/>
                <a:ea typeface="Arial"/>
                <a:cs typeface="Arial"/>
                <a:sym typeface="Arial"/>
              </a:defRPr>
            </a:pPr>
            <a:r>
              <a:rPr lang="en-US" sz="3200" dirty="0">
                <a:latin typeface="Calibri" charset="0"/>
                <a:ea typeface="Calibri" charset="0"/>
                <a:cs typeface="Calibri" charset="0"/>
              </a:rPr>
              <a:t>Usually greatest during </a:t>
            </a:r>
            <a:r>
              <a:rPr lang="en-US" sz="3200" b="1" dirty="0">
                <a:latin typeface="Calibri" charset="0"/>
                <a:ea typeface="Calibri" charset="0"/>
                <a:cs typeface="Calibri" charset="0"/>
              </a:rPr>
              <a:t>initiation and dose escalation</a:t>
            </a:r>
          </a:p>
          <a:p>
            <a:pPr marL="1424679" lvl="1" indent="-685800" defTabSz="1300162">
              <a:lnSpc>
                <a:spcPct val="110000"/>
              </a:lnSpc>
              <a:spcBef>
                <a:spcPts val="700"/>
              </a:spcBef>
              <a:buFontTx/>
              <a:buChar char="•"/>
              <a:defRPr sz="4500">
                <a:latin typeface="Arial"/>
                <a:ea typeface="Arial"/>
                <a:cs typeface="Arial"/>
                <a:sym typeface="Arial"/>
              </a:defRPr>
            </a:pPr>
            <a:r>
              <a:rPr lang="en-US" sz="3200" b="1" dirty="0">
                <a:latin typeface="Calibri" charset="0"/>
                <a:ea typeface="Calibri" charset="0"/>
                <a:cs typeface="Calibri" charset="0"/>
              </a:rPr>
              <a:t>Slow titration </a:t>
            </a:r>
            <a:r>
              <a:rPr lang="en-US" sz="3200" dirty="0">
                <a:latin typeface="Calibri" charset="0"/>
                <a:ea typeface="Calibri" charset="0"/>
                <a:cs typeface="Calibri" charset="0"/>
              </a:rPr>
              <a:t>may improve tolerability</a:t>
            </a:r>
          </a:p>
          <a:p>
            <a:pPr marL="1424679" lvl="1" indent="-685800" defTabSz="1300162">
              <a:lnSpc>
                <a:spcPct val="110000"/>
              </a:lnSpc>
              <a:spcBef>
                <a:spcPts val="700"/>
              </a:spcBef>
              <a:buFontTx/>
              <a:buChar char="•"/>
              <a:defRPr sz="4500">
                <a:latin typeface="Arial"/>
                <a:ea typeface="Arial"/>
                <a:cs typeface="Arial"/>
                <a:sym typeface="Arial"/>
              </a:defRPr>
            </a:pPr>
            <a:r>
              <a:rPr lang="en-US" sz="3200" dirty="0">
                <a:latin typeface="Calibri" charset="0"/>
                <a:ea typeface="Calibri" charset="0"/>
                <a:cs typeface="Calibri" charset="0"/>
              </a:rPr>
              <a:t>Counsel patients to eat </a:t>
            </a:r>
            <a:r>
              <a:rPr lang="en-US" sz="3200" b="1" dirty="0">
                <a:latin typeface="Calibri" charset="0"/>
                <a:ea typeface="Calibri" charset="0"/>
                <a:cs typeface="Calibri" charset="0"/>
              </a:rPr>
              <a:t>smaller meals and stop when full</a:t>
            </a:r>
          </a:p>
          <a:p>
            <a:pPr marL="1424679" lvl="1" indent="-685800" defTabSz="1300162">
              <a:lnSpc>
                <a:spcPct val="110000"/>
              </a:lnSpc>
              <a:spcBef>
                <a:spcPts val="700"/>
              </a:spcBef>
              <a:buFontTx/>
              <a:buChar char="•"/>
              <a:defRPr sz="4500">
                <a:latin typeface="Arial"/>
                <a:ea typeface="Arial"/>
                <a:cs typeface="Arial"/>
                <a:sym typeface="Arial"/>
              </a:defRPr>
            </a:pPr>
            <a:r>
              <a:rPr lang="en-US" sz="3200" dirty="0">
                <a:latin typeface="Calibri" charset="0"/>
                <a:ea typeface="Calibri" charset="0"/>
                <a:cs typeface="Calibri" charset="0"/>
              </a:rPr>
              <a:t>Significant vomiting/diarrhea – risk of </a:t>
            </a:r>
            <a:r>
              <a:rPr lang="en-US" sz="3200" b="1" dirty="0">
                <a:latin typeface="Calibri" charset="0"/>
                <a:ea typeface="Calibri" charset="0"/>
                <a:cs typeface="Calibri" charset="0"/>
              </a:rPr>
              <a:t>dehydration and AKI</a:t>
            </a:r>
          </a:p>
          <a:p>
            <a:pPr defTabSz="1300162">
              <a:lnSpc>
                <a:spcPct val="110000"/>
              </a:lnSpc>
              <a:spcBef>
                <a:spcPts val="700"/>
              </a:spcBef>
              <a:buNone/>
              <a:defRPr sz="4500">
                <a:latin typeface="Arial"/>
                <a:ea typeface="Arial"/>
                <a:cs typeface="Arial"/>
                <a:sym typeface="Arial"/>
              </a:defRPr>
            </a:pPr>
            <a:endParaRPr lang="en-US" sz="4000" dirty="0">
              <a:latin typeface="Calibri" charset="0"/>
              <a:ea typeface="Calibri" charset="0"/>
              <a:cs typeface="Calibri" charset="0"/>
            </a:endParaRPr>
          </a:p>
        </p:txBody>
      </p:sp>
    </p:spTree>
    <p:extLst>
      <p:ext uri="{BB962C8B-B14F-4D97-AF65-F5344CB8AC3E}">
        <p14:creationId xmlns:p14="http://schemas.microsoft.com/office/powerpoint/2010/main" val="10163162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Shape 173"/>
          <p:cNvSpPr>
            <a:spLocks noGrp="1"/>
          </p:cNvSpPr>
          <p:nvPr>
            <p:ph type="body" idx="4294967295"/>
          </p:nvPr>
        </p:nvSpPr>
        <p:spPr>
          <a:xfrm>
            <a:off x="323850" y="2189747"/>
            <a:ext cx="12463463" cy="7454316"/>
          </a:xfrm>
          <a:prstGeom prst="rect">
            <a:avLst/>
          </a:prstGeom>
        </p:spPr>
        <p:txBody>
          <a:bodyPr lIns="72248" tIns="72248" rIns="72248" bIns="72248">
            <a:normAutofit/>
          </a:bodyPr>
          <a:lstStyle/>
          <a:p>
            <a:pPr>
              <a:spcBef>
                <a:spcPts val="1200"/>
              </a:spcBef>
              <a:buNone/>
            </a:pPr>
            <a:r>
              <a:rPr lang="en-US" sz="3200" b="1" dirty="0">
                <a:latin typeface="Calibri" panose="020F0502020204030204" pitchFamily="34" charset="0"/>
                <a:ea typeface="Calibri" panose="020F0502020204030204" pitchFamily="34" charset="0"/>
                <a:cs typeface="Calibri" panose="020F0502020204030204" pitchFamily="34" charset="0"/>
              </a:rPr>
              <a:t>Acute pancreatitis</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Has been reported with GLP-1 RAs</a:t>
            </a:r>
          </a:p>
          <a:p>
            <a:pPr>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Counsel: </a:t>
            </a:r>
            <a:r>
              <a:rPr lang="en-US" sz="3200" b="1" dirty="0">
                <a:latin typeface="Calibri" panose="020F0502020204030204" pitchFamily="34" charset="0"/>
                <a:ea typeface="Calibri" panose="020F0502020204030204" pitchFamily="34" charset="0"/>
                <a:cs typeface="Calibri" panose="020F0502020204030204" pitchFamily="34" charset="0"/>
              </a:rPr>
              <a:t>persistent, severe abdominal pain ± radiation to the back</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3200" b="1" dirty="0">
                <a:latin typeface="Calibri" panose="020F0502020204030204" pitchFamily="34" charset="0"/>
                <a:ea typeface="Calibri" panose="020F0502020204030204" pitchFamily="34" charset="0"/>
                <a:cs typeface="Calibri" panose="020F0502020204030204" pitchFamily="34" charset="0"/>
              </a:rPr>
              <a:t>Discontinue if pancreatitis is suspected</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Use caution/consider alternatives with a </a:t>
            </a:r>
            <a:r>
              <a:rPr lang="en-US" sz="3200" b="1" dirty="0">
                <a:latin typeface="Calibri" panose="020F0502020204030204" pitchFamily="34" charset="0"/>
                <a:ea typeface="Calibri" panose="020F0502020204030204" pitchFamily="34" charset="0"/>
                <a:cs typeface="Calibri" panose="020F0502020204030204" pitchFamily="34" charset="0"/>
              </a:rPr>
              <a:t>history of pancreatitis</a:t>
            </a:r>
          </a:p>
          <a:p>
            <a:pPr>
              <a:spcBef>
                <a:spcPts val="1200"/>
              </a:spcBef>
            </a:pP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buNone/>
            </a:pPr>
            <a:r>
              <a:rPr lang="en-US" sz="3200" b="1" dirty="0">
                <a:latin typeface="Calibri" panose="020F0502020204030204" pitchFamily="34" charset="0"/>
                <a:ea typeface="Calibri" panose="020F0502020204030204" pitchFamily="34" charset="0"/>
                <a:cs typeface="Calibri" panose="020F0502020204030204" pitchFamily="34" charset="0"/>
              </a:rPr>
              <a:t>Injection-site reactions</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May occur with injectable agents</a:t>
            </a:r>
          </a:p>
          <a:p>
            <a:pPr>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Rotate injection sites</a:t>
            </a:r>
          </a:p>
          <a:p>
            <a:pPr marL="685800" indent="-685800" defTabSz="1300162">
              <a:spcBef>
                <a:spcPts val="700"/>
              </a:spcBef>
              <a:buFontTx/>
              <a:buChar char="•"/>
              <a:defRPr sz="4500">
                <a:latin typeface="Arial"/>
                <a:ea typeface="Arial"/>
                <a:cs typeface="Arial"/>
                <a:sym typeface="Arial"/>
              </a:defRPr>
            </a:pPr>
            <a:endParaRPr lang="en-US" sz="4800" dirty="0">
              <a:latin typeface="Calibri" charset="0"/>
              <a:ea typeface="Calibri" charset="0"/>
              <a:cs typeface="Calibri" charset="0"/>
            </a:endParaRPr>
          </a:p>
          <a:p>
            <a:pPr marL="685800" indent="-685800" defTabSz="1300162">
              <a:spcBef>
                <a:spcPts val="700"/>
              </a:spcBef>
              <a:buFontTx/>
              <a:buChar char="•"/>
              <a:defRPr sz="4500">
                <a:latin typeface="Arial"/>
                <a:ea typeface="Arial"/>
                <a:cs typeface="Arial"/>
                <a:sym typeface="Arial"/>
              </a:defRPr>
            </a:pPr>
            <a:endParaRPr lang="en-US" dirty="0"/>
          </a:p>
          <a:p>
            <a:pPr marL="685800" indent="-685800" defTabSz="1300162">
              <a:spcBef>
                <a:spcPts val="700"/>
              </a:spcBef>
              <a:buFontTx/>
              <a:buChar char="•"/>
              <a:defRPr sz="4500">
                <a:latin typeface="Arial"/>
                <a:ea typeface="Arial"/>
                <a:cs typeface="Arial"/>
                <a:sym typeface="Arial"/>
              </a:defRPr>
            </a:pPr>
            <a:endParaRPr dirty="0"/>
          </a:p>
        </p:txBody>
      </p:sp>
      <p:sp>
        <p:nvSpPr>
          <p:cNvPr id="2" name="Shape 172">
            <a:extLst>
              <a:ext uri="{FF2B5EF4-FFF2-40B4-BE49-F238E27FC236}">
                <a16:creationId xmlns:a16="http://schemas.microsoft.com/office/drawing/2014/main" id="{6D84C7F5-2EA2-913F-8BF1-EED505D44F15}"/>
              </a:ext>
            </a:extLst>
          </p:cNvPr>
          <p:cNvSpPr txBox="1">
            <a:spLocks/>
          </p:cNvSpPr>
          <p:nvPr/>
        </p:nvSpPr>
        <p:spPr>
          <a:xfrm>
            <a:off x="649287" y="215900"/>
            <a:ext cx="11704638" cy="1408113"/>
          </a:xfrm>
          <a:prstGeom prst="rect">
            <a:avLst/>
          </a:prstGeom>
          <a:ln w="12700">
            <a:miter lim="400000"/>
          </a:ln>
          <a:extLst>
            <a:ext uri="{C572A759-6A51-4108-AA02-DFA0A04FC94B}">
              <ma14:wrappingTextBoxFlag xmlns="" xmlns:ma14="http://schemas.microsoft.com/office/mac/drawingml/2011/main" val="1"/>
            </a:ext>
          </a:extLst>
        </p:spPr>
        <p:txBody>
          <a:bodyPr lIns="72248" tIns="72248" rIns="72248" bIns="72248" anchor="ctr">
            <a:noAutofit/>
          </a:bodyPr>
          <a:lstStyle>
            <a:lvl1pPr marL="0" marR="0" indent="0" algn="ctr" defTabSz="1300162" rtl="0" latinLnBrk="0">
              <a:lnSpc>
                <a:spcPct val="100000"/>
              </a:lnSpc>
              <a:spcBef>
                <a:spcPts val="0"/>
              </a:spcBef>
              <a:spcAft>
                <a:spcPts val="0"/>
              </a:spcAft>
              <a:buClr>
                <a:srgbClr val="000000"/>
              </a:buClr>
              <a:buSzPct val="100000"/>
              <a:buFont typeface="Arial"/>
              <a:buChar char="–"/>
              <a:tabLst/>
              <a:defRPr sz="5600" b="0" i="0" u="none" strike="noStrike" cap="none" spc="0" baseline="0">
                <a:ln>
                  <a:noFill/>
                </a:ln>
                <a:solidFill>
                  <a:srgbClr val="000000"/>
                </a:solidFill>
                <a:uFillTx/>
                <a:latin typeface="Arial"/>
                <a:ea typeface="Arial"/>
                <a:cs typeface="Arial"/>
                <a:sym typeface="Arial"/>
              </a:defRPr>
            </a:lvl1pPr>
            <a:lvl2pPr marL="833641" marR="0" indent="-833641" algn="ctr" defTabSz="584200" rtl="0" latinLnBrk="0">
              <a:lnSpc>
                <a:spcPct val="100000"/>
              </a:lnSpc>
              <a:spcBef>
                <a:spcPts val="0"/>
              </a:spcBef>
              <a:spcAft>
                <a:spcPts val="0"/>
              </a:spcAft>
              <a:buClr>
                <a:srgbClr val="000000"/>
              </a:buClr>
              <a:buSzPct val="100000"/>
              <a:buFont typeface="Arial"/>
              <a:buChar char="–"/>
              <a:tabLst/>
              <a:defRPr sz="8000" b="0" i="0" u="none" strike="noStrike" cap="none" spc="0" baseline="0">
                <a:ln>
                  <a:noFill/>
                </a:ln>
                <a:solidFill>
                  <a:srgbClr val="000000"/>
                </a:solidFill>
                <a:uFillTx/>
                <a:latin typeface="Helvetica Light"/>
                <a:ea typeface="Helvetica Light"/>
                <a:cs typeface="Helvetica Light"/>
                <a:sym typeface="Helvetica Light"/>
              </a:defRPr>
            </a:lvl2pPr>
            <a:lvl3pPr marL="0" marR="0" indent="0" algn="ctr" defTabSz="584200" rtl="0" latinLnBrk="0">
              <a:lnSpc>
                <a:spcPct val="100000"/>
              </a:lnSpc>
              <a:spcBef>
                <a:spcPts val="0"/>
              </a:spcBef>
              <a:spcAft>
                <a:spcPts val="0"/>
              </a:spcAft>
              <a:buClr>
                <a:srgbClr val="000000"/>
              </a:buClr>
              <a:buSzPct val="100000"/>
              <a:buFont typeface="Arial"/>
              <a:buChar char="–"/>
              <a:tabLst/>
              <a:defRPr sz="8000" b="0" i="0" u="none" strike="noStrike" cap="none" spc="0" baseline="0">
                <a:ln>
                  <a:noFill/>
                </a:ln>
                <a:solidFill>
                  <a:srgbClr val="000000"/>
                </a:solidFill>
                <a:uFillTx/>
                <a:latin typeface="Helvetica Light"/>
                <a:ea typeface="Helvetica Light"/>
                <a:cs typeface="Helvetica Light"/>
                <a:sym typeface="Helvetica Light"/>
              </a:defRPr>
            </a:lvl3pPr>
            <a:lvl4pPr marL="0" marR="0" indent="0" algn="ctr" defTabSz="584200" rtl="0" latinLnBrk="0">
              <a:lnSpc>
                <a:spcPct val="100000"/>
              </a:lnSpc>
              <a:spcBef>
                <a:spcPts val="0"/>
              </a:spcBef>
              <a:spcAft>
                <a:spcPts val="0"/>
              </a:spcAft>
              <a:buClr>
                <a:srgbClr val="000000"/>
              </a:buClr>
              <a:buSzPct val="100000"/>
              <a:buFont typeface="Arial"/>
              <a:buChar char="–"/>
              <a:tabLst/>
              <a:defRPr sz="8000" b="0" i="0" u="none" strike="noStrike" cap="none" spc="0" baseline="0">
                <a:ln>
                  <a:noFill/>
                </a:ln>
                <a:solidFill>
                  <a:srgbClr val="000000"/>
                </a:solidFill>
                <a:uFillTx/>
                <a:latin typeface="Helvetica Light"/>
                <a:ea typeface="Helvetica Light"/>
                <a:cs typeface="Helvetica Light"/>
                <a:sym typeface="Helvetica Light"/>
              </a:defRPr>
            </a:lvl4pPr>
            <a:lvl5pPr marL="0" marR="0" indent="0" algn="ctr" defTabSz="584200" rtl="0" latinLnBrk="0">
              <a:lnSpc>
                <a:spcPct val="100000"/>
              </a:lnSpc>
              <a:spcBef>
                <a:spcPts val="0"/>
              </a:spcBef>
              <a:spcAft>
                <a:spcPts val="0"/>
              </a:spcAft>
              <a:buClr>
                <a:srgbClr val="000000"/>
              </a:buClr>
              <a:buSzPct val="100000"/>
              <a:buFont typeface="Arial"/>
              <a:buChar char="–"/>
              <a:tabLst/>
              <a:defRPr sz="8000" b="0" i="0" u="none" strike="noStrike" cap="none" spc="0" baseline="0">
                <a:ln>
                  <a:noFill/>
                </a:ln>
                <a:solidFill>
                  <a:srgbClr val="000000"/>
                </a:solidFill>
                <a:uFillTx/>
                <a:latin typeface="Helvetica Light"/>
                <a:ea typeface="Helvetica Light"/>
                <a:cs typeface="Helvetica Light"/>
                <a:sym typeface="Helvetica Light"/>
              </a:defRPr>
            </a:lvl5pPr>
            <a:lvl6pPr marL="457200" marR="0" indent="0" algn="ctr" defTabSz="584200" rtl="0" latinLnBrk="0">
              <a:lnSpc>
                <a:spcPct val="100000"/>
              </a:lnSpc>
              <a:spcBef>
                <a:spcPts val="0"/>
              </a:spcBef>
              <a:spcAft>
                <a:spcPts val="0"/>
              </a:spcAft>
              <a:buClr>
                <a:srgbClr val="000000"/>
              </a:buClr>
              <a:buSzPct val="100000"/>
              <a:buFont typeface="Arial"/>
              <a:buChar char="–"/>
              <a:tabLst/>
              <a:defRPr sz="8000" b="0" i="0" u="none" strike="noStrike" cap="none" spc="0" baseline="0">
                <a:ln>
                  <a:noFill/>
                </a:ln>
                <a:solidFill>
                  <a:srgbClr val="000000"/>
                </a:solidFill>
                <a:uFillTx/>
                <a:latin typeface="Helvetica Light"/>
                <a:ea typeface="Helvetica Light"/>
                <a:cs typeface="Helvetica Light"/>
                <a:sym typeface="Helvetica Light"/>
              </a:defRPr>
            </a:lvl6pPr>
            <a:lvl7pPr marL="914400" marR="0" indent="0" algn="ctr" defTabSz="584200" rtl="0" latinLnBrk="0">
              <a:lnSpc>
                <a:spcPct val="100000"/>
              </a:lnSpc>
              <a:spcBef>
                <a:spcPts val="0"/>
              </a:spcBef>
              <a:spcAft>
                <a:spcPts val="0"/>
              </a:spcAft>
              <a:buClr>
                <a:srgbClr val="000000"/>
              </a:buClr>
              <a:buSzPct val="100000"/>
              <a:buFont typeface="Arial"/>
              <a:buChar char="–"/>
              <a:tabLst/>
              <a:defRPr sz="8000" b="0" i="0" u="none" strike="noStrike" cap="none" spc="0" baseline="0">
                <a:ln>
                  <a:noFill/>
                </a:ln>
                <a:solidFill>
                  <a:srgbClr val="000000"/>
                </a:solidFill>
                <a:uFillTx/>
                <a:latin typeface="Helvetica Light"/>
                <a:ea typeface="Helvetica Light"/>
                <a:cs typeface="Helvetica Light"/>
                <a:sym typeface="Helvetica Light"/>
              </a:defRPr>
            </a:lvl7pPr>
            <a:lvl8pPr marL="1371600" marR="0" indent="0" algn="ctr" defTabSz="584200" rtl="0" latinLnBrk="0">
              <a:lnSpc>
                <a:spcPct val="100000"/>
              </a:lnSpc>
              <a:spcBef>
                <a:spcPts val="0"/>
              </a:spcBef>
              <a:spcAft>
                <a:spcPts val="0"/>
              </a:spcAft>
              <a:buClr>
                <a:srgbClr val="000000"/>
              </a:buClr>
              <a:buSzPct val="100000"/>
              <a:buFont typeface="Arial"/>
              <a:buChar char="–"/>
              <a:tabLst/>
              <a:defRPr sz="8000" b="0" i="0" u="none" strike="noStrike" cap="none" spc="0" baseline="0">
                <a:ln>
                  <a:noFill/>
                </a:ln>
                <a:solidFill>
                  <a:srgbClr val="000000"/>
                </a:solidFill>
                <a:uFillTx/>
                <a:latin typeface="Helvetica Light"/>
                <a:ea typeface="Helvetica Light"/>
                <a:cs typeface="Helvetica Light"/>
                <a:sym typeface="Helvetica Light"/>
              </a:defRPr>
            </a:lvl8pPr>
            <a:lvl9pPr marL="1828800" marR="0" indent="0" algn="ctr" defTabSz="584200" rtl="0" latinLnBrk="0">
              <a:lnSpc>
                <a:spcPct val="100000"/>
              </a:lnSpc>
              <a:spcBef>
                <a:spcPts val="0"/>
              </a:spcBef>
              <a:spcAft>
                <a:spcPts val="0"/>
              </a:spcAft>
              <a:buClr>
                <a:srgbClr val="000000"/>
              </a:buClr>
              <a:buSzPct val="100000"/>
              <a:buFont typeface="Arial"/>
              <a:buChar char="–"/>
              <a:tabLst/>
              <a:defRPr sz="8000" b="0" i="0" u="none" strike="noStrike" cap="none" spc="0" baseline="0">
                <a:ln>
                  <a:noFill/>
                </a:ln>
                <a:solidFill>
                  <a:srgbClr val="000000"/>
                </a:solidFill>
                <a:uFillTx/>
                <a:latin typeface="Helvetica Light"/>
                <a:ea typeface="Helvetica Light"/>
                <a:cs typeface="Helvetica Light"/>
                <a:sym typeface="Helvetica Light"/>
              </a:defRPr>
            </a:lvl9pPr>
          </a:lstStyle>
          <a:p>
            <a:pPr hangingPunct="1">
              <a:buFont typeface="Arial"/>
              <a:buNone/>
            </a:pPr>
            <a:r>
              <a:rPr lang="en-US" sz="4800" dirty="0"/>
              <a:t>GLP-1 Receptor Agonists: Adverse Effects</a:t>
            </a:r>
          </a:p>
        </p:txBody>
      </p:sp>
    </p:spTree>
    <p:extLst>
      <p:ext uri="{BB962C8B-B14F-4D97-AF65-F5344CB8AC3E}">
        <p14:creationId xmlns:p14="http://schemas.microsoft.com/office/powerpoint/2010/main" val="13459153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Shape 173"/>
          <p:cNvSpPr>
            <a:spLocks noGrp="1"/>
          </p:cNvSpPr>
          <p:nvPr>
            <p:ph type="body" idx="4294967295"/>
          </p:nvPr>
        </p:nvSpPr>
        <p:spPr>
          <a:xfrm>
            <a:off x="140677" y="2502568"/>
            <a:ext cx="12636859" cy="7141495"/>
          </a:xfrm>
          <a:prstGeom prst="rect">
            <a:avLst/>
          </a:prstGeom>
        </p:spPr>
        <p:txBody>
          <a:bodyPr lIns="72248" tIns="72248" rIns="72248" bIns="72248">
            <a:normAutofit/>
          </a:bodyPr>
          <a:lstStyle/>
          <a:p>
            <a:pPr>
              <a:spcBef>
                <a:spcPts val="1200"/>
              </a:spcBef>
              <a:buNone/>
            </a:pPr>
            <a:r>
              <a:rPr lang="en-US" sz="3500" b="1" dirty="0">
                <a:latin typeface="Calibri" panose="020F0502020204030204" pitchFamily="34" charset="0"/>
                <a:ea typeface="Calibri" panose="020F0502020204030204" pitchFamily="34" charset="0"/>
                <a:cs typeface="Calibri" panose="020F0502020204030204" pitchFamily="34" charset="0"/>
              </a:rPr>
              <a:t>Thyroid C-cell tumors</a:t>
            </a:r>
            <a:endParaRPr lang="en-US" sz="35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3500" dirty="0">
                <a:latin typeface="Calibri" panose="020F0502020204030204" pitchFamily="34" charset="0"/>
                <a:ea typeface="Calibri" panose="020F0502020204030204" pitchFamily="34" charset="0"/>
                <a:cs typeface="Calibri" panose="020F0502020204030204" pitchFamily="34" charset="0"/>
              </a:rPr>
              <a:t>Thyroid C-cell tumors occurred in </a:t>
            </a:r>
            <a:r>
              <a:rPr lang="en-US" sz="3500" b="1" dirty="0">
                <a:latin typeface="Calibri" panose="020F0502020204030204" pitchFamily="34" charset="0"/>
                <a:ea typeface="Calibri" panose="020F0502020204030204" pitchFamily="34" charset="0"/>
                <a:cs typeface="Calibri" panose="020F0502020204030204" pitchFamily="34" charset="0"/>
              </a:rPr>
              <a:t>rodent studies</a:t>
            </a:r>
            <a:endParaRPr lang="en-US" sz="35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3500" dirty="0">
                <a:latin typeface="Calibri" panose="020F0502020204030204" pitchFamily="34" charset="0"/>
                <a:ea typeface="Calibri" panose="020F0502020204030204" pitchFamily="34" charset="0"/>
                <a:cs typeface="Calibri" panose="020F0502020204030204" pitchFamily="34" charset="0"/>
              </a:rPr>
              <a:t>Human relevance is </a:t>
            </a:r>
            <a:r>
              <a:rPr lang="en-US" sz="3500" b="1" dirty="0">
                <a:latin typeface="Calibri" panose="020F0502020204030204" pitchFamily="34" charset="0"/>
                <a:ea typeface="Calibri" panose="020F0502020204030204" pitchFamily="34" charset="0"/>
                <a:cs typeface="Calibri" panose="020F0502020204030204" pitchFamily="34" charset="0"/>
              </a:rPr>
              <a:t>unknown</a:t>
            </a:r>
            <a:endParaRPr lang="en-US" sz="35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3500" dirty="0">
                <a:latin typeface="Calibri" panose="020F0502020204030204" pitchFamily="34" charset="0"/>
                <a:ea typeface="Calibri" panose="020F0502020204030204" pitchFamily="34" charset="0"/>
                <a:cs typeface="Calibri" panose="020F0502020204030204" pitchFamily="34" charset="0"/>
              </a:rPr>
              <a:t>Several GLP-1 RAs carry an FDA </a:t>
            </a:r>
            <a:r>
              <a:rPr lang="en-US" sz="3500" b="1" dirty="0">
                <a:latin typeface="Calibri" panose="020F0502020204030204" pitchFamily="34" charset="0"/>
                <a:ea typeface="Calibri" panose="020F0502020204030204" pitchFamily="34" charset="0"/>
                <a:cs typeface="Calibri" panose="020F0502020204030204" pitchFamily="34" charset="0"/>
              </a:rPr>
              <a:t>boxed warning</a:t>
            </a:r>
            <a:endParaRPr lang="en-US" sz="35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3500" b="1" dirty="0">
                <a:latin typeface="Calibri" panose="020F0502020204030204" pitchFamily="34" charset="0"/>
                <a:ea typeface="Calibri" panose="020F0502020204030204" pitchFamily="34" charset="0"/>
                <a:cs typeface="Calibri" panose="020F0502020204030204" pitchFamily="34" charset="0"/>
              </a:rPr>
              <a:t>Contraindicated with:</a:t>
            </a:r>
            <a:endParaRPr lang="en-US" sz="3500" dirty="0">
              <a:latin typeface="Calibri" panose="020F0502020204030204" pitchFamily="34" charset="0"/>
              <a:ea typeface="Calibri" panose="020F0502020204030204" pitchFamily="34" charset="0"/>
              <a:cs typeface="Calibri" panose="020F0502020204030204" pitchFamily="34" charset="0"/>
            </a:endParaRPr>
          </a:p>
          <a:p>
            <a:pPr lvl="1">
              <a:spcBef>
                <a:spcPts val="1200"/>
              </a:spcBef>
            </a:pPr>
            <a:r>
              <a:rPr lang="en-US" sz="3500" dirty="0">
                <a:latin typeface="Calibri" panose="020F0502020204030204" pitchFamily="34" charset="0"/>
                <a:ea typeface="Calibri" panose="020F0502020204030204" pitchFamily="34" charset="0"/>
                <a:cs typeface="Calibri" panose="020F0502020204030204" pitchFamily="34" charset="0"/>
              </a:rPr>
              <a:t>Personal or family history of </a:t>
            </a:r>
            <a:r>
              <a:rPr lang="en-US" sz="3500" b="1" dirty="0">
                <a:latin typeface="Calibri" panose="020F0502020204030204" pitchFamily="34" charset="0"/>
                <a:ea typeface="Calibri" panose="020F0502020204030204" pitchFamily="34" charset="0"/>
                <a:cs typeface="Calibri" panose="020F0502020204030204" pitchFamily="34" charset="0"/>
              </a:rPr>
              <a:t>medullary thyroid carcinoma (MTC)</a:t>
            </a:r>
            <a:endParaRPr lang="en-US" sz="3500" dirty="0">
              <a:latin typeface="Calibri" panose="020F0502020204030204" pitchFamily="34" charset="0"/>
              <a:ea typeface="Calibri" panose="020F0502020204030204" pitchFamily="34" charset="0"/>
              <a:cs typeface="Calibri" panose="020F0502020204030204" pitchFamily="34" charset="0"/>
            </a:endParaRPr>
          </a:p>
          <a:p>
            <a:pPr lvl="1">
              <a:spcBef>
                <a:spcPts val="1200"/>
              </a:spcBef>
            </a:pPr>
            <a:r>
              <a:rPr lang="en-US" sz="3500" b="1" dirty="0">
                <a:latin typeface="Calibri" panose="020F0502020204030204" pitchFamily="34" charset="0"/>
                <a:ea typeface="Calibri" panose="020F0502020204030204" pitchFamily="34" charset="0"/>
                <a:cs typeface="Calibri" panose="020F0502020204030204" pitchFamily="34" charset="0"/>
              </a:rPr>
              <a:t>Multiple Endocrine Neoplasia syndrome type 2 (MEN 2)</a:t>
            </a:r>
            <a:r>
              <a:rPr lang="en-US" sz="3500" dirty="0">
                <a:latin typeface="Calibri" panose="020F0502020204030204" pitchFamily="34" charset="0"/>
                <a:ea typeface="Calibri" panose="020F0502020204030204" pitchFamily="34" charset="0"/>
                <a:cs typeface="Calibri" panose="020F0502020204030204" pitchFamily="34" charset="0"/>
              </a:rPr>
              <a:t> </a:t>
            </a:r>
          </a:p>
          <a:p>
            <a:pPr marL="685800" indent="-685800" defTabSz="1300162">
              <a:spcBef>
                <a:spcPts val="1200"/>
              </a:spcBef>
              <a:buFontTx/>
              <a:buChar char="•"/>
              <a:defRPr sz="4500">
                <a:latin typeface="Arial"/>
                <a:ea typeface="Arial"/>
                <a:cs typeface="Arial"/>
                <a:sym typeface="Arial"/>
              </a:defRPr>
            </a:pPr>
            <a:endParaRPr dirty="0"/>
          </a:p>
        </p:txBody>
      </p:sp>
      <p:sp>
        <p:nvSpPr>
          <p:cNvPr id="5" name="Shape 172">
            <a:extLst>
              <a:ext uri="{FF2B5EF4-FFF2-40B4-BE49-F238E27FC236}">
                <a16:creationId xmlns:a16="http://schemas.microsoft.com/office/drawing/2014/main" id="{A60D4A41-B8B3-4F24-F271-1274AAE088A9}"/>
              </a:ext>
            </a:extLst>
          </p:cNvPr>
          <p:cNvSpPr txBox="1">
            <a:spLocks/>
          </p:cNvSpPr>
          <p:nvPr/>
        </p:nvSpPr>
        <p:spPr>
          <a:xfrm>
            <a:off x="649287" y="215900"/>
            <a:ext cx="11704638" cy="1408113"/>
          </a:xfrm>
          <a:prstGeom prst="rect">
            <a:avLst/>
          </a:prstGeom>
          <a:ln w="12700">
            <a:miter lim="400000"/>
          </a:ln>
          <a:extLst>
            <a:ext uri="{C572A759-6A51-4108-AA02-DFA0A04FC94B}">
              <ma14:wrappingTextBoxFlag xmlns:ma14="http://schemas.microsoft.com/office/mac/drawingml/2011/main" xmlns="" val="1"/>
            </a:ext>
          </a:extLst>
        </p:spPr>
        <p:txBody>
          <a:bodyPr lIns="72248" tIns="72248" rIns="72248" bIns="72248" anchor="ctr">
            <a:noAutofit/>
          </a:bodyPr>
          <a:lstStyle>
            <a:lvl1pPr marL="0" marR="0" indent="0" algn="ctr" defTabSz="1300162" rtl="0" latinLnBrk="0">
              <a:lnSpc>
                <a:spcPct val="100000"/>
              </a:lnSpc>
              <a:spcBef>
                <a:spcPts val="0"/>
              </a:spcBef>
              <a:spcAft>
                <a:spcPts val="0"/>
              </a:spcAft>
              <a:buClr>
                <a:srgbClr val="000000"/>
              </a:buClr>
              <a:buSzPct val="100000"/>
              <a:buFont typeface="Arial"/>
              <a:buChar char="–"/>
              <a:tabLst/>
              <a:defRPr sz="5600" b="0" i="0" u="none" strike="noStrike" cap="none" spc="0" baseline="0">
                <a:ln>
                  <a:noFill/>
                </a:ln>
                <a:solidFill>
                  <a:srgbClr val="000000"/>
                </a:solidFill>
                <a:uFillTx/>
                <a:latin typeface="Arial"/>
                <a:ea typeface="Arial"/>
                <a:cs typeface="Arial"/>
                <a:sym typeface="Arial"/>
              </a:defRPr>
            </a:lvl1pPr>
            <a:lvl2pPr marL="833641" marR="0" indent="-833641" algn="ctr" defTabSz="584200" rtl="0" latinLnBrk="0">
              <a:lnSpc>
                <a:spcPct val="100000"/>
              </a:lnSpc>
              <a:spcBef>
                <a:spcPts val="0"/>
              </a:spcBef>
              <a:spcAft>
                <a:spcPts val="0"/>
              </a:spcAft>
              <a:buClr>
                <a:srgbClr val="000000"/>
              </a:buClr>
              <a:buSzPct val="100000"/>
              <a:buFont typeface="Arial"/>
              <a:buChar char="–"/>
              <a:tabLst/>
              <a:defRPr sz="8000" b="0" i="0" u="none" strike="noStrike" cap="none" spc="0" baseline="0">
                <a:ln>
                  <a:noFill/>
                </a:ln>
                <a:solidFill>
                  <a:srgbClr val="000000"/>
                </a:solidFill>
                <a:uFillTx/>
                <a:latin typeface="Helvetica Light"/>
                <a:ea typeface="Helvetica Light"/>
                <a:cs typeface="Helvetica Light"/>
                <a:sym typeface="Helvetica Light"/>
              </a:defRPr>
            </a:lvl2pPr>
            <a:lvl3pPr marL="0" marR="0" indent="0" algn="ctr" defTabSz="584200" rtl="0" latinLnBrk="0">
              <a:lnSpc>
                <a:spcPct val="100000"/>
              </a:lnSpc>
              <a:spcBef>
                <a:spcPts val="0"/>
              </a:spcBef>
              <a:spcAft>
                <a:spcPts val="0"/>
              </a:spcAft>
              <a:buClr>
                <a:srgbClr val="000000"/>
              </a:buClr>
              <a:buSzPct val="100000"/>
              <a:buFont typeface="Arial"/>
              <a:buChar char="–"/>
              <a:tabLst/>
              <a:defRPr sz="8000" b="0" i="0" u="none" strike="noStrike" cap="none" spc="0" baseline="0">
                <a:ln>
                  <a:noFill/>
                </a:ln>
                <a:solidFill>
                  <a:srgbClr val="000000"/>
                </a:solidFill>
                <a:uFillTx/>
                <a:latin typeface="Helvetica Light"/>
                <a:ea typeface="Helvetica Light"/>
                <a:cs typeface="Helvetica Light"/>
                <a:sym typeface="Helvetica Light"/>
              </a:defRPr>
            </a:lvl3pPr>
            <a:lvl4pPr marL="0" marR="0" indent="0" algn="ctr" defTabSz="584200" rtl="0" latinLnBrk="0">
              <a:lnSpc>
                <a:spcPct val="100000"/>
              </a:lnSpc>
              <a:spcBef>
                <a:spcPts val="0"/>
              </a:spcBef>
              <a:spcAft>
                <a:spcPts val="0"/>
              </a:spcAft>
              <a:buClr>
                <a:srgbClr val="000000"/>
              </a:buClr>
              <a:buSzPct val="100000"/>
              <a:buFont typeface="Arial"/>
              <a:buChar char="–"/>
              <a:tabLst/>
              <a:defRPr sz="8000" b="0" i="0" u="none" strike="noStrike" cap="none" spc="0" baseline="0">
                <a:ln>
                  <a:noFill/>
                </a:ln>
                <a:solidFill>
                  <a:srgbClr val="000000"/>
                </a:solidFill>
                <a:uFillTx/>
                <a:latin typeface="Helvetica Light"/>
                <a:ea typeface="Helvetica Light"/>
                <a:cs typeface="Helvetica Light"/>
                <a:sym typeface="Helvetica Light"/>
              </a:defRPr>
            </a:lvl4pPr>
            <a:lvl5pPr marL="0" marR="0" indent="0" algn="ctr" defTabSz="584200" rtl="0" latinLnBrk="0">
              <a:lnSpc>
                <a:spcPct val="100000"/>
              </a:lnSpc>
              <a:spcBef>
                <a:spcPts val="0"/>
              </a:spcBef>
              <a:spcAft>
                <a:spcPts val="0"/>
              </a:spcAft>
              <a:buClr>
                <a:srgbClr val="000000"/>
              </a:buClr>
              <a:buSzPct val="100000"/>
              <a:buFont typeface="Arial"/>
              <a:buChar char="–"/>
              <a:tabLst/>
              <a:defRPr sz="8000" b="0" i="0" u="none" strike="noStrike" cap="none" spc="0" baseline="0">
                <a:ln>
                  <a:noFill/>
                </a:ln>
                <a:solidFill>
                  <a:srgbClr val="000000"/>
                </a:solidFill>
                <a:uFillTx/>
                <a:latin typeface="Helvetica Light"/>
                <a:ea typeface="Helvetica Light"/>
                <a:cs typeface="Helvetica Light"/>
                <a:sym typeface="Helvetica Light"/>
              </a:defRPr>
            </a:lvl5pPr>
            <a:lvl6pPr marL="457200" marR="0" indent="0" algn="ctr" defTabSz="584200" rtl="0" latinLnBrk="0">
              <a:lnSpc>
                <a:spcPct val="100000"/>
              </a:lnSpc>
              <a:spcBef>
                <a:spcPts val="0"/>
              </a:spcBef>
              <a:spcAft>
                <a:spcPts val="0"/>
              </a:spcAft>
              <a:buClr>
                <a:srgbClr val="000000"/>
              </a:buClr>
              <a:buSzPct val="100000"/>
              <a:buFont typeface="Arial"/>
              <a:buChar char="–"/>
              <a:tabLst/>
              <a:defRPr sz="8000" b="0" i="0" u="none" strike="noStrike" cap="none" spc="0" baseline="0">
                <a:ln>
                  <a:noFill/>
                </a:ln>
                <a:solidFill>
                  <a:srgbClr val="000000"/>
                </a:solidFill>
                <a:uFillTx/>
                <a:latin typeface="Helvetica Light"/>
                <a:ea typeface="Helvetica Light"/>
                <a:cs typeface="Helvetica Light"/>
                <a:sym typeface="Helvetica Light"/>
              </a:defRPr>
            </a:lvl6pPr>
            <a:lvl7pPr marL="914400" marR="0" indent="0" algn="ctr" defTabSz="584200" rtl="0" latinLnBrk="0">
              <a:lnSpc>
                <a:spcPct val="100000"/>
              </a:lnSpc>
              <a:spcBef>
                <a:spcPts val="0"/>
              </a:spcBef>
              <a:spcAft>
                <a:spcPts val="0"/>
              </a:spcAft>
              <a:buClr>
                <a:srgbClr val="000000"/>
              </a:buClr>
              <a:buSzPct val="100000"/>
              <a:buFont typeface="Arial"/>
              <a:buChar char="–"/>
              <a:tabLst/>
              <a:defRPr sz="8000" b="0" i="0" u="none" strike="noStrike" cap="none" spc="0" baseline="0">
                <a:ln>
                  <a:noFill/>
                </a:ln>
                <a:solidFill>
                  <a:srgbClr val="000000"/>
                </a:solidFill>
                <a:uFillTx/>
                <a:latin typeface="Helvetica Light"/>
                <a:ea typeface="Helvetica Light"/>
                <a:cs typeface="Helvetica Light"/>
                <a:sym typeface="Helvetica Light"/>
              </a:defRPr>
            </a:lvl7pPr>
            <a:lvl8pPr marL="1371600" marR="0" indent="0" algn="ctr" defTabSz="584200" rtl="0" latinLnBrk="0">
              <a:lnSpc>
                <a:spcPct val="100000"/>
              </a:lnSpc>
              <a:spcBef>
                <a:spcPts val="0"/>
              </a:spcBef>
              <a:spcAft>
                <a:spcPts val="0"/>
              </a:spcAft>
              <a:buClr>
                <a:srgbClr val="000000"/>
              </a:buClr>
              <a:buSzPct val="100000"/>
              <a:buFont typeface="Arial"/>
              <a:buChar char="–"/>
              <a:tabLst/>
              <a:defRPr sz="8000" b="0" i="0" u="none" strike="noStrike" cap="none" spc="0" baseline="0">
                <a:ln>
                  <a:noFill/>
                </a:ln>
                <a:solidFill>
                  <a:srgbClr val="000000"/>
                </a:solidFill>
                <a:uFillTx/>
                <a:latin typeface="Helvetica Light"/>
                <a:ea typeface="Helvetica Light"/>
                <a:cs typeface="Helvetica Light"/>
                <a:sym typeface="Helvetica Light"/>
              </a:defRPr>
            </a:lvl8pPr>
            <a:lvl9pPr marL="1828800" marR="0" indent="0" algn="ctr" defTabSz="584200" rtl="0" latinLnBrk="0">
              <a:lnSpc>
                <a:spcPct val="100000"/>
              </a:lnSpc>
              <a:spcBef>
                <a:spcPts val="0"/>
              </a:spcBef>
              <a:spcAft>
                <a:spcPts val="0"/>
              </a:spcAft>
              <a:buClr>
                <a:srgbClr val="000000"/>
              </a:buClr>
              <a:buSzPct val="100000"/>
              <a:buFont typeface="Arial"/>
              <a:buChar char="–"/>
              <a:tabLst/>
              <a:defRPr sz="8000" b="0" i="0" u="none" strike="noStrike" cap="none" spc="0" baseline="0">
                <a:ln>
                  <a:noFill/>
                </a:ln>
                <a:solidFill>
                  <a:srgbClr val="000000"/>
                </a:solidFill>
                <a:uFillTx/>
                <a:latin typeface="Helvetica Light"/>
                <a:ea typeface="Helvetica Light"/>
                <a:cs typeface="Helvetica Light"/>
                <a:sym typeface="Helvetica Light"/>
              </a:defRPr>
            </a:lvl9pPr>
          </a:lstStyle>
          <a:p>
            <a:pPr hangingPunct="1">
              <a:buFont typeface="Arial"/>
              <a:buNone/>
            </a:pPr>
            <a:r>
              <a:rPr lang="en-US" sz="4800" dirty="0"/>
              <a:t>GLP-1 Receptor Agonists: Adverse Effects</a:t>
            </a:r>
          </a:p>
        </p:txBody>
      </p:sp>
    </p:spTree>
    <p:extLst>
      <p:ext uri="{BB962C8B-B14F-4D97-AF65-F5344CB8AC3E}">
        <p14:creationId xmlns:p14="http://schemas.microsoft.com/office/powerpoint/2010/main" val="11639342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Shape 173"/>
          <p:cNvSpPr>
            <a:spLocks noGrp="1"/>
          </p:cNvSpPr>
          <p:nvPr>
            <p:ph type="body" idx="4294967295"/>
          </p:nvPr>
        </p:nvSpPr>
        <p:spPr>
          <a:xfrm>
            <a:off x="323850" y="2301240"/>
            <a:ext cx="12463463" cy="7236459"/>
          </a:xfrm>
          <a:prstGeom prst="rect">
            <a:avLst/>
          </a:prstGeom>
        </p:spPr>
        <p:txBody>
          <a:bodyPr lIns="72248" tIns="72248" rIns="72248" bIns="72248">
            <a:normAutofit/>
          </a:bodyPr>
          <a:lstStyle/>
          <a:p>
            <a:pPr>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Several GLP-1 RAs have demonstrated </a:t>
            </a:r>
            <a:r>
              <a:rPr lang="en-US" sz="3200" b="1" dirty="0">
                <a:latin typeface="Calibri" panose="020F0502020204030204" pitchFamily="34" charset="0"/>
                <a:ea typeface="Calibri" panose="020F0502020204030204" pitchFamily="34" charset="0"/>
                <a:cs typeface="Calibri" panose="020F0502020204030204" pitchFamily="34" charset="0"/>
              </a:rPr>
              <a:t>reduction in major adverse cardiovascular events (MACE)</a:t>
            </a:r>
          </a:p>
          <a:p>
            <a:pPr>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CV benefit has been demonstrated with:</a:t>
            </a:r>
          </a:p>
          <a:p>
            <a:pPr lvl="1">
              <a:spcBef>
                <a:spcPts val="1200"/>
              </a:spcBef>
            </a:pPr>
            <a:r>
              <a:rPr lang="en-US" sz="3200" b="1" dirty="0">
                <a:latin typeface="Calibri" panose="020F0502020204030204" pitchFamily="34" charset="0"/>
                <a:ea typeface="Calibri" panose="020F0502020204030204" pitchFamily="34" charset="0"/>
                <a:cs typeface="Calibri" panose="020F0502020204030204" pitchFamily="34" charset="0"/>
              </a:rPr>
              <a:t>Liraglutide</a:t>
            </a:r>
            <a:endParaRPr lang="en-US" sz="3200" dirty="0">
              <a:latin typeface="Calibri" panose="020F0502020204030204" pitchFamily="34" charset="0"/>
              <a:ea typeface="Calibri" panose="020F0502020204030204" pitchFamily="34" charset="0"/>
              <a:cs typeface="Calibri" panose="020F0502020204030204" pitchFamily="34" charset="0"/>
            </a:endParaRPr>
          </a:p>
          <a:p>
            <a:pPr lvl="1">
              <a:spcBef>
                <a:spcPts val="1200"/>
              </a:spcBef>
            </a:pPr>
            <a:r>
              <a:rPr lang="en-US" sz="3200" b="1" dirty="0">
                <a:latin typeface="Calibri" panose="020F0502020204030204" pitchFamily="34" charset="0"/>
                <a:ea typeface="Calibri" panose="020F0502020204030204" pitchFamily="34" charset="0"/>
                <a:cs typeface="Calibri" panose="020F0502020204030204" pitchFamily="34" charset="0"/>
              </a:rPr>
              <a:t>Semaglutide</a:t>
            </a:r>
            <a:r>
              <a:rPr lang="en-US" sz="3200" dirty="0">
                <a:latin typeface="Calibri" panose="020F0502020204030204" pitchFamily="34" charset="0"/>
                <a:ea typeface="Calibri" panose="020F0502020204030204" pitchFamily="34" charset="0"/>
                <a:cs typeface="Calibri" panose="020F0502020204030204" pitchFamily="34" charset="0"/>
              </a:rPr>
              <a:t> (SQ and oral)</a:t>
            </a:r>
          </a:p>
          <a:p>
            <a:pPr lvl="1">
              <a:spcBef>
                <a:spcPts val="1200"/>
              </a:spcBef>
            </a:pPr>
            <a:r>
              <a:rPr lang="en-US" sz="3200" b="1" dirty="0">
                <a:latin typeface="Calibri" panose="020F0502020204030204" pitchFamily="34" charset="0"/>
                <a:ea typeface="Calibri" panose="020F0502020204030204" pitchFamily="34" charset="0"/>
                <a:cs typeface="Calibri" panose="020F0502020204030204" pitchFamily="34" charset="0"/>
              </a:rPr>
              <a:t>Dulaglutide</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In T2DM with </a:t>
            </a:r>
            <a:r>
              <a:rPr lang="en-US" sz="3200" b="1" dirty="0">
                <a:latin typeface="Calibri" panose="020F0502020204030204" pitchFamily="34" charset="0"/>
                <a:ea typeface="Calibri" panose="020F0502020204030204" pitchFamily="34" charset="0"/>
                <a:cs typeface="Calibri" panose="020F0502020204030204" pitchFamily="34" charset="0"/>
              </a:rPr>
              <a:t>established ASCVD or high ASCVD risk</a:t>
            </a:r>
            <a:r>
              <a:rPr lang="en-US" sz="3200" dirty="0">
                <a:latin typeface="Calibri" panose="020F0502020204030204" pitchFamily="34" charset="0"/>
                <a:ea typeface="Calibri" panose="020F0502020204030204" pitchFamily="34" charset="0"/>
                <a:cs typeface="Calibri" panose="020F0502020204030204" pitchFamily="34" charset="0"/>
              </a:rPr>
              <a:t>, use a GLP-1 RA with demonstrated CV benefit </a:t>
            </a:r>
            <a:r>
              <a:rPr lang="en-US" sz="3200" b="1" dirty="0">
                <a:latin typeface="Calibri" panose="020F0502020204030204" pitchFamily="34" charset="0"/>
                <a:ea typeface="Calibri" panose="020F0502020204030204" pitchFamily="34" charset="0"/>
                <a:cs typeface="Calibri" panose="020F0502020204030204" pitchFamily="34" charset="0"/>
              </a:rPr>
              <a:t>regardless of A1C</a:t>
            </a:r>
          </a:p>
          <a:p>
            <a:pPr>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Benefits extend beyond glucose lowering alone</a:t>
            </a:r>
          </a:p>
        </p:txBody>
      </p:sp>
      <p:sp>
        <p:nvSpPr>
          <p:cNvPr id="3" name="Shape 172">
            <a:extLst>
              <a:ext uri="{FF2B5EF4-FFF2-40B4-BE49-F238E27FC236}">
                <a16:creationId xmlns:a16="http://schemas.microsoft.com/office/drawing/2014/main" id="{D18C8D42-F1FB-D664-A9DE-566B4EAA7E9C}"/>
              </a:ext>
            </a:extLst>
          </p:cNvPr>
          <p:cNvSpPr txBox="1">
            <a:spLocks/>
          </p:cNvSpPr>
          <p:nvPr/>
        </p:nvSpPr>
        <p:spPr>
          <a:xfrm>
            <a:off x="649287" y="215900"/>
            <a:ext cx="11704638" cy="1408113"/>
          </a:xfrm>
          <a:prstGeom prst="rect">
            <a:avLst/>
          </a:prstGeom>
          <a:ln w="12700">
            <a:miter lim="400000"/>
          </a:ln>
          <a:extLst>
            <a:ext uri="{C572A759-6A51-4108-AA02-DFA0A04FC94B}">
              <ma14:wrappingTextBoxFlag xmlns:ma14="http://schemas.microsoft.com/office/mac/drawingml/2011/main" xmlns="" val="1"/>
            </a:ext>
          </a:extLst>
        </p:spPr>
        <p:txBody>
          <a:bodyPr lIns="72248" tIns="72248" rIns="72248" bIns="72248" anchor="ctr">
            <a:noAutofit/>
          </a:bodyPr>
          <a:lstStyle>
            <a:lvl1pPr marL="0" marR="0" indent="0" algn="ctr" defTabSz="1300162" rtl="0" latinLnBrk="0">
              <a:lnSpc>
                <a:spcPct val="100000"/>
              </a:lnSpc>
              <a:spcBef>
                <a:spcPts val="0"/>
              </a:spcBef>
              <a:spcAft>
                <a:spcPts val="0"/>
              </a:spcAft>
              <a:buClr>
                <a:srgbClr val="000000"/>
              </a:buClr>
              <a:buSzPct val="100000"/>
              <a:buFont typeface="Arial"/>
              <a:buChar char="–"/>
              <a:tabLst/>
              <a:defRPr sz="5600" b="0" i="0" u="none" strike="noStrike" cap="none" spc="0" baseline="0">
                <a:ln>
                  <a:noFill/>
                </a:ln>
                <a:solidFill>
                  <a:srgbClr val="000000"/>
                </a:solidFill>
                <a:uFillTx/>
                <a:latin typeface="Arial"/>
                <a:ea typeface="Arial"/>
                <a:cs typeface="Arial"/>
                <a:sym typeface="Arial"/>
              </a:defRPr>
            </a:lvl1pPr>
            <a:lvl2pPr marL="833641" marR="0" indent="-833641" algn="ctr" defTabSz="584200" rtl="0" latinLnBrk="0">
              <a:lnSpc>
                <a:spcPct val="100000"/>
              </a:lnSpc>
              <a:spcBef>
                <a:spcPts val="0"/>
              </a:spcBef>
              <a:spcAft>
                <a:spcPts val="0"/>
              </a:spcAft>
              <a:buClr>
                <a:srgbClr val="000000"/>
              </a:buClr>
              <a:buSzPct val="100000"/>
              <a:buFont typeface="Arial"/>
              <a:buChar char="–"/>
              <a:tabLst/>
              <a:defRPr sz="8000" b="0" i="0" u="none" strike="noStrike" cap="none" spc="0" baseline="0">
                <a:ln>
                  <a:noFill/>
                </a:ln>
                <a:solidFill>
                  <a:srgbClr val="000000"/>
                </a:solidFill>
                <a:uFillTx/>
                <a:latin typeface="Helvetica Light"/>
                <a:ea typeface="Helvetica Light"/>
                <a:cs typeface="Helvetica Light"/>
                <a:sym typeface="Helvetica Light"/>
              </a:defRPr>
            </a:lvl2pPr>
            <a:lvl3pPr marL="0" marR="0" indent="0" algn="ctr" defTabSz="584200" rtl="0" latinLnBrk="0">
              <a:lnSpc>
                <a:spcPct val="100000"/>
              </a:lnSpc>
              <a:spcBef>
                <a:spcPts val="0"/>
              </a:spcBef>
              <a:spcAft>
                <a:spcPts val="0"/>
              </a:spcAft>
              <a:buClr>
                <a:srgbClr val="000000"/>
              </a:buClr>
              <a:buSzPct val="100000"/>
              <a:buFont typeface="Arial"/>
              <a:buChar char="–"/>
              <a:tabLst/>
              <a:defRPr sz="8000" b="0" i="0" u="none" strike="noStrike" cap="none" spc="0" baseline="0">
                <a:ln>
                  <a:noFill/>
                </a:ln>
                <a:solidFill>
                  <a:srgbClr val="000000"/>
                </a:solidFill>
                <a:uFillTx/>
                <a:latin typeface="Helvetica Light"/>
                <a:ea typeface="Helvetica Light"/>
                <a:cs typeface="Helvetica Light"/>
                <a:sym typeface="Helvetica Light"/>
              </a:defRPr>
            </a:lvl3pPr>
            <a:lvl4pPr marL="0" marR="0" indent="0" algn="ctr" defTabSz="584200" rtl="0" latinLnBrk="0">
              <a:lnSpc>
                <a:spcPct val="100000"/>
              </a:lnSpc>
              <a:spcBef>
                <a:spcPts val="0"/>
              </a:spcBef>
              <a:spcAft>
                <a:spcPts val="0"/>
              </a:spcAft>
              <a:buClr>
                <a:srgbClr val="000000"/>
              </a:buClr>
              <a:buSzPct val="100000"/>
              <a:buFont typeface="Arial"/>
              <a:buChar char="–"/>
              <a:tabLst/>
              <a:defRPr sz="8000" b="0" i="0" u="none" strike="noStrike" cap="none" spc="0" baseline="0">
                <a:ln>
                  <a:noFill/>
                </a:ln>
                <a:solidFill>
                  <a:srgbClr val="000000"/>
                </a:solidFill>
                <a:uFillTx/>
                <a:latin typeface="Helvetica Light"/>
                <a:ea typeface="Helvetica Light"/>
                <a:cs typeface="Helvetica Light"/>
                <a:sym typeface="Helvetica Light"/>
              </a:defRPr>
            </a:lvl4pPr>
            <a:lvl5pPr marL="0" marR="0" indent="0" algn="ctr" defTabSz="584200" rtl="0" latinLnBrk="0">
              <a:lnSpc>
                <a:spcPct val="100000"/>
              </a:lnSpc>
              <a:spcBef>
                <a:spcPts val="0"/>
              </a:spcBef>
              <a:spcAft>
                <a:spcPts val="0"/>
              </a:spcAft>
              <a:buClr>
                <a:srgbClr val="000000"/>
              </a:buClr>
              <a:buSzPct val="100000"/>
              <a:buFont typeface="Arial"/>
              <a:buChar char="–"/>
              <a:tabLst/>
              <a:defRPr sz="8000" b="0" i="0" u="none" strike="noStrike" cap="none" spc="0" baseline="0">
                <a:ln>
                  <a:noFill/>
                </a:ln>
                <a:solidFill>
                  <a:srgbClr val="000000"/>
                </a:solidFill>
                <a:uFillTx/>
                <a:latin typeface="Helvetica Light"/>
                <a:ea typeface="Helvetica Light"/>
                <a:cs typeface="Helvetica Light"/>
                <a:sym typeface="Helvetica Light"/>
              </a:defRPr>
            </a:lvl5pPr>
            <a:lvl6pPr marL="457200" marR="0" indent="0" algn="ctr" defTabSz="584200" rtl="0" latinLnBrk="0">
              <a:lnSpc>
                <a:spcPct val="100000"/>
              </a:lnSpc>
              <a:spcBef>
                <a:spcPts val="0"/>
              </a:spcBef>
              <a:spcAft>
                <a:spcPts val="0"/>
              </a:spcAft>
              <a:buClr>
                <a:srgbClr val="000000"/>
              </a:buClr>
              <a:buSzPct val="100000"/>
              <a:buFont typeface="Arial"/>
              <a:buChar char="–"/>
              <a:tabLst/>
              <a:defRPr sz="8000" b="0" i="0" u="none" strike="noStrike" cap="none" spc="0" baseline="0">
                <a:ln>
                  <a:noFill/>
                </a:ln>
                <a:solidFill>
                  <a:srgbClr val="000000"/>
                </a:solidFill>
                <a:uFillTx/>
                <a:latin typeface="Helvetica Light"/>
                <a:ea typeface="Helvetica Light"/>
                <a:cs typeface="Helvetica Light"/>
                <a:sym typeface="Helvetica Light"/>
              </a:defRPr>
            </a:lvl6pPr>
            <a:lvl7pPr marL="914400" marR="0" indent="0" algn="ctr" defTabSz="584200" rtl="0" latinLnBrk="0">
              <a:lnSpc>
                <a:spcPct val="100000"/>
              </a:lnSpc>
              <a:spcBef>
                <a:spcPts val="0"/>
              </a:spcBef>
              <a:spcAft>
                <a:spcPts val="0"/>
              </a:spcAft>
              <a:buClr>
                <a:srgbClr val="000000"/>
              </a:buClr>
              <a:buSzPct val="100000"/>
              <a:buFont typeface="Arial"/>
              <a:buChar char="–"/>
              <a:tabLst/>
              <a:defRPr sz="8000" b="0" i="0" u="none" strike="noStrike" cap="none" spc="0" baseline="0">
                <a:ln>
                  <a:noFill/>
                </a:ln>
                <a:solidFill>
                  <a:srgbClr val="000000"/>
                </a:solidFill>
                <a:uFillTx/>
                <a:latin typeface="Helvetica Light"/>
                <a:ea typeface="Helvetica Light"/>
                <a:cs typeface="Helvetica Light"/>
                <a:sym typeface="Helvetica Light"/>
              </a:defRPr>
            </a:lvl7pPr>
            <a:lvl8pPr marL="1371600" marR="0" indent="0" algn="ctr" defTabSz="584200" rtl="0" latinLnBrk="0">
              <a:lnSpc>
                <a:spcPct val="100000"/>
              </a:lnSpc>
              <a:spcBef>
                <a:spcPts val="0"/>
              </a:spcBef>
              <a:spcAft>
                <a:spcPts val="0"/>
              </a:spcAft>
              <a:buClr>
                <a:srgbClr val="000000"/>
              </a:buClr>
              <a:buSzPct val="100000"/>
              <a:buFont typeface="Arial"/>
              <a:buChar char="–"/>
              <a:tabLst/>
              <a:defRPr sz="8000" b="0" i="0" u="none" strike="noStrike" cap="none" spc="0" baseline="0">
                <a:ln>
                  <a:noFill/>
                </a:ln>
                <a:solidFill>
                  <a:srgbClr val="000000"/>
                </a:solidFill>
                <a:uFillTx/>
                <a:latin typeface="Helvetica Light"/>
                <a:ea typeface="Helvetica Light"/>
                <a:cs typeface="Helvetica Light"/>
                <a:sym typeface="Helvetica Light"/>
              </a:defRPr>
            </a:lvl8pPr>
            <a:lvl9pPr marL="1828800" marR="0" indent="0" algn="ctr" defTabSz="584200" rtl="0" latinLnBrk="0">
              <a:lnSpc>
                <a:spcPct val="100000"/>
              </a:lnSpc>
              <a:spcBef>
                <a:spcPts val="0"/>
              </a:spcBef>
              <a:spcAft>
                <a:spcPts val="0"/>
              </a:spcAft>
              <a:buClr>
                <a:srgbClr val="000000"/>
              </a:buClr>
              <a:buSzPct val="100000"/>
              <a:buFont typeface="Arial"/>
              <a:buChar char="–"/>
              <a:tabLst/>
              <a:defRPr sz="8000" b="0" i="0" u="none" strike="noStrike" cap="none" spc="0" baseline="0">
                <a:ln>
                  <a:noFill/>
                </a:ln>
                <a:solidFill>
                  <a:srgbClr val="000000"/>
                </a:solidFill>
                <a:uFillTx/>
                <a:latin typeface="Helvetica Light"/>
                <a:ea typeface="Helvetica Light"/>
                <a:cs typeface="Helvetica Light"/>
                <a:sym typeface="Helvetica Light"/>
              </a:defRPr>
            </a:lvl9pPr>
          </a:lstStyle>
          <a:p>
            <a:pPr hangingPunct="1">
              <a:buFont typeface="Arial"/>
              <a:buNone/>
            </a:pPr>
            <a:r>
              <a:rPr lang="en-US" sz="4800" dirty="0"/>
              <a:t>GLP-1 RAs: Cardiovascular Benefit</a:t>
            </a:r>
          </a:p>
        </p:txBody>
      </p:sp>
    </p:spTree>
    <p:extLst>
      <p:ext uri="{BB962C8B-B14F-4D97-AF65-F5344CB8AC3E}">
        <p14:creationId xmlns:p14="http://schemas.microsoft.com/office/powerpoint/2010/main" val="15140289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800" cy="975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Freeform: Shape 8">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8720" y="0"/>
            <a:ext cx="10627360" cy="97536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96441" y="0"/>
            <a:ext cx="10611917" cy="97536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CFF9017-3EBF-40AC-B6EA-1ADCF95934F6}"/>
              </a:ext>
            </a:extLst>
          </p:cNvPr>
          <p:cNvSpPr>
            <a:spLocks noGrp="1"/>
          </p:cNvSpPr>
          <p:nvPr>
            <p:ph type="ctrTitle"/>
          </p:nvPr>
        </p:nvSpPr>
        <p:spPr>
          <a:xfrm>
            <a:off x="1625603" y="2843896"/>
            <a:ext cx="9753600" cy="3931062"/>
          </a:xfrm>
        </p:spPr>
        <p:txBody>
          <a:bodyPr anchor="ctr">
            <a:normAutofit/>
          </a:bodyPr>
          <a:lstStyle/>
          <a:p>
            <a:pPr>
              <a:buNone/>
            </a:pPr>
            <a:r>
              <a:rPr lang="en-US" sz="8900" dirty="0"/>
              <a:t>Incretion Therapy: Dual GIP/GLP-1</a:t>
            </a:r>
          </a:p>
        </p:txBody>
      </p:sp>
      <p:sp>
        <p:nvSpPr>
          <p:cNvPr id="13" name="Rectangle 12">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66464" y="7857473"/>
            <a:ext cx="5071872" cy="390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999047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Shape 169"/>
          <p:cNvSpPr>
            <a:spLocks noGrp="1"/>
          </p:cNvSpPr>
          <p:nvPr>
            <p:ph type="title" idx="4294967295"/>
          </p:nvPr>
        </p:nvSpPr>
        <p:spPr>
          <a:xfrm>
            <a:off x="558128" y="248652"/>
            <a:ext cx="11888544" cy="1371600"/>
          </a:xfrm>
          <a:prstGeom prst="rect">
            <a:avLst/>
          </a:prstGeom>
        </p:spPr>
        <p:txBody>
          <a:bodyPr lIns="72248" tIns="72248" rIns="72248" bIns="72248" anchor="ctr">
            <a:normAutofit/>
          </a:bodyPr>
          <a:lstStyle>
            <a:lvl1pPr defTabSz="1300162">
              <a:defRPr sz="5600">
                <a:latin typeface="Arial"/>
                <a:ea typeface="Arial"/>
                <a:cs typeface="Arial"/>
                <a:sym typeface="Arial"/>
              </a:defRPr>
            </a:lvl1pPr>
          </a:lstStyle>
          <a:p>
            <a:pPr algn="l">
              <a:buNone/>
            </a:pPr>
            <a:r>
              <a:rPr lang="en-US" dirty="0"/>
              <a:t>Dual GIP/GLP-1 Receptor Agonist</a:t>
            </a:r>
            <a:endParaRPr dirty="0"/>
          </a:p>
        </p:txBody>
      </p:sp>
      <p:sp>
        <p:nvSpPr>
          <p:cNvPr id="170" name="Shape 170"/>
          <p:cNvSpPr>
            <a:spLocks noGrp="1"/>
          </p:cNvSpPr>
          <p:nvPr>
            <p:ph type="body" idx="4294967295"/>
          </p:nvPr>
        </p:nvSpPr>
        <p:spPr>
          <a:xfrm>
            <a:off x="288758" y="2079524"/>
            <a:ext cx="12498555" cy="6785810"/>
          </a:xfrm>
          <a:prstGeom prst="rect">
            <a:avLst/>
          </a:prstGeom>
        </p:spPr>
        <p:txBody>
          <a:bodyPr lIns="72248" tIns="72248" rIns="72248" bIns="72248">
            <a:normAutofit/>
          </a:bodyPr>
          <a:lstStyle/>
          <a:p>
            <a:pPr>
              <a:spcBef>
                <a:spcPts val="1200"/>
              </a:spcBef>
              <a:buNone/>
            </a:pPr>
            <a:r>
              <a:rPr lang="en-US" sz="3200" b="1" dirty="0">
                <a:latin typeface="Calibri" panose="020F0502020204030204" pitchFamily="34" charset="0"/>
                <a:ea typeface="Calibri" panose="020F0502020204030204" pitchFamily="34" charset="0"/>
                <a:cs typeface="Calibri" panose="020F0502020204030204" pitchFamily="34" charset="0"/>
              </a:rPr>
              <a:t>Tirzepatide (Mounjaro)</a:t>
            </a:r>
            <a:r>
              <a:rPr lang="en-US" sz="3200" dirty="0">
                <a:latin typeface="Calibri" panose="020F0502020204030204" pitchFamily="34" charset="0"/>
                <a:ea typeface="Calibri" panose="020F0502020204030204" pitchFamily="34" charset="0"/>
                <a:cs typeface="Calibri" panose="020F0502020204030204" pitchFamily="34" charset="0"/>
              </a:rPr>
              <a:t> — SQ once weekly</a:t>
            </a:r>
          </a:p>
          <a:p>
            <a:pPr>
              <a:spcBef>
                <a:spcPts val="1200"/>
              </a:spcBef>
            </a:pPr>
            <a:r>
              <a:rPr lang="en-US" sz="3200" b="1" dirty="0">
                <a:latin typeface="Calibri" panose="020F0502020204030204" pitchFamily="34" charset="0"/>
                <a:ea typeface="Calibri" panose="020F0502020204030204" pitchFamily="34" charset="0"/>
                <a:cs typeface="Calibri" panose="020F0502020204030204" pitchFamily="34" charset="0"/>
              </a:rPr>
              <a:t>Mechanism of Action</a:t>
            </a:r>
            <a:endParaRPr lang="en-US" sz="3200" dirty="0">
              <a:latin typeface="Calibri" panose="020F0502020204030204" pitchFamily="34" charset="0"/>
              <a:ea typeface="Calibri" panose="020F0502020204030204" pitchFamily="34" charset="0"/>
              <a:cs typeface="Calibri" panose="020F0502020204030204" pitchFamily="34" charset="0"/>
            </a:endParaRPr>
          </a:p>
          <a:p>
            <a:pPr lvl="1">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Activates both </a:t>
            </a:r>
            <a:r>
              <a:rPr lang="en-US" sz="3200" b="1" dirty="0">
                <a:latin typeface="Calibri" panose="020F0502020204030204" pitchFamily="34" charset="0"/>
                <a:ea typeface="Calibri" panose="020F0502020204030204" pitchFamily="34" charset="0"/>
                <a:cs typeface="Calibri" panose="020F0502020204030204" pitchFamily="34" charset="0"/>
              </a:rPr>
              <a:t>GIP and GLP-1 receptors</a:t>
            </a:r>
            <a:endParaRPr lang="en-US" sz="3200" dirty="0">
              <a:latin typeface="Calibri" panose="020F0502020204030204" pitchFamily="34" charset="0"/>
              <a:ea typeface="Calibri" panose="020F0502020204030204" pitchFamily="34" charset="0"/>
              <a:cs typeface="Calibri" panose="020F0502020204030204" pitchFamily="34" charset="0"/>
            </a:endParaRPr>
          </a:p>
          <a:p>
            <a:pPr lvl="1">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 Glucose-dependent insulin secretion</a:t>
            </a:r>
          </a:p>
          <a:p>
            <a:pPr lvl="1">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 Glucagon secretion</a:t>
            </a:r>
          </a:p>
          <a:p>
            <a:pPr lvl="1">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 Gastric emptying</a:t>
            </a:r>
          </a:p>
          <a:p>
            <a:pPr lvl="1">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 Satiety / ↓ food intake</a:t>
            </a:r>
          </a:p>
          <a:p>
            <a:pPr>
              <a:spcBef>
                <a:spcPts val="1200"/>
              </a:spcBef>
            </a:pPr>
            <a:r>
              <a:rPr lang="en-US" sz="3200" b="1" dirty="0">
                <a:latin typeface="Calibri" panose="020F0502020204030204" pitchFamily="34" charset="0"/>
                <a:ea typeface="Calibri" panose="020F0502020204030204" pitchFamily="34" charset="0"/>
                <a:cs typeface="Calibri" panose="020F0502020204030204" pitchFamily="34" charset="0"/>
              </a:rPr>
              <a:t>Clinical effects</a:t>
            </a:r>
            <a:endParaRPr lang="en-US" sz="3200" dirty="0">
              <a:latin typeface="Calibri" panose="020F0502020204030204" pitchFamily="34" charset="0"/>
              <a:ea typeface="Calibri" panose="020F0502020204030204" pitchFamily="34" charset="0"/>
              <a:cs typeface="Calibri" panose="020F0502020204030204" pitchFamily="34" charset="0"/>
            </a:endParaRPr>
          </a:p>
          <a:p>
            <a:pPr lvl="1">
              <a:spcBef>
                <a:spcPts val="1200"/>
              </a:spcBef>
            </a:pPr>
            <a:r>
              <a:rPr lang="en-US" sz="3200" b="1" dirty="0">
                <a:latin typeface="Calibri" panose="020F0502020204030204" pitchFamily="34" charset="0"/>
                <a:ea typeface="Calibri" panose="020F0502020204030204" pitchFamily="34" charset="0"/>
                <a:cs typeface="Calibri" panose="020F0502020204030204" pitchFamily="34" charset="0"/>
              </a:rPr>
              <a:t>Very high glucose-lowering efficacy</a:t>
            </a:r>
            <a:endParaRPr lang="en-US" sz="3200" dirty="0">
              <a:latin typeface="Calibri" panose="020F0502020204030204" pitchFamily="34" charset="0"/>
              <a:ea typeface="Calibri" panose="020F0502020204030204" pitchFamily="34" charset="0"/>
              <a:cs typeface="Calibri" panose="020F0502020204030204" pitchFamily="34" charset="0"/>
            </a:endParaRPr>
          </a:p>
          <a:p>
            <a:pPr lvl="1">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Significant </a:t>
            </a:r>
            <a:r>
              <a:rPr lang="en-US" sz="3200" b="1" dirty="0">
                <a:latin typeface="Calibri" panose="020F0502020204030204" pitchFamily="34" charset="0"/>
                <a:ea typeface="Calibri" panose="020F0502020204030204" pitchFamily="34" charset="0"/>
                <a:cs typeface="Calibri" panose="020F0502020204030204" pitchFamily="34" charset="0"/>
              </a:rPr>
              <a:t>weight loss</a:t>
            </a:r>
            <a:endParaRPr lang="en-US" sz="3200" dirty="0">
              <a:latin typeface="Calibri" panose="020F0502020204030204" pitchFamily="34" charset="0"/>
              <a:ea typeface="Calibri" panose="020F0502020204030204" pitchFamily="34" charset="0"/>
              <a:cs typeface="Calibri" panose="020F0502020204030204" pitchFamily="34" charset="0"/>
            </a:endParaRPr>
          </a:p>
          <a:p>
            <a:pPr marL="571500" indent="-571500" defTabSz="1300162">
              <a:spcBef>
                <a:spcPts val="700"/>
              </a:spcBef>
              <a:defRPr sz="4400">
                <a:latin typeface="Arial"/>
                <a:ea typeface="Arial"/>
                <a:cs typeface="Arial"/>
                <a:sym typeface="Arial"/>
              </a:defRPr>
            </a:pPr>
            <a:endParaRPr lang="en-US" sz="4000" dirty="0">
              <a:latin typeface="Calibri" charset="0"/>
              <a:ea typeface="Calibri" charset="0"/>
              <a:cs typeface="Calibri" charset="0"/>
            </a:endParaRPr>
          </a:p>
          <a:p>
            <a:pPr defTabSz="1300162">
              <a:spcBef>
                <a:spcPts val="700"/>
              </a:spcBef>
              <a:buNone/>
              <a:defRPr sz="4400">
                <a:latin typeface="Arial"/>
                <a:ea typeface="Arial"/>
                <a:cs typeface="Arial"/>
                <a:sym typeface="Arial"/>
              </a:defRPr>
            </a:pPr>
            <a:endParaRPr lang="en-US" dirty="0"/>
          </a:p>
        </p:txBody>
      </p:sp>
    </p:spTree>
    <p:extLst>
      <p:ext uri="{BB962C8B-B14F-4D97-AF65-F5344CB8AC3E}">
        <p14:creationId xmlns:p14="http://schemas.microsoft.com/office/powerpoint/2010/main" val="32906949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800" cy="975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8720" y="0"/>
            <a:ext cx="10627360" cy="97536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96441" y="0"/>
            <a:ext cx="10611917" cy="97536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D6E5908-1988-449F-B494-FB30C4A5C583}"/>
              </a:ext>
            </a:extLst>
          </p:cNvPr>
          <p:cNvSpPr>
            <a:spLocks noGrp="1"/>
          </p:cNvSpPr>
          <p:nvPr>
            <p:ph type="ctrTitle"/>
          </p:nvPr>
        </p:nvSpPr>
        <p:spPr>
          <a:xfrm>
            <a:off x="1625603" y="2843896"/>
            <a:ext cx="9753600" cy="3931062"/>
          </a:xfrm>
        </p:spPr>
        <p:txBody>
          <a:bodyPr anchor="ctr">
            <a:normAutofit/>
          </a:bodyPr>
          <a:lstStyle/>
          <a:p>
            <a:pPr>
              <a:buNone/>
            </a:pPr>
            <a:r>
              <a:rPr lang="en-US" sz="8900" dirty="0"/>
              <a:t>Incretin Therapy: DPP-4 Inhibitors</a:t>
            </a:r>
          </a:p>
        </p:txBody>
      </p:sp>
      <p:sp>
        <p:nvSpPr>
          <p:cNvPr id="3" name="Subtitle 2">
            <a:extLst>
              <a:ext uri="{FF2B5EF4-FFF2-40B4-BE49-F238E27FC236}">
                <a16:creationId xmlns:a16="http://schemas.microsoft.com/office/drawing/2014/main" id="{6AC8A0B8-7914-4C11-A018-8472E499CEDE}"/>
              </a:ext>
            </a:extLst>
          </p:cNvPr>
          <p:cNvSpPr>
            <a:spLocks noGrp="1"/>
          </p:cNvSpPr>
          <p:nvPr>
            <p:ph type="subTitle" idx="1"/>
          </p:nvPr>
        </p:nvSpPr>
        <p:spPr>
          <a:xfrm>
            <a:off x="2098039" y="8028657"/>
            <a:ext cx="8808721" cy="898596"/>
          </a:xfrm>
        </p:spPr>
        <p:txBody>
          <a:bodyPr anchor="ctr">
            <a:normAutofit/>
          </a:bodyPr>
          <a:lstStyle/>
          <a:p>
            <a:endParaRPr lang="en-US" sz="3500"/>
          </a:p>
        </p:txBody>
      </p:sp>
      <p:sp>
        <p:nvSpPr>
          <p:cNvPr id="14" name="Rectangle 13">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66464" y="7857473"/>
            <a:ext cx="5071872" cy="390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128665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 name="Shape 178"/>
          <p:cNvSpPr>
            <a:spLocks noGrp="1"/>
          </p:cNvSpPr>
          <p:nvPr>
            <p:ph type="title" idx="4294967295"/>
          </p:nvPr>
        </p:nvSpPr>
        <p:spPr>
          <a:xfrm>
            <a:off x="330200" y="152400"/>
            <a:ext cx="12023725" cy="1371600"/>
          </a:xfrm>
          <a:prstGeom prst="rect">
            <a:avLst/>
          </a:prstGeom>
        </p:spPr>
        <p:txBody>
          <a:bodyPr lIns="72248" tIns="72248" rIns="72248" bIns="72248" anchor="ctr">
            <a:normAutofit/>
          </a:bodyPr>
          <a:lstStyle>
            <a:lvl1pPr defTabSz="1261157">
              <a:defRPr sz="5432">
                <a:latin typeface="Arial"/>
                <a:ea typeface="Arial"/>
                <a:cs typeface="Arial"/>
                <a:sym typeface="Arial"/>
              </a:defRPr>
            </a:lvl1pPr>
          </a:lstStyle>
          <a:p>
            <a:pPr>
              <a:buNone/>
            </a:pPr>
            <a:r>
              <a:rPr dirty="0"/>
              <a:t>DPP-</a:t>
            </a:r>
            <a:r>
              <a:rPr lang="en-US" dirty="0"/>
              <a:t>4</a:t>
            </a:r>
            <a:r>
              <a:rPr dirty="0"/>
              <a:t> Inhibitors</a:t>
            </a:r>
          </a:p>
        </p:txBody>
      </p:sp>
      <p:sp>
        <p:nvSpPr>
          <p:cNvPr id="179" name="Shape 179"/>
          <p:cNvSpPr>
            <a:spLocks noGrp="1"/>
          </p:cNvSpPr>
          <p:nvPr>
            <p:ph type="body" idx="4294967295"/>
          </p:nvPr>
        </p:nvSpPr>
        <p:spPr>
          <a:xfrm>
            <a:off x="323850" y="2538248"/>
            <a:ext cx="12463463" cy="7105815"/>
          </a:xfrm>
          <a:prstGeom prst="rect">
            <a:avLst/>
          </a:prstGeom>
        </p:spPr>
        <p:txBody>
          <a:bodyPr lIns="72248" tIns="72248" rIns="72248" bIns="72248">
            <a:normAutofit/>
          </a:bodyPr>
          <a:lstStyle/>
          <a:p>
            <a:pPr marL="323850" indent="-323850" defTabSz="1300162">
              <a:spcBef>
                <a:spcPts val="700"/>
              </a:spcBef>
              <a:buChar char="•"/>
              <a:defRPr sz="4400"/>
            </a:pPr>
            <a:r>
              <a:rPr lang="en-US" sz="3200" b="1" dirty="0">
                <a:latin typeface="Calibri" panose="020F0502020204030204" pitchFamily="34" charset="0"/>
                <a:ea typeface="Calibri" panose="020F0502020204030204" pitchFamily="34" charset="0"/>
                <a:cs typeface="Calibri" panose="020F0502020204030204" pitchFamily="34" charset="0"/>
              </a:rPr>
              <a:t>DPP-4 breaks down endogenous incretin hormones, including GLP-1 and GIP.</a:t>
            </a:r>
          </a:p>
          <a:p>
            <a:pPr marL="323850" indent="-323850" defTabSz="1300162">
              <a:spcBef>
                <a:spcPts val="700"/>
              </a:spcBef>
              <a:buChar char="•"/>
              <a:defRPr sz="4400"/>
            </a:pPr>
            <a:r>
              <a:rPr lang="en-US" sz="3200" dirty="0">
                <a:latin typeface="Calibri" panose="020F0502020204030204" pitchFamily="34" charset="0"/>
                <a:ea typeface="Calibri" panose="020F0502020204030204" pitchFamily="34" charset="0"/>
                <a:cs typeface="Calibri" panose="020F0502020204030204" pitchFamily="34" charset="0"/>
              </a:rPr>
              <a:t>DPP-4 inhibitors ↓ incretin degradation → </a:t>
            </a:r>
            <a:r>
              <a:rPr lang="en-US" sz="3200" b="1" dirty="0">
                <a:latin typeface="Calibri" panose="020F0502020204030204" pitchFamily="34" charset="0"/>
                <a:ea typeface="Calibri" panose="020F0502020204030204" pitchFamily="34" charset="0"/>
                <a:cs typeface="Calibri" panose="020F0502020204030204" pitchFamily="34" charset="0"/>
              </a:rPr>
              <a:t>prolong endogenous incretin activity.</a:t>
            </a:r>
            <a:endParaRPr sz="3200" b="1"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042411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Shape 181"/>
          <p:cNvSpPr>
            <a:spLocks noGrp="1"/>
          </p:cNvSpPr>
          <p:nvPr>
            <p:ph type="title" idx="4294967295"/>
          </p:nvPr>
        </p:nvSpPr>
        <p:spPr>
          <a:xfrm>
            <a:off x="330200" y="152400"/>
            <a:ext cx="12023725" cy="1371600"/>
          </a:xfrm>
          <a:prstGeom prst="rect">
            <a:avLst/>
          </a:prstGeom>
        </p:spPr>
        <p:txBody>
          <a:bodyPr lIns="72248" tIns="72248" rIns="72248" bIns="72248" anchor="ctr">
            <a:normAutofit/>
          </a:bodyPr>
          <a:lstStyle>
            <a:lvl1pPr defTabSz="1261157">
              <a:defRPr sz="5432">
                <a:latin typeface="Arial"/>
                <a:ea typeface="Arial"/>
                <a:cs typeface="Arial"/>
                <a:sym typeface="Arial"/>
              </a:defRPr>
            </a:lvl1pPr>
          </a:lstStyle>
          <a:p>
            <a:pPr>
              <a:buNone/>
            </a:pPr>
            <a:r>
              <a:rPr dirty="0"/>
              <a:t> </a:t>
            </a:r>
            <a:r>
              <a:rPr lang="en-US" dirty="0"/>
              <a:t>Choices of </a:t>
            </a:r>
            <a:r>
              <a:rPr dirty="0"/>
              <a:t>DPP-</a:t>
            </a:r>
            <a:r>
              <a:rPr lang="en-US" dirty="0"/>
              <a:t>4</a:t>
            </a:r>
            <a:r>
              <a:rPr dirty="0"/>
              <a:t> Inhibitors</a:t>
            </a:r>
          </a:p>
        </p:txBody>
      </p:sp>
      <p:sp>
        <p:nvSpPr>
          <p:cNvPr id="182" name="Shape 182"/>
          <p:cNvSpPr>
            <a:spLocks noGrp="1"/>
          </p:cNvSpPr>
          <p:nvPr>
            <p:ph type="body" idx="4294967295"/>
          </p:nvPr>
        </p:nvSpPr>
        <p:spPr>
          <a:xfrm>
            <a:off x="330200" y="2550695"/>
            <a:ext cx="12457113" cy="7093368"/>
          </a:xfrm>
          <a:prstGeom prst="rect">
            <a:avLst/>
          </a:prstGeom>
        </p:spPr>
        <p:txBody>
          <a:bodyPr lIns="72248" tIns="72248" rIns="72248" bIns="72248">
            <a:normAutofit/>
          </a:bodyPr>
          <a:lstStyle/>
          <a:p>
            <a:pPr marL="577850" lvl="3" indent="-323850" defTabSz="1300162">
              <a:spcBef>
                <a:spcPts val="700"/>
              </a:spcBef>
              <a:buFont typeface="Arial"/>
              <a:buChar char="•"/>
              <a:defRPr sz="4400">
                <a:latin typeface="Arial"/>
                <a:ea typeface="Arial"/>
                <a:cs typeface="Arial"/>
                <a:sym typeface="Arial"/>
              </a:defRPr>
            </a:pPr>
            <a:r>
              <a:rPr lang="en-US" sz="3200" b="1" dirty="0">
                <a:latin typeface="Calibri" panose="020F0502020204030204" pitchFamily="34" charset="0"/>
                <a:ea typeface="Calibri" panose="020F0502020204030204" pitchFamily="34" charset="0"/>
                <a:cs typeface="Calibri" panose="020F0502020204030204" pitchFamily="34" charset="0"/>
                <a:sym typeface="Arial"/>
              </a:rPr>
              <a:t>Linagliptin (</a:t>
            </a:r>
            <a:r>
              <a:rPr lang="en-US" sz="3200" b="1" dirty="0" err="1">
                <a:latin typeface="Calibri" panose="020F0502020204030204" pitchFamily="34" charset="0"/>
                <a:ea typeface="Calibri" panose="020F0502020204030204" pitchFamily="34" charset="0"/>
                <a:cs typeface="Calibri" panose="020F0502020204030204" pitchFamily="34" charset="0"/>
                <a:sym typeface="Arial"/>
              </a:rPr>
              <a:t>Tradjenta</a:t>
            </a:r>
            <a:r>
              <a:rPr lang="en-US" sz="3200" b="1" dirty="0">
                <a:latin typeface="Calibri" panose="020F0502020204030204" pitchFamily="34" charset="0"/>
                <a:ea typeface="Calibri" panose="020F0502020204030204" pitchFamily="34" charset="0"/>
                <a:cs typeface="Calibri" panose="020F0502020204030204" pitchFamily="34" charset="0"/>
                <a:sym typeface="Arial"/>
              </a:rPr>
              <a:t>)</a:t>
            </a:r>
          </a:p>
          <a:p>
            <a:pPr marL="577850" lvl="3" indent="-323850" defTabSz="1300162">
              <a:spcBef>
                <a:spcPts val="700"/>
              </a:spcBef>
              <a:buFont typeface="Arial"/>
              <a:buChar char="•"/>
              <a:defRPr sz="4400">
                <a:latin typeface="Arial"/>
                <a:ea typeface="Arial"/>
                <a:cs typeface="Arial"/>
                <a:sym typeface="Arial"/>
              </a:defRPr>
            </a:pPr>
            <a:r>
              <a:rPr lang="en-US" sz="3200" b="1" dirty="0">
                <a:latin typeface="Calibri" panose="020F0502020204030204" pitchFamily="34" charset="0"/>
                <a:ea typeface="Calibri" panose="020F0502020204030204" pitchFamily="34" charset="0"/>
                <a:cs typeface="Calibri" panose="020F0502020204030204" pitchFamily="34" charset="0"/>
                <a:sym typeface="Arial"/>
              </a:rPr>
              <a:t>Sitagliptin (Januvia)</a:t>
            </a:r>
          </a:p>
          <a:p>
            <a:pPr marL="577850" lvl="3" indent="-323850" defTabSz="1300162">
              <a:spcBef>
                <a:spcPts val="700"/>
              </a:spcBef>
              <a:buFont typeface="Arial"/>
              <a:buChar char="•"/>
              <a:defRPr sz="4400">
                <a:latin typeface="Arial"/>
                <a:ea typeface="Arial"/>
                <a:cs typeface="Arial"/>
                <a:sym typeface="Arial"/>
              </a:defRPr>
            </a:pPr>
            <a:r>
              <a:rPr lang="en-US" sz="3200" b="1" dirty="0" err="1">
                <a:latin typeface="Calibri" panose="020F0502020204030204" pitchFamily="34" charset="0"/>
                <a:ea typeface="Calibri" panose="020F0502020204030204" pitchFamily="34" charset="0"/>
                <a:cs typeface="Calibri" panose="020F0502020204030204" pitchFamily="34" charset="0"/>
                <a:sym typeface="Arial"/>
              </a:rPr>
              <a:t>Saxagliptin</a:t>
            </a:r>
            <a:r>
              <a:rPr lang="en-US" sz="3200" b="1" dirty="0">
                <a:latin typeface="Calibri" panose="020F0502020204030204" pitchFamily="34" charset="0"/>
                <a:ea typeface="Calibri" panose="020F0502020204030204" pitchFamily="34" charset="0"/>
                <a:cs typeface="Calibri" panose="020F0502020204030204" pitchFamily="34" charset="0"/>
                <a:sym typeface="Arial"/>
              </a:rPr>
              <a:t> (</a:t>
            </a:r>
            <a:r>
              <a:rPr lang="en-US" sz="3200" b="1" dirty="0" err="1">
                <a:latin typeface="Calibri" panose="020F0502020204030204" pitchFamily="34" charset="0"/>
                <a:ea typeface="Calibri" panose="020F0502020204030204" pitchFamily="34" charset="0"/>
                <a:cs typeface="Calibri" panose="020F0502020204030204" pitchFamily="34" charset="0"/>
                <a:sym typeface="Arial"/>
              </a:rPr>
              <a:t>Onglyza</a:t>
            </a:r>
            <a:r>
              <a:rPr lang="en-US" sz="3200" b="1" dirty="0">
                <a:latin typeface="Calibri" panose="020F0502020204030204" pitchFamily="34" charset="0"/>
                <a:ea typeface="Calibri" panose="020F0502020204030204" pitchFamily="34" charset="0"/>
                <a:cs typeface="Calibri" panose="020F0502020204030204" pitchFamily="34" charset="0"/>
                <a:sym typeface="Arial"/>
              </a:rPr>
              <a:t>)</a:t>
            </a:r>
          </a:p>
          <a:p>
            <a:pPr marL="577850" lvl="3" indent="-323850" defTabSz="1300162">
              <a:spcBef>
                <a:spcPts val="700"/>
              </a:spcBef>
              <a:buFont typeface="Arial"/>
              <a:buChar char="•"/>
              <a:defRPr sz="4400">
                <a:latin typeface="Arial"/>
                <a:ea typeface="Arial"/>
                <a:cs typeface="Arial"/>
                <a:sym typeface="Arial"/>
              </a:defRPr>
            </a:pPr>
            <a:r>
              <a:rPr lang="en-US" sz="3200" b="1" dirty="0">
                <a:latin typeface="Calibri" panose="020F0502020204030204" pitchFamily="34" charset="0"/>
                <a:ea typeface="Calibri" panose="020F0502020204030204" pitchFamily="34" charset="0"/>
                <a:cs typeface="Calibri" panose="020F0502020204030204" pitchFamily="34" charset="0"/>
                <a:sym typeface="Arial"/>
              </a:rPr>
              <a:t>Alogliptin (Nesina)</a:t>
            </a:r>
          </a:p>
          <a:p>
            <a:pPr marL="577850" lvl="3" indent="-323850" defTabSz="1300162">
              <a:spcBef>
                <a:spcPts val="700"/>
              </a:spcBef>
              <a:buFont typeface="Arial"/>
              <a:buChar char="•"/>
              <a:defRPr sz="4400">
                <a:latin typeface="Arial"/>
                <a:ea typeface="Arial"/>
                <a:cs typeface="Arial"/>
                <a:sym typeface="Arial"/>
              </a:defRPr>
            </a:pPr>
            <a:endParaRPr lang="en-US" sz="3200" b="1" dirty="0">
              <a:latin typeface="Calibri" panose="020F0502020204030204" pitchFamily="34" charset="0"/>
              <a:ea typeface="Calibri" panose="020F0502020204030204" pitchFamily="34" charset="0"/>
              <a:cs typeface="Calibri" panose="020F0502020204030204" pitchFamily="34" charset="0"/>
              <a:sym typeface="Arial"/>
            </a:endParaRPr>
          </a:p>
          <a:p>
            <a:pPr marL="577850" lvl="3" indent="-323850" defTabSz="1300162">
              <a:spcBef>
                <a:spcPts val="700"/>
              </a:spcBef>
              <a:buFont typeface="Arial"/>
              <a:buChar char="•"/>
              <a:defRPr sz="4400">
                <a:latin typeface="Arial"/>
                <a:ea typeface="Arial"/>
                <a:cs typeface="Arial"/>
                <a:sym typeface="Arial"/>
              </a:defRPr>
            </a:pPr>
            <a:endParaRPr lang="en-US" sz="3200" b="1" dirty="0">
              <a:latin typeface="Calibri" panose="020F0502020204030204" pitchFamily="34" charset="0"/>
              <a:ea typeface="Calibri" panose="020F0502020204030204" pitchFamily="34" charset="0"/>
              <a:cs typeface="Calibri" panose="020F0502020204030204" pitchFamily="34" charset="0"/>
              <a:sym typeface="Arial"/>
            </a:endParaRPr>
          </a:p>
          <a:p>
            <a:pPr marL="577850" lvl="3" indent="-323850" defTabSz="1300162">
              <a:spcBef>
                <a:spcPts val="700"/>
              </a:spcBef>
              <a:buFont typeface="Arial"/>
              <a:buChar char="•"/>
              <a:defRPr sz="4400">
                <a:latin typeface="Arial"/>
                <a:ea typeface="Arial"/>
                <a:cs typeface="Arial"/>
                <a:sym typeface="Arial"/>
              </a:defRPr>
            </a:pPr>
            <a:r>
              <a:rPr lang="en-US" sz="3200" b="1" dirty="0">
                <a:latin typeface="Calibri" panose="020F0502020204030204" pitchFamily="34" charset="0"/>
                <a:ea typeface="Calibri" panose="020F0502020204030204" pitchFamily="34" charset="0"/>
                <a:cs typeface="Calibri" panose="020F0502020204030204" pitchFamily="34" charset="0"/>
                <a:sym typeface="Arial"/>
              </a:rPr>
              <a:t>Renal dosing: </a:t>
            </a:r>
            <a:r>
              <a:rPr lang="en-US" sz="3200" dirty="0">
                <a:latin typeface="Calibri" panose="020F0502020204030204" pitchFamily="34" charset="0"/>
                <a:ea typeface="Calibri" panose="020F0502020204030204" pitchFamily="34" charset="0"/>
                <a:cs typeface="Calibri" panose="020F0502020204030204" pitchFamily="34" charset="0"/>
                <a:sym typeface="Arial"/>
              </a:rPr>
              <a:t>Most require dose adjustment in CKD; linagliptin does not.</a:t>
            </a:r>
            <a:endParaRPr sz="4400" dirty="0">
              <a:latin typeface="Calibri" charset="0"/>
              <a:ea typeface="Calibri" charset="0"/>
              <a:cs typeface="Calibri" charset="0"/>
            </a:endParaRPr>
          </a:p>
        </p:txBody>
      </p:sp>
    </p:spTree>
    <p:extLst>
      <p:ext uri="{BB962C8B-B14F-4D97-AF65-F5344CB8AC3E}">
        <p14:creationId xmlns:p14="http://schemas.microsoft.com/office/powerpoint/2010/main" val="6327882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Shape 181"/>
          <p:cNvSpPr>
            <a:spLocks noGrp="1"/>
          </p:cNvSpPr>
          <p:nvPr>
            <p:ph type="title" idx="4294967295"/>
          </p:nvPr>
        </p:nvSpPr>
        <p:spPr>
          <a:xfrm>
            <a:off x="330200" y="152400"/>
            <a:ext cx="12023725" cy="1371600"/>
          </a:xfrm>
          <a:prstGeom prst="rect">
            <a:avLst/>
          </a:prstGeom>
        </p:spPr>
        <p:txBody>
          <a:bodyPr lIns="72248" tIns="72248" rIns="72248" bIns="72248" anchor="ctr">
            <a:normAutofit/>
          </a:bodyPr>
          <a:lstStyle>
            <a:lvl1pPr defTabSz="1261157">
              <a:defRPr sz="5432">
                <a:latin typeface="Arial"/>
                <a:ea typeface="Arial"/>
                <a:cs typeface="Arial"/>
                <a:sym typeface="Arial"/>
              </a:defRPr>
            </a:lvl1pPr>
          </a:lstStyle>
          <a:p>
            <a:pPr>
              <a:buNone/>
            </a:pPr>
            <a:r>
              <a:rPr dirty="0"/>
              <a:t>DPP-</a:t>
            </a:r>
            <a:r>
              <a:rPr lang="en-US" dirty="0"/>
              <a:t>4</a:t>
            </a:r>
            <a:r>
              <a:rPr dirty="0"/>
              <a:t> Inhibitors</a:t>
            </a:r>
          </a:p>
        </p:txBody>
      </p:sp>
      <p:sp>
        <p:nvSpPr>
          <p:cNvPr id="182" name="Shape 182"/>
          <p:cNvSpPr>
            <a:spLocks noGrp="1"/>
          </p:cNvSpPr>
          <p:nvPr>
            <p:ph type="body" idx="4294967295"/>
          </p:nvPr>
        </p:nvSpPr>
        <p:spPr>
          <a:xfrm>
            <a:off x="323850" y="2133600"/>
            <a:ext cx="12463463" cy="7510463"/>
          </a:xfrm>
          <a:prstGeom prst="rect">
            <a:avLst/>
          </a:prstGeom>
        </p:spPr>
        <p:txBody>
          <a:bodyPr lIns="72248" tIns="72248" rIns="72248" bIns="72248">
            <a:normAutofit/>
          </a:bodyPr>
          <a:lstStyle/>
          <a:p>
            <a:pPr marL="1028700" lvl="4" defTabSz="1300162">
              <a:spcBef>
                <a:spcPts val="700"/>
              </a:spcBef>
              <a:buNone/>
              <a:defRPr sz="4400">
                <a:latin typeface="Arial"/>
                <a:ea typeface="Arial"/>
                <a:cs typeface="Arial"/>
                <a:sym typeface="Arial"/>
              </a:defRPr>
            </a:pPr>
            <a:endParaRPr sz="3600" dirty="0">
              <a:latin typeface="Calibri" charset="0"/>
              <a:ea typeface="Calibri" charset="0"/>
              <a:cs typeface="Calibri" charset="0"/>
            </a:endParaRPr>
          </a:p>
          <a:p>
            <a:pPr>
              <a:spcBef>
                <a:spcPts val="1200"/>
              </a:spcBef>
            </a:pPr>
            <a:r>
              <a:rPr lang="en-US" sz="3200" b="1" dirty="0">
                <a:latin typeface="Calibri" panose="020F0502020204030204" pitchFamily="34" charset="0"/>
                <a:ea typeface="Calibri" panose="020F0502020204030204" pitchFamily="34" charset="0"/>
                <a:cs typeface="Calibri" panose="020F0502020204030204" pitchFamily="34" charset="0"/>
              </a:rPr>
              <a:t>Modest glucose-lowering efficacy</a:t>
            </a:r>
          </a:p>
          <a:p>
            <a:pPr lvl="1">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 A1C approximately </a:t>
            </a:r>
            <a:r>
              <a:rPr lang="en-US" sz="3200" b="1" dirty="0">
                <a:latin typeface="Calibri" panose="020F0502020204030204" pitchFamily="34" charset="0"/>
                <a:ea typeface="Calibri" panose="020F0502020204030204" pitchFamily="34" charset="0"/>
                <a:cs typeface="Calibri" panose="020F0502020204030204" pitchFamily="34" charset="0"/>
              </a:rPr>
              <a:t>0.5–0.8%</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3200" b="1" dirty="0">
                <a:latin typeface="Calibri" panose="020F0502020204030204" pitchFamily="34" charset="0"/>
                <a:ea typeface="Calibri" panose="020F0502020204030204" pitchFamily="34" charset="0"/>
                <a:cs typeface="Calibri" panose="020F0502020204030204" pitchFamily="34" charset="0"/>
              </a:rPr>
              <a:t>Weight neutral</a:t>
            </a:r>
          </a:p>
          <a:p>
            <a:pPr>
              <a:spcBef>
                <a:spcPts val="1200"/>
              </a:spcBef>
            </a:pPr>
            <a:r>
              <a:rPr lang="en-US" sz="3200" b="1" dirty="0">
                <a:latin typeface="Calibri" panose="020F0502020204030204" pitchFamily="34" charset="0"/>
                <a:ea typeface="Calibri" panose="020F0502020204030204" pitchFamily="34" charset="0"/>
                <a:cs typeface="Calibri" panose="020F0502020204030204" pitchFamily="34" charset="0"/>
              </a:rPr>
              <a:t>Low risk of hypoglycemia</a:t>
            </a:r>
            <a:r>
              <a:rPr lang="en-US" sz="3200" dirty="0">
                <a:latin typeface="Calibri" panose="020F0502020204030204" pitchFamily="34" charset="0"/>
                <a:ea typeface="Calibri" panose="020F0502020204030204" pitchFamily="34" charset="0"/>
                <a:cs typeface="Calibri" panose="020F0502020204030204" pitchFamily="34" charset="0"/>
              </a:rPr>
              <a:t> when used alone</a:t>
            </a:r>
            <a:endParaRPr sz="32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013292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Shape 181"/>
          <p:cNvSpPr>
            <a:spLocks noGrp="1"/>
          </p:cNvSpPr>
          <p:nvPr>
            <p:ph type="title" idx="4294967295"/>
          </p:nvPr>
        </p:nvSpPr>
        <p:spPr>
          <a:xfrm>
            <a:off x="330200" y="152400"/>
            <a:ext cx="12023725" cy="1371600"/>
          </a:xfrm>
          <a:prstGeom prst="rect">
            <a:avLst/>
          </a:prstGeom>
        </p:spPr>
        <p:txBody>
          <a:bodyPr lIns="72248" tIns="72248" rIns="72248" bIns="72248" anchor="ctr">
            <a:normAutofit/>
          </a:bodyPr>
          <a:lstStyle>
            <a:lvl1pPr defTabSz="1261157">
              <a:defRPr sz="5432">
                <a:latin typeface="Arial"/>
                <a:ea typeface="Arial"/>
                <a:cs typeface="Arial"/>
                <a:sym typeface="Arial"/>
              </a:defRPr>
            </a:lvl1pPr>
          </a:lstStyle>
          <a:p>
            <a:pPr>
              <a:buNone/>
            </a:pPr>
            <a:r>
              <a:rPr lang="en-US" dirty="0"/>
              <a:t>DPP-4 Inhibitors: Adverse Effects</a:t>
            </a:r>
            <a:endParaRPr dirty="0"/>
          </a:p>
        </p:txBody>
      </p:sp>
      <p:sp>
        <p:nvSpPr>
          <p:cNvPr id="182" name="Shape 182"/>
          <p:cNvSpPr>
            <a:spLocks noGrp="1"/>
          </p:cNvSpPr>
          <p:nvPr>
            <p:ph type="body" idx="4294967295"/>
          </p:nvPr>
        </p:nvSpPr>
        <p:spPr>
          <a:xfrm>
            <a:off x="162560" y="1600200"/>
            <a:ext cx="12624753" cy="8043863"/>
          </a:xfrm>
          <a:prstGeom prst="rect">
            <a:avLst/>
          </a:prstGeom>
        </p:spPr>
        <p:txBody>
          <a:bodyPr lIns="72248" tIns="72248" rIns="72248" bIns="72248">
            <a:normAutofit/>
          </a:bodyPr>
          <a:lstStyle/>
          <a:p>
            <a:pPr marL="323850" indent="-323850" defTabSz="1300162">
              <a:spcBef>
                <a:spcPts val="700"/>
              </a:spcBef>
              <a:buFont typeface="Arial"/>
              <a:buChar char="•"/>
              <a:defRPr sz="4400"/>
            </a:pPr>
            <a:r>
              <a:rPr lang="en-US" sz="3200" dirty="0">
                <a:latin typeface="Calibri" panose="020F0502020204030204" pitchFamily="34" charset="0"/>
                <a:ea typeface="Calibri" panose="020F0502020204030204" pitchFamily="34" charset="0"/>
                <a:cs typeface="Calibri" panose="020F0502020204030204" pitchFamily="34" charset="0"/>
              </a:rPr>
              <a:t>Generally </a:t>
            </a:r>
            <a:r>
              <a:rPr lang="en-US" sz="3200" b="1" dirty="0">
                <a:latin typeface="Calibri" panose="020F0502020204030204" pitchFamily="34" charset="0"/>
                <a:ea typeface="Calibri" panose="020F0502020204030204" pitchFamily="34" charset="0"/>
                <a:cs typeface="Calibri" panose="020F0502020204030204" pitchFamily="34" charset="0"/>
              </a:rPr>
              <a:t>well tolerated</a:t>
            </a:r>
          </a:p>
          <a:p>
            <a:pPr marL="323850" indent="-323850" defTabSz="1300162">
              <a:spcBef>
                <a:spcPts val="700"/>
              </a:spcBef>
              <a:buFont typeface="Arial"/>
              <a:buChar char="•"/>
              <a:defRPr sz="4400"/>
            </a:pPr>
            <a:r>
              <a:rPr lang="en-US" sz="3200" b="1" dirty="0">
                <a:latin typeface="Calibri" panose="020F0502020204030204" pitchFamily="34" charset="0"/>
                <a:ea typeface="Calibri" panose="020F0502020204030204" pitchFamily="34" charset="0"/>
                <a:cs typeface="Calibri" panose="020F0502020204030204" pitchFamily="34" charset="0"/>
              </a:rPr>
              <a:t>Pancreatitis</a:t>
            </a:r>
            <a:r>
              <a:rPr lang="en-US" sz="3200" dirty="0">
                <a:latin typeface="Calibri" panose="020F0502020204030204" pitchFamily="34" charset="0"/>
                <a:ea typeface="Calibri" panose="020F0502020204030204" pitchFamily="34" charset="0"/>
                <a:cs typeface="Calibri" panose="020F0502020204030204" pitchFamily="34" charset="0"/>
              </a:rPr>
              <a:t> — rare; discontinue if suspected</a:t>
            </a:r>
          </a:p>
          <a:p>
            <a:pPr marL="323850" indent="-323850" defTabSz="1300162">
              <a:spcBef>
                <a:spcPts val="700"/>
              </a:spcBef>
              <a:buFont typeface="Arial"/>
              <a:buChar char="•"/>
              <a:defRPr sz="4400"/>
            </a:pPr>
            <a:r>
              <a:rPr lang="en-US" sz="3200" b="1" dirty="0">
                <a:latin typeface="Calibri" panose="020F0502020204030204" pitchFamily="34" charset="0"/>
                <a:ea typeface="Calibri" panose="020F0502020204030204" pitchFamily="34" charset="0"/>
                <a:cs typeface="Calibri" panose="020F0502020204030204" pitchFamily="34" charset="0"/>
              </a:rPr>
              <a:t>Severe joint pain</a:t>
            </a:r>
            <a:r>
              <a:rPr lang="en-US" sz="3200" dirty="0">
                <a:latin typeface="Calibri" panose="020F0502020204030204" pitchFamily="34" charset="0"/>
                <a:ea typeface="Calibri" panose="020F0502020204030204" pitchFamily="34" charset="0"/>
                <a:cs typeface="Calibri" panose="020F0502020204030204" pitchFamily="34" charset="0"/>
              </a:rPr>
              <a:t> — rare FDA warning</a:t>
            </a:r>
          </a:p>
          <a:p>
            <a:pPr marL="323850" indent="-323850" defTabSz="1300162">
              <a:spcBef>
                <a:spcPts val="700"/>
              </a:spcBef>
              <a:buFont typeface="Arial"/>
              <a:buChar char="•"/>
              <a:defRPr sz="4400"/>
            </a:pPr>
            <a:r>
              <a:rPr lang="en-US" sz="3200" b="1" dirty="0">
                <a:latin typeface="Calibri" panose="020F0502020204030204" pitchFamily="34" charset="0"/>
                <a:ea typeface="Calibri" panose="020F0502020204030204" pitchFamily="34" charset="0"/>
                <a:cs typeface="Calibri" panose="020F0502020204030204" pitchFamily="34" charset="0"/>
              </a:rPr>
              <a:t>Bullous pemphigoid</a:t>
            </a:r>
            <a:r>
              <a:rPr lang="en-US" sz="3200" dirty="0">
                <a:latin typeface="Calibri" panose="020F0502020204030204" pitchFamily="34" charset="0"/>
                <a:ea typeface="Calibri" panose="020F0502020204030204" pitchFamily="34" charset="0"/>
                <a:cs typeface="Calibri" panose="020F0502020204030204" pitchFamily="34" charset="0"/>
              </a:rPr>
              <a:t> — rare</a:t>
            </a:r>
          </a:p>
          <a:p>
            <a:pPr marL="323850" indent="-323850" defTabSz="1300162">
              <a:spcBef>
                <a:spcPts val="700"/>
              </a:spcBef>
              <a:buFont typeface="Arial"/>
              <a:buChar char="•"/>
              <a:defRPr sz="4400"/>
            </a:pPr>
            <a:r>
              <a:rPr lang="en-US" sz="3200" b="1" dirty="0">
                <a:latin typeface="Calibri" panose="020F0502020204030204" pitchFamily="34" charset="0"/>
                <a:ea typeface="Calibri" panose="020F0502020204030204" pitchFamily="34" charset="0"/>
                <a:cs typeface="Calibri" panose="020F0502020204030204" pitchFamily="34" charset="0"/>
              </a:rPr>
              <a:t>Hypersensitivity reactions</a:t>
            </a:r>
            <a:r>
              <a:rPr lang="en-US" sz="3200" dirty="0">
                <a:latin typeface="Calibri" panose="020F0502020204030204" pitchFamily="34" charset="0"/>
                <a:ea typeface="Calibri" panose="020F0502020204030204" pitchFamily="34" charset="0"/>
                <a:cs typeface="Calibri" panose="020F0502020204030204" pitchFamily="34" charset="0"/>
              </a:rPr>
              <a:t> — rare</a:t>
            </a:r>
            <a:endParaRPr sz="32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97290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Shape 181"/>
          <p:cNvSpPr>
            <a:spLocks noGrp="1"/>
          </p:cNvSpPr>
          <p:nvPr>
            <p:ph type="title" idx="4294967295"/>
          </p:nvPr>
        </p:nvSpPr>
        <p:spPr>
          <a:xfrm>
            <a:off x="330200" y="152400"/>
            <a:ext cx="12023725" cy="1371600"/>
          </a:xfrm>
          <a:prstGeom prst="rect">
            <a:avLst/>
          </a:prstGeom>
        </p:spPr>
        <p:txBody>
          <a:bodyPr lIns="72248" tIns="72248" rIns="72248" bIns="72248" anchor="ctr">
            <a:normAutofit fontScale="90000"/>
          </a:bodyPr>
          <a:lstStyle>
            <a:lvl1pPr defTabSz="1261157">
              <a:defRPr sz="5432">
                <a:latin typeface="Arial"/>
                <a:ea typeface="Arial"/>
                <a:cs typeface="Arial"/>
                <a:sym typeface="Arial"/>
              </a:defRPr>
            </a:lvl1pPr>
          </a:lstStyle>
          <a:p>
            <a:pPr>
              <a:buNone/>
            </a:pPr>
            <a:r>
              <a:rPr lang="en-US" b="1" dirty="0"/>
              <a:t>DPP-4 Inhibitors: Cardiovascular Safety</a:t>
            </a:r>
          </a:p>
        </p:txBody>
      </p:sp>
      <p:sp>
        <p:nvSpPr>
          <p:cNvPr id="182" name="Shape 182"/>
          <p:cNvSpPr>
            <a:spLocks noGrp="1"/>
          </p:cNvSpPr>
          <p:nvPr>
            <p:ph type="body" idx="4294967295"/>
          </p:nvPr>
        </p:nvSpPr>
        <p:spPr>
          <a:xfrm>
            <a:off x="323850" y="1600200"/>
            <a:ext cx="12463463" cy="8043863"/>
          </a:xfrm>
          <a:prstGeom prst="rect">
            <a:avLst/>
          </a:prstGeom>
        </p:spPr>
        <p:txBody>
          <a:bodyPr lIns="72248" tIns="72248" rIns="72248" bIns="72248">
            <a:normAutofit/>
          </a:bodyPr>
          <a:lstStyle/>
          <a:p>
            <a:pPr marL="288925" indent="-288925" defTabSz="1300162">
              <a:spcBef>
                <a:spcPts val="700"/>
              </a:spcBef>
              <a:buFont typeface="Arial" panose="020B0604020202020204" pitchFamily="34" charset="0"/>
              <a:buChar char="•"/>
              <a:defRPr sz="4400"/>
            </a:pPr>
            <a:r>
              <a:rPr lang="en-US" sz="3200" dirty="0">
                <a:latin typeface="Calibri" charset="0"/>
                <a:ea typeface="Calibri" charset="0"/>
                <a:cs typeface="Calibri" charset="0"/>
              </a:rPr>
              <a:t>DPP-4 inhibitors have </a:t>
            </a:r>
            <a:r>
              <a:rPr lang="en-US" sz="3200" b="1" dirty="0">
                <a:latin typeface="Calibri" charset="0"/>
                <a:ea typeface="Calibri" charset="0"/>
                <a:cs typeface="Calibri" charset="0"/>
              </a:rPr>
              <a:t>not demonstrated cardiovascular benefit</a:t>
            </a:r>
          </a:p>
          <a:p>
            <a:pPr marL="288925" indent="-288925" defTabSz="1300162">
              <a:spcBef>
                <a:spcPts val="700"/>
              </a:spcBef>
              <a:buFont typeface="Arial" panose="020B0604020202020204" pitchFamily="34" charset="0"/>
              <a:buChar char="•"/>
              <a:defRPr sz="4400"/>
            </a:pPr>
            <a:r>
              <a:rPr lang="en-US" sz="3200" b="1" dirty="0" err="1">
                <a:latin typeface="Calibri" charset="0"/>
                <a:ea typeface="Calibri" charset="0"/>
                <a:cs typeface="Calibri" charset="0"/>
              </a:rPr>
              <a:t>Saxagliptin</a:t>
            </a:r>
            <a:r>
              <a:rPr lang="en-US" sz="3200" b="1" dirty="0">
                <a:latin typeface="Calibri" charset="0"/>
                <a:ea typeface="Calibri" charset="0"/>
                <a:cs typeface="Calibri" charset="0"/>
              </a:rPr>
              <a:t>: </a:t>
            </a:r>
            <a:r>
              <a:rPr lang="en-US" sz="3200" dirty="0">
                <a:latin typeface="Calibri" charset="0"/>
                <a:ea typeface="Calibri" charset="0"/>
                <a:cs typeface="Calibri" charset="0"/>
              </a:rPr>
              <a:t>increased risk of hospitalization for heart failure</a:t>
            </a:r>
          </a:p>
          <a:p>
            <a:pPr marL="288925" indent="-288925" defTabSz="1300162">
              <a:spcBef>
                <a:spcPts val="700"/>
              </a:spcBef>
              <a:buFont typeface="Arial" panose="020B0604020202020204" pitchFamily="34" charset="0"/>
              <a:buChar char="•"/>
              <a:defRPr sz="4400"/>
            </a:pPr>
            <a:r>
              <a:rPr lang="en-US" sz="3200" dirty="0">
                <a:latin typeface="Calibri" charset="0"/>
                <a:ea typeface="Calibri" charset="0"/>
                <a:cs typeface="Calibri" charset="0"/>
              </a:rPr>
              <a:t>FDA labeling includes HF warnings for </a:t>
            </a:r>
            <a:r>
              <a:rPr lang="en-US" sz="3200" b="1" dirty="0" err="1">
                <a:latin typeface="Calibri" charset="0"/>
                <a:ea typeface="Calibri" charset="0"/>
                <a:cs typeface="Calibri" charset="0"/>
              </a:rPr>
              <a:t>saxagliptin</a:t>
            </a:r>
            <a:r>
              <a:rPr lang="en-US" sz="3200" b="1" dirty="0">
                <a:latin typeface="Calibri" charset="0"/>
                <a:ea typeface="Calibri" charset="0"/>
                <a:cs typeface="Calibri" charset="0"/>
              </a:rPr>
              <a:t> and alogliptin</a:t>
            </a:r>
          </a:p>
          <a:p>
            <a:pPr marL="288925" indent="-288925" defTabSz="1300162">
              <a:spcBef>
                <a:spcPts val="700"/>
              </a:spcBef>
              <a:buFont typeface="Arial" panose="020B0604020202020204" pitchFamily="34" charset="0"/>
              <a:buChar char="•"/>
              <a:defRPr sz="4400"/>
            </a:pPr>
            <a:r>
              <a:rPr lang="en-US" sz="3200" dirty="0">
                <a:latin typeface="Calibri" charset="0"/>
                <a:ea typeface="Calibri" charset="0"/>
                <a:cs typeface="Calibri" charset="0"/>
              </a:rPr>
              <a:t>Other DPP-4 inhibitors have </a:t>
            </a:r>
            <a:r>
              <a:rPr lang="en-US" sz="3200" b="1" dirty="0">
                <a:latin typeface="Calibri" charset="0"/>
                <a:ea typeface="Calibri" charset="0"/>
                <a:cs typeface="Calibri" charset="0"/>
              </a:rPr>
              <a:t>not demonstrated increased HF hospitalization</a:t>
            </a:r>
            <a:r>
              <a:rPr lang="en-US" sz="3200" dirty="0">
                <a:latin typeface="Calibri" charset="0"/>
                <a:ea typeface="Calibri" charset="0"/>
                <a:cs typeface="Calibri" charset="0"/>
              </a:rPr>
              <a:t> in cardiovascular outcomes trials</a:t>
            </a:r>
          </a:p>
          <a:p>
            <a:pPr marL="1352550" lvl="4" indent="-323850" defTabSz="1300162">
              <a:spcBef>
                <a:spcPts val="700"/>
              </a:spcBef>
              <a:buChar char="•"/>
              <a:defRPr sz="4400">
                <a:latin typeface="Arial"/>
                <a:ea typeface="Arial"/>
                <a:cs typeface="Arial"/>
                <a:sym typeface="Arial"/>
              </a:defRPr>
            </a:pPr>
            <a:endParaRPr lang="en-US" dirty="0"/>
          </a:p>
          <a:p>
            <a:pPr marL="1352550" lvl="4" indent="-323850" defTabSz="1300162">
              <a:spcBef>
                <a:spcPts val="700"/>
              </a:spcBef>
              <a:buChar char="•"/>
              <a:defRPr sz="4400">
                <a:latin typeface="Arial"/>
                <a:ea typeface="Arial"/>
                <a:cs typeface="Arial"/>
                <a:sym typeface="Arial"/>
              </a:defRPr>
            </a:pPr>
            <a:endParaRPr dirty="0"/>
          </a:p>
        </p:txBody>
      </p:sp>
    </p:spTree>
    <p:extLst>
      <p:ext uri="{BB962C8B-B14F-4D97-AF65-F5344CB8AC3E}">
        <p14:creationId xmlns:p14="http://schemas.microsoft.com/office/powerpoint/2010/main" val="15489364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 name="Shape 172"/>
          <p:cNvSpPr>
            <a:spLocks noGrp="1"/>
          </p:cNvSpPr>
          <p:nvPr>
            <p:ph type="title" idx="4294967295"/>
          </p:nvPr>
        </p:nvSpPr>
        <p:spPr>
          <a:xfrm>
            <a:off x="649287" y="215900"/>
            <a:ext cx="11704638" cy="1938020"/>
          </a:xfrm>
          <a:prstGeom prst="rect">
            <a:avLst/>
          </a:prstGeom>
        </p:spPr>
        <p:txBody>
          <a:bodyPr lIns="72248" tIns="72248" rIns="72248" bIns="72248" anchor="ctr">
            <a:normAutofit/>
          </a:bodyPr>
          <a:lstStyle>
            <a:lvl1pPr defTabSz="1300162">
              <a:defRPr sz="5600">
                <a:latin typeface="Arial"/>
                <a:ea typeface="Arial"/>
                <a:cs typeface="Arial"/>
                <a:sym typeface="Arial"/>
              </a:defRPr>
            </a:lvl1pPr>
          </a:lstStyle>
          <a:p>
            <a:pPr>
              <a:buNone/>
            </a:pPr>
            <a:r>
              <a:rPr lang="en-US" sz="4800" dirty="0"/>
              <a:t>DPP-4 Inhibitors + GLP-1 Based Therapy</a:t>
            </a:r>
            <a:endParaRPr sz="4800" dirty="0"/>
          </a:p>
        </p:txBody>
      </p:sp>
      <p:sp>
        <p:nvSpPr>
          <p:cNvPr id="173" name="Shape 173"/>
          <p:cNvSpPr>
            <a:spLocks noGrp="1"/>
          </p:cNvSpPr>
          <p:nvPr>
            <p:ph type="body" idx="4294967295"/>
          </p:nvPr>
        </p:nvSpPr>
        <p:spPr>
          <a:xfrm>
            <a:off x="323850" y="2863516"/>
            <a:ext cx="12463463" cy="6780547"/>
          </a:xfrm>
          <a:prstGeom prst="rect">
            <a:avLst/>
          </a:prstGeom>
        </p:spPr>
        <p:txBody>
          <a:bodyPr lIns="72248" tIns="72248" rIns="72248" bIns="72248">
            <a:normAutofit/>
          </a:bodyPr>
          <a:lstStyle/>
          <a:p>
            <a:r>
              <a:rPr lang="en-US" sz="3200" b="1" dirty="0">
                <a:latin typeface="Calibri" panose="020F0502020204030204" pitchFamily="34" charset="0"/>
                <a:ea typeface="Calibri" panose="020F0502020204030204" pitchFamily="34" charset="0"/>
                <a:cs typeface="Calibri" panose="020F0502020204030204" pitchFamily="34" charset="0"/>
              </a:rPr>
              <a:t>Do not combine a DPP-4 inhibitor with a GLP-1 receptor agonist or dual GIP/GLP-1 receptor agonist.</a:t>
            </a:r>
            <a:endParaRPr lang="en-US" sz="3200" dirty="0">
              <a:latin typeface="Calibri" panose="020F0502020204030204" pitchFamily="34" charset="0"/>
              <a:ea typeface="Calibri" panose="020F0502020204030204" pitchFamily="34" charset="0"/>
              <a:cs typeface="Calibri" panose="020F0502020204030204" pitchFamily="34" charset="0"/>
            </a:endParaRPr>
          </a:p>
          <a:p>
            <a:r>
              <a:rPr lang="en-US" sz="3200" dirty="0">
                <a:latin typeface="Calibri" panose="020F0502020204030204" pitchFamily="34" charset="0"/>
                <a:ea typeface="Calibri" panose="020F0502020204030204" pitchFamily="34" charset="0"/>
                <a:cs typeface="Calibri" panose="020F0502020204030204" pitchFamily="34" charset="0"/>
              </a:rPr>
              <a:t>There is </a:t>
            </a:r>
            <a:r>
              <a:rPr lang="en-US" sz="3200" b="1" dirty="0">
                <a:latin typeface="Calibri" panose="020F0502020204030204" pitchFamily="34" charset="0"/>
                <a:ea typeface="Calibri" panose="020F0502020204030204" pitchFamily="34" charset="0"/>
                <a:cs typeface="Calibri" panose="020F0502020204030204" pitchFamily="34" charset="0"/>
              </a:rPr>
              <a:t>no meaningful additional glucose-lowering benefit</a:t>
            </a:r>
            <a:r>
              <a:rPr lang="en-US" sz="3200" dirty="0">
                <a:latin typeface="Calibri" panose="020F0502020204030204" pitchFamily="34" charset="0"/>
                <a:ea typeface="Calibri" panose="020F0502020204030204" pitchFamily="34" charset="0"/>
                <a:cs typeface="Calibri" panose="020F0502020204030204" pitchFamily="34" charset="0"/>
              </a:rPr>
              <a:t> from combining these therapies.</a:t>
            </a:r>
          </a:p>
          <a:p>
            <a:pPr marL="685800" indent="-685800" defTabSz="1300162">
              <a:spcBef>
                <a:spcPts val="700"/>
              </a:spcBef>
              <a:buFontTx/>
              <a:buChar char="•"/>
              <a:defRPr sz="4500">
                <a:latin typeface="Arial"/>
                <a:ea typeface="Arial"/>
                <a:cs typeface="Arial"/>
                <a:sym typeface="Arial"/>
              </a:defRPr>
            </a:pPr>
            <a:endParaRPr lang="en-US" dirty="0"/>
          </a:p>
          <a:p>
            <a:pPr marL="685800" indent="-685800" defTabSz="1300162">
              <a:spcBef>
                <a:spcPts val="700"/>
              </a:spcBef>
              <a:buFontTx/>
              <a:buChar char="•"/>
              <a:defRPr sz="4500">
                <a:latin typeface="Arial"/>
                <a:ea typeface="Arial"/>
                <a:cs typeface="Arial"/>
                <a:sym typeface="Arial"/>
              </a:defRPr>
            </a:pPr>
            <a:endParaRPr dirty="0"/>
          </a:p>
        </p:txBody>
      </p:sp>
    </p:spTree>
    <p:extLst>
      <p:ext uri="{BB962C8B-B14F-4D97-AF65-F5344CB8AC3E}">
        <p14:creationId xmlns:p14="http://schemas.microsoft.com/office/powerpoint/2010/main" val="14056940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800" cy="975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Freeform: Shape 8">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8720" y="0"/>
            <a:ext cx="10627360" cy="97536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96441" y="0"/>
            <a:ext cx="10611917" cy="97536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AC9FED5-60F6-4D09-898C-E7E24249BA2E}"/>
              </a:ext>
            </a:extLst>
          </p:cNvPr>
          <p:cNvSpPr>
            <a:spLocks noGrp="1"/>
          </p:cNvSpPr>
          <p:nvPr>
            <p:ph type="ctrTitle"/>
          </p:nvPr>
        </p:nvSpPr>
        <p:spPr>
          <a:xfrm>
            <a:off x="1625603" y="2843896"/>
            <a:ext cx="9753600" cy="3931062"/>
          </a:xfrm>
        </p:spPr>
        <p:txBody>
          <a:bodyPr anchor="ctr">
            <a:normAutofit/>
          </a:bodyPr>
          <a:lstStyle/>
          <a:p>
            <a:pPr>
              <a:buNone/>
            </a:pPr>
            <a:r>
              <a:rPr lang="en-US" sz="8900"/>
              <a:t>SGLT2 Inhibitors</a:t>
            </a:r>
          </a:p>
        </p:txBody>
      </p:sp>
      <p:sp>
        <p:nvSpPr>
          <p:cNvPr id="13" name="Rectangle 12">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66464" y="7857473"/>
            <a:ext cx="5071872" cy="390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79836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 name="Shape 187"/>
          <p:cNvSpPr>
            <a:spLocks noGrp="1"/>
          </p:cNvSpPr>
          <p:nvPr>
            <p:ph type="title" idx="4294967295"/>
          </p:nvPr>
        </p:nvSpPr>
        <p:spPr>
          <a:xfrm>
            <a:off x="1269999" y="0"/>
            <a:ext cx="10464802" cy="1318846"/>
          </a:xfrm>
          <a:prstGeom prst="rect">
            <a:avLst/>
          </a:prstGeom>
        </p:spPr>
        <p:txBody>
          <a:bodyPr lIns="50800" tIns="50800" rIns="50800" bIns="50800" anchor="ctr">
            <a:noAutofit/>
          </a:bodyPr>
          <a:lstStyle>
            <a:lvl1pPr>
              <a:defRPr sz="6000">
                <a:latin typeface="Arial"/>
                <a:ea typeface="Arial"/>
                <a:cs typeface="Arial"/>
                <a:sym typeface="Arial"/>
              </a:defRPr>
            </a:lvl1pPr>
          </a:lstStyle>
          <a:p>
            <a:pPr>
              <a:buNone/>
            </a:pPr>
            <a:r>
              <a:rPr lang="en-US" sz="4400" dirty="0"/>
              <a:t>SGLT2 Inhibitors: Mechanism of Action</a:t>
            </a:r>
            <a:endParaRPr sz="4400" dirty="0"/>
          </a:p>
        </p:txBody>
      </p:sp>
      <p:sp>
        <p:nvSpPr>
          <p:cNvPr id="188" name="Shape 188"/>
          <p:cNvSpPr>
            <a:spLocks noGrp="1"/>
          </p:cNvSpPr>
          <p:nvPr>
            <p:ph type="body" idx="4294967295"/>
          </p:nvPr>
        </p:nvSpPr>
        <p:spPr>
          <a:xfrm>
            <a:off x="254000" y="1529863"/>
            <a:ext cx="12573000" cy="7614138"/>
          </a:xfrm>
          <a:prstGeom prst="rect">
            <a:avLst/>
          </a:prstGeom>
        </p:spPr>
        <p:txBody>
          <a:bodyPr lIns="50800" tIns="50800" rIns="50800" bIns="50800" anchor="ctr">
            <a:normAutofit/>
          </a:bodyPr>
          <a:lstStyle/>
          <a:p>
            <a:pPr marL="571500" indent="-114300">
              <a:lnSpc>
                <a:spcPct val="120000"/>
              </a:lnSpc>
              <a:spcBef>
                <a:spcPts val="1200"/>
              </a:spcBef>
              <a:buClrTx/>
              <a:buFont typeface="Arial" panose="020B0604020202020204" pitchFamily="34" charset="0"/>
              <a:buChar char="•"/>
              <a:defRPr sz="4400">
                <a:latin typeface="Arial"/>
                <a:ea typeface="Arial"/>
                <a:cs typeface="Arial"/>
                <a:sym typeface="Arial"/>
              </a:defRPr>
            </a:pPr>
            <a:r>
              <a:rPr lang="en-US" sz="3200" dirty="0">
                <a:latin typeface="Calibri" panose="020F0502020204030204" pitchFamily="34" charset="0"/>
                <a:ea typeface="Calibri" panose="020F0502020204030204" pitchFamily="34" charset="0"/>
                <a:cs typeface="Calibri" panose="020F0502020204030204" pitchFamily="34" charset="0"/>
                <a:sym typeface="Arial"/>
              </a:rPr>
              <a:t>SGLT2 is a </a:t>
            </a:r>
            <a:r>
              <a:rPr lang="en-US" sz="3200" b="1" dirty="0">
                <a:latin typeface="Calibri" panose="020F0502020204030204" pitchFamily="34" charset="0"/>
                <a:ea typeface="Calibri" panose="020F0502020204030204" pitchFamily="34" charset="0"/>
                <a:cs typeface="Calibri" panose="020F0502020204030204" pitchFamily="34" charset="0"/>
                <a:sym typeface="Arial"/>
              </a:rPr>
              <a:t>sodium-glucose cotransporter</a:t>
            </a:r>
            <a:r>
              <a:rPr lang="en-US" sz="3200" dirty="0">
                <a:latin typeface="Calibri" panose="020F0502020204030204" pitchFamily="34" charset="0"/>
                <a:ea typeface="Calibri" panose="020F0502020204030204" pitchFamily="34" charset="0"/>
                <a:cs typeface="Calibri" panose="020F0502020204030204" pitchFamily="34" charset="0"/>
                <a:sym typeface="Arial"/>
              </a:rPr>
              <a:t> in the proximal renal tubule</a:t>
            </a:r>
          </a:p>
          <a:p>
            <a:pPr marL="571500" indent="-114300">
              <a:lnSpc>
                <a:spcPct val="120000"/>
              </a:lnSpc>
              <a:spcBef>
                <a:spcPts val="1200"/>
              </a:spcBef>
              <a:buClrTx/>
              <a:buFont typeface="Arial" panose="020B0604020202020204" pitchFamily="34" charset="0"/>
              <a:buChar char="•"/>
              <a:defRPr sz="4400">
                <a:latin typeface="Arial"/>
                <a:ea typeface="Arial"/>
                <a:cs typeface="Arial"/>
                <a:sym typeface="Arial"/>
              </a:defRPr>
            </a:pPr>
            <a:r>
              <a:rPr lang="en-US" sz="3200" dirty="0">
                <a:latin typeface="Calibri" panose="020F0502020204030204" pitchFamily="34" charset="0"/>
                <a:ea typeface="Calibri" panose="020F0502020204030204" pitchFamily="34" charset="0"/>
                <a:cs typeface="Calibri" panose="020F0502020204030204" pitchFamily="34" charset="0"/>
                <a:sym typeface="Arial"/>
              </a:rPr>
              <a:t>Responsible for the majority of </a:t>
            </a:r>
            <a:r>
              <a:rPr lang="en-US" sz="3200" b="1" dirty="0">
                <a:latin typeface="Calibri" panose="020F0502020204030204" pitchFamily="34" charset="0"/>
                <a:ea typeface="Calibri" panose="020F0502020204030204" pitchFamily="34" charset="0"/>
                <a:cs typeface="Calibri" panose="020F0502020204030204" pitchFamily="34" charset="0"/>
                <a:sym typeface="Arial"/>
              </a:rPr>
              <a:t>filtered glucose reabsorption</a:t>
            </a:r>
          </a:p>
          <a:p>
            <a:pPr marL="571500" indent="-114300">
              <a:lnSpc>
                <a:spcPct val="120000"/>
              </a:lnSpc>
              <a:spcBef>
                <a:spcPts val="1200"/>
              </a:spcBef>
              <a:buClrTx/>
              <a:buFont typeface="Arial" panose="020B0604020202020204" pitchFamily="34" charset="0"/>
              <a:buChar char="•"/>
              <a:defRPr sz="4400">
                <a:latin typeface="Arial"/>
                <a:ea typeface="Arial"/>
                <a:cs typeface="Arial"/>
                <a:sym typeface="Arial"/>
              </a:defRPr>
            </a:pPr>
            <a:r>
              <a:rPr lang="en-US" sz="3200" dirty="0">
                <a:latin typeface="Calibri" panose="020F0502020204030204" pitchFamily="34" charset="0"/>
                <a:ea typeface="Calibri" panose="020F0502020204030204" pitchFamily="34" charset="0"/>
                <a:cs typeface="Calibri" panose="020F0502020204030204" pitchFamily="34" charset="0"/>
                <a:sym typeface="Arial"/>
              </a:rPr>
              <a:t>SGLT2 inhibition → ↓ glucose reabsorption → </a:t>
            </a:r>
            <a:r>
              <a:rPr lang="en-US" sz="3200" b="1" dirty="0">
                <a:latin typeface="Calibri" panose="020F0502020204030204" pitchFamily="34" charset="0"/>
                <a:ea typeface="Calibri" panose="020F0502020204030204" pitchFamily="34" charset="0"/>
                <a:cs typeface="Calibri" panose="020F0502020204030204" pitchFamily="34" charset="0"/>
                <a:sym typeface="Arial"/>
              </a:rPr>
              <a:t>↑ urinary glucose excretion</a:t>
            </a:r>
          </a:p>
          <a:p>
            <a:pPr marL="571500" indent="-114300">
              <a:lnSpc>
                <a:spcPct val="120000"/>
              </a:lnSpc>
              <a:spcBef>
                <a:spcPts val="1200"/>
              </a:spcBef>
              <a:buClrTx/>
              <a:buFont typeface="Arial" panose="020B0604020202020204" pitchFamily="34" charset="0"/>
              <a:buChar char="•"/>
              <a:defRPr sz="4400">
                <a:latin typeface="Arial"/>
                <a:ea typeface="Arial"/>
                <a:cs typeface="Arial"/>
                <a:sym typeface="Arial"/>
              </a:defRPr>
            </a:pPr>
            <a:r>
              <a:rPr lang="en-US" sz="3200" dirty="0">
                <a:latin typeface="Calibri" panose="020F0502020204030204" pitchFamily="34" charset="0"/>
                <a:ea typeface="Calibri" panose="020F0502020204030204" pitchFamily="34" charset="0"/>
                <a:cs typeface="Calibri" panose="020F0502020204030204" pitchFamily="34" charset="0"/>
                <a:sym typeface="Arial"/>
              </a:rPr>
              <a:t>Results in </a:t>
            </a:r>
            <a:r>
              <a:rPr lang="en-US" sz="3200" b="1" dirty="0">
                <a:latin typeface="Calibri" panose="020F0502020204030204" pitchFamily="34" charset="0"/>
                <a:ea typeface="Calibri" panose="020F0502020204030204" pitchFamily="34" charset="0"/>
                <a:cs typeface="Calibri" panose="020F0502020204030204" pitchFamily="34" charset="0"/>
                <a:sym typeface="Arial"/>
              </a:rPr>
              <a:t>glucosuria and osmotic diuresis</a:t>
            </a:r>
          </a:p>
          <a:p>
            <a:pPr marL="571500" indent="-114300">
              <a:lnSpc>
                <a:spcPct val="120000"/>
              </a:lnSpc>
              <a:spcBef>
                <a:spcPts val="1200"/>
              </a:spcBef>
              <a:buClrTx/>
              <a:buFont typeface="Arial" panose="020B0604020202020204" pitchFamily="34" charset="0"/>
              <a:buChar char="•"/>
              <a:defRPr sz="4400">
                <a:latin typeface="Arial"/>
                <a:ea typeface="Arial"/>
                <a:cs typeface="Arial"/>
                <a:sym typeface="Arial"/>
              </a:defRPr>
            </a:pPr>
            <a:r>
              <a:rPr lang="en-US" sz="3200" dirty="0">
                <a:latin typeface="Calibri" panose="020F0502020204030204" pitchFamily="34" charset="0"/>
                <a:ea typeface="Calibri" panose="020F0502020204030204" pitchFamily="34" charset="0"/>
                <a:cs typeface="Calibri" panose="020F0502020204030204" pitchFamily="34" charset="0"/>
                <a:sym typeface="Arial"/>
              </a:rPr>
              <a:t>Mechanism is </a:t>
            </a:r>
            <a:r>
              <a:rPr lang="en-US" sz="3200" b="1" dirty="0">
                <a:latin typeface="Calibri" panose="020F0502020204030204" pitchFamily="34" charset="0"/>
                <a:ea typeface="Calibri" panose="020F0502020204030204" pitchFamily="34" charset="0"/>
                <a:cs typeface="Calibri" panose="020F0502020204030204" pitchFamily="34" charset="0"/>
                <a:sym typeface="Arial"/>
              </a:rPr>
              <a:t>independent of insulin</a:t>
            </a:r>
            <a:endParaRPr sz="3200" b="1" dirty="0">
              <a:latin typeface="Calibri" panose="020F0502020204030204" pitchFamily="34" charset="0"/>
              <a:ea typeface="Calibri" panose="020F0502020204030204" pitchFamily="34" charset="0"/>
              <a:cs typeface="Calibri" panose="020F0502020204030204" pitchFamily="34" charset="0"/>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79314" y="6485792"/>
            <a:ext cx="4747686" cy="3159369"/>
          </a:xfrm>
          <a:prstGeom prst="rect">
            <a:avLst/>
          </a:prstGeom>
        </p:spPr>
      </p:pic>
    </p:spTree>
    <p:extLst>
      <p:ext uri="{BB962C8B-B14F-4D97-AF65-F5344CB8AC3E}">
        <p14:creationId xmlns:p14="http://schemas.microsoft.com/office/powerpoint/2010/main" val="80180930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 name="Shape 187"/>
          <p:cNvSpPr>
            <a:spLocks noGrp="1"/>
          </p:cNvSpPr>
          <p:nvPr>
            <p:ph type="title" idx="4294967295"/>
          </p:nvPr>
        </p:nvSpPr>
        <p:spPr>
          <a:xfrm>
            <a:off x="1269999" y="482600"/>
            <a:ext cx="10464802" cy="1270000"/>
          </a:xfrm>
          <a:prstGeom prst="rect">
            <a:avLst/>
          </a:prstGeom>
        </p:spPr>
        <p:txBody>
          <a:bodyPr lIns="50800" tIns="50800" rIns="50800" bIns="50800" anchor="ctr">
            <a:normAutofit fontScale="90000"/>
          </a:bodyPr>
          <a:lstStyle>
            <a:lvl1pPr>
              <a:defRPr sz="6000">
                <a:latin typeface="Arial"/>
                <a:ea typeface="Arial"/>
                <a:cs typeface="Arial"/>
                <a:sym typeface="Arial"/>
              </a:defRPr>
            </a:lvl1pPr>
          </a:lstStyle>
          <a:p>
            <a:pPr>
              <a:buNone/>
            </a:pPr>
            <a:r>
              <a:rPr dirty="0"/>
              <a:t>SGLT2- Inhibitors</a:t>
            </a:r>
            <a:r>
              <a:rPr lang="en-US" dirty="0"/>
              <a:t>: Indications / Major Clinical Uses</a:t>
            </a:r>
            <a:endParaRPr dirty="0"/>
          </a:p>
        </p:txBody>
      </p:sp>
      <p:sp>
        <p:nvSpPr>
          <p:cNvPr id="188" name="Shape 188"/>
          <p:cNvSpPr>
            <a:spLocks noGrp="1"/>
          </p:cNvSpPr>
          <p:nvPr>
            <p:ph type="body" idx="4294967295"/>
          </p:nvPr>
        </p:nvSpPr>
        <p:spPr>
          <a:xfrm>
            <a:off x="254000" y="1752600"/>
            <a:ext cx="12573000" cy="7772400"/>
          </a:xfrm>
          <a:prstGeom prst="rect">
            <a:avLst/>
          </a:prstGeom>
        </p:spPr>
        <p:txBody>
          <a:bodyPr lIns="50800" tIns="50800" rIns="50800" bIns="50800" anchor="ctr">
            <a:normAutofit/>
          </a:bodyPr>
          <a:lstStyle/>
          <a:p>
            <a:pPr>
              <a:buClrTx/>
              <a:buSzPct val="80000"/>
              <a:buNone/>
              <a:defRPr sz="4400">
                <a:latin typeface="Arial"/>
                <a:ea typeface="Arial"/>
                <a:cs typeface="Arial"/>
                <a:sym typeface="Arial"/>
              </a:defRPr>
            </a:pPr>
            <a:r>
              <a:rPr lang="en-US" sz="3200" b="1" dirty="0">
                <a:latin typeface="Calibri" panose="020F0502020204030204" pitchFamily="34" charset="0"/>
                <a:ea typeface="Calibri" panose="020F0502020204030204" pitchFamily="34" charset="0"/>
                <a:cs typeface="Calibri" panose="020F0502020204030204" pitchFamily="34" charset="0"/>
                <a:sym typeface="Arial"/>
              </a:rPr>
              <a:t>Type 2 diabetes</a:t>
            </a:r>
          </a:p>
          <a:p>
            <a:pPr>
              <a:buClrTx/>
              <a:buSzPct val="80000"/>
              <a:buNone/>
              <a:defRPr sz="4400">
                <a:latin typeface="Arial"/>
                <a:ea typeface="Arial"/>
                <a:cs typeface="Arial"/>
                <a:sym typeface="Arial"/>
              </a:defRPr>
            </a:pPr>
            <a:r>
              <a:rPr lang="en-US" sz="3200" b="1" dirty="0">
                <a:latin typeface="Calibri" panose="020F0502020204030204" pitchFamily="34" charset="0"/>
                <a:ea typeface="Calibri" panose="020F0502020204030204" pitchFamily="34" charset="0"/>
                <a:cs typeface="Calibri" panose="020F0502020204030204" pitchFamily="34" charset="0"/>
                <a:sym typeface="Arial"/>
              </a:rPr>
              <a:t>Heart failure — HFrEF or HFpEF</a:t>
            </a:r>
          </a:p>
          <a:p>
            <a:pPr>
              <a:buClrTx/>
              <a:buSzPct val="80000"/>
              <a:buNone/>
              <a:defRPr sz="4400">
                <a:latin typeface="Arial"/>
                <a:ea typeface="Arial"/>
                <a:cs typeface="Arial"/>
                <a:sym typeface="Arial"/>
              </a:defRPr>
            </a:pPr>
            <a:r>
              <a:rPr lang="en-US" sz="3200" b="1" dirty="0">
                <a:latin typeface="Calibri" panose="020F0502020204030204" pitchFamily="34" charset="0"/>
                <a:ea typeface="Calibri" panose="020F0502020204030204" pitchFamily="34" charset="0"/>
                <a:cs typeface="Calibri" panose="020F0502020204030204" pitchFamily="34" charset="0"/>
                <a:sym typeface="Arial"/>
              </a:rPr>
              <a:t>Chronic kidney disease</a:t>
            </a:r>
          </a:p>
          <a:p>
            <a:pPr>
              <a:buClrTx/>
              <a:buSzPct val="80000"/>
              <a:buNone/>
              <a:defRPr sz="4400">
                <a:latin typeface="Arial"/>
                <a:ea typeface="Arial"/>
                <a:cs typeface="Arial"/>
                <a:sym typeface="Arial"/>
              </a:defRPr>
            </a:pPr>
            <a:r>
              <a:rPr lang="en-US" sz="3200" b="1" dirty="0">
                <a:latin typeface="Calibri" panose="020F0502020204030204" pitchFamily="34" charset="0"/>
                <a:ea typeface="Calibri" panose="020F0502020204030204" pitchFamily="34" charset="0"/>
                <a:cs typeface="Calibri" panose="020F0502020204030204" pitchFamily="34" charset="0"/>
                <a:sym typeface="Arial"/>
              </a:rPr>
              <a:t>Cardiovascular risk reduction</a:t>
            </a:r>
            <a:r>
              <a:rPr lang="en-US" sz="3200" dirty="0">
                <a:latin typeface="Calibri" panose="020F0502020204030204" pitchFamily="34" charset="0"/>
                <a:ea typeface="Calibri" panose="020F0502020204030204" pitchFamily="34" charset="0"/>
                <a:cs typeface="Calibri" panose="020F0502020204030204" pitchFamily="34" charset="0"/>
                <a:sym typeface="Arial"/>
              </a:rPr>
              <a:t> in selected patients with T2DM</a:t>
            </a:r>
            <a:endParaRPr lang="en-US" sz="32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049065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 name="Shape 187"/>
          <p:cNvSpPr>
            <a:spLocks noGrp="1"/>
          </p:cNvSpPr>
          <p:nvPr>
            <p:ph type="title" idx="4294967295"/>
          </p:nvPr>
        </p:nvSpPr>
        <p:spPr>
          <a:xfrm>
            <a:off x="1269999" y="254000"/>
            <a:ext cx="10464802" cy="1270000"/>
          </a:xfrm>
          <a:prstGeom prst="rect">
            <a:avLst/>
          </a:prstGeom>
        </p:spPr>
        <p:txBody>
          <a:bodyPr lIns="50800" tIns="50800" rIns="50800" bIns="50800" anchor="ctr">
            <a:normAutofit fontScale="90000"/>
          </a:bodyPr>
          <a:lstStyle>
            <a:lvl1pPr>
              <a:defRPr sz="6000">
                <a:latin typeface="Arial"/>
                <a:ea typeface="Arial"/>
                <a:cs typeface="Arial"/>
                <a:sym typeface="Arial"/>
              </a:defRPr>
            </a:lvl1pPr>
          </a:lstStyle>
          <a:p>
            <a:pPr>
              <a:buNone/>
            </a:pPr>
            <a:r>
              <a:rPr lang="en-US" dirty="0"/>
              <a:t>SGLT2 Inhibitors: Clinical Effects</a:t>
            </a:r>
            <a:endParaRPr dirty="0"/>
          </a:p>
        </p:txBody>
      </p:sp>
      <p:sp>
        <p:nvSpPr>
          <p:cNvPr id="188" name="Shape 188"/>
          <p:cNvSpPr>
            <a:spLocks noGrp="1"/>
          </p:cNvSpPr>
          <p:nvPr>
            <p:ph type="body" idx="4294967295"/>
          </p:nvPr>
        </p:nvSpPr>
        <p:spPr>
          <a:xfrm>
            <a:off x="254000" y="1752600"/>
            <a:ext cx="12573000" cy="7772400"/>
          </a:xfrm>
          <a:prstGeom prst="rect">
            <a:avLst/>
          </a:prstGeom>
        </p:spPr>
        <p:txBody>
          <a:bodyPr lIns="50800" tIns="50800" rIns="50800" bIns="50800" anchor="ctr">
            <a:normAutofit/>
          </a:bodyPr>
          <a:lstStyle/>
          <a:p>
            <a:pPr marL="571500" indent="-571500">
              <a:spcBef>
                <a:spcPts val="1200"/>
              </a:spcBef>
              <a:buClrTx/>
              <a:buSzPct val="80000"/>
              <a:buFontTx/>
              <a:buChar char="•"/>
              <a:defRPr sz="4400">
                <a:latin typeface="Arial"/>
                <a:ea typeface="Arial"/>
                <a:cs typeface="Arial"/>
                <a:sym typeface="Arial"/>
              </a:defRPr>
            </a:pPr>
            <a:r>
              <a:rPr lang="en-US" sz="3200" b="1" dirty="0">
                <a:latin typeface="Calibri" panose="020F0502020204030204" pitchFamily="34" charset="0"/>
                <a:ea typeface="Calibri" panose="020F0502020204030204" pitchFamily="34" charset="0"/>
                <a:cs typeface="Calibri" panose="020F0502020204030204" pitchFamily="34" charset="0"/>
                <a:sym typeface="Arial"/>
              </a:rPr>
              <a:t>Expected A1C reduction: </a:t>
            </a:r>
            <a:r>
              <a:rPr lang="en-US" sz="3200" dirty="0">
                <a:latin typeface="Calibri" panose="020F0502020204030204" pitchFamily="34" charset="0"/>
                <a:ea typeface="Calibri" panose="020F0502020204030204" pitchFamily="34" charset="0"/>
                <a:cs typeface="Calibri" panose="020F0502020204030204" pitchFamily="34" charset="0"/>
                <a:sym typeface="Arial"/>
              </a:rPr>
              <a:t>~0.5–1%</a:t>
            </a:r>
          </a:p>
          <a:p>
            <a:pPr marL="571500" indent="-571500">
              <a:spcBef>
                <a:spcPts val="1200"/>
              </a:spcBef>
              <a:buClrTx/>
              <a:buSzPct val="80000"/>
              <a:buFontTx/>
              <a:buChar char="•"/>
              <a:defRPr sz="4400">
                <a:latin typeface="Arial"/>
                <a:ea typeface="Arial"/>
                <a:cs typeface="Arial"/>
                <a:sym typeface="Arial"/>
              </a:defRPr>
            </a:pPr>
            <a:r>
              <a:rPr lang="en-US" sz="3200" b="1" dirty="0">
                <a:latin typeface="Calibri" panose="020F0502020204030204" pitchFamily="34" charset="0"/>
                <a:ea typeface="Calibri" panose="020F0502020204030204" pitchFamily="34" charset="0"/>
                <a:cs typeface="Calibri" panose="020F0502020204030204" pitchFamily="34" charset="0"/>
                <a:sym typeface="Arial"/>
              </a:rPr>
              <a:t>Low risk of hypoglycemia</a:t>
            </a:r>
            <a:r>
              <a:rPr lang="en-US" sz="3200" dirty="0">
                <a:latin typeface="Calibri" panose="020F0502020204030204" pitchFamily="34" charset="0"/>
                <a:ea typeface="Calibri" panose="020F0502020204030204" pitchFamily="34" charset="0"/>
                <a:cs typeface="Calibri" panose="020F0502020204030204" pitchFamily="34" charset="0"/>
                <a:sym typeface="Arial"/>
              </a:rPr>
              <a:t> when used alone</a:t>
            </a:r>
          </a:p>
          <a:p>
            <a:pPr marL="571500" indent="-571500">
              <a:spcBef>
                <a:spcPts val="1200"/>
              </a:spcBef>
              <a:buClrTx/>
              <a:buSzPct val="80000"/>
              <a:buFontTx/>
              <a:buChar char="•"/>
              <a:defRPr sz="4400">
                <a:latin typeface="Arial"/>
                <a:ea typeface="Arial"/>
                <a:cs typeface="Arial"/>
                <a:sym typeface="Arial"/>
              </a:defRPr>
            </a:pPr>
            <a:r>
              <a:rPr lang="en-US" sz="3200" b="1" dirty="0">
                <a:latin typeface="Calibri" panose="020F0502020204030204" pitchFamily="34" charset="0"/>
                <a:ea typeface="Calibri" panose="020F0502020204030204" pitchFamily="34" charset="0"/>
                <a:cs typeface="Calibri" panose="020F0502020204030204" pitchFamily="34" charset="0"/>
                <a:sym typeface="Arial"/>
              </a:rPr>
              <a:t>Modest weight loss</a:t>
            </a:r>
          </a:p>
          <a:p>
            <a:pPr marL="571500" indent="-571500">
              <a:spcBef>
                <a:spcPts val="1200"/>
              </a:spcBef>
              <a:buClrTx/>
              <a:buSzPct val="80000"/>
              <a:buFontTx/>
              <a:buChar char="•"/>
              <a:defRPr sz="4400">
                <a:latin typeface="Arial"/>
                <a:ea typeface="Arial"/>
                <a:cs typeface="Arial"/>
                <a:sym typeface="Arial"/>
              </a:defRPr>
            </a:pPr>
            <a:r>
              <a:rPr lang="en-US" sz="3200" b="1" dirty="0">
                <a:latin typeface="Calibri" panose="020F0502020204030204" pitchFamily="34" charset="0"/>
                <a:ea typeface="Calibri" panose="020F0502020204030204" pitchFamily="34" charset="0"/>
                <a:cs typeface="Calibri" panose="020F0502020204030204" pitchFamily="34" charset="0"/>
                <a:sym typeface="Arial"/>
              </a:rPr>
              <a:t>Modest reduction in blood pressure</a:t>
            </a:r>
          </a:p>
          <a:p>
            <a:pPr marL="571500" indent="-571500">
              <a:spcBef>
                <a:spcPts val="1200"/>
              </a:spcBef>
              <a:buClrTx/>
              <a:buSzPct val="80000"/>
              <a:buFontTx/>
              <a:buChar char="•"/>
              <a:defRPr sz="4400">
                <a:latin typeface="Arial"/>
                <a:ea typeface="Arial"/>
                <a:cs typeface="Arial"/>
                <a:sym typeface="Arial"/>
              </a:defRPr>
            </a:pPr>
            <a:r>
              <a:rPr lang="en-US" sz="3200" b="1" dirty="0">
                <a:latin typeface="Calibri" panose="020F0502020204030204" pitchFamily="34" charset="0"/>
                <a:ea typeface="Calibri" panose="020F0502020204030204" pitchFamily="34" charset="0"/>
                <a:cs typeface="Calibri" panose="020F0502020204030204" pitchFamily="34" charset="0"/>
                <a:sym typeface="Arial"/>
              </a:rPr>
              <a:t>Intermediate glucose-lowering efficacy</a:t>
            </a:r>
          </a:p>
          <a:p>
            <a:pPr marL="571500" indent="-571500">
              <a:spcBef>
                <a:spcPts val="1200"/>
              </a:spcBef>
              <a:buClrTx/>
              <a:buSzPct val="80000"/>
              <a:buFontTx/>
              <a:buChar char="•"/>
              <a:defRPr sz="4400">
                <a:latin typeface="Arial"/>
                <a:ea typeface="Arial"/>
                <a:cs typeface="Arial"/>
                <a:sym typeface="Arial"/>
              </a:defRPr>
            </a:pPr>
            <a:r>
              <a:rPr lang="en-US" sz="3200" dirty="0">
                <a:latin typeface="Calibri" panose="020F0502020204030204" pitchFamily="34" charset="0"/>
                <a:ea typeface="Calibri" panose="020F0502020204030204" pitchFamily="34" charset="0"/>
                <a:cs typeface="Calibri" panose="020F0502020204030204" pitchFamily="34" charset="0"/>
                <a:sym typeface="Arial"/>
              </a:rPr>
              <a:t>Glucose-lowering effect </a:t>
            </a:r>
            <a:r>
              <a:rPr lang="en-US" sz="3200" b="1" dirty="0">
                <a:latin typeface="Calibri" panose="020F0502020204030204" pitchFamily="34" charset="0"/>
                <a:ea typeface="Calibri" panose="020F0502020204030204" pitchFamily="34" charset="0"/>
                <a:cs typeface="Calibri" panose="020F0502020204030204" pitchFamily="34" charset="0"/>
                <a:sym typeface="Arial"/>
              </a:rPr>
              <a:t>decreases as renal function declines</a:t>
            </a:r>
            <a:endParaRPr lang="en-US" sz="3200" b="1"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5359304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 name="Shape 187"/>
          <p:cNvSpPr>
            <a:spLocks noGrp="1"/>
          </p:cNvSpPr>
          <p:nvPr>
            <p:ph type="title" idx="4294967295"/>
          </p:nvPr>
        </p:nvSpPr>
        <p:spPr>
          <a:xfrm>
            <a:off x="1269999" y="254000"/>
            <a:ext cx="10464802" cy="1270000"/>
          </a:xfrm>
          <a:prstGeom prst="rect">
            <a:avLst/>
          </a:prstGeom>
        </p:spPr>
        <p:txBody>
          <a:bodyPr lIns="50800" tIns="50800" rIns="50800" bIns="50800" anchor="ctr">
            <a:normAutofit fontScale="90000"/>
          </a:bodyPr>
          <a:lstStyle>
            <a:lvl1pPr>
              <a:defRPr sz="6000">
                <a:latin typeface="Arial"/>
                <a:ea typeface="Arial"/>
                <a:cs typeface="Arial"/>
                <a:sym typeface="Arial"/>
              </a:defRPr>
            </a:lvl1pPr>
          </a:lstStyle>
          <a:p>
            <a:pPr>
              <a:buNone/>
            </a:pPr>
            <a:r>
              <a:rPr lang="en-US" b="1" dirty="0"/>
              <a:t>SGLT2 Inhibitors: Medications</a:t>
            </a:r>
          </a:p>
        </p:txBody>
      </p:sp>
      <p:sp>
        <p:nvSpPr>
          <p:cNvPr id="188" name="Shape 188"/>
          <p:cNvSpPr>
            <a:spLocks noGrp="1"/>
          </p:cNvSpPr>
          <p:nvPr>
            <p:ph type="body" idx="4294967295"/>
          </p:nvPr>
        </p:nvSpPr>
        <p:spPr>
          <a:xfrm>
            <a:off x="254000" y="2502568"/>
            <a:ext cx="12573000" cy="4507832"/>
          </a:xfrm>
          <a:prstGeom prst="rect">
            <a:avLst/>
          </a:prstGeom>
        </p:spPr>
        <p:txBody>
          <a:bodyPr lIns="50800" tIns="50800" rIns="50800" bIns="50800" anchor="ctr">
            <a:normAutofit/>
          </a:bodyPr>
          <a:lstStyle/>
          <a:p>
            <a:pPr marL="1082675" indent="-742950">
              <a:spcBef>
                <a:spcPts val="1200"/>
              </a:spcBef>
              <a:buClrTx/>
              <a:buSzPct val="80000"/>
              <a:buFont typeface="+mj-lt"/>
              <a:buAutoNum type="arabicPeriod"/>
              <a:defRPr sz="4400">
                <a:latin typeface="Arial"/>
                <a:ea typeface="Arial"/>
                <a:cs typeface="Arial"/>
                <a:sym typeface="Arial"/>
              </a:defRPr>
            </a:pPr>
            <a:r>
              <a:rPr lang="en-US" sz="3200" b="1" dirty="0">
                <a:latin typeface="Calibri" panose="020F0502020204030204" pitchFamily="34" charset="0"/>
                <a:ea typeface="Calibri" panose="020F0502020204030204" pitchFamily="34" charset="0"/>
                <a:cs typeface="Calibri" panose="020F0502020204030204" pitchFamily="34" charset="0"/>
                <a:sym typeface="Arial"/>
              </a:rPr>
              <a:t>Empagliflozin (Jardiance)</a:t>
            </a:r>
          </a:p>
          <a:p>
            <a:pPr marL="1082675" indent="-742950">
              <a:spcBef>
                <a:spcPts val="1200"/>
              </a:spcBef>
              <a:buClrTx/>
              <a:buSzPct val="80000"/>
              <a:buFont typeface="+mj-lt"/>
              <a:buAutoNum type="arabicPeriod"/>
              <a:defRPr sz="4400">
                <a:latin typeface="Arial"/>
                <a:ea typeface="Arial"/>
                <a:cs typeface="Arial"/>
                <a:sym typeface="Arial"/>
              </a:defRPr>
            </a:pPr>
            <a:r>
              <a:rPr lang="en-US" sz="3200" b="1" dirty="0">
                <a:latin typeface="Calibri" panose="020F0502020204030204" pitchFamily="34" charset="0"/>
                <a:ea typeface="Calibri" panose="020F0502020204030204" pitchFamily="34" charset="0"/>
                <a:cs typeface="Calibri" panose="020F0502020204030204" pitchFamily="34" charset="0"/>
                <a:sym typeface="Arial"/>
              </a:rPr>
              <a:t>Dapagliflozin (</a:t>
            </a:r>
            <a:r>
              <a:rPr lang="en-US" sz="3200" b="1" dirty="0" err="1">
                <a:latin typeface="Calibri" panose="020F0502020204030204" pitchFamily="34" charset="0"/>
                <a:ea typeface="Calibri" panose="020F0502020204030204" pitchFamily="34" charset="0"/>
                <a:cs typeface="Calibri" panose="020F0502020204030204" pitchFamily="34" charset="0"/>
                <a:sym typeface="Arial"/>
              </a:rPr>
              <a:t>Farxiga</a:t>
            </a:r>
            <a:r>
              <a:rPr lang="en-US" sz="3200" b="1" dirty="0">
                <a:latin typeface="Calibri" panose="020F0502020204030204" pitchFamily="34" charset="0"/>
                <a:ea typeface="Calibri" panose="020F0502020204030204" pitchFamily="34" charset="0"/>
                <a:cs typeface="Calibri" panose="020F0502020204030204" pitchFamily="34" charset="0"/>
                <a:sym typeface="Arial"/>
              </a:rPr>
              <a:t>)</a:t>
            </a:r>
          </a:p>
          <a:p>
            <a:pPr marL="1082675" indent="-742950">
              <a:spcBef>
                <a:spcPts val="1200"/>
              </a:spcBef>
              <a:buClrTx/>
              <a:buSzPct val="80000"/>
              <a:buFont typeface="+mj-lt"/>
              <a:buAutoNum type="arabicPeriod"/>
              <a:defRPr sz="4400">
                <a:latin typeface="Arial"/>
                <a:ea typeface="Arial"/>
                <a:cs typeface="Arial"/>
                <a:sym typeface="Arial"/>
              </a:defRPr>
            </a:pPr>
            <a:r>
              <a:rPr lang="en-US" sz="3200" b="1" dirty="0">
                <a:latin typeface="Calibri" panose="020F0502020204030204" pitchFamily="34" charset="0"/>
                <a:ea typeface="Calibri" panose="020F0502020204030204" pitchFamily="34" charset="0"/>
                <a:cs typeface="Calibri" panose="020F0502020204030204" pitchFamily="34" charset="0"/>
                <a:sym typeface="Arial"/>
              </a:rPr>
              <a:t>Canagliflozin (Invokana)</a:t>
            </a:r>
          </a:p>
          <a:p>
            <a:pPr marL="1082675" indent="-742950">
              <a:spcBef>
                <a:spcPts val="1200"/>
              </a:spcBef>
              <a:buClrTx/>
              <a:buSzPct val="80000"/>
              <a:buFont typeface="+mj-lt"/>
              <a:buAutoNum type="arabicPeriod"/>
              <a:defRPr sz="4400">
                <a:latin typeface="Arial"/>
                <a:ea typeface="Arial"/>
                <a:cs typeface="Arial"/>
                <a:sym typeface="Arial"/>
              </a:defRPr>
            </a:pPr>
            <a:r>
              <a:rPr lang="en-US" sz="3200" b="1" dirty="0">
                <a:latin typeface="Calibri" panose="020F0502020204030204" pitchFamily="34" charset="0"/>
                <a:ea typeface="Calibri" panose="020F0502020204030204" pitchFamily="34" charset="0"/>
                <a:cs typeface="Calibri" panose="020F0502020204030204" pitchFamily="34" charset="0"/>
                <a:sym typeface="Arial"/>
              </a:rPr>
              <a:t>Ertugliflozin (</a:t>
            </a:r>
            <a:r>
              <a:rPr lang="en-US" sz="3200" b="1" dirty="0" err="1">
                <a:latin typeface="Calibri" panose="020F0502020204030204" pitchFamily="34" charset="0"/>
                <a:ea typeface="Calibri" panose="020F0502020204030204" pitchFamily="34" charset="0"/>
                <a:cs typeface="Calibri" panose="020F0502020204030204" pitchFamily="34" charset="0"/>
                <a:sym typeface="Arial"/>
              </a:rPr>
              <a:t>Steglatro</a:t>
            </a:r>
            <a:r>
              <a:rPr lang="en-US" sz="3200" b="1" dirty="0">
                <a:latin typeface="Calibri" panose="020F0502020204030204" pitchFamily="34" charset="0"/>
                <a:ea typeface="Calibri" panose="020F0502020204030204" pitchFamily="34" charset="0"/>
                <a:cs typeface="Calibri" panose="020F0502020204030204" pitchFamily="34" charset="0"/>
                <a:sym typeface="Arial"/>
              </a:rPr>
              <a:t>)</a:t>
            </a:r>
            <a:endParaRPr lang="en-US" sz="3200" dirty="0">
              <a:latin typeface="Calibri" panose="020F0502020204030204" pitchFamily="34" charset="0"/>
              <a:ea typeface="Calibri" panose="020F0502020204030204" pitchFamily="34" charset="0"/>
              <a:cs typeface="Calibri" panose="020F0502020204030204" pitchFamily="34" charset="0"/>
            </a:endParaRPr>
          </a:p>
          <a:p>
            <a:pPr marL="571500" indent="-571500">
              <a:buClrTx/>
              <a:buSzPct val="80000"/>
              <a:buFontTx/>
              <a:buChar char="•"/>
              <a:defRPr sz="4400">
                <a:latin typeface="Arial"/>
                <a:ea typeface="Arial"/>
                <a:cs typeface="Arial"/>
                <a:sym typeface="Arial"/>
              </a:defRPr>
            </a:pPr>
            <a:endParaRPr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5384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 name="Shape 193"/>
          <p:cNvSpPr>
            <a:spLocks noGrp="1"/>
          </p:cNvSpPr>
          <p:nvPr>
            <p:ph type="title" idx="4294967295"/>
          </p:nvPr>
        </p:nvSpPr>
        <p:spPr>
          <a:xfrm>
            <a:off x="254000" y="254000"/>
            <a:ext cx="12138526" cy="1270000"/>
          </a:xfrm>
          <a:prstGeom prst="rect">
            <a:avLst/>
          </a:prstGeom>
        </p:spPr>
        <p:txBody>
          <a:bodyPr lIns="50800" tIns="50800" rIns="50800" bIns="50800" anchor="ctr">
            <a:normAutofit/>
          </a:bodyPr>
          <a:lstStyle>
            <a:lvl1pPr>
              <a:defRPr sz="6000">
                <a:latin typeface="Arial"/>
                <a:ea typeface="Arial"/>
                <a:cs typeface="Arial"/>
                <a:sym typeface="Arial"/>
              </a:defRPr>
            </a:lvl1pPr>
          </a:lstStyle>
          <a:p>
            <a:pPr>
              <a:buNone/>
            </a:pPr>
            <a:r>
              <a:t>SGLT2- Inhibitors</a:t>
            </a:r>
            <a:r>
              <a:rPr lang="en-US"/>
              <a:t> Adverse Effects</a:t>
            </a:r>
            <a:endParaRPr dirty="0"/>
          </a:p>
        </p:txBody>
      </p:sp>
      <p:sp>
        <p:nvSpPr>
          <p:cNvPr id="194" name="Shape 194"/>
          <p:cNvSpPr>
            <a:spLocks noGrp="1"/>
          </p:cNvSpPr>
          <p:nvPr>
            <p:ph type="body" idx="4294967295"/>
          </p:nvPr>
        </p:nvSpPr>
        <p:spPr>
          <a:xfrm>
            <a:off x="254000" y="1752600"/>
            <a:ext cx="12573000" cy="7696200"/>
          </a:xfrm>
          <a:prstGeom prst="rect">
            <a:avLst/>
          </a:prstGeom>
        </p:spPr>
        <p:txBody>
          <a:bodyPr lIns="50800" tIns="50800" rIns="50800" bIns="50800" anchor="ctr">
            <a:normAutofit/>
          </a:bodyPr>
          <a:lstStyle/>
          <a:p>
            <a:pPr>
              <a:spcBef>
                <a:spcPts val="1200"/>
              </a:spcBef>
            </a:pPr>
            <a:r>
              <a:rPr lang="en-US" sz="3200" b="1" dirty="0">
                <a:latin typeface="Calibri" panose="020F0502020204030204" pitchFamily="34" charset="0"/>
                <a:ea typeface="Calibri" panose="020F0502020204030204" pitchFamily="34" charset="0"/>
                <a:cs typeface="Calibri" panose="020F0502020204030204" pitchFamily="34" charset="0"/>
              </a:rPr>
              <a:t>Genital mycotic infections</a:t>
            </a:r>
            <a:r>
              <a:rPr lang="en-US" sz="3200" dirty="0">
                <a:latin typeface="Calibri" panose="020F0502020204030204" pitchFamily="34" charset="0"/>
                <a:ea typeface="Calibri" panose="020F0502020204030204" pitchFamily="34" charset="0"/>
                <a:cs typeface="Calibri" panose="020F0502020204030204" pitchFamily="34" charset="0"/>
              </a:rPr>
              <a:t>*</a:t>
            </a:r>
          </a:p>
          <a:p>
            <a:pPr>
              <a:spcBef>
                <a:spcPts val="1200"/>
              </a:spcBef>
            </a:pPr>
            <a:r>
              <a:rPr lang="en-US" sz="3200" b="1" dirty="0">
                <a:latin typeface="Calibri" panose="020F0502020204030204" pitchFamily="34" charset="0"/>
                <a:ea typeface="Calibri" panose="020F0502020204030204" pitchFamily="34" charset="0"/>
                <a:cs typeface="Calibri" panose="020F0502020204030204" pitchFamily="34" charset="0"/>
              </a:rPr>
              <a:t>Volume depletion / hypotension</a:t>
            </a:r>
          </a:p>
          <a:p>
            <a:pPr>
              <a:spcBef>
                <a:spcPts val="1200"/>
              </a:spcBef>
            </a:pPr>
            <a:r>
              <a:rPr lang="en-US" sz="3200" b="1" dirty="0">
                <a:latin typeface="Calibri" panose="020F0502020204030204" pitchFamily="34" charset="0"/>
                <a:ea typeface="Calibri" panose="020F0502020204030204" pitchFamily="34" charset="0"/>
                <a:cs typeface="Calibri" panose="020F0502020204030204" pitchFamily="34" charset="0"/>
              </a:rPr>
              <a:t>Polyuria</a:t>
            </a:r>
          </a:p>
          <a:p>
            <a:pPr>
              <a:spcBef>
                <a:spcPts val="1200"/>
              </a:spcBef>
            </a:pPr>
            <a:r>
              <a:rPr lang="en-US" sz="3200" b="1" dirty="0">
                <a:latin typeface="Calibri" panose="020F0502020204030204" pitchFamily="34" charset="0"/>
                <a:ea typeface="Calibri" panose="020F0502020204030204" pitchFamily="34" charset="0"/>
                <a:cs typeface="Calibri" panose="020F0502020204030204" pitchFamily="34" charset="0"/>
              </a:rPr>
              <a:t>Euglycemic DKA</a:t>
            </a:r>
          </a:p>
          <a:p>
            <a:pPr lvl="1">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DKA may occur with </a:t>
            </a:r>
            <a:r>
              <a:rPr lang="en-US" sz="3200" b="1" dirty="0">
                <a:latin typeface="Calibri" panose="020F0502020204030204" pitchFamily="34" charset="0"/>
                <a:ea typeface="Calibri" panose="020F0502020204030204" pitchFamily="34" charset="0"/>
                <a:cs typeface="Calibri" panose="020F0502020204030204" pitchFamily="34" charset="0"/>
              </a:rPr>
              <a:t>normal or only mildly elevated glucose</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Rare: </a:t>
            </a:r>
            <a:r>
              <a:rPr lang="en-US" sz="3200" b="1" dirty="0">
                <a:latin typeface="Calibri" panose="020F0502020204030204" pitchFamily="34" charset="0"/>
                <a:ea typeface="Calibri" panose="020F0502020204030204" pitchFamily="34" charset="0"/>
                <a:cs typeface="Calibri" panose="020F0502020204030204" pitchFamily="34" charset="0"/>
              </a:rPr>
              <a:t>Fournier gangrene</a:t>
            </a:r>
            <a:r>
              <a:rPr sz="3200" dirty="0">
                <a:latin typeface="Calibri" panose="020F0502020204030204" pitchFamily="34" charset="0"/>
                <a:ea typeface="Calibri" panose="020F0502020204030204" pitchFamily="34" charset="0"/>
                <a:cs typeface="Calibri" panose="020F0502020204030204" pitchFamily="34" charset="0"/>
              </a:rPr>
              <a:t> </a:t>
            </a:r>
            <a:endParaRPr lang="en-US" sz="32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748089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88651F-3020-87FD-619F-14DBC1F6DC42}"/>
            </a:ext>
          </a:extLst>
        </p:cNvPr>
        <p:cNvGrpSpPr/>
        <p:nvPr/>
      </p:nvGrpSpPr>
      <p:grpSpPr>
        <a:xfrm>
          <a:off x="0" y="0"/>
          <a:ext cx="0" cy="0"/>
          <a:chOff x="0" y="0"/>
          <a:chExt cx="0" cy="0"/>
        </a:xfrm>
      </p:grpSpPr>
      <p:sp>
        <p:nvSpPr>
          <p:cNvPr id="193" name="Shape 193">
            <a:extLst>
              <a:ext uri="{FF2B5EF4-FFF2-40B4-BE49-F238E27FC236}">
                <a16:creationId xmlns:a16="http://schemas.microsoft.com/office/drawing/2014/main" id="{4AC09994-88BF-66B8-5C14-C489DF02ECD5}"/>
              </a:ext>
            </a:extLst>
          </p:cNvPr>
          <p:cNvSpPr>
            <a:spLocks noGrp="1"/>
          </p:cNvSpPr>
          <p:nvPr>
            <p:ph type="title" idx="4294967295"/>
          </p:nvPr>
        </p:nvSpPr>
        <p:spPr>
          <a:xfrm>
            <a:off x="254000" y="254000"/>
            <a:ext cx="12138526" cy="1270000"/>
          </a:xfrm>
          <a:prstGeom prst="rect">
            <a:avLst/>
          </a:prstGeom>
        </p:spPr>
        <p:txBody>
          <a:bodyPr lIns="50800" tIns="50800" rIns="50800" bIns="50800" anchor="ctr">
            <a:noAutofit/>
          </a:bodyPr>
          <a:lstStyle>
            <a:lvl1pPr>
              <a:defRPr sz="6000">
                <a:latin typeface="Arial"/>
                <a:ea typeface="Arial"/>
                <a:cs typeface="Arial"/>
                <a:sym typeface="Arial"/>
              </a:defRPr>
            </a:lvl1pPr>
          </a:lstStyle>
          <a:p>
            <a:pPr>
              <a:buNone/>
            </a:pPr>
            <a:r>
              <a:rPr sz="4800" dirty="0"/>
              <a:t>SGLT2- Inhibitor</a:t>
            </a:r>
            <a:r>
              <a:rPr lang="en-US" sz="4800" dirty="0"/>
              <a:t>s: Safety Considerations</a:t>
            </a:r>
            <a:endParaRPr sz="4800" dirty="0"/>
          </a:p>
        </p:txBody>
      </p:sp>
      <p:sp>
        <p:nvSpPr>
          <p:cNvPr id="194" name="Shape 194">
            <a:extLst>
              <a:ext uri="{FF2B5EF4-FFF2-40B4-BE49-F238E27FC236}">
                <a16:creationId xmlns:a16="http://schemas.microsoft.com/office/drawing/2014/main" id="{CC8CE028-8106-5F7F-1401-36222A3BB60B}"/>
              </a:ext>
            </a:extLst>
          </p:cNvPr>
          <p:cNvSpPr>
            <a:spLocks noGrp="1"/>
          </p:cNvSpPr>
          <p:nvPr>
            <p:ph type="body" idx="4294967295"/>
          </p:nvPr>
        </p:nvSpPr>
        <p:spPr>
          <a:xfrm>
            <a:off x="254000" y="1752600"/>
            <a:ext cx="12573000" cy="7696200"/>
          </a:xfrm>
          <a:prstGeom prst="rect">
            <a:avLst/>
          </a:prstGeom>
        </p:spPr>
        <p:txBody>
          <a:bodyPr lIns="50800" tIns="50800" rIns="50800" bIns="50800" anchor="ctr">
            <a:normAutofit/>
          </a:bodyPr>
          <a:lstStyle/>
          <a:p>
            <a:pPr>
              <a:spcBef>
                <a:spcPts val="1200"/>
              </a:spcBef>
            </a:pPr>
            <a:r>
              <a:rPr lang="en-US" sz="3200" b="1" dirty="0">
                <a:latin typeface="Calibri" panose="020F0502020204030204" pitchFamily="34" charset="0"/>
                <a:ea typeface="Calibri" panose="020F0502020204030204" pitchFamily="34" charset="0"/>
                <a:cs typeface="Calibri" panose="020F0502020204030204" pitchFamily="34" charset="0"/>
              </a:rPr>
              <a:t>Euglycemic DKA risk increases with:</a:t>
            </a:r>
          </a:p>
          <a:p>
            <a:pPr lvl="1">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Acute illness / prolonged fasting</a:t>
            </a:r>
          </a:p>
          <a:p>
            <a:pPr lvl="1">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Surgery</a:t>
            </a:r>
          </a:p>
          <a:p>
            <a:pPr lvl="1">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Significant insulin reduction</a:t>
            </a:r>
          </a:p>
          <a:p>
            <a:pPr>
              <a:spcBef>
                <a:spcPts val="1200"/>
              </a:spcBef>
            </a:pPr>
            <a:r>
              <a:rPr lang="en-US" sz="3200" b="1" dirty="0">
                <a:latin typeface="Calibri" panose="020F0502020204030204" pitchFamily="34" charset="0"/>
                <a:ea typeface="Calibri" panose="020F0502020204030204" pitchFamily="34" charset="0"/>
                <a:cs typeface="Calibri" panose="020F0502020204030204" pitchFamily="34" charset="0"/>
              </a:rPr>
              <a:t>Hold before surgery</a:t>
            </a:r>
          </a:p>
          <a:p>
            <a:pPr lvl="1">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Most SGLT2 inhibitors: </a:t>
            </a:r>
            <a:r>
              <a:rPr lang="en-US" sz="3200" b="1" dirty="0">
                <a:latin typeface="Calibri" panose="020F0502020204030204" pitchFamily="34" charset="0"/>
                <a:ea typeface="Calibri" panose="020F0502020204030204" pitchFamily="34" charset="0"/>
                <a:cs typeface="Calibri" panose="020F0502020204030204" pitchFamily="34" charset="0"/>
              </a:rPr>
              <a:t>3 days</a:t>
            </a:r>
            <a:endParaRPr lang="en-US" sz="3200" dirty="0">
              <a:latin typeface="Calibri" panose="020F0502020204030204" pitchFamily="34" charset="0"/>
              <a:ea typeface="Calibri" panose="020F0502020204030204" pitchFamily="34" charset="0"/>
              <a:cs typeface="Calibri" panose="020F0502020204030204" pitchFamily="34" charset="0"/>
            </a:endParaRPr>
          </a:p>
          <a:p>
            <a:pPr lvl="1">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Ertugliflozin: </a:t>
            </a:r>
            <a:r>
              <a:rPr lang="en-US" sz="3200" b="1" dirty="0">
                <a:latin typeface="Calibri" panose="020F0502020204030204" pitchFamily="34" charset="0"/>
                <a:ea typeface="Calibri" panose="020F0502020204030204" pitchFamily="34" charset="0"/>
                <a:cs typeface="Calibri" panose="020F0502020204030204" pitchFamily="34" charset="0"/>
              </a:rPr>
              <a:t>4 days</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3200" b="1" dirty="0">
                <a:latin typeface="Calibri" panose="020F0502020204030204" pitchFamily="34" charset="0"/>
                <a:ea typeface="Calibri" panose="020F0502020204030204" pitchFamily="34" charset="0"/>
                <a:cs typeface="Calibri" panose="020F0502020204030204" pitchFamily="34" charset="0"/>
              </a:rPr>
              <a:t>Renal function</a:t>
            </a:r>
          </a:p>
          <a:p>
            <a:pPr>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Glucose-lowering efficacy ↓ as eGFR declines</a:t>
            </a:r>
          </a:p>
          <a:p>
            <a:pPr>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Cardiorenal benefits may persist despite reduced glucose lowering</a:t>
            </a:r>
          </a:p>
        </p:txBody>
      </p:sp>
    </p:spTree>
    <p:extLst>
      <p:ext uri="{BB962C8B-B14F-4D97-AF65-F5344CB8AC3E}">
        <p14:creationId xmlns:p14="http://schemas.microsoft.com/office/powerpoint/2010/main" val="42267881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800" cy="975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Freeform: Shape 8">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8720" y="0"/>
            <a:ext cx="10627360" cy="97536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96441" y="0"/>
            <a:ext cx="10611917" cy="97536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E0E60A-1D34-48F6-B0EF-1935647356CD}"/>
              </a:ext>
            </a:extLst>
          </p:cNvPr>
          <p:cNvSpPr>
            <a:spLocks noGrp="1"/>
          </p:cNvSpPr>
          <p:nvPr>
            <p:ph type="ctrTitle"/>
          </p:nvPr>
        </p:nvSpPr>
        <p:spPr>
          <a:xfrm>
            <a:off x="1625603" y="2843896"/>
            <a:ext cx="9753600" cy="3931062"/>
          </a:xfrm>
        </p:spPr>
        <p:txBody>
          <a:bodyPr anchor="ctr">
            <a:normAutofit/>
          </a:bodyPr>
          <a:lstStyle/>
          <a:p>
            <a:pPr>
              <a:buNone/>
            </a:pPr>
            <a:r>
              <a:rPr lang="en-US" sz="8900">
                <a:latin typeface="Calibri" panose="020F0502020204030204" pitchFamily="34" charset="0"/>
                <a:cs typeface="Calibri" panose="020F0502020204030204" pitchFamily="34" charset="0"/>
              </a:rPr>
              <a:t>Sulfonylureas</a:t>
            </a:r>
            <a:endParaRPr lang="en-US" sz="8900"/>
          </a:p>
        </p:txBody>
      </p:sp>
      <p:sp>
        <p:nvSpPr>
          <p:cNvPr id="13" name="Rectangle 12">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66464" y="7857473"/>
            <a:ext cx="5071872" cy="390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68434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 name="Shape 161"/>
          <p:cNvSpPr>
            <a:spLocks noGrp="1"/>
          </p:cNvSpPr>
          <p:nvPr>
            <p:ph type="title" idx="4294967295"/>
          </p:nvPr>
        </p:nvSpPr>
        <p:spPr>
          <a:xfrm>
            <a:off x="649287" y="215900"/>
            <a:ext cx="8921433" cy="1408113"/>
          </a:xfrm>
          <a:prstGeom prst="rect">
            <a:avLst/>
          </a:prstGeom>
        </p:spPr>
        <p:txBody>
          <a:bodyPr lIns="72248" tIns="72248" rIns="72248" bIns="72248" anchor="ctr">
            <a:normAutofit/>
          </a:bodyPr>
          <a:lstStyle>
            <a:lvl1pPr defTabSz="1300162">
              <a:defRPr sz="5600">
                <a:latin typeface="Arial"/>
                <a:ea typeface="Arial"/>
                <a:cs typeface="Arial"/>
                <a:sym typeface="Arial"/>
              </a:defRPr>
            </a:lvl1pPr>
          </a:lstStyle>
          <a:p>
            <a:pPr algn="l">
              <a:buNone/>
            </a:pPr>
            <a:r>
              <a:rPr dirty="0"/>
              <a:t>Sulfonylureas</a:t>
            </a:r>
          </a:p>
        </p:txBody>
      </p:sp>
      <p:sp>
        <p:nvSpPr>
          <p:cNvPr id="3" name="TextBox 2">
            <a:extLst>
              <a:ext uri="{FF2B5EF4-FFF2-40B4-BE49-F238E27FC236}">
                <a16:creationId xmlns:a16="http://schemas.microsoft.com/office/drawing/2014/main" id="{983946B5-6390-FA4F-A57D-37E0C24C4CB6}"/>
              </a:ext>
            </a:extLst>
          </p:cNvPr>
          <p:cNvSpPr txBox="1"/>
          <p:nvPr/>
        </p:nvSpPr>
        <p:spPr>
          <a:xfrm>
            <a:off x="397729" y="2788793"/>
            <a:ext cx="12226758" cy="332911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en-US" sz="3200" b="1" dirty="0">
                <a:latin typeface="Calibri" panose="020F0502020204030204" pitchFamily="34" charset="0"/>
                <a:ea typeface="Calibri" panose="020F0502020204030204" pitchFamily="34" charset="0"/>
                <a:cs typeface="Calibri" panose="020F0502020204030204" pitchFamily="34" charset="0"/>
              </a:rPr>
              <a:t>Insulin secretagogues:</a:t>
            </a:r>
            <a:r>
              <a:rPr lang="en-US" sz="3200" dirty="0">
                <a:latin typeface="Calibri" panose="020F0502020204030204" pitchFamily="34" charset="0"/>
                <a:ea typeface="Calibri" panose="020F0502020204030204" pitchFamily="34" charset="0"/>
                <a:cs typeface="Calibri" panose="020F0502020204030204" pitchFamily="34" charset="0"/>
              </a:rPr>
              <a:t> stimulate pancreatic β-cells to release insulin</a:t>
            </a:r>
          </a:p>
          <a:p>
            <a:r>
              <a:rPr lang="en-US" sz="3200" dirty="0">
                <a:latin typeface="Calibri" panose="020F0502020204030204" pitchFamily="34" charset="0"/>
                <a:ea typeface="Calibri" panose="020F0502020204030204" pitchFamily="34" charset="0"/>
                <a:cs typeface="Calibri" panose="020F0502020204030204" pitchFamily="34" charset="0"/>
              </a:rPr>
              <a:t>Insulin secretion occurs </a:t>
            </a:r>
            <a:r>
              <a:rPr lang="en-US" sz="3200" b="1" dirty="0">
                <a:latin typeface="Calibri" panose="020F0502020204030204" pitchFamily="34" charset="0"/>
                <a:ea typeface="Calibri" panose="020F0502020204030204" pitchFamily="34" charset="0"/>
                <a:cs typeface="Calibri" panose="020F0502020204030204" pitchFamily="34" charset="0"/>
              </a:rPr>
              <a:t>regardless of blood glucose level</a:t>
            </a:r>
          </a:p>
          <a:p>
            <a:r>
              <a:rPr lang="en-US" sz="3200" dirty="0">
                <a:latin typeface="Calibri" panose="020F0502020204030204" pitchFamily="34" charset="0"/>
                <a:ea typeface="Calibri" panose="020F0502020204030204" pitchFamily="34" charset="0"/>
                <a:cs typeface="Calibri" panose="020F0502020204030204" pitchFamily="34" charset="0"/>
              </a:rPr>
              <a:t>Major adverse effects:</a:t>
            </a:r>
          </a:p>
          <a:p>
            <a:pPr lvl="1"/>
            <a:r>
              <a:rPr lang="en-US" sz="3200" b="1" dirty="0">
                <a:latin typeface="Calibri" panose="020F0502020204030204" pitchFamily="34" charset="0"/>
                <a:ea typeface="Calibri" panose="020F0502020204030204" pitchFamily="34" charset="0"/>
                <a:cs typeface="Calibri" panose="020F0502020204030204" pitchFamily="34" charset="0"/>
              </a:rPr>
              <a:t>Hypoglycemia</a:t>
            </a:r>
            <a:r>
              <a:rPr lang="en-US" sz="3200" dirty="0">
                <a:latin typeface="Calibri" panose="020F0502020204030204" pitchFamily="34" charset="0"/>
                <a:ea typeface="Calibri" panose="020F0502020204030204" pitchFamily="34" charset="0"/>
                <a:cs typeface="Calibri" panose="020F0502020204030204" pitchFamily="34" charset="0"/>
              </a:rPr>
              <a:t>*</a:t>
            </a:r>
          </a:p>
          <a:p>
            <a:pPr lvl="1"/>
            <a:r>
              <a:rPr lang="en-US" sz="3200" b="1" dirty="0">
                <a:latin typeface="Calibri" panose="020F0502020204030204" pitchFamily="34" charset="0"/>
                <a:ea typeface="Calibri" panose="020F0502020204030204" pitchFamily="34" charset="0"/>
                <a:cs typeface="Calibri" panose="020F0502020204030204" pitchFamily="34" charset="0"/>
              </a:rPr>
              <a:t>Weight gain</a:t>
            </a:r>
            <a:endParaRPr lang="en-US" sz="3200" dirty="0">
              <a:latin typeface="Calibri" panose="020F0502020204030204" pitchFamily="34" charset="0"/>
              <a:ea typeface="Calibri" panose="020F0502020204030204" pitchFamily="34" charset="0"/>
              <a:cs typeface="Calibri" panose="020F0502020204030204" pitchFamily="34" charset="0"/>
            </a:endParaRPr>
          </a:p>
          <a:p>
            <a:pPr marL="722312" indent="-722312" defTabSz="1300162">
              <a:lnSpc>
                <a:spcPct val="110000"/>
              </a:lnSpc>
              <a:spcBef>
                <a:spcPts val="100"/>
              </a:spcBef>
              <a:buFont typeface="Arial"/>
              <a:buChar char="•"/>
              <a:defRPr sz="4500">
                <a:latin typeface="Arial"/>
                <a:ea typeface="Arial"/>
                <a:cs typeface="Arial"/>
                <a:sym typeface="Arial"/>
              </a:defRPr>
            </a:pPr>
            <a:endParaRPr lang="en-US" sz="4500" dirty="0">
              <a:latin typeface="Calibri" charset="0"/>
              <a:ea typeface="Calibri" charset="0"/>
              <a:cs typeface="Calibri" charset="0"/>
            </a:endParaRPr>
          </a:p>
        </p:txBody>
      </p:sp>
    </p:spTree>
    <p:extLst>
      <p:ext uri="{BB962C8B-B14F-4D97-AF65-F5344CB8AC3E}">
        <p14:creationId xmlns:p14="http://schemas.microsoft.com/office/powerpoint/2010/main" val="330763417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A1D7F-9FB5-A849-8223-6C384AD09CFF}"/>
              </a:ext>
            </a:extLst>
          </p:cNvPr>
          <p:cNvSpPr>
            <a:spLocks noGrp="1"/>
          </p:cNvSpPr>
          <p:nvPr>
            <p:ph type="title"/>
          </p:nvPr>
        </p:nvSpPr>
        <p:spPr>
          <a:xfrm>
            <a:off x="650240" y="156117"/>
            <a:ext cx="11704320" cy="1592450"/>
          </a:xfrm>
        </p:spPr>
        <p:txBody>
          <a:bodyPr/>
          <a:lstStyle/>
          <a:p>
            <a:pPr algn="l">
              <a:buNone/>
            </a:pPr>
            <a:r>
              <a:rPr lang="en-US" dirty="0">
                <a:latin typeface="Calibri" panose="020F0502020204030204" pitchFamily="34" charset="0"/>
                <a:cs typeface="Calibri" panose="020F0502020204030204" pitchFamily="34" charset="0"/>
              </a:rPr>
              <a:t>Sulfonylureas: Efficacy</a:t>
            </a:r>
          </a:p>
        </p:txBody>
      </p:sp>
      <p:sp>
        <p:nvSpPr>
          <p:cNvPr id="164" name="Shape 164"/>
          <p:cNvSpPr>
            <a:spLocks noGrp="1"/>
          </p:cNvSpPr>
          <p:nvPr>
            <p:ph idx="1"/>
          </p:nvPr>
        </p:nvSpPr>
        <p:spPr>
          <a:xfrm>
            <a:off x="289932" y="2834640"/>
            <a:ext cx="12511668" cy="6762842"/>
          </a:xfrm>
          <a:prstGeom prst="rect">
            <a:avLst/>
          </a:prstGeom>
        </p:spPr>
        <p:txBody>
          <a:bodyPr lIns="72248" tIns="72248" rIns="72248" bIns="72248">
            <a:normAutofit/>
          </a:bodyPr>
          <a:lstStyle/>
          <a:p>
            <a:pPr marL="311150" indent="-311150" defTabSz="1300162">
              <a:spcBef>
                <a:spcPts val="1200"/>
              </a:spcBef>
              <a:spcAft>
                <a:spcPts val="600"/>
              </a:spcAft>
              <a:buChar char="•"/>
              <a:defRPr sz="4500">
                <a:latin typeface="Arial"/>
                <a:ea typeface="Arial"/>
                <a:cs typeface="Arial"/>
                <a:sym typeface="Arial"/>
              </a:defRPr>
            </a:pPr>
            <a:r>
              <a:rPr lang="en-US" sz="3200" b="1" dirty="0">
                <a:latin typeface="Calibri" panose="020F0502020204030204" pitchFamily="34" charset="0"/>
                <a:ea typeface="Calibri" panose="020F0502020204030204" pitchFamily="34" charset="0"/>
                <a:cs typeface="Calibri" panose="020F0502020204030204" pitchFamily="34" charset="0"/>
                <a:sym typeface="Arial"/>
              </a:rPr>
              <a:t>Expected A1C reduction: ~1–1.5%</a:t>
            </a:r>
          </a:p>
          <a:p>
            <a:pPr marL="311150" indent="-311150" defTabSz="1300162">
              <a:spcBef>
                <a:spcPts val="1200"/>
              </a:spcBef>
              <a:spcAft>
                <a:spcPts val="600"/>
              </a:spcAft>
              <a:buChar char="•"/>
              <a:defRPr sz="4500">
                <a:latin typeface="Arial"/>
                <a:ea typeface="Arial"/>
                <a:cs typeface="Arial"/>
                <a:sym typeface="Arial"/>
              </a:defRPr>
            </a:pPr>
            <a:r>
              <a:rPr lang="en-US" sz="3200" dirty="0">
                <a:latin typeface="Calibri" panose="020F0502020204030204" pitchFamily="34" charset="0"/>
                <a:ea typeface="Calibri" panose="020F0502020204030204" pitchFamily="34" charset="0"/>
                <a:cs typeface="Calibri" panose="020F0502020204030204" pitchFamily="34" charset="0"/>
                <a:sym typeface="Arial"/>
              </a:rPr>
              <a:t>Require functioning pancreatic β-cells</a:t>
            </a:r>
          </a:p>
          <a:p>
            <a:pPr marL="311150" indent="-311150" defTabSz="1300162">
              <a:spcBef>
                <a:spcPts val="1200"/>
              </a:spcBef>
              <a:spcAft>
                <a:spcPts val="600"/>
              </a:spcAft>
              <a:buChar char="•"/>
              <a:defRPr sz="4500">
                <a:latin typeface="Arial"/>
                <a:ea typeface="Arial"/>
                <a:cs typeface="Arial"/>
                <a:sym typeface="Arial"/>
              </a:defRPr>
            </a:pPr>
            <a:r>
              <a:rPr lang="en-US" sz="3200" dirty="0">
                <a:latin typeface="Calibri" panose="020F0502020204030204" pitchFamily="34" charset="0"/>
                <a:ea typeface="Calibri" panose="020F0502020204030204" pitchFamily="34" charset="0"/>
                <a:cs typeface="Calibri" panose="020F0502020204030204" pitchFamily="34" charset="0"/>
                <a:sym typeface="Arial"/>
              </a:rPr>
              <a:t>Effectiveness may </a:t>
            </a:r>
            <a:r>
              <a:rPr lang="en-US" sz="3200" b="1" dirty="0">
                <a:latin typeface="Calibri" panose="020F0502020204030204" pitchFamily="34" charset="0"/>
                <a:ea typeface="Calibri" panose="020F0502020204030204" pitchFamily="34" charset="0"/>
                <a:cs typeface="Calibri" panose="020F0502020204030204" pitchFamily="34" charset="0"/>
                <a:sym typeface="Arial"/>
              </a:rPr>
              <a:t>decline over time</a:t>
            </a:r>
            <a:r>
              <a:rPr lang="en-US" sz="3200" dirty="0">
                <a:latin typeface="Calibri" panose="020F0502020204030204" pitchFamily="34" charset="0"/>
                <a:ea typeface="Calibri" panose="020F0502020204030204" pitchFamily="34" charset="0"/>
                <a:cs typeface="Calibri" panose="020F0502020204030204" pitchFamily="34" charset="0"/>
                <a:sym typeface="Arial"/>
              </a:rPr>
              <a:t> as T2DM progresses</a:t>
            </a:r>
          </a:p>
          <a:p>
            <a:pPr marL="311150" indent="-311150" defTabSz="1300162">
              <a:spcBef>
                <a:spcPts val="1200"/>
              </a:spcBef>
              <a:spcAft>
                <a:spcPts val="600"/>
              </a:spcAft>
              <a:buChar char="•"/>
              <a:defRPr sz="4500">
                <a:latin typeface="Arial"/>
                <a:ea typeface="Arial"/>
                <a:cs typeface="Arial"/>
                <a:sym typeface="Arial"/>
              </a:defRPr>
            </a:pPr>
            <a:r>
              <a:rPr lang="en-US" sz="3200" b="1" dirty="0">
                <a:latin typeface="Calibri" panose="020F0502020204030204" pitchFamily="34" charset="0"/>
                <a:ea typeface="Calibri" panose="020F0502020204030204" pitchFamily="34" charset="0"/>
                <a:cs typeface="Calibri" panose="020F0502020204030204" pitchFamily="34" charset="0"/>
                <a:sym typeface="Arial"/>
              </a:rPr>
              <a:t>No demonstrated cardiovascular or kidney benefit</a:t>
            </a:r>
            <a:endParaRPr sz="32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6628612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 name="Shape 161"/>
          <p:cNvSpPr>
            <a:spLocks noGrp="1"/>
          </p:cNvSpPr>
          <p:nvPr>
            <p:ph type="title" idx="4294967295"/>
          </p:nvPr>
        </p:nvSpPr>
        <p:spPr>
          <a:xfrm>
            <a:off x="649287" y="215900"/>
            <a:ext cx="11704638" cy="1409699"/>
          </a:xfrm>
          <a:prstGeom prst="rect">
            <a:avLst/>
          </a:prstGeom>
        </p:spPr>
        <p:txBody>
          <a:bodyPr lIns="72248" tIns="72248" rIns="72248" bIns="72248" anchor="ctr">
            <a:normAutofit/>
          </a:bodyPr>
          <a:lstStyle>
            <a:lvl1pPr defTabSz="1300162">
              <a:defRPr sz="5600">
                <a:latin typeface="Arial"/>
                <a:ea typeface="Arial"/>
                <a:cs typeface="Arial"/>
                <a:sym typeface="Arial"/>
              </a:defRPr>
            </a:lvl1pPr>
          </a:lstStyle>
          <a:p>
            <a:pPr algn="l">
              <a:buNone/>
            </a:pPr>
            <a:r>
              <a:rPr dirty="0"/>
              <a:t>Sulfonylurea</a:t>
            </a:r>
            <a:r>
              <a:rPr lang="en-US" dirty="0"/>
              <a:t>s: Medications</a:t>
            </a:r>
            <a:endParaRPr dirty="0"/>
          </a:p>
        </p:txBody>
      </p:sp>
      <p:sp>
        <p:nvSpPr>
          <p:cNvPr id="162" name="Shape 162"/>
          <p:cNvSpPr>
            <a:spLocks noGrp="1"/>
          </p:cNvSpPr>
          <p:nvPr>
            <p:ph type="body" idx="4294967295"/>
          </p:nvPr>
        </p:nvSpPr>
        <p:spPr>
          <a:xfrm>
            <a:off x="215900" y="1765738"/>
            <a:ext cx="12571413" cy="7878325"/>
          </a:xfrm>
          <a:prstGeom prst="rect">
            <a:avLst/>
          </a:prstGeom>
        </p:spPr>
        <p:txBody>
          <a:bodyPr lIns="72248" tIns="72248" rIns="72248" bIns="72248">
            <a:noAutofit/>
          </a:bodyPr>
          <a:lstStyle/>
          <a:p>
            <a:pPr marL="377825" indent="-88900" defTabSz="1300162">
              <a:spcBef>
                <a:spcPts val="700"/>
              </a:spcBef>
              <a:buFont typeface="Arial"/>
              <a:buChar char="•"/>
              <a:defRPr sz="1800"/>
            </a:pPr>
            <a:r>
              <a:rPr lang="en-US" sz="3200" b="1" dirty="0">
                <a:latin typeface="Calibri" panose="020F0502020204030204" pitchFamily="34" charset="0"/>
                <a:ea typeface="Calibri" panose="020F0502020204030204" pitchFamily="34" charset="0"/>
                <a:cs typeface="Calibri" panose="020F0502020204030204" pitchFamily="34" charset="0"/>
              </a:rPr>
              <a:t>Glimepiride (Amaryl)</a:t>
            </a:r>
            <a:endParaRPr lang="en-US" sz="3200" dirty="0">
              <a:latin typeface="Calibri" panose="020F0502020204030204" pitchFamily="34" charset="0"/>
              <a:ea typeface="Calibri" panose="020F0502020204030204" pitchFamily="34" charset="0"/>
              <a:cs typeface="Calibri" panose="020F0502020204030204" pitchFamily="34" charset="0"/>
            </a:endParaRPr>
          </a:p>
          <a:p>
            <a:pPr marL="377825" indent="-88900" defTabSz="1300162">
              <a:spcBef>
                <a:spcPts val="700"/>
              </a:spcBef>
              <a:buChar char="•"/>
              <a:defRPr sz="1800"/>
            </a:pPr>
            <a:r>
              <a:rPr lang="en-US" sz="3200" b="1" dirty="0">
                <a:latin typeface="Calibri" panose="020F0502020204030204" pitchFamily="34" charset="0"/>
                <a:ea typeface="Calibri" panose="020F0502020204030204" pitchFamily="34" charset="0"/>
                <a:cs typeface="Calibri" panose="020F0502020204030204" pitchFamily="34" charset="0"/>
              </a:rPr>
              <a:t>Glipizide (Glucotrol)</a:t>
            </a:r>
            <a:endParaRPr lang="en-US" sz="3200" dirty="0">
              <a:latin typeface="Calibri" panose="020F0502020204030204" pitchFamily="34" charset="0"/>
              <a:ea typeface="Calibri" panose="020F0502020204030204" pitchFamily="34" charset="0"/>
              <a:cs typeface="Calibri" panose="020F0502020204030204" pitchFamily="34" charset="0"/>
            </a:endParaRPr>
          </a:p>
          <a:p>
            <a:pPr marL="377825" indent="-88900" defTabSz="1300162">
              <a:spcBef>
                <a:spcPts val="700"/>
              </a:spcBef>
              <a:buFont typeface="Arial"/>
              <a:buChar char="•"/>
              <a:defRPr sz="1800"/>
            </a:pPr>
            <a:r>
              <a:rPr lang="en-US" sz="3200" b="1" dirty="0">
                <a:latin typeface="Calibri" panose="020F0502020204030204" pitchFamily="34" charset="0"/>
                <a:ea typeface="Calibri" panose="020F0502020204030204" pitchFamily="34" charset="0"/>
                <a:cs typeface="Calibri" panose="020F0502020204030204" pitchFamily="34" charset="0"/>
              </a:rPr>
              <a:t>Glyburide (Micronase, </a:t>
            </a:r>
            <a:r>
              <a:rPr lang="en-US" sz="3200" b="1" dirty="0" err="1">
                <a:latin typeface="Calibri" panose="020F0502020204030204" pitchFamily="34" charset="0"/>
                <a:ea typeface="Calibri" panose="020F0502020204030204" pitchFamily="34" charset="0"/>
                <a:cs typeface="Calibri" panose="020F0502020204030204" pitchFamily="34" charset="0"/>
              </a:rPr>
              <a:t>Diabeta</a:t>
            </a:r>
            <a:r>
              <a:rPr lang="en-US" sz="3200" b="1" dirty="0">
                <a:latin typeface="Calibri" panose="020F0502020204030204" pitchFamily="34" charset="0"/>
                <a:ea typeface="Calibri" panose="020F0502020204030204" pitchFamily="34" charset="0"/>
                <a:cs typeface="Calibri" panose="020F0502020204030204" pitchFamily="34" charset="0"/>
              </a:rPr>
              <a:t>)</a:t>
            </a:r>
          </a:p>
          <a:p>
            <a:pPr marL="1485004" lvl="1" indent="-457200" defTabSz="1300162">
              <a:spcBef>
                <a:spcPts val="700"/>
              </a:spcBef>
              <a:defRPr sz="1800"/>
            </a:pPr>
            <a:r>
              <a:rPr lang="en-US" sz="3200" b="1" dirty="0">
                <a:latin typeface="Calibri" panose="020F0502020204030204" pitchFamily="34" charset="0"/>
                <a:ea typeface="Calibri" panose="020F0502020204030204" pitchFamily="34" charset="0"/>
                <a:cs typeface="Calibri" panose="020F0502020204030204" pitchFamily="34" charset="0"/>
              </a:rPr>
              <a:t>Glyburide has a higher risk of prolonged hypoglycemia</a:t>
            </a:r>
            <a:r>
              <a:rPr lang="en-US" sz="3200" dirty="0">
                <a:latin typeface="Calibri" panose="020F0502020204030204" pitchFamily="34" charset="0"/>
                <a:ea typeface="Calibri" panose="020F0502020204030204" pitchFamily="34" charset="0"/>
                <a:cs typeface="Calibri" panose="020F0502020204030204" pitchFamily="34" charset="0"/>
              </a:rPr>
              <a:t> and should generally be avoided in older adults and patients with impaired renal function.</a:t>
            </a:r>
          </a:p>
          <a:p>
            <a:pPr marL="288925" defTabSz="1300162">
              <a:spcBef>
                <a:spcPts val="700"/>
              </a:spcBef>
              <a:buNone/>
              <a:defRPr sz="1800"/>
            </a:pPr>
            <a:endParaRPr lang="en-US" sz="3200" dirty="0">
              <a:latin typeface="Calibri" panose="020F0502020204030204" pitchFamily="34" charset="0"/>
              <a:ea typeface="Calibri" panose="020F0502020204030204" pitchFamily="34" charset="0"/>
              <a:cs typeface="Calibri" panose="020F0502020204030204" pitchFamily="34" charset="0"/>
            </a:endParaRPr>
          </a:p>
          <a:p>
            <a:pPr marL="288925" defTabSz="1300162">
              <a:spcBef>
                <a:spcPts val="700"/>
              </a:spcBef>
              <a:buNone/>
              <a:defRPr sz="1800"/>
            </a:pPr>
            <a:r>
              <a:rPr lang="en-US" sz="3200" dirty="0">
                <a:latin typeface="Calibri" panose="020F0502020204030204" pitchFamily="34" charset="0"/>
                <a:ea typeface="Calibri" panose="020F0502020204030204" pitchFamily="34" charset="0"/>
                <a:cs typeface="Calibri" panose="020F0502020204030204" pitchFamily="34" charset="0"/>
              </a:rPr>
              <a:t>Place in Therapy:</a:t>
            </a:r>
          </a:p>
          <a:p>
            <a:pPr marL="377825" indent="-88900" defTabSz="1300162">
              <a:spcBef>
                <a:spcPts val="700"/>
              </a:spcBef>
              <a:buFont typeface="Arial"/>
              <a:buChar char="•"/>
              <a:defRPr sz="1800"/>
            </a:pPr>
            <a:r>
              <a:rPr lang="en-US" sz="3200" b="1" dirty="0">
                <a:latin typeface="Calibri" panose="020F0502020204030204" pitchFamily="34" charset="0"/>
                <a:ea typeface="Calibri" panose="020F0502020204030204" pitchFamily="34" charset="0"/>
                <a:cs typeface="Calibri" panose="020F0502020204030204" pitchFamily="34" charset="0"/>
              </a:rPr>
              <a:t>Advantages:</a:t>
            </a:r>
            <a:r>
              <a:rPr lang="en-US" sz="3200" dirty="0">
                <a:latin typeface="Calibri" panose="020F0502020204030204" pitchFamily="34" charset="0"/>
                <a:ea typeface="Calibri" panose="020F0502020204030204" pitchFamily="34" charset="0"/>
                <a:cs typeface="Calibri" panose="020F0502020204030204" pitchFamily="34" charset="0"/>
              </a:rPr>
              <a:t> inexpensive, oral, effective</a:t>
            </a:r>
            <a:br>
              <a:rPr lang="en-US" sz="3200" dirty="0">
                <a:latin typeface="Calibri" panose="020F0502020204030204" pitchFamily="34" charset="0"/>
                <a:ea typeface="Calibri" panose="020F0502020204030204" pitchFamily="34" charset="0"/>
                <a:cs typeface="Calibri" panose="020F0502020204030204" pitchFamily="34" charset="0"/>
              </a:rPr>
            </a:br>
            <a:r>
              <a:rPr lang="en-US" sz="3200" b="1" dirty="0">
                <a:latin typeface="Calibri" panose="020F0502020204030204" pitchFamily="34" charset="0"/>
                <a:ea typeface="Calibri" panose="020F0502020204030204" pitchFamily="34" charset="0"/>
                <a:cs typeface="Calibri" panose="020F0502020204030204" pitchFamily="34" charset="0"/>
              </a:rPr>
              <a:t>Limitations:</a:t>
            </a:r>
            <a:r>
              <a:rPr lang="en-US" sz="3200" dirty="0">
                <a:latin typeface="Calibri" panose="020F0502020204030204" pitchFamily="34" charset="0"/>
                <a:ea typeface="Calibri" panose="020F0502020204030204" pitchFamily="34" charset="0"/>
                <a:cs typeface="Calibri" panose="020F0502020204030204" pitchFamily="34" charset="0"/>
              </a:rPr>
              <a:t> hypoglycemia, weight gain, no cardiorenal benefit</a:t>
            </a:r>
          </a:p>
          <a:p>
            <a:pPr marL="377825" indent="-88900" defTabSz="1300162">
              <a:spcBef>
                <a:spcPts val="700"/>
              </a:spcBef>
              <a:buChar char="•"/>
              <a:defRPr sz="1800"/>
            </a:pPr>
            <a:endParaRPr lang="en-US" sz="3600" dirty="0">
              <a:latin typeface="Calibri" charset="0"/>
              <a:ea typeface="Calibri" charset="0"/>
              <a:cs typeface="Calibri" charset="0"/>
            </a:endParaRPr>
          </a:p>
          <a:p>
            <a:pPr marL="379412" indent="-722312" defTabSz="1300162">
              <a:spcBef>
                <a:spcPts val="700"/>
              </a:spcBef>
              <a:buChar char="•"/>
              <a:defRPr sz="1800"/>
            </a:pPr>
            <a:endParaRPr lang="en-US" sz="2000" dirty="0">
              <a:latin typeface="Calibri" charset="0"/>
              <a:ea typeface="Calibri" charset="0"/>
              <a:cs typeface="Calibri" charset="0"/>
            </a:endParaRPr>
          </a:p>
        </p:txBody>
      </p:sp>
    </p:spTree>
    <p:extLst>
      <p:ext uri="{BB962C8B-B14F-4D97-AF65-F5344CB8AC3E}">
        <p14:creationId xmlns:p14="http://schemas.microsoft.com/office/powerpoint/2010/main" val="392141536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Shape 169"/>
          <p:cNvSpPr>
            <a:spLocks noGrp="1"/>
          </p:cNvSpPr>
          <p:nvPr>
            <p:ph type="title" idx="4294967295"/>
          </p:nvPr>
        </p:nvSpPr>
        <p:spPr>
          <a:xfrm>
            <a:off x="649287" y="0"/>
            <a:ext cx="11704638" cy="1371600"/>
          </a:xfrm>
          <a:prstGeom prst="rect">
            <a:avLst/>
          </a:prstGeom>
        </p:spPr>
        <p:txBody>
          <a:bodyPr lIns="72248" tIns="72248" rIns="72248" bIns="72248" anchor="ctr">
            <a:normAutofit/>
          </a:bodyPr>
          <a:lstStyle>
            <a:lvl1pPr defTabSz="1300162">
              <a:defRPr sz="5600">
                <a:latin typeface="Arial"/>
                <a:ea typeface="Arial"/>
                <a:cs typeface="Arial"/>
                <a:sym typeface="Arial"/>
              </a:defRPr>
            </a:lvl1pPr>
          </a:lstStyle>
          <a:p>
            <a:pPr algn="l">
              <a:buNone/>
            </a:pPr>
            <a:r>
              <a:rPr lang="en-US" dirty="0"/>
              <a:t>Sulfonylurea: Cautions</a:t>
            </a:r>
            <a:endParaRPr dirty="0"/>
          </a:p>
        </p:txBody>
      </p:sp>
      <p:sp>
        <p:nvSpPr>
          <p:cNvPr id="170" name="Shape 170"/>
          <p:cNvSpPr>
            <a:spLocks noGrp="1"/>
          </p:cNvSpPr>
          <p:nvPr>
            <p:ph type="body" idx="4294967295"/>
          </p:nvPr>
        </p:nvSpPr>
        <p:spPr>
          <a:xfrm>
            <a:off x="323850" y="2117558"/>
            <a:ext cx="12463463" cy="7526505"/>
          </a:xfrm>
          <a:prstGeom prst="rect">
            <a:avLst/>
          </a:prstGeom>
        </p:spPr>
        <p:txBody>
          <a:bodyPr lIns="72248" tIns="72248" rIns="72248" bIns="72248">
            <a:normAutofit/>
          </a:bodyPr>
          <a:lstStyle/>
          <a:p>
            <a:pPr>
              <a:spcBef>
                <a:spcPts val="1200"/>
              </a:spcBef>
            </a:pPr>
            <a:r>
              <a:rPr lang="en-US" sz="3200" b="1" dirty="0">
                <a:latin typeface="Calibri" panose="020F0502020204030204" pitchFamily="34" charset="0"/>
                <a:ea typeface="Calibri" panose="020F0502020204030204" pitchFamily="34" charset="0"/>
                <a:cs typeface="Calibri" panose="020F0502020204030204" pitchFamily="34" charset="0"/>
              </a:rPr>
              <a:t>Renal impairment / older adults</a:t>
            </a:r>
          </a:p>
          <a:p>
            <a:pPr lvl="1">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 risk of </a:t>
            </a:r>
            <a:r>
              <a:rPr lang="en-US" sz="3200" b="1" dirty="0">
                <a:latin typeface="Calibri" panose="020F0502020204030204" pitchFamily="34" charset="0"/>
                <a:ea typeface="Calibri" panose="020F0502020204030204" pitchFamily="34" charset="0"/>
                <a:cs typeface="Calibri" panose="020F0502020204030204" pitchFamily="34" charset="0"/>
              </a:rPr>
              <a:t>prolonged hypoglycemia</a:t>
            </a:r>
            <a:endParaRPr lang="en-US" sz="3200" dirty="0">
              <a:latin typeface="Calibri" panose="020F0502020204030204" pitchFamily="34" charset="0"/>
              <a:ea typeface="Calibri" panose="020F0502020204030204" pitchFamily="34" charset="0"/>
              <a:cs typeface="Calibri" panose="020F0502020204030204" pitchFamily="34" charset="0"/>
            </a:endParaRPr>
          </a:p>
          <a:p>
            <a:pPr lvl="1">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Avoid </a:t>
            </a:r>
            <a:r>
              <a:rPr lang="en-US" sz="3200" b="1" dirty="0">
                <a:latin typeface="Calibri" panose="020F0502020204030204" pitchFamily="34" charset="0"/>
                <a:ea typeface="Calibri" panose="020F0502020204030204" pitchFamily="34" charset="0"/>
                <a:cs typeface="Calibri" panose="020F0502020204030204" pitchFamily="34" charset="0"/>
              </a:rPr>
              <a:t>glyburide</a:t>
            </a:r>
            <a:r>
              <a:rPr lang="en-US" sz="3200" dirty="0">
                <a:latin typeface="Calibri" panose="020F0502020204030204" pitchFamily="34" charset="0"/>
                <a:ea typeface="Calibri" panose="020F0502020204030204" pitchFamily="34" charset="0"/>
                <a:cs typeface="Calibri" panose="020F0502020204030204" pitchFamily="34" charset="0"/>
              </a:rPr>
              <a:t> in these patients</a:t>
            </a:r>
          </a:p>
          <a:p>
            <a:pPr>
              <a:spcBef>
                <a:spcPts val="1200"/>
              </a:spcBef>
            </a:pPr>
            <a:r>
              <a:rPr lang="en-US" sz="3200" b="1" dirty="0">
                <a:latin typeface="Calibri" panose="020F0502020204030204" pitchFamily="34" charset="0"/>
                <a:ea typeface="Calibri" panose="020F0502020204030204" pitchFamily="34" charset="0"/>
                <a:cs typeface="Calibri" panose="020F0502020204030204" pitchFamily="34" charset="0"/>
              </a:rPr>
              <a:t>G6PD deficiency</a:t>
            </a:r>
          </a:p>
          <a:p>
            <a:pPr lvl="1">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May cause </a:t>
            </a:r>
            <a:r>
              <a:rPr lang="en-US" sz="3200" b="1" dirty="0">
                <a:latin typeface="Calibri" panose="020F0502020204030204" pitchFamily="34" charset="0"/>
                <a:ea typeface="Calibri" panose="020F0502020204030204" pitchFamily="34" charset="0"/>
                <a:cs typeface="Calibri" panose="020F0502020204030204" pitchFamily="34" charset="0"/>
              </a:rPr>
              <a:t>hemolytic anemia</a:t>
            </a:r>
            <a:endParaRPr lang="en-US" sz="3200" dirty="0">
              <a:latin typeface="Calibri" panose="020F0502020204030204" pitchFamily="34" charset="0"/>
              <a:ea typeface="Calibri" panose="020F0502020204030204" pitchFamily="34" charset="0"/>
              <a:cs typeface="Calibri" panose="020F0502020204030204" pitchFamily="34" charset="0"/>
            </a:endParaRPr>
          </a:p>
          <a:p>
            <a:pPr lvl="1">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Use caution / consider an alternative</a:t>
            </a:r>
          </a:p>
          <a:p>
            <a:pPr>
              <a:spcBef>
                <a:spcPts val="1200"/>
              </a:spcBef>
            </a:pPr>
            <a:r>
              <a:rPr lang="en-US" sz="3200" b="1" dirty="0">
                <a:latin typeface="Calibri" panose="020F0502020204030204" pitchFamily="34" charset="0"/>
                <a:ea typeface="Calibri" panose="020F0502020204030204" pitchFamily="34" charset="0"/>
                <a:cs typeface="Calibri" panose="020F0502020204030204" pitchFamily="34" charset="0"/>
              </a:rPr>
              <a:t>Sulfonamide antibiotic allergy</a:t>
            </a:r>
          </a:p>
          <a:p>
            <a:pPr lvl="1">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Cross-reactivity with sulfonylureas is </a:t>
            </a:r>
            <a:r>
              <a:rPr lang="en-US" sz="3200" b="1" dirty="0">
                <a:latin typeface="Calibri" panose="020F0502020204030204" pitchFamily="34" charset="0"/>
                <a:ea typeface="Calibri" panose="020F0502020204030204" pitchFamily="34" charset="0"/>
                <a:cs typeface="Calibri" panose="020F0502020204030204" pitchFamily="34" charset="0"/>
              </a:rPr>
              <a:t>unlikely</a:t>
            </a:r>
            <a:endParaRPr lang="en-US" sz="32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0809727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Shape 169"/>
          <p:cNvSpPr>
            <a:spLocks noGrp="1"/>
          </p:cNvSpPr>
          <p:nvPr>
            <p:ph type="title" idx="4294967295"/>
          </p:nvPr>
        </p:nvSpPr>
        <p:spPr>
          <a:xfrm>
            <a:off x="649287" y="0"/>
            <a:ext cx="11704638" cy="1371600"/>
          </a:xfrm>
          <a:prstGeom prst="rect">
            <a:avLst/>
          </a:prstGeom>
        </p:spPr>
        <p:txBody>
          <a:bodyPr lIns="72248" tIns="72248" rIns="72248" bIns="72248" anchor="ctr">
            <a:normAutofit/>
          </a:bodyPr>
          <a:lstStyle>
            <a:lvl1pPr defTabSz="1300162">
              <a:defRPr sz="5600">
                <a:latin typeface="Arial"/>
                <a:ea typeface="Arial"/>
                <a:cs typeface="Arial"/>
                <a:sym typeface="Arial"/>
              </a:defRPr>
            </a:lvl1pPr>
          </a:lstStyle>
          <a:p>
            <a:pPr algn="l">
              <a:buNone/>
            </a:pPr>
            <a:r>
              <a:rPr lang="en-US" dirty="0"/>
              <a:t>Sulfonylurea Overdose</a:t>
            </a:r>
            <a:endParaRPr dirty="0"/>
          </a:p>
        </p:txBody>
      </p:sp>
      <p:sp>
        <p:nvSpPr>
          <p:cNvPr id="170" name="Shape 170"/>
          <p:cNvSpPr>
            <a:spLocks noGrp="1"/>
          </p:cNvSpPr>
          <p:nvPr>
            <p:ph type="body" idx="4294967295"/>
          </p:nvPr>
        </p:nvSpPr>
        <p:spPr>
          <a:xfrm>
            <a:off x="323850" y="2026920"/>
            <a:ext cx="12463463" cy="7617143"/>
          </a:xfrm>
          <a:prstGeom prst="rect">
            <a:avLst/>
          </a:prstGeom>
        </p:spPr>
        <p:txBody>
          <a:bodyPr lIns="72248" tIns="72248" rIns="72248" bIns="72248">
            <a:normAutofit/>
          </a:bodyPr>
          <a:lstStyle/>
          <a:p>
            <a:pPr marL="228600" indent="-228600" defTabSz="1300162">
              <a:spcBef>
                <a:spcPts val="700"/>
              </a:spcBef>
              <a:buFontTx/>
              <a:buChar char="•"/>
              <a:defRPr sz="4400">
                <a:latin typeface="Arial"/>
                <a:ea typeface="Arial"/>
                <a:cs typeface="Arial"/>
                <a:sym typeface="Arial"/>
              </a:defRPr>
            </a:pPr>
            <a:endParaRPr lang="en-US" sz="3200" b="1" i="1" dirty="0">
              <a:latin typeface="Calibri" panose="020F0502020204030204" pitchFamily="34" charset="0"/>
              <a:ea typeface="Calibri" panose="020F0502020204030204" pitchFamily="34" charset="0"/>
              <a:cs typeface="Calibri" panose="020F0502020204030204" pitchFamily="34" charset="0"/>
            </a:endParaRPr>
          </a:p>
          <a:p>
            <a:pPr marL="228600" indent="-228600" defTabSz="1300162">
              <a:spcBef>
                <a:spcPts val="700"/>
              </a:spcBef>
              <a:buFontTx/>
              <a:buChar char="•"/>
              <a:defRPr sz="4400">
                <a:latin typeface="Arial"/>
                <a:ea typeface="Arial"/>
                <a:cs typeface="Arial"/>
                <a:sym typeface="Arial"/>
              </a:defRPr>
            </a:pPr>
            <a:r>
              <a:rPr lang="en-US" sz="3200" dirty="0">
                <a:latin typeface="Calibri" panose="020F0502020204030204" pitchFamily="34" charset="0"/>
                <a:ea typeface="Calibri" panose="020F0502020204030204" pitchFamily="34" charset="0"/>
                <a:cs typeface="Calibri" panose="020F0502020204030204" pitchFamily="34" charset="0"/>
                <a:sym typeface="Arial"/>
              </a:rPr>
              <a:t>Sulfonylurea overdose can cause </a:t>
            </a:r>
            <a:r>
              <a:rPr lang="en-US" sz="3200" b="1" dirty="0">
                <a:latin typeface="Calibri" panose="020F0502020204030204" pitchFamily="34" charset="0"/>
                <a:ea typeface="Calibri" panose="020F0502020204030204" pitchFamily="34" charset="0"/>
                <a:cs typeface="Calibri" panose="020F0502020204030204" pitchFamily="34" charset="0"/>
                <a:sym typeface="Arial"/>
              </a:rPr>
              <a:t>severe hypoglycemia</a:t>
            </a:r>
          </a:p>
          <a:p>
            <a:pPr marL="228600" indent="-228600" defTabSz="1300162">
              <a:spcBef>
                <a:spcPts val="700"/>
              </a:spcBef>
              <a:buFontTx/>
              <a:buChar char="•"/>
              <a:defRPr sz="4400">
                <a:latin typeface="Arial"/>
                <a:ea typeface="Arial"/>
                <a:cs typeface="Arial"/>
                <a:sym typeface="Arial"/>
              </a:defRPr>
            </a:pPr>
            <a:r>
              <a:rPr lang="en-US" sz="3200" dirty="0">
                <a:latin typeface="Calibri" panose="020F0502020204030204" pitchFamily="34" charset="0"/>
                <a:ea typeface="Calibri" panose="020F0502020204030204" pitchFamily="34" charset="0"/>
                <a:cs typeface="Calibri" panose="020F0502020204030204" pitchFamily="34" charset="0"/>
                <a:sym typeface="Arial"/>
              </a:rPr>
              <a:t>Hypoglycemia may be </a:t>
            </a:r>
            <a:r>
              <a:rPr lang="en-US" sz="3200" b="1" dirty="0">
                <a:latin typeface="Calibri" panose="020F0502020204030204" pitchFamily="34" charset="0"/>
                <a:ea typeface="Calibri" panose="020F0502020204030204" pitchFamily="34" charset="0"/>
                <a:cs typeface="Calibri" panose="020F0502020204030204" pitchFamily="34" charset="0"/>
                <a:sym typeface="Arial"/>
              </a:rPr>
              <a:t>prolonged and recurrent</a:t>
            </a:r>
          </a:p>
          <a:p>
            <a:pPr marL="228600" indent="-228600" defTabSz="1300162">
              <a:spcBef>
                <a:spcPts val="700"/>
              </a:spcBef>
              <a:buFontTx/>
              <a:buChar char="•"/>
              <a:defRPr sz="4400">
                <a:latin typeface="Arial"/>
                <a:ea typeface="Arial"/>
                <a:cs typeface="Arial"/>
                <a:sym typeface="Arial"/>
              </a:defRPr>
            </a:pPr>
            <a:r>
              <a:rPr lang="en-US" sz="3200" dirty="0">
                <a:latin typeface="Calibri" panose="020F0502020204030204" pitchFamily="34" charset="0"/>
                <a:ea typeface="Calibri" panose="020F0502020204030204" pitchFamily="34" charset="0"/>
                <a:cs typeface="Calibri" panose="020F0502020204030204" pitchFamily="34" charset="0"/>
                <a:sym typeface="Arial"/>
              </a:rPr>
              <a:t>Patients require </a:t>
            </a:r>
            <a:r>
              <a:rPr lang="en-US" sz="3200" b="1" dirty="0">
                <a:latin typeface="Calibri" panose="020F0502020204030204" pitchFamily="34" charset="0"/>
                <a:ea typeface="Calibri" panose="020F0502020204030204" pitchFamily="34" charset="0"/>
                <a:cs typeface="Calibri" panose="020F0502020204030204" pitchFamily="34" charset="0"/>
                <a:sym typeface="Arial"/>
              </a:rPr>
              <a:t>extended glucose monitoring</a:t>
            </a:r>
          </a:p>
          <a:p>
            <a:pPr marL="228600" indent="-228600" defTabSz="1300162">
              <a:spcBef>
                <a:spcPts val="700"/>
              </a:spcBef>
              <a:buFontTx/>
              <a:buChar char="•"/>
              <a:defRPr sz="4400">
                <a:latin typeface="Arial"/>
                <a:ea typeface="Arial"/>
                <a:cs typeface="Arial"/>
                <a:sym typeface="Arial"/>
              </a:defRPr>
            </a:pPr>
            <a:r>
              <a:rPr lang="en-US" sz="3200" dirty="0">
                <a:latin typeface="Calibri" panose="020F0502020204030204" pitchFamily="34" charset="0"/>
                <a:ea typeface="Calibri" panose="020F0502020204030204" pitchFamily="34" charset="0"/>
                <a:cs typeface="Calibri" panose="020F0502020204030204" pitchFamily="34" charset="0"/>
                <a:sym typeface="Arial"/>
              </a:rPr>
              <a:t>Duration may be prolonged further with </a:t>
            </a:r>
            <a:r>
              <a:rPr lang="en-US" sz="3200" b="1" dirty="0">
                <a:latin typeface="Calibri" panose="020F0502020204030204" pitchFamily="34" charset="0"/>
                <a:ea typeface="Calibri" panose="020F0502020204030204" pitchFamily="34" charset="0"/>
                <a:cs typeface="Calibri" panose="020F0502020204030204" pitchFamily="34" charset="0"/>
                <a:sym typeface="Arial"/>
              </a:rPr>
              <a:t>renal impairment</a:t>
            </a:r>
            <a:endParaRPr sz="32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310388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800" cy="975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8720" y="0"/>
            <a:ext cx="10627360" cy="97536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96441" y="0"/>
            <a:ext cx="10611917" cy="97536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07CA351-A75B-4ADA-A5AB-0693EAFA2E7A}"/>
              </a:ext>
            </a:extLst>
          </p:cNvPr>
          <p:cNvSpPr>
            <a:spLocks noGrp="1"/>
          </p:cNvSpPr>
          <p:nvPr>
            <p:ph type="ctrTitle"/>
          </p:nvPr>
        </p:nvSpPr>
        <p:spPr>
          <a:xfrm>
            <a:off x="1625603" y="2843896"/>
            <a:ext cx="9753600" cy="3931062"/>
          </a:xfrm>
        </p:spPr>
        <p:txBody>
          <a:bodyPr anchor="ctr">
            <a:normAutofit/>
          </a:bodyPr>
          <a:lstStyle/>
          <a:p>
            <a:pPr>
              <a:buNone/>
            </a:pPr>
            <a:r>
              <a:rPr lang="en-US" sz="8900" dirty="0"/>
              <a:t>Thiazolidinediones</a:t>
            </a:r>
          </a:p>
        </p:txBody>
      </p:sp>
      <p:sp>
        <p:nvSpPr>
          <p:cNvPr id="14" name="Rectangle 13">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66464" y="7857473"/>
            <a:ext cx="5071872" cy="390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3802267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 name="Shape 196"/>
          <p:cNvSpPr>
            <a:spLocks noGrp="1"/>
          </p:cNvSpPr>
          <p:nvPr>
            <p:ph type="title" idx="4294967295"/>
          </p:nvPr>
        </p:nvSpPr>
        <p:spPr>
          <a:xfrm>
            <a:off x="649287" y="152400"/>
            <a:ext cx="11704638" cy="1219200"/>
          </a:xfrm>
          <a:prstGeom prst="rect">
            <a:avLst/>
          </a:prstGeom>
        </p:spPr>
        <p:txBody>
          <a:bodyPr lIns="72248" tIns="72248" rIns="72248" bIns="72248" anchor="ctr">
            <a:normAutofit/>
          </a:bodyPr>
          <a:lstStyle>
            <a:lvl1pPr defTabSz="1300162">
              <a:defRPr sz="5600">
                <a:latin typeface="Arial"/>
                <a:ea typeface="Arial"/>
                <a:cs typeface="Arial"/>
                <a:sym typeface="Arial"/>
              </a:defRPr>
            </a:lvl1pPr>
          </a:lstStyle>
          <a:p>
            <a:pPr>
              <a:buNone/>
            </a:pPr>
            <a:r>
              <a:rPr dirty="0"/>
              <a:t>Thiazolidinediones</a:t>
            </a:r>
            <a:r>
              <a:rPr lang="en-US" dirty="0"/>
              <a:t> MOA</a:t>
            </a:r>
            <a:endParaRPr dirty="0"/>
          </a:p>
        </p:txBody>
      </p:sp>
      <p:sp>
        <p:nvSpPr>
          <p:cNvPr id="197" name="Shape 197"/>
          <p:cNvSpPr>
            <a:spLocks noGrp="1"/>
          </p:cNvSpPr>
          <p:nvPr>
            <p:ph type="body" idx="4294967295"/>
          </p:nvPr>
        </p:nvSpPr>
        <p:spPr>
          <a:xfrm>
            <a:off x="323850" y="2423160"/>
            <a:ext cx="12463463" cy="7101840"/>
          </a:xfrm>
          <a:prstGeom prst="rect">
            <a:avLst/>
          </a:prstGeom>
        </p:spPr>
        <p:txBody>
          <a:bodyPr lIns="72248" tIns="72248" rIns="72248" bIns="72248">
            <a:normAutofit/>
          </a:bodyPr>
          <a:lstStyle/>
          <a:p>
            <a:pPr marL="277812" indent="-277812" defTabSz="1300162">
              <a:spcBef>
                <a:spcPts val="1200"/>
              </a:spcBef>
              <a:buChar char="•"/>
              <a:defRPr sz="4500">
                <a:latin typeface="Arial"/>
                <a:ea typeface="Arial"/>
                <a:cs typeface="Arial"/>
                <a:sym typeface="Arial"/>
              </a:defRPr>
            </a:pPr>
            <a:r>
              <a:rPr lang="en-US" sz="3200" b="1" dirty="0">
                <a:latin typeface="Calibri" panose="020F0502020204030204" pitchFamily="34" charset="0"/>
                <a:ea typeface="Calibri" panose="020F0502020204030204" pitchFamily="34" charset="0"/>
                <a:cs typeface="Calibri" panose="020F0502020204030204" pitchFamily="34" charset="0"/>
                <a:sym typeface="Arial"/>
              </a:rPr>
              <a:t>Increase insulin sensitivity</a:t>
            </a:r>
            <a:r>
              <a:rPr lang="en-US" sz="3200" dirty="0">
                <a:latin typeface="Calibri" panose="020F0502020204030204" pitchFamily="34" charset="0"/>
                <a:ea typeface="Calibri" panose="020F0502020204030204" pitchFamily="34" charset="0"/>
                <a:cs typeface="Calibri" panose="020F0502020204030204" pitchFamily="34" charset="0"/>
                <a:sym typeface="Arial"/>
              </a:rPr>
              <a:t> in peripheral tissues</a:t>
            </a:r>
          </a:p>
          <a:p>
            <a:pPr marL="277812" indent="-277812" defTabSz="1300162">
              <a:spcBef>
                <a:spcPts val="1200"/>
              </a:spcBef>
              <a:buChar char="•"/>
              <a:defRPr sz="4500">
                <a:latin typeface="Arial"/>
                <a:ea typeface="Arial"/>
                <a:cs typeface="Arial"/>
                <a:sym typeface="Arial"/>
              </a:defRPr>
            </a:pPr>
            <a:r>
              <a:rPr lang="en-US" sz="3200" dirty="0">
                <a:latin typeface="Calibri" panose="020F0502020204030204" pitchFamily="34" charset="0"/>
                <a:ea typeface="Calibri" panose="020F0502020204030204" pitchFamily="34" charset="0"/>
                <a:cs typeface="Calibri" panose="020F0502020204030204" pitchFamily="34" charset="0"/>
                <a:sym typeface="Arial"/>
              </a:rPr>
              <a:t>↑ Glucose uptake in </a:t>
            </a:r>
            <a:r>
              <a:rPr lang="en-US" sz="3200" b="1" dirty="0">
                <a:latin typeface="Calibri" panose="020F0502020204030204" pitchFamily="34" charset="0"/>
                <a:ea typeface="Calibri" panose="020F0502020204030204" pitchFamily="34" charset="0"/>
                <a:cs typeface="Calibri" panose="020F0502020204030204" pitchFamily="34" charset="0"/>
                <a:sym typeface="Arial"/>
              </a:rPr>
              <a:t>muscle and adipose tissue</a:t>
            </a:r>
          </a:p>
          <a:p>
            <a:pPr marL="277812" indent="-277812" defTabSz="1300162">
              <a:spcBef>
                <a:spcPts val="1200"/>
              </a:spcBef>
              <a:buChar char="•"/>
              <a:defRPr sz="4500">
                <a:latin typeface="Arial"/>
                <a:ea typeface="Arial"/>
                <a:cs typeface="Arial"/>
                <a:sym typeface="Arial"/>
              </a:defRPr>
            </a:pPr>
            <a:r>
              <a:rPr lang="en-US" sz="3200" dirty="0">
                <a:latin typeface="Calibri" panose="020F0502020204030204" pitchFamily="34" charset="0"/>
                <a:ea typeface="Calibri" panose="020F0502020204030204" pitchFamily="34" charset="0"/>
                <a:cs typeface="Calibri" panose="020F0502020204030204" pitchFamily="34" charset="0"/>
                <a:sym typeface="Arial"/>
              </a:rPr>
              <a:t>↓ </a:t>
            </a:r>
            <a:r>
              <a:rPr lang="en-US" sz="3200" b="1" dirty="0">
                <a:latin typeface="Calibri" panose="020F0502020204030204" pitchFamily="34" charset="0"/>
                <a:ea typeface="Calibri" panose="020F0502020204030204" pitchFamily="34" charset="0"/>
                <a:cs typeface="Calibri" panose="020F0502020204030204" pitchFamily="34" charset="0"/>
                <a:sym typeface="Arial"/>
              </a:rPr>
              <a:t>Hepatic glucose production</a:t>
            </a:r>
          </a:p>
          <a:p>
            <a:pPr marL="277812" indent="-277812" defTabSz="1300162">
              <a:spcBef>
                <a:spcPts val="1200"/>
              </a:spcBef>
              <a:buChar char="•"/>
              <a:defRPr sz="4500">
                <a:latin typeface="Arial"/>
                <a:ea typeface="Arial"/>
                <a:cs typeface="Arial"/>
                <a:sym typeface="Arial"/>
              </a:defRPr>
            </a:pPr>
            <a:r>
              <a:rPr lang="en-US" sz="3200" dirty="0">
                <a:latin typeface="Calibri" panose="020F0502020204030204" pitchFamily="34" charset="0"/>
                <a:ea typeface="Calibri" panose="020F0502020204030204" pitchFamily="34" charset="0"/>
                <a:cs typeface="Calibri" panose="020F0502020204030204" pitchFamily="34" charset="0"/>
                <a:sym typeface="Arial"/>
              </a:rPr>
              <a:t>Do </a:t>
            </a:r>
            <a:r>
              <a:rPr lang="en-US" sz="3200" b="1" dirty="0">
                <a:latin typeface="Calibri" panose="020F0502020204030204" pitchFamily="34" charset="0"/>
                <a:ea typeface="Calibri" panose="020F0502020204030204" pitchFamily="34" charset="0"/>
                <a:cs typeface="Calibri" panose="020F0502020204030204" pitchFamily="34" charset="0"/>
                <a:sym typeface="Arial"/>
              </a:rPr>
              <a:t>not</a:t>
            </a:r>
            <a:r>
              <a:rPr lang="en-US" sz="3200" dirty="0">
                <a:latin typeface="Calibri" panose="020F0502020204030204" pitchFamily="34" charset="0"/>
                <a:ea typeface="Calibri" panose="020F0502020204030204" pitchFamily="34" charset="0"/>
                <a:cs typeface="Calibri" panose="020F0502020204030204" pitchFamily="34" charset="0"/>
                <a:sym typeface="Arial"/>
              </a:rPr>
              <a:t> stimulate insulin secretion</a:t>
            </a:r>
          </a:p>
          <a:p>
            <a:pPr marL="277812" indent="-277812" defTabSz="1300162">
              <a:spcBef>
                <a:spcPts val="1200"/>
              </a:spcBef>
              <a:buChar char="•"/>
              <a:defRPr sz="4500">
                <a:latin typeface="Arial"/>
                <a:ea typeface="Arial"/>
                <a:cs typeface="Arial"/>
                <a:sym typeface="Arial"/>
              </a:defRPr>
            </a:pPr>
            <a:endParaRPr lang="en-US" sz="3200" dirty="0">
              <a:latin typeface="Calibri" panose="020F0502020204030204" pitchFamily="34" charset="0"/>
              <a:ea typeface="Calibri" panose="020F0502020204030204" pitchFamily="34" charset="0"/>
              <a:cs typeface="Calibri" panose="020F0502020204030204" pitchFamily="34" charset="0"/>
              <a:sym typeface="Arial"/>
            </a:endParaRPr>
          </a:p>
          <a:p>
            <a:pPr marL="277812" indent="-277812" defTabSz="1300162">
              <a:spcBef>
                <a:spcPts val="1200"/>
              </a:spcBef>
              <a:buChar char="•"/>
              <a:defRPr sz="4500">
                <a:latin typeface="Arial"/>
                <a:ea typeface="Arial"/>
                <a:cs typeface="Arial"/>
                <a:sym typeface="Arial"/>
              </a:defRPr>
            </a:pPr>
            <a:endParaRPr lang="en-US" sz="3200" dirty="0">
              <a:latin typeface="Calibri" panose="020F0502020204030204" pitchFamily="34" charset="0"/>
              <a:ea typeface="Calibri" panose="020F0502020204030204" pitchFamily="34" charset="0"/>
              <a:cs typeface="Calibri" panose="020F0502020204030204" pitchFamily="34" charset="0"/>
              <a:sym typeface="Arial"/>
            </a:endParaRPr>
          </a:p>
          <a:p>
            <a:pPr defTabSz="1300162">
              <a:spcBef>
                <a:spcPts val="1200"/>
              </a:spcBef>
              <a:buNone/>
              <a:defRPr sz="4500">
                <a:latin typeface="Arial"/>
                <a:ea typeface="Arial"/>
                <a:cs typeface="Arial"/>
                <a:sym typeface="Arial"/>
              </a:defRPr>
            </a:pPr>
            <a:r>
              <a:rPr lang="en-US" sz="3200" dirty="0">
                <a:latin typeface="Calibri" panose="020F0502020204030204" pitchFamily="34" charset="0"/>
                <a:ea typeface="Calibri" panose="020F0502020204030204" pitchFamily="34" charset="0"/>
                <a:cs typeface="Calibri" panose="020F0502020204030204" pitchFamily="34" charset="0"/>
                <a:sym typeface="Arial"/>
              </a:rPr>
              <a:t>Medications:</a:t>
            </a:r>
          </a:p>
          <a:p>
            <a:pPr marL="673791" lvl="1" indent="-277812" defTabSz="1300162">
              <a:spcBef>
                <a:spcPts val="1200"/>
              </a:spcBef>
              <a:buChar char="•"/>
              <a:defRPr sz="4500">
                <a:latin typeface="Arial"/>
                <a:ea typeface="Arial"/>
                <a:cs typeface="Arial"/>
                <a:sym typeface="Arial"/>
              </a:defRPr>
            </a:pPr>
            <a:r>
              <a:rPr lang="en-US" sz="3200" b="1" dirty="0">
                <a:latin typeface="Calibri" panose="020F0502020204030204" pitchFamily="34" charset="0"/>
                <a:ea typeface="Calibri" panose="020F0502020204030204" pitchFamily="34" charset="0"/>
                <a:cs typeface="Calibri" panose="020F0502020204030204" pitchFamily="34" charset="0"/>
                <a:sym typeface="Arial"/>
              </a:rPr>
              <a:t>Pioglitazone (Actos)</a:t>
            </a:r>
          </a:p>
          <a:p>
            <a:pPr marL="673791" lvl="1" indent="-277812" defTabSz="1300162">
              <a:spcBef>
                <a:spcPts val="1200"/>
              </a:spcBef>
              <a:buChar char="•"/>
              <a:defRPr sz="4500">
                <a:latin typeface="Arial"/>
                <a:ea typeface="Arial"/>
                <a:cs typeface="Arial"/>
                <a:sym typeface="Arial"/>
              </a:defRPr>
            </a:pPr>
            <a:r>
              <a:rPr lang="en-US" sz="3200" b="1" dirty="0">
                <a:latin typeface="Calibri" panose="020F0502020204030204" pitchFamily="34" charset="0"/>
                <a:ea typeface="Calibri" panose="020F0502020204030204" pitchFamily="34" charset="0"/>
                <a:cs typeface="Calibri" panose="020F0502020204030204" pitchFamily="34" charset="0"/>
                <a:sym typeface="Arial"/>
              </a:rPr>
              <a:t>Rosiglitazone (Avandia)</a:t>
            </a:r>
            <a:endParaRPr lang="en-US" sz="3200" dirty="0">
              <a:latin typeface="Calibri" panose="020F0502020204030204" pitchFamily="34" charset="0"/>
              <a:ea typeface="Calibri" panose="020F0502020204030204" pitchFamily="34" charset="0"/>
              <a:cs typeface="Calibri" panose="020F0502020204030204" pitchFamily="34" charset="0"/>
            </a:endParaRPr>
          </a:p>
          <a:p>
            <a:pPr marL="277812" indent="-277812" defTabSz="1300162">
              <a:spcBef>
                <a:spcPts val="1200"/>
              </a:spcBef>
              <a:buChar char="•"/>
              <a:defRPr sz="4500">
                <a:latin typeface="Arial"/>
                <a:ea typeface="Arial"/>
                <a:cs typeface="Arial"/>
                <a:sym typeface="Arial"/>
              </a:defRPr>
            </a:pPr>
            <a:endParaRPr sz="32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7476434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 name="Shape 199"/>
          <p:cNvSpPr>
            <a:spLocks noGrp="1"/>
          </p:cNvSpPr>
          <p:nvPr>
            <p:ph type="title" idx="4294967295"/>
          </p:nvPr>
        </p:nvSpPr>
        <p:spPr>
          <a:xfrm>
            <a:off x="649287" y="152400"/>
            <a:ext cx="11704638" cy="1219200"/>
          </a:xfrm>
          <a:prstGeom prst="rect">
            <a:avLst/>
          </a:prstGeom>
        </p:spPr>
        <p:txBody>
          <a:bodyPr lIns="72248" tIns="72248" rIns="72248" bIns="72248" anchor="ctr">
            <a:normAutofit/>
          </a:bodyPr>
          <a:lstStyle>
            <a:lvl1pPr defTabSz="1300162">
              <a:defRPr sz="5600">
                <a:latin typeface="Arial"/>
                <a:ea typeface="Arial"/>
                <a:cs typeface="Arial"/>
                <a:sym typeface="Arial"/>
              </a:defRPr>
            </a:lvl1pPr>
          </a:lstStyle>
          <a:p>
            <a:pPr>
              <a:buNone/>
            </a:pPr>
            <a:r>
              <a:rPr dirty="0"/>
              <a:t>Thiazolidinediones</a:t>
            </a:r>
            <a:r>
              <a:rPr lang="en-US" dirty="0"/>
              <a:t>: Clinical Effects</a:t>
            </a:r>
            <a:endParaRPr dirty="0"/>
          </a:p>
        </p:txBody>
      </p:sp>
      <p:sp>
        <p:nvSpPr>
          <p:cNvPr id="200" name="Shape 200"/>
          <p:cNvSpPr>
            <a:spLocks noGrp="1"/>
          </p:cNvSpPr>
          <p:nvPr>
            <p:ph type="body" idx="4294967295"/>
          </p:nvPr>
        </p:nvSpPr>
        <p:spPr>
          <a:xfrm>
            <a:off x="323850" y="1949116"/>
            <a:ext cx="12463463" cy="7575884"/>
          </a:xfrm>
          <a:prstGeom prst="rect">
            <a:avLst/>
          </a:prstGeom>
        </p:spPr>
        <p:txBody>
          <a:bodyPr lIns="72248" tIns="72248" rIns="72248" bIns="72248">
            <a:normAutofit/>
          </a:bodyPr>
          <a:lstStyle/>
          <a:p>
            <a:pPr marL="685800" indent="-685800" defTabSz="1300162">
              <a:lnSpc>
                <a:spcPct val="90000"/>
              </a:lnSpc>
              <a:spcBef>
                <a:spcPts val="700"/>
              </a:spcBef>
              <a:buFontTx/>
              <a:buChar char="•"/>
              <a:defRPr sz="4500">
                <a:latin typeface="Arial"/>
                <a:ea typeface="Arial"/>
                <a:cs typeface="Arial"/>
                <a:sym typeface="Arial"/>
              </a:defRPr>
            </a:pPr>
            <a:r>
              <a:rPr lang="en-US" sz="3200" b="1" dirty="0">
                <a:latin typeface="Calibri" panose="020F0502020204030204" pitchFamily="34" charset="0"/>
                <a:ea typeface="Calibri" panose="020F0502020204030204" pitchFamily="34" charset="0"/>
                <a:cs typeface="Calibri" panose="020F0502020204030204" pitchFamily="34" charset="0"/>
                <a:sym typeface="Arial"/>
              </a:rPr>
              <a:t>Expected A1C reduction: ~0.5–1%</a:t>
            </a:r>
          </a:p>
          <a:p>
            <a:pPr marL="685800" indent="-685800" defTabSz="1300162">
              <a:lnSpc>
                <a:spcPct val="90000"/>
              </a:lnSpc>
              <a:spcBef>
                <a:spcPts val="700"/>
              </a:spcBef>
              <a:buFontTx/>
              <a:buChar char="•"/>
              <a:defRPr sz="4500">
                <a:latin typeface="Arial"/>
                <a:ea typeface="Arial"/>
                <a:cs typeface="Arial"/>
                <a:sym typeface="Arial"/>
              </a:defRPr>
            </a:pPr>
            <a:r>
              <a:rPr lang="en-US" sz="3200" b="1" dirty="0">
                <a:latin typeface="Calibri" panose="020F0502020204030204" pitchFamily="34" charset="0"/>
                <a:ea typeface="Calibri" panose="020F0502020204030204" pitchFamily="34" charset="0"/>
                <a:cs typeface="Calibri" panose="020F0502020204030204" pitchFamily="34" charset="0"/>
                <a:sym typeface="Arial"/>
              </a:rPr>
              <a:t>Low risk of hypoglycemia</a:t>
            </a:r>
            <a:r>
              <a:rPr lang="en-US" sz="3200" dirty="0">
                <a:latin typeface="Calibri" panose="020F0502020204030204" pitchFamily="34" charset="0"/>
                <a:ea typeface="Calibri" panose="020F0502020204030204" pitchFamily="34" charset="0"/>
                <a:cs typeface="Calibri" panose="020F0502020204030204" pitchFamily="34" charset="0"/>
                <a:sym typeface="Arial"/>
              </a:rPr>
              <a:t> when used alone</a:t>
            </a:r>
          </a:p>
          <a:p>
            <a:pPr marL="685800" indent="-685800" defTabSz="1300162">
              <a:lnSpc>
                <a:spcPct val="90000"/>
              </a:lnSpc>
              <a:spcBef>
                <a:spcPts val="700"/>
              </a:spcBef>
              <a:buFontTx/>
              <a:buChar char="•"/>
              <a:defRPr sz="4500">
                <a:latin typeface="Arial"/>
                <a:ea typeface="Arial"/>
                <a:cs typeface="Arial"/>
                <a:sym typeface="Arial"/>
              </a:defRPr>
            </a:pPr>
            <a:r>
              <a:rPr lang="en-US" sz="3200" b="1" dirty="0">
                <a:latin typeface="Calibri" panose="020F0502020204030204" pitchFamily="34" charset="0"/>
                <a:ea typeface="Calibri" panose="020F0502020204030204" pitchFamily="34" charset="0"/>
                <a:cs typeface="Calibri" panose="020F0502020204030204" pitchFamily="34" charset="0"/>
                <a:sym typeface="Arial"/>
              </a:rPr>
              <a:t>Weight gain</a:t>
            </a:r>
          </a:p>
          <a:p>
            <a:pPr marL="685800" indent="-685800" defTabSz="1300162">
              <a:lnSpc>
                <a:spcPct val="90000"/>
              </a:lnSpc>
              <a:spcBef>
                <a:spcPts val="700"/>
              </a:spcBef>
              <a:buFontTx/>
              <a:buChar char="•"/>
              <a:defRPr sz="4500">
                <a:latin typeface="Arial"/>
                <a:ea typeface="Arial"/>
                <a:cs typeface="Arial"/>
                <a:sym typeface="Arial"/>
              </a:defRPr>
            </a:pPr>
            <a:r>
              <a:rPr lang="en-US" sz="3200" dirty="0">
                <a:latin typeface="Calibri" panose="020F0502020204030204" pitchFamily="34" charset="0"/>
                <a:ea typeface="Calibri" panose="020F0502020204030204" pitchFamily="34" charset="0"/>
                <a:cs typeface="Calibri" panose="020F0502020204030204" pitchFamily="34" charset="0"/>
                <a:sym typeface="Arial"/>
              </a:rPr>
              <a:t>Effects develop </a:t>
            </a:r>
            <a:r>
              <a:rPr lang="en-US" sz="3200" b="1" dirty="0">
                <a:latin typeface="Calibri" panose="020F0502020204030204" pitchFamily="34" charset="0"/>
                <a:ea typeface="Calibri" panose="020F0502020204030204" pitchFamily="34" charset="0"/>
                <a:cs typeface="Calibri" panose="020F0502020204030204" pitchFamily="34" charset="0"/>
                <a:sym typeface="Arial"/>
              </a:rPr>
              <a:t>slowly</a:t>
            </a:r>
            <a:r>
              <a:rPr lang="en-US" sz="3200" dirty="0">
                <a:latin typeface="Calibri" panose="020F0502020204030204" pitchFamily="34" charset="0"/>
                <a:ea typeface="Calibri" panose="020F0502020204030204" pitchFamily="34" charset="0"/>
                <a:cs typeface="Calibri" panose="020F0502020204030204" pitchFamily="34" charset="0"/>
                <a:sym typeface="Arial"/>
              </a:rPr>
              <a:t> — may take several weeks for full benefit</a:t>
            </a:r>
            <a:endParaRPr sz="32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6264823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9" name="Shape 709"/>
          <p:cNvSpPr>
            <a:spLocks noGrp="1"/>
          </p:cNvSpPr>
          <p:nvPr>
            <p:ph type="title" idx="4294967295"/>
          </p:nvPr>
        </p:nvSpPr>
        <p:spPr>
          <a:xfrm>
            <a:off x="649287" y="215900"/>
            <a:ext cx="11704638" cy="1408113"/>
          </a:xfrm>
          <a:prstGeom prst="rect">
            <a:avLst/>
          </a:prstGeom>
        </p:spPr>
        <p:txBody>
          <a:bodyPr lIns="72248" tIns="72248" rIns="72248" bIns="72248" anchor="ctr">
            <a:normAutofit/>
          </a:bodyPr>
          <a:lstStyle>
            <a:lvl1pPr defTabSz="1300162">
              <a:defRPr sz="5600">
                <a:latin typeface="Arial"/>
                <a:ea typeface="Arial"/>
                <a:cs typeface="Arial"/>
                <a:sym typeface="Arial"/>
              </a:defRPr>
            </a:lvl1pPr>
          </a:lstStyle>
          <a:p>
            <a:pPr>
              <a:buNone/>
            </a:pPr>
            <a:r>
              <a:rPr lang="en-US" dirty="0"/>
              <a:t>Thiazolidinediones: Adverse Effects</a:t>
            </a:r>
            <a:endParaRPr dirty="0"/>
          </a:p>
        </p:txBody>
      </p:sp>
      <p:sp>
        <p:nvSpPr>
          <p:cNvPr id="710" name="Shape 710"/>
          <p:cNvSpPr>
            <a:spLocks noGrp="1"/>
          </p:cNvSpPr>
          <p:nvPr>
            <p:ph type="body" idx="4294967295"/>
          </p:nvPr>
        </p:nvSpPr>
        <p:spPr>
          <a:xfrm>
            <a:off x="323850" y="1733550"/>
            <a:ext cx="12463463" cy="7910513"/>
          </a:xfrm>
          <a:prstGeom prst="rect">
            <a:avLst/>
          </a:prstGeom>
        </p:spPr>
        <p:txBody>
          <a:bodyPr lIns="72248" tIns="72248" rIns="72248" bIns="72248">
            <a:normAutofit/>
          </a:bodyPr>
          <a:lstStyle/>
          <a:p>
            <a:pPr marL="685800" indent="-685800" defTabSz="1300162">
              <a:lnSpc>
                <a:spcPct val="90000"/>
              </a:lnSpc>
              <a:spcBef>
                <a:spcPts val="1200"/>
              </a:spcBef>
              <a:buFontTx/>
              <a:buChar char="•"/>
              <a:defRPr sz="4500">
                <a:latin typeface="Arial"/>
                <a:ea typeface="Arial"/>
                <a:cs typeface="Arial"/>
                <a:sym typeface="Arial"/>
              </a:defRPr>
            </a:pPr>
            <a:r>
              <a:rPr lang="en-US" sz="3200" b="1" dirty="0">
                <a:latin typeface="Calibri" panose="020F0502020204030204" pitchFamily="34" charset="0"/>
                <a:ea typeface="Calibri" panose="020F0502020204030204" pitchFamily="34" charset="0"/>
                <a:cs typeface="Calibri" panose="020F0502020204030204" pitchFamily="34" charset="0"/>
                <a:sym typeface="Arial"/>
              </a:rPr>
              <a:t>Weight gain</a:t>
            </a:r>
            <a:r>
              <a:rPr lang="en-US" sz="3200" dirty="0">
                <a:latin typeface="Calibri" panose="020F0502020204030204" pitchFamily="34" charset="0"/>
                <a:ea typeface="Calibri" panose="020F0502020204030204" pitchFamily="34" charset="0"/>
                <a:cs typeface="Calibri" panose="020F0502020204030204" pitchFamily="34" charset="0"/>
                <a:sym typeface="Arial"/>
              </a:rPr>
              <a:t>*</a:t>
            </a:r>
          </a:p>
          <a:p>
            <a:pPr marL="685800" indent="-685800" defTabSz="1300162">
              <a:lnSpc>
                <a:spcPct val="90000"/>
              </a:lnSpc>
              <a:spcBef>
                <a:spcPts val="1200"/>
              </a:spcBef>
              <a:buFontTx/>
              <a:buChar char="•"/>
              <a:defRPr sz="4500">
                <a:latin typeface="Arial"/>
                <a:ea typeface="Arial"/>
                <a:cs typeface="Arial"/>
                <a:sym typeface="Arial"/>
              </a:defRPr>
            </a:pPr>
            <a:r>
              <a:rPr lang="en-US" sz="3200" b="1" dirty="0">
                <a:latin typeface="Calibri" panose="020F0502020204030204" pitchFamily="34" charset="0"/>
                <a:ea typeface="Calibri" panose="020F0502020204030204" pitchFamily="34" charset="0"/>
                <a:cs typeface="Calibri" panose="020F0502020204030204" pitchFamily="34" charset="0"/>
                <a:sym typeface="Arial"/>
              </a:rPr>
              <a:t>Fluid retention / edema</a:t>
            </a:r>
            <a:r>
              <a:rPr lang="en-US" sz="3200" dirty="0">
                <a:latin typeface="Calibri" panose="020F0502020204030204" pitchFamily="34" charset="0"/>
                <a:ea typeface="Calibri" panose="020F0502020204030204" pitchFamily="34" charset="0"/>
                <a:cs typeface="Calibri" panose="020F0502020204030204" pitchFamily="34" charset="0"/>
                <a:sym typeface="Arial"/>
              </a:rPr>
              <a:t>*</a:t>
            </a:r>
          </a:p>
          <a:p>
            <a:pPr marL="685800" indent="-685800" defTabSz="1300162">
              <a:lnSpc>
                <a:spcPct val="90000"/>
              </a:lnSpc>
              <a:spcBef>
                <a:spcPts val="1200"/>
              </a:spcBef>
              <a:buFontTx/>
              <a:buChar char="•"/>
              <a:defRPr sz="4500">
                <a:latin typeface="Arial"/>
                <a:ea typeface="Arial"/>
                <a:cs typeface="Arial"/>
                <a:sym typeface="Arial"/>
              </a:defRPr>
            </a:pPr>
            <a:r>
              <a:rPr lang="en-US" sz="3200" dirty="0">
                <a:latin typeface="Calibri" panose="020F0502020204030204" pitchFamily="34" charset="0"/>
                <a:ea typeface="Calibri" panose="020F0502020204030204" pitchFamily="34" charset="0"/>
                <a:cs typeface="Calibri" panose="020F0502020204030204" pitchFamily="34" charset="0"/>
                <a:sym typeface="Arial"/>
              </a:rPr>
              <a:t>May </a:t>
            </a:r>
            <a:r>
              <a:rPr lang="en-US" sz="3200" b="1" dirty="0">
                <a:latin typeface="Calibri" panose="020F0502020204030204" pitchFamily="34" charset="0"/>
                <a:ea typeface="Calibri" panose="020F0502020204030204" pitchFamily="34" charset="0"/>
                <a:cs typeface="Calibri" panose="020F0502020204030204" pitchFamily="34" charset="0"/>
                <a:sym typeface="Arial"/>
              </a:rPr>
              <a:t>cause or worsen heart failure</a:t>
            </a:r>
          </a:p>
          <a:p>
            <a:pPr marL="685800" indent="-685800" defTabSz="1300162">
              <a:lnSpc>
                <a:spcPct val="90000"/>
              </a:lnSpc>
              <a:spcBef>
                <a:spcPts val="1200"/>
              </a:spcBef>
              <a:buFontTx/>
              <a:buChar char="•"/>
              <a:defRPr sz="4500">
                <a:latin typeface="Arial"/>
                <a:ea typeface="Arial"/>
                <a:cs typeface="Arial"/>
                <a:sym typeface="Arial"/>
              </a:defRPr>
            </a:pPr>
            <a:r>
              <a:rPr lang="en-US" sz="3200" dirty="0">
                <a:latin typeface="Calibri" panose="020F0502020204030204" pitchFamily="34" charset="0"/>
                <a:ea typeface="Calibri" panose="020F0502020204030204" pitchFamily="34" charset="0"/>
                <a:cs typeface="Calibri" panose="020F0502020204030204" pitchFamily="34" charset="0"/>
                <a:sym typeface="Arial"/>
              </a:rPr>
              <a:t>↑ </a:t>
            </a:r>
            <a:r>
              <a:rPr lang="en-US" sz="3200" b="1" dirty="0">
                <a:latin typeface="Calibri" panose="020F0502020204030204" pitchFamily="34" charset="0"/>
                <a:ea typeface="Calibri" panose="020F0502020204030204" pitchFamily="34" charset="0"/>
                <a:cs typeface="Calibri" panose="020F0502020204030204" pitchFamily="34" charset="0"/>
                <a:sym typeface="Arial"/>
              </a:rPr>
              <a:t>Risk of fractures</a:t>
            </a:r>
            <a:r>
              <a:rPr lang="en-US" sz="3200" dirty="0">
                <a:latin typeface="Calibri" panose="020F0502020204030204" pitchFamily="34" charset="0"/>
                <a:ea typeface="Calibri" panose="020F0502020204030204" pitchFamily="34" charset="0"/>
                <a:cs typeface="Calibri" panose="020F0502020204030204" pitchFamily="34" charset="0"/>
                <a:sym typeface="Arial"/>
              </a:rPr>
              <a:t>, particularly in women</a:t>
            </a:r>
          </a:p>
          <a:p>
            <a:pPr marL="685800" indent="-685800" defTabSz="1300162">
              <a:lnSpc>
                <a:spcPct val="90000"/>
              </a:lnSpc>
              <a:spcBef>
                <a:spcPts val="1200"/>
              </a:spcBef>
              <a:buFontTx/>
              <a:buChar char="•"/>
              <a:defRPr sz="4500">
                <a:latin typeface="Arial"/>
                <a:ea typeface="Arial"/>
                <a:cs typeface="Arial"/>
                <a:sym typeface="Arial"/>
              </a:defRPr>
            </a:pPr>
            <a:r>
              <a:rPr lang="en-US" sz="3200" b="1" dirty="0">
                <a:latin typeface="Calibri" panose="020F0502020204030204" pitchFamily="34" charset="0"/>
                <a:ea typeface="Calibri" panose="020F0502020204030204" pitchFamily="34" charset="0"/>
                <a:cs typeface="Calibri" panose="020F0502020204030204" pitchFamily="34" charset="0"/>
                <a:sym typeface="Arial"/>
              </a:rPr>
              <a:t>Hypoglycemia is uncommon</a:t>
            </a:r>
            <a:r>
              <a:rPr lang="en-US" sz="3200" dirty="0">
                <a:latin typeface="Calibri" panose="020F0502020204030204" pitchFamily="34" charset="0"/>
                <a:ea typeface="Calibri" panose="020F0502020204030204" pitchFamily="34" charset="0"/>
                <a:cs typeface="Calibri" panose="020F0502020204030204" pitchFamily="34" charset="0"/>
                <a:sym typeface="Arial"/>
              </a:rPr>
              <a:t> when used alone</a:t>
            </a:r>
          </a:p>
          <a:p>
            <a:pPr marL="685800" indent="-685800" defTabSz="1300162">
              <a:lnSpc>
                <a:spcPct val="90000"/>
              </a:lnSpc>
              <a:spcBef>
                <a:spcPts val="1200"/>
              </a:spcBef>
              <a:buFontTx/>
              <a:buChar char="•"/>
              <a:defRPr sz="4500">
                <a:latin typeface="Arial"/>
                <a:ea typeface="Arial"/>
                <a:cs typeface="Arial"/>
                <a:sym typeface="Arial"/>
              </a:defRPr>
            </a:pPr>
            <a:endParaRPr lang="en-US" sz="3200" dirty="0">
              <a:latin typeface="Calibri" panose="020F0502020204030204" pitchFamily="34" charset="0"/>
              <a:ea typeface="Calibri" panose="020F0502020204030204" pitchFamily="34" charset="0"/>
              <a:cs typeface="Calibri" panose="020F0502020204030204" pitchFamily="34" charset="0"/>
              <a:sym typeface="Arial"/>
            </a:endParaRPr>
          </a:p>
          <a:p>
            <a:pPr marL="685800" indent="-685800" defTabSz="1300162">
              <a:lnSpc>
                <a:spcPct val="90000"/>
              </a:lnSpc>
              <a:spcBef>
                <a:spcPts val="1200"/>
              </a:spcBef>
              <a:buFontTx/>
              <a:buChar char="•"/>
              <a:defRPr sz="4500">
                <a:latin typeface="Arial"/>
                <a:ea typeface="Arial"/>
                <a:cs typeface="Arial"/>
                <a:sym typeface="Arial"/>
              </a:defRPr>
            </a:pPr>
            <a:endParaRPr lang="en-US" sz="3200" dirty="0">
              <a:latin typeface="Calibri" panose="020F0502020204030204" pitchFamily="34" charset="0"/>
              <a:ea typeface="Calibri" panose="020F0502020204030204" pitchFamily="34" charset="0"/>
              <a:cs typeface="Calibri" panose="020F0502020204030204" pitchFamily="34" charset="0"/>
              <a:sym typeface="Arial"/>
            </a:endParaRPr>
          </a:p>
          <a:p>
            <a:pPr defTabSz="1300162">
              <a:lnSpc>
                <a:spcPct val="90000"/>
              </a:lnSpc>
              <a:spcBef>
                <a:spcPts val="1200"/>
              </a:spcBef>
              <a:buNone/>
              <a:defRPr sz="4500">
                <a:latin typeface="Arial"/>
                <a:ea typeface="Arial"/>
                <a:cs typeface="Arial"/>
                <a:sym typeface="Arial"/>
              </a:defRPr>
            </a:pPr>
            <a:r>
              <a:rPr lang="en-US" sz="3200" dirty="0">
                <a:latin typeface="Calibri" panose="020F0502020204030204" pitchFamily="34" charset="0"/>
                <a:ea typeface="Calibri" panose="020F0502020204030204" pitchFamily="34" charset="0"/>
                <a:cs typeface="Calibri" panose="020F0502020204030204" pitchFamily="34" charset="0"/>
                <a:sym typeface="Arial"/>
              </a:rPr>
              <a:t>Heart Failure</a:t>
            </a:r>
          </a:p>
          <a:p>
            <a:pPr marL="457200" indent="-457200" defTabSz="1300162">
              <a:lnSpc>
                <a:spcPct val="90000"/>
              </a:lnSpc>
              <a:spcBef>
                <a:spcPts val="1200"/>
              </a:spcBef>
              <a:defRPr sz="4500">
                <a:latin typeface="Arial"/>
                <a:ea typeface="Arial"/>
                <a:cs typeface="Arial"/>
                <a:sym typeface="Arial"/>
              </a:defRPr>
            </a:pPr>
            <a:r>
              <a:rPr lang="en-US" sz="3200" dirty="0">
                <a:latin typeface="Calibri" panose="020F0502020204030204" pitchFamily="34" charset="0"/>
                <a:ea typeface="Calibri" panose="020F0502020204030204" pitchFamily="34" charset="0"/>
                <a:cs typeface="Calibri" panose="020F0502020204030204" pitchFamily="34" charset="0"/>
                <a:sym typeface="Arial"/>
              </a:rPr>
              <a:t>Fluid retention may </a:t>
            </a:r>
            <a:r>
              <a:rPr lang="en-US" sz="3200" b="1" dirty="0">
                <a:latin typeface="Calibri" panose="020F0502020204030204" pitchFamily="34" charset="0"/>
                <a:ea typeface="Calibri" panose="020F0502020204030204" pitchFamily="34" charset="0"/>
                <a:cs typeface="Calibri" panose="020F0502020204030204" pitchFamily="34" charset="0"/>
                <a:sym typeface="Arial"/>
              </a:rPr>
              <a:t>cause or worsen heart failure</a:t>
            </a:r>
          </a:p>
          <a:p>
            <a:pPr marL="457200" indent="-457200" defTabSz="1300162">
              <a:lnSpc>
                <a:spcPct val="90000"/>
              </a:lnSpc>
              <a:spcBef>
                <a:spcPts val="1200"/>
              </a:spcBef>
              <a:defRPr sz="4500">
                <a:latin typeface="Arial"/>
                <a:ea typeface="Arial"/>
                <a:cs typeface="Arial"/>
                <a:sym typeface="Arial"/>
              </a:defRPr>
            </a:pPr>
            <a:r>
              <a:rPr lang="en-US" sz="3200" b="1" dirty="0">
                <a:latin typeface="Calibri" panose="020F0502020204030204" pitchFamily="34" charset="0"/>
                <a:ea typeface="Calibri" panose="020F0502020204030204" pitchFamily="34" charset="0"/>
                <a:cs typeface="Calibri" panose="020F0502020204030204" pitchFamily="34" charset="0"/>
                <a:sym typeface="Arial"/>
              </a:rPr>
              <a:t>FDA Boxed Warning</a:t>
            </a:r>
          </a:p>
          <a:p>
            <a:pPr marL="457200" indent="-457200" defTabSz="1300162">
              <a:lnSpc>
                <a:spcPct val="90000"/>
              </a:lnSpc>
              <a:spcBef>
                <a:spcPts val="1200"/>
              </a:spcBef>
              <a:defRPr sz="4500">
                <a:latin typeface="Arial"/>
                <a:ea typeface="Arial"/>
                <a:cs typeface="Arial"/>
                <a:sym typeface="Arial"/>
              </a:defRPr>
            </a:pPr>
            <a:r>
              <a:rPr lang="en-US" sz="3200" b="1" dirty="0">
                <a:latin typeface="Calibri" panose="020F0502020204030204" pitchFamily="34" charset="0"/>
                <a:ea typeface="Calibri" panose="020F0502020204030204" pitchFamily="34" charset="0"/>
                <a:cs typeface="Calibri" panose="020F0502020204030204" pitchFamily="34" charset="0"/>
                <a:sym typeface="Arial"/>
              </a:rPr>
              <a:t>Contraindicated in NYHA Class III-IV heart failure</a:t>
            </a:r>
            <a:endParaRPr sz="3200" b="1"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4081620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800" cy="975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Freeform: Shape 11">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8720" y="0"/>
            <a:ext cx="10627360" cy="97536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 name="Freeform: Shape 13">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96441" y="0"/>
            <a:ext cx="10611917" cy="97536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3">
            <a:extLst>
              <a:ext uri="{FF2B5EF4-FFF2-40B4-BE49-F238E27FC236}">
                <a16:creationId xmlns:a16="http://schemas.microsoft.com/office/drawing/2014/main" id="{B38F425C-59F5-45E0-9DC5-6ED4D4BE27E6}"/>
              </a:ext>
            </a:extLst>
          </p:cNvPr>
          <p:cNvSpPr>
            <a:spLocks noGrp="1"/>
          </p:cNvSpPr>
          <p:nvPr>
            <p:ph type="ctrTitle"/>
          </p:nvPr>
        </p:nvSpPr>
        <p:spPr>
          <a:xfrm>
            <a:off x="1625603" y="2843896"/>
            <a:ext cx="9753600" cy="3931062"/>
          </a:xfrm>
        </p:spPr>
        <p:txBody>
          <a:bodyPr anchor="ctr">
            <a:normAutofit/>
          </a:bodyPr>
          <a:lstStyle/>
          <a:p>
            <a:pPr>
              <a:buNone/>
            </a:pPr>
            <a:r>
              <a:rPr lang="en-US" sz="8900" dirty="0"/>
              <a:t>Meglitinides</a:t>
            </a:r>
          </a:p>
        </p:txBody>
      </p:sp>
      <p:sp>
        <p:nvSpPr>
          <p:cNvPr id="16" name="Rectangle 15">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66464" y="7857473"/>
            <a:ext cx="5071872" cy="390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0488043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7" name="Shape 697"/>
          <p:cNvSpPr>
            <a:spLocks noGrp="1"/>
          </p:cNvSpPr>
          <p:nvPr>
            <p:ph type="title" idx="4294967295"/>
          </p:nvPr>
        </p:nvSpPr>
        <p:spPr>
          <a:xfrm>
            <a:off x="649287" y="1"/>
            <a:ext cx="11704638" cy="1371600"/>
          </a:xfrm>
          <a:prstGeom prst="rect">
            <a:avLst/>
          </a:prstGeom>
        </p:spPr>
        <p:txBody>
          <a:bodyPr lIns="72248" tIns="72248" rIns="72248" bIns="72248" anchor="ctr">
            <a:normAutofit/>
          </a:bodyPr>
          <a:lstStyle>
            <a:lvl1pPr defTabSz="1300162">
              <a:defRPr sz="5600">
                <a:latin typeface="Arial"/>
                <a:ea typeface="Arial"/>
                <a:cs typeface="Arial"/>
                <a:sym typeface="Arial"/>
              </a:defRPr>
            </a:lvl1pPr>
          </a:lstStyle>
          <a:p>
            <a:pPr>
              <a:buNone/>
            </a:pPr>
            <a:r>
              <a:rPr dirty="0"/>
              <a:t>Meglitinides</a:t>
            </a:r>
          </a:p>
        </p:txBody>
      </p:sp>
      <p:sp>
        <p:nvSpPr>
          <p:cNvPr id="698" name="Shape 698"/>
          <p:cNvSpPr>
            <a:spLocks noGrp="1"/>
          </p:cNvSpPr>
          <p:nvPr>
            <p:ph type="body" idx="4294967295"/>
          </p:nvPr>
        </p:nvSpPr>
        <p:spPr>
          <a:xfrm>
            <a:off x="323850" y="1248508"/>
            <a:ext cx="12463463" cy="8395556"/>
          </a:xfrm>
          <a:prstGeom prst="rect">
            <a:avLst/>
          </a:prstGeom>
        </p:spPr>
        <p:txBody>
          <a:bodyPr lIns="72248" tIns="72248" rIns="72248" bIns="72248">
            <a:normAutofit/>
          </a:bodyPr>
          <a:lstStyle/>
          <a:p>
            <a:pPr>
              <a:spcBef>
                <a:spcPts val="1200"/>
              </a:spcBef>
            </a:pPr>
            <a:r>
              <a:rPr lang="en-US" sz="3200" b="1" dirty="0">
                <a:latin typeface="Calibri" panose="020F0502020204030204" pitchFamily="34" charset="0"/>
                <a:ea typeface="Calibri" panose="020F0502020204030204" pitchFamily="34" charset="0"/>
                <a:cs typeface="Calibri" panose="020F0502020204030204" pitchFamily="34" charset="0"/>
              </a:rPr>
              <a:t>Short-acting insulin secretagogues</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Stimulate pancreatic β-cells to </a:t>
            </a:r>
            <a:r>
              <a:rPr lang="en-US" sz="3200" b="1" dirty="0">
                <a:latin typeface="Calibri" panose="020F0502020204030204" pitchFamily="34" charset="0"/>
                <a:ea typeface="Calibri" panose="020F0502020204030204" pitchFamily="34" charset="0"/>
                <a:cs typeface="Calibri" panose="020F0502020204030204" pitchFamily="34" charset="0"/>
              </a:rPr>
              <a:t>release insulin</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Taken </a:t>
            </a:r>
            <a:r>
              <a:rPr lang="en-US" sz="3200" b="1" dirty="0">
                <a:latin typeface="Calibri" panose="020F0502020204030204" pitchFamily="34" charset="0"/>
                <a:ea typeface="Calibri" panose="020F0502020204030204" pitchFamily="34" charset="0"/>
                <a:cs typeface="Calibri" panose="020F0502020204030204" pitchFamily="34" charset="0"/>
              </a:rPr>
              <a:t>before meals</a:t>
            </a:r>
            <a:r>
              <a:rPr lang="en-US" sz="3200" dirty="0">
                <a:latin typeface="Calibri" panose="020F0502020204030204" pitchFamily="34" charset="0"/>
                <a:ea typeface="Calibri" panose="020F0502020204030204" pitchFamily="34" charset="0"/>
                <a:cs typeface="Calibri" panose="020F0502020204030204" pitchFamily="34" charset="0"/>
              </a:rPr>
              <a:t> to target postprandial glucose</a:t>
            </a:r>
          </a:p>
          <a:p>
            <a:pPr>
              <a:spcBef>
                <a:spcPts val="1200"/>
              </a:spcBef>
            </a:pPr>
            <a:r>
              <a:rPr lang="en-US" sz="3200" b="1" dirty="0">
                <a:latin typeface="Calibri" panose="020F0502020204030204" pitchFamily="34" charset="0"/>
                <a:ea typeface="Calibri" panose="020F0502020204030204" pitchFamily="34" charset="0"/>
                <a:cs typeface="Calibri" panose="020F0502020204030204" pitchFamily="34" charset="0"/>
              </a:rPr>
              <a:t>Skip the dose if the meal is skipped</a:t>
            </a:r>
          </a:p>
          <a:p>
            <a:pPr>
              <a:spcBef>
                <a:spcPts val="1200"/>
              </a:spcBef>
              <a:buNone/>
            </a:pP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buNone/>
            </a:pPr>
            <a:r>
              <a:rPr lang="en-US" sz="3200" b="1" dirty="0">
                <a:latin typeface="Calibri" panose="020F0502020204030204" pitchFamily="34" charset="0"/>
                <a:ea typeface="Calibri" panose="020F0502020204030204" pitchFamily="34" charset="0"/>
                <a:cs typeface="Calibri" panose="020F0502020204030204" pitchFamily="34" charset="0"/>
              </a:rPr>
              <a:t>Medications</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3200" b="1" dirty="0">
                <a:latin typeface="Calibri" panose="020F0502020204030204" pitchFamily="34" charset="0"/>
                <a:ea typeface="Calibri" panose="020F0502020204030204" pitchFamily="34" charset="0"/>
                <a:cs typeface="Calibri" panose="020F0502020204030204" pitchFamily="34" charset="0"/>
              </a:rPr>
              <a:t>Repaglinide (</a:t>
            </a:r>
            <a:r>
              <a:rPr lang="en-US" sz="3200" b="1" dirty="0" err="1">
                <a:latin typeface="Calibri" panose="020F0502020204030204" pitchFamily="34" charset="0"/>
                <a:ea typeface="Calibri" panose="020F0502020204030204" pitchFamily="34" charset="0"/>
                <a:cs typeface="Calibri" panose="020F0502020204030204" pitchFamily="34" charset="0"/>
              </a:rPr>
              <a:t>Prandin</a:t>
            </a:r>
            <a:r>
              <a:rPr lang="en-US" sz="3200" b="1" dirty="0">
                <a:latin typeface="Calibri" panose="020F0502020204030204" pitchFamily="34" charset="0"/>
                <a:ea typeface="Calibri" panose="020F0502020204030204" pitchFamily="34" charset="0"/>
                <a:cs typeface="Calibri" panose="020F0502020204030204" pitchFamily="34" charset="0"/>
              </a:rPr>
              <a:t>)</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3200" b="1" dirty="0">
                <a:latin typeface="Calibri" panose="020F0502020204030204" pitchFamily="34" charset="0"/>
                <a:ea typeface="Calibri" panose="020F0502020204030204" pitchFamily="34" charset="0"/>
                <a:cs typeface="Calibri" panose="020F0502020204030204" pitchFamily="34" charset="0"/>
              </a:rPr>
              <a:t>Nateglinide (</a:t>
            </a:r>
            <a:r>
              <a:rPr lang="en-US" sz="3200" b="1" dirty="0" err="1">
                <a:latin typeface="Calibri" panose="020F0502020204030204" pitchFamily="34" charset="0"/>
                <a:ea typeface="Calibri" panose="020F0502020204030204" pitchFamily="34" charset="0"/>
                <a:cs typeface="Calibri" panose="020F0502020204030204" pitchFamily="34" charset="0"/>
              </a:rPr>
              <a:t>Starlix</a:t>
            </a:r>
            <a:r>
              <a:rPr lang="en-US" sz="3200" b="1" dirty="0">
                <a:latin typeface="Calibri" panose="020F0502020204030204" pitchFamily="34" charset="0"/>
                <a:ea typeface="Calibri" panose="020F0502020204030204" pitchFamily="34" charset="0"/>
                <a:cs typeface="Calibri" panose="020F0502020204030204" pitchFamily="34" charset="0"/>
              </a:rPr>
              <a:t>)</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7" name="Shape 697"/>
          <p:cNvSpPr>
            <a:spLocks noGrp="1"/>
          </p:cNvSpPr>
          <p:nvPr>
            <p:ph type="title" idx="4294967295"/>
          </p:nvPr>
        </p:nvSpPr>
        <p:spPr>
          <a:xfrm>
            <a:off x="649287" y="215900"/>
            <a:ext cx="11704638" cy="1408113"/>
          </a:xfrm>
          <a:prstGeom prst="rect">
            <a:avLst/>
          </a:prstGeom>
        </p:spPr>
        <p:txBody>
          <a:bodyPr lIns="72248" tIns="72248" rIns="72248" bIns="72248" anchor="ctr">
            <a:normAutofit/>
          </a:bodyPr>
          <a:lstStyle>
            <a:lvl1pPr defTabSz="1300162">
              <a:defRPr sz="5600">
                <a:latin typeface="Arial"/>
                <a:ea typeface="Arial"/>
                <a:cs typeface="Arial"/>
                <a:sym typeface="Arial"/>
              </a:defRPr>
            </a:lvl1pPr>
          </a:lstStyle>
          <a:p>
            <a:pPr>
              <a:buNone/>
            </a:pPr>
            <a:r>
              <a:rPr dirty="0"/>
              <a:t>Meglitinides</a:t>
            </a:r>
            <a:r>
              <a:rPr lang="en-US" dirty="0"/>
              <a:t>: Clinical Effects</a:t>
            </a:r>
            <a:endParaRPr dirty="0"/>
          </a:p>
        </p:txBody>
      </p:sp>
      <p:sp>
        <p:nvSpPr>
          <p:cNvPr id="698" name="Shape 698"/>
          <p:cNvSpPr>
            <a:spLocks noGrp="1"/>
          </p:cNvSpPr>
          <p:nvPr>
            <p:ph type="body" idx="4294967295"/>
          </p:nvPr>
        </p:nvSpPr>
        <p:spPr>
          <a:xfrm>
            <a:off x="323850" y="2310063"/>
            <a:ext cx="12463463" cy="7334000"/>
          </a:xfrm>
          <a:prstGeom prst="rect">
            <a:avLst/>
          </a:prstGeom>
        </p:spPr>
        <p:txBody>
          <a:bodyPr lIns="72248" tIns="72248" rIns="72248" bIns="72248">
            <a:normAutofit/>
          </a:bodyPr>
          <a:lstStyle/>
          <a:p>
            <a:pPr marL="292100" indent="-292100" defTabSz="1300162">
              <a:spcBef>
                <a:spcPts val="700"/>
              </a:spcBef>
              <a:buChar char="•"/>
              <a:defRPr sz="4500">
                <a:latin typeface="Arial"/>
                <a:ea typeface="Arial"/>
                <a:cs typeface="Arial"/>
                <a:sym typeface="Arial"/>
              </a:defRPr>
            </a:pPr>
            <a:r>
              <a:rPr lang="en-US" sz="3200" b="1" dirty="0">
                <a:latin typeface="Calibri" panose="020F0502020204030204" pitchFamily="34" charset="0"/>
                <a:ea typeface="Calibri" panose="020F0502020204030204" pitchFamily="34" charset="0"/>
                <a:cs typeface="Calibri" panose="020F0502020204030204" pitchFamily="34" charset="0"/>
                <a:sym typeface="Arial"/>
              </a:rPr>
              <a:t>Expected A1C reduction: ~0.5–1%</a:t>
            </a:r>
          </a:p>
          <a:p>
            <a:pPr marL="292100" indent="-292100" defTabSz="1300162">
              <a:spcBef>
                <a:spcPts val="700"/>
              </a:spcBef>
              <a:buChar char="•"/>
              <a:defRPr sz="4500">
                <a:latin typeface="Arial"/>
                <a:ea typeface="Arial"/>
                <a:cs typeface="Arial"/>
                <a:sym typeface="Arial"/>
              </a:defRPr>
            </a:pPr>
            <a:r>
              <a:rPr lang="en-US" sz="3200" b="1" dirty="0">
                <a:latin typeface="Calibri" panose="020F0502020204030204" pitchFamily="34" charset="0"/>
                <a:ea typeface="Calibri" panose="020F0502020204030204" pitchFamily="34" charset="0"/>
                <a:cs typeface="Calibri" panose="020F0502020204030204" pitchFamily="34" charset="0"/>
                <a:sym typeface="Arial"/>
              </a:rPr>
              <a:t>Hypoglycemia</a:t>
            </a:r>
            <a:r>
              <a:rPr lang="en-US" sz="3200" dirty="0">
                <a:latin typeface="Calibri" panose="020F0502020204030204" pitchFamily="34" charset="0"/>
                <a:ea typeface="Calibri" panose="020F0502020204030204" pitchFamily="34" charset="0"/>
                <a:cs typeface="Calibri" panose="020F0502020204030204" pitchFamily="34" charset="0"/>
                <a:sym typeface="Arial"/>
              </a:rPr>
              <a:t> can occur, but risk may be lower than with sulfonylureas</a:t>
            </a:r>
          </a:p>
          <a:p>
            <a:pPr marL="292100" indent="-292100" defTabSz="1300162">
              <a:spcBef>
                <a:spcPts val="700"/>
              </a:spcBef>
              <a:buChar char="•"/>
              <a:defRPr sz="4500">
                <a:latin typeface="Arial"/>
                <a:ea typeface="Arial"/>
                <a:cs typeface="Arial"/>
                <a:sym typeface="Arial"/>
              </a:defRPr>
            </a:pPr>
            <a:r>
              <a:rPr lang="en-US" sz="3200" dirty="0">
                <a:latin typeface="Calibri" panose="020F0502020204030204" pitchFamily="34" charset="0"/>
                <a:ea typeface="Calibri" panose="020F0502020204030204" pitchFamily="34" charset="0"/>
                <a:cs typeface="Calibri" panose="020F0502020204030204" pitchFamily="34" charset="0"/>
                <a:sym typeface="Arial"/>
              </a:rPr>
              <a:t>May cause </a:t>
            </a:r>
            <a:r>
              <a:rPr lang="en-US" sz="3200" b="1" dirty="0">
                <a:latin typeface="Calibri" panose="020F0502020204030204" pitchFamily="34" charset="0"/>
                <a:ea typeface="Calibri" panose="020F0502020204030204" pitchFamily="34" charset="0"/>
                <a:cs typeface="Calibri" panose="020F0502020204030204" pitchFamily="34" charset="0"/>
                <a:sym typeface="Arial"/>
              </a:rPr>
              <a:t>weight gain</a:t>
            </a:r>
          </a:p>
          <a:p>
            <a:pPr marL="292100" indent="-292100" defTabSz="1300162">
              <a:spcBef>
                <a:spcPts val="700"/>
              </a:spcBef>
              <a:buChar char="•"/>
              <a:defRPr sz="4500">
                <a:latin typeface="Arial"/>
                <a:ea typeface="Arial"/>
                <a:cs typeface="Arial"/>
                <a:sym typeface="Arial"/>
              </a:defRPr>
            </a:pPr>
            <a:r>
              <a:rPr lang="en-US" sz="3200" dirty="0">
                <a:latin typeface="Calibri" panose="020F0502020204030204" pitchFamily="34" charset="0"/>
                <a:ea typeface="Calibri" panose="020F0502020204030204" pitchFamily="34" charset="0"/>
                <a:cs typeface="Calibri" panose="020F0502020204030204" pitchFamily="34" charset="0"/>
                <a:sym typeface="Arial"/>
              </a:rPr>
              <a:t>Short duration of action provides flexibility around meals</a:t>
            </a:r>
          </a:p>
          <a:p>
            <a:pPr marL="292100" indent="-292100" defTabSz="1300162">
              <a:spcBef>
                <a:spcPts val="700"/>
              </a:spcBef>
              <a:buChar char="•"/>
              <a:defRPr sz="4500">
                <a:latin typeface="Arial"/>
                <a:ea typeface="Arial"/>
                <a:cs typeface="Arial"/>
                <a:sym typeface="Arial"/>
              </a:defRPr>
            </a:pPr>
            <a:r>
              <a:rPr lang="en-US" sz="3200" b="1" dirty="0">
                <a:latin typeface="Calibri" panose="020F0502020204030204" pitchFamily="34" charset="0"/>
                <a:ea typeface="Calibri" panose="020F0502020204030204" pitchFamily="34" charset="0"/>
                <a:cs typeface="Calibri" panose="020F0502020204030204" pitchFamily="34" charset="0"/>
                <a:sym typeface="Arial"/>
              </a:rPr>
              <a:t>Limited role in current diabetes therapy</a:t>
            </a:r>
            <a:endParaRPr sz="3200" i="1"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586494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800" cy="975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8720" y="0"/>
            <a:ext cx="10627360" cy="97536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96441" y="0"/>
            <a:ext cx="10611917" cy="97536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404A138-537A-4B09-8A0C-774DD8FF89FF}"/>
              </a:ext>
            </a:extLst>
          </p:cNvPr>
          <p:cNvSpPr>
            <a:spLocks noGrp="1"/>
          </p:cNvSpPr>
          <p:nvPr>
            <p:ph type="ctrTitle"/>
          </p:nvPr>
        </p:nvSpPr>
        <p:spPr>
          <a:xfrm>
            <a:off x="1625603" y="2843896"/>
            <a:ext cx="9753600" cy="3931062"/>
          </a:xfrm>
        </p:spPr>
        <p:txBody>
          <a:bodyPr anchor="ctr">
            <a:normAutofit/>
          </a:bodyPr>
          <a:lstStyle/>
          <a:p>
            <a:pPr>
              <a:buNone/>
            </a:pPr>
            <a:r>
              <a:rPr lang="en-US" sz="8900" dirty="0"/>
              <a:t>Alpha-glucosidase Inhibitors</a:t>
            </a:r>
          </a:p>
        </p:txBody>
      </p:sp>
      <p:sp>
        <p:nvSpPr>
          <p:cNvPr id="14" name="Rectangle 13">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66464" y="7857473"/>
            <a:ext cx="5071872" cy="390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4368837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3" name="Shape 703"/>
          <p:cNvSpPr>
            <a:spLocks noGrp="1"/>
          </p:cNvSpPr>
          <p:nvPr>
            <p:ph type="title" idx="4294967295"/>
          </p:nvPr>
        </p:nvSpPr>
        <p:spPr>
          <a:xfrm>
            <a:off x="649287" y="215900"/>
            <a:ext cx="11704638" cy="1408113"/>
          </a:xfrm>
          <a:prstGeom prst="rect">
            <a:avLst/>
          </a:prstGeom>
        </p:spPr>
        <p:txBody>
          <a:bodyPr lIns="72248" tIns="72248" rIns="72248" bIns="72248" anchor="ctr">
            <a:normAutofit/>
          </a:bodyPr>
          <a:lstStyle>
            <a:lvl1pPr defTabSz="1300162">
              <a:defRPr sz="5600">
                <a:latin typeface="Arial"/>
                <a:ea typeface="Arial"/>
                <a:cs typeface="Arial"/>
                <a:sym typeface="Arial"/>
              </a:defRPr>
            </a:lvl1pPr>
          </a:lstStyle>
          <a:p>
            <a:pPr>
              <a:buNone/>
            </a:pPr>
            <a:r>
              <a:rPr dirty="0"/>
              <a:t>Alpha-glucosidase Inhibitors</a:t>
            </a:r>
            <a:r>
              <a:rPr lang="en-US" dirty="0"/>
              <a:t> MOA</a:t>
            </a:r>
            <a:endParaRPr dirty="0"/>
          </a:p>
        </p:txBody>
      </p:sp>
      <p:pic>
        <p:nvPicPr>
          <p:cNvPr id="2" name="Picture 1">
            <a:extLst>
              <a:ext uri="{FF2B5EF4-FFF2-40B4-BE49-F238E27FC236}">
                <a16:creationId xmlns:a16="http://schemas.microsoft.com/office/drawing/2014/main" id="{D2690B1C-963A-FC45-B29C-C184E126A98D}"/>
              </a:ext>
            </a:extLst>
          </p:cNvPr>
          <p:cNvPicPr>
            <a:picLocks noChangeAspect="1"/>
          </p:cNvPicPr>
          <p:nvPr/>
        </p:nvPicPr>
        <p:blipFill>
          <a:blip r:embed="rId2"/>
          <a:stretch>
            <a:fillRect/>
          </a:stretch>
        </p:blipFill>
        <p:spPr>
          <a:xfrm>
            <a:off x="9036643" y="6595110"/>
            <a:ext cx="3317282" cy="2203450"/>
          </a:xfrm>
          <a:prstGeom prst="rect">
            <a:avLst/>
          </a:prstGeom>
        </p:spPr>
      </p:pic>
      <p:sp>
        <p:nvSpPr>
          <p:cNvPr id="3" name="TextBox 2">
            <a:extLst>
              <a:ext uri="{FF2B5EF4-FFF2-40B4-BE49-F238E27FC236}">
                <a16:creationId xmlns:a16="http://schemas.microsoft.com/office/drawing/2014/main" id="{7CD24CE0-12AC-4B4C-A3AC-F082699AD7D5}"/>
              </a:ext>
            </a:extLst>
          </p:cNvPr>
          <p:cNvSpPr txBox="1"/>
          <p:nvPr/>
        </p:nvSpPr>
        <p:spPr>
          <a:xfrm>
            <a:off x="933451" y="2323005"/>
            <a:ext cx="8799830" cy="650947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866775" indent="-866775" defTabSz="1300162">
              <a:spcBef>
                <a:spcPts val="700"/>
              </a:spcBef>
              <a:buChar char="•"/>
              <a:defRPr sz="4500">
                <a:latin typeface="Arial"/>
                <a:ea typeface="Arial"/>
                <a:cs typeface="Arial"/>
                <a:sym typeface="Arial"/>
              </a:defRPr>
            </a:pPr>
            <a:r>
              <a:rPr lang="en-US" sz="3200" dirty="0">
                <a:latin typeface="Calibri" panose="020F0502020204030204" pitchFamily="34" charset="0"/>
                <a:ea typeface="Calibri" panose="020F0502020204030204" pitchFamily="34" charset="0"/>
                <a:cs typeface="Calibri" panose="020F0502020204030204" pitchFamily="34" charset="0"/>
                <a:sym typeface="Arial"/>
              </a:rPr>
              <a:t>Inhibit intestinal enzymes that </a:t>
            </a:r>
            <a:r>
              <a:rPr lang="en-US" sz="3200" b="1" dirty="0">
                <a:latin typeface="Calibri" panose="020F0502020204030204" pitchFamily="34" charset="0"/>
                <a:ea typeface="Calibri" panose="020F0502020204030204" pitchFamily="34" charset="0"/>
                <a:cs typeface="Calibri" panose="020F0502020204030204" pitchFamily="34" charset="0"/>
                <a:sym typeface="Arial"/>
              </a:rPr>
              <a:t>break down complex carbohydrates</a:t>
            </a:r>
          </a:p>
          <a:p>
            <a:pPr marL="866775" indent="-866775" defTabSz="1300162">
              <a:spcBef>
                <a:spcPts val="700"/>
              </a:spcBef>
              <a:buChar char="•"/>
              <a:defRPr sz="4500">
                <a:latin typeface="Arial"/>
                <a:ea typeface="Arial"/>
                <a:cs typeface="Arial"/>
                <a:sym typeface="Arial"/>
              </a:defRPr>
            </a:pPr>
            <a:r>
              <a:rPr lang="en-US" sz="3200" dirty="0">
                <a:latin typeface="Calibri" panose="020F0502020204030204" pitchFamily="34" charset="0"/>
                <a:ea typeface="Calibri" panose="020F0502020204030204" pitchFamily="34" charset="0"/>
                <a:cs typeface="Calibri" panose="020F0502020204030204" pitchFamily="34" charset="0"/>
                <a:sym typeface="Arial"/>
              </a:rPr>
              <a:t>Delay carbohydrate digestion and glucose absorption</a:t>
            </a:r>
          </a:p>
          <a:p>
            <a:pPr marL="866775" indent="-866775" defTabSz="1300162">
              <a:spcBef>
                <a:spcPts val="700"/>
              </a:spcBef>
              <a:buChar char="•"/>
              <a:defRPr sz="4500">
                <a:latin typeface="Arial"/>
                <a:ea typeface="Arial"/>
                <a:cs typeface="Arial"/>
                <a:sym typeface="Arial"/>
              </a:defRPr>
            </a:pPr>
            <a:r>
              <a:rPr lang="en-US" sz="3200" dirty="0">
                <a:latin typeface="Calibri" panose="020F0502020204030204" pitchFamily="34" charset="0"/>
                <a:ea typeface="Calibri" panose="020F0502020204030204" pitchFamily="34" charset="0"/>
                <a:cs typeface="Calibri" panose="020F0502020204030204" pitchFamily="34" charset="0"/>
                <a:sym typeface="Arial"/>
              </a:rPr>
              <a:t>↓ </a:t>
            </a:r>
            <a:r>
              <a:rPr lang="en-US" sz="3200" b="1" dirty="0">
                <a:latin typeface="Calibri" panose="020F0502020204030204" pitchFamily="34" charset="0"/>
                <a:ea typeface="Calibri" panose="020F0502020204030204" pitchFamily="34" charset="0"/>
                <a:cs typeface="Calibri" panose="020F0502020204030204" pitchFamily="34" charset="0"/>
                <a:sym typeface="Arial"/>
              </a:rPr>
              <a:t>Postprandial glucose</a:t>
            </a:r>
          </a:p>
          <a:p>
            <a:pPr marL="866775" indent="-866775" defTabSz="1300162">
              <a:spcBef>
                <a:spcPts val="700"/>
              </a:spcBef>
              <a:buChar char="•"/>
              <a:defRPr sz="4500">
                <a:latin typeface="Arial"/>
                <a:ea typeface="Arial"/>
                <a:cs typeface="Arial"/>
                <a:sym typeface="Arial"/>
              </a:defRPr>
            </a:pPr>
            <a:r>
              <a:rPr lang="en-US" sz="3200" dirty="0">
                <a:latin typeface="Calibri" panose="020F0502020204030204" pitchFamily="34" charset="0"/>
                <a:ea typeface="Calibri" panose="020F0502020204030204" pitchFamily="34" charset="0"/>
                <a:cs typeface="Calibri" panose="020F0502020204030204" pitchFamily="34" charset="0"/>
                <a:sym typeface="Arial"/>
              </a:rPr>
              <a:t>Taken </a:t>
            </a:r>
            <a:r>
              <a:rPr lang="en-US" sz="3200" b="1" dirty="0">
                <a:latin typeface="Calibri" panose="020F0502020204030204" pitchFamily="34" charset="0"/>
                <a:ea typeface="Calibri" panose="020F0502020204030204" pitchFamily="34" charset="0"/>
                <a:cs typeface="Calibri" panose="020F0502020204030204" pitchFamily="34" charset="0"/>
                <a:sym typeface="Arial"/>
              </a:rPr>
              <a:t>with the first bite of each meal</a:t>
            </a:r>
          </a:p>
          <a:p>
            <a:pPr marL="866775" indent="-866775" defTabSz="1300162">
              <a:spcBef>
                <a:spcPts val="700"/>
              </a:spcBef>
              <a:buChar char="•"/>
              <a:defRPr sz="4500">
                <a:latin typeface="Arial"/>
                <a:ea typeface="Arial"/>
                <a:cs typeface="Arial"/>
                <a:sym typeface="Arial"/>
              </a:defRPr>
            </a:pPr>
            <a:endParaRPr kumimoji="0" lang="en-US" sz="3200" b="1" i="0" u="none" strike="noStrike" cap="none" spc="0" normalizeH="0" baseline="0" dirty="0">
              <a:ln>
                <a:noFill/>
              </a:ln>
              <a:solidFill>
                <a:srgbClr val="000000"/>
              </a:solidFill>
              <a:effectLst/>
              <a:uFillTx/>
              <a:latin typeface="Calibri" panose="020F0502020204030204" pitchFamily="34" charset="0"/>
              <a:ea typeface="Calibri" panose="020F0502020204030204" pitchFamily="34" charset="0"/>
              <a:cs typeface="Calibri" panose="020F0502020204030204" pitchFamily="34" charset="0"/>
              <a:sym typeface="Arial"/>
            </a:endParaRPr>
          </a:p>
          <a:p>
            <a:pPr>
              <a:spcBef>
                <a:spcPts val="1200"/>
              </a:spcBef>
              <a:buNone/>
            </a:pPr>
            <a:r>
              <a:rPr lang="en-US" sz="3200" b="1" dirty="0">
                <a:latin typeface="Calibri" panose="020F0502020204030204" pitchFamily="34" charset="0"/>
                <a:ea typeface="Calibri" panose="020F0502020204030204" pitchFamily="34" charset="0"/>
                <a:cs typeface="Calibri" panose="020F0502020204030204" pitchFamily="34" charset="0"/>
              </a:rPr>
              <a:t>Medications</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3200" b="1" dirty="0">
                <a:latin typeface="Calibri" panose="020F0502020204030204" pitchFamily="34" charset="0"/>
                <a:ea typeface="Calibri" panose="020F0502020204030204" pitchFamily="34" charset="0"/>
                <a:cs typeface="Calibri" panose="020F0502020204030204" pitchFamily="34" charset="0"/>
              </a:rPr>
              <a:t>Acarbose (</a:t>
            </a:r>
            <a:r>
              <a:rPr lang="en-US" sz="3200" b="1" dirty="0" err="1">
                <a:latin typeface="Calibri" panose="020F0502020204030204" pitchFamily="34" charset="0"/>
                <a:ea typeface="Calibri" panose="020F0502020204030204" pitchFamily="34" charset="0"/>
                <a:cs typeface="Calibri" panose="020F0502020204030204" pitchFamily="34" charset="0"/>
              </a:rPr>
              <a:t>Precose</a:t>
            </a:r>
            <a:r>
              <a:rPr lang="en-US" sz="3200" b="1" dirty="0">
                <a:latin typeface="Calibri" panose="020F0502020204030204" pitchFamily="34" charset="0"/>
                <a:ea typeface="Calibri" panose="020F0502020204030204" pitchFamily="34" charset="0"/>
                <a:cs typeface="Calibri" panose="020F0502020204030204" pitchFamily="34" charset="0"/>
              </a:rPr>
              <a:t>)</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3200" b="1" dirty="0">
                <a:latin typeface="Calibri" panose="020F0502020204030204" pitchFamily="34" charset="0"/>
                <a:ea typeface="Calibri" panose="020F0502020204030204" pitchFamily="34" charset="0"/>
                <a:cs typeface="Calibri" panose="020F0502020204030204" pitchFamily="34" charset="0"/>
              </a:rPr>
              <a:t>Miglitol (</a:t>
            </a:r>
            <a:r>
              <a:rPr lang="en-US" sz="3200" b="1" dirty="0" err="1">
                <a:latin typeface="Calibri" panose="020F0502020204030204" pitchFamily="34" charset="0"/>
                <a:ea typeface="Calibri" panose="020F0502020204030204" pitchFamily="34" charset="0"/>
                <a:cs typeface="Calibri" panose="020F0502020204030204" pitchFamily="34" charset="0"/>
              </a:rPr>
              <a:t>Glyset</a:t>
            </a:r>
            <a:r>
              <a:rPr lang="en-US" sz="3200" b="1" dirty="0">
                <a:latin typeface="Calibri" panose="020F0502020204030204" pitchFamily="34" charset="0"/>
                <a:ea typeface="Calibri" panose="020F0502020204030204" pitchFamily="34" charset="0"/>
                <a:cs typeface="Calibri" panose="020F0502020204030204" pitchFamily="34" charset="0"/>
              </a:rPr>
              <a:t>)</a:t>
            </a:r>
            <a:endParaRPr lang="en-US" sz="3200" dirty="0">
              <a:latin typeface="Calibri" panose="020F0502020204030204" pitchFamily="34" charset="0"/>
              <a:ea typeface="Calibri" panose="020F0502020204030204" pitchFamily="34" charset="0"/>
              <a:cs typeface="Calibri" panose="020F0502020204030204" pitchFamily="34" charset="0"/>
            </a:endParaRPr>
          </a:p>
          <a:p>
            <a:pPr defTabSz="1300162">
              <a:spcBef>
                <a:spcPts val="700"/>
              </a:spcBef>
              <a:buNone/>
              <a:defRPr sz="4500">
                <a:latin typeface="Arial"/>
                <a:ea typeface="Arial"/>
                <a:cs typeface="Arial"/>
                <a:sym typeface="Arial"/>
              </a:defRPr>
            </a:pPr>
            <a:endParaRPr kumimoji="0" lang="en-US" sz="3200" b="0" i="0" u="none" strike="noStrike" cap="none" spc="0" normalizeH="0" baseline="0" dirty="0">
              <a:ln>
                <a:noFill/>
              </a:ln>
              <a:solidFill>
                <a:srgbClr val="000000"/>
              </a:solidFill>
              <a:effectLst/>
              <a:uFillTx/>
              <a:latin typeface="Calibri" panose="020F0502020204030204" pitchFamily="34" charset="0"/>
              <a:ea typeface="Calibri" panose="020F0502020204030204" pitchFamily="34" charset="0"/>
              <a:cs typeface="Calibri" panose="020F0502020204030204" pitchFamily="34" charset="0"/>
              <a:sym typeface="Helvetica Light"/>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3" name="Shape 703"/>
          <p:cNvSpPr>
            <a:spLocks noGrp="1"/>
          </p:cNvSpPr>
          <p:nvPr>
            <p:ph type="title" idx="4294967295"/>
          </p:nvPr>
        </p:nvSpPr>
        <p:spPr>
          <a:xfrm>
            <a:off x="649287" y="215900"/>
            <a:ext cx="11704638" cy="1408113"/>
          </a:xfrm>
          <a:prstGeom prst="rect">
            <a:avLst/>
          </a:prstGeom>
        </p:spPr>
        <p:txBody>
          <a:bodyPr lIns="72248" tIns="72248" rIns="72248" bIns="72248" anchor="ctr">
            <a:normAutofit/>
          </a:bodyPr>
          <a:lstStyle>
            <a:lvl1pPr defTabSz="1300162">
              <a:defRPr sz="5600">
                <a:latin typeface="Arial"/>
                <a:ea typeface="Arial"/>
                <a:cs typeface="Arial"/>
                <a:sym typeface="Arial"/>
              </a:defRPr>
            </a:lvl1pPr>
          </a:lstStyle>
          <a:p>
            <a:pPr>
              <a:buNone/>
            </a:pPr>
            <a:r>
              <a:t>Alpha-glucosidase Inhibitors</a:t>
            </a:r>
          </a:p>
        </p:txBody>
      </p:sp>
      <p:sp>
        <p:nvSpPr>
          <p:cNvPr id="704" name="Shape 704"/>
          <p:cNvSpPr>
            <a:spLocks noGrp="1"/>
          </p:cNvSpPr>
          <p:nvPr>
            <p:ph type="body" idx="4294967295"/>
          </p:nvPr>
        </p:nvSpPr>
        <p:spPr>
          <a:xfrm>
            <a:off x="323850" y="1733550"/>
            <a:ext cx="12463463" cy="7910513"/>
          </a:xfrm>
          <a:prstGeom prst="rect">
            <a:avLst/>
          </a:prstGeom>
        </p:spPr>
        <p:txBody>
          <a:bodyPr lIns="72248" tIns="72248" rIns="72248" bIns="72248">
            <a:noAutofit/>
          </a:bodyPr>
          <a:lstStyle/>
          <a:p>
            <a:pPr>
              <a:spcBef>
                <a:spcPts val="1200"/>
              </a:spcBef>
              <a:buNone/>
            </a:pPr>
            <a:r>
              <a:rPr lang="en-US" sz="3200" b="1" dirty="0">
                <a:latin typeface="Calibri" panose="020F0502020204030204" pitchFamily="34" charset="0"/>
                <a:ea typeface="Calibri" panose="020F0502020204030204" pitchFamily="34" charset="0"/>
                <a:cs typeface="Calibri" panose="020F0502020204030204" pitchFamily="34" charset="0"/>
              </a:rPr>
              <a:t>Clinical Effects</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3200" b="1" dirty="0">
                <a:latin typeface="Calibri" panose="020F0502020204030204" pitchFamily="34" charset="0"/>
                <a:ea typeface="Calibri" panose="020F0502020204030204" pitchFamily="34" charset="0"/>
                <a:cs typeface="Calibri" panose="020F0502020204030204" pitchFamily="34" charset="0"/>
              </a:rPr>
              <a:t>Expected A1C reduction: ~0.5–0.8%</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Low risk of </a:t>
            </a:r>
            <a:r>
              <a:rPr lang="en-US" sz="3200" b="1" dirty="0">
                <a:latin typeface="Calibri" panose="020F0502020204030204" pitchFamily="34" charset="0"/>
                <a:ea typeface="Calibri" panose="020F0502020204030204" pitchFamily="34" charset="0"/>
                <a:cs typeface="Calibri" panose="020F0502020204030204" pitchFamily="34" charset="0"/>
              </a:rPr>
              <a:t>hypoglycemia when used alone</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3200" b="1" dirty="0">
                <a:latin typeface="Calibri" panose="020F0502020204030204" pitchFamily="34" charset="0"/>
                <a:ea typeface="Calibri" panose="020F0502020204030204" pitchFamily="34" charset="0"/>
                <a:cs typeface="Calibri" panose="020F0502020204030204" pitchFamily="34" charset="0"/>
              </a:rPr>
              <a:t>Weight neutral</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buNone/>
            </a:pPr>
            <a:endParaRPr lang="en-US" sz="1800" b="1" dirty="0">
              <a:latin typeface="Calibri" panose="020F0502020204030204" pitchFamily="34" charset="0"/>
              <a:ea typeface="Calibri" panose="020F0502020204030204" pitchFamily="34" charset="0"/>
              <a:cs typeface="Calibri" panose="020F0502020204030204" pitchFamily="34" charset="0"/>
            </a:endParaRPr>
          </a:p>
          <a:p>
            <a:pPr>
              <a:spcBef>
                <a:spcPts val="1200"/>
              </a:spcBef>
              <a:buNone/>
            </a:pPr>
            <a:r>
              <a:rPr lang="en-US" sz="3200" b="1" dirty="0">
                <a:latin typeface="Calibri" panose="020F0502020204030204" pitchFamily="34" charset="0"/>
                <a:ea typeface="Calibri" panose="020F0502020204030204" pitchFamily="34" charset="0"/>
                <a:cs typeface="Calibri" panose="020F0502020204030204" pitchFamily="34" charset="0"/>
              </a:rPr>
              <a:t>Adverse Effects</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3200" b="1" dirty="0">
                <a:latin typeface="Calibri" panose="020F0502020204030204" pitchFamily="34" charset="0"/>
                <a:ea typeface="Calibri" panose="020F0502020204030204" pitchFamily="34" charset="0"/>
                <a:cs typeface="Calibri" panose="020F0502020204030204" pitchFamily="34" charset="0"/>
              </a:rPr>
              <a:t>Flatulence</a:t>
            </a:r>
            <a:r>
              <a:rPr lang="en-US" sz="3200" dirty="0">
                <a:latin typeface="Calibri" panose="020F0502020204030204" pitchFamily="34" charset="0"/>
                <a:ea typeface="Calibri" panose="020F0502020204030204" pitchFamily="34" charset="0"/>
                <a:cs typeface="Calibri" panose="020F0502020204030204" pitchFamily="34" charset="0"/>
              </a:rPr>
              <a:t>*</a:t>
            </a:r>
          </a:p>
          <a:p>
            <a:pPr>
              <a:spcBef>
                <a:spcPts val="1200"/>
              </a:spcBef>
            </a:pPr>
            <a:r>
              <a:rPr lang="en-US" sz="3200" b="1" dirty="0">
                <a:latin typeface="Calibri" panose="020F0502020204030204" pitchFamily="34" charset="0"/>
                <a:ea typeface="Calibri" panose="020F0502020204030204" pitchFamily="34" charset="0"/>
                <a:cs typeface="Calibri" panose="020F0502020204030204" pitchFamily="34" charset="0"/>
              </a:rPr>
              <a:t>Diarrhea / abdominal discomfort</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Slow titration may improve GI tolerability</a:t>
            </a:r>
          </a:p>
          <a:p>
            <a:pPr>
              <a:spcBef>
                <a:spcPts val="1200"/>
              </a:spcBef>
              <a:buNone/>
            </a:pPr>
            <a:endParaRPr lang="en-US" sz="1800" b="1" dirty="0">
              <a:latin typeface="Calibri" panose="020F0502020204030204" pitchFamily="34" charset="0"/>
              <a:ea typeface="Calibri" panose="020F0502020204030204" pitchFamily="34" charset="0"/>
              <a:cs typeface="Calibri" panose="020F0502020204030204" pitchFamily="34" charset="0"/>
            </a:endParaRPr>
          </a:p>
          <a:p>
            <a:pPr>
              <a:spcBef>
                <a:spcPts val="1200"/>
              </a:spcBef>
              <a:buNone/>
            </a:pPr>
            <a:r>
              <a:rPr lang="en-US" sz="3200" b="1" dirty="0">
                <a:latin typeface="Calibri" panose="020F0502020204030204" pitchFamily="34" charset="0"/>
                <a:ea typeface="Calibri" panose="020F0502020204030204" pitchFamily="34" charset="0"/>
                <a:cs typeface="Calibri" panose="020F0502020204030204" pitchFamily="34" charset="0"/>
              </a:rPr>
              <a:t>Place in therapy</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3200" b="1" dirty="0">
                <a:latin typeface="Calibri" panose="020F0502020204030204" pitchFamily="34" charset="0"/>
                <a:ea typeface="Calibri" panose="020F0502020204030204" pitchFamily="34" charset="0"/>
                <a:cs typeface="Calibri" panose="020F0502020204030204" pitchFamily="34" charset="0"/>
              </a:rPr>
              <a:t>Infrequently used</a:t>
            </a:r>
            <a:r>
              <a:rPr lang="en-US" sz="3200" dirty="0">
                <a:latin typeface="Calibri" panose="020F0502020204030204" pitchFamily="34" charset="0"/>
                <a:ea typeface="Calibri" panose="020F0502020204030204" pitchFamily="34" charset="0"/>
                <a:cs typeface="Calibri" panose="020F0502020204030204" pitchFamily="34" charset="0"/>
              </a:rPr>
              <a:t> due to modest efficacy, GI adverse effects, and frequent dosing</a:t>
            </a:r>
          </a:p>
        </p:txBody>
      </p:sp>
    </p:spTree>
    <p:extLst>
      <p:ext uri="{BB962C8B-B14F-4D97-AF65-F5344CB8AC3E}">
        <p14:creationId xmlns:p14="http://schemas.microsoft.com/office/powerpoint/2010/main" val="145580428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800" cy="975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8720" y="0"/>
            <a:ext cx="10627360" cy="97536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96441" y="0"/>
            <a:ext cx="10611917" cy="97536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A9E2D41-ED19-436B-B129-28A5CA2ADE0E}"/>
              </a:ext>
            </a:extLst>
          </p:cNvPr>
          <p:cNvSpPr>
            <a:spLocks noGrp="1"/>
          </p:cNvSpPr>
          <p:nvPr>
            <p:ph type="ctrTitle"/>
          </p:nvPr>
        </p:nvSpPr>
        <p:spPr>
          <a:xfrm>
            <a:off x="1625603" y="2843896"/>
            <a:ext cx="9753600" cy="3931062"/>
          </a:xfrm>
        </p:spPr>
        <p:txBody>
          <a:bodyPr anchor="ctr">
            <a:normAutofit/>
          </a:bodyPr>
          <a:lstStyle/>
          <a:p>
            <a:pPr>
              <a:buNone/>
            </a:pPr>
            <a:r>
              <a:rPr lang="en-US" sz="8900" dirty="0"/>
              <a:t>Insulin</a:t>
            </a:r>
          </a:p>
        </p:txBody>
      </p:sp>
      <p:sp>
        <p:nvSpPr>
          <p:cNvPr id="14" name="Rectangle 13">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66464" y="7857473"/>
            <a:ext cx="5071872" cy="390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2566657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2" name="Shape 712"/>
          <p:cNvSpPr>
            <a:spLocks noGrp="1"/>
          </p:cNvSpPr>
          <p:nvPr>
            <p:ph type="title" idx="4294967295"/>
          </p:nvPr>
        </p:nvSpPr>
        <p:spPr>
          <a:xfrm>
            <a:off x="649288" y="228600"/>
            <a:ext cx="5944944" cy="1447800"/>
          </a:xfrm>
          <a:prstGeom prst="rect">
            <a:avLst/>
          </a:prstGeom>
        </p:spPr>
        <p:txBody>
          <a:bodyPr lIns="72248" tIns="72248" rIns="72248" bIns="72248" anchor="ctr">
            <a:normAutofit/>
          </a:bodyPr>
          <a:lstStyle>
            <a:lvl1pPr defTabSz="1300162">
              <a:defRPr sz="5100" b="1">
                <a:latin typeface="Arial"/>
                <a:ea typeface="Arial"/>
                <a:cs typeface="Arial"/>
                <a:sym typeface="Arial"/>
              </a:defRPr>
            </a:lvl1pPr>
          </a:lstStyle>
          <a:p>
            <a:pPr>
              <a:buNone/>
            </a:pPr>
            <a:r>
              <a:rPr dirty="0"/>
              <a:t>Insulin</a:t>
            </a:r>
          </a:p>
        </p:txBody>
      </p:sp>
      <p:sp>
        <p:nvSpPr>
          <p:cNvPr id="713" name="Shape 713"/>
          <p:cNvSpPr>
            <a:spLocks noGrp="1"/>
          </p:cNvSpPr>
          <p:nvPr>
            <p:ph type="body" idx="4294967295"/>
          </p:nvPr>
        </p:nvSpPr>
        <p:spPr>
          <a:xfrm>
            <a:off x="215901" y="1752600"/>
            <a:ext cx="5679573" cy="7783513"/>
          </a:xfrm>
          <a:prstGeom prst="rect">
            <a:avLst/>
          </a:prstGeom>
        </p:spPr>
        <p:txBody>
          <a:bodyPr lIns="72248" tIns="72248" rIns="72248" bIns="72248">
            <a:normAutofit/>
          </a:bodyPr>
          <a:lstStyle/>
          <a:p>
            <a:pPr marL="323850" indent="-323850" defTabSz="1300162">
              <a:lnSpc>
                <a:spcPct val="90000"/>
              </a:lnSpc>
              <a:spcBef>
                <a:spcPts val="700"/>
              </a:spcBef>
              <a:buChar char="•"/>
              <a:defRPr sz="4500">
                <a:latin typeface="Arial"/>
                <a:ea typeface="Arial"/>
                <a:cs typeface="Arial"/>
                <a:sym typeface="Arial"/>
              </a:defRPr>
            </a:pPr>
            <a:r>
              <a:rPr lang="en-US" sz="3200" b="1" dirty="0">
                <a:latin typeface="Calibri" panose="020F0502020204030204" pitchFamily="34" charset="0"/>
                <a:ea typeface="Calibri" panose="020F0502020204030204" pitchFamily="34" charset="0"/>
                <a:cs typeface="Calibri" panose="020F0502020204030204" pitchFamily="34" charset="0"/>
              </a:rPr>
              <a:t>Required for treatment of T1DM</a:t>
            </a:r>
          </a:p>
          <a:p>
            <a:pPr marL="323850" indent="-323850" defTabSz="1300162">
              <a:lnSpc>
                <a:spcPct val="90000"/>
              </a:lnSpc>
              <a:spcBef>
                <a:spcPts val="700"/>
              </a:spcBef>
              <a:buChar char="•"/>
              <a:defRPr sz="4500">
                <a:latin typeface="Arial"/>
                <a:ea typeface="Arial"/>
                <a:cs typeface="Arial"/>
                <a:sym typeface="Arial"/>
              </a:defRPr>
            </a:pPr>
            <a:r>
              <a:rPr lang="en-US" sz="3200" dirty="0">
                <a:latin typeface="Calibri" panose="020F0502020204030204" pitchFamily="34" charset="0"/>
                <a:ea typeface="Calibri" panose="020F0502020204030204" pitchFamily="34" charset="0"/>
                <a:cs typeface="Calibri" panose="020F0502020204030204" pitchFamily="34" charset="0"/>
              </a:rPr>
              <a:t>May be used in </a:t>
            </a:r>
            <a:r>
              <a:rPr lang="en-US" sz="3200" b="1" dirty="0">
                <a:latin typeface="Calibri" panose="020F0502020204030204" pitchFamily="34" charset="0"/>
                <a:ea typeface="Calibri" panose="020F0502020204030204" pitchFamily="34" charset="0"/>
                <a:cs typeface="Calibri" panose="020F0502020204030204" pitchFamily="34" charset="0"/>
              </a:rPr>
              <a:t>T2DM when clinically indicated</a:t>
            </a:r>
          </a:p>
          <a:p>
            <a:pPr marL="323850" indent="-323850" defTabSz="1300162">
              <a:lnSpc>
                <a:spcPct val="90000"/>
              </a:lnSpc>
              <a:spcBef>
                <a:spcPts val="700"/>
              </a:spcBef>
              <a:buChar char="•"/>
              <a:defRPr sz="4500">
                <a:latin typeface="Arial"/>
                <a:ea typeface="Arial"/>
                <a:cs typeface="Arial"/>
                <a:sym typeface="Arial"/>
              </a:defRPr>
            </a:pPr>
            <a:r>
              <a:rPr lang="en-US" sz="3200" dirty="0">
                <a:latin typeface="Calibri" panose="020F0502020204030204" pitchFamily="34" charset="0"/>
                <a:ea typeface="Calibri" panose="020F0502020204030204" pitchFamily="34" charset="0"/>
                <a:cs typeface="Calibri" panose="020F0502020204030204" pitchFamily="34" charset="0"/>
              </a:rPr>
              <a:t>Insulin use in T2DM is sometimes delayed because of </a:t>
            </a:r>
            <a:r>
              <a:rPr lang="en-US" sz="3200" b="1" dirty="0">
                <a:latin typeface="Calibri" panose="020F0502020204030204" pitchFamily="34" charset="0"/>
                <a:ea typeface="Calibri" panose="020F0502020204030204" pitchFamily="34" charset="0"/>
                <a:cs typeface="Calibri" panose="020F0502020204030204" pitchFamily="34" charset="0"/>
              </a:rPr>
              <a:t>patient and clinician barriers/stigmata</a:t>
            </a:r>
          </a:p>
          <a:p>
            <a:pPr defTabSz="1300162">
              <a:lnSpc>
                <a:spcPct val="90000"/>
              </a:lnSpc>
              <a:spcBef>
                <a:spcPts val="700"/>
              </a:spcBef>
              <a:buNone/>
              <a:defRPr sz="4500">
                <a:latin typeface="Arial"/>
                <a:ea typeface="Arial"/>
                <a:cs typeface="Arial"/>
                <a:sym typeface="Arial"/>
              </a:defRPr>
            </a:pPr>
            <a:endParaRPr lang="en-US" sz="4400" dirty="0">
              <a:latin typeface="Helvetica Light"/>
              <a:ea typeface="Helvetica Light"/>
              <a:cs typeface="Helvetica Light"/>
              <a:sym typeface="Helvetica Light"/>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87980" y="375386"/>
            <a:ext cx="6572944" cy="9202121"/>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2" name="Shape 712"/>
          <p:cNvSpPr>
            <a:spLocks noGrp="1"/>
          </p:cNvSpPr>
          <p:nvPr>
            <p:ph type="title" idx="4294967295"/>
          </p:nvPr>
        </p:nvSpPr>
        <p:spPr>
          <a:xfrm>
            <a:off x="406400" y="228600"/>
            <a:ext cx="12374880" cy="1112520"/>
          </a:xfrm>
          <a:prstGeom prst="rect">
            <a:avLst/>
          </a:prstGeom>
        </p:spPr>
        <p:txBody>
          <a:bodyPr lIns="72248" tIns="72248" rIns="72248" bIns="72248" anchor="ctr">
            <a:normAutofit/>
          </a:bodyPr>
          <a:lstStyle>
            <a:lvl1pPr defTabSz="1300162">
              <a:defRPr sz="5100" b="1">
                <a:latin typeface="Arial"/>
                <a:ea typeface="Arial"/>
                <a:cs typeface="Arial"/>
                <a:sym typeface="Arial"/>
              </a:defRPr>
            </a:lvl1pPr>
          </a:lstStyle>
          <a:p>
            <a:pPr>
              <a:buNone/>
            </a:pPr>
            <a:r>
              <a:rPr dirty="0"/>
              <a:t>Insulin</a:t>
            </a:r>
            <a:r>
              <a:rPr lang="en-US" dirty="0"/>
              <a:t>- A History Lesson</a:t>
            </a:r>
            <a:endParaRPr dirty="0"/>
          </a:p>
        </p:txBody>
      </p:sp>
      <p:sp>
        <p:nvSpPr>
          <p:cNvPr id="713" name="Shape 713"/>
          <p:cNvSpPr>
            <a:spLocks noGrp="1"/>
          </p:cNvSpPr>
          <p:nvPr>
            <p:ph type="body" idx="4294967295"/>
          </p:nvPr>
        </p:nvSpPr>
        <p:spPr>
          <a:xfrm>
            <a:off x="215901" y="1564640"/>
            <a:ext cx="12565379" cy="7971473"/>
          </a:xfrm>
          <a:prstGeom prst="rect">
            <a:avLst/>
          </a:prstGeom>
        </p:spPr>
        <p:txBody>
          <a:bodyPr lIns="72248" tIns="72248" rIns="72248" bIns="72248">
            <a:normAutofit/>
          </a:bodyPr>
          <a:lstStyle/>
          <a:p>
            <a:pPr marL="571500" indent="-571500" defTabSz="1300162">
              <a:spcBef>
                <a:spcPts val="700"/>
              </a:spcBef>
              <a:buFont typeface="Arial" panose="020B0604020202020204" pitchFamily="34" charset="0"/>
              <a:buChar char="•"/>
              <a:defRPr sz="4500">
                <a:latin typeface="Arial"/>
                <a:ea typeface="Arial"/>
                <a:cs typeface="Arial"/>
                <a:sym typeface="Arial"/>
              </a:defRPr>
            </a:pPr>
            <a:r>
              <a:rPr lang="en-US" sz="4400" dirty="0">
                <a:latin typeface="Calibri" charset="0"/>
                <a:ea typeface="Calibri" charset="0"/>
                <a:cs typeface="Calibri" charset="0"/>
              </a:rPr>
              <a:t>Prior to the 1920’s patients with diabetes tried to control their disease using a very strict diet.  Unfortunately, type I diabetics generally died within a year of diagnosis as their insulin production ceased.</a:t>
            </a:r>
          </a:p>
          <a:p>
            <a:pPr marL="571500" indent="-571500" defTabSz="1300162">
              <a:spcBef>
                <a:spcPts val="700"/>
              </a:spcBef>
              <a:buFont typeface="Arial" panose="020B0604020202020204" pitchFamily="34" charset="0"/>
              <a:buChar char="•"/>
              <a:defRPr sz="4500">
                <a:latin typeface="Arial"/>
                <a:ea typeface="Arial"/>
                <a:cs typeface="Arial"/>
                <a:sym typeface="Arial"/>
              </a:defRPr>
            </a:pPr>
            <a:endParaRPr lang="en-US" sz="4400" dirty="0">
              <a:latin typeface="Calibri" charset="0"/>
              <a:ea typeface="Calibri" charset="0"/>
              <a:cs typeface="Calibri" charset="0"/>
            </a:endParaRPr>
          </a:p>
          <a:p>
            <a:pPr marL="571500" indent="-571500" defTabSz="1300162">
              <a:spcBef>
                <a:spcPts val="700"/>
              </a:spcBef>
              <a:buFont typeface="Arial" panose="020B0604020202020204" pitchFamily="34" charset="0"/>
              <a:buChar char="•"/>
              <a:defRPr sz="4500">
                <a:latin typeface="Arial"/>
                <a:ea typeface="Arial"/>
                <a:cs typeface="Arial"/>
                <a:sym typeface="Arial"/>
              </a:defRPr>
            </a:pPr>
            <a:r>
              <a:rPr lang="en-US" sz="4400" dirty="0">
                <a:latin typeface="Calibri" charset="0"/>
                <a:ea typeface="Calibri" charset="0"/>
                <a:cs typeface="Calibri" charset="0"/>
              </a:rPr>
              <a:t>In the early 1920’s MacLeod, Banting, </a:t>
            </a:r>
            <a:r>
              <a:rPr lang="en-US" sz="4400" dirty="0" err="1">
                <a:latin typeface="Calibri" charset="0"/>
                <a:ea typeface="Calibri" charset="0"/>
                <a:cs typeface="Calibri" charset="0"/>
              </a:rPr>
              <a:t>Collip</a:t>
            </a:r>
            <a:r>
              <a:rPr lang="en-US" sz="4400" dirty="0">
                <a:latin typeface="Calibri" charset="0"/>
                <a:ea typeface="Calibri" charset="0"/>
                <a:cs typeface="Calibri" charset="0"/>
              </a:rPr>
              <a:t>, and Best were able to extract insulin from animal pancreatic tissue and purify it to be safe in humans- MacLeod and Banting won the 1923 Nobel Prize for this discovery.</a:t>
            </a:r>
          </a:p>
        </p:txBody>
      </p:sp>
    </p:spTree>
    <p:extLst>
      <p:ext uri="{BB962C8B-B14F-4D97-AF65-F5344CB8AC3E}">
        <p14:creationId xmlns:p14="http://schemas.microsoft.com/office/powerpoint/2010/main" val="390073285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2" name="Shape 712"/>
          <p:cNvSpPr>
            <a:spLocks noGrp="1"/>
          </p:cNvSpPr>
          <p:nvPr>
            <p:ph type="title" idx="4294967295"/>
          </p:nvPr>
        </p:nvSpPr>
        <p:spPr>
          <a:xfrm>
            <a:off x="406400" y="228600"/>
            <a:ext cx="12374880" cy="1112520"/>
          </a:xfrm>
          <a:prstGeom prst="rect">
            <a:avLst/>
          </a:prstGeom>
        </p:spPr>
        <p:txBody>
          <a:bodyPr lIns="72248" tIns="72248" rIns="72248" bIns="72248" anchor="ctr">
            <a:normAutofit/>
          </a:bodyPr>
          <a:lstStyle>
            <a:lvl1pPr defTabSz="1300162">
              <a:defRPr sz="5100" b="1">
                <a:latin typeface="Arial"/>
                <a:ea typeface="Arial"/>
                <a:cs typeface="Arial"/>
                <a:sym typeface="Arial"/>
              </a:defRPr>
            </a:lvl1pPr>
          </a:lstStyle>
          <a:p>
            <a:pPr>
              <a:buNone/>
            </a:pPr>
            <a:r>
              <a:rPr dirty="0"/>
              <a:t>Insulin</a:t>
            </a:r>
            <a:r>
              <a:rPr lang="en-US" dirty="0"/>
              <a:t>- A History Lesson</a:t>
            </a:r>
            <a:endParaRPr dirty="0"/>
          </a:p>
        </p:txBody>
      </p:sp>
      <p:sp>
        <p:nvSpPr>
          <p:cNvPr id="713" name="Shape 713"/>
          <p:cNvSpPr>
            <a:spLocks noGrp="1"/>
          </p:cNvSpPr>
          <p:nvPr>
            <p:ph type="body" idx="4294967295"/>
          </p:nvPr>
        </p:nvSpPr>
        <p:spPr>
          <a:xfrm>
            <a:off x="215901" y="1564640"/>
            <a:ext cx="12565379" cy="7971473"/>
          </a:xfrm>
          <a:prstGeom prst="rect">
            <a:avLst/>
          </a:prstGeom>
        </p:spPr>
        <p:txBody>
          <a:bodyPr lIns="72248" tIns="72248" rIns="72248" bIns="72248">
            <a:normAutofit/>
          </a:bodyPr>
          <a:lstStyle/>
          <a:p>
            <a:pPr marL="571500" indent="-571500" defTabSz="1300162">
              <a:spcBef>
                <a:spcPts val="700"/>
              </a:spcBef>
              <a:buFont typeface="Arial" panose="020B0604020202020204" pitchFamily="34" charset="0"/>
              <a:buChar char="•"/>
              <a:defRPr sz="4500">
                <a:latin typeface="Arial"/>
                <a:ea typeface="Arial"/>
                <a:cs typeface="Arial"/>
                <a:sym typeface="Arial"/>
              </a:defRPr>
            </a:pPr>
            <a:r>
              <a:rPr lang="en-US" sz="4400" dirty="0">
                <a:latin typeface="Calibri" charset="0"/>
                <a:ea typeface="Calibri" charset="0"/>
                <a:cs typeface="Calibri" charset="0"/>
              </a:rPr>
              <a:t>For the next 60 years, people relied on beef or pork insulin to treat diabetes, while researchers sequenced the insulin protein (Nobel prize in 1959) and determined its crystalline structure (1969).</a:t>
            </a:r>
          </a:p>
          <a:p>
            <a:pPr marL="571500" indent="-571500" defTabSz="1300162">
              <a:spcBef>
                <a:spcPts val="700"/>
              </a:spcBef>
              <a:buFont typeface="Arial" panose="020B0604020202020204" pitchFamily="34" charset="0"/>
              <a:buChar char="•"/>
              <a:defRPr sz="4500">
                <a:latin typeface="Arial"/>
                <a:ea typeface="Arial"/>
                <a:cs typeface="Arial"/>
                <a:sym typeface="Arial"/>
              </a:defRPr>
            </a:pPr>
            <a:endParaRPr lang="en-US" sz="4400" dirty="0">
              <a:latin typeface="Calibri" charset="0"/>
              <a:ea typeface="Calibri" charset="0"/>
              <a:cs typeface="Calibri" charset="0"/>
            </a:endParaRPr>
          </a:p>
          <a:p>
            <a:pPr marL="571500" indent="-571500" defTabSz="1300162">
              <a:spcBef>
                <a:spcPts val="700"/>
              </a:spcBef>
              <a:buFont typeface="Arial" panose="020B0604020202020204" pitchFamily="34" charset="0"/>
              <a:buChar char="•"/>
              <a:defRPr sz="4500">
                <a:latin typeface="Arial"/>
                <a:ea typeface="Arial"/>
                <a:cs typeface="Arial"/>
                <a:sym typeface="Arial"/>
              </a:defRPr>
            </a:pPr>
            <a:r>
              <a:rPr lang="en-US" sz="4400" dirty="0">
                <a:latin typeface="Calibri" charset="0"/>
                <a:ea typeface="Calibri" charset="0"/>
                <a:cs typeface="Calibri" charset="0"/>
              </a:rPr>
              <a:t>Then, in 1978, researchers perfected the technique to mass produce the A chain and the B chain of insulin using recombinant DNA technology and then combined the chains using a chemical reaction to create human insulin on a large scale.</a:t>
            </a:r>
          </a:p>
        </p:txBody>
      </p:sp>
    </p:spTree>
    <p:extLst>
      <p:ext uri="{BB962C8B-B14F-4D97-AF65-F5344CB8AC3E}">
        <p14:creationId xmlns:p14="http://schemas.microsoft.com/office/powerpoint/2010/main" val="283513903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24526" y="325807"/>
            <a:ext cx="5452361" cy="8794130"/>
          </a:xfrm>
          <a:prstGeom prst="rect">
            <a:avLst/>
          </a:prstGeom>
        </p:spPr>
      </p:pic>
      <p:sp>
        <p:nvSpPr>
          <p:cNvPr id="3" name="TextBox 2">
            <a:extLst>
              <a:ext uri="{FF2B5EF4-FFF2-40B4-BE49-F238E27FC236}">
                <a16:creationId xmlns:a16="http://schemas.microsoft.com/office/drawing/2014/main" id="{E67BBAFE-379F-6248-8BB1-E419F6B2307D}"/>
              </a:ext>
            </a:extLst>
          </p:cNvPr>
          <p:cNvSpPr txBox="1"/>
          <p:nvPr/>
        </p:nvSpPr>
        <p:spPr>
          <a:xfrm>
            <a:off x="5576887" y="181751"/>
            <a:ext cx="7303387" cy="95718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571500" indent="-571500">
              <a:buFont typeface="Arial" panose="020B0604020202020204" pitchFamily="34" charset="0"/>
              <a:buChar char="•"/>
            </a:pPr>
            <a:r>
              <a:rPr lang="en-US" sz="4400" dirty="0">
                <a:latin typeface="Calibri" panose="020F0502020204030204" pitchFamily="34" charset="0"/>
                <a:cs typeface="Calibri" panose="020F0502020204030204" pitchFamily="34" charset="0"/>
              </a:rPr>
              <a:t>Biosynthetic human insulin is now made by genetically engineered bacteria containing the gene for human insulin proteins.</a:t>
            </a:r>
          </a:p>
          <a:p>
            <a:pPr marL="571500" indent="-571500">
              <a:buFont typeface="Arial" panose="020B0604020202020204" pitchFamily="34" charset="0"/>
              <a:buChar char="•"/>
            </a:pPr>
            <a:endParaRPr lang="en-US" sz="4400" dirty="0">
              <a:latin typeface="Calibri" panose="020F0502020204030204" pitchFamily="34" charset="0"/>
              <a:cs typeface="Calibri" panose="020F0502020204030204" pitchFamily="34" charset="0"/>
            </a:endParaRPr>
          </a:p>
          <a:p>
            <a:pPr marL="571500" indent="-571500">
              <a:buFont typeface="Arial" panose="020B0604020202020204" pitchFamily="34" charset="0"/>
              <a:buChar char="•"/>
            </a:pPr>
            <a:r>
              <a:rPr lang="en-US" sz="4400" dirty="0">
                <a:latin typeface="Calibri" panose="020F0502020204030204" pitchFamily="34" charset="0"/>
                <a:cs typeface="Calibri" panose="020F0502020204030204" pitchFamily="34" charset="0"/>
              </a:rPr>
              <a:t>Bacteria are grown in fermentation tanks, and when adequate amounts of A or B proteins have been made, the bacteria are lysed, and the insulin proteins harvested, purified and chemically combined.</a:t>
            </a:r>
          </a:p>
        </p:txBody>
      </p:sp>
    </p:spTree>
    <p:extLst>
      <p:ext uri="{BB962C8B-B14F-4D97-AF65-F5344CB8AC3E}">
        <p14:creationId xmlns:p14="http://schemas.microsoft.com/office/powerpoint/2010/main" val="420024325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2" name="Shape 712"/>
          <p:cNvSpPr>
            <a:spLocks noGrp="1"/>
          </p:cNvSpPr>
          <p:nvPr>
            <p:ph type="title" idx="4294967295"/>
          </p:nvPr>
        </p:nvSpPr>
        <p:spPr>
          <a:xfrm>
            <a:off x="649287" y="228600"/>
            <a:ext cx="11704638" cy="1447800"/>
          </a:xfrm>
          <a:prstGeom prst="rect">
            <a:avLst/>
          </a:prstGeom>
        </p:spPr>
        <p:txBody>
          <a:bodyPr lIns="72248" tIns="72248" rIns="72248" bIns="72248" anchor="ctr">
            <a:normAutofit/>
          </a:bodyPr>
          <a:lstStyle>
            <a:lvl1pPr defTabSz="1300162">
              <a:defRPr sz="5100" b="1">
                <a:latin typeface="Arial"/>
                <a:ea typeface="Arial"/>
                <a:cs typeface="Arial"/>
                <a:sym typeface="Arial"/>
              </a:defRPr>
            </a:lvl1pPr>
          </a:lstStyle>
          <a:p>
            <a:pPr>
              <a:buNone/>
            </a:pPr>
            <a:r>
              <a:rPr dirty="0"/>
              <a:t>Insulin</a:t>
            </a:r>
            <a:r>
              <a:rPr lang="en-US" dirty="0"/>
              <a:t>: Storage</a:t>
            </a:r>
            <a:endParaRPr dirty="0"/>
          </a:p>
        </p:txBody>
      </p:sp>
      <p:sp>
        <p:nvSpPr>
          <p:cNvPr id="713" name="Shape 713"/>
          <p:cNvSpPr>
            <a:spLocks noGrp="1"/>
          </p:cNvSpPr>
          <p:nvPr>
            <p:ph type="body" idx="4294967295"/>
          </p:nvPr>
        </p:nvSpPr>
        <p:spPr>
          <a:xfrm>
            <a:off x="215900" y="1752600"/>
            <a:ext cx="12571413" cy="7783513"/>
          </a:xfrm>
          <a:prstGeom prst="rect">
            <a:avLst/>
          </a:prstGeom>
        </p:spPr>
        <p:txBody>
          <a:bodyPr lIns="72248" tIns="72248" rIns="72248" bIns="72248">
            <a:normAutofit/>
          </a:bodyPr>
          <a:lstStyle/>
          <a:p>
            <a:pPr marL="323850" indent="-323850" defTabSz="1300162">
              <a:spcBef>
                <a:spcPts val="700"/>
              </a:spcBef>
              <a:buFont typeface="Arial"/>
              <a:buChar char="•"/>
              <a:defRPr sz="4500">
                <a:latin typeface="Arial"/>
                <a:ea typeface="Arial"/>
                <a:cs typeface="Arial"/>
                <a:sym typeface="Arial"/>
              </a:defRPr>
            </a:pPr>
            <a:r>
              <a:rPr lang="en-US" sz="3200" dirty="0">
                <a:latin typeface="Calibri" panose="020F0502020204030204" pitchFamily="34" charset="0"/>
                <a:ea typeface="Calibri" panose="020F0502020204030204" pitchFamily="34" charset="0"/>
                <a:cs typeface="Calibri" panose="020F0502020204030204" pitchFamily="34" charset="0"/>
                <a:sym typeface="Arial"/>
              </a:rPr>
              <a:t>Unopened insulin is generally stored </a:t>
            </a:r>
            <a:r>
              <a:rPr lang="en-US" sz="3200" b="1" dirty="0">
                <a:latin typeface="Calibri" panose="020F0502020204030204" pitchFamily="34" charset="0"/>
                <a:ea typeface="Calibri" panose="020F0502020204030204" pitchFamily="34" charset="0"/>
                <a:cs typeface="Calibri" panose="020F0502020204030204" pitchFamily="34" charset="0"/>
                <a:sym typeface="Arial"/>
              </a:rPr>
              <a:t>refrigerated</a:t>
            </a:r>
          </a:p>
          <a:p>
            <a:pPr marL="323850" indent="-323850" defTabSz="1300162">
              <a:spcBef>
                <a:spcPts val="700"/>
              </a:spcBef>
              <a:buFont typeface="Arial"/>
              <a:buChar char="•"/>
              <a:defRPr sz="4500">
                <a:latin typeface="Arial"/>
                <a:ea typeface="Arial"/>
                <a:cs typeface="Arial"/>
                <a:sym typeface="Arial"/>
              </a:defRPr>
            </a:pPr>
            <a:r>
              <a:rPr lang="en-US" sz="3200" b="1" dirty="0">
                <a:latin typeface="Calibri" panose="020F0502020204030204" pitchFamily="34" charset="0"/>
                <a:ea typeface="Calibri" panose="020F0502020204030204" pitchFamily="34" charset="0"/>
                <a:cs typeface="Calibri" panose="020F0502020204030204" pitchFamily="34" charset="0"/>
                <a:sym typeface="Arial"/>
              </a:rPr>
              <a:t>Do not freeze</a:t>
            </a:r>
            <a:r>
              <a:rPr lang="en-US" sz="3200" dirty="0">
                <a:latin typeface="Calibri" panose="020F0502020204030204" pitchFamily="34" charset="0"/>
                <a:ea typeface="Calibri" panose="020F0502020204030204" pitchFamily="34" charset="0"/>
                <a:cs typeface="Calibri" panose="020F0502020204030204" pitchFamily="34" charset="0"/>
                <a:sym typeface="Arial"/>
              </a:rPr>
              <a:t>; protect from excessive heat and direct light</a:t>
            </a:r>
          </a:p>
          <a:p>
            <a:pPr marL="323850" indent="-323850" defTabSz="1300162">
              <a:spcBef>
                <a:spcPts val="700"/>
              </a:spcBef>
              <a:buFont typeface="Arial"/>
              <a:buChar char="•"/>
              <a:defRPr sz="4500">
                <a:latin typeface="Arial"/>
                <a:ea typeface="Arial"/>
                <a:cs typeface="Arial"/>
                <a:sym typeface="Arial"/>
              </a:defRPr>
            </a:pPr>
            <a:r>
              <a:rPr lang="en-US" sz="3200" dirty="0">
                <a:latin typeface="Calibri" panose="020F0502020204030204" pitchFamily="34" charset="0"/>
                <a:ea typeface="Calibri" panose="020F0502020204030204" pitchFamily="34" charset="0"/>
                <a:cs typeface="Calibri" panose="020F0502020204030204" pitchFamily="34" charset="0"/>
                <a:sym typeface="Arial"/>
              </a:rPr>
              <a:t>In-use insulin can often be stored at </a:t>
            </a:r>
            <a:r>
              <a:rPr lang="en-US" sz="3200" b="1" dirty="0">
                <a:latin typeface="Calibri" panose="020F0502020204030204" pitchFamily="34" charset="0"/>
                <a:ea typeface="Calibri" panose="020F0502020204030204" pitchFamily="34" charset="0"/>
                <a:cs typeface="Calibri" panose="020F0502020204030204" pitchFamily="34" charset="0"/>
                <a:sym typeface="Arial"/>
              </a:rPr>
              <a:t>room temperature</a:t>
            </a:r>
          </a:p>
          <a:p>
            <a:pPr marL="323850" indent="-323850" defTabSz="1300162">
              <a:spcBef>
                <a:spcPts val="700"/>
              </a:spcBef>
              <a:buFont typeface="Arial"/>
              <a:buChar char="•"/>
              <a:defRPr sz="4500">
                <a:latin typeface="Arial"/>
                <a:ea typeface="Arial"/>
                <a:cs typeface="Arial"/>
                <a:sym typeface="Arial"/>
              </a:defRPr>
            </a:pPr>
            <a:r>
              <a:rPr lang="en-US" sz="3200" b="1" dirty="0">
                <a:latin typeface="Calibri" panose="020F0502020204030204" pitchFamily="34" charset="0"/>
                <a:ea typeface="Calibri" panose="020F0502020204030204" pitchFamily="34" charset="0"/>
                <a:cs typeface="Calibri" panose="020F0502020204030204" pitchFamily="34" charset="0"/>
                <a:sym typeface="Arial"/>
              </a:rPr>
              <a:t>In-use expiration varies by product — check manufacturer instructions</a:t>
            </a:r>
            <a:endParaRPr lang="en-US" sz="32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1261807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hape 206"/>
          <p:cNvSpPr>
            <a:spLocks noGrp="1"/>
          </p:cNvSpPr>
          <p:nvPr>
            <p:ph type="body" idx="4294967295"/>
          </p:nvPr>
        </p:nvSpPr>
        <p:spPr>
          <a:xfrm>
            <a:off x="914400" y="853440"/>
            <a:ext cx="11981656" cy="1653632"/>
          </a:xfrm>
          <a:prstGeom prst="rect">
            <a:avLst/>
          </a:prstGeom>
        </p:spPr>
        <p:txBody>
          <a:bodyPr lIns="72248" tIns="72248" rIns="72248" bIns="72248">
            <a:normAutofit/>
          </a:bodyPr>
          <a:lstStyle/>
          <a:p>
            <a:pPr defTabSz="1300162">
              <a:spcBef>
                <a:spcPts val="700"/>
              </a:spcBef>
              <a:buNone/>
              <a:defRPr sz="4500">
                <a:latin typeface="Arial"/>
                <a:ea typeface="Arial"/>
                <a:cs typeface="Arial"/>
                <a:sym typeface="Arial"/>
              </a:defRPr>
            </a:pPr>
            <a:r>
              <a:rPr lang="en-US" sz="3200" dirty="0">
                <a:latin typeface="Calibri" panose="020F0502020204030204" pitchFamily="34" charset="0"/>
                <a:ea typeface="Calibri" panose="020F0502020204030204" pitchFamily="34" charset="0"/>
                <a:cs typeface="Calibri" panose="020F0502020204030204" pitchFamily="34" charset="0"/>
                <a:sym typeface="Arial"/>
              </a:rPr>
              <a:t>Insulin pens simplify administration and may reduce dosing errors</a:t>
            </a:r>
            <a:endParaRPr sz="3200" dirty="0">
              <a:latin typeface="Calibri" panose="020F0502020204030204" pitchFamily="34" charset="0"/>
              <a:ea typeface="Calibri" panose="020F0502020204030204" pitchFamily="34" charset="0"/>
              <a:cs typeface="Calibri" panose="020F0502020204030204" pitchFamily="34" charset="0"/>
            </a:endParaRPr>
          </a:p>
        </p:txBody>
      </p:sp>
      <p:pic>
        <p:nvPicPr>
          <p:cNvPr id="5" name="image.jpg">
            <a:extLst>
              <a:ext uri="{FF2B5EF4-FFF2-40B4-BE49-F238E27FC236}">
                <a16:creationId xmlns:a16="http://schemas.microsoft.com/office/drawing/2014/main" id="{E6D2AC72-692C-764C-89F7-F86501B87F0F}"/>
              </a:ext>
            </a:extLst>
          </p:cNvPr>
          <p:cNvPicPr>
            <a:picLocks noChangeAspect="1"/>
          </p:cNvPicPr>
          <p:nvPr/>
        </p:nvPicPr>
        <p:blipFill>
          <a:blip r:embed="rId2"/>
          <a:stretch>
            <a:fillRect/>
          </a:stretch>
        </p:blipFill>
        <p:spPr>
          <a:xfrm>
            <a:off x="5908141" y="6041058"/>
            <a:ext cx="6987915" cy="3458861"/>
          </a:xfrm>
          <a:prstGeom prst="rect">
            <a:avLst/>
          </a:prstGeom>
          <a:ln w="12700">
            <a:miter lim="400000"/>
          </a:ln>
        </p:spPr>
      </p:pic>
      <p:pic>
        <p:nvPicPr>
          <p:cNvPr id="4" name="image.jpg">
            <a:extLst>
              <a:ext uri="{FF2B5EF4-FFF2-40B4-BE49-F238E27FC236}">
                <a16:creationId xmlns:a16="http://schemas.microsoft.com/office/drawing/2014/main" id="{3FFBA427-425F-6A4C-B622-CFBA51C892D8}"/>
              </a:ext>
            </a:extLst>
          </p:cNvPr>
          <p:cNvPicPr>
            <a:picLocks noChangeAspect="1"/>
          </p:cNvPicPr>
          <p:nvPr/>
        </p:nvPicPr>
        <p:blipFill rotWithShape="1">
          <a:blip r:embed="rId3"/>
          <a:srcRect t="8446" b="7918"/>
          <a:stretch/>
        </p:blipFill>
        <p:spPr>
          <a:xfrm>
            <a:off x="6079618" y="2435340"/>
            <a:ext cx="6532856" cy="3073362"/>
          </a:xfrm>
          <a:prstGeom prst="rect">
            <a:avLst/>
          </a:prstGeom>
          <a:ln w="12700">
            <a:miter lim="400000"/>
          </a:ln>
        </p:spPr>
      </p:pic>
      <p:pic>
        <p:nvPicPr>
          <p:cNvPr id="3" name="Picture 2">
            <a:extLst>
              <a:ext uri="{FF2B5EF4-FFF2-40B4-BE49-F238E27FC236}">
                <a16:creationId xmlns:a16="http://schemas.microsoft.com/office/drawing/2014/main" id="{9A048DE1-C7E6-2F49-BBFB-0CE522D2800D}"/>
              </a:ext>
            </a:extLst>
          </p:cNvPr>
          <p:cNvPicPr>
            <a:picLocks noChangeAspect="1"/>
          </p:cNvPicPr>
          <p:nvPr/>
        </p:nvPicPr>
        <p:blipFill rotWithShape="1">
          <a:blip r:embed="rId4"/>
          <a:srcRect l="5895" t="4455" r="7851" b="4487"/>
          <a:stretch/>
        </p:blipFill>
        <p:spPr>
          <a:xfrm>
            <a:off x="392327" y="2256081"/>
            <a:ext cx="4536512" cy="4789206"/>
          </a:xfrm>
          <a:prstGeom prst="rect">
            <a:avLst/>
          </a:prstGeom>
        </p:spPr>
      </p:pic>
    </p:spTree>
    <p:extLst>
      <p:ext uri="{BB962C8B-B14F-4D97-AF65-F5344CB8AC3E}">
        <p14:creationId xmlns:p14="http://schemas.microsoft.com/office/powerpoint/2010/main" val="369413265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 name="Shape 757"/>
          <p:cNvSpPr>
            <a:spLocks noGrp="1"/>
          </p:cNvSpPr>
          <p:nvPr>
            <p:ph type="title" idx="4294967295"/>
          </p:nvPr>
        </p:nvSpPr>
        <p:spPr>
          <a:xfrm>
            <a:off x="649287" y="390525"/>
            <a:ext cx="11704638" cy="1235075"/>
          </a:xfrm>
          <a:prstGeom prst="rect">
            <a:avLst/>
          </a:prstGeom>
        </p:spPr>
        <p:txBody>
          <a:bodyPr lIns="72248" tIns="72248" rIns="72248" bIns="72248" anchor="ctr">
            <a:normAutofit/>
          </a:bodyPr>
          <a:lstStyle>
            <a:lvl1pPr defTabSz="1300162">
              <a:defRPr sz="6200">
                <a:latin typeface="Arial"/>
                <a:ea typeface="Arial"/>
                <a:cs typeface="Arial"/>
                <a:sym typeface="Arial"/>
              </a:defRPr>
            </a:lvl1pPr>
          </a:lstStyle>
          <a:p>
            <a:pPr>
              <a:buNone/>
            </a:pPr>
            <a:r>
              <a:rPr lang="en-US" dirty="0"/>
              <a:t>Insulin Therapy</a:t>
            </a:r>
            <a:endParaRPr dirty="0"/>
          </a:p>
        </p:txBody>
      </p:sp>
      <p:sp>
        <p:nvSpPr>
          <p:cNvPr id="758" name="Shape 758"/>
          <p:cNvSpPr>
            <a:spLocks noGrp="1"/>
          </p:cNvSpPr>
          <p:nvPr>
            <p:ph type="body" idx="4294967295"/>
          </p:nvPr>
        </p:nvSpPr>
        <p:spPr>
          <a:xfrm>
            <a:off x="215900" y="1733550"/>
            <a:ext cx="12571413" cy="7694613"/>
          </a:xfrm>
          <a:prstGeom prst="rect">
            <a:avLst/>
          </a:prstGeom>
        </p:spPr>
        <p:txBody>
          <a:bodyPr lIns="72248" tIns="72248" rIns="72248" bIns="72248">
            <a:normAutofit/>
          </a:bodyPr>
          <a:lstStyle/>
          <a:p>
            <a:pPr>
              <a:spcBef>
                <a:spcPts val="1200"/>
              </a:spcBef>
              <a:buNone/>
            </a:pPr>
            <a:r>
              <a:rPr lang="en-US" sz="3200" b="1" dirty="0">
                <a:latin typeface="Calibri" panose="020F0502020204030204" pitchFamily="34" charset="0"/>
                <a:ea typeface="Calibri" panose="020F0502020204030204" pitchFamily="34" charset="0"/>
                <a:cs typeface="Calibri" panose="020F0502020204030204" pitchFamily="34" charset="0"/>
              </a:rPr>
              <a:t>Insulin Pumps</a:t>
            </a:r>
          </a:p>
          <a:p>
            <a:pPr>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Deliver </a:t>
            </a:r>
            <a:r>
              <a:rPr lang="en-US" sz="3200" b="1" dirty="0">
                <a:latin typeface="Calibri" panose="020F0502020204030204" pitchFamily="34" charset="0"/>
                <a:ea typeface="Calibri" panose="020F0502020204030204" pitchFamily="34" charset="0"/>
                <a:cs typeface="Calibri" panose="020F0502020204030204" pitchFamily="34" charset="0"/>
              </a:rPr>
              <a:t>rapid-acting insulin continuously</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Provide </a:t>
            </a:r>
            <a:r>
              <a:rPr lang="en-US" sz="3200" b="1" dirty="0">
                <a:latin typeface="Calibri" panose="020F0502020204030204" pitchFamily="34" charset="0"/>
                <a:ea typeface="Calibri" panose="020F0502020204030204" pitchFamily="34" charset="0"/>
                <a:cs typeface="Calibri" panose="020F0502020204030204" pitchFamily="34" charset="0"/>
              </a:rPr>
              <a:t>basal insulin + mealtime/correction boluses</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Basal and bolus dosing can be individualized</a:t>
            </a:r>
          </a:p>
          <a:p>
            <a:pPr>
              <a:spcBef>
                <a:spcPts val="1200"/>
              </a:spcBef>
            </a:pP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buNone/>
            </a:pPr>
            <a:r>
              <a:rPr lang="en-US" sz="3200" b="1" dirty="0">
                <a:latin typeface="Calibri" panose="020F0502020204030204" pitchFamily="34" charset="0"/>
                <a:ea typeface="Calibri" panose="020F0502020204030204" pitchFamily="34" charset="0"/>
                <a:cs typeface="Calibri" panose="020F0502020204030204" pitchFamily="34" charset="0"/>
              </a:rPr>
              <a:t>Automated Insulin Delivery (AID)</a:t>
            </a:r>
          </a:p>
          <a:p>
            <a:pPr marL="571500" indent="-571500">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Integrates an </a:t>
            </a:r>
            <a:r>
              <a:rPr lang="en-US" sz="3200" b="1" dirty="0">
                <a:latin typeface="Calibri" panose="020F0502020204030204" pitchFamily="34" charset="0"/>
                <a:ea typeface="Calibri" panose="020F0502020204030204" pitchFamily="34" charset="0"/>
                <a:cs typeface="Calibri" panose="020F0502020204030204" pitchFamily="34" charset="0"/>
              </a:rPr>
              <a:t>insulin pump + CGM + control algorithm</a:t>
            </a:r>
          </a:p>
          <a:p>
            <a:pPr marL="571500" indent="-571500">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Automatically adjusts insulin delivery based on sensor glucose</a:t>
            </a:r>
          </a:p>
          <a:p>
            <a:pPr marL="571500" indent="-571500">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Improves </a:t>
            </a:r>
            <a:r>
              <a:rPr lang="en-US" sz="3200" b="1" dirty="0">
                <a:latin typeface="Calibri" panose="020F0502020204030204" pitchFamily="34" charset="0"/>
                <a:ea typeface="Calibri" panose="020F0502020204030204" pitchFamily="34" charset="0"/>
                <a:cs typeface="Calibri" panose="020F0502020204030204" pitchFamily="34" charset="0"/>
              </a:rPr>
              <a:t>time in range</a:t>
            </a:r>
            <a:r>
              <a:rPr lang="en-US" sz="3200" dirty="0">
                <a:latin typeface="Calibri" panose="020F0502020204030204" pitchFamily="34" charset="0"/>
                <a:ea typeface="Calibri" panose="020F0502020204030204" pitchFamily="34" charset="0"/>
                <a:cs typeface="Calibri" panose="020F0502020204030204" pitchFamily="34" charset="0"/>
              </a:rPr>
              <a:t> and reduces hypoglycemia</a:t>
            </a:r>
          </a:p>
          <a:p>
            <a:pPr marL="571500" indent="-571500">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Patients still require education and active diabetes self-management</a:t>
            </a:r>
          </a:p>
        </p:txBody>
      </p:sp>
    </p:spTree>
    <p:extLst>
      <p:ext uri="{BB962C8B-B14F-4D97-AF65-F5344CB8AC3E}">
        <p14:creationId xmlns:p14="http://schemas.microsoft.com/office/powerpoint/2010/main" val="133517189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9" name="Rectangle 88">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800" cy="975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ight Triangle 90">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148501" y="4744344"/>
            <a:ext cx="3511296" cy="455168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3" name="Rectangle 92">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558" y="886435"/>
            <a:ext cx="11632057" cy="7975654"/>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 name="Shape 211"/>
          <p:cNvSpPr>
            <a:spLocks noGrp="1"/>
          </p:cNvSpPr>
          <p:nvPr>
            <p:ph type="title" idx="4294967295"/>
          </p:nvPr>
        </p:nvSpPr>
        <p:spPr>
          <a:xfrm>
            <a:off x="1147484" y="1690505"/>
            <a:ext cx="3187450" cy="6372589"/>
          </a:xfrm>
          <a:prstGeom prst="rect">
            <a:avLst/>
          </a:prstGeom>
        </p:spPr>
        <p:txBody>
          <a:bodyPr vert="horz" lIns="91440" tIns="45720" rIns="91440" bIns="45720" rtlCol="0" anchor="ctr">
            <a:normAutofit/>
          </a:bodyPr>
          <a:lstStyle>
            <a:lvl1pPr defTabSz="1300162">
              <a:defRPr sz="6200">
                <a:latin typeface="Arial"/>
                <a:ea typeface="Arial"/>
                <a:cs typeface="Arial"/>
                <a:sym typeface="Arial"/>
              </a:defRPr>
            </a:lvl1pPr>
          </a:lstStyle>
          <a:p>
            <a:pPr algn="r" defTabSz="914400">
              <a:lnSpc>
                <a:spcPct val="90000"/>
              </a:lnSpc>
              <a:spcBef>
                <a:spcPct val="0"/>
              </a:spcBef>
              <a:buNone/>
            </a:pPr>
            <a:r>
              <a:rPr lang="en-US" sz="7600" kern="1200">
                <a:solidFill>
                  <a:schemeClr val="tx1"/>
                </a:solidFill>
                <a:latin typeface="+mj-lt"/>
                <a:ea typeface="+mj-ea"/>
                <a:cs typeface="+mj-cs"/>
              </a:rPr>
              <a:t>Insulin</a:t>
            </a:r>
          </a:p>
        </p:txBody>
      </p:sp>
      <p:cxnSp>
        <p:nvCxnSpPr>
          <p:cNvPr id="95" name="Straight Connector 94">
            <a:extLst>
              <a:ext uri="{FF2B5EF4-FFF2-40B4-BE49-F238E27FC236}">
                <a16:creationId xmlns:a16="http://schemas.microsoft.com/office/drawing/2014/main" id="{23AAC9B5-8015-485C-ACF9-A750390E9A5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64582" y="2635182"/>
            <a:ext cx="0" cy="4603016"/>
          </a:xfrm>
          <a:prstGeom prst="line">
            <a:avLst/>
          </a:prstGeom>
          <a:ln w="19050" cap="sq">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12" name="Shape 212"/>
          <p:cNvSpPr>
            <a:spLocks noGrp="1"/>
          </p:cNvSpPr>
          <p:nvPr>
            <p:ph type="body" idx="4294967295"/>
          </p:nvPr>
        </p:nvSpPr>
        <p:spPr>
          <a:xfrm>
            <a:off x="5019491" y="1035951"/>
            <a:ext cx="7297123" cy="7826138"/>
          </a:xfrm>
          <a:prstGeom prst="rect">
            <a:avLst/>
          </a:prstGeom>
        </p:spPr>
        <p:txBody>
          <a:bodyPr vert="horz" lIns="91440" tIns="45720" rIns="91440" bIns="45720" rtlCol="0" anchor="ctr">
            <a:normAutofit/>
          </a:bodyPr>
          <a:lstStyle/>
          <a:p>
            <a:pPr defTabSz="914400">
              <a:lnSpc>
                <a:spcPct val="90000"/>
              </a:lnSpc>
              <a:spcBef>
                <a:spcPts val="0"/>
              </a:spcBef>
              <a:spcAft>
                <a:spcPts val="600"/>
              </a:spcAft>
              <a:buSzPct val="80000"/>
              <a:buNone/>
            </a:pPr>
            <a:r>
              <a:rPr lang="en-US" sz="3600" dirty="0">
                <a:latin typeface="Calibri" panose="020F0502020204030204" pitchFamily="34" charset="0"/>
                <a:ea typeface="Calibri" panose="020F0502020204030204" pitchFamily="34" charset="0"/>
                <a:cs typeface="Calibri" panose="020F0502020204030204" pitchFamily="34" charset="0"/>
              </a:rPr>
              <a:t>Insulin preparations differ primarily by their </a:t>
            </a:r>
            <a:r>
              <a:rPr lang="en-US" sz="3600" b="1" dirty="0">
                <a:latin typeface="Calibri" panose="020F0502020204030204" pitchFamily="34" charset="0"/>
                <a:ea typeface="Calibri" panose="020F0502020204030204" pitchFamily="34" charset="0"/>
                <a:cs typeface="Calibri" panose="020F0502020204030204" pitchFamily="34" charset="0"/>
              </a:rPr>
              <a:t>onset, peak, and duration of action.</a:t>
            </a:r>
          </a:p>
          <a:p>
            <a:pPr defTabSz="914400">
              <a:lnSpc>
                <a:spcPct val="90000"/>
              </a:lnSpc>
              <a:spcBef>
                <a:spcPts val="0"/>
              </a:spcBef>
              <a:spcAft>
                <a:spcPts val="600"/>
              </a:spcAft>
              <a:buSzPct val="80000"/>
              <a:buNone/>
            </a:pPr>
            <a:endParaRPr lang="en-US" sz="3600" kern="1200" dirty="0">
              <a:solidFill>
                <a:schemeClr val="tx1"/>
              </a:solidFill>
              <a:latin typeface="+mn-lt"/>
              <a:ea typeface="+mn-ea"/>
              <a:cs typeface="+mn-cs"/>
            </a:endParaRPr>
          </a:p>
          <a:p>
            <a:pPr marL="571500" indent="-228600" defTabSz="914400">
              <a:lnSpc>
                <a:spcPct val="90000"/>
              </a:lnSpc>
              <a:spcBef>
                <a:spcPts val="0"/>
              </a:spcBef>
              <a:spcAft>
                <a:spcPts val="600"/>
              </a:spcAft>
              <a:buSzPct val="80000"/>
              <a:buFont typeface="Arial" panose="020B0604020202020204" pitchFamily="34" charset="0"/>
              <a:buChar char="•"/>
            </a:pPr>
            <a:r>
              <a:rPr lang="en-US" sz="3600" b="1" kern="1200" dirty="0">
                <a:solidFill>
                  <a:schemeClr val="tx1"/>
                </a:solidFill>
                <a:latin typeface="+mn-lt"/>
                <a:ea typeface="+mn-ea"/>
                <a:cs typeface="+mn-cs"/>
              </a:rPr>
              <a:t>Rapid acting</a:t>
            </a:r>
          </a:p>
          <a:p>
            <a:pPr marL="571500" indent="-228600" defTabSz="914400">
              <a:lnSpc>
                <a:spcPct val="90000"/>
              </a:lnSpc>
              <a:spcBef>
                <a:spcPts val="0"/>
              </a:spcBef>
              <a:spcAft>
                <a:spcPts val="600"/>
              </a:spcAft>
              <a:buSzPct val="80000"/>
              <a:buFont typeface="Arial" panose="020B0604020202020204" pitchFamily="34" charset="0"/>
              <a:buChar char="•"/>
            </a:pPr>
            <a:r>
              <a:rPr lang="en-US" sz="3600" b="1" kern="1200" dirty="0">
                <a:solidFill>
                  <a:schemeClr val="tx1"/>
                </a:solidFill>
                <a:latin typeface="+mn-lt"/>
                <a:ea typeface="+mn-ea"/>
                <a:cs typeface="+mn-cs"/>
              </a:rPr>
              <a:t>Short-acting (regular)</a:t>
            </a:r>
          </a:p>
          <a:p>
            <a:pPr marL="571500" indent="-228600" defTabSz="914400">
              <a:lnSpc>
                <a:spcPct val="90000"/>
              </a:lnSpc>
              <a:spcBef>
                <a:spcPts val="0"/>
              </a:spcBef>
              <a:spcAft>
                <a:spcPts val="600"/>
              </a:spcAft>
              <a:buSzPct val="80000"/>
              <a:buFont typeface="Arial" panose="020B0604020202020204" pitchFamily="34" charset="0"/>
              <a:buChar char="•"/>
            </a:pPr>
            <a:r>
              <a:rPr lang="en-US" sz="3600" b="1" kern="1200" dirty="0">
                <a:solidFill>
                  <a:schemeClr val="tx1"/>
                </a:solidFill>
                <a:latin typeface="+mn-lt"/>
                <a:ea typeface="+mn-ea"/>
                <a:cs typeface="+mn-cs"/>
              </a:rPr>
              <a:t>Intermediate-acting (NPH)</a:t>
            </a:r>
          </a:p>
          <a:p>
            <a:pPr marL="571500" indent="-228600" defTabSz="914400">
              <a:lnSpc>
                <a:spcPct val="90000"/>
              </a:lnSpc>
              <a:spcBef>
                <a:spcPts val="0"/>
              </a:spcBef>
              <a:spcAft>
                <a:spcPts val="600"/>
              </a:spcAft>
              <a:buSzPct val="80000"/>
              <a:buFont typeface="Arial" panose="020B0604020202020204" pitchFamily="34" charset="0"/>
              <a:buChar char="•"/>
            </a:pPr>
            <a:r>
              <a:rPr lang="en-US" sz="3600" b="1" kern="1200" dirty="0">
                <a:solidFill>
                  <a:schemeClr val="tx1"/>
                </a:solidFill>
                <a:latin typeface="+mn-lt"/>
                <a:ea typeface="+mn-ea"/>
                <a:cs typeface="+mn-cs"/>
              </a:rPr>
              <a:t>Long acting</a:t>
            </a:r>
          </a:p>
          <a:p>
            <a:pPr marL="571500" indent="-228600" defTabSz="914400">
              <a:lnSpc>
                <a:spcPct val="90000"/>
              </a:lnSpc>
              <a:spcBef>
                <a:spcPts val="0"/>
              </a:spcBef>
              <a:spcAft>
                <a:spcPts val="600"/>
              </a:spcAft>
              <a:buSzPct val="80000"/>
              <a:buFont typeface="Arial" panose="020B0604020202020204" pitchFamily="34" charset="0"/>
              <a:buChar char="•"/>
            </a:pPr>
            <a:r>
              <a:rPr lang="en-US" sz="3600" b="1" kern="1200" dirty="0">
                <a:solidFill>
                  <a:schemeClr val="tx1"/>
                </a:solidFill>
                <a:latin typeface="+mn-lt"/>
                <a:ea typeface="+mn-ea"/>
                <a:cs typeface="+mn-cs"/>
              </a:rPr>
              <a:t>Ultra-long acting</a:t>
            </a:r>
            <a:endParaRPr lang="en-US" sz="3600" kern="1200" dirty="0">
              <a:solidFill>
                <a:schemeClr val="tx1"/>
              </a:solidFill>
              <a:latin typeface="+mn-lt"/>
              <a:ea typeface="+mn-ea"/>
              <a:cs typeface="+mn-cs"/>
            </a:endParaRPr>
          </a:p>
        </p:txBody>
      </p:sp>
    </p:spTree>
    <p:extLst>
      <p:ext uri="{BB962C8B-B14F-4D97-AF65-F5344CB8AC3E}">
        <p14:creationId xmlns:p14="http://schemas.microsoft.com/office/powerpoint/2010/main" val="183956407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0DE74E6-FECF-4393-B4B6-1DEABFF1A367}"/>
              </a:ext>
            </a:extLst>
          </p:cNvPr>
          <p:cNvPicPr>
            <a:picLocks noChangeAspect="1"/>
          </p:cNvPicPr>
          <p:nvPr/>
        </p:nvPicPr>
        <p:blipFill rotWithShape="1">
          <a:blip r:embed="rId3"/>
          <a:srcRect b="13698"/>
          <a:stretch/>
        </p:blipFill>
        <p:spPr>
          <a:xfrm>
            <a:off x="654782" y="280737"/>
            <a:ext cx="11695236" cy="9192126"/>
          </a:xfrm>
          <a:prstGeom prst="rect">
            <a:avLst/>
          </a:prstGeom>
        </p:spPr>
      </p:pic>
    </p:spTree>
    <p:extLst>
      <p:ext uri="{BB962C8B-B14F-4D97-AF65-F5344CB8AC3E}">
        <p14:creationId xmlns:p14="http://schemas.microsoft.com/office/powerpoint/2010/main" val="103012930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 name="Shape 214"/>
          <p:cNvSpPr>
            <a:spLocks noGrp="1"/>
          </p:cNvSpPr>
          <p:nvPr>
            <p:ph type="title" idx="4294967295"/>
          </p:nvPr>
        </p:nvSpPr>
        <p:spPr>
          <a:xfrm>
            <a:off x="649287" y="0"/>
            <a:ext cx="11704638" cy="1676400"/>
          </a:xfrm>
          <a:prstGeom prst="rect">
            <a:avLst/>
          </a:prstGeom>
        </p:spPr>
        <p:txBody>
          <a:bodyPr lIns="72248" tIns="72248" rIns="72248" bIns="72248" anchor="ctr">
            <a:normAutofit/>
          </a:bodyPr>
          <a:lstStyle>
            <a:lvl1pPr defTabSz="1300162">
              <a:defRPr sz="5100" b="1">
                <a:latin typeface="Arial"/>
                <a:ea typeface="Arial"/>
                <a:cs typeface="Arial"/>
                <a:sym typeface="Arial"/>
              </a:defRPr>
            </a:lvl1pPr>
          </a:lstStyle>
          <a:p>
            <a:pPr>
              <a:buNone/>
            </a:pPr>
            <a:r>
              <a:rPr lang="en-US" dirty="0"/>
              <a:t>Mealtime (Prandial) Insulin</a:t>
            </a:r>
            <a:endParaRPr dirty="0"/>
          </a:p>
        </p:txBody>
      </p:sp>
      <p:sp>
        <p:nvSpPr>
          <p:cNvPr id="215" name="Shape 215"/>
          <p:cNvSpPr>
            <a:spLocks noGrp="1"/>
          </p:cNvSpPr>
          <p:nvPr>
            <p:ph type="body" idx="4294967295"/>
          </p:nvPr>
        </p:nvSpPr>
        <p:spPr>
          <a:xfrm>
            <a:off x="215900" y="2358188"/>
            <a:ext cx="12571413" cy="7177925"/>
          </a:xfrm>
          <a:prstGeom prst="rect">
            <a:avLst/>
          </a:prstGeom>
        </p:spPr>
        <p:txBody>
          <a:bodyPr lIns="72248" tIns="72248" rIns="72248" bIns="72248">
            <a:noAutofit/>
          </a:bodyPr>
          <a:lstStyle/>
          <a:p>
            <a:pPr>
              <a:spcBef>
                <a:spcPts val="700"/>
              </a:spcBef>
              <a:buNone/>
            </a:pPr>
            <a:r>
              <a:rPr lang="en-US" sz="3200" b="1" dirty="0">
                <a:latin typeface="Calibri" panose="020F0502020204030204" pitchFamily="34" charset="0"/>
                <a:ea typeface="Calibri" panose="020F0502020204030204" pitchFamily="34" charset="0"/>
                <a:cs typeface="Calibri" panose="020F0502020204030204" pitchFamily="34" charset="0"/>
              </a:rPr>
              <a:t>Rapid-acting</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700"/>
              </a:spcBef>
            </a:pPr>
            <a:r>
              <a:rPr lang="en-US" sz="3200" dirty="0">
                <a:latin typeface="Calibri" panose="020F0502020204030204" pitchFamily="34" charset="0"/>
                <a:ea typeface="Calibri" panose="020F0502020204030204" pitchFamily="34" charset="0"/>
                <a:cs typeface="Calibri" panose="020F0502020204030204" pitchFamily="34" charset="0"/>
              </a:rPr>
              <a:t>Lispro (Humalog)</a:t>
            </a:r>
          </a:p>
          <a:p>
            <a:pPr>
              <a:spcBef>
                <a:spcPts val="700"/>
              </a:spcBef>
            </a:pPr>
            <a:r>
              <a:rPr lang="en-US" sz="3200" dirty="0">
                <a:latin typeface="Calibri" panose="020F0502020204030204" pitchFamily="34" charset="0"/>
                <a:ea typeface="Calibri" panose="020F0502020204030204" pitchFamily="34" charset="0"/>
                <a:cs typeface="Calibri" panose="020F0502020204030204" pitchFamily="34" charset="0"/>
              </a:rPr>
              <a:t>Aspart (NovoLog)</a:t>
            </a:r>
          </a:p>
          <a:p>
            <a:pPr>
              <a:spcBef>
                <a:spcPts val="700"/>
              </a:spcBef>
            </a:pPr>
            <a:r>
              <a:rPr lang="en-US" sz="3200" dirty="0" err="1">
                <a:latin typeface="Calibri" panose="020F0502020204030204" pitchFamily="34" charset="0"/>
                <a:ea typeface="Calibri" panose="020F0502020204030204" pitchFamily="34" charset="0"/>
                <a:cs typeface="Calibri" panose="020F0502020204030204" pitchFamily="34" charset="0"/>
              </a:rPr>
              <a:t>Glulisine</a:t>
            </a:r>
            <a:r>
              <a:rPr lang="en-US" sz="3200" dirty="0">
                <a:latin typeface="Calibri" panose="020F0502020204030204" pitchFamily="34" charset="0"/>
                <a:ea typeface="Calibri" panose="020F0502020204030204" pitchFamily="34" charset="0"/>
                <a:cs typeface="Calibri" panose="020F0502020204030204" pitchFamily="34" charset="0"/>
              </a:rPr>
              <a:t> (</a:t>
            </a:r>
            <a:r>
              <a:rPr lang="en-US" sz="3200" dirty="0" err="1">
                <a:latin typeface="Calibri" panose="020F0502020204030204" pitchFamily="34" charset="0"/>
                <a:ea typeface="Calibri" panose="020F0502020204030204" pitchFamily="34" charset="0"/>
                <a:cs typeface="Calibri" panose="020F0502020204030204" pitchFamily="34" charset="0"/>
              </a:rPr>
              <a:t>Apidra</a:t>
            </a:r>
            <a:r>
              <a:rPr lang="en-US" sz="3200" dirty="0">
                <a:latin typeface="Calibri" panose="020F0502020204030204" pitchFamily="34" charset="0"/>
                <a:ea typeface="Calibri" panose="020F0502020204030204" pitchFamily="34" charset="0"/>
                <a:cs typeface="Calibri" panose="020F0502020204030204" pitchFamily="34" charset="0"/>
              </a:rPr>
              <a:t>)</a:t>
            </a:r>
          </a:p>
          <a:p>
            <a:pPr>
              <a:spcBef>
                <a:spcPts val="700"/>
              </a:spcBef>
            </a:pPr>
            <a:r>
              <a:rPr lang="en-US" sz="3200" dirty="0">
                <a:latin typeface="Calibri" panose="020F0502020204030204" pitchFamily="34" charset="0"/>
                <a:ea typeface="Calibri" panose="020F0502020204030204" pitchFamily="34" charset="0"/>
                <a:cs typeface="Calibri" panose="020F0502020204030204" pitchFamily="34" charset="0"/>
              </a:rPr>
              <a:t>Give </a:t>
            </a:r>
            <a:r>
              <a:rPr lang="en-US" sz="3200" b="1" dirty="0">
                <a:latin typeface="Calibri" panose="020F0502020204030204" pitchFamily="34" charset="0"/>
                <a:ea typeface="Calibri" panose="020F0502020204030204" pitchFamily="34" charset="0"/>
                <a:cs typeface="Calibri" panose="020F0502020204030204" pitchFamily="34" charset="0"/>
              </a:rPr>
              <a:t>at/around mealtime</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700"/>
              </a:spcBef>
            </a:pPr>
            <a:r>
              <a:rPr lang="en-US" sz="3200" dirty="0">
                <a:latin typeface="Calibri" panose="020F0502020204030204" pitchFamily="34" charset="0"/>
                <a:ea typeface="Calibri" panose="020F0502020204030204" pitchFamily="34" charset="0"/>
                <a:cs typeface="Calibri" panose="020F0502020204030204" pitchFamily="34" charset="0"/>
              </a:rPr>
              <a:t>Faster onset, shorter duration</a:t>
            </a:r>
          </a:p>
          <a:p>
            <a:pPr>
              <a:spcBef>
                <a:spcPts val="700"/>
              </a:spcBef>
            </a:pP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700"/>
              </a:spcBef>
              <a:buNone/>
            </a:pPr>
            <a:r>
              <a:rPr lang="en-US" sz="3200" b="1" dirty="0">
                <a:latin typeface="Calibri" panose="020F0502020204030204" pitchFamily="34" charset="0"/>
                <a:ea typeface="Calibri" panose="020F0502020204030204" pitchFamily="34" charset="0"/>
                <a:cs typeface="Calibri" panose="020F0502020204030204" pitchFamily="34" charset="0"/>
              </a:rPr>
              <a:t>Short-acting</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700"/>
              </a:spcBef>
            </a:pPr>
            <a:r>
              <a:rPr lang="en-US" sz="3200" dirty="0">
                <a:latin typeface="Calibri" panose="020F0502020204030204" pitchFamily="34" charset="0"/>
                <a:ea typeface="Calibri" panose="020F0502020204030204" pitchFamily="34" charset="0"/>
                <a:cs typeface="Calibri" panose="020F0502020204030204" pitchFamily="34" charset="0"/>
              </a:rPr>
              <a:t>Regular insulin (Humulin R, Novolin R)</a:t>
            </a:r>
          </a:p>
          <a:p>
            <a:pPr>
              <a:spcBef>
                <a:spcPts val="700"/>
              </a:spcBef>
            </a:pPr>
            <a:r>
              <a:rPr lang="en-US" sz="3200" dirty="0">
                <a:latin typeface="Calibri" panose="020F0502020204030204" pitchFamily="34" charset="0"/>
                <a:ea typeface="Calibri" panose="020F0502020204030204" pitchFamily="34" charset="0"/>
                <a:cs typeface="Calibri" panose="020F0502020204030204" pitchFamily="34" charset="0"/>
              </a:rPr>
              <a:t>Give approximately </a:t>
            </a:r>
            <a:r>
              <a:rPr lang="en-US" sz="3200" b="1" dirty="0">
                <a:latin typeface="Calibri" panose="020F0502020204030204" pitchFamily="34" charset="0"/>
                <a:ea typeface="Calibri" panose="020F0502020204030204" pitchFamily="34" charset="0"/>
                <a:cs typeface="Calibri" panose="020F0502020204030204" pitchFamily="34" charset="0"/>
              </a:rPr>
              <a:t>30 minutes before meals</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700"/>
              </a:spcBef>
            </a:pPr>
            <a:r>
              <a:rPr lang="en-US" sz="3200" dirty="0">
                <a:latin typeface="Calibri" panose="020F0502020204030204" pitchFamily="34" charset="0"/>
                <a:ea typeface="Calibri" panose="020F0502020204030204" pitchFamily="34" charset="0"/>
                <a:cs typeface="Calibri" panose="020F0502020204030204" pitchFamily="34" charset="0"/>
              </a:rPr>
              <a:t>Slower onset and longer duration than rapid-acting</a:t>
            </a:r>
          </a:p>
          <a:p>
            <a:pPr>
              <a:spcBef>
                <a:spcPts val="700"/>
              </a:spcBef>
            </a:pPr>
            <a:r>
              <a:rPr lang="en-US" sz="3200" b="1" dirty="0">
                <a:latin typeface="Calibri" panose="020F0502020204030204" pitchFamily="34" charset="0"/>
                <a:ea typeface="Calibri" panose="020F0502020204030204" pitchFamily="34" charset="0"/>
                <a:cs typeface="Calibri" panose="020F0502020204030204" pitchFamily="34" charset="0"/>
              </a:rPr>
              <a:t>Can be given IV</a:t>
            </a:r>
            <a:endParaRPr lang="en-US" sz="3200" dirty="0">
              <a:latin typeface="Calibri" panose="020F0502020204030204" pitchFamily="34" charset="0"/>
              <a:ea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47DB446E-2ED3-D3F8-716C-6FAD042483D7}"/>
              </a:ext>
            </a:extLst>
          </p:cNvPr>
          <p:cNvSpPr txBox="1"/>
          <p:nvPr/>
        </p:nvSpPr>
        <p:spPr>
          <a:xfrm>
            <a:off x="7299960" y="2499361"/>
            <a:ext cx="5257800" cy="20621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en-US" sz="3200" b="1" dirty="0">
                <a:latin typeface="Calibri" panose="020F0502020204030204" pitchFamily="34" charset="0"/>
                <a:ea typeface="Calibri" panose="020F0502020204030204" pitchFamily="34" charset="0"/>
                <a:cs typeface="Calibri" panose="020F0502020204030204" pitchFamily="34" charset="0"/>
              </a:rPr>
              <a:t>Pump pearl:</a:t>
            </a:r>
            <a:r>
              <a:rPr lang="en-US" sz="3200" dirty="0">
                <a:latin typeface="Calibri" panose="020F0502020204030204" pitchFamily="34" charset="0"/>
                <a:ea typeface="Calibri" panose="020F0502020204030204" pitchFamily="34" charset="0"/>
                <a:cs typeface="Calibri" panose="020F0502020204030204" pitchFamily="34" charset="0"/>
              </a:rPr>
              <a:t> Insulin pumps typically use </a:t>
            </a:r>
            <a:r>
              <a:rPr lang="en-US" sz="3200" b="1" dirty="0">
                <a:latin typeface="Calibri" panose="020F0502020204030204" pitchFamily="34" charset="0"/>
                <a:ea typeface="Calibri" panose="020F0502020204030204" pitchFamily="34" charset="0"/>
                <a:cs typeface="Calibri" panose="020F0502020204030204" pitchFamily="34" charset="0"/>
              </a:rPr>
              <a:t>rapid-acting insulin for both basal and mealtime insulin delivery.</a:t>
            </a:r>
            <a:endParaRPr kumimoji="0" lang="en-US" sz="3200" b="0" i="0" u="none" strike="noStrike" cap="none" spc="0" normalizeH="0" baseline="0" dirty="0">
              <a:ln>
                <a:noFill/>
              </a:ln>
              <a:solidFill>
                <a:srgbClr val="000000"/>
              </a:solidFill>
              <a:effectLst/>
              <a:uFillTx/>
              <a:latin typeface="Calibri" panose="020F0502020204030204" pitchFamily="34" charset="0"/>
              <a:ea typeface="Calibri" panose="020F0502020204030204" pitchFamily="34" charset="0"/>
              <a:cs typeface="Calibri" panose="020F0502020204030204" pitchFamily="34" charset="0"/>
              <a:sym typeface="Helvetica Light"/>
            </a:endParaRPr>
          </a:p>
        </p:txBody>
      </p:sp>
    </p:spTree>
    <p:extLst>
      <p:ext uri="{BB962C8B-B14F-4D97-AF65-F5344CB8AC3E}">
        <p14:creationId xmlns:p14="http://schemas.microsoft.com/office/powerpoint/2010/main" val="179117703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 name="Shape 217"/>
          <p:cNvSpPr>
            <a:spLocks noGrp="1"/>
          </p:cNvSpPr>
          <p:nvPr>
            <p:ph type="title" idx="4294967295"/>
          </p:nvPr>
        </p:nvSpPr>
        <p:spPr>
          <a:xfrm>
            <a:off x="649287" y="215900"/>
            <a:ext cx="11704638" cy="1227889"/>
          </a:xfrm>
          <a:prstGeom prst="rect">
            <a:avLst/>
          </a:prstGeom>
        </p:spPr>
        <p:txBody>
          <a:bodyPr lIns="72248" tIns="72248" rIns="72248" bIns="72248" anchor="ctr">
            <a:normAutofit/>
          </a:bodyPr>
          <a:lstStyle>
            <a:lvl1pPr defTabSz="1300162">
              <a:defRPr sz="5100" b="1">
                <a:latin typeface="Arial"/>
                <a:ea typeface="Arial"/>
                <a:cs typeface="Arial"/>
                <a:sym typeface="Arial"/>
              </a:defRPr>
            </a:lvl1pPr>
          </a:lstStyle>
          <a:p>
            <a:pPr>
              <a:buNone/>
            </a:pPr>
            <a:r>
              <a:rPr lang="en-US" dirty="0"/>
              <a:t>Intermediate-acting (</a:t>
            </a:r>
            <a:r>
              <a:rPr dirty="0"/>
              <a:t>Basal</a:t>
            </a:r>
            <a:r>
              <a:rPr lang="en-US" dirty="0"/>
              <a:t>)</a:t>
            </a:r>
            <a:r>
              <a:rPr dirty="0"/>
              <a:t> Insulin</a:t>
            </a:r>
          </a:p>
        </p:txBody>
      </p:sp>
      <p:sp>
        <p:nvSpPr>
          <p:cNvPr id="218" name="Shape 218"/>
          <p:cNvSpPr>
            <a:spLocks noGrp="1"/>
          </p:cNvSpPr>
          <p:nvPr>
            <p:ph type="body" idx="4294967295"/>
          </p:nvPr>
        </p:nvSpPr>
        <p:spPr>
          <a:xfrm>
            <a:off x="215900" y="2093495"/>
            <a:ext cx="12571413" cy="7442618"/>
          </a:xfrm>
          <a:prstGeom prst="rect">
            <a:avLst/>
          </a:prstGeom>
        </p:spPr>
        <p:txBody>
          <a:bodyPr lIns="72248" tIns="72248" rIns="72248" bIns="72248">
            <a:normAutofit/>
          </a:bodyPr>
          <a:lstStyle/>
          <a:p>
            <a:pPr>
              <a:spcBef>
                <a:spcPts val="1200"/>
              </a:spcBef>
              <a:buNone/>
            </a:pPr>
            <a:r>
              <a:rPr lang="en-US" sz="3200" b="1" dirty="0">
                <a:latin typeface="Calibri" panose="020F0502020204030204" pitchFamily="34" charset="0"/>
                <a:ea typeface="Calibri" panose="020F0502020204030204" pitchFamily="34" charset="0"/>
                <a:cs typeface="Calibri" panose="020F0502020204030204" pitchFamily="34" charset="0"/>
              </a:rPr>
              <a:t>NPH (Humulin N, Novolin N)</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3200" b="1" dirty="0">
                <a:latin typeface="Calibri" panose="020F0502020204030204" pitchFamily="34" charset="0"/>
                <a:ea typeface="Calibri" panose="020F0502020204030204" pitchFamily="34" charset="0"/>
                <a:cs typeface="Calibri" panose="020F0502020204030204" pitchFamily="34" charset="0"/>
              </a:rPr>
              <a:t>Intermediate-acting</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Provides </a:t>
            </a:r>
            <a:r>
              <a:rPr lang="en-US" sz="3200" b="1" dirty="0">
                <a:latin typeface="Calibri" panose="020F0502020204030204" pitchFamily="34" charset="0"/>
                <a:ea typeface="Calibri" panose="020F0502020204030204" pitchFamily="34" charset="0"/>
                <a:cs typeface="Calibri" panose="020F0502020204030204" pitchFamily="34" charset="0"/>
              </a:rPr>
              <a:t>basal insulin coverage</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Has a </a:t>
            </a:r>
            <a:r>
              <a:rPr lang="en-US" sz="3200" b="1" dirty="0">
                <a:latin typeface="Calibri" panose="020F0502020204030204" pitchFamily="34" charset="0"/>
                <a:ea typeface="Calibri" panose="020F0502020204030204" pitchFamily="34" charset="0"/>
                <a:cs typeface="Calibri" panose="020F0502020204030204" pitchFamily="34" charset="0"/>
              </a:rPr>
              <a:t>pronounced peak</a:t>
            </a:r>
            <a:r>
              <a:rPr lang="en-US" sz="3200" dirty="0">
                <a:latin typeface="Calibri" panose="020F0502020204030204" pitchFamily="34" charset="0"/>
                <a:ea typeface="Calibri" panose="020F0502020204030204" pitchFamily="34" charset="0"/>
                <a:cs typeface="Calibri" panose="020F0502020204030204" pitchFamily="34" charset="0"/>
              </a:rPr>
              <a:t> → greater hypoglycemia risk than long-acting basal analogs</a:t>
            </a:r>
          </a:p>
          <a:p>
            <a:pPr>
              <a:spcBef>
                <a:spcPts val="1200"/>
              </a:spcBef>
            </a:pPr>
            <a:r>
              <a:rPr lang="en-US" sz="3200" b="1" dirty="0">
                <a:latin typeface="Calibri" panose="020F0502020204030204" pitchFamily="34" charset="0"/>
                <a:ea typeface="Calibri" panose="020F0502020204030204" pitchFamily="34" charset="0"/>
                <a:cs typeface="Calibri" panose="020F0502020204030204" pitchFamily="34" charset="0"/>
              </a:rPr>
              <a:t>Cloudy suspension — must be gently resuspended before use</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May be given </a:t>
            </a:r>
            <a:r>
              <a:rPr lang="en-US" sz="3200" b="1" dirty="0">
                <a:latin typeface="Calibri" panose="020F0502020204030204" pitchFamily="34" charset="0"/>
                <a:ea typeface="Calibri" panose="020F0502020204030204" pitchFamily="34" charset="0"/>
                <a:cs typeface="Calibri" panose="020F0502020204030204" pitchFamily="34" charset="0"/>
              </a:rPr>
              <a:t>once or twice daily</a:t>
            </a:r>
            <a:endParaRPr lang="en-US" sz="3200" dirty="0">
              <a:latin typeface="Calibri" panose="020F0502020204030204" pitchFamily="34" charset="0"/>
              <a:ea typeface="Calibri" panose="020F0502020204030204" pitchFamily="34" charset="0"/>
              <a:cs typeface="Calibri" panose="020F0502020204030204" pitchFamily="34" charset="0"/>
            </a:endParaRPr>
          </a:p>
          <a:p>
            <a:pPr marL="292100" indent="-292100" defTabSz="1300162">
              <a:spcBef>
                <a:spcPts val="700"/>
              </a:spcBef>
              <a:buChar char="•"/>
              <a:defRPr sz="4500">
                <a:latin typeface="Arial"/>
                <a:ea typeface="Arial"/>
                <a:cs typeface="Arial"/>
                <a:sym typeface="Arial"/>
              </a:defRPr>
            </a:pPr>
            <a:endParaRPr dirty="0">
              <a:latin typeface="Calibri" charset="0"/>
              <a:ea typeface="Calibri" charset="0"/>
              <a:cs typeface="Calibri" charset="0"/>
            </a:endParaRPr>
          </a:p>
        </p:txBody>
      </p:sp>
    </p:spTree>
    <p:extLst>
      <p:ext uri="{BB962C8B-B14F-4D97-AF65-F5344CB8AC3E}">
        <p14:creationId xmlns:p14="http://schemas.microsoft.com/office/powerpoint/2010/main" val="284208743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8E7EE-8CDB-E909-C0F1-B281E13A1C0A}"/>
            </a:ext>
          </a:extLst>
        </p:cNvPr>
        <p:cNvGrpSpPr/>
        <p:nvPr/>
      </p:nvGrpSpPr>
      <p:grpSpPr>
        <a:xfrm>
          <a:off x="0" y="0"/>
          <a:ext cx="0" cy="0"/>
          <a:chOff x="0" y="0"/>
          <a:chExt cx="0" cy="0"/>
        </a:xfrm>
      </p:grpSpPr>
      <p:sp>
        <p:nvSpPr>
          <p:cNvPr id="217" name="Shape 217">
            <a:extLst>
              <a:ext uri="{FF2B5EF4-FFF2-40B4-BE49-F238E27FC236}">
                <a16:creationId xmlns:a16="http://schemas.microsoft.com/office/drawing/2014/main" id="{D2864766-CF35-3B4E-8AB7-BFF6CF9DC609}"/>
              </a:ext>
            </a:extLst>
          </p:cNvPr>
          <p:cNvSpPr>
            <a:spLocks noGrp="1"/>
          </p:cNvSpPr>
          <p:nvPr>
            <p:ph type="title" idx="4294967295"/>
          </p:nvPr>
        </p:nvSpPr>
        <p:spPr>
          <a:xfrm>
            <a:off x="649287" y="215900"/>
            <a:ext cx="11704638" cy="1227889"/>
          </a:xfrm>
          <a:prstGeom prst="rect">
            <a:avLst/>
          </a:prstGeom>
        </p:spPr>
        <p:txBody>
          <a:bodyPr lIns="72248" tIns="72248" rIns="72248" bIns="72248" anchor="ctr">
            <a:normAutofit/>
          </a:bodyPr>
          <a:lstStyle>
            <a:lvl1pPr defTabSz="1300162">
              <a:defRPr sz="5100" b="1">
                <a:latin typeface="Arial"/>
                <a:ea typeface="Arial"/>
                <a:cs typeface="Arial"/>
                <a:sym typeface="Arial"/>
              </a:defRPr>
            </a:lvl1pPr>
          </a:lstStyle>
          <a:p>
            <a:pPr>
              <a:buNone/>
            </a:pPr>
            <a:r>
              <a:rPr lang="en-US" dirty="0"/>
              <a:t>Long-acting (</a:t>
            </a:r>
            <a:r>
              <a:rPr dirty="0"/>
              <a:t>Basal</a:t>
            </a:r>
            <a:r>
              <a:rPr lang="en-US" dirty="0"/>
              <a:t>)</a:t>
            </a:r>
            <a:r>
              <a:rPr dirty="0"/>
              <a:t> Insulin</a:t>
            </a:r>
          </a:p>
        </p:txBody>
      </p:sp>
      <p:sp>
        <p:nvSpPr>
          <p:cNvPr id="218" name="Shape 218">
            <a:extLst>
              <a:ext uri="{FF2B5EF4-FFF2-40B4-BE49-F238E27FC236}">
                <a16:creationId xmlns:a16="http://schemas.microsoft.com/office/drawing/2014/main" id="{358E09B1-A1F7-9879-697F-76D40EED9D90}"/>
              </a:ext>
            </a:extLst>
          </p:cNvPr>
          <p:cNvSpPr>
            <a:spLocks noGrp="1"/>
          </p:cNvSpPr>
          <p:nvPr>
            <p:ph type="body" idx="4294967295"/>
          </p:nvPr>
        </p:nvSpPr>
        <p:spPr>
          <a:xfrm>
            <a:off x="215900" y="2093495"/>
            <a:ext cx="12571413" cy="7442618"/>
          </a:xfrm>
          <a:prstGeom prst="rect">
            <a:avLst/>
          </a:prstGeom>
        </p:spPr>
        <p:txBody>
          <a:bodyPr lIns="72248" tIns="72248" rIns="72248" bIns="72248">
            <a:normAutofit/>
          </a:bodyPr>
          <a:lstStyle/>
          <a:p>
            <a:pPr>
              <a:spcBef>
                <a:spcPts val="1200"/>
              </a:spcBef>
              <a:buNone/>
            </a:pPr>
            <a:r>
              <a:rPr lang="en-US" sz="3200" b="1" dirty="0">
                <a:latin typeface="Calibri" panose="020F0502020204030204" pitchFamily="34" charset="0"/>
                <a:ea typeface="Calibri" panose="020F0502020204030204" pitchFamily="34" charset="0"/>
                <a:cs typeface="Calibri" panose="020F0502020204030204" pitchFamily="34" charset="0"/>
              </a:rPr>
              <a:t>Insulin glargine</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3200" b="1" dirty="0">
                <a:latin typeface="Calibri" panose="020F0502020204030204" pitchFamily="34" charset="0"/>
                <a:ea typeface="Calibri" panose="020F0502020204030204" pitchFamily="34" charset="0"/>
                <a:cs typeface="Calibri" panose="020F0502020204030204" pitchFamily="34" charset="0"/>
              </a:rPr>
              <a:t>Lantus / </a:t>
            </a:r>
            <a:r>
              <a:rPr lang="en-US" sz="3200" b="1" dirty="0" err="1">
                <a:latin typeface="Calibri" panose="020F0502020204030204" pitchFamily="34" charset="0"/>
                <a:ea typeface="Calibri" panose="020F0502020204030204" pitchFamily="34" charset="0"/>
                <a:cs typeface="Calibri" panose="020F0502020204030204" pitchFamily="34" charset="0"/>
              </a:rPr>
              <a:t>Basaglar</a:t>
            </a:r>
            <a:r>
              <a:rPr lang="en-US" sz="3200" b="1" dirty="0">
                <a:latin typeface="Calibri" panose="020F0502020204030204" pitchFamily="34" charset="0"/>
                <a:ea typeface="Calibri" panose="020F0502020204030204" pitchFamily="34" charset="0"/>
                <a:cs typeface="Calibri" panose="020F0502020204030204" pitchFamily="34" charset="0"/>
              </a:rPr>
              <a:t> / </a:t>
            </a:r>
            <a:r>
              <a:rPr lang="en-US" sz="3200" b="1" dirty="0" err="1">
                <a:latin typeface="Calibri" panose="020F0502020204030204" pitchFamily="34" charset="0"/>
                <a:ea typeface="Calibri" panose="020F0502020204030204" pitchFamily="34" charset="0"/>
                <a:cs typeface="Calibri" panose="020F0502020204030204" pitchFamily="34" charset="0"/>
              </a:rPr>
              <a:t>Semglee</a:t>
            </a:r>
            <a:r>
              <a:rPr lang="en-US" sz="3200" dirty="0">
                <a:latin typeface="Calibri" panose="020F0502020204030204" pitchFamily="34" charset="0"/>
                <a:ea typeface="Calibri" panose="020F0502020204030204" pitchFamily="34" charset="0"/>
                <a:cs typeface="Calibri" panose="020F0502020204030204" pitchFamily="34" charset="0"/>
              </a:rPr>
              <a:t> — U-100</a:t>
            </a:r>
          </a:p>
          <a:p>
            <a:pPr>
              <a:spcBef>
                <a:spcPts val="1200"/>
              </a:spcBef>
            </a:pPr>
            <a:r>
              <a:rPr lang="en-US" sz="3200" b="1" dirty="0" err="1">
                <a:latin typeface="Calibri" panose="020F0502020204030204" pitchFamily="34" charset="0"/>
                <a:ea typeface="Calibri" panose="020F0502020204030204" pitchFamily="34" charset="0"/>
                <a:cs typeface="Calibri" panose="020F0502020204030204" pitchFamily="34" charset="0"/>
              </a:rPr>
              <a:t>Toujeo</a:t>
            </a:r>
            <a:r>
              <a:rPr lang="en-US" sz="3200" dirty="0">
                <a:latin typeface="Calibri" panose="020F0502020204030204" pitchFamily="34" charset="0"/>
                <a:ea typeface="Calibri" panose="020F0502020204030204" pitchFamily="34" charset="0"/>
                <a:cs typeface="Calibri" panose="020F0502020204030204" pitchFamily="34" charset="0"/>
              </a:rPr>
              <a:t> — U-300</a:t>
            </a:r>
          </a:p>
          <a:p>
            <a:pPr>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Provides relatively </a:t>
            </a:r>
            <a:r>
              <a:rPr lang="en-US" sz="3200" b="1" dirty="0" err="1">
                <a:latin typeface="Calibri" panose="020F0502020204030204" pitchFamily="34" charset="0"/>
                <a:ea typeface="Calibri" panose="020F0502020204030204" pitchFamily="34" charset="0"/>
                <a:cs typeface="Calibri" panose="020F0502020204030204" pitchFamily="34" charset="0"/>
              </a:rPr>
              <a:t>peakless</a:t>
            </a:r>
            <a:r>
              <a:rPr lang="en-US" sz="3200" b="1" dirty="0">
                <a:latin typeface="Calibri" panose="020F0502020204030204" pitchFamily="34" charset="0"/>
                <a:ea typeface="Calibri" panose="020F0502020204030204" pitchFamily="34" charset="0"/>
                <a:cs typeface="Calibri" panose="020F0502020204030204" pitchFamily="34" charset="0"/>
              </a:rPr>
              <a:t> basal insulin coverage</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Usually dosed </a:t>
            </a:r>
            <a:r>
              <a:rPr lang="en-US" sz="3200" b="1" dirty="0">
                <a:latin typeface="Calibri" panose="020F0502020204030204" pitchFamily="34" charset="0"/>
                <a:ea typeface="Calibri" panose="020F0502020204030204" pitchFamily="34" charset="0"/>
                <a:cs typeface="Calibri" panose="020F0502020204030204" pitchFamily="34" charset="0"/>
              </a:rPr>
              <a:t>once daily</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3200" b="1" dirty="0">
                <a:latin typeface="Calibri" panose="020F0502020204030204" pitchFamily="34" charset="0"/>
                <a:ea typeface="Calibri" panose="020F0502020204030204" pitchFamily="34" charset="0"/>
                <a:cs typeface="Calibri" panose="020F0502020204030204" pitchFamily="34" charset="0"/>
              </a:rPr>
              <a:t>Do not mix</a:t>
            </a:r>
            <a:r>
              <a:rPr lang="en-US" sz="3200" dirty="0">
                <a:latin typeface="Calibri" panose="020F0502020204030204" pitchFamily="34" charset="0"/>
                <a:ea typeface="Calibri" panose="020F0502020204030204" pitchFamily="34" charset="0"/>
                <a:cs typeface="Calibri" panose="020F0502020204030204" pitchFamily="34" charset="0"/>
              </a:rPr>
              <a:t> with other insulins in the same syringe</a:t>
            </a:r>
          </a:p>
          <a:p>
            <a:pPr marL="292100" indent="-292100" defTabSz="1300162">
              <a:spcBef>
                <a:spcPts val="700"/>
              </a:spcBef>
              <a:buChar char="•"/>
              <a:defRPr sz="4500">
                <a:latin typeface="Arial"/>
                <a:ea typeface="Arial"/>
                <a:cs typeface="Arial"/>
                <a:sym typeface="Arial"/>
              </a:defRPr>
            </a:pPr>
            <a:endParaRPr dirty="0">
              <a:latin typeface="Calibri" charset="0"/>
              <a:ea typeface="Calibri" charset="0"/>
              <a:cs typeface="Calibri" charset="0"/>
            </a:endParaRPr>
          </a:p>
        </p:txBody>
      </p:sp>
    </p:spTree>
    <p:extLst>
      <p:ext uri="{BB962C8B-B14F-4D97-AF65-F5344CB8AC3E}">
        <p14:creationId xmlns:p14="http://schemas.microsoft.com/office/powerpoint/2010/main" val="384568303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7F624-D85B-249D-12F2-3E70FD4E7435}"/>
            </a:ext>
          </a:extLst>
        </p:cNvPr>
        <p:cNvGrpSpPr/>
        <p:nvPr/>
      </p:nvGrpSpPr>
      <p:grpSpPr>
        <a:xfrm>
          <a:off x="0" y="0"/>
          <a:ext cx="0" cy="0"/>
          <a:chOff x="0" y="0"/>
          <a:chExt cx="0" cy="0"/>
        </a:xfrm>
      </p:grpSpPr>
      <p:sp>
        <p:nvSpPr>
          <p:cNvPr id="217" name="Shape 217">
            <a:extLst>
              <a:ext uri="{FF2B5EF4-FFF2-40B4-BE49-F238E27FC236}">
                <a16:creationId xmlns:a16="http://schemas.microsoft.com/office/drawing/2014/main" id="{54BB2686-06EC-750F-9453-FC18258D5665}"/>
              </a:ext>
            </a:extLst>
          </p:cNvPr>
          <p:cNvSpPr>
            <a:spLocks noGrp="1"/>
          </p:cNvSpPr>
          <p:nvPr>
            <p:ph type="title" idx="4294967295"/>
          </p:nvPr>
        </p:nvSpPr>
        <p:spPr>
          <a:xfrm>
            <a:off x="649287" y="215900"/>
            <a:ext cx="11704638" cy="1227889"/>
          </a:xfrm>
          <a:prstGeom prst="rect">
            <a:avLst/>
          </a:prstGeom>
        </p:spPr>
        <p:txBody>
          <a:bodyPr lIns="72248" tIns="72248" rIns="72248" bIns="72248" anchor="ctr">
            <a:normAutofit/>
          </a:bodyPr>
          <a:lstStyle>
            <a:lvl1pPr defTabSz="1300162">
              <a:defRPr sz="5100" b="1">
                <a:latin typeface="Arial"/>
                <a:ea typeface="Arial"/>
                <a:cs typeface="Arial"/>
                <a:sym typeface="Arial"/>
              </a:defRPr>
            </a:lvl1pPr>
          </a:lstStyle>
          <a:p>
            <a:pPr>
              <a:buNone/>
            </a:pPr>
            <a:r>
              <a:rPr lang="en-US" dirty="0"/>
              <a:t>Ultra-Long-acting (</a:t>
            </a:r>
            <a:r>
              <a:rPr dirty="0"/>
              <a:t>Basal</a:t>
            </a:r>
            <a:r>
              <a:rPr lang="en-US" dirty="0"/>
              <a:t>)</a:t>
            </a:r>
            <a:r>
              <a:rPr dirty="0"/>
              <a:t> Insulin</a:t>
            </a:r>
          </a:p>
        </p:txBody>
      </p:sp>
      <p:sp>
        <p:nvSpPr>
          <p:cNvPr id="218" name="Shape 218">
            <a:extLst>
              <a:ext uri="{FF2B5EF4-FFF2-40B4-BE49-F238E27FC236}">
                <a16:creationId xmlns:a16="http://schemas.microsoft.com/office/drawing/2014/main" id="{C0279BB7-22F4-21F3-3358-D0CB55F56877}"/>
              </a:ext>
            </a:extLst>
          </p:cNvPr>
          <p:cNvSpPr>
            <a:spLocks noGrp="1"/>
          </p:cNvSpPr>
          <p:nvPr>
            <p:ph type="body" idx="4294967295"/>
          </p:nvPr>
        </p:nvSpPr>
        <p:spPr>
          <a:xfrm>
            <a:off x="215900" y="2093495"/>
            <a:ext cx="12571413" cy="7442618"/>
          </a:xfrm>
          <a:prstGeom prst="rect">
            <a:avLst/>
          </a:prstGeom>
        </p:spPr>
        <p:txBody>
          <a:bodyPr lIns="72248" tIns="72248" rIns="72248" bIns="72248">
            <a:normAutofit/>
          </a:bodyPr>
          <a:lstStyle/>
          <a:p>
            <a:pPr>
              <a:spcBef>
                <a:spcPts val="1200"/>
              </a:spcBef>
              <a:buNone/>
            </a:pPr>
            <a:r>
              <a:rPr lang="en-US" sz="3200" b="1" dirty="0">
                <a:latin typeface="Calibri" panose="020F0502020204030204" pitchFamily="34" charset="0"/>
                <a:ea typeface="Calibri" panose="020F0502020204030204" pitchFamily="34" charset="0"/>
                <a:cs typeface="Calibri" panose="020F0502020204030204" pitchFamily="34" charset="0"/>
              </a:rPr>
              <a:t>Insulin degludec (Tresiba)</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3200" b="1" dirty="0">
                <a:latin typeface="Calibri" panose="020F0502020204030204" pitchFamily="34" charset="0"/>
                <a:ea typeface="Calibri" panose="020F0502020204030204" pitchFamily="34" charset="0"/>
                <a:cs typeface="Calibri" panose="020F0502020204030204" pitchFamily="34" charset="0"/>
              </a:rPr>
              <a:t>Ultra-long-acting basal insulin</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Duration of action </a:t>
            </a:r>
            <a:r>
              <a:rPr lang="en-US" sz="3200" b="1" dirty="0">
                <a:latin typeface="Calibri" panose="020F0502020204030204" pitchFamily="34" charset="0"/>
                <a:ea typeface="Calibri" panose="020F0502020204030204" pitchFamily="34" charset="0"/>
                <a:cs typeface="Calibri" panose="020F0502020204030204" pitchFamily="34" charset="0"/>
              </a:rPr>
              <a:t>&gt;42 hours</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3200" b="1" dirty="0">
                <a:latin typeface="Calibri" panose="020F0502020204030204" pitchFamily="34" charset="0"/>
                <a:ea typeface="Calibri" panose="020F0502020204030204" pitchFamily="34" charset="0"/>
                <a:cs typeface="Calibri" panose="020F0502020204030204" pitchFamily="34" charset="0"/>
              </a:rPr>
              <a:t>Minimal peak</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Dosed </a:t>
            </a:r>
            <a:r>
              <a:rPr lang="en-US" sz="3200" b="1" dirty="0">
                <a:latin typeface="Calibri" panose="020F0502020204030204" pitchFamily="34" charset="0"/>
                <a:ea typeface="Calibri" panose="020F0502020204030204" pitchFamily="34" charset="0"/>
                <a:cs typeface="Calibri" panose="020F0502020204030204" pitchFamily="34" charset="0"/>
              </a:rPr>
              <a:t>once daily</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Available as </a:t>
            </a:r>
            <a:r>
              <a:rPr lang="en-US" sz="3200" b="1" dirty="0">
                <a:latin typeface="Calibri" panose="020F0502020204030204" pitchFamily="34" charset="0"/>
                <a:ea typeface="Calibri" panose="020F0502020204030204" pitchFamily="34" charset="0"/>
                <a:cs typeface="Calibri" panose="020F0502020204030204" pitchFamily="34" charset="0"/>
              </a:rPr>
              <a:t>U-100 and U-200</a:t>
            </a:r>
            <a:endParaRPr lang="en-US" sz="3200" dirty="0">
              <a:latin typeface="Calibri" panose="020F0502020204030204" pitchFamily="34" charset="0"/>
              <a:ea typeface="Calibri" panose="020F0502020204030204" pitchFamily="34" charset="0"/>
              <a:cs typeface="Calibri" panose="020F0502020204030204" pitchFamily="34" charset="0"/>
            </a:endParaRPr>
          </a:p>
          <a:p>
            <a:pPr marL="292100" indent="-292100" defTabSz="1300162">
              <a:spcBef>
                <a:spcPts val="700"/>
              </a:spcBef>
              <a:buChar char="•"/>
              <a:defRPr sz="4500">
                <a:latin typeface="Arial"/>
                <a:ea typeface="Arial"/>
                <a:cs typeface="Arial"/>
                <a:sym typeface="Arial"/>
              </a:defRPr>
            </a:pPr>
            <a:endParaRPr dirty="0">
              <a:latin typeface="Calibri" charset="0"/>
              <a:ea typeface="Calibri" charset="0"/>
              <a:cs typeface="Calibri" charset="0"/>
            </a:endParaRPr>
          </a:p>
        </p:txBody>
      </p:sp>
    </p:spTree>
    <p:extLst>
      <p:ext uri="{BB962C8B-B14F-4D97-AF65-F5344CB8AC3E}">
        <p14:creationId xmlns:p14="http://schemas.microsoft.com/office/powerpoint/2010/main" val="382625525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5" name="Shape 715"/>
          <p:cNvSpPr>
            <a:spLocks noGrp="1"/>
          </p:cNvSpPr>
          <p:nvPr>
            <p:ph type="title" idx="4294967295"/>
          </p:nvPr>
        </p:nvSpPr>
        <p:spPr>
          <a:xfrm>
            <a:off x="649287" y="228600"/>
            <a:ext cx="11704638" cy="1447800"/>
          </a:xfrm>
          <a:prstGeom prst="rect">
            <a:avLst/>
          </a:prstGeom>
        </p:spPr>
        <p:txBody>
          <a:bodyPr lIns="72248" tIns="72248" rIns="72248" bIns="72248" anchor="ctr">
            <a:normAutofit/>
          </a:bodyPr>
          <a:lstStyle>
            <a:lvl1pPr defTabSz="1300162">
              <a:defRPr sz="5100" b="1">
                <a:latin typeface="Arial"/>
                <a:ea typeface="Arial"/>
                <a:cs typeface="Arial"/>
                <a:sym typeface="Arial"/>
              </a:defRPr>
            </a:lvl1pPr>
          </a:lstStyle>
          <a:p>
            <a:pPr>
              <a:buNone/>
            </a:pPr>
            <a:r>
              <a:rPr dirty="0"/>
              <a:t>Insulin Therapy</a:t>
            </a:r>
          </a:p>
        </p:txBody>
      </p:sp>
      <p:sp>
        <p:nvSpPr>
          <p:cNvPr id="716" name="Shape 716"/>
          <p:cNvSpPr>
            <a:spLocks noGrp="1"/>
          </p:cNvSpPr>
          <p:nvPr>
            <p:ph type="body" idx="4294967295"/>
          </p:nvPr>
        </p:nvSpPr>
        <p:spPr>
          <a:xfrm>
            <a:off x="215899" y="2141621"/>
            <a:ext cx="12571413" cy="7287812"/>
          </a:xfrm>
          <a:prstGeom prst="rect">
            <a:avLst/>
          </a:prstGeom>
        </p:spPr>
        <p:txBody>
          <a:bodyPr lIns="72248" tIns="72248" rIns="72248" bIns="72248">
            <a:noAutofit/>
          </a:bodyPr>
          <a:lstStyle/>
          <a:p>
            <a:pPr>
              <a:spcBef>
                <a:spcPts val="1200"/>
              </a:spcBef>
              <a:buNone/>
            </a:pPr>
            <a:r>
              <a:rPr lang="en-US" sz="3200" b="1" dirty="0">
                <a:latin typeface="Calibri" panose="020F0502020204030204" pitchFamily="34" charset="0"/>
                <a:ea typeface="Calibri" panose="020F0502020204030204" pitchFamily="34" charset="0"/>
                <a:cs typeface="Calibri" panose="020F0502020204030204" pitchFamily="34" charset="0"/>
              </a:rPr>
              <a:t>Starting Basal Insulin in T2DM</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A common starting dose is:</a:t>
            </a:r>
          </a:p>
          <a:p>
            <a:pPr lvl="1">
              <a:spcBef>
                <a:spcPts val="1200"/>
              </a:spcBef>
            </a:pPr>
            <a:r>
              <a:rPr lang="en-US" sz="3200" b="1" dirty="0">
                <a:latin typeface="Calibri" panose="020F0502020204030204" pitchFamily="34" charset="0"/>
                <a:ea typeface="Calibri" panose="020F0502020204030204" pitchFamily="34" charset="0"/>
                <a:cs typeface="Calibri" panose="020F0502020204030204" pitchFamily="34" charset="0"/>
              </a:rPr>
              <a:t>10 units/day</a:t>
            </a:r>
            <a:r>
              <a:rPr lang="en-US" sz="3200" dirty="0">
                <a:latin typeface="Calibri" panose="020F0502020204030204" pitchFamily="34" charset="0"/>
                <a:ea typeface="Calibri" panose="020F0502020204030204" pitchFamily="34" charset="0"/>
                <a:cs typeface="Calibri" panose="020F0502020204030204" pitchFamily="34" charset="0"/>
              </a:rPr>
              <a:t>, OR</a:t>
            </a:r>
          </a:p>
          <a:p>
            <a:pPr lvl="1">
              <a:spcBef>
                <a:spcPts val="1200"/>
              </a:spcBef>
            </a:pPr>
            <a:r>
              <a:rPr lang="en-US" sz="3200" b="1" dirty="0">
                <a:latin typeface="Calibri" panose="020F0502020204030204" pitchFamily="34" charset="0"/>
                <a:ea typeface="Calibri" panose="020F0502020204030204" pitchFamily="34" charset="0"/>
                <a:cs typeface="Calibri" panose="020F0502020204030204" pitchFamily="34" charset="0"/>
              </a:rPr>
              <a:t>0.1–0.2 units/kg/day</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Titrate based primarily on </a:t>
            </a:r>
            <a:r>
              <a:rPr lang="en-US" sz="3200" b="1" dirty="0">
                <a:latin typeface="Calibri" panose="020F0502020204030204" pitchFamily="34" charset="0"/>
                <a:ea typeface="Calibri" panose="020F0502020204030204" pitchFamily="34" charset="0"/>
                <a:cs typeface="Calibri" panose="020F0502020204030204" pitchFamily="34" charset="0"/>
              </a:rPr>
              <a:t>fasting glucose</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Individualize based on hyperglycemia and risk of hypoglycemia</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5" name="Shape 715"/>
          <p:cNvSpPr>
            <a:spLocks noGrp="1"/>
          </p:cNvSpPr>
          <p:nvPr>
            <p:ph type="title" idx="4294967295"/>
          </p:nvPr>
        </p:nvSpPr>
        <p:spPr>
          <a:xfrm>
            <a:off x="649287" y="228600"/>
            <a:ext cx="11704638" cy="1447800"/>
          </a:xfrm>
          <a:prstGeom prst="rect">
            <a:avLst/>
          </a:prstGeom>
        </p:spPr>
        <p:txBody>
          <a:bodyPr lIns="72248" tIns="72248" rIns="72248" bIns="72248" anchor="ctr">
            <a:normAutofit/>
          </a:bodyPr>
          <a:lstStyle>
            <a:lvl1pPr defTabSz="1300162">
              <a:defRPr sz="5100" b="1">
                <a:latin typeface="Arial"/>
                <a:ea typeface="Arial"/>
                <a:cs typeface="Arial"/>
                <a:sym typeface="Arial"/>
              </a:defRPr>
            </a:lvl1pPr>
          </a:lstStyle>
          <a:p>
            <a:pPr>
              <a:buNone/>
            </a:pPr>
            <a:r>
              <a:rPr dirty="0"/>
              <a:t>Insulin Therapy</a:t>
            </a:r>
          </a:p>
        </p:txBody>
      </p:sp>
      <p:sp>
        <p:nvSpPr>
          <p:cNvPr id="716" name="Shape 716"/>
          <p:cNvSpPr>
            <a:spLocks noGrp="1"/>
          </p:cNvSpPr>
          <p:nvPr>
            <p:ph type="body" idx="4294967295"/>
          </p:nvPr>
        </p:nvSpPr>
        <p:spPr>
          <a:xfrm>
            <a:off x="215900" y="1752600"/>
            <a:ext cx="12571413" cy="7783513"/>
          </a:xfrm>
          <a:prstGeom prst="rect">
            <a:avLst/>
          </a:prstGeom>
        </p:spPr>
        <p:txBody>
          <a:bodyPr lIns="72248" tIns="72248" rIns="72248" bIns="72248">
            <a:noAutofit/>
          </a:bodyPr>
          <a:lstStyle/>
          <a:p>
            <a:pPr marL="323850" indent="-323850" defTabSz="1300162">
              <a:spcBef>
                <a:spcPts val="1200"/>
              </a:spcBef>
              <a:buChar char="•"/>
              <a:defRPr sz="4500">
                <a:latin typeface="Arial"/>
                <a:ea typeface="Arial"/>
                <a:cs typeface="Arial"/>
                <a:sym typeface="Arial"/>
              </a:defRPr>
            </a:pPr>
            <a:endParaRPr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buNone/>
            </a:pPr>
            <a:r>
              <a:rPr lang="en-US" sz="3200" b="1" dirty="0">
                <a:latin typeface="Calibri" panose="020F0502020204030204" pitchFamily="34" charset="0"/>
                <a:ea typeface="Calibri" panose="020F0502020204030204" pitchFamily="34" charset="0"/>
                <a:cs typeface="Calibri" panose="020F0502020204030204" pitchFamily="34" charset="0"/>
              </a:rPr>
              <a:t>Basal Insulin Titration</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Adjust based on </a:t>
            </a:r>
            <a:r>
              <a:rPr lang="en-US" sz="3200" b="1" dirty="0">
                <a:latin typeface="Calibri" panose="020F0502020204030204" pitchFamily="34" charset="0"/>
                <a:ea typeface="Calibri" panose="020F0502020204030204" pitchFamily="34" charset="0"/>
                <a:cs typeface="Calibri" panose="020F0502020204030204" pitchFamily="34" charset="0"/>
              </a:rPr>
              <a:t>fasting glucose trends</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Common approach: adjust by approximately </a:t>
            </a:r>
            <a:r>
              <a:rPr lang="en-US" sz="3200" b="1" dirty="0">
                <a:latin typeface="Calibri" panose="020F0502020204030204" pitchFamily="34" charset="0"/>
                <a:ea typeface="Calibri" panose="020F0502020204030204" pitchFamily="34" charset="0"/>
                <a:cs typeface="Calibri" panose="020F0502020204030204" pitchFamily="34" charset="0"/>
              </a:rPr>
              <a:t>2 units every 3–4 days</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3200" b="1" dirty="0">
                <a:latin typeface="Calibri" panose="020F0502020204030204" pitchFamily="34" charset="0"/>
                <a:ea typeface="Calibri" panose="020F0502020204030204" pitchFamily="34" charset="0"/>
                <a:cs typeface="Calibri" panose="020F0502020204030204" pitchFamily="34" charset="0"/>
              </a:rPr>
              <a:t>Increase</a:t>
            </a:r>
            <a:r>
              <a:rPr lang="en-US" sz="3200" dirty="0">
                <a:latin typeface="Calibri" panose="020F0502020204030204" pitchFamily="34" charset="0"/>
                <a:ea typeface="Calibri" panose="020F0502020204030204" pitchFamily="34" charset="0"/>
                <a:cs typeface="Calibri" panose="020F0502020204030204" pitchFamily="34" charset="0"/>
              </a:rPr>
              <a:t> until fasting glucose is at goal</a:t>
            </a:r>
          </a:p>
          <a:p>
            <a:pPr>
              <a:spcBef>
                <a:spcPts val="1200"/>
              </a:spcBef>
            </a:pPr>
            <a:r>
              <a:rPr lang="en-US" sz="3200" b="1" dirty="0">
                <a:latin typeface="Calibri" panose="020F0502020204030204" pitchFamily="34" charset="0"/>
                <a:ea typeface="Calibri" panose="020F0502020204030204" pitchFamily="34" charset="0"/>
                <a:cs typeface="Calibri" panose="020F0502020204030204" pitchFamily="34" charset="0"/>
              </a:rPr>
              <a:t>Decrease</a:t>
            </a:r>
            <a:r>
              <a:rPr lang="en-US" sz="3200" dirty="0">
                <a:latin typeface="Calibri" panose="020F0502020204030204" pitchFamily="34" charset="0"/>
                <a:ea typeface="Calibri" panose="020F0502020204030204" pitchFamily="34" charset="0"/>
                <a:cs typeface="Calibri" panose="020F0502020204030204" pitchFamily="34" charset="0"/>
              </a:rPr>
              <a:t> for hypoglycemia</a:t>
            </a:r>
          </a:p>
          <a:p>
            <a:pPr>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Titration should be </a:t>
            </a:r>
            <a:r>
              <a:rPr lang="en-US" sz="3200" b="1" dirty="0">
                <a:latin typeface="Calibri" panose="020F0502020204030204" pitchFamily="34" charset="0"/>
                <a:ea typeface="Calibri" panose="020F0502020204030204" pitchFamily="34" charset="0"/>
                <a:cs typeface="Calibri" panose="020F0502020204030204" pitchFamily="34" charset="0"/>
              </a:rPr>
              <a:t>individualized</a:t>
            </a:r>
            <a:endParaRPr lang="en-US" sz="32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1566947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5" name="Shape 715"/>
          <p:cNvSpPr>
            <a:spLocks noGrp="1"/>
          </p:cNvSpPr>
          <p:nvPr>
            <p:ph type="title" idx="4294967295"/>
          </p:nvPr>
        </p:nvSpPr>
        <p:spPr>
          <a:xfrm>
            <a:off x="649287" y="228600"/>
            <a:ext cx="11704638" cy="1447800"/>
          </a:xfrm>
          <a:prstGeom prst="rect">
            <a:avLst/>
          </a:prstGeom>
        </p:spPr>
        <p:txBody>
          <a:bodyPr lIns="72248" tIns="72248" rIns="72248" bIns="72248" anchor="ctr">
            <a:normAutofit fontScale="90000"/>
          </a:bodyPr>
          <a:lstStyle>
            <a:lvl1pPr defTabSz="1300162">
              <a:defRPr sz="5100" b="1">
                <a:latin typeface="Arial"/>
                <a:ea typeface="Arial"/>
                <a:cs typeface="Arial"/>
                <a:sym typeface="Arial"/>
              </a:defRPr>
            </a:lvl1pPr>
          </a:lstStyle>
          <a:p>
            <a:pPr>
              <a:buNone/>
            </a:pPr>
            <a:r>
              <a:rPr lang="en-US" dirty="0"/>
              <a:t>Insulin Administration: Patient Education</a:t>
            </a:r>
            <a:endParaRPr dirty="0"/>
          </a:p>
        </p:txBody>
      </p:sp>
      <p:sp>
        <p:nvSpPr>
          <p:cNvPr id="716" name="Shape 716"/>
          <p:cNvSpPr>
            <a:spLocks noGrp="1"/>
          </p:cNvSpPr>
          <p:nvPr>
            <p:ph type="body" idx="4294967295"/>
          </p:nvPr>
        </p:nvSpPr>
        <p:spPr>
          <a:xfrm>
            <a:off x="215900" y="1752601"/>
            <a:ext cx="12571413" cy="3565358"/>
          </a:xfrm>
          <a:prstGeom prst="rect">
            <a:avLst/>
          </a:prstGeom>
        </p:spPr>
        <p:txBody>
          <a:bodyPr lIns="72248" tIns="72248" rIns="72248" bIns="72248">
            <a:normAutofit/>
          </a:bodyPr>
          <a:lstStyle/>
          <a:p>
            <a:pPr marL="571500" indent="-571500">
              <a:buFont typeface="Arial" charset="0"/>
              <a:buChar char="•"/>
            </a:pPr>
            <a:endParaRPr lang="en-US" sz="4400" dirty="0">
              <a:latin typeface="Calibri" charset="0"/>
              <a:ea typeface="Calibri" charset="0"/>
              <a:cs typeface="Calibri" charset="0"/>
            </a:endParaRPr>
          </a:p>
        </p:txBody>
      </p:sp>
      <p:pic>
        <p:nvPicPr>
          <p:cNvPr id="2" name="Picture 1"/>
          <p:cNvPicPr>
            <a:picLocks noChangeAspect="1"/>
          </p:cNvPicPr>
          <p:nvPr/>
        </p:nvPicPr>
        <p:blipFill rotWithShape="1">
          <a:blip r:embed="rId3"/>
          <a:srcRect t="48070" r="50643"/>
          <a:stretch/>
        </p:blipFill>
        <p:spPr>
          <a:xfrm>
            <a:off x="215900" y="1752601"/>
            <a:ext cx="4124575" cy="4339602"/>
          </a:xfrm>
          <a:prstGeom prst="rect">
            <a:avLst/>
          </a:prstGeom>
        </p:spPr>
      </p:pic>
      <p:pic>
        <p:nvPicPr>
          <p:cNvPr id="6" name="Picture 5">
            <a:extLst>
              <a:ext uri="{FF2B5EF4-FFF2-40B4-BE49-F238E27FC236}">
                <a16:creationId xmlns:a16="http://schemas.microsoft.com/office/drawing/2014/main" id="{4459B0AB-8EE2-421A-B6D6-0A5CE9338244}"/>
              </a:ext>
            </a:extLst>
          </p:cNvPr>
          <p:cNvPicPr>
            <a:picLocks noChangeAspect="1"/>
          </p:cNvPicPr>
          <p:nvPr/>
        </p:nvPicPr>
        <p:blipFill>
          <a:blip r:embed="rId4"/>
          <a:stretch>
            <a:fillRect/>
          </a:stretch>
        </p:blipFill>
        <p:spPr>
          <a:xfrm>
            <a:off x="4340476" y="1752602"/>
            <a:ext cx="4339602" cy="4339602"/>
          </a:xfrm>
          <a:prstGeom prst="rect">
            <a:avLst/>
          </a:prstGeom>
        </p:spPr>
      </p:pic>
      <p:pic>
        <p:nvPicPr>
          <p:cNvPr id="7" name="Picture 6">
            <a:extLst>
              <a:ext uri="{FF2B5EF4-FFF2-40B4-BE49-F238E27FC236}">
                <a16:creationId xmlns:a16="http://schemas.microsoft.com/office/drawing/2014/main" id="{670D078C-628A-4A84-80F3-5623946C68A0}"/>
              </a:ext>
            </a:extLst>
          </p:cNvPr>
          <p:cNvPicPr>
            <a:picLocks noChangeAspect="1"/>
          </p:cNvPicPr>
          <p:nvPr/>
        </p:nvPicPr>
        <p:blipFill>
          <a:blip r:embed="rId5"/>
          <a:stretch>
            <a:fillRect/>
          </a:stretch>
        </p:blipFill>
        <p:spPr>
          <a:xfrm>
            <a:off x="8660316" y="2679031"/>
            <a:ext cx="4344484" cy="2486742"/>
          </a:xfrm>
          <a:prstGeom prst="rect">
            <a:avLst/>
          </a:prstGeom>
        </p:spPr>
      </p:pic>
      <p:pic>
        <p:nvPicPr>
          <p:cNvPr id="8" name="Picture 7">
            <a:extLst>
              <a:ext uri="{FF2B5EF4-FFF2-40B4-BE49-F238E27FC236}">
                <a16:creationId xmlns:a16="http://schemas.microsoft.com/office/drawing/2014/main" id="{00AD3508-3F91-4D01-A67B-6199597D29D8}"/>
              </a:ext>
            </a:extLst>
          </p:cNvPr>
          <p:cNvPicPr>
            <a:picLocks noChangeAspect="1"/>
          </p:cNvPicPr>
          <p:nvPr/>
        </p:nvPicPr>
        <p:blipFill rotWithShape="1">
          <a:blip r:embed="rId6"/>
          <a:srcRect l="9476" t="2860" r="8020" b="4463"/>
          <a:stretch/>
        </p:blipFill>
        <p:spPr>
          <a:xfrm>
            <a:off x="8660315" y="5394160"/>
            <a:ext cx="4436827" cy="4130840"/>
          </a:xfrm>
          <a:prstGeom prst="rect">
            <a:avLst/>
          </a:prstGeom>
        </p:spPr>
      </p:pic>
      <p:pic>
        <p:nvPicPr>
          <p:cNvPr id="5" name="Graphic 4" descr="Video camera">
            <a:hlinkClick r:id="rId7"/>
            <a:extLst>
              <a:ext uri="{FF2B5EF4-FFF2-40B4-BE49-F238E27FC236}">
                <a16:creationId xmlns:a16="http://schemas.microsoft.com/office/drawing/2014/main" id="{834FBE02-F57E-4E3C-8191-A060B84B7CB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15900" y="8610600"/>
            <a:ext cx="914400" cy="914400"/>
          </a:xfrm>
          <a:prstGeom prst="rect">
            <a:avLst/>
          </a:prstGeom>
        </p:spPr>
      </p:pic>
    </p:spTree>
    <p:extLst>
      <p:ext uri="{BB962C8B-B14F-4D97-AF65-F5344CB8AC3E}">
        <p14:creationId xmlns:p14="http://schemas.microsoft.com/office/powerpoint/2010/main" val="14551018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5" name="Shape 715"/>
          <p:cNvSpPr>
            <a:spLocks noGrp="1"/>
          </p:cNvSpPr>
          <p:nvPr>
            <p:ph type="title" idx="4294967295"/>
          </p:nvPr>
        </p:nvSpPr>
        <p:spPr>
          <a:xfrm>
            <a:off x="649287" y="228600"/>
            <a:ext cx="11704638" cy="1447800"/>
          </a:xfrm>
          <a:prstGeom prst="rect">
            <a:avLst/>
          </a:prstGeom>
        </p:spPr>
        <p:txBody>
          <a:bodyPr lIns="72248" tIns="72248" rIns="72248" bIns="72248" anchor="ctr">
            <a:normAutofit/>
          </a:bodyPr>
          <a:lstStyle>
            <a:lvl1pPr defTabSz="1300162">
              <a:defRPr sz="5100" b="1">
                <a:latin typeface="Arial"/>
                <a:ea typeface="Arial"/>
                <a:cs typeface="Arial"/>
                <a:sym typeface="Arial"/>
              </a:defRPr>
            </a:lvl1pPr>
          </a:lstStyle>
          <a:p>
            <a:pPr>
              <a:buNone/>
            </a:pPr>
            <a:r>
              <a:rPr lang="en-US" dirty="0"/>
              <a:t>Sites of </a:t>
            </a:r>
            <a:r>
              <a:rPr dirty="0"/>
              <a:t>Insulin </a:t>
            </a:r>
            <a:r>
              <a:rPr lang="en-US" dirty="0"/>
              <a:t>Administration</a:t>
            </a:r>
            <a:endParaRPr dirty="0"/>
          </a:p>
        </p:txBody>
      </p:sp>
      <p:sp>
        <p:nvSpPr>
          <p:cNvPr id="716" name="Shape 716"/>
          <p:cNvSpPr>
            <a:spLocks noGrp="1"/>
          </p:cNvSpPr>
          <p:nvPr>
            <p:ph type="body" idx="4294967295"/>
          </p:nvPr>
        </p:nvSpPr>
        <p:spPr>
          <a:xfrm>
            <a:off x="215900" y="1752600"/>
            <a:ext cx="12571413" cy="7783513"/>
          </a:xfrm>
          <a:prstGeom prst="rect">
            <a:avLst/>
          </a:prstGeom>
        </p:spPr>
        <p:txBody>
          <a:bodyPr lIns="72248" tIns="72248" rIns="72248" bIns="72248">
            <a:normAutofit fontScale="47500" lnSpcReduction="20000"/>
          </a:bodyPr>
          <a:lstStyle/>
          <a:p>
            <a:pPr>
              <a:spcBef>
                <a:spcPts val="1200"/>
              </a:spcBef>
              <a:buNone/>
            </a:pPr>
            <a:r>
              <a:rPr lang="en-US" sz="8000" dirty="0">
                <a:latin typeface="Calibri" panose="020F0502020204030204" pitchFamily="34" charset="0"/>
                <a:ea typeface="Calibri" panose="020F0502020204030204" pitchFamily="34" charset="0"/>
                <a:cs typeface="Calibri" panose="020F0502020204030204" pitchFamily="34" charset="0"/>
              </a:rPr>
              <a:t>Insulin is injected into </a:t>
            </a:r>
            <a:r>
              <a:rPr lang="en-US" sz="8000" b="1" dirty="0">
                <a:latin typeface="Calibri" panose="020F0502020204030204" pitchFamily="34" charset="0"/>
                <a:ea typeface="Calibri" panose="020F0502020204030204" pitchFamily="34" charset="0"/>
                <a:cs typeface="Calibri" panose="020F0502020204030204" pitchFamily="34" charset="0"/>
              </a:rPr>
              <a:t>subcutaneous tissue</a:t>
            </a:r>
            <a:r>
              <a:rPr lang="en-US" sz="8000" dirty="0">
                <a:latin typeface="Calibri" panose="020F0502020204030204" pitchFamily="34" charset="0"/>
                <a:ea typeface="Calibri" panose="020F0502020204030204" pitchFamily="34" charset="0"/>
                <a:cs typeface="Calibri" panose="020F0502020204030204" pitchFamily="34" charset="0"/>
              </a:rPr>
              <a:t>:</a:t>
            </a:r>
          </a:p>
          <a:p>
            <a:pPr>
              <a:spcBef>
                <a:spcPts val="1200"/>
              </a:spcBef>
            </a:pPr>
            <a:r>
              <a:rPr lang="en-US" sz="8000" b="1" dirty="0">
                <a:latin typeface="Calibri" panose="020F0502020204030204" pitchFamily="34" charset="0"/>
                <a:ea typeface="Calibri" panose="020F0502020204030204" pitchFamily="34" charset="0"/>
                <a:cs typeface="Calibri" panose="020F0502020204030204" pitchFamily="34" charset="0"/>
              </a:rPr>
              <a:t>Abdomen</a:t>
            </a:r>
            <a:endParaRPr lang="en-US" sz="80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8000" b="1" dirty="0">
                <a:latin typeface="Calibri" panose="020F0502020204030204" pitchFamily="34" charset="0"/>
                <a:ea typeface="Calibri" panose="020F0502020204030204" pitchFamily="34" charset="0"/>
                <a:cs typeface="Calibri" panose="020F0502020204030204" pitchFamily="34" charset="0"/>
              </a:rPr>
              <a:t>Outer/lateral thigh</a:t>
            </a:r>
            <a:endParaRPr lang="en-US" sz="80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8000" b="1" dirty="0">
                <a:latin typeface="Calibri" panose="020F0502020204030204" pitchFamily="34" charset="0"/>
                <a:ea typeface="Calibri" panose="020F0502020204030204" pitchFamily="34" charset="0"/>
                <a:cs typeface="Calibri" panose="020F0502020204030204" pitchFamily="34" charset="0"/>
              </a:rPr>
              <a:t>Buttocks</a:t>
            </a:r>
            <a:endParaRPr lang="en-US" sz="80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8000" b="1" dirty="0">
                <a:latin typeface="Calibri" panose="020F0502020204030204" pitchFamily="34" charset="0"/>
                <a:ea typeface="Calibri" panose="020F0502020204030204" pitchFamily="34" charset="0"/>
                <a:cs typeface="Calibri" panose="020F0502020204030204" pitchFamily="34" charset="0"/>
              </a:rPr>
              <a:t>Upper arm</a:t>
            </a:r>
          </a:p>
          <a:p>
            <a:pPr>
              <a:spcBef>
                <a:spcPts val="1200"/>
              </a:spcBef>
            </a:pPr>
            <a:endParaRPr lang="en-US" sz="8000" dirty="0">
              <a:latin typeface="Calibri" panose="020F0502020204030204" pitchFamily="34" charset="0"/>
              <a:ea typeface="Calibri" panose="020F0502020204030204" pitchFamily="34" charset="0"/>
              <a:cs typeface="Calibri" panose="020F0502020204030204" pitchFamily="34" charset="0"/>
            </a:endParaRPr>
          </a:p>
          <a:p>
            <a:pPr>
              <a:spcBef>
                <a:spcPts val="1200"/>
              </a:spcBef>
              <a:buNone/>
            </a:pPr>
            <a:r>
              <a:rPr lang="en-US" sz="8000" b="1" dirty="0">
                <a:latin typeface="Calibri" panose="020F0502020204030204" pitchFamily="34" charset="0"/>
                <a:ea typeface="Calibri" panose="020F0502020204030204" pitchFamily="34" charset="0"/>
                <a:cs typeface="Calibri" panose="020F0502020204030204" pitchFamily="34" charset="0"/>
              </a:rPr>
              <a:t>Clinical Pearls</a:t>
            </a:r>
            <a:endParaRPr lang="en-US" sz="80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8000" b="1" dirty="0">
                <a:latin typeface="Calibri" panose="020F0502020204030204" pitchFamily="34" charset="0"/>
                <a:ea typeface="Calibri" panose="020F0502020204030204" pitchFamily="34" charset="0"/>
                <a:cs typeface="Calibri" panose="020F0502020204030204" pitchFamily="34" charset="0"/>
              </a:rPr>
              <a:t>Rotate injection sites</a:t>
            </a:r>
            <a:r>
              <a:rPr lang="en-US" sz="8000" dirty="0">
                <a:latin typeface="Calibri" panose="020F0502020204030204" pitchFamily="34" charset="0"/>
                <a:ea typeface="Calibri" panose="020F0502020204030204" pitchFamily="34" charset="0"/>
                <a:cs typeface="Calibri" panose="020F0502020204030204" pitchFamily="34" charset="0"/>
              </a:rPr>
              <a:t> to prevent </a:t>
            </a:r>
            <a:r>
              <a:rPr lang="en-US" sz="8000" dirty="0" err="1">
                <a:latin typeface="Calibri" panose="020F0502020204030204" pitchFamily="34" charset="0"/>
                <a:ea typeface="Calibri" panose="020F0502020204030204" pitchFamily="34" charset="0"/>
                <a:cs typeface="Calibri" panose="020F0502020204030204" pitchFamily="34" charset="0"/>
              </a:rPr>
              <a:t>lipohypertrophy</a:t>
            </a:r>
            <a:endParaRPr lang="en-US" sz="80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8000" dirty="0">
                <a:latin typeface="Calibri" panose="020F0502020204030204" pitchFamily="34" charset="0"/>
                <a:ea typeface="Calibri" panose="020F0502020204030204" pitchFamily="34" charset="0"/>
                <a:cs typeface="Calibri" panose="020F0502020204030204" pitchFamily="34" charset="0"/>
              </a:rPr>
              <a:t>Avoid injecting into areas of </a:t>
            </a:r>
            <a:r>
              <a:rPr lang="en-US" sz="8000" b="1" dirty="0" err="1">
                <a:latin typeface="Calibri" panose="020F0502020204030204" pitchFamily="34" charset="0"/>
                <a:ea typeface="Calibri" panose="020F0502020204030204" pitchFamily="34" charset="0"/>
                <a:cs typeface="Calibri" panose="020F0502020204030204" pitchFamily="34" charset="0"/>
              </a:rPr>
              <a:t>lipohypertrophy</a:t>
            </a:r>
            <a:endParaRPr lang="en-US" sz="80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8000" dirty="0">
                <a:latin typeface="Calibri" panose="020F0502020204030204" pitchFamily="34" charset="0"/>
                <a:ea typeface="Calibri" panose="020F0502020204030204" pitchFamily="34" charset="0"/>
                <a:cs typeface="Calibri" panose="020F0502020204030204" pitchFamily="34" charset="0"/>
              </a:rPr>
              <a:t>Avoid </a:t>
            </a:r>
            <a:r>
              <a:rPr lang="en-US" sz="8000" b="1" dirty="0">
                <a:latin typeface="Calibri" panose="020F0502020204030204" pitchFamily="34" charset="0"/>
                <a:ea typeface="Calibri" panose="020F0502020204030204" pitchFamily="34" charset="0"/>
                <a:cs typeface="Calibri" panose="020F0502020204030204" pitchFamily="34" charset="0"/>
              </a:rPr>
              <a:t>intramuscular injection</a:t>
            </a:r>
            <a:r>
              <a:rPr lang="en-US" sz="8000" dirty="0">
                <a:latin typeface="Calibri" panose="020F0502020204030204" pitchFamily="34" charset="0"/>
                <a:ea typeface="Calibri" panose="020F0502020204030204" pitchFamily="34" charset="0"/>
                <a:cs typeface="Calibri" panose="020F0502020204030204" pitchFamily="34" charset="0"/>
              </a:rPr>
              <a:t> → unpredictable absorption and hypoglycemia risk</a:t>
            </a:r>
          </a:p>
          <a:p>
            <a:pPr>
              <a:spcBef>
                <a:spcPts val="1200"/>
              </a:spcBef>
            </a:pPr>
            <a:r>
              <a:rPr lang="en-US" sz="8000" dirty="0">
                <a:latin typeface="Calibri" panose="020F0502020204030204" pitchFamily="34" charset="0"/>
                <a:ea typeface="Calibri" panose="020F0502020204030204" pitchFamily="34" charset="0"/>
                <a:cs typeface="Calibri" panose="020F0502020204030204" pitchFamily="34" charset="0"/>
              </a:rPr>
              <a:t>Short pen needles (e.g., </a:t>
            </a:r>
            <a:r>
              <a:rPr lang="en-US" sz="8000" b="1" dirty="0">
                <a:latin typeface="Calibri" panose="020F0502020204030204" pitchFamily="34" charset="0"/>
                <a:ea typeface="Calibri" panose="020F0502020204030204" pitchFamily="34" charset="0"/>
                <a:cs typeface="Calibri" panose="020F0502020204030204" pitchFamily="34" charset="0"/>
              </a:rPr>
              <a:t>4 mm</a:t>
            </a:r>
            <a:r>
              <a:rPr lang="en-US" sz="8000" dirty="0">
                <a:latin typeface="Calibri" panose="020F0502020204030204" pitchFamily="34" charset="0"/>
                <a:ea typeface="Calibri" panose="020F0502020204030204" pitchFamily="34" charset="0"/>
                <a:cs typeface="Calibri" panose="020F0502020204030204" pitchFamily="34" charset="0"/>
              </a:rPr>
              <a:t>) reduce risk of IM injection</a:t>
            </a:r>
          </a:p>
          <a:p>
            <a:pPr marL="323850" indent="-323850" defTabSz="1300162">
              <a:lnSpc>
                <a:spcPct val="90000"/>
              </a:lnSpc>
              <a:spcBef>
                <a:spcPts val="700"/>
              </a:spcBef>
              <a:buChar char="•"/>
              <a:defRPr sz="4500">
                <a:latin typeface="Arial"/>
                <a:ea typeface="Arial"/>
                <a:cs typeface="Arial"/>
                <a:sym typeface="Arial"/>
              </a:defRPr>
            </a:pPr>
            <a:endParaRPr dirty="0"/>
          </a:p>
        </p:txBody>
      </p:sp>
    </p:spTree>
    <p:extLst>
      <p:ext uri="{BB962C8B-B14F-4D97-AF65-F5344CB8AC3E}">
        <p14:creationId xmlns:p14="http://schemas.microsoft.com/office/powerpoint/2010/main" val="60079809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D337CBD8-C059-49C9-9465-D27CC234D2AF}"/>
              </a:ext>
            </a:extLst>
          </p:cNvPr>
          <p:cNvPicPr>
            <a:picLocks noChangeAspect="1"/>
          </p:cNvPicPr>
          <p:nvPr/>
        </p:nvPicPr>
        <p:blipFill>
          <a:blip r:embed="rId2"/>
          <a:stretch>
            <a:fillRect/>
          </a:stretch>
        </p:blipFill>
        <p:spPr>
          <a:xfrm>
            <a:off x="1804736" y="0"/>
            <a:ext cx="9047747" cy="12853345"/>
          </a:xfrm>
          <a:prstGeom prst="rect">
            <a:avLst/>
          </a:prstGeom>
        </p:spPr>
      </p:pic>
    </p:spTree>
    <p:extLst>
      <p:ext uri="{BB962C8B-B14F-4D97-AF65-F5344CB8AC3E}">
        <p14:creationId xmlns:p14="http://schemas.microsoft.com/office/powerpoint/2010/main" val="25300344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5" name="Shape 745"/>
          <p:cNvSpPr>
            <a:spLocks noGrp="1"/>
          </p:cNvSpPr>
          <p:nvPr>
            <p:ph type="title" idx="4294967295"/>
          </p:nvPr>
        </p:nvSpPr>
        <p:spPr>
          <a:xfrm>
            <a:off x="649287" y="107950"/>
            <a:ext cx="11704638" cy="1192213"/>
          </a:xfrm>
          <a:prstGeom prst="rect">
            <a:avLst/>
          </a:prstGeom>
        </p:spPr>
        <p:txBody>
          <a:bodyPr lIns="72248" tIns="72248" rIns="72248" bIns="72248" anchor="ctr">
            <a:normAutofit/>
          </a:bodyPr>
          <a:lstStyle>
            <a:lvl1pPr defTabSz="1300162">
              <a:defRPr sz="6200">
                <a:latin typeface="Arial"/>
                <a:ea typeface="Arial"/>
                <a:cs typeface="Arial"/>
                <a:sym typeface="Arial"/>
              </a:defRPr>
            </a:lvl1pPr>
          </a:lstStyle>
          <a:p>
            <a:pPr>
              <a:buNone/>
            </a:pPr>
            <a:r>
              <a:rPr lang="en-US" dirty="0"/>
              <a:t>Premixed Insulin</a:t>
            </a:r>
            <a:endParaRPr dirty="0"/>
          </a:p>
        </p:txBody>
      </p:sp>
      <p:sp>
        <p:nvSpPr>
          <p:cNvPr id="746" name="Shape 746"/>
          <p:cNvSpPr>
            <a:spLocks noGrp="1"/>
          </p:cNvSpPr>
          <p:nvPr>
            <p:ph type="body" idx="4294967295"/>
          </p:nvPr>
        </p:nvSpPr>
        <p:spPr>
          <a:xfrm>
            <a:off x="215900" y="1783080"/>
            <a:ext cx="12571413" cy="7860983"/>
          </a:xfrm>
          <a:prstGeom prst="rect">
            <a:avLst/>
          </a:prstGeom>
        </p:spPr>
        <p:txBody>
          <a:bodyPr lIns="72248" tIns="72248" rIns="72248" bIns="72248">
            <a:noAutofit/>
          </a:bodyPr>
          <a:lstStyle/>
          <a:p>
            <a:pPr>
              <a:spcBef>
                <a:spcPts val="1200"/>
              </a:spcBef>
              <a:buNone/>
            </a:pPr>
            <a:r>
              <a:rPr lang="en-US" sz="3200" dirty="0">
                <a:latin typeface="Calibri" panose="020F0502020204030204" pitchFamily="34" charset="0"/>
                <a:ea typeface="Calibri" panose="020F0502020204030204" pitchFamily="34" charset="0"/>
                <a:cs typeface="Calibri" panose="020F0502020204030204" pitchFamily="34" charset="0"/>
              </a:rPr>
              <a:t>Premixed insulin combines </a:t>
            </a:r>
            <a:r>
              <a:rPr lang="en-US" sz="3200" b="1" dirty="0">
                <a:latin typeface="Calibri" panose="020F0502020204030204" pitchFamily="34" charset="0"/>
                <a:ea typeface="Calibri" panose="020F0502020204030204" pitchFamily="34" charset="0"/>
                <a:cs typeface="Calibri" panose="020F0502020204030204" pitchFamily="34" charset="0"/>
              </a:rPr>
              <a:t>basal/intermediate + mealtime insulin</a:t>
            </a:r>
            <a:r>
              <a:rPr lang="en-US" sz="3200" dirty="0">
                <a:latin typeface="Calibri" panose="020F0502020204030204" pitchFamily="34" charset="0"/>
                <a:ea typeface="Calibri" panose="020F0502020204030204" pitchFamily="34" charset="0"/>
                <a:cs typeface="Calibri" panose="020F0502020204030204" pitchFamily="34" charset="0"/>
              </a:rPr>
              <a:t> in a fixed ratio.</a:t>
            </a:r>
          </a:p>
          <a:p>
            <a:pPr>
              <a:spcBef>
                <a:spcPts val="1200"/>
              </a:spcBef>
              <a:buNone/>
            </a:pPr>
            <a:r>
              <a:rPr lang="en-US" sz="3200" b="1" dirty="0">
                <a:latin typeface="Calibri" panose="020F0502020204030204" pitchFamily="34" charset="0"/>
                <a:ea typeface="Calibri" panose="020F0502020204030204" pitchFamily="34" charset="0"/>
                <a:cs typeface="Calibri" panose="020F0502020204030204" pitchFamily="34" charset="0"/>
              </a:rPr>
              <a:t>Examples</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3200" b="1" dirty="0">
                <a:latin typeface="Calibri" panose="020F0502020204030204" pitchFamily="34" charset="0"/>
                <a:ea typeface="Calibri" panose="020F0502020204030204" pitchFamily="34" charset="0"/>
                <a:cs typeface="Calibri" panose="020F0502020204030204" pitchFamily="34" charset="0"/>
              </a:rPr>
              <a:t>Humulin/Novolin 70/30:</a:t>
            </a:r>
            <a:r>
              <a:rPr lang="en-US" sz="3200" dirty="0">
                <a:latin typeface="Calibri" panose="020F0502020204030204" pitchFamily="34" charset="0"/>
                <a:ea typeface="Calibri" panose="020F0502020204030204" pitchFamily="34" charset="0"/>
                <a:cs typeface="Calibri" panose="020F0502020204030204" pitchFamily="34" charset="0"/>
              </a:rPr>
              <a:t> 70% NPH + 30% regular insulin</a:t>
            </a:r>
          </a:p>
          <a:p>
            <a:pPr>
              <a:spcBef>
                <a:spcPts val="1200"/>
              </a:spcBef>
            </a:pPr>
            <a:r>
              <a:rPr lang="en-US" sz="3200" b="1" dirty="0">
                <a:latin typeface="Calibri" panose="020F0502020204030204" pitchFamily="34" charset="0"/>
                <a:ea typeface="Calibri" panose="020F0502020204030204" pitchFamily="34" charset="0"/>
                <a:cs typeface="Calibri" panose="020F0502020204030204" pitchFamily="34" charset="0"/>
              </a:rPr>
              <a:t>NovoLog Mix 70/30:</a:t>
            </a:r>
            <a:r>
              <a:rPr lang="en-US" sz="3200" dirty="0">
                <a:latin typeface="Calibri" panose="020F0502020204030204" pitchFamily="34" charset="0"/>
                <a:ea typeface="Calibri" panose="020F0502020204030204" pitchFamily="34" charset="0"/>
                <a:cs typeface="Calibri" panose="020F0502020204030204" pitchFamily="34" charset="0"/>
              </a:rPr>
              <a:t> 70% insulin aspart protamine + 30% insulin aspart</a:t>
            </a:r>
          </a:p>
          <a:p>
            <a:pPr>
              <a:spcBef>
                <a:spcPts val="1200"/>
              </a:spcBef>
            </a:pPr>
            <a:r>
              <a:rPr lang="en-US" sz="3200" b="1" dirty="0">
                <a:latin typeface="Calibri" panose="020F0502020204030204" pitchFamily="34" charset="0"/>
                <a:ea typeface="Calibri" panose="020F0502020204030204" pitchFamily="34" charset="0"/>
                <a:cs typeface="Calibri" panose="020F0502020204030204" pitchFamily="34" charset="0"/>
              </a:rPr>
              <a:t>Humalog Mix 75/25:</a:t>
            </a:r>
            <a:r>
              <a:rPr lang="en-US" sz="3200" dirty="0">
                <a:latin typeface="Calibri" panose="020F0502020204030204" pitchFamily="34" charset="0"/>
                <a:ea typeface="Calibri" panose="020F0502020204030204" pitchFamily="34" charset="0"/>
                <a:cs typeface="Calibri" panose="020F0502020204030204" pitchFamily="34" charset="0"/>
              </a:rPr>
              <a:t> 75% insulin lispro protamine + 25% insulin lispro </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03602-4FF6-A230-F3AE-7CC57374DC77}"/>
            </a:ext>
          </a:extLst>
        </p:cNvPr>
        <p:cNvGrpSpPr/>
        <p:nvPr/>
      </p:nvGrpSpPr>
      <p:grpSpPr>
        <a:xfrm>
          <a:off x="0" y="0"/>
          <a:ext cx="0" cy="0"/>
          <a:chOff x="0" y="0"/>
          <a:chExt cx="0" cy="0"/>
        </a:xfrm>
      </p:grpSpPr>
      <p:sp>
        <p:nvSpPr>
          <p:cNvPr id="745" name="Shape 745">
            <a:extLst>
              <a:ext uri="{FF2B5EF4-FFF2-40B4-BE49-F238E27FC236}">
                <a16:creationId xmlns:a16="http://schemas.microsoft.com/office/drawing/2014/main" id="{63A5A649-81F1-97C1-DEF3-B2ED40B50852}"/>
              </a:ext>
            </a:extLst>
          </p:cNvPr>
          <p:cNvSpPr>
            <a:spLocks noGrp="1"/>
          </p:cNvSpPr>
          <p:nvPr>
            <p:ph type="title" idx="4294967295"/>
          </p:nvPr>
        </p:nvSpPr>
        <p:spPr>
          <a:xfrm>
            <a:off x="649287" y="107950"/>
            <a:ext cx="11704638" cy="1192213"/>
          </a:xfrm>
          <a:prstGeom prst="rect">
            <a:avLst/>
          </a:prstGeom>
        </p:spPr>
        <p:txBody>
          <a:bodyPr lIns="72248" tIns="72248" rIns="72248" bIns="72248" anchor="ctr">
            <a:normAutofit/>
          </a:bodyPr>
          <a:lstStyle>
            <a:lvl1pPr defTabSz="1300162">
              <a:defRPr sz="6200">
                <a:latin typeface="Arial"/>
                <a:ea typeface="Arial"/>
                <a:cs typeface="Arial"/>
                <a:sym typeface="Arial"/>
              </a:defRPr>
            </a:lvl1pPr>
          </a:lstStyle>
          <a:p>
            <a:pPr>
              <a:buNone/>
            </a:pPr>
            <a:r>
              <a:rPr lang="en-US" dirty="0"/>
              <a:t>Premixed Insulin</a:t>
            </a:r>
            <a:endParaRPr dirty="0"/>
          </a:p>
        </p:txBody>
      </p:sp>
      <p:sp>
        <p:nvSpPr>
          <p:cNvPr id="746" name="Shape 746">
            <a:extLst>
              <a:ext uri="{FF2B5EF4-FFF2-40B4-BE49-F238E27FC236}">
                <a16:creationId xmlns:a16="http://schemas.microsoft.com/office/drawing/2014/main" id="{74B2E435-B947-C23E-40CE-C88B196543EA}"/>
              </a:ext>
            </a:extLst>
          </p:cNvPr>
          <p:cNvSpPr>
            <a:spLocks noGrp="1"/>
          </p:cNvSpPr>
          <p:nvPr>
            <p:ph type="body" idx="4294967295"/>
          </p:nvPr>
        </p:nvSpPr>
        <p:spPr>
          <a:xfrm>
            <a:off x="215900" y="1798320"/>
            <a:ext cx="12571413" cy="7845743"/>
          </a:xfrm>
          <a:prstGeom prst="rect">
            <a:avLst/>
          </a:prstGeom>
        </p:spPr>
        <p:txBody>
          <a:bodyPr lIns="72248" tIns="72248" rIns="72248" bIns="72248">
            <a:noAutofit/>
          </a:bodyPr>
          <a:lstStyle/>
          <a:p>
            <a:pPr>
              <a:spcBef>
                <a:spcPts val="1200"/>
              </a:spcBef>
              <a:buNone/>
            </a:pPr>
            <a:r>
              <a:rPr lang="en-US" sz="3200" b="1" dirty="0">
                <a:latin typeface="Calibri" panose="020F0502020204030204" pitchFamily="34" charset="0"/>
                <a:ea typeface="Calibri" panose="020F0502020204030204" pitchFamily="34" charset="0"/>
                <a:cs typeface="Calibri" panose="020F0502020204030204" pitchFamily="34" charset="0"/>
              </a:rPr>
              <a:t>Advantages</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Fewer injections</a:t>
            </a:r>
          </a:p>
          <a:p>
            <a:pPr>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Simpler regimen</a:t>
            </a:r>
          </a:p>
          <a:p>
            <a:pPr>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Provides both basal and mealtime coverage</a:t>
            </a:r>
          </a:p>
          <a:p>
            <a:pPr>
              <a:spcBef>
                <a:spcPts val="1200"/>
              </a:spcBef>
            </a:pP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buNone/>
            </a:pPr>
            <a:r>
              <a:rPr lang="en-US" sz="3200" b="1" dirty="0">
                <a:latin typeface="Calibri" panose="020F0502020204030204" pitchFamily="34" charset="0"/>
                <a:ea typeface="Calibri" panose="020F0502020204030204" pitchFamily="34" charset="0"/>
                <a:cs typeface="Calibri" panose="020F0502020204030204" pitchFamily="34" charset="0"/>
              </a:rPr>
              <a:t>Disadvantages</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3200" b="1" dirty="0">
                <a:latin typeface="Calibri" panose="020F0502020204030204" pitchFamily="34" charset="0"/>
                <a:ea typeface="Calibri" panose="020F0502020204030204" pitchFamily="34" charset="0"/>
                <a:cs typeface="Calibri" panose="020F0502020204030204" pitchFamily="34" charset="0"/>
              </a:rPr>
              <a:t>Fixed ratio → less flexibility</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Cannot independently adjust basal vs. mealtime insulin</a:t>
            </a:r>
          </a:p>
          <a:p>
            <a:pPr>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Requires more consistent meal timing/intake</a:t>
            </a:r>
          </a:p>
          <a:p>
            <a:pPr>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Hypoglycemia risk if meals/activity vary</a:t>
            </a:r>
          </a:p>
        </p:txBody>
      </p:sp>
    </p:spTree>
    <p:extLst>
      <p:ext uri="{BB962C8B-B14F-4D97-AF65-F5344CB8AC3E}">
        <p14:creationId xmlns:p14="http://schemas.microsoft.com/office/powerpoint/2010/main" val="236531170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 name="Shape 224"/>
          <p:cNvSpPr>
            <a:spLocks noGrp="1"/>
          </p:cNvSpPr>
          <p:nvPr>
            <p:ph type="title" idx="4294967295"/>
          </p:nvPr>
        </p:nvSpPr>
        <p:spPr>
          <a:xfrm>
            <a:off x="649287" y="133351"/>
            <a:ext cx="11704638" cy="1504950"/>
          </a:xfrm>
          <a:prstGeom prst="rect">
            <a:avLst/>
          </a:prstGeom>
        </p:spPr>
        <p:txBody>
          <a:bodyPr lIns="72248" tIns="72248" rIns="72248" bIns="72248" anchor="ctr">
            <a:normAutofit/>
          </a:bodyPr>
          <a:lstStyle>
            <a:lvl1pPr defTabSz="1300162">
              <a:defRPr sz="5600">
                <a:latin typeface="Arial"/>
                <a:ea typeface="Arial"/>
                <a:cs typeface="Arial"/>
                <a:sym typeface="Arial"/>
              </a:defRPr>
            </a:lvl1pPr>
          </a:lstStyle>
          <a:p>
            <a:pPr>
              <a:buNone/>
            </a:pPr>
            <a:r>
              <a:rPr dirty="0"/>
              <a:t>Complications of Insulin Therapy</a:t>
            </a:r>
          </a:p>
        </p:txBody>
      </p:sp>
      <p:sp>
        <p:nvSpPr>
          <p:cNvPr id="225" name="Shape 225"/>
          <p:cNvSpPr>
            <a:spLocks noGrp="1"/>
          </p:cNvSpPr>
          <p:nvPr>
            <p:ph type="body" idx="4294967295"/>
          </p:nvPr>
        </p:nvSpPr>
        <p:spPr>
          <a:xfrm>
            <a:off x="215900" y="1828800"/>
            <a:ext cx="12571413" cy="7707313"/>
          </a:xfrm>
          <a:prstGeom prst="rect">
            <a:avLst/>
          </a:prstGeom>
        </p:spPr>
        <p:txBody>
          <a:bodyPr lIns="72248" tIns="72248" rIns="72248" bIns="72248">
            <a:normAutofit/>
          </a:bodyPr>
          <a:lstStyle/>
          <a:p>
            <a:pPr>
              <a:spcBef>
                <a:spcPts val="1200"/>
              </a:spcBef>
              <a:buNone/>
            </a:pPr>
            <a:r>
              <a:rPr lang="en-US" sz="3200" b="1" dirty="0">
                <a:latin typeface="Calibri" panose="020F0502020204030204" pitchFamily="34" charset="0"/>
                <a:ea typeface="Calibri" panose="020F0502020204030204" pitchFamily="34" charset="0"/>
                <a:cs typeface="Calibri" panose="020F0502020204030204" pitchFamily="34" charset="0"/>
              </a:rPr>
              <a:t>Major adverse effects/complications</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3200" b="1" dirty="0">
                <a:latin typeface="Calibri" panose="020F0502020204030204" pitchFamily="34" charset="0"/>
                <a:ea typeface="Calibri" panose="020F0502020204030204" pitchFamily="34" charset="0"/>
                <a:cs typeface="Calibri" panose="020F0502020204030204" pitchFamily="34" charset="0"/>
              </a:rPr>
              <a:t>Hypoglycemia</a:t>
            </a:r>
            <a:r>
              <a:rPr lang="en-US" sz="3200" dirty="0">
                <a:latin typeface="Calibri" panose="020F0502020204030204" pitchFamily="34" charset="0"/>
                <a:ea typeface="Calibri" panose="020F0502020204030204" pitchFamily="34" charset="0"/>
                <a:cs typeface="Calibri" panose="020F0502020204030204" pitchFamily="34" charset="0"/>
              </a:rPr>
              <a:t>*</a:t>
            </a:r>
          </a:p>
          <a:p>
            <a:pPr>
              <a:spcBef>
                <a:spcPts val="1200"/>
              </a:spcBef>
            </a:pPr>
            <a:r>
              <a:rPr lang="en-US" sz="3200" b="1" dirty="0">
                <a:latin typeface="Calibri" panose="020F0502020204030204" pitchFamily="34" charset="0"/>
                <a:ea typeface="Calibri" panose="020F0502020204030204" pitchFamily="34" charset="0"/>
                <a:cs typeface="Calibri" panose="020F0502020204030204" pitchFamily="34" charset="0"/>
              </a:rPr>
              <a:t>Weight gain</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3200" b="1" dirty="0" err="1">
                <a:latin typeface="Calibri" panose="020F0502020204030204" pitchFamily="34" charset="0"/>
                <a:ea typeface="Calibri" panose="020F0502020204030204" pitchFamily="34" charset="0"/>
                <a:cs typeface="Calibri" panose="020F0502020204030204" pitchFamily="34" charset="0"/>
              </a:rPr>
              <a:t>Lipohypertrophy</a:t>
            </a:r>
            <a:r>
              <a:rPr lang="en-US" sz="3200" dirty="0">
                <a:latin typeface="Calibri" panose="020F0502020204030204" pitchFamily="34" charset="0"/>
                <a:ea typeface="Calibri" panose="020F0502020204030204" pitchFamily="34" charset="0"/>
                <a:cs typeface="Calibri" panose="020F0502020204030204" pitchFamily="34" charset="0"/>
              </a:rPr>
              <a:t> / injection-site changes</a:t>
            </a:r>
          </a:p>
          <a:p>
            <a:pPr>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Insulin allergy — </a:t>
            </a:r>
            <a:r>
              <a:rPr lang="en-US" sz="3200" b="1" dirty="0">
                <a:latin typeface="Calibri" panose="020F0502020204030204" pitchFamily="34" charset="0"/>
                <a:ea typeface="Calibri" panose="020F0502020204030204" pitchFamily="34" charset="0"/>
                <a:cs typeface="Calibri" panose="020F0502020204030204" pitchFamily="34" charset="0"/>
              </a:rPr>
              <a:t>rare</a:t>
            </a:r>
            <a:endParaRPr lang="en-US" sz="32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2356439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 name="Shape 227"/>
          <p:cNvSpPr>
            <a:spLocks noGrp="1"/>
          </p:cNvSpPr>
          <p:nvPr>
            <p:ph type="title" idx="4294967295"/>
          </p:nvPr>
        </p:nvSpPr>
        <p:spPr>
          <a:xfrm>
            <a:off x="215901" y="1"/>
            <a:ext cx="12623800" cy="1504950"/>
          </a:xfrm>
          <a:prstGeom prst="rect">
            <a:avLst/>
          </a:prstGeom>
        </p:spPr>
        <p:txBody>
          <a:bodyPr lIns="72248" tIns="72248" rIns="72248" bIns="72248" anchor="ctr">
            <a:normAutofit/>
          </a:bodyPr>
          <a:lstStyle>
            <a:lvl1pPr defTabSz="1300162">
              <a:defRPr sz="5600">
                <a:latin typeface="Arial"/>
                <a:ea typeface="Arial"/>
                <a:cs typeface="Arial"/>
                <a:sym typeface="Arial"/>
              </a:defRPr>
            </a:lvl1pPr>
          </a:lstStyle>
          <a:p>
            <a:pPr>
              <a:buNone/>
            </a:pPr>
            <a:r>
              <a:rPr dirty="0"/>
              <a:t>Complications of Insulin Therapy</a:t>
            </a:r>
          </a:p>
        </p:txBody>
      </p:sp>
      <p:sp>
        <p:nvSpPr>
          <p:cNvPr id="228" name="Shape 228"/>
          <p:cNvSpPr>
            <a:spLocks noGrp="1"/>
          </p:cNvSpPr>
          <p:nvPr>
            <p:ph type="body" idx="4294967295"/>
          </p:nvPr>
        </p:nvSpPr>
        <p:spPr>
          <a:xfrm>
            <a:off x="215901" y="2166937"/>
            <a:ext cx="7442199" cy="7369176"/>
          </a:xfrm>
          <a:prstGeom prst="rect">
            <a:avLst/>
          </a:prstGeom>
        </p:spPr>
        <p:txBody>
          <a:bodyPr lIns="72248" tIns="72248" rIns="72248" bIns="72248">
            <a:noAutofit/>
          </a:bodyPr>
          <a:lstStyle/>
          <a:p>
            <a:pPr>
              <a:spcBef>
                <a:spcPts val="1200"/>
              </a:spcBef>
              <a:buNone/>
            </a:pPr>
            <a:r>
              <a:rPr lang="en-US" sz="3200" b="1" dirty="0" err="1">
                <a:latin typeface="Calibri" panose="020F0502020204030204" pitchFamily="34" charset="0"/>
                <a:ea typeface="Calibri" panose="020F0502020204030204" pitchFamily="34" charset="0"/>
                <a:cs typeface="Calibri" panose="020F0502020204030204" pitchFamily="34" charset="0"/>
              </a:rPr>
              <a:t>Lipohypertrophy</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Thickened/enlarged subcutaneous tissue from repeated injections</a:t>
            </a:r>
          </a:p>
          <a:p>
            <a:pPr>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More common when repeatedly using the </a:t>
            </a:r>
            <a:r>
              <a:rPr lang="en-US" sz="3200" b="1" dirty="0">
                <a:latin typeface="Calibri" panose="020F0502020204030204" pitchFamily="34" charset="0"/>
                <a:ea typeface="Calibri" panose="020F0502020204030204" pitchFamily="34" charset="0"/>
                <a:cs typeface="Calibri" panose="020F0502020204030204" pitchFamily="34" charset="0"/>
              </a:rPr>
              <a:t>same site</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Can cause </a:t>
            </a:r>
            <a:r>
              <a:rPr lang="en-US" sz="3200" b="1" dirty="0">
                <a:latin typeface="Calibri" panose="020F0502020204030204" pitchFamily="34" charset="0"/>
                <a:ea typeface="Calibri" panose="020F0502020204030204" pitchFamily="34" charset="0"/>
                <a:cs typeface="Calibri" panose="020F0502020204030204" pitchFamily="34" charset="0"/>
              </a:rPr>
              <a:t>unpredictable insulin absorption</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Prevent with </a:t>
            </a:r>
            <a:r>
              <a:rPr lang="en-US" sz="3200" b="1" dirty="0">
                <a:latin typeface="Calibri" panose="020F0502020204030204" pitchFamily="34" charset="0"/>
                <a:ea typeface="Calibri" panose="020F0502020204030204" pitchFamily="34" charset="0"/>
                <a:cs typeface="Calibri" panose="020F0502020204030204" pitchFamily="34" charset="0"/>
              </a:rPr>
              <a:t>site rotation</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Avoid injecting into affected areas</a:t>
            </a:r>
          </a:p>
          <a:p>
            <a:pPr>
              <a:spcBef>
                <a:spcPts val="1200"/>
              </a:spcBef>
              <a:buNone/>
            </a:pPr>
            <a:r>
              <a:rPr lang="en-US" sz="3200" b="1" dirty="0">
                <a:latin typeface="Calibri" panose="020F0502020204030204" pitchFamily="34" charset="0"/>
                <a:ea typeface="Calibri" panose="020F0502020204030204" pitchFamily="34" charset="0"/>
                <a:cs typeface="Calibri" panose="020F0502020204030204" pitchFamily="34" charset="0"/>
              </a:rPr>
              <a:t>Lipoatrophy</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Loss of subcutaneous fat at injection site</a:t>
            </a:r>
          </a:p>
          <a:p>
            <a:pPr>
              <a:spcBef>
                <a:spcPts val="1200"/>
              </a:spcBef>
            </a:pPr>
            <a:r>
              <a:rPr lang="en-US" sz="3200" b="1" dirty="0">
                <a:latin typeface="Calibri" panose="020F0502020204030204" pitchFamily="34" charset="0"/>
                <a:ea typeface="Calibri" panose="020F0502020204030204" pitchFamily="34" charset="0"/>
                <a:cs typeface="Calibri" panose="020F0502020204030204" pitchFamily="34" charset="0"/>
              </a:rPr>
              <a:t>Rare with modern insulin preparations</a:t>
            </a:r>
            <a:endParaRPr lang="en-US" sz="3200" dirty="0">
              <a:latin typeface="Calibri" panose="020F0502020204030204" pitchFamily="34" charset="0"/>
              <a:ea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1B20B85A-6053-E94E-98A1-9F34C3DB6036}"/>
              </a:ext>
            </a:extLst>
          </p:cNvPr>
          <p:cNvPicPr>
            <a:picLocks noChangeAspect="1"/>
          </p:cNvPicPr>
          <p:nvPr/>
        </p:nvPicPr>
        <p:blipFill rotWithShape="1">
          <a:blip r:embed="rId2"/>
          <a:srcRect b="55438"/>
          <a:stretch/>
        </p:blipFill>
        <p:spPr>
          <a:xfrm>
            <a:off x="7894403" y="2166937"/>
            <a:ext cx="5110397" cy="3486150"/>
          </a:xfrm>
          <a:prstGeom prst="rect">
            <a:avLst/>
          </a:prstGeom>
        </p:spPr>
      </p:pic>
      <p:pic>
        <p:nvPicPr>
          <p:cNvPr id="3" name="Picture 2">
            <a:extLst>
              <a:ext uri="{FF2B5EF4-FFF2-40B4-BE49-F238E27FC236}">
                <a16:creationId xmlns:a16="http://schemas.microsoft.com/office/drawing/2014/main" id="{E6774806-D2FD-DE49-A153-D683A2040BFB}"/>
              </a:ext>
            </a:extLst>
          </p:cNvPr>
          <p:cNvPicPr>
            <a:picLocks noChangeAspect="1"/>
          </p:cNvPicPr>
          <p:nvPr/>
        </p:nvPicPr>
        <p:blipFill rotWithShape="1">
          <a:blip r:embed="rId3"/>
          <a:srcRect l="14194" t="31015" r="15751" b="30781"/>
          <a:stretch/>
        </p:blipFill>
        <p:spPr>
          <a:xfrm>
            <a:off x="7878528" y="6172200"/>
            <a:ext cx="4857750" cy="3105150"/>
          </a:xfrm>
          <a:prstGeom prst="rect">
            <a:avLst/>
          </a:prstGeom>
        </p:spPr>
      </p:pic>
    </p:spTree>
    <p:extLst>
      <p:ext uri="{BB962C8B-B14F-4D97-AF65-F5344CB8AC3E}">
        <p14:creationId xmlns:p14="http://schemas.microsoft.com/office/powerpoint/2010/main" val="92011465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 name="Shape 230"/>
          <p:cNvSpPr>
            <a:spLocks noGrp="1"/>
          </p:cNvSpPr>
          <p:nvPr>
            <p:ph type="title" idx="4294967295"/>
          </p:nvPr>
        </p:nvSpPr>
        <p:spPr>
          <a:xfrm>
            <a:off x="649287" y="390525"/>
            <a:ext cx="11704638" cy="1625600"/>
          </a:xfrm>
          <a:prstGeom prst="rect">
            <a:avLst/>
          </a:prstGeom>
        </p:spPr>
        <p:txBody>
          <a:bodyPr lIns="72248" tIns="72248" rIns="72248" bIns="72248" anchor="ctr">
            <a:normAutofit/>
          </a:bodyPr>
          <a:lstStyle>
            <a:lvl1pPr defTabSz="1300162">
              <a:defRPr sz="5600">
                <a:latin typeface="Arial"/>
                <a:ea typeface="Arial"/>
                <a:cs typeface="Arial"/>
                <a:sym typeface="Arial"/>
              </a:defRPr>
            </a:lvl1pPr>
          </a:lstStyle>
          <a:p>
            <a:pPr>
              <a:buNone/>
            </a:pPr>
            <a:r>
              <a:rPr dirty="0"/>
              <a:t>Complications of Insulin Therapy</a:t>
            </a:r>
          </a:p>
        </p:txBody>
      </p:sp>
      <p:sp>
        <p:nvSpPr>
          <p:cNvPr id="231" name="Shape 231"/>
          <p:cNvSpPr>
            <a:spLocks noGrp="1"/>
          </p:cNvSpPr>
          <p:nvPr>
            <p:ph type="body" idx="4294967295"/>
          </p:nvPr>
        </p:nvSpPr>
        <p:spPr>
          <a:xfrm>
            <a:off x="215900" y="2016125"/>
            <a:ext cx="12571413" cy="7412038"/>
          </a:xfrm>
          <a:prstGeom prst="rect">
            <a:avLst/>
          </a:prstGeom>
        </p:spPr>
        <p:txBody>
          <a:bodyPr lIns="72248" tIns="72248" rIns="72248" bIns="72248">
            <a:noAutofit/>
          </a:bodyPr>
          <a:lstStyle/>
          <a:p>
            <a:pPr>
              <a:spcBef>
                <a:spcPts val="700"/>
              </a:spcBef>
              <a:buNone/>
            </a:pPr>
            <a:r>
              <a:rPr lang="en-US" sz="3200" b="1" dirty="0">
                <a:latin typeface="Calibri" panose="020F0502020204030204" pitchFamily="34" charset="0"/>
                <a:ea typeface="Calibri" panose="020F0502020204030204" pitchFamily="34" charset="0"/>
                <a:cs typeface="Calibri" panose="020F0502020204030204" pitchFamily="34" charset="0"/>
              </a:rPr>
              <a:t>Hypoglycemia is the most important acute adverse effect of insulin.</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700"/>
              </a:spcBef>
            </a:pPr>
            <a:r>
              <a:rPr lang="en-US" sz="3200" b="1" dirty="0">
                <a:latin typeface="Calibri" panose="020F0502020204030204" pitchFamily="34" charset="0"/>
                <a:ea typeface="Calibri" panose="020F0502020204030204" pitchFamily="34" charset="0"/>
                <a:cs typeface="Calibri" panose="020F0502020204030204" pitchFamily="34" charset="0"/>
              </a:rPr>
              <a:t>Higher risk with:</a:t>
            </a:r>
            <a:endParaRPr lang="en-US" sz="3200" dirty="0">
              <a:latin typeface="Calibri" panose="020F0502020204030204" pitchFamily="34" charset="0"/>
              <a:ea typeface="Calibri" panose="020F0502020204030204" pitchFamily="34" charset="0"/>
              <a:cs typeface="Calibri" panose="020F0502020204030204" pitchFamily="34" charset="0"/>
            </a:endParaRPr>
          </a:p>
          <a:p>
            <a:pPr lvl="1">
              <a:spcBef>
                <a:spcPts val="700"/>
              </a:spcBef>
            </a:pPr>
            <a:r>
              <a:rPr lang="en-US" sz="3200" dirty="0">
                <a:latin typeface="Calibri" panose="020F0502020204030204" pitchFamily="34" charset="0"/>
                <a:ea typeface="Calibri" panose="020F0502020204030204" pitchFamily="34" charset="0"/>
                <a:cs typeface="Calibri" panose="020F0502020204030204" pitchFamily="34" charset="0"/>
              </a:rPr>
              <a:t>Intensive insulin therapy</a:t>
            </a:r>
          </a:p>
          <a:p>
            <a:pPr lvl="1">
              <a:spcBef>
                <a:spcPts val="700"/>
              </a:spcBef>
            </a:pPr>
            <a:r>
              <a:rPr lang="en-US" sz="3200" dirty="0">
                <a:latin typeface="Calibri" panose="020F0502020204030204" pitchFamily="34" charset="0"/>
                <a:ea typeface="Calibri" panose="020F0502020204030204" pitchFamily="34" charset="0"/>
                <a:cs typeface="Calibri" panose="020F0502020204030204" pitchFamily="34" charset="0"/>
              </a:rPr>
              <a:t>Prior/recurrent hypoglycemia</a:t>
            </a:r>
          </a:p>
          <a:p>
            <a:pPr lvl="1">
              <a:spcBef>
                <a:spcPts val="700"/>
              </a:spcBef>
            </a:pPr>
            <a:r>
              <a:rPr lang="en-US" sz="3200" dirty="0">
                <a:latin typeface="Calibri" panose="020F0502020204030204" pitchFamily="34" charset="0"/>
                <a:ea typeface="Calibri" panose="020F0502020204030204" pitchFamily="34" charset="0"/>
                <a:cs typeface="Calibri" panose="020F0502020204030204" pitchFamily="34" charset="0"/>
              </a:rPr>
              <a:t>Impaired hypoglycemia awareness</a:t>
            </a:r>
          </a:p>
          <a:p>
            <a:pPr lvl="1">
              <a:spcBef>
                <a:spcPts val="700"/>
              </a:spcBef>
            </a:pPr>
            <a:r>
              <a:rPr lang="en-US" sz="3200" dirty="0">
                <a:latin typeface="Calibri" panose="020F0502020204030204" pitchFamily="34" charset="0"/>
                <a:ea typeface="Calibri" panose="020F0502020204030204" pitchFamily="34" charset="0"/>
                <a:cs typeface="Calibri" panose="020F0502020204030204" pitchFamily="34" charset="0"/>
              </a:rPr>
              <a:t>Older age/cognitive impairment</a:t>
            </a:r>
          </a:p>
          <a:p>
            <a:pPr lvl="1">
              <a:spcBef>
                <a:spcPts val="700"/>
              </a:spcBef>
            </a:pPr>
            <a:r>
              <a:rPr lang="en-US" sz="3200" dirty="0">
                <a:latin typeface="Calibri" panose="020F0502020204030204" pitchFamily="34" charset="0"/>
                <a:ea typeface="Calibri" panose="020F0502020204030204" pitchFamily="34" charset="0"/>
                <a:cs typeface="Calibri" panose="020F0502020204030204" pitchFamily="34" charset="0"/>
              </a:rPr>
              <a:t>Kidney disease</a:t>
            </a:r>
          </a:p>
          <a:p>
            <a:pPr lvl="1">
              <a:spcBef>
                <a:spcPts val="700"/>
              </a:spcBef>
            </a:pPr>
            <a:r>
              <a:rPr lang="en-US" sz="3200" dirty="0">
                <a:latin typeface="Calibri" panose="020F0502020204030204" pitchFamily="34" charset="0"/>
                <a:ea typeface="Calibri" panose="020F0502020204030204" pitchFamily="34" charset="0"/>
                <a:cs typeface="Calibri" panose="020F0502020204030204" pitchFamily="34" charset="0"/>
              </a:rPr>
              <a:t>Missed/delayed meals or increased activity</a:t>
            </a:r>
          </a:p>
          <a:p>
            <a:pPr lvl="1">
              <a:spcBef>
                <a:spcPts val="700"/>
              </a:spcBef>
            </a:pPr>
            <a:r>
              <a:rPr lang="en-US" sz="3200" dirty="0">
                <a:latin typeface="Calibri" panose="020F0502020204030204" pitchFamily="34" charset="0"/>
                <a:ea typeface="Calibri" panose="020F0502020204030204" pitchFamily="34" charset="0"/>
                <a:cs typeface="Calibri" panose="020F0502020204030204" pitchFamily="34" charset="0"/>
              </a:rPr>
              <a:t>β-blocker therapy may blunt adrenergic warning symptoms</a:t>
            </a:r>
          </a:p>
          <a:p>
            <a:pPr>
              <a:spcBef>
                <a:spcPts val="700"/>
              </a:spcBef>
            </a:pPr>
            <a:r>
              <a:rPr lang="en-US" sz="3200" b="1" dirty="0">
                <a:latin typeface="Calibri" panose="020F0502020204030204" pitchFamily="34" charset="0"/>
                <a:ea typeface="Calibri" panose="020F0502020204030204" pitchFamily="34" charset="0"/>
                <a:cs typeface="Calibri" panose="020F0502020204030204" pitchFamily="34" charset="0"/>
              </a:rPr>
              <a:t>Remember from Hypoglycemia:</a:t>
            </a:r>
            <a:endParaRPr lang="en-US" sz="3200" dirty="0">
              <a:latin typeface="Calibri" panose="020F0502020204030204" pitchFamily="34" charset="0"/>
              <a:ea typeface="Calibri" panose="020F0502020204030204" pitchFamily="34" charset="0"/>
              <a:cs typeface="Calibri" panose="020F0502020204030204" pitchFamily="34" charset="0"/>
            </a:endParaRPr>
          </a:p>
          <a:p>
            <a:pPr lvl="1">
              <a:spcBef>
                <a:spcPts val="700"/>
              </a:spcBef>
            </a:pPr>
            <a:r>
              <a:rPr lang="en-US" sz="3200" dirty="0">
                <a:latin typeface="Calibri" panose="020F0502020204030204" pitchFamily="34" charset="0"/>
                <a:ea typeface="Calibri" panose="020F0502020204030204" pitchFamily="34" charset="0"/>
                <a:cs typeface="Calibri" panose="020F0502020204030204" pitchFamily="34" charset="0"/>
              </a:rPr>
              <a:t>Recurrent episodes can → </a:t>
            </a:r>
            <a:r>
              <a:rPr lang="en-US" sz="3200" b="1" dirty="0">
                <a:latin typeface="Calibri" panose="020F0502020204030204" pitchFamily="34" charset="0"/>
                <a:ea typeface="Calibri" panose="020F0502020204030204" pitchFamily="34" charset="0"/>
                <a:cs typeface="Calibri" panose="020F0502020204030204" pitchFamily="34" charset="0"/>
              </a:rPr>
              <a:t>impaired hypoglycemia awareness</a:t>
            </a:r>
            <a:endParaRPr lang="en-US" sz="3200" dirty="0">
              <a:latin typeface="Calibri" panose="020F0502020204030204" pitchFamily="34" charset="0"/>
              <a:ea typeface="Calibri" panose="020F0502020204030204" pitchFamily="34" charset="0"/>
              <a:cs typeface="Calibri" panose="020F0502020204030204" pitchFamily="34" charset="0"/>
            </a:endParaRPr>
          </a:p>
          <a:p>
            <a:pPr lvl="1">
              <a:spcBef>
                <a:spcPts val="700"/>
              </a:spcBef>
            </a:pPr>
            <a:r>
              <a:rPr lang="en-US" sz="3200" dirty="0">
                <a:latin typeface="Calibri" panose="020F0502020204030204" pitchFamily="34" charset="0"/>
                <a:ea typeface="Calibri" panose="020F0502020204030204" pitchFamily="34" charset="0"/>
                <a:cs typeface="Calibri" panose="020F0502020204030204" pitchFamily="34" charset="0"/>
              </a:rPr>
              <a:t>Severe hypoglycemia can → confusion, seizure, LOC/coma</a:t>
            </a:r>
          </a:p>
          <a:p>
            <a:pPr lvl="1">
              <a:spcBef>
                <a:spcPts val="700"/>
              </a:spcBef>
            </a:pPr>
            <a:r>
              <a:rPr lang="en-US" sz="3200" dirty="0">
                <a:latin typeface="Calibri" panose="020F0502020204030204" pitchFamily="34" charset="0"/>
                <a:ea typeface="Calibri" panose="020F0502020204030204" pitchFamily="34" charset="0"/>
                <a:cs typeface="Calibri" panose="020F0502020204030204" pitchFamily="34" charset="0"/>
              </a:rPr>
              <a:t>CGM/AID can help </a:t>
            </a:r>
            <a:r>
              <a:rPr lang="en-US" sz="3200" b="1" dirty="0">
                <a:latin typeface="Calibri" panose="020F0502020204030204" pitchFamily="34" charset="0"/>
                <a:ea typeface="Calibri" panose="020F0502020204030204" pitchFamily="34" charset="0"/>
                <a:cs typeface="Calibri" panose="020F0502020204030204" pitchFamily="34" charset="0"/>
              </a:rPr>
              <a:t>reduce</a:t>
            </a:r>
            <a:r>
              <a:rPr lang="en-US" sz="3200" dirty="0">
                <a:latin typeface="Calibri" panose="020F0502020204030204" pitchFamily="34" charset="0"/>
                <a:ea typeface="Calibri" panose="020F0502020204030204" pitchFamily="34" charset="0"/>
                <a:cs typeface="Calibri" panose="020F0502020204030204" pitchFamily="34" charset="0"/>
              </a:rPr>
              <a:t> hypoglycemia risk</a:t>
            </a:r>
          </a:p>
        </p:txBody>
      </p:sp>
    </p:spTree>
    <p:extLst>
      <p:ext uri="{BB962C8B-B14F-4D97-AF65-F5344CB8AC3E}">
        <p14:creationId xmlns:p14="http://schemas.microsoft.com/office/powerpoint/2010/main" val="110416543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800" cy="975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Freeform: Shape 8">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8720" y="0"/>
            <a:ext cx="10627360" cy="97536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96441" y="0"/>
            <a:ext cx="10611917" cy="97536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17F033F-D23E-4645-9863-A384B28D2E01}"/>
              </a:ext>
            </a:extLst>
          </p:cNvPr>
          <p:cNvSpPr>
            <a:spLocks noGrp="1"/>
          </p:cNvSpPr>
          <p:nvPr>
            <p:ph type="ctrTitle"/>
          </p:nvPr>
        </p:nvSpPr>
        <p:spPr>
          <a:xfrm>
            <a:off x="1625603" y="2843896"/>
            <a:ext cx="9753600" cy="3931062"/>
          </a:xfrm>
        </p:spPr>
        <p:txBody>
          <a:bodyPr anchor="ctr">
            <a:normAutofit/>
          </a:bodyPr>
          <a:lstStyle/>
          <a:p>
            <a:pPr>
              <a:buNone/>
            </a:pPr>
            <a:r>
              <a:rPr lang="en-US" sz="8900"/>
              <a:t>Diabetic Therapy Guidelines</a:t>
            </a:r>
          </a:p>
        </p:txBody>
      </p:sp>
      <p:sp>
        <p:nvSpPr>
          <p:cNvPr id="13" name="Rectangle 12">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66464" y="7857473"/>
            <a:ext cx="5071872" cy="390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1890803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934F1179-B481-4F9E-BCA3-AFB972070F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800" cy="975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ight Triangle 21">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148501" y="4744344"/>
            <a:ext cx="3511296" cy="455168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558" y="886435"/>
            <a:ext cx="11632057" cy="7975654"/>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6FEC07D-9860-4092-9EB2-08A95FF40925}"/>
              </a:ext>
            </a:extLst>
          </p:cNvPr>
          <p:cNvSpPr>
            <a:spLocks noGrp="1"/>
          </p:cNvSpPr>
          <p:nvPr>
            <p:ph type="ctrTitle"/>
          </p:nvPr>
        </p:nvSpPr>
        <p:spPr>
          <a:xfrm>
            <a:off x="1370923" y="1435012"/>
            <a:ext cx="9846838" cy="5037575"/>
          </a:xfrm>
        </p:spPr>
        <p:txBody>
          <a:bodyPr anchor="b">
            <a:normAutofit/>
          </a:bodyPr>
          <a:lstStyle/>
          <a:p>
            <a:pPr algn="l">
              <a:lnSpc>
                <a:spcPct val="90000"/>
              </a:lnSpc>
              <a:buNone/>
            </a:pPr>
            <a:r>
              <a:rPr lang="en-US" sz="12200"/>
              <a:t>T2 DM Treatment Guidelines</a:t>
            </a:r>
          </a:p>
        </p:txBody>
      </p:sp>
      <p:sp>
        <p:nvSpPr>
          <p:cNvPr id="3" name="TextBox 2">
            <a:extLst>
              <a:ext uri="{FF2B5EF4-FFF2-40B4-BE49-F238E27FC236}">
                <a16:creationId xmlns:a16="http://schemas.microsoft.com/office/drawing/2014/main" id="{36D3973D-65DC-3CD3-B68D-BCE967503956}"/>
              </a:ext>
            </a:extLst>
          </p:cNvPr>
          <p:cNvSpPr txBox="1"/>
          <p:nvPr/>
        </p:nvSpPr>
        <p:spPr>
          <a:xfrm>
            <a:off x="1645920" y="8122920"/>
            <a:ext cx="7502581" cy="307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buNone/>
            </a:pPr>
            <a:r>
              <a:rPr lang="en-US" sz="1400" dirty="0"/>
              <a:t>Adapted from: American Diabetes Association. Standards of Care in Diabetes—2026.</a:t>
            </a:r>
            <a:endParaRPr kumimoji="0" lang="en-US" sz="1400" b="0" i="0" u="none" strike="noStrike" cap="none" spc="0" normalizeH="0" baseline="0" dirty="0">
              <a:ln>
                <a:noFill/>
              </a:ln>
              <a:solidFill>
                <a:srgbClr val="000000"/>
              </a:solidFill>
              <a:effectLst/>
              <a:uFillTx/>
              <a:latin typeface="Helvetica Light"/>
              <a:ea typeface="Helvetica Light"/>
              <a:cs typeface="Helvetica Light"/>
              <a:sym typeface="Helvetica Light"/>
            </a:endParaRPr>
          </a:p>
        </p:txBody>
      </p:sp>
    </p:spTree>
    <p:extLst>
      <p:ext uri="{BB962C8B-B14F-4D97-AF65-F5344CB8AC3E}">
        <p14:creationId xmlns:p14="http://schemas.microsoft.com/office/powerpoint/2010/main" val="81401205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 name="Shape 265"/>
          <p:cNvSpPr>
            <a:spLocks noGrp="1"/>
          </p:cNvSpPr>
          <p:nvPr>
            <p:ph type="title" idx="4294967295"/>
          </p:nvPr>
        </p:nvSpPr>
        <p:spPr>
          <a:xfrm>
            <a:off x="330200" y="254000"/>
            <a:ext cx="12192000" cy="1858963"/>
          </a:xfrm>
          <a:prstGeom prst="rect">
            <a:avLst/>
          </a:prstGeom>
        </p:spPr>
        <p:txBody>
          <a:bodyPr lIns="50800" tIns="50800" rIns="50800" bIns="50800" anchor="ctr">
            <a:noAutofit/>
          </a:bodyPr>
          <a:lstStyle>
            <a:lvl1pPr>
              <a:defRPr sz="6500">
                <a:latin typeface="Arial"/>
                <a:ea typeface="Arial"/>
                <a:cs typeface="Arial"/>
                <a:sym typeface="Arial"/>
              </a:defRPr>
            </a:lvl1pPr>
          </a:lstStyle>
          <a:p>
            <a:pPr>
              <a:buNone/>
            </a:pPr>
            <a:r>
              <a:rPr lang="en-US" sz="5400" dirty="0"/>
              <a:t>T2DM Treatment – Where do I Start?</a:t>
            </a:r>
            <a:endParaRPr sz="5400" dirty="0"/>
          </a:p>
        </p:txBody>
      </p:sp>
      <p:sp>
        <p:nvSpPr>
          <p:cNvPr id="266" name="Shape 266"/>
          <p:cNvSpPr>
            <a:spLocks noGrp="1"/>
          </p:cNvSpPr>
          <p:nvPr>
            <p:ph type="body" idx="4294967295"/>
          </p:nvPr>
        </p:nvSpPr>
        <p:spPr>
          <a:xfrm>
            <a:off x="447675" y="2159000"/>
            <a:ext cx="12107863" cy="7115175"/>
          </a:xfrm>
          <a:prstGeom prst="rect">
            <a:avLst/>
          </a:prstGeom>
        </p:spPr>
        <p:txBody>
          <a:bodyPr lIns="50800" tIns="50800" rIns="50800" bIns="50800" anchor="ctr">
            <a:normAutofit fontScale="92500" lnSpcReduction="10000"/>
          </a:bodyPr>
          <a:lstStyle/>
          <a:p>
            <a:pPr marL="514350" indent="-514350">
              <a:buAutoNum type="arabicPeriod"/>
            </a:pPr>
            <a:r>
              <a:rPr lang="en-US" sz="3200" b="1" dirty="0">
                <a:latin typeface="Calibri" panose="020F0502020204030204" pitchFamily="34" charset="0"/>
                <a:ea typeface="Calibri" panose="020F0502020204030204" pitchFamily="34" charset="0"/>
                <a:cs typeface="Calibri" panose="020F0502020204030204" pitchFamily="34" charset="0"/>
              </a:rPr>
              <a:t>Lifestyle + Diabetes Self-Management Education and Support (DSMES) for everyone</a:t>
            </a:r>
          </a:p>
          <a:p>
            <a:pPr>
              <a:buNone/>
            </a:pPr>
            <a:r>
              <a:rPr lang="en-US" sz="3200" b="1" dirty="0">
                <a:latin typeface="Calibri" panose="020F0502020204030204" pitchFamily="34" charset="0"/>
                <a:ea typeface="Calibri" panose="020F0502020204030204" pitchFamily="34" charset="0"/>
                <a:cs typeface="Calibri" panose="020F0502020204030204" pitchFamily="34" charset="0"/>
              </a:rPr>
              <a:t>2. Look FIRST for compelling comorbidities</a:t>
            </a:r>
            <a:endParaRPr lang="en-US" sz="3200" dirty="0">
              <a:latin typeface="Calibri" panose="020F0502020204030204" pitchFamily="34" charset="0"/>
              <a:ea typeface="Calibri" panose="020F0502020204030204" pitchFamily="34" charset="0"/>
              <a:cs typeface="Calibri" panose="020F0502020204030204" pitchFamily="34" charset="0"/>
            </a:endParaRPr>
          </a:p>
          <a:p>
            <a:r>
              <a:rPr lang="en-US" sz="3200" b="1" dirty="0">
                <a:latin typeface="Calibri" panose="020F0502020204030204" pitchFamily="34" charset="0"/>
                <a:ea typeface="Calibri" panose="020F0502020204030204" pitchFamily="34" charset="0"/>
                <a:cs typeface="Calibri" panose="020F0502020204030204" pitchFamily="34" charset="0"/>
              </a:rPr>
              <a:t>ASCVD / high CV risk</a:t>
            </a:r>
            <a:r>
              <a:rPr lang="en-US" sz="3200" dirty="0">
                <a:latin typeface="Calibri" panose="020F0502020204030204" pitchFamily="34" charset="0"/>
                <a:ea typeface="Calibri" panose="020F0502020204030204" pitchFamily="34" charset="0"/>
                <a:cs typeface="Calibri" panose="020F0502020204030204" pitchFamily="34" charset="0"/>
              </a:rPr>
              <a:t> → GLP-1 RA and/or SGLT2 inhibitor with demonstrated CV benefit</a:t>
            </a:r>
          </a:p>
          <a:p>
            <a:r>
              <a:rPr lang="en-US" sz="3200" b="1" dirty="0">
                <a:latin typeface="Calibri" panose="020F0502020204030204" pitchFamily="34" charset="0"/>
                <a:ea typeface="Calibri" panose="020F0502020204030204" pitchFamily="34" charset="0"/>
                <a:cs typeface="Calibri" panose="020F0502020204030204" pitchFamily="34" charset="0"/>
              </a:rPr>
              <a:t>Heart failure</a:t>
            </a:r>
            <a:r>
              <a:rPr lang="en-US" sz="3200" dirty="0">
                <a:latin typeface="Calibri" panose="020F0502020204030204" pitchFamily="34" charset="0"/>
                <a:ea typeface="Calibri" panose="020F0502020204030204" pitchFamily="34" charset="0"/>
                <a:cs typeface="Calibri" panose="020F0502020204030204" pitchFamily="34" charset="0"/>
              </a:rPr>
              <a:t> → SGLT2 inhibitor</a:t>
            </a:r>
          </a:p>
          <a:p>
            <a:r>
              <a:rPr lang="en-US" sz="3200" b="1" dirty="0">
                <a:latin typeface="Calibri" panose="020F0502020204030204" pitchFamily="34" charset="0"/>
                <a:ea typeface="Calibri" panose="020F0502020204030204" pitchFamily="34" charset="0"/>
                <a:cs typeface="Calibri" panose="020F0502020204030204" pitchFamily="34" charset="0"/>
              </a:rPr>
              <a:t>CKD</a:t>
            </a:r>
            <a:r>
              <a:rPr lang="en-US" sz="3200" dirty="0">
                <a:latin typeface="Calibri" panose="020F0502020204030204" pitchFamily="34" charset="0"/>
                <a:ea typeface="Calibri" panose="020F0502020204030204" pitchFamily="34" charset="0"/>
                <a:cs typeface="Calibri" panose="020F0502020204030204" pitchFamily="34" charset="0"/>
              </a:rPr>
              <a:t> → SGLT2 inhibitor and/or GLP-1 RA with demonstrated kidney/CV benefit</a:t>
            </a:r>
          </a:p>
          <a:p>
            <a:pPr>
              <a:buNone/>
            </a:pPr>
            <a:r>
              <a:rPr lang="en-US" sz="3500" b="1" dirty="0">
                <a:latin typeface="Calibri" panose="020F0502020204030204" pitchFamily="34" charset="0"/>
                <a:ea typeface="Calibri" panose="020F0502020204030204" pitchFamily="34" charset="0"/>
                <a:cs typeface="Calibri" panose="020F0502020204030204" pitchFamily="34" charset="0"/>
              </a:rPr>
              <a:t>Key Point:</a:t>
            </a:r>
            <a:r>
              <a:rPr lang="en-US" sz="3500" dirty="0">
                <a:latin typeface="Calibri" panose="020F0502020204030204" pitchFamily="34" charset="0"/>
                <a:ea typeface="Calibri" panose="020F0502020204030204" pitchFamily="34" charset="0"/>
                <a:cs typeface="Calibri" panose="020F0502020204030204" pitchFamily="34" charset="0"/>
              </a:rPr>
              <a:t> These therapies may be indicated </a:t>
            </a:r>
            <a:r>
              <a:rPr lang="en-US" sz="3500" b="1" dirty="0">
                <a:latin typeface="Calibri" panose="020F0502020204030204" pitchFamily="34" charset="0"/>
                <a:ea typeface="Calibri" panose="020F0502020204030204" pitchFamily="34" charset="0"/>
                <a:cs typeface="Calibri" panose="020F0502020204030204" pitchFamily="34" charset="0"/>
              </a:rPr>
              <a:t>regardless of A1C or metformin use.</a:t>
            </a:r>
            <a:endParaRPr lang="en-US" sz="35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9881423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C138A-B4BB-146B-C996-2ADD68D289E5}"/>
            </a:ext>
          </a:extLst>
        </p:cNvPr>
        <p:cNvGrpSpPr/>
        <p:nvPr/>
      </p:nvGrpSpPr>
      <p:grpSpPr>
        <a:xfrm>
          <a:off x="0" y="0"/>
          <a:ext cx="0" cy="0"/>
          <a:chOff x="0" y="0"/>
          <a:chExt cx="0" cy="0"/>
        </a:xfrm>
      </p:grpSpPr>
      <p:sp>
        <p:nvSpPr>
          <p:cNvPr id="265" name="Shape 265">
            <a:extLst>
              <a:ext uri="{FF2B5EF4-FFF2-40B4-BE49-F238E27FC236}">
                <a16:creationId xmlns:a16="http://schemas.microsoft.com/office/drawing/2014/main" id="{52D3D9E5-BC27-C3C9-506F-A0B1BAFF5035}"/>
              </a:ext>
            </a:extLst>
          </p:cNvPr>
          <p:cNvSpPr>
            <a:spLocks noGrp="1"/>
          </p:cNvSpPr>
          <p:nvPr>
            <p:ph type="title" idx="4294967295"/>
          </p:nvPr>
        </p:nvSpPr>
        <p:spPr>
          <a:xfrm>
            <a:off x="330200" y="254000"/>
            <a:ext cx="12192000" cy="1858963"/>
          </a:xfrm>
          <a:prstGeom prst="rect">
            <a:avLst/>
          </a:prstGeom>
        </p:spPr>
        <p:txBody>
          <a:bodyPr lIns="50800" tIns="50800" rIns="50800" bIns="50800" anchor="ctr">
            <a:noAutofit/>
          </a:bodyPr>
          <a:lstStyle>
            <a:lvl1pPr>
              <a:defRPr sz="6500">
                <a:latin typeface="Arial"/>
                <a:ea typeface="Arial"/>
                <a:cs typeface="Arial"/>
                <a:sym typeface="Arial"/>
              </a:defRPr>
            </a:lvl1pPr>
          </a:lstStyle>
          <a:p>
            <a:pPr>
              <a:buNone/>
            </a:pPr>
            <a:r>
              <a:rPr lang="en-US" sz="5400" dirty="0"/>
              <a:t>ASCVD: What Do We Mean?</a:t>
            </a:r>
            <a:endParaRPr sz="5400" dirty="0"/>
          </a:p>
        </p:txBody>
      </p:sp>
      <p:sp>
        <p:nvSpPr>
          <p:cNvPr id="266" name="Shape 266">
            <a:extLst>
              <a:ext uri="{FF2B5EF4-FFF2-40B4-BE49-F238E27FC236}">
                <a16:creationId xmlns:a16="http://schemas.microsoft.com/office/drawing/2014/main" id="{364E3647-1E8E-A4B0-BBB1-3456728568E7}"/>
              </a:ext>
            </a:extLst>
          </p:cNvPr>
          <p:cNvSpPr>
            <a:spLocks noGrp="1"/>
          </p:cNvSpPr>
          <p:nvPr>
            <p:ph type="body" idx="4294967295"/>
          </p:nvPr>
        </p:nvSpPr>
        <p:spPr>
          <a:xfrm>
            <a:off x="447675" y="2159000"/>
            <a:ext cx="12107863" cy="7115175"/>
          </a:xfrm>
          <a:prstGeom prst="rect">
            <a:avLst/>
          </a:prstGeom>
        </p:spPr>
        <p:txBody>
          <a:bodyPr lIns="50800" tIns="50800" rIns="50800" bIns="50800" anchor="ctr">
            <a:normAutofit/>
          </a:bodyPr>
          <a:lstStyle/>
          <a:p>
            <a:pPr>
              <a:buNone/>
            </a:pPr>
            <a:r>
              <a:rPr lang="en-US" sz="3200" b="1" dirty="0">
                <a:latin typeface="Calibri" panose="020F0502020204030204" pitchFamily="34" charset="0"/>
                <a:ea typeface="Calibri" panose="020F0502020204030204" pitchFamily="34" charset="0"/>
                <a:cs typeface="Calibri" panose="020F0502020204030204" pitchFamily="34" charset="0"/>
              </a:rPr>
              <a:t>Atherosclerotic Cardiovascular Disease (ASCVD)</a:t>
            </a:r>
            <a:r>
              <a:rPr lang="en-US" sz="3200" dirty="0">
                <a:latin typeface="Calibri" panose="020F0502020204030204" pitchFamily="34" charset="0"/>
                <a:ea typeface="Calibri" panose="020F0502020204030204" pitchFamily="34" charset="0"/>
                <a:cs typeface="Calibri" panose="020F0502020204030204" pitchFamily="34" charset="0"/>
              </a:rPr>
              <a:t> includes:</a:t>
            </a:r>
          </a:p>
          <a:p>
            <a:r>
              <a:rPr lang="en-US" sz="3200" b="1" dirty="0">
                <a:latin typeface="Calibri" panose="020F0502020204030204" pitchFamily="34" charset="0"/>
                <a:ea typeface="Calibri" panose="020F0502020204030204" pitchFamily="34" charset="0"/>
                <a:cs typeface="Calibri" panose="020F0502020204030204" pitchFamily="34" charset="0"/>
              </a:rPr>
              <a:t>Coronary disease:</a:t>
            </a:r>
            <a:r>
              <a:rPr lang="en-US" sz="3200" dirty="0">
                <a:latin typeface="Calibri" panose="020F0502020204030204" pitchFamily="34" charset="0"/>
                <a:ea typeface="Calibri" panose="020F0502020204030204" pitchFamily="34" charset="0"/>
                <a:cs typeface="Calibri" panose="020F0502020204030204" pitchFamily="34" charset="0"/>
              </a:rPr>
              <a:t> MI, acute coronary syndrome, coronary revascularization</a:t>
            </a:r>
          </a:p>
          <a:p>
            <a:r>
              <a:rPr lang="en-US" sz="3200" b="1" dirty="0">
                <a:latin typeface="Calibri" panose="020F0502020204030204" pitchFamily="34" charset="0"/>
                <a:ea typeface="Calibri" panose="020F0502020204030204" pitchFamily="34" charset="0"/>
                <a:cs typeface="Calibri" panose="020F0502020204030204" pitchFamily="34" charset="0"/>
              </a:rPr>
              <a:t>Cerebrovascular disease:</a:t>
            </a:r>
            <a:r>
              <a:rPr lang="en-US" sz="3200" dirty="0">
                <a:latin typeface="Calibri" panose="020F0502020204030204" pitchFamily="34" charset="0"/>
                <a:ea typeface="Calibri" panose="020F0502020204030204" pitchFamily="34" charset="0"/>
                <a:cs typeface="Calibri" panose="020F0502020204030204" pitchFamily="34" charset="0"/>
              </a:rPr>
              <a:t> ischemic stroke or TIA</a:t>
            </a:r>
          </a:p>
          <a:p>
            <a:r>
              <a:rPr lang="en-US" sz="3200" b="1" dirty="0">
                <a:latin typeface="Calibri" panose="020F0502020204030204" pitchFamily="34" charset="0"/>
                <a:ea typeface="Calibri" panose="020F0502020204030204" pitchFamily="34" charset="0"/>
                <a:cs typeface="Calibri" panose="020F0502020204030204" pitchFamily="34" charset="0"/>
              </a:rPr>
              <a:t>Peripheral arterial disease (PAD)</a:t>
            </a:r>
            <a:endParaRPr lang="en-US" sz="3200" dirty="0">
              <a:latin typeface="Calibri" panose="020F0502020204030204" pitchFamily="34" charset="0"/>
              <a:ea typeface="Calibri" panose="020F0502020204030204" pitchFamily="34" charset="0"/>
              <a:cs typeface="Calibri" panose="020F0502020204030204" pitchFamily="34" charset="0"/>
            </a:endParaRPr>
          </a:p>
          <a:p>
            <a:r>
              <a:rPr lang="en-US" sz="3200" b="1" dirty="0">
                <a:latin typeface="Calibri" panose="020F0502020204030204" pitchFamily="34" charset="0"/>
                <a:ea typeface="Calibri" panose="020F0502020204030204" pitchFamily="34" charset="0"/>
                <a:cs typeface="Calibri" panose="020F0502020204030204" pitchFamily="34" charset="0"/>
              </a:rPr>
              <a:t>Why does this matter in diabetes?</a:t>
            </a:r>
            <a:br>
              <a:rPr lang="en-US" sz="3200" dirty="0">
                <a:latin typeface="Calibri" panose="020F0502020204030204" pitchFamily="34" charset="0"/>
                <a:ea typeface="Calibri" panose="020F0502020204030204" pitchFamily="34" charset="0"/>
                <a:cs typeface="Calibri" panose="020F0502020204030204" pitchFamily="34" charset="0"/>
              </a:rPr>
            </a:br>
            <a:r>
              <a:rPr lang="en-US" sz="3200" dirty="0">
                <a:latin typeface="Calibri" panose="020F0502020204030204" pitchFamily="34" charset="0"/>
                <a:ea typeface="Calibri" panose="020F0502020204030204" pitchFamily="34" charset="0"/>
                <a:cs typeface="Calibri" panose="020F0502020204030204" pitchFamily="34" charset="0"/>
              </a:rPr>
              <a:t>Presence of ASCVD can </a:t>
            </a:r>
            <a:r>
              <a:rPr lang="en-US" sz="3200" b="1" dirty="0">
                <a:latin typeface="Calibri" panose="020F0502020204030204" pitchFamily="34" charset="0"/>
                <a:ea typeface="Calibri" panose="020F0502020204030204" pitchFamily="34" charset="0"/>
                <a:cs typeface="Calibri" panose="020F0502020204030204" pitchFamily="34" charset="0"/>
              </a:rPr>
              <a:t>directly influence medication selection.</a:t>
            </a:r>
            <a:endParaRPr lang="en-US" sz="32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311592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047EAD-694B-84CF-CDA8-3CB66E42F1F2}"/>
            </a:ext>
          </a:extLst>
        </p:cNvPr>
        <p:cNvGrpSpPr/>
        <p:nvPr/>
      </p:nvGrpSpPr>
      <p:grpSpPr>
        <a:xfrm>
          <a:off x="0" y="0"/>
          <a:ext cx="0" cy="0"/>
          <a:chOff x="0" y="0"/>
          <a:chExt cx="0" cy="0"/>
        </a:xfrm>
      </p:grpSpPr>
      <p:sp>
        <p:nvSpPr>
          <p:cNvPr id="265" name="Shape 265">
            <a:extLst>
              <a:ext uri="{FF2B5EF4-FFF2-40B4-BE49-F238E27FC236}">
                <a16:creationId xmlns:a16="http://schemas.microsoft.com/office/drawing/2014/main" id="{82C70075-3AE7-64C8-4AA6-704D3D4AE777}"/>
              </a:ext>
            </a:extLst>
          </p:cNvPr>
          <p:cNvSpPr>
            <a:spLocks noGrp="1"/>
          </p:cNvSpPr>
          <p:nvPr>
            <p:ph type="title" idx="4294967295"/>
          </p:nvPr>
        </p:nvSpPr>
        <p:spPr>
          <a:xfrm>
            <a:off x="330200" y="254000"/>
            <a:ext cx="12192000" cy="1858963"/>
          </a:xfrm>
          <a:prstGeom prst="rect">
            <a:avLst/>
          </a:prstGeom>
        </p:spPr>
        <p:txBody>
          <a:bodyPr lIns="50800" tIns="50800" rIns="50800" bIns="50800" anchor="ctr">
            <a:noAutofit/>
          </a:bodyPr>
          <a:lstStyle>
            <a:lvl1pPr>
              <a:defRPr sz="6500">
                <a:latin typeface="Arial"/>
                <a:ea typeface="Arial"/>
                <a:cs typeface="Arial"/>
                <a:sym typeface="Arial"/>
              </a:defRPr>
            </a:lvl1pPr>
          </a:lstStyle>
          <a:p>
            <a:pPr>
              <a:buNone/>
            </a:pPr>
            <a:r>
              <a:rPr lang="en-US" sz="4400" dirty="0"/>
              <a:t>T2DM Treatment - If No Compelling Comorbidity Drives Therapy</a:t>
            </a:r>
            <a:endParaRPr sz="4400" dirty="0"/>
          </a:p>
        </p:txBody>
      </p:sp>
      <p:sp>
        <p:nvSpPr>
          <p:cNvPr id="266" name="Shape 266">
            <a:extLst>
              <a:ext uri="{FF2B5EF4-FFF2-40B4-BE49-F238E27FC236}">
                <a16:creationId xmlns:a16="http://schemas.microsoft.com/office/drawing/2014/main" id="{FAA6F727-79C4-3168-D3D4-A30DF247C087}"/>
              </a:ext>
            </a:extLst>
          </p:cNvPr>
          <p:cNvSpPr>
            <a:spLocks noGrp="1"/>
          </p:cNvSpPr>
          <p:nvPr>
            <p:ph type="body" idx="4294967295"/>
          </p:nvPr>
        </p:nvSpPr>
        <p:spPr>
          <a:xfrm>
            <a:off x="447675" y="2159000"/>
            <a:ext cx="12107863" cy="7115175"/>
          </a:xfrm>
          <a:prstGeom prst="rect">
            <a:avLst/>
          </a:prstGeom>
        </p:spPr>
        <p:txBody>
          <a:bodyPr lIns="50800" tIns="50800" rIns="50800" bIns="50800" anchor="ctr">
            <a:noAutofit/>
          </a:bodyPr>
          <a:lstStyle/>
          <a:p>
            <a:pPr>
              <a:spcBef>
                <a:spcPts val="1200"/>
              </a:spcBef>
              <a:buNone/>
            </a:pPr>
            <a:r>
              <a:rPr lang="en-US" sz="3200" b="1" dirty="0">
                <a:latin typeface="Calibri" panose="020F0502020204030204" pitchFamily="34" charset="0"/>
                <a:ea typeface="Calibri" panose="020F0502020204030204" pitchFamily="34" charset="0"/>
                <a:cs typeface="Calibri" panose="020F0502020204030204" pitchFamily="34" charset="0"/>
              </a:rPr>
              <a:t>1. Determine the individualized A1C goal</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buNone/>
            </a:pPr>
            <a:r>
              <a:rPr lang="en-US" sz="3200" b="1" dirty="0">
                <a:latin typeface="Calibri" panose="020F0502020204030204" pitchFamily="34" charset="0"/>
                <a:ea typeface="Calibri" panose="020F0502020204030204" pitchFamily="34" charset="0"/>
                <a:cs typeface="Calibri" panose="020F0502020204030204" pitchFamily="34" charset="0"/>
              </a:rPr>
              <a:t>2. How far is the patient from goal?</a:t>
            </a:r>
            <a:endParaRPr lang="en-US" sz="3200" dirty="0">
              <a:latin typeface="Calibri" panose="020F0502020204030204" pitchFamily="34" charset="0"/>
              <a:ea typeface="Calibri" panose="020F0502020204030204" pitchFamily="34" charset="0"/>
              <a:cs typeface="Calibri" panose="020F0502020204030204" pitchFamily="34" charset="0"/>
            </a:endParaRPr>
          </a:p>
          <a:p>
            <a:pPr lvl="3">
              <a:spcBef>
                <a:spcPts val="1200"/>
              </a:spcBef>
              <a:buNone/>
            </a:pPr>
            <a:r>
              <a:rPr lang="en-US" sz="3200" b="1" dirty="0">
                <a:latin typeface="Calibri" panose="020F0502020204030204" pitchFamily="34" charset="0"/>
                <a:ea typeface="Calibri" panose="020F0502020204030204" pitchFamily="34" charset="0"/>
                <a:cs typeface="Calibri" panose="020F0502020204030204" pitchFamily="34" charset="0"/>
              </a:rPr>
              <a:t> &lt;1.5% above goal</a:t>
            </a:r>
            <a:r>
              <a:rPr lang="en-US" sz="3200" dirty="0">
                <a:latin typeface="Calibri" panose="020F0502020204030204" pitchFamily="34" charset="0"/>
                <a:ea typeface="Calibri" panose="020F0502020204030204" pitchFamily="34" charset="0"/>
                <a:cs typeface="Calibri" panose="020F0502020204030204" pitchFamily="34" charset="0"/>
              </a:rPr>
              <a:t> → generally start </a:t>
            </a:r>
            <a:r>
              <a:rPr lang="en-US" sz="3200" b="1" dirty="0">
                <a:latin typeface="Calibri" panose="020F0502020204030204" pitchFamily="34" charset="0"/>
                <a:ea typeface="Calibri" panose="020F0502020204030204" pitchFamily="34" charset="0"/>
                <a:cs typeface="Calibri" panose="020F0502020204030204" pitchFamily="34" charset="0"/>
              </a:rPr>
              <a:t>one agent</a:t>
            </a:r>
            <a:endParaRPr lang="en-US" sz="3200" dirty="0">
              <a:latin typeface="Calibri" panose="020F0502020204030204" pitchFamily="34" charset="0"/>
              <a:ea typeface="Calibri" panose="020F0502020204030204" pitchFamily="34" charset="0"/>
              <a:cs typeface="Calibri" panose="020F0502020204030204" pitchFamily="34" charset="0"/>
            </a:endParaRPr>
          </a:p>
          <a:p>
            <a:pPr lvl="3">
              <a:spcBef>
                <a:spcPts val="1200"/>
              </a:spcBef>
              <a:buNone/>
            </a:pPr>
            <a:r>
              <a:rPr lang="en-US" sz="3200" b="1" dirty="0">
                <a:latin typeface="Calibri" panose="020F0502020204030204" pitchFamily="34" charset="0"/>
                <a:ea typeface="Calibri" panose="020F0502020204030204" pitchFamily="34" charset="0"/>
                <a:cs typeface="Calibri" panose="020F0502020204030204" pitchFamily="34" charset="0"/>
              </a:rPr>
              <a:t> ≥1.5% above goal</a:t>
            </a:r>
            <a:r>
              <a:rPr lang="en-US" sz="3200" dirty="0">
                <a:latin typeface="Calibri" panose="020F0502020204030204" pitchFamily="34" charset="0"/>
                <a:ea typeface="Calibri" panose="020F0502020204030204" pitchFamily="34" charset="0"/>
                <a:cs typeface="Calibri" panose="020F0502020204030204" pitchFamily="34" charset="0"/>
              </a:rPr>
              <a:t> → consider </a:t>
            </a:r>
            <a:r>
              <a:rPr lang="en-US" sz="3200" b="1" dirty="0">
                <a:latin typeface="Calibri" panose="020F0502020204030204" pitchFamily="34" charset="0"/>
                <a:ea typeface="Calibri" panose="020F0502020204030204" pitchFamily="34" charset="0"/>
                <a:cs typeface="Calibri" panose="020F0502020204030204" pitchFamily="34" charset="0"/>
              </a:rPr>
              <a:t>initial combination therapy</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buNone/>
            </a:pPr>
            <a:endParaRPr lang="en-US" sz="3200" b="1" dirty="0">
              <a:latin typeface="Calibri" panose="020F0502020204030204" pitchFamily="34" charset="0"/>
              <a:ea typeface="Calibri" panose="020F0502020204030204" pitchFamily="34" charset="0"/>
              <a:cs typeface="Calibri" panose="020F0502020204030204" pitchFamily="34" charset="0"/>
            </a:endParaRPr>
          </a:p>
          <a:p>
            <a:pPr>
              <a:spcBef>
                <a:spcPts val="1200"/>
              </a:spcBef>
              <a:buNone/>
            </a:pPr>
            <a:r>
              <a:rPr lang="en-US" sz="3200" dirty="0">
                <a:latin typeface="Calibri" panose="020F0502020204030204" pitchFamily="34" charset="0"/>
                <a:ea typeface="Calibri" panose="020F0502020204030204" pitchFamily="34" charset="0"/>
                <a:cs typeface="Calibri" panose="020F0502020204030204" pitchFamily="34" charset="0"/>
              </a:rPr>
              <a:t>Example:</a:t>
            </a:r>
            <a:br>
              <a:rPr lang="en-US" sz="3200" dirty="0">
                <a:latin typeface="Calibri" panose="020F0502020204030204" pitchFamily="34" charset="0"/>
                <a:ea typeface="Calibri" panose="020F0502020204030204" pitchFamily="34" charset="0"/>
                <a:cs typeface="Calibri" panose="020F0502020204030204" pitchFamily="34" charset="0"/>
              </a:rPr>
            </a:br>
            <a:r>
              <a:rPr lang="en-US" sz="3200" dirty="0">
                <a:latin typeface="Calibri" panose="020F0502020204030204" pitchFamily="34" charset="0"/>
                <a:ea typeface="Calibri" panose="020F0502020204030204" pitchFamily="34" charset="0"/>
                <a:cs typeface="Calibri" panose="020F0502020204030204" pitchFamily="34" charset="0"/>
              </a:rPr>
              <a:t>Goal &lt;7%, current A1C 9% → 2% above goal → consider combo therapy</a:t>
            </a:r>
          </a:p>
        </p:txBody>
      </p:sp>
    </p:spTree>
    <p:extLst>
      <p:ext uri="{BB962C8B-B14F-4D97-AF65-F5344CB8AC3E}">
        <p14:creationId xmlns:p14="http://schemas.microsoft.com/office/powerpoint/2010/main" val="304171322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0E2963-CC23-E4C7-7A24-1F22558EC87D}"/>
            </a:ext>
          </a:extLst>
        </p:cNvPr>
        <p:cNvGrpSpPr/>
        <p:nvPr/>
      </p:nvGrpSpPr>
      <p:grpSpPr>
        <a:xfrm>
          <a:off x="0" y="0"/>
          <a:ext cx="0" cy="0"/>
          <a:chOff x="0" y="0"/>
          <a:chExt cx="0" cy="0"/>
        </a:xfrm>
      </p:grpSpPr>
      <p:sp>
        <p:nvSpPr>
          <p:cNvPr id="265" name="Shape 265">
            <a:extLst>
              <a:ext uri="{FF2B5EF4-FFF2-40B4-BE49-F238E27FC236}">
                <a16:creationId xmlns:a16="http://schemas.microsoft.com/office/drawing/2014/main" id="{186D1F05-EAC3-C1A3-3AB6-518FF7E39583}"/>
              </a:ext>
            </a:extLst>
          </p:cNvPr>
          <p:cNvSpPr>
            <a:spLocks noGrp="1"/>
          </p:cNvSpPr>
          <p:nvPr>
            <p:ph type="title" idx="4294967295"/>
          </p:nvPr>
        </p:nvSpPr>
        <p:spPr>
          <a:xfrm>
            <a:off x="330200" y="254000"/>
            <a:ext cx="12192000" cy="1858963"/>
          </a:xfrm>
          <a:prstGeom prst="rect">
            <a:avLst/>
          </a:prstGeom>
        </p:spPr>
        <p:txBody>
          <a:bodyPr lIns="50800" tIns="50800" rIns="50800" bIns="50800" anchor="ctr">
            <a:noAutofit/>
          </a:bodyPr>
          <a:lstStyle>
            <a:lvl1pPr>
              <a:defRPr sz="6500">
                <a:latin typeface="Arial"/>
                <a:ea typeface="Arial"/>
                <a:cs typeface="Arial"/>
                <a:sym typeface="Arial"/>
              </a:defRPr>
            </a:lvl1pPr>
          </a:lstStyle>
          <a:p>
            <a:pPr>
              <a:buNone/>
            </a:pPr>
            <a:r>
              <a:rPr lang="en-US" sz="4400" dirty="0"/>
              <a:t>T2DM Treatment - If No Compelling Comorbidity Drives Therapy</a:t>
            </a:r>
            <a:endParaRPr sz="4400" dirty="0"/>
          </a:p>
        </p:txBody>
      </p:sp>
      <p:sp>
        <p:nvSpPr>
          <p:cNvPr id="266" name="Shape 266">
            <a:extLst>
              <a:ext uri="{FF2B5EF4-FFF2-40B4-BE49-F238E27FC236}">
                <a16:creationId xmlns:a16="http://schemas.microsoft.com/office/drawing/2014/main" id="{84B19C55-918D-467F-AEE7-6C6691C1A9C7}"/>
              </a:ext>
            </a:extLst>
          </p:cNvPr>
          <p:cNvSpPr>
            <a:spLocks noGrp="1"/>
          </p:cNvSpPr>
          <p:nvPr>
            <p:ph type="body" idx="4294967295"/>
          </p:nvPr>
        </p:nvSpPr>
        <p:spPr>
          <a:xfrm>
            <a:off x="447675" y="2159000"/>
            <a:ext cx="12107863" cy="7115175"/>
          </a:xfrm>
          <a:prstGeom prst="rect">
            <a:avLst/>
          </a:prstGeom>
        </p:spPr>
        <p:txBody>
          <a:bodyPr lIns="50800" tIns="50800" rIns="50800" bIns="50800" anchor="ctr">
            <a:noAutofit/>
          </a:bodyPr>
          <a:lstStyle/>
          <a:p>
            <a:pPr>
              <a:spcBef>
                <a:spcPts val="1200"/>
              </a:spcBef>
              <a:buNone/>
            </a:pPr>
            <a:r>
              <a:rPr lang="en-US" sz="3200" b="1" dirty="0">
                <a:latin typeface="Calibri" panose="020F0502020204030204" pitchFamily="34" charset="0"/>
                <a:ea typeface="Calibri" panose="020F0502020204030204" pitchFamily="34" charset="0"/>
                <a:cs typeface="Calibri" panose="020F0502020204030204" pitchFamily="34" charset="0"/>
              </a:rPr>
              <a:t>3. Choose medication(s) based on:</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3200" b="1" dirty="0">
                <a:latin typeface="Calibri" panose="020F0502020204030204" pitchFamily="34" charset="0"/>
                <a:ea typeface="Calibri" panose="020F0502020204030204" pitchFamily="34" charset="0"/>
                <a:cs typeface="Calibri" panose="020F0502020204030204" pitchFamily="34" charset="0"/>
              </a:rPr>
              <a:t>Glucose-lowering efficacy</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3200" b="1" dirty="0">
                <a:latin typeface="Calibri" panose="020F0502020204030204" pitchFamily="34" charset="0"/>
                <a:ea typeface="Calibri" panose="020F0502020204030204" pitchFamily="34" charset="0"/>
                <a:cs typeface="Calibri" panose="020F0502020204030204" pitchFamily="34" charset="0"/>
              </a:rPr>
              <a:t>Weight goals</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Hypoglycemia risk</a:t>
            </a:r>
          </a:p>
          <a:p>
            <a:pPr>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Adverse effects</a:t>
            </a:r>
          </a:p>
          <a:p>
            <a:pPr>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Cost/access</a:t>
            </a:r>
          </a:p>
          <a:p>
            <a:pPr>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Patient preference</a:t>
            </a:r>
          </a:p>
          <a:p>
            <a:pPr>
              <a:spcBef>
                <a:spcPts val="1200"/>
              </a:spcBef>
              <a:buNone/>
            </a:pPr>
            <a:r>
              <a:rPr lang="en-US" sz="3200" b="1" dirty="0">
                <a:latin typeface="Calibri" panose="020F0502020204030204" pitchFamily="34" charset="0"/>
                <a:ea typeface="Calibri" panose="020F0502020204030204" pitchFamily="34" charset="0"/>
                <a:cs typeface="Calibri" panose="020F0502020204030204" pitchFamily="34" charset="0"/>
              </a:rPr>
              <a:t>Metformin remains a common first-line option</a:t>
            </a:r>
            <a:r>
              <a:rPr lang="en-US" sz="3200" dirty="0">
                <a:latin typeface="Calibri" panose="020F0502020204030204" pitchFamily="34" charset="0"/>
                <a:ea typeface="Calibri" panose="020F0502020204030204" pitchFamily="34" charset="0"/>
                <a:cs typeface="Calibri" panose="020F0502020204030204" pitchFamily="34" charset="0"/>
              </a:rPr>
              <a:t> when there is no other reason to select a different medication.</a:t>
            </a:r>
          </a:p>
        </p:txBody>
      </p:sp>
    </p:spTree>
    <p:extLst>
      <p:ext uri="{BB962C8B-B14F-4D97-AF65-F5344CB8AC3E}">
        <p14:creationId xmlns:p14="http://schemas.microsoft.com/office/powerpoint/2010/main" val="318238007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67FFD-D9EC-4019-BB56-291B57A749C4}"/>
              </a:ext>
            </a:extLst>
          </p:cNvPr>
          <p:cNvSpPr>
            <a:spLocks noGrp="1"/>
          </p:cNvSpPr>
          <p:nvPr>
            <p:ph type="title"/>
          </p:nvPr>
        </p:nvSpPr>
        <p:spPr>
          <a:xfrm>
            <a:off x="192505" y="-191159"/>
            <a:ext cx="12560969" cy="1973179"/>
          </a:xfrm>
        </p:spPr>
        <p:txBody>
          <a:bodyPr/>
          <a:lstStyle/>
          <a:p>
            <a:pPr>
              <a:buNone/>
            </a:pPr>
            <a:r>
              <a:rPr lang="en-US" sz="4400" dirty="0">
                <a:latin typeface="Arial" panose="020B0604020202020204" pitchFamily="34" charset="0"/>
                <a:cs typeface="Arial" panose="020B0604020202020204" pitchFamily="34" charset="0"/>
              </a:rPr>
              <a:t>T2DM Treatment - When to Consider Insulin in T2DM</a:t>
            </a:r>
          </a:p>
        </p:txBody>
      </p:sp>
      <p:sp>
        <p:nvSpPr>
          <p:cNvPr id="3" name="Content Placeholder 2">
            <a:extLst>
              <a:ext uri="{FF2B5EF4-FFF2-40B4-BE49-F238E27FC236}">
                <a16:creationId xmlns:a16="http://schemas.microsoft.com/office/drawing/2014/main" id="{456666F5-DBBB-433D-9A04-B2C0F93DEE63}"/>
              </a:ext>
            </a:extLst>
          </p:cNvPr>
          <p:cNvSpPr>
            <a:spLocks noGrp="1"/>
          </p:cNvSpPr>
          <p:nvPr>
            <p:ph idx="1"/>
          </p:nvPr>
        </p:nvSpPr>
        <p:spPr>
          <a:xfrm>
            <a:off x="442452" y="2514599"/>
            <a:ext cx="12311022" cy="7239001"/>
          </a:xfrm>
        </p:spPr>
        <p:txBody>
          <a:bodyPr/>
          <a:lstStyle/>
          <a:p>
            <a:pPr>
              <a:spcBef>
                <a:spcPts val="1200"/>
              </a:spcBef>
              <a:buNone/>
            </a:pPr>
            <a:r>
              <a:rPr lang="en-US" sz="3200" b="1" dirty="0">
                <a:latin typeface="Calibri" panose="020F0502020204030204" pitchFamily="34" charset="0"/>
                <a:ea typeface="Calibri" panose="020F0502020204030204" pitchFamily="34" charset="0"/>
                <a:cs typeface="Calibri" panose="020F0502020204030204" pitchFamily="34" charset="0"/>
              </a:rPr>
              <a:t>Consider insulin when:</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3200" b="1" dirty="0">
                <a:latin typeface="Calibri" panose="020F0502020204030204" pitchFamily="34" charset="0"/>
                <a:ea typeface="Calibri" panose="020F0502020204030204" pitchFamily="34" charset="0"/>
                <a:cs typeface="Calibri" panose="020F0502020204030204" pitchFamily="34" charset="0"/>
              </a:rPr>
              <a:t>Symptoms of significant hyperglycemia</a:t>
            </a:r>
            <a:r>
              <a:rPr lang="en-US" sz="3200" dirty="0">
                <a:latin typeface="Calibri" panose="020F0502020204030204" pitchFamily="34" charset="0"/>
                <a:ea typeface="Calibri" panose="020F0502020204030204" pitchFamily="34" charset="0"/>
                <a:cs typeface="Calibri" panose="020F0502020204030204" pitchFamily="34" charset="0"/>
              </a:rPr>
              <a:t> (polyuria, polydipsia)</a:t>
            </a:r>
          </a:p>
          <a:p>
            <a:pPr>
              <a:spcBef>
                <a:spcPts val="1200"/>
              </a:spcBef>
            </a:pPr>
            <a:r>
              <a:rPr lang="en-US" sz="3200" b="1" dirty="0">
                <a:latin typeface="Calibri" panose="020F0502020204030204" pitchFamily="34" charset="0"/>
                <a:ea typeface="Calibri" panose="020F0502020204030204" pitchFamily="34" charset="0"/>
                <a:cs typeface="Calibri" panose="020F0502020204030204" pitchFamily="34" charset="0"/>
              </a:rPr>
              <a:t>A1C &gt;10%</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3200" b="1" dirty="0">
                <a:latin typeface="Calibri" panose="020F0502020204030204" pitchFamily="34" charset="0"/>
                <a:ea typeface="Calibri" panose="020F0502020204030204" pitchFamily="34" charset="0"/>
                <a:cs typeface="Calibri" panose="020F0502020204030204" pitchFamily="34" charset="0"/>
              </a:rPr>
              <a:t>Blood glucose ≥300 mg/dL</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3200" b="1" dirty="0">
                <a:latin typeface="Calibri" panose="020F0502020204030204" pitchFamily="34" charset="0"/>
                <a:ea typeface="Calibri" panose="020F0502020204030204" pitchFamily="34" charset="0"/>
                <a:cs typeface="Calibri" panose="020F0502020204030204" pitchFamily="34" charset="0"/>
              </a:rPr>
              <a:t>Evidence of catabolism</a:t>
            </a:r>
            <a:r>
              <a:rPr lang="en-US" sz="3200" dirty="0">
                <a:latin typeface="Calibri" panose="020F0502020204030204" pitchFamily="34" charset="0"/>
                <a:ea typeface="Calibri" panose="020F0502020204030204" pitchFamily="34" charset="0"/>
                <a:cs typeface="Calibri" panose="020F0502020204030204" pitchFamily="34" charset="0"/>
              </a:rPr>
              <a:t> (e.g., unexpected weight loss or ketosis)</a:t>
            </a:r>
          </a:p>
          <a:p>
            <a:pPr>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Glycemic goals cannot be achieved with noninsulin therapy</a:t>
            </a:r>
          </a:p>
          <a:p>
            <a:pPr>
              <a:spcBef>
                <a:spcPts val="1200"/>
              </a:spcBef>
            </a:pP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buNone/>
            </a:pPr>
            <a:r>
              <a:rPr lang="en-US" sz="3200" b="1" dirty="0">
                <a:latin typeface="Calibri" panose="020F0502020204030204" pitchFamily="34" charset="0"/>
                <a:ea typeface="Calibri" panose="020F0502020204030204" pitchFamily="34" charset="0"/>
                <a:cs typeface="Calibri" panose="020F0502020204030204" pitchFamily="34" charset="0"/>
              </a:rPr>
              <a:t>Important:</a:t>
            </a:r>
            <a:br>
              <a:rPr lang="en-US" sz="3200" dirty="0">
                <a:latin typeface="Calibri" panose="020F0502020204030204" pitchFamily="34" charset="0"/>
                <a:ea typeface="Calibri" panose="020F0502020204030204" pitchFamily="34" charset="0"/>
                <a:cs typeface="Calibri" panose="020F0502020204030204" pitchFamily="34" charset="0"/>
              </a:rPr>
            </a:br>
            <a:r>
              <a:rPr lang="en-US" sz="3200" dirty="0">
                <a:latin typeface="Calibri" panose="020F0502020204030204" pitchFamily="34" charset="0"/>
                <a:ea typeface="Calibri" panose="020F0502020204030204" pitchFamily="34" charset="0"/>
                <a:cs typeface="Calibri" panose="020F0502020204030204" pitchFamily="34" charset="0"/>
              </a:rPr>
              <a:t>In the </a:t>
            </a:r>
            <a:r>
              <a:rPr lang="en-US" sz="3200" b="1" dirty="0">
                <a:latin typeface="Calibri" panose="020F0502020204030204" pitchFamily="34" charset="0"/>
                <a:ea typeface="Calibri" panose="020F0502020204030204" pitchFamily="34" charset="0"/>
                <a:cs typeface="Calibri" panose="020F0502020204030204" pitchFamily="34" charset="0"/>
              </a:rPr>
              <a:t>absence of severe hyperglycemia or hyperglycemic crisis</a:t>
            </a:r>
            <a:r>
              <a:rPr lang="en-US" sz="3200" dirty="0">
                <a:latin typeface="Calibri" panose="020F0502020204030204" pitchFamily="34" charset="0"/>
                <a:ea typeface="Calibri" panose="020F0502020204030204" pitchFamily="34" charset="0"/>
                <a:cs typeface="Calibri" panose="020F0502020204030204" pitchFamily="34" charset="0"/>
              </a:rPr>
              <a:t>, </a:t>
            </a:r>
            <a:r>
              <a:rPr lang="en-US" sz="3200" b="1" dirty="0">
                <a:latin typeface="Calibri" panose="020F0502020204030204" pitchFamily="34" charset="0"/>
                <a:ea typeface="Calibri" panose="020F0502020204030204" pitchFamily="34" charset="0"/>
                <a:cs typeface="Calibri" panose="020F0502020204030204" pitchFamily="34" charset="0"/>
              </a:rPr>
              <a:t>GLP-1–based therapy is preferred before insulin</a:t>
            </a:r>
            <a:r>
              <a:rPr lang="en-US" sz="3200" dirty="0">
                <a:latin typeface="Calibri" panose="020F0502020204030204" pitchFamily="34" charset="0"/>
                <a:ea typeface="Calibri" panose="020F0502020204030204" pitchFamily="34" charset="0"/>
                <a:cs typeface="Calibri" panose="020F0502020204030204" pitchFamily="34" charset="0"/>
              </a:rPr>
              <a:t> for initial/add-on injectable therapy.</a:t>
            </a:r>
          </a:p>
        </p:txBody>
      </p:sp>
    </p:spTree>
    <p:extLst>
      <p:ext uri="{BB962C8B-B14F-4D97-AF65-F5344CB8AC3E}">
        <p14:creationId xmlns:p14="http://schemas.microsoft.com/office/powerpoint/2010/main" val="261874723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4522B21E-B2B9-4C72-9A71-C87EFD137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004798" cy="975269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3004800" cy="627567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6228" y="785012"/>
            <a:ext cx="11732343" cy="6568603"/>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6FEC07D-9860-4092-9EB2-08A95FF40925}"/>
              </a:ext>
            </a:extLst>
          </p:cNvPr>
          <p:cNvSpPr>
            <a:spLocks noGrp="1"/>
          </p:cNvSpPr>
          <p:nvPr>
            <p:ph type="ctrTitle"/>
          </p:nvPr>
        </p:nvSpPr>
        <p:spPr>
          <a:xfrm>
            <a:off x="1625600" y="1839414"/>
            <a:ext cx="9753600" cy="4657197"/>
          </a:xfrm>
        </p:spPr>
        <p:txBody>
          <a:bodyPr anchor="ctr">
            <a:normAutofit/>
          </a:bodyPr>
          <a:lstStyle/>
          <a:p>
            <a:pPr>
              <a:buNone/>
            </a:pPr>
            <a:r>
              <a:rPr lang="en-US" sz="8900"/>
              <a:t>T1 DM Treatment Guidelines</a:t>
            </a:r>
          </a:p>
        </p:txBody>
      </p:sp>
      <p:cxnSp>
        <p:nvCxnSpPr>
          <p:cNvPr id="26" name="Straight Connector 25">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36228" y="9037806"/>
            <a:ext cx="11733581"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1F2B17F9-920F-0B20-8C38-46BB2BCF50FB}"/>
              </a:ext>
            </a:extLst>
          </p:cNvPr>
          <p:cNvSpPr txBox="1"/>
          <p:nvPr/>
        </p:nvSpPr>
        <p:spPr>
          <a:xfrm>
            <a:off x="1645920" y="8122920"/>
            <a:ext cx="7502581" cy="307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buNone/>
            </a:pPr>
            <a:r>
              <a:rPr lang="en-US" sz="1400" dirty="0"/>
              <a:t>Adapted from: American Diabetes Association. Standards of Care in Diabetes—2026.</a:t>
            </a:r>
            <a:endParaRPr kumimoji="0" lang="en-US" sz="1400" b="0" i="0" u="none" strike="noStrike" cap="none" spc="0" normalizeH="0" baseline="0" dirty="0">
              <a:ln>
                <a:noFill/>
              </a:ln>
              <a:solidFill>
                <a:srgbClr val="000000"/>
              </a:solidFill>
              <a:effectLst/>
              <a:uFillTx/>
              <a:latin typeface="Helvetica Light"/>
              <a:ea typeface="Helvetica Light"/>
              <a:cs typeface="Helvetica Light"/>
              <a:sym typeface="Helvetica Light"/>
            </a:endParaRPr>
          </a:p>
        </p:txBody>
      </p:sp>
    </p:spTree>
    <p:extLst>
      <p:ext uri="{BB962C8B-B14F-4D97-AF65-F5344CB8AC3E}">
        <p14:creationId xmlns:p14="http://schemas.microsoft.com/office/powerpoint/2010/main" val="391970056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8" name="Shape 748"/>
          <p:cNvSpPr>
            <a:spLocks noGrp="1"/>
          </p:cNvSpPr>
          <p:nvPr>
            <p:ph type="title" idx="4294967295"/>
          </p:nvPr>
        </p:nvSpPr>
        <p:spPr>
          <a:xfrm>
            <a:off x="330200" y="390524"/>
            <a:ext cx="12420600" cy="1590677"/>
          </a:xfrm>
          <a:prstGeom prst="rect">
            <a:avLst/>
          </a:prstGeom>
        </p:spPr>
        <p:txBody>
          <a:bodyPr lIns="72248" tIns="72248" rIns="72248" bIns="72248" anchor="ctr">
            <a:normAutofit/>
          </a:bodyPr>
          <a:lstStyle>
            <a:lvl1pPr defTabSz="1170146">
              <a:defRPr sz="5040">
                <a:latin typeface="Arial"/>
                <a:ea typeface="Arial"/>
                <a:cs typeface="Arial"/>
                <a:sym typeface="Arial"/>
              </a:defRPr>
            </a:lvl1pPr>
          </a:lstStyle>
          <a:p>
            <a:pPr>
              <a:buNone/>
            </a:pPr>
            <a:r>
              <a:rPr lang="en-US" dirty="0"/>
              <a:t>T1DM Treatment: Core Principles</a:t>
            </a:r>
            <a:endParaRPr dirty="0"/>
          </a:p>
        </p:txBody>
      </p:sp>
      <p:sp>
        <p:nvSpPr>
          <p:cNvPr id="749" name="Shape 749"/>
          <p:cNvSpPr>
            <a:spLocks noGrp="1"/>
          </p:cNvSpPr>
          <p:nvPr>
            <p:ph type="body" idx="4294967295"/>
          </p:nvPr>
        </p:nvSpPr>
        <p:spPr>
          <a:xfrm>
            <a:off x="215900" y="2166937"/>
            <a:ext cx="12571413" cy="7261226"/>
          </a:xfrm>
          <a:prstGeom prst="rect">
            <a:avLst/>
          </a:prstGeom>
        </p:spPr>
        <p:txBody>
          <a:bodyPr lIns="72248" tIns="72248" rIns="72248" bIns="72248">
            <a:noAutofit/>
          </a:bodyPr>
          <a:lstStyle/>
          <a:p>
            <a:pPr>
              <a:spcBef>
                <a:spcPts val="1200"/>
              </a:spcBef>
            </a:pPr>
            <a:r>
              <a:rPr lang="en-US" sz="3200" b="1" dirty="0">
                <a:latin typeface="Calibri" panose="020F0502020204030204" pitchFamily="34" charset="0"/>
                <a:ea typeface="Calibri" panose="020F0502020204030204" pitchFamily="34" charset="0"/>
                <a:cs typeface="Calibri" panose="020F0502020204030204" pitchFamily="34" charset="0"/>
              </a:rPr>
              <a:t>Insulin is required</a:t>
            </a:r>
            <a:r>
              <a:rPr lang="en-US" sz="3200" dirty="0">
                <a:latin typeface="Calibri" panose="020F0502020204030204" pitchFamily="34" charset="0"/>
                <a:ea typeface="Calibri" panose="020F0502020204030204" pitchFamily="34" charset="0"/>
                <a:cs typeface="Calibri" panose="020F0502020204030204" pitchFamily="34" charset="0"/>
              </a:rPr>
              <a:t> for treatment of T1DM</a:t>
            </a:r>
          </a:p>
          <a:p>
            <a:pPr>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Goal is physiologic replacement of:</a:t>
            </a:r>
          </a:p>
          <a:p>
            <a:pPr lvl="1">
              <a:spcBef>
                <a:spcPts val="1200"/>
              </a:spcBef>
            </a:pPr>
            <a:r>
              <a:rPr lang="en-US" sz="3200" b="1" dirty="0">
                <a:latin typeface="Calibri" panose="020F0502020204030204" pitchFamily="34" charset="0"/>
                <a:ea typeface="Calibri" panose="020F0502020204030204" pitchFamily="34" charset="0"/>
                <a:cs typeface="Calibri" panose="020F0502020204030204" pitchFamily="34" charset="0"/>
              </a:rPr>
              <a:t>Basal insulin</a:t>
            </a:r>
            <a:endParaRPr lang="en-US" sz="3200" dirty="0">
              <a:latin typeface="Calibri" panose="020F0502020204030204" pitchFamily="34" charset="0"/>
              <a:ea typeface="Calibri" panose="020F0502020204030204" pitchFamily="34" charset="0"/>
              <a:cs typeface="Calibri" panose="020F0502020204030204" pitchFamily="34" charset="0"/>
            </a:endParaRPr>
          </a:p>
          <a:p>
            <a:pPr lvl="1">
              <a:spcBef>
                <a:spcPts val="1200"/>
              </a:spcBef>
            </a:pPr>
            <a:r>
              <a:rPr lang="en-US" sz="3200" b="1" dirty="0">
                <a:latin typeface="Calibri" panose="020F0502020204030204" pitchFamily="34" charset="0"/>
                <a:ea typeface="Calibri" panose="020F0502020204030204" pitchFamily="34" charset="0"/>
                <a:cs typeface="Calibri" panose="020F0502020204030204" pitchFamily="34" charset="0"/>
              </a:rPr>
              <a:t>Prandial insulin</a:t>
            </a:r>
            <a:endParaRPr lang="en-US" sz="3200" dirty="0">
              <a:latin typeface="Calibri" panose="020F0502020204030204" pitchFamily="34" charset="0"/>
              <a:ea typeface="Calibri" panose="020F0502020204030204" pitchFamily="34" charset="0"/>
              <a:cs typeface="Calibri" panose="020F0502020204030204" pitchFamily="34" charset="0"/>
            </a:endParaRPr>
          </a:p>
          <a:p>
            <a:pPr lvl="1">
              <a:spcBef>
                <a:spcPts val="1200"/>
              </a:spcBef>
            </a:pPr>
            <a:r>
              <a:rPr lang="en-US" sz="3200" b="1" dirty="0">
                <a:latin typeface="Calibri" panose="020F0502020204030204" pitchFamily="34" charset="0"/>
                <a:ea typeface="Calibri" panose="020F0502020204030204" pitchFamily="34" charset="0"/>
                <a:cs typeface="Calibri" panose="020F0502020204030204" pitchFamily="34" charset="0"/>
              </a:rPr>
              <a:t>Correction insulin</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3200" b="1" dirty="0">
                <a:latin typeface="Calibri" panose="020F0502020204030204" pitchFamily="34" charset="0"/>
                <a:ea typeface="Calibri" panose="020F0502020204030204" pitchFamily="34" charset="0"/>
                <a:cs typeface="Calibri" panose="020F0502020204030204" pitchFamily="34" charset="0"/>
              </a:rPr>
              <a:t>CGM is standard of care for most patients</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3200" b="1" dirty="0">
                <a:latin typeface="Calibri" panose="020F0502020204030204" pitchFamily="34" charset="0"/>
                <a:ea typeface="Calibri" panose="020F0502020204030204" pitchFamily="34" charset="0"/>
                <a:cs typeface="Calibri" panose="020F0502020204030204" pitchFamily="34" charset="0"/>
              </a:rPr>
              <a:t>Automated insulin delivery (AID) is preferred</a:t>
            </a:r>
            <a:r>
              <a:rPr lang="en-US" sz="3200" dirty="0">
                <a:latin typeface="Calibri" panose="020F0502020204030204" pitchFamily="34" charset="0"/>
                <a:ea typeface="Calibri" panose="020F0502020204030204" pitchFamily="34" charset="0"/>
                <a:cs typeface="Calibri" panose="020F0502020204030204" pitchFamily="34" charset="0"/>
              </a:rPr>
              <a:t> when appropriate and accessible</a:t>
            </a:r>
          </a:p>
          <a:p>
            <a:pPr>
              <a:spcBef>
                <a:spcPts val="1200"/>
              </a:spcBef>
            </a:pPr>
            <a:r>
              <a:rPr lang="en-US" sz="3200" b="1" dirty="0">
                <a:latin typeface="Calibri" panose="020F0502020204030204" pitchFamily="34" charset="0"/>
                <a:ea typeface="Calibri" panose="020F0502020204030204" pitchFamily="34" charset="0"/>
                <a:cs typeface="Calibri" panose="020F0502020204030204" pitchFamily="34" charset="0"/>
              </a:rPr>
              <a:t>A1C goal:</a:t>
            </a:r>
            <a:r>
              <a:rPr lang="en-US" sz="3200" dirty="0">
                <a:latin typeface="Calibri" panose="020F0502020204030204" pitchFamily="34" charset="0"/>
                <a:ea typeface="Calibri" panose="020F0502020204030204" pitchFamily="34" charset="0"/>
                <a:cs typeface="Calibri" panose="020F0502020204030204" pitchFamily="34" charset="0"/>
              </a:rPr>
              <a:t> generally </a:t>
            </a:r>
            <a:r>
              <a:rPr lang="en-US" sz="3200" b="1" dirty="0">
                <a:latin typeface="Calibri" panose="020F0502020204030204" pitchFamily="34" charset="0"/>
                <a:ea typeface="Calibri" panose="020F0502020204030204" pitchFamily="34" charset="0"/>
                <a:cs typeface="Calibri" panose="020F0502020204030204" pitchFamily="34" charset="0"/>
              </a:rPr>
              <a:t>&lt;7%</a:t>
            </a:r>
            <a:r>
              <a:rPr lang="en-US" sz="3200" dirty="0">
                <a:latin typeface="Calibri" panose="020F0502020204030204" pitchFamily="34" charset="0"/>
                <a:ea typeface="Calibri" panose="020F0502020204030204" pitchFamily="34" charset="0"/>
                <a:cs typeface="Calibri" panose="020F0502020204030204" pitchFamily="34" charset="0"/>
              </a:rPr>
              <a:t>, individualized to the patient</a:t>
            </a:r>
          </a:p>
        </p:txBody>
      </p:sp>
    </p:spTree>
    <p:extLst>
      <p:ext uri="{BB962C8B-B14F-4D97-AF65-F5344CB8AC3E}">
        <p14:creationId xmlns:p14="http://schemas.microsoft.com/office/powerpoint/2010/main" val="180404845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59F644-C3B0-2C0D-0F5F-44BB0CBB4164}"/>
            </a:ext>
          </a:extLst>
        </p:cNvPr>
        <p:cNvGrpSpPr/>
        <p:nvPr/>
      </p:nvGrpSpPr>
      <p:grpSpPr>
        <a:xfrm>
          <a:off x="0" y="0"/>
          <a:ext cx="0" cy="0"/>
          <a:chOff x="0" y="0"/>
          <a:chExt cx="0" cy="0"/>
        </a:xfrm>
      </p:grpSpPr>
      <p:sp>
        <p:nvSpPr>
          <p:cNvPr id="748" name="Shape 748">
            <a:extLst>
              <a:ext uri="{FF2B5EF4-FFF2-40B4-BE49-F238E27FC236}">
                <a16:creationId xmlns:a16="http://schemas.microsoft.com/office/drawing/2014/main" id="{B97AC4B1-329F-5932-20AB-FE41744D0689}"/>
              </a:ext>
            </a:extLst>
          </p:cNvPr>
          <p:cNvSpPr>
            <a:spLocks noGrp="1"/>
          </p:cNvSpPr>
          <p:nvPr>
            <p:ph type="title" idx="4294967295"/>
          </p:nvPr>
        </p:nvSpPr>
        <p:spPr>
          <a:xfrm>
            <a:off x="330200" y="390524"/>
            <a:ext cx="12420600" cy="1590677"/>
          </a:xfrm>
          <a:prstGeom prst="rect">
            <a:avLst/>
          </a:prstGeom>
        </p:spPr>
        <p:txBody>
          <a:bodyPr lIns="72248" tIns="72248" rIns="72248" bIns="72248" anchor="ctr">
            <a:normAutofit/>
          </a:bodyPr>
          <a:lstStyle>
            <a:lvl1pPr defTabSz="1170146">
              <a:defRPr sz="5040">
                <a:latin typeface="Arial"/>
                <a:ea typeface="Arial"/>
                <a:cs typeface="Arial"/>
                <a:sym typeface="Arial"/>
              </a:defRPr>
            </a:lvl1pPr>
          </a:lstStyle>
          <a:p>
            <a:pPr>
              <a:buNone/>
            </a:pPr>
            <a:r>
              <a:rPr lang="en-US" dirty="0"/>
              <a:t>T1DM Treatment: Insulin</a:t>
            </a:r>
            <a:endParaRPr dirty="0"/>
          </a:p>
        </p:txBody>
      </p:sp>
      <p:sp>
        <p:nvSpPr>
          <p:cNvPr id="749" name="Shape 749">
            <a:extLst>
              <a:ext uri="{FF2B5EF4-FFF2-40B4-BE49-F238E27FC236}">
                <a16:creationId xmlns:a16="http://schemas.microsoft.com/office/drawing/2014/main" id="{3149AE67-7BC6-E4AA-5A04-5A23527F1181}"/>
              </a:ext>
            </a:extLst>
          </p:cNvPr>
          <p:cNvSpPr>
            <a:spLocks noGrp="1"/>
          </p:cNvSpPr>
          <p:nvPr>
            <p:ph type="body" idx="4294967295"/>
          </p:nvPr>
        </p:nvSpPr>
        <p:spPr>
          <a:xfrm>
            <a:off x="215900" y="2166937"/>
            <a:ext cx="12571413" cy="7261226"/>
          </a:xfrm>
          <a:prstGeom prst="rect">
            <a:avLst/>
          </a:prstGeom>
        </p:spPr>
        <p:txBody>
          <a:bodyPr lIns="72248" tIns="72248" rIns="72248" bIns="72248">
            <a:noAutofit/>
          </a:bodyPr>
          <a:lstStyle/>
          <a:p>
            <a:pPr>
              <a:spcBef>
                <a:spcPts val="1200"/>
              </a:spcBef>
              <a:buNone/>
            </a:pPr>
            <a:r>
              <a:rPr lang="en-US" sz="3200" b="1" dirty="0">
                <a:latin typeface="Calibri" panose="020F0502020204030204" pitchFamily="34" charset="0"/>
                <a:ea typeface="Calibri" panose="020F0502020204030204" pitchFamily="34" charset="0"/>
                <a:cs typeface="Calibri" panose="020F0502020204030204" pitchFamily="34" charset="0"/>
              </a:rPr>
              <a:t>Multiple Daily Injections (MDI)</a:t>
            </a:r>
            <a:endParaRPr lang="en-US" sz="3200" dirty="0">
              <a:latin typeface="Calibri" panose="020F0502020204030204" pitchFamily="34" charset="0"/>
              <a:ea typeface="Calibri" panose="020F0502020204030204" pitchFamily="34" charset="0"/>
              <a:cs typeface="Calibri" panose="020F0502020204030204" pitchFamily="34" charset="0"/>
            </a:endParaRPr>
          </a:p>
          <a:p>
            <a:pPr lvl="1">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Long-acting </a:t>
            </a:r>
            <a:r>
              <a:rPr lang="en-US" sz="3200" b="1" dirty="0">
                <a:latin typeface="Calibri" panose="020F0502020204030204" pitchFamily="34" charset="0"/>
                <a:ea typeface="Calibri" panose="020F0502020204030204" pitchFamily="34" charset="0"/>
                <a:cs typeface="Calibri" panose="020F0502020204030204" pitchFamily="34" charset="0"/>
              </a:rPr>
              <a:t>basal insulin</a:t>
            </a:r>
            <a:endParaRPr lang="en-US" sz="3200" dirty="0">
              <a:latin typeface="Calibri" panose="020F0502020204030204" pitchFamily="34" charset="0"/>
              <a:ea typeface="Calibri" panose="020F0502020204030204" pitchFamily="34" charset="0"/>
              <a:cs typeface="Calibri" panose="020F0502020204030204" pitchFamily="34" charset="0"/>
            </a:endParaRPr>
          </a:p>
          <a:p>
            <a:pPr lvl="1">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Rapid-acting </a:t>
            </a:r>
            <a:r>
              <a:rPr lang="en-US" sz="3200" b="1" dirty="0">
                <a:latin typeface="Calibri" panose="020F0502020204030204" pitchFamily="34" charset="0"/>
                <a:ea typeface="Calibri" panose="020F0502020204030204" pitchFamily="34" charset="0"/>
                <a:cs typeface="Calibri" panose="020F0502020204030204" pitchFamily="34" charset="0"/>
              </a:rPr>
              <a:t>mealtime/correction insulin</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buNone/>
            </a:pPr>
            <a:r>
              <a:rPr lang="en-US" sz="3200" b="1" dirty="0">
                <a:latin typeface="Calibri" panose="020F0502020204030204" pitchFamily="34" charset="0"/>
                <a:ea typeface="Calibri" panose="020F0502020204030204" pitchFamily="34" charset="0"/>
                <a:cs typeface="Calibri" panose="020F0502020204030204" pitchFamily="34" charset="0"/>
              </a:rPr>
              <a:t>   OR</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buNone/>
            </a:pPr>
            <a:r>
              <a:rPr lang="en-US" sz="3200" b="1" dirty="0">
                <a:latin typeface="Calibri" panose="020F0502020204030204" pitchFamily="34" charset="0"/>
                <a:ea typeface="Calibri" panose="020F0502020204030204" pitchFamily="34" charset="0"/>
                <a:cs typeface="Calibri" panose="020F0502020204030204" pitchFamily="34" charset="0"/>
              </a:rPr>
              <a:t>Insulin Pump / Automated Insulin Delivery</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Rapid-acting insulin provides </a:t>
            </a:r>
            <a:r>
              <a:rPr lang="en-US" sz="3200" b="1" dirty="0">
                <a:latin typeface="Calibri" panose="020F0502020204030204" pitchFamily="34" charset="0"/>
                <a:ea typeface="Calibri" panose="020F0502020204030204" pitchFamily="34" charset="0"/>
                <a:cs typeface="Calibri" panose="020F0502020204030204" pitchFamily="34" charset="0"/>
              </a:rPr>
              <a:t>basal + bolus insulin</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AID integrates </a:t>
            </a:r>
            <a:r>
              <a:rPr lang="en-US" sz="3200" b="1" dirty="0">
                <a:latin typeface="Calibri" panose="020F0502020204030204" pitchFamily="34" charset="0"/>
                <a:ea typeface="Calibri" panose="020F0502020204030204" pitchFamily="34" charset="0"/>
                <a:cs typeface="Calibri" panose="020F0502020204030204" pitchFamily="34" charset="0"/>
              </a:rPr>
              <a:t>pump + CGM + algorithm</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Automatically adjusts insulin delivery based on glucose data</a:t>
            </a:r>
          </a:p>
          <a:p>
            <a:pPr>
              <a:spcBef>
                <a:spcPts val="1200"/>
              </a:spcBef>
              <a:buNone/>
            </a:pPr>
            <a:endParaRPr lang="en-US" sz="3200" b="1" dirty="0">
              <a:latin typeface="Calibri" panose="020F0502020204030204" pitchFamily="34" charset="0"/>
              <a:ea typeface="Calibri" panose="020F0502020204030204" pitchFamily="34" charset="0"/>
              <a:cs typeface="Calibri" panose="020F0502020204030204" pitchFamily="34" charset="0"/>
            </a:endParaRPr>
          </a:p>
          <a:p>
            <a:pPr>
              <a:spcBef>
                <a:spcPts val="1200"/>
              </a:spcBef>
              <a:buNone/>
            </a:pPr>
            <a:r>
              <a:rPr lang="en-US" sz="3200" b="1" dirty="0">
                <a:latin typeface="Calibri" panose="020F0502020204030204" pitchFamily="34" charset="0"/>
                <a:ea typeface="Calibri" panose="020F0502020204030204" pitchFamily="34" charset="0"/>
                <a:cs typeface="Calibri" panose="020F0502020204030204" pitchFamily="34" charset="0"/>
              </a:rPr>
              <a:t>Goal: mimic physiologic insulin secretion</a:t>
            </a:r>
            <a:endParaRPr lang="en-US" sz="32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8389714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34C702-FF8C-5ACF-9BF4-67F7C66CD0C9}"/>
            </a:ext>
          </a:extLst>
        </p:cNvPr>
        <p:cNvGrpSpPr/>
        <p:nvPr/>
      </p:nvGrpSpPr>
      <p:grpSpPr>
        <a:xfrm>
          <a:off x="0" y="0"/>
          <a:ext cx="0" cy="0"/>
          <a:chOff x="0" y="0"/>
          <a:chExt cx="0" cy="0"/>
        </a:xfrm>
      </p:grpSpPr>
      <p:sp>
        <p:nvSpPr>
          <p:cNvPr id="748" name="Shape 748">
            <a:extLst>
              <a:ext uri="{FF2B5EF4-FFF2-40B4-BE49-F238E27FC236}">
                <a16:creationId xmlns:a16="http://schemas.microsoft.com/office/drawing/2014/main" id="{E328CBB2-9211-B881-5DC8-B75C4DD86FB5}"/>
              </a:ext>
            </a:extLst>
          </p:cNvPr>
          <p:cNvSpPr>
            <a:spLocks noGrp="1"/>
          </p:cNvSpPr>
          <p:nvPr>
            <p:ph type="title" idx="4294967295"/>
          </p:nvPr>
        </p:nvSpPr>
        <p:spPr>
          <a:xfrm>
            <a:off x="330200" y="390524"/>
            <a:ext cx="12420600" cy="1590677"/>
          </a:xfrm>
          <a:prstGeom prst="rect">
            <a:avLst/>
          </a:prstGeom>
        </p:spPr>
        <p:txBody>
          <a:bodyPr lIns="72248" tIns="72248" rIns="72248" bIns="72248" anchor="ctr">
            <a:normAutofit/>
          </a:bodyPr>
          <a:lstStyle>
            <a:lvl1pPr defTabSz="1170146">
              <a:defRPr sz="5040">
                <a:latin typeface="Arial"/>
                <a:ea typeface="Arial"/>
                <a:cs typeface="Arial"/>
                <a:sym typeface="Arial"/>
              </a:defRPr>
            </a:lvl1pPr>
          </a:lstStyle>
          <a:p>
            <a:pPr>
              <a:buNone/>
            </a:pPr>
            <a:r>
              <a:rPr lang="en-US" dirty="0"/>
              <a:t>T1DM Treatment: Starting Insulin</a:t>
            </a:r>
            <a:endParaRPr dirty="0"/>
          </a:p>
        </p:txBody>
      </p:sp>
      <p:sp>
        <p:nvSpPr>
          <p:cNvPr id="749" name="Shape 749">
            <a:extLst>
              <a:ext uri="{FF2B5EF4-FFF2-40B4-BE49-F238E27FC236}">
                <a16:creationId xmlns:a16="http://schemas.microsoft.com/office/drawing/2014/main" id="{E39356E1-157D-4C50-2FD4-5BF81F33E4B9}"/>
              </a:ext>
            </a:extLst>
          </p:cNvPr>
          <p:cNvSpPr>
            <a:spLocks noGrp="1"/>
          </p:cNvSpPr>
          <p:nvPr>
            <p:ph type="body" idx="4294967295"/>
          </p:nvPr>
        </p:nvSpPr>
        <p:spPr>
          <a:xfrm>
            <a:off x="215900" y="2166937"/>
            <a:ext cx="12571413" cy="7261226"/>
          </a:xfrm>
          <a:prstGeom prst="rect">
            <a:avLst/>
          </a:prstGeom>
        </p:spPr>
        <p:txBody>
          <a:bodyPr lIns="72248" tIns="72248" rIns="72248" bIns="72248">
            <a:noAutofit/>
          </a:bodyPr>
          <a:lstStyle/>
          <a:p>
            <a:pPr>
              <a:spcBef>
                <a:spcPts val="1200"/>
              </a:spcBef>
              <a:buNone/>
            </a:pPr>
            <a:r>
              <a:rPr lang="en-US" sz="3200" b="1" dirty="0">
                <a:latin typeface="Calibri" panose="020F0502020204030204" pitchFamily="34" charset="0"/>
                <a:ea typeface="Calibri" panose="020F0502020204030204" pitchFamily="34" charset="0"/>
                <a:cs typeface="Calibri" panose="020F0502020204030204" pitchFamily="34" charset="0"/>
              </a:rPr>
              <a:t>Typical total daily insulin requirement</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Individualized based on age, weight, activity, illness, etc.</a:t>
            </a:r>
          </a:p>
          <a:p>
            <a:pPr>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Approximately </a:t>
            </a:r>
            <a:r>
              <a:rPr lang="en-US" sz="3200" b="1" dirty="0">
                <a:latin typeface="Calibri" panose="020F0502020204030204" pitchFamily="34" charset="0"/>
                <a:ea typeface="Calibri" panose="020F0502020204030204" pitchFamily="34" charset="0"/>
                <a:cs typeface="Calibri" panose="020F0502020204030204" pitchFamily="34" charset="0"/>
              </a:rPr>
              <a:t>30–50% basal</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Remainder used for </a:t>
            </a:r>
            <a:r>
              <a:rPr lang="en-US" sz="3200" b="1" dirty="0">
                <a:latin typeface="Calibri" panose="020F0502020204030204" pitchFamily="34" charset="0"/>
                <a:ea typeface="Calibri" panose="020F0502020204030204" pitchFamily="34" charset="0"/>
                <a:cs typeface="Calibri" panose="020F0502020204030204" pitchFamily="34" charset="0"/>
              </a:rPr>
              <a:t>prandial/correction insulin</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buNone/>
            </a:pPr>
            <a:endParaRPr lang="en-US" sz="3200" b="1" dirty="0">
              <a:latin typeface="Calibri" panose="020F0502020204030204" pitchFamily="34" charset="0"/>
              <a:ea typeface="Calibri" panose="020F0502020204030204" pitchFamily="34" charset="0"/>
              <a:cs typeface="Calibri" panose="020F0502020204030204" pitchFamily="34" charset="0"/>
            </a:endParaRPr>
          </a:p>
          <a:p>
            <a:pPr>
              <a:spcBef>
                <a:spcPts val="1200"/>
              </a:spcBef>
              <a:buNone/>
            </a:pPr>
            <a:r>
              <a:rPr lang="en-US" sz="3200" b="1" dirty="0">
                <a:latin typeface="Calibri" panose="020F0502020204030204" pitchFamily="34" charset="0"/>
                <a:ea typeface="Calibri" panose="020F0502020204030204" pitchFamily="34" charset="0"/>
                <a:cs typeface="Calibri" panose="020F0502020204030204" pitchFamily="34" charset="0"/>
              </a:rPr>
              <a:t>Honeymoon (partial remission)</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Temporary recovery of residual β-cell insulin secretion after treatment begins</a:t>
            </a:r>
          </a:p>
          <a:p>
            <a:pPr>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Insulin requirements may </a:t>
            </a:r>
            <a:r>
              <a:rPr lang="en-US" sz="3200" b="1" dirty="0">
                <a:latin typeface="Calibri" panose="020F0502020204030204" pitchFamily="34" charset="0"/>
                <a:ea typeface="Calibri" panose="020F0502020204030204" pitchFamily="34" charset="0"/>
                <a:cs typeface="Calibri" panose="020F0502020204030204" pitchFamily="34" charset="0"/>
              </a:rPr>
              <a:t>decrease temporarily</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3200" b="1" dirty="0">
                <a:latin typeface="Calibri" panose="020F0502020204030204" pitchFamily="34" charset="0"/>
                <a:ea typeface="Calibri" panose="020F0502020204030204" pitchFamily="34" charset="0"/>
                <a:cs typeface="Calibri" panose="020F0502020204030204" pitchFamily="34" charset="0"/>
              </a:rPr>
              <a:t>Insulin must be continued</a:t>
            </a:r>
            <a:endParaRPr lang="en-US" sz="3200" dirty="0">
              <a:latin typeface="Calibri" panose="020F0502020204030204" pitchFamily="34" charset="0"/>
              <a:ea typeface="Calibri" panose="020F0502020204030204" pitchFamily="34" charset="0"/>
              <a:cs typeface="Calibri" panose="020F0502020204030204" pitchFamily="34" charset="0"/>
            </a:endParaRPr>
          </a:p>
          <a:p>
            <a:pPr>
              <a:spcBef>
                <a:spcPts val="1200"/>
              </a:spcBef>
            </a:pPr>
            <a:r>
              <a:rPr lang="en-US" sz="3200" dirty="0">
                <a:latin typeface="Calibri" panose="020F0502020204030204" pitchFamily="34" charset="0"/>
                <a:ea typeface="Calibri" panose="020F0502020204030204" pitchFamily="34" charset="0"/>
                <a:cs typeface="Calibri" panose="020F0502020204030204" pitchFamily="34" charset="0"/>
              </a:rPr>
              <a:t>Insulin needs eventually increase as endogenous insulin production declines</a:t>
            </a:r>
          </a:p>
        </p:txBody>
      </p:sp>
    </p:spTree>
    <p:extLst>
      <p:ext uri="{BB962C8B-B14F-4D97-AF65-F5344CB8AC3E}">
        <p14:creationId xmlns:p14="http://schemas.microsoft.com/office/powerpoint/2010/main" val="369857009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5" name="Shape 745"/>
          <p:cNvSpPr>
            <a:spLocks noGrp="1"/>
          </p:cNvSpPr>
          <p:nvPr>
            <p:ph type="title" idx="4294967295"/>
          </p:nvPr>
        </p:nvSpPr>
        <p:spPr>
          <a:xfrm>
            <a:off x="649287" y="107950"/>
            <a:ext cx="11704638" cy="1192213"/>
          </a:xfrm>
          <a:prstGeom prst="rect">
            <a:avLst/>
          </a:prstGeom>
        </p:spPr>
        <p:txBody>
          <a:bodyPr lIns="72248" tIns="72248" rIns="72248" bIns="72248" anchor="ctr">
            <a:normAutofit/>
          </a:bodyPr>
          <a:lstStyle>
            <a:lvl1pPr defTabSz="1300162">
              <a:defRPr sz="6200">
                <a:latin typeface="Arial"/>
                <a:ea typeface="Arial"/>
                <a:cs typeface="Arial"/>
                <a:sym typeface="Arial"/>
              </a:defRPr>
            </a:lvl1pPr>
          </a:lstStyle>
          <a:p>
            <a:pPr>
              <a:buNone/>
            </a:pPr>
            <a:r>
              <a:rPr lang="en-US" dirty="0">
                <a:highlight>
                  <a:srgbClr val="FFFF00"/>
                </a:highlight>
              </a:rPr>
              <a:t>Case Study #1</a:t>
            </a:r>
            <a:endParaRPr dirty="0">
              <a:highlight>
                <a:srgbClr val="FFFF00"/>
              </a:highlight>
            </a:endParaRPr>
          </a:p>
        </p:txBody>
      </p:sp>
      <p:sp>
        <p:nvSpPr>
          <p:cNvPr id="746" name="Shape 746"/>
          <p:cNvSpPr>
            <a:spLocks noGrp="1"/>
          </p:cNvSpPr>
          <p:nvPr>
            <p:ph type="body" idx="4294967295"/>
          </p:nvPr>
        </p:nvSpPr>
        <p:spPr>
          <a:xfrm>
            <a:off x="215900" y="1516062"/>
            <a:ext cx="12571413" cy="8128001"/>
          </a:xfrm>
          <a:prstGeom prst="rect">
            <a:avLst/>
          </a:prstGeom>
        </p:spPr>
        <p:txBody>
          <a:bodyPr lIns="72248" tIns="72248" rIns="72248" bIns="72248">
            <a:normAutofit/>
          </a:bodyPr>
          <a:lstStyle/>
          <a:p>
            <a:pPr marL="323850" indent="-323850" defTabSz="1300162">
              <a:spcBef>
                <a:spcPts val="700"/>
              </a:spcBef>
              <a:buChar char="•"/>
              <a:defRPr sz="4500">
                <a:latin typeface="Arial"/>
                <a:ea typeface="Arial"/>
                <a:cs typeface="Arial"/>
                <a:sym typeface="Arial"/>
              </a:defRPr>
            </a:pPr>
            <a:r>
              <a:rPr lang="en-US" dirty="0"/>
              <a:t>Drew is a 53 year old man who is seen in the clinic, no medical care x 20 years.</a:t>
            </a:r>
          </a:p>
          <a:p>
            <a:pPr marL="323850" indent="-323850" defTabSz="1300162">
              <a:spcBef>
                <a:spcPts val="700"/>
              </a:spcBef>
              <a:buChar char="•"/>
              <a:defRPr sz="4500">
                <a:latin typeface="Arial"/>
                <a:ea typeface="Arial"/>
                <a:cs typeface="Arial"/>
                <a:sym typeface="Arial"/>
              </a:defRPr>
            </a:pPr>
            <a:endParaRPr lang="en-US" dirty="0"/>
          </a:p>
          <a:p>
            <a:pPr marL="323850" indent="-323850" defTabSz="1300162">
              <a:spcBef>
                <a:spcPts val="700"/>
              </a:spcBef>
              <a:buChar char="•"/>
              <a:defRPr sz="4500">
                <a:latin typeface="Arial"/>
                <a:ea typeface="Arial"/>
                <a:cs typeface="Arial"/>
                <a:sym typeface="Arial"/>
              </a:defRPr>
            </a:pPr>
            <a:r>
              <a:rPr lang="en-US" dirty="0"/>
              <a:t>He had shoulder surgery in August and his blood sugar was noted to be high- he was advised to establish care with a PCP.</a:t>
            </a:r>
          </a:p>
          <a:p>
            <a:pPr marL="323850" indent="-323850" defTabSz="1300162">
              <a:spcBef>
                <a:spcPts val="700"/>
              </a:spcBef>
              <a:buChar char="•"/>
              <a:defRPr sz="4500">
                <a:latin typeface="Arial"/>
                <a:ea typeface="Arial"/>
                <a:cs typeface="Arial"/>
                <a:sym typeface="Arial"/>
              </a:defRPr>
            </a:pPr>
            <a:endParaRPr lang="en-US" dirty="0"/>
          </a:p>
          <a:p>
            <a:pPr marL="323850" indent="-323850" defTabSz="1300162">
              <a:spcBef>
                <a:spcPts val="700"/>
              </a:spcBef>
              <a:buChar char="•"/>
              <a:defRPr sz="4500">
                <a:latin typeface="Arial"/>
                <a:ea typeface="Arial"/>
                <a:cs typeface="Arial"/>
                <a:sym typeface="Arial"/>
              </a:defRPr>
            </a:pPr>
            <a:r>
              <a:rPr lang="en-US" dirty="0"/>
              <a:t>Review of the records reveals the following:</a:t>
            </a:r>
          </a:p>
          <a:p>
            <a:pPr marL="323850" indent="-323850" defTabSz="1300162">
              <a:spcBef>
                <a:spcPts val="700"/>
              </a:spcBef>
              <a:buChar char="•"/>
              <a:defRPr sz="4500">
                <a:latin typeface="Arial"/>
                <a:ea typeface="Arial"/>
                <a:cs typeface="Arial"/>
                <a:sym typeface="Arial"/>
              </a:defRPr>
            </a:pPr>
            <a:r>
              <a:rPr lang="en-US" dirty="0"/>
              <a:t>8/1- blood glucose 170 fasting, A1c: 7.4%</a:t>
            </a:r>
          </a:p>
          <a:p>
            <a:pPr marL="323850" indent="-323850" defTabSz="1300162">
              <a:spcBef>
                <a:spcPts val="700"/>
              </a:spcBef>
              <a:buChar char="•"/>
              <a:defRPr sz="4500">
                <a:latin typeface="Arial"/>
                <a:ea typeface="Arial"/>
                <a:cs typeface="Arial"/>
                <a:sym typeface="Arial"/>
              </a:defRPr>
            </a:pPr>
            <a:r>
              <a:rPr lang="en-US" dirty="0"/>
              <a:t>8/20- blood glucose 165 fasting, A1c: 7.2% </a:t>
            </a:r>
            <a:endParaRPr dirty="0"/>
          </a:p>
        </p:txBody>
      </p:sp>
    </p:spTree>
    <p:extLst>
      <p:ext uri="{BB962C8B-B14F-4D97-AF65-F5344CB8AC3E}">
        <p14:creationId xmlns:p14="http://schemas.microsoft.com/office/powerpoint/2010/main" val="191286528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5" name="Shape 745"/>
          <p:cNvSpPr>
            <a:spLocks noGrp="1"/>
          </p:cNvSpPr>
          <p:nvPr>
            <p:ph type="title" idx="4294967295"/>
          </p:nvPr>
        </p:nvSpPr>
        <p:spPr>
          <a:xfrm>
            <a:off x="649287" y="107950"/>
            <a:ext cx="11704638" cy="1192213"/>
          </a:xfrm>
          <a:prstGeom prst="rect">
            <a:avLst/>
          </a:prstGeom>
        </p:spPr>
        <p:txBody>
          <a:bodyPr lIns="72248" tIns="72248" rIns="72248" bIns="72248" anchor="ctr">
            <a:normAutofit/>
          </a:bodyPr>
          <a:lstStyle>
            <a:lvl1pPr defTabSz="1300162">
              <a:defRPr sz="6200">
                <a:latin typeface="Arial"/>
                <a:ea typeface="Arial"/>
                <a:cs typeface="Arial"/>
                <a:sym typeface="Arial"/>
              </a:defRPr>
            </a:lvl1pPr>
          </a:lstStyle>
          <a:p>
            <a:pPr>
              <a:buNone/>
            </a:pPr>
            <a:r>
              <a:rPr lang="en-US" dirty="0">
                <a:highlight>
                  <a:srgbClr val="FFFF00"/>
                </a:highlight>
              </a:rPr>
              <a:t>Case Study #1</a:t>
            </a:r>
            <a:endParaRPr dirty="0">
              <a:highlight>
                <a:srgbClr val="FFFF00"/>
              </a:highlight>
            </a:endParaRPr>
          </a:p>
        </p:txBody>
      </p:sp>
      <p:sp>
        <p:nvSpPr>
          <p:cNvPr id="746" name="Shape 746"/>
          <p:cNvSpPr>
            <a:spLocks noGrp="1"/>
          </p:cNvSpPr>
          <p:nvPr>
            <p:ph type="body" idx="4294967295"/>
          </p:nvPr>
        </p:nvSpPr>
        <p:spPr>
          <a:xfrm>
            <a:off x="215900" y="1516062"/>
            <a:ext cx="12571413" cy="8128001"/>
          </a:xfrm>
          <a:prstGeom prst="rect">
            <a:avLst/>
          </a:prstGeom>
        </p:spPr>
        <p:txBody>
          <a:bodyPr lIns="72248" tIns="72248" rIns="72248" bIns="72248">
            <a:normAutofit/>
          </a:bodyPr>
          <a:lstStyle/>
          <a:p>
            <a:pPr marL="323850" indent="-323850" defTabSz="1300162">
              <a:spcBef>
                <a:spcPts val="700"/>
              </a:spcBef>
              <a:buChar char="•"/>
              <a:defRPr sz="4500">
                <a:latin typeface="Arial"/>
                <a:ea typeface="Arial"/>
                <a:cs typeface="Arial"/>
                <a:sym typeface="Arial"/>
              </a:defRPr>
            </a:pPr>
            <a:r>
              <a:rPr lang="en-US" dirty="0"/>
              <a:t>Drew is a 53 </a:t>
            </a:r>
            <a:r>
              <a:rPr lang="en-US" dirty="0" err="1"/>
              <a:t>yo</a:t>
            </a:r>
            <a:r>
              <a:rPr lang="en-US" dirty="0"/>
              <a:t> male, no known ASCVD, HF, or CKD.</a:t>
            </a:r>
          </a:p>
          <a:p>
            <a:pPr marL="323850" indent="-323850" defTabSz="1300162">
              <a:spcBef>
                <a:spcPts val="700"/>
              </a:spcBef>
              <a:buChar char="•"/>
              <a:defRPr sz="4500">
                <a:latin typeface="Arial"/>
                <a:ea typeface="Arial"/>
                <a:cs typeface="Arial"/>
                <a:sym typeface="Arial"/>
              </a:defRPr>
            </a:pPr>
            <a:r>
              <a:rPr lang="en-US" dirty="0"/>
              <a:t>8/1- blood glucose 170 fasting, A1c: 7.4%</a:t>
            </a:r>
          </a:p>
          <a:p>
            <a:pPr marL="323850" indent="-323850" defTabSz="1300162">
              <a:spcBef>
                <a:spcPts val="700"/>
              </a:spcBef>
              <a:buChar char="•"/>
              <a:defRPr sz="4500">
                <a:latin typeface="Arial"/>
                <a:ea typeface="Arial"/>
                <a:cs typeface="Arial"/>
                <a:sym typeface="Arial"/>
              </a:defRPr>
            </a:pPr>
            <a:r>
              <a:rPr lang="en-US" dirty="0"/>
              <a:t>8/20- blood glucose 165 fasting, A1c: 7.2%</a:t>
            </a:r>
          </a:p>
          <a:p>
            <a:pPr marL="323850" indent="-323850" defTabSz="1300162">
              <a:spcBef>
                <a:spcPts val="700"/>
              </a:spcBef>
              <a:buChar char="•"/>
              <a:defRPr sz="4500">
                <a:latin typeface="Arial"/>
                <a:ea typeface="Arial"/>
                <a:cs typeface="Arial"/>
                <a:sym typeface="Arial"/>
              </a:defRPr>
            </a:pPr>
            <a:r>
              <a:rPr lang="en-US" dirty="0"/>
              <a:t>History/PE Taken today:</a:t>
            </a:r>
          </a:p>
          <a:p>
            <a:pPr marL="1062729" lvl="1" indent="-323850" defTabSz="1300162">
              <a:spcBef>
                <a:spcPts val="700"/>
              </a:spcBef>
              <a:buChar char="•"/>
              <a:defRPr sz="4500">
                <a:latin typeface="Arial"/>
                <a:ea typeface="Arial"/>
                <a:cs typeface="Arial"/>
                <a:sym typeface="Arial"/>
              </a:defRPr>
            </a:pPr>
            <a:r>
              <a:rPr lang="en-US" dirty="0"/>
              <a:t> He was also noted on </a:t>
            </a:r>
            <a:r>
              <a:rPr lang="en-US" dirty="0" err="1"/>
              <a:t>labwork</a:t>
            </a:r>
            <a:r>
              <a:rPr lang="en-US" dirty="0"/>
              <a:t> to have HLD for which you will need to treat and is considered obese. </a:t>
            </a:r>
            <a:endParaRPr dirty="0"/>
          </a:p>
        </p:txBody>
      </p:sp>
    </p:spTree>
    <p:extLst>
      <p:ext uri="{BB962C8B-B14F-4D97-AF65-F5344CB8AC3E}">
        <p14:creationId xmlns:p14="http://schemas.microsoft.com/office/powerpoint/2010/main" val="169658217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5" name="Shape 745"/>
          <p:cNvSpPr>
            <a:spLocks noGrp="1"/>
          </p:cNvSpPr>
          <p:nvPr>
            <p:ph type="title" idx="4294967295"/>
          </p:nvPr>
        </p:nvSpPr>
        <p:spPr>
          <a:xfrm>
            <a:off x="649287" y="107950"/>
            <a:ext cx="11704638" cy="1192213"/>
          </a:xfrm>
          <a:prstGeom prst="rect">
            <a:avLst/>
          </a:prstGeom>
        </p:spPr>
        <p:txBody>
          <a:bodyPr lIns="72248" tIns="72248" rIns="72248" bIns="72248" anchor="ctr">
            <a:normAutofit/>
          </a:bodyPr>
          <a:lstStyle>
            <a:lvl1pPr defTabSz="1300162">
              <a:defRPr sz="6200">
                <a:latin typeface="Arial"/>
                <a:ea typeface="Arial"/>
                <a:cs typeface="Arial"/>
                <a:sym typeface="Arial"/>
              </a:defRPr>
            </a:lvl1pPr>
          </a:lstStyle>
          <a:p>
            <a:pPr>
              <a:buNone/>
            </a:pPr>
            <a:r>
              <a:rPr lang="en-US" dirty="0">
                <a:highlight>
                  <a:srgbClr val="FFFF00"/>
                </a:highlight>
              </a:rPr>
              <a:t>Case Study #2</a:t>
            </a:r>
            <a:endParaRPr dirty="0">
              <a:highlight>
                <a:srgbClr val="FFFF00"/>
              </a:highlight>
            </a:endParaRPr>
          </a:p>
        </p:txBody>
      </p:sp>
      <p:sp>
        <p:nvSpPr>
          <p:cNvPr id="746" name="Shape 746"/>
          <p:cNvSpPr>
            <a:spLocks noGrp="1"/>
          </p:cNvSpPr>
          <p:nvPr>
            <p:ph type="body" idx="4294967295"/>
          </p:nvPr>
        </p:nvSpPr>
        <p:spPr>
          <a:xfrm>
            <a:off x="215900" y="1516062"/>
            <a:ext cx="12571413" cy="8128001"/>
          </a:xfrm>
          <a:prstGeom prst="rect">
            <a:avLst/>
          </a:prstGeom>
        </p:spPr>
        <p:txBody>
          <a:bodyPr lIns="72248" tIns="72248" rIns="72248" bIns="72248">
            <a:normAutofit/>
          </a:bodyPr>
          <a:lstStyle/>
          <a:p>
            <a:pPr>
              <a:buNone/>
            </a:pPr>
            <a:r>
              <a:rPr lang="en-US" sz="4300" b="1" dirty="0">
                <a:latin typeface="Arial" panose="020B0604020202020204" pitchFamily="34" charset="0"/>
                <a:cs typeface="Arial" panose="020B0604020202020204" pitchFamily="34" charset="0"/>
              </a:rPr>
              <a:t>Heather is a 67-year-old woman with T2DM x 2 years, taking metformin 1000 mg BID.</a:t>
            </a:r>
            <a:endParaRPr lang="en-US" sz="4300" dirty="0">
              <a:latin typeface="Arial" panose="020B0604020202020204" pitchFamily="34" charset="0"/>
              <a:cs typeface="Arial" panose="020B0604020202020204" pitchFamily="34" charset="0"/>
            </a:endParaRPr>
          </a:p>
          <a:p>
            <a:r>
              <a:rPr lang="en-US" sz="4300" dirty="0">
                <a:latin typeface="Arial" panose="020B0604020202020204" pitchFamily="34" charset="0"/>
                <a:cs typeface="Arial" panose="020B0604020202020204" pitchFamily="34" charset="0"/>
              </a:rPr>
              <a:t>3 months ago: A1C 7.6%</a:t>
            </a:r>
          </a:p>
          <a:p>
            <a:r>
              <a:rPr lang="en-US" sz="4300" dirty="0">
                <a:latin typeface="Arial" panose="020B0604020202020204" pitchFamily="34" charset="0"/>
                <a:cs typeface="Arial" panose="020B0604020202020204" pitchFamily="34" charset="0"/>
              </a:rPr>
              <a:t>Counseled regarding nutrition and exercise</a:t>
            </a:r>
          </a:p>
          <a:p>
            <a:r>
              <a:rPr lang="en-US" sz="4300" dirty="0">
                <a:latin typeface="Arial" panose="020B0604020202020204" pitchFamily="34" charset="0"/>
                <a:cs typeface="Arial" panose="020B0604020202020204" pitchFamily="34" charset="0"/>
              </a:rPr>
              <a:t>Today: A1C 7.9% despite adherence to lifestyle changes and medication</a:t>
            </a:r>
          </a:p>
          <a:p>
            <a:pPr>
              <a:buNone/>
            </a:pPr>
            <a:r>
              <a:rPr lang="en-US" sz="4300" b="1" dirty="0">
                <a:latin typeface="Arial" panose="020B0604020202020204" pitchFamily="34" charset="0"/>
                <a:cs typeface="Arial" panose="020B0604020202020204" pitchFamily="34" charset="0"/>
              </a:rPr>
              <a:t>What additional history do you need before choosing her next medication?</a:t>
            </a:r>
            <a:endParaRPr lang="en-US" sz="4300" dirty="0">
              <a:latin typeface="Arial" panose="020B0604020202020204" pitchFamily="34" charset="0"/>
              <a:cs typeface="Arial" panose="020B0604020202020204" pitchFamily="34" charset="0"/>
            </a:endParaRPr>
          </a:p>
          <a:p>
            <a:pPr marL="323850" indent="-323850" defTabSz="1300162">
              <a:spcBef>
                <a:spcPts val="700"/>
              </a:spcBef>
              <a:buChar char="•"/>
              <a:defRPr sz="4500">
                <a:latin typeface="Arial"/>
                <a:ea typeface="Arial"/>
                <a:cs typeface="Arial"/>
                <a:sym typeface="Arial"/>
              </a:defRPr>
            </a:pPr>
            <a:endParaRPr dirty="0"/>
          </a:p>
        </p:txBody>
      </p:sp>
    </p:spTree>
    <p:extLst>
      <p:ext uri="{BB962C8B-B14F-4D97-AF65-F5344CB8AC3E}">
        <p14:creationId xmlns:p14="http://schemas.microsoft.com/office/powerpoint/2010/main" val="16878397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5" name="Shape 745"/>
          <p:cNvSpPr>
            <a:spLocks noGrp="1"/>
          </p:cNvSpPr>
          <p:nvPr>
            <p:ph type="title" idx="4294967295"/>
          </p:nvPr>
        </p:nvSpPr>
        <p:spPr>
          <a:xfrm>
            <a:off x="649287" y="107950"/>
            <a:ext cx="11704638" cy="1192213"/>
          </a:xfrm>
          <a:prstGeom prst="rect">
            <a:avLst/>
          </a:prstGeom>
        </p:spPr>
        <p:txBody>
          <a:bodyPr lIns="72248" tIns="72248" rIns="72248" bIns="72248" anchor="ctr">
            <a:normAutofit/>
          </a:bodyPr>
          <a:lstStyle>
            <a:lvl1pPr defTabSz="1300162">
              <a:defRPr sz="6200">
                <a:latin typeface="Arial"/>
                <a:ea typeface="Arial"/>
                <a:cs typeface="Arial"/>
                <a:sym typeface="Arial"/>
              </a:defRPr>
            </a:lvl1pPr>
          </a:lstStyle>
          <a:p>
            <a:pPr>
              <a:buNone/>
            </a:pPr>
            <a:r>
              <a:rPr lang="en-US" dirty="0">
                <a:highlight>
                  <a:srgbClr val="FFFF00"/>
                </a:highlight>
              </a:rPr>
              <a:t>Case Study #3</a:t>
            </a:r>
            <a:endParaRPr dirty="0">
              <a:highlight>
                <a:srgbClr val="FFFF00"/>
              </a:highlight>
            </a:endParaRPr>
          </a:p>
        </p:txBody>
      </p:sp>
      <p:sp>
        <p:nvSpPr>
          <p:cNvPr id="746" name="Shape 746"/>
          <p:cNvSpPr>
            <a:spLocks noGrp="1"/>
          </p:cNvSpPr>
          <p:nvPr>
            <p:ph type="body" idx="4294967295"/>
          </p:nvPr>
        </p:nvSpPr>
        <p:spPr>
          <a:xfrm>
            <a:off x="215900" y="1516062"/>
            <a:ext cx="12571413" cy="8128001"/>
          </a:xfrm>
          <a:prstGeom prst="rect">
            <a:avLst/>
          </a:prstGeom>
        </p:spPr>
        <p:txBody>
          <a:bodyPr lIns="72248" tIns="72248" rIns="72248" bIns="72248">
            <a:normAutofit/>
          </a:bodyPr>
          <a:lstStyle/>
          <a:p>
            <a:pPr>
              <a:buNone/>
            </a:pPr>
            <a:r>
              <a:rPr lang="en-US" b="1" dirty="0">
                <a:latin typeface="Arial" panose="020B0604020202020204" pitchFamily="34" charset="0"/>
                <a:cs typeface="Arial" panose="020B0604020202020204" pitchFamily="34" charset="0"/>
              </a:rPr>
              <a:t>Richard is a 68-year-old man with T2DM x 5 years taking:</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Metformin 1000 mg BID</a:t>
            </a:r>
          </a:p>
          <a:p>
            <a:r>
              <a:rPr lang="en-US" dirty="0">
                <a:latin typeface="Arial" panose="020B0604020202020204" pitchFamily="34" charset="0"/>
                <a:cs typeface="Arial" panose="020B0604020202020204" pitchFamily="34" charset="0"/>
              </a:rPr>
              <a:t>Glimepiride (Amaryl) 4 mg daily</a:t>
            </a:r>
          </a:p>
          <a:p>
            <a:r>
              <a:rPr lang="en-US" dirty="0" err="1">
                <a:latin typeface="Arial" panose="020B0604020202020204" pitchFamily="34" charset="0"/>
                <a:cs typeface="Arial" panose="020B0604020202020204" pitchFamily="34" charset="0"/>
              </a:rPr>
              <a:t>Saxagliptin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Onglyza</a:t>
            </a:r>
            <a:r>
              <a:rPr lang="en-US" dirty="0">
                <a:latin typeface="Arial" panose="020B0604020202020204" pitchFamily="34" charset="0"/>
                <a:cs typeface="Arial" panose="020B0604020202020204" pitchFamily="34" charset="0"/>
              </a:rPr>
              <a:t>) 5 mg daily</a:t>
            </a:r>
          </a:p>
          <a:p>
            <a:pPr>
              <a:buNone/>
            </a:pPr>
            <a:r>
              <a:rPr lang="en-US" b="1" dirty="0">
                <a:latin typeface="Arial" panose="020B0604020202020204" pitchFamily="34" charset="0"/>
                <a:cs typeface="Arial" panose="020B0604020202020204" pitchFamily="34" charset="0"/>
              </a:rPr>
              <a:t>A1C: 7.3%</a:t>
            </a:r>
            <a:endParaRPr lang="en-US" dirty="0">
              <a:latin typeface="Arial" panose="020B0604020202020204" pitchFamily="34" charset="0"/>
              <a:cs typeface="Arial" panose="020B0604020202020204" pitchFamily="34" charset="0"/>
            </a:endParaRPr>
          </a:p>
          <a:p>
            <a:pPr>
              <a:buNone/>
            </a:pPr>
            <a:r>
              <a:rPr lang="en-US" dirty="0">
                <a:latin typeface="Arial" panose="020B0604020202020204" pitchFamily="34" charset="0"/>
                <a:cs typeface="Arial" panose="020B0604020202020204" pitchFamily="34" charset="0"/>
              </a:rPr>
              <a:t>He reports </a:t>
            </a:r>
            <a:r>
              <a:rPr lang="en-US" b="1" dirty="0">
                <a:latin typeface="Arial" panose="020B0604020202020204" pitchFamily="34" charset="0"/>
                <a:cs typeface="Arial" panose="020B0604020202020204" pitchFamily="34" charset="0"/>
              </a:rPr>
              <a:t>3 episodes of hypoglycemia in the last month.</a:t>
            </a:r>
            <a:endParaRPr lang="en-US" dirty="0">
              <a:latin typeface="Arial" panose="020B0604020202020204" pitchFamily="34" charset="0"/>
              <a:cs typeface="Arial" panose="020B0604020202020204" pitchFamily="34" charset="0"/>
            </a:endParaRPr>
          </a:p>
          <a:p>
            <a:pPr marL="323850" indent="-323850" defTabSz="1300162">
              <a:spcBef>
                <a:spcPts val="700"/>
              </a:spcBef>
              <a:buChar char="•"/>
              <a:defRPr sz="4500">
                <a:latin typeface="Arial"/>
                <a:ea typeface="Arial"/>
                <a:cs typeface="Arial"/>
                <a:sym typeface="Arial"/>
              </a:defRPr>
            </a:pPr>
            <a:endParaRPr lang="en-US" dirty="0"/>
          </a:p>
          <a:p>
            <a:pPr marL="323850" indent="-323850" defTabSz="1300162">
              <a:spcBef>
                <a:spcPts val="700"/>
              </a:spcBef>
              <a:buChar char="•"/>
              <a:defRPr sz="4500">
                <a:latin typeface="Arial"/>
                <a:ea typeface="Arial"/>
                <a:cs typeface="Arial"/>
                <a:sym typeface="Arial"/>
              </a:defRPr>
            </a:pPr>
            <a:endParaRPr dirty="0"/>
          </a:p>
        </p:txBody>
      </p:sp>
    </p:spTree>
    <p:extLst>
      <p:ext uri="{BB962C8B-B14F-4D97-AF65-F5344CB8AC3E}">
        <p14:creationId xmlns:p14="http://schemas.microsoft.com/office/powerpoint/2010/main" val="207382017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1681FE-3A13-0004-9B72-13AC63A3D1FB}"/>
            </a:ext>
          </a:extLst>
        </p:cNvPr>
        <p:cNvGrpSpPr/>
        <p:nvPr/>
      </p:nvGrpSpPr>
      <p:grpSpPr>
        <a:xfrm>
          <a:off x="0" y="0"/>
          <a:ext cx="0" cy="0"/>
          <a:chOff x="0" y="0"/>
          <a:chExt cx="0" cy="0"/>
        </a:xfrm>
      </p:grpSpPr>
      <p:sp>
        <p:nvSpPr>
          <p:cNvPr id="745" name="Shape 745">
            <a:extLst>
              <a:ext uri="{FF2B5EF4-FFF2-40B4-BE49-F238E27FC236}">
                <a16:creationId xmlns:a16="http://schemas.microsoft.com/office/drawing/2014/main" id="{E32DB9DF-51AA-F5E3-325A-235B07A3E6F5}"/>
              </a:ext>
            </a:extLst>
          </p:cNvPr>
          <p:cNvSpPr>
            <a:spLocks noGrp="1"/>
          </p:cNvSpPr>
          <p:nvPr>
            <p:ph type="title" idx="4294967295"/>
          </p:nvPr>
        </p:nvSpPr>
        <p:spPr>
          <a:xfrm>
            <a:off x="649287" y="107950"/>
            <a:ext cx="11704638" cy="1192213"/>
          </a:xfrm>
          <a:prstGeom prst="rect">
            <a:avLst/>
          </a:prstGeom>
        </p:spPr>
        <p:txBody>
          <a:bodyPr lIns="72248" tIns="72248" rIns="72248" bIns="72248" anchor="ctr">
            <a:normAutofit/>
          </a:bodyPr>
          <a:lstStyle>
            <a:lvl1pPr defTabSz="1300162">
              <a:defRPr sz="6200">
                <a:latin typeface="Arial"/>
                <a:ea typeface="Arial"/>
                <a:cs typeface="Arial"/>
                <a:sym typeface="Arial"/>
              </a:defRPr>
            </a:lvl1pPr>
          </a:lstStyle>
          <a:p>
            <a:pPr>
              <a:buNone/>
            </a:pPr>
            <a:r>
              <a:rPr lang="en-US" dirty="0">
                <a:highlight>
                  <a:srgbClr val="FFFF00"/>
                </a:highlight>
              </a:rPr>
              <a:t>Case Study #4</a:t>
            </a:r>
            <a:endParaRPr dirty="0">
              <a:highlight>
                <a:srgbClr val="FFFF00"/>
              </a:highlight>
            </a:endParaRPr>
          </a:p>
        </p:txBody>
      </p:sp>
      <p:sp>
        <p:nvSpPr>
          <p:cNvPr id="746" name="Shape 746">
            <a:extLst>
              <a:ext uri="{FF2B5EF4-FFF2-40B4-BE49-F238E27FC236}">
                <a16:creationId xmlns:a16="http://schemas.microsoft.com/office/drawing/2014/main" id="{970AF258-E6B5-BF4A-2854-B3B1028C783B}"/>
              </a:ext>
            </a:extLst>
          </p:cNvPr>
          <p:cNvSpPr>
            <a:spLocks noGrp="1"/>
          </p:cNvSpPr>
          <p:nvPr>
            <p:ph type="body" idx="4294967295"/>
          </p:nvPr>
        </p:nvSpPr>
        <p:spPr>
          <a:xfrm>
            <a:off x="215900" y="1516062"/>
            <a:ext cx="12571413" cy="8128001"/>
          </a:xfrm>
          <a:prstGeom prst="rect">
            <a:avLst/>
          </a:prstGeom>
        </p:spPr>
        <p:txBody>
          <a:bodyPr lIns="72248" tIns="72248" rIns="72248" bIns="72248">
            <a:normAutofit/>
          </a:bodyPr>
          <a:lstStyle/>
          <a:p>
            <a:pPr>
              <a:buNone/>
            </a:pPr>
            <a:r>
              <a:rPr lang="en-US" b="1" dirty="0">
                <a:latin typeface="Arial" panose="020B0604020202020204" pitchFamily="34" charset="0"/>
                <a:cs typeface="Arial" panose="020B0604020202020204" pitchFamily="34" charset="0"/>
              </a:rPr>
              <a:t>Maria is a 46-year-old woman with newly diagnosed T2DM.</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A1C </a:t>
            </a:r>
            <a:r>
              <a:rPr lang="en-US" b="1" dirty="0">
                <a:latin typeface="Arial" panose="020B0604020202020204" pitchFamily="34" charset="0"/>
                <a:cs typeface="Arial" panose="020B0604020202020204" pitchFamily="34" charset="0"/>
              </a:rPr>
              <a:t>11.4%</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Fasting glucose </a:t>
            </a:r>
            <a:r>
              <a:rPr lang="en-US" b="1" dirty="0">
                <a:latin typeface="Arial" panose="020B0604020202020204" pitchFamily="34" charset="0"/>
                <a:cs typeface="Arial" panose="020B0604020202020204" pitchFamily="34" charset="0"/>
              </a:rPr>
              <a:t>326 mg/dL</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Reports polyuria, polydipsia, fatigue, and </a:t>
            </a:r>
            <a:r>
              <a:rPr lang="en-US" b="1" dirty="0">
                <a:latin typeface="Arial" panose="020B0604020202020204" pitchFamily="34" charset="0"/>
                <a:cs typeface="Arial" panose="020B0604020202020204" pitchFamily="34" charset="0"/>
              </a:rPr>
              <a:t>12-lb unintentional weight loss</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No known ASCVD, HF, or CKD</a:t>
            </a:r>
          </a:p>
          <a:p>
            <a:pPr marL="323850" indent="-323850" defTabSz="1300162">
              <a:spcBef>
                <a:spcPts val="700"/>
              </a:spcBef>
              <a:buChar char="•"/>
              <a:defRPr sz="4500">
                <a:latin typeface="Arial"/>
                <a:ea typeface="Arial"/>
                <a:cs typeface="Arial"/>
                <a:sym typeface="Arial"/>
              </a:defRPr>
            </a:pPr>
            <a:endParaRPr lang="en-US" dirty="0"/>
          </a:p>
          <a:p>
            <a:pPr marL="323850" indent="-323850" defTabSz="1300162">
              <a:spcBef>
                <a:spcPts val="700"/>
              </a:spcBef>
              <a:buChar char="•"/>
              <a:defRPr sz="4500">
                <a:latin typeface="Arial"/>
                <a:ea typeface="Arial"/>
                <a:cs typeface="Arial"/>
                <a:sym typeface="Arial"/>
              </a:defRPr>
            </a:pPr>
            <a:endParaRPr dirty="0"/>
          </a:p>
        </p:txBody>
      </p:sp>
    </p:spTree>
    <p:extLst>
      <p:ext uri="{BB962C8B-B14F-4D97-AF65-F5344CB8AC3E}">
        <p14:creationId xmlns:p14="http://schemas.microsoft.com/office/powerpoint/2010/main" val="1744459099"/>
      </p:ext>
    </p:extLst>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095CC4"/>
      </a:accent1>
      <a:accent2>
        <a:srgbClr val="1B8518"/>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Noteworthy Bold"/>
        <a:ea typeface="Noteworthy Bold"/>
        <a:cs typeface="Noteworthy Bold"/>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9" tIns="45719" rIns="45719" bIns="45719" numCol="1" spcCol="38100" rtlCol="0" anchor="t">
        <a:spAutoFit/>
      </a:bodyPr>
      <a:lstStyle>
        <a:defPPr marL="0" marR="0" indent="0" algn="l" defTabSz="584200" rtl="0" fontAlgn="auto" latinLnBrk="0" hangingPunct="0">
          <a:lnSpc>
            <a:spcPct val="100000"/>
          </a:lnSpc>
          <a:spcBef>
            <a:spcPts val="0"/>
          </a:spcBef>
          <a:spcAft>
            <a:spcPts val="0"/>
          </a:spcAft>
          <a:buClr>
            <a:srgbClr val="000000"/>
          </a:buClr>
          <a:buSzPct val="100000"/>
          <a:buFont typeface="Arial"/>
          <a:buChar char="–"/>
          <a:tabLst/>
          <a:defRPr kumimoji="0" sz="3600" b="0" i="0" u="none" strike="noStrike" cap="none" spc="0" normalizeH="0" baseline="0">
            <a:ln>
              <a:noFill/>
            </a:ln>
            <a:solidFill>
              <a:srgbClr val="000000"/>
            </a:solidFill>
            <a:effectLst/>
            <a:uFillTx/>
            <a:latin typeface="Helvetica Light"/>
            <a:ea typeface="Helvetica Light"/>
            <a:cs typeface="Helvetica Light"/>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584200" rtl="0" fontAlgn="auto" latinLnBrk="0" hangingPunct="0">
          <a:lnSpc>
            <a:spcPct val="100000"/>
          </a:lnSpc>
          <a:spcBef>
            <a:spcPts val="0"/>
          </a:spcBef>
          <a:spcAft>
            <a:spcPts val="0"/>
          </a:spcAft>
          <a:buClr>
            <a:srgbClr val="000000"/>
          </a:buClr>
          <a:buSzPct val="100000"/>
          <a:buFont typeface="Arial"/>
          <a:buChar char="–"/>
          <a:tabLst/>
          <a:defRPr kumimoji="0" sz="3600" b="0" i="0" u="none" strike="noStrike" cap="none" spc="0" normalizeH="0" baseline="0">
            <a:ln>
              <a:noFill/>
            </a:ln>
            <a:solidFill>
              <a:srgbClr val="000000"/>
            </a:solidFill>
            <a:effectLst/>
            <a:uFillTx/>
            <a:latin typeface="Helvetica Light"/>
            <a:ea typeface="Helvetica Light"/>
            <a:cs typeface="Helvetica Light"/>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572E2D"/>
      </a:dk1>
      <a:lt1>
        <a:srgbClr val="2A5657"/>
      </a:lt1>
      <a:dk2>
        <a:srgbClr val="A7A7A7"/>
      </a:dk2>
      <a:lt2>
        <a:srgbClr val="535353"/>
      </a:lt2>
      <a:accent1>
        <a:srgbClr val="095CC4"/>
      </a:accent1>
      <a:accent2>
        <a:srgbClr val="1B8518"/>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Noteworthy Bold"/>
        <a:ea typeface="Noteworthy Bold"/>
        <a:cs typeface="Noteworthy Bold"/>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9" tIns="45719" rIns="45719" bIns="45719" numCol="1" spcCol="38100" rtlCol="0" anchor="t">
        <a:spAutoFit/>
      </a:bodyPr>
      <a:lstStyle>
        <a:defPPr marL="0" marR="0" indent="0" algn="l" defTabSz="584200" rtl="0" fontAlgn="auto" latinLnBrk="0" hangingPunct="0">
          <a:lnSpc>
            <a:spcPct val="100000"/>
          </a:lnSpc>
          <a:spcBef>
            <a:spcPts val="0"/>
          </a:spcBef>
          <a:spcAft>
            <a:spcPts val="0"/>
          </a:spcAft>
          <a:buClr>
            <a:srgbClr val="000000"/>
          </a:buClr>
          <a:buSzPct val="100000"/>
          <a:buFont typeface="Arial"/>
          <a:buChar char="–"/>
          <a:tabLst/>
          <a:defRPr kumimoji="0" sz="3600" b="0" i="0" u="none" strike="noStrike" cap="none" spc="0" normalizeH="0" baseline="0">
            <a:ln>
              <a:noFill/>
            </a:ln>
            <a:solidFill>
              <a:srgbClr val="000000"/>
            </a:solidFill>
            <a:effectLst/>
            <a:uFillTx/>
            <a:latin typeface="Helvetica Light"/>
            <a:ea typeface="Helvetica Light"/>
            <a:cs typeface="Helvetica Light"/>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584200" rtl="0" fontAlgn="auto" latinLnBrk="0" hangingPunct="0">
          <a:lnSpc>
            <a:spcPct val="100000"/>
          </a:lnSpc>
          <a:spcBef>
            <a:spcPts val="0"/>
          </a:spcBef>
          <a:spcAft>
            <a:spcPts val="0"/>
          </a:spcAft>
          <a:buClr>
            <a:srgbClr val="000000"/>
          </a:buClr>
          <a:buSzPct val="100000"/>
          <a:buFont typeface="Arial"/>
          <a:buChar char="–"/>
          <a:tabLst/>
          <a:defRPr kumimoji="0" sz="3600" b="0" i="0" u="none" strike="noStrike" cap="none" spc="0" normalizeH="0" baseline="0">
            <a:ln>
              <a:noFill/>
            </a:ln>
            <a:solidFill>
              <a:srgbClr val="000000"/>
            </a:solidFill>
            <a:effectLst/>
            <a:uFillTx/>
            <a:latin typeface="Helvetica Light"/>
            <a:ea typeface="Helvetica Light"/>
            <a:cs typeface="Helvetica Light"/>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0</TotalTime>
  <Words>5238</Words>
  <Application>Microsoft Office PowerPoint</Application>
  <PresentationFormat>Custom</PresentationFormat>
  <Paragraphs>733</Paragraphs>
  <Slides>100</Slides>
  <Notes>41</Notes>
  <HiddenSlides>0</HiddenSlides>
  <MMClips>0</MMClips>
  <ScaleCrop>false</ScaleCrop>
  <HeadingPairs>
    <vt:vector size="4" baseType="variant">
      <vt:variant>
        <vt:lpstr>Theme</vt:lpstr>
      </vt:variant>
      <vt:variant>
        <vt:i4>1</vt:i4>
      </vt:variant>
      <vt:variant>
        <vt:lpstr>Slide Titles</vt:lpstr>
      </vt:variant>
      <vt:variant>
        <vt:i4>100</vt:i4>
      </vt:variant>
    </vt:vector>
  </HeadingPairs>
  <TitlesOfParts>
    <vt:vector size="101" baseType="lpstr">
      <vt:lpstr>Office Theme</vt:lpstr>
      <vt:lpstr>Pharmacology of Diabetes Mellitus</vt:lpstr>
      <vt:lpstr>DAWN and DAWN2: large international studies surveying patients, their families and their clinicians</vt:lpstr>
      <vt:lpstr>Motivational Interviewing</vt:lpstr>
      <vt:lpstr>Motivational Interviewing</vt:lpstr>
      <vt:lpstr>Motivational Interviewing</vt:lpstr>
      <vt:lpstr>Diabetes Self Management, Education and Support</vt:lpstr>
      <vt:lpstr>Diabetes Treatment- Monitoring Equipment</vt:lpstr>
      <vt:lpstr>Diabetes Treatment- Monitoring Equipment</vt:lpstr>
      <vt:lpstr>Diabetes Treatment Goals</vt:lpstr>
      <vt:lpstr>Diabetes Treatment Goals</vt:lpstr>
      <vt:lpstr>Antidiabetic Pharm Classes</vt:lpstr>
      <vt:lpstr>Biguanides</vt:lpstr>
      <vt:lpstr>Metformin (Glucophage)</vt:lpstr>
      <vt:lpstr>Metformin (Glucophage)</vt:lpstr>
      <vt:lpstr>Metformin:  Advantages</vt:lpstr>
      <vt:lpstr>Metformin: Side Effects</vt:lpstr>
      <vt:lpstr>Metformin:  Clinical Considerations</vt:lpstr>
      <vt:lpstr>Incretin Therapy</vt:lpstr>
      <vt:lpstr>Incretin Therapy</vt:lpstr>
      <vt:lpstr>Incretin Therapy</vt:lpstr>
      <vt:lpstr>Incretion Therapy: GLP-1 Receptor Agonists</vt:lpstr>
      <vt:lpstr>GLP-1 Receptor Agonists, MOA</vt:lpstr>
      <vt:lpstr>GLP-1 Receptor Agonists</vt:lpstr>
      <vt:lpstr>GLP-1 RA: A1C + Renal Function</vt:lpstr>
      <vt:lpstr>GLP-1 Receptor Agonists: Adverse Effects</vt:lpstr>
      <vt:lpstr>PowerPoint Presentation</vt:lpstr>
      <vt:lpstr>PowerPoint Presentation</vt:lpstr>
      <vt:lpstr>PowerPoint Presentation</vt:lpstr>
      <vt:lpstr>Incretion Therapy: Dual GIP/GLP-1</vt:lpstr>
      <vt:lpstr>Dual GIP/GLP-1 Receptor Agonist</vt:lpstr>
      <vt:lpstr>Incretin Therapy: DPP-4 Inhibitors</vt:lpstr>
      <vt:lpstr>DPP-4 Inhibitors</vt:lpstr>
      <vt:lpstr> Choices of DPP-4 Inhibitors</vt:lpstr>
      <vt:lpstr>DPP-4 Inhibitors</vt:lpstr>
      <vt:lpstr>DPP-4 Inhibitors: Adverse Effects</vt:lpstr>
      <vt:lpstr>DPP-4 Inhibitors: Cardiovascular Safety</vt:lpstr>
      <vt:lpstr>DPP-4 Inhibitors + GLP-1 Based Therapy</vt:lpstr>
      <vt:lpstr>SGLT2 Inhibitors</vt:lpstr>
      <vt:lpstr>SGLT2 Inhibitors: Mechanism of Action</vt:lpstr>
      <vt:lpstr>SGLT2- Inhibitors: Indications / Major Clinical Uses</vt:lpstr>
      <vt:lpstr>SGLT2 Inhibitors: Clinical Effects</vt:lpstr>
      <vt:lpstr>SGLT2 Inhibitors: Medications</vt:lpstr>
      <vt:lpstr>SGLT2- Inhibitors Adverse Effects</vt:lpstr>
      <vt:lpstr>SGLT2- Inhibitors: Safety Considerations</vt:lpstr>
      <vt:lpstr>Sulfonylureas</vt:lpstr>
      <vt:lpstr>Sulfonylureas</vt:lpstr>
      <vt:lpstr>Sulfonylureas: Efficacy</vt:lpstr>
      <vt:lpstr>Sulfonylureas: Medications</vt:lpstr>
      <vt:lpstr>Sulfonylurea: Cautions</vt:lpstr>
      <vt:lpstr>Sulfonylurea Overdose</vt:lpstr>
      <vt:lpstr>Thiazolidinediones</vt:lpstr>
      <vt:lpstr>Thiazolidinediones MOA</vt:lpstr>
      <vt:lpstr>Thiazolidinediones: Clinical Effects</vt:lpstr>
      <vt:lpstr>Thiazolidinediones: Adverse Effects</vt:lpstr>
      <vt:lpstr>Meglitinides</vt:lpstr>
      <vt:lpstr>Meglitinides</vt:lpstr>
      <vt:lpstr>Meglitinides: Clinical Effects</vt:lpstr>
      <vt:lpstr>Alpha-glucosidase Inhibitors</vt:lpstr>
      <vt:lpstr>Alpha-glucosidase Inhibitors MOA</vt:lpstr>
      <vt:lpstr>Alpha-glucosidase Inhibitors</vt:lpstr>
      <vt:lpstr>Insulin</vt:lpstr>
      <vt:lpstr>Insulin</vt:lpstr>
      <vt:lpstr>Insulin- A History Lesson</vt:lpstr>
      <vt:lpstr>Insulin- A History Lesson</vt:lpstr>
      <vt:lpstr>PowerPoint Presentation</vt:lpstr>
      <vt:lpstr>Insulin: Storage</vt:lpstr>
      <vt:lpstr>PowerPoint Presentation</vt:lpstr>
      <vt:lpstr>Insulin Therapy</vt:lpstr>
      <vt:lpstr>Insulin</vt:lpstr>
      <vt:lpstr>PowerPoint Presentation</vt:lpstr>
      <vt:lpstr>Mealtime (Prandial) Insulin</vt:lpstr>
      <vt:lpstr>Intermediate-acting (Basal) Insulin</vt:lpstr>
      <vt:lpstr>Long-acting (Basal) Insulin</vt:lpstr>
      <vt:lpstr>Ultra-Long-acting (Basal) Insulin</vt:lpstr>
      <vt:lpstr>Insulin Therapy</vt:lpstr>
      <vt:lpstr>Insulin Therapy</vt:lpstr>
      <vt:lpstr>Insulin Administration: Patient Education</vt:lpstr>
      <vt:lpstr>Sites of Insulin Administration</vt:lpstr>
      <vt:lpstr>PowerPoint Presentation</vt:lpstr>
      <vt:lpstr>Premixed Insulin</vt:lpstr>
      <vt:lpstr>Premixed Insulin</vt:lpstr>
      <vt:lpstr>Complications of Insulin Therapy</vt:lpstr>
      <vt:lpstr>Complications of Insulin Therapy</vt:lpstr>
      <vt:lpstr>Complications of Insulin Therapy</vt:lpstr>
      <vt:lpstr>Diabetic Therapy Guidelines</vt:lpstr>
      <vt:lpstr>T2 DM Treatment Guidelines</vt:lpstr>
      <vt:lpstr>T2DM Treatment – Where do I Start?</vt:lpstr>
      <vt:lpstr>ASCVD: What Do We Mean?</vt:lpstr>
      <vt:lpstr>T2DM Treatment - If No Compelling Comorbidity Drives Therapy</vt:lpstr>
      <vt:lpstr>T2DM Treatment - If No Compelling Comorbidity Drives Therapy</vt:lpstr>
      <vt:lpstr>T2DM Treatment - When to Consider Insulin in T2DM</vt:lpstr>
      <vt:lpstr>T1 DM Treatment Guidelines</vt:lpstr>
      <vt:lpstr>T1DM Treatment: Core Principles</vt:lpstr>
      <vt:lpstr>T1DM Treatment: Insulin</vt:lpstr>
      <vt:lpstr>T1DM Treatment: Starting Insulin</vt:lpstr>
      <vt:lpstr>Case Study #1</vt:lpstr>
      <vt:lpstr>Case Study #1</vt:lpstr>
      <vt:lpstr>Case Study #2</vt:lpstr>
      <vt:lpstr>Case Study #3</vt:lpstr>
      <vt:lpstr>Case Study #4</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23</cp:revision>
  <dcterms:created xsi:type="dcterms:W3CDTF">2024-08-19T20:03:45Z</dcterms:created>
  <dcterms:modified xsi:type="dcterms:W3CDTF">2026-10-04T04:06:47Z</dcterms:modified>
</cp:coreProperties>
</file>