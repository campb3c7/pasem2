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2"/>
  </p:notesMasterIdLst>
  <p:sldIdLst>
    <p:sldId id="473" r:id="rId2"/>
    <p:sldId id="530" r:id="rId3"/>
    <p:sldId id="257" r:id="rId4"/>
    <p:sldId id="562" r:id="rId5"/>
    <p:sldId id="563" r:id="rId6"/>
    <p:sldId id="564" r:id="rId7"/>
    <p:sldId id="565" r:id="rId8"/>
    <p:sldId id="584" r:id="rId9"/>
    <p:sldId id="567" r:id="rId10"/>
    <p:sldId id="568" r:id="rId11"/>
    <p:sldId id="262" r:id="rId12"/>
    <p:sldId id="570" r:id="rId13"/>
    <p:sldId id="478" r:id="rId14"/>
    <p:sldId id="479" r:id="rId15"/>
    <p:sldId id="480" r:id="rId16"/>
    <p:sldId id="483" r:id="rId17"/>
    <p:sldId id="585" r:id="rId18"/>
    <p:sldId id="492" r:id="rId19"/>
    <p:sldId id="276" r:id="rId20"/>
    <p:sldId id="493" r:id="rId21"/>
    <p:sldId id="494" r:id="rId22"/>
    <p:sldId id="534" r:id="rId23"/>
    <p:sldId id="495" r:id="rId24"/>
    <p:sldId id="496" r:id="rId25"/>
    <p:sldId id="499" r:id="rId26"/>
    <p:sldId id="500" r:id="rId27"/>
    <p:sldId id="583" r:id="rId28"/>
    <p:sldId id="536" r:id="rId29"/>
    <p:sldId id="506" r:id="rId30"/>
    <p:sldId id="504" r:id="rId31"/>
    <p:sldId id="507" r:id="rId32"/>
    <p:sldId id="509" r:id="rId33"/>
    <p:sldId id="548" r:id="rId34"/>
    <p:sldId id="511" r:id="rId35"/>
    <p:sldId id="513" r:id="rId36"/>
    <p:sldId id="512" r:id="rId37"/>
    <p:sldId id="514" r:id="rId38"/>
    <p:sldId id="561" r:id="rId39"/>
    <p:sldId id="515" r:id="rId40"/>
    <p:sldId id="517" r:id="rId41"/>
    <p:sldId id="505" r:id="rId42"/>
    <p:sldId id="293" r:id="rId43"/>
    <p:sldId id="294" r:id="rId44"/>
    <p:sldId id="571" r:id="rId45"/>
    <p:sldId id="520" r:id="rId46"/>
    <p:sldId id="521" r:id="rId47"/>
    <p:sldId id="522" r:id="rId48"/>
    <p:sldId id="523" r:id="rId49"/>
    <p:sldId id="525" r:id="rId50"/>
    <p:sldId id="526" r:id="rId51"/>
    <p:sldId id="529" r:id="rId52"/>
    <p:sldId id="302" r:id="rId53"/>
    <p:sldId id="347" r:id="rId54"/>
    <p:sldId id="303" r:id="rId55"/>
    <p:sldId id="304" r:id="rId56"/>
    <p:sldId id="305" r:id="rId57"/>
    <p:sldId id="306" r:id="rId58"/>
    <p:sldId id="533" r:id="rId59"/>
    <p:sldId id="552" r:id="rId60"/>
    <p:sldId id="553" r:id="rId61"/>
    <p:sldId id="554" r:id="rId62"/>
    <p:sldId id="555" r:id="rId63"/>
    <p:sldId id="586" r:id="rId64"/>
    <p:sldId id="587" r:id="rId65"/>
    <p:sldId id="524" r:id="rId66"/>
    <p:sldId id="312" r:id="rId67"/>
    <p:sldId id="572" r:id="rId68"/>
    <p:sldId id="316" r:id="rId69"/>
    <p:sldId id="537" r:id="rId70"/>
    <p:sldId id="319" r:id="rId71"/>
    <p:sldId id="313" r:id="rId72"/>
    <p:sldId id="538" r:id="rId73"/>
    <p:sldId id="588" r:id="rId74"/>
    <p:sldId id="540" r:id="rId75"/>
    <p:sldId id="539" r:id="rId76"/>
    <p:sldId id="589" r:id="rId77"/>
    <p:sldId id="318" r:id="rId78"/>
    <p:sldId id="590" r:id="rId79"/>
    <p:sldId id="544" r:id="rId80"/>
    <p:sldId id="591" r:id="rId81"/>
    <p:sldId id="580" r:id="rId82"/>
    <p:sldId id="592" r:id="rId83"/>
    <p:sldId id="593" r:id="rId84"/>
    <p:sldId id="594" r:id="rId85"/>
    <p:sldId id="326" r:id="rId86"/>
    <p:sldId id="531" r:id="rId87"/>
    <p:sldId id="327" r:id="rId88"/>
    <p:sldId id="559" r:id="rId89"/>
    <p:sldId id="328" r:id="rId90"/>
    <p:sldId id="329" r:id="rId91"/>
    <p:sldId id="330" r:id="rId92"/>
    <p:sldId id="532" r:id="rId93"/>
    <p:sldId id="595" r:id="rId94"/>
    <p:sldId id="332" r:id="rId95"/>
    <p:sldId id="333" r:id="rId96"/>
    <p:sldId id="335" r:id="rId97"/>
    <p:sldId id="336" r:id="rId98"/>
    <p:sldId id="337" r:id="rId99"/>
    <p:sldId id="338" r:id="rId100"/>
    <p:sldId id="600" r:id="rId101"/>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3EFF"/>
    <a:srgbClr val="F2EDED"/>
    <a:srgbClr val="1547FF"/>
    <a:srgbClr val="4C72FF"/>
    <a:srgbClr val="A3B7FF"/>
    <a:srgbClr val="336F65"/>
    <a:srgbClr val="1E423C"/>
    <a:srgbClr val="E9F5F3"/>
    <a:srgbClr val="C2828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6D27B4-D888-4461-A046-59E5AD600355}" v="66" dt="2026-10-08T18:11:52.0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62" autoAdjust="0"/>
    <p:restoredTop sz="88864" autoAdjust="0"/>
  </p:normalViewPr>
  <p:slideViewPr>
    <p:cSldViewPr snapToGrid="0">
      <p:cViewPr varScale="1">
        <p:scale>
          <a:sx n="74" d="100"/>
          <a:sy n="74" d="100"/>
        </p:scale>
        <p:origin x="1406" y="77"/>
      </p:cViewPr>
      <p:guideLst/>
    </p:cSldViewPr>
  </p:slideViewPr>
  <p:notesTextViewPr>
    <p:cViewPr>
      <p:scale>
        <a:sx n="1" d="1"/>
        <a:sy n="1" d="1"/>
      </p:scale>
      <p:origin x="0" y="0"/>
    </p:cViewPr>
  </p:notesTextViewPr>
  <p:sorterViewPr>
    <p:cViewPr>
      <p:scale>
        <a:sx n="100" d="100"/>
        <a:sy n="100" d="100"/>
      </p:scale>
      <p:origin x="0" y="-37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microsoft.com/office/2016/11/relationships/changesInfo" Target="changesInfos/changesInfo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af, Katrina" userId="8410745d-b711-4d73-a0ac-4defa732a9d4" providerId="ADAL" clId="{645490B2-41E6-4FD1-A251-4FC77EAEF26B}"/>
    <pc:docChg chg="undo custSel addSld delSld modSld sldOrd">
      <pc:chgData name="Raaf, Katrina" userId="8410745d-b711-4d73-a0ac-4defa732a9d4" providerId="ADAL" clId="{645490B2-41E6-4FD1-A251-4FC77EAEF26B}" dt="2026-10-08T18:11:52.021" v="2787"/>
      <pc:docMkLst>
        <pc:docMk/>
      </pc:docMkLst>
      <pc:sldChg chg="modNotesTx">
        <pc:chgData name="Raaf, Katrina" userId="8410745d-b711-4d73-a0ac-4defa732a9d4" providerId="ADAL" clId="{645490B2-41E6-4FD1-A251-4FC77EAEF26B}" dt="2026-10-05T20:03:19.498" v="28" actId="20577"/>
        <pc:sldMkLst>
          <pc:docMk/>
          <pc:sldMk cId="0" sldId="257"/>
        </pc:sldMkLst>
      </pc:sldChg>
      <pc:sldChg chg="modSp mod">
        <pc:chgData name="Raaf, Katrina" userId="8410745d-b711-4d73-a0ac-4defa732a9d4" providerId="ADAL" clId="{645490B2-41E6-4FD1-A251-4FC77EAEF26B}" dt="2026-10-06T17:20:03.920" v="253" actId="20577"/>
        <pc:sldMkLst>
          <pc:docMk/>
          <pc:sldMk cId="0" sldId="262"/>
        </pc:sldMkLst>
        <pc:spChg chg="mod">
          <ac:chgData name="Raaf, Katrina" userId="8410745d-b711-4d73-a0ac-4defa732a9d4" providerId="ADAL" clId="{645490B2-41E6-4FD1-A251-4FC77EAEF26B}" dt="2026-10-06T17:20:03.920" v="253" actId="20577"/>
          <ac:spMkLst>
            <pc:docMk/>
            <pc:sldMk cId="0" sldId="262"/>
            <ac:spMk id="89" creationId="{00000000-0000-0000-0000-000000000000}"/>
          </ac:spMkLst>
        </pc:spChg>
      </pc:sldChg>
      <pc:sldChg chg="modSp mod modNotesTx">
        <pc:chgData name="Raaf, Katrina" userId="8410745d-b711-4d73-a0ac-4defa732a9d4" providerId="ADAL" clId="{645490B2-41E6-4FD1-A251-4FC77EAEF26B}" dt="2026-10-06T17:31:31.741" v="1187" actId="20577"/>
        <pc:sldMkLst>
          <pc:docMk/>
          <pc:sldMk cId="0" sldId="302"/>
        </pc:sldMkLst>
        <pc:spChg chg="mod">
          <ac:chgData name="Raaf, Katrina" userId="8410745d-b711-4d73-a0ac-4defa732a9d4" providerId="ADAL" clId="{645490B2-41E6-4FD1-A251-4FC77EAEF26B}" dt="2026-10-06T17:31:31.741" v="1187" actId="20577"/>
          <ac:spMkLst>
            <pc:docMk/>
            <pc:sldMk cId="0" sldId="302"/>
            <ac:spMk id="357" creationId="{00000000-0000-0000-0000-000000000000}"/>
          </ac:spMkLst>
        </pc:spChg>
      </pc:sldChg>
      <pc:sldChg chg="modSp mod modNotesTx">
        <pc:chgData name="Raaf, Katrina" userId="8410745d-b711-4d73-a0ac-4defa732a9d4" providerId="ADAL" clId="{645490B2-41E6-4FD1-A251-4FC77EAEF26B}" dt="2026-10-06T17:32:17.015" v="1308" actId="20577"/>
        <pc:sldMkLst>
          <pc:docMk/>
          <pc:sldMk cId="0" sldId="305"/>
        </pc:sldMkLst>
        <pc:spChg chg="mod">
          <ac:chgData name="Raaf, Katrina" userId="8410745d-b711-4d73-a0ac-4defa732a9d4" providerId="ADAL" clId="{645490B2-41E6-4FD1-A251-4FC77EAEF26B}" dt="2026-10-06T17:32:17.015" v="1308" actId="20577"/>
          <ac:spMkLst>
            <pc:docMk/>
            <pc:sldMk cId="0" sldId="305"/>
            <ac:spMk id="3" creationId="{E273BF11-4382-D604-02E8-CFB7937C99ED}"/>
          </ac:spMkLst>
        </pc:spChg>
      </pc:sldChg>
      <pc:sldChg chg="del modNotesTx">
        <pc:chgData name="Raaf, Katrina" userId="8410745d-b711-4d73-a0ac-4defa732a9d4" providerId="ADAL" clId="{645490B2-41E6-4FD1-A251-4FC77EAEF26B}" dt="2026-10-08T14:50:44.849" v="2304" actId="47"/>
        <pc:sldMkLst>
          <pc:docMk/>
          <pc:sldMk cId="0" sldId="311"/>
        </pc:sldMkLst>
      </pc:sldChg>
      <pc:sldChg chg="modSp mod modNotesTx">
        <pc:chgData name="Raaf, Katrina" userId="8410745d-b711-4d73-a0ac-4defa732a9d4" providerId="ADAL" clId="{645490B2-41E6-4FD1-A251-4FC77EAEF26B}" dt="2026-10-06T17:34:39.806" v="1603" actId="207"/>
        <pc:sldMkLst>
          <pc:docMk/>
          <pc:sldMk cId="0" sldId="312"/>
        </pc:sldMkLst>
        <pc:spChg chg="mod">
          <ac:chgData name="Raaf, Katrina" userId="8410745d-b711-4d73-a0ac-4defa732a9d4" providerId="ADAL" clId="{645490B2-41E6-4FD1-A251-4FC77EAEF26B}" dt="2026-10-06T17:34:39.806" v="1603" actId="207"/>
          <ac:spMkLst>
            <pc:docMk/>
            <pc:sldMk cId="0" sldId="312"/>
            <ac:spMk id="2" creationId="{31774BD9-4F79-5052-3660-5A3591459E48}"/>
          </ac:spMkLst>
        </pc:spChg>
      </pc:sldChg>
      <pc:sldChg chg="modNotesTx">
        <pc:chgData name="Raaf, Katrina" userId="8410745d-b711-4d73-a0ac-4defa732a9d4" providerId="ADAL" clId="{645490B2-41E6-4FD1-A251-4FC77EAEF26B}" dt="2026-10-05T20:07:49.302" v="116" actId="20577"/>
        <pc:sldMkLst>
          <pc:docMk/>
          <pc:sldMk cId="0" sldId="313"/>
        </pc:sldMkLst>
      </pc:sldChg>
      <pc:sldChg chg="delSp modSp mod delAnim modNotesTx">
        <pc:chgData name="Raaf, Katrina" userId="8410745d-b711-4d73-a0ac-4defa732a9d4" providerId="ADAL" clId="{645490B2-41E6-4FD1-A251-4FC77EAEF26B}" dt="2026-10-06T17:34:53.003" v="1605" actId="113"/>
        <pc:sldMkLst>
          <pc:docMk/>
          <pc:sldMk cId="0" sldId="319"/>
        </pc:sldMkLst>
        <pc:spChg chg="mod">
          <ac:chgData name="Raaf, Katrina" userId="8410745d-b711-4d73-a0ac-4defa732a9d4" providerId="ADAL" clId="{645490B2-41E6-4FD1-A251-4FC77EAEF26B}" dt="2026-10-06T17:34:53.003" v="1605" actId="113"/>
          <ac:spMkLst>
            <pc:docMk/>
            <pc:sldMk cId="0" sldId="319"/>
            <ac:spMk id="467" creationId="{00000000-0000-0000-0000-000000000000}"/>
          </ac:spMkLst>
        </pc:spChg>
      </pc:sldChg>
      <pc:sldChg chg="del">
        <pc:chgData name="Raaf, Katrina" userId="8410745d-b711-4d73-a0ac-4defa732a9d4" providerId="ADAL" clId="{645490B2-41E6-4FD1-A251-4FC77EAEF26B}" dt="2026-10-08T16:27:01.943" v="2374" actId="47"/>
        <pc:sldMkLst>
          <pc:docMk/>
          <pc:sldMk cId="0" sldId="320"/>
        </pc:sldMkLst>
      </pc:sldChg>
      <pc:sldChg chg="modSp del mod modNotesTx">
        <pc:chgData name="Raaf, Katrina" userId="8410745d-b711-4d73-a0ac-4defa732a9d4" providerId="ADAL" clId="{645490B2-41E6-4FD1-A251-4FC77EAEF26B}" dt="2026-10-08T16:27:03.615" v="2375" actId="47"/>
        <pc:sldMkLst>
          <pc:docMk/>
          <pc:sldMk cId="0" sldId="321"/>
        </pc:sldMkLst>
      </pc:sldChg>
      <pc:sldChg chg="addSp delSp modSp del mod modNotesTx">
        <pc:chgData name="Raaf, Katrina" userId="8410745d-b711-4d73-a0ac-4defa732a9d4" providerId="ADAL" clId="{645490B2-41E6-4FD1-A251-4FC77EAEF26B}" dt="2026-10-08T16:27:04.672" v="2376" actId="47"/>
        <pc:sldMkLst>
          <pc:docMk/>
          <pc:sldMk cId="0" sldId="322"/>
        </pc:sldMkLst>
      </pc:sldChg>
      <pc:sldChg chg="modSp del mod modNotesTx">
        <pc:chgData name="Raaf, Katrina" userId="8410745d-b711-4d73-a0ac-4defa732a9d4" providerId="ADAL" clId="{645490B2-41E6-4FD1-A251-4FC77EAEF26B}" dt="2026-10-08T16:27:40.274" v="2468" actId="47"/>
        <pc:sldMkLst>
          <pc:docMk/>
          <pc:sldMk cId="0" sldId="323"/>
        </pc:sldMkLst>
      </pc:sldChg>
      <pc:sldChg chg="del modNotesTx">
        <pc:chgData name="Raaf, Katrina" userId="8410745d-b711-4d73-a0ac-4defa732a9d4" providerId="ADAL" clId="{645490B2-41E6-4FD1-A251-4FC77EAEF26B}" dt="2026-10-08T16:27:42.097" v="2469" actId="47"/>
        <pc:sldMkLst>
          <pc:docMk/>
          <pc:sldMk cId="0" sldId="324"/>
        </pc:sldMkLst>
      </pc:sldChg>
      <pc:sldChg chg="del">
        <pc:chgData name="Raaf, Katrina" userId="8410745d-b711-4d73-a0ac-4defa732a9d4" providerId="ADAL" clId="{645490B2-41E6-4FD1-A251-4FC77EAEF26B}" dt="2026-10-08T16:27:42.896" v="2470" actId="47"/>
        <pc:sldMkLst>
          <pc:docMk/>
          <pc:sldMk cId="0" sldId="325"/>
        </pc:sldMkLst>
      </pc:sldChg>
      <pc:sldChg chg="modNotesTx">
        <pc:chgData name="Raaf, Katrina" userId="8410745d-b711-4d73-a0ac-4defa732a9d4" providerId="ADAL" clId="{645490B2-41E6-4FD1-A251-4FC77EAEF26B}" dt="2026-10-05T20:08:20.261" v="124" actId="20577"/>
        <pc:sldMkLst>
          <pc:docMk/>
          <pc:sldMk cId="0" sldId="326"/>
        </pc:sldMkLst>
      </pc:sldChg>
      <pc:sldChg chg="modSp mod">
        <pc:chgData name="Raaf, Katrina" userId="8410745d-b711-4d73-a0ac-4defa732a9d4" providerId="ADAL" clId="{645490B2-41E6-4FD1-A251-4FC77EAEF26B}" dt="2026-10-06T18:01:54.567" v="2076" actId="114"/>
        <pc:sldMkLst>
          <pc:docMk/>
          <pc:sldMk cId="0" sldId="327"/>
        </pc:sldMkLst>
        <pc:spChg chg="mod">
          <ac:chgData name="Raaf, Katrina" userId="8410745d-b711-4d73-a0ac-4defa732a9d4" providerId="ADAL" clId="{645490B2-41E6-4FD1-A251-4FC77EAEF26B}" dt="2026-10-06T18:01:54.567" v="2076" actId="114"/>
          <ac:spMkLst>
            <pc:docMk/>
            <pc:sldMk cId="0" sldId="327"/>
            <ac:spMk id="516" creationId="{00000000-0000-0000-0000-000000000000}"/>
          </ac:spMkLst>
        </pc:spChg>
      </pc:sldChg>
      <pc:sldChg chg="modNotesTx">
        <pc:chgData name="Raaf, Katrina" userId="8410745d-b711-4d73-a0ac-4defa732a9d4" providerId="ADAL" clId="{645490B2-41E6-4FD1-A251-4FC77EAEF26B}" dt="2026-10-05T20:08:33.103" v="125" actId="20577"/>
        <pc:sldMkLst>
          <pc:docMk/>
          <pc:sldMk cId="0" sldId="330"/>
        </pc:sldMkLst>
      </pc:sldChg>
      <pc:sldChg chg="modSp del mod modNotesTx">
        <pc:chgData name="Raaf, Katrina" userId="8410745d-b711-4d73-a0ac-4defa732a9d4" providerId="ADAL" clId="{645490B2-41E6-4FD1-A251-4FC77EAEF26B}" dt="2026-10-08T17:05:52.987" v="2480" actId="47"/>
        <pc:sldMkLst>
          <pc:docMk/>
          <pc:sldMk cId="0" sldId="331"/>
        </pc:sldMkLst>
        <pc:spChg chg="mod">
          <ac:chgData name="Raaf, Katrina" userId="8410745d-b711-4d73-a0ac-4defa732a9d4" providerId="ADAL" clId="{645490B2-41E6-4FD1-A251-4FC77EAEF26B}" dt="2026-10-08T17:05:45.769" v="2478" actId="20577"/>
          <ac:spMkLst>
            <pc:docMk/>
            <pc:sldMk cId="0" sldId="331"/>
            <ac:spMk id="540" creationId="{00000000-0000-0000-0000-000000000000}"/>
          </ac:spMkLst>
        </pc:spChg>
      </pc:sldChg>
      <pc:sldChg chg="modNotesTx">
        <pc:chgData name="Raaf, Katrina" userId="8410745d-b711-4d73-a0ac-4defa732a9d4" providerId="ADAL" clId="{645490B2-41E6-4FD1-A251-4FC77EAEF26B}" dt="2026-10-05T20:08:40.619" v="127" actId="20577"/>
        <pc:sldMkLst>
          <pc:docMk/>
          <pc:sldMk cId="0" sldId="332"/>
        </pc:sldMkLst>
      </pc:sldChg>
      <pc:sldChg chg="addSp delSp modSp del mod ord">
        <pc:chgData name="Raaf, Katrina" userId="8410745d-b711-4d73-a0ac-4defa732a9d4" providerId="ADAL" clId="{645490B2-41E6-4FD1-A251-4FC77EAEF26B}" dt="2026-10-08T17:08:35.679" v="2785" actId="47"/>
        <pc:sldMkLst>
          <pc:docMk/>
          <pc:sldMk cId="0" sldId="334"/>
        </pc:sldMkLst>
        <pc:spChg chg="del mod">
          <ac:chgData name="Raaf, Katrina" userId="8410745d-b711-4d73-a0ac-4defa732a9d4" providerId="ADAL" clId="{645490B2-41E6-4FD1-A251-4FC77EAEF26B}" dt="2026-10-08T17:06:07.318" v="2488"/>
          <ac:spMkLst>
            <pc:docMk/>
            <pc:sldMk cId="0" sldId="334"/>
            <ac:spMk id="2" creationId="{8919450B-0C7B-708D-79BB-DC9D33A4DFDC}"/>
          </ac:spMkLst>
        </pc:spChg>
        <pc:spChg chg="add mod">
          <ac:chgData name="Raaf, Katrina" userId="8410745d-b711-4d73-a0ac-4defa732a9d4" providerId="ADAL" clId="{645490B2-41E6-4FD1-A251-4FC77EAEF26B}" dt="2026-10-08T17:07:47.438" v="2725" actId="1076"/>
          <ac:spMkLst>
            <pc:docMk/>
            <pc:sldMk cId="0" sldId="334"/>
            <ac:spMk id="3" creationId="{86E90F0D-E622-293F-992E-9695C2A45653}"/>
          </ac:spMkLst>
        </pc:spChg>
        <pc:spChg chg="mod">
          <ac:chgData name="Raaf, Katrina" userId="8410745d-b711-4d73-a0ac-4defa732a9d4" providerId="ADAL" clId="{645490B2-41E6-4FD1-A251-4FC77EAEF26B}" dt="2026-10-08T17:06:56.865" v="2612" actId="5793"/>
          <ac:spMkLst>
            <pc:docMk/>
            <pc:sldMk cId="0" sldId="334"/>
            <ac:spMk id="559" creationId="{00000000-0000-0000-0000-000000000000}"/>
          </ac:spMkLst>
        </pc:spChg>
        <pc:picChg chg="mod">
          <ac:chgData name="Raaf, Katrina" userId="8410745d-b711-4d73-a0ac-4defa732a9d4" providerId="ADAL" clId="{645490B2-41E6-4FD1-A251-4FC77EAEF26B}" dt="2026-10-08T17:06:36.564" v="2558" actId="1076"/>
          <ac:picMkLst>
            <pc:docMk/>
            <pc:sldMk cId="0" sldId="334"/>
            <ac:picMk id="1026" creationId="{C54FCCCB-79A6-13E8-148B-CD0C75001AE9}"/>
          </ac:picMkLst>
        </pc:picChg>
      </pc:sldChg>
      <pc:sldChg chg="addSp delSp modSp mod">
        <pc:chgData name="Raaf, Katrina" userId="8410745d-b711-4d73-a0ac-4defa732a9d4" providerId="ADAL" clId="{645490B2-41E6-4FD1-A251-4FC77EAEF26B}" dt="2026-10-08T17:08:33.919" v="2784" actId="1076"/>
        <pc:sldMkLst>
          <pc:docMk/>
          <pc:sldMk cId="0" sldId="335"/>
        </pc:sldMkLst>
        <pc:spChg chg="add del mod">
          <ac:chgData name="Raaf, Katrina" userId="8410745d-b711-4d73-a0ac-4defa732a9d4" providerId="ADAL" clId="{645490B2-41E6-4FD1-A251-4FC77EAEF26B}" dt="2026-10-08T17:08:29.534" v="2782" actId="20577"/>
          <ac:spMkLst>
            <pc:docMk/>
            <pc:sldMk cId="0" sldId="335"/>
            <ac:spMk id="2" creationId="{D10ED82D-929E-C7BC-4630-99986398D632}"/>
          </ac:spMkLst>
        </pc:spChg>
        <pc:spChg chg="mod">
          <ac:chgData name="Raaf, Katrina" userId="8410745d-b711-4d73-a0ac-4defa732a9d4" providerId="ADAL" clId="{645490B2-41E6-4FD1-A251-4FC77EAEF26B}" dt="2026-10-08T17:07:53.070" v="2728" actId="20577"/>
          <ac:spMkLst>
            <pc:docMk/>
            <pc:sldMk cId="0" sldId="335"/>
            <ac:spMk id="565" creationId="{00000000-0000-0000-0000-000000000000}"/>
          </ac:spMkLst>
        </pc:spChg>
        <pc:graphicFrameChg chg="add del">
          <ac:chgData name="Raaf, Katrina" userId="8410745d-b711-4d73-a0ac-4defa732a9d4" providerId="ADAL" clId="{645490B2-41E6-4FD1-A251-4FC77EAEF26B}" dt="2026-10-08T17:08:06.052" v="2734" actId="26606"/>
          <ac:graphicFrameMkLst>
            <pc:docMk/>
            <pc:sldMk cId="0" sldId="335"/>
            <ac:graphicFrameMk id="567" creationId="{A5A21569-9B34-F72F-EBF5-1F9A08617093}"/>
          </ac:graphicFrameMkLst>
        </pc:graphicFrameChg>
        <pc:picChg chg="add mod">
          <ac:chgData name="Raaf, Katrina" userId="8410745d-b711-4d73-a0ac-4defa732a9d4" providerId="ADAL" clId="{645490B2-41E6-4FD1-A251-4FC77EAEF26B}" dt="2026-10-08T17:08:33.919" v="2784" actId="1076"/>
          <ac:picMkLst>
            <pc:docMk/>
            <pc:sldMk cId="0" sldId="335"/>
            <ac:picMk id="3" creationId="{218A0224-3966-63FB-59E7-64423D542BD4}"/>
          </ac:picMkLst>
        </pc:picChg>
      </pc:sldChg>
      <pc:sldChg chg="modSp mod">
        <pc:chgData name="Raaf, Katrina" userId="8410745d-b711-4d73-a0ac-4defa732a9d4" providerId="ADAL" clId="{645490B2-41E6-4FD1-A251-4FC77EAEF26B}" dt="2026-10-08T17:08:46.819" v="2786" actId="20577"/>
        <pc:sldMkLst>
          <pc:docMk/>
          <pc:sldMk cId="0" sldId="336"/>
        </pc:sldMkLst>
        <pc:spChg chg="mod">
          <ac:chgData name="Raaf, Katrina" userId="8410745d-b711-4d73-a0ac-4defa732a9d4" providerId="ADAL" clId="{645490B2-41E6-4FD1-A251-4FC77EAEF26B}" dt="2026-10-08T17:08:46.819" v="2786" actId="20577"/>
          <ac:spMkLst>
            <pc:docMk/>
            <pc:sldMk cId="0" sldId="336"/>
            <ac:spMk id="571" creationId="{00000000-0000-0000-0000-000000000000}"/>
          </ac:spMkLst>
        </pc:spChg>
      </pc:sldChg>
      <pc:sldChg chg="modNotesTx">
        <pc:chgData name="Raaf, Katrina" userId="8410745d-b711-4d73-a0ac-4defa732a9d4" providerId="ADAL" clId="{645490B2-41E6-4FD1-A251-4FC77EAEF26B}" dt="2026-10-05T20:08:49.756" v="128" actId="20577"/>
        <pc:sldMkLst>
          <pc:docMk/>
          <pc:sldMk cId="0" sldId="337"/>
        </pc:sldMkLst>
      </pc:sldChg>
      <pc:sldChg chg="modNotesTx">
        <pc:chgData name="Raaf, Katrina" userId="8410745d-b711-4d73-a0ac-4defa732a9d4" providerId="ADAL" clId="{645490B2-41E6-4FD1-A251-4FC77EAEF26B}" dt="2026-10-05T20:08:52.803" v="129" actId="20577"/>
        <pc:sldMkLst>
          <pc:docMk/>
          <pc:sldMk cId="0" sldId="338"/>
        </pc:sldMkLst>
      </pc:sldChg>
      <pc:sldChg chg="del modNotesTx">
        <pc:chgData name="Raaf, Katrina" userId="8410745d-b711-4d73-a0ac-4defa732a9d4" providerId="ADAL" clId="{645490B2-41E6-4FD1-A251-4FC77EAEF26B}" dt="2026-10-08T16:27:44.848" v="2471" actId="47"/>
        <pc:sldMkLst>
          <pc:docMk/>
          <pc:sldMk cId="1430000882" sldId="349"/>
        </pc:sldMkLst>
      </pc:sldChg>
      <pc:sldChg chg="modNotesTx">
        <pc:chgData name="Raaf, Katrina" userId="8410745d-b711-4d73-a0ac-4defa732a9d4" providerId="ADAL" clId="{645490B2-41E6-4FD1-A251-4FC77EAEF26B}" dt="2026-10-05T20:03:11.236" v="27" actId="20577"/>
        <pc:sldMkLst>
          <pc:docMk/>
          <pc:sldMk cId="1971587965" sldId="473"/>
        </pc:sldMkLst>
      </pc:sldChg>
      <pc:sldChg chg="modNotesTx">
        <pc:chgData name="Raaf, Katrina" userId="8410745d-b711-4d73-a0ac-4defa732a9d4" providerId="ADAL" clId="{645490B2-41E6-4FD1-A251-4FC77EAEF26B}" dt="2026-10-05T20:04:07.738" v="40" actId="20577"/>
        <pc:sldMkLst>
          <pc:docMk/>
          <pc:sldMk cId="2279472370" sldId="480"/>
        </pc:sldMkLst>
      </pc:sldChg>
      <pc:sldChg chg="modNotesTx">
        <pc:chgData name="Raaf, Katrina" userId="8410745d-b711-4d73-a0ac-4defa732a9d4" providerId="ADAL" clId="{645490B2-41E6-4FD1-A251-4FC77EAEF26B}" dt="2026-10-05T20:04:11.051" v="41" actId="20577"/>
        <pc:sldMkLst>
          <pc:docMk/>
          <pc:sldMk cId="1703639268" sldId="483"/>
        </pc:sldMkLst>
      </pc:sldChg>
      <pc:sldChg chg="del modNotesTx">
        <pc:chgData name="Raaf, Katrina" userId="8410745d-b711-4d73-a0ac-4defa732a9d4" providerId="ADAL" clId="{645490B2-41E6-4FD1-A251-4FC77EAEF26B}" dt="2026-10-08T14:41:10.600" v="2167" actId="47"/>
        <pc:sldMkLst>
          <pc:docMk/>
          <pc:sldMk cId="765051921" sldId="490"/>
        </pc:sldMkLst>
      </pc:sldChg>
      <pc:sldChg chg="modSp mod modNotesTx">
        <pc:chgData name="Raaf, Katrina" userId="8410745d-b711-4d73-a0ac-4defa732a9d4" providerId="ADAL" clId="{645490B2-41E6-4FD1-A251-4FC77EAEF26B}" dt="2026-10-08T14:41:47.508" v="2181" actId="20577"/>
        <pc:sldMkLst>
          <pc:docMk/>
          <pc:sldMk cId="1111771171" sldId="492"/>
        </pc:sldMkLst>
        <pc:spChg chg="mod">
          <ac:chgData name="Raaf, Katrina" userId="8410745d-b711-4d73-a0ac-4defa732a9d4" providerId="ADAL" clId="{645490B2-41E6-4FD1-A251-4FC77EAEF26B}" dt="2026-10-08T14:41:47.508" v="2181" actId="20577"/>
          <ac:spMkLst>
            <pc:docMk/>
            <pc:sldMk cId="1111771171" sldId="492"/>
            <ac:spMk id="3" creationId="{D5A6F3F7-75EA-B6B3-3883-6AF5E419A18D}"/>
          </ac:spMkLst>
        </pc:spChg>
      </pc:sldChg>
      <pc:sldChg chg="modNotesTx">
        <pc:chgData name="Raaf, Katrina" userId="8410745d-b711-4d73-a0ac-4defa732a9d4" providerId="ADAL" clId="{645490B2-41E6-4FD1-A251-4FC77EAEF26B}" dt="2026-10-05T20:04:21.592" v="44" actId="20577"/>
        <pc:sldMkLst>
          <pc:docMk/>
          <pc:sldMk cId="497966638" sldId="493"/>
        </pc:sldMkLst>
      </pc:sldChg>
      <pc:sldChg chg="modNotesTx">
        <pc:chgData name="Raaf, Katrina" userId="8410745d-b711-4d73-a0ac-4defa732a9d4" providerId="ADAL" clId="{645490B2-41E6-4FD1-A251-4FC77EAEF26B}" dt="2026-10-05T20:04:24.462" v="45" actId="20577"/>
        <pc:sldMkLst>
          <pc:docMk/>
          <pc:sldMk cId="497821068" sldId="494"/>
        </pc:sldMkLst>
      </pc:sldChg>
      <pc:sldChg chg="modNotesTx">
        <pc:chgData name="Raaf, Katrina" userId="8410745d-b711-4d73-a0ac-4defa732a9d4" providerId="ADAL" clId="{645490B2-41E6-4FD1-A251-4FC77EAEF26B}" dt="2026-10-05T20:04:28.423" v="46" actId="20577"/>
        <pc:sldMkLst>
          <pc:docMk/>
          <pc:sldMk cId="2350003495" sldId="495"/>
        </pc:sldMkLst>
      </pc:sldChg>
      <pc:sldChg chg="modNotesTx">
        <pc:chgData name="Raaf, Katrina" userId="8410745d-b711-4d73-a0ac-4defa732a9d4" providerId="ADAL" clId="{645490B2-41E6-4FD1-A251-4FC77EAEF26B}" dt="2026-10-05T20:04:32.930" v="47" actId="20577"/>
        <pc:sldMkLst>
          <pc:docMk/>
          <pc:sldMk cId="4146691987" sldId="496"/>
        </pc:sldMkLst>
      </pc:sldChg>
      <pc:sldChg chg="modSp mod modNotesTx">
        <pc:chgData name="Raaf, Katrina" userId="8410745d-b711-4d73-a0ac-4defa732a9d4" providerId="ADAL" clId="{645490B2-41E6-4FD1-A251-4FC77EAEF26B}" dt="2026-10-08T14:44:38.697" v="2225" actId="255"/>
        <pc:sldMkLst>
          <pc:docMk/>
          <pc:sldMk cId="2276489441" sldId="499"/>
        </pc:sldMkLst>
        <pc:spChg chg="mod">
          <ac:chgData name="Raaf, Katrina" userId="8410745d-b711-4d73-a0ac-4defa732a9d4" providerId="ADAL" clId="{645490B2-41E6-4FD1-A251-4FC77EAEF26B}" dt="2026-10-08T14:44:38.697" v="2225" actId="255"/>
          <ac:spMkLst>
            <pc:docMk/>
            <pc:sldMk cId="2276489441" sldId="499"/>
            <ac:spMk id="2" creationId="{01849C74-C762-5827-AF84-0CD8421906B0}"/>
          </ac:spMkLst>
        </pc:spChg>
      </pc:sldChg>
      <pc:sldChg chg="modSp mod setBg modNotesTx">
        <pc:chgData name="Raaf, Katrina" userId="8410745d-b711-4d73-a0ac-4defa732a9d4" providerId="ADAL" clId="{645490B2-41E6-4FD1-A251-4FC77EAEF26B}" dt="2026-10-08T14:45:19.456" v="2296" actId="20577"/>
        <pc:sldMkLst>
          <pc:docMk/>
          <pc:sldMk cId="884769419" sldId="500"/>
        </pc:sldMkLst>
        <pc:spChg chg="mod">
          <ac:chgData name="Raaf, Katrina" userId="8410745d-b711-4d73-a0ac-4defa732a9d4" providerId="ADAL" clId="{645490B2-41E6-4FD1-A251-4FC77EAEF26B}" dt="2026-10-08T14:43:25.280" v="2223" actId="255"/>
          <ac:spMkLst>
            <pc:docMk/>
            <pc:sldMk cId="884769419" sldId="500"/>
            <ac:spMk id="2" creationId="{922E12F2-C7DE-ED35-7723-EC5E8EFD1D66}"/>
          </ac:spMkLst>
        </pc:spChg>
        <pc:spChg chg="mod">
          <ac:chgData name="Raaf, Katrina" userId="8410745d-b711-4d73-a0ac-4defa732a9d4" providerId="ADAL" clId="{645490B2-41E6-4FD1-A251-4FC77EAEF26B}" dt="2026-10-08T14:45:19.456" v="2296" actId="20577"/>
          <ac:spMkLst>
            <pc:docMk/>
            <pc:sldMk cId="884769419" sldId="500"/>
            <ac:spMk id="3" creationId="{65DC6D46-5B3C-B595-A00A-185C0943CAA2}"/>
          </ac:spMkLst>
        </pc:spChg>
      </pc:sldChg>
      <pc:sldChg chg="modNotesTx">
        <pc:chgData name="Raaf, Katrina" userId="8410745d-b711-4d73-a0ac-4defa732a9d4" providerId="ADAL" clId="{645490B2-41E6-4FD1-A251-4FC77EAEF26B}" dt="2026-10-05T20:04:50.298" v="51" actId="20577"/>
        <pc:sldMkLst>
          <pc:docMk/>
          <pc:sldMk cId="1994270541" sldId="506"/>
        </pc:sldMkLst>
      </pc:sldChg>
      <pc:sldChg chg="delSp modSp mod modNotesTx">
        <pc:chgData name="Raaf, Katrina" userId="8410745d-b711-4d73-a0ac-4defa732a9d4" providerId="ADAL" clId="{645490B2-41E6-4FD1-A251-4FC77EAEF26B}" dt="2026-10-08T14:49:49.415" v="2300" actId="255"/>
        <pc:sldMkLst>
          <pc:docMk/>
          <pc:sldMk cId="3317636169" sldId="507"/>
        </pc:sldMkLst>
        <pc:spChg chg="mod">
          <ac:chgData name="Raaf, Katrina" userId="8410745d-b711-4d73-a0ac-4defa732a9d4" providerId="ADAL" clId="{645490B2-41E6-4FD1-A251-4FC77EAEF26B}" dt="2026-10-08T14:49:49.415" v="2300" actId="255"/>
          <ac:spMkLst>
            <pc:docMk/>
            <pc:sldMk cId="3317636169" sldId="507"/>
            <ac:spMk id="2" creationId="{30D66FEC-2975-E67B-B4A5-1A73B8BC4108}"/>
          </ac:spMkLst>
        </pc:spChg>
        <pc:spChg chg="mod">
          <ac:chgData name="Raaf, Katrina" userId="8410745d-b711-4d73-a0ac-4defa732a9d4" providerId="ADAL" clId="{645490B2-41E6-4FD1-A251-4FC77EAEF26B}" dt="2026-10-06T17:25:22.727" v="875" actId="20577"/>
          <ac:spMkLst>
            <pc:docMk/>
            <pc:sldMk cId="3317636169" sldId="507"/>
            <ac:spMk id="3" creationId="{F6E4E7E1-F489-2415-EC26-E8B653B9B2F5}"/>
          </ac:spMkLst>
        </pc:spChg>
      </pc:sldChg>
      <pc:sldChg chg="modSp mod">
        <pc:chgData name="Raaf, Katrina" userId="8410745d-b711-4d73-a0ac-4defa732a9d4" providerId="ADAL" clId="{645490B2-41E6-4FD1-A251-4FC77EAEF26B}" dt="2026-10-08T14:49:43.240" v="2298" actId="255"/>
        <pc:sldMkLst>
          <pc:docMk/>
          <pc:sldMk cId="1627505546" sldId="509"/>
        </pc:sldMkLst>
        <pc:spChg chg="mod">
          <ac:chgData name="Raaf, Katrina" userId="8410745d-b711-4d73-a0ac-4defa732a9d4" providerId="ADAL" clId="{645490B2-41E6-4FD1-A251-4FC77EAEF26B}" dt="2026-10-08T14:49:43.240" v="2298" actId="255"/>
          <ac:spMkLst>
            <pc:docMk/>
            <pc:sldMk cId="1627505546" sldId="509"/>
            <ac:spMk id="2" creationId="{652428B8-0838-6BA2-F413-97F39F7D6120}"/>
          </ac:spMkLst>
        </pc:spChg>
      </pc:sldChg>
      <pc:sldChg chg="addSp modSp mod">
        <pc:chgData name="Raaf, Katrina" userId="8410745d-b711-4d73-a0ac-4defa732a9d4" providerId="ADAL" clId="{645490B2-41E6-4FD1-A251-4FC77EAEF26B}" dt="2026-10-06T17:31:06.039" v="1186" actId="20577"/>
        <pc:sldMkLst>
          <pc:docMk/>
          <pc:sldMk cId="85529385" sldId="521"/>
        </pc:sldMkLst>
        <pc:spChg chg="mod">
          <ac:chgData name="Raaf, Katrina" userId="8410745d-b711-4d73-a0ac-4defa732a9d4" providerId="ADAL" clId="{645490B2-41E6-4FD1-A251-4FC77EAEF26B}" dt="2026-10-06T17:31:06.039" v="1186" actId="20577"/>
          <ac:spMkLst>
            <pc:docMk/>
            <pc:sldMk cId="85529385" sldId="521"/>
            <ac:spMk id="3" creationId="{EF144AF4-3C54-824E-7471-B280C19C487C}"/>
          </ac:spMkLst>
        </pc:spChg>
        <pc:graphicFrameChg chg="add mod modGraphic">
          <ac:chgData name="Raaf, Katrina" userId="8410745d-b711-4d73-a0ac-4defa732a9d4" providerId="ADAL" clId="{645490B2-41E6-4FD1-A251-4FC77EAEF26B}" dt="2026-10-06T17:31:03.843" v="1185" actId="20577"/>
          <ac:graphicFrameMkLst>
            <pc:docMk/>
            <pc:sldMk cId="85529385" sldId="521"/>
            <ac:graphicFrameMk id="5" creationId="{6C48FB04-E325-5DC7-666E-36CA860A8AB4}"/>
          </ac:graphicFrameMkLst>
        </pc:graphicFrameChg>
      </pc:sldChg>
      <pc:sldChg chg="delSp mod">
        <pc:chgData name="Raaf, Katrina" userId="8410745d-b711-4d73-a0ac-4defa732a9d4" providerId="ADAL" clId="{645490B2-41E6-4FD1-A251-4FC77EAEF26B}" dt="2026-10-05T20:01:38.492" v="13" actId="478"/>
        <pc:sldMkLst>
          <pc:docMk/>
          <pc:sldMk cId="61721045" sldId="522"/>
        </pc:sldMkLst>
      </pc:sldChg>
      <pc:sldChg chg="delSp mod modNotesTx">
        <pc:chgData name="Raaf, Katrina" userId="8410745d-b711-4d73-a0ac-4defa732a9d4" providerId="ADAL" clId="{645490B2-41E6-4FD1-A251-4FC77EAEF26B}" dt="2026-10-06T17:34:45.457" v="1604" actId="478"/>
        <pc:sldMkLst>
          <pc:docMk/>
          <pc:sldMk cId="1032068132" sldId="524"/>
        </pc:sldMkLst>
      </pc:sldChg>
      <pc:sldChg chg="modNotesTx">
        <pc:chgData name="Raaf, Katrina" userId="8410745d-b711-4d73-a0ac-4defa732a9d4" providerId="ADAL" clId="{645490B2-41E6-4FD1-A251-4FC77EAEF26B}" dt="2026-10-05T20:06:04.031" v="98" actId="20577"/>
        <pc:sldMkLst>
          <pc:docMk/>
          <pc:sldMk cId="4250240566" sldId="533"/>
        </pc:sldMkLst>
      </pc:sldChg>
      <pc:sldChg chg="addSp delSp modSp mod modAnim">
        <pc:chgData name="Raaf, Katrina" userId="8410745d-b711-4d73-a0ac-4defa732a9d4" providerId="ADAL" clId="{645490B2-41E6-4FD1-A251-4FC77EAEF26B}" dt="2026-10-08T14:43:10.092" v="2221" actId="1076"/>
        <pc:sldMkLst>
          <pc:docMk/>
          <pc:sldMk cId="2153980510" sldId="534"/>
        </pc:sldMkLst>
        <pc:spChg chg="mod">
          <ac:chgData name="Raaf, Katrina" userId="8410745d-b711-4d73-a0ac-4defa732a9d4" providerId="ADAL" clId="{645490B2-41E6-4FD1-A251-4FC77EAEF26B}" dt="2026-10-08T14:42:19.835" v="2190" actId="255"/>
          <ac:spMkLst>
            <pc:docMk/>
            <pc:sldMk cId="2153980510" sldId="534"/>
            <ac:spMk id="2" creationId="{49A56421-5132-CBE6-B4FC-3CE4E7C8F760}"/>
          </ac:spMkLst>
        </pc:spChg>
        <pc:spChg chg="mod">
          <ac:chgData name="Raaf, Katrina" userId="8410745d-b711-4d73-a0ac-4defa732a9d4" providerId="ADAL" clId="{645490B2-41E6-4FD1-A251-4FC77EAEF26B}" dt="2026-10-08T14:42:24.048" v="2192" actId="1076"/>
          <ac:spMkLst>
            <pc:docMk/>
            <pc:sldMk cId="2153980510" sldId="534"/>
            <ac:spMk id="5" creationId="{B71C3703-0F7F-9593-9081-7CFD43D26872}"/>
          </ac:spMkLst>
        </pc:spChg>
        <pc:spChg chg="add del">
          <ac:chgData name="Raaf, Katrina" userId="8410745d-b711-4d73-a0ac-4defa732a9d4" providerId="ADAL" clId="{645490B2-41E6-4FD1-A251-4FC77EAEF26B}" dt="2026-10-08T14:42:37.948" v="2196" actId="22"/>
          <ac:spMkLst>
            <pc:docMk/>
            <pc:sldMk cId="2153980510" sldId="534"/>
            <ac:spMk id="8" creationId="{78881FC4-C587-15BC-3949-DCE009DEB9B9}"/>
          </ac:spMkLst>
        </pc:spChg>
        <pc:spChg chg="mod">
          <ac:chgData name="Raaf, Katrina" userId="8410745d-b711-4d73-a0ac-4defa732a9d4" providerId="ADAL" clId="{645490B2-41E6-4FD1-A251-4FC77EAEF26B}" dt="2026-10-08T14:42:31.392" v="2194" actId="1076"/>
          <ac:spMkLst>
            <pc:docMk/>
            <pc:sldMk cId="2153980510" sldId="534"/>
            <ac:spMk id="9" creationId="{9BA73735-CDCE-E609-178B-11347756FF62}"/>
          </ac:spMkLst>
        </pc:spChg>
        <pc:spChg chg="mod">
          <ac:chgData name="Raaf, Katrina" userId="8410745d-b711-4d73-a0ac-4defa732a9d4" providerId="ADAL" clId="{645490B2-41E6-4FD1-A251-4FC77EAEF26B}" dt="2026-10-08T14:42:22.620" v="2191" actId="1076"/>
          <ac:spMkLst>
            <pc:docMk/>
            <pc:sldMk cId="2153980510" sldId="534"/>
            <ac:spMk id="10" creationId="{2585249D-ABA8-DEAA-2975-24175B9E98F1}"/>
          </ac:spMkLst>
        </pc:spChg>
        <pc:spChg chg="mod">
          <ac:chgData name="Raaf, Katrina" userId="8410745d-b711-4d73-a0ac-4defa732a9d4" providerId="ADAL" clId="{645490B2-41E6-4FD1-A251-4FC77EAEF26B}" dt="2026-10-08T14:42:19.835" v="2190" actId="255"/>
          <ac:spMkLst>
            <pc:docMk/>
            <pc:sldMk cId="2153980510" sldId="534"/>
            <ac:spMk id="11" creationId="{57055053-901F-ADD8-BFCB-380675773D27}"/>
          </ac:spMkLst>
        </pc:spChg>
        <pc:spChg chg="add mod">
          <ac:chgData name="Raaf, Katrina" userId="8410745d-b711-4d73-a0ac-4defa732a9d4" providerId="ADAL" clId="{645490B2-41E6-4FD1-A251-4FC77EAEF26B}" dt="2026-10-08T14:42:57.200" v="2215" actId="1076"/>
          <ac:spMkLst>
            <pc:docMk/>
            <pc:sldMk cId="2153980510" sldId="534"/>
            <ac:spMk id="13" creationId="{71905C78-799A-B816-6068-33D4D90F0643}"/>
          </ac:spMkLst>
        </pc:spChg>
        <pc:spChg chg="mod">
          <ac:chgData name="Raaf, Katrina" userId="8410745d-b711-4d73-a0ac-4defa732a9d4" providerId="ADAL" clId="{645490B2-41E6-4FD1-A251-4FC77EAEF26B}" dt="2026-10-08T14:42:09.803" v="2187" actId="1076"/>
          <ac:spMkLst>
            <pc:docMk/>
            <pc:sldMk cId="2153980510" sldId="534"/>
            <ac:spMk id="16" creationId="{71FFF17D-7CB6-A210-25BC-BA45509AED49}"/>
          </ac:spMkLst>
        </pc:spChg>
        <pc:cxnChg chg="add mod">
          <ac:chgData name="Raaf, Katrina" userId="8410745d-b711-4d73-a0ac-4defa732a9d4" providerId="ADAL" clId="{645490B2-41E6-4FD1-A251-4FC77EAEF26B}" dt="2026-10-08T14:43:10.092" v="2221" actId="1076"/>
          <ac:cxnSpMkLst>
            <pc:docMk/>
            <pc:sldMk cId="2153980510" sldId="534"/>
            <ac:cxnSpMk id="15" creationId="{9F74B9AE-E1D5-270A-5035-604C38A4380D}"/>
          </ac:cxnSpMkLst>
        </pc:cxnChg>
      </pc:sldChg>
      <pc:sldChg chg="setBg modNotesTx">
        <pc:chgData name="Raaf, Katrina" userId="8410745d-b711-4d73-a0ac-4defa732a9d4" providerId="ADAL" clId="{645490B2-41E6-4FD1-A251-4FC77EAEF26B}" dt="2026-10-05T20:04:45.638" v="50" actId="20577"/>
        <pc:sldMkLst>
          <pc:docMk/>
          <pc:sldMk cId="577331593" sldId="536"/>
        </pc:sldMkLst>
      </pc:sldChg>
      <pc:sldChg chg="modNotesTx">
        <pc:chgData name="Raaf, Katrina" userId="8410745d-b711-4d73-a0ac-4defa732a9d4" providerId="ADAL" clId="{645490B2-41E6-4FD1-A251-4FC77EAEF26B}" dt="2026-10-05T20:07:52.944" v="117" actId="20577"/>
        <pc:sldMkLst>
          <pc:docMk/>
          <pc:sldMk cId="932992877" sldId="538"/>
        </pc:sldMkLst>
      </pc:sldChg>
      <pc:sldChg chg="delSp mod delAnim modNotesTx">
        <pc:chgData name="Raaf, Katrina" userId="8410745d-b711-4d73-a0ac-4defa732a9d4" providerId="ADAL" clId="{645490B2-41E6-4FD1-A251-4FC77EAEF26B}" dt="2026-10-05T20:07:57.430" v="118" actId="20577"/>
        <pc:sldMkLst>
          <pc:docMk/>
          <pc:sldMk cId="1638049779" sldId="539"/>
        </pc:sldMkLst>
        <pc:spChg chg="topLvl">
          <ac:chgData name="Raaf, Katrina" userId="8410745d-b711-4d73-a0ac-4defa732a9d4" providerId="ADAL" clId="{645490B2-41E6-4FD1-A251-4FC77EAEF26B}" dt="2026-10-05T20:02:22.514" v="19" actId="478"/>
          <ac:spMkLst>
            <pc:docMk/>
            <pc:sldMk cId="1638049779" sldId="539"/>
            <ac:spMk id="12" creationId="{2F0FAE70-FC35-519A-20CC-F95EA196A760}"/>
          </ac:spMkLst>
        </pc:spChg>
        <pc:spChg chg="topLvl">
          <ac:chgData name="Raaf, Katrina" userId="8410745d-b711-4d73-a0ac-4defa732a9d4" providerId="ADAL" clId="{645490B2-41E6-4FD1-A251-4FC77EAEF26B}" dt="2026-10-05T20:02:24.652" v="20" actId="478"/>
          <ac:spMkLst>
            <pc:docMk/>
            <pc:sldMk cId="1638049779" sldId="539"/>
            <ac:spMk id="21" creationId="{26700104-D224-2CB6-DFB7-E07C9B410D16}"/>
          </ac:spMkLst>
        </pc:spChg>
      </pc:sldChg>
      <pc:sldChg chg="del">
        <pc:chgData name="Raaf, Katrina" userId="8410745d-b711-4d73-a0ac-4defa732a9d4" providerId="ADAL" clId="{645490B2-41E6-4FD1-A251-4FC77EAEF26B}" dt="2026-10-08T14:52:05.432" v="2318" actId="47"/>
        <pc:sldMkLst>
          <pc:docMk/>
          <pc:sldMk cId="1688726797" sldId="542"/>
        </pc:sldMkLst>
      </pc:sldChg>
      <pc:sldChg chg="addSp modSp add mod setBg">
        <pc:chgData name="Raaf, Katrina" userId="8410745d-b711-4d73-a0ac-4defa732a9d4" providerId="ADAL" clId="{645490B2-41E6-4FD1-A251-4FC77EAEF26B}" dt="2026-10-08T16:25:46.826" v="2331" actId="20577"/>
        <pc:sldMkLst>
          <pc:docMk/>
          <pc:sldMk cId="1470889796" sldId="544"/>
        </pc:sldMkLst>
        <pc:spChg chg="mod">
          <ac:chgData name="Raaf, Katrina" userId="8410745d-b711-4d73-a0ac-4defa732a9d4" providerId="ADAL" clId="{645490B2-41E6-4FD1-A251-4FC77EAEF26B}" dt="2026-10-08T16:25:31.862" v="2327" actId="1076"/>
          <ac:spMkLst>
            <pc:docMk/>
            <pc:sldMk cId="1470889796" sldId="544"/>
            <ac:spMk id="2" creationId="{431ACEB1-F7E6-EB60-EF46-2E776C6CF34A}"/>
          </ac:spMkLst>
        </pc:spChg>
        <pc:spChg chg="add mod">
          <ac:chgData name="Raaf, Katrina" userId="8410745d-b711-4d73-a0ac-4defa732a9d4" providerId="ADAL" clId="{645490B2-41E6-4FD1-A251-4FC77EAEF26B}" dt="2026-10-08T16:25:46.826" v="2331" actId="20577"/>
          <ac:spMkLst>
            <pc:docMk/>
            <pc:sldMk cId="1470889796" sldId="544"/>
            <ac:spMk id="7" creationId="{3C6FCD9B-5F4E-D879-AF79-10828E087EA4}"/>
          </ac:spMkLst>
        </pc:spChg>
        <pc:spChg chg="mod">
          <ac:chgData name="Raaf, Katrina" userId="8410745d-b711-4d73-a0ac-4defa732a9d4" providerId="ADAL" clId="{645490B2-41E6-4FD1-A251-4FC77EAEF26B}" dt="2026-10-08T16:25:37.229" v="2328" actId="1076"/>
          <ac:spMkLst>
            <pc:docMk/>
            <pc:sldMk cId="1470889796" sldId="544"/>
            <ac:spMk id="8" creationId="{C41F2CB2-60DC-8663-6215-8CEC421FAB54}"/>
          </ac:spMkLst>
        </pc:spChg>
        <pc:spChg chg="mod">
          <ac:chgData name="Raaf, Katrina" userId="8410745d-b711-4d73-a0ac-4defa732a9d4" providerId="ADAL" clId="{645490B2-41E6-4FD1-A251-4FC77EAEF26B}" dt="2026-10-08T16:25:25.774" v="2325" actId="255"/>
          <ac:spMkLst>
            <pc:docMk/>
            <pc:sldMk cId="1470889796" sldId="544"/>
            <ac:spMk id="473" creationId="{4E3F1A6C-776C-E339-BCB6-A7B47BE0731E}"/>
          </ac:spMkLst>
        </pc:spChg>
        <pc:picChg chg="mod">
          <ac:chgData name="Raaf, Katrina" userId="8410745d-b711-4d73-a0ac-4defa732a9d4" providerId="ADAL" clId="{645490B2-41E6-4FD1-A251-4FC77EAEF26B}" dt="2026-10-08T16:25:37.229" v="2328" actId="1076"/>
          <ac:picMkLst>
            <pc:docMk/>
            <pc:sldMk cId="1470889796" sldId="544"/>
            <ac:picMk id="3" creationId="{F51DA47E-9971-6280-68F2-E5347AB0A1BA}"/>
          </ac:picMkLst>
        </pc:picChg>
        <pc:picChg chg="mod">
          <ac:chgData name="Raaf, Katrina" userId="8410745d-b711-4d73-a0ac-4defa732a9d4" providerId="ADAL" clId="{645490B2-41E6-4FD1-A251-4FC77EAEF26B}" dt="2026-10-08T16:25:37.229" v="2328" actId="1076"/>
          <ac:picMkLst>
            <pc:docMk/>
            <pc:sldMk cId="1470889796" sldId="544"/>
            <ac:picMk id="6" creationId="{BE575D04-2833-A441-E802-57C44721FE5D}"/>
          </ac:picMkLst>
        </pc:picChg>
        <pc:picChg chg="mod">
          <ac:chgData name="Raaf, Katrina" userId="8410745d-b711-4d73-a0ac-4defa732a9d4" providerId="ADAL" clId="{645490B2-41E6-4FD1-A251-4FC77EAEF26B}" dt="2026-10-08T16:25:37.229" v="2328" actId="1076"/>
          <ac:picMkLst>
            <pc:docMk/>
            <pc:sldMk cId="1470889796" sldId="544"/>
            <ac:picMk id="9" creationId="{60BF2032-460A-6323-7BE3-DB62B5657411}"/>
          </ac:picMkLst>
        </pc:picChg>
        <pc:picChg chg="mod">
          <ac:chgData name="Raaf, Katrina" userId="8410745d-b711-4d73-a0ac-4defa732a9d4" providerId="ADAL" clId="{645490B2-41E6-4FD1-A251-4FC77EAEF26B}" dt="2026-10-08T16:25:37.229" v="2328" actId="1076"/>
          <ac:picMkLst>
            <pc:docMk/>
            <pc:sldMk cId="1470889796" sldId="544"/>
            <ac:picMk id="10" creationId="{A3EA10DE-40E5-FADA-4E75-28D9326D6111}"/>
          </ac:picMkLst>
        </pc:picChg>
        <pc:picChg chg="mod">
          <ac:chgData name="Raaf, Katrina" userId="8410745d-b711-4d73-a0ac-4defa732a9d4" providerId="ADAL" clId="{645490B2-41E6-4FD1-A251-4FC77EAEF26B}" dt="2026-10-08T16:25:37.229" v="2328" actId="1076"/>
          <ac:picMkLst>
            <pc:docMk/>
            <pc:sldMk cId="1470889796" sldId="544"/>
            <ac:picMk id="11" creationId="{29585134-672A-D204-E403-3478690AD206}"/>
          </ac:picMkLst>
        </pc:picChg>
        <pc:picChg chg="mod">
          <ac:chgData name="Raaf, Katrina" userId="8410745d-b711-4d73-a0ac-4defa732a9d4" providerId="ADAL" clId="{645490B2-41E6-4FD1-A251-4FC77EAEF26B}" dt="2026-10-08T16:25:37.229" v="2328" actId="1076"/>
          <ac:picMkLst>
            <pc:docMk/>
            <pc:sldMk cId="1470889796" sldId="544"/>
            <ac:picMk id="13" creationId="{9CB6FDB8-C4EF-8C20-0A46-BA80BD7C562B}"/>
          </ac:picMkLst>
        </pc:picChg>
      </pc:sldChg>
      <pc:sldChg chg="add del setBg">
        <pc:chgData name="Raaf, Katrina" userId="8410745d-b711-4d73-a0ac-4defa732a9d4" providerId="ADAL" clId="{645490B2-41E6-4FD1-A251-4FC77EAEF26B}" dt="2026-10-08T16:25:54.020" v="2332" actId="47"/>
        <pc:sldMkLst>
          <pc:docMk/>
          <pc:sldMk cId="2384195519" sldId="545"/>
        </pc:sldMkLst>
      </pc:sldChg>
      <pc:sldChg chg="setBg">
        <pc:chgData name="Raaf, Katrina" userId="8410745d-b711-4d73-a0ac-4defa732a9d4" providerId="ADAL" clId="{645490B2-41E6-4FD1-A251-4FC77EAEF26B}" dt="2026-10-05T20:00:56.862" v="7"/>
        <pc:sldMkLst>
          <pc:docMk/>
          <pc:sldMk cId="2681434324" sldId="548"/>
        </pc:sldMkLst>
      </pc:sldChg>
      <pc:sldChg chg="del">
        <pc:chgData name="Raaf, Katrina" userId="8410745d-b711-4d73-a0ac-4defa732a9d4" providerId="ADAL" clId="{645490B2-41E6-4FD1-A251-4FC77EAEF26B}" dt="2026-10-08T14:50:35.686" v="2302" actId="47"/>
        <pc:sldMkLst>
          <pc:docMk/>
          <pc:sldMk cId="1884552868" sldId="551"/>
        </pc:sldMkLst>
      </pc:sldChg>
      <pc:sldChg chg="modNotesTx">
        <pc:chgData name="Raaf, Katrina" userId="8410745d-b711-4d73-a0ac-4defa732a9d4" providerId="ADAL" clId="{645490B2-41E6-4FD1-A251-4FC77EAEF26B}" dt="2026-10-05T20:06:12.019" v="99" actId="20577"/>
        <pc:sldMkLst>
          <pc:docMk/>
          <pc:sldMk cId="1321553460" sldId="552"/>
        </pc:sldMkLst>
      </pc:sldChg>
      <pc:sldChg chg="modSp mod modNotesTx">
        <pc:chgData name="Raaf, Katrina" userId="8410745d-b711-4d73-a0ac-4defa732a9d4" providerId="ADAL" clId="{645490B2-41E6-4FD1-A251-4FC77EAEF26B}" dt="2026-10-06T17:32:47.115" v="1310" actId="1076"/>
        <pc:sldMkLst>
          <pc:docMk/>
          <pc:sldMk cId="1565493455" sldId="553"/>
        </pc:sldMkLst>
        <pc:spChg chg="mod">
          <ac:chgData name="Raaf, Katrina" userId="8410745d-b711-4d73-a0ac-4defa732a9d4" providerId="ADAL" clId="{645490B2-41E6-4FD1-A251-4FC77EAEF26B}" dt="2026-10-06T17:32:47.115" v="1310" actId="1076"/>
          <ac:spMkLst>
            <pc:docMk/>
            <pc:sldMk cId="1565493455" sldId="553"/>
            <ac:spMk id="2" creationId="{CA8FEF8A-5090-84A5-5D4B-3C324FFF78B8}"/>
          </ac:spMkLst>
        </pc:spChg>
      </pc:sldChg>
      <pc:sldChg chg="modSp mod modNotesTx">
        <pc:chgData name="Raaf, Katrina" userId="8410745d-b711-4d73-a0ac-4defa732a9d4" providerId="ADAL" clId="{645490B2-41E6-4FD1-A251-4FC77EAEF26B}" dt="2026-10-05T20:06:30.298" v="102" actId="255"/>
        <pc:sldMkLst>
          <pc:docMk/>
          <pc:sldMk cId="2279642209" sldId="554"/>
        </pc:sldMkLst>
        <pc:spChg chg="mod">
          <ac:chgData name="Raaf, Katrina" userId="8410745d-b711-4d73-a0ac-4defa732a9d4" providerId="ADAL" clId="{645490B2-41E6-4FD1-A251-4FC77EAEF26B}" dt="2026-10-05T20:06:30.298" v="102" actId="255"/>
          <ac:spMkLst>
            <pc:docMk/>
            <pc:sldMk cId="2279642209" sldId="554"/>
            <ac:spMk id="2" creationId="{1AD6F66F-A613-18E3-4D71-7919C78C9AD3}"/>
          </ac:spMkLst>
        </pc:spChg>
      </pc:sldChg>
      <pc:sldChg chg="modSp mod modNotesTx">
        <pc:chgData name="Raaf, Katrina" userId="8410745d-b711-4d73-a0ac-4defa732a9d4" providerId="ADAL" clId="{645490B2-41E6-4FD1-A251-4FC77EAEF26B}" dt="2026-10-05T20:07:27.966" v="111" actId="6549"/>
        <pc:sldMkLst>
          <pc:docMk/>
          <pc:sldMk cId="3115102379" sldId="555"/>
        </pc:sldMkLst>
        <pc:spChg chg="mod">
          <ac:chgData name="Raaf, Katrina" userId="8410745d-b711-4d73-a0ac-4defa732a9d4" providerId="ADAL" clId="{645490B2-41E6-4FD1-A251-4FC77EAEF26B}" dt="2026-10-05T20:07:14.888" v="110" actId="255"/>
          <ac:spMkLst>
            <pc:docMk/>
            <pc:sldMk cId="3115102379" sldId="555"/>
            <ac:spMk id="2" creationId="{03E63154-4DAF-E47E-BEEC-C3965F4BAF16}"/>
          </ac:spMkLst>
        </pc:spChg>
      </pc:sldChg>
      <pc:sldChg chg="delSp mod setBg delAnim">
        <pc:chgData name="Raaf, Katrina" userId="8410745d-b711-4d73-a0ac-4defa732a9d4" providerId="ADAL" clId="{645490B2-41E6-4FD1-A251-4FC77EAEF26B}" dt="2026-10-05T20:01:17.699" v="12" actId="478"/>
        <pc:sldMkLst>
          <pc:docMk/>
          <pc:sldMk cId="2304447188" sldId="561"/>
        </pc:sldMkLst>
      </pc:sldChg>
      <pc:sldChg chg="modNotesTx">
        <pc:chgData name="Raaf, Katrina" userId="8410745d-b711-4d73-a0ac-4defa732a9d4" providerId="ADAL" clId="{645490B2-41E6-4FD1-A251-4FC77EAEF26B}" dt="2026-10-05T20:03:22.478" v="29" actId="20577"/>
        <pc:sldMkLst>
          <pc:docMk/>
          <pc:sldMk cId="1615261450" sldId="562"/>
        </pc:sldMkLst>
      </pc:sldChg>
      <pc:sldChg chg="modNotesTx">
        <pc:chgData name="Raaf, Katrina" userId="8410745d-b711-4d73-a0ac-4defa732a9d4" providerId="ADAL" clId="{645490B2-41E6-4FD1-A251-4FC77EAEF26B}" dt="2026-10-05T20:03:29.121" v="31" actId="20577"/>
        <pc:sldMkLst>
          <pc:docMk/>
          <pc:sldMk cId="3422692864" sldId="563"/>
        </pc:sldMkLst>
      </pc:sldChg>
      <pc:sldChg chg="modNotesTx">
        <pc:chgData name="Raaf, Katrina" userId="8410745d-b711-4d73-a0ac-4defa732a9d4" providerId="ADAL" clId="{645490B2-41E6-4FD1-A251-4FC77EAEF26B}" dt="2026-10-05T20:03:36.261" v="32" actId="20577"/>
        <pc:sldMkLst>
          <pc:docMk/>
          <pc:sldMk cId="1906279114" sldId="564"/>
        </pc:sldMkLst>
      </pc:sldChg>
      <pc:sldChg chg="modSp mod modNotesTx">
        <pc:chgData name="Raaf, Katrina" userId="8410745d-b711-4d73-a0ac-4defa732a9d4" providerId="ADAL" clId="{645490B2-41E6-4FD1-A251-4FC77EAEF26B}" dt="2026-10-06T17:21:26.314" v="379" actId="20577"/>
        <pc:sldMkLst>
          <pc:docMk/>
          <pc:sldMk cId="3383076899" sldId="565"/>
        </pc:sldMkLst>
        <pc:spChg chg="mod">
          <ac:chgData name="Raaf, Katrina" userId="8410745d-b711-4d73-a0ac-4defa732a9d4" providerId="ADAL" clId="{645490B2-41E6-4FD1-A251-4FC77EAEF26B}" dt="2026-10-06T17:21:26.314" v="379" actId="20577"/>
          <ac:spMkLst>
            <pc:docMk/>
            <pc:sldMk cId="3383076899" sldId="565"/>
            <ac:spMk id="69" creationId="{22A64860-54ED-7B09-5B61-E76C447AFE99}"/>
          </ac:spMkLst>
        </pc:spChg>
      </pc:sldChg>
      <pc:sldChg chg="delSp modSp del mod delAnim modNotesTx">
        <pc:chgData name="Raaf, Katrina" userId="8410745d-b711-4d73-a0ac-4defa732a9d4" providerId="ADAL" clId="{645490B2-41E6-4FD1-A251-4FC77EAEF26B}" dt="2026-10-08T14:32:54.473" v="2165" actId="47"/>
        <pc:sldMkLst>
          <pc:docMk/>
          <pc:sldMk cId="2847731849" sldId="566"/>
        </pc:sldMkLst>
      </pc:sldChg>
      <pc:sldChg chg="modNotesTx">
        <pc:chgData name="Raaf, Katrina" userId="8410745d-b711-4d73-a0ac-4defa732a9d4" providerId="ADAL" clId="{645490B2-41E6-4FD1-A251-4FC77EAEF26B}" dt="2026-10-05T20:04:01.157" v="39" actId="20577"/>
        <pc:sldMkLst>
          <pc:docMk/>
          <pc:sldMk cId="1795353162" sldId="568"/>
        </pc:sldMkLst>
      </pc:sldChg>
      <pc:sldChg chg="delSp mod setBg delAnim">
        <pc:chgData name="Raaf, Katrina" userId="8410745d-b711-4d73-a0ac-4defa732a9d4" providerId="ADAL" clId="{645490B2-41E6-4FD1-A251-4FC77EAEF26B}" dt="2026-10-05T20:00:18.160" v="3"/>
        <pc:sldMkLst>
          <pc:docMk/>
          <pc:sldMk cId="1713405906" sldId="570"/>
        </pc:sldMkLst>
      </pc:sldChg>
      <pc:sldChg chg="add">
        <pc:chgData name="Raaf, Katrina" userId="8410745d-b711-4d73-a0ac-4defa732a9d4" providerId="ADAL" clId="{645490B2-41E6-4FD1-A251-4FC77EAEF26B}" dt="2026-10-06T17:27:29.462" v="877"/>
        <pc:sldMkLst>
          <pc:docMk/>
          <pc:sldMk cId="2631149509" sldId="571"/>
        </pc:sldMkLst>
      </pc:sldChg>
      <pc:sldChg chg="add">
        <pc:chgData name="Raaf, Katrina" userId="8410745d-b711-4d73-a0ac-4defa732a9d4" providerId="ADAL" clId="{645490B2-41E6-4FD1-A251-4FC77EAEF26B}" dt="2026-10-06T17:33:14.039" v="1316"/>
        <pc:sldMkLst>
          <pc:docMk/>
          <pc:sldMk cId="856753848" sldId="572"/>
        </pc:sldMkLst>
      </pc:sldChg>
      <pc:sldChg chg="modSp add mod setBg">
        <pc:chgData name="Raaf, Katrina" userId="8410745d-b711-4d73-a0ac-4defa732a9d4" providerId="ADAL" clId="{645490B2-41E6-4FD1-A251-4FC77EAEF26B}" dt="2026-10-08T16:26:53.742" v="2373" actId="2711"/>
        <pc:sldMkLst>
          <pc:docMk/>
          <pc:sldMk cId="0" sldId="580"/>
        </pc:sldMkLst>
        <pc:graphicFrameChg chg="modGraphic">
          <ac:chgData name="Raaf, Katrina" userId="8410745d-b711-4d73-a0ac-4defa732a9d4" providerId="ADAL" clId="{645490B2-41E6-4FD1-A251-4FC77EAEF26B}" dt="2026-10-08T16:26:53.742" v="2373" actId="2711"/>
          <ac:graphicFrameMkLst>
            <pc:docMk/>
            <pc:sldMk cId="0" sldId="580"/>
            <ac:graphicFrameMk id="4" creationId="{0E3169AC-2B16-70E8-BADB-3FC38B8949A1}"/>
          </ac:graphicFrameMkLst>
        </pc:graphicFrameChg>
      </pc:sldChg>
      <pc:sldChg chg="modSp add mod modAnim">
        <pc:chgData name="Raaf, Katrina" userId="8410745d-b711-4d73-a0ac-4defa732a9d4" providerId="ADAL" clId="{645490B2-41E6-4FD1-A251-4FC77EAEF26B}" dt="2026-10-08T14:44:44.989" v="2227" actId="1076"/>
        <pc:sldMkLst>
          <pc:docMk/>
          <pc:sldMk cId="2317669769" sldId="583"/>
        </pc:sldMkLst>
        <pc:spChg chg="mod">
          <ac:chgData name="Raaf, Katrina" userId="8410745d-b711-4d73-a0ac-4defa732a9d4" providerId="ADAL" clId="{645490B2-41E6-4FD1-A251-4FC77EAEF26B}" dt="2026-10-08T14:44:44.989" v="2227" actId="1076"/>
          <ac:spMkLst>
            <pc:docMk/>
            <pc:sldMk cId="2317669769" sldId="583"/>
            <ac:spMk id="26" creationId="{66279537-E709-8838-08F3-A478DF543B7C}"/>
          </ac:spMkLst>
        </pc:spChg>
      </pc:sldChg>
      <pc:sldChg chg="add setBg">
        <pc:chgData name="Raaf, Katrina" userId="8410745d-b711-4d73-a0ac-4defa732a9d4" providerId="ADAL" clId="{645490B2-41E6-4FD1-A251-4FC77EAEF26B}" dt="2026-10-08T14:32:52.245" v="2164"/>
        <pc:sldMkLst>
          <pc:docMk/>
          <pc:sldMk cId="47285538" sldId="584"/>
        </pc:sldMkLst>
      </pc:sldChg>
      <pc:sldChg chg="add">
        <pc:chgData name="Raaf, Katrina" userId="8410745d-b711-4d73-a0ac-4defa732a9d4" providerId="ADAL" clId="{645490B2-41E6-4FD1-A251-4FC77EAEF26B}" dt="2026-10-08T14:41:09.130" v="2166"/>
        <pc:sldMkLst>
          <pc:docMk/>
          <pc:sldMk cId="2130924896" sldId="585"/>
        </pc:sldMkLst>
      </pc:sldChg>
      <pc:sldChg chg="add setBg">
        <pc:chgData name="Raaf, Katrina" userId="8410745d-b711-4d73-a0ac-4defa732a9d4" providerId="ADAL" clId="{645490B2-41E6-4FD1-A251-4FC77EAEF26B}" dt="2026-10-08T14:50:33.831" v="2301"/>
        <pc:sldMkLst>
          <pc:docMk/>
          <pc:sldMk cId="2525785270" sldId="586"/>
        </pc:sldMkLst>
      </pc:sldChg>
      <pc:sldChg chg="add setBg">
        <pc:chgData name="Raaf, Katrina" userId="8410745d-b711-4d73-a0ac-4defa732a9d4" providerId="ADAL" clId="{645490B2-41E6-4FD1-A251-4FC77EAEF26B}" dt="2026-10-08T14:50:43.059" v="2303"/>
        <pc:sldMkLst>
          <pc:docMk/>
          <pc:sldMk cId="0" sldId="587"/>
        </pc:sldMkLst>
      </pc:sldChg>
      <pc:sldChg chg="modSp add mod setBg">
        <pc:chgData name="Raaf, Katrina" userId="8410745d-b711-4d73-a0ac-4defa732a9d4" providerId="ADAL" clId="{645490B2-41E6-4FD1-A251-4FC77EAEF26B}" dt="2026-10-08T14:51:17.712" v="2314" actId="20577"/>
        <pc:sldMkLst>
          <pc:docMk/>
          <pc:sldMk cId="2397147246" sldId="588"/>
        </pc:sldMkLst>
        <pc:spChg chg="mod">
          <ac:chgData name="Raaf, Katrina" userId="8410745d-b711-4d73-a0ac-4defa732a9d4" providerId="ADAL" clId="{645490B2-41E6-4FD1-A251-4FC77EAEF26B}" dt="2026-10-08T14:51:17.712" v="2314" actId="20577"/>
          <ac:spMkLst>
            <pc:docMk/>
            <pc:sldMk cId="2397147246" sldId="588"/>
            <ac:spMk id="5" creationId="{F398AFCE-B007-F302-E343-493AAE4CDFB6}"/>
          </ac:spMkLst>
        </pc:spChg>
      </pc:sldChg>
      <pc:sldChg chg="add del">
        <pc:chgData name="Raaf, Katrina" userId="8410745d-b711-4d73-a0ac-4defa732a9d4" providerId="ADAL" clId="{645490B2-41E6-4FD1-A251-4FC77EAEF26B}" dt="2026-10-08T14:52:03.868" v="2317" actId="47"/>
        <pc:sldMkLst>
          <pc:docMk/>
          <pc:sldMk cId="4214349978" sldId="589"/>
        </pc:sldMkLst>
      </pc:sldChg>
      <pc:sldChg chg="modSp add mod setBg">
        <pc:chgData name="Raaf, Katrina" userId="8410745d-b711-4d73-a0ac-4defa732a9d4" providerId="ADAL" clId="{645490B2-41E6-4FD1-A251-4FC77EAEF26B}" dt="2026-10-08T16:25:12.471" v="2320" actId="21"/>
        <pc:sldMkLst>
          <pc:docMk/>
          <pc:sldMk cId="0" sldId="590"/>
        </pc:sldMkLst>
        <pc:spChg chg="mod">
          <ac:chgData name="Raaf, Katrina" userId="8410745d-b711-4d73-a0ac-4defa732a9d4" providerId="ADAL" clId="{645490B2-41E6-4FD1-A251-4FC77EAEF26B}" dt="2026-10-08T16:25:12.471" v="2320" actId="21"/>
          <ac:spMkLst>
            <pc:docMk/>
            <pc:sldMk cId="0" sldId="590"/>
            <ac:spMk id="2" creationId="{4C4968D0-1E40-FD74-8116-36D4A48E31DB}"/>
          </ac:spMkLst>
        </pc:spChg>
      </pc:sldChg>
      <pc:sldChg chg="add">
        <pc:chgData name="Raaf, Katrina" userId="8410745d-b711-4d73-a0ac-4defa732a9d4" providerId="ADAL" clId="{645490B2-41E6-4FD1-A251-4FC77EAEF26B}" dt="2026-10-08T16:24:58.057" v="2319"/>
        <pc:sldMkLst>
          <pc:docMk/>
          <pc:sldMk cId="0" sldId="591"/>
        </pc:sldMkLst>
      </pc:sldChg>
      <pc:sldChg chg="add">
        <pc:chgData name="Raaf, Katrina" userId="8410745d-b711-4d73-a0ac-4defa732a9d4" providerId="ADAL" clId="{645490B2-41E6-4FD1-A251-4FC77EAEF26B}" dt="2026-10-08T16:24:58.057" v="2319"/>
        <pc:sldMkLst>
          <pc:docMk/>
          <pc:sldMk cId="0" sldId="592"/>
        </pc:sldMkLst>
      </pc:sldChg>
      <pc:sldChg chg="modSp add mod">
        <pc:chgData name="Raaf, Katrina" userId="8410745d-b711-4d73-a0ac-4defa732a9d4" providerId="ADAL" clId="{645490B2-41E6-4FD1-A251-4FC77EAEF26B}" dt="2026-10-08T16:27:34.844" v="2467" actId="20577"/>
        <pc:sldMkLst>
          <pc:docMk/>
          <pc:sldMk cId="0" sldId="593"/>
        </pc:sldMkLst>
        <pc:spChg chg="mod">
          <ac:chgData name="Raaf, Katrina" userId="8410745d-b711-4d73-a0ac-4defa732a9d4" providerId="ADAL" clId="{645490B2-41E6-4FD1-A251-4FC77EAEF26B}" dt="2026-10-08T16:27:34.844" v="2467" actId="20577"/>
          <ac:spMkLst>
            <pc:docMk/>
            <pc:sldMk cId="0" sldId="593"/>
            <ac:spMk id="498" creationId="{00000000-0000-0000-0000-000000000000}"/>
          </ac:spMkLst>
        </pc:spChg>
      </pc:sldChg>
      <pc:sldChg chg="modSp add mod">
        <pc:chgData name="Raaf, Katrina" userId="8410745d-b711-4d73-a0ac-4defa732a9d4" providerId="ADAL" clId="{645490B2-41E6-4FD1-A251-4FC77EAEF26B}" dt="2026-10-08T16:26:25.393" v="2370" actId="1076"/>
        <pc:sldMkLst>
          <pc:docMk/>
          <pc:sldMk cId="3744568634" sldId="594"/>
        </pc:sldMkLst>
        <pc:spChg chg="mod">
          <ac:chgData name="Raaf, Katrina" userId="8410745d-b711-4d73-a0ac-4defa732a9d4" providerId="ADAL" clId="{645490B2-41E6-4FD1-A251-4FC77EAEF26B}" dt="2026-10-08T16:26:18.086" v="2369" actId="255"/>
          <ac:spMkLst>
            <pc:docMk/>
            <pc:sldMk cId="3744568634" sldId="594"/>
            <ac:spMk id="497" creationId="{D9005855-609E-D259-6748-5A241D99058A}"/>
          </ac:spMkLst>
        </pc:spChg>
        <pc:graphicFrameChg chg="mod">
          <ac:chgData name="Raaf, Katrina" userId="8410745d-b711-4d73-a0ac-4defa732a9d4" providerId="ADAL" clId="{645490B2-41E6-4FD1-A251-4FC77EAEF26B}" dt="2026-10-08T16:26:25.393" v="2370" actId="1076"/>
          <ac:graphicFrameMkLst>
            <pc:docMk/>
            <pc:sldMk cId="3744568634" sldId="594"/>
            <ac:graphicFrameMk id="4" creationId="{3ED25B4A-1044-5493-449E-1BDA0F019091}"/>
          </ac:graphicFrameMkLst>
        </pc:graphicFrameChg>
      </pc:sldChg>
      <pc:sldChg chg="modSp add mod setBg">
        <pc:chgData name="Raaf, Katrina" userId="8410745d-b711-4d73-a0ac-4defa732a9d4" providerId="ADAL" clId="{645490B2-41E6-4FD1-A251-4FC77EAEF26B}" dt="2026-10-08T17:05:55.149" v="2485" actId="20577"/>
        <pc:sldMkLst>
          <pc:docMk/>
          <pc:sldMk cId="0" sldId="595"/>
        </pc:sldMkLst>
        <pc:spChg chg="mod">
          <ac:chgData name="Raaf, Katrina" userId="8410745d-b711-4d73-a0ac-4defa732a9d4" providerId="ADAL" clId="{645490B2-41E6-4FD1-A251-4FC77EAEF26B}" dt="2026-10-08T17:05:55.149" v="2485" actId="20577"/>
          <ac:spMkLst>
            <pc:docMk/>
            <pc:sldMk cId="0" sldId="595"/>
            <ac:spMk id="540" creationId="{00000000-0000-0000-0000-000000000000}"/>
          </ac:spMkLst>
        </pc:spChg>
      </pc:sldChg>
      <pc:sldChg chg="add">
        <pc:chgData name="Raaf, Katrina" userId="8410745d-b711-4d73-a0ac-4defa732a9d4" providerId="ADAL" clId="{645490B2-41E6-4FD1-A251-4FC77EAEF26B}" dt="2026-10-08T18:11:52.021" v="2787"/>
        <pc:sldMkLst>
          <pc:docMk/>
          <pc:sldMk cId="3924067271" sldId="6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7BABD4F-2A37-4A2E-AD84-1A0A61F2B441}" type="datetimeFigureOut">
              <a:rPr lang="en-US" smtClean="0"/>
              <a:t>10/8/2026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303BCA6-AB4B-43A7-B415-DC0CE1CF7BFE}" type="slidenum">
              <a:rPr lang="en-US" smtClean="0"/>
              <a:t>‹#›</a:t>
            </a:fld>
            <a:endParaRPr lang="en-US"/>
          </a:p>
        </p:txBody>
      </p:sp>
    </p:spTree>
    <p:extLst>
      <p:ext uri="{BB962C8B-B14F-4D97-AF65-F5344CB8AC3E}">
        <p14:creationId xmlns:p14="http://schemas.microsoft.com/office/powerpoint/2010/main" val="1506960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DB83D02-5CBE-BFBC-DEEB-807C557AE694}"/>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C8C60EF1-DC00-44C1-7E2C-EF1D8489E4D2}"/>
              </a:ext>
            </a:extLst>
          </p:cNvPr>
          <p:cNvSpPr txBox="1">
            <a:spLocks noGrp="1"/>
          </p:cNvSpPr>
          <p:nvPr>
            <p:ph type="sldNum" idx="12"/>
          </p:nvPr>
        </p:nvSpPr>
        <p:spPr>
          <a:xfrm>
            <a:off x="4060190" y="8978451"/>
            <a:ext cx="3105997" cy="472889"/>
          </a:xfrm>
          <a:prstGeom prst="rect">
            <a:avLst/>
          </a:prstGeom>
          <a:noFill/>
          <a:ln>
            <a:noFill/>
          </a:ln>
        </p:spPr>
        <p:txBody>
          <a:bodyPr spcFirstLastPara="1" wrap="square" lIns="94945" tIns="47460" rIns="94945" bIns="47460" anchor="b" anchorCtr="0">
            <a:noAutofit/>
          </a:bodyPr>
          <a:lstStyle/>
          <a:p>
            <a:fld id="{00000000-1234-1234-1234-123412341234}" type="slidenum">
              <a:rPr lang="en-US">
                <a:solidFill>
                  <a:schemeClr val="dk1"/>
                </a:solidFill>
                <a:latin typeface="Tahoma"/>
                <a:ea typeface="Tahoma"/>
                <a:cs typeface="Tahoma"/>
                <a:sym typeface="Tahoma"/>
              </a:rPr>
              <a:pPr/>
              <a:t>1</a:t>
            </a:fld>
            <a:endParaRPr>
              <a:solidFill>
                <a:schemeClr val="dk1"/>
              </a:solidFill>
              <a:latin typeface="Tahoma"/>
              <a:ea typeface="Tahoma"/>
              <a:cs typeface="Tahoma"/>
              <a:sym typeface="Tahoma"/>
            </a:endParaRPr>
          </a:p>
        </p:txBody>
      </p:sp>
      <p:sp>
        <p:nvSpPr>
          <p:cNvPr id="86" name="Google Shape;86;p1:notes">
            <a:extLst>
              <a:ext uri="{FF2B5EF4-FFF2-40B4-BE49-F238E27FC236}">
                <a16:creationId xmlns:a16="http://schemas.microsoft.com/office/drawing/2014/main" id="{EF272A23-477B-3615-A9B2-4F36194F4975}"/>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a:extLst>
              <a:ext uri="{FF2B5EF4-FFF2-40B4-BE49-F238E27FC236}">
                <a16:creationId xmlns:a16="http://schemas.microsoft.com/office/drawing/2014/main" id="{4AE45CAA-3858-C648-3562-C148339B8269}"/>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endParaRPr dirty="0"/>
          </a:p>
        </p:txBody>
      </p:sp>
    </p:spTree>
    <p:extLst>
      <p:ext uri="{BB962C8B-B14F-4D97-AF65-F5344CB8AC3E}">
        <p14:creationId xmlns:p14="http://schemas.microsoft.com/office/powerpoint/2010/main" val="2366286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of PTH:</a:t>
            </a:r>
          </a:p>
          <a:p>
            <a:r>
              <a:rPr lang="en-US" dirty="0"/>
              <a:t>Activates osteoclasts and causes bone breakdown, which releases calcium into the bloodstream </a:t>
            </a:r>
          </a:p>
          <a:p>
            <a:endParaRPr lang="en-US" dirty="0"/>
          </a:p>
          <a:p>
            <a:r>
              <a:rPr lang="en-US" dirty="0"/>
              <a:t>Causes kidneys to hold on to calcium and release phosphorus in its place in the urine</a:t>
            </a:r>
          </a:p>
          <a:p>
            <a:endParaRPr lang="en-US" dirty="0"/>
          </a:p>
          <a:p>
            <a:r>
              <a:rPr lang="en-US" dirty="0"/>
              <a:t>Stimulates the kidneys to produce active vitamin D, which is necessary for the gut to absorb calcium from our diet.</a:t>
            </a:r>
          </a:p>
          <a:p>
            <a:endParaRPr lang="en-US" dirty="0"/>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a:t>
            </a:fld>
            <a:endParaRPr lang="en-US"/>
          </a:p>
        </p:txBody>
      </p:sp>
    </p:spTree>
    <p:extLst>
      <p:ext uri="{BB962C8B-B14F-4D97-AF65-F5344CB8AC3E}">
        <p14:creationId xmlns:p14="http://schemas.microsoft.com/office/powerpoint/2010/main" val="2545767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a:ea typeface="Arial"/>
                <a:cs typeface="Arial"/>
                <a:sym typeface="Arial"/>
              </a:rPr>
              <a:t>https://thyroid.com.au/finding-the-parathyroid-gland/, Accessed 11/24/25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a:ea typeface="Arial"/>
              <a:cs typeface="Arial"/>
              <a:sym typeface="Arial"/>
            </a:endParaRPr>
          </a:p>
        </p:txBody>
      </p:sp>
      <p:sp>
        <p:nvSpPr>
          <p:cNvPr id="4" name="Slide Number Placeholder 3"/>
          <p:cNvSpPr>
            <a:spLocks noGrp="1"/>
          </p:cNvSpPr>
          <p:nvPr>
            <p:ph type="sldNum" sz="quarter" idx="5"/>
          </p:nvPr>
        </p:nvSpPr>
        <p:spPr/>
        <p:txBody>
          <a:bodyPr/>
          <a:lstStyle/>
          <a:p>
            <a:fld id="{D303BCA6-AB4B-43A7-B415-DC0CE1CF7BFE}" type="slidenum">
              <a:rPr lang="en-US" smtClean="0"/>
              <a:t>3</a:t>
            </a:fld>
            <a:endParaRPr lang="en-US"/>
          </a:p>
        </p:txBody>
      </p:sp>
    </p:spTree>
    <p:extLst>
      <p:ext uri="{BB962C8B-B14F-4D97-AF65-F5344CB8AC3E}">
        <p14:creationId xmlns:p14="http://schemas.microsoft.com/office/powerpoint/2010/main" val="1999880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DC71EC6C-0087-B17E-F546-F7FE26953D7B}"/>
            </a:ext>
          </a:extLst>
        </p:cNvPr>
        <p:cNvGrpSpPr/>
        <p:nvPr/>
      </p:nvGrpSpPr>
      <p:grpSpPr>
        <a:xfrm>
          <a:off x="0" y="0"/>
          <a:ext cx="0" cy="0"/>
          <a:chOff x="0" y="0"/>
          <a:chExt cx="0" cy="0"/>
        </a:xfrm>
      </p:grpSpPr>
      <p:sp>
        <p:nvSpPr>
          <p:cNvPr id="65" name="Google Shape;65;p4:notes">
            <a:extLst>
              <a:ext uri="{FF2B5EF4-FFF2-40B4-BE49-F238E27FC236}">
                <a16:creationId xmlns:a16="http://schemas.microsoft.com/office/drawing/2014/main" id="{AF287EC7-FB41-0F80-870D-A32D02199CCC}"/>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
        <p:nvSpPr>
          <p:cNvPr id="66" name="Google Shape;66;p4:notes">
            <a:extLst>
              <a:ext uri="{FF2B5EF4-FFF2-40B4-BE49-F238E27FC236}">
                <a16:creationId xmlns:a16="http://schemas.microsoft.com/office/drawing/2014/main" id="{4248A8A5-EBD9-C652-1D4F-93F41618F081}"/>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05969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B811226E-A8C0-5A89-216B-2EA1DE63AB23}"/>
            </a:ext>
          </a:extLst>
        </p:cNvPr>
        <p:cNvGrpSpPr/>
        <p:nvPr/>
      </p:nvGrpSpPr>
      <p:grpSpPr>
        <a:xfrm>
          <a:off x="0" y="0"/>
          <a:ext cx="0" cy="0"/>
          <a:chOff x="0" y="0"/>
          <a:chExt cx="0" cy="0"/>
        </a:xfrm>
      </p:grpSpPr>
      <p:sp>
        <p:nvSpPr>
          <p:cNvPr id="65" name="Google Shape;65;p4:notes">
            <a:extLst>
              <a:ext uri="{FF2B5EF4-FFF2-40B4-BE49-F238E27FC236}">
                <a16:creationId xmlns:a16="http://schemas.microsoft.com/office/drawing/2014/main" id="{DE42222C-B914-DD13-93A7-CEDFD5A11B36}"/>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
        <p:nvSpPr>
          <p:cNvPr id="66" name="Google Shape;66;p4:notes">
            <a:extLst>
              <a:ext uri="{FF2B5EF4-FFF2-40B4-BE49-F238E27FC236}">
                <a16:creationId xmlns:a16="http://schemas.microsoft.com/office/drawing/2014/main" id="{00EF668E-8BAE-5583-082A-14E5BCC5928C}"/>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9442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05AADFC7-DE69-FB75-2555-41095EB311D6}"/>
            </a:ext>
          </a:extLst>
        </p:cNvPr>
        <p:cNvGrpSpPr/>
        <p:nvPr/>
      </p:nvGrpSpPr>
      <p:grpSpPr>
        <a:xfrm>
          <a:off x="0" y="0"/>
          <a:ext cx="0" cy="0"/>
          <a:chOff x="0" y="0"/>
          <a:chExt cx="0" cy="0"/>
        </a:xfrm>
      </p:grpSpPr>
      <p:sp>
        <p:nvSpPr>
          <p:cNvPr id="65" name="Google Shape;65;p4:notes">
            <a:extLst>
              <a:ext uri="{FF2B5EF4-FFF2-40B4-BE49-F238E27FC236}">
                <a16:creationId xmlns:a16="http://schemas.microsoft.com/office/drawing/2014/main" id="{16AF38E6-E037-144A-0396-F3CADDF4C886}"/>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
        <p:nvSpPr>
          <p:cNvPr id="66" name="Google Shape;66;p4:notes">
            <a:extLst>
              <a:ext uri="{FF2B5EF4-FFF2-40B4-BE49-F238E27FC236}">
                <a16:creationId xmlns:a16="http://schemas.microsoft.com/office/drawing/2014/main" id="{D2EBFB46-1312-699B-EB44-9A1D08EB1810}"/>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63062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F40B2168-577F-7629-04B8-CEA0685DA875}"/>
            </a:ext>
          </a:extLst>
        </p:cNvPr>
        <p:cNvGrpSpPr/>
        <p:nvPr/>
      </p:nvGrpSpPr>
      <p:grpSpPr>
        <a:xfrm>
          <a:off x="0" y="0"/>
          <a:ext cx="0" cy="0"/>
          <a:chOff x="0" y="0"/>
          <a:chExt cx="0" cy="0"/>
        </a:xfrm>
      </p:grpSpPr>
      <p:sp>
        <p:nvSpPr>
          <p:cNvPr id="65" name="Google Shape;65;p4:notes">
            <a:extLst>
              <a:ext uri="{FF2B5EF4-FFF2-40B4-BE49-F238E27FC236}">
                <a16:creationId xmlns:a16="http://schemas.microsoft.com/office/drawing/2014/main" id="{13354462-85E3-FE20-4F8C-A50236F8780F}"/>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
        <p:nvSpPr>
          <p:cNvPr id="66" name="Google Shape;66;p4:notes">
            <a:extLst>
              <a:ext uri="{FF2B5EF4-FFF2-40B4-BE49-F238E27FC236}">
                <a16:creationId xmlns:a16="http://schemas.microsoft.com/office/drawing/2014/main" id="{8CB40799-EAF8-BB1A-C5CA-ACB2999C5FD4}"/>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834765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9000A706-ABF0-641C-BCA0-624A5A216C38}"/>
            </a:ext>
          </a:extLst>
        </p:cNvPr>
        <p:cNvGrpSpPr/>
        <p:nvPr/>
      </p:nvGrpSpPr>
      <p:grpSpPr>
        <a:xfrm>
          <a:off x="0" y="0"/>
          <a:ext cx="0" cy="0"/>
          <a:chOff x="0" y="0"/>
          <a:chExt cx="0" cy="0"/>
        </a:xfrm>
      </p:grpSpPr>
      <p:sp>
        <p:nvSpPr>
          <p:cNvPr id="65" name="Google Shape;65;p4:notes">
            <a:extLst>
              <a:ext uri="{FF2B5EF4-FFF2-40B4-BE49-F238E27FC236}">
                <a16:creationId xmlns:a16="http://schemas.microsoft.com/office/drawing/2014/main" id="{97CEDD02-5858-7D8F-067D-A12AA5CB8307}"/>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r>
              <a:rPr lang="en-US" dirty="0"/>
              <a:t>Intracellularly, the levels of calcium are very low. Even tiny changes of calcium moving into the cell cause rapid reversible changes in the concentration of calcium.</a:t>
            </a:r>
          </a:p>
          <a:p>
            <a:pPr marL="0" lvl="0" indent="0" algn="l" rtl="0">
              <a:lnSpc>
                <a:spcPct val="145833"/>
              </a:lnSpc>
              <a:spcBef>
                <a:spcPts val="0"/>
              </a:spcBef>
              <a:spcAft>
                <a:spcPts val="0"/>
              </a:spcAft>
              <a:buSzPts val="1400"/>
              <a:buNone/>
            </a:pPr>
            <a:endParaRPr lang="en-US" dirty="0"/>
          </a:p>
          <a:p>
            <a:pPr marL="0" lvl="0" indent="0" algn="l" rtl="0">
              <a:lnSpc>
                <a:spcPct val="145833"/>
              </a:lnSpc>
              <a:spcBef>
                <a:spcPts val="0"/>
              </a:spcBef>
              <a:spcAft>
                <a:spcPts val="0"/>
              </a:spcAft>
              <a:buSzPts val="1400"/>
              <a:buNone/>
            </a:pPr>
            <a:r>
              <a:rPr lang="en-US" dirty="0"/>
              <a:t>Think about your early biology days.</a:t>
            </a:r>
          </a:p>
          <a:p>
            <a:pPr marL="0" lvl="0" indent="0" algn="l" rtl="0">
              <a:lnSpc>
                <a:spcPct val="145833"/>
              </a:lnSpc>
              <a:spcBef>
                <a:spcPts val="0"/>
              </a:spcBef>
              <a:spcAft>
                <a:spcPts val="0"/>
              </a:spcAft>
              <a:buSzPts val="1400"/>
              <a:buNone/>
            </a:pPr>
            <a:r>
              <a:rPr lang="en-US" dirty="0"/>
              <a:t>What is a second messenger? A hormone comes along in the blood stream, and it binds to the cell membrane, and by binding to the cell membrane, we get movement of calcium into the cell and we set off a chain reaction. The hormone itself never enters the cell, it’s the movement of calcium into it, that causes that change. </a:t>
            </a:r>
            <a:endParaRPr dirty="0"/>
          </a:p>
        </p:txBody>
      </p:sp>
      <p:sp>
        <p:nvSpPr>
          <p:cNvPr id="66" name="Google Shape;66;p4:notes">
            <a:extLst>
              <a:ext uri="{FF2B5EF4-FFF2-40B4-BE49-F238E27FC236}">
                <a16:creationId xmlns:a16="http://schemas.microsoft.com/office/drawing/2014/main" id="{A39504BF-CB0F-00F7-A4E5-BDC12525F209}"/>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874491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10</a:t>
            </a:fld>
            <a:endParaRPr lang="en-US"/>
          </a:p>
        </p:txBody>
      </p:sp>
    </p:spTree>
    <p:extLst>
      <p:ext uri="{BB962C8B-B14F-4D97-AF65-F5344CB8AC3E}">
        <p14:creationId xmlns:p14="http://schemas.microsoft.com/office/powerpoint/2010/main" val="1638554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8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89:notes"/>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96213D1C-1D8C-6F29-7245-69A62B77EE9D}"/>
            </a:ext>
          </a:extLst>
        </p:cNvPr>
        <p:cNvGrpSpPr/>
        <p:nvPr/>
      </p:nvGrpSpPr>
      <p:grpSpPr>
        <a:xfrm>
          <a:off x="0" y="0"/>
          <a:ext cx="0" cy="0"/>
          <a:chOff x="0" y="0"/>
          <a:chExt cx="0" cy="0"/>
        </a:xfrm>
      </p:grpSpPr>
      <p:sp>
        <p:nvSpPr>
          <p:cNvPr id="85" name="Google Shape;85;p89:notes">
            <a:extLst>
              <a:ext uri="{FF2B5EF4-FFF2-40B4-BE49-F238E27FC236}">
                <a16:creationId xmlns:a16="http://schemas.microsoft.com/office/drawing/2014/main" id="{7D4E8CB6-325F-6684-C4EE-8AB4A42FAB64}"/>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89:notes">
            <a:extLst>
              <a:ext uri="{FF2B5EF4-FFF2-40B4-BE49-F238E27FC236}">
                <a16:creationId xmlns:a16="http://schemas.microsoft.com/office/drawing/2014/main" id="{B3BA0FC8-54E0-A253-3721-DC6D15E6C868}"/>
              </a:ext>
            </a:extLst>
          </p:cNvPr>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dirty="0"/>
          </a:p>
        </p:txBody>
      </p:sp>
    </p:spTree>
    <p:extLst>
      <p:ext uri="{BB962C8B-B14F-4D97-AF65-F5344CB8AC3E}">
        <p14:creationId xmlns:p14="http://schemas.microsoft.com/office/powerpoint/2010/main" val="1624971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755A-6675-1F5F-5AA1-591C5CDB5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E69B-9159-2C16-8F86-3B3226DE1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6F492-CCC8-BC00-C86E-A02E299DA366}"/>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6EA8F9C5-F471-BE0D-9303-DAFBC8372C62}"/>
              </a:ext>
            </a:extLst>
          </p:cNvPr>
          <p:cNvSpPr>
            <a:spLocks noGrp="1"/>
          </p:cNvSpPr>
          <p:nvPr>
            <p:ph type="sldNum" sz="quarter" idx="5"/>
          </p:nvPr>
        </p:nvSpPr>
        <p:spPr/>
        <p:txBody>
          <a:bodyPr/>
          <a:lstStyle/>
          <a:p>
            <a:fld id="{D303BCA6-AB4B-43A7-B415-DC0CE1CF7BFE}" type="slidenum">
              <a:rPr lang="en-US" smtClean="0"/>
              <a:t>13</a:t>
            </a:fld>
            <a:endParaRPr lang="en-US"/>
          </a:p>
        </p:txBody>
      </p:sp>
    </p:spTree>
    <p:extLst>
      <p:ext uri="{BB962C8B-B14F-4D97-AF65-F5344CB8AC3E}">
        <p14:creationId xmlns:p14="http://schemas.microsoft.com/office/powerpoint/2010/main" val="1395691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15EA4-5A74-9872-42EB-FEB5A5CF5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DB361-892A-BFCB-670E-64FC52A79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B3DB5-C802-FF5A-481A-06928093D373}"/>
              </a:ext>
            </a:extLst>
          </p:cNvPr>
          <p:cNvSpPr>
            <a:spLocks noGrp="1"/>
          </p:cNvSpPr>
          <p:nvPr>
            <p:ph type="body" idx="1"/>
          </p:nvPr>
        </p:nvSpPr>
        <p:spPr/>
        <p:txBody>
          <a:bodyPr/>
          <a:lstStyle/>
          <a:p>
            <a:pPr defTabSz="931774">
              <a:defRPr/>
            </a:pPr>
            <a:endParaRPr lang="en-US" b="1" dirty="0"/>
          </a:p>
        </p:txBody>
      </p:sp>
      <p:sp>
        <p:nvSpPr>
          <p:cNvPr id="4" name="Slide Number Placeholder 3">
            <a:extLst>
              <a:ext uri="{FF2B5EF4-FFF2-40B4-BE49-F238E27FC236}">
                <a16:creationId xmlns:a16="http://schemas.microsoft.com/office/drawing/2014/main" id="{99FF161D-C3CA-FBAC-E66D-6BBA2F2985DE}"/>
              </a:ext>
            </a:extLst>
          </p:cNvPr>
          <p:cNvSpPr>
            <a:spLocks noGrp="1"/>
          </p:cNvSpPr>
          <p:nvPr>
            <p:ph type="sldNum" sz="quarter" idx="5"/>
          </p:nvPr>
        </p:nvSpPr>
        <p:spPr/>
        <p:txBody>
          <a:bodyPr/>
          <a:lstStyle/>
          <a:p>
            <a:fld id="{D303BCA6-AB4B-43A7-B415-DC0CE1CF7BFE}" type="slidenum">
              <a:rPr lang="en-US" smtClean="0"/>
              <a:t>14</a:t>
            </a:fld>
            <a:endParaRPr lang="en-US"/>
          </a:p>
        </p:txBody>
      </p:sp>
    </p:spTree>
    <p:extLst>
      <p:ext uri="{BB962C8B-B14F-4D97-AF65-F5344CB8AC3E}">
        <p14:creationId xmlns:p14="http://schemas.microsoft.com/office/powerpoint/2010/main" val="334034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90B5-9E04-24CB-97A0-DAD5FB3D2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29E95-0938-BC78-21E6-4A4A04056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48085-155E-CE50-F7FE-00D5ABD3366D}"/>
              </a:ext>
            </a:extLst>
          </p:cNvPr>
          <p:cNvSpPr>
            <a:spLocks noGrp="1"/>
          </p:cNvSpPr>
          <p:nvPr>
            <p:ph type="body" idx="1"/>
          </p:nvPr>
        </p:nvSpPr>
        <p:spPr/>
        <p:txBody>
          <a:bodyPr/>
          <a:lstStyle/>
          <a:p>
            <a:pPr defTabSz="931774">
              <a:defRPr/>
            </a:pPr>
            <a:endParaRPr lang="en-US" b="1" dirty="0"/>
          </a:p>
        </p:txBody>
      </p:sp>
      <p:sp>
        <p:nvSpPr>
          <p:cNvPr id="4" name="Slide Number Placeholder 3">
            <a:extLst>
              <a:ext uri="{FF2B5EF4-FFF2-40B4-BE49-F238E27FC236}">
                <a16:creationId xmlns:a16="http://schemas.microsoft.com/office/drawing/2014/main" id="{D9BC665A-82E6-F3E4-9F52-9EF30FC219AC}"/>
              </a:ext>
            </a:extLst>
          </p:cNvPr>
          <p:cNvSpPr>
            <a:spLocks noGrp="1"/>
          </p:cNvSpPr>
          <p:nvPr>
            <p:ph type="sldNum" sz="quarter" idx="5"/>
          </p:nvPr>
        </p:nvSpPr>
        <p:spPr/>
        <p:txBody>
          <a:bodyPr/>
          <a:lstStyle/>
          <a:p>
            <a:fld id="{D303BCA6-AB4B-43A7-B415-DC0CE1CF7BFE}" type="slidenum">
              <a:rPr lang="en-US" smtClean="0"/>
              <a:t>15</a:t>
            </a:fld>
            <a:endParaRPr lang="en-US"/>
          </a:p>
        </p:txBody>
      </p:sp>
    </p:spTree>
    <p:extLst>
      <p:ext uri="{BB962C8B-B14F-4D97-AF65-F5344CB8AC3E}">
        <p14:creationId xmlns:p14="http://schemas.microsoft.com/office/powerpoint/2010/main" val="1128535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16</a:t>
            </a:fld>
            <a:endParaRPr lang="en-US"/>
          </a:p>
        </p:txBody>
      </p:sp>
    </p:spTree>
    <p:extLst>
      <p:ext uri="{BB962C8B-B14F-4D97-AF65-F5344CB8AC3E}">
        <p14:creationId xmlns:p14="http://schemas.microsoft.com/office/powerpoint/2010/main" val="3567829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Helvetica" panose="020B0604020202020204" pitchFamily="34" charset="0"/>
                <a:cs typeface="Helvetica" panose="020B0604020202020204" pitchFamily="34" charset="0"/>
              </a:rPr>
              <a:t>Parathyroid hormone (PTH) acts in four ways to increase serum calcium levels.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17</a:t>
            </a:fld>
            <a:endParaRPr lang="en-US"/>
          </a:p>
        </p:txBody>
      </p:sp>
    </p:spTree>
    <p:extLst>
      <p:ext uri="{BB962C8B-B14F-4D97-AF65-F5344CB8AC3E}">
        <p14:creationId xmlns:p14="http://schemas.microsoft.com/office/powerpoint/2010/main" val="1253053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18</a:t>
            </a:fld>
            <a:endParaRPr lang="en-US"/>
          </a:p>
        </p:txBody>
      </p:sp>
    </p:spTree>
    <p:extLst>
      <p:ext uri="{BB962C8B-B14F-4D97-AF65-F5344CB8AC3E}">
        <p14:creationId xmlns:p14="http://schemas.microsoft.com/office/powerpoint/2010/main" val="2001281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7:notes"/>
          <p:cNvSpPr txBox="1">
            <a:spLocks noGrp="1"/>
          </p:cNvSpPr>
          <p:nvPr>
            <p:ph type="body" idx="1"/>
          </p:nvPr>
        </p:nvSpPr>
        <p:spPr>
          <a:xfrm>
            <a:off x="935038" y="4416425"/>
            <a:ext cx="5140325" cy="4183063"/>
          </a:xfrm>
          <a:prstGeom prst="rect">
            <a:avLst/>
          </a:prstGeom>
          <a:noFill/>
          <a:ln>
            <a:noFill/>
          </a:ln>
        </p:spPr>
        <p:txBody>
          <a:bodyPr spcFirstLastPara="1" wrap="square" lIns="93175" tIns="46575" rIns="93175" bIns="46575" anchor="t" anchorCtr="0">
            <a:noAutofit/>
          </a:bodyPr>
          <a:lstStyle/>
          <a:p>
            <a:pPr marL="0" lvl="0" indent="0" algn="l" rtl="0">
              <a:lnSpc>
                <a:spcPct val="145833"/>
              </a:lnSpc>
              <a:spcBef>
                <a:spcPts val="0"/>
              </a:spcBef>
              <a:spcAft>
                <a:spcPts val="0"/>
              </a:spcAft>
              <a:buSzPts val="1400"/>
              <a:buNone/>
            </a:pPr>
            <a:endParaRPr/>
          </a:p>
        </p:txBody>
      </p:sp>
      <p:sp>
        <p:nvSpPr>
          <p:cNvPr id="176" name="Google Shape;176;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20</a:t>
            </a:fld>
            <a:endParaRPr lang="en-US"/>
          </a:p>
        </p:txBody>
      </p:sp>
    </p:spTree>
    <p:extLst>
      <p:ext uri="{BB962C8B-B14F-4D97-AF65-F5344CB8AC3E}">
        <p14:creationId xmlns:p14="http://schemas.microsoft.com/office/powerpoint/2010/main" val="1346019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21</a:t>
            </a:fld>
            <a:endParaRPr lang="en-US"/>
          </a:p>
        </p:txBody>
      </p:sp>
    </p:spTree>
    <p:extLst>
      <p:ext uri="{BB962C8B-B14F-4D97-AF65-F5344CB8AC3E}">
        <p14:creationId xmlns:p14="http://schemas.microsoft.com/office/powerpoint/2010/main" val="483287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https://basicmedicalkey.com/calcium-homeostasis-and-hormonal-regulation/ Accessed 11/30/25</a:t>
            </a:r>
          </a:p>
        </p:txBody>
      </p:sp>
      <p:sp>
        <p:nvSpPr>
          <p:cNvPr id="4" name="Slide Number Placeholder 3"/>
          <p:cNvSpPr>
            <a:spLocks noGrp="1"/>
          </p:cNvSpPr>
          <p:nvPr>
            <p:ph type="sldNum" sz="quarter" idx="5"/>
          </p:nvPr>
        </p:nvSpPr>
        <p:spPr/>
        <p:txBody>
          <a:bodyPr/>
          <a:lstStyle/>
          <a:p>
            <a:fld id="{D303BCA6-AB4B-43A7-B415-DC0CE1CF7BFE}" type="slidenum">
              <a:rPr lang="en-US" smtClean="0"/>
              <a:t>22</a:t>
            </a:fld>
            <a:endParaRPr lang="en-US"/>
          </a:p>
        </p:txBody>
      </p:sp>
    </p:spTree>
    <p:extLst>
      <p:ext uri="{BB962C8B-B14F-4D97-AF65-F5344CB8AC3E}">
        <p14:creationId xmlns:p14="http://schemas.microsoft.com/office/powerpoint/2010/main" val="1488906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23</a:t>
            </a:fld>
            <a:endParaRPr lang="en-US"/>
          </a:p>
        </p:txBody>
      </p:sp>
    </p:spTree>
    <p:extLst>
      <p:ext uri="{BB962C8B-B14F-4D97-AF65-F5344CB8AC3E}">
        <p14:creationId xmlns:p14="http://schemas.microsoft.com/office/powerpoint/2010/main" val="1032727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45833"/>
              </a:lnSpc>
              <a:buSzPts val="1400"/>
            </a:pPr>
            <a:endParaRPr lang="en-US" b="0" dirty="0"/>
          </a:p>
        </p:txBody>
      </p:sp>
      <p:sp>
        <p:nvSpPr>
          <p:cNvPr id="4" name="Slide Number Placeholder 3"/>
          <p:cNvSpPr>
            <a:spLocks noGrp="1"/>
          </p:cNvSpPr>
          <p:nvPr>
            <p:ph type="sldNum" sz="quarter" idx="5"/>
          </p:nvPr>
        </p:nvSpPr>
        <p:spPr/>
        <p:txBody>
          <a:bodyPr/>
          <a:lstStyle/>
          <a:p>
            <a:fld id="{D303BCA6-AB4B-43A7-B415-DC0CE1CF7BFE}" type="slidenum">
              <a:rPr lang="en-US" smtClean="0"/>
              <a:t>24</a:t>
            </a:fld>
            <a:endParaRPr lang="en-US"/>
          </a:p>
        </p:txBody>
      </p:sp>
    </p:spTree>
    <p:extLst>
      <p:ext uri="{BB962C8B-B14F-4D97-AF65-F5344CB8AC3E}">
        <p14:creationId xmlns:p14="http://schemas.microsoft.com/office/powerpoint/2010/main" val="4019744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25</a:t>
            </a:fld>
            <a:endParaRPr lang="en-US"/>
          </a:p>
        </p:txBody>
      </p:sp>
    </p:spTree>
    <p:extLst>
      <p:ext uri="{BB962C8B-B14F-4D97-AF65-F5344CB8AC3E}">
        <p14:creationId xmlns:p14="http://schemas.microsoft.com/office/powerpoint/2010/main" val="1997973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26</a:t>
            </a:fld>
            <a:endParaRPr lang="en-US"/>
          </a:p>
        </p:txBody>
      </p:sp>
    </p:spTree>
    <p:extLst>
      <p:ext uri="{BB962C8B-B14F-4D97-AF65-F5344CB8AC3E}">
        <p14:creationId xmlns:p14="http://schemas.microsoft.com/office/powerpoint/2010/main" val="2208715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28</a:t>
            </a:fld>
            <a:endParaRPr lang="en-US"/>
          </a:p>
        </p:txBody>
      </p:sp>
    </p:spTree>
    <p:extLst>
      <p:ext uri="{BB962C8B-B14F-4D97-AF65-F5344CB8AC3E}">
        <p14:creationId xmlns:p14="http://schemas.microsoft.com/office/powerpoint/2010/main" val="823004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29</a:t>
            </a:fld>
            <a:endParaRPr lang="en-US"/>
          </a:p>
        </p:txBody>
      </p:sp>
    </p:spTree>
    <p:extLst>
      <p:ext uri="{BB962C8B-B14F-4D97-AF65-F5344CB8AC3E}">
        <p14:creationId xmlns:p14="http://schemas.microsoft.com/office/powerpoint/2010/main" val="3853034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31</a:t>
            </a:fld>
            <a:endParaRPr lang="en-US"/>
          </a:p>
        </p:txBody>
      </p:sp>
    </p:spTree>
    <p:extLst>
      <p:ext uri="{BB962C8B-B14F-4D97-AF65-F5344CB8AC3E}">
        <p14:creationId xmlns:p14="http://schemas.microsoft.com/office/powerpoint/2010/main" val="2678783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Jill’s trick: One more “O” in the cardiac effect for calcium disorders. Hypercalcemia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32</a:t>
            </a:fld>
            <a:endParaRPr lang="en-US"/>
          </a:p>
        </p:txBody>
      </p:sp>
    </p:spTree>
    <p:extLst>
      <p:ext uri="{BB962C8B-B14F-4D97-AF65-F5344CB8AC3E}">
        <p14:creationId xmlns:p14="http://schemas.microsoft.com/office/powerpoint/2010/main" val="903209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Appropriate response: </a:t>
            </a:r>
            <a:r>
              <a:rPr lang="en-US" b="0" dirty="0"/>
              <a:t>Low levels of PTH.</a:t>
            </a:r>
          </a:p>
          <a:p>
            <a:endParaRPr lang="en-US" b="0" dirty="0"/>
          </a:p>
          <a:p>
            <a:r>
              <a:rPr lang="en-US" b="0" dirty="0"/>
              <a:t>Intact PTH is high and calcium is high, means that the parathyroid gland is autonomously secreting PTH on its own.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34</a:t>
            </a:fld>
            <a:endParaRPr lang="en-US"/>
          </a:p>
        </p:txBody>
      </p:sp>
    </p:spTree>
    <p:extLst>
      <p:ext uri="{BB962C8B-B14F-4D97-AF65-F5344CB8AC3E}">
        <p14:creationId xmlns:p14="http://schemas.microsoft.com/office/powerpoint/2010/main" val="2328217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paraneoplastic syndrome are clinical symptoms that are caused INDIRECTLY by the tumor rather than by the physical presence of or spread of the cancer itself. </a:t>
            </a:r>
          </a:p>
          <a:p>
            <a:endParaRPr lang="en-US" dirty="0"/>
          </a:p>
          <a:p>
            <a:endParaRPr lang="en-US" dirty="0"/>
          </a:p>
          <a:p>
            <a:r>
              <a:rPr lang="en-US" dirty="0"/>
              <a:t>Check 25-hydroxyvitamin D and 1,25-dihydroxyvitamin D and </a:t>
            </a:r>
            <a:r>
              <a:rPr lang="en-US" dirty="0" err="1"/>
              <a:t>PTHrP</a:t>
            </a:r>
            <a:r>
              <a:rPr lang="en-US" dirty="0"/>
              <a:t>. </a:t>
            </a:r>
            <a:r>
              <a:rPr lang="en-US" dirty="0" err="1"/>
              <a:t>PTHrP</a:t>
            </a:r>
            <a:r>
              <a:rPr lang="en-US" dirty="0"/>
              <a:t> suggestive of a paraneoplastic syndrome caused by cancer. Vitamin D levels are checked to rule out a vitamin D toxicity as a cause of hypercalcemia. </a:t>
            </a:r>
          </a:p>
          <a:p>
            <a:endParaRPr lang="en-US" dirty="0"/>
          </a:p>
          <a:p>
            <a:r>
              <a:rPr lang="en-US" b="1" dirty="0"/>
              <a:t>If </a:t>
            </a:r>
            <a:r>
              <a:rPr lang="en-US" b="1" dirty="0" err="1"/>
              <a:t>PTHrP</a:t>
            </a:r>
            <a:r>
              <a:rPr lang="en-US" b="1" dirty="0"/>
              <a:t> is high, we know patient has a malignancy and we will start looking for that cancer.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35</a:t>
            </a:fld>
            <a:endParaRPr lang="en-US"/>
          </a:p>
        </p:txBody>
      </p:sp>
    </p:spTree>
    <p:extLst>
      <p:ext uri="{BB962C8B-B14F-4D97-AF65-F5344CB8AC3E}">
        <p14:creationId xmlns:p14="http://schemas.microsoft.com/office/powerpoint/2010/main" val="6201633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Checking to see if a patient is taking too much vitamin D. We cannot get too much Vitamin D from sun exposure, but we can from a dietary supplement. </a:t>
            </a:r>
          </a:p>
        </p:txBody>
      </p:sp>
      <p:sp>
        <p:nvSpPr>
          <p:cNvPr id="4" name="Slide Number Placeholder 3"/>
          <p:cNvSpPr>
            <a:spLocks noGrp="1"/>
          </p:cNvSpPr>
          <p:nvPr>
            <p:ph type="sldNum" sz="quarter" idx="5"/>
          </p:nvPr>
        </p:nvSpPr>
        <p:spPr/>
        <p:txBody>
          <a:bodyPr/>
          <a:lstStyle/>
          <a:p>
            <a:fld id="{D303BCA6-AB4B-43A7-B415-DC0CE1CF7BFE}" type="slidenum">
              <a:rPr lang="en-US" smtClean="0"/>
              <a:t>36</a:t>
            </a:fld>
            <a:endParaRPr lang="en-US"/>
          </a:p>
        </p:txBody>
      </p:sp>
    </p:spTree>
    <p:extLst>
      <p:ext uri="{BB962C8B-B14F-4D97-AF65-F5344CB8AC3E}">
        <p14:creationId xmlns:p14="http://schemas.microsoft.com/office/powerpoint/2010/main" val="1240572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After elevated serum calcium, we want to check 1) is it real and 2) why is it happening. Repeat calcium first.</a:t>
            </a:r>
          </a:p>
          <a:p>
            <a:endParaRPr lang="en-US" b="0" dirty="0"/>
          </a:p>
        </p:txBody>
      </p:sp>
      <p:sp>
        <p:nvSpPr>
          <p:cNvPr id="4" name="Slide Number Placeholder 3"/>
          <p:cNvSpPr>
            <a:spLocks noGrp="1"/>
          </p:cNvSpPr>
          <p:nvPr>
            <p:ph type="sldNum" sz="quarter" idx="5"/>
          </p:nvPr>
        </p:nvSpPr>
        <p:spPr/>
        <p:txBody>
          <a:bodyPr/>
          <a:lstStyle/>
          <a:p>
            <a:fld id="{D303BCA6-AB4B-43A7-B415-DC0CE1CF7BFE}" type="slidenum">
              <a:rPr lang="en-US" smtClean="0"/>
              <a:t>37</a:t>
            </a:fld>
            <a:endParaRPr lang="en-US"/>
          </a:p>
        </p:txBody>
      </p:sp>
    </p:spTree>
    <p:extLst>
      <p:ext uri="{BB962C8B-B14F-4D97-AF65-F5344CB8AC3E}">
        <p14:creationId xmlns:p14="http://schemas.microsoft.com/office/powerpoint/2010/main" val="233272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 rest and immobility promote bone resorption or breakdown and increase osteoclast activity. </a:t>
            </a:r>
          </a:p>
          <a:p>
            <a:endParaRPr lang="en-US" dirty="0"/>
          </a:p>
          <a:p>
            <a:r>
              <a:rPr lang="en-US" dirty="0"/>
              <a:t>Drink lots of water so as little calcium is in the renal tubule as possible to prevent kidney stones</a:t>
            </a:r>
          </a:p>
          <a:p>
            <a:endParaRPr lang="en-US" dirty="0"/>
          </a:p>
          <a:p>
            <a:r>
              <a:rPr lang="en-US" dirty="0"/>
              <a:t>Aggressive oral hydration – good rule of thumb is take the patient’s weight in </a:t>
            </a:r>
            <a:r>
              <a:rPr lang="en-US" dirty="0" err="1"/>
              <a:t>lbs</a:t>
            </a:r>
            <a:r>
              <a:rPr lang="en-US" dirty="0"/>
              <a:t> and multiply by 0.5. That will be number of oz to aim for. Quite a lot of water!</a:t>
            </a:r>
          </a:p>
          <a:p>
            <a:r>
              <a:rPr lang="en-US" dirty="0"/>
              <a:t>Example. Patient weighs 160 </a:t>
            </a:r>
            <a:r>
              <a:rPr lang="en-US" dirty="0" err="1"/>
              <a:t>lbs</a:t>
            </a:r>
            <a:r>
              <a:rPr lang="en-US" dirty="0"/>
              <a:t>, goal is to drink 80 oz or 10 cups of water per day. Day in and day out.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39</a:t>
            </a:fld>
            <a:endParaRPr lang="en-US"/>
          </a:p>
        </p:txBody>
      </p:sp>
    </p:spTree>
    <p:extLst>
      <p:ext uri="{BB962C8B-B14F-4D97-AF65-F5344CB8AC3E}">
        <p14:creationId xmlns:p14="http://schemas.microsoft.com/office/powerpoint/2010/main" val="2337982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7C85B-A9FD-9ACF-91D2-1E07E3CA4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5B9E0-831D-37A7-E81D-312A200C4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CE85E-9268-2E64-75E7-DADA95A23B6B}"/>
              </a:ext>
            </a:extLst>
          </p:cNvPr>
          <p:cNvSpPr>
            <a:spLocks noGrp="1"/>
          </p:cNvSpPr>
          <p:nvPr>
            <p:ph type="body" idx="1"/>
          </p:nvPr>
        </p:nvSpPr>
        <p:spPr/>
        <p:txBody>
          <a:bodyPr/>
          <a:lstStyle/>
          <a:p>
            <a:r>
              <a:rPr lang="en-US" dirty="0"/>
              <a:t>Zoledronic acid only requires 1 dose</a:t>
            </a:r>
          </a:p>
          <a:p>
            <a:endParaRPr lang="en-US" dirty="0"/>
          </a:p>
          <a:p>
            <a:r>
              <a:rPr lang="en-US" dirty="0"/>
              <a:t>0.9 NS. 100 cc/</a:t>
            </a:r>
            <a:r>
              <a:rPr lang="en-US" dirty="0" err="1"/>
              <a:t>hr</a:t>
            </a:r>
            <a:r>
              <a:rPr lang="en-US" dirty="0"/>
              <a:t> is a pretty good clip if patient is also drinking water by mouth. </a:t>
            </a:r>
          </a:p>
          <a:p>
            <a:r>
              <a:rPr lang="en-US" dirty="0"/>
              <a:t>Zoledronic acid is a </a:t>
            </a:r>
            <a:r>
              <a:rPr lang="en-US" b="1" dirty="0"/>
              <a:t>one time dose. </a:t>
            </a:r>
            <a:r>
              <a:rPr lang="en-US" b="0" dirty="0"/>
              <a:t>Lowers calcium down by the next day. </a:t>
            </a:r>
            <a:endParaRPr lang="en-US" dirty="0"/>
          </a:p>
          <a:p>
            <a:endParaRPr lang="en-US" dirty="0"/>
          </a:p>
        </p:txBody>
      </p:sp>
      <p:sp>
        <p:nvSpPr>
          <p:cNvPr id="4" name="Slide Number Placeholder 3">
            <a:extLst>
              <a:ext uri="{FF2B5EF4-FFF2-40B4-BE49-F238E27FC236}">
                <a16:creationId xmlns:a16="http://schemas.microsoft.com/office/drawing/2014/main" id="{BEDFA875-7EA7-3458-56AC-AB53AC8E248B}"/>
              </a:ext>
            </a:extLst>
          </p:cNvPr>
          <p:cNvSpPr>
            <a:spLocks noGrp="1"/>
          </p:cNvSpPr>
          <p:nvPr>
            <p:ph type="sldNum" sz="quarter" idx="5"/>
          </p:nvPr>
        </p:nvSpPr>
        <p:spPr/>
        <p:txBody>
          <a:bodyPr/>
          <a:lstStyle/>
          <a:p>
            <a:fld id="{D303BCA6-AB4B-43A7-B415-DC0CE1CF7BFE}" type="slidenum">
              <a:rPr lang="en-US" smtClean="0"/>
              <a:t>40</a:t>
            </a:fld>
            <a:endParaRPr lang="en-US"/>
          </a:p>
        </p:txBody>
      </p:sp>
    </p:spTree>
    <p:extLst>
      <p:ext uri="{BB962C8B-B14F-4D97-AF65-F5344CB8AC3E}">
        <p14:creationId xmlns:p14="http://schemas.microsoft.com/office/powerpoint/2010/main" val="1843645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3: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Muscle spasms due to prolonged muscle contraction. Muscle cells need very little stimulation to twitch. </a:t>
            </a:r>
          </a:p>
          <a:p>
            <a:pPr>
              <a:lnSpc>
                <a:spcPct val="145833"/>
              </a:lnSpc>
              <a:buSzPts val="1400"/>
            </a:pPr>
            <a:endParaRPr lang="en-US" dirty="0"/>
          </a:p>
          <a:p>
            <a:pPr>
              <a:lnSpc>
                <a:spcPct val="145833"/>
              </a:lnSpc>
              <a:buSzPts val="1400"/>
            </a:pPr>
            <a:r>
              <a:rPr lang="en-US" dirty="0"/>
              <a:t>Prolongation of QT may lead to arrhythmia. </a:t>
            </a:r>
          </a:p>
          <a:p>
            <a:pPr>
              <a:lnSpc>
                <a:spcPct val="145833"/>
              </a:lnSpc>
              <a:buSzPts val="1400"/>
            </a:pPr>
            <a:endParaRPr lang="en-US" b="1" dirty="0"/>
          </a:p>
          <a:p>
            <a:pPr>
              <a:lnSpc>
                <a:spcPct val="145833"/>
              </a:lnSpc>
              <a:buSzPts val="1400"/>
            </a:pPr>
            <a:r>
              <a:rPr lang="en-US" b="0" dirty="0"/>
              <a:t>Laryngospasm is rare to be the single  presenting symptom, without signs of overt tetany or seizure.</a:t>
            </a:r>
          </a:p>
          <a:p>
            <a:pPr>
              <a:lnSpc>
                <a:spcPct val="145833"/>
              </a:lnSpc>
              <a:buSzPts val="1400"/>
            </a:pPr>
            <a:endParaRPr lang="en-US" dirty="0"/>
          </a:p>
          <a:p>
            <a:pPr>
              <a:lnSpc>
                <a:spcPct val="145833"/>
              </a:lnSpc>
              <a:buSzPts val="1400"/>
            </a:pPr>
            <a:endParaRPr lang="en-US" dirty="0"/>
          </a:p>
          <a:p>
            <a:pPr>
              <a:lnSpc>
                <a:spcPct val="145833"/>
              </a:lnSpc>
              <a:buSzPts val="1400"/>
            </a:pPr>
            <a:r>
              <a:rPr lang="en-US" dirty="0"/>
              <a:t>https://www.nytimes.com/2024/06/30/movies/inside-out-2-anxiety-character.html, Accessed 11/30/25</a:t>
            </a:r>
            <a:endParaRPr dirty="0"/>
          </a:p>
        </p:txBody>
      </p:sp>
      <p:sp>
        <p:nvSpPr>
          <p:cNvPr id="300" name="Google Shape;300;p33: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4: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From UpToDate: Check PTH, phosphorus, magnesium, 25(OH)D, 1,25 (OH) 2D, and creatinine</a:t>
            </a:r>
          </a:p>
          <a:p>
            <a:pPr>
              <a:lnSpc>
                <a:spcPct val="145833"/>
              </a:lnSpc>
              <a:buSzPts val="1400"/>
            </a:pPr>
            <a:endParaRPr lang="en-US" sz="1200" b="0" i="0" kern="1200" dirty="0">
              <a:solidFill>
                <a:schemeClr val="tx1"/>
              </a:solidFill>
              <a:effectLst/>
              <a:latin typeface="+mn-lt"/>
              <a:ea typeface="+mn-ea"/>
              <a:cs typeface="+mn-cs"/>
            </a:endParaRPr>
          </a:p>
          <a:p>
            <a:pPr marL="272346" indent="-272346">
              <a:lnSpc>
                <a:spcPct val="100000"/>
              </a:lnSpc>
              <a:spcBef>
                <a:spcPts val="844"/>
              </a:spcBef>
              <a:spcAft>
                <a:spcPts val="422"/>
              </a:spcAft>
              <a:buClr>
                <a:srgbClr val="000000"/>
              </a:buClr>
              <a:buSzPct val="80000"/>
              <a:buFont typeface="Calibri"/>
              <a:buChar char="•"/>
            </a:pPr>
            <a:r>
              <a:rPr lang="en-US" dirty="0">
                <a:latin typeface="Helvetica" panose="020B0604020202020204" pitchFamily="34" charset="0"/>
                <a:ea typeface="Calibri"/>
                <a:cs typeface="Helvetica" panose="020B0604020202020204" pitchFamily="34" charset="0"/>
                <a:sym typeface="Calibri"/>
              </a:rPr>
              <a:t>Common causes of hypocalcemia:</a:t>
            </a:r>
          </a:p>
          <a:p>
            <a:pPr marL="729546" lvl="1" indent="-272346">
              <a:lnSpc>
                <a:spcPct val="100000"/>
              </a:lnSpc>
              <a:spcBef>
                <a:spcPts val="844"/>
              </a:spcBef>
              <a:spcAft>
                <a:spcPts val="422"/>
              </a:spcAft>
              <a:buClr>
                <a:srgbClr val="000000"/>
              </a:buClr>
              <a:buSzPct val="80000"/>
              <a:buFont typeface="Calibri"/>
              <a:buChar char="•"/>
            </a:pPr>
            <a:r>
              <a:rPr lang="en-US" sz="2800" dirty="0">
                <a:latin typeface="Helvetica" panose="020B0604020202020204" pitchFamily="34" charset="0"/>
                <a:ea typeface="Calibri"/>
                <a:cs typeface="Helvetica" panose="020B0604020202020204" pitchFamily="34" charset="0"/>
                <a:sym typeface="Calibri"/>
              </a:rPr>
              <a:t>Vitamin D deficiency, renal failure, hypomagnesemia, hypoparathyroidism </a:t>
            </a:r>
          </a:p>
          <a:p>
            <a:pPr>
              <a:lnSpc>
                <a:spcPct val="145833"/>
              </a:lnSpc>
              <a:buSzPts val="1400"/>
            </a:pPr>
            <a:endParaRPr lang="en-US" sz="1200" b="0" i="0" kern="1200" dirty="0">
              <a:solidFill>
                <a:schemeClr val="tx1"/>
              </a:solidFill>
              <a:effectLst/>
              <a:latin typeface="+mn-lt"/>
              <a:ea typeface="+mn-ea"/>
              <a:cs typeface="+mn-cs"/>
            </a:endParaRPr>
          </a:p>
          <a:p>
            <a:pPr>
              <a:lnSpc>
                <a:spcPct val="145833"/>
              </a:lnSpc>
              <a:buSzPts val="1400"/>
            </a:pPr>
            <a:endParaRPr lang="en-US" sz="1200" b="0" i="0" kern="1200" dirty="0">
              <a:solidFill>
                <a:schemeClr val="tx1"/>
              </a:solidFill>
              <a:effectLst/>
              <a:latin typeface="+mn-lt"/>
              <a:ea typeface="+mn-ea"/>
              <a:cs typeface="+mn-cs"/>
            </a:endParaRPr>
          </a:p>
          <a:p>
            <a:pPr>
              <a:lnSpc>
                <a:spcPct val="145833"/>
              </a:lnSpc>
              <a:buSzPts val="1400"/>
            </a:pPr>
            <a:endParaRPr lang="en-US" sz="1200" b="0" i="0" kern="1200" dirty="0">
              <a:solidFill>
                <a:schemeClr val="tx1"/>
              </a:solidFill>
              <a:effectLst/>
              <a:latin typeface="+mn-lt"/>
              <a:ea typeface="+mn-ea"/>
              <a:cs typeface="+mn-cs"/>
            </a:endParaRPr>
          </a:p>
          <a:p>
            <a:pPr>
              <a:lnSpc>
                <a:spcPct val="145833"/>
              </a:lnSpc>
              <a:buSzPts val="1400"/>
            </a:pPr>
            <a:r>
              <a:rPr lang="en-US" sz="1200" b="0" i="0" kern="1200" dirty="0">
                <a:solidFill>
                  <a:schemeClr val="tx1"/>
                </a:solidFill>
                <a:effectLst/>
                <a:latin typeface="+mn-lt"/>
                <a:ea typeface="+mn-ea"/>
                <a:cs typeface="+mn-cs"/>
              </a:rPr>
              <a:t>the vitamin D metabolites </a:t>
            </a:r>
            <a:r>
              <a:rPr lang="en-US" sz="1200" b="0" i="0" kern="1200" dirty="0" err="1">
                <a:solidFill>
                  <a:schemeClr val="tx1"/>
                </a:solidFill>
                <a:effectLst/>
                <a:latin typeface="+mn-lt"/>
                <a:ea typeface="+mn-ea"/>
                <a:cs typeface="+mn-cs"/>
              </a:rPr>
              <a:t>calcidiol</a:t>
            </a:r>
            <a:r>
              <a:rPr lang="en-US" sz="1200" b="0" i="0" kern="1200" dirty="0">
                <a:solidFill>
                  <a:schemeClr val="tx1"/>
                </a:solidFill>
                <a:effectLst/>
                <a:latin typeface="+mn-lt"/>
                <a:ea typeface="+mn-ea"/>
                <a:cs typeface="+mn-cs"/>
              </a:rPr>
              <a:t> (25-hydroxyvitamin D [25(OH)D]) and calcitriol (1,25-dihydroxyvitamin D, the active vitamin D hormone), </a:t>
            </a:r>
            <a:endParaRPr lang="en-US" dirty="0"/>
          </a:p>
        </p:txBody>
      </p:sp>
      <p:sp>
        <p:nvSpPr>
          <p:cNvPr id="306" name="Google Shape;306;p34: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mild or asymptomatic: Can give tums as an option every meal if patient prefers over taking calcium pills because those are very big to swallow.</a:t>
            </a:r>
          </a:p>
          <a:p>
            <a:endParaRPr lang="en-US" dirty="0"/>
          </a:p>
          <a:p>
            <a:r>
              <a:rPr lang="en-US" dirty="0"/>
              <a:t>IV replacement – monitor calcium very 4-6 hours in the hospital setting.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44</a:t>
            </a:fld>
            <a:endParaRPr lang="en-US"/>
          </a:p>
        </p:txBody>
      </p:sp>
    </p:spTree>
    <p:extLst>
      <p:ext uri="{BB962C8B-B14F-4D97-AF65-F5344CB8AC3E}">
        <p14:creationId xmlns:p14="http://schemas.microsoft.com/office/powerpoint/2010/main" val="4225420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 GI absorption – such as celiac disease or Crohn’s. </a:t>
            </a:r>
          </a:p>
        </p:txBody>
      </p:sp>
      <p:sp>
        <p:nvSpPr>
          <p:cNvPr id="4" name="Slide Number Placeholder 3"/>
          <p:cNvSpPr>
            <a:spLocks noGrp="1"/>
          </p:cNvSpPr>
          <p:nvPr>
            <p:ph type="sldNum" sz="quarter" idx="5"/>
          </p:nvPr>
        </p:nvSpPr>
        <p:spPr/>
        <p:txBody>
          <a:bodyPr/>
          <a:lstStyle/>
          <a:p>
            <a:fld id="{D303BCA6-AB4B-43A7-B415-DC0CE1CF7BFE}" type="slidenum">
              <a:rPr lang="en-US" smtClean="0"/>
              <a:t>45</a:t>
            </a:fld>
            <a:endParaRPr lang="en-US"/>
          </a:p>
        </p:txBody>
      </p:sp>
    </p:spTree>
    <p:extLst>
      <p:ext uri="{BB962C8B-B14F-4D97-AF65-F5344CB8AC3E}">
        <p14:creationId xmlns:p14="http://schemas.microsoft.com/office/powerpoint/2010/main" val="35554862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https://www.threads.com/@medico_notes/post/DMVrY3wq6Tg/hyperparathyroidism-remember-it-with-a-smilethis-classic-mnemonic-helps-you-reca, Accessed 11/30/25</a:t>
            </a:r>
          </a:p>
        </p:txBody>
      </p:sp>
      <p:sp>
        <p:nvSpPr>
          <p:cNvPr id="4" name="Slide Number Placeholder 3"/>
          <p:cNvSpPr>
            <a:spLocks noGrp="1"/>
          </p:cNvSpPr>
          <p:nvPr>
            <p:ph type="sldNum" sz="quarter" idx="5"/>
          </p:nvPr>
        </p:nvSpPr>
        <p:spPr/>
        <p:txBody>
          <a:bodyPr/>
          <a:lstStyle/>
          <a:p>
            <a:fld id="{D303BCA6-AB4B-43A7-B415-DC0CE1CF7BFE}" type="slidenum">
              <a:rPr lang="en-US" smtClean="0"/>
              <a:t>51</a:t>
            </a:fld>
            <a:endParaRPr lang="en-US"/>
          </a:p>
        </p:txBody>
      </p:sp>
    </p:spTree>
    <p:extLst>
      <p:ext uri="{BB962C8B-B14F-4D97-AF65-F5344CB8AC3E}">
        <p14:creationId xmlns:p14="http://schemas.microsoft.com/office/powerpoint/2010/main" val="12234849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2: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42: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2: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42: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sz="1400" dirty="0"/>
          </a:p>
        </p:txBody>
      </p:sp>
    </p:spTree>
    <p:extLst>
      <p:ext uri="{BB962C8B-B14F-4D97-AF65-F5344CB8AC3E}">
        <p14:creationId xmlns:p14="http://schemas.microsoft.com/office/powerpoint/2010/main" val="41748373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3: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362" name="Google Shape;362;p43: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44: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368" name="Google Shape;368;p44: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5: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endParaRPr lang="en-US" sz="1200" b="0" i="0" kern="1200" dirty="0">
              <a:solidFill>
                <a:schemeClr val="tx1"/>
              </a:solidFill>
              <a:effectLst/>
              <a:latin typeface="+mn-lt"/>
              <a:ea typeface="+mn-ea"/>
              <a:cs typeface="+mn-cs"/>
            </a:endParaRPr>
          </a:p>
        </p:txBody>
      </p:sp>
      <p:sp>
        <p:nvSpPr>
          <p:cNvPr id="374" name="Google Shape;374;p45: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6: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0" name="Google Shape;380;p46: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https://ent-specialist.org/parathyroid-surgery/ Accessed 11/30/25</a:t>
            </a:r>
          </a:p>
          <a:p>
            <a:r>
              <a:rPr lang="en-US" dirty="0"/>
              <a:t>https://www.health.com/thyroid-storm-symptoms-8707002 Accessed 11/30/25</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58</a:t>
            </a:fld>
            <a:endParaRPr lang="en-US"/>
          </a:p>
        </p:txBody>
      </p:sp>
    </p:spTree>
    <p:extLst>
      <p:ext uri="{BB962C8B-B14F-4D97-AF65-F5344CB8AC3E}">
        <p14:creationId xmlns:p14="http://schemas.microsoft.com/office/powerpoint/2010/main" val="1299581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88DC6F28-323E-7F17-68C0-75B1B104A44A}"/>
            </a:ext>
          </a:extLst>
        </p:cNvPr>
        <p:cNvGrpSpPr/>
        <p:nvPr/>
      </p:nvGrpSpPr>
      <p:grpSpPr>
        <a:xfrm>
          <a:off x="0" y="0"/>
          <a:ext cx="0" cy="0"/>
          <a:chOff x="0" y="0"/>
          <a:chExt cx="0" cy="0"/>
        </a:xfrm>
      </p:grpSpPr>
      <p:sp>
        <p:nvSpPr>
          <p:cNvPr id="400" name="Google Shape;400;p49:notes">
            <a:extLst>
              <a:ext uri="{FF2B5EF4-FFF2-40B4-BE49-F238E27FC236}">
                <a16:creationId xmlns:a16="http://schemas.microsoft.com/office/drawing/2014/main" id="{DDECB131-5CA3-B16C-EB52-69A48363040A}"/>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01" name="Google Shape;401;p49:notes">
            <a:extLst>
              <a:ext uri="{FF2B5EF4-FFF2-40B4-BE49-F238E27FC236}">
                <a16:creationId xmlns:a16="http://schemas.microsoft.com/office/drawing/2014/main" id="{18195F55-F961-B15C-6B3A-98E6FD042C72}"/>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8742449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26DD8188-F778-5D01-B952-AA44C220F4FB}"/>
            </a:ext>
          </a:extLst>
        </p:cNvPr>
        <p:cNvGrpSpPr/>
        <p:nvPr/>
      </p:nvGrpSpPr>
      <p:grpSpPr>
        <a:xfrm>
          <a:off x="0" y="0"/>
          <a:ext cx="0" cy="0"/>
          <a:chOff x="0" y="0"/>
          <a:chExt cx="0" cy="0"/>
        </a:xfrm>
      </p:grpSpPr>
      <p:sp>
        <p:nvSpPr>
          <p:cNvPr id="400" name="Google Shape;400;p49:notes">
            <a:extLst>
              <a:ext uri="{FF2B5EF4-FFF2-40B4-BE49-F238E27FC236}">
                <a16:creationId xmlns:a16="http://schemas.microsoft.com/office/drawing/2014/main" id="{4F173937-1A06-6307-7C24-70A768551E19}"/>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01" name="Google Shape;401;p49:notes">
            <a:extLst>
              <a:ext uri="{FF2B5EF4-FFF2-40B4-BE49-F238E27FC236}">
                <a16:creationId xmlns:a16="http://schemas.microsoft.com/office/drawing/2014/main" id="{0F84D069-9B9E-AF43-5F42-B8F835CA1B88}"/>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745839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D4E4F002-6CA9-A1A4-05DE-F4436B089634}"/>
            </a:ext>
          </a:extLst>
        </p:cNvPr>
        <p:cNvGrpSpPr/>
        <p:nvPr/>
      </p:nvGrpSpPr>
      <p:grpSpPr>
        <a:xfrm>
          <a:off x="0" y="0"/>
          <a:ext cx="0" cy="0"/>
          <a:chOff x="0" y="0"/>
          <a:chExt cx="0" cy="0"/>
        </a:xfrm>
      </p:grpSpPr>
      <p:sp>
        <p:nvSpPr>
          <p:cNvPr id="400" name="Google Shape;400;p49:notes">
            <a:extLst>
              <a:ext uri="{FF2B5EF4-FFF2-40B4-BE49-F238E27FC236}">
                <a16:creationId xmlns:a16="http://schemas.microsoft.com/office/drawing/2014/main" id="{79AC9A10-3374-9799-9EA6-2A6F4B178D69}"/>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01" name="Google Shape;401;p49:notes">
            <a:extLst>
              <a:ext uri="{FF2B5EF4-FFF2-40B4-BE49-F238E27FC236}">
                <a16:creationId xmlns:a16="http://schemas.microsoft.com/office/drawing/2014/main" id="{11E865CE-42FF-0A3B-2B94-432C25719ADE}"/>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669793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88E4F989-5AB4-BC65-6921-A819F64AC74E}"/>
            </a:ext>
          </a:extLst>
        </p:cNvPr>
        <p:cNvGrpSpPr/>
        <p:nvPr/>
      </p:nvGrpSpPr>
      <p:grpSpPr>
        <a:xfrm>
          <a:off x="0" y="0"/>
          <a:ext cx="0" cy="0"/>
          <a:chOff x="0" y="0"/>
          <a:chExt cx="0" cy="0"/>
        </a:xfrm>
      </p:grpSpPr>
      <p:sp>
        <p:nvSpPr>
          <p:cNvPr id="400" name="Google Shape;400;p49:notes">
            <a:extLst>
              <a:ext uri="{FF2B5EF4-FFF2-40B4-BE49-F238E27FC236}">
                <a16:creationId xmlns:a16="http://schemas.microsoft.com/office/drawing/2014/main" id="{BAECBE38-FEFE-E70E-66F2-5B1C852E71F8}"/>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01" name="Google Shape;401;p49:notes">
            <a:extLst>
              <a:ext uri="{FF2B5EF4-FFF2-40B4-BE49-F238E27FC236}">
                <a16:creationId xmlns:a16="http://schemas.microsoft.com/office/drawing/2014/main" id="{456478F3-8DF3-410A-A476-720AC7D549C4}"/>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631216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50: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Tingling of mouth, hands and feet, and muscle spasms. </a:t>
            </a:r>
          </a:p>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More severe – tetany, seizures, cardiac arrhythmias </a:t>
            </a:r>
          </a:p>
          <a:p>
            <a:pPr>
              <a:lnSpc>
                <a:spcPct val="145833"/>
              </a:lnSpc>
              <a:buSzPts val="1400"/>
            </a:pPr>
            <a:endParaRPr dirty="0"/>
          </a:p>
        </p:txBody>
      </p:sp>
      <p:sp>
        <p:nvSpPr>
          <p:cNvPr id="415" name="Google Shape;415;p50: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65</a:t>
            </a:fld>
            <a:endParaRPr lang="en-US"/>
          </a:p>
        </p:txBody>
      </p:sp>
    </p:spTree>
    <p:extLst>
      <p:ext uri="{BB962C8B-B14F-4D97-AF65-F5344CB8AC3E}">
        <p14:creationId xmlns:p14="http://schemas.microsoft.com/office/powerpoint/2010/main" val="35890280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51: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21" name="Google Shape;421;p51: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A2A3CFB3-045F-A250-D6F6-9E5DDAF37852}"/>
            </a:ext>
          </a:extLst>
        </p:cNvPr>
        <p:cNvGrpSpPr/>
        <p:nvPr/>
      </p:nvGrpSpPr>
      <p:grpSpPr>
        <a:xfrm>
          <a:off x="0" y="0"/>
          <a:ext cx="0" cy="0"/>
          <a:chOff x="0" y="0"/>
          <a:chExt cx="0" cy="0"/>
        </a:xfrm>
      </p:grpSpPr>
      <p:sp>
        <p:nvSpPr>
          <p:cNvPr id="420" name="Google Shape;420;p51:notes">
            <a:extLst>
              <a:ext uri="{FF2B5EF4-FFF2-40B4-BE49-F238E27FC236}">
                <a16:creationId xmlns:a16="http://schemas.microsoft.com/office/drawing/2014/main" id="{0F59591C-8365-5892-BCD2-DE4894DEB6A2}"/>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21" name="Google Shape;421;p51:notes">
            <a:extLst>
              <a:ext uri="{FF2B5EF4-FFF2-40B4-BE49-F238E27FC236}">
                <a16:creationId xmlns:a16="http://schemas.microsoft.com/office/drawing/2014/main" id="{EE069000-82A0-1A44-C3E3-09E543AD7611}"/>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3866439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54: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445" name="Google Shape;445;p54: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56: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https://www.researchgate.net/figure/Clinical-Images-of-a-Patient-with-Calciphylaxis-before-and-6-Months-after-Treatment-with_fig2_326655783, Accessed 11/30/25</a:t>
            </a:r>
            <a:endParaRPr dirty="0"/>
          </a:p>
        </p:txBody>
      </p:sp>
      <p:sp>
        <p:nvSpPr>
          <p:cNvPr id="451" name="Google Shape;451;p56: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7: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465" name="Google Shape;465;p57: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52: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52: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B60D5FAC-8E23-19FB-475F-C1C167C1FC47}"/>
            </a:ext>
          </a:extLst>
        </p:cNvPr>
        <p:cNvGrpSpPr/>
        <p:nvPr/>
      </p:nvGrpSpPr>
      <p:grpSpPr>
        <a:xfrm>
          <a:off x="0" y="0"/>
          <a:ext cx="0" cy="0"/>
          <a:chOff x="0" y="0"/>
          <a:chExt cx="0" cy="0"/>
        </a:xfrm>
      </p:grpSpPr>
      <p:sp>
        <p:nvSpPr>
          <p:cNvPr id="426" name="Google Shape;426;p52:notes">
            <a:extLst>
              <a:ext uri="{FF2B5EF4-FFF2-40B4-BE49-F238E27FC236}">
                <a16:creationId xmlns:a16="http://schemas.microsoft.com/office/drawing/2014/main" id="{F441E925-F52E-5296-8781-743D209B8C54}"/>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52:notes">
            <a:extLst>
              <a:ext uri="{FF2B5EF4-FFF2-40B4-BE49-F238E27FC236}">
                <a16:creationId xmlns:a16="http://schemas.microsoft.com/office/drawing/2014/main" id="{D91AEA17-828D-A4D0-92CF-80B59C774E2B}"/>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Tree>
    <p:extLst>
      <p:ext uri="{BB962C8B-B14F-4D97-AF65-F5344CB8AC3E}">
        <p14:creationId xmlns:p14="http://schemas.microsoft.com/office/powerpoint/2010/main" val="262869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B0564C44-52F7-47BE-7D86-E1E3FAA1DCE1}"/>
            </a:ext>
          </a:extLst>
        </p:cNvPr>
        <p:cNvGrpSpPr/>
        <p:nvPr/>
      </p:nvGrpSpPr>
      <p:grpSpPr>
        <a:xfrm>
          <a:off x="0" y="0"/>
          <a:ext cx="0" cy="0"/>
          <a:chOff x="0" y="0"/>
          <a:chExt cx="0" cy="0"/>
        </a:xfrm>
      </p:grpSpPr>
      <p:sp>
        <p:nvSpPr>
          <p:cNvPr id="426" name="Google Shape;426;p52:notes">
            <a:extLst>
              <a:ext uri="{FF2B5EF4-FFF2-40B4-BE49-F238E27FC236}">
                <a16:creationId xmlns:a16="http://schemas.microsoft.com/office/drawing/2014/main" id="{94233BC4-284A-5047-822F-C87447F108C1}"/>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52:notes">
            <a:extLst>
              <a:ext uri="{FF2B5EF4-FFF2-40B4-BE49-F238E27FC236}">
                <a16:creationId xmlns:a16="http://schemas.microsoft.com/office/drawing/2014/main" id="{E2385A89-DC3D-4F95-B9B3-73C707ED2BBC}"/>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Remember the role of vitamin D. The active form of vitamin D is necessary for the gut to absorb calcium in the gut. </a:t>
            </a:r>
          </a:p>
          <a:p>
            <a:pPr>
              <a:lnSpc>
                <a:spcPct val="145833"/>
              </a:lnSpc>
              <a:buSzPts val="1400"/>
            </a:pPr>
            <a:endParaRPr lang="en-US" dirty="0"/>
          </a:p>
          <a:p>
            <a:pPr indent="-232943">
              <a:lnSpc>
                <a:spcPct val="87500"/>
              </a:lnSpc>
              <a:buSzPts val="1400"/>
            </a:pPr>
            <a:r>
              <a:rPr lang="en-US" sz="1200" dirty="0">
                <a:latin typeface="Calibri"/>
                <a:ea typeface="Calibri"/>
                <a:cs typeface="Calibri"/>
                <a:sym typeface="Calibri"/>
              </a:rPr>
              <a:t>Chronic pancreatitis is caused by</a:t>
            </a:r>
            <a:r>
              <a:rPr lang="en-US" sz="1200" dirty="0">
                <a:latin typeface="Aptos (body)"/>
                <a:ea typeface="Calibri"/>
                <a:cs typeface="Calibri"/>
                <a:sym typeface="Calibri"/>
              </a:rPr>
              <a:t>(inability to break down and absorb fat soluble vitamins</a:t>
            </a:r>
            <a:r>
              <a:rPr lang="en-US" sz="1200" dirty="0">
                <a:latin typeface="Calibri"/>
                <a:ea typeface="Calibri"/>
                <a:cs typeface="Calibri"/>
                <a:sym typeface="Calibri"/>
              </a:rPr>
              <a:t>. Significant/severe vitamin D deficiency- a 25-hydroxyvitamin D level of less than 20 ng/mL (50 nmol/L), while 21-29 ng/mL is relative insufficiency</a:t>
            </a:r>
            <a:endParaRPr lang="en-US" sz="1200" dirty="0"/>
          </a:p>
          <a:p>
            <a:pPr>
              <a:lnSpc>
                <a:spcPct val="145833"/>
              </a:lnSpc>
              <a:buSzPts val="1400"/>
            </a:pPr>
            <a:endParaRPr lang="en-US" sz="1200" dirty="0"/>
          </a:p>
          <a:p>
            <a:pPr>
              <a:lnSpc>
                <a:spcPct val="145833"/>
              </a:lnSpc>
              <a:buSzPts val="1400"/>
            </a:pPr>
            <a:endParaRPr lang="en-US" dirty="0"/>
          </a:p>
          <a:p>
            <a:pPr>
              <a:lnSpc>
                <a:spcPct val="145833"/>
              </a:lnSpc>
              <a:buSzPts val="1400"/>
            </a:pPr>
            <a:endParaRPr lang="en-US" dirty="0"/>
          </a:p>
          <a:p>
            <a:pPr marL="401822" indent="-401822">
              <a:lnSpc>
                <a:spcPct val="100000"/>
              </a:lnSpc>
              <a:spcBef>
                <a:spcPts val="0"/>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Excess parathyroid hormone promotes a urinary loss of phosphate and mobilizes calcium from the bones to maintain normal serum levels, but . . .</a:t>
            </a:r>
          </a:p>
          <a:p>
            <a:pPr marL="401822" indent="-401822">
              <a:lnSpc>
                <a:spcPct val="100000"/>
              </a:lnSpc>
              <a:spcBef>
                <a:spcPts val="492"/>
              </a:spcBef>
              <a:buSzPts val="3520"/>
              <a:buFont typeface="Arial"/>
              <a:buChar char="•"/>
            </a:pPr>
            <a:r>
              <a:rPr lang="en-US" dirty="0">
                <a:latin typeface="Helvetica" panose="020B0604020202020204" pitchFamily="34" charset="0"/>
                <a:ea typeface="Calibri"/>
                <a:cs typeface="Helvetica" panose="020B0604020202020204" pitchFamily="34" charset="0"/>
                <a:sym typeface="Calibri"/>
              </a:rPr>
              <a:t>In the case of vitamin D deficiency, the kidney can excrete phosphate, but not indefinitely. </a:t>
            </a:r>
            <a:endParaRPr lang="en-US" dirty="0">
              <a:latin typeface="Helvetica" panose="020B0604020202020204" pitchFamily="34" charset="0"/>
              <a:cs typeface="Helvetica" panose="020B0604020202020204" pitchFamily="34" charset="0"/>
            </a:endParaRPr>
          </a:p>
          <a:p>
            <a:pPr>
              <a:lnSpc>
                <a:spcPct val="145833"/>
              </a:lnSpc>
              <a:buSzPts val="1400"/>
            </a:pPr>
            <a:endParaRPr dirty="0"/>
          </a:p>
        </p:txBody>
      </p:sp>
    </p:spTree>
    <p:extLst>
      <p:ext uri="{BB962C8B-B14F-4D97-AF65-F5344CB8AC3E}">
        <p14:creationId xmlns:p14="http://schemas.microsoft.com/office/powerpoint/2010/main" val="452597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6A148063-A13A-B86A-9CB1-D6DE2DCA49B7}"/>
            </a:ext>
          </a:extLst>
        </p:cNvPr>
        <p:cNvGrpSpPr/>
        <p:nvPr/>
      </p:nvGrpSpPr>
      <p:grpSpPr>
        <a:xfrm>
          <a:off x="0" y="0"/>
          <a:ext cx="0" cy="0"/>
          <a:chOff x="0" y="0"/>
          <a:chExt cx="0" cy="0"/>
        </a:xfrm>
      </p:grpSpPr>
      <p:sp>
        <p:nvSpPr>
          <p:cNvPr id="426" name="Google Shape;426;p52:notes">
            <a:extLst>
              <a:ext uri="{FF2B5EF4-FFF2-40B4-BE49-F238E27FC236}">
                <a16:creationId xmlns:a16="http://schemas.microsoft.com/office/drawing/2014/main" id="{1469DE3A-2848-05F4-3D1C-70564A5657AF}"/>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52:notes">
            <a:extLst>
              <a:ext uri="{FF2B5EF4-FFF2-40B4-BE49-F238E27FC236}">
                <a16:creationId xmlns:a16="http://schemas.microsoft.com/office/drawing/2014/main" id="{880495A7-46BC-B69A-034B-016C7A7D5F8C}"/>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Tree>
    <p:extLst>
      <p:ext uri="{BB962C8B-B14F-4D97-AF65-F5344CB8AC3E}">
        <p14:creationId xmlns:p14="http://schemas.microsoft.com/office/powerpoint/2010/main" val="41337721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CKD patients have a few different things working against them in terms of bone health. Inability to make Vitamin D and constant exposure to high PTH will draw calcium out of the bones </a:t>
            </a:r>
          </a:p>
        </p:txBody>
      </p:sp>
      <p:sp>
        <p:nvSpPr>
          <p:cNvPr id="4" name="Slide Number Placeholder 3"/>
          <p:cNvSpPr>
            <a:spLocks noGrp="1"/>
          </p:cNvSpPr>
          <p:nvPr>
            <p:ph type="sldNum" sz="quarter" idx="5"/>
          </p:nvPr>
        </p:nvSpPr>
        <p:spPr/>
        <p:txBody>
          <a:bodyPr/>
          <a:lstStyle/>
          <a:p>
            <a:fld id="{D303BCA6-AB4B-43A7-B415-DC0CE1CF7BFE}" type="slidenum">
              <a:rPr lang="en-US" smtClean="0"/>
              <a:t>76</a:t>
            </a:fld>
            <a:endParaRPr lang="en-US"/>
          </a:p>
        </p:txBody>
      </p:sp>
    </p:spTree>
    <p:extLst>
      <p:ext uri="{BB962C8B-B14F-4D97-AF65-F5344CB8AC3E}">
        <p14:creationId xmlns:p14="http://schemas.microsoft.com/office/powerpoint/2010/main" val="2697009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55: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459" name="Google Shape;459;p55: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58: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b="1" i="1" dirty="0">
                <a:latin typeface="Helvetica" panose="020B0604020202020204" pitchFamily="34" charset="0"/>
                <a:ea typeface="Calibri"/>
                <a:cs typeface="Helvetica" panose="020B0604020202020204" pitchFamily="34" charset="0"/>
                <a:sym typeface="Calibri"/>
              </a:rPr>
              <a:t>First line treatment is the dietary restriction of phosphorous</a:t>
            </a:r>
            <a:r>
              <a:rPr lang="en-US" dirty="0">
                <a:latin typeface="Helvetica" panose="020B0604020202020204" pitchFamily="34" charset="0"/>
                <a:ea typeface="Calibri"/>
                <a:cs typeface="Helvetica" panose="020B0604020202020204" pitchFamily="34" charset="0"/>
                <a:sym typeface="Calibri"/>
              </a:rPr>
              <a:t>.  This should be started around CKD late stage IIIB as phosphorous levels begin to increase.  Normal phosphate is 2.5-4.5 mg/dL.</a:t>
            </a:r>
            <a:endParaRPr lang="en-US" dirty="0">
              <a:latin typeface="Helvetica" panose="020B0604020202020204" pitchFamily="34" charset="0"/>
              <a:cs typeface="Helvetica" panose="020B0604020202020204" pitchFamily="34" charset="0"/>
            </a:endParaRPr>
          </a:p>
          <a:p>
            <a:pPr>
              <a:lnSpc>
                <a:spcPct val="145833"/>
              </a:lnSpc>
              <a:buSzPts val="1400"/>
            </a:pPr>
            <a:endParaRPr dirty="0"/>
          </a:p>
        </p:txBody>
      </p:sp>
      <p:sp>
        <p:nvSpPr>
          <p:cNvPr id="471" name="Google Shape;471;p58: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a:extLst>
            <a:ext uri="{FF2B5EF4-FFF2-40B4-BE49-F238E27FC236}">
              <a16:creationId xmlns:a16="http://schemas.microsoft.com/office/drawing/2014/main" id="{3D54C251-06F8-BFAA-2CF1-4EFC92D497E4}"/>
            </a:ext>
          </a:extLst>
        </p:cNvPr>
        <p:cNvGrpSpPr/>
        <p:nvPr/>
      </p:nvGrpSpPr>
      <p:grpSpPr>
        <a:xfrm>
          <a:off x="0" y="0"/>
          <a:ext cx="0" cy="0"/>
          <a:chOff x="0" y="0"/>
          <a:chExt cx="0" cy="0"/>
        </a:xfrm>
      </p:grpSpPr>
      <p:sp>
        <p:nvSpPr>
          <p:cNvPr id="470" name="Google Shape;470;p58:notes">
            <a:extLst>
              <a:ext uri="{FF2B5EF4-FFF2-40B4-BE49-F238E27FC236}">
                <a16:creationId xmlns:a16="http://schemas.microsoft.com/office/drawing/2014/main" id="{9739151A-515B-6CA2-4382-ADA89B0A156B}"/>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endParaRPr lang="en-US" sz="1200" i="1" dirty="0">
              <a:latin typeface="Helvetica" panose="020B0604020202020204" pitchFamily="34" charset="0"/>
              <a:cs typeface="Helvetica" panose="020B0604020202020204" pitchFamily="34" charset="0"/>
            </a:endParaRPr>
          </a:p>
          <a:p>
            <a:r>
              <a:rPr lang="en-US" sz="1200" dirty="0">
                <a:latin typeface="Helvetica" panose="020B0604020202020204" pitchFamily="34" charset="0"/>
                <a:cs typeface="Helvetica" panose="020B0604020202020204" pitchFamily="34" charset="0"/>
              </a:rPr>
              <a:t>Foods high in phosphate include: </a:t>
            </a:r>
          </a:p>
          <a:p>
            <a:pPr marL="457200" indent="-457200">
              <a:buFont typeface="Arial" panose="020B0604020202020204" pitchFamily="34" charset="0"/>
              <a:buChar char="•"/>
            </a:pPr>
            <a:r>
              <a:rPr lang="en-US" sz="1200" dirty="0">
                <a:latin typeface="Helvetica" panose="020B0604020202020204" pitchFamily="34" charset="0"/>
                <a:cs typeface="Helvetica" panose="020B0604020202020204" pitchFamily="34" charset="0"/>
              </a:rPr>
              <a:t>Liquids: beer, soda, milk, chocolate drinks</a:t>
            </a:r>
          </a:p>
          <a:p>
            <a:pPr marL="457200" indent="-457200">
              <a:buFont typeface="Arial" panose="020B0604020202020204" pitchFamily="34" charset="0"/>
              <a:buChar char="•"/>
            </a:pPr>
            <a:r>
              <a:rPr lang="en-US" sz="1200" dirty="0">
                <a:latin typeface="Helvetica" panose="020B0604020202020204" pitchFamily="34" charset="0"/>
                <a:cs typeface="Helvetica" panose="020B0604020202020204" pitchFamily="34" charset="0"/>
              </a:rPr>
              <a:t>Dairy: milk, cheese, puddings, yogurt</a:t>
            </a:r>
          </a:p>
          <a:p>
            <a:pPr marL="457200" indent="-457200">
              <a:buFont typeface="Arial" panose="020B0604020202020204" pitchFamily="34" charset="0"/>
              <a:buChar char="•"/>
            </a:pPr>
            <a:r>
              <a:rPr lang="en-US" sz="1200" dirty="0">
                <a:latin typeface="Helvetica" panose="020B0604020202020204" pitchFamily="34" charset="0"/>
                <a:cs typeface="Helvetica" panose="020B0604020202020204" pitchFamily="34" charset="0"/>
              </a:rPr>
              <a:t>Protein: oyster, caviar, sardines</a:t>
            </a:r>
          </a:p>
          <a:p>
            <a:pPr marL="457200" indent="-457200">
              <a:buFont typeface="Arial" panose="020B0604020202020204" pitchFamily="34" charset="0"/>
              <a:buChar char="•"/>
            </a:pPr>
            <a:r>
              <a:rPr lang="en-US" sz="1200" dirty="0">
                <a:latin typeface="Helvetica" panose="020B0604020202020204" pitchFamily="34" charset="0"/>
                <a:cs typeface="Helvetica" panose="020B0604020202020204" pitchFamily="34" charset="0"/>
              </a:rPr>
              <a:t>Others: pizza, chocolate candy, caramels</a:t>
            </a:r>
          </a:p>
          <a:p>
            <a:pPr>
              <a:lnSpc>
                <a:spcPct val="145833"/>
              </a:lnSpc>
              <a:buSzPts val="1400"/>
            </a:pPr>
            <a:endParaRPr dirty="0"/>
          </a:p>
        </p:txBody>
      </p:sp>
      <p:sp>
        <p:nvSpPr>
          <p:cNvPr id="471" name="Google Shape;471;p58:notes">
            <a:extLst>
              <a:ext uri="{FF2B5EF4-FFF2-40B4-BE49-F238E27FC236}">
                <a16:creationId xmlns:a16="http://schemas.microsoft.com/office/drawing/2014/main" id="{7D9ED861-AF90-51FD-ED67-56F8BB87DBC1}"/>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238951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59: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Only use calcium based phosphate binders in patients with concurrent low calcium because we don’t want to cause hypercalcemia. </a:t>
            </a:r>
          </a:p>
          <a:p>
            <a:pPr>
              <a:lnSpc>
                <a:spcPct val="145833"/>
              </a:lnSpc>
              <a:buSzPts val="1400"/>
            </a:pPr>
            <a:endParaRPr dirty="0"/>
          </a:p>
        </p:txBody>
      </p:sp>
      <p:sp>
        <p:nvSpPr>
          <p:cNvPr id="477" name="Google Shape;477;p59: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60: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Indication to use these: If patient has cut out pizza, soda, and dairy from their diet and phosphate remains high. </a:t>
            </a:r>
          </a:p>
          <a:p>
            <a:pPr>
              <a:lnSpc>
                <a:spcPct val="145833"/>
              </a:lnSpc>
              <a:buSzPts val="1400"/>
            </a:pPr>
            <a:endParaRPr lang="en-US" dirty="0"/>
          </a:p>
          <a:p>
            <a:pPr>
              <a:lnSpc>
                <a:spcPct val="145833"/>
              </a:lnSpc>
              <a:buSzPts val="1400"/>
            </a:pPr>
            <a:endParaRPr dirty="0"/>
          </a:p>
        </p:txBody>
      </p:sp>
      <p:sp>
        <p:nvSpPr>
          <p:cNvPr id="483" name="Google Shape;483;p60: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61: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Our goal is to give enough vitamin D so patients can start to pull calcium out of the gut. If we can keep calcium at low normal levels, we can prevent bone resorption.</a:t>
            </a:r>
          </a:p>
          <a:p>
            <a:pPr>
              <a:lnSpc>
                <a:spcPct val="145833"/>
              </a:lnSpc>
              <a:buSzPts val="1400"/>
            </a:pPr>
            <a:endParaRPr lang="en-US" dirty="0"/>
          </a:p>
          <a:p>
            <a:pPr>
              <a:lnSpc>
                <a:spcPct val="145833"/>
              </a:lnSpc>
              <a:buSzPts val="1400"/>
            </a:pPr>
            <a:r>
              <a:rPr lang="en-US" dirty="0"/>
              <a:t>Calcitriol, </a:t>
            </a:r>
            <a:r>
              <a:rPr lang="en-US" dirty="0" err="1"/>
              <a:t>doxercalciferol</a:t>
            </a:r>
            <a:r>
              <a:rPr lang="en-US" dirty="0"/>
              <a:t>, paricalcitol</a:t>
            </a:r>
          </a:p>
        </p:txBody>
      </p:sp>
      <p:sp>
        <p:nvSpPr>
          <p:cNvPr id="489" name="Google Shape;489;p61: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62: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err="1"/>
              <a:t>Calcimimetics</a:t>
            </a:r>
            <a:r>
              <a:rPr lang="en-US" dirty="0"/>
              <a:t> fool into thinking lower calcium levels are normal. </a:t>
            </a:r>
          </a:p>
          <a:p>
            <a:pPr>
              <a:lnSpc>
                <a:spcPct val="145833"/>
              </a:lnSpc>
              <a:buSzPts val="1400"/>
            </a:pPr>
            <a:endParaRPr lang="en-US" dirty="0"/>
          </a:p>
          <a:p>
            <a:pPr>
              <a:lnSpc>
                <a:spcPct val="145833"/>
              </a:lnSpc>
              <a:buSzPts val="1400"/>
            </a:pPr>
            <a:r>
              <a:rPr lang="en-US" dirty="0"/>
              <a:t>Cinacalcet </a:t>
            </a:r>
            <a:r>
              <a:rPr lang="en-US" dirty="0" err="1"/>
              <a:t>Etelcalcetide</a:t>
            </a:r>
            <a:r>
              <a:rPr lang="en-US" dirty="0"/>
              <a:t> </a:t>
            </a:r>
          </a:p>
          <a:p>
            <a:pPr>
              <a:lnSpc>
                <a:spcPct val="145833"/>
              </a:lnSpc>
              <a:buSzPts val="1400"/>
            </a:pPr>
            <a:endParaRPr lang="en-US" dirty="0"/>
          </a:p>
          <a:p>
            <a:pPr>
              <a:lnSpc>
                <a:spcPct val="145833"/>
              </a:lnSpc>
              <a:buSzPts val="1400"/>
            </a:pPr>
            <a:r>
              <a:rPr lang="en-US" sz="1200" dirty="0">
                <a:latin typeface="Helvetica" panose="020B0604020202020204" pitchFamily="34" charset="0"/>
                <a:ea typeface="Calibri"/>
                <a:cs typeface="Helvetica" panose="020B0604020202020204" pitchFamily="34" charset="0"/>
                <a:sym typeface="Calibri"/>
              </a:rPr>
              <a:t>Add </a:t>
            </a:r>
            <a:r>
              <a:rPr lang="en-US" sz="1200" dirty="0" err="1">
                <a:latin typeface="Helvetica" panose="020B0604020202020204" pitchFamily="34" charset="0"/>
                <a:ea typeface="Calibri"/>
                <a:cs typeface="Helvetica" panose="020B0604020202020204" pitchFamily="34" charset="0"/>
                <a:sym typeface="Calibri"/>
              </a:rPr>
              <a:t>calcimimetic</a:t>
            </a:r>
            <a:r>
              <a:rPr lang="en-US" sz="1200" dirty="0">
                <a:latin typeface="Helvetica" panose="020B0604020202020204" pitchFamily="34" charset="0"/>
                <a:ea typeface="Calibri"/>
                <a:cs typeface="Helvetica" panose="020B0604020202020204" pitchFamily="34" charset="0"/>
                <a:sym typeface="Calibri"/>
              </a:rPr>
              <a:t> for dialysis patients when PTH stays elevated despite active vitamin D, especially if calcium is high.</a:t>
            </a:r>
            <a:endParaRPr dirty="0"/>
          </a:p>
        </p:txBody>
      </p:sp>
      <p:sp>
        <p:nvSpPr>
          <p:cNvPr id="495" name="Google Shape;495;p62: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A0F002B5-6145-F42B-A254-ACD2B4AF16B9}"/>
            </a:ext>
          </a:extLst>
        </p:cNvPr>
        <p:cNvGrpSpPr/>
        <p:nvPr/>
      </p:nvGrpSpPr>
      <p:grpSpPr>
        <a:xfrm>
          <a:off x="0" y="0"/>
          <a:ext cx="0" cy="0"/>
          <a:chOff x="0" y="0"/>
          <a:chExt cx="0" cy="0"/>
        </a:xfrm>
      </p:grpSpPr>
      <p:sp>
        <p:nvSpPr>
          <p:cNvPr id="494" name="Google Shape;494;p62:notes">
            <a:extLst>
              <a:ext uri="{FF2B5EF4-FFF2-40B4-BE49-F238E27FC236}">
                <a16:creationId xmlns:a16="http://schemas.microsoft.com/office/drawing/2014/main" id="{BA093FFB-EEDB-C1B6-A873-5F15640F775A}"/>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err="1"/>
              <a:t>Calcimimetics</a:t>
            </a:r>
            <a:r>
              <a:rPr lang="en-US" dirty="0"/>
              <a:t> fool into thinking lower calcium levels are normal. </a:t>
            </a:r>
          </a:p>
          <a:p>
            <a:pPr marL="0" marR="0" lvl="0" indent="0" algn="l" defTabSz="914400" rtl="0" eaLnBrk="1" fontAlgn="auto" latinLnBrk="0" hangingPunct="1">
              <a:lnSpc>
                <a:spcPct val="145833"/>
              </a:lnSpc>
              <a:spcBef>
                <a:spcPts val="0"/>
              </a:spcBef>
              <a:spcAft>
                <a:spcPts val="0"/>
              </a:spcAft>
              <a:buClrTx/>
              <a:buSzPts val="1400"/>
              <a:buFontTx/>
              <a:buNone/>
              <a:tabLst/>
              <a:defRPr/>
            </a:pPr>
            <a:endParaRPr lang="en-US" dirty="0"/>
          </a:p>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sz="1200" b="0" i="1" kern="1200" dirty="0">
                <a:solidFill>
                  <a:schemeClr val="tx1"/>
                </a:solidFill>
                <a:effectLst/>
                <a:latin typeface="+mn-lt"/>
                <a:ea typeface="+mn-ea"/>
                <a:cs typeface="+mn-cs"/>
              </a:rPr>
              <a:t>Escalate therapy based on combined trends in phosphate, calcium, and PTH; target PTH 2–9× ULN in dialysis patients (no defined target in non-dialysis CKD), keep phosphate toward normal, and avoid hypercalcemia; add a </a:t>
            </a:r>
            <a:r>
              <a:rPr lang="en-US" sz="1200" b="0" i="1" kern="1200" dirty="0" err="1">
                <a:solidFill>
                  <a:schemeClr val="tx1"/>
                </a:solidFill>
                <a:effectLst/>
                <a:latin typeface="+mn-lt"/>
                <a:ea typeface="+mn-ea"/>
                <a:cs typeface="+mn-cs"/>
              </a:rPr>
              <a:t>calcimimetic</a:t>
            </a:r>
            <a:r>
              <a:rPr lang="en-US" sz="1200" b="0" i="1" kern="1200" dirty="0">
                <a:solidFill>
                  <a:schemeClr val="tx1"/>
                </a:solidFill>
                <a:effectLst/>
                <a:latin typeface="+mn-lt"/>
                <a:ea typeface="+mn-ea"/>
                <a:cs typeface="+mn-cs"/>
              </a:rPr>
              <a:t> for dialysis patients when PTH stays elevated despite active vitamin D, especially if calcium is high.</a:t>
            </a:r>
            <a:endParaRPr lang="en-US" dirty="0"/>
          </a:p>
          <a:p>
            <a:pPr>
              <a:lnSpc>
                <a:spcPct val="145833"/>
              </a:lnSpc>
              <a:buSzPts val="1400"/>
            </a:pPr>
            <a:endParaRPr dirty="0"/>
          </a:p>
        </p:txBody>
      </p:sp>
      <p:sp>
        <p:nvSpPr>
          <p:cNvPr id="495" name="Google Shape;495;p62:notes">
            <a:extLst>
              <a:ext uri="{FF2B5EF4-FFF2-40B4-BE49-F238E27FC236}">
                <a16:creationId xmlns:a16="http://schemas.microsoft.com/office/drawing/2014/main" id="{0D2A5ADB-71D3-50EB-5CD9-D83250C80750}"/>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301750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64: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507" name="Google Shape;507;p64: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occurs in an even smaller subset of patients. This occurs in patients with chronic kidney disease after they get a renal transplant.</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86</a:t>
            </a:fld>
            <a:endParaRPr lang="en-US"/>
          </a:p>
        </p:txBody>
      </p:sp>
    </p:spTree>
    <p:extLst>
      <p:ext uri="{BB962C8B-B14F-4D97-AF65-F5344CB8AC3E}">
        <p14:creationId xmlns:p14="http://schemas.microsoft.com/office/powerpoint/2010/main" val="15915889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65: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A patient has been on dialysis for a long time and then all of a sudden we drop in a 20-year-old kidney which acts perfectly. The parathyroid gland is so used to producing excessive PTH for such a long time that it fails to recognize the normalization of serum calcium. </a:t>
            </a:r>
          </a:p>
          <a:p>
            <a:pPr>
              <a:lnSpc>
                <a:spcPct val="145833"/>
              </a:lnSpc>
              <a:buSzPts val="1400"/>
            </a:pPr>
            <a:endParaRPr dirty="0"/>
          </a:p>
        </p:txBody>
      </p:sp>
      <p:sp>
        <p:nvSpPr>
          <p:cNvPr id="513" name="Google Shape;513;p65: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66: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We cannot treat these patients medically. The only way to treat tertiary hyperparathyroidism is with surgery. We don’t mess around with medical treatment. </a:t>
            </a:r>
          </a:p>
          <a:p>
            <a:pPr>
              <a:lnSpc>
                <a:spcPct val="145833"/>
              </a:lnSpc>
              <a:buSzPts val="1400"/>
            </a:pPr>
            <a:endParaRPr dirty="0"/>
          </a:p>
        </p:txBody>
      </p:sp>
      <p:sp>
        <p:nvSpPr>
          <p:cNvPr id="519" name="Google Shape;519;p66: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67: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45833"/>
              </a:lnSpc>
              <a:spcBef>
                <a:spcPts val="0"/>
              </a:spcBef>
              <a:spcAft>
                <a:spcPts val="0"/>
              </a:spcAft>
              <a:buClrTx/>
              <a:buSzPts val="1400"/>
              <a:buFontTx/>
              <a:buNone/>
              <a:tabLst/>
              <a:defRPr/>
            </a:pPr>
            <a:r>
              <a:rPr lang="en-US" dirty="0"/>
              <a:t>These calcium levels will be very high, in comparison with the mild hypercalcemia we see in primary hyperparathyroidism. </a:t>
            </a:r>
          </a:p>
          <a:p>
            <a:pPr>
              <a:lnSpc>
                <a:spcPct val="145833"/>
              </a:lnSpc>
              <a:buSzPts val="1400"/>
            </a:pPr>
            <a:endParaRPr dirty="0"/>
          </a:p>
        </p:txBody>
      </p:sp>
      <p:sp>
        <p:nvSpPr>
          <p:cNvPr id="525" name="Google Shape;525;p67: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68: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531" name="Google Shape;531;p68: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switch our focus to hypoparathyroidism. We don’t see this often, we are much more likely to see a hyperparathyroidism rather than a hypoparathyroidism. </a:t>
            </a:r>
          </a:p>
          <a:p>
            <a:endParaRPr lang="en-US" dirty="0"/>
          </a:p>
        </p:txBody>
      </p:sp>
      <p:sp>
        <p:nvSpPr>
          <p:cNvPr id="4" name="Slide Number Placeholder 3"/>
          <p:cNvSpPr>
            <a:spLocks noGrp="1"/>
          </p:cNvSpPr>
          <p:nvPr>
            <p:ph type="sldNum" sz="quarter" idx="5"/>
          </p:nvPr>
        </p:nvSpPr>
        <p:spPr/>
        <p:txBody>
          <a:bodyPr/>
          <a:lstStyle/>
          <a:p>
            <a:fld id="{D303BCA6-AB4B-43A7-B415-DC0CE1CF7BFE}" type="slidenum">
              <a:rPr lang="en-US" smtClean="0"/>
              <a:t>92</a:t>
            </a:fld>
            <a:endParaRPr lang="en-US"/>
          </a:p>
        </p:txBody>
      </p:sp>
    </p:spTree>
    <p:extLst>
      <p:ext uri="{BB962C8B-B14F-4D97-AF65-F5344CB8AC3E}">
        <p14:creationId xmlns:p14="http://schemas.microsoft.com/office/powerpoint/2010/main" val="10856674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69: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r>
              <a:rPr lang="en-US" dirty="0"/>
              <a:t>Can be transient – we traumatized tissue during surgery, or permanent – where we accidentally removed the parathyroid glands. </a:t>
            </a:r>
          </a:p>
          <a:p>
            <a:pPr>
              <a:lnSpc>
                <a:spcPct val="145833"/>
              </a:lnSpc>
              <a:buSzPts val="1400"/>
            </a:pPr>
            <a:endParaRPr lang="en-US" dirty="0"/>
          </a:p>
          <a:p>
            <a:pPr>
              <a:lnSpc>
                <a:spcPct val="145833"/>
              </a:lnSpc>
              <a:buSzPts val="1400"/>
            </a:pPr>
            <a:r>
              <a:rPr lang="en-US" sz="1200" b="0" i="0" kern="1200" dirty="0">
                <a:solidFill>
                  <a:schemeClr val="tx1"/>
                </a:solidFill>
                <a:effectLst/>
                <a:latin typeface="+mn-lt"/>
                <a:ea typeface="+mn-ea"/>
                <a:cs typeface="+mn-cs"/>
              </a:rPr>
              <a:t>Acquired hypoparathyroidism is most often the result of postsurgical or autoimmune damage to the parathyroid glands. In adults, the most common cause is surgical. In a retrospective analysis of adults evaluated in a metabolic bone unit of an endocrinology service in Brazil, over 80 percent of cases of acquired hypoparathyroidism were postsurgical, whereas less than 20 percent were autoimmune </a:t>
            </a:r>
            <a:endParaRPr lang="en-US" dirty="0"/>
          </a:p>
          <a:p>
            <a:pPr>
              <a:lnSpc>
                <a:spcPct val="145833"/>
              </a:lnSpc>
              <a:buSzPts val="1400"/>
            </a:pPr>
            <a:endParaRPr dirty="0"/>
          </a:p>
        </p:txBody>
      </p:sp>
      <p:sp>
        <p:nvSpPr>
          <p:cNvPr id="537" name="Google Shape;537;p69: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0: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543" name="Google Shape;543;p70: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71: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550" name="Google Shape;550;p71: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73: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562" name="Google Shape;562;p73: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74: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a:p>
        </p:txBody>
      </p:sp>
      <p:sp>
        <p:nvSpPr>
          <p:cNvPr id="568" name="Google Shape;568;p74: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75: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574" name="Google Shape;574;p75: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76:notes"/>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a:lnSpc>
                <a:spcPct val="145833"/>
              </a:lnSpc>
              <a:buSzPts val="1400"/>
            </a:pPr>
            <a:endParaRPr dirty="0"/>
          </a:p>
        </p:txBody>
      </p:sp>
      <p:sp>
        <p:nvSpPr>
          <p:cNvPr id="580" name="Google Shape;580;p76:notes"/>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a:extLst>
            <a:ext uri="{FF2B5EF4-FFF2-40B4-BE49-F238E27FC236}">
              <a16:creationId xmlns:a16="http://schemas.microsoft.com/office/drawing/2014/main" id="{4D830BAC-315E-CD6D-AC00-221380AE7E34}"/>
            </a:ext>
          </a:extLst>
        </p:cNvPr>
        <p:cNvGrpSpPr/>
        <p:nvPr/>
      </p:nvGrpSpPr>
      <p:grpSpPr>
        <a:xfrm>
          <a:off x="0" y="0"/>
          <a:ext cx="0" cy="0"/>
          <a:chOff x="0" y="0"/>
          <a:chExt cx="0" cy="0"/>
        </a:xfrm>
      </p:grpSpPr>
      <p:sp>
        <p:nvSpPr>
          <p:cNvPr id="426" name="Google Shape;426;p52:notes">
            <a:extLst>
              <a:ext uri="{FF2B5EF4-FFF2-40B4-BE49-F238E27FC236}">
                <a16:creationId xmlns:a16="http://schemas.microsoft.com/office/drawing/2014/main" id="{B00341F1-E0A3-7398-B041-86DA763B6FC1}"/>
              </a:ext>
            </a:extLst>
          </p:cNvPr>
          <p:cNvSpPr>
            <a:spLocks noGrp="1" noRot="1" noChangeAspect="1"/>
          </p:cNvSpPr>
          <p:nvPr>
            <p:ph type="sldImg" idx="2"/>
          </p:nvPr>
        </p:nvSpPr>
        <p:spPr>
          <a:xfrm>
            <a:off x="1220788" y="708025"/>
            <a:ext cx="4725987" cy="35448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52:notes">
            <a:extLst>
              <a:ext uri="{FF2B5EF4-FFF2-40B4-BE49-F238E27FC236}">
                <a16:creationId xmlns:a16="http://schemas.microsoft.com/office/drawing/2014/main" id="{19C84F40-E051-4A83-2AFD-34BC05F8E4BB}"/>
              </a:ext>
            </a:extLst>
          </p:cNvPr>
          <p:cNvSpPr txBox="1">
            <a:spLocks noGrp="1"/>
          </p:cNvSpPr>
          <p:nvPr>
            <p:ph type="body" idx="1"/>
          </p:nvPr>
        </p:nvSpPr>
        <p:spPr>
          <a:xfrm>
            <a:off x="955817" y="4490032"/>
            <a:ext cx="5254554" cy="4252781"/>
          </a:xfrm>
          <a:prstGeom prst="rect">
            <a:avLst/>
          </a:prstGeom>
          <a:noFill/>
          <a:ln>
            <a:noFill/>
          </a:ln>
        </p:spPr>
        <p:txBody>
          <a:bodyPr spcFirstLastPara="1" wrap="square" lIns="94945" tIns="47460" rIns="94945" bIns="4746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PTH → Tissues Not Sensitive to PTH → No calcium is released, Calcium lost easily in urine → Low Calcium Levels → Stimulates HIGH PTH and cause bone disease </a:t>
            </a:r>
          </a:p>
        </p:txBody>
      </p:sp>
    </p:spTree>
    <p:extLst>
      <p:ext uri="{BB962C8B-B14F-4D97-AF65-F5344CB8AC3E}">
        <p14:creationId xmlns:p14="http://schemas.microsoft.com/office/powerpoint/2010/main" val="2474861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4264B8-6036-4886-8E99-7F3938F2443F}"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1240639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F6515-FBEB-46A9-8D59-2FC72974887F}"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3739376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990CC2-52A1-48EF-BA41-069582425AA2}"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187498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07C011-A734-4127-8A23-6F3C9E32DF7C}"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3008428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C9FAD4-1CC4-4FF2-B345-97FC07CCA46B}" type="datetime1">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2402381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A35DC6-4A4A-49A3-8A10-182F72DF1F88}"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1904772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1E7053-9C39-4D0A-8D74-5DEC0CD6FA1E}" type="datetime1">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3118802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243498-8EC5-42A5-AA44-CA2F399666E3}"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2516040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6ADE8E-1C61-4DF2-B5E4-BAF53D7FA3E5}"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2876975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3B2A28-0EFF-42CC-8A15-8964AF64DCAE}"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1100267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DFE3ED-9AC9-4FFF-812A-101EBE0E9DFD}"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422F9A-6EE9-44F0-9560-5F04B1DEB4A3}" type="slidenum">
              <a:rPr lang="en-US" smtClean="0"/>
              <a:t>‹#›</a:t>
            </a:fld>
            <a:endParaRPr lang="en-US"/>
          </a:p>
        </p:txBody>
      </p:sp>
    </p:spTree>
    <p:extLst>
      <p:ext uri="{BB962C8B-B14F-4D97-AF65-F5344CB8AC3E}">
        <p14:creationId xmlns:p14="http://schemas.microsoft.com/office/powerpoint/2010/main" val="1862281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4714F7-F6EB-49B2-9903-972ECB38C646}" type="datetime1">
              <a:rPr lang="en-US" smtClean="0"/>
              <a:t>10/8/2026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422F9A-6EE9-44F0-9560-5F04B1DEB4A3}" type="slidenum">
              <a:rPr lang="en-US" smtClean="0"/>
              <a:t>‹#›</a:t>
            </a:fld>
            <a:endParaRPr lang="en-US"/>
          </a:p>
        </p:txBody>
      </p:sp>
    </p:spTree>
    <p:extLst>
      <p:ext uri="{BB962C8B-B14F-4D97-AF65-F5344CB8AC3E}">
        <p14:creationId xmlns:p14="http://schemas.microsoft.com/office/powerpoint/2010/main" val="7440208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10BC7685-1682-57E8-94E3-390222D02736}"/>
            </a:ext>
          </a:extLst>
        </p:cNvPr>
        <p:cNvGrpSpPr/>
        <p:nvPr/>
      </p:nvGrpSpPr>
      <p:grpSpPr>
        <a:xfrm>
          <a:off x="0" y="0"/>
          <a:ext cx="0" cy="0"/>
          <a:chOff x="0" y="0"/>
          <a:chExt cx="0" cy="0"/>
        </a:xfrm>
      </p:grpSpPr>
      <p:sp>
        <p:nvSpPr>
          <p:cNvPr id="92" name="Google Shape;92;p1">
            <a:extLst>
              <a:ext uri="{FF2B5EF4-FFF2-40B4-BE49-F238E27FC236}">
                <a16:creationId xmlns:a16="http://schemas.microsoft.com/office/drawing/2014/main" id="{AA67A2E4-FF70-30BF-4415-29C655DCB83E}"/>
              </a:ext>
            </a:extLst>
          </p:cNvPr>
          <p:cNvSpPr txBox="1">
            <a:spLocks noGrp="1"/>
          </p:cNvSpPr>
          <p:nvPr>
            <p:ph type="ctrTitle"/>
          </p:nvPr>
        </p:nvSpPr>
        <p:spPr>
          <a:xfrm>
            <a:off x="596503" y="1245248"/>
            <a:ext cx="7950994" cy="2166723"/>
          </a:xfrm>
          <a:prstGeom prst="rect">
            <a:avLst/>
          </a:prstGeom>
          <a:noFill/>
          <a:ln>
            <a:noFill/>
          </a:ln>
        </p:spPr>
        <p:txBody>
          <a:bodyPr spcFirstLastPara="1" vert="horz" wrap="square" lIns="91425" tIns="45700" rIns="91425" bIns="45700" rtlCol="0" anchor="b" anchorCtr="0">
            <a:normAutofit/>
          </a:bodyPr>
          <a:lstStyle/>
          <a:p>
            <a:pPr>
              <a:spcBef>
                <a:spcPts val="0"/>
              </a:spcBef>
              <a:buClr>
                <a:schemeClr val="dk1"/>
              </a:buClr>
              <a:buSzPts val="5700"/>
            </a:pPr>
            <a:r>
              <a:rPr lang="en-US" sz="5000" dirty="0">
                <a:latin typeface="Arial" panose="020B0604020202020204" pitchFamily="34" charset="0"/>
                <a:cs typeface="Arial" panose="020B0604020202020204" pitchFamily="34" charset="0"/>
              </a:rPr>
              <a:t>Parathyroid Disease</a:t>
            </a:r>
          </a:p>
        </p:txBody>
      </p:sp>
      <p:sp>
        <p:nvSpPr>
          <p:cNvPr id="93" name="Google Shape;93;p1">
            <a:extLst>
              <a:ext uri="{FF2B5EF4-FFF2-40B4-BE49-F238E27FC236}">
                <a16:creationId xmlns:a16="http://schemas.microsoft.com/office/drawing/2014/main" id="{1F86F514-775D-B9B5-95A0-5C7AA987D3D7}"/>
              </a:ext>
            </a:extLst>
          </p:cNvPr>
          <p:cNvSpPr txBox="1">
            <a:spLocks noGrp="1"/>
          </p:cNvSpPr>
          <p:nvPr>
            <p:ph type="subTitle" idx="1"/>
          </p:nvPr>
        </p:nvSpPr>
        <p:spPr>
          <a:xfrm>
            <a:off x="596503" y="2987426"/>
            <a:ext cx="7950994" cy="1144884"/>
          </a:xfrm>
          <a:prstGeom prst="rect">
            <a:avLst/>
          </a:prstGeom>
          <a:noFill/>
          <a:ln>
            <a:noFill/>
          </a:ln>
        </p:spPr>
        <p:txBody>
          <a:bodyPr spcFirstLastPara="1" vert="horz" wrap="square" lIns="91425" tIns="45700" rIns="91425" bIns="45700" rtlCol="0" anchor="t" anchorCtr="0">
            <a:noAutofit/>
          </a:bodyPr>
          <a:lstStyle/>
          <a:p>
            <a:pPr>
              <a:spcBef>
                <a:spcPts val="0"/>
              </a:spcBef>
              <a:buClr>
                <a:schemeClr val="dk1"/>
              </a:buClr>
              <a:buSzPts val="1800"/>
            </a:pPr>
            <a:endParaRPr lang="en-US" sz="2800" dirty="0">
              <a:latin typeface="Arial" panose="020B0604020202020204" pitchFamily="34" charset="0"/>
              <a:ea typeface="Arial"/>
              <a:cs typeface="Arial" panose="020B0604020202020204" pitchFamily="34" charset="0"/>
              <a:sym typeface="Arial"/>
            </a:endParaRPr>
          </a:p>
          <a:p>
            <a:pPr>
              <a:spcBef>
                <a:spcPts val="750"/>
              </a:spcBef>
              <a:buClr>
                <a:schemeClr val="dk1"/>
              </a:buClr>
              <a:buSzPts val="1800"/>
            </a:pPr>
            <a:r>
              <a:rPr lang="en-US" sz="2800" dirty="0">
                <a:latin typeface="Arial" panose="020B0604020202020204" pitchFamily="34" charset="0"/>
                <a:ea typeface="Arial"/>
                <a:cs typeface="Arial" panose="020B0604020202020204" pitchFamily="34" charset="0"/>
                <a:sym typeface="Arial"/>
              </a:rPr>
              <a:t>Katrina </a:t>
            </a:r>
            <a:r>
              <a:rPr lang="en-US" sz="2800" dirty="0" err="1">
                <a:latin typeface="Arial" panose="020B0604020202020204" pitchFamily="34" charset="0"/>
                <a:ea typeface="Arial"/>
                <a:cs typeface="Arial" panose="020B0604020202020204" pitchFamily="34" charset="0"/>
                <a:sym typeface="Arial"/>
              </a:rPr>
              <a:t>Raaf</a:t>
            </a:r>
            <a:r>
              <a:rPr lang="en-US" sz="2800" dirty="0">
                <a:latin typeface="Arial" panose="020B0604020202020204" pitchFamily="34" charset="0"/>
                <a:ea typeface="Arial"/>
                <a:cs typeface="Arial" panose="020B0604020202020204" pitchFamily="34" charset="0"/>
                <a:sym typeface="Arial"/>
              </a:rPr>
              <a:t>, MPAS, PA-C</a:t>
            </a:r>
          </a:p>
          <a:p>
            <a:pPr>
              <a:spcBef>
                <a:spcPts val="750"/>
              </a:spcBef>
              <a:buClr>
                <a:schemeClr val="dk1"/>
              </a:buClr>
              <a:buSzPts val="1800"/>
            </a:pPr>
            <a:r>
              <a:rPr lang="en-US" sz="2800" dirty="0">
                <a:latin typeface="Arial" panose="020B0604020202020204" pitchFamily="34" charset="0"/>
                <a:ea typeface="Arial"/>
                <a:cs typeface="Arial" panose="020B0604020202020204" pitchFamily="34" charset="0"/>
                <a:sym typeface="Arial"/>
              </a:rPr>
              <a:t>Fall 2025 </a:t>
            </a:r>
          </a:p>
          <a:p>
            <a:pPr>
              <a:spcBef>
                <a:spcPts val="750"/>
              </a:spcBef>
              <a:buClr>
                <a:schemeClr val="dk1"/>
              </a:buClr>
              <a:buSzPts val="1800"/>
            </a:pPr>
            <a:endParaRPr lang="en-US" sz="2800" dirty="0">
              <a:latin typeface="Arial" panose="020B0604020202020204" pitchFamily="34" charset="0"/>
              <a:ea typeface="Arial"/>
              <a:cs typeface="Arial" panose="020B0604020202020204" pitchFamily="34" charset="0"/>
              <a:sym typeface="Arial"/>
            </a:endParaRPr>
          </a:p>
          <a:p>
            <a:pPr>
              <a:spcBef>
                <a:spcPts val="750"/>
              </a:spcBef>
              <a:buClr>
                <a:schemeClr val="dk1"/>
              </a:buClr>
              <a:buSzPts val="1800"/>
            </a:pPr>
            <a:endParaRPr lang="en-US" sz="28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631C5C0-AA7F-60AF-1F7E-E298D289F1D9}"/>
              </a:ext>
            </a:extLst>
          </p:cNvPr>
          <p:cNvPicPr>
            <a:picLocks noChangeAspect="1"/>
          </p:cNvPicPr>
          <p:nvPr/>
        </p:nvPicPr>
        <p:blipFill>
          <a:blip r:embed="rId3">
            <a:extLst>
              <a:ext uri="{28A0092B-C50C-407E-A947-70E740481C1C}">
                <a14:useLocalDpi xmlns:a14="http://schemas.microsoft.com/office/drawing/2010/main" val="0"/>
              </a:ext>
            </a:extLst>
          </a:blip>
          <a:srcRect l="17294" t="4972" r="13197" b="2346"/>
          <a:stretch>
            <a:fillRect/>
          </a:stretch>
        </p:blipFill>
        <p:spPr>
          <a:xfrm>
            <a:off x="0" y="0"/>
            <a:ext cx="9144000" cy="6858000"/>
          </a:xfrm>
          <a:prstGeom prst="rect">
            <a:avLst/>
          </a:prstGeom>
        </p:spPr>
      </p:pic>
    </p:spTree>
    <p:extLst>
      <p:ext uri="{BB962C8B-B14F-4D97-AF65-F5344CB8AC3E}">
        <p14:creationId xmlns:p14="http://schemas.microsoft.com/office/powerpoint/2010/main" val="197158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E27A6B-00C9-E491-EF4D-7DA7905C4362}"/>
              </a:ext>
            </a:extLst>
          </p:cNvPr>
          <p:cNvSpPr>
            <a:spLocks noGrp="1"/>
          </p:cNvSpPr>
          <p:nvPr>
            <p:ph type="sldNum" sz="quarter" idx="12"/>
          </p:nvPr>
        </p:nvSpPr>
        <p:spPr/>
        <p:txBody>
          <a:bodyPr/>
          <a:lstStyle/>
          <a:p>
            <a:fld id="{1E422F9A-6EE9-44F0-9560-5F04B1DEB4A3}" type="slidenum">
              <a:rPr lang="en-US" smtClean="0"/>
              <a:t>2</a:t>
            </a:fld>
            <a:endParaRPr lang="en-US"/>
          </a:p>
        </p:txBody>
      </p:sp>
      <p:pic>
        <p:nvPicPr>
          <p:cNvPr id="5" name="Picture 4" descr="diagram showing effects of hypocalcemia on the body including increased parathyroid hormone which acts on bones to release calcium, and acts on kidneys to activate vitamin D and decrease calcium elimination from ultrafiltrate to ultimately increase serum calcium">
            <a:extLst>
              <a:ext uri="{FF2B5EF4-FFF2-40B4-BE49-F238E27FC236}">
                <a16:creationId xmlns:a16="http://schemas.microsoft.com/office/drawing/2014/main" id="{8D522359-AAF9-89B2-612B-3FCA1D98A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5996" y="446049"/>
            <a:ext cx="3912008" cy="5965902"/>
          </a:xfrm>
          <a:prstGeom prst="rect">
            <a:avLst/>
          </a:prstGeom>
        </p:spPr>
      </p:pic>
    </p:spTree>
    <p:extLst>
      <p:ext uri="{BB962C8B-B14F-4D97-AF65-F5344CB8AC3E}">
        <p14:creationId xmlns:p14="http://schemas.microsoft.com/office/powerpoint/2010/main" val="211764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511913" y="198127"/>
            <a:ext cx="5308699" cy="1295921"/>
          </a:xfrm>
        </p:spPr>
        <p:txBody>
          <a:bodyPr vert="horz" lIns="88900" tIns="50799" rIns="88900" bIns="50799" rtlCol="0" anchor="ctr">
            <a:normAutofit/>
          </a:bodyPr>
          <a:lstStyle/>
          <a:p>
            <a:pPr defTabSz="914145"/>
            <a:r>
              <a:rPr lang="en-US" altLang="en-US" sz="4200" dirty="0">
                <a:ea typeface="ＭＳ Ｐゴシック" charset="-128"/>
                <a:sym typeface="Helvetica" charset="0"/>
              </a:rPr>
              <a:t>Parathyroid Glands</a:t>
            </a:r>
            <a:endParaRPr lang="en-US" altLang="en-US" sz="4200" dirty="0">
              <a:ea typeface="ＭＳ Ｐゴシック" charset="-128"/>
            </a:endParaRPr>
          </a:p>
        </p:txBody>
      </p:sp>
      <p:sp>
        <p:nvSpPr>
          <p:cNvPr id="5123" name="Rectangle 2"/>
          <p:cNvSpPr>
            <a:spLocks noGrp="1" noChangeArrowheads="1"/>
          </p:cNvSpPr>
          <p:nvPr>
            <p:ph type="body" idx="1"/>
          </p:nvPr>
        </p:nvSpPr>
        <p:spPr>
          <a:xfrm>
            <a:off x="321276" y="1523629"/>
            <a:ext cx="8516882" cy="5105549"/>
          </a:xfrm>
        </p:spPr>
        <p:txBody>
          <a:bodyPr vert="horz" lIns="88900" tIns="50799" rIns="88900" bIns="50799" rtlCol="0" anchor="t">
            <a:normAutofit/>
          </a:bodyPr>
          <a:lstStyle/>
          <a:p>
            <a:pPr marL="205376" indent="-205376" defTabSz="914145">
              <a:spcBef>
                <a:spcPts val="492"/>
              </a:spcBef>
              <a:buClr>
                <a:srgbClr val="000000"/>
              </a:buClr>
              <a:buFont typeface="ArialMT" charset="0"/>
              <a:buChar char="•"/>
              <a:defRPr/>
            </a:pPr>
            <a:r>
              <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The parathyroid glands are </a:t>
            </a:r>
          </a:p>
          <a:p>
            <a:pPr marL="0" indent="0" defTabSz="914145">
              <a:spcBef>
                <a:spcPts val="492"/>
              </a:spcBef>
              <a:buClr>
                <a:srgbClr val="000000"/>
              </a:buClr>
              <a:buNone/>
              <a:defRPr/>
            </a:pPr>
            <a:r>
              <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four tiny glands that rest on</a:t>
            </a:r>
          </a:p>
          <a:p>
            <a:pPr marL="0" indent="0" defTabSz="914145">
              <a:spcBef>
                <a:spcPts val="492"/>
              </a:spcBef>
              <a:buClr>
                <a:srgbClr val="000000"/>
              </a:buClr>
              <a:buNone/>
              <a:defRPr/>
            </a:pPr>
            <a:r>
              <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 the thyroid.</a:t>
            </a:r>
          </a:p>
          <a:p>
            <a:pPr marL="205376" indent="-205376" defTabSz="914145">
              <a:spcBef>
                <a:spcPts val="492"/>
              </a:spcBef>
              <a:buNone/>
              <a:defRPr/>
            </a:pPr>
            <a:endParaRPr lang="en-US" altLang="en-US" sz="2109" dirty="0">
              <a:latin typeface="Helvetica" panose="020B0604020202020204" pitchFamily="34" charset="0"/>
              <a:ea typeface="MS PGothic" pitchFamily="34" charset="-128"/>
              <a:cs typeface="Helvetica" panose="020B0604020202020204" pitchFamily="34" charset="0"/>
              <a:sym typeface="Helvetica" panose="020B0604020202020204" pitchFamily="34" charset="0"/>
            </a:endParaRPr>
          </a:p>
          <a:p>
            <a:pPr marL="205376" indent="-205376" defTabSz="914145">
              <a:spcBef>
                <a:spcPts val="492"/>
              </a:spcBef>
              <a:buClr>
                <a:srgbClr val="000000"/>
              </a:buClr>
              <a:buFont typeface="ArialMT" charset="0"/>
              <a:buChar char="•"/>
              <a:defRPr/>
            </a:pPr>
            <a:r>
              <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Often ectopic (intra-thyroid, carotid sheath, mediastinum) and extra may be present</a:t>
            </a:r>
          </a:p>
          <a:p>
            <a:pPr marL="205376" indent="-205376" defTabSz="914145">
              <a:spcBef>
                <a:spcPts val="492"/>
              </a:spcBef>
              <a:buNone/>
              <a:defRPr/>
            </a:pPr>
            <a:endPar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endParaRPr>
          </a:p>
          <a:p>
            <a:pPr marL="205376" indent="-205376" defTabSz="914145">
              <a:spcBef>
                <a:spcPts val="492"/>
              </a:spcBef>
              <a:buClr>
                <a:srgbClr val="000000"/>
              </a:buClr>
              <a:buFont typeface="ArialMT" charset="0"/>
              <a:buChar char="•"/>
              <a:defRPr/>
            </a:pPr>
            <a:r>
              <a:rPr lang="en-US" altLang="en-US" sz="3164"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Parathyroid glands produce parathyroid hormone (PTH), which is a major player in the regulation of calcium homeostasis.</a:t>
            </a:r>
            <a:endParaRPr lang="en-US" altLang="en-US" dirty="0">
              <a:latin typeface="Helvetica" panose="020B0604020202020204" pitchFamily="34" charset="0"/>
              <a:ea typeface="MS PGothic" pitchFamily="34" charset="-128"/>
              <a:cs typeface="Helvetica" panose="020B0604020202020204" pitchFamily="34" charset="0"/>
              <a:sym typeface="Helvetica Light" pitchFamily="-8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63853" y="846088"/>
            <a:ext cx="3446859" cy="2312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D5B61B2B-980F-D6AB-6E69-1AC21D130DFB}"/>
            </a:ext>
          </a:extLst>
        </p:cNvPr>
        <p:cNvGrpSpPr/>
        <p:nvPr/>
      </p:nvGrpSpPr>
      <p:grpSpPr>
        <a:xfrm>
          <a:off x="0" y="0"/>
          <a:ext cx="0" cy="0"/>
          <a:chOff x="0" y="0"/>
          <a:chExt cx="0" cy="0"/>
        </a:xfrm>
      </p:grpSpPr>
      <p:sp>
        <p:nvSpPr>
          <p:cNvPr id="68" name="Google Shape;68;p4">
            <a:extLst>
              <a:ext uri="{FF2B5EF4-FFF2-40B4-BE49-F238E27FC236}">
                <a16:creationId xmlns:a16="http://schemas.microsoft.com/office/drawing/2014/main" id="{DD72416C-DC04-E4C7-90BD-2D0FB518441B}"/>
              </a:ext>
            </a:extLst>
          </p:cNvPr>
          <p:cNvSpPr txBox="1">
            <a:spLocks noGrp="1"/>
          </p:cNvSpPr>
          <p:nvPr>
            <p:ph type="title"/>
          </p:nvPr>
        </p:nvSpPr>
        <p:spPr>
          <a:xfrm>
            <a:off x="232172" y="-86404"/>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200" dirty="0">
                <a:latin typeface="Helvetica" panose="020B0604020202020204" pitchFamily="34" charset="0"/>
                <a:ea typeface="Calibri"/>
                <a:cs typeface="Helvetica" panose="020B0604020202020204" pitchFamily="34" charset="0"/>
                <a:sym typeface="Calibri"/>
              </a:rPr>
              <a:t>Calcium in the Body</a:t>
            </a:r>
            <a:endParaRPr sz="4200" dirty="0">
              <a:latin typeface="Helvetica" panose="020B0604020202020204" pitchFamily="34" charset="0"/>
              <a:ea typeface="Calibri"/>
              <a:cs typeface="Helvetica" panose="020B0604020202020204" pitchFamily="34" charset="0"/>
              <a:sym typeface="Calibri"/>
            </a:endParaRPr>
          </a:p>
        </p:txBody>
      </p:sp>
      <p:sp>
        <p:nvSpPr>
          <p:cNvPr id="69" name="Google Shape;69;p4">
            <a:extLst>
              <a:ext uri="{FF2B5EF4-FFF2-40B4-BE49-F238E27FC236}">
                <a16:creationId xmlns:a16="http://schemas.microsoft.com/office/drawing/2014/main" id="{9A654562-287F-4886-157F-8715500B812B}"/>
              </a:ext>
            </a:extLst>
          </p:cNvPr>
          <p:cNvSpPr txBox="1">
            <a:spLocks noGrp="1"/>
          </p:cNvSpPr>
          <p:nvPr>
            <p:ph type="body" idx="1"/>
          </p:nvPr>
        </p:nvSpPr>
        <p:spPr>
          <a:xfrm>
            <a:off x="360579" y="943486"/>
            <a:ext cx="8556228" cy="5334000"/>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422"/>
              </a:spcBef>
              <a:buClr>
                <a:srgbClr val="000000"/>
              </a:buClr>
              <a:buSzPts val="4500"/>
              <a:buNone/>
            </a:pPr>
            <a:r>
              <a:rPr lang="en-US" dirty="0">
                <a:latin typeface="Helvetica" panose="020B0604020202020204" pitchFamily="34" charset="0"/>
                <a:ea typeface="Calibri"/>
                <a:cs typeface="Helvetica" panose="020B0604020202020204" pitchFamily="34" charset="0"/>
                <a:sym typeface="Calibri"/>
              </a:rPr>
              <a:t>Only 1% of body calcium circulates, yet that fraction drives nerve, muscle, clotting, and cell signaling.</a:t>
            </a:r>
          </a:p>
          <a:p>
            <a:pPr marL="0" indent="0">
              <a:lnSpc>
                <a:spcPct val="100000"/>
              </a:lnSpc>
              <a:spcBef>
                <a:spcPts val="422"/>
              </a:spcBef>
              <a:buClr>
                <a:srgbClr val="000000"/>
              </a:buClr>
              <a:buSzPts val="4500"/>
              <a:buNone/>
            </a:pPr>
            <a:endParaRPr lang="en-US" dirty="0">
              <a:latin typeface="Helvetica" panose="020B0604020202020204" pitchFamily="34" charset="0"/>
              <a:ea typeface="Calibri"/>
              <a:cs typeface="Helvetica" panose="020B0604020202020204" pitchFamily="34" charset="0"/>
              <a:sym typeface="Calibri"/>
            </a:endParaRPr>
          </a:p>
        </p:txBody>
      </p:sp>
      <p:pic>
        <p:nvPicPr>
          <p:cNvPr id="3" name="Picture 2">
            <a:extLst>
              <a:ext uri="{FF2B5EF4-FFF2-40B4-BE49-F238E27FC236}">
                <a16:creationId xmlns:a16="http://schemas.microsoft.com/office/drawing/2014/main" id="{60E46F28-1CE8-CA82-595F-C0E625CB2ECF}"/>
              </a:ext>
            </a:extLst>
          </p:cNvPr>
          <p:cNvPicPr>
            <a:picLocks noChangeAspect="1"/>
          </p:cNvPicPr>
          <p:nvPr/>
        </p:nvPicPr>
        <p:blipFill>
          <a:blip r:embed="rId3">
            <a:extLst>
              <a:ext uri="{28A0092B-C50C-407E-A947-70E740481C1C}">
                <a14:useLocalDpi xmlns:a14="http://schemas.microsoft.com/office/drawing/2010/main" val="0"/>
              </a:ext>
            </a:extLst>
          </a:blip>
          <a:srcRect t="4569" r="80651" b="10746"/>
          <a:stretch>
            <a:fillRect/>
          </a:stretch>
        </p:blipFill>
        <p:spPr>
          <a:xfrm>
            <a:off x="7211761" y="1973376"/>
            <a:ext cx="1769249" cy="4065373"/>
          </a:xfrm>
          <a:prstGeom prst="rect">
            <a:avLst/>
          </a:prstGeom>
        </p:spPr>
      </p:pic>
      <p:sp>
        <p:nvSpPr>
          <p:cNvPr id="7" name="TextBox 6">
            <a:extLst>
              <a:ext uri="{FF2B5EF4-FFF2-40B4-BE49-F238E27FC236}">
                <a16:creationId xmlns:a16="http://schemas.microsoft.com/office/drawing/2014/main" id="{CC6C6F68-1613-428D-FBC0-2A5014799448}"/>
              </a:ext>
            </a:extLst>
          </p:cNvPr>
          <p:cNvSpPr txBox="1"/>
          <p:nvPr/>
        </p:nvSpPr>
        <p:spPr>
          <a:xfrm>
            <a:off x="360579" y="2055768"/>
            <a:ext cx="7523032" cy="4555093"/>
          </a:xfrm>
          <a:prstGeom prst="rect">
            <a:avLst/>
          </a:prstGeom>
          <a:noFill/>
        </p:spPr>
        <p:txBody>
          <a:bodyPr wrap="square">
            <a:spAutoFit/>
          </a:bodyPr>
          <a:lstStyle/>
          <a:p>
            <a:pPr marL="457200" indent="-457200">
              <a:lnSpc>
                <a:spcPct val="100000"/>
              </a:lnSpc>
              <a:spcBef>
                <a:spcPts val="422"/>
              </a:spcBef>
              <a:buClr>
                <a:srgbClr val="000000"/>
              </a:buClr>
              <a:buSzPts val="4500"/>
              <a:buFont typeface="Arial" panose="020B0604020202020204" pitchFamily="34" charset="0"/>
              <a:buChar char="•"/>
            </a:pPr>
            <a:r>
              <a:rPr lang="en-US" sz="2800" b="1" i="1" dirty="0">
                <a:latin typeface="Helvetica" panose="020B0604020202020204" pitchFamily="34" charset="0"/>
                <a:ea typeface="Calibri"/>
                <a:cs typeface="Helvetica" panose="020B0604020202020204" pitchFamily="34" charset="0"/>
                <a:sym typeface="Calibri"/>
              </a:rPr>
              <a:t>99% of total body calcium is in the skeleton</a:t>
            </a:r>
            <a:r>
              <a:rPr lang="en-US" sz="2800" dirty="0">
                <a:latin typeface="Helvetica" panose="020B0604020202020204" pitchFamily="34" charset="0"/>
                <a:ea typeface="Calibri"/>
                <a:cs typeface="Helvetica" panose="020B0604020202020204" pitchFamily="34" charset="0"/>
                <a:sym typeface="Calibri"/>
              </a:rPr>
              <a:t>, which serves as both structural framework and the body’s calcium reservoir.</a:t>
            </a:r>
          </a:p>
          <a:p>
            <a:pPr marL="457200" indent="-457200">
              <a:lnSpc>
                <a:spcPct val="100000"/>
              </a:lnSpc>
              <a:spcBef>
                <a:spcPts val="422"/>
              </a:spcBef>
              <a:buClr>
                <a:srgbClr val="000000"/>
              </a:buClr>
              <a:buSzPts val="4500"/>
              <a:buFont typeface="Arial" panose="020B0604020202020204" pitchFamily="34" charset="0"/>
              <a:buChar char="•"/>
            </a:pPr>
            <a:endParaRPr lang="en-US" sz="2800" dirty="0">
              <a:latin typeface="Helvetica" panose="020B0604020202020204" pitchFamily="34" charset="0"/>
              <a:ea typeface="Calibri"/>
              <a:cs typeface="Helvetica" panose="020B0604020202020204" pitchFamily="34" charset="0"/>
              <a:sym typeface="Calibri"/>
            </a:endParaRPr>
          </a:p>
          <a:p>
            <a:pPr marL="457200" indent="-457200">
              <a:lnSpc>
                <a:spcPct val="100000"/>
              </a:lnSpc>
              <a:spcBef>
                <a:spcPts val="422"/>
              </a:spcBef>
              <a:buClr>
                <a:srgbClr val="000000"/>
              </a:buClr>
              <a:buSzPts val="4500"/>
              <a:buFont typeface="Arial" panose="020B0604020202020204" pitchFamily="34" charset="0"/>
              <a:buChar char="•"/>
            </a:pPr>
            <a:r>
              <a:rPr lang="en-US" sz="2800" b="1" i="1" dirty="0">
                <a:latin typeface="Helvetica" panose="020B0604020202020204" pitchFamily="34" charset="0"/>
                <a:ea typeface="Calibri"/>
                <a:cs typeface="Helvetica" panose="020B0604020202020204" pitchFamily="34" charset="0"/>
                <a:sym typeface="Calibri"/>
              </a:rPr>
              <a:t>1% of total calcium is in blood and soft tissue </a:t>
            </a:r>
            <a:r>
              <a:rPr lang="en-US" sz="2800" dirty="0">
                <a:latin typeface="Helvetica" panose="020B0604020202020204" pitchFamily="34" charset="0"/>
                <a:ea typeface="Calibri"/>
                <a:cs typeface="Helvetica" panose="020B0604020202020204" pitchFamily="34" charset="0"/>
                <a:sym typeface="Calibri"/>
              </a:rPr>
              <a:t>– this is tightly regulated by the parathyroid glands.</a:t>
            </a:r>
          </a:p>
          <a:p>
            <a:pPr marL="914400" lvl="1" indent="-457200">
              <a:spcBef>
                <a:spcPts val="422"/>
              </a:spcBef>
              <a:buClr>
                <a:srgbClr val="000000"/>
              </a:buClr>
              <a:buSzPts val="4500"/>
              <a:buFont typeface="Arial" panose="020B0604020202020204" pitchFamily="34" charset="0"/>
              <a:buChar char="•"/>
            </a:pPr>
            <a:r>
              <a:rPr lang="en-US" sz="2400" dirty="0">
                <a:latin typeface="Helvetica" panose="020B0604020202020204" pitchFamily="34" charset="0"/>
                <a:ea typeface="Calibri"/>
                <a:cs typeface="Helvetica" panose="020B0604020202020204" pitchFamily="34" charset="0"/>
                <a:sym typeface="Calibri"/>
              </a:rPr>
              <a:t>Half is ionized, or metabolically active. </a:t>
            </a:r>
          </a:p>
          <a:p>
            <a:pPr marL="914400" lvl="1" indent="-457200">
              <a:spcBef>
                <a:spcPts val="422"/>
              </a:spcBef>
              <a:buClr>
                <a:srgbClr val="000000"/>
              </a:buClr>
              <a:buSzPts val="4500"/>
              <a:buFont typeface="Arial" panose="020B0604020202020204" pitchFamily="34" charset="0"/>
              <a:buChar char="•"/>
            </a:pPr>
            <a:r>
              <a:rPr lang="en-US" sz="2400" dirty="0">
                <a:latin typeface="Helvetica" panose="020B0604020202020204" pitchFamily="34" charset="0"/>
                <a:ea typeface="Calibri"/>
                <a:cs typeface="Helvetica" panose="020B0604020202020204" pitchFamily="34" charset="0"/>
                <a:sym typeface="Calibri"/>
              </a:rPr>
              <a:t>Half is bound to albumin.</a:t>
            </a:r>
          </a:p>
        </p:txBody>
      </p:sp>
    </p:spTree>
    <p:extLst>
      <p:ext uri="{BB962C8B-B14F-4D97-AF65-F5344CB8AC3E}">
        <p14:creationId xmlns:p14="http://schemas.microsoft.com/office/powerpoint/2010/main" val="1615261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25B0F413-1A17-A082-D23B-86F930DA6AFF}"/>
            </a:ext>
          </a:extLst>
        </p:cNvPr>
        <p:cNvGrpSpPr/>
        <p:nvPr/>
      </p:nvGrpSpPr>
      <p:grpSpPr>
        <a:xfrm>
          <a:off x="0" y="0"/>
          <a:ext cx="0" cy="0"/>
          <a:chOff x="0" y="0"/>
          <a:chExt cx="0" cy="0"/>
        </a:xfrm>
      </p:grpSpPr>
      <p:sp>
        <p:nvSpPr>
          <p:cNvPr id="68" name="Google Shape;68;p4">
            <a:extLst>
              <a:ext uri="{FF2B5EF4-FFF2-40B4-BE49-F238E27FC236}">
                <a16:creationId xmlns:a16="http://schemas.microsoft.com/office/drawing/2014/main" id="{63146B55-380A-1B9F-56DB-38428FA2C8FA}"/>
              </a:ext>
            </a:extLst>
          </p:cNvPr>
          <p:cNvSpPr txBox="1">
            <a:spLocks noGrp="1"/>
          </p:cNvSpPr>
          <p:nvPr>
            <p:ph type="title"/>
          </p:nvPr>
        </p:nvSpPr>
        <p:spPr>
          <a:xfrm>
            <a:off x="232171" y="275035"/>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200" dirty="0">
                <a:latin typeface="Helvetica" panose="020B0604020202020204" pitchFamily="34" charset="0"/>
                <a:ea typeface="Calibri"/>
                <a:cs typeface="Helvetica" panose="020B0604020202020204" pitchFamily="34" charset="0"/>
                <a:sym typeface="Calibri"/>
              </a:rPr>
              <a:t>The Four Functions of Calcium</a:t>
            </a:r>
            <a:endParaRPr sz="4200" dirty="0">
              <a:latin typeface="Helvetica" panose="020B0604020202020204" pitchFamily="34" charset="0"/>
              <a:ea typeface="Calibri"/>
              <a:cs typeface="Helvetica" panose="020B0604020202020204" pitchFamily="34" charset="0"/>
              <a:sym typeface="Calibri"/>
            </a:endParaRPr>
          </a:p>
        </p:txBody>
      </p:sp>
      <p:sp>
        <p:nvSpPr>
          <p:cNvPr id="69" name="Google Shape;69;p4">
            <a:extLst>
              <a:ext uri="{FF2B5EF4-FFF2-40B4-BE49-F238E27FC236}">
                <a16:creationId xmlns:a16="http://schemas.microsoft.com/office/drawing/2014/main" id="{8FAFC5DF-D224-F1EB-A30F-D09944D03C45}"/>
              </a:ext>
            </a:extLst>
          </p:cNvPr>
          <p:cNvSpPr txBox="1">
            <a:spLocks noGrp="1"/>
          </p:cNvSpPr>
          <p:nvPr>
            <p:ph type="body" idx="1"/>
          </p:nvPr>
        </p:nvSpPr>
        <p:spPr>
          <a:xfrm>
            <a:off x="363067" y="1524000"/>
            <a:ext cx="8551249" cy="5334000"/>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422"/>
              </a:spcBef>
              <a:buClr>
                <a:srgbClr val="000000"/>
              </a:buClr>
              <a:buSzPts val="4500"/>
              <a:buNone/>
            </a:pPr>
            <a:r>
              <a:rPr lang="en-US" sz="3000" b="1" i="1" dirty="0">
                <a:latin typeface="Helvetica" panose="020B0604020202020204" pitchFamily="34" charset="0"/>
                <a:ea typeface="Calibri"/>
                <a:cs typeface="Helvetica" panose="020B0604020202020204" pitchFamily="34" charset="0"/>
                <a:sym typeface="Calibri"/>
              </a:rPr>
              <a:t>1. Skeletal mineralization </a:t>
            </a:r>
            <a:r>
              <a:rPr lang="en-US" sz="3000" dirty="0">
                <a:latin typeface="Helvetica" panose="020B0604020202020204" pitchFamily="34" charset="0"/>
                <a:ea typeface="Calibri"/>
                <a:cs typeface="Helvetica" panose="020B0604020202020204" pitchFamily="34" charset="0"/>
                <a:sym typeface="Calibri"/>
              </a:rPr>
              <a:t>– structural role; bone also acts as a source of calcium when needed</a:t>
            </a:r>
          </a:p>
          <a:p>
            <a:pPr marL="514350" indent="-514350">
              <a:lnSpc>
                <a:spcPct val="100000"/>
              </a:lnSpc>
              <a:spcBef>
                <a:spcPts val="422"/>
              </a:spcBef>
              <a:buClr>
                <a:srgbClr val="000000"/>
              </a:buClr>
              <a:buSzPts val="4500"/>
              <a:buAutoNum type="arabicPeriod"/>
            </a:pPr>
            <a:endParaRPr lang="en-US" sz="3000"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22"/>
              </a:spcBef>
              <a:buClr>
                <a:srgbClr val="000000"/>
              </a:buClr>
              <a:buSzPts val="4500"/>
              <a:buNone/>
            </a:pPr>
            <a:r>
              <a:rPr lang="en-US" sz="3000" b="1" i="1" dirty="0">
                <a:latin typeface="Helvetica" panose="020B0604020202020204" pitchFamily="34" charset="0"/>
                <a:ea typeface="Calibri"/>
                <a:cs typeface="Helvetica" panose="020B0604020202020204" pitchFamily="34" charset="0"/>
                <a:sym typeface="Calibri"/>
              </a:rPr>
              <a:t>2. Intracellular second messenger </a:t>
            </a:r>
            <a:r>
              <a:rPr lang="en-US" sz="3000" dirty="0">
                <a:latin typeface="Helvetica" panose="020B0604020202020204" pitchFamily="34" charset="0"/>
                <a:ea typeface="Calibri"/>
                <a:cs typeface="Helvetica" panose="020B0604020202020204" pitchFamily="34" charset="0"/>
                <a:sym typeface="Calibri"/>
              </a:rPr>
              <a:t>– the resting cytoplasmic calcium is very low. A tiny influx produces a rapid, reversible rise in intracellular calcium – which triggers muscle contraction, hormone, and neurotransmitter release.</a:t>
            </a:r>
          </a:p>
          <a:p>
            <a:pPr marL="514350" indent="-514350">
              <a:lnSpc>
                <a:spcPct val="100000"/>
              </a:lnSpc>
              <a:spcBef>
                <a:spcPts val="422"/>
              </a:spcBef>
              <a:buClr>
                <a:srgbClr val="000000"/>
              </a:buClr>
              <a:buSzPts val="4500"/>
              <a:buAutoNum type="arabicPeriod"/>
            </a:pPr>
            <a:endParaRPr lang="en-US" sz="3000" dirty="0">
              <a:latin typeface="Helvetica" panose="020B0604020202020204" pitchFamily="34" charset="0"/>
              <a:ea typeface="Calibri"/>
              <a:cs typeface="Helvetica" panose="020B0604020202020204" pitchFamily="34" charset="0"/>
              <a:sym typeface="Calibri"/>
            </a:endParaRPr>
          </a:p>
        </p:txBody>
      </p:sp>
    </p:spTree>
    <p:extLst>
      <p:ext uri="{BB962C8B-B14F-4D97-AF65-F5344CB8AC3E}">
        <p14:creationId xmlns:p14="http://schemas.microsoft.com/office/powerpoint/2010/main" val="3422692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8485DEAE-EE12-3ABE-5588-C3185F274629}"/>
            </a:ext>
          </a:extLst>
        </p:cNvPr>
        <p:cNvGrpSpPr/>
        <p:nvPr/>
      </p:nvGrpSpPr>
      <p:grpSpPr>
        <a:xfrm>
          <a:off x="0" y="0"/>
          <a:ext cx="0" cy="0"/>
          <a:chOff x="0" y="0"/>
          <a:chExt cx="0" cy="0"/>
        </a:xfrm>
      </p:grpSpPr>
      <p:sp>
        <p:nvSpPr>
          <p:cNvPr id="68" name="Google Shape;68;p4">
            <a:extLst>
              <a:ext uri="{FF2B5EF4-FFF2-40B4-BE49-F238E27FC236}">
                <a16:creationId xmlns:a16="http://schemas.microsoft.com/office/drawing/2014/main" id="{DCC3CFAC-53C8-DFE0-F7D2-06351A9C7BA6}"/>
              </a:ext>
            </a:extLst>
          </p:cNvPr>
          <p:cNvSpPr txBox="1">
            <a:spLocks noGrp="1"/>
          </p:cNvSpPr>
          <p:nvPr>
            <p:ph type="title"/>
          </p:nvPr>
        </p:nvSpPr>
        <p:spPr>
          <a:xfrm>
            <a:off x="232171" y="275035"/>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200" dirty="0">
                <a:latin typeface="Helvetica" panose="020B0604020202020204" pitchFamily="34" charset="0"/>
                <a:ea typeface="Calibri"/>
                <a:cs typeface="Helvetica" panose="020B0604020202020204" pitchFamily="34" charset="0"/>
                <a:sym typeface="Calibri"/>
              </a:rPr>
              <a:t>The Four Functions of Calcium</a:t>
            </a:r>
            <a:endParaRPr sz="4200" dirty="0">
              <a:latin typeface="Helvetica" panose="020B0604020202020204" pitchFamily="34" charset="0"/>
              <a:ea typeface="Calibri"/>
              <a:cs typeface="Helvetica" panose="020B0604020202020204" pitchFamily="34" charset="0"/>
              <a:sym typeface="Calibri"/>
            </a:endParaRPr>
          </a:p>
        </p:txBody>
      </p:sp>
      <p:sp>
        <p:nvSpPr>
          <p:cNvPr id="69" name="Google Shape;69;p4">
            <a:extLst>
              <a:ext uri="{FF2B5EF4-FFF2-40B4-BE49-F238E27FC236}">
                <a16:creationId xmlns:a16="http://schemas.microsoft.com/office/drawing/2014/main" id="{63F589CF-E137-6108-8892-7045C4D66875}"/>
              </a:ext>
            </a:extLst>
          </p:cNvPr>
          <p:cNvSpPr txBox="1">
            <a:spLocks noGrp="1"/>
          </p:cNvSpPr>
          <p:nvPr>
            <p:ph type="body" idx="1"/>
          </p:nvPr>
        </p:nvSpPr>
        <p:spPr>
          <a:xfrm>
            <a:off x="363067" y="1524000"/>
            <a:ext cx="8551249" cy="5334000"/>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422"/>
              </a:spcBef>
              <a:buClr>
                <a:srgbClr val="000000"/>
              </a:buClr>
              <a:buSzPts val="4500"/>
              <a:buNone/>
            </a:pPr>
            <a:r>
              <a:rPr lang="en-US" sz="3000" b="1" i="1" dirty="0">
                <a:latin typeface="Helvetica" panose="020B0604020202020204" pitchFamily="34" charset="0"/>
                <a:ea typeface="Calibri"/>
                <a:cs typeface="Helvetica" panose="020B0604020202020204" pitchFamily="34" charset="0"/>
                <a:sym typeface="Calibri"/>
              </a:rPr>
              <a:t>3. Enzyme cofactor </a:t>
            </a:r>
            <a:r>
              <a:rPr lang="en-US" sz="3000" dirty="0">
                <a:latin typeface="Helvetica" panose="020B0604020202020204" pitchFamily="34" charset="0"/>
                <a:ea typeface="Calibri"/>
                <a:cs typeface="Helvetica" panose="020B0604020202020204" pitchFamily="34" charset="0"/>
                <a:sym typeface="Calibri"/>
              </a:rPr>
              <a:t>– calcium is required to activate many enzymes. Many clotting factors are inactive without adequate ionized Ca. </a:t>
            </a:r>
          </a:p>
          <a:p>
            <a:pPr marL="514350" indent="-514350">
              <a:lnSpc>
                <a:spcPct val="100000"/>
              </a:lnSpc>
              <a:spcBef>
                <a:spcPts val="422"/>
              </a:spcBef>
              <a:buClr>
                <a:srgbClr val="000000"/>
              </a:buClr>
              <a:buSzPts val="4500"/>
              <a:buAutoNum type="arabicPeriod"/>
            </a:pPr>
            <a:endParaRPr lang="en-US" sz="3000"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22"/>
              </a:spcBef>
              <a:buClr>
                <a:srgbClr val="000000"/>
              </a:buClr>
              <a:buSzPts val="4500"/>
              <a:buNone/>
            </a:pPr>
            <a:r>
              <a:rPr lang="en-US" sz="3000" b="1" i="1" dirty="0">
                <a:latin typeface="Helvetica" panose="020B0604020202020204" pitchFamily="34" charset="0"/>
                <a:ea typeface="Calibri"/>
                <a:cs typeface="Helvetica" panose="020B0604020202020204" pitchFamily="34" charset="0"/>
                <a:sym typeface="Calibri"/>
              </a:rPr>
              <a:t>4. Regulation of membrane excitability </a:t>
            </a:r>
            <a:r>
              <a:rPr lang="en-US" sz="3000" dirty="0">
                <a:latin typeface="Helvetica" panose="020B0604020202020204" pitchFamily="34" charset="0"/>
                <a:ea typeface="Calibri"/>
                <a:cs typeface="Helvetica" panose="020B0604020202020204" pitchFamily="34" charset="0"/>
                <a:sym typeface="Calibri"/>
              </a:rPr>
              <a:t>– extracellular calcium sets the excitability of nerves and muscles by influencing the threshold of voltage-gated sodium channels. </a:t>
            </a:r>
          </a:p>
          <a:p>
            <a:pPr marL="514350" indent="-514350">
              <a:lnSpc>
                <a:spcPct val="100000"/>
              </a:lnSpc>
              <a:spcBef>
                <a:spcPts val="422"/>
              </a:spcBef>
              <a:buClr>
                <a:srgbClr val="000000"/>
              </a:buClr>
              <a:buSzPts val="4500"/>
              <a:buAutoNum type="arabicPeriod"/>
            </a:pPr>
            <a:endParaRPr lang="en-US" sz="3000" dirty="0">
              <a:latin typeface="Helvetica" panose="020B0604020202020204" pitchFamily="34" charset="0"/>
              <a:ea typeface="Calibri"/>
              <a:cs typeface="Helvetica" panose="020B0604020202020204" pitchFamily="34" charset="0"/>
              <a:sym typeface="Calibri"/>
            </a:endParaRPr>
          </a:p>
        </p:txBody>
      </p:sp>
    </p:spTree>
    <p:extLst>
      <p:ext uri="{BB962C8B-B14F-4D97-AF65-F5344CB8AC3E}">
        <p14:creationId xmlns:p14="http://schemas.microsoft.com/office/powerpoint/2010/main" val="190627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F157FD74-55BB-1953-6D42-92C74CDE81D7}"/>
            </a:ext>
          </a:extLst>
        </p:cNvPr>
        <p:cNvGrpSpPr/>
        <p:nvPr/>
      </p:nvGrpSpPr>
      <p:grpSpPr>
        <a:xfrm>
          <a:off x="0" y="0"/>
          <a:ext cx="0" cy="0"/>
          <a:chOff x="0" y="0"/>
          <a:chExt cx="0" cy="0"/>
        </a:xfrm>
      </p:grpSpPr>
      <p:sp>
        <p:nvSpPr>
          <p:cNvPr id="68" name="Google Shape;68;p4">
            <a:extLst>
              <a:ext uri="{FF2B5EF4-FFF2-40B4-BE49-F238E27FC236}">
                <a16:creationId xmlns:a16="http://schemas.microsoft.com/office/drawing/2014/main" id="{4EE8A1B2-6225-F00A-D4E3-7380ABC055DB}"/>
              </a:ext>
            </a:extLst>
          </p:cNvPr>
          <p:cNvSpPr txBox="1">
            <a:spLocks noGrp="1"/>
          </p:cNvSpPr>
          <p:nvPr>
            <p:ph type="title"/>
          </p:nvPr>
        </p:nvSpPr>
        <p:spPr>
          <a:xfrm>
            <a:off x="232171" y="275035"/>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600" dirty="0">
                <a:latin typeface="Helvetica" panose="020B0604020202020204" pitchFamily="34" charset="0"/>
                <a:ea typeface="Calibri"/>
                <a:cs typeface="Helvetica" panose="020B0604020202020204" pitchFamily="34" charset="0"/>
                <a:sym typeface="Calibri"/>
              </a:rPr>
              <a:t>Calcium &amp; the Nerve/Muscle Membrane</a:t>
            </a:r>
            <a:endParaRPr sz="3600" dirty="0">
              <a:latin typeface="Helvetica" panose="020B0604020202020204" pitchFamily="34" charset="0"/>
              <a:ea typeface="Calibri"/>
              <a:cs typeface="Helvetica" panose="020B0604020202020204" pitchFamily="34" charset="0"/>
              <a:sym typeface="Calibri"/>
            </a:endParaRPr>
          </a:p>
        </p:txBody>
      </p:sp>
      <p:sp>
        <p:nvSpPr>
          <p:cNvPr id="69" name="Google Shape;69;p4">
            <a:extLst>
              <a:ext uri="{FF2B5EF4-FFF2-40B4-BE49-F238E27FC236}">
                <a16:creationId xmlns:a16="http://schemas.microsoft.com/office/drawing/2014/main" id="{22A64860-54ED-7B09-5B61-E76C447AFE99}"/>
              </a:ext>
            </a:extLst>
          </p:cNvPr>
          <p:cNvSpPr txBox="1">
            <a:spLocks noGrp="1"/>
          </p:cNvSpPr>
          <p:nvPr>
            <p:ph type="body" idx="1"/>
          </p:nvPr>
        </p:nvSpPr>
        <p:spPr>
          <a:xfrm>
            <a:off x="296375" y="1412487"/>
            <a:ext cx="8551249" cy="5334000"/>
          </a:xfrm>
          <a:prstGeom prst="rect">
            <a:avLst/>
          </a:prstGeom>
          <a:noFill/>
          <a:ln>
            <a:noFill/>
          </a:ln>
        </p:spPr>
        <p:txBody>
          <a:bodyPr spcFirstLastPara="1" vert="horz" wrap="square" lIns="88893" tIns="50783" rIns="88893" bIns="50783" rtlCol="0" anchor="t" anchorCtr="0">
            <a:noAutofit/>
          </a:bodyPr>
          <a:lstStyle/>
          <a:p>
            <a:pPr>
              <a:lnSpc>
                <a:spcPct val="100000"/>
              </a:lnSpc>
              <a:spcBef>
                <a:spcPts val="422"/>
              </a:spcBef>
              <a:buClr>
                <a:srgbClr val="000000"/>
              </a:buClr>
              <a:buSzPts val="4500"/>
            </a:pPr>
            <a:r>
              <a:rPr lang="en-US" sz="3000" dirty="0">
                <a:latin typeface="Helvetica" panose="020B0604020202020204" pitchFamily="34" charset="0"/>
                <a:ea typeface="Calibri"/>
                <a:cs typeface="Helvetica" panose="020B0604020202020204" pitchFamily="34" charset="0"/>
                <a:sym typeface="Calibri"/>
              </a:rPr>
              <a:t>Ionized calcium plays a critical role in setting the threshold for cell membrane depolarization.</a:t>
            </a:r>
            <a:endParaRPr lang="en-US" sz="2600" dirty="0">
              <a:latin typeface="Helvetica" panose="020B0604020202020204" pitchFamily="34" charset="0"/>
              <a:ea typeface="Calibri"/>
              <a:cs typeface="Helvetica" panose="020B0604020202020204" pitchFamily="34" charset="0"/>
              <a:sym typeface="Calibri"/>
            </a:endParaRPr>
          </a:p>
          <a:p>
            <a:pPr>
              <a:lnSpc>
                <a:spcPct val="100000"/>
              </a:lnSpc>
              <a:spcBef>
                <a:spcPts val="422"/>
              </a:spcBef>
              <a:buClr>
                <a:srgbClr val="000000"/>
              </a:buClr>
              <a:buSzPts val="4500"/>
            </a:pPr>
            <a:endParaRPr lang="en-US" sz="3000" dirty="0">
              <a:latin typeface="Helvetica" panose="020B0604020202020204" pitchFamily="34" charset="0"/>
              <a:ea typeface="Calibri"/>
              <a:cs typeface="Helvetica" panose="020B0604020202020204" pitchFamily="34" charset="0"/>
              <a:sym typeface="Calibri"/>
            </a:endParaRPr>
          </a:p>
          <a:p>
            <a:pPr>
              <a:lnSpc>
                <a:spcPct val="100000"/>
              </a:lnSpc>
              <a:spcBef>
                <a:spcPts val="422"/>
              </a:spcBef>
              <a:buClr>
                <a:srgbClr val="000000"/>
              </a:buClr>
              <a:buSzPts val="4500"/>
            </a:pPr>
            <a:r>
              <a:rPr lang="en-US" sz="3000" dirty="0">
                <a:latin typeface="Helvetica" panose="020B0604020202020204" pitchFamily="34" charset="0"/>
                <a:ea typeface="Calibri"/>
                <a:cs typeface="Helvetica" panose="020B0604020202020204" pitchFamily="34" charset="0"/>
                <a:sym typeface="Calibri"/>
              </a:rPr>
              <a:t>Clinical rule of thumb: </a:t>
            </a:r>
          </a:p>
          <a:p>
            <a:pPr lvl="1">
              <a:lnSpc>
                <a:spcPct val="100000"/>
              </a:lnSpc>
              <a:spcBef>
                <a:spcPts val="422"/>
              </a:spcBef>
              <a:buClr>
                <a:srgbClr val="000000"/>
              </a:buClr>
              <a:buSzPts val="4500"/>
            </a:pPr>
            <a:r>
              <a:rPr lang="en-US" sz="3000" b="1" dirty="0">
                <a:solidFill>
                  <a:srgbClr val="4C72FF"/>
                </a:solidFill>
                <a:latin typeface="Helvetica" panose="020B0604020202020204" pitchFamily="34" charset="0"/>
                <a:ea typeface="Calibri"/>
                <a:cs typeface="Helvetica" panose="020B0604020202020204" pitchFamily="34" charset="0"/>
                <a:sym typeface="Calibri"/>
              </a:rPr>
              <a:t>Low calcium </a:t>
            </a:r>
            <a:r>
              <a:rPr lang="en-US" sz="3000" b="1" dirty="0">
                <a:solidFill>
                  <a:srgbClr val="4C72FF"/>
                </a:solidFill>
                <a:latin typeface="Helvetica" panose="020B0604020202020204" pitchFamily="34" charset="0"/>
                <a:ea typeface="Calibri"/>
                <a:cs typeface="Helvetica" panose="020B0604020202020204" pitchFamily="34" charset="0"/>
                <a:sym typeface="Wingdings" panose="05000000000000000000" pitchFamily="2" charset="2"/>
              </a:rPr>
              <a:t></a:t>
            </a:r>
            <a:r>
              <a:rPr lang="en-US" sz="3000" b="1" dirty="0">
                <a:solidFill>
                  <a:srgbClr val="4C72FF"/>
                </a:solidFill>
                <a:latin typeface="Helvetica" panose="020B0604020202020204" pitchFamily="34" charset="0"/>
                <a:ea typeface="Calibri"/>
                <a:cs typeface="Helvetica" panose="020B0604020202020204" pitchFamily="34" charset="0"/>
                <a:sym typeface="Calibri"/>
              </a:rPr>
              <a:t> more excitable </a:t>
            </a:r>
          </a:p>
          <a:p>
            <a:pPr lvl="1">
              <a:lnSpc>
                <a:spcPct val="100000"/>
              </a:lnSpc>
              <a:spcBef>
                <a:spcPts val="422"/>
              </a:spcBef>
              <a:buClr>
                <a:srgbClr val="000000"/>
              </a:buClr>
              <a:buSzPts val="4500"/>
            </a:pPr>
            <a:r>
              <a:rPr lang="en-US" sz="3000" b="1" dirty="0">
                <a:solidFill>
                  <a:srgbClr val="4C72FF"/>
                </a:solidFill>
                <a:latin typeface="Helvetica" panose="020B0604020202020204" pitchFamily="34" charset="0"/>
                <a:ea typeface="Calibri"/>
                <a:cs typeface="Helvetica" panose="020B0604020202020204" pitchFamily="34" charset="0"/>
                <a:sym typeface="Calibri"/>
              </a:rPr>
              <a:t>High calcium </a:t>
            </a:r>
            <a:r>
              <a:rPr lang="en-US" sz="3000" b="1" dirty="0">
                <a:solidFill>
                  <a:srgbClr val="4C72FF"/>
                </a:solidFill>
                <a:latin typeface="Helvetica" panose="020B0604020202020204" pitchFamily="34" charset="0"/>
                <a:ea typeface="Calibri"/>
                <a:cs typeface="Helvetica" panose="020B0604020202020204" pitchFamily="34" charset="0"/>
                <a:sym typeface="Wingdings" panose="05000000000000000000" pitchFamily="2" charset="2"/>
              </a:rPr>
              <a:t></a:t>
            </a:r>
            <a:r>
              <a:rPr lang="en-US" sz="3000" b="1" dirty="0">
                <a:solidFill>
                  <a:srgbClr val="4C72FF"/>
                </a:solidFill>
                <a:latin typeface="Helvetica" panose="020B0604020202020204" pitchFamily="34" charset="0"/>
                <a:ea typeface="Calibri"/>
                <a:cs typeface="Helvetica" panose="020B0604020202020204" pitchFamily="34" charset="0"/>
                <a:sym typeface="Calibri"/>
              </a:rPr>
              <a:t> less excitable  </a:t>
            </a:r>
          </a:p>
          <a:p>
            <a:pPr lvl="1">
              <a:lnSpc>
                <a:spcPct val="100000"/>
              </a:lnSpc>
              <a:spcBef>
                <a:spcPts val="422"/>
              </a:spcBef>
              <a:buClr>
                <a:srgbClr val="000000"/>
              </a:buClr>
              <a:buSzPts val="4500"/>
            </a:pPr>
            <a:endParaRPr lang="en-US" sz="2600" b="1" dirty="0">
              <a:latin typeface="Helvetica" panose="020B0604020202020204" pitchFamily="34" charset="0"/>
              <a:ea typeface="Calibri"/>
              <a:cs typeface="Helvetica" panose="020B0604020202020204" pitchFamily="34" charset="0"/>
              <a:sym typeface="Calibri"/>
            </a:endParaRPr>
          </a:p>
          <a:p>
            <a:pPr>
              <a:lnSpc>
                <a:spcPct val="100000"/>
              </a:lnSpc>
              <a:spcBef>
                <a:spcPts val="422"/>
              </a:spcBef>
              <a:buClr>
                <a:srgbClr val="000000"/>
              </a:buClr>
              <a:buSzPts val="4500"/>
            </a:pPr>
            <a:endParaRPr lang="en-US" sz="3000" dirty="0">
              <a:latin typeface="Helvetica" panose="020B0604020202020204" pitchFamily="34" charset="0"/>
              <a:ea typeface="Calibri"/>
              <a:cs typeface="Helvetica" panose="020B0604020202020204" pitchFamily="34" charset="0"/>
              <a:sym typeface="Calibri"/>
            </a:endParaRPr>
          </a:p>
        </p:txBody>
      </p:sp>
    </p:spTree>
    <p:extLst>
      <p:ext uri="{BB962C8B-B14F-4D97-AF65-F5344CB8AC3E}">
        <p14:creationId xmlns:p14="http://schemas.microsoft.com/office/powerpoint/2010/main" val="3383076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a:extLst>
            <a:ext uri="{FF2B5EF4-FFF2-40B4-BE49-F238E27FC236}">
              <a16:creationId xmlns:a16="http://schemas.microsoft.com/office/drawing/2014/main" id="{AA3F1146-6FAD-194F-7ABC-6FD2308EE7BD}"/>
            </a:ext>
          </a:extLst>
        </p:cNvPr>
        <p:cNvGrpSpPr/>
        <p:nvPr/>
      </p:nvGrpSpPr>
      <p:grpSpPr>
        <a:xfrm>
          <a:off x="0" y="0"/>
          <a:ext cx="0" cy="0"/>
          <a:chOff x="0" y="0"/>
          <a:chExt cx="0" cy="0"/>
        </a:xfrm>
      </p:grpSpPr>
      <p:sp>
        <p:nvSpPr>
          <p:cNvPr id="69" name="Google Shape;69;p4">
            <a:extLst>
              <a:ext uri="{FF2B5EF4-FFF2-40B4-BE49-F238E27FC236}">
                <a16:creationId xmlns:a16="http://schemas.microsoft.com/office/drawing/2014/main" id="{EBB90ECF-B7D8-E08F-C119-22DB620609B2}"/>
              </a:ext>
            </a:extLst>
          </p:cNvPr>
          <p:cNvSpPr txBox="1">
            <a:spLocks noGrp="1"/>
          </p:cNvSpPr>
          <p:nvPr>
            <p:ph type="body" idx="1"/>
          </p:nvPr>
        </p:nvSpPr>
        <p:spPr>
          <a:xfrm>
            <a:off x="426451" y="1044498"/>
            <a:ext cx="8385018" cy="5334000"/>
          </a:xfrm>
          <a:prstGeom prst="rect">
            <a:avLst/>
          </a:prstGeom>
          <a:noFill/>
          <a:ln>
            <a:noFill/>
          </a:ln>
        </p:spPr>
        <p:txBody>
          <a:bodyPr spcFirstLastPara="1" vert="horz" wrap="square" lIns="88893" tIns="50783" rIns="88893" bIns="50783" rtlCol="0" anchor="t" anchorCtr="0">
            <a:noAutofit/>
          </a:bodyPr>
          <a:lstStyle/>
          <a:p>
            <a:pPr>
              <a:lnSpc>
                <a:spcPct val="100000"/>
              </a:lnSpc>
              <a:spcBef>
                <a:spcPts val="422"/>
              </a:spcBef>
              <a:buClr>
                <a:srgbClr val="000000"/>
              </a:buClr>
              <a:buSzPts val="4500"/>
            </a:pPr>
            <a:r>
              <a:rPr lang="en-US" sz="3000" b="1" dirty="0">
                <a:latin typeface="Helvetica" panose="020B0604020202020204" pitchFamily="34" charset="0"/>
                <a:ea typeface="Calibri"/>
                <a:cs typeface="Helvetica" panose="020B0604020202020204" pitchFamily="34" charset="0"/>
                <a:sym typeface="Calibri"/>
              </a:rPr>
              <a:t>Mechanism: </a:t>
            </a:r>
            <a:r>
              <a:rPr lang="en-US" sz="3000" dirty="0">
                <a:latin typeface="Helvetica" panose="020B0604020202020204" pitchFamily="34" charset="0"/>
                <a:ea typeface="Calibri"/>
                <a:cs typeface="Helvetica" panose="020B0604020202020204" pitchFamily="34" charset="0"/>
                <a:sym typeface="Calibri"/>
              </a:rPr>
              <a:t>Low ionized calcium lowers the activation threshold of Na channels and partially depolarizes the resting membrane. </a:t>
            </a:r>
            <a:r>
              <a:rPr lang="en-US" sz="3000" i="1" dirty="0">
                <a:latin typeface="Helvetica" panose="020B0604020202020204" pitchFamily="34" charset="0"/>
                <a:ea typeface="Calibri"/>
                <a:cs typeface="Helvetica" panose="020B0604020202020204" pitchFamily="34" charset="0"/>
                <a:sym typeface="Calibri"/>
              </a:rPr>
              <a:t>Nerve and muscle cells then fire with little or no stimulus </a:t>
            </a:r>
            <a:r>
              <a:rPr lang="en-US" sz="3000" dirty="0">
                <a:latin typeface="Helvetica" panose="020B0604020202020204" pitchFamily="34" charset="0"/>
                <a:ea typeface="Calibri"/>
                <a:cs typeface="Helvetica" panose="020B0604020202020204" pitchFamily="34" charset="0"/>
                <a:sym typeface="Wingdings" panose="05000000000000000000" pitchFamily="2" charset="2"/>
              </a:rPr>
              <a:t> neuromuscular hyperexcitability</a:t>
            </a:r>
          </a:p>
          <a:p>
            <a:pPr>
              <a:lnSpc>
                <a:spcPct val="100000"/>
              </a:lnSpc>
              <a:spcBef>
                <a:spcPts val="422"/>
              </a:spcBef>
              <a:buClr>
                <a:srgbClr val="000000"/>
              </a:buClr>
              <a:buSzPts val="4500"/>
            </a:pPr>
            <a:endParaRPr lang="en-US" sz="3000" dirty="0">
              <a:latin typeface="Helvetica" panose="020B0604020202020204" pitchFamily="34" charset="0"/>
              <a:ea typeface="Calibri"/>
              <a:cs typeface="Helvetica" panose="020B0604020202020204" pitchFamily="34" charset="0"/>
              <a:sym typeface="Wingdings" panose="05000000000000000000" pitchFamily="2" charset="2"/>
            </a:endParaRPr>
          </a:p>
          <a:p>
            <a:pPr>
              <a:lnSpc>
                <a:spcPct val="100000"/>
              </a:lnSpc>
              <a:spcBef>
                <a:spcPts val="422"/>
              </a:spcBef>
              <a:buClr>
                <a:srgbClr val="000000"/>
              </a:buClr>
              <a:buSzPts val="4500"/>
            </a:pPr>
            <a:r>
              <a:rPr lang="en-US" sz="3000" b="1" dirty="0">
                <a:latin typeface="Helvetica" panose="020B0604020202020204" pitchFamily="34" charset="0"/>
                <a:ea typeface="Calibri"/>
                <a:cs typeface="Helvetica" panose="020B0604020202020204" pitchFamily="34" charset="0"/>
                <a:sym typeface="Wingdings" panose="05000000000000000000" pitchFamily="2" charset="2"/>
              </a:rPr>
              <a:t>Clinical findings: </a:t>
            </a:r>
          </a:p>
          <a:p>
            <a:pPr lvl="1">
              <a:lnSpc>
                <a:spcPct val="100000"/>
              </a:lnSpc>
              <a:spcBef>
                <a:spcPts val="422"/>
              </a:spcBef>
              <a:buClr>
                <a:srgbClr val="000000"/>
              </a:buClr>
              <a:buSzPts val="4500"/>
            </a:pPr>
            <a:r>
              <a:rPr lang="en-US" sz="3000" dirty="0">
                <a:latin typeface="Helvetica" panose="020B0604020202020204" pitchFamily="34" charset="0"/>
                <a:ea typeface="Calibri"/>
                <a:cs typeface="Helvetica" panose="020B0604020202020204" pitchFamily="34" charset="0"/>
                <a:sym typeface="Wingdings" panose="05000000000000000000" pitchFamily="2" charset="2"/>
              </a:rPr>
              <a:t>Perioral </a:t>
            </a:r>
            <a:r>
              <a:rPr lang="en-US" sz="3000" dirty="0" err="1">
                <a:latin typeface="Helvetica" panose="020B0604020202020204" pitchFamily="34" charset="0"/>
                <a:ea typeface="Calibri"/>
                <a:cs typeface="Helvetica" panose="020B0604020202020204" pitchFamily="34" charset="0"/>
                <a:sym typeface="Wingdings" panose="05000000000000000000" pitchFamily="2" charset="2"/>
              </a:rPr>
              <a:t>paresthesias</a:t>
            </a:r>
            <a:r>
              <a:rPr lang="en-US" sz="3000" dirty="0">
                <a:latin typeface="Helvetica" panose="020B0604020202020204" pitchFamily="34" charset="0"/>
                <a:ea typeface="Calibri"/>
                <a:cs typeface="Helvetica" panose="020B0604020202020204" pitchFamily="34" charset="0"/>
                <a:sym typeface="Wingdings" panose="05000000000000000000" pitchFamily="2" charset="2"/>
              </a:rPr>
              <a:t> </a:t>
            </a:r>
          </a:p>
          <a:p>
            <a:pPr lvl="1">
              <a:lnSpc>
                <a:spcPct val="100000"/>
              </a:lnSpc>
              <a:spcBef>
                <a:spcPts val="422"/>
              </a:spcBef>
              <a:buClr>
                <a:srgbClr val="000000"/>
              </a:buClr>
              <a:buSzPts val="4500"/>
            </a:pPr>
            <a:r>
              <a:rPr lang="en-US" sz="3000" dirty="0">
                <a:latin typeface="Helvetica" panose="020B0604020202020204" pitchFamily="34" charset="0"/>
                <a:ea typeface="Calibri"/>
                <a:cs typeface="Helvetica" panose="020B0604020202020204" pitchFamily="34" charset="0"/>
                <a:sym typeface="Wingdings" panose="05000000000000000000" pitchFamily="2" charset="2"/>
              </a:rPr>
              <a:t>Cramps and carpopedal spasm</a:t>
            </a:r>
          </a:p>
        </p:txBody>
      </p:sp>
      <p:sp>
        <p:nvSpPr>
          <p:cNvPr id="68" name="Google Shape;68;p4">
            <a:extLst>
              <a:ext uri="{FF2B5EF4-FFF2-40B4-BE49-F238E27FC236}">
                <a16:creationId xmlns:a16="http://schemas.microsoft.com/office/drawing/2014/main" id="{20ADAE4A-D6F1-9FB2-14F5-214B77600A4C}"/>
              </a:ext>
            </a:extLst>
          </p:cNvPr>
          <p:cNvSpPr txBox="1">
            <a:spLocks noGrp="1"/>
          </p:cNvSpPr>
          <p:nvPr>
            <p:ph type="title"/>
          </p:nvPr>
        </p:nvSpPr>
        <p:spPr>
          <a:xfrm>
            <a:off x="296375" y="100361"/>
            <a:ext cx="8421175"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600" dirty="0">
                <a:latin typeface="Helvetica" panose="020B0604020202020204" pitchFamily="34" charset="0"/>
                <a:ea typeface="Calibri"/>
                <a:cs typeface="Helvetica" panose="020B0604020202020204" pitchFamily="34" charset="0"/>
                <a:sym typeface="Calibri"/>
              </a:rPr>
              <a:t>Hypocalcemia – more excitable</a:t>
            </a:r>
            <a:endParaRPr sz="3600" dirty="0">
              <a:latin typeface="Helvetica" panose="020B0604020202020204" pitchFamily="34" charset="0"/>
              <a:ea typeface="Calibri"/>
              <a:cs typeface="Helvetica" panose="020B0604020202020204" pitchFamily="34" charset="0"/>
              <a:sym typeface="Calibri"/>
            </a:endParaRPr>
          </a:p>
        </p:txBody>
      </p:sp>
    </p:spTree>
    <p:custDataLst>
      <p:tags r:id="rId1"/>
    </p:custDataLst>
    <p:extLst>
      <p:ext uri="{BB962C8B-B14F-4D97-AF65-F5344CB8AC3E}">
        <p14:creationId xmlns:p14="http://schemas.microsoft.com/office/powerpoint/2010/main" val="47285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63DC1-989C-6D29-244C-98159C5B1939}"/>
              </a:ext>
            </a:extLst>
          </p:cNvPr>
          <p:cNvSpPr>
            <a:spLocks noGrp="1"/>
          </p:cNvSpPr>
          <p:nvPr>
            <p:ph idx="1"/>
          </p:nvPr>
        </p:nvSpPr>
        <p:spPr>
          <a:xfrm>
            <a:off x="881741" y="1389616"/>
            <a:ext cx="7711476" cy="4351338"/>
          </a:xfrm>
        </p:spPr>
        <p:txBody>
          <a:bodyPr>
            <a:normAutofit/>
          </a:bodyPr>
          <a:lstStyle/>
          <a:p>
            <a:pPr marL="0" indent="0">
              <a:buNone/>
            </a:pPr>
            <a:r>
              <a:rPr lang="en-US" sz="3000" dirty="0">
                <a:latin typeface="Helvetica Neue" panose="020B0604020202020204" charset="0"/>
              </a:rPr>
              <a:t>Too little calcium causes the cell membrane to become “twitchy” and easily excitable</a:t>
            </a:r>
          </a:p>
        </p:txBody>
      </p:sp>
      <p:sp>
        <p:nvSpPr>
          <p:cNvPr id="4" name="Slide Number Placeholder 3">
            <a:extLst>
              <a:ext uri="{FF2B5EF4-FFF2-40B4-BE49-F238E27FC236}">
                <a16:creationId xmlns:a16="http://schemas.microsoft.com/office/drawing/2014/main" id="{CDF67028-F68E-40E8-1D6F-CA0808CBEE90}"/>
              </a:ext>
            </a:extLst>
          </p:cNvPr>
          <p:cNvSpPr>
            <a:spLocks noGrp="1"/>
          </p:cNvSpPr>
          <p:nvPr>
            <p:ph type="sldNum" sz="quarter" idx="12"/>
          </p:nvPr>
        </p:nvSpPr>
        <p:spPr/>
        <p:txBody>
          <a:bodyPr/>
          <a:lstStyle/>
          <a:p>
            <a:fld id="{1E422F9A-6EE9-44F0-9560-5F04B1DEB4A3}" type="slidenum">
              <a:rPr lang="en-US" smtClean="0"/>
              <a:t>9</a:t>
            </a:fld>
            <a:endParaRPr lang="en-US"/>
          </a:p>
        </p:txBody>
      </p:sp>
      <p:pic>
        <p:nvPicPr>
          <p:cNvPr id="6" name="Google Shape;82;p6" descr="Low Calcium Levels | Symptoms of Calcium Deficiency | Hypocalcemia Signs |  Hypocalcemic Tetany - YouTube">
            <a:extLst>
              <a:ext uri="{FF2B5EF4-FFF2-40B4-BE49-F238E27FC236}">
                <a16:creationId xmlns:a16="http://schemas.microsoft.com/office/drawing/2014/main" id="{031C1668-D7C8-1763-DE07-35EDAB082F19}"/>
              </a:ext>
            </a:extLst>
          </p:cNvPr>
          <p:cNvPicPr preferRelativeResize="0"/>
          <p:nvPr/>
        </p:nvPicPr>
        <p:blipFill rotWithShape="1">
          <a:blip r:embed="rId2">
            <a:alphaModFix/>
          </a:blip>
          <a:srcRect l="5469" t="11111" r="11979" b="9374"/>
          <a:stretch/>
        </p:blipFill>
        <p:spPr>
          <a:xfrm>
            <a:off x="4529841" y="3126399"/>
            <a:ext cx="3839888" cy="2082830"/>
          </a:xfrm>
          <a:prstGeom prst="rect">
            <a:avLst/>
          </a:prstGeom>
          <a:noFill/>
          <a:ln>
            <a:noFill/>
          </a:ln>
        </p:spPr>
      </p:pic>
      <p:sp>
        <p:nvSpPr>
          <p:cNvPr id="9" name="Google Shape;68;p4">
            <a:extLst>
              <a:ext uri="{FF2B5EF4-FFF2-40B4-BE49-F238E27FC236}">
                <a16:creationId xmlns:a16="http://schemas.microsoft.com/office/drawing/2014/main" id="{661915C2-5978-C03F-BC43-AEBC3B5A7992}"/>
              </a:ext>
            </a:extLst>
          </p:cNvPr>
          <p:cNvSpPr txBox="1">
            <a:spLocks noGrp="1"/>
          </p:cNvSpPr>
          <p:nvPr>
            <p:ph type="title"/>
          </p:nvPr>
        </p:nvSpPr>
        <p:spPr>
          <a:xfrm>
            <a:off x="330958" y="440388"/>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000" b="1" dirty="0">
                <a:latin typeface="Helvetica" panose="020B0604020202020204" pitchFamily="34" charset="0"/>
                <a:ea typeface="Calibri"/>
                <a:cs typeface="Helvetica" panose="020B0604020202020204" pitchFamily="34" charset="0"/>
                <a:sym typeface="Calibri"/>
              </a:rPr>
              <a:t>Hypocalcemia</a:t>
            </a:r>
            <a:endParaRPr sz="4000" b="1" dirty="0">
              <a:latin typeface="Helvetica" panose="020B0604020202020204" pitchFamily="34" charset="0"/>
              <a:ea typeface="Calibri"/>
              <a:cs typeface="Helvetica" panose="020B0604020202020204" pitchFamily="34" charset="0"/>
              <a:sym typeface="Calibri"/>
            </a:endParaRPr>
          </a:p>
        </p:txBody>
      </p:sp>
      <p:pic>
        <p:nvPicPr>
          <p:cNvPr id="16" name="Picture 15">
            <a:extLst>
              <a:ext uri="{FF2B5EF4-FFF2-40B4-BE49-F238E27FC236}">
                <a16:creationId xmlns:a16="http://schemas.microsoft.com/office/drawing/2014/main" id="{617FF14C-45F3-169A-F851-6C42ABDFA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707" y="2860746"/>
            <a:ext cx="3485513" cy="2614135"/>
          </a:xfrm>
          <a:prstGeom prst="rect">
            <a:avLst/>
          </a:prstGeom>
        </p:spPr>
      </p:pic>
      <p:sp>
        <p:nvSpPr>
          <p:cNvPr id="17" name="Content Placeholder 2">
            <a:extLst>
              <a:ext uri="{FF2B5EF4-FFF2-40B4-BE49-F238E27FC236}">
                <a16:creationId xmlns:a16="http://schemas.microsoft.com/office/drawing/2014/main" id="{A2129835-619A-6046-39CE-62C6E12CED60}"/>
              </a:ext>
            </a:extLst>
          </p:cNvPr>
          <p:cNvSpPr txBox="1">
            <a:spLocks/>
          </p:cNvSpPr>
          <p:nvPr/>
        </p:nvSpPr>
        <p:spPr>
          <a:xfrm>
            <a:off x="2641463" y="5647874"/>
            <a:ext cx="771147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Helvetica Neue" panose="020B0604020202020204" charset="0"/>
              </a:rPr>
              <a:t>Involuntary carpopedal spasm</a:t>
            </a:r>
          </a:p>
        </p:txBody>
      </p:sp>
    </p:spTree>
    <p:extLst>
      <p:ext uri="{BB962C8B-B14F-4D97-AF65-F5344CB8AC3E}">
        <p14:creationId xmlns:p14="http://schemas.microsoft.com/office/powerpoint/2010/main" val="934029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48AFA-176E-941D-C9E7-4524F95025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267F7-C30F-CABC-1160-E61CB36A6070}"/>
              </a:ext>
            </a:extLst>
          </p:cNvPr>
          <p:cNvSpPr>
            <a:spLocks noGrp="1"/>
          </p:cNvSpPr>
          <p:nvPr>
            <p:ph idx="1"/>
          </p:nvPr>
        </p:nvSpPr>
        <p:spPr>
          <a:xfrm>
            <a:off x="803874" y="1383119"/>
            <a:ext cx="7711476" cy="4351338"/>
          </a:xfrm>
        </p:spPr>
        <p:txBody>
          <a:bodyPr>
            <a:normAutofit/>
          </a:bodyPr>
          <a:lstStyle/>
          <a:p>
            <a:pPr marL="0" indent="0" algn="ctr">
              <a:buNone/>
            </a:pPr>
            <a:r>
              <a:rPr lang="en-US" sz="3000" dirty="0">
                <a:latin typeface="Helvetica Neue" panose="020B0604020202020204" charset="0"/>
              </a:rPr>
              <a:t>Hallmarks of hypocalcemia include </a:t>
            </a:r>
            <a:r>
              <a:rPr lang="en-US" sz="3000" b="1" dirty="0">
                <a:solidFill>
                  <a:srgbClr val="093EFF"/>
                </a:solidFill>
                <a:latin typeface="Helvetica Neue" panose="020B0604020202020204" charset="0"/>
              </a:rPr>
              <a:t>Chvostek</a:t>
            </a:r>
            <a:r>
              <a:rPr lang="en-US" sz="3000" dirty="0">
                <a:latin typeface="Helvetica Neue" panose="020B0604020202020204" charset="0"/>
              </a:rPr>
              <a:t> and </a:t>
            </a:r>
            <a:r>
              <a:rPr lang="en-US" sz="3000" b="1" dirty="0" err="1">
                <a:solidFill>
                  <a:srgbClr val="093EFF"/>
                </a:solidFill>
                <a:latin typeface="Helvetica Neue" panose="020B0604020202020204" charset="0"/>
              </a:rPr>
              <a:t>Trosseau</a:t>
            </a:r>
            <a:r>
              <a:rPr lang="en-US" sz="3000" dirty="0">
                <a:solidFill>
                  <a:srgbClr val="093EFF"/>
                </a:solidFill>
                <a:latin typeface="Helvetica Neue" panose="020B0604020202020204" charset="0"/>
              </a:rPr>
              <a:t> </a:t>
            </a:r>
            <a:r>
              <a:rPr lang="en-US" sz="3000" b="1" dirty="0">
                <a:solidFill>
                  <a:srgbClr val="093EFF"/>
                </a:solidFill>
                <a:latin typeface="Helvetica Neue" panose="020B0604020202020204" charset="0"/>
              </a:rPr>
              <a:t>sign</a:t>
            </a:r>
          </a:p>
        </p:txBody>
      </p:sp>
      <p:sp>
        <p:nvSpPr>
          <p:cNvPr id="4" name="Slide Number Placeholder 3">
            <a:extLst>
              <a:ext uri="{FF2B5EF4-FFF2-40B4-BE49-F238E27FC236}">
                <a16:creationId xmlns:a16="http://schemas.microsoft.com/office/drawing/2014/main" id="{3FF52AD7-90BF-1739-3787-923417CA4F6A}"/>
              </a:ext>
            </a:extLst>
          </p:cNvPr>
          <p:cNvSpPr>
            <a:spLocks noGrp="1"/>
          </p:cNvSpPr>
          <p:nvPr>
            <p:ph type="sldNum" sz="quarter" idx="12"/>
          </p:nvPr>
        </p:nvSpPr>
        <p:spPr/>
        <p:txBody>
          <a:bodyPr/>
          <a:lstStyle/>
          <a:p>
            <a:fld id="{1E422F9A-6EE9-44F0-9560-5F04B1DEB4A3}" type="slidenum">
              <a:rPr lang="en-US" smtClean="0"/>
              <a:t>10</a:t>
            </a:fld>
            <a:endParaRPr lang="en-US"/>
          </a:p>
        </p:txBody>
      </p:sp>
      <p:sp>
        <p:nvSpPr>
          <p:cNvPr id="9" name="Google Shape;68;p4">
            <a:extLst>
              <a:ext uri="{FF2B5EF4-FFF2-40B4-BE49-F238E27FC236}">
                <a16:creationId xmlns:a16="http://schemas.microsoft.com/office/drawing/2014/main" id="{68F0C3E3-14DB-1681-D892-340934CA05F7}"/>
              </a:ext>
            </a:extLst>
          </p:cNvPr>
          <p:cNvSpPr txBox="1">
            <a:spLocks noGrp="1"/>
          </p:cNvSpPr>
          <p:nvPr>
            <p:ph type="title"/>
          </p:nvPr>
        </p:nvSpPr>
        <p:spPr>
          <a:xfrm>
            <a:off x="330958" y="353229"/>
            <a:ext cx="8813042" cy="102989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000" b="1" dirty="0">
                <a:latin typeface="Helvetica" panose="020B0604020202020204" pitchFamily="34" charset="0"/>
                <a:ea typeface="Calibri"/>
                <a:cs typeface="Helvetica" panose="020B0604020202020204" pitchFamily="34" charset="0"/>
                <a:sym typeface="Calibri"/>
              </a:rPr>
              <a:t>Hypocalcemia</a:t>
            </a:r>
            <a:endParaRPr sz="4000" b="1" dirty="0">
              <a:latin typeface="Helvetica" panose="020B0604020202020204" pitchFamily="34" charset="0"/>
              <a:ea typeface="Calibri"/>
              <a:cs typeface="Helvetica" panose="020B0604020202020204" pitchFamily="34" charset="0"/>
              <a:sym typeface="Calibri"/>
            </a:endParaRPr>
          </a:p>
        </p:txBody>
      </p:sp>
      <p:sp>
        <p:nvSpPr>
          <p:cNvPr id="17" name="Content Placeholder 2">
            <a:extLst>
              <a:ext uri="{FF2B5EF4-FFF2-40B4-BE49-F238E27FC236}">
                <a16:creationId xmlns:a16="http://schemas.microsoft.com/office/drawing/2014/main" id="{1A26A19A-82BF-D116-1542-E986AB967DF1}"/>
              </a:ext>
            </a:extLst>
          </p:cNvPr>
          <p:cNvSpPr txBox="1">
            <a:spLocks/>
          </p:cNvSpPr>
          <p:nvPr/>
        </p:nvSpPr>
        <p:spPr>
          <a:xfrm>
            <a:off x="1419141" y="5169349"/>
            <a:ext cx="328008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Helvetica Neue" panose="020B0604020202020204" charset="0"/>
              </a:rPr>
              <a:t>Gently tapping the facial nerve causes twitching of the facial muscles</a:t>
            </a:r>
          </a:p>
        </p:txBody>
      </p:sp>
      <p:pic>
        <p:nvPicPr>
          <p:cNvPr id="2" name="Picture 1" descr="Nurse Practitioner (NP) Glossary: Hypoparathyroidism for NP | ditki medical  &amp; biological sciences">
            <a:extLst>
              <a:ext uri="{FF2B5EF4-FFF2-40B4-BE49-F238E27FC236}">
                <a16:creationId xmlns:a16="http://schemas.microsoft.com/office/drawing/2014/main" id="{B65845E4-5978-311D-528D-597EEBC44E06}"/>
              </a:ext>
            </a:extLst>
          </p:cNvPr>
          <p:cNvPicPr>
            <a:picLocks noChangeAspect="1"/>
          </p:cNvPicPr>
          <p:nvPr/>
        </p:nvPicPr>
        <p:blipFill>
          <a:blip r:embed="rId3"/>
          <a:srcRect l="11771" t="20612" r="13448" b="12224"/>
          <a:stretch>
            <a:fillRect/>
          </a:stretch>
        </p:blipFill>
        <p:spPr>
          <a:xfrm>
            <a:off x="1833641" y="2413009"/>
            <a:ext cx="5807676" cy="2608058"/>
          </a:xfrm>
          <a:prstGeom prst="rect">
            <a:avLst/>
          </a:prstGeom>
        </p:spPr>
      </p:pic>
      <p:sp>
        <p:nvSpPr>
          <p:cNvPr id="7" name="Content Placeholder 2">
            <a:extLst>
              <a:ext uri="{FF2B5EF4-FFF2-40B4-BE49-F238E27FC236}">
                <a16:creationId xmlns:a16="http://schemas.microsoft.com/office/drawing/2014/main" id="{B1664FA1-BACC-A00D-52C3-0139E4C0D80A}"/>
              </a:ext>
            </a:extLst>
          </p:cNvPr>
          <p:cNvSpPr txBox="1">
            <a:spLocks/>
          </p:cNvSpPr>
          <p:nvPr/>
        </p:nvSpPr>
        <p:spPr>
          <a:xfrm>
            <a:off x="5340228" y="4889262"/>
            <a:ext cx="34894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Helvetica Neue" panose="020B0604020202020204" charset="0"/>
              </a:rPr>
              <a:t>Involuntary contraction of hand/wrist with inflation of blood pressure cuff</a:t>
            </a:r>
          </a:p>
        </p:txBody>
      </p:sp>
    </p:spTree>
    <p:extLst>
      <p:ext uri="{BB962C8B-B14F-4D97-AF65-F5344CB8AC3E}">
        <p14:creationId xmlns:p14="http://schemas.microsoft.com/office/powerpoint/2010/main" val="179535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89"/>
          <p:cNvSpPr txBox="1">
            <a:spLocks noGrp="1"/>
          </p:cNvSpPr>
          <p:nvPr>
            <p:ph type="title"/>
          </p:nvPr>
        </p:nvSpPr>
        <p:spPr>
          <a:xfrm>
            <a:off x="97669" y="160734"/>
            <a:ext cx="8947546" cy="1071563"/>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800" dirty="0">
                <a:latin typeface="Helvetica" panose="020B0604020202020204" pitchFamily="34" charset="0"/>
                <a:ea typeface="Calibri"/>
                <a:cs typeface="Helvetica" panose="020B0604020202020204" pitchFamily="34" charset="0"/>
                <a:sym typeface="Calibri"/>
              </a:rPr>
              <a:t>Hypercalcemia – less excitable</a:t>
            </a:r>
            <a:endParaRPr sz="3800" dirty="0">
              <a:latin typeface="Helvetica" panose="020B0604020202020204" pitchFamily="34" charset="0"/>
              <a:ea typeface="Calibri"/>
              <a:cs typeface="Helvetica" panose="020B0604020202020204" pitchFamily="34" charset="0"/>
              <a:sym typeface="Calibri"/>
            </a:endParaRPr>
          </a:p>
        </p:txBody>
      </p:sp>
      <p:sp>
        <p:nvSpPr>
          <p:cNvPr id="89" name="Google Shape;89;p89"/>
          <p:cNvSpPr txBox="1">
            <a:spLocks noGrp="1"/>
          </p:cNvSpPr>
          <p:nvPr>
            <p:ph type="body" idx="1"/>
          </p:nvPr>
        </p:nvSpPr>
        <p:spPr>
          <a:xfrm>
            <a:off x="97669" y="1232297"/>
            <a:ext cx="8799196" cy="5304234"/>
          </a:xfrm>
          <a:prstGeom prst="rect">
            <a:avLst/>
          </a:prstGeom>
          <a:noFill/>
          <a:ln>
            <a:noFill/>
          </a:ln>
        </p:spPr>
        <p:txBody>
          <a:bodyPr spcFirstLastPara="1" vert="horz" wrap="square" lIns="88893" tIns="50783" rIns="88893" bIns="50783" rtlCol="0" anchor="t" anchorCtr="0">
            <a:noAutofit/>
          </a:bodyPr>
          <a:lstStyle/>
          <a:p>
            <a:pPr marL="455398" indent="-401822">
              <a:lnSpc>
                <a:spcPct val="100000"/>
              </a:lnSpc>
              <a:spcBef>
                <a:spcPts val="422"/>
              </a:spcBef>
              <a:buClr>
                <a:srgbClr val="000000"/>
              </a:buClr>
              <a:buSzPts val="3520"/>
              <a:buFont typeface="Arial"/>
              <a:buChar char="•"/>
            </a:pPr>
            <a:r>
              <a:rPr lang="en-US" b="1" dirty="0">
                <a:latin typeface="Helvetica" panose="020B0604020202020204" pitchFamily="34" charset="0"/>
                <a:ea typeface="Calibri"/>
                <a:cs typeface="Helvetica" panose="020B0604020202020204" pitchFamily="34" charset="0"/>
                <a:sym typeface="Calibri"/>
              </a:rPr>
              <a:t>Mechanism: </a:t>
            </a:r>
            <a:r>
              <a:rPr lang="en-US" dirty="0">
                <a:latin typeface="Helvetica" panose="020B0604020202020204" pitchFamily="34" charset="0"/>
                <a:ea typeface="Calibri"/>
                <a:cs typeface="Helvetica" panose="020B0604020202020204" pitchFamily="34" charset="0"/>
                <a:sym typeface="Calibri"/>
              </a:rPr>
              <a:t>High ionized calcium raises the threshold for depolarization, making nerve/muscle cells </a:t>
            </a:r>
            <a:r>
              <a:rPr lang="en-US" b="1" dirty="0">
                <a:latin typeface="Helvetica" panose="020B0604020202020204" pitchFamily="34" charset="0"/>
                <a:ea typeface="Calibri"/>
                <a:cs typeface="Helvetica" panose="020B0604020202020204" pitchFamily="34" charset="0"/>
                <a:sym typeface="Calibri"/>
              </a:rPr>
              <a:t>resistant to stimulation. </a:t>
            </a:r>
          </a:p>
          <a:p>
            <a:pPr marL="401822" indent="-401822">
              <a:lnSpc>
                <a:spcPct val="100000"/>
              </a:lnSpc>
              <a:spcBef>
                <a:spcPts val="844"/>
              </a:spcBef>
              <a:buSzPts val="3520"/>
              <a:buFont typeface="Arial"/>
              <a:buChar char="•"/>
            </a:pPr>
            <a:endParaRPr lang="en-US" b="1" i="1" dirty="0">
              <a:latin typeface="Helvetica" panose="020B0604020202020204" pitchFamily="34" charset="0"/>
              <a:ea typeface="Calibri"/>
              <a:cs typeface="Helvetica" panose="020B0604020202020204" pitchFamily="34" charset="0"/>
              <a:sym typeface="Calibri"/>
            </a:endParaRPr>
          </a:p>
          <a:p>
            <a:pPr marL="401822" indent="-401822">
              <a:lnSpc>
                <a:spcPct val="100000"/>
              </a:lnSpc>
              <a:spcBef>
                <a:spcPts val="844"/>
              </a:spcBef>
              <a:buSzPts val="3520"/>
              <a:buFont typeface="Arial"/>
              <a:buChar char="•"/>
            </a:pPr>
            <a:r>
              <a:rPr lang="en-US" dirty="0">
                <a:latin typeface="Helvetica" panose="020B0604020202020204" pitchFamily="34" charset="0"/>
                <a:ea typeface="Calibri"/>
                <a:cs typeface="Helvetica" panose="020B0604020202020204" pitchFamily="34" charset="0"/>
                <a:sym typeface="Calibri"/>
              </a:rPr>
              <a:t>Clinical findings:</a:t>
            </a:r>
          </a:p>
          <a:p>
            <a:pPr marL="859022" lvl="1" indent="-401822">
              <a:lnSpc>
                <a:spcPct val="100000"/>
              </a:lnSpc>
              <a:spcBef>
                <a:spcPts val="844"/>
              </a:spcBef>
              <a:buSzPts val="3520"/>
              <a:buFont typeface="Arial"/>
              <a:buChar char="•"/>
            </a:pPr>
            <a:r>
              <a:rPr lang="en-US" sz="2800" b="1" dirty="0">
                <a:latin typeface="Helvetica" panose="020B0604020202020204" pitchFamily="34" charset="0"/>
                <a:ea typeface="Calibri"/>
                <a:cs typeface="Helvetica" panose="020B0604020202020204" pitchFamily="34" charset="0"/>
                <a:sym typeface="Calibri"/>
              </a:rPr>
              <a:t>Muscle weakness</a:t>
            </a:r>
            <a:r>
              <a:rPr lang="en-US" sz="2800" b="1" i="1" dirty="0">
                <a:latin typeface="Helvetica" panose="020B0604020202020204" pitchFamily="34" charset="0"/>
                <a:ea typeface="Calibri"/>
                <a:cs typeface="Helvetica" panose="020B0604020202020204" pitchFamily="34" charset="0"/>
                <a:sym typeface="Calibri"/>
              </a:rPr>
              <a:t>, </a:t>
            </a:r>
            <a:r>
              <a:rPr lang="en-US" sz="2800" dirty="0">
                <a:latin typeface="Helvetica" panose="020B0604020202020204" pitchFamily="34" charset="0"/>
                <a:ea typeface="Calibri"/>
                <a:cs typeface="Helvetica" panose="020B0604020202020204" pitchFamily="34" charset="0"/>
                <a:sym typeface="Calibri"/>
              </a:rPr>
              <a:t>hyporeflexia, easy fatigability</a:t>
            </a:r>
          </a:p>
          <a:p>
            <a:pPr marL="859022" lvl="1" indent="-401822">
              <a:lnSpc>
                <a:spcPct val="100000"/>
              </a:lnSpc>
              <a:spcBef>
                <a:spcPts val="844"/>
              </a:spcBef>
              <a:buSzPts val="3520"/>
              <a:buFont typeface="Arial"/>
              <a:buChar char="•"/>
            </a:pPr>
            <a:r>
              <a:rPr lang="en-US" sz="2800" dirty="0">
                <a:latin typeface="Helvetica" panose="020B0604020202020204" pitchFamily="34" charset="0"/>
                <a:ea typeface="Calibri"/>
                <a:cs typeface="Helvetica" panose="020B0604020202020204" pitchFamily="34" charset="0"/>
                <a:sym typeface="Calibri"/>
              </a:rPr>
              <a:t>Neuro: </a:t>
            </a:r>
            <a:r>
              <a:rPr lang="en-US" sz="2800" b="1" dirty="0">
                <a:latin typeface="Helvetica" panose="020B0604020202020204" pitchFamily="34" charset="0"/>
                <a:ea typeface="Calibri"/>
                <a:cs typeface="Helvetica" panose="020B0604020202020204" pitchFamily="34" charset="0"/>
                <a:sym typeface="Calibri"/>
              </a:rPr>
              <a:t>confusion, labile mood, poor memory </a:t>
            </a:r>
          </a:p>
          <a:p>
            <a:pPr marL="859022" lvl="1" indent="-401822">
              <a:lnSpc>
                <a:spcPct val="100000"/>
              </a:lnSpc>
              <a:spcBef>
                <a:spcPts val="844"/>
              </a:spcBef>
              <a:buSzPts val="3520"/>
              <a:buFont typeface="Arial"/>
              <a:buChar char="•"/>
            </a:pPr>
            <a:r>
              <a:rPr lang="en-US" sz="2800" dirty="0">
                <a:latin typeface="Helvetica" panose="020B0604020202020204" pitchFamily="34" charset="0"/>
                <a:ea typeface="Calibri"/>
                <a:cs typeface="Helvetica" panose="020B0604020202020204" pitchFamily="34" charset="0"/>
                <a:sym typeface="Calibri"/>
              </a:rPr>
              <a:t>GI: </a:t>
            </a:r>
            <a:r>
              <a:rPr lang="en-US" sz="2800" b="1" dirty="0">
                <a:latin typeface="Helvetica" panose="020B0604020202020204" pitchFamily="34" charset="0"/>
                <a:ea typeface="Calibri"/>
                <a:cs typeface="Helvetica" panose="020B0604020202020204" pitchFamily="34" charset="0"/>
                <a:sym typeface="Calibri"/>
              </a:rPr>
              <a:t>nausea/vomiting, constipation, </a:t>
            </a:r>
            <a:r>
              <a:rPr lang="en-US" sz="2800" dirty="0">
                <a:latin typeface="Helvetica" panose="020B0604020202020204" pitchFamily="34" charset="0"/>
                <a:ea typeface="Calibri"/>
                <a:cs typeface="Helvetica" panose="020B0604020202020204" pitchFamily="34" charset="0"/>
                <a:sym typeface="Calibri"/>
              </a:rPr>
              <a:t>ileus</a:t>
            </a:r>
          </a:p>
          <a:p>
            <a:pPr marL="859022" lvl="1" indent="-401822">
              <a:lnSpc>
                <a:spcPct val="100000"/>
              </a:lnSpc>
              <a:spcBef>
                <a:spcPts val="844"/>
              </a:spcBef>
              <a:buSzPts val="3520"/>
              <a:buFont typeface="Arial"/>
              <a:buChar char="•"/>
            </a:pPr>
            <a:r>
              <a:rPr lang="en-US" sz="2800" dirty="0">
                <a:latin typeface="Helvetica" panose="020B0604020202020204" pitchFamily="34" charset="0"/>
                <a:ea typeface="Calibri"/>
                <a:cs typeface="Helvetica" panose="020B0604020202020204" pitchFamily="34" charset="0"/>
                <a:sym typeface="Calibri"/>
              </a:rPr>
              <a:t>Renal: volume depletion, AKI, polyuria </a:t>
            </a:r>
          </a:p>
          <a:p>
            <a:pPr marL="859022" lvl="1" indent="-401822">
              <a:lnSpc>
                <a:spcPct val="100000"/>
              </a:lnSpc>
              <a:spcBef>
                <a:spcPts val="844"/>
              </a:spcBef>
              <a:buSzPts val="3520"/>
              <a:buFont typeface="Arial"/>
              <a:buChar char="•"/>
            </a:pPr>
            <a:r>
              <a:rPr lang="en-US" sz="2800" dirty="0">
                <a:latin typeface="Helvetica" panose="020B0604020202020204" pitchFamily="34" charset="0"/>
                <a:ea typeface="Calibri"/>
                <a:cs typeface="Helvetica" panose="020B0604020202020204" pitchFamily="34" charset="0"/>
                <a:sym typeface="Calibri"/>
              </a:rPr>
              <a:t>Cardiac: shortened QT</a:t>
            </a:r>
          </a:p>
          <a:p>
            <a:pPr marL="607197" lvl="1" indent="-218770">
              <a:lnSpc>
                <a:spcPct val="100000"/>
              </a:lnSpc>
              <a:spcBef>
                <a:spcPts val="844"/>
              </a:spcBef>
              <a:buClr>
                <a:srgbClr val="000000"/>
              </a:buClr>
              <a:buSzPts val="1500"/>
              <a:buNone/>
            </a:pPr>
            <a:endParaRPr lang="en-US" sz="2800" b="1" i="1"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7">
          <a:extLst>
            <a:ext uri="{FF2B5EF4-FFF2-40B4-BE49-F238E27FC236}">
              <a16:creationId xmlns:a16="http://schemas.microsoft.com/office/drawing/2014/main" id="{676AA442-40DC-B95D-E8B6-82D92A7C643E}"/>
            </a:ext>
          </a:extLst>
        </p:cNvPr>
        <p:cNvGrpSpPr/>
        <p:nvPr/>
      </p:nvGrpSpPr>
      <p:grpSpPr>
        <a:xfrm>
          <a:off x="0" y="0"/>
          <a:ext cx="0" cy="0"/>
          <a:chOff x="0" y="0"/>
          <a:chExt cx="0" cy="0"/>
        </a:xfrm>
      </p:grpSpPr>
      <p:sp>
        <p:nvSpPr>
          <p:cNvPr id="88" name="Google Shape;88;p89">
            <a:extLst>
              <a:ext uri="{FF2B5EF4-FFF2-40B4-BE49-F238E27FC236}">
                <a16:creationId xmlns:a16="http://schemas.microsoft.com/office/drawing/2014/main" id="{B4F4A2D1-CA71-C7E6-6E84-46DF79E1220F}"/>
              </a:ext>
            </a:extLst>
          </p:cNvPr>
          <p:cNvSpPr txBox="1">
            <a:spLocks noGrp="1"/>
          </p:cNvSpPr>
          <p:nvPr>
            <p:ph type="title"/>
          </p:nvPr>
        </p:nvSpPr>
        <p:spPr>
          <a:xfrm>
            <a:off x="97669" y="294548"/>
            <a:ext cx="8947546" cy="1071563"/>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600" dirty="0">
                <a:latin typeface="Helvetica" panose="020B0604020202020204" pitchFamily="34" charset="0"/>
                <a:ea typeface="Calibri"/>
                <a:cs typeface="Helvetica" panose="020B0604020202020204" pitchFamily="34" charset="0"/>
                <a:sym typeface="Calibri"/>
              </a:rPr>
              <a:t>Quick Recap</a:t>
            </a:r>
            <a:endParaRPr sz="3600" dirty="0">
              <a:latin typeface="Helvetica" panose="020B0604020202020204" pitchFamily="34" charset="0"/>
              <a:ea typeface="Calibri"/>
              <a:cs typeface="Helvetica" panose="020B0604020202020204" pitchFamily="34" charset="0"/>
              <a:sym typeface="Calibri"/>
            </a:endParaRPr>
          </a:p>
        </p:txBody>
      </p:sp>
      <p:graphicFrame>
        <p:nvGraphicFramePr>
          <p:cNvPr id="3" name="Table 2">
            <a:extLst>
              <a:ext uri="{FF2B5EF4-FFF2-40B4-BE49-F238E27FC236}">
                <a16:creationId xmlns:a16="http://schemas.microsoft.com/office/drawing/2014/main" id="{17B35127-BEF3-3882-64CC-E44C7BDE698D}"/>
              </a:ext>
            </a:extLst>
          </p:cNvPr>
          <p:cNvGraphicFramePr>
            <a:graphicFrameLocks noGrp="1"/>
          </p:cNvGraphicFramePr>
          <p:nvPr>
            <p:extLst>
              <p:ext uri="{D42A27DB-BD31-4B8C-83A1-F6EECF244321}">
                <p14:modId xmlns:p14="http://schemas.microsoft.com/office/powerpoint/2010/main" val="3689667796"/>
              </p:ext>
            </p:extLst>
          </p:nvPr>
        </p:nvGraphicFramePr>
        <p:xfrm>
          <a:off x="614339" y="1295400"/>
          <a:ext cx="7914206" cy="4267200"/>
        </p:xfrm>
        <a:graphic>
          <a:graphicData uri="http://schemas.openxmlformats.org/drawingml/2006/table">
            <a:tbl>
              <a:tblPr firstRow="1" bandRow="1">
                <a:tableStyleId>{5C22544A-7EE6-4342-B048-85BDC9FD1C3A}</a:tableStyleId>
              </a:tblPr>
              <a:tblGrid>
                <a:gridCol w="3957103">
                  <a:extLst>
                    <a:ext uri="{9D8B030D-6E8A-4147-A177-3AD203B41FA5}">
                      <a16:colId xmlns:a16="http://schemas.microsoft.com/office/drawing/2014/main" val="175582951"/>
                    </a:ext>
                  </a:extLst>
                </a:gridCol>
                <a:gridCol w="3957103">
                  <a:extLst>
                    <a:ext uri="{9D8B030D-6E8A-4147-A177-3AD203B41FA5}">
                      <a16:colId xmlns:a16="http://schemas.microsoft.com/office/drawing/2014/main" val="1046420381"/>
                    </a:ext>
                  </a:extLst>
                </a:gridCol>
              </a:tblGrid>
              <a:tr h="370840">
                <a:tc>
                  <a:txBody>
                    <a:bodyPr/>
                    <a:lstStyle/>
                    <a:p>
                      <a:r>
                        <a:rPr lang="en-US" sz="2800" dirty="0">
                          <a:latin typeface="Helvetica Neue" panose="020B0604020202020204" charset="0"/>
                        </a:rPr>
                        <a:t>Hypocalcemia</a:t>
                      </a:r>
                    </a:p>
                  </a:txBody>
                  <a:tcPr/>
                </a:tc>
                <a:tc>
                  <a:txBody>
                    <a:bodyPr/>
                    <a:lstStyle/>
                    <a:p>
                      <a:r>
                        <a:rPr lang="en-US" sz="2800" dirty="0">
                          <a:latin typeface="Helvetica Neue" panose="020B0604020202020204" charset="0"/>
                        </a:rPr>
                        <a:t>Hypercalcemia</a:t>
                      </a:r>
                    </a:p>
                  </a:txBody>
                  <a:tcPr/>
                </a:tc>
                <a:extLst>
                  <a:ext uri="{0D108BD9-81ED-4DB2-BD59-A6C34878D82A}">
                    <a16:rowId xmlns:a16="http://schemas.microsoft.com/office/drawing/2014/main" val="3125538069"/>
                  </a:ext>
                </a:extLst>
              </a:tr>
              <a:tr h="370840">
                <a:tc>
                  <a:txBody>
                    <a:bodyPr/>
                    <a:lstStyle/>
                    <a:p>
                      <a:r>
                        <a:rPr lang="en-US" sz="2400" b="1" dirty="0">
                          <a:latin typeface="Helvetica Neue" panose="020B0604020202020204" charset="0"/>
                        </a:rPr>
                        <a:t>More excitable </a:t>
                      </a:r>
                    </a:p>
                    <a:p>
                      <a:endParaRPr lang="en-US" sz="2400" dirty="0">
                        <a:latin typeface="Helvetica Neue" panose="020B0604020202020204" charset="0"/>
                      </a:endParaRPr>
                    </a:p>
                    <a:p>
                      <a:pPr marL="285750" indent="-285750">
                        <a:buFont typeface="Arial" panose="020B0604020202020204" pitchFamily="34" charset="0"/>
                        <a:buChar char="•"/>
                      </a:pPr>
                      <a:r>
                        <a:rPr lang="en-US" sz="2400" dirty="0">
                          <a:latin typeface="Helvetica Neue" panose="020B0604020202020204" charset="0"/>
                        </a:rPr>
                        <a:t>Cramps, spasms</a:t>
                      </a:r>
                    </a:p>
                    <a:p>
                      <a:pPr marL="285750" indent="-285750">
                        <a:buFont typeface="Arial" panose="020B0604020202020204" pitchFamily="34" charset="0"/>
                        <a:buChar char="•"/>
                      </a:pPr>
                      <a:r>
                        <a:rPr lang="en-US" sz="2400" dirty="0">
                          <a:latin typeface="Helvetica Neue" panose="020B0604020202020204" charset="0"/>
                        </a:rPr>
                        <a:t>Oral </a:t>
                      </a:r>
                      <a:r>
                        <a:rPr lang="en-US" sz="2400" dirty="0" err="1">
                          <a:latin typeface="Helvetica Neue" panose="020B0604020202020204" charset="0"/>
                        </a:rPr>
                        <a:t>paresthesias</a:t>
                      </a:r>
                      <a:endParaRPr lang="en-US" sz="2400" dirty="0">
                        <a:latin typeface="Helvetica Neue" panose="020B0604020202020204" charset="0"/>
                      </a:endParaRPr>
                    </a:p>
                    <a:p>
                      <a:pPr marL="285750" indent="-285750">
                        <a:buFont typeface="Arial" panose="020B0604020202020204" pitchFamily="34" charset="0"/>
                        <a:buChar char="•"/>
                      </a:pPr>
                      <a:r>
                        <a:rPr lang="en-US" sz="2400" dirty="0">
                          <a:latin typeface="Helvetica Neue" panose="020B0604020202020204" charset="0"/>
                        </a:rPr>
                        <a:t>Tetany</a:t>
                      </a:r>
                    </a:p>
                    <a:p>
                      <a:pPr marL="285750" indent="-285750">
                        <a:buFont typeface="Arial" panose="020B0604020202020204" pitchFamily="34" charset="0"/>
                        <a:buChar char="•"/>
                      </a:pPr>
                      <a:r>
                        <a:rPr lang="en-US" sz="2400" dirty="0">
                          <a:latin typeface="Helvetica Neue" panose="020B0604020202020204" charset="0"/>
                        </a:rPr>
                        <a:t>Chvostek/</a:t>
                      </a:r>
                      <a:r>
                        <a:rPr lang="en-US" sz="2400" dirty="0" err="1">
                          <a:latin typeface="Helvetica Neue" panose="020B0604020202020204" charset="0"/>
                        </a:rPr>
                        <a:t>Trosseau</a:t>
                      </a:r>
                      <a:r>
                        <a:rPr lang="en-US" sz="2400" dirty="0">
                          <a:latin typeface="Helvetica Neue" panose="020B0604020202020204" charset="0"/>
                        </a:rPr>
                        <a:t> sign</a:t>
                      </a:r>
                    </a:p>
                    <a:p>
                      <a:pPr marL="285750" indent="-285750">
                        <a:buFont typeface="Arial" panose="020B0604020202020204" pitchFamily="34" charset="0"/>
                        <a:buChar char="•"/>
                      </a:pPr>
                      <a:endParaRPr lang="en-US" sz="2400" dirty="0">
                        <a:latin typeface="Helvetica Neue" panose="020B0604020202020204" charset="0"/>
                      </a:endParaRPr>
                    </a:p>
                    <a:p>
                      <a:pPr marL="285750" indent="-285750">
                        <a:buFont typeface="Arial" panose="020B0604020202020204" pitchFamily="34" charset="0"/>
                        <a:buChar char="•"/>
                      </a:pPr>
                      <a:r>
                        <a:rPr lang="en-US" sz="2400" b="1" dirty="0">
                          <a:latin typeface="Helvetica Neue" panose="020B0604020202020204" charset="0"/>
                        </a:rPr>
                        <a:t>Severe: </a:t>
                      </a:r>
                      <a:r>
                        <a:rPr lang="en-US" sz="2400" dirty="0">
                          <a:latin typeface="Helvetica Neue" panose="020B0604020202020204" charset="0"/>
                        </a:rPr>
                        <a:t>Laryngospasm, bronchospasm, seizures </a:t>
                      </a:r>
                    </a:p>
                    <a:p>
                      <a:pPr marL="0" indent="0">
                        <a:buFont typeface="Arial" panose="020B0604020202020204" pitchFamily="34" charset="0"/>
                        <a:buNone/>
                      </a:pPr>
                      <a:endParaRPr lang="en-US" sz="2400" dirty="0">
                        <a:latin typeface="Helvetica Neue" panose="020B0604020202020204" charset="0"/>
                      </a:endParaRPr>
                    </a:p>
                  </a:txBody>
                  <a:tcPr/>
                </a:tc>
                <a:tc>
                  <a:txBody>
                    <a:bodyPr/>
                    <a:lstStyle/>
                    <a:p>
                      <a:r>
                        <a:rPr lang="en-US" sz="2400" b="1" dirty="0">
                          <a:latin typeface="Helvetica Neue" panose="020B0604020202020204" charset="0"/>
                        </a:rPr>
                        <a:t>Less excitable</a:t>
                      </a:r>
                    </a:p>
                    <a:p>
                      <a:endParaRPr lang="en-US" sz="2400" dirty="0">
                        <a:latin typeface="Helvetica Neue" panose="020B0604020202020204" charset="0"/>
                      </a:endParaRPr>
                    </a:p>
                    <a:p>
                      <a:pPr marL="285750" indent="-285750">
                        <a:buFont typeface="Arial" panose="020B0604020202020204" pitchFamily="34" charset="0"/>
                        <a:buChar char="•"/>
                      </a:pPr>
                      <a:r>
                        <a:rPr lang="en-US" sz="2400" dirty="0">
                          <a:latin typeface="Helvetica Neue" panose="020B0604020202020204" charset="0"/>
                        </a:rPr>
                        <a:t>Weakness, lethargy</a:t>
                      </a:r>
                    </a:p>
                    <a:p>
                      <a:pPr marL="285750" indent="-285750">
                        <a:buFont typeface="Arial" panose="020B0604020202020204" pitchFamily="34" charset="0"/>
                        <a:buChar char="•"/>
                      </a:pPr>
                      <a:r>
                        <a:rPr lang="en-US" sz="2400" dirty="0">
                          <a:latin typeface="Helvetica Neue" panose="020B0604020202020204" charset="0"/>
                        </a:rPr>
                        <a:t>Constipation, nausea </a:t>
                      </a:r>
                    </a:p>
                    <a:p>
                      <a:pPr marL="285750" indent="-285750">
                        <a:buFont typeface="Arial" panose="020B0604020202020204" pitchFamily="34" charset="0"/>
                        <a:buChar char="•"/>
                      </a:pPr>
                      <a:r>
                        <a:rPr lang="en-US" sz="2400" dirty="0">
                          <a:latin typeface="Helvetica Neue" panose="020B0604020202020204" charset="0"/>
                        </a:rPr>
                        <a:t>Confusion</a:t>
                      </a:r>
                    </a:p>
                    <a:p>
                      <a:pPr marL="285750" indent="-285750">
                        <a:buFont typeface="Arial" panose="020B0604020202020204" pitchFamily="34" charset="0"/>
                        <a:buChar char="•"/>
                      </a:pPr>
                      <a:r>
                        <a:rPr lang="en-US" sz="2400" dirty="0">
                          <a:latin typeface="Helvetica Neue" panose="020B0604020202020204" charset="0"/>
                        </a:rPr>
                        <a:t>Volume depletion, AKI</a:t>
                      </a:r>
                    </a:p>
                    <a:p>
                      <a:pPr marL="285750" indent="-285750">
                        <a:buFont typeface="Arial" panose="020B0604020202020204" pitchFamily="34" charset="0"/>
                        <a:buChar char="•"/>
                      </a:pPr>
                      <a:endParaRPr lang="en-US" sz="2400" dirty="0">
                        <a:latin typeface="Helvetica Neue" panose="020B0604020202020204" charset="0"/>
                      </a:endParaRPr>
                    </a:p>
                    <a:p>
                      <a:pPr marL="285750" indent="-285750">
                        <a:buFont typeface="Arial" panose="020B0604020202020204" pitchFamily="34" charset="0"/>
                        <a:buChar char="•"/>
                      </a:pPr>
                      <a:r>
                        <a:rPr lang="en-US" sz="2400" b="1" dirty="0">
                          <a:latin typeface="Helvetica Neue" panose="020B0604020202020204" charset="0"/>
                        </a:rPr>
                        <a:t>Severe: </a:t>
                      </a:r>
                      <a:r>
                        <a:rPr lang="en-US" sz="2400" dirty="0">
                          <a:latin typeface="Helvetica Neue" panose="020B0604020202020204" charset="0"/>
                        </a:rPr>
                        <a:t>stupor/coma </a:t>
                      </a:r>
                    </a:p>
                  </a:txBody>
                  <a:tcPr/>
                </a:tc>
                <a:extLst>
                  <a:ext uri="{0D108BD9-81ED-4DB2-BD59-A6C34878D82A}">
                    <a16:rowId xmlns:a16="http://schemas.microsoft.com/office/drawing/2014/main" val="3615068210"/>
                  </a:ext>
                </a:extLst>
              </a:tr>
            </a:tbl>
          </a:graphicData>
        </a:graphic>
      </p:graphicFrame>
    </p:spTree>
    <p:extLst>
      <p:ext uri="{BB962C8B-B14F-4D97-AF65-F5344CB8AC3E}">
        <p14:creationId xmlns:p14="http://schemas.microsoft.com/office/powerpoint/2010/main" val="1713405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2BDDB-3D80-F2CE-4562-21C664318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EFEE0-3DB8-DB86-CA12-390F58B3CA7D}"/>
              </a:ext>
            </a:extLst>
          </p:cNvPr>
          <p:cNvSpPr>
            <a:spLocks noGrp="1"/>
          </p:cNvSpPr>
          <p:nvPr>
            <p:ph type="title"/>
          </p:nvPr>
        </p:nvSpPr>
        <p:spPr>
          <a:xfrm>
            <a:off x="628650" y="132440"/>
            <a:ext cx="7886700" cy="1325563"/>
          </a:xfrm>
        </p:spPr>
        <p:txBody>
          <a:bodyPr>
            <a:normAutofit/>
          </a:bodyPr>
          <a:lstStyle/>
          <a:p>
            <a:pPr algn="ctr"/>
            <a:r>
              <a:rPr lang="en-US" sz="4000" dirty="0">
                <a:latin typeface="Helvetica Neue" panose="020B0604020202020204" charset="0"/>
              </a:rPr>
              <a:t>Calcium Levels</a:t>
            </a:r>
          </a:p>
        </p:txBody>
      </p:sp>
      <p:sp>
        <p:nvSpPr>
          <p:cNvPr id="3" name="Content Placeholder 2">
            <a:extLst>
              <a:ext uri="{FF2B5EF4-FFF2-40B4-BE49-F238E27FC236}">
                <a16:creationId xmlns:a16="http://schemas.microsoft.com/office/drawing/2014/main" id="{256FDCD5-84A6-086E-A0CF-C64D2C8A2590}"/>
              </a:ext>
            </a:extLst>
          </p:cNvPr>
          <p:cNvSpPr>
            <a:spLocks noGrp="1"/>
          </p:cNvSpPr>
          <p:nvPr>
            <p:ph idx="1"/>
          </p:nvPr>
        </p:nvSpPr>
        <p:spPr>
          <a:xfrm>
            <a:off x="373592" y="1282116"/>
            <a:ext cx="8396816" cy="5439360"/>
          </a:xfrm>
        </p:spPr>
        <p:txBody>
          <a:bodyPr>
            <a:noAutofit/>
          </a:bodyPr>
          <a:lstStyle/>
          <a:p>
            <a:pPr marL="346075" indent="-346075" defTabSz="1300163">
              <a:spcBef>
                <a:spcPts val="700"/>
              </a:spcBef>
              <a:buClr>
                <a:srgbClr val="000000"/>
              </a:buClr>
              <a:buFont typeface="ArialMT" charset="0"/>
              <a:buChar char="•"/>
              <a:defRPr/>
            </a:pPr>
            <a:r>
              <a:rPr lang="en-US" altLang="en-US" sz="30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Total plasma calcium levels are normally at about 8.5-10.2 mg/dL</a:t>
            </a:r>
          </a:p>
          <a:p>
            <a:pPr marL="561975" lvl="1" indent="-257175" defTabSz="1300163">
              <a:spcBef>
                <a:spcPts val="600"/>
              </a:spcBef>
              <a:buClr>
                <a:srgbClr val="000000"/>
              </a:buClr>
              <a:buFont typeface="ArialMT" charset="0"/>
              <a:buChar char="–"/>
              <a:defRPr/>
            </a:pPr>
            <a:r>
              <a:rPr lang="en-US" altLang="en-US" sz="26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About half is </a:t>
            </a:r>
            <a:r>
              <a:rPr lang="en-US" altLang="en-US" sz="2600" b="1" i="1"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bound to protein </a:t>
            </a:r>
            <a:r>
              <a:rPr lang="en-US" altLang="en-US" sz="26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(albumin)</a:t>
            </a:r>
          </a:p>
          <a:p>
            <a:pPr marL="561975" lvl="1" indent="-257175" defTabSz="1300163">
              <a:spcBef>
                <a:spcPts val="600"/>
              </a:spcBef>
              <a:buClr>
                <a:srgbClr val="000000"/>
              </a:buClr>
              <a:buFont typeface="ArialMT" charset="0"/>
              <a:buChar char="–"/>
              <a:defRPr/>
            </a:pPr>
            <a:r>
              <a:rPr lang="en-US" altLang="en-US" sz="26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About half is </a:t>
            </a:r>
            <a:r>
              <a:rPr lang="en-US" altLang="en-US" sz="2600" b="1" i="1"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free, ionized and active</a:t>
            </a:r>
            <a:endParaRPr lang="en-US" altLang="en-US" sz="2600" dirty="0">
              <a:latin typeface="Helvetica" panose="020B0604020202020204" pitchFamily="34" charset="0"/>
              <a:ea typeface="MS PGothic" pitchFamily="34" charset="-128"/>
              <a:cs typeface="Helvetica" panose="020B0604020202020204" pitchFamily="34" charset="0"/>
              <a:sym typeface="Helvetica" panose="020B0604020202020204" pitchFamily="34" charset="0"/>
            </a:endParaRPr>
          </a:p>
          <a:p>
            <a:pPr marL="561975" lvl="1" indent="-257175" defTabSz="1300163">
              <a:spcBef>
                <a:spcPts val="600"/>
              </a:spcBef>
              <a:buNone/>
              <a:defRPr/>
            </a:pPr>
            <a:endParaRPr lang="en-US" altLang="en-US" sz="3000" b="1" i="1" dirty="0">
              <a:latin typeface="Helvetica" panose="020B0604020202020204" pitchFamily="34" charset="0"/>
              <a:ea typeface="MS PGothic" pitchFamily="34" charset="-128"/>
              <a:cs typeface="Helvetica" panose="020B0604020202020204" pitchFamily="34" charset="0"/>
              <a:sym typeface="Helvetica" panose="020B0604020202020204" pitchFamily="34" charset="0"/>
            </a:endParaRPr>
          </a:p>
          <a:p>
            <a:pPr marL="346075" indent="-346075" defTabSz="1300163">
              <a:spcBef>
                <a:spcPts val="700"/>
              </a:spcBef>
              <a:buClr>
                <a:srgbClr val="000000"/>
              </a:buClr>
              <a:buFont typeface="ArialMT" charset="0"/>
              <a:buChar char="•"/>
              <a:defRPr/>
            </a:pPr>
            <a:r>
              <a:rPr lang="en-US" altLang="en-US" sz="30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Calcium homeostasis is maintained by the kidney, intestine, and bones</a:t>
            </a:r>
          </a:p>
          <a:p>
            <a:pPr marL="346075" indent="-346075" defTabSz="1300163">
              <a:spcBef>
                <a:spcPts val="700"/>
              </a:spcBef>
              <a:buNone/>
              <a:defRPr/>
            </a:pPr>
            <a:endParaRPr lang="en-US" altLang="en-US" sz="3000" dirty="0">
              <a:latin typeface="Helvetica" panose="020B0604020202020204" pitchFamily="34" charset="0"/>
              <a:ea typeface="MS PGothic" pitchFamily="34" charset="-128"/>
              <a:cs typeface="Helvetica" panose="020B0604020202020204" pitchFamily="34" charset="0"/>
              <a:sym typeface="Helvetica" panose="020B0604020202020204" pitchFamily="34" charset="0"/>
            </a:endParaRPr>
          </a:p>
          <a:p>
            <a:pPr marL="346075" indent="-346075" defTabSz="1300163">
              <a:spcBef>
                <a:spcPts val="700"/>
              </a:spcBef>
              <a:buClr>
                <a:srgbClr val="000000"/>
              </a:buClr>
              <a:buFont typeface="ArialMT" charset="0"/>
              <a:buChar char="•"/>
              <a:defRPr/>
            </a:pPr>
            <a:r>
              <a:rPr lang="en-US" altLang="en-US" sz="3000" dirty="0">
                <a:latin typeface="Helvetica" panose="020B0604020202020204" pitchFamily="34" charset="0"/>
                <a:ea typeface="MS PGothic" pitchFamily="34" charset="-128"/>
                <a:cs typeface="Helvetica" panose="020B0604020202020204" pitchFamily="34" charset="0"/>
                <a:sym typeface="Helvetica" panose="020B0604020202020204" pitchFamily="34" charset="0"/>
              </a:rPr>
              <a:t>Hydroxylated vitamin D and parathyroid hormone play major roles in the GI and renal maintenance of calcium homeostasis </a:t>
            </a:r>
          </a:p>
        </p:txBody>
      </p:sp>
      <p:sp>
        <p:nvSpPr>
          <p:cNvPr id="5" name="Slide Number Placeholder 4">
            <a:extLst>
              <a:ext uri="{FF2B5EF4-FFF2-40B4-BE49-F238E27FC236}">
                <a16:creationId xmlns:a16="http://schemas.microsoft.com/office/drawing/2014/main" id="{A7FBE3DD-C365-938F-E5C5-C66002F46B9D}"/>
              </a:ext>
            </a:extLst>
          </p:cNvPr>
          <p:cNvSpPr>
            <a:spLocks noGrp="1"/>
          </p:cNvSpPr>
          <p:nvPr>
            <p:ph type="sldNum" sz="quarter" idx="12"/>
          </p:nvPr>
        </p:nvSpPr>
        <p:spPr/>
        <p:txBody>
          <a:bodyPr/>
          <a:lstStyle/>
          <a:p>
            <a:fld id="{1E422F9A-6EE9-44F0-9560-5F04B1DEB4A3}" type="slidenum">
              <a:rPr lang="en-US" smtClean="0"/>
              <a:t>13</a:t>
            </a:fld>
            <a:endParaRPr lang="en-US"/>
          </a:p>
        </p:txBody>
      </p:sp>
    </p:spTree>
    <p:extLst>
      <p:ext uri="{BB962C8B-B14F-4D97-AF65-F5344CB8AC3E}">
        <p14:creationId xmlns:p14="http://schemas.microsoft.com/office/powerpoint/2010/main" val="3196921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8E081-2352-D29F-6611-ED2946D4B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387D2-0056-81B0-662F-AA7337B38F55}"/>
              </a:ext>
            </a:extLst>
          </p:cNvPr>
          <p:cNvSpPr>
            <a:spLocks noGrp="1"/>
          </p:cNvSpPr>
          <p:nvPr>
            <p:ph type="title"/>
          </p:nvPr>
        </p:nvSpPr>
        <p:spPr>
          <a:xfrm>
            <a:off x="628650" y="195435"/>
            <a:ext cx="7886700" cy="1325563"/>
          </a:xfrm>
        </p:spPr>
        <p:txBody>
          <a:bodyPr>
            <a:normAutofit/>
          </a:bodyPr>
          <a:lstStyle/>
          <a:p>
            <a:pPr algn="ctr"/>
            <a:r>
              <a:rPr lang="en-US" sz="4000" dirty="0">
                <a:latin typeface="Helvetica Neue" panose="020B0604020202020204" charset="0"/>
              </a:rPr>
              <a:t>Calcium Balance in the Body</a:t>
            </a:r>
          </a:p>
        </p:txBody>
      </p:sp>
      <p:sp>
        <p:nvSpPr>
          <p:cNvPr id="3" name="Content Placeholder 2">
            <a:extLst>
              <a:ext uri="{FF2B5EF4-FFF2-40B4-BE49-F238E27FC236}">
                <a16:creationId xmlns:a16="http://schemas.microsoft.com/office/drawing/2014/main" id="{08D5519D-B964-42F7-0BFF-10EE121E8E2A}"/>
              </a:ext>
            </a:extLst>
          </p:cNvPr>
          <p:cNvSpPr>
            <a:spLocks noGrp="1"/>
          </p:cNvSpPr>
          <p:nvPr>
            <p:ph idx="1"/>
          </p:nvPr>
        </p:nvSpPr>
        <p:spPr>
          <a:xfrm>
            <a:off x="628649" y="1373449"/>
            <a:ext cx="8079921" cy="4461431"/>
          </a:xfrm>
        </p:spPr>
        <p:txBody>
          <a:bodyPr>
            <a:normAutofit/>
          </a:bodyPr>
          <a:lstStyle/>
          <a:p>
            <a:r>
              <a:rPr lang="en-US" sz="3000" dirty="0">
                <a:latin typeface="Helvetica" panose="020B0604020202020204" pitchFamily="34" charset="0"/>
                <a:cs typeface="Helvetica" panose="020B0604020202020204" pitchFamily="34" charset="0"/>
                <a:sym typeface="Wingdings" panose="05000000000000000000" pitchFamily="2" charset="2"/>
              </a:rPr>
              <a:t>The bones act as a </a:t>
            </a:r>
            <a:r>
              <a:rPr lang="en-US" sz="3000" b="1" dirty="0">
                <a:latin typeface="Helvetica" panose="020B0604020202020204" pitchFamily="34" charset="0"/>
                <a:cs typeface="Helvetica" panose="020B0604020202020204" pitchFamily="34" charset="0"/>
                <a:sym typeface="Wingdings" panose="05000000000000000000" pitchFamily="2" charset="2"/>
              </a:rPr>
              <a:t>calcium reservoir </a:t>
            </a:r>
            <a:r>
              <a:rPr lang="en-US" sz="3000" dirty="0">
                <a:latin typeface="Helvetica" panose="020B0604020202020204" pitchFamily="34" charset="0"/>
                <a:cs typeface="Helvetica" panose="020B0604020202020204" pitchFamily="34" charset="0"/>
                <a:sym typeface="Wingdings" panose="05000000000000000000" pitchFamily="2" charset="2"/>
              </a:rPr>
              <a:t>for the body, and bone is constantly being turned over</a:t>
            </a:r>
            <a:r>
              <a:rPr lang="en-US" sz="3000" i="1" dirty="0">
                <a:latin typeface="Helvetica" panose="020B0604020202020204" pitchFamily="34" charset="0"/>
                <a:cs typeface="Helvetica" panose="020B0604020202020204" pitchFamily="34" charset="0"/>
                <a:sym typeface="Wingdings" panose="05000000000000000000" pitchFamily="2" charset="2"/>
              </a:rPr>
              <a:t>. </a:t>
            </a:r>
          </a:p>
          <a:p>
            <a:r>
              <a:rPr lang="en-US" sz="3000" dirty="0">
                <a:latin typeface="Helvetica" panose="020B0604020202020204" pitchFamily="34" charset="0"/>
                <a:cs typeface="Helvetica" panose="020B0604020202020204" pitchFamily="34" charset="0"/>
                <a:sym typeface="Wingdings" panose="05000000000000000000" pitchFamily="2" charset="2"/>
              </a:rPr>
              <a:t>Calcium can be extracted or deposited to keep serum calcium levels constant </a:t>
            </a:r>
          </a:p>
          <a:p>
            <a:pPr marL="0" indent="0">
              <a:buNone/>
            </a:pPr>
            <a:endParaRPr lang="en-US" sz="3400" b="1" dirty="0">
              <a:latin typeface="Helvetica" panose="020B0604020202020204" pitchFamily="34" charset="0"/>
              <a:cs typeface="Helvetica" panose="020B0604020202020204" pitchFamily="34" charset="0"/>
              <a:sym typeface="Wingdings" panose="05000000000000000000" pitchFamily="2" charset="2"/>
            </a:endParaRPr>
          </a:p>
        </p:txBody>
      </p:sp>
      <p:pic>
        <p:nvPicPr>
          <p:cNvPr id="3074" name="Picture 2" descr="Hip and pelvis bones">
            <a:extLst>
              <a:ext uri="{FF2B5EF4-FFF2-40B4-BE49-F238E27FC236}">
                <a16:creationId xmlns:a16="http://schemas.microsoft.com/office/drawing/2014/main" id="{BBDEE579-9201-DC9D-06F5-0A15B4F65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3462" y="4293056"/>
            <a:ext cx="2886075" cy="203835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20182903-8BF9-BA6D-8C32-5F366AB9B49D}"/>
              </a:ext>
            </a:extLst>
          </p:cNvPr>
          <p:cNvSpPr>
            <a:spLocks noGrp="1"/>
          </p:cNvSpPr>
          <p:nvPr>
            <p:ph type="sldNum" sz="quarter" idx="12"/>
          </p:nvPr>
        </p:nvSpPr>
        <p:spPr/>
        <p:txBody>
          <a:bodyPr/>
          <a:lstStyle/>
          <a:p>
            <a:fld id="{1E422F9A-6EE9-44F0-9560-5F04B1DEB4A3}" type="slidenum">
              <a:rPr lang="en-US" smtClean="0"/>
              <a:t>14</a:t>
            </a:fld>
            <a:endParaRPr lang="en-US"/>
          </a:p>
        </p:txBody>
      </p:sp>
      <p:pic>
        <p:nvPicPr>
          <p:cNvPr id="6" name="Picture 5" descr="Bank Money in Monopoly">
            <a:extLst>
              <a:ext uri="{FF2B5EF4-FFF2-40B4-BE49-F238E27FC236}">
                <a16:creationId xmlns:a16="http://schemas.microsoft.com/office/drawing/2014/main" id="{FC7B20A4-8880-2277-EC21-D61E92A56062}"/>
              </a:ext>
            </a:extLst>
          </p:cNvPr>
          <p:cNvPicPr>
            <a:picLocks noChangeAspect="1"/>
          </p:cNvPicPr>
          <p:nvPr/>
        </p:nvPicPr>
        <p:blipFill>
          <a:blip r:embed="rId4"/>
          <a:stretch>
            <a:fillRect/>
          </a:stretch>
        </p:blipFill>
        <p:spPr>
          <a:xfrm>
            <a:off x="924486" y="4157090"/>
            <a:ext cx="3261474" cy="2174316"/>
          </a:xfrm>
          <a:prstGeom prst="rect">
            <a:avLst/>
          </a:prstGeom>
        </p:spPr>
      </p:pic>
    </p:spTree>
    <p:extLst>
      <p:ext uri="{BB962C8B-B14F-4D97-AF65-F5344CB8AC3E}">
        <p14:creationId xmlns:p14="http://schemas.microsoft.com/office/powerpoint/2010/main" val="341064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A919B-3AA7-AA52-EDEF-64BD79995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47802-6934-9BEC-E8E6-09669BA21259}"/>
              </a:ext>
            </a:extLst>
          </p:cNvPr>
          <p:cNvSpPr>
            <a:spLocks noGrp="1"/>
          </p:cNvSpPr>
          <p:nvPr>
            <p:ph type="title"/>
          </p:nvPr>
        </p:nvSpPr>
        <p:spPr>
          <a:xfrm>
            <a:off x="628650" y="71650"/>
            <a:ext cx="7886700" cy="1325563"/>
          </a:xfrm>
        </p:spPr>
        <p:txBody>
          <a:bodyPr>
            <a:normAutofit/>
          </a:bodyPr>
          <a:lstStyle/>
          <a:p>
            <a:pPr algn="ctr"/>
            <a:r>
              <a:rPr lang="en-US" sz="4200" dirty="0">
                <a:latin typeface="Helvetica Neue" panose="020B0604020202020204" charset="0"/>
              </a:rPr>
              <a:t>Response to Low Ca levels</a:t>
            </a:r>
          </a:p>
        </p:txBody>
      </p:sp>
      <p:sp>
        <p:nvSpPr>
          <p:cNvPr id="3" name="Content Placeholder 2">
            <a:extLst>
              <a:ext uri="{FF2B5EF4-FFF2-40B4-BE49-F238E27FC236}">
                <a16:creationId xmlns:a16="http://schemas.microsoft.com/office/drawing/2014/main" id="{55ACF35A-FC79-B793-3AE9-565DF4F6D193}"/>
              </a:ext>
            </a:extLst>
          </p:cNvPr>
          <p:cNvSpPr>
            <a:spLocks noGrp="1"/>
          </p:cNvSpPr>
          <p:nvPr>
            <p:ph idx="1"/>
          </p:nvPr>
        </p:nvSpPr>
        <p:spPr>
          <a:xfrm>
            <a:off x="475689" y="1312504"/>
            <a:ext cx="8192621" cy="4656377"/>
          </a:xfrm>
        </p:spPr>
        <p:txBody>
          <a:bodyPr>
            <a:noAutofit/>
          </a:bodyPr>
          <a:lstStyle/>
          <a:p>
            <a:pPr marL="346075" indent="-346075" defTabSz="1300163">
              <a:spcBef>
                <a:spcPts val="700"/>
              </a:spcBef>
              <a:buClr>
                <a:srgbClr val="000000"/>
              </a:buClr>
              <a:buFont typeface="ArialMT" charset="0"/>
              <a:buChar char="•"/>
            </a:pPr>
            <a:r>
              <a:rPr lang="en-US" altLang="en-US" dirty="0">
                <a:latin typeface="Helvetica" panose="020B0604020202020204" pitchFamily="34" charset="0"/>
                <a:ea typeface="ＭＳ Ｐゴシック" charset="-128"/>
                <a:cs typeface="Helvetica" panose="020B0604020202020204" pitchFamily="34" charset="0"/>
                <a:sym typeface="Helvetica" charset="0"/>
              </a:rPr>
              <a:t>Any decrease in serum calcium levels is quickly sensed by the parathyroid gland, and secretion of PTH increases.</a:t>
            </a:r>
          </a:p>
          <a:p>
            <a:pPr marL="346075" indent="-346075" defTabSz="1300163">
              <a:spcBef>
                <a:spcPts val="700"/>
              </a:spcBef>
              <a:buClr>
                <a:srgbClr val="000000"/>
              </a:buClr>
              <a:buFont typeface="ArialMT" charset="0"/>
              <a:buChar char="•"/>
            </a:pPr>
            <a:endParaRPr lang="en-US" altLang="en-US" dirty="0">
              <a:latin typeface="Helvetica" panose="020B0604020202020204" pitchFamily="34" charset="0"/>
              <a:ea typeface="ＭＳ Ｐゴシック" charset="-128"/>
              <a:cs typeface="Helvetica" panose="020B0604020202020204" pitchFamily="34" charset="0"/>
              <a:sym typeface="Helvetica" charset="0"/>
            </a:endParaRPr>
          </a:p>
          <a:p>
            <a:pPr marL="346075" indent="-346075" defTabSz="1300163">
              <a:spcBef>
                <a:spcPts val="700"/>
              </a:spcBef>
              <a:buClr>
                <a:srgbClr val="000000"/>
              </a:buClr>
              <a:buFont typeface="ArialMT" charset="0"/>
              <a:buChar char="•"/>
            </a:pPr>
            <a:r>
              <a:rPr lang="en-US" altLang="en-US" b="1" dirty="0">
                <a:latin typeface="Helvetica" panose="020B0604020202020204" pitchFamily="34" charset="0"/>
                <a:ea typeface="ＭＳ Ｐゴシック" charset="-128"/>
                <a:cs typeface="Helvetica" panose="020B0604020202020204" pitchFamily="34" charset="0"/>
                <a:sym typeface="Helvetica" charset="0"/>
              </a:rPr>
              <a:t>PTH stimulates the kidney to hold on to calcium </a:t>
            </a:r>
            <a:r>
              <a:rPr lang="en-US" altLang="en-US" dirty="0">
                <a:latin typeface="Helvetica" panose="020B0604020202020204" pitchFamily="34" charset="0"/>
                <a:ea typeface="ＭＳ Ｐゴシック" charset="-128"/>
                <a:cs typeface="Helvetica" panose="020B0604020202020204" pitchFamily="34" charset="0"/>
                <a:sym typeface="Helvetica" charset="0"/>
              </a:rPr>
              <a:t>and </a:t>
            </a:r>
            <a:r>
              <a:rPr lang="en-US" altLang="en-US" b="1" dirty="0">
                <a:latin typeface="Helvetica" panose="020B0604020202020204" pitchFamily="34" charset="0"/>
                <a:ea typeface="ＭＳ Ｐゴシック" charset="-128"/>
                <a:cs typeface="Helvetica" panose="020B0604020202020204" pitchFamily="34" charset="0"/>
                <a:sym typeface="Helvetica" charset="0"/>
              </a:rPr>
              <a:t>the bones to release calcium </a:t>
            </a:r>
            <a:r>
              <a:rPr lang="en-US" altLang="en-US" dirty="0">
                <a:latin typeface="Helvetica" panose="020B0604020202020204" pitchFamily="34" charset="0"/>
                <a:ea typeface="ＭＳ Ｐゴシック" charset="-128"/>
                <a:cs typeface="Helvetica" panose="020B0604020202020204" pitchFamily="34" charset="0"/>
                <a:sym typeface="Helvetica" charset="0"/>
              </a:rPr>
              <a:t>to quickly bump up serum levels.</a:t>
            </a:r>
          </a:p>
          <a:p>
            <a:pPr marL="346075" indent="-346075" defTabSz="1300163">
              <a:spcBef>
                <a:spcPts val="700"/>
              </a:spcBef>
              <a:buClr>
                <a:srgbClr val="000000"/>
              </a:buClr>
              <a:buFont typeface="ArialMT" charset="0"/>
              <a:buChar char="•"/>
            </a:pPr>
            <a:endParaRPr lang="en-US" altLang="en-US" dirty="0">
              <a:latin typeface="Helvetica" panose="020B0604020202020204" pitchFamily="34" charset="0"/>
              <a:ea typeface="ＭＳ Ｐゴシック" charset="-128"/>
              <a:cs typeface="Helvetica" panose="020B0604020202020204" pitchFamily="34" charset="0"/>
              <a:sym typeface="Helvetica" charset="0"/>
            </a:endParaRPr>
          </a:p>
          <a:p>
            <a:pPr marL="346075" indent="-346075" defTabSz="1300163">
              <a:spcBef>
                <a:spcPts val="700"/>
              </a:spcBef>
              <a:buClr>
                <a:srgbClr val="000000"/>
              </a:buClr>
              <a:buFont typeface="ArialMT" charset="0"/>
              <a:buChar char="•"/>
            </a:pPr>
            <a:r>
              <a:rPr lang="en-US" altLang="en-US" dirty="0">
                <a:latin typeface="Helvetica" panose="020B0604020202020204" pitchFamily="34" charset="0"/>
                <a:ea typeface="ＭＳ Ｐゴシック" charset="-128"/>
                <a:cs typeface="Helvetica" panose="020B0604020202020204" pitchFamily="34" charset="0"/>
                <a:sym typeface="Helvetica" charset="0"/>
              </a:rPr>
              <a:t>In the long term, PTH also stimulates the kidneys to produce </a:t>
            </a:r>
            <a:r>
              <a:rPr lang="en-US" altLang="en-US" b="1" dirty="0">
                <a:latin typeface="Helvetica" panose="020B0604020202020204" pitchFamily="34" charset="0"/>
                <a:ea typeface="ＭＳ Ｐゴシック" charset="-128"/>
                <a:cs typeface="Helvetica" panose="020B0604020202020204" pitchFamily="34" charset="0"/>
                <a:sym typeface="Helvetica" charset="0"/>
              </a:rPr>
              <a:t>dihydroxy vitamin D</a:t>
            </a:r>
            <a:r>
              <a:rPr lang="en-US" altLang="en-US" dirty="0">
                <a:latin typeface="Helvetica" panose="020B0604020202020204" pitchFamily="34" charset="0"/>
                <a:ea typeface="ＭＳ Ｐゴシック" charset="-128"/>
                <a:cs typeface="Helvetica" panose="020B0604020202020204" pitchFamily="34" charset="0"/>
                <a:sym typeface="Helvetica" charset="0"/>
              </a:rPr>
              <a:t>, which in turn, </a:t>
            </a:r>
            <a:r>
              <a:rPr lang="en-US" altLang="en-US" b="1" dirty="0">
                <a:latin typeface="Helvetica" panose="020B0604020202020204" pitchFamily="34" charset="0"/>
                <a:ea typeface="ＭＳ Ｐゴシック" charset="-128"/>
                <a:cs typeface="Helvetica" panose="020B0604020202020204" pitchFamily="34" charset="0"/>
                <a:sym typeface="Helvetica" charset="0"/>
              </a:rPr>
              <a:t>stimulates GI absorption of calcium</a:t>
            </a:r>
            <a:r>
              <a:rPr lang="en-US" altLang="en-US" dirty="0">
                <a:latin typeface="Helvetica" panose="020B0604020202020204" pitchFamily="34" charset="0"/>
                <a:ea typeface="ＭＳ Ｐゴシック" charset="-128"/>
                <a:cs typeface="Helvetica" panose="020B0604020202020204" pitchFamily="34" charset="0"/>
                <a:sym typeface="Helvetica" charset="0"/>
              </a:rPr>
              <a:t>.</a:t>
            </a:r>
          </a:p>
          <a:p>
            <a:pPr marL="346075" indent="-346075" defTabSz="1300163">
              <a:spcBef>
                <a:spcPts val="700"/>
              </a:spcBef>
              <a:buClr>
                <a:srgbClr val="000000"/>
              </a:buClr>
              <a:buFont typeface="ArialMT" charset="0"/>
              <a:buChar char="•"/>
            </a:pPr>
            <a:endParaRPr lang="en-US" altLang="en-US" dirty="0">
              <a:latin typeface="Helvetica" panose="020B0604020202020204" pitchFamily="34" charset="0"/>
              <a:ea typeface="ＭＳ Ｐゴシック" charset="-128"/>
              <a:cs typeface="Helvetica" panose="020B0604020202020204" pitchFamily="34" charset="0"/>
              <a:sym typeface="Helvetica" charset="0"/>
            </a:endParaRPr>
          </a:p>
        </p:txBody>
      </p:sp>
      <p:sp>
        <p:nvSpPr>
          <p:cNvPr id="5" name="Slide Number Placeholder 4">
            <a:extLst>
              <a:ext uri="{FF2B5EF4-FFF2-40B4-BE49-F238E27FC236}">
                <a16:creationId xmlns:a16="http://schemas.microsoft.com/office/drawing/2014/main" id="{EA24F5A8-9EF8-5600-5D5F-0341DAFAB3C0}"/>
              </a:ext>
            </a:extLst>
          </p:cNvPr>
          <p:cNvSpPr>
            <a:spLocks noGrp="1"/>
          </p:cNvSpPr>
          <p:nvPr>
            <p:ph type="sldNum" sz="quarter" idx="12"/>
          </p:nvPr>
        </p:nvSpPr>
        <p:spPr/>
        <p:txBody>
          <a:bodyPr/>
          <a:lstStyle/>
          <a:p>
            <a:fld id="{1E422F9A-6EE9-44F0-9560-5F04B1DEB4A3}" type="slidenum">
              <a:rPr lang="en-US" smtClean="0"/>
              <a:t>15</a:t>
            </a:fld>
            <a:endParaRPr lang="en-US"/>
          </a:p>
        </p:txBody>
      </p:sp>
    </p:spTree>
    <p:extLst>
      <p:ext uri="{BB962C8B-B14F-4D97-AF65-F5344CB8AC3E}">
        <p14:creationId xmlns:p14="http://schemas.microsoft.com/office/powerpoint/2010/main" val="2279472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36C5A-309B-8A6D-EECE-B9AC3362DCC3}"/>
              </a:ext>
            </a:extLst>
          </p:cNvPr>
          <p:cNvSpPr>
            <a:spLocks noGrp="1"/>
          </p:cNvSpPr>
          <p:nvPr>
            <p:ph type="title"/>
          </p:nvPr>
        </p:nvSpPr>
        <p:spPr>
          <a:xfrm>
            <a:off x="721783" y="128870"/>
            <a:ext cx="7886700" cy="1325563"/>
          </a:xfrm>
        </p:spPr>
        <p:txBody>
          <a:bodyPr>
            <a:normAutofit/>
          </a:bodyPr>
          <a:lstStyle/>
          <a:p>
            <a:pPr algn="ctr"/>
            <a:r>
              <a:rPr lang="en-US" sz="4200" dirty="0">
                <a:latin typeface="Helvetica Neue" panose="020B0604020202020204" charset="0"/>
              </a:rPr>
              <a:t>Response to High Ca levels</a:t>
            </a:r>
          </a:p>
        </p:txBody>
      </p:sp>
      <p:sp>
        <p:nvSpPr>
          <p:cNvPr id="3" name="Content Placeholder 2">
            <a:extLst>
              <a:ext uri="{FF2B5EF4-FFF2-40B4-BE49-F238E27FC236}">
                <a16:creationId xmlns:a16="http://schemas.microsoft.com/office/drawing/2014/main" id="{31D40CE7-3AAD-BEB7-52D2-78443FD954A4}"/>
              </a:ext>
            </a:extLst>
          </p:cNvPr>
          <p:cNvSpPr>
            <a:spLocks noGrp="1"/>
          </p:cNvSpPr>
          <p:nvPr>
            <p:ph idx="1"/>
          </p:nvPr>
        </p:nvSpPr>
        <p:spPr>
          <a:xfrm>
            <a:off x="389467" y="1454433"/>
            <a:ext cx="8551333" cy="5180543"/>
          </a:xfrm>
        </p:spPr>
        <p:txBody>
          <a:bodyPr>
            <a:normAutofit/>
          </a:bodyPr>
          <a:lstStyle/>
          <a:p>
            <a:r>
              <a:rPr lang="en-US" dirty="0">
                <a:latin typeface="Helvetica" panose="020B0604020202020204" pitchFamily="34" charset="0"/>
                <a:cs typeface="Helvetica" panose="020B0604020202020204" pitchFamily="34" charset="0"/>
              </a:rPr>
              <a:t>When serum calcium rises, the thyroid gland secretes</a:t>
            </a:r>
            <a:r>
              <a:rPr lang="en-US" b="1" dirty="0">
                <a:latin typeface="Helvetica" panose="020B0604020202020204" pitchFamily="34" charset="0"/>
                <a:cs typeface="Helvetica" panose="020B0604020202020204" pitchFamily="34" charset="0"/>
              </a:rPr>
              <a:t> calcitonin </a:t>
            </a:r>
            <a:r>
              <a:rPr lang="en-US" dirty="0">
                <a:latin typeface="Helvetica" panose="020B0604020202020204" pitchFamily="34" charset="0"/>
                <a:cs typeface="Helvetica" panose="020B0604020202020204" pitchFamily="34" charset="0"/>
              </a:rPr>
              <a:t>into the blood. </a:t>
            </a:r>
          </a:p>
          <a:p>
            <a:pPr marL="0"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High calcitonin levels </a:t>
            </a:r>
            <a:r>
              <a:rPr lang="en-US" b="1" dirty="0">
                <a:latin typeface="Helvetica" panose="020B0604020202020204" pitchFamily="34" charset="0"/>
                <a:cs typeface="Helvetica" panose="020B0604020202020204" pitchFamily="34" charset="0"/>
              </a:rPr>
              <a:t>inhibit osteoclasts, </a:t>
            </a:r>
            <a:r>
              <a:rPr lang="en-US" dirty="0">
                <a:latin typeface="Helvetica" panose="020B0604020202020204" pitchFamily="34" charset="0"/>
                <a:cs typeface="Helvetica" panose="020B0604020202020204" pitchFamily="34" charset="0"/>
              </a:rPr>
              <a:t>reducing bone resorption and the release of calcium from bone into the blood.</a:t>
            </a:r>
          </a:p>
          <a:p>
            <a:endParaRPr lang="en-US" b="1" i="1"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Higher serum calcium</a:t>
            </a:r>
            <a:r>
              <a:rPr lang="en-US" dirty="0">
                <a:latin typeface="Helvetica" panose="020B0604020202020204" pitchFamily="34" charset="0"/>
                <a:cs typeface="Helvetica" panose="020B0604020202020204" pitchFamily="34" charset="0"/>
                <a:sym typeface="Wingdings" panose="05000000000000000000" pitchFamily="2" charset="2"/>
              </a:rPr>
              <a:t> suppresses PTH secretion. This causes kidneys to lose calcium in the urine and hold on to phosphorus.</a:t>
            </a:r>
            <a:endParaRPr lang="en-US" dirty="0">
              <a:latin typeface="Helvetica" panose="020B0604020202020204" pitchFamily="34" charset="0"/>
              <a:cs typeface="Helvetica" panose="020B0604020202020204" pitchFamily="34" charset="0"/>
            </a:endParaRPr>
          </a:p>
        </p:txBody>
      </p:sp>
      <p:sp>
        <p:nvSpPr>
          <p:cNvPr id="5" name="Slide Number Placeholder 4">
            <a:extLst>
              <a:ext uri="{FF2B5EF4-FFF2-40B4-BE49-F238E27FC236}">
                <a16:creationId xmlns:a16="http://schemas.microsoft.com/office/drawing/2014/main" id="{27F31C6D-08D1-6930-248B-F72965BD292E}"/>
              </a:ext>
            </a:extLst>
          </p:cNvPr>
          <p:cNvSpPr>
            <a:spLocks noGrp="1"/>
          </p:cNvSpPr>
          <p:nvPr>
            <p:ph type="sldNum" sz="quarter" idx="12"/>
          </p:nvPr>
        </p:nvSpPr>
        <p:spPr/>
        <p:txBody>
          <a:bodyPr/>
          <a:lstStyle/>
          <a:p>
            <a:fld id="{1E422F9A-6EE9-44F0-9560-5F04B1DEB4A3}" type="slidenum">
              <a:rPr lang="en-US" smtClean="0"/>
              <a:t>16</a:t>
            </a:fld>
            <a:endParaRPr lang="en-US"/>
          </a:p>
        </p:txBody>
      </p:sp>
    </p:spTree>
    <p:extLst>
      <p:ext uri="{BB962C8B-B14F-4D97-AF65-F5344CB8AC3E}">
        <p14:creationId xmlns:p14="http://schemas.microsoft.com/office/powerpoint/2010/main" val="1703639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929D4-3D0F-17A5-FA67-6043CE4238C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963E69A-4708-0354-0F86-2D875F8A690E}"/>
              </a:ext>
            </a:extLst>
          </p:cNvPr>
          <p:cNvSpPr/>
          <p:nvPr/>
        </p:nvSpPr>
        <p:spPr>
          <a:xfrm>
            <a:off x="407919" y="325677"/>
            <a:ext cx="8585768" cy="603067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989A31-DD65-4DF9-7C99-429744390852}"/>
              </a:ext>
            </a:extLst>
          </p:cNvPr>
          <p:cNvSpPr>
            <a:spLocks noGrp="1"/>
          </p:cNvSpPr>
          <p:nvPr>
            <p:ph type="title"/>
          </p:nvPr>
        </p:nvSpPr>
        <p:spPr>
          <a:xfrm>
            <a:off x="760051" y="198038"/>
            <a:ext cx="7886700" cy="1325563"/>
          </a:xfrm>
        </p:spPr>
        <p:txBody>
          <a:bodyPr>
            <a:normAutofit/>
          </a:bodyPr>
          <a:lstStyle/>
          <a:p>
            <a:pPr algn="ctr"/>
            <a:r>
              <a:rPr lang="en-US" dirty="0">
                <a:latin typeface="Helvetica Neue" panose="020B0604020202020204" charset="0"/>
                <a:cs typeface="Helvetica" panose="020B0604020202020204" pitchFamily="34" charset="0"/>
              </a:rPr>
              <a:t>Actions of PTH</a:t>
            </a:r>
          </a:p>
        </p:txBody>
      </p:sp>
      <p:sp>
        <p:nvSpPr>
          <p:cNvPr id="3" name="Content Placeholder 2">
            <a:extLst>
              <a:ext uri="{FF2B5EF4-FFF2-40B4-BE49-F238E27FC236}">
                <a16:creationId xmlns:a16="http://schemas.microsoft.com/office/drawing/2014/main" id="{9777617C-5612-AC9A-4518-AFCAE3B01B8D}"/>
              </a:ext>
            </a:extLst>
          </p:cNvPr>
          <p:cNvSpPr>
            <a:spLocks noGrp="1"/>
          </p:cNvSpPr>
          <p:nvPr>
            <p:ph idx="1"/>
          </p:nvPr>
        </p:nvSpPr>
        <p:spPr>
          <a:xfrm>
            <a:off x="497249" y="1395962"/>
            <a:ext cx="8238832" cy="5692167"/>
          </a:xfrm>
        </p:spPr>
        <p:txBody>
          <a:bodyPr>
            <a:normAutofit/>
          </a:bodyPr>
          <a:lstStyle/>
          <a:p>
            <a:pPr marL="514350" indent="-514350">
              <a:buAutoNum type="arabicPeriod"/>
            </a:pPr>
            <a:r>
              <a:rPr lang="en-US" sz="3000" dirty="0">
                <a:latin typeface="Helvetica" panose="020B0604020202020204" pitchFamily="34" charset="0"/>
                <a:cs typeface="Helvetica" panose="020B0604020202020204" pitchFamily="34" charset="0"/>
              </a:rPr>
              <a:t>Causes immediate </a:t>
            </a:r>
            <a:r>
              <a:rPr lang="en-US" sz="3000" b="1" dirty="0">
                <a:latin typeface="Helvetica" panose="020B0604020202020204" pitchFamily="34" charset="0"/>
                <a:cs typeface="Helvetica" panose="020B0604020202020204" pitchFamily="34" charset="0"/>
              </a:rPr>
              <a:t>mobilization of calcium from the bone </a:t>
            </a:r>
            <a:r>
              <a:rPr lang="en-US" sz="3000" dirty="0">
                <a:latin typeface="Helvetica" panose="020B0604020202020204" pitchFamily="34" charset="0"/>
                <a:cs typeface="Helvetica" panose="020B0604020202020204" pitchFamily="34" charset="0"/>
              </a:rPr>
              <a:t>by stimulating osteoclasts</a:t>
            </a:r>
          </a:p>
          <a:p>
            <a:pPr marL="514350" indent="-514350">
              <a:buAutoNum type="arabicPeriod"/>
            </a:pPr>
            <a:endParaRPr lang="en-US" sz="3000" dirty="0">
              <a:latin typeface="Helvetica" panose="020B0604020202020204" pitchFamily="34" charset="0"/>
              <a:cs typeface="Helvetica" panose="020B0604020202020204" pitchFamily="34" charset="0"/>
            </a:endParaRPr>
          </a:p>
          <a:p>
            <a:pPr marL="514350" indent="-514350">
              <a:buFont typeface="Arial" panose="020B0604020202020204" pitchFamily="34" charset="0"/>
              <a:buAutoNum type="arabicPeriod"/>
            </a:pPr>
            <a:r>
              <a:rPr lang="en-US" sz="3000" dirty="0">
                <a:latin typeface="Helvetica" panose="020B0604020202020204" pitchFamily="34" charset="0"/>
                <a:cs typeface="Helvetica" panose="020B0604020202020204" pitchFamily="34" charset="0"/>
              </a:rPr>
              <a:t>Causes kidneys to </a:t>
            </a:r>
            <a:r>
              <a:rPr lang="en-US" sz="3000" b="1" dirty="0">
                <a:latin typeface="Helvetica" panose="020B0604020202020204" pitchFamily="34" charset="0"/>
                <a:cs typeface="Helvetica" panose="020B0604020202020204" pitchFamily="34" charset="0"/>
              </a:rPr>
              <a:t>retain calcium and excrete phosphorus </a:t>
            </a:r>
            <a:r>
              <a:rPr lang="en-US" sz="3000" dirty="0">
                <a:latin typeface="Helvetica" panose="020B0604020202020204" pitchFamily="34" charset="0"/>
                <a:cs typeface="Helvetica" panose="020B0604020202020204" pitchFamily="34" charset="0"/>
              </a:rPr>
              <a:t>in its place in the urine</a:t>
            </a:r>
          </a:p>
          <a:p>
            <a:pPr marL="514350" indent="-514350">
              <a:buAutoNum type="arabicPeriod"/>
            </a:pPr>
            <a:endParaRPr lang="en-US" sz="3000" dirty="0">
              <a:latin typeface="Helvetica" panose="020B0604020202020204" pitchFamily="34" charset="0"/>
              <a:cs typeface="Helvetica" panose="020B0604020202020204" pitchFamily="34" charset="0"/>
            </a:endParaRPr>
          </a:p>
          <a:p>
            <a:pPr marL="514350" indent="-514350">
              <a:buAutoNum type="arabicPeriod"/>
            </a:pPr>
            <a:r>
              <a:rPr lang="en-US" sz="3000" dirty="0">
                <a:latin typeface="Helvetica" panose="020B0604020202020204" pitchFamily="34" charset="0"/>
                <a:cs typeface="Helvetica" panose="020B0604020202020204" pitchFamily="34" charset="0"/>
              </a:rPr>
              <a:t>Stimulates </a:t>
            </a:r>
            <a:r>
              <a:rPr lang="en-US" sz="3000" b="1" dirty="0">
                <a:latin typeface="Helvetica" panose="020B0604020202020204" pitchFamily="34" charset="0"/>
                <a:cs typeface="Helvetica" panose="020B0604020202020204" pitchFamily="34" charset="0"/>
              </a:rPr>
              <a:t>kidney’s production of active vitamin D</a:t>
            </a:r>
            <a:r>
              <a:rPr lang="en-US" sz="3000" dirty="0">
                <a:latin typeface="Helvetica" panose="020B0604020202020204" pitchFamily="34" charset="0"/>
                <a:cs typeface="Helvetica" panose="020B0604020202020204" pitchFamily="34" charset="0"/>
              </a:rPr>
              <a:t>. Active vitamin D increases absorption of dietary calcium from the gut </a:t>
            </a:r>
          </a:p>
          <a:p>
            <a:pPr marL="0" indent="0">
              <a:buNone/>
            </a:pPr>
            <a:endParaRPr lang="en-US" sz="3000" dirty="0">
              <a:latin typeface="Helvetica" panose="020B0604020202020204" pitchFamily="34" charset="0"/>
              <a:cs typeface="Helvetica" panose="020B0604020202020204" pitchFamily="34" charset="0"/>
            </a:endParaRPr>
          </a:p>
        </p:txBody>
      </p:sp>
      <p:sp>
        <p:nvSpPr>
          <p:cNvPr id="6" name="Slide Number Placeholder 5">
            <a:extLst>
              <a:ext uri="{FF2B5EF4-FFF2-40B4-BE49-F238E27FC236}">
                <a16:creationId xmlns:a16="http://schemas.microsoft.com/office/drawing/2014/main" id="{273B0AA5-2E64-5C17-AAD8-1698D22D6F95}"/>
              </a:ext>
            </a:extLst>
          </p:cNvPr>
          <p:cNvSpPr>
            <a:spLocks noGrp="1"/>
          </p:cNvSpPr>
          <p:nvPr>
            <p:ph type="sldNum" sz="quarter" idx="12"/>
          </p:nvPr>
        </p:nvSpPr>
        <p:spPr/>
        <p:txBody>
          <a:bodyPr/>
          <a:lstStyle/>
          <a:p>
            <a:fld id="{1E422F9A-6EE9-44F0-9560-5F04B1DEB4A3}" type="slidenum">
              <a:rPr lang="en-US" smtClean="0"/>
              <a:t>17</a:t>
            </a:fld>
            <a:endParaRPr lang="en-US"/>
          </a:p>
        </p:txBody>
      </p:sp>
    </p:spTree>
    <p:extLst>
      <p:ext uri="{BB962C8B-B14F-4D97-AF65-F5344CB8AC3E}">
        <p14:creationId xmlns:p14="http://schemas.microsoft.com/office/powerpoint/2010/main" val="2130924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E94D-FA43-0E33-1E0D-08ED47258F16}"/>
              </a:ext>
            </a:extLst>
          </p:cNvPr>
          <p:cNvSpPr>
            <a:spLocks noGrp="1"/>
          </p:cNvSpPr>
          <p:nvPr>
            <p:ph type="title"/>
          </p:nvPr>
        </p:nvSpPr>
        <p:spPr>
          <a:xfrm>
            <a:off x="628650" y="55756"/>
            <a:ext cx="7886700" cy="1325563"/>
          </a:xfrm>
        </p:spPr>
        <p:txBody>
          <a:bodyPr>
            <a:normAutofit/>
          </a:bodyPr>
          <a:lstStyle/>
          <a:p>
            <a:pPr algn="ctr"/>
            <a:r>
              <a:rPr lang="en-US" sz="4200" dirty="0">
                <a:latin typeface="Helvetica Neue" panose="020B0604020202020204" charset="0"/>
              </a:rPr>
              <a:t>Vitamin D</a:t>
            </a:r>
          </a:p>
        </p:txBody>
      </p:sp>
      <p:sp>
        <p:nvSpPr>
          <p:cNvPr id="3" name="Content Placeholder 2">
            <a:extLst>
              <a:ext uri="{FF2B5EF4-FFF2-40B4-BE49-F238E27FC236}">
                <a16:creationId xmlns:a16="http://schemas.microsoft.com/office/drawing/2014/main" id="{D5A6F3F7-75EA-B6B3-3883-6AF5E419A18D}"/>
              </a:ext>
            </a:extLst>
          </p:cNvPr>
          <p:cNvSpPr>
            <a:spLocks noGrp="1"/>
          </p:cNvSpPr>
          <p:nvPr>
            <p:ph idx="1"/>
          </p:nvPr>
        </p:nvSpPr>
        <p:spPr>
          <a:xfrm>
            <a:off x="431412" y="1276146"/>
            <a:ext cx="8467260" cy="4486274"/>
          </a:xfrm>
        </p:spPr>
        <p:txBody>
          <a:bodyPr>
            <a:noAutofit/>
          </a:bodyPr>
          <a:lstStyle/>
          <a:p>
            <a:r>
              <a:rPr lang="en-US" dirty="0">
                <a:latin typeface="Helvetica" panose="020B0604020202020204" pitchFamily="34" charset="0"/>
                <a:cs typeface="Helvetica" panose="020B0604020202020204" pitchFamily="34" charset="0"/>
              </a:rPr>
              <a:t>Vitamin D is naturally present in few foods (fatty fish, eggs), is added to others (milk), and is available as a supplement. </a:t>
            </a:r>
          </a:p>
          <a:p>
            <a:pPr marL="0"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Vitamin D is produced endogenously when UV rays from sunlight hit the skin and trigger vitamin D synthesis. </a:t>
            </a:r>
          </a:p>
          <a:p>
            <a:pPr marL="0"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Vitamin D from sun exposure, food, and supplements is biologically inactive and must undergo 2 </a:t>
            </a:r>
            <a:r>
              <a:rPr lang="en-US" dirty="0" err="1">
                <a:latin typeface="Helvetica" panose="020B0604020202020204" pitchFamily="34" charset="0"/>
                <a:cs typeface="Helvetica" panose="020B0604020202020204" pitchFamily="34" charset="0"/>
              </a:rPr>
              <a:t>hydroxylations</a:t>
            </a:r>
            <a:r>
              <a:rPr lang="en-US" dirty="0">
                <a:latin typeface="Helvetica" panose="020B0604020202020204" pitchFamily="34" charset="0"/>
                <a:cs typeface="Helvetica" panose="020B0604020202020204" pitchFamily="34" charset="0"/>
              </a:rPr>
              <a:t> to become active. </a:t>
            </a:r>
          </a:p>
        </p:txBody>
      </p:sp>
      <p:sp>
        <p:nvSpPr>
          <p:cNvPr id="9" name="Slide Number Placeholder 8">
            <a:extLst>
              <a:ext uri="{FF2B5EF4-FFF2-40B4-BE49-F238E27FC236}">
                <a16:creationId xmlns:a16="http://schemas.microsoft.com/office/drawing/2014/main" id="{410B0650-301E-0EFD-989E-0497FC28D865}"/>
              </a:ext>
            </a:extLst>
          </p:cNvPr>
          <p:cNvSpPr>
            <a:spLocks noGrp="1"/>
          </p:cNvSpPr>
          <p:nvPr>
            <p:ph type="sldNum" sz="quarter" idx="12"/>
          </p:nvPr>
        </p:nvSpPr>
        <p:spPr/>
        <p:txBody>
          <a:bodyPr/>
          <a:lstStyle/>
          <a:p>
            <a:fld id="{1E422F9A-6EE9-44F0-9560-5F04B1DEB4A3}" type="slidenum">
              <a:rPr lang="en-US" smtClean="0"/>
              <a:t>18</a:t>
            </a:fld>
            <a:endParaRPr lang="en-US"/>
          </a:p>
        </p:txBody>
      </p:sp>
    </p:spTree>
    <p:extLst>
      <p:ext uri="{BB962C8B-B14F-4D97-AF65-F5344CB8AC3E}">
        <p14:creationId xmlns:p14="http://schemas.microsoft.com/office/powerpoint/2010/main" val="1111771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21" name="Picture 20" descr="Parathyroid disease Flashcards | Quizlet">
            <a:extLst>
              <a:ext uri="{FF2B5EF4-FFF2-40B4-BE49-F238E27FC236}">
                <a16:creationId xmlns:a16="http://schemas.microsoft.com/office/drawing/2014/main" id="{4E29C427-9AE9-54C9-E957-E228900DE08D}"/>
              </a:ext>
            </a:extLst>
          </p:cNvPr>
          <p:cNvPicPr>
            <a:picLocks noChangeAspect="1"/>
          </p:cNvPicPr>
          <p:nvPr/>
        </p:nvPicPr>
        <p:blipFill>
          <a:blip r:embed="rId3"/>
          <a:stretch>
            <a:fillRect/>
          </a:stretch>
        </p:blipFill>
        <p:spPr>
          <a:xfrm>
            <a:off x="630194" y="349077"/>
            <a:ext cx="7883612" cy="5912709"/>
          </a:xfrm>
          <a:prstGeom prst="rect">
            <a:avLst/>
          </a:prstGeom>
        </p:spPr>
      </p:pic>
      <p:sp>
        <p:nvSpPr>
          <p:cNvPr id="24" name="TextBox 23">
            <a:extLst>
              <a:ext uri="{FF2B5EF4-FFF2-40B4-BE49-F238E27FC236}">
                <a16:creationId xmlns:a16="http://schemas.microsoft.com/office/drawing/2014/main" id="{678BCB59-66B4-C7C4-EF3C-E3E478BD2E4C}"/>
              </a:ext>
            </a:extLst>
          </p:cNvPr>
          <p:cNvSpPr txBox="1"/>
          <p:nvPr/>
        </p:nvSpPr>
        <p:spPr>
          <a:xfrm>
            <a:off x="5486400" y="1114454"/>
            <a:ext cx="8723870" cy="369332"/>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(vitamin D precursor)</a:t>
            </a:r>
          </a:p>
        </p:txBody>
      </p:sp>
      <p:sp>
        <p:nvSpPr>
          <p:cNvPr id="25" name="TextBox 24">
            <a:extLst>
              <a:ext uri="{FF2B5EF4-FFF2-40B4-BE49-F238E27FC236}">
                <a16:creationId xmlns:a16="http://schemas.microsoft.com/office/drawing/2014/main" id="{240AA742-41E5-512C-777B-4BC06460E3F9}"/>
              </a:ext>
            </a:extLst>
          </p:cNvPr>
          <p:cNvSpPr txBox="1"/>
          <p:nvPr/>
        </p:nvSpPr>
        <p:spPr>
          <a:xfrm>
            <a:off x="7245751" y="4266582"/>
            <a:ext cx="2291787" cy="400110"/>
          </a:xfrm>
          <a:prstGeom prst="rect">
            <a:avLst/>
          </a:prstGeom>
          <a:noFill/>
        </p:spPr>
        <p:txBody>
          <a:bodyPr wrap="square" rtlCol="0">
            <a:spAutoFit/>
          </a:bodyPr>
          <a:lstStyle/>
          <a:p>
            <a:r>
              <a:rPr lang="en-US" sz="2000" dirty="0">
                <a:latin typeface="Helvetica Neue" panose="020B0604020202020204" charset="0"/>
              </a:rPr>
              <a:t>25(OH)D</a:t>
            </a:r>
          </a:p>
        </p:txBody>
      </p:sp>
      <p:sp>
        <p:nvSpPr>
          <p:cNvPr id="27" name="TextBox 26">
            <a:extLst>
              <a:ext uri="{FF2B5EF4-FFF2-40B4-BE49-F238E27FC236}">
                <a16:creationId xmlns:a16="http://schemas.microsoft.com/office/drawing/2014/main" id="{73641557-AC88-2E0B-9A84-8A95F4CE3601}"/>
              </a:ext>
            </a:extLst>
          </p:cNvPr>
          <p:cNvSpPr txBox="1"/>
          <p:nvPr/>
        </p:nvSpPr>
        <p:spPr>
          <a:xfrm>
            <a:off x="7367912" y="5450894"/>
            <a:ext cx="2291787" cy="400110"/>
          </a:xfrm>
          <a:prstGeom prst="rect">
            <a:avLst/>
          </a:prstGeom>
          <a:noFill/>
        </p:spPr>
        <p:txBody>
          <a:bodyPr wrap="square" rtlCol="0">
            <a:spAutoFit/>
          </a:bodyPr>
          <a:lstStyle/>
          <a:p>
            <a:r>
              <a:rPr lang="en-US" sz="2000" dirty="0">
                <a:latin typeface="Helvetica Neue" panose="020B0604020202020204" charset="0"/>
              </a:rPr>
              <a:t>1,25(OH)2 D</a:t>
            </a:r>
          </a:p>
        </p:txBody>
      </p:sp>
      <p:pic>
        <p:nvPicPr>
          <p:cNvPr id="29" name="Graphic 28" descr="Sun with solid fill">
            <a:extLst>
              <a:ext uri="{FF2B5EF4-FFF2-40B4-BE49-F238E27FC236}">
                <a16:creationId xmlns:a16="http://schemas.microsoft.com/office/drawing/2014/main" id="{A69257AA-76EF-7E91-A712-DE532BCC78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86943" y="1179952"/>
            <a:ext cx="677118" cy="6771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E9926-1D21-2FA7-DCE2-CC57B582D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E0C8A-BC75-5983-F8A9-F8CB49A9C271}"/>
              </a:ext>
            </a:extLst>
          </p:cNvPr>
          <p:cNvSpPr>
            <a:spLocks noGrp="1"/>
          </p:cNvSpPr>
          <p:nvPr>
            <p:ph type="title"/>
          </p:nvPr>
        </p:nvSpPr>
        <p:spPr>
          <a:xfrm>
            <a:off x="628650" y="163916"/>
            <a:ext cx="7886700" cy="1325563"/>
          </a:xfrm>
        </p:spPr>
        <p:txBody>
          <a:bodyPr>
            <a:normAutofit/>
          </a:bodyPr>
          <a:lstStyle/>
          <a:p>
            <a:pPr algn="ctr"/>
            <a:r>
              <a:rPr lang="en-US" sz="5200" dirty="0"/>
              <a:t>Vitamin D</a:t>
            </a:r>
          </a:p>
        </p:txBody>
      </p:sp>
      <p:sp>
        <p:nvSpPr>
          <p:cNvPr id="3" name="Content Placeholder 2">
            <a:extLst>
              <a:ext uri="{FF2B5EF4-FFF2-40B4-BE49-F238E27FC236}">
                <a16:creationId xmlns:a16="http://schemas.microsoft.com/office/drawing/2014/main" id="{7E62DFC2-399B-74D7-5301-DA544BF9C928}"/>
              </a:ext>
            </a:extLst>
          </p:cNvPr>
          <p:cNvSpPr>
            <a:spLocks noGrp="1"/>
          </p:cNvSpPr>
          <p:nvPr>
            <p:ph idx="1"/>
          </p:nvPr>
        </p:nvSpPr>
        <p:spPr>
          <a:xfrm>
            <a:off x="349895" y="1396773"/>
            <a:ext cx="7084756" cy="4960484"/>
          </a:xfrm>
        </p:spPr>
        <p:txBody>
          <a:bodyPr>
            <a:normAutofit/>
          </a:bodyPr>
          <a:lstStyle/>
          <a:p>
            <a:r>
              <a:rPr lang="en-US" sz="3000" b="1" dirty="0">
                <a:latin typeface="Helvetica" panose="020B0604020202020204" pitchFamily="34" charset="0"/>
                <a:cs typeface="Helvetica" panose="020B0604020202020204" pitchFamily="34" charset="0"/>
              </a:rPr>
              <a:t>1st hydroxylation </a:t>
            </a:r>
            <a:r>
              <a:rPr lang="en-US" sz="3000" dirty="0">
                <a:latin typeface="Helvetica" panose="020B0604020202020204" pitchFamily="34" charset="0"/>
                <a:cs typeface="Helvetica" panose="020B0604020202020204" pitchFamily="34" charset="0"/>
              </a:rPr>
              <a:t>─ Occurs in the liver and converts vitamin D to 25-hydroxy-vitamin D [25(OH)D] </a:t>
            </a:r>
          </a:p>
          <a:p>
            <a:pPr marL="0" indent="0">
              <a:buNone/>
            </a:pPr>
            <a:endParaRPr lang="en-US" sz="3000" dirty="0">
              <a:latin typeface="Helvetica" panose="020B0604020202020204" pitchFamily="34" charset="0"/>
              <a:cs typeface="Helvetica" panose="020B0604020202020204" pitchFamily="34" charset="0"/>
            </a:endParaRPr>
          </a:p>
          <a:p>
            <a:r>
              <a:rPr lang="en-US" sz="3000" b="1" dirty="0">
                <a:latin typeface="Helvetica" panose="020B0604020202020204" pitchFamily="34" charset="0"/>
                <a:cs typeface="Helvetica" panose="020B0604020202020204" pitchFamily="34" charset="0"/>
              </a:rPr>
              <a:t>2nd hydroxylation </a:t>
            </a:r>
            <a:r>
              <a:rPr lang="en-US" sz="3000" dirty="0">
                <a:latin typeface="Helvetica" panose="020B0604020202020204" pitchFamily="34" charset="0"/>
                <a:cs typeface="Helvetica" panose="020B0604020202020204" pitchFamily="34" charset="0"/>
              </a:rPr>
              <a:t>─ Occurs in the kidney and forms physiologically active 1,25-dihydroxy-vitamin D (calcitriol) </a:t>
            </a:r>
          </a:p>
          <a:p>
            <a:pPr marL="0" indent="0">
              <a:buNone/>
            </a:pPr>
            <a:endParaRPr lang="en-US" sz="3000" dirty="0">
              <a:latin typeface="Helvetica" panose="020B0604020202020204" pitchFamily="34" charset="0"/>
              <a:cs typeface="Helvetica" panose="020B0604020202020204" pitchFamily="34" charset="0"/>
            </a:endParaRPr>
          </a:p>
          <a:p>
            <a:r>
              <a:rPr lang="en-US" sz="3000" dirty="0">
                <a:latin typeface="Helvetica" panose="020B0604020202020204" pitchFamily="34" charset="0"/>
                <a:cs typeface="Helvetica" panose="020B0604020202020204" pitchFamily="34" charset="0"/>
              </a:rPr>
              <a:t>The serum concentration of 25(OH)D is the best indicator of vitamin D status </a:t>
            </a:r>
          </a:p>
        </p:txBody>
      </p:sp>
      <p:sp>
        <p:nvSpPr>
          <p:cNvPr id="5" name="Slide Number Placeholder 4">
            <a:extLst>
              <a:ext uri="{FF2B5EF4-FFF2-40B4-BE49-F238E27FC236}">
                <a16:creationId xmlns:a16="http://schemas.microsoft.com/office/drawing/2014/main" id="{9AE3180F-2842-9427-2A79-E57A94F9B747}"/>
              </a:ext>
            </a:extLst>
          </p:cNvPr>
          <p:cNvSpPr>
            <a:spLocks noGrp="1"/>
          </p:cNvSpPr>
          <p:nvPr>
            <p:ph type="sldNum" sz="quarter" idx="12"/>
          </p:nvPr>
        </p:nvSpPr>
        <p:spPr/>
        <p:txBody>
          <a:bodyPr/>
          <a:lstStyle/>
          <a:p>
            <a:fld id="{1E422F9A-6EE9-44F0-9560-5F04B1DEB4A3}" type="slidenum">
              <a:rPr lang="en-US" smtClean="0"/>
              <a:t>20</a:t>
            </a:fld>
            <a:endParaRPr lang="en-US"/>
          </a:p>
        </p:txBody>
      </p:sp>
      <p:pic>
        <p:nvPicPr>
          <p:cNvPr id="6" name="Picture 5">
            <a:extLst>
              <a:ext uri="{FF2B5EF4-FFF2-40B4-BE49-F238E27FC236}">
                <a16:creationId xmlns:a16="http://schemas.microsoft.com/office/drawing/2014/main" id="{63698A33-9E3C-E18E-FED9-EFB225AA7583}"/>
              </a:ext>
            </a:extLst>
          </p:cNvPr>
          <p:cNvPicPr>
            <a:picLocks noChangeAspect="1"/>
          </p:cNvPicPr>
          <p:nvPr/>
        </p:nvPicPr>
        <p:blipFill>
          <a:blip r:embed="rId3">
            <a:extLst>
              <a:ext uri="{28A0092B-C50C-407E-A947-70E740481C1C}">
                <a14:useLocalDpi xmlns:a14="http://schemas.microsoft.com/office/drawing/2010/main" val="0"/>
              </a:ext>
            </a:extLst>
          </a:blip>
          <a:srcRect l="5161" t="7667" r="55000" b="34485"/>
          <a:stretch>
            <a:fillRect/>
          </a:stretch>
        </p:blipFill>
        <p:spPr>
          <a:xfrm>
            <a:off x="6713339" y="1381915"/>
            <a:ext cx="1546622" cy="1179022"/>
          </a:xfrm>
          <a:prstGeom prst="rect">
            <a:avLst/>
          </a:prstGeom>
        </p:spPr>
      </p:pic>
      <p:pic>
        <p:nvPicPr>
          <p:cNvPr id="8" name="Picture 7">
            <a:extLst>
              <a:ext uri="{FF2B5EF4-FFF2-40B4-BE49-F238E27FC236}">
                <a16:creationId xmlns:a16="http://schemas.microsoft.com/office/drawing/2014/main" id="{8EB8EB14-9F80-B777-2D75-91E36664064B}"/>
              </a:ext>
            </a:extLst>
          </p:cNvPr>
          <p:cNvPicPr>
            <a:picLocks noChangeAspect="1"/>
          </p:cNvPicPr>
          <p:nvPr/>
        </p:nvPicPr>
        <p:blipFill>
          <a:blip r:embed="rId3">
            <a:extLst>
              <a:ext uri="{28A0092B-C50C-407E-A947-70E740481C1C}">
                <a14:useLocalDpi xmlns:a14="http://schemas.microsoft.com/office/drawing/2010/main" val="0"/>
              </a:ext>
            </a:extLst>
          </a:blip>
          <a:srcRect l="50430" t="7667" r="12473" b="31721"/>
          <a:stretch>
            <a:fillRect/>
          </a:stretch>
        </p:blipFill>
        <p:spPr>
          <a:xfrm>
            <a:off x="7360911" y="3355260"/>
            <a:ext cx="1625248" cy="1394132"/>
          </a:xfrm>
          <a:prstGeom prst="rect">
            <a:avLst/>
          </a:prstGeom>
        </p:spPr>
      </p:pic>
    </p:spTree>
    <p:extLst>
      <p:ext uri="{BB962C8B-B14F-4D97-AF65-F5344CB8AC3E}">
        <p14:creationId xmlns:p14="http://schemas.microsoft.com/office/powerpoint/2010/main" val="497966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Vitamin bottles&#10;">
            <a:extLst>
              <a:ext uri="{FF2B5EF4-FFF2-40B4-BE49-F238E27FC236}">
                <a16:creationId xmlns:a16="http://schemas.microsoft.com/office/drawing/2014/main" id="{3C1013E6-DEAB-F041-2D68-3C302FB9B8EF}"/>
              </a:ext>
            </a:extLst>
          </p:cNvPr>
          <p:cNvPicPr>
            <a:picLocks noChangeAspect="1"/>
          </p:cNvPicPr>
          <p:nvPr/>
        </p:nvPicPr>
        <p:blipFill>
          <a:blip r:embed="rId3"/>
          <a:stretch>
            <a:fillRect/>
          </a:stretch>
        </p:blipFill>
        <p:spPr>
          <a:xfrm>
            <a:off x="5520388" y="4716605"/>
            <a:ext cx="2713969" cy="1951473"/>
          </a:xfrm>
          <a:prstGeom prst="rect">
            <a:avLst/>
          </a:prstGeom>
        </p:spPr>
      </p:pic>
      <p:sp>
        <p:nvSpPr>
          <p:cNvPr id="2" name="Title 1">
            <a:extLst>
              <a:ext uri="{FF2B5EF4-FFF2-40B4-BE49-F238E27FC236}">
                <a16:creationId xmlns:a16="http://schemas.microsoft.com/office/drawing/2014/main" id="{C53E7535-1D01-E8B2-CBF8-806C455BE072}"/>
              </a:ext>
            </a:extLst>
          </p:cNvPr>
          <p:cNvSpPr>
            <a:spLocks noGrp="1"/>
          </p:cNvSpPr>
          <p:nvPr>
            <p:ph type="title"/>
          </p:nvPr>
        </p:nvSpPr>
        <p:spPr>
          <a:xfrm>
            <a:off x="628650" y="109002"/>
            <a:ext cx="7886700" cy="1325563"/>
          </a:xfrm>
        </p:spPr>
        <p:txBody>
          <a:bodyPr>
            <a:normAutofit/>
          </a:bodyPr>
          <a:lstStyle/>
          <a:p>
            <a:pPr algn="ctr"/>
            <a:r>
              <a:rPr lang="en-US" sz="5200" dirty="0"/>
              <a:t>Vitamin D </a:t>
            </a:r>
          </a:p>
        </p:txBody>
      </p:sp>
      <p:sp>
        <p:nvSpPr>
          <p:cNvPr id="3" name="Content Placeholder 2">
            <a:extLst>
              <a:ext uri="{FF2B5EF4-FFF2-40B4-BE49-F238E27FC236}">
                <a16:creationId xmlns:a16="http://schemas.microsoft.com/office/drawing/2014/main" id="{5AB3C19F-98F7-DB99-536B-F39EF476D962}"/>
              </a:ext>
            </a:extLst>
          </p:cNvPr>
          <p:cNvSpPr>
            <a:spLocks noGrp="1"/>
          </p:cNvSpPr>
          <p:nvPr>
            <p:ph idx="1"/>
          </p:nvPr>
        </p:nvSpPr>
        <p:spPr>
          <a:xfrm>
            <a:off x="628649" y="1266176"/>
            <a:ext cx="8275865" cy="4756981"/>
          </a:xfrm>
        </p:spPr>
        <p:txBody>
          <a:bodyPr>
            <a:normAutofit/>
          </a:bodyPr>
          <a:lstStyle/>
          <a:p>
            <a:r>
              <a:rPr lang="en-US" sz="3000" dirty="0">
                <a:latin typeface="Helvetica" panose="020B0604020202020204" pitchFamily="34" charset="0"/>
                <a:cs typeface="Helvetica" panose="020B0604020202020204" pitchFamily="34" charset="0"/>
              </a:rPr>
              <a:t>In supplements and food, vitamin D is available in two forms: </a:t>
            </a:r>
            <a:r>
              <a:rPr lang="en-US" sz="3200" dirty="0">
                <a:latin typeface="Helvetica" panose="020B0604020202020204" pitchFamily="34" charset="0"/>
                <a:ea typeface="Calibri"/>
                <a:cs typeface="Helvetica" panose="020B0604020202020204" pitchFamily="34" charset="0"/>
                <a:sym typeface="Calibri"/>
              </a:rPr>
              <a:t>D</a:t>
            </a:r>
            <a:r>
              <a:rPr lang="en-US" sz="3200" baseline="-25000" dirty="0">
                <a:latin typeface="Helvetica" panose="020B0604020202020204" pitchFamily="34" charset="0"/>
                <a:ea typeface="Calibri"/>
                <a:cs typeface="Helvetica" panose="020B0604020202020204" pitchFamily="34" charset="0"/>
                <a:sym typeface="Calibri"/>
              </a:rPr>
              <a:t>2</a:t>
            </a:r>
            <a:r>
              <a:rPr lang="en-US" sz="3200" dirty="0">
                <a:latin typeface="Helvetica" panose="020B0604020202020204" pitchFamily="34" charset="0"/>
                <a:ea typeface="Calibri"/>
                <a:cs typeface="Helvetica" panose="020B0604020202020204" pitchFamily="34" charset="0"/>
                <a:sym typeface="Calibri"/>
              </a:rPr>
              <a:t> </a:t>
            </a:r>
            <a:r>
              <a:rPr lang="en-US" sz="3000" dirty="0">
                <a:latin typeface="Helvetica" panose="020B0604020202020204" pitchFamily="34" charset="0"/>
                <a:cs typeface="Helvetica" panose="020B0604020202020204" pitchFamily="34" charset="0"/>
              </a:rPr>
              <a:t>(ergocalciferol) and D</a:t>
            </a:r>
            <a:r>
              <a:rPr lang="en-US" sz="3200" baseline="-25000" dirty="0">
                <a:latin typeface="Helvetica" panose="020B0604020202020204" pitchFamily="34" charset="0"/>
                <a:ea typeface="Calibri"/>
                <a:cs typeface="Helvetica" panose="020B0604020202020204" pitchFamily="34" charset="0"/>
                <a:sym typeface="Calibri"/>
              </a:rPr>
              <a:t>3</a:t>
            </a:r>
            <a:r>
              <a:rPr lang="en-US" sz="3000" dirty="0">
                <a:latin typeface="Helvetica" panose="020B0604020202020204" pitchFamily="34" charset="0"/>
                <a:cs typeface="Helvetica" panose="020B0604020202020204" pitchFamily="34" charset="0"/>
              </a:rPr>
              <a:t> (cholecalciferol). Both considered equal.</a:t>
            </a:r>
          </a:p>
          <a:p>
            <a:pPr marL="0" indent="0">
              <a:buNone/>
            </a:pPr>
            <a:r>
              <a:rPr lang="en-US" sz="3000" dirty="0">
                <a:latin typeface="Helvetica" panose="020B0604020202020204" pitchFamily="34" charset="0"/>
                <a:cs typeface="Helvetica" panose="020B0604020202020204" pitchFamily="34" charset="0"/>
              </a:rPr>
              <a:t> </a:t>
            </a:r>
          </a:p>
          <a:p>
            <a:r>
              <a:rPr lang="en-US" sz="3000" dirty="0">
                <a:latin typeface="Helvetica" panose="020B0604020202020204" pitchFamily="34" charset="0"/>
                <a:cs typeface="Helvetica" panose="020B0604020202020204" pitchFamily="34" charset="0"/>
              </a:rPr>
              <a:t>Overproduction of di-hydroxy (active form) vitamin D commonly occurs in granulomatous diseases including </a:t>
            </a:r>
            <a:r>
              <a:rPr lang="en-US" sz="3000" b="1" dirty="0">
                <a:latin typeface="Helvetica" panose="020B0604020202020204" pitchFamily="34" charset="0"/>
                <a:cs typeface="Helvetica" panose="020B0604020202020204" pitchFamily="34" charset="0"/>
              </a:rPr>
              <a:t>lymphoma, sarcoidosis, and tuberculosis. </a:t>
            </a:r>
          </a:p>
        </p:txBody>
      </p:sp>
      <p:sp>
        <p:nvSpPr>
          <p:cNvPr id="7" name="Slide Number Placeholder 6">
            <a:extLst>
              <a:ext uri="{FF2B5EF4-FFF2-40B4-BE49-F238E27FC236}">
                <a16:creationId xmlns:a16="http://schemas.microsoft.com/office/drawing/2014/main" id="{B3D42EA9-846A-DA59-330D-4A3F6FC79510}"/>
              </a:ext>
            </a:extLst>
          </p:cNvPr>
          <p:cNvSpPr>
            <a:spLocks noGrp="1"/>
          </p:cNvSpPr>
          <p:nvPr>
            <p:ph type="sldNum" sz="quarter" idx="12"/>
          </p:nvPr>
        </p:nvSpPr>
        <p:spPr/>
        <p:txBody>
          <a:bodyPr/>
          <a:lstStyle/>
          <a:p>
            <a:fld id="{1E422F9A-6EE9-44F0-9560-5F04B1DEB4A3}" type="slidenum">
              <a:rPr lang="en-US" smtClean="0"/>
              <a:t>21</a:t>
            </a:fld>
            <a:endParaRPr lang="en-US"/>
          </a:p>
        </p:txBody>
      </p:sp>
    </p:spTree>
    <p:extLst>
      <p:ext uri="{BB962C8B-B14F-4D97-AF65-F5344CB8AC3E}">
        <p14:creationId xmlns:p14="http://schemas.microsoft.com/office/powerpoint/2010/main" val="497821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2F966B-83B2-6DA1-462B-C22189437257}"/>
              </a:ext>
            </a:extLst>
          </p:cNvPr>
          <p:cNvSpPr>
            <a:spLocks noGrp="1"/>
          </p:cNvSpPr>
          <p:nvPr>
            <p:ph type="sldNum" sz="quarter" idx="12"/>
          </p:nvPr>
        </p:nvSpPr>
        <p:spPr/>
        <p:txBody>
          <a:bodyPr/>
          <a:lstStyle/>
          <a:p>
            <a:fld id="{1E422F9A-6EE9-44F0-9560-5F04B1DEB4A3}" type="slidenum">
              <a:rPr lang="en-US" smtClean="0"/>
              <a:t>22</a:t>
            </a:fld>
            <a:endParaRPr lang="en-US"/>
          </a:p>
        </p:txBody>
      </p:sp>
      <p:pic>
        <p:nvPicPr>
          <p:cNvPr id="1026" name="Picture 2" descr="Calcium Homeostasis and Hormonal Regulation | Basicmedical Key">
            <a:extLst>
              <a:ext uri="{FF2B5EF4-FFF2-40B4-BE49-F238E27FC236}">
                <a16:creationId xmlns:a16="http://schemas.microsoft.com/office/drawing/2014/main" id="{7D5AEE05-1F17-4C80-E4C1-4298F4315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009650"/>
            <a:ext cx="6477000" cy="4838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71C3703-0F7F-9593-9081-7CFD43D26872}"/>
              </a:ext>
            </a:extLst>
          </p:cNvPr>
          <p:cNvSpPr/>
          <p:nvPr/>
        </p:nvSpPr>
        <p:spPr>
          <a:xfrm>
            <a:off x="3611880" y="616371"/>
            <a:ext cx="4198620" cy="309372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B09C5ED9-C360-0467-9D4F-A819F9DFE87C}"/>
              </a:ext>
            </a:extLst>
          </p:cNvPr>
          <p:cNvSpPr/>
          <p:nvPr/>
        </p:nvSpPr>
        <p:spPr>
          <a:xfrm>
            <a:off x="4038600" y="3246120"/>
            <a:ext cx="3093720" cy="7467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898E9267-ABE8-BEF2-AACA-08E7DF577A1A}"/>
              </a:ext>
            </a:extLst>
          </p:cNvPr>
          <p:cNvSpPr/>
          <p:nvPr/>
        </p:nvSpPr>
        <p:spPr>
          <a:xfrm>
            <a:off x="3962400" y="3489960"/>
            <a:ext cx="1916430" cy="7467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9BA73735-CDCE-E609-178B-11347756FF62}"/>
              </a:ext>
            </a:extLst>
          </p:cNvPr>
          <p:cNvSpPr txBox="1"/>
          <p:nvPr/>
        </p:nvSpPr>
        <p:spPr>
          <a:xfrm>
            <a:off x="2399347" y="3375869"/>
            <a:ext cx="2865120" cy="430887"/>
          </a:xfrm>
          <a:prstGeom prst="rect">
            <a:avLst/>
          </a:prstGeom>
          <a:noFill/>
        </p:spPr>
        <p:txBody>
          <a:bodyPr wrap="square" rtlCol="0">
            <a:spAutoFit/>
          </a:bodyPr>
          <a:lstStyle/>
          <a:p>
            <a:r>
              <a:rPr lang="en-US" sz="2200" b="1" dirty="0">
                <a:latin typeface="Helvetica Neue" panose="020B0604020202020204" charset="0"/>
              </a:rPr>
              <a:t>1</a:t>
            </a:r>
            <a:r>
              <a:rPr lang="en-US" sz="2200" b="1" baseline="30000" dirty="0">
                <a:latin typeface="Helvetica Neue" panose="020B0604020202020204" charset="0"/>
              </a:rPr>
              <a:t>st</a:t>
            </a:r>
            <a:r>
              <a:rPr lang="en-US" sz="2200" b="1" dirty="0">
                <a:latin typeface="Helvetica Neue" panose="020B0604020202020204" charset="0"/>
              </a:rPr>
              <a:t> hydroxylation</a:t>
            </a:r>
          </a:p>
        </p:txBody>
      </p:sp>
      <p:sp>
        <p:nvSpPr>
          <p:cNvPr id="11" name="TextBox 10">
            <a:extLst>
              <a:ext uri="{FF2B5EF4-FFF2-40B4-BE49-F238E27FC236}">
                <a16:creationId xmlns:a16="http://schemas.microsoft.com/office/drawing/2014/main" id="{57055053-901F-ADD8-BFCB-380675773D27}"/>
              </a:ext>
            </a:extLst>
          </p:cNvPr>
          <p:cNvSpPr txBox="1"/>
          <p:nvPr/>
        </p:nvSpPr>
        <p:spPr>
          <a:xfrm>
            <a:off x="5392103" y="5391578"/>
            <a:ext cx="2865120" cy="430887"/>
          </a:xfrm>
          <a:prstGeom prst="rect">
            <a:avLst/>
          </a:prstGeom>
          <a:noFill/>
        </p:spPr>
        <p:txBody>
          <a:bodyPr wrap="square" rtlCol="0">
            <a:spAutoFit/>
          </a:bodyPr>
          <a:lstStyle/>
          <a:p>
            <a:r>
              <a:rPr lang="en-US" sz="2200" b="1" dirty="0">
                <a:latin typeface="Helvetica Neue" panose="020B0604020202020204" charset="0"/>
              </a:rPr>
              <a:t>Active vitamin D</a:t>
            </a:r>
          </a:p>
        </p:txBody>
      </p:sp>
      <p:sp>
        <p:nvSpPr>
          <p:cNvPr id="12" name="Rectangle 11">
            <a:extLst>
              <a:ext uri="{FF2B5EF4-FFF2-40B4-BE49-F238E27FC236}">
                <a16:creationId xmlns:a16="http://schemas.microsoft.com/office/drawing/2014/main" id="{F91A5B01-A3F1-13B3-25FC-1A8799B519A2}"/>
              </a:ext>
            </a:extLst>
          </p:cNvPr>
          <p:cNvSpPr/>
          <p:nvPr/>
        </p:nvSpPr>
        <p:spPr>
          <a:xfrm>
            <a:off x="3726180" y="5474970"/>
            <a:ext cx="1733550" cy="43255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2585249D-ABA8-DEAA-2975-24175B9E98F1}"/>
              </a:ext>
            </a:extLst>
          </p:cNvPr>
          <p:cNvSpPr txBox="1"/>
          <p:nvPr/>
        </p:nvSpPr>
        <p:spPr>
          <a:xfrm>
            <a:off x="3488055" y="5865424"/>
            <a:ext cx="2865120" cy="430887"/>
          </a:xfrm>
          <a:prstGeom prst="rect">
            <a:avLst/>
          </a:prstGeom>
          <a:noFill/>
        </p:spPr>
        <p:txBody>
          <a:bodyPr wrap="square" rtlCol="0">
            <a:spAutoFit/>
          </a:bodyPr>
          <a:lstStyle/>
          <a:p>
            <a:r>
              <a:rPr lang="en-US" sz="2200" b="1" dirty="0">
                <a:latin typeface="Helvetica Neue" panose="020B0604020202020204" charset="0"/>
              </a:rPr>
              <a:t>2</a:t>
            </a:r>
            <a:r>
              <a:rPr lang="en-US" sz="2200" b="1" baseline="30000" dirty="0">
                <a:latin typeface="Helvetica Neue" panose="020B0604020202020204" charset="0"/>
              </a:rPr>
              <a:t>nd</a:t>
            </a:r>
            <a:r>
              <a:rPr lang="en-US" sz="2200" b="1" dirty="0">
                <a:latin typeface="Helvetica Neue" panose="020B0604020202020204" charset="0"/>
              </a:rPr>
              <a:t> hydroxylation</a:t>
            </a:r>
          </a:p>
        </p:txBody>
      </p:sp>
      <p:cxnSp>
        <p:nvCxnSpPr>
          <p:cNvPr id="14" name="Straight Arrow Connector 13">
            <a:extLst>
              <a:ext uri="{FF2B5EF4-FFF2-40B4-BE49-F238E27FC236}">
                <a16:creationId xmlns:a16="http://schemas.microsoft.com/office/drawing/2014/main" id="{09C500F5-3895-5BD6-DCDB-4E35B60C069B}"/>
              </a:ext>
            </a:extLst>
          </p:cNvPr>
          <p:cNvCxnSpPr>
            <a:cxnSpLocks/>
          </p:cNvCxnSpPr>
          <p:nvPr/>
        </p:nvCxnSpPr>
        <p:spPr>
          <a:xfrm>
            <a:off x="5711190" y="2804160"/>
            <a:ext cx="0" cy="22707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71FFF17D-7CB6-A210-25BC-BA45509AED49}"/>
              </a:ext>
            </a:extLst>
          </p:cNvPr>
          <p:cNvSpPr txBox="1"/>
          <p:nvPr/>
        </p:nvSpPr>
        <p:spPr>
          <a:xfrm>
            <a:off x="3611880" y="1907122"/>
            <a:ext cx="4575464" cy="830997"/>
          </a:xfrm>
          <a:prstGeom prst="rect">
            <a:avLst/>
          </a:prstGeom>
          <a:noFill/>
        </p:spPr>
        <p:txBody>
          <a:bodyPr wrap="square" rtlCol="0">
            <a:spAutoFit/>
          </a:bodyPr>
          <a:lstStyle/>
          <a:p>
            <a:pPr algn="ctr"/>
            <a:r>
              <a:rPr lang="en-US" sz="2400" b="1" dirty="0">
                <a:latin typeface="Helvetica Neue" panose="020B0604020202020204" charset="0"/>
              </a:rPr>
              <a:t>Granulomatous disease </a:t>
            </a:r>
          </a:p>
          <a:p>
            <a:pPr algn="ctr"/>
            <a:r>
              <a:rPr lang="en-US" sz="2400" b="1" dirty="0">
                <a:latin typeface="Helvetica Neue" panose="020B0604020202020204" charset="0"/>
              </a:rPr>
              <a:t>(TB, lymphoma, sarcoidosis)</a:t>
            </a:r>
          </a:p>
        </p:txBody>
      </p:sp>
      <p:sp>
        <p:nvSpPr>
          <p:cNvPr id="2" name="TextBox 1">
            <a:extLst>
              <a:ext uri="{FF2B5EF4-FFF2-40B4-BE49-F238E27FC236}">
                <a16:creationId xmlns:a16="http://schemas.microsoft.com/office/drawing/2014/main" id="{49A56421-5132-CBE6-B4FC-3CE4E7C8F760}"/>
              </a:ext>
            </a:extLst>
          </p:cNvPr>
          <p:cNvSpPr txBox="1"/>
          <p:nvPr/>
        </p:nvSpPr>
        <p:spPr>
          <a:xfrm>
            <a:off x="2358615" y="5351145"/>
            <a:ext cx="2651312" cy="430887"/>
          </a:xfrm>
          <a:prstGeom prst="rect">
            <a:avLst/>
          </a:prstGeom>
          <a:noFill/>
        </p:spPr>
        <p:txBody>
          <a:bodyPr wrap="square" rtlCol="0">
            <a:spAutoFit/>
          </a:bodyPr>
          <a:lstStyle/>
          <a:p>
            <a:r>
              <a:rPr lang="en-US" sz="2200" b="1" dirty="0">
                <a:latin typeface="Helvetica Neue" panose="020B0604020202020204" charset="0"/>
              </a:rPr>
              <a:t>25(OH)D</a:t>
            </a:r>
          </a:p>
        </p:txBody>
      </p:sp>
      <p:sp>
        <p:nvSpPr>
          <p:cNvPr id="13" name="TextBox 12">
            <a:extLst>
              <a:ext uri="{FF2B5EF4-FFF2-40B4-BE49-F238E27FC236}">
                <a16:creationId xmlns:a16="http://schemas.microsoft.com/office/drawing/2014/main" id="{71905C78-799A-B816-6068-33D4D90F0643}"/>
              </a:ext>
            </a:extLst>
          </p:cNvPr>
          <p:cNvSpPr txBox="1"/>
          <p:nvPr/>
        </p:nvSpPr>
        <p:spPr>
          <a:xfrm>
            <a:off x="300037" y="2038871"/>
            <a:ext cx="2865120" cy="307777"/>
          </a:xfrm>
          <a:prstGeom prst="rect">
            <a:avLst/>
          </a:prstGeom>
          <a:noFill/>
        </p:spPr>
        <p:txBody>
          <a:bodyPr wrap="square" rtlCol="0">
            <a:spAutoFit/>
          </a:bodyPr>
          <a:lstStyle/>
          <a:p>
            <a:r>
              <a:rPr lang="en-US" sz="1400" dirty="0">
                <a:latin typeface="Helvetica Neue" panose="020B0604020202020204" charset="0"/>
              </a:rPr>
              <a:t>Supplements</a:t>
            </a:r>
          </a:p>
        </p:txBody>
      </p:sp>
      <p:cxnSp>
        <p:nvCxnSpPr>
          <p:cNvPr id="15" name="Straight Arrow Connector 14">
            <a:extLst>
              <a:ext uri="{FF2B5EF4-FFF2-40B4-BE49-F238E27FC236}">
                <a16:creationId xmlns:a16="http://schemas.microsoft.com/office/drawing/2014/main" id="{9F74B9AE-E1D5-270A-5035-604C38A4380D}"/>
              </a:ext>
            </a:extLst>
          </p:cNvPr>
          <p:cNvCxnSpPr>
            <a:cxnSpLocks/>
          </p:cNvCxnSpPr>
          <p:nvPr/>
        </p:nvCxnSpPr>
        <p:spPr>
          <a:xfrm>
            <a:off x="1113040" y="2346648"/>
            <a:ext cx="799061" cy="6699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5398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0" grpId="0"/>
      <p:bldP spid="16"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D0658-7E03-A330-59A1-B6CB8191A50C}"/>
              </a:ext>
            </a:extLst>
          </p:cNvPr>
          <p:cNvSpPr>
            <a:spLocks noGrp="1"/>
          </p:cNvSpPr>
          <p:nvPr>
            <p:ph type="title"/>
          </p:nvPr>
        </p:nvSpPr>
        <p:spPr>
          <a:xfrm>
            <a:off x="628650" y="192279"/>
            <a:ext cx="7886700" cy="1325563"/>
          </a:xfrm>
        </p:spPr>
        <p:txBody>
          <a:bodyPr>
            <a:normAutofit/>
          </a:bodyPr>
          <a:lstStyle/>
          <a:p>
            <a:pPr algn="ctr"/>
            <a:r>
              <a:rPr lang="en-US" sz="4000" dirty="0">
                <a:latin typeface="Helvetica Neue" panose="020B0604020202020204" charset="0"/>
              </a:rPr>
              <a:t>Too much of a good thing…</a:t>
            </a:r>
          </a:p>
        </p:txBody>
      </p:sp>
      <p:sp>
        <p:nvSpPr>
          <p:cNvPr id="3" name="Content Placeholder 2">
            <a:extLst>
              <a:ext uri="{FF2B5EF4-FFF2-40B4-BE49-F238E27FC236}">
                <a16:creationId xmlns:a16="http://schemas.microsoft.com/office/drawing/2014/main" id="{DE3858FA-150F-A4C8-6B24-7434B8DC3789}"/>
              </a:ext>
            </a:extLst>
          </p:cNvPr>
          <p:cNvSpPr>
            <a:spLocks noGrp="1"/>
          </p:cNvSpPr>
          <p:nvPr>
            <p:ph idx="1"/>
          </p:nvPr>
        </p:nvSpPr>
        <p:spPr>
          <a:xfrm>
            <a:off x="628650" y="1589314"/>
            <a:ext cx="7886700" cy="4587649"/>
          </a:xfrm>
        </p:spPr>
        <p:txBody>
          <a:bodyPr>
            <a:normAutofit/>
          </a:bodyPr>
          <a:lstStyle/>
          <a:p>
            <a:r>
              <a:rPr lang="en-US" sz="3000" dirty="0">
                <a:latin typeface="Helvetica" panose="020B0604020202020204" pitchFamily="34" charset="0"/>
                <a:cs typeface="Helvetica" panose="020B0604020202020204" pitchFamily="34" charset="0"/>
              </a:rPr>
              <a:t>Vitamin D toxicity is possible because it is fat-soluble. It can cause nonspecific symptoms such as anorexia, weight loss, polyuria, and arrhythmias.</a:t>
            </a:r>
          </a:p>
          <a:p>
            <a:endParaRPr lang="en-US" sz="3000" dirty="0">
              <a:latin typeface="Helvetica" panose="020B0604020202020204" pitchFamily="34" charset="0"/>
              <a:cs typeface="Helvetica" panose="020B0604020202020204" pitchFamily="34" charset="0"/>
            </a:endParaRPr>
          </a:p>
          <a:p>
            <a:r>
              <a:rPr lang="en-US" sz="3000" dirty="0">
                <a:latin typeface="Helvetica" panose="020B0604020202020204" pitchFamily="34" charset="0"/>
                <a:cs typeface="Helvetica" panose="020B0604020202020204" pitchFamily="34" charset="0"/>
              </a:rPr>
              <a:t>It can also raise blood levels of calcium which leads to vascular and tissue calcification ─ subsequently damaging the heart, blood vessels, and kidneys.</a:t>
            </a:r>
          </a:p>
        </p:txBody>
      </p:sp>
      <p:sp>
        <p:nvSpPr>
          <p:cNvPr id="4" name="Slide Number Placeholder 3">
            <a:extLst>
              <a:ext uri="{FF2B5EF4-FFF2-40B4-BE49-F238E27FC236}">
                <a16:creationId xmlns:a16="http://schemas.microsoft.com/office/drawing/2014/main" id="{DAB27173-C01F-311A-C4FC-2BEF3ACB7CBA}"/>
              </a:ext>
            </a:extLst>
          </p:cNvPr>
          <p:cNvSpPr>
            <a:spLocks noGrp="1"/>
          </p:cNvSpPr>
          <p:nvPr>
            <p:ph type="sldNum" sz="quarter" idx="12"/>
          </p:nvPr>
        </p:nvSpPr>
        <p:spPr/>
        <p:txBody>
          <a:bodyPr/>
          <a:lstStyle/>
          <a:p>
            <a:fld id="{1E422F9A-6EE9-44F0-9560-5F04B1DEB4A3}" type="slidenum">
              <a:rPr lang="en-US" smtClean="0"/>
              <a:t>23</a:t>
            </a:fld>
            <a:endParaRPr lang="en-US"/>
          </a:p>
        </p:txBody>
      </p:sp>
    </p:spTree>
    <p:extLst>
      <p:ext uri="{BB962C8B-B14F-4D97-AF65-F5344CB8AC3E}">
        <p14:creationId xmlns:p14="http://schemas.microsoft.com/office/powerpoint/2010/main" val="2350003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CF8E3-D5DC-CADA-2913-FAE101575AD1}"/>
              </a:ext>
            </a:extLst>
          </p:cNvPr>
          <p:cNvSpPr>
            <a:spLocks noGrp="1"/>
          </p:cNvSpPr>
          <p:nvPr>
            <p:ph type="title"/>
          </p:nvPr>
        </p:nvSpPr>
        <p:spPr>
          <a:xfrm>
            <a:off x="628650" y="11864"/>
            <a:ext cx="7886700" cy="1325563"/>
          </a:xfrm>
        </p:spPr>
        <p:txBody>
          <a:bodyPr>
            <a:normAutofit/>
          </a:bodyPr>
          <a:lstStyle/>
          <a:p>
            <a:pPr algn="ctr"/>
            <a:r>
              <a:rPr lang="en-US" sz="5000" dirty="0"/>
              <a:t>Bone Balance</a:t>
            </a:r>
          </a:p>
        </p:txBody>
      </p:sp>
      <p:sp>
        <p:nvSpPr>
          <p:cNvPr id="3" name="Content Placeholder 2">
            <a:extLst>
              <a:ext uri="{FF2B5EF4-FFF2-40B4-BE49-F238E27FC236}">
                <a16:creationId xmlns:a16="http://schemas.microsoft.com/office/drawing/2014/main" id="{6FEE96B8-6BAC-78D3-AD90-E960E68339D7}"/>
              </a:ext>
            </a:extLst>
          </p:cNvPr>
          <p:cNvSpPr>
            <a:spLocks noGrp="1"/>
          </p:cNvSpPr>
          <p:nvPr>
            <p:ph idx="1"/>
          </p:nvPr>
        </p:nvSpPr>
        <p:spPr>
          <a:xfrm>
            <a:off x="531341" y="1189037"/>
            <a:ext cx="8268215" cy="4984751"/>
          </a:xfrm>
        </p:spPr>
        <p:txBody>
          <a:bodyPr>
            <a:noAutofit/>
          </a:bodyPr>
          <a:lstStyle/>
          <a:p>
            <a:r>
              <a:rPr lang="en-US" sz="3000" b="1" i="1" dirty="0">
                <a:latin typeface="Helvetica" panose="020B0604020202020204" pitchFamily="34" charset="0"/>
                <a:cs typeface="Helvetica" panose="020B0604020202020204" pitchFamily="34" charset="0"/>
              </a:rPr>
              <a:t>Positive bone balance </a:t>
            </a:r>
            <a:r>
              <a:rPr lang="en-US" sz="3000" dirty="0">
                <a:latin typeface="Helvetica" panose="020B0604020202020204" pitchFamily="34" charset="0"/>
                <a:cs typeface="Helvetica" panose="020B0604020202020204" pitchFamily="34" charset="0"/>
              </a:rPr>
              <a:t>(bone formation) is stimulated by exercise and anti-resorptive drugs (bisphosphonates), and conditions that promote bone formation over bone resorption. </a:t>
            </a:r>
          </a:p>
          <a:p>
            <a:pPr marL="0" indent="0">
              <a:buNone/>
            </a:pPr>
            <a:endParaRPr lang="en-US" sz="3000" dirty="0">
              <a:latin typeface="Helvetica" panose="020B0604020202020204" pitchFamily="34" charset="0"/>
              <a:cs typeface="Helvetica" panose="020B0604020202020204" pitchFamily="34" charset="0"/>
            </a:endParaRPr>
          </a:p>
          <a:p>
            <a:r>
              <a:rPr lang="en-US" sz="3000" b="1" i="1" dirty="0">
                <a:latin typeface="Helvetica" panose="020B0604020202020204" pitchFamily="34" charset="0"/>
                <a:cs typeface="Helvetica" panose="020B0604020202020204" pitchFamily="34" charset="0"/>
              </a:rPr>
              <a:t>Negative bone balance </a:t>
            </a:r>
            <a:r>
              <a:rPr lang="en-US" sz="3000" dirty="0">
                <a:latin typeface="Helvetica" panose="020B0604020202020204" pitchFamily="34" charset="0"/>
                <a:cs typeface="Helvetica" panose="020B0604020202020204" pitchFamily="34" charset="0"/>
              </a:rPr>
              <a:t>(bone loss) is caused by immobilization, weightlessness, and sex steroid deficiency </a:t>
            </a:r>
          </a:p>
          <a:p>
            <a:pPr marL="0" indent="0">
              <a:buNone/>
            </a:pPr>
            <a:endParaRPr lang="en-US" sz="3000" dirty="0">
              <a:latin typeface="Helvetica" panose="020B0604020202020204" pitchFamily="34" charset="0"/>
              <a:cs typeface="Helvetica" panose="020B0604020202020204" pitchFamily="34" charset="0"/>
            </a:endParaRPr>
          </a:p>
          <a:p>
            <a:r>
              <a:rPr lang="en-US" sz="3000" dirty="0">
                <a:latin typeface="Helvetica" panose="020B0604020202020204" pitchFamily="34" charset="0"/>
                <a:cs typeface="Helvetica" panose="020B0604020202020204" pitchFamily="34" charset="0"/>
              </a:rPr>
              <a:t>Bone density is assessed                                               using a DEXA scan</a:t>
            </a:r>
          </a:p>
        </p:txBody>
      </p:sp>
      <p:sp>
        <p:nvSpPr>
          <p:cNvPr id="4" name="Slide Number Placeholder 3">
            <a:extLst>
              <a:ext uri="{FF2B5EF4-FFF2-40B4-BE49-F238E27FC236}">
                <a16:creationId xmlns:a16="http://schemas.microsoft.com/office/drawing/2014/main" id="{353B09DA-1D64-00F7-54AC-66C03942BCF7}"/>
              </a:ext>
            </a:extLst>
          </p:cNvPr>
          <p:cNvSpPr>
            <a:spLocks noGrp="1"/>
          </p:cNvSpPr>
          <p:nvPr>
            <p:ph type="sldNum" sz="quarter" idx="12"/>
          </p:nvPr>
        </p:nvSpPr>
        <p:spPr/>
        <p:txBody>
          <a:bodyPr/>
          <a:lstStyle/>
          <a:p>
            <a:fld id="{1E422F9A-6EE9-44F0-9560-5F04B1DEB4A3}" type="slidenum">
              <a:rPr lang="en-US" smtClean="0"/>
              <a:t>24</a:t>
            </a:fld>
            <a:endParaRPr lang="en-US"/>
          </a:p>
        </p:txBody>
      </p:sp>
      <p:pic>
        <p:nvPicPr>
          <p:cNvPr id="6" name="Picture 5" descr="Person in a gym holding a weight plate above the head">
            <a:extLst>
              <a:ext uri="{FF2B5EF4-FFF2-40B4-BE49-F238E27FC236}">
                <a16:creationId xmlns:a16="http://schemas.microsoft.com/office/drawing/2014/main" id="{F9768001-0F82-BFAD-6853-A62C233F5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9732" y="4641170"/>
            <a:ext cx="2782927" cy="1897743"/>
          </a:xfrm>
          <a:prstGeom prst="rect">
            <a:avLst/>
          </a:prstGeom>
        </p:spPr>
      </p:pic>
    </p:spTree>
    <p:extLst>
      <p:ext uri="{BB962C8B-B14F-4D97-AF65-F5344CB8AC3E}">
        <p14:creationId xmlns:p14="http://schemas.microsoft.com/office/powerpoint/2010/main" val="4146691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49C74-C762-5827-AF84-0CD8421906B0}"/>
              </a:ext>
            </a:extLst>
          </p:cNvPr>
          <p:cNvSpPr>
            <a:spLocks noGrp="1"/>
          </p:cNvSpPr>
          <p:nvPr>
            <p:ph type="title"/>
          </p:nvPr>
        </p:nvSpPr>
        <p:spPr>
          <a:xfrm>
            <a:off x="628650" y="216842"/>
            <a:ext cx="7886700" cy="1325563"/>
          </a:xfrm>
        </p:spPr>
        <p:txBody>
          <a:bodyPr>
            <a:normAutofit/>
          </a:bodyPr>
          <a:lstStyle/>
          <a:p>
            <a:pPr algn="ctr"/>
            <a:r>
              <a:rPr lang="en-US" sz="4200" dirty="0">
                <a:latin typeface="Helvetica Neue" panose="020B0604020202020204" charset="0"/>
              </a:rPr>
              <a:t>Calcium Lab Values</a:t>
            </a:r>
          </a:p>
        </p:txBody>
      </p:sp>
      <p:sp>
        <p:nvSpPr>
          <p:cNvPr id="3" name="Content Placeholder 2">
            <a:extLst>
              <a:ext uri="{FF2B5EF4-FFF2-40B4-BE49-F238E27FC236}">
                <a16:creationId xmlns:a16="http://schemas.microsoft.com/office/drawing/2014/main" id="{745E36BF-5E17-FC40-496A-9627A30BC985}"/>
              </a:ext>
            </a:extLst>
          </p:cNvPr>
          <p:cNvSpPr>
            <a:spLocks noGrp="1"/>
          </p:cNvSpPr>
          <p:nvPr>
            <p:ph idx="1"/>
          </p:nvPr>
        </p:nvSpPr>
        <p:spPr>
          <a:xfrm>
            <a:off x="628650" y="1534886"/>
            <a:ext cx="7886700" cy="4642077"/>
          </a:xfrm>
        </p:spPr>
        <p:txBody>
          <a:bodyPr/>
          <a:lstStyle/>
          <a:p>
            <a:r>
              <a:rPr lang="en-US" dirty="0">
                <a:latin typeface="Helvetica" panose="020B0604020202020204" pitchFamily="34" charset="0"/>
                <a:cs typeface="Helvetica" panose="020B0604020202020204" pitchFamily="34" charset="0"/>
              </a:rPr>
              <a:t>Normal calcium levels 8.5 – 10.2 mg/dL </a:t>
            </a:r>
          </a:p>
          <a:p>
            <a:pPr lvl="1"/>
            <a:r>
              <a:rPr lang="en-US" sz="2800" b="1" i="1" dirty="0">
                <a:latin typeface="Helvetica" panose="020B0604020202020204" pitchFamily="34" charset="0"/>
                <a:cs typeface="Helvetica" panose="020B0604020202020204" pitchFamily="34" charset="0"/>
              </a:rPr>
              <a:t>Severe hypocalcemia &lt; 7 mg/dL</a:t>
            </a:r>
          </a:p>
          <a:p>
            <a:pPr lvl="1"/>
            <a:r>
              <a:rPr lang="en-US" sz="2800" b="1" i="1" dirty="0">
                <a:latin typeface="Helvetica" panose="020B0604020202020204" pitchFamily="34" charset="0"/>
                <a:cs typeface="Helvetica" panose="020B0604020202020204" pitchFamily="34" charset="0"/>
              </a:rPr>
              <a:t>Severe hypercalcemia &gt; 12 mg/dL </a:t>
            </a:r>
          </a:p>
          <a:p>
            <a:pPr marL="457200" lvl="1"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Normal ionized calcium levels: 4.5 – 5.6 mg/dL or 1.09 – 1.03 mmol/L </a:t>
            </a:r>
          </a:p>
          <a:p>
            <a:pPr marL="457200" lvl="1" indent="0">
              <a:buNone/>
            </a:pPr>
            <a:endParaRPr lang="en-US" sz="2800" b="1" i="1"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When determining </a:t>
            </a:r>
            <a:r>
              <a:rPr lang="en-US" b="1" dirty="0">
                <a:latin typeface="Helvetica" panose="020B0604020202020204" pitchFamily="34" charset="0"/>
                <a:cs typeface="Helvetica" panose="020B0604020202020204" pitchFamily="34" charset="0"/>
              </a:rPr>
              <a:t>true </a:t>
            </a:r>
            <a:r>
              <a:rPr lang="en-US" dirty="0">
                <a:latin typeface="Helvetica" panose="020B0604020202020204" pitchFamily="34" charset="0"/>
                <a:cs typeface="Helvetica" panose="020B0604020202020204" pitchFamily="34" charset="0"/>
              </a:rPr>
              <a:t>serum calcium levels, we must “correct” the Ca value with a serum albumin level </a:t>
            </a:r>
          </a:p>
        </p:txBody>
      </p:sp>
      <p:sp>
        <p:nvSpPr>
          <p:cNvPr id="4" name="Slide Number Placeholder 3">
            <a:extLst>
              <a:ext uri="{FF2B5EF4-FFF2-40B4-BE49-F238E27FC236}">
                <a16:creationId xmlns:a16="http://schemas.microsoft.com/office/drawing/2014/main" id="{20A842A1-8244-E262-0B74-AF452CF1E81B}"/>
              </a:ext>
            </a:extLst>
          </p:cNvPr>
          <p:cNvSpPr>
            <a:spLocks noGrp="1"/>
          </p:cNvSpPr>
          <p:nvPr>
            <p:ph type="sldNum" sz="quarter" idx="12"/>
          </p:nvPr>
        </p:nvSpPr>
        <p:spPr/>
        <p:txBody>
          <a:bodyPr/>
          <a:lstStyle/>
          <a:p>
            <a:fld id="{1E422F9A-6EE9-44F0-9560-5F04B1DEB4A3}" type="slidenum">
              <a:rPr lang="en-US" smtClean="0"/>
              <a:t>25</a:t>
            </a:fld>
            <a:endParaRPr lang="en-US"/>
          </a:p>
        </p:txBody>
      </p:sp>
    </p:spTree>
    <p:extLst>
      <p:ext uri="{BB962C8B-B14F-4D97-AF65-F5344CB8AC3E}">
        <p14:creationId xmlns:p14="http://schemas.microsoft.com/office/powerpoint/2010/main" val="2276489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5F52A1-4989-DD9A-1334-D8672CD2C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E12F2-C7DE-ED35-7723-EC5E8EFD1D66}"/>
              </a:ext>
            </a:extLst>
          </p:cNvPr>
          <p:cNvSpPr>
            <a:spLocks noGrp="1"/>
          </p:cNvSpPr>
          <p:nvPr>
            <p:ph type="title"/>
          </p:nvPr>
        </p:nvSpPr>
        <p:spPr>
          <a:xfrm>
            <a:off x="713282" y="136524"/>
            <a:ext cx="7886700" cy="1325563"/>
          </a:xfrm>
        </p:spPr>
        <p:txBody>
          <a:bodyPr>
            <a:normAutofit/>
          </a:bodyPr>
          <a:lstStyle/>
          <a:p>
            <a:pPr algn="ctr"/>
            <a:r>
              <a:rPr lang="en-US" sz="4200" dirty="0">
                <a:latin typeface="Helvetica Neue" panose="020B0604020202020204" charset="0"/>
              </a:rPr>
              <a:t>Lab Confounders</a:t>
            </a:r>
          </a:p>
        </p:txBody>
      </p:sp>
      <p:sp>
        <p:nvSpPr>
          <p:cNvPr id="3" name="Content Placeholder 2">
            <a:extLst>
              <a:ext uri="{FF2B5EF4-FFF2-40B4-BE49-F238E27FC236}">
                <a16:creationId xmlns:a16="http://schemas.microsoft.com/office/drawing/2014/main" id="{65DC6D46-5B3C-B595-A00A-185C0943CAA2}"/>
              </a:ext>
            </a:extLst>
          </p:cNvPr>
          <p:cNvSpPr>
            <a:spLocks noGrp="1"/>
          </p:cNvSpPr>
          <p:nvPr>
            <p:ph idx="1"/>
          </p:nvPr>
        </p:nvSpPr>
        <p:spPr>
          <a:xfrm>
            <a:off x="413104" y="1213064"/>
            <a:ext cx="8487056" cy="4642077"/>
          </a:xfrm>
        </p:spPr>
        <p:txBody>
          <a:bodyPr>
            <a:noAutofit/>
          </a:bodyPr>
          <a:lstStyle/>
          <a:p>
            <a:r>
              <a:rPr lang="en-US" dirty="0">
                <a:latin typeface="Helvetica" panose="020B0604020202020204" pitchFamily="34" charset="0"/>
                <a:cs typeface="Helvetica" panose="020B0604020202020204" pitchFamily="34" charset="0"/>
              </a:rPr>
              <a:t>Decreased or increased albumin are one of the most common causes of an abnormal calcium level.</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Because albumin acts as calcium’s ‘shuttle,’ changes in albumin concentration affect how much total calcium appears on a blood test, even when biologically active free calcium remains normal. </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Half of serum calcium is bound to albumin. If a pt has low albumin, total Ca will look (falsely) low. </a:t>
            </a:r>
          </a:p>
          <a:p>
            <a:pPr marL="0" indent="0">
              <a:buNone/>
            </a:pPr>
            <a:r>
              <a:rPr lang="en-US" dirty="0">
                <a:latin typeface="Helvetica" panose="020B0604020202020204" pitchFamily="34" charset="0"/>
                <a:cs typeface="Helvetica" panose="020B0604020202020204" pitchFamily="34" charset="0"/>
              </a:rPr>
              <a:t> </a:t>
            </a:r>
          </a:p>
          <a:p>
            <a:pPr marL="0" indent="0">
              <a:buNone/>
            </a:pPr>
            <a:endParaRPr lang="en-US"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3A1ABD53-DA5B-B02B-BDBB-CCC31D6A4D8D}"/>
              </a:ext>
            </a:extLst>
          </p:cNvPr>
          <p:cNvSpPr>
            <a:spLocks noGrp="1"/>
          </p:cNvSpPr>
          <p:nvPr>
            <p:ph type="sldNum" sz="quarter" idx="12"/>
          </p:nvPr>
        </p:nvSpPr>
        <p:spPr/>
        <p:txBody>
          <a:bodyPr/>
          <a:lstStyle/>
          <a:p>
            <a:fld id="{1E422F9A-6EE9-44F0-9560-5F04B1DEB4A3}" type="slidenum">
              <a:rPr lang="en-US" smtClean="0"/>
              <a:t>26</a:t>
            </a:fld>
            <a:endParaRPr lang="en-US"/>
          </a:p>
        </p:txBody>
      </p:sp>
    </p:spTree>
    <p:extLst>
      <p:ext uri="{BB962C8B-B14F-4D97-AF65-F5344CB8AC3E}">
        <p14:creationId xmlns:p14="http://schemas.microsoft.com/office/powerpoint/2010/main" val="884769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9CBAED-4B07-8F0C-E43C-C998EE9FC501}"/>
              </a:ext>
            </a:extLst>
          </p:cNvPr>
          <p:cNvSpPr>
            <a:spLocks noGrp="1"/>
          </p:cNvSpPr>
          <p:nvPr>
            <p:ph type="sldNum" sz="quarter" idx="12"/>
          </p:nvPr>
        </p:nvSpPr>
        <p:spPr/>
        <p:txBody>
          <a:bodyPr/>
          <a:lstStyle/>
          <a:p>
            <a:fld id="{1E422F9A-6EE9-44F0-9560-5F04B1DEB4A3}" type="slidenum">
              <a:rPr lang="en-US" smtClean="0"/>
              <a:t>27</a:t>
            </a:fld>
            <a:endParaRPr lang="en-US"/>
          </a:p>
        </p:txBody>
      </p:sp>
      <p:sp>
        <p:nvSpPr>
          <p:cNvPr id="21" name="Rectangle 20">
            <a:extLst>
              <a:ext uri="{FF2B5EF4-FFF2-40B4-BE49-F238E27FC236}">
                <a16:creationId xmlns:a16="http://schemas.microsoft.com/office/drawing/2014/main" id="{9908E557-8330-D47E-8C0C-7F95B18AAED7}"/>
              </a:ext>
            </a:extLst>
          </p:cNvPr>
          <p:cNvSpPr/>
          <p:nvPr/>
        </p:nvSpPr>
        <p:spPr>
          <a:xfrm>
            <a:off x="398206" y="427703"/>
            <a:ext cx="5375787" cy="268420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CC6170-D13F-AB9B-4681-F11E349EDB3D}"/>
              </a:ext>
            </a:extLst>
          </p:cNvPr>
          <p:cNvSpPr txBox="1"/>
          <p:nvPr/>
        </p:nvSpPr>
        <p:spPr>
          <a:xfrm>
            <a:off x="575188" y="2271251"/>
            <a:ext cx="2403986" cy="430887"/>
          </a:xfrm>
          <a:prstGeom prst="rect">
            <a:avLst/>
          </a:prstGeom>
          <a:noFill/>
        </p:spPr>
        <p:txBody>
          <a:bodyPr wrap="square" rtlCol="0">
            <a:spAutoFit/>
          </a:bodyPr>
          <a:lstStyle/>
          <a:p>
            <a:r>
              <a:rPr lang="en-US" sz="2200" b="1" dirty="0">
                <a:latin typeface="Helvetica Neue" panose="020B0604020202020204" charset="0"/>
              </a:rPr>
              <a:t>Albumin bound</a:t>
            </a:r>
          </a:p>
        </p:txBody>
      </p:sp>
      <p:sp>
        <p:nvSpPr>
          <p:cNvPr id="7" name="TextBox 6">
            <a:extLst>
              <a:ext uri="{FF2B5EF4-FFF2-40B4-BE49-F238E27FC236}">
                <a16:creationId xmlns:a16="http://schemas.microsoft.com/office/drawing/2014/main" id="{8F4794B7-DDFB-030F-D05D-944A2F1F1C75}"/>
              </a:ext>
            </a:extLst>
          </p:cNvPr>
          <p:cNvSpPr txBox="1"/>
          <p:nvPr/>
        </p:nvSpPr>
        <p:spPr>
          <a:xfrm>
            <a:off x="3370007" y="2256502"/>
            <a:ext cx="2403986" cy="430887"/>
          </a:xfrm>
          <a:prstGeom prst="rect">
            <a:avLst/>
          </a:prstGeom>
          <a:noFill/>
        </p:spPr>
        <p:txBody>
          <a:bodyPr wrap="square" rtlCol="0">
            <a:spAutoFit/>
          </a:bodyPr>
          <a:lstStyle/>
          <a:p>
            <a:r>
              <a:rPr lang="en-US" sz="2200" b="1" dirty="0">
                <a:latin typeface="Helvetica Neue" panose="020B0604020202020204" charset="0"/>
              </a:rPr>
              <a:t>Ionized (free) </a:t>
            </a:r>
          </a:p>
        </p:txBody>
      </p:sp>
      <p:cxnSp>
        <p:nvCxnSpPr>
          <p:cNvPr id="9" name="Straight Connector 8">
            <a:extLst>
              <a:ext uri="{FF2B5EF4-FFF2-40B4-BE49-F238E27FC236}">
                <a16:creationId xmlns:a16="http://schemas.microsoft.com/office/drawing/2014/main" id="{382CE268-86C3-BDD5-14F0-0420C0E4A9AE}"/>
              </a:ext>
            </a:extLst>
          </p:cNvPr>
          <p:cNvCxnSpPr/>
          <p:nvPr/>
        </p:nvCxnSpPr>
        <p:spPr>
          <a:xfrm>
            <a:off x="3111909" y="678426"/>
            <a:ext cx="0" cy="2197509"/>
          </a:xfrm>
          <a:prstGeom prst="line">
            <a:avLst/>
          </a:prstGeom>
          <a:ln w="28575"/>
        </p:spPr>
        <p:style>
          <a:lnRef idx="2">
            <a:schemeClr val="dk1"/>
          </a:lnRef>
          <a:fillRef idx="0">
            <a:schemeClr val="dk1"/>
          </a:fillRef>
          <a:effectRef idx="1">
            <a:schemeClr val="dk1"/>
          </a:effectRef>
          <a:fontRef idx="minor">
            <a:schemeClr val="tx1"/>
          </a:fontRef>
        </p:style>
      </p:cxnSp>
      <p:sp>
        <p:nvSpPr>
          <p:cNvPr id="10" name="Oval 9">
            <a:extLst>
              <a:ext uri="{FF2B5EF4-FFF2-40B4-BE49-F238E27FC236}">
                <a16:creationId xmlns:a16="http://schemas.microsoft.com/office/drawing/2014/main" id="{F75AFD5F-146D-013F-A71E-22153EB8E011}"/>
              </a:ext>
            </a:extLst>
          </p:cNvPr>
          <p:cNvSpPr/>
          <p:nvPr/>
        </p:nvSpPr>
        <p:spPr>
          <a:xfrm>
            <a:off x="998115" y="678423"/>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9FB1773-420F-3944-CD70-20ED36E56B17}"/>
              </a:ext>
            </a:extLst>
          </p:cNvPr>
          <p:cNvSpPr/>
          <p:nvPr/>
        </p:nvSpPr>
        <p:spPr>
          <a:xfrm>
            <a:off x="1561737" y="678423"/>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6A49EF4-F0E6-CC89-25CC-06F9930FFB07}"/>
              </a:ext>
            </a:extLst>
          </p:cNvPr>
          <p:cNvSpPr/>
          <p:nvPr/>
        </p:nvSpPr>
        <p:spPr>
          <a:xfrm>
            <a:off x="2125359" y="687389"/>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FA36171-5CAF-4424-9A49-1EA7F49C5C9B}"/>
              </a:ext>
            </a:extLst>
          </p:cNvPr>
          <p:cNvSpPr/>
          <p:nvPr/>
        </p:nvSpPr>
        <p:spPr>
          <a:xfrm>
            <a:off x="3597438" y="678425"/>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D270412-9D8A-CCAB-C918-AE137238EAEF}"/>
              </a:ext>
            </a:extLst>
          </p:cNvPr>
          <p:cNvSpPr/>
          <p:nvPr/>
        </p:nvSpPr>
        <p:spPr>
          <a:xfrm>
            <a:off x="4141113" y="678424"/>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3FED59B-59CC-B950-A312-60797BBD527F}"/>
              </a:ext>
            </a:extLst>
          </p:cNvPr>
          <p:cNvSpPr/>
          <p:nvPr/>
        </p:nvSpPr>
        <p:spPr>
          <a:xfrm>
            <a:off x="4704735" y="678423"/>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6279537-E709-8838-08F3-A478DF543B7C}"/>
              </a:ext>
            </a:extLst>
          </p:cNvPr>
          <p:cNvSpPr/>
          <p:nvPr/>
        </p:nvSpPr>
        <p:spPr>
          <a:xfrm>
            <a:off x="2556246" y="3362630"/>
            <a:ext cx="5375787" cy="2684207"/>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8BCA55D-11AA-302A-FBF8-55833AC3FCA2}"/>
              </a:ext>
            </a:extLst>
          </p:cNvPr>
          <p:cNvSpPr txBox="1"/>
          <p:nvPr/>
        </p:nvSpPr>
        <p:spPr>
          <a:xfrm>
            <a:off x="2733228" y="5206178"/>
            <a:ext cx="2403986" cy="430887"/>
          </a:xfrm>
          <a:prstGeom prst="rect">
            <a:avLst/>
          </a:prstGeom>
          <a:noFill/>
        </p:spPr>
        <p:txBody>
          <a:bodyPr wrap="square" rtlCol="0">
            <a:spAutoFit/>
          </a:bodyPr>
          <a:lstStyle/>
          <a:p>
            <a:r>
              <a:rPr lang="en-US" sz="2200" b="1" dirty="0">
                <a:latin typeface="Helvetica Neue" panose="020B0604020202020204" charset="0"/>
              </a:rPr>
              <a:t>Albumin bound</a:t>
            </a:r>
          </a:p>
        </p:txBody>
      </p:sp>
      <p:sp>
        <p:nvSpPr>
          <p:cNvPr id="28" name="TextBox 27">
            <a:extLst>
              <a:ext uri="{FF2B5EF4-FFF2-40B4-BE49-F238E27FC236}">
                <a16:creationId xmlns:a16="http://schemas.microsoft.com/office/drawing/2014/main" id="{10ABAA83-B36D-0228-A910-151CE0164219}"/>
              </a:ext>
            </a:extLst>
          </p:cNvPr>
          <p:cNvSpPr txBox="1"/>
          <p:nvPr/>
        </p:nvSpPr>
        <p:spPr>
          <a:xfrm>
            <a:off x="5528047" y="5191429"/>
            <a:ext cx="2403986" cy="430887"/>
          </a:xfrm>
          <a:prstGeom prst="rect">
            <a:avLst/>
          </a:prstGeom>
          <a:noFill/>
        </p:spPr>
        <p:txBody>
          <a:bodyPr wrap="square" rtlCol="0">
            <a:spAutoFit/>
          </a:bodyPr>
          <a:lstStyle/>
          <a:p>
            <a:r>
              <a:rPr lang="en-US" sz="2200" b="1" dirty="0">
                <a:latin typeface="Helvetica Neue" panose="020B0604020202020204" charset="0"/>
              </a:rPr>
              <a:t>Ionized (free) </a:t>
            </a:r>
          </a:p>
        </p:txBody>
      </p:sp>
      <p:cxnSp>
        <p:nvCxnSpPr>
          <p:cNvPr id="29" name="Straight Connector 28">
            <a:extLst>
              <a:ext uri="{FF2B5EF4-FFF2-40B4-BE49-F238E27FC236}">
                <a16:creationId xmlns:a16="http://schemas.microsoft.com/office/drawing/2014/main" id="{C03F29EE-52D5-E9F5-E7C2-F9E3AAD61E5F}"/>
              </a:ext>
            </a:extLst>
          </p:cNvPr>
          <p:cNvCxnSpPr/>
          <p:nvPr/>
        </p:nvCxnSpPr>
        <p:spPr>
          <a:xfrm>
            <a:off x="5269949" y="3613353"/>
            <a:ext cx="0" cy="2197509"/>
          </a:xfrm>
          <a:prstGeom prst="line">
            <a:avLst/>
          </a:prstGeom>
          <a:ln w="28575"/>
        </p:spPr>
        <p:style>
          <a:lnRef idx="2">
            <a:schemeClr val="dk1"/>
          </a:lnRef>
          <a:fillRef idx="0">
            <a:schemeClr val="dk1"/>
          </a:fillRef>
          <a:effectRef idx="1">
            <a:schemeClr val="dk1"/>
          </a:effectRef>
          <a:fontRef idx="minor">
            <a:schemeClr val="tx1"/>
          </a:fontRef>
        </p:style>
      </p:cxnSp>
      <p:sp>
        <p:nvSpPr>
          <p:cNvPr id="32" name="Oval 31">
            <a:extLst>
              <a:ext uri="{FF2B5EF4-FFF2-40B4-BE49-F238E27FC236}">
                <a16:creationId xmlns:a16="http://schemas.microsoft.com/office/drawing/2014/main" id="{08B85D81-B782-396C-647C-3F83C2FAF460}"/>
              </a:ext>
            </a:extLst>
          </p:cNvPr>
          <p:cNvSpPr/>
          <p:nvPr/>
        </p:nvSpPr>
        <p:spPr>
          <a:xfrm>
            <a:off x="4283399" y="3622316"/>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486E629-9D6A-95BC-623C-8499C8A133CA}"/>
              </a:ext>
            </a:extLst>
          </p:cNvPr>
          <p:cNvSpPr/>
          <p:nvPr/>
        </p:nvSpPr>
        <p:spPr>
          <a:xfrm>
            <a:off x="5755478" y="3613352"/>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046BB74-1AC8-58BC-93BD-3672EFABD284}"/>
              </a:ext>
            </a:extLst>
          </p:cNvPr>
          <p:cNvSpPr/>
          <p:nvPr/>
        </p:nvSpPr>
        <p:spPr>
          <a:xfrm>
            <a:off x="6299153" y="3613351"/>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E5DBA6B-0C70-B65B-C3E5-25473DA0A98C}"/>
              </a:ext>
            </a:extLst>
          </p:cNvPr>
          <p:cNvSpPr/>
          <p:nvPr/>
        </p:nvSpPr>
        <p:spPr>
          <a:xfrm>
            <a:off x="6862775" y="3613350"/>
            <a:ext cx="430887" cy="43088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05E3A61-0DEA-065D-9F28-58F069A5C9AD}"/>
              </a:ext>
            </a:extLst>
          </p:cNvPr>
          <p:cNvSpPr txBox="1"/>
          <p:nvPr/>
        </p:nvSpPr>
        <p:spPr>
          <a:xfrm>
            <a:off x="3207192" y="4781657"/>
            <a:ext cx="2403986" cy="430887"/>
          </a:xfrm>
          <a:prstGeom prst="rect">
            <a:avLst/>
          </a:prstGeom>
          <a:noFill/>
        </p:spPr>
        <p:txBody>
          <a:bodyPr wrap="square" rtlCol="0">
            <a:spAutoFit/>
          </a:bodyPr>
          <a:lstStyle/>
          <a:p>
            <a:r>
              <a:rPr lang="en-US" sz="2200" dirty="0">
                <a:latin typeface="Helvetica Neue" panose="020B0604020202020204" charset="0"/>
              </a:rPr>
              <a:t>Low albumin</a:t>
            </a:r>
          </a:p>
        </p:txBody>
      </p:sp>
      <p:sp>
        <p:nvSpPr>
          <p:cNvPr id="39" name="TextBox 38">
            <a:extLst>
              <a:ext uri="{FF2B5EF4-FFF2-40B4-BE49-F238E27FC236}">
                <a16:creationId xmlns:a16="http://schemas.microsoft.com/office/drawing/2014/main" id="{655DAF3A-73D5-ECDB-8E21-4861FF7A248F}"/>
              </a:ext>
            </a:extLst>
          </p:cNvPr>
          <p:cNvSpPr txBox="1"/>
          <p:nvPr/>
        </p:nvSpPr>
        <p:spPr>
          <a:xfrm>
            <a:off x="5836170" y="4793220"/>
            <a:ext cx="2403986" cy="430887"/>
          </a:xfrm>
          <a:prstGeom prst="rect">
            <a:avLst/>
          </a:prstGeom>
          <a:noFill/>
        </p:spPr>
        <p:txBody>
          <a:bodyPr wrap="square" rtlCol="0">
            <a:spAutoFit/>
          </a:bodyPr>
          <a:lstStyle/>
          <a:p>
            <a:r>
              <a:rPr lang="en-US" sz="2200" dirty="0">
                <a:latin typeface="Helvetica Neue" panose="020B0604020202020204" charset="0"/>
              </a:rPr>
              <a:t>Normal </a:t>
            </a:r>
            <a:r>
              <a:rPr lang="en-US" sz="2200" dirty="0" err="1">
                <a:latin typeface="Helvetica Neue" panose="020B0604020202020204" charset="0"/>
              </a:rPr>
              <a:t>iCa</a:t>
            </a:r>
            <a:endParaRPr lang="en-US" sz="2200" dirty="0">
              <a:latin typeface="Helvetica Neue" panose="020B0604020202020204" charset="0"/>
            </a:endParaRPr>
          </a:p>
        </p:txBody>
      </p:sp>
      <p:sp>
        <p:nvSpPr>
          <p:cNvPr id="41" name="TextBox 40">
            <a:extLst>
              <a:ext uri="{FF2B5EF4-FFF2-40B4-BE49-F238E27FC236}">
                <a16:creationId xmlns:a16="http://schemas.microsoft.com/office/drawing/2014/main" id="{EB2681E4-F7BC-996B-D102-55A06D048E82}"/>
              </a:ext>
            </a:extLst>
          </p:cNvPr>
          <p:cNvSpPr txBox="1"/>
          <p:nvPr/>
        </p:nvSpPr>
        <p:spPr>
          <a:xfrm>
            <a:off x="657391" y="1861479"/>
            <a:ext cx="2403986" cy="430887"/>
          </a:xfrm>
          <a:prstGeom prst="rect">
            <a:avLst/>
          </a:prstGeom>
          <a:noFill/>
        </p:spPr>
        <p:txBody>
          <a:bodyPr wrap="square" rtlCol="0">
            <a:spAutoFit/>
          </a:bodyPr>
          <a:lstStyle/>
          <a:p>
            <a:r>
              <a:rPr lang="en-US" sz="2200" dirty="0">
                <a:latin typeface="Helvetica Neue" panose="020B0604020202020204" charset="0"/>
              </a:rPr>
              <a:t>Normal albumin</a:t>
            </a:r>
          </a:p>
        </p:txBody>
      </p:sp>
      <p:sp>
        <p:nvSpPr>
          <p:cNvPr id="43" name="TextBox 42">
            <a:extLst>
              <a:ext uri="{FF2B5EF4-FFF2-40B4-BE49-F238E27FC236}">
                <a16:creationId xmlns:a16="http://schemas.microsoft.com/office/drawing/2014/main" id="{20AABAB9-4F29-5C0E-0DF5-156FA5E2B2B3}"/>
              </a:ext>
            </a:extLst>
          </p:cNvPr>
          <p:cNvSpPr txBox="1"/>
          <p:nvPr/>
        </p:nvSpPr>
        <p:spPr>
          <a:xfrm>
            <a:off x="3617040" y="1850921"/>
            <a:ext cx="2403986" cy="430887"/>
          </a:xfrm>
          <a:prstGeom prst="rect">
            <a:avLst/>
          </a:prstGeom>
          <a:noFill/>
        </p:spPr>
        <p:txBody>
          <a:bodyPr wrap="square" rtlCol="0">
            <a:spAutoFit/>
          </a:bodyPr>
          <a:lstStyle/>
          <a:p>
            <a:r>
              <a:rPr lang="en-US" sz="2200" dirty="0">
                <a:latin typeface="Helvetica Neue" panose="020B0604020202020204" charset="0"/>
              </a:rPr>
              <a:t>Normal </a:t>
            </a:r>
            <a:r>
              <a:rPr lang="en-US" sz="2200" dirty="0" err="1">
                <a:latin typeface="Helvetica Neue" panose="020B0604020202020204" charset="0"/>
              </a:rPr>
              <a:t>iCa</a:t>
            </a:r>
            <a:endParaRPr lang="en-US" sz="2200" dirty="0">
              <a:latin typeface="Helvetica Neue" panose="020B0604020202020204" charset="0"/>
            </a:endParaRPr>
          </a:p>
        </p:txBody>
      </p:sp>
      <p:sp>
        <p:nvSpPr>
          <p:cNvPr id="45" name="TextBox 44">
            <a:extLst>
              <a:ext uri="{FF2B5EF4-FFF2-40B4-BE49-F238E27FC236}">
                <a16:creationId xmlns:a16="http://schemas.microsoft.com/office/drawing/2014/main" id="{E0AD56EF-523C-FB8D-EA52-FAA3E9B20CC1}"/>
              </a:ext>
            </a:extLst>
          </p:cNvPr>
          <p:cNvSpPr txBox="1"/>
          <p:nvPr/>
        </p:nvSpPr>
        <p:spPr>
          <a:xfrm>
            <a:off x="3666486" y="6061585"/>
            <a:ext cx="4608870" cy="430887"/>
          </a:xfrm>
          <a:prstGeom prst="rect">
            <a:avLst/>
          </a:prstGeom>
          <a:noFill/>
        </p:spPr>
        <p:txBody>
          <a:bodyPr wrap="square" rtlCol="0">
            <a:spAutoFit/>
          </a:bodyPr>
          <a:lstStyle/>
          <a:p>
            <a:r>
              <a:rPr lang="en-US" sz="2200" dirty="0">
                <a:latin typeface="Helvetica Neue" panose="020B0604020202020204" charset="0"/>
              </a:rPr>
              <a:t>Total calcium appears falsely low</a:t>
            </a:r>
          </a:p>
        </p:txBody>
      </p:sp>
    </p:spTree>
    <p:extLst>
      <p:ext uri="{BB962C8B-B14F-4D97-AF65-F5344CB8AC3E}">
        <p14:creationId xmlns:p14="http://schemas.microsoft.com/office/powerpoint/2010/main" val="2317669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C2763E-9B3B-F5FB-5F7E-284D38CF0A19}"/>
              </a:ext>
            </a:extLst>
          </p:cNvPr>
          <p:cNvSpPr>
            <a:spLocks noGrp="1"/>
          </p:cNvSpPr>
          <p:nvPr>
            <p:ph type="sldNum" sz="quarter" idx="12"/>
          </p:nvPr>
        </p:nvSpPr>
        <p:spPr/>
        <p:txBody>
          <a:bodyPr/>
          <a:lstStyle/>
          <a:p>
            <a:fld id="{1E422F9A-6EE9-44F0-9560-5F04B1DEB4A3}" type="slidenum">
              <a:rPr lang="en-US" smtClean="0"/>
              <a:t>28</a:t>
            </a:fld>
            <a:endParaRPr lang="en-US"/>
          </a:p>
        </p:txBody>
      </p:sp>
      <p:sp>
        <p:nvSpPr>
          <p:cNvPr id="6" name="TextBox 5">
            <a:extLst>
              <a:ext uri="{FF2B5EF4-FFF2-40B4-BE49-F238E27FC236}">
                <a16:creationId xmlns:a16="http://schemas.microsoft.com/office/drawing/2014/main" id="{94492E62-26BF-5D55-D3F9-49CAB633C782}"/>
              </a:ext>
            </a:extLst>
          </p:cNvPr>
          <p:cNvSpPr txBox="1"/>
          <p:nvPr/>
        </p:nvSpPr>
        <p:spPr>
          <a:xfrm>
            <a:off x="1002117" y="5046225"/>
            <a:ext cx="7513233" cy="1015663"/>
          </a:xfrm>
          <a:prstGeom prst="rect">
            <a:avLst/>
          </a:prstGeom>
          <a:noFill/>
        </p:spPr>
        <p:txBody>
          <a:bodyPr wrap="square">
            <a:spAutoFit/>
          </a:bodyPr>
          <a:lstStyle/>
          <a:p>
            <a:r>
              <a:rPr lang="en-US" sz="3000" b="1" dirty="0">
                <a:latin typeface="Helvetica" panose="020B0604020202020204" pitchFamily="34" charset="0"/>
                <a:cs typeface="Helvetica" panose="020B0604020202020204" pitchFamily="34" charset="0"/>
              </a:rPr>
              <a:t>Example: </a:t>
            </a:r>
            <a:r>
              <a:rPr lang="en-US" sz="3000" dirty="0">
                <a:latin typeface="Helvetica" panose="020B0604020202020204" pitchFamily="34" charset="0"/>
                <a:cs typeface="Helvetica" panose="020B0604020202020204" pitchFamily="34" charset="0"/>
              </a:rPr>
              <a:t>If Ca is 7.2 (low), and albumin is 2.4 (low), then true calcium will be what? </a:t>
            </a:r>
          </a:p>
        </p:txBody>
      </p:sp>
      <p:sp>
        <p:nvSpPr>
          <p:cNvPr id="2" name="TextBox 1">
            <a:extLst>
              <a:ext uri="{FF2B5EF4-FFF2-40B4-BE49-F238E27FC236}">
                <a16:creationId xmlns:a16="http://schemas.microsoft.com/office/drawing/2014/main" id="{FD8EAA5B-C05C-0762-6210-599FF8CD64E2}"/>
              </a:ext>
            </a:extLst>
          </p:cNvPr>
          <p:cNvSpPr txBox="1"/>
          <p:nvPr/>
        </p:nvSpPr>
        <p:spPr>
          <a:xfrm>
            <a:off x="548065" y="623834"/>
            <a:ext cx="8421335" cy="4832092"/>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Total serum calcium = Ionized + Albumin bound</a:t>
            </a:r>
          </a:p>
          <a:p>
            <a:r>
              <a:rPr lang="en-US" sz="2800" dirty="0">
                <a:latin typeface="Helvetica" panose="020B0604020202020204" pitchFamily="34" charset="0"/>
                <a:cs typeface="Helvetica" panose="020B0604020202020204" pitchFamily="34" charset="0"/>
              </a:rPr>
              <a:t>If albumin is low, total calcium will appear low.</a:t>
            </a:r>
          </a:p>
          <a:p>
            <a:endParaRPr lang="en-US" sz="2800"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The ionized serum calcium level will usually be normal. Quick correction of calcium level for albumin is (Ca + 4) ─ albumin</a:t>
            </a:r>
          </a:p>
          <a:p>
            <a:pPr marL="45720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You can calculate corrected calcium level, or order an ionized level. </a:t>
            </a:r>
          </a:p>
          <a:p>
            <a:endParaRPr lang="en-US" sz="2800" dirty="0">
              <a:latin typeface="Helvetica" panose="020B0604020202020204" pitchFamily="34" charset="0"/>
              <a:cs typeface="Helvetica" panose="020B0604020202020204" pitchFamily="34" charset="0"/>
            </a:endParaRPr>
          </a:p>
          <a:p>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77331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DD52-5EC5-56F7-DA27-DDC80DA3A19F}"/>
              </a:ext>
            </a:extLst>
          </p:cNvPr>
          <p:cNvSpPr>
            <a:spLocks noGrp="1"/>
          </p:cNvSpPr>
          <p:nvPr>
            <p:ph type="title"/>
          </p:nvPr>
        </p:nvSpPr>
        <p:spPr/>
        <p:txBody>
          <a:bodyPr/>
          <a:lstStyle/>
          <a:p>
            <a:pPr algn="ctr"/>
            <a:r>
              <a:rPr lang="en-US" dirty="0"/>
              <a:t>Calcium Disorders:</a:t>
            </a:r>
            <a:br>
              <a:rPr lang="en-US" dirty="0"/>
            </a:br>
            <a:r>
              <a:rPr lang="en-US" dirty="0"/>
              <a:t>Symptomatic or Asymptomatic? </a:t>
            </a:r>
          </a:p>
        </p:txBody>
      </p:sp>
      <p:sp>
        <p:nvSpPr>
          <p:cNvPr id="3" name="Content Placeholder 2">
            <a:extLst>
              <a:ext uri="{FF2B5EF4-FFF2-40B4-BE49-F238E27FC236}">
                <a16:creationId xmlns:a16="http://schemas.microsoft.com/office/drawing/2014/main" id="{CF5000CF-257B-B0A7-82F1-4D9895003316}"/>
              </a:ext>
            </a:extLst>
          </p:cNvPr>
          <p:cNvSpPr>
            <a:spLocks noGrp="1"/>
          </p:cNvSpPr>
          <p:nvPr>
            <p:ph idx="1"/>
          </p:nvPr>
        </p:nvSpPr>
        <p:spPr>
          <a:xfrm>
            <a:off x="482412" y="1847851"/>
            <a:ext cx="8179175" cy="4351338"/>
          </a:xfrm>
        </p:spPr>
        <p:txBody>
          <a:bodyPr>
            <a:normAutofit/>
          </a:bodyPr>
          <a:lstStyle/>
          <a:p>
            <a:pPr marL="0" indent="0">
              <a:buNone/>
            </a:pPr>
            <a:r>
              <a:rPr lang="en-US" sz="3000" dirty="0">
                <a:latin typeface="Helvetica" panose="020B0604020202020204" pitchFamily="34" charset="0"/>
                <a:cs typeface="Helvetica" panose="020B0604020202020204" pitchFamily="34" charset="0"/>
              </a:rPr>
              <a:t>Multiple factors affect whether symptoms develop from a low or high calcium level: </a:t>
            </a:r>
          </a:p>
          <a:p>
            <a:pPr marL="0" indent="0">
              <a:buNone/>
            </a:pPr>
            <a:endParaRPr lang="en-US" sz="3000" dirty="0">
              <a:latin typeface="Helvetica" panose="020B0604020202020204" pitchFamily="34" charset="0"/>
              <a:cs typeface="Helvetica" panose="020B0604020202020204" pitchFamily="34" charset="0"/>
            </a:endParaRPr>
          </a:p>
          <a:p>
            <a:pPr marL="514350" indent="-514350">
              <a:buAutoNum type="arabicPeriod"/>
            </a:pPr>
            <a:r>
              <a:rPr lang="en-US" sz="3000" dirty="0">
                <a:latin typeface="Helvetica" panose="020B0604020202020204" pitchFamily="34" charset="0"/>
                <a:cs typeface="Helvetica" panose="020B0604020202020204" pitchFamily="34" charset="0"/>
              </a:rPr>
              <a:t>Severity of derangement </a:t>
            </a:r>
            <a:r>
              <a:rPr lang="en-US" sz="3000" i="1" dirty="0">
                <a:latin typeface="Helvetica" panose="020B0604020202020204" pitchFamily="34" charset="0"/>
                <a:cs typeface="Helvetica" panose="020B0604020202020204" pitchFamily="34" charset="0"/>
              </a:rPr>
              <a:t>(farther from normal, more likely to develop symptoms)</a:t>
            </a:r>
            <a:endParaRPr lang="en-US" sz="3000" dirty="0">
              <a:latin typeface="Helvetica" panose="020B0604020202020204" pitchFamily="34" charset="0"/>
              <a:cs typeface="Helvetica" panose="020B0604020202020204" pitchFamily="34" charset="0"/>
            </a:endParaRPr>
          </a:p>
          <a:p>
            <a:pPr marL="514350" indent="-514350">
              <a:buAutoNum type="arabicPeriod"/>
            </a:pPr>
            <a:r>
              <a:rPr lang="en-US" sz="3000" dirty="0">
                <a:latin typeface="Helvetica" panose="020B0604020202020204" pitchFamily="34" charset="0"/>
                <a:cs typeface="Helvetica" panose="020B0604020202020204" pitchFamily="34" charset="0"/>
              </a:rPr>
              <a:t>Speed at which calcium derangement develops (</a:t>
            </a:r>
            <a:r>
              <a:rPr lang="en-US" sz="3000" i="1" dirty="0">
                <a:latin typeface="Helvetica" panose="020B0604020202020204" pitchFamily="34" charset="0"/>
                <a:cs typeface="Helvetica" panose="020B0604020202020204" pitchFamily="34" charset="0"/>
              </a:rPr>
              <a:t>slower, more likely asymptomatic)</a:t>
            </a:r>
            <a:endParaRPr lang="en-US" sz="3000" dirty="0">
              <a:latin typeface="Helvetica" panose="020B0604020202020204" pitchFamily="34" charset="0"/>
              <a:cs typeface="Helvetica" panose="020B0604020202020204" pitchFamily="34" charset="0"/>
            </a:endParaRPr>
          </a:p>
          <a:p>
            <a:pPr marL="514350" indent="-514350">
              <a:buAutoNum type="arabicPeriod"/>
            </a:pPr>
            <a:r>
              <a:rPr lang="en-US" sz="3000" dirty="0">
                <a:latin typeface="Helvetica" panose="020B0604020202020204" pitchFamily="34" charset="0"/>
                <a:cs typeface="Helvetica" panose="020B0604020202020204" pitchFamily="34" charset="0"/>
              </a:rPr>
              <a:t>Age and comorbidities of patient </a:t>
            </a:r>
          </a:p>
        </p:txBody>
      </p:sp>
      <p:sp>
        <p:nvSpPr>
          <p:cNvPr id="4" name="Slide Number Placeholder 3">
            <a:extLst>
              <a:ext uri="{FF2B5EF4-FFF2-40B4-BE49-F238E27FC236}">
                <a16:creationId xmlns:a16="http://schemas.microsoft.com/office/drawing/2014/main" id="{6F21D014-8374-AEC7-5DFC-407F192EFBC9}"/>
              </a:ext>
            </a:extLst>
          </p:cNvPr>
          <p:cNvSpPr>
            <a:spLocks noGrp="1"/>
          </p:cNvSpPr>
          <p:nvPr>
            <p:ph type="sldNum" sz="quarter" idx="12"/>
          </p:nvPr>
        </p:nvSpPr>
        <p:spPr/>
        <p:txBody>
          <a:bodyPr/>
          <a:lstStyle/>
          <a:p>
            <a:fld id="{1E422F9A-6EE9-44F0-9560-5F04B1DEB4A3}" type="slidenum">
              <a:rPr lang="en-US" smtClean="0"/>
              <a:t>29</a:t>
            </a:fld>
            <a:endParaRPr lang="en-US"/>
          </a:p>
        </p:txBody>
      </p:sp>
    </p:spTree>
    <p:extLst>
      <p:ext uri="{BB962C8B-B14F-4D97-AF65-F5344CB8AC3E}">
        <p14:creationId xmlns:p14="http://schemas.microsoft.com/office/powerpoint/2010/main" val="1994270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F21081-24AA-5EA4-1D7F-6C446EE92E81}"/>
              </a:ext>
            </a:extLst>
          </p:cNvPr>
          <p:cNvSpPr>
            <a:spLocks noGrp="1"/>
          </p:cNvSpPr>
          <p:nvPr>
            <p:ph type="sldNum" sz="quarter" idx="12"/>
          </p:nvPr>
        </p:nvSpPr>
        <p:spPr/>
        <p:txBody>
          <a:bodyPr/>
          <a:lstStyle/>
          <a:p>
            <a:fld id="{1E422F9A-6EE9-44F0-9560-5F04B1DEB4A3}" type="slidenum">
              <a:rPr lang="en-US" smtClean="0"/>
              <a:t>30</a:t>
            </a:fld>
            <a:endParaRPr lang="en-US"/>
          </a:p>
        </p:txBody>
      </p:sp>
      <p:pic>
        <p:nvPicPr>
          <p:cNvPr id="14" name="Picture 13" descr="Hypercalcemia">
            <a:extLst>
              <a:ext uri="{FF2B5EF4-FFF2-40B4-BE49-F238E27FC236}">
                <a16:creationId xmlns:a16="http://schemas.microsoft.com/office/drawing/2014/main" id="{846B1D03-B026-4E74-478B-85EA859A9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702128"/>
            <a:ext cx="7271657" cy="5453743"/>
          </a:xfrm>
          <a:prstGeom prst="rect">
            <a:avLst/>
          </a:prstGeom>
        </p:spPr>
      </p:pic>
    </p:spTree>
    <p:extLst>
      <p:ext uri="{BB962C8B-B14F-4D97-AF65-F5344CB8AC3E}">
        <p14:creationId xmlns:p14="http://schemas.microsoft.com/office/powerpoint/2010/main" val="2244740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66FEC-2975-E67B-B4A5-1A73B8BC4108}"/>
              </a:ext>
            </a:extLst>
          </p:cNvPr>
          <p:cNvSpPr>
            <a:spLocks noGrp="1"/>
          </p:cNvSpPr>
          <p:nvPr>
            <p:ph type="title"/>
          </p:nvPr>
        </p:nvSpPr>
        <p:spPr>
          <a:xfrm>
            <a:off x="520640" y="54995"/>
            <a:ext cx="8244416" cy="1325563"/>
          </a:xfrm>
        </p:spPr>
        <p:txBody>
          <a:bodyPr>
            <a:normAutofit/>
          </a:bodyPr>
          <a:lstStyle/>
          <a:p>
            <a:r>
              <a:rPr lang="en-US" sz="4000" dirty="0">
                <a:latin typeface="Helvetica Neue" panose="020B0604020202020204" charset="0"/>
              </a:rPr>
              <a:t>Hypercalcemia Signs &amp; Symptoms</a:t>
            </a:r>
          </a:p>
        </p:txBody>
      </p:sp>
      <p:sp>
        <p:nvSpPr>
          <p:cNvPr id="3" name="Content Placeholder 2">
            <a:extLst>
              <a:ext uri="{FF2B5EF4-FFF2-40B4-BE49-F238E27FC236}">
                <a16:creationId xmlns:a16="http://schemas.microsoft.com/office/drawing/2014/main" id="{F6E4E7E1-F489-2415-EC26-E8B653B9B2F5}"/>
              </a:ext>
            </a:extLst>
          </p:cNvPr>
          <p:cNvSpPr>
            <a:spLocks noGrp="1"/>
          </p:cNvSpPr>
          <p:nvPr>
            <p:ph idx="1"/>
          </p:nvPr>
        </p:nvSpPr>
        <p:spPr>
          <a:xfrm>
            <a:off x="436658" y="1004061"/>
            <a:ext cx="8412380" cy="5352290"/>
          </a:xfrm>
        </p:spPr>
        <p:txBody>
          <a:bodyPr>
            <a:normAutofit fontScale="92500" lnSpcReduction="10000"/>
          </a:bodyPr>
          <a:lstStyle/>
          <a:p>
            <a:pPr marL="0" indent="0">
              <a:buNone/>
            </a:pPr>
            <a:endParaRPr lang="en-US"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General: </a:t>
            </a:r>
            <a:r>
              <a:rPr lang="en-US" dirty="0">
                <a:latin typeface="Helvetica" panose="020B0604020202020204" pitchFamily="34" charset="0"/>
                <a:cs typeface="Helvetica" panose="020B0604020202020204" pitchFamily="34" charset="0"/>
              </a:rPr>
              <a:t>Muscle weakness and easy fatigability because normal nerve stimulation will no longer cause movement (</a:t>
            </a:r>
            <a:r>
              <a:rPr lang="en-US" i="1" dirty="0">
                <a:latin typeface="Helvetica" panose="020B0604020202020204" pitchFamily="34" charset="0"/>
                <a:cs typeface="Helvetica" panose="020B0604020202020204" pitchFamily="34" charset="0"/>
              </a:rPr>
              <a:t>hypercalcemia – less excitable)</a:t>
            </a:r>
            <a:endParaRPr lang="en-US" dirty="0">
              <a:latin typeface="Helvetica" panose="020B0604020202020204" pitchFamily="34" charset="0"/>
              <a:cs typeface="Helvetica" panose="020B0604020202020204" pitchFamily="34" charset="0"/>
            </a:endParaRPr>
          </a:p>
          <a:p>
            <a:pPr marL="0" indent="0">
              <a:buNone/>
            </a:pPr>
            <a:endParaRPr lang="en-US"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GI: </a:t>
            </a:r>
            <a:r>
              <a:rPr lang="en-US" dirty="0">
                <a:latin typeface="Helvetica" panose="020B0604020202020204" pitchFamily="34" charset="0"/>
                <a:cs typeface="Helvetica" panose="020B0604020202020204" pitchFamily="34" charset="0"/>
              </a:rPr>
              <a:t>Smooth muscle hypoactivity in the GI tract causes constipation, ileus, nausea/vomiting. Can also cause GI ulcers, or even pancreatitis. </a:t>
            </a:r>
          </a:p>
          <a:p>
            <a:endParaRPr lang="en-US" b="1" i="1"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Renal: </a:t>
            </a:r>
            <a:r>
              <a:rPr lang="en-US" dirty="0">
                <a:latin typeface="Helvetica" panose="020B0604020202020204" pitchFamily="34" charset="0"/>
                <a:cs typeface="Helvetica" panose="020B0604020202020204" pitchFamily="34" charset="0"/>
              </a:rPr>
              <a:t>include volume depletion and AKI.</a:t>
            </a:r>
          </a:p>
          <a:p>
            <a:pPr marL="0" indent="0">
              <a:buNone/>
            </a:pPr>
            <a:endParaRPr lang="en-US" dirty="0">
              <a:latin typeface="Helvetica" panose="020B0604020202020204" pitchFamily="34" charset="0"/>
              <a:cs typeface="Helvetica" panose="020B0604020202020204" pitchFamily="34" charset="0"/>
            </a:endParaRPr>
          </a:p>
          <a:p>
            <a:pPr>
              <a:tabLst>
                <a:tab pos="1600200" algn="l"/>
              </a:tabLst>
            </a:pPr>
            <a:r>
              <a:rPr lang="en-US" b="1" dirty="0" err="1">
                <a:latin typeface="Helvetica" panose="020B0604020202020204" pitchFamily="34" charset="0"/>
                <a:cs typeface="Helvetica" panose="020B0604020202020204" pitchFamily="34" charset="0"/>
              </a:rPr>
              <a:t>Neuropsych</a:t>
            </a:r>
            <a:r>
              <a:rPr lang="en-US" b="1" dirty="0">
                <a:latin typeface="Helvetica" panose="020B0604020202020204" pitchFamily="34" charset="0"/>
                <a:cs typeface="Helvetica" panose="020B0604020202020204" pitchFamily="34" charset="0"/>
              </a:rPr>
              <a:t>: </a:t>
            </a:r>
            <a:r>
              <a:rPr lang="en-US" dirty="0">
                <a:latin typeface="Helvetica" panose="020B0604020202020204" pitchFamily="34" charset="0"/>
                <a:cs typeface="Helvetica" panose="020B0604020202020204" pitchFamily="34" charset="0"/>
              </a:rPr>
              <a:t>Mental status changes, mild depression, poor memory/concentration.</a:t>
            </a:r>
          </a:p>
        </p:txBody>
      </p:sp>
      <p:sp>
        <p:nvSpPr>
          <p:cNvPr id="4" name="Slide Number Placeholder 3">
            <a:extLst>
              <a:ext uri="{FF2B5EF4-FFF2-40B4-BE49-F238E27FC236}">
                <a16:creationId xmlns:a16="http://schemas.microsoft.com/office/drawing/2014/main" id="{B4ED9B55-F91A-385C-4BB6-BCA172DB391F}"/>
              </a:ext>
            </a:extLst>
          </p:cNvPr>
          <p:cNvSpPr>
            <a:spLocks noGrp="1"/>
          </p:cNvSpPr>
          <p:nvPr>
            <p:ph type="sldNum" sz="quarter" idx="12"/>
          </p:nvPr>
        </p:nvSpPr>
        <p:spPr/>
        <p:txBody>
          <a:bodyPr/>
          <a:lstStyle/>
          <a:p>
            <a:fld id="{1E422F9A-6EE9-44F0-9560-5F04B1DEB4A3}" type="slidenum">
              <a:rPr lang="en-US" smtClean="0"/>
              <a:t>31</a:t>
            </a:fld>
            <a:endParaRPr lang="en-US"/>
          </a:p>
        </p:txBody>
      </p:sp>
    </p:spTree>
    <p:extLst>
      <p:ext uri="{BB962C8B-B14F-4D97-AF65-F5344CB8AC3E}">
        <p14:creationId xmlns:p14="http://schemas.microsoft.com/office/powerpoint/2010/main" val="3317636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0D85-9397-4EDD-002C-CCC9565ED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428B8-0838-6BA2-F413-97F39F7D6120}"/>
              </a:ext>
            </a:extLst>
          </p:cNvPr>
          <p:cNvSpPr>
            <a:spLocks noGrp="1"/>
          </p:cNvSpPr>
          <p:nvPr>
            <p:ph type="title"/>
          </p:nvPr>
        </p:nvSpPr>
        <p:spPr>
          <a:xfrm>
            <a:off x="628649" y="365126"/>
            <a:ext cx="8176683" cy="1325563"/>
          </a:xfrm>
        </p:spPr>
        <p:txBody>
          <a:bodyPr>
            <a:normAutofit/>
          </a:bodyPr>
          <a:lstStyle/>
          <a:p>
            <a:r>
              <a:rPr lang="en-US" sz="4000" dirty="0">
                <a:latin typeface="Helvetica Neue" panose="020B0604020202020204" charset="0"/>
              </a:rPr>
              <a:t>Hypercalcemia Signs &amp; Symptoms</a:t>
            </a:r>
          </a:p>
        </p:txBody>
      </p:sp>
      <p:sp>
        <p:nvSpPr>
          <p:cNvPr id="3" name="Content Placeholder 2">
            <a:extLst>
              <a:ext uri="{FF2B5EF4-FFF2-40B4-BE49-F238E27FC236}">
                <a16:creationId xmlns:a16="http://schemas.microsoft.com/office/drawing/2014/main" id="{B977999B-0B45-72C1-E8B9-D5B78AE9E6B0}"/>
              </a:ext>
            </a:extLst>
          </p:cNvPr>
          <p:cNvSpPr>
            <a:spLocks noGrp="1"/>
          </p:cNvSpPr>
          <p:nvPr>
            <p:ph idx="1"/>
          </p:nvPr>
        </p:nvSpPr>
        <p:spPr>
          <a:xfrm>
            <a:off x="628649" y="1129733"/>
            <a:ext cx="8025493" cy="4598534"/>
          </a:xfrm>
        </p:spPr>
        <p:txBody>
          <a:bodyPr>
            <a:normAutofit/>
          </a:bodyPr>
          <a:lstStyle/>
          <a:p>
            <a:pPr marL="0" indent="0">
              <a:buNone/>
            </a:pPr>
            <a:endParaRPr lang="en-US" sz="3000" dirty="0">
              <a:latin typeface="Helvetica" panose="020B0604020202020204" pitchFamily="34" charset="0"/>
              <a:cs typeface="Helvetica" panose="020B0604020202020204" pitchFamily="34" charset="0"/>
            </a:endParaRPr>
          </a:p>
          <a:p>
            <a:r>
              <a:rPr lang="en-US" sz="3000" dirty="0">
                <a:latin typeface="Helvetica" panose="020B0604020202020204" pitchFamily="34" charset="0"/>
                <a:cs typeface="Helvetica" panose="020B0604020202020204" pitchFamily="34" charset="0"/>
              </a:rPr>
              <a:t>Cardiac effects include</a:t>
            </a:r>
          </a:p>
          <a:p>
            <a:pPr lvl="1"/>
            <a:r>
              <a:rPr lang="en-US" sz="3000" dirty="0">
                <a:latin typeface="Helvetica" panose="020B0604020202020204" pitchFamily="34" charset="0"/>
                <a:cs typeface="Helvetica" panose="020B0604020202020204" pitchFamily="34" charset="0"/>
              </a:rPr>
              <a:t>Sh</a:t>
            </a:r>
            <a:r>
              <a:rPr lang="en-US" sz="3000" u="sng" dirty="0">
                <a:latin typeface="Helvetica" panose="020B0604020202020204" pitchFamily="34" charset="0"/>
                <a:cs typeface="Helvetica" panose="020B0604020202020204" pitchFamily="34" charset="0"/>
              </a:rPr>
              <a:t>o</a:t>
            </a:r>
            <a:r>
              <a:rPr lang="en-US" sz="3000" dirty="0">
                <a:latin typeface="Helvetica" panose="020B0604020202020204" pitchFamily="34" charset="0"/>
                <a:cs typeface="Helvetica" panose="020B0604020202020204" pitchFamily="34" charset="0"/>
              </a:rPr>
              <a:t>rtening of QT interval</a:t>
            </a:r>
          </a:p>
          <a:p>
            <a:pPr lvl="1"/>
            <a:r>
              <a:rPr lang="en-US" sz="3000" dirty="0">
                <a:latin typeface="Helvetica" panose="020B0604020202020204" pitchFamily="34" charset="0"/>
                <a:cs typeface="Helvetica" panose="020B0604020202020204" pitchFamily="34" charset="0"/>
              </a:rPr>
              <a:t>Hypertension</a:t>
            </a:r>
          </a:p>
          <a:p>
            <a:pPr lvl="1"/>
            <a:r>
              <a:rPr lang="en-US" sz="3000" dirty="0">
                <a:latin typeface="Helvetica" panose="020B0604020202020204" pitchFamily="34" charset="0"/>
                <a:cs typeface="Helvetica" panose="020B0604020202020204" pitchFamily="34" charset="0"/>
              </a:rPr>
              <a:t>Bradycardia </a:t>
            </a:r>
          </a:p>
          <a:p>
            <a:endParaRPr lang="en-US" sz="3000" dirty="0">
              <a:latin typeface="Helvetica" panose="020B0604020202020204" pitchFamily="34" charset="0"/>
              <a:cs typeface="Helvetica" panose="020B0604020202020204" pitchFamily="34" charset="0"/>
            </a:endParaRPr>
          </a:p>
          <a:p>
            <a:pPr marL="457200" lvl="1" indent="0">
              <a:buNone/>
            </a:pPr>
            <a:endParaRPr lang="en-US" sz="3000"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86670703-B9B0-6127-6999-99909E18C7E9}"/>
              </a:ext>
            </a:extLst>
          </p:cNvPr>
          <p:cNvSpPr>
            <a:spLocks noGrp="1"/>
          </p:cNvSpPr>
          <p:nvPr>
            <p:ph type="sldNum" sz="quarter" idx="12"/>
          </p:nvPr>
        </p:nvSpPr>
        <p:spPr/>
        <p:txBody>
          <a:bodyPr/>
          <a:lstStyle/>
          <a:p>
            <a:fld id="{1E422F9A-6EE9-44F0-9560-5F04B1DEB4A3}" type="slidenum">
              <a:rPr lang="en-US" smtClean="0"/>
              <a:t>32</a:t>
            </a:fld>
            <a:endParaRPr lang="en-US"/>
          </a:p>
        </p:txBody>
      </p:sp>
      <p:sp>
        <p:nvSpPr>
          <p:cNvPr id="7" name="TextBox 6">
            <a:extLst>
              <a:ext uri="{FF2B5EF4-FFF2-40B4-BE49-F238E27FC236}">
                <a16:creationId xmlns:a16="http://schemas.microsoft.com/office/drawing/2014/main" id="{0C10BF0D-2A97-6A7D-8C03-E1F6B9499FC3}"/>
              </a:ext>
            </a:extLst>
          </p:cNvPr>
          <p:cNvSpPr txBox="1"/>
          <p:nvPr/>
        </p:nvSpPr>
        <p:spPr>
          <a:xfrm>
            <a:off x="2286000" y="3244334"/>
            <a:ext cx="4572000" cy="369332"/>
          </a:xfrm>
          <a:prstGeom prst="rect">
            <a:avLst/>
          </a:prstGeom>
          <a:noFill/>
        </p:spPr>
        <p:txBody>
          <a:bodyPr wrap="square">
            <a:spAutoFit/>
          </a:bodyPr>
          <a:lstStyle/>
          <a:p>
            <a:endParaRPr lang="en-US" dirty="0"/>
          </a:p>
        </p:txBody>
      </p:sp>
      <p:pic>
        <p:nvPicPr>
          <p:cNvPr id="6" name="Picture 5">
            <a:extLst>
              <a:ext uri="{FF2B5EF4-FFF2-40B4-BE49-F238E27FC236}">
                <a16:creationId xmlns:a16="http://schemas.microsoft.com/office/drawing/2014/main" id="{94C28CF1-8388-1EEC-A32C-5F2B84043A7B}"/>
              </a:ext>
            </a:extLst>
          </p:cNvPr>
          <p:cNvPicPr>
            <a:picLocks noChangeAspect="1"/>
          </p:cNvPicPr>
          <p:nvPr/>
        </p:nvPicPr>
        <p:blipFill>
          <a:blip r:embed="rId3">
            <a:extLst>
              <a:ext uri="{28A0092B-C50C-407E-A947-70E740481C1C}">
                <a14:useLocalDpi xmlns:a14="http://schemas.microsoft.com/office/drawing/2010/main" val="0"/>
              </a:ext>
            </a:extLst>
          </a:blip>
          <a:srcRect l="12963"/>
          <a:stretch>
            <a:fillRect/>
          </a:stretch>
        </p:blipFill>
        <p:spPr>
          <a:xfrm>
            <a:off x="3848784" y="3026916"/>
            <a:ext cx="5295216" cy="3194030"/>
          </a:xfrm>
          <a:prstGeom prst="rect">
            <a:avLst/>
          </a:prstGeom>
        </p:spPr>
      </p:pic>
    </p:spTree>
    <p:extLst>
      <p:ext uri="{BB962C8B-B14F-4D97-AF65-F5344CB8AC3E}">
        <p14:creationId xmlns:p14="http://schemas.microsoft.com/office/powerpoint/2010/main" val="1627505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6A7ACA-9AE7-A9FB-2F4C-D441E556714B}"/>
              </a:ext>
            </a:extLst>
          </p:cNvPr>
          <p:cNvSpPr>
            <a:spLocks noGrp="1"/>
          </p:cNvSpPr>
          <p:nvPr>
            <p:ph type="sldNum" sz="quarter" idx="12"/>
          </p:nvPr>
        </p:nvSpPr>
        <p:spPr/>
        <p:txBody>
          <a:bodyPr/>
          <a:lstStyle/>
          <a:p>
            <a:fld id="{1E422F9A-6EE9-44F0-9560-5F04B1DEB4A3}" type="slidenum">
              <a:rPr lang="en-US" smtClean="0"/>
              <a:t>33</a:t>
            </a:fld>
            <a:endParaRPr lang="en-US"/>
          </a:p>
        </p:txBody>
      </p:sp>
      <p:sp>
        <p:nvSpPr>
          <p:cNvPr id="5" name="Title 1">
            <a:extLst>
              <a:ext uri="{FF2B5EF4-FFF2-40B4-BE49-F238E27FC236}">
                <a16:creationId xmlns:a16="http://schemas.microsoft.com/office/drawing/2014/main" id="{02D76668-7AD0-8146-4B75-D1167E0416EA}"/>
              </a:ext>
            </a:extLst>
          </p:cNvPr>
          <p:cNvSpPr>
            <a:spLocks noGrp="1"/>
          </p:cNvSpPr>
          <p:nvPr>
            <p:ph type="title"/>
          </p:nvPr>
        </p:nvSpPr>
        <p:spPr>
          <a:xfrm>
            <a:off x="628650" y="365126"/>
            <a:ext cx="7886700" cy="1325563"/>
          </a:xfrm>
        </p:spPr>
        <p:txBody>
          <a:bodyPr/>
          <a:lstStyle/>
          <a:p>
            <a:pPr algn="ctr"/>
            <a:r>
              <a:rPr lang="en-US" dirty="0">
                <a:latin typeface="Helvetica" panose="020B0604020202020204" pitchFamily="34" charset="0"/>
                <a:cs typeface="Helvetica" panose="020B0604020202020204" pitchFamily="34" charset="0"/>
              </a:rPr>
              <a:t>Helpful Mnemonic </a:t>
            </a:r>
          </a:p>
        </p:txBody>
      </p:sp>
      <p:sp>
        <p:nvSpPr>
          <p:cNvPr id="6" name="Content Placeholder 2">
            <a:extLst>
              <a:ext uri="{FF2B5EF4-FFF2-40B4-BE49-F238E27FC236}">
                <a16:creationId xmlns:a16="http://schemas.microsoft.com/office/drawing/2014/main" id="{0D1AE9EA-8C7B-9843-49A6-DE8A7A2A2670}"/>
              </a:ext>
            </a:extLst>
          </p:cNvPr>
          <p:cNvSpPr>
            <a:spLocks noGrp="1"/>
          </p:cNvSpPr>
          <p:nvPr>
            <p:ph idx="1"/>
          </p:nvPr>
        </p:nvSpPr>
        <p:spPr>
          <a:xfrm>
            <a:off x="628650" y="2164976"/>
            <a:ext cx="8223802" cy="1439615"/>
          </a:xfrm>
        </p:spPr>
        <p:txBody>
          <a:bodyPr>
            <a:normAutofit/>
          </a:bodyPr>
          <a:lstStyle/>
          <a:p>
            <a:pPr marL="0" indent="0">
              <a:buNone/>
            </a:pPr>
            <a:r>
              <a:rPr lang="en-US" b="1" dirty="0">
                <a:latin typeface="Helvetica" panose="020B0604020202020204" pitchFamily="34" charset="0"/>
                <a:cs typeface="Helvetica" panose="020B0604020202020204" pitchFamily="34" charset="0"/>
              </a:rPr>
              <a:t>Rule of O’s </a:t>
            </a:r>
            <a:r>
              <a:rPr lang="en-US" dirty="0">
                <a:latin typeface="Helvetica" panose="020B0604020202020204" pitchFamily="34" charset="0"/>
                <a:cs typeface="Helvetica" panose="020B0604020202020204" pitchFamily="34" charset="0"/>
              </a:rPr>
              <a:t>= Add one more “O” in the cardiac effect for calcium disorders. </a:t>
            </a:r>
          </a:p>
          <a:p>
            <a:pPr marL="0" indent="0">
              <a:buNone/>
            </a:pPr>
            <a:endParaRPr lang="en-US" b="1" dirty="0">
              <a:latin typeface="Helvetica" panose="020B0604020202020204" pitchFamily="34" charset="0"/>
              <a:cs typeface="Helvetica" panose="020B0604020202020204" pitchFamily="34" charset="0"/>
            </a:endParaRPr>
          </a:p>
          <a:p>
            <a:pPr marL="0" indent="0">
              <a:buNone/>
            </a:pPr>
            <a:endParaRPr lang="en-US" b="1" dirty="0">
              <a:latin typeface="Helvetica" panose="020B0604020202020204" pitchFamily="34" charset="0"/>
              <a:cs typeface="Helvetica" panose="020B0604020202020204" pitchFamily="34" charset="0"/>
            </a:endParaRPr>
          </a:p>
        </p:txBody>
      </p:sp>
      <p:sp>
        <p:nvSpPr>
          <p:cNvPr id="7" name="TextBox 6">
            <a:extLst>
              <a:ext uri="{FF2B5EF4-FFF2-40B4-BE49-F238E27FC236}">
                <a16:creationId xmlns:a16="http://schemas.microsoft.com/office/drawing/2014/main" id="{714A3889-618B-4A55-1AE5-E94FFC1515D5}"/>
              </a:ext>
            </a:extLst>
          </p:cNvPr>
          <p:cNvSpPr txBox="1"/>
          <p:nvPr/>
        </p:nvSpPr>
        <p:spPr>
          <a:xfrm>
            <a:off x="526774" y="4427556"/>
            <a:ext cx="8090452" cy="48013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srgbClr val="FF0000"/>
                </a:solidFill>
                <a:effectLst/>
                <a:uLnTx/>
                <a:uFillTx/>
                <a:latin typeface="Helvetica" panose="020B0604020202020204" pitchFamily="34" charset="0"/>
                <a:ea typeface="+mn-ea"/>
                <a:cs typeface="Helvetica" panose="020B0604020202020204" pitchFamily="34" charset="0"/>
              </a:rPr>
              <a:t>Hypocalcemia (1 “O”) + 1 = 2 O’s (Pr</a:t>
            </a:r>
            <a:r>
              <a:rPr kumimoji="0" lang="en-US" sz="2800" b="1" i="0" u="sng" strike="noStrike" kern="1200" cap="none" spc="0" normalizeH="0" baseline="0" noProof="0" dirty="0">
                <a:ln>
                  <a:noFill/>
                </a:ln>
                <a:solidFill>
                  <a:srgbClr val="FF0000"/>
                </a:solidFill>
                <a:effectLst/>
                <a:uLnTx/>
                <a:uFillTx/>
                <a:latin typeface="Helvetica" panose="020B0604020202020204" pitchFamily="34" charset="0"/>
                <a:ea typeface="+mn-ea"/>
                <a:cs typeface="Helvetica" panose="020B0604020202020204" pitchFamily="34" charset="0"/>
              </a:rPr>
              <a:t>o</a:t>
            </a:r>
            <a:r>
              <a:rPr kumimoji="0" lang="en-US" sz="2800" b="1" i="0" u="none" strike="noStrike" kern="1200" cap="none" spc="0" normalizeH="0" baseline="0" noProof="0" dirty="0">
                <a:ln>
                  <a:noFill/>
                </a:ln>
                <a:solidFill>
                  <a:srgbClr val="FF0000"/>
                </a:solidFill>
                <a:effectLst/>
                <a:uLnTx/>
                <a:uFillTx/>
                <a:latin typeface="Helvetica" panose="020B0604020202020204" pitchFamily="34" charset="0"/>
                <a:ea typeface="+mn-ea"/>
                <a:cs typeface="Helvetica" panose="020B0604020202020204" pitchFamily="34" charset="0"/>
              </a:rPr>
              <a:t>l</a:t>
            </a:r>
            <a:r>
              <a:rPr kumimoji="0" lang="en-US" sz="2800" b="1" i="0" u="sng" strike="noStrike" kern="1200" cap="none" spc="0" normalizeH="0" baseline="0" noProof="0" dirty="0">
                <a:ln>
                  <a:noFill/>
                </a:ln>
                <a:solidFill>
                  <a:srgbClr val="FF0000"/>
                </a:solidFill>
                <a:effectLst/>
                <a:uLnTx/>
                <a:uFillTx/>
                <a:latin typeface="Helvetica" panose="020B0604020202020204" pitchFamily="34" charset="0"/>
                <a:ea typeface="+mn-ea"/>
                <a:cs typeface="Helvetica" panose="020B0604020202020204" pitchFamily="34" charset="0"/>
              </a:rPr>
              <a:t>o</a:t>
            </a:r>
            <a:r>
              <a:rPr kumimoji="0" lang="en-US" sz="2800" b="1" i="0" u="none" strike="noStrike" kern="1200" cap="none" spc="0" normalizeH="0" baseline="0" noProof="0" dirty="0">
                <a:ln>
                  <a:noFill/>
                </a:ln>
                <a:solidFill>
                  <a:srgbClr val="FF0000"/>
                </a:solidFill>
                <a:effectLst/>
                <a:uLnTx/>
                <a:uFillTx/>
                <a:latin typeface="Helvetica" panose="020B0604020202020204" pitchFamily="34" charset="0"/>
                <a:ea typeface="+mn-ea"/>
                <a:cs typeface="Helvetica" panose="020B0604020202020204" pitchFamily="34" charset="0"/>
              </a:rPr>
              <a:t>ng QT) </a:t>
            </a:r>
          </a:p>
        </p:txBody>
      </p:sp>
      <p:sp>
        <p:nvSpPr>
          <p:cNvPr id="8" name="TextBox 7">
            <a:extLst>
              <a:ext uri="{FF2B5EF4-FFF2-40B4-BE49-F238E27FC236}">
                <a16:creationId xmlns:a16="http://schemas.microsoft.com/office/drawing/2014/main" id="{45D7DED9-4831-2CB9-D6DF-5D899C783E50}"/>
              </a:ext>
            </a:extLst>
          </p:cNvPr>
          <p:cNvSpPr txBox="1"/>
          <p:nvPr/>
        </p:nvSpPr>
        <p:spPr>
          <a:xfrm>
            <a:off x="526774" y="3429000"/>
            <a:ext cx="9520518" cy="523220"/>
          </a:xfrm>
          <a:prstGeom prst="rect">
            <a:avLst/>
          </a:prstGeom>
          <a:noFill/>
        </p:spPr>
        <p:txBody>
          <a:bodyPr wrap="square">
            <a:spAutoFit/>
          </a:bodyPr>
          <a:lstStyle/>
          <a:p>
            <a:pPr marL="0" indent="0">
              <a:buNone/>
            </a:pPr>
            <a:r>
              <a:rPr lang="en-US" sz="2800" b="1" dirty="0">
                <a:solidFill>
                  <a:srgbClr val="0070C0"/>
                </a:solidFill>
                <a:latin typeface="Helvetica" panose="020B0604020202020204" pitchFamily="34" charset="0"/>
                <a:cs typeface="Helvetica" panose="020B0604020202020204" pitchFamily="34" charset="0"/>
              </a:rPr>
              <a:t>Hypercalcemia (0 “O”s) + 1 = 1 O (Sh</a:t>
            </a:r>
            <a:r>
              <a:rPr lang="en-US" sz="2800" b="1" u="sng" dirty="0">
                <a:solidFill>
                  <a:srgbClr val="0070C0"/>
                </a:solidFill>
                <a:latin typeface="Helvetica" panose="020B0604020202020204" pitchFamily="34" charset="0"/>
                <a:cs typeface="Helvetica" panose="020B0604020202020204" pitchFamily="34" charset="0"/>
              </a:rPr>
              <a:t>o</a:t>
            </a:r>
            <a:r>
              <a:rPr lang="en-US" sz="2800" b="1" dirty="0">
                <a:solidFill>
                  <a:srgbClr val="0070C0"/>
                </a:solidFill>
                <a:latin typeface="Helvetica" panose="020B0604020202020204" pitchFamily="34" charset="0"/>
                <a:cs typeface="Helvetica" panose="020B0604020202020204" pitchFamily="34" charset="0"/>
              </a:rPr>
              <a:t>rten QT) </a:t>
            </a:r>
          </a:p>
        </p:txBody>
      </p:sp>
    </p:spTree>
    <p:extLst>
      <p:ext uri="{BB962C8B-B14F-4D97-AF65-F5344CB8AC3E}">
        <p14:creationId xmlns:p14="http://schemas.microsoft.com/office/powerpoint/2010/main" val="268143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AFC1A-574E-DC21-BCDD-AAA99C8CA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9D3C5-F43E-2E58-534E-E9863E08CCE2}"/>
              </a:ext>
            </a:extLst>
          </p:cNvPr>
          <p:cNvSpPr>
            <a:spLocks noGrp="1"/>
          </p:cNvSpPr>
          <p:nvPr>
            <p:ph type="title"/>
          </p:nvPr>
        </p:nvSpPr>
        <p:spPr>
          <a:xfrm>
            <a:off x="628649" y="136524"/>
            <a:ext cx="7514453" cy="1325563"/>
          </a:xfrm>
        </p:spPr>
        <p:txBody>
          <a:bodyPr>
            <a:normAutofit/>
          </a:bodyPr>
          <a:lstStyle/>
          <a:p>
            <a:pPr algn="ctr"/>
            <a:r>
              <a:rPr lang="en-US" dirty="0">
                <a:latin typeface="Helvetica" panose="020B0604020202020204"/>
                <a:cs typeface="Helvetica" panose="020B0604020202020204"/>
              </a:rPr>
              <a:t>Workup of Hypercalcemia</a:t>
            </a:r>
          </a:p>
        </p:txBody>
      </p:sp>
      <p:sp>
        <p:nvSpPr>
          <p:cNvPr id="3" name="Content Placeholder 2">
            <a:extLst>
              <a:ext uri="{FF2B5EF4-FFF2-40B4-BE49-F238E27FC236}">
                <a16:creationId xmlns:a16="http://schemas.microsoft.com/office/drawing/2014/main" id="{917B61F4-D268-90EF-274E-055021345F7B}"/>
              </a:ext>
            </a:extLst>
          </p:cNvPr>
          <p:cNvSpPr>
            <a:spLocks noGrp="1"/>
          </p:cNvSpPr>
          <p:nvPr>
            <p:ph idx="1"/>
          </p:nvPr>
        </p:nvSpPr>
        <p:spPr>
          <a:xfrm>
            <a:off x="628649" y="1462087"/>
            <a:ext cx="8014607" cy="4576763"/>
          </a:xfrm>
        </p:spPr>
        <p:txBody>
          <a:bodyPr>
            <a:normAutofit/>
          </a:bodyPr>
          <a:lstStyle/>
          <a:p>
            <a:pPr marL="514350" indent="-514350">
              <a:buAutoNum type="arabicPeriod"/>
            </a:pPr>
            <a:r>
              <a:rPr lang="en-US" dirty="0">
                <a:latin typeface="Helvetica" panose="020B0604020202020204" pitchFamily="34" charset="0"/>
                <a:cs typeface="Helvetica" panose="020B0604020202020204" pitchFamily="34" charset="0"/>
              </a:rPr>
              <a:t>Initial hypercalcemia is seen on routine labs</a:t>
            </a:r>
          </a:p>
          <a:p>
            <a:pPr marL="514350" indent="-514350">
              <a:buAutoNum type="arabicPeriod"/>
            </a:pPr>
            <a:r>
              <a:rPr lang="en-US" dirty="0">
                <a:latin typeface="Helvetica" panose="020B0604020202020204" pitchFamily="34" charset="0"/>
                <a:cs typeface="Helvetica" panose="020B0604020202020204" pitchFamily="34" charset="0"/>
              </a:rPr>
              <a:t>On another day, confirm this finding with </a:t>
            </a:r>
            <a:r>
              <a:rPr lang="en-US" b="1" i="1" dirty="0">
                <a:latin typeface="Helvetica" panose="020B0604020202020204" pitchFamily="34" charset="0"/>
                <a:cs typeface="Helvetica" panose="020B0604020202020204" pitchFamily="34" charset="0"/>
              </a:rPr>
              <a:t>repeat calcium </a:t>
            </a:r>
            <a:r>
              <a:rPr lang="en-US" dirty="0">
                <a:latin typeface="Helvetica" panose="020B0604020202020204" pitchFamily="34" charset="0"/>
                <a:cs typeface="Helvetica" panose="020B0604020202020204" pitchFamily="34" charset="0"/>
              </a:rPr>
              <a:t>and an </a:t>
            </a:r>
            <a:r>
              <a:rPr lang="en-US" b="1" i="1" dirty="0">
                <a:latin typeface="Helvetica" panose="020B0604020202020204" pitchFamily="34" charset="0"/>
                <a:cs typeface="Helvetica" panose="020B0604020202020204" pitchFamily="34" charset="0"/>
              </a:rPr>
              <a:t>albumin </a:t>
            </a:r>
            <a:r>
              <a:rPr lang="en-US" dirty="0">
                <a:latin typeface="Helvetica" panose="020B0604020202020204" pitchFamily="34" charset="0"/>
                <a:cs typeface="Helvetica" panose="020B0604020202020204" pitchFamily="34" charset="0"/>
              </a:rPr>
              <a:t>at the same time for correction (Alternatively, ionized Ca)</a:t>
            </a:r>
          </a:p>
          <a:p>
            <a:pPr marL="514350" indent="-514350">
              <a:buAutoNum type="arabicPeriod"/>
            </a:pPr>
            <a:r>
              <a:rPr lang="en-US" b="1" i="1" dirty="0">
                <a:latin typeface="Helvetica" panose="020B0604020202020204" pitchFamily="34" charset="0"/>
                <a:cs typeface="Helvetica" panose="020B0604020202020204" pitchFamily="34" charset="0"/>
              </a:rPr>
              <a:t>Check intact PTH with same lab draw</a:t>
            </a:r>
            <a:r>
              <a:rPr lang="en-US" dirty="0">
                <a:latin typeface="Helvetica" panose="020B0604020202020204" pitchFamily="34" charset="0"/>
                <a:cs typeface="Helvetica" panose="020B0604020202020204" pitchFamily="34" charset="0"/>
              </a:rPr>
              <a:t>. What is the appropriate response level of PTH if patient has a high calcium level? </a:t>
            </a:r>
          </a:p>
          <a:p>
            <a:pPr marL="0" indent="0">
              <a:buNone/>
            </a:pPr>
            <a:endParaRPr lang="en-US" dirty="0">
              <a:latin typeface="Helvetica" panose="020B0604020202020204" pitchFamily="34" charset="0"/>
              <a:cs typeface="Helvetica" panose="020B0604020202020204" pitchFamily="34" charset="0"/>
            </a:endParaRPr>
          </a:p>
          <a:p>
            <a:pPr lvl="1"/>
            <a:endParaRPr lang="en-US" dirty="0">
              <a:latin typeface="Helvetica" panose="020B0604020202020204" pitchFamily="34" charset="0"/>
              <a:cs typeface="Helvetica" panose="020B0604020202020204" pitchFamily="34" charset="0"/>
            </a:endParaRPr>
          </a:p>
          <a:p>
            <a:pPr marL="514350" indent="-514350">
              <a:buAutoNum type="arabicPeriod"/>
            </a:pPr>
            <a:endParaRPr lang="en-US" dirty="0">
              <a:latin typeface="Helvetica" panose="020B0604020202020204" pitchFamily="34" charset="0"/>
              <a:cs typeface="Helvetica" panose="020B0604020202020204" pitchFamily="34" charset="0"/>
            </a:endParaRPr>
          </a:p>
          <a:p>
            <a:pPr marL="0" indent="0">
              <a:buNone/>
            </a:pPr>
            <a:endParaRPr lang="en-US"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97A3D117-8306-0FBE-2C46-1A2364123624}"/>
              </a:ext>
            </a:extLst>
          </p:cNvPr>
          <p:cNvSpPr>
            <a:spLocks noGrp="1"/>
          </p:cNvSpPr>
          <p:nvPr>
            <p:ph type="sldNum" sz="quarter" idx="12"/>
          </p:nvPr>
        </p:nvSpPr>
        <p:spPr/>
        <p:txBody>
          <a:bodyPr/>
          <a:lstStyle/>
          <a:p>
            <a:fld id="{1E422F9A-6EE9-44F0-9560-5F04B1DEB4A3}" type="slidenum">
              <a:rPr lang="en-US" smtClean="0"/>
              <a:t>34</a:t>
            </a:fld>
            <a:endParaRPr lang="en-US"/>
          </a:p>
        </p:txBody>
      </p:sp>
      <p:sp>
        <p:nvSpPr>
          <p:cNvPr id="6" name="TextBox 5">
            <a:extLst>
              <a:ext uri="{FF2B5EF4-FFF2-40B4-BE49-F238E27FC236}">
                <a16:creationId xmlns:a16="http://schemas.microsoft.com/office/drawing/2014/main" id="{04F56B74-F446-5BDD-1659-47BD6B358C8E}"/>
              </a:ext>
            </a:extLst>
          </p:cNvPr>
          <p:cNvSpPr txBox="1"/>
          <p:nvPr/>
        </p:nvSpPr>
        <p:spPr>
          <a:xfrm>
            <a:off x="628649" y="4918859"/>
            <a:ext cx="7689441" cy="954107"/>
          </a:xfrm>
          <a:prstGeom prst="rect">
            <a:avLst/>
          </a:prstGeom>
          <a:noFill/>
        </p:spPr>
        <p:txBody>
          <a:bodyPr wrap="square">
            <a:spAutoFit/>
          </a:bodyPr>
          <a:lstStyle/>
          <a:p>
            <a:pPr marL="457200" lvl="1" indent="0">
              <a:buNone/>
            </a:pPr>
            <a:r>
              <a:rPr lang="en-US" sz="2800" dirty="0">
                <a:latin typeface="Helvetica" panose="020B0604020202020204" pitchFamily="34" charset="0"/>
                <a:cs typeface="Helvetica" panose="020B0604020202020204" pitchFamily="34" charset="0"/>
              </a:rPr>
              <a:t>If calcium and intact PTH are both high, then _______ hyperparathyroidism is diagnosed.</a:t>
            </a:r>
          </a:p>
        </p:txBody>
      </p:sp>
      <p:sp>
        <p:nvSpPr>
          <p:cNvPr id="7" name="TextBox 6">
            <a:extLst>
              <a:ext uri="{FF2B5EF4-FFF2-40B4-BE49-F238E27FC236}">
                <a16:creationId xmlns:a16="http://schemas.microsoft.com/office/drawing/2014/main" id="{B0EDF06D-700A-2267-2FE0-7491989FBE52}"/>
              </a:ext>
            </a:extLst>
          </p:cNvPr>
          <p:cNvSpPr txBox="1"/>
          <p:nvPr/>
        </p:nvSpPr>
        <p:spPr>
          <a:xfrm>
            <a:off x="1238864" y="5327895"/>
            <a:ext cx="2949677" cy="523220"/>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primary</a:t>
            </a:r>
          </a:p>
        </p:txBody>
      </p:sp>
    </p:spTree>
    <p:extLst>
      <p:ext uri="{BB962C8B-B14F-4D97-AF65-F5344CB8AC3E}">
        <p14:creationId xmlns:p14="http://schemas.microsoft.com/office/powerpoint/2010/main" val="406844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97F5D-81D2-5FF5-2F5F-2FF78CF6E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058AB-08C9-5CB2-8E9D-8560607CE470}"/>
              </a:ext>
            </a:extLst>
          </p:cNvPr>
          <p:cNvSpPr>
            <a:spLocks noGrp="1"/>
          </p:cNvSpPr>
          <p:nvPr>
            <p:ph type="title"/>
          </p:nvPr>
        </p:nvSpPr>
        <p:spPr>
          <a:xfrm>
            <a:off x="603936" y="365126"/>
            <a:ext cx="7712161" cy="1325563"/>
          </a:xfrm>
        </p:spPr>
        <p:txBody>
          <a:bodyPr>
            <a:normAutofit/>
          </a:bodyPr>
          <a:lstStyle/>
          <a:p>
            <a:pPr algn="ctr"/>
            <a:r>
              <a:rPr lang="en-US" dirty="0"/>
              <a:t>Workup of Hypercalcemia</a:t>
            </a:r>
          </a:p>
        </p:txBody>
      </p:sp>
      <p:sp>
        <p:nvSpPr>
          <p:cNvPr id="3" name="Content Placeholder 2">
            <a:extLst>
              <a:ext uri="{FF2B5EF4-FFF2-40B4-BE49-F238E27FC236}">
                <a16:creationId xmlns:a16="http://schemas.microsoft.com/office/drawing/2014/main" id="{3C065956-D12E-D406-7F4B-90DEC05B5E11}"/>
              </a:ext>
            </a:extLst>
          </p:cNvPr>
          <p:cNvSpPr>
            <a:spLocks noGrp="1"/>
          </p:cNvSpPr>
          <p:nvPr>
            <p:ph idx="1"/>
          </p:nvPr>
        </p:nvSpPr>
        <p:spPr>
          <a:xfrm>
            <a:off x="628649" y="1690689"/>
            <a:ext cx="8014607" cy="4486274"/>
          </a:xfrm>
        </p:spPr>
        <p:txBody>
          <a:bodyPr/>
          <a:lstStyle/>
          <a:p>
            <a:pPr marL="0" indent="0">
              <a:buNone/>
            </a:pPr>
            <a:endParaRPr lang="en-US" sz="3000" dirty="0"/>
          </a:p>
          <a:p>
            <a:pPr marL="0" indent="0">
              <a:buNone/>
            </a:pPr>
            <a:endParaRPr lang="en-US" sz="3000" b="1" i="1" dirty="0"/>
          </a:p>
          <a:p>
            <a:pPr marL="514350" indent="-514350">
              <a:buAutoNum type="arabicPeriod"/>
            </a:pPr>
            <a:endParaRPr lang="en-US" dirty="0"/>
          </a:p>
        </p:txBody>
      </p:sp>
      <p:sp>
        <p:nvSpPr>
          <p:cNvPr id="4" name="Slide Number Placeholder 3">
            <a:extLst>
              <a:ext uri="{FF2B5EF4-FFF2-40B4-BE49-F238E27FC236}">
                <a16:creationId xmlns:a16="http://schemas.microsoft.com/office/drawing/2014/main" id="{1A1E36BA-D0F8-4465-C064-71523AF66E69}"/>
              </a:ext>
            </a:extLst>
          </p:cNvPr>
          <p:cNvSpPr>
            <a:spLocks noGrp="1"/>
          </p:cNvSpPr>
          <p:nvPr>
            <p:ph type="sldNum" sz="quarter" idx="12"/>
          </p:nvPr>
        </p:nvSpPr>
        <p:spPr/>
        <p:txBody>
          <a:bodyPr/>
          <a:lstStyle/>
          <a:p>
            <a:fld id="{1E422F9A-6EE9-44F0-9560-5F04B1DEB4A3}" type="slidenum">
              <a:rPr lang="en-US" smtClean="0"/>
              <a:t>35</a:t>
            </a:fld>
            <a:endParaRPr lang="en-US"/>
          </a:p>
        </p:txBody>
      </p:sp>
      <p:sp>
        <p:nvSpPr>
          <p:cNvPr id="5" name="Content Placeholder 2">
            <a:extLst>
              <a:ext uri="{FF2B5EF4-FFF2-40B4-BE49-F238E27FC236}">
                <a16:creationId xmlns:a16="http://schemas.microsoft.com/office/drawing/2014/main" id="{A6070435-6317-6BCE-90EF-B6F41B19160C}"/>
              </a:ext>
            </a:extLst>
          </p:cNvPr>
          <p:cNvSpPr txBox="1">
            <a:spLocks/>
          </p:cNvSpPr>
          <p:nvPr/>
        </p:nvSpPr>
        <p:spPr>
          <a:xfrm>
            <a:off x="628649" y="1600200"/>
            <a:ext cx="8014607" cy="4576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startAt="3"/>
            </a:pPr>
            <a:r>
              <a:rPr lang="en-US" sz="3000" dirty="0">
                <a:latin typeface="Helvetica" panose="020B0604020202020204" pitchFamily="34" charset="0"/>
                <a:cs typeface="Helvetica" panose="020B0604020202020204" pitchFamily="34" charset="0"/>
              </a:rPr>
              <a:t>If the intact PTH is (appropriately) low, the next step is to order </a:t>
            </a:r>
            <a:r>
              <a:rPr lang="en-US" sz="3000" b="1" i="1" dirty="0" err="1">
                <a:latin typeface="Helvetica" panose="020B0604020202020204" pitchFamily="34" charset="0"/>
                <a:cs typeface="Helvetica" panose="020B0604020202020204" pitchFamily="34" charset="0"/>
              </a:rPr>
              <a:t>PTHrP</a:t>
            </a:r>
            <a:r>
              <a:rPr lang="en-US" sz="3000" b="1" i="1" dirty="0">
                <a:latin typeface="Helvetica" panose="020B0604020202020204" pitchFamily="34" charset="0"/>
                <a:cs typeface="Helvetica" panose="020B0604020202020204" pitchFamily="34" charset="0"/>
              </a:rPr>
              <a:t> level </a:t>
            </a:r>
            <a:r>
              <a:rPr lang="en-US" sz="3000" dirty="0">
                <a:latin typeface="Helvetica" panose="020B0604020202020204" pitchFamily="34" charset="0"/>
                <a:cs typeface="Helvetica" panose="020B0604020202020204" pitchFamily="34" charset="0"/>
              </a:rPr>
              <a:t>and </a:t>
            </a:r>
            <a:r>
              <a:rPr lang="en-US" sz="3000" b="1" i="1" dirty="0">
                <a:latin typeface="Helvetica" panose="020B0604020202020204" pitchFamily="34" charset="0"/>
                <a:cs typeface="Helvetica" panose="020B0604020202020204" pitchFamily="34" charset="0"/>
              </a:rPr>
              <a:t>vitamin D metabolites.</a:t>
            </a:r>
            <a:r>
              <a:rPr lang="en-US" sz="3000" dirty="0">
                <a:latin typeface="Helvetica" panose="020B0604020202020204" pitchFamily="34" charset="0"/>
                <a:cs typeface="Helvetica" panose="020B0604020202020204" pitchFamily="34" charset="0"/>
              </a:rPr>
              <a:t> </a:t>
            </a:r>
          </a:p>
          <a:p>
            <a:pPr marL="457200" lvl="1" indent="0">
              <a:buNone/>
            </a:pPr>
            <a:endParaRPr lang="en-US" sz="3000" dirty="0">
              <a:latin typeface="Helvetica" panose="020B0604020202020204" pitchFamily="34" charset="0"/>
              <a:cs typeface="Helvetica" panose="020B0604020202020204" pitchFamily="34" charset="0"/>
            </a:endParaRPr>
          </a:p>
          <a:p>
            <a:r>
              <a:rPr lang="en-US" sz="3000" dirty="0" err="1">
                <a:latin typeface="Helvetica" panose="020B0604020202020204" pitchFamily="34" charset="0"/>
                <a:cs typeface="Helvetica" panose="020B0604020202020204" pitchFamily="34" charset="0"/>
              </a:rPr>
              <a:t>PTHrP</a:t>
            </a:r>
            <a:r>
              <a:rPr lang="en-US" sz="3000" dirty="0">
                <a:latin typeface="Helvetica" panose="020B0604020202020204" pitchFamily="34" charset="0"/>
                <a:cs typeface="Helvetica" panose="020B0604020202020204" pitchFamily="34" charset="0"/>
              </a:rPr>
              <a:t> is parathyroid hormone related peptide, which can be produced by solid cancers as a paraneoplastic syndrome. This acts similarly to PTH, but it is biochemically different.</a:t>
            </a:r>
          </a:p>
          <a:p>
            <a:pPr lvl="1"/>
            <a:r>
              <a:rPr lang="en-US" sz="2600" dirty="0">
                <a:latin typeface="Helvetica" panose="020B0604020202020204" pitchFamily="34" charset="0"/>
                <a:cs typeface="Helvetica" panose="020B0604020202020204" pitchFamily="34" charset="0"/>
              </a:rPr>
              <a:t>If </a:t>
            </a:r>
            <a:r>
              <a:rPr lang="en-US" sz="2600" dirty="0" err="1">
                <a:latin typeface="Helvetica" panose="020B0604020202020204" pitchFamily="34" charset="0"/>
                <a:cs typeface="Helvetica" panose="020B0604020202020204" pitchFamily="34" charset="0"/>
              </a:rPr>
              <a:t>PTHrP</a:t>
            </a:r>
            <a:r>
              <a:rPr lang="en-US" sz="2600" dirty="0">
                <a:latin typeface="Helvetica" panose="020B0604020202020204" pitchFamily="34" charset="0"/>
                <a:cs typeface="Helvetica" panose="020B0604020202020204" pitchFamily="34" charset="0"/>
              </a:rPr>
              <a:t> is high, it is suggestive of </a:t>
            </a:r>
            <a:r>
              <a:rPr lang="en-US" sz="2600" b="1" dirty="0">
                <a:latin typeface="Helvetica" panose="020B0604020202020204" pitchFamily="34" charset="0"/>
                <a:cs typeface="Helvetica" panose="020B0604020202020204" pitchFamily="34" charset="0"/>
              </a:rPr>
              <a:t>malignancy</a:t>
            </a:r>
            <a:r>
              <a:rPr lang="en-US" sz="2600" dirty="0">
                <a:latin typeface="Helvetica" panose="020B0604020202020204" pitchFamily="34" charset="0"/>
                <a:cs typeface="Helvetica" panose="020B0604020202020204" pitchFamily="34" charset="0"/>
              </a:rPr>
              <a:t> </a:t>
            </a:r>
          </a:p>
          <a:p>
            <a:pPr marL="0" indent="0">
              <a:buFont typeface="Arial" panose="020B0604020202020204" pitchFamily="34" charset="0"/>
              <a:buNone/>
            </a:pPr>
            <a:endParaRPr lang="en-US" sz="3000" b="1" i="1" dirty="0">
              <a:latin typeface="Helvetica" panose="020B0604020202020204" pitchFamily="34" charset="0"/>
              <a:cs typeface="Helvetica" panose="020B0604020202020204" pitchFamily="34" charset="0"/>
            </a:endParaRPr>
          </a:p>
          <a:p>
            <a:pPr marL="514350" indent="-514350">
              <a:buFont typeface="Arial" panose="020B0604020202020204" pitchFamily="34" charset="0"/>
              <a:buAutoNum type="arabicPeriod"/>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85110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D815-70B4-60F7-C246-9B2CA56F3FB6}"/>
              </a:ext>
            </a:extLst>
          </p:cNvPr>
          <p:cNvSpPr>
            <a:spLocks noGrp="1"/>
          </p:cNvSpPr>
          <p:nvPr>
            <p:ph type="title"/>
          </p:nvPr>
        </p:nvSpPr>
        <p:spPr>
          <a:xfrm>
            <a:off x="678078" y="287454"/>
            <a:ext cx="7329101" cy="1325563"/>
          </a:xfrm>
        </p:spPr>
        <p:txBody>
          <a:bodyPr>
            <a:normAutofit/>
          </a:bodyPr>
          <a:lstStyle/>
          <a:p>
            <a:pPr algn="ctr"/>
            <a:r>
              <a:rPr lang="en-US" dirty="0"/>
              <a:t>Workup of Hypercalcemia</a:t>
            </a:r>
          </a:p>
        </p:txBody>
      </p:sp>
      <p:sp>
        <p:nvSpPr>
          <p:cNvPr id="3" name="Content Placeholder 2">
            <a:extLst>
              <a:ext uri="{FF2B5EF4-FFF2-40B4-BE49-F238E27FC236}">
                <a16:creationId xmlns:a16="http://schemas.microsoft.com/office/drawing/2014/main" id="{810C4B34-90E0-69A9-E17D-3C37EAEF3203}"/>
              </a:ext>
            </a:extLst>
          </p:cNvPr>
          <p:cNvSpPr>
            <a:spLocks noGrp="1"/>
          </p:cNvSpPr>
          <p:nvPr>
            <p:ph idx="1"/>
          </p:nvPr>
        </p:nvSpPr>
        <p:spPr>
          <a:xfrm>
            <a:off x="628650" y="1458686"/>
            <a:ext cx="7886700" cy="4718277"/>
          </a:xfrm>
        </p:spPr>
        <p:txBody>
          <a:bodyPr>
            <a:noAutofit/>
          </a:bodyPr>
          <a:lstStyle/>
          <a:p>
            <a:pPr>
              <a:spcBef>
                <a:spcPts val="600"/>
              </a:spcBef>
              <a:buSzPts val="3520"/>
            </a:pPr>
            <a:r>
              <a:rPr lang="en-US" sz="3000" dirty="0">
                <a:latin typeface="Helvetica" panose="020B0604020202020204" pitchFamily="34" charset="0"/>
                <a:ea typeface="Calibri"/>
                <a:cs typeface="Helvetica" panose="020B0604020202020204" pitchFamily="34" charset="0"/>
                <a:sym typeface="Calibri"/>
              </a:rPr>
              <a:t>Levels of vitamin D metabolites look for hypervitaminosis and granulomatous disease as a cause for hypercalcemia.</a:t>
            </a:r>
            <a:endParaRPr lang="en-US" sz="3000" dirty="0">
              <a:latin typeface="Helvetica" panose="020B0604020202020204" pitchFamily="34" charset="0"/>
              <a:cs typeface="Helvetica" panose="020B0604020202020204" pitchFamily="34" charset="0"/>
              <a:sym typeface="Calibri"/>
            </a:endParaRPr>
          </a:p>
          <a:p>
            <a:pPr lvl="1">
              <a:spcBef>
                <a:spcPts val="600"/>
              </a:spcBef>
              <a:buSzPts val="3520"/>
            </a:pPr>
            <a:endParaRPr lang="en-US" sz="3000" dirty="0">
              <a:latin typeface="Helvetica" panose="020B0604020202020204" pitchFamily="34" charset="0"/>
              <a:ea typeface="Calibri"/>
              <a:cs typeface="Helvetica" panose="020B0604020202020204" pitchFamily="34" charset="0"/>
              <a:sym typeface="Calibri"/>
            </a:endParaRPr>
          </a:p>
          <a:p>
            <a:pPr lvl="1">
              <a:spcBef>
                <a:spcPts val="600"/>
              </a:spcBef>
              <a:buSzPts val="3520"/>
            </a:pPr>
            <a:r>
              <a:rPr lang="en-US" sz="3000" dirty="0">
                <a:latin typeface="Helvetica" panose="020B0604020202020204" pitchFamily="34" charset="0"/>
                <a:ea typeface="Calibri"/>
                <a:cs typeface="Helvetica" panose="020B0604020202020204" pitchFamily="34" charset="0"/>
                <a:sym typeface="Calibri"/>
              </a:rPr>
              <a:t>25 hydroxy-vitamin D: high in cases of excessive vitamin D supplementation</a:t>
            </a:r>
          </a:p>
          <a:p>
            <a:pPr marL="457200" lvl="1" indent="0">
              <a:spcBef>
                <a:spcPts val="600"/>
              </a:spcBef>
              <a:buSzPts val="3520"/>
              <a:buNone/>
            </a:pPr>
            <a:endParaRPr lang="en-US" sz="3000" dirty="0">
              <a:latin typeface="Helvetica" panose="020B0604020202020204" pitchFamily="34" charset="0"/>
              <a:ea typeface="Calibri"/>
              <a:cs typeface="Helvetica" panose="020B0604020202020204" pitchFamily="34" charset="0"/>
              <a:sym typeface="Calibri"/>
            </a:endParaRPr>
          </a:p>
          <a:p>
            <a:pPr lvl="1">
              <a:spcBef>
                <a:spcPts val="600"/>
              </a:spcBef>
              <a:buSzPts val="3520"/>
            </a:pPr>
            <a:r>
              <a:rPr lang="en-US" sz="3000" dirty="0">
                <a:latin typeface="Helvetica" panose="020B0604020202020204" pitchFamily="34" charset="0"/>
                <a:ea typeface="Calibri"/>
                <a:cs typeface="Helvetica" panose="020B0604020202020204" pitchFamily="34" charset="0"/>
                <a:sym typeface="Calibri"/>
              </a:rPr>
              <a:t>1,25 dihydroxy-vitamin D: elevated in granulomatous disease (Hodgkin’s Lymphoma or sarcoidosis)</a:t>
            </a:r>
            <a:endParaRPr lang="en-US" sz="3000"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BFEEF0CE-828B-1E03-6D9A-352B9ED6D180}"/>
              </a:ext>
            </a:extLst>
          </p:cNvPr>
          <p:cNvSpPr>
            <a:spLocks noGrp="1"/>
          </p:cNvSpPr>
          <p:nvPr>
            <p:ph type="sldNum" sz="quarter" idx="12"/>
          </p:nvPr>
        </p:nvSpPr>
        <p:spPr/>
        <p:txBody>
          <a:bodyPr/>
          <a:lstStyle/>
          <a:p>
            <a:fld id="{1E422F9A-6EE9-44F0-9560-5F04B1DEB4A3}" type="slidenum">
              <a:rPr lang="en-US" smtClean="0"/>
              <a:t>36</a:t>
            </a:fld>
            <a:endParaRPr lang="en-US"/>
          </a:p>
        </p:txBody>
      </p:sp>
    </p:spTree>
    <p:extLst>
      <p:ext uri="{BB962C8B-B14F-4D97-AF65-F5344CB8AC3E}">
        <p14:creationId xmlns:p14="http://schemas.microsoft.com/office/powerpoint/2010/main" val="3467943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CA881-AAB0-D2AB-95C6-969C887A2EA0}"/>
              </a:ext>
            </a:extLst>
          </p:cNvPr>
          <p:cNvSpPr>
            <a:spLocks noGrp="1"/>
          </p:cNvSpPr>
          <p:nvPr>
            <p:ph type="sldNum" sz="quarter" idx="12"/>
          </p:nvPr>
        </p:nvSpPr>
        <p:spPr/>
        <p:txBody>
          <a:bodyPr/>
          <a:lstStyle/>
          <a:p>
            <a:fld id="{1E422F9A-6EE9-44F0-9560-5F04B1DEB4A3}" type="slidenum">
              <a:rPr lang="en-US" smtClean="0"/>
              <a:t>37</a:t>
            </a:fld>
            <a:endParaRPr lang="en-US"/>
          </a:p>
        </p:txBody>
      </p:sp>
      <p:pic>
        <p:nvPicPr>
          <p:cNvPr id="5" name="Google Shape;284;p30" descr="Diagnostic algorithm for hypercalcemia. Check repeat calcium, measure intact PTH. If elevated PTH likely primary hyperparathryoidism. If low PTH check PTHrP and vitamin D metabolites. ">
            <a:extLst>
              <a:ext uri="{FF2B5EF4-FFF2-40B4-BE49-F238E27FC236}">
                <a16:creationId xmlns:a16="http://schemas.microsoft.com/office/drawing/2014/main" id="{C2DB4CBF-CBA1-53E1-D25D-BE0518954B7D}"/>
              </a:ext>
            </a:extLst>
          </p:cNvPr>
          <p:cNvPicPr preferRelativeResize="0"/>
          <p:nvPr/>
        </p:nvPicPr>
        <p:blipFill rotWithShape="1">
          <a:blip r:embed="rId3">
            <a:alphaModFix/>
          </a:blip>
          <a:srcRect b="15813"/>
          <a:stretch/>
        </p:blipFill>
        <p:spPr>
          <a:xfrm>
            <a:off x="1474277" y="136524"/>
            <a:ext cx="6195445" cy="6249355"/>
          </a:xfrm>
          <a:prstGeom prst="rect">
            <a:avLst/>
          </a:prstGeom>
          <a:noFill/>
          <a:ln>
            <a:noFill/>
          </a:ln>
        </p:spPr>
      </p:pic>
      <p:sp>
        <p:nvSpPr>
          <p:cNvPr id="6" name="Rectangle 5">
            <a:extLst>
              <a:ext uri="{FF2B5EF4-FFF2-40B4-BE49-F238E27FC236}">
                <a16:creationId xmlns:a16="http://schemas.microsoft.com/office/drawing/2014/main" id="{3D1E41CC-128F-48CD-514C-7DA81C29E6D2}"/>
              </a:ext>
            </a:extLst>
          </p:cNvPr>
          <p:cNvSpPr/>
          <p:nvPr/>
        </p:nvSpPr>
        <p:spPr>
          <a:xfrm>
            <a:off x="1474277" y="3698396"/>
            <a:ext cx="2746031" cy="29190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FC7539E-A3AD-28B8-F449-64E63DA21D12}"/>
              </a:ext>
            </a:extLst>
          </p:cNvPr>
          <p:cNvSpPr/>
          <p:nvPr/>
        </p:nvSpPr>
        <p:spPr>
          <a:xfrm>
            <a:off x="2706624" y="3535680"/>
            <a:ext cx="658368" cy="914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3775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65CF1-5D6A-1B3E-0EA1-8F9C0F2D4430}"/>
              </a:ext>
            </a:extLst>
          </p:cNvPr>
          <p:cNvSpPr>
            <a:spLocks noGrp="1"/>
          </p:cNvSpPr>
          <p:nvPr>
            <p:ph type="title"/>
          </p:nvPr>
        </p:nvSpPr>
        <p:spPr>
          <a:xfrm>
            <a:off x="628650" y="1963339"/>
            <a:ext cx="7886700" cy="1325563"/>
          </a:xfrm>
        </p:spPr>
        <p:txBody>
          <a:bodyPr>
            <a:normAutofit/>
          </a:bodyPr>
          <a:lstStyle/>
          <a:p>
            <a:r>
              <a:rPr lang="en-US" sz="3000" dirty="0">
                <a:latin typeface="Helvetica Neue"/>
              </a:rPr>
              <a:t>What lab findings do you expect to see in hypercalcemia due to malignancy?</a:t>
            </a:r>
          </a:p>
        </p:txBody>
      </p:sp>
      <p:sp>
        <p:nvSpPr>
          <p:cNvPr id="3" name="Content Placeholder 2">
            <a:extLst>
              <a:ext uri="{FF2B5EF4-FFF2-40B4-BE49-F238E27FC236}">
                <a16:creationId xmlns:a16="http://schemas.microsoft.com/office/drawing/2014/main" id="{93ECFD69-0CB2-8B38-BAC0-C5542D3785C2}"/>
              </a:ext>
            </a:extLst>
          </p:cNvPr>
          <p:cNvSpPr>
            <a:spLocks noGrp="1"/>
          </p:cNvSpPr>
          <p:nvPr>
            <p:ph idx="1"/>
          </p:nvPr>
        </p:nvSpPr>
        <p:spPr>
          <a:xfrm>
            <a:off x="1497334" y="3191375"/>
            <a:ext cx="7886700" cy="4351338"/>
          </a:xfrm>
        </p:spPr>
        <p:txBody>
          <a:bodyPr/>
          <a:lstStyle/>
          <a:p>
            <a:pPr marL="0" indent="0">
              <a:buNone/>
            </a:pPr>
            <a:r>
              <a:rPr lang="en-US" sz="3200" dirty="0">
                <a:latin typeface="Helvetica Neue"/>
              </a:rPr>
              <a:t>Calcium - </a:t>
            </a:r>
          </a:p>
          <a:p>
            <a:pPr marL="0" indent="0">
              <a:buNone/>
            </a:pPr>
            <a:r>
              <a:rPr lang="en-US" sz="3200" dirty="0">
                <a:latin typeface="Helvetica Neue"/>
              </a:rPr>
              <a:t>Intact PTH - </a:t>
            </a:r>
          </a:p>
          <a:p>
            <a:pPr marL="0" indent="0">
              <a:buNone/>
            </a:pPr>
            <a:r>
              <a:rPr lang="en-US" sz="3200" dirty="0" err="1">
                <a:latin typeface="Helvetica Neue"/>
              </a:rPr>
              <a:t>PTHrP</a:t>
            </a:r>
            <a:r>
              <a:rPr lang="en-US" sz="3200" dirty="0">
                <a:latin typeface="Helvetica Neue"/>
              </a:rPr>
              <a:t> -</a:t>
            </a:r>
          </a:p>
          <a:p>
            <a:pPr marL="0" indent="0">
              <a:buNone/>
            </a:pPr>
            <a:endParaRPr lang="en-US" dirty="0">
              <a:latin typeface="Helvetica Neue"/>
            </a:endParaRPr>
          </a:p>
        </p:txBody>
      </p:sp>
      <p:sp>
        <p:nvSpPr>
          <p:cNvPr id="4" name="Slide Number Placeholder 3">
            <a:extLst>
              <a:ext uri="{FF2B5EF4-FFF2-40B4-BE49-F238E27FC236}">
                <a16:creationId xmlns:a16="http://schemas.microsoft.com/office/drawing/2014/main" id="{A31CB382-D92F-030E-BE6B-17452C6323DC}"/>
              </a:ext>
            </a:extLst>
          </p:cNvPr>
          <p:cNvSpPr>
            <a:spLocks noGrp="1"/>
          </p:cNvSpPr>
          <p:nvPr>
            <p:ph type="sldNum" sz="quarter" idx="12"/>
          </p:nvPr>
        </p:nvSpPr>
        <p:spPr/>
        <p:txBody>
          <a:bodyPr/>
          <a:lstStyle/>
          <a:p>
            <a:fld id="{1E422F9A-6EE9-44F0-9560-5F04B1DEB4A3}" type="slidenum">
              <a:rPr lang="en-US" smtClean="0"/>
              <a:t>38</a:t>
            </a:fld>
            <a:endParaRPr lang="en-US"/>
          </a:p>
        </p:txBody>
      </p:sp>
      <p:pic>
        <p:nvPicPr>
          <p:cNvPr id="6" name="Picture 5">
            <a:extLst>
              <a:ext uri="{FF2B5EF4-FFF2-40B4-BE49-F238E27FC236}">
                <a16:creationId xmlns:a16="http://schemas.microsoft.com/office/drawing/2014/main" id="{1D3F09E5-BA35-7845-FE6A-B2CF31D5BBFE}"/>
              </a:ext>
            </a:extLst>
          </p:cNvPr>
          <p:cNvPicPr>
            <a:picLocks noChangeAspect="1"/>
          </p:cNvPicPr>
          <p:nvPr/>
        </p:nvPicPr>
        <p:blipFill>
          <a:blip r:embed="rId2">
            <a:extLst>
              <a:ext uri="{28A0092B-C50C-407E-A947-70E740481C1C}">
                <a14:useLocalDpi xmlns:a14="http://schemas.microsoft.com/office/drawing/2010/main" val="0"/>
              </a:ext>
            </a:extLst>
          </a:blip>
          <a:srcRect r="56923" b="7700"/>
          <a:stretch>
            <a:fillRect/>
          </a:stretch>
        </p:blipFill>
        <p:spPr>
          <a:xfrm>
            <a:off x="1497334" y="140788"/>
            <a:ext cx="1662726" cy="1870412"/>
          </a:xfrm>
          <a:prstGeom prst="rect">
            <a:avLst/>
          </a:prstGeom>
        </p:spPr>
      </p:pic>
      <p:sp>
        <p:nvSpPr>
          <p:cNvPr id="7" name="Title 1">
            <a:extLst>
              <a:ext uri="{FF2B5EF4-FFF2-40B4-BE49-F238E27FC236}">
                <a16:creationId xmlns:a16="http://schemas.microsoft.com/office/drawing/2014/main" id="{C6537298-6CB8-78B5-6CBC-768428F43A95}"/>
              </a:ext>
            </a:extLst>
          </p:cNvPr>
          <p:cNvSpPr txBox="1">
            <a:spLocks/>
          </p:cNvSpPr>
          <p:nvPr/>
        </p:nvSpPr>
        <p:spPr>
          <a:xfrm>
            <a:off x="2419118" y="495350"/>
            <a:ext cx="6126488" cy="132556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solidFill>
                  <a:srgbClr val="336F65"/>
                </a:solidFill>
                <a:latin typeface="Helvetica Neue"/>
              </a:rPr>
              <a:t>Pause to check for understanding. Discuss </a:t>
            </a:r>
          </a:p>
          <a:p>
            <a:pPr algn="ctr"/>
            <a:r>
              <a:rPr lang="en-US" sz="3600" dirty="0">
                <a:solidFill>
                  <a:srgbClr val="336F65"/>
                </a:solidFill>
                <a:latin typeface="Helvetica Neue"/>
              </a:rPr>
              <a:t>with your neighbor.</a:t>
            </a:r>
          </a:p>
        </p:txBody>
      </p:sp>
      <p:sp>
        <p:nvSpPr>
          <p:cNvPr id="8" name="Title 1">
            <a:extLst>
              <a:ext uri="{FF2B5EF4-FFF2-40B4-BE49-F238E27FC236}">
                <a16:creationId xmlns:a16="http://schemas.microsoft.com/office/drawing/2014/main" id="{335AD202-577C-5453-5B36-E02AC7F9B38C}"/>
              </a:ext>
            </a:extLst>
          </p:cNvPr>
          <p:cNvSpPr txBox="1">
            <a:spLocks/>
          </p:cNvSpPr>
          <p:nvPr/>
        </p:nvSpPr>
        <p:spPr>
          <a:xfrm>
            <a:off x="628650" y="4704263"/>
            <a:ext cx="8125385"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Helvetica Neue"/>
              </a:rPr>
              <a:t>What is it called when a malignant tumor releases substances that disrupt normal tissue?</a:t>
            </a:r>
          </a:p>
        </p:txBody>
      </p:sp>
    </p:spTree>
    <p:extLst>
      <p:ext uri="{BB962C8B-B14F-4D97-AF65-F5344CB8AC3E}">
        <p14:creationId xmlns:p14="http://schemas.microsoft.com/office/powerpoint/2010/main" val="2304447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EB0B-E2E9-953A-28D5-C44A9E34D573}"/>
              </a:ext>
            </a:extLst>
          </p:cNvPr>
          <p:cNvSpPr>
            <a:spLocks noGrp="1"/>
          </p:cNvSpPr>
          <p:nvPr>
            <p:ph type="title"/>
          </p:nvPr>
        </p:nvSpPr>
        <p:spPr/>
        <p:txBody>
          <a:bodyPr/>
          <a:lstStyle/>
          <a:p>
            <a:r>
              <a:rPr lang="en-US" dirty="0"/>
              <a:t>Treatment of Hypercalcemia</a:t>
            </a:r>
          </a:p>
        </p:txBody>
      </p:sp>
      <p:sp>
        <p:nvSpPr>
          <p:cNvPr id="3" name="Content Placeholder 2">
            <a:extLst>
              <a:ext uri="{FF2B5EF4-FFF2-40B4-BE49-F238E27FC236}">
                <a16:creationId xmlns:a16="http://schemas.microsoft.com/office/drawing/2014/main" id="{D9FDF8D0-1612-6D1E-FC17-209D8FF346EF}"/>
              </a:ext>
            </a:extLst>
          </p:cNvPr>
          <p:cNvSpPr>
            <a:spLocks noGrp="1"/>
          </p:cNvSpPr>
          <p:nvPr>
            <p:ph idx="1"/>
          </p:nvPr>
        </p:nvSpPr>
        <p:spPr>
          <a:xfrm>
            <a:off x="628649" y="1600200"/>
            <a:ext cx="8167008" cy="4576763"/>
          </a:xfrm>
        </p:spPr>
        <p:txBody>
          <a:bodyPr/>
          <a:lstStyle/>
          <a:p>
            <a:pPr marL="0" indent="0">
              <a:buNone/>
            </a:pPr>
            <a:r>
              <a:rPr lang="en-US" sz="3200" dirty="0">
                <a:latin typeface="Helvetica" panose="020B0604020202020204" pitchFamily="34" charset="0"/>
                <a:cs typeface="Helvetica" panose="020B0604020202020204" pitchFamily="34" charset="0"/>
              </a:rPr>
              <a:t>Asymptomatic hypercalcemia (&lt;12 mg/dL): </a:t>
            </a:r>
          </a:p>
          <a:p>
            <a:pPr marL="514350" indent="-514350">
              <a:buAutoNum type="arabicPeriod"/>
            </a:pPr>
            <a:r>
              <a:rPr lang="en-US" b="1" dirty="0">
                <a:latin typeface="Helvetica" panose="020B0604020202020204" pitchFamily="34" charset="0"/>
                <a:cs typeface="Helvetica" panose="020B0604020202020204" pitchFamily="34" charset="0"/>
              </a:rPr>
              <a:t>Aggressive oral hydration</a:t>
            </a:r>
          </a:p>
          <a:p>
            <a:pPr marL="514350" indent="-514350">
              <a:buAutoNum type="arabicPeriod"/>
            </a:pPr>
            <a:r>
              <a:rPr lang="en-US" b="1" dirty="0">
                <a:latin typeface="Helvetica" panose="020B0604020202020204" pitchFamily="34" charset="0"/>
                <a:cs typeface="Helvetica" panose="020B0604020202020204" pitchFamily="34" charset="0"/>
              </a:rPr>
              <a:t>Avoid factors that worsen hypercalcemia:</a:t>
            </a:r>
            <a:r>
              <a:rPr lang="en-US" dirty="0">
                <a:latin typeface="Helvetica" panose="020B0604020202020204" pitchFamily="34" charset="0"/>
                <a:cs typeface="Helvetica" panose="020B0604020202020204" pitchFamily="34" charset="0"/>
              </a:rPr>
              <a:t> prolonged bed rest, immobility, and volume depletion</a:t>
            </a:r>
          </a:p>
          <a:p>
            <a:pPr marL="514350" indent="-514350">
              <a:buAutoNum type="arabicPeriod"/>
            </a:pPr>
            <a:r>
              <a:rPr lang="en-US" b="1" dirty="0">
                <a:latin typeface="Helvetica" panose="020B0604020202020204" pitchFamily="34" charset="0"/>
                <a:cs typeface="Helvetica" panose="020B0604020202020204" pitchFamily="34" charset="0"/>
              </a:rPr>
              <a:t>Avoid drugs that worsen hypercalcemia:</a:t>
            </a:r>
            <a:r>
              <a:rPr lang="en-US" dirty="0">
                <a:latin typeface="Helvetica" panose="020B0604020202020204" pitchFamily="34" charset="0"/>
                <a:cs typeface="Helvetica" panose="020B0604020202020204" pitchFamily="34" charset="0"/>
              </a:rPr>
              <a:t> thiazide diuretics, antacids (Tums), lithium  </a:t>
            </a:r>
            <a:endParaRPr lang="en-US" b="1" dirty="0">
              <a:latin typeface="Helvetica" panose="020B0604020202020204" pitchFamily="34" charset="0"/>
              <a:cs typeface="Helvetica" panose="020B0604020202020204" pitchFamily="34" charset="0"/>
            </a:endParaRPr>
          </a:p>
          <a:p>
            <a:pPr marL="514350" indent="-514350">
              <a:buAutoNum type="arabicPeriod"/>
            </a:pPr>
            <a:endParaRPr lang="en-US"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8490661A-73E6-54F6-CA2E-FA6C4F5B38B1}"/>
              </a:ext>
            </a:extLst>
          </p:cNvPr>
          <p:cNvSpPr>
            <a:spLocks noGrp="1"/>
          </p:cNvSpPr>
          <p:nvPr>
            <p:ph type="sldNum" sz="quarter" idx="12"/>
          </p:nvPr>
        </p:nvSpPr>
        <p:spPr/>
        <p:txBody>
          <a:bodyPr/>
          <a:lstStyle/>
          <a:p>
            <a:fld id="{1E422F9A-6EE9-44F0-9560-5F04B1DEB4A3}" type="slidenum">
              <a:rPr lang="en-US" smtClean="0"/>
              <a:t>39</a:t>
            </a:fld>
            <a:endParaRPr lang="en-US"/>
          </a:p>
        </p:txBody>
      </p:sp>
    </p:spTree>
    <p:extLst>
      <p:ext uri="{BB962C8B-B14F-4D97-AF65-F5344CB8AC3E}">
        <p14:creationId xmlns:p14="http://schemas.microsoft.com/office/powerpoint/2010/main" val="586701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460ED-62AC-8B18-3B8C-D9845521A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311E7-1683-F62F-52CB-8B0A8D3875D5}"/>
              </a:ext>
            </a:extLst>
          </p:cNvPr>
          <p:cNvSpPr>
            <a:spLocks noGrp="1"/>
          </p:cNvSpPr>
          <p:nvPr>
            <p:ph type="title"/>
          </p:nvPr>
        </p:nvSpPr>
        <p:spPr/>
        <p:txBody>
          <a:bodyPr/>
          <a:lstStyle/>
          <a:p>
            <a:r>
              <a:rPr lang="en-US" dirty="0"/>
              <a:t>Treatment of Hypercalcemia</a:t>
            </a:r>
          </a:p>
        </p:txBody>
      </p:sp>
      <p:sp>
        <p:nvSpPr>
          <p:cNvPr id="3" name="Content Placeholder 2">
            <a:extLst>
              <a:ext uri="{FF2B5EF4-FFF2-40B4-BE49-F238E27FC236}">
                <a16:creationId xmlns:a16="http://schemas.microsoft.com/office/drawing/2014/main" id="{F16B8516-6BF0-30BA-B716-0A86F194CFE1}"/>
              </a:ext>
            </a:extLst>
          </p:cNvPr>
          <p:cNvSpPr>
            <a:spLocks noGrp="1"/>
          </p:cNvSpPr>
          <p:nvPr>
            <p:ph idx="1"/>
          </p:nvPr>
        </p:nvSpPr>
        <p:spPr>
          <a:xfrm>
            <a:off x="577850" y="1600200"/>
            <a:ext cx="8329084" cy="4576763"/>
          </a:xfrm>
        </p:spPr>
        <p:txBody>
          <a:bodyPr/>
          <a:lstStyle/>
          <a:p>
            <a:pPr marL="0" indent="0">
              <a:buNone/>
            </a:pPr>
            <a:r>
              <a:rPr lang="en-US" sz="3200" dirty="0">
                <a:latin typeface="Helvetica" panose="020B0604020202020204" pitchFamily="34" charset="0"/>
                <a:cs typeface="Helvetica" panose="020B0604020202020204" pitchFamily="34" charset="0"/>
              </a:rPr>
              <a:t>Severe hypercalcemia (&gt; 13 mg/dL):</a:t>
            </a:r>
          </a:p>
          <a:p>
            <a:pPr marL="514350" indent="-514350">
              <a:buAutoNum type="arabicPeriod"/>
            </a:pPr>
            <a:r>
              <a:rPr lang="en-US" b="1" dirty="0">
                <a:latin typeface="Helvetica" panose="020B0604020202020204" pitchFamily="34" charset="0"/>
                <a:cs typeface="Helvetica" panose="020B0604020202020204" pitchFamily="34" charset="0"/>
              </a:rPr>
              <a:t>Aggressive IV hydration </a:t>
            </a:r>
            <a:r>
              <a:rPr lang="en-US" dirty="0">
                <a:latin typeface="Helvetica" panose="020B0604020202020204" pitchFamily="34" charset="0"/>
                <a:cs typeface="Helvetica" panose="020B0604020202020204" pitchFamily="34" charset="0"/>
              </a:rPr>
              <a:t>to expand volume and facilitate renal excretion of calcium </a:t>
            </a:r>
            <a:endParaRPr lang="en-US" b="1" dirty="0">
              <a:latin typeface="Helvetica" panose="020B0604020202020204" pitchFamily="34" charset="0"/>
              <a:cs typeface="Helvetica" panose="020B0604020202020204" pitchFamily="34" charset="0"/>
            </a:endParaRPr>
          </a:p>
          <a:p>
            <a:pPr marL="514350" indent="-514350">
              <a:buAutoNum type="arabicPeriod"/>
            </a:pPr>
            <a:r>
              <a:rPr lang="en-US" b="1" dirty="0">
                <a:latin typeface="Helvetica" panose="020B0604020202020204" pitchFamily="34" charset="0"/>
                <a:cs typeface="Helvetica" panose="020B0604020202020204" pitchFamily="34" charset="0"/>
              </a:rPr>
              <a:t>IV bisphosphonate</a:t>
            </a:r>
            <a:r>
              <a:rPr lang="en-US" b="1" i="1" dirty="0">
                <a:latin typeface="Helvetica" panose="020B0604020202020204" pitchFamily="34" charset="0"/>
                <a:cs typeface="Helvetica" panose="020B0604020202020204" pitchFamily="34" charset="0"/>
              </a:rPr>
              <a:t>: </a:t>
            </a:r>
            <a:r>
              <a:rPr lang="en-US" b="1" dirty="0">
                <a:latin typeface="Helvetica" panose="020B0604020202020204" pitchFamily="34" charset="0"/>
                <a:cs typeface="Helvetica" panose="020B0604020202020204" pitchFamily="34" charset="0"/>
              </a:rPr>
              <a:t>DOC is zoledronic acid </a:t>
            </a:r>
            <a:r>
              <a:rPr lang="en-US" dirty="0">
                <a:latin typeface="Helvetica" panose="020B0604020202020204" pitchFamily="34" charset="0"/>
                <a:cs typeface="Helvetica" panose="020B0604020202020204" pitchFamily="34" charset="0"/>
              </a:rPr>
              <a:t>which quickly lowers blood calcium</a:t>
            </a:r>
          </a:p>
          <a:p>
            <a:pPr marL="0" indent="0">
              <a:buNone/>
            </a:pPr>
            <a:endParaRPr lang="en-US" dirty="0">
              <a:latin typeface="Helvetica" panose="020B0604020202020204" pitchFamily="34" charset="0"/>
              <a:cs typeface="Helvetica" panose="020B0604020202020204" pitchFamily="34" charset="0"/>
            </a:endParaRPr>
          </a:p>
          <a:p>
            <a:pPr marL="0" indent="0">
              <a:buNone/>
            </a:pPr>
            <a:r>
              <a:rPr lang="en-US" dirty="0">
                <a:latin typeface="Helvetica" panose="020B0604020202020204" pitchFamily="34" charset="0"/>
                <a:cs typeface="Helvetica" panose="020B0604020202020204" pitchFamily="34" charset="0"/>
              </a:rPr>
              <a:t>Moderate hypercalcemia (between 12-13) may be treated with combination of these two approaches based on the clinical picture. </a:t>
            </a:r>
            <a:endParaRPr lang="en-US" b="1"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AF53F8B5-374C-059F-F4A5-BDA9D4182336}"/>
              </a:ext>
            </a:extLst>
          </p:cNvPr>
          <p:cNvSpPr>
            <a:spLocks noGrp="1"/>
          </p:cNvSpPr>
          <p:nvPr>
            <p:ph type="sldNum" sz="quarter" idx="12"/>
          </p:nvPr>
        </p:nvSpPr>
        <p:spPr/>
        <p:txBody>
          <a:bodyPr/>
          <a:lstStyle/>
          <a:p>
            <a:fld id="{1E422F9A-6EE9-44F0-9560-5F04B1DEB4A3}" type="slidenum">
              <a:rPr lang="en-US" smtClean="0"/>
              <a:t>40</a:t>
            </a:fld>
            <a:endParaRPr lang="en-US"/>
          </a:p>
        </p:txBody>
      </p:sp>
    </p:spTree>
    <p:extLst>
      <p:ext uri="{BB962C8B-B14F-4D97-AF65-F5344CB8AC3E}">
        <p14:creationId xmlns:p14="http://schemas.microsoft.com/office/powerpoint/2010/main" val="2799729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A4F976-B35A-F4F5-DE18-9C1E479CFB4A}"/>
              </a:ext>
            </a:extLst>
          </p:cNvPr>
          <p:cNvSpPr>
            <a:spLocks noGrp="1"/>
          </p:cNvSpPr>
          <p:nvPr>
            <p:ph type="sldNum" sz="quarter" idx="12"/>
          </p:nvPr>
        </p:nvSpPr>
        <p:spPr/>
        <p:txBody>
          <a:bodyPr/>
          <a:lstStyle/>
          <a:p>
            <a:fld id="{1E422F9A-6EE9-44F0-9560-5F04B1DEB4A3}" type="slidenum">
              <a:rPr lang="en-US" smtClean="0"/>
              <a:t>41</a:t>
            </a:fld>
            <a:endParaRPr lang="en-US"/>
          </a:p>
        </p:txBody>
      </p:sp>
      <p:pic>
        <p:nvPicPr>
          <p:cNvPr id="10" name="Picture 9" descr="Hypocalcemia">
            <a:extLst>
              <a:ext uri="{FF2B5EF4-FFF2-40B4-BE49-F238E27FC236}">
                <a16:creationId xmlns:a16="http://schemas.microsoft.com/office/drawing/2014/main" id="{B92D8D71-C9F1-2197-FF94-C31F9532A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14" y="549048"/>
            <a:ext cx="7535636" cy="5651727"/>
          </a:xfrm>
          <a:prstGeom prst="rect">
            <a:avLst/>
          </a:prstGeom>
        </p:spPr>
      </p:pic>
    </p:spTree>
    <p:extLst>
      <p:ext uri="{BB962C8B-B14F-4D97-AF65-F5344CB8AC3E}">
        <p14:creationId xmlns:p14="http://schemas.microsoft.com/office/powerpoint/2010/main" val="493667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2" name="TextBox 1">
            <a:extLst>
              <a:ext uri="{FF2B5EF4-FFF2-40B4-BE49-F238E27FC236}">
                <a16:creationId xmlns:a16="http://schemas.microsoft.com/office/drawing/2014/main" id="{7D3BE2BC-364C-3833-9DDB-B949B7120FB4}"/>
              </a:ext>
            </a:extLst>
          </p:cNvPr>
          <p:cNvSpPr txBox="1"/>
          <p:nvPr/>
        </p:nvSpPr>
        <p:spPr>
          <a:xfrm>
            <a:off x="505627" y="1337828"/>
            <a:ext cx="8131629" cy="4832092"/>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Low calcium makes nerve and muscle cells hyperexcitable.</a:t>
            </a:r>
          </a:p>
          <a:p>
            <a:endParaRPr lang="en-US" sz="2800" b="1" dirty="0">
              <a:latin typeface="Helvetica" panose="020B0604020202020204" pitchFamily="34" charset="0"/>
              <a:cs typeface="Helvetica" panose="020B0604020202020204" pitchFamily="34" charset="0"/>
            </a:endParaRPr>
          </a:p>
          <a:p>
            <a:pPr marL="514350" indent="-514350">
              <a:buAutoNum type="arabicPeriod"/>
            </a:pPr>
            <a:r>
              <a:rPr lang="en-US" sz="2800" b="1" i="1" dirty="0">
                <a:latin typeface="Helvetica" panose="020B0604020202020204" pitchFamily="34" charset="0"/>
                <a:cs typeface="Helvetica" panose="020B0604020202020204" pitchFamily="34" charset="0"/>
              </a:rPr>
              <a:t>Paresthesia: </a:t>
            </a:r>
            <a:r>
              <a:rPr lang="en-US" sz="2800" dirty="0">
                <a:latin typeface="Helvetica" panose="020B0604020202020204" pitchFamily="34" charset="0"/>
                <a:cs typeface="Helvetica" panose="020B0604020202020204" pitchFamily="34" charset="0"/>
              </a:rPr>
              <a:t>most commonly perioral or in the hands or feet</a:t>
            </a:r>
            <a:endParaRPr lang="en-US" sz="2800" b="1" i="1" dirty="0">
              <a:latin typeface="Helvetica" panose="020B0604020202020204" pitchFamily="34" charset="0"/>
              <a:cs typeface="Helvetica" panose="020B0604020202020204" pitchFamily="34" charset="0"/>
            </a:endParaRPr>
          </a:p>
          <a:p>
            <a:pPr marL="514350" indent="-514350">
              <a:buAutoNum type="arabicPeriod"/>
            </a:pPr>
            <a:r>
              <a:rPr lang="en-US" sz="2800" b="1" i="1" dirty="0">
                <a:latin typeface="Helvetica" panose="020B0604020202020204" pitchFamily="34" charset="0"/>
                <a:cs typeface="Helvetica" panose="020B0604020202020204" pitchFamily="34" charset="0"/>
              </a:rPr>
              <a:t>Muscle spasms / tetany </a:t>
            </a:r>
          </a:p>
          <a:p>
            <a:pPr marL="514350" indent="-514350">
              <a:buAutoNum type="arabicPeriod"/>
            </a:pPr>
            <a:r>
              <a:rPr lang="en-US" sz="2800" b="1" i="1" dirty="0">
                <a:latin typeface="Helvetica" panose="020B0604020202020204" pitchFamily="34" charset="0"/>
                <a:cs typeface="Helvetica" panose="020B0604020202020204" pitchFamily="34" charset="0"/>
              </a:rPr>
              <a:t>Laryngospasm </a:t>
            </a:r>
          </a:p>
          <a:p>
            <a:pPr marL="514350" indent="-514350">
              <a:buAutoNum type="arabicPeriod"/>
            </a:pPr>
            <a:r>
              <a:rPr lang="en-US" sz="2800" b="1" i="1" dirty="0">
                <a:latin typeface="Helvetica" panose="020B0604020202020204" pitchFamily="34" charset="0"/>
                <a:cs typeface="Helvetica" panose="020B0604020202020204" pitchFamily="34" charset="0"/>
              </a:rPr>
              <a:t>Seizures</a:t>
            </a:r>
          </a:p>
          <a:p>
            <a:pPr marL="514350" indent="-514350">
              <a:buAutoNum type="arabicPeriod"/>
            </a:pPr>
            <a:r>
              <a:rPr lang="en-US" sz="2800" b="1" i="1" dirty="0">
                <a:latin typeface="Helvetica" panose="020B0604020202020204" pitchFamily="34" charset="0"/>
                <a:cs typeface="Helvetica" panose="020B0604020202020204" pitchFamily="34" charset="0"/>
              </a:rPr>
              <a:t>Pr</a:t>
            </a:r>
            <a:r>
              <a:rPr lang="en-US" sz="2800" b="1" i="1" u="sng" dirty="0">
                <a:latin typeface="Helvetica" panose="020B0604020202020204" pitchFamily="34" charset="0"/>
                <a:cs typeface="Helvetica" panose="020B0604020202020204" pitchFamily="34" charset="0"/>
              </a:rPr>
              <a:t>o</a:t>
            </a:r>
            <a:r>
              <a:rPr lang="en-US" sz="2800" b="1" i="1" dirty="0">
                <a:latin typeface="Helvetica" panose="020B0604020202020204" pitchFamily="34" charset="0"/>
                <a:cs typeface="Helvetica" panose="020B0604020202020204" pitchFamily="34" charset="0"/>
              </a:rPr>
              <a:t>l</a:t>
            </a:r>
            <a:r>
              <a:rPr lang="en-US" sz="2800" b="1" i="1" u="sng" dirty="0">
                <a:latin typeface="Helvetica" panose="020B0604020202020204" pitchFamily="34" charset="0"/>
                <a:cs typeface="Helvetica" panose="020B0604020202020204" pitchFamily="34" charset="0"/>
              </a:rPr>
              <a:t>o</a:t>
            </a:r>
            <a:r>
              <a:rPr lang="en-US" sz="2800" b="1" i="1" dirty="0">
                <a:latin typeface="Helvetica" panose="020B0604020202020204" pitchFamily="34" charset="0"/>
                <a:cs typeface="Helvetica" panose="020B0604020202020204" pitchFamily="34" charset="0"/>
              </a:rPr>
              <a:t>ngation of the QT interval </a:t>
            </a:r>
            <a:endParaRPr lang="en-US" sz="28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endParaRPr lang="en-US" sz="2800" dirty="0">
              <a:latin typeface="Helvetica" panose="020B0604020202020204" pitchFamily="34" charset="0"/>
              <a:cs typeface="Helvetica" panose="020B0604020202020204" pitchFamily="34" charset="0"/>
            </a:endParaRPr>
          </a:p>
        </p:txBody>
      </p:sp>
      <p:sp>
        <p:nvSpPr>
          <p:cNvPr id="302" name="Google Shape;302;p33"/>
          <p:cNvSpPr txBox="1">
            <a:spLocks noGrp="1"/>
          </p:cNvSpPr>
          <p:nvPr>
            <p:ph type="title"/>
          </p:nvPr>
        </p:nvSpPr>
        <p:spPr>
          <a:xfrm>
            <a:off x="151805" y="325679"/>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5000" dirty="0">
                <a:ea typeface="Helvetica Neue"/>
                <a:cs typeface="Helvetica Neue"/>
                <a:sym typeface="Helvetica Neue"/>
              </a:rPr>
              <a:t>Hypocalcemia S/S</a:t>
            </a:r>
            <a:endParaRPr sz="5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4"/>
          <p:cNvSpPr txBox="1">
            <a:spLocks noGrp="1"/>
          </p:cNvSpPr>
          <p:nvPr>
            <p:ph type="title"/>
          </p:nvPr>
        </p:nvSpPr>
        <p:spPr>
          <a:xfrm>
            <a:off x="151804" y="336564"/>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5000" dirty="0">
                <a:ea typeface="Helvetica Neue"/>
                <a:cs typeface="Helvetica Neue"/>
                <a:sym typeface="Helvetica Neue"/>
              </a:rPr>
              <a:t>Hypocalcemia Work-up</a:t>
            </a:r>
            <a:endParaRPr sz="5000" dirty="0"/>
          </a:p>
        </p:txBody>
      </p:sp>
      <p:sp>
        <p:nvSpPr>
          <p:cNvPr id="309" name="Google Shape;309;p34"/>
          <p:cNvSpPr txBox="1">
            <a:spLocks noGrp="1"/>
          </p:cNvSpPr>
          <p:nvPr>
            <p:ph type="body" idx="1"/>
          </p:nvPr>
        </p:nvSpPr>
        <p:spPr>
          <a:xfrm>
            <a:off x="355780" y="1250741"/>
            <a:ext cx="8431321" cy="5450591"/>
          </a:xfrm>
          <a:prstGeom prst="rect">
            <a:avLst/>
          </a:prstGeom>
          <a:noFill/>
          <a:ln>
            <a:noFill/>
          </a:ln>
        </p:spPr>
        <p:txBody>
          <a:bodyPr spcFirstLastPara="1" vert="horz" wrap="square" lIns="88893" tIns="50783" rIns="88893" bIns="50783" rtlCol="0" anchor="t" anchorCtr="0">
            <a:noAutofit/>
          </a:bodyPr>
          <a:lstStyle/>
          <a:p>
            <a:pPr>
              <a:lnSpc>
                <a:spcPct val="100000"/>
              </a:lnSpc>
              <a:spcBef>
                <a:spcPts val="844"/>
              </a:spcBef>
              <a:spcAft>
                <a:spcPts val="422"/>
              </a:spcAft>
              <a:buClr>
                <a:srgbClr val="000000"/>
              </a:buClr>
              <a:buSzPct val="80000"/>
            </a:pPr>
            <a:r>
              <a:rPr lang="en-US" dirty="0">
                <a:latin typeface="Helvetica" panose="020B0604020202020204" pitchFamily="34" charset="0"/>
                <a:ea typeface="Calibri"/>
                <a:cs typeface="Helvetica" panose="020B0604020202020204" pitchFamily="34" charset="0"/>
                <a:sym typeface="Calibri"/>
              </a:rPr>
              <a:t>Begin with measurement of intact PTH,  magnesium, creatinine, phosphate, and vitamin D metabolites.</a:t>
            </a:r>
          </a:p>
          <a:p>
            <a:pPr>
              <a:lnSpc>
                <a:spcPct val="100000"/>
              </a:lnSpc>
              <a:spcBef>
                <a:spcPts val="844"/>
              </a:spcBef>
              <a:spcAft>
                <a:spcPts val="422"/>
              </a:spcAft>
              <a:buClr>
                <a:srgbClr val="000000"/>
              </a:buClr>
              <a:buSzPct val="80000"/>
            </a:pPr>
            <a:endParaRPr lang="en-US" dirty="0">
              <a:latin typeface="Helvetica" panose="020B0604020202020204" pitchFamily="34" charset="0"/>
              <a:ea typeface="Calibri"/>
              <a:cs typeface="Helvetica" panose="020B0604020202020204" pitchFamily="34" charset="0"/>
              <a:sym typeface="Calibri"/>
            </a:endParaRPr>
          </a:p>
          <a:p>
            <a:pPr>
              <a:lnSpc>
                <a:spcPct val="100000"/>
              </a:lnSpc>
              <a:spcBef>
                <a:spcPts val="844"/>
              </a:spcBef>
              <a:spcAft>
                <a:spcPts val="422"/>
              </a:spcAft>
              <a:buClr>
                <a:srgbClr val="000000"/>
              </a:buClr>
              <a:buSzPct val="80000"/>
            </a:pPr>
            <a:r>
              <a:rPr lang="en-US" dirty="0">
                <a:latin typeface="Helvetica" panose="020B0604020202020204" pitchFamily="34" charset="0"/>
                <a:ea typeface="Calibri"/>
                <a:cs typeface="Helvetica" panose="020B0604020202020204" pitchFamily="34" charset="0"/>
                <a:sym typeface="Calibri"/>
              </a:rPr>
              <a:t>Treatment depends on cause, severity, symptoms, and how rapidly the hypocalcemia developed.</a:t>
            </a:r>
          </a:p>
          <a:p>
            <a:pPr marL="0" indent="0">
              <a:lnSpc>
                <a:spcPct val="100000"/>
              </a:lnSpc>
              <a:spcBef>
                <a:spcPts val="844"/>
              </a:spcBef>
              <a:spcAft>
                <a:spcPts val="422"/>
              </a:spcAft>
              <a:buClr>
                <a:srgbClr val="000000"/>
              </a:buClr>
              <a:buSzPct val="80000"/>
              <a:buNone/>
            </a:pPr>
            <a:endParaRPr lang="en-US" b="1" i="1"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C1265-EAB6-31B6-5453-4D60D09E991B}"/>
              </a:ext>
            </a:extLst>
          </p:cNvPr>
          <p:cNvSpPr>
            <a:spLocks noGrp="1"/>
          </p:cNvSpPr>
          <p:nvPr>
            <p:ph type="title"/>
          </p:nvPr>
        </p:nvSpPr>
        <p:spPr>
          <a:xfrm>
            <a:off x="628650" y="245384"/>
            <a:ext cx="7886700" cy="1325563"/>
          </a:xfrm>
        </p:spPr>
        <p:txBody>
          <a:bodyPr>
            <a:normAutofit/>
          </a:bodyPr>
          <a:lstStyle/>
          <a:p>
            <a:pPr algn="ctr"/>
            <a:r>
              <a:rPr lang="en-US" sz="5000" dirty="0"/>
              <a:t>Hypocalcemia Treatment</a:t>
            </a:r>
          </a:p>
        </p:txBody>
      </p:sp>
      <p:sp>
        <p:nvSpPr>
          <p:cNvPr id="3" name="Content Placeholder 2">
            <a:extLst>
              <a:ext uri="{FF2B5EF4-FFF2-40B4-BE49-F238E27FC236}">
                <a16:creationId xmlns:a16="http://schemas.microsoft.com/office/drawing/2014/main" id="{5EC6919C-B330-B9AF-3BCB-DB32E34AE3A9}"/>
              </a:ext>
            </a:extLst>
          </p:cNvPr>
          <p:cNvSpPr>
            <a:spLocks noGrp="1"/>
          </p:cNvSpPr>
          <p:nvPr>
            <p:ph idx="1"/>
          </p:nvPr>
        </p:nvSpPr>
        <p:spPr>
          <a:xfrm>
            <a:off x="628650" y="1601842"/>
            <a:ext cx="7886700" cy="4665662"/>
          </a:xfrm>
        </p:spPr>
        <p:txBody>
          <a:bodyPr>
            <a:normAutofit/>
          </a:bodyPr>
          <a:lstStyle/>
          <a:p>
            <a:r>
              <a:rPr lang="en-US" sz="3000" b="1" dirty="0">
                <a:latin typeface="Helvetica" panose="020B0604020202020204" pitchFamily="34" charset="0"/>
                <a:cs typeface="Helvetica" panose="020B0604020202020204" pitchFamily="34" charset="0"/>
              </a:rPr>
              <a:t>Mild </a:t>
            </a:r>
            <a:r>
              <a:rPr lang="en-US" sz="3000" b="1" dirty="0">
                <a:latin typeface="Helvetica" panose="020B0604020202020204" pitchFamily="34" charset="0"/>
                <a:ea typeface="Calibri"/>
                <a:cs typeface="Helvetica" panose="020B0604020202020204" pitchFamily="34" charset="0"/>
                <a:sym typeface="Calibri"/>
              </a:rPr>
              <a:t>or asymptomatic hypocalcemia </a:t>
            </a:r>
            <a:r>
              <a:rPr lang="en-US" sz="3000" dirty="0">
                <a:latin typeface="Helvetica" panose="020B0604020202020204" pitchFamily="34" charset="0"/>
                <a:ea typeface="Calibri"/>
                <a:cs typeface="Helvetica" panose="020B0604020202020204" pitchFamily="34" charset="0"/>
                <a:sym typeface="Calibri"/>
              </a:rPr>
              <a:t>is</a:t>
            </a:r>
            <a:r>
              <a:rPr lang="en-US" sz="3000" b="1" dirty="0">
                <a:latin typeface="Helvetica" panose="020B0604020202020204" pitchFamily="34" charset="0"/>
                <a:ea typeface="Calibri"/>
                <a:cs typeface="Helvetica" panose="020B0604020202020204" pitchFamily="34" charset="0"/>
                <a:sym typeface="Calibri"/>
              </a:rPr>
              <a:t> </a:t>
            </a:r>
            <a:r>
              <a:rPr lang="en-US" sz="3000" dirty="0">
                <a:latin typeface="Helvetica" panose="020B0604020202020204" pitchFamily="34" charset="0"/>
                <a:ea typeface="Calibri"/>
                <a:cs typeface="Helvetica" panose="020B0604020202020204" pitchFamily="34" charset="0"/>
                <a:sym typeface="Calibri"/>
              </a:rPr>
              <a:t>treated with oral replacement.</a:t>
            </a:r>
          </a:p>
          <a:p>
            <a:pPr lvl="1"/>
            <a:r>
              <a:rPr lang="en-US" sz="2600" dirty="0">
                <a:latin typeface="Helvetica" panose="020B0604020202020204" pitchFamily="34" charset="0"/>
                <a:ea typeface="Calibri"/>
                <a:cs typeface="Helvetica" panose="020B0604020202020204" pitchFamily="34" charset="0"/>
                <a:sym typeface="Calibri"/>
              </a:rPr>
              <a:t>Increase dietary intake or add oral supplement.</a:t>
            </a:r>
          </a:p>
          <a:p>
            <a:pPr lvl="1"/>
            <a:endParaRPr lang="en-US" sz="3000" dirty="0">
              <a:latin typeface="Helvetica" panose="020B0604020202020204" pitchFamily="34" charset="0"/>
              <a:ea typeface="Calibri"/>
              <a:cs typeface="Helvetica" panose="020B0604020202020204" pitchFamily="34" charset="0"/>
              <a:sym typeface="Calibri"/>
            </a:endParaRPr>
          </a:p>
          <a:p>
            <a:r>
              <a:rPr lang="en-US" sz="3000" dirty="0">
                <a:latin typeface="Helvetica" panose="020B0604020202020204" pitchFamily="34" charset="0"/>
                <a:cs typeface="Helvetica" panose="020B0604020202020204" pitchFamily="34" charset="0"/>
              </a:rPr>
              <a:t>IV </a:t>
            </a:r>
            <a:r>
              <a:rPr lang="en-US" sz="3000" dirty="0">
                <a:latin typeface="Helvetica" panose="020B0604020202020204" pitchFamily="34" charset="0"/>
                <a:ea typeface="Calibri"/>
                <a:cs typeface="Helvetica" panose="020B0604020202020204" pitchFamily="34" charset="0"/>
                <a:sym typeface="Calibri"/>
              </a:rPr>
              <a:t>replacement is indicated in </a:t>
            </a:r>
            <a:r>
              <a:rPr lang="en-US" sz="3000" b="1" dirty="0">
                <a:latin typeface="Helvetica" panose="020B0604020202020204" pitchFamily="34" charset="0"/>
                <a:ea typeface="Calibri"/>
                <a:cs typeface="Helvetica" panose="020B0604020202020204" pitchFamily="34" charset="0"/>
                <a:sym typeface="Calibri"/>
              </a:rPr>
              <a:t>symptomatic or severe hypocalcemia</a:t>
            </a:r>
            <a:r>
              <a:rPr lang="en-US" sz="3000" dirty="0">
                <a:latin typeface="Helvetica" panose="020B0604020202020204" pitchFamily="34" charset="0"/>
                <a:ea typeface="Calibri"/>
                <a:cs typeface="Helvetica" panose="020B0604020202020204" pitchFamily="34" charset="0"/>
                <a:sym typeface="Calibri"/>
              </a:rPr>
              <a:t> with cardiac arrhythmias or tetany.</a:t>
            </a:r>
            <a:endParaRPr lang="en-US" sz="3000" b="1" i="1" dirty="0">
              <a:latin typeface="Helvetica" panose="020B0604020202020204" pitchFamily="34" charset="0"/>
              <a:ea typeface="Calibri"/>
              <a:cs typeface="Helvetica" panose="020B0604020202020204" pitchFamily="34" charset="0"/>
              <a:sym typeface="Calibri"/>
            </a:endParaRPr>
          </a:p>
          <a:p>
            <a:pPr marL="0" indent="0">
              <a:buNone/>
            </a:pPr>
            <a:endParaRPr lang="en-US" dirty="0">
              <a:latin typeface="Helvetica" panose="020B0604020202020204" pitchFamily="34" charset="0"/>
              <a:cs typeface="Helvetica" panose="020B0604020202020204" pitchFamily="34" charset="0"/>
            </a:endParaRPr>
          </a:p>
          <a:p>
            <a:endParaRPr lang="en-US" dirty="0">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3CB7B0BC-D8F1-1106-D3E4-FB5CA0CAF5F0}"/>
              </a:ext>
            </a:extLst>
          </p:cNvPr>
          <p:cNvSpPr>
            <a:spLocks noGrp="1"/>
          </p:cNvSpPr>
          <p:nvPr>
            <p:ph type="sldNum" sz="quarter" idx="12"/>
          </p:nvPr>
        </p:nvSpPr>
        <p:spPr/>
        <p:txBody>
          <a:bodyPr/>
          <a:lstStyle/>
          <a:p>
            <a:fld id="{1E422F9A-6EE9-44F0-9560-5F04B1DEB4A3}" type="slidenum">
              <a:rPr lang="en-US" smtClean="0"/>
              <a:t>44</a:t>
            </a:fld>
            <a:endParaRPr lang="en-US"/>
          </a:p>
        </p:txBody>
      </p:sp>
    </p:spTree>
    <p:extLst>
      <p:ext uri="{BB962C8B-B14F-4D97-AF65-F5344CB8AC3E}">
        <p14:creationId xmlns:p14="http://schemas.microsoft.com/office/powerpoint/2010/main" val="2631149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9" name="Rectangle 12308">
            <a:extLst>
              <a:ext uri="{FF2B5EF4-FFF2-40B4-BE49-F238E27FC236}">
                <a16:creationId xmlns:a16="http://schemas.microsoft.com/office/drawing/2014/main" id="{2ABE1108-6423-4E53-85A1-81768304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BF7FE-31A6-76E7-DB33-F713466FB443}"/>
              </a:ext>
            </a:extLst>
          </p:cNvPr>
          <p:cNvSpPr>
            <a:spLocks noGrp="1"/>
          </p:cNvSpPr>
          <p:nvPr>
            <p:ph type="title"/>
          </p:nvPr>
        </p:nvSpPr>
        <p:spPr>
          <a:xfrm>
            <a:off x="3382678" y="104642"/>
            <a:ext cx="5516689" cy="1675626"/>
          </a:xfrm>
        </p:spPr>
        <p:txBody>
          <a:bodyPr>
            <a:normAutofit/>
          </a:bodyPr>
          <a:lstStyle/>
          <a:p>
            <a:r>
              <a:rPr lang="en-US" sz="4000" dirty="0"/>
              <a:t>Hypocalcemia Treatment</a:t>
            </a:r>
          </a:p>
        </p:txBody>
      </p:sp>
      <p:pic>
        <p:nvPicPr>
          <p:cNvPr id="12304" name="Picture 16">
            <a:extLst>
              <a:ext uri="{FF2B5EF4-FFF2-40B4-BE49-F238E27FC236}">
                <a16:creationId xmlns:a16="http://schemas.microsoft.com/office/drawing/2014/main" id="{3885B860-2F47-BBF8-459A-648186E71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8108"/>
          <a:stretch>
            <a:fillRect/>
          </a:stretch>
        </p:blipFill>
        <p:spPr bwMode="auto">
          <a:xfrm>
            <a:off x="20" y="1"/>
            <a:ext cx="3140313" cy="2164321"/>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Free Stock Photo of Slice of Swiss Cheese With Holes | Download Free Images  and Free Illustrations">
            <a:extLst>
              <a:ext uri="{FF2B5EF4-FFF2-40B4-BE49-F238E27FC236}">
                <a16:creationId xmlns:a16="http://schemas.microsoft.com/office/drawing/2014/main" id="{5E892818-0331-8E48-423A-A730F3183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512" r="6" b="6"/>
          <a:stretch>
            <a:fillRect/>
          </a:stretch>
        </p:blipFill>
        <p:spPr bwMode="auto">
          <a:xfrm>
            <a:off x="20" y="2342320"/>
            <a:ext cx="3140313" cy="2164321"/>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Free Stock Photo 8490 Fresh uncooked salmon steaks | freeimageslive">
            <a:extLst>
              <a:ext uri="{FF2B5EF4-FFF2-40B4-BE49-F238E27FC236}">
                <a16:creationId xmlns:a16="http://schemas.microsoft.com/office/drawing/2014/main" id="{6239BD61-E3A4-D536-AD3C-A5EB64B35D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3517" b="6"/>
          <a:stretch>
            <a:fillRect/>
          </a:stretch>
        </p:blipFill>
        <p:spPr bwMode="auto">
          <a:xfrm>
            <a:off x="20" y="4693680"/>
            <a:ext cx="3140313" cy="216432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BF73CEA-6970-0736-3783-B02CAF43D1C4}"/>
              </a:ext>
            </a:extLst>
          </p:cNvPr>
          <p:cNvSpPr>
            <a:spLocks noGrp="1"/>
          </p:cNvSpPr>
          <p:nvPr>
            <p:ph idx="1"/>
          </p:nvPr>
        </p:nvSpPr>
        <p:spPr>
          <a:xfrm>
            <a:off x="3382679" y="1348670"/>
            <a:ext cx="5516688" cy="4340084"/>
          </a:xfrm>
        </p:spPr>
        <p:txBody>
          <a:bodyPr>
            <a:noAutofit/>
          </a:bodyPr>
          <a:lstStyle/>
          <a:p>
            <a:pPr marL="0" indent="0">
              <a:buNone/>
            </a:pPr>
            <a:r>
              <a:rPr lang="en-US" sz="2600" b="1" dirty="0">
                <a:latin typeface="Helvetica" panose="020B0604020202020204" pitchFamily="34" charset="0"/>
                <a:cs typeface="Helvetica" panose="020B0604020202020204" pitchFamily="34" charset="0"/>
              </a:rPr>
              <a:t>Increasing dietary calcium </a:t>
            </a:r>
          </a:p>
          <a:p>
            <a:pPr lvl="1"/>
            <a:r>
              <a:rPr lang="en-US" sz="2600" dirty="0">
                <a:latin typeface="Helvetica" panose="020B0604020202020204" pitchFamily="34" charset="0"/>
                <a:cs typeface="Helvetica" panose="020B0604020202020204" pitchFamily="34" charset="0"/>
              </a:rPr>
              <a:t>Dairy products: cheese, milk</a:t>
            </a:r>
          </a:p>
          <a:p>
            <a:pPr lvl="1"/>
            <a:r>
              <a:rPr lang="en-US" sz="2600" dirty="0">
                <a:latin typeface="Helvetica" panose="020B0604020202020204" pitchFamily="34" charset="0"/>
                <a:cs typeface="Helvetica" panose="020B0604020202020204" pitchFamily="34" charset="0"/>
              </a:rPr>
              <a:t>Dark green leafy vegetables: broccoli, kale</a:t>
            </a:r>
          </a:p>
          <a:p>
            <a:pPr lvl="1"/>
            <a:r>
              <a:rPr lang="en-US" sz="2600" dirty="0">
                <a:latin typeface="Helvetica" panose="020B0604020202020204" pitchFamily="34" charset="0"/>
                <a:cs typeface="Helvetica" panose="020B0604020202020204" pitchFamily="34" charset="0"/>
              </a:rPr>
              <a:t>Fish: sardines, salmon</a:t>
            </a:r>
          </a:p>
          <a:p>
            <a:pPr lvl="1"/>
            <a:r>
              <a:rPr lang="en-US" sz="2600" dirty="0">
                <a:latin typeface="Helvetica" panose="020B0604020202020204" pitchFamily="34" charset="0"/>
                <a:cs typeface="Helvetica" panose="020B0604020202020204" pitchFamily="34" charset="0"/>
              </a:rPr>
              <a:t>Calcium-fortified foods: soy products, cereal</a:t>
            </a:r>
          </a:p>
          <a:p>
            <a:pPr marL="457200" lvl="1" indent="0">
              <a:buNone/>
            </a:pPr>
            <a:endParaRPr lang="en-US" sz="2600" dirty="0">
              <a:latin typeface="Helvetica" panose="020B0604020202020204" pitchFamily="34" charset="0"/>
              <a:cs typeface="Helvetica" panose="020B0604020202020204" pitchFamily="34" charset="0"/>
            </a:endParaRPr>
          </a:p>
          <a:p>
            <a:r>
              <a:rPr lang="en-US" sz="2600" dirty="0">
                <a:latin typeface="Helvetica" panose="020B0604020202020204" pitchFamily="34" charset="0"/>
                <a:cs typeface="Helvetica" panose="020B0604020202020204" pitchFamily="34" charset="0"/>
              </a:rPr>
              <a:t>Patients who take in adequate calcium can still have low Ca levels due to poor GI absorption. </a:t>
            </a:r>
          </a:p>
        </p:txBody>
      </p:sp>
      <p:sp>
        <p:nvSpPr>
          <p:cNvPr id="4" name="Slide Number Placeholder 3">
            <a:extLst>
              <a:ext uri="{FF2B5EF4-FFF2-40B4-BE49-F238E27FC236}">
                <a16:creationId xmlns:a16="http://schemas.microsoft.com/office/drawing/2014/main" id="{9F97C27F-34A2-F198-10D7-217C7279F8F2}"/>
              </a:ext>
            </a:extLst>
          </p:cNvPr>
          <p:cNvSpPr>
            <a:spLocks noGrp="1"/>
          </p:cNvSpPr>
          <p:nvPr>
            <p:ph type="sldNum" sz="quarter" idx="12"/>
          </p:nvPr>
        </p:nvSpPr>
        <p:spPr>
          <a:xfrm>
            <a:off x="6457950" y="6356350"/>
            <a:ext cx="2057400" cy="365125"/>
          </a:xfrm>
        </p:spPr>
        <p:txBody>
          <a:bodyPr>
            <a:normAutofit/>
          </a:bodyPr>
          <a:lstStyle/>
          <a:p>
            <a:pPr>
              <a:spcAft>
                <a:spcPts val="600"/>
              </a:spcAft>
            </a:pPr>
            <a:fld id="{1E422F9A-6EE9-44F0-9560-5F04B1DEB4A3}" type="slidenum">
              <a:rPr lang="en-US" smtClean="0"/>
              <a:pPr>
                <a:spcAft>
                  <a:spcPts val="600"/>
                </a:spcAft>
              </a:pPr>
              <a:t>45</a:t>
            </a:fld>
            <a:endParaRPr lang="en-US"/>
          </a:p>
        </p:txBody>
      </p:sp>
    </p:spTree>
    <p:extLst>
      <p:ext uri="{BB962C8B-B14F-4D97-AF65-F5344CB8AC3E}">
        <p14:creationId xmlns:p14="http://schemas.microsoft.com/office/powerpoint/2010/main" val="2994577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B2F5-C183-3203-3AF5-0D3E2DB9BB97}"/>
              </a:ext>
            </a:extLst>
          </p:cNvPr>
          <p:cNvSpPr>
            <a:spLocks noGrp="1"/>
          </p:cNvSpPr>
          <p:nvPr>
            <p:ph type="title"/>
          </p:nvPr>
        </p:nvSpPr>
        <p:spPr/>
        <p:txBody>
          <a:bodyPr>
            <a:normAutofit/>
          </a:bodyPr>
          <a:lstStyle/>
          <a:p>
            <a:pPr algn="ctr"/>
            <a:r>
              <a:rPr lang="en-US" sz="5000" dirty="0"/>
              <a:t>Hypocalcemia Treatment</a:t>
            </a:r>
          </a:p>
        </p:txBody>
      </p:sp>
      <p:sp>
        <p:nvSpPr>
          <p:cNvPr id="3" name="Content Placeholder 2">
            <a:extLst>
              <a:ext uri="{FF2B5EF4-FFF2-40B4-BE49-F238E27FC236}">
                <a16:creationId xmlns:a16="http://schemas.microsoft.com/office/drawing/2014/main" id="{EF144AF4-3C54-824E-7471-B280C19C487C}"/>
              </a:ext>
            </a:extLst>
          </p:cNvPr>
          <p:cNvSpPr>
            <a:spLocks noGrp="1"/>
          </p:cNvSpPr>
          <p:nvPr>
            <p:ph idx="1"/>
          </p:nvPr>
        </p:nvSpPr>
        <p:spPr>
          <a:xfrm>
            <a:off x="628650" y="1611086"/>
            <a:ext cx="7886700" cy="4565877"/>
          </a:xfrm>
        </p:spPr>
        <p:txBody>
          <a:bodyPr/>
          <a:lstStyle/>
          <a:p>
            <a:pPr marL="0" indent="0">
              <a:buNone/>
            </a:pPr>
            <a:r>
              <a:rPr lang="en-US" b="1" dirty="0">
                <a:latin typeface="Helvetica" panose="020B0604020202020204" pitchFamily="34" charset="0"/>
                <a:cs typeface="Helvetica" panose="020B0604020202020204" pitchFamily="34" charset="0"/>
              </a:rPr>
              <a:t>Oral replacement</a:t>
            </a: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latin typeface="Helvetica" panose="020B0604020202020204" pitchFamily="34" charset="0"/>
              <a:cs typeface="Helvetica" panose="020B0604020202020204" pitchFamily="34" charset="0"/>
            </a:endParaRPr>
          </a:p>
          <a:p>
            <a:pPr marL="0"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Calcium supplements can interfere with absorption of many meds from the gut – BP, thyroid, bisphosphonates, and antibiotics.</a:t>
            </a:r>
          </a:p>
        </p:txBody>
      </p:sp>
      <p:sp>
        <p:nvSpPr>
          <p:cNvPr id="4" name="Slide Number Placeholder 3">
            <a:extLst>
              <a:ext uri="{FF2B5EF4-FFF2-40B4-BE49-F238E27FC236}">
                <a16:creationId xmlns:a16="http://schemas.microsoft.com/office/drawing/2014/main" id="{7E2779BC-7461-8D85-F269-8CCF977881DB}"/>
              </a:ext>
            </a:extLst>
          </p:cNvPr>
          <p:cNvSpPr>
            <a:spLocks noGrp="1"/>
          </p:cNvSpPr>
          <p:nvPr>
            <p:ph type="sldNum" sz="quarter" idx="12"/>
          </p:nvPr>
        </p:nvSpPr>
        <p:spPr/>
        <p:txBody>
          <a:bodyPr/>
          <a:lstStyle/>
          <a:p>
            <a:fld id="{1E422F9A-6EE9-44F0-9560-5F04B1DEB4A3}" type="slidenum">
              <a:rPr lang="en-US" smtClean="0"/>
              <a:t>46</a:t>
            </a:fld>
            <a:endParaRPr lang="en-US"/>
          </a:p>
        </p:txBody>
      </p:sp>
      <p:graphicFrame>
        <p:nvGraphicFramePr>
          <p:cNvPr id="5" name="Table 4">
            <a:extLst>
              <a:ext uri="{FF2B5EF4-FFF2-40B4-BE49-F238E27FC236}">
                <a16:creationId xmlns:a16="http://schemas.microsoft.com/office/drawing/2014/main" id="{6C48FB04-E325-5DC7-666E-36CA860A8AB4}"/>
              </a:ext>
            </a:extLst>
          </p:cNvPr>
          <p:cNvGraphicFramePr>
            <a:graphicFrameLocks noGrp="1"/>
          </p:cNvGraphicFramePr>
          <p:nvPr>
            <p:extLst>
              <p:ext uri="{D42A27DB-BD31-4B8C-83A1-F6EECF244321}">
                <p14:modId xmlns:p14="http://schemas.microsoft.com/office/powerpoint/2010/main" val="750675727"/>
              </p:ext>
            </p:extLst>
          </p:nvPr>
        </p:nvGraphicFramePr>
        <p:xfrm>
          <a:off x="628650" y="2372409"/>
          <a:ext cx="7483313" cy="1389640"/>
        </p:xfrm>
        <a:graphic>
          <a:graphicData uri="http://schemas.openxmlformats.org/drawingml/2006/table">
            <a:tbl>
              <a:tblPr firstRow="1" bandRow="1">
                <a:tableStyleId>{5C22544A-7EE6-4342-B048-85BDC9FD1C3A}</a:tableStyleId>
              </a:tblPr>
              <a:tblGrid>
                <a:gridCol w="2421120">
                  <a:extLst>
                    <a:ext uri="{9D8B030D-6E8A-4147-A177-3AD203B41FA5}">
                      <a16:colId xmlns:a16="http://schemas.microsoft.com/office/drawing/2014/main" val="1590725063"/>
                    </a:ext>
                  </a:extLst>
                </a:gridCol>
                <a:gridCol w="2243579">
                  <a:extLst>
                    <a:ext uri="{9D8B030D-6E8A-4147-A177-3AD203B41FA5}">
                      <a16:colId xmlns:a16="http://schemas.microsoft.com/office/drawing/2014/main" val="2524197481"/>
                    </a:ext>
                  </a:extLst>
                </a:gridCol>
                <a:gridCol w="2818614">
                  <a:extLst>
                    <a:ext uri="{9D8B030D-6E8A-4147-A177-3AD203B41FA5}">
                      <a16:colId xmlns:a16="http://schemas.microsoft.com/office/drawing/2014/main" val="3800508579"/>
                    </a:ext>
                  </a:extLst>
                </a:gridCol>
              </a:tblGrid>
              <a:tr h="362643">
                <a:tc>
                  <a:txBody>
                    <a:bodyPr/>
                    <a:lstStyle/>
                    <a:p>
                      <a:r>
                        <a:rPr lang="en-US" sz="2200" dirty="0">
                          <a:latin typeface="Helvetica" panose="020B0604020202020204" pitchFamily="34" charset="0"/>
                          <a:cs typeface="Helvetica" panose="020B0604020202020204" pitchFamily="34" charset="0"/>
                        </a:rPr>
                        <a:t>Age Group</a:t>
                      </a:r>
                    </a:p>
                  </a:txBody>
                  <a:tcPr/>
                </a:tc>
                <a:tc>
                  <a:txBody>
                    <a:bodyPr/>
                    <a:lstStyle/>
                    <a:p>
                      <a:r>
                        <a:rPr lang="en-US" sz="2200" dirty="0">
                          <a:latin typeface="Helvetica" panose="020B0604020202020204" pitchFamily="34" charset="0"/>
                          <a:cs typeface="Helvetica" panose="020B0604020202020204" pitchFamily="34" charset="0"/>
                        </a:rPr>
                        <a:t>Daily Intake</a:t>
                      </a:r>
                    </a:p>
                  </a:txBody>
                  <a:tcPr/>
                </a:tc>
                <a:tc>
                  <a:txBody>
                    <a:bodyPr/>
                    <a:lstStyle/>
                    <a:p>
                      <a:r>
                        <a:rPr lang="en-US" sz="2200" dirty="0">
                          <a:latin typeface="Helvetica" panose="020B0604020202020204" pitchFamily="34" charset="0"/>
                          <a:cs typeface="Helvetica" panose="020B0604020202020204" pitchFamily="34" charset="0"/>
                        </a:rPr>
                        <a:t>Upper Limit </a:t>
                      </a:r>
                    </a:p>
                  </a:txBody>
                  <a:tcPr/>
                </a:tc>
                <a:extLst>
                  <a:ext uri="{0D108BD9-81ED-4DB2-BD59-A6C34878D82A}">
                    <a16:rowId xmlns:a16="http://schemas.microsoft.com/office/drawing/2014/main" val="3309748453"/>
                  </a:ext>
                </a:extLst>
              </a:tr>
              <a:tr h="481460">
                <a:tc>
                  <a:txBody>
                    <a:bodyPr/>
                    <a:lstStyle/>
                    <a:p>
                      <a:r>
                        <a:rPr lang="en-US" sz="2200" dirty="0">
                          <a:latin typeface="Helvetica" panose="020B0604020202020204" pitchFamily="34" charset="0"/>
                          <a:cs typeface="Helvetica" panose="020B0604020202020204" pitchFamily="34" charset="0"/>
                        </a:rPr>
                        <a:t>19-50 years</a:t>
                      </a:r>
                    </a:p>
                  </a:txBody>
                  <a:tcPr/>
                </a:tc>
                <a:tc>
                  <a:txBody>
                    <a:bodyPr/>
                    <a:lstStyle/>
                    <a:p>
                      <a:r>
                        <a:rPr lang="en-US" sz="2200" dirty="0">
                          <a:latin typeface="Helvetica" panose="020B0604020202020204" pitchFamily="34" charset="0"/>
                          <a:cs typeface="Helvetica" panose="020B0604020202020204" pitchFamily="34" charset="0"/>
                        </a:rPr>
                        <a:t>1,000 mg/day</a:t>
                      </a:r>
                    </a:p>
                  </a:txBody>
                  <a:tcPr/>
                </a:tc>
                <a:tc>
                  <a:txBody>
                    <a:bodyPr/>
                    <a:lstStyle/>
                    <a:p>
                      <a:r>
                        <a:rPr lang="en-US" sz="2200" dirty="0">
                          <a:latin typeface="Helvetica" panose="020B0604020202020204" pitchFamily="34" charset="0"/>
                          <a:cs typeface="Helvetica" panose="020B0604020202020204" pitchFamily="34" charset="0"/>
                        </a:rPr>
                        <a:t>2,500 mg/day</a:t>
                      </a:r>
                    </a:p>
                  </a:txBody>
                  <a:tcPr/>
                </a:tc>
                <a:extLst>
                  <a:ext uri="{0D108BD9-81ED-4DB2-BD59-A6C34878D82A}">
                    <a16:rowId xmlns:a16="http://schemas.microsoft.com/office/drawing/2014/main" val="3446180874"/>
                  </a:ext>
                </a:extLst>
              </a:tr>
              <a:tr h="481460">
                <a:tc>
                  <a:txBody>
                    <a:bodyPr/>
                    <a:lstStyle/>
                    <a:p>
                      <a:r>
                        <a:rPr lang="en-US" sz="2200" dirty="0">
                          <a:latin typeface="Helvetica" panose="020B0604020202020204" pitchFamily="34" charset="0"/>
                          <a:cs typeface="Helvetica" panose="020B0604020202020204" pitchFamily="34" charset="0"/>
                        </a:rPr>
                        <a:t>51 years and up</a:t>
                      </a:r>
                    </a:p>
                  </a:txBody>
                  <a:tcPr/>
                </a:tc>
                <a:tc>
                  <a:txBody>
                    <a:bodyPr/>
                    <a:lstStyle/>
                    <a:p>
                      <a:r>
                        <a:rPr lang="en-US" sz="2200" dirty="0">
                          <a:latin typeface="Helvetica" panose="020B0604020202020204" pitchFamily="34" charset="0"/>
                          <a:cs typeface="Helvetica" panose="020B0604020202020204" pitchFamily="34" charset="0"/>
                        </a:rPr>
                        <a:t>1,200 mg/day</a:t>
                      </a:r>
                    </a:p>
                  </a:txBody>
                  <a:tcPr/>
                </a:tc>
                <a:tc>
                  <a:txBody>
                    <a:bodyPr/>
                    <a:lstStyle/>
                    <a:p>
                      <a:r>
                        <a:rPr lang="en-US" sz="2200" dirty="0">
                          <a:latin typeface="Helvetica" panose="020B0604020202020204" pitchFamily="34" charset="0"/>
                          <a:cs typeface="Helvetica" panose="020B0604020202020204" pitchFamily="34" charset="0"/>
                        </a:rPr>
                        <a:t>2,000 mg/day</a:t>
                      </a:r>
                    </a:p>
                  </a:txBody>
                  <a:tcPr/>
                </a:tc>
                <a:extLst>
                  <a:ext uri="{0D108BD9-81ED-4DB2-BD59-A6C34878D82A}">
                    <a16:rowId xmlns:a16="http://schemas.microsoft.com/office/drawing/2014/main" val="4214857844"/>
                  </a:ext>
                </a:extLst>
              </a:tr>
            </a:tbl>
          </a:graphicData>
        </a:graphic>
      </p:graphicFrame>
    </p:spTree>
    <p:extLst>
      <p:ext uri="{BB962C8B-B14F-4D97-AF65-F5344CB8AC3E}">
        <p14:creationId xmlns:p14="http://schemas.microsoft.com/office/powerpoint/2010/main" val="85529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DD0C9-CE22-4C71-1A2D-6F6A7E19E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6BA4C-C9CA-2C44-4ADE-85C001670D70}"/>
              </a:ext>
            </a:extLst>
          </p:cNvPr>
          <p:cNvSpPr>
            <a:spLocks noGrp="1"/>
          </p:cNvSpPr>
          <p:nvPr>
            <p:ph type="title"/>
          </p:nvPr>
        </p:nvSpPr>
        <p:spPr/>
        <p:txBody>
          <a:bodyPr>
            <a:normAutofit/>
          </a:bodyPr>
          <a:lstStyle/>
          <a:p>
            <a:pPr algn="ctr"/>
            <a:r>
              <a:rPr lang="en-US" sz="5000" dirty="0"/>
              <a:t>Hypocalcemia Treatment</a:t>
            </a:r>
          </a:p>
        </p:txBody>
      </p:sp>
      <p:sp>
        <p:nvSpPr>
          <p:cNvPr id="3" name="Content Placeholder 2">
            <a:extLst>
              <a:ext uri="{FF2B5EF4-FFF2-40B4-BE49-F238E27FC236}">
                <a16:creationId xmlns:a16="http://schemas.microsoft.com/office/drawing/2014/main" id="{6D8E708E-6692-3BFC-ACFF-FCBCF744767C}"/>
              </a:ext>
            </a:extLst>
          </p:cNvPr>
          <p:cNvSpPr>
            <a:spLocks noGrp="1"/>
          </p:cNvSpPr>
          <p:nvPr>
            <p:ph idx="1"/>
          </p:nvPr>
        </p:nvSpPr>
        <p:spPr>
          <a:xfrm>
            <a:off x="628650" y="1611086"/>
            <a:ext cx="7886700" cy="4565877"/>
          </a:xfrm>
        </p:spPr>
        <p:txBody>
          <a:bodyPr/>
          <a:lstStyle/>
          <a:p>
            <a:pPr marL="0" indent="0">
              <a:buNone/>
            </a:pPr>
            <a:r>
              <a:rPr lang="en-US" b="1" dirty="0">
                <a:latin typeface="Helvetica" panose="020B0604020202020204" pitchFamily="34" charset="0"/>
                <a:cs typeface="Helvetica" panose="020B0604020202020204" pitchFamily="34" charset="0"/>
              </a:rPr>
              <a:t>Oral replacement</a:t>
            </a:r>
          </a:p>
          <a:p>
            <a:r>
              <a:rPr lang="en-US" dirty="0">
                <a:latin typeface="Helvetica" panose="020B0604020202020204" pitchFamily="34" charset="0"/>
                <a:cs typeface="Helvetica" panose="020B0604020202020204" pitchFamily="34" charset="0"/>
              </a:rPr>
              <a:t>Calcium carbonate – cheapest option</a:t>
            </a:r>
          </a:p>
          <a:p>
            <a:r>
              <a:rPr lang="en-US" dirty="0">
                <a:latin typeface="Helvetica" panose="020B0604020202020204" pitchFamily="34" charset="0"/>
                <a:cs typeface="Helvetica" panose="020B0604020202020204" pitchFamily="34" charset="0"/>
              </a:rPr>
              <a:t>Calcium citrate </a:t>
            </a:r>
          </a:p>
          <a:p>
            <a:pPr marL="0" indent="0">
              <a:buNone/>
            </a:pPr>
            <a:endParaRPr lang="en-US" dirty="0">
              <a:latin typeface="Helvetica" panose="020B0604020202020204" pitchFamily="34" charset="0"/>
              <a:cs typeface="Helvetica" panose="020B0604020202020204" pitchFamily="34" charset="0"/>
            </a:endParaRPr>
          </a:p>
          <a:p>
            <a:pPr marL="0" indent="0">
              <a:buNone/>
            </a:pPr>
            <a:r>
              <a:rPr lang="en-US" b="1" dirty="0">
                <a:latin typeface="Helvetica" panose="020B0604020202020204" pitchFamily="34" charset="0"/>
                <a:cs typeface="Helvetica" panose="020B0604020202020204" pitchFamily="34" charset="0"/>
              </a:rPr>
              <a:t>IV replacement </a:t>
            </a:r>
          </a:p>
          <a:p>
            <a:r>
              <a:rPr lang="en-US" dirty="0">
                <a:latin typeface="Helvetica" panose="020B0604020202020204" pitchFamily="34" charset="0"/>
                <a:cs typeface="Helvetica" panose="020B0604020202020204" pitchFamily="34" charset="0"/>
              </a:rPr>
              <a:t>Calcium gluconate – IV, commonly used</a:t>
            </a:r>
          </a:p>
          <a:p>
            <a:r>
              <a:rPr lang="en-US" dirty="0">
                <a:latin typeface="Helvetica" panose="020B0604020202020204" pitchFamily="34" charset="0"/>
                <a:cs typeface="Helvetica" panose="020B0604020202020204" pitchFamily="34" charset="0"/>
              </a:rPr>
              <a:t>Calcium chloride – central line, only used in emergencies (such as seizures) </a:t>
            </a:r>
          </a:p>
        </p:txBody>
      </p:sp>
      <p:sp>
        <p:nvSpPr>
          <p:cNvPr id="4" name="Slide Number Placeholder 3">
            <a:extLst>
              <a:ext uri="{FF2B5EF4-FFF2-40B4-BE49-F238E27FC236}">
                <a16:creationId xmlns:a16="http://schemas.microsoft.com/office/drawing/2014/main" id="{BAD9E650-AFA3-7C6C-076D-2F22C6623269}"/>
              </a:ext>
            </a:extLst>
          </p:cNvPr>
          <p:cNvSpPr>
            <a:spLocks noGrp="1"/>
          </p:cNvSpPr>
          <p:nvPr>
            <p:ph type="sldNum" sz="quarter" idx="12"/>
          </p:nvPr>
        </p:nvSpPr>
        <p:spPr/>
        <p:txBody>
          <a:bodyPr/>
          <a:lstStyle/>
          <a:p>
            <a:fld id="{1E422F9A-6EE9-44F0-9560-5F04B1DEB4A3}" type="slidenum">
              <a:rPr lang="en-US" smtClean="0"/>
              <a:t>47</a:t>
            </a:fld>
            <a:endParaRPr lang="en-US"/>
          </a:p>
        </p:txBody>
      </p:sp>
    </p:spTree>
    <p:extLst>
      <p:ext uri="{BB962C8B-B14F-4D97-AF65-F5344CB8AC3E}">
        <p14:creationId xmlns:p14="http://schemas.microsoft.com/office/powerpoint/2010/main" val="61721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Primary Hyperparathyroidism">
            <a:extLst>
              <a:ext uri="{FF2B5EF4-FFF2-40B4-BE49-F238E27FC236}">
                <a16:creationId xmlns:a16="http://schemas.microsoft.com/office/drawing/2014/main" id="{A074AD58-6A62-4141-D232-F32016FE55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5554" y="626665"/>
            <a:ext cx="7472892" cy="5604670"/>
          </a:xfrm>
        </p:spPr>
      </p:pic>
      <p:sp>
        <p:nvSpPr>
          <p:cNvPr id="4" name="Slide Number Placeholder 3">
            <a:extLst>
              <a:ext uri="{FF2B5EF4-FFF2-40B4-BE49-F238E27FC236}">
                <a16:creationId xmlns:a16="http://schemas.microsoft.com/office/drawing/2014/main" id="{6C703185-9E47-BD95-7A3F-139CA68FD2DF}"/>
              </a:ext>
            </a:extLst>
          </p:cNvPr>
          <p:cNvSpPr>
            <a:spLocks noGrp="1"/>
          </p:cNvSpPr>
          <p:nvPr>
            <p:ph type="sldNum" sz="quarter" idx="12"/>
          </p:nvPr>
        </p:nvSpPr>
        <p:spPr/>
        <p:txBody>
          <a:bodyPr/>
          <a:lstStyle/>
          <a:p>
            <a:fld id="{1E422F9A-6EE9-44F0-9560-5F04B1DEB4A3}" type="slidenum">
              <a:rPr lang="en-US" smtClean="0"/>
              <a:t>48</a:t>
            </a:fld>
            <a:endParaRPr lang="en-US"/>
          </a:p>
        </p:txBody>
      </p:sp>
    </p:spTree>
    <p:extLst>
      <p:ext uri="{BB962C8B-B14F-4D97-AF65-F5344CB8AC3E}">
        <p14:creationId xmlns:p14="http://schemas.microsoft.com/office/powerpoint/2010/main" val="38225674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A379-B7F0-1FF6-BC39-50EF1B68F1A0}"/>
              </a:ext>
            </a:extLst>
          </p:cNvPr>
          <p:cNvSpPr>
            <a:spLocks noGrp="1"/>
          </p:cNvSpPr>
          <p:nvPr>
            <p:ph type="title"/>
          </p:nvPr>
        </p:nvSpPr>
        <p:spPr/>
        <p:txBody>
          <a:bodyPr/>
          <a:lstStyle/>
          <a:p>
            <a:pPr algn="ctr"/>
            <a:r>
              <a:rPr lang="en-US" dirty="0"/>
              <a:t>Primary Hyperparathyroidism</a:t>
            </a:r>
          </a:p>
        </p:txBody>
      </p:sp>
      <p:sp>
        <p:nvSpPr>
          <p:cNvPr id="3" name="Content Placeholder 2">
            <a:extLst>
              <a:ext uri="{FF2B5EF4-FFF2-40B4-BE49-F238E27FC236}">
                <a16:creationId xmlns:a16="http://schemas.microsoft.com/office/drawing/2014/main" id="{45DB7DC2-4BDF-8B18-FDF3-CC2D4A5E26D0}"/>
              </a:ext>
            </a:extLst>
          </p:cNvPr>
          <p:cNvSpPr>
            <a:spLocks noGrp="1"/>
          </p:cNvSpPr>
          <p:nvPr>
            <p:ph idx="1"/>
          </p:nvPr>
        </p:nvSpPr>
        <p:spPr/>
        <p:txBody>
          <a:bodyPr>
            <a:normAutofit/>
          </a:bodyPr>
          <a:lstStyle/>
          <a:p>
            <a:r>
              <a:rPr lang="en-US" sz="3000" dirty="0">
                <a:latin typeface="Helvetica" panose="020B0604020202020204" pitchFamily="34" charset="0"/>
                <a:cs typeface="Helvetica" panose="020B0604020202020204" pitchFamily="34" charset="0"/>
              </a:rPr>
              <a:t>The most common cause of hypercalcemia among </a:t>
            </a:r>
            <a:r>
              <a:rPr lang="en-US" sz="3000" b="1" i="1" dirty="0">
                <a:latin typeface="Helvetica" panose="020B0604020202020204" pitchFamily="34" charset="0"/>
                <a:cs typeface="Helvetica" panose="020B0604020202020204" pitchFamily="34" charset="0"/>
              </a:rPr>
              <a:t>healthy outpatients</a:t>
            </a:r>
          </a:p>
          <a:p>
            <a:pPr marL="0" indent="0">
              <a:buNone/>
            </a:pPr>
            <a:endParaRPr lang="en-US" sz="3000" b="1" i="1" dirty="0">
              <a:latin typeface="Helvetica" panose="020B0604020202020204" pitchFamily="34" charset="0"/>
              <a:cs typeface="Helvetica" panose="020B0604020202020204" pitchFamily="34" charset="0"/>
            </a:endParaRPr>
          </a:p>
          <a:p>
            <a:r>
              <a:rPr lang="en-US" sz="3000" b="1" i="1" dirty="0">
                <a:latin typeface="Helvetica" panose="020B0604020202020204" pitchFamily="34" charset="0"/>
                <a:cs typeface="Helvetica" panose="020B0604020202020204" pitchFamily="34" charset="0"/>
              </a:rPr>
              <a:t>Single autonomous parathyroid adenoma  ~</a:t>
            </a:r>
            <a:r>
              <a:rPr lang="en-US" sz="3000" dirty="0">
                <a:latin typeface="Helvetica" panose="020B0604020202020204" pitchFamily="34" charset="0"/>
                <a:cs typeface="Helvetica" panose="020B0604020202020204" pitchFamily="34" charset="0"/>
              </a:rPr>
              <a:t>85%</a:t>
            </a:r>
          </a:p>
          <a:p>
            <a:r>
              <a:rPr lang="en-US" sz="3000" b="1" i="1" dirty="0">
                <a:latin typeface="Helvetica" panose="020B0604020202020204" pitchFamily="34" charset="0"/>
                <a:cs typeface="Helvetica" panose="020B0604020202020204" pitchFamily="34" charset="0"/>
              </a:rPr>
              <a:t>Parathyroid hyperplasia ~</a:t>
            </a:r>
            <a:r>
              <a:rPr lang="en-US" sz="3000" dirty="0">
                <a:latin typeface="Helvetica" panose="020B0604020202020204" pitchFamily="34" charset="0"/>
                <a:cs typeface="Helvetica" panose="020B0604020202020204" pitchFamily="34" charset="0"/>
              </a:rPr>
              <a:t>15% </a:t>
            </a:r>
          </a:p>
          <a:p>
            <a:r>
              <a:rPr lang="en-US" sz="3000" b="1" i="1" dirty="0">
                <a:latin typeface="Helvetica" panose="020B0604020202020204" pitchFamily="34" charset="0"/>
                <a:cs typeface="Helvetica" panose="020B0604020202020204" pitchFamily="34" charset="0"/>
              </a:rPr>
              <a:t>Parathyroid cancer </a:t>
            </a:r>
            <a:r>
              <a:rPr lang="en-US" sz="3000" dirty="0">
                <a:latin typeface="Helvetica" panose="020B0604020202020204" pitchFamily="34" charset="0"/>
                <a:cs typeface="Helvetica" panose="020B0604020202020204" pitchFamily="34" charset="0"/>
              </a:rPr>
              <a:t> &lt;1% </a:t>
            </a:r>
          </a:p>
        </p:txBody>
      </p:sp>
      <p:sp>
        <p:nvSpPr>
          <p:cNvPr id="4" name="Slide Number Placeholder 3">
            <a:extLst>
              <a:ext uri="{FF2B5EF4-FFF2-40B4-BE49-F238E27FC236}">
                <a16:creationId xmlns:a16="http://schemas.microsoft.com/office/drawing/2014/main" id="{07FB20C7-E104-D0CE-2229-DB166FF04DEE}"/>
              </a:ext>
            </a:extLst>
          </p:cNvPr>
          <p:cNvSpPr>
            <a:spLocks noGrp="1"/>
          </p:cNvSpPr>
          <p:nvPr>
            <p:ph type="sldNum" sz="quarter" idx="12"/>
          </p:nvPr>
        </p:nvSpPr>
        <p:spPr/>
        <p:txBody>
          <a:bodyPr/>
          <a:lstStyle/>
          <a:p>
            <a:fld id="{1E422F9A-6EE9-44F0-9560-5F04B1DEB4A3}" type="slidenum">
              <a:rPr lang="en-US" smtClean="0"/>
              <a:t>49</a:t>
            </a:fld>
            <a:endParaRPr lang="en-US"/>
          </a:p>
        </p:txBody>
      </p:sp>
    </p:spTree>
    <p:extLst>
      <p:ext uri="{BB962C8B-B14F-4D97-AF65-F5344CB8AC3E}">
        <p14:creationId xmlns:p14="http://schemas.microsoft.com/office/powerpoint/2010/main" val="2560256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87E90-CE69-C95A-B28C-A7EE4E1B6BBD}"/>
              </a:ext>
            </a:extLst>
          </p:cNvPr>
          <p:cNvSpPr>
            <a:spLocks noGrp="1"/>
          </p:cNvSpPr>
          <p:nvPr>
            <p:ph type="title"/>
          </p:nvPr>
        </p:nvSpPr>
        <p:spPr/>
        <p:txBody>
          <a:bodyPr/>
          <a:lstStyle/>
          <a:p>
            <a:pPr algn="ctr"/>
            <a:r>
              <a:rPr lang="en-US" dirty="0"/>
              <a:t>Primary Hyperparathyroidism</a:t>
            </a:r>
          </a:p>
        </p:txBody>
      </p:sp>
      <p:sp>
        <p:nvSpPr>
          <p:cNvPr id="3" name="Content Placeholder 2">
            <a:extLst>
              <a:ext uri="{FF2B5EF4-FFF2-40B4-BE49-F238E27FC236}">
                <a16:creationId xmlns:a16="http://schemas.microsoft.com/office/drawing/2014/main" id="{E4BADE91-B27A-733D-793C-EE335B7CF294}"/>
              </a:ext>
            </a:extLst>
          </p:cNvPr>
          <p:cNvSpPr>
            <a:spLocks noGrp="1"/>
          </p:cNvSpPr>
          <p:nvPr>
            <p:ph idx="1"/>
          </p:nvPr>
        </p:nvSpPr>
        <p:spPr>
          <a:xfrm>
            <a:off x="628650" y="1690689"/>
            <a:ext cx="7886700" cy="4486274"/>
          </a:xfrm>
        </p:spPr>
        <p:txBody>
          <a:bodyPr/>
          <a:lstStyle/>
          <a:p>
            <a:r>
              <a:rPr lang="en-US" dirty="0">
                <a:latin typeface="Helvetica" panose="020B0604020202020204" pitchFamily="34" charset="0"/>
                <a:cs typeface="Helvetica" panose="020B0604020202020204" pitchFamily="34" charset="0"/>
              </a:rPr>
              <a:t>More frequent in </a:t>
            </a:r>
            <a:r>
              <a:rPr lang="en-US" b="1" dirty="0">
                <a:latin typeface="Helvetica" panose="020B0604020202020204" pitchFamily="34" charset="0"/>
                <a:cs typeface="Helvetica" panose="020B0604020202020204" pitchFamily="34" charset="0"/>
              </a:rPr>
              <a:t>patients over 50 </a:t>
            </a:r>
            <a:r>
              <a:rPr lang="en-US" dirty="0">
                <a:latin typeface="Helvetica" panose="020B0604020202020204" pitchFamily="34" charset="0"/>
                <a:cs typeface="Helvetica" panose="020B0604020202020204" pitchFamily="34" charset="0"/>
              </a:rPr>
              <a:t>and is </a:t>
            </a:r>
            <a:r>
              <a:rPr lang="en-US" b="1" dirty="0">
                <a:latin typeface="Helvetica" panose="020B0604020202020204" pitchFamily="34" charset="0"/>
                <a:cs typeface="Helvetica" panose="020B0604020202020204" pitchFamily="34" charset="0"/>
              </a:rPr>
              <a:t>3x more common in women </a:t>
            </a:r>
          </a:p>
          <a:p>
            <a:pPr marL="0" indent="0">
              <a:buNone/>
            </a:pPr>
            <a:endParaRPr lang="en-US" b="1"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Primary hyperparathyroidism usually causes a </a:t>
            </a:r>
            <a:r>
              <a:rPr lang="en-US" b="1" i="1" dirty="0">
                <a:latin typeface="Helvetica" panose="020B0604020202020204" pitchFamily="34" charset="0"/>
                <a:cs typeface="Helvetica" panose="020B0604020202020204" pitchFamily="34" charset="0"/>
              </a:rPr>
              <a:t>mild elevation of serum calcium </a:t>
            </a:r>
            <a:r>
              <a:rPr lang="en-US" dirty="0">
                <a:latin typeface="Helvetica" panose="020B0604020202020204" pitchFamily="34" charset="0"/>
                <a:cs typeface="Helvetica" panose="020B0604020202020204" pitchFamily="34" charset="0"/>
              </a:rPr>
              <a:t>and is relatively asymptomatic </a:t>
            </a:r>
          </a:p>
          <a:p>
            <a:pPr marL="0" indent="0">
              <a:buNone/>
            </a:pPr>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The diagnosis is made by finding an </a:t>
            </a:r>
            <a:r>
              <a:rPr lang="en-US" b="1" i="1" dirty="0">
                <a:latin typeface="Helvetica" panose="020B0604020202020204" pitchFamily="34" charset="0"/>
                <a:cs typeface="Helvetica" panose="020B0604020202020204" pitchFamily="34" charset="0"/>
              </a:rPr>
              <a:t>elevation in serum calcium </a:t>
            </a:r>
            <a:r>
              <a:rPr lang="en-US" dirty="0">
                <a:latin typeface="Helvetica" panose="020B0604020202020204" pitchFamily="34" charset="0"/>
                <a:cs typeface="Helvetica" panose="020B0604020202020204" pitchFamily="34" charset="0"/>
              </a:rPr>
              <a:t>(measured on more than 1 occasion) and an </a:t>
            </a:r>
            <a:r>
              <a:rPr lang="en-US" b="1" i="1" dirty="0">
                <a:latin typeface="Helvetica" panose="020B0604020202020204" pitchFamily="34" charset="0"/>
                <a:cs typeface="Helvetica" panose="020B0604020202020204" pitchFamily="34" charset="0"/>
              </a:rPr>
              <a:t>elevated intact PTH </a:t>
            </a:r>
          </a:p>
        </p:txBody>
      </p:sp>
      <p:sp>
        <p:nvSpPr>
          <p:cNvPr id="4" name="Slide Number Placeholder 3">
            <a:extLst>
              <a:ext uri="{FF2B5EF4-FFF2-40B4-BE49-F238E27FC236}">
                <a16:creationId xmlns:a16="http://schemas.microsoft.com/office/drawing/2014/main" id="{E166ED4E-E6B6-FB1C-AA65-C84EA6B618B1}"/>
              </a:ext>
            </a:extLst>
          </p:cNvPr>
          <p:cNvSpPr>
            <a:spLocks noGrp="1"/>
          </p:cNvSpPr>
          <p:nvPr>
            <p:ph type="sldNum" sz="quarter" idx="12"/>
          </p:nvPr>
        </p:nvSpPr>
        <p:spPr/>
        <p:txBody>
          <a:bodyPr/>
          <a:lstStyle/>
          <a:p>
            <a:fld id="{1E422F9A-6EE9-44F0-9560-5F04B1DEB4A3}" type="slidenum">
              <a:rPr lang="en-US" smtClean="0"/>
              <a:t>50</a:t>
            </a:fld>
            <a:endParaRPr lang="en-US"/>
          </a:p>
        </p:txBody>
      </p:sp>
    </p:spTree>
    <p:extLst>
      <p:ext uri="{BB962C8B-B14F-4D97-AF65-F5344CB8AC3E}">
        <p14:creationId xmlns:p14="http://schemas.microsoft.com/office/powerpoint/2010/main" val="1477797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7944CF-D264-8F78-D3FF-2DCA220C0244}"/>
              </a:ext>
            </a:extLst>
          </p:cNvPr>
          <p:cNvSpPr>
            <a:spLocks noGrp="1"/>
          </p:cNvSpPr>
          <p:nvPr>
            <p:ph idx="1"/>
          </p:nvPr>
        </p:nvSpPr>
        <p:spPr>
          <a:xfrm>
            <a:off x="812165" y="5720238"/>
            <a:ext cx="7519670" cy="2275523"/>
          </a:xfrm>
        </p:spPr>
        <p:txBody>
          <a:bodyPr>
            <a:normAutofit/>
          </a:bodyPr>
          <a:lstStyle/>
          <a:p>
            <a:pPr marL="0" indent="0" algn="ctr">
              <a:buNone/>
            </a:pPr>
            <a:r>
              <a:rPr lang="en-US" sz="2400" dirty="0">
                <a:latin typeface="Helvetica" panose="020B0604020202020204" pitchFamily="34" charset="0"/>
                <a:cs typeface="Helvetica" panose="020B0604020202020204" pitchFamily="34" charset="0"/>
              </a:rPr>
              <a:t>Classically, primary hyperparathyroidism presents         as stones, bones, groans, and moans</a:t>
            </a:r>
          </a:p>
        </p:txBody>
      </p:sp>
      <p:sp>
        <p:nvSpPr>
          <p:cNvPr id="4" name="Slide Number Placeholder 3">
            <a:extLst>
              <a:ext uri="{FF2B5EF4-FFF2-40B4-BE49-F238E27FC236}">
                <a16:creationId xmlns:a16="http://schemas.microsoft.com/office/drawing/2014/main" id="{9C207BBF-9D19-BD6D-54E6-BD9CED7DD787}"/>
              </a:ext>
            </a:extLst>
          </p:cNvPr>
          <p:cNvSpPr>
            <a:spLocks noGrp="1"/>
          </p:cNvSpPr>
          <p:nvPr>
            <p:ph type="sldNum" sz="quarter" idx="12"/>
          </p:nvPr>
        </p:nvSpPr>
        <p:spPr/>
        <p:txBody>
          <a:bodyPr/>
          <a:lstStyle/>
          <a:p>
            <a:fld id="{1E422F9A-6EE9-44F0-9560-5F04B1DEB4A3}" type="slidenum">
              <a:rPr lang="en-US" smtClean="0"/>
              <a:t>51</a:t>
            </a:fld>
            <a:endParaRPr lang="en-US"/>
          </a:p>
        </p:txBody>
      </p:sp>
      <p:pic>
        <p:nvPicPr>
          <p:cNvPr id="1026" name="Picture 2" descr="Hyperparathyroidism causes stones, bones, groans and moans including kidney stones, bone pain, psychiatric symptoms, and GI upest&#10;">
            <a:extLst>
              <a:ext uri="{FF2B5EF4-FFF2-40B4-BE49-F238E27FC236}">
                <a16:creationId xmlns:a16="http://schemas.microsoft.com/office/drawing/2014/main" id="{3341D86C-77DE-854A-2CAB-12EACE5CB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118" y="365126"/>
            <a:ext cx="4116832" cy="5146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82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2"/>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a:t>
            </a:r>
            <a:endParaRPr dirty="0"/>
          </a:p>
        </p:txBody>
      </p:sp>
      <p:sp>
        <p:nvSpPr>
          <p:cNvPr id="357" name="Google Shape;357;p42"/>
          <p:cNvSpPr txBox="1">
            <a:spLocks noGrp="1"/>
          </p:cNvSpPr>
          <p:nvPr>
            <p:ph type="body" idx="1"/>
          </p:nvPr>
        </p:nvSpPr>
        <p:spPr>
          <a:xfrm>
            <a:off x="227707" y="1231389"/>
            <a:ext cx="8839275" cy="5503110"/>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0"/>
              </a:spcBef>
              <a:buClr>
                <a:srgbClr val="000000"/>
              </a:buClr>
              <a:buSzPts val="3600"/>
              <a:buFont typeface="Calibri"/>
              <a:buChar char="•"/>
            </a:pPr>
            <a:r>
              <a:rPr lang="en-US" sz="3094" dirty="0">
                <a:latin typeface="Helvetica" panose="020B0604020202020204" pitchFamily="34" charset="0"/>
                <a:ea typeface="Calibri"/>
                <a:cs typeface="Helvetica" panose="020B0604020202020204" pitchFamily="34" charset="0"/>
                <a:sym typeface="Calibri"/>
              </a:rPr>
              <a:t>If symptomatic, primary hyperparathyroidism classically presents with stones, bones, moans, and groans.</a:t>
            </a:r>
            <a:endParaRPr sz="3094" dirty="0">
              <a:latin typeface="Helvetica" panose="020B0604020202020204" pitchFamily="34" charset="0"/>
              <a:cs typeface="Helvetica" panose="020B0604020202020204" pitchFamily="34" charset="0"/>
            </a:endParaRPr>
          </a:p>
          <a:p>
            <a:pPr marL="267881" indent="-160729">
              <a:lnSpc>
                <a:spcPct val="100000"/>
              </a:lnSpc>
              <a:spcBef>
                <a:spcPts val="492"/>
              </a:spcBef>
              <a:buClr>
                <a:srgbClr val="000000"/>
              </a:buClr>
              <a:buSzPts val="2400"/>
              <a:buNone/>
            </a:pPr>
            <a:endParaRPr sz="3094" b="1"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600"/>
              <a:buFont typeface="Calibri"/>
              <a:buChar char="•"/>
            </a:pPr>
            <a:r>
              <a:rPr lang="en-US" sz="3094" b="1" dirty="0">
                <a:latin typeface="Helvetica" panose="020B0604020202020204" pitchFamily="34" charset="0"/>
                <a:ea typeface="Calibri"/>
                <a:cs typeface="Helvetica" panose="020B0604020202020204" pitchFamily="34" charset="0"/>
                <a:sym typeface="Calibri"/>
              </a:rPr>
              <a:t>Stones </a:t>
            </a:r>
            <a:r>
              <a:rPr lang="en-US" sz="3094" dirty="0">
                <a:latin typeface="Helvetica" panose="020B0604020202020204" pitchFamily="34" charset="0"/>
                <a:ea typeface="Calibri"/>
                <a:cs typeface="Helvetica" panose="020B0604020202020204" pitchFamily="34" charset="0"/>
                <a:sym typeface="Calibri"/>
              </a:rPr>
              <a:t>(Renal): </a:t>
            </a:r>
          </a:p>
          <a:p>
            <a:pPr marL="589338" lvl="1" indent="-267881">
              <a:spcBef>
                <a:spcPts val="492"/>
              </a:spcBef>
              <a:buSzPts val="3600"/>
              <a:buFont typeface="Calibri"/>
              <a:buChar char="•"/>
            </a:pPr>
            <a:r>
              <a:rPr lang="en-US" sz="3094" b="1" i="1" dirty="0">
                <a:latin typeface="Helvetica" panose="020B0604020202020204" pitchFamily="34" charset="0"/>
                <a:ea typeface="Calibri"/>
                <a:cs typeface="Helvetica" panose="020B0604020202020204" pitchFamily="34" charset="0"/>
                <a:sym typeface="Calibri"/>
              </a:rPr>
              <a:t>Renal calculi</a:t>
            </a:r>
            <a:r>
              <a:rPr lang="en-US" sz="3094" dirty="0">
                <a:latin typeface="Helvetica" panose="020B0604020202020204" pitchFamily="34" charset="0"/>
                <a:ea typeface="Calibri"/>
                <a:cs typeface="Helvetica" panose="020B0604020202020204" pitchFamily="34" charset="0"/>
                <a:sym typeface="Calibri"/>
              </a:rPr>
              <a:t>: hypercalciuria causes calcium to precipitate out to form kidney stones.</a:t>
            </a:r>
          </a:p>
          <a:p>
            <a:pPr marL="589338" lvl="1" indent="-267881">
              <a:spcBef>
                <a:spcPts val="492"/>
              </a:spcBef>
              <a:buSzPts val="3600"/>
              <a:buFont typeface="Calibri"/>
              <a:buChar char="•"/>
            </a:pPr>
            <a:r>
              <a:rPr lang="en-US" sz="3094" b="1" i="1" dirty="0">
                <a:latin typeface="Helvetica" panose="020B0604020202020204" pitchFamily="34" charset="0"/>
                <a:ea typeface="Calibri"/>
                <a:cs typeface="Helvetica" panose="020B0604020202020204" pitchFamily="34" charset="0"/>
                <a:sym typeface="Calibri"/>
              </a:rPr>
              <a:t>CKD</a:t>
            </a:r>
            <a:r>
              <a:rPr lang="en-US" sz="3094" dirty="0">
                <a:latin typeface="Helvetica" panose="020B0604020202020204" pitchFamily="34" charset="0"/>
                <a:ea typeface="Calibri"/>
                <a:cs typeface="Helvetica" panose="020B0604020202020204" pitchFamily="34" charset="0"/>
                <a:sym typeface="Calibri"/>
              </a:rPr>
              <a:t>: hypercalcemia decreases GFR </a:t>
            </a:r>
          </a:p>
          <a:p>
            <a:pPr marL="589338" lvl="1" indent="-267881">
              <a:spcBef>
                <a:spcPts val="492"/>
              </a:spcBef>
              <a:buSzPts val="3600"/>
              <a:buFont typeface="Calibri"/>
              <a:buChar char="•"/>
            </a:pPr>
            <a:r>
              <a:rPr lang="en-US" sz="3094" b="1" i="1" dirty="0">
                <a:latin typeface="Helvetica" panose="020B0604020202020204" pitchFamily="34" charset="0"/>
                <a:ea typeface="Calibri"/>
                <a:cs typeface="Helvetica" panose="020B0604020202020204" pitchFamily="34" charset="0"/>
                <a:sym typeface="Calibri"/>
              </a:rPr>
              <a:t>Polydipsia and polyuria</a:t>
            </a:r>
            <a:r>
              <a:rPr lang="en-US" sz="3094" dirty="0">
                <a:latin typeface="Helvetica" panose="020B0604020202020204" pitchFamily="34" charset="0"/>
                <a:ea typeface="Calibri"/>
                <a:cs typeface="Helvetica" panose="020B0604020202020204" pitchFamily="34" charset="0"/>
                <a:sym typeface="Calibri"/>
              </a:rPr>
              <a:t>: hypercalcemia causes renal tubular dysfunction.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2"/>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a:t>
            </a:r>
            <a:endParaRPr dirty="0"/>
          </a:p>
        </p:txBody>
      </p:sp>
      <p:pic>
        <p:nvPicPr>
          <p:cNvPr id="358" name="Google Shape;358;p42"/>
          <p:cNvPicPr preferRelativeResize="0"/>
          <p:nvPr/>
        </p:nvPicPr>
        <p:blipFill rotWithShape="1">
          <a:blip r:embed="rId3">
            <a:alphaModFix/>
          </a:blip>
          <a:srcRect/>
          <a:stretch/>
        </p:blipFill>
        <p:spPr>
          <a:xfrm rot="5400000">
            <a:off x="5849858" y="3224112"/>
            <a:ext cx="3478495" cy="2294242"/>
          </a:xfrm>
          <a:prstGeom prst="rect">
            <a:avLst/>
          </a:prstGeom>
          <a:noFill/>
          <a:ln>
            <a:noFill/>
          </a:ln>
        </p:spPr>
      </p:pic>
      <p:sp>
        <p:nvSpPr>
          <p:cNvPr id="359" name="Google Shape;359;p42"/>
          <p:cNvSpPr txBox="1"/>
          <p:nvPr/>
        </p:nvSpPr>
        <p:spPr>
          <a:xfrm>
            <a:off x="520704" y="2951191"/>
            <a:ext cx="5632962" cy="2855401"/>
          </a:xfrm>
          <a:prstGeom prst="rect">
            <a:avLst/>
          </a:prstGeom>
          <a:noFill/>
          <a:ln>
            <a:noFill/>
          </a:ln>
        </p:spPr>
        <p:txBody>
          <a:bodyPr spcFirstLastPara="1" wrap="square" lIns="64283" tIns="32133" rIns="64283" bIns="32133" anchor="t" anchorCtr="0">
            <a:spAutoFit/>
          </a:bodyPr>
          <a:lstStyle/>
          <a:p>
            <a:pPr marL="0" lvl="3">
              <a:buSzPct val="80000"/>
            </a:pPr>
            <a:r>
              <a:rPr lang="en-US" sz="2800" dirty="0">
                <a:solidFill>
                  <a:srgbClr val="000000"/>
                </a:solidFill>
                <a:latin typeface="Helvetica" panose="020B0604020202020204" pitchFamily="34" charset="0"/>
                <a:ea typeface="Calibri"/>
                <a:cs typeface="Helvetica" panose="020B0604020202020204" pitchFamily="34" charset="0"/>
                <a:sym typeface="Calibri"/>
              </a:rPr>
              <a:t>The bone is replaced by fibrous cysts resulting in:</a:t>
            </a:r>
          </a:p>
          <a:p>
            <a:pPr marL="200911" lvl="3" indent="-522368">
              <a:spcBef>
                <a:spcPts val="422"/>
              </a:spcBef>
              <a:buSzPct val="80000"/>
              <a:buFont typeface="+mj-lt"/>
              <a:buAutoNum type="arabicPeriod"/>
            </a:pPr>
            <a:r>
              <a:rPr lang="en-US" sz="2800" dirty="0">
                <a:latin typeface="Helvetica" panose="020B0604020202020204" pitchFamily="34" charset="0"/>
                <a:ea typeface="Calibri"/>
                <a:cs typeface="Helvetica" panose="020B0604020202020204" pitchFamily="34" charset="0"/>
                <a:sym typeface="Calibri"/>
              </a:rPr>
              <a:t>	Bone pain (most common)</a:t>
            </a:r>
          </a:p>
          <a:p>
            <a:pPr marL="200911" lvl="3" indent="-522368">
              <a:spcBef>
                <a:spcPts val="422"/>
              </a:spcBef>
              <a:buSzPct val="80000"/>
              <a:buFont typeface="+mj-lt"/>
              <a:buAutoNum type="arabicPeriod"/>
            </a:pPr>
            <a:r>
              <a:rPr lang="en-US" sz="2800" dirty="0">
                <a:solidFill>
                  <a:srgbClr val="000000"/>
                </a:solidFill>
                <a:latin typeface="Helvetica" panose="020B0604020202020204" pitchFamily="34" charset="0"/>
                <a:ea typeface="Calibri"/>
                <a:cs typeface="Helvetica" panose="020B0604020202020204" pitchFamily="34" charset="0"/>
                <a:sym typeface="Calibri"/>
              </a:rPr>
              <a:t>	</a:t>
            </a:r>
            <a:r>
              <a:rPr lang="en-US" sz="2800" dirty="0" err="1">
                <a:solidFill>
                  <a:srgbClr val="000000"/>
                </a:solidFill>
                <a:latin typeface="Helvetica" panose="020B0604020202020204" pitchFamily="34" charset="0"/>
                <a:ea typeface="Calibri"/>
                <a:cs typeface="Helvetica" panose="020B0604020202020204" pitchFamily="34" charset="0"/>
                <a:sym typeface="Calibri"/>
              </a:rPr>
              <a:t>Osteomalacia</a:t>
            </a:r>
            <a:r>
              <a:rPr lang="en-US" sz="2800" dirty="0">
                <a:solidFill>
                  <a:srgbClr val="000000"/>
                </a:solidFill>
                <a:latin typeface="Helvetica" panose="020B0604020202020204" pitchFamily="34" charset="0"/>
                <a:ea typeface="Calibri"/>
                <a:cs typeface="Helvetica" panose="020B0604020202020204" pitchFamily="34" charset="0"/>
                <a:sym typeface="Calibri"/>
              </a:rPr>
              <a:t>: soft bones</a:t>
            </a:r>
          </a:p>
          <a:p>
            <a:pPr marL="200911" lvl="3" indent="-522368">
              <a:spcBef>
                <a:spcPts val="422"/>
              </a:spcBef>
              <a:buSzPct val="80000"/>
              <a:buFont typeface="+mj-lt"/>
              <a:buAutoNum type="arabicPeriod"/>
            </a:pPr>
            <a:r>
              <a:rPr lang="en-US" sz="2800" dirty="0">
                <a:latin typeface="Helvetica" panose="020B0604020202020204" pitchFamily="34" charset="0"/>
                <a:ea typeface="Calibri"/>
                <a:cs typeface="Helvetica" panose="020B0604020202020204" pitchFamily="34" charset="0"/>
                <a:sym typeface="Calibri"/>
              </a:rPr>
              <a:t>	Osteoporosis: brittle bones</a:t>
            </a:r>
          </a:p>
          <a:p>
            <a:pPr marL="200911" lvl="3" indent="-522368">
              <a:spcBef>
                <a:spcPts val="422"/>
              </a:spcBef>
              <a:buSzPct val="80000"/>
              <a:buFont typeface="+mj-lt"/>
              <a:buAutoNum type="arabicPeriod"/>
            </a:pPr>
            <a:r>
              <a:rPr lang="en-US" sz="2800" dirty="0">
                <a:solidFill>
                  <a:srgbClr val="000000"/>
                </a:solidFill>
                <a:latin typeface="Helvetica" panose="020B0604020202020204" pitchFamily="34" charset="0"/>
                <a:ea typeface="Calibri"/>
                <a:cs typeface="Helvetica" panose="020B0604020202020204" pitchFamily="34" charset="0"/>
                <a:sym typeface="Calibri"/>
              </a:rPr>
              <a:t>	Pathologic fracture </a:t>
            </a:r>
          </a:p>
        </p:txBody>
      </p:sp>
      <p:sp>
        <p:nvSpPr>
          <p:cNvPr id="2" name="TextBox 1">
            <a:extLst>
              <a:ext uri="{FF2B5EF4-FFF2-40B4-BE49-F238E27FC236}">
                <a16:creationId xmlns:a16="http://schemas.microsoft.com/office/drawing/2014/main" id="{8F9339FC-ACBF-A90D-9007-2206CC3411BA}"/>
              </a:ext>
            </a:extLst>
          </p:cNvPr>
          <p:cNvSpPr txBox="1"/>
          <p:nvPr/>
        </p:nvSpPr>
        <p:spPr>
          <a:xfrm>
            <a:off x="471277" y="1267719"/>
            <a:ext cx="8408592" cy="1384995"/>
          </a:xfrm>
          <a:prstGeom prst="rect">
            <a:avLst/>
          </a:prstGeom>
          <a:noFill/>
        </p:spPr>
        <p:txBody>
          <a:bodyPr wrap="square" rtlCol="0">
            <a:spAutoFit/>
          </a:bodyPr>
          <a:lstStyle/>
          <a:p>
            <a:r>
              <a:rPr lang="en-US" sz="2800" b="1" dirty="0">
                <a:solidFill>
                  <a:srgbClr val="000000"/>
                </a:solidFill>
                <a:latin typeface="Helvetica" panose="020B0604020202020204" pitchFamily="34" charset="0"/>
                <a:ea typeface="Calibri"/>
                <a:cs typeface="Helvetica" panose="020B0604020202020204" pitchFamily="34" charset="0"/>
                <a:sym typeface="Calibri"/>
              </a:rPr>
              <a:t>Bones</a:t>
            </a:r>
            <a:r>
              <a:rPr lang="en-US" sz="2800" dirty="0">
                <a:solidFill>
                  <a:srgbClr val="000000"/>
                </a:solidFill>
                <a:latin typeface="Helvetica" panose="020B0604020202020204" pitchFamily="34" charset="0"/>
                <a:ea typeface="Calibri"/>
                <a:cs typeface="Helvetica" panose="020B0604020202020204" pitchFamily="34" charset="0"/>
                <a:sym typeface="Calibri"/>
              </a:rPr>
              <a:t>: High levels of parathyroid hormone cause a loss of bone mass and strength as calcium is leached away.</a:t>
            </a:r>
            <a:endParaRPr lang="en-US" sz="2800" dirty="0">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C747D7A3-60A6-196E-FE9C-5456A0E40B54}"/>
              </a:ext>
            </a:extLst>
          </p:cNvPr>
          <p:cNvSpPr txBox="1"/>
          <p:nvPr/>
        </p:nvSpPr>
        <p:spPr>
          <a:xfrm>
            <a:off x="6864181" y="2295050"/>
            <a:ext cx="4880919" cy="369332"/>
          </a:xfrm>
          <a:prstGeom prst="rect">
            <a:avLst/>
          </a:prstGeom>
          <a:noFill/>
        </p:spPr>
        <p:txBody>
          <a:bodyPr wrap="square" rtlCol="0">
            <a:spAutoFit/>
          </a:bodyPr>
          <a:lstStyle/>
          <a:p>
            <a:r>
              <a:rPr lang="en-US" dirty="0"/>
              <a:t>Healthy bone</a:t>
            </a:r>
          </a:p>
        </p:txBody>
      </p:sp>
      <p:sp>
        <p:nvSpPr>
          <p:cNvPr id="4" name="TextBox 3">
            <a:extLst>
              <a:ext uri="{FF2B5EF4-FFF2-40B4-BE49-F238E27FC236}">
                <a16:creationId xmlns:a16="http://schemas.microsoft.com/office/drawing/2014/main" id="{0FDD42E0-31BD-D676-B6B5-2190D83E39AA}"/>
              </a:ext>
            </a:extLst>
          </p:cNvPr>
          <p:cNvSpPr txBox="1"/>
          <p:nvPr/>
        </p:nvSpPr>
        <p:spPr>
          <a:xfrm>
            <a:off x="6765325" y="6078084"/>
            <a:ext cx="4880919" cy="369332"/>
          </a:xfrm>
          <a:prstGeom prst="rect">
            <a:avLst/>
          </a:prstGeom>
          <a:noFill/>
        </p:spPr>
        <p:txBody>
          <a:bodyPr wrap="square" rtlCol="0">
            <a:spAutoFit/>
          </a:bodyPr>
          <a:lstStyle/>
          <a:p>
            <a:r>
              <a:rPr lang="en-US" dirty="0"/>
              <a:t>Weakened bone</a:t>
            </a:r>
          </a:p>
        </p:txBody>
      </p:sp>
    </p:spTree>
    <p:extLst>
      <p:ext uri="{BB962C8B-B14F-4D97-AF65-F5344CB8AC3E}">
        <p14:creationId xmlns:p14="http://schemas.microsoft.com/office/powerpoint/2010/main" val="4262726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3"/>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a:t>
            </a:r>
            <a:endParaRPr dirty="0"/>
          </a:p>
        </p:txBody>
      </p:sp>
      <p:sp>
        <p:nvSpPr>
          <p:cNvPr id="365" name="Google Shape;365;p43"/>
          <p:cNvSpPr txBox="1">
            <a:spLocks noGrp="1"/>
          </p:cNvSpPr>
          <p:nvPr>
            <p:ph type="body" idx="1"/>
          </p:nvPr>
        </p:nvSpPr>
        <p:spPr>
          <a:xfrm>
            <a:off x="407774" y="1294805"/>
            <a:ext cx="8427308" cy="5439694"/>
          </a:xfrm>
          <a:prstGeom prst="rect">
            <a:avLst/>
          </a:prstGeom>
          <a:noFill/>
          <a:ln>
            <a:noFill/>
          </a:ln>
        </p:spPr>
        <p:txBody>
          <a:bodyPr spcFirstLastPara="1" vert="horz" wrap="square" lIns="88893" tIns="50783" rIns="88893" bIns="50783" rtlCol="0" anchor="t" anchorCtr="0">
            <a:noAutofit/>
          </a:bodyPr>
          <a:lstStyle/>
          <a:p>
            <a:pPr>
              <a:lnSpc>
                <a:spcPct val="100000"/>
              </a:lnSpc>
              <a:spcBef>
                <a:spcPts val="0"/>
              </a:spcBef>
              <a:buClr>
                <a:srgbClr val="000000"/>
              </a:buClr>
              <a:buSzPts val="4400"/>
            </a:pPr>
            <a:r>
              <a:rPr lang="en-US" sz="2900" b="1" dirty="0">
                <a:latin typeface="Helvetica" panose="020B0604020202020204" pitchFamily="34" charset="0"/>
                <a:ea typeface="Calibri"/>
                <a:cs typeface="Helvetica" panose="020B0604020202020204" pitchFamily="34" charset="0"/>
                <a:sym typeface="Calibri"/>
              </a:rPr>
              <a:t>Moans</a:t>
            </a:r>
            <a:r>
              <a:rPr lang="en-US" sz="2900" dirty="0">
                <a:latin typeface="Helvetica" panose="020B0604020202020204" pitchFamily="34" charset="0"/>
                <a:ea typeface="Calibri"/>
                <a:cs typeface="Helvetica" panose="020B0604020202020204" pitchFamily="34" charset="0"/>
                <a:sym typeface="Calibri"/>
              </a:rPr>
              <a:t>: abdominal symptoms of constipation, dyspepsia, nausea and vomiting.  Hypercalcemia will slow GI transit, increase gastric acid production and in rare cases, cause acute pancreatitis.</a:t>
            </a:r>
            <a:endParaRPr sz="2900" dirty="0">
              <a:latin typeface="Helvetica" panose="020B0604020202020204" pitchFamily="34" charset="0"/>
              <a:cs typeface="Helvetica" panose="020B0604020202020204" pitchFamily="34" charset="0"/>
            </a:endParaRPr>
          </a:p>
          <a:p>
            <a:pPr marL="170775" indent="-170775">
              <a:lnSpc>
                <a:spcPct val="100000"/>
              </a:lnSpc>
              <a:spcBef>
                <a:spcPts val="492"/>
              </a:spcBef>
              <a:buClr>
                <a:srgbClr val="000000"/>
              </a:buClr>
              <a:buSzPts val="4400"/>
              <a:buNone/>
            </a:pPr>
            <a:endParaRPr sz="2900" dirty="0">
              <a:latin typeface="Helvetica" panose="020B0604020202020204" pitchFamily="34" charset="0"/>
              <a:ea typeface="Calibri"/>
              <a:cs typeface="Helvetica" panose="020B0604020202020204" pitchFamily="34" charset="0"/>
              <a:sym typeface="Calibri"/>
            </a:endParaRPr>
          </a:p>
          <a:p>
            <a:pPr marL="170775" indent="-170775">
              <a:lnSpc>
                <a:spcPct val="100000"/>
              </a:lnSpc>
              <a:spcBef>
                <a:spcPts val="492"/>
              </a:spcBef>
              <a:buClr>
                <a:srgbClr val="000000"/>
              </a:buClr>
              <a:buSzPts val="4400"/>
              <a:buFont typeface="Arial"/>
              <a:buChar char="•"/>
            </a:pPr>
            <a:r>
              <a:rPr lang="en-US" sz="2900" b="1" dirty="0">
                <a:latin typeface="Helvetica" panose="020B0604020202020204" pitchFamily="34" charset="0"/>
                <a:ea typeface="Calibri"/>
                <a:cs typeface="Helvetica" panose="020B0604020202020204" pitchFamily="34" charset="0"/>
                <a:sym typeface="Calibri"/>
              </a:rPr>
              <a:t>Groans/ Psychiatric overtones:</a:t>
            </a:r>
            <a:r>
              <a:rPr lang="en-US" sz="2900" dirty="0">
                <a:latin typeface="Helvetica" panose="020B0604020202020204" pitchFamily="34" charset="0"/>
                <a:ea typeface="Calibri"/>
                <a:cs typeface="Helvetica" panose="020B0604020202020204" pitchFamily="34" charset="0"/>
                <a:sym typeface="Calibri"/>
              </a:rPr>
              <a:t> lethargy, memory loss, impaired concentration, depression, delirium, psychosis, ataxia or coma</a:t>
            </a:r>
            <a:endParaRPr sz="2900"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4"/>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 Labs</a:t>
            </a:r>
            <a:endParaRPr dirty="0"/>
          </a:p>
        </p:txBody>
      </p:sp>
      <p:sp>
        <p:nvSpPr>
          <p:cNvPr id="2" name="TextBox 1">
            <a:extLst>
              <a:ext uri="{FF2B5EF4-FFF2-40B4-BE49-F238E27FC236}">
                <a16:creationId xmlns:a16="http://schemas.microsoft.com/office/drawing/2014/main" id="{BD661050-13A8-C141-90EB-99CDA2C28310}"/>
              </a:ext>
            </a:extLst>
          </p:cNvPr>
          <p:cNvSpPr txBox="1"/>
          <p:nvPr/>
        </p:nvSpPr>
        <p:spPr>
          <a:xfrm>
            <a:off x="568411" y="1438446"/>
            <a:ext cx="8241957"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Serum calcium levels: </a:t>
            </a:r>
            <a:r>
              <a:rPr lang="en-US" sz="2800" b="1" dirty="0">
                <a:latin typeface="Helvetica" panose="020B0604020202020204" pitchFamily="34" charset="0"/>
                <a:cs typeface="Helvetica" panose="020B0604020202020204" pitchFamily="34" charset="0"/>
              </a:rPr>
              <a:t>HIGH</a:t>
            </a:r>
            <a:r>
              <a:rPr lang="en-US" sz="2800" dirty="0">
                <a:latin typeface="Helvetica" panose="020B0604020202020204" pitchFamily="34" charset="0"/>
                <a:cs typeface="Helvetica" panose="020B0604020202020204" pitchFamily="34" charset="0"/>
              </a:rPr>
              <a:t> (&gt; 10.5 mg/dL)</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Ionized serum calcium levels: </a:t>
            </a:r>
            <a:r>
              <a:rPr lang="en-US" sz="2800" b="1" dirty="0">
                <a:latin typeface="Helvetica" panose="020B0604020202020204" pitchFamily="34" charset="0"/>
                <a:cs typeface="Helvetica" panose="020B0604020202020204" pitchFamily="34" charset="0"/>
              </a:rPr>
              <a:t>HIGH</a:t>
            </a:r>
          </a:p>
          <a:p>
            <a:pPr marL="285750" indent="-285750">
              <a:buFont typeface="Arial" panose="020B0604020202020204" pitchFamily="34" charset="0"/>
              <a:buChar char="•"/>
            </a:pPr>
            <a:endParaRPr lang="en-US" sz="28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Serum intact PTH levels: </a:t>
            </a:r>
            <a:r>
              <a:rPr lang="en-US" sz="2800" b="1" dirty="0">
                <a:latin typeface="Helvetica" panose="020B0604020202020204" pitchFamily="34" charset="0"/>
                <a:cs typeface="Helvetica" panose="020B0604020202020204" pitchFamily="34" charset="0"/>
              </a:rPr>
              <a:t>INAPPROPRIATELY HIGH</a:t>
            </a:r>
          </a:p>
          <a:p>
            <a:pPr marL="285750" indent="-285750">
              <a:buFont typeface="Arial" panose="020B0604020202020204" pitchFamily="34" charset="0"/>
              <a:buChar char="•"/>
            </a:pPr>
            <a:endParaRPr lang="en-US" sz="28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Serum phosphate levels: </a:t>
            </a:r>
            <a:r>
              <a:rPr lang="en-US" sz="2800" b="1" dirty="0">
                <a:latin typeface="Helvetica" panose="020B0604020202020204" pitchFamily="34" charset="0"/>
                <a:cs typeface="Helvetica" panose="020B0604020202020204" pitchFamily="34" charset="0"/>
              </a:rPr>
              <a:t>LOW </a:t>
            </a:r>
            <a:r>
              <a:rPr lang="en-US" sz="2800" dirty="0">
                <a:latin typeface="Helvetica" panose="020B0604020202020204" pitchFamily="34" charset="0"/>
                <a:cs typeface="Helvetica" panose="020B0604020202020204" pitchFamily="34" charset="0"/>
              </a:rPr>
              <a:t>(&lt;2.5 mg/dL)</a:t>
            </a:r>
          </a:p>
          <a:p>
            <a:pPr marL="742950" lvl="1"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The kidney is forced to excrete phosphorus under the influence of very high PTH </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5"/>
          <p:cNvSpPr txBox="1">
            <a:spLocks noGrp="1"/>
          </p:cNvSpPr>
          <p:nvPr>
            <p:ph type="title"/>
          </p:nvPr>
        </p:nvSpPr>
        <p:spPr>
          <a:xfrm>
            <a:off x="151805" y="144228"/>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a:t>
            </a:r>
            <a:endParaRPr dirty="0"/>
          </a:p>
        </p:txBody>
      </p:sp>
      <p:sp>
        <p:nvSpPr>
          <p:cNvPr id="3" name="TextBox 2">
            <a:extLst>
              <a:ext uri="{FF2B5EF4-FFF2-40B4-BE49-F238E27FC236}">
                <a16:creationId xmlns:a16="http://schemas.microsoft.com/office/drawing/2014/main" id="{E273BF11-4382-D604-02E8-CFB7937C99ED}"/>
              </a:ext>
            </a:extLst>
          </p:cNvPr>
          <p:cNvSpPr txBox="1"/>
          <p:nvPr/>
        </p:nvSpPr>
        <p:spPr>
          <a:xfrm>
            <a:off x="450463" y="1322870"/>
            <a:ext cx="8241957"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Asymptomatic patients with primary HPT may be </a:t>
            </a:r>
            <a:r>
              <a:rPr lang="en-US" sz="2800" b="1" i="1" dirty="0">
                <a:latin typeface="Helvetica" panose="020B0604020202020204" pitchFamily="34" charset="0"/>
                <a:cs typeface="Helvetica" panose="020B0604020202020204" pitchFamily="34" charset="0"/>
              </a:rPr>
              <a:t>monitored </a:t>
            </a:r>
            <a:r>
              <a:rPr lang="en-US" sz="2800" dirty="0">
                <a:latin typeface="Helvetica" panose="020B0604020202020204" pitchFamily="34" charset="0"/>
                <a:cs typeface="Helvetica" panose="020B0604020202020204" pitchFamily="34" charset="0"/>
              </a:rPr>
              <a:t>and treated conservatively with </a:t>
            </a:r>
            <a:r>
              <a:rPr lang="en-US" sz="2800" b="1" i="1" dirty="0">
                <a:latin typeface="Helvetica" panose="020B0604020202020204" pitchFamily="34" charset="0"/>
                <a:cs typeface="Helvetica" panose="020B0604020202020204" pitchFamily="34" charset="0"/>
              </a:rPr>
              <a:t>large fluid intake. </a:t>
            </a:r>
            <a:r>
              <a:rPr lang="en-US" sz="2800" dirty="0">
                <a:latin typeface="Helvetica" panose="020B0604020202020204" pitchFamily="34" charset="0"/>
                <a:cs typeface="Helvetica" panose="020B0604020202020204" pitchFamily="34" charset="0"/>
              </a:rPr>
              <a:t> </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b="1" i="1" dirty="0">
                <a:latin typeface="Helvetica" panose="020B0604020202020204" pitchFamily="34" charset="0"/>
                <a:cs typeface="Helvetica" panose="020B0604020202020204" pitchFamily="34" charset="0"/>
              </a:rPr>
              <a:t>Development of significant symptoms or lab abnormalities is indication for a parathyroid resection.</a:t>
            </a:r>
          </a:p>
          <a:p>
            <a:pPr marL="742950" lvl="1"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Who may require surgery: Patients who develop kidney stones, hypercalciuria, bone pain, or osteoporosis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6"/>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Primary Hyperparathyroidism</a:t>
            </a:r>
            <a:endParaRPr dirty="0"/>
          </a:p>
        </p:txBody>
      </p:sp>
      <p:sp>
        <p:nvSpPr>
          <p:cNvPr id="383" name="Google Shape;383;p46"/>
          <p:cNvSpPr txBox="1">
            <a:spLocks noGrp="1"/>
          </p:cNvSpPr>
          <p:nvPr>
            <p:ph type="body" idx="1"/>
          </p:nvPr>
        </p:nvSpPr>
        <p:spPr>
          <a:xfrm>
            <a:off x="360431" y="1294736"/>
            <a:ext cx="8422022" cy="5439694"/>
          </a:xfrm>
          <a:prstGeom prst="rect">
            <a:avLst/>
          </a:prstGeom>
          <a:noFill/>
          <a:ln>
            <a:noFill/>
          </a:ln>
        </p:spPr>
        <p:txBody>
          <a:bodyPr spcFirstLastPara="1" vert="horz" wrap="square" lIns="88893" tIns="50783" rIns="88893" bIns="50783" rtlCol="0" anchor="t" anchorCtr="0">
            <a:noAutofit/>
          </a:bodyPr>
          <a:lstStyle/>
          <a:p>
            <a:pPr marL="170775" indent="-200911">
              <a:lnSpc>
                <a:spcPct val="100000"/>
              </a:lnSpc>
              <a:spcBef>
                <a:spcPts val="0"/>
              </a:spcBef>
              <a:buClr>
                <a:srgbClr val="000000"/>
              </a:buClr>
              <a:buSzPts val="4500"/>
              <a:buFont typeface="Arial"/>
              <a:buChar char="•"/>
            </a:pPr>
            <a:r>
              <a:rPr lang="en-US" dirty="0">
                <a:latin typeface="Helvetica" panose="020B0604020202020204" pitchFamily="34" charset="0"/>
                <a:ea typeface="Calibri"/>
                <a:cs typeface="Helvetica" panose="020B0604020202020204" pitchFamily="34" charset="0"/>
                <a:sym typeface="Calibri"/>
              </a:rPr>
              <a:t>Even “asymptomatic” patients with primary HPT may notice an </a:t>
            </a:r>
            <a:r>
              <a:rPr lang="en-US" b="1" i="1" dirty="0">
                <a:latin typeface="Helvetica" panose="020B0604020202020204" pitchFamily="34" charset="0"/>
                <a:ea typeface="Calibri"/>
                <a:cs typeface="Helvetica" panose="020B0604020202020204" pitchFamily="34" charset="0"/>
                <a:sym typeface="Calibri"/>
              </a:rPr>
              <a:t>improvement in anxiety, phobias and mood </a:t>
            </a:r>
            <a:r>
              <a:rPr lang="en-US" dirty="0">
                <a:latin typeface="Helvetica" panose="020B0604020202020204" pitchFamily="34" charset="0"/>
                <a:ea typeface="Calibri"/>
                <a:cs typeface="Helvetica" panose="020B0604020202020204" pitchFamily="34" charset="0"/>
                <a:sym typeface="Calibri"/>
              </a:rPr>
              <a:t>after parathyroidectomy.</a:t>
            </a:r>
            <a:endParaRPr dirty="0">
              <a:latin typeface="Helvetica" panose="020B0604020202020204" pitchFamily="34" charset="0"/>
              <a:cs typeface="Helvetica" panose="020B0604020202020204" pitchFamily="34" charset="0"/>
            </a:endParaRPr>
          </a:p>
          <a:p>
            <a:pPr marL="170775" indent="-170775">
              <a:lnSpc>
                <a:spcPct val="100000"/>
              </a:lnSpc>
              <a:spcBef>
                <a:spcPts val="492"/>
              </a:spcBef>
              <a:buClr>
                <a:srgbClr val="000000"/>
              </a:buClr>
              <a:buSzPts val="4500"/>
              <a:buNone/>
            </a:pPr>
            <a:endParaRPr lang="en-US" dirty="0">
              <a:latin typeface="Helvetica" panose="020B0604020202020204" pitchFamily="34" charset="0"/>
              <a:ea typeface="Calibri"/>
              <a:cs typeface="Helvetica" panose="020B0604020202020204" pitchFamily="34" charset="0"/>
              <a:sym typeface="Calibri"/>
            </a:endParaRPr>
          </a:p>
          <a:p>
            <a:pPr marL="205376" indent="-205376">
              <a:lnSpc>
                <a:spcPct val="100000"/>
              </a:lnSpc>
              <a:spcBef>
                <a:spcPts val="0"/>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Once parathyroid resection surgery is finished, </a:t>
            </a:r>
            <a:r>
              <a:rPr lang="en-US" b="1" i="1" dirty="0">
                <a:latin typeface="Helvetica" panose="020B0604020202020204" pitchFamily="34" charset="0"/>
                <a:ea typeface="Calibri"/>
                <a:cs typeface="Helvetica" panose="020B0604020202020204" pitchFamily="34" charset="0"/>
                <a:sym typeface="Calibri"/>
              </a:rPr>
              <a:t>PTH levels fall rapidly, often resulting in hypocalcemia </a:t>
            </a:r>
            <a:r>
              <a:rPr lang="en-US" dirty="0">
                <a:latin typeface="Helvetica" panose="020B0604020202020204" pitchFamily="34" charset="0"/>
                <a:ea typeface="Calibri"/>
                <a:cs typeface="Helvetica" panose="020B0604020202020204" pitchFamily="34" charset="0"/>
                <a:sym typeface="Calibri"/>
              </a:rPr>
              <a:t>during the first 24 hours.</a:t>
            </a:r>
          </a:p>
          <a:p>
            <a:pPr marL="205376" indent="-205376">
              <a:lnSpc>
                <a:spcPct val="100000"/>
              </a:lnSpc>
              <a:spcBef>
                <a:spcPts val="0"/>
              </a:spcBef>
              <a:buClr>
                <a:srgbClr val="000000"/>
              </a:buClr>
              <a:buSzPts val="4400"/>
              <a:buFont typeface="Arial"/>
              <a:buChar char="•"/>
            </a:pPr>
            <a:endParaRPr lang="en-US" dirty="0">
              <a:latin typeface="Helvetica" panose="020B0604020202020204" pitchFamily="34" charset="0"/>
              <a:ea typeface="Calibri"/>
              <a:cs typeface="Helvetica" panose="020B0604020202020204" pitchFamily="34" charset="0"/>
              <a:sym typeface="Calibri"/>
            </a:endParaRPr>
          </a:p>
          <a:p>
            <a:pPr marL="205376" indent="-205376">
              <a:lnSpc>
                <a:spcPct val="100000"/>
              </a:lnSpc>
              <a:spcBef>
                <a:spcPts val="1336"/>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Frequent measurements of ionized calcium levels and supplementation of calcium and magnesium are needed if this happens.</a:t>
            </a:r>
            <a:endParaRPr lang="en-US" dirty="0">
              <a:latin typeface="Helvetica" panose="020B0604020202020204" pitchFamily="34" charset="0"/>
              <a:cs typeface="Helvetica" panose="020B0604020202020204" pitchFamily="34" charset="0"/>
            </a:endParaRPr>
          </a:p>
          <a:p>
            <a:pPr marL="170775" indent="-170775">
              <a:lnSpc>
                <a:spcPct val="100000"/>
              </a:lnSpc>
              <a:spcBef>
                <a:spcPts val="492"/>
              </a:spcBef>
              <a:buClr>
                <a:srgbClr val="000000"/>
              </a:buClr>
              <a:buSzPts val="4500"/>
              <a:buNone/>
            </a:pPr>
            <a:endParaRPr dirty="0">
              <a:latin typeface="Helvetica" panose="020B0604020202020204" pitchFamily="34" charset="0"/>
              <a:ea typeface="Calibri"/>
              <a:cs typeface="Helvetica" panose="020B0604020202020204" pitchFamily="34" charset="0"/>
              <a:sym typeface="Calibri"/>
            </a:endParaRPr>
          </a:p>
          <a:p>
            <a:pPr marL="170775" indent="-170775">
              <a:lnSpc>
                <a:spcPct val="100000"/>
              </a:lnSpc>
              <a:spcBef>
                <a:spcPts val="492"/>
              </a:spcBef>
              <a:buClr>
                <a:srgbClr val="000000"/>
              </a:buClr>
              <a:buSzPts val="4500"/>
              <a:buNone/>
            </a:pPr>
            <a:endParaRPr dirty="0">
              <a:latin typeface="Helvetica" panose="020B0604020202020204" pitchFamily="34" charset="0"/>
              <a:ea typeface="Helvetica Neue"/>
              <a:cs typeface="Helvetica" panose="020B0604020202020204" pitchFamily="34" charset="0"/>
              <a:sym typeface="Helvetica Neue"/>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B9D5-04ED-D2DF-8F31-8094F083B5BD}"/>
              </a:ext>
            </a:extLst>
          </p:cNvPr>
          <p:cNvSpPr>
            <a:spLocks noGrp="1"/>
          </p:cNvSpPr>
          <p:nvPr>
            <p:ph type="title"/>
          </p:nvPr>
        </p:nvSpPr>
        <p:spPr>
          <a:xfrm>
            <a:off x="591579" y="153067"/>
            <a:ext cx="7886700" cy="1325563"/>
          </a:xfrm>
        </p:spPr>
        <p:txBody>
          <a:bodyPr/>
          <a:lstStyle/>
          <a:p>
            <a:pPr algn="ctr"/>
            <a:r>
              <a:rPr lang="en-US" dirty="0"/>
              <a:t>Surgery for Primary HPT </a:t>
            </a:r>
          </a:p>
        </p:txBody>
      </p:sp>
      <p:sp>
        <p:nvSpPr>
          <p:cNvPr id="3" name="Content Placeholder 2">
            <a:extLst>
              <a:ext uri="{FF2B5EF4-FFF2-40B4-BE49-F238E27FC236}">
                <a16:creationId xmlns:a16="http://schemas.microsoft.com/office/drawing/2014/main" id="{00755EE1-82DF-1CB7-287C-9778F02362EA}"/>
              </a:ext>
            </a:extLst>
          </p:cNvPr>
          <p:cNvSpPr>
            <a:spLocks noGrp="1"/>
          </p:cNvSpPr>
          <p:nvPr>
            <p:ph idx="1"/>
          </p:nvPr>
        </p:nvSpPr>
        <p:spPr>
          <a:xfrm>
            <a:off x="628650" y="1393134"/>
            <a:ext cx="7765449" cy="4351338"/>
          </a:xfrm>
        </p:spPr>
        <p:txBody>
          <a:bodyPr>
            <a:normAutofit/>
          </a:bodyPr>
          <a:lstStyle/>
          <a:p>
            <a:r>
              <a:rPr lang="en-US" sz="2900" b="1" dirty="0">
                <a:solidFill>
                  <a:srgbClr val="000000"/>
                </a:solidFill>
                <a:latin typeface="Helvetica" panose="020B0604020202020204" pitchFamily="34" charset="0"/>
                <a:ea typeface="Calibri"/>
                <a:cs typeface="Helvetica" panose="020B0604020202020204" pitchFamily="34" charset="0"/>
                <a:sym typeface="Calibri"/>
              </a:rPr>
              <a:t>Thyrotoxicosis</a:t>
            </a:r>
            <a:r>
              <a:rPr lang="en-US" sz="2900" b="1" i="1" dirty="0">
                <a:solidFill>
                  <a:srgbClr val="000000"/>
                </a:solidFill>
                <a:latin typeface="Helvetica" panose="020B0604020202020204" pitchFamily="34" charset="0"/>
                <a:ea typeface="Calibri"/>
                <a:cs typeface="Helvetica" panose="020B0604020202020204" pitchFamily="34" charset="0"/>
                <a:sym typeface="Calibri"/>
              </a:rPr>
              <a:t> </a:t>
            </a:r>
            <a:r>
              <a:rPr lang="en-US" sz="2900" dirty="0">
                <a:solidFill>
                  <a:srgbClr val="000000"/>
                </a:solidFill>
                <a:latin typeface="Helvetica" panose="020B0604020202020204" pitchFamily="34" charset="0"/>
                <a:ea typeface="Calibri"/>
                <a:cs typeface="Helvetica" panose="020B0604020202020204" pitchFamily="34" charset="0"/>
                <a:sym typeface="Calibri"/>
              </a:rPr>
              <a:t>(tachycardia, fever, and diaphoresis) is also common due to thyroid manipulation during a parathyroidectomy.</a:t>
            </a:r>
          </a:p>
          <a:p>
            <a:r>
              <a:rPr lang="en-US" sz="2900" dirty="0">
                <a:latin typeface="Helvetica" panose="020B0604020202020204" pitchFamily="34" charset="0"/>
                <a:ea typeface="Calibri"/>
                <a:cs typeface="Helvetica" panose="020B0604020202020204" pitchFamily="34" charset="0"/>
                <a:sym typeface="Calibri"/>
              </a:rPr>
              <a:t>Hyperthyroid s</a:t>
            </a:r>
            <a:r>
              <a:rPr lang="en-US" sz="2900" dirty="0">
                <a:solidFill>
                  <a:srgbClr val="000000"/>
                </a:solidFill>
                <a:latin typeface="Helvetica" panose="020B0604020202020204" pitchFamily="34" charset="0"/>
                <a:ea typeface="Calibri"/>
                <a:cs typeface="Helvetica" panose="020B0604020202020204" pitchFamily="34" charset="0"/>
                <a:sym typeface="Calibri"/>
              </a:rPr>
              <a:t>ymptoms are best managed with propranolol </a:t>
            </a:r>
            <a:endParaRPr lang="en-US" sz="2900" dirty="0">
              <a:solidFill>
                <a:srgbClr val="000000"/>
              </a:solidFill>
              <a:latin typeface="Helvetica" panose="020B0604020202020204" pitchFamily="34" charset="0"/>
              <a:ea typeface="Arial"/>
              <a:cs typeface="Helvetica" panose="020B0604020202020204" pitchFamily="34" charset="0"/>
              <a:sym typeface="Arial"/>
            </a:endParaRPr>
          </a:p>
          <a:p>
            <a:endParaRPr lang="en-US" sz="2900" dirty="0"/>
          </a:p>
        </p:txBody>
      </p:sp>
      <p:sp>
        <p:nvSpPr>
          <p:cNvPr id="4" name="Slide Number Placeholder 3">
            <a:extLst>
              <a:ext uri="{FF2B5EF4-FFF2-40B4-BE49-F238E27FC236}">
                <a16:creationId xmlns:a16="http://schemas.microsoft.com/office/drawing/2014/main" id="{CB077597-B4C5-C89D-BBDA-FF438CE7360D}"/>
              </a:ext>
            </a:extLst>
          </p:cNvPr>
          <p:cNvSpPr>
            <a:spLocks noGrp="1"/>
          </p:cNvSpPr>
          <p:nvPr>
            <p:ph type="sldNum" sz="quarter" idx="12"/>
          </p:nvPr>
        </p:nvSpPr>
        <p:spPr/>
        <p:txBody>
          <a:bodyPr/>
          <a:lstStyle/>
          <a:p>
            <a:fld id="{1E422F9A-6EE9-44F0-9560-5F04B1DEB4A3}" type="slidenum">
              <a:rPr lang="en-US" smtClean="0"/>
              <a:t>58</a:t>
            </a:fld>
            <a:endParaRPr lang="en-US"/>
          </a:p>
        </p:txBody>
      </p:sp>
      <p:pic>
        <p:nvPicPr>
          <p:cNvPr id="9" name="Picture 8" descr="Early symptoms of a thyroid surgery including feeling hot and sweaty, anxiety, tachycardia, and tremors">
            <a:extLst>
              <a:ext uri="{FF2B5EF4-FFF2-40B4-BE49-F238E27FC236}">
                <a16:creationId xmlns:a16="http://schemas.microsoft.com/office/drawing/2014/main" id="{6DAAE71F-11F2-79F8-9655-4DA8D265C8EB}"/>
              </a:ext>
            </a:extLst>
          </p:cNvPr>
          <p:cNvPicPr>
            <a:picLocks noChangeAspect="1"/>
          </p:cNvPicPr>
          <p:nvPr/>
        </p:nvPicPr>
        <p:blipFill>
          <a:blip r:embed="rId3"/>
          <a:stretch>
            <a:fillRect/>
          </a:stretch>
        </p:blipFill>
        <p:spPr>
          <a:xfrm>
            <a:off x="4643051" y="3689012"/>
            <a:ext cx="3872299" cy="2548437"/>
          </a:xfrm>
          <a:prstGeom prst="rect">
            <a:avLst/>
          </a:prstGeom>
        </p:spPr>
      </p:pic>
      <p:pic>
        <p:nvPicPr>
          <p:cNvPr id="13" name="Picture 12" descr="Female patient lying down in preparation for parathyroid surgery">
            <a:extLst>
              <a:ext uri="{FF2B5EF4-FFF2-40B4-BE49-F238E27FC236}">
                <a16:creationId xmlns:a16="http://schemas.microsoft.com/office/drawing/2014/main" id="{5F1956E8-D6EB-CC1C-1F1A-BC7FAC5D66DE}"/>
              </a:ext>
            </a:extLst>
          </p:cNvPr>
          <p:cNvPicPr>
            <a:picLocks noChangeAspect="1"/>
          </p:cNvPicPr>
          <p:nvPr/>
        </p:nvPicPr>
        <p:blipFill>
          <a:blip r:embed="rId4"/>
          <a:stretch>
            <a:fillRect/>
          </a:stretch>
        </p:blipFill>
        <p:spPr>
          <a:xfrm>
            <a:off x="888013" y="4032415"/>
            <a:ext cx="3495675" cy="2057400"/>
          </a:xfrm>
          <a:prstGeom prst="rect">
            <a:avLst/>
          </a:prstGeom>
        </p:spPr>
      </p:pic>
    </p:spTree>
    <p:extLst>
      <p:ext uri="{BB962C8B-B14F-4D97-AF65-F5344CB8AC3E}">
        <p14:creationId xmlns:p14="http://schemas.microsoft.com/office/powerpoint/2010/main" val="42502405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A96BC35C-4DCC-7A61-A888-B010EAB402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394766F-CC52-8E7D-6EC6-D9F48D331160}"/>
              </a:ext>
            </a:extLst>
          </p:cNvPr>
          <p:cNvPicPr>
            <a:picLocks noChangeAspect="1"/>
          </p:cNvPicPr>
          <p:nvPr/>
        </p:nvPicPr>
        <p:blipFill>
          <a:blip r:embed="rId3"/>
          <a:stretch>
            <a:fillRect/>
          </a:stretch>
        </p:blipFill>
        <p:spPr>
          <a:xfrm>
            <a:off x="6403168" y="4085635"/>
            <a:ext cx="2162163" cy="2552805"/>
          </a:xfrm>
          <a:prstGeom prst="rect">
            <a:avLst/>
          </a:prstGeom>
        </p:spPr>
      </p:pic>
      <p:sp>
        <p:nvSpPr>
          <p:cNvPr id="403" name="Google Shape;403;p49">
            <a:extLst>
              <a:ext uri="{FF2B5EF4-FFF2-40B4-BE49-F238E27FC236}">
                <a16:creationId xmlns:a16="http://schemas.microsoft.com/office/drawing/2014/main" id="{EFEDB4C9-886B-CC60-837F-BE5CE69F65BB}"/>
              </a:ext>
            </a:extLst>
          </p:cNvPr>
          <p:cNvSpPr txBox="1">
            <a:spLocks noGrp="1"/>
          </p:cNvSpPr>
          <p:nvPr>
            <p:ph type="title"/>
          </p:nvPr>
        </p:nvSpPr>
        <p:spPr>
          <a:xfrm>
            <a:off x="151804" y="123568"/>
            <a:ext cx="8658821"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latin typeface="Helvetica" panose="020B0604020202020204" pitchFamily="34" charset="0"/>
                <a:ea typeface="Helvetica Neue"/>
                <a:cs typeface="Helvetica" panose="020B0604020202020204" pitchFamily="34" charset="0"/>
                <a:sym typeface="Helvetica Neue"/>
              </a:rPr>
              <a:t>“Hungry Bones” syndrome</a:t>
            </a:r>
            <a:endParaRPr sz="4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4BCA9D36-71DB-F04E-3AB1-AD4BF82B970C}"/>
              </a:ext>
            </a:extLst>
          </p:cNvPr>
          <p:cNvSpPr txBox="1"/>
          <p:nvPr/>
        </p:nvSpPr>
        <p:spPr>
          <a:xfrm>
            <a:off x="405679" y="1345893"/>
            <a:ext cx="8010958"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Helvetica" panose="020B0604020202020204" pitchFamily="34" charset="0"/>
                <a:cs typeface="Helvetica" panose="020B0604020202020204" pitchFamily="34" charset="0"/>
              </a:rPr>
              <a:t>“Hungry bones” occurs after parathyroid glands are removed, the bones suddenly soak up so much calcium from the blood that the patient becomes dangerously low in calcium</a:t>
            </a:r>
          </a:p>
          <a:p>
            <a:pPr marL="285750" indent="-285750">
              <a:buFont typeface="Arial" panose="020B0604020202020204" pitchFamily="34" charset="0"/>
              <a:buChar char="•"/>
            </a:pPr>
            <a:endParaRPr lang="en-US" sz="3200" dirty="0">
              <a:latin typeface="Helvetica" panose="020B0604020202020204" pitchFamily="34" charset="0"/>
              <a:cs typeface="Helvetica" panose="020B0604020202020204" pitchFamily="34" charset="0"/>
            </a:endParaRPr>
          </a:p>
        </p:txBody>
      </p:sp>
      <p:sp>
        <p:nvSpPr>
          <p:cNvPr id="6" name="TextBox 5">
            <a:extLst>
              <a:ext uri="{FF2B5EF4-FFF2-40B4-BE49-F238E27FC236}">
                <a16:creationId xmlns:a16="http://schemas.microsoft.com/office/drawing/2014/main" id="{62F4FF7A-00D1-57D9-2744-C70DB032C396}"/>
              </a:ext>
            </a:extLst>
          </p:cNvPr>
          <p:cNvSpPr txBox="1"/>
          <p:nvPr/>
        </p:nvSpPr>
        <p:spPr>
          <a:xfrm>
            <a:off x="405679" y="3902179"/>
            <a:ext cx="5997489" cy="1569660"/>
          </a:xfrm>
          <a:prstGeom prst="rect">
            <a:avLst/>
          </a:prstGeom>
          <a:noFill/>
        </p:spPr>
        <p:txBody>
          <a:bodyPr wrap="square" rtlCol="0">
            <a:spAutoFit/>
          </a:bodyPr>
          <a:lstStyle/>
          <a:p>
            <a:pPr marL="285750" indent="-285750">
              <a:buFont typeface="Arial" panose="020B0604020202020204" pitchFamily="34" charset="0"/>
              <a:buChar char="•"/>
            </a:pPr>
            <a:endParaRPr lang="en-US" sz="32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3200" dirty="0">
                <a:latin typeface="Helvetica" panose="020B0604020202020204" pitchFamily="34" charset="0"/>
                <a:cs typeface="Helvetica" panose="020B0604020202020204" pitchFamily="34" charset="0"/>
              </a:rPr>
              <a:t>Think of it as “starving bones” grabbing all the Ca they can</a:t>
            </a:r>
          </a:p>
        </p:txBody>
      </p:sp>
    </p:spTree>
    <p:extLst>
      <p:ext uri="{BB962C8B-B14F-4D97-AF65-F5344CB8AC3E}">
        <p14:creationId xmlns:p14="http://schemas.microsoft.com/office/powerpoint/2010/main" val="13215534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A6D15C99-A115-E20C-AB04-365304C42635}"/>
            </a:ext>
          </a:extLst>
        </p:cNvPr>
        <p:cNvGrpSpPr/>
        <p:nvPr/>
      </p:nvGrpSpPr>
      <p:grpSpPr>
        <a:xfrm>
          <a:off x="0" y="0"/>
          <a:ext cx="0" cy="0"/>
          <a:chOff x="0" y="0"/>
          <a:chExt cx="0" cy="0"/>
        </a:xfrm>
      </p:grpSpPr>
      <p:sp>
        <p:nvSpPr>
          <p:cNvPr id="403" name="Google Shape;403;p49">
            <a:extLst>
              <a:ext uri="{FF2B5EF4-FFF2-40B4-BE49-F238E27FC236}">
                <a16:creationId xmlns:a16="http://schemas.microsoft.com/office/drawing/2014/main" id="{A24827A8-AD5E-ED69-DEEC-D5CC4BE8E36E}"/>
              </a:ext>
            </a:extLst>
          </p:cNvPr>
          <p:cNvSpPr txBox="1">
            <a:spLocks noGrp="1"/>
          </p:cNvSpPr>
          <p:nvPr>
            <p:ph type="title"/>
          </p:nvPr>
        </p:nvSpPr>
        <p:spPr>
          <a:xfrm>
            <a:off x="151804" y="123568"/>
            <a:ext cx="8658821"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latin typeface="Helvetica" panose="020B0604020202020204" pitchFamily="34" charset="0"/>
                <a:ea typeface="Helvetica Neue"/>
                <a:cs typeface="Helvetica" panose="020B0604020202020204" pitchFamily="34" charset="0"/>
                <a:sym typeface="Helvetica Neue"/>
              </a:rPr>
              <a:t>“Hungry Bones” syndrome</a:t>
            </a:r>
            <a:endParaRPr sz="4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CA8FEF8A-5090-84A5-5D4B-3C324FFF78B8}"/>
              </a:ext>
            </a:extLst>
          </p:cNvPr>
          <p:cNvSpPr txBox="1"/>
          <p:nvPr/>
        </p:nvSpPr>
        <p:spPr>
          <a:xfrm>
            <a:off x="491795" y="1527209"/>
            <a:ext cx="8404947" cy="3323987"/>
          </a:xfrm>
          <a:prstGeom prst="rect">
            <a:avLst/>
          </a:prstGeom>
          <a:noFill/>
        </p:spPr>
        <p:txBody>
          <a:bodyPr wrap="square" rtlCol="0">
            <a:spAutoFit/>
          </a:bodyPr>
          <a:lstStyle/>
          <a:p>
            <a:r>
              <a:rPr lang="en-US" sz="3000" b="1" dirty="0">
                <a:latin typeface="Helvetica" panose="020B0604020202020204" pitchFamily="34" charset="0"/>
                <a:cs typeface="Helvetica" panose="020B0604020202020204" pitchFamily="34" charset="0"/>
              </a:rPr>
              <a:t>Before surgery:</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The patient has too much parathyroid hormone (usually from adenoma)</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High PTH constantly breaks down bone (resorption), dumping Ca into blood </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Before surgery, the body is used to fast rate of bone breakdown and hypercalcemia</a:t>
            </a:r>
          </a:p>
        </p:txBody>
      </p:sp>
    </p:spTree>
    <p:extLst>
      <p:ext uri="{BB962C8B-B14F-4D97-AF65-F5344CB8AC3E}">
        <p14:creationId xmlns:p14="http://schemas.microsoft.com/office/powerpoint/2010/main" val="15654934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3839E5F6-0CA6-167A-1109-DDAE195FE654}"/>
            </a:ext>
          </a:extLst>
        </p:cNvPr>
        <p:cNvGrpSpPr/>
        <p:nvPr/>
      </p:nvGrpSpPr>
      <p:grpSpPr>
        <a:xfrm>
          <a:off x="0" y="0"/>
          <a:ext cx="0" cy="0"/>
          <a:chOff x="0" y="0"/>
          <a:chExt cx="0" cy="0"/>
        </a:xfrm>
      </p:grpSpPr>
      <p:sp>
        <p:nvSpPr>
          <p:cNvPr id="403" name="Google Shape;403;p49">
            <a:extLst>
              <a:ext uri="{FF2B5EF4-FFF2-40B4-BE49-F238E27FC236}">
                <a16:creationId xmlns:a16="http://schemas.microsoft.com/office/drawing/2014/main" id="{289402AB-8467-C4F8-772F-1D03EBA57562}"/>
              </a:ext>
            </a:extLst>
          </p:cNvPr>
          <p:cNvSpPr txBox="1">
            <a:spLocks noGrp="1"/>
          </p:cNvSpPr>
          <p:nvPr>
            <p:ph type="title"/>
          </p:nvPr>
        </p:nvSpPr>
        <p:spPr>
          <a:xfrm>
            <a:off x="151804" y="123568"/>
            <a:ext cx="8658821"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latin typeface="Helvetica" panose="020B0604020202020204" pitchFamily="34" charset="0"/>
                <a:ea typeface="Helvetica Neue"/>
                <a:cs typeface="Helvetica" panose="020B0604020202020204" pitchFamily="34" charset="0"/>
                <a:sym typeface="Helvetica Neue"/>
              </a:rPr>
              <a:t>“Hungry Bones” syndrome</a:t>
            </a:r>
            <a:endParaRPr sz="4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1AD6F66F-A613-18E3-4D71-7919C78C9AD3}"/>
              </a:ext>
            </a:extLst>
          </p:cNvPr>
          <p:cNvSpPr txBox="1"/>
          <p:nvPr/>
        </p:nvSpPr>
        <p:spPr>
          <a:xfrm>
            <a:off x="529503" y="1536422"/>
            <a:ext cx="8281122" cy="4031873"/>
          </a:xfrm>
          <a:prstGeom prst="rect">
            <a:avLst/>
          </a:prstGeom>
          <a:noFill/>
        </p:spPr>
        <p:txBody>
          <a:bodyPr wrap="square" rtlCol="0">
            <a:spAutoFit/>
          </a:bodyPr>
          <a:lstStyle/>
          <a:p>
            <a:r>
              <a:rPr lang="en-US" sz="3200" b="1" dirty="0">
                <a:latin typeface="Helvetica" panose="020B0604020202020204" pitchFamily="34" charset="0"/>
                <a:cs typeface="Helvetica" panose="020B0604020202020204" pitchFamily="34" charset="0"/>
              </a:rPr>
              <a:t>After surgery:</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Parathyroidectomy removes the overactive glands, and once it’s out:</a:t>
            </a:r>
          </a:p>
          <a:p>
            <a:pPr marL="914400" lvl="1"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PTH levels crash almost instantly</a:t>
            </a:r>
          </a:p>
          <a:p>
            <a:pPr marL="914400" lvl="1"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Bone breakdown stops quickly (no PTH to drive it)</a:t>
            </a:r>
          </a:p>
          <a:p>
            <a:pPr marL="914400" lvl="1"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Kidneys stop holding onto calcium (PTH normally helps to reabsorb it), so more Ca is lost in urine </a:t>
            </a:r>
          </a:p>
        </p:txBody>
      </p:sp>
    </p:spTree>
    <p:extLst>
      <p:ext uri="{BB962C8B-B14F-4D97-AF65-F5344CB8AC3E}">
        <p14:creationId xmlns:p14="http://schemas.microsoft.com/office/powerpoint/2010/main" val="22796422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B7308C8D-C49B-8C65-01D1-21C8EE102392}"/>
            </a:ext>
          </a:extLst>
        </p:cNvPr>
        <p:cNvGrpSpPr/>
        <p:nvPr/>
      </p:nvGrpSpPr>
      <p:grpSpPr>
        <a:xfrm>
          <a:off x="0" y="0"/>
          <a:ext cx="0" cy="0"/>
          <a:chOff x="0" y="0"/>
          <a:chExt cx="0" cy="0"/>
        </a:xfrm>
      </p:grpSpPr>
      <p:sp>
        <p:nvSpPr>
          <p:cNvPr id="403" name="Google Shape;403;p49">
            <a:extLst>
              <a:ext uri="{FF2B5EF4-FFF2-40B4-BE49-F238E27FC236}">
                <a16:creationId xmlns:a16="http://schemas.microsoft.com/office/drawing/2014/main" id="{F4898E31-7239-1C26-C196-7B39655D665B}"/>
              </a:ext>
            </a:extLst>
          </p:cNvPr>
          <p:cNvSpPr txBox="1">
            <a:spLocks noGrp="1"/>
          </p:cNvSpPr>
          <p:nvPr>
            <p:ph type="title"/>
          </p:nvPr>
        </p:nvSpPr>
        <p:spPr>
          <a:xfrm>
            <a:off x="151804" y="123568"/>
            <a:ext cx="8658821"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latin typeface="Helvetica" panose="020B0604020202020204" pitchFamily="34" charset="0"/>
                <a:ea typeface="Helvetica Neue"/>
                <a:cs typeface="Helvetica" panose="020B0604020202020204" pitchFamily="34" charset="0"/>
                <a:sym typeface="Helvetica Neue"/>
              </a:rPr>
              <a:t>“Hungry Bones” syndrome</a:t>
            </a:r>
            <a:endParaRPr sz="4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03E63154-4DAF-E47E-BEEC-C3965F4BAF16}"/>
              </a:ext>
            </a:extLst>
          </p:cNvPr>
          <p:cNvSpPr txBox="1"/>
          <p:nvPr/>
        </p:nvSpPr>
        <p:spPr>
          <a:xfrm>
            <a:off x="529503" y="1432513"/>
            <a:ext cx="8281122" cy="4370427"/>
          </a:xfrm>
          <a:prstGeom prst="rect">
            <a:avLst/>
          </a:prstGeom>
          <a:noFill/>
        </p:spPr>
        <p:txBody>
          <a:bodyPr wrap="square" rtlCol="0">
            <a:spAutoFit/>
          </a:bodyPr>
          <a:lstStyle/>
          <a:p>
            <a:r>
              <a:rPr lang="en-US" sz="3200" dirty="0">
                <a:latin typeface="Helvetica" panose="020B0604020202020204" pitchFamily="34" charset="0"/>
                <a:cs typeface="Helvetica" panose="020B0604020202020204" pitchFamily="34" charset="0"/>
              </a:rPr>
              <a:t>Repeated episodes of hypocalcemia occur despite multiple rounds of supplementation</a:t>
            </a:r>
          </a:p>
          <a:p>
            <a:endParaRPr lang="en-US" sz="3200" b="1" dirty="0">
              <a:latin typeface="Helvetica" panose="020B0604020202020204" pitchFamily="34" charset="0"/>
              <a:cs typeface="Helvetica" panose="020B0604020202020204" pitchFamily="34" charset="0"/>
            </a:endParaRPr>
          </a:p>
          <a:p>
            <a:r>
              <a:rPr lang="en-US" sz="3200" b="1" dirty="0">
                <a:latin typeface="Helvetica" panose="020B0604020202020204" pitchFamily="34" charset="0"/>
                <a:cs typeface="Helvetica" panose="020B0604020202020204" pitchFamily="34" charset="0"/>
              </a:rPr>
              <a:t>Why does calcium drop so rapidly?</a:t>
            </a:r>
            <a:endParaRPr lang="en-US" sz="2800"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Bone breakdown STOPS fast</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Bone formation KEEPS GOING at the old rate (utilize calcium from blood)</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Result: Calcium pours out of blood and INTO the bone to build it up </a:t>
            </a:r>
          </a:p>
        </p:txBody>
      </p:sp>
    </p:spTree>
    <p:extLst>
      <p:ext uri="{BB962C8B-B14F-4D97-AF65-F5344CB8AC3E}">
        <p14:creationId xmlns:p14="http://schemas.microsoft.com/office/powerpoint/2010/main" val="31151023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EA18F9-1C20-46BE-422D-0E5AEAD0ED6F}"/>
              </a:ext>
            </a:extLst>
          </p:cNvPr>
          <p:cNvSpPr>
            <a:spLocks noGrp="1"/>
          </p:cNvSpPr>
          <p:nvPr>
            <p:ph type="sldNum" sz="quarter" idx="12"/>
          </p:nvPr>
        </p:nvSpPr>
        <p:spPr/>
        <p:txBody>
          <a:bodyPr/>
          <a:lstStyle/>
          <a:p>
            <a:fld id="{1E422F9A-6EE9-44F0-9560-5F04B1DEB4A3}" type="slidenum">
              <a:rPr lang="en-US" smtClean="0"/>
              <a:t>63</a:t>
            </a:fld>
            <a:endParaRPr lang="en-US"/>
          </a:p>
        </p:txBody>
      </p:sp>
      <p:pic>
        <p:nvPicPr>
          <p:cNvPr id="6" name="Picture 5">
            <a:extLst>
              <a:ext uri="{FF2B5EF4-FFF2-40B4-BE49-F238E27FC236}">
                <a16:creationId xmlns:a16="http://schemas.microsoft.com/office/drawing/2014/main" id="{5BC89A97-FC1A-BD97-589C-E862330034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6" y="1845646"/>
            <a:ext cx="8312727" cy="4364182"/>
          </a:xfrm>
          <a:prstGeom prst="rect">
            <a:avLst/>
          </a:prstGeom>
        </p:spPr>
      </p:pic>
      <p:sp>
        <p:nvSpPr>
          <p:cNvPr id="7" name="TextBox 6">
            <a:extLst>
              <a:ext uri="{FF2B5EF4-FFF2-40B4-BE49-F238E27FC236}">
                <a16:creationId xmlns:a16="http://schemas.microsoft.com/office/drawing/2014/main" id="{46FF44CE-CED6-EBAE-D8F4-AA9436C87E73}"/>
              </a:ext>
            </a:extLst>
          </p:cNvPr>
          <p:cNvSpPr txBox="1"/>
          <p:nvPr/>
        </p:nvSpPr>
        <p:spPr>
          <a:xfrm>
            <a:off x="1711962" y="410143"/>
            <a:ext cx="8105805" cy="646331"/>
          </a:xfrm>
          <a:prstGeom prst="rect">
            <a:avLst/>
          </a:prstGeom>
          <a:noFill/>
        </p:spPr>
        <p:txBody>
          <a:bodyPr wrap="square" rtlCol="0">
            <a:spAutoFit/>
          </a:bodyPr>
          <a:lstStyle/>
          <a:p>
            <a:r>
              <a:rPr lang="en-US" sz="3600" b="1" dirty="0">
                <a:latin typeface="Helvetica" panose="020B0604020202020204" pitchFamily="34" charset="0"/>
                <a:cs typeface="Helvetica" panose="020B0604020202020204" pitchFamily="34" charset="0"/>
              </a:rPr>
              <a:t>Hungry Bones Syndrome</a:t>
            </a:r>
          </a:p>
        </p:txBody>
      </p:sp>
      <p:sp>
        <p:nvSpPr>
          <p:cNvPr id="2" name="TextBox 1">
            <a:extLst>
              <a:ext uri="{FF2B5EF4-FFF2-40B4-BE49-F238E27FC236}">
                <a16:creationId xmlns:a16="http://schemas.microsoft.com/office/drawing/2014/main" id="{483C299D-48F1-69C9-F8AB-47E4E859895D}"/>
              </a:ext>
            </a:extLst>
          </p:cNvPr>
          <p:cNvSpPr txBox="1"/>
          <p:nvPr/>
        </p:nvSpPr>
        <p:spPr>
          <a:xfrm>
            <a:off x="1102290" y="1503005"/>
            <a:ext cx="3592693" cy="492443"/>
          </a:xfrm>
          <a:prstGeom prst="rect">
            <a:avLst/>
          </a:prstGeom>
          <a:noFill/>
        </p:spPr>
        <p:txBody>
          <a:bodyPr wrap="square" rtlCol="0">
            <a:spAutoFit/>
          </a:bodyPr>
          <a:lstStyle/>
          <a:p>
            <a:r>
              <a:rPr lang="en-US" sz="2600" dirty="0">
                <a:latin typeface="Helvetica Neue" panose="020B0604020202020204" charset="0"/>
              </a:rPr>
              <a:t>BEFORE SURGERY</a:t>
            </a:r>
          </a:p>
        </p:txBody>
      </p:sp>
    </p:spTree>
    <p:extLst>
      <p:ext uri="{BB962C8B-B14F-4D97-AF65-F5344CB8AC3E}">
        <p14:creationId xmlns:p14="http://schemas.microsoft.com/office/powerpoint/2010/main" val="25257852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0"/>
          <p:cNvSpPr txBox="1">
            <a:spLocks noGrp="1"/>
          </p:cNvSpPr>
          <p:nvPr>
            <p:ph type="title"/>
          </p:nvPr>
        </p:nvSpPr>
        <p:spPr>
          <a:xfrm>
            <a:off x="685353" y="152921"/>
            <a:ext cx="7772177"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ea typeface="Helvetica Neue"/>
                <a:cs typeface="Helvetica Neue"/>
                <a:sym typeface="Helvetica Neue"/>
              </a:rPr>
              <a:t>“Hungry Bones”</a:t>
            </a:r>
            <a:endParaRPr sz="4600" dirty="0"/>
          </a:p>
        </p:txBody>
      </p:sp>
      <p:sp>
        <p:nvSpPr>
          <p:cNvPr id="418" name="Google Shape;418;p50"/>
          <p:cNvSpPr txBox="1">
            <a:spLocks noGrp="1"/>
          </p:cNvSpPr>
          <p:nvPr>
            <p:ph type="body" idx="1"/>
          </p:nvPr>
        </p:nvSpPr>
        <p:spPr>
          <a:xfrm>
            <a:off x="418579" y="1295921"/>
            <a:ext cx="8305726" cy="5562079"/>
          </a:xfrm>
          <a:prstGeom prst="rect">
            <a:avLst/>
          </a:prstGeom>
          <a:noFill/>
          <a:ln>
            <a:noFill/>
          </a:ln>
        </p:spPr>
        <p:txBody>
          <a:bodyPr spcFirstLastPara="1" vert="horz" wrap="square" lIns="88893" tIns="50783" rIns="88893" bIns="50783" rtlCol="0" anchor="t" anchorCtr="0">
            <a:noAutofit/>
          </a:bodyPr>
          <a:lstStyle/>
          <a:p>
            <a:pPr marL="482186" indent="-482186">
              <a:lnSpc>
                <a:spcPct val="100000"/>
              </a:lnSpc>
              <a:spcBef>
                <a:spcPts val="422"/>
              </a:spcBef>
              <a:buSzPts val="3520"/>
            </a:pPr>
            <a:r>
              <a:rPr lang="en-US" dirty="0">
                <a:latin typeface="Helvetica" panose="020B0604020202020204" pitchFamily="34" charset="0"/>
                <a:ea typeface="Calibri"/>
                <a:cs typeface="Helvetica" panose="020B0604020202020204" pitchFamily="34" charset="0"/>
                <a:sym typeface="Calibri"/>
              </a:rPr>
              <a:t>This would be manifest by what symptoms?</a:t>
            </a:r>
            <a:endParaRPr dirty="0">
              <a:latin typeface="Helvetica" panose="020B0604020202020204" pitchFamily="34" charset="0"/>
              <a:ea typeface="Calibri"/>
              <a:cs typeface="Helvetica" panose="020B0604020202020204" pitchFamily="34" charset="0"/>
              <a:sym typeface="Calibri"/>
            </a:endParaRPr>
          </a:p>
          <a:p>
            <a:pPr marL="401822" indent="-244665">
              <a:lnSpc>
                <a:spcPct val="100000"/>
              </a:lnSpc>
              <a:spcBef>
                <a:spcPts val="844"/>
              </a:spcBef>
              <a:buSzPts val="3520"/>
              <a:buNone/>
            </a:pPr>
            <a:endParaRPr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844"/>
              </a:spcBef>
              <a:buSzPts val="3520"/>
              <a:buNone/>
            </a:pPr>
            <a:endParaRPr dirty="0">
              <a:latin typeface="Helvetica" panose="020B0604020202020204" pitchFamily="34" charset="0"/>
              <a:ea typeface="Calibri"/>
              <a:cs typeface="Helvetica" panose="020B0604020202020204" pitchFamily="34" charset="0"/>
              <a:sym typeface="Calibri"/>
            </a:endParaRPr>
          </a:p>
          <a:p>
            <a:pPr marL="401822" indent="-401822">
              <a:lnSpc>
                <a:spcPct val="100000"/>
              </a:lnSpc>
              <a:spcBef>
                <a:spcPts val="844"/>
              </a:spcBef>
              <a:buSzPts val="3520"/>
            </a:pPr>
            <a:r>
              <a:rPr lang="en-US" dirty="0">
                <a:latin typeface="Helvetica" panose="020B0604020202020204" pitchFamily="34" charset="0"/>
                <a:ea typeface="Calibri"/>
                <a:cs typeface="Helvetica" panose="020B0604020202020204" pitchFamily="34" charset="0"/>
                <a:sym typeface="Calibri"/>
              </a:rPr>
              <a:t>Hungry bones syndrome is present if </a:t>
            </a:r>
            <a:r>
              <a:rPr lang="en-US" b="1" dirty="0">
                <a:latin typeface="Helvetica" panose="020B0604020202020204" pitchFamily="34" charset="0"/>
                <a:ea typeface="Calibri"/>
                <a:cs typeface="Helvetica" panose="020B0604020202020204" pitchFamily="34" charset="0"/>
                <a:sym typeface="Calibri"/>
              </a:rPr>
              <a:t>calcium does not normalize within 4 days of parathyroid resection</a:t>
            </a:r>
            <a:r>
              <a:rPr lang="en-US" dirty="0">
                <a:latin typeface="Helvetica" panose="020B0604020202020204" pitchFamily="34" charset="0"/>
                <a:ea typeface="Calibri"/>
                <a:cs typeface="Helvetica" panose="020B0604020202020204" pitchFamily="34" charset="0"/>
                <a:sym typeface="Calibri"/>
              </a:rPr>
              <a:t>.</a:t>
            </a:r>
          </a:p>
          <a:p>
            <a:pPr marL="401822" indent="-401822">
              <a:lnSpc>
                <a:spcPct val="100000"/>
              </a:lnSpc>
              <a:spcBef>
                <a:spcPts val="844"/>
              </a:spcBef>
              <a:buSzPts val="3520"/>
            </a:pPr>
            <a:endParaRPr lang="en-US" dirty="0">
              <a:latin typeface="Helvetica" panose="020B0604020202020204" pitchFamily="34" charset="0"/>
              <a:cs typeface="Helvetica" panose="020B0604020202020204" pitchFamily="34" charset="0"/>
              <a:sym typeface="Calibri"/>
            </a:endParaRPr>
          </a:p>
          <a:p>
            <a:pPr marL="401822" indent="-401822">
              <a:lnSpc>
                <a:spcPct val="100000"/>
              </a:lnSpc>
              <a:spcBef>
                <a:spcPts val="844"/>
              </a:spcBef>
              <a:buSzPts val="3520"/>
            </a:pPr>
            <a:r>
              <a:rPr lang="en-US" dirty="0">
                <a:latin typeface="Helvetica" panose="020B0604020202020204" pitchFamily="34" charset="0"/>
                <a:ea typeface="Calibri"/>
                <a:cs typeface="Helvetica" panose="020B0604020202020204" pitchFamily="34" charset="0"/>
                <a:sym typeface="Calibri"/>
              </a:rPr>
              <a:t>Persons with secondary hyperparathyroidism due to ESRD are especially prone to development of hungry bones.</a:t>
            </a:r>
            <a:endParaRPr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econdary Hyperparathyroidism">
            <a:extLst>
              <a:ext uri="{FF2B5EF4-FFF2-40B4-BE49-F238E27FC236}">
                <a16:creationId xmlns:a16="http://schemas.microsoft.com/office/drawing/2014/main" id="{D2078C88-4C82-C681-DEDF-3E8FC846384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76086" y="636020"/>
            <a:ext cx="7447944" cy="5585959"/>
          </a:xfrm>
        </p:spPr>
      </p:pic>
      <p:sp>
        <p:nvSpPr>
          <p:cNvPr id="4" name="Slide Number Placeholder 3">
            <a:extLst>
              <a:ext uri="{FF2B5EF4-FFF2-40B4-BE49-F238E27FC236}">
                <a16:creationId xmlns:a16="http://schemas.microsoft.com/office/drawing/2014/main" id="{5FDA738B-B8C2-402E-CD8D-3E3290FA3E40}"/>
              </a:ext>
            </a:extLst>
          </p:cNvPr>
          <p:cNvSpPr>
            <a:spLocks noGrp="1"/>
          </p:cNvSpPr>
          <p:nvPr>
            <p:ph type="sldNum" sz="quarter" idx="12"/>
          </p:nvPr>
        </p:nvSpPr>
        <p:spPr/>
        <p:txBody>
          <a:bodyPr/>
          <a:lstStyle/>
          <a:p>
            <a:fld id="{1E422F9A-6EE9-44F0-9560-5F04B1DEB4A3}" type="slidenum">
              <a:rPr lang="en-US" smtClean="0"/>
              <a:t>65</a:t>
            </a:fld>
            <a:endParaRPr lang="en-US"/>
          </a:p>
        </p:txBody>
      </p:sp>
    </p:spTree>
    <p:extLst>
      <p:ext uri="{BB962C8B-B14F-4D97-AF65-F5344CB8AC3E}">
        <p14:creationId xmlns:p14="http://schemas.microsoft.com/office/powerpoint/2010/main" val="1032068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1"/>
          <p:cNvSpPr txBox="1">
            <a:spLocks noGrp="1"/>
          </p:cNvSpPr>
          <p:nvPr>
            <p:ph type="title"/>
          </p:nvPr>
        </p:nvSpPr>
        <p:spPr>
          <a:xfrm>
            <a:off x="151805" y="0"/>
            <a:ext cx="8839275" cy="1141884"/>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ea typeface="Calibri"/>
                <a:cs typeface="Calibri"/>
                <a:sym typeface="Calibri"/>
              </a:rPr>
              <a:t>Secondary Hyperparathyroidism</a:t>
            </a:r>
            <a:endParaRPr sz="4600" dirty="0">
              <a:ea typeface="Calibri"/>
              <a:cs typeface="Calibri"/>
              <a:sym typeface="Calibri"/>
            </a:endParaRPr>
          </a:p>
        </p:txBody>
      </p:sp>
      <p:sp>
        <p:nvSpPr>
          <p:cNvPr id="2" name="TextBox 1">
            <a:extLst>
              <a:ext uri="{FF2B5EF4-FFF2-40B4-BE49-F238E27FC236}">
                <a16:creationId xmlns:a16="http://schemas.microsoft.com/office/drawing/2014/main" id="{31774BD9-4F79-5052-3660-5A3591459E48}"/>
              </a:ext>
            </a:extLst>
          </p:cNvPr>
          <p:cNvSpPr txBox="1"/>
          <p:nvPr/>
        </p:nvSpPr>
        <p:spPr>
          <a:xfrm>
            <a:off x="476306" y="1358699"/>
            <a:ext cx="8190271" cy="3477875"/>
          </a:xfrm>
          <a:prstGeom prst="rect">
            <a:avLst/>
          </a:prstGeom>
          <a:noFill/>
        </p:spPr>
        <p:txBody>
          <a:bodyPr wrap="square" rtlCol="0">
            <a:spAutoFit/>
          </a:bodyPr>
          <a:lstStyle/>
          <a:p>
            <a:r>
              <a:rPr lang="en-US" sz="3200" dirty="0">
                <a:latin typeface="Helvetica" panose="020B0604020202020204" pitchFamily="34" charset="0"/>
                <a:cs typeface="Helvetica" panose="020B0604020202020204" pitchFamily="34" charset="0"/>
                <a:sym typeface="Wingdings" panose="05000000000000000000" pitchFamily="2" charset="2"/>
              </a:rPr>
              <a:t>Etiologies: </a:t>
            </a:r>
          </a:p>
          <a:p>
            <a:pPr marL="514350" indent="-514350">
              <a:buAutoNum type="arabicPeriod"/>
            </a:pPr>
            <a:r>
              <a:rPr lang="en-US" sz="3200" b="1" dirty="0">
                <a:solidFill>
                  <a:schemeClr val="accent2">
                    <a:lumMod val="75000"/>
                  </a:schemeClr>
                </a:solidFill>
                <a:latin typeface="Helvetica" panose="020B0604020202020204" pitchFamily="34" charset="0"/>
                <a:cs typeface="Helvetica" panose="020B0604020202020204" pitchFamily="34" charset="0"/>
                <a:sym typeface="Wingdings" panose="05000000000000000000" pitchFamily="2" charset="2"/>
              </a:rPr>
              <a:t>Chronic kidney disease *</a:t>
            </a:r>
          </a:p>
          <a:p>
            <a:pPr marL="514350" indent="-514350">
              <a:buAutoNum type="arabicPeriod"/>
            </a:pPr>
            <a:r>
              <a:rPr lang="en-US" sz="3200" dirty="0">
                <a:latin typeface="Helvetica" panose="020B0604020202020204" pitchFamily="34" charset="0"/>
                <a:cs typeface="Helvetica" panose="020B0604020202020204" pitchFamily="34" charset="0"/>
                <a:sym typeface="Wingdings" panose="05000000000000000000" pitchFamily="2" charset="2"/>
              </a:rPr>
              <a:t>Vitamin D deficiency (severe)</a:t>
            </a:r>
          </a:p>
          <a:p>
            <a:pPr marL="514350" indent="-514350">
              <a:buAutoNum type="arabicPeriod"/>
            </a:pPr>
            <a:r>
              <a:rPr lang="en-US" sz="3200" dirty="0">
                <a:latin typeface="Helvetica" panose="020B0604020202020204" pitchFamily="34" charset="0"/>
                <a:cs typeface="Helvetica" panose="020B0604020202020204" pitchFamily="34" charset="0"/>
                <a:sym typeface="Wingdings" panose="05000000000000000000" pitchFamily="2" charset="2"/>
              </a:rPr>
              <a:t>Malabsorptive states</a:t>
            </a:r>
            <a:br>
              <a:rPr lang="en-US" sz="3200" dirty="0">
                <a:latin typeface="Helvetica" panose="020B0604020202020204" pitchFamily="34" charset="0"/>
                <a:cs typeface="Helvetica" panose="020B0604020202020204" pitchFamily="34" charset="0"/>
                <a:sym typeface="Wingdings" panose="05000000000000000000" pitchFamily="2" charset="2"/>
              </a:rPr>
            </a:br>
            <a:endParaRPr lang="en-US" sz="3200" dirty="0">
              <a:latin typeface="Helvetica" panose="020B0604020202020204" pitchFamily="34" charset="0"/>
              <a:cs typeface="Helvetica" panose="020B0604020202020204" pitchFamily="34" charset="0"/>
              <a:sym typeface="Wingdings" panose="05000000000000000000" pitchFamily="2" charset="2"/>
            </a:endParaRPr>
          </a:p>
          <a:p>
            <a:pPr marL="514350" indent="-514350">
              <a:buAutoNum type="arabicPeriod"/>
            </a:pPr>
            <a:endParaRPr lang="en-US" sz="3200" dirty="0">
              <a:latin typeface="Helvetica" panose="020B0604020202020204" pitchFamily="34" charset="0"/>
              <a:cs typeface="Helvetica" panose="020B0604020202020204" pitchFamily="34" charset="0"/>
              <a:sym typeface="Wingdings" panose="05000000000000000000" pitchFamily="2" charset="2"/>
            </a:endParaRPr>
          </a:p>
          <a:p>
            <a:pPr marL="514350" indent="-514350">
              <a:buAutoNum type="arabicPeriod"/>
            </a:pPr>
            <a:endParaRPr lang="en-US" sz="2800" dirty="0">
              <a:latin typeface="Helvetica" panose="020B0604020202020204" pitchFamily="34" charset="0"/>
              <a:cs typeface="Helvetica" panose="020B0604020202020204" pitchFamily="34" charset="0"/>
              <a:sym typeface="Wingdings" panose="05000000000000000000" pitchFamily="2"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F845970E-00DC-96B5-FB47-E9672D889F6B}"/>
            </a:ext>
          </a:extLst>
        </p:cNvPr>
        <p:cNvGrpSpPr/>
        <p:nvPr/>
      </p:nvGrpSpPr>
      <p:grpSpPr>
        <a:xfrm>
          <a:off x="0" y="0"/>
          <a:ext cx="0" cy="0"/>
          <a:chOff x="0" y="0"/>
          <a:chExt cx="0" cy="0"/>
        </a:xfrm>
      </p:grpSpPr>
      <p:sp>
        <p:nvSpPr>
          <p:cNvPr id="423" name="Google Shape;423;p51">
            <a:extLst>
              <a:ext uri="{FF2B5EF4-FFF2-40B4-BE49-F238E27FC236}">
                <a16:creationId xmlns:a16="http://schemas.microsoft.com/office/drawing/2014/main" id="{23186716-75E3-57DA-CDA0-D7B6DA869F84}"/>
              </a:ext>
            </a:extLst>
          </p:cNvPr>
          <p:cNvSpPr txBox="1">
            <a:spLocks noGrp="1"/>
          </p:cNvSpPr>
          <p:nvPr>
            <p:ph type="title"/>
          </p:nvPr>
        </p:nvSpPr>
        <p:spPr>
          <a:xfrm>
            <a:off x="151805" y="0"/>
            <a:ext cx="8839275" cy="1141884"/>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00" dirty="0">
                <a:ea typeface="Calibri"/>
                <a:cs typeface="Calibri"/>
                <a:sym typeface="Calibri"/>
              </a:rPr>
              <a:t>Secondary Hyperparathyroidism</a:t>
            </a:r>
            <a:endParaRPr sz="4600" dirty="0">
              <a:ea typeface="Calibri"/>
              <a:cs typeface="Calibri"/>
              <a:sym typeface="Calibri"/>
            </a:endParaRPr>
          </a:p>
        </p:txBody>
      </p:sp>
      <p:sp>
        <p:nvSpPr>
          <p:cNvPr id="2" name="TextBox 1">
            <a:extLst>
              <a:ext uri="{FF2B5EF4-FFF2-40B4-BE49-F238E27FC236}">
                <a16:creationId xmlns:a16="http://schemas.microsoft.com/office/drawing/2014/main" id="{BC60758F-2DFC-A22B-8567-8996242593E1}"/>
              </a:ext>
            </a:extLst>
          </p:cNvPr>
          <p:cNvSpPr txBox="1"/>
          <p:nvPr/>
        </p:nvSpPr>
        <p:spPr>
          <a:xfrm>
            <a:off x="476306" y="1141884"/>
            <a:ext cx="8190271" cy="4893647"/>
          </a:xfrm>
          <a:prstGeom prst="rect">
            <a:avLst/>
          </a:prstGeom>
          <a:noFill/>
        </p:spPr>
        <p:txBody>
          <a:bodyPr wrap="square" rtlCol="0">
            <a:spAutoFit/>
          </a:bodyPr>
          <a:lstStyle/>
          <a:p>
            <a:r>
              <a:rPr lang="en-US" sz="3200" b="1" dirty="0">
                <a:latin typeface="Helvetica" panose="020B0604020202020204" pitchFamily="34" charset="0"/>
                <a:cs typeface="Helvetica" panose="020B0604020202020204" pitchFamily="34" charset="0"/>
              </a:rPr>
              <a:t>Chronic kidney disease</a:t>
            </a:r>
            <a:endParaRPr lang="en-US" sz="28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In CKD, the kidneys cannot convert vitamin D into the active form </a:t>
            </a:r>
            <a:r>
              <a:rPr lang="en-US" sz="2800" dirty="0">
                <a:latin typeface="Helvetica" panose="020B0604020202020204" pitchFamily="34" charset="0"/>
                <a:cs typeface="Helvetica" panose="020B0604020202020204" pitchFamily="34" charset="0"/>
                <a:sym typeface="Wingdings" panose="05000000000000000000" pitchFamily="2" charset="2"/>
              </a:rPr>
              <a:t> reduced intestinal absorption of calcium (</a:t>
            </a:r>
            <a:r>
              <a:rPr lang="en-US" sz="2800" b="1" i="1" dirty="0">
                <a:latin typeface="Helvetica" panose="020B0604020202020204" pitchFamily="34" charset="0"/>
                <a:cs typeface="Helvetica" panose="020B0604020202020204" pitchFamily="34" charset="0"/>
                <a:sym typeface="Wingdings" panose="05000000000000000000" pitchFamily="2" charset="2"/>
              </a:rPr>
              <a:t>Hypocalcemia</a:t>
            </a:r>
            <a:r>
              <a:rPr lang="en-US" sz="2800" dirty="0">
                <a:latin typeface="Helvetica" panose="020B0604020202020204" pitchFamily="34" charset="0"/>
                <a:cs typeface="Helvetica" panose="020B0604020202020204" pitchFamily="34" charset="0"/>
                <a:sym typeface="Wingdings" panose="05000000000000000000" pitchFamily="2" charset="2"/>
              </a:rPr>
              <a:t>). </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The kidneys fail to excrete phosphorus normally </a:t>
            </a:r>
            <a:r>
              <a:rPr lang="en-US" sz="2800" b="1" i="1" dirty="0">
                <a:latin typeface="Helvetica" panose="020B0604020202020204" pitchFamily="34" charset="0"/>
                <a:cs typeface="Helvetica" panose="020B0604020202020204" pitchFamily="34" charset="0"/>
                <a:sym typeface="Wingdings" panose="05000000000000000000" pitchFamily="2" charset="2"/>
              </a:rPr>
              <a:t>(Hyperphosphatemia),</a:t>
            </a:r>
            <a:r>
              <a:rPr lang="en-US" sz="2800" dirty="0">
                <a:latin typeface="Helvetica" panose="020B0604020202020204" pitchFamily="34" charset="0"/>
                <a:cs typeface="Helvetica" panose="020B0604020202020204" pitchFamily="34" charset="0"/>
                <a:sym typeface="Wingdings" panose="05000000000000000000" pitchFamily="2" charset="2"/>
              </a:rPr>
              <a:t> and the diseased kidney excretes calcium in its place.</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Persistent hypocalcemia stimulates parathyroid hyperplasia.</a:t>
            </a:r>
          </a:p>
        </p:txBody>
      </p:sp>
    </p:spTree>
    <p:extLst>
      <p:ext uri="{BB962C8B-B14F-4D97-AF65-F5344CB8AC3E}">
        <p14:creationId xmlns:p14="http://schemas.microsoft.com/office/powerpoint/2010/main" val="8567538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6"/>
        <p:cNvGrpSpPr/>
        <p:nvPr/>
      </p:nvGrpSpPr>
      <p:grpSpPr>
        <a:xfrm>
          <a:off x="0" y="0"/>
          <a:ext cx="0" cy="0"/>
          <a:chOff x="0" y="0"/>
          <a:chExt cx="0" cy="0"/>
        </a:xfrm>
      </p:grpSpPr>
      <p:sp>
        <p:nvSpPr>
          <p:cNvPr id="447" name="Google Shape;447;p54"/>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dirty="0">
                <a:ea typeface="Helvetica Neue"/>
                <a:cs typeface="Helvetica Neue"/>
                <a:sym typeface="Helvetica Neue"/>
              </a:rPr>
              <a:t>Secondary Hyperparathyroidism</a:t>
            </a:r>
            <a:endParaRPr dirty="0"/>
          </a:p>
        </p:txBody>
      </p:sp>
      <p:sp>
        <p:nvSpPr>
          <p:cNvPr id="448" name="Google Shape;448;p54"/>
          <p:cNvSpPr txBox="1">
            <a:spLocks noGrp="1"/>
          </p:cNvSpPr>
          <p:nvPr>
            <p:ph type="body" idx="1"/>
          </p:nvPr>
        </p:nvSpPr>
        <p:spPr>
          <a:xfrm>
            <a:off x="442226" y="876413"/>
            <a:ext cx="8258432" cy="5432599"/>
          </a:xfrm>
          <a:prstGeom prst="rect">
            <a:avLst/>
          </a:prstGeom>
          <a:noFill/>
          <a:ln>
            <a:noFill/>
          </a:ln>
        </p:spPr>
        <p:txBody>
          <a:bodyPr spcFirstLastPara="1" vert="horz" wrap="square" lIns="88893" tIns="50783" rIns="88893" bIns="50783" rtlCol="0" anchor="t" anchorCtr="0">
            <a:noAutofit/>
          </a:bodyPr>
          <a:lstStyle/>
          <a:p>
            <a:pPr marL="147335" indent="-147335">
              <a:spcBef>
                <a:spcPts val="492"/>
              </a:spcBef>
              <a:buClr>
                <a:srgbClr val="000000"/>
              </a:buClr>
              <a:buSzPts val="3900"/>
              <a:buNone/>
            </a:pPr>
            <a:endParaRPr lang="en-US" dirty="0">
              <a:latin typeface="Helvetica" panose="020B0604020202020204" pitchFamily="34" charset="0"/>
              <a:ea typeface="Helvetica Neue"/>
              <a:cs typeface="Helvetica" panose="020B0604020202020204" pitchFamily="34" charset="0"/>
              <a:sym typeface="Helvetica Neue"/>
            </a:endParaRPr>
          </a:p>
          <a:p>
            <a:pPr marL="401822" indent="-401822">
              <a:spcBef>
                <a:spcPts val="492"/>
              </a:spcBef>
              <a:buSzPts val="3520"/>
            </a:pPr>
            <a:r>
              <a:rPr lang="en-US" dirty="0">
                <a:latin typeface="Helvetica" panose="020B0604020202020204" pitchFamily="34" charset="0"/>
                <a:ea typeface="Calibri"/>
                <a:cs typeface="Helvetica" panose="020B0604020202020204" pitchFamily="34" charset="0"/>
                <a:sym typeface="Calibri"/>
              </a:rPr>
              <a:t>Higher levels of phosphorus in the plasma may form insoluble salts with calcium ions, thereby worsening hypocalcemia.</a:t>
            </a:r>
          </a:p>
          <a:p>
            <a:pPr marL="401822" indent="-401822">
              <a:spcBef>
                <a:spcPts val="492"/>
              </a:spcBef>
              <a:buSzPts val="3520"/>
            </a:pPr>
            <a:endParaRPr lang="en-US" dirty="0">
              <a:latin typeface="Helvetica" panose="020B0604020202020204" pitchFamily="34" charset="0"/>
              <a:ea typeface="Calibri"/>
              <a:cs typeface="Helvetica" panose="020B0604020202020204" pitchFamily="34" charset="0"/>
              <a:sym typeface="Calibri"/>
            </a:endParaRPr>
          </a:p>
          <a:p>
            <a:pPr marL="401822" indent="-401822">
              <a:spcBef>
                <a:spcPts val="492"/>
              </a:spcBef>
              <a:buSzPts val="3520"/>
            </a:pPr>
            <a:r>
              <a:rPr lang="en-US" dirty="0">
                <a:latin typeface="Helvetica" panose="020B0604020202020204" pitchFamily="34" charset="0"/>
                <a:ea typeface="Calibri"/>
                <a:cs typeface="Helvetica" panose="020B0604020202020204" pitchFamily="34" charset="0"/>
                <a:sym typeface="Calibri"/>
              </a:rPr>
              <a:t>Deposition of the calcium phosphate salts in the body tissues, like the blood vessels and heart valves, making them less contractile. </a:t>
            </a:r>
          </a:p>
          <a:p>
            <a:pPr marL="401822" indent="-401822">
              <a:spcBef>
                <a:spcPts val="492"/>
              </a:spcBef>
              <a:buSzPts val="3520"/>
            </a:pPr>
            <a:endParaRPr lang="en-US" dirty="0">
              <a:latin typeface="Helvetica" panose="020B0604020202020204" pitchFamily="34" charset="0"/>
              <a:ea typeface="Calibri"/>
              <a:cs typeface="Helvetica" panose="020B0604020202020204" pitchFamily="34" charset="0"/>
              <a:sym typeface="Calibri"/>
            </a:endParaRPr>
          </a:p>
          <a:p>
            <a:pPr marL="401822" indent="-401822">
              <a:spcBef>
                <a:spcPts val="492"/>
              </a:spcBef>
              <a:buSzPts val="3520"/>
            </a:pPr>
            <a:r>
              <a:rPr lang="en-US" dirty="0">
                <a:latin typeface="Helvetica" panose="020B0604020202020204" pitchFamily="34" charset="0"/>
                <a:ea typeface="Calibri"/>
                <a:cs typeface="Helvetica" panose="020B0604020202020204" pitchFamily="34" charset="0"/>
                <a:sym typeface="Calibri"/>
              </a:rPr>
              <a:t>Calcium deposits also occur in other soft tissues of the body leading to </a:t>
            </a:r>
            <a:r>
              <a:rPr lang="en-US" b="1" i="1" dirty="0">
                <a:latin typeface="Helvetica" panose="020B0604020202020204" pitchFamily="34" charset="0"/>
                <a:ea typeface="Calibri"/>
                <a:cs typeface="Helvetica" panose="020B0604020202020204" pitchFamily="34" charset="0"/>
                <a:sym typeface="Calibri"/>
              </a:rPr>
              <a:t>calciphylaxis.</a:t>
            </a:r>
          </a:p>
          <a:p>
            <a:pPr marL="386195" indent="-386195">
              <a:lnSpc>
                <a:spcPct val="100000"/>
              </a:lnSpc>
              <a:spcBef>
                <a:spcPts val="492"/>
              </a:spcBef>
              <a:buSzPts val="3520"/>
              <a:buFont typeface="Arial"/>
              <a:buChar char="•"/>
            </a:pPr>
            <a:endParaRPr lang="en-US" dirty="0">
              <a:latin typeface="Helvetica" panose="020B0604020202020204" pitchFamily="34" charset="0"/>
              <a:ea typeface="Calibri"/>
              <a:cs typeface="Helvetica" panose="020B0604020202020204" pitchFamily="34" charset="0"/>
              <a:sym typeface="Calibri"/>
            </a:endParaRPr>
          </a:p>
          <a:p>
            <a:pPr marL="147335" indent="-147335">
              <a:spcBef>
                <a:spcPts val="492"/>
              </a:spcBef>
              <a:buClr>
                <a:srgbClr val="000000"/>
              </a:buClr>
              <a:buSzPts val="3900"/>
              <a:buNone/>
            </a:pPr>
            <a:endParaRPr dirty="0">
              <a:latin typeface="Helvetica" panose="020B0604020202020204" pitchFamily="34" charset="0"/>
              <a:ea typeface="Helvetica Neue"/>
              <a:cs typeface="Helvetica" panose="020B0604020202020204" pitchFamily="34" charset="0"/>
              <a:sym typeface="Helvetica Neue"/>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6"/>
          <p:cNvSpPr txBox="1">
            <a:spLocks noGrp="1"/>
          </p:cNvSpPr>
          <p:nvPr>
            <p:ph type="title"/>
          </p:nvPr>
        </p:nvSpPr>
        <p:spPr>
          <a:xfrm>
            <a:off x="151804" y="284626"/>
            <a:ext cx="8839275" cy="696516"/>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640" dirty="0">
                <a:ea typeface="Calibri"/>
                <a:cs typeface="Calibri"/>
                <a:sym typeface="Calibri"/>
              </a:rPr>
              <a:t>Calciphylaxis</a:t>
            </a:r>
            <a:endParaRPr dirty="0"/>
          </a:p>
        </p:txBody>
      </p:sp>
      <p:sp>
        <p:nvSpPr>
          <p:cNvPr id="454" name="Google Shape;454;p56"/>
          <p:cNvSpPr txBox="1">
            <a:spLocks noGrp="1"/>
          </p:cNvSpPr>
          <p:nvPr>
            <p:ph type="body" idx="1"/>
          </p:nvPr>
        </p:nvSpPr>
        <p:spPr>
          <a:xfrm>
            <a:off x="497794" y="509193"/>
            <a:ext cx="8337287" cy="3810797"/>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0"/>
              </a:spcBef>
              <a:buClr>
                <a:srgbClr val="000000"/>
              </a:buClr>
              <a:buSzPts val="3520"/>
              <a:buFont typeface="Calibri"/>
              <a:buChar char="•"/>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Calciphylaxis is rare and is usually seen in ESRD patients with either secondary or tertiary HPT.</a:t>
            </a:r>
          </a:p>
          <a:p>
            <a:pPr marL="267881" indent="-267881">
              <a:lnSpc>
                <a:spcPct val="100000"/>
              </a:lnSpc>
              <a:spcBef>
                <a:spcPts val="492"/>
              </a:spcBef>
              <a:buClr>
                <a:srgbClr val="000000"/>
              </a:buClr>
              <a:buSzPts val="3520"/>
              <a:buFont typeface="Calibri"/>
              <a:buChar char="•"/>
            </a:pPr>
            <a:endParaRPr lang="en-US"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Characterized by </a:t>
            </a:r>
            <a:r>
              <a:rPr lang="en-US" b="1" i="1" dirty="0">
                <a:latin typeface="Helvetica" panose="020B0604020202020204" pitchFamily="34" charset="0"/>
                <a:ea typeface="Calibri"/>
                <a:cs typeface="Helvetica" panose="020B0604020202020204" pitchFamily="34" charset="0"/>
                <a:sym typeface="Calibri"/>
              </a:rPr>
              <a:t>ischemic necrosis of the skin </a:t>
            </a:r>
            <a:r>
              <a:rPr lang="en-US" dirty="0">
                <a:latin typeface="Helvetica" panose="020B0604020202020204" pitchFamily="34" charset="0"/>
                <a:ea typeface="Calibri"/>
                <a:cs typeface="Helvetica" panose="020B0604020202020204" pitchFamily="34" charset="0"/>
                <a:sym typeface="Calibri"/>
              </a:rPr>
              <a:t>due to calcium phosphate crystal deposition and subsequent inflammation in small-to-medium–sized vessels. </a:t>
            </a:r>
            <a:endParaRPr dirty="0">
              <a:latin typeface="Helvetica" panose="020B0604020202020204" pitchFamily="34" charset="0"/>
              <a:ea typeface="Calibri"/>
              <a:cs typeface="Helvetica" panose="020B0604020202020204" pitchFamily="34" charset="0"/>
              <a:sym typeface="Calibri"/>
            </a:endParaRPr>
          </a:p>
        </p:txBody>
      </p:sp>
      <p:pic>
        <p:nvPicPr>
          <p:cNvPr id="3" name="Picture 2">
            <a:extLst>
              <a:ext uri="{FF2B5EF4-FFF2-40B4-BE49-F238E27FC236}">
                <a16:creationId xmlns:a16="http://schemas.microsoft.com/office/drawing/2014/main" id="{791A320B-9D51-3B71-2CD1-46DA50DD9A24}"/>
              </a:ext>
            </a:extLst>
          </p:cNvPr>
          <p:cNvPicPr>
            <a:picLocks noChangeAspect="1"/>
          </p:cNvPicPr>
          <p:nvPr/>
        </p:nvPicPr>
        <p:blipFill>
          <a:blip r:embed="rId3"/>
          <a:stretch>
            <a:fillRect/>
          </a:stretch>
        </p:blipFill>
        <p:spPr>
          <a:xfrm>
            <a:off x="1373763" y="4692039"/>
            <a:ext cx="6044676" cy="165015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7"/>
          <p:cNvSpPr txBox="1">
            <a:spLocks noGrp="1"/>
          </p:cNvSpPr>
          <p:nvPr>
            <p:ph type="title"/>
          </p:nvPr>
        </p:nvSpPr>
        <p:spPr>
          <a:xfrm>
            <a:off x="151806" y="66996"/>
            <a:ext cx="8485568" cy="1220019"/>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400" dirty="0">
                <a:latin typeface="Helvetica" panose="020B0604020202020204" pitchFamily="34" charset="0"/>
                <a:ea typeface="Helvetica Neue"/>
                <a:cs typeface="Helvetica" panose="020B0604020202020204" pitchFamily="34" charset="0"/>
                <a:sym typeface="Helvetica Neue"/>
              </a:rPr>
              <a:t>Secondary Hyperparathyroidism in </a:t>
            </a:r>
            <a:r>
              <a:rPr lang="en-US" sz="3400" b="1" dirty="0">
                <a:latin typeface="Helvetica" panose="020B0604020202020204" pitchFamily="34" charset="0"/>
                <a:ea typeface="Helvetica Neue"/>
                <a:cs typeface="Helvetica" panose="020B0604020202020204" pitchFamily="34" charset="0"/>
                <a:sym typeface="Helvetica Neue"/>
              </a:rPr>
              <a:t>CKD</a:t>
            </a:r>
            <a:endParaRPr sz="3400" b="1" dirty="0">
              <a:latin typeface="Helvetica" panose="020B0604020202020204" pitchFamily="34" charset="0"/>
              <a:cs typeface="Helvetica" panose="020B0604020202020204" pitchFamily="34" charset="0"/>
            </a:endParaRPr>
          </a:p>
        </p:txBody>
      </p:sp>
      <p:sp>
        <p:nvSpPr>
          <p:cNvPr id="468" name="Google Shape;468;p57"/>
          <p:cNvSpPr txBox="1">
            <a:spLocks noGrp="1"/>
          </p:cNvSpPr>
          <p:nvPr>
            <p:ph type="body" idx="1"/>
          </p:nvPr>
        </p:nvSpPr>
        <p:spPr>
          <a:xfrm>
            <a:off x="506626" y="1656075"/>
            <a:ext cx="8319174" cy="4800824"/>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0"/>
              </a:spcBef>
              <a:buClr>
                <a:srgbClr val="000000"/>
              </a:buClr>
              <a:buSzPts val="4500"/>
              <a:buNone/>
            </a:pPr>
            <a:r>
              <a:rPr lang="en-US" sz="3164" dirty="0">
                <a:latin typeface="Helvetica" panose="020B0604020202020204" pitchFamily="34" charset="0"/>
                <a:ea typeface="Calibri"/>
                <a:cs typeface="Helvetica" panose="020B0604020202020204" pitchFamily="34" charset="0"/>
                <a:sym typeface="Calibri"/>
              </a:rPr>
              <a:t>Serum PTH levels will be </a:t>
            </a:r>
          </a:p>
          <a:p>
            <a:pPr marL="0" indent="0">
              <a:lnSpc>
                <a:spcPct val="100000"/>
              </a:lnSpc>
              <a:spcBef>
                <a:spcPts val="0"/>
              </a:spcBef>
              <a:buClr>
                <a:srgbClr val="000000"/>
              </a:buClr>
              <a:buSzPts val="4500"/>
              <a:buNone/>
            </a:pPr>
            <a:endParaRPr lang="en-US" sz="3164"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0"/>
              </a:spcBef>
              <a:buClr>
                <a:srgbClr val="000000"/>
              </a:buClr>
              <a:buSzPts val="4500"/>
              <a:buNone/>
            </a:pPr>
            <a:r>
              <a:rPr lang="en-US" sz="3164" dirty="0">
                <a:latin typeface="Helvetica" panose="020B0604020202020204" pitchFamily="34" charset="0"/>
                <a:ea typeface="Calibri"/>
                <a:cs typeface="Helvetica" panose="020B0604020202020204" pitchFamily="34" charset="0"/>
                <a:sym typeface="Calibri"/>
              </a:rPr>
              <a:t>Serum calcium will be</a:t>
            </a:r>
            <a:endParaRPr dirty="0">
              <a:latin typeface="Helvetica" panose="020B0604020202020204" pitchFamily="34" charset="0"/>
              <a:ea typeface="Calibri"/>
              <a:cs typeface="Helvetica" panose="020B0604020202020204" pitchFamily="34" charset="0"/>
              <a:sym typeface="Calibri"/>
            </a:endParaRPr>
          </a:p>
          <a:p>
            <a:pPr marL="195330" indent="-195330">
              <a:lnSpc>
                <a:spcPct val="100000"/>
              </a:lnSpc>
              <a:spcBef>
                <a:spcPts val="492"/>
              </a:spcBef>
              <a:buClr>
                <a:srgbClr val="000000"/>
              </a:buClr>
              <a:buSzPts val="4500"/>
              <a:buNone/>
            </a:pPr>
            <a:endParaRPr sz="3164"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92"/>
              </a:spcBef>
              <a:buClr>
                <a:srgbClr val="000000"/>
              </a:buClr>
              <a:buSzPts val="4500"/>
              <a:buNone/>
            </a:pPr>
            <a:r>
              <a:rPr lang="en-US" sz="3164" dirty="0">
                <a:latin typeface="Helvetica" panose="020B0604020202020204" pitchFamily="34" charset="0"/>
                <a:ea typeface="Calibri"/>
                <a:cs typeface="Helvetica" panose="020B0604020202020204" pitchFamily="34" charset="0"/>
                <a:sym typeface="Calibri"/>
              </a:rPr>
              <a:t>Ionized serum calcium will be</a:t>
            </a:r>
            <a:endParaRPr dirty="0">
              <a:latin typeface="Helvetica" panose="020B0604020202020204" pitchFamily="34" charset="0"/>
              <a:ea typeface="Calibri"/>
              <a:cs typeface="Helvetica" panose="020B0604020202020204" pitchFamily="34" charset="0"/>
              <a:sym typeface="Calibri"/>
            </a:endParaRPr>
          </a:p>
          <a:p>
            <a:pPr marL="195330" indent="-195330">
              <a:lnSpc>
                <a:spcPct val="100000"/>
              </a:lnSpc>
              <a:spcBef>
                <a:spcPts val="492"/>
              </a:spcBef>
              <a:buClr>
                <a:srgbClr val="000000"/>
              </a:buClr>
              <a:buSzPts val="4500"/>
              <a:buNone/>
            </a:pPr>
            <a:endParaRPr sz="3164"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92"/>
              </a:spcBef>
              <a:buClr>
                <a:srgbClr val="000000"/>
              </a:buClr>
              <a:buSzPts val="4500"/>
              <a:buNone/>
            </a:pPr>
            <a:r>
              <a:rPr lang="en-US" sz="3164" dirty="0">
                <a:latin typeface="Helvetica" panose="020B0604020202020204" pitchFamily="34" charset="0"/>
                <a:ea typeface="Calibri"/>
                <a:cs typeface="Helvetica" panose="020B0604020202020204" pitchFamily="34" charset="0"/>
                <a:sym typeface="Calibri"/>
              </a:rPr>
              <a:t>Serum phosphate level is</a:t>
            </a:r>
            <a:endParaRPr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2"/>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Secondary Hyperparathyroidism</a:t>
            </a:r>
            <a:endParaRPr dirty="0"/>
          </a:p>
        </p:txBody>
      </p:sp>
      <p:sp>
        <p:nvSpPr>
          <p:cNvPr id="5" name="TextBox 4">
            <a:extLst>
              <a:ext uri="{FF2B5EF4-FFF2-40B4-BE49-F238E27FC236}">
                <a16:creationId xmlns:a16="http://schemas.microsoft.com/office/drawing/2014/main" id="{8164AA80-0616-12E5-A5F9-1B4F8474CA10}"/>
              </a:ext>
            </a:extLst>
          </p:cNvPr>
          <p:cNvSpPr txBox="1"/>
          <p:nvPr/>
        </p:nvSpPr>
        <p:spPr>
          <a:xfrm>
            <a:off x="593604" y="1295309"/>
            <a:ext cx="8190271" cy="4893647"/>
          </a:xfrm>
          <a:prstGeom prst="rect">
            <a:avLst/>
          </a:prstGeom>
          <a:noFill/>
        </p:spPr>
        <p:txBody>
          <a:bodyPr wrap="square" rtlCol="0">
            <a:spAutoFit/>
          </a:bodyPr>
          <a:lstStyle/>
          <a:p>
            <a:r>
              <a:rPr lang="en-US" sz="3200" b="1" dirty="0">
                <a:latin typeface="Helvetica" panose="020B0604020202020204" pitchFamily="34" charset="0"/>
                <a:cs typeface="Helvetica" panose="020B0604020202020204" pitchFamily="34" charset="0"/>
              </a:rPr>
              <a:t>Severe vitamin D deficiency </a:t>
            </a:r>
            <a:endParaRPr lang="en-US" sz="28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rPr>
              <a:t>Patients with severe vitamin D deficiency (25 OH(D) &lt;20 ng/mL) are unable to absorb calcium from their diet </a:t>
            </a:r>
            <a:r>
              <a:rPr lang="en-US" sz="2800" b="1" i="1" dirty="0">
                <a:latin typeface="Helvetica" panose="020B0604020202020204" pitchFamily="34" charset="0"/>
                <a:cs typeface="Helvetica" panose="020B0604020202020204" pitchFamily="34" charset="0"/>
              </a:rPr>
              <a:t>(hypocalcemia)</a:t>
            </a:r>
            <a:r>
              <a:rPr lang="en-US" sz="2800" dirty="0">
                <a:latin typeface="Helvetica" panose="020B0604020202020204" pitchFamily="34" charset="0"/>
                <a:cs typeface="Helvetica" panose="020B0604020202020204" pitchFamily="34" charset="0"/>
              </a:rPr>
              <a:t>, resulting in overstimulation of the parathyroid </a:t>
            </a:r>
            <a:r>
              <a:rPr lang="en-US" sz="2800" b="1" i="1" dirty="0">
                <a:latin typeface="Helvetica" panose="020B0604020202020204" pitchFamily="34" charset="0"/>
                <a:cs typeface="Helvetica" panose="020B0604020202020204" pitchFamily="34" charset="0"/>
              </a:rPr>
              <a:t>(high PTH)</a:t>
            </a:r>
            <a:r>
              <a:rPr lang="en-US" sz="2800" dirty="0">
                <a:latin typeface="Helvetica" panose="020B0604020202020204" pitchFamily="34" charset="0"/>
                <a:cs typeface="Helvetica" panose="020B0604020202020204" pitchFamily="34" charset="0"/>
              </a:rPr>
              <a:t>. </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This is a less common cause of secondary HPT.</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Certain malabsorptive states such as chronic pancreatitis and gastric bypass can cause a similar clinical picture.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1D9F3B31-73E8-7A6D-6205-DF828D57E9AA}"/>
            </a:ext>
          </a:extLst>
        </p:cNvPr>
        <p:cNvGrpSpPr/>
        <p:nvPr/>
      </p:nvGrpSpPr>
      <p:grpSpPr>
        <a:xfrm>
          <a:off x="0" y="0"/>
          <a:ext cx="0" cy="0"/>
          <a:chOff x="0" y="0"/>
          <a:chExt cx="0" cy="0"/>
        </a:xfrm>
      </p:grpSpPr>
      <p:sp>
        <p:nvSpPr>
          <p:cNvPr id="429" name="Google Shape;429;p52">
            <a:extLst>
              <a:ext uri="{FF2B5EF4-FFF2-40B4-BE49-F238E27FC236}">
                <a16:creationId xmlns:a16="http://schemas.microsoft.com/office/drawing/2014/main" id="{88C7AA91-B50B-F7AB-BFB2-0096ED0A433F}"/>
              </a:ext>
            </a:extLst>
          </p:cNvPr>
          <p:cNvSpPr txBox="1">
            <a:spLocks noGrp="1"/>
          </p:cNvSpPr>
          <p:nvPr>
            <p:ph type="title"/>
          </p:nvPr>
        </p:nvSpPr>
        <p:spPr>
          <a:xfrm>
            <a:off x="151803" y="57403"/>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600" dirty="0">
                <a:ea typeface="Helvetica Neue"/>
                <a:cs typeface="Helvetica Neue"/>
                <a:sym typeface="Helvetica Neue"/>
              </a:rPr>
              <a:t>Low Vitamin D and 2</a:t>
            </a:r>
            <a:r>
              <a:rPr lang="en-US" sz="3600" baseline="30000" dirty="0">
                <a:ea typeface="Helvetica Neue"/>
                <a:cs typeface="Helvetica Neue"/>
                <a:sym typeface="Helvetica Neue"/>
              </a:rPr>
              <a:t>nd</a:t>
            </a:r>
            <a:r>
              <a:rPr lang="en-US" sz="3600" dirty="0">
                <a:ea typeface="Helvetica Neue"/>
                <a:cs typeface="Helvetica Neue"/>
                <a:sym typeface="Helvetica Neue"/>
              </a:rPr>
              <a:t> Hyperparathyroidism</a:t>
            </a:r>
            <a:endParaRPr sz="3600" dirty="0"/>
          </a:p>
        </p:txBody>
      </p:sp>
      <p:grpSp>
        <p:nvGrpSpPr>
          <p:cNvPr id="21" name="Group 20">
            <a:extLst>
              <a:ext uri="{FF2B5EF4-FFF2-40B4-BE49-F238E27FC236}">
                <a16:creationId xmlns:a16="http://schemas.microsoft.com/office/drawing/2014/main" id="{BF629A2C-219D-A313-34D8-5FC9E77423EC}"/>
              </a:ext>
            </a:extLst>
          </p:cNvPr>
          <p:cNvGrpSpPr/>
          <p:nvPr/>
        </p:nvGrpSpPr>
        <p:grpSpPr>
          <a:xfrm>
            <a:off x="2597992" y="2352411"/>
            <a:ext cx="3472070" cy="1015662"/>
            <a:chOff x="49807" y="2561343"/>
            <a:chExt cx="3472070" cy="1015662"/>
          </a:xfrm>
        </p:grpSpPr>
        <p:sp>
          <p:nvSpPr>
            <p:cNvPr id="10" name="Rectangle: Rounded Corners 9">
              <a:extLst>
                <a:ext uri="{FF2B5EF4-FFF2-40B4-BE49-F238E27FC236}">
                  <a16:creationId xmlns:a16="http://schemas.microsoft.com/office/drawing/2014/main" id="{581B1D1E-535D-20F1-AEBA-C6676CF2D309}"/>
                </a:ext>
              </a:extLst>
            </p:cNvPr>
            <p:cNvSpPr/>
            <p:nvPr/>
          </p:nvSpPr>
          <p:spPr>
            <a:xfrm>
              <a:off x="321155" y="2561343"/>
              <a:ext cx="3055221" cy="101566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A4E6774-5A69-1A18-9205-481BD7351989}"/>
                </a:ext>
              </a:extLst>
            </p:cNvPr>
            <p:cNvSpPr txBox="1"/>
            <p:nvPr/>
          </p:nvSpPr>
          <p:spPr>
            <a:xfrm>
              <a:off x="49807" y="2662406"/>
              <a:ext cx="347207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Loss of intestinal calcium absorption</a:t>
              </a:r>
            </a:p>
          </p:txBody>
        </p:sp>
      </p:grpSp>
      <p:grpSp>
        <p:nvGrpSpPr>
          <p:cNvPr id="19" name="Group 18">
            <a:extLst>
              <a:ext uri="{FF2B5EF4-FFF2-40B4-BE49-F238E27FC236}">
                <a16:creationId xmlns:a16="http://schemas.microsoft.com/office/drawing/2014/main" id="{E9FC268A-92EF-4F62-E2E7-143C1DDE8453}"/>
              </a:ext>
            </a:extLst>
          </p:cNvPr>
          <p:cNvGrpSpPr/>
          <p:nvPr/>
        </p:nvGrpSpPr>
        <p:grpSpPr>
          <a:xfrm>
            <a:off x="3287290" y="4656823"/>
            <a:ext cx="2348377" cy="489708"/>
            <a:chOff x="6469490" y="2737010"/>
            <a:chExt cx="2348377" cy="489708"/>
          </a:xfrm>
        </p:grpSpPr>
        <p:sp>
          <p:nvSpPr>
            <p:cNvPr id="14" name="Rectangle: Rounded Corners 13">
              <a:extLst>
                <a:ext uri="{FF2B5EF4-FFF2-40B4-BE49-F238E27FC236}">
                  <a16:creationId xmlns:a16="http://schemas.microsoft.com/office/drawing/2014/main" id="{5E8B3574-E8AC-4160-436E-25E584DF97DD}"/>
                </a:ext>
              </a:extLst>
            </p:cNvPr>
            <p:cNvSpPr/>
            <p:nvPr/>
          </p:nvSpPr>
          <p:spPr>
            <a:xfrm>
              <a:off x="6511949" y="2737010"/>
              <a:ext cx="2210642" cy="48863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5B614D5-02F1-8CFC-5AC6-9F46804627A7}"/>
                </a:ext>
              </a:extLst>
            </p:cNvPr>
            <p:cNvSpPr txBox="1"/>
            <p:nvPr/>
          </p:nvSpPr>
          <p:spPr>
            <a:xfrm>
              <a:off x="6469490" y="2765053"/>
              <a:ext cx="2348377" cy="461665"/>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PTH release</a:t>
              </a:r>
            </a:p>
          </p:txBody>
        </p:sp>
      </p:grpSp>
      <p:grpSp>
        <p:nvGrpSpPr>
          <p:cNvPr id="22" name="Group 21">
            <a:extLst>
              <a:ext uri="{FF2B5EF4-FFF2-40B4-BE49-F238E27FC236}">
                <a16:creationId xmlns:a16="http://schemas.microsoft.com/office/drawing/2014/main" id="{A1C85EFB-B9B4-8380-2AA6-732E52FB03BB}"/>
              </a:ext>
            </a:extLst>
          </p:cNvPr>
          <p:cNvGrpSpPr/>
          <p:nvPr/>
        </p:nvGrpSpPr>
        <p:grpSpPr>
          <a:xfrm>
            <a:off x="3221909" y="3774151"/>
            <a:ext cx="2478156" cy="476594"/>
            <a:chOff x="3719986" y="2765053"/>
            <a:chExt cx="2478156" cy="476594"/>
          </a:xfrm>
        </p:grpSpPr>
        <p:sp>
          <p:nvSpPr>
            <p:cNvPr id="12" name="Rectangle: Rounded Corners 11">
              <a:extLst>
                <a:ext uri="{FF2B5EF4-FFF2-40B4-BE49-F238E27FC236}">
                  <a16:creationId xmlns:a16="http://schemas.microsoft.com/office/drawing/2014/main" id="{896AB506-F69B-5C04-4EDE-89BE296F267F}"/>
                </a:ext>
              </a:extLst>
            </p:cNvPr>
            <p:cNvSpPr/>
            <p:nvPr/>
          </p:nvSpPr>
          <p:spPr>
            <a:xfrm>
              <a:off x="3719986" y="2765053"/>
              <a:ext cx="2478156" cy="47659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98B1A5A-4219-A171-3A9E-16ACD051EAD9}"/>
                </a:ext>
              </a:extLst>
            </p:cNvPr>
            <p:cNvSpPr txBox="1"/>
            <p:nvPr/>
          </p:nvSpPr>
          <p:spPr>
            <a:xfrm>
              <a:off x="3814142" y="2776970"/>
              <a:ext cx="2263612" cy="461665"/>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Hypocalcemia</a:t>
              </a:r>
            </a:p>
          </p:txBody>
        </p:sp>
      </p:grpSp>
      <p:sp>
        <p:nvSpPr>
          <p:cNvPr id="9" name="TextBox 8">
            <a:extLst>
              <a:ext uri="{FF2B5EF4-FFF2-40B4-BE49-F238E27FC236}">
                <a16:creationId xmlns:a16="http://schemas.microsoft.com/office/drawing/2014/main" id="{CBDCFF74-9B29-8407-D3E5-2E218CDE0A94}"/>
              </a:ext>
            </a:extLst>
          </p:cNvPr>
          <p:cNvSpPr txBox="1"/>
          <p:nvPr/>
        </p:nvSpPr>
        <p:spPr>
          <a:xfrm>
            <a:off x="975457" y="5613981"/>
            <a:ext cx="7191966" cy="461665"/>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Severe vitamin D deficiency 25(OH) D &lt; 20 ng/mL</a:t>
            </a:r>
          </a:p>
        </p:txBody>
      </p:sp>
      <p:grpSp>
        <p:nvGrpSpPr>
          <p:cNvPr id="20" name="Group 19">
            <a:extLst>
              <a:ext uri="{FF2B5EF4-FFF2-40B4-BE49-F238E27FC236}">
                <a16:creationId xmlns:a16="http://schemas.microsoft.com/office/drawing/2014/main" id="{C85E6731-0956-0392-9EA5-7BCF85C86D95}"/>
              </a:ext>
            </a:extLst>
          </p:cNvPr>
          <p:cNvGrpSpPr/>
          <p:nvPr/>
        </p:nvGrpSpPr>
        <p:grpSpPr>
          <a:xfrm>
            <a:off x="2630796" y="1013186"/>
            <a:ext cx="3472070" cy="1015662"/>
            <a:chOff x="19877" y="1251550"/>
            <a:chExt cx="3472070" cy="1015662"/>
          </a:xfrm>
        </p:grpSpPr>
        <p:sp>
          <p:nvSpPr>
            <p:cNvPr id="16" name="Rectangle: Rounded Corners 15">
              <a:extLst>
                <a:ext uri="{FF2B5EF4-FFF2-40B4-BE49-F238E27FC236}">
                  <a16:creationId xmlns:a16="http://schemas.microsoft.com/office/drawing/2014/main" id="{01C54795-D5F9-4A76-5BAB-8EE044A4ED1C}"/>
                </a:ext>
              </a:extLst>
            </p:cNvPr>
            <p:cNvSpPr/>
            <p:nvPr/>
          </p:nvSpPr>
          <p:spPr>
            <a:xfrm>
              <a:off x="636103" y="1251550"/>
              <a:ext cx="2239619" cy="101566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060E98A-6F02-E292-5A9B-6CAACBF0C6A9}"/>
                </a:ext>
              </a:extLst>
            </p:cNvPr>
            <p:cNvSpPr txBox="1"/>
            <p:nvPr/>
          </p:nvSpPr>
          <p:spPr>
            <a:xfrm>
              <a:off x="19877" y="1337111"/>
              <a:ext cx="347207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Very low active </a:t>
              </a:r>
            </a:p>
            <a:p>
              <a:pPr algn="ctr"/>
              <a:r>
                <a:rPr lang="en-US" sz="2400" dirty="0">
                  <a:latin typeface="Helvetica" panose="020B0604020202020204" pitchFamily="34" charset="0"/>
                  <a:cs typeface="Helvetica" panose="020B0604020202020204" pitchFamily="34" charset="0"/>
                </a:rPr>
                <a:t>Vitamin D</a:t>
              </a:r>
            </a:p>
          </p:txBody>
        </p:sp>
      </p:grpSp>
    </p:spTree>
    <p:extLst>
      <p:ext uri="{BB962C8B-B14F-4D97-AF65-F5344CB8AC3E}">
        <p14:creationId xmlns:p14="http://schemas.microsoft.com/office/powerpoint/2010/main" val="9329928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4B728F27-9955-2FAC-B421-306BB3352FBC}"/>
            </a:ext>
          </a:extLst>
        </p:cNvPr>
        <p:cNvGrpSpPr/>
        <p:nvPr/>
      </p:nvGrpSpPr>
      <p:grpSpPr>
        <a:xfrm>
          <a:off x="0" y="0"/>
          <a:ext cx="0" cy="0"/>
          <a:chOff x="0" y="0"/>
          <a:chExt cx="0" cy="0"/>
        </a:xfrm>
      </p:grpSpPr>
      <p:sp>
        <p:nvSpPr>
          <p:cNvPr id="429" name="Google Shape;429;p52">
            <a:extLst>
              <a:ext uri="{FF2B5EF4-FFF2-40B4-BE49-F238E27FC236}">
                <a16:creationId xmlns:a16="http://schemas.microsoft.com/office/drawing/2014/main" id="{F91547A0-5DCD-840E-50CD-BE88E716FF0F}"/>
              </a:ext>
            </a:extLst>
          </p:cNvPr>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ea typeface="Helvetica Neue"/>
                <a:cs typeface="Helvetica Neue"/>
                <a:sym typeface="Helvetica Neue"/>
              </a:rPr>
              <a:t>Secondary Hyperparathyroidism</a:t>
            </a:r>
            <a:endParaRPr dirty="0"/>
          </a:p>
        </p:txBody>
      </p:sp>
      <p:sp>
        <p:nvSpPr>
          <p:cNvPr id="5" name="TextBox 4">
            <a:extLst>
              <a:ext uri="{FF2B5EF4-FFF2-40B4-BE49-F238E27FC236}">
                <a16:creationId xmlns:a16="http://schemas.microsoft.com/office/drawing/2014/main" id="{F398AFCE-B007-F302-E343-493AAE4CDFB6}"/>
              </a:ext>
            </a:extLst>
          </p:cNvPr>
          <p:cNvSpPr txBox="1"/>
          <p:nvPr/>
        </p:nvSpPr>
        <p:spPr>
          <a:xfrm>
            <a:off x="593604" y="1295309"/>
            <a:ext cx="8190271" cy="4955203"/>
          </a:xfrm>
          <a:prstGeom prst="rect">
            <a:avLst/>
          </a:prstGeom>
          <a:noFill/>
        </p:spPr>
        <p:txBody>
          <a:bodyPr wrap="square" rtlCol="0">
            <a:spAutoFit/>
          </a:bodyPr>
          <a:lstStyle/>
          <a:p>
            <a:r>
              <a:rPr lang="en-US" sz="3200" b="1" dirty="0">
                <a:latin typeface="Helvetica" panose="020B0604020202020204" pitchFamily="34" charset="0"/>
                <a:cs typeface="Helvetica" panose="020B0604020202020204" pitchFamily="34" charset="0"/>
                <a:sym typeface="Wingdings" panose="05000000000000000000" pitchFamily="2" charset="2"/>
              </a:rPr>
              <a:t>3. Malabsorptive States</a:t>
            </a:r>
          </a:p>
          <a:p>
            <a:endParaRPr lang="en-US" sz="3200" b="1"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Certain malabsorptive states such as chronic pancreatitis, celiac disease, and gastric bypass can cause a similar clinical picture due to difficulty absorbing calcium and vitamin D</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a:p>
            <a:pPr marL="285750" indent="-285750">
              <a:buFont typeface="Arial" panose="020B0604020202020204" pitchFamily="34" charset="0"/>
              <a:buChar char="•"/>
            </a:pPr>
            <a:r>
              <a:rPr lang="en-US" sz="2800" dirty="0">
                <a:latin typeface="Helvetica" panose="020B0604020202020204" pitchFamily="34" charset="0"/>
                <a:cs typeface="Helvetica" panose="020B0604020202020204" pitchFamily="34" charset="0"/>
                <a:sym typeface="Wingdings" panose="05000000000000000000" pitchFamily="2" charset="2"/>
              </a:rPr>
              <a:t>Chronic pancreatitis – characterized by inability to break down and absorb fat-soluble vitamins (A, D, E, and K) </a:t>
            </a:r>
          </a:p>
          <a:p>
            <a:pPr marL="285750" indent="-285750">
              <a:buFont typeface="Arial" panose="020B0604020202020204" pitchFamily="34" charset="0"/>
              <a:buChar char="•"/>
            </a:pPr>
            <a:endParaRPr lang="en-US" sz="2800" dirty="0">
              <a:latin typeface="Helvetica" panose="020B0604020202020204" pitchFamily="34" charset="0"/>
              <a:cs typeface="Helvetica"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3971472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F6276-C886-0C0A-CF85-188DD92C6207}"/>
              </a:ext>
            </a:extLst>
          </p:cNvPr>
          <p:cNvSpPr>
            <a:spLocks noGrp="1"/>
          </p:cNvSpPr>
          <p:nvPr>
            <p:ph type="title"/>
          </p:nvPr>
        </p:nvSpPr>
        <p:spPr>
          <a:xfrm>
            <a:off x="376859" y="4803775"/>
            <a:ext cx="7886700" cy="1325563"/>
          </a:xfrm>
        </p:spPr>
        <p:txBody>
          <a:bodyPr>
            <a:normAutofit/>
          </a:bodyPr>
          <a:lstStyle/>
          <a:p>
            <a:pPr algn="ctr"/>
            <a:r>
              <a:rPr lang="en-US" sz="3600" dirty="0">
                <a:latin typeface="Helvetica" panose="020B0604020202020204" pitchFamily="34" charset="0"/>
                <a:cs typeface="Helvetica" panose="020B0604020202020204" pitchFamily="34" charset="0"/>
              </a:rPr>
              <a:t>Let’s pause and make sure we understand all of that…</a:t>
            </a:r>
          </a:p>
        </p:txBody>
      </p:sp>
      <p:sp>
        <p:nvSpPr>
          <p:cNvPr id="4" name="Slide Number Placeholder 3">
            <a:extLst>
              <a:ext uri="{FF2B5EF4-FFF2-40B4-BE49-F238E27FC236}">
                <a16:creationId xmlns:a16="http://schemas.microsoft.com/office/drawing/2014/main" id="{C7DED30E-A844-A1DB-5941-3E8F862852E4}"/>
              </a:ext>
            </a:extLst>
          </p:cNvPr>
          <p:cNvSpPr>
            <a:spLocks noGrp="1"/>
          </p:cNvSpPr>
          <p:nvPr>
            <p:ph type="sldNum" sz="quarter" idx="12"/>
          </p:nvPr>
        </p:nvSpPr>
        <p:spPr/>
        <p:txBody>
          <a:bodyPr/>
          <a:lstStyle/>
          <a:p>
            <a:fld id="{1E422F9A-6EE9-44F0-9560-5F04B1DEB4A3}" type="slidenum">
              <a:rPr lang="en-US" smtClean="0"/>
              <a:t>74</a:t>
            </a:fld>
            <a:endParaRPr lang="en-US"/>
          </a:p>
        </p:txBody>
      </p:sp>
      <p:pic>
        <p:nvPicPr>
          <p:cNvPr id="5" name="Picture 4" descr="What is a rolling stop in Pennsylvania">
            <a:extLst>
              <a:ext uri="{FF2B5EF4-FFF2-40B4-BE49-F238E27FC236}">
                <a16:creationId xmlns:a16="http://schemas.microsoft.com/office/drawing/2014/main" id="{690B1B76-4F2E-86A9-6113-2CCE2C312730}"/>
              </a:ext>
            </a:extLst>
          </p:cNvPr>
          <p:cNvPicPr>
            <a:picLocks noChangeAspect="1"/>
          </p:cNvPicPr>
          <p:nvPr/>
        </p:nvPicPr>
        <p:blipFill>
          <a:blip r:embed="rId2"/>
          <a:stretch>
            <a:fillRect/>
          </a:stretch>
        </p:blipFill>
        <p:spPr>
          <a:xfrm>
            <a:off x="1996109" y="681037"/>
            <a:ext cx="4648200" cy="3895725"/>
          </a:xfrm>
          <a:prstGeom prst="rect">
            <a:avLst/>
          </a:prstGeom>
        </p:spPr>
      </p:pic>
    </p:spTree>
    <p:extLst>
      <p:ext uri="{BB962C8B-B14F-4D97-AF65-F5344CB8AC3E}">
        <p14:creationId xmlns:p14="http://schemas.microsoft.com/office/powerpoint/2010/main" val="3100201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D7DABD81-CC53-BBDE-9DB8-C2FA034F4E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611B99-2353-D6D1-1A44-071552590CC0}"/>
              </a:ext>
            </a:extLst>
          </p:cNvPr>
          <p:cNvSpPr txBox="1"/>
          <p:nvPr/>
        </p:nvSpPr>
        <p:spPr>
          <a:xfrm>
            <a:off x="384098" y="1748640"/>
            <a:ext cx="8190271" cy="4247317"/>
          </a:xfrm>
          <a:prstGeom prst="rect">
            <a:avLst/>
          </a:prstGeom>
          <a:noFill/>
        </p:spPr>
        <p:txBody>
          <a:bodyPr wrap="square" rtlCol="0">
            <a:spAutoFit/>
          </a:bodyPr>
          <a:lstStyle/>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Failing kidney cannot excrete ____ </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Failing kidney cannot make active ____</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Low calcitriol  gut absorbs less _____    serum ___ falls </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High phosphate </a:t>
            </a:r>
            <a:r>
              <a:rPr lang="en-US" sz="3000" i="1" dirty="0">
                <a:latin typeface="Helvetica" panose="020B0604020202020204" pitchFamily="34" charset="0"/>
                <a:cs typeface="Helvetica" panose="020B0604020202020204" pitchFamily="34" charset="0"/>
                <a:sym typeface="Wingdings" panose="05000000000000000000" pitchFamily="2" charset="2"/>
              </a:rPr>
              <a:t>and </a:t>
            </a:r>
            <a:r>
              <a:rPr lang="en-US" sz="3000" dirty="0">
                <a:latin typeface="Helvetica" panose="020B0604020202020204" pitchFamily="34" charset="0"/>
                <a:cs typeface="Helvetica" panose="020B0604020202020204" pitchFamily="34" charset="0"/>
                <a:sym typeface="Wingdings" panose="05000000000000000000" pitchFamily="2" charset="2"/>
              </a:rPr>
              <a:t>low calcium </a:t>
            </a:r>
            <a:r>
              <a:rPr lang="en-US" sz="3000" i="1" dirty="0">
                <a:latin typeface="Helvetica" panose="020B0604020202020204" pitchFamily="34" charset="0"/>
                <a:cs typeface="Helvetica" panose="020B0604020202020204" pitchFamily="34" charset="0"/>
                <a:sym typeface="Wingdings" panose="05000000000000000000" pitchFamily="2" charset="2"/>
              </a:rPr>
              <a:t>and </a:t>
            </a:r>
            <a:r>
              <a:rPr lang="en-US" sz="3000" dirty="0">
                <a:latin typeface="Helvetica" panose="020B0604020202020204" pitchFamily="34" charset="0"/>
                <a:cs typeface="Helvetica" panose="020B0604020202020204" pitchFamily="34" charset="0"/>
                <a:sym typeface="Wingdings" panose="05000000000000000000" pitchFamily="2" charset="2"/>
              </a:rPr>
              <a:t>low calcitriol each independently tell the parathyroid to “make more PTH”</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Over time the parathyroid glands ______ and become harder to control. </a:t>
            </a:r>
          </a:p>
        </p:txBody>
      </p:sp>
      <p:sp>
        <p:nvSpPr>
          <p:cNvPr id="6" name="TextBox 5">
            <a:extLst>
              <a:ext uri="{FF2B5EF4-FFF2-40B4-BE49-F238E27FC236}">
                <a16:creationId xmlns:a16="http://schemas.microsoft.com/office/drawing/2014/main" id="{288FB4B7-8FFA-98F4-3BD2-7FD116EA6467}"/>
              </a:ext>
            </a:extLst>
          </p:cNvPr>
          <p:cNvSpPr txBox="1"/>
          <p:nvPr/>
        </p:nvSpPr>
        <p:spPr>
          <a:xfrm>
            <a:off x="811588" y="366623"/>
            <a:ext cx="7335292" cy="1077218"/>
          </a:xfrm>
          <a:prstGeom prst="rect">
            <a:avLst/>
          </a:prstGeom>
          <a:noFill/>
        </p:spPr>
        <p:txBody>
          <a:bodyPr wrap="square">
            <a:spAutoFit/>
          </a:bodyPr>
          <a:lstStyle/>
          <a:p>
            <a:pPr algn="ctr"/>
            <a:r>
              <a:rPr lang="en-US" sz="3200" b="1" dirty="0">
                <a:solidFill>
                  <a:schemeClr val="accent2"/>
                </a:solidFill>
                <a:latin typeface="Helvetica" panose="020B0604020202020204" pitchFamily="34" charset="0"/>
                <a:cs typeface="Helvetica" panose="020B0604020202020204" pitchFamily="34" charset="0"/>
                <a:sym typeface="Wingdings" panose="05000000000000000000" pitchFamily="2" charset="2"/>
              </a:rPr>
              <a:t>Why does CKD cause a secondary hyperparathyroidism?</a:t>
            </a:r>
          </a:p>
        </p:txBody>
      </p:sp>
      <p:sp>
        <p:nvSpPr>
          <p:cNvPr id="10" name="Rectangle 9">
            <a:extLst>
              <a:ext uri="{FF2B5EF4-FFF2-40B4-BE49-F238E27FC236}">
                <a16:creationId xmlns:a16="http://schemas.microsoft.com/office/drawing/2014/main" id="{212FB06B-6711-EE92-A79D-6C8CE4E0E6E1}"/>
              </a:ext>
            </a:extLst>
          </p:cNvPr>
          <p:cNvSpPr/>
          <p:nvPr/>
        </p:nvSpPr>
        <p:spPr>
          <a:xfrm>
            <a:off x="5923721" y="1603513"/>
            <a:ext cx="2345635" cy="69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F0FAE70-FC35-519A-20CC-F95EA196A760}"/>
              </a:ext>
            </a:extLst>
          </p:cNvPr>
          <p:cNvSpPr/>
          <p:nvPr/>
        </p:nvSpPr>
        <p:spPr>
          <a:xfrm>
            <a:off x="6704051" y="2284890"/>
            <a:ext cx="1772266" cy="4297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700104-D224-2CB6-DFB7-E07C9B410D16}"/>
              </a:ext>
            </a:extLst>
          </p:cNvPr>
          <p:cNvSpPr/>
          <p:nvPr/>
        </p:nvSpPr>
        <p:spPr>
          <a:xfrm>
            <a:off x="6506816" y="2718999"/>
            <a:ext cx="1391480" cy="5232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804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299C49-E6AB-C42D-D318-23009D34736E}"/>
              </a:ext>
            </a:extLst>
          </p:cNvPr>
          <p:cNvSpPr>
            <a:spLocks noGrp="1"/>
          </p:cNvSpPr>
          <p:nvPr>
            <p:ph type="sldNum" sz="quarter" idx="12"/>
          </p:nvPr>
        </p:nvSpPr>
        <p:spPr/>
        <p:txBody>
          <a:bodyPr/>
          <a:lstStyle/>
          <a:p>
            <a:fld id="{1E422F9A-6EE9-44F0-9560-5F04B1DEB4A3}" type="slidenum">
              <a:rPr lang="en-US" smtClean="0"/>
              <a:t>76</a:t>
            </a:fld>
            <a:endParaRPr lang="en-US"/>
          </a:p>
        </p:txBody>
      </p:sp>
      <p:sp>
        <p:nvSpPr>
          <p:cNvPr id="21" name="Rectangle 20">
            <a:extLst>
              <a:ext uri="{FF2B5EF4-FFF2-40B4-BE49-F238E27FC236}">
                <a16:creationId xmlns:a16="http://schemas.microsoft.com/office/drawing/2014/main" id="{80A036A7-05FC-C758-8869-E126B0AF2B51}"/>
              </a:ext>
            </a:extLst>
          </p:cNvPr>
          <p:cNvSpPr/>
          <p:nvPr/>
        </p:nvSpPr>
        <p:spPr>
          <a:xfrm>
            <a:off x="4860333" y="3544608"/>
            <a:ext cx="3874486" cy="2080357"/>
          </a:xfrm>
          <a:prstGeom prst="rect">
            <a:avLst/>
          </a:prstGeom>
          <a:solidFill>
            <a:srgbClr val="E9F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F0A5D9C-1D52-A40B-7A62-54B2DCFE4B37}"/>
              </a:ext>
            </a:extLst>
          </p:cNvPr>
          <p:cNvSpPr/>
          <p:nvPr/>
        </p:nvSpPr>
        <p:spPr>
          <a:xfrm>
            <a:off x="4860333" y="2001097"/>
            <a:ext cx="3874486" cy="1427903"/>
          </a:xfrm>
          <a:prstGeom prst="rect">
            <a:avLst/>
          </a:prstGeom>
          <a:solidFill>
            <a:srgbClr val="E9F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4668A64-F2BB-F995-53F8-339D2212D02A}"/>
              </a:ext>
            </a:extLst>
          </p:cNvPr>
          <p:cNvSpPr txBox="1"/>
          <p:nvPr/>
        </p:nvSpPr>
        <p:spPr>
          <a:xfrm>
            <a:off x="2064933" y="3770427"/>
            <a:ext cx="4572000" cy="369332"/>
          </a:xfrm>
          <a:prstGeom prst="rect">
            <a:avLst/>
          </a:prstGeom>
          <a:noFill/>
        </p:spPr>
        <p:txBody>
          <a:bodyPr wrap="square">
            <a:spAutoFit/>
          </a:bodyPr>
          <a:lstStyle/>
          <a:p>
            <a:endParaRPr lang="en-US" dirty="0"/>
          </a:p>
        </p:txBody>
      </p:sp>
      <p:pic>
        <p:nvPicPr>
          <p:cNvPr id="14" name="Picture 13" descr="Figure 1. Medical illustration shows the connection between renal failure, brown tumors, and pathologic fractures. Hemorrhage, increased vascularity, and hemosiderin deposition give brown tumors their characteristic color. The trabecular pattern of bone becomes more prominent as nonessential trabeculae are resorbed. (Reprinted, with permission, from Ciléin Kearns, Artibiotics, Copyright © 2022.)">
            <a:extLst>
              <a:ext uri="{FF2B5EF4-FFF2-40B4-BE49-F238E27FC236}">
                <a16:creationId xmlns:a16="http://schemas.microsoft.com/office/drawing/2014/main" id="{2119DEEC-1B01-C09E-2B12-E5491583D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118" y="2001097"/>
            <a:ext cx="4436244" cy="3894761"/>
          </a:xfrm>
          <a:prstGeom prst="rect">
            <a:avLst/>
          </a:prstGeom>
        </p:spPr>
      </p:pic>
      <p:sp>
        <p:nvSpPr>
          <p:cNvPr id="15" name="TextBox 14">
            <a:extLst>
              <a:ext uri="{FF2B5EF4-FFF2-40B4-BE49-F238E27FC236}">
                <a16:creationId xmlns:a16="http://schemas.microsoft.com/office/drawing/2014/main" id="{805100BF-4371-4541-AB50-1C5C7E4843C5}"/>
              </a:ext>
            </a:extLst>
          </p:cNvPr>
          <p:cNvSpPr txBox="1"/>
          <p:nvPr/>
        </p:nvSpPr>
        <p:spPr>
          <a:xfrm>
            <a:off x="4976368" y="3729274"/>
            <a:ext cx="3756834" cy="1692771"/>
          </a:xfrm>
          <a:prstGeom prst="rect">
            <a:avLst/>
          </a:prstGeom>
          <a:noFill/>
        </p:spPr>
        <p:txBody>
          <a:bodyPr wrap="square" rtlCol="0">
            <a:spAutoFit/>
          </a:bodyPr>
          <a:lstStyle/>
          <a:p>
            <a:r>
              <a:rPr lang="en-US" sz="2600" dirty="0">
                <a:solidFill>
                  <a:srgbClr val="1E423C"/>
                </a:solidFill>
                <a:latin typeface="Helvetica" panose="020B0604020202020204" pitchFamily="34" charset="0"/>
                <a:cs typeface="Helvetica" panose="020B0604020202020204" pitchFamily="34" charset="0"/>
              </a:rPr>
              <a:t>Excess PTH secretion draws too much calcium from the bones, weakening them.</a:t>
            </a:r>
          </a:p>
        </p:txBody>
      </p:sp>
      <p:sp>
        <p:nvSpPr>
          <p:cNvPr id="17" name="TextBox 16">
            <a:extLst>
              <a:ext uri="{FF2B5EF4-FFF2-40B4-BE49-F238E27FC236}">
                <a16:creationId xmlns:a16="http://schemas.microsoft.com/office/drawing/2014/main" id="{FD3CFE66-5691-FA91-76C2-25F28A45B7B3}"/>
              </a:ext>
            </a:extLst>
          </p:cNvPr>
          <p:cNvSpPr txBox="1"/>
          <p:nvPr/>
        </p:nvSpPr>
        <p:spPr>
          <a:xfrm>
            <a:off x="4883928" y="2033571"/>
            <a:ext cx="3944948" cy="1292662"/>
          </a:xfrm>
          <a:prstGeom prst="rect">
            <a:avLst/>
          </a:prstGeom>
          <a:noFill/>
        </p:spPr>
        <p:txBody>
          <a:bodyPr wrap="square" rtlCol="0">
            <a:spAutoFit/>
          </a:bodyPr>
          <a:lstStyle/>
          <a:p>
            <a:r>
              <a:rPr lang="en-US" sz="2600" dirty="0">
                <a:solidFill>
                  <a:srgbClr val="1E423C"/>
                </a:solidFill>
                <a:latin typeface="Helvetica" panose="020B0604020202020204" pitchFamily="34" charset="0"/>
                <a:cs typeface="Helvetica" panose="020B0604020202020204" pitchFamily="34" charset="0"/>
              </a:rPr>
              <a:t>Recall that bones are an immediate ‘bank’ where we can get calcium.</a:t>
            </a:r>
          </a:p>
        </p:txBody>
      </p:sp>
      <p:sp>
        <p:nvSpPr>
          <p:cNvPr id="2" name="Google Shape;461;p55">
            <a:extLst>
              <a:ext uri="{FF2B5EF4-FFF2-40B4-BE49-F238E27FC236}">
                <a16:creationId xmlns:a16="http://schemas.microsoft.com/office/drawing/2014/main" id="{ED26CBB2-A671-6FE5-7729-B53BB7B8F196}"/>
              </a:ext>
            </a:extLst>
          </p:cNvPr>
          <p:cNvSpPr txBox="1">
            <a:spLocks noGrp="1"/>
          </p:cNvSpPr>
          <p:nvPr>
            <p:ph type="title"/>
          </p:nvPr>
        </p:nvSpPr>
        <p:spPr>
          <a:xfrm>
            <a:off x="304725" y="523942"/>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3200" dirty="0">
                <a:latin typeface="Arial" panose="020B0604020202020204" pitchFamily="34" charset="0"/>
                <a:ea typeface="Helvetica Neue"/>
                <a:cs typeface="Arial" panose="020B0604020202020204" pitchFamily="34" charset="0"/>
                <a:sym typeface="Helvetica Neue"/>
              </a:rPr>
              <a:t>Secondary Hyperparathyroidism </a:t>
            </a:r>
            <a:br>
              <a:rPr lang="en-US" sz="3200" dirty="0">
                <a:latin typeface="Arial" panose="020B0604020202020204" pitchFamily="34" charset="0"/>
                <a:ea typeface="Helvetica Neue"/>
                <a:cs typeface="Arial" panose="020B0604020202020204" pitchFamily="34" charset="0"/>
                <a:sym typeface="Helvetica Neue"/>
              </a:rPr>
            </a:br>
            <a:r>
              <a:rPr lang="en-US" sz="3200" dirty="0">
                <a:latin typeface="Arial" panose="020B0604020202020204" pitchFamily="34" charset="0"/>
                <a:ea typeface="Helvetica Neue"/>
                <a:cs typeface="Arial" panose="020B0604020202020204" pitchFamily="34" charset="0"/>
                <a:sym typeface="Helvetica Neue"/>
              </a:rPr>
              <a:t>Effects of CKD on the bones </a:t>
            </a:r>
            <a:endParaRPr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43499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55"/>
          <p:cNvSpPr txBox="1">
            <a:spLocks noGrp="1"/>
          </p:cNvSpPr>
          <p:nvPr>
            <p:ph type="title"/>
          </p:nvPr>
        </p:nvSpPr>
        <p:spPr>
          <a:xfrm>
            <a:off x="151805" y="227707"/>
            <a:ext cx="8839275" cy="91417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000" dirty="0">
                <a:latin typeface="Arial" panose="020B0604020202020204" pitchFamily="34" charset="0"/>
                <a:ea typeface="Helvetica Neue"/>
                <a:cs typeface="Arial" panose="020B0604020202020204" pitchFamily="34" charset="0"/>
                <a:sym typeface="Helvetica Neue"/>
              </a:rPr>
              <a:t>Secondary Hyperparathyroidism</a:t>
            </a:r>
            <a:endParaRPr sz="4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96375FB-733B-33E0-5F3D-A6DE1D546214}"/>
              </a:ext>
            </a:extLst>
          </p:cNvPr>
          <p:cNvSpPr txBox="1"/>
          <p:nvPr/>
        </p:nvSpPr>
        <p:spPr>
          <a:xfrm>
            <a:off x="370289" y="1356189"/>
            <a:ext cx="8190271" cy="3323987"/>
          </a:xfrm>
          <a:prstGeom prst="rect">
            <a:avLst/>
          </a:prstGeom>
          <a:noFill/>
        </p:spPr>
        <p:txBody>
          <a:bodyPr wrap="square" rtlCol="0">
            <a:spAutoFit/>
          </a:bodyPr>
          <a:lstStyle/>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The CKD patients develops </a:t>
            </a:r>
            <a:r>
              <a:rPr lang="en-US" sz="3000" b="1" i="1" dirty="0">
                <a:latin typeface="Helvetica" panose="020B0604020202020204" pitchFamily="34" charset="0"/>
                <a:cs typeface="Helvetica" panose="020B0604020202020204" pitchFamily="34" charset="0"/>
                <a:sym typeface="Wingdings" panose="05000000000000000000" pitchFamily="2" charset="2"/>
              </a:rPr>
              <a:t>demineralized bones </a:t>
            </a:r>
            <a:r>
              <a:rPr lang="en-US" sz="3000" dirty="0">
                <a:latin typeface="Helvetica" panose="020B0604020202020204" pitchFamily="34" charset="0"/>
                <a:cs typeface="Helvetica" panose="020B0604020202020204" pitchFamily="34" charset="0"/>
                <a:sym typeface="Wingdings" panose="05000000000000000000" pitchFamily="2" charset="2"/>
              </a:rPr>
              <a:t>due to constant leaching of calcium.</a:t>
            </a:r>
          </a:p>
          <a:p>
            <a:pPr marL="457200" indent="-457200">
              <a:buFont typeface="Arial" panose="020B0604020202020204" pitchFamily="34" charset="0"/>
              <a:buChar char="•"/>
            </a:pPr>
            <a:endParaRPr lang="en-US" sz="3000" dirty="0">
              <a:latin typeface="Helvetica" panose="020B0604020202020204" pitchFamily="34" charset="0"/>
              <a:cs typeface="Helvetica" panose="020B0604020202020204" pitchFamily="34" charset="0"/>
              <a:sym typeface="Wingdings" panose="05000000000000000000" pitchFamily="2" charset="2"/>
            </a:endParaRP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This causes </a:t>
            </a:r>
            <a:r>
              <a:rPr lang="en-US" sz="3000" b="1" i="1" dirty="0">
                <a:latin typeface="Helvetica" panose="020B0604020202020204" pitchFamily="34" charset="0"/>
                <a:cs typeface="Helvetica" panose="020B0604020202020204" pitchFamily="34" charset="0"/>
                <a:sym typeface="Wingdings" panose="05000000000000000000" pitchFamily="2" charset="2"/>
              </a:rPr>
              <a:t>bone pain, spontaneous fracture, </a:t>
            </a:r>
            <a:r>
              <a:rPr lang="en-US" sz="3000" dirty="0">
                <a:latin typeface="Helvetica" panose="020B0604020202020204" pitchFamily="34" charset="0"/>
                <a:cs typeface="Helvetica" panose="020B0604020202020204" pitchFamily="34" charset="0"/>
                <a:sym typeface="Wingdings" panose="05000000000000000000" pitchFamily="2" charset="2"/>
              </a:rPr>
              <a:t>and </a:t>
            </a:r>
            <a:r>
              <a:rPr lang="en-US" sz="3000" b="1" i="1" dirty="0">
                <a:latin typeface="Helvetica" panose="020B0604020202020204" pitchFamily="34" charset="0"/>
                <a:cs typeface="Helvetica" panose="020B0604020202020204" pitchFamily="34" charset="0"/>
                <a:sym typeface="Wingdings" panose="05000000000000000000" pitchFamily="2" charset="2"/>
              </a:rPr>
              <a:t>muscle weakness. </a:t>
            </a:r>
          </a:p>
          <a:p>
            <a:pPr marL="457200" indent="-457200">
              <a:buFont typeface="Arial" panose="020B0604020202020204" pitchFamily="34" charset="0"/>
              <a:buChar char="•"/>
            </a:pPr>
            <a:endParaRPr lang="en-US" sz="3000" b="1" i="1" dirty="0">
              <a:latin typeface="Helvetica" panose="020B0604020202020204" pitchFamily="34" charset="0"/>
              <a:cs typeface="Helvetica" panose="020B0604020202020204" pitchFamily="34" charset="0"/>
              <a:sym typeface="Wingdings" panose="05000000000000000000" pitchFamily="2" charset="2"/>
            </a:endParaRP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sym typeface="Wingdings" panose="05000000000000000000" pitchFamily="2" charset="2"/>
              </a:rPr>
              <a:t>In CKD this is called </a:t>
            </a:r>
            <a:r>
              <a:rPr lang="en-US" sz="3000" b="1" i="1" dirty="0">
                <a:latin typeface="Helvetica" panose="020B0604020202020204" pitchFamily="34" charset="0"/>
                <a:cs typeface="Helvetica" panose="020B0604020202020204" pitchFamily="34" charset="0"/>
                <a:sym typeface="Wingdings" panose="05000000000000000000" pitchFamily="2" charset="2"/>
              </a:rPr>
              <a:t>renal osteodystrophy</a:t>
            </a:r>
            <a:r>
              <a:rPr lang="en-US" sz="3000" dirty="0">
                <a:latin typeface="Helvetica" panose="020B0604020202020204" pitchFamily="34" charset="0"/>
                <a:cs typeface="Helvetica" panose="020B0604020202020204" pitchFamily="34" charset="0"/>
                <a:sym typeface="Wingdings" panose="05000000000000000000" pitchFamily="2" charset="2"/>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8"/>
          <p:cNvSpPr txBox="1">
            <a:spLocks noGrp="1"/>
          </p:cNvSpPr>
          <p:nvPr>
            <p:ph type="title"/>
          </p:nvPr>
        </p:nvSpPr>
        <p:spPr>
          <a:xfrm>
            <a:off x="110505" y="314521"/>
            <a:ext cx="8824764" cy="100012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4008" dirty="0">
                <a:ea typeface="Arial"/>
                <a:cs typeface="Arial"/>
                <a:sym typeface="Arial"/>
              </a:rPr>
              <a:t>Treatment of Secondary HPT in CKD</a:t>
            </a:r>
            <a:endParaRPr dirty="0"/>
          </a:p>
        </p:txBody>
      </p:sp>
      <p:sp>
        <p:nvSpPr>
          <p:cNvPr id="2" name="TextBox 1">
            <a:extLst>
              <a:ext uri="{FF2B5EF4-FFF2-40B4-BE49-F238E27FC236}">
                <a16:creationId xmlns:a16="http://schemas.microsoft.com/office/drawing/2014/main" id="{4C4968D0-1E40-FD74-8116-36D4A48E31DB}"/>
              </a:ext>
            </a:extLst>
          </p:cNvPr>
          <p:cNvSpPr txBox="1"/>
          <p:nvPr/>
        </p:nvSpPr>
        <p:spPr>
          <a:xfrm>
            <a:off x="617838" y="1308622"/>
            <a:ext cx="7908324" cy="4247317"/>
          </a:xfrm>
          <a:prstGeom prst="rect">
            <a:avLst/>
          </a:prstGeom>
          <a:noFill/>
        </p:spPr>
        <p:txBody>
          <a:bodyPr wrap="square" rtlCol="0">
            <a:spAutoFit/>
          </a:bodyPr>
          <a:lstStyle/>
          <a:p>
            <a:pPr marL="514350" indent="-514350">
              <a:buAutoNum type="arabicPeriod"/>
            </a:pPr>
            <a:r>
              <a:rPr lang="en-US" sz="3000" b="1" dirty="0">
                <a:latin typeface="Helvetica" panose="020B0604020202020204" pitchFamily="34" charset="0"/>
                <a:cs typeface="Helvetica" panose="020B0604020202020204" pitchFamily="34" charset="0"/>
              </a:rPr>
              <a:t>Reduce phosphates in the diet </a:t>
            </a:r>
            <a:r>
              <a:rPr lang="en-US" sz="3000" dirty="0">
                <a:latin typeface="Helvetica" panose="020B0604020202020204" pitchFamily="34" charset="0"/>
                <a:cs typeface="Helvetica" panose="020B0604020202020204" pitchFamily="34" charset="0"/>
              </a:rPr>
              <a:t>with a minimally processed diet</a:t>
            </a:r>
          </a:p>
          <a:p>
            <a:endParaRPr lang="en-US" sz="3000" i="1" dirty="0">
              <a:latin typeface="Helvetica" panose="020B0604020202020204" pitchFamily="34" charset="0"/>
              <a:cs typeface="Helvetica" panose="020B0604020202020204" pitchFamily="34" charset="0"/>
            </a:endParaRPr>
          </a:p>
          <a:p>
            <a:r>
              <a:rPr lang="en-US" sz="3000" dirty="0">
                <a:latin typeface="Helvetica" panose="020B0604020202020204" pitchFamily="34" charset="0"/>
                <a:cs typeface="Helvetica" panose="020B0604020202020204" pitchFamily="34" charset="0"/>
              </a:rPr>
              <a:t>Foods high in phosphate include: </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Liquids: beer, soda, milk, chocolate drinks</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Dairy: milk, cheese, puddings, yogurt</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Protein: oyster, caviar, sardines</a:t>
            </a:r>
          </a:p>
          <a:p>
            <a:pPr marL="457200" indent="-457200">
              <a:buFont typeface="Arial" panose="020B0604020202020204" pitchFamily="34" charset="0"/>
              <a:buChar char="•"/>
            </a:pPr>
            <a:r>
              <a:rPr lang="en-US" sz="3000" dirty="0">
                <a:latin typeface="Helvetica" panose="020B0604020202020204" pitchFamily="34" charset="0"/>
                <a:cs typeface="Helvetica" panose="020B0604020202020204" pitchFamily="34" charset="0"/>
              </a:rPr>
              <a:t>Others: pizza, chocolate candy, caramels</a:t>
            </a:r>
          </a:p>
          <a:p>
            <a:pPr lvl="1"/>
            <a:endParaRPr lang="en-US" sz="3000" dirty="0">
              <a:latin typeface="Helvetica" panose="020B0604020202020204" pitchFamily="34" charset="0"/>
              <a:cs typeface="Helvetica"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72">
          <a:extLst>
            <a:ext uri="{FF2B5EF4-FFF2-40B4-BE49-F238E27FC236}">
              <a16:creationId xmlns:a16="http://schemas.microsoft.com/office/drawing/2014/main" id="{FCFD1E47-61FE-3DFF-26BD-BFCE398F63EC}"/>
            </a:ext>
          </a:extLst>
        </p:cNvPr>
        <p:cNvGrpSpPr/>
        <p:nvPr/>
      </p:nvGrpSpPr>
      <p:grpSpPr>
        <a:xfrm>
          <a:off x="0" y="0"/>
          <a:ext cx="0" cy="0"/>
          <a:chOff x="0" y="0"/>
          <a:chExt cx="0" cy="0"/>
        </a:xfrm>
      </p:grpSpPr>
      <p:sp>
        <p:nvSpPr>
          <p:cNvPr id="473" name="Google Shape;473;p58">
            <a:extLst>
              <a:ext uri="{FF2B5EF4-FFF2-40B4-BE49-F238E27FC236}">
                <a16:creationId xmlns:a16="http://schemas.microsoft.com/office/drawing/2014/main" id="{4E3F1A6C-776C-E339-BCB6-A7B47BE0731E}"/>
              </a:ext>
            </a:extLst>
          </p:cNvPr>
          <p:cNvSpPr txBox="1">
            <a:spLocks noGrp="1"/>
          </p:cNvSpPr>
          <p:nvPr>
            <p:ph type="title"/>
          </p:nvPr>
        </p:nvSpPr>
        <p:spPr>
          <a:xfrm>
            <a:off x="110505" y="314521"/>
            <a:ext cx="8824764" cy="100012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3200" dirty="0">
                <a:latin typeface="Helvetica Neue" panose="020B0604020202020204" charset="0"/>
                <a:ea typeface="Arial"/>
                <a:cs typeface="Arial"/>
                <a:sym typeface="Arial"/>
              </a:rPr>
              <a:t>Treatment of Secondary HPT in CKD</a:t>
            </a:r>
            <a:endParaRPr sz="3200" dirty="0">
              <a:latin typeface="Helvetica Neue" panose="020B0604020202020204" charset="0"/>
            </a:endParaRPr>
          </a:p>
        </p:txBody>
      </p:sp>
      <p:sp>
        <p:nvSpPr>
          <p:cNvPr id="2" name="TextBox 1">
            <a:extLst>
              <a:ext uri="{FF2B5EF4-FFF2-40B4-BE49-F238E27FC236}">
                <a16:creationId xmlns:a16="http://schemas.microsoft.com/office/drawing/2014/main" id="{431ACEB1-F7E6-EB60-EF46-2E776C6CF34A}"/>
              </a:ext>
            </a:extLst>
          </p:cNvPr>
          <p:cNvSpPr txBox="1"/>
          <p:nvPr/>
        </p:nvSpPr>
        <p:spPr>
          <a:xfrm>
            <a:off x="698190" y="1206141"/>
            <a:ext cx="7908324" cy="1938992"/>
          </a:xfrm>
          <a:prstGeom prst="rect">
            <a:avLst/>
          </a:prstGeom>
          <a:noFill/>
        </p:spPr>
        <p:txBody>
          <a:bodyPr wrap="square" rtlCol="0">
            <a:spAutoFit/>
          </a:bodyPr>
          <a:lstStyle/>
          <a:p>
            <a:pPr marL="514350" indent="-514350">
              <a:buAutoNum type="arabicPeriod"/>
            </a:pPr>
            <a:r>
              <a:rPr lang="en-US" sz="2800" b="1" dirty="0">
                <a:latin typeface="Helvetica" panose="020B0604020202020204" pitchFamily="34" charset="0"/>
                <a:cs typeface="Helvetica" panose="020B0604020202020204" pitchFamily="34" charset="0"/>
              </a:rPr>
              <a:t>Reduce phosphates in the diet </a:t>
            </a:r>
            <a:r>
              <a:rPr lang="en-US" sz="2800" dirty="0">
                <a:latin typeface="Helvetica" panose="020B0604020202020204" pitchFamily="34" charset="0"/>
                <a:cs typeface="Helvetica" panose="020B0604020202020204" pitchFamily="34" charset="0"/>
              </a:rPr>
              <a:t>with a minimally processed diet</a:t>
            </a:r>
          </a:p>
          <a:p>
            <a:pPr marL="914400" lvl="1" indent="-457200">
              <a:buFont typeface="Arial" panose="020B0604020202020204" pitchFamily="34" charset="0"/>
              <a:buChar char="•"/>
            </a:pPr>
            <a:endParaRPr lang="en-US" sz="3000" dirty="0">
              <a:latin typeface="Helvetica" panose="020B0604020202020204" pitchFamily="34" charset="0"/>
              <a:cs typeface="Helvetica" panose="020B0604020202020204" pitchFamily="34" charset="0"/>
            </a:endParaRPr>
          </a:p>
          <a:p>
            <a:pPr marL="914400" lvl="1" indent="-457200">
              <a:buFont typeface="Arial" panose="020B0604020202020204" pitchFamily="34" charset="0"/>
              <a:buChar char="•"/>
            </a:pPr>
            <a:endParaRPr lang="en-US" sz="3000" dirty="0">
              <a:latin typeface="Helvetica" panose="020B0604020202020204" pitchFamily="34" charset="0"/>
              <a:cs typeface="Helvetica" panose="020B0604020202020204" pitchFamily="34" charset="0"/>
            </a:endParaRPr>
          </a:p>
        </p:txBody>
      </p:sp>
      <p:pic>
        <p:nvPicPr>
          <p:cNvPr id="3" name="Picture 2" descr="24pk-Pabst Blue Ribbon Beer, USA (12oz) – Woods Wholesale Wine">
            <a:extLst>
              <a:ext uri="{FF2B5EF4-FFF2-40B4-BE49-F238E27FC236}">
                <a16:creationId xmlns:a16="http://schemas.microsoft.com/office/drawing/2014/main" id="{F51DA47E-9971-6280-68F2-E5347AB0A1BA}"/>
              </a:ext>
            </a:extLst>
          </p:cNvPr>
          <p:cNvPicPr>
            <a:picLocks noChangeAspect="1"/>
          </p:cNvPicPr>
          <p:nvPr/>
        </p:nvPicPr>
        <p:blipFill>
          <a:blip r:embed="rId3"/>
          <a:srcRect l="28865" r="25241"/>
          <a:stretch>
            <a:fillRect/>
          </a:stretch>
        </p:blipFill>
        <p:spPr>
          <a:xfrm>
            <a:off x="1077342" y="2208320"/>
            <a:ext cx="1007165" cy="2438400"/>
          </a:xfrm>
          <a:prstGeom prst="rect">
            <a:avLst/>
          </a:prstGeom>
        </p:spPr>
      </p:pic>
      <p:sp>
        <p:nvSpPr>
          <p:cNvPr id="5" name="TextBox 4">
            <a:extLst>
              <a:ext uri="{FF2B5EF4-FFF2-40B4-BE49-F238E27FC236}">
                <a16:creationId xmlns:a16="http://schemas.microsoft.com/office/drawing/2014/main" id="{B34EE2D0-49C1-279E-4501-8542B1A74D15}"/>
              </a:ext>
            </a:extLst>
          </p:cNvPr>
          <p:cNvSpPr txBox="1"/>
          <p:nvPr/>
        </p:nvSpPr>
        <p:spPr>
          <a:xfrm>
            <a:off x="2286000" y="3247647"/>
            <a:ext cx="4572000" cy="369332"/>
          </a:xfrm>
          <a:prstGeom prst="rect">
            <a:avLst/>
          </a:prstGeom>
          <a:noFill/>
        </p:spPr>
        <p:txBody>
          <a:bodyPr wrap="square">
            <a:spAutoFit/>
          </a:bodyPr>
          <a:lstStyle/>
          <a:p>
            <a:endParaRPr lang="en-US" dirty="0"/>
          </a:p>
        </p:txBody>
      </p:sp>
      <p:pic>
        <p:nvPicPr>
          <p:cNvPr id="6" name="Picture 5" descr="95,500+ Sliced Cheese Isolated Stock Photos and Royalty-Free Pictures -  iStock">
            <a:extLst>
              <a:ext uri="{FF2B5EF4-FFF2-40B4-BE49-F238E27FC236}">
                <a16:creationId xmlns:a16="http://schemas.microsoft.com/office/drawing/2014/main" id="{BE575D04-2833-A441-E802-57C44721FE5D}"/>
              </a:ext>
            </a:extLst>
          </p:cNvPr>
          <p:cNvPicPr>
            <a:picLocks noChangeAspect="1"/>
          </p:cNvPicPr>
          <p:nvPr/>
        </p:nvPicPr>
        <p:blipFill>
          <a:blip r:embed="rId4"/>
          <a:stretch>
            <a:fillRect/>
          </a:stretch>
        </p:blipFill>
        <p:spPr>
          <a:xfrm>
            <a:off x="2357766" y="2208320"/>
            <a:ext cx="1865376" cy="1243584"/>
          </a:xfrm>
          <a:prstGeom prst="rect">
            <a:avLst/>
          </a:prstGeom>
        </p:spPr>
      </p:pic>
      <p:sp>
        <p:nvSpPr>
          <p:cNvPr id="8" name="TextBox 7">
            <a:extLst>
              <a:ext uri="{FF2B5EF4-FFF2-40B4-BE49-F238E27FC236}">
                <a16:creationId xmlns:a16="http://schemas.microsoft.com/office/drawing/2014/main" id="{C41F2CB2-60DC-8663-6215-8CEC421FAB54}"/>
              </a:ext>
            </a:extLst>
          </p:cNvPr>
          <p:cNvSpPr txBox="1"/>
          <p:nvPr/>
        </p:nvSpPr>
        <p:spPr>
          <a:xfrm>
            <a:off x="2223654" y="2726019"/>
            <a:ext cx="4572000" cy="369332"/>
          </a:xfrm>
          <a:prstGeom prst="rect">
            <a:avLst/>
          </a:prstGeom>
          <a:noFill/>
        </p:spPr>
        <p:txBody>
          <a:bodyPr wrap="square">
            <a:spAutoFit/>
          </a:bodyPr>
          <a:lstStyle/>
          <a:p>
            <a:endParaRPr lang="en-US" dirty="0"/>
          </a:p>
        </p:txBody>
      </p:sp>
      <p:pic>
        <p:nvPicPr>
          <p:cNvPr id="9" name="Picture 8" descr="Milk chocolate pieces isolated on white background 3245516 Stock Photo at  Vecteezy">
            <a:extLst>
              <a:ext uri="{FF2B5EF4-FFF2-40B4-BE49-F238E27FC236}">
                <a16:creationId xmlns:a16="http://schemas.microsoft.com/office/drawing/2014/main" id="{60BF2032-460A-6323-7BE3-DB62B5657411}"/>
              </a:ext>
            </a:extLst>
          </p:cNvPr>
          <p:cNvPicPr>
            <a:picLocks noChangeAspect="1"/>
          </p:cNvPicPr>
          <p:nvPr/>
        </p:nvPicPr>
        <p:blipFill>
          <a:blip r:embed="rId5"/>
          <a:srcRect l="16677" t="27837" r="14602" b="11831"/>
          <a:stretch>
            <a:fillRect/>
          </a:stretch>
        </p:blipFill>
        <p:spPr>
          <a:xfrm>
            <a:off x="5989785" y="2131770"/>
            <a:ext cx="2158253" cy="1263191"/>
          </a:xfrm>
          <a:prstGeom prst="rect">
            <a:avLst/>
          </a:prstGeom>
        </p:spPr>
      </p:pic>
      <p:pic>
        <p:nvPicPr>
          <p:cNvPr id="10" name="Picture 9" descr="Yoplait Original Strawberry Yogurt 32 oz Tub | Gluten Free &amp; Low Fat">
            <a:extLst>
              <a:ext uri="{FF2B5EF4-FFF2-40B4-BE49-F238E27FC236}">
                <a16:creationId xmlns:a16="http://schemas.microsoft.com/office/drawing/2014/main" id="{A3EA10DE-40E5-FADA-4E75-28D9326D6111}"/>
              </a:ext>
            </a:extLst>
          </p:cNvPr>
          <p:cNvPicPr>
            <a:picLocks noChangeAspect="1"/>
          </p:cNvPicPr>
          <p:nvPr/>
        </p:nvPicPr>
        <p:blipFill>
          <a:blip r:embed="rId6"/>
          <a:stretch>
            <a:fillRect/>
          </a:stretch>
        </p:blipFill>
        <p:spPr>
          <a:xfrm>
            <a:off x="3936563" y="2514999"/>
            <a:ext cx="2053223" cy="2053223"/>
          </a:xfrm>
          <a:prstGeom prst="rect">
            <a:avLst/>
          </a:prstGeom>
        </p:spPr>
      </p:pic>
      <p:pic>
        <p:nvPicPr>
          <p:cNvPr id="11" name="Picture 10" descr="37,353 Pizza Slice White Background Stock Photos - Free &amp; Royalty-Free  Stock Photos from Dreamstime">
            <a:extLst>
              <a:ext uri="{FF2B5EF4-FFF2-40B4-BE49-F238E27FC236}">
                <a16:creationId xmlns:a16="http://schemas.microsoft.com/office/drawing/2014/main" id="{29585134-672A-D204-E403-3478690AD206}"/>
              </a:ext>
            </a:extLst>
          </p:cNvPr>
          <p:cNvPicPr>
            <a:picLocks noChangeAspect="1"/>
          </p:cNvPicPr>
          <p:nvPr/>
        </p:nvPicPr>
        <p:blipFill>
          <a:blip r:embed="rId7"/>
          <a:srcRect l="15509" t="6167"/>
          <a:stretch>
            <a:fillRect/>
          </a:stretch>
        </p:blipFill>
        <p:spPr>
          <a:xfrm>
            <a:off x="5989784" y="3689600"/>
            <a:ext cx="2158253" cy="1599945"/>
          </a:xfrm>
          <a:prstGeom prst="rect">
            <a:avLst/>
          </a:prstGeom>
        </p:spPr>
      </p:pic>
      <p:pic>
        <p:nvPicPr>
          <p:cNvPr id="13" name="Picture 12" descr="Can of Coca-Cola with white background. Coca-Cola is a carbonated soft drink  produced by The Coca-Cola Company of Atlanta, Georgia. Stock Photo | Adobe  Stock">
            <a:extLst>
              <a:ext uri="{FF2B5EF4-FFF2-40B4-BE49-F238E27FC236}">
                <a16:creationId xmlns:a16="http://schemas.microsoft.com/office/drawing/2014/main" id="{9CB6FDB8-C4EF-8C20-0A46-BA80BD7C562B}"/>
              </a:ext>
            </a:extLst>
          </p:cNvPr>
          <p:cNvPicPr>
            <a:picLocks noChangeAspect="1"/>
          </p:cNvPicPr>
          <p:nvPr/>
        </p:nvPicPr>
        <p:blipFill>
          <a:blip r:embed="rId8"/>
          <a:srcRect l="5862"/>
          <a:stretch>
            <a:fillRect/>
          </a:stretch>
        </p:blipFill>
        <p:spPr>
          <a:xfrm>
            <a:off x="2507499" y="3661825"/>
            <a:ext cx="1072876" cy="1708666"/>
          </a:xfrm>
          <a:prstGeom prst="rect">
            <a:avLst/>
          </a:prstGeom>
        </p:spPr>
      </p:pic>
      <p:sp>
        <p:nvSpPr>
          <p:cNvPr id="7" name="TextBox 6">
            <a:extLst>
              <a:ext uri="{FF2B5EF4-FFF2-40B4-BE49-F238E27FC236}">
                <a16:creationId xmlns:a16="http://schemas.microsoft.com/office/drawing/2014/main" id="{3C6FCD9B-5F4E-D879-AF79-10828E087EA4}"/>
              </a:ext>
            </a:extLst>
          </p:cNvPr>
          <p:cNvSpPr txBox="1"/>
          <p:nvPr/>
        </p:nvSpPr>
        <p:spPr>
          <a:xfrm>
            <a:off x="439259" y="5443112"/>
            <a:ext cx="8167255" cy="954107"/>
          </a:xfrm>
          <a:prstGeom prst="rect">
            <a:avLst/>
          </a:prstGeom>
          <a:noFill/>
        </p:spPr>
        <p:txBody>
          <a:bodyPr wrap="square">
            <a:spAutoFit/>
          </a:bodyPr>
          <a:lstStyle/>
          <a:p>
            <a:pPr lvl="1"/>
            <a:r>
              <a:rPr lang="en-US" sz="2800" dirty="0">
                <a:latin typeface="Helvetica" panose="020B0604020202020204" pitchFamily="34" charset="0"/>
                <a:cs typeface="Helvetica" panose="020B0604020202020204" pitchFamily="34" charset="0"/>
              </a:rPr>
              <a:t>Start dietary restriction around CKD </a:t>
            </a:r>
            <a:r>
              <a:rPr lang="en-US" sz="2800" dirty="0" err="1">
                <a:latin typeface="Helvetica" panose="020B0604020202020204" pitchFamily="34" charset="0"/>
                <a:cs typeface="Helvetica" panose="020B0604020202020204" pitchFamily="34" charset="0"/>
              </a:rPr>
              <a:t>IIIb</a:t>
            </a:r>
            <a:r>
              <a:rPr lang="en-US" sz="2800" dirty="0">
                <a:latin typeface="Helvetica" panose="020B0604020202020204" pitchFamily="34" charset="0"/>
                <a:cs typeface="Helvetica" panose="020B0604020202020204" pitchFamily="34" charset="0"/>
              </a:rPr>
              <a:t> as phosphorus levels start to increase.</a:t>
            </a:r>
          </a:p>
        </p:txBody>
      </p:sp>
    </p:spTree>
    <p:extLst>
      <p:ext uri="{BB962C8B-B14F-4D97-AF65-F5344CB8AC3E}">
        <p14:creationId xmlns:p14="http://schemas.microsoft.com/office/powerpoint/2010/main" val="14708897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9"/>
          <p:cNvSpPr txBox="1">
            <a:spLocks noGrp="1"/>
          </p:cNvSpPr>
          <p:nvPr>
            <p:ph type="title"/>
          </p:nvPr>
        </p:nvSpPr>
        <p:spPr>
          <a:xfrm>
            <a:off x="110505" y="178594"/>
            <a:ext cx="8824764" cy="100012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4008" dirty="0">
                <a:ea typeface="Arial"/>
                <a:cs typeface="Arial"/>
                <a:sym typeface="Arial"/>
              </a:rPr>
              <a:t>Treatment of Secondary HPT in CKD</a:t>
            </a:r>
            <a:endParaRPr dirty="0"/>
          </a:p>
        </p:txBody>
      </p:sp>
      <p:sp>
        <p:nvSpPr>
          <p:cNvPr id="480" name="Google Shape;480;p59"/>
          <p:cNvSpPr txBox="1">
            <a:spLocks noGrp="1"/>
          </p:cNvSpPr>
          <p:nvPr>
            <p:ph type="body" idx="1"/>
          </p:nvPr>
        </p:nvSpPr>
        <p:spPr>
          <a:xfrm>
            <a:off x="506745" y="1178719"/>
            <a:ext cx="8301975" cy="5500688"/>
          </a:xfrm>
          <a:prstGeom prst="rect">
            <a:avLst/>
          </a:prstGeom>
          <a:noFill/>
          <a:ln>
            <a:noFill/>
          </a:ln>
        </p:spPr>
        <p:txBody>
          <a:bodyPr spcFirstLastPara="1" vert="horz" wrap="square" lIns="35719" tIns="35719" rIns="35719" bIns="35719" rtlCol="0" anchor="t" anchorCtr="0">
            <a:noAutofit/>
          </a:bodyPr>
          <a:lstStyle/>
          <a:p>
            <a:pPr marL="0" indent="0">
              <a:lnSpc>
                <a:spcPct val="100000"/>
              </a:lnSpc>
              <a:spcBef>
                <a:spcPts val="844"/>
              </a:spcBef>
              <a:buClr>
                <a:srgbClr val="000000"/>
              </a:buClr>
              <a:buSzPts val="4400"/>
              <a:buNone/>
            </a:pPr>
            <a:r>
              <a:rPr lang="en-US" b="1" dirty="0">
                <a:latin typeface="Helvetica" panose="020B0604020202020204" pitchFamily="34" charset="0"/>
                <a:ea typeface="Calibri"/>
                <a:cs typeface="Helvetica" panose="020B0604020202020204" pitchFamily="34" charset="0"/>
                <a:sym typeface="Calibri"/>
              </a:rPr>
              <a:t>2. </a:t>
            </a:r>
            <a:r>
              <a:rPr lang="en-US" b="1" i="1" dirty="0">
                <a:latin typeface="Helvetica" panose="020B0604020202020204" pitchFamily="34" charset="0"/>
                <a:ea typeface="Calibri"/>
                <a:cs typeface="Helvetica" panose="020B0604020202020204" pitchFamily="34" charset="0"/>
                <a:sym typeface="Calibri"/>
              </a:rPr>
              <a:t>Give phosphate binders </a:t>
            </a:r>
            <a:r>
              <a:rPr lang="en-US" dirty="0">
                <a:latin typeface="Helvetica" panose="020B0604020202020204" pitchFamily="34" charset="0"/>
                <a:ea typeface="Calibri"/>
                <a:cs typeface="Helvetica" panose="020B0604020202020204" pitchFamily="34" charset="0"/>
                <a:sym typeface="Calibri"/>
              </a:rPr>
              <a:t>if high serum phosphate persists despite diet restrictions in CKD </a:t>
            </a:r>
          </a:p>
          <a:p>
            <a:pPr marL="0" indent="0">
              <a:lnSpc>
                <a:spcPct val="100000"/>
              </a:lnSpc>
              <a:spcBef>
                <a:spcPts val="844"/>
              </a:spcBef>
              <a:buClr>
                <a:srgbClr val="000000"/>
              </a:buClr>
              <a:buSzPts val="4400"/>
              <a:buNone/>
            </a:pPr>
            <a:endParaRPr lang="en-US" dirty="0">
              <a:latin typeface="Helvetica" panose="020B0604020202020204" pitchFamily="34" charset="0"/>
              <a:ea typeface="Calibri"/>
              <a:cs typeface="Helvetica" panose="020B0604020202020204" pitchFamily="34" charset="0"/>
              <a:sym typeface="Calibri"/>
            </a:endParaRPr>
          </a:p>
          <a:p>
            <a:pPr>
              <a:lnSpc>
                <a:spcPct val="100000"/>
              </a:lnSpc>
              <a:spcBef>
                <a:spcPts val="844"/>
              </a:spcBef>
              <a:buClr>
                <a:srgbClr val="000000"/>
              </a:buClr>
              <a:buSzPts val="4400"/>
            </a:pPr>
            <a:r>
              <a:rPr lang="en-US" dirty="0">
                <a:latin typeface="Helvetica" panose="020B0604020202020204" pitchFamily="34" charset="0"/>
                <a:ea typeface="Calibri"/>
                <a:cs typeface="Helvetica" panose="020B0604020202020204" pitchFamily="34" charset="0"/>
                <a:sym typeface="Calibri"/>
              </a:rPr>
              <a:t>These drugs are taken with each meal and bind to the ingested phosphates, letting them pass out of the GI tract without being absorbed. </a:t>
            </a:r>
          </a:p>
          <a:p>
            <a:pPr>
              <a:lnSpc>
                <a:spcPct val="100000"/>
              </a:lnSpc>
              <a:spcBef>
                <a:spcPts val="844"/>
              </a:spcBef>
              <a:buClr>
                <a:srgbClr val="000000"/>
              </a:buClr>
              <a:buSzPts val="4400"/>
            </a:pPr>
            <a:r>
              <a:rPr lang="en-US" dirty="0">
                <a:latin typeface="Helvetica" panose="020B0604020202020204" pitchFamily="34" charset="0"/>
                <a:ea typeface="Calibri"/>
                <a:cs typeface="Helvetica" panose="020B0604020202020204" pitchFamily="34" charset="0"/>
                <a:sym typeface="Calibri"/>
              </a:rPr>
              <a:t>May be calcium based or non-calcium based, depending on the serum calcium levels- remember we want to </a:t>
            </a:r>
            <a:r>
              <a:rPr lang="en-US" b="1" i="1" dirty="0">
                <a:latin typeface="Helvetica" panose="020B0604020202020204" pitchFamily="34" charset="0"/>
                <a:ea typeface="Calibri"/>
                <a:cs typeface="Helvetica" panose="020B0604020202020204" pitchFamily="34" charset="0"/>
                <a:sym typeface="Calibri"/>
              </a:rPr>
              <a:t>keep calcium levels at low normal to prevent calciphylaxis</a:t>
            </a:r>
            <a:r>
              <a:rPr lang="en-US" dirty="0">
                <a:latin typeface="Helvetica" panose="020B0604020202020204" pitchFamily="34" charset="0"/>
                <a:ea typeface="Calibri"/>
                <a:cs typeface="Helvetica" panose="020B0604020202020204" pitchFamily="34" charset="0"/>
                <a:sym typeface="Calibri"/>
              </a:rPr>
              <a:t>.</a:t>
            </a:r>
            <a:endParaRPr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0"/>
          <p:cNvSpPr txBox="1">
            <a:spLocks noGrp="1"/>
          </p:cNvSpPr>
          <p:nvPr>
            <p:ph type="title"/>
          </p:nvPr>
        </p:nvSpPr>
        <p:spPr>
          <a:xfrm>
            <a:off x="-190281" y="378249"/>
            <a:ext cx="9524562" cy="1357313"/>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4570" dirty="0">
                <a:latin typeface="Helvetica" panose="020B0604020202020204"/>
                <a:ea typeface="Calibri"/>
                <a:cs typeface="Helvetica" panose="020B0604020202020204"/>
                <a:sym typeface="Calibri"/>
              </a:rPr>
              <a:t>Phosphate Binders</a:t>
            </a:r>
            <a:br>
              <a:rPr lang="en-US" sz="4008" dirty="0">
                <a:latin typeface="Helvetica" panose="020B0604020202020204"/>
                <a:ea typeface="Calibri"/>
                <a:cs typeface="Helvetica" panose="020B0604020202020204"/>
                <a:sym typeface="Calibri"/>
              </a:rPr>
            </a:br>
            <a:endParaRPr sz="2400" dirty="0">
              <a:latin typeface="Helvetica" panose="020B0604020202020204"/>
              <a:ea typeface="Calibri"/>
              <a:cs typeface="Helvetica" panose="020B0604020202020204"/>
              <a:sym typeface="Calibri"/>
            </a:endParaRPr>
          </a:p>
        </p:txBody>
      </p:sp>
      <p:graphicFrame>
        <p:nvGraphicFramePr>
          <p:cNvPr id="4" name="Table 3">
            <a:extLst>
              <a:ext uri="{FF2B5EF4-FFF2-40B4-BE49-F238E27FC236}">
                <a16:creationId xmlns:a16="http://schemas.microsoft.com/office/drawing/2014/main" id="{0E3169AC-2B16-70E8-BADB-3FC38B8949A1}"/>
              </a:ext>
            </a:extLst>
          </p:cNvPr>
          <p:cNvGraphicFramePr>
            <a:graphicFrameLocks noGrp="1"/>
          </p:cNvGraphicFramePr>
          <p:nvPr>
            <p:extLst>
              <p:ext uri="{D42A27DB-BD31-4B8C-83A1-F6EECF244321}">
                <p14:modId xmlns:p14="http://schemas.microsoft.com/office/powerpoint/2010/main" val="1410229852"/>
              </p:ext>
            </p:extLst>
          </p:nvPr>
        </p:nvGraphicFramePr>
        <p:xfrm>
          <a:off x="502763" y="2608174"/>
          <a:ext cx="8138474" cy="2439258"/>
        </p:xfrm>
        <a:graphic>
          <a:graphicData uri="http://schemas.openxmlformats.org/drawingml/2006/table">
            <a:tbl>
              <a:tblPr firstRow="1" bandRow="1">
                <a:tableStyleId>{5C22544A-7EE6-4342-B048-85BDC9FD1C3A}</a:tableStyleId>
              </a:tblPr>
              <a:tblGrid>
                <a:gridCol w="3462779">
                  <a:extLst>
                    <a:ext uri="{9D8B030D-6E8A-4147-A177-3AD203B41FA5}">
                      <a16:colId xmlns:a16="http://schemas.microsoft.com/office/drawing/2014/main" val="2447738678"/>
                    </a:ext>
                  </a:extLst>
                </a:gridCol>
                <a:gridCol w="4675695">
                  <a:extLst>
                    <a:ext uri="{9D8B030D-6E8A-4147-A177-3AD203B41FA5}">
                      <a16:colId xmlns:a16="http://schemas.microsoft.com/office/drawing/2014/main" val="2754429306"/>
                    </a:ext>
                  </a:extLst>
                </a:gridCol>
              </a:tblGrid>
              <a:tr h="564579">
                <a:tc>
                  <a:txBody>
                    <a:bodyPr/>
                    <a:lstStyle/>
                    <a:p>
                      <a:r>
                        <a:rPr lang="en-US" sz="2400" dirty="0">
                          <a:latin typeface="Helvetica Neue" panose="020B0604020202020204" charset="0"/>
                        </a:rPr>
                        <a:t>Contains calcium</a:t>
                      </a:r>
                    </a:p>
                  </a:txBody>
                  <a:tcPr/>
                </a:tc>
                <a:tc>
                  <a:txBody>
                    <a:bodyPr/>
                    <a:lstStyle/>
                    <a:p>
                      <a:r>
                        <a:rPr lang="en-US" sz="2400" dirty="0">
                          <a:latin typeface="Helvetica Neue" panose="020B0604020202020204" charset="0"/>
                        </a:rPr>
                        <a:t>Does not contain calcium</a:t>
                      </a:r>
                    </a:p>
                  </a:txBody>
                  <a:tcPr/>
                </a:tc>
                <a:extLst>
                  <a:ext uri="{0D108BD9-81ED-4DB2-BD59-A6C34878D82A}">
                    <a16:rowId xmlns:a16="http://schemas.microsoft.com/office/drawing/2014/main" val="1550150150"/>
                  </a:ext>
                </a:extLst>
              </a:tr>
              <a:tr h="624893">
                <a:tc>
                  <a:txBody>
                    <a:bodyPr/>
                    <a:lstStyle/>
                    <a:p>
                      <a:r>
                        <a:rPr lang="en-US" sz="2200" dirty="0">
                          <a:latin typeface="Helvetica Neue" panose="020B0604020202020204" charset="0"/>
                        </a:rPr>
                        <a:t>Calcium acetate (</a:t>
                      </a:r>
                      <a:r>
                        <a:rPr lang="en-US" sz="2200" dirty="0" err="1">
                          <a:latin typeface="Helvetica Neue" panose="020B0604020202020204" charset="0"/>
                        </a:rPr>
                        <a:t>PhosLo</a:t>
                      </a:r>
                      <a:r>
                        <a:rPr lang="en-US" sz="2200" dirty="0">
                          <a:latin typeface="Helvetica Neue" panose="020B0604020202020204" charset="0"/>
                        </a:rPr>
                        <a:t>)</a:t>
                      </a:r>
                    </a:p>
                  </a:txBody>
                  <a:tcPr/>
                </a:tc>
                <a:tc>
                  <a:txBody>
                    <a:bodyPr/>
                    <a:lstStyle/>
                    <a:p>
                      <a:r>
                        <a:rPr lang="en-US" sz="2200" dirty="0" err="1">
                          <a:latin typeface="Helvetica Neue" panose="020B0604020202020204" charset="0"/>
                        </a:rPr>
                        <a:t>Selevamar</a:t>
                      </a:r>
                      <a:r>
                        <a:rPr lang="en-US" sz="2200" dirty="0">
                          <a:latin typeface="Helvetica Neue" panose="020B0604020202020204" charset="0"/>
                        </a:rPr>
                        <a:t> (</a:t>
                      </a:r>
                      <a:r>
                        <a:rPr lang="en-US" sz="2200" dirty="0" err="1">
                          <a:latin typeface="Helvetica Neue" panose="020B0604020202020204" charset="0"/>
                        </a:rPr>
                        <a:t>Renvela</a:t>
                      </a:r>
                      <a:r>
                        <a:rPr lang="en-US" sz="2200" dirty="0">
                          <a:latin typeface="Helvetica Neue" panose="020B0604020202020204" charset="0"/>
                        </a:rPr>
                        <a:t>, Renagel)</a:t>
                      </a:r>
                    </a:p>
                  </a:txBody>
                  <a:tcPr/>
                </a:tc>
                <a:extLst>
                  <a:ext uri="{0D108BD9-81ED-4DB2-BD59-A6C34878D82A}">
                    <a16:rowId xmlns:a16="http://schemas.microsoft.com/office/drawing/2014/main" val="150596102"/>
                  </a:ext>
                </a:extLst>
              </a:tr>
              <a:tr h="624893">
                <a:tc>
                  <a:txBody>
                    <a:bodyPr/>
                    <a:lstStyle/>
                    <a:p>
                      <a:endParaRPr lang="en-US" sz="2200" dirty="0">
                        <a:latin typeface="Helvetica Neue" panose="020B0604020202020204" charset="0"/>
                      </a:endParaRPr>
                    </a:p>
                  </a:txBody>
                  <a:tcPr/>
                </a:tc>
                <a:tc>
                  <a:txBody>
                    <a:bodyPr/>
                    <a:lstStyle/>
                    <a:p>
                      <a:r>
                        <a:rPr lang="en-US" sz="2200" dirty="0">
                          <a:latin typeface="Helvetica Neue" panose="020B0604020202020204" charset="0"/>
                        </a:rPr>
                        <a:t>Lanthanum (Fosrenol)</a:t>
                      </a:r>
                    </a:p>
                  </a:txBody>
                  <a:tcPr/>
                </a:tc>
                <a:extLst>
                  <a:ext uri="{0D108BD9-81ED-4DB2-BD59-A6C34878D82A}">
                    <a16:rowId xmlns:a16="http://schemas.microsoft.com/office/drawing/2014/main" val="2756667784"/>
                  </a:ext>
                </a:extLst>
              </a:tr>
              <a:tr h="624893">
                <a:tc>
                  <a:txBody>
                    <a:bodyPr/>
                    <a:lstStyle/>
                    <a:p>
                      <a:endParaRPr lang="en-US" sz="2200">
                        <a:latin typeface="Helvetica Neue" panose="020B0604020202020204" charset="0"/>
                      </a:endParaRPr>
                    </a:p>
                  </a:txBody>
                  <a:tcPr/>
                </a:tc>
                <a:tc>
                  <a:txBody>
                    <a:bodyPr/>
                    <a:lstStyle/>
                    <a:p>
                      <a:r>
                        <a:rPr lang="en-US" sz="2200" dirty="0" err="1">
                          <a:latin typeface="Helvetica Neue" panose="020B0604020202020204" charset="0"/>
                        </a:rPr>
                        <a:t>Sucroferric</a:t>
                      </a:r>
                      <a:r>
                        <a:rPr lang="en-US" sz="2200" dirty="0">
                          <a:latin typeface="Helvetica Neue" panose="020B0604020202020204" charset="0"/>
                        </a:rPr>
                        <a:t> oxyhydroxide (</a:t>
                      </a:r>
                      <a:r>
                        <a:rPr lang="en-US" sz="2200" dirty="0" err="1">
                          <a:latin typeface="Helvetica Neue" panose="020B0604020202020204" charset="0"/>
                        </a:rPr>
                        <a:t>Velphoro</a:t>
                      </a:r>
                      <a:r>
                        <a:rPr lang="en-US" sz="2200" dirty="0">
                          <a:latin typeface="Helvetica Neue" panose="020B0604020202020204" charset="0"/>
                        </a:rPr>
                        <a:t>)</a:t>
                      </a:r>
                    </a:p>
                  </a:txBody>
                  <a:tcPr/>
                </a:tc>
                <a:extLst>
                  <a:ext uri="{0D108BD9-81ED-4DB2-BD59-A6C34878D82A}">
                    <a16:rowId xmlns:a16="http://schemas.microsoft.com/office/drawing/2014/main" val="2387724212"/>
                  </a:ext>
                </a:extLst>
              </a:tr>
            </a:tbl>
          </a:graphicData>
        </a:graphic>
      </p:graphicFrame>
      <p:sp>
        <p:nvSpPr>
          <p:cNvPr id="5" name="TextBox 4">
            <a:extLst>
              <a:ext uri="{FF2B5EF4-FFF2-40B4-BE49-F238E27FC236}">
                <a16:creationId xmlns:a16="http://schemas.microsoft.com/office/drawing/2014/main" id="{973E8674-D50F-0520-E1EB-B8B30043FF0A}"/>
              </a:ext>
            </a:extLst>
          </p:cNvPr>
          <p:cNvSpPr txBox="1"/>
          <p:nvPr/>
        </p:nvSpPr>
        <p:spPr>
          <a:xfrm>
            <a:off x="502763" y="1363825"/>
            <a:ext cx="8249351" cy="1077218"/>
          </a:xfrm>
          <a:prstGeom prst="rect">
            <a:avLst/>
          </a:prstGeom>
          <a:noFill/>
        </p:spPr>
        <p:txBody>
          <a:bodyPr wrap="square">
            <a:spAutoFit/>
          </a:bodyPr>
          <a:lstStyle/>
          <a:p>
            <a:r>
              <a:rPr lang="en-US" sz="3200" dirty="0">
                <a:latin typeface="Helvetica" panose="020B0604020202020204"/>
                <a:ea typeface="Calibri"/>
                <a:cs typeface="Helvetica" panose="020B0604020202020204"/>
                <a:sym typeface="Calibri"/>
              </a:rPr>
              <a:t>Used for hyperphosphatemia despite dietary restriction</a:t>
            </a:r>
            <a:endParaRPr lang="en-US" sz="3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1"/>
          <p:cNvSpPr txBox="1">
            <a:spLocks noGrp="1"/>
          </p:cNvSpPr>
          <p:nvPr>
            <p:ph type="title"/>
          </p:nvPr>
        </p:nvSpPr>
        <p:spPr>
          <a:xfrm>
            <a:off x="238125" y="178594"/>
            <a:ext cx="8596312" cy="1035844"/>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dirty="0">
                <a:ea typeface="Calibri"/>
                <a:cs typeface="Calibri"/>
                <a:sym typeface="Calibri"/>
              </a:rPr>
              <a:t>Treatment of Secondary HPT in CKD</a:t>
            </a:r>
            <a:endParaRPr dirty="0"/>
          </a:p>
        </p:txBody>
      </p:sp>
      <p:sp>
        <p:nvSpPr>
          <p:cNvPr id="492" name="Google Shape;492;p61"/>
          <p:cNvSpPr txBox="1">
            <a:spLocks noGrp="1"/>
          </p:cNvSpPr>
          <p:nvPr>
            <p:ph type="body" idx="1"/>
          </p:nvPr>
        </p:nvSpPr>
        <p:spPr>
          <a:xfrm>
            <a:off x="428626" y="1214437"/>
            <a:ext cx="8187054" cy="5464969"/>
          </a:xfrm>
          <a:prstGeom prst="rect">
            <a:avLst/>
          </a:prstGeom>
          <a:noFill/>
          <a:ln>
            <a:noFill/>
          </a:ln>
        </p:spPr>
        <p:txBody>
          <a:bodyPr spcFirstLastPara="1" vert="horz" wrap="square" lIns="35719" tIns="35719" rIns="35719" bIns="35719" rtlCol="0" anchor="t" anchorCtr="0">
            <a:noAutofit/>
          </a:bodyPr>
          <a:lstStyle/>
          <a:p>
            <a:pPr marL="0" indent="0">
              <a:lnSpc>
                <a:spcPct val="100000"/>
              </a:lnSpc>
              <a:spcBef>
                <a:spcPts val="844"/>
              </a:spcBef>
              <a:buClr>
                <a:srgbClr val="000000"/>
              </a:buClr>
              <a:buSzPts val="4400"/>
              <a:buNone/>
            </a:pPr>
            <a:r>
              <a:rPr lang="en-US" sz="2600" b="1" i="1" dirty="0">
                <a:latin typeface="Helvetica" panose="020B0604020202020204" pitchFamily="34" charset="0"/>
                <a:ea typeface="Calibri"/>
                <a:cs typeface="Helvetica" panose="020B0604020202020204" pitchFamily="34" charset="0"/>
                <a:sym typeface="Calibri"/>
              </a:rPr>
              <a:t>3. Treating low vitamin D </a:t>
            </a:r>
            <a:r>
              <a:rPr lang="en-US" sz="2600" dirty="0">
                <a:latin typeface="Helvetica" panose="020B0604020202020204" pitchFamily="34" charset="0"/>
                <a:ea typeface="Calibri"/>
                <a:cs typeface="Helvetica" panose="020B0604020202020204" pitchFamily="34" charset="0"/>
                <a:sym typeface="Calibri"/>
              </a:rPr>
              <a:t>will improve calcium absorption from the gut.  These medicines can be given IV after dialysis or orally.</a:t>
            </a:r>
          </a:p>
          <a:p>
            <a:pPr marL="0" indent="0">
              <a:lnSpc>
                <a:spcPct val="100000"/>
              </a:lnSpc>
              <a:spcBef>
                <a:spcPts val="844"/>
              </a:spcBef>
              <a:buClr>
                <a:srgbClr val="000000"/>
              </a:buClr>
              <a:buSzPts val="4400"/>
              <a:buNone/>
            </a:pPr>
            <a:endParaRPr lang="en-US" sz="2600" dirty="0">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A4C08F19-C698-CDCB-DA6A-A3611A4B0506}"/>
              </a:ext>
            </a:extLst>
          </p:cNvPr>
          <p:cNvSpPr txBox="1"/>
          <p:nvPr/>
        </p:nvSpPr>
        <p:spPr>
          <a:xfrm>
            <a:off x="543344" y="3098643"/>
            <a:ext cx="7985874" cy="2893100"/>
          </a:xfrm>
          <a:prstGeom prst="rect">
            <a:avLst/>
          </a:prstGeom>
          <a:noFill/>
        </p:spPr>
        <p:txBody>
          <a:bodyPr wrap="square" rtlCol="0">
            <a:spAutoFit/>
          </a:bodyPr>
          <a:lstStyle/>
          <a:p>
            <a:pPr marL="285750" indent="-285750">
              <a:buFont typeface="Arial" panose="020B0604020202020204" pitchFamily="34" charset="0"/>
              <a:buChar char="•"/>
            </a:pPr>
            <a:r>
              <a:rPr lang="en-US" sz="2600" b="1" dirty="0">
                <a:latin typeface="Helvetica" panose="020B0604020202020204" pitchFamily="34" charset="0"/>
                <a:cs typeface="Helvetica" panose="020B0604020202020204" pitchFamily="34" charset="0"/>
              </a:rPr>
              <a:t>Calcitriol: </a:t>
            </a:r>
            <a:r>
              <a:rPr lang="en-US" sz="2600" dirty="0">
                <a:latin typeface="Helvetica" panose="020B0604020202020204" pitchFamily="34" charset="0"/>
                <a:cs typeface="Helvetica" panose="020B0604020202020204" pitchFamily="34" charset="0"/>
              </a:rPr>
              <a:t>the </a:t>
            </a:r>
            <a:r>
              <a:rPr lang="en-US" sz="2600" b="1" dirty="0">
                <a:latin typeface="Helvetica" panose="020B0604020202020204" pitchFamily="34" charset="0"/>
                <a:cs typeface="Helvetica" panose="020B0604020202020204" pitchFamily="34" charset="0"/>
              </a:rPr>
              <a:t>active </a:t>
            </a:r>
            <a:r>
              <a:rPr lang="en-US" sz="2600" dirty="0">
                <a:latin typeface="Helvetica" panose="020B0604020202020204" pitchFamily="34" charset="0"/>
                <a:cs typeface="Helvetica" panose="020B0604020202020204" pitchFamily="34" charset="0"/>
              </a:rPr>
              <a:t>metabolite of vitamin D </a:t>
            </a:r>
          </a:p>
          <a:p>
            <a:pPr marL="285750" indent="-285750">
              <a:buFont typeface="Arial" panose="020B0604020202020204" pitchFamily="34" charset="0"/>
              <a:buChar char="•"/>
            </a:pPr>
            <a:endParaRPr lang="en-US" sz="26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600" b="1" dirty="0" err="1">
                <a:latin typeface="Helvetica" panose="020B0604020202020204" pitchFamily="34" charset="0"/>
                <a:cs typeface="Helvetica" panose="020B0604020202020204" pitchFamily="34" charset="0"/>
              </a:rPr>
              <a:t>Doxercalciferol</a:t>
            </a:r>
            <a:r>
              <a:rPr lang="en-US" sz="2600" b="1" dirty="0">
                <a:latin typeface="Helvetica" panose="020B0604020202020204" pitchFamily="34" charset="0"/>
                <a:cs typeface="Helvetica" panose="020B0604020202020204" pitchFamily="34" charset="0"/>
              </a:rPr>
              <a:t>: </a:t>
            </a:r>
            <a:r>
              <a:rPr lang="en-US" sz="2600" dirty="0">
                <a:latin typeface="Helvetica" panose="020B0604020202020204" pitchFamily="34" charset="0"/>
                <a:cs typeface="Helvetica" panose="020B0604020202020204" pitchFamily="34" charset="0"/>
              </a:rPr>
              <a:t>synthetic vitamin D2 analog, must be metabolized to the active form of vitamin D</a:t>
            </a:r>
          </a:p>
          <a:p>
            <a:pPr marL="285750" indent="-285750">
              <a:buFont typeface="Arial" panose="020B0604020202020204" pitchFamily="34" charset="0"/>
              <a:buChar char="•"/>
            </a:pPr>
            <a:endParaRPr lang="en-US" sz="26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2600" b="1" dirty="0">
                <a:latin typeface="Helvetica" panose="020B0604020202020204" pitchFamily="34" charset="0"/>
                <a:cs typeface="Helvetica" panose="020B0604020202020204" pitchFamily="34" charset="0"/>
              </a:rPr>
              <a:t>Paricalcitol: </a:t>
            </a:r>
            <a:r>
              <a:rPr lang="en-US" sz="2600" dirty="0">
                <a:latin typeface="Helvetica" panose="020B0604020202020204" pitchFamily="34" charset="0"/>
                <a:cs typeface="Helvetica" panose="020B0604020202020204" pitchFamily="34" charset="0"/>
              </a:rPr>
              <a:t>a synthetic vitamin D analog that simulates the vitamin D receptor</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2"/>
          <p:cNvSpPr txBox="1">
            <a:spLocks noGrp="1"/>
          </p:cNvSpPr>
          <p:nvPr>
            <p:ph type="title"/>
          </p:nvPr>
        </p:nvSpPr>
        <p:spPr>
          <a:xfrm>
            <a:off x="110505" y="178594"/>
            <a:ext cx="8824764" cy="100012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4008" dirty="0">
                <a:latin typeface="Arial"/>
                <a:ea typeface="Arial"/>
                <a:cs typeface="Arial"/>
                <a:sym typeface="Arial"/>
              </a:rPr>
              <a:t>Treatment of Secondary HPT in CKD</a:t>
            </a:r>
            <a:endParaRPr dirty="0"/>
          </a:p>
        </p:txBody>
      </p:sp>
      <p:sp>
        <p:nvSpPr>
          <p:cNvPr id="498" name="Google Shape;498;p62"/>
          <p:cNvSpPr txBox="1">
            <a:spLocks noGrp="1"/>
          </p:cNvSpPr>
          <p:nvPr>
            <p:ph type="body" idx="1"/>
          </p:nvPr>
        </p:nvSpPr>
        <p:spPr>
          <a:xfrm>
            <a:off x="327414" y="1037891"/>
            <a:ext cx="8390945" cy="5500688"/>
          </a:xfrm>
          <a:prstGeom prst="rect">
            <a:avLst/>
          </a:prstGeom>
          <a:noFill/>
          <a:ln>
            <a:noFill/>
          </a:ln>
        </p:spPr>
        <p:txBody>
          <a:bodyPr spcFirstLastPara="1" vert="horz" wrap="square" lIns="35719" tIns="35719" rIns="35719" bIns="35719" rtlCol="0" anchor="t" anchorCtr="0">
            <a:noAutofit/>
          </a:bodyPr>
          <a:lstStyle/>
          <a:p>
            <a:pPr marL="401822" indent="-401822">
              <a:lnSpc>
                <a:spcPct val="100000"/>
              </a:lnSpc>
              <a:spcBef>
                <a:spcPts val="844"/>
              </a:spcBef>
              <a:buSzPts val="3520"/>
            </a:pPr>
            <a:r>
              <a:rPr lang="en-US" dirty="0">
                <a:latin typeface="Helvetica" panose="020B0604020202020204" pitchFamily="34" charset="0"/>
                <a:ea typeface="Calibri"/>
                <a:cs typeface="Helvetica" panose="020B0604020202020204" pitchFamily="34" charset="0"/>
                <a:sym typeface="Calibri"/>
              </a:rPr>
              <a:t>The last option to treat secondary HPT caused by ESRD is a </a:t>
            </a:r>
            <a:r>
              <a:rPr lang="en-US" dirty="0" err="1">
                <a:latin typeface="Helvetica" panose="020B0604020202020204" pitchFamily="34" charset="0"/>
                <a:ea typeface="Calibri"/>
                <a:cs typeface="Helvetica" panose="020B0604020202020204" pitchFamily="34" charset="0"/>
                <a:sym typeface="Calibri"/>
              </a:rPr>
              <a:t>calcimimetic</a:t>
            </a:r>
            <a:r>
              <a:rPr lang="en-US" dirty="0">
                <a:latin typeface="Helvetica" panose="020B0604020202020204" pitchFamily="34" charset="0"/>
                <a:ea typeface="Calibri"/>
                <a:cs typeface="Helvetica" panose="020B0604020202020204" pitchFamily="34" charset="0"/>
                <a:sym typeface="Calibri"/>
              </a:rPr>
              <a:t> that </a:t>
            </a:r>
            <a:r>
              <a:rPr lang="en-US" b="1" i="1" dirty="0">
                <a:latin typeface="Helvetica" panose="020B0604020202020204" pitchFamily="34" charset="0"/>
                <a:ea typeface="Calibri"/>
                <a:cs typeface="Helvetica" panose="020B0604020202020204" pitchFamily="34" charset="0"/>
                <a:sym typeface="Calibri"/>
              </a:rPr>
              <a:t>enhances the sensitivity of the parathyroid calcium receptor.</a:t>
            </a:r>
          </a:p>
          <a:p>
            <a:pPr marL="401822" indent="-401822">
              <a:lnSpc>
                <a:spcPct val="100000"/>
              </a:lnSpc>
              <a:spcBef>
                <a:spcPts val="844"/>
              </a:spcBef>
              <a:buSzPts val="3520"/>
            </a:pPr>
            <a:endParaRPr dirty="0">
              <a:latin typeface="Helvetica" panose="020B0604020202020204" pitchFamily="34" charset="0"/>
              <a:ea typeface="Calibri"/>
              <a:cs typeface="Helvetica" panose="020B0604020202020204" pitchFamily="34" charset="0"/>
              <a:sym typeface="Calibri"/>
            </a:endParaRPr>
          </a:p>
          <a:p>
            <a:pPr marL="401822" indent="-401822">
              <a:lnSpc>
                <a:spcPct val="100000"/>
              </a:lnSpc>
              <a:spcBef>
                <a:spcPts val="1266"/>
              </a:spcBef>
              <a:buSzPts val="3520"/>
            </a:pPr>
            <a:r>
              <a:rPr lang="en-US" dirty="0">
                <a:latin typeface="Helvetica" panose="020B0604020202020204" pitchFamily="34" charset="0"/>
                <a:ea typeface="Calibri"/>
                <a:cs typeface="Helvetica" panose="020B0604020202020204" pitchFamily="34" charset="0"/>
                <a:sym typeface="Calibri"/>
              </a:rPr>
              <a:t>These drugs make the parathyroid receptor more sensitive to calcium, so the gland decreases secretion of PTH. Utilized in dialysis patients when PTH stays elevated.</a:t>
            </a:r>
          </a:p>
          <a:p>
            <a:pPr marL="1205465" lvl="3" indent="-401822">
              <a:lnSpc>
                <a:spcPct val="100000"/>
              </a:lnSpc>
              <a:spcBef>
                <a:spcPts val="1266"/>
              </a:spcBef>
              <a:buSzPts val="3200"/>
            </a:pPr>
            <a:r>
              <a:rPr lang="en-US" sz="2800" b="1" dirty="0">
                <a:latin typeface="Helvetica" panose="020B0604020202020204" pitchFamily="34" charset="0"/>
                <a:ea typeface="Calibri"/>
                <a:cs typeface="Helvetica" panose="020B0604020202020204" pitchFamily="34" charset="0"/>
                <a:sym typeface="Calibri"/>
              </a:rPr>
              <a:t>Cinacalcet (</a:t>
            </a:r>
            <a:r>
              <a:rPr lang="en-US" sz="2800" b="1" dirty="0" err="1">
                <a:latin typeface="Helvetica" panose="020B0604020202020204" pitchFamily="34" charset="0"/>
                <a:ea typeface="Calibri"/>
                <a:cs typeface="Helvetica" panose="020B0604020202020204" pitchFamily="34" charset="0"/>
                <a:sym typeface="Calibri"/>
              </a:rPr>
              <a:t>Sensipar</a:t>
            </a:r>
            <a:r>
              <a:rPr lang="en-US" sz="2800" b="1" dirty="0">
                <a:latin typeface="Helvetica" panose="020B0604020202020204" pitchFamily="34" charset="0"/>
                <a:ea typeface="Calibri"/>
                <a:cs typeface="Helvetica" panose="020B0604020202020204" pitchFamily="34" charset="0"/>
                <a:sym typeface="Calibri"/>
              </a:rPr>
              <a:t>): </a:t>
            </a:r>
            <a:r>
              <a:rPr lang="en-US" sz="2800" dirty="0">
                <a:latin typeface="Helvetica" panose="020B0604020202020204" pitchFamily="34" charset="0"/>
                <a:ea typeface="Calibri"/>
                <a:cs typeface="Helvetica" panose="020B0604020202020204" pitchFamily="34" charset="0"/>
                <a:sym typeface="Calibri"/>
              </a:rPr>
              <a:t>oral, most common</a:t>
            </a:r>
            <a:r>
              <a:rPr lang="en-US" sz="2800" b="1" dirty="0">
                <a:latin typeface="Helvetica" panose="020B0604020202020204" pitchFamily="34" charset="0"/>
                <a:ea typeface="Calibri"/>
                <a:cs typeface="Helvetica" panose="020B0604020202020204" pitchFamily="34" charset="0"/>
                <a:sym typeface="Calibri"/>
              </a:rPr>
              <a:t> </a:t>
            </a:r>
            <a:endParaRPr lang="en-US" sz="2800" dirty="0">
              <a:latin typeface="Helvetica" panose="020B0604020202020204" pitchFamily="34" charset="0"/>
              <a:ea typeface="Calibri"/>
              <a:cs typeface="Helvetica" panose="020B0604020202020204" pitchFamily="34" charset="0"/>
              <a:sym typeface="Calibri"/>
            </a:endParaRPr>
          </a:p>
          <a:p>
            <a:pPr marL="1205465" lvl="3" indent="-401822">
              <a:lnSpc>
                <a:spcPct val="100000"/>
              </a:lnSpc>
              <a:spcBef>
                <a:spcPts val="1266"/>
              </a:spcBef>
              <a:spcAft>
                <a:spcPts val="422"/>
              </a:spcAft>
              <a:buSzPts val="3200"/>
            </a:pPr>
            <a:r>
              <a:rPr lang="en-US" sz="2800" b="1" dirty="0" err="1">
                <a:latin typeface="Helvetica" panose="020B0604020202020204" pitchFamily="34" charset="0"/>
                <a:ea typeface="Calibri"/>
                <a:cs typeface="Helvetica" panose="020B0604020202020204" pitchFamily="34" charset="0"/>
                <a:sym typeface="Calibri"/>
              </a:rPr>
              <a:t>Etelcalcetide</a:t>
            </a:r>
            <a:r>
              <a:rPr lang="en-US" sz="2800" b="1" dirty="0">
                <a:latin typeface="Helvetica" panose="020B0604020202020204" pitchFamily="34" charset="0"/>
                <a:ea typeface="Calibri"/>
                <a:cs typeface="Helvetica" panose="020B0604020202020204" pitchFamily="34" charset="0"/>
                <a:sym typeface="Calibri"/>
              </a:rPr>
              <a:t> (</a:t>
            </a:r>
            <a:r>
              <a:rPr lang="en-US" sz="2800" b="1" dirty="0" err="1">
                <a:latin typeface="Helvetica" panose="020B0604020202020204" pitchFamily="34" charset="0"/>
                <a:ea typeface="Calibri"/>
                <a:cs typeface="Helvetica" panose="020B0604020202020204" pitchFamily="34" charset="0"/>
                <a:sym typeface="Calibri"/>
              </a:rPr>
              <a:t>Parsabiv</a:t>
            </a:r>
            <a:r>
              <a:rPr lang="en-US" sz="2800" b="1" dirty="0">
                <a:latin typeface="Helvetica" panose="020B0604020202020204" pitchFamily="34" charset="0"/>
                <a:ea typeface="Calibri"/>
                <a:cs typeface="Helvetica" panose="020B0604020202020204" pitchFamily="34" charset="0"/>
                <a:sym typeface="Calibri"/>
              </a:rPr>
              <a:t>): </a:t>
            </a:r>
            <a:r>
              <a:rPr lang="en-US" sz="2800" dirty="0">
                <a:latin typeface="Helvetica" panose="020B0604020202020204" pitchFamily="34" charset="0"/>
                <a:ea typeface="Calibri"/>
                <a:cs typeface="Helvetica" panose="020B0604020202020204" pitchFamily="34" charset="0"/>
                <a:sym typeface="Calibri"/>
              </a:rPr>
              <a:t>IV after HD, used less often</a:t>
            </a:r>
            <a:endParaRPr sz="2800"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00D00F78-6555-87F3-9767-83DDA9AA4603}"/>
            </a:ext>
          </a:extLst>
        </p:cNvPr>
        <p:cNvGrpSpPr/>
        <p:nvPr/>
      </p:nvGrpSpPr>
      <p:grpSpPr>
        <a:xfrm>
          <a:off x="0" y="0"/>
          <a:ext cx="0" cy="0"/>
          <a:chOff x="0" y="0"/>
          <a:chExt cx="0" cy="0"/>
        </a:xfrm>
      </p:grpSpPr>
      <p:sp>
        <p:nvSpPr>
          <p:cNvPr id="497" name="Google Shape;497;p62">
            <a:extLst>
              <a:ext uri="{FF2B5EF4-FFF2-40B4-BE49-F238E27FC236}">
                <a16:creationId xmlns:a16="http://schemas.microsoft.com/office/drawing/2014/main" id="{D9005855-609E-D259-6748-5A241D99058A}"/>
              </a:ext>
            </a:extLst>
          </p:cNvPr>
          <p:cNvSpPr txBox="1">
            <a:spLocks noGrp="1"/>
          </p:cNvSpPr>
          <p:nvPr>
            <p:ph type="title"/>
          </p:nvPr>
        </p:nvSpPr>
        <p:spPr>
          <a:xfrm>
            <a:off x="159618" y="526937"/>
            <a:ext cx="8824764" cy="100012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3200" dirty="0">
                <a:latin typeface="Helvetica Neue" panose="020B0604020202020204" charset="0"/>
                <a:cs typeface="Arial"/>
                <a:sym typeface="Arial"/>
              </a:rPr>
              <a:t>Summary of Medical Treatment </a:t>
            </a:r>
            <a:br>
              <a:rPr lang="en-US" sz="3200" dirty="0">
                <a:latin typeface="Helvetica Neue" panose="020B0604020202020204" charset="0"/>
                <a:cs typeface="Arial"/>
                <a:sym typeface="Arial"/>
              </a:rPr>
            </a:br>
            <a:r>
              <a:rPr lang="en-US" sz="3200" dirty="0">
                <a:latin typeface="Helvetica Neue" panose="020B0604020202020204" charset="0"/>
                <a:cs typeface="Arial"/>
                <a:sym typeface="Arial"/>
              </a:rPr>
              <a:t>of Secondary HPT in the CKD patient: </a:t>
            </a:r>
            <a:endParaRPr sz="3200" dirty="0">
              <a:latin typeface="Helvetica Neue" panose="020B0604020202020204" charset="0"/>
            </a:endParaRPr>
          </a:p>
        </p:txBody>
      </p:sp>
      <p:graphicFrame>
        <p:nvGraphicFramePr>
          <p:cNvPr id="4" name="Table 3">
            <a:extLst>
              <a:ext uri="{FF2B5EF4-FFF2-40B4-BE49-F238E27FC236}">
                <a16:creationId xmlns:a16="http://schemas.microsoft.com/office/drawing/2014/main" id="{3ED25B4A-1044-5493-449E-1BDA0F019091}"/>
              </a:ext>
            </a:extLst>
          </p:cNvPr>
          <p:cNvGraphicFramePr>
            <a:graphicFrameLocks noGrp="1"/>
          </p:cNvGraphicFramePr>
          <p:nvPr>
            <p:extLst>
              <p:ext uri="{D42A27DB-BD31-4B8C-83A1-F6EECF244321}">
                <p14:modId xmlns:p14="http://schemas.microsoft.com/office/powerpoint/2010/main" val="1179545664"/>
              </p:ext>
            </p:extLst>
          </p:nvPr>
        </p:nvGraphicFramePr>
        <p:xfrm>
          <a:off x="310231" y="1843273"/>
          <a:ext cx="8523538" cy="3810000"/>
        </p:xfrm>
        <a:graphic>
          <a:graphicData uri="http://schemas.openxmlformats.org/drawingml/2006/table">
            <a:tbl>
              <a:tblPr firstRow="1" bandRow="1">
                <a:tableStyleId>{5C22544A-7EE6-4342-B048-85BDC9FD1C3A}</a:tableStyleId>
              </a:tblPr>
              <a:tblGrid>
                <a:gridCol w="4315961">
                  <a:extLst>
                    <a:ext uri="{9D8B030D-6E8A-4147-A177-3AD203B41FA5}">
                      <a16:colId xmlns:a16="http://schemas.microsoft.com/office/drawing/2014/main" val="1853994211"/>
                    </a:ext>
                  </a:extLst>
                </a:gridCol>
                <a:gridCol w="4207577">
                  <a:extLst>
                    <a:ext uri="{9D8B030D-6E8A-4147-A177-3AD203B41FA5}">
                      <a16:colId xmlns:a16="http://schemas.microsoft.com/office/drawing/2014/main" val="2760637936"/>
                    </a:ext>
                  </a:extLst>
                </a:gridCol>
              </a:tblGrid>
              <a:tr h="370840">
                <a:tc>
                  <a:txBody>
                    <a:bodyPr/>
                    <a:lstStyle/>
                    <a:p>
                      <a:r>
                        <a:rPr lang="en-US" sz="2200" dirty="0">
                          <a:latin typeface="Helvetica Neue" panose="020B0604020202020204" charset="0"/>
                        </a:rPr>
                        <a:t>Treatment</a:t>
                      </a:r>
                    </a:p>
                  </a:txBody>
                  <a:tcPr/>
                </a:tc>
                <a:tc>
                  <a:txBody>
                    <a:bodyPr/>
                    <a:lstStyle/>
                    <a:p>
                      <a:r>
                        <a:rPr lang="en-US" sz="2200" dirty="0">
                          <a:latin typeface="Helvetica Neue" panose="020B0604020202020204" charset="0"/>
                        </a:rPr>
                        <a:t>Medications</a:t>
                      </a:r>
                    </a:p>
                  </a:txBody>
                  <a:tcPr/>
                </a:tc>
                <a:extLst>
                  <a:ext uri="{0D108BD9-81ED-4DB2-BD59-A6C34878D82A}">
                    <a16:rowId xmlns:a16="http://schemas.microsoft.com/office/drawing/2014/main" val="55048389"/>
                  </a:ext>
                </a:extLst>
              </a:tr>
              <a:tr h="370840">
                <a:tc>
                  <a:txBody>
                    <a:bodyPr/>
                    <a:lstStyle/>
                    <a:p>
                      <a:r>
                        <a:rPr lang="en-US" sz="2200" dirty="0">
                          <a:latin typeface="Helvetica Neue" panose="020B0604020202020204" charset="0"/>
                        </a:rPr>
                        <a:t>First line – limit phosphate in diet</a:t>
                      </a:r>
                    </a:p>
                  </a:txBody>
                  <a:tcPr/>
                </a:tc>
                <a:tc>
                  <a:txBody>
                    <a:bodyPr/>
                    <a:lstStyle/>
                    <a:p>
                      <a:r>
                        <a:rPr lang="en-US" sz="2200" dirty="0">
                          <a:latin typeface="Helvetica Neue" panose="020B0604020202020204" charset="0"/>
                          <a:sym typeface="Wingdings" panose="05000000000000000000" pitchFamily="2" charset="2"/>
                        </a:rPr>
                        <a:t>None  Patient education</a:t>
                      </a:r>
                      <a:endParaRPr lang="en-US" sz="2200" dirty="0">
                        <a:latin typeface="Helvetica Neue" panose="020B0604020202020204" charset="0"/>
                      </a:endParaRPr>
                    </a:p>
                  </a:txBody>
                  <a:tcPr/>
                </a:tc>
                <a:extLst>
                  <a:ext uri="{0D108BD9-81ED-4DB2-BD59-A6C34878D82A}">
                    <a16:rowId xmlns:a16="http://schemas.microsoft.com/office/drawing/2014/main" val="1195716855"/>
                  </a:ext>
                </a:extLst>
              </a:tr>
              <a:tr h="370840">
                <a:tc>
                  <a:txBody>
                    <a:bodyPr/>
                    <a:lstStyle/>
                    <a:p>
                      <a:r>
                        <a:rPr lang="en-US" sz="2200" dirty="0">
                          <a:latin typeface="Helvetica Neue" panose="020B0604020202020204" charset="0"/>
                        </a:rPr>
                        <a:t>Second line – phosphate binders</a:t>
                      </a:r>
                    </a:p>
                  </a:txBody>
                  <a:tcPr/>
                </a:tc>
                <a:tc>
                  <a:txBody>
                    <a:bodyPr/>
                    <a:lstStyle/>
                    <a:p>
                      <a:r>
                        <a:rPr lang="en-US" sz="2200" dirty="0">
                          <a:latin typeface="Helvetica Neue" panose="020B0604020202020204" charset="0"/>
                        </a:rPr>
                        <a:t>Phosphate binders may contain calcium, or not </a:t>
                      </a:r>
                    </a:p>
                  </a:txBody>
                  <a:tcPr/>
                </a:tc>
                <a:extLst>
                  <a:ext uri="{0D108BD9-81ED-4DB2-BD59-A6C34878D82A}">
                    <a16:rowId xmlns:a16="http://schemas.microsoft.com/office/drawing/2014/main" val="1827367183"/>
                  </a:ext>
                </a:extLst>
              </a:tr>
              <a:tr h="0">
                <a:tc>
                  <a:txBody>
                    <a:bodyPr/>
                    <a:lstStyle/>
                    <a:p>
                      <a:r>
                        <a:rPr lang="en-US" sz="2200" dirty="0">
                          <a:latin typeface="Helvetica Neue" panose="020B0604020202020204" charset="0"/>
                        </a:rPr>
                        <a:t>Vitamin D supplements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latin typeface="Helvetica Neue" panose="020B0604020202020204" charset="0"/>
                        </a:rPr>
                        <a:t>Calcitriol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err="1">
                          <a:latin typeface="Helvetica Neue" panose="020B0604020202020204" charset="0"/>
                        </a:rPr>
                        <a:t>Doxercalciferol</a:t>
                      </a:r>
                      <a:endParaRPr lang="en-US" sz="2200" dirty="0">
                        <a:latin typeface="Helvetica Neue" panose="020B060402020202020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latin typeface="Helvetica Neue" panose="020B0604020202020204" charset="0"/>
                        </a:rPr>
                        <a:t>Paricalcitol</a:t>
                      </a:r>
                    </a:p>
                    <a:p>
                      <a:endParaRPr lang="en-US" sz="2200" dirty="0">
                        <a:latin typeface="Helvetica Neue" panose="020B0604020202020204" charset="0"/>
                      </a:endParaRPr>
                    </a:p>
                  </a:txBody>
                  <a:tcPr/>
                </a:tc>
                <a:extLst>
                  <a:ext uri="{0D108BD9-81ED-4DB2-BD59-A6C34878D82A}">
                    <a16:rowId xmlns:a16="http://schemas.microsoft.com/office/drawing/2014/main" val="3039133196"/>
                  </a:ext>
                </a:extLst>
              </a:tr>
              <a:tr h="370840">
                <a:tc>
                  <a:txBody>
                    <a:bodyPr/>
                    <a:lstStyle/>
                    <a:p>
                      <a:r>
                        <a:rPr lang="en-US" sz="2200" dirty="0" err="1">
                          <a:latin typeface="Helvetica Neue" panose="020B0604020202020204" charset="0"/>
                        </a:rPr>
                        <a:t>Calcimimetics</a:t>
                      </a:r>
                      <a:r>
                        <a:rPr lang="en-US" sz="2200" dirty="0">
                          <a:latin typeface="Helvetica Neue" panose="020B0604020202020204" charset="0"/>
                        </a:rPr>
                        <a:t> (for HD pts only)</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latin typeface="Helvetica Neue" panose="020B0604020202020204" charset="0"/>
                        </a:rPr>
                        <a:t>Cinacalcet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err="1">
                          <a:latin typeface="Helvetica Neue" panose="020B0604020202020204" charset="0"/>
                        </a:rPr>
                        <a:t>Etelcalcetide</a:t>
                      </a:r>
                      <a:r>
                        <a:rPr lang="en-US" sz="2200" dirty="0">
                          <a:latin typeface="Helvetica Neue" panose="020B0604020202020204" charset="0"/>
                        </a:rPr>
                        <a:t> </a:t>
                      </a:r>
                    </a:p>
                  </a:txBody>
                  <a:tcPr/>
                </a:tc>
                <a:extLst>
                  <a:ext uri="{0D108BD9-81ED-4DB2-BD59-A6C34878D82A}">
                    <a16:rowId xmlns:a16="http://schemas.microsoft.com/office/drawing/2014/main" val="1709559713"/>
                  </a:ext>
                </a:extLst>
              </a:tr>
            </a:tbl>
          </a:graphicData>
        </a:graphic>
      </p:graphicFrame>
    </p:spTree>
    <p:extLst>
      <p:ext uri="{BB962C8B-B14F-4D97-AF65-F5344CB8AC3E}">
        <p14:creationId xmlns:p14="http://schemas.microsoft.com/office/powerpoint/2010/main" val="37445686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4"/>
          <p:cNvSpPr txBox="1">
            <a:spLocks noGrp="1"/>
          </p:cNvSpPr>
          <p:nvPr>
            <p:ph type="title"/>
          </p:nvPr>
        </p:nvSpPr>
        <p:spPr>
          <a:xfrm>
            <a:off x="61392" y="160735"/>
            <a:ext cx="9018984" cy="1446609"/>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000" dirty="0">
                <a:latin typeface="Arial" panose="020B0604020202020204" pitchFamily="34" charset="0"/>
                <a:ea typeface="Helvetica Neue"/>
                <a:cs typeface="Arial" panose="020B0604020202020204" pitchFamily="34" charset="0"/>
                <a:sym typeface="Helvetica Neue"/>
              </a:rPr>
              <a:t>Surgical Treatment of Secondary</a:t>
            </a:r>
            <a:br>
              <a:rPr lang="en-US" sz="4000" dirty="0">
                <a:latin typeface="Arial" panose="020B0604020202020204" pitchFamily="34" charset="0"/>
                <a:ea typeface="Helvetica Neue"/>
                <a:cs typeface="Arial" panose="020B0604020202020204" pitchFamily="34" charset="0"/>
                <a:sym typeface="Helvetica Neue"/>
              </a:rPr>
            </a:br>
            <a:r>
              <a:rPr lang="en-US" sz="4000" dirty="0">
                <a:latin typeface="Arial" panose="020B0604020202020204" pitchFamily="34" charset="0"/>
                <a:ea typeface="Helvetica Neue"/>
                <a:cs typeface="Arial" panose="020B0604020202020204" pitchFamily="34" charset="0"/>
                <a:sym typeface="Helvetica Neue"/>
              </a:rPr>
              <a:t>(and Tertiary) HPT</a:t>
            </a:r>
            <a:endParaRPr sz="4000" dirty="0">
              <a:latin typeface="Arial" panose="020B0604020202020204" pitchFamily="34" charset="0"/>
              <a:cs typeface="Arial" panose="020B0604020202020204" pitchFamily="34" charset="0"/>
            </a:endParaRPr>
          </a:p>
        </p:txBody>
      </p:sp>
      <p:sp>
        <p:nvSpPr>
          <p:cNvPr id="510" name="Google Shape;510;p64"/>
          <p:cNvSpPr txBox="1">
            <a:spLocks noGrp="1"/>
          </p:cNvSpPr>
          <p:nvPr>
            <p:ph type="body" idx="1"/>
          </p:nvPr>
        </p:nvSpPr>
        <p:spPr>
          <a:xfrm>
            <a:off x="163459" y="1754457"/>
            <a:ext cx="8825759" cy="4942808"/>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0"/>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Patients who fail aggressive medical management of their secondary hyperparathyroidism may undergo a partial parathyroidectomy with removal of 3 ½ parathyroid glands to decrease the secretion of PTH.</a:t>
            </a:r>
            <a:endParaRPr dirty="0">
              <a:latin typeface="Helvetica" panose="020B0604020202020204" pitchFamily="34" charset="0"/>
              <a:cs typeface="Helvetica" panose="020B0604020202020204" pitchFamily="34" charset="0"/>
            </a:endParaRPr>
          </a:p>
          <a:p>
            <a:pPr marL="267881" indent="-110724">
              <a:lnSpc>
                <a:spcPct val="100000"/>
              </a:lnSpc>
              <a:spcBef>
                <a:spcPts val="492"/>
              </a:spcBef>
              <a:buClr>
                <a:srgbClr val="000000"/>
              </a:buClr>
              <a:buSzPts val="3520"/>
              <a:buNone/>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Alternatively, a total parathyroidectomy with or without auto transplantation is done.  Parathyroid tissue may be cryopreserved in the event of hypoparathyroidism development.</a:t>
            </a:r>
            <a:endParaRPr dirty="0">
              <a:latin typeface="Helvetica" panose="020B0604020202020204" pitchFamily="34" charset="0"/>
              <a:cs typeface="Helvetica"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516BF7-BF6B-88BB-8B36-2BB0470F9232}"/>
              </a:ext>
            </a:extLst>
          </p:cNvPr>
          <p:cNvSpPr>
            <a:spLocks noGrp="1"/>
          </p:cNvSpPr>
          <p:nvPr>
            <p:ph type="sldNum" sz="quarter" idx="12"/>
          </p:nvPr>
        </p:nvSpPr>
        <p:spPr/>
        <p:txBody>
          <a:bodyPr/>
          <a:lstStyle/>
          <a:p>
            <a:fld id="{1E422F9A-6EE9-44F0-9560-5F04B1DEB4A3}" type="slidenum">
              <a:rPr lang="en-US" smtClean="0"/>
              <a:t>86</a:t>
            </a:fld>
            <a:endParaRPr lang="en-US"/>
          </a:p>
        </p:txBody>
      </p:sp>
      <p:pic>
        <p:nvPicPr>
          <p:cNvPr id="10" name="Content Placeholder 9" descr="Tertiary Hyperparathyroidism&#10;">
            <a:extLst>
              <a:ext uri="{FF2B5EF4-FFF2-40B4-BE49-F238E27FC236}">
                <a16:creationId xmlns:a16="http://schemas.microsoft.com/office/drawing/2014/main" id="{5F954B32-8E68-3873-664E-3C4F3AF045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0493" y="395757"/>
            <a:ext cx="7854857" cy="5891144"/>
          </a:xfrm>
        </p:spPr>
      </p:pic>
    </p:spTree>
    <p:extLst>
      <p:ext uri="{BB962C8B-B14F-4D97-AF65-F5344CB8AC3E}">
        <p14:creationId xmlns:p14="http://schemas.microsoft.com/office/powerpoint/2010/main" val="36257672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5"/>
          <p:cNvSpPr txBox="1">
            <a:spLocks noGrp="1"/>
          </p:cNvSpPr>
          <p:nvPr>
            <p:ph type="title"/>
          </p:nvPr>
        </p:nvSpPr>
        <p:spPr>
          <a:xfrm>
            <a:off x="380628" y="0"/>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Tertiary Hyperparathyroidism</a:t>
            </a:r>
            <a:endParaRPr/>
          </a:p>
        </p:txBody>
      </p:sp>
      <p:sp>
        <p:nvSpPr>
          <p:cNvPr id="516" name="Google Shape;516;p65"/>
          <p:cNvSpPr txBox="1">
            <a:spLocks noGrp="1"/>
          </p:cNvSpPr>
          <p:nvPr>
            <p:ph type="body" idx="1"/>
          </p:nvPr>
        </p:nvSpPr>
        <p:spPr>
          <a:xfrm>
            <a:off x="125015" y="1143000"/>
            <a:ext cx="8893969" cy="5607844"/>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422"/>
              </a:spcBef>
              <a:buClr>
                <a:srgbClr val="000000"/>
              </a:buClr>
              <a:buSzPts val="3600"/>
              <a:buFont typeface="Calibri"/>
              <a:buChar char="•"/>
            </a:pPr>
            <a:r>
              <a:rPr lang="en-US" dirty="0">
                <a:latin typeface="Helvetica" panose="020B0604020202020204" pitchFamily="34" charset="0"/>
                <a:ea typeface="Calibri"/>
                <a:cs typeface="Helvetica" panose="020B0604020202020204" pitchFamily="34" charset="0"/>
                <a:sym typeface="Calibri"/>
              </a:rPr>
              <a:t>Occurs in patients with </a:t>
            </a:r>
            <a:r>
              <a:rPr lang="en-US" b="1" dirty="0">
                <a:latin typeface="Helvetica" panose="020B0604020202020204" pitchFamily="34" charset="0"/>
                <a:ea typeface="Calibri"/>
                <a:cs typeface="Helvetica" panose="020B0604020202020204" pitchFamily="34" charset="0"/>
                <a:sym typeface="Calibri"/>
              </a:rPr>
              <a:t>long-standing CKD after renal transplant.</a:t>
            </a:r>
            <a:endParaRPr dirty="0">
              <a:latin typeface="Helvetica" panose="020B0604020202020204" pitchFamily="34" charset="0"/>
              <a:ea typeface="Calibri"/>
              <a:cs typeface="Helvetica" panose="020B0604020202020204" pitchFamily="34" charset="0"/>
              <a:sym typeface="Calibri"/>
            </a:endParaRPr>
          </a:p>
          <a:p>
            <a:pPr marL="267881" indent="-107152">
              <a:lnSpc>
                <a:spcPct val="100000"/>
              </a:lnSpc>
              <a:spcBef>
                <a:spcPts val="844"/>
              </a:spcBef>
              <a:buClr>
                <a:srgbClr val="000000"/>
              </a:buClr>
              <a:buSzPts val="3600"/>
              <a:buNone/>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844"/>
              </a:spcBef>
              <a:buClr>
                <a:srgbClr val="000000"/>
              </a:buClr>
              <a:buSzPts val="3600"/>
              <a:buFont typeface="Calibri"/>
              <a:buChar char="•"/>
            </a:pPr>
            <a:r>
              <a:rPr lang="en-US" b="1" dirty="0">
                <a:latin typeface="Helvetica" panose="020B0604020202020204" pitchFamily="34" charset="0"/>
                <a:ea typeface="Calibri"/>
                <a:cs typeface="Helvetica" panose="020B0604020202020204" pitchFamily="34" charset="0"/>
                <a:sym typeface="Calibri"/>
              </a:rPr>
              <a:t>Parathyroid glands that have been excessively stimulated for several years by CKD, fail to recognize normalization of serum calcium levels following the renal transplant.</a:t>
            </a:r>
            <a:endParaRPr dirty="0">
              <a:latin typeface="Helvetica" panose="020B0604020202020204" pitchFamily="34" charset="0"/>
              <a:ea typeface="Calibri"/>
              <a:cs typeface="Helvetica" panose="020B0604020202020204" pitchFamily="34" charset="0"/>
              <a:sym typeface="Calibri"/>
            </a:endParaRPr>
          </a:p>
          <a:p>
            <a:pPr marL="267881" indent="-107152">
              <a:lnSpc>
                <a:spcPct val="100000"/>
              </a:lnSpc>
              <a:spcBef>
                <a:spcPts val="844"/>
              </a:spcBef>
              <a:buClr>
                <a:srgbClr val="000000"/>
              </a:buClr>
              <a:buSzPts val="3600"/>
              <a:buNone/>
            </a:pPr>
            <a:endParaRPr b="1" i="1"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844"/>
              </a:spcBef>
              <a:spcAft>
                <a:spcPts val="422"/>
              </a:spcAft>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The parathyroids continue to autonomously produce excessive parathyroid hormone resulting in hypercalcemia and hypophosphatemia.</a:t>
            </a:r>
            <a:endParaRPr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BFFD2D-2BCA-9CE2-07D5-007A6B58F4DB}"/>
              </a:ext>
            </a:extLst>
          </p:cNvPr>
          <p:cNvSpPr>
            <a:spLocks noGrp="1"/>
          </p:cNvSpPr>
          <p:nvPr>
            <p:ph type="sldNum" sz="quarter" idx="12"/>
          </p:nvPr>
        </p:nvSpPr>
        <p:spPr/>
        <p:txBody>
          <a:bodyPr/>
          <a:lstStyle/>
          <a:p>
            <a:fld id="{1E422F9A-6EE9-44F0-9560-5F04B1DEB4A3}" type="slidenum">
              <a:rPr lang="en-US" smtClean="0"/>
              <a:t>88</a:t>
            </a:fld>
            <a:endParaRPr lang="en-US"/>
          </a:p>
        </p:txBody>
      </p:sp>
      <p:pic>
        <p:nvPicPr>
          <p:cNvPr id="12" name="Picture 11">
            <a:extLst>
              <a:ext uri="{FF2B5EF4-FFF2-40B4-BE49-F238E27FC236}">
                <a16:creationId xmlns:a16="http://schemas.microsoft.com/office/drawing/2014/main" id="{0540AD39-22EB-5C65-89A0-6B77163B0A70}"/>
              </a:ext>
            </a:extLst>
          </p:cNvPr>
          <p:cNvPicPr>
            <a:picLocks noChangeAspect="1"/>
          </p:cNvPicPr>
          <p:nvPr/>
        </p:nvPicPr>
        <p:blipFill>
          <a:blip r:embed="rId2">
            <a:extLst>
              <a:ext uri="{28A0092B-C50C-407E-A947-70E740481C1C}">
                <a14:useLocalDpi xmlns:a14="http://schemas.microsoft.com/office/drawing/2010/main" val="0"/>
              </a:ext>
            </a:extLst>
          </a:blip>
          <a:srcRect l="7705" t="5699" r="30820" b="18734"/>
          <a:stretch>
            <a:fillRect/>
          </a:stretch>
        </p:blipFill>
        <p:spPr>
          <a:xfrm>
            <a:off x="403300" y="1532255"/>
            <a:ext cx="5098091" cy="3289967"/>
          </a:xfrm>
          <a:prstGeom prst="rect">
            <a:avLst/>
          </a:prstGeom>
        </p:spPr>
      </p:pic>
      <p:pic>
        <p:nvPicPr>
          <p:cNvPr id="16" name="Picture 15">
            <a:extLst>
              <a:ext uri="{FF2B5EF4-FFF2-40B4-BE49-F238E27FC236}">
                <a16:creationId xmlns:a16="http://schemas.microsoft.com/office/drawing/2014/main" id="{21D32717-A483-9970-53B1-14055CAD9B7A}"/>
              </a:ext>
            </a:extLst>
          </p:cNvPr>
          <p:cNvPicPr>
            <a:picLocks noChangeAspect="1"/>
          </p:cNvPicPr>
          <p:nvPr/>
        </p:nvPicPr>
        <p:blipFill>
          <a:blip r:embed="rId3">
            <a:extLst>
              <a:ext uri="{28A0092B-C50C-407E-A947-70E740481C1C}">
                <a14:useLocalDpi xmlns:a14="http://schemas.microsoft.com/office/drawing/2010/main" val="0"/>
              </a:ext>
            </a:extLst>
          </a:blip>
          <a:srcRect l="40165" t="6050" r="8360" b="47590"/>
          <a:stretch>
            <a:fillRect/>
          </a:stretch>
        </p:blipFill>
        <p:spPr>
          <a:xfrm>
            <a:off x="5101745" y="1232029"/>
            <a:ext cx="3816601" cy="1804604"/>
          </a:xfrm>
          <a:prstGeom prst="rect">
            <a:avLst/>
          </a:prstGeom>
        </p:spPr>
      </p:pic>
      <p:sp>
        <p:nvSpPr>
          <p:cNvPr id="18" name="TextBox 17">
            <a:extLst>
              <a:ext uri="{FF2B5EF4-FFF2-40B4-BE49-F238E27FC236}">
                <a16:creationId xmlns:a16="http://schemas.microsoft.com/office/drawing/2014/main" id="{251009EC-D900-5BDE-B094-74F3297334F3}"/>
              </a:ext>
            </a:extLst>
          </p:cNvPr>
          <p:cNvSpPr txBox="1"/>
          <p:nvPr/>
        </p:nvSpPr>
        <p:spPr>
          <a:xfrm>
            <a:off x="1040812" y="4910246"/>
            <a:ext cx="7062376" cy="830997"/>
          </a:xfrm>
          <a:prstGeom prst="rect">
            <a:avLst/>
          </a:prstGeom>
          <a:noFill/>
        </p:spPr>
        <p:txBody>
          <a:bodyPr wrap="square">
            <a:spAutoFit/>
          </a:bodyPr>
          <a:lstStyle/>
          <a:p>
            <a:pPr algn="ctr"/>
            <a:r>
              <a:rPr lang="en-US" sz="2400" b="1" dirty="0">
                <a:latin typeface="Helvetica" panose="020B0604020202020204" pitchFamily="34" charset="0"/>
                <a:cs typeface="Helvetica" panose="020B0604020202020204" pitchFamily="34" charset="0"/>
              </a:rPr>
              <a:t>Post kidney transplant in ESRD patient:</a:t>
            </a:r>
          </a:p>
          <a:p>
            <a:pPr algn="ctr"/>
            <a:r>
              <a:rPr lang="en-US" sz="2400" dirty="0">
                <a:latin typeface="Helvetica" panose="020B0604020202020204" pitchFamily="34" charset="0"/>
                <a:cs typeface="Helvetica" panose="020B0604020202020204" pitchFamily="34" charset="0"/>
              </a:rPr>
              <a:t>PTH levels persist </a:t>
            </a:r>
            <a:r>
              <a:rPr lang="en-US" sz="2400" dirty="0">
                <a:latin typeface="Helvetica" panose="020B0604020202020204" pitchFamily="34" charset="0"/>
                <a:cs typeface="Helvetica" panose="020B0604020202020204" pitchFamily="34" charset="0"/>
                <a:sym typeface="Wingdings" panose="05000000000000000000" pitchFamily="2" charset="2"/>
              </a:rPr>
              <a:t> high Ca and low PO4</a:t>
            </a:r>
            <a:endParaRPr lang="en-US" sz="2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2592956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66"/>
          <p:cNvSpPr txBox="1">
            <a:spLocks noGrp="1"/>
          </p:cNvSpPr>
          <p:nvPr>
            <p:ph type="title"/>
          </p:nvPr>
        </p:nvSpPr>
        <p:spPr>
          <a:xfrm>
            <a:off x="380628" y="0"/>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Tertiary Hyperparathyroidism</a:t>
            </a:r>
            <a:endParaRPr/>
          </a:p>
        </p:txBody>
      </p:sp>
      <p:sp>
        <p:nvSpPr>
          <p:cNvPr id="522" name="Google Shape;522;p66"/>
          <p:cNvSpPr txBox="1">
            <a:spLocks noGrp="1"/>
          </p:cNvSpPr>
          <p:nvPr>
            <p:ph type="body" idx="1"/>
          </p:nvPr>
        </p:nvSpPr>
        <p:spPr>
          <a:xfrm>
            <a:off x="382138" y="1294805"/>
            <a:ext cx="8380118" cy="5334372"/>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0"/>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This type of hyperparathyroidism may become resistant to </a:t>
            </a:r>
            <a:r>
              <a:rPr lang="en-US" dirty="0" err="1">
                <a:latin typeface="Helvetica" panose="020B0604020202020204" pitchFamily="34" charset="0"/>
                <a:ea typeface="Calibri"/>
                <a:cs typeface="Helvetica" panose="020B0604020202020204" pitchFamily="34" charset="0"/>
                <a:sym typeface="Calibri"/>
              </a:rPr>
              <a:t>calcimimetic</a:t>
            </a:r>
            <a:r>
              <a:rPr lang="en-US" dirty="0">
                <a:latin typeface="Helvetica" panose="020B0604020202020204" pitchFamily="34" charset="0"/>
                <a:ea typeface="Calibri"/>
                <a:cs typeface="Helvetica" panose="020B0604020202020204" pitchFamily="34" charset="0"/>
                <a:sym typeface="Calibri"/>
              </a:rPr>
              <a:t> treatment.</a:t>
            </a:r>
            <a:endParaRPr dirty="0">
              <a:latin typeface="Helvetica" panose="020B0604020202020204" pitchFamily="34" charset="0"/>
              <a:cs typeface="Helvetica" panose="020B0604020202020204" pitchFamily="34" charset="0"/>
            </a:endParaRPr>
          </a:p>
          <a:p>
            <a:pPr marL="267881" indent="-110724">
              <a:lnSpc>
                <a:spcPct val="100000"/>
              </a:lnSpc>
              <a:spcBef>
                <a:spcPts val="492"/>
              </a:spcBef>
              <a:buClr>
                <a:srgbClr val="000000"/>
              </a:buClr>
              <a:buSzPts val="3520"/>
              <a:buNone/>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520"/>
              <a:buFont typeface="Calibri"/>
              <a:buChar char="•"/>
            </a:pPr>
            <a:r>
              <a:rPr lang="en-US" dirty="0">
                <a:latin typeface="Helvetica" panose="020B0604020202020204" pitchFamily="34" charset="0"/>
                <a:ea typeface="Calibri"/>
                <a:cs typeface="Helvetica" panose="020B0604020202020204" pitchFamily="34" charset="0"/>
                <a:sym typeface="Calibri"/>
              </a:rPr>
              <a:t>This is particularly dangerous because such high levels of calcium in the blood may lead to diffuse calcification can occur in the body tissues.</a:t>
            </a:r>
            <a:endParaRPr dirty="0">
              <a:latin typeface="Helvetica" panose="020B0604020202020204" pitchFamily="34" charset="0"/>
              <a:cs typeface="Helvetica" panose="020B0604020202020204" pitchFamily="34" charset="0"/>
            </a:endParaRPr>
          </a:p>
          <a:p>
            <a:pPr marL="267881" indent="-110724">
              <a:lnSpc>
                <a:spcPct val="100000"/>
              </a:lnSpc>
              <a:spcBef>
                <a:spcPts val="492"/>
              </a:spcBef>
              <a:buClr>
                <a:srgbClr val="000000"/>
              </a:buClr>
              <a:buSzPts val="3520"/>
              <a:buNone/>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492"/>
              </a:spcBef>
              <a:buClr>
                <a:srgbClr val="000000"/>
              </a:buClr>
              <a:buSzPts val="3520"/>
              <a:buFont typeface="Calibri"/>
              <a:buChar char="•"/>
            </a:pPr>
            <a:r>
              <a:rPr lang="en-US" b="1" i="1" dirty="0">
                <a:latin typeface="Helvetica" panose="020B0604020202020204" pitchFamily="34" charset="0"/>
                <a:ea typeface="Calibri"/>
                <a:cs typeface="Helvetica" panose="020B0604020202020204" pitchFamily="34" charset="0"/>
                <a:sym typeface="Calibri"/>
              </a:rPr>
              <a:t>Treatment is surgical </a:t>
            </a:r>
            <a:r>
              <a:rPr lang="en-US" dirty="0">
                <a:latin typeface="Helvetica" panose="020B0604020202020204" pitchFamily="34" charset="0"/>
                <a:ea typeface="Calibri"/>
                <a:cs typeface="Helvetica" panose="020B0604020202020204" pitchFamily="34" charset="0"/>
                <a:sym typeface="Calibri"/>
              </a:rPr>
              <a:t>– with either a total parathyroidectomy with auto transplantation or subtotal parathyroidectomy (3.5) as previously described.</a:t>
            </a:r>
            <a:endParaRPr dirty="0">
              <a:latin typeface="Helvetica" panose="020B0604020202020204" pitchFamily="34" charset="0"/>
              <a:cs typeface="Helvetica" panose="020B0604020202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3" name="Picture 2">
            <a:extLst>
              <a:ext uri="{FF2B5EF4-FFF2-40B4-BE49-F238E27FC236}">
                <a16:creationId xmlns:a16="http://schemas.microsoft.com/office/drawing/2014/main" id="{7AF573C6-48E8-EE63-EF88-E4BB6E2CFABE}"/>
              </a:ext>
            </a:extLst>
          </p:cNvPr>
          <p:cNvPicPr>
            <a:picLocks noChangeAspect="1"/>
          </p:cNvPicPr>
          <p:nvPr/>
        </p:nvPicPr>
        <p:blipFill>
          <a:blip r:embed="rId3">
            <a:extLst>
              <a:ext uri="{28A0092B-C50C-407E-A947-70E740481C1C}">
                <a14:useLocalDpi xmlns:a14="http://schemas.microsoft.com/office/drawing/2010/main" val="0"/>
              </a:ext>
            </a:extLst>
          </a:blip>
          <a:srcRect r="62857" b="32313"/>
          <a:stretch>
            <a:fillRect/>
          </a:stretch>
        </p:blipFill>
        <p:spPr>
          <a:xfrm>
            <a:off x="6868886" y="1143000"/>
            <a:ext cx="2013858" cy="1926719"/>
          </a:xfrm>
          <a:prstGeom prst="rect">
            <a:avLst/>
          </a:prstGeom>
        </p:spPr>
      </p:pic>
      <p:sp>
        <p:nvSpPr>
          <p:cNvPr id="527" name="Google Shape;527;p67"/>
          <p:cNvSpPr txBox="1">
            <a:spLocks noGrp="1"/>
          </p:cNvSpPr>
          <p:nvPr>
            <p:ph type="title"/>
          </p:nvPr>
        </p:nvSpPr>
        <p:spPr>
          <a:xfrm>
            <a:off x="380628" y="0"/>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latin typeface="Helvetica Neue"/>
                <a:ea typeface="Helvetica Neue"/>
                <a:cs typeface="Helvetica Neue"/>
                <a:sym typeface="Helvetica Neue"/>
              </a:rPr>
              <a:t>DDx of Hyperparathyroidism</a:t>
            </a:r>
            <a:endParaRPr dirty="0"/>
          </a:p>
        </p:txBody>
      </p:sp>
      <p:sp>
        <p:nvSpPr>
          <p:cNvPr id="528" name="Google Shape;528;p67"/>
          <p:cNvSpPr txBox="1">
            <a:spLocks noGrp="1"/>
          </p:cNvSpPr>
          <p:nvPr>
            <p:ph type="body" idx="1"/>
          </p:nvPr>
        </p:nvSpPr>
        <p:spPr>
          <a:xfrm>
            <a:off x="380628" y="1185333"/>
            <a:ext cx="8381628" cy="5607844"/>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0"/>
              </a:spcBef>
              <a:buClr>
                <a:srgbClr val="000000"/>
              </a:buClr>
              <a:buSzPts val="3840"/>
              <a:buNone/>
            </a:pPr>
            <a:r>
              <a:rPr lang="en-US" b="1" dirty="0">
                <a:latin typeface="Helvetica" panose="020B0604020202020204" pitchFamily="34" charset="0"/>
                <a:ea typeface="Calibri"/>
                <a:cs typeface="Helvetica" panose="020B0604020202020204" pitchFamily="34" charset="0"/>
                <a:sym typeface="Calibri"/>
              </a:rPr>
              <a:t>Hypercalcemia of malignancy</a:t>
            </a:r>
            <a:endParaRPr dirty="0">
              <a:latin typeface="Helvetica" panose="020B0604020202020204" pitchFamily="34" charset="0"/>
              <a:cs typeface="Helvetica" panose="020B0604020202020204" pitchFamily="34" charset="0"/>
            </a:endParaRPr>
          </a:p>
          <a:p>
            <a:pPr marL="267881" indent="-267881">
              <a:lnSpc>
                <a:spcPct val="100000"/>
              </a:lnSpc>
              <a:spcBef>
                <a:spcPts val="2953"/>
              </a:spcBef>
              <a:buClr>
                <a:srgbClr val="000000"/>
              </a:buClr>
              <a:buSzPts val="3520"/>
              <a:buFont typeface="Calibri"/>
              <a:buChar char="•"/>
            </a:pPr>
            <a:r>
              <a:rPr lang="en-US" sz="2600" b="1" i="1" dirty="0">
                <a:latin typeface="Helvetica" panose="020B0604020202020204" pitchFamily="34" charset="0"/>
                <a:ea typeface="Calibri"/>
                <a:cs typeface="Helvetica" panose="020B0604020202020204" pitchFamily="34" charset="0"/>
                <a:sym typeface="Calibri"/>
              </a:rPr>
              <a:t>This is the most common cause of                              hypercalcemia in hospitalized patients. </a:t>
            </a:r>
            <a:endParaRPr sz="2600" b="1" i="1" dirty="0">
              <a:latin typeface="Helvetica" panose="020B0604020202020204" pitchFamily="34" charset="0"/>
              <a:cs typeface="Helvetica" panose="020B0604020202020204" pitchFamily="34" charset="0"/>
            </a:endParaRPr>
          </a:p>
          <a:p>
            <a:pPr marL="267881" indent="-267881">
              <a:lnSpc>
                <a:spcPct val="100000"/>
              </a:lnSpc>
              <a:spcBef>
                <a:spcPts val="2953"/>
              </a:spcBef>
              <a:buClr>
                <a:srgbClr val="000000"/>
              </a:buClr>
              <a:buSzPts val="3520"/>
              <a:buFont typeface="Calibri"/>
              <a:buChar char="•"/>
            </a:pPr>
            <a:r>
              <a:rPr lang="en-US" sz="2600" dirty="0">
                <a:latin typeface="Helvetica" panose="020B0604020202020204" pitchFamily="34" charset="0"/>
                <a:ea typeface="Calibri"/>
                <a:cs typeface="Helvetica" panose="020B0604020202020204" pitchFamily="34" charset="0"/>
                <a:sym typeface="Calibri"/>
              </a:rPr>
              <a:t>Most often, this is caused by tumor release of a peptide from the cancer cells: parathyroid hormone -related peptide (</a:t>
            </a:r>
            <a:r>
              <a:rPr lang="en-US" sz="2600" dirty="0" err="1">
                <a:latin typeface="Helvetica" panose="020B0604020202020204" pitchFamily="34" charset="0"/>
                <a:ea typeface="Calibri"/>
                <a:cs typeface="Helvetica" panose="020B0604020202020204" pitchFamily="34" charset="0"/>
                <a:sym typeface="Calibri"/>
              </a:rPr>
              <a:t>PTHrP</a:t>
            </a:r>
            <a:r>
              <a:rPr lang="en-US" sz="2600" dirty="0">
                <a:latin typeface="Helvetica" panose="020B0604020202020204" pitchFamily="34" charset="0"/>
                <a:ea typeface="Calibri"/>
                <a:cs typeface="Helvetica" panose="020B0604020202020204" pitchFamily="34" charset="0"/>
                <a:sym typeface="Calibri"/>
              </a:rPr>
              <a:t>) and patients will have low/undetectable intact PTH levels.</a:t>
            </a:r>
            <a:endParaRPr sz="2600" dirty="0">
              <a:latin typeface="Helvetica" panose="020B0604020202020204" pitchFamily="34" charset="0"/>
              <a:cs typeface="Helvetica" panose="020B0604020202020204" pitchFamily="34" charset="0"/>
            </a:endParaRPr>
          </a:p>
          <a:p>
            <a:pPr marL="267881" indent="-267881">
              <a:lnSpc>
                <a:spcPct val="100000"/>
              </a:lnSpc>
              <a:spcBef>
                <a:spcPts val="2953"/>
              </a:spcBef>
              <a:buClr>
                <a:srgbClr val="000000"/>
              </a:buClr>
              <a:buSzPts val="3520"/>
              <a:buFont typeface="Calibri"/>
              <a:buChar char="•"/>
            </a:pPr>
            <a:r>
              <a:rPr lang="en-US" sz="2600" dirty="0">
                <a:latin typeface="Helvetica" panose="020B0604020202020204" pitchFamily="34" charset="0"/>
                <a:ea typeface="Calibri"/>
                <a:cs typeface="Helvetica" panose="020B0604020202020204" pitchFamily="34" charset="0"/>
                <a:sym typeface="Calibri"/>
              </a:rPr>
              <a:t>Less commonly, hypercalcemia results from osteolytic lesions or from granulomatous lesions</a:t>
            </a:r>
            <a:endParaRPr sz="2600" dirty="0">
              <a:latin typeface="Helvetica" panose="020B0604020202020204" pitchFamily="34" charset="0"/>
              <a:cs typeface="Helvetica"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8"/>
          <p:cNvSpPr txBox="1">
            <a:spLocks noGrp="1"/>
          </p:cNvSpPr>
          <p:nvPr>
            <p:ph type="title"/>
          </p:nvPr>
        </p:nvSpPr>
        <p:spPr>
          <a:xfrm>
            <a:off x="380628" y="0"/>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Hypercalcemia of Malignancy</a:t>
            </a:r>
            <a:endParaRPr/>
          </a:p>
        </p:txBody>
      </p:sp>
      <p:sp>
        <p:nvSpPr>
          <p:cNvPr id="534" name="Google Shape;534;p68"/>
          <p:cNvSpPr txBox="1">
            <a:spLocks noGrp="1"/>
          </p:cNvSpPr>
          <p:nvPr>
            <p:ph type="body" idx="1"/>
          </p:nvPr>
        </p:nvSpPr>
        <p:spPr>
          <a:xfrm>
            <a:off x="475030" y="1219200"/>
            <a:ext cx="8192823" cy="5444133"/>
          </a:xfrm>
          <a:prstGeom prst="rect">
            <a:avLst/>
          </a:prstGeom>
          <a:noFill/>
          <a:ln>
            <a:noFill/>
          </a:ln>
        </p:spPr>
        <p:txBody>
          <a:bodyPr spcFirstLastPara="1" vert="horz" wrap="square" lIns="88893" tIns="50783" rIns="88893" bIns="50783" rtlCol="0" anchor="t" anchorCtr="0">
            <a:noAutofit/>
          </a:bodyPr>
          <a:lstStyle/>
          <a:p>
            <a:pPr marL="267881" indent="-267881">
              <a:lnSpc>
                <a:spcPct val="100000"/>
              </a:lnSpc>
              <a:spcBef>
                <a:spcPts val="0"/>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Hypercalcemia of malignancy requires treatment if calcium levels are &gt;14 mg/dL or the patient is symptomatic.</a:t>
            </a: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2953"/>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What are treatment options?</a:t>
            </a:r>
            <a:endParaRPr dirty="0">
              <a:latin typeface="Helvetica" panose="020B0604020202020204" pitchFamily="34" charset="0"/>
              <a:ea typeface="Calibri"/>
              <a:cs typeface="Helvetica" panose="020B0604020202020204" pitchFamily="34" charset="0"/>
              <a:sym typeface="Calibri"/>
            </a:endParaRPr>
          </a:p>
          <a:p>
            <a:pPr marL="267881" indent="-71435">
              <a:lnSpc>
                <a:spcPct val="100000"/>
              </a:lnSpc>
              <a:spcBef>
                <a:spcPts val="2953"/>
              </a:spcBef>
              <a:buClr>
                <a:srgbClr val="000000"/>
              </a:buClr>
              <a:buSzPts val="4400"/>
              <a:buNone/>
            </a:pPr>
            <a:endParaRPr dirty="0">
              <a:latin typeface="Helvetica" panose="020B0604020202020204" pitchFamily="34" charset="0"/>
              <a:ea typeface="Calibri"/>
              <a:cs typeface="Helvetica" panose="020B0604020202020204" pitchFamily="34" charset="0"/>
              <a:sym typeface="Calibri"/>
            </a:endParaRPr>
          </a:p>
          <a:p>
            <a:pPr marL="267881" indent="-267881">
              <a:lnSpc>
                <a:spcPct val="100000"/>
              </a:lnSpc>
              <a:spcBef>
                <a:spcPts val="844"/>
              </a:spcBef>
              <a:buClr>
                <a:srgbClr val="000000"/>
              </a:buClr>
              <a:buSzPts val="4400"/>
              <a:buFont typeface="Arial"/>
              <a:buChar char="•"/>
            </a:pPr>
            <a:r>
              <a:rPr lang="en-US" b="1" dirty="0">
                <a:latin typeface="Helvetica" panose="020B0604020202020204" pitchFamily="34" charset="0"/>
                <a:ea typeface="Calibri"/>
                <a:cs typeface="Helvetica" panose="020B0604020202020204" pitchFamily="34" charset="0"/>
                <a:sym typeface="Calibri"/>
              </a:rPr>
              <a:t>What cancers are most likely to cause hypercalcemia of malignancy?</a:t>
            </a:r>
            <a:endParaRPr b="1" dirty="0">
              <a:latin typeface="Helvetica" panose="020B0604020202020204" pitchFamily="34" charset="0"/>
              <a:cs typeface="Helvetica" panose="020B0604020202020204" pitchFamily="34" charset="0"/>
            </a:endParaRPr>
          </a:p>
          <a:p>
            <a:pPr marL="589338" lvl="1" indent="-267881">
              <a:lnSpc>
                <a:spcPct val="100000"/>
              </a:lnSpc>
              <a:spcBef>
                <a:spcPts val="844"/>
              </a:spcBef>
              <a:buSzPts val="4400"/>
              <a:buFont typeface="Arial"/>
              <a:buChar char="•"/>
            </a:pPr>
            <a:r>
              <a:rPr lang="en-US" sz="2800" dirty="0">
                <a:latin typeface="Helvetica" panose="020B0604020202020204" pitchFamily="34" charset="0"/>
                <a:ea typeface="Calibri"/>
                <a:cs typeface="Helvetica" panose="020B0604020202020204" pitchFamily="34" charset="0"/>
                <a:sym typeface="Calibri"/>
              </a:rPr>
              <a:t>Squamous cell carcinoma of the head/neck, multiple myeloma, breast, lung, renal and ovarian cancers.</a:t>
            </a:r>
            <a:endParaRPr sz="2800" dirty="0">
              <a:latin typeface="Helvetica" panose="020B0604020202020204" pitchFamily="34" charset="0"/>
              <a:ea typeface="Calibri"/>
              <a:cs typeface="Helvetica" panose="020B0604020202020204" pitchFamily="34" charset="0"/>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53413A-2F79-71C6-2FEA-ACFAAA00816E}"/>
              </a:ext>
            </a:extLst>
          </p:cNvPr>
          <p:cNvSpPr>
            <a:spLocks noGrp="1"/>
          </p:cNvSpPr>
          <p:nvPr>
            <p:ph type="sldNum" sz="quarter" idx="12"/>
          </p:nvPr>
        </p:nvSpPr>
        <p:spPr/>
        <p:txBody>
          <a:bodyPr/>
          <a:lstStyle/>
          <a:p>
            <a:fld id="{1E422F9A-6EE9-44F0-9560-5F04B1DEB4A3}" type="slidenum">
              <a:rPr lang="en-US" smtClean="0"/>
              <a:t>92</a:t>
            </a:fld>
            <a:endParaRPr lang="en-US"/>
          </a:p>
        </p:txBody>
      </p:sp>
      <p:pic>
        <p:nvPicPr>
          <p:cNvPr id="6" name="Picture 5" descr="Hypoparathyroidism&#10;">
            <a:extLst>
              <a:ext uri="{FF2B5EF4-FFF2-40B4-BE49-F238E27FC236}">
                <a16:creationId xmlns:a16="http://schemas.microsoft.com/office/drawing/2014/main" id="{879CDDDA-80B4-8C1A-C861-D73CC6ECE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442732"/>
            <a:ext cx="7884826" cy="5913620"/>
          </a:xfrm>
          <a:prstGeom prst="rect">
            <a:avLst/>
          </a:prstGeom>
        </p:spPr>
      </p:pic>
    </p:spTree>
    <p:extLst>
      <p:ext uri="{BB962C8B-B14F-4D97-AF65-F5344CB8AC3E}">
        <p14:creationId xmlns:p14="http://schemas.microsoft.com/office/powerpoint/2010/main" val="15783572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9"/>
          <p:cNvSpPr txBox="1">
            <a:spLocks noGrp="1"/>
          </p:cNvSpPr>
          <p:nvPr>
            <p:ph type="title"/>
          </p:nvPr>
        </p:nvSpPr>
        <p:spPr>
          <a:xfrm>
            <a:off x="380628" y="0"/>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Hypoparathyroidism: Etiologies</a:t>
            </a:r>
            <a:endParaRPr/>
          </a:p>
        </p:txBody>
      </p:sp>
      <p:sp>
        <p:nvSpPr>
          <p:cNvPr id="540" name="Google Shape;540;p69"/>
          <p:cNvSpPr txBox="1">
            <a:spLocks noGrp="1"/>
          </p:cNvSpPr>
          <p:nvPr>
            <p:ph type="body" idx="1"/>
          </p:nvPr>
        </p:nvSpPr>
        <p:spPr>
          <a:xfrm>
            <a:off x="250249" y="1143000"/>
            <a:ext cx="8642385" cy="5607844"/>
          </a:xfrm>
          <a:prstGeom prst="rect">
            <a:avLst/>
          </a:prstGeom>
          <a:noFill/>
          <a:ln>
            <a:noFill/>
          </a:ln>
        </p:spPr>
        <p:txBody>
          <a:bodyPr spcFirstLastPara="1" vert="horz" wrap="square" lIns="88893" tIns="50783" rIns="88893" bIns="50783" rtlCol="0" anchor="t" anchorCtr="0">
            <a:noAutofit/>
          </a:bodyPr>
          <a:lstStyle/>
          <a:p>
            <a:pPr marL="0" indent="0">
              <a:lnSpc>
                <a:spcPct val="100000"/>
              </a:lnSpc>
              <a:spcBef>
                <a:spcPts val="0"/>
              </a:spcBef>
              <a:buClr>
                <a:srgbClr val="000000"/>
              </a:buClr>
              <a:buSzPts val="4100"/>
              <a:buNone/>
            </a:pPr>
            <a:r>
              <a:rPr lang="en-US" b="1" dirty="0">
                <a:latin typeface="Helvetica" panose="020B0604020202020204" pitchFamily="34" charset="0"/>
                <a:ea typeface="Calibri"/>
                <a:cs typeface="Helvetica" panose="020B0604020202020204" pitchFamily="34" charset="0"/>
                <a:sym typeface="Calibri"/>
              </a:rPr>
              <a:t>1. Iatrogenic (MC)</a:t>
            </a:r>
            <a:r>
              <a:rPr lang="en-US" dirty="0">
                <a:latin typeface="Helvetica" panose="020B0604020202020204" pitchFamily="34" charset="0"/>
                <a:ea typeface="Calibri"/>
                <a:cs typeface="Helvetica" panose="020B0604020202020204" pitchFamily="34" charset="0"/>
                <a:sym typeface="Calibri"/>
              </a:rPr>
              <a:t>: following thyroid or parathyroid surgery: may be transient or permanent</a:t>
            </a:r>
            <a:endParaRPr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92"/>
              </a:spcBef>
              <a:buClr>
                <a:srgbClr val="000000"/>
              </a:buClr>
              <a:buSzPts val="4400"/>
              <a:buNone/>
            </a:pPr>
            <a:endParaRPr lang="en-US"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92"/>
              </a:spcBef>
              <a:buClr>
                <a:srgbClr val="000000"/>
              </a:buClr>
              <a:buSzPts val="4400"/>
              <a:buNone/>
            </a:pPr>
            <a:r>
              <a:rPr lang="en-US" b="1" dirty="0">
                <a:latin typeface="Helvetica" panose="020B0604020202020204" pitchFamily="34" charset="0"/>
                <a:ea typeface="Calibri"/>
                <a:cs typeface="Helvetica" panose="020B0604020202020204" pitchFamily="34" charset="0"/>
                <a:sym typeface="Calibri"/>
              </a:rPr>
              <a:t>2. Autoimmune destruction </a:t>
            </a:r>
            <a:r>
              <a:rPr lang="en-US" dirty="0">
                <a:latin typeface="Helvetica" panose="020B0604020202020204" pitchFamily="34" charset="0"/>
                <a:ea typeface="Calibri"/>
                <a:cs typeface="Helvetica" panose="020B0604020202020204" pitchFamily="34" charset="0"/>
                <a:sym typeface="Calibri"/>
              </a:rPr>
              <a:t>of the parathyroids or autoantibodies to the calcium sensing portion of the parathyroid.</a:t>
            </a:r>
            <a:endParaRPr dirty="0">
              <a:latin typeface="Helvetica" panose="020B0604020202020204" pitchFamily="34" charset="0"/>
              <a:ea typeface="Calibri"/>
              <a:cs typeface="Helvetica" panose="020B0604020202020204" pitchFamily="34" charset="0"/>
              <a:sym typeface="Calibri"/>
            </a:endParaRPr>
          </a:p>
          <a:p>
            <a:pPr marL="517903" indent="-361639">
              <a:lnSpc>
                <a:spcPct val="100000"/>
              </a:lnSpc>
              <a:spcBef>
                <a:spcPts val="492"/>
              </a:spcBef>
              <a:buClr>
                <a:srgbClr val="000000"/>
              </a:buClr>
              <a:buSzPts val="3500"/>
              <a:buFont typeface="+mj-lt"/>
              <a:buAutoNum type="arabicPeriod"/>
            </a:pPr>
            <a:endParaRPr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492"/>
              </a:spcBef>
              <a:buClr>
                <a:srgbClr val="000000"/>
              </a:buClr>
              <a:buSzPts val="4400"/>
              <a:buNone/>
            </a:pPr>
            <a:r>
              <a:rPr lang="en-US" b="1" dirty="0">
                <a:latin typeface="Helvetica" panose="020B0604020202020204" pitchFamily="34" charset="0"/>
                <a:ea typeface="Calibri"/>
                <a:cs typeface="Helvetica" panose="020B0604020202020204" pitchFamily="34" charset="0"/>
                <a:sym typeface="Calibri"/>
              </a:rPr>
              <a:t>3. </a:t>
            </a:r>
            <a:r>
              <a:rPr lang="en-US" dirty="0">
                <a:latin typeface="Helvetica" panose="020B0604020202020204" pitchFamily="34" charset="0"/>
                <a:ea typeface="Calibri"/>
                <a:cs typeface="Helvetica" panose="020B0604020202020204" pitchFamily="34" charset="0"/>
                <a:sym typeface="Calibri"/>
              </a:rPr>
              <a:t>Additional rare causes include:</a:t>
            </a:r>
            <a:endParaRPr dirty="0">
              <a:latin typeface="Helvetica" panose="020B0604020202020204" pitchFamily="34" charset="0"/>
              <a:ea typeface="Calibri"/>
              <a:cs typeface="Helvetica" panose="020B0604020202020204" pitchFamily="34" charset="0"/>
              <a:sym typeface="Calibri"/>
            </a:endParaRPr>
          </a:p>
          <a:p>
            <a:pPr marL="723279" lvl="1" indent="-401822">
              <a:lnSpc>
                <a:spcPct val="100000"/>
              </a:lnSpc>
              <a:spcBef>
                <a:spcPts val="422"/>
              </a:spcBef>
              <a:buClr>
                <a:srgbClr val="000000"/>
              </a:buClr>
              <a:buSzPts val="2880"/>
              <a:buFont typeface="Calibri"/>
              <a:buChar char="•"/>
            </a:pPr>
            <a:r>
              <a:rPr lang="en-US" sz="2531" b="1" dirty="0">
                <a:latin typeface="Helvetica" panose="020B0604020202020204" pitchFamily="34" charset="0"/>
                <a:ea typeface="Calibri"/>
                <a:cs typeface="Helvetica" panose="020B0604020202020204" pitchFamily="34" charset="0"/>
                <a:sym typeface="Calibri"/>
              </a:rPr>
              <a:t>Irradiation or infiltrative diseases, </a:t>
            </a:r>
            <a:r>
              <a:rPr lang="en-US" sz="2531" dirty="0">
                <a:latin typeface="Helvetica" panose="020B0604020202020204" pitchFamily="34" charset="0"/>
                <a:ea typeface="Calibri"/>
                <a:cs typeface="Helvetica" panose="020B0604020202020204" pitchFamily="34" charset="0"/>
                <a:sym typeface="Calibri"/>
              </a:rPr>
              <a:t>such as Wilson’s or hemochromatosis </a:t>
            </a:r>
          </a:p>
          <a:p>
            <a:pPr marL="723279" lvl="1" indent="-401822">
              <a:lnSpc>
                <a:spcPct val="100000"/>
              </a:lnSpc>
              <a:spcBef>
                <a:spcPts val="422"/>
              </a:spcBef>
              <a:buClr>
                <a:srgbClr val="000000"/>
              </a:buClr>
              <a:buSzPts val="2880"/>
              <a:buFont typeface="Calibri"/>
              <a:buChar char="•"/>
            </a:pPr>
            <a:r>
              <a:rPr lang="en-US" sz="2531" b="1" dirty="0">
                <a:latin typeface="Helvetica" panose="020B0604020202020204" pitchFamily="34" charset="0"/>
                <a:ea typeface="Calibri"/>
                <a:cs typeface="Helvetica" panose="020B0604020202020204" pitchFamily="34" charset="0"/>
                <a:sym typeface="Calibri"/>
              </a:rPr>
              <a:t>Genetic defect, </a:t>
            </a:r>
            <a:r>
              <a:rPr lang="en-US" sz="2531" dirty="0">
                <a:latin typeface="Helvetica" panose="020B0604020202020204" pitchFamily="34" charset="0"/>
                <a:ea typeface="Calibri"/>
                <a:cs typeface="Helvetica" panose="020B0604020202020204" pitchFamily="34" charset="0"/>
                <a:sym typeface="Calibri"/>
              </a:rPr>
              <a:t>occurs in childhood </a:t>
            </a:r>
            <a:endParaRPr dirty="0">
              <a:latin typeface="Helvetica" panose="020B0604020202020204" pitchFamily="34" charset="0"/>
              <a:cs typeface="Helvetica" panose="020B060402020202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0"/>
          <p:cNvSpPr txBox="1">
            <a:spLocks noGrp="1"/>
          </p:cNvSpPr>
          <p:nvPr>
            <p:ph type="title"/>
          </p:nvPr>
        </p:nvSpPr>
        <p:spPr>
          <a:xfrm>
            <a:off x="332359" y="132457"/>
            <a:ext cx="8381628" cy="1143000"/>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latin typeface="Helvetica Neue"/>
                <a:ea typeface="Helvetica Neue"/>
                <a:cs typeface="Helvetica Neue"/>
                <a:sym typeface="Helvetica Neue"/>
              </a:rPr>
              <a:t>Hypoparathyroidism: Etiologies</a:t>
            </a:r>
            <a:endParaRPr dirty="0"/>
          </a:p>
        </p:txBody>
      </p:sp>
      <p:sp>
        <p:nvSpPr>
          <p:cNvPr id="546" name="Google Shape;546;p70"/>
          <p:cNvSpPr txBox="1">
            <a:spLocks noGrp="1"/>
          </p:cNvSpPr>
          <p:nvPr>
            <p:ph type="body" idx="1"/>
          </p:nvPr>
        </p:nvSpPr>
        <p:spPr>
          <a:xfrm>
            <a:off x="332359" y="1275457"/>
            <a:ext cx="8381628" cy="2453899"/>
          </a:xfrm>
          <a:prstGeom prst="rect">
            <a:avLst/>
          </a:prstGeom>
          <a:noFill/>
          <a:ln>
            <a:noFill/>
          </a:ln>
        </p:spPr>
        <p:txBody>
          <a:bodyPr spcFirstLastPara="1" vert="horz" wrap="square" lIns="88893" tIns="50783" rIns="88893" bIns="50783" rtlCol="0" anchor="t" anchorCtr="0">
            <a:noAutofit/>
          </a:bodyPr>
          <a:lstStyle/>
          <a:p>
            <a:pPr marL="170775" indent="-200911">
              <a:lnSpc>
                <a:spcPct val="100000"/>
              </a:lnSpc>
              <a:spcBef>
                <a:spcPts val="0"/>
              </a:spcBef>
              <a:buClr>
                <a:srgbClr val="000000"/>
              </a:buClr>
              <a:buSzPts val="4500"/>
              <a:buFont typeface="Arial"/>
              <a:buChar char="•"/>
            </a:pPr>
            <a:r>
              <a:rPr lang="en-US" b="1" i="1" dirty="0">
                <a:latin typeface="Helvetica" panose="020B0604020202020204" pitchFamily="34" charset="0"/>
                <a:ea typeface="Calibri"/>
                <a:cs typeface="Helvetica" panose="020B0604020202020204" pitchFamily="34" charset="0"/>
                <a:sym typeface="Calibri"/>
              </a:rPr>
              <a:t>Reversible hypoparathyroidism may be caused by persistent hypomagnesemia</a:t>
            </a:r>
            <a:r>
              <a:rPr lang="en-US" dirty="0">
                <a:latin typeface="Helvetica" panose="020B0604020202020204" pitchFamily="34" charset="0"/>
                <a:ea typeface="Calibri"/>
                <a:cs typeface="Helvetica" panose="020B0604020202020204" pitchFamily="34" charset="0"/>
                <a:sym typeface="Calibri"/>
              </a:rPr>
              <a:t>, which will create parathyroid hormone resistance and decrease PTH secretion. </a:t>
            </a:r>
            <a:endParaRPr dirty="0">
              <a:latin typeface="Helvetica" panose="020B0604020202020204" pitchFamily="34" charset="0"/>
              <a:cs typeface="Helvetica" panose="020B0604020202020204" pitchFamily="34" charset="0"/>
            </a:endParaRPr>
          </a:p>
          <a:p>
            <a:pPr marL="170775" indent="-81481">
              <a:lnSpc>
                <a:spcPct val="100000"/>
              </a:lnSpc>
              <a:spcBef>
                <a:spcPts val="492"/>
              </a:spcBef>
              <a:buClr>
                <a:srgbClr val="000000"/>
              </a:buClr>
              <a:buSzPts val="2000"/>
              <a:buNone/>
            </a:pPr>
            <a:endParaRPr dirty="0">
              <a:latin typeface="Helvetica" panose="020B0604020202020204" pitchFamily="34" charset="0"/>
              <a:ea typeface="Calibri"/>
              <a:cs typeface="Helvetica" panose="020B0604020202020204" pitchFamily="34" charset="0"/>
              <a:sym typeface="Calibri"/>
            </a:endParaRPr>
          </a:p>
        </p:txBody>
      </p:sp>
      <p:sp>
        <p:nvSpPr>
          <p:cNvPr id="2" name="TextBox 1">
            <a:extLst>
              <a:ext uri="{FF2B5EF4-FFF2-40B4-BE49-F238E27FC236}">
                <a16:creationId xmlns:a16="http://schemas.microsoft.com/office/drawing/2014/main" id="{A2020645-090D-F976-A768-CD23510219F5}"/>
              </a:ext>
            </a:extLst>
          </p:cNvPr>
          <p:cNvSpPr txBox="1"/>
          <p:nvPr/>
        </p:nvSpPr>
        <p:spPr>
          <a:xfrm>
            <a:off x="430013" y="3429000"/>
            <a:ext cx="8551302" cy="3236784"/>
          </a:xfrm>
          <a:prstGeom prst="rect">
            <a:avLst/>
          </a:prstGeom>
          <a:noFill/>
        </p:spPr>
        <p:txBody>
          <a:bodyPr wrap="square" rtlCol="0">
            <a:spAutoFit/>
          </a:bodyPr>
          <a:lstStyle/>
          <a:p>
            <a:pPr marL="170775" indent="-200911">
              <a:spcBef>
                <a:spcPts val="492"/>
              </a:spcBef>
              <a:buClr>
                <a:srgbClr val="000000"/>
              </a:buClr>
              <a:buSzPts val="4500"/>
              <a:buFont typeface="Arial"/>
              <a:buChar char="•"/>
            </a:pPr>
            <a:r>
              <a:rPr lang="en-US" sz="2800" dirty="0">
                <a:latin typeface="Helvetica" panose="020B0604020202020204" pitchFamily="34" charset="0"/>
                <a:ea typeface="Calibri"/>
                <a:cs typeface="Helvetica" panose="020B0604020202020204" pitchFamily="34" charset="0"/>
                <a:sym typeface="Calibri"/>
              </a:rPr>
              <a:t>Hypomagnesemia is a common electrolyte abnormalities in patients who consume heavy alcohol or in malnourished persons.</a:t>
            </a:r>
            <a:endParaRPr lang="en-US" sz="2800" dirty="0">
              <a:latin typeface="Helvetica" panose="020B0604020202020204" pitchFamily="34" charset="0"/>
              <a:cs typeface="Helvetica" panose="020B0604020202020204" pitchFamily="34" charset="0"/>
            </a:endParaRPr>
          </a:p>
          <a:p>
            <a:pPr marL="170775" indent="-170775">
              <a:spcBef>
                <a:spcPts val="492"/>
              </a:spcBef>
              <a:buClr>
                <a:srgbClr val="000000"/>
              </a:buClr>
              <a:buSzPts val="4500"/>
            </a:pPr>
            <a:endParaRPr lang="en-US" sz="2800" dirty="0">
              <a:latin typeface="Helvetica" panose="020B0604020202020204" pitchFamily="34" charset="0"/>
              <a:ea typeface="Calibri"/>
              <a:cs typeface="Helvetica" panose="020B0604020202020204" pitchFamily="34" charset="0"/>
              <a:sym typeface="Calibri"/>
            </a:endParaRPr>
          </a:p>
          <a:p>
            <a:pPr marL="170775" indent="-200911">
              <a:spcBef>
                <a:spcPts val="492"/>
              </a:spcBef>
              <a:buClr>
                <a:srgbClr val="000000"/>
              </a:buClr>
              <a:buSzPts val="4500"/>
              <a:buFont typeface="Arial"/>
              <a:buChar char="•"/>
            </a:pPr>
            <a:r>
              <a:rPr lang="en-US" sz="2800" dirty="0">
                <a:latin typeface="Helvetica" panose="020B0604020202020204" pitchFamily="34" charset="0"/>
                <a:ea typeface="Calibri"/>
                <a:cs typeface="Helvetica" panose="020B0604020202020204" pitchFamily="34" charset="0"/>
                <a:sym typeface="Calibri"/>
              </a:rPr>
              <a:t>Pseudohypoparathyroidism: Target organ (kidney) resistance to PTH</a:t>
            </a:r>
          </a:p>
          <a:p>
            <a:endParaRPr lang="en-US" sz="2800" dirty="0">
              <a:latin typeface="Helvetica" panose="020B0604020202020204" pitchFamily="34" charset="0"/>
              <a:cs typeface="Helvetica" panose="020B060402020202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1"/>
          <p:cNvSpPr txBox="1">
            <a:spLocks noGrp="1"/>
          </p:cNvSpPr>
          <p:nvPr>
            <p:ph type="title"/>
          </p:nvPr>
        </p:nvSpPr>
        <p:spPr>
          <a:xfrm>
            <a:off x="892969" y="178594"/>
            <a:ext cx="7358063" cy="904875"/>
          </a:xfrm>
          <a:prstGeom prst="rect">
            <a:avLst/>
          </a:prstGeom>
          <a:noFill/>
          <a:ln>
            <a:noFill/>
          </a:ln>
        </p:spPr>
        <p:txBody>
          <a:bodyPr spcFirstLastPara="1" vert="horz" wrap="square" lIns="35719" tIns="35719" rIns="35719" bIns="35719" rtlCol="0" anchor="ctr" anchorCtr="0">
            <a:noAutofit/>
          </a:bodyPr>
          <a:lstStyle/>
          <a:p>
            <a:pPr algn="ctr">
              <a:lnSpc>
                <a:spcPct val="100000"/>
              </a:lnSpc>
              <a:spcBef>
                <a:spcPts val="0"/>
              </a:spcBef>
              <a:buSzPts val="1400"/>
            </a:pPr>
            <a:r>
              <a:rPr lang="en-US" sz="4570" dirty="0">
                <a:ea typeface="Calibri"/>
                <a:cs typeface="Calibri"/>
                <a:sym typeface="Calibri"/>
              </a:rPr>
              <a:t>Hypoparathyroidism</a:t>
            </a:r>
            <a:endParaRPr dirty="0"/>
          </a:p>
        </p:txBody>
      </p:sp>
      <p:sp>
        <p:nvSpPr>
          <p:cNvPr id="553" name="Google Shape;553;p71"/>
          <p:cNvSpPr txBox="1">
            <a:spLocks noGrp="1"/>
          </p:cNvSpPr>
          <p:nvPr>
            <p:ph type="body" idx="1"/>
          </p:nvPr>
        </p:nvSpPr>
        <p:spPr>
          <a:xfrm>
            <a:off x="107157" y="1083469"/>
            <a:ext cx="8858250" cy="5595938"/>
          </a:xfrm>
          <a:prstGeom prst="rect">
            <a:avLst/>
          </a:prstGeom>
          <a:noFill/>
          <a:ln>
            <a:noFill/>
          </a:ln>
        </p:spPr>
        <p:txBody>
          <a:bodyPr spcFirstLastPara="1" vert="horz" wrap="square" lIns="88893" tIns="50783" rIns="88893" bIns="50783" rtlCol="0" anchor="t" anchorCtr="0">
            <a:noAutofit/>
          </a:bodyPr>
          <a:lstStyle/>
          <a:p>
            <a:pPr marL="158943" indent="0">
              <a:lnSpc>
                <a:spcPct val="100000"/>
              </a:lnSpc>
              <a:spcBef>
                <a:spcPts val="1266"/>
              </a:spcBef>
              <a:buClr>
                <a:srgbClr val="000000"/>
              </a:buClr>
              <a:buSzPts val="4100"/>
              <a:buNone/>
            </a:pPr>
            <a:r>
              <a:rPr lang="en-US" b="1" dirty="0">
                <a:latin typeface="Helvetica" panose="020B0604020202020204" pitchFamily="34" charset="0"/>
                <a:ea typeface="Calibri"/>
                <a:cs typeface="Helvetica" panose="020B0604020202020204" pitchFamily="34" charset="0"/>
                <a:sym typeface="Calibri"/>
              </a:rPr>
              <a:t>The signs and symptoms of hypoparathyroidism are due to hypocalcemia and include:</a:t>
            </a:r>
            <a:endParaRPr dirty="0">
              <a:latin typeface="Helvetica" panose="020B0604020202020204" pitchFamily="34" charset="0"/>
              <a:ea typeface="Calibri"/>
              <a:cs typeface="Helvetica" panose="020B0604020202020204" pitchFamily="34" charset="0"/>
              <a:sym typeface="Calibri"/>
            </a:endParaRPr>
          </a:p>
          <a:p>
            <a:pPr marL="708099" indent="-522368">
              <a:lnSpc>
                <a:spcPct val="100000"/>
              </a:lnSpc>
              <a:spcBef>
                <a:spcPts val="2109"/>
              </a:spcBef>
              <a:buClr>
                <a:srgbClr val="000000"/>
              </a:buClr>
              <a:buSzPct val="100000"/>
              <a:buFont typeface="+mj-lt"/>
              <a:buAutoNum type="arabicPeriod"/>
            </a:pPr>
            <a:r>
              <a:rPr lang="en-US" b="1" dirty="0">
                <a:latin typeface="Helvetica" panose="020B0604020202020204" pitchFamily="34" charset="0"/>
                <a:ea typeface="Calibri"/>
                <a:cs typeface="Helvetica" panose="020B0604020202020204" pitchFamily="34" charset="0"/>
                <a:sym typeface="Calibri"/>
              </a:rPr>
              <a:t>Muscular</a:t>
            </a:r>
            <a:r>
              <a:rPr lang="en-US" dirty="0">
                <a:latin typeface="Helvetica" panose="020B0604020202020204" pitchFamily="34" charset="0"/>
                <a:ea typeface="Calibri"/>
                <a:cs typeface="Helvetica" panose="020B0604020202020204" pitchFamily="34" charset="0"/>
                <a:sym typeface="Calibri"/>
              </a:rPr>
              <a:t>: diaphoresis and muscular cramping, hoarseness due to </a:t>
            </a:r>
            <a:r>
              <a:rPr lang="en-US" b="1" i="1" dirty="0">
                <a:latin typeface="Helvetica" panose="020B0604020202020204" pitchFamily="34" charset="0"/>
                <a:ea typeface="Calibri"/>
                <a:cs typeface="Helvetica" panose="020B0604020202020204" pitchFamily="34" charset="0"/>
                <a:sym typeface="Calibri"/>
              </a:rPr>
              <a:t>laryngospasm</a:t>
            </a:r>
            <a:r>
              <a:rPr lang="en-US" dirty="0">
                <a:latin typeface="Helvetica" panose="020B0604020202020204" pitchFamily="34" charset="0"/>
                <a:ea typeface="Calibri"/>
                <a:cs typeface="Helvetica" panose="020B0604020202020204" pitchFamily="34" charset="0"/>
                <a:sym typeface="Calibri"/>
              </a:rPr>
              <a:t>, wheezing due to </a:t>
            </a:r>
            <a:r>
              <a:rPr lang="en-US" b="1" i="1" dirty="0">
                <a:latin typeface="Helvetica" panose="020B0604020202020204" pitchFamily="34" charset="0"/>
                <a:ea typeface="Calibri"/>
                <a:cs typeface="Helvetica" panose="020B0604020202020204" pitchFamily="34" charset="0"/>
                <a:sym typeface="Calibri"/>
              </a:rPr>
              <a:t>bronchospasm.</a:t>
            </a:r>
            <a:endParaRPr dirty="0">
              <a:latin typeface="Helvetica" panose="020B0604020202020204" pitchFamily="34" charset="0"/>
              <a:ea typeface="Calibri"/>
              <a:cs typeface="Helvetica" panose="020B0604020202020204" pitchFamily="34" charset="0"/>
              <a:sym typeface="Calibri"/>
            </a:endParaRPr>
          </a:p>
          <a:p>
            <a:pPr marL="708099" indent="-522368">
              <a:lnSpc>
                <a:spcPct val="100000"/>
              </a:lnSpc>
              <a:spcBef>
                <a:spcPts val="2109"/>
              </a:spcBef>
              <a:buClr>
                <a:srgbClr val="000000"/>
              </a:buClr>
              <a:buSzPct val="100000"/>
              <a:buFont typeface="+mj-lt"/>
              <a:buAutoNum type="arabicPeriod"/>
            </a:pPr>
            <a:r>
              <a:rPr lang="en-US" b="1" dirty="0">
                <a:latin typeface="Helvetica" panose="020B0604020202020204" pitchFamily="34" charset="0"/>
                <a:ea typeface="Calibri"/>
                <a:cs typeface="Helvetica" panose="020B0604020202020204" pitchFamily="34" charset="0"/>
                <a:sym typeface="Calibri"/>
              </a:rPr>
              <a:t>Neurologic</a:t>
            </a:r>
            <a:r>
              <a:rPr lang="en-US" dirty="0">
                <a:latin typeface="Helvetica" panose="020B0604020202020204" pitchFamily="34" charset="0"/>
                <a:ea typeface="Calibri"/>
                <a:cs typeface="Helvetica" panose="020B0604020202020204" pitchFamily="34" charset="0"/>
                <a:sym typeface="Calibri"/>
              </a:rPr>
              <a:t>: paresthesia, seizures.</a:t>
            </a:r>
            <a:endParaRPr dirty="0">
              <a:latin typeface="Helvetica" panose="020B0604020202020204" pitchFamily="34" charset="0"/>
              <a:ea typeface="Calibri"/>
              <a:cs typeface="Helvetica" panose="020B0604020202020204" pitchFamily="34" charset="0"/>
              <a:sym typeface="Calibri"/>
            </a:endParaRPr>
          </a:p>
          <a:p>
            <a:pPr marL="708099" indent="-522368">
              <a:lnSpc>
                <a:spcPct val="100000"/>
              </a:lnSpc>
              <a:spcBef>
                <a:spcPts val="2109"/>
              </a:spcBef>
              <a:buClr>
                <a:srgbClr val="000000"/>
              </a:buClr>
              <a:buSzPct val="100000"/>
              <a:buFont typeface="+mj-lt"/>
              <a:buAutoNum type="arabicPeriod"/>
            </a:pPr>
            <a:r>
              <a:rPr lang="en-US" b="1" dirty="0">
                <a:latin typeface="Helvetica" panose="020B0604020202020204" pitchFamily="34" charset="0"/>
                <a:ea typeface="Calibri"/>
                <a:cs typeface="Helvetica" panose="020B0604020202020204" pitchFamily="34" charset="0"/>
                <a:sym typeface="Calibri"/>
              </a:rPr>
              <a:t>GI</a:t>
            </a:r>
            <a:r>
              <a:rPr lang="en-US" dirty="0">
                <a:latin typeface="Helvetica" panose="020B0604020202020204" pitchFamily="34" charset="0"/>
                <a:ea typeface="Calibri"/>
                <a:cs typeface="Helvetica" panose="020B0604020202020204" pitchFamily="34" charset="0"/>
                <a:sym typeface="Calibri"/>
              </a:rPr>
              <a:t>: biliary colic</a:t>
            </a:r>
            <a:endParaRPr dirty="0">
              <a:latin typeface="Helvetica" panose="020B0604020202020204" pitchFamily="34" charset="0"/>
              <a:ea typeface="Calibri"/>
              <a:cs typeface="Helvetica" panose="020B0604020202020204" pitchFamily="34" charset="0"/>
              <a:sym typeface="Calibri"/>
            </a:endParaRPr>
          </a:p>
          <a:p>
            <a:pPr marL="708099" indent="-522368">
              <a:lnSpc>
                <a:spcPct val="100000"/>
              </a:lnSpc>
              <a:spcBef>
                <a:spcPts val="2109"/>
              </a:spcBef>
              <a:buClr>
                <a:srgbClr val="000000"/>
              </a:buClr>
              <a:buSzPct val="100000"/>
              <a:buFont typeface="+mj-lt"/>
              <a:buAutoNum type="arabicPeriod"/>
            </a:pPr>
            <a:r>
              <a:rPr lang="en-US" b="1" dirty="0">
                <a:latin typeface="Helvetica" panose="020B0604020202020204" pitchFamily="34" charset="0"/>
                <a:ea typeface="Calibri"/>
                <a:cs typeface="Helvetica" panose="020B0604020202020204" pitchFamily="34" charset="0"/>
                <a:sym typeface="Calibri"/>
              </a:rPr>
              <a:t>Psychiatric</a:t>
            </a:r>
            <a:r>
              <a:rPr lang="en-US" dirty="0">
                <a:latin typeface="Helvetica" panose="020B0604020202020204" pitchFamily="34" charset="0"/>
                <a:ea typeface="Calibri"/>
                <a:cs typeface="Helvetica" panose="020B0604020202020204" pitchFamily="34" charset="0"/>
                <a:sym typeface="Calibri"/>
              </a:rPr>
              <a:t>: hyperirritability, mood swings and personality disorders.</a:t>
            </a:r>
            <a:endParaRPr dirty="0">
              <a:latin typeface="Helvetica" panose="020B0604020202020204" pitchFamily="34" charset="0"/>
              <a:ea typeface="Calibri"/>
              <a:cs typeface="Helvetica" panose="020B0604020202020204" pitchFamily="34" charset="0"/>
              <a:sym typeface="Calibri"/>
            </a:endParaRPr>
          </a:p>
          <a:p>
            <a:pPr marL="84829" indent="-84829">
              <a:spcBef>
                <a:spcPts val="1336"/>
              </a:spcBef>
              <a:buClr>
                <a:srgbClr val="000000"/>
              </a:buClr>
              <a:buSzPts val="3600"/>
              <a:buNone/>
            </a:pPr>
            <a:endParaRPr dirty="0">
              <a:latin typeface="Helvetica" panose="020B0604020202020204" pitchFamily="34" charset="0"/>
              <a:ea typeface="Helvetica Neue"/>
              <a:cs typeface="Helvetica" panose="020B0604020202020204" pitchFamily="34" charset="0"/>
              <a:sym typeface="Helvetica Neue"/>
            </a:endParaRPr>
          </a:p>
          <a:p>
            <a:pPr marL="84829" indent="-84829">
              <a:spcBef>
                <a:spcPts val="492"/>
              </a:spcBef>
              <a:buClr>
                <a:srgbClr val="000000"/>
              </a:buClr>
              <a:buSzPts val="3600"/>
              <a:buNone/>
            </a:pPr>
            <a:endParaRPr dirty="0">
              <a:latin typeface="Helvetica" panose="020B0604020202020204" pitchFamily="34" charset="0"/>
              <a:ea typeface="Helvetica Neue"/>
              <a:cs typeface="Helvetica" panose="020B0604020202020204" pitchFamily="34" charset="0"/>
              <a:sym typeface="Helvetica Neue"/>
            </a:endParaRPr>
          </a:p>
          <a:p>
            <a:pPr marL="84829" indent="-84829">
              <a:spcBef>
                <a:spcPts val="492"/>
              </a:spcBef>
              <a:buClr>
                <a:srgbClr val="000000"/>
              </a:buClr>
              <a:buSzPts val="3600"/>
              <a:buNone/>
            </a:pPr>
            <a:endParaRPr dirty="0">
              <a:latin typeface="Helvetica" panose="020B0604020202020204" pitchFamily="34" charset="0"/>
              <a:ea typeface="Helvetica Neue"/>
              <a:cs typeface="Helvetica" panose="020B0604020202020204" pitchFamily="34" charset="0"/>
              <a:sym typeface="Helvetica Neue"/>
            </a:endParaRPr>
          </a:p>
          <a:p>
            <a:pPr marL="84829" indent="-84829">
              <a:spcBef>
                <a:spcPts val="492"/>
              </a:spcBef>
              <a:buClr>
                <a:srgbClr val="000000"/>
              </a:buClr>
              <a:buSzPts val="3600"/>
              <a:buNone/>
            </a:pPr>
            <a:endParaRPr dirty="0">
              <a:latin typeface="Helvetica" panose="020B0604020202020204" pitchFamily="34" charset="0"/>
              <a:ea typeface="Helvetica Neue"/>
              <a:cs typeface="Helvetica" panose="020B0604020202020204" pitchFamily="34" charset="0"/>
              <a:sym typeface="Helvetica Neue"/>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73"/>
          <p:cNvSpPr txBox="1">
            <a:spLocks noGrp="1"/>
          </p:cNvSpPr>
          <p:nvPr>
            <p:ph type="title"/>
          </p:nvPr>
        </p:nvSpPr>
        <p:spPr>
          <a:xfrm>
            <a:off x="685354" y="0"/>
            <a:ext cx="7772177" cy="964406"/>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Hypoparathyroidism</a:t>
            </a:r>
            <a:endParaRPr/>
          </a:p>
        </p:txBody>
      </p:sp>
      <p:sp>
        <p:nvSpPr>
          <p:cNvPr id="565" name="Google Shape;565;p73"/>
          <p:cNvSpPr txBox="1">
            <a:spLocks noGrp="1"/>
          </p:cNvSpPr>
          <p:nvPr>
            <p:ph type="body" idx="1"/>
          </p:nvPr>
        </p:nvSpPr>
        <p:spPr>
          <a:xfrm>
            <a:off x="308919" y="964406"/>
            <a:ext cx="8279027" cy="5572125"/>
          </a:xfrm>
          <a:prstGeom prst="rect">
            <a:avLst/>
          </a:prstGeom>
          <a:noFill/>
          <a:ln>
            <a:noFill/>
          </a:ln>
        </p:spPr>
        <p:txBody>
          <a:bodyPr spcFirstLastPara="1" vert="horz" wrap="square" lIns="88893" tIns="50783" rIns="88893" bIns="50783" rtlCol="0" anchor="t" anchorCtr="0">
            <a:noAutofit/>
          </a:bodyPr>
          <a:lstStyle/>
          <a:p>
            <a:pPr marL="66970" indent="0">
              <a:lnSpc>
                <a:spcPct val="100000"/>
              </a:lnSpc>
              <a:spcBef>
                <a:spcPts val="0"/>
              </a:spcBef>
              <a:buClr>
                <a:srgbClr val="000000"/>
              </a:buClr>
              <a:buSzPts val="3000"/>
              <a:buNone/>
            </a:pPr>
            <a:r>
              <a:rPr lang="en-US" sz="3000" dirty="0">
                <a:latin typeface="Helvetica" panose="020B0604020202020204" pitchFamily="34" charset="0"/>
                <a:ea typeface="Calibri"/>
                <a:cs typeface="Helvetica" panose="020B0604020202020204" pitchFamily="34" charset="0"/>
                <a:sym typeface="Calibri"/>
              </a:rPr>
              <a:t>Lab abnormalities include:</a:t>
            </a:r>
            <a:endParaRPr sz="3000" dirty="0">
              <a:latin typeface="Helvetica" panose="020B0604020202020204" pitchFamily="34" charset="0"/>
              <a:cs typeface="Helvetica" panose="020B0604020202020204" pitchFamily="34" charset="0"/>
            </a:endParaRPr>
          </a:p>
          <a:p>
            <a:pPr marL="561434" lvl="1" indent="-293553">
              <a:lnSpc>
                <a:spcPct val="100000"/>
              </a:lnSpc>
              <a:spcBef>
                <a:spcPts val="492"/>
              </a:spcBef>
              <a:buClr>
                <a:srgbClr val="000000"/>
              </a:buClr>
              <a:buSzPts val="4500"/>
              <a:buFont typeface="Arial"/>
              <a:buChar char="•"/>
            </a:pPr>
            <a:r>
              <a:rPr lang="en-US" sz="3000" b="1" dirty="0">
                <a:latin typeface="Helvetica" panose="020B0604020202020204" pitchFamily="34" charset="0"/>
                <a:ea typeface="Calibri"/>
                <a:cs typeface="Helvetica" panose="020B0604020202020204" pitchFamily="34" charset="0"/>
                <a:sym typeface="Calibri"/>
              </a:rPr>
              <a:t>Low intact parathyroid hormone </a:t>
            </a:r>
            <a:endParaRPr sz="3000" dirty="0">
              <a:latin typeface="Helvetica" panose="020B0604020202020204" pitchFamily="34" charset="0"/>
              <a:cs typeface="Helvetica" panose="020B0604020202020204" pitchFamily="34" charset="0"/>
            </a:endParaRPr>
          </a:p>
          <a:p>
            <a:pPr marL="561434" lvl="1" indent="-293553">
              <a:lnSpc>
                <a:spcPct val="100000"/>
              </a:lnSpc>
              <a:spcBef>
                <a:spcPts val="492"/>
              </a:spcBef>
              <a:buClr>
                <a:srgbClr val="000000"/>
              </a:buClr>
              <a:buSzPts val="4500"/>
              <a:buFont typeface="Arial"/>
              <a:buChar char="•"/>
            </a:pPr>
            <a:r>
              <a:rPr lang="en-US" sz="3000" b="1" dirty="0">
                <a:latin typeface="Helvetica" panose="020B0604020202020204" pitchFamily="34" charset="0"/>
                <a:ea typeface="Calibri"/>
                <a:cs typeface="Helvetica" panose="020B0604020202020204" pitchFamily="34" charset="0"/>
                <a:sym typeface="Calibri"/>
              </a:rPr>
              <a:t>Low calcium</a:t>
            </a:r>
          </a:p>
          <a:p>
            <a:pPr marL="561434" lvl="1" indent="-293553">
              <a:lnSpc>
                <a:spcPct val="100000"/>
              </a:lnSpc>
              <a:spcBef>
                <a:spcPts val="492"/>
              </a:spcBef>
              <a:buClr>
                <a:srgbClr val="000000"/>
              </a:buClr>
              <a:buSzPts val="4500"/>
              <a:buFont typeface="Arial"/>
              <a:buChar char="•"/>
            </a:pPr>
            <a:r>
              <a:rPr lang="en-US" sz="3000" b="1" dirty="0">
                <a:latin typeface="Helvetica" panose="020B0604020202020204" pitchFamily="34" charset="0"/>
                <a:ea typeface="Calibri"/>
                <a:cs typeface="Helvetica" panose="020B0604020202020204" pitchFamily="34" charset="0"/>
                <a:sym typeface="Calibri"/>
              </a:rPr>
              <a:t>Low magnesium</a:t>
            </a:r>
          </a:p>
          <a:p>
            <a:pPr marL="561434" lvl="1" indent="-293553">
              <a:lnSpc>
                <a:spcPct val="100000"/>
              </a:lnSpc>
              <a:spcBef>
                <a:spcPts val="492"/>
              </a:spcBef>
              <a:buClr>
                <a:srgbClr val="000000"/>
              </a:buClr>
              <a:buSzPts val="4500"/>
              <a:buFont typeface="Arial"/>
              <a:buChar char="•"/>
            </a:pPr>
            <a:r>
              <a:rPr lang="en-US" sz="3000" b="1" dirty="0">
                <a:latin typeface="Helvetica" panose="020B0604020202020204" pitchFamily="34" charset="0"/>
                <a:ea typeface="Calibri"/>
                <a:cs typeface="Helvetica" panose="020B0604020202020204" pitchFamily="34" charset="0"/>
                <a:sym typeface="Calibri"/>
              </a:rPr>
              <a:t>High phosphorus</a:t>
            </a:r>
            <a:endParaRPr sz="3000" b="1" dirty="0">
              <a:latin typeface="Helvetica" panose="020B0604020202020204" pitchFamily="34" charset="0"/>
              <a:ea typeface="Calibri"/>
              <a:cs typeface="Helvetica" panose="020B0604020202020204" pitchFamily="34" charset="0"/>
              <a:sym typeface="Calibri"/>
            </a:endParaRPr>
          </a:p>
          <a:p>
            <a:pPr marL="293553" indent="-248907">
              <a:lnSpc>
                <a:spcPct val="100000"/>
              </a:lnSpc>
              <a:spcBef>
                <a:spcPts val="492"/>
              </a:spcBef>
              <a:buClr>
                <a:srgbClr val="000000"/>
              </a:buClr>
              <a:buSzPts val="1000"/>
              <a:buNone/>
            </a:pPr>
            <a:endParaRPr sz="3000" dirty="0">
              <a:latin typeface="Helvetica" panose="020B0604020202020204" pitchFamily="34" charset="0"/>
              <a:ea typeface="Calibri"/>
              <a:cs typeface="Helvetica" panose="020B0604020202020204" pitchFamily="34" charset="0"/>
              <a:sym typeface="Calibri"/>
            </a:endParaRPr>
          </a:p>
        </p:txBody>
      </p:sp>
      <p:sp>
        <p:nvSpPr>
          <p:cNvPr id="2" name="Google Shape;559;p72">
            <a:extLst>
              <a:ext uri="{FF2B5EF4-FFF2-40B4-BE49-F238E27FC236}">
                <a16:creationId xmlns:a16="http://schemas.microsoft.com/office/drawing/2014/main" id="{D10ED82D-929E-C7BC-4630-99986398D632}"/>
              </a:ext>
            </a:extLst>
          </p:cNvPr>
          <p:cNvSpPr txBox="1">
            <a:spLocks/>
          </p:cNvSpPr>
          <p:nvPr/>
        </p:nvSpPr>
        <p:spPr>
          <a:xfrm>
            <a:off x="420166" y="3867290"/>
            <a:ext cx="6439920" cy="3281660"/>
          </a:xfrm>
          <a:prstGeom prst="rect">
            <a:avLst/>
          </a:prstGeom>
          <a:noFill/>
          <a:ln>
            <a:noFill/>
          </a:ln>
        </p:spPr>
        <p:txBody>
          <a:bodyPr spcFirstLastPara="1" vert="horz" wrap="square" lIns="88893" tIns="50783" rIns="88893" bIns="50783"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Clr>
                <a:srgbClr val="000000"/>
              </a:buClr>
              <a:buSzPts val="4400"/>
              <a:buFont typeface="Arial" panose="020B0604020202020204" pitchFamily="34" charset="0"/>
              <a:buNone/>
            </a:pPr>
            <a:r>
              <a:rPr lang="en-US" sz="3094" dirty="0">
                <a:latin typeface="Helvetica" panose="020B0604020202020204" pitchFamily="34" charset="0"/>
                <a:ea typeface="Calibri"/>
                <a:cs typeface="Helvetica" panose="020B0604020202020204" pitchFamily="34" charset="0"/>
                <a:sym typeface="Calibri"/>
              </a:rPr>
              <a:t>Patients will demonstrate </a:t>
            </a:r>
          </a:p>
          <a:p>
            <a:pPr marL="0" indent="0">
              <a:lnSpc>
                <a:spcPct val="100000"/>
              </a:lnSpc>
              <a:spcBef>
                <a:spcPts val="0"/>
              </a:spcBef>
              <a:buClr>
                <a:srgbClr val="000000"/>
              </a:buClr>
              <a:buSzPts val="4400"/>
              <a:buFont typeface="Arial" panose="020B0604020202020204" pitchFamily="34" charset="0"/>
              <a:buNone/>
            </a:pPr>
            <a:r>
              <a:rPr lang="en-US" sz="3094" dirty="0">
                <a:latin typeface="Helvetica" panose="020B0604020202020204" pitchFamily="34" charset="0"/>
                <a:ea typeface="Calibri"/>
                <a:cs typeface="Helvetica" panose="020B0604020202020204" pitchFamily="34" charset="0"/>
                <a:sym typeface="Calibri"/>
              </a:rPr>
              <a:t>signs of hypocalcemia:</a:t>
            </a:r>
          </a:p>
          <a:p>
            <a:pPr marL="561434" lvl="1" indent="-293553">
              <a:lnSpc>
                <a:spcPct val="100000"/>
              </a:lnSpc>
              <a:spcBef>
                <a:spcPts val="492"/>
              </a:spcBef>
              <a:buClr>
                <a:srgbClr val="000000"/>
              </a:buClr>
              <a:buSzPts val="4500"/>
              <a:buFont typeface="Arial"/>
              <a:buChar char="•"/>
            </a:pPr>
            <a:r>
              <a:rPr lang="en-US" sz="3000" dirty="0" err="1">
                <a:latin typeface="Helvetica" panose="020B0604020202020204" pitchFamily="34" charset="0"/>
                <a:ea typeface="Calibri"/>
                <a:cs typeface="Helvetica" panose="020B0604020202020204" pitchFamily="34" charset="0"/>
                <a:sym typeface="Calibri"/>
              </a:rPr>
              <a:t>Trosseau</a:t>
            </a:r>
            <a:r>
              <a:rPr lang="en-US" sz="3000" dirty="0">
                <a:latin typeface="Helvetica" panose="020B0604020202020204" pitchFamily="34" charset="0"/>
                <a:ea typeface="Calibri"/>
                <a:cs typeface="Helvetica" panose="020B0604020202020204" pitchFamily="34" charset="0"/>
                <a:sym typeface="Calibri"/>
              </a:rPr>
              <a:t> sign</a:t>
            </a:r>
            <a:endParaRPr lang="en-US" sz="3000" dirty="0">
              <a:latin typeface="Helvetica" panose="020B0604020202020204" pitchFamily="34" charset="0"/>
              <a:cs typeface="Helvetica" panose="020B0604020202020204" pitchFamily="34" charset="0"/>
            </a:endParaRPr>
          </a:p>
          <a:p>
            <a:pPr marL="561434" lvl="1" indent="-293553">
              <a:lnSpc>
                <a:spcPct val="100000"/>
              </a:lnSpc>
              <a:spcBef>
                <a:spcPts val="492"/>
              </a:spcBef>
              <a:buClr>
                <a:srgbClr val="000000"/>
              </a:buClr>
              <a:buSzPts val="4500"/>
              <a:buFont typeface="Arial"/>
              <a:buChar char="•"/>
            </a:pPr>
            <a:r>
              <a:rPr lang="en-US" sz="3000" dirty="0">
                <a:latin typeface="Helvetica" panose="020B0604020202020204" pitchFamily="34" charset="0"/>
                <a:ea typeface="Calibri"/>
                <a:cs typeface="Helvetica" panose="020B0604020202020204" pitchFamily="34" charset="0"/>
                <a:sym typeface="Calibri"/>
              </a:rPr>
              <a:t>Chvostek sign</a:t>
            </a:r>
          </a:p>
          <a:p>
            <a:pPr marL="0" indent="0">
              <a:lnSpc>
                <a:spcPct val="100000"/>
              </a:lnSpc>
              <a:spcBef>
                <a:spcPts val="0"/>
              </a:spcBef>
              <a:buClr>
                <a:srgbClr val="000000"/>
              </a:buClr>
              <a:buSzPts val="4400"/>
              <a:buNone/>
            </a:pPr>
            <a:endParaRPr lang="en-US" sz="3094" dirty="0">
              <a:latin typeface="Helvetica" panose="020B0604020202020204" pitchFamily="34" charset="0"/>
              <a:ea typeface="Calibri"/>
              <a:cs typeface="Helvetica" panose="020B0604020202020204" pitchFamily="34" charset="0"/>
              <a:sym typeface="Calibri"/>
            </a:endParaRPr>
          </a:p>
          <a:p>
            <a:pPr marL="0" indent="0">
              <a:lnSpc>
                <a:spcPct val="100000"/>
              </a:lnSpc>
              <a:spcBef>
                <a:spcPts val="0"/>
              </a:spcBef>
              <a:buClr>
                <a:srgbClr val="000000"/>
              </a:buClr>
              <a:buSzPts val="4400"/>
              <a:buFont typeface="Arial" panose="020B0604020202020204" pitchFamily="34" charset="0"/>
              <a:buNone/>
            </a:pPr>
            <a:endParaRPr lang="en-US" sz="3094" dirty="0">
              <a:latin typeface="Helvetica" panose="020B0604020202020204" pitchFamily="34" charset="0"/>
              <a:ea typeface="Calibri"/>
              <a:cs typeface="Helvetica" panose="020B0604020202020204" pitchFamily="34" charset="0"/>
              <a:sym typeface="Calibri"/>
            </a:endParaRPr>
          </a:p>
        </p:txBody>
      </p:sp>
      <p:pic>
        <p:nvPicPr>
          <p:cNvPr id="3" name="Picture 2" descr="Figure, Diagram of finger tapping eliciting...] - StatPearls - NCBI  Bookshelf">
            <a:extLst>
              <a:ext uri="{FF2B5EF4-FFF2-40B4-BE49-F238E27FC236}">
                <a16:creationId xmlns:a16="http://schemas.microsoft.com/office/drawing/2014/main" id="{218A0224-3966-63FB-59E7-64423D542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128" y="3867290"/>
            <a:ext cx="3294706" cy="2310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74"/>
          <p:cNvSpPr txBox="1">
            <a:spLocks noGrp="1"/>
          </p:cNvSpPr>
          <p:nvPr>
            <p:ph type="title"/>
          </p:nvPr>
        </p:nvSpPr>
        <p:spPr>
          <a:xfrm>
            <a:off x="380628" y="0"/>
            <a:ext cx="8381628" cy="1232297"/>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a:latin typeface="Helvetica Neue"/>
                <a:ea typeface="Helvetica Neue"/>
                <a:cs typeface="Helvetica Neue"/>
                <a:sym typeface="Helvetica Neue"/>
              </a:rPr>
              <a:t>Hypoparathyroidism Treatment</a:t>
            </a:r>
            <a:endParaRPr/>
          </a:p>
        </p:txBody>
      </p:sp>
      <p:sp>
        <p:nvSpPr>
          <p:cNvPr id="571" name="Google Shape;571;p74"/>
          <p:cNvSpPr txBox="1">
            <a:spLocks noGrp="1"/>
          </p:cNvSpPr>
          <p:nvPr>
            <p:ph type="body" idx="1"/>
          </p:nvPr>
        </p:nvSpPr>
        <p:spPr>
          <a:xfrm>
            <a:off x="380628" y="1285875"/>
            <a:ext cx="8584778" cy="5411391"/>
          </a:xfrm>
          <a:prstGeom prst="rect">
            <a:avLst/>
          </a:prstGeom>
          <a:noFill/>
          <a:ln>
            <a:noFill/>
          </a:ln>
        </p:spPr>
        <p:txBody>
          <a:bodyPr spcFirstLastPara="1" vert="horz" wrap="square" lIns="88893" tIns="50783" rIns="88893" bIns="50783" rtlCol="0" anchor="t" anchorCtr="0">
            <a:noAutofit/>
          </a:bodyPr>
          <a:lstStyle/>
          <a:p>
            <a:pPr marL="273462" indent="-273462">
              <a:lnSpc>
                <a:spcPct val="100000"/>
              </a:lnSpc>
              <a:spcBef>
                <a:spcPts val="0"/>
              </a:spcBef>
              <a:buClr>
                <a:srgbClr val="000000"/>
              </a:buClr>
              <a:buSzPts val="4500"/>
              <a:buFont typeface="Arial"/>
              <a:buChar char="•"/>
            </a:pPr>
            <a:r>
              <a:rPr lang="en-US" sz="3000" dirty="0">
                <a:latin typeface="Helvetica" panose="020B0604020202020204" pitchFamily="34" charset="0"/>
                <a:ea typeface="Calibri"/>
                <a:cs typeface="Helvetica" panose="020B0604020202020204" pitchFamily="34" charset="0"/>
                <a:sym typeface="Calibri"/>
              </a:rPr>
              <a:t>Treated initially with IV calcium gluconate to alleviate symptoms.</a:t>
            </a:r>
            <a:endParaRPr sz="3000" dirty="0">
              <a:latin typeface="Helvetica" panose="020B0604020202020204" pitchFamily="34" charset="0"/>
              <a:cs typeface="Helvetica" panose="020B0604020202020204" pitchFamily="34" charset="0"/>
            </a:endParaRPr>
          </a:p>
          <a:p>
            <a:pPr marL="541343" lvl="1" indent="-273462">
              <a:lnSpc>
                <a:spcPct val="100000"/>
              </a:lnSpc>
              <a:spcBef>
                <a:spcPts val="492"/>
              </a:spcBef>
              <a:buClr>
                <a:srgbClr val="000000"/>
              </a:buClr>
              <a:buSzPts val="4500"/>
              <a:buFont typeface="Arial"/>
              <a:buChar char="•"/>
            </a:pPr>
            <a:r>
              <a:rPr lang="en-US" sz="3000" dirty="0">
                <a:latin typeface="Helvetica" panose="020B0604020202020204" pitchFamily="34" charset="0"/>
                <a:ea typeface="Calibri"/>
                <a:cs typeface="Helvetica" panose="020B0604020202020204" pitchFamily="34" charset="0"/>
                <a:sym typeface="Calibri"/>
              </a:rPr>
              <a:t>Once ionized calcium levels are normalized,  repeated calcium levels must stay normal on oral medications before discharge.</a:t>
            </a:r>
            <a:endParaRPr sz="3000" dirty="0">
              <a:latin typeface="Helvetica" panose="020B0604020202020204" pitchFamily="34" charset="0"/>
              <a:cs typeface="Helvetica" panose="020B0604020202020204" pitchFamily="34" charset="0"/>
            </a:endParaRPr>
          </a:p>
          <a:p>
            <a:pPr marL="541343" lvl="1" indent="-72550">
              <a:lnSpc>
                <a:spcPct val="100000"/>
              </a:lnSpc>
              <a:spcBef>
                <a:spcPts val="492"/>
              </a:spcBef>
              <a:buClr>
                <a:srgbClr val="000000"/>
              </a:buClr>
              <a:buSzPts val="4500"/>
              <a:buNone/>
            </a:pPr>
            <a:endParaRPr sz="3000" dirty="0">
              <a:latin typeface="Helvetica" panose="020B0604020202020204" pitchFamily="34" charset="0"/>
              <a:ea typeface="Calibri"/>
              <a:cs typeface="Helvetica" panose="020B0604020202020204" pitchFamily="34" charset="0"/>
              <a:sym typeface="Calibri"/>
            </a:endParaRPr>
          </a:p>
          <a:p>
            <a:pPr marL="273462" indent="-273462">
              <a:lnSpc>
                <a:spcPct val="100000"/>
              </a:lnSpc>
              <a:spcBef>
                <a:spcPts val="492"/>
              </a:spcBef>
              <a:buClr>
                <a:srgbClr val="000000"/>
              </a:buClr>
              <a:buSzPts val="4500"/>
              <a:buFont typeface="Arial"/>
              <a:buChar char="•"/>
            </a:pPr>
            <a:r>
              <a:rPr lang="en-US" sz="3000" dirty="0">
                <a:latin typeface="Helvetica" panose="020B0604020202020204" pitchFamily="34" charset="0"/>
                <a:ea typeface="Calibri"/>
                <a:cs typeface="Helvetica" panose="020B0604020202020204" pitchFamily="34" charset="0"/>
                <a:sym typeface="Calibri"/>
              </a:rPr>
              <a:t>Then </a:t>
            </a:r>
            <a:r>
              <a:rPr lang="en-US" sz="3000" b="1" i="1" dirty="0">
                <a:latin typeface="Helvetica" panose="020B0604020202020204" pitchFamily="34" charset="0"/>
                <a:ea typeface="Calibri"/>
                <a:cs typeface="Helvetica" panose="020B0604020202020204" pitchFamily="34" charset="0"/>
                <a:sym typeface="Calibri"/>
              </a:rPr>
              <a:t>high oral calcium intake</a:t>
            </a:r>
            <a:r>
              <a:rPr lang="en-US" sz="3000" dirty="0">
                <a:latin typeface="Helvetica" panose="020B0604020202020204" pitchFamily="34" charset="0"/>
                <a:ea typeface="Calibri"/>
                <a:cs typeface="Helvetica" panose="020B0604020202020204" pitchFamily="34" charset="0"/>
                <a:sym typeface="Calibri"/>
              </a:rPr>
              <a:t> and supplements, </a:t>
            </a:r>
            <a:r>
              <a:rPr lang="en-US" sz="3000" b="1" i="1" dirty="0">
                <a:latin typeface="Helvetica" panose="020B0604020202020204" pitchFamily="34" charset="0"/>
                <a:ea typeface="Calibri"/>
                <a:cs typeface="Helvetica" panose="020B0604020202020204" pitchFamily="34" charset="0"/>
                <a:sym typeface="Calibri"/>
              </a:rPr>
              <a:t>vitamin D </a:t>
            </a:r>
            <a:r>
              <a:rPr lang="en-US" sz="3000" dirty="0">
                <a:latin typeface="Helvetica" panose="020B0604020202020204" pitchFamily="34" charset="0"/>
                <a:ea typeface="Calibri"/>
                <a:cs typeface="Helvetica" panose="020B0604020202020204" pitchFamily="34" charset="0"/>
                <a:sym typeface="Calibri"/>
              </a:rPr>
              <a:t>(sometimes magnesium) are used to maintain calcium in the low normal range.</a:t>
            </a:r>
            <a:endParaRPr sz="3000" dirty="0">
              <a:latin typeface="Helvetica" panose="020B0604020202020204" pitchFamily="34" charset="0"/>
              <a:cs typeface="Helvetica" panose="020B060402020202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5"/>
          <p:cNvSpPr txBox="1">
            <a:spLocks noGrp="1"/>
          </p:cNvSpPr>
          <p:nvPr>
            <p:ph type="title"/>
          </p:nvPr>
        </p:nvSpPr>
        <p:spPr>
          <a:xfrm>
            <a:off x="380628" y="74142"/>
            <a:ext cx="8381628" cy="1071563"/>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latin typeface="Helvetica Neue"/>
                <a:ea typeface="Helvetica Neue"/>
                <a:cs typeface="Helvetica Neue"/>
                <a:sym typeface="Helvetica Neue"/>
              </a:rPr>
              <a:t>Hypoparathyroidism Treatment</a:t>
            </a:r>
            <a:endParaRPr dirty="0"/>
          </a:p>
        </p:txBody>
      </p:sp>
      <p:sp>
        <p:nvSpPr>
          <p:cNvPr id="577" name="Google Shape;577;p75"/>
          <p:cNvSpPr txBox="1">
            <a:spLocks noGrp="1"/>
          </p:cNvSpPr>
          <p:nvPr>
            <p:ph type="body" idx="1"/>
          </p:nvPr>
        </p:nvSpPr>
        <p:spPr>
          <a:xfrm>
            <a:off x="488340" y="1325563"/>
            <a:ext cx="8381628" cy="5679281"/>
          </a:xfrm>
          <a:prstGeom prst="rect">
            <a:avLst/>
          </a:prstGeom>
          <a:noFill/>
          <a:ln>
            <a:noFill/>
          </a:ln>
        </p:spPr>
        <p:txBody>
          <a:bodyPr spcFirstLastPara="1" vert="horz" wrap="square" lIns="88893" tIns="50783" rIns="88893" bIns="50783" rtlCol="0" anchor="t" anchorCtr="0">
            <a:noAutofit/>
          </a:bodyPr>
          <a:lstStyle/>
          <a:p>
            <a:pPr marL="273462" indent="-273462">
              <a:lnSpc>
                <a:spcPct val="100000"/>
              </a:lnSpc>
              <a:spcBef>
                <a:spcPts val="0"/>
              </a:spcBef>
              <a:buClr>
                <a:srgbClr val="000000"/>
              </a:buClr>
              <a:buSzPts val="4500"/>
              <a:buFont typeface="Arial"/>
              <a:buChar char="•"/>
            </a:pPr>
            <a:r>
              <a:rPr lang="en-US" sz="3000" b="1" i="1" dirty="0">
                <a:latin typeface="Helvetica" panose="020B0604020202020204" pitchFamily="34" charset="0"/>
                <a:ea typeface="Calibri"/>
                <a:cs typeface="Helvetica" panose="020B0604020202020204" pitchFamily="34" charset="0"/>
                <a:sym typeface="Calibri"/>
              </a:rPr>
              <a:t>Thiazide diuretics </a:t>
            </a:r>
            <a:r>
              <a:rPr lang="en-US" sz="3000" dirty="0">
                <a:latin typeface="Helvetica" panose="020B0604020202020204" pitchFamily="34" charset="0"/>
                <a:ea typeface="Calibri"/>
                <a:cs typeface="Helvetica" panose="020B0604020202020204" pitchFamily="34" charset="0"/>
                <a:sym typeface="Calibri"/>
              </a:rPr>
              <a:t>are sometimes used for hypoparathyroidism because they will </a:t>
            </a:r>
            <a:r>
              <a:rPr lang="en-US" sz="3000" b="1" i="1" dirty="0">
                <a:latin typeface="Helvetica" panose="020B0604020202020204" pitchFamily="34" charset="0"/>
                <a:ea typeface="Calibri"/>
                <a:cs typeface="Helvetica" panose="020B0604020202020204" pitchFamily="34" charset="0"/>
                <a:sym typeface="Calibri"/>
              </a:rPr>
              <a:t>decrease urinary calcium excretion.</a:t>
            </a:r>
            <a:endParaRPr sz="3000" b="1" i="1" dirty="0">
              <a:latin typeface="Helvetica" panose="020B0604020202020204" pitchFamily="34" charset="0"/>
              <a:ea typeface="Calibri"/>
              <a:cs typeface="Helvetica" panose="020B0604020202020204" pitchFamily="34" charset="0"/>
              <a:sym typeface="Calibri"/>
            </a:endParaRPr>
          </a:p>
          <a:p>
            <a:pPr marL="273462" indent="-72551">
              <a:lnSpc>
                <a:spcPct val="100000"/>
              </a:lnSpc>
              <a:spcBef>
                <a:spcPts val="492"/>
              </a:spcBef>
              <a:buClr>
                <a:srgbClr val="000000"/>
              </a:buClr>
              <a:buSzPts val="4500"/>
              <a:buNone/>
            </a:pPr>
            <a:endParaRPr sz="3000" dirty="0">
              <a:latin typeface="Helvetica" panose="020B0604020202020204" pitchFamily="34" charset="0"/>
              <a:ea typeface="Calibri"/>
              <a:cs typeface="Helvetica" panose="020B0604020202020204" pitchFamily="34" charset="0"/>
              <a:sym typeface="Calibri"/>
            </a:endParaRPr>
          </a:p>
          <a:p>
            <a:pPr marL="273462" indent="-273462">
              <a:lnSpc>
                <a:spcPct val="100000"/>
              </a:lnSpc>
              <a:spcBef>
                <a:spcPts val="492"/>
              </a:spcBef>
              <a:buClr>
                <a:srgbClr val="000000"/>
              </a:buClr>
              <a:buSzPts val="4500"/>
              <a:buFont typeface="Arial"/>
              <a:buChar char="•"/>
            </a:pPr>
            <a:r>
              <a:rPr lang="en-US" sz="3000" dirty="0">
                <a:latin typeface="Helvetica" panose="020B0604020202020204" pitchFamily="34" charset="0"/>
                <a:ea typeface="Calibri"/>
                <a:cs typeface="Helvetica" panose="020B0604020202020204" pitchFamily="34" charset="0"/>
                <a:sym typeface="Calibri"/>
              </a:rPr>
              <a:t>Recombinant PTH is available for treatment of hypoparathyroidism.</a:t>
            </a:r>
          </a:p>
          <a:p>
            <a:pPr marL="730662" lvl="1" indent="-273462">
              <a:lnSpc>
                <a:spcPct val="100000"/>
              </a:lnSpc>
              <a:spcBef>
                <a:spcPts val="492"/>
              </a:spcBef>
              <a:buClr>
                <a:srgbClr val="000000"/>
              </a:buClr>
              <a:buSzPts val="4500"/>
              <a:buFont typeface="Arial"/>
              <a:buChar char="•"/>
            </a:pPr>
            <a:r>
              <a:rPr lang="en-US" sz="2800" dirty="0">
                <a:latin typeface="Helvetica" panose="020B0604020202020204" pitchFamily="34" charset="0"/>
                <a:ea typeface="Calibri"/>
                <a:cs typeface="Helvetica" panose="020B0604020202020204" pitchFamily="34" charset="0"/>
                <a:sym typeface="Calibri"/>
              </a:rPr>
              <a:t>One of these medications has a BBW because it can increase the risk of osteosarcoma - only use this drug in persons who cannot be controlled on supplemental Ca and vitamin 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76"/>
          <p:cNvSpPr txBox="1">
            <a:spLocks noGrp="1"/>
          </p:cNvSpPr>
          <p:nvPr>
            <p:ph type="title"/>
          </p:nvPr>
        </p:nvSpPr>
        <p:spPr>
          <a:xfrm>
            <a:off x="380628" y="160735"/>
            <a:ext cx="8381628" cy="983476"/>
          </a:xfrm>
          <a:prstGeom prst="rect">
            <a:avLst/>
          </a:prstGeom>
          <a:noFill/>
          <a:ln>
            <a:noFill/>
          </a:ln>
        </p:spPr>
        <p:txBody>
          <a:bodyPr spcFirstLastPara="1" vert="horz" wrap="square" lIns="88893" tIns="50783" rIns="88893" bIns="50783" rtlCol="0" anchor="ctr" anchorCtr="0">
            <a:noAutofit/>
          </a:bodyPr>
          <a:lstStyle/>
          <a:p>
            <a:pPr algn="ctr">
              <a:lnSpc>
                <a:spcPct val="100000"/>
              </a:lnSpc>
              <a:spcBef>
                <a:spcPts val="0"/>
              </a:spcBef>
              <a:buSzPts val="1400"/>
            </a:pPr>
            <a:r>
              <a:rPr lang="en-US" sz="4359" dirty="0">
                <a:latin typeface="Helvetica Neue"/>
                <a:ea typeface="Helvetica Neue"/>
                <a:cs typeface="Helvetica Neue"/>
                <a:sym typeface="Helvetica Neue"/>
              </a:rPr>
              <a:t>Pseudohypoparathyroidism</a:t>
            </a:r>
            <a:endParaRPr dirty="0"/>
          </a:p>
        </p:txBody>
      </p:sp>
      <p:sp>
        <p:nvSpPr>
          <p:cNvPr id="583" name="Google Shape;583;p76"/>
          <p:cNvSpPr txBox="1">
            <a:spLocks noGrp="1"/>
          </p:cNvSpPr>
          <p:nvPr>
            <p:ph type="body" idx="1"/>
          </p:nvPr>
        </p:nvSpPr>
        <p:spPr>
          <a:xfrm>
            <a:off x="178594" y="1226344"/>
            <a:ext cx="8786812" cy="5551744"/>
          </a:xfrm>
          <a:prstGeom prst="rect">
            <a:avLst/>
          </a:prstGeom>
          <a:noFill/>
          <a:ln>
            <a:noFill/>
          </a:ln>
        </p:spPr>
        <p:txBody>
          <a:bodyPr spcFirstLastPara="1" vert="horz" wrap="square" lIns="88893" tIns="50783" rIns="88893" bIns="50783" rtlCol="0" anchor="t" anchorCtr="0">
            <a:noAutofit/>
          </a:bodyPr>
          <a:lstStyle/>
          <a:p>
            <a:pPr marL="273462" indent="-273462">
              <a:lnSpc>
                <a:spcPct val="100000"/>
              </a:lnSpc>
              <a:spcBef>
                <a:spcPts val="0"/>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Caused by several rare genetic disorders. </a:t>
            </a:r>
            <a:endParaRPr dirty="0">
              <a:latin typeface="Helvetica" panose="020B0604020202020204" pitchFamily="34" charset="0"/>
              <a:cs typeface="Helvetica" panose="020B0604020202020204" pitchFamily="34" charset="0"/>
            </a:endParaRPr>
          </a:p>
          <a:p>
            <a:pPr marL="273462" indent="-139522">
              <a:lnSpc>
                <a:spcPct val="100000"/>
              </a:lnSpc>
              <a:spcBef>
                <a:spcPts val="492"/>
              </a:spcBef>
              <a:buClr>
                <a:srgbClr val="000000"/>
              </a:buClr>
              <a:buSzPts val="3000"/>
              <a:buNone/>
            </a:pPr>
            <a:endParaRPr dirty="0">
              <a:latin typeface="Helvetica" panose="020B0604020202020204" pitchFamily="34" charset="0"/>
              <a:ea typeface="Calibri"/>
              <a:cs typeface="Helvetica" panose="020B0604020202020204" pitchFamily="34" charset="0"/>
              <a:sym typeface="Calibri"/>
            </a:endParaRPr>
          </a:p>
          <a:p>
            <a:pPr marL="273462" indent="-273462">
              <a:lnSpc>
                <a:spcPct val="100000"/>
              </a:lnSpc>
              <a:spcBef>
                <a:spcPts val="492"/>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All cause </a:t>
            </a:r>
            <a:r>
              <a:rPr lang="en-US" b="1" i="1" dirty="0">
                <a:latin typeface="Helvetica" panose="020B0604020202020204" pitchFamily="34" charset="0"/>
                <a:ea typeface="Calibri"/>
                <a:cs typeface="Helvetica" panose="020B0604020202020204" pitchFamily="34" charset="0"/>
                <a:sym typeface="Calibri"/>
              </a:rPr>
              <a:t>tissue insensitivity to PTH</a:t>
            </a:r>
            <a:r>
              <a:rPr lang="en-US" dirty="0">
                <a:latin typeface="Helvetica" panose="020B0604020202020204" pitchFamily="34" charset="0"/>
                <a:ea typeface="Calibri"/>
                <a:cs typeface="Helvetica" panose="020B0604020202020204" pitchFamily="34" charset="0"/>
                <a:sym typeface="Calibri"/>
              </a:rPr>
              <a:t>, with resulting </a:t>
            </a:r>
            <a:r>
              <a:rPr lang="en-US" b="1" i="1" dirty="0">
                <a:latin typeface="Helvetica" panose="020B0604020202020204" pitchFamily="34" charset="0"/>
                <a:ea typeface="Calibri"/>
                <a:cs typeface="Helvetica" panose="020B0604020202020204" pitchFamily="34" charset="0"/>
                <a:sym typeface="Calibri"/>
              </a:rPr>
              <a:t>hyperphosphatemia and hypocalcemia</a:t>
            </a:r>
            <a:r>
              <a:rPr lang="en-US" dirty="0">
                <a:latin typeface="Helvetica" panose="020B0604020202020204" pitchFamily="34" charset="0"/>
                <a:ea typeface="Calibri"/>
                <a:cs typeface="Helvetica" panose="020B0604020202020204" pitchFamily="34" charset="0"/>
                <a:sym typeface="Calibri"/>
              </a:rPr>
              <a:t>.</a:t>
            </a:r>
            <a:endParaRPr dirty="0">
              <a:latin typeface="Helvetica" panose="020B0604020202020204" pitchFamily="34" charset="0"/>
              <a:cs typeface="Helvetica" panose="020B0604020202020204" pitchFamily="34" charset="0"/>
            </a:endParaRPr>
          </a:p>
          <a:p>
            <a:pPr marL="273462" indent="-77016">
              <a:lnSpc>
                <a:spcPct val="100000"/>
              </a:lnSpc>
              <a:spcBef>
                <a:spcPts val="492"/>
              </a:spcBef>
              <a:buClr>
                <a:srgbClr val="000000"/>
              </a:buClr>
              <a:buSzPts val="4400"/>
              <a:buNone/>
            </a:pPr>
            <a:endParaRPr dirty="0">
              <a:latin typeface="Helvetica" panose="020B0604020202020204" pitchFamily="34" charset="0"/>
              <a:ea typeface="Calibri"/>
              <a:cs typeface="Helvetica" panose="020B0604020202020204" pitchFamily="34" charset="0"/>
              <a:sym typeface="Calibri"/>
            </a:endParaRPr>
          </a:p>
          <a:p>
            <a:pPr marL="273462" indent="-273462">
              <a:lnSpc>
                <a:spcPct val="100000"/>
              </a:lnSpc>
              <a:spcBef>
                <a:spcPts val="492"/>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Hypocalcemia cases </a:t>
            </a:r>
            <a:r>
              <a:rPr lang="en-US" b="1" i="1" dirty="0">
                <a:latin typeface="Helvetica" panose="020B0604020202020204" pitchFamily="34" charset="0"/>
                <a:ea typeface="Calibri"/>
                <a:cs typeface="Helvetica" panose="020B0604020202020204" pitchFamily="34" charset="0"/>
                <a:sym typeface="Calibri"/>
              </a:rPr>
              <a:t>elevation of PTH levels</a:t>
            </a:r>
            <a:r>
              <a:rPr lang="en-US" dirty="0">
                <a:latin typeface="Helvetica" panose="020B0604020202020204" pitchFamily="34" charset="0"/>
                <a:ea typeface="Calibri"/>
                <a:cs typeface="Helvetica" panose="020B0604020202020204" pitchFamily="34" charset="0"/>
                <a:sym typeface="Calibri"/>
              </a:rPr>
              <a:t>, and ultimately bone disease. </a:t>
            </a:r>
            <a:endParaRPr dirty="0">
              <a:latin typeface="Helvetica" panose="020B0604020202020204" pitchFamily="34" charset="0"/>
              <a:cs typeface="Helvetica" panose="020B0604020202020204" pitchFamily="34" charset="0"/>
            </a:endParaRPr>
          </a:p>
          <a:p>
            <a:pPr marL="273462" indent="-139522">
              <a:lnSpc>
                <a:spcPct val="100000"/>
              </a:lnSpc>
              <a:spcBef>
                <a:spcPts val="492"/>
              </a:spcBef>
              <a:buClr>
                <a:srgbClr val="000000"/>
              </a:buClr>
              <a:buSzPts val="3000"/>
              <a:buNone/>
            </a:pPr>
            <a:endParaRPr dirty="0">
              <a:latin typeface="Helvetica" panose="020B0604020202020204" pitchFamily="34" charset="0"/>
              <a:ea typeface="Calibri"/>
              <a:cs typeface="Helvetica" panose="020B0604020202020204" pitchFamily="34" charset="0"/>
              <a:sym typeface="Calibri"/>
            </a:endParaRPr>
          </a:p>
          <a:p>
            <a:pPr marL="273462" indent="-273462">
              <a:lnSpc>
                <a:spcPct val="100000"/>
              </a:lnSpc>
              <a:spcBef>
                <a:spcPts val="492"/>
              </a:spcBef>
              <a:buClr>
                <a:srgbClr val="000000"/>
              </a:buClr>
              <a:buSzPts val="4400"/>
              <a:buFont typeface="Arial"/>
              <a:buChar char="•"/>
            </a:pPr>
            <a:r>
              <a:rPr lang="en-US" dirty="0">
                <a:latin typeface="Helvetica" panose="020B0604020202020204" pitchFamily="34" charset="0"/>
                <a:ea typeface="Calibri"/>
                <a:cs typeface="Helvetica" panose="020B0604020202020204" pitchFamily="34" charset="0"/>
                <a:sym typeface="Calibri"/>
              </a:rPr>
              <a:t>Treatment is aimed at normalizing serum calcium levels, preventing renal excretion of calcium and lowering PTH levels.</a:t>
            </a:r>
            <a:endParaRPr dirty="0">
              <a:latin typeface="Helvetica" panose="020B0604020202020204" pitchFamily="34" charset="0"/>
              <a:cs typeface="Helvetica" panose="020B0604020202020204" pitchFamily="34" charset="0"/>
            </a:endParaRPr>
          </a:p>
          <a:p>
            <a:pPr marL="0" indent="0">
              <a:lnSpc>
                <a:spcPct val="100000"/>
              </a:lnSpc>
              <a:spcBef>
                <a:spcPts val="492"/>
              </a:spcBef>
              <a:buClr>
                <a:srgbClr val="000000"/>
              </a:buClr>
              <a:buSzPts val="4400"/>
              <a:buNone/>
            </a:pPr>
            <a:endParaRPr dirty="0">
              <a:latin typeface="Helvetica" panose="020B0604020202020204" pitchFamily="34" charset="0"/>
              <a:ea typeface="Calibri"/>
              <a:cs typeface="Helvetica" panose="020B0604020202020204" pitchFamily="34" charset="0"/>
              <a:sym typeface="Calibri"/>
            </a:endParaRPr>
          </a:p>
          <a:p>
            <a:pPr marL="273462" indent="-139522">
              <a:lnSpc>
                <a:spcPct val="100000"/>
              </a:lnSpc>
              <a:spcBef>
                <a:spcPts val="492"/>
              </a:spcBef>
              <a:buClr>
                <a:srgbClr val="000000"/>
              </a:buClr>
              <a:buSzPts val="3000"/>
              <a:buNone/>
            </a:pPr>
            <a:endParaRPr dirty="0">
              <a:latin typeface="Helvetica" panose="020B0604020202020204" pitchFamily="34" charset="0"/>
              <a:ea typeface="Arial"/>
              <a:cs typeface="Helvetica" panose="020B0604020202020204" pitchFamily="34" charset="0"/>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428">
          <a:extLst>
            <a:ext uri="{FF2B5EF4-FFF2-40B4-BE49-F238E27FC236}">
              <a16:creationId xmlns:a16="http://schemas.microsoft.com/office/drawing/2014/main" id="{4A67AEF8-E9AC-D0DA-505E-277BFCFD738D}"/>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5F52FF9A-A97A-53DE-1CC5-FBB928B21550}"/>
              </a:ext>
            </a:extLst>
          </p:cNvPr>
          <p:cNvGrpSpPr/>
          <p:nvPr/>
        </p:nvGrpSpPr>
        <p:grpSpPr>
          <a:xfrm>
            <a:off x="2894443" y="2291829"/>
            <a:ext cx="3472070" cy="916474"/>
            <a:chOff x="130986" y="2382102"/>
            <a:chExt cx="3472070" cy="916474"/>
          </a:xfrm>
        </p:grpSpPr>
        <p:sp>
          <p:nvSpPr>
            <p:cNvPr id="10" name="Rectangle: Rounded Corners 9">
              <a:extLst>
                <a:ext uri="{FF2B5EF4-FFF2-40B4-BE49-F238E27FC236}">
                  <a16:creationId xmlns:a16="http://schemas.microsoft.com/office/drawing/2014/main" id="{7363F5DF-7BEA-D714-6D68-713282FC2ADE}"/>
                </a:ext>
              </a:extLst>
            </p:cNvPr>
            <p:cNvSpPr/>
            <p:nvPr/>
          </p:nvSpPr>
          <p:spPr>
            <a:xfrm>
              <a:off x="321155" y="2382102"/>
              <a:ext cx="3055221" cy="91647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8EF7909-37FD-FE68-A764-E138F9490A5A}"/>
                </a:ext>
              </a:extLst>
            </p:cNvPr>
            <p:cNvSpPr txBox="1"/>
            <p:nvPr/>
          </p:nvSpPr>
          <p:spPr>
            <a:xfrm>
              <a:off x="130986" y="2395009"/>
              <a:ext cx="347207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Tissues are not sensitive to PTH</a:t>
              </a:r>
            </a:p>
          </p:txBody>
        </p:sp>
      </p:grpSp>
      <p:grpSp>
        <p:nvGrpSpPr>
          <p:cNvPr id="19" name="Group 18">
            <a:extLst>
              <a:ext uri="{FF2B5EF4-FFF2-40B4-BE49-F238E27FC236}">
                <a16:creationId xmlns:a16="http://schemas.microsoft.com/office/drawing/2014/main" id="{29D97F13-9607-19D2-42A5-0BE4A32881CD}"/>
              </a:ext>
            </a:extLst>
          </p:cNvPr>
          <p:cNvGrpSpPr/>
          <p:nvPr/>
        </p:nvGrpSpPr>
        <p:grpSpPr>
          <a:xfrm>
            <a:off x="3367736" y="4668228"/>
            <a:ext cx="2438400" cy="488630"/>
            <a:chOff x="6427556" y="2737010"/>
            <a:chExt cx="2348377" cy="488630"/>
          </a:xfrm>
        </p:grpSpPr>
        <p:sp>
          <p:nvSpPr>
            <p:cNvPr id="14" name="Rectangle: Rounded Corners 13">
              <a:extLst>
                <a:ext uri="{FF2B5EF4-FFF2-40B4-BE49-F238E27FC236}">
                  <a16:creationId xmlns:a16="http://schemas.microsoft.com/office/drawing/2014/main" id="{BA4A55F9-3078-ED31-1ED0-3FE4AC6750E8}"/>
                </a:ext>
              </a:extLst>
            </p:cNvPr>
            <p:cNvSpPr/>
            <p:nvPr/>
          </p:nvSpPr>
          <p:spPr>
            <a:xfrm>
              <a:off x="6511949" y="2737010"/>
              <a:ext cx="2210642" cy="48863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43A06AC-EABD-6D85-CC38-0647A7EDF261}"/>
                </a:ext>
              </a:extLst>
            </p:cNvPr>
            <p:cNvSpPr txBox="1"/>
            <p:nvPr/>
          </p:nvSpPr>
          <p:spPr>
            <a:xfrm>
              <a:off x="6427556" y="2777205"/>
              <a:ext cx="2348377" cy="430887"/>
            </a:xfrm>
            <a:prstGeom prst="rect">
              <a:avLst/>
            </a:prstGeom>
            <a:noFill/>
          </p:spPr>
          <p:txBody>
            <a:bodyPr wrap="square" rtlCol="0">
              <a:spAutoFit/>
            </a:bodyPr>
            <a:lstStyle/>
            <a:p>
              <a:pPr algn="ctr"/>
              <a:r>
                <a:rPr lang="en-US" sz="2200" b="1" dirty="0">
                  <a:latin typeface="Helvetica" panose="020B0604020202020204" pitchFamily="34" charset="0"/>
                  <a:cs typeface="Helvetica" panose="020B0604020202020204" pitchFamily="34" charset="0"/>
                </a:rPr>
                <a:t>Hypocalcemia</a:t>
              </a:r>
            </a:p>
          </p:txBody>
        </p:sp>
      </p:grpSp>
      <p:grpSp>
        <p:nvGrpSpPr>
          <p:cNvPr id="22" name="Group 21">
            <a:extLst>
              <a:ext uri="{FF2B5EF4-FFF2-40B4-BE49-F238E27FC236}">
                <a16:creationId xmlns:a16="http://schemas.microsoft.com/office/drawing/2014/main" id="{AA5B2DDF-C6F8-A91A-3EB8-5737E6EFD202}"/>
              </a:ext>
            </a:extLst>
          </p:cNvPr>
          <p:cNvGrpSpPr/>
          <p:nvPr/>
        </p:nvGrpSpPr>
        <p:grpSpPr>
          <a:xfrm>
            <a:off x="346790" y="3526879"/>
            <a:ext cx="3055221" cy="881594"/>
            <a:chOff x="3197112" y="2765053"/>
            <a:chExt cx="3346278" cy="881594"/>
          </a:xfrm>
        </p:grpSpPr>
        <p:sp>
          <p:nvSpPr>
            <p:cNvPr id="12" name="Rectangle: Rounded Corners 11">
              <a:extLst>
                <a:ext uri="{FF2B5EF4-FFF2-40B4-BE49-F238E27FC236}">
                  <a16:creationId xmlns:a16="http://schemas.microsoft.com/office/drawing/2014/main" id="{EBC78735-6B33-59DB-C0FD-5189018FA6EE}"/>
                </a:ext>
              </a:extLst>
            </p:cNvPr>
            <p:cNvSpPr/>
            <p:nvPr/>
          </p:nvSpPr>
          <p:spPr>
            <a:xfrm>
              <a:off x="3197112" y="2765053"/>
              <a:ext cx="3346278" cy="88159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4034691-0A34-B8D4-F67B-A363BC3C42E3}"/>
                </a:ext>
              </a:extLst>
            </p:cNvPr>
            <p:cNvSpPr txBox="1"/>
            <p:nvPr/>
          </p:nvSpPr>
          <p:spPr>
            <a:xfrm>
              <a:off x="3197112" y="2788126"/>
              <a:ext cx="322335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No calcium is released into blood</a:t>
              </a:r>
            </a:p>
          </p:txBody>
        </p:sp>
      </p:grpSp>
      <p:sp>
        <p:nvSpPr>
          <p:cNvPr id="9" name="TextBox 8">
            <a:extLst>
              <a:ext uri="{FF2B5EF4-FFF2-40B4-BE49-F238E27FC236}">
                <a16:creationId xmlns:a16="http://schemas.microsoft.com/office/drawing/2014/main" id="{13951C71-0C9F-C323-F276-2F0CB1D40283}"/>
              </a:ext>
            </a:extLst>
          </p:cNvPr>
          <p:cNvSpPr txBox="1"/>
          <p:nvPr/>
        </p:nvSpPr>
        <p:spPr>
          <a:xfrm>
            <a:off x="1054247" y="269506"/>
            <a:ext cx="7212700" cy="646331"/>
          </a:xfrm>
          <a:prstGeom prst="rect">
            <a:avLst/>
          </a:prstGeom>
          <a:noFill/>
        </p:spPr>
        <p:txBody>
          <a:bodyPr wrap="square" rtlCol="0">
            <a:spAutoFit/>
          </a:bodyPr>
          <a:lstStyle/>
          <a:p>
            <a:pPr algn="ctr"/>
            <a:r>
              <a:rPr lang="en-US" sz="3600" dirty="0">
                <a:latin typeface="Helvetica" panose="020B0604020202020204" pitchFamily="34" charset="0"/>
                <a:cs typeface="Helvetica" panose="020B0604020202020204" pitchFamily="34" charset="0"/>
              </a:rPr>
              <a:t>Pseudohypoparathyroidism</a:t>
            </a:r>
          </a:p>
        </p:txBody>
      </p:sp>
      <p:grpSp>
        <p:nvGrpSpPr>
          <p:cNvPr id="20" name="Group 19">
            <a:extLst>
              <a:ext uri="{FF2B5EF4-FFF2-40B4-BE49-F238E27FC236}">
                <a16:creationId xmlns:a16="http://schemas.microsoft.com/office/drawing/2014/main" id="{1EF6ABA7-CF4E-F1B3-B556-64052343BDA3}"/>
              </a:ext>
            </a:extLst>
          </p:cNvPr>
          <p:cNvGrpSpPr/>
          <p:nvPr/>
        </p:nvGrpSpPr>
        <p:grpSpPr>
          <a:xfrm>
            <a:off x="2807984" y="1159895"/>
            <a:ext cx="3472070" cy="1015662"/>
            <a:chOff x="19877" y="1251550"/>
            <a:chExt cx="3472070" cy="1015662"/>
          </a:xfrm>
        </p:grpSpPr>
        <p:sp>
          <p:nvSpPr>
            <p:cNvPr id="16" name="Rectangle: Rounded Corners 15">
              <a:extLst>
                <a:ext uri="{FF2B5EF4-FFF2-40B4-BE49-F238E27FC236}">
                  <a16:creationId xmlns:a16="http://schemas.microsoft.com/office/drawing/2014/main" id="{803CEF09-29E2-75B0-DE0B-6D8BE0CBB41C}"/>
                </a:ext>
              </a:extLst>
            </p:cNvPr>
            <p:cNvSpPr/>
            <p:nvPr/>
          </p:nvSpPr>
          <p:spPr>
            <a:xfrm>
              <a:off x="258421" y="1251550"/>
              <a:ext cx="3055221" cy="1015662"/>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252F405-95FE-2366-3EBD-2D2A3BFF42C0}"/>
                </a:ext>
              </a:extLst>
            </p:cNvPr>
            <p:cNvSpPr txBox="1"/>
            <p:nvPr/>
          </p:nvSpPr>
          <p:spPr>
            <a:xfrm>
              <a:off x="19877" y="1337111"/>
              <a:ext cx="347207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PTH released from parathyroid</a:t>
              </a:r>
            </a:p>
          </p:txBody>
        </p:sp>
      </p:grpSp>
      <p:sp>
        <p:nvSpPr>
          <p:cNvPr id="13" name="Rectangle: Rounded Corners 12">
            <a:extLst>
              <a:ext uri="{FF2B5EF4-FFF2-40B4-BE49-F238E27FC236}">
                <a16:creationId xmlns:a16="http://schemas.microsoft.com/office/drawing/2014/main" id="{D44F2A59-0873-983A-266D-E4DDC54089CD}"/>
              </a:ext>
            </a:extLst>
          </p:cNvPr>
          <p:cNvSpPr/>
          <p:nvPr/>
        </p:nvSpPr>
        <p:spPr>
          <a:xfrm>
            <a:off x="3706734" y="3536960"/>
            <a:ext cx="2395015" cy="88159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0B42245-8403-8F56-586D-E143223E6F0F}"/>
              </a:ext>
            </a:extLst>
          </p:cNvPr>
          <p:cNvSpPr txBox="1"/>
          <p:nvPr/>
        </p:nvSpPr>
        <p:spPr>
          <a:xfrm>
            <a:off x="3423579" y="3576138"/>
            <a:ext cx="2961323"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Calcium is easily</a:t>
            </a:r>
          </a:p>
          <a:p>
            <a:pPr algn="ctr"/>
            <a:r>
              <a:rPr lang="en-US" sz="2400" dirty="0">
                <a:latin typeface="Helvetica" panose="020B0604020202020204" pitchFamily="34" charset="0"/>
                <a:cs typeface="Helvetica" panose="020B0604020202020204" pitchFamily="34" charset="0"/>
              </a:rPr>
              <a:t>lost in the urine</a:t>
            </a:r>
          </a:p>
        </p:txBody>
      </p:sp>
      <p:sp>
        <p:nvSpPr>
          <p:cNvPr id="29" name="Rectangle: Rounded Corners 28">
            <a:extLst>
              <a:ext uri="{FF2B5EF4-FFF2-40B4-BE49-F238E27FC236}">
                <a16:creationId xmlns:a16="http://schemas.microsoft.com/office/drawing/2014/main" id="{32EC7F4C-D715-83A7-82A1-D17520F914D8}"/>
              </a:ext>
            </a:extLst>
          </p:cNvPr>
          <p:cNvSpPr/>
          <p:nvPr/>
        </p:nvSpPr>
        <p:spPr>
          <a:xfrm>
            <a:off x="3132987" y="5652250"/>
            <a:ext cx="3055221" cy="875138"/>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8FE6A26-6041-1BF1-2720-266668AA0FED}"/>
              </a:ext>
            </a:extLst>
          </p:cNvPr>
          <p:cNvSpPr txBox="1"/>
          <p:nvPr/>
        </p:nvSpPr>
        <p:spPr>
          <a:xfrm>
            <a:off x="2894443" y="5640831"/>
            <a:ext cx="3472070"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Stimulates high</a:t>
            </a:r>
          </a:p>
          <a:p>
            <a:pPr algn="ctr"/>
            <a:r>
              <a:rPr lang="en-US" sz="2400" dirty="0">
                <a:latin typeface="Helvetica" panose="020B0604020202020204" pitchFamily="34" charset="0"/>
                <a:cs typeface="Helvetica" panose="020B0604020202020204" pitchFamily="34" charset="0"/>
              </a:rPr>
              <a:t>PTH release</a:t>
            </a:r>
          </a:p>
        </p:txBody>
      </p:sp>
      <p:cxnSp>
        <p:nvCxnSpPr>
          <p:cNvPr id="416" name="Straight Arrow Connector 415">
            <a:extLst>
              <a:ext uri="{FF2B5EF4-FFF2-40B4-BE49-F238E27FC236}">
                <a16:creationId xmlns:a16="http://schemas.microsoft.com/office/drawing/2014/main" id="{20396F2D-DB5B-7535-2EDF-EE348D279E8F}"/>
              </a:ext>
            </a:extLst>
          </p:cNvPr>
          <p:cNvCxnSpPr>
            <a:cxnSpLocks/>
          </p:cNvCxnSpPr>
          <p:nvPr/>
        </p:nvCxnSpPr>
        <p:spPr>
          <a:xfrm>
            <a:off x="4753248" y="2076453"/>
            <a:ext cx="0" cy="316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1" name="Straight Arrow Connector 420">
            <a:extLst>
              <a:ext uri="{FF2B5EF4-FFF2-40B4-BE49-F238E27FC236}">
                <a16:creationId xmlns:a16="http://schemas.microsoft.com/office/drawing/2014/main" id="{A887B5D9-F0B4-A192-9567-001F09F0443B}"/>
              </a:ext>
            </a:extLst>
          </p:cNvPr>
          <p:cNvCxnSpPr>
            <a:cxnSpLocks/>
          </p:cNvCxnSpPr>
          <p:nvPr/>
        </p:nvCxnSpPr>
        <p:spPr>
          <a:xfrm flipH="1">
            <a:off x="3134650" y="3205054"/>
            <a:ext cx="276628" cy="3177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2" name="Straight Arrow Connector 431">
            <a:extLst>
              <a:ext uri="{FF2B5EF4-FFF2-40B4-BE49-F238E27FC236}">
                <a16:creationId xmlns:a16="http://schemas.microsoft.com/office/drawing/2014/main" id="{C36B3C94-AA37-F339-AE29-5EE9AF9320C9}"/>
              </a:ext>
            </a:extLst>
          </p:cNvPr>
          <p:cNvCxnSpPr>
            <a:cxnSpLocks/>
          </p:cNvCxnSpPr>
          <p:nvPr/>
        </p:nvCxnSpPr>
        <p:spPr>
          <a:xfrm>
            <a:off x="2807984" y="4418554"/>
            <a:ext cx="687243" cy="3571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5" name="Straight Arrow Connector 434">
            <a:extLst>
              <a:ext uri="{FF2B5EF4-FFF2-40B4-BE49-F238E27FC236}">
                <a16:creationId xmlns:a16="http://schemas.microsoft.com/office/drawing/2014/main" id="{3F295C24-60CC-7D33-EA6B-10253522A990}"/>
              </a:ext>
            </a:extLst>
          </p:cNvPr>
          <p:cNvCxnSpPr>
            <a:cxnSpLocks/>
            <a:endCxn id="31" idx="0"/>
          </p:cNvCxnSpPr>
          <p:nvPr/>
        </p:nvCxnSpPr>
        <p:spPr>
          <a:xfrm>
            <a:off x="4630478" y="5156858"/>
            <a:ext cx="0" cy="4839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3" name="Rectangle: Rounded Corners 442">
            <a:extLst>
              <a:ext uri="{FF2B5EF4-FFF2-40B4-BE49-F238E27FC236}">
                <a16:creationId xmlns:a16="http://schemas.microsoft.com/office/drawing/2014/main" id="{497FCB03-5000-77DE-67A1-EB0E316F4FA4}"/>
              </a:ext>
            </a:extLst>
          </p:cNvPr>
          <p:cNvSpPr/>
          <p:nvPr/>
        </p:nvSpPr>
        <p:spPr>
          <a:xfrm>
            <a:off x="6313256" y="3535863"/>
            <a:ext cx="2627834" cy="88159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TextBox 444">
            <a:extLst>
              <a:ext uri="{FF2B5EF4-FFF2-40B4-BE49-F238E27FC236}">
                <a16:creationId xmlns:a16="http://schemas.microsoft.com/office/drawing/2014/main" id="{9420AA3D-B394-8817-FFE6-C441F1FCA795}"/>
              </a:ext>
            </a:extLst>
          </p:cNvPr>
          <p:cNvSpPr txBox="1"/>
          <p:nvPr/>
        </p:nvSpPr>
        <p:spPr>
          <a:xfrm>
            <a:off x="6146511" y="3597879"/>
            <a:ext cx="2961323" cy="830997"/>
          </a:xfrm>
          <a:prstGeom prst="rect">
            <a:avLst/>
          </a:prstGeom>
          <a:noFill/>
        </p:spPr>
        <p:txBody>
          <a:bodyPr wrap="square" rtlCol="0">
            <a:spAutoFit/>
          </a:bodyPr>
          <a:lstStyle/>
          <a:p>
            <a:pPr algn="ctr"/>
            <a:r>
              <a:rPr lang="en-US" sz="2400" dirty="0">
                <a:latin typeface="Helvetica" panose="020B0604020202020204" pitchFamily="34" charset="0"/>
                <a:cs typeface="Helvetica" panose="020B0604020202020204" pitchFamily="34" charset="0"/>
              </a:rPr>
              <a:t>Phosphorus is not excreted in urine</a:t>
            </a:r>
          </a:p>
        </p:txBody>
      </p:sp>
      <p:cxnSp>
        <p:nvCxnSpPr>
          <p:cNvPr id="446" name="Straight Arrow Connector 445">
            <a:extLst>
              <a:ext uri="{FF2B5EF4-FFF2-40B4-BE49-F238E27FC236}">
                <a16:creationId xmlns:a16="http://schemas.microsoft.com/office/drawing/2014/main" id="{B88C7D74-5200-713E-A79A-847C1F373811}"/>
              </a:ext>
            </a:extLst>
          </p:cNvPr>
          <p:cNvCxnSpPr>
            <a:cxnSpLocks/>
          </p:cNvCxnSpPr>
          <p:nvPr/>
        </p:nvCxnSpPr>
        <p:spPr>
          <a:xfrm>
            <a:off x="4767582" y="3219771"/>
            <a:ext cx="0" cy="316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7" name="Straight Arrow Connector 446">
            <a:extLst>
              <a:ext uri="{FF2B5EF4-FFF2-40B4-BE49-F238E27FC236}">
                <a16:creationId xmlns:a16="http://schemas.microsoft.com/office/drawing/2014/main" id="{71482AD6-4404-F3F8-4C21-88669234251D}"/>
              </a:ext>
            </a:extLst>
          </p:cNvPr>
          <p:cNvCxnSpPr>
            <a:cxnSpLocks/>
          </p:cNvCxnSpPr>
          <p:nvPr/>
        </p:nvCxnSpPr>
        <p:spPr>
          <a:xfrm>
            <a:off x="6133154" y="3110451"/>
            <a:ext cx="529351" cy="4395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0" name="Straight Arrow Connector 449">
            <a:extLst>
              <a:ext uri="{FF2B5EF4-FFF2-40B4-BE49-F238E27FC236}">
                <a16:creationId xmlns:a16="http://schemas.microsoft.com/office/drawing/2014/main" id="{6540D163-7AA3-4A8A-2FA4-8018EA51BB11}"/>
              </a:ext>
            </a:extLst>
          </p:cNvPr>
          <p:cNvCxnSpPr>
            <a:cxnSpLocks/>
          </p:cNvCxnSpPr>
          <p:nvPr/>
        </p:nvCxnSpPr>
        <p:spPr>
          <a:xfrm>
            <a:off x="4660597" y="4380949"/>
            <a:ext cx="0" cy="316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52" name="Rectangle: Rounded Corners 451">
            <a:extLst>
              <a:ext uri="{FF2B5EF4-FFF2-40B4-BE49-F238E27FC236}">
                <a16:creationId xmlns:a16="http://schemas.microsoft.com/office/drawing/2014/main" id="{8AAC3C22-594D-18B3-24AE-3CDD3AE1142A}"/>
              </a:ext>
            </a:extLst>
          </p:cNvPr>
          <p:cNvSpPr/>
          <p:nvPr/>
        </p:nvSpPr>
        <p:spPr>
          <a:xfrm>
            <a:off x="6101749" y="4760415"/>
            <a:ext cx="2961323" cy="549425"/>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TextBox 453">
            <a:extLst>
              <a:ext uri="{FF2B5EF4-FFF2-40B4-BE49-F238E27FC236}">
                <a16:creationId xmlns:a16="http://schemas.microsoft.com/office/drawing/2014/main" id="{9A8B95F4-93B8-90BC-BC36-8520C515EE61}"/>
              </a:ext>
            </a:extLst>
          </p:cNvPr>
          <p:cNvSpPr txBox="1"/>
          <p:nvPr/>
        </p:nvSpPr>
        <p:spPr>
          <a:xfrm>
            <a:off x="5913064" y="4784986"/>
            <a:ext cx="3332536" cy="430887"/>
          </a:xfrm>
          <a:prstGeom prst="rect">
            <a:avLst/>
          </a:prstGeom>
          <a:noFill/>
        </p:spPr>
        <p:txBody>
          <a:bodyPr wrap="square" rtlCol="0">
            <a:spAutoFit/>
          </a:bodyPr>
          <a:lstStyle/>
          <a:p>
            <a:pPr algn="ctr"/>
            <a:r>
              <a:rPr lang="en-US" sz="2200" b="1" dirty="0">
                <a:latin typeface="Helvetica" panose="020B0604020202020204" pitchFamily="34" charset="0"/>
                <a:cs typeface="Helvetica" panose="020B0604020202020204" pitchFamily="34" charset="0"/>
              </a:rPr>
              <a:t>Hyperphosphatemia</a:t>
            </a:r>
          </a:p>
        </p:txBody>
      </p:sp>
      <p:cxnSp>
        <p:nvCxnSpPr>
          <p:cNvPr id="455" name="Straight Arrow Connector 454">
            <a:extLst>
              <a:ext uri="{FF2B5EF4-FFF2-40B4-BE49-F238E27FC236}">
                <a16:creationId xmlns:a16="http://schemas.microsoft.com/office/drawing/2014/main" id="{BC80584E-4806-8DD7-B528-77D7F394BEE5}"/>
              </a:ext>
            </a:extLst>
          </p:cNvPr>
          <p:cNvCxnSpPr>
            <a:cxnSpLocks/>
          </p:cNvCxnSpPr>
          <p:nvPr/>
        </p:nvCxnSpPr>
        <p:spPr>
          <a:xfrm>
            <a:off x="7627172" y="4399848"/>
            <a:ext cx="0" cy="3160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57" name="Graphic 456" descr="Badge New with solid fill">
            <a:extLst>
              <a:ext uri="{FF2B5EF4-FFF2-40B4-BE49-F238E27FC236}">
                <a16:creationId xmlns:a16="http://schemas.microsoft.com/office/drawing/2014/main" id="{6617D374-7FE0-F1F8-0977-4C722686A7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36844" y="3578085"/>
            <a:ext cx="296643" cy="296643"/>
          </a:xfrm>
          <a:prstGeom prst="rect">
            <a:avLst/>
          </a:prstGeom>
        </p:spPr>
      </p:pic>
      <p:pic>
        <p:nvPicPr>
          <p:cNvPr id="459" name="Graphic 458" descr="Badge New with solid fill">
            <a:extLst>
              <a:ext uri="{FF2B5EF4-FFF2-40B4-BE49-F238E27FC236}">
                <a16:creationId xmlns:a16="http://schemas.microsoft.com/office/drawing/2014/main" id="{716D1CB4-216C-1ED7-A14D-E1D47AF3A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9809" y="4846833"/>
            <a:ext cx="296643" cy="296643"/>
          </a:xfrm>
          <a:prstGeom prst="rect">
            <a:avLst/>
          </a:prstGeom>
        </p:spPr>
      </p:pic>
      <p:pic>
        <p:nvPicPr>
          <p:cNvPr id="461" name="Graphic 460" descr="Badge New with solid fill">
            <a:extLst>
              <a:ext uri="{FF2B5EF4-FFF2-40B4-BE49-F238E27FC236}">
                <a16:creationId xmlns:a16="http://schemas.microsoft.com/office/drawing/2014/main" id="{8BA12A74-0393-7ACC-F6E8-B079E1A73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8584" y="5710577"/>
            <a:ext cx="296643" cy="296643"/>
          </a:xfrm>
          <a:prstGeom prst="rect">
            <a:avLst/>
          </a:prstGeom>
        </p:spPr>
      </p:pic>
      <p:pic>
        <p:nvPicPr>
          <p:cNvPr id="463" name="Graphic 462" descr="Badge New with solid fill">
            <a:extLst>
              <a:ext uri="{FF2B5EF4-FFF2-40B4-BE49-F238E27FC236}">
                <a16:creationId xmlns:a16="http://schemas.microsoft.com/office/drawing/2014/main" id="{4F20884D-2BD8-932B-021E-F6CE642B53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90070" y="1283522"/>
            <a:ext cx="296643" cy="296643"/>
          </a:xfrm>
          <a:prstGeom prst="rect">
            <a:avLst/>
          </a:prstGeom>
        </p:spPr>
      </p:pic>
      <p:sp>
        <p:nvSpPr>
          <p:cNvPr id="464" name="TextBox 463">
            <a:extLst>
              <a:ext uri="{FF2B5EF4-FFF2-40B4-BE49-F238E27FC236}">
                <a16:creationId xmlns:a16="http://schemas.microsoft.com/office/drawing/2014/main" id="{D331F9D9-4015-AA3C-506A-C52DE581F75F}"/>
              </a:ext>
            </a:extLst>
          </p:cNvPr>
          <p:cNvSpPr txBox="1"/>
          <p:nvPr/>
        </p:nvSpPr>
        <p:spPr>
          <a:xfrm>
            <a:off x="6914142" y="1247613"/>
            <a:ext cx="2844799" cy="369332"/>
          </a:xfrm>
          <a:prstGeom prst="rect">
            <a:avLst/>
          </a:prstGeom>
          <a:noFill/>
        </p:spPr>
        <p:txBody>
          <a:bodyPr wrap="square" rtlCol="0">
            <a:spAutoFit/>
          </a:bodyPr>
          <a:lstStyle/>
          <a:p>
            <a:r>
              <a:rPr lang="en-US" dirty="0"/>
              <a:t>Targets of therapy </a:t>
            </a:r>
          </a:p>
        </p:txBody>
      </p:sp>
    </p:spTree>
    <p:extLst>
      <p:ext uri="{BB962C8B-B14F-4D97-AF65-F5344CB8AC3E}">
        <p14:creationId xmlns:p14="http://schemas.microsoft.com/office/powerpoint/2010/main" val="392406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6"/>
                                        </p:tgtEl>
                                        <p:attrNameLst>
                                          <p:attrName>style.visibility</p:attrName>
                                        </p:attrNameLst>
                                      </p:cBhvr>
                                      <p:to>
                                        <p:strVal val="visible"/>
                                      </p:to>
                                    </p:set>
                                    <p:animEffect transition="in" filter="fade">
                                      <p:cBhvr>
                                        <p:cTn id="7" dur="500"/>
                                        <p:tgtEl>
                                          <p:spTgt spid="416"/>
                                        </p:tgtEl>
                                      </p:cBhvr>
                                    </p:animEffect>
                                  </p:childTnLst>
                                </p:cTn>
                              </p:par>
                              <p:par>
                                <p:cTn id="8" presetID="10" presetClass="entr" presetSubtype="0" fill="hold" nodeType="withEffect">
                                  <p:stCondLst>
                                    <p:cond delay="0"/>
                                  </p:stCondLst>
                                  <p:childTnLst>
                                    <p:set>
                                      <p:cBhvr>
                                        <p:cTn id="9" dur="1" fill="hold">
                                          <p:stCondLst>
                                            <p:cond delay="0"/>
                                          </p:stCondLst>
                                        </p:cTn>
                                        <p:tgtEl>
                                          <p:spTgt spid="421"/>
                                        </p:tgtEl>
                                        <p:attrNameLst>
                                          <p:attrName>style.visibility</p:attrName>
                                        </p:attrNameLst>
                                      </p:cBhvr>
                                      <p:to>
                                        <p:strVal val="visible"/>
                                      </p:to>
                                    </p:set>
                                    <p:animEffect transition="in" filter="fade">
                                      <p:cBhvr>
                                        <p:cTn id="10" dur="500"/>
                                        <p:tgtEl>
                                          <p:spTgt spid="421"/>
                                        </p:tgtEl>
                                      </p:cBhvr>
                                    </p:animEffect>
                                  </p:childTnLst>
                                </p:cTn>
                              </p:par>
                              <p:par>
                                <p:cTn id="11" presetID="10" presetClass="entr" presetSubtype="0" fill="hold" nodeType="withEffect">
                                  <p:stCondLst>
                                    <p:cond delay="0"/>
                                  </p:stCondLst>
                                  <p:childTnLst>
                                    <p:set>
                                      <p:cBhvr>
                                        <p:cTn id="12" dur="1" fill="hold">
                                          <p:stCondLst>
                                            <p:cond delay="0"/>
                                          </p:stCondLst>
                                        </p:cTn>
                                        <p:tgtEl>
                                          <p:spTgt spid="432"/>
                                        </p:tgtEl>
                                        <p:attrNameLst>
                                          <p:attrName>style.visibility</p:attrName>
                                        </p:attrNameLst>
                                      </p:cBhvr>
                                      <p:to>
                                        <p:strVal val="visible"/>
                                      </p:to>
                                    </p:set>
                                    <p:animEffect transition="in" filter="fade">
                                      <p:cBhvr>
                                        <p:cTn id="13" dur="500"/>
                                        <p:tgtEl>
                                          <p:spTgt spid="432"/>
                                        </p:tgtEl>
                                      </p:cBhvr>
                                    </p:animEffect>
                                  </p:childTnLst>
                                </p:cTn>
                              </p:par>
                              <p:par>
                                <p:cTn id="14" presetID="10" presetClass="entr" presetSubtype="0" fill="hold" nodeType="withEffect">
                                  <p:stCondLst>
                                    <p:cond delay="0"/>
                                  </p:stCondLst>
                                  <p:childTnLst>
                                    <p:set>
                                      <p:cBhvr>
                                        <p:cTn id="15" dur="1" fill="hold">
                                          <p:stCondLst>
                                            <p:cond delay="0"/>
                                          </p:stCondLst>
                                        </p:cTn>
                                        <p:tgtEl>
                                          <p:spTgt spid="435"/>
                                        </p:tgtEl>
                                        <p:attrNameLst>
                                          <p:attrName>style.visibility</p:attrName>
                                        </p:attrNameLst>
                                      </p:cBhvr>
                                      <p:to>
                                        <p:strVal val="visible"/>
                                      </p:to>
                                    </p:set>
                                    <p:animEffect transition="in" filter="fade">
                                      <p:cBhvr>
                                        <p:cTn id="16" dur="500"/>
                                        <p:tgtEl>
                                          <p:spTgt spid="435"/>
                                        </p:tgtEl>
                                      </p:cBhvr>
                                    </p:animEffect>
                                  </p:childTnLst>
                                </p:cTn>
                              </p:par>
                              <p:par>
                                <p:cTn id="17" presetID="10" presetClass="entr" presetSubtype="0" fill="hold" nodeType="withEffect">
                                  <p:stCondLst>
                                    <p:cond delay="0"/>
                                  </p:stCondLst>
                                  <p:childTnLst>
                                    <p:set>
                                      <p:cBhvr>
                                        <p:cTn id="18" dur="1" fill="hold">
                                          <p:stCondLst>
                                            <p:cond delay="0"/>
                                          </p:stCondLst>
                                        </p:cTn>
                                        <p:tgtEl>
                                          <p:spTgt spid="446"/>
                                        </p:tgtEl>
                                        <p:attrNameLst>
                                          <p:attrName>style.visibility</p:attrName>
                                        </p:attrNameLst>
                                      </p:cBhvr>
                                      <p:to>
                                        <p:strVal val="visible"/>
                                      </p:to>
                                    </p:set>
                                    <p:animEffect transition="in" filter="fade">
                                      <p:cBhvr>
                                        <p:cTn id="19" dur="500"/>
                                        <p:tgtEl>
                                          <p:spTgt spid="446"/>
                                        </p:tgtEl>
                                      </p:cBhvr>
                                    </p:animEffect>
                                  </p:childTnLst>
                                </p:cTn>
                              </p:par>
                              <p:par>
                                <p:cTn id="20" presetID="10" presetClass="entr" presetSubtype="0" fill="hold" nodeType="withEffect">
                                  <p:stCondLst>
                                    <p:cond delay="0"/>
                                  </p:stCondLst>
                                  <p:childTnLst>
                                    <p:set>
                                      <p:cBhvr>
                                        <p:cTn id="21" dur="1" fill="hold">
                                          <p:stCondLst>
                                            <p:cond delay="0"/>
                                          </p:stCondLst>
                                        </p:cTn>
                                        <p:tgtEl>
                                          <p:spTgt spid="447"/>
                                        </p:tgtEl>
                                        <p:attrNameLst>
                                          <p:attrName>style.visibility</p:attrName>
                                        </p:attrNameLst>
                                      </p:cBhvr>
                                      <p:to>
                                        <p:strVal val="visible"/>
                                      </p:to>
                                    </p:set>
                                    <p:animEffect transition="in" filter="fade">
                                      <p:cBhvr>
                                        <p:cTn id="22" dur="500"/>
                                        <p:tgtEl>
                                          <p:spTgt spid="447"/>
                                        </p:tgtEl>
                                      </p:cBhvr>
                                    </p:animEffect>
                                  </p:childTnLst>
                                </p:cTn>
                              </p:par>
                              <p:par>
                                <p:cTn id="23" presetID="10" presetClass="entr" presetSubtype="0" fill="hold" nodeType="withEffect">
                                  <p:stCondLst>
                                    <p:cond delay="0"/>
                                  </p:stCondLst>
                                  <p:childTnLst>
                                    <p:set>
                                      <p:cBhvr>
                                        <p:cTn id="24" dur="1" fill="hold">
                                          <p:stCondLst>
                                            <p:cond delay="0"/>
                                          </p:stCondLst>
                                        </p:cTn>
                                        <p:tgtEl>
                                          <p:spTgt spid="450"/>
                                        </p:tgtEl>
                                        <p:attrNameLst>
                                          <p:attrName>style.visibility</p:attrName>
                                        </p:attrNameLst>
                                      </p:cBhvr>
                                      <p:to>
                                        <p:strVal val="visible"/>
                                      </p:to>
                                    </p:set>
                                    <p:animEffect transition="in" filter="fade">
                                      <p:cBhvr>
                                        <p:cTn id="25" dur="500"/>
                                        <p:tgtEl>
                                          <p:spTgt spid="450"/>
                                        </p:tgtEl>
                                      </p:cBhvr>
                                    </p:animEffect>
                                  </p:childTnLst>
                                </p:cTn>
                              </p:par>
                              <p:par>
                                <p:cTn id="26" presetID="10" presetClass="entr" presetSubtype="0" fill="hold" nodeType="withEffect">
                                  <p:stCondLst>
                                    <p:cond delay="0"/>
                                  </p:stCondLst>
                                  <p:childTnLst>
                                    <p:set>
                                      <p:cBhvr>
                                        <p:cTn id="27" dur="1" fill="hold">
                                          <p:stCondLst>
                                            <p:cond delay="0"/>
                                          </p:stCondLst>
                                        </p:cTn>
                                        <p:tgtEl>
                                          <p:spTgt spid="455"/>
                                        </p:tgtEl>
                                        <p:attrNameLst>
                                          <p:attrName>style.visibility</p:attrName>
                                        </p:attrNameLst>
                                      </p:cBhvr>
                                      <p:to>
                                        <p:strVal val="visible"/>
                                      </p:to>
                                    </p:set>
                                    <p:animEffect transition="in" filter="fade">
                                      <p:cBhvr>
                                        <p:cTn id="28" dur="500"/>
                                        <p:tgtEl>
                                          <p:spTgt spid="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8.5"/>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59090</TotalTime>
  <Words>5985</Words>
  <Application>Microsoft Office PowerPoint</Application>
  <PresentationFormat>On-screen Show (4:3)</PresentationFormat>
  <Paragraphs>759</Paragraphs>
  <Slides>100</Slides>
  <Notes>86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100</vt:i4>
      </vt:variant>
    </vt:vector>
  </HeadingPairs>
  <TitlesOfParts>
    <vt:vector size="111" baseType="lpstr">
      <vt:lpstr>MS PGothic</vt:lpstr>
      <vt:lpstr>Aptos</vt:lpstr>
      <vt:lpstr>Aptos (body)</vt:lpstr>
      <vt:lpstr>Aptos Display</vt:lpstr>
      <vt:lpstr>Arial</vt:lpstr>
      <vt:lpstr>ArialMT</vt:lpstr>
      <vt:lpstr>Calibri</vt:lpstr>
      <vt:lpstr>Helvetica</vt:lpstr>
      <vt:lpstr>Helvetica Neue</vt:lpstr>
      <vt:lpstr>Tahoma</vt:lpstr>
      <vt:lpstr>Office Theme</vt:lpstr>
      <vt:lpstr>Parathyroid Disease</vt:lpstr>
      <vt:lpstr>PowerPoint Presentation</vt:lpstr>
      <vt:lpstr>Parathyroid Glands</vt:lpstr>
      <vt:lpstr>Calcium in the Body</vt:lpstr>
      <vt:lpstr>The Four Functions of Calcium</vt:lpstr>
      <vt:lpstr>The Four Functions of Calcium</vt:lpstr>
      <vt:lpstr>Calcium &amp; the Nerve/Muscle Membrane</vt:lpstr>
      <vt:lpstr>Hypocalcemia – more excitable</vt:lpstr>
      <vt:lpstr>Hypocalcemia</vt:lpstr>
      <vt:lpstr>Hypocalcemia</vt:lpstr>
      <vt:lpstr>Hypercalcemia – less excitable</vt:lpstr>
      <vt:lpstr>Quick Recap</vt:lpstr>
      <vt:lpstr>Calcium Levels</vt:lpstr>
      <vt:lpstr>Calcium Balance in the Body</vt:lpstr>
      <vt:lpstr>Response to Low Ca levels</vt:lpstr>
      <vt:lpstr>Response to High Ca levels</vt:lpstr>
      <vt:lpstr>Actions of PTH</vt:lpstr>
      <vt:lpstr>Vitamin D</vt:lpstr>
      <vt:lpstr>PowerPoint Presentation</vt:lpstr>
      <vt:lpstr>Vitamin D</vt:lpstr>
      <vt:lpstr>Vitamin D </vt:lpstr>
      <vt:lpstr>PowerPoint Presentation</vt:lpstr>
      <vt:lpstr>Too much of a good thing…</vt:lpstr>
      <vt:lpstr>Bone Balance</vt:lpstr>
      <vt:lpstr>Calcium Lab Values</vt:lpstr>
      <vt:lpstr>Lab Confounders</vt:lpstr>
      <vt:lpstr>PowerPoint Presentation</vt:lpstr>
      <vt:lpstr>PowerPoint Presentation</vt:lpstr>
      <vt:lpstr>Calcium Disorders: Symptomatic or Asymptomatic? </vt:lpstr>
      <vt:lpstr>PowerPoint Presentation</vt:lpstr>
      <vt:lpstr>Hypercalcemia Signs &amp; Symptoms</vt:lpstr>
      <vt:lpstr>Hypercalcemia Signs &amp; Symptoms</vt:lpstr>
      <vt:lpstr>Helpful Mnemonic </vt:lpstr>
      <vt:lpstr>Workup of Hypercalcemia</vt:lpstr>
      <vt:lpstr>Workup of Hypercalcemia</vt:lpstr>
      <vt:lpstr>Workup of Hypercalcemia</vt:lpstr>
      <vt:lpstr>PowerPoint Presentation</vt:lpstr>
      <vt:lpstr>What lab findings do you expect to see in hypercalcemia due to malignancy?</vt:lpstr>
      <vt:lpstr>Treatment of Hypercalcemia</vt:lpstr>
      <vt:lpstr>Treatment of Hypercalcemia</vt:lpstr>
      <vt:lpstr>PowerPoint Presentation</vt:lpstr>
      <vt:lpstr>Hypocalcemia S/S</vt:lpstr>
      <vt:lpstr>Hypocalcemia Work-up</vt:lpstr>
      <vt:lpstr>Hypocalcemia Treatment</vt:lpstr>
      <vt:lpstr>Hypocalcemia Treatment</vt:lpstr>
      <vt:lpstr>Hypocalcemia Treatment</vt:lpstr>
      <vt:lpstr>Hypocalcemia Treatment</vt:lpstr>
      <vt:lpstr>PowerPoint Presentation</vt:lpstr>
      <vt:lpstr>Primary Hyperparathyroidism</vt:lpstr>
      <vt:lpstr>Primary Hyperparathyroidism</vt:lpstr>
      <vt:lpstr>PowerPoint Presentation</vt:lpstr>
      <vt:lpstr>Primary Hyperparathyroidism</vt:lpstr>
      <vt:lpstr>Primary Hyperparathyroidism</vt:lpstr>
      <vt:lpstr>Primary Hyperparathyroidism</vt:lpstr>
      <vt:lpstr>Primary Hyperparathyroidism Labs</vt:lpstr>
      <vt:lpstr>Primary Hyperparathyroidism</vt:lpstr>
      <vt:lpstr>Primary Hyperparathyroidism</vt:lpstr>
      <vt:lpstr>Surgery for Primary HPT </vt:lpstr>
      <vt:lpstr>“Hungry Bones” syndrome</vt:lpstr>
      <vt:lpstr>“Hungry Bones” syndrome</vt:lpstr>
      <vt:lpstr>“Hungry Bones” syndrome</vt:lpstr>
      <vt:lpstr>“Hungry Bones” syndrome</vt:lpstr>
      <vt:lpstr>PowerPoint Presentation</vt:lpstr>
      <vt:lpstr>“Hungry Bones”</vt:lpstr>
      <vt:lpstr>PowerPoint Presentation</vt:lpstr>
      <vt:lpstr>Secondary Hyperparathyroidism</vt:lpstr>
      <vt:lpstr>Secondary Hyperparathyroidism</vt:lpstr>
      <vt:lpstr>Secondary Hyperparathyroidism</vt:lpstr>
      <vt:lpstr>Calciphylaxis</vt:lpstr>
      <vt:lpstr>Secondary Hyperparathyroidism in CKD</vt:lpstr>
      <vt:lpstr>Secondary Hyperparathyroidism</vt:lpstr>
      <vt:lpstr>Low Vitamin D and 2nd Hyperparathyroidism</vt:lpstr>
      <vt:lpstr>Secondary Hyperparathyroidism</vt:lpstr>
      <vt:lpstr>Let’s pause and make sure we understand all of that…</vt:lpstr>
      <vt:lpstr>PowerPoint Presentation</vt:lpstr>
      <vt:lpstr>Secondary Hyperparathyroidism  Effects of CKD on the bones </vt:lpstr>
      <vt:lpstr>Secondary Hyperparathyroidism</vt:lpstr>
      <vt:lpstr>Treatment of Secondary HPT in CKD</vt:lpstr>
      <vt:lpstr>Treatment of Secondary HPT in CKD</vt:lpstr>
      <vt:lpstr>Treatment of Secondary HPT in CKD</vt:lpstr>
      <vt:lpstr>Phosphate Binders </vt:lpstr>
      <vt:lpstr>Treatment of Secondary HPT in CKD</vt:lpstr>
      <vt:lpstr>Treatment of Secondary HPT in CKD</vt:lpstr>
      <vt:lpstr>Summary of Medical Treatment  of Secondary HPT in the CKD patient: </vt:lpstr>
      <vt:lpstr>Surgical Treatment of Secondary (and Tertiary) HPT</vt:lpstr>
      <vt:lpstr>PowerPoint Presentation</vt:lpstr>
      <vt:lpstr>Tertiary Hyperparathyroidism</vt:lpstr>
      <vt:lpstr>PowerPoint Presentation</vt:lpstr>
      <vt:lpstr>Tertiary Hyperparathyroidism</vt:lpstr>
      <vt:lpstr>DDx of Hyperparathyroidism</vt:lpstr>
      <vt:lpstr>Hypercalcemia of Malignancy</vt:lpstr>
      <vt:lpstr>PowerPoint Presentation</vt:lpstr>
      <vt:lpstr>Hypoparathyroidism: Etiologies</vt:lpstr>
      <vt:lpstr>Hypoparathyroidism: Etiologies</vt:lpstr>
      <vt:lpstr>Hypoparathyroidism</vt:lpstr>
      <vt:lpstr>Hypoparathyroidism</vt:lpstr>
      <vt:lpstr>Hypoparathyroidism Treatment</vt:lpstr>
      <vt:lpstr>Hypoparathyroidism Treatment</vt:lpstr>
      <vt:lpstr>Pseudohypoparathyroidism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Burgos, Katrina</dc:creator>
  <cp:lastModifiedBy>Raaf, Katrina</cp:lastModifiedBy>
  <cp:revision>166</cp:revision>
  <cp:lastPrinted>2026-10-05T20:10:30Z</cp:lastPrinted>
  <dcterms:created xsi:type="dcterms:W3CDTF">2025-07-28T02:35:56Z</dcterms:created>
  <dcterms:modified xsi:type="dcterms:W3CDTF">2026-10-08T18:11:57Z</dcterms:modified>
</cp:coreProperties>
</file>