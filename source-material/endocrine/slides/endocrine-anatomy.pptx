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handoutMasterIdLst>
    <p:handoutMasterId r:id="rId60"/>
  </p:handoutMasterIdLst>
  <p:sldIdLst>
    <p:sldId id="256" r:id="rId5"/>
    <p:sldId id="311" r:id="rId6"/>
    <p:sldId id="300" r:id="rId7"/>
    <p:sldId id="273" r:id="rId8"/>
    <p:sldId id="277" r:id="rId9"/>
    <p:sldId id="312" r:id="rId10"/>
    <p:sldId id="257" r:id="rId11"/>
    <p:sldId id="282" r:id="rId12"/>
    <p:sldId id="313" r:id="rId13"/>
    <p:sldId id="314" r:id="rId14"/>
    <p:sldId id="308" r:id="rId15"/>
    <p:sldId id="315" r:id="rId16"/>
    <p:sldId id="280" r:id="rId17"/>
    <p:sldId id="303" r:id="rId18"/>
    <p:sldId id="281" r:id="rId19"/>
    <p:sldId id="258" r:id="rId20"/>
    <p:sldId id="259" r:id="rId21"/>
    <p:sldId id="284" r:id="rId22"/>
    <p:sldId id="285" r:id="rId23"/>
    <p:sldId id="286" r:id="rId24"/>
    <p:sldId id="260" r:id="rId25"/>
    <p:sldId id="274" r:id="rId26"/>
    <p:sldId id="301" r:id="rId27"/>
    <p:sldId id="262" r:id="rId28"/>
    <p:sldId id="304" r:id="rId29"/>
    <p:sldId id="287" r:id="rId30"/>
    <p:sldId id="263" r:id="rId31"/>
    <p:sldId id="264" r:id="rId32"/>
    <p:sldId id="305" r:id="rId33"/>
    <p:sldId id="288" r:id="rId34"/>
    <p:sldId id="265" r:id="rId35"/>
    <p:sldId id="306" r:id="rId36"/>
    <p:sldId id="266" r:id="rId37"/>
    <p:sldId id="289" r:id="rId38"/>
    <p:sldId id="290" r:id="rId39"/>
    <p:sldId id="267" r:id="rId40"/>
    <p:sldId id="298" r:id="rId41"/>
    <p:sldId id="275" r:id="rId42"/>
    <p:sldId id="299" r:id="rId43"/>
    <p:sldId id="291" r:id="rId44"/>
    <p:sldId id="292" r:id="rId45"/>
    <p:sldId id="307" r:id="rId46"/>
    <p:sldId id="295" r:id="rId47"/>
    <p:sldId id="268" r:id="rId48"/>
    <p:sldId id="269" r:id="rId49"/>
    <p:sldId id="293" r:id="rId50"/>
    <p:sldId id="297" r:id="rId51"/>
    <p:sldId id="296" r:id="rId52"/>
    <p:sldId id="270" r:id="rId53"/>
    <p:sldId id="294" r:id="rId54"/>
    <p:sldId id="271" r:id="rId55"/>
    <p:sldId id="276" r:id="rId56"/>
    <p:sldId id="278" r:id="rId57"/>
    <p:sldId id="316" r:id="rId58"/>
  </p:sldIdLst>
  <p:sldSz cx="9144000" cy="6858000" type="screen4x3"/>
  <p:notesSz cx="6858000" cy="9220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84E386-0D74-4E06-A269-5DB3B049E798}" v="1" dt="2025-12-01T13:48:07.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p:cViewPr varScale="1">
        <p:scale>
          <a:sx n="78" d="100"/>
          <a:sy n="78" d="100"/>
        </p:scale>
        <p:origin x="1627"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Palmer" userId="af6fc57e-91ce-4a9c-9f86-f4b62c881051" providerId="ADAL" clId="{933688DB-7407-4771-B3D5-21C94CFB92FC}"/>
    <pc:docChg chg="custSel modSld">
      <pc:chgData name="Caroline Palmer" userId="af6fc57e-91ce-4a9c-9f86-f4b62c881051" providerId="ADAL" clId="{933688DB-7407-4771-B3D5-21C94CFB92FC}" dt="2024-08-23T03:09:36.543" v="731" actId="14100"/>
      <pc:docMkLst>
        <pc:docMk/>
      </pc:docMkLst>
      <pc:sldChg chg="modSp mod">
        <pc:chgData name="Caroline Palmer" userId="af6fc57e-91ce-4a9c-9f86-f4b62c881051" providerId="ADAL" clId="{933688DB-7407-4771-B3D5-21C94CFB92FC}" dt="2024-08-23T03:09:36.543" v="731" actId="14100"/>
        <pc:sldMkLst>
          <pc:docMk/>
          <pc:sldMk cId="0" sldId="265"/>
        </pc:sldMkLst>
      </pc:sldChg>
      <pc:sldChg chg="modSp mod">
        <pc:chgData name="Caroline Palmer" userId="af6fc57e-91ce-4a9c-9f86-f4b62c881051" providerId="ADAL" clId="{933688DB-7407-4771-B3D5-21C94CFB92FC}" dt="2024-08-23T02:59:32.148" v="214" actId="20577"/>
        <pc:sldMkLst>
          <pc:docMk/>
          <pc:sldMk cId="2598132289" sldId="287"/>
        </pc:sldMkLst>
      </pc:sldChg>
    </pc:docChg>
  </pc:docChgLst>
  <pc:docChgLst>
    <pc:chgData name="Palmer, Caroline" userId="af6fc57e-91ce-4a9c-9f86-f4b62c881051" providerId="ADAL" clId="{3884E386-0D74-4E06-A269-5DB3B049E798}"/>
    <pc:docChg chg="custSel addSld modSld">
      <pc:chgData name="Palmer, Caroline" userId="af6fc57e-91ce-4a9c-9f86-f4b62c881051" providerId="ADAL" clId="{3884E386-0D74-4E06-A269-5DB3B049E798}" dt="2025-12-01T13:50:00.766" v="5" actId="1076"/>
      <pc:docMkLst>
        <pc:docMk/>
      </pc:docMkLst>
      <pc:sldChg chg="addSp delSp modSp new mod">
        <pc:chgData name="Palmer, Caroline" userId="af6fc57e-91ce-4a9c-9f86-f4b62c881051" providerId="ADAL" clId="{3884E386-0D74-4E06-A269-5DB3B049E798}" dt="2025-12-01T13:50:00.766" v="5" actId="1076"/>
        <pc:sldMkLst>
          <pc:docMk/>
          <pc:sldMk cId="546723189" sldId="316"/>
        </pc:sldMkLst>
        <pc:spChg chg="del">
          <ac:chgData name="Palmer, Caroline" userId="af6fc57e-91ce-4a9c-9f86-f4b62c881051" providerId="ADAL" clId="{3884E386-0D74-4E06-A269-5DB3B049E798}" dt="2025-12-01T13:48:18.253" v="2" actId="21"/>
          <ac:spMkLst>
            <pc:docMk/>
            <pc:sldMk cId="546723189" sldId="316"/>
            <ac:spMk id="2" creationId="{38ED4C06-413C-D3C9-0C5E-8E4899EC4686}"/>
          </ac:spMkLst>
        </pc:spChg>
        <pc:spChg chg="del">
          <ac:chgData name="Palmer, Caroline" userId="af6fc57e-91ce-4a9c-9f86-f4b62c881051" providerId="ADAL" clId="{3884E386-0D74-4E06-A269-5DB3B049E798}" dt="2025-12-01T13:48:07.206" v="1"/>
          <ac:spMkLst>
            <pc:docMk/>
            <pc:sldMk cId="546723189" sldId="316"/>
            <ac:spMk id="3" creationId="{BC22E6D4-8453-4903-5767-940F3AD132A8}"/>
          </ac:spMkLst>
        </pc:spChg>
        <pc:picChg chg="add mod">
          <ac:chgData name="Palmer, Caroline" userId="af6fc57e-91ce-4a9c-9f86-f4b62c881051" providerId="ADAL" clId="{3884E386-0D74-4E06-A269-5DB3B049E798}" dt="2025-12-01T13:50:00.766" v="5" actId="1076"/>
          <ac:picMkLst>
            <pc:docMk/>
            <pc:sldMk cId="546723189" sldId="316"/>
            <ac:picMk id="4" creationId="{107B5FA7-E0EC-28FB-B831-0D6CF61C7632}"/>
          </ac:picMkLst>
        </pc:picChg>
      </pc:sldChg>
    </pc:docChg>
  </pc:docChgLst>
  <pc:docChgLst>
    <pc:chgData name="Palmer, Caroline" userId="af6fc57e-91ce-4a9c-9f86-f4b62c881051" providerId="ADAL" clId="{933688DB-7407-4771-B3D5-21C94CFB92FC}"/>
    <pc:docChg chg="addSld modSld sldOrd">
      <pc:chgData name="Palmer, Caroline" userId="af6fc57e-91ce-4a9c-9f86-f4b62c881051" providerId="ADAL" clId="{933688DB-7407-4771-B3D5-21C94CFB92FC}" dt="2024-08-21T03:05:58.542" v="88" actId="680"/>
      <pc:docMkLst>
        <pc:docMk/>
      </pc:docMkLst>
      <pc:sldChg chg="modSp mod">
        <pc:chgData name="Palmer, Caroline" userId="af6fc57e-91ce-4a9c-9f86-f4b62c881051" providerId="ADAL" clId="{933688DB-7407-4771-B3D5-21C94CFB92FC}" dt="2024-08-21T03:00:31.620" v="8" actId="20577"/>
        <pc:sldMkLst>
          <pc:docMk/>
          <pc:sldMk cId="752345700" sldId="302"/>
        </pc:sldMkLst>
      </pc:sldChg>
      <pc:sldChg chg="addSp delSp modSp new mod ord">
        <pc:chgData name="Palmer, Caroline" userId="af6fc57e-91ce-4a9c-9f86-f4b62c881051" providerId="ADAL" clId="{933688DB-7407-4771-B3D5-21C94CFB92FC}" dt="2024-08-21T03:04:31.389" v="87"/>
        <pc:sldMkLst>
          <pc:docMk/>
          <pc:sldMk cId="2932722390" sldId="308"/>
        </pc:sldMkLst>
      </pc:sldChg>
      <pc:sldChg chg="addSp delSp modSp new mod">
        <pc:chgData name="Palmer, Caroline" userId="af6fc57e-91ce-4a9c-9f86-f4b62c881051" providerId="ADAL" clId="{933688DB-7407-4771-B3D5-21C94CFB92FC}" dt="2024-08-21T03:04:15.040" v="84" actId="20577"/>
        <pc:sldMkLst>
          <pc:docMk/>
          <pc:sldMk cId="2305933727" sldId="309"/>
        </pc:sldMkLst>
      </pc:sldChg>
      <pc:sldChg chg="new">
        <pc:chgData name="Palmer, Caroline" userId="af6fc57e-91ce-4a9c-9f86-f4b62c881051" providerId="ADAL" clId="{933688DB-7407-4771-B3D5-21C94CFB92FC}" dt="2024-08-21T03:05:58.542" v="88" actId="680"/>
        <pc:sldMkLst>
          <pc:docMk/>
          <pc:sldMk cId="941646304" sldId="310"/>
        </pc:sldMkLst>
      </pc:sldChg>
    </pc:docChg>
  </pc:docChgLst>
  <pc:docChgLst>
    <pc:chgData name="Palmer, Caroline" userId="af6fc57e-91ce-4a9c-9f86-f4b62c881051" providerId="ADAL" clId="{2DC06E21-A2DC-4A87-A4CB-2146DDB77DE2}"/>
    <pc:docChg chg="delSld modSld sldOrd">
      <pc:chgData name="Palmer, Caroline" userId="af6fc57e-91ce-4a9c-9f86-f4b62c881051" providerId="ADAL" clId="{2DC06E21-A2DC-4A87-A4CB-2146DDB77DE2}" dt="2022-11-07T21:39:28.710" v="99" actId="207"/>
      <pc:docMkLst>
        <pc:docMk/>
      </pc:docMkLst>
      <pc:sldChg chg="modSp">
        <pc:chgData name="Palmer, Caroline" userId="af6fc57e-91ce-4a9c-9f86-f4b62c881051" providerId="ADAL" clId="{2DC06E21-A2DC-4A87-A4CB-2146DDB77DE2}" dt="2022-10-11T03:03:39.864" v="13" actId="20577"/>
        <pc:sldMkLst>
          <pc:docMk/>
          <pc:sldMk cId="0" sldId="256"/>
        </pc:sldMkLst>
      </pc:sldChg>
      <pc:sldChg chg="modSp">
        <pc:chgData name="Palmer, Caroline" userId="af6fc57e-91ce-4a9c-9f86-f4b62c881051" providerId="ADAL" clId="{2DC06E21-A2DC-4A87-A4CB-2146DDB77DE2}" dt="2022-10-12T03:02:34.059" v="16" actId="20577"/>
        <pc:sldMkLst>
          <pc:docMk/>
          <pc:sldMk cId="0" sldId="259"/>
        </pc:sldMkLst>
      </pc:sldChg>
      <pc:sldChg chg="modSp ord">
        <pc:chgData name="Palmer, Caroline" userId="af6fc57e-91ce-4a9c-9f86-f4b62c881051" providerId="ADAL" clId="{2DC06E21-A2DC-4A87-A4CB-2146DDB77DE2}" dt="2022-11-07T20:44:59.270" v="76" actId="207"/>
        <pc:sldMkLst>
          <pc:docMk/>
          <pc:sldMk cId="0" sldId="263"/>
        </pc:sldMkLst>
      </pc:sldChg>
      <pc:sldChg chg="modSp">
        <pc:chgData name="Palmer, Caroline" userId="af6fc57e-91ce-4a9c-9f86-f4b62c881051" providerId="ADAL" clId="{2DC06E21-A2DC-4A87-A4CB-2146DDB77DE2}" dt="2022-11-07T21:04:13.025" v="94" actId="207"/>
        <pc:sldMkLst>
          <pc:docMk/>
          <pc:sldMk cId="0" sldId="268"/>
        </pc:sldMkLst>
      </pc:sldChg>
      <pc:sldChg chg="modSp">
        <pc:chgData name="Palmer, Caroline" userId="af6fc57e-91ce-4a9c-9f86-f4b62c881051" providerId="ADAL" clId="{2DC06E21-A2DC-4A87-A4CB-2146DDB77DE2}" dt="2022-11-07T21:37:33.907" v="97" actId="207"/>
        <pc:sldMkLst>
          <pc:docMk/>
          <pc:sldMk cId="0" sldId="270"/>
        </pc:sldMkLst>
      </pc:sldChg>
      <pc:sldChg chg="modSp">
        <pc:chgData name="Palmer, Caroline" userId="af6fc57e-91ce-4a9c-9f86-f4b62c881051" providerId="ADAL" clId="{2DC06E21-A2DC-4A87-A4CB-2146DDB77DE2}" dt="2022-11-07T20:57:51.625" v="90" actId="207"/>
        <pc:sldMkLst>
          <pc:docMk/>
          <pc:sldMk cId="3441337137" sldId="275"/>
        </pc:sldMkLst>
      </pc:sldChg>
      <pc:sldChg chg="modSp">
        <pc:chgData name="Palmer, Caroline" userId="af6fc57e-91ce-4a9c-9f86-f4b62c881051" providerId="ADAL" clId="{2DC06E21-A2DC-4A87-A4CB-2146DDB77DE2}" dt="2022-11-07T21:39:02.917" v="98" actId="207"/>
        <pc:sldMkLst>
          <pc:docMk/>
          <pc:sldMk cId="462718655" sldId="276"/>
        </pc:sldMkLst>
      </pc:sldChg>
      <pc:sldChg chg="modSp">
        <pc:chgData name="Palmer, Caroline" userId="af6fc57e-91ce-4a9c-9f86-f4b62c881051" providerId="ADAL" clId="{2DC06E21-A2DC-4A87-A4CB-2146DDB77DE2}" dt="2022-11-07T20:19:29.124" v="62" actId="207"/>
        <pc:sldMkLst>
          <pc:docMk/>
          <pc:sldMk cId="1064392536" sldId="277"/>
        </pc:sldMkLst>
      </pc:sldChg>
      <pc:sldChg chg="modSp">
        <pc:chgData name="Palmer, Caroline" userId="af6fc57e-91ce-4a9c-9f86-f4b62c881051" providerId="ADAL" clId="{2DC06E21-A2DC-4A87-A4CB-2146DDB77DE2}" dt="2022-11-07T21:39:28.710" v="99" actId="207"/>
        <pc:sldMkLst>
          <pc:docMk/>
          <pc:sldMk cId="1413162017" sldId="278"/>
        </pc:sldMkLst>
      </pc:sldChg>
      <pc:sldChg chg="modSp">
        <pc:chgData name="Palmer, Caroline" userId="af6fc57e-91ce-4a9c-9f86-f4b62c881051" providerId="ADAL" clId="{2DC06E21-A2DC-4A87-A4CB-2146DDB77DE2}" dt="2022-10-12T02:51:44.965" v="15" actId="20577"/>
        <pc:sldMkLst>
          <pc:docMk/>
          <pc:sldMk cId="1068893604" sldId="280"/>
        </pc:sldMkLst>
      </pc:sldChg>
      <pc:sldChg chg="modSp">
        <pc:chgData name="Palmer, Caroline" userId="af6fc57e-91ce-4a9c-9f86-f4b62c881051" providerId="ADAL" clId="{2DC06E21-A2DC-4A87-A4CB-2146DDB77DE2}" dt="2022-11-07T20:33:36.812" v="64" actId="207"/>
        <pc:sldMkLst>
          <pc:docMk/>
          <pc:sldMk cId="2537031513" sldId="282"/>
        </pc:sldMkLst>
      </pc:sldChg>
      <pc:sldChg chg="modSp">
        <pc:chgData name="Palmer, Caroline" userId="af6fc57e-91ce-4a9c-9f86-f4b62c881051" providerId="ADAL" clId="{2DC06E21-A2DC-4A87-A4CB-2146DDB77DE2}" dt="2022-11-07T20:39:59.972" v="66" actId="207"/>
        <pc:sldMkLst>
          <pc:docMk/>
          <pc:sldMk cId="1038458292" sldId="284"/>
        </pc:sldMkLst>
      </pc:sldChg>
      <pc:sldChg chg="modSp">
        <pc:chgData name="Palmer, Caroline" userId="af6fc57e-91ce-4a9c-9f86-f4b62c881051" providerId="ADAL" clId="{2DC06E21-A2DC-4A87-A4CB-2146DDB77DE2}" dt="2022-11-07T20:40:37.799" v="67" actId="207"/>
        <pc:sldMkLst>
          <pc:docMk/>
          <pc:sldMk cId="535162606" sldId="285"/>
        </pc:sldMkLst>
      </pc:sldChg>
      <pc:sldChg chg="modSp">
        <pc:chgData name="Palmer, Caroline" userId="af6fc57e-91ce-4a9c-9f86-f4b62c881051" providerId="ADAL" clId="{2DC06E21-A2DC-4A87-A4CB-2146DDB77DE2}" dt="2022-11-07T20:44:44.464" v="75" actId="207"/>
        <pc:sldMkLst>
          <pc:docMk/>
          <pc:sldMk cId="2598132289" sldId="287"/>
        </pc:sldMkLst>
      </pc:sldChg>
      <pc:sldChg chg="modSp">
        <pc:chgData name="Palmer, Caroline" userId="af6fc57e-91ce-4a9c-9f86-f4b62c881051" providerId="ADAL" clId="{2DC06E21-A2DC-4A87-A4CB-2146DDB77DE2}" dt="2022-11-07T20:48:38.711" v="81" actId="207"/>
        <pc:sldMkLst>
          <pc:docMk/>
          <pc:sldMk cId="1559355311" sldId="288"/>
        </pc:sldMkLst>
      </pc:sldChg>
      <pc:sldChg chg="modSp">
        <pc:chgData name="Palmer, Caroline" userId="af6fc57e-91ce-4a9c-9f86-f4b62c881051" providerId="ADAL" clId="{2DC06E21-A2DC-4A87-A4CB-2146DDB77DE2}" dt="2022-11-07T20:51:01.611" v="83" actId="207"/>
        <pc:sldMkLst>
          <pc:docMk/>
          <pc:sldMk cId="25396258" sldId="289"/>
        </pc:sldMkLst>
      </pc:sldChg>
      <pc:sldChg chg="modSp">
        <pc:chgData name="Palmer, Caroline" userId="af6fc57e-91ce-4a9c-9f86-f4b62c881051" providerId="ADAL" clId="{2DC06E21-A2DC-4A87-A4CB-2146DDB77DE2}" dt="2022-11-07T20:52:06.113" v="88" actId="207"/>
        <pc:sldMkLst>
          <pc:docMk/>
          <pc:sldMk cId="3878635106" sldId="290"/>
        </pc:sldMkLst>
      </pc:sldChg>
      <pc:sldChg chg="modSp">
        <pc:chgData name="Palmer, Caroline" userId="af6fc57e-91ce-4a9c-9f86-f4b62c881051" providerId="ADAL" clId="{2DC06E21-A2DC-4A87-A4CB-2146DDB77DE2}" dt="2022-11-07T20:58:09.123" v="92" actId="207"/>
        <pc:sldMkLst>
          <pc:docMk/>
          <pc:sldMk cId="564369102" sldId="291"/>
        </pc:sldMkLst>
      </pc:sldChg>
      <pc:sldChg chg="modSp">
        <pc:chgData name="Palmer, Caroline" userId="af6fc57e-91ce-4a9c-9f86-f4b62c881051" providerId="ADAL" clId="{2DC06E21-A2DC-4A87-A4CB-2146DDB77DE2}" dt="2022-11-07T21:09:03.464" v="96" actId="207"/>
        <pc:sldMkLst>
          <pc:docMk/>
          <pc:sldMk cId="1327571074" sldId="293"/>
        </pc:sldMkLst>
      </pc:sldChg>
      <pc:sldChg chg="addSp modSp">
        <pc:chgData name="Palmer, Caroline" userId="af6fc57e-91ce-4a9c-9f86-f4b62c881051" providerId="ADAL" clId="{2DC06E21-A2DC-4A87-A4CB-2146DDB77DE2}" dt="2022-10-12T14:01:24.622" v="61" actId="1076"/>
        <pc:sldMkLst>
          <pc:docMk/>
          <pc:sldMk cId="1468110122" sldId="297"/>
        </pc:sldMkLst>
      </pc:sldChg>
      <pc:sldChg chg="addSp modSp">
        <pc:chgData name="Palmer, Caroline" userId="af6fc57e-91ce-4a9c-9f86-f4b62c881051" providerId="ADAL" clId="{2DC06E21-A2DC-4A87-A4CB-2146DDB77DE2}" dt="2022-10-12T13:39:52.705" v="30" actId="1076"/>
        <pc:sldMkLst>
          <pc:docMk/>
          <pc:sldMk cId="2115014458" sldId="299"/>
        </pc:sldMkLst>
      </pc:sldChg>
      <pc:sldChg chg="modSp">
        <pc:chgData name="Palmer, Caroline" userId="af6fc57e-91ce-4a9c-9f86-f4b62c881051" providerId="ADAL" clId="{2DC06E21-A2DC-4A87-A4CB-2146DDB77DE2}" dt="2022-10-12T03:36:17.626" v="21" actId="1076"/>
        <pc:sldMkLst>
          <pc:docMk/>
          <pc:sldMk cId="1607759759" sldId="304"/>
        </pc:sldMkLst>
      </pc:sldChg>
    </pc:docChg>
  </pc:docChgLst>
  <pc:docChgLst>
    <pc:chgData name="Palmer, Caroline" userId="af6fc57e-91ce-4a9c-9f86-f4b62c881051" providerId="ADAL" clId="{6A13F926-459F-4DB3-ADA5-10A3403C1C4A}"/>
    <pc:docChg chg="custSel modSld">
      <pc:chgData name="Palmer, Caroline" userId="af6fc57e-91ce-4a9c-9f86-f4b62c881051" providerId="ADAL" clId="{6A13F926-459F-4DB3-ADA5-10A3403C1C4A}" dt="2023-10-30T02:26:22.399" v="116" actId="27636"/>
      <pc:docMkLst>
        <pc:docMk/>
      </pc:docMkLst>
      <pc:sldChg chg="modSp mod">
        <pc:chgData name="Palmer, Caroline" userId="af6fc57e-91ce-4a9c-9f86-f4b62c881051" providerId="ADAL" clId="{6A13F926-459F-4DB3-ADA5-10A3403C1C4A}" dt="2023-10-30T02:26:22.399" v="116" actId="27636"/>
        <pc:sldMkLst>
          <pc:docMk/>
          <pc:sldMk cId="2078619508" sldId="2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101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1010"/>
          </a:xfrm>
          <a:prstGeom prst="rect">
            <a:avLst/>
          </a:prstGeom>
        </p:spPr>
        <p:txBody>
          <a:bodyPr vert="horz" lIns="91440" tIns="45720" rIns="91440" bIns="45720" rtlCol="0"/>
          <a:lstStyle>
            <a:lvl1pPr algn="r">
              <a:defRPr sz="1200"/>
            </a:lvl1pPr>
          </a:lstStyle>
          <a:p>
            <a:fld id="{16DD6C1C-7F4E-4529-9849-116CB269694F}" type="datetimeFigureOut">
              <a:rPr lang="en-US" smtClean="0"/>
              <a:t>12/1/2025</a:t>
            </a:fld>
            <a:endParaRPr lang="en-US"/>
          </a:p>
        </p:txBody>
      </p:sp>
      <p:sp>
        <p:nvSpPr>
          <p:cNvPr id="4" name="Footer Placeholder 3"/>
          <p:cNvSpPr>
            <a:spLocks noGrp="1"/>
          </p:cNvSpPr>
          <p:nvPr>
            <p:ph type="ftr" sz="quarter" idx="2"/>
          </p:nvPr>
        </p:nvSpPr>
        <p:spPr>
          <a:xfrm>
            <a:off x="0" y="8757590"/>
            <a:ext cx="2971800" cy="4610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757590"/>
            <a:ext cx="2971800" cy="461010"/>
          </a:xfrm>
          <a:prstGeom prst="rect">
            <a:avLst/>
          </a:prstGeom>
        </p:spPr>
        <p:txBody>
          <a:bodyPr vert="horz" lIns="91440" tIns="45720" rIns="91440" bIns="45720" rtlCol="0" anchor="b"/>
          <a:lstStyle>
            <a:lvl1pPr algn="r">
              <a:defRPr sz="1200"/>
            </a:lvl1pPr>
          </a:lstStyle>
          <a:p>
            <a:fld id="{CA255A67-6C04-45DC-8F1A-04A9128F4358}" type="slidenum">
              <a:rPr lang="en-US" smtClean="0"/>
              <a:t>‹#›</a:t>
            </a:fld>
            <a:endParaRPr lang="en-US"/>
          </a:p>
        </p:txBody>
      </p:sp>
    </p:spTree>
    <p:extLst>
      <p:ext uri="{BB962C8B-B14F-4D97-AF65-F5344CB8AC3E}">
        <p14:creationId xmlns:p14="http://schemas.microsoft.com/office/powerpoint/2010/main" val="1669974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1963"/>
          </a:xfrm>
          <a:prstGeom prst="rect">
            <a:avLst/>
          </a:prstGeom>
        </p:spPr>
        <p:txBody>
          <a:bodyPr vert="horz" lIns="91440" tIns="45720" rIns="91440" bIns="45720" rtlCol="0"/>
          <a:lstStyle>
            <a:lvl1pPr algn="r">
              <a:defRPr sz="1200"/>
            </a:lvl1pPr>
          </a:lstStyle>
          <a:p>
            <a:fld id="{B40C2553-464E-4CF5-AD49-A94C30FBECC3}" type="datetimeFigureOut">
              <a:rPr lang="en-US" smtClean="0"/>
              <a:t>12/1/2025</a:t>
            </a:fld>
            <a:endParaRPr lang="en-US"/>
          </a:p>
        </p:txBody>
      </p:sp>
      <p:sp>
        <p:nvSpPr>
          <p:cNvPr id="4" name="Slide Image Placeholder 3"/>
          <p:cNvSpPr>
            <a:spLocks noGrp="1" noRot="1" noChangeAspect="1"/>
          </p:cNvSpPr>
          <p:nvPr>
            <p:ph type="sldImg" idx="2"/>
          </p:nvPr>
        </p:nvSpPr>
        <p:spPr>
          <a:xfrm>
            <a:off x="1354138" y="1152525"/>
            <a:ext cx="4149725" cy="31115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37063"/>
            <a:ext cx="5486400" cy="3630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8238"/>
            <a:ext cx="2971800" cy="4619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758238"/>
            <a:ext cx="2971800" cy="461962"/>
          </a:xfrm>
          <a:prstGeom prst="rect">
            <a:avLst/>
          </a:prstGeom>
        </p:spPr>
        <p:txBody>
          <a:bodyPr vert="horz" lIns="91440" tIns="45720" rIns="91440" bIns="45720" rtlCol="0" anchor="b"/>
          <a:lstStyle>
            <a:lvl1pPr algn="r">
              <a:defRPr sz="1200"/>
            </a:lvl1pPr>
          </a:lstStyle>
          <a:p>
            <a:fld id="{563605DA-4E54-49A0-8FF3-A29A3CFF4133}" type="slidenum">
              <a:rPr lang="en-US" smtClean="0"/>
              <a:t>‹#›</a:t>
            </a:fld>
            <a:endParaRPr lang="en-US"/>
          </a:p>
        </p:txBody>
      </p:sp>
    </p:spTree>
    <p:extLst>
      <p:ext uri="{BB962C8B-B14F-4D97-AF65-F5344CB8AC3E}">
        <p14:creationId xmlns:p14="http://schemas.microsoft.com/office/powerpoint/2010/main" val="3937082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make hormones that control other parts of endocrine system</a:t>
            </a:r>
          </a:p>
        </p:txBody>
      </p:sp>
      <p:sp>
        <p:nvSpPr>
          <p:cNvPr id="4" name="Slide Number Placeholder 3"/>
          <p:cNvSpPr>
            <a:spLocks noGrp="1"/>
          </p:cNvSpPr>
          <p:nvPr>
            <p:ph type="sldNum" sz="quarter" idx="5"/>
          </p:nvPr>
        </p:nvSpPr>
        <p:spPr/>
        <p:txBody>
          <a:bodyPr/>
          <a:lstStyle/>
          <a:p>
            <a:fld id="{563605DA-4E54-49A0-8FF3-A29A3CFF4133}" type="slidenum">
              <a:rPr lang="en-US" smtClean="0"/>
              <a:t>4</a:t>
            </a:fld>
            <a:endParaRPr lang="en-US"/>
          </a:p>
        </p:txBody>
      </p:sp>
    </p:spTree>
    <p:extLst>
      <p:ext uri="{BB962C8B-B14F-4D97-AF65-F5344CB8AC3E}">
        <p14:creationId xmlns:p14="http://schemas.microsoft.com/office/powerpoint/2010/main" val="148625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Stimulating = releasing </a:t>
            </a:r>
            <a:r>
              <a:rPr lang="en-US" dirty="0" err="1"/>
              <a:t>hormoes</a:t>
            </a:r>
            <a:r>
              <a:rPr lang="en-US" dirty="0"/>
              <a:t> </a:t>
            </a:r>
          </a:p>
        </p:txBody>
      </p:sp>
      <p:sp>
        <p:nvSpPr>
          <p:cNvPr id="4" name="Slide Number Placeholder 3"/>
          <p:cNvSpPr>
            <a:spLocks noGrp="1"/>
          </p:cNvSpPr>
          <p:nvPr>
            <p:ph type="sldNum" sz="quarter" idx="5"/>
          </p:nvPr>
        </p:nvSpPr>
        <p:spPr/>
        <p:txBody>
          <a:bodyPr/>
          <a:lstStyle/>
          <a:p>
            <a:fld id="{563605DA-4E54-49A0-8FF3-A29A3CFF4133}" type="slidenum">
              <a:rPr lang="en-US" smtClean="0"/>
              <a:t>5</a:t>
            </a:fld>
            <a:endParaRPr lang="en-US"/>
          </a:p>
        </p:txBody>
      </p:sp>
    </p:spTree>
    <p:extLst>
      <p:ext uri="{BB962C8B-B14F-4D97-AF65-F5344CB8AC3E}">
        <p14:creationId xmlns:p14="http://schemas.microsoft.com/office/powerpoint/2010/main" val="409787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thyroid hormones increases, then it sends an inhibitory response so halts production when needed</a:t>
            </a:r>
          </a:p>
        </p:txBody>
      </p:sp>
      <p:sp>
        <p:nvSpPr>
          <p:cNvPr id="4" name="Slide Number Placeholder 3"/>
          <p:cNvSpPr>
            <a:spLocks noGrp="1"/>
          </p:cNvSpPr>
          <p:nvPr>
            <p:ph type="sldNum" sz="quarter" idx="5"/>
          </p:nvPr>
        </p:nvSpPr>
        <p:spPr/>
        <p:txBody>
          <a:bodyPr/>
          <a:lstStyle/>
          <a:p>
            <a:fld id="{563605DA-4E54-49A0-8FF3-A29A3CFF4133}" type="slidenum">
              <a:rPr lang="en-US" smtClean="0"/>
              <a:t>9</a:t>
            </a:fld>
            <a:endParaRPr lang="en-US"/>
          </a:p>
        </p:txBody>
      </p:sp>
    </p:spTree>
    <p:extLst>
      <p:ext uri="{BB962C8B-B14F-4D97-AF65-F5344CB8AC3E}">
        <p14:creationId xmlns:p14="http://schemas.microsoft.com/office/powerpoint/2010/main" val="453680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Parafollicular cells in between produce Calcitonin </a:t>
            </a:r>
          </a:p>
        </p:txBody>
      </p:sp>
      <p:sp>
        <p:nvSpPr>
          <p:cNvPr id="4" name="Slide Number Placeholder 3"/>
          <p:cNvSpPr>
            <a:spLocks noGrp="1"/>
          </p:cNvSpPr>
          <p:nvPr>
            <p:ph type="sldNum" sz="quarter" idx="5"/>
          </p:nvPr>
        </p:nvSpPr>
        <p:spPr/>
        <p:txBody>
          <a:bodyPr/>
          <a:lstStyle/>
          <a:p>
            <a:fld id="{563605DA-4E54-49A0-8FF3-A29A3CFF4133}" type="slidenum">
              <a:rPr lang="en-US" smtClean="0"/>
              <a:t>40</a:t>
            </a:fld>
            <a:endParaRPr lang="en-US"/>
          </a:p>
        </p:txBody>
      </p:sp>
    </p:spTree>
    <p:extLst>
      <p:ext uri="{BB962C8B-B14F-4D97-AF65-F5344CB8AC3E}">
        <p14:creationId xmlns:p14="http://schemas.microsoft.com/office/powerpoint/2010/main" val="978280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BBDFD46-76C5-4802-A596-E6EE81BEF13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DFD46-76C5-4802-A596-E6EE81BEF13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BDFD46-76C5-4802-A596-E6EE81BEF13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BDFD46-76C5-4802-A596-E6EE81BEF13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BDFD46-76C5-4802-A596-E6EE81BEF13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BDFD46-76C5-4802-A596-E6EE81BEF13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BDFD46-76C5-4802-A596-E6EE81BEF13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BDFD46-76C5-4802-A596-E6EE81BEF13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BDFD46-76C5-4802-A596-E6EE81BEF13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DFD46-76C5-4802-A596-E6EE81BEF13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DFD46-76C5-4802-A596-E6EE81BEF13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C1A4AE-AE03-46EF-BD70-00E10545B1D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BDFD46-76C5-4802-A596-E6EE81BEF13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1A4AE-AE03-46EF-BD70-00E10545B1D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file:///D:\PPT_ImageInsertion\input\Chapter_2\jpg\Figure%202.083.jpg"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file:///D:\PPT_ImageInsertion\input\Chapter_2\jpg\Figure%202.059.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file:///D:\PPT_ImageInsertion\input\Chapter_2\jpg\Figure%202.060.jpg"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file:///D:\PPT_ImageInsertion\input\Chapter_8\jpg\Figure%20B8.005.jpg" TargetMode="External"/><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Endocrine Anatomy</a:t>
            </a:r>
          </a:p>
        </p:txBody>
      </p:sp>
      <p:sp>
        <p:nvSpPr>
          <p:cNvPr id="3" name="Subtitle 2"/>
          <p:cNvSpPr>
            <a:spLocks noGrp="1"/>
          </p:cNvSpPr>
          <p:nvPr>
            <p:ph type="subTitle" idx="1"/>
          </p:nvPr>
        </p:nvSpPr>
        <p:spPr/>
        <p:txBody>
          <a:bodyPr/>
          <a:lstStyle/>
          <a:p>
            <a:pPr marR="0">
              <a:lnSpc>
                <a:spcPct val="90000"/>
              </a:lnSpc>
            </a:pPr>
            <a:r>
              <a:rPr lang="en-US" sz="2000" dirty="0">
                <a:solidFill>
                  <a:srgbClr val="FFFF00"/>
                </a:solidFill>
              </a:rPr>
              <a:t>Caroline Palmer, MPAS, PA-C</a:t>
            </a:r>
          </a:p>
          <a:p>
            <a:pPr marR="0">
              <a:lnSpc>
                <a:spcPct val="90000"/>
              </a:lnSpc>
            </a:pPr>
            <a:r>
              <a:rPr lang="en-US" sz="2000" dirty="0">
                <a:solidFill>
                  <a:srgbClr val="FFFF00"/>
                </a:solidFill>
              </a:rPr>
              <a:t>Assistant Professor </a:t>
            </a:r>
          </a:p>
          <a:p>
            <a:pPr marR="0">
              <a:lnSpc>
                <a:spcPct val="90000"/>
              </a:lnSpc>
            </a:pPr>
            <a:r>
              <a:rPr lang="en-US" sz="2000" dirty="0">
                <a:solidFill>
                  <a:srgbClr val="FFFF00"/>
                </a:solidFill>
              </a:rPr>
              <a:t>Physician Assistant Department</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2B2BF-0DEC-87D9-06D7-94F5EEC98A60}"/>
              </a:ext>
            </a:extLst>
          </p:cNvPr>
          <p:cNvSpPr>
            <a:spLocks noGrp="1"/>
          </p:cNvSpPr>
          <p:nvPr>
            <p:ph type="title"/>
          </p:nvPr>
        </p:nvSpPr>
        <p:spPr/>
        <p:txBody>
          <a:bodyPr/>
          <a:lstStyle/>
          <a:p>
            <a:r>
              <a:rPr lang="en-US" dirty="0"/>
              <a:t>Endocrine System</a:t>
            </a:r>
          </a:p>
        </p:txBody>
      </p:sp>
      <p:pic>
        <p:nvPicPr>
          <p:cNvPr id="4" name="Content Placeholder 3">
            <a:extLst>
              <a:ext uri="{FF2B5EF4-FFF2-40B4-BE49-F238E27FC236}">
                <a16:creationId xmlns:a16="http://schemas.microsoft.com/office/drawing/2014/main" id="{1F6E1E14-5B9D-51C8-52EB-F57D67BC8E65}"/>
              </a:ext>
            </a:extLst>
          </p:cNvPr>
          <p:cNvPicPr>
            <a:picLocks noGrp="1" noChangeAspect="1"/>
          </p:cNvPicPr>
          <p:nvPr>
            <p:ph idx="1"/>
          </p:nvPr>
        </p:nvPicPr>
        <p:blipFill>
          <a:blip r:embed="rId2"/>
          <a:stretch>
            <a:fillRect/>
          </a:stretch>
        </p:blipFill>
        <p:spPr>
          <a:xfrm>
            <a:off x="1783765" y="1579851"/>
            <a:ext cx="5576470" cy="4990942"/>
          </a:xfrm>
          <a:prstGeom prst="rect">
            <a:avLst/>
          </a:prstGeom>
        </p:spPr>
      </p:pic>
    </p:spTree>
    <p:extLst>
      <p:ext uri="{BB962C8B-B14F-4D97-AF65-F5344CB8AC3E}">
        <p14:creationId xmlns:p14="http://schemas.microsoft.com/office/powerpoint/2010/main" val="1179676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0AFC26E-1C5B-4BCA-ACF1-5F86AAF6EB30}"/>
              </a:ext>
            </a:extLst>
          </p:cNvPr>
          <p:cNvPicPr>
            <a:picLocks noGrp="1" noChangeAspect="1"/>
          </p:cNvPicPr>
          <p:nvPr>
            <p:ph idx="1"/>
          </p:nvPr>
        </p:nvPicPr>
        <p:blipFill>
          <a:blip r:embed="rId2"/>
          <a:stretch>
            <a:fillRect/>
          </a:stretch>
        </p:blipFill>
        <p:spPr>
          <a:xfrm>
            <a:off x="1447800" y="914400"/>
            <a:ext cx="5881241" cy="5225256"/>
          </a:xfrm>
          <a:prstGeom prst="rect">
            <a:avLst/>
          </a:prstGeom>
        </p:spPr>
      </p:pic>
    </p:spTree>
    <p:extLst>
      <p:ext uri="{BB962C8B-B14F-4D97-AF65-F5344CB8AC3E}">
        <p14:creationId xmlns:p14="http://schemas.microsoft.com/office/powerpoint/2010/main" val="4156674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54BBE-6640-4B66-A015-FF19D25D7A2F}"/>
              </a:ext>
            </a:extLst>
          </p:cNvPr>
          <p:cNvSpPr>
            <a:spLocks noGrp="1"/>
          </p:cNvSpPr>
          <p:nvPr>
            <p:ph type="title"/>
          </p:nvPr>
        </p:nvSpPr>
        <p:spPr/>
        <p:txBody>
          <a:bodyPr/>
          <a:lstStyle/>
          <a:p>
            <a:r>
              <a:rPr lang="en-US" dirty="0"/>
              <a:t>Hypothalamus</a:t>
            </a:r>
          </a:p>
        </p:txBody>
      </p:sp>
      <p:sp>
        <p:nvSpPr>
          <p:cNvPr id="3" name="Content Placeholder 2">
            <a:extLst>
              <a:ext uri="{FF2B5EF4-FFF2-40B4-BE49-F238E27FC236}">
                <a16:creationId xmlns:a16="http://schemas.microsoft.com/office/drawing/2014/main" id="{7FF3A9F9-4D40-4B42-AA51-941A9C613A35}"/>
              </a:ext>
            </a:extLst>
          </p:cNvPr>
          <p:cNvSpPr>
            <a:spLocks noGrp="1"/>
          </p:cNvSpPr>
          <p:nvPr>
            <p:ph idx="1"/>
          </p:nvPr>
        </p:nvSpPr>
        <p:spPr>
          <a:xfrm>
            <a:off x="457200" y="1600200"/>
            <a:ext cx="8229600" cy="4983162"/>
          </a:xfrm>
        </p:spPr>
        <p:txBody>
          <a:bodyPr>
            <a:normAutofit fontScale="92500" lnSpcReduction="20000"/>
          </a:bodyPr>
          <a:lstStyle/>
          <a:p>
            <a:r>
              <a:rPr lang="en-US" dirty="0"/>
              <a:t>Portion of the brain that maintains homeostasis</a:t>
            </a:r>
          </a:p>
          <a:p>
            <a:r>
              <a:rPr lang="en-US" dirty="0"/>
              <a:t>Link between the endocrine and nervous systems via pituitary gland</a:t>
            </a:r>
          </a:p>
          <a:p>
            <a:r>
              <a:rPr lang="en-US" dirty="0"/>
              <a:t>Produces releasing hormones that stimulate or inhibit the secretion of other hormones from the pituitary gland</a:t>
            </a:r>
          </a:p>
          <a:p>
            <a:r>
              <a:rPr lang="en-US" dirty="0"/>
              <a:t>Helps control heart rate/blood pressure, body temperature, fluid &amp; electrolyte balance (including thirst), appetite and body weight, glandular secretions of stomach/intestines, influences pituitary to release hormones, fatigue and sleep cycles</a:t>
            </a:r>
          </a:p>
        </p:txBody>
      </p:sp>
    </p:spTree>
    <p:extLst>
      <p:ext uri="{BB962C8B-B14F-4D97-AF65-F5344CB8AC3E}">
        <p14:creationId xmlns:p14="http://schemas.microsoft.com/office/powerpoint/2010/main" val="207861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5EF4-0619-461D-8B1E-F50EA1C9C2F8}"/>
              </a:ext>
            </a:extLst>
          </p:cNvPr>
          <p:cNvSpPr>
            <a:spLocks noGrp="1"/>
          </p:cNvSpPr>
          <p:nvPr>
            <p:ph type="title"/>
          </p:nvPr>
        </p:nvSpPr>
        <p:spPr>
          <a:xfrm>
            <a:off x="457200" y="274638"/>
            <a:ext cx="8229600" cy="639762"/>
          </a:xfrm>
        </p:spPr>
        <p:txBody>
          <a:bodyPr>
            <a:normAutofit fontScale="90000"/>
          </a:bodyPr>
          <a:lstStyle/>
          <a:p>
            <a:r>
              <a:rPr lang="en-US" dirty="0"/>
              <a:t>Hypothalamus</a:t>
            </a:r>
          </a:p>
        </p:txBody>
      </p:sp>
      <p:sp>
        <p:nvSpPr>
          <p:cNvPr id="3" name="Content Placeholder 2">
            <a:extLst>
              <a:ext uri="{FF2B5EF4-FFF2-40B4-BE49-F238E27FC236}">
                <a16:creationId xmlns:a16="http://schemas.microsoft.com/office/drawing/2014/main" id="{51F93668-55B6-4DEC-812D-D0DB6273A525}"/>
              </a:ext>
            </a:extLst>
          </p:cNvPr>
          <p:cNvSpPr>
            <a:spLocks noGrp="1"/>
          </p:cNvSpPr>
          <p:nvPr>
            <p:ph idx="1"/>
          </p:nvPr>
        </p:nvSpPr>
        <p:spPr>
          <a:xfrm>
            <a:off x="457200" y="1066800"/>
            <a:ext cx="8382000" cy="5638800"/>
          </a:xfrm>
        </p:spPr>
        <p:txBody>
          <a:bodyPr>
            <a:normAutofit fontScale="85000" lnSpcReduction="20000"/>
          </a:bodyPr>
          <a:lstStyle/>
          <a:p>
            <a:r>
              <a:rPr lang="en-US" dirty="0"/>
              <a:t>Located below the thalamus but above the pituitary gland</a:t>
            </a:r>
          </a:p>
          <a:p>
            <a:r>
              <a:rPr lang="en-US" dirty="0"/>
              <a:t>Tells the anterior pituitary to synthesize its own hormones </a:t>
            </a:r>
          </a:p>
          <a:p>
            <a:pPr marL="0" indent="0">
              <a:buNone/>
            </a:pPr>
            <a:endParaRPr lang="en-US" dirty="0"/>
          </a:p>
          <a:p>
            <a:r>
              <a:rPr lang="en-US" dirty="0">
                <a:solidFill>
                  <a:srgbClr val="FF0000"/>
                </a:solidFill>
              </a:rPr>
              <a:t>Primary stimulating hormones:</a:t>
            </a:r>
          </a:p>
          <a:p>
            <a:pPr lvl="1"/>
            <a:r>
              <a:rPr lang="en-US" dirty="0">
                <a:solidFill>
                  <a:srgbClr val="FF0000"/>
                </a:solidFill>
              </a:rPr>
              <a:t>Thyrotropin releasing hormone (TRH)</a:t>
            </a:r>
          </a:p>
          <a:p>
            <a:pPr lvl="1"/>
            <a:r>
              <a:rPr lang="en-US" dirty="0">
                <a:solidFill>
                  <a:srgbClr val="FF0000"/>
                </a:solidFill>
              </a:rPr>
              <a:t>Corticotropin-releasing hormone (CRH)</a:t>
            </a:r>
          </a:p>
          <a:p>
            <a:pPr lvl="1"/>
            <a:r>
              <a:rPr lang="en-US" dirty="0">
                <a:solidFill>
                  <a:srgbClr val="FF0000"/>
                </a:solidFill>
              </a:rPr>
              <a:t>Gonadotropin-releasing hormone (GnRH)</a:t>
            </a:r>
          </a:p>
          <a:p>
            <a:pPr lvl="1"/>
            <a:r>
              <a:rPr lang="en-US" dirty="0">
                <a:solidFill>
                  <a:srgbClr val="FF0000"/>
                </a:solidFill>
              </a:rPr>
              <a:t>Growth hormone-releasing (GHRH)</a:t>
            </a:r>
          </a:p>
          <a:p>
            <a:pPr lvl="1"/>
            <a:endParaRPr lang="en-US" dirty="0">
              <a:solidFill>
                <a:srgbClr val="FF0000"/>
              </a:solidFill>
            </a:endParaRPr>
          </a:p>
          <a:p>
            <a:r>
              <a:rPr lang="en-US" dirty="0">
                <a:solidFill>
                  <a:srgbClr val="FF0000"/>
                </a:solidFill>
              </a:rPr>
              <a:t>Primary inhibiting hormones:</a:t>
            </a:r>
          </a:p>
          <a:p>
            <a:pPr lvl="1"/>
            <a:r>
              <a:rPr lang="en-US" dirty="0">
                <a:solidFill>
                  <a:srgbClr val="FF0000"/>
                </a:solidFill>
              </a:rPr>
              <a:t>Somatostatin/Growth hormone-inhibiting hormone (GHIH)</a:t>
            </a:r>
          </a:p>
          <a:p>
            <a:pPr lvl="1"/>
            <a:r>
              <a:rPr lang="en-US" dirty="0">
                <a:solidFill>
                  <a:srgbClr val="FF0000"/>
                </a:solidFill>
              </a:rPr>
              <a:t>Dopamine/Prolactin-inhibiting hormone (PIH)</a:t>
            </a:r>
          </a:p>
          <a:p>
            <a:pPr marL="457200" lvl="1" indent="0">
              <a:buNone/>
            </a:pPr>
            <a:endParaRPr lang="en-US" dirty="0"/>
          </a:p>
          <a:p>
            <a:pPr lvl="1"/>
            <a:endParaRPr lang="en-US" dirty="0"/>
          </a:p>
        </p:txBody>
      </p:sp>
    </p:spTree>
    <p:extLst>
      <p:ext uri="{BB962C8B-B14F-4D97-AF65-F5344CB8AC3E}">
        <p14:creationId xmlns:p14="http://schemas.microsoft.com/office/powerpoint/2010/main" val="106439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CA37-23ED-9E05-9E68-E88646FA7818}"/>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BB3CC643-D6BC-1A45-A029-6D70DC48C16D}"/>
              </a:ext>
            </a:extLst>
          </p:cNvPr>
          <p:cNvPicPr>
            <a:picLocks noChangeAspect="1"/>
          </p:cNvPicPr>
          <p:nvPr/>
        </p:nvPicPr>
        <p:blipFill>
          <a:blip r:embed="rId2"/>
          <a:stretch>
            <a:fillRect/>
          </a:stretch>
        </p:blipFill>
        <p:spPr>
          <a:xfrm>
            <a:off x="1752599" y="609599"/>
            <a:ext cx="5819775" cy="5819775"/>
          </a:xfrm>
          <a:prstGeom prst="rect">
            <a:avLst/>
          </a:prstGeom>
        </p:spPr>
      </p:pic>
    </p:spTree>
    <p:extLst>
      <p:ext uri="{BB962C8B-B14F-4D97-AF65-F5344CB8AC3E}">
        <p14:creationId xmlns:p14="http://schemas.microsoft.com/office/powerpoint/2010/main" val="196847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Pituitary Gland</a:t>
            </a:r>
            <a:br>
              <a:rPr lang="en-US" dirty="0"/>
            </a:br>
            <a:r>
              <a:rPr lang="en-US" sz="2000" dirty="0"/>
              <a:t>(aka – Hypophysis Cerebri)</a:t>
            </a:r>
            <a:endParaRPr lang="en-US" dirty="0"/>
          </a:p>
        </p:txBody>
      </p:sp>
      <p:sp>
        <p:nvSpPr>
          <p:cNvPr id="3" name="Content Placeholder 2"/>
          <p:cNvSpPr>
            <a:spLocks noGrp="1"/>
          </p:cNvSpPr>
          <p:nvPr>
            <p:ph idx="1"/>
          </p:nvPr>
        </p:nvSpPr>
        <p:spPr/>
        <p:txBody>
          <a:bodyPr>
            <a:normAutofit/>
          </a:bodyPr>
          <a:lstStyle/>
          <a:p>
            <a:r>
              <a:rPr lang="en-US" dirty="0"/>
              <a:t>“Master gland” of the Endocrine System</a:t>
            </a:r>
          </a:p>
          <a:p>
            <a:r>
              <a:rPr lang="en-US" dirty="0"/>
              <a:t>Located in the “Sella Turcica” of the Sphenoid bone just below the optic chiasm</a:t>
            </a:r>
          </a:p>
          <a:p>
            <a:r>
              <a:rPr lang="en-US" dirty="0"/>
              <a:t>Connected to the hypothalamus via the infundibulum (stalk)</a:t>
            </a:r>
          </a:p>
          <a:p>
            <a:r>
              <a:rPr lang="en-US" dirty="0"/>
              <a:t>Consists of two separate lobes – anterior and posterior (each of which has separate functions and controls)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0FBFC-53E3-41FD-8656-A6D622ED10AD}"/>
              </a:ext>
            </a:extLst>
          </p:cNvPr>
          <p:cNvSpPr>
            <a:spLocks noGrp="1"/>
          </p:cNvSpPr>
          <p:nvPr>
            <p:ph type="title"/>
          </p:nvPr>
        </p:nvSpPr>
        <p:spPr/>
        <p:txBody>
          <a:bodyPr/>
          <a:lstStyle/>
          <a:p>
            <a:r>
              <a:rPr lang="en-US" dirty="0"/>
              <a:t>Pituitary Gland</a:t>
            </a:r>
          </a:p>
        </p:txBody>
      </p:sp>
      <p:sp>
        <p:nvSpPr>
          <p:cNvPr id="3" name="Content Placeholder 2">
            <a:extLst>
              <a:ext uri="{FF2B5EF4-FFF2-40B4-BE49-F238E27FC236}">
                <a16:creationId xmlns:a16="http://schemas.microsoft.com/office/drawing/2014/main" id="{2B04C45B-60CE-4544-AA29-32F8CD2E735B}"/>
              </a:ext>
            </a:extLst>
          </p:cNvPr>
          <p:cNvSpPr>
            <a:spLocks noGrp="1"/>
          </p:cNvSpPr>
          <p:nvPr>
            <p:ph idx="1"/>
          </p:nvPr>
        </p:nvSpPr>
        <p:spPr>
          <a:xfrm>
            <a:off x="457200" y="1600200"/>
            <a:ext cx="8229600" cy="5105400"/>
          </a:xfrm>
        </p:spPr>
        <p:txBody>
          <a:bodyPr>
            <a:normAutofit fontScale="92500" lnSpcReduction="10000"/>
          </a:bodyPr>
          <a:lstStyle/>
          <a:p>
            <a:r>
              <a:rPr lang="en-US" dirty="0"/>
              <a:t>Anterior:</a:t>
            </a:r>
          </a:p>
          <a:p>
            <a:pPr lvl="1"/>
            <a:r>
              <a:rPr lang="en-US" dirty="0">
                <a:solidFill>
                  <a:srgbClr val="FF0000"/>
                </a:solidFill>
              </a:rPr>
              <a:t>Thyroid-stimulating hormone (TSH)</a:t>
            </a:r>
          </a:p>
          <a:p>
            <a:pPr lvl="1"/>
            <a:r>
              <a:rPr lang="en-US" dirty="0">
                <a:solidFill>
                  <a:srgbClr val="FF0000"/>
                </a:solidFill>
              </a:rPr>
              <a:t>Adrenocorticotropic hormone (ACTH)</a:t>
            </a:r>
          </a:p>
          <a:p>
            <a:pPr lvl="1"/>
            <a:r>
              <a:rPr lang="en-US" dirty="0">
                <a:solidFill>
                  <a:srgbClr val="FF0000"/>
                </a:solidFill>
              </a:rPr>
              <a:t>Follicle stimulating hormone (FSH)</a:t>
            </a:r>
          </a:p>
          <a:p>
            <a:pPr lvl="1"/>
            <a:r>
              <a:rPr lang="en-US" dirty="0">
                <a:solidFill>
                  <a:srgbClr val="FF0000"/>
                </a:solidFill>
              </a:rPr>
              <a:t>Luteinizing hormone (LH)</a:t>
            </a:r>
          </a:p>
          <a:p>
            <a:pPr lvl="1"/>
            <a:r>
              <a:rPr lang="en-US" dirty="0">
                <a:solidFill>
                  <a:srgbClr val="FF0000"/>
                </a:solidFill>
              </a:rPr>
              <a:t>Growth hormone (GH)</a:t>
            </a:r>
          </a:p>
          <a:p>
            <a:pPr lvl="1"/>
            <a:r>
              <a:rPr lang="en-US" dirty="0">
                <a:solidFill>
                  <a:srgbClr val="FF0000"/>
                </a:solidFill>
              </a:rPr>
              <a:t>Prolactin </a:t>
            </a:r>
          </a:p>
          <a:p>
            <a:pPr marL="457200" lvl="1" indent="0">
              <a:buNone/>
            </a:pPr>
            <a:endParaRPr lang="en-US" dirty="0"/>
          </a:p>
          <a:p>
            <a:r>
              <a:rPr lang="en-US" dirty="0"/>
              <a:t>Posterior:</a:t>
            </a:r>
          </a:p>
          <a:p>
            <a:pPr lvl="1"/>
            <a:r>
              <a:rPr lang="en-US" dirty="0">
                <a:solidFill>
                  <a:srgbClr val="FF0000"/>
                </a:solidFill>
              </a:rPr>
              <a:t>Oxytocin</a:t>
            </a:r>
          </a:p>
          <a:p>
            <a:pPr lvl="1"/>
            <a:r>
              <a:rPr lang="en-US" dirty="0">
                <a:solidFill>
                  <a:srgbClr val="FF0000"/>
                </a:solidFill>
              </a:rPr>
              <a:t>Vasopressin (ADH)</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537031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0D31-DE9F-9399-7025-EC4C2BB91226}"/>
              </a:ext>
            </a:extLst>
          </p:cNvPr>
          <p:cNvSpPr>
            <a:spLocks noGrp="1"/>
          </p:cNvSpPr>
          <p:nvPr>
            <p:ph type="title"/>
          </p:nvPr>
        </p:nvSpPr>
        <p:spPr/>
        <p:txBody>
          <a:bodyPr/>
          <a:lstStyle/>
          <a:p>
            <a:r>
              <a:rPr lang="en-US" dirty="0"/>
              <a:t>Anterior Pituitary </a:t>
            </a:r>
          </a:p>
        </p:txBody>
      </p:sp>
      <p:sp>
        <p:nvSpPr>
          <p:cNvPr id="3" name="Content Placeholder 2">
            <a:extLst>
              <a:ext uri="{FF2B5EF4-FFF2-40B4-BE49-F238E27FC236}">
                <a16:creationId xmlns:a16="http://schemas.microsoft.com/office/drawing/2014/main" id="{2510A4A2-C92B-C15E-CF67-D0D80C160CED}"/>
              </a:ext>
            </a:extLst>
          </p:cNvPr>
          <p:cNvSpPr>
            <a:spLocks noGrp="1"/>
          </p:cNvSpPr>
          <p:nvPr>
            <p:ph idx="1"/>
          </p:nvPr>
        </p:nvSpPr>
        <p:spPr/>
        <p:txBody>
          <a:bodyPr/>
          <a:lstStyle/>
          <a:p>
            <a:pPr marL="0" indent="0">
              <a:buNone/>
            </a:pPr>
            <a:r>
              <a:rPr lang="en-US" dirty="0"/>
              <a:t>Stimulating hormones </a:t>
            </a:r>
          </a:p>
          <a:p>
            <a:endParaRPr lang="en-US" dirty="0"/>
          </a:p>
          <a:p>
            <a:r>
              <a:rPr lang="en-US" dirty="0"/>
              <a:t>TRH </a:t>
            </a:r>
            <a:r>
              <a:rPr lang="en-US" dirty="0">
                <a:sym typeface="Wingdings" panose="05000000000000000000" pitchFamily="2" charset="2"/>
              </a:rPr>
              <a:t> TSH  Thyroid hormone</a:t>
            </a:r>
          </a:p>
          <a:p>
            <a:r>
              <a:rPr lang="en-US" dirty="0">
                <a:sym typeface="Wingdings" panose="05000000000000000000" pitchFamily="2" charset="2"/>
              </a:rPr>
              <a:t>CRH  ACTH  Cortisol</a:t>
            </a:r>
          </a:p>
          <a:p>
            <a:r>
              <a:rPr lang="en-US" dirty="0">
                <a:sym typeface="Wingdings" panose="05000000000000000000" pitchFamily="2" charset="2"/>
              </a:rPr>
              <a:t>GnRH  FSH and LH  Sex hormones (Estrogen, Progesterone, Testosterone) and helps with maturation of gametes </a:t>
            </a:r>
          </a:p>
          <a:p>
            <a:r>
              <a:rPr lang="en-US" dirty="0">
                <a:sym typeface="Wingdings" panose="05000000000000000000" pitchFamily="2" charset="2"/>
              </a:rPr>
              <a:t>GHRH  GH  Bone and tissue growth</a:t>
            </a:r>
          </a:p>
          <a:p>
            <a:endParaRPr lang="en-US" dirty="0">
              <a:sym typeface="Wingdings" panose="05000000000000000000" pitchFamily="2" charset="2"/>
            </a:endParaRPr>
          </a:p>
          <a:p>
            <a:pPr marL="0" indent="0">
              <a:buNone/>
            </a:pPr>
            <a:endParaRPr lang="en-US" dirty="0">
              <a:sym typeface="Wingdings" panose="05000000000000000000" pitchFamily="2" charset="2"/>
            </a:endParaRPr>
          </a:p>
          <a:p>
            <a:endParaRPr lang="en-US" dirty="0">
              <a:sym typeface="Wingdings" panose="05000000000000000000" pitchFamily="2" charset="2"/>
            </a:endParaRPr>
          </a:p>
        </p:txBody>
      </p:sp>
    </p:spTree>
    <p:extLst>
      <p:ext uri="{BB962C8B-B14F-4D97-AF65-F5344CB8AC3E}">
        <p14:creationId xmlns:p14="http://schemas.microsoft.com/office/powerpoint/2010/main" val="146961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0774-B285-E4EB-CA2C-17D69F255BA4}"/>
              </a:ext>
            </a:extLst>
          </p:cNvPr>
          <p:cNvSpPr>
            <a:spLocks noGrp="1"/>
          </p:cNvSpPr>
          <p:nvPr>
            <p:ph type="title"/>
          </p:nvPr>
        </p:nvSpPr>
        <p:spPr/>
        <p:txBody>
          <a:bodyPr/>
          <a:lstStyle/>
          <a:p>
            <a:r>
              <a:rPr lang="en-US" dirty="0"/>
              <a:t>Anterior Pituitary </a:t>
            </a:r>
          </a:p>
        </p:txBody>
      </p:sp>
      <p:sp>
        <p:nvSpPr>
          <p:cNvPr id="3" name="Content Placeholder 2">
            <a:extLst>
              <a:ext uri="{FF2B5EF4-FFF2-40B4-BE49-F238E27FC236}">
                <a16:creationId xmlns:a16="http://schemas.microsoft.com/office/drawing/2014/main" id="{A95D05D8-3316-A974-3D8F-A61EC0D671DC}"/>
              </a:ext>
            </a:extLst>
          </p:cNvPr>
          <p:cNvSpPr>
            <a:spLocks noGrp="1"/>
          </p:cNvSpPr>
          <p:nvPr>
            <p:ph idx="1"/>
          </p:nvPr>
        </p:nvSpPr>
        <p:spPr/>
        <p:txBody>
          <a:bodyPr>
            <a:normAutofit/>
          </a:bodyPr>
          <a:lstStyle/>
          <a:p>
            <a:pPr marL="0" indent="0">
              <a:buNone/>
            </a:pPr>
            <a:r>
              <a:rPr lang="en-US" dirty="0"/>
              <a:t>Inhibiting hormones </a:t>
            </a:r>
          </a:p>
          <a:p>
            <a:endParaRPr lang="en-US" dirty="0"/>
          </a:p>
          <a:p>
            <a:r>
              <a:rPr lang="en-US" dirty="0"/>
              <a:t>Prolactin inhibiting hormone </a:t>
            </a:r>
            <a:r>
              <a:rPr lang="en-US" dirty="0">
                <a:sym typeface="Wingdings" panose="05000000000000000000" pitchFamily="2" charset="2"/>
              </a:rPr>
              <a:t> X Prolactin</a:t>
            </a:r>
          </a:p>
          <a:p>
            <a:pPr marL="0" indent="0">
              <a:buNone/>
            </a:pPr>
            <a:endParaRPr lang="en-US" dirty="0">
              <a:sym typeface="Wingdings" panose="05000000000000000000" pitchFamily="2" charset="2"/>
            </a:endParaRPr>
          </a:p>
          <a:p>
            <a:r>
              <a:rPr lang="en-US" dirty="0">
                <a:sym typeface="Wingdings" panose="05000000000000000000" pitchFamily="2" charset="2"/>
              </a:rPr>
              <a:t>During breastfeeding, it sends a message to the brain to halt production of PIH thus inhibiting it and allowing production of Prolactin </a:t>
            </a:r>
          </a:p>
        </p:txBody>
      </p:sp>
    </p:spTree>
    <p:extLst>
      <p:ext uri="{BB962C8B-B14F-4D97-AF65-F5344CB8AC3E}">
        <p14:creationId xmlns:p14="http://schemas.microsoft.com/office/powerpoint/2010/main" val="11241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FBEC-691D-967C-7D03-13E50A2F3AEC}"/>
              </a:ext>
            </a:extLst>
          </p:cNvPr>
          <p:cNvSpPr>
            <a:spLocks noGrp="1"/>
          </p:cNvSpPr>
          <p:nvPr>
            <p:ph type="title"/>
          </p:nvPr>
        </p:nvSpPr>
        <p:spPr/>
        <p:txBody>
          <a:bodyPr/>
          <a:lstStyle/>
          <a:p>
            <a:r>
              <a:rPr lang="en-US" dirty="0"/>
              <a:t>Pituitary Gland</a:t>
            </a:r>
          </a:p>
        </p:txBody>
      </p:sp>
      <p:pic>
        <p:nvPicPr>
          <p:cNvPr id="4" name="Content Placeholder 3">
            <a:extLst>
              <a:ext uri="{FF2B5EF4-FFF2-40B4-BE49-F238E27FC236}">
                <a16:creationId xmlns:a16="http://schemas.microsoft.com/office/drawing/2014/main" id="{5411F405-EB8F-D8C2-A82F-905C3C585DBD}"/>
              </a:ext>
            </a:extLst>
          </p:cNvPr>
          <p:cNvPicPr>
            <a:picLocks noGrp="1" noChangeAspect="1"/>
          </p:cNvPicPr>
          <p:nvPr>
            <p:ph idx="1"/>
          </p:nvPr>
        </p:nvPicPr>
        <p:blipFill>
          <a:blip r:embed="rId2"/>
          <a:stretch>
            <a:fillRect/>
          </a:stretch>
        </p:blipFill>
        <p:spPr>
          <a:xfrm>
            <a:off x="1476375" y="2043906"/>
            <a:ext cx="6191250" cy="3638550"/>
          </a:xfrm>
          <a:prstGeom prst="rect">
            <a:avLst/>
          </a:prstGeom>
        </p:spPr>
      </p:pic>
    </p:spTree>
    <p:extLst>
      <p:ext uri="{BB962C8B-B14F-4D97-AF65-F5344CB8AC3E}">
        <p14:creationId xmlns:p14="http://schemas.microsoft.com/office/powerpoint/2010/main" val="2932722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6D0CC-D646-C9F8-2072-078B6BC5E587}"/>
              </a:ext>
            </a:extLst>
          </p:cNvPr>
          <p:cNvSpPr>
            <a:spLocks noGrp="1"/>
          </p:cNvSpPr>
          <p:nvPr>
            <p:ph type="title"/>
          </p:nvPr>
        </p:nvSpPr>
        <p:spPr/>
        <p:txBody>
          <a:bodyPr/>
          <a:lstStyle/>
          <a:p>
            <a:r>
              <a:rPr lang="en-US" dirty="0"/>
              <a:t>Posterior Pituitary</a:t>
            </a:r>
          </a:p>
        </p:txBody>
      </p:sp>
      <p:sp>
        <p:nvSpPr>
          <p:cNvPr id="3" name="Content Placeholder 2">
            <a:extLst>
              <a:ext uri="{FF2B5EF4-FFF2-40B4-BE49-F238E27FC236}">
                <a16:creationId xmlns:a16="http://schemas.microsoft.com/office/drawing/2014/main" id="{9B9ED6F1-2493-D2F9-5764-BFAF57C6087E}"/>
              </a:ext>
            </a:extLst>
          </p:cNvPr>
          <p:cNvSpPr>
            <a:spLocks noGrp="1"/>
          </p:cNvSpPr>
          <p:nvPr>
            <p:ph idx="1"/>
          </p:nvPr>
        </p:nvSpPr>
        <p:spPr>
          <a:xfrm>
            <a:off x="457200" y="1600200"/>
            <a:ext cx="8229600" cy="4983162"/>
          </a:xfrm>
        </p:spPr>
        <p:txBody>
          <a:bodyPr>
            <a:normAutofit fontScale="92500"/>
          </a:bodyPr>
          <a:lstStyle/>
          <a:p>
            <a:r>
              <a:rPr lang="en-US" dirty="0"/>
              <a:t>Antidiuretic hormone (ADH)</a:t>
            </a:r>
          </a:p>
          <a:p>
            <a:pPr lvl="1"/>
            <a:r>
              <a:rPr lang="en-US" dirty="0"/>
              <a:t>Signal from hypothalamus usually low blood volume </a:t>
            </a:r>
          </a:p>
          <a:p>
            <a:pPr lvl="1"/>
            <a:r>
              <a:rPr lang="en-US" dirty="0"/>
              <a:t>Retains water from urine and causes vasoconstriction of blood vessels which helps increase blood pressure</a:t>
            </a:r>
          </a:p>
          <a:p>
            <a:pPr lvl="1"/>
            <a:endParaRPr lang="en-US" dirty="0"/>
          </a:p>
          <a:p>
            <a:pPr marL="457200" lvl="1" indent="0">
              <a:buNone/>
            </a:pPr>
            <a:endParaRPr lang="en-US" dirty="0"/>
          </a:p>
          <a:p>
            <a:r>
              <a:rPr lang="en-US" dirty="0"/>
              <a:t>Oxytocin</a:t>
            </a:r>
          </a:p>
          <a:p>
            <a:pPr lvl="1"/>
            <a:r>
              <a:rPr lang="en-US" dirty="0"/>
              <a:t>Dilates cervix and stimulates uterine contractions during childbirth as well as helps muscles contract during breastfeeding </a:t>
            </a:r>
          </a:p>
        </p:txBody>
      </p:sp>
    </p:spTree>
    <p:extLst>
      <p:ext uri="{BB962C8B-B14F-4D97-AF65-F5344CB8AC3E}">
        <p14:creationId xmlns:p14="http://schemas.microsoft.com/office/powerpoint/2010/main" val="1850470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11C4-C5C8-4301-85FD-B396130270F9}"/>
              </a:ext>
            </a:extLst>
          </p:cNvPr>
          <p:cNvSpPr>
            <a:spLocks noGrp="1"/>
          </p:cNvSpPr>
          <p:nvPr>
            <p:ph type="title"/>
          </p:nvPr>
        </p:nvSpPr>
        <p:spPr/>
        <p:txBody>
          <a:bodyPr/>
          <a:lstStyle/>
          <a:p>
            <a:r>
              <a:rPr lang="en-US" dirty="0"/>
              <a:t>Pituitary Gland</a:t>
            </a:r>
          </a:p>
        </p:txBody>
      </p:sp>
      <p:sp>
        <p:nvSpPr>
          <p:cNvPr id="3" name="Content Placeholder 2">
            <a:extLst>
              <a:ext uri="{FF2B5EF4-FFF2-40B4-BE49-F238E27FC236}">
                <a16:creationId xmlns:a16="http://schemas.microsoft.com/office/drawing/2014/main" id="{FC9B101E-3E98-4ACF-B01D-56A8C1F78432}"/>
              </a:ext>
            </a:extLst>
          </p:cNvPr>
          <p:cNvSpPr>
            <a:spLocks noGrp="1"/>
          </p:cNvSpPr>
          <p:nvPr>
            <p:ph idx="1"/>
          </p:nvPr>
        </p:nvSpPr>
        <p:spPr/>
        <p:txBody>
          <a:bodyPr>
            <a:normAutofit/>
          </a:bodyPr>
          <a:lstStyle/>
          <a:p>
            <a:r>
              <a:rPr lang="en-US" dirty="0"/>
              <a:t>Arterial supply</a:t>
            </a:r>
          </a:p>
          <a:p>
            <a:pPr lvl="1"/>
            <a:r>
              <a:rPr lang="en-US" dirty="0"/>
              <a:t>via the superior &amp; inferior hypophyseal arteries, branches off the internal carotid arteries</a:t>
            </a:r>
          </a:p>
          <a:p>
            <a:pPr lvl="1"/>
            <a:endParaRPr lang="en-US" dirty="0"/>
          </a:p>
          <a:p>
            <a:pPr marL="457200" lvl="1" indent="0">
              <a:buNone/>
            </a:pPr>
            <a:endParaRPr lang="en-US" dirty="0"/>
          </a:p>
          <a:p>
            <a:r>
              <a:rPr lang="en-US" dirty="0"/>
              <a:t> Venous return</a:t>
            </a:r>
          </a:p>
          <a:p>
            <a:pPr lvl="1"/>
            <a:r>
              <a:rPr lang="en-US" dirty="0"/>
              <a:t> via the right &amp; left hypophyseal veins directly to the right &amp; left cavernous sinuses</a:t>
            </a:r>
          </a:p>
        </p:txBody>
      </p:sp>
    </p:spTree>
    <p:extLst>
      <p:ext uri="{BB962C8B-B14F-4D97-AF65-F5344CB8AC3E}">
        <p14:creationId xmlns:p14="http://schemas.microsoft.com/office/powerpoint/2010/main" val="1068893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DBD2-2B47-4194-817C-C0E57CE8D9F2}"/>
              </a:ext>
            </a:extLst>
          </p:cNvPr>
          <p:cNvSpPr>
            <a:spLocks noGrp="1"/>
          </p:cNvSpPr>
          <p:nvPr>
            <p:ph type="title"/>
          </p:nvPr>
        </p:nvSpPr>
        <p:spPr>
          <a:xfrm>
            <a:off x="457200" y="274638"/>
            <a:ext cx="8229600" cy="487362"/>
          </a:xfrm>
        </p:spPr>
        <p:txBody>
          <a:bodyPr>
            <a:normAutofit fontScale="90000"/>
          </a:bodyPr>
          <a:lstStyle/>
          <a:p>
            <a:r>
              <a:rPr lang="en-US" dirty="0"/>
              <a:t>Pituitary Gland</a:t>
            </a:r>
          </a:p>
        </p:txBody>
      </p:sp>
      <p:pic>
        <p:nvPicPr>
          <p:cNvPr id="5" name="Picture 4">
            <a:extLst>
              <a:ext uri="{FF2B5EF4-FFF2-40B4-BE49-F238E27FC236}">
                <a16:creationId xmlns:a16="http://schemas.microsoft.com/office/drawing/2014/main" id="{50407C18-8C25-46D1-BB0F-43A95CF828C5}"/>
              </a:ext>
            </a:extLst>
          </p:cNvPr>
          <p:cNvPicPr>
            <a:picLocks noChangeAspect="1"/>
          </p:cNvPicPr>
          <p:nvPr/>
        </p:nvPicPr>
        <p:blipFill>
          <a:blip r:embed="rId2"/>
          <a:stretch>
            <a:fillRect/>
          </a:stretch>
        </p:blipFill>
        <p:spPr>
          <a:xfrm>
            <a:off x="2743200" y="914400"/>
            <a:ext cx="3909965" cy="5882481"/>
          </a:xfrm>
          <a:prstGeom prst="rect">
            <a:avLst/>
          </a:prstGeom>
        </p:spPr>
      </p:pic>
    </p:spTree>
    <p:extLst>
      <p:ext uri="{BB962C8B-B14F-4D97-AF65-F5344CB8AC3E}">
        <p14:creationId xmlns:p14="http://schemas.microsoft.com/office/powerpoint/2010/main" val="52155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E38C4-CF41-4ADD-B003-6840EBC28FAD}"/>
              </a:ext>
            </a:extLst>
          </p:cNvPr>
          <p:cNvSpPr>
            <a:spLocks noGrp="1"/>
          </p:cNvSpPr>
          <p:nvPr>
            <p:ph type="title"/>
          </p:nvPr>
        </p:nvSpPr>
        <p:spPr/>
        <p:txBody>
          <a:bodyPr/>
          <a:lstStyle/>
          <a:p>
            <a:r>
              <a:rPr lang="en-US" dirty="0"/>
              <a:t>Sella Turcica</a:t>
            </a:r>
          </a:p>
        </p:txBody>
      </p:sp>
      <p:sp>
        <p:nvSpPr>
          <p:cNvPr id="3" name="Content Placeholder 2">
            <a:extLst>
              <a:ext uri="{FF2B5EF4-FFF2-40B4-BE49-F238E27FC236}">
                <a16:creationId xmlns:a16="http://schemas.microsoft.com/office/drawing/2014/main" id="{004BD3AB-4A64-4143-8873-82E53153DFA8}"/>
              </a:ext>
            </a:extLst>
          </p:cNvPr>
          <p:cNvSpPr>
            <a:spLocks noGrp="1"/>
          </p:cNvSpPr>
          <p:nvPr>
            <p:ph idx="1"/>
          </p:nvPr>
        </p:nvSpPr>
        <p:spPr/>
        <p:txBody>
          <a:bodyPr>
            <a:normAutofit fontScale="92500" lnSpcReduction="20000"/>
          </a:bodyPr>
          <a:lstStyle/>
          <a:p>
            <a:r>
              <a:rPr lang="en-US" dirty="0"/>
              <a:t>Saddle shaped depression in sphenoid bone</a:t>
            </a:r>
          </a:p>
          <a:p>
            <a:r>
              <a:rPr lang="en-US" dirty="0"/>
              <a:t>Three parts</a:t>
            </a:r>
          </a:p>
          <a:p>
            <a:pPr lvl="1"/>
            <a:r>
              <a:rPr lang="en-US" dirty="0"/>
              <a:t>Tuberculum sellae (horn of saddle)</a:t>
            </a:r>
          </a:p>
          <a:p>
            <a:pPr lvl="2"/>
            <a:r>
              <a:rPr lang="en-US" dirty="0"/>
              <a:t>Anterior boundary of the hypophysial fossa</a:t>
            </a:r>
          </a:p>
          <a:p>
            <a:pPr lvl="1"/>
            <a:r>
              <a:rPr lang="en-US" dirty="0"/>
              <a:t>Hypophysial fossa (pituitary fossa)</a:t>
            </a:r>
          </a:p>
          <a:p>
            <a:pPr lvl="2"/>
            <a:r>
              <a:rPr lang="en-US" dirty="0"/>
              <a:t>Median depression in the body of sphenoid that accommodates the pituitary gland</a:t>
            </a:r>
          </a:p>
          <a:p>
            <a:pPr lvl="1"/>
            <a:r>
              <a:rPr lang="en-US" dirty="0"/>
              <a:t>Dorsum sellae (back of saddle)</a:t>
            </a:r>
          </a:p>
          <a:p>
            <a:pPr lvl="2"/>
            <a:r>
              <a:rPr lang="en-US" dirty="0"/>
              <a:t>Square plate of bone projecting superiorly from the body of the sphenoid that forms the posterior boundary of the </a:t>
            </a:r>
            <a:r>
              <a:rPr lang="en-US" dirty="0" err="1"/>
              <a:t>sella</a:t>
            </a:r>
            <a:r>
              <a:rPr lang="en-US" dirty="0"/>
              <a:t> turcica</a:t>
            </a:r>
          </a:p>
          <a:p>
            <a:pPr lvl="2"/>
            <a:r>
              <a:rPr lang="en-US" dirty="0"/>
              <a:t>Posterior clinoid processes on each side</a:t>
            </a:r>
          </a:p>
          <a:p>
            <a:pPr lvl="2"/>
            <a:endParaRPr lang="en-US" dirty="0"/>
          </a:p>
        </p:txBody>
      </p:sp>
    </p:spTree>
    <p:extLst>
      <p:ext uri="{BB962C8B-B14F-4D97-AF65-F5344CB8AC3E}">
        <p14:creationId xmlns:p14="http://schemas.microsoft.com/office/powerpoint/2010/main" val="10696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Projects\FRC\Moore\Project_SRC\PPT-With_Images_New_standard\Splitted\chapter07\F11181-007-012A.jpg"/>
          <p:cNvPicPr>
            <a:picLocks noGrp="1" noChangeAspect="1" noChangeArrowheads="1"/>
          </p:cNvPicPr>
          <p:nvPr>
            <p:ph idx="1"/>
          </p:nvPr>
        </p:nvPicPr>
        <p:blipFill>
          <a:blip r:embed="rId2" cstate="print"/>
          <a:srcRect/>
          <a:stretch>
            <a:fillRect/>
          </a:stretch>
        </p:blipFill>
        <p:spPr bwMode="auto">
          <a:xfrm>
            <a:off x="304800" y="457200"/>
            <a:ext cx="8528050" cy="6062533"/>
          </a:xfrm>
          <a:prstGeom prst="rect">
            <a:avLst/>
          </a:prstGeom>
          <a:noFill/>
        </p:spPr>
      </p:pic>
      <p:cxnSp>
        <p:nvCxnSpPr>
          <p:cNvPr id="6" name="Straight Connector 5"/>
          <p:cNvCxnSpPr/>
          <p:nvPr/>
        </p:nvCxnSpPr>
        <p:spPr>
          <a:xfrm>
            <a:off x="1371600" y="3048000"/>
            <a:ext cx="12192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752600" y="2286000"/>
            <a:ext cx="12192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00200" y="3657600"/>
            <a:ext cx="9906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90600" y="3352800"/>
            <a:ext cx="16002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858000" y="6248400"/>
            <a:ext cx="1905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4495800" y="2819400"/>
            <a:ext cx="685800"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Projects\FRC\Moore\Project_SRC\PPT-With_Images_New_standard\Splitted\chapter07\F11181-007-107A.jpg"/>
          <p:cNvPicPr>
            <a:picLocks noGrp="1" noChangeAspect="1" noChangeArrowheads="1"/>
          </p:cNvPicPr>
          <p:nvPr>
            <p:ph idx="1"/>
          </p:nvPr>
        </p:nvPicPr>
        <p:blipFill>
          <a:blip r:embed="rId2" cstate="print"/>
          <a:srcRect/>
          <a:stretch>
            <a:fillRect/>
          </a:stretch>
        </p:blipFill>
        <p:spPr bwMode="auto">
          <a:xfrm>
            <a:off x="79452" y="762000"/>
            <a:ext cx="9012523" cy="5181600"/>
          </a:xfrm>
          <a:prstGeom prst="rect">
            <a:avLst/>
          </a:prstGeom>
          <a:noFill/>
        </p:spPr>
      </p:pic>
      <p:cxnSp>
        <p:nvCxnSpPr>
          <p:cNvPr id="3" name="Straight Connector 2"/>
          <p:cNvCxnSpPr>
            <a:stCxn id="5" idx="1"/>
          </p:cNvCxnSpPr>
          <p:nvPr/>
        </p:nvCxnSpPr>
        <p:spPr>
          <a:xfrm flipH="1">
            <a:off x="6477000" y="1600200"/>
            <a:ext cx="876693"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7353693" y="1446311"/>
            <a:ext cx="1295400" cy="307777"/>
          </a:xfrm>
          <a:prstGeom prst="rect">
            <a:avLst/>
          </a:prstGeom>
          <a:noFill/>
        </p:spPr>
        <p:txBody>
          <a:bodyPr wrap="square" rtlCol="0">
            <a:spAutoFit/>
          </a:bodyPr>
          <a:lstStyle/>
          <a:p>
            <a:r>
              <a:rPr lang="en-US" sz="1400" dirty="0"/>
              <a:t>Optic Chiasm</a:t>
            </a:r>
          </a:p>
        </p:txBody>
      </p:sp>
      <p:sp>
        <p:nvSpPr>
          <p:cNvPr id="2" name="Oval 1"/>
          <p:cNvSpPr/>
          <p:nvPr/>
        </p:nvSpPr>
        <p:spPr>
          <a:xfrm>
            <a:off x="6019800" y="1446310"/>
            <a:ext cx="1066800" cy="106828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172200" y="5580727"/>
            <a:ext cx="2743200" cy="1277273"/>
          </a:xfrm>
          <a:prstGeom prst="rect">
            <a:avLst/>
          </a:prstGeom>
          <a:noFill/>
          <a:ln>
            <a:solidFill>
              <a:schemeClr val="tx1"/>
            </a:solidFill>
          </a:ln>
        </p:spPr>
        <p:txBody>
          <a:bodyPr wrap="square" rtlCol="0">
            <a:spAutoFit/>
          </a:bodyPr>
          <a:lstStyle/>
          <a:p>
            <a:r>
              <a:rPr lang="en-US" sz="1100" b="1" dirty="0"/>
              <a:t>NOTE: </a:t>
            </a:r>
            <a:r>
              <a:rPr lang="en-US" sz="1100" dirty="0"/>
              <a:t>floor of </a:t>
            </a:r>
            <a:r>
              <a:rPr lang="en-US" sz="1100" dirty="0" err="1"/>
              <a:t>sella</a:t>
            </a:r>
            <a:r>
              <a:rPr lang="en-US" sz="1100" dirty="0"/>
              <a:t> turcica is very thin next to the sphenoid sinus. Infection of the sinus can cause disruption of this bony layer causing problems with the pituitary. Also, note the roof is narrow where the “infundibulum” of the pituitary doesn’t allow for expansion of any tumors of the pituitary.</a:t>
            </a:r>
            <a:endParaRPr lang="en-US" sz="1100" b="1" dirty="0"/>
          </a:p>
        </p:txBody>
      </p:sp>
      <p:cxnSp>
        <p:nvCxnSpPr>
          <p:cNvPr id="8" name="Straight Arrow Connector 7"/>
          <p:cNvCxnSpPr/>
          <p:nvPr/>
        </p:nvCxnSpPr>
        <p:spPr>
          <a:xfrm flipH="1" flipV="1">
            <a:off x="6477000" y="2057400"/>
            <a:ext cx="304800" cy="3523327"/>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6553200" y="1828800"/>
            <a:ext cx="152400" cy="4648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8984-64E4-49B1-B95C-AD1672C70D76}"/>
              </a:ext>
            </a:extLst>
          </p:cNvPr>
          <p:cNvSpPr>
            <a:spLocks noGrp="1"/>
          </p:cNvSpPr>
          <p:nvPr>
            <p:ph type="title"/>
          </p:nvPr>
        </p:nvSpPr>
        <p:spPr>
          <a:xfrm>
            <a:off x="457200" y="274638"/>
            <a:ext cx="8229600" cy="944562"/>
          </a:xfrm>
        </p:spPr>
        <p:txBody>
          <a:bodyPr/>
          <a:lstStyle/>
          <a:p>
            <a:r>
              <a:rPr lang="en-US" dirty="0"/>
              <a:t>Sella Turcica</a:t>
            </a:r>
          </a:p>
        </p:txBody>
      </p:sp>
      <p:sp>
        <p:nvSpPr>
          <p:cNvPr id="3" name="Content Placeholder 2">
            <a:extLst>
              <a:ext uri="{FF2B5EF4-FFF2-40B4-BE49-F238E27FC236}">
                <a16:creationId xmlns:a16="http://schemas.microsoft.com/office/drawing/2014/main" id="{2917F30F-75C9-44BC-ADBB-EEAFB31C2008}"/>
              </a:ext>
            </a:extLst>
          </p:cNvPr>
          <p:cNvSpPr>
            <a:spLocks noGrp="1"/>
          </p:cNvSpPr>
          <p:nvPr>
            <p:ph idx="1"/>
          </p:nvPr>
        </p:nvSpPr>
        <p:spPr>
          <a:xfrm>
            <a:off x="457200" y="1371600"/>
            <a:ext cx="8229600" cy="5486400"/>
          </a:xfrm>
        </p:spPr>
        <p:txBody>
          <a:bodyPr/>
          <a:lstStyle/>
          <a:p>
            <a:r>
              <a:rPr lang="en-US" dirty="0"/>
              <a:t>Clinical significance</a:t>
            </a:r>
          </a:p>
          <a:p>
            <a:pPr lvl="1"/>
            <a:r>
              <a:rPr lang="en-US" dirty="0"/>
              <a:t>Sinus invasion</a:t>
            </a:r>
          </a:p>
          <a:p>
            <a:pPr lvl="2"/>
            <a:r>
              <a:rPr lang="en-US" dirty="0">
                <a:solidFill>
                  <a:srgbClr val="FF0000"/>
                </a:solidFill>
              </a:rPr>
              <a:t>Infection of the sphenoid sinus can impact the pituitary gland during infection</a:t>
            </a:r>
          </a:p>
          <a:p>
            <a:pPr lvl="1"/>
            <a:r>
              <a:rPr lang="en-US" dirty="0"/>
              <a:t>Pituitary tumor</a:t>
            </a:r>
          </a:p>
          <a:p>
            <a:pPr lvl="2"/>
            <a:r>
              <a:rPr lang="en-US" dirty="0"/>
              <a:t>The tumor usually extends upward and can result in compression of the optic chiasm </a:t>
            </a:r>
          </a:p>
          <a:p>
            <a:pPr lvl="3"/>
            <a:r>
              <a:rPr lang="en-US" dirty="0">
                <a:solidFill>
                  <a:srgbClr val="FF0000"/>
                </a:solidFill>
              </a:rPr>
              <a:t>This leads to bitemporal hemianopsia </a:t>
            </a:r>
            <a:r>
              <a:rPr lang="en-US" dirty="0">
                <a:solidFill>
                  <a:srgbClr val="FF0000"/>
                </a:solidFill>
                <a:sym typeface="Wingdings" panose="05000000000000000000" pitchFamily="2" charset="2"/>
              </a:rPr>
              <a:t> pathognomonic for a pituitary tumor </a:t>
            </a:r>
            <a:endParaRPr lang="en-US" dirty="0">
              <a:solidFill>
                <a:srgbClr val="FF0000"/>
              </a:solidFill>
            </a:endParaRPr>
          </a:p>
          <a:p>
            <a:pPr lvl="1"/>
            <a:endParaRPr lang="en-US" dirty="0"/>
          </a:p>
        </p:txBody>
      </p:sp>
    </p:spTree>
    <p:extLst>
      <p:ext uri="{BB962C8B-B14F-4D97-AF65-F5344CB8AC3E}">
        <p14:creationId xmlns:p14="http://schemas.microsoft.com/office/powerpoint/2010/main" val="1038458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831C9-7E6C-4E99-BC74-3BB964FB6018}"/>
              </a:ext>
            </a:extLst>
          </p:cNvPr>
          <p:cNvSpPr>
            <a:spLocks noGrp="1"/>
          </p:cNvSpPr>
          <p:nvPr>
            <p:ph type="title"/>
          </p:nvPr>
        </p:nvSpPr>
        <p:spPr/>
        <p:txBody>
          <a:bodyPr/>
          <a:lstStyle/>
          <a:p>
            <a:r>
              <a:rPr lang="en-US" dirty="0"/>
              <a:t>Cavernous sinus </a:t>
            </a:r>
          </a:p>
        </p:txBody>
      </p:sp>
      <p:sp>
        <p:nvSpPr>
          <p:cNvPr id="3" name="Content Placeholder 2">
            <a:extLst>
              <a:ext uri="{FF2B5EF4-FFF2-40B4-BE49-F238E27FC236}">
                <a16:creationId xmlns:a16="http://schemas.microsoft.com/office/drawing/2014/main" id="{8885293F-7A7A-4FD7-A575-9A023E596E04}"/>
              </a:ext>
            </a:extLst>
          </p:cNvPr>
          <p:cNvSpPr>
            <a:spLocks noGrp="1"/>
          </p:cNvSpPr>
          <p:nvPr>
            <p:ph idx="1"/>
          </p:nvPr>
        </p:nvSpPr>
        <p:spPr/>
        <p:txBody>
          <a:bodyPr>
            <a:normAutofit fontScale="92500" lnSpcReduction="20000"/>
          </a:bodyPr>
          <a:lstStyle/>
          <a:p>
            <a:r>
              <a:rPr lang="en-US" dirty="0"/>
              <a:t>Dural venous sinus </a:t>
            </a:r>
          </a:p>
          <a:p>
            <a:r>
              <a:rPr lang="en-US" dirty="0"/>
              <a:t>Is located on either side of the pituitary fossa and body of the sphenoid bone</a:t>
            </a:r>
          </a:p>
          <a:p>
            <a:r>
              <a:rPr lang="en-US" dirty="0"/>
              <a:t>Structures passing through the sinus:</a:t>
            </a:r>
          </a:p>
          <a:p>
            <a:pPr lvl="1"/>
            <a:r>
              <a:rPr lang="en-US" dirty="0">
                <a:solidFill>
                  <a:srgbClr val="FF0000"/>
                </a:solidFill>
              </a:rPr>
              <a:t>Oculomotor nerve (CN 3)</a:t>
            </a:r>
          </a:p>
          <a:p>
            <a:pPr lvl="1"/>
            <a:r>
              <a:rPr lang="en-US" dirty="0">
                <a:solidFill>
                  <a:srgbClr val="FF0000"/>
                </a:solidFill>
              </a:rPr>
              <a:t>Trochlear nerve (CN 4)</a:t>
            </a:r>
          </a:p>
          <a:p>
            <a:pPr lvl="1"/>
            <a:r>
              <a:rPr lang="en-US" dirty="0">
                <a:solidFill>
                  <a:srgbClr val="FF0000"/>
                </a:solidFill>
              </a:rPr>
              <a:t>Ophthalmic branch of CN 5</a:t>
            </a:r>
          </a:p>
          <a:p>
            <a:pPr lvl="1"/>
            <a:r>
              <a:rPr lang="en-US" dirty="0">
                <a:solidFill>
                  <a:srgbClr val="FF0000"/>
                </a:solidFill>
              </a:rPr>
              <a:t>Maxillary branch of CN 5</a:t>
            </a:r>
          </a:p>
          <a:p>
            <a:pPr lvl="1"/>
            <a:r>
              <a:rPr lang="en-US" dirty="0">
                <a:solidFill>
                  <a:srgbClr val="FF0000"/>
                </a:solidFill>
              </a:rPr>
              <a:t>Internal carotid artery</a:t>
            </a:r>
          </a:p>
          <a:p>
            <a:pPr lvl="1"/>
            <a:r>
              <a:rPr lang="en-US" dirty="0">
                <a:solidFill>
                  <a:srgbClr val="FF0000"/>
                </a:solidFill>
              </a:rPr>
              <a:t>Abducens nerve (CN 6)</a:t>
            </a:r>
          </a:p>
          <a:p>
            <a:pPr marL="457200" lvl="1" indent="0">
              <a:buNone/>
            </a:pPr>
            <a:endParaRPr lang="en-US" dirty="0"/>
          </a:p>
        </p:txBody>
      </p:sp>
    </p:spTree>
    <p:extLst>
      <p:ext uri="{BB962C8B-B14F-4D97-AF65-F5344CB8AC3E}">
        <p14:creationId xmlns:p14="http://schemas.microsoft.com/office/powerpoint/2010/main" val="53516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A667-17C1-427E-BF7E-93A341EC84B7}"/>
              </a:ext>
            </a:extLst>
          </p:cNvPr>
          <p:cNvSpPr>
            <a:spLocks noGrp="1"/>
          </p:cNvSpPr>
          <p:nvPr>
            <p:ph type="title"/>
          </p:nvPr>
        </p:nvSpPr>
        <p:spPr/>
        <p:txBody>
          <a:bodyPr/>
          <a:lstStyle/>
          <a:p>
            <a:r>
              <a:rPr lang="en-US" dirty="0"/>
              <a:t>Cavernous sinus</a:t>
            </a:r>
          </a:p>
        </p:txBody>
      </p:sp>
      <p:sp>
        <p:nvSpPr>
          <p:cNvPr id="3" name="Content Placeholder 2">
            <a:extLst>
              <a:ext uri="{FF2B5EF4-FFF2-40B4-BE49-F238E27FC236}">
                <a16:creationId xmlns:a16="http://schemas.microsoft.com/office/drawing/2014/main" id="{87A68DDC-F312-46F3-852C-0D8C62CCF0A3}"/>
              </a:ext>
            </a:extLst>
          </p:cNvPr>
          <p:cNvSpPr>
            <a:spLocks noGrp="1"/>
          </p:cNvSpPr>
          <p:nvPr>
            <p:ph idx="1"/>
          </p:nvPr>
        </p:nvSpPr>
        <p:spPr/>
        <p:txBody>
          <a:bodyPr/>
          <a:lstStyle/>
          <a:p>
            <a:r>
              <a:rPr lang="en-US" dirty="0"/>
              <a:t>Clinical significance</a:t>
            </a:r>
          </a:p>
          <a:p>
            <a:pPr lvl="1"/>
            <a:r>
              <a:rPr lang="en-US" dirty="0"/>
              <a:t>The pituitary gland lies between the paired sinuses</a:t>
            </a:r>
          </a:p>
          <a:p>
            <a:pPr lvl="1"/>
            <a:r>
              <a:rPr lang="en-US" dirty="0"/>
              <a:t>An abnormal pituitary adenoma expands into the cavernous sinus</a:t>
            </a:r>
          </a:p>
          <a:p>
            <a:pPr lvl="2"/>
            <a:r>
              <a:rPr lang="en-US" dirty="0"/>
              <a:t>Can cause ophthalmoplegia (weakness or paralysis of one or more extraocular muscles) and sensory loss from compression of ophthalmic or maxillary nerve </a:t>
            </a:r>
          </a:p>
        </p:txBody>
      </p:sp>
    </p:spTree>
    <p:extLst>
      <p:ext uri="{BB962C8B-B14F-4D97-AF65-F5344CB8AC3E}">
        <p14:creationId xmlns:p14="http://schemas.microsoft.com/office/powerpoint/2010/main" val="3493925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Projects\FRC\Moore\Project_SRC\PPT-With_Images_New_standard\Splitted\chapter07\F11181-007-031AC.jpg"/>
          <p:cNvPicPr>
            <a:picLocks noGrp="1" noChangeAspect="1" noChangeArrowheads="1"/>
          </p:cNvPicPr>
          <p:nvPr>
            <p:ph idx="1"/>
          </p:nvPr>
        </p:nvPicPr>
        <p:blipFill>
          <a:blip r:embed="rId2" cstate="print"/>
          <a:srcRect t="57243"/>
          <a:stretch>
            <a:fillRect/>
          </a:stretch>
        </p:blipFill>
        <p:spPr bwMode="auto">
          <a:xfrm>
            <a:off x="990600" y="685799"/>
            <a:ext cx="7162800" cy="5597061"/>
          </a:xfrm>
          <a:prstGeom prst="rect">
            <a:avLst/>
          </a:prstGeom>
          <a:noFill/>
        </p:spPr>
      </p:pic>
      <p:sp>
        <p:nvSpPr>
          <p:cNvPr id="6" name="Rectangle 5"/>
          <p:cNvSpPr/>
          <p:nvPr/>
        </p:nvSpPr>
        <p:spPr>
          <a:xfrm>
            <a:off x="3810000" y="990600"/>
            <a:ext cx="1524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73735-06B3-4B47-9FEC-ED2D08E32D56}"/>
              </a:ext>
            </a:extLst>
          </p:cNvPr>
          <p:cNvSpPr>
            <a:spLocks noGrp="1"/>
          </p:cNvSpPr>
          <p:nvPr>
            <p:ph type="title"/>
          </p:nvPr>
        </p:nvSpPr>
        <p:spPr/>
        <p:txBody>
          <a:bodyPr/>
          <a:lstStyle/>
          <a:p>
            <a:r>
              <a:rPr lang="en-US" dirty="0"/>
              <a:t>Pineal Gland</a:t>
            </a:r>
          </a:p>
        </p:txBody>
      </p:sp>
      <p:sp>
        <p:nvSpPr>
          <p:cNvPr id="3" name="Content Placeholder 2">
            <a:extLst>
              <a:ext uri="{FF2B5EF4-FFF2-40B4-BE49-F238E27FC236}">
                <a16:creationId xmlns:a16="http://schemas.microsoft.com/office/drawing/2014/main" id="{C1DF8315-3190-46C2-B376-F6061FD76458}"/>
              </a:ext>
            </a:extLst>
          </p:cNvPr>
          <p:cNvSpPr>
            <a:spLocks noGrp="1"/>
          </p:cNvSpPr>
          <p:nvPr>
            <p:ph idx="1"/>
          </p:nvPr>
        </p:nvSpPr>
        <p:spPr>
          <a:xfrm>
            <a:off x="457200" y="1600200"/>
            <a:ext cx="8229600" cy="4983162"/>
          </a:xfrm>
        </p:spPr>
        <p:txBody>
          <a:bodyPr>
            <a:normAutofit fontScale="92500" lnSpcReduction="10000"/>
          </a:bodyPr>
          <a:lstStyle/>
          <a:p>
            <a:r>
              <a:rPr lang="en-US" dirty="0"/>
              <a:t>Small endocrine gland in the brain</a:t>
            </a:r>
          </a:p>
          <a:p>
            <a:r>
              <a:rPr lang="en-US" dirty="0"/>
              <a:t>Located in epithalamus near the center of the brain between two hemispheres </a:t>
            </a:r>
          </a:p>
          <a:p>
            <a:r>
              <a:rPr lang="en-US" dirty="0"/>
              <a:t>Very small pinecone shaped gland</a:t>
            </a:r>
          </a:p>
          <a:p>
            <a:r>
              <a:rPr lang="en-US" dirty="0"/>
              <a:t>May appear calcified in radiographs in older people due to deposits of fluoride, calcium, &amp; phosphorus</a:t>
            </a:r>
          </a:p>
          <a:p>
            <a:r>
              <a:rPr lang="en-US" dirty="0"/>
              <a:t>Hormone – </a:t>
            </a:r>
            <a:r>
              <a:rPr lang="en-US" dirty="0">
                <a:solidFill>
                  <a:srgbClr val="FF0000"/>
                </a:solidFill>
              </a:rPr>
              <a:t>Melatonin</a:t>
            </a:r>
            <a:r>
              <a:rPr lang="en-US" dirty="0"/>
              <a:t> (secretion dictated by light exposure): two functions – </a:t>
            </a:r>
            <a:r>
              <a:rPr lang="en-US" dirty="0">
                <a:solidFill>
                  <a:srgbClr val="FF0000"/>
                </a:solidFill>
              </a:rPr>
              <a:t>help control circadian rhythm and regulate reproductive hormones</a:t>
            </a:r>
          </a:p>
        </p:txBody>
      </p:sp>
    </p:spTree>
    <p:extLst>
      <p:ext uri="{BB962C8B-B14F-4D97-AF65-F5344CB8AC3E}">
        <p14:creationId xmlns:p14="http://schemas.microsoft.com/office/powerpoint/2010/main" val="1912324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F1190-62B9-46F6-9494-B727356009A3}"/>
              </a:ext>
            </a:extLst>
          </p:cNvPr>
          <p:cNvSpPr>
            <a:spLocks noGrp="1"/>
          </p:cNvSpPr>
          <p:nvPr>
            <p:ph type="title"/>
          </p:nvPr>
        </p:nvSpPr>
        <p:spPr/>
        <p:txBody>
          <a:bodyPr/>
          <a:lstStyle/>
          <a:p>
            <a:r>
              <a:rPr lang="en-US" dirty="0"/>
              <a:t>Pineal Gland</a:t>
            </a:r>
          </a:p>
        </p:txBody>
      </p:sp>
      <p:pic>
        <p:nvPicPr>
          <p:cNvPr id="4" name="Content Placeholder 3">
            <a:extLst>
              <a:ext uri="{FF2B5EF4-FFF2-40B4-BE49-F238E27FC236}">
                <a16:creationId xmlns:a16="http://schemas.microsoft.com/office/drawing/2014/main" id="{1298C09E-075B-40C2-88B0-F254185055A6}"/>
              </a:ext>
            </a:extLst>
          </p:cNvPr>
          <p:cNvPicPr>
            <a:picLocks noGrp="1" noChangeAspect="1"/>
          </p:cNvPicPr>
          <p:nvPr>
            <p:ph idx="1"/>
          </p:nvPr>
        </p:nvPicPr>
        <p:blipFill>
          <a:blip r:embed="rId2"/>
          <a:stretch>
            <a:fillRect/>
          </a:stretch>
        </p:blipFill>
        <p:spPr>
          <a:xfrm>
            <a:off x="2057400" y="1560601"/>
            <a:ext cx="4789730" cy="4983162"/>
          </a:xfrm>
          <a:prstGeom prst="rect">
            <a:avLst/>
          </a:prstGeom>
        </p:spPr>
      </p:pic>
      <p:sp>
        <p:nvSpPr>
          <p:cNvPr id="3" name="TextBox 2">
            <a:extLst>
              <a:ext uri="{FF2B5EF4-FFF2-40B4-BE49-F238E27FC236}">
                <a16:creationId xmlns:a16="http://schemas.microsoft.com/office/drawing/2014/main" id="{408C4C74-A33E-857E-57B5-6759AF150D16}"/>
              </a:ext>
            </a:extLst>
          </p:cNvPr>
          <p:cNvSpPr txBox="1"/>
          <p:nvPr/>
        </p:nvSpPr>
        <p:spPr>
          <a:xfrm>
            <a:off x="5105400" y="2133600"/>
            <a:ext cx="1219200" cy="609600"/>
          </a:xfrm>
          <a:prstGeom prst="rect">
            <a:avLst/>
          </a:prstGeom>
          <a:noFill/>
          <a:ln w="19050">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292789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Adrenal Glands</a:t>
            </a:r>
            <a:br>
              <a:rPr lang="en-US" dirty="0"/>
            </a:br>
            <a:r>
              <a:rPr lang="en-US" sz="2000" dirty="0"/>
              <a:t>(aka – suprarenal glands)</a:t>
            </a:r>
            <a:endParaRPr lang="en-US" dirty="0"/>
          </a:p>
        </p:txBody>
      </p:sp>
      <p:sp>
        <p:nvSpPr>
          <p:cNvPr id="3" name="Content Placeholder 2"/>
          <p:cNvSpPr>
            <a:spLocks noGrp="1"/>
          </p:cNvSpPr>
          <p:nvPr>
            <p:ph idx="1"/>
          </p:nvPr>
        </p:nvSpPr>
        <p:spPr>
          <a:xfrm>
            <a:off x="457200" y="1600200"/>
            <a:ext cx="8229600" cy="4876800"/>
          </a:xfrm>
        </p:spPr>
        <p:txBody>
          <a:bodyPr>
            <a:normAutofit fontScale="92500"/>
          </a:bodyPr>
          <a:lstStyle/>
          <a:p>
            <a:r>
              <a:rPr lang="en-US" sz="2800" dirty="0"/>
              <a:t>Located on top of each kidney (hence “suprarenal”)</a:t>
            </a:r>
          </a:p>
          <a:p>
            <a:r>
              <a:rPr lang="en-US" sz="2800" dirty="0"/>
              <a:t>Right adrenal is more “pyramidal shaped”, while left is “crescent shaped” </a:t>
            </a:r>
          </a:p>
          <a:p>
            <a:r>
              <a:rPr lang="en-US" sz="2800" dirty="0"/>
              <a:t>Separated from kidneys by a thin septum</a:t>
            </a:r>
          </a:p>
          <a:p>
            <a:pPr lvl="1"/>
            <a:r>
              <a:rPr lang="en-US" sz="2400" dirty="0"/>
              <a:t>Important for renal transplants</a:t>
            </a:r>
          </a:p>
          <a:p>
            <a:r>
              <a:rPr lang="en-US" sz="2800" dirty="0"/>
              <a:t>Enclosed by renal fascia by which are attached to the crura of the diaphragm</a:t>
            </a:r>
          </a:p>
          <a:p>
            <a:r>
              <a:rPr lang="en-US" sz="2800" dirty="0"/>
              <a:t>Each gland has an inner </a:t>
            </a:r>
            <a:r>
              <a:rPr lang="en-US" sz="2800" i="1" dirty="0"/>
              <a:t>medulla</a:t>
            </a:r>
            <a:r>
              <a:rPr lang="en-US" sz="2800" dirty="0"/>
              <a:t> and outer </a:t>
            </a:r>
            <a:r>
              <a:rPr lang="en-US" sz="2800" i="1" dirty="0"/>
              <a:t>cortex</a:t>
            </a:r>
            <a:r>
              <a:rPr lang="en-US" sz="2800" dirty="0"/>
              <a:t>, each of which have different endocrine functions</a:t>
            </a:r>
          </a:p>
          <a:p>
            <a:r>
              <a:rPr lang="en-US" sz="2800" dirty="0"/>
              <a:t>Each gland has a hilum where veins and lymphatics exit, but the arterial and nerve supply enter at various sites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781A-BC14-4DC3-948A-FD0624ED783A}"/>
              </a:ext>
            </a:extLst>
          </p:cNvPr>
          <p:cNvSpPr>
            <a:spLocks noGrp="1"/>
          </p:cNvSpPr>
          <p:nvPr>
            <p:ph type="title"/>
          </p:nvPr>
        </p:nvSpPr>
        <p:spPr>
          <a:xfrm>
            <a:off x="457200" y="172792"/>
            <a:ext cx="8229600" cy="563562"/>
          </a:xfrm>
        </p:spPr>
        <p:txBody>
          <a:bodyPr>
            <a:normAutofit fontScale="90000"/>
          </a:bodyPr>
          <a:lstStyle/>
          <a:p>
            <a:r>
              <a:rPr lang="en-US" dirty="0"/>
              <a:t>Adrenal Glands</a:t>
            </a:r>
          </a:p>
        </p:txBody>
      </p:sp>
      <p:pic>
        <p:nvPicPr>
          <p:cNvPr id="4" name="Content Placeholder 3">
            <a:extLst>
              <a:ext uri="{FF2B5EF4-FFF2-40B4-BE49-F238E27FC236}">
                <a16:creationId xmlns:a16="http://schemas.microsoft.com/office/drawing/2014/main" id="{6F2A5ED4-F95F-4DCF-8BDB-DD0816FA3386}"/>
              </a:ext>
            </a:extLst>
          </p:cNvPr>
          <p:cNvPicPr>
            <a:picLocks noGrp="1" noChangeAspect="1"/>
          </p:cNvPicPr>
          <p:nvPr>
            <p:ph idx="1"/>
          </p:nvPr>
        </p:nvPicPr>
        <p:blipFill>
          <a:blip r:embed="rId2"/>
          <a:stretch>
            <a:fillRect/>
          </a:stretch>
        </p:blipFill>
        <p:spPr>
          <a:xfrm>
            <a:off x="1371600" y="745685"/>
            <a:ext cx="6268332" cy="7313054"/>
          </a:xfrm>
          <a:prstGeom prst="rect">
            <a:avLst/>
          </a:prstGeom>
        </p:spPr>
      </p:pic>
      <p:sp>
        <p:nvSpPr>
          <p:cNvPr id="3" name="TextBox 2">
            <a:extLst>
              <a:ext uri="{FF2B5EF4-FFF2-40B4-BE49-F238E27FC236}">
                <a16:creationId xmlns:a16="http://schemas.microsoft.com/office/drawing/2014/main" id="{F4342583-20E5-CA8D-C9CE-4F64B7C0C20E}"/>
              </a:ext>
            </a:extLst>
          </p:cNvPr>
          <p:cNvSpPr txBox="1"/>
          <p:nvPr/>
        </p:nvSpPr>
        <p:spPr>
          <a:xfrm>
            <a:off x="6165915" y="1295400"/>
            <a:ext cx="1467732" cy="838200"/>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607759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CDFE-7F74-4675-A676-4DE3CAE5F86E}"/>
              </a:ext>
            </a:extLst>
          </p:cNvPr>
          <p:cNvSpPr>
            <a:spLocks noGrp="1"/>
          </p:cNvSpPr>
          <p:nvPr>
            <p:ph type="title"/>
          </p:nvPr>
        </p:nvSpPr>
        <p:spPr>
          <a:xfrm>
            <a:off x="457200" y="274638"/>
            <a:ext cx="8229600" cy="944562"/>
          </a:xfrm>
        </p:spPr>
        <p:txBody>
          <a:bodyPr>
            <a:normAutofit/>
          </a:bodyPr>
          <a:lstStyle/>
          <a:p>
            <a:r>
              <a:rPr lang="en-US" dirty="0"/>
              <a:t>Adrenal Glands</a:t>
            </a:r>
          </a:p>
        </p:txBody>
      </p:sp>
      <p:sp>
        <p:nvSpPr>
          <p:cNvPr id="3" name="Content Placeholder 2">
            <a:extLst>
              <a:ext uri="{FF2B5EF4-FFF2-40B4-BE49-F238E27FC236}">
                <a16:creationId xmlns:a16="http://schemas.microsoft.com/office/drawing/2014/main" id="{663D4676-3322-4709-B76C-A6CC1639BFB4}"/>
              </a:ext>
            </a:extLst>
          </p:cNvPr>
          <p:cNvSpPr>
            <a:spLocks noGrp="1"/>
          </p:cNvSpPr>
          <p:nvPr>
            <p:ph idx="1"/>
          </p:nvPr>
        </p:nvSpPr>
        <p:spPr>
          <a:xfrm>
            <a:off x="457200" y="1219200"/>
            <a:ext cx="8382000" cy="5486400"/>
          </a:xfrm>
        </p:spPr>
        <p:txBody>
          <a:bodyPr>
            <a:normAutofit fontScale="85000" lnSpcReduction="20000"/>
          </a:bodyPr>
          <a:lstStyle/>
          <a:p>
            <a:r>
              <a:rPr lang="en-US" dirty="0"/>
              <a:t>Suprarenal </a:t>
            </a:r>
            <a:r>
              <a:rPr lang="en-US" dirty="0">
                <a:solidFill>
                  <a:srgbClr val="FF0000"/>
                </a:solidFill>
              </a:rPr>
              <a:t>cortex</a:t>
            </a:r>
          </a:p>
          <a:p>
            <a:pPr lvl="1"/>
            <a:r>
              <a:rPr lang="en-US" dirty="0">
                <a:solidFill>
                  <a:srgbClr val="FF0000"/>
                </a:solidFill>
              </a:rPr>
              <a:t>Secretes aldosterone, cortisol, and precursors for sex hormones</a:t>
            </a:r>
          </a:p>
          <a:p>
            <a:pPr lvl="2"/>
            <a:r>
              <a:rPr lang="en-US" dirty="0"/>
              <a:t>Aldosterone causes the kidneys to retain sodium and water in response to stress, increasing the blood volume and blood pressure</a:t>
            </a:r>
          </a:p>
          <a:p>
            <a:pPr lvl="2"/>
            <a:endParaRPr lang="en-US" dirty="0"/>
          </a:p>
          <a:p>
            <a:pPr lvl="2"/>
            <a:r>
              <a:rPr lang="en-US" dirty="0"/>
              <a:t>Cortisol secreted during “fight or flight” situations </a:t>
            </a:r>
          </a:p>
          <a:p>
            <a:pPr lvl="1"/>
            <a:endParaRPr lang="en-US" dirty="0"/>
          </a:p>
          <a:p>
            <a:r>
              <a:rPr lang="en-US" dirty="0"/>
              <a:t>Suprarenal </a:t>
            </a:r>
            <a:r>
              <a:rPr lang="en-US" dirty="0">
                <a:solidFill>
                  <a:srgbClr val="FF0000"/>
                </a:solidFill>
              </a:rPr>
              <a:t>medulla</a:t>
            </a:r>
          </a:p>
          <a:p>
            <a:pPr lvl="1"/>
            <a:r>
              <a:rPr lang="en-US" dirty="0">
                <a:solidFill>
                  <a:srgbClr val="FF0000"/>
                </a:solidFill>
              </a:rPr>
              <a:t>Chromaffin cells of medulla are related to sympathetic ganglion neurons</a:t>
            </a:r>
          </a:p>
          <a:p>
            <a:pPr lvl="2"/>
            <a:r>
              <a:rPr lang="en-US" dirty="0"/>
              <a:t>Secrete catecholamines (mostly epinephrine) into the bloodstream in response to signals from presynaptic neurons</a:t>
            </a:r>
          </a:p>
          <a:p>
            <a:pPr lvl="2"/>
            <a:r>
              <a:rPr lang="en-US" dirty="0"/>
              <a:t>Epinephrine and norepinephrine active the body to a flight-or fight status in response to traumatic stress</a:t>
            </a:r>
          </a:p>
          <a:p>
            <a:pPr lvl="3"/>
            <a:r>
              <a:rPr lang="en-US" dirty="0"/>
              <a:t>Increase HR and BP, dilate bronchioles, and change blood flow patterns</a:t>
            </a:r>
          </a:p>
        </p:txBody>
      </p:sp>
    </p:spTree>
    <p:extLst>
      <p:ext uri="{BB962C8B-B14F-4D97-AF65-F5344CB8AC3E}">
        <p14:creationId xmlns:p14="http://schemas.microsoft.com/office/powerpoint/2010/main" val="2598132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Adrenal Glands</a:t>
            </a:r>
            <a:endParaRPr lang="en-US" sz="2000" dirty="0"/>
          </a:p>
        </p:txBody>
      </p:sp>
      <p:sp>
        <p:nvSpPr>
          <p:cNvPr id="3" name="Content Placeholder 2"/>
          <p:cNvSpPr>
            <a:spLocks noGrp="1"/>
          </p:cNvSpPr>
          <p:nvPr>
            <p:ph idx="1"/>
          </p:nvPr>
        </p:nvSpPr>
        <p:spPr>
          <a:xfrm>
            <a:off x="457200" y="1600200"/>
            <a:ext cx="8382000" cy="4953000"/>
          </a:xfrm>
        </p:spPr>
        <p:txBody>
          <a:bodyPr>
            <a:normAutofit fontScale="92500" lnSpcReduction="10000"/>
          </a:bodyPr>
          <a:lstStyle/>
          <a:p>
            <a:r>
              <a:rPr lang="en-US" u="sng" dirty="0"/>
              <a:t>Arterial supply is VERY abundant </a:t>
            </a:r>
          </a:p>
          <a:p>
            <a:pPr lvl="1"/>
            <a:r>
              <a:rPr lang="en-US" dirty="0"/>
              <a:t>Due to endocrine functional needs</a:t>
            </a:r>
          </a:p>
          <a:p>
            <a:r>
              <a:rPr lang="en-US" dirty="0"/>
              <a:t>The suprarenal arteries branch freely before entering the gland so that 50-60 branches penetrate the capsule covering the surface of gland</a:t>
            </a:r>
          </a:p>
          <a:p>
            <a:r>
              <a:rPr lang="en-US" dirty="0">
                <a:solidFill>
                  <a:srgbClr val="FF0000"/>
                </a:solidFill>
              </a:rPr>
              <a:t>Arterial supply</a:t>
            </a:r>
            <a:r>
              <a:rPr lang="en-US" dirty="0"/>
              <a:t>:</a:t>
            </a:r>
          </a:p>
          <a:p>
            <a:pPr lvl="1"/>
            <a:r>
              <a:rPr lang="en-US" dirty="0">
                <a:solidFill>
                  <a:srgbClr val="FF0000"/>
                </a:solidFill>
              </a:rPr>
              <a:t>Superior suprarenal- </a:t>
            </a:r>
            <a:r>
              <a:rPr lang="en-US" dirty="0"/>
              <a:t>from inferior phrenic arteries </a:t>
            </a:r>
          </a:p>
          <a:p>
            <a:pPr lvl="1"/>
            <a:r>
              <a:rPr lang="en-US" dirty="0">
                <a:solidFill>
                  <a:srgbClr val="FF0000"/>
                </a:solidFill>
              </a:rPr>
              <a:t>Middle suprarenal- </a:t>
            </a:r>
            <a:r>
              <a:rPr lang="en-US" dirty="0"/>
              <a:t>from the abdominal aorta near the level of celiac trunk</a:t>
            </a:r>
          </a:p>
          <a:p>
            <a:pPr lvl="1"/>
            <a:r>
              <a:rPr lang="en-US" dirty="0">
                <a:solidFill>
                  <a:srgbClr val="FF0000"/>
                </a:solidFill>
              </a:rPr>
              <a:t>Inferior suprarenal- </a:t>
            </a:r>
            <a:r>
              <a:rPr lang="en-US" dirty="0"/>
              <a:t>from the renal arteries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PPT_ImageInsertion\input\Chapter_2\jpg\Figure 2.083.jpg"/>
          <p:cNvPicPr>
            <a:picLocks noGrp="1" noChangeAspect="1" noChangeArrowheads="1"/>
          </p:cNvPicPr>
          <p:nvPr>
            <p:ph idx="1"/>
          </p:nvPr>
        </p:nvPicPr>
        <p:blipFill>
          <a:blip r:embed="rId2" r:link="rId3" cstate="print"/>
          <a:srcRect/>
          <a:stretch>
            <a:fillRect/>
          </a:stretch>
        </p:blipFill>
        <p:spPr bwMode="auto">
          <a:xfrm>
            <a:off x="1371600" y="381000"/>
            <a:ext cx="6470262" cy="6158295"/>
          </a:xfrm>
          <a:prstGeom prst="rect">
            <a:avLst/>
          </a:prstGeom>
          <a:noFill/>
          <a:ln w="9525" algn="ctr">
            <a:noFill/>
            <a:miter lim="800000"/>
            <a:headEnd/>
            <a:tailEnd/>
          </a:ln>
          <a:effectLst/>
        </p:spPr>
      </p:pic>
      <p:sp>
        <p:nvSpPr>
          <p:cNvPr id="8" name="Rectangle 7"/>
          <p:cNvSpPr/>
          <p:nvPr/>
        </p:nvSpPr>
        <p:spPr>
          <a:xfrm>
            <a:off x="1371600" y="1371600"/>
            <a:ext cx="11430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371600" y="2362200"/>
            <a:ext cx="6858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371600" y="4876800"/>
            <a:ext cx="11430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705600" y="1295400"/>
            <a:ext cx="11430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371600" y="1905000"/>
            <a:ext cx="6858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72D4B1-DE17-42AD-96C1-5306ED7F892D}"/>
              </a:ext>
            </a:extLst>
          </p:cNvPr>
          <p:cNvPicPr>
            <a:picLocks noGrp="1" noChangeAspect="1"/>
          </p:cNvPicPr>
          <p:nvPr>
            <p:ph idx="1"/>
          </p:nvPr>
        </p:nvPicPr>
        <p:blipFill>
          <a:blip r:embed="rId2"/>
          <a:stretch>
            <a:fillRect/>
          </a:stretch>
        </p:blipFill>
        <p:spPr>
          <a:xfrm>
            <a:off x="342900" y="914400"/>
            <a:ext cx="8458200" cy="5272937"/>
          </a:xfrm>
          <a:prstGeom prst="rect">
            <a:avLst/>
          </a:prstGeom>
        </p:spPr>
      </p:pic>
    </p:spTree>
    <p:extLst>
      <p:ext uri="{BB962C8B-B14F-4D97-AF65-F5344CB8AC3E}">
        <p14:creationId xmlns:p14="http://schemas.microsoft.com/office/powerpoint/2010/main" val="3688210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6A80-816F-4E6C-A34C-682B03D913AC}"/>
              </a:ext>
            </a:extLst>
          </p:cNvPr>
          <p:cNvSpPr>
            <a:spLocks noGrp="1"/>
          </p:cNvSpPr>
          <p:nvPr>
            <p:ph type="title"/>
          </p:nvPr>
        </p:nvSpPr>
        <p:spPr/>
        <p:txBody>
          <a:bodyPr/>
          <a:lstStyle/>
          <a:p>
            <a:r>
              <a:rPr lang="en-US" dirty="0"/>
              <a:t>Adrenal Glands</a:t>
            </a:r>
          </a:p>
        </p:txBody>
      </p:sp>
      <p:sp>
        <p:nvSpPr>
          <p:cNvPr id="3" name="Content Placeholder 2">
            <a:extLst>
              <a:ext uri="{FF2B5EF4-FFF2-40B4-BE49-F238E27FC236}">
                <a16:creationId xmlns:a16="http://schemas.microsoft.com/office/drawing/2014/main" id="{1750C9E4-A219-45E3-A918-71F783F8492B}"/>
              </a:ext>
            </a:extLst>
          </p:cNvPr>
          <p:cNvSpPr>
            <a:spLocks noGrp="1"/>
          </p:cNvSpPr>
          <p:nvPr>
            <p:ph idx="1"/>
          </p:nvPr>
        </p:nvSpPr>
        <p:spPr>
          <a:xfrm>
            <a:off x="457200" y="1600200"/>
            <a:ext cx="7924800" cy="4983162"/>
          </a:xfrm>
        </p:spPr>
        <p:txBody>
          <a:bodyPr>
            <a:normAutofit fontScale="92500" lnSpcReduction="20000"/>
          </a:bodyPr>
          <a:lstStyle/>
          <a:p>
            <a:r>
              <a:rPr lang="en-US" dirty="0">
                <a:solidFill>
                  <a:srgbClr val="FF0000"/>
                </a:solidFill>
              </a:rPr>
              <a:t>Venous return is via suprarenal veins </a:t>
            </a:r>
            <a:r>
              <a:rPr lang="en-US" dirty="0"/>
              <a:t>– right empties into the IVC and the left into the left renal vein.</a:t>
            </a:r>
          </a:p>
          <a:p>
            <a:r>
              <a:rPr lang="en-US" dirty="0"/>
              <a:t>Rich nerve supply from </a:t>
            </a:r>
            <a:r>
              <a:rPr lang="en-US" dirty="0">
                <a:solidFill>
                  <a:srgbClr val="FF0000"/>
                </a:solidFill>
              </a:rPr>
              <a:t>celiac plexus and abdominopelvic splanchnic nerves </a:t>
            </a:r>
            <a:r>
              <a:rPr lang="en-US" dirty="0"/>
              <a:t>supply the </a:t>
            </a:r>
            <a:r>
              <a:rPr lang="en-US" dirty="0">
                <a:solidFill>
                  <a:srgbClr val="FF0000"/>
                </a:solidFill>
              </a:rPr>
              <a:t>cortex</a:t>
            </a:r>
            <a:r>
              <a:rPr lang="en-US" dirty="0"/>
              <a:t>, while presynaptic sympathetic fibers (mainly from </a:t>
            </a:r>
            <a:r>
              <a:rPr lang="en-US" dirty="0">
                <a:solidFill>
                  <a:srgbClr val="FF0000"/>
                </a:solidFill>
              </a:rPr>
              <a:t>spinal cord levels T10-L1</a:t>
            </a:r>
            <a:r>
              <a:rPr lang="en-US" dirty="0"/>
              <a:t>) supply the </a:t>
            </a:r>
            <a:r>
              <a:rPr lang="en-US" dirty="0">
                <a:solidFill>
                  <a:srgbClr val="FF0000"/>
                </a:solidFill>
              </a:rPr>
              <a:t>medulla</a:t>
            </a:r>
            <a:r>
              <a:rPr lang="en-US" dirty="0"/>
              <a:t>.</a:t>
            </a:r>
          </a:p>
          <a:p>
            <a:r>
              <a:rPr lang="en-US" dirty="0"/>
              <a:t>Many lymphatic vessels leave the adrenals from a deep plexus in the cortex and another from the medulla and drain to the lumbar lymph nodes.</a:t>
            </a:r>
          </a:p>
          <a:p>
            <a:endParaRPr lang="en-US" dirty="0"/>
          </a:p>
        </p:txBody>
      </p:sp>
    </p:spTree>
    <p:extLst>
      <p:ext uri="{BB962C8B-B14F-4D97-AF65-F5344CB8AC3E}">
        <p14:creationId xmlns:p14="http://schemas.microsoft.com/office/powerpoint/2010/main" val="1559355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US" dirty="0"/>
              <a:t>Pancreas</a:t>
            </a:r>
          </a:p>
        </p:txBody>
      </p:sp>
      <p:sp>
        <p:nvSpPr>
          <p:cNvPr id="3" name="Content Placeholder 2"/>
          <p:cNvSpPr>
            <a:spLocks noGrp="1"/>
          </p:cNvSpPr>
          <p:nvPr>
            <p:ph idx="1"/>
          </p:nvPr>
        </p:nvSpPr>
        <p:spPr>
          <a:xfrm>
            <a:off x="457200" y="1371600"/>
            <a:ext cx="8229600" cy="5562600"/>
          </a:xfrm>
        </p:spPr>
        <p:txBody>
          <a:bodyPr>
            <a:normAutofit fontScale="77500" lnSpcReduction="20000"/>
          </a:bodyPr>
          <a:lstStyle/>
          <a:p>
            <a:r>
              <a:rPr lang="en-US" dirty="0"/>
              <a:t>An elongated, accessory digestive gland </a:t>
            </a:r>
          </a:p>
          <a:p>
            <a:r>
              <a:rPr lang="en-US" dirty="0"/>
              <a:t>Lies posterior to the stomach between the duodenum on the right and spleen on the left</a:t>
            </a:r>
          </a:p>
          <a:p>
            <a:r>
              <a:rPr lang="en-US" dirty="0"/>
              <a:t>Both exocrine (digestion) and endocrine (insulin &amp; glucagon)  functions</a:t>
            </a:r>
          </a:p>
          <a:p>
            <a:pPr marL="0" indent="0">
              <a:buNone/>
            </a:pPr>
            <a:endParaRPr lang="en-US" dirty="0"/>
          </a:p>
          <a:p>
            <a:r>
              <a:rPr lang="en-US" dirty="0"/>
              <a:t>When blood sugar is high, beta cells secrete insulin into the blood to help cells take in glucose and use for energy (lowering blood sugar)</a:t>
            </a:r>
          </a:p>
          <a:p>
            <a:endParaRPr lang="en-US" dirty="0"/>
          </a:p>
          <a:p>
            <a:r>
              <a:rPr lang="en-US" dirty="0"/>
              <a:t>When blood sugar is low, alpha cells secrete glucagon which binds to receptors on the liver activating a breakdown of glycogen which releases glucose into the bloodstream cells to be used between meals </a:t>
            </a:r>
          </a:p>
          <a:p>
            <a:pPr marL="457200" lvl="1" indent="0">
              <a:buNone/>
            </a:pPr>
            <a:r>
              <a:rPr lang="en-US"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1C94-217A-475B-B00D-C714D333FF31}"/>
              </a:ext>
            </a:extLst>
          </p:cNvPr>
          <p:cNvSpPr>
            <a:spLocks noGrp="1"/>
          </p:cNvSpPr>
          <p:nvPr>
            <p:ph type="title"/>
          </p:nvPr>
        </p:nvSpPr>
        <p:spPr/>
        <p:txBody>
          <a:bodyPr/>
          <a:lstStyle/>
          <a:p>
            <a:r>
              <a:rPr lang="en-US" dirty="0"/>
              <a:t>Pancreas</a:t>
            </a:r>
          </a:p>
        </p:txBody>
      </p:sp>
      <p:sp>
        <p:nvSpPr>
          <p:cNvPr id="3" name="Content Placeholder 2">
            <a:extLst>
              <a:ext uri="{FF2B5EF4-FFF2-40B4-BE49-F238E27FC236}">
                <a16:creationId xmlns:a16="http://schemas.microsoft.com/office/drawing/2014/main" id="{AAD87070-7FA8-464E-9D83-2A2F31E97BE9}"/>
              </a:ext>
            </a:extLst>
          </p:cNvPr>
          <p:cNvSpPr>
            <a:spLocks noGrp="1"/>
          </p:cNvSpPr>
          <p:nvPr>
            <p:ph idx="1"/>
          </p:nvPr>
        </p:nvSpPr>
        <p:spPr/>
        <p:txBody>
          <a:bodyPr>
            <a:normAutofit fontScale="92500"/>
          </a:bodyPr>
          <a:lstStyle/>
          <a:p>
            <a:r>
              <a:rPr lang="en-US" dirty="0"/>
              <a:t>Divided into 4 parts:</a:t>
            </a:r>
          </a:p>
          <a:p>
            <a:pPr lvl="1"/>
            <a:r>
              <a:rPr lang="en-US" dirty="0"/>
              <a:t>Head of the pancreas lives in the C of the duodenum and uncinate process (projection of the head) extends posteriorly to the superior mesenteric artery (SMA)</a:t>
            </a:r>
          </a:p>
          <a:p>
            <a:pPr lvl="1"/>
            <a:r>
              <a:rPr lang="en-US" dirty="0"/>
              <a:t>The neck overlies the superior mesenteric vessels and adjacent to the pylorus of the stomach</a:t>
            </a:r>
          </a:p>
          <a:p>
            <a:pPr lvl="1"/>
            <a:r>
              <a:rPr lang="en-US" dirty="0"/>
              <a:t>The body lies to the left of the superior mesenteric vessels passing over the aorta and L2 vertebra</a:t>
            </a:r>
          </a:p>
          <a:p>
            <a:pPr lvl="1"/>
            <a:r>
              <a:rPr lang="en-US" dirty="0"/>
              <a:t> The tail lies anterior to the left kidney and projects toward the LUQ and the spleen</a:t>
            </a:r>
          </a:p>
          <a:p>
            <a:endParaRPr lang="en-US" dirty="0"/>
          </a:p>
        </p:txBody>
      </p:sp>
    </p:spTree>
    <p:extLst>
      <p:ext uri="{BB962C8B-B14F-4D97-AF65-F5344CB8AC3E}">
        <p14:creationId xmlns:p14="http://schemas.microsoft.com/office/powerpoint/2010/main" val="1235407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PPT_ImageInsertion\input\Chapter_2\jpg\Figure 2.059.jpg"/>
          <p:cNvPicPr>
            <a:picLocks noGrp="1" noChangeAspect="1" noChangeArrowheads="1"/>
          </p:cNvPicPr>
          <p:nvPr>
            <p:ph idx="1"/>
          </p:nvPr>
        </p:nvPicPr>
        <p:blipFill>
          <a:blip r:embed="rId2" r:link="rId3" cstate="print"/>
          <a:srcRect/>
          <a:stretch>
            <a:fillRect/>
          </a:stretch>
        </p:blipFill>
        <p:spPr bwMode="auto">
          <a:xfrm>
            <a:off x="1421470" y="133938"/>
            <a:ext cx="6274730" cy="6571662"/>
          </a:xfrm>
          <a:prstGeom prst="rect">
            <a:avLst/>
          </a:prstGeom>
          <a:noFill/>
          <a:ln w="9525" algn="ctr">
            <a:noFill/>
            <a:miter lim="800000"/>
            <a:headEnd/>
            <a:tailEnd/>
          </a:ln>
          <a:effectLst/>
        </p:spPr>
      </p:pic>
      <p:cxnSp>
        <p:nvCxnSpPr>
          <p:cNvPr id="3" name="Straight Connector 2"/>
          <p:cNvCxnSpPr/>
          <p:nvPr/>
        </p:nvCxnSpPr>
        <p:spPr>
          <a:xfrm>
            <a:off x="2362200" y="2895600"/>
            <a:ext cx="457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133600" y="3124200"/>
            <a:ext cx="9906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858000" y="2971800"/>
            <a:ext cx="685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858000" y="3142673"/>
            <a:ext cx="685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324600" y="3810000"/>
            <a:ext cx="1219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400800" y="4114800"/>
            <a:ext cx="9906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905000" y="3276600"/>
            <a:ext cx="1219200" cy="215444"/>
          </a:xfrm>
          <a:prstGeom prst="rect">
            <a:avLst/>
          </a:prstGeom>
          <a:noFill/>
        </p:spPr>
        <p:txBody>
          <a:bodyPr wrap="square" rtlCol="0">
            <a:spAutoFit/>
          </a:bodyPr>
          <a:lstStyle/>
          <a:p>
            <a:r>
              <a:rPr lang="en-US" sz="800" dirty="0"/>
              <a:t>“Ampulla of Vater”</a:t>
            </a:r>
          </a:p>
        </p:txBody>
      </p:sp>
      <p:sp>
        <p:nvSpPr>
          <p:cNvPr id="20" name="TextBox 19"/>
          <p:cNvSpPr txBox="1"/>
          <p:nvPr/>
        </p:nvSpPr>
        <p:spPr>
          <a:xfrm>
            <a:off x="1905000" y="3492044"/>
            <a:ext cx="1143000" cy="338554"/>
          </a:xfrm>
          <a:prstGeom prst="rect">
            <a:avLst/>
          </a:prstGeom>
          <a:noFill/>
        </p:spPr>
        <p:txBody>
          <a:bodyPr wrap="square" rtlCol="0">
            <a:spAutoFit/>
          </a:bodyPr>
          <a:lstStyle/>
          <a:p>
            <a:r>
              <a:rPr lang="en-US" sz="800" dirty="0"/>
              <a:t>“Sphincter of </a:t>
            </a:r>
            <a:r>
              <a:rPr lang="en-US" sz="800" dirty="0" err="1"/>
              <a:t>Oddi</a:t>
            </a:r>
            <a:r>
              <a:rPr lang="en-US" sz="800" dirty="0"/>
              <a:t>”</a:t>
            </a:r>
          </a:p>
          <a:p>
            <a:endParaRPr lang="en-US" sz="800" dirty="0"/>
          </a:p>
        </p:txBody>
      </p:sp>
      <p:sp>
        <p:nvSpPr>
          <p:cNvPr id="21" name="Rectangle 20"/>
          <p:cNvSpPr/>
          <p:nvPr/>
        </p:nvSpPr>
        <p:spPr>
          <a:xfrm>
            <a:off x="1905000" y="3200400"/>
            <a:ext cx="1219200" cy="24164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828800" y="3442049"/>
            <a:ext cx="1295400" cy="219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a:off x="1905000" y="2286000"/>
            <a:ext cx="1143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CBFF-5538-45DC-B0AF-5783E5C5E79A}"/>
              </a:ext>
            </a:extLst>
          </p:cNvPr>
          <p:cNvSpPr>
            <a:spLocks noGrp="1"/>
          </p:cNvSpPr>
          <p:nvPr>
            <p:ph type="title"/>
          </p:nvPr>
        </p:nvSpPr>
        <p:spPr/>
        <p:txBody>
          <a:bodyPr/>
          <a:lstStyle/>
          <a:p>
            <a:r>
              <a:rPr lang="en-US" dirty="0"/>
              <a:t>Pancreas</a:t>
            </a:r>
          </a:p>
        </p:txBody>
      </p:sp>
      <p:sp>
        <p:nvSpPr>
          <p:cNvPr id="3" name="Content Placeholder 2">
            <a:extLst>
              <a:ext uri="{FF2B5EF4-FFF2-40B4-BE49-F238E27FC236}">
                <a16:creationId xmlns:a16="http://schemas.microsoft.com/office/drawing/2014/main" id="{6C17F806-63BD-42B8-BD0F-2892162FB313}"/>
              </a:ext>
            </a:extLst>
          </p:cNvPr>
          <p:cNvSpPr>
            <a:spLocks noGrp="1"/>
          </p:cNvSpPr>
          <p:nvPr>
            <p:ph idx="1"/>
          </p:nvPr>
        </p:nvSpPr>
        <p:spPr>
          <a:xfrm>
            <a:off x="457200" y="1524000"/>
            <a:ext cx="8229600" cy="5181600"/>
          </a:xfrm>
        </p:spPr>
        <p:txBody>
          <a:bodyPr>
            <a:normAutofit fontScale="92500" lnSpcReduction="20000"/>
          </a:bodyPr>
          <a:lstStyle/>
          <a:p>
            <a:r>
              <a:rPr lang="en-US" dirty="0"/>
              <a:t>Main pancreatic duct</a:t>
            </a:r>
          </a:p>
          <a:p>
            <a:pPr lvl="1"/>
            <a:r>
              <a:rPr lang="en-US" dirty="0"/>
              <a:t>Begins at the tail of the pancreas and runs through the gland to the head</a:t>
            </a:r>
          </a:p>
          <a:p>
            <a:pPr lvl="1"/>
            <a:r>
              <a:rPr lang="en-US" dirty="0"/>
              <a:t>The pancreatic duct and bile duct unite to form the hepatopancreatic ampulla (of </a:t>
            </a:r>
            <a:r>
              <a:rPr lang="en-US" dirty="0" err="1"/>
              <a:t>Vater</a:t>
            </a:r>
            <a:r>
              <a:rPr lang="en-US" dirty="0"/>
              <a:t>) which opens into the duodenum </a:t>
            </a:r>
          </a:p>
          <a:p>
            <a:pPr lvl="1"/>
            <a:r>
              <a:rPr lang="en-US" dirty="0"/>
              <a:t>Its controlling sphincter is called the Sphincter of Oddi</a:t>
            </a:r>
          </a:p>
          <a:p>
            <a:r>
              <a:rPr lang="en-US" dirty="0"/>
              <a:t>The sphincter is smooth muscle and controls the flow of bile and pancreatic juice into the ampulla and prevents reflux of duodenal content into the ampulla </a:t>
            </a:r>
          </a:p>
          <a:p>
            <a:r>
              <a:rPr lang="en-US" dirty="0"/>
              <a:t>The accessory pancreatic duct joins with the main pancreatic duct </a:t>
            </a:r>
          </a:p>
          <a:p>
            <a:pPr marL="0" indent="0">
              <a:buNone/>
            </a:pPr>
            <a:endParaRPr lang="en-US" dirty="0"/>
          </a:p>
        </p:txBody>
      </p:sp>
    </p:spTree>
    <p:extLst>
      <p:ext uri="{BB962C8B-B14F-4D97-AF65-F5344CB8AC3E}">
        <p14:creationId xmlns:p14="http://schemas.microsoft.com/office/powerpoint/2010/main" val="25396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D4DDD-9D52-45D5-A54A-70EECF806A05}"/>
              </a:ext>
            </a:extLst>
          </p:cNvPr>
          <p:cNvSpPr>
            <a:spLocks noGrp="1"/>
          </p:cNvSpPr>
          <p:nvPr>
            <p:ph type="title"/>
          </p:nvPr>
        </p:nvSpPr>
        <p:spPr/>
        <p:txBody>
          <a:bodyPr/>
          <a:lstStyle/>
          <a:p>
            <a:r>
              <a:rPr lang="en-US" dirty="0"/>
              <a:t>Pancreas</a:t>
            </a:r>
          </a:p>
        </p:txBody>
      </p:sp>
      <p:sp>
        <p:nvSpPr>
          <p:cNvPr id="3" name="Content Placeholder 2">
            <a:extLst>
              <a:ext uri="{FF2B5EF4-FFF2-40B4-BE49-F238E27FC236}">
                <a16:creationId xmlns:a16="http://schemas.microsoft.com/office/drawing/2014/main" id="{D4817FD7-9DFE-4463-8058-5669101C4295}"/>
              </a:ext>
            </a:extLst>
          </p:cNvPr>
          <p:cNvSpPr>
            <a:spLocks noGrp="1"/>
          </p:cNvSpPr>
          <p:nvPr>
            <p:ph idx="1"/>
          </p:nvPr>
        </p:nvSpPr>
        <p:spPr/>
        <p:txBody>
          <a:bodyPr>
            <a:normAutofit fontScale="92500" lnSpcReduction="10000"/>
          </a:bodyPr>
          <a:lstStyle/>
          <a:p>
            <a:r>
              <a:rPr lang="en-US" dirty="0"/>
              <a:t>Arterial supply</a:t>
            </a:r>
          </a:p>
          <a:p>
            <a:pPr lvl="1"/>
            <a:r>
              <a:rPr lang="en-US" dirty="0"/>
              <a:t>Mainly from branches of </a:t>
            </a:r>
            <a:r>
              <a:rPr lang="en-US" dirty="0">
                <a:solidFill>
                  <a:srgbClr val="FF0000"/>
                </a:solidFill>
              </a:rPr>
              <a:t>splenic artery </a:t>
            </a:r>
            <a:r>
              <a:rPr lang="en-US" dirty="0"/>
              <a:t>(body and tail) and branches from </a:t>
            </a:r>
            <a:r>
              <a:rPr lang="en-US" dirty="0">
                <a:solidFill>
                  <a:srgbClr val="FF0000"/>
                </a:solidFill>
              </a:rPr>
              <a:t>gastroduodenal</a:t>
            </a:r>
            <a:r>
              <a:rPr lang="en-US" dirty="0"/>
              <a:t> and</a:t>
            </a:r>
            <a:r>
              <a:rPr lang="en-US" dirty="0">
                <a:solidFill>
                  <a:srgbClr val="FF0000"/>
                </a:solidFill>
              </a:rPr>
              <a:t> superior mesenteric arteries </a:t>
            </a:r>
            <a:r>
              <a:rPr lang="en-US" dirty="0"/>
              <a:t>(head and neck) </a:t>
            </a:r>
          </a:p>
          <a:p>
            <a:r>
              <a:rPr lang="en-US" dirty="0"/>
              <a:t>Venous drainage</a:t>
            </a:r>
          </a:p>
          <a:p>
            <a:pPr lvl="1"/>
            <a:r>
              <a:rPr lang="en-US" dirty="0"/>
              <a:t> Occurs through the </a:t>
            </a:r>
            <a:r>
              <a:rPr lang="en-US" dirty="0">
                <a:solidFill>
                  <a:srgbClr val="FF0000"/>
                </a:solidFill>
              </a:rPr>
              <a:t>pancreatic veins </a:t>
            </a:r>
            <a:r>
              <a:rPr lang="en-US" dirty="0"/>
              <a:t>into the splenic and superior mesenteric veins that empty into the hepatic portal system</a:t>
            </a:r>
          </a:p>
          <a:p>
            <a:r>
              <a:rPr lang="en-US" dirty="0">
                <a:solidFill>
                  <a:srgbClr val="FF0000"/>
                </a:solidFill>
              </a:rPr>
              <a:t>Nervous supply from vagus and splanchnic </a:t>
            </a:r>
            <a:r>
              <a:rPr lang="en-US" dirty="0"/>
              <a:t>passing through the diaphragm  </a:t>
            </a:r>
          </a:p>
          <a:p>
            <a:endParaRPr lang="en-US" dirty="0"/>
          </a:p>
          <a:p>
            <a:pPr marL="457200" lvl="1" indent="0">
              <a:buNone/>
            </a:pPr>
            <a:endParaRPr lang="en-US" dirty="0"/>
          </a:p>
        </p:txBody>
      </p:sp>
    </p:spTree>
    <p:extLst>
      <p:ext uri="{BB962C8B-B14F-4D97-AF65-F5344CB8AC3E}">
        <p14:creationId xmlns:p14="http://schemas.microsoft.com/office/powerpoint/2010/main" val="3878635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PPT_ImageInsertion\input\Chapter_2\jpg\Figure 2.060.jpg"/>
          <p:cNvPicPr>
            <a:picLocks noGrp="1" noChangeAspect="1" noChangeArrowheads="1"/>
          </p:cNvPicPr>
          <p:nvPr>
            <p:ph idx="1"/>
          </p:nvPr>
        </p:nvPicPr>
        <p:blipFill>
          <a:blip r:embed="rId2" r:link="rId3" cstate="print"/>
          <a:srcRect b="43178"/>
          <a:stretch>
            <a:fillRect/>
          </a:stretch>
        </p:blipFill>
        <p:spPr bwMode="auto">
          <a:xfrm>
            <a:off x="152400" y="914400"/>
            <a:ext cx="8845941" cy="4648200"/>
          </a:xfrm>
          <a:prstGeom prst="rect">
            <a:avLst/>
          </a:prstGeom>
          <a:noFill/>
          <a:ln w="9525" algn="ctr">
            <a:noFill/>
            <a:miter lim="800000"/>
            <a:headEnd/>
            <a:tailEnd/>
          </a:ln>
          <a:effectLst/>
        </p:spPr>
      </p:pic>
      <p:sp>
        <p:nvSpPr>
          <p:cNvPr id="3" name="TextBox 2">
            <a:extLst>
              <a:ext uri="{FF2B5EF4-FFF2-40B4-BE49-F238E27FC236}">
                <a16:creationId xmlns:a16="http://schemas.microsoft.com/office/drawing/2014/main" id="{C7A13B3E-1F56-4D3C-16D1-8730CEB1B6F8}"/>
              </a:ext>
            </a:extLst>
          </p:cNvPr>
          <p:cNvSpPr txBox="1"/>
          <p:nvPr/>
        </p:nvSpPr>
        <p:spPr>
          <a:xfrm>
            <a:off x="2743200" y="2971800"/>
            <a:ext cx="990600" cy="369332"/>
          </a:xfrm>
          <a:prstGeom prst="rect">
            <a:avLst/>
          </a:prstGeom>
          <a:noFill/>
          <a:ln w="19050">
            <a:solidFill>
              <a:srgbClr val="FF0000"/>
            </a:solidFill>
          </a:ln>
        </p:spPr>
        <p:txBody>
          <a:bodyPr wrap="square" rtlCol="0">
            <a:spAutoFit/>
          </a:bodyPr>
          <a:lstStyle/>
          <a:p>
            <a:endParaRPr lang="en-US" dirty="0"/>
          </a:p>
        </p:txBody>
      </p:sp>
      <p:sp>
        <p:nvSpPr>
          <p:cNvPr id="5" name="TextBox 4">
            <a:extLst>
              <a:ext uri="{FF2B5EF4-FFF2-40B4-BE49-F238E27FC236}">
                <a16:creationId xmlns:a16="http://schemas.microsoft.com/office/drawing/2014/main" id="{A42B037A-2198-A766-2162-577B68A36507}"/>
              </a:ext>
            </a:extLst>
          </p:cNvPr>
          <p:cNvSpPr txBox="1"/>
          <p:nvPr/>
        </p:nvSpPr>
        <p:spPr>
          <a:xfrm>
            <a:off x="0" y="1676400"/>
            <a:ext cx="1219200" cy="457200"/>
          </a:xfrm>
          <a:prstGeom prst="rect">
            <a:avLst/>
          </a:prstGeom>
          <a:noFill/>
          <a:ln w="19050">
            <a:solidFill>
              <a:srgbClr val="FF0000"/>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ACEDA9A9-1331-36D9-C6FC-A68798DDBF3B}"/>
              </a:ext>
            </a:extLst>
          </p:cNvPr>
          <p:cNvSpPr txBox="1"/>
          <p:nvPr/>
        </p:nvSpPr>
        <p:spPr>
          <a:xfrm>
            <a:off x="2209800" y="4876800"/>
            <a:ext cx="2057400" cy="369332"/>
          </a:xfrm>
          <a:prstGeom prst="rect">
            <a:avLst/>
          </a:prstGeom>
          <a:noFill/>
          <a:ln w="19050">
            <a:solidFill>
              <a:srgbClr val="FF0000"/>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BA69A1D5-24A5-588C-107B-6A0410C8CC6C}"/>
              </a:ext>
            </a:extLst>
          </p:cNvPr>
          <p:cNvSpPr txBox="1"/>
          <p:nvPr/>
        </p:nvSpPr>
        <p:spPr>
          <a:xfrm>
            <a:off x="7315200" y="3048000"/>
            <a:ext cx="1524000" cy="369332"/>
          </a:xfrm>
          <a:prstGeom prst="rect">
            <a:avLst/>
          </a:prstGeom>
          <a:noFill/>
          <a:ln w="19050">
            <a:solidFill>
              <a:srgbClr val="00B0F0"/>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C16A409B-D16F-DB8F-2B05-444F2AA6AAC3}"/>
              </a:ext>
            </a:extLst>
          </p:cNvPr>
          <p:cNvSpPr txBox="1"/>
          <p:nvPr/>
        </p:nvSpPr>
        <p:spPr>
          <a:xfrm>
            <a:off x="6172200" y="4876800"/>
            <a:ext cx="1981200" cy="369332"/>
          </a:xfrm>
          <a:prstGeom prst="rect">
            <a:avLst/>
          </a:prstGeom>
          <a:noFill/>
          <a:ln w="19050">
            <a:solidFill>
              <a:srgbClr val="00B0F0"/>
            </a:solidFill>
          </a:ln>
        </p:spPr>
        <p:txBody>
          <a:bodyPr wrap="square" rtlCol="0">
            <a:spAutoFit/>
          </a:bodyPr>
          <a:lstStyle/>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E2D5867-D87C-40D3-A096-CB08782E4C45}"/>
              </a:ext>
            </a:extLst>
          </p:cNvPr>
          <p:cNvPicPr>
            <a:picLocks noGrp="1" noChangeAspect="1"/>
          </p:cNvPicPr>
          <p:nvPr>
            <p:ph idx="1"/>
          </p:nvPr>
        </p:nvPicPr>
        <p:blipFill>
          <a:blip r:embed="rId2"/>
          <a:stretch>
            <a:fillRect/>
          </a:stretch>
        </p:blipFill>
        <p:spPr>
          <a:xfrm>
            <a:off x="1295400" y="182906"/>
            <a:ext cx="6781800" cy="6492187"/>
          </a:xfrm>
          <a:prstGeom prst="rect">
            <a:avLst/>
          </a:prstGeom>
        </p:spPr>
      </p:pic>
    </p:spTree>
    <p:extLst>
      <p:ext uri="{BB962C8B-B14F-4D97-AF65-F5344CB8AC3E}">
        <p14:creationId xmlns:p14="http://schemas.microsoft.com/office/powerpoint/2010/main" val="7389079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84BF7-B784-4939-9BD6-07BF797A4F0B}"/>
              </a:ext>
            </a:extLst>
          </p:cNvPr>
          <p:cNvSpPr>
            <a:spLocks noGrp="1"/>
          </p:cNvSpPr>
          <p:nvPr>
            <p:ph type="title"/>
          </p:nvPr>
        </p:nvSpPr>
        <p:spPr/>
        <p:txBody>
          <a:bodyPr/>
          <a:lstStyle/>
          <a:p>
            <a:r>
              <a:rPr lang="en-US" dirty="0"/>
              <a:t>Thymus Gland</a:t>
            </a:r>
          </a:p>
        </p:txBody>
      </p:sp>
      <p:sp>
        <p:nvSpPr>
          <p:cNvPr id="3" name="Content Placeholder 2">
            <a:extLst>
              <a:ext uri="{FF2B5EF4-FFF2-40B4-BE49-F238E27FC236}">
                <a16:creationId xmlns:a16="http://schemas.microsoft.com/office/drawing/2014/main" id="{0369836B-D075-41CF-B826-909A8625DE8C}"/>
              </a:ext>
            </a:extLst>
          </p:cNvPr>
          <p:cNvSpPr>
            <a:spLocks noGrp="1"/>
          </p:cNvSpPr>
          <p:nvPr>
            <p:ph idx="1"/>
          </p:nvPr>
        </p:nvSpPr>
        <p:spPr/>
        <p:txBody>
          <a:bodyPr/>
          <a:lstStyle/>
          <a:p>
            <a:r>
              <a:rPr lang="en-US" dirty="0"/>
              <a:t>A primary lymphoid organ located in the inferior part of the neck </a:t>
            </a:r>
          </a:p>
          <a:p>
            <a:r>
              <a:rPr lang="en-US" dirty="0"/>
              <a:t>Located behind sternum between lungs (superior anterior mediastinum)</a:t>
            </a:r>
          </a:p>
          <a:p>
            <a:r>
              <a:rPr lang="en-US" dirty="0"/>
              <a:t>Active only until puberty</a:t>
            </a:r>
          </a:p>
          <a:p>
            <a:r>
              <a:rPr lang="en-US" dirty="0">
                <a:solidFill>
                  <a:srgbClr val="FF0000"/>
                </a:solidFill>
              </a:rPr>
              <a:t>Thymosin </a:t>
            </a:r>
            <a:r>
              <a:rPr lang="en-US" dirty="0"/>
              <a:t>is its hormone and it stimulates the development of </a:t>
            </a:r>
            <a:r>
              <a:rPr lang="en-US" dirty="0">
                <a:solidFill>
                  <a:srgbClr val="FF0000"/>
                </a:solidFill>
              </a:rPr>
              <a:t>T-cells</a:t>
            </a:r>
          </a:p>
        </p:txBody>
      </p:sp>
    </p:spTree>
    <p:extLst>
      <p:ext uri="{BB962C8B-B14F-4D97-AF65-F5344CB8AC3E}">
        <p14:creationId xmlns:p14="http://schemas.microsoft.com/office/powerpoint/2010/main" val="34413371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8E6B1DF-CBF7-4F00-86B9-42791DA80463}"/>
              </a:ext>
            </a:extLst>
          </p:cNvPr>
          <p:cNvPicPr>
            <a:picLocks noGrp="1" noChangeAspect="1"/>
          </p:cNvPicPr>
          <p:nvPr>
            <p:ph idx="1"/>
          </p:nvPr>
        </p:nvPicPr>
        <p:blipFill>
          <a:blip r:embed="rId2"/>
          <a:stretch>
            <a:fillRect/>
          </a:stretch>
        </p:blipFill>
        <p:spPr>
          <a:xfrm>
            <a:off x="1891004" y="59693"/>
            <a:ext cx="5074757" cy="6738613"/>
          </a:xfrm>
          <a:prstGeom prst="rect">
            <a:avLst/>
          </a:prstGeom>
        </p:spPr>
      </p:pic>
      <p:sp>
        <p:nvSpPr>
          <p:cNvPr id="2" name="TextBox 1">
            <a:extLst>
              <a:ext uri="{FF2B5EF4-FFF2-40B4-BE49-F238E27FC236}">
                <a16:creationId xmlns:a16="http://schemas.microsoft.com/office/drawing/2014/main" id="{60B6DF17-582B-4849-B290-A6437D5C483C}"/>
              </a:ext>
            </a:extLst>
          </p:cNvPr>
          <p:cNvSpPr txBox="1"/>
          <p:nvPr/>
        </p:nvSpPr>
        <p:spPr>
          <a:xfrm>
            <a:off x="5979826" y="2362200"/>
            <a:ext cx="990600" cy="369332"/>
          </a:xfrm>
          <a:prstGeom prst="rect">
            <a:avLst/>
          </a:prstGeom>
          <a:noFill/>
          <a:ln w="19050">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115014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ABDD-678F-4B5D-B3AA-09E2FEE62F45}"/>
              </a:ext>
            </a:extLst>
          </p:cNvPr>
          <p:cNvSpPr>
            <a:spLocks noGrp="1"/>
          </p:cNvSpPr>
          <p:nvPr>
            <p:ph type="title"/>
          </p:nvPr>
        </p:nvSpPr>
        <p:spPr/>
        <p:txBody>
          <a:bodyPr/>
          <a:lstStyle/>
          <a:p>
            <a:r>
              <a:rPr lang="en-US" dirty="0"/>
              <a:t>Thyroid Gland</a:t>
            </a:r>
          </a:p>
        </p:txBody>
      </p:sp>
      <p:sp>
        <p:nvSpPr>
          <p:cNvPr id="3" name="Content Placeholder 2">
            <a:extLst>
              <a:ext uri="{FF2B5EF4-FFF2-40B4-BE49-F238E27FC236}">
                <a16:creationId xmlns:a16="http://schemas.microsoft.com/office/drawing/2014/main" id="{C1242827-430D-4666-98CC-0E4F3FC5165F}"/>
              </a:ext>
            </a:extLst>
          </p:cNvPr>
          <p:cNvSpPr>
            <a:spLocks noGrp="1"/>
          </p:cNvSpPr>
          <p:nvPr>
            <p:ph idx="1"/>
          </p:nvPr>
        </p:nvSpPr>
        <p:spPr>
          <a:xfrm>
            <a:off x="457200" y="1600200"/>
            <a:ext cx="8229600" cy="5029200"/>
          </a:xfrm>
        </p:spPr>
        <p:txBody>
          <a:bodyPr>
            <a:normAutofit/>
          </a:bodyPr>
          <a:lstStyle/>
          <a:p>
            <a:r>
              <a:rPr lang="en-US" dirty="0"/>
              <a:t>Body’s largest endocrine gland</a:t>
            </a:r>
          </a:p>
          <a:p>
            <a:r>
              <a:rPr lang="en-US" dirty="0"/>
              <a:t>Affects all areas of the body except for itself, spleen, testes, and uterus</a:t>
            </a:r>
          </a:p>
          <a:p>
            <a:r>
              <a:rPr lang="en-US" dirty="0"/>
              <a:t>Produces:</a:t>
            </a:r>
          </a:p>
          <a:p>
            <a:pPr lvl="1"/>
            <a:r>
              <a:rPr lang="en-US" dirty="0">
                <a:solidFill>
                  <a:srgbClr val="FF0000"/>
                </a:solidFill>
              </a:rPr>
              <a:t>Thyroid hormone</a:t>
            </a:r>
          </a:p>
          <a:p>
            <a:pPr lvl="2"/>
            <a:r>
              <a:rPr lang="en-US" dirty="0"/>
              <a:t>Controls rate of metabolism</a:t>
            </a:r>
          </a:p>
          <a:p>
            <a:pPr lvl="1"/>
            <a:r>
              <a:rPr lang="en-US" dirty="0">
                <a:solidFill>
                  <a:srgbClr val="FF0000"/>
                </a:solidFill>
              </a:rPr>
              <a:t>Calcitonin</a:t>
            </a:r>
          </a:p>
          <a:p>
            <a:pPr lvl="2"/>
            <a:r>
              <a:rPr lang="en-US" dirty="0"/>
              <a:t>A hormone controlling calcium metabolism</a:t>
            </a:r>
          </a:p>
        </p:txBody>
      </p:sp>
    </p:spTree>
    <p:extLst>
      <p:ext uri="{BB962C8B-B14F-4D97-AF65-F5344CB8AC3E}">
        <p14:creationId xmlns:p14="http://schemas.microsoft.com/office/powerpoint/2010/main" val="564369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87E0-45A0-4134-9DFA-104C62348BA9}"/>
              </a:ext>
            </a:extLst>
          </p:cNvPr>
          <p:cNvSpPr>
            <a:spLocks noGrp="1"/>
          </p:cNvSpPr>
          <p:nvPr>
            <p:ph type="title"/>
          </p:nvPr>
        </p:nvSpPr>
        <p:spPr/>
        <p:txBody>
          <a:bodyPr/>
          <a:lstStyle/>
          <a:p>
            <a:r>
              <a:rPr lang="en-US" dirty="0"/>
              <a:t>Thyroid Gland</a:t>
            </a:r>
          </a:p>
        </p:txBody>
      </p:sp>
      <p:sp>
        <p:nvSpPr>
          <p:cNvPr id="3" name="Content Placeholder 2">
            <a:extLst>
              <a:ext uri="{FF2B5EF4-FFF2-40B4-BE49-F238E27FC236}">
                <a16:creationId xmlns:a16="http://schemas.microsoft.com/office/drawing/2014/main" id="{F34101C3-349C-498A-B128-7F961EAEBB1A}"/>
              </a:ext>
            </a:extLst>
          </p:cNvPr>
          <p:cNvSpPr>
            <a:spLocks noGrp="1"/>
          </p:cNvSpPr>
          <p:nvPr>
            <p:ph idx="1"/>
          </p:nvPr>
        </p:nvSpPr>
        <p:spPr>
          <a:xfrm>
            <a:off x="457200" y="1600200"/>
            <a:ext cx="8229600" cy="5105400"/>
          </a:xfrm>
        </p:spPr>
        <p:txBody>
          <a:bodyPr>
            <a:normAutofit fontScale="92500" lnSpcReduction="20000"/>
          </a:bodyPr>
          <a:lstStyle/>
          <a:p>
            <a:r>
              <a:rPr lang="en-US" dirty="0"/>
              <a:t>Located anteriorly in the neck at C5-T1</a:t>
            </a:r>
          </a:p>
          <a:p>
            <a:pPr marL="0" indent="0">
              <a:buNone/>
            </a:pPr>
            <a:endParaRPr lang="en-US" dirty="0"/>
          </a:p>
          <a:p>
            <a:r>
              <a:rPr lang="en-US" dirty="0"/>
              <a:t>Consists mostly of left and right lobes, anterolateral to the larynx and trachea</a:t>
            </a:r>
          </a:p>
          <a:p>
            <a:pPr marL="0" indent="0">
              <a:buNone/>
            </a:pPr>
            <a:endParaRPr lang="en-US" dirty="0"/>
          </a:p>
          <a:p>
            <a:r>
              <a:rPr lang="en-US" dirty="0"/>
              <a:t>The isthmus joins the lobes over the trachea just inferior to the cricoid cartilage of larynx over the tracheal rings </a:t>
            </a:r>
          </a:p>
          <a:p>
            <a:pPr marL="0" indent="0">
              <a:buNone/>
            </a:pPr>
            <a:endParaRPr lang="en-US" dirty="0"/>
          </a:p>
          <a:p>
            <a:r>
              <a:rPr lang="en-US" dirty="0"/>
              <a:t>Lobes project superiorly from there on the lateral aspect of the thyroid cartilage of the larynx</a:t>
            </a:r>
          </a:p>
          <a:p>
            <a:pPr marL="0" indent="0">
              <a:buNone/>
            </a:pPr>
            <a:endParaRPr lang="en-US" dirty="0"/>
          </a:p>
          <a:p>
            <a:endParaRPr lang="en-US" dirty="0"/>
          </a:p>
        </p:txBody>
      </p:sp>
    </p:spTree>
    <p:extLst>
      <p:ext uri="{BB962C8B-B14F-4D97-AF65-F5344CB8AC3E}">
        <p14:creationId xmlns:p14="http://schemas.microsoft.com/office/powerpoint/2010/main" val="38357852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07353-0F8E-4E69-AFD4-18A4A5E87D56}"/>
              </a:ext>
            </a:extLst>
          </p:cNvPr>
          <p:cNvSpPr>
            <a:spLocks noGrp="1"/>
          </p:cNvSpPr>
          <p:nvPr>
            <p:ph type="title"/>
          </p:nvPr>
        </p:nvSpPr>
        <p:spPr/>
        <p:txBody>
          <a:bodyPr/>
          <a:lstStyle/>
          <a:p>
            <a:r>
              <a:rPr lang="en-US" dirty="0"/>
              <a:t>Thyroid Gland</a:t>
            </a:r>
          </a:p>
        </p:txBody>
      </p:sp>
      <p:sp>
        <p:nvSpPr>
          <p:cNvPr id="3" name="Content Placeholder 2">
            <a:extLst>
              <a:ext uri="{FF2B5EF4-FFF2-40B4-BE49-F238E27FC236}">
                <a16:creationId xmlns:a16="http://schemas.microsoft.com/office/drawing/2014/main" id="{022AA475-DE81-43A7-A127-A89149257076}"/>
              </a:ext>
            </a:extLst>
          </p:cNvPr>
          <p:cNvSpPr>
            <a:spLocks noGrp="1"/>
          </p:cNvSpPr>
          <p:nvPr>
            <p:ph idx="1"/>
          </p:nvPr>
        </p:nvSpPr>
        <p:spPr>
          <a:xfrm>
            <a:off x="457200" y="1981200"/>
            <a:ext cx="8229600" cy="4144963"/>
          </a:xfrm>
        </p:spPr>
        <p:txBody>
          <a:bodyPr>
            <a:normAutofit fontScale="92500" lnSpcReduction="20000"/>
          </a:bodyPr>
          <a:lstStyle/>
          <a:p>
            <a:r>
              <a:rPr lang="en-US" dirty="0"/>
              <a:t>Gland is surrounded by a thin fibrous capsule and dense connective tissue attaches the capsule to the cricoid cartilage  and tracheal rings</a:t>
            </a:r>
          </a:p>
          <a:p>
            <a:pPr marL="0" indent="0">
              <a:buNone/>
            </a:pPr>
            <a:endParaRPr lang="en-US" dirty="0"/>
          </a:p>
          <a:p>
            <a:r>
              <a:rPr lang="en-US" dirty="0"/>
              <a:t>External to the capsule is a loose sheath formed by visceral portion of the </a:t>
            </a:r>
            <a:r>
              <a:rPr lang="en-US" dirty="0" err="1"/>
              <a:t>pretracheal</a:t>
            </a:r>
            <a:r>
              <a:rPr lang="en-US" dirty="0"/>
              <a:t> layer of deep cervical fascia </a:t>
            </a:r>
          </a:p>
          <a:p>
            <a:pPr marL="0" indent="0">
              <a:buNone/>
            </a:pPr>
            <a:endParaRPr lang="en-US" dirty="0"/>
          </a:p>
          <a:p>
            <a:r>
              <a:rPr lang="en-US" dirty="0"/>
              <a:t>May or may not be palpable, but if is – is consistency of muscle.</a:t>
            </a:r>
          </a:p>
          <a:p>
            <a:endParaRPr lang="en-US" dirty="0"/>
          </a:p>
        </p:txBody>
      </p:sp>
    </p:spTree>
    <p:extLst>
      <p:ext uri="{BB962C8B-B14F-4D97-AF65-F5344CB8AC3E}">
        <p14:creationId xmlns:p14="http://schemas.microsoft.com/office/powerpoint/2010/main" val="34433527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6A71928-CA87-4288-AC8B-B7311D923E20}"/>
              </a:ext>
            </a:extLst>
          </p:cNvPr>
          <p:cNvPicPr>
            <a:picLocks noGrp="1" noChangeAspect="1"/>
          </p:cNvPicPr>
          <p:nvPr>
            <p:ph idx="1"/>
          </p:nvPr>
        </p:nvPicPr>
        <p:blipFill>
          <a:blip r:embed="rId2"/>
          <a:stretch>
            <a:fillRect/>
          </a:stretch>
        </p:blipFill>
        <p:spPr>
          <a:xfrm>
            <a:off x="1600200" y="152400"/>
            <a:ext cx="4752669" cy="6553200"/>
          </a:xfrm>
          <a:prstGeom prst="rect">
            <a:avLst/>
          </a:prstGeom>
        </p:spPr>
      </p:pic>
    </p:spTree>
    <p:extLst>
      <p:ext uri="{BB962C8B-B14F-4D97-AF65-F5344CB8AC3E}">
        <p14:creationId xmlns:p14="http://schemas.microsoft.com/office/powerpoint/2010/main" val="168424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Thyroid Gland</a:t>
            </a:r>
          </a:p>
        </p:txBody>
      </p:sp>
      <p:sp>
        <p:nvSpPr>
          <p:cNvPr id="3" name="Content Placeholder 2"/>
          <p:cNvSpPr>
            <a:spLocks noGrp="1"/>
          </p:cNvSpPr>
          <p:nvPr>
            <p:ph idx="1"/>
          </p:nvPr>
        </p:nvSpPr>
        <p:spPr>
          <a:xfrm>
            <a:off x="457200" y="990600"/>
            <a:ext cx="7924800" cy="5715000"/>
          </a:xfrm>
        </p:spPr>
        <p:txBody>
          <a:bodyPr>
            <a:noAutofit/>
          </a:bodyPr>
          <a:lstStyle/>
          <a:p>
            <a:endParaRPr lang="en-US" sz="2200" dirty="0"/>
          </a:p>
          <a:p>
            <a:r>
              <a:rPr lang="en-US" sz="2800" dirty="0"/>
              <a:t>Arterial supply</a:t>
            </a:r>
          </a:p>
          <a:p>
            <a:pPr lvl="1"/>
            <a:r>
              <a:rPr lang="en-US" sz="2400" dirty="0"/>
              <a:t>Highly vascular supplied by the </a:t>
            </a:r>
            <a:r>
              <a:rPr lang="en-US" sz="2400" dirty="0">
                <a:solidFill>
                  <a:srgbClr val="FF0000"/>
                </a:solidFill>
              </a:rPr>
              <a:t>superior and inferior thyroid arteries</a:t>
            </a:r>
          </a:p>
          <a:p>
            <a:pPr lvl="1"/>
            <a:r>
              <a:rPr lang="en-US" sz="2400" dirty="0"/>
              <a:t>The superior thyroid artery branches off the external carotid and supplies the anterosuperior part while inferior thyroid artery (off the right subclavian artery) supplies the posteroinferior part</a:t>
            </a:r>
          </a:p>
          <a:p>
            <a:pPr lvl="1"/>
            <a:r>
              <a:rPr lang="en-US" sz="2400" dirty="0">
                <a:solidFill>
                  <a:srgbClr val="FF0000"/>
                </a:solidFill>
              </a:rPr>
              <a:t>10% of population have thyroid </a:t>
            </a:r>
            <a:r>
              <a:rPr lang="en-US" sz="2400" dirty="0" err="1">
                <a:solidFill>
                  <a:srgbClr val="FF0000"/>
                </a:solidFill>
              </a:rPr>
              <a:t>ima</a:t>
            </a:r>
            <a:r>
              <a:rPr lang="en-US" sz="2400" dirty="0">
                <a:solidFill>
                  <a:srgbClr val="FF0000"/>
                </a:solidFill>
              </a:rPr>
              <a:t> artery </a:t>
            </a:r>
          </a:p>
          <a:p>
            <a:pPr lvl="2"/>
            <a:r>
              <a:rPr lang="en-US" sz="1800" dirty="0"/>
              <a:t>Arises from brachiocephalic trunk, but can also arise from arch of the aorta, right common carotid, subclavian, or internal thoracic</a:t>
            </a:r>
          </a:p>
          <a:p>
            <a:pPr lvl="2"/>
            <a:r>
              <a:rPr lang="en-US" sz="1800" dirty="0"/>
              <a:t>Supplies trachea and thymus</a:t>
            </a:r>
          </a:p>
          <a:p>
            <a:endParaRPr lang="en-US" sz="2200" u="sng"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D:\PPT_ImageInsertion\input\Chapter_8\jpg\Figure B8.005.jpg"/>
          <p:cNvPicPr>
            <a:picLocks noGrp="1" noChangeAspect="1" noChangeArrowheads="1"/>
          </p:cNvPicPr>
          <p:nvPr>
            <p:ph idx="1"/>
          </p:nvPr>
        </p:nvPicPr>
        <p:blipFill>
          <a:blip r:embed="rId2" r:link="rId3" cstate="print"/>
          <a:srcRect/>
          <a:stretch>
            <a:fillRect/>
          </a:stretch>
        </p:blipFill>
        <p:spPr bwMode="auto">
          <a:xfrm>
            <a:off x="2209800" y="609600"/>
            <a:ext cx="4667118" cy="5600541"/>
          </a:xfrm>
          <a:prstGeom prst="rect">
            <a:avLst/>
          </a:prstGeom>
          <a:noFill/>
          <a:ln w="9525" algn="ctr">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1842-C6D7-427D-B981-0FB859E54506}"/>
              </a:ext>
            </a:extLst>
          </p:cNvPr>
          <p:cNvSpPr>
            <a:spLocks noGrp="1"/>
          </p:cNvSpPr>
          <p:nvPr>
            <p:ph type="title"/>
          </p:nvPr>
        </p:nvSpPr>
        <p:spPr/>
        <p:txBody>
          <a:bodyPr/>
          <a:lstStyle/>
          <a:p>
            <a:r>
              <a:rPr lang="en-US" dirty="0"/>
              <a:t>Thyroid Gland</a:t>
            </a:r>
          </a:p>
        </p:txBody>
      </p:sp>
      <p:sp>
        <p:nvSpPr>
          <p:cNvPr id="3" name="Content Placeholder 2">
            <a:extLst>
              <a:ext uri="{FF2B5EF4-FFF2-40B4-BE49-F238E27FC236}">
                <a16:creationId xmlns:a16="http://schemas.microsoft.com/office/drawing/2014/main" id="{96C2836D-EB29-47BB-A368-576661034479}"/>
              </a:ext>
            </a:extLst>
          </p:cNvPr>
          <p:cNvSpPr>
            <a:spLocks noGrp="1"/>
          </p:cNvSpPr>
          <p:nvPr>
            <p:ph idx="1"/>
          </p:nvPr>
        </p:nvSpPr>
        <p:spPr>
          <a:xfrm>
            <a:off x="457200" y="1600200"/>
            <a:ext cx="8229600" cy="5181600"/>
          </a:xfrm>
        </p:spPr>
        <p:txBody>
          <a:bodyPr>
            <a:normAutofit fontScale="92500" lnSpcReduction="20000"/>
          </a:bodyPr>
          <a:lstStyle/>
          <a:p>
            <a:r>
              <a:rPr lang="en-US" dirty="0"/>
              <a:t>Venous supply</a:t>
            </a:r>
          </a:p>
          <a:p>
            <a:pPr lvl="1"/>
            <a:r>
              <a:rPr lang="en-US" dirty="0">
                <a:solidFill>
                  <a:srgbClr val="FF0000"/>
                </a:solidFill>
              </a:rPr>
              <a:t>Superior, middle, inferior thyroid veins</a:t>
            </a:r>
          </a:p>
          <a:p>
            <a:pPr marL="457200" lvl="1" indent="0">
              <a:buNone/>
            </a:pPr>
            <a:endParaRPr lang="en-US" dirty="0"/>
          </a:p>
          <a:p>
            <a:r>
              <a:rPr lang="en-US" dirty="0"/>
              <a:t>Nerves</a:t>
            </a:r>
          </a:p>
          <a:p>
            <a:pPr lvl="1"/>
            <a:r>
              <a:rPr lang="en-US" dirty="0"/>
              <a:t>Cardiac and laryngeal branches of the </a:t>
            </a:r>
            <a:r>
              <a:rPr lang="en-US" dirty="0" err="1"/>
              <a:t>vagus</a:t>
            </a:r>
            <a:r>
              <a:rPr lang="en-US" dirty="0"/>
              <a:t> nerve control the vascular beds of the thyroid</a:t>
            </a:r>
          </a:p>
          <a:p>
            <a:pPr lvl="1"/>
            <a:r>
              <a:rPr lang="en-US" u="sng" dirty="0">
                <a:solidFill>
                  <a:srgbClr val="FF0000"/>
                </a:solidFill>
              </a:rPr>
              <a:t>External laryngeal &amp; recurrent laryngeal </a:t>
            </a:r>
            <a:r>
              <a:rPr lang="en-US" dirty="0">
                <a:solidFill>
                  <a:srgbClr val="FF0000"/>
                </a:solidFill>
              </a:rPr>
              <a:t>lie very close to the thyroid and may be </a:t>
            </a:r>
            <a:r>
              <a:rPr lang="en-US" u="sng" dirty="0">
                <a:solidFill>
                  <a:srgbClr val="FF0000"/>
                </a:solidFill>
              </a:rPr>
              <a:t>injured</a:t>
            </a:r>
            <a:r>
              <a:rPr lang="en-US" dirty="0">
                <a:solidFill>
                  <a:srgbClr val="FF0000"/>
                </a:solidFill>
              </a:rPr>
              <a:t> if not careful during thyroid surgery, causing the patient to become permanently hoarse (due to paralyzed vocal cords) </a:t>
            </a:r>
          </a:p>
          <a:p>
            <a:pPr marL="457200" lvl="1" indent="0">
              <a:buNone/>
            </a:pPr>
            <a:endParaRPr lang="en-US" dirty="0"/>
          </a:p>
          <a:p>
            <a:r>
              <a:rPr lang="en-US" dirty="0"/>
              <a:t>Lymphatic</a:t>
            </a:r>
          </a:p>
          <a:p>
            <a:pPr lvl="1"/>
            <a:r>
              <a:rPr lang="en-US" dirty="0"/>
              <a:t>Superior deep and inferior deep cervical nodes</a:t>
            </a:r>
          </a:p>
          <a:p>
            <a:pPr marL="457200" lvl="1" indent="0">
              <a:buNone/>
            </a:pPr>
            <a:endParaRPr lang="en-US" dirty="0"/>
          </a:p>
          <a:p>
            <a:pPr lvl="1"/>
            <a:endParaRPr lang="en-US" dirty="0"/>
          </a:p>
        </p:txBody>
      </p:sp>
    </p:spTree>
    <p:extLst>
      <p:ext uri="{BB962C8B-B14F-4D97-AF65-F5344CB8AC3E}">
        <p14:creationId xmlns:p14="http://schemas.microsoft.com/office/powerpoint/2010/main" val="1327571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2472D7D-C5B8-4DC3-AEE3-B9665D28523F}"/>
              </a:ext>
            </a:extLst>
          </p:cNvPr>
          <p:cNvPicPr>
            <a:picLocks noGrp="1" noChangeAspect="1"/>
          </p:cNvPicPr>
          <p:nvPr>
            <p:ph idx="1"/>
          </p:nvPr>
        </p:nvPicPr>
        <p:blipFill>
          <a:blip r:embed="rId2"/>
          <a:stretch>
            <a:fillRect/>
          </a:stretch>
        </p:blipFill>
        <p:spPr>
          <a:xfrm>
            <a:off x="609600" y="454719"/>
            <a:ext cx="8079262" cy="5793681"/>
          </a:xfrm>
          <a:prstGeom prst="rect">
            <a:avLst/>
          </a:prstGeom>
        </p:spPr>
      </p:pic>
      <p:sp>
        <p:nvSpPr>
          <p:cNvPr id="6" name="TextBox 5">
            <a:extLst>
              <a:ext uri="{FF2B5EF4-FFF2-40B4-BE49-F238E27FC236}">
                <a16:creationId xmlns:a16="http://schemas.microsoft.com/office/drawing/2014/main" id="{CDDE6ADA-DD2B-4DF7-8CC8-A10E6BB776CF}"/>
              </a:ext>
            </a:extLst>
          </p:cNvPr>
          <p:cNvSpPr txBox="1"/>
          <p:nvPr/>
        </p:nvSpPr>
        <p:spPr>
          <a:xfrm>
            <a:off x="627845" y="6265572"/>
            <a:ext cx="3733800" cy="430887"/>
          </a:xfrm>
          <a:prstGeom prst="rect">
            <a:avLst/>
          </a:prstGeom>
          <a:noFill/>
        </p:spPr>
        <p:txBody>
          <a:bodyPr wrap="square">
            <a:spAutoFit/>
          </a:bodyPr>
          <a:lstStyle/>
          <a:p>
            <a:r>
              <a:rPr lang="en-US" sz="1100" dirty="0"/>
              <a:t>https://www.uptodate.com/contents/image?imageKey=SURG%2F58086&amp;topicKey=SURG%2F15033&amp;source=see_link</a:t>
            </a:r>
          </a:p>
        </p:txBody>
      </p:sp>
      <p:sp>
        <p:nvSpPr>
          <p:cNvPr id="2" name="TextBox 1">
            <a:extLst>
              <a:ext uri="{FF2B5EF4-FFF2-40B4-BE49-F238E27FC236}">
                <a16:creationId xmlns:a16="http://schemas.microsoft.com/office/drawing/2014/main" id="{9157FEB3-4DCA-4AA6-94E7-D8546C363EB4}"/>
              </a:ext>
            </a:extLst>
          </p:cNvPr>
          <p:cNvSpPr txBox="1"/>
          <p:nvPr/>
        </p:nvSpPr>
        <p:spPr>
          <a:xfrm>
            <a:off x="6858000" y="2438400"/>
            <a:ext cx="1524000" cy="369332"/>
          </a:xfrm>
          <a:prstGeom prst="rect">
            <a:avLst/>
          </a:prstGeom>
          <a:noFill/>
          <a:ln w="19050">
            <a:solidFill>
              <a:srgbClr val="0070C0"/>
            </a:solidFill>
          </a:ln>
        </p:spPr>
        <p:txBody>
          <a:bodyPr wrap="square" rtlCol="0">
            <a:spAutoFit/>
          </a:bodyPr>
          <a:lstStyle/>
          <a:p>
            <a:endParaRPr lang="en-US" dirty="0"/>
          </a:p>
        </p:txBody>
      </p:sp>
      <p:sp>
        <p:nvSpPr>
          <p:cNvPr id="3" name="TextBox 2">
            <a:extLst>
              <a:ext uri="{FF2B5EF4-FFF2-40B4-BE49-F238E27FC236}">
                <a16:creationId xmlns:a16="http://schemas.microsoft.com/office/drawing/2014/main" id="{2B889ECF-0DE2-4227-A7E6-1F0677385F75}"/>
              </a:ext>
            </a:extLst>
          </p:cNvPr>
          <p:cNvSpPr txBox="1"/>
          <p:nvPr/>
        </p:nvSpPr>
        <p:spPr>
          <a:xfrm>
            <a:off x="838200" y="5334000"/>
            <a:ext cx="1524000" cy="369332"/>
          </a:xfrm>
          <a:prstGeom prst="rect">
            <a:avLst/>
          </a:prstGeom>
          <a:noFill/>
          <a:ln w="19050">
            <a:solidFill>
              <a:srgbClr val="0070C0"/>
            </a:solidFill>
          </a:ln>
        </p:spPr>
        <p:txBody>
          <a:bodyPr wrap="square" rtlCol="0">
            <a:spAutoFit/>
          </a:bodyPr>
          <a:lstStyle/>
          <a:p>
            <a:endParaRPr lang="en-US" dirty="0"/>
          </a:p>
        </p:txBody>
      </p:sp>
      <p:sp>
        <p:nvSpPr>
          <p:cNvPr id="5" name="TextBox 4">
            <a:extLst>
              <a:ext uri="{FF2B5EF4-FFF2-40B4-BE49-F238E27FC236}">
                <a16:creationId xmlns:a16="http://schemas.microsoft.com/office/drawing/2014/main" id="{593780A6-50A6-4DC9-8C44-1263EABC211F}"/>
              </a:ext>
            </a:extLst>
          </p:cNvPr>
          <p:cNvSpPr txBox="1"/>
          <p:nvPr/>
        </p:nvSpPr>
        <p:spPr>
          <a:xfrm>
            <a:off x="7239000" y="3859773"/>
            <a:ext cx="1371600" cy="228601"/>
          </a:xfrm>
          <a:prstGeom prst="rect">
            <a:avLst/>
          </a:prstGeom>
          <a:noFill/>
          <a:ln w="19050">
            <a:solidFill>
              <a:srgbClr val="0070C0"/>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362D947C-77D4-41BA-936B-52FDD3B95AAD}"/>
              </a:ext>
            </a:extLst>
          </p:cNvPr>
          <p:cNvSpPr txBox="1"/>
          <p:nvPr/>
        </p:nvSpPr>
        <p:spPr>
          <a:xfrm>
            <a:off x="6764694" y="2965966"/>
            <a:ext cx="1236306" cy="228600"/>
          </a:xfrm>
          <a:prstGeom prst="rect">
            <a:avLst/>
          </a:prstGeom>
          <a:noFill/>
          <a:ln w="19050">
            <a:solidFill>
              <a:srgbClr val="FFFF00"/>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6143A1FB-B079-43D8-80D2-836EC07A5AE0}"/>
              </a:ext>
            </a:extLst>
          </p:cNvPr>
          <p:cNvSpPr txBox="1"/>
          <p:nvPr/>
        </p:nvSpPr>
        <p:spPr>
          <a:xfrm>
            <a:off x="6705600" y="5341776"/>
            <a:ext cx="1828800" cy="140732"/>
          </a:xfrm>
          <a:prstGeom prst="rect">
            <a:avLst/>
          </a:prstGeom>
          <a:noFill/>
          <a:ln w="28575">
            <a:solidFill>
              <a:srgbClr val="FFFF00"/>
            </a:solidFill>
          </a:ln>
        </p:spPr>
        <p:txBody>
          <a:bodyPr wrap="square" rtlCol="0">
            <a:spAutoFit/>
          </a:bodyPr>
          <a:lstStyle/>
          <a:p>
            <a:endParaRPr lang="en-US" dirty="0"/>
          </a:p>
        </p:txBody>
      </p:sp>
    </p:spTree>
    <p:extLst>
      <p:ext uri="{BB962C8B-B14F-4D97-AF65-F5344CB8AC3E}">
        <p14:creationId xmlns:p14="http://schemas.microsoft.com/office/powerpoint/2010/main" val="14681101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0CE6734-8F09-4175-8737-A5491E0C1472}"/>
              </a:ext>
            </a:extLst>
          </p:cNvPr>
          <p:cNvPicPr>
            <a:picLocks noGrp="1" noChangeAspect="1"/>
          </p:cNvPicPr>
          <p:nvPr>
            <p:ph idx="1"/>
          </p:nvPr>
        </p:nvPicPr>
        <p:blipFill>
          <a:blip r:embed="rId2"/>
          <a:stretch>
            <a:fillRect/>
          </a:stretch>
        </p:blipFill>
        <p:spPr>
          <a:xfrm>
            <a:off x="1225812" y="205302"/>
            <a:ext cx="6089387" cy="5920862"/>
          </a:xfrm>
          <a:prstGeom prst="rect">
            <a:avLst/>
          </a:prstGeom>
        </p:spPr>
      </p:pic>
      <p:sp>
        <p:nvSpPr>
          <p:cNvPr id="6" name="TextBox 5">
            <a:extLst>
              <a:ext uri="{FF2B5EF4-FFF2-40B4-BE49-F238E27FC236}">
                <a16:creationId xmlns:a16="http://schemas.microsoft.com/office/drawing/2014/main" id="{2285868F-B4AD-4ABC-AAA9-07C0A2DE0D3C}"/>
              </a:ext>
            </a:extLst>
          </p:cNvPr>
          <p:cNvSpPr txBox="1"/>
          <p:nvPr/>
        </p:nvSpPr>
        <p:spPr>
          <a:xfrm>
            <a:off x="1225813" y="6126163"/>
            <a:ext cx="4419600" cy="461665"/>
          </a:xfrm>
          <a:prstGeom prst="rect">
            <a:avLst/>
          </a:prstGeom>
          <a:noFill/>
        </p:spPr>
        <p:txBody>
          <a:bodyPr wrap="square">
            <a:spAutoFit/>
          </a:bodyPr>
          <a:lstStyle/>
          <a:p>
            <a:r>
              <a:rPr lang="en-US" sz="1200" dirty="0"/>
              <a:t>https://www.uptodate.com/contents/image?imageKey=SURG%2F82397~SURG%2F61802&amp;topicKey=SURG%2F15843&amp;source=see_link</a:t>
            </a:r>
          </a:p>
        </p:txBody>
      </p:sp>
    </p:spTree>
    <p:extLst>
      <p:ext uri="{BB962C8B-B14F-4D97-AF65-F5344CB8AC3E}">
        <p14:creationId xmlns:p14="http://schemas.microsoft.com/office/powerpoint/2010/main" val="4193824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Parathyroid glands</a:t>
            </a:r>
          </a:p>
        </p:txBody>
      </p:sp>
      <p:sp>
        <p:nvSpPr>
          <p:cNvPr id="3" name="Content Placeholder 2"/>
          <p:cNvSpPr>
            <a:spLocks noGrp="1"/>
          </p:cNvSpPr>
          <p:nvPr>
            <p:ph idx="1"/>
          </p:nvPr>
        </p:nvSpPr>
        <p:spPr>
          <a:xfrm>
            <a:off x="457200" y="1905000"/>
            <a:ext cx="7848600" cy="4419600"/>
          </a:xfrm>
        </p:spPr>
        <p:txBody>
          <a:bodyPr>
            <a:normAutofit fontScale="92500" lnSpcReduction="10000"/>
          </a:bodyPr>
          <a:lstStyle/>
          <a:p>
            <a:r>
              <a:rPr lang="en-US" dirty="0"/>
              <a:t>Small flattened, oval glands (4 of them)</a:t>
            </a:r>
          </a:p>
          <a:p>
            <a:pPr marL="0" indent="0">
              <a:buNone/>
            </a:pPr>
            <a:endParaRPr lang="en-US" dirty="0"/>
          </a:p>
          <a:p>
            <a:r>
              <a:rPr lang="en-US" dirty="0"/>
              <a:t>Located on the posterior surface of the thyroid gland on right and left lobes (superior and inferior) on the external capsule</a:t>
            </a:r>
          </a:p>
          <a:p>
            <a:pPr marL="0" indent="0">
              <a:buNone/>
            </a:pPr>
            <a:endParaRPr lang="en-US" dirty="0"/>
          </a:p>
          <a:p>
            <a:r>
              <a:rPr lang="en-US" dirty="0"/>
              <a:t>Participate in </a:t>
            </a:r>
            <a:r>
              <a:rPr lang="en-US" dirty="0">
                <a:solidFill>
                  <a:srgbClr val="FF0000"/>
                </a:solidFill>
              </a:rPr>
              <a:t>calcium level regulation </a:t>
            </a:r>
            <a:r>
              <a:rPr lang="en-US" dirty="0"/>
              <a:t>(acts on bone directly to release more CA</a:t>
            </a:r>
            <a:r>
              <a:rPr lang="en-US" baseline="30000" dirty="0"/>
              <a:t>2+ </a:t>
            </a:r>
            <a:r>
              <a:rPr lang="en-US" dirty="0"/>
              <a:t>into bloodstream)</a:t>
            </a:r>
          </a:p>
          <a:p>
            <a:pPr marL="0" indent="0">
              <a:buNone/>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B6D0-1D15-4BA2-B8E0-0505B2A72052}"/>
              </a:ext>
            </a:extLst>
          </p:cNvPr>
          <p:cNvSpPr>
            <a:spLocks noGrp="1"/>
          </p:cNvSpPr>
          <p:nvPr>
            <p:ph type="title"/>
          </p:nvPr>
        </p:nvSpPr>
        <p:spPr/>
        <p:txBody>
          <a:bodyPr/>
          <a:lstStyle/>
          <a:p>
            <a:r>
              <a:rPr lang="en-US" dirty="0"/>
              <a:t>Parathyroid Glands</a:t>
            </a:r>
          </a:p>
        </p:txBody>
      </p:sp>
      <p:sp>
        <p:nvSpPr>
          <p:cNvPr id="3" name="Content Placeholder 2">
            <a:extLst>
              <a:ext uri="{FF2B5EF4-FFF2-40B4-BE49-F238E27FC236}">
                <a16:creationId xmlns:a16="http://schemas.microsoft.com/office/drawing/2014/main" id="{D6B50E3A-5F6A-417C-A05D-C77AB10D7652}"/>
              </a:ext>
            </a:extLst>
          </p:cNvPr>
          <p:cNvSpPr>
            <a:spLocks noGrp="1"/>
          </p:cNvSpPr>
          <p:nvPr>
            <p:ph idx="1"/>
          </p:nvPr>
        </p:nvSpPr>
        <p:spPr/>
        <p:txBody>
          <a:bodyPr>
            <a:normAutofit fontScale="92500" lnSpcReduction="10000"/>
          </a:bodyPr>
          <a:lstStyle/>
          <a:p>
            <a:r>
              <a:rPr lang="en-US" dirty="0"/>
              <a:t>Blood supply – usually branches of the inferior thyroid artery but can vary. Parathyroid veins drain into thyroid venous plexus</a:t>
            </a:r>
          </a:p>
          <a:p>
            <a:pPr marL="0" indent="0">
              <a:buNone/>
            </a:pPr>
            <a:endParaRPr lang="en-US" dirty="0"/>
          </a:p>
          <a:p>
            <a:r>
              <a:rPr lang="en-US" dirty="0"/>
              <a:t>Lymphatic vessels – drain into thyroid lymph vessels which drain into deep cervical nodes</a:t>
            </a:r>
          </a:p>
          <a:p>
            <a:pPr marL="0" indent="0">
              <a:buNone/>
            </a:pPr>
            <a:endParaRPr lang="en-US" dirty="0"/>
          </a:p>
          <a:p>
            <a:r>
              <a:rPr lang="en-US" dirty="0"/>
              <a:t>Nerve supply – abundant; derived from thyroid branches of the cervical sympathetic ganglia</a:t>
            </a:r>
          </a:p>
          <a:p>
            <a:endParaRPr lang="en-US" dirty="0"/>
          </a:p>
        </p:txBody>
      </p:sp>
    </p:spTree>
    <p:extLst>
      <p:ext uri="{BB962C8B-B14F-4D97-AF65-F5344CB8AC3E}">
        <p14:creationId xmlns:p14="http://schemas.microsoft.com/office/powerpoint/2010/main" val="280528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Projects\FRC\Moore\Project_SRC\PPT-With_Images_New_standard\Splitted\Chapter08\F11181-008-030A.jpg"/>
          <p:cNvPicPr>
            <a:picLocks noGrp="1" noChangeAspect="1" noChangeArrowheads="1"/>
          </p:cNvPicPr>
          <p:nvPr>
            <p:ph idx="1"/>
          </p:nvPr>
        </p:nvPicPr>
        <p:blipFill>
          <a:blip r:embed="rId2" cstate="print"/>
          <a:srcRect/>
          <a:stretch>
            <a:fillRect/>
          </a:stretch>
        </p:blipFill>
        <p:spPr bwMode="auto">
          <a:xfrm>
            <a:off x="1447800" y="304800"/>
            <a:ext cx="6364069" cy="6278563"/>
          </a:xfrm>
          <a:prstGeom prst="rect">
            <a:avLst/>
          </a:prstGeom>
          <a:noFill/>
        </p:spPr>
      </p:pic>
      <p:sp>
        <p:nvSpPr>
          <p:cNvPr id="5" name="Rectangle 4"/>
          <p:cNvSpPr/>
          <p:nvPr/>
        </p:nvSpPr>
        <p:spPr>
          <a:xfrm>
            <a:off x="1447800" y="2971800"/>
            <a:ext cx="1981200" cy="1371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5791200" y="4038600"/>
            <a:ext cx="1905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2926-8A78-434F-B122-C60A339CC074}"/>
              </a:ext>
            </a:extLst>
          </p:cNvPr>
          <p:cNvSpPr>
            <a:spLocks noGrp="1"/>
          </p:cNvSpPr>
          <p:nvPr>
            <p:ph type="title"/>
          </p:nvPr>
        </p:nvSpPr>
        <p:spPr/>
        <p:txBody>
          <a:bodyPr/>
          <a:lstStyle/>
          <a:p>
            <a:r>
              <a:rPr lang="en-US" dirty="0"/>
              <a:t>Gonads (Ovaries)</a:t>
            </a:r>
          </a:p>
        </p:txBody>
      </p:sp>
      <p:sp>
        <p:nvSpPr>
          <p:cNvPr id="3" name="Content Placeholder 2">
            <a:extLst>
              <a:ext uri="{FF2B5EF4-FFF2-40B4-BE49-F238E27FC236}">
                <a16:creationId xmlns:a16="http://schemas.microsoft.com/office/drawing/2014/main" id="{E50FFCCE-1E76-4435-A119-E1CA5658A644}"/>
              </a:ext>
            </a:extLst>
          </p:cNvPr>
          <p:cNvSpPr>
            <a:spLocks noGrp="1"/>
          </p:cNvSpPr>
          <p:nvPr>
            <p:ph idx="1"/>
          </p:nvPr>
        </p:nvSpPr>
        <p:spPr/>
        <p:txBody>
          <a:bodyPr/>
          <a:lstStyle/>
          <a:p>
            <a:r>
              <a:rPr lang="en-US" dirty="0"/>
              <a:t>Oval shaped about the size of a large grape</a:t>
            </a:r>
          </a:p>
          <a:p>
            <a:r>
              <a:rPr lang="en-US" dirty="0"/>
              <a:t>Located on either side of the uterus attached to the fimbria</a:t>
            </a:r>
          </a:p>
          <a:p>
            <a:r>
              <a:rPr lang="en-US" dirty="0"/>
              <a:t>Hormones: Estrogens (Estradiol, Estrone, Estriol) &amp; Progesterone</a:t>
            </a:r>
          </a:p>
          <a:p>
            <a:r>
              <a:rPr lang="en-US" dirty="0"/>
              <a:t>Controlled by the</a:t>
            </a:r>
            <a:r>
              <a:rPr lang="en-US" dirty="0">
                <a:solidFill>
                  <a:srgbClr val="FF0000"/>
                </a:solidFill>
              </a:rPr>
              <a:t> FSH &amp; LH</a:t>
            </a:r>
          </a:p>
        </p:txBody>
      </p:sp>
    </p:spTree>
    <p:extLst>
      <p:ext uri="{BB962C8B-B14F-4D97-AF65-F5344CB8AC3E}">
        <p14:creationId xmlns:p14="http://schemas.microsoft.com/office/powerpoint/2010/main" val="462718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5303-BC0D-4DB0-B4AC-B52BBE6B5D77}"/>
              </a:ext>
            </a:extLst>
          </p:cNvPr>
          <p:cNvSpPr>
            <a:spLocks noGrp="1"/>
          </p:cNvSpPr>
          <p:nvPr>
            <p:ph type="title"/>
          </p:nvPr>
        </p:nvSpPr>
        <p:spPr/>
        <p:txBody>
          <a:bodyPr/>
          <a:lstStyle/>
          <a:p>
            <a:r>
              <a:rPr lang="en-US" dirty="0"/>
              <a:t>Gonads (Testes)</a:t>
            </a:r>
          </a:p>
        </p:txBody>
      </p:sp>
      <p:sp>
        <p:nvSpPr>
          <p:cNvPr id="3" name="Content Placeholder 2">
            <a:extLst>
              <a:ext uri="{FF2B5EF4-FFF2-40B4-BE49-F238E27FC236}">
                <a16:creationId xmlns:a16="http://schemas.microsoft.com/office/drawing/2014/main" id="{5D1987C9-82B7-4CB2-B787-12376E706D05}"/>
              </a:ext>
            </a:extLst>
          </p:cNvPr>
          <p:cNvSpPr>
            <a:spLocks noGrp="1"/>
          </p:cNvSpPr>
          <p:nvPr>
            <p:ph idx="1"/>
          </p:nvPr>
        </p:nvSpPr>
        <p:spPr>
          <a:xfrm>
            <a:off x="457200" y="1600200"/>
            <a:ext cx="8534400" cy="4525963"/>
          </a:xfrm>
        </p:spPr>
        <p:txBody>
          <a:bodyPr>
            <a:normAutofit fontScale="92500" lnSpcReduction="10000"/>
          </a:bodyPr>
          <a:lstStyle/>
          <a:p>
            <a:r>
              <a:rPr lang="en-US" dirty="0"/>
              <a:t>Twin Oval-shaped organs about the size of a large grape</a:t>
            </a:r>
          </a:p>
          <a:p>
            <a:r>
              <a:rPr lang="en-US" dirty="0"/>
              <a:t>Located in scrotum to aid in temperature control for sperm production</a:t>
            </a:r>
          </a:p>
          <a:p>
            <a:r>
              <a:rPr lang="en-US" dirty="0"/>
              <a:t>Testosterone is the hormone necessary for physical development in boys, growth of body and facial hair, lowering of voice, increase in height &amp; muscle mass; maintains libido, sperm production, &amp; bone density</a:t>
            </a:r>
          </a:p>
          <a:p>
            <a:r>
              <a:rPr lang="en-US" dirty="0">
                <a:solidFill>
                  <a:srgbClr val="FF0000"/>
                </a:solidFill>
              </a:rPr>
              <a:t>Testosterone production controlled by FSH and LH</a:t>
            </a:r>
          </a:p>
        </p:txBody>
      </p:sp>
    </p:spTree>
    <p:extLst>
      <p:ext uri="{BB962C8B-B14F-4D97-AF65-F5344CB8AC3E}">
        <p14:creationId xmlns:p14="http://schemas.microsoft.com/office/powerpoint/2010/main" val="14131620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07B5FA7-E0EC-28FB-B831-0D6CF61C7632}"/>
              </a:ext>
            </a:extLst>
          </p:cNvPr>
          <p:cNvPicPr>
            <a:picLocks noGrp="1" noChangeAspect="1"/>
          </p:cNvPicPr>
          <p:nvPr>
            <p:ph idx="1"/>
          </p:nvPr>
        </p:nvPicPr>
        <p:blipFill>
          <a:blip r:embed="rId2"/>
          <a:stretch>
            <a:fillRect/>
          </a:stretch>
        </p:blipFill>
        <p:spPr>
          <a:xfrm>
            <a:off x="2667000" y="430762"/>
            <a:ext cx="3657600" cy="5996475"/>
          </a:xfrm>
          <a:prstGeom prst="rect">
            <a:avLst/>
          </a:prstGeom>
        </p:spPr>
      </p:pic>
    </p:spTree>
    <p:extLst>
      <p:ext uri="{BB962C8B-B14F-4D97-AF65-F5344CB8AC3E}">
        <p14:creationId xmlns:p14="http://schemas.microsoft.com/office/powerpoint/2010/main" val="546723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0C60B2C77D864AA4EB4714A107E598" ma:contentTypeVersion="10" ma:contentTypeDescription="Create a new document." ma:contentTypeScope="" ma:versionID="8c18fb02c14bd21e9a254fcfc853db65">
  <xsd:schema xmlns:xsd="http://www.w3.org/2001/XMLSchema" xmlns:xs="http://www.w3.org/2001/XMLSchema" xmlns:p="http://schemas.microsoft.com/office/2006/metadata/properties" xmlns:ns3="4f14baff-bad7-40ed-a564-b85440d9c670" targetNamespace="http://schemas.microsoft.com/office/2006/metadata/properties" ma:root="true" ma:fieldsID="989462bb75dea23d33642a5b6ffd2c5c" ns3:_="">
    <xsd:import namespace="4f14baff-bad7-40ed-a564-b85440d9c670"/>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4baff-bad7-40ed-a564-b85440d9c6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A364E0-FCFF-4551-8D91-DD2926BE91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4baff-bad7-40ed-a564-b85440d9c6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AAB25A-8FCC-4552-96F1-2EB1EE44C66E}">
  <ds:schemaRefs>
    <ds:schemaRef ds:uri="http://purl.org/dc/terms/"/>
    <ds:schemaRef ds:uri="http://schemas.openxmlformats.org/package/2006/metadata/core-properties"/>
    <ds:schemaRef ds:uri="4f14baff-bad7-40ed-a564-b85440d9c670"/>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82BB8A8-C859-48EE-AD45-7CFC6FD6C6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5153</TotalTime>
  <Words>2106</Words>
  <Application>Microsoft Office PowerPoint</Application>
  <PresentationFormat>On-screen Show (4:3)</PresentationFormat>
  <Paragraphs>253</Paragraphs>
  <Slides>54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Wingdings</vt:lpstr>
      <vt:lpstr>Office Theme</vt:lpstr>
      <vt:lpstr>Endocrine Anatomy</vt:lpstr>
      <vt:lpstr>Endocrine System</vt:lpstr>
      <vt:lpstr>PowerPoint Presentation</vt:lpstr>
      <vt:lpstr>Hypothalamus</vt:lpstr>
      <vt:lpstr>Hypothalamus</vt:lpstr>
      <vt:lpstr>PowerPoint Presentation</vt:lpstr>
      <vt:lpstr>Pituitary Gland (aka – Hypophysis Cerebri)</vt:lpstr>
      <vt:lpstr>Pituitary Gland</vt:lpstr>
      <vt:lpstr>Anterior Pituitary </vt:lpstr>
      <vt:lpstr>Anterior Pituitary </vt:lpstr>
      <vt:lpstr>Pituitary Gland</vt:lpstr>
      <vt:lpstr>Posterior Pituitary</vt:lpstr>
      <vt:lpstr>Pituitary Gland</vt:lpstr>
      <vt:lpstr>Pituitary Gland</vt:lpstr>
      <vt:lpstr>Sella Turcica</vt:lpstr>
      <vt:lpstr>PowerPoint Presentation</vt:lpstr>
      <vt:lpstr>PowerPoint Presentation</vt:lpstr>
      <vt:lpstr>Sella Turcica</vt:lpstr>
      <vt:lpstr>Cavernous sinus </vt:lpstr>
      <vt:lpstr>Cavernous sinus</vt:lpstr>
      <vt:lpstr>PowerPoint Presentation</vt:lpstr>
      <vt:lpstr>Pineal Gland</vt:lpstr>
      <vt:lpstr>Pineal Gland</vt:lpstr>
      <vt:lpstr>Adrenal Glands (aka – suprarenal glands)</vt:lpstr>
      <vt:lpstr>Adrenal Glands</vt:lpstr>
      <vt:lpstr>Adrenal Glands</vt:lpstr>
      <vt:lpstr>Adrenal Glands</vt:lpstr>
      <vt:lpstr>PowerPoint Presentation</vt:lpstr>
      <vt:lpstr>PowerPoint Presentation</vt:lpstr>
      <vt:lpstr>Adrenal Glands</vt:lpstr>
      <vt:lpstr>Pancreas</vt:lpstr>
      <vt:lpstr>Pancreas</vt:lpstr>
      <vt:lpstr>PowerPoint Presentation</vt:lpstr>
      <vt:lpstr>Pancreas</vt:lpstr>
      <vt:lpstr>Pancreas</vt:lpstr>
      <vt:lpstr>PowerPoint Presentation</vt:lpstr>
      <vt:lpstr>PowerPoint Presentation</vt:lpstr>
      <vt:lpstr>Thymus Gland</vt:lpstr>
      <vt:lpstr>PowerPoint Presentation</vt:lpstr>
      <vt:lpstr>Thyroid Gland</vt:lpstr>
      <vt:lpstr>Thyroid Gland</vt:lpstr>
      <vt:lpstr>Thyroid Gland</vt:lpstr>
      <vt:lpstr>PowerPoint Presentation</vt:lpstr>
      <vt:lpstr>Thyroid Gland</vt:lpstr>
      <vt:lpstr>PowerPoint Presentation</vt:lpstr>
      <vt:lpstr>Thyroid Gland</vt:lpstr>
      <vt:lpstr>PowerPoint Presentation</vt:lpstr>
      <vt:lpstr>PowerPoint Presentation</vt:lpstr>
      <vt:lpstr>Parathyroid glands</vt:lpstr>
      <vt:lpstr>Parathyroid Glands</vt:lpstr>
      <vt:lpstr>PowerPoint Presentation</vt:lpstr>
      <vt:lpstr>Gonads (Ovaries)</vt:lpstr>
      <vt:lpstr>Gonads (Testes)</vt:lpstr>
      <vt:lpstr>PowerPoint Presentation</vt:lpstr>
    </vt:vector>
  </TitlesOfParts>
  <Company>KHN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Endocrine Anatomy</dc:title>
  <dc:creator>exga</dc:creator>
  <cp:lastModifiedBy>Palmer, Caroline</cp:lastModifiedBy>
  <cp:revision>96</cp:revision>
  <cp:lastPrinted>2012-10-01T13:26:05Z</cp:lastPrinted>
  <dcterms:created xsi:type="dcterms:W3CDTF">2011-11-11T14:56:14Z</dcterms:created>
  <dcterms:modified xsi:type="dcterms:W3CDTF">2025-12-01T13:50:07Z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0x010100C50C60B2C77D864AA4EB4714A107E598</vt:lpwstr>
  </property>
</Properties>
</file>