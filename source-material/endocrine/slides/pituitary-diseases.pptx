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Override1.xml" ContentType="application/vnd.openxmlformats-officedocument.themeOverrid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ppt/notesSlides/notesSlide106.xml" ContentType="application/vnd.openxmlformats-officedocument.presentationml.notesSlide+xml"/>
  <Override PartName="/ppt/notesSlides/notesSlide107.xml" ContentType="application/vnd.openxmlformats-officedocument.presentationml.notesSlide+xml"/>
  <Override PartName="/ppt/notesSlides/notesSlide108.xml" ContentType="application/vnd.openxmlformats-officedocument.presentationml.notesSlide+xml"/>
  <Override PartName="/ppt/notesSlides/notesSlide109.xml" ContentType="application/vnd.openxmlformats-officedocument.presentationml.notesSlide+xml"/>
  <Override PartName="/ppt/notesSlides/notesSlide110.xml" ContentType="application/vnd.openxmlformats-officedocument.presentationml.notesSlide+xml"/>
  <Override PartName="/ppt/notesSlides/notesSlide111.xml" ContentType="application/vnd.openxmlformats-officedocument.presentationml.notesSlide+xml"/>
  <Override PartName="/ppt/notesSlides/notesSlide112.xml" ContentType="application/vnd.openxmlformats-officedocument.presentationml.notesSlide+xml"/>
  <Override PartName="/ppt/notesSlides/notesSlide113.xml" ContentType="application/vnd.openxmlformats-officedocument.presentationml.notesSlide+xml"/>
  <Override PartName="/ppt/notesSlides/notesSlide114.xml" ContentType="application/vnd.openxmlformats-officedocument.presentationml.notesSlide+xml"/>
  <Override PartName="/ppt/notesSlides/notesSlide115.xml" ContentType="application/vnd.openxmlformats-officedocument.presentationml.notesSlide+xml"/>
  <Override PartName="/ppt/notesSlides/notesSlide116.xml" ContentType="application/vnd.openxmlformats-officedocument.presentationml.notesSlide+xml"/>
  <Override PartName="/ppt/notesSlides/notesSlide117.xml" ContentType="application/vnd.openxmlformats-officedocument.presentationml.notesSlide+xml"/>
  <Override PartName="/ppt/notesSlides/notesSlide118.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130"/>
  </p:notesMasterIdLst>
  <p:sldIdLst>
    <p:sldId id="256" r:id="rId5"/>
    <p:sldId id="257" r:id="rId6"/>
    <p:sldId id="354" r:id="rId7"/>
    <p:sldId id="355" r:id="rId8"/>
    <p:sldId id="356" r:id="rId9"/>
    <p:sldId id="357" r:id="rId10"/>
    <p:sldId id="392" r:id="rId11"/>
    <p:sldId id="351" r:id="rId12"/>
    <p:sldId id="353" r:id="rId13"/>
    <p:sldId id="358" r:id="rId14"/>
    <p:sldId id="260" r:id="rId15"/>
    <p:sldId id="261" r:id="rId16"/>
    <p:sldId id="262" r:id="rId17"/>
    <p:sldId id="263" r:id="rId18"/>
    <p:sldId id="264" r:id="rId19"/>
    <p:sldId id="265" r:id="rId20"/>
    <p:sldId id="271" r:id="rId21"/>
    <p:sldId id="272" r:id="rId22"/>
    <p:sldId id="359" r:id="rId23"/>
    <p:sldId id="273" r:id="rId24"/>
    <p:sldId id="394" r:id="rId25"/>
    <p:sldId id="360" r:id="rId26"/>
    <p:sldId id="361" r:id="rId27"/>
    <p:sldId id="395" r:id="rId28"/>
    <p:sldId id="277" r:id="rId29"/>
    <p:sldId id="363" r:id="rId30"/>
    <p:sldId id="362" r:id="rId31"/>
    <p:sldId id="283" r:id="rId32"/>
    <p:sldId id="369" r:id="rId33"/>
    <p:sldId id="400" r:id="rId34"/>
    <p:sldId id="402" r:id="rId35"/>
    <p:sldId id="403" r:id="rId36"/>
    <p:sldId id="284" r:id="rId37"/>
    <p:sldId id="367" r:id="rId38"/>
    <p:sldId id="348" r:id="rId39"/>
    <p:sldId id="365" r:id="rId40"/>
    <p:sldId id="364" r:id="rId41"/>
    <p:sldId id="398" r:id="rId42"/>
    <p:sldId id="368" r:id="rId43"/>
    <p:sldId id="286" r:id="rId44"/>
    <p:sldId id="287" r:id="rId45"/>
    <p:sldId id="344" r:id="rId46"/>
    <p:sldId id="285" r:id="rId47"/>
    <p:sldId id="370" r:id="rId48"/>
    <p:sldId id="292" r:id="rId49"/>
    <p:sldId id="390" r:id="rId50"/>
    <p:sldId id="293" r:id="rId51"/>
    <p:sldId id="294" r:id="rId52"/>
    <p:sldId id="288" r:id="rId53"/>
    <p:sldId id="289" r:id="rId54"/>
    <p:sldId id="371" r:id="rId55"/>
    <p:sldId id="295" r:id="rId56"/>
    <p:sldId id="373" r:id="rId57"/>
    <p:sldId id="375" r:id="rId58"/>
    <p:sldId id="372" r:id="rId59"/>
    <p:sldId id="290" r:id="rId60"/>
    <p:sldId id="376" r:id="rId61"/>
    <p:sldId id="374" r:id="rId62"/>
    <p:sldId id="377" r:id="rId63"/>
    <p:sldId id="378" r:id="rId64"/>
    <p:sldId id="379" r:id="rId65"/>
    <p:sldId id="380" r:id="rId66"/>
    <p:sldId id="296" r:id="rId67"/>
    <p:sldId id="297" r:id="rId68"/>
    <p:sldId id="381" r:id="rId69"/>
    <p:sldId id="298" r:id="rId70"/>
    <p:sldId id="349" r:id="rId71"/>
    <p:sldId id="299" r:id="rId72"/>
    <p:sldId id="382" r:id="rId73"/>
    <p:sldId id="383" r:id="rId74"/>
    <p:sldId id="300" r:id="rId75"/>
    <p:sldId id="384" r:id="rId76"/>
    <p:sldId id="405" r:id="rId77"/>
    <p:sldId id="281" r:id="rId78"/>
    <p:sldId id="302" r:id="rId79"/>
    <p:sldId id="303" r:id="rId80"/>
    <p:sldId id="304" r:id="rId81"/>
    <p:sldId id="305" r:id="rId82"/>
    <p:sldId id="385" r:id="rId83"/>
    <p:sldId id="307" r:id="rId84"/>
    <p:sldId id="279" r:id="rId85"/>
    <p:sldId id="386" r:id="rId86"/>
    <p:sldId id="404" r:id="rId87"/>
    <p:sldId id="396" r:id="rId88"/>
    <p:sldId id="280" r:id="rId89"/>
    <p:sldId id="387" r:id="rId90"/>
    <p:sldId id="308" r:id="rId91"/>
    <p:sldId id="309" r:id="rId92"/>
    <p:sldId id="311" r:id="rId93"/>
    <p:sldId id="388" r:id="rId94"/>
    <p:sldId id="314" r:id="rId95"/>
    <p:sldId id="313" r:id="rId96"/>
    <p:sldId id="315" r:id="rId97"/>
    <p:sldId id="316" r:id="rId98"/>
    <p:sldId id="317" r:id="rId99"/>
    <p:sldId id="318" r:id="rId100"/>
    <p:sldId id="401" r:id="rId101"/>
    <p:sldId id="319" r:id="rId102"/>
    <p:sldId id="320" r:id="rId103"/>
    <p:sldId id="350" r:id="rId104"/>
    <p:sldId id="321" r:id="rId105"/>
    <p:sldId id="322" r:id="rId106"/>
    <p:sldId id="324" r:id="rId107"/>
    <p:sldId id="323" r:id="rId108"/>
    <p:sldId id="326" r:id="rId109"/>
    <p:sldId id="325" r:id="rId110"/>
    <p:sldId id="327" r:id="rId111"/>
    <p:sldId id="328" r:id="rId112"/>
    <p:sldId id="329" r:id="rId113"/>
    <p:sldId id="389" r:id="rId114"/>
    <p:sldId id="333" r:id="rId115"/>
    <p:sldId id="332" r:id="rId116"/>
    <p:sldId id="334" r:id="rId117"/>
    <p:sldId id="397" r:id="rId118"/>
    <p:sldId id="335" r:id="rId119"/>
    <p:sldId id="336" r:id="rId120"/>
    <p:sldId id="337" r:id="rId121"/>
    <p:sldId id="338" r:id="rId122"/>
    <p:sldId id="339" r:id="rId123"/>
    <p:sldId id="340" r:id="rId124"/>
    <p:sldId id="346" r:id="rId125"/>
    <p:sldId id="347" r:id="rId126"/>
    <p:sldId id="341" r:id="rId127"/>
    <p:sldId id="342" r:id="rId128"/>
    <p:sldId id="343" r:id="rId12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D0348749-091B-494E-B950-160E15AB6101}">
          <p14:sldIdLst>
            <p14:sldId id="256"/>
          </p14:sldIdLst>
        </p14:section>
        <p14:section name="Anatomy and physiology" id="{B0CC35C1-A3B6-44C5-BD0C-54ACC7327C85}">
          <p14:sldIdLst>
            <p14:sldId id="257"/>
            <p14:sldId id="354"/>
            <p14:sldId id="355"/>
            <p14:sldId id="356"/>
            <p14:sldId id="357"/>
            <p14:sldId id="392"/>
            <p14:sldId id="351"/>
            <p14:sldId id="353"/>
            <p14:sldId id="358"/>
            <p14:sldId id="260"/>
            <p14:sldId id="261"/>
            <p14:sldId id="262"/>
            <p14:sldId id="263"/>
            <p14:sldId id="264"/>
            <p14:sldId id="265"/>
            <p14:sldId id="271"/>
            <p14:sldId id="272"/>
            <p14:sldId id="359"/>
            <p14:sldId id="273"/>
            <p14:sldId id="394"/>
            <p14:sldId id="360"/>
            <p14:sldId id="361"/>
          </p14:sldIdLst>
        </p14:section>
        <p14:section name="Hypopituitarism" id="{C4413D99-B53D-46DA-87F5-90C6EA8CD209}">
          <p14:sldIdLst>
            <p14:sldId id="395"/>
            <p14:sldId id="277"/>
            <p14:sldId id="363"/>
            <p14:sldId id="362"/>
            <p14:sldId id="283"/>
            <p14:sldId id="369"/>
            <p14:sldId id="400"/>
            <p14:sldId id="402"/>
            <p14:sldId id="403"/>
            <p14:sldId id="284"/>
            <p14:sldId id="367"/>
            <p14:sldId id="348"/>
            <p14:sldId id="365"/>
            <p14:sldId id="364"/>
            <p14:sldId id="398"/>
            <p14:sldId id="368"/>
            <p14:sldId id="286"/>
            <p14:sldId id="287"/>
            <p14:sldId id="344"/>
            <p14:sldId id="285"/>
            <p14:sldId id="370"/>
            <p14:sldId id="292"/>
            <p14:sldId id="390"/>
            <p14:sldId id="293"/>
            <p14:sldId id="294"/>
            <p14:sldId id="288"/>
            <p14:sldId id="289"/>
            <p14:sldId id="371"/>
            <p14:sldId id="295"/>
            <p14:sldId id="373"/>
            <p14:sldId id="375"/>
            <p14:sldId id="372"/>
            <p14:sldId id="290"/>
            <p14:sldId id="376"/>
            <p14:sldId id="374"/>
            <p14:sldId id="377"/>
            <p14:sldId id="378"/>
            <p14:sldId id="379"/>
            <p14:sldId id="380"/>
            <p14:sldId id="296"/>
            <p14:sldId id="297"/>
            <p14:sldId id="381"/>
            <p14:sldId id="298"/>
            <p14:sldId id="349"/>
            <p14:sldId id="299"/>
            <p14:sldId id="382"/>
            <p14:sldId id="383"/>
            <p14:sldId id="300"/>
            <p14:sldId id="384"/>
          </p14:sldIdLst>
        </p14:section>
        <p14:section name="Sellar Masses" id="{44B5EEE4-1951-4951-8CD0-B90EACB21AEB}">
          <p14:sldIdLst>
            <p14:sldId id="405"/>
            <p14:sldId id="281"/>
            <p14:sldId id="302"/>
            <p14:sldId id="303"/>
            <p14:sldId id="304"/>
            <p14:sldId id="305"/>
            <p14:sldId id="385"/>
            <p14:sldId id="307"/>
            <p14:sldId id="279"/>
            <p14:sldId id="386"/>
            <p14:sldId id="404"/>
            <p14:sldId id="396"/>
            <p14:sldId id="280"/>
            <p14:sldId id="387"/>
            <p14:sldId id="308"/>
            <p14:sldId id="309"/>
            <p14:sldId id="311"/>
            <p14:sldId id="388"/>
            <p14:sldId id="314"/>
            <p14:sldId id="313"/>
            <p14:sldId id="315"/>
            <p14:sldId id="316"/>
            <p14:sldId id="317"/>
            <p14:sldId id="318"/>
            <p14:sldId id="401"/>
            <p14:sldId id="319"/>
            <p14:sldId id="320"/>
            <p14:sldId id="350"/>
            <p14:sldId id="321"/>
            <p14:sldId id="322"/>
            <p14:sldId id="324"/>
            <p14:sldId id="323"/>
            <p14:sldId id="326"/>
            <p14:sldId id="325"/>
            <p14:sldId id="327"/>
            <p14:sldId id="328"/>
            <p14:sldId id="329"/>
            <p14:sldId id="389"/>
            <p14:sldId id="333"/>
            <p14:sldId id="332"/>
            <p14:sldId id="334"/>
            <p14:sldId id="397"/>
          </p14:sldIdLst>
        </p14:section>
        <p14:section name="Posterior pituitary disorders - DI" id="{248A4610-B38B-4A4F-957F-66462BB204DA}">
          <p14:sldIdLst>
            <p14:sldId id="335"/>
            <p14:sldId id="336"/>
            <p14:sldId id="337"/>
            <p14:sldId id="338"/>
            <p14:sldId id="339"/>
            <p14:sldId id="340"/>
            <p14:sldId id="346"/>
            <p14:sldId id="347"/>
            <p14:sldId id="341"/>
            <p14:sldId id="342"/>
            <p14:sldId id="343"/>
          </p14:sldIdLst>
        </p14:section>
      </p14:sectionLst>
    </p:ex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82999" autoAdjust="0"/>
  </p:normalViewPr>
  <p:slideViewPr>
    <p:cSldViewPr snapToGrid="0">
      <p:cViewPr varScale="1">
        <p:scale>
          <a:sx n="76" d="100"/>
          <a:sy n="76" d="100"/>
        </p:scale>
        <p:origin x="917" y="48"/>
      </p:cViewPr>
      <p:guideLst/>
    </p:cSldViewPr>
  </p:slideViewPr>
  <p:notesTextViewPr>
    <p:cViewPr>
      <p:scale>
        <a:sx n="1" d="1"/>
        <a:sy n="1" d="1"/>
      </p:scale>
      <p:origin x="0" y="0"/>
    </p:cViewPr>
  </p:notesTextViewPr>
  <p:notesViewPr>
    <p:cSldViewPr snapToGrid="0">
      <p:cViewPr varScale="1">
        <p:scale>
          <a:sx n="87" d="100"/>
          <a:sy n="87" d="100"/>
        </p:scale>
        <p:origin x="3840" y="66"/>
      </p:cViewPr>
      <p:guideLst/>
    </p:cSldViewPr>
  </p:notes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2.xml"/><Relationship Id="rId117" Type="http://schemas.openxmlformats.org/officeDocument/2006/relationships/slide" Target="slides/slide113.xml"/><Relationship Id="rId21" Type="http://schemas.openxmlformats.org/officeDocument/2006/relationships/slide" Target="slides/slide17.xml"/><Relationship Id="rId42" Type="http://schemas.openxmlformats.org/officeDocument/2006/relationships/slide" Target="slides/slide38.xml"/><Relationship Id="rId47" Type="http://schemas.openxmlformats.org/officeDocument/2006/relationships/slide" Target="slides/slide43.xml"/><Relationship Id="rId63" Type="http://schemas.openxmlformats.org/officeDocument/2006/relationships/slide" Target="slides/slide59.xml"/><Relationship Id="rId68" Type="http://schemas.openxmlformats.org/officeDocument/2006/relationships/slide" Target="slides/slide64.xml"/><Relationship Id="rId84" Type="http://schemas.openxmlformats.org/officeDocument/2006/relationships/slide" Target="slides/slide80.xml"/><Relationship Id="rId89" Type="http://schemas.openxmlformats.org/officeDocument/2006/relationships/slide" Target="slides/slide85.xml"/><Relationship Id="rId112" Type="http://schemas.openxmlformats.org/officeDocument/2006/relationships/slide" Target="slides/slide108.xml"/><Relationship Id="rId133" Type="http://schemas.openxmlformats.org/officeDocument/2006/relationships/theme" Target="theme/theme1.xml"/><Relationship Id="rId16" Type="http://schemas.openxmlformats.org/officeDocument/2006/relationships/slide" Target="slides/slide12.xml"/><Relationship Id="rId107" Type="http://schemas.openxmlformats.org/officeDocument/2006/relationships/slide" Target="slides/slide103.xml"/><Relationship Id="rId11" Type="http://schemas.openxmlformats.org/officeDocument/2006/relationships/slide" Target="slides/slide7.xml"/><Relationship Id="rId32" Type="http://schemas.openxmlformats.org/officeDocument/2006/relationships/slide" Target="slides/slide28.xml"/><Relationship Id="rId37" Type="http://schemas.openxmlformats.org/officeDocument/2006/relationships/slide" Target="slides/slide33.xml"/><Relationship Id="rId53" Type="http://schemas.openxmlformats.org/officeDocument/2006/relationships/slide" Target="slides/slide49.xml"/><Relationship Id="rId58" Type="http://schemas.openxmlformats.org/officeDocument/2006/relationships/slide" Target="slides/slide54.xml"/><Relationship Id="rId74" Type="http://schemas.openxmlformats.org/officeDocument/2006/relationships/slide" Target="slides/slide70.xml"/><Relationship Id="rId79" Type="http://schemas.openxmlformats.org/officeDocument/2006/relationships/slide" Target="slides/slide75.xml"/><Relationship Id="rId102" Type="http://schemas.openxmlformats.org/officeDocument/2006/relationships/slide" Target="slides/slide98.xml"/><Relationship Id="rId123" Type="http://schemas.openxmlformats.org/officeDocument/2006/relationships/slide" Target="slides/slide119.xml"/><Relationship Id="rId128" Type="http://schemas.openxmlformats.org/officeDocument/2006/relationships/slide" Target="slides/slide124.xml"/><Relationship Id="rId5" Type="http://schemas.openxmlformats.org/officeDocument/2006/relationships/slide" Target="slides/slide1.xml"/><Relationship Id="rId90" Type="http://schemas.openxmlformats.org/officeDocument/2006/relationships/slide" Target="slides/slide86.xml"/><Relationship Id="rId95" Type="http://schemas.openxmlformats.org/officeDocument/2006/relationships/slide" Target="slides/slide91.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slide" Target="slides/slide52.xml"/><Relationship Id="rId64" Type="http://schemas.openxmlformats.org/officeDocument/2006/relationships/slide" Target="slides/slide60.xml"/><Relationship Id="rId69" Type="http://schemas.openxmlformats.org/officeDocument/2006/relationships/slide" Target="slides/slide65.xml"/><Relationship Id="rId77" Type="http://schemas.openxmlformats.org/officeDocument/2006/relationships/slide" Target="slides/slide73.xml"/><Relationship Id="rId100" Type="http://schemas.openxmlformats.org/officeDocument/2006/relationships/slide" Target="slides/slide96.xml"/><Relationship Id="rId105" Type="http://schemas.openxmlformats.org/officeDocument/2006/relationships/slide" Target="slides/slide101.xml"/><Relationship Id="rId113" Type="http://schemas.openxmlformats.org/officeDocument/2006/relationships/slide" Target="slides/slide109.xml"/><Relationship Id="rId118" Type="http://schemas.openxmlformats.org/officeDocument/2006/relationships/slide" Target="slides/slide114.xml"/><Relationship Id="rId126" Type="http://schemas.openxmlformats.org/officeDocument/2006/relationships/slide" Target="slides/slide122.xml"/><Relationship Id="rId134" Type="http://schemas.openxmlformats.org/officeDocument/2006/relationships/tableStyles" Target="tableStyles.xml"/><Relationship Id="rId8" Type="http://schemas.openxmlformats.org/officeDocument/2006/relationships/slide" Target="slides/slide4.xml"/><Relationship Id="rId51" Type="http://schemas.openxmlformats.org/officeDocument/2006/relationships/slide" Target="slides/slide47.xml"/><Relationship Id="rId72" Type="http://schemas.openxmlformats.org/officeDocument/2006/relationships/slide" Target="slides/slide68.xml"/><Relationship Id="rId80" Type="http://schemas.openxmlformats.org/officeDocument/2006/relationships/slide" Target="slides/slide76.xml"/><Relationship Id="rId85" Type="http://schemas.openxmlformats.org/officeDocument/2006/relationships/slide" Target="slides/slide81.xml"/><Relationship Id="rId93" Type="http://schemas.openxmlformats.org/officeDocument/2006/relationships/slide" Target="slides/slide89.xml"/><Relationship Id="rId98" Type="http://schemas.openxmlformats.org/officeDocument/2006/relationships/slide" Target="slides/slide94.xml"/><Relationship Id="rId121" Type="http://schemas.openxmlformats.org/officeDocument/2006/relationships/slide" Target="slides/slide117.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openxmlformats.org/officeDocument/2006/relationships/slide" Target="slides/slide55.xml"/><Relationship Id="rId67" Type="http://schemas.openxmlformats.org/officeDocument/2006/relationships/slide" Target="slides/slide63.xml"/><Relationship Id="rId103" Type="http://schemas.openxmlformats.org/officeDocument/2006/relationships/slide" Target="slides/slide99.xml"/><Relationship Id="rId108" Type="http://schemas.openxmlformats.org/officeDocument/2006/relationships/slide" Target="slides/slide104.xml"/><Relationship Id="rId116" Type="http://schemas.openxmlformats.org/officeDocument/2006/relationships/slide" Target="slides/slide112.xml"/><Relationship Id="rId124" Type="http://schemas.openxmlformats.org/officeDocument/2006/relationships/slide" Target="slides/slide120.xml"/><Relationship Id="rId129" Type="http://schemas.openxmlformats.org/officeDocument/2006/relationships/slide" Target="slides/slide125.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slide" Target="slides/slide50.xml"/><Relationship Id="rId62" Type="http://schemas.openxmlformats.org/officeDocument/2006/relationships/slide" Target="slides/slide58.xml"/><Relationship Id="rId70" Type="http://schemas.openxmlformats.org/officeDocument/2006/relationships/slide" Target="slides/slide66.xml"/><Relationship Id="rId75" Type="http://schemas.openxmlformats.org/officeDocument/2006/relationships/slide" Target="slides/slide71.xml"/><Relationship Id="rId83" Type="http://schemas.openxmlformats.org/officeDocument/2006/relationships/slide" Target="slides/slide79.xml"/><Relationship Id="rId88" Type="http://schemas.openxmlformats.org/officeDocument/2006/relationships/slide" Target="slides/slide84.xml"/><Relationship Id="rId91" Type="http://schemas.openxmlformats.org/officeDocument/2006/relationships/slide" Target="slides/slide87.xml"/><Relationship Id="rId96" Type="http://schemas.openxmlformats.org/officeDocument/2006/relationships/slide" Target="slides/slide92.xml"/><Relationship Id="rId111" Type="http://schemas.openxmlformats.org/officeDocument/2006/relationships/slide" Target="slides/slide107.xml"/><Relationship Id="rId132"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slide" Target="slides/slide53.xml"/><Relationship Id="rId106" Type="http://schemas.openxmlformats.org/officeDocument/2006/relationships/slide" Target="slides/slide102.xml"/><Relationship Id="rId114" Type="http://schemas.openxmlformats.org/officeDocument/2006/relationships/slide" Target="slides/slide110.xml"/><Relationship Id="rId119" Type="http://schemas.openxmlformats.org/officeDocument/2006/relationships/slide" Target="slides/slide115.xml"/><Relationship Id="rId127" Type="http://schemas.openxmlformats.org/officeDocument/2006/relationships/slide" Target="slides/slide123.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openxmlformats.org/officeDocument/2006/relationships/slide" Target="slides/slide56.xml"/><Relationship Id="rId65" Type="http://schemas.openxmlformats.org/officeDocument/2006/relationships/slide" Target="slides/slide61.xml"/><Relationship Id="rId73" Type="http://schemas.openxmlformats.org/officeDocument/2006/relationships/slide" Target="slides/slide69.xml"/><Relationship Id="rId78" Type="http://schemas.openxmlformats.org/officeDocument/2006/relationships/slide" Target="slides/slide74.xml"/><Relationship Id="rId81" Type="http://schemas.openxmlformats.org/officeDocument/2006/relationships/slide" Target="slides/slide77.xml"/><Relationship Id="rId86" Type="http://schemas.openxmlformats.org/officeDocument/2006/relationships/slide" Target="slides/slide82.xml"/><Relationship Id="rId94" Type="http://schemas.openxmlformats.org/officeDocument/2006/relationships/slide" Target="slides/slide90.xml"/><Relationship Id="rId99" Type="http://schemas.openxmlformats.org/officeDocument/2006/relationships/slide" Target="slides/slide95.xml"/><Relationship Id="rId101" Type="http://schemas.openxmlformats.org/officeDocument/2006/relationships/slide" Target="slides/slide97.xml"/><Relationship Id="rId122" Type="http://schemas.openxmlformats.org/officeDocument/2006/relationships/slide" Target="slides/slide118.xml"/><Relationship Id="rId130" Type="http://schemas.openxmlformats.org/officeDocument/2006/relationships/notesMaster" Target="notesMasters/notesMaster1.xml"/><Relationship Id="rId135" Type="http://schemas.microsoft.com/office/2016/11/relationships/changesInfo" Target="changesInfos/changesInfo1.xml"/><Relationship Id="rId4" Type="http://schemas.openxmlformats.org/officeDocument/2006/relationships/slideMaster" Target="slideMasters/slideMaster1.xml"/><Relationship Id="rId9" Type="http://schemas.openxmlformats.org/officeDocument/2006/relationships/slide" Target="slides/slide5.xml"/><Relationship Id="rId13" Type="http://schemas.openxmlformats.org/officeDocument/2006/relationships/slide" Target="slides/slide9.xml"/><Relationship Id="rId18" Type="http://schemas.openxmlformats.org/officeDocument/2006/relationships/slide" Target="slides/slide14.xml"/><Relationship Id="rId39" Type="http://schemas.openxmlformats.org/officeDocument/2006/relationships/slide" Target="slides/slide35.xml"/><Relationship Id="rId109" Type="http://schemas.openxmlformats.org/officeDocument/2006/relationships/slide" Target="slides/slide105.xml"/><Relationship Id="rId34" Type="http://schemas.openxmlformats.org/officeDocument/2006/relationships/slide" Target="slides/slide30.xml"/><Relationship Id="rId50" Type="http://schemas.openxmlformats.org/officeDocument/2006/relationships/slide" Target="slides/slide46.xml"/><Relationship Id="rId55" Type="http://schemas.openxmlformats.org/officeDocument/2006/relationships/slide" Target="slides/slide51.xml"/><Relationship Id="rId76" Type="http://schemas.openxmlformats.org/officeDocument/2006/relationships/slide" Target="slides/slide72.xml"/><Relationship Id="rId97" Type="http://schemas.openxmlformats.org/officeDocument/2006/relationships/slide" Target="slides/slide93.xml"/><Relationship Id="rId104" Type="http://schemas.openxmlformats.org/officeDocument/2006/relationships/slide" Target="slides/slide100.xml"/><Relationship Id="rId120" Type="http://schemas.openxmlformats.org/officeDocument/2006/relationships/slide" Target="slides/slide116.xml"/><Relationship Id="rId125" Type="http://schemas.openxmlformats.org/officeDocument/2006/relationships/slide" Target="slides/slide121.xml"/><Relationship Id="rId7" Type="http://schemas.openxmlformats.org/officeDocument/2006/relationships/slide" Target="slides/slide3.xml"/><Relationship Id="rId71" Type="http://schemas.openxmlformats.org/officeDocument/2006/relationships/slide" Target="slides/slide67.xml"/><Relationship Id="rId92" Type="http://schemas.openxmlformats.org/officeDocument/2006/relationships/slide" Target="slides/slide88.xml"/><Relationship Id="rId2" Type="http://schemas.openxmlformats.org/officeDocument/2006/relationships/customXml" Target="../customXml/item2.xml"/><Relationship Id="rId29" Type="http://schemas.openxmlformats.org/officeDocument/2006/relationships/slide" Target="slides/slide25.xml"/><Relationship Id="rId24" Type="http://schemas.openxmlformats.org/officeDocument/2006/relationships/slide" Target="slides/slide20.xml"/><Relationship Id="rId40" Type="http://schemas.openxmlformats.org/officeDocument/2006/relationships/slide" Target="slides/slide36.xml"/><Relationship Id="rId45" Type="http://schemas.openxmlformats.org/officeDocument/2006/relationships/slide" Target="slides/slide41.xml"/><Relationship Id="rId66" Type="http://schemas.openxmlformats.org/officeDocument/2006/relationships/slide" Target="slides/slide62.xml"/><Relationship Id="rId87" Type="http://schemas.openxmlformats.org/officeDocument/2006/relationships/slide" Target="slides/slide83.xml"/><Relationship Id="rId110" Type="http://schemas.openxmlformats.org/officeDocument/2006/relationships/slide" Target="slides/slide106.xml"/><Relationship Id="rId115" Type="http://schemas.openxmlformats.org/officeDocument/2006/relationships/slide" Target="slides/slide111.xml"/><Relationship Id="rId131" Type="http://schemas.openxmlformats.org/officeDocument/2006/relationships/presProps" Target="presProps.xml"/><Relationship Id="rId61" Type="http://schemas.openxmlformats.org/officeDocument/2006/relationships/slide" Target="slides/slide57.xml"/><Relationship Id="rId82" Type="http://schemas.openxmlformats.org/officeDocument/2006/relationships/slide" Target="slides/slide78.xml"/><Relationship Id="rId19" Type="http://schemas.openxmlformats.org/officeDocument/2006/relationships/slide" Target="slides/slide15.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Veal, Breanna" userId="9dd65cb9-b789-4014-8a75-5340e8ea9a9e" providerId="ADAL" clId="{ACED115F-8C23-4612-8EFF-7965D144131C}"/>
    <pc:docChg chg="custSel modSld">
      <pc:chgData name="Veal, Breanna" userId="9dd65cb9-b789-4014-8a75-5340e8ea9a9e" providerId="ADAL" clId="{ACED115F-8C23-4612-8EFF-7965D144131C}" dt="2026-10-04T02:17:35.867" v="201" actId="368"/>
      <pc:docMkLst>
        <pc:docMk/>
      </pc:docMkLst>
      <pc:sldChg chg="modNotes">
        <pc:chgData name="Veal, Breanna" userId="9dd65cb9-b789-4014-8a75-5340e8ea9a9e" providerId="ADAL" clId="{ACED115F-8C23-4612-8EFF-7965D144131C}" dt="2026-10-04T02:17:34.768" v="1" actId="368"/>
        <pc:sldMkLst>
          <pc:docMk/>
          <pc:sldMk cId="2466737815" sldId="256"/>
        </pc:sldMkLst>
      </pc:sldChg>
      <pc:sldChg chg="modNotes">
        <pc:chgData name="Veal, Breanna" userId="9dd65cb9-b789-4014-8a75-5340e8ea9a9e" providerId="ADAL" clId="{ACED115F-8C23-4612-8EFF-7965D144131C}" dt="2026-10-04T02:17:34.781" v="3" actId="368"/>
        <pc:sldMkLst>
          <pc:docMk/>
          <pc:sldMk cId="396282184" sldId="257"/>
        </pc:sldMkLst>
      </pc:sldChg>
      <pc:sldChg chg="modNotes">
        <pc:chgData name="Veal, Breanna" userId="9dd65cb9-b789-4014-8a75-5340e8ea9a9e" providerId="ADAL" clId="{ACED115F-8C23-4612-8EFF-7965D144131C}" dt="2026-10-04T02:17:34.867" v="21" actId="368"/>
        <pc:sldMkLst>
          <pc:docMk/>
          <pc:sldMk cId="3760940927" sldId="260"/>
        </pc:sldMkLst>
      </pc:sldChg>
      <pc:sldChg chg="modNotes">
        <pc:chgData name="Veal, Breanna" userId="9dd65cb9-b789-4014-8a75-5340e8ea9a9e" providerId="ADAL" clId="{ACED115F-8C23-4612-8EFF-7965D144131C}" dt="2026-10-04T02:17:34.882" v="23" actId="368"/>
        <pc:sldMkLst>
          <pc:docMk/>
          <pc:sldMk cId="2062127159" sldId="262"/>
        </pc:sldMkLst>
      </pc:sldChg>
      <pc:sldChg chg="modNotes">
        <pc:chgData name="Veal, Breanna" userId="9dd65cb9-b789-4014-8a75-5340e8ea9a9e" providerId="ADAL" clId="{ACED115F-8C23-4612-8EFF-7965D144131C}" dt="2026-10-04T02:17:34.893" v="25" actId="368"/>
        <pc:sldMkLst>
          <pc:docMk/>
          <pc:sldMk cId="1958343879" sldId="264"/>
        </pc:sldMkLst>
      </pc:sldChg>
      <pc:sldChg chg="modNotes">
        <pc:chgData name="Veal, Breanna" userId="9dd65cb9-b789-4014-8a75-5340e8ea9a9e" providerId="ADAL" clId="{ACED115F-8C23-4612-8EFF-7965D144131C}" dt="2026-10-04T02:17:34.909" v="27" actId="368"/>
        <pc:sldMkLst>
          <pc:docMk/>
          <pc:sldMk cId="973906670" sldId="272"/>
        </pc:sldMkLst>
      </pc:sldChg>
      <pc:sldChg chg="modNotes">
        <pc:chgData name="Veal, Breanna" userId="9dd65cb9-b789-4014-8a75-5340e8ea9a9e" providerId="ADAL" clId="{ACED115F-8C23-4612-8EFF-7965D144131C}" dt="2026-10-04T02:17:34.929" v="31" actId="368"/>
        <pc:sldMkLst>
          <pc:docMk/>
          <pc:sldMk cId="617122685" sldId="273"/>
        </pc:sldMkLst>
      </pc:sldChg>
      <pc:sldChg chg="modNotes">
        <pc:chgData name="Veal, Breanna" userId="9dd65cb9-b789-4014-8a75-5340e8ea9a9e" providerId="ADAL" clId="{ACED115F-8C23-4612-8EFF-7965D144131C}" dt="2026-10-04T02:17:34.956" v="37" actId="368"/>
        <pc:sldMkLst>
          <pc:docMk/>
          <pc:sldMk cId="3077398058" sldId="277"/>
        </pc:sldMkLst>
      </pc:sldChg>
      <pc:sldChg chg="modNotes">
        <pc:chgData name="Veal, Breanna" userId="9dd65cb9-b789-4014-8a75-5340e8ea9a9e" providerId="ADAL" clId="{ACED115F-8C23-4612-8EFF-7965D144131C}" dt="2026-10-04T02:17:35.432" v="139" actId="368"/>
        <pc:sldMkLst>
          <pc:docMk/>
          <pc:sldMk cId="3443893887" sldId="279"/>
        </pc:sldMkLst>
      </pc:sldChg>
      <pc:sldChg chg="modNotes">
        <pc:chgData name="Veal, Breanna" userId="9dd65cb9-b789-4014-8a75-5340e8ea9a9e" providerId="ADAL" clId="{ACED115F-8C23-4612-8EFF-7965D144131C}" dt="2026-10-04T02:17:35.463" v="145" actId="368"/>
        <pc:sldMkLst>
          <pc:docMk/>
          <pc:sldMk cId="877116776" sldId="280"/>
        </pc:sldMkLst>
      </pc:sldChg>
      <pc:sldChg chg="modNotes">
        <pc:chgData name="Veal, Breanna" userId="9dd65cb9-b789-4014-8a75-5340e8ea9a9e" providerId="ADAL" clId="{ACED115F-8C23-4612-8EFF-7965D144131C}" dt="2026-10-04T02:17:35.366" v="127" actId="368"/>
        <pc:sldMkLst>
          <pc:docMk/>
          <pc:sldMk cId="3469436890" sldId="281"/>
        </pc:sldMkLst>
      </pc:sldChg>
      <pc:sldChg chg="modNotes">
        <pc:chgData name="Veal, Breanna" userId="9dd65cb9-b789-4014-8a75-5340e8ea9a9e" providerId="ADAL" clId="{ACED115F-8C23-4612-8EFF-7965D144131C}" dt="2026-10-04T02:17:34.974" v="43" actId="368"/>
        <pc:sldMkLst>
          <pc:docMk/>
          <pc:sldMk cId="1712033285" sldId="283"/>
        </pc:sldMkLst>
      </pc:sldChg>
      <pc:sldChg chg="modNotes">
        <pc:chgData name="Veal, Breanna" userId="9dd65cb9-b789-4014-8a75-5340e8ea9a9e" providerId="ADAL" clId="{ACED115F-8C23-4612-8EFF-7965D144131C}" dt="2026-10-04T02:17:35.029" v="53" actId="368"/>
        <pc:sldMkLst>
          <pc:docMk/>
          <pc:sldMk cId="977762279" sldId="284"/>
        </pc:sldMkLst>
      </pc:sldChg>
      <pc:sldChg chg="modNotes">
        <pc:chgData name="Veal, Breanna" userId="9dd65cb9-b789-4014-8a75-5340e8ea9a9e" providerId="ADAL" clId="{ACED115F-8C23-4612-8EFF-7965D144131C}" dt="2026-10-04T02:17:35.114" v="73" actId="368"/>
        <pc:sldMkLst>
          <pc:docMk/>
          <pc:sldMk cId="3068930648" sldId="285"/>
        </pc:sldMkLst>
      </pc:sldChg>
      <pc:sldChg chg="modNotes">
        <pc:chgData name="Veal, Breanna" userId="9dd65cb9-b789-4014-8a75-5340e8ea9a9e" providerId="ADAL" clId="{ACED115F-8C23-4612-8EFF-7965D144131C}" dt="2026-10-04T02:17:35.090" v="67" actId="368"/>
        <pc:sldMkLst>
          <pc:docMk/>
          <pc:sldMk cId="1334808220" sldId="286"/>
        </pc:sldMkLst>
      </pc:sldChg>
      <pc:sldChg chg="modNotes">
        <pc:chgData name="Veal, Breanna" userId="9dd65cb9-b789-4014-8a75-5340e8ea9a9e" providerId="ADAL" clId="{ACED115F-8C23-4612-8EFF-7965D144131C}" dt="2026-10-04T02:17:35.097" v="69" actId="368"/>
        <pc:sldMkLst>
          <pc:docMk/>
          <pc:sldMk cId="3157032779" sldId="287"/>
        </pc:sldMkLst>
      </pc:sldChg>
      <pc:sldChg chg="modNotes">
        <pc:chgData name="Veal, Breanna" userId="9dd65cb9-b789-4014-8a75-5340e8ea9a9e" providerId="ADAL" clId="{ACED115F-8C23-4612-8EFF-7965D144131C}" dt="2026-10-04T02:17:35.160" v="85" actId="368"/>
        <pc:sldMkLst>
          <pc:docMk/>
          <pc:sldMk cId="1204225670" sldId="288"/>
        </pc:sldMkLst>
      </pc:sldChg>
      <pc:sldChg chg="modNotes">
        <pc:chgData name="Veal, Breanna" userId="9dd65cb9-b789-4014-8a75-5340e8ea9a9e" providerId="ADAL" clId="{ACED115F-8C23-4612-8EFF-7965D144131C}" dt="2026-10-04T02:17:35.223" v="97" actId="368"/>
        <pc:sldMkLst>
          <pc:docMk/>
          <pc:sldMk cId="4062101086" sldId="290"/>
        </pc:sldMkLst>
      </pc:sldChg>
      <pc:sldChg chg="modNotes">
        <pc:chgData name="Veal, Breanna" userId="9dd65cb9-b789-4014-8a75-5340e8ea9a9e" providerId="ADAL" clId="{ACED115F-8C23-4612-8EFF-7965D144131C}" dt="2026-10-04T02:17:35.129" v="77" actId="368"/>
        <pc:sldMkLst>
          <pc:docMk/>
          <pc:sldMk cId="4048183704" sldId="292"/>
        </pc:sldMkLst>
      </pc:sldChg>
      <pc:sldChg chg="modNotes">
        <pc:chgData name="Veal, Breanna" userId="9dd65cb9-b789-4014-8a75-5340e8ea9a9e" providerId="ADAL" clId="{ACED115F-8C23-4612-8EFF-7965D144131C}" dt="2026-10-04T02:17:35.152" v="81" actId="368"/>
        <pc:sldMkLst>
          <pc:docMk/>
          <pc:sldMk cId="3401060982" sldId="293"/>
        </pc:sldMkLst>
      </pc:sldChg>
      <pc:sldChg chg="modNotes">
        <pc:chgData name="Veal, Breanna" userId="9dd65cb9-b789-4014-8a75-5340e8ea9a9e" providerId="ADAL" clId="{ACED115F-8C23-4612-8EFF-7965D144131C}" dt="2026-10-04T02:17:35.152" v="83" actId="368"/>
        <pc:sldMkLst>
          <pc:docMk/>
          <pc:sldMk cId="3305242692" sldId="294"/>
        </pc:sldMkLst>
      </pc:sldChg>
      <pc:sldChg chg="modNotes">
        <pc:chgData name="Veal, Breanna" userId="9dd65cb9-b789-4014-8a75-5340e8ea9a9e" providerId="ADAL" clId="{ACED115F-8C23-4612-8EFF-7965D144131C}" dt="2026-10-04T02:17:35.182" v="89" actId="368"/>
        <pc:sldMkLst>
          <pc:docMk/>
          <pc:sldMk cId="984640202" sldId="295"/>
        </pc:sldMkLst>
      </pc:sldChg>
      <pc:sldChg chg="modNotes">
        <pc:chgData name="Veal, Breanna" userId="9dd65cb9-b789-4014-8a75-5340e8ea9a9e" providerId="ADAL" clId="{ACED115F-8C23-4612-8EFF-7965D144131C}" dt="2026-10-04T02:17:35.291" v="109" actId="368"/>
        <pc:sldMkLst>
          <pc:docMk/>
          <pc:sldMk cId="319625529" sldId="296"/>
        </pc:sldMkLst>
      </pc:sldChg>
      <pc:sldChg chg="modNotes">
        <pc:chgData name="Veal, Breanna" userId="9dd65cb9-b789-4014-8a75-5340e8ea9a9e" providerId="ADAL" clId="{ACED115F-8C23-4612-8EFF-7965D144131C}" dt="2026-10-04T02:17:35.300" v="111" actId="368"/>
        <pc:sldMkLst>
          <pc:docMk/>
          <pc:sldMk cId="423666916" sldId="297"/>
        </pc:sldMkLst>
      </pc:sldChg>
      <pc:sldChg chg="modNotes">
        <pc:chgData name="Veal, Breanna" userId="9dd65cb9-b789-4014-8a75-5340e8ea9a9e" providerId="ADAL" clId="{ACED115F-8C23-4612-8EFF-7965D144131C}" dt="2026-10-04T02:17:35.302" v="115" actId="368"/>
        <pc:sldMkLst>
          <pc:docMk/>
          <pc:sldMk cId="150491993" sldId="298"/>
        </pc:sldMkLst>
      </pc:sldChg>
      <pc:sldChg chg="modNotes">
        <pc:chgData name="Veal, Breanna" userId="9dd65cb9-b789-4014-8a75-5340e8ea9a9e" providerId="ADAL" clId="{ACED115F-8C23-4612-8EFF-7965D144131C}" dt="2026-10-04T02:17:35.324" v="119" actId="368"/>
        <pc:sldMkLst>
          <pc:docMk/>
          <pc:sldMk cId="3123605290" sldId="299"/>
        </pc:sldMkLst>
      </pc:sldChg>
      <pc:sldChg chg="modNotes">
        <pc:chgData name="Veal, Breanna" userId="9dd65cb9-b789-4014-8a75-5340e8ea9a9e" providerId="ADAL" clId="{ACED115F-8C23-4612-8EFF-7965D144131C}" dt="2026-10-04T02:17:35.349" v="123" actId="368"/>
        <pc:sldMkLst>
          <pc:docMk/>
          <pc:sldMk cId="4105337134" sldId="300"/>
        </pc:sldMkLst>
      </pc:sldChg>
      <pc:sldChg chg="modNotes">
        <pc:chgData name="Veal, Breanna" userId="9dd65cb9-b789-4014-8a75-5340e8ea9a9e" providerId="ADAL" clId="{ACED115F-8C23-4612-8EFF-7965D144131C}" dt="2026-10-04T02:17:35.380" v="129" actId="368"/>
        <pc:sldMkLst>
          <pc:docMk/>
          <pc:sldMk cId="2964011960" sldId="302"/>
        </pc:sldMkLst>
      </pc:sldChg>
      <pc:sldChg chg="modNotes">
        <pc:chgData name="Veal, Breanna" userId="9dd65cb9-b789-4014-8a75-5340e8ea9a9e" providerId="ADAL" clId="{ACED115F-8C23-4612-8EFF-7965D144131C}" dt="2026-10-04T02:17:35.389" v="131" actId="368"/>
        <pc:sldMkLst>
          <pc:docMk/>
          <pc:sldMk cId="2707388334" sldId="303"/>
        </pc:sldMkLst>
      </pc:sldChg>
      <pc:sldChg chg="modNotes">
        <pc:chgData name="Veal, Breanna" userId="9dd65cb9-b789-4014-8a75-5340e8ea9a9e" providerId="ADAL" clId="{ACED115F-8C23-4612-8EFF-7965D144131C}" dt="2026-10-04T02:17:35.398" v="133" actId="368"/>
        <pc:sldMkLst>
          <pc:docMk/>
          <pc:sldMk cId="3520840721" sldId="304"/>
        </pc:sldMkLst>
      </pc:sldChg>
      <pc:sldChg chg="modNotes">
        <pc:chgData name="Veal, Breanna" userId="9dd65cb9-b789-4014-8a75-5340e8ea9a9e" providerId="ADAL" clId="{ACED115F-8C23-4612-8EFF-7965D144131C}" dt="2026-10-04T02:17:35.414" v="137" actId="368"/>
        <pc:sldMkLst>
          <pc:docMk/>
          <pc:sldMk cId="2726528376" sldId="307"/>
        </pc:sldMkLst>
      </pc:sldChg>
      <pc:sldChg chg="modNotes">
        <pc:chgData name="Veal, Breanna" userId="9dd65cb9-b789-4014-8a75-5340e8ea9a9e" providerId="ADAL" clId="{ACED115F-8C23-4612-8EFF-7965D144131C}" dt="2026-10-04T02:17:35.482" v="149" actId="368"/>
        <pc:sldMkLst>
          <pc:docMk/>
          <pc:sldMk cId="2381006339" sldId="308"/>
        </pc:sldMkLst>
      </pc:sldChg>
      <pc:sldChg chg="modNotes">
        <pc:chgData name="Veal, Breanna" userId="9dd65cb9-b789-4014-8a75-5340e8ea9a9e" providerId="ADAL" clId="{ACED115F-8C23-4612-8EFF-7965D144131C}" dt="2026-10-04T02:17:35.491" v="151" actId="368"/>
        <pc:sldMkLst>
          <pc:docMk/>
          <pc:sldMk cId="2456477478" sldId="309"/>
        </pc:sldMkLst>
      </pc:sldChg>
      <pc:sldChg chg="modNotes">
        <pc:chgData name="Veal, Breanna" userId="9dd65cb9-b789-4014-8a75-5340e8ea9a9e" providerId="ADAL" clId="{ACED115F-8C23-4612-8EFF-7965D144131C}" dt="2026-10-04T02:17:35.502" v="153" actId="368"/>
        <pc:sldMkLst>
          <pc:docMk/>
          <pc:sldMk cId="2691888096" sldId="311"/>
        </pc:sldMkLst>
      </pc:sldChg>
      <pc:sldChg chg="modNotes">
        <pc:chgData name="Veal, Breanna" userId="9dd65cb9-b789-4014-8a75-5340e8ea9a9e" providerId="ADAL" clId="{ACED115F-8C23-4612-8EFF-7965D144131C}" dt="2026-10-04T02:17:35.531" v="157" actId="368"/>
        <pc:sldMkLst>
          <pc:docMk/>
          <pc:sldMk cId="1733882238" sldId="313"/>
        </pc:sldMkLst>
      </pc:sldChg>
      <pc:sldChg chg="modNotes">
        <pc:chgData name="Veal, Breanna" userId="9dd65cb9-b789-4014-8a75-5340e8ea9a9e" providerId="ADAL" clId="{ACED115F-8C23-4612-8EFF-7965D144131C}" dt="2026-10-04T02:17:35.519" v="155" actId="368"/>
        <pc:sldMkLst>
          <pc:docMk/>
          <pc:sldMk cId="1507548257" sldId="314"/>
        </pc:sldMkLst>
      </pc:sldChg>
      <pc:sldChg chg="modNotes">
        <pc:chgData name="Veal, Breanna" userId="9dd65cb9-b789-4014-8a75-5340e8ea9a9e" providerId="ADAL" clId="{ACED115F-8C23-4612-8EFF-7965D144131C}" dt="2026-10-04T02:17:35.558" v="159" actId="368"/>
        <pc:sldMkLst>
          <pc:docMk/>
          <pc:sldMk cId="3150939106" sldId="317"/>
        </pc:sldMkLst>
      </pc:sldChg>
      <pc:sldChg chg="modNotes">
        <pc:chgData name="Veal, Breanna" userId="9dd65cb9-b789-4014-8a75-5340e8ea9a9e" providerId="ADAL" clId="{ACED115F-8C23-4612-8EFF-7965D144131C}" dt="2026-10-04T02:17:35.588" v="163" actId="368"/>
        <pc:sldMkLst>
          <pc:docMk/>
          <pc:sldMk cId="892761514" sldId="319"/>
        </pc:sldMkLst>
      </pc:sldChg>
      <pc:sldChg chg="modNotes">
        <pc:chgData name="Veal, Breanna" userId="9dd65cb9-b789-4014-8a75-5340e8ea9a9e" providerId="ADAL" clId="{ACED115F-8C23-4612-8EFF-7965D144131C}" dt="2026-10-04T02:17:35.597" v="165" actId="368"/>
        <pc:sldMkLst>
          <pc:docMk/>
          <pc:sldMk cId="23563681" sldId="320"/>
        </pc:sldMkLst>
      </pc:sldChg>
      <pc:sldChg chg="modNotes">
        <pc:chgData name="Veal, Breanna" userId="9dd65cb9-b789-4014-8a75-5340e8ea9a9e" providerId="ADAL" clId="{ACED115F-8C23-4612-8EFF-7965D144131C}" dt="2026-10-04T02:17:35.618" v="169" actId="368"/>
        <pc:sldMkLst>
          <pc:docMk/>
          <pc:sldMk cId="2320957788" sldId="321"/>
        </pc:sldMkLst>
      </pc:sldChg>
      <pc:sldChg chg="modNotes">
        <pc:chgData name="Veal, Breanna" userId="9dd65cb9-b789-4014-8a75-5340e8ea9a9e" providerId="ADAL" clId="{ACED115F-8C23-4612-8EFF-7965D144131C}" dt="2026-10-04T02:17:35.656" v="173" actId="368"/>
        <pc:sldMkLst>
          <pc:docMk/>
          <pc:sldMk cId="342542969" sldId="323"/>
        </pc:sldMkLst>
      </pc:sldChg>
      <pc:sldChg chg="modNotes">
        <pc:chgData name="Veal, Breanna" userId="9dd65cb9-b789-4014-8a75-5340e8ea9a9e" providerId="ADAL" clId="{ACED115F-8C23-4612-8EFF-7965D144131C}" dt="2026-10-04T02:17:35.632" v="171" actId="368"/>
        <pc:sldMkLst>
          <pc:docMk/>
          <pc:sldMk cId="1612736448" sldId="324"/>
        </pc:sldMkLst>
      </pc:sldChg>
      <pc:sldChg chg="modNotes">
        <pc:chgData name="Veal, Breanna" userId="9dd65cb9-b789-4014-8a75-5340e8ea9a9e" providerId="ADAL" clId="{ACED115F-8C23-4612-8EFF-7965D144131C}" dt="2026-10-04T02:17:35.669" v="175" actId="368"/>
        <pc:sldMkLst>
          <pc:docMk/>
          <pc:sldMk cId="2516015897" sldId="325"/>
        </pc:sldMkLst>
      </pc:sldChg>
      <pc:sldChg chg="modNotes">
        <pc:chgData name="Veal, Breanna" userId="9dd65cb9-b789-4014-8a75-5340e8ea9a9e" providerId="ADAL" clId="{ACED115F-8C23-4612-8EFF-7965D144131C}" dt="2026-10-04T02:17:35.679" v="177" actId="368"/>
        <pc:sldMkLst>
          <pc:docMk/>
          <pc:sldMk cId="1030606759" sldId="327"/>
        </pc:sldMkLst>
      </pc:sldChg>
      <pc:sldChg chg="modNotes">
        <pc:chgData name="Veal, Breanna" userId="9dd65cb9-b789-4014-8a75-5340e8ea9a9e" providerId="ADAL" clId="{ACED115F-8C23-4612-8EFF-7965D144131C}" dt="2026-10-04T02:17:35.698" v="179" actId="368"/>
        <pc:sldMkLst>
          <pc:docMk/>
          <pc:sldMk cId="3004513925" sldId="328"/>
        </pc:sldMkLst>
      </pc:sldChg>
      <pc:sldChg chg="modNotes">
        <pc:chgData name="Veal, Breanna" userId="9dd65cb9-b789-4014-8a75-5340e8ea9a9e" providerId="ADAL" clId="{ACED115F-8C23-4612-8EFF-7965D144131C}" dt="2026-10-04T02:17:35.723" v="181" actId="368"/>
        <pc:sldMkLst>
          <pc:docMk/>
          <pc:sldMk cId="4024362315" sldId="329"/>
        </pc:sldMkLst>
      </pc:sldChg>
      <pc:sldChg chg="modNotes">
        <pc:chgData name="Veal, Breanna" userId="9dd65cb9-b789-4014-8a75-5340e8ea9a9e" providerId="ADAL" clId="{ACED115F-8C23-4612-8EFF-7965D144131C}" dt="2026-10-04T02:17:35.762" v="187" actId="368"/>
        <pc:sldMkLst>
          <pc:docMk/>
          <pc:sldMk cId="1281909422" sldId="332"/>
        </pc:sldMkLst>
      </pc:sldChg>
      <pc:sldChg chg="modNotes">
        <pc:chgData name="Veal, Breanna" userId="9dd65cb9-b789-4014-8a75-5340e8ea9a9e" providerId="ADAL" clId="{ACED115F-8C23-4612-8EFF-7965D144131C}" dt="2026-10-04T02:17:35.748" v="185" actId="368"/>
        <pc:sldMkLst>
          <pc:docMk/>
          <pc:sldMk cId="1268622257" sldId="333"/>
        </pc:sldMkLst>
      </pc:sldChg>
      <pc:sldChg chg="modNotes">
        <pc:chgData name="Veal, Breanna" userId="9dd65cb9-b789-4014-8a75-5340e8ea9a9e" providerId="ADAL" clId="{ACED115F-8C23-4612-8EFF-7965D144131C}" dt="2026-10-04T02:17:35.774" v="189" actId="368"/>
        <pc:sldMkLst>
          <pc:docMk/>
          <pc:sldMk cId="3619012204" sldId="335"/>
        </pc:sldMkLst>
      </pc:sldChg>
      <pc:sldChg chg="modNotes">
        <pc:chgData name="Veal, Breanna" userId="9dd65cb9-b789-4014-8a75-5340e8ea9a9e" providerId="ADAL" clId="{ACED115F-8C23-4612-8EFF-7965D144131C}" dt="2026-10-04T02:17:35.789" v="191" actId="368"/>
        <pc:sldMkLst>
          <pc:docMk/>
          <pc:sldMk cId="3475157860" sldId="336"/>
        </pc:sldMkLst>
      </pc:sldChg>
      <pc:sldChg chg="modNotes">
        <pc:chgData name="Veal, Breanna" userId="9dd65cb9-b789-4014-8a75-5340e8ea9a9e" providerId="ADAL" clId="{ACED115F-8C23-4612-8EFF-7965D144131C}" dt="2026-10-04T02:17:35.805" v="193" actId="368"/>
        <pc:sldMkLst>
          <pc:docMk/>
          <pc:sldMk cId="2212749993" sldId="337"/>
        </pc:sldMkLst>
      </pc:sldChg>
      <pc:sldChg chg="modNotes">
        <pc:chgData name="Veal, Breanna" userId="9dd65cb9-b789-4014-8a75-5340e8ea9a9e" providerId="ADAL" clId="{ACED115F-8C23-4612-8EFF-7965D144131C}" dt="2026-10-04T02:17:35.821" v="195" actId="368"/>
        <pc:sldMkLst>
          <pc:docMk/>
          <pc:sldMk cId="2517048446" sldId="338"/>
        </pc:sldMkLst>
      </pc:sldChg>
      <pc:sldChg chg="modNotes">
        <pc:chgData name="Veal, Breanna" userId="9dd65cb9-b789-4014-8a75-5340e8ea9a9e" providerId="ADAL" clId="{ACED115F-8C23-4612-8EFF-7965D144131C}" dt="2026-10-04T02:17:35.843" v="197" actId="368"/>
        <pc:sldMkLst>
          <pc:docMk/>
          <pc:sldMk cId="135911138" sldId="340"/>
        </pc:sldMkLst>
      </pc:sldChg>
      <pc:sldChg chg="modNotes">
        <pc:chgData name="Veal, Breanna" userId="9dd65cb9-b789-4014-8a75-5340e8ea9a9e" providerId="ADAL" clId="{ACED115F-8C23-4612-8EFF-7965D144131C}" dt="2026-10-04T02:17:35.097" v="71" actId="368"/>
        <pc:sldMkLst>
          <pc:docMk/>
          <pc:sldMk cId="1850076447" sldId="344"/>
        </pc:sldMkLst>
      </pc:sldChg>
      <pc:sldChg chg="modNotes">
        <pc:chgData name="Veal, Breanna" userId="9dd65cb9-b789-4014-8a75-5340e8ea9a9e" providerId="ADAL" clId="{ACED115F-8C23-4612-8EFF-7965D144131C}" dt="2026-10-04T02:17:35.855" v="199" actId="368"/>
        <pc:sldMkLst>
          <pc:docMk/>
          <pc:sldMk cId="3790217494" sldId="346"/>
        </pc:sldMkLst>
      </pc:sldChg>
      <pc:sldChg chg="modNotes">
        <pc:chgData name="Veal, Breanna" userId="9dd65cb9-b789-4014-8a75-5340e8ea9a9e" providerId="ADAL" clId="{ACED115F-8C23-4612-8EFF-7965D144131C}" dt="2026-10-04T02:17:35.867" v="201" actId="368"/>
        <pc:sldMkLst>
          <pc:docMk/>
          <pc:sldMk cId="731888550" sldId="347"/>
        </pc:sldMkLst>
      </pc:sldChg>
      <pc:sldChg chg="modNotes">
        <pc:chgData name="Veal, Breanna" userId="9dd65cb9-b789-4014-8a75-5340e8ea9a9e" providerId="ADAL" clId="{ACED115F-8C23-4612-8EFF-7965D144131C}" dt="2026-10-04T02:17:35.038" v="57" actId="368"/>
        <pc:sldMkLst>
          <pc:docMk/>
          <pc:sldMk cId="703618051" sldId="348"/>
        </pc:sldMkLst>
      </pc:sldChg>
      <pc:sldChg chg="modNotes">
        <pc:chgData name="Veal, Breanna" userId="9dd65cb9-b789-4014-8a75-5340e8ea9a9e" providerId="ADAL" clId="{ACED115F-8C23-4612-8EFF-7965D144131C}" dt="2026-10-04T02:17:35.324" v="117" actId="368"/>
        <pc:sldMkLst>
          <pc:docMk/>
          <pc:sldMk cId="577182612" sldId="349"/>
        </pc:sldMkLst>
      </pc:sldChg>
      <pc:sldChg chg="modNotes">
        <pc:chgData name="Veal, Breanna" userId="9dd65cb9-b789-4014-8a75-5340e8ea9a9e" providerId="ADAL" clId="{ACED115F-8C23-4612-8EFF-7965D144131C}" dt="2026-10-04T02:17:35.608" v="167" actId="368"/>
        <pc:sldMkLst>
          <pc:docMk/>
          <pc:sldMk cId="3870028575" sldId="350"/>
        </pc:sldMkLst>
      </pc:sldChg>
      <pc:sldChg chg="modNotes">
        <pc:chgData name="Veal, Breanna" userId="9dd65cb9-b789-4014-8a75-5340e8ea9a9e" providerId="ADAL" clId="{ACED115F-8C23-4612-8EFF-7965D144131C}" dt="2026-10-04T02:17:34.839" v="15" actId="368"/>
        <pc:sldMkLst>
          <pc:docMk/>
          <pc:sldMk cId="2435925822" sldId="351"/>
        </pc:sldMkLst>
      </pc:sldChg>
      <pc:sldChg chg="modNotes">
        <pc:chgData name="Veal, Breanna" userId="9dd65cb9-b789-4014-8a75-5340e8ea9a9e" providerId="ADAL" clId="{ACED115F-8C23-4612-8EFF-7965D144131C}" dt="2026-10-04T02:17:34.849" v="17" actId="368"/>
        <pc:sldMkLst>
          <pc:docMk/>
          <pc:sldMk cId="3880403693" sldId="353"/>
        </pc:sldMkLst>
      </pc:sldChg>
      <pc:sldChg chg="modNotes">
        <pc:chgData name="Veal, Breanna" userId="9dd65cb9-b789-4014-8a75-5340e8ea9a9e" providerId="ADAL" clId="{ACED115F-8C23-4612-8EFF-7965D144131C}" dt="2026-10-04T02:17:34.789" v="5" actId="368"/>
        <pc:sldMkLst>
          <pc:docMk/>
          <pc:sldMk cId="4275714498" sldId="354"/>
        </pc:sldMkLst>
      </pc:sldChg>
      <pc:sldChg chg="modNotes">
        <pc:chgData name="Veal, Breanna" userId="9dd65cb9-b789-4014-8a75-5340e8ea9a9e" providerId="ADAL" clId="{ACED115F-8C23-4612-8EFF-7965D144131C}" dt="2026-10-04T02:17:34.797" v="7" actId="368"/>
        <pc:sldMkLst>
          <pc:docMk/>
          <pc:sldMk cId="630211913" sldId="355"/>
        </pc:sldMkLst>
      </pc:sldChg>
      <pc:sldChg chg="modNotes">
        <pc:chgData name="Veal, Breanna" userId="9dd65cb9-b789-4014-8a75-5340e8ea9a9e" providerId="ADAL" clId="{ACED115F-8C23-4612-8EFF-7965D144131C}" dt="2026-10-04T02:17:34.799" v="9" actId="368"/>
        <pc:sldMkLst>
          <pc:docMk/>
          <pc:sldMk cId="7101218" sldId="356"/>
        </pc:sldMkLst>
      </pc:sldChg>
      <pc:sldChg chg="modNotes">
        <pc:chgData name="Veal, Breanna" userId="9dd65cb9-b789-4014-8a75-5340e8ea9a9e" providerId="ADAL" clId="{ACED115F-8C23-4612-8EFF-7965D144131C}" dt="2026-10-04T02:17:34.815" v="11" actId="368"/>
        <pc:sldMkLst>
          <pc:docMk/>
          <pc:sldMk cId="688316542" sldId="357"/>
        </pc:sldMkLst>
      </pc:sldChg>
      <pc:sldChg chg="modNotes">
        <pc:chgData name="Veal, Breanna" userId="9dd65cb9-b789-4014-8a75-5340e8ea9a9e" providerId="ADAL" clId="{ACED115F-8C23-4612-8EFF-7965D144131C}" dt="2026-10-04T02:17:34.849" v="19" actId="368"/>
        <pc:sldMkLst>
          <pc:docMk/>
          <pc:sldMk cId="2542070799" sldId="358"/>
        </pc:sldMkLst>
      </pc:sldChg>
      <pc:sldChg chg="modNotes">
        <pc:chgData name="Veal, Breanna" userId="9dd65cb9-b789-4014-8a75-5340e8ea9a9e" providerId="ADAL" clId="{ACED115F-8C23-4612-8EFF-7965D144131C}" dt="2026-10-04T02:17:34.909" v="29" actId="368"/>
        <pc:sldMkLst>
          <pc:docMk/>
          <pc:sldMk cId="2990205175" sldId="359"/>
        </pc:sldMkLst>
      </pc:sldChg>
      <pc:sldChg chg="modNotes">
        <pc:chgData name="Veal, Breanna" userId="9dd65cb9-b789-4014-8a75-5340e8ea9a9e" providerId="ADAL" clId="{ACED115F-8C23-4612-8EFF-7965D144131C}" dt="2026-10-04T02:17:34.938" v="33" actId="368"/>
        <pc:sldMkLst>
          <pc:docMk/>
          <pc:sldMk cId="1413029792" sldId="360"/>
        </pc:sldMkLst>
      </pc:sldChg>
      <pc:sldChg chg="modNotes">
        <pc:chgData name="Veal, Breanna" userId="9dd65cb9-b789-4014-8a75-5340e8ea9a9e" providerId="ADAL" clId="{ACED115F-8C23-4612-8EFF-7965D144131C}" dt="2026-10-04T02:17:34.946" v="35" actId="368"/>
        <pc:sldMkLst>
          <pc:docMk/>
          <pc:sldMk cId="4230014390" sldId="361"/>
        </pc:sldMkLst>
      </pc:sldChg>
      <pc:sldChg chg="modNotes">
        <pc:chgData name="Veal, Breanna" userId="9dd65cb9-b789-4014-8a75-5340e8ea9a9e" providerId="ADAL" clId="{ACED115F-8C23-4612-8EFF-7965D144131C}" dt="2026-10-04T02:17:34.974" v="41" actId="368"/>
        <pc:sldMkLst>
          <pc:docMk/>
          <pc:sldMk cId="1777672587" sldId="362"/>
        </pc:sldMkLst>
      </pc:sldChg>
      <pc:sldChg chg="modNotes">
        <pc:chgData name="Veal, Breanna" userId="9dd65cb9-b789-4014-8a75-5340e8ea9a9e" providerId="ADAL" clId="{ACED115F-8C23-4612-8EFF-7965D144131C}" dt="2026-10-04T02:17:34.956" v="39" actId="368"/>
        <pc:sldMkLst>
          <pc:docMk/>
          <pc:sldMk cId="1234392979" sldId="363"/>
        </pc:sldMkLst>
      </pc:sldChg>
      <pc:sldChg chg="modNotes">
        <pc:chgData name="Veal, Breanna" userId="9dd65cb9-b789-4014-8a75-5340e8ea9a9e" providerId="ADAL" clId="{ACED115F-8C23-4612-8EFF-7965D144131C}" dt="2026-10-04T02:17:35.064" v="61" actId="368"/>
        <pc:sldMkLst>
          <pc:docMk/>
          <pc:sldMk cId="1673524749" sldId="364"/>
        </pc:sldMkLst>
      </pc:sldChg>
      <pc:sldChg chg="modNotes">
        <pc:chgData name="Veal, Breanna" userId="9dd65cb9-b789-4014-8a75-5340e8ea9a9e" providerId="ADAL" clId="{ACED115F-8C23-4612-8EFF-7965D144131C}" dt="2026-10-04T02:17:35.056" v="59" actId="368"/>
        <pc:sldMkLst>
          <pc:docMk/>
          <pc:sldMk cId="1951365509" sldId="365"/>
        </pc:sldMkLst>
      </pc:sldChg>
      <pc:sldChg chg="modNotes">
        <pc:chgData name="Veal, Breanna" userId="9dd65cb9-b789-4014-8a75-5340e8ea9a9e" providerId="ADAL" clId="{ACED115F-8C23-4612-8EFF-7965D144131C}" dt="2026-10-04T02:17:35.038" v="55" actId="368"/>
        <pc:sldMkLst>
          <pc:docMk/>
          <pc:sldMk cId="3329116280" sldId="367"/>
        </pc:sldMkLst>
      </pc:sldChg>
      <pc:sldChg chg="modNotes">
        <pc:chgData name="Veal, Breanna" userId="9dd65cb9-b789-4014-8a75-5340e8ea9a9e" providerId="ADAL" clId="{ACED115F-8C23-4612-8EFF-7965D144131C}" dt="2026-10-04T02:17:35.081" v="65" actId="368"/>
        <pc:sldMkLst>
          <pc:docMk/>
          <pc:sldMk cId="2215195243" sldId="368"/>
        </pc:sldMkLst>
      </pc:sldChg>
      <pc:sldChg chg="modNotes">
        <pc:chgData name="Veal, Breanna" userId="9dd65cb9-b789-4014-8a75-5340e8ea9a9e" providerId="ADAL" clId="{ACED115F-8C23-4612-8EFF-7965D144131C}" dt="2026-10-04T02:17:34.993" v="45" actId="368"/>
        <pc:sldMkLst>
          <pc:docMk/>
          <pc:sldMk cId="2714108058" sldId="369"/>
        </pc:sldMkLst>
      </pc:sldChg>
      <pc:sldChg chg="modNotes">
        <pc:chgData name="Veal, Breanna" userId="9dd65cb9-b789-4014-8a75-5340e8ea9a9e" providerId="ADAL" clId="{ACED115F-8C23-4612-8EFF-7965D144131C}" dt="2026-10-04T02:17:35.126" v="75" actId="368"/>
        <pc:sldMkLst>
          <pc:docMk/>
          <pc:sldMk cId="2326945622" sldId="370"/>
        </pc:sldMkLst>
      </pc:sldChg>
      <pc:sldChg chg="modNotes">
        <pc:chgData name="Veal, Breanna" userId="9dd65cb9-b789-4014-8a75-5340e8ea9a9e" providerId="ADAL" clId="{ACED115F-8C23-4612-8EFF-7965D144131C}" dt="2026-10-04T02:17:35.182" v="87" actId="368"/>
        <pc:sldMkLst>
          <pc:docMk/>
          <pc:sldMk cId="1789321966" sldId="371"/>
        </pc:sldMkLst>
      </pc:sldChg>
      <pc:sldChg chg="modNotes">
        <pc:chgData name="Veal, Breanna" userId="9dd65cb9-b789-4014-8a75-5340e8ea9a9e" providerId="ADAL" clId="{ACED115F-8C23-4612-8EFF-7965D144131C}" dt="2026-10-04T02:17:35.223" v="95" actId="368"/>
        <pc:sldMkLst>
          <pc:docMk/>
          <pc:sldMk cId="2437804613" sldId="372"/>
        </pc:sldMkLst>
      </pc:sldChg>
      <pc:sldChg chg="modNotes">
        <pc:chgData name="Veal, Breanna" userId="9dd65cb9-b789-4014-8a75-5340e8ea9a9e" providerId="ADAL" clId="{ACED115F-8C23-4612-8EFF-7965D144131C}" dt="2026-10-04T02:17:35.198" v="91" actId="368"/>
        <pc:sldMkLst>
          <pc:docMk/>
          <pc:sldMk cId="870002074" sldId="373"/>
        </pc:sldMkLst>
      </pc:sldChg>
      <pc:sldChg chg="modNotes">
        <pc:chgData name="Veal, Breanna" userId="9dd65cb9-b789-4014-8a75-5340e8ea9a9e" providerId="ADAL" clId="{ACED115F-8C23-4612-8EFF-7965D144131C}" dt="2026-10-04T02:17:35.251" v="101" actId="368"/>
        <pc:sldMkLst>
          <pc:docMk/>
          <pc:sldMk cId="2840173465" sldId="374"/>
        </pc:sldMkLst>
      </pc:sldChg>
      <pc:sldChg chg="modNotes">
        <pc:chgData name="Veal, Breanna" userId="9dd65cb9-b789-4014-8a75-5340e8ea9a9e" providerId="ADAL" clId="{ACED115F-8C23-4612-8EFF-7965D144131C}" dt="2026-10-04T02:17:35.216" v="93" actId="368"/>
        <pc:sldMkLst>
          <pc:docMk/>
          <pc:sldMk cId="3698772389" sldId="375"/>
        </pc:sldMkLst>
      </pc:sldChg>
      <pc:sldChg chg="modNotes">
        <pc:chgData name="Veal, Breanna" userId="9dd65cb9-b789-4014-8a75-5340e8ea9a9e" providerId="ADAL" clId="{ACED115F-8C23-4612-8EFF-7965D144131C}" dt="2026-10-04T02:17:35.242" v="99" actId="368"/>
        <pc:sldMkLst>
          <pc:docMk/>
          <pc:sldMk cId="1372608325" sldId="376"/>
        </pc:sldMkLst>
      </pc:sldChg>
      <pc:sldChg chg="modNotes">
        <pc:chgData name="Veal, Breanna" userId="9dd65cb9-b789-4014-8a75-5340e8ea9a9e" providerId="ADAL" clId="{ACED115F-8C23-4612-8EFF-7965D144131C}" dt="2026-10-04T02:17:35.255" v="103" actId="368"/>
        <pc:sldMkLst>
          <pc:docMk/>
          <pc:sldMk cId="3083486890" sldId="377"/>
        </pc:sldMkLst>
      </pc:sldChg>
      <pc:sldChg chg="modNotes">
        <pc:chgData name="Veal, Breanna" userId="9dd65cb9-b789-4014-8a75-5340e8ea9a9e" providerId="ADAL" clId="{ACED115F-8C23-4612-8EFF-7965D144131C}" dt="2026-10-04T02:17:35.270" v="105" actId="368"/>
        <pc:sldMkLst>
          <pc:docMk/>
          <pc:sldMk cId="3552549377" sldId="379"/>
        </pc:sldMkLst>
      </pc:sldChg>
      <pc:sldChg chg="modNotes">
        <pc:chgData name="Veal, Breanna" userId="9dd65cb9-b789-4014-8a75-5340e8ea9a9e" providerId="ADAL" clId="{ACED115F-8C23-4612-8EFF-7965D144131C}" dt="2026-10-04T02:17:35.270" v="107" actId="368"/>
        <pc:sldMkLst>
          <pc:docMk/>
          <pc:sldMk cId="896051803" sldId="380"/>
        </pc:sldMkLst>
      </pc:sldChg>
      <pc:sldChg chg="modNotes">
        <pc:chgData name="Veal, Breanna" userId="9dd65cb9-b789-4014-8a75-5340e8ea9a9e" providerId="ADAL" clId="{ACED115F-8C23-4612-8EFF-7965D144131C}" dt="2026-10-04T02:17:35.302" v="113" actId="368"/>
        <pc:sldMkLst>
          <pc:docMk/>
          <pc:sldMk cId="3348788784" sldId="381"/>
        </pc:sldMkLst>
      </pc:sldChg>
      <pc:sldChg chg="modNotes">
        <pc:chgData name="Veal, Breanna" userId="9dd65cb9-b789-4014-8a75-5340e8ea9a9e" providerId="ADAL" clId="{ACED115F-8C23-4612-8EFF-7965D144131C}" dt="2026-10-04T02:17:35.347" v="121" actId="368"/>
        <pc:sldMkLst>
          <pc:docMk/>
          <pc:sldMk cId="3387935191" sldId="383"/>
        </pc:sldMkLst>
      </pc:sldChg>
      <pc:sldChg chg="modNotes">
        <pc:chgData name="Veal, Breanna" userId="9dd65cb9-b789-4014-8a75-5340e8ea9a9e" providerId="ADAL" clId="{ACED115F-8C23-4612-8EFF-7965D144131C}" dt="2026-10-04T02:17:35.364" v="125" actId="368"/>
        <pc:sldMkLst>
          <pc:docMk/>
          <pc:sldMk cId="945246899" sldId="384"/>
        </pc:sldMkLst>
      </pc:sldChg>
      <pc:sldChg chg="modNotes">
        <pc:chgData name="Veal, Breanna" userId="9dd65cb9-b789-4014-8a75-5340e8ea9a9e" providerId="ADAL" clId="{ACED115F-8C23-4612-8EFF-7965D144131C}" dt="2026-10-04T02:17:35.414" v="135" actId="368"/>
        <pc:sldMkLst>
          <pc:docMk/>
          <pc:sldMk cId="1491048236" sldId="385"/>
        </pc:sldMkLst>
      </pc:sldChg>
      <pc:sldChg chg="modNotes">
        <pc:chgData name="Veal, Breanna" userId="9dd65cb9-b789-4014-8a75-5340e8ea9a9e" providerId="ADAL" clId="{ACED115F-8C23-4612-8EFF-7965D144131C}" dt="2026-10-04T02:17:35.432" v="141" actId="368"/>
        <pc:sldMkLst>
          <pc:docMk/>
          <pc:sldMk cId="272328966" sldId="386"/>
        </pc:sldMkLst>
      </pc:sldChg>
      <pc:sldChg chg="modNotes">
        <pc:chgData name="Veal, Breanna" userId="9dd65cb9-b789-4014-8a75-5340e8ea9a9e" providerId="ADAL" clId="{ACED115F-8C23-4612-8EFF-7965D144131C}" dt="2026-10-04T02:17:35.473" v="147" actId="368"/>
        <pc:sldMkLst>
          <pc:docMk/>
          <pc:sldMk cId="369569414" sldId="387"/>
        </pc:sldMkLst>
      </pc:sldChg>
      <pc:sldChg chg="modNotes">
        <pc:chgData name="Veal, Breanna" userId="9dd65cb9-b789-4014-8a75-5340e8ea9a9e" providerId="ADAL" clId="{ACED115F-8C23-4612-8EFF-7965D144131C}" dt="2026-10-04T02:17:35.727" v="183" actId="368"/>
        <pc:sldMkLst>
          <pc:docMk/>
          <pc:sldMk cId="2489634144" sldId="389"/>
        </pc:sldMkLst>
      </pc:sldChg>
      <pc:sldChg chg="modNotes">
        <pc:chgData name="Veal, Breanna" userId="9dd65cb9-b789-4014-8a75-5340e8ea9a9e" providerId="ADAL" clId="{ACED115F-8C23-4612-8EFF-7965D144131C}" dt="2026-10-04T02:17:35.129" v="79" actId="368"/>
        <pc:sldMkLst>
          <pc:docMk/>
          <pc:sldMk cId="2558775470" sldId="390"/>
        </pc:sldMkLst>
      </pc:sldChg>
      <pc:sldChg chg="modNotes">
        <pc:chgData name="Veal, Breanna" userId="9dd65cb9-b789-4014-8a75-5340e8ea9a9e" providerId="ADAL" clId="{ACED115F-8C23-4612-8EFF-7965D144131C}" dt="2026-10-04T02:17:34.817" v="13" actId="368"/>
        <pc:sldMkLst>
          <pc:docMk/>
          <pc:sldMk cId="2437498332" sldId="392"/>
        </pc:sldMkLst>
      </pc:sldChg>
      <pc:sldChg chg="modNotes">
        <pc:chgData name="Veal, Breanna" userId="9dd65cb9-b789-4014-8a75-5340e8ea9a9e" providerId="ADAL" clId="{ACED115F-8C23-4612-8EFF-7965D144131C}" dt="2026-10-04T02:17:35.453" v="143" actId="368"/>
        <pc:sldMkLst>
          <pc:docMk/>
          <pc:sldMk cId="3209075404" sldId="396"/>
        </pc:sldMkLst>
      </pc:sldChg>
      <pc:sldChg chg="modNotes">
        <pc:chgData name="Veal, Breanna" userId="9dd65cb9-b789-4014-8a75-5340e8ea9a9e" providerId="ADAL" clId="{ACED115F-8C23-4612-8EFF-7965D144131C}" dt="2026-10-04T02:17:35.066" v="63" actId="368"/>
        <pc:sldMkLst>
          <pc:docMk/>
          <pc:sldMk cId="4292862312" sldId="398"/>
        </pc:sldMkLst>
      </pc:sldChg>
      <pc:sldChg chg="modNotes">
        <pc:chgData name="Veal, Breanna" userId="9dd65cb9-b789-4014-8a75-5340e8ea9a9e" providerId="ADAL" clId="{ACED115F-8C23-4612-8EFF-7965D144131C}" dt="2026-10-04T02:17:35.002" v="47" actId="368"/>
        <pc:sldMkLst>
          <pc:docMk/>
          <pc:sldMk cId="1662532356" sldId="400"/>
        </pc:sldMkLst>
      </pc:sldChg>
      <pc:sldChg chg="modNotes">
        <pc:chgData name="Veal, Breanna" userId="9dd65cb9-b789-4014-8a75-5340e8ea9a9e" providerId="ADAL" clId="{ACED115F-8C23-4612-8EFF-7965D144131C}" dt="2026-10-04T02:17:35.569" v="161" actId="368"/>
        <pc:sldMkLst>
          <pc:docMk/>
          <pc:sldMk cId="2447609165" sldId="401"/>
        </pc:sldMkLst>
      </pc:sldChg>
      <pc:sldChg chg="modNotes">
        <pc:chgData name="Veal, Breanna" userId="9dd65cb9-b789-4014-8a75-5340e8ea9a9e" providerId="ADAL" clId="{ACED115F-8C23-4612-8EFF-7965D144131C}" dt="2026-10-04T02:17:35.004" v="49" actId="368"/>
        <pc:sldMkLst>
          <pc:docMk/>
          <pc:sldMk cId="2469602414" sldId="402"/>
        </pc:sldMkLst>
      </pc:sldChg>
      <pc:sldChg chg="modNotes">
        <pc:chgData name="Veal, Breanna" userId="9dd65cb9-b789-4014-8a75-5340e8ea9a9e" providerId="ADAL" clId="{ACED115F-8C23-4612-8EFF-7965D144131C}" dt="2026-10-04T02:17:35.019" v="51" actId="368"/>
        <pc:sldMkLst>
          <pc:docMk/>
          <pc:sldMk cId="732466139" sldId="403"/>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2B8A7DD-1EE0-4008-AE03-3B20B830EA53}" type="datetimeFigureOut">
              <a:rPr lang="en-US" smtClean="0"/>
              <a:t>10/3/2026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94AEAA8-7B8B-47B0-883F-BD71FA1D0C0B}" type="slidenum">
              <a:rPr lang="en-US" smtClean="0"/>
              <a:t>‹#›</a:t>
            </a:fld>
            <a:endParaRPr lang="en-US"/>
          </a:p>
        </p:txBody>
      </p:sp>
    </p:spTree>
    <p:extLst>
      <p:ext uri="{BB962C8B-B14F-4D97-AF65-F5344CB8AC3E}">
        <p14:creationId xmlns:p14="http://schemas.microsoft.com/office/powerpoint/2010/main" val="39206314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2" Type="http://schemas.openxmlformats.org/officeDocument/2006/relationships/slide" Target="../slides/slide94.xml"/><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2" Type="http://schemas.openxmlformats.org/officeDocument/2006/relationships/slide" Target="../slides/slide95.xml"/><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2" Type="http://schemas.openxmlformats.org/officeDocument/2006/relationships/slide" Target="../slides/slide96.xml"/><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2" Type="http://schemas.openxmlformats.org/officeDocument/2006/relationships/slide" Target="../slides/slide97.xml"/><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2" Type="http://schemas.openxmlformats.org/officeDocument/2006/relationships/slide" Target="../slides/slide98.xml"/><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2" Type="http://schemas.openxmlformats.org/officeDocument/2006/relationships/slide" Target="../slides/slide99.xml"/><Relationship Id="rId1"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Id2" Type="http://schemas.openxmlformats.org/officeDocument/2006/relationships/slide" Target="../slides/slide100.xml"/><Relationship Id="rId1" Type="http://schemas.openxmlformats.org/officeDocument/2006/relationships/notesMaster" Target="../notesMasters/notesMaster1.xml"/></Relationships>
</file>

<file path=ppt/notesSlides/_rels/notesSlide96.xml.rels><?xml version="1.0" encoding="UTF-8" standalone="yes"?>
<Relationships xmlns="http://schemas.openxmlformats.org/package/2006/relationships"><Relationship Id="rId2" Type="http://schemas.openxmlformats.org/officeDocument/2006/relationships/slide" Target="../slides/slide101.xml"/><Relationship Id="rId1" Type="http://schemas.openxmlformats.org/officeDocument/2006/relationships/notesMaster" Target="../notesMasters/notesMaster1.xml"/></Relationships>
</file>

<file path=ppt/notesSlides/_rels/notesSlide97.xml.rels><?xml version="1.0" encoding="UTF-8" standalone="yes"?>
<Relationships xmlns="http://schemas.openxmlformats.org/package/2006/relationships"><Relationship Id="rId2" Type="http://schemas.openxmlformats.org/officeDocument/2006/relationships/slide" Target="../slides/slide102.xml"/><Relationship Id="rId1" Type="http://schemas.openxmlformats.org/officeDocument/2006/relationships/notesMaster" Target="../notesMasters/notesMaster1.xml"/></Relationships>
</file>

<file path=ppt/notesSlides/_rels/notesSlide98.xml.rels><?xml version="1.0" encoding="UTF-8" standalone="yes"?>
<Relationships xmlns="http://schemas.openxmlformats.org/package/2006/relationships"><Relationship Id="rId2" Type="http://schemas.openxmlformats.org/officeDocument/2006/relationships/slide" Target="../slides/slide103.xml"/><Relationship Id="rId1" Type="http://schemas.openxmlformats.org/officeDocument/2006/relationships/notesMaster" Target="../notesMasters/notesMaster1.xml"/></Relationships>
</file>

<file path=ppt/notesSlides/_rels/notesSlide99.xml.rels><?xml version="1.0" encoding="UTF-8" standalone="yes"?>
<Relationships xmlns="http://schemas.openxmlformats.org/package/2006/relationships"><Relationship Id="rId2" Type="http://schemas.openxmlformats.org/officeDocument/2006/relationships/slide" Target="../slides/slide104.xml"/><Relationship Id="rId1" Type="http://schemas.openxmlformats.org/officeDocument/2006/relationships/notesMaster" Target="../notesMasters/notesMaster1.xml"/></Relationships>
</file>

<file path=ppt/notesSlides/_rels/notesSlide100.xml.rels><?xml version="1.0" encoding="UTF-8" standalone="yes"?>
<Relationships xmlns="http://schemas.openxmlformats.org/package/2006/relationships"><Relationship Id="rId2" Type="http://schemas.openxmlformats.org/officeDocument/2006/relationships/slide" Target="../slides/slide106.xml"/><Relationship Id="rId1" Type="http://schemas.openxmlformats.org/officeDocument/2006/relationships/notesMaster" Target="../notesMasters/notesMaster1.xml"/></Relationships>
</file>

<file path=ppt/notesSlides/_rels/notesSlide101.xml.rels><?xml version="1.0" encoding="UTF-8" standalone="yes"?>
<Relationships xmlns="http://schemas.openxmlformats.org/package/2006/relationships"><Relationship Id="rId2" Type="http://schemas.openxmlformats.org/officeDocument/2006/relationships/slide" Target="../slides/slide107.xml"/><Relationship Id="rId1" Type="http://schemas.openxmlformats.org/officeDocument/2006/relationships/notesMaster" Target="../notesMasters/notesMaster1.xml"/></Relationships>
</file>

<file path=ppt/notesSlides/_rels/notesSlide102.xml.rels><?xml version="1.0" encoding="UTF-8" standalone="yes"?>
<Relationships xmlns="http://schemas.openxmlformats.org/package/2006/relationships"><Relationship Id="rId2" Type="http://schemas.openxmlformats.org/officeDocument/2006/relationships/slide" Target="../slides/slide108.xml"/><Relationship Id="rId1" Type="http://schemas.openxmlformats.org/officeDocument/2006/relationships/notesMaster" Target="../notesMasters/notesMaster1.xml"/></Relationships>
</file>

<file path=ppt/notesSlides/_rels/notesSlide103.xml.rels><?xml version="1.0" encoding="UTF-8" standalone="yes"?>
<Relationships xmlns="http://schemas.openxmlformats.org/package/2006/relationships"><Relationship Id="rId2" Type="http://schemas.openxmlformats.org/officeDocument/2006/relationships/slide" Target="../slides/slide109.xml"/><Relationship Id="rId1" Type="http://schemas.openxmlformats.org/officeDocument/2006/relationships/notesMaster" Target="../notesMasters/notesMaster1.xml"/></Relationships>
</file>

<file path=ppt/notesSlides/_rels/notesSlide104.xml.rels><?xml version="1.0" encoding="UTF-8" standalone="yes"?>
<Relationships xmlns="http://schemas.openxmlformats.org/package/2006/relationships"><Relationship Id="rId2" Type="http://schemas.openxmlformats.org/officeDocument/2006/relationships/slide" Target="../slides/slide110.xml"/><Relationship Id="rId1" Type="http://schemas.openxmlformats.org/officeDocument/2006/relationships/notesMaster" Target="../notesMasters/notesMaster1.xml"/></Relationships>
</file>

<file path=ppt/notesSlides/_rels/notesSlide105.xml.rels><?xml version="1.0" encoding="UTF-8" standalone="yes"?>
<Relationships xmlns="http://schemas.openxmlformats.org/package/2006/relationships"><Relationship Id="rId2" Type="http://schemas.openxmlformats.org/officeDocument/2006/relationships/slide" Target="../slides/slide111.xml"/><Relationship Id="rId1" Type="http://schemas.openxmlformats.org/officeDocument/2006/relationships/notesMaster" Target="../notesMasters/notesMaster1.xml"/></Relationships>
</file>

<file path=ppt/notesSlides/_rels/notesSlide106.xml.rels><?xml version="1.0" encoding="UTF-8" standalone="yes"?>
<Relationships xmlns="http://schemas.openxmlformats.org/package/2006/relationships"><Relationship Id="rId2" Type="http://schemas.openxmlformats.org/officeDocument/2006/relationships/slide" Target="../slides/slide112.xml"/><Relationship Id="rId1" Type="http://schemas.openxmlformats.org/officeDocument/2006/relationships/notesMaster" Target="../notesMasters/notesMaster1.xml"/></Relationships>
</file>

<file path=ppt/notesSlides/_rels/notesSlide107.xml.rels><?xml version="1.0" encoding="UTF-8" standalone="yes"?>
<Relationships xmlns="http://schemas.openxmlformats.org/package/2006/relationships"><Relationship Id="rId2" Type="http://schemas.openxmlformats.org/officeDocument/2006/relationships/slide" Target="../slides/slide113.xml"/><Relationship Id="rId1" Type="http://schemas.openxmlformats.org/officeDocument/2006/relationships/notesMaster" Target="../notesMasters/notesMaster1.xml"/></Relationships>
</file>

<file path=ppt/notesSlides/_rels/notesSlide108.xml.rels><?xml version="1.0" encoding="UTF-8" standalone="yes"?>
<Relationships xmlns="http://schemas.openxmlformats.org/package/2006/relationships"><Relationship Id="rId2" Type="http://schemas.openxmlformats.org/officeDocument/2006/relationships/slide" Target="../slides/slide115.xml"/><Relationship Id="rId1" Type="http://schemas.openxmlformats.org/officeDocument/2006/relationships/notesMaster" Target="../notesMasters/notesMaster1.xml"/></Relationships>
</file>

<file path=ppt/notesSlides/_rels/notesSlide109.xml.rels><?xml version="1.0" encoding="UTF-8" standalone="yes"?>
<Relationships xmlns="http://schemas.openxmlformats.org/package/2006/relationships"><Relationship Id="rId2" Type="http://schemas.openxmlformats.org/officeDocument/2006/relationships/slide" Target="../slides/slide116.xml"/><Relationship Id="rId1" Type="http://schemas.openxmlformats.org/officeDocument/2006/relationships/notesMaster" Target="../notesMasters/notesMaster1.xml"/></Relationships>
</file>

<file path=ppt/notesSlides/_rels/notesSlide110.xml.rels><?xml version="1.0" encoding="UTF-8" standalone="yes"?>
<Relationships xmlns="http://schemas.openxmlformats.org/package/2006/relationships"><Relationship Id="rId2" Type="http://schemas.openxmlformats.org/officeDocument/2006/relationships/slide" Target="../slides/slide117.xml"/><Relationship Id="rId1" Type="http://schemas.openxmlformats.org/officeDocument/2006/relationships/notesMaster" Target="../notesMasters/notesMaster1.xml"/></Relationships>
</file>

<file path=ppt/notesSlides/_rels/notesSlide111.xml.rels><?xml version="1.0" encoding="UTF-8" standalone="yes"?>
<Relationships xmlns="http://schemas.openxmlformats.org/package/2006/relationships"><Relationship Id="rId2" Type="http://schemas.openxmlformats.org/officeDocument/2006/relationships/slide" Target="../slides/slide118.xml"/><Relationship Id="rId1" Type="http://schemas.openxmlformats.org/officeDocument/2006/relationships/notesMaster" Target="../notesMasters/notesMaster1.xml"/></Relationships>
</file>

<file path=ppt/notesSlides/_rels/notesSlide112.xml.rels><?xml version="1.0" encoding="UTF-8" standalone="yes"?>
<Relationships xmlns="http://schemas.openxmlformats.org/package/2006/relationships"><Relationship Id="rId2" Type="http://schemas.openxmlformats.org/officeDocument/2006/relationships/slide" Target="../slides/slide119.xml"/><Relationship Id="rId1" Type="http://schemas.openxmlformats.org/officeDocument/2006/relationships/notesMaster" Target="../notesMasters/notesMaster1.xml"/></Relationships>
</file>

<file path=ppt/notesSlides/_rels/notesSlide113.xml.rels><?xml version="1.0" encoding="UTF-8" standalone="yes"?>
<Relationships xmlns="http://schemas.openxmlformats.org/package/2006/relationships"><Relationship Id="rId2" Type="http://schemas.openxmlformats.org/officeDocument/2006/relationships/slide" Target="../slides/slide120.xml"/><Relationship Id="rId1" Type="http://schemas.openxmlformats.org/officeDocument/2006/relationships/notesMaster" Target="../notesMasters/notesMaster1.xml"/></Relationships>
</file>

<file path=ppt/notesSlides/_rels/notesSlide114.xml.rels><?xml version="1.0" encoding="UTF-8" standalone="yes"?>
<Relationships xmlns="http://schemas.openxmlformats.org/package/2006/relationships"><Relationship Id="rId2" Type="http://schemas.openxmlformats.org/officeDocument/2006/relationships/slide" Target="../slides/slide121.xml"/><Relationship Id="rId1" Type="http://schemas.openxmlformats.org/officeDocument/2006/relationships/notesMaster" Target="../notesMasters/notesMaster1.xml"/></Relationships>
</file>

<file path=ppt/notesSlides/_rels/notesSlide115.xml.rels><?xml version="1.0" encoding="UTF-8" standalone="yes"?>
<Relationships xmlns="http://schemas.openxmlformats.org/package/2006/relationships"><Relationship Id="rId2" Type="http://schemas.openxmlformats.org/officeDocument/2006/relationships/slide" Target="../slides/slide122.xml"/><Relationship Id="rId1" Type="http://schemas.openxmlformats.org/officeDocument/2006/relationships/notesMaster" Target="../notesMasters/notesMaster1.xml"/></Relationships>
</file>

<file path=ppt/notesSlides/_rels/notesSlide116.xml.rels><?xml version="1.0" encoding="UTF-8" standalone="yes"?>
<Relationships xmlns="http://schemas.openxmlformats.org/package/2006/relationships"><Relationship Id="rId2" Type="http://schemas.openxmlformats.org/officeDocument/2006/relationships/slide" Target="../slides/slide123.xml"/><Relationship Id="rId1" Type="http://schemas.openxmlformats.org/officeDocument/2006/relationships/notesMaster" Target="../notesMasters/notesMaster1.xml"/></Relationships>
</file>

<file path=ppt/notesSlides/_rels/notesSlide117.xml.rels><?xml version="1.0" encoding="UTF-8" standalone="yes"?>
<Relationships xmlns="http://schemas.openxmlformats.org/package/2006/relationships"><Relationship Id="rId2" Type="http://schemas.openxmlformats.org/officeDocument/2006/relationships/slide" Target="../slides/slide124.xml"/><Relationship Id="rId1" Type="http://schemas.openxmlformats.org/officeDocument/2006/relationships/notesMaster" Target="../notesMasters/notesMaster1.xml"/></Relationships>
</file>

<file path=ppt/notesSlides/_rels/notesSlide118.xml.rels><?xml version="1.0" encoding="UTF-8" standalone="yes"?>
<Relationships xmlns="http://schemas.openxmlformats.org/package/2006/relationships"><Relationship Id="rId2" Type="http://schemas.openxmlformats.org/officeDocument/2006/relationships/slide" Target="../slides/slide1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p:cNvSpPr>
            <a:spLocks noGrp="1"/>
          </p:cNvSpPr>
          <p:nvPr>
            <p:ph type="sldNum" sz="quarter" idx="5"/>
          </p:nvPr>
        </p:nvSpPr>
        <p:spPr/>
        <p:txBody>
          <a:bodyPr/>
          <a:lstStyle/>
          <a:p>
            <a:fld id="{394AEAA8-7B8B-47B0-883F-BD71FA1D0C0B}" type="slidenum">
              <a:rPr lang="en-US" smtClean="0"/>
              <a:t>1</a:t>
            </a:fld>
            <a:endParaRPr lang="en-US"/>
          </a:p>
        </p:txBody>
      </p:sp>
    </p:spTree>
    <p:extLst>
      <p:ext uri="{BB962C8B-B14F-4D97-AF65-F5344CB8AC3E}">
        <p14:creationId xmlns:p14="http://schemas.microsoft.com/office/powerpoint/2010/main" val="5579868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Font typeface="Arial" panose="020B0604020202020204" pitchFamily="34" charset="0"/>
              <a:buNone/>
            </a:pPr>
            <a:endParaRPr lang="en-US" dirty="0"/>
          </a:p>
        </p:txBody>
      </p:sp>
      <p:sp>
        <p:nvSpPr>
          <p:cNvPr id="4" name="Slide Number Placeholder 3"/>
          <p:cNvSpPr>
            <a:spLocks noGrp="1"/>
          </p:cNvSpPr>
          <p:nvPr>
            <p:ph type="sldNum" sz="quarter" idx="5"/>
          </p:nvPr>
        </p:nvSpPr>
        <p:spPr/>
        <p:txBody>
          <a:bodyPr/>
          <a:lstStyle/>
          <a:p>
            <a:fld id="{394AEAA8-7B8B-47B0-883F-BD71FA1D0C0B}" type="slidenum">
              <a:rPr lang="en-US" smtClean="0"/>
              <a:t>2</a:t>
            </a:fld>
            <a:endParaRPr lang="en-US"/>
          </a:p>
        </p:txBody>
      </p:sp>
    </p:spTree>
    <p:extLst>
      <p:ext uri="{BB962C8B-B14F-4D97-AF65-F5344CB8AC3E}">
        <p14:creationId xmlns:p14="http://schemas.microsoft.com/office/powerpoint/2010/main" val="19359062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394AEAA8-7B8B-47B0-883F-BD71FA1D0C0B}" type="slidenum">
              <a:rPr lang="en-US" smtClean="0"/>
              <a:t>3</a:t>
            </a:fld>
            <a:endParaRPr lang="en-US"/>
          </a:p>
        </p:txBody>
      </p:sp>
    </p:spTree>
    <p:extLst>
      <p:ext uri="{BB962C8B-B14F-4D97-AF65-F5344CB8AC3E}">
        <p14:creationId xmlns:p14="http://schemas.microsoft.com/office/powerpoint/2010/main" val="114127754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394AEAA8-7B8B-47B0-883F-BD71FA1D0C0B}" type="slidenum">
              <a:rPr lang="en-US" smtClean="0"/>
              <a:t>4</a:t>
            </a:fld>
            <a:endParaRPr lang="en-US"/>
          </a:p>
        </p:txBody>
      </p:sp>
    </p:spTree>
    <p:extLst>
      <p:ext uri="{BB962C8B-B14F-4D97-AF65-F5344CB8AC3E}">
        <p14:creationId xmlns:p14="http://schemas.microsoft.com/office/powerpoint/2010/main" val="326782302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394AEAA8-7B8B-47B0-883F-BD71FA1D0C0B}" type="slidenum">
              <a:rPr lang="en-US" smtClean="0"/>
              <a:t>5</a:t>
            </a:fld>
            <a:endParaRPr lang="en-US"/>
          </a:p>
        </p:txBody>
      </p:sp>
    </p:spTree>
    <p:extLst>
      <p:ext uri="{BB962C8B-B14F-4D97-AF65-F5344CB8AC3E}">
        <p14:creationId xmlns:p14="http://schemas.microsoft.com/office/powerpoint/2010/main" val="357206103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394AEAA8-7B8B-47B0-883F-BD71FA1D0C0B}" type="slidenum">
              <a:rPr lang="en-US" smtClean="0"/>
              <a:t>6</a:t>
            </a:fld>
            <a:endParaRPr lang="en-US"/>
          </a:p>
        </p:txBody>
      </p:sp>
    </p:spTree>
    <p:extLst>
      <p:ext uri="{BB962C8B-B14F-4D97-AF65-F5344CB8AC3E}">
        <p14:creationId xmlns:p14="http://schemas.microsoft.com/office/powerpoint/2010/main" val="369183728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394AEAA8-7B8B-47B0-883F-BD71FA1D0C0B}" type="slidenum">
              <a:rPr lang="en-US" smtClean="0"/>
              <a:t>7</a:t>
            </a:fld>
            <a:endParaRPr lang="en-US"/>
          </a:p>
        </p:txBody>
      </p:sp>
    </p:spTree>
    <p:extLst>
      <p:ext uri="{BB962C8B-B14F-4D97-AF65-F5344CB8AC3E}">
        <p14:creationId xmlns:p14="http://schemas.microsoft.com/office/powerpoint/2010/main" val="382813174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394AEAA8-7B8B-47B0-883F-BD71FA1D0C0B}" type="slidenum">
              <a:rPr lang="en-US" smtClean="0"/>
              <a:t>8</a:t>
            </a:fld>
            <a:endParaRPr lang="en-US"/>
          </a:p>
        </p:txBody>
      </p:sp>
    </p:spTree>
    <p:extLst>
      <p:ext uri="{BB962C8B-B14F-4D97-AF65-F5344CB8AC3E}">
        <p14:creationId xmlns:p14="http://schemas.microsoft.com/office/powerpoint/2010/main" val="168092196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394AEAA8-7B8B-47B0-883F-BD71FA1D0C0B}" type="slidenum">
              <a:rPr lang="en-US" smtClean="0"/>
              <a:t>9</a:t>
            </a:fld>
            <a:endParaRPr lang="en-US"/>
          </a:p>
        </p:txBody>
      </p:sp>
    </p:spTree>
    <p:extLst>
      <p:ext uri="{BB962C8B-B14F-4D97-AF65-F5344CB8AC3E}">
        <p14:creationId xmlns:p14="http://schemas.microsoft.com/office/powerpoint/2010/main" val="114395396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394AEAA8-7B8B-47B0-883F-BD71FA1D0C0B}" type="slidenum">
              <a:rPr lang="en-US" smtClean="0"/>
              <a:t>10</a:t>
            </a:fld>
            <a:endParaRPr lang="en-US"/>
          </a:p>
        </p:txBody>
      </p:sp>
    </p:spTree>
    <p:extLst>
      <p:ext uri="{BB962C8B-B14F-4D97-AF65-F5344CB8AC3E}">
        <p14:creationId xmlns:p14="http://schemas.microsoft.com/office/powerpoint/2010/main" val="68962994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indent="-228600">
              <a:buAutoNum type="arabicPeriod"/>
            </a:pPr>
            <a:endParaRPr lang="en-US" dirty="0"/>
          </a:p>
        </p:txBody>
      </p:sp>
      <p:sp>
        <p:nvSpPr>
          <p:cNvPr id="4" name="Slide Number Placeholder 3"/>
          <p:cNvSpPr>
            <a:spLocks noGrp="1"/>
          </p:cNvSpPr>
          <p:nvPr>
            <p:ph type="sldNum" sz="quarter" idx="5"/>
          </p:nvPr>
        </p:nvSpPr>
        <p:spPr/>
        <p:txBody>
          <a:bodyPr/>
          <a:lstStyle/>
          <a:p>
            <a:fld id="{394AEAA8-7B8B-47B0-883F-BD71FA1D0C0B}" type="slidenum">
              <a:rPr lang="en-US" smtClean="0"/>
              <a:t>11</a:t>
            </a:fld>
            <a:endParaRPr lang="en-US"/>
          </a:p>
        </p:txBody>
      </p:sp>
    </p:spTree>
    <p:extLst>
      <p:ext uri="{BB962C8B-B14F-4D97-AF65-F5344CB8AC3E}">
        <p14:creationId xmlns:p14="http://schemas.microsoft.com/office/powerpoint/2010/main" val="90258612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394AEAA8-7B8B-47B0-883F-BD71FA1D0C0B}" type="slidenum">
              <a:rPr lang="en-US" smtClean="0"/>
              <a:t>12</a:t>
            </a:fld>
            <a:endParaRPr lang="en-US"/>
          </a:p>
        </p:txBody>
      </p:sp>
    </p:spTree>
    <p:extLst>
      <p:ext uri="{BB962C8B-B14F-4D97-AF65-F5344CB8AC3E}">
        <p14:creationId xmlns:p14="http://schemas.microsoft.com/office/powerpoint/2010/main" val="77391698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Tx/>
              <a:buChar char="-"/>
            </a:pPr>
            <a:endParaRPr lang="en-US" dirty="0"/>
          </a:p>
        </p:txBody>
      </p:sp>
      <p:sp>
        <p:nvSpPr>
          <p:cNvPr id="4" name="Slide Number Placeholder 3"/>
          <p:cNvSpPr>
            <a:spLocks noGrp="1"/>
          </p:cNvSpPr>
          <p:nvPr>
            <p:ph type="sldNum" sz="quarter" idx="5"/>
          </p:nvPr>
        </p:nvSpPr>
        <p:spPr/>
        <p:txBody>
          <a:bodyPr/>
          <a:lstStyle/>
          <a:p>
            <a:fld id="{394AEAA8-7B8B-47B0-883F-BD71FA1D0C0B}" type="slidenum">
              <a:rPr lang="en-US" smtClean="0"/>
              <a:t>13</a:t>
            </a:fld>
            <a:endParaRPr lang="en-US"/>
          </a:p>
        </p:txBody>
      </p:sp>
    </p:spTree>
    <p:extLst>
      <p:ext uri="{BB962C8B-B14F-4D97-AF65-F5344CB8AC3E}">
        <p14:creationId xmlns:p14="http://schemas.microsoft.com/office/powerpoint/2010/main" val="176947888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394AEAA8-7B8B-47B0-883F-BD71FA1D0C0B}" type="slidenum">
              <a:rPr lang="en-US" smtClean="0"/>
              <a:t>14</a:t>
            </a:fld>
            <a:endParaRPr lang="en-US"/>
          </a:p>
        </p:txBody>
      </p:sp>
    </p:spTree>
    <p:extLst>
      <p:ext uri="{BB962C8B-B14F-4D97-AF65-F5344CB8AC3E}">
        <p14:creationId xmlns:p14="http://schemas.microsoft.com/office/powerpoint/2010/main" val="355916416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394AEAA8-7B8B-47B0-883F-BD71FA1D0C0B}" type="slidenum">
              <a:rPr lang="en-US" smtClean="0"/>
              <a:t>15</a:t>
            </a:fld>
            <a:endParaRPr lang="en-US"/>
          </a:p>
        </p:txBody>
      </p:sp>
    </p:spTree>
    <p:extLst>
      <p:ext uri="{BB962C8B-B14F-4D97-AF65-F5344CB8AC3E}">
        <p14:creationId xmlns:p14="http://schemas.microsoft.com/office/powerpoint/2010/main" val="218038716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394AEAA8-7B8B-47B0-883F-BD71FA1D0C0B}" type="slidenum">
              <a:rPr lang="en-US" smtClean="0"/>
              <a:t>17</a:t>
            </a:fld>
            <a:endParaRPr lang="en-US"/>
          </a:p>
        </p:txBody>
      </p:sp>
    </p:spTree>
    <p:extLst>
      <p:ext uri="{BB962C8B-B14F-4D97-AF65-F5344CB8AC3E}">
        <p14:creationId xmlns:p14="http://schemas.microsoft.com/office/powerpoint/2010/main" val="290116862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394AEAA8-7B8B-47B0-883F-BD71FA1D0C0B}" type="slidenum">
              <a:rPr lang="en-US" smtClean="0"/>
              <a:t>18</a:t>
            </a:fld>
            <a:endParaRPr lang="en-US"/>
          </a:p>
        </p:txBody>
      </p:sp>
    </p:spTree>
    <p:extLst>
      <p:ext uri="{BB962C8B-B14F-4D97-AF65-F5344CB8AC3E}">
        <p14:creationId xmlns:p14="http://schemas.microsoft.com/office/powerpoint/2010/main" val="269770966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394AEAA8-7B8B-47B0-883F-BD71FA1D0C0B}" type="slidenum">
              <a:rPr lang="en-US" smtClean="0"/>
              <a:t>19</a:t>
            </a:fld>
            <a:endParaRPr lang="en-US"/>
          </a:p>
        </p:txBody>
      </p:sp>
    </p:spTree>
    <p:extLst>
      <p:ext uri="{BB962C8B-B14F-4D97-AF65-F5344CB8AC3E}">
        <p14:creationId xmlns:p14="http://schemas.microsoft.com/office/powerpoint/2010/main" val="29696031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394AEAA8-7B8B-47B0-883F-BD71FA1D0C0B}" type="slidenum">
              <a:rPr lang="en-US" smtClean="0"/>
              <a:t>20</a:t>
            </a:fld>
            <a:endParaRPr lang="en-US"/>
          </a:p>
        </p:txBody>
      </p:sp>
    </p:spTree>
    <p:extLst>
      <p:ext uri="{BB962C8B-B14F-4D97-AF65-F5344CB8AC3E}">
        <p14:creationId xmlns:p14="http://schemas.microsoft.com/office/powerpoint/2010/main" val="383130756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394AEAA8-7B8B-47B0-883F-BD71FA1D0C0B}" type="slidenum">
              <a:rPr lang="en-US" smtClean="0"/>
              <a:t>22</a:t>
            </a:fld>
            <a:endParaRPr lang="en-US"/>
          </a:p>
        </p:txBody>
      </p:sp>
    </p:spTree>
    <p:extLst>
      <p:ext uri="{BB962C8B-B14F-4D97-AF65-F5344CB8AC3E}">
        <p14:creationId xmlns:p14="http://schemas.microsoft.com/office/powerpoint/2010/main" val="398488423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indent="-228600">
              <a:buAutoNum type="arabicPeriod"/>
            </a:pPr>
            <a:endParaRPr lang="en-US" dirty="0"/>
          </a:p>
        </p:txBody>
      </p:sp>
      <p:sp>
        <p:nvSpPr>
          <p:cNvPr id="4" name="Slide Number Placeholder 3"/>
          <p:cNvSpPr>
            <a:spLocks noGrp="1"/>
          </p:cNvSpPr>
          <p:nvPr>
            <p:ph type="sldNum" sz="quarter" idx="5"/>
          </p:nvPr>
        </p:nvSpPr>
        <p:spPr/>
        <p:txBody>
          <a:bodyPr/>
          <a:lstStyle/>
          <a:p>
            <a:fld id="{394AEAA8-7B8B-47B0-883F-BD71FA1D0C0B}" type="slidenum">
              <a:rPr lang="en-US" smtClean="0"/>
              <a:t>23</a:t>
            </a:fld>
            <a:endParaRPr lang="en-US"/>
          </a:p>
        </p:txBody>
      </p:sp>
    </p:spTree>
    <p:extLst>
      <p:ext uri="{BB962C8B-B14F-4D97-AF65-F5344CB8AC3E}">
        <p14:creationId xmlns:p14="http://schemas.microsoft.com/office/powerpoint/2010/main" val="119580607"/>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394AEAA8-7B8B-47B0-883F-BD71FA1D0C0B}" type="slidenum">
              <a:rPr lang="en-US" smtClean="0"/>
              <a:t>25</a:t>
            </a:fld>
            <a:endParaRPr lang="en-US"/>
          </a:p>
        </p:txBody>
      </p:sp>
    </p:spTree>
    <p:extLst>
      <p:ext uri="{BB962C8B-B14F-4D97-AF65-F5344CB8AC3E}">
        <p14:creationId xmlns:p14="http://schemas.microsoft.com/office/powerpoint/2010/main" val="3863047803"/>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394AEAA8-7B8B-47B0-883F-BD71FA1D0C0B}" type="slidenum">
              <a:rPr lang="en-US" smtClean="0"/>
              <a:t>26</a:t>
            </a:fld>
            <a:endParaRPr lang="en-US"/>
          </a:p>
        </p:txBody>
      </p:sp>
    </p:spTree>
    <p:extLst>
      <p:ext uri="{BB962C8B-B14F-4D97-AF65-F5344CB8AC3E}">
        <p14:creationId xmlns:p14="http://schemas.microsoft.com/office/powerpoint/2010/main" val="3170008020"/>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394AEAA8-7B8B-47B0-883F-BD71FA1D0C0B}" type="slidenum">
              <a:rPr lang="en-US" smtClean="0"/>
              <a:t>27</a:t>
            </a:fld>
            <a:endParaRPr lang="en-US"/>
          </a:p>
        </p:txBody>
      </p:sp>
    </p:spTree>
    <p:extLst>
      <p:ext uri="{BB962C8B-B14F-4D97-AF65-F5344CB8AC3E}">
        <p14:creationId xmlns:p14="http://schemas.microsoft.com/office/powerpoint/2010/main" val="2026411084"/>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394AEAA8-7B8B-47B0-883F-BD71FA1D0C0B}" type="slidenum">
              <a:rPr lang="en-US" smtClean="0"/>
              <a:t>28</a:t>
            </a:fld>
            <a:endParaRPr lang="en-US"/>
          </a:p>
        </p:txBody>
      </p:sp>
    </p:spTree>
    <p:extLst>
      <p:ext uri="{BB962C8B-B14F-4D97-AF65-F5344CB8AC3E}">
        <p14:creationId xmlns:p14="http://schemas.microsoft.com/office/powerpoint/2010/main" val="337984807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394AEAA8-7B8B-47B0-883F-BD71FA1D0C0B}" type="slidenum">
              <a:rPr lang="en-US" smtClean="0"/>
              <a:t>29</a:t>
            </a:fld>
            <a:endParaRPr lang="en-US"/>
          </a:p>
        </p:txBody>
      </p:sp>
    </p:spTree>
    <p:extLst>
      <p:ext uri="{BB962C8B-B14F-4D97-AF65-F5344CB8AC3E}">
        <p14:creationId xmlns:p14="http://schemas.microsoft.com/office/powerpoint/2010/main" val="1328582250"/>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p:cNvSpPr>
            <a:spLocks noGrp="1"/>
          </p:cNvSpPr>
          <p:nvPr>
            <p:ph type="sldNum" sz="quarter" idx="5"/>
          </p:nvPr>
        </p:nvSpPr>
        <p:spPr/>
        <p:txBody>
          <a:bodyPr/>
          <a:lstStyle/>
          <a:p>
            <a:fld id="{394AEAA8-7B8B-47B0-883F-BD71FA1D0C0B}" type="slidenum">
              <a:rPr lang="en-US" smtClean="0"/>
              <a:t>30</a:t>
            </a:fld>
            <a:endParaRPr lang="en-US"/>
          </a:p>
        </p:txBody>
      </p:sp>
    </p:spTree>
    <p:extLst>
      <p:ext uri="{BB962C8B-B14F-4D97-AF65-F5344CB8AC3E}">
        <p14:creationId xmlns:p14="http://schemas.microsoft.com/office/powerpoint/2010/main" val="2593672393"/>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394AEAA8-7B8B-47B0-883F-BD71FA1D0C0B}" type="slidenum">
              <a:rPr lang="en-US" smtClean="0"/>
              <a:t>31</a:t>
            </a:fld>
            <a:endParaRPr lang="en-US"/>
          </a:p>
        </p:txBody>
      </p:sp>
    </p:spTree>
    <p:extLst>
      <p:ext uri="{BB962C8B-B14F-4D97-AF65-F5344CB8AC3E}">
        <p14:creationId xmlns:p14="http://schemas.microsoft.com/office/powerpoint/2010/main" val="1335281617"/>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2B334D-9777-36E7-BC66-FFB34217029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AB7F819-28D3-1229-89D8-EF9FE9DAF20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BC6265E-65F9-9102-A60E-825D280BDCC3}"/>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070C976E-4390-39C3-1E76-F5D319376D92}"/>
              </a:ext>
            </a:extLst>
          </p:cNvPr>
          <p:cNvSpPr>
            <a:spLocks noGrp="1"/>
          </p:cNvSpPr>
          <p:nvPr>
            <p:ph type="sldNum" sz="quarter" idx="5"/>
          </p:nvPr>
        </p:nvSpPr>
        <p:spPr/>
        <p:txBody>
          <a:bodyPr/>
          <a:lstStyle/>
          <a:p>
            <a:fld id="{394AEAA8-7B8B-47B0-883F-BD71FA1D0C0B}" type="slidenum">
              <a:rPr lang="en-US" smtClean="0"/>
              <a:t>32</a:t>
            </a:fld>
            <a:endParaRPr lang="en-US"/>
          </a:p>
        </p:txBody>
      </p:sp>
    </p:spTree>
    <p:extLst>
      <p:ext uri="{BB962C8B-B14F-4D97-AF65-F5344CB8AC3E}">
        <p14:creationId xmlns:p14="http://schemas.microsoft.com/office/powerpoint/2010/main" val="469303967"/>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394AEAA8-7B8B-47B0-883F-BD71FA1D0C0B}" type="slidenum">
              <a:rPr lang="en-US" smtClean="0"/>
              <a:t>33</a:t>
            </a:fld>
            <a:endParaRPr lang="en-US"/>
          </a:p>
        </p:txBody>
      </p:sp>
    </p:spTree>
    <p:extLst>
      <p:ext uri="{BB962C8B-B14F-4D97-AF65-F5344CB8AC3E}">
        <p14:creationId xmlns:p14="http://schemas.microsoft.com/office/powerpoint/2010/main" val="1605670253"/>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394AEAA8-7B8B-47B0-883F-BD71FA1D0C0B}" type="slidenum">
              <a:rPr lang="en-US" smtClean="0"/>
              <a:t>34</a:t>
            </a:fld>
            <a:endParaRPr lang="en-US"/>
          </a:p>
        </p:txBody>
      </p:sp>
    </p:spTree>
    <p:extLst>
      <p:ext uri="{BB962C8B-B14F-4D97-AF65-F5344CB8AC3E}">
        <p14:creationId xmlns:p14="http://schemas.microsoft.com/office/powerpoint/2010/main" val="1868815804"/>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394AEAA8-7B8B-47B0-883F-BD71FA1D0C0B}" type="slidenum">
              <a:rPr lang="en-US" smtClean="0"/>
              <a:t>35</a:t>
            </a:fld>
            <a:endParaRPr lang="en-US"/>
          </a:p>
        </p:txBody>
      </p:sp>
    </p:spTree>
    <p:extLst>
      <p:ext uri="{BB962C8B-B14F-4D97-AF65-F5344CB8AC3E}">
        <p14:creationId xmlns:p14="http://schemas.microsoft.com/office/powerpoint/2010/main" val="945437304"/>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394AEAA8-7B8B-47B0-883F-BD71FA1D0C0B}" type="slidenum">
              <a:rPr lang="en-US" smtClean="0"/>
              <a:t>36</a:t>
            </a:fld>
            <a:endParaRPr lang="en-US"/>
          </a:p>
        </p:txBody>
      </p:sp>
    </p:spTree>
    <p:extLst>
      <p:ext uri="{BB962C8B-B14F-4D97-AF65-F5344CB8AC3E}">
        <p14:creationId xmlns:p14="http://schemas.microsoft.com/office/powerpoint/2010/main" val="3230401083"/>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394AEAA8-7B8B-47B0-883F-BD71FA1D0C0B}" type="slidenum">
              <a:rPr lang="en-US" smtClean="0"/>
              <a:t>37</a:t>
            </a:fld>
            <a:endParaRPr lang="en-US"/>
          </a:p>
        </p:txBody>
      </p:sp>
    </p:spTree>
    <p:extLst>
      <p:ext uri="{BB962C8B-B14F-4D97-AF65-F5344CB8AC3E}">
        <p14:creationId xmlns:p14="http://schemas.microsoft.com/office/powerpoint/2010/main" val="510120715"/>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394AEAA8-7B8B-47B0-883F-BD71FA1D0C0B}" type="slidenum">
              <a:rPr lang="en-US" smtClean="0"/>
              <a:t>38</a:t>
            </a:fld>
            <a:endParaRPr lang="en-US"/>
          </a:p>
        </p:txBody>
      </p:sp>
    </p:spTree>
    <p:extLst>
      <p:ext uri="{BB962C8B-B14F-4D97-AF65-F5344CB8AC3E}">
        <p14:creationId xmlns:p14="http://schemas.microsoft.com/office/powerpoint/2010/main" val="1774187969"/>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394AEAA8-7B8B-47B0-883F-BD71FA1D0C0B}" type="slidenum">
              <a:rPr lang="en-US" smtClean="0"/>
              <a:t>39</a:t>
            </a:fld>
            <a:endParaRPr lang="en-US"/>
          </a:p>
        </p:txBody>
      </p:sp>
    </p:spTree>
    <p:extLst>
      <p:ext uri="{BB962C8B-B14F-4D97-AF65-F5344CB8AC3E}">
        <p14:creationId xmlns:p14="http://schemas.microsoft.com/office/powerpoint/2010/main" val="296613810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394AEAA8-7B8B-47B0-883F-BD71FA1D0C0B}" type="slidenum">
              <a:rPr lang="en-US" smtClean="0"/>
              <a:t>40</a:t>
            </a:fld>
            <a:endParaRPr lang="en-US"/>
          </a:p>
        </p:txBody>
      </p:sp>
    </p:spTree>
    <p:extLst>
      <p:ext uri="{BB962C8B-B14F-4D97-AF65-F5344CB8AC3E}">
        <p14:creationId xmlns:p14="http://schemas.microsoft.com/office/powerpoint/2010/main" val="3029813996"/>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394AEAA8-7B8B-47B0-883F-BD71FA1D0C0B}" type="slidenum">
              <a:rPr lang="en-US" smtClean="0"/>
              <a:t>41</a:t>
            </a:fld>
            <a:endParaRPr lang="en-US"/>
          </a:p>
        </p:txBody>
      </p:sp>
    </p:spTree>
    <p:extLst>
      <p:ext uri="{BB962C8B-B14F-4D97-AF65-F5344CB8AC3E}">
        <p14:creationId xmlns:p14="http://schemas.microsoft.com/office/powerpoint/2010/main" val="1024888263"/>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394AEAA8-7B8B-47B0-883F-BD71FA1D0C0B}" type="slidenum">
              <a:rPr lang="en-US" smtClean="0"/>
              <a:t>42</a:t>
            </a:fld>
            <a:endParaRPr lang="en-US"/>
          </a:p>
        </p:txBody>
      </p:sp>
    </p:spTree>
    <p:extLst>
      <p:ext uri="{BB962C8B-B14F-4D97-AF65-F5344CB8AC3E}">
        <p14:creationId xmlns:p14="http://schemas.microsoft.com/office/powerpoint/2010/main" val="3133748072"/>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p:cNvSpPr>
            <a:spLocks noGrp="1"/>
          </p:cNvSpPr>
          <p:nvPr>
            <p:ph type="sldNum" sz="quarter" idx="5"/>
          </p:nvPr>
        </p:nvSpPr>
        <p:spPr/>
        <p:txBody>
          <a:bodyPr/>
          <a:lstStyle/>
          <a:p>
            <a:fld id="{394AEAA8-7B8B-47B0-883F-BD71FA1D0C0B}" type="slidenum">
              <a:rPr lang="en-US" smtClean="0"/>
              <a:t>43</a:t>
            </a:fld>
            <a:endParaRPr lang="en-US"/>
          </a:p>
        </p:txBody>
      </p:sp>
    </p:spTree>
    <p:extLst>
      <p:ext uri="{BB962C8B-B14F-4D97-AF65-F5344CB8AC3E}">
        <p14:creationId xmlns:p14="http://schemas.microsoft.com/office/powerpoint/2010/main" val="535381857"/>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394AEAA8-7B8B-47B0-883F-BD71FA1D0C0B}" type="slidenum">
              <a:rPr lang="en-US" smtClean="0"/>
              <a:t>44</a:t>
            </a:fld>
            <a:endParaRPr lang="en-US"/>
          </a:p>
        </p:txBody>
      </p:sp>
    </p:spTree>
    <p:extLst>
      <p:ext uri="{BB962C8B-B14F-4D97-AF65-F5344CB8AC3E}">
        <p14:creationId xmlns:p14="http://schemas.microsoft.com/office/powerpoint/2010/main" val="402982866"/>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394AEAA8-7B8B-47B0-883F-BD71FA1D0C0B}" type="slidenum">
              <a:rPr lang="en-US" smtClean="0"/>
              <a:t>45</a:t>
            </a:fld>
            <a:endParaRPr lang="en-US"/>
          </a:p>
        </p:txBody>
      </p:sp>
    </p:spTree>
    <p:extLst>
      <p:ext uri="{BB962C8B-B14F-4D97-AF65-F5344CB8AC3E}">
        <p14:creationId xmlns:p14="http://schemas.microsoft.com/office/powerpoint/2010/main" val="3302501317"/>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394AEAA8-7B8B-47B0-883F-BD71FA1D0C0B}" type="slidenum">
              <a:rPr lang="en-US" smtClean="0"/>
              <a:t>46</a:t>
            </a:fld>
            <a:endParaRPr lang="en-US"/>
          </a:p>
        </p:txBody>
      </p:sp>
    </p:spTree>
    <p:extLst>
      <p:ext uri="{BB962C8B-B14F-4D97-AF65-F5344CB8AC3E}">
        <p14:creationId xmlns:p14="http://schemas.microsoft.com/office/powerpoint/2010/main" val="3471774634"/>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394AEAA8-7B8B-47B0-883F-BD71FA1D0C0B}" type="slidenum">
              <a:rPr lang="en-US" smtClean="0"/>
              <a:t>47</a:t>
            </a:fld>
            <a:endParaRPr lang="en-US"/>
          </a:p>
        </p:txBody>
      </p:sp>
    </p:spTree>
    <p:extLst>
      <p:ext uri="{BB962C8B-B14F-4D97-AF65-F5344CB8AC3E}">
        <p14:creationId xmlns:p14="http://schemas.microsoft.com/office/powerpoint/2010/main" val="554022674"/>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394AEAA8-7B8B-47B0-883F-BD71FA1D0C0B}" type="slidenum">
              <a:rPr lang="en-US" smtClean="0"/>
              <a:t>48</a:t>
            </a:fld>
            <a:endParaRPr lang="en-US"/>
          </a:p>
        </p:txBody>
      </p:sp>
    </p:spTree>
    <p:extLst>
      <p:ext uri="{BB962C8B-B14F-4D97-AF65-F5344CB8AC3E}">
        <p14:creationId xmlns:p14="http://schemas.microsoft.com/office/powerpoint/2010/main" val="383695690"/>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394AEAA8-7B8B-47B0-883F-BD71FA1D0C0B}" type="slidenum">
              <a:rPr lang="en-US" smtClean="0"/>
              <a:t>49</a:t>
            </a:fld>
            <a:endParaRPr lang="en-US"/>
          </a:p>
        </p:txBody>
      </p:sp>
    </p:spTree>
    <p:extLst>
      <p:ext uri="{BB962C8B-B14F-4D97-AF65-F5344CB8AC3E}">
        <p14:creationId xmlns:p14="http://schemas.microsoft.com/office/powerpoint/2010/main" val="2230703614"/>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394AEAA8-7B8B-47B0-883F-BD71FA1D0C0B}" type="slidenum">
              <a:rPr lang="en-US" smtClean="0"/>
              <a:t>50</a:t>
            </a:fld>
            <a:endParaRPr lang="en-US"/>
          </a:p>
        </p:txBody>
      </p:sp>
    </p:spTree>
    <p:extLst>
      <p:ext uri="{BB962C8B-B14F-4D97-AF65-F5344CB8AC3E}">
        <p14:creationId xmlns:p14="http://schemas.microsoft.com/office/powerpoint/2010/main" val="1069729098"/>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394AEAA8-7B8B-47B0-883F-BD71FA1D0C0B}" type="slidenum">
              <a:rPr lang="en-US" smtClean="0"/>
              <a:t>51</a:t>
            </a:fld>
            <a:endParaRPr lang="en-US"/>
          </a:p>
        </p:txBody>
      </p:sp>
    </p:spTree>
    <p:extLst>
      <p:ext uri="{BB962C8B-B14F-4D97-AF65-F5344CB8AC3E}">
        <p14:creationId xmlns:p14="http://schemas.microsoft.com/office/powerpoint/2010/main" val="3138514680"/>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394AEAA8-7B8B-47B0-883F-BD71FA1D0C0B}" type="slidenum">
              <a:rPr lang="en-US" smtClean="0"/>
              <a:t>52</a:t>
            </a:fld>
            <a:endParaRPr lang="en-US"/>
          </a:p>
        </p:txBody>
      </p:sp>
    </p:spTree>
    <p:extLst>
      <p:ext uri="{BB962C8B-B14F-4D97-AF65-F5344CB8AC3E}">
        <p14:creationId xmlns:p14="http://schemas.microsoft.com/office/powerpoint/2010/main" val="3745723732"/>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394AEAA8-7B8B-47B0-883F-BD71FA1D0C0B}" type="slidenum">
              <a:rPr lang="en-US" smtClean="0"/>
              <a:t>53</a:t>
            </a:fld>
            <a:endParaRPr lang="en-US"/>
          </a:p>
        </p:txBody>
      </p:sp>
    </p:spTree>
    <p:extLst>
      <p:ext uri="{BB962C8B-B14F-4D97-AF65-F5344CB8AC3E}">
        <p14:creationId xmlns:p14="http://schemas.microsoft.com/office/powerpoint/2010/main" val="1347542806"/>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p:cNvSpPr>
            <a:spLocks noGrp="1"/>
          </p:cNvSpPr>
          <p:nvPr>
            <p:ph type="sldNum" sz="quarter" idx="5"/>
          </p:nvPr>
        </p:nvSpPr>
        <p:spPr/>
        <p:txBody>
          <a:bodyPr/>
          <a:lstStyle/>
          <a:p>
            <a:fld id="{394AEAA8-7B8B-47B0-883F-BD71FA1D0C0B}" type="slidenum">
              <a:rPr lang="en-US" smtClean="0"/>
              <a:t>54</a:t>
            </a:fld>
            <a:endParaRPr lang="en-US"/>
          </a:p>
        </p:txBody>
      </p:sp>
    </p:spTree>
    <p:extLst>
      <p:ext uri="{BB962C8B-B14F-4D97-AF65-F5344CB8AC3E}">
        <p14:creationId xmlns:p14="http://schemas.microsoft.com/office/powerpoint/2010/main" val="2971735784"/>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394AEAA8-7B8B-47B0-883F-BD71FA1D0C0B}" type="slidenum">
              <a:rPr lang="en-US" smtClean="0"/>
              <a:t>55</a:t>
            </a:fld>
            <a:endParaRPr lang="en-US"/>
          </a:p>
        </p:txBody>
      </p:sp>
    </p:spTree>
    <p:extLst>
      <p:ext uri="{BB962C8B-B14F-4D97-AF65-F5344CB8AC3E}">
        <p14:creationId xmlns:p14="http://schemas.microsoft.com/office/powerpoint/2010/main" val="1947710796"/>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394AEAA8-7B8B-47B0-883F-BD71FA1D0C0B}" type="slidenum">
              <a:rPr lang="en-US" smtClean="0"/>
              <a:t>56</a:t>
            </a:fld>
            <a:endParaRPr lang="en-US"/>
          </a:p>
        </p:txBody>
      </p:sp>
    </p:spTree>
    <p:extLst>
      <p:ext uri="{BB962C8B-B14F-4D97-AF65-F5344CB8AC3E}">
        <p14:creationId xmlns:p14="http://schemas.microsoft.com/office/powerpoint/2010/main" val="261073619"/>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394AEAA8-7B8B-47B0-883F-BD71FA1D0C0B}" type="slidenum">
              <a:rPr lang="en-US" smtClean="0"/>
              <a:t>57</a:t>
            </a:fld>
            <a:endParaRPr lang="en-US"/>
          </a:p>
        </p:txBody>
      </p:sp>
    </p:spTree>
    <p:extLst>
      <p:ext uri="{BB962C8B-B14F-4D97-AF65-F5344CB8AC3E}">
        <p14:creationId xmlns:p14="http://schemas.microsoft.com/office/powerpoint/2010/main" val="2064087965"/>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394AEAA8-7B8B-47B0-883F-BD71FA1D0C0B}" type="slidenum">
              <a:rPr lang="en-US" smtClean="0"/>
              <a:t>58</a:t>
            </a:fld>
            <a:endParaRPr lang="en-US"/>
          </a:p>
        </p:txBody>
      </p:sp>
    </p:spTree>
    <p:extLst>
      <p:ext uri="{BB962C8B-B14F-4D97-AF65-F5344CB8AC3E}">
        <p14:creationId xmlns:p14="http://schemas.microsoft.com/office/powerpoint/2010/main" val="3380665132"/>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394AEAA8-7B8B-47B0-883F-BD71FA1D0C0B}" type="slidenum">
              <a:rPr lang="en-US" smtClean="0"/>
              <a:t>59</a:t>
            </a:fld>
            <a:endParaRPr lang="en-US"/>
          </a:p>
        </p:txBody>
      </p:sp>
    </p:spTree>
    <p:extLst>
      <p:ext uri="{BB962C8B-B14F-4D97-AF65-F5344CB8AC3E}">
        <p14:creationId xmlns:p14="http://schemas.microsoft.com/office/powerpoint/2010/main" val="1756458645"/>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394AEAA8-7B8B-47B0-883F-BD71FA1D0C0B}" type="slidenum">
              <a:rPr lang="en-US" smtClean="0"/>
              <a:t>60</a:t>
            </a:fld>
            <a:endParaRPr lang="en-US"/>
          </a:p>
        </p:txBody>
      </p:sp>
    </p:spTree>
    <p:extLst>
      <p:ext uri="{BB962C8B-B14F-4D97-AF65-F5344CB8AC3E}">
        <p14:creationId xmlns:p14="http://schemas.microsoft.com/office/powerpoint/2010/main" val="4238212262"/>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394AEAA8-7B8B-47B0-883F-BD71FA1D0C0B}" type="slidenum">
              <a:rPr lang="en-US" smtClean="0"/>
              <a:t>61</a:t>
            </a:fld>
            <a:endParaRPr lang="en-US"/>
          </a:p>
        </p:txBody>
      </p:sp>
    </p:spTree>
    <p:extLst>
      <p:ext uri="{BB962C8B-B14F-4D97-AF65-F5344CB8AC3E}">
        <p14:creationId xmlns:p14="http://schemas.microsoft.com/office/powerpoint/2010/main" val="840064575"/>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394AEAA8-7B8B-47B0-883F-BD71FA1D0C0B}" type="slidenum">
              <a:rPr lang="en-US" smtClean="0"/>
              <a:t>62</a:t>
            </a:fld>
            <a:endParaRPr lang="en-US"/>
          </a:p>
        </p:txBody>
      </p:sp>
    </p:spTree>
    <p:extLst>
      <p:ext uri="{BB962C8B-B14F-4D97-AF65-F5344CB8AC3E}">
        <p14:creationId xmlns:p14="http://schemas.microsoft.com/office/powerpoint/2010/main" val="2881132237"/>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394AEAA8-7B8B-47B0-883F-BD71FA1D0C0B}" type="slidenum">
              <a:rPr lang="en-US" smtClean="0"/>
              <a:t>63</a:t>
            </a:fld>
            <a:endParaRPr lang="en-US"/>
          </a:p>
        </p:txBody>
      </p:sp>
    </p:spTree>
    <p:extLst>
      <p:ext uri="{BB962C8B-B14F-4D97-AF65-F5344CB8AC3E}">
        <p14:creationId xmlns:p14="http://schemas.microsoft.com/office/powerpoint/2010/main" val="2733191195"/>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p:cNvSpPr>
            <a:spLocks noGrp="1"/>
          </p:cNvSpPr>
          <p:nvPr>
            <p:ph type="sldNum" sz="quarter" idx="5"/>
          </p:nvPr>
        </p:nvSpPr>
        <p:spPr/>
        <p:txBody>
          <a:bodyPr/>
          <a:lstStyle/>
          <a:p>
            <a:fld id="{394AEAA8-7B8B-47B0-883F-BD71FA1D0C0B}" type="slidenum">
              <a:rPr lang="en-US" smtClean="0"/>
              <a:t>64</a:t>
            </a:fld>
            <a:endParaRPr lang="en-US"/>
          </a:p>
        </p:txBody>
      </p:sp>
    </p:spTree>
    <p:extLst>
      <p:ext uri="{BB962C8B-B14F-4D97-AF65-F5344CB8AC3E}">
        <p14:creationId xmlns:p14="http://schemas.microsoft.com/office/powerpoint/2010/main" val="1016939266"/>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394AEAA8-7B8B-47B0-883F-BD71FA1D0C0B}" type="slidenum">
              <a:rPr lang="en-US" smtClean="0"/>
              <a:t>65</a:t>
            </a:fld>
            <a:endParaRPr lang="en-US"/>
          </a:p>
        </p:txBody>
      </p:sp>
    </p:spTree>
    <p:extLst>
      <p:ext uri="{BB962C8B-B14F-4D97-AF65-F5344CB8AC3E}">
        <p14:creationId xmlns:p14="http://schemas.microsoft.com/office/powerpoint/2010/main" val="2332221743"/>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394AEAA8-7B8B-47B0-883F-BD71FA1D0C0B}" type="slidenum">
              <a:rPr lang="en-US" smtClean="0"/>
              <a:t>66</a:t>
            </a:fld>
            <a:endParaRPr lang="en-US"/>
          </a:p>
        </p:txBody>
      </p:sp>
    </p:spTree>
    <p:extLst>
      <p:ext uri="{BB962C8B-B14F-4D97-AF65-F5344CB8AC3E}">
        <p14:creationId xmlns:p14="http://schemas.microsoft.com/office/powerpoint/2010/main" val="3643059588"/>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394AEAA8-7B8B-47B0-883F-BD71FA1D0C0B}" type="slidenum">
              <a:rPr lang="en-US" smtClean="0"/>
              <a:t>67</a:t>
            </a:fld>
            <a:endParaRPr lang="en-US"/>
          </a:p>
        </p:txBody>
      </p:sp>
    </p:spTree>
    <p:extLst>
      <p:ext uri="{BB962C8B-B14F-4D97-AF65-F5344CB8AC3E}">
        <p14:creationId xmlns:p14="http://schemas.microsoft.com/office/powerpoint/2010/main" val="2252202715"/>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394AEAA8-7B8B-47B0-883F-BD71FA1D0C0B}" type="slidenum">
              <a:rPr lang="en-US" smtClean="0"/>
              <a:t>68</a:t>
            </a:fld>
            <a:endParaRPr lang="en-US"/>
          </a:p>
        </p:txBody>
      </p:sp>
    </p:spTree>
    <p:extLst>
      <p:ext uri="{BB962C8B-B14F-4D97-AF65-F5344CB8AC3E}">
        <p14:creationId xmlns:p14="http://schemas.microsoft.com/office/powerpoint/2010/main" val="292846097"/>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394AEAA8-7B8B-47B0-883F-BD71FA1D0C0B}" type="slidenum">
              <a:rPr lang="en-US" smtClean="0"/>
              <a:t>69</a:t>
            </a:fld>
            <a:endParaRPr lang="en-US"/>
          </a:p>
        </p:txBody>
      </p:sp>
    </p:spTree>
    <p:extLst>
      <p:ext uri="{BB962C8B-B14F-4D97-AF65-F5344CB8AC3E}">
        <p14:creationId xmlns:p14="http://schemas.microsoft.com/office/powerpoint/2010/main" val="2084326639"/>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394AEAA8-7B8B-47B0-883F-BD71FA1D0C0B}" type="slidenum">
              <a:rPr lang="en-US" smtClean="0"/>
              <a:t>70</a:t>
            </a:fld>
            <a:endParaRPr lang="en-US"/>
          </a:p>
        </p:txBody>
      </p:sp>
    </p:spTree>
    <p:extLst>
      <p:ext uri="{BB962C8B-B14F-4D97-AF65-F5344CB8AC3E}">
        <p14:creationId xmlns:p14="http://schemas.microsoft.com/office/powerpoint/2010/main" val="2522563895"/>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394AEAA8-7B8B-47B0-883F-BD71FA1D0C0B}" type="slidenum">
              <a:rPr lang="en-US" smtClean="0"/>
              <a:t>71</a:t>
            </a:fld>
            <a:endParaRPr lang="en-US"/>
          </a:p>
        </p:txBody>
      </p:sp>
    </p:spTree>
    <p:extLst>
      <p:ext uri="{BB962C8B-B14F-4D97-AF65-F5344CB8AC3E}">
        <p14:creationId xmlns:p14="http://schemas.microsoft.com/office/powerpoint/2010/main" val="1180587451"/>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394AEAA8-7B8B-47B0-883F-BD71FA1D0C0B}" type="slidenum">
              <a:rPr lang="en-US" smtClean="0"/>
              <a:t>72</a:t>
            </a:fld>
            <a:endParaRPr lang="en-US"/>
          </a:p>
        </p:txBody>
      </p:sp>
    </p:spTree>
    <p:extLst>
      <p:ext uri="{BB962C8B-B14F-4D97-AF65-F5344CB8AC3E}">
        <p14:creationId xmlns:p14="http://schemas.microsoft.com/office/powerpoint/2010/main" val="3716024643"/>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394AEAA8-7B8B-47B0-883F-BD71FA1D0C0B}" type="slidenum">
              <a:rPr lang="en-US" smtClean="0"/>
              <a:t>74</a:t>
            </a:fld>
            <a:endParaRPr lang="en-US"/>
          </a:p>
        </p:txBody>
      </p:sp>
    </p:spTree>
    <p:extLst>
      <p:ext uri="{BB962C8B-B14F-4D97-AF65-F5344CB8AC3E}">
        <p14:creationId xmlns:p14="http://schemas.microsoft.com/office/powerpoint/2010/main" val="10964412"/>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394AEAA8-7B8B-47B0-883F-BD71FA1D0C0B}" type="slidenum">
              <a:rPr lang="en-US" smtClean="0"/>
              <a:t>75</a:t>
            </a:fld>
            <a:endParaRPr lang="en-US"/>
          </a:p>
        </p:txBody>
      </p:sp>
    </p:spTree>
    <p:extLst>
      <p:ext uri="{BB962C8B-B14F-4D97-AF65-F5344CB8AC3E}">
        <p14:creationId xmlns:p14="http://schemas.microsoft.com/office/powerpoint/2010/main" val="3896315036"/>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394AEAA8-7B8B-47B0-883F-BD71FA1D0C0B}" type="slidenum">
              <a:rPr lang="en-US" smtClean="0"/>
              <a:t>76</a:t>
            </a:fld>
            <a:endParaRPr lang="en-US"/>
          </a:p>
        </p:txBody>
      </p:sp>
    </p:spTree>
    <p:extLst>
      <p:ext uri="{BB962C8B-B14F-4D97-AF65-F5344CB8AC3E}">
        <p14:creationId xmlns:p14="http://schemas.microsoft.com/office/powerpoint/2010/main" val="2981709753"/>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394AEAA8-7B8B-47B0-883F-BD71FA1D0C0B}" type="slidenum">
              <a:rPr lang="en-US" smtClean="0"/>
              <a:t>77</a:t>
            </a:fld>
            <a:endParaRPr lang="en-US"/>
          </a:p>
        </p:txBody>
      </p:sp>
    </p:spTree>
    <p:extLst>
      <p:ext uri="{BB962C8B-B14F-4D97-AF65-F5344CB8AC3E}">
        <p14:creationId xmlns:p14="http://schemas.microsoft.com/office/powerpoint/2010/main" val="1601740961"/>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394AEAA8-7B8B-47B0-883F-BD71FA1D0C0B}" type="slidenum">
              <a:rPr lang="en-US" smtClean="0"/>
              <a:t>78</a:t>
            </a:fld>
            <a:endParaRPr lang="en-US"/>
          </a:p>
        </p:txBody>
      </p:sp>
    </p:spTree>
    <p:extLst>
      <p:ext uri="{BB962C8B-B14F-4D97-AF65-F5344CB8AC3E}">
        <p14:creationId xmlns:p14="http://schemas.microsoft.com/office/powerpoint/2010/main" val="2217694134"/>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394AEAA8-7B8B-47B0-883F-BD71FA1D0C0B}" type="slidenum">
              <a:rPr lang="en-US" smtClean="0"/>
              <a:t>79</a:t>
            </a:fld>
            <a:endParaRPr lang="en-US"/>
          </a:p>
        </p:txBody>
      </p:sp>
    </p:spTree>
    <p:extLst>
      <p:ext uri="{BB962C8B-B14F-4D97-AF65-F5344CB8AC3E}">
        <p14:creationId xmlns:p14="http://schemas.microsoft.com/office/powerpoint/2010/main" val="1407780952"/>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p:cNvSpPr>
            <a:spLocks noGrp="1"/>
          </p:cNvSpPr>
          <p:nvPr>
            <p:ph type="sldNum" sz="quarter" idx="5"/>
          </p:nvPr>
        </p:nvSpPr>
        <p:spPr/>
        <p:txBody>
          <a:bodyPr/>
          <a:lstStyle/>
          <a:p>
            <a:fld id="{394AEAA8-7B8B-47B0-883F-BD71FA1D0C0B}" type="slidenum">
              <a:rPr lang="en-US" smtClean="0"/>
              <a:t>80</a:t>
            </a:fld>
            <a:endParaRPr lang="en-US"/>
          </a:p>
        </p:txBody>
      </p:sp>
    </p:spTree>
    <p:extLst>
      <p:ext uri="{BB962C8B-B14F-4D97-AF65-F5344CB8AC3E}">
        <p14:creationId xmlns:p14="http://schemas.microsoft.com/office/powerpoint/2010/main" val="898026848"/>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p:cNvSpPr>
            <a:spLocks noGrp="1"/>
          </p:cNvSpPr>
          <p:nvPr>
            <p:ph type="sldNum" sz="quarter" idx="5"/>
          </p:nvPr>
        </p:nvSpPr>
        <p:spPr/>
        <p:txBody>
          <a:bodyPr/>
          <a:lstStyle/>
          <a:p>
            <a:fld id="{394AEAA8-7B8B-47B0-883F-BD71FA1D0C0B}" type="slidenum">
              <a:rPr lang="en-US" smtClean="0"/>
              <a:t>81</a:t>
            </a:fld>
            <a:endParaRPr lang="en-US"/>
          </a:p>
        </p:txBody>
      </p:sp>
    </p:spTree>
    <p:extLst>
      <p:ext uri="{BB962C8B-B14F-4D97-AF65-F5344CB8AC3E}">
        <p14:creationId xmlns:p14="http://schemas.microsoft.com/office/powerpoint/2010/main" val="3893659076"/>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p:cNvSpPr>
            <a:spLocks noGrp="1"/>
          </p:cNvSpPr>
          <p:nvPr>
            <p:ph type="sldNum" sz="quarter" idx="5"/>
          </p:nvPr>
        </p:nvSpPr>
        <p:spPr/>
        <p:txBody>
          <a:bodyPr/>
          <a:lstStyle/>
          <a:p>
            <a:fld id="{394AEAA8-7B8B-47B0-883F-BD71FA1D0C0B}" type="slidenum">
              <a:rPr lang="en-US" smtClean="0"/>
              <a:t>82</a:t>
            </a:fld>
            <a:endParaRPr lang="en-US"/>
          </a:p>
        </p:txBody>
      </p:sp>
    </p:spTree>
    <p:extLst>
      <p:ext uri="{BB962C8B-B14F-4D97-AF65-F5344CB8AC3E}">
        <p14:creationId xmlns:p14="http://schemas.microsoft.com/office/powerpoint/2010/main" val="1725747428"/>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394AEAA8-7B8B-47B0-883F-BD71FA1D0C0B}" type="slidenum">
              <a:rPr lang="en-US" smtClean="0"/>
              <a:t>84</a:t>
            </a:fld>
            <a:endParaRPr lang="en-US"/>
          </a:p>
        </p:txBody>
      </p:sp>
    </p:spTree>
    <p:extLst>
      <p:ext uri="{BB962C8B-B14F-4D97-AF65-F5344CB8AC3E}">
        <p14:creationId xmlns:p14="http://schemas.microsoft.com/office/powerpoint/2010/main" val="768733176"/>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394AEAA8-7B8B-47B0-883F-BD71FA1D0C0B}" type="slidenum">
              <a:rPr lang="en-US" smtClean="0"/>
              <a:t>85</a:t>
            </a:fld>
            <a:endParaRPr lang="en-US"/>
          </a:p>
        </p:txBody>
      </p:sp>
    </p:spTree>
    <p:extLst>
      <p:ext uri="{BB962C8B-B14F-4D97-AF65-F5344CB8AC3E}">
        <p14:creationId xmlns:p14="http://schemas.microsoft.com/office/powerpoint/2010/main" val="2489216739"/>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394AEAA8-7B8B-47B0-883F-BD71FA1D0C0B}" type="slidenum">
              <a:rPr lang="en-US" smtClean="0"/>
              <a:t>86</a:t>
            </a:fld>
            <a:endParaRPr lang="en-US"/>
          </a:p>
        </p:txBody>
      </p:sp>
    </p:spTree>
    <p:extLst>
      <p:ext uri="{BB962C8B-B14F-4D97-AF65-F5344CB8AC3E}">
        <p14:creationId xmlns:p14="http://schemas.microsoft.com/office/powerpoint/2010/main" val="1454235301"/>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394AEAA8-7B8B-47B0-883F-BD71FA1D0C0B}" type="slidenum">
              <a:rPr lang="en-US" smtClean="0"/>
              <a:t>87</a:t>
            </a:fld>
            <a:endParaRPr lang="en-US"/>
          </a:p>
        </p:txBody>
      </p:sp>
    </p:spTree>
    <p:extLst>
      <p:ext uri="{BB962C8B-B14F-4D97-AF65-F5344CB8AC3E}">
        <p14:creationId xmlns:p14="http://schemas.microsoft.com/office/powerpoint/2010/main" val="2525800722"/>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394AEAA8-7B8B-47B0-883F-BD71FA1D0C0B}" type="slidenum">
              <a:rPr lang="en-US" smtClean="0"/>
              <a:t>88</a:t>
            </a:fld>
            <a:endParaRPr lang="en-US"/>
          </a:p>
        </p:txBody>
      </p:sp>
    </p:spTree>
    <p:extLst>
      <p:ext uri="{BB962C8B-B14F-4D97-AF65-F5344CB8AC3E}">
        <p14:creationId xmlns:p14="http://schemas.microsoft.com/office/powerpoint/2010/main" val="1349190778"/>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394AEAA8-7B8B-47B0-883F-BD71FA1D0C0B}" type="slidenum">
              <a:rPr lang="en-US" smtClean="0"/>
              <a:t>89</a:t>
            </a:fld>
            <a:endParaRPr lang="en-US"/>
          </a:p>
        </p:txBody>
      </p:sp>
    </p:spTree>
    <p:extLst>
      <p:ext uri="{BB962C8B-B14F-4D97-AF65-F5344CB8AC3E}">
        <p14:creationId xmlns:p14="http://schemas.microsoft.com/office/powerpoint/2010/main" val="1487731762"/>
      </p:ext>
    </p:extLst>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394AEAA8-7B8B-47B0-883F-BD71FA1D0C0B}" type="slidenum">
              <a:rPr lang="en-US" smtClean="0"/>
              <a:t>90</a:t>
            </a:fld>
            <a:endParaRPr lang="en-US"/>
          </a:p>
        </p:txBody>
      </p:sp>
    </p:spTree>
    <p:extLst>
      <p:ext uri="{BB962C8B-B14F-4D97-AF65-F5344CB8AC3E}">
        <p14:creationId xmlns:p14="http://schemas.microsoft.com/office/powerpoint/2010/main" val="2157688248"/>
      </p:ext>
    </p:extLst>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394AEAA8-7B8B-47B0-883F-BD71FA1D0C0B}" type="slidenum">
              <a:rPr lang="en-US" smtClean="0"/>
              <a:t>91</a:t>
            </a:fld>
            <a:endParaRPr lang="en-US"/>
          </a:p>
        </p:txBody>
      </p:sp>
    </p:spTree>
    <p:extLst>
      <p:ext uri="{BB962C8B-B14F-4D97-AF65-F5344CB8AC3E}">
        <p14:creationId xmlns:p14="http://schemas.microsoft.com/office/powerpoint/2010/main" val="4089046730"/>
      </p:ext>
    </p:extLst>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394AEAA8-7B8B-47B0-883F-BD71FA1D0C0B}" type="slidenum">
              <a:rPr lang="en-US" smtClean="0"/>
              <a:t>92</a:t>
            </a:fld>
            <a:endParaRPr lang="en-US"/>
          </a:p>
        </p:txBody>
      </p:sp>
    </p:spTree>
    <p:extLst>
      <p:ext uri="{BB962C8B-B14F-4D97-AF65-F5344CB8AC3E}">
        <p14:creationId xmlns:p14="http://schemas.microsoft.com/office/powerpoint/2010/main" val="3678991672"/>
      </p:ext>
    </p:extLst>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394AEAA8-7B8B-47B0-883F-BD71FA1D0C0B}" type="slidenum">
              <a:rPr lang="en-US" smtClean="0"/>
              <a:t>93</a:t>
            </a:fld>
            <a:endParaRPr lang="en-US"/>
          </a:p>
        </p:txBody>
      </p:sp>
    </p:spTree>
    <p:extLst>
      <p:ext uri="{BB962C8B-B14F-4D97-AF65-F5344CB8AC3E}">
        <p14:creationId xmlns:p14="http://schemas.microsoft.com/office/powerpoint/2010/main" val="466079654"/>
      </p:ext>
    </p:extLst>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394AEAA8-7B8B-47B0-883F-BD71FA1D0C0B}" type="slidenum">
              <a:rPr lang="en-US" smtClean="0"/>
              <a:t>94</a:t>
            </a:fld>
            <a:endParaRPr lang="en-US"/>
          </a:p>
        </p:txBody>
      </p:sp>
    </p:spTree>
    <p:extLst>
      <p:ext uri="{BB962C8B-B14F-4D97-AF65-F5344CB8AC3E}">
        <p14:creationId xmlns:p14="http://schemas.microsoft.com/office/powerpoint/2010/main" val="2422194036"/>
      </p:ext>
    </p:extLst>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394AEAA8-7B8B-47B0-883F-BD71FA1D0C0B}" type="slidenum">
              <a:rPr lang="en-US" smtClean="0"/>
              <a:t>95</a:t>
            </a:fld>
            <a:endParaRPr lang="en-US"/>
          </a:p>
        </p:txBody>
      </p:sp>
    </p:spTree>
    <p:extLst>
      <p:ext uri="{BB962C8B-B14F-4D97-AF65-F5344CB8AC3E}">
        <p14:creationId xmlns:p14="http://schemas.microsoft.com/office/powerpoint/2010/main" val="1049635276"/>
      </p:ext>
    </p:extLst>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394AEAA8-7B8B-47B0-883F-BD71FA1D0C0B}" type="slidenum">
              <a:rPr lang="en-US" smtClean="0"/>
              <a:t>96</a:t>
            </a:fld>
            <a:endParaRPr lang="en-US"/>
          </a:p>
        </p:txBody>
      </p:sp>
    </p:spTree>
    <p:extLst>
      <p:ext uri="{BB962C8B-B14F-4D97-AF65-F5344CB8AC3E}">
        <p14:creationId xmlns:p14="http://schemas.microsoft.com/office/powerpoint/2010/main" val="3601300684"/>
      </p:ext>
    </p:extLst>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394AEAA8-7B8B-47B0-883F-BD71FA1D0C0B}" type="slidenum">
              <a:rPr lang="en-US" smtClean="0"/>
              <a:t>97</a:t>
            </a:fld>
            <a:endParaRPr lang="en-US"/>
          </a:p>
        </p:txBody>
      </p:sp>
    </p:spTree>
    <p:extLst>
      <p:ext uri="{BB962C8B-B14F-4D97-AF65-F5344CB8AC3E}">
        <p14:creationId xmlns:p14="http://schemas.microsoft.com/office/powerpoint/2010/main" val="1729265918"/>
      </p:ext>
    </p:extLst>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394AEAA8-7B8B-47B0-883F-BD71FA1D0C0B}" type="slidenum">
              <a:rPr lang="en-US" smtClean="0"/>
              <a:t>98</a:t>
            </a:fld>
            <a:endParaRPr lang="en-US"/>
          </a:p>
        </p:txBody>
      </p:sp>
    </p:spTree>
    <p:extLst>
      <p:ext uri="{BB962C8B-B14F-4D97-AF65-F5344CB8AC3E}">
        <p14:creationId xmlns:p14="http://schemas.microsoft.com/office/powerpoint/2010/main" val="1737276096"/>
      </p:ext>
    </p:extLst>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394AEAA8-7B8B-47B0-883F-BD71FA1D0C0B}" type="slidenum">
              <a:rPr lang="en-US" smtClean="0"/>
              <a:t>99</a:t>
            </a:fld>
            <a:endParaRPr lang="en-US"/>
          </a:p>
        </p:txBody>
      </p:sp>
    </p:spTree>
    <p:extLst>
      <p:ext uri="{BB962C8B-B14F-4D97-AF65-F5344CB8AC3E}">
        <p14:creationId xmlns:p14="http://schemas.microsoft.com/office/powerpoint/2010/main" val="2020159133"/>
      </p:ext>
    </p:extLst>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394AEAA8-7B8B-47B0-883F-BD71FA1D0C0B}" type="slidenum">
              <a:rPr lang="en-US" smtClean="0"/>
              <a:t>100</a:t>
            </a:fld>
            <a:endParaRPr lang="en-US"/>
          </a:p>
        </p:txBody>
      </p:sp>
    </p:spTree>
    <p:extLst>
      <p:ext uri="{BB962C8B-B14F-4D97-AF65-F5344CB8AC3E}">
        <p14:creationId xmlns:p14="http://schemas.microsoft.com/office/powerpoint/2010/main" val="3804391504"/>
      </p:ext>
    </p:extLst>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394AEAA8-7B8B-47B0-883F-BD71FA1D0C0B}" type="slidenum">
              <a:rPr lang="en-US" smtClean="0"/>
              <a:t>101</a:t>
            </a:fld>
            <a:endParaRPr lang="en-US"/>
          </a:p>
        </p:txBody>
      </p:sp>
    </p:spTree>
    <p:extLst>
      <p:ext uri="{BB962C8B-B14F-4D97-AF65-F5344CB8AC3E}">
        <p14:creationId xmlns:p14="http://schemas.microsoft.com/office/powerpoint/2010/main" val="2347875380"/>
      </p:ext>
    </p:extLst>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394AEAA8-7B8B-47B0-883F-BD71FA1D0C0B}" type="slidenum">
              <a:rPr lang="en-US" smtClean="0"/>
              <a:t>102</a:t>
            </a:fld>
            <a:endParaRPr lang="en-US"/>
          </a:p>
        </p:txBody>
      </p:sp>
    </p:spTree>
    <p:extLst>
      <p:ext uri="{BB962C8B-B14F-4D97-AF65-F5344CB8AC3E}">
        <p14:creationId xmlns:p14="http://schemas.microsoft.com/office/powerpoint/2010/main" val="957074225"/>
      </p:ext>
    </p:extLst>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394AEAA8-7B8B-47B0-883F-BD71FA1D0C0B}" type="slidenum">
              <a:rPr lang="en-US" smtClean="0"/>
              <a:t>103</a:t>
            </a:fld>
            <a:endParaRPr lang="en-US"/>
          </a:p>
        </p:txBody>
      </p:sp>
    </p:spTree>
    <p:extLst>
      <p:ext uri="{BB962C8B-B14F-4D97-AF65-F5344CB8AC3E}">
        <p14:creationId xmlns:p14="http://schemas.microsoft.com/office/powerpoint/2010/main" val="1663166759"/>
      </p:ext>
    </p:extLst>
  </p:cSld>
  <p:clrMapOvr>
    <a:masterClrMapping/>
  </p:clrMapOvr>
</p:notes>
</file>

<file path=ppt/notesSlides/notesSlide9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394AEAA8-7B8B-47B0-883F-BD71FA1D0C0B}" type="slidenum">
              <a:rPr lang="en-US" smtClean="0"/>
              <a:t>104</a:t>
            </a:fld>
            <a:endParaRPr lang="en-US"/>
          </a:p>
        </p:txBody>
      </p:sp>
    </p:spTree>
    <p:extLst>
      <p:ext uri="{BB962C8B-B14F-4D97-AF65-F5344CB8AC3E}">
        <p14:creationId xmlns:p14="http://schemas.microsoft.com/office/powerpoint/2010/main" val="3609779117"/>
      </p:ext>
    </p:extLst>
  </p:cSld>
  <p:clrMapOvr>
    <a:masterClrMapping/>
  </p:clrMapOvr>
</p:notes>
</file>

<file path=ppt/notesSlides/notesSlide10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394AEAA8-7B8B-47B0-883F-BD71FA1D0C0B}" type="slidenum">
              <a:rPr lang="en-US" smtClean="0"/>
              <a:t>106</a:t>
            </a:fld>
            <a:endParaRPr lang="en-US"/>
          </a:p>
        </p:txBody>
      </p:sp>
    </p:spTree>
    <p:extLst>
      <p:ext uri="{BB962C8B-B14F-4D97-AF65-F5344CB8AC3E}">
        <p14:creationId xmlns:p14="http://schemas.microsoft.com/office/powerpoint/2010/main" val="3691013181"/>
      </p:ext>
    </p:extLst>
  </p:cSld>
  <p:clrMapOvr>
    <a:masterClrMapping/>
  </p:clrMapOvr>
</p:notes>
</file>

<file path=ppt/notesSlides/notesSlide10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394AEAA8-7B8B-47B0-883F-BD71FA1D0C0B}" type="slidenum">
              <a:rPr lang="en-US" smtClean="0"/>
              <a:t>107</a:t>
            </a:fld>
            <a:endParaRPr lang="en-US"/>
          </a:p>
        </p:txBody>
      </p:sp>
    </p:spTree>
    <p:extLst>
      <p:ext uri="{BB962C8B-B14F-4D97-AF65-F5344CB8AC3E}">
        <p14:creationId xmlns:p14="http://schemas.microsoft.com/office/powerpoint/2010/main" val="975259485"/>
      </p:ext>
    </p:extLst>
  </p:cSld>
  <p:clrMapOvr>
    <a:masterClrMapping/>
  </p:clrMapOvr>
</p:notes>
</file>

<file path=ppt/notesSlides/notesSlide10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p:cNvSpPr>
            <a:spLocks noGrp="1"/>
          </p:cNvSpPr>
          <p:nvPr>
            <p:ph type="sldNum" sz="quarter" idx="5"/>
          </p:nvPr>
        </p:nvSpPr>
        <p:spPr/>
        <p:txBody>
          <a:bodyPr/>
          <a:lstStyle/>
          <a:p>
            <a:fld id="{394AEAA8-7B8B-47B0-883F-BD71FA1D0C0B}" type="slidenum">
              <a:rPr lang="en-US" smtClean="0"/>
              <a:t>108</a:t>
            </a:fld>
            <a:endParaRPr lang="en-US"/>
          </a:p>
        </p:txBody>
      </p:sp>
    </p:spTree>
    <p:extLst>
      <p:ext uri="{BB962C8B-B14F-4D97-AF65-F5344CB8AC3E}">
        <p14:creationId xmlns:p14="http://schemas.microsoft.com/office/powerpoint/2010/main" val="3532172957"/>
      </p:ext>
    </p:extLst>
  </p:cSld>
  <p:clrMapOvr>
    <a:masterClrMapping/>
  </p:clrMapOvr>
</p:notes>
</file>

<file path=ppt/notesSlides/notesSlide10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394AEAA8-7B8B-47B0-883F-BD71FA1D0C0B}" type="slidenum">
              <a:rPr lang="en-US" smtClean="0"/>
              <a:t>109</a:t>
            </a:fld>
            <a:endParaRPr lang="en-US"/>
          </a:p>
        </p:txBody>
      </p:sp>
    </p:spTree>
    <p:extLst>
      <p:ext uri="{BB962C8B-B14F-4D97-AF65-F5344CB8AC3E}">
        <p14:creationId xmlns:p14="http://schemas.microsoft.com/office/powerpoint/2010/main" val="1061063959"/>
      </p:ext>
    </p:extLst>
  </p:cSld>
  <p:clrMapOvr>
    <a:masterClrMapping/>
  </p:clrMapOvr>
</p:notes>
</file>

<file path=ppt/notesSlides/notesSlide10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394AEAA8-7B8B-47B0-883F-BD71FA1D0C0B}" type="slidenum">
              <a:rPr lang="en-US" smtClean="0"/>
              <a:t>110</a:t>
            </a:fld>
            <a:endParaRPr lang="en-US"/>
          </a:p>
        </p:txBody>
      </p:sp>
    </p:spTree>
    <p:extLst>
      <p:ext uri="{BB962C8B-B14F-4D97-AF65-F5344CB8AC3E}">
        <p14:creationId xmlns:p14="http://schemas.microsoft.com/office/powerpoint/2010/main" val="3995827635"/>
      </p:ext>
    </p:extLst>
  </p:cSld>
  <p:clrMapOvr>
    <a:masterClrMapping/>
  </p:clrMapOvr>
</p:notes>
</file>

<file path=ppt/notesSlides/notesSlide10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394AEAA8-7B8B-47B0-883F-BD71FA1D0C0B}" type="slidenum">
              <a:rPr lang="en-US" smtClean="0"/>
              <a:t>111</a:t>
            </a:fld>
            <a:endParaRPr lang="en-US"/>
          </a:p>
        </p:txBody>
      </p:sp>
    </p:spTree>
    <p:extLst>
      <p:ext uri="{BB962C8B-B14F-4D97-AF65-F5344CB8AC3E}">
        <p14:creationId xmlns:p14="http://schemas.microsoft.com/office/powerpoint/2010/main" val="1723090404"/>
      </p:ext>
    </p:extLst>
  </p:cSld>
  <p:clrMapOvr>
    <a:masterClrMapping/>
  </p:clrMapOvr>
</p:notes>
</file>

<file path=ppt/notesSlides/notesSlide10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394AEAA8-7B8B-47B0-883F-BD71FA1D0C0B}" type="slidenum">
              <a:rPr lang="en-US" smtClean="0"/>
              <a:t>112</a:t>
            </a:fld>
            <a:endParaRPr lang="en-US"/>
          </a:p>
        </p:txBody>
      </p:sp>
    </p:spTree>
    <p:extLst>
      <p:ext uri="{BB962C8B-B14F-4D97-AF65-F5344CB8AC3E}">
        <p14:creationId xmlns:p14="http://schemas.microsoft.com/office/powerpoint/2010/main" val="1060417824"/>
      </p:ext>
    </p:extLst>
  </p:cSld>
  <p:clrMapOvr>
    <a:masterClrMapping/>
  </p:clrMapOvr>
</p:notes>
</file>

<file path=ppt/notesSlides/notesSlide10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394AEAA8-7B8B-47B0-883F-BD71FA1D0C0B}" type="slidenum">
              <a:rPr lang="en-US" smtClean="0"/>
              <a:t>113</a:t>
            </a:fld>
            <a:endParaRPr lang="en-US"/>
          </a:p>
        </p:txBody>
      </p:sp>
    </p:spTree>
    <p:extLst>
      <p:ext uri="{BB962C8B-B14F-4D97-AF65-F5344CB8AC3E}">
        <p14:creationId xmlns:p14="http://schemas.microsoft.com/office/powerpoint/2010/main" val="1884177382"/>
      </p:ext>
    </p:extLst>
  </p:cSld>
  <p:clrMapOvr>
    <a:masterClrMapping/>
  </p:clrMapOvr>
</p:notes>
</file>

<file path=ppt/notesSlides/notesSlide10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394AEAA8-7B8B-47B0-883F-BD71FA1D0C0B}" type="slidenum">
              <a:rPr lang="en-US" smtClean="0"/>
              <a:t>115</a:t>
            </a:fld>
            <a:endParaRPr lang="en-US"/>
          </a:p>
        </p:txBody>
      </p:sp>
    </p:spTree>
    <p:extLst>
      <p:ext uri="{BB962C8B-B14F-4D97-AF65-F5344CB8AC3E}">
        <p14:creationId xmlns:p14="http://schemas.microsoft.com/office/powerpoint/2010/main" val="2813254539"/>
      </p:ext>
    </p:extLst>
  </p:cSld>
  <p:clrMapOvr>
    <a:masterClrMapping/>
  </p:clrMapOvr>
</p:notes>
</file>

<file path=ppt/notesSlides/notesSlide10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394AEAA8-7B8B-47B0-883F-BD71FA1D0C0B}" type="slidenum">
              <a:rPr lang="en-US" smtClean="0"/>
              <a:t>116</a:t>
            </a:fld>
            <a:endParaRPr lang="en-US"/>
          </a:p>
        </p:txBody>
      </p:sp>
    </p:spTree>
    <p:extLst>
      <p:ext uri="{BB962C8B-B14F-4D97-AF65-F5344CB8AC3E}">
        <p14:creationId xmlns:p14="http://schemas.microsoft.com/office/powerpoint/2010/main" val="2588022752"/>
      </p:ext>
    </p:extLst>
  </p:cSld>
  <p:clrMapOvr>
    <a:masterClrMapping/>
  </p:clrMapOvr>
</p:notes>
</file>

<file path=ppt/notesSlides/notesSlide1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394AEAA8-7B8B-47B0-883F-BD71FA1D0C0B}" type="slidenum">
              <a:rPr lang="en-US" smtClean="0"/>
              <a:t>117</a:t>
            </a:fld>
            <a:endParaRPr lang="en-US"/>
          </a:p>
        </p:txBody>
      </p:sp>
    </p:spTree>
    <p:extLst>
      <p:ext uri="{BB962C8B-B14F-4D97-AF65-F5344CB8AC3E}">
        <p14:creationId xmlns:p14="http://schemas.microsoft.com/office/powerpoint/2010/main" val="3545246296"/>
      </p:ext>
    </p:extLst>
  </p:cSld>
  <p:clrMapOvr>
    <a:masterClrMapping/>
  </p:clrMapOvr>
</p:notes>
</file>

<file path=ppt/notesSlides/notesSlide1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394AEAA8-7B8B-47B0-883F-BD71FA1D0C0B}" type="slidenum">
              <a:rPr lang="en-US" smtClean="0"/>
              <a:t>118</a:t>
            </a:fld>
            <a:endParaRPr lang="en-US"/>
          </a:p>
        </p:txBody>
      </p:sp>
    </p:spTree>
    <p:extLst>
      <p:ext uri="{BB962C8B-B14F-4D97-AF65-F5344CB8AC3E}">
        <p14:creationId xmlns:p14="http://schemas.microsoft.com/office/powerpoint/2010/main" val="54211306"/>
      </p:ext>
    </p:extLst>
  </p:cSld>
  <p:clrMapOvr>
    <a:masterClrMapping/>
  </p:clrMapOvr>
</p:notes>
</file>

<file path=ppt/notesSlides/notesSlide1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394AEAA8-7B8B-47B0-883F-BD71FA1D0C0B}" type="slidenum">
              <a:rPr lang="en-US" smtClean="0"/>
              <a:t>119</a:t>
            </a:fld>
            <a:endParaRPr lang="en-US"/>
          </a:p>
        </p:txBody>
      </p:sp>
    </p:spTree>
    <p:extLst>
      <p:ext uri="{BB962C8B-B14F-4D97-AF65-F5344CB8AC3E}">
        <p14:creationId xmlns:p14="http://schemas.microsoft.com/office/powerpoint/2010/main" val="3219285425"/>
      </p:ext>
    </p:extLst>
  </p:cSld>
  <p:clrMapOvr>
    <a:masterClrMapping/>
  </p:clrMapOvr>
</p:notes>
</file>

<file path=ppt/notesSlides/notesSlide1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394AEAA8-7B8B-47B0-883F-BD71FA1D0C0B}" type="slidenum">
              <a:rPr lang="en-US" smtClean="0"/>
              <a:t>120</a:t>
            </a:fld>
            <a:endParaRPr lang="en-US"/>
          </a:p>
        </p:txBody>
      </p:sp>
    </p:spTree>
    <p:extLst>
      <p:ext uri="{BB962C8B-B14F-4D97-AF65-F5344CB8AC3E}">
        <p14:creationId xmlns:p14="http://schemas.microsoft.com/office/powerpoint/2010/main" val="1871103289"/>
      </p:ext>
    </p:extLst>
  </p:cSld>
  <p:clrMapOvr>
    <a:masterClrMapping/>
  </p:clrMapOvr>
</p:notes>
</file>

<file path=ppt/notesSlides/notesSlide1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394AEAA8-7B8B-47B0-883F-BD71FA1D0C0B}" type="slidenum">
              <a:rPr lang="en-US" smtClean="0"/>
              <a:t>121</a:t>
            </a:fld>
            <a:endParaRPr lang="en-US"/>
          </a:p>
        </p:txBody>
      </p:sp>
    </p:spTree>
    <p:extLst>
      <p:ext uri="{BB962C8B-B14F-4D97-AF65-F5344CB8AC3E}">
        <p14:creationId xmlns:p14="http://schemas.microsoft.com/office/powerpoint/2010/main" val="3332567424"/>
      </p:ext>
    </p:extLst>
  </p:cSld>
  <p:clrMapOvr>
    <a:masterClrMapping/>
  </p:clrMapOvr>
</p:notes>
</file>

<file path=ppt/notesSlides/notesSlide1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394AEAA8-7B8B-47B0-883F-BD71FA1D0C0B}" type="slidenum">
              <a:rPr lang="en-US" smtClean="0"/>
              <a:t>122</a:t>
            </a:fld>
            <a:endParaRPr lang="en-US"/>
          </a:p>
        </p:txBody>
      </p:sp>
    </p:spTree>
    <p:extLst>
      <p:ext uri="{BB962C8B-B14F-4D97-AF65-F5344CB8AC3E}">
        <p14:creationId xmlns:p14="http://schemas.microsoft.com/office/powerpoint/2010/main" val="3747272683"/>
      </p:ext>
    </p:extLst>
  </p:cSld>
  <p:clrMapOvr>
    <a:masterClrMapping/>
  </p:clrMapOvr>
</p:notes>
</file>

<file path=ppt/notesSlides/notesSlide1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394AEAA8-7B8B-47B0-883F-BD71FA1D0C0B}" type="slidenum">
              <a:rPr lang="en-US" smtClean="0"/>
              <a:t>123</a:t>
            </a:fld>
            <a:endParaRPr lang="en-US"/>
          </a:p>
        </p:txBody>
      </p:sp>
    </p:spTree>
    <p:extLst>
      <p:ext uri="{BB962C8B-B14F-4D97-AF65-F5344CB8AC3E}">
        <p14:creationId xmlns:p14="http://schemas.microsoft.com/office/powerpoint/2010/main" val="3335927963"/>
      </p:ext>
    </p:extLst>
  </p:cSld>
  <p:clrMapOvr>
    <a:masterClrMapping/>
  </p:clrMapOvr>
</p:notes>
</file>

<file path=ppt/notesSlides/notesSlide1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394AEAA8-7B8B-47B0-883F-BD71FA1D0C0B}" type="slidenum">
              <a:rPr lang="en-US" smtClean="0"/>
              <a:t>124</a:t>
            </a:fld>
            <a:endParaRPr lang="en-US"/>
          </a:p>
        </p:txBody>
      </p:sp>
    </p:spTree>
    <p:extLst>
      <p:ext uri="{BB962C8B-B14F-4D97-AF65-F5344CB8AC3E}">
        <p14:creationId xmlns:p14="http://schemas.microsoft.com/office/powerpoint/2010/main" val="3800757658"/>
      </p:ext>
    </p:extLst>
  </p:cSld>
  <p:clrMapOvr>
    <a:masterClrMapping/>
  </p:clrMapOvr>
</p:notes>
</file>

<file path=ppt/notesSlides/notesSlide1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394AEAA8-7B8B-47B0-883F-BD71FA1D0C0B}" type="slidenum">
              <a:rPr lang="en-US" smtClean="0"/>
              <a:t>125</a:t>
            </a:fld>
            <a:endParaRPr lang="en-US"/>
          </a:p>
        </p:txBody>
      </p:sp>
    </p:spTree>
    <p:extLst>
      <p:ext uri="{BB962C8B-B14F-4D97-AF65-F5344CB8AC3E}">
        <p14:creationId xmlns:p14="http://schemas.microsoft.com/office/powerpoint/2010/main" val="10634609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155A7E-5E2A-44C0-811A-B9B973647EDA}"/>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EC1B4A26-840E-43BC-BDA9-9A471E7BD29F}"/>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49F9E9CD-511A-4CA6-917C-C1E1BBDD93B2}"/>
              </a:ext>
            </a:extLst>
          </p:cNvPr>
          <p:cNvSpPr>
            <a:spLocks noGrp="1"/>
          </p:cNvSpPr>
          <p:nvPr>
            <p:ph type="dt" sz="half" idx="10"/>
          </p:nvPr>
        </p:nvSpPr>
        <p:spPr/>
        <p:txBody>
          <a:bodyPr/>
          <a:lstStyle/>
          <a:p>
            <a:fld id="{337338B6-283F-4F79-B8A0-6D2B02414478}" type="datetimeFigureOut">
              <a:rPr lang="en-US" smtClean="0"/>
              <a:t>10/3/2026</a:t>
            </a:fld>
            <a:endParaRPr lang="en-US"/>
          </a:p>
        </p:txBody>
      </p:sp>
      <p:sp>
        <p:nvSpPr>
          <p:cNvPr id="5" name="Footer Placeholder 4">
            <a:extLst>
              <a:ext uri="{FF2B5EF4-FFF2-40B4-BE49-F238E27FC236}">
                <a16:creationId xmlns:a16="http://schemas.microsoft.com/office/drawing/2014/main" id="{FC5753BE-D319-42D9-AE52-C9743211D8D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960202C-55DE-474E-B03B-41662C7C090E}"/>
              </a:ext>
            </a:extLst>
          </p:cNvPr>
          <p:cNvSpPr>
            <a:spLocks noGrp="1"/>
          </p:cNvSpPr>
          <p:nvPr>
            <p:ph type="sldNum" sz="quarter" idx="12"/>
          </p:nvPr>
        </p:nvSpPr>
        <p:spPr/>
        <p:txBody>
          <a:bodyPr/>
          <a:lstStyle/>
          <a:p>
            <a:fld id="{64CE25DB-E0A3-432F-9E0D-2483992D6653}" type="slidenum">
              <a:rPr lang="en-US" smtClean="0"/>
              <a:t>‹#›</a:t>
            </a:fld>
            <a:endParaRPr lang="en-US"/>
          </a:p>
        </p:txBody>
      </p:sp>
    </p:spTree>
    <p:extLst>
      <p:ext uri="{BB962C8B-B14F-4D97-AF65-F5344CB8AC3E}">
        <p14:creationId xmlns:p14="http://schemas.microsoft.com/office/powerpoint/2010/main" val="75295421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819235-F178-4E5D-9049-60B572EC85E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1EFE443-F839-473C-ACFD-154E9DD5F8C8}"/>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D0DBDE6-F445-438A-92F3-14CAA4850B3D}"/>
              </a:ext>
            </a:extLst>
          </p:cNvPr>
          <p:cNvSpPr>
            <a:spLocks noGrp="1"/>
          </p:cNvSpPr>
          <p:nvPr>
            <p:ph type="dt" sz="half" idx="10"/>
          </p:nvPr>
        </p:nvSpPr>
        <p:spPr/>
        <p:txBody>
          <a:bodyPr/>
          <a:lstStyle/>
          <a:p>
            <a:fld id="{337338B6-283F-4F79-B8A0-6D2B02414478}" type="datetimeFigureOut">
              <a:rPr lang="en-US" smtClean="0"/>
              <a:t>10/3/2026</a:t>
            </a:fld>
            <a:endParaRPr lang="en-US"/>
          </a:p>
        </p:txBody>
      </p:sp>
      <p:sp>
        <p:nvSpPr>
          <p:cNvPr id="5" name="Footer Placeholder 4">
            <a:extLst>
              <a:ext uri="{FF2B5EF4-FFF2-40B4-BE49-F238E27FC236}">
                <a16:creationId xmlns:a16="http://schemas.microsoft.com/office/drawing/2014/main" id="{310B6032-177F-4E3A-8580-3C8F5E36BC8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269C694-CFF1-4A26-92DB-A6022EBE9546}"/>
              </a:ext>
            </a:extLst>
          </p:cNvPr>
          <p:cNvSpPr>
            <a:spLocks noGrp="1"/>
          </p:cNvSpPr>
          <p:nvPr>
            <p:ph type="sldNum" sz="quarter" idx="12"/>
          </p:nvPr>
        </p:nvSpPr>
        <p:spPr/>
        <p:txBody>
          <a:bodyPr/>
          <a:lstStyle/>
          <a:p>
            <a:fld id="{64CE25DB-E0A3-432F-9E0D-2483992D6653}" type="slidenum">
              <a:rPr lang="en-US" smtClean="0"/>
              <a:t>‹#›</a:t>
            </a:fld>
            <a:endParaRPr lang="en-US"/>
          </a:p>
        </p:txBody>
      </p:sp>
    </p:spTree>
    <p:extLst>
      <p:ext uri="{BB962C8B-B14F-4D97-AF65-F5344CB8AC3E}">
        <p14:creationId xmlns:p14="http://schemas.microsoft.com/office/powerpoint/2010/main" val="175611293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6995BB-3CCA-4DB1-A770-7F08AC5DA691}"/>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9145B291-B271-4E2B-A076-A6F6E4A5F8C4}"/>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D57E2FDE-5506-487E-84F2-4C24598075F1}"/>
              </a:ext>
            </a:extLst>
          </p:cNvPr>
          <p:cNvSpPr>
            <a:spLocks noGrp="1"/>
          </p:cNvSpPr>
          <p:nvPr>
            <p:ph type="dt" sz="half" idx="10"/>
          </p:nvPr>
        </p:nvSpPr>
        <p:spPr/>
        <p:txBody>
          <a:bodyPr/>
          <a:lstStyle/>
          <a:p>
            <a:fld id="{337338B6-283F-4F79-B8A0-6D2B02414478}" type="datetimeFigureOut">
              <a:rPr lang="en-US" smtClean="0"/>
              <a:t>10/3/2026</a:t>
            </a:fld>
            <a:endParaRPr lang="en-US"/>
          </a:p>
        </p:txBody>
      </p:sp>
      <p:sp>
        <p:nvSpPr>
          <p:cNvPr id="5" name="Footer Placeholder 4">
            <a:extLst>
              <a:ext uri="{FF2B5EF4-FFF2-40B4-BE49-F238E27FC236}">
                <a16:creationId xmlns:a16="http://schemas.microsoft.com/office/drawing/2014/main" id="{8BE22042-031C-4CE9-B41E-982561189DD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3DB5720-845D-4355-AA9F-47A2C2B2972D}"/>
              </a:ext>
            </a:extLst>
          </p:cNvPr>
          <p:cNvSpPr>
            <a:spLocks noGrp="1"/>
          </p:cNvSpPr>
          <p:nvPr>
            <p:ph type="sldNum" sz="quarter" idx="12"/>
          </p:nvPr>
        </p:nvSpPr>
        <p:spPr/>
        <p:txBody>
          <a:bodyPr/>
          <a:lstStyle/>
          <a:p>
            <a:fld id="{64CE25DB-E0A3-432F-9E0D-2483992D6653}" type="slidenum">
              <a:rPr lang="en-US" smtClean="0"/>
              <a:t>‹#›</a:t>
            </a:fld>
            <a:endParaRPr lang="en-US"/>
          </a:p>
        </p:txBody>
      </p:sp>
    </p:spTree>
    <p:extLst>
      <p:ext uri="{BB962C8B-B14F-4D97-AF65-F5344CB8AC3E}">
        <p14:creationId xmlns:p14="http://schemas.microsoft.com/office/powerpoint/2010/main" val="336837634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275B44-E537-408B-A22C-38B859E8CC17}"/>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E1CABAC7-F81D-42BA-B099-7EC0A4AB2B68}"/>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0D0C6241-AB49-46EE-A90A-56215F38F696}"/>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A75160D5-BA98-430F-B845-A87256B1AAF8}"/>
              </a:ext>
            </a:extLst>
          </p:cNvPr>
          <p:cNvSpPr>
            <a:spLocks noGrp="1"/>
          </p:cNvSpPr>
          <p:nvPr>
            <p:ph type="dt" sz="half" idx="10"/>
          </p:nvPr>
        </p:nvSpPr>
        <p:spPr/>
        <p:txBody>
          <a:bodyPr/>
          <a:lstStyle/>
          <a:p>
            <a:fld id="{337338B6-283F-4F79-B8A0-6D2B02414478}" type="datetimeFigureOut">
              <a:rPr lang="en-US" smtClean="0"/>
              <a:t>10/3/2026</a:t>
            </a:fld>
            <a:endParaRPr lang="en-US"/>
          </a:p>
        </p:txBody>
      </p:sp>
      <p:sp>
        <p:nvSpPr>
          <p:cNvPr id="6" name="Footer Placeholder 5">
            <a:extLst>
              <a:ext uri="{FF2B5EF4-FFF2-40B4-BE49-F238E27FC236}">
                <a16:creationId xmlns:a16="http://schemas.microsoft.com/office/drawing/2014/main" id="{E0F98B88-D879-4572-81AC-F7A0F09CBCB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275B9DE-5A21-4CC7-AB4E-84B206FF6627}"/>
              </a:ext>
            </a:extLst>
          </p:cNvPr>
          <p:cNvSpPr>
            <a:spLocks noGrp="1"/>
          </p:cNvSpPr>
          <p:nvPr>
            <p:ph type="sldNum" sz="quarter" idx="12"/>
          </p:nvPr>
        </p:nvSpPr>
        <p:spPr/>
        <p:txBody>
          <a:bodyPr/>
          <a:lstStyle/>
          <a:p>
            <a:fld id="{64CE25DB-E0A3-432F-9E0D-2483992D6653}" type="slidenum">
              <a:rPr lang="en-US" smtClean="0"/>
              <a:t>‹#›</a:t>
            </a:fld>
            <a:endParaRPr lang="en-US"/>
          </a:p>
        </p:txBody>
      </p:sp>
    </p:spTree>
    <p:extLst>
      <p:ext uri="{BB962C8B-B14F-4D97-AF65-F5344CB8AC3E}">
        <p14:creationId xmlns:p14="http://schemas.microsoft.com/office/powerpoint/2010/main" val="3521681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1B8365-4175-405F-AA2C-589DC1615630}"/>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7D5036B4-0664-41B2-95EE-56C210BF3BC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82D42C6D-B6A8-4D2D-A741-B7063B2F13C7}"/>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D4CCB6B4-06AF-4487-A510-D1529D6A358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389F2A2-09C7-4E81-857A-84069C93409C}"/>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6996F5C6-B011-4490-AFF7-9942E5B5BFB1}"/>
              </a:ext>
            </a:extLst>
          </p:cNvPr>
          <p:cNvSpPr>
            <a:spLocks noGrp="1"/>
          </p:cNvSpPr>
          <p:nvPr>
            <p:ph type="dt" sz="half" idx="10"/>
          </p:nvPr>
        </p:nvSpPr>
        <p:spPr/>
        <p:txBody>
          <a:bodyPr/>
          <a:lstStyle/>
          <a:p>
            <a:fld id="{337338B6-283F-4F79-B8A0-6D2B02414478}" type="datetimeFigureOut">
              <a:rPr lang="en-US" smtClean="0"/>
              <a:t>10/3/2026</a:t>
            </a:fld>
            <a:endParaRPr lang="en-US"/>
          </a:p>
        </p:txBody>
      </p:sp>
      <p:sp>
        <p:nvSpPr>
          <p:cNvPr id="8" name="Footer Placeholder 7">
            <a:extLst>
              <a:ext uri="{FF2B5EF4-FFF2-40B4-BE49-F238E27FC236}">
                <a16:creationId xmlns:a16="http://schemas.microsoft.com/office/drawing/2014/main" id="{7618FC75-3686-4DA9-B1E1-9CACF8E87EB7}"/>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EC60D9A2-5CB2-4797-B797-05333771A6B1}"/>
              </a:ext>
            </a:extLst>
          </p:cNvPr>
          <p:cNvSpPr>
            <a:spLocks noGrp="1"/>
          </p:cNvSpPr>
          <p:nvPr>
            <p:ph type="sldNum" sz="quarter" idx="12"/>
          </p:nvPr>
        </p:nvSpPr>
        <p:spPr/>
        <p:txBody>
          <a:bodyPr/>
          <a:lstStyle/>
          <a:p>
            <a:fld id="{64CE25DB-E0A3-432F-9E0D-2483992D6653}" type="slidenum">
              <a:rPr lang="en-US" smtClean="0"/>
              <a:t>‹#›</a:t>
            </a:fld>
            <a:endParaRPr lang="en-US"/>
          </a:p>
        </p:txBody>
      </p:sp>
    </p:spTree>
    <p:extLst>
      <p:ext uri="{BB962C8B-B14F-4D97-AF65-F5344CB8AC3E}">
        <p14:creationId xmlns:p14="http://schemas.microsoft.com/office/powerpoint/2010/main" val="416220302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FA7371-2EEB-4657-85AD-E69B9285AD3B}"/>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5C789232-FD36-440D-8856-F9E9A44371BD}"/>
              </a:ext>
            </a:extLst>
          </p:cNvPr>
          <p:cNvSpPr>
            <a:spLocks noGrp="1"/>
          </p:cNvSpPr>
          <p:nvPr>
            <p:ph type="dt" sz="half" idx="10"/>
          </p:nvPr>
        </p:nvSpPr>
        <p:spPr/>
        <p:txBody>
          <a:bodyPr/>
          <a:lstStyle/>
          <a:p>
            <a:fld id="{337338B6-283F-4F79-B8A0-6D2B02414478}" type="datetimeFigureOut">
              <a:rPr lang="en-US" smtClean="0"/>
              <a:t>10/3/2026</a:t>
            </a:fld>
            <a:endParaRPr lang="en-US"/>
          </a:p>
        </p:txBody>
      </p:sp>
      <p:sp>
        <p:nvSpPr>
          <p:cNvPr id="4" name="Footer Placeholder 3">
            <a:extLst>
              <a:ext uri="{FF2B5EF4-FFF2-40B4-BE49-F238E27FC236}">
                <a16:creationId xmlns:a16="http://schemas.microsoft.com/office/drawing/2014/main" id="{89FB51EF-3FAF-4601-8E37-27E4AA91BA4D}"/>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682EE5D1-4DBA-4351-B4B7-1124D788CB13}"/>
              </a:ext>
            </a:extLst>
          </p:cNvPr>
          <p:cNvSpPr>
            <a:spLocks noGrp="1"/>
          </p:cNvSpPr>
          <p:nvPr>
            <p:ph type="sldNum" sz="quarter" idx="12"/>
          </p:nvPr>
        </p:nvSpPr>
        <p:spPr/>
        <p:txBody>
          <a:bodyPr/>
          <a:lstStyle/>
          <a:p>
            <a:fld id="{64CE25DB-E0A3-432F-9E0D-2483992D6653}" type="slidenum">
              <a:rPr lang="en-US" smtClean="0"/>
              <a:t>‹#›</a:t>
            </a:fld>
            <a:endParaRPr lang="en-US"/>
          </a:p>
        </p:txBody>
      </p:sp>
    </p:spTree>
    <p:extLst>
      <p:ext uri="{BB962C8B-B14F-4D97-AF65-F5344CB8AC3E}">
        <p14:creationId xmlns:p14="http://schemas.microsoft.com/office/powerpoint/2010/main" val="73351337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61E81A47-1FDB-4F6A-9528-93EFBE4DD049}"/>
              </a:ext>
            </a:extLst>
          </p:cNvPr>
          <p:cNvSpPr>
            <a:spLocks noGrp="1"/>
          </p:cNvSpPr>
          <p:nvPr>
            <p:ph type="dt" sz="half" idx="10"/>
          </p:nvPr>
        </p:nvSpPr>
        <p:spPr/>
        <p:txBody>
          <a:bodyPr/>
          <a:lstStyle/>
          <a:p>
            <a:fld id="{337338B6-283F-4F79-B8A0-6D2B02414478}" type="datetimeFigureOut">
              <a:rPr lang="en-US" smtClean="0"/>
              <a:t>10/3/2026</a:t>
            </a:fld>
            <a:endParaRPr lang="en-US"/>
          </a:p>
        </p:txBody>
      </p:sp>
      <p:sp>
        <p:nvSpPr>
          <p:cNvPr id="3" name="Footer Placeholder 2">
            <a:extLst>
              <a:ext uri="{FF2B5EF4-FFF2-40B4-BE49-F238E27FC236}">
                <a16:creationId xmlns:a16="http://schemas.microsoft.com/office/drawing/2014/main" id="{D67632CC-15F7-4D39-BBAA-EDA71BDF40B5}"/>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544689B9-9F26-4B7B-BDA3-2B4EF942B09D}"/>
              </a:ext>
            </a:extLst>
          </p:cNvPr>
          <p:cNvSpPr>
            <a:spLocks noGrp="1"/>
          </p:cNvSpPr>
          <p:nvPr>
            <p:ph type="sldNum" sz="quarter" idx="12"/>
          </p:nvPr>
        </p:nvSpPr>
        <p:spPr/>
        <p:txBody>
          <a:bodyPr/>
          <a:lstStyle/>
          <a:p>
            <a:fld id="{64CE25DB-E0A3-432F-9E0D-2483992D6653}" type="slidenum">
              <a:rPr lang="en-US" smtClean="0"/>
              <a:t>‹#›</a:t>
            </a:fld>
            <a:endParaRPr lang="en-US"/>
          </a:p>
        </p:txBody>
      </p:sp>
    </p:spTree>
    <p:extLst>
      <p:ext uri="{BB962C8B-B14F-4D97-AF65-F5344CB8AC3E}">
        <p14:creationId xmlns:p14="http://schemas.microsoft.com/office/powerpoint/2010/main" val="310915596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1DB0E5-1861-49CF-8636-21124152DEA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A036A3CB-33D7-486B-9194-EAF9EEE3847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24DED853-AE34-4EC2-BCCF-644577716C8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662E1B3-0E48-4F6C-A59E-B42AD64F2970}"/>
              </a:ext>
            </a:extLst>
          </p:cNvPr>
          <p:cNvSpPr>
            <a:spLocks noGrp="1"/>
          </p:cNvSpPr>
          <p:nvPr>
            <p:ph type="dt" sz="half" idx="10"/>
          </p:nvPr>
        </p:nvSpPr>
        <p:spPr/>
        <p:txBody>
          <a:bodyPr/>
          <a:lstStyle/>
          <a:p>
            <a:fld id="{337338B6-283F-4F79-B8A0-6D2B02414478}" type="datetimeFigureOut">
              <a:rPr lang="en-US" smtClean="0"/>
              <a:t>10/3/2026</a:t>
            </a:fld>
            <a:endParaRPr lang="en-US"/>
          </a:p>
        </p:txBody>
      </p:sp>
      <p:sp>
        <p:nvSpPr>
          <p:cNvPr id="6" name="Footer Placeholder 5">
            <a:extLst>
              <a:ext uri="{FF2B5EF4-FFF2-40B4-BE49-F238E27FC236}">
                <a16:creationId xmlns:a16="http://schemas.microsoft.com/office/drawing/2014/main" id="{E4807DC6-9187-4572-926A-91A7006EBEF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D5CA124-B3C9-431C-B9C2-E4421E9CD04D}"/>
              </a:ext>
            </a:extLst>
          </p:cNvPr>
          <p:cNvSpPr>
            <a:spLocks noGrp="1"/>
          </p:cNvSpPr>
          <p:nvPr>
            <p:ph type="sldNum" sz="quarter" idx="12"/>
          </p:nvPr>
        </p:nvSpPr>
        <p:spPr/>
        <p:txBody>
          <a:bodyPr/>
          <a:lstStyle/>
          <a:p>
            <a:fld id="{64CE25DB-E0A3-432F-9E0D-2483992D6653}" type="slidenum">
              <a:rPr lang="en-US" smtClean="0"/>
              <a:t>‹#›</a:t>
            </a:fld>
            <a:endParaRPr lang="en-US"/>
          </a:p>
        </p:txBody>
      </p:sp>
    </p:spTree>
    <p:extLst>
      <p:ext uri="{BB962C8B-B14F-4D97-AF65-F5344CB8AC3E}">
        <p14:creationId xmlns:p14="http://schemas.microsoft.com/office/powerpoint/2010/main" val="18822437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C236DA-1FCA-4C9B-83F6-CE3937FB6CF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5C1B1CFD-1FA9-436E-B4E6-BA29FFCE4FC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C071D3B7-674F-4D1E-A969-EED929DF8F1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E919561-93C4-49E1-93C5-E314851B66B7}"/>
              </a:ext>
            </a:extLst>
          </p:cNvPr>
          <p:cNvSpPr>
            <a:spLocks noGrp="1"/>
          </p:cNvSpPr>
          <p:nvPr>
            <p:ph type="dt" sz="half" idx="10"/>
          </p:nvPr>
        </p:nvSpPr>
        <p:spPr/>
        <p:txBody>
          <a:bodyPr/>
          <a:lstStyle/>
          <a:p>
            <a:fld id="{337338B6-283F-4F79-B8A0-6D2B02414478}" type="datetimeFigureOut">
              <a:rPr lang="en-US" smtClean="0"/>
              <a:t>10/3/2026</a:t>
            </a:fld>
            <a:endParaRPr lang="en-US"/>
          </a:p>
        </p:txBody>
      </p:sp>
      <p:sp>
        <p:nvSpPr>
          <p:cNvPr id="6" name="Footer Placeholder 5">
            <a:extLst>
              <a:ext uri="{FF2B5EF4-FFF2-40B4-BE49-F238E27FC236}">
                <a16:creationId xmlns:a16="http://schemas.microsoft.com/office/drawing/2014/main" id="{AB14222A-7E69-44F0-B347-9D686504800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FB79E9D-F296-47D0-849B-B847509B56FD}"/>
              </a:ext>
            </a:extLst>
          </p:cNvPr>
          <p:cNvSpPr>
            <a:spLocks noGrp="1"/>
          </p:cNvSpPr>
          <p:nvPr>
            <p:ph type="sldNum" sz="quarter" idx="12"/>
          </p:nvPr>
        </p:nvSpPr>
        <p:spPr/>
        <p:txBody>
          <a:bodyPr/>
          <a:lstStyle/>
          <a:p>
            <a:fld id="{64CE25DB-E0A3-432F-9E0D-2483992D6653}" type="slidenum">
              <a:rPr lang="en-US" smtClean="0"/>
              <a:t>‹#›</a:t>
            </a:fld>
            <a:endParaRPr lang="en-US"/>
          </a:p>
        </p:txBody>
      </p:sp>
    </p:spTree>
    <p:extLst>
      <p:ext uri="{BB962C8B-B14F-4D97-AF65-F5344CB8AC3E}">
        <p14:creationId xmlns:p14="http://schemas.microsoft.com/office/powerpoint/2010/main" val="62050529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42BF20-D3DF-469D-9717-7A8B9C2FB9D3}"/>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0440BAE1-1ADC-46B0-AD4F-43FDE30666D8}"/>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080F02A-D726-4135-A5B5-114C27093598}"/>
              </a:ext>
            </a:extLst>
          </p:cNvPr>
          <p:cNvSpPr>
            <a:spLocks noGrp="1"/>
          </p:cNvSpPr>
          <p:nvPr>
            <p:ph type="dt" sz="half" idx="10"/>
          </p:nvPr>
        </p:nvSpPr>
        <p:spPr/>
        <p:txBody>
          <a:bodyPr/>
          <a:lstStyle/>
          <a:p>
            <a:fld id="{337338B6-283F-4F79-B8A0-6D2B02414478}" type="datetimeFigureOut">
              <a:rPr lang="en-US" smtClean="0"/>
              <a:t>10/3/2026</a:t>
            </a:fld>
            <a:endParaRPr lang="en-US"/>
          </a:p>
        </p:txBody>
      </p:sp>
      <p:sp>
        <p:nvSpPr>
          <p:cNvPr id="5" name="Footer Placeholder 4">
            <a:extLst>
              <a:ext uri="{FF2B5EF4-FFF2-40B4-BE49-F238E27FC236}">
                <a16:creationId xmlns:a16="http://schemas.microsoft.com/office/drawing/2014/main" id="{24202BC7-CEA5-40EA-9706-B1B03547123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2C629AF-7210-402A-BEF2-A0A30CC0C0F7}"/>
              </a:ext>
            </a:extLst>
          </p:cNvPr>
          <p:cNvSpPr>
            <a:spLocks noGrp="1"/>
          </p:cNvSpPr>
          <p:nvPr>
            <p:ph type="sldNum" sz="quarter" idx="12"/>
          </p:nvPr>
        </p:nvSpPr>
        <p:spPr/>
        <p:txBody>
          <a:bodyPr/>
          <a:lstStyle/>
          <a:p>
            <a:fld id="{64CE25DB-E0A3-432F-9E0D-2483992D6653}" type="slidenum">
              <a:rPr lang="en-US" smtClean="0"/>
              <a:t>‹#›</a:t>
            </a:fld>
            <a:endParaRPr lang="en-US"/>
          </a:p>
        </p:txBody>
      </p:sp>
    </p:spTree>
    <p:extLst>
      <p:ext uri="{BB962C8B-B14F-4D97-AF65-F5344CB8AC3E}">
        <p14:creationId xmlns:p14="http://schemas.microsoft.com/office/powerpoint/2010/main" val="393368247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96679D2-3B9E-449A-8117-48EDC2CC1924}"/>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642493D6-CA84-4E79-9C0F-E58EC8CC5A45}"/>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C1BAEB6-F657-4F62-9D14-97B3A4549481}"/>
              </a:ext>
            </a:extLst>
          </p:cNvPr>
          <p:cNvSpPr>
            <a:spLocks noGrp="1"/>
          </p:cNvSpPr>
          <p:nvPr>
            <p:ph type="dt" sz="half" idx="10"/>
          </p:nvPr>
        </p:nvSpPr>
        <p:spPr/>
        <p:txBody>
          <a:bodyPr/>
          <a:lstStyle/>
          <a:p>
            <a:fld id="{337338B6-283F-4F79-B8A0-6D2B02414478}" type="datetimeFigureOut">
              <a:rPr lang="en-US" smtClean="0"/>
              <a:t>10/3/2026</a:t>
            </a:fld>
            <a:endParaRPr lang="en-US"/>
          </a:p>
        </p:txBody>
      </p:sp>
      <p:sp>
        <p:nvSpPr>
          <p:cNvPr id="5" name="Footer Placeholder 4">
            <a:extLst>
              <a:ext uri="{FF2B5EF4-FFF2-40B4-BE49-F238E27FC236}">
                <a16:creationId xmlns:a16="http://schemas.microsoft.com/office/drawing/2014/main" id="{91B64D7E-7E09-4473-AED0-B70B6BE2813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ADA1116-8058-4D66-8F57-75F3C94D4E8D}"/>
              </a:ext>
            </a:extLst>
          </p:cNvPr>
          <p:cNvSpPr>
            <a:spLocks noGrp="1"/>
          </p:cNvSpPr>
          <p:nvPr>
            <p:ph type="sldNum" sz="quarter" idx="12"/>
          </p:nvPr>
        </p:nvSpPr>
        <p:spPr/>
        <p:txBody>
          <a:bodyPr/>
          <a:lstStyle/>
          <a:p>
            <a:fld id="{64CE25DB-E0A3-432F-9E0D-2483992D6653}" type="slidenum">
              <a:rPr lang="en-US" smtClean="0"/>
              <a:t>‹#›</a:t>
            </a:fld>
            <a:endParaRPr lang="en-US"/>
          </a:p>
        </p:txBody>
      </p:sp>
    </p:spTree>
    <p:extLst>
      <p:ext uri="{BB962C8B-B14F-4D97-AF65-F5344CB8AC3E}">
        <p14:creationId xmlns:p14="http://schemas.microsoft.com/office/powerpoint/2010/main" val="135175448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5A77C521-DC8E-4798-9CF6-BB984FB9257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2D61169F-46B9-40F5-9830-03C41FD916F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1E09693-3B98-4B9F-9DBE-A52E9C538A2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37338B6-283F-4F79-B8A0-6D2B02414478}" type="datetimeFigureOut">
              <a:rPr lang="en-US" smtClean="0"/>
              <a:t>10/3/2026</a:t>
            </a:fld>
            <a:endParaRPr lang="en-US"/>
          </a:p>
        </p:txBody>
      </p:sp>
      <p:sp>
        <p:nvSpPr>
          <p:cNvPr id="5" name="Footer Placeholder 4">
            <a:extLst>
              <a:ext uri="{FF2B5EF4-FFF2-40B4-BE49-F238E27FC236}">
                <a16:creationId xmlns:a16="http://schemas.microsoft.com/office/drawing/2014/main" id="{8D786344-A129-4C80-9859-0694F97F1A7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A6535F59-6B5E-4FA1-8AA0-AD08D9C0BF4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4CE25DB-E0A3-432F-9E0D-2483992D6653}" type="slidenum">
              <a:rPr lang="en-US" smtClean="0"/>
              <a:t>‹#›</a:t>
            </a:fld>
            <a:endParaRPr lang="en-US"/>
          </a:p>
        </p:txBody>
      </p:sp>
    </p:spTree>
    <p:extLst>
      <p:ext uri="{BB962C8B-B14F-4D97-AF65-F5344CB8AC3E}">
        <p14:creationId xmlns:p14="http://schemas.microsoft.com/office/powerpoint/2010/main" val="293948503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themeOverride" Target="../theme/themeOverride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4.xml"/><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7.xml"/><Relationship Id="rId1" Type="http://schemas.openxmlformats.org/officeDocument/2006/relationships/slideLayout" Target="../slideLayouts/slideLayout7.xml"/><Relationship Id="rId4" Type="http://schemas.openxmlformats.org/officeDocument/2006/relationships/image" Target="../media/image11.png"/></Relationships>
</file>

<file path=ppt/slides/_rels/slide1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31.xml"/><Relationship Id="rId1" Type="http://schemas.openxmlformats.org/officeDocument/2006/relationships/slideLayout" Target="../slideLayouts/slideLayout7.xml"/><Relationship Id="rId4" Type="http://schemas.openxmlformats.org/officeDocument/2006/relationships/image" Target="../media/image16.png"/></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36.xml"/><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38.xml"/><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47.xml"/><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56.xml"/><Relationship Id="rId1" Type="http://schemas.openxmlformats.org/officeDocument/2006/relationships/slideLayout" Target="../slideLayouts/slideLayout2.xml"/><Relationship Id="rId4" Type="http://schemas.openxmlformats.org/officeDocument/2006/relationships/image" Target="../media/image23.png"/></Relationships>
</file>

<file path=ppt/slides/_rels/slide60.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57.xml"/><Relationship Id="rId1" Type="http://schemas.openxmlformats.org/officeDocument/2006/relationships/slideLayout" Target="../slideLayouts/slideLayout7.xml"/><Relationship Id="rId5" Type="http://schemas.openxmlformats.org/officeDocument/2006/relationships/image" Target="../media/image26.png"/><Relationship Id="rId4" Type="http://schemas.openxmlformats.org/officeDocument/2006/relationships/image" Target="../media/image25.png"/></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67.xml"/><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68.xml"/><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69.xml"/><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4.xml.rels><?xml version="1.0" encoding="UTF-8" standalone="yes"?>
<Relationships xmlns="http://schemas.openxmlformats.org/package/2006/relationships"><Relationship Id="rId2" Type="http://schemas.openxmlformats.org/officeDocument/2006/relationships/notesSlide" Target="../notesSlides/notesSlide70.xml"/><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3" Type="http://schemas.openxmlformats.org/officeDocument/2006/relationships/image" Target="../media/image27.jpeg"/><Relationship Id="rId2" Type="http://schemas.openxmlformats.org/officeDocument/2006/relationships/notesSlide" Target="../notesSlides/notesSlide71.xml"/><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3" Type="http://schemas.openxmlformats.org/officeDocument/2006/relationships/image" Target="../media/image28.jpeg"/><Relationship Id="rId2" Type="http://schemas.openxmlformats.org/officeDocument/2006/relationships/notesSlide" Target="../notesSlides/notesSlide72.xml"/><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73.xml"/><Relationship Id="rId1" Type="http://schemas.openxmlformats.org/officeDocument/2006/relationships/slideLayout" Target="../slideLayouts/slideLayout6.xml"/></Relationships>
</file>

<file path=ppt/slides/_rels/slide78.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74.xml"/><Relationship Id="rId1" Type="http://schemas.openxmlformats.org/officeDocument/2006/relationships/slideLayout" Target="../slideLayouts/slideLayout6.xml"/></Relationships>
</file>

<file path=ppt/slides/_rels/slide79.xml.rels><?xml version="1.0" encoding="UTF-8" standalone="yes"?>
<Relationships xmlns="http://schemas.openxmlformats.org/package/2006/relationships"><Relationship Id="rId2" Type="http://schemas.openxmlformats.org/officeDocument/2006/relationships/notesSlide" Target="../notesSlides/notesSlide75.xml"/><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76.xml"/><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2" Type="http://schemas.openxmlformats.org/officeDocument/2006/relationships/notesSlide" Target="../notesSlides/notesSlide77.xml"/><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2" Type="http://schemas.openxmlformats.org/officeDocument/2006/relationships/notesSlide" Target="../notesSlides/notesSlide78.xml"/><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2" Type="http://schemas.openxmlformats.org/officeDocument/2006/relationships/notesSlide" Target="../notesSlides/notesSlide79.xml"/><Relationship Id="rId1" Type="http://schemas.openxmlformats.org/officeDocument/2006/relationships/slideLayout" Target="../slideLayouts/slideLayout3.xml"/></Relationships>
</file>

<file path=ppt/slides/_rels/slide85.xml.rels><?xml version="1.0" encoding="UTF-8" standalone="yes"?>
<Relationships xmlns="http://schemas.openxmlformats.org/package/2006/relationships"><Relationship Id="rId2" Type="http://schemas.openxmlformats.org/officeDocument/2006/relationships/notesSlide" Target="../notesSlides/notesSlide80.xml"/><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2" Type="http://schemas.openxmlformats.org/officeDocument/2006/relationships/notesSlide" Target="../notesSlides/notesSlide81.xml"/><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2" Type="http://schemas.openxmlformats.org/officeDocument/2006/relationships/notesSlide" Target="../notesSlides/notesSlide82.xml"/><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2" Type="http://schemas.openxmlformats.org/officeDocument/2006/relationships/notesSlide" Target="../notesSlides/notesSlide83.xml"/><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2" Type="http://schemas.openxmlformats.org/officeDocument/2006/relationships/notesSlide" Target="../notesSlides/notesSlide84.xml"/><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2" Type="http://schemas.openxmlformats.org/officeDocument/2006/relationships/notesSlide" Target="../notesSlides/notesSlide85.xml"/><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86.xml"/><Relationship Id="rId1" Type="http://schemas.openxmlformats.org/officeDocument/2006/relationships/slideLayout" Target="../slideLayouts/slideLayout7.xml"/></Relationships>
</file>

<file path=ppt/slides/_rels/slide92.xml.rels><?xml version="1.0" encoding="UTF-8" standalone="yes"?>
<Relationships xmlns="http://schemas.openxmlformats.org/package/2006/relationships"><Relationship Id="rId2" Type="http://schemas.openxmlformats.org/officeDocument/2006/relationships/notesSlide" Target="../notesSlides/notesSlide87.xml"/><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88.xml"/><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2" Type="http://schemas.openxmlformats.org/officeDocument/2006/relationships/notesSlide" Target="../notesSlides/notesSlide89.xml"/><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2" Type="http://schemas.openxmlformats.org/officeDocument/2006/relationships/notesSlide" Target="../notesSlides/notesSlide90.xml"/><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91.xml"/><Relationship Id="rId1" Type="http://schemas.openxmlformats.org/officeDocument/2006/relationships/slideLayout" Target="../slideLayouts/slideLayout7.xml"/><Relationship Id="rId4" Type="http://schemas.openxmlformats.org/officeDocument/2006/relationships/image" Target="../media/image35.gif"/></Relationships>
</file>

<file path=ppt/slides/_rels/slide97.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92.xml"/><Relationship Id="rId1" Type="http://schemas.openxmlformats.org/officeDocument/2006/relationships/slideLayout" Target="../slideLayouts/slideLayout7.xml"/></Relationships>
</file>

<file path=ppt/slides/_rels/slide98.xml.rels><?xml version="1.0" encoding="UTF-8" standalone="yes"?>
<Relationships xmlns="http://schemas.openxmlformats.org/package/2006/relationships"><Relationship Id="rId2" Type="http://schemas.openxmlformats.org/officeDocument/2006/relationships/notesSlide" Target="../notesSlides/notesSlide93.xml"/><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94.xml"/><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95.xml"/><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2" Type="http://schemas.openxmlformats.org/officeDocument/2006/relationships/notesSlide" Target="../notesSlides/notesSlide96.xml"/><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97.xml"/><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98.xml"/><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99.xml"/><Relationship Id="rId1" Type="http://schemas.openxmlformats.org/officeDocument/2006/relationships/slideLayout" Target="../slideLayouts/slideLayout2.xml"/><Relationship Id="rId6" Type="http://schemas.openxmlformats.org/officeDocument/2006/relationships/image" Target="../media/image44.png"/><Relationship Id="rId5" Type="http://schemas.openxmlformats.org/officeDocument/2006/relationships/image" Target="../media/image43.png"/><Relationship Id="rId4" Type="http://schemas.openxmlformats.org/officeDocument/2006/relationships/image" Target="../media/image42.png"/></Relationships>
</file>

<file path=ppt/slides/_rels/slide105.xml.rels><?xml version="1.0" encoding="UTF-8" standalone="yes"?>
<Relationships xmlns="http://schemas.openxmlformats.org/package/2006/relationships"><Relationship Id="rId3" Type="http://schemas.openxmlformats.org/officeDocument/2006/relationships/image" Target="../media/image46.jpeg"/><Relationship Id="rId2" Type="http://schemas.openxmlformats.org/officeDocument/2006/relationships/image" Target="../media/image45.gif"/><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2" Type="http://schemas.openxmlformats.org/officeDocument/2006/relationships/notesSlide" Target="../notesSlides/notesSlide100.xml"/><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2" Type="http://schemas.openxmlformats.org/officeDocument/2006/relationships/notesSlide" Target="../notesSlides/notesSlide101.xml"/><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2" Type="http://schemas.openxmlformats.org/officeDocument/2006/relationships/notesSlide" Target="../notesSlides/notesSlide102.xml"/><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2" Type="http://schemas.openxmlformats.org/officeDocument/2006/relationships/notesSlide" Target="../notesSlides/notesSlide103.xml"/><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104.xml"/><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2" Type="http://schemas.openxmlformats.org/officeDocument/2006/relationships/notesSlide" Target="../notesSlides/notesSlide105.xml"/><Relationship Id="rId1" Type="http://schemas.openxmlformats.org/officeDocument/2006/relationships/slideLayout" Target="../slideLayouts/slideLayout2.xml"/></Relationships>
</file>

<file path=ppt/slides/_rels/slide112.xml.rels><?xml version="1.0" encoding="UTF-8" standalone="yes"?>
<Relationships xmlns="http://schemas.openxmlformats.org/package/2006/relationships"><Relationship Id="rId2" Type="http://schemas.openxmlformats.org/officeDocument/2006/relationships/notesSlide" Target="../notesSlides/notesSlide106.xml"/><Relationship Id="rId1" Type="http://schemas.openxmlformats.org/officeDocument/2006/relationships/slideLayout" Target="../slideLayouts/slideLayout2.xml"/></Relationships>
</file>

<file path=ppt/slides/_rels/slide113.xml.rels><?xml version="1.0" encoding="UTF-8" standalone="yes"?>
<Relationships xmlns="http://schemas.openxmlformats.org/package/2006/relationships"><Relationship Id="rId2" Type="http://schemas.openxmlformats.org/officeDocument/2006/relationships/notesSlide" Target="../notesSlides/notesSlide107.xml"/><Relationship Id="rId1" Type="http://schemas.openxmlformats.org/officeDocument/2006/relationships/slideLayout" Target="../slideLayouts/slideLayout2.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5.xml.rels><?xml version="1.0" encoding="UTF-8" standalone="yes"?>
<Relationships xmlns="http://schemas.openxmlformats.org/package/2006/relationships"><Relationship Id="rId2" Type="http://schemas.openxmlformats.org/officeDocument/2006/relationships/notesSlide" Target="../notesSlides/notesSlide108.xml"/><Relationship Id="rId1" Type="http://schemas.openxmlformats.org/officeDocument/2006/relationships/slideLayout" Target="../slideLayouts/slideLayout2.xml"/></Relationships>
</file>

<file path=ppt/slides/_rels/slide116.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notesSlide" Target="../notesSlides/notesSlide109.xml"/><Relationship Id="rId1" Type="http://schemas.openxmlformats.org/officeDocument/2006/relationships/slideLayout" Target="../slideLayouts/slideLayout2.xml"/></Relationships>
</file>

<file path=ppt/slides/_rels/slide117.xml.rels><?xml version="1.0" encoding="UTF-8" standalone="yes"?>
<Relationships xmlns="http://schemas.openxmlformats.org/package/2006/relationships"><Relationship Id="rId2" Type="http://schemas.openxmlformats.org/officeDocument/2006/relationships/notesSlide" Target="../notesSlides/notesSlide110.xml"/><Relationship Id="rId1" Type="http://schemas.openxmlformats.org/officeDocument/2006/relationships/slideLayout" Target="../slideLayouts/slideLayout2.xml"/></Relationships>
</file>

<file path=ppt/slides/_rels/slide118.xml.rels><?xml version="1.0" encoding="UTF-8" standalone="yes"?>
<Relationships xmlns="http://schemas.openxmlformats.org/package/2006/relationships"><Relationship Id="rId2" Type="http://schemas.openxmlformats.org/officeDocument/2006/relationships/notesSlide" Target="../notesSlides/notesSlide111.xml"/><Relationship Id="rId1" Type="http://schemas.openxmlformats.org/officeDocument/2006/relationships/slideLayout" Target="../slideLayouts/slideLayout2.xml"/></Relationships>
</file>

<file path=ppt/slides/_rels/slide119.xml.rels><?xml version="1.0" encoding="UTF-8" standalone="yes"?>
<Relationships xmlns="http://schemas.openxmlformats.org/package/2006/relationships"><Relationship Id="rId2" Type="http://schemas.openxmlformats.org/officeDocument/2006/relationships/notesSlide" Target="../notesSlides/notesSlide112.xml"/><Relationship Id="rId1" Type="http://schemas.openxmlformats.org/officeDocument/2006/relationships/slideLayout" Target="../slideLayouts/slideLayout2.xml"/></Relationships>
</file>

<file path=ppt/slides/_rels/slide120.xml.rels><?xml version="1.0" encoding="UTF-8" standalone="yes"?>
<Relationships xmlns="http://schemas.openxmlformats.org/package/2006/relationships"><Relationship Id="rId2" Type="http://schemas.openxmlformats.org/officeDocument/2006/relationships/notesSlide" Target="../notesSlides/notesSlide113.xml"/><Relationship Id="rId1" Type="http://schemas.openxmlformats.org/officeDocument/2006/relationships/slideLayout" Target="../slideLayouts/slideLayout2.xml"/></Relationships>
</file>

<file path=ppt/slides/_rels/slide121.xml.rels><?xml version="1.0" encoding="UTF-8" standalone="yes"?>
<Relationships xmlns="http://schemas.openxmlformats.org/package/2006/relationships"><Relationship Id="rId2" Type="http://schemas.openxmlformats.org/officeDocument/2006/relationships/notesSlide" Target="../notesSlides/notesSlide114.xml"/><Relationship Id="rId1" Type="http://schemas.openxmlformats.org/officeDocument/2006/relationships/slideLayout" Target="../slideLayouts/slideLayout2.xml"/></Relationships>
</file>

<file path=ppt/slides/_rels/slide122.xml.rels><?xml version="1.0" encoding="UTF-8" standalone="yes"?>
<Relationships xmlns="http://schemas.openxmlformats.org/package/2006/relationships"><Relationship Id="rId2" Type="http://schemas.openxmlformats.org/officeDocument/2006/relationships/notesSlide" Target="../notesSlides/notesSlide115.xml"/><Relationship Id="rId1" Type="http://schemas.openxmlformats.org/officeDocument/2006/relationships/slideLayout" Target="../slideLayouts/slideLayout2.xml"/></Relationships>
</file>

<file path=ppt/slides/_rels/slide123.xml.rels><?xml version="1.0" encoding="UTF-8" standalone="yes"?>
<Relationships xmlns="http://schemas.openxmlformats.org/package/2006/relationships"><Relationship Id="rId2" Type="http://schemas.openxmlformats.org/officeDocument/2006/relationships/notesSlide" Target="../notesSlides/notesSlide116.xml"/><Relationship Id="rId1" Type="http://schemas.openxmlformats.org/officeDocument/2006/relationships/slideLayout" Target="../slideLayouts/slideLayout2.xml"/></Relationships>
</file>

<file path=ppt/slides/_rels/slide124.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notesSlide" Target="../notesSlides/notesSlide117.xml"/><Relationship Id="rId1" Type="http://schemas.openxmlformats.org/officeDocument/2006/relationships/slideLayout" Target="../slideLayouts/slideLayout6.xml"/><Relationship Id="rId4" Type="http://schemas.openxmlformats.org/officeDocument/2006/relationships/image" Target="../media/image50.png"/></Relationships>
</file>

<file path=ppt/slides/_rels/slide125.xml.rels><?xml version="1.0" encoding="UTF-8" standalone="yes"?>
<Relationships xmlns="http://schemas.openxmlformats.org/package/2006/relationships"><Relationship Id="rId2" Type="http://schemas.openxmlformats.org/officeDocument/2006/relationships/notesSlide" Target="../notesSlides/notesSlide118.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458C1BCA-247F-4480-B78C-924FEBA5CD6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8E165E7-6DD1-45F7-9C43-07C6BBB38530}"/>
              </a:ext>
            </a:extLst>
          </p:cNvPr>
          <p:cNvSpPr>
            <a:spLocks noGrp="1"/>
          </p:cNvSpPr>
          <p:nvPr>
            <p:ph type="ctrTitle"/>
          </p:nvPr>
        </p:nvSpPr>
        <p:spPr>
          <a:xfrm>
            <a:off x="7534655" y="993913"/>
            <a:ext cx="4013877" cy="4021637"/>
          </a:xfrm>
        </p:spPr>
        <p:txBody>
          <a:bodyPr>
            <a:normAutofit/>
          </a:bodyPr>
          <a:lstStyle/>
          <a:p>
            <a:pPr algn="l"/>
            <a:r>
              <a:rPr lang="en-US" sz="8000"/>
              <a:t>Pituitary Diseases</a:t>
            </a:r>
          </a:p>
        </p:txBody>
      </p:sp>
      <p:sp>
        <p:nvSpPr>
          <p:cNvPr id="3" name="Subtitle 2">
            <a:extLst>
              <a:ext uri="{FF2B5EF4-FFF2-40B4-BE49-F238E27FC236}">
                <a16:creationId xmlns:a16="http://schemas.microsoft.com/office/drawing/2014/main" id="{CFBA3497-432A-48C1-A32E-796679D656A6}"/>
              </a:ext>
            </a:extLst>
          </p:cNvPr>
          <p:cNvSpPr>
            <a:spLocks noGrp="1"/>
          </p:cNvSpPr>
          <p:nvPr>
            <p:ph type="subTitle" idx="1"/>
          </p:nvPr>
        </p:nvSpPr>
        <p:spPr>
          <a:xfrm>
            <a:off x="7534653" y="5015551"/>
            <a:ext cx="4479961" cy="1069441"/>
          </a:xfrm>
        </p:spPr>
        <p:txBody>
          <a:bodyPr anchor="t">
            <a:normAutofit/>
          </a:bodyPr>
          <a:lstStyle/>
          <a:p>
            <a:pPr algn="l"/>
            <a:r>
              <a:rPr lang="en-US" sz="2000" dirty="0"/>
              <a:t>Breanna Veal, MHS, PA-C</a:t>
            </a:r>
          </a:p>
        </p:txBody>
      </p:sp>
      <p:sp>
        <p:nvSpPr>
          <p:cNvPr id="10" name="Freeform: Shape 9">
            <a:extLst>
              <a:ext uri="{FF2B5EF4-FFF2-40B4-BE49-F238E27FC236}">
                <a16:creationId xmlns:a16="http://schemas.microsoft.com/office/drawing/2014/main" id="{B8E37057-BDB6-4452-836A-27973D54F2D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5471106" cy="4631426"/>
          </a:xfrm>
          <a:custGeom>
            <a:avLst/>
            <a:gdLst>
              <a:gd name="connsiteX0" fmla="*/ 0 w 5471106"/>
              <a:gd name="connsiteY0" fmla="*/ 3301451 h 4631426"/>
              <a:gd name="connsiteX1" fmla="*/ 125703 w 5471106"/>
              <a:gd name="connsiteY1" fmla="*/ 3469551 h 4631426"/>
              <a:gd name="connsiteX2" fmla="*/ 584138 w 5471106"/>
              <a:gd name="connsiteY2" fmla="*/ 3917166 h 4631426"/>
              <a:gd name="connsiteX3" fmla="*/ 716463 w 5471106"/>
              <a:gd name="connsiteY3" fmla="*/ 4010064 h 4631426"/>
              <a:gd name="connsiteX4" fmla="*/ 705202 w 5471106"/>
              <a:gd name="connsiteY4" fmla="*/ 4016176 h 4631426"/>
              <a:gd name="connsiteX5" fmla="*/ 671370 w 5471106"/>
              <a:gd name="connsiteY5" fmla="*/ 4044091 h 4631426"/>
              <a:gd name="connsiteX6" fmla="*/ 656526 w 5471106"/>
              <a:gd name="connsiteY6" fmla="*/ 4066106 h 4631426"/>
              <a:gd name="connsiteX7" fmla="*/ 534490 w 5471106"/>
              <a:gd name="connsiteY7" fmla="*/ 3980431 h 4631426"/>
              <a:gd name="connsiteX8" fmla="*/ 63650 w 5471106"/>
              <a:gd name="connsiteY8" fmla="*/ 3520703 h 4631426"/>
              <a:gd name="connsiteX9" fmla="*/ 0 w 5471106"/>
              <a:gd name="connsiteY9" fmla="*/ 3435586 h 4631426"/>
              <a:gd name="connsiteX10" fmla="*/ 4933182 w 5471106"/>
              <a:gd name="connsiteY10" fmla="*/ 0 h 4631426"/>
              <a:gd name="connsiteX11" fmla="*/ 5027180 w 5471106"/>
              <a:gd name="connsiteY11" fmla="*/ 0 h 4631426"/>
              <a:gd name="connsiteX12" fmla="*/ 5102720 w 5471106"/>
              <a:gd name="connsiteY12" fmla="*/ 124342 h 4631426"/>
              <a:gd name="connsiteX13" fmla="*/ 5471106 w 5471106"/>
              <a:gd name="connsiteY13" fmla="*/ 1579210 h 4631426"/>
              <a:gd name="connsiteX14" fmla="*/ 2418889 w 5471106"/>
              <a:gd name="connsiteY14" fmla="*/ 4631426 h 4631426"/>
              <a:gd name="connsiteX15" fmla="*/ 1095627 w 5471106"/>
              <a:gd name="connsiteY15" fmla="*/ 4330445 h 4631426"/>
              <a:gd name="connsiteX16" fmla="*/ 1039194 w 5471106"/>
              <a:gd name="connsiteY16" fmla="*/ 4301325 h 4631426"/>
              <a:gd name="connsiteX17" fmla="*/ 1043650 w 5471106"/>
              <a:gd name="connsiteY17" fmla="*/ 4294717 h 4631426"/>
              <a:gd name="connsiteX18" fmla="*/ 1056970 w 5471106"/>
              <a:gd name="connsiteY18" fmla="*/ 4251806 h 4631426"/>
              <a:gd name="connsiteX19" fmla="*/ 1060016 w 5471106"/>
              <a:gd name="connsiteY19" fmla="*/ 4221593 h 4631426"/>
              <a:gd name="connsiteX20" fmla="*/ 1130491 w 5471106"/>
              <a:gd name="connsiteY20" fmla="*/ 4257958 h 4631426"/>
              <a:gd name="connsiteX21" fmla="*/ 2418889 w 5471106"/>
              <a:gd name="connsiteY21" fmla="*/ 4551009 h 4631426"/>
              <a:gd name="connsiteX22" fmla="*/ 5390689 w 5471106"/>
              <a:gd name="connsiteY22" fmla="*/ 1579210 h 4631426"/>
              <a:gd name="connsiteX23" fmla="*/ 5032009 w 5471106"/>
              <a:gd name="connsiteY23" fmla="*/ 162673 h 46314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5471106" h="4631426">
                <a:moveTo>
                  <a:pt x="0" y="3301451"/>
                </a:moveTo>
                <a:lnTo>
                  <a:pt x="125703" y="3469551"/>
                </a:lnTo>
                <a:cubicBezTo>
                  <a:pt x="261971" y="3634670"/>
                  <a:pt x="415728" y="3784820"/>
                  <a:pt x="584138" y="3917166"/>
                </a:cubicBezTo>
                <a:lnTo>
                  <a:pt x="716463" y="4010064"/>
                </a:lnTo>
                <a:lnTo>
                  <a:pt x="705202" y="4016176"/>
                </a:lnTo>
                <a:cubicBezTo>
                  <a:pt x="693040" y="4024393"/>
                  <a:pt x="681712" y="4033748"/>
                  <a:pt x="671370" y="4044091"/>
                </a:cubicBezTo>
                <a:lnTo>
                  <a:pt x="656526" y="4066106"/>
                </a:lnTo>
                <a:lnTo>
                  <a:pt x="534490" y="3980431"/>
                </a:lnTo>
                <a:cubicBezTo>
                  <a:pt x="361523" y="3844503"/>
                  <a:pt x="203605" y="3690290"/>
                  <a:pt x="63650" y="3520703"/>
                </a:cubicBezTo>
                <a:lnTo>
                  <a:pt x="0" y="3435586"/>
                </a:lnTo>
                <a:close/>
                <a:moveTo>
                  <a:pt x="4933182" y="0"/>
                </a:moveTo>
                <a:lnTo>
                  <a:pt x="5027180" y="0"/>
                </a:lnTo>
                <a:lnTo>
                  <a:pt x="5102720" y="124342"/>
                </a:lnTo>
                <a:cubicBezTo>
                  <a:pt x="5337656" y="556821"/>
                  <a:pt x="5471106" y="1052431"/>
                  <a:pt x="5471106" y="1579210"/>
                </a:cubicBezTo>
                <a:cubicBezTo>
                  <a:pt x="5471106" y="3264903"/>
                  <a:pt x="4104582" y="4631426"/>
                  <a:pt x="2418889" y="4631426"/>
                </a:cubicBezTo>
                <a:cubicBezTo>
                  <a:pt x="1944788" y="4631426"/>
                  <a:pt x="1495934" y="4523332"/>
                  <a:pt x="1095627" y="4330445"/>
                </a:cubicBezTo>
                <a:lnTo>
                  <a:pt x="1039194" y="4301325"/>
                </a:lnTo>
                <a:lnTo>
                  <a:pt x="1043650" y="4294717"/>
                </a:lnTo>
                <a:cubicBezTo>
                  <a:pt x="1049433" y="4281042"/>
                  <a:pt x="1053925" y="4266687"/>
                  <a:pt x="1056970" y="4251806"/>
                </a:cubicBezTo>
                <a:lnTo>
                  <a:pt x="1060016" y="4221593"/>
                </a:lnTo>
                <a:lnTo>
                  <a:pt x="1130491" y="4257958"/>
                </a:lnTo>
                <a:cubicBezTo>
                  <a:pt x="1520251" y="4445763"/>
                  <a:pt x="1957279" y="4551009"/>
                  <a:pt x="2418889" y="4551009"/>
                </a:cubicBezTo>
                <a:cubicBezTo>
                  <a:pt x="4060169" y="4551009"/>
                  <a:pt x="5390689" y="3220490"/>
                  <a:pt x="5390689" y="1579210"/>
                </a:cubicBezTo>
                <a:cubicBezTo>
                  <a:pt x="5390689" y="1066310"/>
                  <a:pt x="5260755" y="583758"/>
                  <a:pt x="5032009" y="162673"/>
                </a:cubicBezTo>
                <a:close/>
              </a:path>
            </a:pathLst>
          </a:custGeom>
          <a:solidFill>
            <a:schemeClr val="tx1">
              <a:lumMod val="50000"/>
              <a:lumOff val="50000"/>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2" name="Freeform: Shape 11">
            <a:extLst>
              <a:ext uri="{FF2B5EF4-FFF2-40B4-BE49-F238E27FC236}">
                <a16:creationId xmlns:a16="http://schemas.microsoft.com/office/drawing/2014/main" id="{11A3A707-72D6-4BAB-8187-F8204F4EDC6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288530" y="1774620"/>
            <a:ext cx="3780042" cy="3780042"/>
          </a:xfrm>
          <a:custGeom>
            <a:avLst/>
            <a:gdLst>
              <a:gd name="connsiteX0" fmla="*/ 2054781 w 4109561"/>
              <a:gd name="connsiteY0" fmla="*/ 0 h 4109561"/>
              <a:gd name="connsiteX1" fmla="*/ 4109561 w 4109561"/>
              <a:gd name="connsiteY1" fmla="*/ 2054781 h 4109561"/>
              <a:gd name="connsiteX2" fmla="*/ 2054781 w 4109561"/>
              <a:gd name="connsiteY2" fmla="*/ 4109561 h 4109561"/>
              <a:gd name="connsiteX3" fmla="*/ 0 w 4109561"/>
              <a:gd name="connsiteY3" fmla="*/ 2054781 h 4109561"/>
              <a:gd name="connsiteX4" fmla="*/ 2054781 w 4109561"/>
              <a:gd name="connsiteY4" fmla="*/ 0 h 410956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109561" h="4109561">
                <a:moveTo>
                  <a:pt x="2054781" y="0"/>
                </a:moveTo>
                <a:cubicBezTo>
                  <a:pt x="3189605" y="0"/>
                  <a:pt x="4109561" y="919957"/>
                  <a:pt x="4109561" y="2054781"/>
                </a:cubicBezTo>
                <a:cubicBezTo>
                  <a:pt x="4109561" y="3189605"/>
                  <a:pt x="3189605" y="4109561"/>
                  <a:pt x="2054781" y="4109561"/>
                </a:cubicBezTo>
                <a:cubicBezTo>
                  <a:pt x="919957" y="4109561"/>
                  <a:pt x="0" y="3189605"/>
                  <a:pt x="0" y="2054781"/>
                </a:cubicBezTo>
                <a:cubicBezTo>
                  <a:pt x="0" y="919957"/>
                  <a:pt x="919957" y="0"/>
                  <a:pt x="2054781" y="0"/>
                </a:cubicBezTo>
                <a:close/>
              </a:path>
            </a:pathLst>
          </a:custGeom>
          <a:solidFill>
            <a:schemeClr val="bg1">
              <a:alpha val="25000"/>
            </a:schemeClr>
          </a:solidFill>
          <a:ln w="22225">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4" name="Oval 13">
            <a:extLst>
              <a:ext uri="{FF2B5EF4-FFF2-40B4-BE49-F238E27FC236}">
                <a16:creationId xmlns:a16="http://schemas.microsoft.com/office/drawing/2014/main" id="{C983411D-901F-4574-9926-33415AA921F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013450" y="1713004"/>
            <a:ext cx="365760" cy="365760"/>
          </a:xfrm>
          <a:prstGeom prst="ellipse">
            <a:avLst/>
          </a:prstGeom>
          <a:solidFill>
            <a:schemeClr val="accent6">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46673781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58" name="Rectangle 1057">
            <a:extLst>
              <a:ext uri="{FF2B5EF4-FFF2-40B4-BE49-F238E27FC236}">
                <a16:creationId xmlns:a16="http://schemas.microsoft.com/office/drawing/2014/main" id="{E45CA849-654C-4173-AD99-B3A2528275F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14B2F4F-9AF2-4EC1-89EB-C8929959DE73}"/>
              </a:ext>
            </a:extLst>
          </p:cNvPr>
          <p:cNvSpPr>
            <a:spLocks noGrp="1"/>
          </p:cNvSpPr>
          <p:nvPr>
            <p:ph type="title"/>
          </p:nvPr>
        </p:nvSpPr>
        <p:spPr>
          <a:xfrm>
            <a:off x="429768" y="411480"/>
            <a:ext cx="11201400" cy="1106424"/>
          </a:xfrm>
        </p:spPr>
        <p:txBody>
          <a:bodyPr>
            <a:normAutofit/>
          </a:bodyPr>
          <a:lstStyle/>
          <a:p>
            <a:r>
              <a:rPr lang="en-US" sz="4800"/>
              <a:t>Anatomy and Physiology Review </a:t>
            </a:r>
          </a:p>
        </p:txBody>
      </p:sp>
      <p:sp>
        <p:nvSpPr>
          <p:cNvPr id="1060" name="Rectangle 1059">
            <a:extLst>
              <a:ext uri="{FF2B5EF4-FFF2-40B4-BE49-F238E27FC236}">
                <a16:creationId xmlns:a16="http://schemas.microsoft.com/office/drawing/2014/main" id="{3E23A947-2D45-4208-AE2B-64948C87A3E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587931"/>
            <a:ext cx="128016"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062" name="Rectangle 1061">
            <a:extLst>
              <a:ext uri="{FF2B5EF4-FFF2-40B4-BE49-F238E27FC236}">
                <a16:creationId xmlns:a16="http://schemas.microsoft.com/office/drawing/2014/main" id="{E5BBB0F9-6A59-4D02-A9C7-A2D6516684C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543801" y="1721922"/>
            <a:ext cx="4218432" cy="4520560"/>
          </a:xfrm>
          <a:prstGeom prst="rect">
            <a:avLst/>
          </a:prstGeom>
          <a:ln w="9525">
            <a:solidFill>
              <a:srgbClr val="E1E1E1"/>
            </a:solidFill>
          </a:ln>
          <a:effectLst>
            <a:outerShdw blurRad="50800" dist="38100" dir="2700000" algn="t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 name="Content Placeholder 2">
            <a:extLst>
              <a:ext uri="{FF2B5EF4-FFF2-40B4-BE49-F238E27FC236}">
                <a16:creationId xmlns:a16="http://schemas.microsoft.com/office/drawing/2014/main" id="{5F0AC95B-CB46-423E-8BC7-05A39036B045}"/>
              </a:ext>
            </a:extLst>
          </p:cNvPr>
          <p:cNvSpPr>
            <a:spLocks noGrp="1"/>
          </p:cNvSpPr>
          <p:nvPr>
            <p:ph idx="1"/>
          </p:nvPr>
        </p:nvSpPr>
        <p:spPr>
          <a:xfrm>
            <a:off x="542072" y="1709200"/>
            <a:ext cx="5154115" cy="5148800"/>
          </a:xfrm>
        </p:spPr>
        <p:txBody>
          <a:bodyPr anchor="t">
            <a:normAutofit/>
          </a:bodyPr>
          <a:lstStyle/>
          <a:p>
            <a:r>
              <a:rPr lang="en-US" sz="3200" b="1" dirty="0"/>
              <a:t>The pituitary gland </a:t>
            </a:r>
            <a:r>
              <a:rPr lang="en-US" sz="3200" dirty="0"/>
              <a:t>is a pea-sized gland that sits at the base of the brain directly below the hypothalamus.</a:t>
            </a:r>
          </a:p>
          <a:p>
            <a:endParaRPr lang="en-US" sz="1800" dirty="0"/>
          </a:p>
        </p:txBody>
      </p:sp>
      <p:pic>
        <p:nvPicPr>
          <p:cNvPr id="4" name="Picture 3">
            <a:extLst>
              <a:ext uri="{FF2B5EF4-FFF2-40B4-BE49-F238E27FC236}">
                <a16:creationId xmlns:a16="http://schemas.microsoft.com/office/drawing/2014/main" id="{72D60815-3974-7724-2144-B414F224F314}"/>
              </a:ext>
            </a:extLst>
          </p:cNvPr>
          <p:cNvPicPr>
            <a:picLocks noChangeAspect="1"/>
          </p:cNvPicPr>
          <p:nvPr/>
        </p:nvPicPr>
        <p:blipFill>
          <a:blip r:embed="rId3"/>
          <a:stretch>
            <a:fillRect/>
          </a:stretch>
        </p:blipFill>
        <p:spPr>
          <a:xfrm>
            <a:off x="5911070" y="1670880"/>
            <a:ext cx="6066046" cy="5054022"/>
          </a:xfrm>
          <a:prstGeom prst="rect">
            <a:avLst/>
          </a:prstGeom>
        </p:spPr>
      </p:pic>
    </p:spTree>
    <p:extLst>
      <p:ext uri="{BB962C8B-B14F-4D97-AF65-F5344CB8AC3E}">
        <p14:creationId xmlns:p14="http://schemas.microsoft.com/office/powerpoint/2010/main" val="39628218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58" name="Rectangle 1057">
            <a:extLst>
              <a:ext uri="{FF2B5EF4-FFF2-40B4-BE49-F238E27FC236}">
                <a16:creationId xmlns:a16="http://schemas.microsoft.com/office/drawing/2014/main" id="{E45CA849-654C-4173-AD99-B3A2528275F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14B2F4F-9AF2-4EC1-89EB-C8929959DE73}"/>
              </a:ext>
            </a:extLst>
          </p:cNvPr>
          <p:cNvSpPr>
            <a:spLocks noGrp="1"/>
          </p:cNvSpPr>
          <p:nvPr>
            <p:ph type="title"/>
          </p:nvPr>
        </p:nvSpPr>
        <p:spPr>
          <a:xfrm>
            <a:off x="429768" y="411480"/>
            <a:ext cx="11201400" cy="1106424"/>
          </a:xfrm>
        </p:spPr>
        <p:txBody>
          <a:bodyPr>
            <a:normAutofit/>
          </a:bodyPr>
          <a:lstStyle/>
          <a:p>
            <a:r>
              <a:rPr lang="en-US" sz="4800"/>
              <a:t>Anatomy and Physiology Review </a:t>
            </a:r>
          </a:p>
        </p:txBody>
      </p:sp>
      <p:sp>
        <p:nvSpPr>
          <p:cNvPr id="1060" name="Rectangle 1059">
            <a:extLst>
              <a:ext uri="{FF2B5EF4-FFF2-40B4-BE49-F238E27FC236}">
                <a16:creationId xmlns:a16="http://schemas.microsoft.com/office/drawing/2014/main" id="{3E23A947-2D45-4208-AE2B-64948C87A3E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587931"/>
            <a:ext cx="128016"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062" name="Rectangle 1061">
            <a:extLst>
              <a:ext uri="{FF2B5EF4-FFF2-40B4-BE49-F238E27FC236}">
                <a16:creationId xmlns:a16="http://schemas.microsoft.com/office/drawing/2014/main" id="{E5BBB0F9-6A59-4D02-A9C7-A2D6516684C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543801" y="1721922"/>
            <a:ext cx="4218432" cy="4520560"/>
          </a:xfrm>
          <a:prstGeom prst="rect">
            <a:avLst/>
          </a:prstGeom>
          <a:ln w="9525">
            <a:solidFill>
              <a:srgbClr val="E1E1E1"/>
            </a:solidFill>
          </a:ln>
          <a:effectLst>
            <a:outerShdw blurRad="50800" dist="38100" dir="2700000" algn="t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 name="Content Placeholder 2">
            <a:extLst>
              <a:ext uri="{FF2B5EF4-FFF2-40B4-BE49-F238E27FC236}">
                <a16:creationId xmlns:a16="http://schemas.microsoft.com/office/drawing/2014/main" id="{5F0AC95B-CB46-423E-8BC7-05A39036B045}"/>
              </a:ext>
            </a:extLst>
          </p:cNvPr>
          <p:cNvSpPr>
            <a:spLocks noGrp="1"/>
          </p:cNvSpPr>
          <p:nvPr>
            <p:ph idx="1"/>
          </p:nvPr>
        </p:nvSpPr>
        <p:spPr>
          <a:xfrm>
            <a:off x="429769" y="1709200"/>
            <a:ext cx="7233302" cy="5148800"/>
          </a:xfrm>
          <a:solidFill>
            <a:schemeClr val="bg1"/>
          </a:solidFill>
        </p:spPr>
        <p:txBody>
          <a:bodyPr anchor="t">
            <a:normAutofit/>
          </a:body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US" sz="3200" b="0" i="0" u="none" strike="noStrike" kern="1200" cap="none" spc="0" normalizeH="0" baseline="0" noProof="0" dirty="0">
                <a:ln>
                  <a:noFill/>
                </a:ln>
                <a:solidFill>
                  <a:prstClr val="black"/>
                </a:solidFill>
                <a:effectLst/>
                <a:uLnTx/>
                <a:uFillTx/>
                <a:latin typeface="Calibri" panose="020F0502020204030204"/>
                <a:ea typeface="+mn-ea"/>
                <a:cs typeface="+mn-cs"/>
              </a:rPr>
              <a:t>The </a:t>
            </a:r>
            <a:r>
              <a:rPr kumimoji="0" lang="en-US" sz="3200" b="1" i="0" u="none" strike="noStrike" kern="1200" cap="none" spc="0" normalizeH="0" baseline="0" noProof="0" dirty="0">
                <a:ln>
                  <a:noFill/>
                </a:ln>
                <a:solidFill>
                  <a:prstClr val="black"/>
                </a:solidFill>
                <a:effectLst/>
                <a:uLnTx/>
                <a:uFillTx/>
                <a:latin typeface="Calibri" panose="020F0502020204030204"/>
                <a:ea typeface="+mn-ea"/>
                <a:cs typeface="+mn-cs"/>
              </a:rPr>
              <a:t>hypothalamus</a:t>
            </a:r>
            <a:r>
              <a:rPr kumimoji="0" lang="en-US" sz="3200" b="0" i="0" u="none" strike="noStrike" kern="1200" cap="none" spc="0" normalizeH="0" baseline="0" noProof="0" dirty="0">
                <a:ln>
                  <a:noFill/>
                </a:ln>
                <a:solidFill>
                  <a:prstClr val="black"/>
                </a:solidFill>
                <a:effectLst/>
                <a:uLnTx/>
                <a:uFillTx/>
                <a:latin typeface="Calibri" panose="020F0502020204030204"/>
                <a:ea typeface="+mn-ea"/>
                <a:cs typeface="+mn-cs"/>
              </a:rPr>
              <a:t> is located above the pituitary gland and below the thalamus</a:t>
            </a: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US" sz="3200" b="0" i="0" u="none" strike="noStrike" kern="1200" cap="none" spc="0" normalizeH="0" baseline="0" noProof="0" dirty="0">
                <a:ln>
                  <a:noFill/>
                </a:ln>
                <a:solidFill>
                  <a:prstClr val="black"/>
                </a:solidFill>
                <a:effectLst/>
                <a:uLnTx/>
                <a:uFillTx/>
                <a:latin typeface="Calibri" panose="020F0502020204030204"/>
                <a:ea typeface="+mn-ea"/>
                <a:cs typeface="+mn-cs"/>
              </a:rPr>
              <a:t>It is composed of multiple small nuclei linking nervous system to endocrine system </a:t>
            </a: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US" sz="3200" b="0" i="0" u="none" strike="noStrike" kern="1200" cap="none" spc="0" normalizeH="0" baseline="0" noProof="0" dirty="0">
                <a:ln>
                  <a:noFill/>
                </a:ln>
                <a:solidFill>
                  <a:prstClr val="black"/>
                </a:solidFill>
                <a:effectLst/>
                <a:uLnTx/>
                <a:uFillTx/>
                <a:latin typeface="Calibri" panose="020F0502020204030204"/>
                <a:ea typeface="+mn-ea"/>
                <a:cs typeface="+mn-cs"/>
              </a:rPr>
              <a:t>It acts as the </a:t>
            </a:r>
            <a:r>
              <a:rPr kumimoji="0" lang="en-US" sz="3200" b="1" i="0" u="none" strike="noStrike" kern="1200" cap="none" spc="0" normalizeH="0" baseline="0" noProof="0" dirty="0">
                <a:ln>
                  <a:noFill/>
                </a:ln>
                <a:solidFill>
                  <a:prstClr val="black"/>
                </a:solidFill>
                <a:effectLst/>
                <a:uLnTx/>
                <a:uFillTx/>
                <a:latin typeface="Calibri" panose="020F0502020204030204"/>
                <a:ea typeface="+mn-ea"/>
                <a:cs typeface="+mn-cs"/>
              </a:rPr>
              <a:t>“coordinating center” </a:t>
            </a:r>
            <a:r>
              <a:rPr kumimoji="0" lang="en-US" sz="3200" b="0" i="0" u="none" strike="noStrike" kern="1200" cap="none" spc="0" normalizeH="0" baseline="0" noProof="0" dirty="0">
                <a:ln>
                  <a:noFill/>
                </a:ln>
                <a:solidFill>
                  <a:prstClr val="black"/>
                </a:solidFill>
                <a:effectLst/>
                <a:uLnTx/>
                <a:uFillTx/>
                <a:latin typeface="Calibri" panose="020F0502020204030204"/>
                <a:ea typeface="+mn-ea"/>
                <a:cs typeface="+mn-cs"/>
              </a:rPr>
              <a:t>by consolidating signals from the brain, environment, etc. and delivering signals to the pituitary gland for hormone release </a:t>
            </a:r>
          </a:p>
          <a:p>
            <a:endParaRPr lang="en-US" sz="1800" dirty="0"/>
          </a:p>
        </p:txBody>
      </p:sp>
      <p:pic>
        <p:nvPicPr>
          <p:cNvPr id="5" name="Picture 4">
            <a:extLst>
              <a:ext uri="{FF2B5EF4-FFF2-40B4-BE49-F238E27FC236}">
                <a16:creationId xmlns:a16="http://schemas.microsoft.com/office/drawing/2014/main" id="{18E450BC-F12E-BACF-AA08-0EE186021A9F}"/>
              </a:ext>
            </a:extLst>
          </p:cNvPr>
          <p:cNvPicPr>
            <a:picLocks noChangeAspect="1"/>
          </p:cNvPicPr>
          <p:nvPr/>
        </p:nvPicPr>
        <p:blipFill>
          <a:blip r:embed="rId3"/>
          <a:stretch>
            <a:fillRect/>
          </a:stretch>
        </p:blipFill>
        <p:spPr>
          <a:xfrm>
            <a:off x="7800995" y="1230904"/>
            <a:ext cx="4176122" cy="5627096"/>
          </a:xfrm>
          <a:prstGeom prst="rect">
            <a:avLst/>
          </a:prstGeom>
        </p:spPr>
      </p:pic>
    </p:spTree>
    <p:extLst>
      <p:ext uri="{BB962C8B-B14F-4D97-AF65-F5344CB8AC3E}">
        <p14:creationId xmlns:p14="http://schemas.microsoft.com/office/powerpoint/2010/main" val="427571449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58" name="Rectangle 1057">
            <a:extLst>
              <a:ext uri="{FF2B5EF4-FFF2-40B4-BE49-F238E27FC236}">
                <a16:creationId xmlns:a16="http://schemas.microsoft.com/office/drawing/2014/main" id="{E45CA849-654C-4173-AD99-B3A2528275F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14B2F4F-9AF2-4EC1-89EB-C8929959DE73}"/>
              </a:ext>
            </a:extLst>
          </p:cNvPr>
          <p:cNvSpPr>
            <a:spLocks noGrp="1"/>
          </p:cNvSpPr>
          <p:nvPr>
            <p:ph type="title"/>
          </p:nvPr>
        </p:nvSpPr>
        <p:spPr>
          <a:xfrm>
            <a:off x="429768" y="411480"/>
            <a:ext cx="11201400" cy="1106424"/>
          </a:xfrm>
        </p:spPr>
        <p:txBody>
          <a:bodyPr>
            <a:normAutofit/>
          </a:bodyPr>
          <a:lstStyle/>
          <a:p>
            <a:r>
              <a:rPr lang="en-US" sz="4800"/>
              <a:t>Anatomy and Physiology Review </a:t>
            </a:r>
          </a:p>
        </p:txBody>
      </p:sp>
      <p:sp>
        <p:nvSpPr>
          <p:cNvPr id="1060" name="Rectangle 1059">
            <a:extLst>
              <a:ext uri="{FF2B5EF4-FFF2-40B4-BE49-F238E27FC236}">
                <a16:creationId xmlns:a16="http://schemas.microsoft.com/office/drawing/2014/main" id="{3E23A947-2D45-4208-AE2B-64948C87A3E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587931"/>
            <a:ext cx="128016"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062" name="Rectangle 1061">
            <a:extLst>
              <a:ext uri="{FF2B5EF4-FFF2-40B4-BE49-F238E27FC236}">
                <a16:creationId xmlns:a16="http://schemas.microsoft.com/office/drawing/2014/main" id="{E5BBB0F9-6A59-4D02-A9C7-A2D6516684C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543801" y="1721922"/>
            <a:ext cx="4218432" cy="4520560"/>
          </a:xfrm>
          <a:prstGeom prst="rect">
            <a:avLst/>
          </a:prstGeom>
          <a:ln w="9525">
            <a:solidFill>
              <a:srgbClr val="E1E1E1"/>
            </a:solidFill>
          </a:ln>
          <a:effectLst>
            <a:outerShdw blurRad="50800" dist="38100" dir="2700000" algn="t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 name="Content Placeholder 2">
            <a:extLst>
              <a:ext uri="{FF2B5EF4-FFF2-40B4-BE49-F238E27FC236}">
                <a16:creationId xmlns:a16="http://schemas.microsoft.com/office/drawing/2014/main" id="{5F0AC95B-CB46-423E-8BC7-05A39036B045}"/>
              </a:ext>
            </a:extLst>
          </p:cNvPr>
          <p:cNvSpPr>
            <a:spLocks noGrp="1"/>
          </p:cNvSpPr>
          <p:nvPr>
            <p:ph idx="1"/>
          </p:nvPr>
        </p:nvSpPr>
        <p:spPr>
          <a:xfrm>
            <a:off x="429769" y="1709200"/>
            <a:ext cx="11417674" cy="5148800"/>
          </a:xfrm>
          <a:solidFill>
            <a:schemeClr val="bg1"/>
          </a:solidFill>
        </p:spPr>
        <p:txBody>
          <a:bodyPr anchor="t">
            <a:normAutofit/>
          </a:body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Calibri" panose="020F0502020204030204"/>
                <a:ea typeface="+mn-ea"/>
                <a:cs typeface="+mn-cs"/>
              </a:rPr>
              <a:t>The </a:t>
            </a:r>
            <a:r>
              <a:rPr kumimoji="0" lang="en-US" sz="3600" b="1" i="0" u="none" strike="noStrike" kern="1200" cap="none" spc="0" normalizeH="0" baseline="0" noProof="0">
                <a:ln>
                  <a:noFill/>
                </a:ln>
                <a:solidFill>
                  <a:prstClr val="black"/>
                </a:solidFill>
                <a:effectLst/>
                <a:uLnTx/>
                <a:uFillTx/>
                <a:latin typeface="Calibri" panose="020F0502020204030204"/>
                <a:ea typeface="+mn-ea"/>
                <a:cs typeface="+mn-cs"/>
              </a:rPr>
              <a:t>hypothalamus</a:t>
            </a:r>
            <a:r>
              <a:rPr kumimoji="0" lang="en-US" sz="3600" b="0" i="0" u="none" strike="noStrike" kern="1200" cap="none" spc="0" normalizeH="0" baseline="0" noProof="0">
                <a:ln>
                  <a:noFill/>
                </a:ln>
                <a:solidFill>
                  <a:prstClr val="black"/>
                </a:solidFill>
                <a:effectLst/>
                <a:uLnTx/>
                <a:uFillTx/>
                <a:latin typeface="Calibri" panose="020F0502020204030204"/>
                <a:ea typeface="+mn-ea"/>
                <a:cs typeface="+mn-cs"/>
              </a:rPr>
              <a:t> produces the following hormones: </a:t>
            </a:r>
          </a:p>
          <a:p>
            <a:pPr marL="914400" marR="0" lvl="1" indent="-457200" algn="l" defTabSz="914400" rtl="0" eaLnBrk="1" fontAlgn="auto" latinLnBrk="0" hangingPunct="1">
              <a:lnSpc>
                <a:spcPct val="90000"/>
              </a:lnSpc>
              <a:spcBef>
                <a:spcPts val="500"/>
              </a:spcBef>
              <a:spcAft>
                <a:spcPts val="0"/>
              </a:spcAft>
              <a:buClrTx/>
              <a:buSzTx/>
              <a:buFont typeface="Arial" panose="020B0604020202020204" pitchFamily="34" charset="0"/>
              <a:buAutoNum type="arabicPeriod"/>
              <a:tabLst/>
              <a:defRPr/>
            </a:pPr>
            <a:r>
              <a:rPr kumimoji="0" lang="en-US" sz="3600" b="0" i="0" u="none" strike="noStrike" kern="1200" cap="none" spc="0" normalizeH="0" baseline="0" noProof="0">
                <a:ln>
                  <a:noFill/>
                </a:ln>
                <a:solidFill>
                  <a:prstClr val="black"/>
                </a:solidFill>
                <a:effectLst/>
                <a:uLnTx/>
                <a:uFillTx/>
                <a:latin typeface="Calibri" panose="020F0502020204030204"/>
                <a:ea typeface="+mn-ea"/>
                <a:cs typeface="+mn-cs"/>
              </a:rPr>
              <a:t>Corticotropin-releasing hormone (CRH)</a:t>
            </a:r>
          </a:p>
          <a:p>
            <a:pPr marL="914400" marR="0" lvl="1" indent="-457200" algn="l" defTabSz="914400" rtl="0" eaLnBrk="1" fontAlgn="auto" latinLnBrk="0" hangingPunct="1">
              <a:lnSpc>
                <a:spcPct val="90000"/>
              </a:lnSpc>
              <a:spcBef>
                <a:spcPts val="500"/>
              </a:spcBef>
              <a:spcAft>
                <a:spcPts val="0"/>
              </a:spcAft>
              <a:buClrTx/>
              <a:buSzTx/>
              <a:buFont typeface="Arial" panose="020B0604020202020204" pitchFamily="34" charset="0"/>
              <a:buAutoNum type="arabicPeriod"/>
              <a:tabLst/>
              <a:defRPr/>
            </a:pPr>
            <a:r>
              <a:rPr kumimoji="0" lang="en-US" sz="3600" b="0" i="0" u="none" strike="noStrike" kern="1200" cap="none" spc="0" normalizeH="0" baseline="0" noProof="0">
                <a:ln>
                  <a:noFill/>
                </a:ln>
                <a:solidFill>
                  <a:prstClr val="black"/>
                </a:solidFill>
                <a:effectLst/>
                <a:uLnTx/>
                <a:uFillTx/>
                <a:latin typeface="Calibri" panose="020F0502020204030204"/>
                <a:ea typeface="+mn-ea"/>
                <a:cs typeface="+mn-cs"/>
              </a:rPr>
              <a:t>Thyrotropin-releasing hormone (TRH) </a:t>
            </a:r>
          </a:p>
          <a:p>
            <a:pPr marL="914400" marR="0" lvl="1" indent="-457200" algn="l" defTabSz="914400" rtl="0" eaLnBrk="1" fontAlgn="auto" latinLnBrk="0" hangingPunct="1">
              <a:lnSpc>
                <a:spcPct val="90000"/>
              </a:lnSpc>
              <a:spcBef>
                <a:spcPts val="500"/>
              </a:spcBef>
              <a:spcAft>
                <a:spcPts val="0"/>
              </a:spcAft>
              <a:buClrTx/>
              <a:buSzTx/>
              <a:buFont typeface="Arial" panose="020B0604020202020204" pitchFamily="34" charset="0"/>
              <a:buAutoNum type="arabicPeriod"/>
              <a:tabLst/>
              <a:defRPr/>
            </a:pPr>
            <a:r>
              <a:rPr kumimoji="0" lang="en-US" sz="3600" b="0" i="0" u="none" strike="noStrike" kern="1200" cap="none" spc="0" normalizeH="0" baseline="0" noProof="0">
                <a:ln>
                  <a:noFill/>
                </a:ln>
                <a:solidFill>
                  <a:prstClr val="black"/>
                </a:solidFill>
                <a:effectLst/>
                <a:uLnTx/>
                <a:uFillTx/>
                <a:latin typeface="Calibri" panose="020F0502020204030204"/>
                <a:ea typeface="+mn-ea"/>
                <a:cs typeface="+mn-cs"/>
              </a:rPr>
              <a:t>Gonadotropin-releasing hormone (GnRH)</a:t>
            </a:r>
          </a:p>
          <a:p>
            <a:pPr marL="914400" marR="0" lvl="1" indent="-457200" algn="l" defTabSz="914400" rtl="0" eaLnBrk="1" fontAlgn="auto" latinLnBrk="0" hangingPunct="1">
              <a:lnSpc>
                <a:spcPct val="90000"/>
              </a:lnSpc>
              <a:spcBef>
                <a:spcPts val="500"/>
              </a:spcBef>
              <a:spcAft>
                <a:spcPts val="0"/>
              </a:spcAft>
              <a:buClrTx/>
              <a:buSzTx/>
              <a:buFont typeface="Arial" panose="020B0604020202020204" pitchFamily="34" charset="0"/>
              <a:buAutoNum type="arabicPeriod"/>
              <a:tabLst/>
              <a:defRPr/>
            </a:pPr>
            <a:r>
              <a:rPr kumimoji="0" lang="en-US" sz="3600" b="0" i="0" u="none" strike="noStrike" kern="1200" cap="none" spc="0" normalizeH="0" baseline="0" noProof="0">
                <a:ln>
                  <a:noFill/>
                </a:ln>
                <a:solidFill>
                  <a:prstClr val="black"/>
                </a:solidFill>
                <a:effectLst/>
                <a:uLnTx/>
                <a:uFillTx/>
                <a:latin typeface="Calibri" panose="020F0502020204030204"/>
                <a:ea typeface="+mn-ea"/>
                <a:cs typeface="+mn-cs"/>
              </a:rPr>
              <a:t>Growth hormone-releasing hormone (GHRH)</a:t>
            </a:r>
          </a:p>
          <a:p>
            <a:pPr marL="914400" marR="0" lvl="1" indent="-457200" algn="l" defTabSz="914400" rtl="0" eaLnBrk="1" fontAlgn="auto" latinLnBrk="0" hangingPunct="1">
              <a:lnSpc>
                <a:spcPct val="90000"/>
              </a:lnSpc>
              <a:spcBef>
                <a:spcPts val="500"/>
              </a:spcBef>
              <a:spcAft>
                <a:spcPts val="0"/>
              </a:spcAft>
              <a:buClrTx/>
              <a:buSzTx/>
              <a:buFont typeface="Arial" panose="020B0604020202020204" pitchFamily="34" charset="0"/>
              <a:buAutoNum type="arabicPeriod"/>
              <a:tabLst/>
              <a:defRPr/>
            </a:pPr>
            <a:r>
              <a:rPr kumimoji="0" lang="en-US" sz="3600" b="0" i="0" u="none" strike="noStrike" kern="1200" cap="none" spc="0" normalizeH="0" baseline="0" noProof="0">
                <a:ln>
                  <a:noFill/>
                </a:ln>
                <a:solidFill>
                  <a:prstClr val="black"/>
                </a:solidFill>
                <a:effectLst/>
                <a:uLnTx/>
                <a:uFillTx/>
                <a:latin typeface="Calibri" panose="020F0502020204030204"/>
                <a:ea typeface="+mn-ea"/>
                <a:cs typeface="+mn-cs"/>
              </a:rPr>
              <a:t>Somatostatin</a:t>
            </a:r>
          </a:p>
          <a:p>
            <a:pPr marL="914400" marR="0" lvl="1" indent="-457200" algn="l" defTabSz="914400" rtl="0" eaLnBrk="1" fontAlgn="auto" latinLnBrk="0" hangingPunct="1">
              <a:lnSpc>
                <a:spcPct val="90000"/>
              </a:lnSpc>
              <a:spcBef>
                <a:spcPts val="500"/>
              </a:spcBef>
              <a:spcAft>
                <a:spcPts val="0"/>
              </a:spcAft>
              <a:buClrTx/>
              <a:buSzTx/>
              <a:buFont typeface="Arial" panose="020B0604020202020204" pitchFamily="34" charset="0"/>
              <a:buAutoNum type="arabicPeriod"/>
              <a:tabLst/>
              <a:defRPr/>
            </a:pPr>
            <a:r>
              <a:rPr kumimoji="0" lang="en-US" sz="3600" b="0" i="0" u="none" strike="noStrike" kern="1200" cap="none" spc="0" normalizeH="0" baseline="0" noProof="0">
                <a:ln>
                  <a:noFill/>
                </a:ln>
                <a:solidFill>
                  <a:prstClr val="black"/>
                </a:solidFill>
                <a:effectLst/>
                <a:uLnTx/>
                <a:uFillTx/>
                <a:latin typeface="Calibri" panose="020F0502020204030204"/>
                <a:ea typeface="+mn-ea"/>
                <a:cs typeface="+mn-cs"/>
              </a:rPr>
              <a:t>Prolactin inhibitory factor (PIF/Dopamine)</a:t>
            </a:r>
          </a:p>
          <a:p>
            <a:endParaRPr lang="en-US" sz="1800"/>
          </a:p>
        </p:txBody>
      </p:sp>
    </p:spTree>
    <p:extLst>
      <p:ext uri="{BB962C8B-B14F-4D97-AF65-F5344CB8AC3E}">
        <p14:creationId xmlns:p14="http://schemas.microsoft.com/office/powerpoint/2010/main" val="63021191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58" name="Rectangle 1057">
            <a:extLst>
              <a:ext uri="{FF2B5EF4-FFF2-40B4-BE49-F238E27FC236}">
                <a16:creationId xmlns:a16="http://schemas.microsoft.com/office/drawing/2014/main" id="{E45CA849-654C-4173-AD99-B3A2528275F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60" name="Rectangle 1059">
            <a:extLst>
              <a:ext uri="{FF2B5EF4-FFF2-40B4-BE49-F238E27FC236}">
                <a16:creationId xmlns:a16="http://schemas.microsoft.com/office/drawing/2014/main" id="{3E23A947-2D45-4208-AE2B-64948C87A3E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587931"/>
            <a:ext cx="128016"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062" name="Rectangle 1061">
            <a:extLst>
              <a:ext uri="{FF2B5EF4-FFF2-40B4-BE49-F238E27FC236}">
                <a16:creationId xmlns:a16="http://schemas.microsoft.com/office/drawing/2014/main" id="{E5BBB0F9-6A59-4D02-A9C7-A2D6516684C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543801" y="1721922"/>
            <a:ext cx="4218432" cy="4520560"/>
          </a:xfrm>
          <a:prstGeom prst="rect">
            <a:avLst/>
          </a:prstGeom>
          <a:ln w="9525">
            <a:solidFill>
              <a:srgbClr val="E1E1E1"/>
            </a:solidFill>
          </a:ln>
          <a:effectLst>
            <a:outerShdw blurRad="50800" dist="38100" dir="2700000" algn="t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 name="Content Placeholder 2">
            <a:extLst>
              <a:ext uri="{FF2B5EF4-FFF2-40B4-BE49-F238E27FC236}">
                <a16:creationId xmlns:a16="http://schemas.microsoft.com/office/drawing/2014/main" id="{5F0AC95B-CB46-423E-8BC7-05A39036B045}"/>
              </a:ext>
            </a:extLst>
          </p:cNvPr>
          <p:cNvSpPr>
            <a:spLocks noGrp="1"/>
          </p:cNvSpPr>
          <p:nvPr>
            <p:ph idx="1"/>
          </p:nvPr>
        </p:nvSpPr>
        <p:spPr>
          <a:xfrm>
            <a:off x="549037" y="1847245"/>
            <a:ext cx="5666231" cy="5010755"/>
          </a:xfrm>
          <a:solidFill>
            <a:schemeClr val="bg1"/>
          </a:solidFill>
        </p:spPr>
        <p:txBody>
          <a:bodyPr anchor="t">
            <a:normAutofit/>
          </a:body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4000" b="0" i="0" u="none" strike="noStrike" kern="1200" cap="none" spc="0" normalizeH="0" baseline="0" noProof="0">
                <a:ln>
                  <a:noFill/>
                </a:ln>
                <a:solidFill>
                  <a:prstClr val="black"/>
                </a:solidFill>
                <a:effectLst/>
                <a:uLnTx/>
                <a:uFillTx/>
                <a:latin typeface="Calibri" panose="020F0502020204030204"/>
                <a:ea typeface="+mn-ea"/>
                <a:cs typeface="+mn-cs"/>
              </a:rPr>
              <a:t>Any hormones produced in the hypothalamus and sent to the </a:t>
            </a:r>
            <a:r>
              <a:rPr kumimoji="0" lang="en-US" sz="4000" b="0" i="0" u="sng" strike="noStrike" kern="1200" cap="none" spc="0" normalizeH="0" baseline="0" noProof="0">
                <a:ln>
                  <a:noFill/>
                </a:ln>
                <a:solidFill>
                  <a:prstClr val="black"/>
                </a:solidFill>
                <a:effectLst/>
                <a:uLnTx/>
                <a:uFillTx/>
                <a:latin typeface="Calibri" panose="020F0502020204030204"/>
                <a:ea typeface="+mn-ea"/>
                <a:cs typeface="+mn-cs"/>
              </a:rPr>
              <a:t>anterior </a:t>
            </a:r>
            <a:r>
              <a:rPr kumimoji="0" lang="en-US" sz="4000" b="0" i="0" u="none" strike="noStrike" kern="1200" cap="none" spc="0" normalizeH="0" baseline="0" noProof="0">
                <a:ln>
                  <a:noFill/>
                </a:ln>
                <a:solidFill>
                  <a:prstClr val="black"/>
                </a:solidFill>
                <a:effectLst/>
                <a:uLnTx/>
                <a:uFillTx/>
                <a:latin typeface="Calibri" panose="020F0502020204030204"/>
                <a:ea typeface="+mn-ea"/>
                <a:cs typeface="+mn-cs"/>
              </a:rPr>
              <a:t>pituitary gland are sent via </a:t>
            </a:r>
            <a:r>
              <a:rPr kumimoji="0" lang="en-US" sz="4000" b="1" i="0" u="none" strike="noStrike" kern="1200" cap="none" spc="0" normalizeH="0" baseline="0" noProof="0">
                <a:ln>
                  <a:noFill/>
                </a:ln>
                <a:solidFill>
                  <a:prstClr val="black"/>
                </a:solidFill>
                <a:effectLst/>
                <a:uLnTx/>
                <a:uFillTx/>
                <a:latin typeface="Calibri" panose="020F0502020204030204"/>
                <a:ea typeface="+mn-ea"/>
                <a:cs typeface="+mn-cs"/>
              </a:rPr>
              <a:t>pituitary portal circulation</a:t>
            </a:r>
          </a:p>
          <a:p>
            <a:endParaRPr lang="en-US" sz="1800"/>
          </a:p>
        </p:txBody>
      </p:sp>
      <p:pic>
        <p:nvPicPr>
          <p:cNvPr id="4" name="Picture 3">
            <a:extLst>
              <a:ext uri="{FF2B5EF4-FFF2-40B4-BE49-F238E27FC236}">
                <a16:creationId xmlns:a16="http://schemas.microsoft.com/office/drawing/2014/main" id="{96B730D5-3809-BB97-5C69-DDFFE578D8A5}"/>
              </a:ext>
            </a:extLst>
          </p:cNvPr>
          <p:cNvPicPr>
            <a:picLocks noChangeAspect="1"/>
          </p:cNvPicPr>
          <p:nvPr/>
        </p:nvPicPr>
        <p:blipFill>
          <a:blip r:embed="rId3"/>
          <a:stretch>
            <a:fillRect/>
          </a:stretch>
        </p:blipFill>
        <p:spPr>
          <a:xfrm>
            <a:off x="6683617" y="82139"/>
            <a:ext cx="5377320" cy="6527383"/>
          </a:xfrm>
          <a:prstGeom prst="rect">
            <a:avLst/>
          </a:prstGeom>
        </p:spPr>
      </p:pic>
      <p:sp>
        <p:nvSpPr>
          <p:cNvPr id="2" name="Title 1">
            <a:extLst>
              <a:ext uri="{FF2B5EF4-FFF2-40B4-BE49-F238E27FC236}">
                <a16:creationId xmlns:a16="http://schemas.microsoft.com/office/drawing/2014/main" id="{314B2F4F-9AF2-4EC1-89EB-C8929959DE73}"/>
              </a:ext>
            </a:extLst>
          </p:cNvPr>
          <p:cNvSpPr>
            <a:spLocks noGrp="1"/>
          </p:cNvSpPr>
          <p:nvPr>
            <p:ph type="title"/>
          </p:nvPr>
        </p:nvSpPr>
        <p:spPr>
          <a:xfrm>
            <a:off x="429768" y="411480"/>
            <a:ext cx="8177519" cy="1106424"/>
          </a:xfrm>
          <a:solidFill>
            <a:schemeClr val="bg1"/>
          </a:solidFill>
        </p:spPr>
        <p:txBody>
          <a:bodyPr>
            <a:normAutofit/>
          </a:bodyPr>
          <a:lstStyle/>
          <a:p>
            <a:r>
              <a:rPr lang="en-US" sz="4800"/>
              <a:t>Anatomy and Physiology Review </a:t>
            </a:r>
          </a:p>
        </p:txBody>
      </p:sp>
    </p:spTree>
    <p:extLst>
      <p:ext uri="{BB962C8B-B14F-4D97-AF65-F5344CB8AC3E}">
        <p14:creationId xmlns:p14="http://schemas.microsoft.com/office/powerpoint/2010/main" val="710121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58" name="Rectangle 1057">
            <a:extLst>
              <a:ext uri="{FF2B5EF4-FFF2-40B4-BE49-F238E27FC236}">
                <a16:creationId xmlns:a16="http://schemas.microsoft.com/office/drawing/2014/main" id="{E45CA849-654C-4173-AD99-B3A2528275F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60" name="Rectangle 1059">
            <a:extLst>
              <a:ext uri="{FF2B5EF4-FFF2-40B4-BE49-F238E27FC236}">
                <a16:creationId xmlns:a16="http://schemas.microsoft.com/office/drawing/2014/main" id="{3E23A947-2D45-4208-AE2B-64948C87A3E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587931"/>
            <a:ext cx="128016"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062" name="Rectangle 1061">
            <a:extLst>
              <a:ext uri="{FF2B5EF4-FFF2-40B4-BE49-F238E27FC236}">
                <a16:creationId xmlns:a16="http://schemas.microsoft.com/office/drawing/2014/main" id="{E5BBB0F9-6A59-4D02-A9C7-A2D6516684C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543801" y="1721922"/>
            <a:ext cx="4218432" cy="4520560"/>
          </a:xfrm>
          <a:prstGeom prst="rect">
            <a:avLst/>
          </a:prstGeom>
          <a:ln w="9525">
            <a:solidFill>
              <a:srgbClr val="E1E1E1"/>
            </a:solidFill>
          </a:ln>
          <a:effectLst>
            <a:outerShdw blurRad="50800" dist="38100" dir="2700000" algn="t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 name="Content Placeholder 2">
            <a:extLst>
              <a:ext uri="{FF2B5EF4-FFF2-40B4-BE49-F238E27FC236}">
                <a16:creationId xmlns:a16="http://schemas.microsoft.com/office/drawing/2014/main" id="{5F0AC95B-CB46-423E-8BC7-05A39036B045}"/>
              </a:ext>
            </a:extLst>
          </p:cNvPr>
          <p:cNvSpPr>
            <a:spLocks noGrp="1"/>
          </p:cNvSpPr>
          <p:nvPr>
            <p:ph idx="1"/>
          </p:nvPr>
        </p:nvSpPr>
        <p:spPr>
          <a:xfrm>
            <a:off x="699931" y="1892358"/>
            <a:ext cx="5666231" cy="4685843"/>
          </a:xfrm>
          <a:solidFill>
            <a:schemeClr val="bg1"/>
          </a:solidFill>
        </p:spPr>
        <p:txBody>
          <a:bodyPr anchor="t">
            <a:normAutofit/>
          </a:body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4000" b="0" i="0" u="none" strike="noStrike" kern="1200" cap="none" spc="0" normalizeH="0" baseline="0" noProof="0">
                <a:ln>
                  <a:noFill/>
                </a:ln>
                <a:solidFill>
                  <a:prstClr val="black"/>
                </a:solidFill>
                <a:effectLst/>
                <a:uLnTx/>
                <a:uFillTx/>
                <a:latin typeface="Calibri" panose="020F0502020204030204"/>
                <a:ea typeface="+mn-ea"/>
                <a:cs typeface="+mn-cs"/>
              </a:rPr>
              <a:t>Hormones made to stimulate the </a:t>
            </a:r>
            <a:r>
              <a:rPr kumimoji="0" lang="en-US" sz="4000" b="0" i="0" u="sng" strike="noStrike" kern="1200" cap="none" spc="0" normalizeH="0" baseline="0" noProof="0">
                <a:ln>
                  <a:noFill/>
                </a:ln>
                <a:solidFill>
                  <a:prstClr val="black"/>
                </a:solidFill>
                <a:effectLst/>
                <a:uLnTx/>
                <a:uFillTx/>
                <a:latin typeface="Calibri" panose="020F0502020204030204"/>
                <a:ea typeface="+mn-ea"/>
                <a:cs typeface="+mn-cs"/>
              </a:rPr>
              <a:t>posterior</a:t>
            </a:r>
            <a:r>
              <a:rPr kumimoji="0" lang="en-US" sz="4000" b="0" i="0" u="none" strike="noStrike" kern="1200" cap="none" spc="0" normalizeH="0" baseline="0" noProof="0">
                <a:ln>
                  <a:noFill/>
                </a:ln>
                <a:solidFill>
                  <a:prstClr val="black"/>
                </a:solidFill>
                <a:effectLst/>
                <a:uLnTx/>
                <a:uFillTx/>
                <a:latin typeface="Calibri" panose="020F0502020204030204"/>
                <a:ea typeface="+mn-ea"/>
                <a:cs typeface="+mn-cs"/>
              </a:rPr>
              <a:t> pituitary are transported via a </a:t>
            </a:r>
            <a:r>
              <a:rPr kumimoji="0" lang="en-US" sz="4000" b="1" i="0" u="none" strike="noStrike" kern="1200" cap="none" spc="0" normalizeH="0" baseline="0" noProof="0">
                <a:ln>
                  <a:noFill/>
                </a:ln>
                <a:solidFill>
                  <a:prstClr val="black"/>
                </a:solidFill>
                <a:effectLst/>
                <a:uLnTx/>
                <a:uFillTx/>
                <a:latin typeface="Calibri" panose="020F0502020204030204"/>
                <a:ea typeface="+mn-ea"/>
                <a:cs typeface="+mn-cs"/>
              </a:rPr>
              <a:t>neural network </a:t>
            </a:r>
            <a:r>
              <a:rPr kumimoji="0" lang="en-US" sz="4000" b="0" i="0" u="none" strike="noStrike" kern="1200" cap="none" spc="0" normalizeH="0" baseline="0" noProof="0">
                <a:ln>
                  <a:noFill/>
                </a:ln>
                <a:solidFill>
                  <a:prstClr val="black"/>
                </a:solidFill>
                <a:effectLst/>
                <a:uLnTx/>
                <a:uFillTx/>
                <a:latin typeface="Calibri" panose="020F0502020204030204"/>
                <a:ea typeface="+mn-ea"/>
                <a:cs typeface="+mn-cs"/>
              </a:rPr>
              <a:t>in the pituitary stalk </a:t>
            </a:r>
          </a:p>
          <a:p>
            <a:endParaRPr lang="en-US" sz="1800"/>
          </a:p>
        </p:txBody>
      </p:sp>
      <p:pic>
        <p:nvPicPr>
          <p:cNvPr id="5" name="Picture 4">
            <a:extLst>
              <a:ext uri="{FF2B5EF4-FFF2-40B4-BE49-F238E27FC236}">
                <a16:creationId xmlns:a16="http://schemas.microsoft.com/office/drawing/2014/main" id="{5AF7121D-BCC3-ADD4-D1C1-E25F1A14D321}"/>
              </a:ext>
            </a:extLst>
          </p:cNvPr>
          <p:cNvPicPr>
            <a:picLocks noChangeAspect="1"/>
          </p:cNvPicPr>
          <p:nvPr/>
        </p:nvPicPr>
        <p:blipFill>
          <a:blip r:embed="rId3"/>
          <a:stretch>
            <a:fillRect/>
          </a:stretch>
        </p:blipFill>
        <p:spPr>
          <a:xfrm>
            <a:off x="7817730" y="0"/>
            <a:ext cx="3934391" cy="6578201"/>
          </a:xfrm>
          <a:prstGeom prst="rect">
            <a:avLst/>
          </a:prstGeom>
        </p:spPr>
      </p:pic>
      <p:sp>
        <p:nvSpPr>
          <p:cNvPr id="2" name="Title 1">
            <a:extLst>
              <a:ext uri="{FF2B5EF4-FFF2-40B4-BE49-F238E27FC236}">
                <a16:creationId xmlns:a16="http://schemas.microsoft.com/office/drawing/2014/main" id="{314B2F4F-9AF2-4EC1-89EB-C8929959DE73}"/>
              </a:ext>
            </a:extLst>
          </p:cNvPr>
          <p:cNvSpPr>
            <a:spLocks noGrp="1"/>
          </p:cNvSpPr>
          <p:nvPr>
            <p:ph type="title"/>
          </p:nvPr>
        </p:nvSpPr>
        <p:spPr>
          <a:xfrm>
            <a:off x="429768" y="411480"/>
            <a:ext cx="8177519" cy="1106424"/>
          </a:xfrm>
          <a:solidFill>
            <a:schemeClr val="bg1"/>
          </a:solidFill>
        </p:spPr>
        <p:txBody>
          <a:bodyPr>
            <a:normAutofit/>
          </a:bodyPr>
          <a:lstStyle/>
          <a:p>
            <a:r>
              <a:rPr lang="en-US" sz="4800"/>
              <a:t>Anatomy and Physiology Review </a:t>
            </a:r>
          </a:p>
        </p:txBody>
      </p:sp>
    </p:spTree>
    <p:extLst>
      <p:ext uri="{BB962C8B-B14F-4D97-AF65-F5344CB8AC3E}">
        <p14:creationId xmlns:p14="http://schemas.microsoft.com/office/powerpoint/2010/main" val="68831654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8" name="Rectangle 27">
            <a:extLst>
              <a:ext uri="{FF2B5EF4-FFF2-40B4-BE49-F238E27FC236}">
                <a16:creationId xmlns:a16="http://schemas.microsoft.com/office/drawing/2014/main" id="{A4AC5506-6312-4701-8D3C-40187889A94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51752"/>
            <a:ext cx="12192000" cy="736551"/>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itle 7">
            <a:extLst>
              <a:ext uri="{FF2B5EF4-FFF2-40B4-BE49-F238E27FC236}">
                <a16:creationId xmlns:a16="http://schemas.microsoft.com/office/drawing/2014/main" id="{6A3EDCFA-8009-49AF-36B0-779FC377E1F2}"/>
              </a:ext>
            </a:extLst>
          </p:cNvPr>
          <p:cNvSpPr>
            <a:spLocks noGrp="1"/>
          </p:cNvSpPr>
          <p:nvPr>
            <p:ph type="title"/>
          </p:nvPr>
        </p:nvSpPr>
        <p:spPr>
          <a:xfrm>
            <a:off x="490536" y="603005"/>
            <a:ext cx="11210925" cy="744836"/>
          </a:xfrm>
        </p:spPr>
        <p:txBody>
          <a:bodyPr vert="horz" lIns="91440" tIns="45720" rIns="91440" bIns="45720" rtlCol="0" anchor="ctr">
            <a:normAutofit/>
          </a:bodyPr>
          <a:lstStyle/>
          <a:p>
            <a:pPr algn="ctr"/>
            <a:r>
              <a:rPr lang="en-US" sz="3200" kern="1200" dirty="0">
                <a:solidFill>
                  <a:schemeClr val="bg1"/>
                </a:solidFill>
                <a:latin typeface="+mj-lt"/>
                <a:ea typeface="+mj-ea"/>
                <a:cs typeface="+mj-cs"/>
              </a:rPr>
              <a:t>Anatomy and Physiology Review</a:t>
            </a:r>
          </a:p>
        </p:txBody>
      </p:sp>
      <p:graphicFrame>
        <p:nvGraphicFramePr>
          <p:cNvPr id="10" name="Table 9">
            <a:extLst>
              <a:ext uri="{FF2B5EF4-FFF2-40B4-BE49-F238E27FC236}">
                <a16:creationId xmlns:a16="http://schemas.microsoft.com/office/drawing/2014/main" id="{29A9BBB5-BD93-7914-3364-7E45631DA832}"/>
              </a:ext>
            </a:extLst>
          </p:cNvPr>
          <p:cNvGraphicFramePr>
            <a:graphicFrameLocks noGrp="1"/>
          </p:cNvGraphicFramePr>
          <p:nvPr>
            <p:extLst>
              <p:ext uri="{D42A27DB-BD31-4B8C-83A1-F6EECF244321}">
                <p14:modId xmlns:p14="http://schemas.microsoft.com/office/powerpoint/2010/main" val="3645033445"/>
              </p:ext>
            </p:extLst>
          </p:nvPr>
        </p:nvGraphicFramePr>
        <p:xfrm>
          <a:off x="321012" y="1437050"/>
          <a:ext cx="11527277" cy="4892072"/>
        </p:xfrm>
        <a:graphic>
          <a:graphicData uri="http://schemas.openxmlformats.org/drawingml/2006/table">
            <a:tbl>
              <a:tblPr/>
              <a:tblGrid>
                <a:gridCol w="4354610">
                  <a:extLst>
                    <a:ext uri="{9D8B030D-6E8A-4147-A177-3AD203B41FA5}">
                      <a16:colId xmlns:a16="http://schemas.microsoft.com/office/drawing/2014/main" val="1010139179"/>
                    </a:ext>
                  </a:extLst>
                </a:gridCol>
                <a:gridCol w="1662497">
                  <a:extLst>
                    <a:ext uri="{9D8B030D-6E8A-4147-A177-3AD203B41FA5}">
                      <a16:colId xmlns:a16="http://schemas.microsoft.com/office/drawing/2014/main" val="2701169961"/>
                    </a:ext>
                  </a:extLst>
                </a:gridCol>
                <a:gridCol w="5510170">
                  <a:extLst>
                    <a:ext uri="{9D8B030D-6E8A-4147-A177-3AD203B41FA5}">
                      <a16:colId xmlns:a16="http://schemas.microsoft.com/office/drawing/2014/main" val="2871462679"/>
                    </a:ext>
                  </a:extLst>
                </a:gridCol>
              </a:tblGrid>
              <a:tr h="702899">
                <a:tc>
                  <a:txBody>
                    <a:bodyPr/>
                    <a:lstStyle/>
                    <a:p>
                      <a:pPr algn="l" fontAlgn="t"/>
                      <a:r>
                        <a:rPr lang="en-US" sz="2000" b="1" dirty="0">
                          <a:solidFill>
                            <a:srgbClr val="333333"/>
                          </a:solidFill>
                          <a:effectLst/>
                          <a:latin typeface="+mn-lt"/>
                        </a:rPr>
                        <a:t>Hypothalamus Releasing Hormone</a:t>
                      </a:r>
                    </a:p>
                  </a:txBody>
                  <a:tcPr marL="65077" marR="65077" marT="32539" marB="32539">
                    <a:lnL w="7620" cap="flat" cmpd="sng" algn="ctr">
                      <a:solidFill>
                        <a:srgbClr val="C9C9C9"/>
                      </a:solidFill>
                      <a:prstDash val="solid"/>
                      <a:round/>
                      <a:headEnd type="none" w="med" len="med"/>
                      <a:tailEnd type="none" w="med" len="med"/>
                    </a:lnL>
                    <a:lnR w="7620" cap="flat" cmpd="sng" algn="ctr">
                      <a:solidFill>
                        <a:srgbClr val="C9C9C9"/>
                      </a:solidFill>
                      <a:prstDash val="solid"/>
                      <a:round/>
                      <a:headEnd type="none" w="med" len="med"/>
                      <a:tailEnd type="none" w="med" len="med"/>
                    </a:lnR>
                    <a:lnT w="7620" cap="flat" cmpd="sng" algn="ctr">
                      <a:solidFill>
                        <a:srgbClr val="C9C9C9"/>
                      </a:solidFill>
                      <a:prstDash val="solid"/>
                      <a:round/>
                      <a:headEnd type="none" w="med" len="med"/>
                      <a:tailEnd type="none" w="med" len="med"/>
                    </a:lnT>
                    <a:lnB w="7620" cap="flat" cmpd="sng" algn="ctr">
                      <a:solidFill>
                        <a:srgbClr val="C9C9C9"/>
                      </a:solidFill>
                      <a:prstDash val="solid"/>
                      <a:round/>
                      <a:headEnd type="none" w="med" len="med"/>
                      <a:tailEnd type="none" w="med" len="med"/>
                    </a:lnB>
                  </a:tcPr>
                </a:tc>
                <a:tc>
                  <a:txBody>
                    <a:bodyPr/>
                    <a:lstStyle/>
                    <a:p>
                      <a:pPr algn="l" fontAlgn="t"/>
                      <a:r>
                        <a:rPr lang="en-US" sz="2000" b="1" dirty="0">
                          <a:solidFill>
                            <a:srgbClr val="333333"/>
                          </a:solidFill>
                          <a:effectLst/>
                          <a:latin typeface="+mn-lt"/>
                        </a:rPr>
                        <a:t>Pituitary Cell Type</a:t>
                      </a:r>
                    </a:p>
                  </a:txBody>
                  <a:tcPr marL="65077" marR="65077" marT="32539" marB="32539">
                    <a:lnL w="7620" cap="flat" cmpd="sng" algn="ctr">
                      <a:solidFill>
                        <a:srgbClr val="C9C9C9"/>
                      </a:solidFill>
                      <a:prstDash val="solid"/>
                      <a:round/>
                      <a:headEnd type="none" w="med" len="med"/>
                      <a:tailEnd type="none" w="med" len="med"/>
                    </a:lnL>
                    <a:lnR w="7620" cap="flat" cmpd="sng" algn="ctr">
                      <a:solidFill>
                        <a:srgbClr val="C9C9C9"/>
                      </a:solidFill>
                      <a:prstDash val="solid"/>
                      <a:round/>
                      <a:headEnd type="none" w="med" len="med"/>
                      <a:tailEnd type="none" w="med" len="med"/>
                    </a:lnR>
                    <a:lnT w="7620" cap="flat" cmpd="sng" algn="ctr">
                      <a:solidFill>
                        <a:srgbClr val="C9C9C9"/>
                      </a:solidFill>
                      <a:prstDash val="solid"/>
                      <a:round/>
                      <a:headEnd type="none" w="med" len="med"/>
                      <a:tailEnd type="none" w="med" len="med"/>
                    </a:lnT>
                    <a:lnB w="7620" cap="flat" cmpd="sng" algn="ctr">
                      <a:solidFill>
                        <a:srgbClr val="C9C9C9"/>
                      </a:solidFill>
                      <a:prstDash val="solid"/>
                      <a:round/>
                      <a:headEnd type="none" w="med" len="med"/>
                      <a:tailEnd type="none" w="med" len="med"/>
                    </a:lnB>
                  </a:tcPr>
                </a:tc>
                <a:tc>
                  <a:txBody>
                    <a:bodyPr/>
                    <a:lstStyle/>
                    <a:p>
                      <a:pPr algn="l" fontAlgn="t">
                        <a:buFont typeface="Arial" panose="020B0604020202020204" pitchFamily="34" charset="0"/>
                        <a:buNone/>
                      </a:pPr>
                      <a:r>
                        <a:rPr lang="en-US" sz="2000" b="1" dirty="0">
                          <a:solidFill>
                            <a:srgbClr val="333333"/>
                          </a:solidFill>
                          <a:effectLst/>
                          <a:latin typeface="+mn-lt"/>
                        </a:rPr>
                        <a:t>Anterior Pituitary Hormone Produced</a:t>
                      </a:r>
                    </a:p>
                  </a:txBody>
                  <a:tcPr marL="65077" marR="65077" marT="32539" marB="32539">
                    <a:lnL w="7620" cap="flat" cmpd="sng" algn="ctr">
                      <a:solidFill>
                        <a:srgbClr val="C9C9C9"/>
                      </a:solidFill>
                      <a:prstDash val="solid"/>
                      <a:round/>
                      <a:headEnd type="none" w="med" len="med"/>
                      <a:tailEnd type="none" w="med" len="med"/>
                    </a:lnL>
                    <a:lnR w="7620" cap="flat" cmpd="sng" algn="ctr">
                      <a:solidFill>
                        <a:srgbClr val="C9C9C9"/>
                      </a:solidFill>
                      <a:prstDash val="solid"/>
                      <a:round/>
                      <a:headEnd type="none" w="med" len="med"/>
                      <a:tailEnd type="none" w="med" len="med"/>
                    </a:lnR>
                    <a:lnT w="7620" cap="flat" cmpd="sng" algn="ctr">
                      <a:solidFill>
                        <a:srgbClr val="C9C9C9"/>
                      </a:solidFill>
                      <a:prstDash val="solid"/>
                      <a:round/>
                      <a:headEnd type="none" w="med" len="med"/>
                      <a:tailEnd type="none" w="med" len="med"/>
                    </a:lnT>
                    <a:lnB w="7620" cap="flat" cmpd="sng" algn="ctr">
                      <a:solidFill>
                        <a:srgbClr val="C9C9C9"/>
                      </a:solidFill>
                      <a:prstDash val="solid"/>
                      <a:round/>
                      <a:headEnd type="none" w="med" len="med"/>
                      <a:tailEnd type="none" w="med" len="med"/>
                    </a:lnB>
                  </a:tcPr>
                </a:tc>
                <a:extLst>
                  <a:ext uri="{0D108BD9-81ED-4DB2-BD59-A6C34878D82A}">
                    <a16:rowId xmlns:a16="http://schemas.microsoft.com/office/drawing/2014/main" val="4226963331"/>
                  </a:ext>
                </a:extLst>
              </a:tr>
              <a:tr h="702899">
                <a:tc>
                  <a:txBody>
                    <a:bodyPr/>
                    <a:lstStyle/>
                    <a:p>
                      <a:pPr algn="l" fontAlgn="t"/>
                      <a:r>
                        <a:rPr lang="en-US" sz="2000" dirty="0">
                          <a:solidFill>
                            <a:srgbClr val="333333"/>
                          </a:solidFill>
                          <a:effectLst/>
                          <a:latin typeface="+mn-lt"/>
                        </a:rPr>
                        <a:t>Corticotropin-releasing hormone (CRH)</a:t>
                      </a:r>
                    </a:p>
                  </a:txBody>
                  <a:tcPr marL="65077" marR="65077" marT="32539" marB="32539">
                    <a:lnL w="7620" cap="flat" cmpd="sng" algn="ctr">
                      <a:solidFill>
                        <a:srgbClr val="C9C9C9"/>
                      </a:solidFill>
                      <a:prstDash val="solid"/>
                      <a:round/>
                      <a:headEnd type="none" w="med" len="med"/>
                      <a:tailEnd type="none" w="med" len="med"/>
                    </a:lnL>
                    <a:lnR w="7620" cap="flat" cmpd="sng" algn="ctr">
                      <a:solidFill>
                        <a:srgbClr val="C9C9C9"/>
                      </a:solidFill>
                      <a:prstDash val="solid"/>
                      <a:round/>
                      <a:headEnd type="none" w="med" len="med"/>
                      <a:tailEnd type="none" w="med" len="med"/>
                    </a:lnR>
                    <a:lnT w="7620" cap="flat" cmpd="sng" algn="ctr">
                      <a:solidFill>
                        <a:srgbClr val="C9C9C9"/>
                      </a:solidFill>
                      <a:prstDash val="solid"/>
                      <a:round/>
                      <a:headEnd type="none" w="med" len="med"/>
                      <a:tailEnd type="none" w="med" len="med"/>
                    </a:lnT>
                    <a:lnB w="7620" cap="flat" cmpd="sng" algn="ctr">
                      <a:solidFill>
                        <a:srgbClr val="C9C9C9"/>
                      </a:solidFill>
                      <a:prstDash val="solid"/>
                      <a:round/>
                      <a:headEnd type="none" w="med" len="med"/>
                      <a:tailEnd type="none" w="med" len="med"/>
                    </a:lnB>
                  </a:tcPr>
                </a:tc>
                <a:tc>
                  <a:txBody>
                    <a:bodyPr/>
                    <a:lstStyle/>
                    <a:p>
                      <a:pPr algn="l" fontAlgn="t"/>
                      <a:r>
                        <a:rPr lang="en-US" sz="2000" dirty="0" err="1">
                          <a:solidFill>
                            <a:srgbClr val="333333"/>
                          </a:solidFill>
                          <a:effectLst/>
                          <a:latin typeface="+mn-lt"/>
                        </a:rPr>
                        <a:t>Corticotroph</a:t>
                      </a:r>
                      <a:endParaRPr lang="en-US" sz="2000" dirty="0">
                        <a:solidFill>
                          <a:srgbClr val="333333"/>
                        </a:solidFill>
                        <a:effectLst/>
                        <a:latin typeface="+mn-lt"/>
                      </a:endParaRPr>
                    </a:p>
                  </a:txBody>
                  <a:tcPr marL="65077" marR="65077" marT="32539" marB="32539">
                    <a:lnL w="7620" cap="flat" cmpd="sng" algn="ctr">
                      <a:solidFill>
                        <a:srgbClr val="C9C9C9"/>
                      </a:solidFill>
                      <a:prstDash val="solid"/>
                      <a:round/>
                      <a:headEnd type="none" w="med" len="med"/>
                      <a:tailEnd type="none" w="med" len="med"/>
                    </a:lnL>
                    <a:lnR w="7620" cap="flat" cmpd="sng" algn="ctr">
                      <a:solidFill>
                        <a:srgbClr val="C9C9C9"/>
                      </a:solidFill>
                      <a:prstDash val="solid"/>
                      <a:round/>
                      <a:headEnd type="none" w="med" len="med"/>
                      <a:tailEnd type="none" w="med" len="med"/>
                    </a:lnR>
                    <a:lnT w="7620" cap="flat" cmpd="sng" algn="ctr">
                      <a:solidFill>
                        <a:srgbClr val="C9C9C9"/>
                      </a:solidFill>
                      <a:prstDash val="solid"/>
                      <a:round/>
                      <a:headEnd type="none" w="med" len="med"/>
                      <a:tailEnd type="none" w="med" len="med"/>
                    </a:lnT>
                    <a:lnB w="7620" cap="flat" cmpd="sng" algn="ctr">
                      <a:solidFill>
                        <a:srgbClr val="C9C9C9"/>
                      </a:solidFill>
                      <a:prstDash val="solid"/>
                      <a:round/>
                      <a:headEnd type="none" w="med" len="med"/>
                      <a:tailEnd type="none" w="med" len="med"/>
                    </a:lnB>
                  </a:tcPr>
                </a:tc>
                <a:tc>
                  <a:txBody>
                    <a:bodyPr/>
                    <a:lstStyle/>
                    <a:p>
                      <a:pPr algn="l" fontAlgn="t">
                        <a:buFont typeface="Arial" panose="020B0604020202020204" pitchFamily="34" charset="0"/>
                        <a:buChar char="•"/>
                      </a:pPr>
                      <a:r>
                        <a:rPr lang="en-US" sz="2000" dirty="0">
                          <a:solidFill>
                            <a:srgbClr val="333333"/>
                          </a:solidFill>
                          <a:effectLst/>
                          <a:latin typeface="+mn-lt"/>
                        </a:rPr>
                        <a:t>Stimulates adrenocorticotropic hormone (ACTH)</a:t>
                      </a:r>
                    </a:p>
                  </a:txBody>
                  <a:tcPr marL="65077" marR="65077" marT="32539" marB="32539">
                    <a:lnL w="7620" cap="flat" cmpd="sng" algn="ctr">
                      <a:solidFill>
                        <a:srgbClr val="C9C9C9"/>
                      </a:solidFill>
                      <a:prstDash val="solid"/>
                      <a:round/>
                      <a:headEnd type="none" w="med" len="med"/>
                      <a:tailEnd type="none" w="med" len="med"/>
                    </a:lnL>
                    <a:lnR w="7620" cap="flat" cmpd="sng" algn="ctr">
                      <a:solidFill>
                        <a:srgbClr val="C9C9C9"/>
                      </a:solidFill>
                      <a:prstDash val="solid"/>
                      <a:round/>
                      <a:headEnd type="none" w="med" len="med"/>
                      <a:tailEnd type="none" w="med" len="med"/>
                    </a:lnR>
                    <a:lnT w="7620" cap="flat" cmpd="sng" algn="ctr">
                      <a:solidFill>
                        <a:srgbClr val="C9C9C9"/>
                      </a:solidFill>
                      <a:prstDash val="solid"/>
                      <a:round/>
                      <a:headEnd type="none" w="med" len="med"/>
                      <a:tailEnd type="none" w="med" len="med"/>
                    </a:lnT>
                    <a:lnB w="7620" cap="flat" cmpd="sng" algn="ctr">
                      <a:solidFill>
                        <a:srgbClr val="C9C9C9"/>
                      </a:solidFill>
                      <a:prstDash val="solid"/>
                      <a:round/>
                      <a:headEnd type="none" w="med" len="med"/>
                      <a:tailEnd type="none" w="med" len="med"/>
                    </a:lnB>
                  </a:tcPr>
                </a:tc>
                <a:extLst>
                  <a:ext uri="{0D108BD9-81ED-4DB2-BD59-A6C34878D82A}">
                    <a16:rowId xmlns:a16="http://schemas.microsoft.com/office/drawing/2014/main" val="1999212902"/>
                  </a:ext>
                </a:extLst>
              </a:tr>
              <a:tr h="402040">
                <a:tc>
                  <a:txBody>
                    <a:bodyPr/>
                    <a:lstStyle/>
                    <a:p>
                      <a:pPr algn="l" fontAlgn="t"/>
                      <a:r>
                        <a:rPr lang="en-US" sz="2000">
                          <a:solidFill>
                            <a:srgbClr val="333333"/>
                          </a:solidFill>
                          <a:effectLst/>
                          <a:latin typeface="+mn-lt"/>
                        </a:rPr>
                        <a:t>Growth hormone-releasing hormone (GHRH)</a:t>
                      </a:r>
                    </a:p>
                  </a:txBody>
                  <a:tcPr marL="65077" marR="65077" marT="32539" marB="32539">
                    <a:lnL w="7620" cap="flat" cmpd="sng" algn="ctr">
                      <a:solidFill>
                        <a:srgbClr val="C9C9C9"/>
                      </a:solidFill>
                      <a:prstDash val="solid"/>
                      <a:round/>
                      <a:headEnd type="none" w="med" len="med"/>
                      <a:tailEnd type="none" w="med" len="med"/>
                    </a:lnL>
                    <a:lnR w="7620" cap="flat" cmpd="sng" algn="ctr">
                      <a:solidFill>
                        <a:srgbClr val="C9C9C9"/>
                      </a:solidFill>
                      <a:prstDash val="solid"/>
                      <a:round/>
                      <a:headEnd type="none" w="med" len="med"/>
                      <a:tailEnd type="none" w="med" len="med"/>
                    </a:lnR>
                    <a:lnT w="7620" cap="flat" cmpd="sng" algn="ctr">
                      <a:solidFill>
                        <a:srgbClr val="C9C9C9"/>
                      </a:solidFill>
                      <a:prstDash val="solid"/>
                      <a:round/>
                      <a:headEnd type="none" w="med" len="med"/>
                      <a:tailEnd type="none" w="med" len="med"/>
                    </a:lnT>
                    <a:lnB w="7620" cap="flat" cmpd="sng" algn="ctr">
                      <a:solidFill>
                        <a:srgbClr val="C9C9C9"/>
                      </a:solidFill>
                      <a:prstDash val="solid"/>
                      <a:round/>
                      <a:headEnd type="none" w="med" len="med"/>
                      <a:tailEnd type="none" w="med" len="med"/>
                    </a:lnB>
                  </a:tcPr>
                </a:tc>
                <a:tc>
                  <a:txBody>
                    <a:bodyPr/>
                    <a:lstStyle/>
                    <a:p>
                      <a:pPr algn="l" fontAlgn="t"/>
                      <a:r>
                        <a:rPr lang="en-US" sz="2000" dirty="0">
                          <a:solidFill>
                            <a:srgbClr val="333333"/>
                          </a:solidFill>
                          <a:effectLst/>
                          <a:latin typeface="+mn-lt"/>
                        </a:rPr>
                        <a:t>Somatotroph</a:t>
                      </a:r>
                    </a:p>
                  </a:txBody>
                  <a:tcPr marL="65077" marR="65077" marT="32539" marB="32539">
                    <a:lnL w="7620" cap="flat" cmpd="sng" algn="ctr">
                      <a:solidFill>
                        <a:srgbClr val="C9C9C9"/>
                      </a:solidFill>
                      <a:prstDash val="solid"/>
                      <a:round/>
                      <a:headEnd type="none" w="med" len="med"/>
                      <a:tailEnd type="none" w="med" len="med"/>
                    </a:lnL>
                    <a:lnR w="7620" cap="flat" cmpd="sng" algn="ctr">
                      <a:solidFill>
                        <a:srgbClr val="C9C9C9"/>
                      </a:solidFill>
                      <a:prstDash val="solid"/>
                      <a:round/>
                      <a:headEnd type="none" w="med" len="med"/>
                      <a:tailEnd type="none" w="med" len="med"/>
                    </a:lnR>
                    <a:lnT w="7620" cap="flat" cmpd="sng" algn="ctr">
                      <a:solidFill>
                        <a:srgbClr val="C9C9C9"/>
                      </a:solidFill>
                      <a:prstDash val="solid"/>
                      <a:round/>
                      <a:headEnd type="none" w="med" len="med"/>
                      <a:tailEnd type="none" w="med" len="med"/>
                    </a:lnT>
                    <a:lnB w="7620" cap="flat" cmpd="sng" algn="ctr">
                      <a:solidFill>
                        <a:srgbClr val="C9C9C9"/>
                      </a:solidFill>
                      <a:prstDash val="solid"/>
                      <a:round/>
                      <a:headEnd type="none" w="med" len="med"/>
                      <a:tailEnd type="none" w="med" len="med"/>
                    </a:lnB>
                  </a:tcPr>
                </a:tc>
                <a:tc>
                  <a:txBody>
                    <a:bodyPr/>
                    <a:lstStyle/>
                    <a:p>
                      <a:pPr algn="l" fontAlgn="t">
                        <a:buFont typeface="Arial" panose="020B0604020202020204" pitchFamily="34" charset="0"/>
                        <a:buChar char="•"/>
                      </a:pPr>
                      <a:r>
                        <a:rPr lang="en-US" sz="2000" dirty="0">
                          <a:solidFill>
                            <a:srgbClr val="333333"/>
                          </a:solidFill>
                          <a:effectLst/>
                          <a:latin typeface="+mn-lt"/>
                        </a:rPr>
                        <a:t>Stimulates growth hormone (GH) release</a:t>
                      </a:r>
                    </a:p>
                  </a:txBody>
                  <a:tcPr marL="65077" marR="65077" marT="32539" marB="32539">
                    <a:lnL w="7620" cap="flat" cmpd="sng" algn="ctr">
                      <a:solidFill>
                        <a:srgbClr val="C9C9C9"/>
                      </a:solidFill>
                      <a:prstDash val="solid"/>
                      <a:round/>
                      <a:headEnd type="none" w="med" len="med"/>
                      <a:tailEnd type="none" w="med" len="med"/>
                    </a:lnL>
                    <a:lnR w="7620" cap="flat" cmpd="sng" algn="ctr">
                      <a:solidFill>
                        <a:srgbClr val="C9C9C9"/>
                      </a:solidFill>
                      <a:prstDash val="solid"/>
                      <a:round/>
                      <a:headEnd type="none" w="med" len="med"/>
                      <a:tailEnd type="none" w="med" len="med"/>
                    </a:lnR>
                    <a:lnT w="7620" cap="flat" cmpd="sng" algn="ctr">
                      <a:solidFill>
                        <a:srgbClr val="C9C9C9"/>
                      </a:solidFill>
                      <a:prstDash val="solid"/>
                      <a:round/>
                      <a:headEnd type="none" w="med" len="med"/>
                      <a:tailEnd type="none" w="med" len="med"/>
                    </a:lnT>
                    <a:lnB w="7620" cap="flat" cmpd="sng" algn="ctr">
                      <a:solidFill>
                        <a:srgbClr val="C9C9C9"/>
                      </a:solidFill>
                      <a:prstDash val="solid"/>
                      <a:round/>
                      <a:headEnd type="none" w="med" len="med"/>
                      <a:tailEnd type="none" w="med" len="med"/>
                    </a:lnB>
                  </a:tcPr>
                </a:tc>
                <a:extLst>
                  <a:ext uri="{0D108BD9-81ED-4DB2-BD59-A6C34878D82A}">
                    <a16:rowId xmlns:a16="http://schemas.microsoft.com/office/drawing/2014/main" val="2302125853"/>
                  </a:ext>
                </a:extLst>
              </a:tr>
              <a:tr h="702899">
                <a:tc>
                  <a:txBody>
                    <a:bodyPr/>
                    <a:lstStyle/>
                    <a:p>
                      <a:pPr algn="l" fontAlgn="t"/>
                      <a:r>
                        <a:rPr lang="en-US" sz="2000" dirty="0">
                          <a:solidFill>
                            <a:srgbClr val="333333"/>
                          </a:solidFill>
                          <a:effectLst/>
                          <a:highlight>
                            <a:srgbClr val="FF0000"/>
                          </a:highlight>
                          <a:latin typeface="+mn-lt"/>
                        </a:rPr>
                        <a:t>Growth hormone inhibitory hormone (GHIH; also known as somatostatin)</a:t>
                      </a:r>
                    </a:p>
                  </a:txBody>
                  <a:tcPr marL="65077" marR="65077" marT="32539" marB="32539">
                    <a:lnL w="7620" cap="flat" cmpd="sng" algn="ctr">
                      <a:solidFill>
                        <a:srgbClr val="C9C9C9"/>
                      </a:solidFill>
                      <a:prstDash val="solid"/>
                      <a:round/>
                      <a:headEnd type="none" w="med" len="med"/>
                      <a:tailEnd type="none" w="med" len="med"/>
                    </a:lnL>
                    <a:lnR w="7620" cap="flat" cmpd="sng" algn="ctr">
                      <a:solidFill>
                        <a:srgbClr val="C9C9C9"/>
                      </a:solidFill>
                      <a:prstDash val="solid"/>
                      <a:round/>
                      <a:headEnd type="none" w="med" len="med"/>
                      <a:tailEnd type="none" w="med" len="med"/>
                    </a:lnR>
                    <a:lnT w="7620" cap="flat" cmpd="sng" algn="ctr">
                      <a:solidFill>
                        <a:srgbClr val="C9C9C9"/>
                      </a:solidFill>
                      <a:prstDash val="solid"/>
                      <a:round/>
                      <a:headEnd type="none" w="med" len="med"/>
                      <a:tailEnd type="none" w="med" len="med"/>
                    </a:lnT>
                    <a:lnB w="7620" cap="flat" cmpd="sng" algn="ctr">
                      <a:solidFill>
                        <a:srgbClr val="C9C9C9"/>
                      </a:solidFill>
                      <a:prstDash val="solid"/>
                      <a:round/>
                      <a:headEnd type="none" w="med" len="med"/>
                      <a:tailEnd type="none" w="med" len="med"/>
                    </a:lnB>
                  </a:tcPr>
                </a:tc>
                <a:tc>
                  <a:txBody>
                    <a:bodyPr/>
                    <a:lstStyle/>
                    <a:p>
                      <a:pPr algn="l" fontAlgn="t"/>
                      <a:r>
                        <a:rPr lang="en-US" sz="2000" dirty="0">
                          <a:solidFill>
                            <a:srgbClr val="333333"/>
                          </a:solidFill>
                          <a:effectLst/>
                          <a:highlight>
                            <a:srgbClr val="FF0000"/>
                          </a:highlight>
                          <a:latin typeface="+mn-lt"/>
                        </a:rPr>
                        <a:t>Somatotroph</a:t>
                      </a:r>
                    </a:p>
                  </a:txBody>
                  <a:tcPr marL="65077" marR="65077" marT="32539" marB="32539">
                    <a:lnL w="7620" cap="flat" cmpd="sng" algn="ctr">
                      <a:solidFill>
                        <a:srgbClr val="C9C9C9"/>
                      </a:solidFill>
                      <a:prstDash val="solid"/>
                      <a:round/>
                      <a:headEnd type="none" w="med" len="med"/>
                      <a:tailEnd type="none" w="med" len="med"/>
                    </a:lnL>
                    <a:lnR w="7620" cap="flat" cmpd="sng" algn="ctr">
                      <a:solidFill>
                        <a:srgbClr val="C9C9C9"/>
                      </a:solidFill>
                      <a:prstDash val="solid"/>
                      <a:round/>
                      <a:headEnd type="none" w="med" len="med"/>
                      <a:tailEnd type="none" w="med" len="med"/>
                    </a:lnR>
                    <a:lnT w="7620" cap="flat" cmpd="sng" algn="ctr">
                      <a:solidFill>
                        <a:srgbClr val="C9C9C9"/>
                      </a:solidFill>
                      <a:prstDash val="solid"/>
                      <a:round/>
                      <a:headEnd type="none" w="med" len="med"/>
                      <a:tailEnd type="none" w="med" len="med"/>
                    </a:lnT>
                    <a:lnB w="7620" cap="flat" cmpd="sng" algn="ctr">
                      <a:solidFill>
                        <a:srgbClr val="C9C9C9"/>
                      </a:solidFill>
                      <a:prstDash val="solid"/>
                      <a:round/>
                      <a:headEnd type="none" w="med" len="med"/>
                      <a:tailEnd type="none" w="med" len="med"/>
                    </a:lnB>
                  </a:tcPr>
                </a:tc>
                <a:tc>
                  <a:txBody>
                    <a:bodyPr/>
                    <a:lstStyle/>
                    <a:p>
                      <a:pPr algn="l" fontAlgn="t">
                        <a:buFont typeface="Arial" panose="020B0604020202020204" pitchFamily="34" charset="0"/>
                        <a:buChar char="•"/>
                      </a:pPr>
                      <a:r>
                        <a:rPr lang="en-US" sz="2000" dirty="0">
                          <a:solidFill>
                            <a:srgbClr val="333333"/>
                          </a:solidFill>
                          <a:effectLst/>
                          <a:highlight>
                            <a:srgbClr val="FF0000"/>
                          </a:highlight>
                          <a:latin typeface="+mn-lt"/>
                        </a:rPr>
                        <a:t>Inhibits GH release</a:t>
                      </a:r>
                    </a:p>
                  </a:txBody>
                  <a:tcPr marL="65077" marR="65077" marT="32539" marB="32539">
                    <a:lnL w="7620" cap="flat" cmpd="sng" algn="ctr">
                      <a:solidFill>
                        <a:srgbClr val="C9C9C9"/>
                      </a:solidFill>
                      <a:prstDash val="solid"/>
                      <a:round/>
                      <a:headEnd type="none" w="med" len="med"/>
                      <a:tailEnd type="none" w="med" len="med"/>
                    </a:lnL>
                    <a:lnR w="7620" cap="flat" cmpd="sng" algn="ctr">
                      <a:solidFill>
                        <a:srgbClr val="C9C9C9"/>
                      </a:solidFill>
                      <a:prstDash val="solid"/>
                      <a:round/>
                      <a:headEnd type="none" w="med" len="med"/>
                      <a:tailEnd type="none" w="med" len="med"/>
                    </a:lnR>
                    <a:lnT w="7620" cap="flat" cmpd="sng" algn="ctr">
                      <a:solidFill>
                        <a:srgbClr val="C9C9C9"/>
                      </a:solidFill>
                      <a:prstDash val="solid"/>
                      <a:round/>
                      <a:headEnd type="none" w="med" len="med"/>
                      <a:tailEnd type="none" w="med" len="med"/>
                    </a:lnT>
                    <a:lnB w="7620" cap="flat" cmpd="sng" algn="ctr">
                      <a:solidFill>
                        <a:srgbClr val="C9C9C9"/>
                      </a:solidFill>
                      <a:prstDash val="solid"/>
                      <a:round/>
                      <a:headEnd type="none" w="med" len="med"/>
                      <a:tailEnd type="none" w="med" len="med"/>
                    </a:lnB>
                  </a:tcPr>
                </a:tc>
                <a:extLst>
                  <a:ext uri="{0D108BD9-81ED-4DB2-BD59-A6C34878D82A}">
                    <a16:rowId xmlns:a16="http://schemas.microsoft.com/office/drawing/2014/main" val="1699294176"/>
                  </a:ext>
                </a:extLst>
              </a:tr>
              <a:tr h="702899">
                <a:tc>
                  <a:txBody>
                    <a:bodyPr/>
                    <a:lstStyle/>
                    <a:p>
                      <a:pPr algn="l" fontAlgn="t"/>
                      <a:r>
                        <a:rPr lang="en-US" sz="2000">
                          <a:solidFill>
                            <a:srgbClr val="333333"/>
                          </a:solidFill>
                          <a:effectLst/>
                          <a:latin typeface="+mn-lt"/>
                        </a:rPr>
                        <a:t>Gonadotropin-releasing hormone (GnRH)</a:t>
                      </a:r>
                    </a:p>
                  </a:txBody>
                  <a:tcPr marL="65077" marR="65077" marT="32539" marB="32539">
                    <a:lnL w="7620" cap="flat" cmpd="sng" algn="ctr">
                      <a:solidFill>
                        <a:srgbClr val="C9C9C9"/>
                      </a:solidFill>
                      <a:prstDash val="solid"/>
                      <a:round/>
                      <a:headEnd type="none" w="med" len="med"/>
                      <a:tailEnd type="none" w="med" len="med"/>
                    </a:lnL>
                    <a:lnR w="7620" cap="flat" cmpd="sng" algn="ctr">
                      <a:solidFill>
                        <a:srgbClr val="C9C9C9"/>
                      </a:solidFill>
                      <a:prstDash val="solid"/>
                      <a:round/>
                      <a:headEnd type="none" w="med" len="med"/>
                      <a:tailEnd type="none" w="med" len="med"/>
                    </a:lnR>
                    <a:lnT w="7620" cap="flat" cmpd="sng" algn="ctr">
                      <a:solidFill>
                        <a:srgbClr val="C9C9C9"/>
                      </a:solidFill>
                      <a:prstDash val="solid"/>
                      <a:round/>
                      <a:headEnd type="none" w="med" len="med"/>
                      <a:tailEnd type="none" w="med" len="med"/>
                    </a:lnT>
                    <a:lnB w="7620" cap="flat" cmpd="sng" algn="ctr">
                      <a:solidFill>
                        <a:srgbClr val="C9C9C9"/>
                      </a:solidFill>
                      <a:prstDash val="solid"/>
                      <a:round/>
                      <a:headEnd type="none" w="med" len="med"/>
                      <a:tailEnd type="none" w="med" len="med"/>
                    </a:lnB>
                  </a:tcPr>
                </a:tc>
                <a:tc>
                  <a:txBody>
                    <a:bodyPr/>
                    <a:lstStyle/>
                    <a:p>
                      <a:pPr algn="l" fontAlgn="t"/>
                      <a:r>
                        <a:rPr lang="en-US" sz="2000" dirty="0">
                          <a:solidFill>
                            <a:srgbClr val="333333"/>
                          </a:solidFill>
                          <a:effectLst/>
                          <a:latin typeface="+mn-lt"/>
                        </a:rPr>
                        <a:t>Gonadotroph</a:t>
                      </a:r>
                    </a:p>
                  </a:txBody>
                  <a:tcPr marL="65077" marR="65077" marT="32539" marB="32539">
                    <a:lnL w="7620" cap="flat" cmpd="sng" algn="ctr">
                      <a:solidFill>
                        <a:srgbClr val="C9C9C9"/>
                      </a:solidFill>
                      <a:prstDash val="solid"/>
                      <a:round/>
                      <a:headEnd type="none" w="med" len="med"/>
                      <a:tailEnd type="none" w="med" len="med"/>
                    </a:lnL>
                    <a:lnR w="7620" cap="flat" cmpd="sng" algn="ctr">
                      <a:solidFill>
                        <a:srgbClr val="C9C9C9"/>
                      </a:solidFill>
                      <a:prstDash val="solid"/>
                      <a:round/>
                      <a:headEnd type="none" w="med" len="med"/>
                      <a:tailEnd type="none" w="med" len="med"/>
                    </a:lnR>
                    <a:lnT w="7620" cap="flat" cmpd="sng" algn="ctr">
                      <a:solidFill>
                        <a:srgbClr val="C9C9C9"/>
                      </a:solidFill>
                      <a:prstDash val="solid"/>
                      <a:round/>
                      <a:headEnd type="none" w="med" len="med"/>
                      <a:tailEnd type="none" w="med" len="med"/>
                    </a:lnT>
                    <a:lnB w="7620" cap="flat" cmpd="sng" algn="ctr">
                      <a:solidFill>
                        <a:srgbClr val="C9C9C9"/>
                      </a:solidFill>
                      <a:prstDash val="solid"/>
                      <a:round/>
                      <a:headEnd type="none" w="med" len="med"/>
                      <a:tailEnd type="none" w="med" len="med"/>
                    </a:lnB>
                  </a:tcPr>
                </a:tc>
                <a:tc>
                  <a:txBody>
                    <a:bodyPr/>
                    <a:lstStyle/>
                    <a:p>
                      <a:pPr algn="l" fontAlgn="t">
                        <a:buFont typeface="Arial" panose="020B0604020202020204" pitchFamily="34" charset="0"/>
                        <a:buChar char="•"/>
                      </a:pPr>
                      <a:r>
                        <a:rPr lang="en-US" sz="2000">
                          <a:solidFill>
                            <a:srgbClr val="333333"/>
                          </a:solidFill>
                          <a:effectLst/>
                          <a:latin typeface="+mn-lt"/>
                        </a:rPr>
                        <a:t>Stimulates luteinizing hormone (LH) and follicle-stimulating hormone (FSH) release</a:t>
                      </a:r>
                    </a:p>
                  </a:txBody>
                  <a:tcPr marL="65077" marR="65077" marT="32539" marB="32539">
                    <a:lnL w="7620" cap="flat" cmpd="sng" algn="ctr">
                      <a:solidFill>
                        <a:srgbClr val="C9C9C9"/>
                      </a:solidFill>
                      <a:prstDash val="solid"/>
                      <a:round/>
                      <a:headEnd type="none" w="med" len="med"/>
                      <a:tailEnd type="none" w="med" len="med"/>
                    </a:lnL>
                    <a:lnR w="7620" cap="flat" cmpd="sng" algn="ctr">
                      <a:solidFill>
                        <a:srgbClr val="C9C9C9"/>
                      </a:solidFill>
                      <a:prstDash val="solid"/>
                      <a:round/>
                      <a:headEnd type="none" w="med" len="med"/>
                      <a:tailEnd type="none" w="med" len="med"/>
                    </a:lnR>
                    <a:lnT w="7620" cap="flat" cmpd="sng" algn="ctr">
                      <a:solidFill>
                        <a:srgbClr val="C9C9C9"/>
                      </a:solidFill>
                      <a:prstDash val="solid"/>
                      <a:round/>
                      <a:headEnd type="none" w="med" len="med"/>
                      <a:tailEnd type="none" w="med" len="med"/>
                    </a:lnT>
                    <a:lnB w="7620" cap="flat" cmpd="sng" algn="ctr">
                      <a:solidFill>
                        <a:srgbClr val="C9C9C9"/>
                      </a:solidFill>
                      <a:prstDash val="solid"/>
                      <a:round/>
                      <a:headEnd type="none" w="med" len="med"/>
                      <a:tailEnd type="none" w="med" len="med"/>
                    </a:lnB>
                  </a:tcPr>
                </a:tc>
                <a:extLst>
                  <a:ext uri="{0D108BD9-81ED-4DB2-BD59-A6C34878D82A}">
                    <a16:rowId xmlns:a16="http://schemas.microsoft.com/office/drawing/2014/main" val="1878993973"/>
                  </a:ext>
                </a:extLst>
              </a:tr>
              <a:tr h="702899">
                <a:tc>
                  <a:txBody>
                    <a:bodyPr/>
                    <a:lstStyle/>
                    <a:p>
                      <a:pPr algn="l" fontAlgn="t"/>
                      <a:r>
                        <a:rPr lang="en-US" sz="2000">
                          <a:solidFill>
                            <a:srgbClr val="333333"/>
                          </a:solidFill>
                          <a:effectLst/>
                          <a:highlight>
                            <a:srgbClr val="FF0000"/>
                          </a:highlight>
                          <a:latin typeface="+mn-lt"/>
                        </a:rPr>
                        <a:t>Prolactin-inhibiting factor (PIF; also known as dopamine)</a:t>
                      </a:r>
                    </a:p>
                  </a:txBody>
                  <a:tcPr marL="65077" marR="65077" marT="32539" marB="32539">
                    <a:lnL w="7620" cap="flat" cmpd="sng" algn="ctr">
                      <a:solidFill>
                        <a:srgbClr val="C9C9C9"/>
                      </a:solidFill>
                      <a:prstDash val="solid"/>
                      <a:round/>
                      <a:headEnd type="none" w="med" len="med"/>
                      <a:tailEnd type="none" w="med" len="med"/>
                    </a:lnL>
                    <a:lnR w="7620" cap="flat" cmpd="sng" algn="ctr">
                      <a:solidFill>
                        <a:srgbClr val="C9C9C9"/>
                      </a:solidFill>
                      <a:prstDash val="solid"/>
                      <a:round/>
                      <a:headEnd type="none" w="med" len="med"/>
                      <a:tailEnd type="none" w="med" len="med"/>
                    </a:lnR>
                    <a:lnT w="7620" cap="flat" cmpd="sng" algn="ctr">
                      <a:solidFill>
                        <a:srgbClr val="C9C9C9"/>
                      </a:solidFill>
                      <a:prstDash val="solid"/>
                      <a:round/>
                      <a:headEnd type="none" w="med" len="med"/>
                      <a:tailEnd type="none" w="med" len="med"/>
                    </a:lnT>
                    <a:lnB w="7620" cap="flat" cmpd="sng" algn="ctr">
                      <a:solidFill>
                        <a:srgbClr val="C9C9C9"/>
                      </a:solidFill>
                      <a:prstDash val="solid"/>
                      <a:round/>
                      <a:headEnd type="none" w="med" len="med"/>
                      <a:tailEnd type="none" w="med" len="med"/>
                    </a:lnB>
                  </a:tcPr>
                </a:tc>
                <a:tc>
                  <a:txBody>
                    <a:bodyPr/>
                    <a:lstStyle/>
                    <a:p>
                      <a:pPr algn="l" fontAlgn="t"/>
                      <a:r>
                        <a:rPr lang="en-US" sz="2000" dirty="0">
                          <a:solidFill>
                            <a:srgbClr val="333333"/>
                          </a:solidFill>
                          <a:effectLst/>
                          <a:highlight>
                            <a:srgbClr val="FF0000"/>
                          </a:highlight>
                          <a:latin typeface="+mn-lt"/>
                        </a:rPr>
                        <a:t>Lactotroph</a:t>
                      </a:r>
                    </a:p>
                  </a:txBody>
                  <a:tcPr marL="65077" marR="65077" marT="32539" marB="32539">
                    <a:lnL w="7620" cap="flat" cmpd="sng" algn="ctr">
                      <a:solidFill>
                        <a:srgbClr val="C9C9C9"/>
                      </a:solidFill>
                      <a:prstDash val="solid"/>
                      <a:round/>
                      <a:headEnd type="none" w="med" len="med"/>
                      <a:tailEnd type="none" w="med" len="med"/>
                    </a:lnL>
                    <a:lnR w="7620" cap="flat" cmpd="sng" algn="ctr">
                      <a:solidFill>
                        <a:srgbClr val="C9C9C9"/>
                      </a:solidFill>
                      <a:prstDash val="solid"/>
                      <a:round/>
                      <a:headEnd type="none" w="med" len="med"/>
                      <a:tailEnd type="none" w="med" len="med"/>
                    </a:lnR>
                    <a:lnT w="7620" cap="flat" cmpd="sng" algn="ctr">
                      <a:solidFill>
                        <a:srgbClr val="C9C9C9"/>
                      </a:solidFill>
                      <a:prstDash val="solid"/>
                      <a:round/>
                      <a:headEnd type="none" w="med" len="med"/>
                      <a:tailEnd type="none" w="med" len="med"/>
                    </a:lnT>
                    <a:lnB w="7620" cap="flat" cmpd="sng" algn="ctr">
                      <a:solidFill>
                        <a:srgbClr val="C9C9C9"/>
                      </a:solidFill>
                      <a:prstDash val="solid"/>
                      <a:round/>
                      <a:headEnd type="none" w="med" len="med"/>
                      <a:tailEnd type="none" w="med" len="med"/>
                    </a:lnB>
                  </a:tcPr>
                </a:tc>
                <a:tc>
                  <a:txBody>
                    <a:bodyPr/>
                    <a:lstStyle/>
                    <a:p>
                      <a:pPr algn="l" fontAlgn="t">
                        <a:buFont typeface="Arial" panose="020B0604020202020204" pitchFamily="34" charset="0"/>
                        <a:buChar char="•"/>
                      </a:pPr>
                      <a:r>
                        <a:rPr lang="en-US" sz="2000" dirty="0">
                          <a:solidFill>
                            <a:srgbClr val="333333"/>
                          </a:solidFill>
                          <a:effectLst/>
                          <a:highlight>
                            <a:srgbClr val="FF0000"/>
                          </a:highlight>
                          <a:latin typeface="+mn-lt"/>
                        </a:rPr>
                        <a:t>Inhibits prolactin release</a:t>
                      </a:r>
                    </a:p>
                  </a:txBody>
                  <a:tcPr marL="65077" marR="65077" marT="32539" marB="32539">
                    <a:lnL w="7620" cap="flat" cmpd="sng" algn="ctr">
                      <a:solidFill>
                        <a:srgbClr val="C9C9C9"/>
                      </a:solidFill>
                      <a:prstDash val="solid"/>
                      <a:round/>
                      <a:headEnd type="none" w="med" len="med"/>
                      <a:tailEnd type="none" w="med" len="med"/>
                    </a:lnL>
                    <a:lnR w="7620" cap="flat" cmpd="sng" algn="ctr">
                      <a:solidFill>
                        <a:srgbClr val="C9C9C9"/>
                      </a:solidFill>
                      <a:prstDash val="solid"/>
                      <a:round/>
                      <a:headEnd type="none" w="med" len="med"/>
                      <a:tailEnd type="none" w="med" len="med"/>
                    </a:lnR>
                    <a:lnT w="7620" cap="flat" cmpd="sng" algn="ctr">
                      <a:solidFill>
                        <a:srgbClr val="C9C9C9"/>
                      </a:solidFill>
                      <a:prstDash val="solid"/>
                      <a:round/>
                      <a:headEnd type="none" w="med" len="med"/>
                      <a:tailEnd type="none" w="med" len="med"/>
                    </a:lnT>
                    <a:lnB w="7620" cap="flat" cmpd="sng" algn="ctr">
                      <a:solidFill>
                        <a:srgbClr val="C9C9C9"/>
                      </a:solidFill>
                      <a:prstDash val="solid"/>
                      <a:round/>
                      <a:headEnd type="none" w="med" len="med"/>
                      <a:tailEnd type="none" w="med" len="med"/>
                    </a:lnB>
                  </a:tcPr>
                </a:tc>
                <a:extLst>
                  <a:ext uri="{0D108BD9-81ED-4DB2-BD59-A6C34878D82A}">
                    <a16:rowId xmlns:a16="http://schemas.microsoft.com/office/drawing/2014/main" val="2265403982"/>
                  </a:ext>
                </a:extLst>
              </a:tr>
              <a:tr h="702899">
                <a:tc>
                  <a:txBody>
                    <a:bodyPr/>
                    <a:lstStyle/>
                    <a:p>
                      <a:pPr algn="l" fontAlgn="t"/>
                      <a:r>
                        <a:rPr lang="en-US" sz="2000" dirty="0">
                          <a:solidFill>
                            <a:srgbClr val="333333"/>
                          </a:solidFill>
                          <a:effectLst/>
                          <a:latin typeface="+mn-lt"/>
                        </a:rPr>
                        <a:t>Thyrotropin-releasing hormone (TRH)</a:t>
                      </a:r>
                    </a:p>
                  </a:txBody>
                  <a:tcPr marL="65077" marR="65077" marT="32539" marB="32539">
                    <a:lnL w="7620" cap="flat" cmpd="sng" algn="ctr">
                      <a:solidFill>
                        <a:srgbClr val="C9C9C9"/>
                      </a:solidFill>
                      <a:prstDash val="solid"/>
                      <a:round/>
                      <a:headEnd type="none" w="med" len="med"/>
                      <a:tailEnd type="none" w="med" len="med"/>
                    </a:lnL>
                    <a:lnR w="7620" cap="flat" cmpd="sng" algn="ctr">
                      <a:solidFill>
                        <a:srgbClr val="C9C9C9"/>
                      </a:solidFill>
                      <a:prstDash val="solid"/>
                      <a:round/>
                      <a:headEnd type="none" w="med" len="med"/>
                      <a:tailEnd type="none" w="med" len="med"/>
                    </a:lnR>
                    <a:lnT w="7620" cap="flat" cmpd="sng" algn="ctr">
                      <a:solidFill>
                        <a:srgbClr val="C9C9C9"/>
                      </a:solidFill>
                      <a:prstDash val="solid"/>
                      <a:round/>
                      <a:headEnd type="none" w="med" len="med"/>
                      <a:tailEnd type="none" w="med" len="med"/>
                    </a:lnT>
                    <a:lnB w="7620" cap="flat" cmpd="sng" algn="ctr">
                      <a:solidFill>
                        <a:srgbClr val="C9C9C9"/>
                      </a:solidFill>
                      <a:prstDash val="solid"/>
                      <a:round/>
                      <a:headEnd type="none" w="med" len="med"/>
                      <a:tailEnd type="none" w="med" len="med"/>
                    </a:lnB>
                  </a:tcPr>
                </a:tc>
                <a:tc>
                  <a:txBody>
                    <a:bodyPr/>
                    <a:lstStyle/>
                    <a:p>
                      <a:pPr algn="l" fontAlgn="t"/>
                      <a:r>
                        <a:rPr lang="en-US" sz="2000" dirty="0" err="1">
                          <a:solidFill>
                            <a:srgbClr val="333333"/>
                          </a:solidFill>
                          <a:effectLst/>
                          <a:latin typeface="+mn-lt"/>
                        </a:rPr>
                        <a:t>Thyrotroph</a:t>
                      </a:r>
                      <a:endParaRPr lang="en-US" sz="2000" dirty="0">
                        <a:solidFill>
                          <a:srgbClr val="333333"/>
                        </a:solidFill>
                        <a:effectLst/>
                        <a:latin typeface="+mn-lt"/>
                      </a:endParaRPr>
                    </a:p>
                  </a:txBody>
                  <a:tcPr marL="65077" marR="65077" marT="32539" marB="32539">
                    <a:lnL w="7620" cap="flat" cmpd="sng" algn="ctr">
                      <a:solidFill>
                        <a:srgbClr val="C9C9C9"/>
                      </a:solidFill>
                      <a:prstDash val="solid"/>
                      <a:round/>
                      <a:headEnd type="none" w="med" len="med"/>
                      <a:tailEnd type="none" w="med" len="med"/>
                    </a:lnL>
                    <a:lnR w="7620" cap="flat" cmpd="sng" algn="ctr">
                      <a:solidFill>
                        <a:srgbClr val="C9C9C9"/>
                      </a:solidFill>
                      <a:prstDash val="solid"/>
                      <a:round/>
                      <a:headEnd type="none" w="med" len="med"/>
                      <a:tailEnd type="none" w="med" len="med"/>
                    </a:lnR>
                    <a:lnT w="7620" cap="flat" cmpd="sng" algn="ctr">
                      <a:solidFill>
                        <a:srgbClr val="C9C9C9"/>
                      </a:solidFill>
                      <a:prstDash val="solid"/>
                      <a:round/>
                      <a:headEnd type="none" w="med" len="med"/>
                      <a:tailEnd type="none" w="med" len="med"/>
                    </a:lnT>
                    <a:lnB w="7620" cap="flat" cmpd="sng" algn="ctr">
                      <a:solidFill>
                        <a:srgbClr val="C9C9C9"/>
                      </a:solidFill>
                      <a:prstDash val="solid"/>
                      <a:round/>
                      <a:headEnd type="none" w="med" len="med"/>
                      <a:tailEnd type="none" w="med" len="med"/>
                    </a:lnB>
                  </a:tcPr>
                </a:tc>
                <a:tc>
                  <a:txBody>
                    <a:bodyPr/>
                    <a:lstStyle/>
                    <a:p>
                      <a:pPr algn="l" fontAlgn="t">
                        <a:buFont typeface="Arial" panose="020B0604020202020204" pitchFamily="34" charset="0"/>
                        <a:buChar char="•"/>
                      </a:pPr>
                      <a:r>
                        <a:rPr lang="en-US" sz="2000" dirty="0">
                          <a:solidFill>
                            <a:srgbClr val="333333"/>
                          </a:solidFill>
                          <a:effectLst/>
                          <a:latin typeface="+mn-lt"/>
                        </a:rPr>
                        <a:t>Stimulates thyroid-stimulating hormone (TSH) and prolactin release</a:t>
                      </a:r>
                    </a:p>
                  </a:txBody>
                  <a:tcPr marL="65077" marR="65077" marT="32539" marB="32539">
                    <a:lnL w="7620" cap="flat" cmpd="sng" algn="ctr">
                      <a:solidFill>
                        <a:srgbClr val="C9C9C9"/>
                      </a:solidFill>
                      <a:prstDash val="solid"/>
                      <a:round/>
                      <a:headEnd type="none" w="med" len="med"/>
                      <a:tailEnd type="none" w="med" len="med"/>
                    </a:lnL>
                    <a:lnR w="7620" cap="flat" cmpd="sng" algn="ctr">
                      <a:solidFill>
                        <a:srgbClr val="C9C9C9"/>
                      </a:solidFill>
                      <a:prstDash val="solid"/>
                      <a:round/>
                      <a:headEnd type="none" w="med" len="med"/>
                      <a:tailEnd type="none" w="med" len="med"/>
                    </a:lnR>
                    <a:lnT w="7620" cap="flat" cmpd="sng" algn="ctr">
                      <a:solidFill>
                        <a:srgbClr val="C9C9C9"/>
                      </a:solidFill>
                      <a:prstDash val="solid"/>
                      <a:round/>
                      <a:headEnd type="none" w="med" len="med"/>
                      <a:tailEnd type="none" w="med" len="med"/>
                    </a:lnT>
                    <a:lnB w="7620" cap="flat" cmpd="sng" algn="ctr">
                      <a:solidFill>
                        <a:srgbClr val="C9C9C9"/>
                      </a:solidFill>
                      <a:prstDash val="solid"/>
                      <a:round/>
                      <a:headEnd type="none" w="med" len="med"/>
                      <a:tailEnd type="none" w="med" len="med"/>
                    </a:lnB>
                  </a:tcPr>
                </a:tc>
                <a:extLst>
                  <a:ext uri="{0D108BD9-81ED-4DB2-BD59-A6C34878D82A}">
                    <a16:rowId xmlns:a16="http://schemas.microsoft.com/office/drawing/2014/main" val="2952793135"/>
                  </a:ext>
                </a:extLst>
              </a:tr>
            </a:tbl>
          </a:graphicData>
        </a:graphic>
      </p:graphicFrame>
    </p:spTree>
    <p:extLst>
      <p:ext uri="{BB962C8B-B14F-4D97-AF65-F5344CB8AC3E}">
        <p14:creationId xmlns:p14="http://schemas.microsoft.com/office/powerpoint/2010/main" val="243749833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58" name="Rectangle 1057">
            <a:extLst>
              <a:ext uri="{FF2B5EF4-FFF2-40B4-BE49-F238E27FC236}">
                <a16:creationId xmlns:a16="http://schemas.microsoft.com/office/drawing/2014/main" id="{E45CA849-654C-4173-AD99-B3A2528275F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14B2F4F-9AF2-4EC1-89EB-C8929959DE73}"/>
              </a:ext>
            </a:extLst>
          </p:cNvPr>
          <p:cNvSpPr>
            <a:spLocks noGrp="1"/>
          </p:cNvSpPr>
          <p:nvPr>
            <p:ph type="title"/>
          </p:nvPr>
        </p:nvSpPr>
        <p:spPr>
          <a:xfrm>
            <a:off x="429768" y="342104"/>
            <a:ext cx="11201400" cy="1106424"/>
          </a:xfrm>
        </p:spPr>
        <p:txBody>
          <a:bodyPr>
            <a:normAutofit/>
          </a:bodyPr>
          <a:lstStyle/>
          <a:p>
            <a:r>
              <a:rPr lang="en-US" sz="4800" dirty="0"/>
              <a:t>Anatomy and Physiology Review </a:t>
            </a:r>
          </a:p>
        </p:txBody>
      </p:sp>
      <p:sp>
        <p:nvSpPr>
          <p:cNvPr id="1060" name="Rectangle 1059">
            <a:extLst>
              <a:ext uri="{FF2B5EF4-FFF2-40B4-BE49-F238E27FC236}">
                <a16:creationId xmlns:a16="http://schemas.microsoft.com/office/drawing/2014/main" id="{3E23A947-2D45-4208-AE2B-64948C87A3E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587931"/>
            <a:ext cx="128016"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062" name="Rectangle 1061">
            <a:extLst>
              <a:ext uri="{FF2B5EF4-FFF2-40B4-BE49-F238E27FC236}">
                <a16:creationId xmlns:a16="http://schemas.microsoft.com/office/drawing/2014/main" id="{E5BBB0F9-6A59-4D02-A9C7-A2D6516684C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543801" y="1721922"/>
            <a:ext cx="4218432" cy="4520560"/>
          </a:xfrm>
          <a:prstGeom prst="rect">
            <a:avLst/>
          </a:prstGeom>
          <a:ln w="9525">
            <a:solidFill>
              <a:srgbClr val="E1E1E1"/>
            </a:solidFill>
          </a:ln>
          <a:effectLst>
            <a:outerShdw blurRad="50800" dist="38100" dir="2700000" algn="t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5" name="Picture 4">
            <a:extLst>
              <a:ext uri="{FF2B5EF4-FFF2-40B4-BE49-F238E27FC236}">
                <a16:creationId xmlns:a16="http://schemas.microsoft.com/office/drawing/2014/main" id="{81B17917-9FA1-A1B6-A6BF-0193EF6452C1}"/>
              </a:ext>
            </a:extLst>
          </p:cNvPr>
          <p:cNvPicPr>
            <a:picLocks noChangeAspect="1"/>
          </p:cNvPicPr>
          <p:nvPr/>
        </p:nvPicPr>
        <p:blipFill rotWithShape="1">
          <a:blip r:embed="rId3"/>
          <a:srcRect l="53550" b="21288"/>
          <a:stretch/>
        </p:blipFill>
        <p:spPr>
          <a:xfrm>
            <a:off x="9171331" y="405334"/>
            <a:ext cx="2590901" cy="3657954"/>
          </a:xfrm>
          <a:prstGeom prst="rect">
            <a:avLst/>
          </a:prstGeom>
        </p:spPr>
      </p:pic>
      <p:graphicFrame>
        <p:nvGraphicFramePr>
          <p:cNvPr id="4" name="Table 3">
            <a:extLst>
              <a:ext uri="{FF2B5EF4-FFF2-40B4-BE49-F238E27FC236}">
                <a16:creationId xmlns:a16="http://schemas.microsoft.com/office/drawing/2014/main" id="{FF4D0734-FA02-8B0B-1A59-1520BED083B9}"/>
              </a:ext>
            </a:extLst>
          </p:cNvPr>
          <p:cNvGraphicFramePr>
            <a:graphicFrameLocks noGrp="1"/>
          </p:cNvGraphicFramePr>
          <p:nvPr>
            <p:extLst>
              <p:ext uri="{D42A27DB-BD31-4B8C-83A1-F6EECF244321}">
                <p14:modId xmlns:p14="http://schemas.microsoft.com/office/powerpoint/2010/main" val="1146191651"/>
              </p:ext>
            </p:extLst>
          </p:nvPr>
        </p:nvGraphicFramePr>
        <p:xfrm>
          <a:off x="475034" y="1248656"/>
          <a:ext cx="8346332" cy="5467091"/>
        </p:xfrm>
        <a:graphic>
          <a:graphicData uri="http://schemas.openxmlformats.org/drawingml/2006/table">
            <a:tbl>
              <a:tblPr/>
              <a:tblGrid>
                <a:gridCol w="1582699">
                  <a:extLst>
                    <a:ext uri="{9D8B030D-6E8A-4147-A177-3AD203B41FA5}">
                      <a16:colId xmlns:a16="http://schemas.microsoft.com/office/drawing/2014/main" val="239385776"/>
                    </a:ext>
                  </a:extLst>
                </a:gridCol>
                <a:gridCol w="6763633">
                  <a:extLst>
                    <a:ext uri="{9D8B030D-6E8A-4147-A177-3AD203B41FA5}">
                      <a16:colId xmlns:a16="http://schemas.microsoft.com/office/drawing/2014/main" val="2513516538"/>
                    </a:ext>
                  </a:extLst>
                </a:gridCol>
              </a:tblGrid>
              <a:tr h="287600">
                <a:tc gridSpan="2">
                  <a:txBody>
                    <a:bodyPr/>
                    <a:lstStyle/>
                    <a:p>
                      <a:pPr algn="l" fontAlgn="t"/>
                      <a:r>
                        <a:rPr lang="en-US" sz="2000" dirty="0">
                          <a:solidFill>
                            <a:srgbClr val="333333"/>
                          </a:solidFill>
                          <a:effectLst/>
                          <a:latin typeface="+mn-lt"/>
                        </a:rPr>
                        <a:t>Anterior Pituitary Hormones and Function</a:t>
                      </a:r>
                    </a:p>
                  </a:txBody>
                  <a:tcPr marL="45326" marR="45326" marT="22663" marB="22663">
                    <a:lnL w="7620" cap="flat" cmpd="sng" algn="ctr">
                      <a:solidFill>
                        <a:srgbClr val="C9C9C9"/>
                      </a:solidFill>
                      <a:prstDash val="solid"/>
                      <a:round/>
                      <a:headEnd type="none" w="med" len="med"/>
                      <a:tailEnd type="none" w="med" len="med"/>
                    </a:lnL>
                    <a:lnR w="7620" cap="flat" cmpd="sng" algn="ctr">
                      <a:solidFill>
                        <a:srgbClr val="C9C9C9"/>
                      </a:solidFill>
                      <a:prstDash val="solid"/>
                      <a:round/>
                      <a:headEnd type="none" w="med" len="med"/>
                      <a:tailEnd type="none" w="med" len="med"/>
                    </a:lnR>
                    <a:lnT w="7620" cap="flat" cmpd="sng" algn="ctr">
                      <a:solidFill>
                        <a:srgbClr val="C9C9C9"/>
                      </a:solidFill>
                      <a:prstDash val="solid"/>
                      <a:round/>
                      <a:headEnd type="none" w="med" len="med"/>
                      <a:tailEnd type="none" w="med" len="med"/>
                    </a:lnT>
                    <a:lnB w="7620" cap="flat" cmpd="sng" algn="ctr">
                      <a:solidFill>
                        <a:srgbClr val="C9C9C9"/>
                      </a:solidFill>
                      <a:prstDash val="solid"/>
                      <a:round/>
                      <a:headEnd type="none" w="med" len="med"/>
                      <a:tailEnd type="none" w="med" len="med"/>
                    </a:lnB>
                  </a:tcPr>
                </a:tc>
                <a:tc hMerge="1">
                  <a:txBody>
                    <a:bodyPr/>
                    <a:lstStyle/>
                    <a:p>
                      <a:pPr algn="l" fontAlgn="t">
                        <a:buFont typeface="Arial" panose="020B0604020202020204" pitchFamily="34" charset="0"/>
                        <a:buChar char="•"/>
                      </a:pPr>
                      <a:endParaRPr lang="en-US" sz="2400" dirty="0">
                        <a:solidFill>
                          <a:srgbClr val="333333"/>
                        </a:solidFill>
                        <a:effectLst/>
                        <a:latin typeface="+mn-lt"/>
                      </a:endParaRPr>
                    </a:p>
                  </a:txBody>
                  <a:tcPr marL="45326" marR="45326" marT="22663" marB="22663">
                    <a:lnL w="7620" cap="flat" cmpd="sng" algn="ctr">
                      <a:solidFill>
                        <a:srgbClr val="C9C9C9"/>
                      </a:solidFill>
                      <a:prstDash val="solid"/>
                      <a:round/>
                      <a:headEnd type="none" w="med" len="med"/>
                      <a:tailEnd type="none" w="med" len="med"/>
                    </a:lnL>
                    <a:lnR w="7620" cap="flat" cmpd="sng" algn="ctr">
                      <a:solidFill>
                        <a:srgbClr val="C9C9C9"/>
                      </a:solidFill>
                      <a:prstDash val="solid"/>
                      <a:round/>
                      <a:headEnd type="none" w="med" len="med"/>
                      <a:tailEnd type="none" w="med" len="med"/>
                    </a:lnR>
                    <a:lnT w="7620" cap="flat" cmpd="sng" algn="ctr">
                      <a:solidFill>
                        <a:srgbClr val="C9C9C9"/>
                      </a:solidFill>
                      <a:prstDash val="solid"/>
                      <a:round/>
                      <a:headEnd type="none" w="med" len="med"/>
                      <a:tailEnd type="none" w="med" len="med"/>
                    </a:lnT>
                    <a:lnB w="7620" cap="flat" cmpd="sng" algn="ctr">
                      <a:solidFill>
                        <a:srgbClr val="C9C9C9"/>
                      </a:solidFill>
                      <a:prstDash val="solid"/>
                      <a:round/>
                      <a:headEnd type="none" w="med" len="med"/>
                      <a:tailEnd type="none" w="med" len="med"/>
                    </a:lnB>
                  </a:tcPr>
                </a:tc>
                <a:extLst>
                  <a:ext uri="{0D108BD9-81ED-4DB2-BD59-A6C34878D82A}">
                    <a16:rowId xmlns:a16="http://schemas.microsoft.com/office/drawing/2014/main" val="2132485158"/>
                  </a:ext>
                </a:extLst>
              </a:tr>
              <a:tr h="799378">
                <a:tc>
                  <a:txBody>
                    <a:bodyPr/>
                    <a:lstStyle/>
                    <a:p>
                      <a:pPr algn="l" fontAlgn="t"/>
                      <a:r>
                        <a:rPr lang="en-US" sz="2000" dirty="0">
                          <a:solidFill>
                            <a:srgbClr val="333333"/>
                          </a:solidFill>
                          <a:effectLst/>
                          <a:latin typeface="+mn-lt"/>
                        </a:rPr>
                        <a:t>ACTH</a:t>
                      </a:r>
                    </a:p>
                  </a:txBody>
                  <a:tcPr marL="45326" marR="45326" marT="22663" marB="22663">
                    <a:lnL w="7620" cap="flat" cmpd="sng" algn="ctr">
                      <a:solidFill>
                        <a:srgbClr val="C9C9C9"/>
                      </a:solidFill>
                      <a:prstDash val="solid"/>
                      <a:round/>
                      <a:headEnd type="none" w="med" len="med"/>
                      <a:tailEnd type="none" w="med" len="med"/>
                    </a:lnL>
                    <a:lnR w="7620" cap="flat" cmpd="sng" algn="ctr">
                      <a:solidFill>
                        <a:srgbClr val="C9C9C9"/>
                      </a:solidFill>
                      <a:prstDash val="solid"/>
                      <a:round/>
                      <a:headEnd type="none" w="med" len="med"/>
                      <a:tailEnd type="none" w="med" len="med"/>
                    </a:lnR>
                    <a:lnT w="7620" cap="flat" cmpd="sng" algn="ctr">
                      <a:solidFill>
                        <a:srgbClr val="C9C9C9"/>
                      </a:solidFill>
                      <a:prstDash val="solid"/>
                      <a:round/>
                      <a:headEnd type="none" w="med" len="med"/>
                      <a:tailEnd type="none" w="med" len="med"/>
                    </a:lnT>
                    <a:lnB w="7620" cap="flat" cmpd="sng" algn="ctr">
                      <a:solidFill>
                        <a:srgbClr val="C9C9C9"/>
                      </a:solidFill>
                      <a:prstDash val="solid"/>
                      <a:round/>
                      <a:headEnd type="none" w="med" len="med"/>
                      <a:tailEnd type="none" w="med" len="med"/>
                    </a:lnB>
                  </a:tcPr>
                </a:tc>
                <a:tc>
                  <a:txBody>
                    <a:bodyPr/>
                    <a:lstStyle/>
                    <a:p>
                      <a:pPr algn="l" fontAlgn="t">
                        <a:buFont typeface="Arial" panose="020B0604020202020204" pitchFamily="34" charset="0"/>
                        <a:buChar char="•"/>
                      </a:pPr>
                      <a:r>
                        <a:rPr lang="en-US" sz="2000" dirty="0">
                          <a:solidFill>
                            <a:srgbClr val="333333"/>
                          </a:solidFill>
                          <a:effectLst/>
                          <a:latin typeface="+mn-lt"/>
                        </a:rPr>
                        <a:t>Trophic to adrenal cortex</a:t>
                      </a:r>
                    </a:p>
                    <a:p>
                      <a:pPr algn="l" fontAlgn="t">
                        <a:buFont typeface="Arial" panose="020B0604020202020204" pitchFamily="34" charset="0"/>
                        <a:buChar char="•"/>
                      </a:pPr>
                      <a:r>
                        <a:rPr lang="en-US" sz="2000" dirty="0">
                          <a:solidFill>
                            <a:srgbClr val="333333"/>
                          </a:solidFill>
                          <a:effectLst/>
                          <a:latin typeface="+mn-lt"/>
                        </a:rPr>
                        <a:t>Stimulates synthesis and secretion of cortisol, aldosterone, and androgens</a:t>
                      </a:r>
                    </a:p>
                  </a:txBody>
                  <a:tcPr marL="45326" marR="45326" marT="22663" marB="22663">
                    <a:lnL w="7620" cap="flat" cmpd="sng" algn="ctr">
                      <a:solidFill>
                        <a:srgbClr val="C9C9C9"/>
                      </a:solidFill>
                      <a:prstDash val="solid"/>
                      <a:round/>
                      <a:headEnd type="none" w="med" len="med"/>
                      <a:tailEnd type="none" w="med" len="med"/>
                    </a:lnL>
                    <a:lnR w="7620" cap="flat" cmpd="sng" algn="ctr">
                      <a:solidFill>
                        <a:srgbClr val="C9C9C9"/>
                      </a:solidFill>
                      <a:prstDash val="solid"/>
                      <a:round/>
                      <a:headEnd type="none" w="med" len="med"/>
                      <a:tailEnd type="none" w="med" len="med"/>
                    </a:lnR>
                    <a:lnT w="7620" cap="flat" cmpd="sng" algn="ctr">
                      <a:solidFill>
                        <a:srgbClr val="C9C9C9"/>
                      </a:solidFill>
                      <a:prstDash val="solid"/>
                      <a:round/>
                      <a:headEnd type="none" w="med" len="med"/>
                      <a:tailEnd type="none" w="med" len="med"/>
                    </a:lnT>
                    <a:lnB w="7620" cap="flat" cmpd="sng" algn="ctr">
                      <a:solidFill>
                        <a:srgbClr val="C9C9C9"/>
                      </a:solidFill>
                      <a:prstDash val="solid"/>
                      <a:round/>
                      <a:headEnd type="none" w="med" len="med"/>
                      <a:tailEnd type="none" w="med" len="med"/>
                    </a:lnB>
                  </a:tcPr>
                </a:tc>
                <a:extLst>
                  <a:ext uri="{0D108BD9-81ED-4DB2-BD59-A6C34878D82A}">
                    <a16:rowId xmlns:a16="http://schemas.microsoft.com/office/drawing/2014/main" val="1122203087"/>
                  </a:ext>
                </a:extLst>
              </a:tr>
              <a:tr h="799378">
                <a:tc>
                  <a:txBody>
                    <a:bodyPr/>
                    <a:lstStyle/>
                    <a:p>
                      <a:pPr algn="l" fontAlgn="t"/>
                      <a:r>
                        <a:rPr lang="en-US" sz="2000">
                          <a:solidFill>
                            <a:srgbClr val="333333"/>
                          </a:solidFill>
                          <a:effectLst/>
                          <a:latin typeface="+mn-lt"/>
                        </a:rPr>
                        <a:t>FSH</a:t>
                      </a:r>
                    </a:p>
                  </a:txBody>
                  <a:tcPr marL="45326" marR="45326" marT="22663" marB="22663">
                    <a:lnL w="7620" cap="flat" cmpd="sng" algn="ctr">
                      <a:solidFill>
                        <a:srgbClr val="C9C9C9"/>
                      </a:solidFill>
                      <a:prstDash val="solid"/>
                      <a:round/>
                      <a:headEnd type="none" w="med" len="med"/>
                      <a:tailEnd type="none" w="med" len="med"/>
                    </a:lnL>
                    <a:lnR w="7620" cap="flat" cmpd="sng" algn="ctr">
                      <a:solidFill>
                        <a:srgbClr val="C9C9C9"/>
                      </a:solidFill>
                      <a:prstDash val="solid"/>
                      <a:round/>
                      <a:headEnd type="none" w="med" len="med"/>
                      <a:tailEnd type="none" w="med" len="med"/>
                    </a:lnR>
                    <a:lnT w="7620" cap="flat" cmpd="sng" algn="ctr">
                      <a:solidFill>
                        <a:srgbClr val="C9C9C9"/>
                      </a:solidFill>
                      <a:prstDash val="solid"/>
                      <a:round/>
                      <a:headEnd type="none" w="med" len="med"/>
                      <a:tailEnd type="none" w="med" len="med"/>
                    </a:lnT>
                    <a:lnB w="7620" cap="flat" cmpd="sng" algn="ctr">
                      <a:solidFill>
                        <a:srgbClr val="C9C9C9"/>
                      </a:solidFill>
                      <a:prstDash val="solid"/>
                      <a:round/>
                      <a:headEnd type="none" w="med" len="med"/>
                      <a:tailEnd type="none" w="med" len="med"/>
                    </a:lnB>
                  </a:tcPr>
                </a:tc>
                <a:tc>
                  <a:txBody>
                    <a:bodyPr/>
                    <a:lstStyle/>
                    <a:p>
                      <a:pPr algn="l" fontAlgn="t">
                        <a:buFont typeface="Arial" panose="020B0604020202020204" pitchFamily="34" charset="0"/>
                        <a:buChar char="•"/>
                      </a:pPr>
                      <a:r>
                        <a:rPr lang="en-US" sz="2000" dirty="0">
                          <a:solidFill>
                            <a:srgbClr val="333333"/>
                          </a:solidFill>
                          <a:effectLst/>
                          <a:latin typeface="+mn-lt"/>
                        </a:rPr>
                        <a:t>Promotes sperm maturation via Sertoli cells in testes</a:t>
                      </a:r>
                    </a:p>
                    <a:p>
                      <a:pPr algn="l" fontAlgn="t">
                        <a:buFont typeface="Arial" panose="020B0604020202020204" pitchFamily="34" charset="0"/>
                        <a:buChar char="•"/>
                      </a:pPr>
                      <a:r>
                        <a:rPr lang="en-US" sz="2000" dirty="0">
                          <a:solidFill>
                            <a:srgbClr val="333333"/>
                          </a:solidFill>
                          <a:effectLst/>
                          <a:latin typeface="+mn-lt"/>
                        </a:rPr>
                        <a:t>Stimulates ovarian follicle development</a:t>
                      </a:r>
                    </a:p>
                  </a:txBody>
                  <a:tcPr marL="45326" marR="45326" marT="22663" marB="22663">
                    <a:lnL w="7620" cap="flat" cmpd="sng" algn="ctr">
                      <a:solidFill>
                        <a:srgbClr val="C9C9C9"/>
                      </a:solidFill>
                      <a:prstDash val="solid"/>
                      <a:round/>
                      <a:headEnd type="none" w="med" len="med"/>
                      <a:tailEnd type="none" w="med" len="med"/>
                    </a:lnL>
                    <a:lnR w="7620" cap="flat" cmpd="sng" algn="ctr">
                      <a:solidFill>
                        <a:srgbClr val="C9C9C9"/>
                      </a:solidFill>
                      <a:prstDash val="solid"/>
                      <a:round/>
                      <a:headEnd type="none" w="med" len="med"/>
                      <a:tailEnd type="none" w="med" len="med"/>
                    </a:lnR>
                    <a:lnT w="7620" cap="flat" cmpd="sng" algn="ctr">
                      <a:solidFill>
                        <a:srgbClr val="C9C9C9"/>
                      </a:solidFill>
                      <a:prstDash val="solid"/>
                      <a:round/>
                      <a:headEnd type="none" w="med" len="med"/>
                      <a:tailEnd type="none" w="med" len="med"/>
                    </a:lnT>
                    <a:lnB w="7620" cap="flat" cmpd="sng" algn="ctr">
                      <a:solidFill>
                        <a:srgbClr val="C9C9C9"/>
                      </a:solidFill>
                      <a:prstDash val="solid"/>
                      <a:round/>
                      <a:headEnd type="none" w="med" len="med"/>
                      <a:tailEnd type="none" w="med" len="med"/>
                    </a:lnB>
                  </a:tcPr>
                </a:tc>
                <a:extLst>
                  <a:ext uri="{0D108BD9-81ED-4DB2-BD59-A6C34878D82A}">
                    <a16:rowId xmlns:a16="http://schemas.microsoft.com/office/drawing/2014/main" val="4094878611"/>
                  </a:ext>
                </a:extLst>
              </a:tr>
              <a:tr h="799378">
                <a:tc>
                  <a:txBody>
                    <a:bodyPr/>
                    <a:lstStyle/>
                    <a:p>
                      <a:pPr algn="l" fontAlgn="t"/>
                      <a:r>
                        <a:rPr lang="en-US" sz="2000" dirty="0">
                          <a:solidFill>
                            <a:srgbClr val="333333"/>
                          </a:solidFill>
                          <a:effectLst/>
                          <a:latin typeface="+mn-lt"/>
                        </a:rPr>
                        <a:t>GH</a:t>
                      </a:r>
                    </a:p>
                  </a:txBody>
                  <a:tcPr marL="45326" marR="45326" marT="22663" marB="22663">
                    <a:lnL w="7620" cap="flat" cmpd="sng" algn="ctr">
                      <a:solidFill>
                        <a:srgbClr val="C9C9C9"/>
                      </a:solidFill>
                      <a:prstDash val="solid"/>
                      <a:round/>
                      <a:headEnd type="none" w="med" len="med"/>
                      <a:tailEnd type="none" w="med" len="med"/>
                    </a:lnL>
                    <a:lnR w="7620" cap="flat" cmpd="sng" algn="ctr">
                      <a:solidFill>
                        <a:srgbClr val="C9C9C9"/>
                      </a:solidFill>
                      <a:prstDash val="solid"/>
                      <a:round/>
                      <a:headEnd type="none" w="med" len="med"/>
                      <a:tailEnd type="none" w="med" len="med"/>
                    </a:lnR>
                    <a:lnT w="7620" cap="flat" cmpd="sng" algn="ctr">
                      <a:solidFill>
                        <a:srgbClr val="C9C9C9"/>
                      </a:solidFill>
                      <a:prstDash val="solid"/>
                      <a:round/>
                      <a:headEnd type="none" w="med" len="med"/>
                      <a:tailEnd type="none" w="med" len="med"/>
                    </a:lnT>
                    <a:lnB w="7620" cap="flat" cmpd="sng" algn="ctr">
                      <a:solidFill>
                        <a:srgbClr val="C9C9C9"/>
                      </a:solidFill>
                      <a:prstDash val="solid"/>
                      <a:round/>
                      <a:headEnd type="none" w="med" len="med"/>
                      <a:tailEnd type="none" w="med" len="med"/>
                    </a:lnB>
                  </a:tcPr>
                </a:tc>
                <a:tc>
                  <a:txBody>
                    <a:bodyPr/>
                    <a:lstStyle/>
                    <a:p>
                      <a:pPr algn="l" fontAlgn="t">
                        <a:buFont typeface="Arial" panose="020B0604020202020204" pitchFamily="34" charset="0"/>
                        <a:buChar char="•"/>
                      </a:pPr>
                      <a:r>
                        <a:rPr lang="en-US" sz="2000" dirty="0">
                          <a:solidFill>
                            <a:srgbClr val="333333"/>
                          </a:solidFill>
                          <a:effectLst/>
                          <a:latin typeface="+mn-lt"/>
                        </a:rPr>
                        <a:t>Acute metabolic effects oppose insulin</a:t>
                      </a:r>
                    </a:p>
                    <a:p>
                      <a:pPr algn="l" fontAlgn="t">
                        <a:buFont typeface="Arial" panose="020B0604020202020204" pitchFamily="34" charset="0"/>
                        <a:buChar char="•"/>
                      </a:pPr>
                      <a:r>
                        <a:rPr lang="en-US" sz="2000" dirty="0">
                          <a:solidFill>
                            <a:srgbClr val="333333"/>
                          </a:solidFill>
                          <a:effectLst/>
                          <a:latin typeface="+mn-lt"/>
                        </a:rPr>
                        <a:t>Chronic growth-promoting effect via insulin-like growth factor 1 (IGF-1)</a:t>
                      </a:r>
                    </a:p>
                  </a:txBody>
                  <a:tcPr marL="45326" marR="45326" marT="22663" marB="22663">
                    <a:lnL w="7620" cap="flat" cmpd="sng" algn="ctr">
                      <a:solidFill>
                        <a:srgbClr val="C9C9C9"/>
                      </a:solidFill>
                      <a:prstDash val="solid"/>
                      <a:round/>
                      <a:headEnd type="none" w="med" len="med"/>
                      <a:tailEnd type="none" w="med" len="med"/>
                    </a:lnL>
                    <a:lnR w="7620" cap="flat" cmpd="sng" algn="ctr">
                      <a:solidFill>
                        <a:srgbClr val="C9C9C9"/>
                      </a:solidFill>
                      <a:prstDash val="solid"/>
                      <a:round/>
                      <a:headEnd type="none" w="med" len="med"/>
                      <a:tailEnd type="none" w="med" len="med"/>
                    </a:lnR>
                    <a:lnT w="7620" cap="flat" cmpd="sng" algn="ctr">
                      <a:solidFill>
                        <a:srgbClr val="C9C9C9"/>
                      </a:solidFill>
                      <a:prstDash val="solid"/>
                      <a:round/>
                      <a:headEnd type="none" w="med" len="med"/>
                      <a:tailEnd type="none" w="med" len="med"/>
                    </a:lnT>
                    <a:lnB w="7620" cap="flat" cmpd="sng" algn="ctr">
                      <a:solidFill>
                        <a:srgbClr val="C9C9C9"/>
                      </a:solidFill>
                      <a:prstDash val="solid"/>
                      <a:round/>
                      <a:headEnd type="none" w="med" len="med"/>
                      <a:tailEnd type="none" w="med" len="med"/>
                    </a:lnB>
                  </a:tcPr>
                </a:tc>
                <a:extLst>
                  <a:ext uri="{0D108BD9-81ED-4DB2-BD59-A6C34878D82A}">
                    <a16:rowId xmlns:a16="http://schemas.microsoft.com/office/drawing/2014/main" val="1686771433"/>
                  </a:ext>
                </a:extLst>
              </a:tr>
              <a:tr h="1055268">
                <a:tc>
                  <a:txBody>
                    <a:bodyPr/>
                    <a:lstStyle/>
                    <a:p>
                      <a:pPr algn="l" fontAlgn="t"/>
                      <a:r>
                        <a:rPr lang="en-US" sz="2000">
                          <a:solidFill>
                            <a:srgbClr val="333333"/>
                          </a:solidFill>
                          <a:effectLst/>
                          <a:latin typeface="+mn-lt"/>
                        </a:rPr>
                        <a:t>LH</a:t>
                      </a:r>
                    </a:p>
                  </a:txBody>
                  <a:tcPr marL="45326" marR="45326" marT="22663" marB="22663">
                    <a:lnL w="7620" cap="flat" cmpd="sng" algn="ctr">
                      <a:solidFill>
                        <a:srgbClr val="C9C9C9"/>
                      </a:solidFill>
                      <a:prstDash val="solid"/>
                      <a:round/>
                      <a:headEnd type="none" w="med" len="med"/>
                      <a:tailEnd type="none" w="med" len="med"/>
                    </a:lnL>
                    <a:lnR w="7620" cap="flat" cmpd="sng" algn="ctr">
                      <a:solidFill>
                        <a:srgbClr val="C9C9C9"/>
                      </a:solidFill>
                      <a:prstDash val="solid"/>
                      <a:round/>
                      <a:headEnd type="none" w="med" len="med"/>
                      <a:tailEnd type="none" w="med" len="med"/>
                    </a:lnR>
                    <a:lnT w="7620" cap="flat" cmpd="sng" algn="ctr">
                      <a:solidFill>
                        <a:srgbClr val="C9C9C9"/>
                      </a:solidFill>
                      <a:prstDash val="solid"/>
                      <a:round/>
                      <a:headEnd type="none" w="med" len="med"/>
                      <a:tailEnd type="none" w="med" len="med"/>
                    </a:lnT>
                    <a:lnB w="7620" cap="flat" cmpd="sng" algn="ctr">
                      <a:solidFill>
                        <a:srgbClr val="C9C9C9"/>
                      </a:solidFill>
                      <a:prstDash val="solid"/>
                      <a:round/>
                      <a:headEnd type="none" w="med" len="med"/>
                      <a:tailEnd type="none" w="med" len="med"/>
                    </a:lnB>
                  </a:tcPr>
                </a:tc>
                <a:tc>
                  <a:txBody>
                    <a:bodyPr/>
                    <a:lstStyle/>
                    <a:p>
                      <a:pPr algn="l" fontAlgn="t">
                        <a:buFont typeface="Arial" panose="020B0604020202020204" pitchFamily="34" charset="0"/>
                        <a:buChar char="•"/>
                      </a:pPr>
                      <a:r>
                        <a:rPr lang="en-US" sz="2000" dirty="0">
                          <a:solidFill>
                            <a:srgbClr val="333333"/>
                          </a:solidFill>
                          <a:effectLst/>
                          <a:latin typeface="+mn-lt"/>
                        </a:rPr>
                        <a:t>Stimulates Leydig cells of testes to secrete testosterone</a:t>
                      </a:r>
                    </a:p>
                    <a:p>
                      <a:pPr algn="l" fontAlgn="t">
                        <a:buFont typeface="Arial" panose="020B0604020202020204" pitchFamily="34" charset="0"/>
                        <a:buChar char="•"/>
                      </a:pPr>
                      <a:r>
                        <a:rPr lang="en-US" sz="2000" dirty="0">
                          <a:solidFill>
                            <a:srgbClr val="333333"/>
                          </a:solidFill>
                          <a:effectLst/>
                          <a:latin typeface="+mn-lt"/>
                        </a:rPr>
                        <a:t>LH surge important for ovulation and formation of corpus luteum</a:t>
                      </a:r>
                    </a:p>
                  </a:txBody>
                  <a:tcPr marL="45326" marR="45326" marT="22663" marB="22663">
                    <a:lnL w="7620" cap="flat" cmpd="sng" algn="ctr">
                      <a:solidFill>
                        <a:srgbClr val="C9C9C9"/>
                      </a:solidFill>
                      <a:prstDash val="solid"/>
                      <a:round/>
                      <a:headEnd type="none" w="med" len="med"/>
                      <a:tailEnd type="none" w="med" len="med"/>
                    </a:lnL>
                    <a:lnR w="7620" cap="flat" cmpd="sng" algn="ctr">
                      <a:solidFill>
                        <a:srgbClr val="C9C9C9"/>
                      </a:solidFill>
                      <a:prstDash val="solid"/>
                      <a:round/>
                      <a:headEnd type="none" w="med" len="med"/>
                      <a:tailEnd type="none" w="med" len="med"/>
                    </a:lnR>
                    <a:lnT w="7620" cap="flat" cmpd="sng" algn="ctr">
                      <a:solidFill>
                        <a:srgbClr val="C9C9C9"/>
                      </a:solidFill>
                      <a:prstDash val="solid"/>
                      <a:round/>
                      <a:headEnd type="none" w="med" len="med"/>
                      <a:tailEnd type="none" w="med" len="med"/>
                    </a:lnT>
                    <a:lnB w="7620" cap="flat" cmpd="sng" algn="ctr">
                      <a:solidFill>
                        <a:srgbClr val="C9C9C9"/>
                      </a:solidFill>
                      <a:prstDash val="solid"/>
                      <a:round/>
                      <a:headEnd type="none" w="med" len="med"/>
                      <a:tailEnd type="none" w="med" len="med"/>
                    </a:lnB>
                  </a:tcPr>
                </a:tc>
                <a:extLst>
                  <a:ext uri="{0D108BD9-81ED-4DB2-BD59-A6C34878D82A}">
                    <a16:rowId xmlns:a16="http://schemas.microsoft.com/office/drawing/2014/main" val="2333352973"/>
                  </a:ext>
                </a:extLst>
              </a:tr>
              <a:tr h="799378">
                <a:tc>
                  <a:txBody>
                    <a:bodyPr/>
                    <a:lstStyle/>
                    <a:p>
                      <a:pPr algn="l" fontAlgn="t"/>
                      <a:r>
                        <a:rPr lang="en-US" sz="2000" dirty="0">
                          <a:solidFill>
                            <a:srgbClr val="333333"/>
                          </a:solidFill>
                          <a:effectLst/>
                          <a:latin typeface="+mn-lt"/>
                        </a:rPr>
                        <a:t>Prolactin</a:t>
                      </a:r>
                    </a:p>
                  </a:txBody>
                  <a:tcPr marL="45326" marR="45326" marT="22663" marB="22663">
                    <a:lnL w="7620" cap="flat" cmpd="sng" algn="ctr">
                      <a:solidFill>
                        <a:srgbClr val="C9C9C9"/>
                      </a:solidFill>
                      <a:prstDash val="solid"/>
                      <a:round/>
                      <a:headEnd type="none" w="med" len="med"/>
                      <a:tailEnd type="none" w="med" len="med"/>
                    </a:lnL>
                    <a:lnR w="7620" cap="flat" cmpd="sng" algn="ctr">
                      <a:solidFill>
                        <a:srgbClr val="C9C9C9"/>
                      </a:solidFill>
                      <a:prstDash val="solid"/>
                      <a:round/>
                      <a:headEnd type="none" w="med" len="med"/>
                      <a:tailEnd type="none" w="med" len="med"/>
                    </a:lnR>
                    <a:lnT w="7620" cap="flat" cmpd="sng" algn="ctr">
                      <a:solidFill>
                        <a:srgbClr val="C9C9C9"/>
                      </a:solidFill>
                      <a:prstDash val="solid"/>
                      <a:round/>
                      <a:headEnd type="none" w="med" len="med"/>
                      <a:tailEnd type="none" w="med" len="med"/>
                    </a:lnT>
                    <a:lnB w="7620" cap="flat" cmpd="sng" algn="ctr">
                      <a:solidFill>
                        <a:srgbClr val="C9C9C9"/>
                      </a:solidFill>
                      <a:prstDash val="solid"/>
                      <a:round/>
                      <a:headEnd type="none" w="med" len="med"/>
                      <a:tailEnd type="none" w="med" len="med"/>
                    </a:lnB>
                  </a:tcPr>
                </a:tc>
                <a:tc>
                  <a:txBody>
                    <a:bodyPr/>
                    <a:lstStyle/>
                    <a:p>
                      <a:pPr algn="l" fontAlgn="t">
                        <a:buFont typeface="Arial" panose="020B0604020202020204" pitchFamily="34" charset="0"/>
                        <a:buChar char="•"/>
                      </a:pPr>
                      <a:r>
                        <a:rPr lang="en-US" sz="2000">
                          <a:solidFill>
                            <a:srgbClr val="333333"/>
                          </a:solidFill>
                          <a:effectLst/>
                          <a:latin typeface="+mn-lt"/>
                        </a:rPr>
                        <a:t>Required in lactation for mammary growth, initiation of milk secretion, and maintenance of milk production</a:t>
                      </a:r>
                    </a:p>
                  </a:txBody>
                  <a:tcPr marL="45326" marR="45326" marT="22663" marB="22663">
                    <a:lnL w="7620" cap="flat" cmpd="sng" algn="ctr">
                      <a:solidFill>
                        <a:srgbClr val="C9C9C9"/>
                      </a:solidFill>
                      <a:prstDash val="solid"/>
                      <a:round/>
                      <a:headEnd type="none" w="med" len="med"/>
                      <a:tailEnd type="none" w="med" len="med"/>
                    </a:lnL>
                    <a:lnR w="7620" cap="flat" cmpd="sng" algn="ctr">
                      <a:solidFill>
                        <a:srgbClr val="C9C9C9"/>
                      </a:solidFill>
                      <a:prstDash val="solid"/>
                      <a:round/>
                      <a:headEnd type="none" w="med" len="med"/>
                      <a:tailEnd type="none" w="med" len="med"/>
                    </a:lnR>
                    <a:lnT w="7620" cap="flat" cmpd="sng" algn="ctr">
                      <a:solidFill>
                        <a:srgbClr val="C9C9C9"/>
                      </a:solidFill>
                      <a:prstDash val="solid"/>
                      <a:round/>
                      <a:headEnd type="none" w="med" len="med"/>
                      <a:tailEnd type="none" w="med" len="med"/>
                    </a:lnT>
                    <a:lnB w="7620" cap="flat" cmpd="sng" algn="ctr">
                      <a:solidFill>
                        <a:srgbClr val="C9C9C9"/>
                      </a:solidFill>
                      <a:prstDash val="solid"/>
                      <a:round/>
                      <a:headEnd type="none" w="med" len="med"/>
                      <a:tailEnd type="none" w="med" len="med"/>
                    </a:lnB>
                  </a:tcPr>
                </a:tc>
                <a:extLst>
                  <a:ext uri="{0D108BD9-81ED-4DB2-BD59-A6C34878D82A}">
                    <a16:rowId xmlns:a16="http://schemas.microsoft.com/office/drawing/2014/main" val="4293838069"/>
                  </a:ext>
                </a:extLst>
              </a:tr>
              <a:tr h="543489">
                <a:tc>
                  <a:txBody>
                    <a:bodyPr/>
                    <a:lstStyle/>
                    <a:p>
                      <a:pPr algn="l" fontAlgn="t"/>
                      <a:r>
                        <a:rPr lang="en-US" sz="2000" dirty="0">
                          <a:solidFill>
                            <a:srgbClr val="333333"/>
                          </a:solidFill>
                          <a:effectLst/>
                          <a:latin typeface="+mn-lt"/>
                        </a:rPr>
                        <a:t>TSH</a:t>
                      </a:r>
                    </a:p>
                  </a:txBody>
                  <a:tcPr marL="45326" marR="45326" marT="22663" marB="22663">
                    <a:lnL w="7620" cap="flat" cmpd="sng" algn="ctr">
                      <a:solidFill>
                        <a:srgbClr val="C9C9C9"/>
                      </a:solidFill>
                      <a:prstDash val="solid"/>
                      <a:round/>
                      <a:headEnd type="none" w="med" len="med"/>
                      <a:tailEnd type="none" w="med" len="med"/>
                    </a:lnL>
                    <a:lnR w="7620" cap="flat" cmpd="sng" algn="ctr">
                      <a:solidFill>
                        <a:srgbClr val="C9C9C9"/>
                      </a:solidFill>
                      <a:prstDash val="solid"/>
                      <a:round/>
                      <a:headEnd type="none" w="med" len="med"/>
                      <a:tailEnd type="none" w="med" len="med"/>
                    </a:lnR>
                    <a:lnT w="7620" cap="flat" cmpd="sng" algn="ctr">
                      <a:solidFill>
                        <a:srgbClr val="C9C9C9"/>
                      </a:solidFill>
                      <a:prstDash val="solid"/>
                      <a:round/>
                      <a:headEnd type="none" w="med" len="med"/>
                      <a:tailEnd type="none" w="med" len="med"/>
                    </a:lnT>
                    <a:lnB w="7620" cap="flat" cmpd="sng" algn="ctr">
                      <a:solidFill>
                        <a:srgbClr val="C9C9C9"/>
                      </a:solidFill>
                      <a:prstDash val="solid"/>
                      <a:round/>
                      <a:headEnd type="none" w="med" len="med"/>
                      <a:tailEnd type="none" w="med" len="med"/>
                    </a:lnB>
                  </a:tcPr>
                </a:tc>
                <a:tc>
                  <a:txBody>
                    <a:bodyPr/>
                    <a:lstStyle/>
                    <a:p>
                      <a:pPr algn="l" fontAlgn="t">
                        <a:buFont typeface="Arial" panose="020B0604020202020204" pitchFamily="34" charset="0"/>
                        <a:buChar char="•"/>
                      </a:pPr>
                      <a:r>
                        <a:rPr lang="en-US" sz="2000" dirty="0">
                          <a:solidFill>
                            <a:srgbClr val="333333"/>
                          </a:solidFill>
                          <a:effectLst/>
                          <a:latin typeface="+mn-lt"/>
                        </a:rPr>
                        <a:t>Stimulates synthesis and secretion of thyroid hormones</a:t>
                      </a:r>
                    </a:p>
                  </a:txBody>
                  <a:tcPr marL="45326" marR="45326" marT="22663" marB="22663">
                    <a:lnL w="7620" cap="flat" cmpd="sng" algn="ctr">
                      <a:solidFill>
                        <a:srgbClr val="C9C9C9"/>
                      </a:solidFill>
                      <a:prstDash val="solid"/>
                      <a:round/>
                      <a:headEnd type="none" w="med" len="med"/>
                      <a:tailEnd type="none" w="med" len="med"/>
                    </a:lnL>
                    <a:lnR w="7620" cap="flat" cmpd="sng" algn="ctr">
                      <a:solidFill>
                        <a:srgbClr val="C9C9C9"/>
                      </a:solidFill>
                      <a:prstDash val="solid"/>
                      <a:round/>
                      <a:headEnd type="none" w="med" len="med"/>
                      <a:tailEnd type="none" w="med" len="med"/>
                    </a:lnR>
                    <a:lnT w="7620" cap="flat" cmpd="sng" algn="ctr">
                      <a:solidFill>
                        <a:srgbClr val="C9C9C9"/>
                      </a:solidFill>
                      <a:prstDash val="solid"/>
                      <a:round/>
                      <a:headEnd type="none" w="med" len="med"/>
                      <a:tailEnd type="none" w="med" len="med"/>
                    </a:lnT>
                    <a:lnB w="7620" cap="flat" cmpd="sng" algn="ctr">
                      <a:solidFill>
                        <a:srgbClr val="C9C9C9"/>
                      </a:solidFill>
                      <a:prstDash val="solid"/>
                      <a:round/>
                      <a:headEnd type="none" w="med" len="med"/>
                      <a:tailEnd type="none" w="med" len="med"/>
                    </a:lnB>
                  </a:tcPr>
                </a:tc>
                <a:extLst>
                  <a:ext uri="{0D108BD9-81ED-4DB2-BD59-A6C34878D82A}">
                    <a16:rowId xmlns:a16="http://schemas.microsoft.com/office/drawing/2014/main" val="89237848"/>
                  </a:ext>
                </a:extLst>
              </a:tr>
            </a:tbl>
          </a:graphicData>
        </a:graphic>
      </p:graphicFrame>
    </p:spTree>
    <p:extLst>
      <p:ext uri="{BB962C8B-B14F-4D97-AF65-F5344CB8AC3E}">
        <p14:creationId xmlns:p14="http://schemas.microsoft.com/office/powerpoint/2010/main" val="243592582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58" name="Rectangle 1057">
            <a:extLst>
              <a:ext uri="{FF2B5EF4-FFF2-40B4-BE49-F238E27FC236}">
                <a16:creationId xmlns:a16="http://schemas.microsoft.com/office/drawing/2014/main" id="{E45CA849-654C-4173-AD99-B3A2528275F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14B2F4F-9AF2-4EC1-89EB-C8929959DE73}"/>
              </a:ext>
            </a:extLst>
          </p:cNvPr>
          <p:cNvSpPr>
            <a:spLocks noGrp="1"/>
          </p:cNvSpPr>
          <p:nvPr>
            <p:ph type="title"/>
          </p:nvPr>
        </p:nvSpPr>
        <p:spPr>
          <a:xfrm>
            <a:off x="429768" y="411480"/>
            <a:ext cx="11201400" cy="1106424"/>
          </a:xfrm>
        </p:spPr>
        <p:txBody>
          <a:bodyPr>
            <a:normAutofit/>
          </a:bodyPr>
          <a:lstStyle/>
          <a:p>
            <a:r>
              <a:rPr lang="en-US" sz="4800"/>
              <a:t>Anatomy and Physiology Review </a:t>
            </a:r>
          </a:p>
        </p:txBody>
      </p:sp>
      <p:sp>
        <p:nvSpPr>
          <p:cNvPr id="1060" name="Rectangle 1059">
            <a:extLst>
              <a:ext uri="{FF2B5EF4-FFF2-40B4-BE49-F238E27FC236}">
                <a16:creationId xmlns:a16="http://schemas.microsoft.com/office/drawing/2014/main" id="{3E23A947-2D45-4208-AE2B-64948C87A3E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587931"/>
            <a:ext cx="128016"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062" name="Rectangle 1061">
            <a:extLst>
              <a:ext uri="{FF2B5EF4-FFF2-40B4-BE49-F238E27FC236}">
                <a16:creationId xmlns:a16="http://schemas.microsoft.com/office/drawing/2014/main" id="{E5BBB0F9-6A59-4D02-A9C7-A2D6516684C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543801" y="1721922"/>
            <a:ext cx="4218432" cy="4520560"/>
          </a:xfrm>
          <a:prstGeom prst="rect">
            <a:avLst/>
          </a:prstGeom>
          <a:ln w="9525">
            <a:solidFill>
              <a:srgbClr val="E1E1E1"/>
            </a:solidFill>
          </a:ln>
          <a:effectLst>
            <a:outerShdw blurRad="50800" dist="38100" dir="2700000" algn="t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 name="Content Placeholder 2">
            <a:extLst>
              <a:ext uri="{FF2B5EF4-FFF2-40B4-BE49-F238E27FC236}">
                <a16:creationId xmlns:a16="http://schemas.microsoft.com/office/drawing/2014/main" id="{5F0AC95B-CB46-423E-8BC7-05A39036B045}"/>
              </a:ext>
            </a:extLst>
          </p:cNvPr>
          <p:cNvSpPr>
            <a:spLocks noGrp="1"/>
          </p:cNvSpPr>
          <p:nvPr>
            <p:ph idx="1"/>
          </p:nvPr>
        </p:nvSpPr>
        <p:spPr>
          <a:xfrm>
            <a:off x="429767" y="1658631"/>
            <a:ext cx="7929041" cy="5199369"/>
          </a:xfrm>
          <a:solidFill>
            <a:schemeClr val="bg1"/>
          </a:solidFill>
        </p:spPr>
        <p:txBody>
          <a:bodyPr anchor="t">
            <a:normAutofit/>
          </a:body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US" sz="3600" b="0" i="0" u="none" strike="noStrike" kern="1200" cap="none" spc="0" normalizeH="0" baseline="0" noProof="0" dirty="0">
                <a:ln>
                  <a:noFill/>
                </a:ln>
                <a:solidFill>
                  <a:prstClr val="black"/>
                </a:solidFill>
                <a:effectLst/>
                <a:uLnTx/>
                <a:uFillTx/>
                <a:latin typeface="Calibri" panose="020F0502020204030204"/>
                <a:ea typeface="+mn-ea"/>
                <a:cs typeface="+mn-cs"/>
              </a:rPr>
              <a:t>The </a:t>
            </a:r>
            <a:r>
              <a:rPr kumimoji="0" lang="en-US" sz="3600" b="1" i="0" u="none" strike="noStrike" kern="1200" cap="none" spc="0" normalizeH="0" baseline="0" noProof="0" dirty="0">
                <a:ln>
                  <a:noFill/>
                </a:ln>
                <a:solidFill>
                  <a:prstClr val="black"/>
                </a:solidFill>
                <a:effectLst/>
                <a:uLnTx/>
                <a:uFillTx/>
                <a:latin typeface="Calibri" panose="020F0502020204030204"/>
                <a:ea typeface="+mn-ea"/>
                <a:cs typeface="+mn-cs"/>
              </a:rPr>
              <a:t>posterior pituitary gland (neurohypophysis) </a:t>
            </a:r>
            <a:r>
              <a:rPr kumimoji="0" lang="en-US" sz="3600" b="0" i="0" u="none" strike="noStrike" kern="1200" cap="none" spc="0" normalizeH="0" baseline="0" noProof="0" dirty="0">
                <a:ln>
                  <a:noFill/>
                </a:ln>
                <a:solidFill>
                  <a:prstClr val="black"/>
                </a:solidFill>
                <a:effectLst/>
                <a:uLnTx/>
                <a:uFillTx/>
                <a:latin typeface="Calibri" panose="020F0502020204030204"/>
                <a:ea typeface="+mn-ea"/>
                <a:cs typeface="+mn-cs"/>
              </a:rPr>
              <a:t>transmits two hormones: </a:t>
            </a:r>
          </a:p>
          <a:p>
            <a:pPr marL="914400" marR="0" lvl="1" indent="-457200" algn="l" defTabSz="914400" rtl="0" eaLnBrk="1" fontAlgn="auto" latinLnBrk="0" hangingPunct="1">
              <a:lnSpc>
                <a:spcPct val="90000"/>
              </a:lnSpc>
              <a:spcBef>
                <a:spcPts val="500"/>
              </a:spcBef>
              <a:spcAft>
                <a:spcPts val="0"/>
              </a:spcAft>
              <a:buClrTx/>
              <a:buSzTx/>
              <a:buFont typeface="Arial" panose="020B0604020202020204" pitchFamily="34" charset="0"/>
              <a:buAutoNum type="arabicPeriod"/>
              <a:tabLst/>
              <a:defRPr/>
            </a:pPr>
            <a:r>
              <a:rPr kumimoji="0" lang="en-US" sz="3600" b="0" i="1" u="none" strike="noStrike" kern="1200" cap="none" spc="0" normalizeH="0" baseline="0" noProof="0" dirty="0">
                <a:ln>
                  <a:noFill/>
                </a:ln>
                <a:solidFill>
                  <a:prstClr val="black"/>
                </a:solidFill>
                <a:effectLst/>
                <a:uLnTx/>
                <a:uFillTx/>
                <a:latin typeface="Calibri" panose="020F0502020204030204"/>
                <a:ea typeface="+mn-ea"/>
                <a:cs typeface="+mn-cs"/>
              </a:rPr>
              <a:t>Vasopressin (Antidiuretic hormone/ADH): </a:t>
            </a:r>
            <a:r>
              <a:rPr kumimoji="0" lang="en-US" sz="3200" b="0" u="none" strike="noStrike" kern="1200" cap="none" spc="0" normalizeH="0" baseline="0" noProof="0" dirty="0">
                <a:ln>
                  <a:noFill/>
                </a:ln>
                <a:solidFill>
                  <a:prstClr val="black"/>
                </a:solidFill>
                <a:effectLst/>
                <a:uLnTx/>
                <a:uFillTx/>
                <a:latin typeface="Calibri" panose="020F0502020204030204"/>
                <a:ea typeface="+mn-ea"/>
                <a:cs typeface="+mn-cs"/>
              </a:rPr>
              <a:t>Ac</a:t>
            </a:r>
            <a:r>
              <a:rPr kumimoji="0" lang="en-US" sz="3200" b="0" i="0" u="none" strike="noStrike" kern="1200" cap="none" spc="0" normalizeH="0" baseline="0" noProof="0" dirty="0">
                <a:ln>
                  <a:noFill/>
                </a:ln>
                <a:solidFill>
                  <a:prstClr val="black"/>
                </a:solidFill>
                <a:effectLst/>
                <a:uLnTx/>
                <a:uFillTx/>
                <a:latin typeface="Calibri" panose="020F0502020204030204"/>
                <a:ea typeface="+mn-ea"/>
                <a:cs typeface="+mn-cs"/>
              </a:rPr>
              <a:t>ts on renal tubules to reduce water loss and concentrate</a:t>
            </a:r>
            <a:r>
              <a:rPr lang="en-US" sz="3200" dirty="0">
                <a:solidFill>
                  <a:prstClr val="black"/>
                </a:solidFill>
                <a:latin typeface="Calibri" panose="020F0502020204030204"/>
              </a:rPr>
              <a:t> </a:t>
            </a:r>
            <a:r>
              <a:rPr kumimoji="0" lang="en-US" sz="3200" b="0" i="0" u="none" strike="noStrike" kern="1200" cap="none" spc="0" normalizeH="0" baseline="0" noProof="0" dirty="0">
                <a:ln>
                  <a:noFill/>
                </a:ln>
                <a:solidFill>
                  <a:prstClr val="black"/>
                </a:solidFill>
                <a:effectLst/>
                <a:uLnTx/>
                <a:uFillTx/>
                <a:latin typeface="Calibri" panose="020F0502020204030204"/>
                <a:ea typeface="+mn-ea"/>
                <a:cs typeface="+mn-cs"/>
              </a:rPr>
              <a:t>urine </a:t>
            </a:r>
            <a:endPar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914400" marR="0" lvl="1" indent="-457200" algn="l" defTabSz="914400" rtl="0" eaLnBrk="1" fontAlgn="auto" latinLnBrk="0" hangingPunct="1">
              <a:lnSpc>
                <a:spcPct val="90000"/>
              </a:lnSpc>
              <a:spcBef>
                <a:spcPts val="500"/>
              </a:spcBef>
              <a:spcAft>
                <a:spcPts val="0"/>
              </a:spcAft>
              <a:buClrTx/>
              <a:buSzTx/>
              <a:buFont typeface="Arial" panose="020B0604020202020204" pitchFamily="34" charset="0"/>
              <a:buAutoNum type="arabicPeriod"/>
              <a:tabLst/>
              <a:defRPr/>
            </a:pPr>
            <a:r>
              <a:rPr kumimoji="0" lang="en-US" sz="3600" b="0" i="1" u="none" strike="noStrike" kern="1200" cap="none" spc="0" normalizeH="0" baseline="0" noProof="0" dirty="0">
                <a:ln>
                  <a:noFill/>
                </a:ln>
                <a:solidFill>
                  <a:prstClr val="black"/>
                </a:solidFill>
                <a:effectLst/>
                <a:uLnTx/>
                <a:uFillTx/>
                <a:latin typeface="Calibri" panose="020F0502020204030204"/>
                <a:ea typeface="+mn-ea"/>
                <a:cs typeface="+mn-cs"/>
              </a:rPr>
              <a:t>Oxytocin</a:t>
            </a:r>
            <a:r>
              <a:rPr lang="en-US" sz="3600" dirty="0">
                <a:solidFill>
                  <a:prstClr val="black"/>
                </a:solidFill>
                <a:latin typeface="Calibri" panose="020F0502020204030204"/>
              </a:rPr>
              <a:t>: </a:t>
            </a:r>
            <a:r>
              <a:rPr lang="en-US" sz="3200" dirty="0">
                <a:solidFill>
                  <a:prstClr val="black"/>
                </a:solidFill>
                <a:latin typeface="Calibri" panose="020F0502020204030204"/>
              </a:rPr>
              <a:t>Stimulates</a:t>
            </a:r>
            <a:r>
              <a:rPr kumimoji="0" lang="en-US" sz="3200" b="0" i="0" u="none" strike="noStrike" kern="1200" cap="none" spc="0" normalizeH="0" baseline="0" noProof="0" dirty="0">
                <a:ln>
                  <a:noFill/>
                </a:ln>
                <a:solidFill>
                  <a:prstClr val="black"/>
                </a:solidFill>
                <a:effectLst/>
                <a:uLnTx/>
                <a:uFillTx/>
                <a:latin typeface="Calibri" panose="020F0502020204030204"/>
                <a:ea typeface="+mn-ea"/>
                <a:cs typeface="+mn-cs"/>
              </a:rPr>
              <a:t> milk letdown in response to suckling during</a:t>
            </a:r>
            <a:r>
              <a:rPr lang="en-US" sz="3200" dirty="0">
                <a:solidFill>
                  <a:prstClr val="black"/>
                </a:solidFill>
                <a:latin typeface="Calibri" panose="020F0502020204030204"/>
              </a:rPr>
              <a:t> </a:t>
            </a:r>
            <a:r>
              <a:rPr kumimoji="0" lang="en-US" sz="3200" b="0" i="0" u="none" strike="noStrike" kern="1200" cap="none" spc="0" normalizeH="0" baseline="0" noProof="0" dirty="0">
                <a:ln>
                  <a:noFill/>
                </a:ln>
                <a:solidFill>
                  <a:prstClr val="black"/>
                </a:solidFill>
                <a:effectLst/>
                <a:uLnTx/>
                <a:uFillTx/>
                <a:latin typeface="Calibri" panose="020F0502020204030204"/>
                <a:ea typeface="+mn-ea"/>
                <a:cs typeface="+mn-cs"/>
              </a:rPr>
              <a:t>nursing</a:t>
            </a:r>
          </a:p>
          <a:p>
            <a:endParaRPr lang="en-US" sz="1800" dirty="0"/>
          </a:p>
        </p:txBody>
      </p:sp>
      <p:pic>
        <p:nvPicPr>
          <p:cNvPr id="4" name="Picture 3">
            <a:extLst>
              <a:ext uri="{FF2B5EF4-FFF2-40B4-BE49-F238E27FC236}">
                <a16:creationId xmlns:a16="http://schemas.microsoft.com/office/drawing/2014/main" id="{C541F5EC-F038-0935-6826-06FF9049DF36}"/>
              </a:ext>
            </a:extLst>
          </p:cNvPr>
          <p:cNvPicPr>
            <a:picLocks noChangeAspect="1"/>
          </p:cNvPicPr>
          <p:nvPr/>
        </p:nvPicPr>
        <p:blipFill>
          <a:blip r:embed="rId3"/>
          <a:stretch>
            <a:fillRect/>
          </a:stretch>
        </p:blipFill>
        <p:spPr>
          <a:xfrm>
            <a:off x="8515338" y="1721922"/>
            <a:ext cx="3246895" cy="4583851"/>
          </a:xfrm>
          <a:prstGeom prst="rect">
            <a:avLst/>
          </a:prstGeom>
        </p:spPr>
      </p:pic>
    </p:spTree>
    <p:extLst>
      <p:ext uri="{BB962C8B-B14F-4D97-AF65-F5344CB8AC3E}">
        <p14:creationId xmlns:p14="http://schemas.microsoft.com/office/powerpoint/2010/main" val="388040369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58" name="Rectangle 1057">
            <a:extLst>
              <a:ext uri="{FF2B5EF4-FFF2-40B4-BE49-F238E27FC236}">
                <a16:creationId xmlns:a16="http://schemas.microsoft.com/office/drawing/2014/main" id="{E45CA849-654C-4173-AD99-B3A2528275F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60" name="Rectangle 1059">
            <a:extLst>
              <a:ext uri="{FF2B5EF4-FFF2-40B4-BE49-F238E27FC236}">
                <a16:creationId xmlns:a16="http://schemas.microsoft.com/office/drawing/2014/main" id="{3E23A947-2D45-4208-AE2B-64948C87A3E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587931"/>
            <a:ext cx="128016"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062" name="Rectangle 1061">
            <a:extLst>
              <a:ext uri="{FF2B5EF4-FFF2-40B4-BE49-F238E27FC236}">
                <a16:creationId xmlns:a16="http://schemas.microsoft.com/office/drawing/2014/main" id="{E5BBB0F9-6A59-4D02-A9C7-A2D6516684C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543801" y="1721922"/>
            <a:ext cx="4218432" cy="4520560"/>
          </a:xfrm>
          <a:prstGeom prst="rect">
            <a:avLst/>
          </a:prstGeom>
          <a:ln w="9525">
            <a:solidFill>
              <a:srgbClr val="E1E1E1"/>
            </a:solidFill>
          </a:ln>
          <a:effectLst>
            <a:outerShdw blurRad="50800" dist="38100" dir="2700000" algn="t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 name="Content Placeholder 2">
            <a:extLst>
              <a:ext uri="{FF2B5EF4-FFF2-40B4-BE49-F238E27FC236}">
                <a16:creationId xmlns:a16="http://schemas.microsoft.com/office/drawing/2014/main" id="{5F0AC95B-CB46-423E-8BC7-05A39036B045}"/>
              </a:ext>
            </a:extLst>
          </p:cNvPr>
          <p:cNvSpPr>
            <a:spLocks noGrp="1"/>
          </p:cNvSpPr>
          <p:nvPr>
            <p:ph idx="1"/>
          </p:nvPr>
        </p:nvSpPr>
        <p:spPr>
          <a:xfrm>
            <a:off x="465633" y="1558913"/>
            <a:ext cx="11573967" cy="5258078"/>
          </a:xfrm>
          <a:solidFill>
            <a:schemeClr val="bg1"/>
          </a:solidFill>
        </p:spPr>
        <p:txBody>
          <a:bodyPr anchor="t">
            <a:normAutofit/>
          </a:body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US" sz="3600" b="0" i="0" u="none" strike="noStrike" kern="1200" cap="none" spc="0" normalizeH="0" baseline="0" noProof="0" dirty="0">
                <a:ln>
                  <a:noFill/>
                </a:ln>
                <a:solidFill>
                  <a:prstClr val="black"/>
                </a:solidFill>
                <a:effectLst/>
                <a:uLnTx/>
                <a:uFillTx/>
                <a:latin typeface="Calibri" panose="020F0502020204030204"/>
                <a:ea typeface="+mn-ea"/>
                <a:cs typeface="+mn-cs"/>
              </a:rPr>
              <a:t>The hypothalamus and pituitary gland form a unit that exerts control over </a:t>
            </a:r>
            <a:r>
              <a:rPr kumimoji="0" lang="en-US" sz="3600" b="1" i="0" u="none" strike="noStrike" kern="1200" cap="none" spc="0" normalizeH="0" baseline="0" noProof="0" dirty="0">
                <a:ln>
                  <a:noFill/>
                </a:ln>
                <a:solidFill>
                  <a:prstClr val="black"/>
                </a:solidFill>
                <a:effectLst/>
                <a:uLnTx/>
                <a:uFillTx/>
                <a:latin typeface="Calibri" panose="020F0502020204030204"/>
                <a:ea typeface="+mn-ea"/>
                <a:cs typeface="+mn-cs"/>
              </a:rPr>
              <a:t>target glands</a:t>
            </a:r>
            <a:r>
              <a:rPr kumimoji="0" lang="en-US" sz="3600" b="0" i="0" u="none" strike="noStrike" kern="1200" cap="none" spc="0" normalizeH="0" baseline="0" noProof="0" dirty="0">
                <a:ln>
                  <a:noFill/>
                </a:ln>
                <a:solidFill>
                  <a:prstClr val="black"/>
                </a:solidFill>
                <a:effectLst/>
                <a:uLnTx/>
                <a:uFillTx/>
                <a:latin typeface="Calibri" panose="020F0502020204030204"/>
                <a:ea typeface="+mn-ea"/>
                <a:cs typeface="+mn-cs"/>
              </a:rPr>
              <a:t>:</a:t>
            </a:r>
          </a:p>
          <a:p>
            <a:pPr marL="457200" marR="0" lvl="1" indent="0" algn="l" defTabSz="914400" rtl="0" eaLnBrk="1" fontAlgn="auto" latinLnBrk="0" hangingPunct="1">
              <a:lnSpc>
                <a:spcPct val="90000"/>
              </a:lnSpc>
              <a:spcBef>
                <a:spcPts val="500"/>
              </a:spcBef>
              <a:spcAft>
                <a:spcPts val="0"/>
              </a:spcAft>
              <a:buClrTx/>
              <a:buSzTx/>
              <a:buFont typeface="Arial" panose="020B0604020202020204" pitchFamily="34" charset="0"/>
              <a:buNone/>
              <a:tabLst/>
              <a:defRPr/>
            </a:pPr>
            <a:r>
              <a:rPr kumimoji="0" lang="en-US" sz="3600" b="0" i="1" u="none" strike="noStrike" kern="1200" cap="none" spc="0" normalizeH="0" baseline="0" noProof="0" dirty="0">
                <a:ln>
                  <a:noFill/>
                </a:ln>
                <a:solidFill>
                  <a:prstClr val="black"/>
                </a:solidFill>
                <a:effectLst/>
                <a:uLnTx/>
                <a:uFillTx/>
                <a:latin typeface="Calibri" panose="020F0502020204030204"/>
                <a:ea typeface="+mn-ea"/>
                <a:cs typeface="+mn-cs"/>
              </a:rPr>
              <a:t>1. Adrenal glands (HPA Axis) </a:t>
            </a:r>
          </a:p>
          <a:p>
            <a:pPr marL="457200" marR="0" lvl="1" indent="0" algn="l" defTabSz="914400" rtl="0" eaLnBrk="1" fontAlgn="auto" latinLnBrk="0" hangingPunct="1">
              <a:lnSpc>
                <a:spcPct val="90000"/>
              </a:lnSpc>
              <a:spcBef>
                <a:spcPts val="500"/>
              </a:spcBef>
              <a:spcAft>
                <a:spcPts val="0"/>
              </a:spcAft>
              <a:buClrTx/>
              <a:buSzTx/>
              <a:buFont typeface="Arial" panose="020B0604020202020204" pitchFamily="34" charset="0"/>
              <a:buNone/>
              <a:tabLst/>
              <a:defRPr/>
            </a:pPr>
            <a:r>
              <a:rPr kumimoji="0" lang="en-US" sz="3600" b="0" i="1" u="none" strike="noStrike" kern="1200" cap="none" spc="0" normalizeH="0" baseline="0" noProof="0" dirty="0">
                <a:ln>
                  <a:noFill/>
                </a:ln>
                <a:solidFill>
                  <a:prstClr val="black"/>
                </a:solidFill>
                <a:effectLst/>
                <a:uLnTx/>
                <a:uFillTx/>
                <a:latin typeface="Calibri" panose="020F0502020204030204"/>
                <a:ea typeface="+mn-ea"/>
                <a:cs typeface="+mn-cs"/>
              </a:rPr>
              <a:t>2. Thyroid gland (HPT Axis)</a:t>
            </a:r>
          </a:p>
          <a:p>
            <a:pPr marL="457200" marR="0" lvl="1" indent="0" algn="l" defTabSz="914400" rtl="0" eaLnBrk="1" fontAlgn="auto" latinLnBrk="0" hangingPunct="1">
              <a:lnSpc>
                <a:spcPct val="90000"/>
              </a:lnSpc>
              <a:spcBef>
                <a:spcPts val="500"/>
              </a:spcBef>
              <a:spcAft>
                <a:spcPts val="0"/>
              </a:spcAft>
              <a:buClrTx/>
              <a:buSzTx/>
              <a:buFont typeface="Arial" panose="020B0604020202020204" pitchFamily="34" charset="0"/>
              <a:buNone/>
              <a:tabLst/>
              <a:defRPr/>
            </a:pPr>
            <a:r>
              <a:rPr kumimoji="0" lang="en-US" sz="3600" b="0" i="1" u="none" strike="noStrike" kern="1200" cap="none" spc="0" normalizeH="0" baseline="0" noProof="0" dirty="0">
                <a:ln>
                  <a:noFill/>
                </a:ln>
                <a:solidFill>
                  <a:prstClr val="black"/>
                </a:solidFill>
                <a:effectLst/>
                <a:uLnTx/>
                <a:uFillTx/>
                <a:latin typeface="Calibri" panose="020F0502020204030204"/>
                <a:ea typeface="+mn-ea"/>
                <a:cs typeface="+mn-cs"/>
              </a:rPr>
              <a:t>3. Gonads (HPG Axis) </a:t>
            </a:r>
          </a:p>
          <a:p>
            <a:pPr marL="457200" marR="0" lvl="1" indent="0" algn="l" defTabSz="914400" rtl="0" eaLnBrk="1" fontAlgn="auto" latinLnBrk="0" hangingPunct="1">
              <a:lnSpc>
                <a:spcPct val="90000"/>
              </a:lnSpc>
              <a:spcBef>
                <a:spcPts val="500"/>
              </a:spcBef>
              <a:spcAft>
                <a:spcPts val="0"/>
              </a:spcAft>
              <a:buClrTx/>
              <a:buSzTx/>
              <a:buFont typeface="Arial" panose="020B0604020202020204" pitchFamily="34" charset="0"/>
              <a:buNone/>
              <a:tabLst/>
              <a:defRPr/>
            </a:pPr>
            <a:r>
              <a:rPr kumimoji="0" lang="en-US" sz="3600" b="0" i="1" u="none" strike="noStrike" kern="1200" cap="none" spc="0" normalizeH="0" baseline="0" noProof="0" dirty="0">
                <a:ln>
                  <a:noFill/>
                </a:ln>
                <a:solidFill>
                  <a:prstClr val="black"/>
                </a:solidFill>
                <a:effectLst/>
                <a:uLnTx/>
                <a:uFillTx/>
                <a:latin typeface="Calibri" panose="020F0502020204030204"/>
                <a:ea typeface="+mn-ea"/>
                <a:cs typeface="+mn-cs"/>
              </a:rPr>
              <a:t>4. Liver (HPS (GH) Axis) </a:t>
            </a: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US" sz="3600" b="0" i="0" u="none" strike="noStrike" kern="1200" cap="none" spc="0" normalizeH="0" baseline="0" noProof="0" dirty="0">
                <a:ln>
                  <a:noFill/>
                </a:ln>
                <a:solidFill>
                  <a:prstClr val="black"/>
                </a:solidFill>
                <a:effectLst/>
                <a:uLnTx/>
                <a:uFillTx/>
                <a:latin typeface="Calibri" panose="020F0502020204030204"/>
                <a:ea typeface="+mn-ea"/>
                <a:cs typeface="+mn-cs"/>
              </a:rPr>
              <a:t>The fundamental feature in these units is </a:t>
            </a:r>
            <a:r>
              <a:rPr kumimoji="0" lang="en-US" sz="3600" b="1" i="0" u="none" strike="noStrike" kern="1200" cap="none" spc="0" normalizeH="0" baseline="0" noProof="0" dirty="0">
                <a:ln>
                  <a:noFill/>
                </a:ln>
                <a:solidFill>
                  <a:prstClr val="black"/>
                </a:solidFill>
                <a:effectLst/>
                <a:uLnTx/>
                <a:uFillTx/>
                <a:latin typeface="Calibri" panose="020F0502020204030204"/>
                <a:ea typeface="+mn-ea"/>
                <a:cs typeface="+mn-cs"/>
              </a:rPr>
              <a:t>feedback control</a:t>
            </a:r>
          </a:p>
          <a:p>
            <a:pPr lvl="1">
              <a:spcBef>
                <a:spcPts val="1000"/>
              </a:spcBef>
              <a:defRPr/>
            </a:pPr>
            <a:r>
              <a:rPr lang="en-US" sz="3200" dirty="0">
                <a:solidFill>
                  <a:prstClr val="black"/>
                </a:solidFill>
                <a:latin typeface="Calibri" panose="020F0502020204030204"/>
              </a:rPr>
              <a:t>L</a:t>
            </a:r>
            <a:r>
              <a:rPr kumimoji="0" lang="en-US" sz="3200" b="0" i="0" u="none" strike="noStrike" kern="1200" cap="none" spc="0" normalizeH="0" baseline="0" noProof="0" dirty="0" err="1">
                <a:ln>
                  <a:noFill/>
                </a:ln>
                <a:solidFill>
                  <a:prstClr val="black"/>
                </a:solidFill>
                <a:effectLst/>
                <a:uLnTx/>
                <a:uFillTx/>
                <a:latin typeface="Calibri" panose="020F0502020204030204"/>
                <a:ea typeface="+mn-ea"/>
                <a:cs typeface="+mn-cs"/>
              </a:rPr>
              <a:t>evels</a:t>
            </a:r>
            <a:r>
              <a:rPr kumimoji="0" lang="en-US" sz="3200" b="0" i="0" u="none" strike="noStrike" kern="1200" cap="none" spc="0" normalizeH="0" baseline="0" noProof="0" dirty="0">
                <a:ln>
                  <a:noFill/>
                </a:ln>
                <a:solidFill>
                  <a:prstClr val="black"/>
                </a:solidFill>
                <a:effectLst/>
                <a:uLnTx/>
                <a:uFillTx/>
                <a:latin typeface="Calibri" panose="020F0502020204030204"/>
                <a:ea typeface="+mn-ea"/>
                <a:cs typeface="+mn-cs"/>
              </a:rPr>
              <a:t> of a certain hormone (or lack thereof) stimulate production or halt production of another</a:t>
            </a:r>
          </a:p>
          <a:p>
            <a:endParaRPr lang="en-US" sz="1800" dirty="0"/>
          </a:p>
        </p:txBody>
      </p:sp>
      <p:sp>
        <p:nvSpPr>
          <p:cNvPr id="2" name="Title 1">
            <a:extLst>
              <a:ext uri="{FF2B5EF4-FFF2-40B4-BE49-F238E27FC236}">
                <a16:creationId xmlns:a16="http://schemas.microsoft.com/office/drawing/2014/main" id="{314B2F4F-9AF2-4EC1-89EB-C8929959DE73}"/>
              </a:ext>
            </a:extLst>
          </p:cNvPr>
          <p:cNvSpPr>
            <a:spLocks noGrp="1"/>
          </p:cNvSpPr>
          <p:nvPr>
            <p:ph type="title"/>
          </p:nvPr>
        </p:nvSpPr>
        <p:spPr>
          <a:xfrm>
            <a:off x="429768" y="411480"/>
            <a:ext cx="8177519" cy="1106424"/>
          </a:xfrm>
          <a:solidFill>
            <a:schemeClr val="bg1"/>
          </a:solidFill>
        </p:spPr>
        <p:txBody>
          <a:bodyPr>
            <a:normAutofit/>
          </a:bodyPr>
          <a:lstStyle/>
          <a:p>
            <a:r>
              <a:rPr lang="en-US" sz="4800"/>
              <a:t>Anatomy and Physiology Review </a:t>
            </a:r>
          </a:p>
        </p:txBody>
      </p:sp>
    </p:spTree>
    <p:extLst>
      <p:ext uri="{BB962C8B-B14F-4D97-AF65-F5344CB8AC3E}">
        <p14:creationId xmlns:p14="http://schemas.microsoft.com/office/powerpoint/2010/main" val="254207079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DAF1966E-FD40-4A4A-B61B-C4DF7FA05F0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0" name="Rectangle 9">
            <a:extLst>
              <a:ext uri="{FF2B5EF4-FFF2-40B4-BE49-F238E27FC236}">
                <a16:creationId xmlns:a16="http://schemas.microsoft.com/office/drawing/2014/main" id="{047BFA19-D45E-416B-A404-7AF2F3F270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58209" y="0"/>
            <a:ext cx="11167447" cy="2018806"/>
          </a:xfrm>
          <a:prstGeom prst="rect">
            <a:avLst/>
          </a:prstGeom>
          <a:ln w="9525">
            <a:solidFill>
              <a:srgbClr val="E1E1E1"/>
            </a:solidFill>
          </a:ln>
          <a:effectLst>
            <a:outerShdw blurRad="50800" dist="38100" dir="2700000" algn="t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2" name="Rectangle 11">
            <a:extLst>
              <a:ext uri="{FF2B5EF4-FFF2-40B4-BE49-F238E27FC236}">
                <a16:creationId xmlns:a16="http://schemas.microsoft.com/office/drawing/2014/main" id="{8E0105E7-23DB-4CF2-8258-FF47C7620F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6928" y="0"/>
            <a:ext cx="11155680" cy="2011680"/>
          </a:xfrm>
          <a:prstGeom prst="rect">
            <a:avLst/>
          </a:pr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9226564D-B8A3-4A65-A99D-E69716EE1D0A}"/>
              </a:ext>
            </a:extLst>
          </p:cNvPr>
          <p:cNvSpPr>
            <a:spLocks noGrp="1"/>
          </p:cNvSpPr>
          <p:nvPr>
            <p:ph type="title"/>
          </p:nvPr>
        </p:nvSpPr>
        <p:spPr>
          <a:xfrm>
            <a:off x="876161" y="360196"/>
            <a:ext cx="10631943" cy="1501599"/>
          </a:xfrm>
        </p:spPr>
        <p:txBody>
          <a:bodyPr>
            <a:normAutofit/>
          </a:bodyPr>
          <a:lstStyle/>
          <a:p>
            <a:r>
              <a:rPr lang="en-US" sz="4800"/>
              <a:t>Hypothalamic-Pituitary-Adrenal Axis (HPA)</a:t>
            </a:r>
          </a:p>
        </p:txBody>
      </p:sp>
      <p:sp>
        <p:nvSpPr>
          <p:cNvPr id="14" name="Rectangle 13">
            <a:extLst>
              <a:ext uri="{FF2B5EF4-FFF2-40B4-BE49-F238E27FC236}">
                <a16:creationId xmlns:a16="http://schemas.microsoft.com/office/drawing/2014/main" id="{074B4F7D-14B2-478B-8BF5-01E4E0C5D26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8834" y="758952"/>
            <a:ext cx="128016"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3" name="Content Placeholder 2">
            <a:extLst>
              <a:ext uri="{FF2B5EF4-FFF2-40B4-BE49-F238E27FC236}">
                <a16:creationId xmlns:a16="http://schemas.microsoft.com/office/drawing/2014/main" id="{5967D49D-8DBB-4A40-95FA-4FB7BBD4C030}"/>
              </a:ext>
            </a:extLst>
          </p:cNvPr>
          <p:cNvSpPr>
            <a:spLocks noGrp="1"/>
          </p:cNvSpPr>
          <p:nvPr>
            <p:ph idx="1"/>
          </p:nvPr>
        </p:nvSpPr>
        <p:spPr>
          <a:xfrm>
            <a:off x="566928" y="2304689"/>
            <a:ext cx="11250410" cy="4298467"/>
          </a:xfrm>
        </p:spPr>
        <p:txBody>
          <a:bodyPr>
            <a:normAutofit/>
          </a:bodyPr>
          <a:lstStyle/>
          <a:p>
            <a:pPr marL="514350" indent="-514350">
              <a:buAutoNum type="arabicPeriod"/>
            </a:pPr>
            <a:r>
              <a:rPr lang="en-US" sz="3200" dirty="0"/>
              <a:t>The hypothalamus produces </a:t>
            </a:r>
            <a:r>
              <a:rPr lang="en-US" sz="3200" b="1" dirty="0"/>
              <a:t>corticotropin-releasing hormone (CRH)</a:t>
            </a:r>
            <a:r>
              <a:rPr lang="en-US" sz="3200" dirty="0"/>
              <a:t> in response to sympathetic nervous system activation </a:t>
            </a:r>
          </a:p>
          <a:p>
            <a:pPr marL="514350" indent="-514350">
              <a:buAutoNum type="arabicPeriod"/>
            </a:pPr>
            <a:r>
              <a:rPr lang="en-US" sz="3200" dirty="0"/>
              <a:t>Increased CRH levels trigger the pituitary gland to release </a:t>
            </a:r>
            <a:r>
              <a:rPr lang="en-US" sz="3200" b="1" dirty="0"/>
              <a:t>adrenocorticotropic hormone (ACTH) </a:t>
            </a:r>
          </a:p>
          <a:p>
            <a:pPr marL="514350" indent="-514350">
              <a:buAutoNum type="arabicPeriod"/>
            </a:pPr>
            <a:r>
              <a:rPr lang="en-US" sz="3200" dirty="0"/>
              <a:t>ACTH binds to receptors on the adrenal cortex, stimulating the secretion of </a:t>
            </a:r>
            <a:r>
              <a:rPr lang="en-US" sz="3200" b="1" dirty="0"/>
              <a:t>cortisol </a:t>
            </a:r>
          </a:p>
          <a:p>
            <a:pPr marL="514350" indent="-514350">
              <a:buAutoNum type="arabicPeriod"/>
            </a:pPr>
            <a:r>
              <a:rPr lang="en-US" sz="3200" dirty="0"/>
              <a:t>Once a certain level of cortisol is achieved, </a:t>
            </a:r>
            <a:r>
              <a:rPr lang="en-US" sz="3200" b="1" dirty="0"/>
              <a:t>negative feedback</a:t>
            </a:r>
            <a:r>
              <a:rPr lang="en-US" sz="3200" dirty="0"/>
              <a:t> shuts off secretion of CRH and ACTH </a:t>
            </a:r>
          </a:p>
        </p:txBody>
      </p:sp>
    </p:spTree>
    <p:extLst>
      <p:ext uri="{BB962C8B-B14F-4D97-AF65-F5344CB8AC3E}">
        <p14:creationId xmlns:p14="http://schemas.microsoft.com/office/powerpoint/2010/main" val="376094092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A60E51C1-55C1-4072-B0E4-813E856CFFDB}"/>
              </a:ext>
            </a:extLst>
          </p:cNvPr>
          <p:cNvPicPr>
            <a:picLocks noChangeAspect="1"/>
          </p:cNvPicPr>
          <p:nvPr/>
        </p:nvPicPr>
        <p:blipFill>
          <a:blip r:embed="rId3"/>
          <a:stretch>
            <a:fillRect/>
          </a:stretch>
        </p:blipFill>
        <p:spPr>
          <a:xfrm>
            <a:off x="3089237" y="671369"/>
            <a:ext cx="6013525" cy="5515261"/>
          </a:xfrm>
          <a:prstGeom prst="rect">
            <a:avLst/>
          </a:prstGeom>
        </p:spPr>
      </p:pic>
    </p:spTree>
    <p:extLst>
      <p:ext uri="{BB962C8B-B14F-4D97-AF65-F5344CB8AC3E}">
        <p14:creationId xmlns:p14="http://schemas.microsoft.com/office/powerpoint/2010/main" val="304556675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DAF1966E-FD40-4A4A-B61B-C4DF7FA05F0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0" name="Rectangle 9">
            <a:extLst>
              <a:ext uri="{FF2B5EF4-FFF2-40B4-BE49-F238E27FC236}">
                <a16:creationId xmlns:a16="http://schemas.microsoft.com/office/drawing/2014/main" id="{047BFA19-D45E-416B-A404-7AF2F3F270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58209" y="0"/>
            <a:ext cx="11167447" cy="2018806"/>
          </a:xfrm>
          <a:prstGeom prst="rect">
            <a:avLst/>
          </a:prstGeom>
          <a:ln w="9525">
            <a:solidFill>
              <a:srgbClr val="E1E1E1"/>
            </a:solidFill>
          </a:ln>
          <a:effectLst>
            <a:outerShdw blurRad="50800" dist="38100" dir="2700000" algn="t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2" name="Rectangle 11">
            <a:extLst>
              <a:ext uri="{FF2B5EF4-FFF2-40B4-BE49-F238E27FC236}">
                <a16:creationId xmlns:a16="http://schemas.microsoft.com/office/drawing/2014/main" id="{8E0105E7-23DB-4CF2-8258-FF47C7620F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6928" y="0"/>
            <a:ext cx="11155680" cy="2011680"/>
          </a:xfrm>
          <a:prstGeom prst="rect">
            <a:avLst/>
          </a:pr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C3A66641-71E9-4B8E-BBA7-9438F57BDCD4}"/>
              </a:ext>
            </a:extLst>
          </p:cNvPr>
          <p:cNvSpPr>
            <a:spLocks noGrp="1"/>
          </p:cNvSpPr>
          <p:nvPr>
            <p:ph type="title"/>
          </p:nvPr>
        </p:nvSpPr>
        <p:spPr>
          <a:xfrm>
            <a:off x="848834" y="331370"/>
            <a:ext cx="10936197" cy="1559251"/>
          </a:xfrm>
        </p:spPr>
        <p:txBody>
          <a:bodyPr>
            <a:normAutofit/>
          </a:bodyPr>
          <a:lstStyle/>
          <a:p>
            <a:r>
              <a:rPr lang="en-US"/>
              <a:t>Hypothalamic-Pituitary-Thyroid Axis (HPT Axis)</a:t>
            </a:r>
          </a:p>
        </p:txBody>
      </p:sp>
      <p:sp>
        <p:nvSpPr>
          <p:cNvPr id="14" name="Rectangle 13">
            <a:extLst>
              <a:ext uri="{FF2B5EF4-FFF2-40B4-BE49-F238E27FC236}">
                <a16:creationId xmlns:a16="http://schemas.microsoft.com/office/drawing/2014/main" id="{074B4F7D-14B2-478B-8BF5-01E4E0C5D26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8834" y="758952"/>
            <a:ext cx="128016"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3" name="Content Placeholder 2">
            <a:extLst>
              <a:ext uri="{FF2B5EF4-FFF2-40B4-BE49-F238E27FC236}">
                <a16:creationId xmlns:a16="http://schemas.microsoft.com/office/drawing/2014/main" id="{1F9D74FC-219A-4A53-8D65-E3F12AE22FA6}"/>
              </a:ext>
            </a:extLst>
          </p:cNvPr>
          <p:cNvSpPr>
            <a:spLocks noGrp="1"/>
          </p:cNvSpPr>
          <p:nvPr>
            <p:ph idx="1"/>
          </p:nvPr>
        </p:nvSpPr>
        <p:spPr>
          <a:xfrm>
            <a:off x="566927" y="2350175"/>
            <a:ext cx="11167447" cy="4249407"/>
          </a:xfrm>
        </p:spPr>
        <p:txBody>
          <a:bodyPr>
            <a:normAutofit/>
          </a:bodyPr>
          <a:lstStyle/>
          <a:p>
            <a:pPr marL="514350" indent="-514350">
              <a:buAutoNum type="arabicPeriod"/>
            </a:pPr>
            <a:r>
              <a:rPr lang="en-US" sz="3600"/>
              <a:t>The hypothalamus produces </a:t>
            </a:r>
            <a:r>
              <a:rPr lang="en-US" sz="3600" b="1"/>
              <a:t>hypothalamic thyrotropin-releasing hormone (TRH)</a:t>
            </a:r>
          </a:p>
          <a:p>
            <a:pPr marL="514350" indent="-514350">
              <a:buAutoNum type="arabicPeriod"/>
            </a:pPr>
            <a:r>
              <a:rPr lang="en-US" sz="3600"/>
              <a:t>TRH stimulates pituitary production of </a:t>
            </a:r>
            <a:r>
              <a:rPr lang="en-US" sz="3600" b="1"/>
              <a:t>thyroid stimulating hormone (TSH) </a:t>
            </a:r>
          </a:p>
          <a:p>
            <a:pPr marL="514350" indent="-514350">
              <a:buAutoNum type="arabicPeriod"/>
            </a:pPr>
            <a:r>
              <a:rPr lang="en-US" sz="3600"/>
              <a:t>TSH stimulates the thyroid gland to produce </a:t>
            </a:r>
            <a:r>
              <a:rPr lang="en-US" sz="3600" b="1"/>
              <a:t>T3 and T4</a:t>
            </a:r>
          </a:p>
          <a:p>
            <a:pPr marL="514350" indent="-514350">
              <a:buAutoNum type="arabicPeriod"/>
            </a:pPr>
            <a:r>
              <a:rPr lang="en-US" sz="3600"/>
              <a:t>T3 and T4 shut off production of TSH and TRH via negative feedback </a:t>
            </a:r>
          </a:p>
        </p:txBody>
      </p:sp>
    </p:spTree>
    <p:extLst>
      <p:ext uri="{BB962C8B-B14F-4D97-AF65-F5344CB8AC3E}">
        <p14:creationId xmlns:p14="http://schemas.microsoft.com/office/powerpoint/2010/main" val="206212715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03F7864F-05CE-4DFE-81F1-D95D23845715}"/>
              </a:ext>
            </a:extLst>
          </p:cNvPr>
          <p:cNvPicPr>
            <a:picLocks noChangeAspect="1"/>
          </p:cNvPicPr>
          <p:nvPr/>
        </p:nvPicPr>
        <p:blipFill>
          <a:blip r:embed="rId3"/>
          <a:stretch>
            <a:fillRect/>
          </a:stretch>
        </p:blipFill>
        <p:spPr>
          <a:xfrm>
            <a:off x="2961602" y="149491"/>
            <a:ext cx="6268795" cy="6559017"/>
          </a:xfrm>
          <a:prstGeom prst="rect">
            <a:avLst/>
          </a:prstGeom>
        </p:spPr>
      </p:pic>
      <p:sp>
        <p:nvSpPr>
          <p:cNvPr id="4" name="Title 3">
            <a:extLst>
              <a:ext uri="{FF2B5EF4-FFF2-40B4-BE49-F238E27FC236}">
                <a16:creationId xmlns:a16="http://schemas.microsoft.com/office/drawing/2014/main" id="{008BD9B6-5896-D12E-1973-9C7012FC425C}"/>
              </a:ext>
            </a:extLst>
          </p:cNvPr>
          <p:cNvSpPr>
            <a:spLocks noGrp="1"/>
          </p:cNvSpPr>
          <p:nvPr>
            <p:ph type="title"/>
          </p:nvPr>
        </p:nvSpPr>
        <p:spPr/>
        <p:txBody>
          <a:bodyPr/>
          <a:lstStyle/>
          <a:p>
            <a:r>
              <a:rPr lang="en-US" b="1"/>
              <a:t>HPT Axis</a:t>
            </a:r>
          </a:p>
        </p:txBody>
      </p:sp>
    </p:spTree>
    <p:extLst>
      <p:ext uri="{BB962C8B-B14F-4D97-AF65-F5344CB8AC3E}">
        <p14:creationId xmlns:p14="http://schemas.microsoft.com/office/powerpoint/2010/main" val="78160713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DAF1966E-FD40-4A4A-B61B-C4DF7FA05F0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0" name="Rectangle 9">
            <a:extLst>
              <a:ext uri="{FF2B5EF4-FFF2-40B4-BE49-F238E27FC236}">
                <a16:creationId xmlns:a16="http://schemas.microsoft.com/office/drawing/2014/main" id="{047BFA19-D45E-416B-A404-7AF2F3F270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58209" y="0"/>
            <a:ext cx="11167447" cy="2018806"/>
          </a:xfrm>
          <a:prstGeom prst="rect">
            <a:avLst/>
          </a:prstGeom>
          <a:ln w="9525">
            <a:solidFill>
              <a:srgbClr val="E1E1E1"/>
            </a:solidFill>
          </a:ln>
          <a:effectLst>
            <a:outerShdw blurRad="50800" dist="38100" dir="2700000" algn="t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2" name="Rectangle 11">
            <a:extLst>
              <a:ext uri="{FF2B5EF4-FFF2-40B4-BE49-F238E27FC236}">
                <a16:creationId xmlns:a16="http://schemas.microsoft.com/office/drawing/2014/main" id="{8E0105E7-23DB-4CF2-8258-FF47C7620F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6928" y="0"/>
            <a:ext cx="11155680" cy="2011680"/>
          </a:xfrm>
          <a:prstGeom prst="rect">
            <a:avLst/>
          </a:pr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B9DA374F-808C-4A3C-8358-8B6F80A19F03}"/>
              </a:ext>
            </a:extLst>
          </p:cNvPr>
          <p:cNvSpPr>
            <a:spLocks noGrp="1"/>
          </p:cNvSpPr>
          <p:nvPr>
            <p:ph type="title"/>
          </p:nvPr>
        </p:nvSpPr>
        <p:spPr>
          <a:xfrm>
            <a:off x="882396" y="300957"/>
            <a:ext cx="11076432" cy="1620078"/>
          </a:xfrm>
        </p:spPr>
        <p:txBody>
          <a:bodyPr>
            <a:normAutofit/>
          </a:bodyPr>
          <a:lstStyle/>
          <a:p>
            <a:r>
              <a:rPr lang="en-US" sz="4800"/>
              <a:t>Hypothalamic-Pituitary-Gonadal Axis (HPG)</a:t>
            </a:r>
          </a:p>
        </p:txBody>
      </p:sp>
      <p:sp>
        <p:nvSpPr>
          <p:cNvPr id="14" name="Rectangle 13">
            <a:extLst>
              <a:ext uri="{FF2B5EF4-FFF2-40B4-BE49-F238E27FC236}">
                <a16:creationId xmlns:a16="http://schemas.microsoft.com/office/drawing/2014/main" id="{074B4F7D-14B2-478B-8BF5-01E4E0C5D26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8834" y="758952"/>
            <a:ext cx="128016"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3" name="Content Placeholder 2">
            <a:extLst>
              <a:ext uri="{FF2B5EF4-FFF2-40B4-BE49-F238E27FC236}">
                <a16:creationId xmlns:a16="http://schemas.microsoft.com/office/drawing/2014/main" id="{DAEABDEC-0560-4CB6-825D-973D11DFFDDD}"/>
              </a:ext>
            </a:extLst>
          </p:cNvPr>
          <p:cNvSpPr>
            <a:spLocks noGrp="1"/>
          </p:cNvSpPr>
          <p:nvPr>
            <p:ph idx="1"/>
          </p:nvPr>
        </p:nvSpPr>
        <p:spPr>
          <a:xfrm>
            <a:off x="498834" y="2190983"/>
            <a:ext cx="11459994" cy="5491966"/>
          </a:xfrm>
        </p:spPr>
        <p:txBody>
          <a:bodyPr>
            <a:normAutofit/>
          </a:bodyPr>
          <a:lstStyle/>
          <a:p>
            <a:pPr marL="514350" indent="-514350">
              <a:buAutoNum type="arabicPeriod"/>
            </a:pPr>
            <a:r>
              <a:rPr lang="en-US" sz="3200"/>
              <a:t>The hypothalamus secretes </a:t>
            </a:r>
            <a:r>
              <a:rPr lang="en-US" sz="3200" b="1"/>
              <a:t>gonadotropin-releasing hormone (GnRH).</a:t>
            </a:r>
          </a:p>
          <a:p>
            <a:pPr marL="514350" indent="-514350">
              <a:buAutoNum type="arabicPeriod"/>
            </a:pPr>
            <a:r>
              <a:rPr lang="en-US" sz="3200"/>
              <a:t>GNRH stimulates pituitary production of </a:t>
            </a:r>
            <a:r>
              <a:rPr lang="en-US" sz="3200" b="1"/>
              <a:t>luteinizing hormone (LH) </a:t>
            </a:r>
            <a:r>
              <a:rPr lang="en-US" sz="3200"/>
              <a:t>and </a:t>
            </a:r>
            <a:r>
              <a:rPr lang="en-US" sz="3200" b="1"/>
              <a:t>follicle-stimulating hormone (FSH) </a:t>
            </a:r>
          </a:p>
          <a:p>
            <a:pPr marL="514350" indent="-514350">
              <a:buAutoNum type="arabicPeriod"/>
            </a:pPr>
            <a:r>
              <a:rPr lang="en-US" sz="3200"/>
              <a:t>LH stimulates production of </a:t>
            </a:r>
            <a:r>
              <a:rPr lang="en-US" sz="3200" b="1"/>
              <a:t>testosterone </a:t>
            </a:r>
            <a:r>
              <a:rPr lang="en-US" sz="3200"/>
              <a:t>from the testicles in males; FSH stimulates </a:t>
            </a:r>
            <a:r>
              <a:rPr lang="en-US" sz="3200" b="1"/>
              <a:t>estrogen</a:t>
            </a:r>
            <a:r>
              <a:rPr lang="en-US" sz="3200"/>
              <a:t> production in females by the ovaries</a:t>
            </a:r>
          </a:p>
          <a:p>
            <a:pPr marL="514350" indent="-514350">
              <a:buAutoNum type="arabicPeriod"/>
            </a:pPr>
            <a:r>
              <a:rPr lang="en-US" sz="3200"/>
              <a:t>Presence of testosterone in males and estrogen/ progesterone in females shuts off production of GnRH and LH/FSH</a:t>
            </a:r>
          </a:p>
        </p:txBody>
      </p:sp>
    </p:spTree>
    <p:extLst>
      <p:ext uri="{BB962C8B-B14F-4D97-AF65-F5344CB8AC3E}">
        <p14:creationId xmlns:p14="http://schemas.microsoft.com/office/powerpoint/2010/main" val="195834387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C236D048-9DB5-4EEE-A3F5-1CB77144B929}"/>
              </a:ext>
            </a:extLst>
          </p:cNvPr>
          <p:cNvPicPr>
            <a:picLocks noChangeAspect="1"/>
          </p:cNvPicPr>
          <p:nvPr/>
        </p:nvPicPr>
        <p:blipFill>
          <a:blip r:embed="rId2"/>
          <a:stretch>
            <a:fillRect/>
          </a:stretch>
        </p:blipFill>
        <p:spPr>
          <a:xfrm>
            <a:off x="3673629" y="0"/>
            <a:ext cx="4844742" cy="6796415"/>
          </a:xfrm>
          <a:prstGeom prst="rect">
            <a:avLst/>
          </a:prstGeom>
        </p:spPr>
      </p:pic>
      <p:sp>
        <p:nvSpPr>
          <p:cNvPr id="3" name="TextBox 2">
            <a:extLst>
              <a:ext uri="{FF2B5EF4-FFF2-40B4-BE49-F238E27FC236}">
                <a16:creationId xmlns:a16="http://schemas.microsoft.com/office/drawing/2014/main" id="{D7FE86E7-531C-4F70-BA29-B04836C6CCB3}"/>
              </a:ext>
            </a:extLst>
          </p:cNvPr>
          <p:cNvSpPr txBox="1"/>
          <p:nvPr/>
        </p:nvSpPr>
        <p:spPr>
          <a:xfrm>
            <a:off x="908914" y="398033"/>
            <a:ext cx="2764715" cy="769441"/>
          </a:xfrm>
          <a:prstGeom prst="rect">
            <a:avLst/>
          </a:prstGeom>
          <a:noFill/>
        </p:spPr>
        <p:txBody>
          <a:bodyPr wrap="square" rtlCol="0">
            <a:spAutoFit/>
          </a:bodyPr>
          <a:lstStyle/>
          <a:p>
            <a:r>
              <a:rPr lang="en-US" sz="4400"/>
              <a:t>HPG Axis </a:t>
            </a:r>
          </a:p>
        </p:txBody>
      </p:sp>
    </p:spTree>
    <p:extLst>
      <p:ext uri="{BB962C8B-B14F-4D97-AF65-F5344CB8AC3E}">
        <p14:creationId xmlns:p14="http://schemas.microsoft.com/office/powerpoint/2010/main" val="148788894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DAF1966E-FD40-4A4A-B61B-C4DF7FA05F0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0" name="Rectangle 9">
            <a:extLst>
              <a:ext uri="{FF2B5EF4-FFF2-40B4-BE49-F238E27FC236}">
                <a16:creationId xmlns:a16="http://schemas.microsoft.com/office/drawing/2014/main" id="{047BFA19-D45E-416B-A404-7AF2F3F270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58209" y="0"/>
            <a:ext cx="11167447" cy="2018806"/>
          </a:xfrm>
          <a:prstGeom prst="rect">
            <a:avLst/>
          </a:prstGeom>
          <a:ln w="9525">
            <a:solidFill>
              <a:srgbClr val="E1E1E1"/>
            </a:solidFill>
          </a:ln>
          <a:effectLst>
            <a:outerShdw blurRad="50800" dist="38100" dir="2700000" algn="t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2" name="Rectangle 11">
            <a:extLst>
              <a:ext uri="{FF2B5EF4-FFF2-40B4-BE49-F238E27FC236}">
                <a16:creationId xmlns:a16="http://schemas.microsoft.com/office/drawing/2014/main" id="{8E0105E7-23DB-4CF2-8258-FF47C7620F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6928" y="0"/>
            <a:ext cx="11155680" cy="2011680"/>
          </a:xfrm>
          <a:prstGeom prst="rect">
            <a:avLst/>
          </a:pr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20950474-30C6-40EF-803D-D0DAD6722A78}"/>
              </a:ext>
            </a:extLst>
          </p:cNvPr>
          <p:cNvSpPr>
            <a:spLocks noGrp="1"/>
          </p:cNvSpPr>
          <p:nvPr>
            <p:ph type="title"/>
          </p:nvPr>
        </p:nvSpPr>
        <p:spPr>
          <a:xfrm>
            <a:off x="686225" y="331370"/>
            <a:ext cx="11135807" cy="1559251"/>
          </a:xfrm>
        </p:spPr>
        <p:txBody>
          <a:bodyPr>
            <a:normAutofit/>
          </a:bodyPr>
          <a:lstStyle/>
          <a:p>
            <a:r>
              <a:rPr lang="en-US"/>
              <a:t>Hypothalamic-Pituitary-Somatotropic Axis (HPS)</a:t>
            </a:r>
          </a:p>
        </p:txBody>
      </p:sp>
      <p:sp>
        <p:nvSpPr>
          <p:cNvPr id="14" name="Rectangle 13">
            <a:extLst>
              <a:ext uri="{FF2B5EF4-FFF2-40B4-BE49-F238E27FC236}">
                <a16:creationId xmlns:a16="http://schemas.microsoft.com/office/drawing/2014/main" id="{074B4F7D-14B2-478B-8BF5-01E4E0C5D26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8834" y="758952"/>
            <a:ext cx="128016"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3" name="Content Placeholder 2">
            <a:extLst>
              <a:ext uri="{FF2B5EF4-FFF2-40B4-BE49-F238E27FC236}">
                <a16:creationId xmlns:a16="http://schemas.microsoft.com/office/drawing/2014/main" id="{7399692B-8DE0-4580-BED8-60DA652A2EC4}"/>
              </a:ext>
            </a:extLst>
          </p:cNvPr>
          <p:cNvSpPr>
            <a:spLocks noGrp="1"/>
          </p:cNvSpPr>
          <p:nvPr>
            <p:ph idx="1"/>
          </p:nvPr>
        </p:nvSpPr>
        <p:spPr>
          <a:xfrm>
            <a:off x="626850" y="2307341"/>
            <a:ext cx="11036383" cy="4376057"/>
          </a:xfrm>
        </p:spPr>
        <p:txBody>
          <a:bodyPr>
            <a:normAutofit lnSpcReduction="10000"/>
          </a:bodyPr>
          <a:lstStyle/>
          <a:p>
            <a:pPr marL="0" indent="0">
              <a:buNone/>
            </a:pPr>
            <a:r>
              <a:rPr lang="en-US" sz="3600"/>
              <a:t>AKA: Hypothalamic-pituitary-growth axis </a:t>
            </a:r>
          </a:p>
          <a:p>
            <a:pPr marL="514350" indent="-514350">
              <a:buAutoNum type="arabicPeriod"/>
            </a:pPr>
            <a:r>
              <a:rPr lang="en-US" sz="3600"/>
              <a:t>The hypothalamus produces </a:t>
            </a:r>
            <a:r>
              <a:rPr lang="en-US" sz="3600" b="1"/>
              <a:t>growth hormone-releasing hormone (GHRH) </a:t>
            </a:r>
          </a:p>
          <a:p>
            <a:pPr marL="514350" indent="-514350">
              <a:buAutoNum type="arabicPeriod"/>
            </a:pPr>
            <a:r>
              <a:rPr lang="en-US" sz="3600"/>
              <a:t>GHRH stimulates the pituitary production of </a:t>
            </a:r>
            <a:r>
              <a:rPr lang="en-US" sz="3600" b="1"/>
              <a:t>growth hormone (GH)</a:t>
            </a:r>
          </a:p>
          <a:p>
            <a:pPr marL="514350" indent="-514350">
              <a:buAutoNum type="arabicPeriod"/>
            </a:pPr>
            <a:r>
              <a:rPr lang="en-US" sz="3600"/>
              <a:t>Secretion of growth hormone stimulates production of </a:t>
            </a:r>
            <a:r>
              <a:rPr lang="en-US" sz="3600" b="1"/>
              <a:t>insulin-like growth factor 1 (IGF-1) </a:t>
            </a:r>
            <a:r>
              <a:rPr lang="en-US" sz="3600"/>
              <a:t>in the tissues, primarily the liver </a:t>
            </a:r>
          </a:p>
          <a:p>
            <a:pPr marL="514350" indent="-514350">
              <a:buAutoNum type="arabicPeriod"/>
            </a:pPr>
            <a:endParaRPr lang="en-US" sz="2200"/>
          </a:p>
        </p:txBody>
      </p:sp>
    </p:spTree>
    <p:extLst>
      <p:ext uri="{BB962C8B-B14F-4D97-AF65-F5344CB8AC3E}">
        <p14:creationId xmlns:p14="http://schemas.microsoft.com/office/powerpoint/2010/main" val="178980821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12D96EED-F165-4DC4-9D2C-A402EA200463}"/>
              </a:ext>
            </a:extLst>
          </p:cNvPr>
          <p:cNvPicPr>
            <a:picLocks noChangeAspect="1"/>
          </p:cNvPicPr>
          <p:nvPr/>
        </p:nvPicPr>
        <p:blipFill>
          <a:blip r:embed="rId3"/>
          <a:stretch>
            <a:fillRect/>
          </a:stretch>
        </p:blipFill>
        <p:spPr>
          <a:xfrm>
            <a:off x="6483101" y="0"/>
            <a:ext cx="5598367" cy="6858000"/>
          </a:xfrm>
          <a:prstGeom prst="rect">
            <a:avLst/>
          </a:prstGeom>
        </p:spPr>
      </p:pic>
      <p:pic>
        <p:nvPicPr>
          <p:cNvPr id="5" name="Picture 4">
            <a:extLst>
              <a:ext uri="{FF2B5EF4-FFF2-40B4-BE49-F238E27FC236}">
                <a16:creationId xmlns:a16="http://schemas.microsoft.com/office/drawing/2014/main" id="{F45756AB-3FFA-CAE6-09C8-5C3AC82BF86C}"/>
              </a:ext>
            </a:extLst>
          </p:cNvPr>
          <p:cNvPicPr>
            <a:picLocks noChangeAspect="1"/>
          </p:cNvPicPr>
          <p:nvPr/>
        </p:nvPicPr>
        <p:blipFill>
          <a:blip r:embed="rId4"/>
          <a:srcRect t="44593" r="33027"/>
          <a:stretch>
            <a:fillRect/>
          </a:stretch>
        </p:blipFill>
        <p:spPr>
          <a:xfrm>
            <a:off x="553135" y="167939"/>
            <a:ext cx="4890198" cy="6543125"/>
          </a:xfrm>
          <a:prstGeom prst="rect">
            <a:avLst/>
          </a:prstGeom>
        </p:spPr>
      </p:pic>
      <p:sp>
        <p:nvSpPr>
          <p:cNvPr id="3" name="TextBox 2">
            <a:extLst>
              <a:ext uri="{FF2B5EF4-FFF2-40B4-BE49-F238E27FC236}">
                <a16:creationId xmlns:a16="http://schemas.microsoft.com/office/drawing/2014/main" id="{A932FC42-54A0-4759-8866-6C50AE6CAA86}"/>
              </a:ext>
            </a:extLst>
          </p:cNvPr>
          <p:cNvSpPr txBox="1"/>
          <p:nvPr/>
        </p:nvSpPr>
        <p:spPr>
          <a:xfrm>
            <a:off x="4403565" y="167939"/>
            <a:ext cx="2431228" cy="769441"/>
          </a:xfrm>
          <a:prstGeom prst="rect">
            <a:avLst/>
          </a:prstGeom>
          <a:noFill/>
        </p:spPr>
        <p:txBody>
          <a:bodyPr wrap="square" rtlCol="0">
            <a:spAutoFit/>
          </a:bodyPr>
          <a:lstStyle/>
          <a:p>
            <a:r>
              <a:rPr lang="en-US" sz="4400" dirty="0"/>
              <a:t>HPS Axis</a:t>
            </a:r>
          </a:p>
        </p:txBody>
      </p:sp>
    </p:spTree>
    <p:extLst>
      <p:ext uri="{BB962C8B-B14F-4D97-AF65-F5344CB8AC3E}">
        <p14:creationId xmlns:p14="http://schemas.microsoft.com/office/powerpoint/2010/main" val="97390667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58" name="Rectangle 1057">
            <a:extLst>
              <a:ext uri="{FF2B5EF4-FFF2-40B4-BE49-F238E27FC236}">
                <a16:creationId xmlns:a16="http://schemas.microsoft.com/office/drawing/2014/main" id="{E45CA849-654C-4173-AD99-B3A2528275F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14B2F4F-9AF2-4EC1-89EB-C8929959DE73}"/>
              </a:ext>
            </a:extLst>
          </p:cNvPr>
          <p:cNvSpPr>
            <a:spLocks noGrp="1"/>
          </p:cNvSpPr>
          <p:nvPr>
            <p:ph type="title"/>
          </p:nvPr>
        </p:nvSpPr>
        <p:spPr>
          <a:xfrm>
            <a:off x="429768" y="411480"/>
            <a:ext cx="11201400" cy="1106424"/>
          </a:xfrm>
        </p:spPr>
        <p:txBody>
          <a:bodyPr>
            <a:normAutofit/>
          </a:bodyPr>
          <a:lstStyle/>
          <a:p>
            <a:r>
              <a:rPr lang="en-US" sz="4800"/>
              <a:t>Hypothalamic Inhibitory Hormones </a:t>
            </a:r>
          </a:p>
        </p:txBody>
      </p:sp>
      <p:sp>
        <p:nvSpPr>
          <p:cNvPr id="1060" name="Rectangle 1059">
            <a:extLst>
              <a:ext uri="{FF2B5EF4-FFF2-40B4-BE49-F238E27FC236}">
                <a16:creationId xmlns:a16="http://schemas.microsoft.com/office/drawing/2014/main" id="{3E23A947-2D45-4208-AE2B-64948C87A3E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587931"/>
            <a:ext cx="128016"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062" name="Rectangle 1061">
            <a:extLst>
              <a:ext uri="{FF2B5EF4-FFF2-40B4-BE49-F238E27FC236}">
                <a16:creationId xmlns:a16="http://schemas.microsoft.com/office/drawing/2014/main" id="{E5BBB0F9-6A59-4D02-A9C7-A2D6516684C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543801" y="1721922"/>
            <a:ext cx="4218432" cy="4520560"/>
          </a:xfrm>
          <a:prstGeom prst="rect">
            <a:avLst/>
          </a:prstGeom>
          <a:ln w="9525">
            <a:solidFill>
              <a:srgbClr val="E1E1E1"/>
            </a:solidFill>
          </a:ln>
          <a:effectLst>
            <a:outerShdw blurRad="50800" dist="38100" dir="2700000" algn="t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 name="Content Placeholder 2">
            <a:extLst>
              <a:ext uri="{FF2B5EF4-FFF2-40B4-BE49-F238E27FC236}">
                <a16:creationId xmlns:a16="http://schemas.microsoft.com/office/drawing/2014/main" id="{5F0AC95B-CB46-423E-8BC7-05A39036B045}"/>
              </a:ext>
            </a:extLst>
          </p:cNvPr>
          <p:cNvSpPr>
            <a:spLocks noGrp="1"/>
          </p:cNvSpPr>
          <p:nvPr>
            <p:ph idx="1"/>
          </p:nvPr>
        </p:nvSpPr>
        <p:spPr>
          <a:xfrm>
            <a:off x="655113" y="1650128"/>
            <a:ext cx="10948163" cy="1948400"/>
          </a:xfrm>
          <a:solidFill>
            <a:schemeClr val="bg1"/>
          </a:solidFill>
        </p:spPr>
        <p:txBody>
          <a:bodyPr anchor="t">
            <a:normAutofit/>
          </a:bodyPr>
          <a:lstStyle/>
          <a:p>
            <a:r>
              <a:rPr lang="en-US" sz="3600" b="1" dirty="0"/>
              <a:t>Somatostatin:</a:t>
            </a:r>
            <a:r>
              <a:rPr lang="en-US" sz="3600" dirty="0"/>
              <a:t> produced by the hypothalamus, it binds to somatotrophs in the anterior pituitary and inhibits the production of growth hormone (GH)  </a:t>
            </a:r>
          </a:p>
          <a:p>
            <a:endParaRPr lang="en-US" sz="1800" dirty="0"/>
          </a:p>
        </p:txBody>
      </p:sp>
      <p:sp>
        <p:nvSpPr>
          <p:cNvPr id="4" name="Rectangle 3">
            <a:extLst>
              <a:ext uri="{FF2B5EF4-FFF2-40B4-BE49-F238E27FC236}">
                <a16:creationId xmlns:a16="http://schemas.microsoft.com/office/drawing/2014/main" id="{D4589077-7579-AA2C-1A54-97DBF4EFB1F6}"/>
              </a:ext>
            </a:extLst>
          </p:cNvPr>
          <p:cNvSpPr/>
          <p:nvPr/>
        </p:nvSpPr>
        <p:spPr>
          <a:xfrm>
            <a:off x="11476892" y="1517904"/>
            <a:ext cx="456028" cy="4928616"/>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Picture 5">
            <a:extLst>
              <a:ext uri="{FF2B5EF4-FFF2-40B4-BE49-F238E27FC236}">
                <a16:creationId xmlns:a16="http://schemas.microsoft.com/office/drawing/2014/main" id="{D4F7AF4F-531D-C71F-FEC1-6DBC55D676B7}"/>
              </a:ext>
            </a:extLst>
          </p:cNvPr>
          <p:cNvPicPr>
            <a:picLocks noChangeAspect="1"/>
          </p:cNvPicPr>
          <p:nvPr/>
        </p:nvPicPr>
        <p:blipFill rotWithShape="1">
          <a:blip r:embed="rId3"/>
          <a:srcRect l="1873" t="19029" b="36085"/>
          <a:stretch/>
        </p:blipFill>
        <p:spPr>
          <a:xfrm>
            <a:off x="7073720" y="3573241"/>
            <a:ext cx="5057244" cy="2805840"/>
          </a:xfrm>
          <a:prstGeom prst="rect">
            <a:avLst/>
          </a:prstGeom>
        </p:spPr>
      </p:pic>
      <p:sp>
        <p:nvSpPr>
          <p:cNvPr id="7" name="TextBox 6">
            <a:extLst>
              <a:ext uri="{FF2B5EF4-FFF2-40B4-BE49-F238E27FC236}">
                <a16:creationId xmlns:a16="http://schemas.microsoft.com/office/drawing/2014/main" id="{F5EAB33C-749D-CF49-DD8B-CAA0CE2B0E6D}"/>
              </a:ext>
            </a:extLst>
          </p:cNvPr>
          <p:cNvSpPr txBox="1"/>
          <p:nvPr/>
        </p:nvSpPr>
        <p:spPr>
          <a:xfrm>
            <a:off x="655113" y="3390496"/>
            <a:ext cx="6601716" cy="3083921"/>
          </a:xfrm>
          <a:prstGeom prst="rect">
            <a:avLst/>
          </a:prstGeom>
          <a:noFill/>
        </p:spPr>
        <p:txBody>
          <a:bodyPr wrap="square" rtlCol="0">
            <a:spAutoFit/>
          </a:body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US" sz="3600" b="1" i="0" u="none" strike="noStrike" kern="1200" cap="none" spc="0" normalizeH="0" baseline="0" noProof="0">
                <a:ln>
                  <a:noFill/>
                </a:ln>
                <a:solidFill>
                  <a:prstClr val="black"/>
                </a:solidFill>
                <a:effectLst/>
                <a:uLnTx/>
                <a:uFillTx/>
                <a:latin typeface="Calibri" panose="020F0502020204030204"/>
                <a:ea typeface="+mn-ea"/>
                <a:cs typeface="+mn-cs"/>
              </a:rPr>
              <a:t>Prolactin inhibitory factor (PIF/Dopamine):</a:t>
            </a:r>
            <a:r>
              <a:rPr kumimoji="0" lang="en-US" sz="3600" b="0" i="0" u="none" strike="noStrike" kern="1200" cap="none" spc="0" normalizeH="0" baseline="0" noProof="0">
                <a:ln>
                  <a:noFill/>
                </a:ln>
                <a:solidFill>
                  <a:prstClr val="black"/>
                </a:solidFill>
                <a:effectLst/>
                <a:uLnTx/>
                <a:uFillTx/>
                <a:latin typeface="Calibri" panose="020F0502020204030204"/>
                <a:ea typeface="+mn-ea"/>
                <a:cs typeface="+mn-cs"/>
              </a:rPr>
              <a:t> secreted into portal blood from the hypothalamus and binds to lactotrophs, inhibiting synthesis and secretion of prolactin </a:t>
            </a:r>
            <a:endParaRPr kumimoji="0" lang="en-US" sz="3600" b="1"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 name="TextBox 9">
            <a:extLst>
              <a:ext uri="{FF2B5EF4-FFF2-40B4-BE49-F238E27FC236}">
                <a16:creationId xmlns:a16="http://schemas.microsoft.com/office/drawing/2014/main" id="{A7F4BA70-792D-BFAA-FB7E-CEE3099D7113}"/>
              </a:ext>
            </a:extLst>
          </p:cNvPr>
          <p:cNvSpPr txBox="1"/>
          <p:nvPr/>
        </p:nvSpPr>
        <p:spPr>
          <a:xfrm>
            <a:off x="8146709" y="6406011"/>
            <a:ext cx="3558197" cy="369332"/>
          </a:xfrm>
          <a:prstGeom prst="rect">
            <a:avLst/>
          </a:prstGeom>
          <a:noFill/>
        </p:spPr>
        <p:txBody>
          <a:bodyPr wrap="square" rtlCol="0">
            <a:spAutoFit/>
          </a:bodyPr>
          <a:lstStyle/>
          <a:p>
            <a:r>
              <a:rPr lang="en-US" b="1"/>
              <a:t>GH or Prolactin release  inhibited</a:t>
            </a:r>
          </a:p>
        </p:txBody>
      </p:sp>
      <p:sp>
        <p:nvSpPr>
          <p:cNvPr id="11" name="Rectangle 10">
            <a:extLst>
              <a:ext uri="{FF2B5EF4-FFF2-40B4-BE49-F238E27FC236}">
                <a16:creationId xmlns:a16="http://schemas.microsoft.com/office/drawing/2014/main" id="{CB5044CD-9090-6A45-A1AA-527D1CCF8894}"/>
              </a:ext>
            </a:extLst>
          </p:cNvPr>
          <p:cNvSpPr/>
          <p:nvPr/>
        </p:nvSpPr>
        <p:spPr>
          <a:xfrm>
            <a:off x="7766938" y="5920154"/>
            <a:ext cx="661954" cy="526346"/>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99020517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8" name="Rectangle 7">
            <a:extLst>
              <a:ext uri="{FF2B5EF4-FFF2-40B4-BE49-F238E27FC236}">
                <a16:creationId xmlns:a16="http://schemas.microsoft.com/office/drawing/2014/main" id="{DAF1966E-FD40-4A4A-B61B-C4DF7FA05F0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9" name="Rectangle 9">
            <a:extLst>
              <a:ext uri="{FF2B5EF4-FFF2-40B4-BE49-F238E27FC236}">
                <a16:creationId xmlns:a16="http://schemas.microsoft.com/office/drawing/2014/main" id="{047BFA19-D45E-416B-A404-7AF2F3F270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58209" y="0"/>
            <a:ext cx="11167447" cy="2018806"/>
          </a:xfrm>
          <a:prstGeom prst="rect">
            <a:avLst/>
          </a:prstGeom>
          <a:ln w="9525">
            <a:solidFill>
              <a:srgbClr val="E1E1E1"/>
            </a:solidFill>
          </a:ln>
          <a:effectLst>
            <a:outerShdw blurRad="50800" dist="38100" dir="2700000" algn="t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20" name="Rectangle 11">
            <a:extLst>
              <a:ext uri="{FF2B5EF4-FFF2-40B4-BE49-F238E27FC236}">
                <a16:creationId xmlns:a16="http://schemas.microsoft.com/office/drawing/2014/main" id="{8E0105E7-23DB-4CF2-8258-FF47C7620F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6928" y="0"/>
            <a:ext cx="11155680" cy="2011680"/>
          </a:xfrm>
          <a:prstGeom prst="rect">
            <a:avLst/>
          </a:pr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23095600-D5DB-4320-A2C5-EEB64E3DF1C4}"/>
              </a:ext>
            </a:extLst>
          </p:cNvPr>
          <p:cNvSpPr>
            <a:spLocks noGrp="1"/>
          </p:cNvSpPr>
          <p:nvPr>
            <p:ph type="title"/>
          </p:nvPr>
        </p:nvSpPr>
        <p:spPr>
          <a:xfrm>
            <a:off x="936664" y="521208"/>
            <a:ext cx="10168128" cy="1179576"/>
          </a:xfrm>
        </p:spPr>
        <p:txBody>
          <a:bodyPr>
            <a:normAutofit/>
          </a:bodyPr>
          <a:lstStyle/>
          <a:p>
            <a:r>
              <a:rPr lang="en-US" sz="4800"/>
              <a:t>Hypothalamic-pituitary Axes: </a:t>
            </a:r>
            <a:r>
              <a:rPr lang="en-US" sz="4800" b="1"/>
              <a:t>Posterior </a:t>
            </a:r>
          </a:p>
        </p:txBody>
      </p:sp>
      <p:sp>
        <p:nvSpPr>
          <p:cNvPr id="21" name="Rectangle 13">
            <a:extLst>
              <a:ext uri="{FF2B5EF4-FFF2-40B4-BE49-F238E27FC236}">
                <a16:creationId xmlns:a16="http://schemas.microsoft.com/office/drawing/2014/main" id="{074B4F7D-14B2-478B-8BF5-01E4E0C5D26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8834" y="758952"/>
            <a:ext cx="128016"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pic>
        <p:nvPicPr>
          <p:cNvPr id="4" name="Picture 3">
            <a:extLst>
              <a:ext uri="{FF2B5EF4-FFF2-40B4-BE49-F238E27FC236}">
                <a16:creationId xmlns:a16="http://schemas.microsoft.com/office/drawing/2014/main" id="{2929D9A6-0828-96B0-2681-D04E7ADA92C0}"/>
              </a:ext>
            </a:extLst>
          </p:cNvPr>
          <p:cNvPicPr>
            <a:picLocks noChangeAspect="1"/>
          </p:cNvPicPr>
          <p:nvPr/>
        </p:nvPicPr>
        <p:blipFill rotWithShape="1">
          <a:blip r:embed="rId3"/>
          <a:srcRect r="10023"/>
          <a:stretch/>
        </p:blipFill>
        <p:spPr>
          <a:xfrm>
            <a:off x="9319574" y="1700784"/>
            <a:ext cx="2702771" cy="5017293"/>
          </a:xfrm>
          <a:prstGeom prst="rect">
            <a:avLst/>
          </a:prstGeom>
        </p:spPr>
      </p:pic>
      <p:sp>
        <p:nvSpPr>
          <p:cNvPr id="3" name="Content Placeholder 2">
            <a:extLst>
              <a:ext uri="{FF2B5EF4-FFF2-40B4-BE49-F238E27FC236}">
                <a16:creationId xmlns:a16="http://schemas.microsoft.com/office/drawing/2014/main" id="{40F63512-38FC-415C-A33A-F86AD767DE59}"/>
              </a:ext>
            </a:extLst>
          </p:cNvPr>
          <p:cNvSpPr>
            <a:spLocks noGrp="1"/>
          </p:cNvSpPr>
          <p:nvPr>
            <p:ph idx="1"/>
          </p:nvPr>
        </p:nvSpPr>
        <p:spPr>
          <a:xfrm>
            <a:off x="264616" y="2112662"/>
            <a:ext cx="9348551" cy="5266546"/>
          </a:xfrm>
        </p:spPr>
        <p:txBody>
          <a:bodyPr>
            <a:normAutofit/>
          </a:bodyPr>
          <a:lstStyle/>
          <a:p>
            <a:r>
              <a:rPr lang="en-US" sz="3600" b="1" dirty="0"/>
              <a:t>Vasopressin</a:t>
            </a:r>
            <a:r>
              <a:rPr lang="en-US" sz="3600" dirty="0"/>
              <a:t> </a:t>
            </a:r>
            <a:r>
              <a:rPr lang="en-US" sz="3600" b="1" dirty="0"/>
              <a:t>(ADH): </a:t>
            </a:r>
            <a:r>
              <a:rPr lang="en-US" sz="3600" dirty="0"/>
              <a:t>produced in the hypothalamus, transported via axons to the posterior pituitary, then released into the blood </a:t>
            </a:r>
          </a:p>
          <a:p>
            <a:pPr lvl="1">
              <a:buFont typeface="Wingdings" panose="05000000000000000000" pitchFamily="2" charset="2"/>
              <a:buChar char="Ø"/>
            </a:pPr>
            <a:r>
              <a:rPr lang="en-US" sz="3600" dirty="0"/>
              <a:t> </a:t>
            </a:r>
            <a:r>
              <a:rPr lang="en-US" sz="3200" dirty="0"/>
              <a:t>Target organs: Kidneys</a:t>
            </a:r>
          </a:p>
          <a:p>
            <a:r>
              <a:rPr lang="en-US" sz="3600" b="1" dirty="0"/>
              <a:t>Oxytocin: </a:t>
            </a:r>
            <a:r>
              <a:rPr lang="en-US" sz="3600" dirty="0"/>
              <a:t>produced in the hypothalamus, transported via axons to the posterior pituitary and released in the blood </a:t>
            </a:r>
          </a:p>
          <a:p>
            <a:pPr lvl="1">
              <a:buFont typeface="Wingdings" panose="05000000000000000000" pitchFamily="2" charset="2"/>
              <a:buChar char="Ø"/>
            </a:pPr>
            <a:r>
              <a:rPr lang="en-US" sz="3600" dirty="0"/>
              <a:t> </a:t>
            </a:r>
            <a:r>
              <a:rPr lang="en-US" sz="3200" dirty="0"/>
              <a:t>Target organs: Breasts and uterus </a:t>
            </a:r>
            <a:endParaRPr lang="en-US" sz="3600" dirty="0"/>
          </a:p>
        </p:txBody>
      </p:sp>
    </p:spTree>
    <p:extLst>
      <p:ext uri="{BB962C8B-B14F-4D97-AF65-F5344CB8AC3E}">
        <p14:creationId xmlns:p14="http://schemas.microsoft.com/office/powerpoint/2010/main" val="61712268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D7700F-EE34-731E-2537-55F424204BBA}"/>
              </a:ext>
            </a:extLst>
          </p:cNvPr>
          <p:cNvSpPr>
            <a:spLocks noGrp="1"/>
          </p:cNvSpPr>
          <p:nvPr>
            <p:ph type="title"/>
          </p:nvPr>
        </p:nvSpPr>
        <p:spPr/>
        <p:txBody>
          <a:bodyPr/>
          <a:lstStyle/>
          <a:p>
            <a:r>
              <a:rPr lang="en-US" dirty="0"/>
              <a:t>Classification of Endocrine Dysfunction</a:t>
            </a:r>
          </a:p>
        </p:txBody>
      </p:sp>
    </p:spTree>
    <p:extLst>
      <p:ext uri="{BB962C8B-B14F-4D97-AF65-F5344CB8AC3E}">
        <p14:creationId xmlns:p14="http://schemas.microsoft.com/office/powerpoint/2010/main" val="59365330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58" name="Rectangle 1057">
            <a:extLst>
              <a:ext uri="{FF2B5EF4-FFF2-40B4-BE49-F238E27FC236}">
                <a16:creationId xmlns:a16="http://schemas.microsoft.com/office/drawing/2014/main" id="{E45CA849-654C-4173-AD99-B3A2528275F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14B2F4F-9AF2-4EC1-89EB-C8929959DE73}"/>
              </a:ext>
            </a:extLst>
          </p:cNvPr>
          <p:cNvSpPr>
            <a:spLocks noGrp="1"/>
          </p:cNvSpPr>
          <p:nvPr>
            <p:ph type="title"/>
          </p:nvPr>
        </p:nvSpPr>
        <p:spPr>
          <a:xfrm>
            <a:off x="429768" y="411480"/>
            <a:ext cx="11201400" cy="1106424"/>
          </a:xfrm>
        </p:spPr>
        <p:txBody>
          <a:bodyPr>
            <a:normAutofit/>
          </a:bodyPr>
          <a:lstStyle/>
          <a:p>
            <a:r>
              <a:rPr lang="en-US" sz="4800"/>
              <a:t>Classifying Endocrine Dysfunction </a:t>
            </a:r>
          </a:p>
        </p:txBody>
      </p:sp>
      <p:sp>
        <p:nvSpPr>
          <p:cNvPr id="1060" name="Rectangle 1059">
            <a:extLst>
              <a:ext uri="{FF2B5EF4-FFF2-40B4-BE49-F238E27FC236}">
                <a16:creationId xmlns:a16="http://schemas.microsoft.com/office/drawing/2014/main" id="{3E23A947-2D45-4208-AE2B-64948C87A3E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587931"/>
            <a:ext cx="128016"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062" name="Rectangle 1061">
            <a:extLst>
              <a:ext uri="{FF2B5EF4-FFF2-40B4-BE49-F238E27FC236}">
                <a16:creationId xmlns:a16="http://schemas.microsoft.com/office/drawing/2014/main" id="{E5BBB0F9-6A59-4D02-A9C7-A2D6516684C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543801" y="1721922"/>
            <a:ext cx="4218432" cy="4520560"/>
          </a:xfrm>
          <a:prstGeom prst="rect">
            <a:avLst/>
          </a:prstGeom>
          <a:ln w="9525">
            <a:solidFill>
              <a:srgbClr val="E1E1E1"/>
            </a:solidFill>
          </a:ln>
          <a:effectLst>
            <a:outerShdw blurRad="50800" dist="38100" dir="2700000" algn="t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 name="Content Placeholder 2">
            <a:extLst>
              <a:ext uri="{FF2B5EF4-FFF2-40B4-BE49-F238E27FC236}">
                <a16:creationId xmlns:a16="http://schemas.microsoft.com/office/drawing/2014/main" id="{5F0AC95B-CB46-423E-8BC7-05A39036B045}"/>
              </a:ext>
            </a:extLst>
          </p:cNvPr>
          <p:cNvSpPr>
            <a:spLocks noGrp="1"/>
          </p:cNvSpPr>
          <p:nvPr>
            <p:ph idx="1"/>
          </p:nvPr>
        </p:nvSpPr>
        <p:spPr>
          <a:xfrm>
            <a:off x="429766" y="1613551"/>
            <a:ext cx="11457434" cy="5244449"/>
          </a:xfrm>
          <a:solidFill>
            <a:schemeClr val="bg1"/>
          </a:solidFill>
        </p:spPr>
        <p:txBody>
          <a:bodyPr anchor="t">
            <a:normAutofit/>
          </a:body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US" sz="3400" b="1" i="0" u="none" strike="noStrike" kern="1200" cap="none" spc="0" normalizeH="0" baseline="0" noProof="0" dirty="0">
                <a:ln>
                  <a:noFill/>
                </a:ln>
                <a:solidFill>
                  <a:prstClr val="black"/>
                </a:solidFill>
                <a:effectLst/>
                <a:uLnTx/>
                <a:uFillTx/>
                <a:latin typeface="Calibri" panose="020F0502020204030204"/>
                <a:ea typeface="+mn-ea"/>
                <a:cs typeface="+mn-cs"/>
              </a:rPr>
              <a:t>Hypofunction:</a:t>
            </a:r>
            <a:r>
              <a:rPr kumimoji="0" lang="en-US" sz="3400" b="0" i="0" u="none" strike="noStrike" kern="1200" cap="none" spc="0" normalizeH="0" baseline="0" noProof="0" dirty="0">
                <a:ln>
                  <a:noFill/>
                </a:ln>
                <a:solidFill>
                  <a:prstClr val="black"/>
                </a:solidFill>
                <a:effectLst/>
                <a:uLnTx/>
                <a:uFillTx/>
                <a:latin typeface="Calibri" panose="020F0502020204030204"/>
                <a:ea typeface="+mn-ea"/>
                <a:cs typeface="+mn-cs"/>
              </a:rPr>
              <a:t> Insufficient hormone secreted by the gland </a:t>
            </a: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US" sz="3400" b="1" i="0" u="none" strike="noStrike" kern="1200" cap="none" spc="0" normalizeH="0" baseline="0" noProof="0" dirty="0">
                <a:ln>
                  <a:noFill/>
                </a:ln>
                <a:solidFill>
                  <a:prstClr val="black"/>
                </a:solidFill>
                <a:effectLst/>
                <a:uLnTx/>
                <a:uFillTx/>
                <a:latin typeface="Calibri" panose="020F0502020204030204"/>
                <a:ea typeface="+mn-ea"/>
                <a:cs typeface="+mn-cs"/>
              </a:rPr>
              <a:t>Hyperfunction: </a:t>
            </a:r>
            <a:r>
              <a:rPr kumimoji="0" lang="en-US" sz="3400" b="0" i="0" u="none" strike="noStrike" kern="1200" cap="none" spc="0" normalizeH="0" baseline="0" noProof="0" dirty="0">
                <a:ln>
                  <a:noFill/>
                </a:ln>
                <a:solidFill>
                  <a:prstClr val="black"/>
                </a:solidFill>
                <a:effectLst/>
                <a:uLnTx/>
                <a:uFillTx/>
                <a:latin typeface="Calibri" panose="020F0502020204030204"/>
                <a:ea typeface="+mn-ea"/>
                <a:cs typeface="+mn-cs"/>
              </a:rPr>
              <a:t>Excess hormone secretion by the gland </a:t>
            </a: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US" sz="3400" b="0" i="0" u="none" strike="noStrike" kern="1200" cap="none" spc="0" normalizeH="0" baseline="0" noProof="0" dirty="0">
                <a:ln>
                  <a:noFill/>
                </a:ln>
                <a:solidFill>
                  <a:prstClr val="black"/>
                </a:solidFill>
                <a:effectLst/>
                <a:uLnTx/>
                <a:uFillTx/>
                <a:latin typeface="Calibri" panose="020F0502020204030204"/>
                <a:ea typeface="+mn-ea"/>
                <a:cs typeface="+mn-cs"/>
              </a:rPr>
              <a:t>Level of the hypothalamic-pituitary-target organ axis at which the problem originates:</a:t>
            </a:r>
          </a:p>
          <a:p>
            <a:pPr marL="914400" lvl="1" indent="-457200">
              <a:spcBef>
                <a:spcPts val="1000"/>
              </a:spcBef>
              <a:buFont typeface="+mj-lt"/>
              <a:buAutoNum type="arabicPeriod"/>
              <a:defRPr/>
            </a:pPr>
            <a:r>
              <a:rPr kumimoji="0" lang="en-US" sz="3200" b="1" i="0" u="none" strike="noStrike" kern="1200" cap="none" spc="0" normalizeH="0" baseline="0" noProof="0" dirty="0">
                <a:ln>
                  <a:noFill/>
                </a:ln>
                <a:solidFill>
                  <a:prstClr val="black"/>
                </a:solidFill>
                <a:effectLst/>
                <a:uLnTx/>
                <a:uFillTx/>
                <a:latin typeface="Calibri" panose="020F0502020204030204"/>
                <a:ea typeface="+mn-ea"/>
                <a:cs typeface="+mn-cs"/>
              </a:rPr>
              <a:t>Primary (most common):</a:t>
            </a:r>
            <a:r>
              <a:rPr kumimoji="0" lang="en-US" sz="3200" b="0" i="0" u="none" strike="noStrike" kern="1200" cap="none" spc="0" normalizeH="0" baseline="0" noProof="0" dirty="0">
                <a:ln>
                  <a:noFill/>
                </a:ln>
                <a:solidFill>
                  <a:prstClr val="black"/>
                </a:solidFill>
                <a:effectLst/>
                <a:uLnTx/>
                <a:uFillTx/>
                <a:latin typeface="Calibri" panose="020F0502020204030204"/>
                <a:ea typeface="+mn-ea"/>
                <a:cs typeface="+mn-cs"/>
              </a:rPr>
              <a:t> Caused by the endocrine gland itself </a:t>
            </a:r>
          </a:p>
          <a:p>
            <a:pPr marL="971550" marR="0" lvl="1" indent="-514350" algn="l" defTabSz="914400" rtl="0" eaLnBrk="1" fontAlgn="auto" latinLnBrk="0" hangingPunct="1">
              <a:lnSpc>
                <a:spcPct val="90000"/>
              </a:lnSpc>
              <a:spcBef>
                <a:spcPts val="500"/>
              </a:spcBef>
              <a:spcAft>
                <a:spcPts val="0"/>
              </a:spcAft>
              <a:buClrTx/>
              <a:buSzTx/>
              <a:buFont typeface="+mj-lt"/>
              <a:buAutoNum type="arabicPeriod"/>
              <a:tabLst/>
              <a:defRPr/>
            </a:pPr>
            <a:r>
              <a:rPr kumimoji="0" lang="en-US" sz="3200" b="1" i="0" u="none" strike="noStrike" kern="1200" cap="none" spc="0" normalizeH="0" baseline="0" noProof="0" dirty="0">
                <a:ln>
                  <a:noFill/>
                </a:ln>
                <a:solidFill>
                  <a:srgbClr val="C00000"/>
                </a:solidFill>
                <a:effectLst/>
                <a:uLnTx/>
                <a:uFillTx/>
                <a:latin typeface="Calibri" panose="020F0502020204030204"/>
                <a:ea typeface="+mn-ea"/>
                <a:cs typeface="+mn-cs"/>
              </a:rPr>
              <a:t>Secondary</a:t>
            </a:r>
            <a:r>
              <a:rPr lang="en-US" sz="3200" dirty="0">
                <a:solidFill>
                  <a:srgbClr val="C00000"/>
                </a:solidFill>
                <a:latin typeface="Calibri" panose="020F0502020204030204"/>
              </a:rPr>
              <a:t>:</a:t>
            </a:r>
            <a:r>
              <a:rPr kumimoji="0" lang="en-US" sz="3200" b="0" i="0" u="none" strike="noStrike" kern="1200" cap="none" spc="0" normalizeH="0" baseline="0" noProof="0" dirty="0">
                <a:ln>
                  <a:noFill/>
                </a:ln>
                <a:solidFill>
                  <a:srgbClr val="C00000"/>
                </a:solidFill>
                <a:effectLst/>
                <a:uLnTx/>
                <a:uFillTx/>
                <a:latin typeface="Calibri" panose="020F0502020204030204"/>
                <a:ea typeface="+mn-ea"/>
                <a:cs typeface="+mn-cs"/>
              </a:rPr>
              <a:t> Dysfunction from abnormal pituitary activity </a:t>
            </a:r>
          </a:p>
          <a:p>
            <a:pPr marL="971550" marR="0" lvl="1" indent="-514350" algn="l" defTabSz="914400" rtl="0" eaLnBrk="1" fontAlgn="auto" latinLnBrk="0" hangingPunct="1">
              <a:lnSpc>
                <a:spcPct val="90000"/>
              </a:lnSpc>
              <a:spcBef>
                <a:spcPts val="500"/>
              </a:spcBef>
              <a:spcAft>
                <a:spcPts val="0"/>
              </a:spcAft>
              <a:buClrTx/>
              <a:buSzTx/>
              <a:buFont typeface="+mj-lt"/>
              <a:buAutoNum type="arabicPeriod"/>
              <a:tabLst/>
              <a:defRPr/>
            </a:pPr>
            <a:r>
              <a:rPr kumimoji="0" lang="en-US" sz="3200" b="1" i="0" u="none" strike="noStrike" kern="1200" cap="none" spc="0" normalizeH="0" baseline="0" noProof="0" dirty="0">
                <a:ln>
                  <a:noFill/>
                </a:ln>
                <a:solidFill>
                  <a:prstClr val="black"/>
                </a:solidFill>
                <a:effectLst/>
                <a:uLnTx/>
                <a:uFillTx/>
                <a:latin typeface="Calibri" panose="020F0502020204030204"/>
                <a:ea typeface="+mn-ea"/>
                <a:cs typeface="+mn-cs"/>
              </a:rPr>
              <a:t>Tertiary:</a:t>
            </a:r>
            <a:r>
              <a:rPr kumimoji="0" lang="en-US" sz="3200" b="0" i="0" u="none" strike="noStrike" kern="1200" cap="none" spc="0" normalizeH="0" baseline="0" noProof="0" dirty="0">
                <a:ln>
                  <a:noFill/>
                </a:ln>
                <a:solidFill>
                  <a:prstClr val="black"/>
                </a:solidFill>
                <a:effectLst/>
                <a:uLnTx/>
                <a:uFillTx/>
                <a:latin typeface="Calibri" panose="020F0502020204030204"/>
                <a:ea typeface="+mn-ea"/>
                <a:cs typeface="+mn-cs"/>
              </a:rPr>
              <a:t> Dysfunction originating at the level of the hypothalamus </a:t>
            </a:r>
          </a:p>
          <a:p>
            <a:endParaRPr lang="en-US" sz="1800" dirty="0"/>
          </a:p>
        </p:txBody>
      </p:sp>
    </p:spTree>
    <p:extLst>
      <p:ext uri="{BB962C8B-B14F-4D97-AF65-F5344CB8AC3E}">
        <p14:creationId xmlns:p14="http://schemas.microsoft.com/office/powerpoint/2010/main" val="141302979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58" name="Rectangle 1057">
            <a:extLst>
              <a:ext uri="{FF2B5EF4-FFF2-40B4-BE49-F238E27FC236}">
                <a16:creationId xmlns:a16="http://schemas.microsoft.com/office/drawing/2014/main" id="{E45CA849-654C-4173-AD99-B3A2528275F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14B2F4F-9AF2-4EC1-89EB-C8929959DE73}"/>
              </a:ext>
            </a:extLst>
          </p:cNvPr>
          <p:cNvSpPr>
            <a:spLocks noGrp="1"/>
          </p:cNvSpPr>
          <p:nvPr>
            <p:ph type="title"/>
          </p:nvPr>
        </p:nvSpPr>
        <p:spPr>
          <a:xfrm>
            <a:off x="429768" y="386763"/>
            <a:ext cx="11201400" cy="1106424"/>
          </a:xfrm>
        </p:spPr>
        <p:txBody>
          <a:bodyPr>
            <a:normAutofit/>
          </a:bodyPr>
          <a:lstStyle/>
          <a:p>
            <a:r>
              <a:rPr lang="en-US" sz="4800" dirty="0"/>
              <a:t>Common Causes of Pituitary Dysfunction </a:t>
            </a:r>
          </a:p>
        </p:txBody>
      </p:sp>
      <p:sp>
        <p:nvSpPr>
          <p:cNvPr id="1060" name="Rectangle 1059">
            <a:extLst>
              <a:ext uri="{FF2B5EF4-FFF2-40B4-BE49-F238E27FC236}">
                <a16:creationId xmlns:a16="http://schemas.microsoft.com/office/drawing/2014/main" id="{3E23A947-2D45-4208-AE2B-64948C87A3E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587931"/>
            <a:ext cx="128016"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062" name="Rectangle 1061">
            <a:extLst>
              <a:ext uri="{FF2B5EF4-FFF2-40B4-BE49-F238E27FC236}">
                <a16:creationId xmlns:a16="http://schemas.microsoft.com/office/drawing/2014/main" id="{E5BBB0F9-6A59-4D02-A9C7-A2D6516684C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543801" y="1721922"/>
            <a:ext cx="4218432" cy="4520560"/>
          </a:xfrm>
          <a:prstGeom prst="rect">
            <a:avLst/>
          </a:prstGeom>
          <a:ln w="9525">
            <a:solidFill>
              <a:srgbClr val="E1E1E1"/>
            </a:solidFill>
          </a:ln>
          <a:effectLst>
            <a:outerShdw blurRad="50800" dist="38100" dir="2700000" algn="t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 name="Content Placeholder 2">
            <a:extLst>
              <a:ext uri="{FF2B5EF4-FFF2-40B4-BE49-F238E27FC236}">
                <a16:creationId xmlns:a16="http://schemas.microsoft.com/office/drawing/2014/main" id="{5F0AC95B-CB46-423E-8BC7-05A39036B045}"/>
              </a:ext>
            </a:extLst>
          </p:cNvPr>
          <p:cNvSpPr>
            <a:spLocks noGrp="1"/>
          </p:cNvSpPr>
          <p:nvPr>
            <p:ph idx="1"/>
          </p:nvPr>
        </p:nvSpPr>
        <p:spPr>
          <a:xfrm>
            <a:off x="429766" y="1721922"/>
            <a:ext cx="11571733" cy="5009078"/>
          </a:xfrm>
          <a:solidFill>
            <a:schemeClr val="bg1"/>
          </a:solidFill>
        </p:spPr>
        <p:txBody>
          <a:bodyPr anchor="t">
            <a:normAutofit/>
          </a:bodyPr>
          <a:lstStyle/>
          <a:p>
            <a:pPr marL="742950" marR="0" lvl="0" indent="-742950" algn="l" defTabSz="914400" rtl="0" eaLnBrk="1" fontAlgn="auto" latinLnBrk="0" hangingPunct="1">
              <a:lnSpc>
                <a:spcPct val="90000"/>
              </a:lnSpc>
              <a:spcBef>
                <a:spcPts val="1000"/>
              </a:spcBef>
              <a:spcAft>
                <a:spcPts val="0"/>
              </a:spcAft>
              <a:buClrTx/>
              <a:buSzTx/>
              <a:buFont typeface="+mj-lt"/>
              <a:buAutoNum type="arabicPeriod"/>
              <a:tabLst/>
              <a:defRPr/>
            </a:pPr>
            <a:r>
              <a:rPr kumimoji="0" lang="en-US" sz="3600" b="1" i="0" u="none" strike="noStrike" kern="1200" cap="none" spc="0" normalizeH="0" baseline="0" noProof="0" dirty="0">
                <a:ln>
                  <a:noFill/>
                </a:ln>
                <a:solidFill>
                  <a:prstClr val="black"/>
                </a:solidFill>
                <a:effectLst/>
                <a:uLnTx/>
                <a:uFillTx/>
                <a:latin typeface="Calibri" panose="020F0502020204030204"/>
                <a:ea typeface="+mn-ea"/>
                <a:cs typeface="+mn-cs"/>
              </a:rPr>
              <a:t>Hormone deficiency</a:t>
            </a:r>
            <a:r>
              <a:rPr kumimoji="0" lang="en-US" sz="3600" b="0" i="0" u="none" strike="noStrike" kern="1200" cap="none" spc="0" normalizeH="0" baseline="0" noProof="0" dirty="0">
                <a:ln>
                  <a:noFill/>
                </a:ln>
                <a:solidFill>
                  <a:prstClr val="black"/>
                </a:solidFill>
                <a:effectLst/>
                <a:uLnTx/>
                <a:uFillTx/>
                <a:latin typeface="Calibri" panose="020F0502020204030204"/>
                <a:ea typeface="+mn-ea"/>
                <a:cs typeface="+mn-cs"/>
              </a:rPr>
              <a:t>: autoimmune glandular destruction, infection, inflammatory disease, genetic mutations, surgery, mass effect  </a:t>
            </a:r>
          </a:p>
          <a:p>
            <a:pPr marL="742950" marR="0" lvl="0" indent="-742950" algn="l" defTabSz="914400" rtl="0" eaLnBrk="1" fontAlgn="auto" latinLnBrk="0" hangingPunct="1">
              <a:lnSpc>
                <a:spcPct val="90000"/>
              </a:lnSpc>
              <a:spcBef>
                <a:spcPts val="1000"/>
              </a:spcBef>
              <a:spcAft>
                <a:spcPts val="0"/>
              </a:spcAft>
              <a:buClrTx/>
              <a:buSzTx/>
              <a:buFont typeface="+mj-lt"/>
              <a:buAutoNum type="arabicPeriod"/>
              <a:tabLst/>
              <a:defRPr/>
            </a:pPr>
            <a:r>
              <a:rPr kumimoji="0" lang="en-US" sz="3600" b="1" i="0" u="none" strike="noStrike" kern="1200" cap="none" spc="0" normalizeH="0" baseline="0" noProof="0" dirty="0">
                <a:ln>
                  <a:noFill/>
                </a:ln>
                <a:solidFill>
                  <a:prstClr val="black"/>
                </a:solidFill>
                <a:effectLst/>
                <a:uLnTx/>
                <a:uFillTx/>
                <a:latin typeface="Calibri" panose="020F0502020204030204"/>
                <a:ea typeface="+mn-ea"/>
                <a:cs typeface="+mn-cs"/>
              </a:rPr>
              <a:t>Excess hormone production</a:t>
            </a:r>
            <a:r>
              <a:rPr kumimoji="0" lang="en-US" sz="3600" b="0" i="0" u="none" strike="noStrike" kern="1200" cap="none" spc="0" normalizeH="0" baseline="0" noProof="0" dirty="0">
                <a:ln>
                  <a:noFill/>
                </a:ln>
                <a:solidFill>
                  <a:prstClr val="black"/>
                </a:solidFill>
                <a:effectLst/>
                <a:uLnTx/>
                <a:uFillTx/>
                <a:latin typeface="Calibri" panose="020F0502020204030204"/>
                <a:ea typeface="+mn-ea"/>
                <a:cs typeface="+mn-cs"/>
              </a:rPr>
              <a:t>: benign tumors, neoplasm, autoimmune disease, excess hormone administration, genetic activating mutations </a:t>
            </a:r>
          </a:p>
          <a:p>
            <a:pPr marL="742950" marR="0" lvl="0" indent="-742950" algn="l" defTabSz="914400" rtl="0" eaLnBrk="1" fontAlgn="auto" latinLnBrk="0" hangingPunct="1">
              <a:lnSpc>
                <a:spcPct val="90000"/>
              </a:lnSpc>
              <a:spcBef>
                <a:spcPts val="1000"/>
              </a:spcBef>
              <a:spcAft>
                <a:spcPts val="0"/>
              </a:spcAft>
              <a:buClrTx/>
              <a:buSzTx/>
              <a:buFont typeface="+mj-lt"/>
              <a:buAutoNum type="arabicPeriod"/>
              <a:tabLst/>
              <a:defRPr/>
            </a:pPr>
            <a:r>
              <a:rPr kumimoji="0" lang="en-US" sz="3600" b="1" i="0" u="none" strike="noStrike" kern="1200" cap="none" spc="0" normalizeH="0" baseline="0" noProof="0" dirty="0">
                <a:ln>
                  <a:noFill/>
                </a:ln>
                <a:solidFill>
                  <a:prstClr val="black"/>
                </a:solidFill>
                <a:effectLst/>
                <a:uLnTx/>
                <a:uFillTx/>
                <a:latin typeface="Calibri" panose="020F0502020204030204"/>
                <a:ea typeface="+mn-ea"/>
                <a:cs typeface="+mn-cs"/>
              </a:rPr>
              <a:t>Resistance to hormones</a:t>
            </a:r>
            <a:r>
              <a:rPr kumimoji="0" lang="en-US" sz="3600" b="0" i="0" u="none" strike="noStrike" kern="1200" cap="none" spc="0" normalizeH="0" baseline="0" noProof="0" dirty="0">
                <a:ln>
                  <a:noFill/>
                </a:ln>
                <a:solidFill>
                  <a:prstClr val="black"/>
                </a:solidFill>
                <a:effectLst/>
                <a:uLnTx/>
                <a:uFillTx/>
                <a:latin typeface="Calibri" panose="020F0502020204030204"/>
                <a:ea typeface="+mn-ea"/>
                <a:cs typeface="+mn-cs"/>
              </a:rPr>
              <a:t>: genetic defects cause dysfunctional membrane receptors and signaling  </a:t>
            </a:r>
          </a:p>
          <a:p>
            <a:endParaRPr lang="en-US" sz="1800" dirty="0"/>
          </a:p>
        </p:txBody>
      </p:sp>
    </p:spTree>
    <p:extLst>
      <p:ext uri="{BB962C8B-B14F-4D97-AF65-F5344CB8AC3E}">
        <p14:creationId xmlns:p14="http://schemas.microsoft.com/office/powerpoint/2010/main" val="423001439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C9774F-6247-4064-4577-B53453420C38}"/>
              </a:ext>
            </a:extLst>
          </p:cNvPr>
          <p:cNvSpPr>
            <a:spLocks noGrp="1"/>
          </p:cNvSpPr>
          <p:nvPr>
            <p:ph type="title"/>
          </p:nvPr>
        </p:nvSpPr>
        <p:spPr/>
        <p:txBody>
          <a:bodyPr/>
          <a:lstStyle/>
          <a:p>
            <a:r>
              <a:rPr lang="en-US" dirty="0"/>
              <a:t>Hypopituitarism</a:t>
            </a:r>
          </a:p>
        </p:txBody>
      </p:sp>
    </p:spTree>
    <p:extLst>
      <p:ext uri="{BB962C8B-B14F-4D97-AF65-F5344CB8AC3E}">
        <p14:creationId xmlns:p14="http://schemas.microsoft.com/office/powerpoint/2010/main" val="400538536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DAF1966E-FD40-4A4A-B61B-C4DF7FA05F0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0" name="Rectangle 9">
            <a:extLst>
              <a:ext uri="{FF2B5EF4-FFF2-40B4-BE49-F238E27FC236}">
                <a16:creationId xmlns:a16="http://schemas.microsoft.com/office/drawing/2014/main" id="{047BFA19-D45E-416B-A404-7AF2F3F270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58209" y="0"/>
            <a:ext cx="11167447" cy="2018806"/>
          </a:xfrm>
          <a:prstGeom prst="rect">
            <a:avLst/>
          </a:prstGeom>
          <a:ln w="9525">
            <a:solidFill>
              <a:srgbClr val="E1E1E1"/>
            </a:solidFill>
          </a:ln>
          <a:effectLst>
            <a:outerShdw blurRad="50800" dist="38100" dir="2700000" algn="t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2" name="Rectangle 11">
            <a:extLst>
              <a:ext uri="{FF2B5EF4-FFF2-40B4-BE49-F238E27FC236}">
                <a16:creationId xmlns:a16="http://schemas.microsoft.com/office/drawing/2014/main" id="{8E0105E7-23DB-4CF2-8258-FF47C7620F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6928" y="0"/>
            <a:ext cx="11155680" cy="2011680"/>
          </a:xfrm>
          <a:prstGeom prst="rect">
            <a:avLst/>
          </a:pr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DA049D35-02B0-45D1-9D7C-94046C6E38A5}"/>
              </a:ext>
            </a:extLst>
          </p:cNvPr>
          <p:cNvSpPr>
            <a:spLocks noGrp="1"/>
          </p:cNvSpPr>
          <p:nvPr>
            <p:ph type="title"/>
          </p:nvPr>
        </p:nvSpPr>
        <p:spPr>
          <a:xfrm>
            <a:off x="1057868" y="172441"/>
            <a:ext cx="10168128" cy="704088"/>
          </a:xfrm>
        </p:spPr>
        <p:txBody>
          <a:bodyPr>
            <a:normAutofit fontScale="90000"/>
          </a:bodyPr>
          <a:lstStyle/>
          <a:p>
            <a:r>
              <a:rPr lang="en-US" sz="5400" dirty="0"/>
              <a:t>Hypopituitarism </a:t>
            </a:r>
          </a:p>
        </p:txBody>
      </p:sp>
      <p:sp>
        <p:nvSpPr>
          <p:cNvPr id="14" name="Rectangle 13">
            <a:extLst>
              <a:ext uri="{FF2B5EF4-FFF2-40B4-BE49-F238E27FC236}">
                <a16:creationId xmlns:a16="http://schemas.microsoft.com/office/drawing/2014/main" id="{074B4F7D-14B2-478B-8BF5-01E4E0C5D26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8834" y="758952"/>
            <a:ext cx="128016"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3" name="Content Placeholder 2">
            <a:extLst>
              <a:ext uri="{FF2B5EF4-FFF2-40B4-BE49-F238E27FC236}">
                <a16:creationId xmlns:a16="http://schemas.microsoft.com/office/drawing/2014/main" id="{CEFB2A6B-4BE4-4666-9AC5-F4C678342246}"/>
              </a:ext>
            </a:extLst>
          </p:cNvPr>
          <p:cNvSpPr>
            <a:spLocks noGrp="1"/>
          </p:cNvSpPr>
          <p:nvPr>
            <p:ph idx="1"/>
          </p:nvPr>
        </p:nvSpPr>
        <p:spPr>
          <a:xfrm>
            <a:off x="566928" y="1035307"/>
            <a:ext cx="11278191" cy="5636589"/>
          </a:xfrm>
        </p:spPr>
        <p:txBody>
          <a:bodyPr>
            <a:normAutofit fontScale="92500" lnSpcReduction="10000"/>
          </a:bodyPr>
          <a:lstStyle/>
          <a:p>
            <a:r>
              <a:rPr lang="en-US" sz="3600" b="1" dirty="0"/>
              <a:t>Inadequate production of one or more anterior pituitary hormones </a:t>
            </a:r>
            <a:r>
              <a:rPr lang="en-US" sz="3600" dirty="0"/>
              <a:t>from disease of the pituitary or hypothalamus </a:t>
            </a:r>
          </a:p>
          <a:p>
            <a:r>
              <a:rPr lang="en-US" sz="3600" dirty="0"/>
              <a:t>Diagnostic lab pattern – a LOW pituitary hormone level in the setting of a LOW target hormone level</a:t>
            </a:r>
          </a:p>
          <a:p>
            <a:pPr lvl="1"/>
            <a:r>
              <a:rPr lang="en-US" sz="3600" dirty="0"/>
              <a:t>Ex: a low TSH with a low T4 level </a:t>
            </a:r>
          </a:p>
          <a:p>
            <a:r>
              <a:rPr lang="en-US" sz="3600" dirty="0"/>
              <a:t>Treatment typically involves hormone replacement therapy </a:t>
            </a:r>
          </a:p>
          <a:p>
            <a:r>
              <a:rPr lang="en-US" sz="3600" dirty="0"/>
              <a:t>Congenital cases often present gradually, with short stature and growth failure due to GH and TSH deficiency</a:t>
            </a:r>
          </a:p>
          <a:p>
            <a:pPr lvl="1"/>
            <a:r>
              <a:rPr lang="en-US" sz="3200" dirty="0"/>
              <a:t>Followed by lack of pubertal development due to LH/FSH deficiencies</a:t>
            </a:r>
          </a:p>
          <a:p>
            <a:r>
              <a:rPr lang="en-US" sz="3600" dirty="0"/>
              <a:t>Patients with long-standing hypopituitarism tend to have dry, pale, fine, wrinkled facial skin and an apathetic affect.</a:t>
            </a:r>
          </a:p>
          <a:p>
            <a:endParaRPr lang="en-US" sz="3600" dirty="0"/>
          </a:p>
        </p:txBody>
      </p:sp>
    </p:spTree>
    <p:extLst>
      <p:ext uri="{BB962C8B-B14F-4D97-AF65-F5344CB8AC3E}">
        <p14:creationId xmlns:p14="http://schemas.microsoft.com/office/powerpoint/2010/main" val="307739805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 name="Rectangle 7">
            <a:extLst>
              <a:ext uri="{FF2B5EF4-FFF2-40B4-BE49-F238E27FC236}">
                <a16:creationId xmlns:a16="http://schemas.microsoft.com/office/drawing/2014/main" id="{DAF1966E-FD40-4A4A-B61B-C4DF7FA05F0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9" name="Rectangle 9">
            <a:extLst>
              <a:ext uri="{FF2B5EF4-FFF2-40B4-BE49-F238E27FC236}">
                <a16:creationId xmlns:a16="http://schemas.microsoft.com/office/drawing/2014/main" id="{047BFA19-D45E-416B-A404-7AF2F3F270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58209" y="0"/>
            <a:ext cx="11167447" cy="2018806"/>
          </a:xfrm>
          <a:prstGeom prst="rect">
            <a:avLst/>
          </a:prstGeom>
          <a:ln w="9525">
            <a:solidFill>
              <a:srgbClr val="E1E1E1"/>
            </a:solidFill>
          </a:ln>
          <a:effectLst>
            <a:outerShdw blurRad="50800" dist="38100" dir="2700000" algn="t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1" name="Rectangle 11">
            <a:extLst>
              <a:ext uri="{FF2B5EF4-FFF2-40B4-BE49-F238E27FC236}">
                <a16:creationId xmlns:a16="http://schemas.microsoft.com/office/drawing/2014/main" id="{8E0105E7-23DB-4CF2-8258-FF47C7620F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6928" y="0"/>
            <a:ext cx="11155680" cy="2011680"/>
          </a:xfrm>
          <a:prstGeom prst="rect">
            <a:avLst/>
          </a:pr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D67427CC-274B-4635-91AD-5A3D6BBE980B}"/>
              </a:ext>
            </a:extLst>
          </p:cNvPr>
          <p:cNvSpPr>
            <a:spLocks noGrp="1"/>
          </p:cNvSpPr>
          <p:nvPr>
            <p:ph type="title"/>
          </p:nvPr>
        </p:nvSpPr>
        <p:spPr>
          <a:xfrm>
            <a:off x="686225" y="364018"/>
            <a:ext cx="11155679" cy="1493955"/>
          </a:xfrm>
        </p:spPr>
        <p:txBody>
          <a:bodyPr>
            <a:normAutofit/>
          </a:bodyPr>
          <a:lstStyle/>
          <a:p>
            <a:r>
              <a:rPr lang="en-US" sz="4800" dirty="0"/>
              <a:t>Hypopituitarism Etiologies </a:t>
            </a:r>
          </a:p>
        </p:txBody>
      </p:sp>
      <p:sp>
        <p:nvSpPr>
          <p:cNvPr id="14" name="Rectangle 13">
            <a:extLst>
              <a:ext uri="{FF2B5EF4-FFF2-40B4-BE49-F238E27FC236}">
                <a16:creationId xmlns:a16="http://schemas.microsoft.com/office/drawing/2014/main" id="{074B4F7D-14B2-478B-8BF5-01E4E0C5D26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8834" y="758952"/>
            <a:ext cx="128016"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3" name="Content Placeholder 2">
            <a:extLst>
              <a:ext uri="{FF2B5EF4-FFF2-40B4-BE49-F238E27FC236}">
                <a16:creationId xmlns:a16="http://schemas.microsoft.com/office/drawing/2014/main" id="{E7C456D4-5DF4-4960-9C25-06D891466897}"/>
              </a:ext>
            </a:extLst>
          </p:cNvPr>
          <p:cNvSpPr>
            <a:spLocks noGrp="1"/>
          </p:cNvSpPr>
          <p:nvPr>
            <p:ph idx="1"/>
          </p:nvPr>
        </p:nvSpPr>
        <p:spPr>
          <a:xfrm>
            <a:off x="558208" y="2352778"/>
            <a:ext cx="11164399" cy="4505221"/>
          </a:xfrm>
        </p:spPr>
        <p:txBody>
          <a:bodyPr>
            <a:normAutofit/>
          </a:bodyPr>
          <a:lstStyle/>
          <a:p>
            <a:r>
              <a:rPr lang="en-US" sz="3600" b="1" dirty="0"/>
              <a:t>Mass lesions: </a:t>
            </a:r>
            <a:r>
              <a:rPr lang="en-US" sz="3600" b="1" dirty="0">
                <a:solidFill>
                  <a:srgbClr val="C00000"/>
                </a:solidFill>
              </a:rPr>
              <a:t>Pituitary adenomas</a:t>
            </a:r>
            <a:r>
              <a:rPr lang="en-US" sz="3600" dirty="0"/>
              <a:t>, cysts </a:t>
            </a:r>
          </a:p>
          <a:p>
            <a:r>
              <a:rPr lang="en-US" sz="3600" b="1" dirty="0"/>
              <a:t>Pituitary surgery/radiation</a:t>
            </a:r>
          </a:p>
          <a:p>
            <a:r>
              <a:rPr lang="en-US" sz="3600" b="1" dirty="0"/>
              <a:t>Infiltrative disease: </a:t>
            </a:r>
            <a:r>
              <a:rPr lang="en-US" sz="3600" dirty="0"/>
              <a:t>Sarcoidosis, hemochromatosis</a:t>
            </a:r>
          </a:p>
          <a:p>
            <a:r>
              <a:rPr lang="en-US" sz="3600" b="1" dirty="0"/>
              <a:t>Infection: </a:t>
            </a:r>
            <a:r>
              <a:rPr lang="en-US" sz="3600" dirty="0"/>
              <a:t>TB, syphilis</a:t>
            </a:r>
          </a:p>
          <a:p>
            <a:r>
              <a:rPr lang="en-US" sz="3600" b="1" dirty="0"/>
              <a:t>Infarction: </a:t>
            </a:r>
            <a:r>
              <a:rPr lang="en-US" sz="3600" dirty="0"/>
              <a:t>Sheehan Syndrome (postpartum necrosis)</a:t>
            </a:r>
          </a:p>
          <a:p>
            <a:r>
              <a:rPr lang="en-US" sz="3600" b="1" dirty="0"/>
              <a:t>Genetic mutations </a:t>
            </a:r>
          </a:p>
          <a:p>
            <a:pPr lvl="1"/>
            <a:endParaRPr lang="en-US" sz="2200" dirty="0"/>
          </a:p>
          <a:p>
            <a:pPr lvl="1"/>
            <a:endParaRPr lang="en-US" sz="2200" dirty="0"/>
          </a:p>
        </p:txBody>
      </p:sp>
    </p:spTree>
    <p:extLst>
      <p:ext uri="{BB962C8B-B14F-4D97-AF65-F5344CB8AC3E}">
        <p14:creationId xmlns:p14="http://schemas.microsoft.com/office/powerpoint/2010/main" val="123439297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 name="Rectangle 7">
            <a:extLst>
              <a:ext uri="{FF2B5EF4-FFF2-40B4-BE49-F238E27FC236}">
                <a16:creationId xmlns:a16="http://schemas.microsoft.com/office/drawing/2014/main" id="{DAF1966E-FD40-4A4A-B61B-C4DF7FA05F0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9" name="Rectangle 9">
            <a:extLst>
              <a:ext uri="{FF2B5EF4-FFF2-40B4-BE49-F238E27FC236}">
                <a16:creationId xmlns:a16="http://schemas.microsoft.com/office/drawing/2014/main" id="{047BFA19-D45E-416B-A404-7AF2F3F270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58209" y="0"/>
            <a:ext cx="11167447" cy="2018806"/>
          </a:xfrm>
          <a:prstGeom prst="rect">
            <a:avLst/>
          </a:prstGeom>
          <a:ln w="9525">
            <a:solidFill>
              <a:srgbClr val="E1E1E1"/>
            </a:solidFill>
          </a:ln>
          <a:effectLst>
            <a:outerShdw blurRad="50800" dist="38100" dir="2700000" algn="t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1" name="Rectangle 11">
            <a:extLst>
              <a:ext uri="{FF2B5EF4-FFF2-40B4-BE49-F238E27FC236}">
                <a16:creationId xmlns:a16="http://schemas.microsoft.com/office/drawing/2014/main" id="{8E0105E7-23DB-4CF2-8258-FF47C7620F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6928" y="0"/>
            <a:ext cx="11155680" cy="2011680"/>
          </a:xfrm>
          <a:prstGeom prst="rect">
            <a:avLst/>
          </a:pr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D67427CC-274B-4635-91AD-5A3D6BBE980B}"/>
              </a:ext>
            </a:extLst>
          </p:cNvPr>
          <p:cNvSpPr>
            <a:spLocks noGrp="1"/>
          </p:cNvSpPr>
          <p:nvPr>
            <p:ph type="title"/>
          </p:nvPr>
        </p:nvSpPr>
        <p:spPr>
          <a:xfrm>
            <a:off x="686225" y="364018"/>
            <a:ext cx="11155679" cy="1493955"/>
          </a:xfrm>
        </p:spPr>
        <p:txBody>
          <a:bodyPr>
            <a:normAutofit/>
          </a:bodyPr>
          <a:lstStyle/>
          <a:p>
            <a:r>
              <a:rPr lang="en-US" sz="4800"/>
              <a:t>Hypothalamic Etiologies </a:t>
            </a:r>
          </a:p>
        </p:txBody>
      </p:sp>
      <p:sp>
        <p:nvSpPr>
          <p:cNvPr id="14" name="Rectangle 13">
            <a:extLst>
              <a:ext uri="{FF2B5EF4-FFF2-40B4-BE49-F238E27FC236}">
                <a16:creationId xmlns:a16="http://schemas.microsoft.com/office/drawing/2014/main" id="{074B4F7D-14B2-478B-8BF5-01E4E0C5D26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8834" y="758952"/>
            <a:ext cx="128016"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3" name="Content Placeholder 2">
            <a:extLst>
              <a:ext uri="{FF2B5EF4-FFF2-40B4-BE49-F238E27FC236}">
                <a16:creationId xmlns:a16="http://schemas.microsoft.com/office/drawing/2014/main" id="{E7C456D4-5DF4-4960-9C25-06D891466897}"/>
              </a:ext>
            </a:extLst>
          </p:cNvPr>
          <p:cNvSpPr>
            <a:spLocks noGrp="1"/>
          </p:cNvSpPr>
          <p:nvPr>
            <p:ph idx="1"/>
          </p:nvPr>
        </p:nvSpPr>
        <p:spPr>
          <a:xfrm>
            <a:off x="558208" y="2352778"/>
            <a:ext cx="11164399" cy="4505221"/>
          </a:xfrm>
        </p:spPr>
        <p:txBody>
          <a:bodyPr>
            <a:normAutofit/>
          </a:bodyPr>
          <a:lstStyle/>
          <a:p>
            <a:r>
              <a:rPr lang="en-US" sz="3600" b="1"/>
              <a:t>Mass lesions</a:t>
            </a:r>
            <a:r>
              <a:rPr lang="en-US" sz="3600"/>
              <a:t>: Benign (craniopharyngiomas) or malignant metastatic lesions </a:t>
            </a:r>
          </a:p>
          <a:p>
            <a:r>
              <a:rPr lang="en-US" sz="3600" b="1"/>
              <a:t>Radiation: </a:t>
            </a:r>
            <a:r>
              <a:rPr lang="en-US" sz="3600"/>
              <a:t>CNS or nasopharyngeal cancers</a:t>
            </a:r>
          </a:p>
          <a:p>
            <a:r>
              <a:rPr lang="en-US" sz="3600" b="1"/>
              <a:t>Infiltrative disease: </a:t>
            </a:r>
            <a:r>
              <a:rPr lang="en-US" sz="3600"/>
              <a:t>Sarcoidosis </a:t>
            </a:r>
          </a:p>
          <a:p>
            <a:r>
              <a:rPr lang="en-US" sz="3600" b="1"/>
              <a:t>Infections: </a:t>
            </a:r>
            <a:r>
              <a:rPr lang="en-US" sz="3600"/>
              <a:t>TB, syphilis </a:t>
            </a:r>
          </a:p>
          <a:p>
            <a:r>
              <a:rPr lang="en-US" sz="3600" b="1"/>
              <a:t>Other: </a:t>
            </a:r>
            <a:r>
              <a:rPr lang="en-US" sz="3600"/>
              <a:t>Traumatic brain injury, stroke  </a:t>
            </a:r>
          </a:p>
          <a:p>
            <a:endParaRPr lang="en-US" sz="2200"/>
          </a:p>
          <a:p>
            <a:pPr lvl="1"/>
            <a:endParaRPr lang="en-US" sz="2200"/>
          </a:p>
          <a:p>
            <a:pPr lvl="1"/>
            <a:endParaRPr lang="en-US" sz="2200"/>
          </a:p>
        </p:txBody>
      </p:sp>
    </p:spTree>
    <p:extLst>
      <p:ext uri="{BB962C8B-B14F-4D97-AF65-F5344CB8AC3E}">
        <p14:creationId xmlns:p14="http://schemas.microsoft.com/office/powerpoint/2010/main" val="177767258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3" name="Rectangle 12">
            <a:extLst>
              <a:ext uri="{FF2B5EF4-FFF2-40B4-BE49-F238E27FC236}">
                <a16:creationId xmlns:a16="http://schemas.microsoft.com/office/drawing/2014/main" id="{DAF1966E-FD40-4A4A-B61B-C4DF7FA05F0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5" name="Rectangle 14">
            <a:extLst>
              <a:ext uri="{FF2B5EF4-FFF2-40B4-BE49-F238E27FC236}">
                <a16:creationId xmlns:a16="http://schemas.microsoft.com/office/drawing/2014/main" id="{047BFA19-D45E-416B-A404-7AF2F3F270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58209" y="0"/>
            <a:ext cx="11167447" cy="2018806"/>
          </a:xfrm>
          <a:prstGeom prst="rect">
            <a:avLst/>
          </a:prstGeom>
          <a:ln w="9525">
            <a:solidFill>
              <a:srgbClr val="E1E1E1"/>
            </a:solidFill>
          </a:ln>
          <a:effectLst>
            <a:outerShdw blurRad="50800" dist="38100" dir="2700000" algn="t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7" name="Rectangle 16">
            <a:extLst>
              <a:ext uri="{FF2B5EF4-FFF2-40B4-BE49-F238E27FC236}">
                <a16:creationId xmlns:a16="http://schemas.microsoft.com/office/drawing/2014/main" id="{8E0105E7-23DB-4CF2-8258-FF47C7620F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6928" y="0"/>
            <a:ext cx="11155680" cy="2011680"/>
          </a:xfrm>
          <a:prstGeom prst="rect">
            <a:avLst/>
          </a:pr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7" name="Title 6">
            <a:extLst>
              <a:ext uri="{FF2B5EF4-FFF2-40B4-BE49-F238E27FC236}">
                <a16:creationId xmlns:a16="http://schemas.microsoft.com/office/drawing/2014/main" id="{207788DA-EA22-40E8-B7E9-6D4ECD1023BC}"/>
              </a:ext>
            </a:extLst>
          </p:cNvPr>
          <p:cNvSpPr>
            <a:spLocks noGrp="1"/>
          </p:cNvSpPr>
          <p:nvPr>
            <p:ph type="title"/>
          </p:nvPr>
        </p:nvSpPr>
        <p:spPr>
          <a:xfrm>
            <a:off x="994831" y="521208"/>
            <a:ext cx="10168128" cy="1179576"/>
          </a:xfrm>
        </p:spPr>
        <p:txBody>
          <a:bodyPr>
            <a:normAutofit/>
          </a:bodyPr>
          <a:lstStyle/>
          <a:p>
            <a:r>
              <a:rPr lang="en-US" sz="4800"/>
              <a:t>Hypopituitarism: Clinical Manifestations </a:t>
            </a:r>
          </a:p>
        </p:txBody>
      </p:sp>
      <p:sp>
        <p:nvSpPr>
          <p:cNvPr id="19" name="Rectangle 18">
            <a:extLst>
              <a:ext uri="{FF2B5EF4-FFF2-40B4-BE49-F238E27FC236}">
                <a16:creationId xmlns:a16="http://schemas.microsoft.com/office/drawing/2014/main" id="{074B4F7D-14B2-478B-8BF5-01E4E0C5D26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8834" y="758952"/>
            <a:ext cx="128016"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8" name="Content Placeholder 7">
            <a:extLst>
              <a:ext uri="{FF2B5EF4-FFF2-40B4-BE49-F238E27FC236}">
                <a16:creationId xmlns:a16="http://schemas.microsoft.com/office/drawing/2014/main" id="{AF743264-A1FA-414C-8506-7C5329605526}"/>
              </a:ext>
            </a:extLst>
          </p:cNvPr>
          <p:cNvSpPr>
            <a:spLocks noGrp="1"/>
          </p:cNvSpPr>
          <p:nvPr>
            <p:ph idx="1"/>
          </p:nvPr>
        </p:nvSpPr>
        <p:spPr>
          <a:xfrm>
            <a:off x="626850" y="2276856"/>
            <a:ext cx="10904090" cy="4420827"/>
          </a:xfrm>
        </p:spPr>
        <p:txBody>
          <a:bodyPr>
            <a:normAutofit/>
          </a:bodyPr>
          <a:lstStyle/>
          <a:p>
            <a:r>
              <a:rPr lang="en-US" sz="3600"/>
              <a:t>The clinical manifestations depend on the cause as well as the type and degree of hormonal insufficiency. </a:t>
            </a:r>
          </a:p>
          <a:p>
            <a:r>
              <a:rPr lang="en-US" sz="3600"/>
              <a:t>Patients may be asymptomatic, present with symptoms related to specific hormone deficiency or mass lesion, or present with nonspecific symptoms (fatigue).</a:t>
            </a:r>
          </a:p>
          <a:p>
            <a:endParaRPr lang="en-US" sz="2200"/>
          </a:p>
        </p:txBody>
      </p:sp>
    </p:spTree>
    <p:extLst>
      <p:ext uri="{BB962C8B-B14F-4D97-AF65-F5344CB8AC3E}">
        <p14:creationId xmlns:p14="http://schemas.microsoft.com/office/powerpoint/2010/main" val="171203328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CBB2B1F0-0DD6-4744-9A46-7A344FB48E4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8F4311C-1C1A-C450-399A-4790D4C39B86}"/>
              </a:ext>
            </a:extLst>
          </p:cNvPr>
          <p:cNvSpPr>
            <a:spLocks noGrp="1"/>
          </p:cNvSpPr>
          <p:nvPr>
            <p:ph type="title"/>
          </p:nvPr>
        </p:nvSpPr>
        <p:spPr>
          <a:xfrm>
            <a:off x="841248" y="426720"/>
            <a:ext cx="10506456" cy="1200913"/>
          </a:xfrm>
        </p:spPr>
        <p:txBody>
          <a:bodyPr anchor="b">
            <a:normAutofit/>
          </a:bodyPr>
          <a:lstStyle/>
          <a:p>
            <a:r>
              <a:rPr lang="en-US" sz="6000" dirty="0"/>
              <a:t>Growth Hormone (GH) Deficiency</a:t>
            </a:r>
          </a:p>
        </p:txBody>
      </p:sp>
      <p:sp>
        <p:nvSpPr>
          <p:cNvPr id="10" name="Rectangle 9">
            <a:extLst>
              <a:ext uri="{FF2B5EF4-FFF2-40B4-BE49-F238E27FC236}">
                <a16:creationId xmlns:a16="http://schemas.microsoft.com/office/drawing/2014/main" id="{52D502E5-F6B4-4D58-B4AE-FC466FF15E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65953" y="2899927"/>
            <a:ext cx="10451592"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12" name="Rectangle 11">
            <a:extLst>
              <a:ext uri="{FF2B5EF4-FFF2-40B4-BE49-F238E27FC236}">
                <a16:creationId xmlns:a16="http://schemas.microsoft.com/office/drawing/2014/main" id="{9DECDBF4-02B6-4BB4-B65B-B8107AD6A9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841248" y="2776031"/>
            <a:ext cx="1873457" cy="13716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3" name="Content Placeholder 2">
            <a:extLst>
              <a:ext uri="{FF2B5EF4-FFF2-40B4-BE49-F238E27FC236}">
                <a16:creationId xmlns:a16="http://schemas.microsoft.com/office/drawing/2014/main" id="{53374333-901F-3C15-BB80-56A2B5BA554B}"/>
              </a:ext>
            </a:extLst>
          </p:cNvPr>
          <p:cNvSpPr>
            <a:spLocks noGrp="1"/>
          </p:cNvSpPr>
          <p:nvPr>
            <p:ph idx="1"/>
          </p:nvPr>
        </p:nvSpPr>
        <p:spPr>
          <a:xfrm>
            <a:off x="841248" y="3037087"/>
            <a:ext cx="10509504" cy="3520731"/>
          </a:xfrm>
        </p:spPr>
        <p:txBody>
          <a:bodyPr>
            <a:normAutofit lnSpcReduction="10000"/>
          </a:bodyPr>
          <a:lstStyle/>
          <a:p>
            <a:r>
              <a:rPr lang="en-US" sz="3600" dirty="0"/>
              <a:t>GH is the most abundant anterior pituitary hormone</a:t>
            </a:r>
          </a:p>
          <a:p>
            <a:r>
              <a:rPr lang="en-US" sz="3600" dirty="0"/>
              <a:t>GH promotes </a:t>
            </a:r>
            <a:r>
              <a:rPr lang="en-US" sz="3600" u="sng" dirty="0"/>
              <a:t>linear growth </a:t>
            </a:r>
            <a:r>
              <a:rPr lang="en-US" sz="3600" dirty="0"/>
              <a:t>in children by stimulating cartilage growth, particularly at the epiphyseal plate.</a:t>
            </a:r>
          </a:p>
          <a:p>
            <a:r>
              <a:rPr lang="en-US" sz="3600" u="sng" dirty="0"/>
              <a:t>Regulates metabolism </a:t>
            </a:r>
            <a:r>
              <a:rPr lang="en-US" sz="3600" dirty="0"/>
              <a:t>in adults, particularly glucose control, while also contributing to muscle development, bone density, cholesterol levels and brain function  </a:t>
            </a:r>
          </a:p>
          <a:p>
            <a:pPr marL="0" indent="0">
              <a:buNone/>
            </a:pPr>
            <a:endParaRPr lang="en-US" sz="3600" dirty="0"/>
          </a:p>
        </p:txBody>
      </p:sp>
    </p:spTree>
    <p:extLst>
      <p:ext uri="{BB962C8B-B14F-4D97-AF65-F5344CB8AC3E}">
        <p14:creationId xmlns:p14="http://schemas.microsoft.com/office/powerpoint/2010/main" val="271410805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A6ECE0-BFA1-4A7F-85F7-843617841BA4}"/>
              </a:ext>
            </a:extLst>
          </p:cNvPr>
          <p:cNvSpPr>
            <a:spLocks noGrp="1"/>
          </p:cNvSpPr>
          <p:nvPr>
            <p:ph type="title"/>
          </p:nvPr>
        </p:nvSpPr>
        <p:spPr/>
        <p:txBody>
          <a:bodyPr/>
          <a:lstStyle/>
          <a:p>
            <a:r>
              <a:rPr lang="en-US" dirty="0"/>
              <a:t>GH Function</a:t>
            </a:r>
          </a:p>
        </p:txBody>
      </p:sp>
      <p:pic>
        <p:nvPicPr>
          <p:cNvPr id="1026" name="Picture 2" descr="A flowchart of the direct and indirect growth hormone functions.">
            <a:extLst>
              <a:ext uri="{FF2B5EF4-FFF2-40B4-BE49-F238E27FC236}">
                <a16:creationId xmlns:a16="http://schemas.microsoft.com/office/drawing/2014/main" id="{17CEF2EF-D26A-29B6-84DE-4D6D46787EAE}"/>
              </a:ext>
            </a:extLst>
          </p:cNvPr>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bwMode="auto">
          <a:xfrm>
            <a:off x="2036379" y="1585585"/>
            <a:ext cx="8394169" cy="4778220"/>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8FF923E4-1FE2-38AE-E8D8-55623639C746}"/>
              </a:ext>
            </a:extLst>
          </p:cNvPr>
          <p:cNvSpPr txBox="1"/>
          <p:nvPr/>
        </p:nvSpPr>
        <p:spPr>
          <a:xfrm>
            <a:off x="8298505" y="584506"/>
            <a:ext cx="3330222" cy="1200329"/>
          </a:xfrm>
          <a:prstGeom prst="rect">
            <a:avLst/>
          </a:prstGeom>
          <a:noFill/>
        </p:spPr>
        <p:txBody>
          <a:bodyPr wrap="square" rtlCol="0">
            <a:spAutoFit/>
          </a:bodyPr>
          <a:lstStyle/>
          <a:p>
            <a:r>
              <a:rPr lang="en-US" dirty="0"/>
              <a:t>Many of GH physiologic effects are mediated through IGF-1 and the liver is a major source of circulating IGF-1</a:t>
            </a:r>
          </a:p>
        </p:txBody>
      </p:sp>
    </p:spTree>
    <p:extLst>
      <p:ext uri="{BB962C8B-B14F-4D97-AF65-F5344CB8AC3E}">
        <p14:creationId xmlns:p14="http://schemas.microsoft.com/office/powerpoint/2010/main" val="166253235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CD6EFC-B201-FECA-2EC3-5AA58804067A}"/>
              </a:ext>
            </a:extLst>
          </p:cNvPr>
          <p:cNvSpPr>
            <a:spLocks noGrp="1"/>
          </p:cNvSpPr>
          <p:nvPr>
            <p:ph type="title"/>
          </p:nvPr>
        </p:nvSpPr>
        <p:spPr/>
        <p:txBody>
          <a:bodyPr/>
          <a:lstStyle/>
          <a:p>
            <a:r>
              <a:rPr lang="en-US" dirty="0"/>
              <a:t>Growth Hormone Effects</a:t>
            </a:r>
          </a:p>
        </p:txBody>
      </p:sp>
      <p:sp>
        <p:nvSpPr>
          <p:cNvPr id="3" name="Content Placeholder 2">
            <a:extLst>
              <a:ext uri="{FF2B5EF4-FFF2-40B4-BE49-F238E27FC236}">
                <a16:creationId xmlns:a16="http://schemas.microsoft.com/office/drawing/2014/main" id="{2BCB5836-F663-3F4A-4A87-555BD6AE738A}"/>
              </a:ext>
            </a:extLst>
          </p:cNvPr>
          <p:cNvSpPr>
            <a:spLocks noGrp="1"/>
          </p:cNvSpPr>
          <p:nvPr>
            <p:ph idx="1"/>
          </p:nvPr>
        </p:nvSpPr>
        <p:spPr/>
        <p:txBody>
          <a:bodyPr>
            <a:normAutofit lnSpcReduction="10000"/>
          </a:bodyPr>
          <a:lstStyle/>
          <a:p>
            <a:r>
              <a:rPr lang="en-US" dirty="0"/>
              <a:t>Bones </a:t>
            </a:r>
          </a:p>
          <a:p>
            <a:pPr lvl="1"/>
            <a:r>
              <a:rPr lang="en-US" dirty="0"/>
              <a:t>Children: GH stimulates longitudinal growth by increasing the formation of new bone and cartilage, beginning gradually during the 1</a:t>
            </a:r>
            <a:r>
              <a:rPr lang="en-US" baseline="30000" dirty="0"/>
              <a:t>st</a:t>
            </a:r>
            <a:r>
              <a:rPr lang="en-US" dirty="0"/>
              <a:t> year of life and peak at puberty</a:t>
            </a:r>
          </a:p>
          <a:p>
            <a:pPr lvl="1"/>
            <a:r>
              <a:rPr lang="en-US" dirty="0"/>
              <a:t>Adults: Increases bone turnover leading to bone formation and to a lesser extent bone resorption </a:t>
            </a:r>
          </a:p>
          <a:p>
            <a:r>
              <a:rPr lang="en-US" dirty="0"/>
              <a:t>Adipose tissue- Release and oxidation of free fatty acids by breaking down stored triglycerides.  </a:t>
            </a:r>
          </a:p>
          <a:p>
            <a:r>
              <a:rPr lang="en-US" dirty="0"/>
              <a:t>Skeletal muscle- GH stimulates amino acid uptake to be used for protein synthesis and cell proliferation of skeletal muscle while limiting breakdown of existing protein</a:t>
            </a:r>
          </a:p>
        </p:txBody>
      </p:sp>
    </p:spTree>
    <p:extLst>
      <p:ext uri="{BB962C8B-B14F-4D97-AF65-F5344CB8AC3E}">
        <p14:creationId xmlns:p14="http://schemas.microsoft.com/office/powerpoint/2010/main" val="246960241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CB6016-2B93-221C-6208-2C194A6FEC3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0D43A66-696E-D15D-2D8B-FD0B0EEAFFD6}"/>
              </a:ext>
            </a:extLst>
          </p:cNvPr>
          <p:cNvSpPr>
            <a:spLocks noGrp="1"/>
          </p:cNvSpPr>
          <p:nvPr>
            <p:ph type="title"/>
          </p:nvPr>
        </p:nvSpPr>
        <p:spPr/>
        <p:txBody>
          <a:bodyPr/>
          <a:lstStyle/>
          <a:p>
            <a:r>
              <a:rPr lang="en-US" dirty="0"/>
              <a:t>Growth Hormone Effects</a:t>
            </a:r>
          </a:p>
        </p:txBody>
      </p:sp>
      <p:sp>
        <p:nvSpPr>
          <p:cNvPr id="3" name="Content Placeholder 2">
            <a:extLst>
              <a:ext uri="{FF2B5EF4-FFF2-40B4-BE49-F238E27FC236}">
                <a16:creationId xmlns:a16="http://schemas.microsoft.com/office/drawing/2014/main" id="{73A4EA0E-8289-196A-57A6-F612C4522ABF}"/>
              </a:ext>
            </a:extLst>
          </p:cNvPr>
          <p:cNvSpPr>
            <a:spLocks noGrp="1"/>
          </p:cNvSpPr>
          <p:nvPr>
            <p:ph idx="1"/>
          </p:nvPr>
        </p:nvSpPr>
        <p:spPr/>
        <p:txBody>
          <a:bodyPr>
            <a:normAutofit/>
          </a:bodyPr>
          <a:lstStyle/>
          <a:p>
            <a:r>
              <a:rPr lang="en-US" dirty="0"/>
              <a:t>Liver</a:t>
            </a:r>
          </a:p>
          <a:p>
            <a:pPr lvl="1"/>
            <a:r>
              <a:rPr lang="en-US" dirty="0"/>
              <a:t>GH stimulates IGF-1 production and release</a:t>
            </a:r>
          </a:p>
          <a:p>
            <a:pPr lvl="1"/>
            <a:r>
              <a:rPr lang="en-US" dirty="0"/>
              <a:t>GH reduces glucose uptake in the liver and promotes gluconeogenesis resulting in increased hepatic glucose output</a:t>
            </a:r>
          </a:p>
          <a:p>
            <a:r>
              <a:rPr lang="en-US" dirty="0"/>
              <a:t>Immune system- GH influences the responses of antibody production by B-cells, T-lymphocyte function, macrophage activity and natural killer cell activity</a:t>
            </a:r>
          </a:p>
          <a:p>
            <a:r>
              <a:rPr lang="en-US" dirty="0"/>
              <a:t>CNS- GH modulates mood and behavior</a:t>
            </a:r>
          </a:p>
        </p:txBody>
      </p:sp>
    </p:spTree>
    <p:extLst>
      <p:ext uri="{BB962C8B-B14F-4D97-AF65-F5344CB8AC3E}">
        <p14:creationId xmlns:p14="http://schemas.microsoft.com/office/powerpoint/2010/main" val="73246613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DAF1966E-FD40-4A4A-B61B-C4DF7FA05F0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0" name="Rectangle 9">
            <a:extLst>
              <a:ext uri="{FF2B5EF4-FFF2-40B4-BE49-F238E27FC236}">
                <a16:creationId xmlns:a16="http://schemas.microsoft.com/office/drawing/2014/main" id="{047BFA19-D45E-416B-A404-7AF2F3F270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58209" y="0"/>
            <a:ext cx="11167447" cy="2018806"/>
          </a:xfrm>
          <a:prstGeom prst="rect">
            <a:avLst/>
          </a:prstGeom>
          <a:ln w="9525">
            <a:solidFill>
              <a:srgbClr val="E1E1E1"/>
            </a:solidFill>
          </a:ln>
          <a:effectLst>
            <a:outerShdw blurRad="50800" dist="38100" dir="2700000" algn="t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2" name="Rectangle 11">
            <a:extLst>
              <a:ext uri="{FF2B5EF4-FFF2-40B4-BE49-F238E27FC236}">
                <a16:creationId xmlns:a16="http://schemas.microsoft.com/office/drawing/2014/main" id="{8E0105E7-23DB-4CF2-8258-FF47C7620F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6928" y="0"/>
            <a:ext cx="11155680" cy="2011680"/>
          </a:xfrm>
          <a:prstGeom prst="rect">
            <a:avLst/>
          </a:pr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5C761CA6-3B2D-43E0-AAEE-C13F5713BC33}"/>
              </a:ext>
            </a:extLst>
          </p:cNvPr>
          <p:cNvSpPr>
            <a:spLocks noGrp="1"/>
          </p:cNvSpPr>
          <p:nvPr>
            <p:ph type="title"/>
          </p:nvPr>
        </p:nvSpPr>
        <p:spPr>
          <a:xfrm>
            <a:off x="842435" y="105156"/>
            <a:ext cx="10168128" cy="2011680"/>
          </a:xfrm>
        </p:spPr>
        <p:txBody>
          <a:bodyPr>
            <a:normAutofit fontScale="90000"/>
          </a:bodyPr>
          <a:lstStyle/>
          <a:p>
            <a:pPr algn="ctr"/>
            <a:r>
              <a:rPr lang="en-US" sz="4800" b="1" dirty="0"/>
              <a:t>GH Deficiency Children </a:t>
            </a:r>
            <a:br>
              <a:rPr lang="en-US" sz="4800" dirty="0"/>
            </a:br>
            <a:r>
              <a:rPr lang="en-US" sz="4800" dirty="0"/>
              <a:t>“Pituitary Dwarfism”</a:t>
            </a:r>
            <a:br>
              <a:rPr lang="en-US" sz="4800" dirty="0"/>
            </a:br>
            <a:r>
              <a:rPr lang="en-US" sz="4800" dirty="0"/>
              <a:t>Clinical Manifestations</a:t>
            </a:r>
          </a:p>
        </p:txBody>
      </p:sp>
      <p:sp>
        <p:nvSpPr>
          <p:cNvPr id="14" name="Rectangle 13">
            <a:extLst>
              <a:ext uri="{FF2B5EF4-FFF2-40B4-BE49-F238E27FC236}">
                <a16:creationId xmlns:a16="http://schemas.microsoft.com/office/drawing/2014/main" id="{074B4F7D-14B2-478B-8BF5-01E4E0C5D26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8834" y="758952"/>
            <a:ext cx="128016"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3" name="Content Placeholder 2">
            <a:extLst>
              <a:ext uri="{FF2B5EF4-FFF2-40B4-BE49-F238E27FC236}">
                <a16:creationId xmlns:a16="http://schemas.microsoft.com/office/drawing/2014/main" id="{3D3C0961-F4B9-437A-804A-126B66C58EAC}"/>
              </a:ext>
            </a:extLst>
          </p:cNvPr>
          <p:cNvSpPr>
            <a:spLocks noGrp="1"/>
          </p:cNvSpPr>
          <p:nvPr>
            <p:ph idx="1"/>
          </p:nvPr>
        </p:nvSpPr>
        <p:spPr>
          <a:xfrm>
            <a:off x="558209" y="2102969"/>
            <a:ext cx="11167446" cy="4670868"/>
          </a:xfrm>
        </p:spPr>
        <p:txBody>
          <a:bodyPr>
            <a:normAutofit/>
          </a:bodyPr>
          <a:lstStyle/>
          <a:p>
            <a:r>
              <a:rPr lang="en-US" sz="3600" b="1" dirty="0"/>
              <a:t>Congenital GH deficiency</a:t>
            </a:r>
            <a:r>
              <a:rPr lang="en-US" sz="3600" dirty="0"/>
              <a:t>: presents in newborns with hypoglycemia, jaundice, and decreased rate of growth later (6-12 months)</a:t>
            </a:r>
          </a:p>
          <a:p>
            <a:r>
              <a:rPr lang="en-US" sz="3600" b="1" dirty="0"/>
              <a:t>Acquired GHD in children: </a:t>
            </a:r>
            <a:r>
              <a:rPr lang="en-US" sz="3600" dirty="0"/>
              <a:t>presents with </a:t>
            </a:r>
            <a:r>
              <a:rPr lang="en-US" sz="3600" b="1" dirty="0"/>
              <a:t>severe growth failure</a:t>
            </a:r>
            <a:r>
              <a:rPr lang="en-US" sz="3600" dirty="0"/>
              <a:t>, delayed bone age, and increased weight: height ratios</a:t>
            </a:r>
          </a:p>
          <a:p>
            <a:pPr lvl="1"/>
            <a:r>
              <a:rPr lang="en-US" sz="3200" dirty="0"/>
              <a:t>Causes of acquired GHD include intracranial tumors, cranial irradiation, and head trauma</a:t>
            </a:r>
          </a:p>
        </p:txBody>
      </p:sp>
    </p:spTree>
    <p:extLst>
      <p:ext uri="{BB962C8B-B14F-4D97-AF65-F5344CB8AC3E}">
        <p14:creationId xmlns:p14="http://schemas.microsoft.com/office/powerpoint/2010/main" val="97776227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4" name="Rectangle 6">
            <a:extLst>
              <a:ext uri="{FF2B5EF4-FFF2-40B4-BE49-F238E27FC236}">
                <a16:creationId xmlns:a16="http://schemas.microsoft.com/office/drawing/2014/main" id="{59F81F08-B3D2-4FCD-AA95-9A7D77BA254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8">
            <a:extLst>
              <a:ext uri="{FF2B5EF4-FFF2-40B4-BE49-F238E27FC236}">
                <a16:creationId xmlns:a16="http://schemas.microsoft.com/office/drawing/2014/main" id="{66537C28-7D02-447F-9F0C-36DE2D1BF6C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537518"/>
            <a:ext cx="128016" cy="532180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6" name="Rectangle 10">
            <a:extLst>
              <a:ext uri="{FF2B5EF4-FFF2-40B4-BE49-F238E27FC236}">
                <a16:creationId xmlns:a16="http://schemas.microsoft.com/office/drawing/2014/main" id="{4EA3CC4C-B1A0-4F1A-9CF7-5A51A4EDEE1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50945" y="6197504"/>
            <a:ext cx="10927080"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2" name="Picture 1">
            <a:extLst>
              <a:ext uri="{FF2B5EF4-FFF2-40B4-BE49-F238E27FC236}">
                <a16:creationId xmlns:a16="http://schemas.microsoft.com/office/drawing/2014/main" id="{792C16FA-0F31-C2F0-9D47-742364DC6CEC}"/>
              </a:ext>
            </a:extLst>
          </p:cNvPr>
          <p:cNvPicPr>
            <a:picLocks noChangeAspect="1"/>
          </p:cNvPicPr>
          <p:nvPr/>
        </p:nvPicPr>
        <p:blipFill>
          <a:blip r:embed="rId3"/>
          <a:stretch>
            <a:fillRect/>
          </a:stretch>
        </p:blipFill>
        <p:spPr>
          <a:xfrm>
            <a:off x="650945" y="292336"/>
            <a:ext cx="4767485" cy="6273328"/>
          </a:xfrm>
          <a:prstGeom prst="rect">
            <a:avLst/>
          </a:prstGeom>
        </p:spPr>
      </p:pic>
      <p:pic>
        <p:nvPicPr>
          <p:cNvPr id="7" name="Picture 6">
            <a:extLst>
              <a:ext uri="{FF2B5EF4-FFF2-40B4-BE49-F238E27FC236}">
                <a16:creationId xmlns:a16="http://schemas.microsoft.com/office/drawing/2014/main" id="{370F15F3-4502-EBFB-C75F-56ED0AD02AA5}"/>
              </a:ext>
            </a:extLst>
          </p:cNvPr>
          <p:cNvPicPr>
            <a:picLocks noChangeAspect="1"/>
          </p:cNvPicPr>
          <p:nvPr/>
        </p:nvPicPr>
        <p:blipFill>
          <a:blip r:embed="rId4"/>
          <a:stretch>
            <a:fillRect/>
          </a:stretch>
        </p:blipFill>
        <p:spPr>
          <a:xfrm>
            <a:off x="5867419" y="200888"/>
            <a:ext cx="5547841" cy="6364776"/>
          </a:xfrm>
          <a:prstGeom prst="rect">
            <a:avLst/>
          </a:prstGeom>
        </p:spPr>
      </p:pic>
    </p:spTree>
    <p:extLst>
      <p:ext uri="{BB962C8B-B14F-4D97-AF65-F5344CB8AC3E}">
        <p14:creationId xmlns:p14="http://schemas.microsoft.com/office/powerpoint/2010/main" val="332911628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DA459D-07BC-49F4-B175-DA940A8515AC}"/>
              </a:ext>
            </a:extLst>
          </p:cNvPr>
          <p:cNvSpPr>
            <a:spLocks noGrp="1"/>
          </p:cNvSpPr>
          <p:nvPr>
            <p:ph type="title"/>
          </p:nvPr>
        </p:nvSpPr>
        <p:spPr>
          <a:xfrm>
            <a:off x="603773" y="354368"/>
            <a:ext cx="10984454" cy="1325563"/>
          </a:xfrm>
          <a:ln w="19050">
            <a:solidFill>
              <a:schemeClr val="accent2"/>
            </a:solidFill>
          </a:ln>
        </p:spPr>
        <p:txBody>
          <a:bodyPr/>
          <a:lstStyle/>
          <a:p>
            <a:r>
              <a:rPr lang="en-US"/>
              <a:t>GH Deficiency: Why are children hypoglycemic?</a:t>
            </a:r>
          </a:p>
        </p:txBody>
      </p:sp>
      <p:sp>
        <p:nvSpPr>
          <p:cNvPr id="3" name="Content Placeholder 2">
            <a:extLst>
              <a:ext uri="{FF2B5EF4-FFF2-40B4-BE49-F238E27FC236}">
                <a16:creationId xmlns:a16="http://schemas.microsoft.com/office/drawing/2014/main" id="{81F7C9A2-552E-4343-AF77-A83AD3839CAB}"/>
              </a:ext>
            </a:extLst>
          </p:cNvPr>
          <p:cNvSpPr>
            <a:spLocks noGrp="1"/>
          </p:cNvSpPr>
          <p:nvPr>
            <p:ph idx="1"/>
          </p:nvPr>
        </p:nvSpPr>
        <p:spPr>
          <a:xfrm>
            <a:off x="603773" y="1938440"/>
            <a:ext cx="11081546" cy="3749841"/>
          </a:xfrm>
        </p:spPr>
        <p:txBody>
          <a:bodyPr>
            <a:normAutofit/>
          </a:bodyPr>
          <a:lstStyle/>
          <a:p>
            <a:r>
              <a:rPr lang="en-US" sz="3600" b="1" dirty="0"/>
              <a:t>GH has anti-insulin activity -</a:t>
            </a:r>
            <a:r>
              <a:rPr lang="en-US" sz="3600" dirty="0"/>
              <a:t> GH suppresses the ability of insulin to stimulate uptake of glucose in the tissues; GH also stimulates gluconeogenesis in the liver </a:t>
            </a:r>
          </a:p>
          <a:p>
            <a:pPr marL="0" indent="0">
              <a:buNone/>
            </a:pPr>
            <a:endParaRPr lang="en-US" sz="3200" b="1" dirty="0"/>
          </a:p>
        </p:txBody>
      </p:sp>
      <p:sp>
        <p:nvSpPr>
          <p:cNvPr id="4" name="TextBox 3">
            <a:extLst>
              <a:ext uri="{FF2B5EF4-FFF2-40B4-BE49-F238E27FC236}">
                <a16:creationId xmlns:a16="http://schemas.microsoft.com/office/drawing/2014/main" id="{13F8DEF0-D843-A0AB-D3BA-E427F8C4927B}"/>
              </a:ext>
            </a:extLst>
          </p:cNvPr>
          <p:cNvSpPr txBox="1"/>
          <p:nvPr/>
        </p:nvSpPr>
        <p:spPr>
          <a:xfrm>
            <a:off x="2664832" y="4441526"/>
            <a:ext cx="7148945" cy="1588127"/>
          </a:xfrm>
          <a:prstGeom prst="rect">
            <a:avLst/>
          </a:prstGeom>
          <a:noFill/>
        </p:spPr>
        <p:txBody>
          <a:bodyPr wrap="square" rtlCol="0">
            <a:spAutoFit/>
          </a:body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3600" b="1" i="1" u="none" strike="noStrike" kern="1200" cap="none" spc="0" normalizeH="0" baseline="0" noProof="0" dirty="0">
                <a:ln>
                  <a:noFill/>
                </a:ln>
                <a:solidFill>
                  <a:prstClr val="black"/>
                </a:solidFill>
                <a:effectLst/>
                <a:uLnTx/>
                <a:uFillTx/>
                <a:latin typeface="Calibri" panose="020F0502020204030204"/>
                <a:ea typeface="+mn-ea"/>
                <a:cs typeface="+mn-cs"/>
              </a:rPr>
              <a:t>Therefore, in GH deficiency, there is </a:t>
            </a:r>
            <a:r>
              <a:rPr kumimoji="0" lang="en-US" sz="3600" b="1" i="1" u="sng" strike="noStrike" kern="1200" cap="none" spc="0" normalizeH="0" baseline="0" noProof="0" dirty="0">
                <a:ln>
                  <a:noFill/>
                </a:ln>
                <a:solidFill>
                  <a:prstClr val="black"/>
                </a:solidFill>
                <a:effectLst/>
                <a:uLnTx/>
                <a:uFillTx/>
                <a:latin typeface="Calibri" panose="020F0502020204030204"/>
                <a:ea typeface="+mn-ea"/>
                <a:cs typeface="+mn-cs"/>
              </a:rPr>
              <a:t>unopposed</a:t>
            </a:r>
            <a:r>
              <a:rPr kumimoji="0" lang="en-US" sz="3600" b="1" i="1" u="none" strike="noStrike" kern="1200" cap="none" spc="0" normalizeH="0" baseline="0" noProof="0" dirty="0">
                <a:ln>
                  <a:noFill/>
                </a:ln>
                <a:solidFill>
                  <a:prstClr val="black"/>
                </a:solidFill>
                <a:effectLst/>
                <a:uLnTx/>
                <a:uFillTx/>
                <a:latin typeface="Calibri" panose="020F0502020204030204"/>
                <a:ea typeface="+mn-ea"/>
                <a:cs typeface="+mn-cs"/>
              </a:rPr>
              <a:t> insulin activity allowing for hypoglycemia</a:t>
            </a:r>
          </a:p>
        </p:txBody>
      </p:sp>
    </p:spTree>
    <p:extLst>
      <p:ext uri="{BB962C8B-B14F-4D97-AF65-F5344CB8AC3E}">
        <p14:creationId xmlns:p14="http://schemas.microsoft.com/office/powerpoint/2010/main" val="70361805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DAF1966E-FD40-4A4A-B61B-C4DF7FA05F0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0" name="Rectangle 9">
            <a:extLst>
              <a:ext uri="{FF2B5EF4-FFF2-40B4-BE49-F238E27FC236}">
                <a16:creationId xmlns:a16="http://schemas.microsoft.com/office/drawing/2014/main" id="{047BFA19-D45E-416B-A404-7AF2F3F270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58209" y="0"/>
            <a:ext cx="11167447" cy="2018806"/>
          </a:xfrm>
          <a:prstGeom prst="rect">
            <a:avLst/>
          </a:prstGeom>
          <a:ln w="9525">
            <a:solidFill>
              <a:srgbClr val="E1E1E1"/>
            </a:solidFill>
          </a:ln>
          <a:effectLst>
            <a:outerShdw blurRad="50800" dist="38100" dir="2700000" algn="t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2" name="Rectangle 11">
            <a:extLst>
              <a:ext uri="{FF2B5EF4-FFF2-40B4-BE49-F238E27FC236}">
                <a16:creationId xmlns:a16="http://schemas.microsoft.com/office/drawing/2014/main" id="{8E0105E7-23DB-4CF2-8258-FF47C7620F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6928" y="0"/>
            <a:ext cx="11155680" cy="2011680"/>
          </a:xfrm>
          <a:prstGeom prst="rect">
            <a:avLst/>
          </a:pr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4DE7AEC4-187D-4A79-A650-2D28A708706E}"/>
              </a:ext>
            </a:extLst>
          </p:cNvPr>
          <p:cNvSpPr>
            <a:spLocks noGrp="1"/>
          </p:cNvSpPr>
          <p:nvPr>
            <p:ph type="title"/>
          </p:nvPr>
        </p:nvSpPr>
        <p:spPr>
          <a:xfrm>
            <a:off x="836888" y="521208"/>
            <a:ext cx="10168128" cy="1179576"/>
          </a:xfrm>
        </p:spPr>
        <p:txBody>
          <a:bodyPr>
            <a:normAutofit/>
          </a:bodyPr>
          <a:lstStyle/>
          <a:p>
            <a:pPr algn="ctr"/>
            <a:r>
              <a:rPr lang="en-US" sz="4800" dirty="0"/>
              <a:t>Hypopituitarism: GH Deficiency Workup</a:t>
            </a:r>
          </a:p>
        </p:txBody>
      </p:sp>
      <p:sp>
        <p:nvSpPr>
          <p:cNvPr id="14" name="Rectangle 13">
            <a:extLst>
              <a:ext uri="{FF2B5EF4-FFF2-40B4-BE49-F238E27FC236}">
                <a16:creationId xmlns:a16="http://schemas.microsoft.com/office/drawing/2014/main" id="{074B4F7D-14B2-478B-8BF5-01E4E0C5D26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8834" y="758952"/>
            <a:ext cx="128016"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3" name="Content Placeholder 2">
            <a:extLst>
              <a:ext uri="{FF2B5EF4-FFF2-40B4-BE49-F238E27FC236}">
                <a16:creationId xmlns:a16="http://schemas.microsoft.com/office/drawing/2014/main" id="{706AB4EE-0E3B-4859-A855-5780CE8B9127}"/>
              </a:ext>
            </a:extLst>
          </p:cNvPr>
          <p:cNvSpPr>
            <a:spLocks noGrp="1"/>
          </p:cNvSpPr>
          <p:nvPr>
            <p:ph idx="1"/>
          </p:nvPr>
        </p:nvSpPr>
        <p:spPr>
          <a:xfrm>
            <a:off x="566928" y="1842516"/>
            <a:ext cx="11352742" cy="4636008"/>
          </a:xfrm>
        </p:spPr>
        <p:txBody>
          <a:bodyPr>
            <a:normAutofit/>
          </a:bodyPr>
          <a:lstStyle/>
          <a:p>
            <a:r>
              <a:rPr lang="en-US" dirty="0"/>
              <a:t>GH is secreted in a </a:t>
            </a:r>
            <a:r>
              <a:rPr lang="en-US" b="1" dirty="0"/>
              <a:t>pulsatile manner and peaks ~1hr after falling asleep</a:t>
            </a:r>
          </a:p>
          <a:p>
            <a:pPr lvl="1"/>
            <a:r>
              <a:rPr lang="en-US" sz="2800" dirty="0"/>
              <a:t>Therefore, it may be undetectable when drawn between pulses</a:t>
            </a:r>
          </a:p>
          <a:p>
            <a:r>
              <a:rPr lang="en-US" dirty="0"/>
              <a:t>Diagnosis involves </a:t>
            </a:r>
            <a:r>
              <a:rPr lang="en-US" b="1" dirty="0"/>
              <a:t>clinical assessment, growth analysis, bone age study and IGF-1 testing</a:t>
            </a:r>
            <a:r>
              <a:rPr lang="en-US" dirty="0"/>
              <a:t> </a:t>
            </a:r>
          </a:p>
          <a:p>
            <a:pPr lvl="1"/>
            <a:r>
              <a:rPr lang="en-US" sz="2800" dirty="0"/>
              <a:t>PRO: IGF-1 levels are stable throughout the entire day </a:t>
            </a:r>
          </a:p>
          <a:p>
            <a:pPr lvl="1"/>
            <a:r>
              <a:rPr lang="en-US" sz="2800" dirty="0"/>
              <a:t>CON: IGF-1 levels alone are not specific to GH deficiency, as they are also low in GH insensitivity, fasting state, malnutrition, hypothyroidism, diabetes, or renal and hepatic disease </a:t>
            </a:r>
          </a:p>
          <a:p>
            <a:r>
              <a:rPr lang="en-US" dirty="0"/>
              <a:t>When congenital the diagnosis can be made if noted severe growth failure, delayed bone age, and very low serum concentrations of GH, IGF-1</a:t>
            </a:r>
          </a:p>
        </p:txBody>
      </p:sp>
    </p:spTree>
    <p:extLst>
      <p:ext uri="{BB962C8B-B14F-4D97-AF65-F5344CB8AC3E}">
        <p14:creationId xmlns:p14="http://schemas.microsoft.com/office/powerpoint/2010/main" val="195136550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DAF1966E-FD40-4A4A-B61B-C4DF7FA05F0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0" name="Rectangle 9">
            <a:extLst>
              <a:ext uri="{FF2B5EF4-FFF2-40B4-BE49-F238E27FC236}">
                <a16:creationId xmlns:a16="http://schemas.microsoft.com/office/drawing/2014/main" id="{047BFA19-D45E-416B-A404-7AF2F3F270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58209" y="0"/>
            <a:ext cx="11167447" cy="2018806"/>
          </a:xfrm>
          <a:prstGeom prst="rect">
            <a:avLst/>
          </a:prstGeom>
          <a:ln w="9525">
            <a:solidFill>
              <a:srgbClr val="E1E1E1"/>
            </a:solidFill>
          </a:ln>
          <a:effectLst>
            <a:outerShdw blurRad="50800" dist="38100" dir="2700000" algn="t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2" name="Rectangle 11">
            <a:extLst>
              <a:ext uri="{FF2B5EF4-FFF2-40B4-BE49-F238E27FC236}">
                <a16:creationId xmlns:a16="http://schemas.microsoft.com/office/drawing/2014/main" id="{8E0105E7-23DB-4CF2-8258-FF47C7620F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6928" y="0"/>
            <a:ext cx="11155680" cy="2011680"/>
          </a:xfrm>
          <a:prstGeom prst="rect">
            <a:avLst/>
          </a:pr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4DE7AEC4-187D-4A79-A650-2D28A708706E}"/>
              </a:ext>
            </a:extLst>
          </p:cNvPr>
          <p:cNvSpPr>
            <a:spLocks noGrp="1"/>
          </p:cNvSpPr>
          <p:nvPr>
            <p:ph type="title"/>
          </p:nvPr>
        </p:nvSpPr>
        <p:spPr>
          <a:xfrm>
            <a:off x="836888" y="521208"/>
            <a:ext cx="10168128" cy="795126"/>
          </a:xfrm>
        </p:spPr>
        <p:txBody>
          <a:bodyPr>
            <a:normAutofit/>
          </a:bodyPr>
          <a:lstStyle/>
          <a:p>
            <a:r>
              <a:rPr lang="en-US" sz="4800"/>
              <a:t>Hypopituitarism: GH Deficiency Workup </a:t>
            </a:r>
          </a:p>
        </p:txBody>
      </p:sp>
      <p:sp>
        <p:nvSpPr>
          <p:cNvPr id="14" name="Rectangle 13">
            <a:extLst>
              <a:ext uri="{FF2B5EF4-FFF2-40B4-BE49-F238E27FC236}">
                <a16:creationId xmlns:a16="http://schemas.microsoft.com/office/drawing/2014/main" id="{074B4F7D-14B2-478B-8BF5-01E4E0C5D26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8834" y="758952"/>
            <a:ext cx="128016"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3" name="Content Placeholder 2">
            <a:extLst>
              <a:ext uri="{FF2B5EF4-FFF2-40B4-BE49-F238E27FC236}">
                <a16:creationId xmlns:a16="http://schemas.microsoft.com/office/drawing/2014/main" id="{706AB4EE-0E3B-4859-A855-5780CE8B9127}"/>
              </a:ext>
            </a:extLst>
          </p:cNvPr>
          <p:cNvSpPr>
            <a:spLocks noGrp="1"/>
          </p:cNvSpPr>
          <p:nvPr>
            <p:ph idx="1"/>
          </p:nvPr>
        </p:nvSpPr>
        <p:spPr>
          <a:xfrm>
            <a:off x="620632" y="1589649"/>
            <a:ext cx="11164399" cy="4636008"/>
          </a:xfrm>
        </p:spPr>
        <p:txBody>
          <a:bodyPr>
            <a:normAutofit fontScale="92500" lnSpcReduction="20000"/>
          </a:bodyPr>
          <a:lstStyle/>
          <a:p>
            <a:pPr>
              <a:defRPr/>
            </a:pPr>
            <a:r>
              <a:rPr lang="en-US" sz="3600" b="1" dirty="0"/>
              <a:t>Pituitary MRI should be performed </a:t>
            </a:r>
            <a:r>
              <a:rPr lang="en-US" sz="3600" dirty="0"/>
              <a:t>to eval for structural defects or masses </a:t>
            </a:r>
            <a:endParaRPr kumimoji="0" lang="en-US" sz="36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US" sz="3600" b="0" i="0" u="none" strike="noStrike" kern="1200" cap="none" spc="0" normalizeH="0" baseline="0" noProof="0" dirty="0">
                <a:ln>
                  <a:noFill/>
                </a:ln>
                <a:solidFill>
                  <a:prstClr val="black"/>
                </a:solidFill>
                <a:effectLst/>
                <a:uLnTx/>
                <a:uFillTx/>
                <a:latin typeface="Calibri" panose="020F0502020204030204"/>
                <a:ea typeface="+mn-ea"/>
                <a:cs typeface="+mn-cs"/>
              </a:rPr>
              <a:t>When diagnosis is in doubt, provocative stimuli can be used to aid in the diagnosis. </a:t>
            </a:r>
            <a:endParaRPr kumimoji="0" lang="en-US" sz="3600" b="1" i="0" u="none" strike="noStrike" kern="1200" cap="none" spc="0" normalizeH="0" baseline="0" noProof="0" dirty="0">
              <a:ln>
                <a:noFill/>
              </a:ln>
              <a:solidFill>
                <a:prstClr val="black"/>
              </a:solidFill>
              <a:effectLst/>
              <a:uLnTx/>
              <a:uFillTx/>
              <a:latin typeface="Calibri" panose="020F0502020204030204"/>
              <a:ea typeface="+mn-ea"/>
              <a:cs typeface="+mn-cs"/>
            </a:endParaRPr>
          </a:p>
          <a:p>
            <a:pPr marL="685800" marR="0" lvl="1" indent="-228600" algn="l" defTabSz="914400" rtl="0" eaLnBrk="1" fontAlgn="auto" latinLnBrk="0" hangingPunct="1">
              <a:lnSpc>
                <a:spcPct val="90000"/>
              </a:lnSpc>
              <a:spcBef>
                <a:spcPts val="500"/>
              </a:spcBef>
              <a:spcAft>
                <a:spcPts val="0"/>
              </a:spcAft>
              <a:buClrTx/>
              <a:buSzTx/>
              <a:buFont typeface="Arial" panose="020B0604020202020204" pitchFamily="34" charset="0"/>
              <a:buChar char="•"/>
              <a:tabLst/>
              <a:defRPr/>
            </a:pPr>
            <a:r>
              <a:rPr lang="en-US" sz="3200" dirty="0">
                <a:solidFill>
                  <a:prstClr val="black"/>
                </a:solidFill>
                <a:latin typeface="Calibri" panose="020F0502020204030204"/>
              </a:rPr>
              <a:t>Glucagon induced hyperglycemia or </a:t>
            </a:r>
            <a:r>
              <a:rPr kumimoji="0" lang="en-US" sz="3200" b="0" i="0" u="none" strike="noStrike" kern="1200" cap="none" spc="0" normalizeH="0" baseline="0" noProof="0" dirty="0">
                <a:ln>
                  <a:noFill/>
                </a:ln>
                <a:solidFill>
                  <a:prstClr val="black"/>
                </a:solidFill>
                <a:effectLst/>
                <a:uLnTx/>
                <a:uFillTx/>
                <a:latin typeface="Calibri" panose="020F0502020204030204"/>
                <a:ea typeface="+mn-ea"/>
                <a:cs typeface="+mn-cs"/>
              </a:rPr>
              <a:t>insulin-induced hypoglycemia will provoke GH secretion to a level &gt; 7</a:t>
            </a:r>
            <a:r>
              <a:rPr kumimoji="0" lang="el-GR" sz="3200" b="0" i="0" u="none" strike="noStrike" kern="1200" cap="none" spc="0" normalizeH="0" baseline="0" noProof="0" dirty="0">
                <a:ln>
                  <a:noFill/>
                </a:ln>
                <a:solidFill>
                  <a:prstClr val="black"/>
                </a:solidFill>
                <a:effectLst/>
                <a:uLnTx/>
                <a:uFillTx/>
                <a:latin typeface="Calibri" panose="020F0502020204030204"/>
                <a:ea typeface="+mn-ea"/>
                <a:cs typeface="+mn-cs"/>
              </a:rPr>
              <a:t>μ</a:t>
            </a:r>
            <a:r>
              <a:rPr kumimoji="0" lang="en-US" sz="3200" b="0" i="0" u="none" strike="noStrike" kern="1200" cap="none" spc="0" normalizeH="0" baseline="0" noProof="0" dirty="0">
                <a:ln>
                  <a:noFill/>
                </a:ln>
                <a:solidFill>
                  <a:prstClr val="black"/>
                </a:solidFill>
                <a:effectLst/>
                <a:uLnTx/>
                <a:uFillTx/>
                <a:latin typeface="Calibri" panose="020F0502020204030204"/>
                <a:ea typeface="+mn-ea"/>
                <a:cs typeface="+mn-cs"/>
              </a:rPr>
              <a:t>g/L in children without deficiency</a:t>
            </a:r>
          </a:p>
          <a:p>
            <a:r>
              <a:rPr lang="en-US" sz="3600" dirty="0"/>
              <a:t>If pituitary insufficiency is found, test for and correct any additional hormone deficits </a:t>
            </a:r>
          </a:p>
          <a:p>
            <a:r>
              <a:rPr lang="en-US" sz="3600" dirty="0"/>
              <a:t>Diagnosis is excluded in children with normal bone age study and height velocities</a:t>
            </a:r>
          </a:p>
          <a:p>
            <a:endParaRPr lang="en-US" sz="3600" dirty="0"/>
          </a:p>
          <a:p>
            <a:pPr lvl="1"/>
            <a:endParaRPr lang="en-US" sz="2200" dirty="0"/>
          </a:p>
        </p:txBody>
      </p:sp>
    </p:spTree>
    <p:extLst>
      <p:ext uri="{BB962C8B-B14F-4D97-AF65-F5344CB8AC3E}">
        <p14:creationId xmlns:p14="http://schemas.microsoft.com/office/powerpoint/2010/main" val="1673524749"/>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1272B2-12D6-D1BB-DBAC-665A9930E75B}"/>
              </a:ext>
            </a:extLst>
          </p:cNvPr>
          <p:cNvSpPr>
            <a:spLocks noGrp="1"/>
          </p:cNvSpPr>
          <p:nvPr>
            <p:ph type="title"/>
          </p:nvPr>
        </p:nvSpPr>
        <p:spPr>
          <a:xfrm>
            <a:off x="134815" y="314884"/>
            <a:ext cx="5813809" cy="1325563"/>
          </a:xfrm>
        </p:spPr>
        <p:txBody>
          <a:bodyPr/>
          <a:lstStyle/>
          <a:p>
            <a:r>
              <a:rPr lang="en-US" dirty="0"/>
              <a:t>Pediatric Growth Chart</a:t>
            </a:r>
          </a:p>
        </p:txBody>
      </p:sp>
      <p:pic>
        <p:nvPicPr>
          <p:cNvPr id="4" name="Content Placeholder 3">
            <a:extLst>
              <a:ext uri="{FF2B5EF4-FFF2-40B4-BE49-F238E27FC236}">
                <a16:creationId xmlns:a16="http://schemas.microsoft.com/office/drawing/2014/main" id="{DC429639-7C8E-10DB-EA59-F4F820ABA542}"/>
              </a:ext>
            </a:extLst>
          </p:cNvPr>
          <p:cNvPicPr>
            <a:picLocks noGrp="1" noChangeAspect="1"/>
          </p:cNvPicPr>
          <p:nvPr>
            <p:ph idx="1"/>
          </p:nvPr>
        </p:nvPicPr>
        <p:blipFill>
          <a:blip r:embed="rId3"/>
          <a:stretch>
            <a:fillRect/>
          </a:stretch>
        </p:blipFill>
        <p:spPr>
          <a:xfrm>
            <a:off x="6129382" y="99893"/>
            <a:ext cx="4736349" cy="6658214"/>
          </a:xfrm>
          <a:prstGeom prst="rect">
            <a:avLst/>
          </a:prstGeom>
        </p:spPr>
      </p:pic>
    </p:spTree>
    <p:extLst>
      <p:ext uri="{BB962C8B-B14F-4D97-AF65-F5344CB8AC3E}">
        <p14:creationId xmlns:p14="http://schemas.microsoft.com/office/powerpoint/2010/main" val="4292862312"/>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 name="Rectangle 6">
            <a:extLst>
              <a:ext uri="{FF2B5EF4-FFF2-40B4-BE49-F238E27FC236}">
                <a16:creationId xmlns:a16="http://schemas.microsoft.com/office/drawing/2014/main" id="{69E6EFEE-6516-482C-B143-F97F9BF89D0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3DF0D2C0-CD0C-470C-8851-D8B2CC417CB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2748766" y="3248002"/>
            <a:ext cx="5688917" cy="19138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3" name="Picture 2">
            <a:extLst>
              <a:ext uri="{FF2B5EF4-FFF2-40B4-BE49-F238E27FC236}">
                <a16:creationId xmlns:a16="http://schemas.microsoft.com/office/drawing/2014/main" id="{A70F3FDE-AA6F-4734-F282-819A15D79696}"/>
              </a:ext>
            </a:extLst>
          </p:cNvPr>
          <p:cNvPicPr>
            <a:picLocks noChangeAspect="1"/>
          </p:cNvPicPr>
          <p:nvPr/>
        </p:nvPicPr>
        <p:blipFill>
          <a:blip r:embed="rId3"/>
          <a:stretch>
            <a:fillRect/>
          </a:stretch>
        </p:blipFill>
        <p:spPr>
          <a:xfrm>
            <a:off x="3510895" y="0"/>
            <a:ext cx="8566551" cy="6858000"/>
          </a:xfrm>
          <a:prstGeom prst="rect">
            <a:avLst/>
          </a:prstGeom>
        </p:spPr>
      </p:pic>
      <p:sp>
        <p:nvSpPr>
          <p:cNvPr id="4" name="TextBox 3">
            <a:extLst>
              <a:ext uri="{FF2B5EF4-FFF2-40B4-BE49-F238E27FC236}">
                <a16:creationId xmlns:a16="http://schemas.microsoft.com/office/drawing/2014/main" id="{24C473DC-8270-AF70-2F59-918434E885B3}"/>
              </a:ext>
            </a:extLst>
          </p:cNvPr>
          <p:cNvSpPr txBox="1"/>
          <p:nvPr/>
        </p:nvSpPr>
        <p:spPr>
          <a:xfrm>
            <a:off x="479212" y="499236"/>
            <a:ext cx="2917129" cy="2246769"/>
          </a:xfrm>
          <a:prstGeom prst="rect">
            <a:avLst/>
          </a:prstGeom>
          <a:noFill/>
        </p:spPr>
        <p:txBody>
          <a:bodyPr wrap="square" rtlCol="0">
            <a:spAutoFit/>
          </a:bodyPr>
          <a:lstStyle/>
          <a:p>
            <a:r>
              <a:rPr lang="en-US" sz="2800" b="1"/>
              <a:t>Bone age study: </a:t>
            </a:r>
            <a:r>
              <a:rPr lang="en-US" sz="2800"/>
              <a:t>comparison of X-ray appearance of hand and wrist to a standard </a:t>
            </a:r>
          </a:p>
        </p:txBody>
      </p:sp>
    </p:spTree>
    <p:extLst>
      <p:ext uri="{BB962C8B-B14F-4D97-AF65-F5344CB8AC3E}">
        <p14:creationId xmlns:p14="http://schemas.microsoft.com/office/powerpoint/2010/main" val="2215195243"/>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DAF1966E-FD40-4A4A-B61B-C4DF7FA05F0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0" name="Rectangle 9">
            <a:extLst>
              <a:ext uri="{FF2B5EF4-FFF2-40B4-BE49-F238E27FC236}">
                <a16:creationId xmlns:a16="http://schemas.microsoft.com/office/drawing/2014/main" id="{047BFA19-D45E-416B-A404-7AF2F3F270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58209" y="0"/>
            <a:ext cx="11167447" cy="2018806"/>
          </a:xfrm>
          <a:prstGeom prst="rect">
            <a:avLst/>
          </a:prstGeom>
          <a:ln w="9525">
            <a:solidFill>
              <a:srgbClr val="E1E1E1"/>
            </a:solidFill>
          </a:ln>
          <a:effectLst>
            <a:outerShdw blurRad="50800" dist="38100" dir="2700000" algn="t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2" name="Rectangle 11">
            <a:extLst>
              <a:ext uri="{FF2B5EF4-FFF2-40B4-BE49-F238E27FC236}">
                <a16:creationId xmlns:a16="http://schemas.microsoft.com/office/drawing/2014/main" id="{8E0105E7-23DB-4CF2-8258-FF47C7620F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6928" y="0"/>
            <a:ext cx="11155680" cy="2011680"/>
          </a:xfrm>
          <a:prstGeom prst="rect">
            <a:avLst/>
          </a:pr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39754426-34EF-4561-8142-FA73F34426F7}"/>
              </a:ext>
            </a:extLst>
          </p:cNvPr>
          <p:cNvSpPr>
            <a:spLocks noGrp="1"/>
          </p:cNvSpPr>
          <p:nvPr>
            <p:ph type="title"/>
          </p:nvPr>
        </p:nvSpPr>
        <p:spPr>
          <a:xfrm>
            <a:off x="866187" y="61751"/>
            <a:ext cx="10168128" cy="1888177"/>
          </a:xfrm>
        </p:spPr>
        <p:txBody>
          <a:bodyPr>
            <a:normAutofit/>
          </a:bodyPr>
          <a:lstStyle/>
          <a:p>
            <a:pPr algn="ctr"/>
            <a:r>
              <a:rPr lang="en-US" sz="4800" b="1" dirty="0"/>
              <a:t>GH Resistance</a:t>
            </a:r>
            <a:br>
              <a:rPr lang="en-US" sz="4800" dirty="0"/>
            </a:br>
            <a:r>
              <a:rPr lang="en-US" sz="4800" dirty="0"/>
              <a:t>“Pituitary Dwarfism”</a:t>
            </a:r>
          </a:p>
        </p:txBody>
      </p:sp>
      <p:sp>
        <p:nvSpPr>
          <p:cNvPr id="14" name="Rectangle 13">
            <a:extLst>
              <a:ext uri="{FF2B5EF4-FFF2-40B4-BE49-F238E27FC236}">
                <a16:creationId xmlns:a16="http://schemas.microsoft.com/office/drawing/2014/main" id="{074B4F7D-14B2-478B-8BF5-01E4E0C5D26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8834" y="758952"/>
            <a:ext cx="128016"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3" name="Content Placeholder 2">
            <a:extLst>
              <a:ext uri="{FF2B5EF4-FFF2-40B4-BE49-F238E27FC236}">
                <a16:creationId xmlns:a16="http://schemas.microsoft.com/office/drawing/2014/main" id="{0AAC677C-9E7A-4B06-83C9-3148436628CE}"/>
              </a:ext>
            </a:extLst>
          </p:cNvPr>
          <p:cNvSpPr>
            <a:spLocks noGrp="1"/>
          </p:cNvSpPr>
          <p:nvPr>
            <p:ph idx="1"/>
          </p:nvPr>
        </p:nvSpPr>
        <p:spPr>
          <a:xfrm>
            <a:off x="558209" y="2376833"/>
            <a:ext cx="10716768" cy="4712735"/>
          </a:xfrm>
        </p:spPr>
        <p:txBody>
          <a:bodyPr>
            <a:normAutofit/>
          </a:bodyPr>
          <a:lstStyle/>
          <a:p>
            <a:pPr marL="228600" marR="0" lvl="0" indent="-228600" defTabSz="914400" rtl="0" eaLnBrk="1" fontAlgn="auto" latinLnBrk="0" hangingPunct="1">
              <a:spcBef>
                <a:spcPts val="1000"/>
              </a:spcBef>
              <a:spcAft>
                <a:spcPts val="0"/>
              </a:spcAft>
              <a:buClrTx/>
              <a:buSzTx/>
              <a:buFont typeface="Arial" panose="020B0604020202020204" pitchFamily="34" charset="0"/>
              <a:buChar char="•"/>
              <a:tabLst/>
              <a:defRPr/>
            </a:pPr>
            <a:r>
              <a:rPr kumimoji="0" lang="en-US" sz="3600" b="1" i="0" u="none" strike="noStrike" kern="1200" cap="none" spc="0" normalizeH="0" baseline="0" noProof="0">
                <a:ln>
                  <a:noFill/>
                </a:ln>
                <a:effectLst/>
                <a:uLnTx/>
                <a:uFillTx/>
                <a:latin typeface="Calibri" panose="020F0502020204030204"/>
                <a:ea typeface="+mn-ea"/>
                <a:cs typeface="+mn-cs"/>
              </a:rPr>
              <a:t>Laron Syndrome </a:t>
            </a:r>
            <a:r>
              <a:rPr kumimoji="0" lang="en-US" sz="3600" b="0" i="0" u="none" strike="noStrike" kern="1200" cap="none" spc="0" normalizeH="0" baseline="0" noProof="0">
                <a:ln>
                  <a:noFill/>
                </a:ln>
                <a:effectLst/>
                <a:uLnTx/>
                <a:uFillTx/>
                <a:latin typeface="Calibri" panose="020F0502020204030204"/>
                <a:ea typeface="+mn-ea"/>
                <a:cs typeface="+mn-cs"/>
              </a:rPr>
              <a:t>– an autosomal recessive disorder resulting in </a:t>
            </a:r>
            <a:r>
              <a:rPr kumimoji="0" lang="en-US" sz="3600" b="0" i="0" strike="noStrike" kern="1200" cap="none" spc="0" normalizeH="0" baseline="0" noProof="0">
                <a:ln>
                  <a:noFill/>
                </a:ln>
                <a:effectLst/>
                <a:uLnTx/>
                <a:uFillTx/>
                <a:latin typeface="Calibri" panose="020F0502020204030204"/>
                <a:ea typeface="+mn-ea"/>
                <a:cs typeface="+mn-cs"/>
              </a:rPr>
              <a:t>GH-resistance</a:t>
            </a:r>
            <a:r>
              <a:rPr kumimoji="0" lang="en-US" sz="3600" b="0" i="0" u="none" strike="noStrike" kern="1200" cap="none" spc="0" normalizeH="0" baseline="0" noProof="0">
                <a:ln>
                  <a:noFill/>
                </a:ln>
                <a:effectLst/>
                <a:uLnTx/>
                <a:uFillTx/>
                <a:latin typeface="Calibri" panose="020F0502020204030204"/>
                <a:ea typeface="+mn-ea"/>
                <a:cs typeface="+mn-cs"/>
              </a:rPr>
              <a:t> and a severe deficiency of IGF-1, resulting in </a:t>
            </a:r>
            <a:r>
              <a:rPr kumimoji="0" lang="en-US" sz="3600" i="0" u="none" strike="noStrike" kern="1200" cap="none" spc="0" normalizeH="0" baseline="0" noProof="0">
                <a:ln>
                  <a:noFill/>
                </a:ln>
                <a:effectLst/>
                <a:uLnTx/>
                <a:uFillTx/>
                <a:latin typeface="Calibri" panose="020F0502020204030204"/>
                <a:ea typeface="+mn-ea"/>
                <a:cs typeface="+mn-cs"/>
              </a:rPr>
              <a:t>short stature (dwarfism) </a:t>
            </a:r>
            <a:r>
              <a:rPr kumimoji="0" lang="en-US" sz="3600" b="0" i="0" u="none" strike="noStrike" kern="1200" cap="none" spc="0" normalizeH="0" baseline="0" noProof="0">
                <a:ln>
                  <a:noFill/>
                </a:ln>
                <a:effectLst/>
                <a:uLnTx/>
                <a:uFillTx/>
                <a:latin typeface="Calibri" panose="020F0502020204030204"/>
                <a:ea typeface="+mn-ea"/>
                <a:cs typeface="+mn-cs"/>
              </a:rPr>
              <a:t>and its characteristic features:</a:t>
            </a:r>
          </a:p>
          <a:p>
            <a:pPr lvl="1">
              <a:spcBef>
                <a:spcPts val="1000"/>
              </a:spcBef>
              <a:defRPr/>
            </a:pPr>
            <a:r>
              <a:rPr kumimoji="0" lang="en-US" sz="3200" b="0" i="0" u="none" strike="noStrike" kern="1200" cap="none" spc="0" normalizeH="0" baseline="0" noProof="0">
                <a:ln>
                  <a:noFill/>
                </a:ln>
                <a:effectLst/>
                <a:uLnTx/>
                <a:uFillTx/>
                <a:latin typeface="Calibri" panose="020F0502020204030204"/>
                <a:ea typeface="+mn-ea"/>
                <a:cs typeface="+mn-cs"/>
              </a:rPr>
              <a:t>Affected individuals have a prominent forehead, depressed nasal bridge, small mandible, and central obesity</a:t>
            </a:r>
          </a:p>
          <a:p>
            <a:pPr lvl="1">
              <a:spcBef>
                <a:spcPts val="1000"/>
              </a:spcBef>
              <a:defRPr/>
            </a:pPr>
            <a:r>
              <a:rPr kumimoji="0" lang="en-US" sz="3200" b="0" i="0" u="none" strike="noStrike" kern="1200" cap="none" spc="0" normalizeH="0" baseline="0" noProof="0">
                <a:ln>
                  <a:noFill/>
                </a:ln>
                <a:effectLst/>
                <a:uLnTx/>
                <a:uFillTx/>
                <a:latin typeface="Calibri" panose="020F0502020204030204"/>
                <a:ea typeface="+mn-ea"/>
                <a:cs typeface="+mn-cs"/>
              </a:rPr>
              <a:t>They may have recurrent hypoglycemic seizures</a:t>
            </a:r>
          </a:p>
          <a:p>
            <a:endParaRPr lang="en-US" sz="2200"/>
          </a:p>
        </p:txBody>
      </p:sp>
    </p:spTree>
    <p:extLst>
      <p:ext uri="{BB962C8B-B14F-4D97-AF65-F5344CB8AC3E}">
        <p14:creationId xmlns:p14="http://schemas.microsoft.com/office/powerpoint/2010/main" val="1334808220"/>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4" name="Rectangle 6">
            <a:extLst>
              <a:ext uri="{FF2B5EF4-FFF2-40B4-BE49-F238E27FC236}">
                <a16:creationId xmlns:a16="http://schemas.microsoft.com/office/drawing/2014/main" id="{59F81F08-B3D2-4FCD-AA95-9A7D77BA254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8">
            <a:extLst>
              <a:ext uri="{FF2B5EF4-FFF2-40B4-BE49-F238E27FC236}">
                <a16:creationId xmlns:a16="http://schemas.microsoft.com/office/drawing/2014/main" id="{66537C28-7D02-447F-9F0C-36DE2D1BF6C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537518"/>
            <a:ext cx="128016" cy="532180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6" name="Rectangle 10">
            <a:extLst>
              <a:ext uri="{FF2B5EF4-FFF2-40B4-BE49-F238E27FC236}">
                <a16:creationId xmlns:a16="http://schemas.microsoft.com/office/drawing/2014/main" id="{4EA3CC4C-B1A0-4F1A-9CF7-5A51A4EDEE1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50945" y="6197504"/>
            <a:ext cx="10927080"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3" name="Picture 2">
            <a:extLst>
              <a:ext uri="{FF2B5EF4-FFF2-40B4-BE49-F238E27FC236}">
                <a16:creationId xmlns:a16="http://schemas.microsoft.com/office/drawing/2014/main" id="{A5DE8C62-6BFE-03D1-71B0-9AEB0363A8D8}"/>
              </a:ext>
            </a:extLst>
          </p:cNvPr>
          <p:cNvPicPr>
            <a:picLocks noChangeAspect="1"/>
          </p:cNvPicPr>
          <p:nvPr/>
        </p:nvPicPr>
        <p:blipFill>
          <a:blip r:embed="rId3"/>
          <a:stretch>
            <a:fillRect/>
          </a:stretch>
        </p:blipFill>
        <p:spPr>
          <a:xfrm>
            <a:off x="1161169" y="235722"/>
            <a:ext cx="9589519" cy="6386555"/>
          </a:xfrm>
          <a:prstGeom prst="rect">
            <a:avLst/>
          </a:prstGeom>
        </p:spPr>
      </p:pic>
    </p:spTree>
    <p:extLst>
      <p:ext uri="{BB962C8B-B14F-4D97-AF65-F5344CB8AC3E}">
        <p14:creationId xmlns:p14="http://schemas.microsoft.com/office/powerpoint/2010/main" val="3157032779"/>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DAF1966E-FD40-4A4A-B61B-C4DF7FA05F0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0" name="Rectangle 9">
            <a:extLst>
              <a:ext uri="{FF2B5EF4-FFF2-40B4-BE49-F238E27FC236}">
                <a16:creationId xmlns:a16="http://schemas.microsoft.com/office/drawing/2014/main" id="{047BFA19-D45E-416B-A404-7AF2F3F270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58209" y="0"/>
            <a:ext cx="11167447" cy="2018806"/>
          </a:xfrm>
          <a:prstGeom prst="rect">
            <a:avLst/>
          </a:prstGeom>
          <a:ln w="9525">
            <a:solidFill>
              <a:srgbClr val="E1E1E1"/>
            </a:solidFill>
          </a:ln>
          <a:effectLst>
            <a:outerShdw blurRad="50800" dist="38100" dir="2700000" algn="t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2" name="Rectangle 11">
            <a:extLst>
              <a:ext uri="{FF2B5EF4-FFF2-40B4-BE49-F238E27FC236}">
                <a16:creationId xmlns:a16="http://schemas.microsoft.com/office/drawing/2014/main" id="{8E0105E7-23DB-4CF2-8258-FF47C7620F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6928" y="0"/>
            <a:ext cx="11155680" cy="2011680"/>
          </a:xfrm>
          <a:prstGeom prst="rect">
            <a:avLst/>
          </a:pr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14CD1CFC-17E7-458B-BFEE-75C961F72537}"/>
              </a:ext>
            </a:extLst>
          </p:cNvPr>
          <p:cNvSpPr>
            <a:spLocks noGrp="1"/>
          </p:cNvSpPr>
          <p:nvPr>
            <p:ph type="title"/>
          </p:nvPr>
        </p:nvSpPr>
        <p:spPr>
          <a:xfrm>
            <a:off x="854311" y="141732"/>
            <a:ext cx="10168128" cy="1728216"/>
          </a:xfrm>
        </p:spPr>
        <p:txBody>
          <a:bodyPr>
            <a:normAutofit/>
          </a:bodyPr>
          <a:lstStyle/>
          <a:p>
            <a:r>
              <a:rPr lang="en-US" sz="4800" dirty="0"/>
              <a:t>Treating GH Deficiency and Resistance in Children</a:t>
            </a:r>
          </a:p>
        </p:txBody>
      </p:sp>
      <p:sp>
        <p:nvSpPr>
          <p:cNvPr id="14" name="Rectangle 13">
            <a:extLst>
              <a:ext uri="{FF2B5EF4-FFF2-40B4-BE49-F238E27FC236}">
                <a16:creationId xmlns:a16="http://schemas.microsoft.com/office/drawing/2014/main" id="{074B4F7D-14B2-478B-8BF5-01E4E0C5D26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8834" y="758952"/>
            <a:ext cx="128016"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3" name="Content Placeholder 2">
            <a:extLst>
              <a:ext uri="{FF2B5EF4-FFF2-40B4-BE49-F238E27FC236}">
                <a16:creationId xmlns:a16="http://schemas.microsoft.com/office/drawing/2014/main" id="{8A7AFDEB-5885-4891-A39E-6C19648D111B}"/>
              </a:ext>
            </a:extLst>
          </p:cNvPr>
          <p:cNvSpPr>
            <a:spLocks noGrp="1"/>
          </p:cNvSpPr>
          <p:nvPr>
            <p:ph idx="1"/>
          </p:nvPr>
        </p:nvSpPr>
        <p:spPr>
          <a:xfrm>
            <a:off x="583870" y="2050676"/>
            <a:ext cx="11024260" cy="4775454"/>
          </a:xfrm>
        </p:spPr>
        <p:txBody>
          <a:bodyPr>
            <a:noAutofit/>
          </a:bodyPr>
          <a:lstStyle/>
          <a:p>
            <a:r>
              <a:rPr lang="en-US" sz="3600" dirty="0"/>
              <a:t>Replacement therapy with </a:t>
            </a:r>
            <a:r>
              <a:rPr lang="en-US" sz="3600" b="1" dirty="0"/>
              <a:t>daily recombinant human growth hormone (</a:t>
            </a:r>
            <a:r>
              <a:rPr lang="en-US" sz="3600" b="1" dirty="0" err="1"/>
              <a:t>rhGH</a:t>
            </a:r>
            <a:r>
              <a:rPr lang="en-US" sz="3600" b="1" dirty="0"/>
              <a:t>) </a:t>
            </a:r>
            <a:r>
              <a:rPr lang="en-US" sz="3600" dirty="0"/>
              <a:t>via subcutaneous injection</a:t>
            </a:r>
            <a:r>
              <a:rPr lang="en-US" sz="3600" b="1" dirty="0"/>
              <a:t> </a:t>
            </a:r>
            <a:r>
              <a:rPr lang="en-US" sz="3600" dirty="0"/>
              <a:t>restores growth velocity  </a:t>
            </a:r>
          </a:p>
          <a:p>
            <a:pPr lvl="1"/>
            <a:r>
              <a:rPr lang="en-US" sz="3200" dirty="0"/>
              <a:t>Continued until linear growth is completed</a:t>
            </a:r>
          </a:p>
          <a:p>
            <a:r>
              <a:rPr lang="en-US" sz="3600" dirty="0"/>
              <a:t>In patients with GH insensitivity and growth retardation due to mutations of the GH receptor, </a:t>
            </a:r>
            <a:r>
              <a:rPr lang="en-US" sz="3600" b="1" dirty="0"/>
              <a:t>treatment with biosynthetic IGF-I bypasses the dysfunctional GH receptor.</a:t>
            </a:r>
          </a:p>
        </p:txBody>
      </p:sp>
    </p:spTree>
    <p:extLst>
      <p:ext uri="{BB962C8B-B14F-4D97-AF65-F5344CB8AC3E}">
        <p14:creationId xmlns:p14="http://schemas.microsoft.com/office/powerpoint/2010/main" val="1850076447"/>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DAF1966E-FD40-4A4A-B61B-C4DF7FA05F0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0" name="Rectangle 9">
            <a:extLst>
              <a:ext uri="{FF2B5EF4-FFF2-40B4-BE49-F238E27FC236}">
                <a16:creationId xmlns:a16="http://schemas.microsoft.com/office/drawing/2014/main" id="{047BFA19-D45E-416B-A404-7AF2F3F270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58209" y="0"/>
            <a:ext cx="11167447" cy="2018806"/>
          </a:xfrm>
          <a:prstGeom prst="rect">
            <a:avLst/>
          </a:prstGeom>
          <a:ln w="9525">
            <a:solidFill>
              <a:srgbClr val="E1E1E1"/>
            </a:solidFill>
          </a:ln>
          <a:effectLst>
            <a:outerShdw blurRad="50800" dist="38100" dir="2700000" algn="t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2" name="Rectangle 11">
            <a:extLst>
              <a:ext uri="{FF2B5EF4-FFF2-40B4-BE49-F238E27FC236}">
                <a16:creationId xmlns:a16="http://schemas.microsoft.com/office/drawing/2014/main" id="{8E0105E7-23DB-4CF2-8258-FF47C7620F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6928" y="0"/>
            <a:ext cx="11155680" cy="2011680"/>
          </a:xfrm>
          <a:prstGeom prst="rect">
            <a:avLst/>
          </a:pr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1A9F78A2-DF13-4E2F-9863-03D1F8AF3086}"/>
              </a:ext>
            </a:extLst>
          </p:cNvPr>
          <p:cNvSpPr>
            <a:spLocks noGrp="1"/>
          </p:cNvSpPr>
          <p:nvPr>
            <p:ph type="title"/>
          </p:nvPr>
        </p:nvSpPr>
        <p:spPr>
          <a:xfrm>
            <a:off x="854311" y="416052"/>
            <a:ext cx="10168128" cy="1179576"/>
          </a:xfrm>
        </p:spPr>
        <p:txBody>
          <a:bodyPr>
            <a:normAutofit/>
          </a:bodyPr>
          <a:lstStyle/>
          <a:p>
            <a:r>
              <a:rPr lang="en-US" sz="4800" b="1" dirty="0"/>
              <a:t>GH Deficiency </a:t>
            </a:r>
            <a:r>
              <a:rPr lang="en-US" sz="4800" dirty="0"/>
              <a:t>in Adults </a:t>
            </a:r>
          </a:p>
        </p:txBody>
      </p:sp>
      <p:sp>
        <p:nvSpPr>
          <p:cNvPr id="14" name="Rectangle 13">
            <a:extLst>
              <a:ext uri="{FF2B5EF4-FFF2-40B4-BE49-F238E27FC236}">
                <a16:creationId xmlns:a16="http://schemas.microsoft.com/office/drawing/2014/main" id="{074B4F7D-14B2-478B-8BF5-01E4E0C5D26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8834" y="758952"/>
            <a:ext cx="128016"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3" name="Content Placeholder 2">
            <a:extLst>
              <a:ext uri="{FF2B5EF4-FFF2-40B4-BE49-F238E27FC236}">
                <a16:creationId xmlns:a16="http://schemas.microsoft.com/office/drawing/2014/main" id="{AE53FDFC-852F-4CEE-9609-9E898A2F5839}"/>
              </a:ext>
            </a:extLst>
          </p:cNvPr>
          <p:cNvSpPr>
            <a:spLocks noGrp="1"/>
          </p:cNvSpPr>
          <p:nvPr>
            <p:ph idx="1"/>
          </p:nvPr>
        </p:nvSpPr>
        <p:spPr>
          <a:xfrm>
            <a:off x="498833" y="2221992"/>
            <a:ext cx="11435867" cy="4376057"/>
          </a:xfrm>
        </p:spPr>
        <p:txBody>
          <a:bodyPr>
            <a:normAutofit fontScale="92500" lnSpcReduction="10000"/>
          </a:bodyPr>
          <a:lstStyle/>
          <a:p>
            <a:r>
              <a:rPr lang="en-US" sz="3600" dirty="0"/>
              <a:t>Often caused by acquired hypothalamic or pituitary </a:t>
            </a:r>
            <a:r>
              <a:rPr lang="en-US" sz="3600" dirty="0" err="1"/>
              <a:t>somatotrope</a:t>
            </a:r>
            <a:r>
              <a:rPr lang="en-US" sz="3600" dirty="0"/>
              <a:t> damage and </a:t>
            </a:r>
            <a:r>
              <a:rPr lang="en-US" sz="3600" b="1" u="sng" dirty="0"/>
              <a:t>often undiagnosed</a:t>
            </a:r>
          </a:p>
          <a:p>
            <a:pPr lvl="1"/>
            <a:r>
              <a:rPr lang="en-US" sz="3200" dirty="0"/>
              <a:t>Why?</a:t>
            </a:r>
          </a:p>
          <a:p>
            <a:r>
              <a:rPr lang="en-US" sz="3600" dirty="0"/>
              <a:t>Causes reflect general hypopituitarism etiologies </a:t>
            </a:r>
          </a:p>
          <a:p>
            <a:pPr lvl="1"/>
            <a:r>
              <a:rPr lang="en-US" sz="3200" dirty="0"/>
              <a:t>Pituitary tumor or consequence of treatment of a tumor (76%)</a:t>
            </a:r>
          </a:p>
          <a:p>
            <a:pPr lvl="1"/>
            <a:r>
              <a:rPr lang="en-US" sz="3200" dirty="0" err="1"/>
              <a:t>Extrapituitary</a:t>
            </a:r>
            <a:r>
              <a:rPr lang="en-US" sz="3200" dirty="0"/>
              <a:t> tumor (ex: craniopharyngioma) (13%)</a:t>
            </a:r>
          </a:p>
          <a:p>
            <a:pPr lvl="1"/>
            <a:r>
              <a:rPr lang="en-US" sz="3200" dirty="0"/>
              <a:t>Unknown cause (8%) </a:t>
            </a:r>
          </a:p>
          <a:p>
            <a:pPr lvl="1"/>
            <a:r>
              <a:rPr lang="en-US" sz="3200" dirty="0"/>
              <a:t>Sarcoidosis (1%) </a:t>
            </a:r>
          </a:p>
          <a:p>
            <a:pPr lvl="1"/>
            <a:r>
              <a:rPr lang="en-US" sz="3200" dirty="0"/>
              <a:t>Sheehan Syndrome (0.5%) </a:t>
            </a:r>
          </a:p>
        </p:txBody>
      </p:sp>
    </p:spTree>
    <p:extLst>
      <p:ext uri="{BB962C8B-B14F-4D97-AF65-F5344CB8AC3E}">
        <p14:creationId xmlns:p14="http://schemas.microsoft.com/office/powerpoint/2010/main" val="3068930648"/>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DAF1966E-FD40-4A4A-B61B-C4DF7FA05F0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0" name="Rectangle 9">
            <a:extLst>
              <a:ext uri="{FF2B5EF4-FFF2-40B4-BE49-F238E27FC236}">
                <a16:creationId xmlns:a16="http://schemas.microsoft.com/office/drawing/2014/main" id="{047BFA19-D45E-416B-A404-7AF2F3F270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58209" y="0"/>
            <a:ext cx="11167447" cy="2018806"/>
          </a:xfrm>
          <a:prstGeom prst="rect">
            <a:avLst/>
          </a:prstGeom>
          <a:ln w="9525">
            <a:solidFill>
              <a:srgbClr val="E1E1E1"/>
            </a:solidFill>
          </a:ln>
          <a:effectLst>
            <a:outerShdw blurRad="50800" dist="38100" dir="2700000" algn="t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2" name="Rectangle 11">
            <a:extLst>
              <a:ext uri="{FF2B5EF4-FFF2-40B4-BE49-F238E27FC236}">
                <a16:creationId xmlns:a16="http://schemas.microsoft.com/office/drawing/2014/main" id="{8E0105E7-23DB-4CF2-8258-FF47C7620F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6928" y="0"/>
            <a:ext cx="11155680" cy="2011680"/>
          </a:xfrm>
          <a:prstGeom prst="rect">
            <a:avLst/>
          </a:pr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1A9F78A2-DF13-4E2F-9863-03D1F8AF3086}"/>
              </a:ext>
            </a:extLst>
          </p:cNvPr>
          <p:cNvSpPr>
            <a:spLocks noGrp="1"/>
          </p:cNvSpPr>
          <p:nvPr>
            <p:ph type="title"/>
          </p:nvPr>
        </p:nvSpPr>
        <p:spPr>
          <a:xfrm>
            <a:off x="854311" y="416052"/>
            <a:ext cx="10168128" cy="1179576"/>
          </a:xfrm>
        </p:spPr>
        <p:txBody>
          <a:bodyPr>
            <a:normAutofit fontScale="90000"/>
          </a:bodyPr>
          <a:lstStyle/>
          <a:p>
            <a:r>
              <a:rPr lang="en-US" sz="4800" b="1" dirty="0"/>
              <a:t>GH Deficiency </a:t>
            </a:r>
            <a:r>
              <a:rPr lang="en-US" sz="4800" dirty="0"/>
              <a:t>in Adults </a:t>
            </a:r>
            <a:br>
              <a:rPr lang="en-US" sz="4800" dirty="0"/>
            </a:br>
            <a:r>
              <a:rPr lang="en-US" sz="4800" dirty="0"/>
              <a:t>Symptoms and Clinical Manifestation</a:t>
            </a:r>
          </a:p>
        </p:txBody>
      </p:sp>
      <p:sp>
        <p:nvSpPr>
          <p:cNvPr id="14" name="Rectangle 13">
            <a:extLst>
              <a:ext uri="{FF2B5EF4-FFF2-40B4-BE49-F238E27FC236}">
                <a16:creationId xmlns:a16="http://schemas.microsoft.com/office/drawing/2014/main" id="{074B4F7D-14B2-478B-8BF5-01E4E0C5D26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8834" y="758952"/>
            <a:ext cx="128016"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3" name="Content Placeholder 2">
            <a:extLst>
              <a:ext uri="{FF2B5EF4-FFF2-40B4-BE49-F238E27FC236}">
                <a16:creationId xmlns:a16="http://schemas.microsoft.com/office/drawing/2014/main" id="{AE53FDFC-852F-4CEE-9609-9E898A2F5839}"/>
              </a:ext>
            </a:extLst>
          </p:cNvPr>
          <p:cNvSpPr>
            <a:spLocks noGrp="1"/>
          </p:cNvSpPr>
          <p:nvPr>
            <p:ph idx="1"/>
          </p:nvPr>
        </p:nvSpPr>
        <p:spPr>
          <a:xfrm>
            <a:off x="498834" y="2359330"/>
            <a:ext cx="11388366" cy="5047220"/>
          </a:xfrm>
        </p:spPr>
        <p:txBody>
          <a:bodyPr>
            <a:normAutofit/>
          </a:bodyPr>
          <a:lstStyle/>
          <a:p>
            <a:r>
              <a:rPr lang="en-US" sz="3600" b="1" dirty="0"/>
              <a:t>Variable symptoms</a:t>
            </a:r>
            <a:r>
              <a:rPr lang="en-US" sz="3600" dirty="0"/>
              <a:t>: central obesity, reduced physical and mental energy, impaired concentration and memory, depression, low self esteem</a:t>
            </a:r>
          </a:p>
          <a:p>
            <a:pPr lvl="1"/>
            <a:r>
              <a:rPr lang="en-US" sz="3200" dirty="0"/>
              <a:t>Patients may also have reduced muscle mass, </a:t>
            </a:r>
            <a:r>
              <a:rPr lang="en-US" sz="3200" dirty="0">
                <a:latin typeface="Calibri" panose="020F0502020204030204" pitchFamily="34" charset="0"/>
                <a:cs typeface="Calibri" panose="020F0502020204030204" pitchFamily="34" charset="0"/>
              </a:rPr>
              <a:t>↑</a:t>
            </a:r>
            <a:r>
              <a:rPr lang="en-US" sz="3200" dirty="0"/>
              <a:t> LDL levels, LV dysfunction and reduced cardiac output with exercise. (</a:t>
            </a:r>
            <a:r>
              <a:rPr lang="en-US" sz="3200" b="1" dirty="0"/>
              <a:t>↑cardiovascular disease and related mortality) </a:t>
            </a:r>
            <a:endParaRPr lang="en-US" sz="3200" dirty="0"/>
          </a:p>
          <a:p>
            <a:pPr lvl="1"/>
            <a:r>
              <a:rPr lang="en-US" sz="3200" dirty="0"/>
              <a:t>Chronic GH deficiency leads to </a:t>
            </a:r>
            <a:r>
              <a:rPr lang="en-US" sz="3200" b="1" dirty="0"/>
              <a:t>osteopenia and an increased risk of fractures.</a:t>
            </a:r>
          </a:p>
          <a:p>
            <a:endParaRPr lang="en-US" sz="2200" dirty="0"/>
          </a:p>
        </p:txBody>
      </p:sp>
    </p:spTree>
    <p:extLst>
      <p:ext uri="{BB962C8B-B14F-4D97-AF65-F5344CB8AC3E}">
        <p14:creationId xmlns:p14="http://schemas.microsoft.com/office/powerpoint/2010/main" val="2326945622"/>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DAF1966E-FD40-4A4A-B61B-C4DF7FA05F0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0" name="Rectangle 9">
            <a:extLst>
              <a:ext uri="{FF2B5EF4-FFF2-40B4-BE49-F238E27FC236}">
                <a16:creationId xmlns:a16="http://schemas.microsoft.com/office/drawing/2014/main" id="{047BFA19-D45E-416B-A404-7AF2F3F270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58209" y="0"/>
            <a:ext cx="11167447" cy="2018806"/>
          </a:xfrm>
          <a:prstGeom prst="rect">
            <a:avLst/>
          </a:prstGeom>
          <a:ln w="9525">
            <a:solidFill>
              <a:srgbClr val="E1E1E1"/>
            </a:solidFill>
          </a:ln>
          <a:effectLst>
            <a:outerShdw blurRad="50800" dist="38100" dir="2700000" algn="t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2" name="Rectangle 11">
            <a:extLst>
              <a:ext uri="{FF2B5EF4-FFF2-40B4-BE49-F238E27FC236}">
                <a16:creationId xmlns:a16="http://schemas.microsoft.com/office/drawing/2014/main" id="{8E0105E7-23DB-4CF2-8258-FF47C7620F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6928" y="0"/>
            <a:ext cx="11155680" cy="2011680"/>
          </a:xfrm>
          <a:prstGeom prst="rect">
            <a:avLst/>
          </a:pr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06ED80F6-D748-46C0-B9A8-7C6E3D1FA36E}"/>
              </a:ext>
            </a:extLst>
          </p:cNvPr>
          <p:cNvSpPr>
            <a:spLocks noGrp="1"/>
          </p:cNvSpPr>
          <p:nvPr>
            <p:ph type="title"/>
          </p:nvPr>
        </p:nvSpPr>
        <p:spPr>
          <a:xfrm>
            <a:off x="913688" y="521208"/>
            <a:ext cx="10168128" cy="1047948"/>
          </a:xfrm>
        </p:spPr>
        <p:txBody>
          <a:bodyPr>
            <a:normAutofit/>
          </a:bodyPr>
          <a:lstStyle/>
          <a:p>
            <a:r>
              <a:rPr lang="en-US" sz="4800" dirty="0"/>
              <a:t>Evaluating for GH deficiency in Adults </a:t>
            </a:r>
          </a:p>
        </p:txBody>
      </p:sp>
      <p:sp>
        <p:nvSpPr>
          <p:cNvPr id="14" name="Rectangle 13">
            <a:extLst>
              <a:ext uri="{FF2B5EF4-FFF2-40B4-BE49-F238E27FC236}">
                <a16:creationId xmlns:a16="http://schemas.microsoft.com/office/drawing/2014/main" id="{074B4F7D-14B2-478B-8BF5-01E4E0C5D26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8834" y="758952"/>
            <a:ext cx="128016"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3" name="Content Placeholder 2">
            <a:extLst>
              <a:ext uri="{FF2B5EF4-FFF2-40B4-BE49-F238E27FC236}">
                <a16:creationId xmlns:a16="http://schemas.microsoft.com/office/drawing/2014/main" id="{AB122055-4F8D-4F2F-A0DB-5F553E185539}"/>
              </a:ext>
            </a:extLst>
          </p:cNvPr>
          <p:cNvSpPr>
            <a:spLocks noGrp="1"/>
          </p:cNvSpPr>
          <p:nvPr>
            <p:ph idx="1"/>
          </p:nvPr>
        </p:nvSpPr>
        <p:spPr>
          <a:xfrm>
            <a:off x="512276" y="2018806"/>
            <a:ext cx="11167447" cy="4859502"/>
          </a:xfrm>
        </p:spPr>
        <p:txBody>
          <a:bodyPr>
            <a:normAutofit fontScale="92500" lnSpcReduction="20000"/>
          </a:bodyPr>
          <a:lstStyle/>
          <a:p>
            <a:r>
              <a:rPr lang="en-US" sz="3600" dirty="0"/>
              <a:t>Overall GHD in adults is rare</a:t>
            </a:r>
          </a:p>
          <a:p>
            <a:r>
              <a:rPr lang="en-US" sz="3600" dirty="0"/>
              <a:t>Reserve testing for patients with any of the </a:t>
            </a:r>
            <a:r>
              <a:rPr lang="en-US" sz="3600" b="1" dirty="0"/>
              <a:t>predisposing factors</a:t>
            </a:r>
            <a:r>
              <a:rPr lang="en-US" sz="3600" dirty="0"/>
              <a:t>: </a:t>
            </a:r>
          </a:p>
          <a:p>
            <a:pPr marL="457200" lvl="1" indent="0">
              <a:buNone/>
            </a:pPr>
            <a:r>
              <a:rPr lang="en-US" sz="3500" i="1" dirty="0"/>
              <a:t>1. Pituitary surgery</a:t>
            </a:r>
          </a:p>
          <a:p>
            <a:pPr marL="457200" lvl="1" indent="0">
              <a:buNone/>
            </a:pPr>
            <a:r>
              <a:rPr lang="en-US" sz="3500" i="1" dirty="0"/>
              <a:t>2. Pituitary or hypothalamic lesion </a:t>
            </a:r>
          </a:p>
          <a:p>
            <a:pPr marL="457200" lvl="1" indent="0">
              <a:buNone/>
            </a:pPr>
            <a:r>
              <a:rPr lang="en-US" sz="3500" i="1" dirty="0"/>
              <a:t>3. History of cranial irradiation</a:t>
            </a:r>
          </a:p>
          <a:p>
            <a:pPr marL="457200" lvl="1" indent="0">
              <a:buNone/>
            </a:pPr>
            <a:r>
              <a:rPr lang="en-US" sz="3500" i="1" dirty="0"/>
              <a:t>4. Radiologic evidence of pituitary lesion</a:t>
            </a:r>
          </a:p>
          <a:p>
            <a:pPr marL="457200" lvl="1" indent="0">
              <a:buNone/>
            </a:pPr>
            <a:r>
              <a:rPr lang="en-US" sz="3500" i="1" dirty="0"/>
              <a:t>5. Childhood requirement for GH replacement therapy</a:t>
            </a:r>
          </a:p>
          <a:p>
            <a:r>
              <a:rPr lang="en-US" sz="3600" dirty="0"/>
              <a:t>GH deficiency is present in 96% of patients and can be diagnosed if </a:t>
            </a:r>
            <a:r>
              <a:rPr lang="en-US" sz="3600" b="1" dirty="0"/>
              <a:t>3+ other pituitary hormone deficiencies + a low serum IGF-1 &lt;84mcg/L.</a:t>
            </a:r>
          </a:p>
        </p:txBody>
      </p:sp>
    </p:spTree>
    <p:extLst>
      <p:ext uri="{BB962C8B-B14F-4D97-AF65-F5344CB8AC3E}">
        <p14:creationId xmlns:p14="http://schemas.microsoft.com/office/powerpoint/2010/main" val="4048183704"/>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DAF1966E-FD40-4A4A-B61B-C4DF7FA05F0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0" name="Rectangle 9">
            <a:extLst>
              <a:ext uri="{FF2B5EF4-FFF2-40B4-BE49-F238E27FC236}">
                <a16:creationId xmlns:a16="http://schemas.microsoft.com/office/drawing/2014/main" id="{047BFA19-D45E-416B-A404-7AF2F3F270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58209" y="0"/>
            <a:ext cx="11167447" cy="2018806"/>
          </a:xfrm>
          <a:prstGeom prst="rect">
            <a:avLst/>
          </a:prstGeom>
          <a:ln w="9525">
            <a:solidFill>
              <a:srgbClr val="E1E1E1"/>
            </a:solidFill>
          </a:ln>
          <a:effectLst>
            <a:outerShdw blurRad="50800" dist="38100" dir="2700000" algn="t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2" name="Rectangle 11">
            <a:extLst>
              <a:ext uri="{FF2B5EF4-FFF2-40B4-BE49-F238E27FC236}">
                <a16:creationId xmlns:a16="http://schemas.microsoft.com/office/drawing/2014/main" id="{8E0105E7-23DB-4CF2-8258-FF47C7620F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6928" y="0"/>
            <a:ext cx="11155680" cy="2011680"/>
          </a:xfrm>
          <a:prstGeom prst="rect">
            <a:avLst/>
          </a:pr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8DD4D63E-FD74-4740-B701-6148DFA81858}"/>
              </a:ext>
            </a:extLst>
          </p:cNvPr>
          <p:cNvSpPr>
            <a:spLocks noGrp="1"/>
          </p:cNvSpPr>
          <p:nvPr>
            <p:ph type="title"/>
          </p:nvPr>
        </p:nvSpPr>
        <p:spPr>
          <a:xfrm>
            <a:off x="1115568" y="548640"/>
            <a:ext cx="10168128" cy="1179576"/>
          </a:xfrm>
        </p:spPr>
        <p:txBody>
          <a:bodyPr>
            <a:normAutofit/>
          </a:bodyPr>
          <a:lstStyle/>
          <a:p>
            <a:r>
              <a:rPr lang="en-US" sz="4800"/>
              <a:t>Evaluating for GH Deficiency in Adults </a:t>
            </a:r>
          </a:p>
        </p:txBody>
      </p:sp>
      <p:sp>
        <p:nvSpPr>
          <p:cNvPr id="14" name="Rectangle 13">
            <a:extLst>
              <a:ext uri="{FF2B5EF4-FFF2-40B4-BE49-F238E27FC236}">
                <a16:creationId xmlns:a16="http://schemas.microsoft.com/office/drawing/2014/main" id="{074B4F7D-14B2-478B-8BF5-01E4E0C5D26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8834" y="758952"/>
            <a:ext cx="128016"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3" name="Content Placeholder 2">
            <a:extLst>
              <a:ext uri="{FF2B5EF4-FFF2-40B4-BE49-F238E27FC236}">
                <a16:creationId xmlns:a16="http://schemas.microsoft.com/office/drawing/2014/main" id="{195C7882-4D61-4459-B383-8BB0F2CAD85C}"/>
              </a:ext>
            </a:extLst>
          </p:cNvPr>
          <p:cNvSpPr>
            <a:spLocks noGrp="1"/>
          </p:cNvSpPr>
          <p:nvPr>
            <p:ph idx="1"/>
          </p:nvPr>
        </p:nvSpPr>
        <p:spPr>
          <a:xfrm>
            <a:off x="558209" y="2018806"/>
            <a:ext cx="11565150" cy="4563990"/>
          </a:xfrm>
        </p:spPr>
        <p:txBody>
          <a:bodyPr>
            <a:normAutofit/>
          </a:bodyPr>
          <a:lstStyle/>
          <a:p>
            <a:r>
              <a:rPr lang="en-US" sz="3600" dirty="0"/>
              <a:t>Approx. ¼ GH-deficient adults have low-normal IGF-1 </a:t>
            </a:r>
          </a:p>
          <a:p>
            <a:pPr marL="0" indent="0">
              <a:buNone/>
            </a:pPr>
            <a:endParaRPr lang="en-US" sz="3600" b="1" dirty="0"/>
          </a:p>
          <a:p>
            <a:r>
              <a:rPr lang="en-US" sz="3600" b="1" dirty="0"/>
              <a:t>Glucagon Stimulation Test</a:t>
            </a:r>
          </a:p>
          <a:p>
            <a:pPr lvl="1"/>
            <a:r>
              <a:rPr lang="en-US" sz="3200" dirty="0"/>
              <a:t>Administer 1mg glucagon IM, weight&lt;90kg or 1.5mg&gt;90kg fasting for 8-9hr</a:t>
            </a:r>
          </a:p>
          <a:p>
            <a:pPr lvl="1"/>
            <a:r>
              <a:rPr lang="en-US" sz="3200" dirty="0"/>
              <a:t>GH sampled before administration and every 30min for 4hr</a:t>
            </a:r>
          </a:p>
          <a:p>
            <a:pPr lvl="1"/>
            <a:r>
              <a:rPr lang="en-US" sz="3200" dirty="0"/>
              <a:t>GH &lt;3mcg/L diagnostic</a:t>
            </a:r>
          </a:p>
        </p:txBody>
      </p:sp>
    </p:spTree>
    <p:extLst>
      <p:ext uri="{BB962C8B-B14F-4D97-AF65-F5344CB8AC3E}">
        <p14:creationId xmlns:p14="http://schemas.microsoft.com/office/powerpoint/2010/main" val="2558775470"/>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DAF1966E-FD40-4A4A-B61B-C4DF7FA05F0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0" name="Rectangle 9">
            <a:extLst>
              <a:ext uri="{FF2B5EF4-FFF2-40B4-BE49-F238E27FC236}">
                <a16:creationId xmlns:a16="http://schemas.microsoft.com/office/drawing/2014/main" id="{047BFA19-D45E-416B-A404-7AF2F3F270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58209" y="0"/>
            <a:ext cx="11167447" cy="2018806"/>
          </a:xfrm>
          <a:prstGeom prst="rect">
            <a:avLst/>
          </a:prstGeom>
          <a:ln w="9525">
            <a:solidFill>
              <a:srgbClr val="E1E1E1"/>
            </a:solidFill>
          </a:ln>
          <a:effectLst>
            <a:outerShdw blurRad="50800" dist="38100" dir="2700000" algn="t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2" name="Rectangle 11">
            <a:extLst>
              <a:ext uri="{FF2B5EF4-FFF2-40B4-BE49-F238E27FC236}">
                <a16:creationId xmlns:a16="http://schemas.microsoft.com/office/drawing/2014/main" id="{8E0105E7-23DB-4CF2-8258-FF47C7620F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6928" y="0"/>
            <a:ext cx="11155680" cy="2011680"/>
          </a:xfrm>
          <a:prstGeom prst="rect">
            <a:avLst/>
          </a:pr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8DD4D63E-FD74-4740-B701-6148DFA81858}"/>
              </a:ext>
            </a:extLst>
          </p:cNvPr>
          <p:cNvSpPr>
            <a:spLocks noGrp="1"/>
          </p:cNvSpPr>
          <p:nvPr>
            <p:ph type="title"/>
          </p:nvPr>
        </p:nvSpPr>
        <p:spPr>
          <a:xfrm>
            <a:off x="1115568" y="548640"/>
            <a:ext cx="10168128" cy="1179576"/>
          </a:xfrm>
        </p:spPr>
        <p:txBody>
          <a:bodyPr>
            <a:normAutofit/>
          </a:bodyPr>
          <a:lstStyle/>
          <a:p>
            <a:r>
              <a:rPr lang="en-US" sz="4800"/>
              <a:t>Evaluating for GH Deficiency in Adults </a:t>
            </a:r>
          </a:p>
        </p:txBody>
      </p:sp>
      <p:sp>
        <p:nvSpPr>
          <p:cNvPr id="14" name="Rectangle 13">
            <a:extLst>
              <a:ext uri="{FF2B5EF4-FFF2-40B4-BE49-F238E27FC236}">
                <a16:creationId xmlns:a16="http://schemas.microsoft.com/office/drawing/2014/main" id="{074B4F7D-14B2-478B-8BF5-01E4E0C5D26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8834" y="758952"/>
            <a:ext cx="128016"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3" name="Content Placeholder 2">
            <a:extLst>
              <a:ext uri="{FF2B5EF4-FFF2-40B4-BE49-F238E27FC236}">
                <a16:creationId xmlns:a16="http://schemas.microsoft.com/office/drawing/2014/main" id="{195C7882-4D61-4459-B383-8BB0F2CAD85C}"/>
              </a:ext>
            </a:extLst>
          </p:cNvPr>
          <p:cNvSpPr>
            <a:spLocks noGrp="1"/>
          </p:cNvSpPr>
          <p:nvPr>
            <p:ph idx="1"/>
          </p:nvPr>
        </p:nvSpPr>
        <p:spPr>
          <a:xfrm>
            <a:off x="558209" y="2294010"/>
            <a:ext cx="11565150" cy="4563990"/>
          </a:xfrm>
        </p:spPr>
        <p:txBody>
          <a:bodyPr>
            <a:normAutofit/>
          </a:bodyPr>
          <a:lstStyle/>
          <a:p>
            <a:r>
              <a:rPr lang="en-US" b="1" dirty="0"/>
              <a:t>Insulin-induced hypoglycemia test</a:t>
            </a:r>
            <a:endParaRPr lang="en-US" dirty="0"/>
          </a:p>
          <a:p>
            <a:pPr lvl="1"/>
            <a:r>
              <a:rPr lang="en-US" sz="2800" dirty="0"/>
              <a:t>Administer 0.05-0.1U/kg regular insulin, IV</a:t>
            </a:r>
          </a:p>
          <a:p>
            <a:pPr lvl="1"/>
            <a:r>
              <a:rPr lang="en-US" sz="2800" dirty="0"/>
              <a:t>When glucose levels reach ~40 mg/dL, GH will surge, peaking at</a:t>
            </a:r>
            <a:br>
              <a:rPr lang="en-US" sz="2800" dirty="0"/>
            </a:br>
            <a:r>
              <a:rPr lang="en-US" sz="2800" dirty="0"/>
              <a:t>60 mins and remaining elevated for 2 hours</a:t>
            </a:r>
          </a:p>
          <a:p>
            <a:pPr lvl="1"/>
            <a:r>
              <a:rPr lang="en-US" sz="2800" dirty="0"/>
              <a:t>Adult GHD is defined by a peak GH&lt; 3 </a:t>
            </a:r>
            <a:r>
              <a:rPr lang="en-US" sz="2800" dirty="0" err="1"/>
              <a:t>μg</a:t>
            </a:r>
            <a:r>
              <a:rPr lang="en-US" sz="2800" dirty="0"/>
              <a:t>/L</a:t>
            </a:r>
          </a:p>
          <a:p>
            <a:pPr lvl="1"/>
            <a:r>
              <a:rPr lang="en-US" sz="2800" dirty="0"/>
              <a:t>Contraindicated in the following: patients with diabetes,</a:t>
            </a:r>
            <a:br>
              <a:rPr lang="en-US" sz="2800" dirty="0"/>
            </a:br>
            <a:r>
              <a:rPr lang="en-US" sz="2800" dirty="0"/>
              <a:t>ischemic heart disease, cerebrovascular disease, or epilepsy and</a:t>
            </a:r>
            <a:br>
              <a:rPr lang="en-US" sz="2800" dirty="0"/>
            </a:br>
            <a:r>
              <a:rPr lang="en-US" sz="2800" dirty="0"/>
              <a:t>in elderly patients</a:t>
            </a:r>
          </a:p>
          <a:p>
            <a:pPr marL="0" indent="0">
              <a:buNone/>
            </a:pPr>
            <a:endParaRPr lang="en-US" sz="3600" dirty="0"/>
          </a:p>
        </p:txBody>
      </p:sp>
    </p:spTree>
    <p:extLst>
      <p:ext uri="{BB962C8B-B14F-4D97-AF65-F5344CB8AC3E}">
        <p14:creationId xmlns:p14="http://schemas.microsoft.com/office/powerpoint/2010/main" val="3401060982"/>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DAF1966E-FD40-4A4A-B61B-C4DF7FA05F0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0" name="Rectangle 9">
            <a:extLst>
              <a:ext uri="{FF2B5EF4-FFF2-40B4-BE49-F238E27FC236}">
                <a16:creationId xmlns:a16="http://schemas.microsoft.com/office/drawing/2014/main" id="{047BFA19-D45E-416B-A404-7AF2F3F270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58209" y="0"/>
            <a:ext cx="11167447" cy="2018806"/>
          </a:xfrm>
          <a:prstGeom prst="rect">
            <a:avLst/>
          </a:prstGeom>
          <a:ln w="9525">
            <a:solidFill>
              <a:srgbClr val="E1E1E1"/>
            </a:solidFill>
          </a:ln>
          <a:effectLst>
            <a:outerShdw blurRad="50800" dist="38100" dir="2700000" algn="t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2" name="Rectangle 11">
            <a:extLst>
              <a:ext uri="{FF2B5EF4-FFF2-40B4-BE49-F238E27FC236}">
                <a16:creationId xmlns:a16="http://schemas.microsoft.com/office/drawing/2014/main" id="{8E0105E7-23DB-4CF2-8258-FF47C7620F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6928" y="0"/>
            <a:ext cx="11155680" cy="2011680"/>
          </a:xfrm>
          <a:prstGeom prst="rect">
            <a:avLst/>
          </a:pr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AD71641D-2897-4466-B4DD-11B1FB107C32}"/>
              </a:ext>
            </a:extLst>
          </p:cNvPr>
          <p:cNvSpPr>
            <a:spLocks noGrp="1"/>
          </p:cNvSpPr>
          <p:nvPr>
            <p:ph type="title"/>
          </p:nvPr>
        </p:nvSpPr>
        <p:spPr>
          <a:xfrm>
            <a:off x="1011936" y="521208"/>
            <a:ext cx="10168128" cy="1179576"/>
          </a:xfrm>
        </p:spPr>
        <p:txBody>
          <a:bodyPr>
            <a:normAutofit/>
          </a:bodyPr>
          <a:lstStyle/>
          <a:p>
            <a:r>
              <a:rPr lang="en-US" sz="4800"/>
              <a:t>GH deficiency in Adults: Treatment </a:t>
            </a:r>
          </a:p>
        </p:txBody>
      </p:sp>
      <p:sp>
        <p:nvSpPr>
          <p:cNvPr id="14" name="Rectangle 13">
            <a:extLst>
              <a:ext uri="{FF2B5EF4-FFF2-40B4-BE49-F238E27FC236}">
                <a16:creationId xmlns:a16="http://schemas.microsoft.com/office/drawing/2014/main" id="{074B4F7D-14B2-478B-8BF5-01E4E0C5D26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8834" y="758952"/>
            <a:ext cx="128016"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3" name="Content Placeholder 2">
            <a:extLst>
              <a:ext uri="{FF2B5EF4-FFF2-40B4-BE49-F238E27FC236}">
                <a16:creationId xmlns:a16="http://schemas.microsoft.com/office/drawing/2014/main" id="{FE007FD4-735B-4E51-BE77-6D3E779618F8}"/>
              </a:ext>
            </a:extLst>
          </p:cNvPr>
          <p:cNvSpPr>
            <a:spLocks noGrp="1"/>
          </p:cNvSpPr>
          <p:nvPr>
            <p:ph idx="1"/>
          </p:nvPr>
        </p:nvSpPr>
        <p:spPr>
          <a:xfrm>
            <a:off x="593757" y="2214685"/>
            <a:ext cx="11379540" cy="4988950"/>
          </a:xfrm>
        </p:spPr>
        <p:txBody>
          <a:bodyPr>
            <a:normAutofit/>
          </a:bodyPr>
          <a:lstStyle/>
          <a:p>
            <a:r>
              <a:rPr lang="en-US" sz="3600" b="1"/>
              <a:t>Recombinant human growth hormone (</a:t>
            </a:r>
            <a:r>
              <a:rPr lang="en-US" sz="3600" b="1" err="1"/>
              <a:t>rhGH</a:t>
            </a:r>
            <a:r>
              <a:rPr lang="en-US" sz="3600" b="1"/>
              <a:t>) injections</a:t>
            </a:r>
            <a:r>
              <a:rPr lang="en-US" sz="3600"/>
              <a:t> 3x weekly </a:t>
            </a:r>
          </a:p>
          <a:p>
            <a:pPr lvl="1"/>
            <a:r>
              <a:rPr lang="en-US" sz="3200"/>
              <a:t>Dose is titrated until IGF-1 levels are normal </a:t>
            </a:r>
          </a:p>
          <a:p>
            <a:pPr lvl="1"/>
            <a:r>
              <a:rPr lang="en-US" sz="3200"/>
              <a:t>Side effects: reversible dose-related fluid retention, joint pain, and carpal tunnel syndrome (30%); myalgias and paresthesia (40%).</a:t>
            </a:r>
          </a:p>
          <a:p>
            <a:pPr lvl="1"/>
            <a:r>
              <a:rPr lang="en-US" sz="3200"/>
              <a:t>Treatment is associated with increased </a:t>
            </a:r>
            <a:r>
              <a:rPr lang="en-US" sz="3200" b="0" i="0">
                <a:solidFill>
                  <a:srgbClr val="232323"/>
                </a:solidFill>
                <a:effectLst/>
              </a:rPr>
              <a:t>muscle mass, decreased body fat, and an improvement in some parameters of cardiac function.</a:t>
            </a:r>
            <a:endParaRPr lang="en-US" sz="3200"/>
          </a:p>
        </p:txBody>
      </p:sp>
    </p:spTree>
    <p:extLst>
      <p:ext uri="{BB962C8B-B14F-4D97-AF65-F5344CB8AC3E}">
        <p14:creationId xmlns:p14="http://schemas.microsoft.com/office/powerpoint/2010/main" val="3305242692"/>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E777E57D-6A88-4B5B-A068-2BA7FF4E8CC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77700E2-FDF4-4050-87AC-0A685F2958C6}"/>
              </a:ext>
            </a:extLst>
          </p:cNvPr>
          <p:cNvSpPr>
            <a:spLocks noGrp="1"/>
          </p:cNvSpPr>
          <p:nvPr>
            <p:ph type="title"/>
          </p:nvPr>
        </p:nvSpPr>
        <p:spPr>
          <a:xfrm>
            <a:off x="841248" y="502920"/>
            <a:ext cx="10509504" cy="1975104"/>
          </a:xfrm>
        </p:spPr>
        <p:txBody>
          <a:bodyPr anchor="t">
            <a:normAutofit/>
          </a:bodyPr>
          <a:lstStyle/>
          <a:p>
            <a:pPr algn="ctr"/>
            <a:r>
              <a:rPr lang="en-US" sz="5400"/>
              <a:t>Dwarfism due to Achondroplasia</a:t>
            </a:r>
          </a:p>
        </p:txBody>
      </p:sp>
      <p:sp>
        <p:nvSpPr>
          <p:cNvPr id="10" name="Rectangle 9">
            <a:extLst>
              <a:ext uri="{FF2B5EF4-FFF2-40B4-BE49-F238E27FC236}">
                <a16:creationId xmlns:a16="http://schemas.microsoft.com/office/drawing/2014/main" id="{F7117410-A2A4-4085-9ADC-46744551DB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42772" y="0"/>
            <a:ext cx="10506456" cy="19138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12" name="Rectangle 11">
            <a:extLst>
              <a:ext uri="{FF2B5EF4-FFF2-40B4-BE49-F238E27FC236}">
                <a16:creationId xmlns:a16="http://schemas.microsoft.com/office/drawing/2014/main" id="{99F74EB5-E547-4FB4-95F5-BCC788F3C4A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41248" y="2894076"/>
            <a:ext cx="10506456"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3" name="Content Placeholder 2">
            <a:extLst>
              <a:ext uri="{FF2B5EF4-FFF2-40B4-BE49-F238E27FC236}">
                <a16:creationId xmlns:a16="http://schemas.microsoft.com/office/drawing/2014/main" id="{E5CF5A48-45EF-4868-ABAD-E0E812FAFBC2}"/>
              </a:ext>
            </a:extLst>
          </p:cNvPr>
          <p:cNvSpPr>
            <a:spLocks noGrp="1"/>
          </p:cNvSpPr>
          <p:nvPr>
            <p:ph idx="1"/>
          </p:nvPr>
        </p:nvSpPr>
        <p:spPr>
          <a:xfrm>
            <a:off x="620684" y="1572323"/>
            <a:ext cx="11164705" cy="4616604"/>
          </a:xfrm>
          <a:solidFill>
            <a:schemeClr val="bg1"/>
          </a:solidFill>
        </p:spPr>
        <p:txBody>
          <a:bodyPr>
            <a:normAutofit/>
          </a:bodyPr>
          <a:lstStyle/>
          <a:p>
            <a:r>
              <a:rPr lang="en-US" sz="3600"/>
              <a:t>The most common cause of short-limb dwarfism </a:t>
            </a:r>
          </a:p>
          <a:p>
            <a:r>
              <a:rPr lang="en-US" sz="3600"/>
              <a:t>A bone dysplasia resulting from genetic mutation of fibroblast growth factor receptor 3 (FGFR3) gene </a:t>
            </a:r>
          </a:p>
          <a:p>
            <a:pPr lvl="1"/>
            <a:r>
              <a:rPr lang="en-US" sz="3200"/>
              <a:t>Spontaneous mutation in 80% of cases and then autosomal dominant when passed to offspring</a:t>
            </a:r>
          </a:p>
          <a:p>
            <a:pPr lvl="1"/>
            <a:r>
              <a:rPr lang="en-US" sz="3200" b="1"/>
              <a:t>Not pituitary in nature</a:t>
            </a:r>
          </a:p>
          <a:p>
            <a:r>
              <a:rPr lang="en-US" sz="3600"/>
              <a:t>Characteristic features: short arms and legs, an enlarged head, and an average-sized trunk.</a:t>
            </a:r>
          </a:p>
        </p:txBody>
      </p:sp>
    </p:spTree>
    <p:extLst>
      <p:ext uri="{BB962C8B-B14F-4D97-AF65-F5344CB8AC3E}">
        <p14:creationId xmlns:p14="http://schemas.microsoft.com/office/powerpoint/2010/main" val="1204225670"/>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 name="Rectangle 6">
            <a:extLst>
              <a:ext uri="{FF2B5EF4-FFF2-40B4-BE49-F238E27FC236}">
                <a16:creationId xmlns:a16="http://schemas.microsoft.com/office/drawing/2014/main" id="{69E6EFEE-6516-482C-B143-F97F9BF89D0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3DF0D2C0-CD0C-470C-8851-D8B2CC417CB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2748766" y="3248002"/>
            <a:ext cx="5688917" cy="19138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2" name="Picture 1">
            <a:extLst>
              <a:ext uri="{FF2B5EF4-FFF2-40B4-BE49-F238E27FC236}">
                <a16:creationId xmlns:a16="http://schemas.microsoft.com/office/drawing/2014/main" id="{B34C7A6C-F130-429B-8397-2C4EFD379C9B}"/>
              </a:ext>
            </a:extLst>
          </p:cNvPr>
          <p:cNvPicPr>
            <a:picLocks noChangeAspect="1"/>
          </p:cNvPicPr>
          <p:nvPr/>
        </p:nvPicPr>
        <p:blipFill rotWithShape="1">
          <a:blip r:embed="rId3"/>
          <a:srcRect t="8351" r="1" b="14344"/>
          <a:stretch/>
        </p:blipFill>
        <p:spPr>
          <a:xfrm>
            <a:off x="583656" y="499236"/>
            <a:ext cx="11024687" cy="5688918"/>
          </a:xfrm>
          <a:prstGeom prst="rect">
            <a:avLst/>
          </a:prstGeom>
        </p:spPr>
      </p:pic>
    </p:spTree>
    <p:extLst>
      <p:ext uri="{BB962C8B-B14F-4D97-AF65-F5344CB8AC3E}">
        <p14:creationId xmlns:p14="http://schemas.microsoft.com/office/powerpoint/2010/main" val="462089392"/>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7" name="Rectangle 16">
            <a:extLst>
              <a:ext uri="{FF2B5EF4-FFF2-40B4-BE49-F238E27FC236}">
                <a16:creationId xmlns:a16="http://schemas.microsoft.com/office/drawing/2014/main" id="{D1D34770-47A8-402C-AF23-2B653F2D88C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39BA6AD-6707-4467-01B5-80A35DFC1C3C}"/>
              </a:ext>
            </a:extLst>
          </p:cNvPr>
          <p:cNvSpPr>
            <a:spLocks noGrp="1"/>
          </p:cNvSpPr>
          <p:nvPr>
            <p:ph type="title"/>
          </p:nvPr>
        </p:nvSpPr>
        <p:spPr>
          <a:xfrm>
            <a:off x="836680" y="324505"/>
            <a:ext cx="6002110" cy="1495425"/>
          </a:xfrm>
        </p:spPr>
        <p:txBody>
          <a:bodyPr>
            <a:normAutofit/>
          </a:bodyPr>
          <a:lstStyle/>
          <a:p>
            <a:r>
              <a:rPr lang="en-US" sz="4000" dirty="0"/>
              <a:t>Adrenocorticotropic Hormone (ACTH) Deficiency</a:t>
            </a:r>
          </a:p>
        </p:txBody>
      </p:sp>
      <p:sp>
        <p:nvSpPr>
          <p:cNvPr id="3" name="Content Placeholder 2">
            <a:extLst>
              <a:ext uri="{FF2B5EF4-FFF2-40B4-BE49-F238E27FC236}">
                <a16:creationId xmlns:a16="http://schemas.microsoft.com/office/drawing/2014/main" id="{666607D1-E404-3E05-2DF1-3EE940A1B5D9}"/>
              </a:ext>
            </a:extLst>
          </p:cNvPr>
          <p:cNvSpPr>
            <a:spLocks noGrp="1"/>
          </p:cNvSpPr>
          <p:nvPr>
            <p:ph idx="1"/>
          </p:nvPr>
        </p:nvSpPr>
        <p:spPr>
          <a:xfrm>
            <a:off x="346841" y="1819930"/>
            <a:ext cx="6758152" cy="3729034"/>
          </a:xfrm>
        </p:spPr>
        <p:txBody>
          <a:bodyPr>
            <a:noAutofit/>
          </a:bodyPr>
          <a:lstStyle/>
          <a:p>
            <a:r>
              <a:rPr lang="en-US" sz="3200" dirty="0"/>
              <a:t>Primarily stimulates the production and release of </a:t>
            </a:r>
            <a:r>
              <a:rPr lang="en-US" sz="3200" b="1" dirty="0"/>
              <a:t>cortisol</a:t>
            </a:r>
            <a:r>
              <a:rPr lang="en-US" sz="3200" dirty="0"/>
              <a:t>  and androgens (DHEA) by the adrenal cortex</a:t>
            </a:r>
          </a:p>
          <a:p>
            <a:pPr lvl="1"/>
            <a:r>
              <a:rPr lang="en-US" sz="3200" dirty="0"/>
              <a:t>To a lesser degree stimulates mineralocorticoid (Aldosterone)</a:t>
            </a:r>
          </a:p>
          <a:p>
            <a:r>
              <a:rPr lang="en-US" sz="3200" dirty="0"/>
              <a:t>Cortisol is the primary stress hormone involved in regulation of the body’s </a:t>
            </a:r>
            <a:r>
              <a:rPr lang="en-US" sz="3200" b="1" dirty="0"/>
              <a:t>stress response</a:t>
            </a:r>
            <a:r>
              <a:rPr lang="en-US" sz="3200" dirty="0"/>
              <a:t>, glucose regulation, metabolism and more </a:t>
            </a:r>
          </a:p>
        </p:txBody>
      </p:sp>
      <p:pic>
        <p:nvPicPr>
          <p:cNvPr id="4" name="Picture 3">
            <a:extLst>
              <a:ext uri="{FF2B5EF4-FFF2-40B4-BE49-F238E27FC236}">
                <a16:creationId xmlns:a16="http://schemas.microsoft.com/office/drawing/2014/main" id="{C35F6B3E-5492-6653-9AF3-9705CCACB460}"/>
              </a:ext>
            </a:extLst>
          </p:cNvPr>
          <p:cNvPicPr>
            <a:picLocks noChangeAspect="1"/>
          </p:cNvPicPr>
          <p:nvPr/>
        </p:nvPicPr>
        <p:blipFill>
          <a:blip r:embed="rId3"/>
          <a:srcRect r="954"/>
          <a:stretch>
            <a:fillRect/>
          </a:stretch>
        </p:blipFill>
        <p:spPr>
          <a:xfrm>
            <a:off x="7199440" y="10"/>
            <a:ext cx="4992560" cy="6857990"/>
          </a:xfrm>
          <a:prstGeom prst="rect">
            <a:avLst/>
          </a:prstGeom>
          <a:effectLst/>
        </p:spPr>
      </p:pic>
    </p:spTree>
    <p:extLst>
      <p:ext uri="{BB962C8B-B14F-4D97-AF65-F5344CB8AC3E}">
        <p14:creationId xmlns:p14="http://schemas.microsoft.com/office/powerpoint/2010/main" val="1789321966"/>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DAF1966E-FD40-4A4A-B61B-C4DF7FA05F0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0" name="Rectangle 9">
            <a:extLst>
              <a:ext uri="{FF2B5EF4-FFF2-40B4-BE49-F238E27FC236}">
                <a16:creationId xmlns:a16="http://schemas.microsoft.com/office/drawing/2014/main" id="{047BFA19-D45E-416B-A404-7AF2F3F270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58209" y="0"/>
            <a:ext cx="11167447" cy="2018806"/>
          </a:xfrm>
          <a:prstGeom prst="rect">
            <a:avLst/>
          </a:prstGeom>
          <a:ln w="9525">
            <a:solidFill>
              <a:srgbClr val="E1E1E1"/>
            </a:solidFill>
          </a:ln>
          <a:effectLst>
            <a:outerShdw blurRad="50800" dist="38100" dir="2700000" algn="t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2" name="Rectangle 11">
            <a:extLst>
              <a:ext uri="{FF2B5EF4-FFF2-40B4-BE49-F238E27FC236}">
                <a16:creationId xmlns:a16="http://schemas.microsoft.com/office/drawing/2014/main" id="{8E0105E7-23DB-4CF2-8258-FF47C7620F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6928" y="0"/>
            <a:ext cx="11155680" cy="2011680"/>
          </a:xfrm>
          <a:prstGeom prst="rect">
            <a:avLst/>
          </a:pr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423A4523-4D02-48B1-823A-065CF80763F6}"/>
              </a:ext>
            </a:extLst>
          </p:cNvPr>
          <p:cNvSpPr>
            <a:spLocks noGrp="1"/>
          </p:cNvSpPr>
          <p:nvPr>
            <p:ph type="title"/>
          </p:nvPr>
        </p:nvSpPr>
        <p:spPr>
          <a:xfrm>
            <a:off x="1115568" y="548640"/>
            <a:ext cx="10168128" cy="1179576"/>
          </a:xfrm>
        </p:spPr>
        <p:txBody>
          <a:bodyPr>
            <a:normAutofit/>
          </a:bodyPr>
          <a:lstStyle/>
          <a:p>
            <a:r>
              <a:rPr lang="en-US" sz="4800"/>
              <a:t>Hypopituitarism: ACTH Deficiency </a:t>
            </a:r>
          </a:p>
        </p:txBody>
      </p:sp>
      <p:sp>
        <p:nvSpPr>
          <p:cNvPr id="14" name="Rectangle 13">
            <a:extLst>
              <a:ext uri="{FF2B5EF4-FFF2-40B4-BE49-F238E27FC236}">
                <a16:creationId xmlns:a16="http://schemas.microsoft.com/office/drawing/2014/main" id="{074B4F7D-14B2-478B-8BF5-01E4E0C5D26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8834" y="758952"/>
            <a:ext cx="128016"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3" name="Content Placeholder 2">
            <a:extLst>
              <a:ext uri="{FF2B5EF4-FFF2-40B4-BE49-F238E27FC236}">
                <a16:creationId xmlns:a16="http://schemas.microsoft.com/office/drawing/2014/main" id="{11451A18-616B-452C-BDBE-56C60D14D748}"/>
              </a:ext>
            </a:extLst>
          </p:cNvPr>
          <p:cNvSpPr>
            <a:spLocks noGrp="1"/>
          </p:cNvSpPr>
          <p:nvPr>
            <p:ph idx="1"/>
          </p:nvPr>
        </p:nvSpPr>
        <p:spPr>
          <a:xfrm>
            <a:off x="626850" y="2221992"/>
            <a:ext cx="11410668" cy="5440696"/>
          </a:xfrm>
        </p:spPr>
        <p:txBody>
          <a:bodyPr>
            <a:normAutofit/>
          </a:bodyPr>
          <a:lstStyle/>
          <a:p>
            <a:r>
              <a:rPr lang="en-US" sz="3600" dirty="0"/>
              <a:t>Low cortisol production due to destruction or compression of the pituitary gland can lead to </a:t>
            </a:r>
            <a:r>
              <a:rPr lang="en-US" sz="3600" b="1" dirty="0"/>
              <a:t>secondary adrenal insufficiency</a:t>
            </a:r>
          </a:p>
          <a:p>
            <a:pPr lvl="1"/>
            <a:r>
              <a:rPr lang="en-US" sz="3200" dirty="0"/>
              <a:t>Pathogenesis: Damage of the pituitary gland leads to functional atrophy of the adrenal cortex within 2 weeks, resulting in diminished cortisol production </a:t>
            </a:r>
          </a:p>
          <a:p>
            <a:r>
              <a:rPr lang="en-US" sz="3600" dirty="0"/>
              <a:t>ACTH deficiency may occur in isolation or in conjunction with other anterior pituitary hormone deficiencies </a:t>
            </a:r>
          </a:p>
          <a:p>
            <a:endParaRPr lang="en-US" sz="3600" dirty="0"/>
          </a:p>
        </p:txBody>
      </p:sp>
    </p:spTree>
    <p:extLst>
      <p:ext uri="{BB962C8B-B14F-4D97-AF65-F5344CB8AC3E}">
        <p14:creationId xmlns:p14="http://schemas.microsoft.com/office/powerpoint/2010/main" val="984640202"/>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DAF1966E-FD40-4A4A-B61B-C4DF7FA05F0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0" name="Rectangle 9">
            <a:extLst>
              <a:ext uri="{FF2B5EF4-FFF2-40B4-BE49-F238E27FC236}">
                <a16:creationId xmlns:a16="http://schemas.microsoft.com/office/drawing/2014/main" id="{047BFA19-D45E-416B-A404-7AF2F3F270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58209" y="0"/>
            <a:ext cx="11167447" cy="2018806"/>
          </a:xfrm>
          <a:prstGeom prst="rect">
            <a:avLst/>
          </a:prstGeom>
          <a:ln w="9525">
            <a:solidFill>
              <a:srgbClr val="E1E1E1"/>
            </a:solidFill>
          </a:ln>
          <a:effectLst>
            <a:outerShdw blurRad="50800" dist="38100" dir="2700000" algn="t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2" name="Rectangle 11">
            <a:extLst>
              <a:ext uri="{FF2B5EF4-FFF2-40B4-BE49-F238E27FC236}">
                <a16:creationId xmlns:a16="http://schemas.microsoft.com/office/drawing/2014/main" id="{8E0105E7-23DB-4CF2-8258-FF47C7620F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6928" y="0"/>
            <a:ext cx="11155680" cy="2011680"/>
          </a:xfrm>
          <a:prstGeom prst="rect">
            <a:avLst/>
          </a:pr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AEDB92E8-53EA-64E9-1F77-A0FED49D8407}"/>
              </a:ext>
            </a:extLst>
          </p:cNvPr>
          <p:cNvSpPr>
            <a:spLocks noGrp="1"/>
          </p:cNvSpPr>
          <p:nvPr>
            <p:ph type="title"/>
          </p:nvPr>
        </p:nvSpPr>
        <p:spPr>
          <a:xfrm>
            <a:off x="1011936" y="-125377"/>
            <a:ext cx="10168128" cy="1179576"/>
          </a:xfrm>
        </p:spPr>
        <p:txBody>
          <a:bodyPr>
            <a:normAutofit/>
          </a:bodyPr>
          <a:lstStyle/>
          <a:p>
            <a:r>
              <a:rPr lang="en-US" sz="4800" dirty="0"/>
              <a:t>Causes of ACTH Deficiency </a:t>
            </a:r>
          </a:p>
        </p:txBody>
      </p:sp>
      <p:sp>
        <p:nvSpPr>
          <p:cNvPr id="14" name="Rectangle 13">
            <a:extLst>
              <a:ext uri="{FF2B5EF4-FFF2-40B4-BE49-F238E27FC236}">
                <a16:creationId xmlns:a16="http://schemas.microsoft.com/office/drawing/2014/main" id="{074B4F7D-14B2-478B-8BF5-01E4E0C5D26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8834" y="758952"/>
            <a:ext cx="128016"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3" name="Content Placeholder 2">
            <a:extLst>
              <a:ext uri="{FF2B5EF4-FFF2-40B4-BE49-F238E27FC236}">
                <a16:creationId xmlns:a16="http://schemas.microsoft.com/office/drawing/2014/main" id="{BE140B41-AB39-2AD4-2E16-77217B79FAB5}"/>
              </a:ext>
            </a:extLst>
          </p:cNvPr>
          <p:cNvSpPr>
            <a:spLocks noGrp="1"/>
          </p:cNvSpPr>
          <p:nvPr>
            <p:ph idx="1"/>
          </p:nvPr>
        </p:nvSpPr>
        <p:spPr>
          <a:xfrm>
            <a:off x="566928" y="1061325"/>
            <a:ext cx="11164399" cy="5840373"/>
          </a:xfrm>
        </p:spPr>
        <p:txBody>
          <a:bodyPr>
            <a:normAutofit lnSpcReduction="10000"/>
          </a:bodyPr>
          <a:lstStyle/>
          <a:p>
            <a:r>
              <a:rPr lang="en-US" sz="3200" b="1" dirty="0"/>
              <a:t>MC- withdrawal of chronic glucocorticoid treatment </a:t>
            </a:r>
            <a:r>
              <a:rPr lang="en-US" sz="3200" dirty="0"/>
              <a:t>(typically ≥5mg prednisone daily for greater than 2wk</a:t>
            </a:r>
          </a:p>
          <a:p>
            <a:r>
              <a:rPr lang="en-US" sz="3200" b="1" dirty="0"/>
              <a:t>Hypopituitarism etiology- </a:t>
            </a:r>
            <a:r>
              <a:rPr lang="en-US" sz="3200" dirty="0"/>
              <a:t>(slide 26-27)</a:t>
            </a:r>
          </a:p>
          <a:p>
            <a:r>
              <a:rPr lang="en-US" sz="3200" b="1" dirty="0"/>
              <a:t>Isolated ACTH deficiency: Rare</a:t>
            </a:r>
          </a:p>
          <a:p>
            <a:pPr lvl="1"/>
            <a:r>
              <a:rPr lang="en-US" sz="2800" dirty="0"/>
              <a:t>Autoimmune disease (most common) </a:t>
            </a:r>
          </a:p>
          <a:p>
            <a:pPr lvl="1"/>
            <a:r>
              <a:rPr lang="en-US" sz="2800" dirty="0"/>
              <a:t>Genetic mutations (rare) </a:t>
            </a:r>
          </a:p>
          <a:p>
            <a:r>
              <a:rPr lang="en-US" sz="3200" dirty="0"/>
              <a:t>Drugs – </a:t>
            </a:r>
          </a:p>
          <a:p>
            <a:pPr lvl="1"/>
            <a:r>
              <a:rPr lang="en-US" sz="2800" dirty="0"/>
              <a:t>High dose progestins (Megestrol acetate) used in metastatic breast cancer treatment and appetite stimulant in patients with cancer anorexia. This drug binds to glucocorticoid receptors and exerts some activity however with withdrawal can cause secondary adrenal insufficiency. </a:t>
            </a:r>
          </a:p>
          <a:p>
            <a:pPr lvl="1"/>
            <a:r>
              <a:rPr lang="en-US" sz="2800" dirty="0"/>
              <a:t>Chronic opiate use- interferes with cortisol secretion </a:t>
            </a:r>
          </a:p>
        </p:txBody>
      </p:sp>
    </p:spTree>
    <p:extLst>
      <p:ext uri="{BB962C8B-B14F-4D97-AF65-F5344CB8AC3E}">
        <p14:creationId xmlns:p14="http://schemas.microsoft.com/office/powerpoint/2010/main" val="870002074"/>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DAF1966E-FD40-4A4A-B61B-C4DF7FA05F0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0" name="Rectangle 9">
            <a:extLst>
              <a:ext uri="{FF2B5EF4-FFF2-40B4-BE49-F238E27FC236}">
                <a16:creationId xmlns:a16="http://schemas.microsoft.com/office/drawing/2014/main" id="{047BFA19-D45E-416B-A404-7AF2F3F270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58209" y="0"/>
            <a:ext cx="11167447" cy="2018806"/>
          </a:xfrm>
          <a:prstGeom prst="rect">
            <a:avLst/>
          </a:prstGeom>
          <a:ln w="9525">
            <a:solidFill>
              <a:srgbClr val="E1E1E1"/>
            </a:solidFill>
          </a:ln>
          <a:effectLst>
            <a:outerShdw blurRad="50800" dist="38100" dir="2700000" algn="t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2" name="Rectangle 11">
            <a:extLst>
              <a:ext uri="{FF2B5EF4-FFF2-40B4-BE49-F238E27FC236}">
                <a16:creationId xmlns:a16="http://schemas.microsoft.com/office/drawing/2014/main" id="{8E0105E7-23DB-4CF2-8258-FF47C7620F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6928" y="0"/>
            <a:ext cx="11155680" cy="2011680"/>
          </a:xfrm>
          <a:prstGeom prst="rect">
            <a:avLst/>
          </a:pr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423A4523-4D02-48B1-823A-065CF80763F6}"/>
              </a:ext>
            </a:extLst>
          </p:cNvPr>
          <p:cNvSpPr>
            <a:spLocks noGrp="1"/>
          </p:cNvSpPr>
          <p:nvPr>
            <p:ph type="title"/>
          </p:nvPr>
        </p:nvSpPr>
        <p:spPr>
          <a:xfrm>
            <a:off x="779188" y="363976"/>
            <a:ext cx="10725487" cy="1494040"/>
          </a:xfrm>
        </p:spPr>
        <p:txBody>
          <a:bodyPr>
            <a:normAutofit/>
          </a:bodyPr>
          <a:lstStyle/>
          <a:p>
            <a:r>
              <a:rPr lang="en-US" sz="4800" dirty="0"/>
              <a:t>Secondary ACTH Deficiency: Symptoms  </a:t>
            </a:r>
          </a:p>
        </p:txBody>
      </p:sp>
      <p:sp>
        <p:nvSpPr>
          <p:cNvPr id="14" name="Rectangle 13">
            <a:extLst>
              <a:ext uri="{FF2B5EF4-FFF2-40B4-BE49-F238E27FC236}">
                <a16:creationId xmlns:a16="http://schemas.microsoft.com/office/drawing/2014/main" id="{074B4F7D-14B2-478B-8BF5-01E4E0C5D26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8834" y="758952"/>
            <a:ext cx="128016"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3" name="Content Placeholder 2">
            <a:extLst>
              <a:ext uri="{FF2B5EF4-FFF2-40B4-BE49-F238E27FC236}">
                <a16:creationId xmlns:a16="http://schemas.microsoft.com/office/drawing/2014/main" id="{11451A18-616B-452C-BDBE-56C60D14D748}"/>
              </a:ext>
            </a:extLst>
          </p:cNvPr>
          <p:cNvSpPr>
            <a:spLocks noGrp="1"/>
          </p:cNvSpPr>
          <p:nvPr>
            <p:ph idx="1"/>
          </p:nvPr>
        </p:nvSpPr>
        <p:spPr>
          <a:xfrm>
            <a:off x="626850" y="2327918"/>
            <a:ext cx="11167447" cy="4894058"/>
          </a:xfrm>
        </p:spPr>
        <p:txBody>
          <a:bodyPr>
            <a:normAutofit/>
          </a:bodyPr>
          <a:lstStyle/>
          <a:p>
            <a:r>
              <a:rPr lang="en-US" sz="3200" dirty="0"/>
              <a:t>Patients tend to have symptoms of </a:t>
            </a:r>
            <a:r>
              <a:rPr lang="en-US" sz="3200" b="1" dirty="0"/>
              <a:t>chronic adrenal insufficiency </a:t>
            </a:r>
            <a:r>
              <a:rPr lang="en-US" sz="3200" dirty="0"/>
              <a:t>or signs of deficient secretion of </a:t>
            </a:r>
            <a:r>
              <a:rPr lang="en-US" sz="3200" b="1" dirty="0"/>
              <a:t>other anterior pituitary hormones </a:t>
            </a:r>
          </a:p>
          <a:p>
            <a:r>
              <a:rPr lang="en-US" sz="3200" dirty="0"/>
              <a:t>However, adrenal crisis </a:t>
            </a:r>
            <a:r>
              <a:rPr lang="en-US" sz="3200" i="1" dirty="0"/>
              <a:t>can</a:t>
            </a:r>
            <a:r>
              <a:rPr lang="en-US" sz="3200" dirty="0"/>
              <a:t> occur when the loss of pituitary function is sudden and severe, as in pituitary apoplexy </a:t>
            </a:r>
          </a:p>
          <a:p>
            <a:pPr lvl="1"/>
            <a:r>
              <a:rPr lang="en-US" sz="2800" dirty="0"/>
              <a:t>The symptoms in these patients are due mainly to acute cortisol deficiency and present as shock</a:t>
            </a:r>
          </a:p>
          <a:p>
            <a:pPr lvl="1"/>
            <a:r>
              <a:rPr lang="en-US" sz="2800" dirty="0"/>
              <a:t>Pt may c/o severe headache and visual change (loss or reduced visual fields) </a:t>
            </a:r>
          </a:p>
        </p:txBody>
      </p:sp>
    </p:spTree>
    <p:extLst>
      <p:ext uri="{BB962C8B-B14F-4D97-AF65-F5344CB8AC3E}">
        <p14:creationId xmlns:p14="http://schemas.microsoft.com/office/powerpoint/2010/main" val="3698772389"/>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DAF1966E-FD40-4A4A-B61B-C4DF7FA05F0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0" name="Rectangle 9">
            <a:extLst>
              <a:ext uri="{FF2B5EF4-FFF2-40B4-BE49-F238E27FC236}">
                <a16:creationId xmlns:a16="http://schemas.microsoft.com/office/drawing/2014/main" id="{047BFA19-D45E-416B-A404-7AF2F3F270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58209" y="0"/>
            <a:ext cx="11167447" cy="2018806"/>
          </a:xfrm>
          <a:prstGeom prst="rect">
            <a:avLst/>
          </a:prstGeom>
          <a:ln w="9525">
            <a:solidFill>
              <a:srgbClr val="E1E1E1"/>
            </a:solidFill>
          </a:ln>
          <a:effectLst>
            <a:outerShdw blurRad="50800" dist="38100" dir="2700000" algn="t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2" name="Rectangle 11">
            <a:extLst>
              <a:ext uri="{FF2B5EF4-FFF2-40B4-BE49-F238E27FC236}">
                <a16:creationId xmlns:a16="http://schemas.microsoft.com/office/drawing/2014/main" id="{8E0105E7-23DB-4CF2-8258-FF47C7620F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6928" y="0"/>
            <a:ext cx="11155680" cy="2011680"/>
          </a:xfrm>
          <a:prstGeom prst="rect">
            <a:avLst/>
          </a:pr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423A4523-4D02-48B1-823A-065CF80763F6}"/>
              </a:ext>
            </a:extLst>
          </p:cNvPr>
          <p:cNvSpPr>
            <a:spLocks noGrp="1"/>
          </p:cNvSpPr>
          <p:nvPr>
            <p:ph type="title"/>
          </p:nvPr>
        </p:nvSpPr>
        <p:spPr>
          <a:xfrm>
            <a:off x="868433" y="330522"/>
            <a:ext cx="10916598" cy="1560948"/>
          </a:xfrm>
        </p:spPr>
        <p:txBody>
          <a:bodyPr>
            <a:normAutofit/>
          </a:bodyPr>
          <a:lstStyle/>
          <a:p>
            <a:r>
              <a:rPr lang="en-US" sz="4800" dirty="0"/>
              <a:t>Secondary ACTH Deficiency: Symptoms  </a:t>
            </a:r>
          </a:p>
        </p:txBody>
      </p:sp>
      <p:sp>
        <p:nvSpPr>
          <p:cNvPr id="14" name="Rectangle 13">
            <a:extLst>
              <a:ext uri="{FF2B5EF4-FFF2-40B4-BE49-F238E27FC236}">
                <a16:creationId xmlns:a16="http://schemas.microsoft.com/office/drawing/2014/main" id="{074B4F7D-14B2-478B-8BF5-01E4E0C5D26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8834" y="758952"/>
            <a:ext cx="128016"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3" name="Content Placeholder 2">
            <a:extLst>
              <a:ext uri="{FF2B5EF4-FFF2-40B4-BE49-F238E27FC236}">
                <a16:creationId xmlns:a16="http://schemas.microsoft.com/office/drawing/2014/main" id="{11451A18-616B-452C-BDBE-56C60D14D748}"/>
              </a:ext>
            </a:extLst>
          </p:cNvPr>
          <p:cNvSpPr>
            <a:spLocks noGrp="1"/>
          </p:cNvSpPr>
          <p:nvPr>
            <p:ph idx="1"/>
          </p:nvPr>
        </p:nvSpPr>
        <p:spPr>
          <a:xfrm>
            <a:off x="558209" y="1891470"/>
            <a:ext cx="11192774" cy="4894058"/>
          </a:xfrm>
        </p:spPr>
        <p:txBody>
          <a:bodyPr>
            <a:normAutofit/>
          </a:bodyPr>
          <a:lstStyle/>
          <a:p>
            <a:r>
              <a:rPr lang="en-US" sz="3600" dirty="0"/>
              <a:t>Symptoms: </a:t>
            </a:r>
            <a:r>
              <a:rPr lang="en-US" sz="3600" b="1" dirty="0"/>
              <a:t>fatigue, weakness, anorexia, nausea, vomiting, weight loss, myalgias/arthralgias, occasional hypoglycemia</a:t>
            </a:r>
          </a:p>
          <a:p>
            <a:pPr lvl="1"/>
            <a:r>
              <a:rPr lang="en-US" sz="3200" dirty="0"/>
              <a:t>Others: amenorrhea, psychiatric symptoms</a:t>
            </a:r>
            <a:endParaRPr lang="en-US" sz="3600" dirty="0"/>
          </a:p>
          <a:p>
            <a:pPr lvl="1"/>
            <a:r>
              <a:rPr lang="en-US" sz="3200" dirty="0"/>
              <a:t>Mild symptoms may only be seen when under stress </a:t>
            </a:r>
            <a:endParaRPr lang="en-US" sz="3600" dirty="0"/>
          </a:p>
          <a:p>
            <a:r>
              <a:rPr lang="en-US" sz="3600" dirty="0"/>
              <a:t>In contrast to primary adrenal failure (Addison’s disease), secondary is </a:t>
            </a:r>
            <a:r>
              <a:rPr lang="en-US" sz="3600" b="1" i="1" dirty="0"/>
              <a:t>not</a:t>
            </a:r>
            <a:r>
              <a:rPr lang="en-US" sz="3600" dirty="0"/>
              <a:t> accompanied by hyperpigmentation or aldosterone deficiency</a:t>
            </a:r>
          </a:p>
          <a:p>
            <a:pPr lvl="1"/>
            <a:r>
              <a:rPr lang="en-US" sz="3200" dirty="0"/>
              <a:t>There is also less hypovolemia than in primary disease </a:t>
            </a:r>
          </a:p>
          <a:p>
            <a:pPr lvl="1"/>
            <a:endParaRPr lang="en-US" sz="2800" dirty="0"/>
          </a:p>
        </p:txBody>
      </p:sp>
    </p:spTree>
    <p:extLst>
      <p:ext uri="{BB962C8B-B14F-4D97-AF65-F5344CB8AC3E}">
        <p14:creationId xmlns:p14="http://schemas.microsoft.com/office/powerpoint/2010/main" val="2437804613"/>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DAF1966E-FD40-4A4A-B61B-C4DF7FA05F0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0" name="Rectangle 9">
            <a:extLst>
              <a:ext uri="{FF2B5EF4-FFF2-40B4-BE49-F238E27FC236}">
                <a16:creationId xmlns:a16="http://schemas.microsoft.com/office/drawing/2014/main" id="{047BFA19-D45E-416B-A404-7AF2F3F270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58209" y="0"/>
            <a:ext cx="11167447" cy="2018806"/>
          </a:xfrm>
          <a:prstGeom prst="rect">
            <a:avLst/>
          </a:prstGeom>
          <a:ln w="9525">
            <a:solidFill>
              <a:srgbClr val="E1E1E1"/>
            </a:solidFill>
          </a:ln>
          <a:effectLst>
            <a:outerShdw blurRad="50800" dist="38100" dir="2700000" algn="t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2" name="Rectangle 11">
            <a:extLst>
              <a:ext uri="{FF2B5EF4-FFF2-40B4-BE49-F238E27FC236}">
                <a16:creationId xmlns:a16="http://schemas.microsoft.com/office/drawing/2014/main" id="{8E0105E7-23DB-4CF2-8258-FF47C7620F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6928" y="0"/>
            <a:ext cx="11155680" cy="2011680"/>
          </a:xfrm>
          <a:prstGeom prst="rect">
            <a:avLst/>
          </a:pr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07ABBB26-0BAC-47EB-9EED-E3F514E36C19}"/>
              </a:ext>
            </a:extLst>
          </p:cNvPr>
          <p:cNvSpPr>
            <a:spLocks noGrp="1"/>
          </p:cNvSpPr>
          <p:nvPr>
            <p:ph type="title"/>
          </p:nvPr>
        </p:nvSpPr>
        <p:spPr>
          <a:xfrm>
            <a:off x="1125684" y="231034"/>
            <a:ext cx="10168128" cy="544436"/>
          </a:xfrm>
        </p:spPr>
        <p:txBody>
          <a:bodyPr>
            <a:normAutofit fontScale="90000"/>
          </a:bodyPr>
          <a:lstStyle/>
          <a:p>
            <a:r>
              <a:rPr lang="en-US" sz="4800" dirty="0"/>
              <a:t>ACTH Deficiency: Initial Evaluation </a:t>
            </a:r>
          </a:p>
        </p:txBody>
      </p:sp>
      <p:sp>
        <p:nvSpPr>
          <p:cNvPr id="14" name="Rectangle 13">
            <a:extLst>
              <a:ext uri="{FF2B5EF4-FFF2-40B4-BE49-F238E27FC236}">
                <a16:creationId xmlns:a16="http://schemas.microsoft.com/office/drawing/2014/main" id="{074B4F7D-14B2-478B-8BF5-01E4E0C5D26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8834" y="758952"/>
            <a:ext cx="128016"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3" name="Content Placeholder 2">
            <a:extLst>
              <a:ext uri="{FF2B5EF4-FFF2-40B4-BE49-F238E27FC236}">
                <a16:creationId xmlns:a16="http://schemas.microsoft.com/office/drawing/2014/main" id="{4F968469-B5CC-460A-A70F-32CE4E7F07AC}"/>
              </a:ext>
            </a:extLst>
          </p:cNvPr>
          <p:cNvSpPr>
            <a:spLocks noGrp="1"/>
          </p:cNvSpPr>
          <p:nvPr>
            <p:ph idx="1"/>
          </p:nvPr>
        </p:nvSpPr>
        <p:spPr>
          <a:xfrm>
            <a:off x="627548" y="1005840"/>
            <a:ext cx="11164399" cy="5482391"/>
          </a:xfrm>
        </p:spPr>
        <p:txBody>
          <a:bodyPr>
            <a:normAutofit fontScale="92500" lnSpcReduction="10000"/>
          </a:bodyPr>
          <a:lstStyle/>
          <a:p>
            <a:r>
              <a:rPr lang="en-US" sz="3000" dirty="0"/>
              <a:t>Serum cortisol level (8 am) and plasma ACTH level </a:t>
            </a:r>
          </a:p>
          <a:p>
            <a:pPr lvl="1"/>
            <a:r>
              <a:rPr lang="en-US" sz="3000" b="1" dirty="0"/>
              <a:t>A LOW ACTH level </a:t>
            </a:r>
            <a:r>
              <a:rPr lang="en-US" sz="3000" dirty="0"/>
              <a:t>+ </a:t>
            </a:r>
            <a:r>
              <a:rPr lang="en-US" sz="3000" b="1" dirty="0"/>
              <a:t>LOW cortisol level &lt;3mcg/dL </a:t>
            </a:r>
            <a:r>
              <a:rPr lang="en-US" sz="3000" dirty="0"/>
              <a:t>indicates secondary (or tertiary) adrenal insufficiency </a:t>
            </a:r>
          </a:p>
          <a:p>
            <a:pPr lvl="2"/>
            <a:r>
              <a:rPr lang="en-US" sz="3000" dirty="0"/>
              <a:t>Cortisol level between 3-18mcg/dL is inconclusive and requires ACTH stimulation test</a:t>
            </a:r>
          </a:p>
          <a:p>
            <a:pPr lvl="2"/>
            <a:r>
              <a:rPr lang="en-US" sz="3000" dirty="0"/>
              <a:t>Cortisol level &gt;18mcg/Dl excludes adrenal insufficiency</a:t>
            </a:r>
          </a:p>
          <a:p>
            <a:pPr marL="914400" lvl="2" indent="0">
              <a:buNone/>
            </a:pPr>
            <a:endParaRPr lang="en-US" sz="3000" dirty="0"/>
          </a:p>
          <a:p>
            <a:r>
              <a:rPr lang="en-US" sz="3000" b="1" dirty="0"/>
              <a:t>ACTH Stimulation test:</a:t>
            </a:r>
            <a:r>
              <a:rPr lang="en-US" sz="3000" dirty="0"/>
              <a:t> Administration of IM or IV cosyntropin 0.25mg(synthetic ACTH) followed by serum cortisol level measurement 45min after injection</a:t>
            </a:r>
          </a:p>
          <a:p>
            <a:pPr lvl="1"/>
            <a:r>
              <a:rPr lang="en-US" sz="3000" dirty="0"/>
              <a:t>Testing requires all corticosteroids be held for 18-24hr prior to lab draw. </a:t>
            </a:r>
          </a:p>
          <a:p>
            <a:pPr lvl="1"/>
            <a:r>
              <a:rPr lang="en-US" sz="3000" dirty="0"/>
              <a:t>Cortisol &lt;18mcg/dL indicates probable adrenal insufficiency</a:t>
            </a:r>
          </a:p>
          <a:p>
            <a:pPr lvl="1"/>
            <a:r>
              <a:rPr lang="en-US" sz="3000" dirty="0"/>
              <a:t>Atrophied adrenal cortex will cause a suboptimal rise of cortisol </a:t>
            </a:r>
          </a:p>
          <a:p>
            <a:pPr lvl="1"/>
            <a:endParaRPr lang="en-US" sz="3000" dirty="0"/>
          </a:p>
          <a:p>
            <a:pPr lvl="1"/>
            <a:endParaRPr lang="en-US" sz="3200" dirty="0"/>
          </a:p>
          <a:p>
            <a:endParaRPr lang="en-US" sz="3600" b="1" dirty="0"/>
          </a:p>
          <a:p>
            <a:endParaRPr lang="en-US" sz="3600" dirty="0"/>
          </a:p>
        </p:txBody>
      </p:sp>
    </p:spTree>
    <p:extLst>
      <p:ext uri="{BB962C8B-B14F-4D97-AF65-F5344CB8AC3E}">
        <p14:creationId xmlns:p14="http://schemas.microsoft.com/office/powerpoint/2010/main" val="4062101086"/>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DAF1966E-FD40-4A4A-B61B-C4DF7FA05F0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0" name="Rectangle 9">
            <a:extLst>
              <a:ext uri="{FF2B5EF4-FFF2-40B4-BE49-F238E27FC236}">
                <a16:creationId xmlns:a16="http://schemas.microsoft.com/office/drawing/2014/main" id="{047BFA19-D45E-416B-A404-7AF2F3F270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58209" y="0"/>
            <a:ext cx="11167447" cy="2018806"/>
          </a:xfrm>
          <a:prstGeom prst="rect">
            <a:avLst/>
          </a:prstGeom>
          <a:ln w="9525">
            <a:solidFill>
              <a:srgbClr val="E1E1E1"/>
            </a:solidFill>
          </a:ln>
          <a:effectLst>
            <a:outerShdw blurRad="50800" dist="38100" dir="2700000" algn="t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2" name="Rectangle 11">
            <a:extLst>
              <a:ext uri="{FF2B5EF4-FFF2-40B4-BE49-F238E27FC236}">
                <a16:creationId xmlns:a16="http://schemas.microsoft.com/office/drawing/2014/main" id="{8E0105E7-23DB-4CF2-8258-FF47C7620F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6928" y="0"/>
            <a:ext cx="11155680" cy="2011680"/>
          </a:xfrm>
          <a:prstGeom prst="rect">
            <a:avLst/>
          </a:pr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07ABBB26-0BAC-47EB-9EED-E3F514E36C19}"/>
              </a:ext>
            </a:extLst>
          </p:cNvPr>
          <p:cNvSpPr>
            <a:spLocks noGrp="1"/>
          </p:cNvSpPr>
          <p:nvPr>
            <p:ph type="title"/>
          </p:nvPr>
        </p:nvSpPr>
        <p:spPr>
          <a:xfrm>
            <a:off x="1115568" y="548640"/>
            <a:ext cx="10168128" cy="1179576"/>
          </a:xfrm>
        </p:spPr>
        <p:txBody>
          <a:bodyPr>
            <a:normAutofit/>
          </a:bodyPr>
          <a:lstStyle/>
          <a:p>
            <a:r>
              <a:rPr lang="en-US" sz="4800"/>
              <a:t>ACTH Deficiency: Additional Evaluation </a:t>
            </a:r>
          </a:p>
        </p:txBody>
      </p:sp>
      <p:sp>
        <p:nvSpPr>
          <p:cNvPr id="14" name="Rectangle 13">
            <a:extLst>
              <a:ext uri="{FF2B5EF4-FFF2-40B4-BE49-F238E27FC236}">
                <a16:creationId xmlns:a16="http://schemas.microsoft.com/office/drawing/2014/main" id="{074B4F7D-14B2-478B-8BF5-01E4E0C5D26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8834" y="758952"/>
            <a:ext cx="128016"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3" name="Content Placeholder 2">
            <a:extLst>
              <a:ext uri="{FF2B5EF4-FFF2-40B4-BE49-F238E27FC236}">
                <a16:creationId xmlns:a16="http://schemas.microsoft.com/office/drawing/2014/main" id="{4F968469-B5CC-460A-A70F-32CE4E7F07AC}"/>
              </a:ext>
            </a:extLst>
          </p:cNvPr>
          <p:cNvSpPr>
            <a:spLocks noGrp="1"/>
          </p:cNvSpPr>
          <p:nvPr>
            <p:ph idx="1"/>
          </p:nvPr>
        </p:nvSpPr>
        <p:spPr>
          <a:xfrm>
            <a:off x="566928" y="2342983"/>
            <a:ext cx="11394165" cy="4656749"/>
          </a:xfrm>
        </p:spPr>
        <p:txBody>
          <a:bodyPr>
            <a:normAutofit/>
          </a:bodyPr>
          <a:lstStyle/>
          <a:p>
            <a:r>
              <a:rPr lang="en-US" sz="3600" dirty="0"/>
              <a:t>Additional labs: </a:t>
            </a:r>
          </a:p>
          <a:p>
            <a:pPr lvl="1"/>
            <a:r>
              <a:rPr lang="en-US" sz="3200" b="1" dirty="0"/>
              <a:t>Hyponatremia </a:t>
            </a:r>
            <a:r>
              <a:rPr lang="en-US" sz="3200" dirty="0"/>
              <a:t>(70-80%) - can occur early in secondary adrenal insufficiency and may be the initial manifestation </a:t>
            </a:r>
          </a:p>
          <a:p>
            <a:pPr lvl="1"/>
            <a:r>
              <a:rPr lang="en-US" sz="3200" b="1" dirty="0"/>
              <a:t>Low DHEA </a:t>
            </a:r>
            <a:r>
              <a:rPr lang="en-US" sz="3200" dirty="0"/>
              <a:t>helps to confirm  </a:t>
            </a:r>
          </a:p>
          <a:p>
            <a:r>
              <a:rPr lang="en-US" sz="3600" dirty="0"/>
              <a:t>Assess for additional anterior pituitary hormone deficiencies </a:t>
            </a:r>
          </a:p>
          <a:p>
            <a:r>
              <a:rPr lang="en-US" sz="3600" dirty="0"/>
              <a:t>Consider MRI of the brain for pituitary tumors </a:t>
            </a:r>
            <a:endParaRPr lang="en-US" sz="3200" dirty="0"/>
          </a:p>
          <a:p>
            <a:endParaRPr lang="en-US" sz="3600" b="1" dirty="0"/>
          </a:p>
          <a:p>
            <a:endParaRPr lang="en-US" sz="3600" dirty="0"/>
          </a:p>
        </p:txBody>
      </p:sp>
    </p:spTree>
    <p:extLst>
      <p:ext uri="{BB962C8B-B14F-4D97-AF65-F5344CB8AC3E}">
        <p14:creationId xmlns:p14="http://schemas.microsoft.com/office/powerpoint/2010/main" val="1372608325"/>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DAF1966E-FD40-4A4A-B61B-C4DF7FA05F0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0" name="Rectangle 9">
            <a:extLst>
              <a:ext uri="{FF2B5EF4-FFF2-40B4-BE49-F238E27FC236}">
                <a16:creationId xmlns:a16="http://schemas.microsoft.com/office/drawing/2014/main" id="{047BFA19-D45E-416B-A404-7AF2F3F270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58209" y="0"/>
            <a:ext cx="11167447" cy="2018806"/>
          </a:xfrm>
          <a:prstGeom prst="rect">
            <a:avLst/>
          </a:prstGeom>
          <a:ln w="9525">
            <a:solidFill>
              <a:srgbClr val="E1E1E1"/>
            </a:solidFill>
          </a:ln>
          <a:effectLst>
            <a:outerShdw blurRad="50800" dist="38100" dir="2700000" algn="t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2" name="Rectangle 11">
            <a:extLst>
              <a:ext uri="{FF2B5EF4-FFF2-40B4-BE49-F238E27FC236}">
                <a16:creationId xmlns:a16="http://schemas.microsoft.com/office/drawing/2014/main" id="{8E0105E7-23DB-4CF2-8258-FF47C7620F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6928" y="0"/>
            <a:ext cx="11155680" cy="2011680"/>
          </a:xfrm>
          <a:prstGeom prst="rect">
            <a:avLst/>
          </a:pr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07ABBB26-0BAC-47EB-9EED-E3F514E36C19}"/>
              </a:ext>
            </a:extLst>
          </p:cNvPr>
          <p:cNvSpPr>
            <a:spLocks noGrp="1"/>
          </p:cNvSpPr>
          <p:nvPr>
            <p:ph type="title"/>
          </p:nvPr>
        </p:nvSpPr>
        <p:spPr>
          <a:xfrm>
            <a:off x="1115568" y="548640"/>
            <a:ext cx="10168128" cy="1179576"/>
          </a:xfrm>
        </p:spPr>
        <p:txBody>
          <a:bodyPr>
            <a:normAutofit/>
          </a:bodyPr>
          <a:lstStyle/>
          <a:p>
            <a:r>
              <a:rPr lang="en-US" sz="4800"/>
              <a:t>Treating ACTH Deficiency </a:t>
            </a:r>
          </a:p>
        </p:txBody>
      </p:sp>
      <p:sp>
        <p:nvSpPr>
          <p:cNvPr id="14" name="Rectangle 13">
            <a:extLst>
              <a:ext uri="{FF2B5EF4-FFF2-40B4-BE49-F238E27FC236}">
                <a16:creationId xmlns:a16="http://schemas.microsoft.com/office/drawing/2014/main" id="{074B4F7D-14B2-478B-8BF5-01E4E0C5D26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8834" y="758952"/>
            <a:ext cx="128016"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3" name="Content Placeholder 2">
            <a:extLst>
              <a:ext uri="{FF2B5EF4-FFF2-40B4-BE49-F238E27FC236}">
                <a16:creationId xmlns:a16="http://schemas.microsoft.com/office/drawing/2014/main" id="{4F968469-B5CC-460A-A70F-32CE4E7F07AC}"/>
              </a:ext>
            </a:extLst>
          </p:cNvPr>
          <p:cNvSpPr>
            <a:spLocks noGrp="1"/>
          </p:cNvSpPr>
          <p:nvPr>
            <p:ph idx="1"/>
          </p:nvPr>
        </p:nvSpPr>
        <p:spPr>
          <a:xfrm>
            <a:off x="558209" y="2011680"/>
            <a:ext cx="11376028" cy="4656749"/>
          </a:xfrm>
        </p:spPr>
        <p:txBody>
          <a:bodyPr>
            <a:normAutofit lnSpcReduction="10000"/>
          </a:bodyPr>
          <a:lstStyle/>
          <a:p>
            <a:r>
              <a:rPr lang="en-US" sz="3600" dirty="0"/>
              <a:t>Treatment involves corticoid replacement with </a:t>
            </a:r>
            <a:r>
              <a:rPr lang="en-US" sz="3600" b="1" dirty="0"/>
              <a:t>PO hydrocortisone or PO Prednisone </a:t>
            </a:r>
          </a:p>
          <a:p>
            <a:pPr lvl="1"/>
            <a:r>
              <a:rPr lang="en-US" sz="3200" dirty="0"/>
              <a:t>Hydrocortisone (short acting) is divided into 2-3 daily doses to mimic normal diurnal rhythm and not likely to exceed 20mg daily </a:t>
            </a:r>
          </a:p>
          <a:p>
            <a:pPr lvl="1"/>
            <a:r>
              <a:rPr lang="en-US" sz="3200" dirty="0"/>
              <a:t>Prednisone (long acting) 5mg daily</a:t>
            </a:r>
          </a:p>
          <a:p>
            <a:pPr lvl="1"/>
            <a:r>
              <a:rPr lang="en-US" sz="3200" dirty="0"/>
              <a:t>Doses </a:t>
            </a:r>
            <a:r>
              <a:rPr lang="en-US" sz="3200" u="sng" dirty="0"/>
              <a:t>must be increased</a:t>
            </a:r>
            <a:r>
              <a:rPr lang="en-US" sz="3200" dirty="0"/>
              <a:t> in times of acute illness or stress </a:t>
            </a:r>
          </a:p>
          <a:p>
            <a:r>
              <a:rPr lang="en-US" sz="3600" dirty="0"/>
              <a:t>Treat any additional hormone deficiencies</a:t>
            </a:r>
          </a:p>
          <a:p>
            <a:pPr lvl="1"/>
            <a:r>
              <a:rPr lang="en-US" sz="3200" dirty="0"/>
              <a:t>Replacement of thyroid hormone without replacement of glucocorticoids can precipitate acute adrenal insufficiency.</a:t>
            </a:r>
          </a:p>
        </p:txBody>
      </p:sp>
    </p:spTree>
    <p:extLst>
      <p:ext uri="{BB962C8B-B14F-4D97-AF65-F5344CB8AC3E}">
        <p14:creationId xmlns:p14="http://schemas.microsoft.com/office/powerpoint/2010/main" val="2840173465"/>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DAF1966E-FD40-4A4A-B61B-C4DF7FA05F0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0" name="Rectangle 9">
            <a:extLst>
              <a:ext uri="{FF2B5EF4-FFF2-40B4-BE49-F238E27FC236}">
                <a16:creationId xmlns:a16="http://schemas.microsoft.com/office/drawing/2014/main" id="{047BFA19-D45E-416B-A404-7AF2F3F270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58209" y="0"/>
            <a:ext cx="11167447" cy="2018806"/>
          </a:xfrm>
          <a:prstGeom prst="rect">
            <a:avLst/>
          </a:prstGeom>
          <a:ln w="9525">
            <a:solidFill>
              <a:srgbClr val="E1E1E1"/>
            </a:solidFill>
          </a:ln>
          <a:effectLst>
            <a:outerShdw blurRad="50800" dist="38100" dir="2700000" algn="t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2" name="Rectangle 11">
            <a:extLst>
              <a:ext uri="{FF2B5EF4-FFF2-40B4-BE49-F238E27FC236}">
                <a16:creationId xmlns:a16="http://schemas.microsoft.com/office/drawing/2014/main" id="{8E0105E7-23DB-4CF2-8258-FF47C7620F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6928" y="0"/>
            <a:ext cx="11155680" cy="2011680"/>
          </a:xfrm>
          <a:prstGeom prst="rect">
            <a:avLst/>
          </a:pr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F55DEA14-78B7-0D01-F2E4-87686D841638}"/>
              </a:ext>
            </a:extLst>
          </p:cNvPr>
          <p:cNvSpPr>
            <a:spLocks noGrp="1"/>
          </p:cNvSpPr>
          <p:nvPr>
            <p:ph type="title"/>
          </p:nvPr>
        </p:nvSpPr>
        <p:spPr>
          <a:xfrm>
            <a:off x="1011936" y="521208"/>
            <a:ext cx="10168128" cy="1179576"/>
          </a:xfrm>
        </p:spPr>
        <p:txBody>
          <a:bodyPr>
            <a:normAutofit/>
          </a:bodyPr>
          <a:lstStyle/>
          <a:p>
            <a:r>
              <a:rPr lang="en-US" sz="4800"/>
              <a:t>Patient Education </a:t>
            </a:r>
          </a:p>
        </p:txBody>
      </p:sp>
      <p:sp>
        <p:nvSpPr>
          <p:cNvPr id="14" name="Rectangle 13">
            <a:extLst>
              <a:ext uri="{FF2B5EF4-FFF2-40B4-BE49-F238E27FC236}">
                <a16:creationId xmlns:a16="http://schemas.microsoft.com/office/drawing/2014/main" id="{074B4F7D-14B2-478B-8BF5-01E4E0C5D26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8834" y="758952"/>
            <a:ext cx="128016"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3" name="Content Placeholder 2">
            <a:extLst>
              <a:ext uri="{FF2B5EF4-FFF2-40B4-BE49-F238E27FC236}">
                <a16:creationId xmlns:a16="http://schemas.microsoft.com/office/drawing/2014/main" id="{13E7F9B5-5384-0FBD-0DE0-6CC81D76BA37}"/>
              </a:ext>
            </a:extLst>
          </p:cNvPr>
          <p:cNvSpPr>
            <a:spLocks noGrp="1"/>
          </p:cNvSpPr>
          <p:nvPr>
            <p:ph idx="1"/>
          </p:nvPr>
        </p:nvSpPr>
        <p:spPr>
          <a:xfrm>
            <a:off x="566928" y="2313010"/>
            <a:ext cx="11155680" cy="5066198"/>
          </a:xfrm>
        </p:spPr>
        <p:txBody>
          <a:bodyPr>
            <a:normAutofit/>
          </a:bodyPr>
          <a:lstStyle/>
          <a:p>
            <a:r>
              <a:rPr lang="en-US" sz="3200"/>
              <a:t>Patients should wear </a:t>
            </a:r>
            <a:r>
              <a:rPr lang="en-US" sz="3200" b="1"/>
              <a:t>medical alert bracelets and/or carry identification cards</a:t>
            </a:r>
            <a:r>
              <a:rPr lang="en-US" sz="3200"/>
              <a:t> with information about their glucocorticoid requirements.</a:t>
            </a:r>
          </a:p>
        </p:txBody>
      </p:sp>
      <p:pic>
        <p:nvPicPr>
          <p:cNvPr id="4" name="Picture 3">
            <a:extLst>
              <a:ext uri="{FF2B5EF4-FFF2-40B4-BE49-F238E27FC236}">
                <a16:creationId xmlns:a16="http://schemas.microsoft.com/office/drawing/2014/main" id="{D23DC9F6-5D53-0AF6-C309-9BD217FA15E1}"/>
              </a:ext>
            </a:extLst>
          </p:cNvPr>
          <p:cNvPicPr>
            <a:picLocks noChangeAspect="1"/>
          </p:cNvPicPr>
          <p:nvPr/>
        </p:nvPicPr>
        <p:blipFill rotWithShape="1">
          <a:blip r:embed="rId3"/>
          <a:srcRect t="37037" b="40000"/>
          <a:stretch/>
        </p:blipFill>
        <p:spPr>
          <a:xfrm>
            <a:off x="5865540" y="491281"/>
            <a:ext cx="4886093" cy="1121982"/>
          </a:xfrm>
          <a:prstGeom prst="rect">
            <a:avLst/>
          </a:prstGeom>
        </p:spPr>
      </p:pic>
      <p:sp>
        <p:nvSpPr>
          <p:cNvPr id="5" name="TextBox 4">
            <a:extLst>
              <a:ext uri="{FF2B5EF4-FFF2-40B4-BE49-F238E27FC236}">
                <a16:creationId xmlns:a16="http://schemas.microsoft.com/office/drawing/2014/main" id="{9202381E-9DFC-B1E3-7A07-2303C9715249}"/>
              </a:ext>
            </a:extLst>
          </p:cNvPr>
          <p:cNvSpPr txBox="1"/>
          <p:nvPr/>
        </p:nvSpPr>
        <p:spPr>
          <a:xfrm>
            <a:off x="558209" y="3820758"/>
            <a:ext cx="9598818" cy="2594043"/>
          </a:xfrm>
          <a:prstGeom prst="rect">
            <a:avLst/>
          </a:prstGeom>
          <a:noFill/>
        </p:spPr>
        <p:txBody>
          <a:bodyPr wrap="square" rtlCol="0">
            <a:spAutoFit/>
          </a:body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US" sz="3200" b="1" i="0" u="none" strike="noStrike" kern="1200" cap="none" spc="0" normalizeH="0" baseline="0" noProof="0">
                <a:ln>
                  <a:noFill/>
                </a:ln>
                <a:solidFill>
                  <a:prstClr val="black"/>
                </a:solidFill>
                <a:effectLst/>
                <a:uLnTx/>
                <a:uFillTx/>
                <a:latin typeface="Calibri" panose="020F0502020204030204"/>
                <a:ea typeface="+mn-ea"/>
                <a:cs typeface="+mn-cs"/>
              </a:rPr>
              <a:t>Provide injectable glucocorticoid </a:t>
            </a:r>
            <a:r>
              <a:rPr kumimoji="0" lang="en-US" sz="3200" b="0" i="0" u="none" strike="noStrike" kern="1200" cap="none" spc="0" normalizeH="0" baseline="0" noProof="0">
                <a:ln>
                  <a:noFill/>
                </a:ln>
                <a:solidFill>
                  <a:prstClr val="black"/>
                </a:solidFill>
                <a:effectLst/>
                <a:uLnTx/>
                <a:uFillTx/>
                <a:latin typeface="Calibri" panose="020F0502020204030204"/>
                <a:ea typeface="+mn-ea"/>
                <a:cs typeface="+mn-cs"/>
              </a:rPr>
              <a:t>with vials of saline and educate patient and family about use</a:t>
            </a:r>
          </a:p>
          <a:p>
            <a:pPr marL="685800" marR="0" lvl="1" indent="-228600" algn="l" defTabSz="914400" rtl="0" eaLnBrk="1" fontAlgn="auto" latinLnBrk="0" hangingPunct="1">
              <a:lnSpc>
                <a:spcPct val="90000"/>
              </a:lnSpc>
              <a:spcBef>
                <a:spcPts val="500"/>
              </a:spcBef>
              <a:spcAft>
                <a:spcPts val="0"/>
              </a:spcAft>
              <a:buClrTx/>
              <a:buSzTx/>
              <a:buFont typeface="Arial" panose="020B0604020202020204" pitchFamily="34" charset="0"/>
              <a:buChar char="•"/>
              <a:tabLst/>
              <a:defRPr/>
            </a:pPr>
            <a:r>
              <a:rPr kumimoji="0" lang="en-US" sz="2800" b="1" i="0" u="none" strike="noStrike" kern="1200" cap="none" spc="0" normalizeH="0" baseline="0" noProof="0">
                <a:ln>
                  <a:noFill/>
                </a:ln>
                <a:solidFill>
                  <a:prstClr val="black"/>
                </a:solidFill>
                <a:effectLst/>
                <a:uLnTx/>
                <a:uFillTx/>
                <a:latin typeface="Calibri" panose="020F0502020204030204"/>
                <a:ea typeface="+mn-ea"/>
                <a:cs typeface="+mn-cs"/>
              </a:rPr>
              <a:t>Administer IM in the following scenarios</a:t>
            </a:r>
            <a:r>
              <a:rPr kumimoji="0" lang="en-US" sz="2800" b="0" i="0" u="none" strike="noStrike" kern="1200" cap="none" spc="0" normalizeH="0" baseline="0" noProof="0">
                <a:ln>
                  <a:noFill/>
                </a:ln>
                <a:solidFill>
                  <a:prstClr val="black"/>
                </a:solidFill>
                <a:effectLst/>
                <a:uLnTx/>
                <a:uFillTx/>
                <a:latin typeface="Calibri" panose="020F0502020204030204"/>
                <a:ea typeface="+mn-ea"/>
                <a:cs typeface="+mn-cs"/>
              </a:rPr>
              <a:t>: an injury with substantial blood loss or fracture, nausea and vomiting with inability to tolerate PO intake, symptoms of acute adrenal insufficiency, unresponsiveness </a:t>
            </a:r>
          </a:p>
        </p:txBody>
      </p:sp>
      <p:pic>
        <p:nvPicPr>
          <p:cNvPr id="6" name="Picture 5">
            <a:extLst>
              <a:ext uri="{FF2B5EF4-FFF2-40B4-BE49-F238E27FC236}">
                <a16:creationId xmlns:a16="http://schemas.microsoft.com/office/drawing/2014/main" id="{E13EA355-8E2F-6B0D-D7AE-8CA39416B0D6}"/>
              </a:ext>
            </a:extLst>
          </p:cNvPr>
          <p:cNvPicPr>
            <a:picLocks noChangeAspect="1"/>
          </p:cNvPicPr>
          <p:nvPr/>
        </p:nvPicPr>
        <p:blipFill rotWithShape="1">
          <a:blip r:embed="rId4"/>
          <a:srcRect l="29843" r="22190"/>
          <a:stretch/>
        </p:blipFill>
        <p:spPr>
          <a:xfrm>
            <a:off x="10462129" y="3621018"/>
            <a:ext cx="1435869" cy="2993521"/>
          </a:xfrm>
          <a:prstGeom prst="rect">
            <a:avLst/>
          </a:prstGeom>
        </p:spPr>
      </p:pic>
    </p:spTree>
    <p:extLst>
      <p:ext uri="{BB962C8B-B14F-4D97-AF65-F5344CB8AC3E}">
        <p14:creationId xmlns:p14="http://schemas.microsoft.com/office/powerpoint/2010/main" val="3083486890"/>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A7AC24B8-9B8E-E9C4-FD12-4FEB577BFFE3}"/>
              </a:ext>
            </a:extLst>
          </p:cNvPr>
          <p:cNvPicPr>
            <a:picLocks noChangeAspect="1"/>
          </p:cNvPicPr>
          <p:nvPr/>
        </p:nvPicPr>
        <p:blipFill rotWithShape="1">
          <a:blip r:embed="rId3"/>
          <a:srcRect t="4085"/>
          <a:stretch/>
        </p:blipFill>
        <p:spPr>
          <a:xfrm>
            <a:off x="395149" y="317810"/>
            <a:ext cx="6315139" cy="6021657"/>
          </a:xfrm>
          <a:prstGeom prst="rect">
            <a:avLst/>
          </a:prstGeom>
        </p:spPr>
      </p:pic>
      <p:pic>
        <p:nvPicPr>
          <p:cNvPr id="5" name="Picture 4">
            <a:extLst>
              <a:ext uri="{FF2B5EF4-FFF2-40B4-BE49-F238E27FC236}">
                <a16:creationId xmlns:a16="http://schemas.microsoft.com/office/drawing/2014/main" id="{869A0754-5003-C26E-53B1-1B700F930480}"/>
              </a:ext>
            </a:extLst>
          </p:cNvPr>
          <p:cNvPicPr>
            <a:picLocks noChangeAspect="1"/>
          </p:cNvPicPr>
          <p:nvPr/>
        </p:nvPicPr>
        <p:blipFill>
          <a:blip r:embed="rId4"/>
          <a:stretch>
            <a:fillRect/>
          </a:stretch>
        </p:blipFill>
        <p:spPr>
          <a:xfrm>
            <a:off x="6445934" y="0"/>
            <a:ext cx="5563930" cy="2483121"/>
          </a:xfrm>
          <a:prstGeom prst="rect">
            <a:avLst/>
          </a:prstGeom>
        </p:spPr>
      </p:pic>
      <p:pic>
        <p:nvPicPr>
          <p:cNvPr id="6" name="Picture 5">
            <a:extLst>
              <a:ext uri="{FF2B5EF4-FFF2-40B4-BE49-F238E27FC236}">
                <a16:creationId xmlns:a16="http://schemas.microsoft.com/office/drawing/2014/main" id="{21A7E5FF-73CB-FA7F-72CA-8B8A734F1A3E}"/>
              </a:ext>
            </a:extLst>
          </p:cNvPr>
          <p:cNvPicPr>
            <a:picLocks noChangeAspect="1"/>
          </p:cNvPicPr>
          <p:nvPr/>
        </p:nvPicPr>
        <p:blipFill rotWithShape="1">
          <a:blip r:embed="rId5"/>
          <a:srcRect t="5168"/>
          <a:stretch/>
        </p:blipFill>
        <p:spPr>
          <a:xfrm>
            <a:off x="6658946" y="2152185"/>
            <a:ext cx="5137905" cy="4705815"/>
          </a:xfrm>
          <a:prstGeom prst="rect">
            <a:avLst/>
          </a:prstGeom>
        </p:spPr>
      </p:pic>
    </p:spTree>
    <p:extLst>
      <p:ext uri="{BB962C8B-B14F-4D97-AF65-F5344CB8AC3E}">
        <p14:creationId xmlns:p14="http://schemas.microsoft.com/office/powerpoint/2010/main" val="2700270119"/>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DAF1966E-FD40-4A4A-B61B-C4DF7FA05F0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0" name="Rectangle 9">
            <a:extLst>
              <a:ext uri="{FF2B5EF4-FFF2-40B4-BE49-F238E27FC236}">
                <a16:creationId xmlns:a16="http://schemas.microsoft.com/office/drawing/2014/main" id="{047BFA19-D45E-416B-A404-7AF2F3F270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58209" y="0"/>
            <a:ext cx="11167447" cy="2018806"/>
          </a:xfrm>
          <a:prstGeom prst="rect">
            <a:avLst/>
          </a:prstGeom>
          <a:ln w="9525">
            <a:solidFill>
              <a:srgbClr val="E1E1E1"/>
            </a:solidFill>
          </a:ln>
          <a:effectLst>
            <a:outerShdw blurRad="50800" dist="38100" dir="2700000" algn="t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2" name="Rectangle 11">
            <a:extLst>
              <a:ext uri="{FF2B5EF4-FFF2-40B4-BE49-F238E27FC236}">
                <a16:creationId xmlns:a16="http://schemas.microsoft.com/office/drawing/2014/main" id="{8E0105E7-23DB-4CF2-8258-FF47C7620F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6928" y="0"/>
            <a:ext cx="11155680" cy="2011680"/>
          </a:xfrm>
          <a:prstGeom prst="rect">
            <a:avLst/>
          </a:pr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2F398117-6DA3-5394-120A-447445755B2A}"/>
              </a:ext>
            </a:extLst>
          </p:cNvPr>
          <p:cNvSpPr>
            <a:spLocks noGrp="1"/>
          </p:cNvSpPr>
          <p:nvPr>
            <p:ph type="title"/>
          </p:nvPr>
        </p:nvSpPr>
        <p:spPr>
          <a:xfrm>
            <a:off x="1115568" y="548640"/>
            <a:ext cx="10168128" cy="1179576"/>
          </a:xfrm>
        </p:spPr>
        <p:txBody>
          <a:bodyPr>
            <a:normAutofit/>
          </a:bodyPr>
          <a:lstStyle/>
          <a:p>
            <a:r>
              <a:rPr lang="en-US" sz="4800"/>
              <a:t>Patient Education </a:t>
            </a:r>
          </a:p>
        </p:txBody>
      </p:sp>
      <p:sp>
        <p:nvSpPr>
          <p:cNvPr id="14" name="Rectangle 13">
            <a:extLst>
              <a:ext uri="{FF2B5EF4-FFF2-40B4-BE49-F238E27FC236}">
                <a16:creationId xmlns:a16="http://schemas.microsoft.com/office/drawing/2014/main" id="{074B4F7D-14B2-478B-8BF5-01E4E0C5D26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8834" y="758952"/>
            <a:ext cx="128016"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3" name="Content Placeholder 2">
            <a:extLst>
              <a:ext uri="{FF2B5EF4-FFF2-40B4-BE49-F238E27FC236}">
                <a16:creationId xmlns:a16="http://schemas.microsoft.com/office/drawing/2014/main" id="{13123AB3-9929-54A2-019D-FC5AD0D37302}"/>
              </a:ext>
            </a:extLst>
          </p:cNvPr>
          <p:cNvSpPr>
            <a:spLocks noGrp="1"/>
          </p:cNvSpPr>
          <p:nvPr>
            <p:ph idx="1"/>
          </p:nvPr>
        </p:nvSpPr>
        <p:spPr>
          <a:xfrm>
            <a:off x="566928" y="2279755"/>
            <a:ext cx="11164399" cy="4747520"/>
          </a:xfrm>
        </p:spPr>
        <p:txBody>
          <a:bodyPr>
            <a:normAutofit/>
          </a:bodyPr>
          <a:lstStyle/>
          <a:p>
            <a:r>
              <a:rPr lang="en-US" sz="3200" b="1"/>
              <a:t>3x3 rule</a:t>
            </a:r>
            <a:r>
              <a:rPr lang="en-US" sz="3200"/>
              <a:t>: During minor illnesses (ex: URIs), increase the dose of glucocorticoid to 2-3x the usual daily dose for three days</a:t>
            </a:r>
          </a:p>
          <a:p>
            <a:r>
              <a:rPr lang="en-US" sz="3200"/>
              <a:t>Patients are more likely to have complications as a result of fasting during Ramadan.</a:t>
            </a:r>
          </a:p>
          <a:p>
            <a:pPr lvl="1"/>
            <a:r>
              <a:rPr lang="en-US" sz="2800"/>
              <a:t>Implement sick day rules, optimize steroid dosing, and consider alternative fasting (nonconsecutive or trial fasting) if high risk </a:t>
            </a:r>
          </a:p>
          <a:p>
            <a:pPr lvl="1"/>
            <a:r>
              <a:rPr lang="en-US" sz="2800"/>
              <a:t>Pregnant or breastfeeding patients should avoid fasting </a:t>
            </a:r>
          </a:p>
          <a:p>
            <a:pPr lvl="1"/>
            <a:r>
              <a:rPr lang="en-US" sz="2800"/>
              <a:t>Secondary adrenal insufficiency carries lower risk than primary</a:t>
            </a:r>
          </a:p>
          <a:p>
            <a:pPr lvl="1"/>
            <a:endParaRPr lang="en-US" sz="2800"/>
          </a:p>
        </p:txBody>
      </p:sp>
    </p:spTree>
    <p:extLst>
      <p:ext uri="{BB962C8B-B14F-4D97-AF65-F5344CB8AC3E}">
        <p14:creationId xmlns:p14="http://schemas.microsoft.com/office/powerpoint/2010/main" val="3552549377"/>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CBB2B1F0-0DD6-4744-9A46-7A344FB48E4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39F31F4-BFDA-F43C-C7FA-1E5C1832DDF7}"/>
              </a:ext>
            </a:extLst>
          </p:cNvPr>
          <p:cNvSpPr>
            <a:spLocks noGrp="1"/>
          </p:cNvSpPr>
          <p:nvPr>
            <p:ph type="title"/>
          </p:nvPr>
        </p:nvSpPr>
        <p:spPr>
          <a:xfrm>
            <a:off x="865953" y="-86819"/>
            <a:ext cx="10506456" cy="1867268"/>
          </a:xfrm>
        </p:spPr>
        <p:txBody>
          <a:bodyPr anchor="b">
            <a:normAutofit/>
          </a:bodyPr>
          <a:lstStyle/>
          <a:p>
            <a:r>
              <a:rPr lang="en-US" dirty="0"/>
              <a:t>Gonadotropin Deficiency</a:t>
            </a:r>
            <a:br>
              <a:rPr lang="en-US" dirty="0"/>
            </a:br>
            <a:r>
              <a:rPr lang="en-US" dirty="0"/>
              <a:t>AKA: Hypogonadotropic Hypogonadism </a:t>
            </a:r>
          </a:p>
        </p:txBody>
      </p:sp>
      <p:sp>
        <p:nvSpPr>
          <p:cNvPr id="10" name="Rectangle 9">
            <a:extLst>
              <a:ext uri="{FF2B5EF4-FFF2-40B4-BE49-F238E27FC236}">
                <a16:creationId xmlns:a16="http://schemas.microsoft.com/office/drawing/2014/main" id="{52D502E5-F6B4-4D58-B4AE-FC466FF15E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65953" y="2899927"/>
            <a:ext cx="10451592"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12" name="Rectangle 11">
            <a:extLst>
              <a:ext uri="{FF2B5EF4-FFF2-40B4-BE49-F238E27FC236}">
                <a16:creationId xmlns:a16="http://schemas.microsoft.com/office/drawing/2014/main" id="{9DECDBF4-02B6-4BB4-B65B-B8107AD6A9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841248" y="2776031"/>
            <a:ext cx="1873457" cy="13716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3" name="Content Placeholder 2">
            <a:extLst>
              <a:ext uri="{FF2B5EF4-FFF2-40B4-BE49-F238E27FC236}">
                <a16:creationId xmlns:a16="http://schemas.microsoft.com/office/drawing/2014/main" id="{1DF86786-5AC4-8F3F-E768-CB34C3A284C8}"/>
              </a:ext>
            </a:extLst>
          </p:cNvPr>
          <p:cNvSpPr>
            <a:spLocks noGrp="1"/>
          </p:cNvSpPr>
          <p:nvPr>
            <p:ph idx="1"/>
          </p:nvPr>
        </p:nvSpPr>
        <p:spPr>
          <a:xfrm>
            <a:off x="841248" y="3235715"/>
            <a:ext cx="10945591" cy="3068872"/>
          </a:xfrm>
        </p:spPr>
        <p:txBody>
          <a:bodyPr>
            <a:normAutofit fontScale="92500" lnSpcReduction="10000"/>
          </a:bodyPr>
          <a:lstStyle/>
          <a:p>
            <a:r>
              <a:rPr lang="en-US" sz="3600" dirty="0"/>
              <a:t>Hormones of the anterior pituitary, follicle stimulating hormone (FSH) and luteinizing hormone (LH) that regulate ovarian and testicular function </a:t>
            </a:r>
          </a:p>
          <a:p>
            <a:pPr lvl="1"/>
            <a:r>
              <a:rPr lang="en-US" sz="3200" dirty="0"/>
              <a:t>FSH- regulate ovarian estrogen production and ovarian follicle development in women. Spermatogenesis in men</a:t>
            </a:r>
          </a:p>
          <a:p>
            <a:pPr lvl="1"/>
            <a:r>
              <a:rPr lang="en-US" sz="3200" dirty="0"/>
              <a:t>LH- regulate ovulation and maintenance of corpus luteum in women and testosterone function of men</a:t>
            </a:r>
          </a:p>
        </p:txBody>
      </p:sp>
    </p:spTree>
    <p:extLst>
      <p:ext uri="{BB962C8B-B14F-4D97-AF65-F5344CB8AC3E}">
        <p14:creationId xmlns:p14="http://schemas.microsoft.com/office/powerpoint/2010/main" val="896051803"/>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DAF1966E-FD40-4A4A-B61B-C4DF7FA05F0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0" name="Rectangle 9">
            <a:extLst>
              <a:ext uri="{FF2B5EF4-FFF2-40B4-BE49-F238E27FC236}">
                <a16:creationId xmlns:a16="http://schemas.microsoft.com/office/drawing/2014/main" id="{047BFA19-D45E-416B-A404-7AF2F3F270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58209" y="0"/>
            <a:ext cx="11167447" cy="2018806"/>
          </a:xfrm>
          <a:prstGeom prst="rect">
            <a:avLst/>
          </a:prstGeom>
          <a:ln w="9525">
            <a:solidFill>
              <a:srgbClr val="E1E1E1"/>
            </a:solidFill>
          </a:ln>
          <a:effectLst>
            <a:outerShdw blurRad="50800" dist="38100" dir="2700000" algn="t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2" name="Rectangle 11">
            <a:extLst>
              <a:ext uri="{FF2B5EF4-FFF2-40B4-BE49-F238E27FC236}">
                <a16:creationId xmlns:a16="http://schemas.microsoft.com/office/drawing/2014/main" id="{8E0105E7-23DB-4CF2-8258-FF47C7620F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6928" y="0"/>
            <a:ext cx="11155680" cy="2011680"/>
          </a:xfrm>
          <a:prstGeom prst="rect">
            <a:avLst/>
          </a:pr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83B55FAE-AD98-49B0-9855-5212231E0AE3}"/>
              </a:ext>
            </a:extLst>
          </p:cNvPr>
          <p:cNvSpPr>
            <a:spLocks noGrp="1"/>
          </p:cNvSpPr>
          <p:nvPr>
            <p:ph type="title"/>
          </p:nvPr>
        </p:nvSpPr>
        <p:spPr>
          <a:xfrm>
            <a:off x="731963" y="877465"/>
            <a:ext cx="10961203" cy="704088"/>
          </a:xfrm>
        </p:spPr>
        <p:txBody>
          <a:bodyPr>
            <a:noAutofit/>
          </a:bodyPr>
          <a:lstStyle/>
          <a:p>
            <a:r>
              <a:rPr lang="en-US" sz="3800" dirty="0"/>
              <a:t>Congenital Gonadotropin Deficiency Clinical Manifestations</a:t>
            </a:r>
            <a:br>
              <a:rPr lang="en-US" sz="3800" dirty="0"/>
            </a:br>
            <a:endParaRPr lang="en-US" sz="3800" dirty="0"/>
          </a:p>
        </p:txBody>
      </p:sp>
      <p:sp>
        <p:nvSpPr>
          <p:cNvPr id="14" name="Rectangle 13">
            <a:extLst>
              <a:ext uri="{FF2B5EF4-FFF2-40B4-BE49-F238E27FC236}">
                <a16:creationId xmlns:a16="http://schemas.microsoft.com/office/drawing/2014/main" id="{074B4F7D-14B2-478B-8BF5-01E4E0C5D26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8834" y="758952"/>
            <a:ext cx="128016"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3" name="Content Placeholder 2">
            <a:extLst>
              <a:ext uri="{FF2B5EF4-FFF2-40B4-BE49-F238E27FC236}">
                <a16:creationId xmlns:a16="http://schemas.microsoft.com/office/drawing/2014/main" id="{0291AA39-2B67-4528-AB1A-3F2EB1FC3FBC}"/>
              </a:ext>
            </a:extLst>
          </p:cNvPr>
          <p:cNvSpPr>
            <a:spLocks noGrp="1"/>
          </p:cNvSpPr>
          <p:nvPr>
            <p:ph idx="1"/>
          </p:nvPr>
        </p:nvSpPr>
        <p:spPr>
          <a:xfrm>
            <a:off x="558209" y="1110996"/>
            <a:ext cx="11364877" cy="4337012"/>
          </a:xfrm>
        </p:spPr>
        <p:txBody>
          <a:bodyPr>
            <a:noAutofit/>
          </a:bodyPr>
          <a:lstStyle/>
          <a:p>
            <a:pPr marL="0" indent="0">
              <a:buNone/>
            </a:pPr>
            <a:endParaRPr lang="en-US" dirty="0"/>
          </a:p>
          <a:p>
            <a:pPr marL="0" indent="0">
              <a:buNone/>
            </a:pPr>
            <a:r>
              <a:rPr lang="en-US" dirty="0"/>
              <a:t>Insufficiencies of LH and FSH cause </a:t>
            </a:r>
            <a:r>
              <a:rPr lang="en-US" b="1" dirty="0"/>
              <a:t>hypogonadism and infertility</a:t>
            </a:r>
          </a:p>
          <a:p>
            <a:pPr lvl="1"/>
            <a:r>
              <a:rPr lang="en-US" sz="2800" b="1" dirty="0"/>
              <a:t>Congenital gonadotropin deficiency: </a:t>
            </a:r>
            <a:r>
              <a:rPr lang="en-US" sz="2800" dirty="0"/>
              <a:t>caused by genetic mutation</a:t>
            </a:r>
          </a:p>
          <a:p>
            <a:pPr lvl="2"/>
            <a:r>
              <a:rPr lang="en-US" sz="2800" dirty="0" err="1"/>
              <a:t>Micropenis</a:t>
            </a:r>
            <a:r>
              <a:rPr lang="en-US" sz="2800" dirty="0"/>
              <a:t> at birth in males, partial or complete lack of pubertal development, abnormal olfaction</a:t>
            </a:r>
          </a:p>
          <a:p>
            <a:pPr lvl="2"/>
            <a:r>
              <a:rPr lang="en-US" sz="2800" dirty="0"/>
              <a:t>Girls potential amenorrhea or, menarche followed by amenorrhea</a:t>
            </a:r>
          </a:p>
          <a:p>
            <a:pPr lvl="2"/>
            <a:r>
              <a:rPr lang="en-US" sz="2800" dirty="0"/>
              <a:t>Midline craniofacial defects-cleft palate, cleft lip, absent nasal cartilage</a:t>
            </a:r>
          </a:p>
          <a:p>
            <a:pPr lvl="2"/>
            <a:r>
              <a:rPr lang="en-US" sz="2800" dirty="0"/>
              <a:t>Neurologic deficits- decreased cognition, ataxia, neurosensory hearing loss, oculomotor dysfunction, color blindness</a:t>
            </a:r>
          </a:p>
          <a:p>
            <a:pPr lvl="2"/>
            <a:r>
              <a:rPr lang="en-US" sz="2800" dirty="0"/>
              <a:t>MSK malformation-pectus excavatum, syndactyly</a:t>
            </a:r>
          </a:p>
        </p:txBody>
      </p:sp>
    </p:spTree>
    <p:extLst>
      <p:ext uri="{BB962C8B-B14F-4D97-AF65-F5344CB8AC3E}">
        <p14:creationId xmlns:p14="http://schemas.microsoft.com/office/powerpoint/2010/main" val="319625529"/>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DAF1966E-FD40-4A4A-B61B-C4DF7FA05F0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0" name="Rectangle 9">
            <a:extLst>
              <a:ext uri="{FF2B5EF4-FFF2-40B4-BE49-F238E27FC236}">
                <a16:creationId xmlns:a16="http://schemas.microsoft.com/office/drawing/2014/main" id="{047BFA19-D45E-416B-A404-7AF2F3F270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58209" y="0"/>
            <a:ext cx="11167447" cy="2018806"/>
          </a:xfrm>
          <a:prstGeom prst="rect">
            <a:avLst/>
          </a:prstGeom>
          <a:ln w="9525">
            <a:solidFill>
              <a:srgbClr val="E1E1E1"/>
            </a:solidFill>
          </a:ln>
          <a:effectLst>
            <a:outerShdw blurRad="50800" dist="38100" dir="2700000" algn="t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2" name="Rectangle 11">
            <a:extLst>
              <a:ext uri="{FF2B5EF4-FFF2-40B4-BE49-F238E27FC236}">
                <a16:creationId xmlns:a16="http://schemas.microsoft.com/office/drawing/2014/main" id="{8E0105E7-23DB-4CF2-8258-FF47C7620F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6928" y="0"/>
            <a:ext cx="11155680" cy="2011680"/>
          </a:xfrm>
          <a:prstGeom prst="rect">
            <a:avLst/>
          </a:pr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AD050565-8870-451D-93FA-5D186A09C79B}"/>
              </a:ext>
            </a:extLst>
          </p:cNvPr>
          <p:cNvSpPr>
            <a:spLocks noGrp="1"/>
          </p:cNvSpPr>
          <p:nvPr>
            <p:ph type="title"/>
          </p:nvPr>
        </p:nvSpPr>
        <p:spPr>
          <a:xfrm>
            <a:off x="834979" y="313796"/>
            <a:ext cx="10950052" cy="1052550"/>
          </a:xfrm>
        </p:spPr>
        <p:txBody>
          <a:bodyPr>
            <a:normAutofit fontScale="90000"/>
          </a:bodyPr>
          <a:lstStyle/>
          <a:p>
            <a:r>
              <a:rPr lang="en-US" sz="3800" dirty="0"/>
              <a:t>Acquired Gonadotropin Deficiency Clinical Manifestation </a:t>
            </a:r>
          </a:p>
        </p:txBody>
      </p:sp>
      <p:sp>
        <p:nvSpPr>
          <p:cNvPr id="14" name="Rectangle 13">
            <a:extLst>
              <a:ext uri="{FF2B5EF4-FFF2-40B4-BE49-F238E27FC236}">
                <a16:creationId xmlns:a16="http://schemas.microsoft.com/office/drawing/2014/main" id="{074B4F7D-14B2-478B-8BF5-01E4E0C5D26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8834" y="758952"/>
            <a:ext cx="128016"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3" name="Content Placeholder 2">
            <a:extLst>
              <a:ext uri="{FF2B5EF4-FFF2-40B4-BE49-F238E27FC236}">
                <a16:creationId xmlns:a16="http://schemas.microsoft.com/office/drawing/2014/main" id="{FF325422-D461-4D8C-BF70-365273762B12}"/>
              </a:ext>
            </a:extLst>
          </p:cNvPr>
          <p:cNvSpPr>
            <a:spLocks noGrp="1"/>
          </p:cNvSpPr>
          <p:nvPr>
            <p:ph idx="1"/>
          </p:nvPr>
        </p:nvSpPr>
        <p:spPr>
          <a:xfrm>
            <a:off x="558209" y="1713838"/>
            <a:ext cx="11461072" cy="4679051"/>
          </a:xfrm>
        </p:spPr>
        <p:txBody>
          <a:bodyPr>
            <a:normAutofit fontScale="92500" lnSpcReduction="20000"/>
          </a:bodyPr>
          <a:lstStyle/>
          <a:p>
            <a:r>
              <a:rPr lang="en-US" sz="3500" dirty="0"/>
              <a:t>Acquired Hypogonadism- caused by any disease process that affects the hypothalamus-pituitary axis. </a:t>
            </a:r>
          </a:p>
          <a:p>
            <a:r>
              <a:rPr lang="en-US" sz="3500" b="1" dirty="0"/>
              <a:t>Acquired Hypogonadism is the most common </a:t>
            </a:r>
            <a:r>
              <a:rPr lang="en-US" sz="3500" b="1" u="sng" dirty="0"/>
              <a:t>manifested presentation</a:t>
            </a:r>
            <a:r>
              <a:rPr lang="en-US" sz="3500" b="1" dirty="0"/>
              <a:t> of hypopituitarism in adults</a:t>
            </a:r>
          </a:p>
          <a:p>
            <a:r>
              <a:rPr lang="en-US" sz="3500" b="1" dirty="0"/>
              <a:t>In premenopausal women</a:t>
            </a:r>
            <a:r>
              <a:rPr lang="en-US" sz="3500" dirty="0"/>
              <a:t>: diminished ovarian function -oligomenorrhea or amenorrhea, infertility, decreased vaginal secretions, decreased libido, and breast atrophy.</a:t>
            </a:r>
          </a:p>
          <a:p>
            <a:r>
              <a:rPr lang="en-US" sz="3500" b="1" dirty="0"/>
              <a:t>In adult men</a:t>
            </a:r>
            <a:r>
              <a:rPr lang="en-US" sz="3500" dirty="0"/>
              <a:t>: decreased libido and potency, infertility, decreased muscle mass with weakness, reduced beard and body hair growth, soft testes, and characteristic fine facial wrinkles</a:t>
            </a:r>
          </a:p>
          <a:p>
            <a:r>
              <a:rPr lang="en-US" sz="3500" dirty="0"/>
              <a:t> </a:t>
            </a:r>
            <a:r>
              <a:rPr lang="en-US" sz="3500" b="1" dirty="0"/>
              <a:t>Osteoporosis</a:t>
            </a:r>
            <a:r>
              <a:rPr lang="en-US" sz="3500" dirty="0"/>
              <a:t> occurs in untreated women and men</a:t>
            </a:r>
          </a:p>
          <a:p>
            <a:endParaRPr lang="en-US" sz="2200" dirty="0"/>
          </a:p>
        </p:txBody>
      </p:sp>
    </p:spTree>
    <p:extLst>
      <p:ext uri="{BB962C8B-B14F-4D97-AF65-F5344CB8AC3E}">
        <p14:creationId xmlns:p14="http://schemas.microsoft.com/office/powerpoint/2010/main" val="423666916"/>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DAF1966E-FD40-4A4A-B61B-C4DF7FA05F0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0" name="Rectangle 9">
            <a:extLst>
              <a:ext uri="{FF2B5EF4-FFF2-40B4-BE49-F238E27FC236}">
                <a16:creationId xmlns:a16="http://schemas.microsoft.com/office/drawing/2014/main" id="{047BFA19-D45E-416B-A404-7AF2F3F270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58209" y="0"/>
            <a:ext cx="11167447" cy="2018806"/>
          </a:xfrm>
          <a:prstGeom prst="rect">
            <a:avLst/>
          </a:prstGeom>
          <a:ln w="9525">
            <a:solidFill>
              <a:srgbClr val="E1E1E1"/>
            </a:solidFill>
          </a:ln>
          <a:effectLst>
            <a:outerShdw blurRad="50800" dist="38100" dir="2700000" algn="t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2" name="Rectangle 11">
            <a:extLst>
              <a:ext uri="{FF2B5EF4-FFF2-40B4-BE49-F238E27FC236}">
                <a16:creationId xmlns:a16="http://schemas.microsoft.com/office/drawing/2014/main" id="{8E0105E7-23DB-4CF2-8258-FF47C7620F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6928" y="0"/>
            <a:ext cx="11155680" cy="2011680"/>
          </a:xfrm>
          <a:prstGeom prst="rect">
            <a:avLst/>
          </a:pr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CEC97DE2-778C-A96C-1EE0-5CC99475C5DE}"/>
              </a:ext>
            </a:extLst>
          </p:cNvPr>
          <p:cNvSpPr>
            <a:spLocks noGrp="1"/>
          </p:cNvSpPr>
          <p:nvPr>
            <p:ph type="title"/>
          </p:nvPr>
        </p:nvSpPr>
        <p:spPr>
          <a:xfrm>
            <a:off x="781032" y="521208"/>
            <a:ext cx="10168128" cy="1179576"/>
          </a:xfrm>
        </p:spPr>
        <p:txBody>
          <a:bodyPr>
            <a:normAutofit/>
          </a:bodyPr>
          <a:lstStyle/>
          <a:p>
            <a:r>
              <a:rPr lang="en-US" sz="4800"/>
              <a:t>Acquired Secondary Hypogonadism </a:t>
            </a:r>
          </a:p>
        </p:txBody>
      </p:sp>
      <p:sp>
        <p:nvSpPr>
          <p:cNvPr id="14" name="Rectangle 13">
            <a:extLst>
              <a:ext uri="{FF2B5EF4-FFF2-40B4-BE49-F238E27FC236}">
                <a16:creationId xmlns:a16="http://schemas.microsoft.com/office/drawing/2014/main" id="{074B4F7D-14B2-478B-8BF5-01E4E0C5D26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8834" y="758952"/>
            <a:ext cx="128016"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3" name="Content Placeholder 2">
            <a:extLst>
              <a:ext uri="{FF2B5EF4-FFF2-40B4-BE49-F238E27FC236}">
                <a16:creationId xmlns:a16="http://schemas.microsoft.com/office/drawing/2014/main" id="{17443A37-9B42-AFAC-163F-1B9C8B8F3F75}"/>
              </a:ext>
            </a:extLst>
          </p:cNvPr>
          <p:cNvSpPr>
            <a:spLocks noGrp="1"/>
          </p:cNvSpPr>
          <p:nvPr>
            <p:ph idx="1"/>
          </p:nvPr>
        </p:nvSpPr>
        <p:spPr>
          <a:xfrm>
            <a:off x="626850" y="2243966"/>
            <a:ext cx="11095758" cy="4388873"/>
          </a:xfrm>
        </p:spPr>
        <p:txBody>
          <a:bodyPr>
            <a:normAutofit/>
          </a:bodyPr>
          <a:lstStyle/>
          <a:p>
            <a:r>
              <a:rPr lang="en-US" sz="3600" b="1" dirty="0"/>
              <a:t>A mass lesion</a:t>
            </a:r>
            <a:r>
              <a:rPr lang="en-US" sz="3600" dirty="0"/>
              <a:t> in the pituitary or hypothalamus is more likely to diminish secretion of gonadotropins than corticotropin (ACTH) or TSH. </a:t>
            </a:r>
          </a:p>
          <a:p>
            <a:pPr lvl="1"/>
            <a:r>
              <a:rPr lang="en-US" sz="3200" dirty="0"/>
              <a:t>Therefore, patients may present with </a:t>
            </a:r>
            <a:r>
              <a:rPr lang="en-US" sz="3200" b="1" dirty="0"/>
              <a:t>isolated hypogonadism </a:t>
            </a:r>
          </a:p>
          <a:p>
            <a:r>
              <a:rPr lang="en-US" sz="3600" dirty="0"/>
              <a:t>Other causes of secondary hypogonadism: hyperprolactinemia, chronic steroid use, chronic opioid use, critical illness (surgery), anorexia nervosa, starvation, extreme exercise, stress, </a:t>
            </a:r>
            <a:r>
              <a:rPr lang="en-US" sz="3600" b="1" dirty="0"/>
              <a:t>damage to gonadotroph cells  </a:t>
            </a:r>
          </a:p>
        </p:txBody>
      </p:sp>
    </p:spTree>
    <p:extLst>
      <p:ext uri="{BB962C8B-B14F-4D97-AF65-F5344CB8AC3E}">
        <p14:creationId xmlns:p14="http://schemas.microsoft.com/office/powerpoint/2010/main" val="3348788784"/>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DAF1966E-FD40-4A4A-B61B-C4DF7FA05F0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0" name="Rectangle 9">
            <a:extLst>
              <a:ext uri="{FF2B5EF4-FFF2-40B4-BE49-F238E27FC236}">
                <a16:creationId xmlns:a16="http://schemas.microsoft.com/office/drawing/2014/main" id="{047BFA19-D45E-416B-A404-7AF2F3F270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58209" y="0"/>
            <a:ext cx="11167447" cy="2018806"/>
          </a:xfrm>
          <a:prstGeom prst="rect">
            <a:avLst/>
          </a:prstGeom>
          <a:ln w="9525">
            <a:solidFill>
              <a:srgbClr val="E1E1E1"/>
            </a:solidFill>
          </a:ln>
          <a:effectLst>
            <a:outerShdw blurRad="50800" dist="38100" dir="2700000" algn="t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2" name="Rectangle 11">
            <a:extLst>
              <a:ext uri="{FF2B5EF4-FFF2-40B4-BE49-F238E27FC236}">
                <a16:creationId xmlns:a16="http://schemas.microsoft.com/office/drawing/2014/main" id="{8E0105E7-23DB-4CF2-8258-FF47C7620F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6928" y="0"/>
            <a:ext cx="11155680" cy="2011680"/>
          </a:xfrm>
          <a:prstGeom prst="rect">
            <a:avLst/>
          </a:pr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CC7EB3A2-8835-47DD-9748-810AABC731E4}"/>
              </a:ext>
            </a:extLst>
          </p:cNvPr>
          <p:cNvSpPr>
            <a:spLocks noGrp="1"/>
          </p:cNvSpPr>
          <p:nvPr>
            <p:ph type="title"/>
          </p:nvPr>
        </p:nvSpPr>
        <p:spPr>
          <a:xfrm>
            <a:off x="1115568" y="548640"/>
            <a:ext cx="10168128" cy="1179576"/>
          </a:xfrm>
        </p:spPr>
        <p:txBody>
          <a:bodyPr>
            <a:normAutofit/>
          </a:bodyPr>
          <a:lstStyle/>
          <a:p>
            <a:r>
              <a:rPr lang="en-US" sz="4800"/>
              <a:t>Gonadotropin Deficiency Workup</a:t>
            </a:r>
          </a:p>
        </p:txBody>
      </p:sp>
      <p:sp>
        <p:nvSpPr>
          <p:cNvPr id="14" name="Rectangle 13">
            <a:extLst>
              <a:ext uri="{FF2B5EF4-FFF2-40B4-BE49-F238E27FC236}">
                <a16:creationId xmlns:a16="http://schemas.microsoft.com/office/drawing/2014/main" id="{074B4F7D-14B2-478B-8BF5-01E4E0C5D26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8834" y="758952"/>
            <a:ext cx="128016"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3" name="Content Placeholder 2">
            <a:extLst>
              <a:ext uri="{FF2B5EF4-FFF2-40B4-BE49-F238E27FC236}">
                <a16:creationId xmlns:a16="http://schemas.microsoft.com/office/drawing/2014/main" id="{27B48E7A-65B9-4E15-98B1-E19DCCE1E778}"/>
              </a:ext>
            </a:extLst>
          </p:cNvPr>
          <p:cNvSpPr>
            <a:spLocks noGrp="1"/>
          </p:cNvSpPr>
          <p:nvPr>
            <p:ph idx="1"/>
          </p:nvPr>
        </p:nvSpPr>
        <p:spPr>
          <a:xfrm>
            <a:off x="562842" y="1972491"/>
            <a:ext cx="10929979" cy="4376057"/>
          </a:xfrm>
        </p:spPr>
        <p:txBody>
          <a:bodyPr>
            <a:normAutofit/>
          </a:bodyPr>
          <a:lstStyle/>
          <a:p>
            <a:r>
              <a:rPr lang="en-US" sz="3600" b="1" dirty="0"/>
              <a:t>Males: </a:t>
            </a:r>
            <a:r>
              <a:rPr lang="en-US" sz="3600" dirty="0"/>
              <a:t>draw fasting labs between 8-10 AM </a:t>
            </a:r>
          </a:p>
          <a:p>
            <a:pPr lvl="1"/>
            <a:r>
              <a:rPr lang="en-US" sz="3200" dirty="0"/>
              <a:t>They will have </a:t>
            </a:r>
            <a:r>
              <a:rPr lang="en-US" sz="3200" b="1" dirty="0"/>
              <a:t>low testosterone </a:t>
            </a:r>
            <a:r>
              <a:rPr lang="en-US" sz="3200" dirty="0"/>
              <a:t>with a </a:t>
            </a:r>
            <a:r>
              <a:rPr lang="en-US" sz="3200" b="1" dirty="0"/>
              <a:t>low/normal serum LH</a:t>
            </a:r>
          </a:p>
          <a:p>
            <a:pPr lvl="1"/>
            <a:r>
              <a:rPr lang="en-US" sz="3200" dirty="0"/>
              <a:t>Sperm counts will also be low </a:t>
            </a:r>
            <a:endParaRPr lang="en-US" sz="3200" b="1" dirty="0"/>
          </a:p>
          <a:p>
            <a:r>
              <a:rPr lang="en-US" sz="3600" b="1" dirty="0"/>
              <a:t>Females</a:t>
            </a:r>
            <a:r>
              <a:rPr lang="en-US" sz="3600" dirty="0"/>
              <a:t>: suspected in nonpregnant women with amenorrhea or oligomenorrhea (in the absence of acute illness, hyperthyroidism or hyperandrogenism)</a:t>
            </a:r>
          </a:p>
          <a:p>
            <a:pPr lvl="1"/>
            <a:r>
              <a:rPr lang="en-US" sz="3200" b="1" dirty="0"/>
              <a:t>Low</a:t>
            </a:r>
            <a:r>
              <a:rPr lang="en-US" sz="3200" dirty="0"/>
              <a:t> </a:t>
            </a:r>
            <a:r>
              <a:rPr lang="en-US" sz="3200" b="1" dirty="0"/>
              <a:t>serum estradiol  </a:t>
            </a:r>
            <a:r>
              <a:rPr lang="en-US" sz="3200" dirty="0"/>
              <a:t>with a </a:t>
            </a:r>
            <a:r>
              <a:rPr lang="en-US" sz="3200" b="1" dirty="0"/>
              <a:t>low/normal</a:t>
            </a:r>
            <a:r>
              <a:rPr lang="en-US" sz="3200" dirty="0"/>
              <a:t> </a:t>
            </a:r>
            <a:r>
              <a:rPr lang="en-US" sz="3200" b="1" dirty="0"/>
              <a:t>serum FSH  </a:t>
            </a:r>
          </a:p>
          <a:p>
            <a:pPr marL="457200" lvl="1" indent="0">
              <a:buNone/>
            </a:pPr>
            <a:endParaRPr lang="en-US" sz="2200" b="1" dirty="0"/>
          </a:p>
        </p:txBody>
      </p:sp>
    </p:spTree>
    <p:extLst>
      <p:ext uri="{BB962C8B-B14F-4D97-AF65-F5344CB8AC3E}">
        <p14:creationId xmlns:p14="http://schemas.microsoft.com/office/powerpoint/2010/main" val="150491993"/>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DAF1966E-FD40-4A4A-B61B-C4DF7FA05F0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0" name="Rectangle 9">
            <a:extLst>
              <a:ext uri="{FF2B5EF4-FFF2-40B4-BE49-F238E27FC236}">
                <a16:creationId xmlns:a16="http://schemas.microsoft.com/office/drawing/2014/main" id="{047BFA19-D45E-416B-A404-7AF2F3F270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58209" y="0"/>
            <a:ext cx="11167447" cy="2018806"/>
          </a:xfrm>
          <a:prstGeom prst="rect">
            <a:avLst/>
          </a:prstGeom>
          <a:ln w="9525">
            <a:solidFill>
              <a:srgbClr val="E1E1E1"/>
            </a:solidFill>
          </a:ln>
          <a:effectLst>
            <a:outerShdw blurRad="50800" dist="38100" dir="2700000" algn="t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2" name="Rectangle 11">
            <a:extLst>
              <a:ext uri="{FF2B5EF4-FFF2-40B4-BE49-F238E27FC236}">
                <a16:creationId xmlns:a16="http://schemas.microsoft.com/office/drawing/2014/main" id="{8E0105E7-23DB-4CF2-8258-FF47C7620F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6928" y="0"/>
            <a:ext cx="11155680" cy="2011680"/>
          </a:xfrm>
          <a:prstGeom prst="rect">
            <a:avLst/>
          </a:pr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1C7E1727-C916-43C1-B191-A5ED57BF6ACD}"/>
              </a:ext>
            </a:extLst>
          </p:cNvPr>
          <p:cNvSpPr>
            <a:spLocks noGrp="1"/>
          </p:cNvSpPr>
          <p:nvPr>
            <p:ph type="title"/>
          </p:nvPr>
        </p:nvSpPr>
        <p:spPr>
          <a:xfrm>
            <a:off x="1011936" y="521208"/>
            <a:ext cx="10168128" cy="1179576"/>
          </a:xfrm>
        </p:spPr>
        <p:txBody>
          <a:bodyPr>
            <a:normAutofit/>
          </a:bodyPr>
          <a:lstStyle/>
          <a:p>
            <a:r>
              <a:rPr lang="en-US" sz="4800"/>
              <a:t>Gonadotropin Deficiency Workup </a:t>
            </a:r>
          </a:p>
        </p:txBody>
      </p:sp>
      <p:sp>
        <p:nvSpPr>
          <p:cNvPr id="14" name="Rectangle 13">
            <a:extLst>
              <a:ext uri="{FF2B5EF4-FFF2-40B4-BE49-F238E27FC236}">
                <a16:creationId xmlns:a16="http://schemas.microsoft.com/office/drawing/2014/main" id="{074B4F7D-14B2-478B-8BF5-01E4E0C5D26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8834" y="758952"/>
            <a:ext cx="128016"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3" name="Content Placeholder 2">
            <a:extLst>
              <a:ext uri="{FF2B5EF4-FFF2-40B4-BE49-F238E27FC236}">
                <a16:creationId xmlns:a16="http://schemas.microsoft.com/office/drawing/2014/main" id="{0AEB42E1-A433-4B21-84E4-8723F8590082}"/>
              </a:ext>
            </a:extLst>
          </p:cNvPr>
          <p:cNvSpPr>
            <a:spLocks noGrp="1"/>
          </p:cNvSpPr>
          <p:nvPr>
            <p:ph idx="1"/>
          </p:nvPr>
        </p:nvSpPr>
        <p:spPr>
          <a:xfrm>
            <a:off x="562842" y="1658521"/>
            <a:ext cx="11095758" cy="5003998"/>
          </a:xfrm>
        </p:spPr>
        <p:txBody>
          <a:bodyPr>
            <a:normAutofit/>
          </a:bodyPr>
          <a:lstStyle/>
          <a:p>
            <a:r>
              <a:rPr lang="en-US" sz="3600" b="1" dirty="0"/>
              <a:t>Evaluate for additional hormonal abnormalities </a:t>
            </a:r>
          </a:p>
          <a:p>
            <a:pPr lvl="1">
              <a:buFont typeface="Wingdings" panose="05000000000000000000" pitchFamily="2" charset="2"/>
              <a:buChar char="Ø"/>
            </a:pPr>
            <a:r>
              <a:rPr lang="en-US" sz="3200" dirty="0"/>
              <a:t> Prolactin- hyperprolactinemia can result in negative feedback on gonadotropins </a:t>
            </a:r>
          </a:p>
          <a:p>
            <a:pPr lvl="1">
              <a:buFont typeface="Wingdings" panose="05000000000000000000" pitchFamily="2" charset="2"/>
              <a:buChar char="Ø"/>
            </a:pPr>
            <a:r>
              <a:rPr lang="en-US" sz="3200" dirty="0"/>
              <a:t> Cortisol and thyroid function </a:t>
            </a:r>
          </a:p>
          <a:p>
            <a:r>
              <a:rPr lang="en-US" sz="3600" dirty="0"/>
              <a:t> Men with isolated hypogonadotropic hypogonadism should consider genetic testing, esp. if fertility is desired </a:t>
            </a:r>
          </a:p>
          <a:p>
            <a:r>
              <a:rPr lang="en-US" sz="3600" b="1" dirty="0"/>
              <a:t>Pituitary MRI </a:t>
            </a:r>
            <a:r>
              <a:rPr lang="en-US" sz="3600" dirty="0"/>
              <a:t>should always be performed if there are other pituitary hormone abnormalities, visual field deficits or neurologic symptoms </a:t>
            </a:r>
          </a:p>
          <a:p>
            <a:endParaRPr lang="en-US" sz="2200" dirty="0"/>
          </a:p>
        </p:txBody>
      </p:sp>
    </p:spTree>
    <p:extLst>
      <p:ext uri="{BB962C8B-B14F-4D97-AF65-F5344CB8AC3E}">
        <p14:creationId xmlns:p14="http://schemas.microsoft.com/office/powerpoint/2010/main" val="577182612"/>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DAF1966E-FD40-4A4A-B61B-C4DF7FA05F0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0" name="Rectangle 9">
            <a:extLst>
              <a:ext uri="{FF2B5EF4-FFF2-40B4-BE49-F238E27FC236}">
                <a16:creationId xmlns:a16="http://schemas.microsoft.com/office/drawing/2014/main" id="{047BFA19-D45E-416B-A404-7AF2F3F270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58209" y="0"/>
            <a:ext cx="11167447" cy="2018806"/>
          </a:xfrm>
          <a:prstGeom prst="rect">
            <a:avLst/>
          </a:prstGeom>
          <a:ln w="9525">
            <a:solidFill>
              <a:srgbClr val="E1E1E1"/>
            </a:solidFill>
          </a:ln>
          <a:effectLst>
            <a:outerShdw blurRad="50800" dist="38100" dir="2700000" algn="t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2" name="Rectangle 11">
            <a:extLst>
              <a:ext uri="{FF2B5EF4-FFF2-40B4-BE49-F238E27FC236}">
                <a16:creationId xmlns:a16="http://schemas.microsoft.com/office/drawing/2014/main" id="{8E0105E7-23DB-4CF2-8258-FF47C7620F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6928" y="0"/>
            <a:ext cx="11155680" cy="2011680"/>
          </a:xfrm>
          <a:prstGeom prst="rect">
            <a:avLst/>
          </a:pr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8EE032D2-314B-448D-8D3F-D328D40E9AA6}"/>
              </a:ext>
            </a:extLst>
          </p:cNvPr>
          <p:cNvSpPr>
            <a:spLocks noGrp="1"/>
          </p:cNvSpPr>
          <p:nvPr>
            <p:ph type="title"/>
          </p:nvPr>
        </p:nvSpPr>
        <p:spPr>
          <a:xfrm>
            <a:off x="1115568" y="548640"/>
            <a:ext cx="10168128" cy="1179576"/>
          </a:xfrm>
        </p:spPr>
        <p:txBody>
          <a:bodyPr>
            <a:normAutofit/>
          </a:bodyPr>
          <a:lstStyle/>
          <a:p>
            <a:r>
              <a:rPr lang="en-US" sz="4800"/>
              <a:t>Treating Gonadotropin Deficiency</a:t>
            </a:r>
          </a:p>
        </p:txBody>
      </p:sp>
      <p:sp>
        <p:nvSpPr>
          <p:cNvPr id="14" name="Rectangle 13">
            <a:extLst>
              <a:ext uri="{FF2B5EF4-FFF2-40B4-BE49-F238E27FC236}">
                <a16:creationId xmlns:a16="http://schemas.microsoft.com/office/drawing/2014/main" id="{074B4F7D-14B2-478B-8BF5-01E4E0C5D26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8834" y="758952"/>
            <a:ext cx="128016"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3" name="Content Placeholder 2">
            <a:extLst>
              <a:ext uri="{FF2B5EF4-FFF2-40B4-BE49-F238E27FC236}">
                <a16:creationId xmlns:a16="http://schemas.microsoft.com/office/drawing/2014/main" id="{DC8B00A2-0C10-4F6E-ACF7-B5E3F8E847A4}"/>
              </a:ext>
            </a:extLst>
          </p:cNvPr>
          <p:cNvSpPr>
            <a:spLocks noGrp="1"/>
          </p:cNvSpPr>
          <p:nvPr>
            <p:ph idx="1"/>
          </p:nvPr>
        </p:nvSpPr>
        <p:spPr>
          <a:xfrm>
            <a:off x="498834" y="2296219"/>
            <a:ext cx="11164399" cy="4561781"/>
          </a:xfrm>
        </p:spPr>
        <p:txBody>
          <a:bodyPr>
            <a:normAutofit/>
          </a:bodyPr>
          <a:lstStyle/>
          <a:p>
            <a:r>
              <a:rPr lang="en-US" sz="3600"/>
              <a:t>Treatment of puberty and sex characteristics: </a:t>
            </a:r>
            <a:r>
              <a:rPr lang="en-US" sz="3600" b="1"/>
              <a:t>testosterone replacement </a:t>
            </a:r>
            <a:r>
              <a:rPr lang="en-US" sz="3600"/>
              <a:t>in males; </a:t>
            </a:r>
            <a:r>
              <a:rPr lang="en-US" sz="3600" b="1"/>
              <a:t>cyclical estrogen and progesterone replacement </a:t>
            </a:r>
            <a:r>
              <a:rPr lang="en-US" sz="3600"/>
              <a:t>in females </a:t>
            </a:r>
          </a:p>
          <a:p>
            <a:r>
              <a:rPr lang="en-US" sz="3600"/>
              <a:t>If fertility is desired: </a:t>
            </a:r>
          </a:p>
          <a:p>
            <a:pPr lvl="1"/>
            <a:r>
              <a:rPr lang="en-US" sz="3200"/>
              <a:t>Women: </a:t>
            </a:r>
            <a:r>
              <a:rPr lang="en-US" sz="3200" b="1"/>
              <a:t>FSH injections </a:t>
            </a:r>
            <a:r>
              <a:rPr lang="en-US" sz="3200"/>
              <a:t>are used for follicular development followed by </a:t>
            </a:r>
            <a:r>
              <a:rPr lang="en-US" sz="3200" b="1"/>
              <a:t>LH injection </a:t>
            </a:r>
            <a:r>
              <a:rPr lang="en-US" sz="3200"/>
              <a:t>for ovulation induction</a:t>
            </a:r>
          </a:p>
          <a:p>
            <a:pPr lvl="1"/>
            <a:r>
              <a:rPr lang="en-US" sz="3200"/>
              <a:t>Men are treated with </a:t>
            </a:r>
            <a:r>
              <a:rPr lang="en-US" sz="3200" b="1"/>
              <a:t>pulsatile GnRH therapy </a:t>
            </a:r>
            <a:r>
              <a:rPr lang="en-US" sz="3200"/>
              <a:t>(infusion pump) </a:t>
            </a:r>
          </a:p>
        </p:txBody>
      </p:sp>
    </p:spTree>
    <p:extLst>
      <p:ext uri="{BB962C8B-B14F-4D97-AF65-F5344CB8AC3E}">
        <p14:creationId xmlns:p14="http://schemas.microsoft.com/office/powerpoint/2010/main" val="3123605290"/>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CBB2B1F0-0DD6-4744-9A46-7A344FB48E4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BB2367A-462C-E8C7-D090-0D9DFB229A2C}"/>
              </a:ext>
            </a:extLst>
          </p:cNvPr>
          <p:cNvSpPr>
            <a:spLocks noGrp="1"/>
          </p:cNvSpPr>
          <p:nvPr>
            <p:ph type="title"/>
          </p:nvPr>
        </p:nvSpPr>
        <p:spPr>
          <a:xfrm>
            <a:off x="841248" y="426720"/>
            <a:ext cx="10506456" cy="1919141"/>
          </a:xfrm>
        </p:spPr>
        <p:txBody>
          <a:bodyPr anchor="b">
            <a:normAutofit/>
          </a:bodyPr>
          <a:lstStyle/>
          <a:p>
            <a:r>
              <a:rPr lang="en-US" sz="6000" dirty="0"/>
              <a:t>Thyrotropin Deficiency </a:t>
            </a:r>
          </a:p>
        </p:txBody>
      </p:sp>
      <p:sp>
        <p:nvSpPr>
          <p:cNvPr id="10" name="Rectangle 9">
            <a:extLst>
              <a:ext uri="{FF2B5EF4-FFF2-40B4-BE49-F238E27FC236}">
                <a16:creationId xmlns:a16="http://schemas.microsoft.com/office/drawing/2014/main" id="{52D502E5-F6B4-4D58-B4AE-FC466FF15E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65953" y="2899927"/>
            <a:ext cx="10451592"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12" name="Rectangle 11">
            <a:extLst>
              <a:ext uri="{FF2B5EF4-FFF2-40B4-BE49-F238E27FC236}">
                <a16:creationId xmlns:a16="http://schemas.microsoft.com/office/drawing/2014/main" id="{9DECDBF4-02B6-4BB4-B65B-B8107AD6A9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841248" y="2776031"/>
            <a:ext cx="1873457" cy="13716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3" name="Content Placeholder 2">
            <a:extLst>
              <a:ext uri="{FF2B5EF4-FFF2-40B4-BE49-F238E27FC236}">
                <a16:creationId xmlns:a16="http://schemas.microsoft.com/office/drawing/2014/main" id="{5976523E-ACD4-28C3-052E-AB0F08A8D680}"/>
              </a:ext>
            </a:extLst>
          </p:cNvPr>
          <p:cNvSpPr>
            <a:spLocks noGrp="1"/>
          </p:cNvSpPr>
          <p:nvPr>
            <p:ph idx="1"/>
          </p:nvPr>
        </p:nvSpPr>
        <p:spPr>
          <a:xfrm>
            <a:off x="841248" y="3198392"/>
            <a:ext cx="10912137" cy="3742854"/>
          </a:xfrm>
        </p:spPr>
        <p:txBody>
          <a:bodyPr>
            <a:normAutofit/>
          </a:bodyPr>
          <a:lstStyle/>
          <a:p>
            <a:r>
              <a:rPr lang="en-US" sz="3400"/>
              <a:t>Thyroid Stimulating Hormone (TSH) released from the anterior pituitary following stimulation by Thyrotropin-Releasing Hormone (TRH) from the hypothalamus</a:t>
            </a:r>
          </a:p>
          <a:p>
            <a:r>
              <a:rPr lang="en-US" sz="3400"/>
              <a:t>TSH stimulates release of T3 and T4 which are responsible for metabolism, weight, temperature regulation, energy levels, and skin, hair and nail health</a:t>
            </a:r>
          </a:p>
        </p:txBody>
      </p:sp>
    </p:spTree>
    <p:extLst>
      <p:ext uri="{BB962C8B-B14F-4D97-AF65-F5344CB8AC3E}">
        <p14:creationId xmlns:p14="http://schemas.microsoft.com/office/powerpoint/2010/main" val="2763110807"/>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DAF1966E-FD40-4A4A-B61B-C4DF7FA05F0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0" name="Rectangle 9">
            <a:extLst>
              <a:ext uri="{FF2B5EF4-FFF2-40B4-BE49-F238E27FC236}">
                <a16:creationId xmlns:a16="http://schemas.microsoft.com/office/drawing/2014/main" id="{047BFA19-D45E-416B-A404-7AF2F3F270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58209" y="0"/>
            <a:ext cx="11167447" cy="2018806"/>
          </a:xfrm>
          <a:prstGeom prst="rect">
            <a:avLst/>
          </a:prstGeom>
          <a:ln w="9525">
            <a:solidFill>
              <a:srgbClr val="E1E1E1"/>
            </a:solidFill>
          </a:ln>
          <a:effectLst>
            <a:outerShdw blurRad="50800" dist="38100" dir="2700000" algn="t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2" name="Rectangle 11">
            <a:extLst>
              <a:ext uri="{FF2B5EF4-FFF2-40B4-BE49-F238E27FC236}">
                <a16:creationId xmlns:a16="http://schemas.microsoft.com/office/drawing/2014/main" id="{8E0105E7-23DB-4CF2-8258-FF47C7620F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6928" y="0"/>
            <a:ext cx="11155680" cy="2011680"/>
          </a:xfrm>
          <a:prstGeom prst="rect">
            <a:avLst/>
          </a:pr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B36C6A35-0E39-4378-9CD7-201EC6EC300D}"/>
              </a:ext>
            </a:extLst>
          </p:cNvPr>
          <p:cNvSpPr>
            <a:spLocks noGrp="1"/>
          </p:cNvSpPr>
          <p:nvPr>
            <p:ph type="title"/>
          </p:nvPr>
        </p:nvSpPr>
        <p:spPr>
          <a:xfrm>
            <a:off x="1057868" y="521208"/>
            <a:ext cx="10168128" cy="1179576"/>
          </a:xfrm>
        </p:spPr>
        <p:txBody>
          <a:bodyPr>
            <a:normAutofit fontScale="90000"/>
          </a:bodyPr>
          <a:lstStyle/>
          <a:p>
            <a:r>
              <a:rPr lang="en-US" sz="4800" dirty="0"/>
              <a:t>Hypopituitarism: TSH Deficiency Symptoms </a:t>
            </a:r>
          </a:p>
        </p:txBody>
      </p:sp>
      <p:sp>
        <p:nvSpPr>
          <p:cNvPr id="14" name="Rectangle 13">
            <a:extLst>
              <a:ext uri="{FF2B5EF4-FFF2-40B4-BE49-F238E27FC236}">
                <a16:creationId xmlns:a16="http://schemas.microsoft.com/office/drawing/2014/main" id="{074B4F7D-14B2-478B-8BF5-01E4E0C5D26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8834" y="758952"/>
            <a:ext cx="128016"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3" name="Content Placeholder 2">
            <a:extLst>
              <a:ext uri="{FF2B5EF4-FFF2-40B4-BE49-F238E27FC236}">
                <a16:creationId xmlns:a16="http://schemas.microsoft.com/office/drawing/2014/main" id="{5A931A4D-F3EA-45A5-ABC5-89AA900135C2}"/>
              </a:ext>
            </a:extLst>
          </p:cNvPr>
          <p:cNvSpPr>
            <a:spLocks noGrp="1"/>
          </p:cNvSpPr>
          <p:nvPr>
            <p:ph idx="1"/>
          </p:nvPr>
        </p:nvSpPr>
        <p:spPr>
          <a:xfrm>
            <a:off x="566928" y="2320083"/>
            <a:ext cx="11454087" cy="4693365"/>
          </a:xfrm>
        </p:spPr>
        <p:txBody>
          <a:bodyPr>
            <a:normAutofit/>
          </a:bodyPr>
          <a:lstStyle/>
          <a:p>
            <a:r>
              <a:rPr lang="en-US" sz="3600" b="1"/>
              <a:t>Common symptoms</a:t>
            </a:r>
            <a:r>
              <a:rPr lang="en-US" sz="3600"/>
              <a:t>: fatigue, cold intolerance, muscle cramps, headache, and weight gain </a:t>
            </a:r>
          </a:p>
          <a:p>
            <a:pPr lvl="1"/>
            <a:r>
              <a:rPr lang="en-US" sz="3200"/>
              <a:t>Symptoms may be milder than those of primary disease </a:t>
            </a:r>
            <a:endParaRPr lang="en-US" sz="3600"/>
          </a:p>
          <a:p>
            <a:r>
              <a:rPr lang="en-US" sz="3600"/>
              <a:t>Growth hormone replacement therapy in GH deficient adults may unmask central hypothyroidism </a:t>
            </a:r>
          </a:p>
        </p:txBody>
      </p:sp>
    </p:spTree>
    <p:extLst>
      <p:ext uri="{BB962C8B-B14F-4D97-AF65-F5344CB8AC3E}">
        <p14:creationId xmlns:p14="http://schemas.microsoft.com/office/powerpoint/2010/main" val="3387935191"/>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DAF1966E-FD40-4A4A-B61B-C4DF7FA05F0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0" name="Rectangle 9">
            <a:extLst>
              <a:ext uri="{FF2B5EF4-FFF2-40B4-BE49-F238E27FC236}">
                <a16:creationId xmlns:a16="http://schemas.microsoft.com/office/drawing/2014/main" id="{047BFA19-D45E-416B-A404-7AF2F3F270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58209" y="0"/>
            <a:ext cx="11167447" cy="2018806"/>
          </a:xfrm>
          <a:prstGeom prst="rect">
            <a:avLst/>
          </a:prstGeom>
          <a:ln w="9525">
            <a:solidFill>
              <a:srgbClr val="E1E1E1"/>
            </a:solidFill>
          </a:ln>
          <a:effectLst>
            <a:outerShdw blurRad="50800" dist="38100" dir="2700000" algn="t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2" name="Rectangle 11">
            <a:extLst>
              <a:ext uri="{FF2B5EF4-FFF2-40B4-BE49-F238E27FC236}">
                <a16:creationId xmlns:a16="http://schemas.microsoft.com/office/drawing/2014/main" id="{8E0105E7-23DB-4CF2-8258-FF47C7620F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6928" y="0"/>
            <a:ext cx="11155680" cy="2011680"/>
          </a:xfrm>
          <a:prstGeom prst="rect">
            <a:avLst/>
          </a:pr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B36C6A35-0E39-4378-9CD7-201EC6EC300D}"/>
              </a:ext>
            </a:extLst>
          </p:cNvPr>
          <p:cNvSpPr>
            <a:spLocks noGrp="1"/>
          </p:cNvSpPr>
          <p:nvPr>
            <p:ph type="title"/>
          </p:nvPr>
        </p:nvSpPr>
        <p:spPr>
          <a:xfrm>
            <a:off x="1057868" y="521208"/>
            <a:ext cx="10168128" cy="1179576"/>
          </a:xfrm>
        </p:spPr>
        <p:txBody>
          <a:bodyPr>
            <a:normAutofit/>
          </a:bodyPr>
          <a:lstStyle/>
          <a:p>
            <a:r>
              <a:rPr lang="en-US" sz="4800"/>
              <a:t>Hypopituitarism: TSH Deficiency </a:t>
            </a:r>
          </a:p>
        </p:txBody>
      </p:sp>
      <p:sp>
        <p:nvSpPr>
          <p:cNvPr id="14" name="Rectangle 13">
            <a:extLst>
              <a:ext uri="{FF2B5EF4-FFF2-40B4-BE49-F238E27FC236}">
                <a16:creationId xmlns:a16="http://schemas.microsoft.com/office/drawing/2014/main" id="{074B4F7D-14B2-478B-8BF5-01E4E0C5D26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8834" y="758952"/>
            <a:ext cx="128016"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3" name="Content Placeholder 2">
            <a:extLst>
              <a:ext uri="{FF2B5EF4-FFF2-40B4-BE49-F238E27FC236}">
                <a16:creationId xmlns:a16="http://schemas.microsoft.com/office/drawing/2014/main" id="{5A931A4D-F3EA-45A5-ABC5-89AA900135C2}"/>
              </a:ext>
            </a:extLst>
          </p:cNvPr>
          <p:cNvSpPr>
            <a:spLocks noGrp="1"/>
          </p:cNvSpPr>
          <p:nvPr>
            <p:ph idx="1"/>
          </p:nvPr>
        </p:nvSpPr>
        <p:spPr>
          <a:xfrm>
            <a:off x="505314" y="2042675"/>
            <a:ext cx="11273235" cy="4791456"/>
          </a:xfrm>
        </p:spPr>
        <p:txBody>
          <a:bodyPr>
            <a:normAutofit/>
          </a:body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US" sz="3600" b="0" i="0" u="none" strike="noStrike" kern="1200" cap="none" spc="0" normalizeH="0" baseline="0" noProof="0" dirty="0">
                <a:ln>
                  <a:noFill/>
                </a:ln>
                <a:solidFill>
                  <a:prstClr val="black"/>
                </a:solidFill>
                <a:effectLst/>
                <a:uLnTx/>
                <a:uFillTx/>
                <a:latin typeface="Calibri" panose="020F0502020204030204"/>
                <a:ea typeface="+mn-ea"/>
                <a:cs typeface="+mn-cs"/>
              </a:rPr>
              <a:t>TSH deficiency is a rare cause of </a:t>
            </a:r>
            <a:r>
              <a:rPr kumimoji="0" lang="en-US" sz="3600" b="0" i="0" u="none" strike="noStrike" kern="1200" cap="none" spc="0" normalizeH="0" baseline="0" noProof="0" dirty="0">
                <a:ln>
                  <a:noFill/>
                </a:ln>
                <a:solidFill>
                  <a:srgbClr val="C00000"/>
                </a:solidFill>
                <a:effectLst/>
                <a:uLnTx/>
                <a:uFillTx/>
                <a:latin typeface="Calibri" panose="020F0502020204030204"/>
                <a:ea typeface="+mn-ea"/>
                <a:cs typeface="+mn-cs"/>
              </a:rPr>
              <a:t>central</a:t>
            </a:r>
            <a:r>
              <a:rPr kumimoji="0" lang="en-US" sz="3600" b="0" i="0" u="none" strike="noStrike" kern="1200" cap="none" spc="0" normalizeH="0" baseline="0" noProof="0" dirty="0">
                <a:ln>
                  <a:noFill/>
                </a:ln>
                <a:solidFill>
                  <a:prstClr val="black"/>
                </a:solidFill>
                <a:effectLst/>
                <a:uLnTx/>
                <a:uFillTx/>
                <a:latin typeface="Calibri" panose="020F0502020204030204"/>
                <a:ea typeface="+mn-ea"/>
                <a:cs typeface="+mn-cs"/>
              </a:rPr>
              <a:t> </a:t>
            </a:r>
            <a:r>
              <a:rPr kumimoji="0" lang="en-US" sz="3600" b="1" i="0" u="none" strike="noStrike" kern="1200" cap="none" spc="0" normalizeH="0" baseline="0" noProof="0" dirty="0">
                <a:ln>
                  <a:noFill/>
                </a:ln>
                <a:solidFill>
                  <a:prstClr val="black"/>
                </a:solidFill>
                <a:effectLst/>
                <a:uLnTx/>
                <a:uFillTx/>
                <a:latin typeface="Calibri" panose="020F0502020204030204"/>
                <a:ea typeface="+mn-ea"/>
                <a:cs typeface="+mn-cs"/>
              </a:rPr>
              <a:t>hypothyroidism</a:t>
            </a: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US" sz="3600" b="1" i="0" u="none" strike="noStrike" kern="1200" cap="none" spc="0" normalizeH="0" baseline="0" noProof="0" dirty="0">
                <a:ln>
                  <a:noFill/>
                </a:ln>
                <a:solidFill>
                  <a:prstClr val="black"/>
                </a:solidFill>
                <a:effectLst/>
                <a:uLnTx/>
                <a:uFillTx/>
                <a:latin typeface="Calibri" panose="020F0502020204030204"/>
                <a:ea typeface="+mn-ea"/>
                <a:cs typeface="+mn-cs"/>
              </a:rPr>
              <a:t>Pituitary mass lesions</a:t>
            </a:r>
            <a:r>
              <a:rPr kumimoji="0" lang="en-US" sz="3600" i="0" u="none" strike="noStrike" kern="1200" cap="none" spc="0" normalizeH="0" baseline="0" noProof="0" dirty="0">
                <a:ln>
                  <a:noFill/>
                </a:ln>
                <a:solidFill>
                  <a:prstClr val="black"/>
                </a:solidFill>
                <a:effectLst/>
                <a:uLnTx/>
                <a:uFillTx/>
                <a:latin typeface="Calibri" panose="020F0502020204030204"/>
                <a:ea typeface="+mn-ea"/>
                <a:cs typeface="+mn-cs"/>
              </a:rPr>
              <a:t>, especially pituitary adenomas, are the most common cause of central hypothyroidism </a:t>
            </a:r>
          </a:p>
          <a:p>
            <a:pPr lvl="1">
              <a:spcBef>
                <a:spcPts val="1000"/>
              </a:spcBef>
              <a:defRPr/>
            </a:pPr>
            <a:r>
              <a:rPr lang="en-US" sz="3200" dirty="0">
                <a:solidFill>
                  <a:prstClr val="black"/>
                </a:solidFill>
                <a:latin typeface="Calibri" panose="020F0502020204030204"/>
              </a:rPr>
              <a:t>Compression of pituitary </a:t>
            </a:r>
            <a:r>
              <a:rPr lang="en-US" sz="3200" dirty="0" err="1">
                <a:solidFill>
                  <a:prstClr val="black"/>
                </a:solidFill>
                <a:latin typeface="Calibri" panose="020F0502020204030204"/>
              </a:rPr>
              <a:t>thyrotrophs</a:t>
            </a:r>
            <a:r>
              <a:rPr lang="en-US" sz="3200" dirty="0">
                <a:solidFill>
                  <a:prstClr val="black"/>
                </a:solidFill>
                <a:latin typeface="Calibri" panose="020F0502020204030204"/>
              </a:rPr>
              <a:t> result in ↓ TSH secretion </a:t>
            </a:r>
          </a:p>
          <a:p>
            <a:pPr lvl="1">
              <a:spcBef>
                <a:spcPts val="1000"/>
              </a:spcBef>
              <a:defRPr/>
            </a:pPr>
            <a:r>
              <a:rPr lang="en-US" sz="3200" dirty="0">
                <a:solidFill>
                  <a:prstClr val="black"/>
                </a:solidFill>
                <a:latin typeface="Calibri" panose="020F0502020204030204"/>
              </a:rPr>
              <a:t>Etiologies also include the other hypopituitarism etiologies </a:t>
            </a:r>
          </a:p>
          <a:p>
            <a:pPr>
              <a:defRPr/>
            </a:pPr>
            <a:r>
              <a:rPr kumimoji="0" lang="en-US" sz="3600" i="0" u="none" strike="noStrike" kern="1200" cap="none" spc="0" normalizeH="0" baseline="0" noProof="0" dirty="0">
                <a:ln>
                  <a:noFill/>
                </a:ln>
                <a:solidFill>
                  <a:prstClr val="black"/>
                </a:solidFill>
                <a:effectLst/>
                <a:uLnTx/>
                <a:uFillTx/>
                <a:latin typeface="Calibri" panose="020F0502020204030204"/>
                <a:ea typeface="+mn-ea"/>
                <a:cs typeface="+mn-cs"/>
              </a:rPr>
              <a:t>Patients with central hypothyroidism frequently have other pituitary hormone deficiencies.</a:t>
            </a:r>
          </a:p>
          <a:p>
            <a:endParaRPr lang="en-US" sz="3600" dirty="0"/>
          </a:p>
        </p:txBody>
      </p:sp>
    </p:spTree>
    <p:extLst>
      <p:ext uri="{BB962C8B-B14F-4D97-AF65-F5344CB8AC3E}">
        <p14:creationId xmlns:p14="http://schemas.microsoft.com/office/powerpoint/2010/main" val="4105337134"/>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DAF1966E-FD40-4A4A-B61B-C4DF7FA05F0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0" name="Rectangle 9">
            <a:extLst>
              <a:ext uri="{FF2B5EF4-FFF2-40B4-BE49-F238E27FC236}">
                <a16:creationId xmlns:a16="http://schemas.microsoft.com/office/drawing/2014/main" id="{047BFA19-D45E-416B-A404-7AF2F3F270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58209" y="0"/>
            <a:ext cx="11167447" cy="2018806"/>
          </a:xfrm>
          <a:prstGeom prst="rect">
            <a:avLst/>
          </a:prstGeom>
          <a:ln w="9525">
            <a:solidFill>
              <a:srgbClr val="E1E1E1"/>
            </a:solidFill>
          </a:ln>
          <a:effectLst>
            <a:outerShdw blurRad="50800" dist="38100" dir="2700000" algn="t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2" name="Rectangle 11">
            <a:extLst>
              <a:ext uri="{FF2B5EF4-FFF2-40B4-BE49-F238E27FC236}">
                <a16:creationId xmlns:a16="http://schemas.microsoft.com/office/drawing/2014/main" id="{8E0105E7-23DB-4CF2-8258-FF47C7620F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6928" y="0"/>
            <a:ext cx="11155680" cy="2011680"/>
          </a:xfrm>
          <a:prstGeom prst="rect">
            <a:avLst/>
          </a:pr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B36C6A35-0E39-4378-9CD7-201EC6EC300D}"/>
              </a:ext>
            </a:extLst>
          </p:cNvPr>
          <p:cNvSpPr>
            <a:spLocks noGrp="1"/>
          </p:cNvSpPr>
          <p:nvPr>
            <p:ph type="title"/>
          </p:nvPr>
        </p:nvSpPr>
        <p:spPr>
          <a:xfrm>
            <a:off x="1057868" y="521208"/>
            <a:ext cx="10168128" cy="1179576"/>
          </a:xfrm>
        </p:spPr>
        <p:txBody>
          <a:bodyPr>
            <a:normAutofit fontScale="90000"/>
          </a:bodyPr>
          <a:lstStyle/>
          <a:p>
            <a:r>
              <a:rPr lang="en-US" sz="4800" dirty="0"/>
              <a:t>Hypopituitarism: TSH Deficiency Lab &amp; Treatment</a:t>
            </a:r>
          </a:p>
        </p:txBody>
      </p:sp>
      <p:sp>
        <p:nvSpPr>
          <p:cNvPr id="14" name="Rectangle 13">
            <a:extLst>
              <a:ext uri="{FF2B5EF4-FFF2-40B4-BE49-F238E27FC236}">
                <a16:creationId xmlns:a16="http://schemas.microsoft.com/office/drawing/2014/main" id="{074B4F7D-14B2-478B-8BF5-01E4E0C5D26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8834" y="758952"/>
            <a:ext cx="128016"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3" name="Content Placeholder 2">
            <a:extLst>
              <a:ext uri="{FF2B5EF4-FFF2-40B4-BE49-F238E27FC236}">
                <a16:creationId xmlns:a16="http://schemas.microsoft.com/office/drawing/2014/main" id="{5A931A4D-F3EA-45A5-ABC5-89AA900135C2}"/>
              </a:ext>
            </a:extLst>
          </p:cNvPr>
          <p:cNvSpPr>
            <a:spLocks noGrp="1"/>
          </p:cNvSpPr>
          <p:nvPr>
            <p:ph idx="1"/>
          </p:nvPr>
        </p:nvSpPr>
        <p:spPr>
          <a:xfrm>
            <a:off x="566928" y="2320083"/>
            <a:ext cx="11454087" cy="4693365"/>
          </a:xfrm>
        </p:spPr>
        <p:txBody>
          <a:bodyPr>
            <a:normAutofit/>
          </a:bodyPr>
          <a:lstStyle/>
          <a:p>
            <a:r>
              <a:rPr lang="en-US" sz="3600" dirty="0"/>
              <a:t>Patients will have a </a:t>
            </a:r>
            <a:r>
              <a:rPr lang="en-US" sz="3600" b="1" dirty="0"/>
              <a:t>low T4 </a:t>
            </a:r>
            <a:r>
              <a:rPr lang="en-US" sz="3600" dirty="0"/>
              <a:t>with a TSH that may be </a:t>
            </a:r>
            <a:r>
              <a:rPr lang="en-US" sz="3600" b="1" dirty="0"/>
              <a:t>low</a:t>
            </a:r>
            <a:r>
              <a:rPr lang="en-US" sz="3600" dirty="0"/>
              <a:t>, normal or mildly elevated </a:t>
            </a:r>
          </a:p>
          <a:p>
            <a:pPr lvl="1"/>
            <a:r>
              <a:rPr lang="en-US" sz="2800" dirty="0"/>
              <a:t>Normal or elevated is partly due to TSH that is secreted but has abnormally reduced biologic activity </a:t>
            </a:r>
          </a:p>
          <a:p>
            <a:pPr lvl="1"/>
            <a:r>
              <a:rPr lang="en-US" sz="2800" dirty="0"/>
              <a:t>Suspicious labs warrant MRI imaging of the hypothalamic-pituitary region</a:t>
            </a:r>
            <a:endParaRPr lang="en-US" sz="3200" dirty="0"/>
          </a:p>
          <a:p>
            <a:r>
              <a:rPr lang="en-US" sz="3600" dirty="0"/>
              <a:t>Treat with </a:t>
            </a:r>
            <a:r>
              <a:rPr lang="en-US" sz="3600" b="1" dirty="0"/>
              <a:t>Levothyroxine (Synthroid) </a:t>
            </a:r>
          </a:p>
          <a:p>
            <a:pPr lvl="1"/>
            <a:r>
              <a:rPr lang="en-US" sz="3200" dirty="0"/>
              <a:t>Special consideration: Treat </a:t>
            </a:r>
            <a:r>
              <a:rPr lang="en-US" sz="3200" b="1" dirty="0"/>
              <a:t>after the patient is assessed for cortisol deficiency</a:t>
            </a:r>
            <a:r>
              <a:rPr lang="en-US" sz="3200" dirty="0"/>
              <a:t> or is already receiving corticosteroids. </a:t>
            </a:r>
          </a:p>
        </p:txBody>
      </p:sp>
    </p:spTree>
    <p:extLst>
      <p:ext uri="{BB962C8B-B14F-4D97-AF65-F5344CB8AC3E}">
        <p14:creationId xmlns:p14="http://schemas.microsoft.com/office/powerpoint/2010/main" val="945246899"/>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C6A5F9-ECC9-57F1-851F-8C7C412E48E0}"/>
              </a:ext>
            </a:extLst>
          </p:cNvPr>
          <p:cNvSpPr>
            <a:spLocks noGrp="1"/>
          </p:cNvSpPr>
          <p:nvPr>
            <p:ph type="title"/>
          </p:nvPr>
        </p:nvSpPr>
        <p:spPr/>
        <p:txBody>
          <a:bodyPr/>
          <a:lstStyle/>
          <a:p>
            <a:r>
              <a:rPr lang="en-US" dirty="0"/>
              <a:t>Pituitary Growths</a:t>
            </a:r>
          </a:p>
        </p:txBody>
      </p:sp>
    </p:spTree>
    <p:extLst>
      <p:ext uri="{BB962C8B-B14F-4D97-AF65-F5344CB8AC3E}">
        <p14:creationId xmlns:p14="http://schemas.microsoft.com/office/powerpoint/2010/main" val="272232713"/>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DAF1966E-FD40-4A4A-B61B-C4DF7FA05F0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0" name="Rectangle 9">
            <a:extLst>
              <a:ext uri="{FF2B5EF4-FFF2-40B4-BE49-F238E27FC236}">
                <a16:creationId xmlns:a16="http://schemas.microsoft.com/office/drawing/2014/main" id="{047BFA19-D45E-416B-A404-7AF2F3F270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58209" y="0"/>
            <a:ext cx="11167447" cy="2018806"/>
          </a:xfrm>
          <a:prstGeom prst="rect">
            <a:avLst/>
          </a:prstGeom>
          <a:ln w="9525">
            <a:solidFill>
              <a:srgbClr val="E1E1E1"/>
            </a:solidFill>
          </a:ln>
          <a:effectLst>
            <a:outerShdw blurRad="50800" dist="38100" dir="2700000" algn="t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2" name="Rectangle 11">
            <a:extLst>
              <a:ext uri="{FF2B5EF4-FFF2-40B4-BE49-F238E27FC236}">
                <a16:creationId xmlns:a16="http://schemas.microsoft.com/office/drawing/2014/main" id="{8E0105E7-23DB-4CF2-8258-FF47C7620F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6928" y="0"/>
            <a:ext cx="11155680" cy="2011680"/>
          </a:xfrm>
          <a:prstGeom prst="rect">
            <a:avLst/>
          </a:pr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FE7735A2-8C6E-4DB8-A1A5-E3B366E9DCB8}"/>
              </a:ext>
            </a:extLst>
          </p:cNvPr>
          <p:cNvSpPr>
            <a:spLocks noGrp="1"/>
          </p:cNvSpPr>
          <p:nvPr>
            <p:ph type="title"/>
          </p:nvPr>
        </p:nvSpPr>
        <p:spPr>
          <a:xfrm>
            <a:off x="1115568" y="548640"/>
            <a:ext cx="10168128" cy="1179576"/>
          </a:xfrm>
        </p:spPr>
        <p:txBody>
          <a:bodyPr>
            <a:normAutofit/>
          </a:bodyPr>
          <a:lstStyle/>
          <a:p>
            <a:r>
              <a:rPr lang="en-US" sz="4800" err="1"/>
              <a:t>Sellar</a:t>
            </a:r>
            <a:r>
              <a:rPr lang="en-US" sz="4800"/>
              <a:t> Masses </a:t>
            </a:r>
          </a:p>
        </p:txBody>
      </p:sp>
      <p:sp>
        <p:nvSpPr>
          <p:cNvPr id="14" name="Rectangle 13">
            <a:extLst>
              <a:ext uri="{FF2B5EF4-FFF2-40B4-BE49-F238E27FC236}">
                <a16:creationId xmlns:a16="http://schemas.microsoft.com/office/drawing/2014/main" id="{074B4F7D-14B2-478B-8BF5-01E4E0C5D26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8834" y="758952"/>
            <a:ext cx="128016"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3" name="Content Placeholder 2">
            <a:extLst>
              <a:ext uri="{FF2B5EF4-FFF2-40B4-BE49-F238E27FC236}">
                <a16:creationId xmlns:a16="http://schemas.microsoft.com/office/drawing/2014/main" id="{DEE709BC-C689-4598-A064-C52C6A03EF24}"/>
              </a:ext>
            </a:extLst>
          </p:cNvPr>
          <p:cNvSpPr>
            <a:spLocks noGrp="1"/>
          </p:cNvSpPr>
          <p:nvPr>
            <p:ph idx="1"/>
          </p:nvPr>
        </p:nvSpPr>
        <p:spPr>
          <a:xfrm>
            <a:off x="566929" y="2363724"/>
            <a:ext cx="11155679" cy="4636008"/>
          </a:xfrm>
        </p:spPr>
        <p:txBody>
          <a:bodyPr>
            <a:normAutofit/>
          </a:bodyPr>
          <a:lstStyle/>
          <a:p>
            <a:r>
              <a:rPr lang="en-US" sz="3600"/>
              <a:t>Mostly benign growths of pituitary or nonpituitary origin </a:t>
            </a:r>
          </a:p>
          <a:p>
            <a:r>
              <a:rPr lang="en-US" sz="3600"/>
              <a:t>Approximately 90% of </a:t>
            </a:r>
            <a:r>
              <a:rPr lang="en-US" sz="3600" err="1"/>
              <a:t>sellar</a:t>
            </a:r>
            <a:r>
              <a:rPr lang="en-US" sz="3600"/>
              <a:t> masses are </a:t>
            </a:r>
            <a:r>
              <a:rPr lang="en-US" sz="3600" b="1"/>
              <a:t>pituitary adenomas</a:t>
            </a:r>
            <a:r>
              <a:rPr lang="en-US" sz="3600"/>
              <a:t>. </a:t>
            </a:r>
          </a:p>
          <a:p>
            <a:r>
              <a:rPr lang="en-US" sz="3600" err="1"/>
              <a:t>Sellar</a:t>
            </a:r>
            <a:r>
              <a:rPr lang="en-US" sz="3600"/>
              <a:t> masses also include craniopharyngiomas (solid or mixed solid-cystic tumors), meningiomas, cysts, or malignant/metastatic tumors </a:t>
            </a:r>
          </a:p>
        </p:txBody>
      </p:sp>
    </p:spTree>
    <p:extLst>
      <p:ext uri="{BB962C8B-B14F-4D97-AF65-F5344CB8AC3E}">
        <p14:creationId xmlns:p14="http://schemas.microsoft.com/office/powerpoint/2010/main" val="3469436890"/>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0C5D91-F4D4-4362-816C-EAB1E33A5E81}"/>
              </a:ext>
            </a:extLst>
          </p:cNvPr>
          <p:cNvSpPr>
            <a:spLocks noGrp="1"/>
          </p:cNvSpPr>
          <p:nvPr>
            <p:ph type="title"/>
          </p:nvPr>
        </p:nvSpPr>
        <p:spPr>
          <a:xfrm>
            <a:off x="838200" y="214518"/>
            <a:ext cx="10515600" cy="1325563"/>
          </a:xfrm>
        </p:spPr>
        <p:txBody>
          <a:bodyPr>
            <a:normAutofit/>
          </a:bodyPr>
          <a:lstStyle/>
          <a:p>
            <a:pPr algn="ctr"/>
            <a:r>
              <a:rPr lang="en-US" sz="4800" err="1"/>
              <a:t>Sellar</a:t>
            </a:r>
            <a:r>
              <a:rPr lang="en-US" sz="4800"/>
              <a:t> Region</a:t>
            </a:r>
          </a:p>
        </p:txBody>
      </p:sp>
      <p:pic>
        <p:nvPicPr>
          <p:cNvPr id="4098" name="Picture 2">
            <a:extLst>
              <a:ext uri="{FF2B5EF4-FFF2-40B4-BE49-F238E27FC236}">
                <a16:creationId xmlns:a16="http://schemas.microsoft.com/office/drawing/2014/main" id="{E4856392-BB1A-44ED-8DD4-4920F2C0151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60810" y="1540081"/>
            <a:ext cx="11101500" cy="481696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64011960"/>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0B9EE3F3-89B7-43C3-8651-C4C96830993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9F1F2ED-D4CA-4BB1-B890-F4B980BA3DE5}"/>
              </a:ext>
            </a:extLst>
          </p:cNvPr>
          <p:cNvSpPr>
            <a:spLocks noGrp="1"/>
          </p:cNvSpPr>
          <p:nvPr>
            <p:ph type="title"/>
          </p:nvPr>
        </p:nvSpPr>
        <p:spPr>
          <a:xfrm>
            <a:off x="411479" y="831962"/>
            <a:ext cx="6279253" cy="1453579"/>
          </a:xfrm>
        </p:spPr>
        <p:txBody>
          <a:bodyPr anchor="b">
            <a:normAutofit/>
          </a:bodyPr>
          <a:lstStyle/>
          <a:p>
            <a:r>
              <a:rPr lang="en-US" err="1"/>
              <a:t>Sellar</a:t>
            </a:r>
            <a:r>
              <a:rPr lang="en-US"/>
              <a:t> masses: </a:t>
            </a:r>
            <a:br>
              <a:rPr lang="en-US"/>
            </a:br>
            <a:r>
              <a:rPr lang="en-US"/>
              <a:t>Mass effect</a:t>
            </a:r>
          </a:p>
        </p:txBody>
      </p:sp>
      <p:sp>
        <p:nvSpPr>
          <p:cNvPr id="11" name="Rectangle 10">
            <a:extLst>
              <a:ext uri="{FF2B5EF4-FFF2-40B4-BE49-F238E27FC236}">
                <a16:creationId xmlns:a16="http://schemas.microsoft.com/office/drawing/2014/main" id="{33AE4636-AEEC-45D6-84D4-7AC2DA48ECF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649223" y="387939"/>
            <a:ext cx="73152" cy="54864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13" name="Rectangle 12">
            <a:extLst>
              <a:ext uri="{FF2B5EF4-FFF2-40B4-BE49-F238E27FC236}">
                <a16:creationId xmlns:a16="http://schemas.microsoft.com/office/drawing/2014/main" id="{8D9CE0F4-2EB2-4F1F-8AAC-DB3571D9FE1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11480" y="2285541"/>
            <a:ext cx="4389120"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3" name="Content Placeholder 2">
            <a:extLst>
              <a:ext uri="{FF2B5EF4-FFF2-40B4-BE49-F238E27FC236}">
                <a16:creationId xmlns:a16="http://schemas.microsoft.com/office/drawing/2014/main" id="{AAD87414-DFE5-4AD7-A6B9-50CAD07904CC}"/>
              </a:ext>
            </a:extLst>
          </p:cNvPr>
          <p:cNvSpPr>
            <a:spLocks noGrp="1"/>
          </p:cNvSpPr>
          <p:nvPr>
            <p:ph idx="1"/>
          </p:nvPr>
        </p:nvSpPr>
        <p:spPr>
          <a:xfrm>
            <a:off x="411480" y="2418668"/>
            <a:ext cx="6591486" cy="4590257"/>
          </a:xfrm>
        </p:spPr>
        <p:txBody>
          <a:bodyPr>
            <a:normAutofit/>
          </a:bodyPr>
          <a:lstStyle/>
          <a:p>
            <a:r>
              <a:rPr lang="en-US" sz="3200"/>
              <a:t>As the mass expands, it first compresses intrasellar pituitary tissue, then invades dorsally to lift the optic chiasm or laterally to the cavernous sinuses, cranial nerves.</a:t>
            </a:r>
          </a:p>
          <a:p>
            <a:r>
              <a:rPr lang="en-US" sz="3200"/>
              <a:t>Pituitary compression leads to </a:t>
            </a:r>
            <a:r>
              <a:rPr lang="en-US" sz="3200" u="sng"/>
              <a:t>hypopituitarism </a:t>
            </a:r>
            <a:r>
              <a:rPr lang="en-US" sz="3200"/>
              <a:t>and optic chiasm compression leads to </a:t>
            </a:r>
            <a:r>
              <a:rPr lang="en-US" sz="3200" u="sng"/>
              <a:t>bitemporal hemianopia </a:t>
            </a:r>
          </a:p>
          <a:p>
            <a:endParaRPr lang="en-US" sz="1800"/>
          </a:p>
          <a:p>
            <a:endParaRPr lang="en-US" sz="1800" b="1"/>
          </a:p>
          <a:p>
            <a:endParaRPr lang="en-US" sz="1800" b="1"/>
          </a:p>
          <a:p>
            <a:endParaRPr lang="en-US" sz="1800" b="1"/>
          </a:p>
          <a:p>
            <a:endParaRPr lang="en-US" sz="1800" b="1"/>
          </a:p>
          <a:p>
            <a:pPr marL="0" indent="0">
              <a:buNone/>
            </a:pPr>
            <a:endParaRPr lang="en-US" sz="1800" b="1"/>
          </a:p>
          <a:p>
            <a:endParaRPr lang="en-US" sz="1800"/>
          </a:p>
        </p:txBody>
      </p:sp>
      <p:pic>
        <p:nvPicPr>
          <p:cNvPr id="4" name="Picture 3">
            <a:extLst>
              <a:ext uri="{FF2B5EF4-FFF2-40B4-BE49-F238E27FC236}">
                <a16:creationId xmlns:a16="http://schemas.microsoft.com/office/drawing/2014/main" id="{7C1BDAB0-1AB3-430D-A05A-E5131BCECFE6}"/>
              </a:ext>
            </a:extLst>
          </p:cNvPr>
          <p:cNvPicPr>
            <a:picLocks noChangeAspect="1" noChangeArrowheads="1"/>
          </p:cNvPicPr>
          <p:nvPr/>
        </p:nvPicPr>
        <p:blipFill rotWithShape="1">
          <a:blip r:embed="rId3" cstate="print"/>
          <a:srcRect l="4757" t="2449" r="4950" b="4500"/>
          <a:stretch/>
        </p:blipFill>
        <p:spPr bwMode="auto">
          <a:xfrm>
            <a:off x="7296058" y="602234"/>
            <a:ext cx="4484462" cy="5551280"/>
          </a:xfrm>
          <a:prstGeom prst="rect">
            <a:avLst/>
          </a:prstGeom>
          <a:noFill/>
        </p:spPr>
      </p:pic>
    </p:spTree>
    <p:extLst>
      <p:ext uri="{BB962C8B-B14F-4D97-AF65-F5344CB8AC3E}">
        <p14:creationId xmlns:p14="http://schemas.microsoft.com/office/powerpoint/2010/main" val="2707388334"/>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56D442E8-01FF-4B7A-95CC-139BC9891892}"/>
              </a:ext>
            </a:extLst>
          </p:cNvPr>
          <p:cNvSpPr>
            <a:spLocks noGrp="1"/>
          </p:cNvSpPr>
          <p:nvPr>
            <p:ph type="title"/>
          </p:nvPr>
        </p:nvSpPr>
        <p:spPr>
          <a:xfrm>
            <a:off x="838200" y="253308"/>
            <a:ext cx="10515600" cy="1325563"/>
          </a:xfrm>
        </p:spPr>
        <p:txBody>
          <a:bodyPr/>
          <a:lstStyle/>
          <a:p>
            <a:pPr algn="ctr"/>
            <a:r>
              <a:rPr lang="en-US"/>
              <a:t>Visual Pathway – Bitemporal Hemianopia</a:t>
            </a:r>
          </a:p>
        </p:txBody>
      </p:sp>
      <p:pic>
        <p:nvPicPr>
          <p:cNvPr id="5" name="Picture 4">
            <a:extLst>
              <a:ext uri="{FF2B5EF4-FFF2-40B4-BE49-F238E27FC236}">
                <a16:creationId xmlns:a16="http://schemas.microsoft.com/office/drawing/2014/main" id="{E0FCA9AC-4944-4EF1-85CE-F2B7A02468C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832378" y="1690688"/>
            <a:ext cx="8527244" cy="491400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520840721"/>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B2F1DC-A58B-4469-BA55-EBA42082DA12}"/>
              </a:ext>
            </a:extLst>
          </p:cNvPr>
          <p:cNvSpPr>
            <a:spLocks noGrp="1"/>
          </p:cNvSpPr>
          <p:nvPr>
            <p:ph type="title"/>
          </p:nvPr>
        </p:nvSpPr>
        <p:spPr>
          <a:xfrm>
            <a:off x="956254" y="-84707"/>
            <a:ext cx="10515600" cy="1325563"/>
          </a:xfrm>
        </p:spPr>
        <p:txBody>
          <a:bodyPr/>
          <a:lstStyle/>
          <a:p>
            <a:pPr algn="ctr"/>
            <a:r>
              <a:rPr lang="en-US"/>
              <a:t>Bitemporal Hemianopia </a:t>
            </a:r>
          </a:p>
        </p:txBody>
      </p:sp>
      <p:pic>
        <p:nvPicPr>
          <p:cNvPr id="3" name="Picture 2">
            <a:extLst>
              <a:ext uri="{FF2B5EF4-FFF2-40B4-BE49-F238E27FC236}">
                <a16:creationId xmlns:a16="http://schemas.microsoft.com/office/drawing/2014/main" id="{E930FA9C-29AA-405E-9C72-77E58598C6CB}"/>
              </a:ext>
            </a:extLst>
          </p:cNvPr>
          <p:cNvPicPr>
            <a:picLocks noChangeAspect="1"/>
          </p:cNvPicPr>
          <p:nvPr/>
        </p:nvPicPr>
        <p:blipFill>
          <a:blip r:embed="rId3"/>
          <a:stretch>
            <a:fillRect/>
          </a:stretch>
        </p:blipFill>
        <p:spPr>
          <a:xfrm>
            <a:off x="580016" y="1134147"/>
            <a:ext cx="11268075" cy="5667375"/>
          </a:xfrm>
          <a:prstGeom prst="rect">
            <a:avLst/>
          </a:prstGeom>
        </p:spPr>
      </p:pic>
    </p:spTree>
    <p:extLst>
      <p:ext uri="{BB962C8B-B14F-4D97-AF65-F5344CB8AC3E}">
        <p14:creationId xmlns:p14="http://schemas.microsoft.com/office/powerpoint/2010/main" val="3082216630"/>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DAF1966E-FD40-4A4A-B61B-C4DF7FA05F0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0" name="Rectangle 9">
            <a:extLst>
              <a:ext uri="{FF2B5EF4-FFF2-40B4-BE49-F238E27FC236}">
                <a16:creationId xmlns:a16="http://schemas.microsoft.com/office/drawing/2014/main" id="{047BFA19-D45E-416B-A404-7AF2F3F270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58209" y="0"/>
            <a:ext cx="11167447" cy="2018806"/>
          </a:xfrm>
          <a:prstGeom prst="rect">
            <a:avLst/>
          </a:prstGeom>
          <a:ln w="9525">
            <a:solidFill>
              <a:srgbClr val="E1E1E1"/>
            </a:solidFill>
          </a:ln>
          <a:effectLst>
            <a:outerShdw blurRad="50800" dist="38100" dir="2700000" algn="t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2" name="Rectangle 11">
            <a:extLst>
              <a:ext uri="{FF2B5EF4-FFF2-40B4-BE49-F238E27FC236}">
                <a16:creationId xmlns:a16="http://schemas.microsoft.com/office/drawing/2014/main" id="{8E0105E7-23DB-4CF2-8258-FF47C7620F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6928" y="0"/>
            <a:ext cx="11155680" cy="2011680"/>
          </a:xfrm>
          <a:prstGeom prst="rect">
            <a:avLst/>
          </a:pr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FE7735A2-8C6E-4DB8-A1A5-E3B366E9DCB8}"/>
              </a:ext>
            </a:extLst>
          </p:cNvPr>
          <p:cNvSpPr>
            <a:spLocks noGrp="1"/>
          </p:cNvSpPr>
          <p:nvPr>
            <p:ph type="title"/>
          </p:nvPr>
        </p:nvSpPr>
        <p:spPr>
          <a:xfrm>
            <a:off x="1115568" y="548640"/>
            <a:ext cx="10168128" cy="1179576"/>
          </a:xfrm>
        </p:spPr>
        <p:txBody>
          <a:bodyPr>
            <a:normAutofit/>
          </a:bodyPr>
          <a:lstStyle/>
          <a:p>
            <a:r>
              <a:rPr lang="en-US" sz="4800" err="1"/>
              <a:t>Sellar</a:t>
            </a:r>
            <a:r>
              <a:rPr lang="en-US" sz="4800"/>
              <a:t> Masses: Other Manifestations </a:t>
            </a:r>
          </a:p>
        </p:txBody>
      </p:sp>
      <p:sp>
        <p:nvSpPr>
          <p:cNvPr id="14" name="Rectangle 13">
            <a:extLst>
              <a:ext uri="{FF2B5EF4-FFF2-40B4-BE49-F238E27FC236}">
                <a16:creationId xmlns:a16="http://schemas.microsoft.com/office/drawing/2014/main" id="{074B4F7D-14B2-478B-8BF5-01E4E0C5D26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8834" y="758952"/>
            <a:ext cx="128016"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3" name="Content Placeholder 2">
            <a:extLst>
              <a:ext uri="{FF2B5EF4-FFF2-40B4-BE49-F238E27FC236}">
                <a16:creationId xmlns:a16="http://schemas.microsoft.com/office/drawing/2014/main" id="{DEE709BC-C689-4598-A064-C52C6A03EF24}"/>
              </a:ext>
            </a:extLst>
          </p:cNvPr>
          <p:cNvSpPr>
            <a:spLocks noGrp="1"/>
          </p:cNvSpPr>
          <p:nvPr>
            <p:ph idx="1"/>
          </p:nvPr>
        </p:nvSpPr>
        <p:spPr>
          <a:xfrm>
            <a:off x="621792" y="2221992"/>
            <a:ext cx="11155679" cy="4636008"/>
          </a:xfrm>
        </p:spPr>
        <p:txBody>
          <a:bodyPr>
            <a:normAutofit/>
          </a:body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US" sz="3200" b="0" i="0" u="none" strike="noStrike" kern="1200" cap="none" spc="0" normalizeH="0" baseline="0" noProof="0">
                <a:ln>
                  <a:noFill/>
                </a:ln>
                <a:solidFill>
                  <a:prstClr val="black"/>
                </a:solidFill>
                <a:effectLst/>
                <a:uLnTx/>
                <a:uFillTx/>
                <a:latin typeface="Calibri" panose="020F0502020204030204"/>
                <a:ea typeface="+mn-ea"/>
                <a:cs typeface="+mn-cs"/>
              </a:rPr>
              <a:t>Headaches  (increased pressure on the </a:t>
            </a:r>
            <a:r>
              <a:rPr kumimoji="0" lang="en-US" sz="3200" b="0" i="0" u="none" strike="noStrike" kern="1200" cap="none" spc="0" normalizeH="0" baseline="0" noProof="0" err="1">
                <a:ln>
                  <a:noFill/>
                </a:ln>
                <a:solidFill>
                  <a:prstClr val="black"/>
                </a:solidFill>
                <a:effectLst/>
                <a:uLnTx/>
                <a:uFillTx/>
                <a:latin typeface="Calibri" panose="020F0502020204030204"/>
                <a:ea typeface="+mn-ea"/>
                <a:cs typeface="+mn-cs"/>
              </a:rPr>
              <a:t>dural</a:t>
            </a:r>
            <a:r>
              <a:rPr kumimoji="0" lang="en-US" sz="3200" b="0" i="0" u="none" strike="noStrike" kern="1200" cap="none" spc="0" normalizeH="0" baseline="0" noProof="0">
                <a:ln>
                  <a:noFill/>
                </a:ln>
                <a:solidFill>
                  <a:prstClr val="black"/>
                </a:solidFill>
                <a:effectLst/>
                <a:uLnTx/>
                <a:uFillTx/>
                <a:latin typeface="Calibri" panose="020F0502020204030204"/>
                <a:ea typeface="+mn-ea"/>
                <a:cs typeface="+mn-cs"/>
              </a:rPr>
              <a:t> diaphragm)</a:t>
            </a: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US" sz="3200" b="0" i="0" u="none" strike="noStrike" kern="1200" cap="none" spc="0" normalizeH="0" baseline="0" noProof="0">
                <a:ln>
                  <a:noFill/>
                </a:ln>
                <a:solidFill>
                  <a:prstClr val="black"/>
                </a:solidFill>
                <a:effectLst/>
                <a:uLnTx/>
                <a:uFillTx/>
                <a:latin typeface="Calibri" panose="020F0502020204030204"/>
                <a:ea typeface="+mn-ea"/>
                <a:cs typeface="+mn-cs"/>
              </a:rPr>
              <a:t>Diplopia (compression of CN III, IV, VI)</a:t>
            </a: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US" sz="3200" b="0" i="0" u="none" strike="noStrike" kern="1200" cap="none" spc="0" normalizeH="0" baseline="0" noProof="0">
                <a:ln>
                  <a:noFill/>
                </a:ln>
                <a:solidFill>
                  <a:prstClr val="black"/>
                </a:solidFill>
                <a:effectLst/>
                <a:uLnTx/>
                <a:uFillTx/>
                <a:latin typeface="Calibri" panose="020F0502020204030204"/>
                <a:ea typeface="+mn-ea"/>
                <a:cs typeface="+mn-cs"/>
              </a:rPr>
              <a:t>Facial pain/numbness (compression of trigeminal nerve (V))</a:t>
            </a: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US" sz="3200" b="0" i="0" u="none" strike="noStrike" kern="1200" cap="none" spc="0" normalizeH="0" baseline="0" noProof="0">
                <a:ln>
                  <a:noFill/>
                </a:ln>
                <a:solidFill>
                  <a:prstClr val="black"/>
                </a:solidFill>
                <a:effectLst/>
                <a:uLnTx/>
                <a:uFillTx/>
                <a:latin typeface="Calibri" panose="020F0502020204030204"/>
                <a:ea typeface="+mn-ea"/>
                <a:cs typeface="+mn-cs"/>
              </a:rPr>
              <a:t>Partial complex seizures (temporal lobe compression)</a:t>
            </a: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US" sz="3200" b="0" i="0" u="none" strike="noStrike" kern="1200" cap="none" spc="0" normalizeH="0" baseline="0" noProof="0">
                <a:ln>
                  <a:noFill/>
                </a:ln>
                <a:solidFill>
                  <a:prstClr val="black"/>
                </a:solidFill>
                <a:effectLst/>
                <a:uLnTx/>
                <a:uFillTx/>
                <a:latin typeface="Calibri" panose="020F0502020204030204"/>
                <a:ea typeface="+mn-ea"/>
                <a:cs typeface="+mn-cs"/>
              </a:rPr>
              <a:t>Hydrocephalus (compression of third ventricle)</a:t>
            </a:r>
          </a:p>
          <a:p>
            <a:endParaRPr lang="en-US" sz="3600"/>
          </a:p>
        </p:txBody>
      </p:sp>
      <p:sp>
        <p:nvSpPr>
          <p:cNvPr id="4" name="TextBox 3">
            <a:extLst>
              <a:ext uri="{FF2B5EF4-FFF2-40B4-BE49-F238E27FC236}">
                <a16:creationId xmlns:a16="http://schemas.microsoft.com/office/drawing/2014/main" id="{7D7FBD64-F3E0-2C60-35C5-56D59C634EED}"/>
              </a:ext>
            </a:extLst>
          </p:cNvPr>
          <p:cNvSpPr txBox="1"/>
          <p:nvPr/>
        </p:nvSpPr>
        <p:spPr>
          <a:xfrm>
            <a:off x="1633010" y="5289190"/>
            <a:ext cx="9133242" cy="1354217"/>
          </a:xfrm>
          <a:prstGeom prst="rect">
            <a:avLst/>
          </a:prstGeom>
          <a:noFill/>
          <a:ln w="19050">
            <a:solidFill>
              <a:schemeClr val="tx1"/>
            </a:solidFill>
          </a:ln>
        </p:spPr>
        <p:txBody>
          <a:bodyPr wrap="square" rtlCol="0" anchor="ctr">
            <a:spAutoFit/>
          </a:bodyPr>
          <a:lstStyle/>
          <a:p>
            <a:r>
              <a:rPr lang="en-US" sz="3200" b="1"/>
              <a:t>They may also present with symptoms of hormone excess if the mass is a functional pituitary adenoma</a:t>
            </a:r>
          </a:p>
          <a:p>
            <a:endParaRPr lang="en-US"/>
          </a:p>
        </p:txBody>
      </p:sp>
    </p:spTree>
    <p:extLst>
      <p:ext uri="{BB962C8B-B14F-4D97-AF65-F5344CB8AC3E}">
        <p14:creationId xmlns:p14="http://schemas.microsoft.com/office/powerpoint/2010/main" val="1491048236"/>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DAF1966E-FD40-4A4A-B61B-C4DF7FA05F0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0" name="Rectangle 9">
            <a:extLst>
              <a:ext uri="{FF2B5EF4-FFF2-40B4-BE49-F238E27FC236}">
                <a16:creationId xmlns:a16="http://schemas.microsoft.com/office/drawing/2014/main" id="{047BFA19-D45E-416B-A404-7AF2F3F270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58209" y="0"/>
            <a:ext cx="11167447" cy="2018806"/>
          </a:xfrm>
          <a:prstGeom prst="rect">
            <a:avLst/>
          </a:prstGeom>
          <a:ln w="9525">
            <a:solidFill>
              <a:srgbClr val="E1E1E1"/>
            </a:solidFill>
          </a:ln>
          <a:effectLst>
            <a:outerShdw blurRad="50800" dist="38100" dir="2700000" algn="t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2" name="Rectangle 11">
            <a:extLst>
              <a:ext uri="{FF2B5EF4-FFF2-40B4-BE49-F238E27FC236}">
                <a16:creationId xmlns:a16="http://schemas.microsoft.com/office/drawing/2014/main" id="{8E0105E7-23DB-4CF2-8258-FF47C7620F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6928" y="0"/>
            <a:ext cx="11155680" cy="2011680"/>
          </a:xfrm>
          <a:prstGeom prst="rect">
            <a:avLst/>
          </a:pr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8DFD5B5B-6A62-4002-A98D-F55DBA5F610F}"/>
              </a:ext>
            </a:extLst>
          </p:cNvPr>
          <p:cNvSpPr>
            <a:spLocks noGrp="1"/>
          </p:cNvSpPr>
          <p:nvPr>
            <p:ph type="title"/>
          </p:nvPr>
        </p:nvSpPr>
        <p:spPr>
          <a:xfrm>
            <a:off x="1115568" y="548640"/>
            <a:ext cx="10168128" cy="1179576"/>
          </a:xfrm>
        </p:spPr>
        <p:txBody>
          <a:bodyPr>
            <a:normAutofit/>
          </a:bodyPr>
          <a:lstStyle/>
          <a:p>
            <a:r>
              <a:rPr lang="en-US" sz="4800"/>
              <a:t>Pituitary Adenomas</a:t>
            </a:r>
          </a:p>
        </p:txBody>
      </p:sp>
      <p:sp>
        <p:nvSpPr>
          <p:cNvPr id="14" name="Rectangle 13">
            <a:extLst>
              <a:ext uri="{FF2B5EF4-FFF2-40B4-BE49-F238E27FC236}">
                <a16:creationId xmlns:a16="http://schemas.microsoft.com/office/drawing/2014/main" id="{074B4F7D-14B2-478B-8BF5-01E4E0C5D26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8834" y="758952"/>
            <a:ext cx="128016"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3" name="Content Placeholder 2">
            <a:extLst>
              <a:ext uri="{FF2B5EF4-FFF2-40B4-BE49-F238E27FC236}">
                <a16:creationId xmlns:a16="http://schemas.microsoft.com/office/drawing/2014/main" id="{4F73EBA6-3D37-42D9-BA53-18BB9CB8CFE4}"/>
              </a:ext>
            </a:extLst>
          </p:cNvPr>
          <p:cNvSpPr>
            <a:spLocks noGrp="1"/>
          </p:cNvSpPr>
          <p:nvPr>
            <p:ph idx="1"/>
          </p:nvPr>
        </p:nvSpPr>
        <p:spPr>
          <a:xfrm>
            <a:off x="315373" y="1827525"/>
            <a:ext cx="6545433" cy="4665989"/>
          </a:xfrm>
        </p:spPr>
        <p:txBody>
          <a:bodyPr>
            <a:normAutofit fontScale="92500"/>
          </a:bodyPr>
          <a:lstStyle/>
          <a:p>
            <a:r>
              <a:rPr lang="en-US" sz="3600" b="1" dirty="0"/>
              <a:t>Most common benign tumor of the pituitary gland</a:t>
            </a:r>
          </a:p>
          <a:p>
            <a:r>
              <a:rPr lang="en-US" sz="3600" b="1" dirty="0"/>
              <a:t>Adenomas are benign neoplasms </a:t>
            </a:r>
            <a:r>
              <a:rPr lang="en-US" sz="3600" dirty="0"/>
              <a:t>that typically arise from one of the five </a:t>
            </a:r>
            <a:r>
              <a:rPr lang="en-US" sz="3600" b="1" dirty="0"/>
              <a:t>anterior</a:t>
            </a:r>
            <a:r>
              <a:rPr lang="en-US" sz="3600" dirty="0"/>
              <a:t> pituitary cell types</a:t>
            </a:r>
          </a:p>
          <a:p>
            <a:r>
              <a:rPr lang="en-US" sz="3600" b="1" dirty="0"/>
              <a:t>Most adenomas are nonfunctional </a:t>
            </a:r>
            <a:r>
              <a:rPr lang="en-US" sz="3600" dirty="0"/>
              <a:t>but can cause pituitary hypersecretion and hyposecretion syndromes </a:t>
            </a:r>
          </a:p>
        </p:txBody>
      </p:sp>
      <p:pic>
        <p:nvPicPr>
          <p:cNvPr id="6" name="Picture 5">
            <a:extLst>
              <a:ext uri="{FF2B5EF4-FFF2-40B4-BE49-F238E27FC236}">
                <a16:creationId xmlns:a16="http://schemas.microsoft.com/office/drawing/2014/main" id="{FC8B9275-3437-E0F2-366A-E134A0DBF707}"/>
              </a:ext>
            </a:extLst>
          </p:cNvPr>
          <p:cNvPicPr>
            <a:picLocks noChangeAspect="1"/>
          </p:cNvPicPr>
          <p:nvPr/>
        </p:nvPicPr>
        <p:blipFill>
          <a:blip r:embed="rId3"/>
          <a:stretch>
            <a:fillRect/>
          </a:stretch>
        </p:blipFill>
        <p:spPr>
          <a:xfrm>
            <a:off x="6920181" y="2011680"/>
            <a:ext cx="5331194" cy="4049008"/>
          </a:xfrm>
          <a:prstGeom prst="rect">
            <a:avLst/>
          </a:prstGeom>
        </p:spPr>
      </p:pic>
    </p:spTree>
    <p:extLst>
      <p:ext uri="{BB962C8B-B14F-4D97-AF65-F5344CB8AC3E}">
        <p14:creationId xmlns:p14="http://schemas.microsoft.com/office/powerpoint/2010/main" val="2726528376"/>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DAF1966E-FD40-4A4A-B61B-C4DF7FA05F0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0" name="Rectangle 9">
            <a:extLst>
              <a:ext uri="{FF2B5EF4-FFF2-40B4-BE49-F238E27FC236}">
                <a16:creationId xmlns:a16="http://schemas.microsoft.com/office/drawing/2014/main" id="{047BFA19-D45E-416B-A404-7AF2F3F270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58209" y="0"/>
            <a:ext cx="11167447" cy="2018806"/>
          </a:xfrm>
          <a:prstGeom prst="rect">
            <a:avLst/>
          </a:prstGeom>
          <a:ln w="9525">
            <a:solidFill>
              <a:srgbClr val="E1E1E1"/>
            </a:solidFill>
          </a:ln>
          <a:effectLst>
            <a:outerShdw blurRad="50800" dist="38100" dir="2700000" algn="t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2" name="Rectangle 11">
            <a:extLst>
              <a:ext uri="{FF2B5EF4-FFF2-40B4-BE49-F238E27FC236}">
                <a16:creationId xmlns:a16="http://schemas.microsoft.com/office/drawing/2014/main" id="{8E0105E7-23DB-4CF2-8258-FF47C7620F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6928" y="0"/>
            <a:ext cx="11155680" cy="2011680"/>
          </a:xfrm>
          <a:prstGeom prst="rect">
            <a:avLst/>
          </a:pr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350EC694-A99B-4135-9CA2-82E37D260F91}"/>
              </a:ext>
            </a:extLst>
          </p:cNvPr>
          <p:cNvSpPr>
            <a:spLocks noGrp="1"/>
          </p:cNvSpPr>
          <p:nvPr>
            <p:ph type="title"/>
          </p:nvPr>
        </p:nvSpPr>
        <p:spPr>
          <a:xfrm>
            <a:off x="1115568" y="548640"/>
            <a:ext cx="10168128" cy="1179576"/>
          </a:xfrm>
        </p:spPr>
        <p:txBody>
          <a:bodyPr>
            <a:normAutofit/>
          </a:bodyPr>
          <a:lstStyle/>
          <a:p>
            <a:r>
              <a:rPr lang="en-US" sz="4800" dirty="0"/>
              <a:t>Pituitary Adenomas</a:t>
            </a:r>
          </a:p>
        </p:txBody>
      </p:sp>
      <p:sp>
        <p:nvSpPr>
          <p:cNvPr id="14" name="Rectangle 13">
            <a:extLst>
              <a:ext uri="{FF2B5EF4-FFF2-40B4-BE49-F238E27FC236}">
                <a16:creationId xmlns:a16="http://schemas.microsoft.com/office/drawing/2014/main" id="{074B4F7D-14B2-478B-8BF5-01E4E0C5D26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8834" y="758952"/>
            <a:ext cx="128016"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3" name="Content Placeholder 2">
            <a:extLst>
              <a:ext uri="{FF2B5EF4-FFF2-40B4-BE49-F238E27FC236}">
                <a16:creationId xmlns:a16="http://schemas.microsoft.com/office/drawing/2014/main" id="{3BA36183-9D1E-4075-9F0C-0F8B191FB3CE}"/>
              </a:ext>
            </a:extLst>
          </p:cNvPr>
          <p:cNvSpPr>
            <a:spLocks noGrp="1"/>
          </p:cNvSpPr>
          <p:nvPr>
            <p:ph idx="1"/>
          </p:nvPr>
        </p:nvSpPr>
        <p:spPr>
          <a:xfrm>
            <a:off x="566928" y="2276856"/>
            <a:ext cx="11074945" cy="4393581"/>
          </a:xfrm>
        </p:spPr>
        <p:txBody>
          <a:bodyPr>
            <a:normAutofit/>
          </a:bodyPr>
          <a:lstStyle/>
          <a:p>
            <a:r>
              <a:rPr lang="en-US" sz="3600" dirty="0"/>
              <a:t>If functional, tumors arising from anterior pituitary cells </a:t>
            </a:r>
            <a:r>
              <a:rPr lang="en-US" sz="3600" b="1" dirty="0" err="1"/>
              <a:t>hypersecrete</a:t>
            </a:r>
            <a:r>
              <a:rPr lang="en-US" sz="3600" b="1" dirty="0"/>
              <a:t> their respective hormones</a:t>
            </a:r>
          </a:p>
          <a:p>
            <a:pPr lvl="1"/>
            <a:r>
              <a:rPr lang="en-US" sz="3200" dirty="0"/>
              <a:t>The most common hypersecretion syndrome is that of </a:t>
            </a:r>
            <a:r>
              <a:rPr lang="en-US" sz="3200" b="1" dirty="0"/>
              <a:t>lactotroph cells</a:t>
            </a:r>
            <a:r>
              <a:rPr lang="en-US" sz="3200" dirty="0"/>
              <a:t>, resulting in </a:t>
            </a:r>
            <a:r>
              <a:rPr lang="en-US" sz="3200" b="1" dirty="0"/>
              <a:t>hyperprolactinemia </a:t>
            </a:r>
          </a:p>
          <a:p>
            <a:endParaRPr lang="en-US" sz="2200" dirty="0"/>
          </a:p>
        </p:txBody>
      </p:sp>
    </p:spTree>
    <p:extLst>
      <p:ext uri="{BB962C8B-B14F-4D97-AF65-F5344CB8AC3E}">
        <p14:creationId xmlns:p14="http://schemas.microsoft.com/office/powerpoint/2010/main" val="3443893887"/>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DAF1966E-FD40-4A4A-B61B-C4DF7FA05F0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0" name="Rectangle 9">
            <a:extLst>
              <a:ext uri="{FF2B5EF4-FFF2-40B4-BE49-F238E27FC236}">
                <a16:creationId xmlns:a16="http://schemas.microsoft.com/office/drawing/2014/main" id="{047BFA19-D45E-416B-A404-7AF2F3F270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58209" y="0"/>
            <a:ext cx="11167447" cy="2018806"/>
          </a:xfrm>
          <a:prstGeom prst="rect">
            <a:avLst/>
          </a:prstGeom>
          <a:ln w="9525">
            <a:solidFill>
              <a:srgbClr val="E1E1E1"/>
            </a:solidFill>
          </a:ln>
          <a:effectLst>
            <a:outerShdw blurRad="50800" dist="38100" dir="2700000" algn="t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2" name="Rectangle 11">
            <a:extLst>
              <a:ext uri="{FF2B5EF4-FFF2-40B4-BE49-F238E27FC236}">
                <a16:creationId xmlns:a16="http://schemas.microsoft.com/office/drawing/2014/main" id="{8E0105E7-23DB-4CF2-8258-FF47C7620F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6928" y="0"/>
            <a:ext cx="11155680" cy="2011680"/>
          </a:xfrm>
          <a:prstGeom prst="rect">
            <a:avLst/>
          </a:pr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8DFD5B5B-6A62-4002-A98D-F55DBA5F610F}"/>
              </a:ext>
            </a:extLst>
          </p:cNvPr>
          <p:cNvSpPr>
            <a:spLocks noGrp="1"/>
          </p:cNvSpPr>
          <p:nvPr>
            <p:ph type="title"/>
          </p:nvPr>
        </p:nvSpPr>
        <p:spPr>
          <a:xfrm>
            <a:off x="1115568" y="548640"/>
            <a:ext cx="10168128" cy="1179576"/>
          </a:xfrm>
        </p:spPr>
        <p:txBody>
          <a:bodyPr>
            <a:normAutofit/>
          </a:bodyPr>
          <a:lstStyle/>
          <a:p>
            <a:r>
              <a:rPr lang="en-US" sz="4800" dirty="0"/>
              <a:t>Pituitary Adenomas</a:t>
            </a:r>
          </a:p>
        </p:txBody>
      </p:sp>
      <p:sp>
        <p:nvSpPr>
          <p:cNvPr id="14" name="Rectangle 13">
            <a:extLst>
              <a:ext uri="{FF2B5EF4-FFF2-40B4-BE49-F238E27FC236}">
                <a16:creationId xmlns:a16="http://schemas.microsoft.com/office/drawing/2014/main" id="{074B4F7D-14B2-478B-8BF5-01E4E0C5D26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8834" y="758952"/>
            <a:ext cx="128016"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3" name="Content Placeholder 2">
            <a:extLst>
              <a:ext uri="{FF2B5EF4-FFF2-40B4-BE49-F238E27FC236}">
                <a16:creationId xmlns:a16="http://schemas.microsoft.com/office/drawing/2014/main" id="{4F73EBA6-3D37-42D9-BA53-18BB9CB8CFE4}"/>
              </a:ext>
            </a:extLst>
          </p:cNvPr>
          <p:cNvSpPr>
            <a:spLocks noGrp="1"/>
          </p:cNvSpPr>
          <p:nvPr>
            <p:ph idx="1"/>
          </p:nvPr>
        </p:nvSpPr>
        <p:spPr>
          <a:xfrm>
            <a:off x="566928" y="2192011"/>
            <a:ext cx="11264516" cy="4665989"/>
          </a:xfrm>
        </p:spPr>
        <p:txBody>
          <a:bodyPr>
            <a:normAutofit/>
          </a:bodyPr>
          <a:lstStyle/>
          <a:p>
            <a:pPr>
              <a:defRPr/>
            </a:pPr>
            <a:r>
              <a:rPr kumimoji="0" lang="en-US" sz="4000" b="0" i="0" u="none" strike="noStrike" kern="1200" cap="none" spc="0" normalizeH="0" baseline="0" noProof="0" dirty="0">
                <a:ln>
                  <a:noFill/>
                </a:ln>
                <a:solidFill>
                  <a:prstClr val="black"/>
                </a:solidFill>
                <a:effectLst/>
                <a:uLnTx/>
                <a:uFillTx/>
                <a:latin typeface="Calibri" panose="020F0502020204030204"/>
                <a:ea typeface="+mn-ea"/>
                <a:cs typeface="+mn-cs"/>
              </a:rPr>
              <a:t>Also classified by size </a:t>
            </a:r>
          </a:p>
          <a:p>
            <a:pPr lvl="1">
              <a:defRPr/>
            </a:pPr>
            <a:r>
              <a:rPr kumimoji="0" lang="en-US" sz="3600" b="1" i="0" u="none" strike="noStrike" kern="1200" cap="none" spc="0" normalizeH="0" baseline="0" noProof="0" dirty="0">
                <a:ln>
                  <a:noFill/>
                </a:ln>
                <a:solidFill>
                  <a:prstClr val="black"/>
                </a:solidFill>
                <a:effectLst/>
                <a:uLnTx/>
                <a:uFillTx/>
                <a:latin typeface="Calibri" panose="020F0502020204030204"/>
                <a:ea typeface="+mn-ea"/>
                <a:cs typeface="+mn-cs"/>
              </a:rPr>
              <a:t>Microadenoma</a:t>
            </a:r>
            <a:r>
              <a:rPr kumimoji="0" lang="en-US" sz="3600" b="0" i="0" u="none" strike="noStrike" kern="1200" cap="none" spc="0" normalizeH="0" baseline="0" noProof="0" dirty="0">
                <a:ln>
                  <a:noFill/>
                </a:ln>
                <a:solidFill>
                  <a:prstClr val="black"/>
                </a:solidFill>
                <a:effectLst/>
                <a:uLnTx/>
                <a:uFillTx/>
                <a:latin typeface="Calibri" panose="020F0502020204030204"/>
                <a:ea typeface="+mn-ea"/>
                <a:cs typeface="+mn-cs"/>
              </a:rPr>
              <a:t> – up to 1 cm </a:t>
            </a:r>
          </a:p>
          <a:p>
            <a:pPr lvl="2">
              <a:defRPr/>
            </a:pPr>
            <a:r>
              <a:rPr kumimoji="0" lang="en-US" sz="3600" b="0" i="0" u="none" strike="noStrike" kern="1200" cap="none" spc="0" normalizeH="0" baseline="0" noProof="0" dirty="0">
                <a:ln>
                  <a:noFill/>
                </a:ln>
                <a:solidFill>
                  <a:prstClr val="black"/>
                </a:solidFill>
                <a:effectLst/>
                <a:uLnTx/>
                <a:uFillTx/>
                <a:latin typeface="Calibri" panose="020F0502020204030204"/>
                <a:ea typeface="+mn-ea"/>
                <a:cs typeface="+mn-cs"/>
              </a:rPr>
              <a:t>If functional, most commonly secrete prolactin (PRL)</a:t>
            </a:r>
          </a:p>
          <a:p>
            <a:pPr lvl="1">
              <a:defRPr/>
            </a:pPr>
            <a:r>
              <a:rPr kumimoji="0" lang="en-US" sz="3600" b="1" i="0" u="none" strike="noStrike" kern="1200" cap="none" spc="0" normalizeH="0" baseline="0" noProof="0" dirty="0">
                <a:ln>
                  <a:noFill/>
                </a:ln>
                <a:solidFill>
                  <a:prstClr val="black"/>
                </a:solidFill>
                <a:effectLst/>
                <a:uLnTx/>
                <a:uFillTx/>
                <a:latin typeface="Calibri" panose="020F0502020204030204"/>
                <a:ea typeface="+mn-ea"/>
                <a:cs typeface="+mn-cs"/>
              </a:rPr>
              <a:t>Macroadenoma</a:t>
            </a:r>
            <a:r>
              <a:rPr kumimoji="0" lang="en-US" sz="3600" b="0" i="0" u="none" strike="noStrike" kern="1200" cap="none" spc="0" normalizeH="0" baseline="0" noProof="0" dirty="0">
                <a:ln>
                  <a:noFill/>
                </a:ln>
                <a:solidFill>
                  <a:prstClr val="black"/>
                </a:solidFill>
                <a:effectLst/>
                <a:uLnTx/>
                <a:uFillTx/>
                <a:latin typeface="Calibri" panose="020F0502020204030204"/>
                <a:ea typeface="+mn-ea"/>
                <a:cs typeface="+mn-cs"/>
              </a:rPr>
              <a:t> – greater than 1 cm </a:t>
            </a:r>
          </a:p>
          <a:p>
            <a:pPr lvl="2">
              <a:defRPr/>
            </a:pPr>
            <a:r>
              <a:rPr kumimoji="0" lang="en-US" sz="3600" b="0" i="0" u="none" strike="noStrike" kern="1200" cap="none" spc="0" normalizeH="0" baseline="0" noProof="0" dirty="0">
                <a:ln>
                  <a:noFill/>
                </a:ln>
                <a:solidFill>
                  <a:prstClr val="black"/>
                </a:solidFill>
                <a:effectLst/>
                <a:uLnTx/>
                <a:uFillTx/>
                <a:latin typeface="Calibri" panose="020F0502020204030204"/>
                <a:ea typeface="+mn-ea"/>
                <a:cs typeface="+mn-cs"/>
              </a:rPr>
              <a:t>If functional, most commonly secrete growth hormone (GH) </a:t>
            </a:r>
          </a:p>
          <a:p>
            <a:endParaRPr lang="en-US" sz="2200" dirty="0"/>
          </a:p>
        </p:txBody>
      </p:sp>
    </p:spTree>
    <p:extLst>
      <p:ext uri="{BB962C8B-B14F-4D97-AF65-F5344CB8AC3E}">
        <p14:creationId xmlns:p14="http://schemas.microsoft.com/office/powerpoint/2010/main" val="272328966"/>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7EED97-1469-2C09-C76B-6132DB7F5183}"/>
              </a:ext>
            </a:extLst>
          </p:cNvPr>
          <p:cNvSpPr>
            <a:spLocks noGrp="1"/>
          </p:cNvSpPr>
          <p:nvPr>
            <p:ph type="title"/>
          </p:nvPr>
        </p:nvSpPr>
        <p:spPr>
          <a:xfrm>
            <a:off x="838200" y="365125"/>
            <a:ext cx="10515600" cy="941161"/>
          </a:xfrm>
        </p:spPr>
        <p:txBody>
          <a:bodyPr/>
          <a:lstStyle/>
          <a:p>
            <a:r>
              <a:rPr lang="en-US" dirty="0"/>
              <a:t>Pituitary Adenoma Work-up</a:t>
            </a:r>
          </a:p>
        </p:txBody>
      </p:sp>
      <p:sp>
        <p:nvSpPr>
          <p:cNvPr id="3" name="Content Placeholder 2">
            <a:extLst>
              <a:ext uri="{FF2B5EF4-FFF2-40B4-BE49-F238E27FC236}">
                <a16:creationId xmlns:a16="http://schemas.microsoft.com/office/drawing/2014/main" id="{9CE4CE6D-F4ED-D8D1-E593-D329D0A25117}"/>
              </a:ext>
            </a:extLst>
          </p:cNvPr>
          <p:cNvSpPr>
            <a:spLocks noGrp="1"/>
          </p:cNvSpPr>
          <p:nvPr>
            <p:ph idx="1"/>
          </p:nvPr>
        </p:nvSpPr>
        <p:spPr>
          <a:xfrm>
            <a:off x="838200" y="1463883"/>
            <a:ext cx="10515600" cy="5028991"/>
          </a:xfrm>
        </p:spPr>
        <p:txBody>
          <a:bodyPr>
            <a:normAutofit/>
          </a:bodyPr>
          <a:lstStyle/>
          <a:p>
            <a:r>
              <a:rPr lang="en-US" dirty="0"/>
              <a:t>Often times pituitary adenomas are found incidentally (pituitary incidentaloma) on imaging obtained for other reasons</a:t>
            </a:r>
          </a:p>
          <a:p>
            <a:r>
              <a:rPr lang="en-US" dirty="0"/>
              <a:t>MRI with contrast is the test of choice to evaluate </a:t>
            </a:r>
            <a:r>
              <a:rPr lang="en-US" dirty="0" err="1"/>
              <a:t>sellar</a:t>
            </a:r>
            <a:r>
              <a:rPr lang="en-US" dirty="0"/>
              <a:t> masses</a:t>
            </a:r>
          </a:p>
          <a:p>
            <a:r>
              <a:rPr lang="en-US" dirty="0"/>
              <a:t>If adenoma is ≥1cm:</a:t>
            </a:r>
          </a:p>
          <a:p>
            <a:pPr lvl="1"/>
            <a:r>
              <a:rPr lang="en-US" dirty="0"/>
              <a:t>Refer </a:t>
            </a:r>
            <a:r>
              <a:rPr lang="en-US" dirty="0" err="1"/>
              <a:t>optho</a:t>
            </a:r>
            <a:r>
              <a:rPr lang="en-US" dirty="0"/>
              <a:t> for formal visual acuity and fields</a:t>
            </a:r>
          </a:p>
          <a:p>
            <a:pPr lvl="1"/>
            <a:r>
              <a:rPr lang="en-US" dirty="0"/>
              <a:t>Eval for hypersecretion: prolactin, IGF-1, ACTH and 24h-urine cortisol</a:t>
            </a:r>
          </a:p>
          <a:p>
            <a:pPr lvl="1"/>
            <a:r>
              <a:rPr lang="en-US" dirty="0"/>
              <a:t>Eval for hypopituitarism</a:t>
            </a:r>
          </a:p>
          <a:p>
            <a:r>
              <a:rPr lang="en-US" dirty="0"/>
              <a:t>If adenoma is &lt;1cm eval prolactin</a:t>
            </a:r>
          </a:p>
          <a:p>
            <a:r>
              <a:rPr lang="en-US" dirty="0"/>
              <a:t>Refer to neurology</a:t>
            </a:r>
          </a:p>
        </p:txBody>
      </p:sp>
    </p:spTree>
    <p:extLst>
      <p:ext uri="{BB962C8B-B14F-4D97-AF65-F5344CB8AC3E}">
        <p14:creationId xmlns:p14="http://schemas.microsoft.com/office/powerpoint/2010/main" val="463052256"/>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39E6E2-925A-77CA-45CF-EDA361AE796C}"/>
              </a:ext>
            </a:extLst>
          </p:cNvPr>
          <p:cNvSpPr>
            <a:spLocks noGrp="1"/>
          </p:cNvSpPr>
          <p:nvPr>
            <p:ph type="title"/>
          </p:nvPr>
        </p:nvSpPr>
        <p:spPr/>
        <p:txBody>
          <a:bodyPr/>
          <a:lstStyle/>
          <a:p>
            <a:r>
              <a:rPr lang="en-US" dirty="0"/>
              <a:t>Hyperpituitarism</a:t>
            </a:r>
          </a:p>
        </p:txBody>
      </p:sp>
    </p:spTree>
    <p:extLst>
      <p:ext uri="{BB962C8B-B14F-4D97-AF65-F5344CB8AC3E}">
        <p14:creationId xmlns:p14="http://schemas.microsoft.com/office/powerpoint/2010/main" val="3209075404"/>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AA474011-A49D-4C7A-BF41-0ACD0A2693B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1" name="Rectangle 10">
            <a:extLst>
              <a:ext uri="{FF2B5EF4-FFF2-40B4-BE49-F238E27FC236}">
                <a16:creationId xmlns:a16="http://schemas.microsoft.com/office/drawing/2014/main" id="{6D72081E-AD41-4FBB-B02B-698A68DBCA5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54416" y="4218905"/>
            <a:ext cx="11167447" cy="2089317"/>
          </a:xfrm>
          <a:prstGeom prst="rect">
            <a:avLst/>
          </a:prstGeom>
          <a:ln w="12700">
            <a:solidFill>
              <a:srgbClr val="DEDEDE"/>
            </a:solidFill>
          </a:ln>
          <a:effectLst>
            <a:outerShdw blurRad="50800" dist="38100" dir="2700000" algn="tl" rotWithShape="0">
              <a:schemeClr val="bg2">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9DD5684B-B2C1-4C61-ACF2-81A8258524B2}"/>
              </a:ext>
            </a:extLst>
          </p:cNvPr>
          <p:cNvSpPr>
            <a:spLocks noGrp="1"/>
          </p:cNvSpPr>
          <p:nvPr>
            <p:ph type="title"/>
          </p:nvPr>
        </p:nvSpPr>
        <p:spPr>
          <a:xfrm>
            <a:off x="1051560" y="4444332"/>
            <a:ext cx="3558466" cy="1645920"/>
          </a:xfrm>
        </p:spPr>
        <p:txBody>
          <a:bodyPr>
            <a:normAutofit fontScale="90000"/>
          </a:bodyPr>
          <a:lstStyle/>
          <a:p>
            <a:pPr algn="ctr"/>
            <a:r>
              <a:rPr lang="en-US" sz="4000" dirty="0"/>
              <a:t>Functional Pituitary Adenomas</a:t>
            </a:r>
          </a:p>
        </p:txBody>
      </p:sp>
      <p:sp>
        <p:nvSpPr>
          <p:cNvPr id="13" name="Rectangle 12">
            <a:extLst>
              <a:ext uri="{FF2B5EF4-FFF2-40B4-BE49-F238E27FC236}">
                <a16:creationId xmlns:a16="http://schemas.microsoft.com/office/drawing/2014/main" id="{716248AD-805F-41BF-9B57-FC53E5B32F9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0408" y="4911518"/>
            <a:ext cx="128016"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15" name="Rectangle 14">
            <a:extLst>
              <a:ext uri="{FF2B5EF4-FFF2-40B4-BE49-F238E27FC236}">
                <a16:creationId xmlns:a16="http://schemas.microsoft.com/office/drawing/2014/main" id="{1F82758F-B2B3-4F0A-BB90-4BFFEDD166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4243541" y="5254418"/>
            <a:ext cx="1463040"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3" name="Content Placeholder 2">
            <a:extLst>
              <a:ext uri="{FF2B5EF4-FFF2-40B4-BE49-F238E27FC236}">
                <a16:creationId xmlns:a16="http://schemas.microsoft.com/office/drawing/2014/main" id="{80498024-F992-40C1-AF5F-394F0E785E1C}"/>
              </a:ext>
            </a:extLst>
          </p:cNvPr>
          <p:cNvSpPr>
            <a:spLocks noGrp="1"/>
          </p:cNvSpPr>
          <p:nvPr>
            <p:ph idx="1"/>
          </p:nvPr>
        </p:nvSpPr>
        <p:spPr>
          <a:xfrm>
            <a:off x="5349240" y="4303971"/>
            <a:ext cx="6372623" cy="1949420"/>
          </a:xfrm>
        </p:spPr>
        <p:txBody>
          <a:bodyPr anchor="ctr">
            <a:normAutofit fontScale="92500"/>
          </a:bodyPr>
          <a:lstStyle/>
          <a:p>
            <a:r>
              <a:rPr lang="en-US" sz="3200"/>
              <a:t>Characterized by </a:t>
            </a:r>
            <a:r>
              <a:rPr lang="en-US" sz="3200" b="1"/>
              <a:t>autonomous hormone secretion with diminished feedback responsiveness </a:t>
            </a:r>
            <a:r>
              <a:rPr lang="en-US" sz="3200"/>
              <a:t>to physiologic inhibitory pathways</a:t>
            </a:r>
          </a:p>
        </p:txBody>
      </p:sp>
      <p:graphicFrame>
        <p:nvGraphicFramePr>
          <p:cNvPr id="4" name="Table 4">
            <a:extLst>
              <a:ext uri="{FF2B5EF4-FFF2-40B4-BE49-F238E27FC236}">
                <a16:creationId xmlns:a16="http://schemas.microsoft.com/office/drawing/2014/main" id="{1A0FDE74-7BC2-4380-B25C-237F55A3159C}"/>
              </a:ext>
            </a:extLst>
          </p:cNvPr>
          <p:cNvGraphicFramePr>
            <a:graphicFrameLocks noGrp="1"/>
          </p:cNvGraphicFramePr>
          <p:nvPr>
            <p:extLst>
              <p:ext uri="{D42A27DB-BD31-4B8C-83A1-F6EECF244321}">
                <p14:modId xmlns:p14="http://schemas.microsoft.com/office/powerpoint/2010/main" val="3620206709"/>
              </p:ext>
            </p:extLst>
          </p:nvPr>
        </p:nvGraphicFramePr>
        <p:xfrm>
          <a:off x="557038" y="604609"/>
          <a:ext cx="11164825" cy="3039252"/>
        </p:xfrm>
        <a:graphic>
          <a:graphicData uri="http://schemas.openxmlformats.org/drawingml/2006/table">
            <a:tbl>
              <a:tblPr firstRow="1" bandRow="1">
                <a:tableStyleId>{5C22544A-7EE6-4342-B048-85BDC9FD1C3A}</a:tableStyleId>
              </a:tblPr>
              <a:tblGrid>
                <a:gridCol w="3694057">
                  <a:extLst>
                    <a:ext uri="{9D8B030D-6E8A-4147-A177-3AD203B41FA5}">
                      <a16:colId xmlns:a16="http://schemas.microsoft.com/office/drawing/2014/main" val="1413687372"/>
                    </a:ext>
                  </a:extLst>
                </a:gridCol>
                <a:gridCol w="2592036">
                  <a:extLst>
                    <a:ext uri="{9D8B030D-6E8A-4147-A177-3AD203B41FA5}">
                      <a16:colId xmlns:a16="http://schemas.microsoft.com/office/drawing/2014/main" val="2188340814"/>
                    </a:ext>
                  </a:extLst>
                </a:gridCol>
                <a:gridCol w="4878732">
                  <a:extLst>
                    <a:ext uri="{9D8B030D-6E8A-4147-A177-3AD203B41FA5}">
                      <a16:colId xmlns:a16="http://schemas.microsoft.com/office/drawing/2014/main" val="3270649100"/>
                    </a:ext>
                  </a:extLst>
                </a:gridCol>
              </a:tblGrid>
              <a:tr h="454854">
                <a:tc>
                  <a:txBody>
                    <a:bodyPr/>
                    <a:lstStyle/>
                    <a:p>
                      <a:r>
                        <a:rPr lang="en-US" sz="2000"/>
                        <a:t>Pituitary Cell Type</a:t>
                      </a:r>
                    </a:p>
                  </a:txBody>
                  <a:tcPr marL="103376" marR="103376" marT="51688" marB="51688"/>
                </a:tc>
                <a:tc>
                  <a:txBody>
                    <a:bodyPr/>
                    <a:lstStyle/>
                    <a:p>
                      <a:r>
                        <a:rPr lang="en-US" sz="2000"/>
                        <a:t>Hormone Product</a:t>
                      </a:r>
                    </a:p>
                  </a:txBody>
                  <a:tcPr marL="103376" marR="103376" marT="51688" marB="51688"/>
                </a:tc>
                <a:tc>
                  <a:txBody>
                    <a:bodyPr/>
                    <a:lstStyle/>
                    <a:p>
                      <a:r>
                        <a:rPr lang="en-US" sz="2000"/>
                        <a:t>Clinical Syndrome</a:t>
                      </a:r>
                    </a:p>
                  </a:txBody>
                  <a:tcPr marL="103376" marR="103376" marT="51688" marB="51688"/>
                </a:tc>
                <a:extLst>
                  <a:ext uri="{0D108BD9-81ED-4DB2-BD59-A6C34878D82A}">
                    <a16:rowId xmlns:a16="http://schemas.microsoft.com/office/drawing/2014/main" val="2498561582"/>
                  </a:ext>
                </a:extLst>
              </a:tr>
              <a:tr h="764982">
                <a:tc>
                  <a:txBody>
                    <a:bodyPr/>
                    <a:lstStyle/>
                    <a:p>
                      <a:r>
                        <a:rPr lang="en-US" sz="2000" dirty="0" err="1"/>
                        <a:t>Lactotrope</a:t>
                      </a:r>
                      <a:endParaRPr lang="en-US" sz="2000" dirty="0"/>
                    </a:p>
                  </a:txBody>
                  <a:tcPr marL="103376" marR="103376" marT="51688" marB="51688"/>
                </a:tc>
                <a:tc>
                  <a:txBody>
                    <a:bodyPr/>
                    <a:lstStyle/>
                    <a:p>
                      <a:r>
                        <a:rPr lang="en-US" sz="2000"/>
                        <a:t>Prolactin (PRL)</a:t>
                      </a:r>
                    </a:p>
                  </a:txBody>
                  <a:tcPr marL="103376" marR="103376" marT="51688" marB="51688"/>
                </a:tc>
                <a:tc>
                  <a:txBody>
                    <a:bodyPr/>
                    <a:lstStyle/>
                    <a:p>
                      <a:r>
                        <a:rPr lang="en-US" sz="2000"/>
                        <a:t>Hyperprolactinemia: hypogonadism, galactorrhea</a:t>
                      </a:r>
                    </a:p>
                  </a:txBody>
                  <a:tcPr marL="103376" marR="103376" marT="51688" marB="51688"/>
                </a:tc>
                <a:extLst>
                  <a:ext uri="{0D108BD9-81ED-4DB2-BD59-A6C34878D82A}">
                    <a16:rowId xmlns:a16="http://schemas.microsoft.com/office/drawing/2014/main" val="1280444363"/>
                  </a:ext>
                </a:extLst>
              </a:tr>
              <a:tr h="454854">
                <a:tc>
                  <a:txBody>
                    <a:bodyPr/>
                    <a:lstStyle/>
                    <a:p>
                      <a:r>
                        <a:rPr lang="en-US" sz="2000" dirty="0" err="1"/>
                        <a:t>Somatotrope</a:t>
                      </a:r>
                      <a:endParaRPr lang="en-US" sz="2000" dirty="0"/>
                    </a:p>
                  </a:txBody>
                  <a:tcPr marL="103376" marR="103376" marT="51688" marB="51688"/>
                </a:tc>
                <a:tc>
                  <a:txBody>
                    <a:bodyPr/>
                    <a:lstStyle/>
                    <a:p>
                      <a:r>
                        <a:rPr lang="en-US" sz="2000"/>
                        <a:t>GH </a:t>
                      </a:r>
                    </a:p>
                  </a:txBody>
                  <a:tcPr marL="103376" marR="103376" marT="51688" marB="51688"/>
                </a:tc>
                <a:tc>
                  <a:txBody>
                    <a:bodyPr/>
                    <a:lstStyle/>
                    <a:p>
                      <a:r>
                        <a:rPr lang="en-US" sz="2000"/>
                        <a:t>Acromegaly/Gigantism </a:t>
                      </a:r>
                    </a:p>
                  </a:txBody>
                  <a:tcPr marL="103376" marR="103376" marT="51688" marB="51688"/>
                </a:tc>
                <a:extLst>
                  <a:ext uri="{0D108BD9-81ED-4DB2-BD59-A6C34878D82A}">
                    <a16:rowId xmlns:a16="http://schemas.microsoft.com/office/drawing/2014/main" val="3145455149"/>
                  </a:ext>
                </a:extLst>
              </a:tr>
              <a:tr h="454854">
                <a:tc>
                  <a:txBody>
                    <a:bodyPr/>
                    <a:lstStyle/>
                    <a:p>
                      <a:r>
                        <a:rPr lang="en-US" sz="2000" dirty="0"/>
                        <a:t>Corticotrope</a:t>
                      </a:r>
                    </a:p>
                  </a:txBody>
                  <a:tcPr marL="103376" marR="103376" marT="51688" marB="51688"/>
                </a:tc>
                <a:tc>
                  <a:txBody>
                    <a:bodyPr/>
                    <a:lstStyle/>
                    <a:p>
                      <a:r>
                        <a:rPr lang="en-US" sz="2000"/>
                        <a:t>ACTH</a:t>
                      </a:r>
                    </a:p>
                  </a:txBody>
                  <a:tcPr marL="103376" marR="103376" marT="51688" marB="51688"/>
                </a:tc>
                <a:tc>
                  <a:txBody>
                    <a:bodyPr/>
                    <a:lstStyle/>
                    <a:p>
                      <a:r>
                        <a:rPr lang="en-US" sz="2000"/>
                        <a:t>Cushing’s Syndrome</a:t>
                      </a:r>
                    </a:p>
                  </a:txBody>
                  <a:tcPr marL="103376" marR="103376" marT="51688" marB="51688"/>
                </a:tc>
                <a:extLst>
                  <a:ext uri="{0D108BD9-81ED-4DB2-BD59-A6C34878D82A}">
                    <a16:rowId xmlns:a16="http://schemas.microsoft.com/office/drawing/2014/main" val="501509381"/>
                  </a:ext>
                </a:extLst>
              </a:tr>
              <a:tr h="454854">
                <a:tc>
                  <a:txBody>
                    <a:bodyPr/>
                    <a:lstStyle/>
                    <a:p>
                      <a:r>
                        <a:rPr lang="en-US" sz="2000"/>
                        <a:t>Thyrotrope</a:t>
                      </a:r>
                    </a:p>
                  </a:txBody>
                  <a:tcPr marL="103376" marR="103376" marT="51688" marB="51688"/>
                </a:tc>
                <a:tc>
                  <a:txBody>
                    <a:bodyPr/>
                    <a:lstStyle/>
                    <a:p>
                      <a:r>
                        <a:rPr lang="en-US" sz="2000"/>
                        <a:t>TSH</a:t>
                      </a:r>
                    </a:p>
                  </a:txBody>
                  <a:tcPr marL="103376" marR="103376" marT="51688" marB="51688"/>
                </a:tc>
                <a:tc>
                  <a:txBody>
                    <a:bodyPr/>
                    <a:lstStyle/>
                    <a:p>
                      <a:r>
                        <a:rPr lang="en-US" sz="2000"/>
                        <a:t>Thyrotoxicosis </a:t>
                      </a:r>
                    </a:p>
                  </a:txBody>
                  <a:tcPr marL="103376" marR="103376" marT="51688" marB="51688"/>
                </a:tc>
                <a:extLst>
                  <a:ext uri="{0D108BD9-81ED-4DB2-BD59-A6C34878D82A}">
                    <a16:rowId xmlns:a16="http://schemas.microsoft.com/office/drawing/2014/main" val="599009898"/>
                  </a:ext>
                </a:extLst>
              </a:tr>
              <a:tr h="454854">
                <a:tc>
                  <a:txBody>
                    <a:bodyPr/>
                    <a:lstStyle/>
                    <a:p>
                      <a:r>
                        <a:rPr lang="en-US" sz="2000"/>
                        <a:t>Gonadotrope</a:t>
                      </a:r>
                    </a:p>
                  </a:txBody>
                  <a:tcPr marL="103376" marR="103376" marT="51688" marB="51688"/>
                </a:tc>
                <a:tc>
                  <a:txBody>
                    <a:bodyPr/>
                    <a:lstStyle/>
                    <a:p>
                      <a:r>
                        <a:rPr lang="en-US" sz="2000"/>
                        <a:t>FSH, LH</a:t>
                      </a:r>
                    </a:p>
                  </a:txBody>
                  <a:tcPr marL="103376" marR="103376" marT="51688" marB="51688"/>
                </a:tc>
                <a:tc>
                  <a:txBody>
                    <a:bodyPr/>
                    <a:lstStyle/>
                    <a:p>
                      <a:r>
                        <a:rPr lang="en-US" sz="2000" dirty="0"/>
                        <a:t>Hypogonadism or silent </a:t>
                      </a:r>
                    </a:p>
                  </a:txBody>
                  <a:tcPr marL="103376" marR="103376" marT="51688" marB="51688"/>
                </a:tc>
                <a:extLst>
                  <a:ext uri="{0D108BD9-81ED-4DB2-BD59-A6C34878D82A}">
                    <a16:rowId xmlns:a16="http://schemas.microsoft.com/office/drawing/2014/main" val="964003455"/>
                  </a:ext>
                </a:extLst>
              </a:tr>
            </a:tbl>
          </a:graphicData>
        </a:graphic>
      </p:graphicFrame>
    </p:spTree>
    <p:extLst>
      <p:ext uri="{BB962C8B-B14F-4D97-AF65-F5344CB8AC3E}">
        <p14:creationId xmlns:p14="http://schemas.microsoft.com/office/powerpoint/2010/main" val="877116776"/>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CBB2B1F0-0DD6-4744-9A46-7A344FB48E4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66440B5-7258-0242-1513-C3091659CB21}"/>
              </a:ext>
            </a:extLst>
          </p:cNvPr>
          <p:cNvSpPr>
            <a:spLocks noGrp="1"/>
          </p:cNvSpPr>
          <p:nvPr>
            <p:ph type="title"/>
          </p:nvPr>
        </p:nvSpPr>
        <p:spPr>
          <a:xfrm>
            <a:off x="841248" y="426720"/>
            <a:ext cx="10506456" cy="1919141"/>
          </a:xfrm>
        </p:spPr>
        <p:txBody>
          <a:bodyPr anchor="b">
            <a:normAutofit/>
          </a:bodyPr>
          <a:lstStyle/>
          <a:p>
            <a:r>
              <a:rPr lang="en-US" sz="6000" dirty="0"/>
              <a:t>Prolactin Hypersecretion</a:t>
            </a:r>
          </a:p>
        </p:txBody>
      </p:sp>
      <p:sp>
        <p:nvSpPr>
          <p:cNvPr id="10" name="Rectangle 9">
            <a:extLst>
              <a:ext uri="{FF2B5EF4-FFF2-40B4-BE49-F238E27FC236}">
                <a16:creationId xmlns:a16="http://schemas.microsoft.com/office/drawing/2014/main" id="{52D502E5-F6B4-4D58-B4AE-FC466FF15E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65953" y="2899927"/>
            <a:ext cx="10451592"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12" name="Rectangle 11">
            <a:extLst>
              <a:ext uri="{FF2B5EF4-FFF2-40B4-BE49-F238E27FC236}">
                <a16:creationId xmlns:a16="http://schemas.microsoft.com/office/drawing/2014/main" id="{9DECDBF4-02B6-4BB4-B65B-B8107AD6A9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841248" y="2776031"/>
            <a:ext cx="1873457" cy="13716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3" name="Content Placeholder 2">
            <a:extLst>
              <a:ext uri="{FF2B5EF4-FFF2-40B4-BE49-F238E27FC236}">
                <a16:creationId xmlns:a16="http://schemas.microsoft.com/office/drawing/2014/main" id="{64B7B329-101E-32C7-55F2-2B1806494EF2}"/>
              </a:ext>
            </a:extLst>
          </p:cNvPr>
          <p:cNvSpPr>
            <a:spLocks noGrp="1"/>
          </p:cNvSpPr>
          <p:nvPr>
            <p:ph idx="1"/>
          </p:nvPr>
        </p:nvSpPr>
        <p:spPr>
          <a:xfrm>
            <a:off x="841247" y="3337269"/>
            <a:ext cx="10923289" cy="3502442"/>
          </a:xfrm>
        </p:spPr>
        <p:txBody>
          <a:bodyPr>
            <a:normAutofit/>
          </a:bodyPr>
          <a:lstStyle/>
          <a:p>
            <a:r>
              <a:rPr lang="en-US" sz="3200"/>
              <a:t>Primarily responsible for milk production and the development of mammary glands within breast tissue.</a:t>
            </a:r>
          </a:p>
          <a:p>
            <a:r>
              <a:rPr lang="en-US" sz="3200"/>
              <a:t>Serum prolactin concentrations normally increase substantially during pregnancy and to a lesser degree in response to nipple stimulation during breastfeeding, physical exertion, and stress.</a:t>
            </a:r>
          </a:p>
        </p:txBody>
      </p:sp>
    </p:spTree>
    <p:extLst>
      <p:ext uri="{BB962C8B-B14F-4D97-AF65-F5344CB8AC3E}">
        <p14:creationId xmlns:p14="http://schemas.microsoft.com/office/powerpoint/2010/main" val="369569414"/>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DAF1966E-FD40-4A4A-B61B-C4DF7FA05F0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0" name="Rectangle 9">
            <a:extLst>
              <a:ext uri="{FF2B5EF4-FFF2-40B4-BE49-F238E27FC236}">
                <a16:creationId xmlns:a16="http://schemas.microsoft.com/office/drawing/2014/main" id="{047BFA19-D45E-416B-A404-7AF2F3F270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58209" y="0"/>
            <a:ext cx="11167447" cy="2018806"/>
          </a:xfrm>
          <a:prstGeom prst="rect">
            <a:avLst/>
          </a:prstGeom>
          <a:ln w="9525">
            <a:solidFill>
              <a:srgbClr val="E1E1E1"/>
            </a:solidFill>
          </a:ln>
          <a:effectLst>
            <a:outerShdw blurRad="50800" dist="38100" dir="2700000" algn="t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2" name="Rectangle 11">
            <a:extLst>
              <a:ext uri="{FF2B5EF4-FFF2-40B4-BE49-F238E27FC236}">
                <a16:creationId xmlns:a16="http://schemas.microsoft.com/office/drawing/2014/main" id="{8E0105E7-23DB-4CF2-8258-FF47C7620F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6928" y="0"/>
            <a:ext cx="11155680" cy="2011680"/>
          </a:xfrm>
          <a:prstGeom prst="rect">
            <a:avLst/>
          </a:pr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AFC3A921-3D3C-4A51-B078-06FAE57E7139}"/>
              </a:ext>
            </a:extLst>
          </p:cNvPr>
          <p:cNvSpPr>
            <a:spLocks noGrp="1"/>
          </p:cNvSpPr>
          <p:nvPr>
            <p:ph type="title"/>
          </p:nvPr>
        </p:nvSpPr>
        <p:spPr>
          <a:xfrm>
            <a:off x="1115568" y="548640"/>
            <a:ext cx="10168128" cy="1179576"/>
          </a:xfrm>
        </p:spPr>
        <p:txBody>
          <a:bodyPr>
            <a:normAutofit/>
          </a:bodyPr>
          <a:lstStyle/>
          <a:p>
            <a:r>
              <a:rPr lang="en-US" sz="4800"/>
              <a:t>Hyperprolactinemia</a:t>
            </a:r>
          </a:p>
        </p:txBody>
      </p:sp>
      <p:sp>
        <p:nvSpPr>
          <p:cNvPr id="14" name="Rectangle 13">
            <a:extLst>
              <a:ext uri="{FF2B5EF4-FFF2-40B4-BE49-F238E27FC236}">
                <a16:creationId xmlns:a16="http://schemas.microsoft.com/office/drawing/2014/main" id="{074B4F7D-14B2-478B-8BF5-01E4E0C5D26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8834" y="758952"/>
            <a:ext cx="128016"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3" name="Content Placeholder 2">
            <a:extLst>
              <a:ext uri="{FF2B5EF4-FFF2-40B4-BE49-F238E27FC236}">
                <a16:creationId xmlns:a16="http://schemas.microsoft.com/office/drawing/2014/main" id="{E66C606B-BB14-4BE7-8633-39D2A89FCCE5}"/>
              </a:ext>
            </a:extLst>
          </p:cNvPr>
          <p:cNvSpPr>
            <a:spLocks noGrp="1"/>
          </p:cNvSpPr>
          <p:nvPr>
            <p:ph idx="1"/>
          </p:nvPr>
        </p:nvSpPr>
        <p:spPr>
          <a:xfrm>
            <a:off x="558209" y="2276856"/>
            <a:ext cx="10716768" cy="4616605"/>
          </a:xfrm>
        </p:spPr>
        <p:txBody>
          <a:bodyPr>
            <a:normAutofit/>
          </a:bodyPr>
          <a:lstStyle/>
          <a:p>
            <a:r>
              <a:rPr lang="en-US" sz="3600" dirty="0"/>
              <a:t>The </a:t>
            </a:r>
            <a:r>
              <a:rPr lang="en-US" sz="3600" b="1" dirty="0"/>
              <a:t>most common pituitary hormone hypersecretion syndrome </a:t>
            </a:r>
            <a:r>
              <a:rPr lang="en-US" sz="3600" dirty="0"/>
              <a:t>in both men and women</a:t>
            </a:r>
          </a:p>
          <a:p>
            <a:pPr lvl="1"/>
            <a:r>
              <a:rPr lang="en-US" sz="3200" i="1" dirty="0" err="1"/>
              <a:t>Microprolactinomas</a:t>
            </a:r>
            <a:r>
              <a:rPr lang="en-US" sz="3200" dirty="0"/>
              <a:t>, are </a:t>
            </a:r>
            <a:r>
              <a:rPr lang="en-US" sz="3200" b="1" dirty="0"/>
              <a:t>more common in women </a:t>
            </a:r>
            <a:r>
              <a:rPr lang="en-US" sz="3200" dirty="0"/>
              <a:t>and typically do not grow even with pregnancy or oral contraceptives</a:t>
            </a:r>
          </a:p>
          <a:p>
            <a:pPr lvl="1"/>
            <a:r>
              <a:rPr lang="en-US" sz="3200" dirty="0"/>
              <a:t>Aggressive </a:t>
            </a:r>
            <a:r>
              <a:rPr lang="en-US" sz="3200" i="1" dirty="0"/>
              <a:t>macroprolactinomas</a:t>
            </a:r>
            <a:r>
              <a:rPr lang="en-US" sz="3200" dirty="0"/>
              <a:t> are </a:t>
            </a:r>
            <a:r>
              <a:rPr lang="en-US" sz="3200" b="1" dirty="0"/>
              <a:t>more common in men </a:t>
            </a:r>
            <a:r>
              <a:rPr lang="en-US" sz="3200" dirty="0"/>
              <a:t>and can spread into the cavernous sinuses and suprasellar areas</a:t>
            </a:r>
          </a:p>
        </p:txBody>
      </p:sp>
    </p:spTree>
    <p:extLst>
      <p:ext uri="{BB962C8B-B14F-4D97-AF65-F5344CB8AC3E}">
        <p14:creationId xmlns:p14="http://schemas.microsoft.com/office/powerpoint/2010/main" val="2381006339"/>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DAF1966E-FD40-4A4A-B61B-C4DF7FA05F0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0" name="Rectangle 9">
            <a:extLst>
              <a:ext uri="{FF2B5EF4-FFF2-40B4-BE49-F238E27FC236}">
                <a16:creationId xmlns:a16="http://schemas.microsoft.com/office/drawing/2014/main" id="{047BFA19-D45E-416B-A404-7AF2F3F270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58209" y="0"/>
            <a:ext cx="11167447" cy="2018806"/>
          </a:xfrm>
          <a:prstGeom prst="rect">
            <a:avLst/>
          </a:prstGeom>
          <a:ln w="9525">
            <a:solidFill>
              <a:srgbClr val="E1E1E1"/>
            </a:solidFill>
          </a:ln>
          <a:effectLst>
            <a:outerShdw blurRad="50800" dist="38100" dir="2700000" algn="t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2" name="Rectangle 11">
            <a:extLst>
              <a:ext uri="{FF2B5EF4-FFF2-40B4-BE49-F238E27FC236}">
                <a16:creationId xmlns:a16="http://schemas.microsoft.com/office/drawing/2014/main" id="{8E0105E7-23DB-4CF2-8258-FF47C7620F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6928" y="0"/>
            <a:ext cx="11155680" cy="2011680"/>
          </a:xfrm>
          <a:prstGeom prst="rect">
            <a:avLst/>
          </a:pr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01C3EE3B-3D8B-436E-BA90-38E9220B30D5}"/>
              </a:ext>
            </a:extLst>
          </p:cNvPr>
          <p:cNvSpPr>
            <a:spLocks noGrp="1"/>
          </p:cNvSpPr>
          <p:nvPr>
            <p:ph type="title"/>
          </p:nvPr>
        </p:nvSpPr>
        <p:spPr>
          <a:xfrm>
            <a:off x="1115568" y="548640"/>
            <a:ext cx="10168128" cy="1179576"/>
          </a:xfrm>
        </p:spPr>
        <p:txBody>
          <a:bodyPr>
            <a:normAutofit/>
          </a:bodyPr>
          <a:lstStyle/>
          <a:p>
            <a:r>
              <a:rPr lang="en-US" sz="4800" dirty="0"/>
              <a:t>Hyperprolactinemia Clinical Presentation</a:t>
            </a:r>
          </a:p>
        </p:txBody>
      </p:sp>
      <p:sp>
        <p:nvSpPr>
          <p:cNvPr id="14" name="Rectangle 13">
            <a:extLst>
              <a:ext uri="{FF2B5EF4-FFF2-40B4-BE49-F238E27FC236}">
                <a16:creationId xmlns:a16="http://schemas.microsoft.com/office/drawing/2014/main" id="{074B4F7D-14B2-478B-8BF5-01E4E0C5D26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8834" y="758952"/>
            <a:ext cx="128016"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3" name="Content Placeholder 2">
            <a:extLst>
              <a:ext uri="{FF2B5EF4-FFF2-40B4-BE49-F238E27FC236}">
                <a16:creationId xmlns:a16="http://schemas.microsoft.com/office/drawing/2014/main" id="{B1118DB5-A6E2-493D-8DFF-020776D8DDF7}"/>
              </a:ext>
            </a:extLst>
          </p:cNvPr>
          <p:cNvSpPr>
            <a:spLocks noGrp="1"/>
          </p:cNvSpPr>
          <p:nvPr>
            <p:ph idx="1"/>
          </p:nvPr>
        </p:nvSpPr>
        <p:spPr>
          <a:xfrm>
            <a:off x="556223" y="2276856"/>
            <a:ext cx="11286818" cy="4413875"/>
          </a:xfrm>
        </p:spPr>
        <p:txBody>
          <a:bodyPr>
            <a:normAutofit lnSpcReduction="10000"/>
          </a:bodyPr>
          <a:lstStyle/>
          <a:p>
            <a:r>
              <a:rPr lang="en-US" sz="3600" b="1" dirty="0"/>
              <a:t>In women</a:t>
            </a:r>
            <a:r>
              <a:rPr lang="en-US" sz="3600" dirty="0"/>
              <a:t>: amenorrhea, galactorrhea, and infertility are hallmark symptoms  </a:t>
            </a:r>
          </a:p>
          <a:p>
            <a:pPr lvl="1"/>
            <a:r>
              <a:rPr lang="en-US" sz="3200" dirty="0"/>
              <a:t>Patients may also complain of decreased libido, weight gain, and mild hirsutism</a:t>
            </a:r>
          </a:p>
          <a:p>
            <a:r>
              <a:rPr lang="en-US" sz="3600" b="1" dirty="0"/>
              <a:t>In men: </a:t>
            </a:r>
            <a:r>
              <a:rPr lang="en-US" sz="3600" dirty="0"/>
              <a:t>gynecomastia, diminished libido, erectile dysfunction, infertility, and visual loss (optic nerve compression) </a:t>
            </a:r>
          </a:p>
          <a:p>
            <a:pPr lvl="1"/>
            <a:r>
              <a:rPr lang="en-US" sz="3200" dirty="0"/>
              <a:t>Pathogenesis: gonadotropin suppression leads to reduced testosterone, impotence, and oligospermia</a:t>
            </a:r>
          </a:p>
          <a:p>
            <a:endParaRPr lang="en-US" sz="2200" dirty="0"/>
          </a:p>
        </p:txBody>
      </p:sp>
    </p:spTree>
    <p:extLst>
      <p:ext uri="{BB962C8B-B14F-4D97-AF65-F5344CB8AC3E}">
        <p14:creationId xmlns:p14="http://schemas.microsoft.com/office/powerpoint/2010/main" val="2456477478"/>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DAF1966E-FD40-4A4A-B61B-C4DF7FA05F0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0" name="Rectangle 9">
            <a:extLst>
              <a:ext uri="{FF2B5EF4-FFF2-40B4-BE49-F238E27FC236}">
                <a16:creationId xmlns:a16="http://schemas.microsoft.com/office/drawing/2014/main" id="{047BFA19-D45E-416B-A404-7AF2F3F270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58209" y="0"/>
            <a:ext cx="11167447" cy="2018806"/>
          </a:xfrm>
          <a:prstGeom prst="rect">
            <a:avLst/>
          </a:prstGeom>
          <a:ln w="9525">
            <a:solidFill>
              <a:srgbClr val="E1E1E1"/>
            </a:solidFill>
          </a:ln>
          <a:effectLst>
            <a:outerShdw blurRad="50800" dist="38100" dir="2700000" algn="t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2" name="Rectangle 11">
            <a:extLst>
              <a:ext uri="{FF2B5EF4-FFF2-40B4-BE49-F238E27FC236}">
                <a16:creationId xmlns:a16="http://schemas.microsoft.com/office/drawing/2014/main" id="{8E0105E7-23DB-4CF2-8258-FF47C7620F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6928" y="0"/>
            <a:ext cx="11155680" cy="2011680"/>
          </a:xfrm>
          <a:prstGeom prst="rect">
            <a:avLst/>
          </a:pr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472A5BCA-71F1-4C50-8F55-0B0F6FD1D4EE}"/>
              </a:ext>
            </a:extLst>
          </p:cNvPr>
          <p:cNvSpPr>
            <a:spLocks noGrp="1"/>
          </p:cNvSpPr>
          <p:nvPr>
            <p:ph type="title"/>
          </p:nvPr>
        </p:nvSpPr>
        <p:spPr>
          <a:xfrm>
            <a:off x="1115568" y="548640"/>
            <a:ext cx="10168128" cy="1179576"/>
          </a:xfrm>
        </p:spPr>
        <p:txBody>
          <a:bodyPr>
            <a:normAutofit/>
          </a:bodyPr>
          <a:lstStyle/>
          <a:p>
            <a:r>
              <a:rPr lang="en-US" sz="4800"/>
              <a:t>Hyperprolactinemia: Diagnosis</a:t>
            </a:r>
          </a:p>
        </p:txBody>
      </p:sp>
      <p:sp>
        <p:nvSpPr>
          <p:cNvPr id="14" name="Rectangle 13">
            <a:extLst>
              <a:ext uri="{FF2B5EF4-FFF2-40B4-BE49-F238E27FC236}">
                <a16:creationId xmlns:a16="http://schemas.microsoft.com/office/drawing/2014/main" id="{074B4F7D-14B2-478B-8BF5-01E4E0C5D26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8834" y="758952"/>
            <a:ext cx="128016"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3" name="Content Placeholder 2">
            <a:extLst>
              <a:ext uri="{FF2B5EF4-FFF2-40B4-BE49-F238E27FC236}">
                <a16:creationId xmlns:a16="http://schemas.microsoft.com/office/drawing/2014/main" id="{79224E94-A1F9-4DF1-A389-2E084D9AD347}"/>
              </a:ext>
            </a:extLst>
          </p:cNvPr>
          <p:cNvSpPr>
            <a:spLocks noGrp="1"/>
          </p:cNvSpPr>
          <p:nvPr>
            <p:ph idx="1"/>
          </p:nvPr>
        </p:nvSpPr>
        <p:spPr>
          <a:xfrm>
            <a:off x="626850" y="2276856"/>
            <a:ext cx="10550392" cy="4753983"/>
          </a:xfrm>
        </p:spPr>
        <p:txBody>
          <a:bodyPr>
            <a:normAutofit/>
          </a:bodyPr>
          <a:lstStyle/>
          <a:p>
            <a:r>
              <a:rPr lang="en-US" sz="3600" b="1" dirty="0"/>
              <a:t>Elevated fasting AM prolactin levels</a:t>
            </a:r>
            <a:r>
              <a:rPr lang="en-US" sz="3600" dirty="0"/>
              <a:t> </a:t>
            </a:r>
          </a:p>
          <a:p>
            <a:pPr lvl="1"/>
            <a:r>
              <a:rPr lang="en-US" sz="3200" dirty="0"/>
              <a:t>Normal is &lt; 20mcg/L </a:t>
            </a:r>
          </a:p>
          <a:p>
            <a:r>
              <a:rPr lang="en-US" sz="3600" dirty="0"/>
              <a:t>Evaluate for other causes of hyperprolactinemia:</a:t>
            </a:r>
          </a:p>
          <a:p>
            <a:pPr lvl="1"/>
            <a:r>
              <a:rPr lang="en-US" sz="3200" dirty="0"/>
              <a:t>Pregnancy (</a:t>
            </a:r>
            <a:r>
              <a:rPr lang="en-US" sz="3200" dirty="0" err="1"/>
              <a:t>hCG</a:t>
            </a:r>
            <a:r>
              <a:rPr lang="en-US" sz="3200" dirty="0"/>
              <a:t>), primary hypothyroidism (TSH + T4), kidney disease (Cr, BUN), cirrhosis (LFTs); medications (antipsychotics-Haldol, Risperdal; Metoclopramide; Verapamil)</a:t>
            </a:r>
          </a:p>
          <a:p>
            <a:r>
              <a:rPr lang="en-US" sz="3600" dirty="0"/>
              <a:t>Pituitary prolactinomas </a:t>
            </a:r>
            <a:r>
              <a:rPr lang="en-US" sz="3600" b="1" dirty="0"/>
              <a:t>may </a:t>
            </a:r>
            <a:r>
              <a:rPr lang="en-US" sz="3600" b="1" dirty="0" err="1"/>
              <a:t>cosecrete</a:t>
            </a:r>
            <a:r>
              <a:rPr lang="en-US" sz="3600" b="1" dirty="0"/>
              <a:t> GH</a:t>
            </a:r>
            <a:endParaRPr lang="en-US" sz="3600" dirty="0"/>
          </a:p>
        </p:txBody>
      </p:sp>
    </p:spTree>
    <p:extLst>
      <p:ext uri="{BB962C8B-B14F-4D97-AF65-F5344CB8AC3E}">
        <p14:creationId xmlns:p14="http://schemas.microsoft.com/office/powerpoint/2010/main" val="2691888096"/>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DAF1966E-FD40-4A4A-B61B-C4DF7FA05F0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0" name="Rectangle 9">
            <a:extLst>
              <a:ext uri="{FF2B5EF4-FFF2-40B4-BE49-F238E27FC236}">
                <a16:creationId xmlns:a16="http://schemas.microsoft.com/office/drawing/2014/main" id="{047BFA19-D45E-416B-A404-7AF2F3F270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58209" y="0"/>
            <a:ext cx="11167447" cy="2018806"/>
          </a:xfrm>
          <a:prstGeom prst="rect">
            <a:avLst/>
          </a:prstGeom>
          <a:ln w="9525">
            <a:solidFill>
              <a:srgbClr val="E1E1E1"/>
            </a:solidFill>
          </a:ln>
          <a:effectLst>
            <a:outerShdw blurRad="50800" dist="38100" dir="2700000" algn="t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2" name="Rectangle 11">
            <a:extLst>
              <a:ext uri="{FF2B5EF4-FFF2-40B4-BE49-F238E27FC236}">
                <a16:creationId xmlns:a16="http://schemas.microsoft.com/office/drawing/2014/main" id="{8E0105E7-23DB-4CF2-8258-FF47C7620F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6928" y="0"/>
            <a:ext cx="11155680" cy="2011680"/>
          </a:xfrm>
          <a:prstGeom prst="rect">
            <a:avLst/>
          </a:pr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472A5BCA-71F1-4C50-8F55-0B0F6FD1D4EE}"/>
              </a:ext>
            </a:extLst>
          </p:cNvPr>
          <p:cNvSpPr>
            <a:spLocks noGrp="1"/>
          </p:cNvSpPr>
          <p:nvPr>
            <p:ph type="title"/>
          </p:nvPr>
        </p:nvSpPr>
        <p:spPr>
          <a:xfrm>
            <a:off x="1115568" y="548640"/>
            <a:ext cx="10168128" cy="1179576"/>
          </a:xfrm>
        </p:spPr>
        <p:txBody>
          <a:bodyPr>
            <a:normAutofit/>
          </a:bodyPr>
          <a:lstStyle/>
          <a:p>
            <a:r>
              <a:rPr lang="en-US" sz="4800"/>
              <a:t>Diagnosing a Prolactinoma</a:t>
            </a:r>
          </a:p>
        </p:txBody>
      </p:sp>
      <p:sp>
        <p:nvSpPr>
          <p:cNvPr id="14" name="Rectangle 13">
            <a:extLst>
              <a:ext uri="{FF2B5EF4-FFF2-40B4-BE49-F238E27FC236}">
                <a16:creationId xmlns:a16="http://schemas.microsoft.com/office/drawing/2014/main" id="{074B4F7D-14B2-478B-8BF5-01E4E0C5D26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8834" y="758952"/>
            <a:ext cx="128016"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3" name="Content Placeholder 2">
            <a:extLst>
              <a:ext uri="{FF2B5EF4-FFF2-40B4-BE49-F238E27FC236}">
                <a16:creationId xmlns:a16="http://schemas.microsoft.com/office/drawing/2014/main" id="{79224E94-A1F9-4DF1-A389-2E084D9AD347}"/>
              </a:ext>
            </a:extLst>
          </p:cNvPr>
          <p:cNvSpPr>
            <a:spLocks noGrp="1"/>
          </p:cNvSpPr>
          <p:nvPr>
            <p:ph idx="1"/>
          </p:nvPr>
        </p:nvSpPr>
        <p:spPr>
          <a:xfrm>
            <a:off x="566928" y="2221992"/>
            <a:ext cx="10550392" cy="4753983"/>
          </a:xfrm>
        </p:spPr>
        <p:txBody>
          <a:bodyPr>
            <a:normAutofit/>
          </a:body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lang="en-US" sz="3200" dirty="0">
                <a:solidFill>
                  <a:prstClr val="black"/>
                </a:solidFill>
                <a:latin typeface="Calibri" panose="020F0502020204030204"/>
              </a:rPr>
              <a:t>A</a:t>
            </a:r>
            <a:r>
              <a:rPr kumimoji="0" lang="en-US" sz="3200" b="0" i="0" u="none" strike="noStrike" kern="1200" cap="none" spc="0" normalizeH="0" baseline="0" noProof="0" dirty="0">
                <a:ln>
                  <a:noFill/>
                </a:ln>
                <a:solidFill>
                  <a:prstClr val="black"/>
                </a:solidFill>
                <a:effectLst/>
                <a:uLnTx/>
                <a:uFillTx/>
                <a:latin typeface="Calibri" panose="020F0502020204030204"/>
                <a:ea typeface="+mn-ea"/>
                <a:cs typeface="+mn-cs"/>
              </a:rPr>
              <a:t> prolactinoma is likely with a </a:t>
            </a:r>
            <a:r>
              <a:rPr kumimoji="0" lang="en-US" sz="3200" b="1" i="0" u="none" strike="noStrike" kern="1200" cap="none" spc="0" normalizeH="0" baseline="0" noProof="0" dirty="0">
                <a:ln>
                  <a:noFill/>
                </a:ln>
                <a:solidFill>
                  <a:prstClr val="black"/>
                </a:solidFill>
                <a:effectLst/>
                <a:uLnTx/>
                <a:uFillTx/>
                <a:latin typeface="Calibri" panose="020F0502020204030204"/>
                <a:ea typeface="+mn-ea"/>
                <a:cs typeface="+mn-cs"/>
              </a:rPr>
              <a:t>PRL level &gt;200 mcg/L</a:t>
            </a:r>
          </a:p>
          <a:p>
            <a:pPr marL="685800" marR="0" lvl="1" indent="-228600" algn="l" defTabSz="914400" rtl="0" eaLnBrk="1" fontAlgn="auto" latinLnBrk="0" hangingPunct="1">
              <a:lnSpc>
                <a:spcPct val="90000"/>
              </a:lnSpc>
              <a:spcBef>
                <a:spcPts val="500"/>
              </a:spcBef>
              <a:spcAft>
                <a:spcPts val="0"/>
              </a:spcAft>
              <a:buClrTx/>
              <a:buSzTx/>
              <a:buFont typeface="Arial" panose="020B0604020202020204" pitchFamily="34" charset="0"/>
              <a:buChar char="•"/>
              <a:tabLst/>
              <a:defRPr/>
            </a:pPr>
            <a:r>
              <a:rPr kumimoji="0" lang="en-US" sz="3000" b="0" i="0" u="none" strike="noStrike" kern="1200" cap="none" spc="0" normalizeH="0" baseline="0" noProof="0" dirty="0">
                <a:ln>
                  <a:noFill/>
                </a:ln>
                <a:solidFill>
                  <a:prstClr val="black"/>
                </a:solidFill>
                <a:effectLst/>
                <a:uLnTx/>
                <a:uFillTx/>
                <a:latin typeface="Calibri" panose="020F0502020204030204"/>
                <a:ea typeface="+mn-ea"/>
                <a:cs typeface="+mn-cs"/>
              </a:rPr>
              <a:t>After exclusion of physiologic, medication-induced or other medical conditions that cause elevated PRL</a:t>
            </a:r>
          </a:p>
          <a:p>
            <a:pPr marL="685800" marR="0" lvl="1" indent="-228600" algn="l" defTabSz="914400" rtl="0" eaLnBrk="1" fontAlgn="auto" latinLnBrk="0" hangingPunct="1">
              <a:lnSpc>
                <a:spcPct val="90000"/>
              </a:lnSpc>
              <a:spcBef>
                <a:spcPts val="500"/>
              </a:spcBef>
              <a:spcAft>
                <a:spcPts val="0"/>
              </a:spcAft>
              <a:buClrTx/>
              <a:buSzTx/>
              <a:buFont typeface="Arial" panose="020B0604020202020204" pitchFamily="34" charset="0"/>
              <a:buChar char="•"/>
              <a:tabLst/>
              <a:defRPr/>
            </a:pPr>
            <a:r>
              <a:rPr kumimoji="0" lang="en-US" sz="3000" b="0" i="0" u="none" strike="noStrike" kern="1200" cap="none" spc="0" normalizeH="0" baseline="0" noProof="0" dirty="0">
                <a:ln>
                  <a:noFill/>
                </a:ln>
                <a:solidFill>
                  <a:prstClr val="black"/>
                </a:solidFill>
                <a:effectLst/>
                <a:uLnTx/>
                <a:uFillTx/>
                <a:latin typeface="Calibri" panose="020F0502020204030204"/>
                <a:ea typeface="+mn-ea"/>
                <a:cs typeface="+mn-cs"/>
              </a:rPr>
              <a:t>Levels &lt; 100 mcg/L may be caused by microadenomas or other causes of elevated PRL</a:t>
            </a:r>
          </a:p>
          <a:p>
            <a:endParaRPr lang="en-US" sz="3600" dirty="0"/>
          </a:p>
        </p:txBody>
      </p:sp>
      <p:sp>
        <p:nvSpPr>
          <p:cNvPr id="4" name="TextBox 3">
            <a:extLst>
              <a:ext uri="{FF2B5EF4-FFF2-40B4-BE49-F238E27FC236}">
                <a16:creationId xmlns:a16="http://schemas.microsoft.com/office/drawing/2014/main" id="{3F793051-69FE-A871-268B-F24C85611393}"/>
              </a:ext>
            </a:extLst>
          </p:cNvPr>
          <p:cNvSpPr txBox="1"/>
          <p:nvPr/>
        </p:nvSpPr>
        <p:spPr>
          <a:xfrm>
            <a:off x="1623720" y="4832032"/>
            <a:ext cx="9036423" cy="1477328"/>
          </a:xfrm>
          <a:prstGeom prst="rect">
            <a:avLst/>
          </a:prstGeom>
          <a:noFill/>
          <a:ln w="28575">
            <a:solidFill>
              <a:schemeClr val="tx1"/>
            </a:solidFill>
          </a:ln>
        </p:spPr>
        <p:txBody>
          <a:bodyPr wrap="square" rtlCol="0">
            <a:spAutoFit/>
          </a:bodyPr>
          <a:lstStyle/>
          <a:p>
            <a:pPr algn="ctr"/>
            <a:r>
              <a:rPr lang="en-US" sz="3600" b="1"/>
              <a:t>Pituitary MRI should be performed in all patients with hyperprolactinemia</a:t>
            </a:r>
          </a:p>
          <a:p>
            <a:endParaRPr lang="en-US"/>
          </a:p>
        </p:txBody>
      </p:sp>
    </p:spTree>
    <p:extLst>
      <p:ext uri="{BB962C8B-B14F-4D97-AF65-F5344CB8AC3E}">
        <p14:creationId xmlns:p14="http://schemas.microsoft.com/office/powerpoint/2010/main" val="1327202304"/>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E85A45DA-09F0-43A2-8675-3FDBC9987D98}"/>
              </a:ext>
            </a:extLst>
          </p:cNvPr>
          <p:cNvSpPr txBox="1"/>
          <p:nvPr/>
        </p:nvSpPr>
        <p:spPr>
          <a:xfrm>
            <a:off x="3006089" y="362398"/>
            <a:ext cx="5572461" cy="646331"/>
          </a:xfrm>
          <a:prstGeom prst="rect">
            <a:avLst/>
          </a:prstGeom>
          <a:noFill/>
        </p:spPr>
        <p:txBody>
          <a:bodyPr wrap="square" rtlCol="0">
            <a:spAutoFit/>
          </a:bodyPr>
          <a:lstStyle/>
          <a:p>
            <a:r>
              <a:rPr lang="en-US" sz="3600"/>
              <a:t>Pituitary Adenoma on MRI </a:t>
            </a:r>
          </a:p>
        </p:txBody>
      </p:sp>
      <p:pic>
        <p:nvPicPr>
          <p:cNvPr id="5124" name="Picture 4" descr="A coronal MRI shows the enlarged pituitary adenoma pushing into the optic chiasm.">
            <a:extLst>
              <a:ext uri="{FF2B5EF4-FFF2-40B4-BE49-F238E27FC236}">
                <a16:creationId xmlns:a16="http://schemas.microsoft.com/office/drawing/2014/main" id="{87F6729E-D36B-41B2-B853-34B9AEFA379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773167" y="1391099"/>
            <a:ext cx="6059234" cy="510450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07548257"/>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DAF1966E-FD40-4A4A-B61B-C4DF7FA05F0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0" name="Rectangle 9">
            <a:extLst>
              <a:ext uri="{FF2B5EF4-FFF2-40B4-BE49-F238E27FC236}">
                <a16:creationId xmlns:a16="http://schemas.microsoft.com/office/drawing/2014/main" id="{047BFA19-D45E-416B-A404-7AF2F3F270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58209" y="0"/>
            <a:ext cx="11167447" cy="2018806"/>
          </a:xfrm>
          <a:prstGeom prst="rect">
            <a:avLst/>
          </a:prstGeom>
          <a:ln w="9525">
            <a:solidFill>
              <a:srgbClr val="E1E1E1"/>
            </a:solidFill>
          </a:ln>
          <a:effectLst>
            <a:outerShdw blurRad="50800" dist="38100" dir="2700000" algn="t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2" name="Rectangle 11">
            <a:extLst>
              <a:ext uri="{FF2B5EF4-FFF2-40B4-BE49-F238E27FC236}">
                <a16:creationId xmlns:a16="http://schemas.microsoft.com/office/drawing/2014/main" id="{8E0105E7-23DB-4CF2-8258-FF47C7620F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6928" y="0"/>
            <a:ext cx="11155680" cy="2011680"/>
          </a:xfrm>
          <a:prstGeom prst="rect">
            <a:avLst/>
          </a:pr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0C423647-60E8-4D76-94B9-23E7CB8425CD}"/>
              </a:ext>
            </a:extLst>
          </p:cNvPr>
          <p:cNvSpPr>
            <a:spLocks noGrp="1"/>
          </p:cNvSpPr>
          <p:nvPr>
            <p:ph type="title"/>
          </p:nvPr>
        </p:nvSpPr>
        <p:spPr>
          <a:xfrm>
            <a:off x="1115568" y="548640"/>
            <a:ext cx="10168128" cy="1179576"/>
          </a:xfrm>
        </p:spPr>
        <p:txBody>
          <a:bodyPr>
            <a:normAutofit/>
          </a:bodyPr>
          <a:lstStyle/>
          <a:p>
            <a:r>
              <a:rPr lang="en-US" sz="4800" dirty="0"/>
              <a:t>Prolactinomas: Treatment</a:t>
            </a:r>
          </a:p>
        </p:txBody>
      </p:sp>
      <p:sp>
        <p:nvSpPr>
          <p:cNvPr id="14" name="Rectangle 13">
            <a:extLst>
              <a:ext uri="{FF2B5EF4-FFF2-40B4-BE49-F238E27FC236}">
                <a16:creationId xmlns:a16="http://schemas.microsoft.com/office/drawing/2014/main" id="{074B4F7D-14B2-478B-8BF5-01E4E0C5D26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8834" y="758952"/>
            <a:ext cx="128016"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3" name="Content Placeholder 2">
            <a:extLst>
              <a:ext uri="{FF2B5EF4-FFF2-40B4-BE49-F238E27FC236}">
                <a16:creationId xmlns:a16="http://schemas.microsoft.com/office/drawing/2014/main" id="{317BD449-F361-4B65-8935-7488F08ADA2D}"/>
              </a:ext>
            </a:extLst>
          </p:cNvPr>
          <p:cNvSpPr>
            <a:spLocks noGrp="1"/>
          </p:cNvSpPr>
          <p:nvPr>
            <p:ph idx="1"/>
          </p:nvPr>
        </p:nvSpPr>
        <p:spPr>
          <a:xfrm>
            <a:off x="558208" y="2278162"/>
            <a:ext cx="11164399" cy="4579838"/>
          </a:xfrm>
        </p:spPr>
        <p:txBody>
          <a:bodyPr>
            <a:normAutofit/>
          </a:bodyPr>
          <a:lstStyle/>
          <a:p>
            <a:r>
              <a:rPr lang="en-US" sz="3200" dirty="0"/>
              <a:t>Because microadenomas rarely progress to become macroadenomas, </a:t>
            </a:r>
            <a:r>
              <a:rPr lang="en-US" sz="3200" b="1" dirty="0"/>
              <a:t>no treatment may be needed if patients are asymptomatic, and fertility is not desired</a:t>
            </a:r>
          </a:p>
          <a:p>
            <a:pPr lvl="1"/>
            <a:r>
              <a:rPr lang="en-US" sz="3200" dirty="0"/>
              <a:t>Monitor: regular serial PRL measurements and MRIs</a:t>
            </a:r>
          </a:p>
          <a:p>
            <a:r>
              <a:rPr lang="en-US" sz="3200" dirty="0"/>
              <a:t>Symptomatic patients: </a:t>
            </a:r>
            <a:r>
              <a:rPr lang="en-US" sz="3200" b="1" dirty="0"/>
              <a:t>dopamine agonists </a:t>
            </a:r>
            <a:r>
              <a:rPr lang="en-US" sz="3200" dirty="0"/>
              <a:t>– titrated to normal PRL levels and resumption of fertility </a:t>
            </a:r>
          </a:p>
          <a:p>
            <a:pPr lvl="1"/>
            <a:r>
              <a:rPr lang="en-US" sz="3200" b="1" dirty="0"/>
              <a:t>Cabergoline</a:t>
            </a:r>
            <a:r>
              <a:rPr lang="en-US" sz="3200" dirty="0"/>
              <a:t> (</a:t>
            </a:r>
            <a:r>
              <a:rPr lang="en-US" sz="3200" dirty="0" err="1"/>
              <a:t>Dostinex</a:t>
            </a:r>
            <a:r>
              <a:rPr lang="en-US" sz="3200" dirty="0"/>
              <a:t>) </a:t>
            </a:r>
            <a:r>
              <a:rPr lang="en-US" sz="3200" i="1" dirty="0"/>
              <a:t>or</a:t>
            </a:r>
            <a:endParaRPr lang="en-US" sz="3200" dirty="0"/>
          </a:p>
          <a:p>
            <a:pPr lvl="1"/>
            <a:r>
              <a:rPr lang="en-US" sz="3200" b="1" dirty="0"/>
              <a:t>Bromocriptine </a:t>
            </a:r>
            <a:r>
              <a:rPr lang="en-US" sz="3200" dirty="0"/>
              <a:t>(</a:t>
            </a:r>
            <a:r>
              <a:rPr lang="en-US" sz="3200" dirty="0" err="1"/>
              <a:t>Parlodel</a:t>
            </a:r>
            <a:r>
              <a:rPr lang="en-US" sz="3200" dirty="0"/>
              <a:t>) </a:t>
            </a:r>
          </a:p>
        </p:txBody>
      </p:sp>
    </p:spTree>
    <p:extLst>
      <p:ext uri="{BB962C8B-B14F-4D97-AF65-F5344CB8AC3E}">
        <p14:creationId xmlns:p14="http://schemas.microsoft.com/office/powerpoint/2010/main" val="1733882238"/>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F689B4-B902-4EBF-B489-85A8F060C1CD}"/>
              </a:ext>
            </a:extLst>
          </p:cNvPr>
          <p:cNvSpPr>
            <a:spLocks noGrp="1"/>
          </p:cNvSpPr>
          <p:nvPr>
            <p:ph type="title"/>
          </p:nvPr>
        </p:nvSpPr>
        <p:spPr>
          <a:xfrm>
            <a:off x="838200" y="0"/>
            <a:ext cx="10515600" cy="1325563"/>
          </a:xfrm>
        </p:spPr>
        <p:txBody>
          <a:bodyPr/>
          <a:lstStyle/>
          <a:p>
            <a:pPr algn="ctr"/>
            <a:r>
              <a:rPr lang="en-US" dirty="0"/>
              <a:t>Why dopamine agonists? </a:t>
            </a:r>
          </a:p>
        </p:txBody>
      </p:sp>
      <p:pic>
        <p:nvPicPr>
          <p:cNvPr id="7" name="Picture 6">
            <a:extLst>
              <a:ext uri="{FF2B5EF4-FFF2-40B4-BE49-F238E27FC236}">
                <a16:creationId xmlns:a16="http://schemas.microsoft.com/office/drawing/2014/main" id="{AB3A6FA9-5187-81C5-12CB-DD181AE5699F}"/>
              </a:ext>
            </a:extLst>
          </p:cNvPr>
          <p:cNvPicPr>
            <a:picLocks noChangeAspect="1"/>
          </p:cNvPicPr>
          <p:nvPr/>
        </p:nvPicPr>
        <p:blipFill>
          <a:blip r:embed="rId3"/>
          <a:stretch>
            <a:fillRect/>
          </a:stretch>
        </p:blipFill>
        <p:spPr>
          <a:xfrm>
            <a:off x="1684495" y="1420156"/>
            <a:ext cx="9204633" cy="5177606"/>
          </a:xfrm>
          <a:prstGeom prst="rect">
            <a:avLst/>
          </a:prstGeom>
          <a:ln>
            <a:solidFill>
              <a:schemeClr val="tx1"/>
            </a:solidFill>
          </a:ln>
        </p:spPr>
      </p:pic>
      <p:sp>
        <p:nvSpPr>
          <p:cNvPr id="5" name="Oval 4">
            <a:extLst>
              <a:ext uri="{FF2B5EF4-FFF2-40B4-BE49-F238E27FC236}">
                <a16:creationId xmlns:a16="http://schemas.microsoft.com/office/drawing/2014/main" id="{BF7FA810-959F-4786-9A22-8C133965427A}"/>
              </a:ext>
            </a:extLst>
          </p:cNvPr>
          <p:cNvSpPr/>
          <p:nvPr/>
        </p:nvSpPr>
        <p:spPr>
          <a:xfrm>
            <a:off x="1106302" y="3069350"/>
            <a:ext cx="10361020" cy="3788649"/>
          </a:xfrm>
          <a:prstGeom prst="ellipse">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578528449"/>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DAF1966E-FD40-4A4A-B61B-C4DF7FA05F0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0" name="Rectangle 9">
            <a:extLst>
              <a:ext uri="{FF2B5EF4-FFF2-40B4-BE49-F238E27FC236}">
                <a16:creationId xmlns:a16="http://schemas.microsoft.com/office/drawing/2014/main" id="{047BFA19-D45E-416B-A404-7AF2F3F270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58209" y="0"/>
            <a:ext cx="11167447" cy="2018806"/>
          </a:xfrm>
          <a:prstGeom prst="rect">
            <a:avLst/>
          </a:prstGeom>
          <a:ln w="9525">
            <a:solidFill>
              <a:srgbClr val="E1E1E1"/>
            </a:solidFill>
          </a:ln>
          <a:effectLst>
            <a:outerShdw blurRad="50800" dist="38100" dir="2700000" algn="t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2" name="Rectangle 11">
            <a:extLst>
              <a:ext uri="{FF2B5EF4-FFF2-40B4-BE49-F238E27FC236}">
                <a16:creationId xmlns:a16="http://schemas.microsoft.com/office/drawing/2014/main" id="{8E0105E7-23DB-4CF2-8258-FF47C7620F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6928" y="0"/>
            <a:ext cx="11155680" cy="2011680"/>
          </a:xfrm>
          <a:prstGeom prst="rect">
            <a:avLst/>
          </a:pr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783E280E-C592-44B0-A605-F0D960DFE62C}"/>
              </a:ext>
            </a:extLst>
          </p:cNvPr>
          <p:cNvSpPr>
            <a:spLocks noGrp="1"/>
          </p:cNvSpPr>
          <p:nvPr>
            <p:ph type="title"/>
          </p:nvPr>
        </p:nvSpPr>
        <p:spPr>
          <a:xfrm>
            <a:off x="1115568" y="548640"/>
            <a:ext cx="10168128" cy="1179576"/>
          </a:xfrm>
        </p:spPr>
        <p:txBody>
          <a:bodyPr>
            <a:normAutofit/>
          </a:bodyPr>
          <a:lstStyle/>
          <a:p>
            <a:r>
              <a:rPr lang="en-US" sz="4800" dirty="0"/>
              <a:t>Prolactinomas: Treatment </a:t>
            </a:r>
          </a:p>
        </p:txBody>
      </p:sp>
      <p:sp>
        <p:nvSpPr>
          <p:cNvPr id="14" name="Rectangle 13">
            <a:extLst>
              <a:ext uri="{FF2B5EF4-FFF2-40B4-BE49-F238E27FC236}">
                <a16:creationId xmlns:a16="http://schemas.microsoft.com/office/drawing/2014/main" id="{074B4F7D-14B2-478B-8BF5-01E4E0C5D26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8834" y="758952"/>
            <a:ext cx="128016"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3" name="Content Placeholder 2">
            <a:extLst>
              <a:ext uri="{FF2B5EF4-FFF2-40B4-BE49-F238E27FC236}">
                <a16:creationId xmlns:a16="http://schemas.microsoft.com/office/drawing/2014/main" id="{E9870260-AE5D-4F4B-A55A-1B7701853D47}"/>
              </a:ext>
            </a:extLst>
          </p:cNvPr>
          <p:cNvSpPr>
            <a:spLocks noGrp="1"/>
          </p:cNvSpPr>
          <p:nvPr>
            <p:ph idx="1"/>
          </p:nvPr>
        </p:nvSpPr>
        <p:spPr>
          <a:xfrm>
            <a:off x="566928" y="2481942"/>
            <a:ext cx="10716768" cy="4097533"/>
          </a:xfrm>
        </p:spPr>
        <p:txBody>
          <a:bodyPr>
            <a:normAutofit/>
          </a:bodyPr>
          <a:lstStyle/>
          <a:p>
            <a:r>
              <a:rPr lang="en-US" sz="3600" dirty="0"/>
              <a:t>In patients with microadenomas who have achieved </a:t>
            </a:r>
            <a:r>
              <a:rPr lang="en-US" sz="3600" dirty="0" err="1"/>
              <a:t>normoprolactinemia</a:t>
            </a:r>
            <a:r>
              <a:rPr lang="en-US" sz="3600" dirty="0"/>
              <a:t> and significant reduction of tumor mass,</a:t>
            </a:r>
            <a:r>
              <a:rPr lang="en-US" sz="3600" b="1" dirty="0"/>
              <a:t> the dopamine agonist may be withdrawn after 2 years</a:t>
            </a:r>
            <a:r>
              <a:rPr lang="en-US" sz="3600" dirty="0"/>
              <a:t>. </a:t>
            </a:r>
          </a:p>
          <a:p>
            <a:pPr lvl="1"/>
            <a:r>
              <a:rPr lang="en-US" sz="3200" dirty="0"/>
              <a:t>Monitor for recurrence </a:t>
            </a:r>
          </a:p>
          <a:p>
            <a:r>
              <a:rPr lang="en-US" sz="3600" dirty="0"/>
              <a:t>About 20% of patients (especially males) are resistant to dopaminergic treatment</a:t>
            </a:r>
          </a:p>
        </p:txBody>
      </p:sp>
    </p:spTree>
    <p:extLst>
      <p:ext uri="{BB962C8B-B14F-4D97-AF65-F5344CB8AC3E}">
        <p14:creationId xmlns:p14="http://schemas.microsoft.com/office/powerpoint/2010/main" val="4043588544"/>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DAF1966E-FD40-4A4A-B61B-C4DF7FA05F0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0" name="Rectangle 9">
            <a:extLst>
              <a:ext uri="{FF2B5EF4-FFF2-40B4-BE49-F238E27FC236}">
                <a16:creationId xmlns:a16="http://schemas.microsoft.com/office/drawing/2014/main" id="{047BFA19-D45E-416B-A404-7AF2F3F270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58209" y="0"/>
            <a:ext cx="11167447" cy="2018806"/>
          </a:xfrm>
          <a:prstGeom prst="rect">
            <a:avLst/>
          </a:prstGeom>
          <a:ln w="9525">
            <a:solidFill>
              <a:srgbClr val="E1E1E1"/>
            </a:solidFill>
          </a:ln>
          <a:effectLst>
            <a:outerShdw blurRad="50800" dist="38100" dir="2700000" algn="t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2" name="Rectangle 11">
            <a:extLst>
              <a:ext uri="{FF2B5EF4-FFF2-40B4-BE49-F238E27FC236}">
                <a16:creationId xmlns:a16="http://schemas.microsoft.com/office/drawing/2014/main" id="{8E0105E7-23DB-4CF2-8258-FF47C7620F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6928" y="0"/>
            <a:ext cx="11155680" cy="2011680"/>
          </a:xfrm>
          <a:prstGeom prst="rect">
            <a:avLst/>
          </a:pr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FF700429-FAAC-4209-89E1-C8416DFAF02D}"/>
              </a:ext>
            </a:extLst>
          </p:cNvPr>
          <p:cNvSpPr>
            <a:spLocks noGrp="1"/>
          </p:cNvSpPr>
          <p:nvPr>
            <p:ph type="title"/>
          </p:nvPr>
        </p:nvSpPr>
        <p:spPr>
          <a:xfrm>
            <a:off x="1115568" y="548640"/>
            <a:ext cx="10168128" cy="1179576"/>
          </a:xfrm>
        </p:spPr>
        <p:txBody>
          <a:bodyPr>
            <a:normAutofit/>
          </a:bodyPr>
          <a:lstStyle/>
          <a:p>
            <a:r>
              <a:rPr lang="en-US" sz="4800" dirty="0"/>
              <a:t>Prolactinomas: Treatment </a:t>
            </a:r>
          </a:p>
        </p:txBody>
      </p:sp>
      <p:sp>
        <p:nvSpPr>
          <p:cNvPr id="14" name="Rectangle 13">
            <a:extLst>
              <a:ext uri="{FF2B5EF4-FFF2-40B4-BE49-F238E27FC236}">
                <a16:creationId xmlns:a16="http://schemas.microsoft.com/office/drawing/2014/main" id="{074B4F7D-14B2-478B-8BF5-01E4E0C5D26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8834" y="758952"/>
            <a:ext cx="128016"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3" name="Content Placeholder 2">
            <a:extLst>
              <a:ext uri="{FF2B5EF4-FFF2-40B4-BE49-F238E27FC236}">
                <a16:creationId xmlns:a16="http://schemas.microsoft.com/office/drawing/2014/main" id="{5578A519-4753-4B70-A84C-FDE449C16510}"/>
              </a:ext>
            </a:extLst>
          </p:cNvPr>
          <p:cNvSpPr>
            <a:spLocks noGrp="1"/>
          </p:cNvSpPr>
          <p:nvPr>
            <p:ph idx="1"/>
          </p:nvPr>
        </p:nvSpPr>
        <p:spPr>
          <a:xfrm>
            <a:off x="558209" y="2221992"/>
            <a:ext cx="10725487" cy="4389015"/>
          </a:xfrm>
        </p:spPr>
        <p:txBody>
          <a:bodyPr>
            <a:normAutofit/>
          </a:bodyPr>
          <a:lstStyle/>
          <a:p>
            <a:r>
              <a:rPr lang="en-US" sz="3600" b="1" dirty="0"/>
              <a:t>Transsphenoidal pituitary surgery </a:t>
            </a:r>
            <a:r>
              <a:rPr lang="en-US" sz="3600" dirty="0"/>
              <a:t>is the treatment of choice for the following scenarios: </a:t>
            </a:r>
          </a:p>
          <a:p>
            <a:pPr lvl="1"/>
            <a:r>
              <a:rPr lang="en-US" sz="3200" dirty="0"/>
              <a:t>Large pituitary adenoma with severe vision compromise or apoplexy</a:t>
            </a:r>
          </a:p>
          <a:p>
            <a:pPr lvl="1"/>
            <a:r>
              <a:rPr lang="en-US" sz="3200" dirty="0"/>
              <a:t>Patients with dopamine resistance or intolerance </a:t>
            </a:r>
          </a:p>
          <a:p>
            <a:pPr lvl="1"/>
            <a:r>
              <a:rPr lang="en-US" sz="3200" dirty="0"/>
              <a:t>The presence of an invasive macroadenoma with compromised vision that fails to improve after drug treatment</a:t>
            </a:r>
          </a:p>
        </p:txBody>
      </p:sp>
    </p:spTree>
    <p:extLst>
      <p:ext uri="{BB962C8B-B14F-4D97-AF65-F5344CB8AC3E}">
        <p14:creationId xmlns:p14="http://schemas.microsoft.com/office/powerpoint/2010/main" val="3150939106"/>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762EB8CF-FD06-4A0E-89FE-18E7CF530C4F}"/>
              </a:ext>
            </a:extLst>
          </p:cNvPr>
          <p:cNvPicPr>
            <a:picLocks noChangeAspect="1"/>
          </p:cNvPicPr>
          <p:nvPr/>
        </p:nvPicPr>
        <p:blipFill>
          <a:blip r:embed="rId3"/>
          <a:stretch>
            <a:fillRect/>
          </a:stretch>
        </p:blipFill>
        <p:spPr>
          <a:xfrm>
            <a:off x="4765637" y="268941"/>
            <a:ext cx="7211343" cy="6318367"/>
          </a:xfrm>
          <a:prstGeom prst="rect">
            <a:avLst/>
          </a:prstGeom>
        </p:spPr>
      </p:pic>
      <p:sp>
        <p:nvSpPr>
          <p:cNvPr id="3" name="TextBox 2">
            <a:extLst>
              <a:ext uri="{FF2B5EF4-FFF2-40B4-BE49-F238E27FC236}">
                <a16:creationId xmlns:a16="http://schemas.microsoft.com/office/drawing/2014/main" id="{CD005C36-7EF3-4C9E-8127-2962FCBBE0BD}"/>
              </a:ext>
            </a:extLst>
          </p:cNvPr>
          <p:cNvSpPr txBox="1"/>
          <p:nvPr/>
        </p:nvSpPr>
        <p:spPr>
          <a:xfrm>
            <a:off x="551330" y="677732"/>
            <a:ext cx="3840480" cy="1323439"/>
          </a:xfrm>
          <a:prstGeom prst="rect">
            <a:avLst/>
          </a:prstGeom>
          <a:noFill/>
        </p:spPr>
        <p:txBody>
          <a:bodyPr wrap="square" rtlCol="0">
            <a:spAutoFit/>
          </a:bodyPr>
          <a:lstStyle/>
          <a:p>
            <a:pPr algn="ctr"/>
            <a:r>
              <a:rPr lang="en-US" sz="4000"/>
              <a:t>Transsphenoidal Surgery </a:t>
            </a:r>
          </a:p>
        </p:txBody>
      </p:sp>
      <p:pic>
        <p:nvPicPr>
          <p:cNvPr id="4" name="Picture 3">
            <a:extLst>
              <a:ext uri="{FF2B5EF4-FFF2-40B4-BE49-F238E27FC236}">
                <a16:creationId xmlns:a16="http://schemas.microsoft.com/office/drawing/2014/main" id="{ACEC5BE9-1DA2-4171-B3B0-553F98A3B409}"/>
              </a:ext>
            </a:extLst>
          </p:cNvPr>
          <p:cNvPicPr>
            <a:picLocks noChangeAspect="1" noChangeArrowheads="1"/>
          </p:cNvPicPr>
          <p:nvPr/>
        </p:nvPicPr>
        <p:blipFill>
          <a:blip r:embed="rId4" cstate="print"/>
          <a:srcRect b="62458"/>
          <a:stretch>
            <a:fillRect/>
          </a:stretch>
        </p:blipFill>
        <p:spPr bwMode="auto">
          <a:xfrm>
            <a:off x="551330" y="3352450"/>
            <a:ext cx="4419600" cy="2827818"/>
          </a:xfrm>
          <a:prstGeom prst="rect">
            <a:avLst/>
          </a:prstGeom>
          <a:noFill/>
        </p:spPr>
      </p:pic>
    </p:spTree>
    <p:extLst>
      <p:ext uri="{BB962C8B-B14F-4D97-AF65-F5344CB8AC3E}">
        <p14:creationId xmlns:p14="http://schemas.microsoft.com/office/powerpoint/2010/main" val="193405516"/>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70C870B1-027A-6F57-3514-4C0BC5BD7388}"/>
              </a:ext>
            </a:extLst>
          </p:cNvPr>
          <p:cNvPicPr>
            <a:picLocks noChangeAspect="1"/>
          </p:cNvPicPr>
          <p:nvPr/>
        </p:nvPicPr>
        <p:blipFill>
          <a:blip r:embed="rId3"/>
          <a:stretch>
            <a:fillRect/>
          </a:stretch>
        </p:blipFill>
        <p:spPr>
          <a:xfrm>
            <a:off x="2125240" y="174171"/>
            <a:ext cx="7941519" cy="7239000"/>
          </a:xfrm>
          <a:prstGeom prst="rect">
            <a:avLst/>
          </a:prstGeom>
        </p:spPr>
      </p:pic>
    </p:spTree>
    <p:extLst>
      <p:ext uri="{BB962C8B-B14F-4D97-AF65-F5344CB8AC3E}">
        <p14:creationId xmlns:p14="http://schemas.microsoft.com/office/powerpoint/2010/main" val="2447609165"/>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DAF1966E-FD40-4A4A-B61B-C4DF7FA05F0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0" name="Rectangle 9">
            <a:extLst>
              <a:ext uri="{FF2B5EF4-FFF2-40B4-BE49-F238E27FC236}">
                <a16:creationId xmlns:a16="http://schemas.microsoft.com/office/drawing/2014/main" id="{047BFA19-D45E-416B-A404-7AF2F3F270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58209" y="0"/>
            <a:ext cx="11167447" cy="2018806"/>
          </a:xfrm>
          <a:prstGeom prst="rect">
            <a:avLst/>
          </a:prstGeom>
          <a:ln w="9525">
            <a:solidFill>
              <a:srgbClr val="E1E1E1"/>
            </a:solidFill>
          </a:ln>
          <a:effectLst>
            <a:outerShdw blurRad="50800" dist="38100" dir="2700000" algn="t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2" name="Rectangle 11">
            <a:extLst>
              <a:ext uri="{FF2B5EF4-FFF2-40B4-BE49-F238E27FC236}">
                <a16:creationId xmlns:a16="http://schemas.microsoft.com/office/drawing/2014/main" id="{8E0105E7-23DB-4CF2-8258-FF47C7620F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6928" y="0"/>
            <a:ext cx="11155680" cy="2011680"/>
          </a:xfrm>
          <a:prstGeom prst="rect">
            <a:avLst/>
          </a:pr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C2E10E7F-27BE-4CD2-BCF7-AE72803626ED}"/>
              </a:ext>
            </a:extLst>
          </p:cNvPr>
          <p:cNvSpPr>
            <a:spLocks noGrp="1"/>
          </p:cNvSpPr>
          <p:nvPr>
            <p:ph type="title"/>
          </p:nvPr>
        </p:nvSpPr>
        <p:spPr>
          <a:xfrm>
            <a:off x="831788" y="521208"/>
            <a:ext cx="10168128" cy="1179576"/>
          </a:xfrm>
        </p:spPr>
        <p:txBody>
          <a:bodyPr>
            <a:normAutofit/>
          </a:bodyPr>
          <a:lstStyle/>
          <a:p>
            <a:r>
              <a:rPr lang="en-US" sz="4800" dirty="0"/>
              <a:t>Growth Hormone Hypersecretion </a:t>
            </a:r>
          </a:p>
        </p:txBody>
      </p:sp>
      <p:sp>
        <p:nvSpPr>
          <p:cNvPr id="14" name="Rectangle 13">
            <a:extLst>
              <a:ext uri="{FF2B5EF4-FFF2-40B4-BE49-F238E27FC236}">
                <a16:creationId xmlns:a16="http://schemas.microsoft.com/office/drawing/2014/main" id="{074B4F7D-14B2-478B-8BF5-01E4E0C5D26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8834" y="758952"/>
            <a:ext cx="128016"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3" name="Content Placeholder 2">
            <a:extLst>
              <a:ext uri="{FF2B5EF4-FFF2-40B4-BE49-F238E27FC236}">
                <a16:creationId xmlns:a16="http://schemas.microsoft.com/office/drawing/2014/main" id="{C962526C-CB77-454D-84A2-854CC2C7C6D9}"/>
              </a:ext>
            </a:extLst>
          </p:cNvPr>
          <p:cNvSpPr>
            <a:spLocks noGrp="1"/>
          </p:cNvSpPr>
          <p:nvPr>
            <p:ph idx="1"/>
          </p:nvPr>
        </p:nvSpPr>
        <p:spPr>
          <a:xfrm>
            <a:off x="512276" y="2221992"/>
            <a:ext cx="11167447" cy="4557180"/>
          </a:xfrm>
        </p:spPr>
        <p:txBody>
          <a:bodyPr>
            <a:normAutofit/>
          </a:bodyPr>
          <a:lstStyle/>
          <a:p>
            <a:r>
              <a:rPr lang="en-US" sz="3600" dirty="0"/>
              <a:t>If functional, macroadenomas most often secrete </a:t>
            </a:r>
            <a:r>
              <a:rPr lang="en-US" sz="3600" b="1" dirty="0"/>
              <a:t>growth hormone (GH), </a:t>
            </a:r>
            <a:r>
              <a:rPr lang="en-US" sz="3600" dirty="0"/>
              <a:t>which leads to secretion of IGF-1</a:t>
            </a:r>
          </a:p>
          <a:p>
            <a:r>
              <a:rPr lang="en-US" sz="3600" dirty="0"/>
              <a:t>Excessive GH causes </a:t>
            </a:r>
            <a:r>
              <a:rPr lang="en-US" sz="3600" b="1" dirty="0"/>
              <a:t>tall stature and gigantism </a:t>
            </a:r>
            <a:r>
              <a:rPr lang="en-US" sz="3600" dirty="0"/>
              <a:t>if it occurs in youth, before closure of epiphyses. </a:t>
            </a:r>
          </a:p>
          <a:p>
            <a:r>
              <a:rPr lang="en-US" sz="3600" dirty="0"/>
              <a:t>After closure of long bone epiphyses in adults, </a:t>
            </a:r>
            <a:r>
              <a:rPr lang="en-US" sz="3600" b="1" dirty="0"/>
              <a:t>acromegaly results </a:t>
            </a:r>
          </a:p>
          <a:p>
            <a:pPr lvl="1"/>
            <a:r>
              <a:rPr lang="en-US" sz="3200" dirty="0"/>
              <a:t>Long bones cannot get any longer, but they do get larger </a:t>
            </a:r>
          </a:p>
        </p:txBody>
      </p:sp>
    </p:spTree>
    <p:extLst>
      <p:ext uri="{BB962C8B-B14F-4D97-AF65-F5344CB8AC3E}">
        <p14:creationId xmlns:p14="http://schemas.microsoft.com/office/powerpoint/2010/main" val="892761514"/>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84ECDE7A-6944-466D-8FFE-149A29BA6BA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1" name="Rectangle 10">
            <a:extLst>
              <a:ext uri="{FF2B5EF4-FFF2-40B4-BE49-F238E27FC236}">
                <a16:creationId xmlns:a16="http://schemas.microsoft.com/office/drawing/2014/main" id="{B3420082-9415-44EC-802E-C77D71D59C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58209" y="0"/>
            <a:ext cx="11167447" cy="2018806"/>
          </a:xfrm>
          <a:prstGeom prst="rect">
            <a:avLst/>
          </a:prstGeom>
          <a:ln w="12700">
            <a:solidFill>
              <a:srgbClr val="E1E1E1"/>
            </a:solidFill>
          </a:ln>
          <a:effectLst>
            <a:outerShdw blurRad="50800" dist="38100" dir="2700000" algn="t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3" name="Rectangle 12">
            <a:extLst>
              <a:ext uri="{FF2B5EF4-FFF2-40B4-BE49-F238E27FC236}">
                <a16:creationId xmlns:a16="http://schemas.microsoft.com/office/drawing/2014/main" id="{55A52C45-1FCB-4636-A80F-2849B8226C0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6928" y="0"/>
            <a:ext cx="11155680" cy="2011680"/>
          </a:xfrm>
          <a:prstGeom prst="rect">
            <a:avLst/>
          </a:prstGeom>
          <a:ln w="1270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1E4748EE-E074-4622-99F1-9AE3DDF84A02}"/>
              </a:ext>
            </a:extLst>
          </p:cNvPr>
          <p:cNvSpPr>
            <a:spLocks noGrp="1"/>
          </p:cNvSpPr>
          <p:nvPr>
            <p:ph type="title"/>
          </p:nvPr>
        </p:nvSpPr>
        <p:spPr>
          <a:xfrm>
            <a:off x="1115568" y="548640"/>
            <a:ext cx="10168128" cy="1179576"/>
          </a:xfrm>
        </p:spPr>
        <p:txBody>
          <a:bodyPr>
            <a:normAutofit/>
          </a:bodyPr>
          <a:lstStyle/>
          <a:p>
            <a:r>
              <a:rPr lang="en-US" sz="4800" dirty="0"/>
              <a:t>Gigantism </a:t>
            </a:r>
          </a:p>
        </p:txBody>
      </p:sp>
      <p:sp>
        <p:nvSpPr>
          <p:cNvPr id="15" name="Rectangle 14">
            <a:extLst>
              <a:ext uri="{FF2B5EF4-FFF2-40B4-BE49-F238E27FC236}">
                <a16:creationId xmlns:a16="http://schemas.microsoft.com/office/drawing/2014/main" id="{768EB4DD-3704-43AD-92B3-C4E0C6EA92C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8834" y="770799"/>
            <a:ext cx="128016"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4" name="Picture 3">
            <a:extLst>
              <a:ext uri="{FF2B5EF4-FFF2-40B4-BE49-F238E27FC236}">
                <a16:creationId xmlns:a16="http://schemas.microsoft.com/office/drawing/2014/main" id="{E2F654CF-4D64-4F02-B784-4594B8C79C62}"/>
              </a:ext>
            </a:extLst>
          </p:cNvPr>
          <p:cNvPicPr>
            <a:picLocks noChangeAspect="1"/>
          </p:cNvPicPr>
          <p:nvPr/>
        </p:nvPicPr>
        <p:blipFill rotWithShape="1">
          <a:blip r:embed="rId3"/>
          <a:srcRect l="-2446" t="1988" r="2444" b="5977"/>
          <a:stretch/>
        </p:blipFill>
        <p:spPr>
          <a:xfrm>
            <a:off x="6947690" y="39413"/>
            <a:ext cx="4824724" cy="6779173"/>
          </a:xfrm>
          <a:prstGeom prst="rect">
            <a:avLst/>
          </a:prstGeom>
        </p:spPr>
      </p:pic>
      <p:sp>
        <p:nvSpPr>
          <p:cNvPr id="3" name="Content Placeholder 2">
            <a:extLst>
              <a:ext uri="{FF2B5EF4-FFF2-40B4-BE49-F238E27FC236}">
                <a16:creationId xmlns:a16="http://schemas.microsoft.com/office/drawing/2014/main" id="{FD1F7494-3CD0-490B-B5B4-E50F23D9C67C}"/>
              </a:ext>
            </a:extLst>
          </p:cNvPr>
          <p:cNvSpPr>
            <a:spLocks noGrp="1"/>
          </p:cNvSpPr>
          <p:nvPr>
            <p:ph idx="1"/>
          </p:nvPr>
        </p:nvSpPr>
        <p:spPr>
          <a:xfrm>
            <a:off x="566928" y="2276856"/>
            <a:ext cx="6528104" cy="4442639"/>
          </a:xfrm>
        </p:spPr>
        <p:txBody>
          <a:bodyPr anchor="t">
            <a:normAutofit/>
          </a:bodyPr>
          <a:lstStyle/>
          <a:p>
            <a:r>
              <a:rPr lang="en-US" sz="3300" dirty="0"/>
              <a:t>Very rare (only ~ 100 known cases)</a:t>
            </a:r>
          </a:p>
          <a:p>
            <a:r>
              <a:rPr lang="en-US" sz="3300" dirty="0"/>
              <a:t>Characterized by </a:t>
            </a:r>
            <a:r>
              <a:rPr lang="en-US" sz="3300" b="1" dirty="0"/>
              <a:t>dramatic linear growth acceleration</a:t>
            </a:r>
          </a:p>
          <a:p>
            <a:r>
              <a:rPr lang="en-US" sz="3300" dirty="0"/>
              <a:t> Other, less common causes: </a:t>
            </a:r>
          </a:p>
          <a:p>
            <a:pPr lvl="1"/>
            <a:r>
              <a:rPr lang="en-US" sz="3000" dirty="0"/>
              <a:t>Neurofibromatosis</a:t>
            </a:r>
          </a:p>
          <a:p>
            <a:pPr lvl="1"/>
            <a:r>
              <a:rPr lang="en-US" sz="3000" dirty="0"/>
              <a:t>McCune-Albright syndrome (MAS)</a:t>
            </a:r>
          </a:p>
          <a:p>
            <a:pPr lvl="1"/>
            <a:r>
              <a:rPr lang="en-US" sz="3000" dirty="0"/>
              <a:t>Carney complex</a:t>
            </a:r>
          </a:p>
          <a:p>
            <a:pPr lvl="1"/>
            <a:r>
              <a:rPr lang="en-US" sz="3000" dirty="0"/>
              <a:t>Multiple endocrine neoplasia type 1</a:t>
            </a:r>
          </a:p>
          <a:p>
            <a:endParaRPr lang="en-US" sz="1800" dirty="0"/>
          </a:p>
        </p:txBody>
      </p:sp>
    </p:spTree>
    <p:extLst>
      <p:ext uri="{BB962C8B-B14F-4D97-AF65-F5344CB8AC3E}">
        <p14:creationId xmlns:p14="http://schemas.microsoft.com/office/powerpoint/2010/main" val="23563681"/>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5" name="Rectangle 66">
            <a:extLst>
              <a:ext uri="{FF2B5EF4-FFF2-40B4-BE49-F238E27FC236}">
                <a16:creationId xmlns:a16="http://schemas.microsoft.com/office/drawing/2014/main" id="{84ECDE7A-6944-466D-8FFE-149A29BA6BA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76" name="Rectangle 68">
            <a:extLst>
              <a:ext uri="{FF2B5EF4-FFF2-40B4-BE49-F238E27FC236}">
                <a16:creationId xmlns:a16="http://schemas.microsoft.com/office/drawing/2014/main" id="{B3420082-9415-44EC-802E-C77D71D59C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58209" y="0"/>
            <a:ext cx="11167447" cy="2018806"/>
          </a:xfrm>
          <a:prstGeom prst="rect">
            <a:avLst/>
          </a:prstGeom>
          <a:ln w="12700">
            <a:solidFill>
              <a:srgbClr val="E1E1E1"/>
            </a:solidFill>
          </a:ln>
          <a:effectLst>
            <a:outerShdw blurRad="50800" dist="38100" dir="2700000" algn="t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77" name="Rectangle 70">
            <a:extLst>
              <a:ext uri="{FF2B5EF4-FFF2-40B4-BE49-F238E27FC236}">
                <a16:creationId xmlns:a16="http://schemas.microsoft.com/office/drawing/2014/main" id="{55A52C45-1FCB-4636-A80F-2849B8226C0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6928" y="0"/>
            <a:ext cx="11155680" cy="2011680"/>
          </a:xfrm>
          <a:prstGeom prst="rect">
            <a:avLst/>
          </a:prstGeom>
          <a:ln w="1270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A29F5F21-208C-4315-BB83-B35D2878A0F7}"/>
              </a:ext>
            </a:extLst>
          </p:cNvPr>
          <p:cNvSpPr>
            <a:spLocks noGrp="1"/>
          </p:cNvSpPr>
          <p:nvPr>
            <p:ph type="title"/>
          </p:nvPr>
        </p:nvSpPr>
        <p:spPr>
          <a:xfrm>
            <a:off x="908304" y="479051"/>
            <a:ext cx="10168128" cy="1179576"/>
          </a:xfrm>
        </p:spPr>
        <p:txBody>
          <a:bodyPr>
            <a:normAutofit/>
          </a:bodyPr>
          <a:lstStyle/>
          <a:p>
            <a:r>
              <a:rPr lang="en-US" sz="4800" dirty="0"/>
              <a:t>Gigantism: Clinical Manifestations </a:t>
            </a:r>
          </a:p>
        </p:txBody>
      </p:sp>
      <p:sp>
        <p:nvSpPr>
          <p:cNvPr id="78" name="Rectangle 72">
            <a:extLst>
              <a:ext uri="{FF2B5EF4-FFF2-40B4-BE49-F238E27FC236}">
                <a16:creationId xmlns:a16="http://schemas.microsoft.com/office/drawing/2014/main" id="{768EB4DD-3704-43AD-92B3-C4E0C6EA92C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8834" y="770799"/>
            <a:ext cx="128016"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4" name="Picture 3">
            <a:extLst>
              <a:ext uri="{FF2B5EF4-FFF2-40B4-BE49-F238E27FC236}">
                <a16:creationId xmlns:a16="http://schemas.microsoft.com/office/drawing/2014/main" id="{74950558-FEE0-4F4E-90CE-1056646B6639}"/>
              </a:ext>
            </a:extLst>
          </p:cNvPr>
          <p:cNvPicPr>
            <a:picLocks noChangeAspect="1"/>
          </p:cNvPicPr>
          <p:nvPr/>
        </p:nvPicPr>
        <p:blipFill rotWithShape="1">
          <a:blip r:embed="rId3"/>
          <a:srcRect r="2" b="3305"/>
          <a:stretch/>
        </p:blipFill>
        <p:spPr>
          <a:xfrm>
            <a:off x="4745101" y="1337620"/>
            <a:ext cx="7258961" cy="5439861"/>
          </a:xfrm>
          <a:prstGeom prst="rect">
            <a:avLst/>
          </a:prstGeom>
        </p:spPr>
      </p:pic>
      <p:sp>
        <p:nvSpPr>
          <p:cNvPr id="3" name="Content Placeholder 2">
            <a:extLst>
              <a:ext uri="{FF2B5EF4-FFF2-40B4-BE49-F238E27FC236}">
                <a16:creationId xmlns:a16="http://schemas.microsoft.com/office/drawing/2014/main" id="{C1885AE2-FDD4-4E40-9EA4-1A5D03FB1162}"/>
              </a:ext>
            </a:extLst>
          </p:cNvPr>
          <p:cNvSpPr>
            <a:spLocks noGrp="1"/>
          </p:cNvSpPr>
          <p:nvPr>
            <p:ph idx="1"/>
          </p:nvPr>
        </p:nvSpPr>
        <p:spPr>
          <a:xfrm>
            <a:off x="626850" y="2137678"/>
            <a:ext cx="4781047" cy="5266429"/>
          </a:xfrm>
        </p:spPr>
        <p:txBody>
          <a:bodyPr anchor="t">
            <a:normAutofit/>
          </a:bodyPr>
          <a:lstStyle/>
          <a:p>
            <a:r>
              <a:rPr lang="en-US" dirty="0"/>
              <a:t>Abnormally tall stature</a:t>
            </a:r>
          </a:p>
          <a:p>
            <a:r>
              <a:rPr lang="en-US" dirty="0"/>
              <a:t>Abnormal growth of face, hands and feet</a:t>
            </a:r>
          </a:p>
          <a:p>
            <a:r>
              <a:rPr lang="en-US" dirty="0"/>
              <a:t>Thickened facial features</a:t>
            </a:r>
          </a:p>
          <a:p>
            <a:r>
              <a:rPr lang="en-US" dirty="0"/>
              <a:t>Irregular menstrual cycle </a:t>
            </a:r>
          </a:p>
          <a:p>
            <a:r>
              <a:rPr lang="en-US" dirty="0"/>
              <a:t>Excessive perspiration </a:t>
            </a:r>
          </a:p>
          <a:p>
            <a:r>
              <a:rPr lang="en-US" dirty="0"/>
              <a:t>Delayed puberty </a:t>
            </a:r>
          </a:p>
          <a:p>
            <a:r>
              <a:rPr lang="en-US" dirty="0"/>
              <a:t>Double vision</a:t>
            </a:r>
          </a:p>
          <a:p>
            <a:r>
              <a:rPr lang="en-US" dirty="0"/>
              <a:t>Deafness  </a:t>
            </a:r>
          </a:p>
        </p:txBody>
      </p:sp>
    </p:spTree>
    <p:extLst>
      <p:ext uri="{BB962C8B-B14F-4D97-AF65-F5344CB8AC3E}">
        <p14:creationId xmlns:p14="http://schemas.microsoft.com/office/powerpoint/2010/main" val="3870028575"/>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DAF1966E-FD40-4A4A-B61B-C4DF7FA05F0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0" name="Rectangle 9">
            <a:extLst>
              <a:ext uri="{FF2B5EF4-FFF2-40B4-BE49-F238E27FC236}">
                <a16:creationId xmlns:a16="http://schemas.microsoft.com/office/drawing/2014/main" id="{047BFA19-D45E-416B-A404-7AF2F3F270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58209" y="0"/>
            <a:ext cx="11167447" cy="2018806"/>
          </a:xfrm>
          <a:prstGeom prst="rect">
            <a:avLst/>
          </a:prstGeom>
          <a:ln w="9525">
            <a:solidFill>
              <a:srgbClr val="E1E1E1"/>
            </a:solidFill>
          </a:ln>
          <a:effectLst>
            <a:outerShdw blurRad="50800" dist="38100" dir="2700000" algn="t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2" name="Rectangle 11">
            <a:extLst>
              <a:ext uri="{FF2B5EF4-FFF2-40B4-BE49-F238E27FC236}">
                <a16:creationId xmlns:a16="http://schemas.microsoft.com/office/drawing/2014/main" id="{8E0105E7-23DB-4CF2-8258-FF47C7620F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6928" y="0"/>
            <a:ext cx="11155680" cy="2011680"/>
          </a:xfrm>
          <a:prstGeom prst="rect">
            <a:avLst/>
          </a:pr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54FAEFC0-D638-49F5-9C80-B11F5AC5E31E}"/>
              </a:ext>
            </a:extLst>
          </p:cNvPr>
          <p:cNvSpPr>
            <a:spLocks noGrp="1"/>
          </p:cNvSpPr>
          <p:nvPr>
            <p:ph type="title"/>
          </p:nvPr>
        </p:nvSpPr>
        <p:spPr>
          <a:xfrm>
            <a:off x="1115568" y="548640"/>
            <a:ext cx="10168128" cy="1179576"/>
          </a:xfrm>
        </p:spPr>
        <p:txBody>
          <a:bodyPr>
            <a:normAutofit/>
          </a:bodyPr>
          <a:lstStyle/>
          <a:p>
            <a:r>
              <a:rPr lang="en-US" sz="4800" dirty="0"/>
              <a:t>Acromegaly </a:t>
            </a:r>
          </a:p>
        </p:txBody>
      </p:sp>
      <p:sp>
        <p:nvSpPr>
          <p:cNvPr id="14" name="Rectangle 13">
            <a:extLst>
              <a:ext uri="{FF2B5EF4-FFF2-40B4-BE49-F238E27FC236}">
                <a16:creationId xmlns:a16="http://schemas.microsoft.com/office/drawing/2014/main" id="{074B4F7D-14B2-478B-8BF5-01E4E0C5D26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8834" y="758952"/>
            <a:ext cx="128016"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3" name="Content Placeholder 2">
            <a:extLst>
              <a:ext uri="{FF2B5EF4-FFF2-40B4-BE49-F238E27FC236}">
                <a16:creationId xmlns:a16="http://schemas.microsoft.com/office/drawing/2014/main" id="{33368812-94CA-4DAA-93E3-57443C558842}"/>
              </a:ext>
            </a:extLst>
          </p:cNvPr>
          <p:cNvSpPr>
            <a:spLocks noGrp="1"/>
          </p:cNvSpPr>
          <p:nvPr>
            <p:ph idx="1"/>
          </p:nvPr>
        </p:nvSpPr>
        <p:spPr>
          <a:xfrm>
            <a:off x="566928" y="2300894"/>
            <a:ext cx="11155680" cy="4839193"/>
          </a:xfrm>
        </p:spPr>
        <p:txBody>
          <a:bodyPr>
            <a:normAutofit/>
          </a:bodyPr>
          <a:lstStyle/>
          <a:p>
            <a:r>
              <a:rPr lang="en-US" sz="3600" dirty="0"/>
              <a:t>The onset is </a:t>
            </a:r>
            <a:r>
              <a:rPr lang="en-US" sz="3600" b="1" dirty="0"/>
              <a:t>insidious</a:t>
            </a:r>
            <a:r>
              <a:rPr lang="en-US" sz="3600" dirty="0"/>
              <a:t>, and progression is usually very slow (average 12 years to diagnosis)</a:t>
            </a:r>
          </a:p>
          <a:p>
            <a:r>
              <a:rPr lang="en-US" sz="3600" dirty="0"/>
              <a:t>Characteristic findings: </a:t>
            </a:r>
            <a:r>
              <a:rPr lang="en-US" sz="3600" b="1" dirty="0"/>
              <a:t>enlarged jaw (macrognathia) and enlarged, swollen hands and feet</a:t>
            </a:r>
          </a:p>
          <a:p>
            <a:pPr lvl="1"/>
            <a:r>
              <a:rPr lang="en-US" sz="3200" dirty="0"/>
              <a:t>Patients note increasing shoe and glove size and the need to enlarge rings</a:t>
            </a:r>
          </a:p>
          <a:p>
            <a:r>
              <a:rPr lang="en-US" sz="3600" dirty="0"/>
              <a:t>These patients </a:t>
            </a:r>
            <a:r>
              <a:rPr lang="en-US" sz="3600" b="1" u="sng" dirty="0"/>
              <a:t>do not get taller </a:t>
            </a:r>
          </a:p>
        </p:txBody>
      </p:sp>
    </p:spTree>
    <p:extLst>
      <p:ext uri="{BB962C8B-B14F-4D97-AF65-F5344CB8AC3E}">
        <p14:creationId xmlns:p14="http://schemas.microsoft.com/office/powerpoint/2010/main" val="2320957788"/>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B77810-50AD-4241-8701-74F35468DDD1}"/>
              </a:ext>
            </a:extLst>
          </p:cNvPr>
          <p:cNvSpPr>
            <a:spLocks noGrp="1"/>
          </p:cNvSpPr>
          <p:nvPr>
            <p:ph type="title"/>
          </p:nvPr>
        </p:nvSpPr>
        <p:spPr/>
        <p:txBody>
          <a:bodyPr/>
          <a:lstStyle/>
          <a:p>
            <a:pPr algn="ctr"/>
            <a:r>
              <a:rPr lang="en-US"/>
              <a:t>Acromegaly</a:t>
            </a:r>
          </a:p>
        </p:txBody>
      </p:sp>
      <p:pic>
        <p:nvPicPr>
          <p:cNvPr id="4" name="Picture 3">
            <a:extLst>
              <a:ext uri="{FF2B5EF4-FFF2-40B4-BE49-F238E27FC236}">
                <a16:creationId xmlns:a16="http://schemas.microsoft.com/office/drawing/2014/main" id="{C55E7BDA-D1AF-48CE-BBA3-34D510719592}"/>
              </a:ext>
            </a:extLst>
          </p:cNvPr>
          <p:cNvPicPr>
            <a:picLocks noChangeAspect="1"/>
          </p:cNvPicPr>
          <p:nvPr/>
        </p:nvPicPr>
        <p:blipFill>
          <a:blip r:embed="rId3"/>
          <a:stretch>
            <a:fillRect/>
          </a:stretch>
        </p:blipFill>
        <p:spPr>
          <a:xfrm>
            <a:off x="2700170" y="1879241"/>
            <a:ext cx="6313394" cy="4613634"/>
          </a:xfrm>
          <a:prstGeom prst="rect">
            <a:avLst/>
          </a:prstGeom>
        </p:spPr>
      </p:pic>
    </p:spTree>
    <p:extLst>
      <p:ext uri="{BB962C8B-B14F-4D97-AF65-F5344CB8AC3E}">
        <p14:creationId xmlns:p14="http://schemas.microsoft.com/office/powerpoint/2010/main" val="2106192608"/>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0" name="Rectangle 19">
            <a:extLst>
              <a:ext uri="{FF2B5EF4-FFF2-40B4-BE49-F238E27FC236}">
                <a16:creationId xmlns:a16="http://schemas.microsoft.com/office/drawing/2014/main" id="{0B9EE3F3-89B7-43C3-8651-C4C96830993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0344020-3859-4051-9E6B-AEC8B9DC7DC2}"/>
              </a:ext>
            </a:extLst>
          </p:cNvPr>
          <p:cNvSpPr>
            <a:spLocks noGrp="1"/>
          </p:cNvSpPr>
          <p:nvPr>
            <p:ph type="title"/>
          </p:nvPr>
        </p:nvSpPr>
        <p:spPr>
          <a:xfrm>
            <a:off x="411480" y="991443"/>
            <a:ext cx="5516354" cy="1087819"/>
          </a:xfrm>
        </p:spPr>
        <p:txBody>
          <a:bodyPr vert="horz" lIns="91440" tIns="45720" rIns="91440" bIns="45720" rtlCol="0" anchor="b">
            <a:normAutofit/>
          </a:bodyPr>
          <a:lstStyle/>
          <a:p>
            <a:r>
              <a:rPr lang="en-US" sz="3400" kern="1200" dirty="0">
                <a:solidFill>
                  <a:schemeClr val="tx1"/>
                </a:solidFill>
                <a:latin typeface="+mj-lt"/>
                <a:ea typeface="+mj-ea"/>
                <a:cs typeface="+mj-cs"/>
              </a:rPr>
              <a:t>Acromegaly </a:t>
            </a:r>
          </a:p>
        </p:txBody>
      </p:sp>
      <p:sp>
        <p:nvSpPr>
          <p:cNvPr id="22" name="Rectangle 21">
            <a:extLst>
              <a:ext uri="{FF2B5EF4-FFF2-40B4-BE49-F238E27FC236}">
                <a16:creationId xmlns:a16="http://schemas.microsoft.com/office/drawing/2014/main" id="{33AE4636-AEEC-45D6-84D4-7AC2DA48ECF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649223" y="387939"/>
            <a:ext cx="73152" cy="54864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24" name="Rectangle 23">
            <a:extLst>
              <a:ext uri="{FF2B5EF4-FFF2-40B4-BE49-F238E27FC236}">
                <a16:creationId xmlns:a16="http://schemas.microsoft.com/office/drawing/2014/main" id="{8D9CE0F4-2EB2-4F1F-8AAC-DB3571D9FE1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11480" y="2285541"/>
            <a:ext cx="4389120"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6" name="TextBox 5">
            <a:extLst>
              <a:ext uri="{FF2B5EF4-FFF2-40B4-BE49-F238E27FC236}">
                <a16:creationId xmlns:a16="http://schemas.microsoft.com/office/drawing/2014/main" id="{F7A7A4BA-2653-4A32-8F90-515CE4DE8C0F}"/>
              </a:ext>
            </a:extLst>
          </p:cNvPr>
          <p:cNvSpPr txBox="1"/>
          <p:nvPr/>
        </p:nvSpPr>
        <p:spPr>
          <a:xfrm>
            <a:off x="226761" y="2490650"/>
            <a:ext cx="6473130" cy="4385547"/>
          </a:xfrm>
          <a:prstGeom prst="rect">
            <a:avLst/>
          </a:prstGeom>
        </p:spPr>
        <p:txBody>
          <a:bodyPr vert="horz" lIns="91440" tIns="45720" rIns="91440" bIns="45720" rtlCol="0">
            <a:normAutofit/>
          </a:bodyPr>
          <a:lstStyle/>
          <a:p>
            <a:pPr marL="457200" indent="-228600">
              <a:lnSpc>
                <a:spcPct val="90000"/>
              </a:lnSpc>
              <a:spcAft>
                <a:spcPts val="600"/>
              </a:spcAft>
              <a:buFont typeface="Arial" panose="020B0604020202020204" pitchFamily="34" charset="0"/>
              <a:buChar char="•"/>
            </a:pPr>
            <a:r>
              <a:rPr lang="en-US" sz="3200" dirty="0"/>
              <a:t>F</a:t>
            </a:r>
            <a:r>
              <a:rPr lang="en-US" sz="3200" b="0" i="0" dirty="0">
                <a:effectLst/>
              </a:rPr>
              <a:t>acial features become coarse, with </a:t>
            </a:r>
            <a:r>
              <a:rPr lang="en-US" sz="3200" b="1" i="0" dirty="0">
                <a:effectLst/>
              </a:rPr>
              <a:t>enlargement of the nose and frontal bones </a:t>
            </a:r>
            <a:r>
              <a:rPr lang="en-US" sz="3200" b="0" i="0" dirty="0">
                <a:effectLst/>
              </a:rPr>
              <a:t>as well as the </a:t>
            </a:r>
            <a:r>
              <a:rPr lang="en-US" sz="3200" b="1" i="0" dirty="0">
                <a:effectLst/>
              </a:rPr>
              <a:t>jaw,</a:t>
            </a:r>
            <a:r>
              <a:rPr lang="en-US" sz="3200" b="0" i="0" dirty="0">
                <a:effectLst/>
              </a:rPr>
              <a:t> and the </a:t>
            </a:r>
            <a:r>
              <a:rPr lang="en-US" sz="3200" i="0" dirty="0">
                <a:effectLst/>
              </a:rPr>
              <a:t>teeth become spread apart</a:t>
            </a:r>
          </a:p>
          <a:p>
            <a:pPr marL="457200" indent="-228600">
              <a:lnSpc>
                <a:spcPct val="90000"/>
              </a:lnSpc>
              <a:spcAft>
                <a:spcPts val="600"/>
              </a:spcAft>
              <a:buFont typeface="Arial" panose="020B0604020202020204" pitchFamily="34" charset="0"/>
              <a:buChar char="•"/>
            </a:pPr>
            <a:r>
              <a:rPr lang="en-US" sz="3200" dirty="0"/>
              <a:t>Pts also have </a:t>
            </a:r>
            <a:r>
              <a:rPr lang="en-US" sz="3200" b="1" dirty="0"/>
              <a:t>deepening of the voice, hyperhidrosis, macroglossia and thyroid enlargement</a:t>
            </a:r>
          </a:p>
        </p:txBody>
      </p:sp>
      <p:pic>
        <p:nvPicPr>
          <p:cNvPr id="5" name="Picture 4">
            <a:extLst>
              <a:ext uri="{FF2B5EF4-FFF2-40B4-BE49-F238E27FC236}">
                <a16:creationId xmlns:a16="http://schemas.microsoft.com/office/drawing/2014/main" id="{67D73A58-C9D3-4DD8-B1DC-3DE04454B29B}"/>
              </a:ext>
            </a:extLst>
          </p:cNvPr>
          <p:cNvPicPr>
            <a:picLocks noChangeAspect="1"/>
          </p:cNvPicPr>
          <p:nvPr/>
        </p:nvPicPr>
        <p:blipFill>
          <a:blip r:embed="rId3"/>
          <a:stretch>
            <a:fillRect/>
          </a:stretch>
        </p:blipFill>
        <p:spPr>
          <a:xfrm>
            <a:off x="6926652" y="0"/>
            <a:ext cx="4981568" cy="6824066"/>
          </a:xfrm>
          <a:prstGeom prst="rect">
            <a:avLst/>
          </a:prstGeom>
        </p:spPr>
      </p:pic>
    </p:spTree>
    <p:extLst>
      <p:ext uri="{BB962C8B-B14F-4D97-AF65-F5344CB8AC3E}">
        <p14:creationId xmlns:p14="http://schemas.microsoft.com/office/powerpoint/2010/main" val="1612736448"/>
      </p:ext>
    </p:extLst>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2D0743-005F-4A7E-9E8C-27365E59639F}"/>
              </a:ext>
            </a:extLst>
          </p:cNvPr>
          <p:cNvSpPr>
            <a:spLocks noGrp="1"/>
          </p:cNvSpPr>
          <p:nvPr>
            <p:ph type="title"/>
          </p:nvPr>
        </p:nvSpPr>
        <p:spPr>
          <a:xfrm>
            <a:off x="838200" y="0"/>
            <a:ext cx="10515600" cy="1325563"/>
          </a:xfrm>
        </p:spPr>
        <p:txBody>
          <a:bodyPr/>
          <a:lstStyle/>
          <a:p>
            <a:pPr algn="ctr"/>
            <a:r>
              <a:rPr lang="en-US"/>
              <a:t>Acromegaly: A slow progression</a:t>
            </a:r>
          </a:p>
        </p:txBody>
      </p:sp>
      <p:pic>
        <p:nvPicPr>
          <p:cNvPr id="5" name="Picture 4">
            <a:extLst>
              <a:ext uri="{FF2B5EF4-FFF2-40B4-BE49-F238E27FC236}">
                <a16:creationId xmlns:a16="http://schemas.microsoft.com/office/drawing/2014/main" id="{DCB37F9C-41A9-4308-B65A-B929BB0E1EE0}"/>
              </a:ext>
            </a:extLst>
          </p:cNvPr>
          <p:cNvPicPr>
            <a:picLocks noChangeAspect="1"/>
          </p:cNvPicPr>
          <p:nvPr/>
        </p:nvPicPr>
        <p:blipFill>
          <a:blip r:embed="rId3"/>
          <a:stretch>
            <a:fillRect/>
          </a:stretch>
        </p:blipFill>
        <p:spPr>
          <a:xfrm>
            <a:off x="-65665" y="1325563"/>
            <a:ext cx="2947596" cy="4336368"/>
          </a:xfrm>
          <a:prstGeom prst="rect">
            <a:avLst/>
          </a:prstGeom>
        </p:spPr>
      </p:pic>
      <p:pic>
        <p:nvPicPr>
          <p:cNvPr id="6" name="Picture 5">
            <a:extLst>
              <a:ext uri="{FF2B5EF4-FFF2-40B4-BE49-F238E27FC236}">
                <a16:creationId xmlns:a16="http://schemas.microsoft.com/office/drawing/2014/main" id="{510EA9D6-845F-431A-930B-85C61FED9CE8}"/>
              </a:ext>
            </a:extLst>
          </p:cNvPr>
          <p:cNvPicPr>
            <a:picLocks noChangeAspect="1"/>
          </p:cNvPicPr>
          <p:nvPr/>
        </p:nvPicPr>
        <p:blipFill>
          <a:blip r:embed="rId4"/>
          <a:stretch>
            <a:fillRect/>
          </a:stretch>
        </p:blipFill>
        <p:spPr>
          <a:xfrm>
            <a:off x="5974971" y="1255817"/>
            <a:ext cx="3118826" cy="4336368"/>
          </a:xfrm>
          <a:prstGeom prst="rect">
            <a:avLst/>
          </a:prstGeom>
        </p:spPr>
      </p:pic>
      <p:pic>
        <p:nvPicPr>
          <p:cNvPr id="7" name="Picture 6">
            <a:extLst>
              <a:ext uri="{FF2B5EF4-FFF2-40B4-BE49-F238E27FC236}">
                <a16:creationId xmlns:a16="http://schemas.microsoft.com/office/drawing/2014/main" id="{03E88D52-0B11-4451-8649-D0D58CC50083}"/>
              </a:ext>
            </a:extLst>
          </p:cNvPr>
          <p:cNvPicPr>
            <a:picLocks noChangeAspect="1"/>
          </p:cNvPicPr>
          <p:nvPr/>
        </p:nvPicPr>
        <p:blipFill>
          <a:blip r:embed="rId5"/>
          <a:stretch>
            <a:fillRect/>
          </a:stretch>
        </p:blipFill>
        <p:spPr>
          <a:xfrm>
            <a:off x="2862202" y="1265815"/>
            <a:ext cx="3118825" cy="4360358"/>
          </a:xfrm>
          <a:prstGeom prst="rect">
            <a:avLst/>
          </a:prstGeom>
        </p:spPr>
      </p:pic>
      <p:pic>
        <p:nvPicPr>
          <p:cNvPr id="8" name="Picture 7">
            <a:extLst>
              <a:ext uri="{FF2B5EF4-FFF2-40B4-BE49-F238E27FC236}">
                <a16:creationId xmlns:a16="http://schemas.microsoft.com/office/drawing/2014/main" id="{1804A822-9E70-4A06-B3D8-C0ECAEEF5C09}"/>
              </a:ext>
            </a:extLst>
          </p:cNvPr>
          <p:cNvPicPr>
            <a:picLocks noChangeAspect="1"/>
          </p:cNvPicPr>
          <p:nvPr/>
        </p:nvPicPr>
        <p:blipFill>
          <a:blip r:embed="rId6"/>
          <a:stretch>
            <a:fillRect/>
          </a:stretch>
        </p:blipFill>
        <p:spPr>
          <a:xfrm>
            <a:off x="9074067" y="1256939"/>
            <a:ext cx="3065052" cy="4344121"/>
          </a:xfrm>
          <a:prstGeom prst="rect">
            <a:avLst/>
          </a:prstGeom>
        </p:spPr>
      </p:pic>
      <p:sp>
        <p:nvSpPr>
          <p:cNvPr id="9" name="TextBox 8">
            <a:extLst>
              <a:ext uri="{FF2B5EF4-FFF2-40B4-BE49-F238E27FC236}">
                <a16:creationId xmlns:a16="http://schemas.microsoft.com/office/drawing/2014/main" id="{EF6C20F3-1A2A-4FC0-8B44-89D2B5B7B68E}"/>
              </a:ext>
            </a:extLst>
          </p:cNvPr>
          <p:cNvSpPr txBox="1"/>
          <p:nvPr/>
        </p:nvSpPr>
        <p:spPr>
          <a:xfrm>
            <a:off x="1688951" y="5851000"/>
            <a:ext cx="9456756" cy="523220"/>
          </a:xfrm>
          <a:prstGeom prst="rect">
            <a:avLst/>
          </a:prstGeom>
          <a:noFill/>
        </p:spPr>
        <p:txBody>
          <a:bodyPr wrap="none" rtlCol="0">
            <a:spAutoFit/>
          </a:bodyPr>
          <a:lstStyle/>
          <a:p>
            <a:r>
              <a:rPr lang="en-US" sz="2800"/>
              <a:t>Note the gradual increase in size of the nose, lips, and skin folds</a:t>
            </a:r>
          </a:p>
        </p:txBody>
      </p:sp>
    </p:spTree>
    <p:extLst>
      <p:ext uri="{BB962C8B-B14F-4D97-AF65-F5344CB8AC3E}">
        <p14:creationId xmlns:p14="http://schemas.microsoft.com/office/powerpoint/2010/main" val="342542969"/>
      </p:ext>
    </p:extLst>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4ED516-A1CE-44AD-A6EB-06921B44A4D4}"/>
              </a:ext>
            </a:extLst>
          </p:cNvPr>
          <p:cNvSpPr>
            <a:spLocks noGrp="1"/>
          </p:cNvSpPr>
          <p:nvPr>
            <p:ph type="title"/>
          </p:nvPr>
        </p:nvSpPr>
        <p:spPr>
          <a:xfrm>
            <a:off x="838200" y="0"/>
            <a:ext cx="10515600" cy="1325563"/>
          </a:xfrm>
        </p:spPr>
        <p:txBody>
          <a:bodyPr/>
          <a:lstStyle/>
          <a:p>
            <a:pPr algn="ctr"/>
            <a:r>
              <a:rPr lang="en-US"/>
              <a:t>Acromegaly: A slow progression</a:t>
            </a:r>
          </a:p>
        </p:txBody>
      </p:sp>
      <p:pic>
        <p:nvPicPr>
          <p:cNvPr id="4" name="Picture 3">
            <a:extLst>
              <a:ext uri="{FF2B5EF4-FFF2-40B4-BE49-F238E27FC236}">
                <a16:creationId xmlns:a16="http://schemas.microsoft.com/office/drawing/2014/main" id="{9EB2038D-76BC-4E55-A954-7BDD822DD3DF}"/>
              </a:ext>
            </a:extLst>
          </p:cNvPr>
          <p:cNvPicPr>
            <a:picLocks noChangeAspect="1" noChangeArrowheads="1"/>
          </p:cNvPicPr>
          <p:nvPr/>
        </p:nvPicPr>
        <p:blipFill>
          <a:blip r:embed="rId2" cstate="print"/>
          <a:srcRect/>
          <a:stretch>
            <a:fillRect/>
          </a:stretch>
        </p:blipFill>
        <p:spPr bwMode="auto">
          <a:xfrm>
            <a:off x="2042383" y="989704"/>
            <a:ext cx="7691195" cy="3317110"/>
          </a:xfrm>
          <a:prstGeom prst="rect">
            <a:avLst/>
          </a:prstGeom>
          <a:noFill/>
        </p:spPr>
      </p:pic>
      <p:pic>
        <p:nvPicPr>
          <p:cNvPr id="5" name="Picture 4">
            <a:extLst>
              <a:ext uri="{FF2B5EF4-FFF2-40B4-BE49-F238E27FC236}">
                <a16:creationId xmlns:a16="http://schemas.microsoft.com/office/drawing/2014/main" id="{7569D13A-0E52-4A91-B511-5C608A69E514}"/>
              </a:ext>
            </a:extLst>
          </p:cNvPr>
          <p:cNvPicPr>
            <a:picLocks noChangeAspect="1" noChangeArrowheads="1"/>
          </p:cNvPicPr>
          <p:nvPr/>
        </p:nvPicPr>
        <p:blipFill>
          <a:blip r:embed="rId3" cstate="print"/>
          <a:srcRect/>
          <a:stretch>
            <a:fillRect/>
          </a:stretch>
        </p:blipFill>
        <p:spPr bwMode="auto">
          <a:xfrm>
            <a:off x="1693434" y="3883595"/>
            <a:ext cx="8456183" cy="2825846"/>
          </a:xfrm>
          <a:prstGeom prst="rect">
            <a:avLst/>
          </a:prstGeom>
          <a:noFill/>
        </p:spPr>
      </p:pic>
    </p:spTree>
    <p:extLst>
      <p:ext uri="{BB962C8B-B14F-4D97-AF65-F5344CB8AC3E}">
        <p14:creationId xmlns:p14="http://schemas.microsoft.com/office/powerpoint/2010/main" val="1162527864"/>
      </p:ext>
    </p:extLst>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DAF1966E-FD40-4A4A-B61B-C4DF7FA05F0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0" name="Rectangle 9">
            <a:extLst>
              <a:ext uri="{FF2B5EF4-FFF2-40B4-BE49-F238E27FC236}">
                <a16:creationId xmlns:a16="http://schemas.microsoft.com/office/drawing/2014/main" id="{047BFA19-D45E-416B-A404-7AF2F3F270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58209" y="0"/>
            <a:ext cx="11167447" cy="2018806"/>
          </a:xfrm>
          <a:prstGeom prst="rect">
            <a:avLst/>
          </a:prstGeom>
          <a:ln w="9525">
            <a:solidFill>
              <a:srgbClr val="E1E1E1"/>
            </a:solidFill>
          </a:ln>
          <a:effectLst>
            <a:outerShdw blurRad="50800" dist="38100" dir="2700000" algn="t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2" name="Rectangle 11">
            <a:extLst>
              <a:ext uri="{FF2B5EF4-FFF2-40B4-BE49-F238E27FC236}">
                <a16:creationId xmlns:a16="http://schemas.microsoft.com/office/drawing/2014/main" id="{8E0105E7-23DB-4CF2-8258-FF47C7620F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6928" y="0"/>
            <a:ext cx="11155680" cy="2011680"/>
          </a:xfrm>
          <a:prstGeom prst="rect">
            <a:avLst/>
          </a:pr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CC45B97B-28EF-46F5-8D5E-DF0344BFBE40}"/>
              </a:ext>
            </a:extLst>
          </p:cNvPr>
          <p:cNvSpPr>
            <a:spLocks noGrp="1"/>
          </p:cNvSpPr>
          <p:nvPr>
            <p:ph type="title"/>
          </p:nvPr>
        </p:nvSpPr>
        <p:spPr>
          <a:xfrm>
            <a:off x="1115568" y="548640"/>
            <a:ext cx="10168128" cy="1179576"/>
          </a:xfrm>
        </p:spPr>
        <p:txBody>
          <a:bodyPr>
            <a:normAutofit/>
          </a:bodyPr>
          <a:lstStyle/>
          <a:p>
            <a:r>
              <a:rPr lang="en-US" sz="4800" dirty="0"/>
              <a:t>Acromegaly: Complications</a:t>
            </a:r>
          </a:p>
        </p:txBody>
      </p:sp>
      <p:sp>
        <p:nvSpPr>
          <p:cNvPr id="14" name="Rectangle 13">
            <a:extLst>
              <a:ext uri="{FF2B5EF4-FFF2-40B4-BE49-F238E27FC236}">
                <a16:creationId xmlns:a16="http://schemas.microsoft.com/office/drawing/2014/main" id="{074B4F7D-14B2-478B-8BF5-01E4E0C5D26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8834" y="758952"/>
            <a:ext cx="128016"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3" name="Content Placeholder 2">
            <a:extLst>
              <a:ext uri="{FF2B5EF4-FFF2-40B4-BE49-F238E27FC236}">
                <a16:creationId xmlns:a16="http://schemas.microsoft.com/office/drawing/2014/main" id="{98103177-5CAB-4C22-8DE3-039316DE10C3}"/>
              </a:ext>
            </a:extLst>
          </p:cNvPr>
          <p:cNvSpPr>
            <a:spLocks noGrp="1"/>
          </p:cNvSpPr>
          <p:nvPr>
            <p:ph idx="1"/>
          </p:nvPr>
        </p:nvSpPr>
        <p:spPr>
          <a:xfrm>
            <a:off x="566928" y="2276856"/>
            <a:ext cx="11402563" cy="5087007"/>
          </a:xfrm>
        </p:spPr>
        <p:txBody>
          <a:bodyPr>
            <a:normAutofit/>
          </a:bodyPr>
          <a:lstStyle/>
          <a:p>
            <a:r>
              <a:rPr lang="en-US" sz="3600" b="1" dirty="0"/>
              <a:t>Cardiomyopathy</a:t>
            </a:r>
            <a:r>
              <a:rPr lang="en-US" sz="3600" dirty="0"/>
              <a:t> with arrhythmias, LVH, decreased diastolic function, and </a:t>
            </a:r>
            <a:r>
              <a:rPr lang="en-US" sz="3600" b="1" dirty="0"/>
              <a:t>HTN</a:t>
            </a:r>
            <a:r>
              <a:rPr lang="en-US" sz="3600" dirty="0"/>
              <a:t> (most patients if untreated) </a:t>
            </a:r>
          </a:p>
          <a:p>
            <a:r>
              <a:rPr lang="en-US" sz="3600" dirty="0"/>
              <a:t>Upper airway obstruction and </a:t>
            </a:r>
            <a:r>
              <a:rPr lang="en-US" sz="3600" b="1" dirty="0"/>
              <a:t>sleep apnea </a:t>
            </a:r>
            <a:r>
              <a:rPr lang="en-US" sz="3600" dirty="0"/>
              <a:t>(&gt;60%)</a:t>
            </a:r>
          </a:p>
          <a:p>
            <a:r>
              <a:rPr lang="en-US" sz="3600" b="1" dirty="0"/>
              <a:t>Diabetes</a:t>
            </a:r>
            <a:r>
              <a:rPr lang="en-US" sz="3600" dirty="0"/>
              <a:t> </a:t>
            </a:r>
            <a:r>
              <a:rPr lang="en-US" sz="3600" b="1" dirty="0"/>
              <a:t>mellitus</a:t>
            </a:r>
            <a:r>
              <a:rPr lang="en-US" sz="3600" dirty="0"/>
              <a:t> (25%) </a:t>
            </a:r>
          </a:p>
          <a:p>
            <a:pPr lvl="1"/>
            <a:r>
              <a:rPr lang="en-US" sz="3200" dirty="0"/>
              <a:t>Most patients are intolerant of a glucose load </a:t>
            </a:r>
          </a:p>
          <a:p>
            <a:r>
              <a:rPr lang="en-US" sz="3600" dirty="0"/>
              <a:t>Increased risk of </a:t>
            </a:r>
            <a:r>
              <a:rPr lang="en-US" sz="3600" b="1" dirty="0"/>
              <a:t>colon polyps </a:t>
            </a:r>
            <a:r>
              <a:rPr lang="en-US" sz="3600" dirty="0"/>
              <a:t>and </a:t>
            </a:r>
            <a:r>
              <a:rPr lang="en-US" sz="3600" b="1" dirty="0"/>
              <a:t>mortality from colonic malignancy</a:t>
            </a:r>
          </a:p>
        </p:txBody>
      </p:sp>
    </p:spTree>
    <p:extLst>
      <p:ext uri="{BB962C8B-B14F-4D97-AF65-F5344CB8AC3E}">
        <p14:creationId xmlns:p14="http://schemas.microsoft.com/office/powerpoint/2010/main" val="2516015897"/>
      </p:ext>
    </p:extLst>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DAF1966E-FD40-4A4A-B61B-C4DF7FA05F0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0" name="Rectangle 9">
            <a:extLst>
              <a:ext uri="{FF2B5EF4-FFF2-40B4-BE49-F238E27FC236}">
                <a16:creationId xmlns:a16="http://schemas.microsoft.com/office/drawing/2014/main" id="{047BFA19-D45E-416B-A404-7AF2F3F270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58209" y="0"/>
            <a:ext cx="11167447" cy="2018806"/>
          </a:xfrm>
          <a:prstGeom prst="rect">
            <a:avLst/>
          </a:prstGeom>
          <a:ln w="9525">
            <a:solidFill>
              <a:srgbClr val="E1E1E1"/>
            </a:solidFill>
          </a:ln>
          <a:effectLst>
            <a:outerShdw blurRad="50800" dist="38100" dir="2700000" algn="t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2" name="Rectangle 11">
            <a:extLst>
              <a:ext uri="{FF2B5EF4-FFF2-40B4-BE49-F238E27FC236}">
                <a16:creationId xmlns:a16="http://schemas.microsoft.com/office/drawing/2014/main" id="{8E0105E7-23DB-4CF2-8258-FF47C7620F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6928" y="0"/>
            <a:ext cx="11155680" cy="2011680"/>
          </a:xfrm>
          <a:prstGeom prst="rect">
            <a:avLst/>
          </a:pr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30FC2693-9C78-41AF-8ED6-F7A501CC16E3}"/>
              </a:ext>
            </a:extLst>
          </p:cNvPr>
          <p:cNvSpPr>
            <a:spLocks noGrp="1"/>
          </p:cNvSpPr>
          <p:nvPr>
            <p:ph type="title"/>
          </p:nvPr>
        </p:nvSpPr>
        <p:spPr>
          <a:xfrm>
            <a:off x="1115568" y="548640"/>
            <a:ext cx="10168128" cy="1179576"/>
          </a:xfrm>
        </p:spPr>
        <p:txBody>
          <a:bodyPr>
            <a:normAutofit/>
          </a:bodyPr>
          <a:lstStyle/>
          <a:p>
            <a:r>
              <a:rPr lang="en-US" sz="4800" dirty="0"/>
              <a:t>Gigantism/Acromegaly : Diagnosis</a:t>
            </a:r>
          </a:p>
        </p:txBody>
      </p:sp>
      <p:sp>
        <p:nvSpPr>
          <p:cNvPr id="14" name="Rectangle 13">
            <a:extLst>
              <a:ext uri="{FF2B5EF4-FFF2-40B4-BE49-F238E27FC236}">
                <a16:creationId xmlns:a16="http://schemas.microsoft.com/office/drawing/2014/main" id="{074B4F7D-14B2-478B-8BF5-01E4E0C5D26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8834" y="758952"/>
            <a:ext cx="128016"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3" name="Content Placeholder 2">
            <a:extLst>
              <a:ext uri="{FF2B5EF4-FFF2-40B4-BE49-F238E27FC236}">
                <a16:creationId xmlns:a16="http://schemas.microsoft.com/office/drawing/2014/main" id="{39BD47E2-BBC3-437D-B71D-C527334D7220}"/>
              </a:ext>
            </a:extLst>
          </p:cNvPr>
          <p:cNvSpPr>
            <a:spLocks noGrp="1"/>
          </p:cNvSpPr>
          <p:nvPr>
            <p:ph idx="1"/>
          </p:nvPr>
        </p:nvSpPr>
        <p:spPr>
          <a:xfrm>
            <a:off x="558208" y="2099309"/>
            <a:ext cx="11164399" cy="4678188"/>
          </a:xfrm>
        </p:spPr>
        <p:txBody>
          <a:bodyPr>
            <a:normAutofit/>
          </a:bodyPr>
          <a:lstStyle/>
          <a:p>
            <a:r>
              <a:rPr lang="en-US" sz="3200" dirty="0"/>
              <a:t>For screening, a </a:t>
            </a:r>
            <a:r>
              <a:rPr lang="en-US" sz="3200" b="1" dirty="0"/>
              <a:t>random serum IGF-1 </a:t>
            </a:r>
            <a:r>
              <a:rPr lang="en-US" sz="3200" dirty="0"/>
              <a:t>can be obtained</a:t>
            </a:r>
          </a:p>
          <a:p>
            <a:pPr lvl="1"/>
            <a:r>
              <a:rPr lang="en-US" sz="3200" dirty="0"/>
              <a:t>If it is normal for age, acromegaly is ruled out.</a:t>
            </a:r>
          </a:p>
          <a:p>
            <a:r>
              <a:rPr lang="en-US" sz="3200" dirty="0"/>
              <a:t>If serum IGF-1 is elevated,</a:t>
            </a:r>
            <a:r>
              <a:rPr lang="en-US" sz="3200" b="1" dirty="0"/>
              <a:t> the gold standard for diagnosis is the GH suppression test</a:t>
            </a:r>
          </a:p>
          <a:p>
            <a:pPr lvl="1"/>
            <a:r>
              <a:rPr lang="en-US" sz="3200" dirty="0"/>
              <a:t>An oral glucose load 75g is given, followed by GH test 2 hours later</a:t>
            </a:r>
          </a:p>
          <a:p>
            <a:pPr lvl="1"/>
            <a:r>
              <a:rPr lang="en-US" sz="3200" dirty="0"/>
              <a:t>Diagnosis is made if </a:t>
            </a:r>
            <a:r>
              <a:rPr lang="en-US" sz="3200" b="1" dirty="0"/>
              <a:t>GH is greater than 1 ng/mL</a:t>
            </a:r>
          </a:p>
          <a:p>
            <a:r>
              <a:rPr lang="en-US" sz="3200" dirty="0"/>
              <a:t>Once confirmed, </a:t>
            </a:r>
            <a:r>
              <a:rPr lang="en-US" sz="3200" b="1" dirty="0"/>
              <a:t>obtain an MRI with contrast </a:t>
            </a:r>
            <a:r>
              <a:rPr lang="en-US" sz="3200" dirty="0"/>
              <a:t>to evaluate for a pituitary adenoma</a:t>
            </a:r>
          </a:p>
        </p:txBody>
      </p:sp>
    </p:spTree>
    <p:extLst>
      <p:ext uri="{BB962C8B-B14F-4D97-AF65-F5344CB8AC3E}">
        <p14:creationId xmlns:p14="http://schemas.microsoft.com/office/powerpoint/2010/main" val="1030606759"/>
      </p:ext>
    </p:extLst>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DAF1966E-FD40-4A4A-B61B-C4DF7FA05F0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0" name="Rectangle 9">
            <a:extLst>
              <a:ext uri="{FF2B5EF4-FFF2-40B4-BE49-F238E27FC236}">
                <a16:creationId xmlns:a16="http://schemas.microsoft.com/office/drawing/2014/main" id="{047BFA19-D45E-416B-A404-7AF2F3F270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58209" y="0"/>
            <a:ext cx="11167447" cy="2018806"/>
          </a:xfrm>
          <a:prstGeom prst="rect">
            <a:avLst/>
          </a:prstGeom>
          <a:ln w="9525">
            <a:solidFill>
              <a:srgbClr val="E1E1E1"/>
            </a:solidFill>
          </a:ln>
          <a:effectLst>
            <a:outerShdw blurRad="50800" dist="38100" dir="2700000" algn="t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2" name="Rectangle 11">
            <a:extLst>
              <a:ext uri="{FF2B5EF4-FFF2-40B4-BE49-F238E27FC236}">
                <a16:creationId xmlns:a16="http://schemas.microsoft.com/office/drawing/2014/main" id="{8E0105E7-23DB-4CF2-8258-FF47C7620F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6928" y="0"/>
            <a:ext cx="11155680" cy="2011680"/>
          </a:xfrm>
          <a:prstGeom prst="rect">
            <a:avLst/>
          </a:pr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4D7196CC-A17E-4CB4-BF31-B824171587B5}"/>
              </a:ext>
            </a:extLst>
          </p:cNvPr>
          <p:cNvSpPr>
            <a:spLocks noGrp="1"/>
          </p:cNvSpPr>
          <p:nvPr>
            <p:ph type="title"/>
          </p:nvPr>
        </p:nvSpPr>
        <p:spPr>
          <a:xfrm>
            <a:off x="1115568" y="548640"/>
            <a:ext cx="10168128" cy="1179576"/>
          </a:xfrm>
        </p:spPr>
        <p:txBody>
          <a:bodyPr>
            <a:normAutofit/>
          </a:bodyPr>
          <a:lstStyle/>
          <a:p>
            <a:r>
              <a:rPr lang="en-US" sz="4800" dirty="0"/>
              <a:t>Gigantism/Acromegaly: Treatment</a:t>
            </a:r>
          </a:p>
        </p:txBody>
      </p:sp>
      <p:sp>
        <p:nvSpPr>
          <p:cNvPr id="14" name="Rectangle 13">
            <a:extLst>
              <a:ext uri="{FF2B5EF4-FFF2-40B4-BE49-F238E27FC236}">
                <a16:creationId xmlns:a16="http://schemas.microsoft.com/office/drawing/2014/main" id="{074B4F7D-14B2-478B-8BF5-01E4E0C5D26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8834" y="758952"/>
            <a:ext cx="128016"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3" name="Content Placeholder 2">
            <a:extLst>
              <a:ext uri="{FF2B5EF4-FFF2-40B4-BE49-F238E27FC236}">
                <a16:creationId xmlns:a16="http://schemas.microsoft.com/office/drawing/2014/main" id="{CA9589EE-5211-4A73-B88C-09698E695ADD}"/>
              </a:ext>
            </a:extLst>
          </p:cNvPr>
          <p:cNvSpPr>
            <a:spLocks noGrp="1"/>
          </p:cNvSpPr>
          <p:nvPr>
            <p:ph idx="1"/>
          </p:nvPr>
        </p:nvSpPr>
        <p:spPr>
          <a:xfrm>
            <a:off x="566927" y="2151203"/>
            <a:ext cx="11167447" cy="4706797"/>
          </a:xfrm>
        </p:spPr>
        <p:txBody>
          <a:bodyPr>
            <a:normAutofit/>
          </a:bodyPr>
          <a:lstStyle/>
          <a:p>
            <a:r>
              <a:rPr lang="en-US" sz="3600" b="1" dirty="0"/>
              <a:t>Pituitary transsphenoidal surgery </a:t>
            </a:r>
            <a:r>
              <a:rPr lang="en-US" sz="3600" dirty="0"/>
              <a:t>is the treatment of choice</a:t>
            </a:r>
          </a:p>
          <a:p>
            <a:pPr lvl="1"/>
            <a:r>
              <a:rPr lang="en-US" sz="3200" dirty="0"/>
              <a:t>Achieves remission in about 70% of patients  </a:t>
            </a:r>
          </a:p>
          <a:p>
            <a:pPr lvl="1"/>
            <a:r>
              <a:rPr lang="en-US" sz="3200" dirty="0"/>
              <a:t>Complications: CSF leak, infection, postop diabetes insipidus, hyponatremia</a:t>
            </a:r>
          </a:p>
          <a:p>
            <a:r>
              <a:rPr lang="en-US" sz="3600" dirty="0"/>
              <a:t>For those who have residual disease after surgery:  </a:t>
            </a:r>
          </a:p>
          <a:p>
            <a:pPr lvl="1"/>
            <a:r>
              <a:rPr lang="en-US" sz="3200" b="1" dirty="0"/>
              <a:t>Somatostatin analogues (octreotide and </a:t>
            </a:r>
            <a:r>
              <a:rPr lang="en-US" sz="3200" b="1" dirty="0" err="1"/>
              <a:t>lanreotide</a:t>
            </a:r>
            <a:r>
              <a:rPr lang="en-US" sz="3200" b="1" dirty="0"/>
              <a:t>) </a:t>
            </a:r>
            <a:r>
              <a:rPr lang="en-US" sz="3200" dirty="0"/>
              <a:t>suppress GH and normalize IGF-1 levels </a:t>
            </a:r>
          </a:p>
        </p:txBody>
      </p:sp>
    </p:spTree>
    <p:extLst>
      <p:ext uri="{BB962C8B-B14F-4D97-AF65-F5344CB8AC3E}">
        <p14:creationId xmlns:p14="http://schemas.microsoft.com/office/powerpoint/2010/main" val="3004513925"/>
      </p:ext>
    </p:extLst>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DAF1966E-FD40-4A4A-B61B-C4DF7FA05F0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0" name="Rectangle 9">
            <a:extLst>
              <a:ext uri="{FF2B5EF4-FFF2-40B4-BE49-F238E27FC236}">
                <a16:creationId xmlns:a16="http://schemas.microsoft.com/office/drawing/2014/main" id="{047BFA19-D45E-416B-A404-7AF2F3F270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58209" y="0"/>
            <a:ext cx="11167447" cy="2018806"/>
          </a:xfrm>
          <a:prstGeom prst="rect">
            <a:avLst/>
          </a:prstGeom>
          <a:ln w="9525">
            <a:solidFill>
              <a:srgbClr val="E1E1E1"/>
            </a:solidFill>
          </a:ln>
          <a:effectLst>
            <a:outerShdw blurRad="50800" dist="38100" dir="2700000" algn="t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2" name="Rectangle 11">
            <a:extLst>
              <a:ext uri="{FF2B5EF4-FFF2-40B4-BE49-F238E27FC236}">
                <a16:creationId xmlns:a16="http://schemas.microsoft.com/office/drawing/2014/main" id="{8E0105E7-23DB-4CF2-8258-FF47C7620F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6928" y="0"/>
            <a:ext cx="11155680" cy="2011680"/>
          </a:xfrm>
          <a:prstGeom prst="rect">
            <a:avLst/>
          </a:pr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08F60E16-8AB2-46CF-A148-E27D7D6267B2}"/>
              </a:ext>
            </a:extLst>
          </p:cNvPr>
          <p:cNvSpPr>
            <a:spLocks noGrp="1"/>
          </p:cNvSpPr>
          <p:nvPr>
            <p:ph type="title"/>
          </p:nvPr>
        </p:nvSpPr>
        <p:spPr>
          <a:xfrm>
            <a:off x="1115568" y="548640"/>
            <a:ext cx="10168128" cy="1179576"/>
          </a:xfrm>
        </p:spPr>
        <p:txBody>
          <a:bodyPr>
            <a:normAutofit/>
          </a:bodyPr>
          <a:lstStyle/>
          <a:p>
            <a:r>
              <a:rPr lang="en-US" sz="4800" dirty="0"/>
              <a:t>Other Functional Adenomas</a:t>
            </a:r>
          </a:p>
        </p:txBody>
      </p:sp>
      <p:sp>
        <p:nvSpPr>
          <p:cNvPr id="14" name="Rectangle 13">
            <a:extLst>
              <a:ext uri="{FF2B5EF4-FFF2-40B4-BE49-F238E27FC236}">
                <a16:creationId xmlns:a16="http://schemas.microsoft.com/office/drawing/2014/main" id="{074B4F7D-14B2-478B-8BF5-01E4E0C5D26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8834" y="758952"/>
            <a:ext cx="128016"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3" name="Content Placeholder 2">
            <a:extLst>
              <a:ext uri="{FF2B5EF4-FFF2-40B4-BE49-F238E27FC236}">
                <a16:creationId xmlns:a16="http://schemas.microsoft.com/office/drawing/2014/main" id="{2A208595-DBB1-4746-A241-FBD116C3524E}"/>
              </a:ext>
            </a:extLst>
          </p:cNvPr>
          <p:cNvSpPr>
            <a:spLocks noGrp="1"/>
          </p:cNvSpPr>
          <p:nvPr>
            <p:ph idx="1"/>
          </p:nvPr>
        </p:nvSpPr>
        <p:spPr>
          <a:xfrm>
            <a:off x="558209" y="2324378"/>
            <a:ext cx="11164399" cy="4454794"/>
          </a:xfrm>
        </p:spPr>
        <p:txBody>
          <a:bodyPr>
            <a:normAutofit/>
          </a:bodyPr>
          <a:lstStyle/>
          <a:p>
            <a:r>
              <a:rPr lang="en-US" sz="3600" b="1" i="0" dirty="0">
                <a:effectLst/>
              </a:rPr>
              <a:t>Corticotrop</a:t>
            </a:r>
            <a:r>
              <a:rPr lang="en-US" sz="3600" b="1" dirty="0"/>
              <a:t>ic</a:t>
            </a:r>
            <a:r>
              <a:rPr lang="en-US" sz="3600" b="1" i="0" dirty="0">
                <a:effectLst/>
              </a:rPr>
              <a:t> adenomas: </a:t>
            </a:r>
            <a:r>
              <a:rPr lang="en-US" sz="3600" b="0" i="0" dirty="0">
                <a:effectLst/>
              </a:rPr>
              <a:t>ACTH secreting, result in elevated cortisol levels </a:t>
            </a:r>
          </a:p>
          <a:p>
            <a:pPr lvl="1"/>
            <a:r>
              <a:rPr lang="en-US" sz="3200" dirty="0"/>
              <a:t>Clinical syndrome: Cushing’s Disease </a:t>
            </a:r>
            <a:endParaRPr lang="en-US" sz="3200" b="0" i="0" dirty="0">
              <a:effectLst/>
            </a:endParaRPr>
          </a:p>
          <a:p>
            <a:r>
              <a:rPr lang="en-US" sz="3600" b="1" dirty="0"/>
              <a:t>Gonadotroph adenomas</a:t>
            </a:r>
            <a:r>
              <a:rPr lang="en-US" sz="3600" dirty="0"/>
              <a:t>: Normal puberty and fertility </a:t>
            </a:r>
          </a:p>
          <a:p>
            <a:pPr lvl="1"/>
            <a:r>
              <a:rPr lang="en-US" sz="2800" dirty="0"/>
              <a:t>Most common type of non-functioning adenoma</a:t>
            </a:r>
          </a:p>
          <a:p>
            <a:pPr lvl="1"/>
            <a:r>
              <a:rPr lang="en-US" sz="2800" dirty="0"/>
              <a:t>Clinical syndrome is often due to </a:t>
            </a:r>
            <a:r>
              <a:rPr lang="en-US" sz="2800" u="sng" dirty="0"/>
              <a:t>compression</a:t>
            </a:r>
            <a:r>
              <a:rPr lang="en-US" sz="2800" dirty="0"/>
              <a:t>: visual changes or hypogonadism (compression of cells then decreases FSH and LH secretion) </a:t>
            </a:r>
          </a:p>
        </p:txBody>
      </p:sp>
    </p:spTree>
    <p:extLst>
      <p:ext uri="{BB962C8B-B14F-4D97-AF65-F5344CB8AC3E}">
        <p14:creationId xmlns:p14="http://schemas.microsoft.com/office/powerpoint/2010/main" val="4024362315"/>
      </p:ext>
    </p:extLst>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DAF1966E-FD40-4A4A-B61B-C4DF7FA05F0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0" name="Rectangle 9">
            <a:extLst>
              <a:ext uri="{FF2B5EF4-FFF2-40B4-BE49-F238E27FC236}">
                <a16:creationId xmlns:a16="http://schemas.microsoft.com/office/drawing/2014/main" id="{047BFA19-D45E-416B-A404-7AF2F3F270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58209" y="0"/>
            <a:ext cx="11167447" cy="2018806"/>
          </a:xfrm>
          <a:prstGeom prst="rect">
            <a:avLst/>
          </a:prstGeom>
          <a:ln w="9525">
            <a:solidFill>
              <a:srgbClr val="E1E1E1"/>
            </a:solidFill>
          </a:ln>
          <a:effectLst>
            <a:outerShdw blurRad="50800" dist="38100" dir="2700000" algn="t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2" name="Rectangle 11">
            <a:extLst>
              <a:ext uri="{FF2B5EF4-FFF2-40B4-BE49-F238E27FC236}">
                <a16:creationId xmlns:a16="http://schemas.microsoft.com/office/drawing/2014/main" id="{8E0105E7-23DB-4CF2-8258-FF47C7620F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6928" y="0"/>
            <a:ext cx="11155680" cy="2011680"/>
          </a:xfrm>
          <a:prstGeom prst="rect">
            <a:avLst/>
          </a:pr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E814EAB7-D3E9-63DE-5027-6A79ADE0E007}"/>
              </a:ext>
            </a:extLst>
          </p:cNvPr>
          <p:cNvSpPr>
            <a:spLocks noGrp="1"/>
          </p:cNvSpPr>
          <p:nvPr>
            <p:ph type="title"/>
          </p:nvPr>
        </p:nvSpPr>
        <p:spPr>
          <a:xfrm>
            <a:off x="1115568" y="548640"/>
            <a:ext cx="10168128" cy="1179576"/>
          </a:xfrm>
        </p:spPr>
        <p:txBody>
          <a:bodyPr>
            <a:normAutofit/>
          </a:bodyPr>
          <a:lstStyle/>
          <a:p>
            <a:r>
              <a:rPr lang="en-US" sz="4800" dirty="0"/>
              <a:t>Cushing’s Disease</a:t>
            </a:r>
          </a:p>
        </p:txBody>
      </p:sp>
      <p:sp>
        <p:nvSpPr>
          <p:cNvPr id="14" name="Rectangle 13">
            <a:extLst>
              <a:ext uri="{FF2B5EF4-FFF2-40B4-BE49-F238E27FC236}">
                <a16:creationId xmlns:a16="http://schemas.microsoft.com/office/drawing/2014/main" id="{074B4F7D-14B2-478B-8BF5-01E4E0C5D26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8834" y="758952"/>
            <a:ext cx="128016"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pic>
        <p:nvPicPr>
          <p:cNvPr id="4" name="Picture 3">
            <a:extLst>
              <a:ext uri="{FF2B5EF4-FFF2-40B4-BE49-F238E27FC236}">
                <a16:creationId xmlns:a16="http://schemas.microsoft.com/office/drawing/2014/main" id="{75672137-107D-5C1D-32F3-A046CFD04AD2}"/>
              </a:ext>
            </a:extLst>
          </p:cNvPr>
          <p:cNvPicPr>
            <a:picLocks noChangeAspect="1"/>
          </p:cNvPicPr>
          <p:nvPr/>
        </p:nvPicPr>
        <p:blipFill>
          <a:blip r:embed="rId3"/>
          <a:stretch>
            <a:fillRect/>
          </a:stretch>
        </p:blipFill>
        <p:spPr>
          <a:xfrm>
            <a:off x="7554579" y="150484"/>
            <a:ext cx="4351329" cy="6557032"/>
          </a:xfrm>
          <a:prstGeom prst="rect">
            <a:avLst/>
          </a:prstGeom>
        </p:spPr>
      </p:pic>
      <p:sp>
        <p:nvSpPr>
          <p:cNvPr id="3" name="Content Placeholder 2">
            <a:extLst>
              <a:ext uri="{FF2B5EF4-FFF2-40B4-BE49-F238E27FC236}">
                <a16:creationId xmlns:a16="http://schemas.microsoft.com/office/drawing/2014/main" id="{1FD255C3-A4B8-C2B0-BA1F-196B539D243F}"/>
              </a:ext>
            </a:extLst>
          </p:cNvPr>
          <p:cNvSpPr>
            <a:spLocks noGrp="1"/>
          </p:cNvSpPr>
          <p:nvPr>
            <p:ph idx="1"/>
          </p:nvPr>
        </p:nvSpPr>
        <p:spPr>
          <a:xfrm>
            <a:off x="498834" y="2172572"/>
            <a:ext cx="7425966" cy="4483608"/>
          </a:xfrm>
        </p:spPr>
        <p:txBody>
          <a:bodyPr>
            <a:normAutofit/>
          </a:bodyPr>
          <a:lstStyle/>
          <a:p>
            <a:r>
              <a:rPr lang="en-US" sz="3200" b="1" dirty="0"/>
              <a:t>Body habitus: </a:t>
            </a:r>
            <a:r>
              <a:rPr lang="en-US" sz="3200" dirty="0"/>
              <a:t>“moon facies”, “buffalo hump,” protuberant abdomen, thin extremities (muscle atrophy) </a:t>
            </a:r>
          </a:p>
          <a:p>
            <a:r>
              <a:rPr lang="en-US" sz="3200" b="1" dirty="0"/>
              <a:t>Metabolic: </a:t>
            </a:r>
            <a:r>
              <a:rPr lang="en-US" sz="3200" dirty="0"/>
              <a:t>glucose intolerance</a:t>
            </a:r>
          </a:p>
          <a:p>
            <a:r>
              <a:rPr lang="en-US" sz="3200" b="1" dirty="0"/>
              <a:t>Skin: </a:t>
            </a:r>
            <a:r>
              <a:rPr lang="en-US" sz="3200" dirty="0"/>
              <a:t>Purple striae (trunk, breasts, abdomen), skin atrophy, easy bruising</a:t>
            </a:r>
          </a:p>
          <a:p>
            <a:r>
              <a:rPr lang="en-US" sz="3200" b="1" dirty="0"/>
              <a:t>CV: </a:t>
            </a:r>
            <a:r>
              <a:rPr lang="en-US" sz="3200" dirty="0"/>
              <a:t>HTN,  </a:t>
            </a:r>
            <a:r>
              <a:rPr lang="en-US" sz="3200" dirty="0">
                <a:latin typeface="Calibri" panose="020F0502020204030204" pitchFamily="34" charset="0"/>
                <a:cs typeface="Calibri" panose="020F0502020204030204" pitchFamily="34" charset="0"/>
              </a:rPr>
              <a:t>↑ CV mortality risk </a:t>
            </a:r>
            <a:endParaRPr lang="en-US" sz="3200" dirty="0"/>
          </a:p>
          <a:p>
            <a:r>
              <a:rPr lang="en-US" sz="3200" b="1" dirty="0"/>
              <a:t>Reproductive:</a:t>
            </a:r>
            <a:r>
              <a:rPr lang="en-US" sz="3200" dirty="0"/>
              <a:t> abnormal menstrual cycles </a:t>
            </a:r>
          </a:p>
        </p:txBody>
      </p:sp>
    </p:spTree>
    <p:extLst>
      <p:ext uri="{BB962C8B-B14F-4D97-AF65-F5344CB8AC3E}">
        <p14:creationId xmlns:p14="http://schemas.microsoft.com/office/powerpoint/2010/main" val="2489634144"/>
      </p:ext>
    </p:extLst>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DAF1966E-FD40-4A4A-B61B-C4DF7FA05F0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0" name="Rectangle 9">
            <a:extLst>
              <a:ext uri="{FF2B5EF4-FFF2-40B4-BE49-F238E27FC236}">
                <a16:creationId xmlns:a16="http://schemas.microsoft.com/office/drawing/2014/main" id="{047BFA19-D45E-416B-A404-7AF2F3F270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58209" y="0"/>
            <a:ext cx="11167447" cy="2018806"/>
          </a:xfrm>
          <a:prstGeom prst="rect">
            <a:avLst/>
          </a:prstGeom>
          <a:ln w="9525">
            <a:solidFill>
              <a:srgbClr val="E1E1E1"/>
            </a:solidFill>
          </a:ln>
          <a:effectLst>
            <a:outerShdw blurRad="50800" dist="38100" dir="2700000" algn="t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2" name="Rectangle 11">
            <a:extLst>
              <a:ext uri="{FF2B5EF4-FFF2-40B4-BE49-F238E27FC236}">
                <a16:creationId xmlns:a16="http://schemas.microsoft.com/office/drawing/2014/main" id="{8E0105E7-23DB-4CF2-8258-FF47C7620F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6928" y="0"/>
            <a:ext cx="11155680" cy="2011680"/>
          </a:xfrm>
          <a:prstGeom prst="rect">
            <a:avLst/>
          </a:pr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33ED7679-5216-4C83-9489-D93E767D1786}"/>
              </a:ext>
            </a:extLst>
          </p:cNvPr>
          <p:cNvSpPr>
            <a:spLocks noGrp="1"/>
          </p:cNvSpPr>
          <p:nvPr>
            <p:ph type="title"/>
          </p:nvPr>
        </p:nvSpPr>
        <p:spPr>
          <a:xfrm>
            <a:off x="1115568" y="548640"/>
            <a:ext cx="10168128" cy="1179576"/>
          </a:xfrm>
        </p:spPr>
        <p:txBody>
          <a:bodyPr>
            <a:normAutofit/>
          </a:bodyPr>
          <a:lstStyle/>
          <a:p>
            <a:r>
              <a:rPr lang="en-US" sz="4800" dirty="0"/>
              <a:t>Other Functioning Adenomas</a:t>
            </a:r>
          </a:p>
        </p:txBody>
      </p:sp>
      <p:sp>
        <p:nvSpPr>
          <p:cNvPr id="14" name="Rectangle 13">
            <a:extLst>
              <a:ext uri="{FF2B5EF4-FFF2-40B4-BE49-F238E27FC236}">
                <a16:creationId xmlns:a16="http://schemas.microsoft.com/office/drawing/2014/main" id="{074B4F7D-14B2-478B-8BF5-01E4E0C5D26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8834" y="758952"/>
            <a:ext cx="128016"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3" name="Content Placeholder 2">
            <a:extLst>
              <a:ext uri="{FF2B5EF4-FFF2-40B4-BE49-F238E27FC236}">
                <a16:creationId xmlns:a16="http://schemas.microsoft.com/office/drawing/2014/main" id="{9DFC0CE1-BE05-4B95-AF8B-7662E206038D}"/>
              </a:ext>
            </a:extLst>
          </p:cNvPr>
          <p:cNvSpPr>
            <a:spLocks noGrp="1"/>
          </p:cNvSpPr>
          <p:nvPr>
            <p:ph idx="1"/>
          </p:nvPr>
        </p:nvSpPr>
        <p:spPr>
          <a:xfrm>
            <a:off x="566928" y="2149565"/>
            <a:ext cx="11351803" cy="5155125"/>
          </a:xfrm>
        </p:spPr>
        <p:txBody>
          <a:bodyPr>
            <a:normAutofit/>
          </a:bodyPr>
          <a:lstStyle/>
          <a:p>
            <a:r>
              <a:rPr lang="en-US" sz="3600" b="1" dirty="0"/>
              <a:t>TSH-secreting adenomas </a:t>
            </a:r>
            <a:r>
              <a:rPr lang="en-US" sz="3600" dirty="0"/>
              <a:t>– </a:t>
            </a:r>
            <a:r>
              <a:rPr lang="en-US" sz="3600" b="0" i="0" dirty="0">
                <a:effectLst/>
              </a:rPr>
              <a:t>very rare but often large and locally invasive when they occur</a:t>
            </a:r>
          </a:p>
          <a:p>
            <a:pPr lvl="1"/>
            <a:r>
              <a:rPr lang="en-US" sz="3200" dirty="0"/>
              <a:t>Presentation: </a:t>
            </a:r>
            <a:r>
              <a:rPr lang="en-US" sz="3200" b="1" dirty="0"/>
              <a:t>thyroid goiter and hyperthyroidism</a:t>
            </a:r>
          </a:p>
          <a:p>
            <a:pPr lvl="1"/>
            <a:r>
              <a:rPr lang="en-US" sz="3200" dirty="0"/>
              <a:t>Diagnosis: </a:t>
            </a:r>
            <a:r>
              <a:rPr lang="en-US" sz="3200" b="1" dirty="0">
                <a:latin typeface="Calibri" panose="020F0502020204030204" pitchFamily="34" charset="0"/>
                <a:cs typeface="Calibri" panose="020F0502020204030204" pitchFamily="34" charset="0"/>
              </a:rPr>
              <a:t>↑</a:t>
            </a:r>
            <a:r>
              <a:rPr lang="en-US" sz="3200" b="1" dirty="0"/>
              <a:t> free T4 levels + inappropriately normal or high TSH levels + MRI evidence of a pituitary adenoma</a:t>
            </a:r>
          </a:p>
          <a:p>
            <a:pPr lvl="1"/>
            <a:r>
              <a:rPr lang="en-US" sz="3200" dirty="0"/>
              <a:t>Treatment: remove or debulk the tumor mass surgically, followed by thyroid ablation, antithyroid medications (methimazole, </a:t>
            </a:r>
            <a:r>
              <a:rPr lang="en-US" sz="3200" dirty="0" err="1"/>
              <a:t>propylthiauracil</a:t>
            </a:r>
            <a:r>
              <a:rPr lang="en-US" sz="3200" dirty="0"/>
              <a:t>) or somatostatin analogues (octreotide)</a:t>
            </a:r>
          </a:p>
          <a:p>
            <a:pPr lvl="1"/>
            <a:endParaRPr lang="en-US" sz="3000" dirty="0"/>
          </a:p>
          <a:p>
            <a:pPr lvl="1"/>
            <a:endParaRPr lang="en-US" sz="2200" dirty="0"/>
          </a:p>
        </p:txBody>
      </p:sp>
    </p:spTree>
    <p:extLst>
      <p:ext uri="{BB962C8B-B14F-4D97-AF65-F5344CB8AC3E}">
        <p14:creationId xmlns:p14="http://schemas.microsoft.com/office/powerpoint/2010/main" val="1268622257"/>
      </p:ext>
    </p:extLst>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DAF1966E-FD40-4A4A-B61B-C4DF7FA05F0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0" name="Rectangle 9">
            <a:extLst>
              <a:ext uri="{FF2B5EF4-FFF2-40B4-BE49-F238E27FC236}">
                <a16:creationId xmlns:a16="http://schemas.microsoft.com/office/drawing/2014/main" id="{047BFA19-D45E-416B-A404-7AF2F3F270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58209" y="0"/>
            <a:ext cx="11167447" cy="2018806"/>
          </a:xfrm>
          <a:prstGeom prst="rect">
            <a:avLst/>
          </a:prstGeom>
          <a:ln w="9525">
            <a:solidFill>
              <a:srgbClr val="E1E1E1"/>
            </a:solidFill>
          </a:ln>
          <a:effectLst>
            <a:outerShdw blurRad="50800" dist="38100" dir="2700000" algn="t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2" name="Rectangle 11">
            <a:extLst>
              <a:ext uri="{FF2B5EF4-FFF2-40B4-BE49-F238E27FC236}">
                <a16:creationId xmlns:a16="http://schemas.microsoft.com/office/drawing/2014/main" id="{8E0105E7-23DB-4CF2-8258-FF47C7620F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6928" y="0"/>
            <a:ext cx="11155680" cy="2011680"/>
          </a:xfrm>
          <a:prstGeom prst="rect">
            <a:avLst/>
          </a:pr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46289BA9-D37E-4060-AF16-D04E2089FEFC}"/>
              </a:ext>
            </a:extLst>
          </p:cNvPr>
          <p:cNvSpPr>
            <a:spLocks noGrp="1"/>
          </p:cNvSpPr>
          <p:nvPr>
            <p:ph type="title"/>
          </p:nvPr>
        </p:nvSpPr>
        <p:spPr>
          <a:xfrm>
            <a:off x="1115568" y="548640"/>
            <a:ext cx="10168128" cy="1179576"/>
          </a:xfrm>
        </p:spPr>
        <p:txBody>
          <a:bodyPr>
            <a:normAutofit/>
          </a:bodyPr>
          <a:lstStyle/>
          <a:p>
            <a:r>
              <a:rPr lang="en-US" sz="4800" dirty="0"/>
              <a:t>Other </a:t>
            </a:r>
            <a:r>
              <a:rPr lang="en-US" sz="4800" dirty="0" err="1"/>
              <a:t>Sellar</a:t>
            </a:r>
            <a:r>
              <a:rPr lang="en-US" sz="4800" dirty="0"/>
              <a:t> Masses </a:t>
            </a:r>
          </a:p>
        </p:txBody>
      </p:sp>
      <p:sp>
        <p:nvSpPr>
          <p:cNvPr id="14" name="Rectangle 13">
            <a:extLst>
              <a:ext uri="{FF2B5EF4-FFF2-40B4-BE49-F238E27FC236}">
                <a16:creationId xmlns:a16="http://schemas.microsoft.com/office/drawing/2014/main" id="{074B4F7D-14B2-478B-8BF5-01E4E0C5D26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8834" y="758952"/>
            <a:ext cx="128016"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3" name="Content Placeholder 2">
            <a:extLst>
              <a:ext uri="{FF2B5EF4-FFF2-40B4-BE49-F238E27FC236}">
                <a16:creationId xmlns:a16="http://schemas.microsoft.com/office/drawing/2014/main" id="{090DB0AF-2E2D-4B82-B3EC-B62C46D26EA3}"/>
              </a:ext>
            </a:extLst>
          </p:cNvPr>
          <p:cNvSpPr>
            <a:spLocks noGrp="1"/>
          </p:cNvSpPr>
          <p:nvPr>
            <p:ph idx="1"/>
          </p:nvPr>
        </p:nvSpPr>
        <p:spPr>
          <a:xfrm>
            <a:off x="558209" y="2221992"/>
            <a:ext cx="11255419" cy="5286241"/>
          </a:xfrm>
        </p:spPr>
        <p:txBody>
          <a:bodyPr>
            <a:normAutofit/>
          </a:bodyPr>
          <a:lstStyle/>
          <a:p>
            <a:r>
              <a:rPr lang="en-US" sz="3200" b="1" dirty="0"/>
              <a:t>Craniopharyngiomas</a:t>
            </a:r>
            <a:r>
              <a:rPr lang="en-US" sz="3200" dirty="0"/>
              <a:t> – benign, suprasellar cystic masses that are often large, invasive and recurrent </a:t>
            </a:r>
          </a:p>
          <a:p>
            <a:pPr lvl="1"/>
            <a:r>
              <a:rPr lang="en-US" sz="2800" dirty="0"/>
              <a:t>Derived from </a:t>
            </a:r>
            <a:r>
              <a:rPr lang="en-US" sz="2800" dirty="0" err="1"/>
              <a:t>Rathke’s</a:t>
            </a:r>
            <a:r>
              <a:rPr lang="en-US" sz="2800" dirty="0"/>
              <a:t> Pouch and grow near the pituitary stalk</a:t>
            </a:r>
          </a:p>
          <a:p>
            <a:pPr lvl="1"/>
            <a:r>
              <a:rPr lang="en-US" sz="2800" dirty="0"/>
              <a:t>&gt; 50% present before age 20, with signs of increased intracranial pressure, hypopituitarism (90%) or DI (10%)</a:t>
            </a:r>
          </a:p>
          <a:p>
            <a:pPr lvl="1"/>
            <a:r>
              <a:rPr lang="en-US" sz="2800" dirty="0"/>
              <a:t>Treatment: transcranial or transsphenoidal surgical resection followed by postoperative radiation of residual tumor</a:t>
            </a:r>
          </a:p>
          <a:p>
            <a:r>
              <a:rPr lang="en-US" sz="3200" b="1" dirty="0"/>
              <a:t>Meningiomas</a:t>
            </a:r>
            <a:r>
              <a:rPr lang="en-US" sz="3200" dirty="0"/>
              <a:t> – Mostly benign tumor arising from the meninges that are slow growing and always nonfunctional </a:t>
            </a:r>
          </a:p>
        </p:txBody>
      </p:sp>
    </p:spTree>
    <p:extLst>
      <p:ext uri="{BB962C8B-B14F-4D97-AF65-F5344CB8AC3E}">
        <p14:creationId xmlns:p14="http://schemas.microsoft.com/office/powerpoint/2010/main" val="1281909422"/>
      </p:ext>
    </p:extLst>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DAF1966E-FD40-4A4A-B61B-C4DF7FA05F0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0" name="Rectangle 9">
            <a:extLst>
              <a:ext uri="{FF2B5EF4-FFF2-40B4-BE49-F238E27FC236}">
                <a16:creationId xmlns:a16="http://schemas.microsoft.com/office/drawing/2014/main" id="{047BFA19-D45E-416B-A404-7AF2F3F270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58209" y="0"/>
            <a:ext cx="11167447" cy="2018806"/>
          </a:xfrm>
          <a:prstGeom prst="rect">
            <a:avLst/>
          </a:prstGeom>
          <a:ln w="9525">
            <a:solidFill>
              <a:srgbClr val="E1E1E1"/>
            </a:solidFill>
          </a:ln>
          <a:effectLst>
            <a:outerShdw blurRad="50800" dist="38100" dir="2700000" algn="t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2" name="Rectangle 11">
            <a:extLst>
              <a:ext uri="{FF2B5EF4-FFF2-40B4-BE49-F238E27FC236}">
                <a16:creationId xmlns:a16="http://schemas.microsoft.com/office/drawing/2014/main" id="{8E0105E7-23DB-4CF2-8258-FF47C7620F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6928" y="0"/>
            <a:ext cx="11155680" cy="2011680"/>
          </a:xfrm>
          <a:prstGeom prst="rect">
            <a:avLst/>
          </a:pr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4273BDCE-CD13-49D2-BAB4-DECB6C28E474}"/>
              </a:ext>
            </a:extLst>
          </p:cNvPr>
          <p:cNvSpPr>
            <a:spLocks noGrp="1"/>
          </p:cNvSpPr>
          <p:nvPr>
            <p:ph type="title"/>
          </p:nvPr>
        </p:nvSpPr>
        <p:spPr>
          <a:xfrm>
            <a:off x="993860" y="521208"/>
            <a:ext cx="10168128" cy="1179576"/>
          </a:xfrm>
        </p:spPr>
        <p:txBody>
          <a:bodyPr>
            <a:normAutofit/>
          </a:bodyPr>
          <a:lstStyle/>
          <a:p>
            <a:r>
              <a:rPr lang="en-US" sz="4800" dirty="0"/>
              <a:t>Other </a:t>
            </a:r>
            <a:r>
              <a:rPr lang="en-US" sz="4800" dirty="0" err="1"/>
              <a:t>Sellar</a:t>
            </a:r>
            <a:r>
              <a:rPr lang="en-US" sz="4800" dirty="0"/>
              <a:t> Masses</a:t>
            </a:r>
          </a:p>
        </p:txBody>
      </p:sp>
      <p:sp>
        <p:nvSpPr>
          <p:cNvPr id="14" name="Rectangle 13">
            <a:extLst>
              <a:ext uri="{FF2B5EF4-FFF2-40B4-BE49-F238E27FC236}">
                <a16:creationId xmlns:a16="http://schemas.microsoft.com/office/drawing/2014/main" id="{074B4F7D-14B2-478B-8BF5-01E4E0C5D26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8834" y="758952"/>
            <a:ext cx="128016"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3" name="Content Placeholder 2">
            <a:extLst>
              <a:ext uri="{FF2B5EF4-FFF2-40B4-BE49-F238E27FC236}">
                <a16:creationId xmlns:a16="http://schemas.microsoft.com/office/drawing/2014/main" id="{9BDC7427-CD44-42AD-9C22-8BC855CBFBEB}"/>
              </a:ext>
            </a:extLst>
          </p:cNvPr>
          <p:cNvSpPr>
            <a:spLocks noGrp="1"/>
          </p:cNvSpPr>
          <p:nvPr>
            <p:ph idx="1"/>
          </p:nvPr>
        </p:nvSpPr>
        <p:spPr>
          <a:xfrm>
            <a:off x="558209" y="2221992"/>
            <a:ext cx="11039431" cy="4165283"/>
          </a:xfrm>
        </p:spPr>
        <p:txBody>
          <a:bodyPr>
            <a:normAutofit/>
          </a:bodyPr>
          <a:lstStyle/>
          <a:p>
            <a:r>
              <a:rPr lang="en-US" sz="3600" b="1" dirty="0"/>
              <a:t>Pituitary metastases </a:t>
            </a:r>
            <a:r>
              <a:rPr lang="en-US" sz="3600" dirty="0"/>
              <a:t>occur in ~3% of cancer patients</a:t>
            </a:r>
          </a:p>
          <a:p>
            <a:pPr lvl="1"/>
            <a:r>
              <a:rPr lang="en-US" sz="3600" dirty="0"/>
              <a:t>Most cases arise from </a:t>
            </a:r>
            <a:r>
              <a:rPr lang="en-US" sz="3600" b="1" dirty="0"/>
              <a:t>breast cancer (50%), followed by lung and gastrointestinal cancers </a:t>
            </a:r>
          </a:p>
          <a:p>
            <a:pPr lvl="1"/>
            <a:r>
              <a:rPr lang="en-US" sz="3600" dirty="0"/>
              <a:t>Found almost exclusively in the posterior pituitary which results in diabetes insipidus </a:t>
            </a:r>
          </a:p>
          <a:p>
            <a:pPr lvl="1"/>
            <a:r>
              <a:rPr lang="en-US" sz="3600" dirty="0"/>
              <a:t>Also present with mass effect (visual deficits, headache) </a:t>
            </a:r>
          </a:p>
        </p:txBody>
      </p:sp>
    </p:spTree>
    <p:extLst>
      <p:ext uri="{BB962C8B-B14F-4D97-AF65-F5344CB8AC3E}">
        <p14:creationId xmlns:p14="http://schemas.microsoft.com/office/powerpoint/2010/main" val="807716915"/>
      </p:ext>
    </p:extLst>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660F48-58AF-91B2-9ADA-B568F055E55D}"/>
              </a:ext>
            </a:extLst>
          </p:cNvPr>
          <p:cNvSpPr>
            <a:spLocks noGrp="1"/>
          </p:cNvSpPr>
          <p:nvPr>
            <p:ph type="title"/>
          </p:nvPr>
        </p:nvSpPr>
        <p:spPr/>
        <p:txBody>
          <a:bodyPr/>
          <a:lstStyle/>
          <a:p>
            <a:r>
              <a:rPr lang="en-US" dirty="0"/>
              <a:t>Posterior Pituitary</a:t>
            </a:r>
          </a:p>
        </p:txBody>
      </p:sp>
    </p:spTree>
    <p:extLst>
      <p:ext uri="{BB962C8B-B14F-4D97-AF65-F5344CB8AC3E}">
        <p14:creationId xmlns:p14="http://schemas.microsoft.com/office/powerpoint/2010/main" val="1942010312"/>
      </p:ext>
    </p:extLst>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CBB2B1F0-0DD6-4744-9A46-7A344FB48E4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A447918-0A1D-475F-92AF-F283BD743B75}"/>
              </a:ext>
            </a:extLst>
          </p:cNvPr>
          <p:cNvSpPr>
            <a:spLocks noGrp="1"/>
          </p:cNvSpPr>
          <p:nvPr>
            <p:ph type="title"/>
          </p:nvPr>
        </p:nvSpPr>
        <p:spPr>
          <a:xfrm>
            <a:off x="841248" y="426720"/>
            <a:ext cx="10506456" cy="1919141"/>
          </a:xfrm>
        </p:spPr>
        <p:txBody>
          <a:bodyPr anchor="b">
            <a:normAutofit/>
          </a:bodyPr>
          <a:lstStyle/>
          <a:p>
            <a:r>
              <a:rPr lang="en-US" sz="6000"/>
              <a:t>Disorders of the Posterior Pituitary</a:t>
            </a:r>
          </a:p>
        </p:txBody>
      </p:sp>
      <p:sp>
        <p:nvSpPr>
          <p:cNvPr id="10" name="Rectangle 9">
            <a:extLst>
              <a:ext uri="{FF2B5EF4-FFF2-40B4-BE49-F238E27FC236}">
                <a16:creationId xmlns:a16="http://schemas.microsoft.com/office/drawing/2014/main" id="{52D502E5-F6B4-4D58-B4AE-FC466FF15E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65953" y="2899927"/>
            <a:ext cx="10451592"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12" name="Rectangle 11">
            <a:extLst>
              <a:ext uri="{FF2B5EF4-FFF2-40B4-BE49-F238E27FC236}">
                <a16:creationId xmlns:a16="http://schemas.microsoft.com/office/drawing/2014/main" id="{9DECDBF4-02B6-4BB4-B65B-B8107AD6A9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841248" y="2776031"/>
            <a:ext cx="1873457" cy="13716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3" name="Content Placeholder 2">
            <a:extLst>
              <a:ext uri="{FF2B5EF4-FFF2-40B4-BE49-F238E27FC236}">
                <a16:creationId xmlns:a16="http://schemas.microsoft.com/office/drawing/2014/main" id="{9ADAE886-F82C-45F9-8B62-A6094B8AA99D}"/>
              </a:ext>
            </a:extLst>
          </p:cNvPr>
          <p:cNvSpPr>
            <a:spLocks noGrp="1"/>
          </p:cNvSpPr>
          <p:nvPr>
            <p:ph idx="1"/>
          </p:nvPr>
        </p:nvSpPr>
        <p:spPr>
          <a:xfrm>
            <a:off x="841248" y="3234174"/>
            <a:ext cx="10699111" cy="3626338"/>
          </a:xfrm>
        </p:spPr>
        <p:txBody>
          <a:bodyPr>
            <a:noAutofit/>
          </a:bodyPr>
          <a:lstStyle/>
          <a:p>
            <a:r>
              <a:rPr lang="en-US" sz="3600" dirty="0"/>
              <a:t>The posterior pituitary releases two hormones: </a:t>
            </a:r>
            <a:r>
              <a:rPr lang="en-US" sz="3600" b="1" dirty="0"/>
              <a:t>vasopressin (AVP, ADH)</a:t>
            </a:r>
            <a:r>
              <a:rPr lang="en-US" sz="3600" dirty="0"/>
              <a:t> and oxytocin</a:t>
            </a:r>
          </a:p>
          <a:p>
            <a:r>
              <a:rPr lang="en-US" sz="3600" dirty="0"/>
              <a:t>Hormones are produced by the hypothalamus and sent to the pituitary gland via axons that make up the pituitary stalk </a:t>
            </a:r>
          </a:p>
        </p:txBody>
      </p:sp>
    </p:spTree>
    <p:extLst>
      <p:ext uri="{BB962C8B-B14F-4D97-AF65-F5344CB8AC3E}">
        <p14:creationId xmlns:p14="http://schemas.microsoft.com/office/powerpoint/2010/main" val="3619012204"/>
      </p:ext>
    </p:extLst>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CD845A-E2C1-4F6F-8345-91FDDDB0439E}"/>
              </a:ext>
            </a:extLst>
          </p:cNvPr>
          <p:cNvSpPr>
            <a:spLocks noGrp="1"/>
          </p:cNvSpPr>
          <p:nvPr>
            <p:ph type="title"/>
          </p:nvPr>
        </p:nvSpPr>
        <p:spPr>
          <a:xfrm>
            <a:off x="1398100" y="434266"/>
            <a:ext cx="10515600" cy="1325563"/>
          </a:xfrm>
        </p:spPr>
        <p:txBody>
          <a:bodyPr/>
          <a:lstStyle/>
          <a:p>
            <a:r>
              <a:rPr lang="en-US"/>
              <a:t>Vasopressin Pathway </a:t>
            </a:r>
          </a:p>
        </p:txBody>
      </p:sp>
      <p:sp>
        <p:nvSpPr>
          <p:cNvPr id="3" name="Content Placeholder 2">
            <a:extLst>
              <a:ext uri="{FF2B5EF4-FFF2-40B4-BE49-F238E27FC236}">
                <a16:creationId xmlns:a16="http://schemas.microsoft.com/office/drawing/2014/main" id="{B0CD1514-3039-4553-AD57-F3F8D31FC35B}"/>
              </a:ext>
            </a:extLst>
          </p:cNvPr>
          <p:cNvSpPr>
            <a:spLocks noGrp="1"/>
          </p:cNvSpPr>
          <p:nvPr>
            <p:ph idx="1"/>
          </p:nvPr>
        </p:nvSpPr>
        <p:spPr>
          <a:xfrm>
            <a:off x="698350" y="1693618"/>
            <a:ext cx="6627607" cy="5068925"/>
          </a:xfrm>
        </p:spPr>
        <p:txBody>
          <a:bodyPr>
            <a:normAutofit/>
          </a:bodyPr>
          <a:lstStyle/>
          <a:p>
            <a:pPr marL="514350" indent="-514350">
              <a:buAutoNum type="arabicPeriod"/>
            </a:pPr>
            <a:r>
              <a:rPr lang="en-US" sz="2800" dirty="0"/>
              <a:t>Elevated blood osmolality is sensed by the hypothalamus </a:t>
            </a:r>
          </a:p>
          <a:p>
            <a:pPr marL="514350" indent="-514350">
              <a:buAutoNum type="arabicPeriod"/>
            </a:pPr>
            <a:r>
              <a:rPr lang="en-US" dirty="0"/>
              <a:t>The hypothalamus triggers the sense of thirst and signals posterior pituitary to secrete ADH  </a:t>
            </a:r>
          </a:p>
          <a:p>
            <a:pPr marL="514350" indent="-514350">
              <a:buAutoNum type="arabicPeriod"/>
            </a:pPr>
            <a:r>
              <a:rPr lang="en-US" sz="2800" dirty="0"/>
              <a:t>ADH acts to increase water reabsorption from the kidney and concentrate urine while you drink water to quench thirs</a:t>
            </a:r>
            <a:r>
              <a:rPr lang="en-US" dirty="0"/>
              <a:t>t </a:t>
            </a:r>
          </a:p>
          <a:p>
            <a:pPr marL="514350" indent="-514350">
              <a:buAutoNum type="arabicPeriod"/>
            </a:pPr>
            <a:r>
              <a:rPr lang="en-US" sz="2800" dirty="0"/>
              <a:t>Together, increased water intake + increased reabsorption decreases plasma osmolarity </a:t>
            </a:r>
          </a:p>
          <a:p>
            <a:endParaRPr lang="en-US" dirty="0"/>
          </a:p>
        </p:txBody>
      </p:sp>
      <p:pic>
        <p:nvPicPr>
          <p:cNvPr id="4" name="Picture 3">
            <a:extLst>
              <a:ext uri="{FF2B5EF4-FFF2-40B4-BE49-F238E27FC236}">
                <a16:creationId xmlns:a16="http://schemas.microsoft.com/office/drawing/2014/main" id="{D0C39208-2654-4A79-BCBF-B596CB496E1A}"/>
              </a:ext>
            </a:extLst>
          </p:cNvPr>
          <p:cNvPicPr>
            <a:picLocks noChangeAspect="1"/>
          </p:cNvPicPr>
          <p:nvPr/>
        </p:nvPicPr>
        <p:blipFill rotWithShape="1">
          <a:blip r:embed="rId3"/>
          <a:srcRect r="51075"/>
          <a:stretch/>
        </p:blipFill>
        <p:spPr>
          <a:xfrm>
            <a:off x="7693619" y="161667"/>
            <a:ext cx="4101747" cy="6534665"/>
          </a:xfrm>
          <a:prstGeom prst="rect">
            <a:avLst/>
          </a:prstGeom>
        </p:spPr>
      </p:pic>
    </p:spTree>
    <p:extLst>
      <p:ext uri="{BB962C8B-B14F-4D97-AF65-F5344CB8AC3E}">
        <p14:creationId xmlns:p14="http://schemas.microsoft.com/office/powerpoint/2010/main" val="3475157860"/>
      </p:ext>
    </p:extLst>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DAF1966E-FD40-4A4A-B61B-C4DF7FA05F0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0" name="Rectangle 9">
            <a:extLst>
              <a:ext uri="{FF2B5EF4-FFF2-40B4-BE49-F238E27FC236}">
                <a16:creationId xmlns:a16="http://schemas.microsoft.com/office/drawing/2014/main" id="{047BFA19-D45E-416B-A404-7AF2F3F270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58209" y="0"/>
            <a:ext cx="11167447" cy="2018806"/>
          </a:xfrm>
          <a:prstGeom prst="rect">
            <a:avLst/>
          </a:prstGeom>
          <a:ln w="9525">
            <a:solidFill>
              <a:srgbClr val="E1E1E1"/>
            </a:solidFill>
          </a:ln>
          <a:effectLst>
            <a:outerShdw blurRad="50800" dist="38100" dir="2700000" algn="t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2" name="Rectangle 11">
            <a:extLst>
              <a:ext uri="{FF2B5EF4-FFF2-40B4-BE49-F238E27FC236}">
                <a16:creationId xmlns:a16="http://schemas.microsoft.com/office/drawing/2014/main" id="{8E0105E7-23DB-4CF2-8258-FF47C7620F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6928" y="0"/>
            <a:ext cx="11155680" cy="2011680"/>
          </a:xfrm>
          <a:prstGeom prst="rect">
            <a:avLst/>
          </a:pr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FAC40CCE-6D11-482B-BDDC-FEF6062D026B}"/>
              </a:ext>
            </a:extLst>
          </p:cNvPr>
          <p:cNvSpPr>
            <a:spLocks noGrp="1"/>
          </p:cNvSpPr>
          <p:nvPr>
            <p:ph type="title"/>
          </p:nvPr>
        </p:nvSpPr>
        <p:spPr>
          <a:xfrm>
            <a:off x="1115568" y="548640"/>
            <a:ext cx="10168128" cy="1179576"/>
          </a:xfrm>
        </p:spPr>
        <p:txBody>
          <a:bodyPr>
            <a:normAutofit/>
          </a:bodyPr>
          <a:lstStyle/>
          <a:p>
            <a:r>
              <a:rPr lang="en-US" sz="4800" dirty="0"/>
              <a:t>Diabetes Insipidus (DI)</a:t>
            </a:r>
          </a:p>
        </p:txBody>
      </p:sp>
      <p:sp>
        <p:nvSpPr>
          <p:cNvPr id="14" name="Rectangle 13">
            <a:extLst>
              <a:ext uri="{FF2B5EF4-FFF2-40B4-BE49-F238E27FC236}">
                <a16:creationId xmlns:a16="http://schemas.microsoft.com/office/drawing/2014/main" id="{074B4F7D-14B2-478B-8BF5-01E4E0C5D26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8834" y="758952"/>
            <a:ext cx="128016"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3" name="Content Placeholder 2">
            <a:extLst>
              <a:ext uri="{FF2B5EF4-FFF2-40B4-BE49-F238E27FC236}">
                <a16:creationId xmlns:a16="http://schemas.microsoft.com/office/drawing/2014/main" id="{1C9694FA-0AA0-4389-994F-B0F65DF5EA3E}"/>
              </a:ext>
            </a:extLst>
          </p:cNvPr>
          <p:cNvSpPr>
            <a:spLocks noGrp="1"/>
          </p:cNvSpPr>
          <p:nvPr>
            <p:ph idx="1"/>
          </p:nvPr>
        </p:nvSpPr>
        <p:spPr>
          <a:xfrm>
            <a:off x="558209" y="2221992"/>
            <a:ext cx="11164399" cy="4546669"/>
          </a:xfrm>
        </p:spPr>
        <p:txBody>
          <a:bodyPr>
            <a:normAutofit/>
          </a:bodyPr>
          <a:lstStyle/>
          <a:p>
            <a:r>
              <a:rPr lang="en-US" sz="3600" dirty="0"/>
              <a:t>DI is defined as the </a:t>
            </a:r>
            <a:r>
              <a:rPr lang="en-US" sz="3600" b="1" dirty="0"/>
              <a:t>passage of large volumes of dilute urine</a:t>
            </a:r>
            <a:r>
              <a:rPr lang="en-US" sz="3600" dirty="0"/>
              <a:t> and comes in two forms:</a:t>
            </a:r>
          </a:p>
          <a:p>
            <a:pPr marL="914400" lvl="1" indent="-457200">
              <a:buAutoNum type="arabicPeriod"/>
            </a:pPr>
            <a:r>
              <a:rPr lang="en-US" sz="3500" b="1" dirty="0"/>
              <a:t>Central DI </a:t>
            </a:r>
            <a:r>
              <a:rPr lang="en-US" sz="3500" dirty="0"/>
              <a:t>– due to decreased secretion of ADH</a:t>
            </a:r>
          </a:p>
          <a:p>
            <a:pPr marL="914400" lvl="1" indent="-457200">
              <a:buAutoNum type="arabicPeriod"/>
            </a:pPr>
            <a:r>
              <a:rPr lang="en-US" sz="3500" b="1" dirty="0"/>
              <a:t>Nephrogenic DI </a:t>
            </a:r>
            <a:r>
              <a:rPr lang="en-US" sz="3500" dirty="0"/>
              <a:t>– decreased ability to concentrate urine because of resistance to ADH at the level of the kidneys </a:t>
            </a:r>
          </a:p>
          <a:p>
            <a:r>
              <a:rPr lang="en-US" sz="3600" dirty="0"/>
              <a:t>Patients with untreated central diabetes insipidus (CDI) typically present with </a:t>
            </a:r>
            <a:r>
              <a:rPr lang="en-US" sz="3600" b="1" dirty="0"/>
              <a:t>polyuria, nocturia, and polydipsia</a:t>
            </a:r>
          </a:p>
        </p:txBody>
      </p:sp>
    </p:spTree>
    <p:extLst>
      <p:ext uri="{BB962C8B-B14F-4D97-AF65-F5344CB8AC3E}">
        <p14:creationId xmlns:p14="http://schemas.microsoft.com/office/powerpoint/2010/main" val="2212749993"/>
      </p:ext>
    </p:extLst>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3" name="Rectangle 16">
            <a:extLst>
              <a:ext uri="{FF2B5EF4-FFF2-40B4-BE49-F238E27FC236}">
                <a16:creationId xmlns:a16="http://schemas.microsoft.com/office/drawing/2014/main" id="{CBB2B1F0-0DD6-4744-9A46-7A344FB48E4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48268BE-B822-4575-8DB7-D27CCD8305CA}"/>
              </a:ext>
            </a:extLst>
          </p:cNvPr>
          <p:cNvSpPr>
            <a:spLocks noGrp="1"/>
          </p:cNvSpPr>
          <p:nvPr>
            <p:ph type="title"/>
          </p:nvPr>
        </p:nvSpPr>
        <p:spPr>
          <a:xfrm>
            <a:off x="841248" y="426720"/>
            <a:ext cx="10506456" cy="1919141"/>
          </a:xfrm>
        </p:spPr>
        <p:txBody>
          <a:bodyPr anchor="b">
            <a:normAutofit/>
          </a:bodyPr>
          <a:lstStyle/>
          <a:p>
            <a:r>
              <a:rPr lang="en-US" sz="6000" dirty="0"/>
              <a:t>Polyuria</a:t>
            </a:r>
          </a:p>
        </p:txBody>
      </p:sp>
      <p:sp>
        <p:nvSpPr>
          <p:cNvPr id="24" name="Rectangle 18">
            <a:extLst>
              <a:ext uri="{FF2B5EF4-FFF2-40B4-BE49-F238E27FC236}">
                <a16:creationId xmlns:a16="http://schemas.microsoft.com/office/drawing/2014/main" id="{52D502E5-F6B4-4D58-B4AE-FC466FF15E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65953" y="2899927"/>
            <a:ext cx="10451592"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25" name="Rectangle 20">
            <a:extLst>
              <a:ext uri="{FF2B5EF4-FFF2-40B4-BE49-F238E27FC236}">
                <a16:creationId xmlns:a16="http://schemas.microsoft.com/office/drawing/2014/main" id="{9DECDBF4-02B6-4BB4-B65B-B8107AD6A9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841248" y="2776031"/>
            <a:ext cx="1873457" cy="13716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3" name="Content Placeholder 2">
            <a:extLst>
              <a:ext uri="{FF2B5EF4-FFF2-40B4-BE49-F238E27FC236}">
                <a16:creationId xmlns:a16="http://schemas.microsoft.com/office/drawing/2014/main" id="{B5C6FA37-1D0E-4751-AF67-85B34A30F5FC}"/>
              </a:ext>
            </a:extLst>
          </p:cNvPr>
          <p:cNvSpPr>
            <a:spLocks noGrp="1"/>
          </p:cNvSpPr>
          <p:nvPr>
            <p:ph idx="1"/>
          </p:nvPr>
        </p:nvSpPr>
        <p:spPr>
          <a:xfrm>
            <a:off x="865953" y="3123325"/>
            <a:ext cx="10968695" cy="3519517"/>
          </a:xfrm>
        </p:spPr>
        <p:txBody>
          <a:bodyPr>
            <a:normAutofit/>
          </a:bodyPr>
          <a:lstStyle/>
          <a:p>
            <a:r>
              <a:rPr lang="en-US" sz="3200" b="1" dirty="0"/>
              <a:t>Normal</a:t>
            </a:r>
            <a:r>
              <a:rPr lang="en-US" sz="3200" dirty="0"/>
              <a:t> urine output is 800 -2000 mL of urine per day with fluid intake of approximately 2L </a:t>
            </a:r>
          </a:p>
          <a:p>
            <a:r>
              <a:rPr lang="en-US" sz="3200" dirty="0"/>
              <a:t>Differential Dx: </a:t>
            </a:r>
          </a:p>
          <a:p>
            <a:pPr lvl="1"/>
            <a:r>
              <a:rPr lang="en-US" sz="3200" dirty="0"/>
              <a:t>Diabetes Insipidus </a:t>
            </a:r>
          </a:p>
          <a:p>
            <a:pPr lvl="1"/>
            <a:r>
              <a:rPr lang="en-US" sz="3200" dirty="0"/>
              <a:t>Diabetes mellitus – Osmotic diuresis secondary to glucosuria </a:t>
            </a:r>
          </a:p>
          <a:p>
            <a:pPr lvl="1"/>
            <a:r>
              <a:rPr lang="en-US" sz="3200" dirty="0"/>
              <a:t>Primary Polydipsia – A psychologic disorder involving excessive water intake </a:t>
            </a:r>
          </a:p>
        </p:txBody>
      </p:sp>
      <p:sp>
        <p:nvSpPr>
          <p:cNvPr id="4" name="TextBox 3">
            <a:extLst>
              <a:ext uri="{FF2B5EF4-FFF2-40B4-BE49-F238E27FC236}">
                <a16:creationId xmlns:a16="http://schemas.microsoft.com/office/drawing/2014/main" id="{CDA34492-99FA-2BD7-35C9-E216FABA118B}"/>
              </a:ext>
            </a:extLst>
          </p:cNvPr>
          <p:cNvSpPr txBox="1"/>
          <p:nvPr/>
        </p:nvSpPr>
        <p:spPr>
          <a:xfrm>
            <a:off x="3865710" y="1451305"/>
            <a:ext cx="7451835" cy="1089529"/>
          </a:xfrm>
          <a:prstGeom prst="rect">
            <a:avLst/>
          </a:prstGeom>
          <a:noFill/>
        </p:spPr>
        <p:txBody>
          <a:bodyPr wrap="square" rtlCol="0">
            <a:spAutoFit/>
          </a:bodyPr>
          <a:lstStyle/>
          <a:p>
            <a:pPr marR="0" lvl="0" algn="ctr" defTabSz="914400" rtl="0" eaLnBrk="1" fontAlgn="auto" latinLnBrk="0" hangingPunct="1">
              <a:lnSpc>
                <a:spcPct val="90000"/>
              </a:lnSpc>
              <a:spcBef>
                <a:spcPts val="1000"/>
              </a:spcBef>
              <a:spcAft>
                <a:spcPts val="0"/>
              </a:spcAft>
              <a:buClrTx/>
              <a:buSzTx/>
              <a:tabLst/>
              <a:defRPr/>
            </a:pPr>
            <a:r>
              <a:rPr kumimoji="0" lang="en-US" sz="3600" b="0" i="0" u="none" strike="noStrike" kern="1200" cap="none" spc="0" normalizeH="0" baseline="0" noProof="0" dirty="0">
                <a:ln>
                  <a:noFill/>
                </a:ln>
                <a:solidFill>
                  <a:prstClr val="black"/>
                </a:solidFill>
                <a:effectLst/>
                <a:uLnTx/>
                <a:uFillTx/>
                <a:latin typeface="Calibri" panose="020F0502020204030204"/>
                <a:ea typeface="+mn-ea"/>
                <a:cs typeface="+mn-cs"/>
              </a:rPr>
              <a:t>Generally defined as &gt; 3L output of urine per day </a:t>
            </a:r>
          </a:p>
        </p:txBody>
      </p:sp>
      <p:sp>
        <p:nvSpPr>
          <p:cNvPr id="5" name="Rectangle 4">
            <a:extLst>
              <a:ext uri="{FF2B5EF4-FFF2-40B4-BE49-F238E27FC236}">
                <a16:creationId xmlns:a16="http://schemas.microsoft.com/office/drawing/2014/main" id="{EE9F22C3-64CB-6858-9986-EDDE5FAC9703}"/>
              </a:ext>
            </a:extLst>
          </p:cNvPr>
          <p:cNvSpPr/>
          <p:nvPr/>
        </p:nvSpPr>
        <p:spPr>
          <a:xfrm>
            <a:off x="3846786" y="1198179"/>
            <a:ext cx="7651531" cy="1556114"/>
          </a:xfrm>
          <a:prstGeom prst="rect">
            <a:avLst/>
          </a:prstGeom>
          <a:no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517048446"/>
      </p:ext>
    </p:extLst>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DAF1966E-FD40-4A4A-B61B-C4DF7FA05F0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0" name="Rectangle 9">
            <a:extLst>
              <a:ext uri="{FF2B5EF4-FFF2-40B4-BE49-F238E27FC236}">
                <a16:creationId xmlns:a16="http://schemas.microsoft.com/office/drawing/2014/main" id="{047BFA19-D45E-416B-A404-7AF2F3F270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58209" y="0"/>
            <a:ext cx="11167447" cy="2018806"/>
          </a:xfrm>
          <a:prstGeom prst="rect">
            <a:avLst/>
          </a:prstGeom>
          <a:ln w="9525">
            <a:solidFill>
              <a:srgbClr val="E1E1E1"/>
            </a:solidFill>
          </a:ln>
          <a:effectLst>
            <a:outerShdw blurRad="50800" dist="38100" dir="2700000" algn="t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2" name="Rectangle 11">
            <a:extLst>
              <a:ext uri="{FF2B5EF4-FFF2-40B4-BE49-F238E27FC236}">
                <a16:creationId xmlns:a16="http://schemas.microsoft.com/office/drawing/2014/main" id="{8E0105E7-23DB-4CF2-8258-FF47C7620F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6928" y="0"/>
            <a:ext cx="11155680" cy="2011680"/>
          </a:xfrm>
          <a:prstGeom prst="rect">
            <a:avLst/>
          </a:pr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696A693E-7CBB-4972-AFC2-74C1B943569F}"/>
              </a:ext>
            </a:extLst>
          </p:cNvPr>
          <p:cNvSpPr>
            <a:spLocks noGrp="1"/>
          </p:cNvSpPr>
          <p:nvPr>
            <p:ph type="title"/>
          </p:nvPr>
        </p:nvSpPr>
        <p:spPr>
          <a:xfrm>
            <a:off x="1115568" y="548640"/>
            <a:ext cx="10168128" cy="1179576"/>
          </a:xfrm>
        </p:spPr>
        <p:txBody>
          <a:bodyPr>
            <a:normAutofit/>
          </a:bodyPr>
          <a:lstStyle/>
          <a:p>
            <a:r>
              <a:rPr lang="en-US" sz="4800" dirty="0"/>
              <a:t>Diabetes Insipidus (DI) Etiology</a:t>
            </a:r>
          </a:p>
        </p:txBody>
      </p:sp>
      <p:sp>
        <p:nvSpPr>
          <p:cNvPr id="14" name="Rectangle 13">
            <a:extLst>
              <a:ext uri="{FF2B5EF4-FFF2-40B4-BE49-F238E27FC236}">
                <a16:creationId xmlns:a16="http://schemas.microsoft.com/office/drawing/2014/main" id="{074B4F7D-14B2-478B-8BF5-01E4E0C5D26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8834" y="758952"/>
            <a:ext cx="128016"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3" name="Content Placeholder 2">
            <a:extLst>
              <a:ext uri="{FF2B5EF4-FFF2-40B4-BE49-F238E27FC236}">
                <a16:creationId xmlns:a16="http://schemas.microsoft.com/office/drawing/2014/main" id="{56CA6B4D-1CCD-4C54-94C4-675233BA2F46}"/>
              </a:ext>
            </a:extLst>
          </p:cNvPr>
          <p:cNvSpPr>
            <a:spLocks noGrp="1"/>
          </p:cNvSpPr>
          <p:nvPr>
            <p:ph idx="1"/>
          </p:nvPr>
        </p:nvSpPr>
        <p:spPr>
          <a:xfrm>
            <a:off x="566928" y="2259020"/>
            <a:ext cx="11155680" cy="4914532"/>
          </a:xfrm>
        </p:spPr>
        <p:txBody>
          <a:bodyPr>
            <a:normAutofit/>
          </a:bodyPr>
          <a:lstStyle/>
          <a:p>
            <a:r>
              <a:rPr lang="en-US" sz="3200" b="1" dirty="0"/>
              <a:t>Idiopathic (30-50%) </a:t>
            </a:r>
            <a:r>
              <a:rPr lang="en-US" sz="3200" dirty="0"/>
              <a:t>– likely an autoimmune process involving destruction of the hypothalamic cells or destruction of neurons in pituitary stalk and posterior pituitary gland</a:t>
            </a:r>
          </a:p>
          <a:p>
            <a:r>
              <a:rPr lang="en-US" sz="3200" b="1" dirty="0"/>
              <a:t>Primary tumors – </a:t>
            </a:r>
            <a:r>
              <a:rPr lang="en-US" sz="3200" dirty="0"/>
              <a:t>craniopharyngioma, pituitary adenomas</a:t>
            </a:r>
          </a:p>
          <a:p>
            <a:r>
              <a:rPr lang="en-US" sz="3200" b="1" dirty="0"/>
              <a:t>Infiltrative disease – </a:t>
            </a:r>
            <a:r>
              <a:rPr lang="en-US" sz="3200" dirty="0"/>
              <a:t>Langerhans histiocytosis </a:t>
            </a:r>
          </a:p>
          <a:p>
            <a:r>
              <a:rPr lang="en-US" sz="3200" b="1" dirty="0"/>
              <a:t>Neurosurgery (usually transsphenoidal) or head trauma </a:t>
            </a:r>
            <a:r>
              <a:rPr lang="en-US" sz="3200" dirty="0"/>
              <a:t>– usually transient </a:t>
            </a:r>
          </a:p>
          <a:p>
            <a:r>
              <a:rPr lang="en-US" sz="3200" b="1" dirty="0"/>
              <a:t>Secondary cancers </a:t>
            </a:r>
            <a:r>
              <a:rPr lang="en-US" sz="3200" dirty="0"/>
              <a:t>– lung cancer, leukemia, or lymphoma</a:t>
            </a:r>
          </a:p>
        </p:txBody>
      </p:sp>
    </p:spTree>
    <p:extLst>
      <p:ext uri="{BB962C8B-B14F-4D97-AF65-F5344CB8AC3E}">
        <p14:creationId xmlns:p14="http://schemas.microsoft.com/office/powerpoint/2010/main" val="156062646"/>
      </p:ext>
    </p:extLst>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DAF1966E-FD40-4A4A-B61B-C4DF7FA05F0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0" name="Rectangle 9">
            <a:extLst>
              <a:ext uri="{FF2B5EF4-FFF2-40B4-BE49-F238E27FC236}">
                <a16:creationId xmlns:a16="http://schemas.microsoft.com/office/drawing/2014/main" id="{047BFA19-D45E-416B-A404-7AF2F3F270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58209" y="0"/>
            <a:ext cx="11167447" cy="2018806"/>
          </a:xfrm>
          <a:prstGeom prst="rect">
            <a:avLst/>
          </a:prstGeom>
          <a:ln w="9525">
            <a:solidFill>
              <a:srgbClr val="E1E1E1"/>
            </a:solidFill>
          </a:ln>
          <a:effectLst>
            <a:outerShdw blurRad="50800" dist="38100" dir="2700000" algn="t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2" name="Rectangle 11">
            <a:extLst>
              <a:ext uri="{FF2B5EF4-FFF2-40B4-BE49-F238E27FC236}">
                <a16:creationId xmlns:a16="http://schemas.microsoft.com/office/drawing/2014/main" id="{8E0105E7-23DB-4CF2-8258-FF47C7620F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6928" y="0"/>
            <a:ext cx="11155680" cy="2011680"/>
          </a:xfrm>
          <a:prstGeom prst="rect">
            <a:avLst/>
          </a:pr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A1684923-48B5-49DD-B2A4-388542A3B88A}"/>
              </a:ext>
            </a:extLst>
          </p:cNvPr>
          <p:cNvSpPr>
            <a:spLocks noGrp="1"/>
          </p:cNvSpPr>
          <p:nvPr>
            <p:ph type="title"/>
          </p:nvPr>
        </p:nvSpPr>
        <p:spPr>
          <a:xfrm>
            <a:off x="1115568" y="548640"/>
            <a:ext cx="10168128" cy="1179576"/>
          </a:xfrm>
        </p:spPr>
        <p:txBody>
          <a:bodyPr>
            <a:normAutofit/>
          </a:bodyPr>
          <a:lstStyle/>
          <a:p>
            <a:r>
              <a:rPr lang="en-US" sz="4800" dirty="0"/>
              <a:t>Diabetes Insipidus (DI)</a:t>
            </a:r>
          </a:p>
        </p:txBody>
      </p:sp>
      <p:sp>
        <p:nvSpPr>
          <p:cNvPr id="14" name="Rectangle 13">
            <a:extLst>
              <a:ext uri="{FF2B5EF4-FFF2-40B4-BE49-F238E27FC236}">
                <a16:creationId xmlns:a16="http://schemas.microsoft.com/office/drawing/2014/main" id="{074B4F7D-14B2-478B-8BF5-01E4E0C5D26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8834" y="758952"/>
            <a:ext cx="128016"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3" name="Content Placeholder 2">
            <a:extLst>
              <a:ext uri="{FF2B5EF4-FFF2-40B4-BE49-F238E27FC236}">
                <a16:creationId xmlns:a16="http://schemas.microsoft.com/office/drawing/2014/main" id="{F50B6B38-06A7-4FF4-92E0-A14B7A9F08A5}"/>
              </a:ext>
            </a:extLst>
          </p:cNvPr>
          <p:cNvSpPr>
            <a:spLocks noGrp="1"/>
          </p:cNvSpPr>
          <p:nvPr>
            <p:ph idx="1"/>
          </p:nvPr>
        </p:nvSpPr>
        <p:spPr>
          <a:xfrm>
            <a:off x="555161" y="2221992"/>
            <a:ext cx="11167447" cy="4473098"/>
          </a:xfrm>
        </p:spPr>
        <p:txBody>
          <a:bodyPr>
            <a:normAutofit/>
          </a:bodyPr>
          <a:lstStyle/>
          <a:p>
            <a:r>
              <a:rPr lang="en-US" sz="3600" dirty="0"/>
              <a:t>Sodium is often in the high-normal range (to provide the ongoing stimulation of thirst to replace the urinary water losses)</a:t>
            </a:r>
          </a:p>
          <a:p>
            <a:pPr lvl="1"/>
            <a:r>
              <a:rPr lang="en-US" sz="3200" dirty="0"/>
              <a:t>Most patients can maintain fluid balance by continuing to ingest large volumes of water</a:t>
            </a:r>
          </a:p>
          <a:p>
            <a:pPr lvl="1"/>
            <a:r>
              <a:rPr lang="en-US" sz="3200" dirty="0"/>
              <a:t>However, </a:t>
            </a:r>
            <a:r>
              <a:rPr lang="en-US" sz="3200" i="1" dirty="0"/>
              <a:t>in patients without free access to water or with a damaged hypothalamic thirst center and altered thirst sensation</a:t>
            </a:r>
            <a:r>
              <a:rPr lang="en-US" sz="3200" dirty="0"/>
              <a:t>, DI may present with </a:t>
            </a:r>
            <a:r>
              <a:rPr lang="en-US" sz="3200" b="1" dirty="0"/>
              <a:t>hypernatremia and dehydration</a:t>
            </a:r>
          </a:p>
        </p:txBody>
      </p:sp>
    </p:spTree>
    <p:extLst>
      <p:ext uri="{BB962C8B-B14F-4D97-AF65-F5344CB8AC3E}">
        <p14:creationId xmlns:p14="http://schemas.microsoft.com/office/powerpoint/2010/main" val="135911138"/>
      </p:ext>
    </p:extLst>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DAF1966E-FD40-4A4A-B61B-C4DF7FA05F0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0" name="Rectangle 9">
            <a:extLst>
              <a:ext uri="{FF2B5EF4-FFF2-40B4-BE49-F238E27FC236}">
                <a16:creationId xmlns:a16="http://schemas.microsoft.com/office/drawing/2014/main" id="{047BFA19-D45E-416B-A404-7AF2F3F270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58209" y="0"/>
            <a:ext cx="11167447" cy="2018806"/>
          </a:xfrm>
          <a:prstGeom prst="rect">
            <a:avLst/>
          </a:prstGeom>
          <a:ln w="9525">
            <a:solidFill>
              <a:srgbClr val="E1E1E1"/>
            </a:solidFill>
          </a:ln>
          <a:effectLst>
            <a:outerShdw blurRad="50800" dist="38100" dir="2700000" algn="t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2" name="Rectangle 11">
            <a:extLst>
              <a:ext uri="{FF2B5EF4-FFF2-40B4-BE49-F238E27FC236}">
                <a16:creationId xmlns:a16="http://schemas.microsoft.com/office/drawing/2014/main" id="{8E0105E7-23DB-4CF2-8258-FF47C7620F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6928" y="0"/>
            <a:ext cx="11155680" cy="2011680"/>
          </a:xfrm>
          <a:prstGeom prst="rect">
            <a:avLst/>
          </a:pr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A4909D66-0025-4DFD-B3BF-3A5D48722928}"/>
              </a:ext>
            </a:extLst>
          </p:cNvPr>
          <p:cNvSpPr>
            <a:spLocks noGrp="1"/>
          </p:cNvSpPr>
          <p:nvPr>
            <p:ph type="title"/>
          </p:nvPr>
        </p:nvSpPr>
        <p:spPr>
          <a:xfrm>
            <a:off x="1115568" y="548640"/>
            <a:ext cx="10168128" cy="1179576"/>
          </a:xfrm>
        </p:spPr>
        <p:txBody>
          <a:bodyPr>
            <a:normAutofit/>
          </a:bodyPr>
          <a:lstStyle/>
          <a:p>
            <a:r>
              <a:rPr lang="en-US" sz="4800" dirty="0"/>
              <a:t>Diabetes Insipidus Workup </a:t>
            </a:r>
          </a:p>
        </p:txBody>
      </p:sp>
      <p:sp>
        <p:nvSpPr>
          <p:cNvPr id="14" name="Rectangle 13">
            <a:extLst>
              <a:ext uri="{FF2B5EF4-FFF2-40B4-BE49-F238E27FC236}">
                <a16:creationId xmlns:a16="http://schemas.microsoft.com/office/drawing/2014/main" id="{074B4F7D-14B2-478B-8BF5-01E4E0C5D26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8834" y="758952"/>
            <a:ext cx="128016"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3" name="Content Placeholder 2">
            <a:extLst>
              <a:ext uri="{FF2B5EF4-FFF2-40B4-BE49-F238E27FC236}">
                <a16:creationId xmlns:a16="http://schemas.microsoft.com/office/drawing/2014/main" id="{9FD3729F-6C24-4089-A2B4-57AD80530389}"/>
              </a:ext>
            </a:extLst>
          </p:cNvPr>
          <p:cNvSpPr>
            <a:spLocks noGrp="1"/>
          </p:cNvSpPr>
          <p:nvPr>
            <p:ph idx="1"/>
          </p:nvPr>
        </p:nvSpPr>
        <p:spPr>
          <a:xfrm>
            <a:off x="403488" y="2011680"/>
            <a:ext cx="11381543" cy="4756877"/>
          </a:xfrm>
        </p:spPr>
        <p:txBody>
          <a:bodyPr>
            <a:normAutofit fontScale="92500"/>
          </a:bodyPr>
          <a:lstStyle/>
          <a:p>
            <a:r>
              <a:rPr lang="en-US" sz="3200" dirty="0"/>
              <a:t>Consider when urinary frequency, nocturia, enuresis, persistent thirst occurs in the absence of glucosuria </a:t>
            </a:r>
          </a:p>
          <a:p>
            <a:r>
              <a:rPr lang="en-US" sz="3200" dirty="0"/>
              <a:t>Begin with plasma osmolality </a:t>
            </a:r>
          </a:p>
          <a:p>
            <a:pPr lvl="1"/>
            <a:r>
              <a:rPr lang="en-US" sz="2800" dirty="0"/>
              <a:t>Psychogenic polydipsia: plasma osmolality &lt;280</a:t>
            </a:r>
            <a:r>
              <a:rPr lang="en-US" sz="2000" b="0" i="0" dirty="0">
                <a:solidFill>
                  <a:srgbClr val="343536"/>
                </a:solidFill>
                <a:effectLst/>
                <a:latin typeface="Source Sans Pro" panose="020B0503030403020204" pitchFamily="34" charset="0"/>
              </a:rPr>
              <a:t>mOsm/kg</a:t>
            </a:r>
            <a:endParaRPr lang="en-US" sz="2800" dirty="0"/>
          </a:p>
          <a:p>
            <a:pPr lvl="1"/>
            <a:r>
              <a:rPr lang="en-US" sz="2800" dirty="0"/>
              <a:t>Central or nephrogenic DI: plasma osmolality &gt;300</a:t>
            </a:r>
            <a:r>
              <a:rPr lang="en-US" sz="2000" b="0" i="0" dirty="0">
                <a:solidFill>
                  <a:srgbClr val="343536"/>
                </a:solidFill>
                <a:effectLst/>
                <a:latin typeface="Source Sans Pro" panose="020B0503030403020204" pitchFamily="34" charset="0"/>
              </a:rPr>
              <a:t>mOsm/kg</a:t>
            </a:r>
            <a:endParaRPr lang="en-US" sz="2800" dirty="0"/>
          </a:p>
          <a:p>
            <a:r>
              <a:rPr lang="en-US" sz="3200" dirty="0"/>
              <a:t>24-hour urine collection w/ unrestricted fluid intake </a:t>
            </a:r>
          </a:p>
          <a:p>
            <a:pPr lvl="1"/>
            <a:r>
              <a:rPr lang="en-US" sz="3200" dirty="0"/>
              <a:t>A urine volume of &lt; 2 L/24 h (in the absence of hypernatremia) rules out DI</a:t>
            </a:r>
          </a:p>
          <a:p>
            <a:pPr lvl="1"/>
            <a:r>
              <a:rPr lang="en-US" sz="3200" dirty="0"/>
              <a:t>Urine osmolarity of &lt; 280 </a:t>
            </a:r>
            <a:r>
              <a:rPr lang="en-US" sz="3200" dirty="0" err="1"/>
              <a:t>mosmol</a:t>
            </a:r>
            <a:r>
              <a:rPr lang="en-US" sz="3200" dirty="0"/>
              <a:t>/L and volume &gt;2 L/24h suggests DI and should be evaluated further to determine which type </a:t>
            </a:r>
          </a:p>
        </p:txBody>
      </p:sp>
    </p:spTree>
    <p:extLst>
      <p:ext uri="{BB962C8B-B14F-4D97-AF65-F5344CB8AC3E}">
        <p14:creationId xmlns:p14="http://schemas.microsoft.com/office/powerpoint/2010/main" val="3790217494"/>
      </p:ext>
    </p:extLst>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DAF1966E-FD40-4A4A-B61B-C4DF7FA05F0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0" name="Rectangle 9">
            <a:extLst>
              <a:ext uri="{FF2B5EF4-FFF2-40B4-BE49-F238E27FC236}">
                <a16:creationId xmlns:a16="http://schemas.microsoft.com/office/drawing/2014/main" id="{047BFA19-D45E-416B-A404-7AF2F3F270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58209" y="0"/>
            <a:ext cx="11167447" cy="2018806"/>
          </a:xfrm>
          <a:prstGeom prst="rect">
            <a:avLst/>
          </a:prstGeom>
          <a:ln w="9525">
            <a:solidFill>
              <a:srgbClr val="E1E1E1"/>
            </a:solidFill>
          </a:ln>
          <a:effectLst>
            <a:outerShdw blurRad="50800" dist="38100" dir="2700000" algn="t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2" name="Rectangle 11">
            <a:extLst>
              <a:ext uri="{FF2B5EF4-FFF2-40B4-BE49-F238E27FC236}">
                <a16:creationId xmlns:a16="http://schemas.microsoft.com/office/drawing/2014/main" id="{8E0105E7-23DB-4CF2-8258-FF47C7620F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6928" y="0"/>
            <a:ext cx="11155680" cy="2011680"/>
          </a:xfrm>
          <a:prstGeom prst="rect">
            <a:avLst/>
          </a:pr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CE9F2815-0B69-4AE4-99CB-A34B09CA2051}"/>
              </a:ext>
            </a:extLst>
          </p:cNvPr>
          <p:cNvSpPr>
            <a:spLocks noGrp="1"/>
          </p:cNvSpPr>
          <p:nvPr>
            <p:ph type="title"/>
          </p:nvPr>
        </p:nvSpPr>
        <p:spPr>
          <a:xfrm>
            <a:off x="1115568" y="548640"/>
            <a:ext cx="10168128" cy="1179576"/>
          </a:xfrm>
        </p:spPr>
        <p:txBody>
          <a:bodyPr>
            <a:normAutofit/>
          </a:bodyPr>
          <a:lstStyle/>
          <a:p>
            <a:r>
              <a:rPr lang="en-US" sz="4800" dirty="0"/>
              <a:t>Diabetes Insipidus Workup</a:t>
            </a:r>
          </a:p>
        </p:txBody>
      </p:sp>
      <p:sp>
        <p:nvSpPr>
          <p:cNvPr id="14" name="Rectangle 13">
            <a:extLst>
              <a:ext uri="{FF2B5EF4-FFF2-40B4-BE49-F238E27FC236}">
                <a16:creationId xmlns:a16="http://schemas.microsoft.com/office/drawing/2014/main" id="{074B4F7D-14B2-478B-8BF5-01E4E0C5D26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8834" y="758952"/>
            <a:ext cx="128016"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3" name="Content Placeholder 2">
            <a:extLst>
              <a:ext uri="{FF2B5EF4-FFF2-40B4-BE49-F238E27FC236}">
                <a16:creationId xmlns:a16="http://schemas.microsoft.com/office/drawing/2014/main" id="{5C175FCF-645D-4281-A1F3-8AB38A0C35CB}"/>
              </a:ext>
            </a:extLst>
          </p:cNvPr>
          <p:cNvSpPr>
            <a:spLocks noGrp="1"/>
          </p:cNvSpPr>
          <p:nvPr>
            <p:ph idx="1"/>
          </p:nvPr>
        </p:nvSpPr>
        <p:spPr>
          <a:xfrm>
            <a:off x="566928" y="2276856"/>
            <a:ext cx="11223774" cy="5439839"/>
          </a:xfrm>
        </p:spPr>
        <p:txBody>
          <a:bodyPr>
            <a:normAutofit/>
          </a:bodyPr>
          <a:lstStyle/>
          <a:p>
            <a:pPr marL="0" indent="0">
              <a:buNone/>
            </a:pPr>
            <a:r>
              <a:rPr lang="en-US" sz="3600" dirty="0"/>
              <a:t>Next: </a:t>
            </a:r>
            <a:r>
              <a:rPr lang="en-US" sz="3600" b="1" dirty="0"/>
              <a:t>Fluid restriction and “desmopressin challenge test” </a:t>
            </a:r>
          </a:p>
          <a:p>
            <a:r>
              <a:rPr lang="en-US" sz="3200" dirty="0"/>
              <a:t>Fluid restrict until a sodium of 145 is achieved (overnight or for up to 12 hours); check sodium and urine osmolarity </a:t>
            </a:r>
          </a:p>
          <a:p>
            <a:r>
              <a:rPr lang="en-US" sz="3200" dirty="0"/>
              <a:t>If still dilute, administer Desmopressin 5-10mcg intranasally or 1mcg SC/IV; measure urine osmolarity</a:t>
            </a:r>
          </a:p>
          <a:p>
            <a:pPr lvl="1"/>
            <a:r>
              <a:rPr lang="en-US" sz="3000" b="1" dirty="0"/>
              <a:t>In central DI, Desmopressin will increase urine osmolarity and resolve the patient’s excessive thirst and urination </a:t>
            </a:r>
          </a:p>
          <a:p>
            <a:pPr lvl="1"/>
            <a:r>
              <a:rPr lang="en-US" sz="3000" dirty="0"/>
              <a:t>In nephrogenic DI, the patient will not respond to Desmopressin</a:t>
            </a:r>
          </a:p>
          <a:p>
            <a:pPr lvl="2"/>
            <a:endParaRPr lang="en-US" sz="2200" dirty="0"/>
          </a:p>
          <a:p>
            <a:pPr lvl="2"/>
            <a:endParaRPr lang="en-US" sz="2200" dirty="0"/>
          </a:p>
          <a:p>
            <a:pPr lvl="1"/>
            <a:endParaRPr lang="en-US" sz="2200" dirty="0"/>
          </a:p>
        </p:txBody>
      </p:sp>
    </p:spTree>
    <p:extLst>
      <p:ext uri="{BB962C8B-B14F-4D97-AF65-F5344CB8AC3E}">
        <p14:creationId xmlns:p14="http://schemas.microsoft.com/office/powerpoint/2010/main" val="731888550"/>
      </p:ext>
    </p:extLst>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DAF1966E-FD40-4A4A-B61B-C4DF7FA05F0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0" name="Rectangle 9">
            <a:extLst>
              <a:ext uri="{FF2B5EF4-FFF2-40B4-BE49-F238E27FC236}">
                <a16:creationId xmlns:a16="http://schemas.microsoft.com/office/drawing/2014/main" id="{047BFA19-D45E-416B-A404-7AF2F3F270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58209" y="0"/>
            <a:ext cx="11167447" cy="2018806"/>
          </a:xfrm>
          <a:prstGeom prst="rect">
            <a:avLst/>
          </a:prstGeom>
          <a:ln w="9525">
            <a:solidFill>
              <a:srgbClr val="E1E1E1"/>
            </a:solidFill>
          </a:ln>
          <a:effectLst>
            <a:outerShdw blurRad="50800" dist="38100" dir="2700000" algn="t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2" name="Rectangle 11">
            <a:extLst>
              <a:ext uri="{FF2B5EF4-FFF2-40B4-BE49-F238E27FC236}">
                <a16:creationId xmlns:a16="http://schemas.microsoft.com/office/drawing/2014/main" id="{8E0105E7-23DB-4CF2-8258-FF47C7620F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6928" y="0"/>
            <a:ext cx="11155680" cy="2011680"/>
          </a:xfrm>
          <a:prstGeom prst="rect">
            <a:avLst/>
          </a:pr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F1DA1963-33D1-45F0-B684-04C7D572E0A0}"/>
              </a:ext>
            </a:extLst>
          </p:cNvPr>
          <p:cNvSpPr>
            <a:spLocks noGrp="1"/>
          </p:cNvSpPr>
          <p:nvPr>
            <p:ph type="title"/>
          </p:nvPr>
        </p:nvSpPr>
        <p:spPr>
          <a:xfrm>
            <a:off x="1115568" y="548640"/>
            <a:ext cx="10168128" cy="1179576"/>
          </a:xfrm>
        </p:spPr>
        <p:txBody>
          <a:bodyPr>
            <a:normAutofit/>
          </a:bodyPr>
          <a:lstStyle/>
          <a:p>
            <a:r>
              <a:rPr lang="en-US" sz="4000"/>
              <a:t>Diabetes Insipidus (DI) Workup</a:t>
            </a:r>
          </a:p>
        </p:txBody>
      </p:sp>
      <p:sp>
        <p:nvSpPr>
          <p:cNvPr id="14" name="Rectangle 13">
            <a:extLst>
              <a:ext uri="{FF2B5EF4-FFF2-40B4-BE49-F238E27FC236}">
                <a16:creationId xmlns:a16="http://schemas.microsoft.com/office/drawing/2014/main" id="{074B4F7D-14B2-478B-8BF5-01E4E0C5D26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8834" y="758952"/>
            <a:ext cx="128016"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3" name="Content Placeholder 2">
            <a:extLst>
              <a:ext uri="{FF2B5EF4-FFF2-40B4-BE49-F238E27FC236}">
                <a16:creationId xmlns:a16="http://schemas.microsoft.com/office/drawing/2014/main" id="{4D798CBD-57C9-40E7-959F-CDEF5B8171A5}"/>
              </a:ext>
            </a:extLst>
          </p:cNvPr>
          <p:cNvSpPr>
            <a:spLocks noGrp="1"/>
          </p:cNvSpPr>
          <p:nvPr>
            <p:ph idx="1"/>
          </p:nvPr>
        </p:nvSpPr>
        <p:spPr>
          <a:xfrm>
            <a:off x="566928" y="2018806"/>
            <a:ext cx="11013681" cy="4572000"/>
          </a:xfrm>
        </p:spPr>
        <p:txBody>
          <a:bodyPr>
            <a:normAutofit/>
          </a:bodyPr>
          <a:lstStyle/>
          <a:p>
            <a:r>
              <a:rPr lang="en-US" sz="3600" dirty="0"/>
              <a:t>Finally, differentiating central DI from primary polydipsia usually requires a </a:t>
            </a:r>
            <a:r>
              <a:rPr lang="en-US" sz="3600" b="1" dirty="0"/>
              <a:t>pituitary MRI </a:t>
            </a:r>
            <a:r>
              <a:rPr lang="en-US" sz="3600" dirty="0"/>
              <a:t>to evaluate for the </a:t>
            </a:r>
            <a:r>
              <a:rPr lang="en-US" sz="3600" b="1" dirty="0"/>
              <a:t>“bright spot”</a:t>
            </a:r>
          </a:p>
          <a:p>
            <a:pPr lvl="1"/>
            <a:r>
              <a:rPr lang="en-US" sz="3200" dirty="0"/>
              <a:t>A hyperintense signal emitted by the posterior pituitary that is visible on T1 midsagittal images in heathy adults and children.</a:t>
            </a:r>
          </a:p>
          <a:p>
            <a:pPr lvl="1"/>
            <a:r>
              <a:rPr lang="en-US" sz="3200" dirty="0"/>
              <a:t>“Bright spot” is almost always present in patients with primary polydipsia but is always </a:t>
            </a:r>
            <a:r>
              <a:rPr lang="en-US" sz="3200" b="1" dirty="0"/>
              <a:t>absent or abnormally small in patients with pituitary DI</a:t>
            </a:r>
          </a:p>
        </p:txBody>
      </p:sp>
    </p:spTree>
    <p:extLst>
      <p:ext uri="{BB962C8B-B14F-4D97-AF65-F5344CB8AC3E}">
        <p14:creationId xmlns:p14="http://schemas.microsoft.com/office/powerpoint/2010/main" val="988719409"/>
      </p:ext>
    </p:extLst>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8DACFE-0DFC-4C04-AFDA-704250AAFE8B}"/>
              </a:ext>
            </a:extLst>
          </p:cNvPr>
          <p:cNvSpPr>
            <a:spLocks noGrp="1"/>
          </p:cNvSpPr>
          <p:nvPr>
            <p:ph type="title"/>
          </p:nvPr>
        </p:nvSpPr>
        <p:spPr>
          <a:xfrm>
            <a:off x="838200" y="267706"/>
            <a:ext cx="10515600" cy="1325563"/>
          </a:xfrm>
        </p:spPr>
        <p:txBody>
          <a:bodyPr/>
          <a:lstStyle/>
          <a:p>
            <a:pPr algn="ctr"/>
            <a:r>
              <a:rPr lang="en-US"/>
              <a:t>Pituitary Bright Spot</a:t>
            </a:r>
          </a:p>
        </p:txBody>
      </p:sp>
      <p:pic>
        <p:nvPicPr>
          <p:cNvPr id="6146" name="Picture 2" descr="Magnetic Resonance Imaging (MRI) showing the normal bright spot of the posterior pituitary gland.  ">
            <a:extLst>
              <a:ext uri="{FF2B5EF4-FFF2-40B4-BE49-F238E27FC236}">
                <a16:creationId xmlns:a16="http://schemas.microsoft.com/office/drawing/2014/main" id="{78738D4A-B30D-4713-B84D-A8B33B9C61F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66960" y="1936376"/>
            <a:ext cx="6129803" cy="3560782"/>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6A75E3CD-E64B-44DD-A4EE-1F3865322773}"/>
              </a:ext>
            </a:extLst>
          </p:cNvPr>
          <p:cNvSpPr txBox="1"/>
          <p:nvPr/>
        </p:nvSpPr>
        <p:spPr>
          <a:xfrm>
            <a:off x="1467421" y="5558180"/>
            <a:ext cx="3963714" cy="369332"/>
          </a:xfrm>
          <a:prstGeom prst="rect">
            <a:avLst/>
          </a:prstGeom>
          <a:noFill/>
        </p:spPr>
        <p:txBody>
          <a:bodyPr wrap="none" rtlCol="0">
            <a:spAutoFit/>
          </a:bodyPr>
          <a:lstStyle/>
          <a:p>
            <a:r>
              <a:rPr lang="en-US"/>
              <a:t>Normal bright spot of posterior pituitary</a:t>
            </a:r>
          </a:p>
        </p:txBody>
      </p:sp>
      <p:sp>
        <p:nvSpPr>
          <p:cNvPr id="5" name="TextBox 4">
            <a:extLst>
              <a:ext uri="{FF2B5EF4-FFF2-40B4-BE49-F238E27FC236}">
                <a16:creationId xmlns:a16="http://schemas.microsoft.com/office/drawing/2014/main" id="{DDCFCC14-8C13-40BE-A451-11A2DF2026E7}"/>
              </a:ext>
            </a:extLst>
          </p:cNvPr>
          <p:cNvSpPr txBox="1"/>
          <p:nvPr/>
        </p:nvSpPr>
        <p:spPr>
          <a:xfrm>
            <a:off x="7508145" y="5896301"/>
            <a:ext cx="3536033" cy="369332"/>
          </a:xfrm>
          <a:prstGeom prst="rect">
            <a:avLst/>
          </a:prstGeom>
          <a:noFill/>
        </p:spPr>
        <p:txBody>
          <a:bodyPr wrap="none" rtlCol="0">
            <a:spAutoFit/>
          </a:bodyPr>
          <a:lstStyle/>
          <a:p>
            <a:r>
              <a:rPr lang="en-US"/>
              <a:t>Absence of bright spot in central DI </a:t>
            </a:r>
          </a:p>
        </p:txBody>
      </p:sp>
      <p:pic>
        <p:nvPicPr>
          <p:cNvPr id="7" name="Picture 6">
            <a:extLst>
              <a:ext uri="{FF2B5EF4-FFF2-40B4-BE49-F238E27FC236}">
                <a16:creationId xmlns:a16="http://schemas.microsoft.com/office/drawing/2014/main" id="{D6C4B4F2-6743-42D2-AB5A-99D77DA81883}"/>
              </a:ext>
            </a:extLst>
          </p:cNvPr>
          <p:cNvPicPr>
            <a:picLocks noChangeAspect="1"/>
          </p:cNvPicPr>
          <p:nvPr/>
        </p:nvPicPr>
        <p:blipFill rotWithShape="1">
          <a:blip r:embed="rId4"/>
          <a:srcRect t="20039" b="4229"/>
          <a:stretch/>
        </p:blipFill>
        <p:spPr>
          <a:xfrm>
            <a:off x="6766325" y="1936376"/>
            <a:ext cx="5019675" cy="3801484"/>
          </a:xfrm>
          <a:prstGeom prst="rect">
            <a:avLst/>
          </a:prstGeom>
        </p:spPr>
      </p:pic>
    </p:spTree>
    <p:extLst>
      <p:ext uri="{BB962C8B-B14F-4D97-AF65-F5344CB8AC3E}">
        <p14:creationId xmlns:p14="http://schemas.microsoft.com/office/powerpoint/2010/main" val="3740698888"/>
      </p:ext>
    </p:extLst>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DAF1966E-FD40-4A4A-B61B-C4DF7FA05F0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0" name="Rectangle 9">
            <a:extLst>
              <a:ext uri="{FF2B5EF4-FFF2-40B4-BE49-F238E27FC236}">
                <a16:creationId xmlns:a16="http://schemas.microsoft.com/office/drawing/2014/main" id="{047BFA19-D45E-416B-A404-7AF2F3F270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58209" y="0"/>
            <a:ext cx="11167447" cy="2018806"/>
          </a:xfrm>
          <a:prstGeom prst="rect">
            <a:avLst/>
          </a:prstGeom>
          <a:ln w="9525">
            <a:solidFill>
              <a:srgbClr val="E1E1E1"/>
            </a:solidFill>
          </a:ln>
          <a:effectLst>
            <a:outerShdw blurRad="50800" dist="38100" dir="2700000" algn="t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2" name="Rectangle 11">
            <a:extLst>
              <a:ext uri="{FF2B5EF4-FFF2-40B4-BE49-F238E27FC236}">
                <a16:creationId xmlns:a16="http://schemas.microsoft.com/office/drawing/2014/main" id="{8E0105E7-23DB-4CF2-8258-FF47C7620F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6928" y="0"/>
            <a:ext cx="11155680" cy="2011680"/>
          </a:xfrm>
          <a:prstGeom prst="rect">
            <a:avLst/>
          </a:pr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BF618C4A-6AC3-47DC-BCD4-576D885A9E26}"/>
              </a:ext>
            </a:extLst>
          </p:cNvPr>
          <p:cNvSpPr>
            <a:spLocks noGrp="1"/>
          </p:cNvSpPr>
          <p:nvPr>
            <p:ph type="title"/>
          </p:nvPr>
        </p:nvSpPr>
        <p:spPr>
          <a:xfrm>
            <a:off x="1115568" y="548640"/>
            <a:ext cx="10168128" cy="1179576"/>
          </a:xfrm>
        </p:spPr>
        <p:txBody>
          <a:bodyPr>
            <a:normAutofit/>
          </a:bodyPr>
          <a:lstStyle/>
          <a:p>
            <a:r>
              <a:rPr lang="en-US" sz="4800" dirty="0"/>
              <a:t>Diabetes Insipidus (DI): Treatment</a:t>
            </a:r>
          </a:p>
        </p:txBody>
      </p:sp>
      <p:sp>
        <p:nvSpPr>
          <p:cNvPr id="14" name="Rectangle 13">
            <a:extLst>
              <a:ext uri="{FF2B5EF4-FFF2-40B4-BE49-F238E27FC236}">
                <a16:creationId xmlns:a16="http://schemas.microsoft.com/office/drawing/2014/main" id="{074B4F7D-14B2-478B-8BF5-01E4E0C5D26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8834" y="758952"/>
            <a:ext cx="128016"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3" name="Content Placeholder 2">
            <a:extLst>
              <a:ext uri="{FF2B5EF4-FFF2-40B4-BE49-F238E27FC236}">
                <a16:creationId xmlns:a16="http://schemas.microsoft.com/office/drawing/2014/main" id="{B630CDCC-FD11-482F-90CA-CF7C6474FC95}"/>
              </a:ext>
            </a:extLst>
          </p:cNvPr>
          <p:cNvSpPr>
            <a:spLocks noGrp="1"/>
          </p:cNvSpPr>
          <p:nvPr>
            <p:ph idx="1"/>
          </p:nvPr>
        </p:nvSpPr>
        <p:spPr>
          <a:xfrm>
            <a:off x="566928" y="2302186"/>
            <a:ext cx="11267720" cy="4466475"/>
          </a:xfrm>
        </p:spPr>
        <p:txBody>
          <a:bodyPr>
            <a:normAutofit/>
          </a:bodyPr>
          <a:lstStyle/>
          <a:p>
            <a:r>
              <a:rPr lang="en-US" sz="3200" b="1" dirty="0"/>
              <a:t>Desmopressin (DDAVP)</a:t>
            </a:r>
            <a:r>
              <a:rPr lang="en-US" sz="3200" dirty="0"/>
              <a:t> is the treatment of choice for central DI</a:t>
            </a:r>
          </a:p>
          <a:p>
            <a:pPr lvl="1"/>
            <a:r>
              <a:rPr lang="en-US" sz="3000" dirty="0"/>
              <a:t>DDAVP is a synthetic analogue of AVP</a:t>
            </a:r>
          </a:p>
          <a:p>
            <a:pPr lvl="1"/>
            <a:r>
              <a:rPr lang="en-US" sz="3000" dirty="0"/>
              <a:t>Administered every 12-24 hours as needed for thirst and polyuria (Available as IN, PO, IV and </a:t>
            </a:r>
            <a:r>
              <a:rPr lang="en-US" sz="3000" dirty="0" err="1"/>
              <a:t>SubQ</a:t>
            </a:r>
            <a:r>
              <a:rPr lang="en-US" sz="3000" dirty="0"/>
              <a:t>) </a:t>
            </a:r>
          </a:p>
          <a:p>
            <a:pPr lvl="1"/>
            <a:r>
              <a:rPr lang="en-US" sz="3000" dirty="0"/>
              <a:t>Patients must be on a low salt diet and have access to water </a:t>
            </a:r>
          </a:p>
          <a:p>
            <a:r>
              <a:rPr lang="en-US" sz="3200" dirty="0"/>
              <a:t>Nephrogenic DI is treated with low solute diet and HCTZ (thiazide diuretic) +/- Amiloride (K sparing diuretic) </a:t>
            </a:r>
          </a:p>
        </p:txBody>
      </p:sp>
    </p:spTree>
    <p:extLst>
      <p:ext uri="{BB962C8B-B14F-4D97-AF65-F5344CB8AC3E}">
        <p14:creationId xmlns:p14="http://schemas.microsoft.com/office/powerpoint/2010/main" val="1503556685"/>
      </p:ext>
    </p:extLst>
  </p:cSld>
  <p:clrMapOvr>
    <a:masterClrMapping/>
  </p:clrMapOvr>
</p:sld>
</file>

<file path=ppt/theme/theme1.xml><?xml version="1.0" encoding="utf-8"?>
<a:theme xmlns:a="http://schemas.openxmlformats.org/drawingml/2006/main" name="Office Theme">
  <a:themeElements>
    <a:clrScheme name="Green">
      <a:dk1>
        <a:sysClr val="windowText" lastClr="000000"/>
      </a:dk1>
      <a:lt1>
        <a:sysClr val="window" lastClr="FFFFFF"/>
      </a:lt1>
      <a:dk2>
        <a:srgbClr val="455F51"/>
      </a:dk2>
      <a:lt2>
        <a:srgbClr val="E3DED1"/>
      </a:lt2>
      <a:accent1>
        <a:srgbClr val="549E39"/>
      </a:accent1>
      <a:accent2>
        <a:srgbClr val="8AB833"/>
      </a:accent2>
      <a:accent3>
        <a:srgbClr val="C0CF3A"/>
      </a:accent3>
      <a:accent4>
        <a:srgbClr val="029676"/>
      </a:accent4>
      <a:accent5>
        <a:srgbClr val="4AB5C4"/>
      </a:accent5>
      <a:accent6>
        <a:srgbClr val="0989B1"/>
      </a:accent6>
      <a:hlink>
        <a:srgbClr val="6B9F25"/>
      </a:hlink>
      <a:folHlink>
        <a:srgbClr val="BA6906"/>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themeOverrid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1F9F9E2A402C664AAC086B4F2CA67D3D" ma:contentTypeVersion="4" ma:contentTypeDescription="Create a new document." ma:contentTypeScope="" ma:versionID="d161072566625c100d3f3184f4738cf6">
  <xsd:schema xmlns:xsd="http://www.w3.org/2001/XMLSchema" xmlns:xs="http://www.w3.org/2001/XMLSchema" xmlns:p="http://schemas.microsoft.com/office/2006/metadata/properties" xmlns:ns3="12a2549f-8379-49eb-96d1-c5d653b6bb3d" targetNamespace="http://schemas.microsoft.com/office/2006/metadata/properties" ma:root="true" ma:fieldsID="eacc2a6229ceb51a14087fe2a0453f7f" ns3:_="">
    <xsd:import namespace="12a2549f-8379-49eb-96d1-c5d653b6bb3d"/>
    <xsd:element name="properties">
      <xsd:complexType>
        <xsd:sequence>
          <xsd:element name="documentManagement">
            <xsd:complexType>
              <xsd:all>
                <xsd:element ref="ns3:MediaServiceMetadata" minOccurs="0"/>
                <xsd:element ref="ns3:MediaServiceFastMetadata" minOccurs="0"/>
                <xsd:element ref="ns3:MediaServiceAutoKeyPoints" minOccurs="0"/>
                <xsd:element ref="ns3:MediaServiceKeyPoint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12a2549f-8379-49eb-96d1-c5d653b6bb3d"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1AD8625E-2405-4F39-9679-8BD9D39E9D88}">
  <ds:schemaRefs>
    <ds:schemaRef ds:uri="http://schemas.microsoft.com/sharepoint/v3/contenttype/forms"/>
  </ds:schemaRefs>
</ds:datastoreItem>
</file>

<file path=customXml/itemProps2.xml><?xml version="1.0" encoding="utf-8"?>
<ds:datastoreItem xmlns:ds="http://schemas.openxmlformats.org/officeDocument/2006/customXml" ds:itemID="{A6926266-3B0D-4DD6-9A2F-02DDA519E492}">
  <ds:schemaRefs>
    <ds:schemaRef ds:uri="12a2549f-8379-49eb-96d1-c5d653b6bb3d"/>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3.xml><?xml version="1.0" encoding="utf-8"?>
<ds:datastoreItem xmlns:ds="http://schemas.openxmlformats.org/officeDocument/2006/customXml" ds:itemID="{F16E13BE-89FA-47AB-97E4-BD256DAB669F}">
  <ds:schemaRefs>
    <ds:schemaRef ds:uri="http://schemas.microsoft.com/office/infopath/2007/PartnerControls"/>
    <ds:schemaRef ds:uri="http://purl.org/dc/elements/1.1/"/>
    <ds:schemaRef ds:uri="http://schemas.microsoft.com/office/2006/metadata/properties"/>
    <ds:schemaRef ds:uri="http://purl.org/dc/terms/"/>
    <ds:schemaRef ds:uri="http://schemas.openxmlformats.org/package/2006/metadata/core-properties"/>
    <ds:schemaRef ds:uri="12a2549f-8379-49eb-96d1-c5d653b6bb3d"/>
    <ds:schemaRef ds:uri="http://schemas.microsoft.com/office/2006/documentManagement/types"/>
    <ds:schemaRef ds:uri="http://www.w3.org/XML/1998/namespace"/>
    <ds:schemaRef ds:uri="http://purl.org/dc/dcmitype/"/>
  </ds:schemaRefs>
</ds:datastoreItem>
</file>

<file path=docProps/app.xml><?xml version="1.0" encoding="utf-8"?>
<Properties xmlns="http://schemas.openxmlformats.org/officeDocument/2006/extended-properties" xmlns:vt="http://schemas.openxmlformats.org/officeDocument/2006/docPropsVTypes">
  <TotalTime>10004</TotalTime>
  <Words>6173</Words>
  <Application>Microsoft Office PowerPoint</Application>
  <PresentationFormat>Widescreen</PresentationFormat>
  <Paragraphs>723</Paragraphs>
  <Slides>125</Slides>
  <Notes>118</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125</vt:i4>
      </vt:variant>
    </vt:vector>
  </HeadingPairs>
  <TitlesOfParts>
    <vt:vector size="131" baseType="lpstr">
      <vt:lpstr>Arial</vt:lpstr>
      <vt:lpstr>Calibri</vt:lpstr>
      <vt:lpstr>Calibri Light</vt:lpstr>
      <vt:lpstr>Source Sans Pro</vt:lpstr>
      <vt:lpstr>Wingdings</vt:lpstr>
      <vt:lpstr>Office Theme</vt:lpstr>
      <vt:lpstr>Pituitary Diseases</vt:lpstr>
      <vt:lpstr>Anatomy and Physiology Review </vt:lpstr>
      <vt:lpstr>Anatomy and Physiology Review </vt:lpstr>
      <vt:lpstr>Anatomy and Physiology Review </vt:lpstr>
      <vt:lpstr>Anatomy and Physiology Review </vt:lpstr>
      <vt:lpstr>Anatomy and Physiology Review </vt:lpstr>
      <vt:lpstr>Anatomy and Physiology Review</vt:lpstr>
      <vt:lpstr>Anatomy and Physiology Review </vt:lpstr>
      <vt:lpstr>Anatomy and Physiology Review </vt:lpstr>
      <vt:lpstr>Anatomy and Physiology Review </vt:lpstr>
      <vt:lpstr>Hypothalamic-Pituitary-Adrenal Axis (HPA)</vt:lpstr>
      <vt:lpstr>PowerPoint Presentation</vt:lpstr>
      <vt:lpstr>Hypothalamic-Pituitary-Thyroid Axis (HPT Axis)</vt:lpstr>
      <vt:lpstr>HPT Axis</vt:lpstr>
      <vt:lpstr>Hypothalamic-Pituitary-Gonadal Axis (HPG)</vt:lpstr>
      <vt:lpstr>PowerPoint Presentation</vt:lpstr>
      <vt:lpstr>Hypothalamic-Pituitary-Somatotropic Axis (HPS)</vt:lpstr>
      <vt:lpstr>PowerPoint Presentation</vt:lpstr>
      <vt:lpstr>Hypothalamic Inhibitory Hormones </vt:lpstr>
      <vt:lpstr>Hypothalamic-pituitary Axes: Posterior </vt:lpstr>
      <vt:lpstr>Classification of Endocrine Dysfunction</vt:lpstr>
      <vt:lpstr>Classifying Endocrine Dysfunction </vt:lpstr>
      <vt:lpstr>Common Causes of Pituitary Dysfunction </vt:lpstr>
      <vt:lpstr>Hypopituitarism</vt:lpstr>
      <vt:lpstr>Hypopituitarism </vt:lpstr>
      <vt:lpstr>Hypopituitarism Etiologies </vt:lpstr>
      <vt:lpstr>Hypothalamic Etiologies </vt:lpstr>
      <vt:lpstr>Hypopituitarism: Clinical Manifestations </vt:lpstr>
      <vt:lpstr>Growth Hormone (GH) Deficiency</vt:lpstr>
      <vt:lpstr>GH Function</vt:lpstr>
      <vt:lpstr>Growth Hormone Effects</vt:lpstr>
      <vt:lpstr>Growth Hormone Effects</vt:lpstr>
      <vt:lpstr>GH Deficiency Children  “Pituitary Dwarfism” Clinical Manifestations</vt:lpstr>
      <vt:lpstr>PowerPoint Presentation</vt:lpstr>
      <vt:lpstr>GH Deficiency: Why are children hypoglycemic?</vt:lpstr>
      <vt:lpstr>Hypopituitarism: GH Deficiency Workup</vt:lpstr>
      <vt:lpstr>Hypopituitarism: GH Deficiency Workup </vt:lpstr>
      <vt:lpstr>Pediatric Growth Chart</vt:lpstr>
      <vt:lpstr>PowerPoint Presentation</vt:lpstr>
      <vt:lpstr>GH Resistance “Pituitary Dwarfism”</vt:lpstr>
      <vt:lpstr>PowerPoint Presentation</vt:lpstr>
      <vt:lpstr>Treating GH Deficiency and Resistance in Children</vt:lpstr>
      <vt:lpstr>GH Deficiency in Adults </vt:lpstr>
      <vt:lpstr>GH Deficiency in Adults  Symptoms and Clinical Manifestation</vt:lpstr>
      <vt:lpstr>Evaluating for GH deficiency in Adults </vt:lpstr>
      <vt:lpstr>Evaluating for GH Deficiency in Adults </vt:lpstr>
      <vt:lpstr>Evaluating for GH Deficiency in Adults </vt:lpstr>
      <vt:lpstr>GH deficiency in Adults: Treatment </vt:lpstr>
      <vt:lpstr>Dwarfism due to Achondroplasia</vt:lpstr>
      <vt:lpstr>PowerPoint Presentation</vt:lpstr>
      <vt:lpstr>Adrenocorticotropic Hormone (ACTH) Deficiency</vt:lpstr>
      <vt:lpstr>Hypopituitarism: ACTH Deficiency </vt:lpstr>
      <vt:lpstr>Causes of ACTH Deficiency </vt:lpstr>
      <vt:lpstr>Secondary ACTH Deficiency: Symptoms  </vt:lpstr>
      <vt:lpstr>Secondary ACTH Deficiency: Symptoms  </vt:lpstr>
      <vt:lpstr>ACTH Deficiency: Initial Evaluation </vt:lpstr>
      <vt:lpstr>ACTH Deficiency: Additional Evaluation </vt:lpstr>
      <vt:lpstr>Treating ACTH Deficiency </vt:lpstr>
      <vt:lpstr>Patient Education </vt:lpstr>
      <vt:lpstr>PowerPoint Presentation</vt:lpstr>
      <vt:lpstr>Patient Education </vt:lpstr>
      <vt:lpstr>Gonadotropin Deficiency AKA: Hypogonadotropic Hypogonadism </vt:lpstr>
      <vt:lpstr>Congenital Gonadotropin Deficiency Clinical Manifestations </vt:lpstr>
      <vt:lpstr>Acquired Gonadotropin Deficiency Clinical Manifestation </vt:lpstr>
      <vt:lpstr>Acquired Secondary Hypogonadism </vt:lpstr>
      <vt:lpstr>Gonadotropin Deficiency Workup</vt:lpstr>
      <vt:lpstr>Gonadotropin Deficiency Workup </vt:lpstr>
      <vt:lpstr>Treating Gonadotropin Deficiency</vt:lpstr>
      <vt:lpstr>Thyrotropin Deficiency </vt:lpstr>
      <vt:lpstr>Hypopituitarism: TSH Deficiency Symptoms </vt:lpstr>
      <vt:lpstr>Hypopituitarism: TSH Deficiency </vt:lpstr>
      <vt:lpstr>Hypopituitarism: TSH Deficiency Lab &amp; Treatment</vt:lpstr>
      <vt:lpstr>Pituitary Growths</vt:lpstr>
      <vt:lpstr>Sellar Masses </vt:lpstr>
      <vt:lpstr>Sellar Region</vt:lpstr>
      <vt:lpstr>Sellar masses:  Mass effect</vt:lpstr>
      <vt:lpstr>Visual Pathway – Bitemporal Hemianopia</vt:lpstr>
      <vt:lpstr>Bitemporal Hemianopia </vt:lpstr>
      <vt:lpstr>Sellar Masses: Other Manifestations </vt:lpstr>
      <vt:lpstr>Pituitary Adenomas</vt:lpstr>
      <vt:lpstr>Pituitary Adenomas</vt:lpstr>
      <vt:lpstr>Pituitary Adenomas</vt:lpstr>
      <vt:lpstr>Pituitary Adenoma Work-up</vt:lpstr>
      <vt:lpstr>Hyperpituitarism</vt:lpstr>
      <vt:lpstr>Functional Pituitary Adenomas</vt:lpstr>
      <vt:lpstr>Prolactin Hypersecretion</vt:lpstr>
      <vt:lpstr>Hyperprolactinemia</vt:lpstr>
      <vt:lpstr>Hyperprolactinemia Clinical Presentation</vt:lpstr>
      <vt:lpstr>Hyperprolactinemia: Diagnosis</vt:lpstr>
      <vt:lpstr>Diagnosing a Prolactinoma</vt:lpstr>
      <vt:lpstr>PowerPoint Presentation</vt:lpstr>
      <vt:lpstr>Prolactinomas: Treatment</vt:lpstr>
      <vt:lpstr>Why dopamine agonists? </vt:lpstr>
      <vt:lpstr>Prolactinomas: Treatment </vt:lpstr>
      <vt:lpstr>Prolactinomas: Treatment </vt:lpstr>
      <vt:lpstr>PowerPoint Presentation</vt:lpstr>
      <vt:lpstr>PowerPoint Presentation</vt:lpstr>
      <vt:lpstr>Growth Hormone Hypersecretion </vt:lpstr>
      <vt:lpstr>Gigantism </vt:lpstr>
      <vt:lpstr>Gigantism: Clinical Manifestations </vt:lpstr>
      <vt:lpstr>Acromegaly </vt:lpstr>
      <vt:lpstr>Acromegaly</vt:lpstr>
      <vt:lpstr>Acromegaly </vt:lpstr>
      <vt:lpstr>Acromegaly: A slow progression</vt:lpstr>
      <vt:lpstr>Acromegaly: A slow progression</vt:lpstr>
      <vt:lpstr>Acromegaly: Complications</vt:lpstr>
      <vt:lpstr>Gigantism/Acromegaly : Diagnosis</vt:lpstr>
      <vt:lpstr>Gigantism/Acromegaly: Treatment</vt:lpstr>
      <vt:lpstr>Other Functional Adenomas</vt:lpstr>
      <vt:lpstr>Cushing’s Disease</vt:lpstr>
      <vt:lpstr>Other Functioning Adenomas</vt:lpstr>
      <vt:lpstr>Other Sellar Masses </vt:lpstr>
      <vt:lpstr>Other Sellar Masses</vt:lpstr>
      <vt:lpstr>Posterior Pituitary</vt:lpstr>
      <vt:lpstr>Disorders of the Posterior Pituitary</vt:lpstr>
      <vt:lpstr>Vasopressin Pathway </vt:lpstr>
      <vt:lpstr>Diabetes Insipidus (DI)</vt:lpstr>
      <vt:lpstr>Polyuria</vt:lpstr>
      <vt:lpstr>Diabetes Insipidus (DI) Etiology</vt:lpstr>
      <vt:lpstr>Diabetes Insipidus (DI)</vt:lpstr>
      <vt:lpstr>Diabetes Insipidus Workup </vt:lpstr>
      <vt:lpstr>Diabetes Insipidus Workup</vt:lpstr>
      <vt:lpstr>Diabetes Insipidus (DI) Workup</vt:lpstr>
      <vt:lpstr>Pituitary Bright Spot</vt:lpstr>
      <vt:lpstr>Diabetes Insipidus (DI): Treatment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Pituitary Diseases</dc:title>
  <dc:creator>Giese, Alison</dc:creator>
  <cp:lastModifiedBy>Veal, Breanna</cp:lastModifiedBy>
  <cp:revision>28</cp:revision>
  <dcterms:created xsi:type="dcterms:W3CDTF">2021-11-02T15:15:03Z</dcterms:created>
  <dcterms:modified xsi:type="dcterms:W3CDTF">2026-10-04T02:17:43Z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0x0101001F9F9E2A402C664AAC086B4F2CA67D3D</vt:lpwstr>
  </property>
</Properties>
</file>