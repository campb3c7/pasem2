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96" r:id="rId5"/>
    <p:sldId id="259" r:id="rId6"/>
    <p:sldId id="279" r:id="rId7"/>
    <p:sldId id="260" r:id="rId8"/>
    <p:sldId id="297" r:id="rId9"/>
    <p:sldId id="261" r:id="rId10"/>
    <p:sldId id="286" r:id="rId11"/>
    <p:sldId id="262" r:id="rId12"/>
    <p:sldId id="288" r:id="rId13"/>
    <p:sldId id="267" r:id="rId14"/>
    <p:sldId id="263" r:id="rId15"/>
    <p:sldId id="295" r:id="rId16"/>
    <p:sldId id="298" r:id="rId17"/>
    <p:sldId id="264" r:id="rId18"/>
    <p:sldId id="266" r:id="rId19"/>
    <p:sldId id="268" r:id="rId20"/>
    <p:sldId id="282" r:id="rId21"/>
    <p:sldId id="300" r:id="rId22"/>
    <p:sldId id="270" r:id="rId23"/>
    <p:sldId id="299" r:id="rId24"/>
    <p:sldId id="271" r:id="rId25"/>
    <p:sldId id="306" r:id="rId26"/>
    <p:sldId id="294" r:id="rId27"/>
    <p:sldId id="290" r:id="rId28"/>
    <p:sldId id="301" r:id="rId29"/>
    <p:sldId id="272" r:id="rId30"/>
    <p:sldId id="293" r:id="rId31"/>
    <p:sldId id="307" r:id="rId32"/>
    <p:sldId id="273" r:id="rId33"/>
    <p:sldId id="275" r:id="rId34"/>
    <p:sldId id="276" r:id="rId35"/>
    <p:sldId id="277" r:id="rId36"/>
    <p:sldId id="278" r:id="rId37"/>
  </p:sldIdLst>
  <p:sldSz cx="13004800" cy="9753600"/>
  <p:notesSz cx="7010400" cy="9296400"/>
  <p:custDataLst>
    <p:tags r:id="rId40"/>
  </p:custDataLst>
  <p:defaultTextStyle>
    <a:defPPr>
      <a:defRPr lang="en-US"/>
    </a:defPPr>
    <a:lvl1pPr algn="l" defTabSz="584200" rtl="0" eaLnBrk="0" fontAlgn="base" hangingPunct="0">
      <a:spcBef>
        <a:spcPct val="0"/>
      </a:spcBef>
      <a:spcAft>
        <a:spcPct val="0"/>
      </a:spcAft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1pPr>
    <a:lvl2pPr marL="342900" indent="114300" algn="l" defTabSz="584200" rtl="0" eaLnBrk="0" fontAlgn="base" hangingPunct="0">
      <a:spcBef>
        <a:spcPct val="0"/>
      </a:spcBef>
      <a:spcAft>
        <a:spcPct val="0"/>
      </a:spcAft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2pPr>
    <a:lvl3pPr marL="685800" indent="228600" algn="l" defTabSz="584200" rtl="0" eaLnBrk="0" fontAlgn="base" hangingPunct="0">
      <a:spcBef>
        <a:spcPct val="0"/>
      </a:spcBef>
      <a:spcAft>
        <a:spcPct val="0"/>
      </a:spcAft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3pPr>
    <a:lvl4pPr marL="1028700" indent="342900" algn="l" defTabSz="584200" rtl="0" eaLnBrk="0" fontAlgn="base" hangingPunct="0">
      <a:spcBef>
        <a:spcPct val="0"/>
      </a:spcBef>
      <a:spcAft>
        <a:spcPct val="0"/>
      </a:spcAft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4pPr>
    <a:lvl5pPr marL="1371600" indent="457200" algn="l" defTabSz="584200" rtl="0" eaLnBrk="0" fontAlgn="base" hangingPunct="0">
      <a:spcBef>
        <a:spcPct val="0"/>
      </a:spcBef>
      <a:spcAft>
        <a:spcPct val="0"/>
      </a:spcAft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5pPr>
    <a:lvl6pPr marL="2286000" algn="l" defTabSz="914400" rtl="0" eaLnBrk="1" latinLnBrk="0" hangingPunct="1"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6pPr>
    <a:lvl7pPr marL="2743200" algn="l" defTabSz="914400" rtl="0" eaLnBrk="1" latinLnBrk="0" hangingPunct="1"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7pPr>
    <a:lvl8pPr marL="3200400" algn="l" defTabSz="914400" rtl="0" eaLnBrk="1" latinLnBrk="0" hangingPunct="1"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8pPr>
    <a:lvl9pPr marL="3657600" algn="l" defTabSz="914400" rtl="0" eaLnBrk="1" latinLnBrk="0" hangingPunct="1">
      <a:defRPr sz="3600" kern="1200">
        <a:solidFill>
          <a:srgbClr val="000000"/>
        </a:solidFill>
        <a:latin typeface="Helvetica Light" pitchFamily="-84" charset="0"/>
        <a:ea typeface="MS PGothic" pitchFamily="34" charset="-128"/>
        <a:cs typeface="+mn-cs"/>
        <a:sym typeface="Helvetica Light" pitchFamily="-8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33928-1D42-4F3F-A81D-D8ACAD6215BF}" v="3" dt="2026-10-04T02:28:15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80000" autoAdjust="0"/>
  </p:normalViewPr>
  <p:slideViewPr>
    <p:cSldViewPr>
      <p:cViewPr varScale="1">
        <p:scale>
          <a:sx n="51" d="100"/>
          <a:sy n="51" d="100"/>
        </p:scale>
        <p:origin x="1584" y="67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al, Breanna" userId="9dd65cb9-b789-4014-8a75-5340e8ea9a9e" providerId="ADAL" clId="{ACED115F-8C23-4612-8EFF-7965D144131C}"/>
    <pc:docChg chg="custSel modSld">
      <pc:chgData name="Veal, Breanna" userId="9dd65cb9-b789-4014-8a75-5340e8ea9a9e" providerId="ADAL" clId="{ACED115F-8C23-4612-8EFF-7965D144131C}" dt="2026-10-04T02:28:15.448" v="64"/>
      <pc:docMkLst>
        <pc:docMk/>
      </pc:docMkLst>
      <pc:sldChg chg="modNotes">
        <pc:chgData name="Veal, Breanna" userId="9dd65cb9-b789-4014-8a75-5340e8ea9a9e" providerId="ADAL" clId="{ACED115F-8C23-4612-8EFF-7965D144131C}" dt="2026-10-04T02:27:25.748" v="1" actId="368"/>
        <pc:sldMkLst>
          <pc:docMk/>
          <pc:sldMk cId="0" sldId="256"/>
        </pc:sldMkLst>
      </pc:sldChg>
      <pc:sldChg chg="modNotes">
        <pc:chgData name="Veal, Breanna" userId="9dd65cb9-b789-4014-8a75-5340e8ea9a9e" providerId="ADAL" clId="{ACED115F-8C23-4612-8EFF-7965D144131C}" dt="2026-10-04T02:27:25.758" v="3" actId="368"/>
        <pc:sldMkLst>
          <pc:docMk/>
          <pc:sldMk cId="0" sldId="257"/>
        </pc:sldMkLst>
      </pc:sldChg>
      <pc:sldChg chg="modNotes">
        <pc:chgData name="Veal, Breanna" userId="9dd65cb9-b789-4014-8a75-5340e8ea9a9e" providerId="ADAL" clId="{ACED115F-8C23-4612-8EFF-7965D144131C}" dt="2026-10-04T02:27:25.758" v="5" actId="368"/>
        <pc:sldMkLst>
          <pc:docMk/>
          <pc:sldMk cId="1339306800" sldId="258"/>
        </pc:sldMkLst>
      </pc:sldChg>
      <pc:sldChg chg="modNotes">
        <pc:chgData name="Veal, Breanna" userId="9dd65cb9-b789-4014-8a75-5340e8ea9a9e" providerId="ADAL" clId="{ACED115F-8C23-4612-8EFF-7965D144131C}" dt="2026-10-04T02:27:25.769" v="9" actId="368"/>
        <pc:sldMkLst>
          <pc:docMk/>
          <pc:sldMk cId="0" sldId="259"/>
        </pc:sldMkLst>
      </pc:sldChg>
      <pc:sldChg chg="modNotes">
        <pc:chgData name="Veal, Breanna" userId="9dd65cb9-b789-4014-8a75-5340e8ea9a9e" providerId="ADAL" clId="{ACED115F-8C23-4612-8EFF-7965D144131C}" dt="2026-10-04T02:27:25.793" v="13" actId="368"/>
        <pc:sldMkLst>
          <pc:docMk/>
          <pc:sldMk cId="0" sldId="260"/>
        </pc:sldMkLst>
      </pc:sldChg>
      <pc:sldChg chg="modNotes">
        <pc:chgData name="Veal, Breanna" userId="9dd65cb9-b789-4014-8a75-5340e8ea9a9e" providerId="ADAL" clId="{ACED115F-8C23-4612-8EFF-7965D144131C}" dt="2026-10-04T02:27:25.801" v="17" actId="368"/>
        <pc:sldMkLst>
          <pc:docMk/>
          <pc:sldMk cId="0" sldId="261"/>
        </pc:sldMkLst>
      </pc:sldChg>
      <pc:sldChg chg="modNotes">
        <pc:chgData name="Veal, Breanna" userId="9dd65cb9-b789-4014-8a75-5340e8ea9a9e" providerId="ADAL" clId="{ACED115F-8C23-4612-8EFF-7965D144131C}" dt="2026-10-04T02:27:25.817" v="21" actId="368"/>
        <pc:sldMkLst>
          <pc:docMk/>
          <pc:sldMk cId="0" sldId="262"/>
        </pc:sldMkLst>
      </pc:sldChg>
      <pc:sldChg chg="modNotes">
        <pc:chgData name="Veal, Breanna" userId="9dd65cb9-b789-4014-8a75-5340e8ea9a9e" providerId="ADAL" clId="{ACED115F-8C23-4612-8EFF-7965D144131C}" dt="2026-10-04T02:27:25.833" v="27" actId="368"/>
        <pc:sldMkLst>
          <pc:docMk/>
          <pc:sldMk cId="0" sldId="263"/>
        </pc:sldMkLst>
      </pc:sldChg>
      <pc:sldChg chg="modNotes">
        <pc:chgData name="Veal, Breanna" userId="9dd65cb9-b789-4014-8a75-5340e8ea9a9e" providerId="ADAL" clId="{ACED115F-8C23-4612-8EFF-7965D144131C}" dt="2026-10-04T02:27:25.881" v="33" actId="368"/>
        <pc:sldMkLst>
          <pc:docMk/>
          <pc:sldMk cId="0" sldId="264"/>
        </pc:sldMkLst>
      </pc:sldChg>
      <pc:sldChg chg="modNotes">
        <pc:chgData name="Veal, Breanna" userId="9dd65cb9-b789-4014-8a75-5340e8ea9a9e" providerId="ADAL" clId="{ACED115F-8C23-4612-8EFF-7965D144131C}" dt="2026-10-04T02:27:25.888" v="35" actId="368"/>
        <pc:sldMkLst>
          <pc:docMk/>
          <pc:sldMk cId="0" sldId="266"/>
        </pc:sldMkLst>
      </pc:sldChg>
      <pc:sldChg chg="modNotes">
        <pc:chgData name="Veal, Breanna" userId="9dd65cb9-b789-4014-8a75-5340e8ea9a9e" providerId="ADAL" clId="{ACED115F-8C23-4612-8EFF-7965D144131C}" dt="2026-10-04T02:27:25.833" v="25" actId="368"/>
        <pc:sldMkLst>
          <pc:docMk/>
          <pc:sldMk cId="1273165001" sldId="267"/>
        </pc:sldMkLst>
      </pc:sldChg>
      <pc:sldChg chg="modNotes">
        <pc:chgData name="Veal, Breanna" userId="9dd65cb9-b789-4014-8a75-5340e8ea9a9e" providerId="ADAL" clId="{ACED115F-8C23-4612-8EFF-7965D144131C}" dt="2026-10-04T02:27:25.888" v="37" actId="368"/>
        <pc:sldMkLst>
          <pc:docMk/>
          <pc:sldMk cId="0" sldId="268"/>
        </pc:sldMkLst>
      </pc:sldChg>
      <pc:sldChg chg="modNotes">
        <pc:chgData name="Veal, Breanna" userId="9dd65cb9-b789-4014-8a75-5340e8ea9a9e" providerId="ADAL" clId="{ACED115F-8C23-4612-8EFF-7965D144131C}" dt="2026-10-04T02:27:25.919" v="43" actId="368"/>
        <pc:sldMkLst>
          <pc:docMk/>
          <pc:sldMk cId="0" sldId="270"/>
        </pc:sldMkLst>
      </pc:sldChg>
      <pc:sldChg chg="modNotes">
        <pc:chgData name="Veal, Breanna" userId="9dd65cb9-b789-4014-8a75-5340e8ea9a9e" providerId="ADAL" clId="{ACED115F-8C23-4612-8EFF-7965D144131C}" dt="2026-10-04T02:27:25.934" v="47" actId="368"/>
        <pc:sldMkLst>
          <pc:docMk/>
          <pc:sldMk cId="0" sldId="271"/>
        </pc:sldMkLst>
      </pc:sldChg>
      <pc:sldChg chg="modNotes">
        <pc:chgData name="Veal, Breanna" userId="9dd65cb9-b789-4014-8a75-5340e8ea9a9e" providerId="ADAL" clId="{ACED115F-8C23-4612-8EFF-7965D144131C}" dt="2026-10-04T02:27:25.972" v="57" actId="368"/>
        <pc:sldMkLst>
          <pc:docMk/>
          <pc:sldMk cId="0" sldId="272"/>
        </pc:sldMkLst>
      </pc:sldChg>
      <pc:sldChg chg="modNotes">
        <pc:chgData name="Veal, Breanna" userId="9dd65cb9-b789-4014-8a75-5340e8ea9a9e" providerId="ADAL" clId="{ACED115F-8C23-4612-8EFF-7965D144131C}" dt="2026-10-04T02:27:25.993" v="61" actId="368"/>
        <pc:sldMkLst>
          <pc:docMk/>
          <pc:sldMk cId="0" sldId="273"/>
        </pc:sldMkLst>
      </pc:sldChg>
      <pc:sldChg chg="modAnim">
        <pc:chgData name="Veal, Breanna" userId="9dd65cb9-b789-4014-8a75-5340e8ea9a9e" providerId="ADAL" clId="{ACED115F-8C23-4612-8EFF-7965D144131C}" dt="2026-10-04T02:28:05.057" v="62"/>
        <pc:sldMkLst>
          <pc:docMk/>
          <pc:sldMk cId="0" sldId="276"/>
        </pc:sldMkLst>
      </pc:sldChg>
      <pc:sldChg chg="modAnim">
        <pc:chgData name="Veal, Breanna" userId="9dd65cb9-b789-4014-8a75-5340e8ea9a9e" providerId="ADAL" clId="{ACED115F-8C23-4612-8EFF-7965D144131C}" dt="2026-10-04T02:28:09.360" v="63"/>
        <pc:sldMkLst>
          <pc:docMk/>
          <pc:sldMk cId="0" sldId="277"/>
        </pc:sldMkLst>
      </pc:sldChg>
      <pc:sldChg chg="modAnim">
        <pc:chgData name="Veal, Breanna" userId="9dd65cb9-b789-4014-8a75-5340e8ea9a9e" providerId="ADAL" clId="{ACED115F-8C23-4612-8EFF-7965D144131C}" dt="2026-10-04T02:28:15.448" v="64"/>
        <pc:sldMkLst>
          <pc:docMk/>
          <pc:sldMk cId="0" sldId="278"/>
        </pc:sldMkLst>
      </pc:sldChg>
      <pc:sldChg chg="modNotes">
        <pc:chgData name="Veal, Breanna" userId="9dd65cb9-b789-4014-8a75-5340e8ea9a9e" providerId="ADAL" clId="{ACED115F-8C23-4612-8EFF-7965D144131C}" dt="2026-10-04T02:27:25.785" v="11" actId="368"/>
        <pc:sldMkLst>
          <pc:docMk/>
          <pc:sldMk cId="0" sldId="279"/>
        </pc:sldMkLst>
      </pc:sldChg>
      <pc:sldChg chg="modNotes">
        <pc:chgData name="Veal, Breanna" userId="9dd65cb9-b789-4014-8a75-5340e8ea9a9e" providerId="ADAL" clId="{ACED115F-8C23-4612-8EFF-7965D144131C}" dt="2026-10-04T02:27:25.896" v="39" actId="368"/>
        <pc:sldMkLst>
          <pc:docMk/>
          <pc:sldMk cId="0" sldId="282"/>
        </pc:sldMkLst>
      </pc:sldChg>
      <pc:sldChg chg="modNotes">
        <pc:chgData name="Veal, Breanna" userId="9dd65cb9-b789-4014-8a75-5340e8ea9a9e" providerId="ADAL" clId="{ACED115F-8C23-4612-8EFF-7965D144131C}" dt="2026-10-04T02:27:25.801" v="19" actId="368"/>
        <pc:sldMkLst>
          <pc:docMk/>
          <pc:sldMk cId="0" sldId="286"/>
        </pc:sldMkLst>
      </pc:sldChg>
      <pc:sldChg chg="modNotes">
        <pc:chgData name="Veal, Breanna" userId="9dd65cb9-b789-4014-8a75-5340e8ea9a9e" providerId="ADAL" clId="{ACED115F-8C23-4612-8EFF-7965D144131C}" dt="2026-10-04T02:27:25.821" v="23" actId="368"/>
        <pc:sldMkLst>
          <pc:docMk/>
          <pc:sldMk cId="0" sldId="288"/>
        </pc:sldMkLst>
      </pc:sldChg>
      <pc:sldChg chg="modNotes">
        <pc:chgData name="Veal, Breanna" userId="9dd65cb9-b789-4014-8a75-5340e8ea9a9e" providerId="ADAL" clId="{ACED115F-8C23-4612-8EFF-7965D144131C}" dt="2026-10-04T02:27:25.956" v="53" actId="368"/>
        <pc:sldMkLst>
          <pc:docMk/>
          <pc:sldMk cId="766448246" sldId="290"/>
        </pc:sldMkLst>
      </pc:sldChg>
      <pc:sldChg chg="modNotes">
        <pc:chgData name="Veal, Breanna" userId="9dd65cb9-b789-4014-8a75-5340e8ea9a9e" providerId="ADAL" clId="{ACED115F-8C23-4612-8EFF-7965D144131C}" dt="2026-10-04T02:27:25.980" v="59" actId="368"/>
        <pc:sldMkLst>
          <pc:docMk/>
          <pc:sldMk cId="777448185" sldId="293"/>
        </pc:sldMkLst>
      </pc:sldChg>
      <pc:sldChg chg="modNotes">
        <pc:chgData name="Veal, Breanna" userId="9dd65cb9-b789-4014-8a75-5340e8ea9a9e" providerId="ADAL" clId="{ACED115F-8C23-4612-8EFF-7965D144131C}" dt="2026-10-04T02:27:25.948" v="51" actId="368"/>
        <pc:sldMkLst>
          <pc:docMk/>
          <pc:sldMk cId="550005271" sldId="294"/>
        </pc:sldMkLst>
      </pc:sldChg>
      <pc:sldChg chg="modNotes">
        <pc:chgData name="Veal, Breanna" userId="9dd65cb9-b789-4014-8a75-5340e8ea9a9e" providerId="ADAL" clId="{ACED115F-8C23-4612-8EFF-7965D144131C}" dt="2026-10-04T02:27:25.864" v="29" actId="368"/>
        <pc:sldMkLst>
          <pc:docMk/>
          <pc:sldMk cId="2083888358" sldId="295"/>
        </pc:sldMkLst>
      </pc:sldChg>
      <pc:sldChg chg="modNotes">
        <pc:chgData name="Veal, Breanna" userId="9dd65cb9-b789-4014-8a75-5340e8ea9a9e" providerId="ADAL" clId="{ACED115F-8C23-4612-8EFF-7965D144131C}" dt="2026-10-04T02:27:25.769" v="7" actId="368"/>
        <pc:sldMkLst>
          <pc:docMk/>
          <pc:sldMk cId="1909782943" sldId="296"/>
        </pc:sldMkLst>
      </pc:sldChg>
      <pc:sldChg chg="modNotes">
        <pc:chgData name="Veal, Breanna" userId="9dd65cb9-b789-4014-8a75-5340e8ea9a9e" providerId="ADAL" clId="{ACED115F-8C23-4612-8EFF-7965D144131C}" dt="2026-10-04T02:27:25.793" v="15" actId="368"/>
        <pc:sldMkLst>
          <pc:docMk/>
          <pc:sldMk cId="2635156908" sldId="297"/>
        </pc:sldMkLst>
      </pc:sldChg>
      <pc:sldChg chg="modNotes">
        <pc:chgData name="Veal, Breanna" userId="9dd65cb9-b789-4014-8a75-5340e8ea9a9e" providerId="ADAL" clId="{ACED115F-8C23-4612-8EFF-7965D144131C}" dt="2026-10-04T02:27:25.864" v="31" actId="368"/>
        <pc:sldMkLst>
          <pc:docMk/>
          <pc:sldMk cId="2895829427" sldId="298"/>
        </pc:sldMkLst>
      </pc:sldChg>
      <pc:sldChg chg="modNotes">
        <pc:chgData name="Veal, Breanna" userId="9dd65cb9-b789-4014-8a75-5340e8ea9a9e" providerId="ADAL" clId="{ACED115F-8C23-4612-8EFF-7965D144131C}" dt="2026-10-04T02:27:25.926" v="45" actId="368"/>
        <pc:sldMkLst>
          <pc:docMk/>
          <pc:sldMk cId="610184784" sldId="299"/>
        </pc:sldMkLst>
      </pc:sldChg>
      <pc:sldChg chg="modNotes">
        <pc:chgData name="Veal, Breanna" userId="9dd65cb9-b789-4014-8a75-5340e8ea9a9e" providerId="ADAL" clId="{ACED115F-8C23-4612-8EFF-7965D144131C}" dt="2026-10-04T02:27:25.902" v="41" actId="368"/>
        <pc:sldMkLst>
          <pc:docMk/>
          <pc:sldMk cId="2937357238" sldId="300"/>
        </pc:sldMkLst>
      </pc:sldChg>
      <pc:sldChg chg="modNotes">
        <pc:chgData name="Veal, Breanna" userId="9dd65cb9-b789-4014-8a75-5340e8ea9a9e" providerId="ADAL" clId="{ACED115F-8C23-4612-8EFF-7965D144131C}" dt="2026-10-04T02:27:25.964" v="55" actId="368"/>
        <pc:sldMkLst>
          <pc:docMk/>
          <pc:sldMk cId="3987535367" sldId="301"/>
        </pc:sldMkLst>
      </pc:sldChg>
      <pc:sldChg chg="modNotes">
        <pc:chgData name="Veal, Breanna" userId="9dd65cb9-b789-4014-8a75-5340e8ea9a9e" providerId="ADAL" clId="{ACED115F-8C23-4612-8EFF-7965D144131C}" dt="2026-10-04T02:27:25.942" v="49" actId="368"/>
        <pc:sldMkLst>
          <pc:docMk/>
          <pc:sldMk cId="3964182825" sldId="3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>
              <a:defRPr sz="1200"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pPr>
              <a:defRPr/>
            </a:pPr>
            <a:fld id="{0500E64A-5F38-4EA6-8005-F9EECF1D4A33}" type="datetimeFigureOut">
              <a:rPr lang="en-US"/>
              <a:pPr>
                <a:defRPr/>
              </a:pPr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>
              <a:defRPr sz="1200"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fld id="{B848EDCB-7410-4D84-B5B9-B421DEA77D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0502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>
                <a:sym typeface="Noteworthy Bold" charset="0"/>
              </a:rPr>
              <a:t>Click to edit Master text styles</a:t>
            </a:r>
          </a:p>
          <a:p>
            <a:pPr lvl="1"/>
            <a:r>
              <a:rPr lang="en-US" noProof="0">
                <a:sym typeface="Noteworthy Bold" charset="0"/>
              </a:rPr>
              <a:t>Second level</a:t>
            </a:r>
          </a:p>
          <a:p>
            <a:pPr lvl="2"/>
            <a:r>
              <a:rPr lang="en-US" noProof="0">
                <a:sym typeface="Noteworthy Bold" charset="0"/>
              </a:rPr>
              <a:t>Third level</a:t>
            </a:r>
          </a:p>
          <a:p>
            <a:pPr lvl="3"/>
            <a:r>
              <a:rPr lang="en-US" noProof="0">
                <a:sym typeface="Noteworthy Bold" charset="0"/>
              </a:rPr>
              <a:t>Fourth level</a:t>
            </a:r>
          </a:p>
          <a:p>
            <a:pPr lvl="4"/>
            <a:r>
              <a:rPr lang="en-US" noProof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90806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MS PGothic" pitchFamily="34" charset="-128"/>
        <a:cs typeface="Noteworthy Bold" charset="0"/>
        <a:sym typeface="Noteworthy Bold" pitchFamily="-84" charset="0"/>
      </a:defRPr>
    </a:lvl1pPr>
    <a:lvl2pPr marL="3429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pitchFamily="-84" charset="0"/>
      </a:defRPr>
    </a:lvl2pPr>
    <a:lvl3pPr marL="6858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pitchFamily="-84" charset="0"/>
      </a:defRPr>
    </a:lvl3pPr>
    <a:lvl4pPr marL="10287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pitchFamily="-84" charset="0"/>
      </a:defRPr>
    </a:lvl4pPr>
    <a:lvl5pPr marL="1371600" algn="l" defTabSz="457200" rtl="0" eaLnBrk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pitchFamily="-8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93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77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20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450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930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430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442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20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38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20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610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060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28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097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852BB-02C8-4836-A171-B3D51275F09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47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8627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4576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71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109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199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67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3423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6078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219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7545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201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295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09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8376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1390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7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7460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375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114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700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768600"/>
            <a:ext cx="5156200" cy="5715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457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314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84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219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855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>
              <a:sym typeface="Helvetica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16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0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18600" y="254000"/>
            <a:ext cx="2616200" cy="8229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0" y="254000"/>
            <a:ext cx="7696200" cy="8229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234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1270000" y="254000"/>
            <a:ext cx="1046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pitchFamily="-84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auto">
          <a:xfrm>
            <a:off x="1270000" y="2768600"/>
            <a:ext cx="10464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Helvetica Light" pitchFamily="-84" charset="0"/>
              </a:rPr>
              <a:t>Click to edit Master text styles</a:t>
            </a:r>
          </a:p>
          <a:p>
            <a:pPr lvl="1"/>
            <a:r>
              <a:rPr lang="en-US" altLang="en-US">
                <a:sym typeface="Helvetica Light" pitchFamily="-84" charset="0"/>
              </a:rPr>
              <a:t>Second level</a:t>
            </a:r>
          </a:p>
          <a:p>
            <a:pPr lvl="2"/>
            <a:r>
              <a:rPr lang="en-US" altLang="en-US">
                <a:sym typeface="Helvetica Light" pitchFamily="-84" charset="0"/>
              </a:rPr>
              <a:t>Third level</a:t>
            </a:r>
          </a:p>
          <a:p>
            <a:pPr lvl="3"/>
            <a:r>
              <a:rPr lang="en-US" altLang="en-US">
                <a:sym typeface="Helvetica Light" pitchFamily="-84" charset="0"/>
              </a:rPr>
              <a:t>Fourth level</a:t>
            </a:r>
          </a:p>
          <a:p>
            <a:pPr lvl="4"/>
            <a:r>
              <a:rPr lang="en-US" altLang="en-US">
                <a:sym typeface="Helvetica Light" pitchFamily="-84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+mj-lt"/>
          <a:ea typeface="MS PGothic" pitchFamily="34" charset="-128"/>
          <a:cs typeface="+mj-cs"/>
          <a:sym typeface="Helvetica Light" pitchFamily="-84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MS PGothic" pitchFamily="34" charset="-128"/>
          <a:cs typeface="Helvetica Light" charset="0"/>
          <a:sym typeface="Helvetica Light" pitchFamily="-84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MS PGothic" pitchFamily="34" charset="-128"/>
          <a:cs typeface="Helvetica Light" charset="0"/>
          <a:sym typeface="Helvetica Light" pitchFamily="-84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MS PGothic" pitchFamily="34" charset="-128"/>
          <a:cs typeface="Helvetica Light" charset="0"/>
          <a:sym typeface="Helvetica Light" pitchFamily="-84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MS PGothic" pitchFamily="34" charset="-128"/>
          <a:cs typeface="Helvetica Light" charset="0"/>
          <a:sym typeface="Helvetica Light" pitchFamily="-84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Helvetica Light" charset="0"/>
          <a:cs typeface="Helvetica Light" charset="0"/>
          <a:sym typeface="Helvetica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Helvetica Light" charset="0"/>
          <a:cs typeface="Helvetica Light" charset="0"/>
          <a:sym typeface="Helvetica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Helvetica Light" charset="0"/>
          <a:cs typeface="Helvetica Light" charset="0"/>
          <a:sym typeface="Helvetica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Light" charset="0"/>
          <a:ea typeface="Helvetica Light" charset="0"/>
          <a:cs typeface="Helvetica Light" charset="0"/>
          <a:sym typeface="Helvetica Light" charset="0"/>
        </a:defRPr>
      </a:lvl9pPr>
    </p:titleStyle>
    <p:bodyStyle>
      <a:lvl1pPr marL="381000" indent="-381000" algn="l" defTabSz="584200" rtl="0" eaLnBrk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MS PGothic" pitchFamily="34" charset="-128"/>
          <a:cs typeface="+mn-cs"/>
          <a:sym typeface="Helvetica Light" pitchFamily="-84" charset="0"/>
        </a:defRPr>
      </a:lvl1pPr>
      <a:lvl2pPr marL="762000" indent="-381000" algn="l" defTabSz="584200" rtl="0" eaLnBrk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pitchFamily="-84" charset="0"/>
        </a:defRPr>
      </a:lvl2pPr>
      <a:lvl3pPr marL="1143000" indent="-381000" algn="l" defTabSz="584200" rtl="0" eaLnBrk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pitchFamily="-84" charset="0"/>
        </a:defRPr>
      </a:lvl3pPr>
      <a:lvl4pPr marL="1524000" indent="-381000" algn="l" defTabSz="584200" rtl="0" eaLnBrk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pitchFamily="-84" charset="0"/>
        </a:defRPr>
      </a:lvl4pPr>
      <a:lvl5pPr marL="1905000" indent="-381000" algn="l" defTabSz="584200" rtl="0" eaLnBrk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pitchFamily="-84" charset="0"/>
        </a:defRPr>
      </a:lvl5pPr>
      <a:lvl6pPr marL="2362200" indent="-381000" algn="l" defTabSz="584200" rtl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6pPr>
      <a:lvl7pPr marL="2819400" indent="-381000" algn="l" defTabSz="584200" rtl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7pPr>
      <a:lvl8pPr marL="3276600" indent="-381000" algn="l" defTabSz="584200" rtl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8pPr>
      <a:lvl9pPr marL="3733800" indent="-381000" algn="l" defTabSz="584200" rtl="0" fontAlgn="base" hangingPunct="0">
        <a:spcBef>
          <a:spcPts val="4200"/>
        </a:spcBef>
        <a:spcAft>
          <a:spcPct val="0"/>
        </a:spcAft>
        <a:buSzPct val="100000"/>
        <a:buChar char="•"/>
        <a:defRPr sz="38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penclipart.org/detail/16821/human-skeletonoutlin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1548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682752" y="462747"/>
            <a:ext cx="4659842" cy="2783062"/>
          </a:xfrm>
        </p:spPr>
        <p:txBody>
          <a:bodyPr lIns="126435" tIns="72248" rIns="126435" bIns="72248" anchor="b">
            <a:normAutofit/>
          </a:bodyPr>
          <a:lstStyle/>
          <a:p>
            <a:pPr defTabSz="1300163" eaLnBrk="1">
              <a:lnSpc>
                <a:spcPct val="90000"/>
              </a:lnSpc>
            </a:pPr>
            <a:r>
              <a:rPr lang="en-US" altLang="en-US" sz="4700" dirty="0">
                <a:latin typeface="Helvetica" pitchFamily="-84" charset="0"/>
                <a:sym typeface="Helvetica" pitchFamily="-84" charset="0"/>
              </a:rPr>
              <a:t>Paget</a:t>
            </a:r>
            <a:r>
              <a:rPr lang="ja-JP" altLang="en-US" sz="4700" dirty="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4700" dirty="0">
                <a:latin typeface="Helvetica" pitchFamily="-84" charset="0"/>
                <a:sym typeface="Helvetica" pitchFamily="-84" charset="0"/>
              </a:rPr>
              <a:t>s Disease of the Bone</a:t>
            </a:r>
            <a:br>
              <a:rPr lang="en-US" altLang="ja-JP" sz="4700" dirty="0">
                <a:latin typeface="Helvetica" pitchFamily="-84" charset="0"/>
                <a:sym typeface="Helvetica" pitchFamily="-84" charset="0"/>
              </a:rPr>
            </a:br>
            <a:endParaRPr lang="en-US" altLang="en-US" sz="4700" dirty="0"/>
          </a:p>
        </p:txBody>
      </p:sp>
      <p:sp>
        <p:nvSpPr>
          <p:cNvPr id="410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752" y="3679280"/>
            <a:ext cx="3706368" cy="26009"/>
          </a:xfrm>
          <a:custGeom>
            <a:avLst/>
            <a:gdLst>
              <a:gd name="csX0" fmla="*/ 0 w 3706368"/>
              <a:gd name="csY0" fmla="*/ 0 h 26009"/>
              <a:gd name="csX1" fmla="*/ 617728 w 3706368"/>
              <a:gd name="csY1" fmla="*/ 0 h 26009"/>
              <a:gd name="csX2" fmla="*/ 1309583 w 3706368"/>
              <a:gd name="csY2" fmla="*/ 0 h 26009"/>
              <a:gd name="csX3" fmla="*/ 1853184 w 3706368"/>
              <a:gd name="csY3" fmla="*/ 0 h 26009"/>
              <a:gd name="csX4" fmla="*/ 2396785 w 3706368"/>
              <a:gd name="csY4" fmla="*/ 0 h 26009"/>
              <a:gd name="csX5" fmla="*/ 3051576 w 3706368"/>
              <a:gd name="csY5" fmla="*/ 0 h 26009"/>
              <a:gd name="csX6" fmla="*/ 3706368 w 3706368"/>
              <a:gd name="csY6" fmla="*/ 0 h 26009"/>
              <a:gd name="csX7" fmla="*/ 3706368 w 3706368"/>
              <a:gd name="csY7" fmla="*/ 26009 h 26009"/>
              <a:gd name="csX8" fmla="*/ 3014513 w 3706368"/>
              <a:gd name="csY8" fmla="*/ 26009 h 26009"/>
              <a:gd name="csX9" fmla="*/ 2359721 w 3706368"/>
              <a:gd name="csY9" fmla="*/ 26009 h 26009"/>
              <a:gd name="csX10" fmla="*/ 1741993 w 3706368"/>
              <a:gd name="csY10" fmla="*/ 26009 h 26009"/>
              <a:gd name="csX11" fmla="*/ 1087201 w 3706368"/>
              <a:gd name="csY11" fmla="*/ 26009 h 26009"/>
              <a:gd name="csX12" fmla="*/ 0 w 3706368"/>
              <a:gd name="csY12" fmla="*/ 26009 h 26009"/>
              <a:gd name="csX13" fmla="*/ 0 w 3706368"/>
              <a:gd name="csY13" fmla="*/ 0 h 260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706368" h="26009" fill="none" extrusionOk="0">
                <a:moveTo>
                  <a:pt x="0" y="0"/>
                </a:moveTo>
                <a:cubicBezTo>
                  <a:pt x="206410" y="-9146"/>
                  <a:pt x="450604" y="-20859"/>
                  <a:pt x="617728" y="0"/>
                </a:cubicBezTo>
                <a:cubicBezTo>
                  <a:pt x="784852" y="20859"/>
                  <a:pt x="1162156" y="-11189"/>
                  <a:pt x="1309583" y="0"/>
                </a:cubicBezTo>
                <a:cubicBezTo>
                  <a:pt x="1457010" y="11189"/>
                  <a:pt x="1679360" y="23082"/>
                  <a:pt x="1853184" y="0"/>
                </a:cubicBezTo>
                <a:cubicBezTo>
                  <a:pt x="2027008" y="-23082"/>
                  <a:pt x="2188064" y="-22101"/>
                  <a:pt x="2396785" y="0"/>
                </a:cubicBezTo>
                <a:cubicBezTo>
                  <a:pt x="2605506" y="22101"/>
                  <a:pt x="2825547" y="-29871"/>
                  <a:pt x="3051576" y="0"/>
                </a:cubicBezTo>
                <a:cubicBezTo>
                  <a:pt x="3277605" y="29871"/>
                  <a:pt x="3568489" y="-10979"/>
                  <a:pt x="3706368" y="0"/>
                </a:cubicBezTo>
                <a:cubicBezTo>
                  <a:pt x="3706437" y="7510"/>
                  <a:pt x="3706093" y="17836"/>
                  <a:pt x="3706368" y="26009"/>
                </a:cubicBezTo>
                <a:cubicBezTo>
                  <a:pt x="3491429" y="168"/>
                  <a:pt x="3292757" y="13291"/>
                  <a:pt x="3014513" y="26009"/>
                </a:cubicBezTo>
                <a:cubicBezTo>
                  <a:pt x="2736269" y="38727"/>
                  <a:pt x="2505489" y="26388"/>
                  <a:pt x="2359721" y="26009"/>
                </a:cubicBezTo>
                <a:cubicBezTo>
                  <a:pt x="2213953" y="25630"/>
                  <a:pt x="1938998" y="31740"/>
                  <a:pt x="1741993" y="26009"/>
                </a:cubicBezTo>
                <a:cubicBezTo>
                  <a:pt x="1544988" y="20278"/>
                  <a:pt x="1318933" y="54803"/>
                  <a:pt x="1087201" y="26009"/>
                </a:cubicBezTo>
                <a:cubicBezTo>
                  <a:pt x="855469" y="-2785"/>
                  <a:pt x="496978" y="-17878"/>
                  <a:pt x="0" y="26009"/>
                </a:cubicBezTo>
                <a:cubicBezTo>
                  <a:pt x="-231" y="15639"/>
                  <a:pt x="-760" y="7461"/>
                  <a:pt x="0" y="0"/>
                </a:cubicBezTo>
                <a:close/>
              </a:path>
              <a:path w="3706368" h="26009" stroke="0" extrusionOk="0">
                <a:moveTo>
                  <a:pt x="0" y="0"/>
                </a:moveTo>
                <a:cubicBezTo>
                  <a:pt x="132087" y="2621"/>
                  <a:pt x="412109" y="294"/>
                  <a:pt x="543601" y="0"/>
                </a:cubicBezTo>
                <a:cubicBezTo>
                  <a:pt x="675093" y="-294"/>
                  <a:pt x="961514" y="-29404"/>
                  <a:pt x="1235456" y="0"/>
                </a:cubicBezTo>
                <a:cubicBezTo>
                  <a:pt x="1509398" y="29404"/>
                  <a:pt x="1527437" y="18751"/>
                  <a:pt x="1741993" y="0"/>
                </a:cubicBezTo>
                <a:cubicBezTo>
                  <a:pt x="1956549" y="-18751"/>
                  <a:pt x="1999360" y="18770"/>
                  <a:pt x="2248530" y="0"/>
                </a:cubicBezTo>
                <a:cubicBezTo>
                  <a:pt x="2497700" y="-18770"/>
                  <a:pt x="2614677" y="28757"/>
                  <a:pt x="2866258" y="0"/>
                </a:cubicBezTo>
                <a:cubicBezTo>
                  <a:pt x="3117839" y="-28757"/>
                  <a:pt x="3366796" y="-36633"/>
                  <a:pt x="3706368" y="0"/>
                </a:cubicBezTo>
                <a:cubicBezTo>
                  <a:pt x="3706686" y="12563"/>
                  <a:pt x="3705425" y="19101"/>
                  <a:pt x="3706368" y="26009"/>
                </a:cubicBezTo>
                <a:cubicBezTo>
                  <a:pt x="3457584" y="571"/>
                  <a:pt x="3333396" y="3454"/>
                  <a:pt x="3162767" y="26009"/>
                </a:cubicBezTo>
                <a:cubicBezTo>
                  <a:pt x="2992138" y="48564"/>
                  <a:pt x="2706133" y="39728"/>
                  <a:pt x="2582103" y="26009"/>
                </a:cubicBezTo>
                <a:cubicBezTo>
                  <a:pt x="2458073" y="12290"/>
                  <a:pt x="2095876" y="22193"/>
                  <a:pt x="1890248" y="26009"/>
                </a:cubicBezTo>
                <a:cubicBezTo>
                  <a:pt x="1684621" y="29825"/>
                  <a:pt x="1546299" y="23827"/>
                  <a:pt x="1309583" y="26009"/>
                </a:cubicBezTo>
                <a:cubicBezTo>
                  <a:pt x="1072868" y="28191"/>
                  <a:pt x="951698" y="34450"/>
                  <a:pt x="728919" y="26009"/>
                </a:cubicBezTo>
                <a:cubicBezTo>
                  <a:pt x="506140" y="17568"/>
                  <a:pt x="209622" y="23600"/>
                  <a:pt x="0" y="26009"/>
                </a:cubicBezTo>
                <a:cubicBezTo>
                  <a:pt x="833" y="14661"/>
                  <a:pt x="-1028" y="7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2752" y="4085900"/>
            <a:ext cx="4526494" cy="4722728"/>
          </a:xfrm>
        </p:spPr>
        <p:txBody>
          <a:bodyPr lIns="126435" tIns="72248" rIns="126435" bIns="72248">
            <a:normAutofit/>
          </a:bodyPr>
          <a:lstStyle/>
          <a:p>
            <a:pPr marL="0" indent="0" defTabSz="1300163" eaLnBrk="1">
              <a:spcBef>
                <a:spcPts val="700"/>
              </a:spcBef>
              <a:buSzTx/>
              <a:buFontTx/>
              <a:buNone/>
            </a:pPr>
            <a:r>
              <a:rPr lang="en-US" altLang="en-US" sz="2700"/>
              <a:t>Breanna Veal, MHS, PA-C</a:t>
            </a:r>
          </a:p>
        </p:txBody>
      </p:sp>
      <p:pic>
        <p:nvPicPr>
          <p:cNvPr id="4" name="Picture 3" descr="A skeleton with blue veins&#10;&#10;Description automatically generated">
            <a:extLst>
              <a:ext uri="{FF2B5EF4-FFF2-40B4-BE49-F238E27FC236}">
                <a16:creationId xmlns:a16="http://schemas.microsoft.com/office/drawing/2014/main" id="{29B3C63C-2FA8-FB1A-623D-CC7A75B34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988745" y="1381867"/>
            <a:ext cx="4500000" cy="639053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152400"/>
            <a:ext cx="11704637" cy="15240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 Disease of the Bone</a:t>
            </a:r>
            <a:endParaRPr lang="en-US" altLang="en-US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676400"/>
            <a:ext cx="12355513" cy="7751763"/>
          </a:xfrm>
        </p:spPr>
        <p:txBody>
          <a:bodyPr lIns="126435" tIns="72248" rIns="126435" bIns="72248" anchor="t"/>
          <a:lstStyle/>
          <a:p>
            <a:pPr marL="388938" indent="-3889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Also known as osteitis deformans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en-US" sz="45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388938" indent="-3889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Paget’s is characterized by an </a:t>
            </a:r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accelerated rate of bone remodeling</a:t>
            </a: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, resulting in overgrowth of bone at single site (28%) or multiple sites (72%) with impaired bone integrity. </a:t>
            </a:r>
          </a:p>
          <a:p>
            <a:pPr marL="388938" indent="-3889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5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388938" indent="-388938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45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 Disease of the Bone</a:t>
            </a:r>
            <a:endParaRPr lang="en-US" alt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447800"/>
            <a:ext cx="12355513" cy="7980363"/>
          </a:xfrm>
        </p:spPr>
        <p:txBody>
          <a:bodyPr lIns="126435" tIns="72248" rIns="126435" bIns="72248" anchor="t"/>
          <a:lstStyle/>
          <a:p>
            <a:pPr marL="477838" indent="-4778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Most patients with Paget’s 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are diagnosed after bone lesions are discovered </a:t>
            </a:r>
            <a:r>
              <a:rPr lang="en-US" altLang="ja-JP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incidentally on XR 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or </a:t>
            </a:r>
            <a:r>
              <a:rPr lang="en-US" altLang="ja-JP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 high level of serum alkaline phosphatase 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is </a:t>
            </a:r>
            <a:r>
              <a:rPr lang="en-US" altLang="ja-JP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discovered </a:t>
            </a:r>
            <a:r>
              <a:rPr lang="en-US" altLang="ja-JP" sz="4400" b="1" i="1" u="sng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incidentally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</a:t>
            </a:r>
          </a:p>
          <a:p>
            <a:pPr marL="477838" indent="-4778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0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77838" indent="-4778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Paget’s disease usually involves multiple bones of the skeleton.</a:t>
            </a:r>
          </a:p>
          <a:p>
            <a:pPr marL="477838" indent="-4778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0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77838" indent="-47783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</a:t>
            </a:r>
            <a:r>
              <a:rPr lang="ja-JP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</a:t>
            </a:r>
            <a:r>
              <a:rPr lang="en-US" altLang="ja-JP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most commonly affects bones of the axial skeleton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; the</a:t>
            </a:r>
            <a:r>
              <a:rPr lang="en-US" altLang="ja-JP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vertebrae, pelvis, femur, skull, sacrum, humerus and tibia.</a:t>
            </a:r>
            <a:r>
              <a:rPr lang="en-US" altLang="ja-JP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 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30680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 Disease Epidemiology</a:t>
            </a:r>
            <a:endParaRPr lang="en-US" alt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841500"/>
            <a:ext cx="12355513" cy="7586663"/>
          </a:xfrm>
        </p:spPr>
        <p:txBody>
          <a:bodyPr lIns="126435" tIns="72248" rIns="126435" bIns="72248" anchor="t"/>
          <a:lstStyle/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incidence of Paget’s is declining overall and the age of diagnosis is increasing</a:t>
            </a:r>
            <a:endParaRPr lang="en-US" altLang="en-US" sz="4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Men&gt;Women 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Age&gt;40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Prevalence is greatest in Western Europe or of European ancestry</a:t>
            </a:r>
          </a:p>
          <a:p>
            <a:pPr marL="785813" lvl="1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Europeans immigrated to Australia, New Zealand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 the US the disease occurs in ~1% of 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Caucasians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≥ age 55.</a:t>
            </a:r>
          </a:p>
        </p:txBody>
      </p:sp>
    </p:spTree>
    <p:extLst>
      <p:ext uri="{BB962C8B-B14F-4D97-AF65-F5344CB8AC3E}">
        <p14:creationId xmlns:p14="http://schemas.microsoft.com/office/powerpoint/2010/main" val="190978294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650081" y="266443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Helvetica" pitchFamily="-84" charset="0"/>
                <a:sym typeface="Helvetica" pitchFamily="-84" charset="0"/>
              </a:rPr>
              <a:t>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 dirty="0">
                <a:latin typeface="Helvetica" pitchFamily="-84" charset="0"/>
                <a:sym typeface="Helvetica" pitchFamily="-84" charset="0"/>
              </a:rPr>
              <a:t>s Disease Etiology</a:t>
            </a:r>
            <a:endParaRPr lang="en-US" altLang="en-US" dirty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981200"/>
            <a:ext cx="12355513" cy="7446963"/>
          </a:xfrm>
        </p:spPr>
        <p:txBody>
          <a:bodyPr lIns="126435" tIns="72248" rIns="126435" bIns="72248" anchor="t"/>
          <a:lstStyle/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etiology is unknown however, genetic and viral factors are believed to play a role.</a:t>
            </a:r>
          </a:p>
          <a:p>
            <a:pPr marL="1166813" lvl="2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Approximately 15-25% of patients with Paget’s report a </a:t>
            </a: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positive family history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of the disease.</a:t>
            </a:r>
          </a:p>
          <a:p>
            <a:pPr marL="1928813" lvl="4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Increases the prevalence 7-10x in 1</a:t>
            </a:r>
            <a:r>
              <a:rPr lang="en-US" altLang="en-US" sz="3200" baseline="300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st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degree relatives</a:t>
            </a:r>
          </a:p>
          <a:p>
            <a:pPr marL="1166813" lvl="2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There is evidence that </a:t>
            </a: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measles virus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is a causative factor, and the widespread use of the MMR vaccine may be preventative.</a:t>
            </a:r>
          </a:p>
          <a:p>
            <a:pPr marL="1166813" lvl="2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There are no known risk factors for Paget’s disease that are modifiable.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Grp="1" noChangeArrowheads="1"/>
          </p:cNvSpPr>
          <p:nvPr>
            <p:ph type="title"/>
          </p:nvPr>
        </p:nvSpPr>
        <p:spPr>
          <a:xfrm>
            <a:off x="650080" y="323057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Helvetica" pitchFamily="-84" charset="0"/>
                <a:sym typeface="Helvetica" pitchFamily="-84" charset="0"/>
              </a:rPr>
              <a:t>Pathophysiology of Paget’</a:t>
            </a:r>
            <a:r>
              <a:rPr lang="en-US" altLang="ja-JP" sz="6200" dirty="0">
                <a:latin typeface="Helvetica" pitchFamily="-84" charset="0"/>
                <a:sym typeface="Helvetica" pitchFamily="-84" charset="0"/>
              </a:rPr>
              <a:t>s Disease of the Bone</a:t>
            </a:r>
            <a:endParaRPr lang="en-US" altLang="en-US" dirty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4643" y="2057400"/>
            <a:ext cx="12355513" cy="6669086"/>
          </a:xfrm>
        </p:spPr>
        <p:txBody>
          <a:bodyPr lIns="126435" tIns="72248" rIns="126435" bIns="72248" anchor="t"/>
          <a:lstStyle/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</a:t>
            </a:r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disease has three phases, and different areas of the skeleton may have disease in different phases and may progress at different rates.</a:t>
            </a: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Phases of Paget</a:t>
            </a:r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s: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Helvetica Light" pitchFamily="-84" charset="0"/>
              <a:buAutoNum type="arabicPeriod"/>
            </a:pP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Lytic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 rapid bone resorption and hypervascularization (Osteoclasts)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Helvetica Light" pitchFamily="-84" charset="0"/>
              <a:buAutoNum type="arabicPeriod"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Helvetica Light" pitchFamily="-84" charset="0"/>
              <a:buAutoNum type="arabicPeriod"/>
            </a:pP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Mixed lytic and </a:t>
            </a:r>
            <a:r>
              <a:rPr lang="en-US" altLang="en-US" sz="3200" b="1" i="1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blastic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 bone resorption and haphazard bone creation (Osteoclasts &amp; Osteoblasts)</a:t>
            </a: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Helvetica Light" pitchFamily="-84" charset="0"/>
              <a:buAutoNum type="arabicPeriod"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04813" indent="-404813" defTabSz="1300163" eaLnBrk="1">
              <a:spcBef>
                <a:spcPts val="700"/>
              </a:spcBef>
              <a:buClr>
                <a:srgbClr val="000000"/>
              </a:buClr>
              <a:buFont typeface="Helvetica Light" pitchFamily="-84" charset="0"/>
              <a:buAutoNum type="arabicPeriod"/>
            </a:pP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Sclerotic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 Decreased vascularity and bone turnover</a:t>
            </a: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5283200" y="152400"/>
            <a:ext cx="7391400" cy="22098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000" dirty="0">
                <a:latin typeface="Helvetica" pitchFamily="-84" charset="0"/>
                <a:sym typeface="Helvetica" pitchFamily="-84" charset="0"/>
              </a:rPr>
              <a:t>Pathophysiology of Paget’</a:t>
            </a:r>
            <a:r>
              <a:rPr lang="en-US" altLang="ja-JP" sz="5000" dirty="0">
                <a:latin typeface="Helvetica" pitchFamily="-84" charset="0"/>
                <a:sym typeface="Helvetica" pitchFamily="-84" charset="0"/>
              </a:rPr>
              <a:t>s: Lytic Phase</a:t>
            </a:r>
            <a:endParaRPr lang="en-US" altLang="en-US" sz="5000" dirty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1" y="2590800"/>
            <a:ext cx="12350750" cy="6934200"/>
          </a:xfrm>
        </p:spPr>
        <p:txBody>
          <a:bodyPr lIns="126435" tIns="72248" rIns="126435" bIns="72248" anchor="t"/>
          <a:lstStyle/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 Paget’s disease there is an </a:t>
            </a: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increased number and increased activity of osteoclasts.</a:t>
            </a:r>
          </a:p>
          <a:p>
            <a:pPr marL="673100" lvl="1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Osteoclasts in Paget</a:t>
            </a:r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are large, 7-100x the size of normal and have many more nuclei than normal.</a:t>
            </a:r>
          </a:p>
          <a:p>
            <a:pPr marL="673100" lvl="1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These large osteoclasts have 7x the resorptive capacity of normal osteoclasts and in Paget</a:t>
            </a:r>
            <a:r>
              <a:rPr lang="ja-JP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the rate of bone resorption/erosion is up to 9µg/d (normal is 1µg/d).</a:t>
            </a: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first phase of Paget’s is characterized by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increased osteoclast activity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</a:t>
            </a: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9"/>
          <a:stretch/>
        </p:blipFill>
        <p:spPr>
          <a:xfrm>
            <a:off x="101600" y="152399"/>
            <a:ext cx="5181600" cy="23307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Grp="1" noChangeArrowheads="1"/>
          </p:cNvSpPr>
          <p:nvPr>
            <p:ph type="title"/>
          </p:nvPr>
        </p:nvSpPr>
        <p:spPr>
          <a:xfrm>
            <a:off x="319087" y="152400"/>
            <a:ext cx="12355513" cy="17526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000" dirty="0">
                <a:latin typeface="Helvetica" pitchFamily="-84" charset="0"/>
                <a:sym typeface="Helvetica" pitchFamily="-84" charset="0"/>
              </a:rPr>
              <a:t>Pathophysiology of Paget’</a:t>
            </a:r>
            <a:r>
              <a:rPr lang="en-US" altLang="ja-JP" sz="5000" dirty="0">
                <a:latin typeface="Helvetica" pitchFamily="-84" charset="0"/>
                <a:sym typeface="Helvetica" pitchFamily="-84" charset="0"/>
              </a:rPr>
              <a:t>s: Lytic Phase</a:t>
            </a:r>
            <a:endParaRPr lang="en-US" altLang="en-US" sz="5000" dirty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1" y="1905000"/>
            <a:ext cx="5187949" cy="7696200"/>
          </a:xfrm>
        </p:spPr>
        <p:txBody>
          <a:bodyPr lIns="126435" tIns="72248" rIns="126435" bIns="72248" anchor="t"/>
          <a:lstStyle/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Increased osteoclast activity causes lytic lesions in bone (“blade of grass” lesion).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Refers to the lucent leading edge in a long bone seen during the lytic phase.</a:t>
            </a: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B260D-84BF-2BBA-E398-FCD66AB7AD84}"/>
              </a:ext>
            </a:extLst>
          </p:cNvPr>
          <p:cNvSpPr txBox="1"/>
          <p:nvPr/>
        </p:nvSpPr>
        <p:spPr>
          <a:xfrm>
            <a:off x="5933909" y="8831826"/>
            <a:ext cx="6740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Also called the “candle flame sign”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A681E-F462-1CC8-6F32-BE59A62C4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000" y="16764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5690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0" y="228600"/>
            <a:ext cx="12573000" cy="11795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500">
                <a:latin typeface="Helvetica" pitchFamily="-84" charset="0"/>
                <a:sym typeface="Helvetica" pitchFamily="-84" charset="0"/>
              </a:rPr>
              <a:t>Pathophysiology: Lytic/ Blastic Phase</a:t>
            </a:r>
            <a:endParaRPr lang="en-US" altLang="en-US" sz="55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625600"/>
            <a:ext cx="12355513" cy="5020801"/>
          </a:xfrm>
        </p:spPr>
        <p:txBody>
          <a:bodyPr lIns="126435" tIns="72248" rIns="126435" bIns="72248" anchor="t"/>
          <a:lstStyle/>
          <a:p>
            <a:pPr marL="323850" indent="-3238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  <a:defRPr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Following the onset of bone resorption by the abnormal osteoclasts, </a:t>
            </a:r>
            <a:r>
              <a:rPr lang="en-US" altLang="en-US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large numbers of normal osteoblasts </a:t>
            </a: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are recruited to the sites of bone resorption.</a:t>
            </a:r>
          </a:p>
          <a:p>
            <a:pPr marL="323850" indent="-3238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  <a:defRPr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  <a:sym typeface="Helvetica" panose="020B0604020202020204" pitchFamily="34" charset="0"/>
            </a:endParaRPr>
          </a:p>
          <a:p>
            <a:pPr marL="323850" indent="-3238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  <a:defRPr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 These normal osteoblasts respond to this abnormally rapid absorption of bone by </a:t>
            </a:r>
            <a:r>
              <a:rPr lang="en-US" altLang="en-US" sz="44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producing new bone matrix rapidly and haphazardly.</a:t>
            </a:r>
          </a:p>
          <a:p>
            <a:pPr marL="323850" indent="-3238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  <a:defRPr/>
            </a:pPr>
            <a:endParaRPr lang="en-US" altLang="en-US" sz="2000" b="1" i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323850" indent="-323850" defTabSz="1300163" eaLnBrk="1">
              <a:lnSpc>
                <a:spcPct val="90000"/>
              </a:lnSpc>
              <a:spcBef>
                <a:spcPts val="700"/>
              </a:spcBef>
              <a:buSzTx/>
              <a:buFontTx/>
              <a:buNone/>
              <a:defRPr/>
            </a:pPr>
            <a:endParaRPr lang="en-US" altLang="en-US" sz="2000" dirty="0">
              <a:latin typeface="Helvetica" panose="020B0604020202020204" pitchFamily="34" charset="0"/>
              <a:sym typeface="Helvetica" panose="020B0604020202020204" pitchFamily="34" charset="0"/>
            </a:endParaRPr>
          </a:p>
        </p:txBody>
      </p:sp>
      <p:pic>
        <p:nvPicPr>
          <p:cNvPr id="1126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376" y="6863888"/>
            <a:ext cx="3753761" cy="286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9DC8CA-5F7F-254D-9CBB-F6E2A9857573}"/>
              </a:ext>
            </a:extLst>
          </p:cNvPr>
          <p:cNvSpPr txBox="1"/>
          <p:nvPr/>
        </p:nvSpPr>
        <p:spPr>
          <a:xfrm>
            <a:off x="254000" y="7210900"/>
            <a:ext cx="87043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This bone appears woven and has a </a:t>
            </a:r>
            <a:r>
              <a:rPr lang="ja-JP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“</a:t>
            </a:r>
            <a:r>
              <a:rPr lang="en-US" altLang="ja-JP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mosaic pattern</a:t>
            </a:r>
            <a:r>
              <a:rPr lang="ja-JP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”</a:t>
            </a:r>
            <a:r>
              <a:rPr lang="en-US" altLang="ja-JP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anose="020B0604020202020204" pitchFamily="34" charset="0"/>
              </a:rPr>
              <a:t> or “cotton wool pattern”.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0" y="228600"/>
            <a:ext cx="12573000" cy="13716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500">
                <a:latin typeface="Helvetica" pitchFamily="-84" charset="0"/>
                <a:sym typeface="Helvetica" pitchFamily="-84" charset="0"/>
              </a:rPr>
              <a:t>Pathophysiology: Lytic/ Blastic Phase</a:t>
            </a:r>
            <a:endParaRPr lang="en-US" altLang="en-US" sz="55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1" y="4114800"/>
            <a:ext cx="6788149" cy="5313363"/>
          </a:xfrm>
        </p:spPr>
        <p:txBody>
          <a:bodyPr lIns="126435" tIns="72248" rIns="126435" bIns="72248" anchor="t"/>
          <a:lstStyle/>
          <a:p>
            <a:pPr defTabSz="1300163" eaLnBrk="1">
              <a:spcBef>
                <a:spcPts val="700"/>
              </a:spcBef>
              <a:buClr>
                <a:srgbClr val="000000"/>
              </a:buClr>
              <a:buSzPct val="80000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Additionally, some of the 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bone marrow is replaced by fibrous tissue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and there is a marked 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increase in the number of blood vessels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within the bone.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Paget Disease Symptoms, Diagnosis &amp; Treatment | Bone and Spine">
            <a:extLst>
              <a:ext uri="{FF2B5EF4-FFF2-40B4-BE49-F238E27FC236}">
                <a16:creationId xmlns:a16="http://schemas.microsoft.com/office/drawing/2014/main" id="{A0CD3400-C95E-874E-990A-DBDC0955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002" y="3429000"/>
            <a:ext cx="5515997" cy="625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0B46F3-C684-614D-87C2-F2B548CEEF94}"/>
              </a:ext>
            </a:extLst>
          </p:cNvPr>
          <p:cNvSpPr txBox="1"/>
          <p:nvPr/>
        </p:nvSpPr>
        <p:spPr>
          <a:xfrm>
            <a:off x="406401" y="1752600"/>
            <a:ext cx="1242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This pattern of bone lysis and formation repeats itself again and again, leading to high bone turnover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5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177800" y="152400"/>
            <a:ext cx="12573000" cy="14478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000" dirty="0">
                <a:latin typeface="Helvetica" pitchFamily="-84" charset="0"/>
                <a:sym typeface="Helvetica" pitchFamily="-84" charset="0"/>
              </a:rPr>
              <a:t>Paget’s Pathophysiology : Sclerotic Phase</a:t>
            </a:r>
            <a:endParaRPr lang="en-US" altLang="en-US" sz="50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905000"/>
            <a:ext cx="12355513" cy="7523163"/>
          </a:xfrm>
        </p:spPr>
        <p:txBody>
          <a:bodyPr lIns="126435" tIns="72248" rIns="126435" bIns="72248" anchor="t"/>
          <a:lstStyle/>
          <a:p>
            <a:pPr marL="428625" indent="-428625" eaLnBrk="1">
              <a:buSzPct val="80000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Finally, bone resorption ceases but abnormal formation continues leading to 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hard, dense, vascular </a:t>
            </a:r>
            <a:r>
              <a:rPr lang="en-US" altLang="en-US" sz="4500" b="1" i="1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(mosaic) bone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 </a:t>
            </a:r>
          </a:p>
          <a:p>
            <a:pPr marL="428625" indent="-428625" eaLnBrk="1">
              <a:buSzPct val="80000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"burnt out" sclerotic phase of Paget's; further remodeling is minimal.</a:t>
            </a:r>
          </a:p>
          <a:p>
            <a:pPr marL="0" indent="0" eaLnBrk="1">
              <a:spcBef>
                <a:spcPts val="1200"/>
              </a:spcBef>
              <a:buSzPct val="80000"/>
              <a:buNone/>
            </a:pPr>
            <a:endParaRPr lang="en-US" altLang="en-US" sz="45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28625" indent="-428625" eaLnBrk="1">
              <a:spcBef>
                <a:spcPts val="1200"/>
              </a:spcBef>
              <a:buSzPct val="80000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Because of it’s disorganization, </a:t>
            </a:r>
          </a:p>
          <a:p>
            <a:pPr marL="0" indent="0" eaLnBrk="1">
              <a:spcBef>
                <a:spcPts val="1200"/>
              </a:spcBef>
              <a:buSzPct val="80000"/>
              <a:buNone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	</a:t>
            </a:r>
            <a:r>
              <a:rPr lang="en-US" altLang="en-US" sz="4500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bone is actually weaker </a:t>
            </a:r>
          </a:p>
          <a:p>
            <a:pPr marL="0" indent="0" eaLnBrk="1">
              <a:spcBef>
                <a:spcPts val="1200"/>
              </a:spcBef>
              <a:buSzPct val="80000"/>
              <a:buNone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	than normal adult bone.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9" t="27500" r="6563" b="20000"/>
          <a:stretch/>
        </p:blipFill>
        <p:spPr>
          <a:xfrm>
            <a:off x="8575646" y="5441197"/>
            <a:ext cx="4200554" cy="39869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sz="6600"/>
              <a:t>Paget’s Pathophysiology</a:t>
            </a:r>
            <a:endParaRPr lang="en-US" alt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1" y="1516063"/>
            <a:ext cx="12357098" cy="2446337"/>
          </a:xfrm>
        </p:spPr>
        <p:txBody>
          <a:bodyPr lIns="126435" tIns="72248" rIns="126435" bIns="72248" anchor="t"/>
          <a:lstStyle/>
          <a:p>
            <a:pPr marL="428625" indent="-428625" eaLnBrk="1">
              <a:buSzPct val="80000"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Paget’s involves multiple bones simultaneously in 72% </a:t>
            </a:r>
            <a:r>
              <a:rPr lang="en-US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cases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only a single bone in 28%.</a:t>
            </a:r>
            <a:endParaRPr lang="en-US" alt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428625" indent="-428625" eaLnBrk="1">
              <a:buSzPct val="80000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Although the disease may progress at a given site, the </a:t>
            </a: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development of new sites of disease occurs uncommonly.</a:t>
            </a:r>
          </a:p>
          <a:p>
            <a:pPr marL="428625" indent="-428625" eaLnBrk="1"/>
            <a:endParaRPr lang="en-US" altLang="en-US" sz="4800" b="1" i="1" dirty="0">
              <a:latin typeface="Helvetica" pitchFamily="-84" charset="0"/>
              <a:sym typeface="Helvetica" pitchFamily="-84" charset="0"/>
            </a:endParaRPr>
          </a:p>
        </p:txBody>
      </p:sp>
      <p:pic>
        <p:nvPicPr>
          <p:cNvPr id="2050" name="Picture 2" descr="Various Bone and Soft-Tissue Disorders | Radiology Key">
            <a:extLst>
              <a:ext uri="{FF2B5EF4-FFF2-40B4-BE49-F238E27FC236}">
                <a16:creationId xmlns:a16="http://schemas.microsoft.com/office/drawing/2014/main" id="{20191FD7-680D-6742-9450-C6E3ABD90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39" y="4070350"/>
            <a:ext cx="6178549" cy="567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9DE827-B8C9-A149-94B2-F3F5D3276330}"/>
              </a:ext>
            </a:extLst>
          </p:cNvPr>
          <p:cNvSpPr txBox="1"/>
          <p:nvPr/>
        </p:nvSpPr>
        <p:spPr>
          <a:xfrm>
            <a:off x="323851" y="4419600"/>
            <a:ext cx="5949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Paget’s has a predilection for the axial skeleton and the long bones.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(Skull, spine, sacrum, pelvis, femur, humerus, tibia)</a:t>
            </a:r>
          </a:p>
          <a:p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It rarely affects the hands/feet or rib cage.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381000"/>
            <a:ext cx="11704637" cy="16002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100" dirty="0">
                <a:latin typeface="Helvetica" pitchFamily="-84" charset="0"/>
                <a:sym typeface="Helvetica" pitchFamily="-84" charset="0"/>
              </a:rPr>
              <a:t>Presenting Clinical Manifestations of Paget</a:t>
            </a:r>
            <a:r>
              <a:rPr lang="ja-JP" altLang="en-US" sz="6100" dirty="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100" dirty="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 dirty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4000" y="2438400"/>
            <a:ext cx="12425363" cy="6989763"/>
          </a:xfrm>
        </p:spPr>
        <p:txBody>
          <a:bodyPr lIns="126435" tIns="72248" rIns="126435" bIns="72248" anchor="t"/>
          <a:lstStyle/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75% of patients with Paget’s disease are 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asymptomatic, or mild </a:t>
            </a:r>
            <a:r>
              <a:rPr lang="en-US" altLang="en-US" sz="4500" b="1" i="1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sx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and the disease is found incidentally. 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en-US" sz="30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If symptomatic</a:t>
            </a:r>
            <a:r>
              <a:rPr lang="en-US" altLang="en-US" sz="45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, the most frequent symptom is bone pain: 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dull, constant, aching, deep pain, often worse at night.</a:t>
            </a: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5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4500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bone is very prone to fracture as well.</a:t>
            </a:r>
          </a:p>
          <a:p>
            <a:pPr marL="292100" indent="-292100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3000" dirty="0">
              <a:latin typeface="Helvetica" pitchFamily="-84" charset="0"/>
              <a:sym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6500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12355513" cy="10668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What does the </a:t>
            </a:r>
            <a:r>
              <a:rPr lang="en-US" alt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process lead to?</a:t>
            </a:r>
            <a:endParaRPr lang="en-US" alt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16000" y="4332930"/>
            <a:ext cx="5333999" cy="5268269"/>
          </a:xfrm>
        </p:spPr>
        <p:txBody>
          <a:bodyPr lIns="126435" tIns="72248" rIns="126435" bIns="72248" anchor="t"/>
          <a:lstStyle/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 </a:t>
            </a:r>
          </a:p>
          <a:p>
            <a:pPr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Fractures most commonly involve the femur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  <a:defRPr/>
            </a:pPr>
            <a:endParaRPr lang="en-US" sz="3200" dirty="0">
              <a:latin typeface="Calibri" charset="0"/>
              <a:ea typeface="Calibri" charset="0"/>
              <a:cs typeface="Calibri" charset="0"/>
              <a:sym typeface="Helvetica" charset="0"/>
            </a:endParaRPr>
          </a:p>
          <a:p>
            <a:pPr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A higher incidence of non-union and re-fracture occur in </a:t>
            </a:r>
            <a:r>
              <a:rPr lang="en-US" sz="3200" dirty="0" err="1">
                <a:latin typeface="Calibri" charset="0"/>
                <a:ea typeface="Calibri" charset="0"/>
                <a:cs typeface="Calibri" charset="0"/>
                <a:sym typeface="Helvetica" charset="0"/>
              </a:rPr>
              <a:t>pagetic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 bone as well.</a:t>
            </a:r>
          </a:p>
          <a:p>
            <a:pPr marL="914400" indent="-914400" defTabSz="1300163" eaLnBrk="1">
              <a:spcBef>
                <a:spcPts val="700"/>
              </a:spcBef>
              <a:buSzTx/>
              <a:buFont typeface="+mj-lt"/>
              <a:buAutoNum type="arabicPeriod"/>
              <a:defRPr/>
            </a:pPr>
            <a:endParaRPr lang="en-US" sz="4500" dirty="0">
              <a:latin typeface="Calibri" charset="0"/>
              <a:ea typeface="Calibri" charset="0"/>
              <a:cs typeface="Calibri" charset="0"/>
              <a:sym typeface="Helvetica" charset="0"/>
            </a:endParaRP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</p:txBody>
      </p:sp>
      <p:pic>
        <p:nvPicPr>
          <p:cNvPr id="6146" name="Picture 2" descr="Chalkstick fracture - Wikipedia">
            <a:extLst>
              <a:ext uri="{FF2B5EF4-FFF2-40B4-BE49-F238E27FC236}">
                <a16:creationId xmlns:a16="http://schemas.microsoft.com/office/drawing/2014/main" id="{24F79E6D-FA5E-4546-AE57-108C852F8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270" y="4495799"/>
            <a:ext cx="6416130" cy="487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8AC701-A582-2742-B619-FAF6275263A5}"/>
              </a:ext>
            </a:extLst>
          </p:cNvPr>
          <p:cNvSpPr txBox="1"/>
          <p:nvPr/>
        </p:nvSpPr>
        <p:spPr>
          <a:xfrm>
            <a:off x="323850" y="2050196"/>
            <a:ext cx="12503150" cy="341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1925" indent="-161925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b="1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Bony manifestations:</a:t>
            </a:r>
          </a:p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3200" b="1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Increased risk of fracture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: often incomplete (fissure) stress fractures that can transition to complete fractures over time. Fractures are</a:t>
            </a:r>
            <a:r>
              <a:rPr lang="en-US" dirty="0"/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usually transverse and perpendicular to the cortex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charset="0"/>
              </a:rPr>
              <a:t>“chalk stick </a:t>
            </a:r>
            <a:r>
              <a:rPr lang="en-US" sz="3200" b="1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fractures”.</a:t>
            </a:r>
          </a:p>
          <a:p>
            <a:pPr defTabSz="1300163" eaLnBrk="1">
              <a:spcBef>
                <a:spcPts val="700"/>
              </a:spcBef>
              <a:buClr>
                <a:srgbClr val="000000"/>
              </a:buClr>
              <a:defRPr/>
            </a:pPr>
            <a:endParaRPr lang="en-US" sz="3200" b="1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  <a:sym typeface="Helvetica" charset="0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12355513" cy="11430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What does the </a:t>
            </a:r>
            <a:r>
              <a:rPr lang="en-US" alt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process lead to?</a:t>
            </a:r>
            <a:endParaRPr lang="en-US" alt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379984" y="1229518"/>
            <a:ext cx="8272463" cy="7294563"/>
          </a:xfrm>
        </p:spPr>
        <p:txBody>
          <a:bodyPr lIns="126435" tIns="72248" rIns="126435" bIns="72248" anchor="t"/>
          <a:lstStyle/>
          <a:p>
            <a:pPr marL="161925" indent="-161925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  <a:sym typeface="Helvetica" charset="0"/>
              </a:rPr>
              <a:t>Bony manifestations:</a:t>
            </a:r>
          </a:p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2"/>
              <a:defRPr/>
            </a:pPr>
            <a:r>
              <a:rPr lang="en-US" sz="3200" b="1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Bony enlargement of the skull/ face</a:t>
            </a: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 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Frontal bossing and prominent scalp veins leading to increased head size (pt may c/o increased hat size)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Headaches 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Narrowing cranial foramens </a:t>
            </a:r>
          </a:p>
          <a:p>
            <a:pPr lvl="2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Compression of the auditory nerve: mixed conductive and sensorineural hearing loss, tinnitus, vertigo </a:t>
            </a:r>
          </a:p>
          <a:p>
            <a:pPr lvl="2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Optic nerve involvement: vision loss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charset="0"/>
                <a:ea typeface="Calibri" charset="0"/>
                <a:cs typeface="Calibri" charset="0"/>
                <a:sym typeface="Helvetica" charset="0"/>
              </a:rPr>
              <a:t>Loss of teeth/spreading of teeth causing malalignment</a:t>
            </a: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  <a:p>
            <a:pPr marL="161925" indent="-161925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charset="0"/>
              <a:ea typeface="ＭＳ Ｐゴシック" charset="0"/>
              <a:cs typeface="Helvetica" charset="0"/>
              <a:sym typeface="Helvetica" charset="0"/>
            </a:endParaRPr>
          </a:p>
        </p:txBody>
      </p:sp>
      <p:pic>
        <p:nvPicPr>
          <p:cNvPr id="7172" name="Picture 4" descr="Pin on The strange and unusual">
            <a:extLst>
              <a:ext uri="{FF2B5EF4-FFF2-40B4-BE49-F238E27FC236}">
                <a16:creationId xmlns:a16="http://schemas.microsoft.com/office/drawing/2014/main" id="{9ABC73AF-57F0-BB4D-8A4A-F6A3EAAB1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1600200"/>
            <a:ext cx="3505200" cy="461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8883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D1CDD4-A94B-4A2B-AF23-24DB435F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289" y="609600"/>
            <a:ext cx="5729511" cy="87074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F3879-B3BE-44CD-9E21-35BDE32B7262}"/>
              </a:ext>
            </a:extLst>
          </p:cNvPr>
          <p:cNvSpPr txBox="1"/>
          <p:nvPr/>
        </p:nvSpPr>
        <p:spPr>
          <a:xfrm>
            <a:off x="332718" y="609600"/>
            <a:ext cx="60317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Frontal bossing and “scalp vein sign”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B5F464-F1DC-4270-8EAC-1137CC76C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12" y="2514600"/>
            <a:ext cx="4753556" cy="662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29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12355513" cy="9745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What does the </a:t>
            </a:r>
            <a:r>
              <a:rPr lang="en-US" alt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process lead to?</a:t>
            </a:r>
            <a:endParaRPr lang="en-US" alt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7312" y="1448286"/>
            <a:ext cx="6940549" cy="6857028"/>
          </a:xfrm>
        </p:spPr>
        <p:txBody>
          <a:bodyPr lIns="126435" tIns="72248" rIns="126435" bIns="72248" anchor="t"/>
          <a:lstStyle/>
          <a:p>
            <a:pPr marL="914400" indent="-91440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3"/>
              <a:defRPr/>
            </a:pPr>
            <a:r>
              <a:rPr lang="en-US" sz="32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Vertebral enlargement and kyphosis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b="1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Spinal cord compression or Nerve entrapment</a:t>
            </a:r>
            <a:r>
              <a:rPr lang="en-US" sz="32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: spinal stenosis, cauda equina, paralysis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  <a:defRPr/>
            </a:pPr>
            <a:r>
              <a:rPr lang="en-US" sz="32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Vertebral compression fractures</a:t>
            </a:r>
          </a:p>
          <a:p>
            <a:pPr marL="914400" indent="-91440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3"/>
              <a:defRPr/>
            </a:pPr>
            <a:r>
              <a:rPr lang="en-US" sz="3200" b="1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Bowing of long bones </a:t>
            </a:r>
            <a:r>
              <a:rPr lang="en-US" sz="32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and periarticular osteoarthritis </a:t>
            </a:r>
          </a:p>
          <a:p>
            <a:pPr marL="182563" indent="-182563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pitchFamily="-84" charset="0"/>
              <a:sym typeface="Helvetica" pitchFamily="-84" charset="0"/>
            </a:endParaRPr>
          </a:p>
          <a:p>
            <a:pPr marL="182563" indent="-182563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pitchFamily="-84" charset="0"/>
              <a:sym typeface="Helvetica" pitchFamily="-84" charset="0"/>
            </a:endParaRPr>
          </a:p>
          <a:p>
            <a:pPr marL="182563" indent="-182563" defTabSz="1300163" eaLnBrk="1">
              <a:spcBef>
                <a:spcPts val="700"/>
              </a:spcBef>
              <a:buSzTx/>
              <a:buFontTx/>
              <a:buNone/>
              <a:defRPr/>
            </a:pPr>
            <a:endParaRPr lang="en-US" sz="4500" dirty="0">
              <a:latin typeface="Helvetica" pitchFamily="-84" charset="0"/>
              <a:sym typeface="Helvetica" pitchFamily="-84" charset="0"/>
            </a:endParaRPr>
          </a:p>
        </p:txBody>
      </p:sp>
      <p:pic>
        <p:nvPicPr>
          <p:cNvPr id="3074" name="Picture 2" descr="Paget's Disease (Chronic Bone Disease) – BIG &quot;C&quot; DRUGS">
            <a:extLst>
              <a:ext uri="{FF2B5EF4-FFF2-40B4-BE49-F238E27FC236}">
                <a16:creationId xmlns:a16="http://schemas.microsoft.com/office/drawing/2014/main" id="{CCC710AB-079E-3145-98A3-62260DF2D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601" y="1475075"/>
            <a:ext cx="5644111" cy="6857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9D83BB-0CC4-D54D-97A8-B287DE4975E1}"/>
              </a:ext>
            </a:extLst>
          </p:cNvPr>
          <p:cNvSpPr txBox="1"/>
          <p:nvPr/>
        </p:nvSpPr>
        <p:spPr>
          <a:xfrm>
            <a:off x="310581" y="907991"/>
            <a:ext cx="123555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563" indent="-18256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Bony manifestations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</a:t>
            </a:r>
          </a:p>
        </p:txBody>
      </p:sp>
      <p:pic>
        <p:nvPicPr>
          <p:cNvPr id="7174" name="Picture 6" descr="Paget's Disease Of The Bone: An Overview - Elite Learning">
            <a:extLst>
              <a:ext uri="{FF2B5EF4-FFF2-40B4-BE49-F238E27FC236}">
                <a16:creationId xmlns:a16="http://schemas.microsoft.com/office/drawing/2014/main" id="{822147B1-C15C-B349-A5EE-CA9DCD81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0" y="5750194"/>
            <a:ext cx="2971800" cy="401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650081" y="217487"/>
            <a:ext cx="11704637" cy="13065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What does the </a:t>
            </a:r>
            <a:r>
              <a:rPr lang="en-US" altLang="en-US" sz="4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process lead to?</a:t>
            </a:r>
            <a:endParaRPr lang="en-US" altLang="en-US" sz="4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4643" y="1676400"/>
            <a:ext cx="12355513" cy="7097713"/>
          </a:xfrm>
        </p:spPr>
        <p:txBody>
          <a:bodyPr lIns="126435" tIns="72248" rIns="126435" bIns="72248" anchor="t"/>
          <a:lstStyle/>
          <a:p>
            <a:pPr marL="204788" indent="-204788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Other less common manifestations</a:t>
            </a:r>
            <a:r>
              <a:rPr lang="en-US" sz="48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</a:t>
            </a:r>
          </a:p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4400" b="1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Increased bleeding</a:t>
            </a:r>
            <a:r>
              <a:rPr 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: increased blood loss during orthopedic procedures due to hypervascularity.</a:t>
            </a:r>
          </a:p>
          <a:p>
            <a:pPr marL="742950" indent="-742950" defTabSz="1300163" eaLnBrk="1">
              <a:spcBef>
                <a:spcPts val="700"/>
              </a:spcBef>
              <a:buSzTx/>
              <a:buFont typeface="+mj-lt"/>
              <a:buAutoNum type="arabicPeriod"/>
              <a:defRPr/>
            </a:pPr>
            <a:endParaRPr lang="en-US" sz="4400" dirty="0">
              <a:latin typeface="Calibri" panose="020F0502020204030204" pitchFamily="34" charset="0"/>
              <a:ea typeface="Calibri" charset="0"/>
              <a:cs typeface="Calibri" panose="020F0502020204030204" pitchFamily="34" charset="0"/>
              <a:sym typeface="Helvetica" pitchFamily="-84" charset="0"/>
            </a:endParaRPr>
          </a:p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4400" b="1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Vascular steal</a:t>
            </a:r>
            <a:r>
              <a:rPr 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: blood flow to </a:t>
            </a:r>
            <a:r>
              <a:rPr lang="en-US" sz="4400" dirty="0" err="1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hypervascular</a:t>
            </a:r>
            <a:r>
              <a:rPr 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 bone may </a:t>
            </a:r>
            <a:r>
              <a:rPr lang="ja-JP" alt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“</a:t>
            </a:r>
            <a:r>
              <a:rPr lang="en-US" altLang="ja-JP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steal</a:t>
            </a:r>
            <a:r>
              <a:rPr lang="ja-JP" alt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”</a:t>
            </a:r>
            <a:r>
              <a:rPr lang="en-US" altLang="ja-JP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 the vascular supply of other tissues leading to ischemia.</a:t>
            </a:r>
          </a:p>
          <a:p>
            <a:pPr marL="742950" indent="-742950" defTabSz="1300163" eaLnBrk="1">
              <a:spcBef>
                <a:spcPts val="700"/>
              </a:spcBef>
              <a:buSzTx/>
              <a:buFont typeface="+mj-lt"/>
              <a:buAutoNum type="arabicPeriod"/>
              <a:defRPr/>
            </a:pPr>
            <a:endParaRPr lang="en-US" sz="4400" dirty="0">
              <a:latin typeface="Calibri" panose="020F0502020204030204" pitchFamily="34" charset="0"/>
              <a:ea typeface="Calibri" charset="0"/>
              <a:cs typeface="Calibri" panose="020F0502020204030204" pitchFamily="34" charset="0"/>
              <a:sym typeface="Helvetica" pitchFamily="-84" charset="0"/>
            </a:endParaRPr>
          </a:p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  <a:defRPr/>
            </a:pPr>
            <a:r>
              <a:rPr 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 </a:t>
            </a:r>
            <a:r>
              <a:rPr lang="en-US" sz="4400" b="1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CV</a:t>
            </a:r>
            <a:r>
              <a:rPr lang="en-US" sz="4400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  <a:sym typeface="Helvetica" pitchFamily="-84" charset="0"/>
              </a:rPr>
              <a:t>: high output heart failure (rare).</a:t>
            </a:r>
          </a:p>
          <a:p>
            <a:pPr marL="204788" indent="-204788" defTabSz="1300163" eaLnBrk="1">
              <a:lnSpc>
                <a:spcPct val="90000"/>
              </a:lnSpc>
              <a:spcBef>
                <a:spcPts val="700"/>
              </a:spcBef>
              <a:buSzTx/>
              <a:buFontTx/>
              <a:buNone/>
              <a:defRPr/>
            </a:pPr>
            <a:endParaRPr lang="en-US" dirty="0">
              <a:latin typeface="Helvetica" pitchFamily="-84" charset="0"/>
              <a:sym typeface="Helvetica" pitchFamily="-84" charset="0"/>
            </a:endParaRPr>
          </a:p>
          <a:p>
            <a:pPr marL="204788" indent="-204788" defTabSz="1300163" eaLnBrk="1">
              <a:lnSpc>
                <a:spcPct val="90000"/>
              </a:lnSpc>
              <a:spcBef>
                <a:spcPts val="700"/>
              </a:spcBef>
              <a:buSzTx/>
              <a:buFontTx/>
              <a:buNone/>
              <a:defRPr/>
            </a:pPr>
            <a:endParaRPr lang="en-US" dirty="0">
              <a:latin typeface="Helvetica" pitchFamily="-84" charset="0"/>
              <a:sym typeface="Helvetica" pitchFamily="-84" charset="0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Grp="1" noChangeArrowheads="1"/>
          </p:cNvSpPr>
          <p:nvPr>
            <p:ph type="title"/>
          </p:nvPr>
        </p:nvSpPr>
        <p:spPr>
          <a:xfrm>
            <a:off x="254000" y="0"/>
            <a:ext cx="12420600" cy="14478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100" dirty="0">
                <a:latin typeface="Helvetica" pitchFamily="-84" charset="0"/>
                <a:sym typeface="Helvetica" pitchFamily="-84" charset="0"/>
              </a:rPr>
              <a:t>Complications of Paget</a:t>
            </a:r>
            <a:r>
              <a:rPr lang="ja-JP" altLang="en-US" sz="6100" dirty="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100" dirty="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 dirty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1"/>
            <a:ext cx="12355513" cy="2438400"/>
          </a:xfrm>
        </p:spPr>
        <p:txBody>
          <a:bodyPr lIns="126435" tIns="72248" rIns="126435" bIns="72248" anchor="t"/>
          <a:lstStyle/>
          <a:p>
            <a:pPr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most feared complication is malignant transformation of the </a:t>
            </a:r>
            <a:r>
              <a:rPr lang="en-US" altLang="en-US" sz="4500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bone into </a:t>
            </a:r>
            <a:r>
              <a:rPr lang="en-US" altLang="en-US" sz="45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osteosarcoma</a:t>
            </a:r>
            <a:r>
              <a:rPr lang="en-US" altLang="en-US" sz="45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, which is rapidly fatal.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E5184-5335-A169-C75A-22DC12F0E922}"/>
              </a:ext>
            </a:extLst>
          </p:cNvPr>
          <p:cNvSpPr txBox="1"/>
          <p:nvPr/>
        </p:nvSpPr>
        <p:spPr>
          <a:xfrm>
            <a:off x="254000" y="4038601"/>
            <a:ext cx="11201400" cy="4244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defTabSz="1300163" eaLnBrk="1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Fortunately, malignant transformation in Paget’s disease is quite rare, occurring in 0.2-1% of patients.  </a:t>
            </a:r>
          </a:p>
          <a:p>
            <a:pPr marL="571500" indent="-571500" defTabSz="1300163" eaLnBrk="1">
              <a:spcBef>
                <a:spcPts val="7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It is marked by increasing bone pain or alkaline phosphatase levels, mass development, or pathologic fracture.</a:t>
            </a:r>
            <a:endParaRPr lang="en-US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152400"/>
            <a:ext cx="11704637" cy="12954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100">
                <a:latin typeface="Helvetica" pitchFamily="-84" charset="0"/>
                <a:sym typeface="Helvetica" pitchFamily="-84" charset="0"/>
              </a:rPr>
              <a:t>Lab Abnormalities of Paget</a:t>
            </a:r>
            <a:r>
              <a:rPr lang="ja-JP" altLang="en-US" sz="61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10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031" y="1905000"/>
            <a:ext cx="12503150" cy="7446963"/>
          </a:xfrm>
        </p:spPr>
        <p:txBody>
          <a:bodyPr lIns="126435" tIns="72248" rIns="126435" bIns="72248" anchor="t"/>
          <a:lstStyle/>
          <a:p>
            <a:pPr marL="487363" indent="-487363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4500" b="1" i="1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Serum calcium and phosphorus levels are </a:t>
            </a:r>
            <a:r>
              <a:rPr lang="en-US" sz="4500" b="1" i="1" u="sng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normal</a:t>
            </a:r>
            <a:r>
              <a:rPr lang="en-US" sz="4500" b="1" i="1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 in the untreated patient </a:t>
            </a:r>
            <a:r>
              <a:rPr lang="en-US" sz="45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with Paget’s disease.</a:t>
            </a:r>
          </a:p>
          <a:p>
            <a:pPr marL="381000" lvl="1" indent="0" defTabSz="1300163" eaLnBrk="1">
              <a:spcBef>
                <a:spcPts val="700"/>
              </a:spcBef>
              <a:buClr>
                <a:srgbClr val="000000"/>
              </a:buClr>
              <a:buNone/>
              <a:defRPr/>
            </a:pPr>
            <a:endParaRPr lang="en-US" sz="4500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  <a:sym typeface="Helvetica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r>
              <a:rPr lang="en-US" sz="45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Lab abnormalities include </a:t>
            </a:r>
            <a:r>
              <a:rPr lang="en-US" sz="4500" b="1" i="1" dirty="0">
                <a:solidFill>
                  <a:srgbClr val="C00000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elevated serum alkaline phosphatase</a:t>
            </a:r>
            <a:r>
              <a:rPr lang="en-US" sz="4500" b="1" i="1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 </a:t>
            </a:r>
            <a:r>
              <a:rPr lang="en-US" sz="4500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(found on LFTs) </a:t>
            </a:r>
            <a:r>
              <a:rPr lang="en-US" sz="4500" b="1" i="1" dirty="0"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  <a:sym typeface="Helvetica" charset="0"/>
              </a:rPr>
              <a:t>and elevated uric acid from bone turnover.  </a:t>
            </a: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  <a:defRPr/>
            </a:pPr>
            <a:endParaRPr lang="en-US" sz="4500" b="1" i="1" dirty="0"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  <a:sym typeface="Helvetica" charset="0"/>
            </a:endParaRP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FontTx/>
              <a:buNone/>
              <a:defRPr/>
            </a:pPr>
            <a:endParaRPr lang="en-US" dirty="0">
              <a:ea typeface="ＭＳ Ｐゴシック" charset="0"/>
              <a:sym typeface="Helvetica Light" charset="0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3E4BE3-055A-417C-BFF2-EE1577DC7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0" y="2819400"/>
            <a:ext cx="7854604" cy="67712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C5927B-4403-4FF2-8ADD-E8CA15291549}"/>
              </a:ext>
            </a:extLst>
          </p:cNvPr>
          <p:cNvSpPr txBox="1"/>
          <p:nvPr/>
        </p:nvSpPr>
        <p:spPr>
          <a:xfrm>
            <a:off x="487528" y="2590800"/>
            <a:ext cx="438912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X-ray Findings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304810" indent="-30481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Thickened cortices outlining the vertebral body (“picture frame appearance”) (red)</a:t>
            </a:r>
          </a:p>
          <a:p>
            <a:pPr marL="304810" indent="-304810">
              <a:buFont typeface="Arial" panose="020B0604020202020204" pitchFamily="34" charset="0"/>
              <a:buChar char="•"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10" indent="-30481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Vertebral body larger than the others (white)</a:t>
            </a:r>
          </a:p>
          <a:p>
            <a:pPr marL="304810" indent="-304810">
              <a:buFont typeface="Arial" panose="020B0604020202020204" pitchFamily="34" charset="0"/>
              <a:buChar char="•"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04810" indent="-304810"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Trabecular markings thickened and coarse (yellow)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75486A-C31E-A6A0-ED09-DC0255A9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54000"/>
            <a:ext cx="12039600" cy="1552565"/>
          </a:xfrm>
        </p:spPr>
        <p:txBody>
          <a:bodyPr/>
          <a:lstStyle/>
          <a:p>
            <a:r>
              <a:rPr lang="en-US" altLang="en-US" sz="70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Radiologic Diagnosis of Paget</a:t>
            </a:r>
            <a:r>
              <a:rPr lang="ja-JP" altLang="en-US" sz="700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70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</a:t>
            </a:r>
            <a:endParaRPr lang="en-US" sz="7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6ECA5-F0A4-8005-3EC5-073E0868878F}"/>
              </a:ext>
            </a:extLst>
          </p:cNvPr>
          <p:cNvSpPr txBox="1"/>
          <p:nvPr/>
        </p:nvSpPr>
        <p:spPr>
          <a:xfrm>
            <a:off x="440439" y="1722123"/>
            <a:ext cx="122832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Additional characteristic signs seen on x-rays: Cotton wool, ivory vertebra </a:t>
            </a:r>
          </a:p>
        </p:txBody>
      </p:sp>
    </p:spTree>
    <p:extLst>
      <p:ext uri="{BB962C8B-B14F-4D97-AF65-F5344CB8AC3E}">
        <p14:creationId xmlns:p14="http://schemas.microsoft.com/office/powerpoint/2010/main" val="2937357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" descr="image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3" t="4361" r="414" b="455"/>
          <a:stretch/>
        </p:blipFill>
        <p:spPr bwMode="auto">
          <a:xfrm>
            <a:off x="452221" y="350520"/>
            <a:ext cx="12479648" cy="864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1"/>
            <a:ext cx="11704637" cy="8382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Helvetica" pitchFamily="-84" charset="0"/>
                <a:sym typeface="Helvetica" pitchFamily="-84" charset="0"/>
              </a:rPr>
              <a:t>Radiologic Diagnosis of Paget</a:t>
            </a:r>
            <a:r>
              <a:rPr lang="ja-JP" altLang="en-US" sz="6200" dirty="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 dirty="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 dirty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54600" y="1066800"/>
            <a:ext cx="7696200" cy="7900293"/>
          </a:xfrm>
        </p:spPr>
        <p:txBody>
          <a:bodyPr lIns="126435" tIns="72248" rIns="126435" bIns="72248" anchor="t"/>
          <a:lstStyle/>
          <a:p>
            <a:pPr defTabSz="1300163" eaLnBrk="1">
              <a:spcBef>
                <a:spcPts val="700"/>
              </a:spcBef>
              <a:buClr>
                <a:srgbClr val="000000"/>
              </a:buClr>
              <a:buSzPct val="80000"/>
            </a:pPr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X-rays often initial tests as incidental or due to pain. Results: lytic lesions with blade of grass or candle flame sign, mixed lytic and sclerotic lesions, incomplete or complete fractures, ivory appearance of spine, cotton wool</a:t>
            </a:r>
          </a:p>
          <a:p>
            <a:pPr defTabSz="1300163" eaLnBrk="1">
              <a:spcBef>
                <a:spcPts val="0"/>
              </a:spcBef>
              <a:buClr>
                <a:srgbClr val="000000"/>
              </a:buClr>
              <a:buSzPct val="80000"/>
            </a:pPr>
            <a:endParaRPr lang="en-US" altLang="en-US" sz="3200" i="1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defTabSz="1300163" eaLnBrk="1">
              <a:spcBef>
                <a:spcPts val="700"/>
              </a:spcBef>
              <a:buClr>
                <a:srgbClr val="000000"/>
              </a:buClr>
              <a:buSzPct val="80000"/>
            </a:pPr>
            <a:r>
              <a:rPr lang="en-US" altLang="en-US" sz="3200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X-rays also confirm “</a:t>
            </a:r>
            <a:r>
              <a:rPr lang="en-US" altLang="ja-JP" sz="3200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hot” spots seen on bone scan.</a:t>
            </a:r>
            <a:endParaRPr lang="en-US" altLang="en-US" sz="3200" i="1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defTabSz="1300163" eaLnBrk="1">
              <a:spcBef>
                <a:spcPts val="0"/>
              </a:spcBef>
              <a:buClr>
                <a:srgbClr val="000000"/>
              </a:buClr>
              <a:buSzPct val="80000"/>
            </a:pPr>
            <a:endParaRPr lang="en-US" altLang="en-US" sz="3200" b="1" i="1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defTabSz="1300163" eaLnBrk="1">
              <a:spcBef>
                <a:spcPts val="700"/>
              </a:spcBef>
              <a:buClr>
                <a:srgbClr val="000000"/>
              </a:buClr>
              <a:buSzPct val="80000"/>
            </a:pPr>
            <a:r>
              <a:rPr lang="en-US" altLang="en-US" sz="32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Bone scan is more sensitive and assess the extent of the disease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but is not specific. </a:t>
            </a:r>
          </a:p>
          <a:p>
            <a:pPr marL="292100" indent="-292100" defTabSz="1300163" eaLnBrk="1">
              <a:spcBef>
                <a:spcPts val="0"/>
              </a:spcBef>
              <a:buSzTx/>
              <a:buFontTx/>
              <a:buNone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CT or MRI are used for diagnosis of malignant transformation, or to evaluate complications, such as nerve entrapment. </a:t>
            </a: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62D1D0-7751-7706-F940-AADBB6EAE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5178"/>
            <a:ext cx="4693227" cy="6558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BEDA5D-E1CA-D6F1-50AB-B65D2D2F3D79}"/>
              </a:ext>
            </a:extLst>
          </p:cNvPr>
          <p:cNvSpPr txBox="1"/>
          <p:nvPr/>
        </p:nvSpPr>
        <p:spPr>
          <a:xfrm>
            <a:off x="254000" y="7772400"/>
            <a:ext cx="5181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Polyostotic Paget’s disease involving the skull, left scapula, thoracic vertebrae (T7, T9, T11), left femur, right calcaneus. </a:t>
            </a:r>
          </a:p>
        </p:txBody>
      </p:sp>
    </p:spTree>
    <p:extLst>
      <p:ext uri="{BB962C8B-B14F-4D97-AF65-F5344CB8AC3E}">
        <p14:creationId xmlns:p14="http://schemas.microsoft.com/office/powerpoint/2010/main" val="61018478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How do you Make the Diagnosis?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3657600"/>
            <a:ext cx="12355513" cy="5943600"/>
          </a:xfrm>
        </p:spPr>
        <p:txBody>
          <a:bodyPr lIns="126435" tIns="72248" rIns="126435" bIns="72248" anchor="t"/>
          <a:lstStyle/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Combination of clinical or laboratory findings suggestive of disease 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the demonstration of characteristic radiographic changes at one or more affected skeletal sites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ja-JP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9B8B-4A84-65D9-3B1C-98A84D887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>
            <a:extLst>
              <a:ext uri="{FF2B5EF4-FFF2-40B4-BE49-F238E27FC236}">
                <a16:creationId xmlns:a16="http://schemas.microsoft.com/office/drawing/2014/main" id="{61F80C2E-1607-27CD-5B67-75BC45B3E0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Treatment of 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7A83B7DE-A46D-778A-BE3E-C69E54F8B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12355513" cy="8001000"/>
          </a:xfrm>
        </p:spPr>
        <p:txBody>
          <a:bodyPr lIns="126435" tIns="72248" rIns="126435" bIns="72248" anchor="t"/>
          <a:lstStyle/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Pharmacologic treatment is indicated in </a:t>
            </a: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all patients with Paget</a:t>
            </a:r>
            <a:r>
              <a:rPr lang="ja-JP" altLang="en-US" sz="36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’</a:t>
            </a:r>
            <a:r>
              <a:rPr lang="en-US" altLang="ja-JP" sz="36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who have symptomatic disease and in asymptomatic patients with Paget’s who have a high risk of complications.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Young patients with Paget’s disease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Skull or vertebral involvement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Paget’s around a joint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Paget’s of a weight bearing bone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Planned surgery at an active </a:t>
            </a:r>
            <a:r>
              <a:rPr lang="en-US" altLang="ja-JP" sz="3600" dirty="0" err="1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site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Patients with high levels of alkaline phosphatase</a:t>
            </a:r>
          </a:p>
          <a:p>
            <a:pPr marL="1060450" lvl="2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ja-JP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Treatment begins with the usual modalities for bone/joint disease: OTC pain relievers, heat/ice and physical therapy</a:t>
            </a:r>
            <a:r>
              <a:rPr lang="en-US" altLang="ja-JP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18282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Treatment of 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</a:t>
            </a:r>
            <a:endParaRPr lang="en-US" alt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600200"/>
            <a:ext cx="12355513" cy="7827963"/>
          </a:xfrm>
        </p:spPr>
        <p:txBody>
          <a:bodyPr lIns="126435" tIns="72248" rIns="126435" bIns="72248" anchor="t"/>
          <a:lstStyle/>
          <a:p>
            <a:pPr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treatment of choice for Paget’</a:t>
            </a:r>
            <a:r>
              <a:rPr lang="en-US" altLang="ja-JP" sz="36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 is Bisphosphonates </a:t>
            </a: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due to its antiresorptive properties.</a:t>
            </a:r>
          </a:p>
          <a:p>
            <a:pPr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Among bisphosphonates </a:t>
            </a:r>
            <a:r>
              <a:rPr lang="en-US" altLang="ja-JP" sz="3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Zoledronic Acid (</a:t>
            </a:r>
            <a:r>
              <a:rPr lang="en-US" altLang="ja-JP" sz="3600" b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Reclast</a:t>
            </a:r>
            <a:r>
              <a:rPr lang="en-US" altLang="ja-JP" sz="36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) </a:t>
            </a:r>
            <a:r>
              <a:rPr lang="en-US" altLang="ja-JP" sz="36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is first line</a:t>
            </a: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 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ja-JP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5mg single dose </a:t>
            </a:r>
            <a:r>
              <a:rPr lang="en-US" altLang="ja-JP" sz="36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IV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96% remission rate after a dose</a:t>
            </a:r>
          </a:p>
          <a:p>
            <a:pPr lvl="1"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Remission last 5-10 years  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ja-JP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The following oral bisphosphonate drugs all have an indication for Paget’s treatment: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Risedronate (Actonel) PO 30mg once daily for 2 months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SzPct val="80000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Alendronate (Fosamax) PO 40mg once daily for 6 months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ja-JP" sz="30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05271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828800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Helvetica" pitchFamily="-84" charset="0"/>
                <a:sym typeface="Helvetica" pitchFamily="-84" charset="0"/>
              </a:rPr>
              <a:t>Bisphosphonates</a:t>
            </a:r>
            <a:endParaRPr lang="en-US" altLang="en-US" dirty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828800"/>
            <a:ext cx="12355513" cy="7599364"/>
          </a:xfrm>
        </p:spPr>
        <p:txBody>
          <a:bodyPr lIns="126435" tIns="72248" rIns="126435" bIns="72248" anchor="t"/>
          <a:lstStyle/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MOA</a:t>
            </a: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bisphosphonates inhibit osteoclast activity </a:t>
            </a: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by attaching to hydroxyapatite binding sites on bony surfaces, especially surfaces which are undergoing active resorption.</a:t>
            </a:r>
          </a:p>
          <a:p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“First dose effect” </a:t>
            </a: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– patients receiving bisphosphonates will frequently experience a paradoxical </a:t>
            </a:r>
            <a:r>
              <a:rPr lang="en-US" sz="4500" b="1" dirty="0">
                <a:latin typeface="Calibri" panose="020F0502020204030204" pitchFamily="34" charset="0"/>
                <a:cs typeface="Calibri" panose="020F0502020204030204" pitchFamily="34" charset="0"/>
              </a:rPr>
              <a:t>increase in pain </a:t>
            </a:r>
            <a:r>
              <a:rPr lang="en-US" sz="4500" dirty="0">
                <a:latin typeface="Calibri" panose="020F0502020204030204" pitchFamily="34" charset="0"/>
                <a:cs typeface="Calibri" panose="020F0502020204030204" pitchFamily="34" charset="0"/>
              </a:rPr>
              <a:t>at sites of active disease soon after commencing therapy.</a:t>
            </a: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400" dirty="0">
              <a:latin typeface="Helvetica" pitchFamily="-84" charset="0"/>
              <a:sym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44824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 dirty="0">
                <a:latin typeface="Helvetica" pitchFamily="-84" charset="0"/>
                <a:sym typeface="Helvetica" pitchFamily="-84" charset="0"/>
              </a:rPr>
              <a:t>Bisphosphonates</a:t>
            </a:r>
            <a:endParaRPr lang="en-US" altLang="en-US" dirty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49" y="1408113"/>
            <a:ext cx="12355513" cy="7599364"/>
          </a:xfrm>
        </p:spPr>
        <p:txBody>
          <a:bodyPr lIns="126435" tIns="72248" rIns="126435" bIns="72248" anchor="t"/>
          <a:lstStyle/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SzPct val="80000"/>
              <a:buNone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r>
              <a:rPr lang="en-US" altLang="en-US" sz="36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Oral bisphosphonates </a:t>
            </a: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are poorly absorbed, from the GI tract so they should NOT be taken concurrently with any food, drink or medications/supplements.</a:t>
            </a:r>
          </a:p>
          <a:p>
            <a:pPr marL="679450" lvl="1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Should be taken first thing in the morning 30-60min prior</a:t>
            </a:r>
          </a:p>
          <a:p>
            <a:pPr marL="679450" lvl="1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All need to be taken with a full 8oz of water and the patient must sit or stand upright for 30-60 minutes after taking due to the risk of esophageal ulceration.</a:t>
            </a:r>
          </a:p>
          <a:p>
            <a:pPr marL="679450" lvl="1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SzPct val="80000"/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All Bisphosphonates are not recommended with kidney disease, GFR less than 30-35ml/min.</a:t>
            </a:r>
          </a:p>
          <a:p>
            <a:pPr marL="0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8450" indent="-29845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sz="4400" dirty="0">
              <a:latin typeface="Helvetica" pitchFamily="-84" charset="0"/>
              <a:sym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53536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12355513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800" dirty="0">
                <a:latin typeface="Helvetica" pitchFamily="-84" charset="0"/>
                <a:sym typeface="Helvetica" pitchFamily="-84" charset="0"/>
              </a:rPr>
              <a:t>Adverse Effects of Bisphosphonates</a:t>
            </a:r>
            <a:endParaRPr lang="en-US" altLang="en-US" sz="5800" dirty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219200"/>
            <a:ext cx="12355513" cy="8208963"/>
          </a:xfrm>
        </p:spPr>
        <p:txBody>
          <a:bodyPr lIns="126435" tIns="72248" rIns="126435" bIns="72248" anchor="t"/>
          <a:lstStyle/>
          <a:p>
            <a:pPr marL="742950" lvl="1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Flu-like symptoms-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fever, chills, myalgias, arthralgias with initiation of bisphosphonates</a:t>
            </a:r>
          </a:p>
          <a:p>
            <a:pPr marL="1123950" lvl="2" indent="-742950"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Self-limited after a few days and can be treated with </a:t>
            </a:r>
            <a:r>
              <a:rPr lang="en-US" altLang="en-US" sz="3200" u="sng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acetaminophen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 or NSAIDs. </a:t>
            </a:r>
          </a:p>
          <a:p>
            <a:pPr marL="381000" lvl="2" indent="0" defTabSz="1300163" eaLnBrk="1">
              <a:spcBef>
                <a:spcPts val="0"/>
              </a:spcBef>
              <a:buClr>
                <a:srgbClr val="000000"/>
              </a:buClr>
              <a:buNone/>
            </a:pP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742950" lvl="1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Hypocalcemia: </a:t>
            </a:r>
            <a:r>
              <a:rPr lang="en-US" altLang="en-US" sz="3200" dirty="0"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  <a:sym typeface="Helvetica" pitchFamily="-84" charset="0"/>
              </a:rPr>
              <a:t>supplement with calcium (1200 mg/day) and vitamin D (400 IU/day), but not at the exact same time as the bisphosphonate.</a:t>
            </a:r>
          </a:p>
          <a:p>
            <a:pPr marL="1123950" lvl="2" indent="-742950" defTabSz="1300163" eaLnBrk="1">
              <a:spcBef>
                <a:spcPts val="700"/>
              </a:spcBef>
              <a:buClr>
                <a:srgbClr val="000000"/>
              </a:buClr>
            </a:pPr>
            <a:r>
              <a:rPr lang="en-US" altLang="en-US" sz="3200" dirty="0"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  <a:sym typeface="Helvetica" pitchFamily="-84" charset="0"/>
              </a:rPr>
              <a:t>Can be exaggerated by patients taking _</a:t>
            </a:r>
            <a:r>
              <a:rPr lang="en-US" altLang="en-US" sz="3200" u="sng" dirty="0"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  <a:sym typeface="Helvetica" pitchFamily="-84" charset="0"/>
              </a:rPr>
              <a:t>loop</a:t>
            </a:r>
            <a:r>
              <a:rPr lang="en-US" altLang="en-US" sz="3200" dirty="0">
                <a:latin typeface="Calibri" panose="020F0502020204030204" pitchFamily="34" charset="0"/>
                <a:ea typeface="MS PGothic" pitchFamily="34" charset="-128"/>
                <a:cs typeface="Calibri" panose="020F0502020204030204" pitchFamily="34" charset="0"/>
                <a:sym typeface="Helvetica" pitchFamily="-84" charset="0"/>
              </a:rPr>
              <a:t>_ diuretics</a:t>
            </a:r>
          </a:p>
          <a:p>
            <a:pPr marL="381000" lvl="2" indent="0" defTabSz="1300163" eaLnBrk="1">
              <a:spcBef>
                <a:spcPts val="0"/>
              </a:spcBef>
              <a:buClr>
                <a:srgbClr val="000000"/>
              </a:buClr>
              <a:buNone/>
            </a:pPr>
            <a:endParaRPr lang="en-US" altLang="en-US" sz="3200" dirty="0">
              <a:latin typeface="Calibri" panose="020F0502020204030204" pitchFamily="34" charset="0"/>
              <a:ea typeface="MS PGothic" pitchFamily="34" charset="-128"/>
              <a:cs typeface="Calibri" panose="020F0502020204030204" pitchFamily="34" charset="0"/>
              <a:sym typeface="Helvetica" pitchFamily="-84" charset="0"/>
            </a:endParaRPr>
          </a:p>
          <a:p>
            <a:pPr marL="742950" lvl="1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/>
            </a:pP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Urticaria/ angioedema</a:t>
            </a:r>
          </a:p>
          <a:p>
            <a:pPr marL="0" lvl="1" indent="0" defTabSz="1300163" eaLnBrk="1">
              <a:spcBef>
                <a:spcPts val="0"/>
              </a:spcBef>
              <a:buClr>
                <a:srgbClr val="000000"/>
              </a:buClr>
              <a:buNone/>
            </a:pPr>
            <a:endParaRPr lang="en-US" altLang="en-US" sz="3200" b="1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742950" lvl="1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4"/>
            </a:pPr>
            <a:r>
              <a:rPr lang="en-US" alt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Esophageal ulceration/stricture: </a:t>
            </a: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these drugs can be very damaging to the esophageal mucosa if not passed fully into the stomach. Relatively contraindicated in patients with 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achalasia, esophageal stricture, esophagitis, hiatal hernia, dysphagia </a:t>
            </a:r>
          </a:p>
          <a:p>
            <a:pPr marL="0" lvl="1" indent="0" defTabSz="1300163" eaLnBrk="1">
              <a:spcBef>
                <a:spcPts val="700"/>
              </a:spcBef>
              <a:buClr>
                <a:srgbClr val="000000"/>
              </a:buClr>
              <a:buNone/>
            </a:pPr>
            <a:endParaRPr lang="en-US" altLang="en-US" sz="4400" b="1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79375" indent="-79375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4400" dirty="0">
              <a:latin typeface="Helvetica" pitchFamily="-84" charset="0"/>
              <a:sym typeface="Helvetica" pitchFamily="-84" charset="0"/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12355513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5800" dirty="0">
                <a:latin typeface="Helvetica" pitchFamily="-84" charset="0"/>
                <a:sym typeface="Helvetica" pitchFamily="-84" charset="0"/>
              </a:rPr>
              <a:t>Adverse Effects of Bisphosphonates</a:t>
            </a:r>
            <a:endParaRPr lang="en-US" altLang="en-US" sz="5800" dirty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49" y="3770429"/>
            <a:ext cx="12355513" cy="3035299"/>
          </a:xfrm>
        </p:spPr>
        <p:txBody>
          <a:bodyPr lIns="126435" tIns="72248" rIns="126435" bIns="72248" anchor="t"/>
          <a:lstStyle/>
          <a:p>
            <a:pPr marL="742950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6"/>
            </a:pPr>
            <a:r>
              <a:rPr lang="en-US" alt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Osteonecrosis of the jaw</a:t>
            </a: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: higher risk with tooth extraction, dental surgery or trauma, CA of the mandible, chronic steroid use, CTX, poor oral hygiene. </a:t>
            </a:r>
          </a:p>
          <a:p>
            <a:pPr marL="79375" indent="-79375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4400" dirty="0">
              <a:latin typeface="Helvetica" pitchFamily="-84" charset="0"/>
              <a:sym typeface="Helvetica" pitchFamily="-84" charset="0"/>
            </a:endParaRPr>
          </a:p>
        </p:txBody>
      </p:sp>
      <p:pic>
        <p:nvPicPr>
          <p:cNvPr id="5122" name="Picture 2" descr="Bisphosphonate-related Osteonecrosis of the Jaw: A Pictorial Review |  RadioGraphics">
            <a:extLst>
              <a:ext uri="{FF2B5EF4-FFF2-40B4-BE49-F238E27FC236}">
                <a16:creationId xmlns:a16="http://schemas.microsoft.com/office/drawing/2014/main" id="{0B5151B8-43B1-194A-96F0-3CB7D80F5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385" y="4953000"/>
            <a:ext cx="6846469" cy="462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1D3CC3-7B3A-5344-8E3E-C316390A72B1}"/>
              </a:ext>
            </a:extLst>
          </p:cNvPr>
          <p:cNvSpPr txBox="1"/>
          <p:nvPr/>
        </p:nvSpPr>
        <p:spPr>
          <a:xfrm>
            <a:off x="1168400" y="5288078"/>
            <a:ext cx="42097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R</a:t>
            </a: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esults in exposure of the bone, death of the bone and loss of teeth.</a:t>
            </a:r>
            <a:endParaRPr lang="en-US" altLang="en-US" sz="32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0D8F7-6819-16AD-1F86-744D5108307F}"/>
              </a:ext>
            </a:extLst>
          </p:cNvPr>
          <p:cNvSpPr txBox="1"/>
          <p:nvPr/>
        </p:nvSpPr>
        <p:spPr>
          <a:xfrm>
            <a:off x="324229" y="1983324"/>
            <a:ext cx="123555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742950" defTabSz="1300163" eaLnBrk="1">
              <a:spcBef>
                <a:spcPts val="700"/>
              </a:spcBef>
              <a:buClr>
                <a:srgbClr val="000000"/>
              </a:buClr>
              <a:buFont typeface="+mj-lt"/>
              <a:buAutoNum type="arabicPeriod" startAt="5"/>
            </a:pP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MSK Pain- syndrome that can occur days, months or years after starting a bisphosphonate. Pain may not completely resolve after discontinuation</a:t>
            </a:r>
          </a:p>
        </p:txBody>
      </p:sp>
    </p:spTree>
    <p:extLst>
      <p:ext uri="{BB962C8B-B14F-4D97-AF65-F5344CB8AC3E}">
        <p14:creationId xmlns:p14="http://schemas.microsoft.com/office/powerpoint/2010/main" val="777448185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A00A7-F925-7E0A-B93E-803626F3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00" y="254000"/>
            <a:ext cx="10464800" cy="812800"/>
          </a:xfrm>
        </p:spPr>
        <p:txBody>
          <a:bodyPr/>
          <a:lstStyle/>
          <a:p>
            <a:r>
              <a:rPr lang="en-US" dirty="0"/>
              <a:t>Calcitonin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C660-CFD5-C8B3-0F09-9FE21FEE7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47800"/>
            <a:ext cx="12268199" cy="5715000"/>
          </a:xfrm>
        </p:spPr>
        <p:txBody>
          <a:bodyPr anchor="t"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Salmon Calcitonin is a second line agent in those who can’t tolerate bisphosphonates due to side effects or contraindications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has antiresorptive properties but not as potent as bisphosphonates and does not produce a sustained remission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Subcutaneous administration at bedtime every 1-3 days indefinitely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 effects: nausea, vomiting, or flushing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889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71600"/>
          </a:xfrm>
        </p:spPr>
        <p:txBody>
          <a:bodyPr/>
          <a:lstStyle/>
          <a:p>
            <a:pPr eaLnBrk="1"/>
            <a:r>
              <a:rPr lang="en-US" altLang="en-US" sz="6000" dirty="0">
                <a:latin typeface="Arial" charset="0"/>
                <a:ea typeface="Arial" charset="0"/>
                <a:cs typeface="Arial" charset="0"/>
              </a:rPr>
              <a:t>Goals of Therapy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4000" y="1828800"/>
            <a:ext cx="12573000" cy="7620000"/>
          </a:xfrm>
        </p:spPr>
        <p:txBody>
          <a:bodyPr anchor="t"/>
          <a:lstStyle/>
          <a:p>
            <a:pPr eaLnBrk="1">
              <a:buSzPct val="80000"/>
            </a:pP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If planned surgery at </a:t>
            </a:r>
            <a:r>
              <a:rPr lang="en-US" altLang="en-US" sz="3200" dirty="0" err="1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pagetic</a:t>
            </a: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 site, bisphosphonate therapy should be instituted 3mth prior in hopes of reducing blood loss</a:t>
            </a:r>
          </a:p>
          <a:p>
            <a:pPr eaLnBrk="1">
              <a:buSzPct val="80000"/>
            </a:pP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Success of bisphosphonate treatment is measured in the </a:t>
            </a:r>
            <a:r>
              <a:rPr lang="en-US" altLang="en-US" sz="3200" b="1" i="1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normalization of alkaline phosphatase levels</a:t>
            </a: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 within a short time and improvement of symptoms.</a:t>
            </a:r>
          </a:p>
          <a:p>
            <a:pPr marL="450850" indent="-450850" eaLnBrk="1">
              <a:buSzPct val="80000"/>
            </a:pPr>
            <a:r>
              <a:rPr lang="en-US" altLang="en-US" sz="3200" b="1" i="1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Initially remission is assessed using alkaline phosphatase levels </a:t>
            </a: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every 3-6 months, and once normalized can be checked every 6-12 months.</a:t>
            </a:r>
          </a:p>
          <a:p>
            <a:pPr marL="450850" indent="-450850" eaLnBrk="1">
              <a:buSzPct val="80000"/>
            </a:pPr>
            <a:r>
              <a:rPr lang="en-US" altLang="en-US" sz="3200" dirty="0">
                <a:latin typeface="Calibri" panose="020F0502020204030204" pitchFamily="34" charset="0"/>
                <a:ea typeface="Arial" charset="0"/>
                <a:cs typeface="Calibri" panose="020F0502020204030204" pitchFamily="34" charset="0"/>
                <a:sym typeface="Helvetica" pitchFamily="-84" charset="0"/>
              </a:rPr>
              <a:t>If alkaline phosphatase levels are normal at baseline, a follow-up bone scan can be obtained in 6 months to assess disease activity.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649288" y="0"/>
            <a:ext cx="11704637" cy="1408113"/>
          </a:xfrm>
        </p:spPr>
        <p:txBody>
          <a:bodyPr lIns="126435" tIns="72248" rIns="126435" bIns="72248"/>
          <a:lstStyle/>
          <a:p>
            <a:pPr defTabSz="1300163" eaLnBrk="1"/>
            <a:r>
              <a:rPr lang="en-US" altLang="en-US" sz="6200">
                <a:latin typeface="Helvetica" pitchFamily="-84" charset="0"/>
                <a:sym typeface="Helvetica" pitchFamily="-84" charset="0"/>
              </a:rPr>
              <a:t>Prognosis of Paget</a:t>
            </a:r>
            <a:r>
              <a:rPr lang="ja-JP" altLang="en-US" sz="6200">
                <a:latin typeface="Helvetica" pitchFamily="-84" charset="0"/>
                <a:sym typeface="Helvetica" pitchFamily="-84" charset="0"/>
              </a:rPr>
              <a:t>’</a:t>
            </a:r>
            <a:r>
              <a:rPr lang="en-US" altLang="ja-JP" sz="6200">
                <a:latin typeface="Helvetica" pitchFamily="-84" charset="0"/>
                <a:sym typeface="Helvetica" pitchFamily="-84" charset="0"/>
              </a:rPr>
              <a:t>s Disease</a:t>
            </a:r>
            <a:endParaRPr lang="en-US" alt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3850" y="1841500"/>
            <a:ext cx="12355513" cy="7586663"/>
          </a:xfrm>
        </p:spPr>
        <p:txBody>
          <a:bodyPr lIns="126435" tIns="72248" rIns="126435" bIns="72248" anchor="t"/>
          <a:lstStyle/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Prognosis is generally favorable</a:t>
            </a:r>
          </a:p>
          <a:p>
            <a:pPr marL="673100" lvl="1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By 6.5 years after initial therapy, the recurrence rate is 12.5% after treatment with zoledronic acid and 62% after risedronate</a:t>
            </a:r>
          </a:p>
          <a:p>
            <a:pPr marL="292100" indent="-292100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Patients who </a:t>
            </a: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develop the disease at a younger age have the poorest prognosis</a:t>
            </a: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.</a:t>
            </a:r>
          </a:p>
          <a:p>
            <a:pPr marL="292100" indent="-292100" defTabSz="1300163" eaLnBrk="1">
              <a:spcBef>
                <a:spcPts val="700"/>
              </a:spcBef>
              <a:buSzTx/>
              <a:buFontTx/>
              <a:buNone/>
            </a:pPr>
            <a:endParaRPr lang="en-US" altLang="en-US" sz="3600" dirty="0">
              <a:latin typeface="Calibri" panose="020F0502020204030204" pitchFamily="34" charset="0"/>
              <a:cs typeface="Calibri" panose="020F0502020204030204" pitchFamily="34" charset="0"/>
              <a:sym typeface="Helvetica" pitchFamily="-84" charset="0"/>
            </a:endParaRP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r>
              <a:rPr lang="en-US" altLang="en-US" sz="3600" dirty="0">
                <a:latin typeface="Calibri" panose="020F0502020204030204" pitchFamily="34" charset="0"/>
                <a:cs typeface="Calibri" panose="020F0502020204030204" pitchFamily="34" charset="0"/>
                <a:sym typeface="Helvetica" pitchFamily="-84" charset="0"/>
              </a:rPr>
              <a:t>Rapid institution of effective treatment should reduce the likelihood of complications.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Osteosarcoma that arises at sites of Paget disease results in a 2-year survival rate of only 25%.</a:t>
            </a:r>
          </a:p>
          <a:p>
            <a:pPr marL="292100" indent="-292100" defTabSz="1300163" eaLnBrk="1">
              <a:spcBef>
                <a:spcPts val="700"/>
              </a:spcBef>
              <a:buClr>
                <a:srgbClr val="000000"/>
              </a:buClr>
              <a:buFont typeface="ArialMT" charset="0"/>
              <a:buChar char="•"/>
            </a:pP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71600"/>
          </a:xfrm>
        </p:spPr>
        <p:txBody>
          <a:bodyPr/>
          <a:lstStyle/>
          <a:p>
            <a:pPr eaLnBrk="1"/>
            <a:r>
              <a:rPr lang="en-US" altLang="en-US" dirty="0"/>
              <a:t>Clicker Time</a:t>
            </a: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11956" y="2082800"/>
            <a:ext cx="12180888" cy="7416800"/>
          </a:xfrm>
        </p:spPr>
        <p:txBody>
          <a:bodyPr/>
          <a:lstStyle/>
          <a:p>
            <a:pPr marL="584200" indent="-584200" eaLnBrk="1"/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What laboratory finding will MOST likely lead you to suspect Paget's disease?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An elevated serum calcium level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A low serum calcium level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A high alkaline phosphatase level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Laboratory findings are usually normal in Paget's.  It is generally found after an abnormal radiograph.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71600"/>
          </a:xfrm>
        </p:spPr>
        <p:txBody>
          <a:bodyPr/>
          <a:lstStyle/>
          <a:p>
            <a:pPr eaLnBrk="1"/>
            <a:r>
              <a:rPr lang="en-US" altLang="en-US"/>
              <a:t>Clicker Time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0200" y="2082800"/>
            <a:ext cx="12257088" cy="7416800"/>
          </a:xfrm>
        </p:spPr>
        <p:txBody>
          <a:bodyPr/>
          <a:lstStyle/>
          <a:p>
            <a:pPr marL="592138" indent="-592138" eaLnBrk="1"/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How is the severity of disease evaluated in a patient with newly diagnosed Paget's?</a:t>
            </a:r>
          </a:p>
          <a:p>
            <a:pPr marL="592138" indent="-592138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 Radionuclide bone scan</a:t>
            </a:r>
          </a:p>
          <a:p>
            <a:pPr marL="592138" indent="-592138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Whole body radiograph surveillance</a:t>
            </a:r>
          </a:p>
          <a:p>
            <a:pPr marL="592138" indent="-592138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PET scan</a:t>
            </a:r>
          </a:p>
          <a:p>
            <a:pPr marL="592138" indent="-592138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CT scan of the skeleton</a:t>
            </a:r>
          </a:p>
          <a:p>
            <a:pPr marL="592138" indent="-592138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MRI scan of the skeleton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1270000" y="254000"/>
            <a:ext cx="10464800" cy="1371600"/>
          </a:xfrm>
        </p:spPr>
        <p:txBody>
          <a:bodyPr/>
          <a:lstStyle/>
          <a:p>
            <a:pPr eaLnBrk="1"/>
            <a:r>
              <a:rPr lang="en-US" altLang="en-US"/>
              <a:t>Clicker Time</a:t>
            </a: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4000" y="2082800"/>
            <a:ext cx="12333288" cy="7416800"/>
          </a:xfrm>
        </p:spPr>
        <p:txBody>
          <a:bodyPr/>
          <a:lstStyle/>
          <a:p>
            <a:pPr marL="584200" indent="-584200" eaLnBrk="1"/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Which of the following is the MOST common symptom of Paget's?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Spontaneous </a:t>
            </a:r>
            <a:r>
              <a:rPr lang="en-US" altLang="en-US" sz="4400" dirty="0" err="1">
                <a:latin typeface="Calibri" panose="020F0502020204030204" pitchFamily="34" charset="0"/>
                <a:cs typeface="Calibri" panose="020F0502020204030204" pitchFamily="34" charset="0"/>
              </a:rPr>
              <a:t>hemarthosis</a:t>
            </a:r>
            <a:endParaRPr lang="en-US" alt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Bone pain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Pathologic fracture</a:t>
            </a:r>
          </a:p>
          <a:p>
            <a:pPr marL="584200" indent="-584200" eaLnBrk="1">
              <a:buFontTx/>
              <a:buAutoNum type="alphaUcPeriod"/>
            </a:pPr>
            <a:r>
              <a:rPr lang="en-US" alt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Nerve entrapment causing radiculopathy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blej8dyof25e8ss5ff5vg6zzqomn8s75"/>
</p:tagLst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95CC4"/>
        </a:solidFill>
        <a:ln w="12700" cap="flat" cmpd="sng" algn="ctr">
          <a:noFill/>
          <a:prstDash val="solid"/>
          <a:miter lim="0"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95CC4"/>
        </a:solidFill>
        <a:ln w="12700" cap="flat" cmpd="sng" algn="ctr">
          <a:noFill/>
          <a:prstDash val="solid"/>
          <a:miter lim="0"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9398</TotalTime>
  <Words>2183</Words>
  <Application>Microsoft Office PowerPoint</Application>
  <PresentationFormat>Custom</PresentationFormat>
  <Paragraphs>214</Paragraphs>
  <Slides>36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ＭＳ Ｐゴシック</vt:lpstr>
      <vt:lpstr>Arial</vt:lpstr>
      <vt:lpstr>ArialMT</vt:lpstr>
      <vt:lpstr>Calibri</vt:lpstr>
      <vt:lpstr>Helvetica</vt:lpstr>
      <vt:lpstr>Helvetica Light</vt:lpstr>
      <vt:lpstr>Noteworthy Bold</vt:lpstr>
      <vt:lpstr>Office Theme</vt:lpstr>
      <vt:lpstr>Paget’s Disease of the Bone </vt:lpstr>
      <vt:lpstr>Paget’s Disease of the Bone</vt:lpstr>
      <vt:lpstr>Paget’s Disease of the Bone</vt:lpstr>
      <vt:lpstr>Paget’s Disease Epidemiology</vt:lpstr>
      <vt:lpstr>Paget’s Disease Etiology</vt:lpstr>
      <vt:lpstr>Pathophysiology of Paget’s Disease of the Bone</vt:lpstr>
      <vt:lpstr>Pathophysiology of Paget’s: Lytic Phase</vt:lpstr>
      <vt:lpstr>Pathophysiology of Paget’s: Lytic Phase</vt:lpstr>
      <vt:lpstr>Pathophysiology: Lytic/ Blastic Phase</vt:lpstr>
      <vt:lpstr>Pathophysiology: Lytic/ Blastic Phase</vt:lpstr>
      <vt:lpstr>Paget’s Pathophysiology : Sclerotic Phase</vt:lpstr>
      <vt:lpstr>Paget’s Pathophysiology</vt:lpstr>
      <vt:lpstr>Presenting Clinical Manifestations of Paget’s</vt:lpstr>
      <vt:lpstr>What does the pagetic process lead to?</vt:lpstr>
      <vt:lpstr>What does the pagetic process lead to?</vt:lpstr>
      <vt:lpstr>PowerPoint Presentation</vt:lpstr>
      <vt:lpstr>What does the pagetic process lead to?</vt:lpstr>
      <vt:lpstr>What does the pagetic process lead to?</vt:lpstr>
      <vt:lpstr>Complications of Paget’s</vt:lpstr>
      <vt:lpstr>Lab Abnormalities of Paget’s</vt:lpstr>
      <vt:lpstr>Radiologic Diagnosis of Paget’s</vt:lpstr>
      <vt:lpstr>PowerPoint Presentation</vt:lpstr>
      <vt:lpstr>Radiologic Diagnosis of Paget’s</vt:lpstr>
      <vt:lpstr>How do you Make the Diagnosis?</vt:lpstr>
      <vt:lpstr>Treatment of Paget’s</vt:lpstr>
      <vt:lpstr>Treatment of Paget’s</vt:lpstr>
      <vt:lpstr>Bisphosphonates</vt:lpstr>
      <vt:lpstr>Bisphosphonates</vt:lpstr>
      <vt:lpstr>Adverse Effects of Bisphosphonates</vt:lpstr>
      <vt:lpstr>Adverse Effects of Bisphosphonates</vt:lpstr>
      <vt:lpstr>Calcitonin</vt:lpstr>
      <vt:lpstr>Goals of Therapy</vt:lpstr>
      <vt:lpstr>Prognosis of Paget’s Disease</vt:lpstr>
      <vt:lpstr>Clicker Time</vt:lpstr>
      <vt:lpstr>Clicker Time</vt:lpstr>
      <vt:lpstr>Clicker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Paget’s Disease of the Bone  CMM: Endocrinology              Winter 2012</dc:title>
  <dc:creator>Gulczinski, Jill-Renae</dc:creator>
  <cp:lastModifiedBy>Veal, Breanna</cp:lastModifiedBy>
  <cp:revision>50</cp:revision>
  <dcterms:modified xsi:type="dcterms:W3CDTF">2026-10-04T02:28:15Z</dcterms:modified>
</cp:coreProperties>
</file>