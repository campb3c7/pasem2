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394" r:id="rId13"/>
    <p:sldId id="267" r:id="rId14"/>
    <p:sldId id="268" r:id="rId15"/>
    <p:sldId id="269" r:id="rId16"/>
    <p:sldId id="270" r:id="rId17"/>
    <p:sldId id="271" r:id="rId18"/>
    <p:sldId id="272" r:id="rId19"/>
    <p:sldId id="273" r:id="rId20"/>
    <p:sldId id="274" r:id="rId21"/>
    <p:sldId id="275" r:id="rId22"/>
    <p:sldId id="276" r:id="rId23"/>
    <p:sldId id="414" r:id="rId24"/>
    <p:sldId id="395" r:id="rId25"/>
    <p:sldId id="277" r:id="rId26"/>
    <p:sldId id="278" r:id="rId27"/>
    <p:sldId id="279" r:id="rId28"/>
    <p:sldId id="280" r:id="rId29"/>
    <p:sldId id="281" r:id="rId30"/>
    <p:sldId id="282" r:id="rId31"/>
    <p:sldId id="419" r:id="rId32"/>
    <p:sldId id="283" r:id="rId33"/>
    <p:sldId id="418"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6" r:id="rId56"/>
    <p:sldId id="308" r:id="rId57"/>
    <p:sldId id="310" r:id="rId58"/>
    <p:sldId id="396" r:id="rId59"/>
    <p:sldId id="311" r:id="rId60"/>
    <p:sldId id="313" r:id="rId61"/>
    <p:sldId id="314" r:id="rId62"/>
    <p:sldId id="315" r:id="rId63"/>
    <p:sldId id="312" r:id="rId64"/>
    <p:sldId id="316" r:id="rId65"/>
    <p:sldId id="317" r:id="rId66"/>
    <p:sldId id="318" r:id="rId67"/>
    <p:sldId id="319" r:id="rId68"/>
    <p:sldId id="320" r:id="rId69"/>
    <p:sldId id="321" r:id="rId70"/>
    <p:sldId id="322" r:id="rId71"/>
    <p:sldId id="420" r:id="rId72"/>
    <p:sldId id="415" r:id="rId73"/>
    <p:sldId id="323" r:id="rId74"/>
    <p:sldId id="324" r:id="rId75"/>
    <p:sldId id="325" r:id="rId76"/>
    <p:sldId id="326" r:id="rId77"/>
    <p:sldId id="327" r:id="rId78"/>
    <p:sldId id="328" r:id="rId79"/>
    <p:sldId id="397" r:id="rId80"/>
    <p:sldId id="416" r:id="rId81"/>
    <p:sldId id="330" r:id="rId82"/>
    <p:sldId id="331" r:id="rId83"/>
    <p:sldId id="332" r:id="rId84"/>
    <p:sldId id="333" r:id="rId85"/>
    <p:sldId id="334" r:id="rId86"/>
    <p:sldId id="421" r:id="rId87"/>
    <p:sldId id="335" r:id="rId88"/>
    <p:sldId id="336" r:id="rId89"/>
    <p:sldId id="337" r:id="rId90"/>
    <p:sldId id="338" r:id="rId91"/>
    <p:sldId id="339" r:id="rId92"/>
    <p:sldId id="340" r:id="rId93"/>
    <p:sldId id="341" r:id="rId94"/>
    <p:sldId id="343" r:id="rId95"/>
    <p:sldId id="345" r:id="rId96"/>
  </p:sldIdLst>
  <p:sldSz cx="13004800" cy="9753600"/>
  <p:notesSz cx="6858000" cy="9296400"/>
  <p:embeddedFontLst>
    <p:embeddedFont>
      <p:font typeface="Times" panose="02020603050405020304" pitchFamily="18" charset="0"/>
      <p:regular r:id="rId98"/>
      <p:bold r:id="rId99"/>
      <p:italic r:id="rId100"/>
      <p:boldItalic r:id="rId10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9" roundtripDataSignature="AMtx7mgBx0Wai+3DnuxKahLvPPPkUJjt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9906F2-E3B9-4608-AB6C-7A0A5C81DEF4}">
  <a:tblStyle styleId="{779906F2-E3B9-4608-AB6C-7A0A5C81DEF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07"/>
    <p:restoredTop sz="94661"/>
  </p:normalViewPr>
  <p:slideViewPr>
    <p:cSldViewPr snapToGrid="0">
      <p:cViewPr varScale="1">
        <p:scale>
          <a:sx n="75" d="100"/>
          <a:sy n="75" d="100"/>
        </p:scale>
        <p:origin x="184" y="224"/>
      </p:cViewPr>
      <p:guideLst>
        <p:guide orient="horz" pos="3072"/>
        <p:guide pos="4096"/>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70"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71"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2.fntdata"/><Relationship Id="rId101" Type="http://schemas.openxmlformats.org/officeDocument/2006/relationships/font" Target="fonts/font4.fntdata"/><Relationship Id="rId16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lvl1pPr marL="457200" marR="0" lvl="0"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1pPr>
            <a:lvl2pPr marL="914400" marR="0" lvl="1"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2pPr>
            <a:lvl3pPr marL="1371600" marR="0" lvl="2"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3pPr>
            <a:lvl4pPr marL="1828800" marR="0" lvl="3"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4pPr>
            <a:lvl5pPr marL="2286000" marR="0" lvl="4" indent="-228600" algn="l" rtl="0">
              <a:lnSpc>
                <a:spcPct val="145833"/>
              </a:lnSpc>
              <a:spcBef>
                <a:spcPts val="0"/>
              </a:spcBef>
              <a:spcAft>
                <a:spcPts val="0"/>
              </a:spcAft>
              <a:buSzPts val="1400"/>
              <a:buNone/>
              <a:defRPr sz="2400" b="0" i="0" u="none" strike="noStrike" cap="none">
                <a:solidFill>
                  <a:srgbClr val="572E2D"/>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6" name="Google Shape;46;p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fa60496b86_1_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9" name="Google Shape;59;gfa60496b86_1_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6" name="Google Shape;66;p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8" name="Google Shape;88;p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94" name="Google Shape;94;p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0" name="Google Shape;100;p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9: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fa60496b86_2_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 name="Google Shape;112;gfa60496b86_2_5:notes"/>
          <p:cNvSpPr txBox="1">
            <a:spLocks noGrp="1"/>
          </p:cNvSpPr>
          <p:nvPr>
            <p:ph type="body" idx="1"/>
          </p:nvPr>
        </p:nvSpPr>
        <p:spPr>
          <a:xfrm>
            <a:off x="914400" y="4416425"/>
            <a:ext cx="5029200" cy="4183200"/>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fa60496b86_2_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 name="Google Shape;112;gfa60496b86_2_5:notes"/>
          <p:cNvSpPr txBox="1">
            <a:spLocks noGrp="1"/>
          </p:cNvSpPr>
          <p:nvPr>
            <p:ph type="body" idx="1"/>
          </p:nvPr>
        </p:nvSpPr>
        <p:spPr>
          <a:xfrm>
            <a:off x="914400" y="4416425"/>
            <a:ext cx="5029200" cy="4183200"/>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extLst>
      <p:ext uri="{BB962C8B-B14F-4D97-AF65-F5344CB8AC3E}">
        <p14:creationId xmlns:p14="http://schemas.microsoft.com/office/powerpoint/2010/main" val="2477880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10: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11: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0" name="Google Shape;130;p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6" name="Google Shape;136;p1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42" name="Google Shape;142;p1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48" name="Google Shape;148;p1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54" name="Google Shape;154;p1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0" name="Google Shape;160;p1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fa60496b86_2_10: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8" name="Google Shape;168;gfa60496b86_2_1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77" name="Google Shape;177;p1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24: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dirty="0"/>
          </a:p>
        </p:txBody>
      </p:sp>
    </p:spTree>
    <p:extLst>
      <p:ext uri="{BB962C8B-B14F-4D97-AF65-F5344CB8AC3E}">
        <p14:creationId xmlns:p14="http://schemas.microsoft.com/office/powerpoint/2010/main" val="1084908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11: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extLst>
      <p:ext uri="{BB962C8B-B14F-4D97-AF65-F5344CB8AC3E}">
        <p14:creationId xmlns:p14="http://schemas.microsoft.com/office/powerpoint/2010/main" val="2191442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sz="2400" b="0" i="0" dirty="0">
                <a:solidFill>
                  <a:srgbClr val="545D7E"/>
                </a:solidFill>
                <a:effectLst/>
                <a:highlight>
                  <a:srgbClr val="FFFFFF"/>
                </a:highlight>
                <a:latin typeface="Google Sans"/>
              </a:rPr>
              <a:t>ACTH binds to the melanocortin 1 receptor on melanocytes, which stimulates them to produce melanin </a:t>
            </a:r>
            <a:endParaRPr dirty="0"/>
          </a:p>
        </p:txBody>
      </p:sp>
      <p:sp>
        <p:nvSpPr>
          <p:cNvPr id="183" name="Google Shape;183;p1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9" name="Google Shape;189;p2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96" name="Google Shape;196;p2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2" name="Google Shape;202;p2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9" name="Google Shape;209;p2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fa60496b86_2_24: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15" name="Google Shape;215;gfa60496b86_2_2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86779E58-77F5-F8E9-D7A8-1DE93E3690CB}"/>
            </a:ext>
          </a:extLst>
        </p:cNvPr>
        <p:cNvGrpSpPr/>
        <p:nvPr/>
      </p:nvGrpSpPr>
      <p:grpSpPr>
        <a:xfrm>
          <a:off x="0" y="0"/>
          <a:ext cx="0" cy="0"/>
          <a:chOff x="0" y="0"/>
          <a:chExt cx="0" cy="0"/>
        </a:xfrm>
      </p:grpSpPr>
      <p:sp>
        <p:nvSpPr>
          <p:cNvPr id="214" name="Google Shape;214;gfa60496b86_2_24:notes">
            <a:extLst>
              <a:ext uri="{FF2B5EF4-FFF2-40B4-BE49-F238E27FC236}">
                <a16:creationId xmlns:a16="http://schemas.microsoft.com/office/drawing/2014/main" id="{64AF784D-DB45-6DAD-3CDD-50477988880A}"/>
              </a:ext>
            </a:extLst>
          </p:cNvPr>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15" name="Google Shape;215;gfa60496b86_2_24:notes">
            <a:extLst>
              <a:ext uri="{FF2B5EF4-FFF2-40B4-BE49-F238E27FC236}">
                <a16:creationId xmlns:a16="http://schemas.microsoft.com/office/drawing/2014/main" id="{7EC5F33F-0F78-3FD1-9F1F-047A4A66FCEE}"/>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3314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24: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r>
              <a:rPr lang="en-US">
                <a:latin typeface="Arial"/>
                <a:ea typeface="Arial"/>
                <a:cs typeface="Arial"/>
                <a:sym typeface="Arial"/>
              </a:rPr>
              <a:t>Other endocrine disease includes: hypothyroidism, growth hormone deficiency, or hypogonadism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3702C2C8-04C2-BB8E-3780-B38CF4B4E283}"/>
            </a:ext>
          </a:extLst>
        </p:cNvPr>
        <p:cNvGrpSpPr/>
        <p:nvPr/>
      </p:nvGrpSpPr>
      <p:grpSpPr>
        <a:xfrm>
          <a:off x="0" y="0"/>
          <a:ext cx="0" cy="0"/>
          <a:chOff x="0" y="0"/>
          <a:chExt cx="0" cy="0"/>
        </a:xfrm>
      </p:grpSpPr>
      <p:sp>
        <p:nvSpPr>
          <p:cNvPr id="220" name="Google Shape;220;p24:notes">
            <a:extLst>
              <a:ext uri="{FF2B5EF4-FFF2-40B4-BE49-F238E27FC236}">
                <a16:creationId xmlns:a16="http://schemas.microsoft.com/office/drawing/2014/main" id="{25BB5DEE-FDBF-7D6B-9B34-A27EEAE3110B}"/>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24:notes">
            <a:extLst>
              <a:ext uri="{FF2B5EF4-FFF2-40B4-BE49-F238E27FC236}">
                <a16:creationId xmlns:a16="http://schemas.microsoft.com/office/drawing/2014/main" id="{9A7536BC-A3DE-C493-7D41-98C7B62E8993}"/>
              </a:ext>
            </a:extLst>
          </p:cNvPr>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dirty="0"/>
          </a:p>
        </p:txBody>
      </p:sp>
    </p:spTree>
    <p:extLst>
      <p:ext uri="{BB962C8B-B14F-4D97-AF65-F5344CB8AC3E}">
        <p14:creationId xmlns:p14="http://schemas.microsoft.com/office/powerpoint/2010/main" val="27359433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25: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26: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r>
              <a:rPr lang="en-US" dirty="0">
                <a:latin typeface="Arial"/>
                <a:ea typeface="Arial"/>
                <a:cs typeface="Arial"/>
                <a:sym typeface="Arial"/>
              </a:rPr>
              <a:t>Interpreting the rapid adrenocorticotrophic hormone test:</a:t>
            </a:r>
            <a:endParaRPr dirty="0"/>
          </a:p>
          <a:p>
            <a:pPr marL="0" lvl="0" indent="0" algn="l" rtl="0">
              <a:lnSpc>
                <a:spcPct val="145833"/>
              </a:lnSpc>
              <a:spcBef>
                <a:spcPts val="0"/>
              </a:spcBef>
              <a:spcAft>
                <a:spcPts val="0"/>
              </a:spcAft>
              <a:buNone/>
            </a:pPr>
            <a:r>
              <a:rPr lang="en-US" dirty="0">
                <a:latin typeface="Arial"/>
                <a:ea typeface="Arial"/>
                <a:cs typeface="Arial"/>
                <a:sym typeface="Arial"/>
              </a:rPr>
              <a:t>Two criteria are necessary for diagnosis: (1) an increase in the baseline cortisol value of 7 mcg/dL or more and (2) the value must rise to 20 mcg/dL or more in 30 or 60 minutes, establishing normal adrenal glucocorticoid function.</a:t>
            </a:r>
            <a:endParaRPr dirty="0"/>
          </a:p>
          <a:p>
            <a:pPr marL="0" lvl="0" indent="0" algn="l" rtl="0">
              <a:lnSpc>
                <a:spcPct val="145833"/>
              </a:lnSpc>
              <a:spcBef>
                <a:spcPts val="0"/>
              </a:spcBef>
              <a:spcAft>
                <a:spcPts val="0"/>
              </a:spcAft>
              <a:buNone/>
            </a:pPr>
            <a:r>
              <a:rPr lang="en-US" dirty="0">
                <a:latin typeface="Arial"/>
                <a:ea typeface="Arial"/>
                <a:cs typeface="Arial"/>
                <a:sym typeface="Arial"/>
              </a:rPr>
              <a:t>A low aldosterone value of less than 5 ng/100 mL that fails to double or increase by at least 4 ng/100 mL 30 minutes after ACTH administration denotes abnormal mineralocorticoid function of the adrenal cortex.</a:t>
            </a:r>
            <a:endParaRPr dirty="0"/>
          </a:p>
          <a:p>
            <a:pPr marL="0" lvl="0" indent="0" algn="l" rtl="0">
              <a:lnSpc>
                <a:spcPct val="145833"/>
              </a:lnSpc>
              <a:spcBef>
                <a:spcPts val="0"/>
              </a:spcBef>
              <a:spcAft>
                <a:spcPts val="0"/>
              </a:spcAft>
              <a:buNone/>
            </a:pPr>
            <a:r>
              <a:rPr lang="en-US" dirty="0">
                <a:latin typeface="Arial"/>
                <a:ea typeface="Arial"/>
                <a:cs typeface="Arial"/>
                <a:sym typeface="Arial"/>
              </a:rPr>
              <a:t>The 30-minute aldosterone value is more sensitive than the 60-minute value because aldosterone levels actually have been shown to decrease in the 60-minute sample.</a:t>
            </a:r>
            <a:endParaRPr dirty="0"/>
          </a:p>
          <a:p>
            <a:pPr marL="0" lvl="0" indent="0" algn="l" rtl="0">
              <a:lnSpc>
                <a:spcPct val="145833"/>
              </a:lnSpc>
              <a:spcBef>
                <a:spcPts val="0"/>
              </a:spcBef>
              <a:spcAft>
                <a:spcPts val="0"/>
              </a:spcAft>
              <a:buNone/>
            </a:pPr>
            <a:r>
              <a:rPr lang="en-US" dirty="0">
                <a:latin typeface="Arial"/>
                <a:ea typeface="Arial"/>
                <a:cs typeface="Arial"/>
                <a:sym typeface="Arial"/>
              </a:rPr>
              <a:t>The absolute 30- or 60-minute cortisol value carries more significance than the incremental value, especially in patients who may be in great stress and at their maximal adrenal output. These patients may not show a significant increase in cortisol output with ACTH stimulation.</a:t>
            </a:r>
            <a:endParaRPr dirty="0"/>
          </a:p>
          <a:p>
            <a:pPr marL="0" lvl="0" indent="0" algn="l" rtl="0">
              <a:lnSpc>
                <a:spcPct val="145833"/>
              </a:lnSpc>
              <a:spcBef>
                <a:spcPts val="0"/>
              </a:spcBef>
              <a:spcAft>
                <a:spcPts val="0"/>
              </a:spcAft>
              <a:buNone/>
            </a:pPr>
            <a:r>
              <a:rPr lang="en-US" dirty="0">
                <a:latin typeface="Arial"/>
                <a:ea typeface="Arial"/>
                <a:cs typeface="Arial"/>
                <a:sym typeface="Arial"/>
              </a:rPr>
              <a:t>A normal 30- or 60-minute rapid ACTH test excludes Addison disease but may not adequately exclude mild impairment of the hypothalamic pituitary adrenal axis in secondary adrenal insufficiency.</a:t>
            </a: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p27: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46" name="Google Shape;246;p2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53" name="Google Shape;253;p2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59" name="Google Shape;259;p3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3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65" name="Google Shape;265;p3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1" name="Google Shape;271;p3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7" name="Google Shape;277;p3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83" name="Google Shape;283;p3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89" name="Google Shape;289;p3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95" name="Google Shape;295;p3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01" name="Google Shape;301;p3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07" name="Google Shape;307;p3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3" name="Google Shape;313;p3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4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9" name="Google Shape;319;p4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4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5" name="Google Shape;325;p41: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342900" lvl="1"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p42: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342900" lvl="1"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7" name="Google Shape;337;p43:notes"/>
          <p:cNvSpPr txBox="1">
            <a:spLocks noGrp="1"/>
          </p:cNvSpPr>
          <p:nvPr>
            <p:ph type="body" idx="1"/>
          </p:nvPr>
        </p:nvSpPr>
        <p:spPr>
          <a:xfrm>
            <a:off x="914400" y="4416425"/>
            <a:ext cx="5029200" cy="4183063"/>
          </a:xfrm>
          <a:prstGeom prst="rect">
            <a:avLst/>
          </a:prstGeom>
          <a:noFill/>
          <a:ln>
            <a:noFill/>
          </a:ln>
        </p:spPr>
        <p:txBody>
          <a:bodyPr spcFirstLastPara="1" wrap="square" lIns="93175" tIns="46575" rIns="93175" bIns="46575" anchor="t" anchorCtr="0">
            <a:noAutofit/>
          </a:bodyPr>
          <a:lstStyle/>
          <a:p>
            <a:pPr marL="342900" lvl="1" indent="0" algn="l" rtl="0">
              <a:lnSpc>
                <a:spcPct val="145833"/>
              </a:lnSpc>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4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43" name="Google Shape;343;p4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4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49" name="Google Shape;349;p4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4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61" name="Google Shape;361;p4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73" name="Google Shape;373;p4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5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85" name="Google Shape;385;p5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5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85" name="Google Shape;385;p5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0616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fa60496b86_2_29: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91" name="Google Shape;391;gfa60496b86_2_2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5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03" name="Google Shape;403;p5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5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dirty="0"/>
              <a:t>SCLC= small cell lung cancer</a:t>
            </a:r>
            <a:endParaRPr dirty="0"/>
          </a:p>
        </p:txBody>
      </p:sp>
      <p:sp>
        <p:nvSpPr>
          <p:cNvPr id="409" name="Google Shape;409;p5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5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15" name="Google Shape;415;p5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5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97" name="Google Shape;397;p5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5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21" name="Google Shape;421;p5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5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27" name="Google Shape;427;p5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5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33" name="Google Shape;433;p5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5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40" name="Google Shape;440;p5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6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45" name="Google Shape;445;p6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6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52" name="Google Shape;452;p6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6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58" name="Google Shape;458;p6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65428DC2-6F4E-52AD-2CD2-FD9FA46B9989}"/>
            </a:ext>
          </a:extLst>
        </p:cNvPr>
        <p:cNvGrpSpPr/>
        <p:nvPr/>
      </p:nvGrpSpPr>
      <p:grpSpPr>
        <a:xfrm>
          <a:off x="0" y="0"/>
          <a:ext cx="0" cy="0"/>
          <a:chOff x="0" y="0"/>
          <a:chExt cx="0" cy="0"/>
        </a:xfrm>
      </p:grpSpPr>
      <p:sp>
        <p:nvSpPr>
          <p:cNvPr id="457" name="Google Shape;457;p62:notes">
            <a:extLst>
              <a:ext uri="{FF2B5EF4-FFF2-40B4-BE49-F238E27FC236}">
                <a16:creationId xmlns:a16="http://schemas.microsoft.com/office/drawing/2014/main" id="{2CC583AE-6905-9EBF-F737-2956CDA083F1}"/>
              </a:ext>
            </a:extLst>
          </p:cNvPr>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58" name="Google Shape;458;p62:notes">
            <a:extLst>
              <a:ext uri="{FF2B5EF4-FFF2-40B4-BE49-F238E27FC236}">
                <a16:creationId xmlns:a16="http://schemas.microsoft.com/office/drawing/2014/main" id="{38B7512E-A5F3-A2EB-7A20-CECF7DF510DF}"/>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90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6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58" name="Google Shape;458;p6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50886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6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64" name="Google Shape;464;p6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6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70" name="Google Shape;470;p6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6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76" name="Google Shape;476;p6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6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82" name="Google Shape;482;p6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6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88" name="Google Shape;488;p6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94" name="Google Shape;494;p6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94" name="Google Shape;494;p6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572029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94" name="Google Shape;494;p6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58544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7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05" name="Google Shape;505;p7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fa60496b86_2_34:notes"/>
          <p:cNvSpPr txBox="1">
            <a:spLocks noGrp="1"/>
          </p:cNvSpPr>
          <p:nvPr>
            <p:ph type="body" idx="1"/>
          </p:nvPr>
        </p:nvSpPr>
        <p:spPr>
          <a:xfrm>
            <a:off x="914400" y="4416425"/>
            <a:ext cx="5029200" cy="41832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11" name="Google Shape;511;gfa60496b86_2_3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71: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17" name="Google Shape;517;p7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7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23" name="Google Shape;523;p7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73: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30" name="Google Shape;530;p7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02D8173-3F55-0CBC-B371-B4DA5C87D68C}"/>
            </a:ext>
          </a:extLst>
        </p:cNvPr>
        <p:cNvGrpSpPr/>
        <p:nvPr/>
      </p:nvGrpSpPr>
      <p:grpSpPr>
        <a:xfrm>
          <a:off x="0" y="0"/>
          <a:ext cx="0" cy="0"/>
          <a:chOff x="0" y="0"/>
          <a:chExt cx="0" cy="0"/>
        </a:xfrm>
      </p:grpSpPr>
      <p:sp>
        <p:nvSpPr>
          <p:cNvPr id="529" name="Google Shape;529;p73:notes">
            <a:extLst>
              <a:ext uri="{FF2B5EF4-FFF2-40B4-BE49-F238E27FC236}">
                <a16:creationId xmlns:a16="http://schemas.microsoft.com/office/drawing/2014/main" id="{8FE99FE9-DE59-1E54-3ACC-D91B3B7BBEC3}"/>
              </a:ext>
            </a:extLst>
          </p:cNvPr>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30" name="Google Shape;530;p73:notes">
            <a:extLst>
              <a:ext uri="{FF2B5EF4-FFF2-40B4-BE49-F238E27FC236}">
                <a16:creationId xmlns:a16="http://schemas.microsoft.com/office/drawing/2014/main" id="{571D6549-3691-8DF8-9CAF-EB5B812FB1BE}"/>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8905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7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36" name="Google Shape;536;p7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75: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42" name="Google Shape;542;p7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76: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48" name="Google Shape;548;p7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77: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54" name="Google Shape;554;p7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78: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60" name="Google Shape;560;p7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79: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66" name="Google Shape;566;p7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80: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72" name="Google Shape;572;p8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82: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84" name="Google Shape;584;p8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84:notes"/>
          <p:cNvSpPr txBox="1">
            <a:spLocks noGrp="1"/>
          </p:cNvSpPr>
          <p:nvPr>
            <p:ph type="body" idx="1"/>
          </p:nvPr>
        </p:nvSpPr>
        <p:spPr>
          <a:xfrm>
            <a:off x="914400" y="4416425"/>
            <a:ext cx="5029200" cy="4183063"/>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96" name="Google Shape;596;p8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121"/>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121"/>
          <p:cNvSpPr txBox="1">
            <a:spLocks noGrp="1"/>
          </p:cNvSpPr>
          <p:nvPr>
            <p:ph type="body" idx="1"/>
          </p:nvPr>
        </p:nvSpPr>
        <p:spPr>
          <a:xfrm>
            <a:off x="1270000" y="2768600"/>
            <a:ext cx="10464800" cy="57150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
        <p:cNvGrpSpPr/>
        <p:nvPr/>
      </p:nvGrpSpPr>
      <p:grpSpPr>
        <a:xfrm>
          <a:off x="0" y="0"/>
          <a:ext cx="0" cy="0"/>
          <a:chOff x="0" y="0"/>
          <a:chExt cx="0" cy="0"/>
        </a:xfrm>
      </p:grpSpPr>
      <p:sp>
        <p:nvSpPr>
          <p:cNvPr id="12" name="Google Shape;12;p122"/>
          <p:cNvSpPr txBox="1">
            <a:spLocks noGrp="1"/>
          </p:cNvSpPr>
          <p:nvPr>
            <p:ph type="title"/>
          </p:nvPr>
        </p:nvSpPr>
        <p:spPr>
          <a:xfrm>
            <a:off x="650875" y="390525"/>
            <a:ext cx="11703050" cy="16256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122"/>
          <p:cNvSpPr txBox="1">
            <a:spLocks noGrp="1"/>
          </p:cNvSpPr>
          <p:nvPr>
            <p:ph type="body" idx="1"/>
          </p:nvPr>
        </p:nvSpPr>
        <p:spPr>
          <a:xfrm>
            <a:off x="650875" y="2182813"/>
            <a:ext cx="5745163" cy="909637"/>
          </a:xfrm>
          <a:prstGeom prst="rect">
            <a:avLst/>
          </a:prstGeom>
          <a:noFill/>
          <a:ln>
            <a:noFill/>
          </a:ln>
        </p:spPr>
        <p:txBody>
          <a:bodyPr spcFirstLastPara="1" wrap="square" lIns="50800" tIns="50800" rIns="50800" bIns="50800" anchor="b" anchorCtr="0">
            <a:noAutofit/>
          </a:bodyPr>
          <a:lstStyle>
            <a:lvl1pPr marL="457200" lvl="0" indent="-228600" algn="l">
              <a:spcBef>
                <a:spcPts val="4200"/>
              </a:spcBef>
              <a:spcAft>
                <a:spcPts val="0"/>
              </a:spcAft>
              <a:buClr>
                <a:srgbClr val="000000"/>
              </a:buClr>
              <a:buSzPts val="2400"/>
              <a:buFont typeface="Helvetica Neue Light"/>
              <a:buNone/>
              <a:defRPr sz="2400" b="1"/>
            </a:lvl1pPr>
            <a:lvl2pPr marL="914400" lvl="1" indent="-228600" algn="l">
              <a:spcBef>
                <a:spcPts val="4200"/>
              </a:spcBef>
              <a:spcAft>
                <a:spcPts val="0"/>
              </a:spcAft>
              <a:buClr>
                <a:srgbClr val="000000"/>
              </a:buClr>
              <a:buSzPts val="2000"/>
              <a:buFont typeface="Helvetica Neue Light"/>
              <a:buNone/>
              <a:defRPr sz="2000" b="1"/>
            </a:lvl2pPr>
            <a:lvl3pPr marL="1371600" lvl="2" indent="-228600" algn="l">
              <a:spcBef>
                <a:spcPts val="4200"/>
              </a:spcBef>
              <a:spcAft>
                <a:spcPts val="0"/>
              </a:spcAft>
              <a:buClr>
                <a:srgbClr val="000000"/>
              </a:buClr>
              <a:buSzPts val="1800"/>
              <a:buFont typeface="Helvetica Neue Light"/>
              <a:buNone/>
              <a:defRPr sz="1800" b="1"/>
            </a:lvl3pPr>
            <a:lvl4pPr marL="1828800" lvl="3" indent="-228600" algn="l">
              <a:spcBef>
                <a:spcPts val="4200"/>
              </a:spcBef>
              <a:spcAft>
                <a:spcPts val="0"/>
              </a:spcAft>
              <a:buClr>
                <a:srgbClr val="000000"/>
              </a:buClr>
              <a:buSzPts val="1600"/>
              <a:buFont typeface="Helvetica Neue Light"/>
              <a:buNone/>
              <a:defRPr sz="1600" b="1"/>
            </a:lvl4pPr>
            <a:lvl5pPr marL="2286000" lvl="4" indent="-228600" algn="l">
              <a:spcBef>
                <a:spcPts val="4200"/>
              </a:spcBef>
              <a:spcAft>
                <a:spcPts val="0"/>
              </a:spcAft>
              <a:buClr>
                <a:srgbClr val="000000"/>
              </a:buClr>
              <a:buSzPts val="1600"/>
              <a:buFont typeface="Helvetica Neue Light"/>
              <a:buNone/>
              <a:defRPr sz="1600" b="1"/>
            </a:lvl5pPr>
            <a:lvl6pPr marL="2743200" lvl="5" indent="-228600" algn="l">
              <a:spcBef>
                <a:spcPts val="4200"/>
              </a:spcBef>
              <a:spcAft>
                <a:spcPts val="0"/>
              </a:spcAft>
              <a:buClr>
                <a:srgbClr val="000000"/>
              </a:buClr>
              <a:buSzPts val="1600"/>
              <a:buFont typeface="Helvetica Neue Light"/>
              <a:buNone/>
              <a:defRPr sz="1600" b="1"/>
            </a:lvl6pPr>
            <a:lvl7pPr marL="3200400" lvl="6" indent="-228600" algn="l">
              <a:spcBef>
                <a:spcPts val="4200"/>
              </a:spcBef>
              <a:spcAft>
                <a:spcPts val="0"/>
              </a:spcAft>
              <a:buClr>
                <a:srgbClr val="000000"/>
              </a:buClr>
              <a:buSzPts val="1600"/>
              <a:buFont typeface="Helvetica Neue Light"/>
              <a:buNone/>
              <a:defRPr sz="1600" b="1"/>
            </a:lvl7pPr>
            <a:lvl8pPr marL="3657600" lvl="7" indent="-228600" algn="l">
              <a:spcBef>
                <a:spcPts val="4200"/>
              </a:spcBef>
              <a:spcAft>
                <a:spcPts val="0"/>
              </a:spcAft>
              <a:buClr>
                <a:srgbClr val="000000"/>
              </a:buClr>
              <a:buSzPts val="1600"/>
              <a:buFont typeface="Helvetica Neue Light"/>
              <a:buNone/>
              <a:defRPr sz="1600" b="1"/>
            </a:lvl8pPr>
            <a:lvl9pPr marL="4114800" lvl="8" indent="-228600" algn="l">
              <a:spcBef>
                <a:spcPts val="4200"/>
              </a:spcBef>
              <a:spcAft>
                <a:spcPts val="0"/>
              </a:spcAft>
              <a:buClr>
                <a:srgbClr val="000000"/>
              </a:buClr>
              <a:buSzPts val="1600"/>
              <a:buFont typeface="Helvetica Neue Light"/>
              <a:buNone/>
              <a:defRPr sz="1600" b="1"/>
            </a:lvl9pPr>
          </a:lstStyle>
          <a:p>
            <a:endParaRPr/>
          </a:p>
        </p:txBody>
      </p:sp>
      <p:sp>
        <p:nvSpPr>
          <p:cNvPr id="14" name="Google Shape;14;p122"/>
          <p:cNvSpPr txBox="1">
            <a:spLocks noGrp="1"/>
          </p:cNvSpPr>
          <p:nvPr>
            <p:ph type="body" idx="2"/>
          </p:nvPr>
        </p:nvSpPr>
        <p:spPr>
          <a:xfrm>
            <a:off x="650875" y="3092450"/>
            <a:ext cx="5745163" cy="5619750"/>
          </a:xfrm>
          <a:prstGeom prst="rect">
            <a:avLst/>
          </a:prstGeom>
          <a:noFill/>
          <a:ln>
            <a:noFill/>
          </a:ln>
        </p:spPr>
        <p:txBody>
          <a:bodyPr spcFirstLastPara="1" wrap="square" lIns="50800" tIns="50800" rIns="50800" bIns="50800" anchor="ctr" anchorCtr="0">
            <a:noAutofit/>
          </a:bodyPr>
          <a:lstStyle>
            <a:lvl1pPr marL="457200" lvl="0" indent="-381000" algn="l">
              <a:spcBef>
                <a:spcPts val="4200"/>
              </a:spcBef>
              <a:spcAft>
                <a:spcPts val="0"/>
              </a:spcAft>
              <a:buClr>
                <a:srgbClr val="000000"/>
              </a:buClr>
              <a:buSzPts val="2400"/>
              <a:buFont typeface="Helvetica Neue Light"/>
              <a:buChar char="•"/>
              <a:defRPr sz="2400"/>
            </a:lvl1pPr>
            <a:lvl2pPr marL="914400" lvl="1" indent="-355600" algn="l">
              <a:spcBef>
                <a:spcPts val="4200"/>
              </a:spcBef>
              <a:spcAft>
                <a:spcPts val="0"/>
              </a:spcAft>
              <a:buClr>
                <a:srgbClr val="000000"/>
              </a:buClr>
              <a:buSzPts val="2000"/>
              <a:buFont typeface="Helvetica Neue Light"/>
              <a:buChar char="•"/>
              <a:defRPr sz="2000"/>
            </a:lvl2pPr>
            <a:lvl3pPr marL="1371600" lvl="2" indent="-342900" algn="l">
              <a:spcBef>
                <a:spcPts val="4200"/>
              </a:spcBef>
              <a:spcAft>
                <a:spcPts val="0"/>
              </a:spcAft>
              <a:buClr>
                <a:srgbClr val="000000"/>
              </a:buClr>
              <a:buSzPts val="1800"/>
              <a:buFont typeface="Helvetica Neue Light"/>
              <a:buChar char="•"/>
              <a:defRPr sz="1800"/>
            </a:lvl3pPr>
            <a:lvl4pPr marL="1828800" lvl="3" indent="-330200" algn="l">
              <a:spcBef>
                <a:spcPts val="4200"/>
              </a:spcBef>
              <a:spcAft>
                <a:spcPts val="0"/>
              </a:spcAft>
              <a:buClr>
                <a:srgbClr val="000000"/>
              </a:buClr>
              <a:buSzPts val="1600"/>
              <a:buFont typeface="Helvetica Neue Light"/>
              <a:buChar char="•"/>
              <a:defRPr sz="1600"/>
            </a:lvl4pPr>
            <a:lvl5pPr marL="2286000" lvl="4" indent="-330200" algn="l">
              <a:spcBef>
                <a:spcPts val="4200"/>
              </a:spcBef>
              <a:spcAft>
                <a:spcPts val="0"/>
              </a:spcAft>
              <a:buClr>
                <a:srgbClr val="000000"/>
              </a:buClr>
              <a:buSzPts val="1600"/>
              <a:buFont typeface="Helvetica Neue Light"/>
              <a:buChar char="•"/>
              <a:defRPr sz="1600"/>
            </a:lvl5pPr>
            <a:lvl6pPr marL="2743200" lvl="5" indent="-330200" algn="l">
              <a:spcBef>
                <a:spcPts val="4200"/>
              </a:spcBef>
              <a:spcAft>
                <a:spcPts val="0"/>
              </a:spcAft>
              <a:buClr>
                <a:srgbClr val="000000"/>
              </a:buClr>
              <a:buSzPts val="1600"/>
              <a:buFont typeface="Helvetica Neue Light"/>
              <a:buChar char="•"/>
              <a:defRPr sz="1600"/>
            </a:lvl6pPr>
            <a:lvl7pPr marL="3200400" lvl="6" indent="-330200" algn="l">
              <a:spcBef>
                <a:spcPts val="4200"/>
              </a:spcBef>
              <a:spcAft>
                <a:spcPts val="0"/>
              </a:spcAft>
              <a:buClr>
                <a:srgbClr val="000000"/>
              </a:buClr>
              <a:buSzPts val="1600"/>
              <a:buFont typeface="Helvetica Neue Light"/>
              <a:buChar char="•"/>
              <a:defRPr sz="1600"/>
            </a:lvl7pPr>
            <a:lvl8pPr marL="3657600" lvl="7" indent="-330200" algn="l">
              <a:spcBef>
                <a:spcPts val="4200"/>
              </a:spcBef>
              <a:spcAft>
                <a:spcPts val="0"/>
              </a:spcAft>
              <a:buClr>
                <a:srgbClr val="000000"/>
              </a:buClr>
              <a:buSzPts val="1600"/>
              <a:buFont typeface="Helvetica Neue Light"/>
              <a:buChar char="•"/>
              <a:defRPr sz="1600"/>
            </a:lvl8pPr>
            <a:lvl9pPr marL="4114800" lvl="8" indent="-330200" algn="l">
              <a:spcBef>
                <a:spcPts val="4200"/>
              </a:spcBef>
              <a:spcAft>
                <a:spcPts val="0"/>
              </a:spcAft>
              <a:buClr>
                <a:srgbClr val="000000"/>
              </a:buClr>
              <a:buSzPts val="1600"/>
              <a:buFont typeface="Helvetica Neue Light"/>
              <a:buChar char="•"/>
              <a:defRPr sz="1600"/>
            </a:lvl9pPr>
          </a:lstStyle>
          <a:p>
            <a:endParaRPr/>
          </a:p>
        </p:txBody>
      </p:sp>
      <p:sp>
        <p:nvSpPr>
          <p:cNvPr id="15" name="Google Shape;15;p122"/>
          <p:cNvSpPr txBox="1">
            <a:spLocks noGrp="1"/>
          </p:cNvSpPr>
          <p:nvPr>
            <p:ph type="body" idx="3"/>
          </p:nvPr>
        </p:nvSpPr>
        <p:spPr>
          <a:xfrm>
            <a:off x="6605588" y="2182813"/>
            <a:ext cx="5748337" cy="909637"/>
          </a:xfrm>
          <a:prstGeom prst="rect">
            <a:avLst/>
          </a:prstGeom>
          <a:noFill/>
          <a:ln>
            <a:noFill/>
          </a:ln>
        </p:spPr>
        <p:txBody>
          <a:bodyPr spcFirstLastPara="1" wrap="square" lIns="50800" tIns="50800" rIns="50800" bIns="50800" anchor="b" anchorCtr="0">
            <a:noAutofit/>
          </a:bodyPr>
          <a:lstStyle>
            <a:lvl1pPr marL="457200" lvl="0" indent="-228600" algn="l">
              <a:spcBef>
                <a:spcPts val="4200"/>
              </a:spcBef>
              <a:spcAft>
                <a:spcPts val="0"/>
              </a:spcAft>
              <a:buClr>
                <a:srgbClr val="000000"/>
              </a:buClr>
              <a:buSzPts val="2400"/>
              <a:buFont typeface="Helvetica Neue Light"/>
              <a:buNone/>
              <a:defRPr sz="2400" b="1"/>
            </a:lvl1pPr>
            <a:lvl2pPr marL="914400" lvl="1" indent="-228600" algn="l">
              <a:spcBef>
                <a:spcPts val="4200"/>
              </a:spcBef>
              <a:spcAft>
                <a:spcPts val="0"/>
              </a:spcAft>
              <a:buClr>
                <a:srgbClr val="000000"/>
              </a:buClr>
              <a:buSzPts val="2000"/>
              <a:buFont typeface="Helvetica Neue Light"/>
              <a:buNone/>
              <a:defRPr sz="2000" b="1"/>
            </a:lvl2pPr>
            <a:lvl3pPr marL="1371600" lvl="2" indent="-228600" algn="l">
              <a:spcBef>
                <a:spcPts val="4200"/>
              </a:spcBef>
              <a:spcAft>
                <a:spcPts val="0"/>
              </a:spcAft>
              <a:buClr>
                <a:srgbClr val="000000"/>
              </a:buClr>
              <a:buSzPts val="1800"/>
              <a:buFont typeface="Helvetica Neue Light"/>
              <a:buNone/>
              <a:defRPr sz="1800" b="1"/>
            </a:lvl3pPr>
            <a:lvl4pPr marL="1828800" lvl="3" indent="-228600" algn="l">
              <a:spcBef>
                <a:spcPts val="4200"/>
              </a:spcBef>
              <a:spcAft>
                <a:spcPts val="0"/>
              </a:spcAft>
              <a:buClr>
                <a:srgbClr val="000000"/>
              </a:buClr>
              <a:buSzPts val="1600"/>
              <a:buFont typeface="Helvetica Neue Light"/>
              <a:buNone/>
              <a:defRPr sz="1600" b="1"/>
            </a:lvl4pPr>
            <a:lvl5pPr marL="2286000" lvl="4" indent="-228600" algn="l">
              <a:spcBef>
                <a:spcPts val="4200"/>
              </a:spcBef>
              <a:spcAft>
                <a:spcPts val="0"/>
              </a:spcAft>
              <a:buClr>
                <a:srgbClr val="000000"/>
              </a:buClr>
              <a:buSzPts val="1600"/>
              <a:buFont typeface="Helvetica Neue Light"/>
              <a:buNone/>
              <a:defRPr sz="1600" b="1"/>
            </a:lvl5pPr>
            <a:lvl6pPr marL="2743200" lvl="5" indent="-228600" algn="l">
              <a:spcBef>
                <a:spcPts val="4200"/>
              </a:spcBef>
              <a:spcAft>
                <a:spcPts val="0"/>
              </a:spcAft>
              <a:buClr>
                <a:srgbClr val="000000"/>
              </a:buClr>
              <a:buSzPts val="1600"/>
              <a:buFont typeface="Helvetica Neue Light"/>
              <a:buNone/>
              <a:defRPr sz="1600" b="1"/>
            </a:lvl6pPr>
            <a:lvl7pPr marL="3200400" lvl="6" indent="-228600" algn="l">
              <a:spcBef>
                <a:spcPts val="4200"/>
              </a:spcBef>
              <a:spcAft>
                <a:spcPts val="0"/>
              </a:spcAft>
              <a:buClr>
                <a:srgbClr val="000000"/>
              </a:buClr>
              <a:buSzPts val="1600"/>
              <a:buFont typeface="Helvetica Neue Light"/>
              <a:buNone/>
              <a:defRPr sz="1600" b="1"/>
            </a:lvl7pPr>
            <a:lvl8pPr marL="3657600" lvl="7" indent="-228600" algn="l">
              <a:spcBef>
                <a:spcPts val="4200"/>
              </a:spcBef>
              <a:spcAft>
                <a:spcPts val="0"/>
              </a:spcAft>
              <a:buClr>
                <a:srgbClr val="000000"/>
              </a:buClr>
              <a:buSzPts val="1600"/>
              <a:buFont typeface="Helvetica Neue Light"/>
              <a:buNone/>
              <a:defRPr sz="1600" b="1"/>
            </a:lvl8pPr>
            <a:lvl9pPr marL="4114800" lvl="8" indent="-228600" algn="l">
              <a:spcBef>
                <a:spcPts val="4200"/>
              </a:spcBef>
              <a:spcAft>
                <a:spcPts val="0"/>
              </a:spcAft>
              <a:buClr>
                <a:srgbClr val="000000"/>
              </a:buClr>
              <a:buSzPts val="1600"/>
              <a:buFont typeface="Helvetica Neue Light"/>
              <a:buNone/>
              <a:defRPr sz="1600" b="1"/>
            </a:lvl9pPr>
          </a:lstStyle>
          <a:p>
            <a:endParaRPr/>
          </a:p>
        </p:txBody>
      </p:sp>
      <p:sp>
        <p:nvSpPr>
          <p:cNvPr id="16" name="Google Shape;16;p122"/>
          <p:cNvSpPr txBox="1">
            <a:spLocks noGrp="1"/>
          </p:cNvSpPr>
          <p:nvPr>
            <p:ph type="body" idx="4"/>
          </p:nvPr>
        </p:nvSpPr>
        <p:spPr>
          <a:xfrm>
            <a:off x="6605588" y="3092450"/>
            <a:ext cx="5748337" cy="5619750"/>
          </a:xfrm>
          <a:prstGeom prst="rect">
            <a:avLst/>
          </a:prstGeom>
          <a:noFill/>
          <a:ln>
            <a:noFill/>
          </a:ln>
        </p:spPr>
        <p:txBody>
          <a:bodyPr spcFirstLastPara="1" wrap="square" lIns="50800" tIns="50800" rIns="50800" bIns="50800" anchor="ctr" anchorCtr="0">
            <a:noAutofit/>
          </a:bodyPr>
          <a:lstStyle>
            <a:lvl1pPr marL="457200" lvl="0" indent="-381000" algn="l">
              <a:spcBef>
                <a:spcPts val="4200"/>
              </a:spcBef>
              <a:spcAft>
                <a:spcPts val="0"/>
              </a:spcAft>
              <a:buClr>
                <a:srgbClr val="000000"/>
              </a:buClr>
              <a:buSzPts val="2400"/>
              <a:buFont typeface="Helvetica Neue Light"/>
              <a:buChar char="•"/>
              <a:defRPr sz="2400"/>
            </a:lvl1pPr>
            <a:lvl2pPr marL="914400" lvl="1" indent="-355600" algn="l">
              <a:spcBef>
                <a:spcPts val="4200"/>
              </a:spcBef>
              <a:spcAft>
                <a:spcPts val="0"/>
              </a:spcAft>
              <a:buClr>
                <a:srgbClr val="000000"/>
              </a:buClr>
              <a:buSzPts val="2000"/>
              <a:buFont typeface="Helvetica Neue Light"/>
              <a:buChar char="•"/>
              <a:defRPr sz="2000"/>
            </a:lvl2pPr>
            <a:lvl3pPr marL="1371600" lvl="2" indent="-342900" algn="l">
              <a:spcBef>
                <a:spcPts val="4200"/>
              </a:spcBef>
              <a:spcAft>
                <a:spcPts val="0"/>
              </a:spcAft>
              <a:buClr>
                <a:srgbClr val="000000"/>
              </a:buClr>
              <a:buSzPts val="1800"/>
              <a:buFont typeface="Helvetica Neue Light"/>
              <a:buChar char="•"/>
              <a:defRPr sz="1800"/>
            </a:lvl3pPr>
            <a:lvl4pPr marL="1828800" lvl="3" indent="-330200" algn="l">
              <a:spcBef>
                <a:spcPts val="4200"/>
              </a:spcBef>
              <a:spcAft>
                <a:spcPts val="0"/>
              </a:spcAft>
              <a:buClr>
                <a:srgbClr val="000000"/>
              </a:buClr>
              <a:buSzPts val="1600"/>
              <a:buFont typeface="Helvetica Neue Light"/>
              <a:buChar char="•"/>
              <a:defRPr sz="1600"/>
            </a:lvl4pPr>
            <a:lvl5pPr marL="2286000" lvl="4" indent="-330200" algn="l">
              <a:spcBef>
                <a:spcPts val="4200"/>
              </a:spcBef>
              <a:spcAft>
                <a:spcPts val="0"/>
              </a:spcAft>
              <a:buClr>
                <a:srgbClr val="000000"/>
              </a:buClr>
              <a:buSzPts val="1600"/>
              <a:buFont typeface="Helvetica Neue Light"/>
              <a:buChar char="•"/>
              <a:defRPr sz="1600"/>
            </a:lvl5pPr>
            <a:lvl6pPr marL="2743200" lvl="5" indent="-330200" algn="l">
              <a:spcBef>
                <a:spcPts val="4200"/>
              </a:spcBef>
              <a:spcAft>
                <a:spcPts val="0"/>
              </a:spcAft>
              <a:buClr>
                <a:srgbClr val="000000"/>
              </a:buClr>
              <a:buSzPts val="1600"/>
              <a:buFont typeface="Helvetica Neue Light"/>
              <a:buChar char="•"/>
              <a:defRPr sz="1600"/>
            </a:lvl6pPr>
            <a:lvl7pPr marL="3200400" lvl="6" indent="-330200" algn="l">
              <a:spcBef>
                <a:spcPts val="4200"/>
              </a:spcBef>
              <a:spcAft>
                <a:spcPts val="0"/>
              </a:spcAft>
              <a:buClr>
                <a:srgbClr val="000000"/>
              </a:buClr>
              <a:buSzPts val="1600"/>
              <a:buFont typeface="Helvetica Neue Light"/>
              <a:buChar char="•"/>
              <a:defRPr sz="1600"/>
            </a:lvl7pPr>
            <a:lvl8pPr marL="3657600" lvl="7" indent="-330200" algn="l">
              <a:spcBef>
                <a:spcPts val="4200"/>
              </a:spcBef>
              <a:spcAft>
                <a:spcPts val="0"/>
              </a:spcAft>
              <a:buClr>
                <a:srgbClr val="000000"/>
              </a:buClr>
              <a:buSzPts val="1600"/>
              <a:buFont typeface="Helvetica Neue Light"/>
              <a:buChar char="•"/>
              <a:defRPr sz="1600"/>
            </a:lvl8pPr>
            <a:lvl9pPr marL="4114800" lvl="8" indent="-330200" algn="l">
              <a:spcBef>
                <a:spcPts val="4200"/>
              </a:spcBef>
              <a:spcAft>
                <a:spcPts val="0"/>
              </a:spcAft>
              <a:buClr>
                <a:srgbClr val="000000"/>
              </a:buClr>
              <a:buSzPts val="1600"/>
              <a:buFont typeface="Helvetica Neue Light"/>
              <a:buChar char="•"/>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
        <p:cNvGrpSpPr/>
        <p:nvPr/>
      </p:nvGrpSpPr>
      <p:grpSpPr>
        <a:xfrm>
          <a:off x="0" y="0"/>
          <a:ext cx="0" cy="0"/>
          <a:chOff x="0" y="0"/>
          <a:chExt cx="0" cy="0"/>
        </a:xfrm>
      </p:grpSpPr>
      <p:sp>
        <p:nvSpPr>
          <p:cNvPr id="18" name="Google Shape;18;p123"/>
          <p:cNvSpPr txBox="1">
            <a:spLocks noGrp="1"/>
          </p:cNvSpPr>
          <p:nvPr>
            <p:ph type="title"/>
          </p:nvPr>
        </p:nvSpPr>
        <p:spPr>
          <a:xfrm>
            <a:off x="650875" y="388938"/>
            <a:ext cx="4278313" cy="1652587"/>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123"/>
          <p:cNvSpPr txBox="1">
            <a:spLocks noGrp="1"/>
          </p:cNvSpPr>
          <p:nvPr>
            <p:ph type="body" idx="1"/>
          </p:nvPr>
        </p:nvSpPr>
        <p:spPr>
          <a:xfrm>
            <a:off x="5084763" y="388938"/>
            <a:ext cx="7269162" cy="8323262"/>
          </a:xfrm>
          <a:prstGeom prst="rect">
            <a:avLst/>
          </a:prstGeom>
          <a:noFill/>
          <a:ln>
            <a:noFill/>
          </a:ln>
        </p:spPr>
        <p:txBody>
          <a:bodyPr spcFirstLastPara="1" wrap="square" lIns="50800" tIns="50800" rIns="50800" bIns="50800" anchor="ctr" anchorCtr="0">
            <a:noAutofit/>
          </a:bodyPr>
          <a:lstStyle>
            <a:lvl1pPr marL="457200" lvl="0" indent="-431800" algn="l">
              <a:spcBef>
                <a:spcPts val="4200"/>
              </a:spcBef>
              <a:spcAft>
                <a:spcPts val="0"/>
              </a:spcAft>
              <a:buClr>
                <a:srgbClr val="000000"/>
              </a:buClr>
              <a:buSzPts val="3200"/>
              <a:buFont typeface="Helvetica Neue Light"/>
              <a:buChar char="•"/>
              <a:defRPr sz="3200"/>
            </a:lvl1pPr>
            <a:lvl2pPr marL="914400" lvl="1" indent="-406400" algn="l">
              <a:spcBef>
                <a:spcPts val="4200"/>
              </a:spcBef>
              <a:spcAft>
                <a:spcPts val="0"/>
              </a:spcAft>
              <a:buClr>
                <a:srgbClr val="000000"/>
              </a:buClr>
              <a:buSzPts val="2800"/>
              <a:buFont typeface="Helvetica Neue Light"/>
              <a:buChar char="•"/>
              <a:defRPr sz="2800"/>
            </a:lvl2pPr>
            <a:lvl3pPr marL="1371600" lvl="2" indent="-381000" algn="l">
              <a:spcBef>
                <a:spcPts val="4200"/>
              </a:spcBef>
              <a:spcAft>
                <a:spcPts val="0"/>
              </a:spcAft>
              <a:buClr>
                <a:srgbClr val="000000"/>
              </a:buClr>
              <a:buSzPts val="2400"/>
              <a:buFont typeface="Helvetica Neue Light"/>
              <a:buChar char="•"/>
              <a:defRPr sz="2400"/>
            </a:lvl3pPr>
            <a:lvl4pPr marL="1828800" lvl="3" indent="-355600" algn="l">
              <a:spcBef>
                <a:spcPts val="4200"/>
              </a:spcBef>
              <a:spcAft>
                <a:spcPts val="0"/>
              </a:spcAft>
              <a:buClr>
                <a:srgbClr val="000000"/>
              </a:buClr>
              <a:buSzPts val="2000"/>
              <a:buFont typeface="Helvetica Neue Light"/>
              <a:buChar char="•"/>
              <a:defRPr sz="2000"/>
            </a:lvl4pPr>
            <a:lvl5pPr marL="2286000" lvl="4" indent="-355600" algn="l">
              <a:spcBef>
                <a:spcPts val="4200"/>
              </a:spcBef>
              <a:spcAft>
                <a:spcPts val="0"/>
              </a:spcAft>
              <a:buClr>
                <a:srgbClr val="000000"/>
              </a:buClr>
              <a:buSzPts val="2000"/>
              <a:buFont typeface="Helvetica Neue Light"/>
              <a:buChar char="•"/>
              <a:defRPr sz="2000"/>
            </a:lvl5pPr>
            <a:lvl6pPr marL="2743200" lvl="5" indent="-355600" algn="l">
              <a:spcBef>
                <a:spcPts val="4200"/>
              </a:spcBef>
              <a:spcAft>
                <a:spcPts val="0"/>
              </a:spcAft>
              <a:buClr>
                <a:srgbClr val="000000"/>
              </a:buClr>
              <a:buSzPts val="2000"/>
              <a:buFont typeface="Helvetica Neue Light"/>
              <a:buChar char="•"/>
              <a:defRPr sz="2000"/>
            </a:lvl6pPr>
            <a:lvl7pPr marL="3200400" lvl="6" indent="-355600" algn="l">
              <a:spcBef>
                <a:spcPts val="4200"/>
              </a:spcBef>
              <a:spcAft>
                <a:spcPts val="0"/>
              </a:spcAft>
              <a:buClr>
                <a:srgbClr val="000000"/>
              </a:buClr>
              <a:buSzPts val="2000"/>
              <a:buFont typeface="Helvetica Neue Light"/>
              <a:buChar char="•"/>
              <a:defRPr sz="2000"/>
            </a:lvl7pPr>
            <a:lvl8pPr marL="3657600" lvl="7" indent="-355600" algn="l">
              <a:spcBef>
                <a:spcPts val="4200"/>
              </a:spcBef>
              <a:spcAft>
                <a:spcPts val="0"/>
              </a:spcAft>
              <a:buClr>
                <a:srgbClr val="000000"/>
              </a:buClr>
              <a:buSzPts val="2000"/>
              <a:buFont typeface="Helvetica Neue Light"/>
              <a:buChar char="•"/>
              <a:defRPr sz="2000"/>
            </a:lvl8pPr>
            <a:lvl9pPr marL="4114800" lvl="8" indent="-355600" algn="l">
              <a:spcBef>
                <a:spcPts val="4200"/>
              </a:spcBef>
              <a:spcAft>
                <a:spcPts val="0"/>
              </a:spcAft>
              <a:buClr>
                <a:srgbClr val="000000"/>
              </a:buClr>
              <a:buSzPts val="2000"/>
              <a:buFont typeface="Helvetica Neue Light"/>
              <a:buChar char="•"/>
              <a:defRPr sz="2000"/>
            </a:lvl9pPr>
          </a:lstStyle>
          <a:p>
            <a:endParaRPr/>
          </a:p>
        </p:txBody>
      </p:sp>
      <p:sp>
        <p:nvSpPr>
          <p:cNvPr id="20" name="Google Shape;20;p123"/>
          <p:cNvSpPr txBox="1">
            <a:spLocks noGrp="1"/>
          </p:cNvSpPr>
          <p:nvPr>
            <p:ph type="body" idx="2"/>
          </p:nvPr>
        </p:nvSpPr>
        <p:spPr>
          <a:xfrm>
            <a:off x="650875" y="2041525"/>
            <a:ext cx="4278313" cy="6670675"/>
          </a:xfrm>
          <a:prstGeom prst="rect">
            <a:avLst/>
          </a:prstGeom>
          <a:noFill/>
          <a:ln>
            <a:noFill/>
          </a:ln>
        </p:spPr>
        <p:txBody>
          <a:bodyPr spcFirstLastPara="1" wrap="square" lIns="50800" tIns="50800" rIns="50800" bIns="50800" anchor="ctr" anchorCtr="0">
            <a:noAutofit/>
          </a:bodyPr>
          <a:lstStyle>
            <a:lvl1pPr marL="457200" lvl="0" indent="-228600" algn="l">
              <a:spcBef>
                <a:spcPts val="4200"/>
              </a:spcBef>
              <a:spcAft>
                <a:spcPts val="0"/>
              </a:spcAft>
              <a:buClr>
                <a:srgbClr val="000000"/>
              </a:buClr>
              <a:buSzPts val="1400"/>
              <a:buFont typeface="Helvetica Neue Light"/>
              <a:buNone/>
              <a:defRPr sz="1400"/>
            </a:lvl1pPr>
            <a:lvl2pPr marL="914400" lvl="1" indent="-228600" algn="l">
              <a:spcBef>
                <a:spcPts val="4200"/>
              </a:spcBef>
              <a:spcAft>
                <a:spcPts val="0"/>
              </a:spcAft>
              <a:buClr>
                <a:srgbClr val="000000"/>
              </a:buClr>
              <a:buSzPts val="1200"/>
              <a:buFont typeface="Helvetica Neue Light"/>
              <a:buNone/>
              <a:defRPr sz="1200"/>
            </a:lvl2pPr>
            <a:lvl3pPr marL="1371600" lvl="2" indent="-228600" algn="l">
              <a:spcBef>
                <a:spcPts val="4200"/>
              </a:spcBef>
              <a:spcAft>
                <a:spcPts val="0"/>
              </a:spcAft>
              <a:buClr>
                <a:srgbClr val="000000"/>
              </a:buClr>
              <a:buSzPts val="1000"/>
              <a:buFont typeface="Helvetica Neue Light"/>
              <a:buNone/>
              <a:defRPr sz="1000"/>
            </a:lvl3pPr>
            <a:lvl4pPr marL="1828800" lvl="3" indent="-228600" algn="l">
              <a:spcBef>
                <a:spcPts val="4200"/>
              </a:spcBef>
              <a:spcAft>
                <a:spcPts val="0"/>
              </a:spcAft>
              <a:buClr>
                <a:srgbClr val="000000"/>
              </a:buClr>
              <a:buSzPts val="900"/>
              <a:buFont typeface="Helvetica Neue Light"/>
              <a:buNone/>
              <a:defRPr sz="900"/>
            </a:lvl4pPr>
            <a:lvl5pPr marL="2286000" lvl="4" indent="-228600" algn="l">
              <a:spcBef>
                <a:spcPts val="4200"/>
              </a:spcBef>
              <a:spcAft>
                <a:spcPts val="0"/>
              </a:spcAft>
              <a:buClr>
                <a:srgbClr val="000000"/>
              </a:buClr>
              <a:buSzPts val="900"/>
              <a:buFont typeface="Helvetica Neue Light"/>
              <a:buNone/>
              <a:defRPr sz="900"/>
            </a:lvl5pPr>
            <a:lvl6pPr marL="2743200" lvl="5" indent="-228600" algn="l">
              <a:spcBef>
                <a:spcPts val="4200"/>
              </a:spcBef>
              <a:spcAft>
                <a:spcPts val="0"/>
              </a:spcAft>
              <a:buClr>
                <a:srgbClr val="000000"/>
              </a:buClr>
              <a:buSzPts val="900"/>
              <a:buFont typeface="Helvetica Neue Light"/>
              <a:buNone/>
              <a:defRPr sz="900"/>
            </a:lvl6pPr>
            <a:lvl7pPr marL="3200400" lvl="6" indent="-228600" algn="l">
              <a:spcBef>
                <a:spcPts val="4200"/>
              </a:spcBef>
              <a:spcAft>
                <a:spcPts val="0"/>
              </a:spcAft>
              <a:buClr>
                <a:srgbClr val="000000"/>
              </a:buClr>
              <a:buSzPts val="900"/>
              <a:buFont typeface="Helvetica Neue Light"/>
              <a:buNone/>
              <a:defRPr sz="900"/>
            </a:lvl7pPr>
            <a:lvl8pPr marL="3657600" lvl="7" indent="-228600" algn="l">
              <a:spcBef>
                <a:spcPts val="4200"/>
              </a:spcBef>
              <a:spcAft>
                <a:spcPts val="0"/>
              </a:spcAft>
              <a:buClr>
                <a:srgbClr val="000000"/>
              </a:buClr>
              <a:buSzPts val="900"/>
              <a:buFont typeface="Helvetica Neue Light"/>
              <a:buNone/>
              <a:defRPr sz="900"/>
            </a:lvl8pPr>
            <a:lvl9pPr marL="4114800" lvl="8" indent="-228600" algn="l">
              <a:spcBef>
                <a:spcPts val="4200"/>
              </a:spcBef>
              <a:spcAft>
                <a:spcPts val="0"/>
              </a:spcAft>
              <a:buClr>
                <a:srgbClr val="000000"/>
              </a:buClr>
              <a:buSzPts val="900"/>
              <a:buFont typeface="Helvetica Neue Light"/>
              <a:buNone/>
              <a:defRPr sz="9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24"/>
          <p:cNvSpPr txBox="1">
            <a:spLocks noGrp="1"/>
          </p:cNvSpPr>
          <p:nvPr>
            <p:ph type="ctrTitle"/>
          </p:nvPr>
        </p:nvSpPr>
        <p:spPr>
          <a:xfrm>
            <a:off x="974725" y="3030538"/>
            <a:ext cx="11055350" cy="2090737"/>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24"/>
          <p:cNvSpPr txBox="1">
            <a:spLocks noGrp="1"/>
          </p:cNvSpPr>
          <p:nvPr>
            <p:ph type="subTitle" idx="1"/>
          </p:nvPr>
        </p:nvSpPr>
        <p:spPr>
          <a:xfrm>
            <a:off x="1951038" y="5527675"/>
            <a:ext cx="9102725" cy="2492375"/>
          </a:xfrm>
          <a:prstGeom prst="rect">
            <a:avLst/>
          </a:prstGeom>
          <a:noFill/>
          <a:ln>
            <a:noFill/>
          </a:ln>
        </p:spPr>
        <p:txBody>
          <a:bodyPr spcFirstLastPara="1" wrap="square" lIns="50800" tIns="50800" rIns="50800" bIns="50800" anchor="ctr" anchorCtr="0">
            <a:noAutofit/>
          </a:bodyPr>
          <a:lstStyle>
            <a:lvl1pPr lvl="0" algn="ctr">
              <a:spcBef>
                <a:spcPts val="4200"/>
              </a:spcBef>
              <a:spcAft>
                <a:spcPts val="0"/>
              </a:spcAft>
              <a:buClr>
                <a:srgbClr val="000000"/>
              </a:buClr>
              <a:buSzPts val="3800"/>
              <a:buFont typeface="Helvetica Neue Light"/>
              <a:buNone/>
              <a:defRPr/>
            </a:lvl1pPr>
            <a:lvl2pPr lvl="1" algn="ctr">
              <a:spcBef>
                <a:spcPts val="4200"/>
              </a:spcBef>
              <a:spcAft>
                <a:spcPts val="0"/>
              </a:spcAft>
              <a:buClr>
                <a:srgbClr val="000000"/>
              </a:buClr>
              <a:buSzPts val="3800"/>
              <a:buFont typeface="Helvetica Neue Light"/>
              <a:buNone/>
              <a:defRPr/>
            </a:lvl2pPr>
            <a:lvl3pPr lvl="2" algn="ctr">
              <a:spcBef>
                <a:spcPts val="4200"/>
              </a:spcBef>
              <a:spcAft>
                <a:spcPts val="0"/>
              </a:spcAft>
              <a:buClr>
                <a:srgbClr val="000000"/>
              </a:buClr>
              <a:buSzPts val="3800"/>
              <a:buFont typeface="Helvetica Neue Light"/>
              <a:buNone/>
              <a:defRPr/>
            </a:lvl3pPr>
            <a:lvl4pPr lvl="3" algn="ctr">
              <a:spcBef>
                <a:spcPts val="4200"/>
              </a:spcBef>
              <a:spcAft>
                <a:spcPts val="0"/>
              </a:spcAft>
              <a:buClr>
                <a:srgbClr val="000000"/>
              </a:buClr>
              <a:buSzPts val="3800"/>
              <a:buFont typeface="Helvetica Neue Light"/>
              <a:buNone/>
              <a:defRPr/>
            </a:lvl4pPr>
            <a:lvl5pPr lvl="4" algn="ctr">
              <a:spcBef>
                <a:spcPts val="4200"/>
              </a:spcBef>
              <a:spcAft>
                <a:spcPts val="0"/>
              </a:spcAft>
              <a:buClr>
                <a:srgbClr val="000000"/>
              </a:buClr>
              <a:buSzPts val="3800"/>
              <a:buFont typeface="Helvetica Neue Light"/>
              <a:buNone/>
              <a:defRPr/>
            </a:lvl5pPr>
            <a:lvl6pPr lvl="5" algn="ctr">
              <a:spcBef>
                <a:spcPts val="4200"/>
              </a:spcBef>
              <a:spcAft>
                <a:spcPts val="0"/>
              </a:spcAft>
              <a:buClr>
                <a:srgbClr val="000000"/>
              </a:buClr>
              <a:buSzPts val="3800"/>
              <a:buFont typeface="Helvetica Neue Light"/>
              <a:buNone/>
              <a:defRPr/>
            </a:lvl6pPr>
            <a:lvl7pPr lvl="6" algn="ctr">
              <a:spcBef>
                <a:spcPts val="4200"/>
              </a:spcBef>
              <a:spcAft>
                <a:spcPts val="0"/>
              </a:spcAft>
              <a:buClr>
                <a:srgbClr val="000000"/>
              </a:buClr>
              <a:buSzPts val="3800"/>
              <a:buFont typeface="Helvetica Neue Light"/>
              <a:buNone/>
              <a:defRPr/>
            </a:lvl7pPr>
            <a:lvl8pPr lvl="7" algn="ctr">
              <a:spcBef>
                <a:spcPts val="4200"/>
              </a:spcBef>
              <a:spcAft>
                <a:spcPts val="0"/>
              </a:spcAft>
              <a:buClr>
                <a:srgbClr val="000000"/>
              </a:buClr>
              <a:buSzPts val="3800"/>
              <a:buFont typeface="Helvetica Neue Light"/>
              <a:buNone/>
              <a:defRPr/>
            </a:lvl8pPr>
            <a:lvl9pPr lvl="8" algn="ctr">
              <a:spcBef>
                <a:spcPts val="4200"/>
              </a:spcBef>
              <a:spcAft>
                <a:spcPts val="0"/>
              </a:spcAft>
              <a:buClr>
                <a:srgbClr val="000000"/>
              </a:buClr>
              <a:buSzPts val="3800"/>
              <a:buFont typeface="Helvetica Neue Ligh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125"/>
          <p:cNvSpPr txBox="1">
            <a:spLocks noGrp="1"/>
          </p:cNvSpPr>
          <p:nvPr>
            <p:ph type="title"/>
          </p:nvPr>
        </p:nvSpPr>
        <p:spPr>
          <a:xfrm>
            <a:off x="1027113" y="6267450"/>
            <a:ext cx="11053762" cy="1936750"/>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125"/>
          <p:cNvSpPr txBox="1">
            <a:spLocks noGrp="1"/>
          </p:cNvSpPr>
          <p:nvPr>
            <p:ph type="body" idx="1"/>
          </p:nvPr>
        </p:nvSpPr>
        <p:spPr>
          <a:xfrm>
            <a:off x="1027113" y="4133850"/>
            <a:ext cx="11053762" cy="2133600"/>
          </a:xfrm>
          <a:prstGeom prst="rect">
            <a:avLst/>
          </a:prstGeom>
          <a:noFill/>
          <a:ln>
            <a:noFill/>
          </a:ln>
        </p:spPr>
        <p:txBody>
          <a:bodyPr spcFirstLastPara="1" wrap="square" lIns="50800" tIns="50800" rIns="50800" bIns="50800" anchor="b" anchorCtr="0">
            <a:noAutofit/>
          </a:bodyPr>
          <a:lstStyle>
            <a:lvl1pPr marL="457200" lvl="0" indent="-228600" algn="l">
              <a:spcBef>
                <a:spcPts val="4200"/>
              </a:spcBef>
              <a:spcAft>
                <a:spcPts val="0"/>
              </a:spcAft>
              <a:buClr>
                <a:srgbClr val="000000"/>
              </a:buClr>
              <a:buSzPts val="2000"/>
              <a:buFont typeface="Helvetica Neue Light"/>
              <a:buNone/>
              <a:defRPr sz="2000"/>
            </a:lvl1pPr>
            <a:lvl2pPr marL="914400" lvl="1" indent="-228600" algn="l">
              <a:spcBef>
                <a:spcPts val="4200"/>
              </a:spcBef>
              <a:spcAft>
                <a:spcPts val="0"/>
              </a:spcAft>
              <a:buClr>
                <a:srgbClr val="000000"/>
              </a:buClr>
              <a:buSzPts val="1800"/>
              <a:buFont typeface="Helvetica Neue Light"/>
              <a:buNone/>
              <a:defRPr sz="1800"/>
            </a:lvl2pPr>
            <a:lvl3pPr marL="1371600" lvl="2" indent="-228600" algn="l">
              <a:spcBef>
                <a:spcPts val="4200"/>
              </a:spcBef>
              <a:spcAft>
                <a:spcPts val="0"/>
              </a:spcAft>
              <a:buClr>
                <a:srgbClr val="000000"/>
              </a:buClr>
              <a:buSzPts val="1600"/>
              <a:buFont typeface="Helvetica Neue Light"/>
              <a:buNone/>
              <a:defRPr sz="1600"/>
            </a:lvl3pPr>
            <a:lvl4pPr marL="1828800" lvl="3" indent="-228600" algn="l">
              <a:spcBef>
                <a:spcPts val="4200"/>
              </a:spcBef>
              <a:spcAft>
                <a:spcPts val="0"/>
              </a:spcAft>
              <a:buClr>
                <a:srgbClr val="000000"/>
              </a:buClr>
              <a:buSzPts val="1400"/>
              <a:buFont typeface="Helvetica Neue Light"/>
              <a:buNone/>
              <a:defRPr sz="1400"/>
            </a:lvl4pPr>
            <a:lvl5pPr marL="2286000" lvl="4" indent="-228600" algn="l">
              <a:spcBef>
                <a:spcPts val="4200"/>
              </a:spcBef>
              <a:spcAft>
                <a:spcPts val="0"/>
              </a:spcAft>
              <a:buClr>
                <a:srgbClr val="000000"/>
              </a:buClr>
              <a:buSzPts val="1400"/>
              <a:buFont typeface="Helvetica Neue Light"/>
              <a:buNone/>
              <a:defRPr sz="1400"/>
            </a:lvl5pPr>
            <a:lvl6pPr marL="2743200" lvl="5" indent="-228600" algn="l">
              <a:spcBef>
                <a:spcPts val="4200"/>
              </a:spcBef>
              <a:spcAft>
                <a:spcPts val="0"/>
              </a:spcAft>
              <a:buClr>
                <a:srgbClr val="000000"/>
              </a:buClr>
              <a:buSzPts val="1400"/>
              <a:buFont typeface="Helvetica Neue Light"/>
              <a:buNone/>
              <a:defRPr sz="1400"/>
            </a:lvl6pPr>
            <a:lvl7pPr marL="3200400" lvl="6" indent="-228600" algn="l">
              <a:spcBef>
                <a:spcPts val="4200"/>
              </a:spcBef>
              <a:spcAft>
                <a:spcPts val="0"/>
              </a:spcAft>
              <a:buClr>
                <a:srgbClr val="000000"/>
              </a:buClr>
              <a:buSzPts val="1400"/>
              <a:buFont typeface="Helvetica Neue Light"/>
              <a:buNone/>
              <a:defRPr sz="1400"/>
            </a:lvl7pPr>
            <a:lvl8pPr marL="3657600" lvl="7" indent="-228600" algn="l">
              <a:spcBef>
                <a:spcPts val="4200"/>
              </a:spcBef>
              <a:spcAft>
                <a:spcPts val="0"/>
              </a:spcAft>
              <a:buClr>
                <a:srgbClr val="000000"/>
              </a:buClr>
              <a:buSzPts val="1400"/>
              <a:buFont typeface="Helvetica Neue Light"/>
              <a:buNone/>
              <a:defRPr sz="1400"/>
            </a:lvl8pPr>
            <a:lvl9pPr marL="4114800" lvl="8" indent="-228600" algn="l">
              <a:spcBef>
                <a:spcPts val="4200"/>
              </a:spcBef>
              <a:spcAft>
                <a:spcPts val="0"/>
              </a:spcAft>
              <a:buClr>
                <a:srgbClr val="000000"/>
              </a:buClr>
              <a:buSzPts val="1400"/>
              <a:buFont typeface="Helvetica Neue Light"/>
              <a:buNone/>
              <a:defRPr sz="1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126"/>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26"/>
          <p:cNvSpPr txBox="1">
            <a:spLocks noGrp="1"/>
          </p:cNvSpPr>
          <p:nvPr>
            <p:ph type="body" idx="1"/>
          </p:nvPr>
        </p:nvSpPr>
        <p:spPr>
          <a:xfrm>
            <a:off x="1270000" y="2768600"/>
            <a:ext cx="5156200" cy="5715000"/>
          </a:xfrm>
          <a:prstGeom prst="rect">
            <a:avLst/>
          </a:prstGeom>
          <a:noFill/>
          <a:ln>
            <a:noFill/>
          </a:ln>
        </p:spPr>
        <p:txBody>
          <a:bodyPr spcFirstLastPara="1" wrap="square" lIns="50800" tIns="50800" rIns="50800" bIns="50800" anchor="ctr" anchorCtr="0">
            <a:noAutofit/>
          </a:bodyPr>
          <a:lstStyle>
            <a:lvl1pPr marL="457200" lvl="0" indent="-406400" algn="l">
              <a:spcBef>
                <a:spcPts val="4200"/>
              </a:spcBef>
              <a:spcAft>
                <a:spcPts val="0"/>
              </a:spcAft>
              <a:buClr>
                <a:srgbClr val="000000"/>
              </a:buClr>
              <a:buSzPts val="2800"/>
              <a:buFont typeface="Helvetica Neue Light"/>
              <a:buChar char="•"/>
              <a:defRPr sz="2800"/>
            </a:lvl1pPr>
            <a:lvl2pPr marL="914400" lvl="1" indent="-381000" algn="l">
              <a:spcBef>
                <a:spcPts val="4200"/>
              </a:spcBef>
              <a:spcAft>
                <a:spcPts val="0"/>
              </a:spcAft>
              <a:buClr>
                <a:srgbClr val="000000"/>
              </a:buClr>
              <a:buSzPts val="2400"/>
              <a:buFont typeface="Helvetica Neue Light"/>
              <a:buChar char="•"/>
              <a:defRPr sz="2400"/>
            </a:lvl2pPr>
            <a:lvl3pPr marL="1371600" lvl="2" indent="-355600" algn="l">
              <a:spcBef>
                <a:spcPts val="4200"/>
              </a:spcBef>
              <a:spcAft>
                <a:spcPts val="0"/>
              </a:spcAft>
              <a:buClr>
                <a:srgbClr val="000000"/>
              </a:buClr>
              <a:buSzPts val="2000"/>
              <a:buFont typeface="Helvetica Neue Light"/>
              <a:buChar char="•"/>
              <a:defRPr sz="2000"/>
            </a:lvl3pPr>
            <a:lvl4pPr marL="1828800" lvl="3" indent="-342900" algn="l">
              <a:spcBef>
                <a:spcPts val="4200"/>
              </a:spcBef>
              <a:spcAft>
                <a:spcPts val="0"/>
              </a:spcAft>
              <a:buClr>
                <a:srgbClr val="000000"/>
              </a:buClr>
              <a:buSzPts val="1800"/>
              <a:buFont typeface="Helvetica Neue Light"/>
              <a:buChar char="•"/>
              <a:defRPr sz="1800"/>
            </a:lvl4pPr>
            <a:lvl5pPr marL="2286000" lvl="4" indent="-342900" algn="l">
              <a:spcBef>
                <a:spcPts val="4200"/>
              </a:spcBef>
              <a:spcAft>
                <a:spcPts val="0"/>
              </a:spcAft>
              <a:buClr>
                <a:srgbClr val="000000"/>
              </a:buClr>
              <a:buSzPts val="1800"/>
              <a:buFont typeface="Helvetica Neue Light"/>
              <a:buChar char="•"/>
              <a:defRPr sz="1800"/>
            </a:lvl5pPr>
            <a:lvl6pPr marL="2743200" lvl="5" indent="-342900" algn="l">
              <a:spcBef>
                <a:spcPts val="4200"/>
              </a:spcBef>
              <a:spcAft>
                <a:spcPts val="0"/>
              </a:spcAft>
              <a:buClr>
                <a:srgbClr val="000000"/>
              </a:buClr>
              <a:buSzPts val="1800"/>
              <a:buFont typeface="Helvetica Neue Light"/>
              <a:buChar char="•"/>
              <a:defRPr sz="1800"/>
            </a:lvl6pPr>
            <a:lvl7pPr marL="3200400" lvl="6" indent="-342900" algn="l">
              <a:spcBef>
                <a:spcPts val="4200"/>
              </a:spcBef>
              <a:spcAft>
                <a:spcPts val="0"/>
              </a:spcAft>
              <a:buClr>
                <a:srgbClr val="000000"/>
              </a:buClr>
              <a:buSzPts val="1800"/>
              <a:buFont typeface="Helvetica Neue Light"/>
              <a:buChar char="•"/>
              <a:defRPr sz="1800"/>
            </a:lvl7pPr>
            <a:lvl8pPr marL="3657600" lvl="7" indent="-342900" algn="l">
              <a:spcBef>
                <a:spcPts val="4200"/>
              </a:spcBef>
              <a:spcAft>
                <a:spcPts val="0"/>
              </a:spcAft>
              <a:buClr>
                <a:srgbClr val="000000"/>
              </a:buClr>
              <a:buSzPts val="1800"/>
              <a:buFont typeface="Helvetica Neue Light"/>
              <a:buChar char="•"/>
              <a:defRPr sz="1800"/>
            </a:lvl8pPr>
            <a:lvl9pPr marL="4114800" lvl="8" indent="-342900" algn="l">
              <a:spcBef>
                <a:spcPts val="4200"/>
              </a:spcBef>
              <a:spcAft>
                <a:spcPts val="0"/>
              </a:spcAft>
              <a:buClr>
                <a:srgbClr val="000000"/>
              </a:buClr>
              <a:buSzPts val="1800"/>
              <a:buFont typeface="Helvetica Neue Light"/>
              <a:buChar char="•"/>
              <a:defRPr sz="1800"/>
            </a:lvl9pPr>
          </a:lstStyle>
          <a:p>
            <a:endParaRPr/>
          </a:p>
        </p:txBody>
      </p:sp>
      <p:sp>
        <p:nvSpPr>
          <p:cNvPr id="30" name="Google Shape;30;p126"/>
          <p:cNvSpPr txBox="1">
            <a:spLocks noGrp="1"/>
          </p:cNvSpPr>
          <p:nvPr>
            <p:ph type="body" idx="2"/>
          </p:nvPr>
        </p:nvSpPr>
        <p:spPr>
          <a:xfrm>
            <a:off x="6578600" y="2768600"/>
            <a:ext cx="5156200" cy="5715000"/>
          </a:xfrm>
          <a:prstGeom prst="rect">
            <a:avLst/>
          </a:prstGeom>
          <a:noFill/>
          <a:ln>
            <a:noFill/>
          </a:ln>
        </p:spPr>
        <p:txBody>
          <a:bodyPr spcFirstLastPara="1" wrap="square" lIns="50800" tIns="50800" rIns="50800" bIns="50800" anchor="ctr" anchorCtr="0">
            <a:noAutofit/>
          </a:bodyPr>
          <a:lstStyle>
            <a:lvl1pPr marL="457200" lvl="0" indent="-406400" algn="l">
              <a:spcBef>
                <a:spcPts val="4200"/>
              </a:spcBef>
              <a:spcAft>
                <a:spcPts val="0"/>
              </a:spcAft>
              <a:buClr>
                <a:srgbClr val="000000"/>
              </a:buClr>
              <a:buSzPts val="2800"/>
              <a:buFont typeface="Helvetica Neue Light"/>
              <a:buChar char="•"/>
              <a:defRPr sz="2800"/>
            </a:lvl1pPr>
            <a:lvl2pPr marL="914400" lvl="1" indent="-381000" algn="l">
              <a:spcBef>
                <a:spcPts val="4200"/>
              </a:spcBef>
              <a:spcAft>
                <a:spcPts val="0"/>
              </a:spcAft>
              <a:buClr>
                <a:srgbClr val="000000"/>
              </a:buClr>
              <a:buSzPts val="2400"/>
              <a:buFont typeface="Helvetica Neue Light"/>
              <a:buChar char="•"/>
              <a:defRPr sz="2400"/>
            </a:lvl2pPr>
            <a:lvl3pPr marL="1371600" lvl="2" indent="-355600" algn="l">
              <a:spcBef>
                <a:spcPts val="4200"/>
              </a:spcBef>
              <a:spcAft>
                <a:spcPts val="0"/>
              </a:spcAft>
              <a:buClr>
                <a:srgbClr val="000000"/>
              </a:buClr>
              <a:buSzPts val="2000"/>
              <a:buFont typeface="Helvetica Neue Light"/>
              <a:buChar char="•"/>
              <a:defRPr sz="2000"/>
            </a:lvl3pPr>
            <a:lvl4pPr marL="1828800" lvl="3" indent="-342900" algn="l">
              <a:spcBef>
                <a:spcPts val="4200"/>
              </a:spcBef>
              <a:spcAft>
                <a:spcPts val="0"/>
              </a:spcAft>
              <a:buClr>
                <a:srgbClr val="000000"/>
              </a:buClr>
              <a:buSzPts val="1800"/>
              <a:buFont typeface="Helvetica Neue Light"/>
              <a:buChar char="•"/>
              <a:defRPr sz="1800"/>
            </a:lvl4pPr>
            <a:lvl5pPr marL="2286000" lvl="4" indent="-342900" algn="l">
              <a:spcBef>
                <a:spcPts val="4200"/>
              </a:spcBef>
              <a:spcAft>
                <a:spcPts val="0"/>
              </a:spcAft>
              <a:buClr>
                <a:srgbClr val="000000"/>
              </a:buClr>
              <a:buSzPts val="1800"/>
              <a:buFont typeface="Helvetica Neue Light"/>
              <a:buChar char="•"/>
              <a:defRPr sz="1800"/>
            </a:lvl5pPr>
            <a:lvl6pPr marL="2743200" lvl="5" indent="-342900" algn="l">
              <a:spcBef>
                <a:spcPts val="4200"/>
              </a:spcBef>
              <a:spcAft>
                <a:spcPts val="0"/>
              </a:spcAft>
              <a:buClr>
                <a:srgbClr val="000000"/>
              </a:buClr>
              <a:buSzPts val="1800"/>
              <a:buFont typeface="Helvetica Neue Light"/>
              <a:buChar char="•"/>
              <a:defRPr sz="1800"/>
            </a:lvl6pPr>
            <a:lvl7pPr marL="3200400" lvl="6" indent="-342900" algn="l">
              <a:spcBef>
                <a:spcPts val="4200"/>
              </a:spcBef>
              <a:spcAft>
                <a:spcPts val="0"/>
              </a:spcAft>
              <a:buClr>
                <a:srgbClr val="000000"/>
              </a:buClr>
              <a:buSzPts val="1800"/>
              <a:buFont typeface="Helvetica Neue Light"/>
              <a:buChar char="•"/>
              <a:defRPr sz="1800"/>
            </a:lvl7pPr>
            <a:lvl8pPr marL="3657600" lvl="7" indent="-342900" algn="l">
              <a:spcBef>
                <a:spcPts val="4200"/>
              </a:spcBef>
              <a:spcAft>
                <a:spcPts val="0"/>
              </a:spcAft>
              <a:buClr>
                <a:srgbClr val="000000"/>
              </a:buClr>
              <a:buSzPts val="1800"/>
              <a:buFont typeface="Helvetica Neue Light"/>
              <a:buChar char="•"/>
              <a:defRPr sz="1800"/>
            </a:lvl8pPr>
            <a:lvl9pPr marL="4114800" lvl="8" indent="-342900" algn="l">
              <a:spcBef>
                <a:spcPts val="4200"/>
              </a:spcBef>
              <a:spcAft>
                <a:spcPts val="0"/>
              </a:spcAft>
              <a:buClr>
                <a:srgbClr val="000000"/>
              </a:buClr>
              <a:buSzPts val="1800"/>
              <a:buFont typeface="Helvetica Neue Light"/>
              <a:buChar char="•"/>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27"/>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129"/>
          <p:cNvSpPr txBox="1">
            <a:spLocks noGrp="1"/>
          </p:cNvSpPr>
          <p:nvPr>
            <p:ph type="title"/>
          </p:nvPr>
        </p:nvSpPr>
        <p:spPr>
          <a:xfrm>
            <a:off x="2549525" y="6827838"/>
            <a:ext cx="7802563" cy="8064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129"/>
          <p:cNvSpPr>
            <a:spLocks noGrp="1"/>
          </p:cNvSpPr>
          <p:nvPr>
            <p:ph type="pic" idx="2"/>
          </p:nvPr>
        </p:nvSpPr>
        <p:spPr>
          <a:xfrm>
            <a:off x="2549525" y="871538"/>
            <a:ext cx="7802563" cy="5851525"/>
          </a:xfrm>
          <a:prstGeom prst="rect">
            <a:avLst/>
          </a:prstGeom>
          <a:noFill/>
          <a:ln>
            <a:noFill/>
          </a:ln>
        </p:spPr>
      </p:sp>
      <p:sp>
        <p:nvSpPr>
          <p:cNvPr id="37" name="Google Shape;37;p129"/>
          <p:cNvSpPr txBox="1">
            <a:spLocks noGrp="1"/>
          </p:cNvSpPr>
          <p:nvPr>
            <p:ph type="body" idx="1"/>
          </p:nvPr>
        </p:nvSpPr>
        <p:spPr>
          <a:xfrm>
            <a:off x="2549525" y="7634288"/>
            <a:ext cx="7802563" cy="1144587"/>
          </a:xfrm>
          <a:prstGeom prst="rect">
            <a:avLst/>
          </a:prstGeom>
          <a:noFill/>
          <a:ln>
            <a:noFill/>
          </a:ln>
        </p:spPr>
        <p:txBody>
          <a:bodyPr spcFirstLastPara="1" wrap="square" lIns="50800" tIns="50800" rIns="50800" bIns="50800" anchor="ctr" anchorCtr="0">
            <a:noAutofit/>
          </a:bodyPr>
          <a:lstStyle>
            <a:lvl1pPr marL="457200" lvl="0" indent="-228600" algn="l">
              <a:spcBef>
                <a:spcPts val="4200"/>
              </a:spcBef>
              <a:spcAft>
                <a:spcPts val="0"/>
              </a:spcAft>
              <a:buClr>
                <a:srgbClr val="000000"/>
              </a:buClr>
              <a:buSzPts val="1400"/>
              <a:buFont typeface="Helvetica Neue Light"/>
              <a:buNone/>
              <a:defRPr sz="1400"/>
            </a:lvl1pPr>
            <a:lvl2pPr marL="914400" lvl="1" indent="-228600" algn="l">
              <a:spcBef>
                <a:spcPts val="4200"/>
              </a:spcBef>
              <a:spcAft>
                <a:spcPts val="0"/>
              </a:spcAft>
              <a:buClr>
                <a:srgbClr val="000000"/>
              </a:buClr>
              <a:buSzPts val="1200"/>
              <a:buFont typeface="Helvetica Neue Light"/>
              <a:buNone/>
              <a:defRPr sz="1200"/>
            </a:lvl2pPr>
            <a:lvl3pPr marL="1371600" lvl="2" indent="-228600" algn="l">
              <a:spcBef>
                <a:spcPts val="4200"/>
              </a:spcBef>
              <a:spcAft>
                <a:spcPts val="0"/>
              </a:spcAft>
              <a:buClr>
                <a:srgbClr val="000000"/>
              </a:buClr>
              <a:buSzPts val="1000"/>
              <a:buFont typeface="Helvetica Neue Light"/>
              <a:buNone/>
              <a:defRPr sz="1000"/>
            </a:lvl3pPr>
            <a:lvl4pPr marL="1828800" lvl="3" indent="-228600" algn="l">
              <a:spcBef>
                <a:spcPts val="4200"/>
              </a:spcBef>
              <a:spcAft>
                <a:spcPts val="0"/>
              </a:spcAft>
              <a:buClr>
                <a:srgbClr val="000000"/>
              </a:buClr>
              <a:buSzPts val="900"/>
              <a:buFont typeface="Helvetica Neue Light"/>
              <a:buNone/>
              <a:defRPr sz="900"/>
            </a:lvl4pPr>
            <a:lvl5pPr marL="2286000" lvl="4" indent="-228600" algn="l">
              <a:spcBef>
                <a:spcPts val="4200"/>
              </a:spcBef>
              <a:spcAft>
                <a:spcPts val="0"/>
              </a:spcAft>
              <a:buClr>
                <a:srgbClr val="000000"/>
              </a:buClr>
              <a:buSzPts val="900"/>
              <a:buFont typeface="Helvetica Neue Light"/>
              <a:buNone/>
              <a:defRPr sz="900"/>
            </a:lvl5pPr>
            <a:lvl6pPr marL="2743200" lvl="5" indent="-228600" algn="l">
              <a:spcBef>
                <a:spcPts val="4200"/>
              </a:spcBef>
              <a:spcAft>
                <a:spcPts val="0"/>
              </a:spcAft>
              <a:buClr>
                <a:srgbClr val="000000"/>
              </a:buClr>
              <a:buSzPts val="900"/>
              <a:buFont typeface="Helvetica Neue Light"/>
              <a:buNone/>
              <a:defRPr sz="900"/>
            </a:lvl6pPr>
            <a:lvl7pPr marL="3200400" lvl="6" indent="-228600" algn="l">
              <a:spcBef>
                <a:spcPts val="4200"/>
              </a:spcBef>
              <a:spcAft>
                <a:spcPts val="0"/>
              </a:spcAft>
              <a:buClr>
                <a:srgbClr val="000000"/>
              </a:buClr>
              <a:buSzPts val="900"/>
              <a:buFont typeface="Helvetica Neue Light"/>
              <a:buNone/>
              <a:defRPr sz="900"/>
            </a:lvl7pPr>
            <a:lvl8pPr marL="3657600" lvl="7" indent="-228600" algn="l">
              <a:spcBef>
                <a:spcPts val="4200"/>
              </a:spcBef>
              <a:spcAft>
                <a:spcPts val="0"/>
              </a:spcAft>
              <a:buClr>
                <a:srgbClr val="000000"/>
              </a:buClr>
              <a:buSzPts val="900"/>
              <a:buFont typeface="Helvetica Neue Light"/>
              <a:buNone/>
              <a:defRPr sz="900"/>
            </a:lvl8pPr>
            <a:lvl9pPr marL="4114800" lvl="8" indent="-228600" algn="l">
              <a:spcBef>
                <a:spcPts val="4200"/>
              </a:spcBef>
              <a:spcAft>
                <a:spcPts val="0"/>
              </a:spcAft>
              <a:buClr>
                <a:srgbClr val="000000"/>
              </a:buClr>
              <a:buSzPts val="900"/>
              <a:buFont typeface="Helvetica Neue Light"/>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130"/>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130"/>
          <p:cNvSpPr txBox="1">
            <a:spLocks noGrp="1"/>
          </p:cNvSpPr>
          <p:nvPr>
            <p:ph type="body" idx="1"/>
          </p:nvPr>
        </p:nvSpPr>
        <p:spPr>
          <a:xfrm rot="5400000">
            <a:off x="3644900" y="393700"/>
            <a:ext cx="5715000" cy="104648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131"/>
          <p:cNvSpPr txBox="1">
            <a:spLocks noGrp="1"/>
          </p:cNvSpPr>
          <p:nvPr>
            <p:ph type="title"/>
          </p:nvPr>
        </p:nvSpPr>
        <p:spPr>
          <a:xfrm rot="5400000">
            <a:off x="6311900" y="3060700"/>
            <a:ext cx="8229600" cy="2616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131"/>
          <p:cNvSpPr txBox="1">
            <a:spLocks noGrp="1"/>
          </p:cNvSpPr>
          <p:nvPr>
            <p:ph type="body" idx="1"/>
          </p:nvPr>
        </p:nvSpPr>
        <p:spPr>
          <a:xfrm rot="5400000">
            <a:off x="1003300" y="520700"/>
            <a:ext cx="8229600" cy="7696200"/>
          </a:xfrm>
          <a:prstGeom prst="rect">
            <a:avLst/>
          </a:prstGeom>
          <a:noFill/>
          <a:ln>
            <a:noFill/>
          </a:ln>
        </p:spPr>
        <p:txBody>
          <a:bodyPr spcFirstLastPara="1" wrap="square" lIns="50800" tIns="50800" rIns="50800" bIns="50800" anchor="ctr" anchorCtr="0">
            <a:noAutofit/>
          </a:bodyPr>
          <a:lstStyle>
            <a:lvl1pPr marL="457200" lvl="0" indent="-342900" algn="l">
              <a:spcBef>
                <a:spcPts val="4200"/>
              </a:spcBef>
              <a:spcAft>
                <a:spcPts val="0"/>
              </a:spcAft>
              <a:buClr>
                <a:srgbClr val="000000"/>
              </a:buClr>
              <a:buSzPts val="1800"/>
              <a:buChar char="•"/>
              <a:defRPr/>
            </a:lvl1pPr>
            <a:lvl2pPr marL="914400" lvl="1" indent="-342900" algn="l">
              <a:spcBef>
                <a:spcPts val="4200"/>
              </a:spcBef>
              <a:spcAft>
                <a:spcPts val="0"/>
              </a:spcAft>
              <a:buClr>
                <a:srgbClr val="000000"/>
              </a:buClr>
              <a:buSzPts val="1800"/>
              <a:buChar char="•"/>
              <a:defRPr/>
            </a:lvl2pPr>
            <a:lvl3pPr marL="1371600" lvl="2" indent="-342900" algn="l">
              <a:spcBef>
                <a:spcPts val="4200"/>
              </a:spcBef>
              <a:spcAft>
                <a:spcPts val="0"/>
              </a:spcAft>
              <a:buClr>
                <a:srgbClr val="000000"/>
              </a:buClr>
              <a:buSzPts val="1800"/>
              <a:buChar char="•"/>
              <a:defRPr/>
            </a:lvl3pPr>
            <a:lvl4pPr marL="1828800" lvl="3" indent="-342900" algn="l">
              <a:spcBef>
                <a:spcPts val="4200"/>
              </a:spcBef>
              <a:spcAft>
                <a:spcPts val="0"/>
              </a:spcAft>
              <a:buClr>
                <a:srgbClr val="000000"/>
              </a:buClr>
              <a:buSzPts val="1800"/>
              <a:buChar char="•"/>
              <a:defRPr/>
            </a:lvl4pPr>
            <a:lvl5pPr marL="2286000" lvl="4" indent="-342900" algn="l">
              <a:spcBef>
                <a:spcPts val="4200"/>
              </a:spcBef>
              <a:spcAft>
                <a:spcPts val="0"/>
              </a:spcAft>
              <a:buClr>
                <a:srgbClr val="000000"/>
              </a:buClr>
              <a:buSzPts val="1800"/>
              <a:buChar char="•"/>
              <a:defRPr/>
            </a:lvl5pPr>
            <a:lvl6pPr marL="2743200" lvl="5" indent="-342900" algn="l">
              <a:spcBef>
                <a:spcPts val="4200"/>
              </a:spcBef>
              <a:spcAft>
                <a:spcPts val="0"/>
              </a:spcAft>
              <a:buClr>
                <a:srgbClr val="000000"/>
              </a:buClr>
              <a:buSzPts val="1800"/>
              <a:buChar char="•"/>
              <a:defRPr/>
            </a:lvl6pPr>
            <a:lvl7pPr marL="3200400" lvl="6" indent="-342900" algn="l">
              <a:spcBef>
                <a:spcPts val="4200"/>
              </a:spcBef>
              <a:spcAft>
                <a:spcPts val="0"/>
              </a:spcAft>
              <a:buClr>
                <a:srgbClr val="000000"/>
              </a:buClr>
              <a:buSzPts val="1800"/>
              <a:buChar char="•"/>
              <a:defRPr/>
            </a:lvl7pPr>
            <a:lvl8pPr marL="3657600" lvl="7" indent="-342900" algn="l">
              <a:spcBef>
                <a:spcPts val="4200"/>
              </a:spcBef>
              <a:spcAft>
                <a:spcPts val="0"/>
              </a:spcAft>
              <a:buClr>
                <a:srgbClr val="000000"/>
              </a:buClr>
              <a:buSzPts val="1800"/>
              <a:buChar char="•"/>
              <a:defRPr/>
            </a:lvl8pPr>
            <a:lvl9pPr marL="4114800" lvl="8" indent="-342900" algn="l">
              <a:spcBef>
                <a:spcPts val="4200"/>
              </a:spcBef>
              <a:spcAft>
                <a:spcPts val="0"/>
              </a:spcAft>
              <a:buClr>
                <a:srgbClr val="000000"/>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20"/>
          <p:cNvSpPr txBox="1">
            <a:spLocks noGrp="1"/>
          </p:cNvSpPr>
          <p:nvPr>
            <p:ph type="title"/>
          </p:nvPr>
        </p:nvSpPr>
        <p:spPr>
          <a:xfrm>
            <a:off x="1270000" y="254000"/>
            <a:ext cx="10464800" cy="2438400"/>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spcBef>
                <a:spcPts val="0"/>
              </a:spcBef>
              <a:spcAft>
                <a:spcPts val="0"/>
              </a:spcAft>
              <a:buSzPts val="1400"/>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120"/>
          <p:cNvSpPr txBox="1">
            <a:spLocks noGrp="1"/>
          </p:cNvSpPr>
          <p:nvPr>
            <p:ph type="body" idx="1"/>
          </p:nvPr>
        </p:nvSpPr>
        <p:spPr>
          <a:xfrm>
            <a:off x="1270000" y="2768600"/>
            <a:ext cx="10464800" cy="5715000"/>
          </a:xfrm>
          <a:prstGeom prst="rect">
            <a:avLst/>
          </a:prstGeom>
          <a:noFill/>
          <a:ln>
            <a:noFill/>
          </a:ln>
        </p:spPr>
        <p:txBody>
          <a:bodyPr spcFirstLastPara="1" wrap="square" lIns="50800" tIns="50800" rIns="50800" bIns="50800" anchor="ctr" anchorCtr="0">
            <a:noAutofit/>
          </a:bodyPr>
          <a:lstStyle>
            <a:lvl1pPr marL="457200" marR="0" lvl="0"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1pPr>
            <a:lvl2pPr marL="914400" marR="0" lvl="1"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2pPr>
            <a:lvl3pPr marL="1371600" marR="0" lvl="2"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3pPr>
            <a:lvl4pPr marL="1828800" marR="0" lvl="3"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4pPr>
            <a:lvl5pPr marL="2286000" marR="0" lvl="4"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5pPr>
            <a:lvl6pPr marL="2743200" marR="0" lvl="5"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6pPr>
            <a:lvl7pPr marL="3200400" marR="0" lvl="6"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7pPr>
            <a:lvl8pPr marL="3657600" marR="0" lvl="7"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8pPr>
            <a:lvl9pPr marL="4114800" marR="0" lvl="8" indent="-469900" algn="l" rtl="0">
              <a:spcBef>
                <a:spcPts val="4200"/>
              </a:spcBef>
              <a:spcAft>
                <a:spcPts val="0"/>
              </a:spcAft>
              <a:buClr>
                <a:srgbClr val="000000"/>
              </a:buClr>
              <a:buSzPts val="3800"/>
              <a:buFont typeface="Helvetica Neue Light"/>
              <a:buChar char="•"/>
              <a:defRPr sz="3800" b="0" i="0" u="none" strike="noStrike" cap="none">
                <a:solidFill>
                  <a:srgbClr val="000000"/>
                </a:solidFill>
                <a:latin typeface="Helvetica Neue Light"/>
                <a:ea typeface="Helvetica Neue Light"/>
                <a:cs typeface="Helvetica Neue Light"/>
                <a:sym typeface="Helvetica Neue Ligh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4.jpg"/><Relationship Id="rId4" Type="http://schemas.openxmlformats.org/officeDocument/2006/relationships/image" Target="../media/image23.jpg"/></Relationships>
</file>

<file path=ppt/slides/_rels/slide6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7.jpg"/></Relationships>
</file>

<file path=ppt/slides/_rels/slide6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29.jp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33.jpg"/></Relationships>
</file>

<file path=ppt/slides/_rels/slide8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36.jp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a:spLocks noGrp="1"/>
          </p:cNvSpPr>
          <p:nvPr>
            <p:ph type="title"/>
          </p:nvPr>
        </p:nvSpPr>
        <p:spPr>
          <a:xfrm>
            <a:off x="511600" y="818650"/>
            <a:ext cx="12119100" cy="5244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atin typeface="Arial"/>
                <a:ea typeface="Arial"/>
                <a:cs typeface="Arial"/>
                <a:sym typeface="Arial"/>
              </a:rPr>
              <a:t>Adrenal Disease, Part I</a:t>
            </a:r>
            <a:endParaRPr sz="6200" dirty="0">
              <a:latin typeface="Arial"/>
              <a:ea typeface="Arial"/>
              <a:cs typeface="Arial"/>
              <a:sym typeface="Arial"/>
            </a:endParaRPr>
          </a:p>
          <a:p>
            <a:pPr marL="0" lvl="0" indent="0" algn="ctr" rtl="0">
              <a:spcBef>
                <a:spcPts val="0"/>
              </a:spcBef>
              <a:spcAft>
                <a:spcPts val="0"/>
              </a:spcAft>
              <a:buNone/>
            </a:pPr>
            <a:r>
              <a:rPr lang="en-US" sz="6200" dirty="0">
                <a:latin typeface="Arial"/>
                <a:ea typeface="Arial"/>
                <a:cs typeface="Arial"/>
                <a:sym typeface="Arial"/>
              </a:rPr>
              <a:t>Introduction and Glucocorticoids</a:t>
            </a:r>
            <a:br>
              <a:rPr lang="en-US" sz="6200" dirty="0">
                <a:latin typeface="Arial"/>
                <a:ea typeface="Arial"/>
                <a:cs typeface="Arial"/>
                <a:sym typeface="Arial"/>
              </a:rPr>
            </a:br>
            <a:br>
              <a:rPr lang="en-US" sz="6200" dirty="0">
                <a:latin typeface="Arial"/>
                <a:ea typeface="Arial"/>
                <a:cs typeface="Arial"/>
                <a:sym typeface="Arial"/>
              </a:rPr>
            </a:br>
            <a:r>
              <a:rPr lang="en-US" sz="4600" dirty="0">
                <a:latin typeface="Arial"/>
                <a:ea typeface="Arial"/>
                <a:cs typeface="Arial"/>
                <a:sym typeface="Arial"/>
              </a:rPr>
              <a:t>CMM: Endocrinology			Autumn  2026</a:t>
            </a:r>
            <a:endParaRPr dirty="0"/>
          </a:p>
        </p:txBody>
      </p:sp>
      <p:sp>
        <p:nvSpPr>
          <p:cNvPr id="49" name="Google Shape;49;p1"/>
          <p:cNvSpPr txBox="1">
            <a:spLocks noGrp="1"/>
          </p:cNvSpPr>
          <p:nvPr>
            <p:ph type="body" idx="1"/>
          </p:nvPr>
        </p:nvSpPr>
        <p:spPr>
          <a:xfrm>
            <a:off x="1949450" y="6683375"/>
            <a:ext cx="9104313" cy="1335088"/>
          </a:xfrm>
          <a:prstGeom prst="rect">
            <a:avLst/>
          </a:prstGeom>
          <a:noFill/>
          <a:ln>
            <a:noFill/>
          </a:ln>
        </p:spPr>
        <p:txBody>
          <a:bodyPr spcFirstLastPara="1" wrap="square" lIns="126425" tIns="72225" rIns="126425" bIns="72225" anchor="t" anchorCtr="0">
            <a:noAutofit/>
          </a:bodyPr>
          <a:lstStyle/>
          <a:p>
            <a:pPr marL="0" lvl="0" indent="0" algn="ctr" rtl="0">
              <a:spcBef>
                <a:spcPts val="0"/>
              </a:spcBef>
              <a:spcAft>
                <a:spcPts val="0"/>
              </a:spcAft>
              <a:buClr>
                <a:srgbClr val="000000"/>
              </a:buClr>
              <a:buSzPts val="4000"/>
              <a:buFont typeface="Arial"/>
              <a:buNone/>
            </a:pPr>
            <a:r>
              <a:rPr lang="en-US" sz="4000">
                <a:latin typeface="Arial"/>
                <a:ea typeface="Arial"/>
                <a:cs typeface="Arial"/>
                <a:sym typeface="Arial"/>
              </a:rPr>
              <a:t>Jill-Renae Gulczinski MS, PA-C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txBox="1">
            <a:spLocks noGrp="1"/>
          </p:cNvSpPr>
          <p:nvPr>
            <p:ph type="title"/>
          </p:nvPr>
        </p:nvSpPr>
        <p:spPr>
          <a:xfrm>
            <a:off x="819275" y="-70175"/>
            <a:ext cx="11703000" cy="16098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a:latin typeface="Calibri"/>
                <a:ea typeface="Calibri"/>
                <a:cs typeface="Calibri"/>
                <a:sym typeface="Calibri"/>
              </a:rPr>
              <a:t>The HPA Axis</a:t>
            </a:r>
            <a:endParaRPr/>
          </a:p>
        </p:txBody>
      </p:sp>
      <p:pic>
        <p:nvPicPr>
          <p:cNvPr id="56" name="Google Shape;56;p2" descr="Hypothalamic-Pituitary-Adrenal Axis"/>
          <p:cNvPicPr preferRelativeResize="0"/>
          <p:nvPr/>
        </p:nvPicPr>
        <p:blipFill rotWithShape="1">
          <a:blip r:embed="rId3">
            <a:alphaModFix/>
          </a:blip>
          <a:srcRect l="19557" t="4048" r="19685" b="4551"/>
          <a:stretch/>
        </p:blipFill>
        <p:spPr>
          <a:xfrm>
            <a:off x="8743283" y="1597248"/>
            <a:ext cx="4176418" cy="7696201"/>
          </a:xfrm>
          <a:prstGeom prst="rect">
            <a:avLst/>
          </a:prstGeom>
          <a:noFill/>
          <a:ln>
            <a:noFill/>
          </a:ln>
        </p:spPr>
      </p:pic>
      <p:sp>
        <p:nvSpPr>
          <p:cNvPr id="55" name="Google Shape;55;p2"/>
          <p:cNvSpPr txBox="1">
            <a:spLocks noGrp="1"/>
          </p:cNvSpPr>
          <p:nvPr>
            <p:ph type="body" idx="1"/>
          </p:nvPr>
        </p:nvSpPr>
        <p:spPr>
          <a:xfrm>
            <a:off x="224549" y="1236133"/>
            <a:ext cx="9105717" cy="8381999"/>
          </a:xfrm>
          <a:prstGeom prst="rect">
            <a:avLst/>
          </a:prstGeom>
          <a:noFill/>
          <a:ln>
            <a:noFill/>
          </a:ln>
        </p:spPr>
        <p:txBody>
          <a:bodyPr spcFirstLastPara="1" wrap="square" lIns="50800" tIns="50800" rIns="50800" bIns="50800" anchor="ctr" anchorCtr="0">
            <a:noAutofit/>
          </a:bodyPr>
          <a:lstStyle/>
          <a:p>
            <a:pPr marL="539750" lvl="0" indent="-571500" algn="l" rtl="0">
              <a:spcBef>
                <a:spcPts val="600"/>
              </a:spcBef>
              <a:spcAft>
                <a:spcPts val="600"/>
              </a:spcAft>
              <a:buClr>
                <a:srgbClr val="000000"/>
              </a:buClr>
              <a:buSzPts val="4020"/>
              <a:buFont typeface="Arial" panose="020B0604020202020204" pitchFamily="34" charset="0"/>
              <a:buChar char="•"/>
            </a:pPr>
            <a:r>
              <a:rPr lang="en-US" sz="4300" dirty="0">
                <a:latin typeface="Calibri"/>
                <a:ea typeface="Calibri"/>
                <a:cs typeface="Calibri"/>
                <a:sym typeface="Calibri"/>
              </a:rPr>
              <a:t>The adrenal gland is the target organ of the HPA axis.</a:t>
            </a:r>
            <a:endParaRPr sz="4300" dirty="0">
              <a:latin typeface="Calibri"/>
              <a:ea typeface="Calibri"/>
              <a:cs typeface="Calibri"/>
              <a:sym typeface="Calibri"/>
            </a:endParaRPr>
          </a:p>
          <a:p>
            <a:pPr marL="927100" lvl="1" indent="-571500" algn="l" rtl="0">
              <a:spcBef>
                <a:spcPts val="600"/>
              </a:spcBef>
              <a:spcAft>
                <a:spcPts val="600"/>
              </a:spcAft>
              <a:buSzPts val="2200"/>
              <a:buFont typeface="Wingdings" panose="05000000000000000000" pitchFamily="2" charset="2"/>
              <a:buChar char="Ø"/>
            </a:pPr>
            <a:r>
              <a:rPr lang="en-US" sz="4200" dirty="0">
                <a:latin typeface="Calibri"/>
                <a:ea typeface="Calibri"/>
                <a:cs typeface="Calibri"/>
                <a:sym typeface="Calibri"/>
              </a:rPr>
              <a:t>The </a:t>
            </a:r>
            <a:r>
              <a:rPr lang="en-US" sz="4200" b="1" i="1" dirty="0">
                <a:latin typeface="Calibri"/>
                <a:ea typeface="Calibri"/>
                <a:cs typeface="Calibri"/>
                <a:sym typeface="Calibri"/>
              </a:rPr>
              <a:t>hypothalamus produces CRH</a:t>
            </a:r>
            <a:r>
              <a:rPr lang="en-US" sz="4200" dirty="0">
                <a:latin typeface="Calibri"/>
                <a:ea typeface="Calibri"/>
                <a:cs typeface="Calibri"/>
                <a:sym typeface="Calibri"/>
              </a:rPr>
              <a:t>, corticotropin releasing hormone.</a:t>
            </a:r>
            <a:endParaRPr sz="4200" dirty="0">
              <a:latin typeface="Calibri"/>
              <a:ea typeface="Calibri"/>
              <a:cs typeface="Calibri"/>
              <a:sym typeface="Calibri"/>
            </a:endParaRPr>
          </a:p>
          <a:p>
            <a:pPr marL="927100" lvl="1" indent="-571500" algn="l" rtl="0">
              <a:spcBef>
                <a:spcPts val="600"/>
              </a:spcBef>
              <a:spcAft>
                <a:spcPts val="600"/>
              </a:spcAft>
              <a:buSzPts val="2200"/>
              <a:buFont typeface="Wingdings" panose="05000000000000000000" pitchFamily="2" charset="2"/>
              <a:buChar char="Ø"/>
            </a:pPr>
            <a:r>
              <a:rPr lang="en-US" sz="4200" b="1" i="1" dirty="0">
                <a:latin typeface="Calibri"/>
                <a:ea typeface="Calibri"/>
                <a:cs typeface="Calibri"/>
                <a:sym typeface="Calibri"/>
              </a:rPr>
              <a:t>CRH stimulates the anterior pituitary to produce ACTH</a:t>
            </a:r>
            <a:r>
              <a:rPr lang="en-US" sz="4200" dirty="0">
                <a:latin typeface="Calibri"/>
                <a:ea typeface="Calibri"/>
                <a:cs typeface="Calibri"/>
                <a:sym typeface="Calibri"/>
              </a:rPr>
              <a:t>, or adrenocorticotropic hormone.</a:t>
            </a:r>
            <a:endParaRPr sz="4200" dirty="0">
              <a:latin typeface="Calibri"/>
              <a:ea typeface="Calibri"/>
              <a:cs typeface="Calibri"/>
              <a:sym typeface="Calibri"/>
            </a:endParaRPr>
          </a:p>
          <a:p>
            <a:pPr marL="927100" lvl="1" indent="-571500" algn="l" rtl="0">
              <a:spcBef>
                <a:spcPts val="600"/>
              </a:spcBef>
              <a:spcAft>
                <a:spcPts val="600"/>
              </a:spcAft>
              <a:buSzPts val="2200"/>
              <a:buFont typeface="Wingdings" panose="05000000000000000000" pitchFamily="2" charset="2"/>
              <a:buChar char="Ø"/>
            </a:pPr>
            <a:r>
              <a:rPr lang="en-US" sz="4200" b="1" i="1" dirty="0">
                <a:latin typeface="Calibri"/>
                <a:ea typeface="Calibri"/>
                <a:cs typeface="Calibri"/>
                <a:sym typeface="Calibri"/>
              </a:rPr>
              <a:t>ACTH acts at the adrenal gland to</a:t>
            </a:r>
            <a:r>
              <a:rPr lang="en-US" sz="4200" dirty="0">
                <a:latin typeface="Calibri"/>
                <a:ea typeface="Calibri"/>
                <a:cs typeface="Calibri"/>
                <a:sym typeface="Calibri"/>
              </a:rPr>
              <a:t> </a:t>
            </a:r>
            <a:r>
              <a:rPr lang="en-US" sz="4200" b="1" i="1" dirty="0">
                <a:latin typeface="Calibri"/>
                <a:ea typeface="Calibri"/>
                <a:cs typeface="Calibri"/>
                <a:sym typeface="Calibri"/>
              </a:rPr>
              <a:t>stimulate cortisol secretion and to a much lesser extent, to stimulate aldosterone secretion.</a:t>
            </a:r>
            <a:endParaRPr sz="4200" b="1"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fa60496b86_1_0"/>
          <p:cNvSpPr txBox="1">
            <a:spLocks noGrp="1"/>
          </p:cNvSpPr>
          <p:nvPr>
            <p:ph type="title"/>
          </p:nvPr>
        </p:nvSpPr>
        <p:spPr>
          <a:xfrm>
            <a:off x="650875" y="0"/>
            <a:ext cx="11703000" cy="16098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a:latin typeface="Calibri"/>
                <a:ea typeface="Calibri"/>
                <a:cs typeface="Calibri"/>
                <a:sym typeface="Calibri"/>
              </a:rPr>
              <a:t>Adrenal Gland</a:t>
            </a:r>
            <a:endParaRPr/>
          </a:p>
        </p:txBody>
      </p:sp>
      <p:pic>
        <p:nvPicPr>
          <p:cNvPr id="62" name="Google Shape;62;gfa60496b86_1_0"/>
          <p:cNvPicPr preferRelativeResize="0"/>
          <p:nvPr/>
        </p:nvPicPr>
        <p:blipFill rotWithShape="1">
          <a:blip r:embed="rId3">
            <a:alphaModFix/>
          </a:blip>
          <a:srcRect/>
          <a:stretch/>
        </p:blipFill>
        <p:spPr>
          <a:xfrm>
            <a:off x="5723467" y="4463857"/>
            <a:ext cx="7281333" cy="3400931"/>
          </a:xfrm>
          <a:prstGeom prst="rect">
            <a:avLst/>
          </a:prstGeom>
          <a:noFill/>
          <a:ln>
            <a:noFill/>
          </a:ln>
        </p:spPr>
      </p:pic>
      <p:sp>
        <p:nvSpPr>
          <p:cNvPr id="63" name="Google Shape;63;gfa60496b86_1_0"/>
          <p:cNvSpPr txBox="1">
            <a:spLocks noGrp="1"/>
          </p:cNvSpPr>
          <p:nvPr>
            <p:ph type="body" idx="1"/>
          </p:nvPr>
        </p:nvSpPr>
        <p:spPr>
          <a:xfrm>
            <a:off x="254001" y="1609799"/>
            <a:ext cx="12420600" cy="2436500"/>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rgbClr val="000000"/>
              </a:buClr>
              <a:buSzPts val="3520"/>
              <a:buFont typeface="Calibri"/>
              <a:buChar char="•"/>
            </a:pPr>
            <a:r>
              <a:rPr lang="en-US" sz="4400" dirty="0">
                <a:latin typeface="Calibri"/>
                <a:ea typeface="Calibri"/>
                <a:cs typeface="Calibri"/>
                <a:sym typeface="Calibri"/>
              </a:rPr>
              <a:t>The adrenal cortex: consists of three layers which secrete steroid hormones.  From the outside in, the layers of the adrenal gland synthesize: </a:t>
            </a:r>
            <a:endParaRPr dirty="0"/>
          </a:p>
        </p:txBody>
      </p:sp>
      <p:sp>
        <p:nvSpPr>
          <p:cNvPr id="2" name="TextBox 1">
            <a:extLst>
              <a:ext uri="{FF2B5EF4-FFF2-40B4-BE49-F238E27FC236}">
                <a16:creationId xmlns:a16="http://schemas.microsoft.com/office/drawing/2014/main" id="{A94EB66F-1298-85C4-7DE7-068E208E3210}"/>
              </a:ext>
            </a:extLst>
          </p:cNvPr>
          <p:cNvSpPr txBox="1"/>
          <p:nvPr/>
        </p:nvSpPr>
        <p:spPr>
          <a:xfrm>
            <a:off x="254001" y="4325312"/>
            <a:ext cx="5621867" cy="3400931"/>
          </a:xfrm>
          <a:prstGeom prst="rect">
            <a:avLst/>
          </a:prstGeom>
          <a:noFill/>
        </p:spPr>
        <p:txBody>
          <a:bodyPr wrap="square" rtlCol="0">
            <a:spAutoFit/>
          </a:bodyPr>
          <a:lstStyle/>
          <a:p>
            <a:pPr marL="762000" lvl="1"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Mineralocorticoids</a:t>
            </a:r>
            <a:endParaRPr lang="en-US" sz="4400" dirty="0">
              <a:latin typeface="Calibri" panose="020F0502020204030204" pitchFamily="34" charset="0"/>
              <a:cs typeface="Calibri" panose="020F0502020204030204" pitchFamily="34" charset="0"/>
            </a:endParaRPr>
          </a:p>
          <a:p>
            <a:pPr marL="762000" lvl="1"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Glucocorticoids</a:t>
            </a:r>
            <a:endParaRPr lang="en-US" sz="4400" dirty="0">
              <a:latin typeface="Calibri" panose="020F0502020204030204" pitchFamily="34" charset="0"/>
              <a:cs typeface="Calibri" panose="020F0502020204030204" pitchFamily="34" charset="0"/>
            </a:endParaRPr>
          </a:p>
          <a:p>
            <a:pPr marL="762000" lvl="1" indent="-381000" algn="l" rtl="0">
              <a:spcBef>
                <a:spcPts val="600"/>
              </a:spcBef>
              <a:spcAft>
                <a:spcPts val="600"/>
              </a:spcAft>
              <a:buClr>
                <a:srgbClr val="000000"/>
              </a:buClr>
              <a:buSzPts val="3520"/>
              <a:buFont typeface="Calibri"/>
              <a:buChar char="•"/>
            </a:pPr>
            <a:r>
              <a:rPr lang="en-US" sz="4400" dirty="0">
                <a:latin typeface="Calibri" panose="020F0502020204030204" pitchFamily="34" charset="0"/>
                <a:ea typeface="Calibri"/>
                <a:cs typeface="Calibri" panose="020F0502020204030204" pitchFamily="34" charset="0"/>
                <a:sym typeface="Calibri"/>
              </a:rPr>
              <a:t>Sex hormones- adrenal androgens</a:t>
            </a:r>
            <a:endParaRPr lang="en-US" sz="4400" dirty="0">
              <a:latin typeface="Calibri" panose="020F0502020204030204" pitchFamily="34" charset="0"/>
              <a:cs typeface="Calibri" panose="020F0502020204030204" pitchFamily="34" charset="0"/>
            </a:endParaRPr>
          </a:p>
          <a:p>
            <a:endParaRPr lang="en-US" dirty="0"/>
          </a:p>
        </p:txBody>
      </p:sp>
      <p:sp>
        <p:nvSpPr>
          <p:cNvPr id="3" name="TextBox 2">
            <a:extLst>
              <a:ext uri="{FF2B5EF4-FFF2-40B4-BE49-F238E27FC236}">
                <a16:creationId xmlns:a16="http://schemas.microsoft.com/office/drawing/2014/main" id="{ED7F5A79-10BF-BE91-BFA4-595570FD6B0D}"/>
              </a:ext>
            </a:extLst>
          </p:cNvPr>
          <p:cNvSpPr txBox="1"/>
          <p:nvPr/>
        </p:nvSpPr>
        <p:spPr>
          <a:xfrm>
            <a:off x="254002" y="8005256"/>
            <a:ext cx="12750798" cy="1661993"/>
          </a:xfrm>
          <a:prstGeom prst="rect">
            <a:avLst/>
          </a:prstGeom>
          <a:noFill/>
        </p:spPr>
        <p:txBody>
          <a:bodyPr wrap="square" rtlCol="0">
            <a:spAutoFit/>
          </a:bodyPr>
          <a:lstStyle/>
          <a:p>
            <a:pPr marL="457200" indent="-457200">
              <a:buFont typeface="Arial" panose="020B0604020202020204" pitchFamily="34" charset="0"/>
              <a:buChar char="•"/>
            </a:pPr>
            <a:r>
              <a:rPr lang="en-US" sz="4400" dirty="0">
                <a:latin typeface="Calibri" panose="020F0502020204030204" pitchFamily="34" charset="0"/>
                <a:ea typeface="Calibri"/>
                <a:cs typeface="Calibri" panose="020F0502020204030204" pitchFamily="34" charset="0"/>
                <a:sym typeface="Calibri"/>
              </a:rPr>
              <a:t>Adrenal medulla: a separate organ in function, the medulla produces epinephrine and norepinephrine.</a:t>
            </a:r>
            <a:endParaRPr lang="en-US" sz="4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650081" y="179389"/>
            <a:ext cx="11704637" cy="134302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a:latin typeface="Calibri"/>
                <a:ea typeface="Calibri"/>
                <a:cs typeface="Calibri"/>
                <a:sym typeface="Calibri"/>
              </a:rPr>
              <a:t>Roids?</a:t>
            </a:r>
            <a:endParaRPr/>
          </a:p>
        </p:txBody>
      </p:sp>
      <p:sp>
        <p:nvSpPr>
          <p:cNvPr id="69" name="Google Shape;69;p3"/>
          <p:cNvSpPr txBox="1">
            <a:spLocks noGrp="1"/>
          </p:cNvSpPr>
          <p:nvPr>
            <p:ph type="body" idx="1"/>
          </p:nvPr>
        </p:nvSpPr>
        <p:spPr>
          <a:xfrm>
            <a:off x="187959" y="1465265"/>
            <a:ext cx="12628880" cy="4687886"/>
          </a:xfrm>
          <a:prstGeom prst="rect">
            <a:avLst/>
          </a:prstGeom>
          <a:noFill/>
          <a:ln>
            <a:noFill/>
          </a:ln>
        </p:spPr>
        <p:txBody>
          <a:bodyPr spcFirstLastPara="1" wrap="square" lIns="126425" tIns="72225" rIns="126425" bIns="72225" anchor="t" anchorCtr="0">
            <a:noAutofit/>
          </a:bodyPr>
          <a:lstStyle/>
          <a:p>
            <a:pPr marL="647700" lvl="0" indent="-571500" algn="l" rtl="0">
              <a:spcBef>
                <a:spcPts val="0"/>
              </a:spcBef>
              <a:spcAft>
                <a:spcPts val="0"/>
              </a:spcAft>
              <a:buClr>
                <a:srgbClr val="000000"/>
              </a:buClr>
              <a:buSzPts val="3520"/>
              <a:buFont typeface="Calibri"/>
              <a:buChar char="•"/>
            </a:pPr>
            <a:r>
              <a:rPr lang="en-US" sz="4400" dirty="0">
                <a:latin typeface="Calibri"/>
                <a:ea typeface="Calibri"/>
                <a:cs typeface="Calibri"/>
                <a:sym typeface="Calibri"/>
              </a:rPr>
              <a:t>When most people think about steroids, they are considering anabolic androgenic steroids, based on testosterone.</a:t>
            </a:r>
            <a:endParaRPr dirty="0"/>
          </a:p>
          <a:p>
            <a:pPr marL="647700" lvl="0" indent="-469900" algn="l" rtl="0">
              <a:spcBef>
                <a:spcPts val="600"/>
              </a:spcBef>
              <a:spcAft>
                <a:spcPts val="0"/>
              </a:spcAft>
              <a:buClr>
                <a:srgbClr val="000000"/>
              </a:buClr>
              <a:buSzPts val="1600"/>
              <a:buFont typeface="Helvetica Neue Light"/>
              <a:buNone/>
            </a:pPr>
            <a:endParaRPr sz="1000" dirty="0">
              <a:latin typeface="Calibri"/>
              <a:ea typeface="Calibri"/>
              <a:cs typeface="Calibri"/>
              <a:sym typeface="Calibri"/>
            </a:endParaRPr>
          </a:p>
          <a:p>
            <a:pPr marL="647700" lvl="0" indent="-571500" algn="l" rtl="0">
              <a:spcBef>
                <a:spcPts val="600"/>
              </a:spcBef>
              <a:spcAft>
                <a:spcPts val="0"/>
              </a:spcAft>
              <a:buClr>
                <a:srgbClr val="000000"/>
              </a:buClr>
              <a:buSzPts val="3520"/>
              <a:buFont typeface="Calibri"/>
              <a:buChar char="•"/>
            </a:pPr>
            <a:r>
              <a:rPr lang="en-US" sz="4400" dirty="0">
                <a:latin typeface="Calibri"/>
                <a:ea typeface="Calibri"/>
                <a:cs typeface="Calibri"/>
                <a:sym typeface="Calibri"/>
              </a:rPr>
              <a:t>These drugs are prescribed legitimately for testicular failure and </a:t>
            </a:r>
            <a:r>
              <a:rPr lang="en-US" sz="4400" dirty="0" err="1">
                <a:latin typeface="Calibri"/>
                <a:ea typeface="Calibri"/>
                <a:cs typeface="Calibri"/>
                <a:sym typeface="Calibri"/>
              </a:rPr>
              <a:t>hypotestosteronism</a:t>
            </a:r>
            <a:r>
              <a:rPr lang="en-US" sz="4400" dirty="0">
                <a:latin typeface="Calibri"/>
                <a:ea typeface="Calibri"/>
                <a:cs typeface="Calibri"/>
                <a:sym typeface="Calibri"/>
              </a:rPr>
              <a:t>, as well as illegally to improve sports performance.</a:t>
            </a:r>
            <a:endParaRPr dirty="0"/>
          </a:p>
        </p:txBody>
      </p:sp>
      <p:pic>
        <p:nvPicPr>
          <p:cNvPr id="70" name="Google Shape;70;p3" descr="We're here to pump... You up! - Hans &amp; Franz | Meme Generator"/>
          <p:cNvPicPr preferRelativeResize="0"/>
          <p:nvPr/>
        </p:nvPicPr>
        <p:blipFill rotWithShape="1">
          <a:blip r:embed="rId3">
            <a:alphaModFix/>
          </a:blip>
          <a:srcRect/>
          <a:stretch/>
        </p:blipFill>
        <p:spPr>
          <a:xfrm>
            <a:off x="7541597" y="5949758"/>
            <a:ext cx="5275242" cy="2978538"/>
          </a:xfrm>
          <a:prstGeom prst="rect">
            <a:avLst/>
          </a:prstGeom>
          <a:noFill/>
          <a:ln>
            <a:noFill/>
          </a:ln>
        </p:spPr>
      </p:pic>
      <p:sp>
        <p:nvSpPr>
          <p:cNvPr id="71" name="Google Shape;71;p3"/>
          <p:cNvSpPr txBox="1"/>
          <p:nvPr/>
        </p:nvSpPr>
        <p:spPr>
          <a:xfrm>
            <a:off x="194733" y="6163930"/>
            <a:ext cx="7239000" cy="2800767"/>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rgbClr val="000000"/>
              </a:buClr>
              <a:buSzPts val="4400"/>
              <a:buFont typeface="Arial"/>
              <a:buChar char="•"/>
            </a:pPr>
            <a:r>
              <a:rPr lang="en-US" sz="4400" b="0" i="0" u="none" strike="noStrike" cap="none" dirty="0">
                <a:solidFill>
                  <a:srgbClr val="000000"/>
                </a:solidFill>
                <a:latin typeface="Calibri"/>
                <a:ea typeface="Calibri"/>
                <a:cs typeface="Calibri"/>
                <a:sym typeface="Calibri"/>
              </a:rPr>
              <a:t>We’ll talk about the legitimate uses for androgenic steroids in GU, for now, we’ll focus on</a:t>
            </a:r>
            <a:endParaRPr dirty="0"/>
          </a:p>
        </p:txBody>
      </p:sp>
      <p:sp>
        <p:nvSpPr>
          <p:cNvPr id="72" name="Google Shape;72;p3"/>
          <p:cNvSpPr txBox="1"/>
          <p:nvPr/>
        </p:nvSpPr>
        <p:spPr>
          <a:xfrm>
            <a:off x="711552" y="8804810"/>
            <a:ext cx="10305786"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0" i="0" u="none" strike="noStrike" cap="none" dirty="0">
                <a:solidFill>
                  <a:srgbClr val="000000"/>
                </a:solidFill>
                <a:latin typeface="Calibri"/>
                <a:ea typeface="Calibri"/>
                <a:cs typeface="Calibri"/>
                <a:sym typeface="Calibri"/>
              </a:rPr>
              <a:t>glucocorticoids and mineralocorticoids.</a:t>
            </a:r>
            <a:endParaRPr sz="4400" dirty="0">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155575" y="0"/>
            <a:ext cx="10460038" cy="20574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br>
              <a:rPr lang="en-US"/>
            </a:br>
            <a:r>
              <a:rPr lang="en-US" sz="7000">
                <a:latin typeface="Calibri"/>
                <a:ea typeface="Calibri"/>
                <a:cs typeface="Calibri"/>
                <a:sym typeface="Calibri"/>
              </a:rPr>
              <a:t>Glucocorticoid Function</a:t>
            </a:r>
            <a:br>
              <a:rPr lang="en-US"/>
            </a:br>
            <a:endParaRPr/>
          </a:p>
        </p:txBody>
      </p:sp>
      <p:sp>
        <p:nvSpPr>
          <p:cNvPr id="78" name="Google Shape;78;p4"/>
          <p:cNvSpPr txBox="1">
            <a:spLocks noGrp="1"/>
          </p:cNvSpPr>
          <p:nvPr>
            <p:ph type="body" idx="1"/>
          </p:nvPr>
        </p:nvSpPr>
        <p:spPr>
          <a:xfrm>
            <a:off x="214313" y="1882775"/>
            <a:ext cx="12634912" cy="7726363"/>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rgbClr val="000000"/>
              </a:buClr>
              <a:buSzPts val="3520"/>
              <a:buFont typeface="Calibri"/>
              <a:buChar char="•"/>
            </a:pPr>
            <a:r>
              <a:rPr lang="en-US" sz="4400" b="1" i="1" dirty="0">
                <a:latin typeface="Calibri"/>
                <a:ea typeface="Calibri"/>
                <a:cs typeface="Calibri"/>
                <a:sym typeface="Calibri"/>
              </a:rPr>
              <a:t>Glucocorticoids are our stress hormones:</a:t>
            </a:r>
            <a:endParaRPr dirty="0"/>
          </a:p>
          <a:p>
            <a:pPr marL="762000" lvl="1" indent="-381000" algn="l" rtl="0">
              <a:spcBef>
                <a:spcPts val="1800"/>
              </a:spcBef>
              <a:spcAft>
                <a:spcPts val="0"/>
              </a:spcAft>
              <a:buClr>
                <a:srgbClr val="000000"/>
              </a:buClr>
              <a:buSzPts val="3200"/>
              <a:buFont typeface="Calibri"/>
              <a:buChar char="•"/>
            </a:pPr>
            <a:r>
              <a:rPr lang="en-US" sz="4000" b="1" dirty="0">
                <a:solidFill>
                  <a:schemeClr val="tx1"/>
                </a:solidFill>
                <a:latin typeface="Calibri"/>
                <a:ea typeface="Calibri"/>
                <a:cs typeface="Calibri"/>
                <a:sym typeface="Calibri"/>
              </a:rPr>
              <a:t>Decrease the uptake of glucose </a:t>
            </a:r>
            <a:r>
              <a:rPr lang="en-US" sz="4000" dirty="0">
                <a:solidFill>
                  <a:schemeClr val="tx1"/>
                </a:solidFill>
                <a:latin typeface="Calibri"/>
                <a:ea typeface="Calibri"/>
                <a:cs typeface="Calibri"/>
                <a:sym typeface="Calibri"/>
              </a:rPr>
              <a:t>by non-essential tissues.</a:t>
            </a:r>
            <a:endParaRPr dirty="0">
              <a:solidFill>
                <a:schemeClr val="tx1"/>
              </a:solidFill>
            </a:endParaRPr>
          </a:p>
          <a:p>
            <a:pPr marL="762000" lvl="1" indent="-381000" algn="l" rtl="0">
              <a:spcBef>
                <a:spcPts val="1800"/>
              </a:spcBef>
              <a:spcAft>
                <a:spcPts val="0"/>
              </a:spcAft>
              <a:buClr>
                <a:srgbClr val="000000"/>
              </a:buClr>
              <a:buSzPts val="3200"/>
              <a:buFont typeface="Calibri"/>
              <a:buChar char="•"/>
            </a:pPr>
            <a:r>
              <a:rPr lang="en-US" sz="4000" b="1" dirty="0">
                <a:solidFill>
                  <a:schemeClr val="tx1"/>
                </a:solidFill>
                <a:latin typeface="Calibri"/>
                <a:ea typeface="Calibri"/>
                <a:cs typeface="Calibri"/>
                <a:sym typeface="Calibri"/>
              </a:rPr>
              <a:t>Increase breakdown of fat and protein </a:t>
            </a:r>
            <a:r>
              <a:rPr lang="en-US" sz="4000" dirty="0">
                <a:solidFill>
                  <a:schemeClr val="tx1"/>
                </a:solidFill>
                <a:latin typeface="Calibri"/>
                <a:ea typeface="Calibri"/>
                <a:cs typeface="Calibri"/>
                <a:sym typeface="Calibri"/>
              </a:rPr>
              <a:t>for energy.</a:t>
            </a:r>
            <a:endParaRPr dirty="0">
              <a:solidFill>
                <a:schemeClr val="tx1"/>
              </a:solidFill>
            </a:endParaRPr>
          </a:p>
          <a:p>
            <a:pPr marL="762000" lvl="1" indent="-381000" algn="l" rtl="0">
              <a:spcBef>
                <a:spcPts val="1800"/>
              </a:spcBef>
              <a:spcAft>
                <a:spcPts val="0"/>
              </a:spcAft>
              <a:buClr>
                <a:srgbClr val="000000"/>
              </a:buClr>
              <a:buSzPts val="3200"/>
              <a:buFont typeface="Calibri"/>
              <a:buChar char="•"/>
            </a:pPr>
            <a:r>
              <a:rPr lang="en-US" sz="4000" b="1" dirty="0">
                <a:solidFill>
                  <a:schemeClr val="tx1"/>
                </a:solidFill>
                <a:latin typeface="Calibri"/>
                <a:ea typeface="Calibri"/>
                <a:cs typeface="Calibri"/>
                <a:sym typeface="Calibri"/>
              </a:rPr>
              <a:t>Increase gluconeogenesis </a:t>
            </a:r>
            <a:r>
              <a:rPr lang="en-US" sz="4000" dirty="0">
                <a:solidFill>
                  <a:schemeClr val="tx1"/>
                </a:solidFill>
                <a:latin typeface="Calibri" panose="020F0502020204030204" pitchFamily="34" charset="0"/>
                <a:ea typeface="Calibri"/>
                <a:cs typeface="Calibri" panose="020F0502020204030204" pitchFamily="34" charset="0"/>
                <a:sym typeface="Calibri"/>
              </a:rPr>
              <a:t>(glucose synthesis).</a:t>
            </a:r>
            <a:endParaRPr dirty="0">
              <a:solidFill>
                <a:schemeClr val="tx1"/>
              </a:solidFill>
              <a:latin typeface="Calibri" panose="020F0502020204030204" pitchFamily="34" charset="0"/>
              <a:cs typeface="Calibri" panose="020F0502020204030204" pitchFamily="34" charset="0"/>
            </a:endParaRPr>
          </a:p>
          <a:p>
            <a:pPr marL="762000" lvl="1" indent="-381000" algn="l" rtl="0">
              <a:spcBef>
                <a:spcPts val="1800"/>
              </a:spcBef>
              <a:spcAft>
                <a:spcPts val="0"/>
              </a:spcAft>
              <a:buClr>
                <a:srgbClr val="000000"/>
              </a:buClr>
              <a:buSzPts val="3200"/>
              <a:buFont typeface="Calibri"/>
              <a:buChar char="•"/>
            </a:pPr>
            <a:r>
              <a:rPr lang="en-US" sz="4000" b="1" dirty="0">
                <a:solidFill>
                  <a:schemeClr val="tx1"/>
                </a:solidFill>
                <a:latin typeface="Calibri"/>
                <a:ea typeface="Calibri"/>
                <a:cs typeface="Calibri"/>
                <a:sym typeface="Calibri"/>
              </a:rPr>
              <a:t>Inhibit protein synthesis </a:t>
            </a:r>
            <a:r>
              <a:rPr lang="en-US" sz="4000" dirty="0">
                <a:solidFill>
                  <a:schemeClr val="tx1"/>
                </a:solidFill>
                <a:latin typeface="Calibri"/>
                <a:ea typeface="Calibri"/>
                <a:cs typeface="Calibri"/>
                <a:sym typeface="Calibri"/>
              </a:rPr>
              <a:t>(tissue building, healing).</a:t>
            </a:r>
            <a:endParaRPr dirty="0">
              <a:solidFill>
                <a:schemeClr val="tx1"/>
              </a:solidFill>
            </a:endParaRPr>
          </a:p>
          <a:p>
            <a:pPr marL="762000" lvl="1" indent="-381000" algn="l" rtl="0">
              <a:spcBef>
                <a:spcPts val="1800"/>
              </a:spcBef>
              <a:spcAft>
                <a:spcPts val="0"/>
              </a:spcAft>
              <a:buClr>
                <a:srgbClr val="000000"/>
              </a:buClr>
              <a:buSzPts val="3200"/>
              <a:buFont typeface="Calibri"/>
              <a:buChar char="•"/>
            </a:pPr>
            <a:r>
              <a:rPr lang="en-US" sz="4000" b="1" dirty="0">
                <a:solidFill>
                  <a:schemeClr val="tx1"/>
                </a:solidFill>
                <a:latin typeface="Calibri"/>
                <a:ea typeface="Calibri"/>
                <a:cs typeface="Calibri"/>
                <a:sym typeface="Calibri"/>
              </a:rPr>
              <a:t>Suppress the inflammatory reaction.</a:t>
            </a:r>
            <a:endParaRPr sz="4400" dirty="0">
              <a:solidFill>
                <a:schemeClr val="tx1"/>
              </a:solidFill>
              <a:latin typeface="Calibri"/>
              <a:ea typeface="Calibri"/>
              <a:cs typeface="Calibri"/>
              <a:sym typeface="Calibri"/>
            </a:endParaRPr>
          </a:p>
          <a:p>
            <a:pPr marL="381000" lvl="0" indent="-381000" algn="l" rtl="0">
              <a:spcBef>
                <a:spcPts val="1800"/>
              </a:spcBef>
              <a:spcAft>
                <a:spcPts val="0"/>
              </a:spcAft>
              <a:buClr>
                <a:srgbClr val="000000"/>
              </a:buClr>
              <a:buSzPts val="3520"/>
              <a:buFont typeface="Calibri"/>
              <a:buChar char="•"/>
            </a:pPr>
            <a:r>
              <a:rPr lang="en-US" sz="4400" dirty="0">
                <a:latin typeface="Calibri"/>
                <a:ea typeface="Calibri"/>
                <a:cs typeface="Calibri"/>
                <a:sym typeface="Calibri"/>
              </a:rPr>
              <a:t>Small amounts of glucocorticoid help us respond to stressful events.  Too little or too much glucocorticoid is problematic.</a:t>
            </a:r>
            <a:endParaRPr sz="4400" b="1" dirty="0"/>
          </a:p>
        </p:txBody>
      </p:sp>
      <p:pic>
        <p:nvPicPr>
          <p:cNvPr id="79" name="Google Shape;79;p4"/>
          <p:cNvPicPr preferRelativeResize="0"/>
          <p:nvPr/>
        </p:nvPicPr>
        <p:blipFill rotWithShape="1">
          <a:blip r:embed="rId3">
            <a:alphaModFix/>
          </a:blip>
          <a:srcRect t="7674" r="37560"/>
          <a:stretch/>
        </p:blipFill>
        <p:spPr>
          <a:xfrm>
            <a:off x="10312400" y="144462"/>
            <a:ext cx="2536825" cy="26326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971940" y="144463"/>
            <a:ext cx="9119658" cy="259873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br>
              <a:rPr lang="en-US" dirty="0"/>
            </a:br>
            <a:r>
              <a:rPr lang="en-US" sz="6000" dirty="0">
                <a:latin typeface="Calibri"/>
                <a:ea typeface="Calibri"/>
                <a:cs typeface="Calibri"/>
                <a:sym typeface="Calibri"/>
              </a:rPr>
              <a:t>Mineralocorticoid &amp;</a:t>
            </a:r>
            <a:br>
              <a:rPr lang="en-US" sz="6000" dirty="0">
                <a:latin typeface="Calibri"/>
                <a:ea typeface="Calibri"/>
                <a:cs typeface="Calibri"/>
                <a:sym typeface="Calibri"/>
              </a:rPr>
            </a:br>
            <a:r>
              <a:rPr lang="en-US" sz="6000" dirty="0">
                <a:latin typeface="Calibri"/>
                <a:ea typeface="Calibri"/>
                <a:cs typeface="Calibri"/>
                <a:sym typeface="Calibri"/>
              </a:rPr>
              <a:t>Adrenal Androgens</a:t>
            </a:r>
            <a:br>
              <a:rPr lang="en-US" dirty="0"/>
            </a:br>
            <a:endParaRPr dirty="0"/>
          </a:p>
        </p:txBody>
      </p:sp>
      <p:sp>
        <p:nvSpPr>
          <p:cNvPr id="85" name="Google Shape;85;p5"/>
          <p:cNvSpPr txBox="1">
            <a:spLocks noGrp="1"/>
          </p:cNvSpPr>
          <p:nvPr>
            <p:ph type="body" idx="1"/>
          </p:nvPr>
        </p:nvSpPr>
        <p:spPr>
          <a:xfrm>
            <a:off x="214313" y="2743200"/>
            <a:ext cx="12634912" cy="6865937"/>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rgbClr val="000000"/>
              </a:buClr>
              <a:buSzPts val="3520"/>
              <a:buFont typeface="Calibri"/>
              <a:buChar char="•"/>
            </a:pPr>
            <a:r>
              <a:rPr lang="en-US" sz="4400" dirty="0">
                <a:latin typeface="Calibri"/>
                <a:ea typeface="Calibri"/>
                <a:cs typeface="Calibri"/>
                <a:sym typeface="Calibri"/>
              </a:rPr>
              <a:t>Mineralocorticoids help to </a:t>
            </a:r>
            <a:r>
              <a:rPr lang="en-US" sz="4400" b="1" i="1" dirty="0">
                <a:latin typeface="Calibri"/>
                <a:ea typeface="Calibri"/>
                <a:cs typeface="Calibri"/>
                <a:sym typeface="Calibri"/>
              </a:rPr>
              <a:t>keep our intravascular fluid balance optimal</a:t>
            </a:r>
            <a:r>
              <a:rPr lang="en-US" sz="4400" dirty="0">
                <a:latin typeface="Calibri"/>
                <a:ea typeface="Calibri"/>
                <a:cs typeface="Calibri"/>
                <a:sym typeface="Calibri"/>
              </a:rPr>
              <a:t> and are </a:t>
            </a:r>
            <a:r>
              <a:rPr lang="en-US" sz="4400" b="1" i="1" dirty="0">
                <a:latin typeface="Calibri"/>
                <a:ea typeface="Calibri"/>
                <a:cs typeface="Calibri"/>
                <a:sym typeface="Calibri"/>
              </a:rPr>
              <a:t>a major part of blood pressure control.</a:t>
            </a:r>
            <a:endParaRPr sz="4400" b="1" dirty="0">
              <a:latin typeface="Calibri"/>
              <a:ea typeface="Calibri"/>
              <a:cs typeface="Calibri"/>
              <a:sym typeface="Calibri"/>
            </a:endParaRPr>
          </a:p>
          <a:p>
            <a:pPr marL="381000" lvl="0" indent="-381000" algn="l" rtl="0">
              <a:spcBef>
                <a:spcPts val="4200"/>
              </a:spcBef>
              <a:spcAft>
                <a:spcPts val="0"/>
              </a:spcAft>
              <a:buClr>
                <a:srgbClr val="000000"/>
              </a:buClr>
              <a:buSzPts val="3520"/>
              <a:buFont typeface="Calibri"/>
              <a:buChar char="•"/>
            </a:pPr>
            <a:r>
              <a:rPr lang="en-US" sz="4400" b="1" i="1" dirty="0">
                <a:latin typeface="Calibri"/>
                <a:ea typeface="Calibri"/>
                <a:cs typeface="Calibri"/>
                <a:sym typeface="Calibri"/>
              </a:rPr>
              <a:t>The</a:t>
            </a:r>
            <a:r>
              <a:rPr lang="en-US" sz="4400" dirty="0">
                <a:latin typeface="Calibri"/>
                <a:ea typeface="Calibri"/>
                <a:cs typeface="Calibri"/>
                <a:sym typeface="Calibri"/>
              </a:rPr>
              <a:t> </a:t>
            </a:r>
            <a:r>
              <a:rPr lang="en-US" sz="4400" b="1" i="1" dirty="0">
                <a:latin typeface="Calibri"/>
                <a:ea typeface="Calibri"/>
                <a:cs typeface="Calibri"/>
                <a:sym typeface="Calibri"/>
              </a:rPr>
              <a:t>major mineralocorticoid </a:t>
            </a:r>
            <a:r>
              <a:rPr lang="en-US" sz="4400" dirty="0">
                <a:latin typeface="Calibri"/>
                <a:ea typeface="Calibri"/>
                <a:cs typeface="Calibri"/>
                <a:sym typeface="Calibri"/>
              </a:rPr>
              <a:t>produced by the adrenal gland is </a:t>
            </a:r>
            <a:r>
              <a:rPr lang="en-US" sz="4400" b="1" i="1" dirty="0">
                <a:latin typeface="Calibri"/>
                <a:ea typeface="Calibri"/>
                <a:cs typeface="Calibri"/>
                <a:sym typeface="Calibri"/>
              </a:rPr>
              <a:t>aldosterone</a:t>
            </a:r>
            <a:r>
              <a:rPr lang="en-US" sz="4400" dirty="0">
                <a:latin typeface="Calibri"/>
                <a:ea typeface="Calibri"/>
                <a:cs typeface="Calibri"/>
                <a:sym typeface="Calibri"/>
              </a:rPr>
              <a:t>.</a:t>
            </a:r>
            <a:endParaRPr dirty="0"/>
          </a:p>
          <a:p>
            <a:pPr marL="381000" lvl="0" indent="-381000" algn="l" rtl="0">
              <a:spcBef>
                <a:spcPts val="4200"/>
              </a:spcBef>
              <a:spcAft>
                <a:spcPts val="0"/>
              </a:spcAft>
              <a:buClr>
                <a:srgbClr val="000000"/>
              </a:buClr>
              <a:buSzPts val="3520"/>
              <a:buFont typeface="Calibri"/>
              <a:buChar char="•"/>
            </a:pPr>
            <a:r>
              <a:rPr lang="en-US" sz="4400" dirty="0">
                <a:latin typeface="Calibri"/>
                <a:ea typeface="Calibri"/>
                <a:cs typeface="Calibri"/>
                <a:sym typeface="Calibri"/>
              </a:rPr>
              <a:t>The innermost layer of the adrenal gland produces </a:t>
            </a:r>
            <a:r>
              <a:rPr lang="en-US" sz="4400" b="1" i="1" dirty="0">
                <a:latin typeface="Calibri"/>
                <a:ea typeface="Calibri"/>
                <a:cs typeface="Calibri"/>
                <a:sym typeface="Calibri"/>
              </a:rPr>
              <a:t>androgens</a:t>
            </a:r>
            <a:r>
              <a:rPr lang="en-US" sz="4400" dirty="0">
                <a:latin typeface="Calibri"/>
                <a:ea typeface="Calibri"/>
                <a:cs typeface="Calibri"/>
                <a:sym typeface="Calibri"/>
              </a:rPr>
              <a:t>- which are </a:t>
            </a:r>
            <a:r>
              <a:rPr lang="en-US" sz="4400" b="1" i="1" dirty="0">
                <a:latin typeface="Calibri"/>
                <a:ea typeface="Calibri"/>
                <a:cs typeface="Calibri"/>
                <a:sym typeface="Calibri"/>
              </a:rPr>
              <a:t>important in female sexual health</a:t>
            </a:r>
            <a:r>
              <a:rPr lang="en-US" sz="4400" dirty="0">
                <a:latin typeface="Calibri"/>
                <a:ea typeface="Calibri"/>
                <a:cs typeface="Calibri"/>
                <a:sym typeface="Calibri"/>
              </a:rPr>
              <a:t> but are negligible in a male.</a:t>
            </a:r>
            <a:endParaRPr dirty="0"/>
          </a:p>
        </p:txBody>
      </p:sp>
      <p:pic>
        <p:nvPicPr>
          <p:cNvPr id="1026" name="Picture 2" descr="Fluid &amp; Electrolyte Balance &amp; Importance | What is Fluid Balance? - Video &amp;  Lesson Transcript | Study.com">
            <a:extLst>
              <a:ext uri="{FF2B5EF4-FFF2-40B4-BE49-F238E27FC236}">
                <a16:creationId xmlns:a16="http://schemas.microsoft.com/office/drawing/2014/main" id="{93D7981E-2221-FED5-18ED-1F97172DA7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395" t="6019" r="21485" b="7639"/>
          <a:stretch/>
        </p:blipFill>
        <p:spPr bwMode="auto">
          <a:xfrm>
            <a:off x="214313" y="190499"/>
            <a:ext cx="2758863" cy="23876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 Tips for Women to Improve Sexual Health - Natural Bio Health">
            <a:extLst>
              <a:ext uri="{FF2B5EF4-FFF2-40B4-BE49-F238E27FC236}">
                <a16:creationId xmlns:a16="http://schemas.microsoft.com/office/drawing/2014/main" id="{55E414D0-0896-4C06-E7CB-51D337294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0364" y="355599"/>
            <a:ext cx="2968861" cy="2057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a:spLocks noGrp="1"/>
          </p:cNvSpPr>
          <p:nvPr>
            <p:ph type="title"/>
          </p:nvPr>
        </p:nvSpPr>
        <p:spPr>
          <a:xfrm>
            <a:off x="649288" y="293688"/>
            <a:ext cx="11704637" cy="134302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a:latin typeface="Arial"/>
                <a:ea typeface="Arial"/>
                <a:cs typeface="Arial"/>
                <a:sym typeface="Arial"/>
              </a:rPr>
              <a:t>Cortisol’s Effect</a:t>
            </a:r>
            <a:endParaRPr/>
          </a:p>
        </p:txBody>
      </p:sp>
      <p:sp>
        <p:nvSpPr>
          <p:cNvPr id="91" name="Google Shape;91;p6"/>
          <p:cNvSpPr txBox="1">
            <a:spLocks noGrp="1"/>
          </p:cNvSpPr>
          <p:nvPr>
            <p:ph type="body" idx="1"/>
          </p:nvPr>
        </p:nvSpPr>
        <p:spPr>
          <a:xfrm>
            <a:off x="190500" y="1636713"/>
            <a:ext cx="12636500" cy="799835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dirty="0">
                <a:latin typeface="Calibri"/>
                <a:ea typeface="Calibri"/>
                <a:cs typeface="Calibri"/>
                <a:sym typeface="Calibri"/>
              </a:rPr>
              <a:t>Cortisol: </a:t>
            </a:r>
            <a:r>
              <a:rPr lang="en-US" sz="4500" dirty="0">
                <a:latin typeface="Calibri"/>
                <a:ea typeface="Calibri"/>
                <a:cs typeface="Calibri"/>
                <a:sym typeface="Calibri"/>
              </a:rPr>
              <a:t>the hormone that makes you get up and go!  The human body produces the equivalent of 0.5mg of Decadron per day </a:t>
            </a:r>
            <a:r>
              <a:rPr lang="en-US" sz="2000" dirty="0">
                <a:latin typeface="Calibri"/>
                <a:ea typeface="Calibri"/>
                <a:cs typeface="Calibri"/>
                <a:sym typeface="Calibri"/>
              </a:rPr>
              <a:t>(therapeutic dose 4mg)</a:t>
            </a:r>
            <a:endParaRPr sz="2000"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dirty="0">
                <a:latin typeface="Calibri"/>
                <a:ea typeface="Calibri"/>
                <a:cs typeface="Calibri"/>
                <a:sym typeface="Calibri"/>
              </a:rPr>
              <a:t>Cortisol has multiple effects on the body:</a:t>
            </a:r>
            <a:endParaRPr sz="4200" dirty="0">
              <a:latin typeface="Calibri"/>
              <a:ea typeface="Calibri"/>
              <a:cs typeface="Calibri"/>
              <a:sym typeface="Calibri"/>
            </a:endParaRPr>
          </a:p>
          <a:p>
            <a:pPr marL="914400" lvl="0" indent="-914400" algn="l" rtl="0">
              <a:spcBef>
                <a:spcPts val="700"/>
              </a:spcBef>
              <a:spcAft>
                <a:spcPts val="0"/>
              </a:spcAft>
              <a:buClr>
                <a:srgbClr val="000000"/>
              </a:buClr>
              <a:buSzPts val="4500"/>
              <a:buFont typeface="Helvetica Neue Light"/>
              <a:buAutoNum type="arabicPeriod"/>
            </a:pPr>
            <a:r>
              <a:rPr lang="en-US" sz="4500" b="1" dirty="0">
                <a:latin typeface="Calibri"/>
                <a:ea typeface="Calibri"/>
                <a:cs typeface="Calibri"/>
                <a:sym typeface="Calibri"/>
              </a:rPr>
              <a:t>Cardiovascular</a:t>
            </a:r>
            <a:r>
              <a:rPr lang="en-US" sz="4500" dirty="0">
                <a:latin typeface="Calibri"/>
                <a:ea typeface="Calibri"/>
                <a:cs typeface="Calibri"/>
                <a:sym typeface="Calibri"/>
              </a:rPr>
              <a:t>:</a:t>
            </a:r>
            <a:endParaRPr dirty="0"/>
          </a:p>
          <a:p>
            <a:pPr marL="1200150" lvl="1" indent="-742950" algn="l" rtl="0">
              <a:spcBef>
                <a:spcPts val="600"/>
              </a:spcBef>
              <a:spcAft>
                <a:spcPts val="0"/>
              </a:spcAft>
              <a:buClr>
                <a:srgbClr val="000000"/>
              </a:buClr>
              <a:buSzPts val="3360"/>
              <a:buFont typeface="Calibri"/>
              <a:buChar char="•"/>
            </a:pPr>
            <a:r>
              <a:rPr lang="en-US" sz="4200" dirty="0">
                <a:latin typeface="Calibri"/>
                <a:ea typeface="Calibri"/>
                <a:cs typeface="Calibri"/>
                <a:sym typeface="Calibri"/>
              </a:rPr>
              <a:t>Cortisol increases cardiac output and vascular tone </a:t>
            </a:r>
            <a:endParaRPr dirty="0"/>
          </a:p>
          <a:p>
            <a:pPr marL="1200150" lvl="1" indent="-742950" algn="l" rtl="0">
              <a:spcBef>
                <a:spcPts val="600"/>
              </a:spcBef>
              <a:spcAft>
                <a:spcPts val="0"/>
              </a:spcAft>
              <a:buClr>
                <a:srgbClr val="000000"/>
              </a:buClr>
              <a:buSzPts val="3360"/>
              <a:buFont typeface="Calibri"/>
              <a:buChar char="•"/>
            </a:pPr>
            <a:r>
              <a:rPr lang="en-US" sz="4200" dirty="0">
                <a:latin typeface="Calibri"/>
                <a:ea typeface="Calibri"/>
                <a:cs typeface="Calibri"/>
                <a:sym typeface="Calibri"/>
              </a:rPr>
              <a:t>Cortisol increases sodium retention by the kidney</a:t>
            </a:r>
            <a:endParaRPr dirty="0"/>
          </a:p>
          <a:p>
            <a:pPr marL="1200150" lvl="1" indent="-549910" algn="l" rtl="0">
              <a:spcBef>
                <a:spcPts val="600"/>
              </a:spcBef>
              <a:spcAft>
                <a:spcPts val="0"/>
              </a:spcAft>
              <a:buClr>
                <a:srgbClr val="000000"/>
              </a:buClr>
              <a:buSzPts val="3040"/>
              <a:buFont typeface="Helvetica Neue Light"/>
              <a:buNone/>
            </a:pPr>
            <a:endParaRPr dirty="0">
              <a:latin typeface="Calibri"/>
              <a:ea typeface="Calibri"/>
              <a:cs typeface="Calibri"/>
              <a:sym typeface="Calibri"/>
            </a:endParaRPr>
          </a:p>
          <a:p>
            <a:pPr marL="990600" lvl="0" indent="-914400" algn="l" rtl="0">
              <a:spcBef>
                <a:spcPts val="600"/>
              </a:spcBef>
              <a:spcAft>
                <a:spcPts val="0"/>
              </a:spcAft>
              <a:buClr>
                <a:srgbClr val="000000"/>
              </a:buClr>
              <a:buSzPts val="4500"/>
              <a:buFont typeface="Helvetica Neue Light"/>
              <a:buAutoNum type="arabicPeriod"/>
            </a:pPr>
            <a:r>
              <a:rPr lang="en-US" sz="4500" b="1" dirty="0">
                <a:latin typeface="Calibri"/>
                <a:ea typeface="Calibri"/>
                <a:cs typeface="Calibri"/>
                <a:sym typeface="Calibri"/>
              </a:rPr>
              <a:t>Calcium homeostasis/ connective tissue</a:t>
            </a:r>
            <a:r>
              <a:rPr lang="en-US" sz="4500" dirty="0">
                <a:latin typeface="Calibri"/>
                <a:ea typeface="Calibri"/>
                <a:cs typeface="Calibri"/>
                <a:sym typeface="Calibri"/>
              </a:rPr>
              <a:t>:</a:t>
            </a:r>
            <a:endParaRPr dirty="0"/>
          </a:p>
          <a:p>
            <a:pPr marL="1200150" lvl="1" indent="-742950" algn="l" rtl="0">
              <a:spcBef>
                <a:spcPts val="600"/>
              </a:spcBef>
              <a:spcAft>
                <a:spcPts val="0"/>
              </a:spcAft>
              <a:buClr>
                <a:srgbClr val="000000"/>
              </a:buClr>
              <a:buSzPts val="3360"/>
              <a:buFont typeface="Calibri"/>
              <a:buChar char="•"/>
            </a:pPr>
            <a:r>
              <a:rPr lang="en-US" sz="4200" dirty="0">
                <a:latin typeface="Calibri"/>
                <a:ea typeface="Calibri"/>
                <a:cs typeface="Calibri"/>
                <a:sym typeface="Calibri"/>
              </a:rPr>
              <a:t>Cortisol stimulates bone and connective tissue loss</a:t>
            </a:r>
            <a:endParaRPr dirty="0"/>
          </a:p>
          <a:p>
            <a:pPr marL="863600" lvl="1" indent="-406400" algn="l" rtl="0">
              <a:spcBef>
                <a:spcPts val="600"/>
              </a:spcBef>
              <a:spcAft>
                <a:spcPts val="0"/>
              </a:spcAft>
              <a:buClr>
                <a:srgbClr val="000000"/>
              </a:buClr>
              <a:buSzPts val="3900"/>
              <a:buFont typeface="Helvetica Neue Light"/>
              <a:buNone/>
            </a:pPr>
            <a:endParaRPr sz="3900" dirty="0">
              <a:latin typeface="Arial"/>
              <a:ea typeface="Arial"/>
              <a:cs typeface="Arial"/>
              <a:sym typeface="Arial"/>
            </a:endParaRPr>
          </a:p>
          <a:p>
            <a:pPr marL="487363" lvl="0" indent="-201612" algn="l" rtl="0">
              <a:spcBef>
                <a:spcPts val="700"/>
              </a:spcBef>
              <a:spcAft>
                <a:spcPts val="0"/>
              </a:spcAft>
              <a:buClr>
                <a:srgbClr val="000000"/>
              </a:buClr>
              <a:buSzPts val="4500"/>
              <a:buFont typeface="Arial"/>
              <a:buNone/>
            </a:pPr>
            <a:endParaRPr sz="4500" dirty="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title"/>
          </p:nvPr>
        </p:nvSpPr>
        <p:spPr>
          <a:xfrm>
            <a:off x="649288" y="1"/>
            <a:ext cx="11704637" cy="1295399"/>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a:latin typeface="Arial"/>
                <a:ea typeface="Arial"/>
                <a:cs typeface="Arial"/>
                <a:sym typeface="Arial"/>
              </a:rPr>
              <a:t>Cortisol’s Effect</a:t>
            </a:r>
            <a:endParaRPr/>
          </a:p>
        </p:txBody>
      </p:sp>
      <p:sp>
        <p:nvSpPr>
          <p:cNvPr id="97" name="Google Shape;97;p7"/>
          <p:cNvSpPr txBox="1">
            <a:spLocks noGrp="1"/>
          </p:cNvSpPr>
          <p:nvPr>
            <p:ph type="body" idx="1"/>
          </p:nvPr>
        </p:nvSpPr>
        <p:spPr>
          <a:xfrm>
            <a:off x="177800" y="1524000"/>
            <a:ext cx="12623800" cy="790416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3"/>
            </a:pPr>
            <a:r>
              <a:rPr lang="en-US" sz="4500" b="1" dirty="0">
                <a:latin typeface="Calibri"/>
                <a:ea typeface="Calibri"/>
                <a:cs typeface="Calibri"/>
                <a:sym typeface="Calibri"/>
              </a:rPr>
              <a:t>Metabolic</a:t>
            </a:r>
            <a:r>
              <a:rPr lang="en-US" sz="4500" dirty="0">
                <a:latin typeface="Calibri"/>
                <a:ea typeface="Calibri"/>
                <a:cs typeface="Calibri"/>
                <a:sym typeface="Calibri"/>
              </a:rPr>
              <a:t>: </a:t>
            </a:r>
            <a:endParaRPr dirty="0"/>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Cortisol increases catabolism (breakdown of tissues). </a:t>
            </a:r>
            <a:endParaRPr dirty="0"/>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Cortisol increases insulin levels and gluconeogenesis.</a:t>
            </a:r>
            <a:endParaRPr dirty="0"/>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Inhibits the growth and reproductive functions.</a:t>
            </a:r>
            <a:endParaRPr dirty="0"/>
          </a:p>
          <a:p>
            <a:pPr marL="1200150" lvl="1" indent="-495300" algn="l" rtl="0">
              <a:spcBef>
                <a:spcPts val="600"/>
              </a:spcBef>
              <a:spcAft>
                <a:spcPts val="0"/>
              </a:spcAft>
              <a:buClr>
                <a:srgbClr val="000000"/>
              </a:buClr>
              <a:buSzPts val="3900"/>
              <a:buFont typeface="Helvetica Neue Light"/>
              <a:buNone/>
            </a:pPr>
            <a:endParaRPr sz="3900" dirty="0">
              <a:latin typeface="Calibri"/>
              <a:ea typeface="Calibri"/>
              <a:cs typeface="Calibri"/>
              <a:sym typeface="Calibri"/>
            </a:endParaRPr>
          </a:p>
          <a:p>
            <a:pPr marL="914400" lvl="0" indent="-914400" algn="l" rtl="0">
              <a:spcBef>
                <a:spcPts val="700"/>
              </a:spcBef>
              <a:spcAft>
                <a:spcPts val="0"/>
              </a:spcAft>
              <a:buClr>
                <a:srgbClr val="000000"/>
              </a:buClr>
              <a:buSzPts val="4500"/>
              <a:buFont typeface="Helvetica Neue Light"/>
              <a:buAutoNum type="arabicPeriod" startAt="3"/>
            </a:pPr>
            <a:r>
              <a:rPr lang="en-US" sz="4500" b="1" dirty="0">
                <a:latin typeface="Calibri"/>
                <a:ea typeface="Calibri"/>
                <a:cs typeface="Calibri"/>
                <a:sym typeface="Calibri"/>
              </a:rPr>
              <a:t>Immunity</a:t>
            </a:r>
            <a:r>
              <a:rPr lang="en-US" sz="4500" dirty="0">
                <a:latin typeface="Calibri"/>
                <a:ea typeface="Calibri"/>
                <a:cs typeface="Calibri"/>
                <a:sym typeface="Calibri"/>
              </a:rPr>
              <a:t>: </a:t>
            </a:r>
            <a:endParaRPr dirty="0"/>
          </a:p>
          <a:p>
            <a:pPr marL="1028700" lvl="1" indent="-5715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Suppresses inflammation on multiple levels. </a:t>
            </a:r>
            <a:endParaRPr dirty="0"/>
          </a:p>
          <a:p>
            <a:pPr marL="1028700" lvl="1" indent="-5715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Cortisol increases intravascular leukocytes.</a:t>
            </a:r>
            <a:endParaRPr dirty="0"/>
          </a:p>
          <a:p>
            <a:pPr marL="1028700" lvl="1" indent="-292100" algn="l" rtl="0">
              <a:spcBef>
                <a:spcPts val="600"/>
              </a:spcBef>
              <a:spcAft>
                <a:spcPts val="0"/>
              </a:spcAft>
              <a:buClr>
                <a:srgbClr val="000000"/>
              </a:buClr>
              <a:buSzPts val="4400"/>
              <a:buFont typeface="Arial"/>
              <a:buNone/>
            </a:pPr>
            <a:endParaRPr sz="4400" dirty="0">
              <a:latin typeface="Calibri"/>
              <a:ea typeface="Calibri"/>
              <a:cs typeface="Calibri"/>
              <a:sym typeface="Calibri"/>
            </a:endParaRPr>
          </a:p>
          <a:p>
            <a:pPr marL="647700" lvl="0" indent="-571500" algn="l" rtl="0">
              <a:spcBef>
                <a:spcPts val="600"/>
              </a:spcBef>
              <a:spcAft>
                <a:spcPts val="0"/>
              </a:spcAft>
              <a:buClr>
                <a:srgbClr val="000000"/>
              </a:buClr>
              <a:buSzPts val="4400"/>
              <a:buFont typeface="Arial"/>
              <a:buChar char="•"/>
            </a:pPr>
            <a:r>
              <a:rPr lang="en-US" sz="4400" dirty="0">
                <a:latin typeface="Calibri"/>
                <a:ea typeface="Calibri"/>
                <a:cs typeface="Calibri"/>
                <a:sym typeface="Calibri"/>
              </a:rPr>
              <a:t>When are levels of cortisol lowest?</a:t>
            </a:r>
            <a:endParaRPr dirty="0"/>
          </a:p>
          <a:p>
            <a:pPr marL="1028700" lvl="1" indent="-304800" algn="l" rtl="0">
              <a:spcBef>
                <a:spcPts val="600"/>
              </a:spcBef>
              <a:spcAft>
                <a:spcPts val="0"/>
              </a:spcAft>
              <a:buClr>
                <a:srgbClr val="000000"/>
              </a:buClr>
              <a:buSzPts val="4200"/>
              <a:buFont typeface="Arial"/>
              <a:buNone/>
            </a:pPr>
            <a:endParaRPr sz="4200" dirty="0">
              <a:latin typeface="Calibri"/>
              <a:ea typeface="Calibri"/>
              <a:cs typeface="Calibri"/>
              <a:sym typeface="Calibri"/>
            </a:endParaRPr>
          </a:p>
          <a:p>
            <a:pPr marL="487363" lvl="0" indent="-201612" algn="l" rtl="0">
              <a:spcBef>
                <a:spcPts val="700"/>
              </a:spcBef>
              <a:spcAft>
                <a:spcPts val="0"/>
              </a:spcAft>
              <a:buClr>
                <a:srgbClr val="000000"/>
              </a:buClr>
              <a:buSzPts val="4500"/>
              <a:buFont typeface="Arial"/>
              <a:buNone/>
            </a:pPr>
            <a:endParaRPr sz="4500" dirty="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1270000" y="152400"/>
            <a:ext cx="10464800" cy="12192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5500"/>
              <a:t>Circadian Rhythm of Cortisol</a:t>
            </a:r>
            <a:endParaRPr/>
          </a:p>
        </p:txBody>
      </p:sp>
      <p:pic>
        <p:nvPicPr>
          <p:cNvPr id="103" name="Google Shape;103;p8"/>
          <p:cNvPicPr preferRelativeResize="0">
            <a:picLocks noGrp="1"/>
          </p:cNvPicPr>
          <p:nvPr>
            <p:ph type="body" idx="1"/>
          </p:nvPr>
        </p:nvPicPr>
        <p:blipFill rotWithShape="1">
          <a:blip r:embed="rId3">
            <a:alphaModFix/>
          </a:blip>
          <a:srcRect/>
          <a:stretch/>
        </p:blipFill>
        <p:spPr>
          <a:xfrm>
            <a:off x="634999" y="1371600"/>
            <a:ext cx="11919859" cy="79771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9"/>
          <p:cNvSpPr txBox="1">
            <a:spLocks noGrp="1"/>
          </p:cNvSpPr>
          <p:nvPr>
            <p:ph type="title"/>
          </p:nvPr>
        </p:nvSpPr>
        <p:spPr>
          <a:xfrm>
            <a:off x="649288" y="323850"/>
            <a:ext cx="11704637" cy="130016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a:latin typeface="Arial"/>
                <a:ea typeface="Arial"/>
                <a:cs typeface="Arial"/>
                <a:sym typeface="Arial"/>
              </a:rPr>
              <a:t>Glucocorticoid Disorders</a:t>
            </a:r>
            <a:endParaRPr/>
          </a:p>
        </p:txBody>
      </p:sp>
      <p:sp>
        <p:nvSpPr>
          <p:cNvPr id="109" name="Google Shape;109;p9"/>
          <p:cNvSpPr txBox="1">
            <a:spLocks noGrp="1"/>
          </p:cNvSpPr>
          <p:nvPr>
            <p:ph type="body" idx="1"/>
          </p:nvPr>
        </p:nvSpPr>
        <p:spPr>
          <a:xfrm>
            <a:off x="101600" y="1624025"/>
            <a:ext cx="12767650" cy="7961100"/>
          </a:xfrm>
          <a:prstGeom prst="rect">
            <a:avLst/>
          </a:prstGeom>
          <a:noFill/>
          <a:ln>
            <a:noFill/>
          </a:ln>
        </p:spPr>
        <p:txBody>
          <a:bodyPr spcFirstLastPara="1" wrap="square" lIns="126425" tIns="72225" rIns="126425" bIns="72225" anchor="t" anchorCtr="0">
            <a:noAutofit/>
          </a:bodyPr>
          <a:lstStyle/>
          <a:p>
            <a:pPr marL="242887" lvl="0" indent="-280987" algn="l" rtl="0">
              <a:spcBef>
                <a:spcPts val="700"/>
              </a:spcBef>
              <a:spcAft>
                <a:spcPts val="0"/>
              </a:spcAft>
              <a:buClr>
                <a:srgbClr val="000000"/>
              </a:buClr>
              <a:buSzPct val="80000"/>
              <a:buFont typeface="Calibri"/>
              <a:buChar char="•"/>
            </a:pPr>
            <a:r>
              <a:rPr lang="en-US" sz="4400" dirty="0">
                <a:latin typeface="Calibri"/>
                <a:ea typeface="Calibri"/>
                <a:cs typeface="Calibri"/>
                <a:sym typeface="Calibri"/>
              </a:rPr>
              <a:t>Persons with disordered glucocorticoid secretion may either have too much or too little cortisol.</a:t>
            </a:r>
            <a:endParaRPr sz="4400" dirty="0">
              <a:latin typeface="Calibri"/>
              <a:ea typeface="Calibri"/>
              <a:cs typeface="Calibri"/>
              <a:sym typeface="Calibri"/>
            </a:endParaRPr>
          </a:p>
          <a:p>
            <a:pPr marL="0" lvl="0" indent="0" algn="l" rtl="0">
              <a:spcBef>
                <a:spcPts val="700"/>
              </a:spcBef>
              <a:spcAft>
                <a:spcPts val="0"/>
              </a:spcAft>
              <a:buSzPct val="80000"/>
              <a:buNone/>
            </a:pPr>
            <a:endParaRPr sz="2000" dirty="0">
              <a:latin typeface="Calibri"/>
              <a:ea typeface="Calibri"/>
              <a:cs typeface="Calibri"/>
              <a:sym typeface="Calibri"/>
            </a:endParaRPr>
          </a:p>
          <a:p>
            <a:pPr marL="457200" lvl="0" indent="-508000" algn="l" rtl="0">
              <a:spcBef>
                <a:spcPts val="700"/>
              </a:spcBef>
              <a:spcAft>
                <a:spcPts val="0"/>
              </a:spcAft>
              <a:buSzPct val="80000"/>
              <a:buFont typeface="Calibri"/>
              <a:buChar char="•"/>
            </a:pPr>
            <a:r>
              <a:rPr lang="en-US" sz="4400" b="1" i="1" dirty="0">
                <a:latin typeface="Calibri"/>
                <a:ea typeface="Calibri"/>
                <a:cs typeface="Calibri"/>
                <a:sym typeface="Calibri"/>
              </a:rPr>
              <a:t>If a person has too little cortisol, </a:t>
            </a:r>
            <a:r>
              <a:rPr lang="en-US" sz="4400" dirty="0">
                <a:latin typeface="Calibri"/>
                <a:ea typeface="Calibri"/>
                <a:cs typeface="Calibri"/>
                <a:sym typeface="Calibri"/>
              </a:rPr>
              <a:t>then they have </a:t>
            </a:r>
            <a:r>
              <a:rPr lang="en-US" sz="4400" b="1" i="1" dirty="0">
                <a:latin typeface="Calibri"/>
                <a:ea typeface="Calibri"/>
                <a:cs typeface="Calibri"/>
                <a:sym typeface="Calibri"/>
              </a:rPr>
              <a:t>adrenal insufficiency. </a:t>
            </a:r>
          </a:p>
          <a:p>
            <a:pPr marL="457200" lvl="0" indent="-508000" algn="l" rtl="0">
              <a:spcBef>
                <a:spcPts val="700"/>
              </a:spcBef>
              <a:spcAft>
                <a:spcPts val="0"/>
              </a:spcAft>
              <a:buSzPct val="80000"/>
              <a:buFont typeface="Calibri"/>
              <a:buChar char="•"/>
            </a:pPr>
            <a:endParaRPr lang="en-US" sz="2000" b="1" i="1" dirty="0">
              <a:latin typeface="Calibri"/>
              <a:ea typeface="Calibri"/>
              <a:cs typeface="Calibri"/>
              <a:sym typeface="Calibri"/>
            </a:endParaRPr>
          </a:p>
          <a:p>
            <a:pPr marL="457200" lvl="0" indent="-508000" algn="l" rtl="0">
              <a:spcBef>
                <a:spcPts val="700"/>
              </a:spcBef>
              <a:spcAft>
                <a:spcPts val="0"/>
              </a:spcAft>
              <a:buSzPct val="80000"/>
              <a:buFont typeface="Calibri"/>
              <a:buChar char="•"/>
            </a:pPr>
            <a:r>
              <a:rPr lang="en-US" sz="4400" dirty="0">
                <a:latin typeface="Calibri"/>
                <a:ea typeface="Calibri"/>
                <a:cs typeface="Calibri"/>
                <a:sym typeface="Calibri"/>
              </a:rPr>
              <a:t>If a person has </a:t>
            </a:r>
            <a:r>
              <a:rPr lang="en-US" sz="4400" b="1" i="1" dirty="0">
                <a:latin typeface="Calibri"/>
                <a:ea typeface="Calibri"/>
                <a:cs typeface="Calibri"/>
                <a:sym typeface="Calibri"/>
              </a:rPr>
              <a:t>too much cortisol secretion, </a:t>
            </a:r>
            <a:r>
              <a:rPr lang="en-US" sz="4400" dirty="0">
                <a:latin typeface="Calibri"/>
                <a:ea typeface="Calibri"/>
                <a:cs typeface="Calibri"/>
                <a:sym typeface="Calibri"/>
              </a:rPr>
              <a:t>then they an </a:t>
            </a:r>
            <a:r>
              <a:rPr lang="en-US" sz="4400" b="1" i="1" dirty="0">
                <a:latin typeface="Calibri"/>
                <a:ea typeface="Calibri"/>
                <a:cs typeface="Calibri"/>
                <a:sym typeface="Calibri"/>
              </a:rPr>
              <a:t>endogenous glucocorticoid excess.</a:t>
            </a:r>
          </a:p>
          <a:p>
            <a:pPr marL="457200" lvl="0" indent="-508000" algn="l" rtl="0">
              <a:spcBef>
                <a:spcPts val="700"/>
              </a:spcBef>
              <a:spcAft>
                <a:spcPts val="0"/>
              </a:spcAft>
              <a:buSzPct val="80000"/>
              <a:buFont typeface="Calibri"/>
              <a:buChar char="•"/>
            </a:pPr>
            <a:endParaRPr sz="2000" dirty="0">
              <a:latin typeface="Calibri"/>
              <a:ea typeface="Calibri"/>
              <a:cs typeface="Calibri"/>
              <a:sym typeface="Calibri"/>
            </a:endParaRPr>
          </a:p>
          <a:p>
            <a:pPr marL="457200" lvl="0" indent="-508000" algn="l" rtl="0">
              <a:spcBef>
                <a:spcPts val="700"/>
              </a:spcBef>
              <a:spcAft>
                <a:spcPts val="0"/>
              </a:spcAft>
              <a:buSzPct val="80000"/>
              <a:buFont typeface="Calibri"/>
              <a:buChar char="•"/>
            </a:pPr>
            <a:r>
              <a:rPr lang="en-US" sz="4400" dirty="0">
                <a:latin typeface="Calibri"/>
                <a:ea typeface="Calibri"/>
                <a:cs typeface="Calibri"/>
                <a:sym typeface="Calibri"/>
              </a:rPr>
              <a:t>Because steroids are prescribed for a variety of reasons, sometimes patients can have iatrogenic exogenous causes of adrenal insufficiency or excess.</a:t>
            </a:r>
            <a:endParaRPr sz="4400" dirty="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fa60496b86_2_5"/>
          <p:cNvSpPr txBox="1">
            <a:spLocks noGrp="1"/>
          </p:cNvSpPr>
          <p:nvPr>
            <p:ph type="title"/>
          </p:nvPr>
        </p:nvSpPr>
        <p:spPr>
          <a:xfrm>
            <a:off x="649288" y="323850"/>
            <a:ext cx="11704500" cy="1300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Iatrogenic Adrenal Insufficiency</a:t>
            </a:r>
            <a:endParaRPr dirty="0">
              <a:solidFill>
                <a:srgbClr val="00B0F0"/>
              </a:solidFill>
            </a:endParaRPr>
          </a:p>
        </p:txBody>
      </p:sp>
      <p:sp>
        <p:nvSpPr>
          <p:cNvPr id="115" name="Google Shape;115;gfa60496b86_2_5"/>
          <p:cNvSpPr txBox="1">
            <a:spLocks noGrp="1"/>
          </p:cNvSpPr>
          <p:nvPr>
            <p:ph type="body" idx="1"/>
          </p:nvPr>
        </p:nvSpPr>
        <p:spPr>
          <a:xfrm>
            <a:off x="169333" y="1624049"/>
            <a:ext cx="12716934" cy="8011017"/>
          </a:xfrm>
          <a:prstGeom prst="rect">
            <a:avLst/>
          </a:prstGeom>
          <a:noFill/>
          <a:ln>
            <a:noFill/>
          </a:ln>
        </p:spPr>
        <p:txBody>
          <a:bodyPr spcFirstLastPara="1" wrap="square" lIns="126425" tIns="72225" rIns="126425" bIns="72225" anchor="t" anchorCtr="0">
            <a:noAutofit/>
          </a:bodyPr>
          <a:lstStyle/>
          <a:p>
            <a:pPr marL="242887" lvl="0" indent="-242887" algn="l" rtl="0">
              <a:spcBef>
                <a:spcPts val="600"/>
              </a:spcBef>
              <a:spcAft>
                <a:spcPts val="600"/>
              </a:spcAft>
              <a:buClr>
                <a:srgbClr val="000000"/>
              </a:buClr>
              <a:buSzPts val="3600"/>
              <a:buFont typeface="Arial"/>
              <a:buChar char="•"/>
            </a:pPr>
            <a:r>
              <a:rPr lang="en-US" sz="4400" dirty="0">
                <a:latin typeface="Calibri"/>
                <a:ea typeface="Calibri"/>
                <a:cs typeface="Calibri"/>
                <a:sym typeface="Calibri"/>
              </a:rPr>
              <a:t>Adrenal insufficiency is very often </a:t>
            </a:r>
            <a:r>
              <a:rPr lang="en-US" sz="4400" b="1" i="1" dirty="0">
                <a:latin typeface="Calibri"/>
                <a:ea typeface="Calibri"/>
                <a:cs typeface="Calibri"/>
                <a:sym typeface="Calibri"/>
              </a:rPr>
              <a:t>acquired</a:t>
            </a:r>
            <a:r>
              <a:rPr lang="en-US" sz="4400" dirty="0">
                <a:latin typeface="Calibri"/>
                <a:ea typeface="Calibri"/>
                <a:cs typeface="Calibri"/>
                <a:sym typeface="Calibri"/>
              </a:rPr>
              <a:t>, due to the sudden </a:t>
            </a:r>
            <a:r>
              <a:rPr lang="en-US" sz="4400" b="1" i="1" dirty="0">
                <a:latin typeface="Calibri"/>
                <a:ea typeface="Calibri"/>
                <a:cs typeface="Calibri"/>
                <a:sym typeface="Calibri"/>
              </a:rPr>
              <a:t>withdrawal of prescribed glucocorticoids</a:t>
            </a:r>
            <a:r>
              <a:rPr lang="en-US" sz="4400" dirty="0">
                <a:latin typeface="Calibri"/>
                <a:ea typeface="Calibri"/>
                <a:cs typeface="Calibri"/>
                <a:sym typeface="Calibri"/>
              </a:rPr>
              <a:t>. </a:t>
            </a:r>
          </a:p>
          <a:p>
            <a:pPr marL="242887" lvl="0" indent="-242887" algn="l" rtl="0">
              <a:spcBef>
                <a:spcPts val="600"/>
              </a:spcBef>
              <a:spcAft>
                <a:spcPts val="600"/>
              </a:spcAft>
              <a:buClr>
                <a:srgbClr val="000000"/>
              </a:buClr>
              <a:buSzPts val="3600"/>
              <a:buFont typeface="Arial"/>
              <a:buChar char="•"/>
            </a:pPr>
            <a:endParaRPr lang="en-US" sz="3500" dirty="0">
              <a:latin typeface="Calibri"/>
              <a:ea typeface="Calibri"/>
              <a:cs typeface="Calibri"/>
              <a:sym typeface="Calibri"/>
            </a:endParaRPr>
          </a:p>
          <a:p>
            <a:pPr marL="242887" lvl="0" indent="-242887" algn="l" rtl="0">
              <a:spcBef>
                <a:spcPts val="600"/>
              </a:spcBef>
              <a:spcAft>
                <a:spcPts val="600"/>
              </a:spcAft>
              <a:buClr>
                <a:srgbClr val="000000"/>
              </a:buClr>
              <a:buSzPts val="3600"/>
              <a:buFont typeface="Arial"/>
              <a:buChar char="•"/>
            </a:pPr>
            <a:r>
              <a:rPr lang="en-US" sz="4400" dirty="0">
                <a:latin typeface="Calibri"/>
                <a:ea typeface="Calibri"/>
                <a:cs typeface="Calibri"/>
                <a:sym typeface="Calibri"/>
              </a:rPr>
              <a:t>Whenever clinicians prescribe long-term steroids, we must be clear to patients that </a:t>
            </a:r>
            <a:r>
              <a:rPr lang="en-US" sz="4400" b="1" i="1" dirty="0">
                <a:latin typeface="Calibri"/>
                <a:ea typeface="Calibri"/>
                <a:cs typeface="Calibri"/>
                <a:sym typeface="Calibri"/>
              </a:rPr>
              <a:t>these drugs are not to be discontinued abruptly.</a:t>
            </a:r>
          </a:p>
          <a:p>
            <a:pPr marL="242887" lvl="0" indent="-242887" algn="l" rtl="0">
              <a:spcBef>
                <a:spcPts val="600"/>
              </a:spcBef>
              <a:spcAft>
                <a:spcPts val="600"/>
              </a:spcAft>
              <a:buClr>
                <a:srgbClr val="000000"/>
              </a:buClr>
              <a:buSzPts val="3600"/>
              <a:buFont typeface="Arial"/>
              <a:buChar char="•"/>
            </a:pPr>
            <a:endParaRPr lang="en-US" sz="3500" dirty="0">
              <a:latin typeface="Calibri"/>
              <a:cs typeface="Calibri"/>
              <a:sym typeface="Calibri"/>
            </a:endParaRPr>
          </a:p>
          <a:p>
            <a:pPr marL="242887" lvl="0" indent="-242887" algn="l" rtl="0">
              <a:spcBef>
                <a:spcPts val="600"/>
              </a:spcBef>
              <a:spcAft>
                <a:spcPts val="600"/>
              </a:spcAft>
              <a:buClr>
                <a:srgbClr val="000000"/>
              </a:buClr>
              <a:buSzPts val="3600"/>
              <a:buFont typeface="Arial"/>
              <a:buChar char="•"/>
            </a:pPr>
            <a:r>
              <a:rPr lang="en-US" sz="4400" dirty="0">
                <a:latin typeface="Calibri"/>
                <a:cs typeface="Calibri"/>
                <a:sym typeface="Calibri"/>
              </a:rPr>
              <a:t>Oral corticosteroids are far more likely than inhaled corticosteroids to cause adrenal insufficiency if they are withdrawn.</a:t>
            </a:r>
            <a:endParaRPr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fa60496b86_2_5"/>
          <p:cNvSpPr txBox="1">
            <a:spLocks noGrp="1"/>
          </p:cNvSpPr>
          <p:nvPr>
            <p:ph type="title"/>
          </p:nvPr>
        </p:nvSpPr>
        <p:spPr>
          <a:xfrm>
            <a:off x="649288" y="323850"/>
            <a:ext cx="11704500" cy="1300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Iatrogenic Adrenal Insufficiency</a:t>
            </a:r>
            <a:endParaRPr dirty="0">
              <a:solidFill>
                <a:srgbClr val="00B0F0"/>
              </a:solidFill>
            </a:endParaRPr>
          </a:p>
        </p:txBody>
      </p:sp>
      <p:sp>
        <p:nvSpPr>
          <p:cNvPr id="115" name="Google Shape;115;gfa60496b86_2_5"/>
          <p:cNvSpPr txBox="1">
            <a:spLocks noGrp="1"/>
          </p:cNvSpPr>
          <p:nvPr>
            <p:ph type="body" idx="1"/>
          </p:nvPr>
        </p:nvSpPr>
        <p:spPr>
          <a:xfrm>
            <a:off x="169333" y="1624049"/>
            <a:ext cx="12716934" cy="8011017"/>
          </a:xfrm>
          <a:prstGeom prst="rect">
            <a:avLst/>
          </a:prstGeom>
          <a:noFill/>
          <a:ln>
            <a:noFill/>
          </a:ln>
        </p:spPr>
        <p:txBody>
          <a:bodyPr spcFirstLastPara="1" wrap="square" lIns="126425" tIns="72225" rIns="126425" bIns="72225" anchor="t" anchorCtr="0">
            <a:noAutofit/>
          </a:bodyPr>
          <a:lstStyle/>
          <a:p>
            <a:pPr marL="242887" lvl="0" indent="-242887" algn="l" rtl="0">
              <a:spcBef>
                <a:spcPts val="0"/>
              </a:spcBef>
              <a:spcAft>
                <a:spcPts val="0"/>
              </a:spcAft>
              <a:buClr>
                <a:srgbClr val="000000"/>
              </a:buClr>
              <a:buSzPts val="3600"/>
              <a:buFont typeface="Arial"/>
              <a:buChar char="•"/>
            </a:pPr>
            <a:r>
              <a:rPr lang="en-US" sz="4800" dirty="0">
                <a:latin typeface="Calibri"/>
                <a:cs typeface="Calibri"/>
                <a:sym typeface="Calibri"/>
              </a:rPr>
              <a:t>Oral steroids are particularly likely to cause iatrogenic adrenal insufficiency if they are </a:t>
            </a:r>
            <a:r>
              <a:rPr lang="en-US" sz="4800" b="1" i="1" dirty="0">
                <a:latin typeface="Calibri"/>
                <a:cs typeface="Calibri"/>
                <a:sym typeface="Calibri"/>
              </a:rPr>
              <a:t>high dose</a:t>
            </a:r>
            <a:r>
              <a:rPr lang="en-US" sz="4800" dirty="0">
                <a:latin typeface="Calibri"/>
                <a:cs typeface="Calibri"/>
                <a:sym typeface="Calibri"/>
              </a:rPr>
              <a:t>, if they are </a:t>
            </a:r>
            <a:r>
              <a:rPr lang="en-US" sz="4800" b="1" i="1" dirty="0">
                <a:latin typeface="Calibri"/>
                <a:cs typeface="Calibri"/>
                <a:sym typeface="Calibri"/>
              </a:rPr>
              <a:t>taken daily</a:t>
            </a:r>
            <a:r>
              <a:rPr lang="en-US" sz="4800" dirty="0">
                <a:latin typeface="Calibri"/>
                <a:cs typeface="Calibri"/>
                <a:sym typeface="Calibri"/>
              </a:rPr>
              <a:t>, or for a </a:t>
            </a:r>
            <a:r>
              <a:rPr lang="en-US" sz="4800" b="1" i="1" dirty="0">
                <a:latin typeface="Calibri"/>
                <a:cs typeface="Calibri"/>
                <a:sym typeface="Calibri"/>
              </a:rPr>
              <a:t>long time</a:t>
            </a:r>
            <a:r>
              <a:rPr lang="en-US" sz="4800" dirty="0">
                <a:latin typeface="Calibri"/>
                <a:cs typeface="Calibri"/>
                <a:sym typeface="Calibri"/>
              </a:rPr>
              <a:t>.</a:t>
            </a:r>
          </a:p>
          <a:p>
            <a:pPr marL="242887" lvl="0" indent="-242887" algn="l" rtl="0">
              <a:spcBef>
                <a:spcPts val="0"/>
              </a:spcBef>
              <a:spcAft>
                <a:spcPts val="0"/>
              </a:spcAft>
              <a:buClr>
                <a:srgbClr val="000000"/>
              </a:buClr>
              <a:buSzPts val="3600"/>
              <a:buFont typeface="Arial"/>
              <a:buChar char="•"/>
            </a:pPr>
            <a:endParaRPr lang="en-US" sz="4800" dirty="0">
              <a:latin typeface="Calibri"/>
              <a:cs typeface="Calibri"/>
              <a:sym typeface="Calibri"/>
            </a:endParaRPr>
          </a:p>
          <a:p>
            <a:pPr marL="242887" lvl="0" indent="-242887" algn="l" rtl="0">
              <a:spcBef>
                <a:spcPts val="0"/>
              </a:spcBef>
              <a:spcAft>
                <a:spcPts val="0"/>
              </a:spcAft>
              <a:buClr>
                <a:srgbClr val="000000"/>
              </a:buClr>
              <a:buSzPts val="3600"/>
              <a:buFont typeface="Arial"/>
              <a:buChar char="•"/>
            </a:pPr>
            <a:r>
              <a:rPr lang="en-US" sz="4800" dirty="0">
                <a:latin typeface="Calibri"/>
                <a:cs typeface="Calibri"/>
                <a:sym typeface="Calibri"/>
              </a:rPr>
              <a:t>Strategies to avoid this include lower dose or every-other-day steroid therapy for a chronic disease that is under good control.</a:t>
            </a:r>
          </a:p>
          <a:p>
            <a:pPr marL="242887" lvl="0" indent="-242887" algn="l" rtl="0">
              <a:spcBef>
                <a:spcPts val="0"/>
              </a:spcBef>
              <a:spcAft>
                <a:spcPts val="0"/>
              </a:spcAft>
              <a:buClr>
                <a:srgbClr val="000000"/>
              </a:buClr>
              <a:buSzPts val="3600"/>
              <a:buFont typeface="Arial"/>
              <a:buChar char="•"/>
            </a:pPr>
            <a:endParaRPr sz="4500" dirty="0">
              <a:latin typeface="Calibri"/>
              <a:ea typeface="Calibri"/>
              <a:cs typeface="Calibri"/>
              <a:sym typeface="Calibri"/>
            </a:endParaRPr>
          </a:p>
          <a:p>
            <a:pPr marL="242887" lvl="0" indent="-242887" algn="l" rtl="0">
              <a:spcBef>
                <a:spcPts val="700"/>
              </a:spcBef>
              <a:spcAft>
                <a:spcPts val="0"/>
              </a:spcAft>
              <a:buClr>
                <a:srgbClr val="000000"/>
              </a:buClr>
              <a:buSzPts val="3600"/>
              <a:buFont typeface="Arial"/>
              <a:buChar char="•"/>
            </a:pPr>
            <a:r>
              <a:rPr lang="en-US" sz="4500" dirty="0">
                <a:latin typeface="Calibri"/>
                <a:ea typeface="Calibri"/>
                <a:cs typeface="Calibri"/>
                <a:sym typeface="Calibri"/>
              </a:rPr>
              <a:t>As little as two weeks of oral steroid treatment may precipitate adrenal insufficiency if they are abruptly withdrawn.</a:t>
            </a:r>
            <a:r>
              <a:rPr lang="en-US" dirty="0">
                <a:ea typeface="Calibri"/>
                <a:cs typeface="Calibri"/>
              </a:rPr>
              <a:t> </a:t>
            </a:r>
            <a:r>
              <a:rPr lang="en-US" sz="4500" dirty="0">
                <a:latin typeface="Calibri"/>
                <a:ea typeface="Calibri"/>
                <a:cs typeface="Calibri"/>
                <a:sym typeface="Calibri"/>
              </a:rPr>
              <a:t>What are the names of these steroids?</a:t>
            </a:r>
            <a:endParaRPr dirty="0"/>
          </a:p>
        </p:txBody>
      </p:sp>
    </p:spTree>
    <p:extLst>
      <p:ext uri="{BB962C8B-B14F-4D97-AF65-F5344CB8AC3E}">
        <p14:creationId xmlns:p14="http://schemas.microsoft.com/office/powerpoint/2010/main" val="516526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0"/>
          <p:cNvSpPr txBox="1">
            <a:spLocks noGrp="1"/>
          </p:cNvSpPr>
          <p:nvPr>
            <p:ph type="title"/>
          </p:nvPr>
        </p:nvSpPr>
        <p:spPr>
          <a:xfrm>
            <a:off x="649288" y="323850"/>
            <a:ext cx="11704637" cy="130016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latin typeface="Arial"/>
                <a:ea typeface="Arial"/>
                <a:cs typeface="Arial"/>
                <a:sym typeface="Arial"/>
              </a:rPr>
              <a:t>Types of Steroids</a:t>
            </a:r>
            <a:endParaRPr dirty="0"/>
          </a:p>
        </p:txBody>
      </p:sp>
      <p:sp>
        <p:nvSpPr>
          <p:cNvPr id="121" name="Google Shape;121;p10"/>
          <p:cNvSpPr txBox="1">
            <a:spLocks noGrp="1"/>
          </p:cNvSpPr>
          <p:nvPr>
            <p:ph type="body" idx="1"/>
          </p:nvPr>
        </p:nvSpPr>
        <p:spPr>
          <a:xfrm>
            <a:off x="177800" y="1841500"/>
            <a:ext cx="12700000" cy="7747000"/>
          </a:xfrm>
          <a:prstGeom prst="rect">
            <a:avLst/>
          </a:prstGeom>
          <a:noFill/>
          <a:ln>
            <a:noFill/>
          </a:ln>
        </p:spPr>
        <p:txBody>
          <a:bodyPr spcFirstLastPara="1" wrap="square" lIns="126425" tIns="72225" rIns="126425" bIns="72225" anchor="t" anchorCtr="0">
            <a:noAutofit/>
          </a:bodyPr>
          <a:lstStyle/>
          <a:p>
            <a:pPr marL="242888" lvl="0" indent="-242888" algn="l" rtl="0">
              <a:spcBef>
                <a:spcPts val="0"/>
              </a:spcBef>
              <a:spcAft>
                <a:spcPts val="0"/>
              </a:spcAft>
              <a:buClr>
                <a:srgbClr val="000000"/>
              </a:buClr>
              <a:buSzPts val="3600"/>
              <a:buFont typeface="Arial"/>
              <a:buChar char="•"/>
            </a:pPr>
            <a:r>
              <a:rPr lang="en-US" sz="4500" b="1" dirty="0">
                <a:latin typeface="Calibri"/>
                <a:ea typeface="Calibri"/>
                <a:cs typeface="Calibri"/>
                <a:sym typeface="Calibri"/>
              </a:rPr>
              <a:t>Hydrocortisone (</a:t>
            </a:r>
            <a:r>
              <a:rPr lang="en-US" sz="4500" b="1" dirty="0" err="1">
                <a:latin typeface="Calibri"/>
                <a:ea typeface="Calibri"/>
                <a:cs typeface="Calibri"/>
                <a:sym typeface="Calibri"/>
              </a:rPr>
              <a:t>Cortef</a:t>
            </a:r>
            <a:r>
              <a:rPr lang="en-US" sz="4500" b="1" dirty="0">
                <a:latin typeface="Calibri"/>
                <a:ea typeface="Calibri"/>
                <a:cs typeface="Calibri"/>
                <a:sym typeface="Calibri"/>
              </a:rPr>
              <a:t>)</a:t>
            </a:r>
            <a:r>
              <a:rPr lang="en-US" sz="4500" dirty="0">
                <a:latin typeface="Calibri"/>
                <a:ea typeface="Calibri"/>
                <a:cs typeface="Calibri"/>
                <a:sym typeface="Calibri"/>
              </a:rPr>
              <a:t>-</a:t>
            </a:r>
            <a:r>
              <a:rPr lang="en-US" sz="4500" b="1" dirty="0">
                <a:latin typeface="Calibri"/>
                <a:ea typeface="Calibri"/>
                <a:cs typeface="Calibri"/>
                <a:sym typeface="Calibri"/>
              </a:rPr>
              <a:t> </a:t>
            </a:r>
            <a:r>
              <a:rPr lang="en-US" sz="4500" dirty="0">
                <a:latin typeface="Calibri"/>
                <a:ea typeface="Calibri"/>
                <a:cs typeface="Calibri"/>
                <a:sym typeface="Calibri"/>
              </a:rPr>
              <a:t>the most biosimilar to our own naturally occurring glucocorticoid, cortisol.</a:t>
            </a:r>
            <a:endParaRPr dirty="0"/>
          </a:p>
          <a:p>
            <a:pPr marL="242888" lvl="0" indent="-14288" algn="l" rtl="0">
              <a:spcBef>
                <a:spcPts val="700"/>
              </a:spcBef>
              <a:spcAft>
                <a:spcPts val="0"/>
              </a:spcAft>
              <a:buClr>
                <a:srgbClr val="000000"/>
              </a:buClr>
              <a:buSzPts val="3600"/>
              <a:buFont typeface="Arial"/>
              <a:buNone/>
            </a:pPr>
            <a:endParaRPr sz="4500" dirty="0">
              <a:latin typeface="Calibri"/>
              <a:ea typeface="Calibri"/>
              <a:cs typeface="Calibri"/>
              <a:sym typeface="Calibri"/>
            </a:endParaRPr>
          </a:p>
          <a:p>
            <a:pPr marL="242888" lvl="0" indent="-242888" algn="l" rtl="0">
              <a:spcBef>
                <a:spcPts val="700"/>
              </a:spcBef>
              <a:spcAft>
                <a:spcPts val="0"/>
              </a:spcAft>
              <a:buClr>
                <a:srgbClr val="000000"/>
              </a:buClr>
              <a:buSzPts val="3600"/>
              <a:buFont typeface="Arial"/>
              <a:buChar char="•"/>
            </a:pPr>
            <a:r>
              <a:rPr lang="en-US" sz="4500" dirty="0">
                <a:latin typeface="Calibri"/>
                <a:ea typeface="Calibri"/>
                <a:cs typeface="Calibri"/>
                <a:sym typeface="Calibri"/>
              </a:rPr>
              <a:t>Other synthetic glucocorticoids include:</a:t>
            </a:r>
            <a:endParaRPr dirty="0"/>
          </a:p>
          <a:p>
            <a:pPr marL="623888" lvl="1" indent="-242887" algn="l" rtl="0">
              <a:spcBef>
                <a:spcPts val="700"/>
              </a:spcBef>
              <a:spcAft>
                <a:spcPts val="0"/>
              </a:spcAft>
              <a:buClr>
                <a:srgbClr val="000000"/>
              </a:buClr>
              <a:buSzPts val="3600"/>
              <a:buFont typeface="Arial"/>
              <a:buChar char="•"/>
            </a:pPr>
            <a:r>
              <a:rPr lang="en-US" sz="4500" dirty="0">
                <a:latin typeface="Calibri"/>
                <a:ea typeface="Calibri"/>
                <a:cs typeface="Calibri"/>
                <a:sym typeface="Calibri"/>
              </a:rPr>
              <a:t>Betamethasone (</a:t>
            </a:r>
            <a:r>
              <a:rPr lang="en-US" sz="4500" dirty="0" err="1">
                <a:latin typeface="Calibri"/>
                <a:ea typeface="Calibri"/>
                <a:cs typeface="Calibri"/>
                <a:sym typeface="Calibri"/>
              </a:rPr>
              <a:t>Celestone</a:t>
            </a:r>
            <a:r>
              <a:rPr lang="en-US" sz="4500" dirty="0">
                <a:latin typeface="Calibri"/>
                <a:ea typeface="Calibri"/>
                <a:cs typeface="Calibri"/>
                <a:sym typeface="Calibri"/>
              </a:rPr>
              <a:t>)</a:t>
            </a:r>
            <a:endParaRPr dirty="0"/>
          </a:p>
          <a:p>
            <a:pPr marL="623888" lvl="1" indent="-242887" algn="l" rtl="0">
              <a:spcBef>
                <a:spcPts val="700"/>
              </a:spcBef>
              <a:spcAft>
                <a:spcPts val="0"/>
              </a:spcAft>
              <a:buClr>
                <a:srgbClr val="000000"/>
              </a:buClr>
              <a:buSzPts val="3600"/>
              <a:buFont typeface="Arial"/>
              <a:buChar char="•"/>
            </a:pPr>
            <a:r>
              <a:rPr lang="en-US" sz="4500" b="1" dirty="0">
                <a:latin typeface="Calibri"/>
                <a:ea typeface="Calibri"/>
                <a:cs typeface="Calibri"/>
                <a:sym typeface="Calibri"/>
              </a:rPr>
              <a:t>Prednisone</a:t>
            </a:r>
            <a:r>
              <a:rPr lang="en-US" sz="4500" dirty="0">
                <a:latin typeface="Calibri"/>
                <a:ea typeface="Calibri"/>
                <a:cs typeface="Calibri"/>
                <a:sym typeface="Calibri"/>
              </a:rPr>
              <a:t> </a:t>
            </a:r>
            <a:endParaRPr dirty="0"/>
          </a:p>
          <a:p>
            <a:pPr marL="623888" lvl="1" indent="-242887" algn="l" rtl="0">
              <a:spcBef>
                <a:spcPts val="700"/>
              </a:spcBef>
              <a:spcAft>
                <a:spcPts val="0"/>
              </a:spcAft>
              <a:buClr>
                <a:srgbClr val="000000"/>
              </a:buClr>
              <a:buSzPts val="3600"/>
              <a:buFont typeface="Arial"/>
              <a:buChar char="•"/>
            </a:pPr>
            <a:r>
              <a:rPr lang="en-US" sz="4500" dirty="0">
                <a:latin typeface="Calibri"/>
                <a:ea typeface="Calibri"/>
                <a:cs typeface="Calibri"/>
                <a:sym typeface="Calibri"/>
              </a:rPr>
              <a:t>Prednisolone (</a:t>
            </a:r>
            <a:r>
              <a:rPr lang="en-US" sz="4500" dirty="0" err="1">
                <a:latin typeface="Calibri"/>
                <a:ea typeface="Calibri"/>
                <a:cs typeface="Calibri"/>
                <a:sym typeface="Calibri"/>
              </a:rPr>
              <a:t>Prelone</a:t>
            </a:r>
            <a:r>
              <a:rPr lang="en-US" sz="4500" dirty="0">
                <a:latin typeface="Calibri"/>
                <a:ea typeface="Calibri"/>
                <a:cs typeface="Calibri"/>
                <a:sym typeface="Calibri"/>
              </a:rPr>
              <a:t>)</a:t>
            </a:r>
            <a:endParaRPr dirty="0"/>
          </a:p>
          <a:p>
            <a:pPr marL="623888" lvl="1" indent="-242887" algn="l" rtl="0">
              <a:spcBef>
                <a:spcPts val="700"/>
              </a:spcBef>
              <a:spcAft>
                <a:spcPts val="0"/>
              </a:spcAft>
              <a:buClr>
                <a:srgbClr val="000000"/>
              </a:buClr>
              <a:buSzPts val="3600"/>
              <a:buFont typeface="Arial"/>
              <a:buChar char="•"/>
            </a:pPr>
            <a:r>
              <a:rPr lang="en-US" sz="4500" dirty="0">
                <a:latin typeface="Calibri"/>
                <a:ea typeface="Calibri"/>
                <a:cs typeface="Calibri"/>
                <a:sym typeface="Calibri"/>
              </a:rPr>
              <a:t>Triamcinolone (Kenalog)</a:t>
            </a:r>
            <a:endParaRPr dirty="0"/>
          </a:p>
          <a:p>
            <a:pPr marL="623888" lvl="1" indent="-242887" algn="l" rtl="0">
              <a:spcBef>
                <a:spcPts val="700"/>
              </a:spcBef>
              <a:spcAft>
                <a:spcPts val="0"/>
              </a:spcAft>
              <a:buClr>
                <a:srgbClr val="000000"/>
              </a:buClr>
              <a:buSzPts val="3600"/>
              <a:buFont typeface="Arial"/>
              <a:buChar char="•"/>
            </a:pPr>
            <a:r>
              <a:rPr lang="en-US" sz="4500" b="1" dirty="0">
                <a:latin typeface="Calibri"/>
                <a:ea typeface="Calibri"/>
                <a:cs typeface="Calibri"/>
                <a:sym typeface="Calibri"/>
              </a:rPr>
              <a:t>Methylprednisolone (Solu-Medrol)</a:t>
            </a:r>
            <a:endParaRPr b="1" dirty="0"/>
          </a:p>
          <a:p>
            <a:pPr marL="623888" lvl="1" indent="-242887" algn="l" rtl="0">
              <a:spcBef>
                <a:spcPts val="700"/>
              </a:spcBef>
              <a:spcAft>
                <a:spcPts val="0"/>
              </a:spcAft>
              <a:buClr>
                <a:srgbClr val="000000"/>
              </a:buClr>
              <a:buSzPts val="3600"/>
              <a:buFont typeface="Arial"/>
              <a:buChar char="•"/>
            </a:pPr>
            <a:r>
              <a:rPr lang="en-US" sz="4500" b="1" dirty="0">
                <a:latin typeface="Calibri"/>
                <a:ea typeface="Calibri"/>
                <a:cs typeface="Calibri"/>
                <a:sym typeface="Calibri"/>
              </a:rPr>
              <a:t>Dexamethasone (Decadron)</a:t>
            </a:r>
            <a:endParaRPr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323850" y="323850"/>
            <a:ext cx="12355514" cy="130016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Adrenal Insufficiency</a:t>
            </a:r>
            <a:endParaRPr dirty="0">
              <a:solidFill>
                <a:srgbClr val="00B0F0"/>
              </a:solidFill>
            </a:endParaRPr>
          </a:p>
        </p:txBody>
      </p:sp>
      <p:pic>
        <p:nvPicPr>
          <p:cNvPr id="2050" name="Picture 2" descr="Hypothalamic-pituitary-adrenal (HPA) axis. Experiencing an... | Download  Scientific Diagram">
            <a:extLst>
              <a:ext uri="{FF2B5EF4-FFF2-40B4-BE49-F238E27FC236}">
                <a16:creationId xmlns:a16="http://schemas.microsoft.com/office/drawing/2014/main" id="{6084D276-E1E7-DCD5-0399-6A5CAEBCF7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24" t="9316"/>
          <a:stretch/>
        </p:blipFill>
        <p:spPr bwMode="auto">
          <a:xfrm>
            <a:off x="5537200" y="2125596"/>
            <a:ext cx="7142164" cy="6736886"/>
          </a:xfrm>
          <a:prstGeom prst="rect">
            <a:avLst/>
          </a:prstGeom>
          <a:noFill/>
          <a:extLst>
            <a:ext uri="{909E8E84-426E-40DD-AFC4-6F175D3DCCD1}">
              <a14:hiddenFill xmlns:a14="http://schemas.microsoft.com/office/drawing/2010/main">
                <a:solidFill>
                  <a:srgbClr val="FFFFFF"/>
                </a:solidFill>
              </a14:hiddenFill>
            </a:ext>
          </a:extLst>
        </p:spPr>
      </p:pic>
      <p:sp>
        <p:nvSpPr>
          <p:cNvPr id="127" name="Google Shape;127;p11"/>
          <p:cNvSpPr txBox="1">
            <a:spLocks noGrp="1"/>
          </p:cNvSpPr>
          <p:nvPr>
            <p:ph type="body" idx="1"/>
          </p:nvPr>
        </p:nvSpPr>
        <p:spPr>
          <a:xfrm>
            <a:off x="323851" y="1841500"/>
            <a:ext cx="6271982" cy="7586663"/>
          </a:xfrm>
          <a:prstGeom prst="rect">
            <a:avLst/>
          </a:prstGeom>
          <a:noFill/>
          <a:ln>
            <a:noFill/>
          </a:ln>
        </p:spPr>
        <p:txBody>
          <a:bodyPr spcFirstLastPara="1" wrap="square" lIns="126425" tIns="72225" rIns="126425" bIns="72225" anchor="t" anchorCtr="0">
            <a:noAutofit/>
          </a:bodyPr>
          <a:lstStyle/>
          <a:p>
            <a:pPr marL="242888" lvl="0" indent="-28575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Adrenal insufficiency is often primary:</a:t>
            </a:r>
            <a:endParaRPr dirty="0"/>
          </a:p>
          <a:p>
            <a:pPr marL="0" lvl="0" indent="0" algn="l" rtl="0">
              <a:spcBef>
                <a:spcPts val="700"/>
              </a:spcBef>
              <a:spcAft>
                <a:spcPts val="0"/>
              </a:spcAft>
              <a:buClr>
                <a:srgbClr val="000000"/>
              </a:buClr>
              <a:buSzPts val="4500"/>
              <a:buFont typeface="Helvetica Neue Light"/>
              <a:buNone/>
            </a:pPr>
            <a:endParaRPr lang="en-US" sz="4500" dirty="0">
              <a:latin typeface="Calibri"/>
              <a:ea typeface="Calibri"/>
              <a:cs typeface="Calibri"/>
              <a:sym typeface="Calibri"/>
            </a:endParaRPr>
          </a:p>
          <a:p>
            <a:pPr marL="0" lvl="0" indent="0" algn="l" rtl="0">
              <a:spcBef>
                <a:spcPts val="700"/>
              </a:spcBef>
              <a:spcAft>
                <a:spcPts val="0"/>
              </a:spcAft>
              <a:buClr>
                <a:srgbClr val="000000"/>
              </a:buClr>
              <a:buSzPts val="4500"/>
              <a:buFont typeface="Helvetica Neue Light"/>
              <a:buNone/>
            </a:pPr>
            <a:endParaRPr lang="en-US" sz="4500" dirty="0">
              <a:latin typeface="Calibri"/>
              <a:ea typeface="Calibri"/>
              <a:cs typeface="Calibri"/>
              <a:sym typeface="Calibri"/>
            </a:endParaRPr>
          </a:p>
          <a:p>
            <a:pPr marL="0" lvl="0" indent="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42888" lvl="0" indent="-28575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Adrenal insufficiency may rarely be secondary or tertiary:</a:t>
            </a:r>
            <a:endParaRPr dirty="0"/>
          </a:p>
          <a:p>
            <a:pPr marL="0" lvl="0" indent="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0" lvl="0" indent="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2"/>
          <p:cNvSpPr txBox="1">
            <a:spLocks noGrp="1"/>
          </p:cNvSpPr>
          <p:nvPr>
            <p:ph type="title"/>
          </p:nvPr>
        </p:nvSpPr>
        <p:spPr>
          <a:xfrm>
            <a:off x="177800" y="287867"/>
            <a:ext cx="12649200" cy="1981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00B0F0"/>
                </a:solidFill>
                <a:latin typeface="Calibri"/>
                <a:ea typeface="Calibri"/>
                <a:cs typeface="Calibri"/>
                <a:sym typeface="Calibri"/>
              </a:rPr>
              <a:t>Etiologies of Primary Adrenal Insufficiency: Autoimmune Destruction</a:t>
            </a:r>
            <a:endParaRPr sz="6000" dirty="0">
              <a:solidFill>
                <a:srgbClr val="00B0F0"/>
              </a:solidFill>
              <a:latin typeface="Calibri"/>
              <a:ea typeface="Calibri"/>
              <a:cs typeface="Calibri"/>
              <a:sym typeface="Calibri"/>
            </a:endParaRPr>
          </a:p>
        </p:txBody>
      </p:sp>
      <p:sp>
        <p:nvSpPr>
          <p:cNvPr id="133" name="Google Shape;133;p12"/>
          <p:cNvSpPr txBox="1">
            <a:spLocks noGrp="1"/>
          </p:cNvSpPr>
          <p:nvPr>
            <p:ph type="body" idx="1"/>
          </p:nvPr>
        </p:nvSpPr>
        <p:spPr>
          <a:xfrm>
            <a:off x="177800" y="2438400"/>
            <a:ext cx="12649200" cy="7162800"/>
          </a:xfrm>
          <a:prstGeom prst="rect">
            <a:avLst/>
          </a:prstGeom>
          <a:noFill/>
          <a:ln>
            <a:noFill/>
          </a:ln>
        </p:spPr>
        <p:txBody>
          <a:bodyPr spcFirstLastPara="1" wrap="square" lIns="126425" tIns="72225" rIns="126425" bIns="72225" anchor="t" anchorCtr="0">
            <a:noAutofit/>
          </a:bodyPr>
          <a:lstStyle/>
          <a:p>
            <a:pPr marL="742950" lvl="0" indent="-742950" algn="l" rtl="0">
              <a:spcBef>
                <a:spcPts val="0"/>
              </a:spcBef>
              <a:spcAft>
                <a:spcPts val="0"/>
              </a:spcAft>
              <a:buClr>
                <a:srgbClr val="000000"/>
              </a:buClr>
              <a:buSzPts val="4400"/>
              <a:buFont typeface="+mj-lt"/>
              <a:buAutoNum type="arabicPeriod"/>
            </a:pPr>
            <a:r>
              <a:rPr lang="en-US" sz="4400" b="1" i="1" dirty="0">
                <a:latin typeface="Calibri" panose="020F0502020204030204" pitchFamily="34" charset="0"/>
                <a:ea typeface="Calibri"/>
                <a:cs typeface="Calibri" panose="020F0502020204030204" pitchFamily="34" charset="0"/>
                <a:sym typeface="Calibri"/>
              </a:rPr>
              <a:t>Autoimmune destruction of the adrenal gland </a:t>
            </a:r>
            <a:r>
              <a:rPr lang="en-US" sz="4400" dirty="0">
                <a:latin typeface="Calibri" panose="020F0502020204030204" pitchFamily="34" charset="0"/>
                <a:ea typeface="Calibri"/>
                <a:cs typeface="Calibri" panose="020F0502020204030204" pitchFamily="34" charset="0"/>
                <a:sym typeface="Calibri"/>
              </a:rPr>
              <a:t>is also known as </a:t>
            </a:r>
            <a:r>
              <a:rPr lang="en-US" sz="4400" b="1" dirty="0">
                <a:latin typeface="Calibri" panose="020F0502020204030204" pitchFamily="34" charset="0"/>
                <a:ea typeface="Calibri"/>
                <a:cs typeface="Calibri" panose="020F0502020204030204" pitchFamily="34" charset="0"/>
                <a:sym typeface="Calibri"/>
              </a:rPr>
              <a:t>Addison’s disease.</a:t>
            </a:r>
            <a:endParaRPr dirty="0">
              <a:latin typeface="Calibri" panose="020F0502020204030204" pitchFamily="34" charset="0"/>
              <a:cs typeface="Calibri" panose="020F0502020204030204" pitchFamily="34" charset="0"/>
            </a:endParaRPr>
          </a:p>
          <a:p>
            <a:pPr marL="487363" lvl="0" indent="-207962" algn="l" rtl="0">
              <a:spcBef>
                <a:spcPts val="700"/>
              </a:spcBef>
              <a:spcAft>
                <a:spcPts val="0"/>
              </a:spcAft>
              <a:buClr>
                <a:srgbClr val="000000"/>
              </a:buClr>
              <a:buSzPts val="4400"/>
              <a:buFont typeface="Arial"/>
              <a:buNone/>
            </a:pPr>
            <a:endParaRPr sz="4400" b="1"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0"/>
              </a:spcAft>
              <a:buClr>
                <a:srgbClr val="000000"/>
              </a:buClr>
              <a:buSzPts val="4400"/>
              <a:buFont typeface="Arial"/>
              <a:buChar char="•"/>
            </a:pPr>
            <a:r>
              <a:rPr lang="en-US" sz="4400" dirty="0">
                <a:latin typeface="Calibri" panose="020F0502020204030204" pitchFamily="34" charset="0"/>
                <a:ea typeface="Calibri"/>
                <a:cs typeface="Calibri" panose="020F0502020204030204" pitchFamily="34" charset="0"/>
                <a:sym typeface="Calibri"/>
              </a:rPr>
              <a:t>Addison’s disease accounts for </a:t>
            </a:r>
            <a:r>
              <a:rPr lang="en-US" sz="4400" b="1" i="1" dirty="0">
                <a:latin typeface="Calibri" panose="020F0502020204030204" pitchFamily="34" charset="0"/>
                <a:ea typeface="Calibri"/>
                <a:cs typeface="Calibri" panose="020F0502020204030204" pitchFamily="34" charset="0"/>
                <a:sym typeface="Calibri"/>
              </a:rPr>
              <a:t>80% of adrenal insufficiency in the USA, and 65% of adrenal insufficiency in the industrialized world</a:t>
            </a:r>
            <a:r>
              <a:rPr lang="en-US" sz="4400" dirty="0">
                <a:latin typeface="Calibri" panose="020F0502020204030204" pitchFamily="34" charset="0"/>
                <a:ea typeface="Calibri"/>
                <a:cs typeface="Calibri" panose="020F0502020204030204" pitchFamily="34" charset="0"/>
                <a:sym typeface="Calibri"/>
              </a:rPr>
              <a:t>.</a:t>
            </a:r>
            <a:endParaRPr dirty="0">
              <a:latin typeface="Calibri" panose="020F0502020204030204" pitchFamily="34" charset="0"/>
              <a:cs typeface="Calibri" panose="020F0502020204030204" pitchFamily="34" charset="0"/>
            </a:endParaRPr>
          </a:p>
          <a:p>
            <a:pPr marL="487363" lvl="0" indent="-207962" algn="l" rtl="0">
              <a:spcBef>
                <a:spcPts val="700"/>
              </a:spcBef>
              <a:spcAft>
                <a:spcPts val="0"/>
              </a:spcAft>
              <a:buClr>
                <a:srgbClr val="000000"/>
              </a:buClr>
              <a:buSzPts val="4400"/>
              <a:buFont typeface="Arial"/>
              <a:buNone/>
            </a:pPr>
            <a:endParaRPr sz="4400" dirty="0">
              <a:latin typeface="Calibri" panose="020F0502020204030204" pitchFamily="34" charset="0"/>
              <a:ea typeface="Calibri"/>
              <a:cs typeface="Calibri" panose="020F0502020204030204" pitchFamily="34" charset="0"/>
              <a:sym typeface="Calibri"/>
            </a:endParaRPr>
          </a:p>
          <a:p>
            <a:pPr marL="487363" lvl="0" indent="-487363" algn="l" rtl="0">
              <a:spcBef>
                <a:spcPts val="700"/>
              </a:spcBef>
              <a:spcAft>
                <a:spcPts val="0"/>
              </a:spcAft>
              <a:buClr>
                <a:srgbClr val="000000"/>
              </a:buClr>
              <a:buSzPts val="4400"/>
              <a:buFont typeface="Arial"/>
              <a:buChar char="•"/>
            </a:pPr>
            <a:r>
              <a:rPr lang="en-US" sz="4400" b="1" i="1" dirty="0">
                <a:latin typeface="Calibri" panose="020F0502020204030204" pitchFamily="34" charset="0"/>
                <a:ea typeface="Calibri"/>
                <a:cs typeface="Calibri" panose="020F0502020204030204" pitchFamily="34" charset="0"/>
                <a:sym typeface="Calibri"/>
              </a:rPr>
              <a:t>70% of pts with Addison’s disease have anti-adrenal antibodies </a:t>
            </a:r>
            <a:r>
              <a:rPr lang="en-US" sz="4400" dirty="0">
                <a:latin typeface="Calibri" panose="020F0502020204030204" pitchFamily="34" charset="0"/>
                <a:ea typeface="Calibri"/>
                <a:cs typeface="Calibri" panose="020F0502020204030204" pitchFamily="34" charset="0"/>
                <a:sym typeface="Calibri"/>
              </a:rPr>
              <a:t>that are detectable in the blood.</a:t>
            </a:r>
            <a:endParaRPr sz="44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3"/>
          <p:cNvSpPr txBox="1">
            <a:spLocks noGrp="1"/>
          </p:cNvSpPr>
          <p:nvPr>
            <p:ph type="title"/>
          </p:nvPr>
        </p:nvSpPr>
        <p:spPr>
          <a:xfrm>
            <a:off x="323850" y="152400"/>
            <a:ext cx="12355514" cy="210185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Etiologies of Adrenal Insufficiency: Autoimmune Destruction </a:t>
            </a:r>
            <a:endParaRPr dirty="0">
              <a:solidFill>
                <a:srgbClr val="00B0F0"/>
              </a:solidFill>
              <a:latin typeface="Calibri"/>
              <a:ea typeface="Calibri"/>
              <a:cs typeface="Calibri"/>
              <a:sym typeface="Calibri"/>
            </a:endParaRPr>
          </a:p>
        </p:txBody>
      </p:sp>
      <p:sp>
        <p:nvSpPr>
          <p:cNvPr id="139" name="Google Shape;139;p13"/>
          <p:cNvSpPr txBox="1">
            <a:spLocks noGrp="1"/>
          </p:cNvSpPr>
          <p:nvPr>
            <p:ph type="body" idx="1"/>
          </p:nvPr>
        </p:nvSpPr>
        <p:spPr>
          <a:xfrm>
            <a:off x="177800" y="2438400"/>
            <a:ext cx="12609512" cy="71628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Addison's disease may occur alone or as part of a polyglandular autoimmune syndrome.</a:t>
            </a:r>
            <a:endParaRPr dirty="0"/>
          </a:p>
          <a:p>
            <a:pPr marL="487363" lvl="0" indent="-201612" algn="l" rtl="0">
              <a:spcBef>
                <a:spcPts val="700"/>
              </a:spcBef>
              <a:spcAft>
                <a:spcPts val="0"/>
              </a:spcAft>
              <a:buClr>
                <a:srgbClr val="000000"/>
              </a:buClr>
              <a:buSzPts val="4500"/>
              <a:buFont typeface="Arial"/>
              <a:buNone/>
            </a:pPr>
            <a:endParaRPr sz="2000" dirty="0">
              <a:latin typeface="Calibri"/>
              <a:ea typeface="Calibri"/>
              <a:cs typeface="Calibri"/>
              <a:sym typeface="Calibri"/>
            </a:endParaRPr>
          </a:p>
          <a:p>
            <a:pPr marL="882650" lvl="1" indent="-425450" algn="l" rtl="0">
              <a:spcBef>
                <a:spcPts val="600"/>
              </a:spcBef>
              <a:spcAft>
                <a:spcPts val="0"/>
              </a:spcAft>
              <a:buClr>
                <a:srgbClr val="000000"/>
              </a:buClr>
              <a:buSzPts val="4400"/>
              <a:buFont typeface="Arial"/>
              <a:buChar char="–"/>
            </a:pPr>
            <a:r>
              <a:rPr lang="en-US" sz="4400" b="1" i="1" dirty="0">
                <a:latin typeface="Calibri"/>
                <a:ea typeface="Calibri"/>
                <a:cs typeface="Calibri"/>
                <a:sym typeface="Calibri"/>
              </a:rPr>
              <a:t>PGA Type I</a:t>
            </a:r>
            <a:r>
              <a:rPr lang="en-US" sz="4400" dirty="0">
                <a:latin typeface="Calibri"/>
                <a:ea typeface="Calibri"/>
                <a:cs typeface="Calibri"/>
                <a:sym typeface="Calibri"/>
              </a:rPr>
              <a:t>: hypoparathyroidism, Addison’s and mucocutaneous candidiasis.  Generally, presents in the first 10 years of life.</a:t>
            </a:r>
            <a:endParaRPr dirty="0"/>
          </a:p>
          <a:p>
            <a:pPr marL="882650" lvl="1" indent="-146050" algn="l" rtl="0">
              <a:spcBef>
                <a:spcPts val="600"/>
              </a:spcBef>
              <a:spcAft>
                <a:spcPts val="0"/>
              </a:spcAft>
              <a:buClr>
                <a:srgbClr val="000000"/>
              </a:buClr>
              <a:buSzPts val="4400"/>
              <a:buFont typeface="Arial"/>
              <a:buNone/>
            </a:pPr>
            <a:endParaRPr sz="4400" dirty="0">
              <a:latin typeface="Calibri"/>
              <a:ea typeface="Calibri"/>
              <a:cs typeface="Calibri"/>
              <a:sym typeface="Calibri"/>
            </a:endParaRPr>
          </a:p>
          <a:p>
            <a:pPr marL="882650" lvl="1" indent="-425450" algn="l" rtl="0">
              <a:spcBef>
                <a:spcPts val="600"/>
              </a:spcBef>
              <a:spcAft>
                <a:spcPts val="0"/>
              </a:spcAft>
              <a:buClr>
                <a:srgbClr val="000000"/>
              </a:buClr>
              <a:buSzPts val="4400"/>
              <a:buFont typeface="Arial"/>
              <a:buChar char="–"/>
            </a:pPr>
            <a:r>
              <a:rPr lang="en-US" sz="4400" b="1" i="1" dirty="0">
                <a:latin typeface="Calibri"/>
                <a:ea typeface="Calibri"/>
                <a:cs typeface="Calibri"/>
                <a:sym typeface="Calibri"/>
              </a:rPr>
              <a:t>PGA Type II</a:t>
            </a:r>
            <a:r>
              <a:rPr lang="en-US" sz="4400" dirty="0">
                <a:latin typeface="Calibri"/>
                <a:ea typeface="Calibri"/>
                <a:cs typeface="Calibri"/>
                <a:sym typeface="Calibri"/>
              </a:rPr>
              <a:t>: Addison’s, autoimmune thyroid disease (Graves/ Hashimoto’s) and T1DM. Generally, presents in the teens and twenties.</a:t>
            </a:r>
            <a:endParaRPr sz="4400" dirty="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4"/>
          <p:cNvSpPr txBox="1">
            <a:spLocks noGrp="1"/>
          </p:cNvSpPr>
          <p:nvPr>
            <p:ph type="title"/>
          </p:nvPr>
        </p:nvSpPr>
        <p:spPr>
          <a:xfrm>
            <a:off x="323850" y="171450"/>
            <a:ext cx="12355514" cy="1905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Addison’s Disease: Autoimmune Adrenal Destruction </a:t>
            </a:r>
            <a:endParaRPr dirty="0">
              <a:solidFill>
                <a:srgbClr val="00B0F0"/>
              </a:solidFill>
              <a:latin typeface="Calibri"/>
              <a:ea typeface="Calibri"/>
              <a:cs typeface="Calibri"/>
              <a:sym typeface="Calibri"/>
            </a:endParaRPr>
          </a:p>
        </p:txBody>
      </p:sp>
      <p:sp>
        <p:nvSpPr>
          <p:cNvPr id="145" name="Google Shape;145;p14"/>
          <p:cNvSpPr txBox="1">
            <a:spLocks noGrp="1"/>
          </p:cNvSpPr>
          <p:nvPr>
            <p:ph type="body" idx="1"/>
          </p:nvPr>
        </p:nvSpPr>
        <p:spPr>
          <a:xfrm>
            <a:off x="177800" y="2286000"/>
            <a:ext cx="12609512" cy="73152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i="1" dirty="0">
                <a:latin typeface="Calibri"/>
                <a:ea typeface="Calibri"/>
                <a:cs typeface="Calibri"/>
                <a:sym typeface="Calibri"/>
              </a:rPr>
              <a:t>Addison's disease </a:t>
            </a:r>
            <a:r>
              <a:rPr lang="en-US" sz="4500" dirty="0">
                <a:latin typeface="Calibri"/>
                <a:ea typeface="Calibri"/>
                <a:cs typeface="Calibri"/>
                <a:sym typeface="Calibri"/>
              </a:rPr>
              <a:t>results in destruction of the entire adrenal cortex, </a:t>
            </a:r>
            <a:r>
              <a:rPr lang="en-US" sz="4500" b="1" i="1" dirty="0">
                <a:latin typeface="Calibri"/>
                <a:ea typeface="Calibri"/>
                <a:cs typeface="Calibri"/>
                <a:sym typeface="Calibri"/>
              </a:rPr>
              <a:t>affecting cortisol (glucocorticoid), aldosterone (</a:t>
            </a:r>
            <a:r>
              <a:rPr lang="en-US" sz="4500" b="1" i="1" dirty="0" err="1">
                <a:latin typeface="Calibri"/>
                <a:ea typeface="Calibri"/>
                <a:cs typeface="Calibri"/>
                <a:sym typeface="Calibri"/>
              </a:rPr>
              <a:t>mineralcorticoid</a:t>
            </a:r>
            <a:r>
              <a:rPr lang="en-US" sz="4500" b="1" i="1" dirty="0">
                <a:latin typeface="Calibri"/>
                <a:ea typeface="Calibri"/>
                <a:cs typeface="Calibri"/>
                <a:sym typeface="Calibri"/>
              </a:rPr>
              <a:t>) and adrenal androgen synthesis.</a:t>
            </a:r>
            <a:endParaRPr dirty="0"/>
          </a:p>
          <a:p>
            <a:pPr marL="487363" lvl="0" indent="-265113" algn="l" rtl="0">
              <a:spcBef>
                <a:spcPts val="700"/>
              </a:spcBef>
              <a:spcAft>
                <a:spcPts val="0"/>
              </a:spcAft>
              <a:buClr>
                <a:srgbClr val="000000"/>
              </a:buClr>
              <a:buSzPts val="3500"/>
              <a:buFont typeface="Arial"/>
              <a:buNone/>
            </a:pPr>
            <a:endParaRPr sz="3500" dirty="0">
              <a:latin typeface="Calibri"/>
              <a:ea typeface="Calibri"/>
              <a:cs typeface="Calibri"/>
              <a:sym typeface="Calibri"/>
            </a:endParaRPr>
          </a:p>
          <a:p>
            <a:pPr marL="487363" lvl="0" indent="-487363" algn="l" rtl="0">
              <a:spcBef>
                <a:spcPts val="700"/>
              </a:spcBef>
              <a:spcAft>
                <a:spcPts val="0"/>
              </a:spcAft>
              <a:buClr>
                <a:srgbClr val="000000"/>
              </a:buClr>
              <a:buSzPts val="4400"/>
              <a:buFont typeface="Arial"/>
              <a:buChar char="•"/>
            </a:pPr>
            <a:r>
              <a:rPr lang="en-US" sz="4400" dirty="0">
                <a:latin typeface="Calibri"/>
                <a:ea typeface="Calibri"/>
                <a:cs typeface="Calibri"/>
                <a:sym typeface="Calibri"/>
              </a:rPr>
              <a:t>Most commonly occurs in </a:t>
            </a:r>
            <a:r>
              <a:rPr lang="en-US" sz="4400" b="1" i="1" dirty="0">
                <a:latin typeface="Calibri"/>
                <a:ea typeface="Calibri"/>
                <a:cs typeface="Calibri"/>
                <a:sym typeface="Calibri"/>
              </a:rPr>
              <a:t>women ages 30-50 years</a:t>
            </a:r>
            <a:r>
              <a:rPr lang="en-US" sz="4400" dirty="0">
                <a:latin typeface="Calibri"/>
                <a:ea typeface="Calibri"/>
                <a:cs typeface="Calibri"/>
                <a:sym typeface="Calibri"/>
              </a:rPr>
              <a:t>, unless it is part of a polyglandular autoimmune syndrome.  No racial differences.</a:t>
            </a:r>
            <a:endParaRPr dirty="0"/>
          </a:p>
          <a:p>
            <a:pPr marL="487363" lvl="0" indent="-265113" algn="l" rtl="0">
              <a:spcBef>
                <a:spcPts val="700"/>
              </a:spcBef>
              <a:spcAft>
                <a:spcPts val="0"/>
              </a:spcAft>
              <a:buClr>
                <a:srgbClr val="000000"/>
              </a:buClr>
              <a:buSzPts val="3500"/>
              <a:buFont typeface="Arial"/>
              <a:buNone/>
            </a:pPr>
            <a:endParaRPr sz="3500" dirty="0">
              <a:latin typeface="Calibri"/>
              <a:ea typeface="Calibri"/>
              <a:cs typeface="Calibri"/>
              <a:sym typeface="Calibri"/>
            </a:endParaRPr>
          </a:p>
          <a:p>
            <a:pPr marL="487363" lvl="0" indent="-487363" algn="l" rtl="0">
              <a:spcBef>
                <a:spcPts val="700"/>
              </a:spcBef>
              <a:spcAft>
                <a:spcPts val="0"/>
              </a:spcAft>
              <a:buClr>
                <a:srgbClr val="000000"/>
              </a:buClr>
              <a:buSzPts val="4400"/>
              <a:buFont typeface="Arial"/>
              <a:buChar char="•"/>
            </a:pPr>
            <a:r>
              <a:rPr lang="en-US" sz="4400" b="1" dirty="0">
                <a:latin typeface="Calibri"/>
                <a:ea typeface="Calibri"/>
                <a:cs typeface="Calibri"/>
                <a:sym typeface="Calibri"/>
              </a:rPr>
              <a:t>Rare</a:t>
            </a:r>
            <a:r>
              <a:rPr lang="en-US" sz="4400" dirty="0">
                <a:latin typeface="Calibri"/>
                <a:ea typeface="Calibri"/>
                <a:cs typeface="Calibri"/>
                <a:sym typeface="Calibri"/>
              </a:rPr>
              <a:t>: In the US, 40 cases per million persons.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5"/>
          <p:cNvSpPr txBox="1">
            <a:spLocks noGrp="1"/>
          </p:cNvSpPr>
          <p:nvPr>
            <p:ph type="title"/>
          </p:nvPr>
        </p:nvSpPr>
        <p:spPr>
          <a:xfrm>
            <a:off x="177800" y="152400"/>
            <a:ext cx="12609512" cy="2209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Etiologies of Primary Adrenal Insufficiency: Infections</a:t>
            </a:r>
            <a:endParaRPr dirty="0">
              <a:solidFill>
                <a:srgbClr val="00B0F0"/>
              </a:solidFill>
              <a:latin typeface="Calibri"/>
              <a:ea typeface="Calibri"/>
              <a:cs typeface="Calibri"/>
              <a:sym typeface="Calibri"/>
            </a:endParaRPr>
          </a:p>
        </p:txBody>
      </p:sp>
      <p:sp>
        <p:nvSpPr>
          <p:cNvPr id="151" name="Google Shape;151;p15"/>
          <p:cNvSpPr txBox="1">
            <a:spLocks noGrp="1"/>
          </p:cNvSpPr>
          <p:nvPr>
            <p:ph type="body" idx="1"/>
          </p:nvPr>
        </p:nvSpPr>
        <p:spPr>
          <a:xfrm>
            <a:off x="177800" y="2540000"/>
            <a:ext cx="12609512" cy="7061200"/>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Tuberculosis (TB)</a:t>
            </a:r>
            <a:r>
              <a:rPr lang="en-US" sz="4400" dirty="0">
                <a:latin typeface="Calibri" panose="020F0502020204030204" pitchFamily="34" charset="0"/>
                <a:ea typeface="Calibri"/>
                <a:cs typeface="Calibri" panose="020F0502020204030204" pitchFamily="34" charset="0"/>
                <a:sym typeface="Calibri"/>
              </a:rPr>
              <a:t> has historically been the most common cause of adrenal insufficiency.</a:t>
            </a:r>
            <a:endParaRPr sz="4400" dirty="0">
              <a:latin typeface="Calibri" panose="020F0502020204030204" pitchFamily="34" charset="0"/>
              <a:cs typeface="Calibri" panose="020F0502020204030204" pitchFamily="34" charset="0"/>
            </a:endParaRPr>
          </a:p>
          <a:p>
            <a:pPr marL="292100" lvl="0" indent="-292100" algn="l" rtl="0">
              <a:spcBef>
                <a:spcPts val="700"/>
              </a:spcBef>
              <a:spcAft>
                <a:spcPts val="0"/>
              </a:spcAft>
              <a:buClr>
                <a:srgbClr val="000000"/>
              </a:buClr>
              <a:buSzPts val="4500"/>
              <a:buFont typeface="Helvetica Neue Light"/>
              <a:buNone/>
            </a:pPr>
            <a:endParaRPr sz="3600" dirty="0">
              <a:latin typeface="Calibri" panose="020F0502020204030204" pitchFamily="34" charset="0"/>
              <a:ea typeface="Calibri"/>
              <a:cs typeface="Calibri" panose="020F0502020204030204" pitchFamily="34" charset="0"/>
              <a:sym typeface="Calibri"/>
            </a:endParaRPr>
          </a:p>
          <a:p>
            <a:pPr marL="292100" lvl="0" indent="-292100" algn="l" rtl="0">
              <a:spcBef>
                <a:spcPts val="700"/>
              </a:spcBef>
              <a:spcAft>
                <a:spcPts val="0"/>
              </a:spcAft>
              <a:buClr>
                <a:srgbClr val="000000"/>
              </a:buClr>
              <a:buSzPts val="4500"/>
              <a:buFont typeface="Arial"/>
              <a:buChar char="•"/>
            </a:pPr>
            <a:r>
              <a:rPr lang="en-US" sz="4400" dirty="0">
                <a:latin typeface="Calibri" panose="020F0502020204030204" pitchFamily="34" charset="0"/>
                <a:ea typeface="Calibri"/>
                <a:cs typeface="Calibri" panose="020F0502020204030204" pitchFamily="34" charset="0"/>
                <a:sym typeface="Calibri"/>
              </a:rPr>
              <a:t>Now, TB is still a frequently seen etiology where it is common, but accounts for far fewer cases in the industrialized world.  </a:t>
            </a:r>
            <a:r>
              <a:rPr lang="en-US" sz="4400" b="1" i="1" dirty="0">
                <a:latin typeface="Calibri" panose="020F0502020204030204" pitchFamily="34" charset="0"/>
                <a:ea typeface="Calibri"/>
                <a:cs typeface="Calibri" panose="020F0502020204030204" pitchFamily="34" charset="0"/>
                <a:sym typeface="Calibri"/>
              </a:rPr>
              <a:t>TB is responsible for 15-20% of adrenal insufficiency worldwide</a:t>
            </a:r>
            <a:r>
              <a:rPr lang="en-US" sz="4400" dirty="0">
                <a:latin typeface="Calibri" panose="020F0502020204030204" pitchFamily="34" charset="0"/>
                <a:ea typeface="Calibri"/>
                <a:cs typeface="Calibri" panose="020F0502020204030204" pitchFamily="34" charset="0"/>
                <a:sym typeface="Calibri"/>
              </a:rPr>
              <a:t>.</a:t>
            </a:r>
            <a:endParaRPr sz="4400" dirty="0">
              <a:latin typeface="Calibri" panose="020F0502020204030204" pitchFamily="34" charset="0"/>
              <a:cs typeface="Calibri" panose="020F0502020204030204" pitchFamily="34" charset="0"/>
            </a:endParaRPr>
          </a:p>
          <a:p>
            <a:pPr marL="292100" lvl="0" indent="-6350" algn="l" rtl="0">
              <a:spcBef>
                <a:spcPts val="700"/>
              </a:spcBef>
              <a:spcAft>
                <a:spcPts val="0"/>
              </a:spcAft>
              <a:buClr>
                <a:srgbClr val="000000"/>
              </a:buClr>
              <a:buSzPts val="4500"/>
              <a:buFont typeface="Arial"/>
              <a:buNone/>
            </a:pPr>
            <a:endParaRPr sz="3600" dirty="0">
              <a:latin typeface="Calibri" panose="020F0502020204030204" pitchFamily="34" charset="0"/>
              <a:ea typeface="Calibri"/>
              <a:cs typeface="Calibri" panose="020F0502020204030204" pitchFamily="34" charset="0"/>
              <a:sym typeface="Calibri"/>
            </a:endParaRPr>
          </a:p>
          <a:p>
            <a:pPr marL="292100" lvl="0" indent="-292100" algn="l" rtl="0">
              <a:spcBef>
                <a:spcPts val="700"/>
              </a:spcBef>
              <a:spcAft>
                <a:spcPts val="0"/>
              </a:spcAft>
              <a:buClr>
                <a:srgbClr val="000000"/>
              </a:buClr>
              <a:buSzPts val="4500"/>
              <a:buFont typeface="Arial"/>
              <a:buChar char="•"/>
            </a:pPr>
            <a:r>
              <a:rPr lang="en-US" sz="4400" b="1" i="1" dirty="0">
                <a:latin typeface="Calibri" panose="020F0502020204030204" pitchFamily="34" charset="0"/>
                <a:ea typeface="Calibri"/>
                <a:cs typeface="Calibri" panose="020F0502020204030204" pitchFamily="34" charset="0"/>
                <a:sym typeface="Calibri"/>
              </a:rPr>
              <a:t>Disseminated fungal infections</a:t>
            </a:r>
            <a:r>
              <a:rPr lang="en-US" sz="4400" dirty="0">
                <a:latin typeface="Calibri" panose="020F0502020204030204" pitchFamily="34" charset="0"/>
                <a:ea typeface="Calibri"/>
                <a:cs typeface="Calibri" panose="020F0502020204030204" pitchFamily="34" charset="0"/>
                <a:sym typeface="Calibri"/>
              </a:rPr>
              <a:t>, such as histoplasmosis, can also cause adrenal insufficiency.</a:t>
            </a:r>
            <a:endParaRPr sz="44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304799" y="262467"/>
            <a:ext cx="12355514" cy="1600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Other Etiologies of Primary Adrenal Insufficiency</a:t>
            </a:r>
            <a:endParaRPr dirty="0">
              <a:solidFill>
                <a:srgbClr val="00B0F0"/>
              </a:solidFill>
              <a:latin typeface="Calibri"/>
              <a:ea typeface="Calibri"/>
              <a:cs typeface="Calibri"/>
              <a:sym typeface="Calibri"/>
            </a:endParaRPr>
          </a:p>
        </p:txBody>
      </p:sp>
      <p:sp>
        <p:nvSpPr>
          <p:cNvPr id="157" name="Google Shape;157;p16"/>
          <p:cNvSpPr txBox="1">
            <a:spLocks noGrp="1"/>
          </p:cNvSpPr>
          <p:nvPr>
            <p:ph type="body" idx="1"/>
          </p:nvPr>
        </p:nvSpPr>
        <p:spPr>
          <a:xfrm>
            <a:off x="177800" y="2387600"/>
            <a:ext cx="12609512" cy="71374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dirty="0">
                <a:latin typeface="Calibri" panose="020F0502020204030204" pitchFamily="34" charset="0"/>
                <a:ea typeface="Calibri"/>
                <a:cs typeface="Calibri" panose="020F0502020204030204" pitchFamily="34" charset="0"/>
                <a:sym typeface="Calibri"/>
              </a:rPr>
              <a:t>Bilateral adrenal hemorrhage/ infarctions</a:t>
            </a:r>
            <a:endParaRPr dirty="0">
              <a:latin typeface="Calibri" panose="020F0502020204030204" pitchFamily="34" charset="0"/>
              <a:cs typeface="Calibri" panose="020F0502020204030204" pitchFamily="34" charset="0"/>
            </a:endParaRPr>
          </a:p>
          <a:p>
            <a:pPr marL="863600" lvl="1" indent="-406400" algn="l" rtl="0">
              <a:spcBef>
                <a:spcPts val="600"/>
              </a:spcBef>
              <a:spcAft>
                <a:spcPts val="0"/>
              </a:spcAft>
              <a:buClr>
                <a:srgbClr val="000000"/>
              </a:buClr>
              <a:buSzPts val="4400"/>
              <a:buFont typeface="Arial"/>
              <a:buChar char="–"/>
            </a:pPr>
            <a:r>
              <a:rPr lang="en-US" sz="4400" dirty="0">
                <a:latin typeface="Calibri" panose="020F0502020204030204" pitchFamily="34" charset="0"/>
                <a:ea typeface="Calibri"/>
                <a:cs typeface="Calibri" panose="020F0502020204030204" pitchFamily="34" charset="0"/>
                <a:sym typeface="Calibri"/>
              </a:rPr>
              <a:t>Sepsis, anticoagulation, embolic disease, major surgery or trauma.</a:t>
            </a:r>
            <a:endParaRPr dirty="0">
              <a:latin typeface="Calibri" panose="020F0502020204030204" pitchFamily="34" charset="0"/>
              <a:cs typeface="Calibri" panose="020F0502020204030204" pitchFamily="34" charset="0"/>
            </a:endParaRPr>
          </a:p>
          <a:p>
            <a:pPr marL="863600" lvl="1" indent="-127000" algn="l" rtl="0">
              <a:spcBef>
                <a:spcPts val="600"/>
              </a:spcBef>
              <a:spcAft>
                <a:spcPts val="0"/>
              </a:spcAft>
              <a:buClr>
                <a:srgbClr val="000000"/>
              </a:buClr>
              <a:buSzPts val="4400"/>
              <a:buFont typeface="Arial"/>
              <a:buNone/>
            </a:pPr>
            <a:endParaRPr sz="4400" dirty="0">
              <a:latin typeface="Calibri" panose="020F0502020204030204" pitchFamily="34" charset="0"/>
              <a:ea typeface="Calibri"/>
              <a:cs typeface="Calibri" panose="020F0502020204030204" pitchFamily="34" charset="0"/>
              <a:sym typeface="Calibri"/>
            </a:endParaRPr>
          </a:p>
          <a:p>
            <a:pPr marL="487363" lvl="0" indent="-487363" algn="l" rtl="0">
              <a:lnSpc>
                <a:spcPct val="90000"/>
              </a:lnSpc>
              <a:spcBef>
                <a:spcPts val="700"/>
              </a:spcBef>
              <a:spcAft>
                <a:spcPts val="0"/>
              </a:spcAft>
              <a:buClr>
                <a:srgbClr val="000000"/>
              </a:buClr>
              <a:buSzPts val="4500"/>
              <a:buFont typeface="Arial"/>
              <a:buChar char="•"/>
            </a:pPr>
            <a:r>
              <a:rPr lang="en-US" sz="4500" b="1" dirty="0">
                <a:latin typeface="Calibri" panose="020F0502020204030204" pitchFamily="34" charset="0"/>
                <a:ea typeface="Calibri"/>
                <a:cs typeface="Calibri" panose="020F0502020204030204" pitchFamily="34" charset="0"/>
                <a:sym typeface="Calibri"/>
              </a:rPr>
              <a:t>Infiltrative diseases</a:t>
            </a:r>
            <a:endParaRPr dirty="0">
              <a:latin typeface="Calibri" panose="020F0502020204030204" pitchFamily="34" charset="0"/>
              <a:cs typeface="Calibri" panose="020F0502020204030204" pitchFamily="34" charset="0"/>
            </a:endParaRPr>
          </a:p>
          <a:p>
            <a:pPr marL="863600" lvl="1" indent="-406400" algn="l" rtl="0">
              <a:lnSpc>
                <a:spcPct val="90000"/>
              </a:lnSpc>
              <a:spcBef>
                <a:spcPts val="600"/>
              </a:spcBef>
              <a:spcAft>
                <a:spcPts val="0"/>
              </a:spcAft>
              <a:buClr>
                <a:srgbClr val="000000"/>
              </a:buClr>
              <a:buSzPts val="4200"/>
              <a:buFont typeface="Arial"/>
              <a:buChar char="–"/>
            </a:pPr>
            <a:r>
              <a:rPr lang="en-US" sz="4200" dirty="0">
                <a:latin typeface="Calibri" panose="020F0502020204030204" pitchFamily="34" charset="0"/>
                <a:ea typeface="Calibri"/>
                <a:cs typeface="Calibri" panose="020F0502020204030204" pitchFamily="34" charset="0"/>
                <a:sym typeface="Calibri"/>
              </a:rPr>
              <a:t>Metastatic cancers, lymphoma, sarcoidosis</a:t>
            </a:r>
            <a:endParaRPr dirty="0">
              <a:latin typeface="Calibri" panose="020F0502020204030204" pitchFamily="34" charset="0"/>
              <a:cs typeface="Calibri" panose="020F0502020204030204" pitchFamily="34" charset="0"/>
            </a:endParaRPr>
          </a:p>
          <a:p>
            <a:pPr marL="863600" lvl="1" indent="-158750" algn="l" rtl="0">
              <a:lnSpc>
                <a:spcPct val="90000"/>
              </a:lnSpc>
              <a:spcBef>
                <a:spcPts val="600"/>
              </a:spcBef>
              <a:spcAft>
                <a:spcPts val="0"/>
              </a:spcAft>
              <a:buClr>
                <a:srgbClr val="000000"/>
              </a:buClr>
              <a:buSzPts val="3900"/>
              <a:buFont typeface="Arial"/>
              <a:buNone/>
            </a:pPr>
            <a:endParaRPr sz="3900" dirty="0">
              <a:latin typeface="Calibri" panose="020F0502020204030204" pitchFamily="34" charset="0"/>
              <a:ea typeface="Calibri"/>
              <a:cs typeface="Calibri" panose="020F0502020204030204" pitchFamily="34" charset="0"/>
              <a:sym typeface="Calibri"/>
            </a:endParaRPr>
          </a:p>
          <a:p>
            <a:pPr marL="487363" lvl="0" indent="-487363" algn="l" rtl="0">
              <a:lnSpc>
                <a:spcPct val="90000"/>
              </a:lnSpc>
              <a:spcBef>
                <a:spcPts val="700"/>
              </a:spcBef>
              <a:spcAft>
                <a:spcPts val="0"/>
              </a:spcAft>
              <a:buClr>
                <a:srgbClr val="000000"/>
              </a:buClr>
              <a:buSzPts val="4500"/>
              <a:buFont typeface="Arial"/>
              <a:buChar char="•"/>
            </a:pPr>
            <a:r>
              <a:rPr lang="en-US" sz="4500" b="1" dirty="0">
                <a:latin typeface="Calibri" panose="020F0502020204030204" pitchFamily="34" charset="0"/>
                <a:ea typeface="Calibri"/>
                <a:cs typeface="Calibri" panose="020F0502020204030204" pitchFamily="34" charset="0"/>
                <a:sym typeface="Calibri"/>
              </a:rPr>
              <a:t>Iatrogenic causes</a:t>
            </a:r>
            <a:endParaRPr dirty="0">
              <a:latin typeface="Calibri" panose="020F0502020204030204" pitchFamily="34" charset="0"/>
              <a:cs typeface="Calibri" panose="020F0502020204030204" pitchFamily="34" charset="0"/>
            </a:endParaRPr>
          </a:p>
          <a:p>
            <a:pPr marL="863600" lvl="1" indent="-406400" algn="l" rtl="0">
              <a:lnSpc>
                <a:spcPct val="90000"/>
              </a:lnSpc>
              <a:spcBef>
                <a:spcPts val="600"/>
              </a:spcBef>
              <a:spcAft>
                <a:spcPts val="0"/>
              </a:spcAft>
              <a:buClr>
                <a:srgbClr val="000000"/>
              </a:buClr>
              <a:buSzPts val="4200"/>
              <a:buFont typeface="Arial"/>
              <a:buChar char="–"/>
            </a:pPr>
            <a:r>
              <a:rPr lang="en-US" sz="4200" dirty="0">
                <a:latin typeface="Calibri" panose="020F0502020204030204" pitchFamily="34" charset="0"/>
                <a:ea typeface="Calibri"/>
                <a:cs typeface="Calibri" panose="020F0502020204030204" pitchFamily="34" charset="0"/>
                <a:sym typeface="Calibri"/>
              </a:rPr>
              <a:t>Bilateral adrenalectomy, medications: RU-486 ketoconazole, </a:t>
            </a:r>
            <a:r>
              <a:rPr lang="en-US" sz="4200" dirty="0" err="1">
                <a:latin typeface="Calibri" panose="020F0502020204030204" pitchFamily="34" charset="0"/>
                <a:ea typeface="Calibri"/>
                <a:cs typeface="Calibri" panose="020F0502020204030204" pitchFamily="34" charset="0"/>
                <a:sym typeface="Calibri"/>
              </a:rPr>
              <a:t>etodimate</a:t>
            </a:r>
            <a:endParaRPr sz="42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7"/>
          <p:cNvSpPr txBox="1">
            <a:spLocks noGrp="1"/>
          </p:cNvSpPr>
          <p:nvPr>
            <p:ph type="title"/>
          </p:nvPr>
        </p:nvSpPr>
        <p:spPr>
          <a:xfrm>
            <a:off x="323850" y="152400"/>
            <a:ext cx="12355514" cy="1371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Etiologies of Adrenal Insufficiency</a:t>
            </a:r>
            <a:endParaRPr dirty="0">
              <a:solidFill>
                <a:srgbClr val="00B0F0"/>
              </a:solidFill>
              <a:latin typeface="Calibri"/>
              <a:ea typeface="Calibri"/>
              <a:cs typeface="Calibri"/>
              <a:sym typeface="Calibri"/>
            </a:endParaRPr>
          </a:p>
        </p:txBody>
      </p:sp>
      <p:pic>
        <p:nvPicPr>
          <p:cNvPr id="164" name="Google Shape;164;p17" descr="Steroid 21-hydroxylase deficiency in congenital adrenal hyperplasia -  ScienceDirect"/>
          <p:cNvPicPr preferRelativeResize="0"/>
          <p:nvPr/>
        </p:nvPicPr>
        <p:blipFill rotWithShape="1">
          <a:blip r:embed="rId3">
            <a:alphaModFix/>
          </a:blip>
          <a:srcRect/>
          <a:stretch/>
        </p:blipFill>
        <p:spPr>
          <a:xfrm>
            <a:off x="3929500" y="3926800"/>
            <a:ext cx="8996000" cy="5674400"/>
          </a:xfrm>
          <a:prstGeom prst="rect">
            <a:avLst/>
          </a:prstGeom>
          <a:noFill/>
          <a:ln>
            <a:noFill/>
          </a:ln>
        </p:spPr>
      </p:pic>
      <p:sp>
        <p:nvSpPr>
          <p:cNvPr id="165" name="Google Shape;165;p17"/>
          <p:cNvSpPr txBox="1"/>
          <p:nvPr/>
        </p:nvSpPr>
        <p:spPr>
          <a:xfrm>
            <a:off x="79300" y="4170997"/>
            <a:ext cx="4251400" cy="5186005"/>
          </a:xfrm>
          <a:prstGeom prst="rect">
            <a:avLst/>
          </a:prstGeom>
          <a:noFill/>
          <a:ln>
            <a:noFill/>
          </a:ln>
        </p:spPr>
        <p:txBody>
          <a:bodyPr spcFirstLastPara="1" wrap="square" lIns="91425" tIns="91425" rIns="91425" bIns="91425" anchor="t" anchorCtr="0">
            <a:spAutoFit/>
          </a:bodyPr>
          <a:lstStyle/>
          <a:p>
            <a:pPr marL="1028700" indent="-571500">
              <a:spcBef>
                <a:spcPts val="600"/>
              </a:spcBef>
              <a:buClr>
                <a:schemeClr val="dk1"/>
              </a:buClr>
              <a:buSzPts val="3900"/>
              <a:buFont typeface="Arial" panose="020B0604020202020204" pitchFamily="34" charset="0"/>
              <a:buChar char="•"/>
            </a:pPr>
            <a:r>
              <a:rPr lang="en-US" sz="4000" dirty="0">
                <a:solidFill>
                  <a:schemeClr val="dk1"/>
                </a:solidFill>
                <a:latin typeface="Calibri"/>
                <a:ea typeface="Calibri"/>
                <a:cs typeface="Calibri"/>
                <a:sym typeface="Calibri"/>
              </a:rPr>
              <a:t>In these persons, the sterol precursors are shunted into an alternate hormone pathway.</a:t>
            </a:r>
            <a:endParaRPr sz="4000" dirty="0">
              <a:latin typeface="Helvetica Neue Light"/>
              <a:ea typeface="Helvetica Neue Light"/>
              <a:cs typeface="Helvetica Neue Light"/>
              <a:sym typeface="Helvetica Neue Light"/>
            </a:endParaRPr>
          </a:p>
        </p:txBody>
      </p:sp>
      <p:sp>
        <p:nvSpPr>
          <p:cNvPr id="163" name="Google Shape;163;p17"/>
          <p:cNvSpPr txBox="1">
            <a:spLocks noGrp="1"/>
          </p:cNvSpPr>
          <p:nvPr>
            <p:ph type="body" idx="1"/>
          </p:nvPr>
        </p:nvSpPr>
        <p:spPr>
          <a:xfrm>
            <a:off x="79300" y="1524000"/>
            <a:ext cx="12846200" cy="2896800"/>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4500" b="1" dirty="0">
                <a:latin typeface="Calibri"/>
                <a:ea typeface="Calibri"/>
                <a:cs typeface="Calibri"/>
                <a:sym typeface="Calibri"/>
              </a:rPr>
              <a:t>Congenital causes</a:t>
            </a:r>
            <a:r>
              <a:rPr lang="en-US" sz="4000" dirty="0">
                <a:latin typeface="Calibri" panose="020F0502020204030204" pitchFamily="34" charset="0"/>
                <a:cs typeface="Calibri" panose="020F0502020204030204" pitchFamily="34" charset="0"/>
              </a:rPr>
              <a:t>: </a:t>
            </a:r>
            <a:r>
              <a:rPr lang="en-US" sz="4000" dirty="0">
                <a:latin typeface="Calibri" panose="020F0502020204030204" pitchFamily="34" charset="0"/>
                <a:ea typeface="Calibri"/>
                <a:cs typeface="Calibri" panose="020F0502020204030204" pitchFamily="34" charset="0"/>
                <a:sym typeface="Calibri"/>
              </a:rPr>
              <a:t>Congenital adrenal hyperplasia (CAH): </a:t>
            </a:r>
            <a:r>
              <a:rPr lang="en-US" sz="4000" b="1" i="1" dirty="0">
                <a:latin typeface="Calibri" panose="020F0502020204030204" pitchFamily="34" charset="0"/>
                <a:ea typeface="Calibri"/>
                <a:cs typeface="Calibri" panose="020F0502020204030204" pitchFamily="34" charset="0"/>
                <a:sym typeface="Calibri"/>
              </a:rPr>
              <a:t>affected individuals lack the enzyme </a:t>
            </a:r>
            <a:r>
              <a:rPr lang="en-US" sz="4000" b="1" i="1" dirty="0">
                <a:solidFill>
                  <a:schemeClr val="dk1"/>
                </a:solidFill>
                <a:latin typeface="Calibri" panose="020F0502020204030204" pitchFamily="34" charset="0"/>
                <a:ea typeface="Calibri"/>
                <a:cs typeface="Calibri" panose="020F0502020204030204" pitchFamily="34" charset="0"/>
                <a:sym typeface="Calibri"/>
              </a:rPr>
              <a:t>necessary to produce cortisol. </a:t>
            </a:r>
            <a:r>
              <a:rPr lang="en-US" sz="4000" dirty="0">
                <a:latin typeface="Calibri" panose="020F0502020204030204" pitchFamily="34" charset="0"/>
                <a:ea typeface="Calibri"/>
                <a:cs typeface="Calibri" panose="020F0502020204030204" pitchFamily="34" charset="0"/>
                <a:sym typeface="Calibri"/>
              </a:rPr>
              <a:t>21-hydroxylase deficiency is most common; </a:t>
            </a:r>
            <a:endParaRPr sz="4000" dirty="0">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fa60496b86_2_10"/>
          <p:cNvSpPr txBox="1">
            <a:spLocks noGrp="1"/>
          </p:cNvSpPr>
          <p:nvPr>
            <p:ph type="title"/>
          </p:nvPr>
        </p:nvSpPr>
        <p:spPr>
          <a:xfrm>
            <a:off x="323850" y="152400"/>
            <a:ext cx="12355500" cy="1371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Etiologies of Adrenal Insufficiency</a:t>
            </a:r>
            <a:endParaRPr dirty="0">
              <a:solidFill>
                <a:srgbClr val="00B0F0"/>
              </a:solidFill>
              <a:latin typeface="Calibri"/>
              <a:ea typeface="Calibri"/>
              <a:cs typeface="Calibri"/>
              <a:sym typeface="Calibri"/>
            </a:endParaRPr>
          </a:p>
        </p:txBody>
      </p:sp>
      <p:sp>
        <p:nvSpPr>
          <p:cNvPr id="171" name="Google Shape;171;gfa60496b86_2_10"/>
          <p:cNvSpPr txBox="1">
            <a:spLocks noGrp="1"/>
          </p:cNvSpPr>
          <p:nvPr>
            <p:ph type="body" idx="1"/>
          </p:nvPr>
        </p:nvSpPr>
        <p:spPr>
          <a:xfrm>
            <a:off x="177850" y="1524000"/>
            <a:ext cx="12649100" cy="3581400"/>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3900" dirty="0">
                <a:latin typeface="Calibri"/>
                <a:ea typeface="Calibri"/>
                <a:cs typeface="Calibri"/>
                <a:sym typeface="Calibri"/>
              </a:rPr>
              <a:t>Congenital adrenal hyperplasia is very rare and is often recognized in infancy when female children have ambiguous genitalia and virilization at birth.  Or shortly after birth when the child develops hypotension, N/V and other symptoms of adrenal crisis. </a:t>
            </a:r>
            <a:endParaRPr dirty="0"/>
          </a:p>
        </p:txBody>
      </p:sp>
      <p:pic>
        <p:nvPicPr>
          <p:cNvPr id="172" name="Google Shape;172;gfa60496b86_2_10"/>
          <p:cNvPicPr preferRelativeResize="0"/>
          <p:nvPr/>
        </p:nvPicPr>
        <p:blipFill>
          <a:blip r:embed="rId3">
            <a:alphaModFix/>
          </a:blip>
          <a:stretch>
            <a:fillRect/>
          </a:stretch>
        </p:blipFill>
        <p:spPr>
          <a:xfrm>
            <a:off x="433075" y="4808725"/>
            <a:ext cx="7832875" cy="3420875"/>
          </a:xfrm>
          <a:prstGeom prst="rect">
            <a:avLst/>
          </a:prstGeom>
          <a:noFill/>
          <a:ln>
            <a:noFill/>
          </a:ln>
        </p:spPr>
      </p:pic>
      <p:pic>
        <p:nvPicPr>
          <p:cNvPr id="173" name="Google Shape;173;gfa60496b86_2_10"/>
          <p:cNvPicPr preferRelativeResize="0"/>
          <p:nvPr/>
        </p:nvPicPr>
        <p:blipFill>
          <a:blip r:embed="rId4">
            <a:alphaModFix/>
          </a:blip>
          <a:stretch>
            <a:fillRect/>
          </a:stretch>
        </p:blipFill>
        <p:spPr>
          <a:xfrm>
            <a:off x="8822825" y="4148125"/>
            <a:ext cx="4004125" cy="5324801"/>
          </a:xfrm>
          <a:prstGeom prst="rect">
            <a:avLst/>
          </a:prstGeom>
          <a:noFill/>
          <a:ln>
            <a:noFill/>
          </a:ln>
        </p:spPr>
      </p:pic>
      <p:sp>
        <p:nvSpPr>
          <p:cNvPr id="174" name="Google Shape;174;gfa60496b86_2_10"/>
          <p:cNvSpPr txBox="1"/>
          <p:nvPr/>
        </p:nvSpPr>
        <p:spPr>
          <a:xfrm>
            <a:off x="182450" y="8392300"/>
            <a:ext cx="80835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latin typeface="Calibri" panose="020F0502020204030204" pitchFamily="34" charset="0"/>
                <a:ea typeface="Helvetica Neue Light"/>
                <a:cs typeface="Calibri" panose="020F0502020204030204" pitchFamily="34" charset="0"/>
                <a:sym typeface="Helvetica Neue Light"/>
              </a:rPr>
              <a:t>Above: Newborn girl with an enlarged clitoris that resembles a penis and enlarged labia majora that may be mistaken for a scrotum.  Right: 12.4-year-old female with virilization.</a:t>
            </a:r>
            <a:endParaRPr sz="2000" dirty="0">
              <a:latin typeface="Calibri" panose="020F0502020204030204" pitchFamily="34" charset="0"/>
              <a:ea typeface="Helvetica Neue Light"/>
              <a:cs typeface="Calibri" panose="020F0502020204030204" pitchFamily="34" charset="0"/>
              <a:sym typeface="Helvetica Neue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8"/>
          <p:cNvSpPr txBox="1">
            <a:spLocks noGrp="1"/>
          </p:cNvSpPr>
          <p:nvPr>
            <p:ph type="title"/>
          </p:nvPr>
        </p:nvSpPr>
        <p:spPr>
          <a:xfrm>
            <a:off x="323850" y="228600"/>
            <a:ext cx="12355514" cy="2133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Adrenal Insufficiency . . .  Almost but not quite</a:t>
            </a:r>
            <a:endParaRPr dirty="0">
              <a:solidFill>
                <a:srgbClr val="00B0F0"/>
              </a:solidFill>
              <a:latin typeface="Calibri"/>
              <a:ea typeface="Calibri"/>
              <a:cs typeface="Calibri"/>
              <a:sym typeface="Calibri"/>
            </a:endParaRPr>
          </a:p>
        </p:txBody>
      </p:sp>
      <p:sp>
        <p:nvSpPr>
          <p:cNvPr id="180" name="Google Shape;180;p18"/>
          <p:cNvSpPr txBox="1">
            <a:spLocks noGrp="1"/>
          </p:cNvSpPr>
          <p:nvPr>
            <p:ph type="body" idx="1"/>
          </p:nvPr>
        </p:nvSpPr>
        <p:spPr>
          <a:xfrm>
            <a:off x="177800" y="2362200"/>
            <a:ext cx="12609512" cy="7162800"/>
          </a:xfrm>
          <a:prstGeom prst="rect">
            <a:avLst/>
          </a:prstGeom>
          <a:noFill/>
          <a:ln>
            <a:noFill/>
          </a:ln>
        </p:spPr>
        <p:txBody>
          <a:bodyPr spcFirstLastPara="1" wrap="square" lIns="126425" tIns="72225" rIns="126425" bIns="72225" anchor="t" anchorCtr="0">
            <a:noAutofit/>
          </a:bodyPr>
          <a:lstStyle/>
          <a:p>
            <a:pPr marL="647700" lvl="0" indent="-571500" algn="l" rtl="0">
              <a:spcBef>
                <a:spcPts val="0"/>
              </a:spcBef>
              <a:spcAft>
                <a:spcPts val="0"/>
              </a:spcAft>
              <a:buClr>
                <a:srgbClr val="000000"/>
              </a:buClr>
              <a:buSzPts val="4200"/>
              <a:buFont typeface="Calibri"/>
              <a:buChar char="•"/>
            </a:pPr>
            <a:r>
              <a:rPr lang="en-US" sz="4400" b="1" i="1" dirty="0">
                <a:latin typeface="Calibri" panose="020F0502020204030204" pitchFamily="34" charset="0"/>
                <a:ea typeface="Calibri"/>
                <a:cs typeface="Calibri" panose="020F0502020204030204" pitchFamily="34" charset="0"/>
                <a:sym typeface="Calibri"/>
              </a:rPr>
              <a:t>HIV may cause a</a:t>
            </a:r>
            <a:r>
              <a:rPr lang="en-US" sz="4400" dirty="0">
                <a:latin typeface="Calibri" panose="020F0502020204030204" pitchFamily="34" charset="0"/>
                <a:ea typeface="Calibri"/>
                <a:cs typeface="Calibri" panose="020F0502020204030204" pitchFamily="34" charset="0"/>
                <a:sym typeface="Calibri"/>
              </a:rPr>
              <a:t> </a:t>
            </a:r>
            <a:r>
              <a:rPr lang="en-US" sz="4400" b="1" i="1" dirty="0">
                <a:latin typeface="Calibri" panose="020F0502020204030204" pitchFamily="34" charset="0"/>
                <a:ea typeface="Calibri"/>
                <a:cs typeface="Calibri" panose="020F0502020204030204" pitchFamily="34" charset="0"/>
                <a:sym typeface="Calibri"/>
              </a:rPr>
              <a:t>relative adrenal insufficiency</a:t>
            </a:r>
            <a:r>
              <a:rPr lang="en-US" sz="4400" dirty="0">
                <a:latin typeface="Calibri" panose="020F0502020204030204" pitchFamily="34" charset="0"/>
                <a:ea typeface="Calibri"/>
                <a:cs typeface="Calibri" panose="020F0502020204030204" pitchFamily="34" charset="0"/>
                <a:sym typeface="Calibri"/>
              </a:rPr>
              <a:t>.  </a:t>
            </a:r>
            <a:endParaRPr sz="4400" dirty="0">
              <a:latin typeface="Calibri" panose="020F0502020204030204" pitchFamily="34" charset="0"/>
              <a:cs typeface="Calibri" panose="020F0502020204030204" pitchFamily="34" charset="0"/>
            </a:endParaRPr>
          </a:p>
          <a:p>
            <a:pPr marL="647700" lvl="0" indent="-304800" algn="l" rtl="0">
              <a:spcBef>
                <a:spcPts val="600"/>
              </a:spcBef>
              <a:spcAft>
                <a:spcPts val="0"/>
              </a:spcAft>
              <a:buClr>
                <a:srgbClr val="000000"/>
              </a:buClr>
              <a:buSzPts val="42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647700" lvl="0" indent="-571500" algn="l" rtl="0">
              <a:spcBef>
                <a:spcPts val="600"/>
              </a:spcBef>
              <a:spcAft>
                <a:spcPts val="0"/>
              </a:spcAft>
              <a:buClr>
                <a:srgbClr val="000000"/>
              </a:buClr>
              <a:buSzPts val="4200"/>
              <a:buFont typeface="Calibri"/>
              <a:buChar char="•"/>
            </a:pPr>
            <a:r>
              <a:rPr lang="en-US" sz="4400" dirty="0">
                <a:latin typeface="Calibri" panose="020F0502020204030204" pitchFamily="34" charset="0"/>
                <a:ea typeface="Calibri"/>
                <a:cs typeface="Calibri" panose="020F0502020204030204" pitchFamily="34" charset="0"/>
                <a:sym typeface="Calibri"/>
              </a:rPr>
              <a:t>This is not generally severe enough to require steroid and be missed easily because the person has just enough cortisol and aldosterone to manage daily life.</a:t>
            </a:r>
            <a:endParaRPr sz="4400" dirty="0">
              <a:latin typeface="Calibri" panose="020F0502020204030204" pitchFamily="34" charset="0"/>
              <a:cs typeface="Calibri" panose="020F0502020204030204" pitchFamily="34" charset="0"/>
            </a:endParaRPr>
          </a:p>
          <a:p>
            <a:pPr marL="647700" lvl="0" indent="-304800" algn="l" rtl="0">
              <a:spcBef>
                <a:spcPts val="600"/>
              </a:spcBef>
              <a:spcAft>
                <a:spcPts val="0"/>
              </a:spcAft>
              <a:buClr>
                <a:srgbClr val="000000"/>
              </a:buClr>
              <a:buSzPts val="42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647700" lvl="0" indent="-571500" algn="l" rtl="0">
              <a:spcBef>
                <a:spcPts val="600"/>
              </a:spcBef>
              <a:spcAft>
                <a:spcPts val="0"/>
              </a:spcAft>
              <a:buClr>
                <a:srgbClr val="000000"/>
              </a:buClr>
              <a:buSzPts val="4200"/>
              <a:buFont typeface="Calibri"/>
              <a:buChar char="•"/>
            </a:pPr>
            <a:r>
              <a:rPr lang="en-US" sz="4400" dirty="0">
                <a:latin typeface="Calibri" panose="020F0502020204030204" pitchFamily="34" charset="0"/>
                <a:ea typeface="Calibri"/>
                <a:cs typeface="Calibri" panose="020F0502020204030204" pitchFamily="34" charset="0"/>
                <a:sym typeface="Calibri"/>
              </a:rPr>
              <a:t>But these patients are living on the edge . . . when they become ill from something else, they can decline precipitously and develop adrenal crisis.</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a:spLocks noGrp="1"/>
          </p:cNvSpPr>
          <p:nvPr>
            <p:ph type="title"/>
          </p:nvPr>
        </p:nvSpPr>
        <p:spPr>
          <a:xfrm>
            <a:off x="650081" y="113241"/>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Adrenal Insufficiency- Summarize</a:t>
            </a:r>
            <a:endParaRPr dirty="0">
              <a:solidFill>
                <a:srgbClr val="00B0F0"/>
              </a:solidFill>
              <a:latin typeface="Calibri"/>
              <a:ea typeface="Calibri"/>
              <a:cs typeface="Calibri"/>
              <a:sym typeface="Calibri"/>
            </a:endParaRPr>
          </a:p>
        </p:txBody>
      </p:sp>
      <p:sp>
        <p:nvSpPr>
          <p:cNvPr id="224" name="Google Shape;224;p24"/>
          <p:cNvSpPr txBox="1">
            <a:spLocks noGrp="1"/>
          </p:cNvSpPr>
          <p:nvPr>
            <p:ph type="body" idx="1"/>
          </p:nvPr>
        </p:nvSpPr>
        <p:spPr>
          <a:xfrm>
            <a:off x="114300" y="1733550"/>
            <a:ext cx="12738100" cy="7802563"/>
          </a:xfrm>
          <a:prstGeom prst="rect">
            <a:avLst/>
          </a:prstGeom>
          <a:noFill/>
          <a:ln>
            <a:noFill/>
          </a:ln>
        </p:spPr>
        <p:txBody>
          <a:bodyPr spcFirstLastPara="1" wrap="square" lIns="126425" tIns="72225" rIns="126425" bIns="72225" anchor="t" anchorCtr="0">
            <a:noAutofit/>
          </a:bodyPr>
          <a:lstStyle/>
          <a:p>
            <a:pPr marL="274320" indent="-274320">
              <a:spcBef>
                <a:spcPts val="0"/>
              </a:spcBef>
              <a:buSzPct val="80000"/>
            </a:pPr>
            <a:r>
              <a:rPr lang="en-US" sz="4400" dirty="0">
                <a:latin typeface="Calibri" panose="020F0502020204030204" pitchFamily="34" charset="0"/>
                <a:ea typeface="Calibri"/>
                <a:cs typeface="Calibri" panose="020F0502020204030204" pitchFamily="34" charset="0"/>
                <a:sym typeface="Calibri"/>
              </a:rPr>
              <a:t>Adrenal insufficiency may be iatrogenic or endogenous.  If a person suddenly discontinues a prescribed steroid they can develop adrenal insufficiency.</a:t>
            </a:r>
          </a:p>
          <a:p>
            <a:pPr marL="274320" indent="-274320">
              <a:spcBef>
                <a:spcPts val="0"/>
              </a:spcBef>
              <a:buSzPct val="80000"/>
            </a:pPr>
            <a:endParaRPr lang="en-US" sz="4400" dirty="0">
              <a:latin typeface="Calibri" panose="020F0502020204030204" pitchFamily="34" charset="0"/>
              <a:ea typeface="Calibri"/>
              <a:cs typeface="Calibri" panose="020F0502020204030204" pitchFamily="34" charset="0"/>
              <a:sym typeface="Calibri"/>
            </a:endParaRPr>
          </a:p>
          <a:p>
            <a:pPr marL="274320" indent="-274320">
              <a:spcBef>
                <a:spcPts val="0"/>
              </a:spcBef>
              <a:buSzPct val="80000"/>
            </a:pPr>
            <a:r>
              <a:rPr lang="en-US" sz="4400" dirty="0">
                <a:latin typeface="Calibri" panose="020F0502020204030204" pitchFamily="34" charset="0"/>
                <a:ea typeface="Calibri"/>
                <a:cs typeface="Calibri" panose="020F0502020204030204" pitchFamily="34" charset="0"/>
                <a:sym typeface="Calibri"/>
              </a:rPr>
              <a:t>Adrenal insufficiency is most commonly caused by autoimmune destruction of the adrenals in the US.  </a:t>
            </a:r>
          </a:p>
          <a:p>
            <a:pPr marL="274320" indent="-274320">
              <a:spcBef>
                <a:spcPts val="0"/>
              </a:spcBef>
              <a:buSzPct val="80000"/>
            </a:pPr>
            <a:endParaRPr lang="en-US" sz="4400" dirty="0">
              <a:latin typeface="Calibri" panose="020F0502020204030204" pitchFamily="34" charset="0"/>
              <a:ea typeface="Calibri"/>
              <a:cs typeface="Calibri" panose="020F0502020204030204" pitchFamily="34" charset="0"/>
              <a:sym typeface="Calibri"/>
            </a:endParaRPr>
          </a:p>
          <a:p>
            <a:pPr marL="274320" indent="-274320">
              <a:spcBef>
                <a:spcPts val="0"/>
              </a:spcBef>
              <a:buSzPct val="80000"/>
            </a:pPr>
            <a:r>
              <a:rPr lang="en-US" sz="4400" dirty="0">
                <a:latin typeface="Calibri" panose="020F0502020204030204" pitchFamily="34" charset="0"/>
                <a:ea typeface="Calibri"/>
                <a:cs typeface="Calibri" panose="020F0502020204030204" pitchFamily="34" charset="0"/>
                <a:sym typeface="Calibri"/>
              </a:rPr>
              <a:t>Other causes include fungal infections, cancer, hemorrhage/trauma or medications.  </a:t>
            </a:r>
          </a:p>
          <a:p>
            <a:pPr marL="274320" indent="-274320">
              <a:spcBef>
                <a:spcPts val="0"/>
              </a:spcBef>
              <a:buSzPct val="80000"/>
            </a:pPr>
            <a:r>
              <a:rPr lang="en-US" sz="4400" dirty="0">
                <a:latin typeface="Calibri" panose="020F0502020204030204" pitchFamily="34" charset="0"/>
                <a:ea typeface="Calibri"/>
                <a:cs typeface="Calibri" panose="020F0502020204030204" pitchFamily="34" charset="0"/>
                <a:sym typeface="Calibri"/>
              </a:rPr>
              <a:t>HIV may also cause a borderline adrenal insufficiency</a:t>
            </a:r>
          </a:p>
          <a:p>
            <a:pPr marL="0" indent="0">
              <a:spcBef>
                <a:spcPts val="0"/>
              </a:spcBef>
              <a:buSzPct val="80000"/>
              <a:buNone/>
            </a:pPr>
            <a:endParaRPr lang="en-US" dirty="0">
              <a:latin typeface="Calibri" panose="020F0502020204030204" pitchFamily="34" charset="0"/>
              <a:ea typeface="Calibri"/>
              <a:cs typeface="Calibri" panose="020F0502020204030204" pitchFamily="34" charset="0"/>
              <a:sym typeface="Calibri"/>
            </a:endParaRPr>
          </a:p>
        </p:txBody>
      </p:sp>
    </p:spTree>
    <p:extLst>
      <p:ext uri="{BB962C8B-B14F-4D97-AF65-F5344CB8AC3E}">
        <p14:creationId xmlns:p14="http://schemas.microsoft.com/office/powerpoint/2010/main" val="339361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323850" y="323850"/>
            <a:ext cx="12355514" cy="130016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Primary Adrenal Insufficiency</a:t>
            </a:r>
            <a:endParaRPr dirty="0">
              <a:solidFill>
                <a:srgbClr val="00B0F0"/>
              </a:solidFill>
            </a:endParaRPr>
          </a:p>
        </p:txBody>
      </p:sp>
      <p:sp>
        <p:nvSpPr>
          <p:cNvPr id="127" name="Google Shape;127;p11"/>
          <p:cNvSpPr txBox="1">
            <a:spLocks noGrp="1"/>
          </p:cNvSpPr>
          <p:nvPr>
            <p:ph type="body" idx="1"/>
          </p:nvPr>
        </p:nvSpPr>
        <p:spPr>
          <a:xfrm>
            <a:off x="177800" y="1841500"/>
            <a:ext cx="12687300" cy="7721600"/>
          </a:xfrm>
          <a:prstGeom prst="rect">
            <a:avLst/>
          </a:prstGeom>
          <a:noFill/>
          <a:ln>
            <a:noFill/>
          </a:ln>
        </p:spPr>
        <p:txBody>
          <a:bodyPr spcFirstLastPara="1" wrap="square" lIns="126425" tIns="72225" rIns="126425" bIns="72225" anchor="t" anchorCtr="0">
            <a:noAutofit/>
          </a:bodyPr>
          <a:lstStyle/>
          <a:p>
            <a:pPr marL="685800" indent="-685800">
              <a:spcBef>
                <a:spcPts val="700"/>
              </a:spcBef>
              <a:buSzPct val="80000"/>
            </a:pPr>
            <a:r>
              <a:rPr lang="en-US" sz="4400" dirty="0">
                <a:latin typeface="Calibri"/>
                <a:ea typeface="Calibri"/>
                <a:cs typeface="Calibri"/>
                <a:sym typeface="Calibri"/>
              </a:rPr>
              <a:t>Regardless of the etiology, in a person with primary adrenal insufficiency there is a </a:t>
            </a:r>
            <a:r>
              <a:rPr lang="en-US" sz="4400" b="1" i="1" dirty="0">
                <a:latin typeface="Calibri"/>
                <a:ea typeface="Calibri"/>
                <a:cs typeface="Calibri"/>
                <a:sym typeface="Calibri"/>
              </a:rPr>
              <a:t>chronic deficiency </a:t>
            </a:r>
            <a:r>
              <a:rPr lang="en-US" sz="4400" b="1" i="1" u="sng" dirty="0">
                <a:latin typeface="Calibri"/>
                <a:ea typeface="Calibri"/>
                <a:cs typeface="Calibri"/>
                <a:sym typeface="Calibri"/>
              </a:rPr>
              <a:t>all</a:t>
            </a:r>
            <a:r>
              <a:rPr lang="en-US" sz="4400" b="1" i="1" dirty="0">
                <a:latin typeface="Calibri"/>
                <a:ea typeface="Calibri"/>
                <a:cs typeface="Calibri"/>
                <a:sym typeface="Calibri"/>
              </a:rPr>
              <a:t> of the products of the adrenal cortex</a:t>
            </a:r>
            <a:r>
              <a:rPr lang="en-US" sz="4400" b="1" dirty="0">
                <a:latin typeface="Calibri"/>
                <a:ea typeface="Calibri"/>
                <a:cs typeface="Calibri"/>
                <a:sym typeface="Calibri"/>
              </a:rPr>
              <a:t>: </a:t>
            </a:r>
          </a:p>
          <a:p>
            <a:pPr marL="685800" indent="-685800">
              <a:spcBef>
                <a:spcPts val="700"/>
              </a:spcBef>
              <a:buSzPct val="80000"/>
            </a:pPr>
            <a:endParaRPr lang="en-US" sz="2000" b="1" dirty="0">
              <a:latin typeface="Calibri"/>
              <a:ea typeface="Calibri"/>
              <a:cs typeface="Calibri"/>
              <a:sym typeface="Calibri"/>
            </a:endParaRPr>
          </a:p>
          <a:p>
            <a:pPr marL="700088" lvl="1" indent="-285750">
              <a:spcBef>
                <a:spcPts val="700"/>
              </a:spcBef>
              <a:buSzPct val="80000"/>
              <a:buFont typeface="Arial"/>
              <a:buChar char="•"/>
            </a:pPr>
            <a:r>
              <a:rPr lang="en-US" sz="4400" b="1" dirty="0">
                <a:latin typeface="Calibri"/>
                <a:ea typeface="Calibri"/>
                <a:cs typeface="Calibri"/>
                <a:sym typeface="Calibri"/>
              </a:rPr>
              <a:t>Cortisol </a:t>
            </a:r>
          </a:p>
          <a:p>
            <a:pPr marL="700088" lvl="1" indent="-285750">
              <a:spcBef>
                <a:spcPts val="700"/>
              </a:spcBef>
              <a:buSzPct val="80000"/>
              <a:buFont typeface="Arial"/>
              <a:buChar char="•"/>
            </a:pPr>
            <a:r>
              <a:rPr lang="en-US" sz="4400" b="1" dirty="0">
                <a:latin typeface="Calibri"/>
                <a:ea typeface="Calibri"/>
                <a:cs typeface="Calibri"/>
                <a:sym typeface="Calibri"/>
              </a:rPr>
              <a:t>Aldosterone </a:t>
            </a:r>
          </a:p>
          <a:p>
            <a:pPr marL="700088" lvl="1" indent="-285750">
              <a:spcBef>
                <a:spcPts val="700"/>
              </a:spcBef>
              <a:buSzPct val="80000"/>
              <a:buFont typeface="Arial"/>
              <a:buChar char="•"/>
            </a:pPr>
            <a:r>
              <a:rPr lang="en-US" sz="4400" b="1" dirty="0">
                <a:latin typeface="Calibri"/>
                <a:ea typeface="Calibri"/>
                <a:cs typeface="Calibri"/>
                <a:sym typeface="Calibri"/>
              </a:rPr>
              <a:t>Adrenal androgens</a:t>
            </a:r>
          </a:p>
          <a:p>
            <a:pPr marL="414338" lvl="1" indent="0">
              <a:spcBef>
                <a:spcPts val="700"/>
              </a:spcBef>
              <a:buSzPct val="80000"/>
              <a:buNone/>
            </a:pPr>
            <a:r>
              <a:rPr lang="en-US" sz="4400" dirty="0">
                <a:latin typeface="Calibri"/>
                <a:ea typeface="Calibri"/>
                <a:cs typeface="Calibri"/>
                <a:sym typeface="Calibri"/>
              </a:rPr>
              <a:t> </a:t>
            </a:r>
          </a:p>
          <a:p>
            <a:pPr marL="642938" indent="-685800">
              <a:spcBef>
                <a:spcPts val="700"/>
              </a:spcBef>
              <a:buSzPct val="80000"/>
            </a:pPr>
            <a:r>
              <a:rPr lang="en-US" sz="4400" dirty="0">
                <a:latin typeface="Calibri"/>
                <a:ea typeface="Calibri"/>
                <a:cs typeface="Calibri"/>
                <a:sym typeface="Calibri"/>
              </a:rPr>
              <a:t>Adrenal medulla function is spared in most cases but may be affected.</a:t>
            </a:r>
            <a:endParaRPr sz="4400" dirty="0"/>
          </a:p>
        </p:txBody>
      </p:sp>
    </p:spTree>
    <p:extLst>
      <p:ext uri="{BB962C8B-B14F-4D97-AF65-F5344CB8AC3E}">
        <p14:creationId xmlns:p14="http://schemas.microsoft.com/office/powerpoint/2010/main" val="4032630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0" y="228600"/>
            <a:ext cx="12787313"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Symptoms of Adrenal Insufficiency</a:t>
            </a:r>
            <a:endParaRPr dirty="0">
              <a:solidFill>
                <a:srgbClr val="00B0F0"/>
              </a:solidFill>
            </a:endParaRPr>
          </a:p>
        </p:txBody>
      </p:sp>
      <p:sp>
        <p:nvSpPr>
          <p:cNvPr id="186" name="Google Shape;186;p19"/>
          <p:cNvSpPr txBox="1">
            <a:spLocks noGrp="1"/>
          </p:cNvSpPr>
          <p:nvPr>
            <p:ph type="body" idx="1"/>
          </p:nvPr>
        </p:nvSpPr>
        <p:spPr>
          <a:xfrm>
            <a:off x="127000" y="1733550"/>
            <a:ext cx="12660313" cy="76962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In most cases, the</a:t>
            </a:r>
            <a:r>
              <a:rPr lang="en-US" sz="4500" b="1" i="1" dirty="0">
                <a:latin typeface="Calibri"/>
                <a:ea typeface="Calibri"/>
                <a:cs typeface="Calibri"/>
                <a:sym typeface="Calibri"/>
              </a:rPr>
              <a:t> onset is insidious:</a:t>
            </a:r>
            <a:endParaRPr dirty="0"/>
          </a:p>
          <a:p>
            <a:pPr marL="487363" lvl="0" indent="-296863" algn="l" rtl="0">
              <a:spcBef>
                <a:spcPts val="700"/>
              </a:spcBef>
              <a:spcAft>
                <a:spcPts val="0"/>
              </a:spcAft>
              <a:buClr>
                <a:srgbClr val="000000"/>
              </a:buClr>
              <a:buSzPts val="3000"/>
              <a:buFont typeface="Arial"/>
              <a:buNone/>
            </a:pPr>
            <a:endParaRPr sz="3000" b="1" i="1" dirty="0">
              <a:latin typeface="Calibri"/>
              <a:ea typeface="Calibri"/>
              <a:cs typeface="Calibri"/>
              <a:sym typeface="Calibri"/>
            </a:endParaRPr>
          </a:p>
          <a:p>
            <a:pPr marL="914400" lvl="0" indent="-914400" algn="l" rtl="0">
              <a:spcBef>
                <a:spcPts val="700"/>
              </a:spcBef>
              <a:spcAft>
                <a:spcPts val="0"/>
              </a:spcAft>
              <a:buClr>
                <a:srgbClr val="000000"/>
              </a:buClr>
              <a:buSzPts val="4500"/>
              <a:buFont typeface="Helvetica Neue Light"/>
              <a:buAutoNum type="arabicPeriod"/>
            </a:pPr>
            <a:r>
              <a:rPr lang="en-US" sz="4500" b="1" i="1" dirty="0">
                <a:latin typeface="Calibri"/>
                <a:ea typeface="Calibri"/>
                <a:cs typeface="Calibri"/>
                <a:sym typeface="Calibri"/>
              </a:rPr>
              <a:t>Hyperpigmentation: </a:t>
            </a:r>
            <a:r>
              <a:rPr lang="en-US" sz="4500" dirty="0">
                <a:latin typeface="Calibri"/>
                <a:ea typeface="Calibri"/>
                <a:cs typeface="Calibri"/>
                <a:sym typeface="Calibri"/>
              </a:rPr>
              <a:t>especially of sun exposed or traumatized skin- the skin creases, pressure areas like the bra or belt lines, knuckles, elbows and knees.  New scars are affected but generally old scars are not.</a:t>
            </a:r>
            <a:endParaRPr dirty="0"/>
          </a:p>
          <a:p>
            <a:pPr marL="487363" lvl="0" indent="-201612" algn="l" rtl="0">
              <a:spcBef>
                <a:spcPts val="700"/>
              </a:spcBef>
              <a:spcAft>
                <a:spcPts val="0"/>
              </a:spcAft>
              <a:buClr>
                <a:srgbClr val="000000"/>
              </a:buClr>
              <a:buSzPts val="4500"/>
              <a:buFont typeface="Arial"/>
              <a:buNone/>
            </a:pPr>
            <a:endParaRPr sz="4500" b="1" i="1"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Hyperpigmentation </a:t>
            </a:r>
            <a:r>
              <a:rPr lang="en-US" sz="4500" dirty="0">
                <a:latin typeface="Calibri"/>
                <a:ea typeface="Calibri"/>
                <a:cs typeface="Calibri"/>
                <a:sym typeface="Calibri"/>
              </a:rPr>
              <a:t>is often the </a:t>
            </a:r>
            <a:r>
              <a:rPr lang="en-US" sz="4500" b="1" i="1" dirty="0">
                <a:latin typeface="Calibri"/>
                <a:ea typeface="Calibri"/>
                <a:cs typeface="Calibri"/>
                <a:sym typeface="Calibri"/>
              </a:rPr>
              <a:t>first symptom of adrenal insufficiency to appear, </a:t>
            </a:r>
            <a:r>
              <a:rPr lang="en-US" sz="4500" dirty="0">
                <a:latin typeface="Calibri"/>
                <a:ea typeface="Calibri"/>
                <a:cs typeface="Calibri"/>
                <a:sym typeface="Calibri"/>
              </a:rPr>
              <a:t>preceding other symptoms by months to years</a:t>
            </a:r>
            <a:r>
              <a:rPr lang="en-US" sz="4500" b="1" i="1" dirty="0">
                <a:latin typeface="Calibri"/>
                <a:ea typeface="Calibri"/>
                <a:cs typeface="Calibri"/>
                <a:sym typeface="Calibri"/>
              </a:rPr>
              <a:t>.</a:t>
            </a:r>
            <a:endParaRPr dirty="0"/>
          </a:p>
          <a:p>
            <a:pPr marL="487363" lvl="0" indent="-258762" algn="l" rtl="0">
              <a:spcBef>
                <a:spcPts val="700"/>
              </a:spcBef>
              <a:spcAft>
                <a:spcPts val="0"/>
              </a:spcAft>
              <a:buClr>
                <a:srgbClr val="000000"/>
              </a:buClr>
              <a:buSzPts val="3600"/>
              <a:buFont typeface="Arial"/>
              <a:buNone/>
            </a:pPr>
            <a:endParaRPr sz="3600" b="1" i="1" dirty="0">
              <a:latin typeface="Arial"/>
              <a:ea typeface="Arial"/>
              <a:cs typeface="Arial"/>
              <a:sym typeface="Arial"/>
            </a:endParaRPr>
          </a:p>
          <a:p>
            <a:pPr marL="487363" lvl="0" indent="-201612" algn="l" rtl="0">
              <a:spcBef>
                <a:spcPts val="700"/>
              </a:spcBef>
              <a:spcAft>
                <a:spcPts val="0"/>
              </a:spcAft>
              <a:buClr>
                <a:srgbClr val="000000"/>
              </a:buClr>
              <a:buSzPts val="4500"/>
              <a:buFont typeface="Arial"/>
              <a:buNone/>
            </a:pPr>
            <a:endParaRPr sz="4500" b="1" i="1" dirty="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0"/>
          <p:cNvSpPr txBox="1">
            <a:spLocks noGrp="1"/>
          </p:cNvSpPr>
          <p:nvPr>
            <p:ph type="title"/>
          </p:nvPr>
        </p:nvSpPr>
        <p:spPr>
          <a:xfrm>
            <a:off x="508000" y="254000"/>
            <a:ext cx="11226800" cy="11938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6200" dirty="0">
                <a:solidFill>
                  <a:srgbClr val="00B0F0"/>
                </a:solidFill>
                <a:latin typeface="+mj-lt"/>
                <a:cs typeface="Calibri" panose="020F0502020204030204" pitchFamily="34" charset="0"/>
              </a:rPr>
              <a:t>Primary Adrenal Insufficiency</a:t>
            </a:r>
            <a:endParaRPr sz="6200" dirty="0">
              <a:solidFill>
                <a:srgbClr val="00B0F0"/>
              </a:solidFill>
              <a:latin typeface="+mj-lt"/>
              <a:cs typeface="Calibri" panose="020F0502020204030204" pitchFamily="34" charset="0"/>
            </a:endParaRPr>
          </a:p>
        </p:txBody>
      </p:sp>
      <p:pic>
        <p:nvPicPr>
          <p:cNvPr id="192" name="Google Shape;192;p20"/>
          <p:cNvPicPr preferRelativeResize="0">
            <a:picLocks noGrp="1"/>
          </p:cNvPicPr>
          <p:nvPr>
            <p:ph type="body" idx="1"/>
          </p:nvPr>
        </p:nvPicPr>
        <p:blipFill rotWithShape="1">
          <a:blip r:embed="rId3">
            <a:alphaModFix/>
          </a:blip>
          <a:srcRect r="16092"/>
          <a:stretch/>
        </p:blipFill>
        <p:spPr>
          <a:xfrm>
            <a:off x="406400" y="1438275"/>
            <a:ext cx="5791200" cy="7958138"/>
          </a:xfrm>
          <a:prstGeom prst="rect">
            <a:avLst/>
          </a:prstGeom>
          <a:noFill/>
          <a:ln>
            <a:noFill/>
          </a:ln>
        </p:spPr>
      </p:pic>
      <p:pic>
        <p:nvPicPr>
          <p:cNvPr id="193" name="Google Shape;193;p20"/>
          <p:cNvPicPr preferRelativeResize="0"/>
          <p:nvPr/>
        </p:nvPicPr>
        <p:blipFill rotWithShape="1">
          <a:blip r:embed="rId4">
            <a:alphaModFix/>
          </a:blip>
          <a:srcRect r="26666"/>
          <a:stretch/>
        </p:blipFill>
        <p:spPr>
          <a:xfrm>
            <a:off x="6705600" y="1428750"/>
            <a:ext cx="5029200" cy="79073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txBox="1">
            <a:spLocks noGrp="1"/>
          </p:cNvSpPr>
          <p:nvPr>
            <p:ph type="title"/>
          </p:nvPr>
        </p:nvSpPr>
        <p:spPr>
          <a:xfrm>
            <a:off x="0" y="323850"/>
            <a:ext cx="12787313"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Symptoms of Adrenal Insufficiency</a:t>
            </a:r>
            <a:endParaRPr dirty="0">
              <a:solidFill>
                <a:srgbClr val="00B0F0"/>
              </a:solidFill>
            </a:endParaRPr>
          </a:p>
        </p:txBody>
      </p:sp>
      <p:sp>
        <p:nvSpPr>
          <p:cNvPr id="199" name="Google Shape;199;p21"/>
          <p:cNvSpPr txBox="1">
            <a:spLocks noGrp="1"/>
          </p:cNvSpPr>
          <p:nvPr>
            <p:ph type="body" idx="1"/>
          </p:nvPr>
        </p:nvSpPr>
        <p:spPr>
          <a:xfrm>
            <a:off x="254000" y="1905000"/>
            <a:ext cx="12533313" cy="752316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panose="020F0502020204030204" pitchFamily="34" charset="0"/>
                <a:ea typeface="Arial"/>
                <a:cs typeface="Calibri" panose="020F0502020204030204" pitchFamily="34" charset="0"/>
                <a:sym typeface="Arial"/>
              </a:rPr>
              <a:t>Persons also have insidious onset of:</a:t>
            </a:r>
            <a:endParaRPr sz="3600" b="1" i="1" dirty="0">
              <a:latin typeface="Calibri" panose="020F0502020204030204" pitchFamily="34" charset="0"/>
              <a:ea typeface="Arial"/>
              <a:cs typeface="Calibri" panose="020F0502020204030204" pitchFamily="34" charset="0"/>
              <a:sym typeface="Arial"/>
            </a:endParaRPr>
          </a:p>
          <a:p>
            <a:pPr marL="914400" lvl="0" indent="-914400" algn="l" rtl="0">
              <a:spcBef>
                <a:spcPts val="700"/>
              </a:spcBef>
              <a:spcAft>
                <a:spcPts val="0"/>
              </a:spcAft>
              <a:buClr>
                <a:srgbClr val="000000"/>
              </a:buClr>
              <a:buSzPts val="4500"/>
              <a:buFont typeface="+mj-lt"/>
              <a:buAutoNum type="arabicPeriod" startAt="2"/>
            </a:pPr>
            <a:r>
              <a:rPr lang="en-US" sz="4500" b="1" i="1" dirty="0">
                <a:latin typeface="Calibri" panose="020F0502020204030204" pitchFamily="34" charset="0"/>
                <a:ea typeface="Calibri"/>
                <a:cs typeface="Calibri" panose="020F0502020204030204" pitchFamily="34" charset="0"/>
                <a:sym typeface="Calibri"/>
              </a:rPr>
              <a:t>Weakness </a:t>
            </a:r>
            <a:r>
              <a:rPr lang="en-US" sz="4500" dirty="0">
                <a:latin typeface="Calibri" panose="020F0502020204030204" pitchFamily="34" charset="0"/>
                <a:ea typeface="Calibri"/>
                <a:cs typeface="Calibri" panose="020F0502020204030204" pitchFamily="34" charset="0"/>
                <a:sym typeface="Calibri"/>
              </a:rPr>
              <a:t>and</a:t>
            </a:r>
            <a:r>
              <a:rPr lang="en-US" sz="4500" b="1" i="1" dirty="0">
                <a:latin typeface="Calibri" panose="020F0502020204030204" pitchFamily="34" charset="0"/>
                <a:ea typeface="Calibri"/>
                <a:cs typeface="Calibri" panose="020F0502020204030204" pitchFamily="34" charset="0"/>
                <a:sym typeface="Calibri"/>
              </a:rPr>
              <a:t> fatigue, dizziness </a:t>
            </a:r>
            <a:r>
              <a:rPr lang="en-US" sz="4500" dirty="0">
                <a:latin typeface="Calibri" panose="020F0502020204030204" pitchFamily="34" charset="0"/>
                <a:ea typeface="Calibri"/>
                <a:cs typeface="Calibri" panose="020F0502020204030204" pitchFamily="34" charset="0"/>
                <a:sym typeface="Calibri"/>
              </a:rPr>
              <a:t>and </a:t>
            </a:r>
            <a:r>
              <a:rPr lang="en-US" sz="4500" b="1" i="1" dirty="0">
                <a:latin typeface="Calibri" panose="020F0502020204030204" pitchFamily="34" charset="0"/>
                <a:ea typeface="Calibri"/>
                <a:cs typeface="Calibri" panose="020F0502020204030204" pitchFamily="34" charset="0"/>
                <a:sym typeface="Calibri"/>
              </a:rPr>
              <a:t>orthostasis </a:t>
            </a:r>
            <a:endParaRPr dirty="0">
              <a:latin typeface="Calibri" panose="020F0502020204030204" pitchFamily="34" charset="0"/>
              <a:cs typeface="Calibri" panose="020F0502020204030204" pitchFamily="34" charset="0"/>
            </a:endParaRPr>
          </a:p>
          <a:p>
            <a:pPr marL="1200151" lvl="0" indent="-914400" algn="l" rtl="0">
              <a:spcBef>
                <a:spcPts val="700"/>
              </a:spcBef>
              <a:spcAft>
                <a:spcPts val="0"/>
              </a:spcAft>
              <a:buClr>
                <a:srgbClr val="000000"/>
              </a:buClr>
              <a:buSzPts val="4500"/>
              <a:buFont typeface="+mj-lt"/>
              <a:buAutoNum type="arabicPeriod" startAt="2"/>
            </a:pPr>
            <a:endParaRPr sz="4500" b="1" i="1"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ts val="4500"/>
              <a:buFont typeface="+mj-lt"/>
              <a:buAutoNum type="arabicPeriod" startAt="2"/>
            </a:pPr>
            <a:r>
              <a:rPr lang="en-US" sz="4500" b="1" i="1" dirty="0">
                <a:latin typeface="Calibri" panose="020F0502020204030204" pitchFamily="34" charset="0"/>
                <a:ea typeface="Calibri"/>
                <a:cs typeface="Calibri" panose="020F0502020204030204" pitchFamily="34" charset="0"/>
                <a:sym typeface="Calibri"/>
              </a:rPr>
              <a:t>Weight loss </a:t>
            </a:r>
            <a:r>
              <a:rPr lang="en-US" sz="4500" dirty="0">
                <a:latin typeface="Calibri" panose="020F0502020204030204" pitchFamily="34" charset="0"/>
                <a:ea typeface="Calibri"/>
                <a:cs typeface="Calibri" panose="020F0502020204030204" pitchFamily="34" charset="0"/>
                <a:sym typeface="Calibri"/>
              </a:rPr>
              <a:t>and</a:t>
            </a:r>
            <a:r>
              <a:rPr lang="en-US" sz="4500" b="1" i="1" dirty="0">
                <a:latin typeface="Calibri" panose="020F0502020204030204" pitchFamily="34" charset="0"/>
                <a:ea typeface="Calibri"/>
                <a:cs typeface="Calibri" panose="020F0502020204030204" pitchFamily="34" charset="0"/>
                <a:sym typeface="Calibri"/>
              </a:rPr>
              <a:t> poor appetite, </a:t>
            </a:r>
            <a:r>
              <a:rPr lang="en-US" sz="4500" dirty="0">
                <a:latin typeface="Calibri" panose="020F0502020204030204" pitchFamily="34" charset="0"/>
                <a:ea typeface="Calibri"/>
                <a:cs typeface="Calibri" panose="020F0502020204030204" pitchFamily="34" charset="0"/>
                <a:sym typeface="Calibri"/>
              </a:rPr>
              <a:t>occasional N/V</a:t>
            </a:r>
            <a:endParaRPr dirty="0">
              <a:latin typeface="Calibri" panose="020F0502020204030204" pitchFamily="34" charset="0"/>
              <a:cs typeface="Calibri" panose="020F0502020204030204" pitchFamily="34" charset="0"/>
            </a:endParaRPr>
          </a:p>
          <a:p>
            <a:pPr marL="1200151" lvl="0" indent="-914400" algn="l" rtl="0">
              <a:spcBef>
                <a:spcPts val="700"/>
              </a:spcBef>
              <a:spcAft>
                <a:spcPts val="0"/>
              </a:spcAft>
              <a:buClr>
                <a:srgbClr val="000000"/>
              </a:buClr>
              <a:buSzPts val="4500"/>
              <a:buFont typeface="+mj-lt"/>
              <a:buAutoNum type="arabicPeriod" startAt="2"/>
            </a:pPr>
            <a:endParaRPr sz="4500" b="1" i="1"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ts val="4500"/>
              <a:buFont typeface="+mj-lt"/>
              <a:buAutoNum type="arabicPeriod" startAt="2"/>
            </a:pPr>
            <a:r>
              <a:rPr lang="en-US" sz="4500" b="1" i="1" dirty="0">
                <a:latin typeface="Calibri" panose="020F0502020204030204" pitchFamily="34" charset="0"/>
                <a:ea typeface="Calibri"/>
                <a:cs typeface="Calibri" panose="020F0502020204030204" pitchFamily="34" charset="0"/>
                <a:sym typeface="Calibri"/>
              </a:rPr>
              <a:t>Myalgias/ arthralgias </a:t>
            </a:r>
            <a:r>
              <a:rPr lang="en-US" sz="4500" dirty="0">
                <a:latin typeface="Calibri" panose="020F0502020204030204" pitchFamily="34" charset="0"/>
                <a:ea typeface="Calibri"/>
                <a:cs typeface="Calibri" panose="020F0502020204030204" pitchFamily="34" charset="0"/>
                <a:sym typeface="Calibri"/>
              </a:rPr>
              <a:t>(due to hyperkalemia)</a:t>
            </a:r>
            <a:endParaRPr dirty="0">
              <a:latin typeface="Calibri" panose="020F0502020204030204" pitchFamily="34" charset="0"/>
              <a:cs typeface="Calibri" panose="020F0502020204030204" pitchFamily="34" charset="0"/>
            </a:endParaRPr>
          </a:p>
          <a:p>
            <a:pPr marL="1200151" lvl="0" indent="-914400" algn="l" rtl="0">
              <a:spcBef>
                <a:spcPts val="700"/>
              </a:spcBef>
              <a:spcAft>
                <a:spcPts val="0"/>
              </a:spcAft>
              <a:buClr>
                <a:srgbClr val="000000"/>
              </a:buClr>
              <a:buSzPts val="4500"/>
              <a:buFont typeface="+mj-lt"/>
              <a:buAutoNum type="arabicPeriod" startAt="2"/>
            </a:pPr>
            <a:endParaRPr sz="4500"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ts val="4500"/>
              <a:buFont typeface="+mj-lt"/>
              <a:buAutoNum type="arabicPeriod" startAt="2"/>
            </a:pPr>
            <a:r>
              <a:rPr lang="en-US" sz="4500" dirty="0">
                <a:latin typeface="Calibri" panose="020F0502020204030204" pitchFamily="34" charset="0"/>
                <a:ea typeface="Calibri"/>
                <a:cs typeface="Calibri" panose="020F0502020204030204" pitchFamily="34" charset="0"/>
                <a:sym typeface="Calibri"/>
              </a:rPr>
              <a:t>Heightened sense of smell, taste or hearing and a craving for salt.</a:t>
            </a:r>
            <a:endParaRPr dirty="0">
              <a:latin typeface="Calibri" panose="020F0502020204030204" pitchFamily="34" charset="0"/>
              <a:cs typeface="Calibri" panose="020F0502020204030204" pitchFamily="34" charset="0"/>
            </a:endParaRPr>
          </a:p>
          <a:p>
            <a:pPr marL="487363" lvl="0" indent="-201612" algn="l" rtl="0">
              <a:spcBef>
                <a:spcPts val="700"/>
              </a:spcBef>
              <a:spcAft>
                <a:spcPts val="0"/>
              </a:spcAft>
              <a:buClr>
                <a:srgbClr val="000000"/>
              </a:buClr>
              <a:buSzPts val="4500"/>
              <a:buFont typeface="Arial"/>
              <a:buNone/>
            </a:pPr>
            <a:endParaRPr sz="4500" b="1" i="1" dirty="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323850" y="152400"/>
            <a:ext cx="12355514"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600" dirty="0">
                <a:solidFill>
                  <a:srgbClr val="00B0F0"/>
                </a:solidFill>
                <a:latin typeface="Arial"/>
                <a:ea typeface="Arial"/>
                <a:cs typeface="Arial"/>
                <a:sym typeface="Arial"/>
              </a:rPr>
              <a:t>Signs of Primary Adrenal Insufficiency</a:t>
            </a:r>
            <a:endParaRPr dirty="0">
              <a:solidFill>
                <a:srgbClr val="00B0F0"/>
              </a:solidFill>
            </a:endParaRPr>
          </a:p>
        </p:txBody>
      </p:sp>
      <p:sp>
        <p:nvSpPr>
          <p:cNvPr id="205" name="Google Shape;205;p22"/>
          <p:cNvSpPr txBox="1">
            <a:spLocks noGrp="1"/>
          </p:cNvSpPr>
          <p:nvPr>
            <p:ph type="body" idx="1"/>
          </p:nvPr>
        </p:nvSpPr>
        <p:spPr>
          <a:xfrm>
            <a:off x="279400" y="1828800"/>
            <a:ext cx="11023600" cy="7629525"/>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a:pPr>
            <a:r>
              <a:rPr lang="en-US" sz="4500" b="1" i="1" dirty="0">
                <a:latin typeface="Calibri"/>
                <a:ea typeface="Calibri"/>
                <a:cs typeface="Calibri"/>
                <a:sym typeface="Calibri"/>
              </a:rPr>
              <a:t>Pigmentary changes of skin</a:t>
            </a:r>
            <a:endParaRPr sz="4500" dirty="0">
              <a:latin typeface="Calibri"/>
              <a:ea typeface="Calibri"/>
              <a:cs typeface="Calibri"/>
              <a:sym typeface="Calibri"/>
            </a:endParaRPr>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Hyperpigmentation in the typical pattern</a:t>
            </a:r>
            <a:endParaRPr dirty="0"/>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Vitiligo (10%) if Addison’s disease</a:t>
            </a:r>
            <a:endParaRPr dirty="0"/>
          </a:p>
          <a:p>
            <a:pPr marL="863600" lvl="1" indent="-158750" algn="l" rtl="0">
              <a:spcBef>
                <a:spcPts val="600"/>
              </a:spcBef>
              <a:spcAft>
                <a:spcPts val="0"/>
              </a:spcAft>
              <a:buClr>
                <a:srgbClr val="000000"/>
              </a:buClr>
              <a:buSzPts val="3900"/>
              <a:buFont typeface="Arial"/>
              <a:buNone/>
            </a:pPr>
            <a:endParaRPr sz="3900" dirty="0">
              <a:latin typeface="Calibri"/>
              <a:ea typeface="Calibri"/>
              <a:cs typeface="Calibri"/>
              <a:sym typeface="Calibri"/>
            </a:endParaRPr>
          </a:p>
          <a:p>
            <a:pPr marL="914400" lvl="0" indent="-914400" algn="l" rtl="0">
              <a:spcBef>
                <a:spcPts val="700"/>
              </a:spcBef>
              <a:spcAft>
                <a:spcPts val="0"/>
              </a:spcAft>
              <a:buClr>
                <a:srgbClr val="000000"/>
              </a:buClr>
              <a:buSzPts val="4500"/>
              <a:buFont typeface="Helvetica Neue Light"/>
              <a:buAutoNum type="arabicPeriod"/>
            </a:pPr>
            <a:r>
              <a:rPr lang="en-US" sz="4500" b="1" i="1" dirty="0">
                <a:latin typeface="Calibri"/>
                <a:ea typeface="Calibri"/>
                <a:cs typeface="Calibri"/>
                <a:sym typeface="Calibri"/>
              </a:rPr>
              <a:t>Hypotension/ Lowish BP</a:t>
            </a:r>
            <a:r>
              <a:rPr lang="en-US" sz="4500" dirty="0">
                <a:latin typeface="Calibri"/>
                <a:ea typeface="Calibri"/>
                <a:cs typeface="Calibri"/>
                <a:sym typeface="Calibri"/>
              </a:rPr>
              <a:t>, usually under 110 mmHg</a:t>
            </a:r>
            <a:endParaRPr dirty="0"/>
          </a:p>
          <a:p>
            <a:pPr marL="914400" lvl="0" indent="-914400" algn="l" rtl="0">
              <a:spcBef>
                <a:spcPts val="700"/>
              </a:spcBef>
              <a:spcAft>
                <a:spcPts val="0"/>
              </a:spcAft>
              <a:buClr>
                <a:srgbClr val="000000"/>
              </a:buClr>
              <a:buSzPts val="4500"/>
              <a:buFont typeface="Helvetica Neue Light"/>
              <a:buAutoNum type="arabicPeriod"/>
            </a:pPr>
            <a:r>
              <a:rPr lang="en-US" sz="4500" dirty="0">
                <a:latin typeface="Calibri"/>
                <a:ea typeface="Calibri"/>
                <a:cs typeface="Calibri"/>
                <a:sym typeface="Calibri"/>
              </a:rPr>
              <a:t>Dehydration, orthostasis</a:t>
            </a:r>
            <a:endParaRPr dirty="0"/>
          </a:p>
          <a:p>
            <a:pPr marL="914400" lvl="0" indent="-914400" algn="l" rtl="0">
              <a:spcBef>
                <a:spcPts val="700"/>
              </a:spcBef>
              <a:spcAft>
                <a:spcPts val="0"/>
              </a:spcAft>
              <a:buClr>
                <a:srgbClr val="000000"/>
              </a:buClr>
              <a:buSzPts val="4500"/>
              <a:buFont typeface="Helvetica Neue Light"/>
              <a:buAutoNum type="arabicPeriod"/>
            </a:pPr>
            <a:r>
              <a:rPr lang="en-US" sz="4500" dirty="0">
                <a:latin typeface="Calibri"/>
                <a:ea typeface="Calibri"/>
                <a:cs typeface="Calibri"/>
                <a:sym typeface="Calibri"/>
              </a:rPr>
              <a:t>Hypoplasia of lymphoid tissues</a:t>
            </a:r>
            <a:endParaRPr dirty="0"/>
          </a:p>
          <a:p>
            <a:pPr marL="914400" lvl="0" indent="-914400" algn="l" rtl="0">
              <a:spcBef>
                <a:spcPts val="700"/>
              </a:spcBef>
              <a:spcAft>
                <a:spcPts val="0"/>
              </a:spcAft>
              <a:buClr>
                <a:srgbClr val="000000"/>
              </a:buClr>
              <a:buSzPts val="4500"/>
              <a:buFont typeface="Helvetica Neue Light"/>
              <a:buAutoNum type="arabicPeriod"/>
            </a:pPr>
            <a:r>
              <a:rPr lang="en-US" sz="4500" dirty="0">
                <a:latin typeface="Calibri"/>
                <a:ea typeface="Calibri"/>
                <a:cs typeface="Calibri"/>
                <a:sym typeface="Calibri"/>
              </a:rPr>
              <a:t>Scant axillary or pubic hair in women due to loss of adrenal androgens.</a:t>
            </a:r>
            <a:endParaRPr dirty="0">
              <a:latin typeface="Calibri"/>
              <a:ea typeface="Calibri"/>
              <a:cs typeface="Calibri"/>
              <a:sym typeface="Calibri"/>
            </a:endParaRPr>
          </a:p>
        </p:txBody>
      </p:sp>
      <p:pic>
        <p:nvPicPr>
          <p:cNvPr id="206" name="Google Shape;206;p22"/>
          <p:cNvPicPr preferRelativeResize="0"/>
          <p:nvPr/>
        </p:nvPicPr>
        <p:blipFill rotWithShape="1">
          <a:blip r:embed="rId3">
            <a:alphaModFix/>
          </a:blip>
          <a:srcRect/>
          <a:stretch/>
        </p:blipFill>
        <p:spPr>
          <a:xfrm rot="5400000">
            <a:off x="9652000" y="2286000"/>
            <a:ext cx="4013200" cy="2336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3"/>
          <p:cNvSpPr txBox="1">
            <a:spLocks noGrp="1"/>
          </p:cNvSpPr>
          <p:nvPr>
            <p:ph type="title"/>
          </p:nvPr>
        </p:nvSpPr>
        <p:spPr>
          <a:xfrm>
            <a:off x="215150" y="154517"/>
            <a:ext cx="12503100"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panose="020F0502020204030204" pitchFamily="34" charset="0"/>
                <a:ea typeface="Arial"/>
                <a:cs typeface="Calibri" panose="020F0502020204030204" pitchFamily="34" charset="0"/>
                <a:sym typeface="Arial"/>
              </a:rPr>
              <a:t>Lab Findings of Adrenal Insufficiency</a:t>
            </a:r>
            <a:endParaRPr dirty="0">
              <a:solidFill>
                <a:srgbClr val="00B0F0"/>
              </a:solidFill>
              <a:latin typeface="Calibri" panose="020F0502020204030204" pitchFamily="34" charset="0"/>
              <a:cs typeface="Calibri" panose="020F0502020204030204" pitchFamily="34" charset="0"/>
            </a:endParaRPr>
          </a:p>
        </p:txBody>
      </p:sp>
      <p:sp>
        <p:nvSpPr>
          <p:cNvPr id="212" name="Google Shape;212;p23"/>
          <p:cNvSpPr txBox="1">
            <a:spLocks noGrp="1"/>
          </p:cNvSpPr>
          <p:nvPr>
            <p:ph type="body" idx="1"/>
          </p:nvPr>
        </p:nvSpPr>
        <p:spPr>
          <a:xfrm>
            <a:off x="215150" y="1761067"/>
            <a:ext cx="12611850" cy="7838016"/>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buClr>
                <a:srgbClr val="000000"/>
              </a:buClr>
              <a:buSzPts val="3600"/>
              <a:buFont typeface="Arial"/>
              <a:buChar char="•"/>
            </a:pPr>
            <a:r>
              <a:rPr lang="en-US" sz="4400" b="1" i="1" dirty="0">
                <a:latin typeface="Calibri" panose="020F0502020204030204" pitchFamily="34" charset="0"/>
                <a:ea typeface="Calibri"/>
                <a:cs typeface="Calibri" panose="020F0502020204030204" pitchFamily="34" charset="0"/>
                <a:sym typeface="Calibri"/>
              </a:rPr>
              <a:t>Hyponatremia and hyperkalemia, </a:t>
            </a:r>
            <a:r>
              <a:rPr lang="en-US" sz="4400" dirty="0">
                <a:latin typeface="Calibri" panose="020F0502020204030204" pitchFamily="34" charset="0"/>
                <a:ea typeface="Calibri"/>
                <a:cs typeface="Calibri" panose="020F0502020204030204" pitchFamily="34" charset="0"/>
                <a:sym typeface="Calibri"/>
              </a:rPr>
              <a:t>why?</a:t>
            </a:r>
          </a:p>
          <a:p>
            <a:pPr marL="381000" lvl="0" indent="-381000" algn="l" rtl="0">
              <a:spcBef>
                <a:spcPts val="0"/>
              </a:spcBef>
              <a:buClr>
                <a:srgbClr val="000000"/>
              </a:buClr>
              <a:buSzPts val="3600"/>
              <a:buFont typeface="Arial"/>
              <a:buChar char="•"/>
            </a:pPr>
            <a:endParaRPr lang="en-US" sz="4400" b="1" i="1" dirty="0">
              <a:latin typeface="Calibri" panose="020F0502020204030204" pitchFamily="34" charset="0"/>
              <a:ea typeface="Calibri"/>
              <a:cs typeface="Calibri" panose="020F0502020204030204" pitchFamily="34" charset="0"/>
              <a:sym typeface="Calibri"/>
            </a:endParaRPr>
          </a:p>
          <a:p>
            <a:pPr marL="0" lvl="0" indent="0" algn="l" rtl="0">
              <a:spcBef>
                <a:spcPts val="0"/>
              </a:spcBef>
              <a:buClr>
                <a:srgbClr val="000000"/>
              </a:buClr>
              <a:buSzPts val="3600"/>
              <a:buNone/>
            </a:pPr>
            <a:r>
              <a:rPr lang="en-US" sz="4400" b="1" i="1" dirty="0">
                <a:latin typeface="Calibri" panose="020F0502020204030204" pitchFamily="34" charset="0"/>
                <a:ea typeface="Calibri"/>
                <a:cs typeface="Calibri" panose="020F0502020204030204" pitchFamily="34" charset="0"/>
                <a:sym typeface="Calibri"/>
              </a:rPr>
              <a:t> </a:t>
            </a:r>
            <a:endParaRPr sz="4400" b="1" i="1" dirty="0">
              <a:latin typeface="Calibri" panose="020F0502020204030204" pitchFamily="34" charset="0"/>
              <a:ea typeface="Calibri"/>
              <a:cs typeface="Calibri" panose="020F0502020204030204" pitchFamily="34" charset="0"/>
              <a:sym typeface="Calibri"/>
            </a:endParaRPr>
          </a:p>
          <a:p>
            <a:pPr marL="381000" lvl="0" indent="-381000" algn="l" rtl="0">
              <a:spcBef>
                <a:spcPts val="0"/>
              </a:spcBef>
              <a:buClr>
                <a:srgbClr val="000000"/>
              </a:buClr>
              <a:buSzPts val="3600"/>
              <a:buFont typeface="Arial"/>
              <a:buChar char="•"/>
            </a:pPr>
            <a:r>
              <a:rPr lang="en-US" sz="4400" b="1" i="1" dirty="0">
                <a:latin typeface="Calibri" panose="020F0502020204030204" pitchFamily="34" charset="0"/>
                <a:ea typeface="Calibri"/>
                <a:cs typeface="Calibri" panose="020F0502020204030204" pitchFamily="34" charset="0"/>
                <a:sym typeface="Calibri"/>
              </a:rPr>
              <a:t>Hypoglycemia, </a:t>
            </a:r>
            <a:r>
              <a:rPr lang="en-US" sz="4400" dirty="0">
                <a:latin typeface="Calibri" panose="020F0502020204030204" pitchFamily="34" charset="0"/>
                <a:ea typeface="Calibri"/>
                <a:cs typeface="Calibri" panose="020F0502020204030204" pitchFamily="34" charset="0"/>
                <a:sym typeface="Calibri"/>
              </a:rPr>
              <a:t>especially children and people with low body weight</a:t>
            </a:r>
          </a:p>
          <a:p>
            <a:pPr marL="381000" lvl="0" indent="-381000" algn="l" rtl="0">
              <a:spcBef>
                <a:spcPts val="0"/>
              </a:spcBef>
              <a:buClr>
                <a:srgbClr val="000000"/>
              </a:buClr>
              <a:buSzPts val="3600"/>
              <a:buFont typeface="Arial"/>
              <a:buChar char="•"/>
            </a:pPr>
            <a:endParaRPr sz="1000" dirty="0">
              <a:latin typeface="Calibri" panose="020F0502020204030204" pitchFamily="34" charset="0"/>
              <a:ea typeface="Calibri"/>
              <a:cs typeface="Calibri" panose="020F0502020204030204" pitchFamily="34" charset="0"/>
              <a:sym typeface="Calibri"/>
            </a:endParaRPr>
          </a:p>
          <a:p>
            <a:pPr marL="381000" lvl="0" indent="-381000" algn="l" rtl="0">
              <a:spcBef>
                <a:spcPts val="0"/>
              </a:spcBef>
              <a:buClr>
                <a:srgbClr val="000000"/>
              </a:buClr>
              <a:buSzPts val="3600"/>
              <a:buFont typeface="Arial"/>
              <a:buChar char="•"/>
            </a:pPr>
            <a:r>
              <a:rPr lang="en-US" sz="4400" b="1" i="1" dirty="0">
                <a:latin typeface="Calibri" panose="020F0502020204030204" pitchFamily="34" charset="0"/>
                <a:ea typeface="Calibri"/>
                <a:cs typeface="Calibri" panose="020F0502020204030204" pitchFamily="34" charset="0"/>
                <a:sym typeface="Calibri"/>
              </a:rPr>
              <a:t>Metabolic acidosis and renal failure, </a:t>
            </a:r>
            <a:r>
              <a:rPr lang="en-US" sz="4400" dirty="0">
                <a:latin typeface="Calibri" panose="020F0502020204030204" pitchFamily="34" charset="0"/>
                <a:ea typeface="Calibri"/>
                <a:cs typeface="Calibri" panose="020F0502020204030204" pitchFamily="34" charset="0"/>
                <a:sym typeface="Calibri"/>
              </a:rPr>
              <a:t>why?</a:t>
            </a:r>
          </a:p>
          <a:p>
            <a:pPr marL="381000" lvl="0" indent="-381000" algn="l" rtl="0">
              <a:spcBef>
                <a:spcPts val="0"/>
              </a:spcBef>
              <a:buClr>
                <a:srgbClr val="000000"/>
              </a:buClr>
              <a:buSzPts val="3600"/>
              <a:buFont typeface="Arial"/>
              <a:buChar char="•"/>
            </a:pPr>
            <a:endParaRPr lang="en-US" sz="4400" dirty="0">
              <a:latin typeface="Calibri" panose="020F0502020204030204" pitchFamily="34" charset="0"/>
              <a:cs typeface="Calibri" panose="020F0502020204030204" pitchFamily="34" charset="0"/>
              <a:sym typeface="Calibri"/>
            </a:endParaRPr>
          </a:p>
          <a:p>
            <a:pPr marL="381000" lvl="0" indent="-381000" algn="l" rtl="0">
              <a:spcBef>
                <a:spcPts val="0"/>
              </a:spcBef>
              <a:buClr>
                <a:srgbClr val="000000"/>
              </a:buClr>
              <a:buSzPts val="3600"/>
              <a:buFont typeface="Arial"/>
              <a:buChar char="•"/>
            </a:pPr>
            <a:endParaRPr lang="en-US" sz="4400" dirty="0">
              <a:latin typeface="Calibri" panose="020F0502020204030204" pitchFamily="34" charset="0"/>
              <a:cs typeface="Calibri" panose="020F0502020204030204" pitchFamily="34" charset="0"/>
              <a:sym typeface="Calibri"/>
            </a:endParaRPr>
          </a:p>
          <a:p>
            <a:pPr marL="381000" indent="-381000">
              <a:spcBef>
                <a:spcPts val="0"/>
              </a:spcBef>
              <a:buSzPts val="3600"/>
              <a:buFont typeface="Arial"/>
              <a:buChar char="•"/>
            </a:pPr>
            <a:r>
              <a:rPr lang="en-US" sz="4400" dirty="0">
                <a:latin typeface="Calibri" panose="020F0502020204030204" pitchFamily="34" charset="0"/>
                <a:ea typeface="Calibri"/>
                <a:cs typeface="Calibri" panose="020F0502020204030204" pitchFamily="34" charset="0"/>
                <a:sym typeface="Calibri"/>
              </a:rPr>
              <a:t>If the adrenal insufficiency is primary, what will the levels of CRH and ACTH look like?</a:t>
            </a:r>
          </a:p>
          <a:p>
            <a:pPr marL="381000" lvl="0" indent="-381000" algn="l" rtl="0">
              <a:spcBef>
                <a:spcPts val="0"/>
              </a:spcBef>
              <a:buClr>
                <a:srgbClr val="000000"/>
              </a:buClr>
              <a:buSzPts val="3600"/>
              <a:buFont typeface="Arial"/>
              <a:buChar char="•"/>
            </a:pPr>
            <a:endParaRPr sz="4400" dirty="0">
              <a:latin typeface="Calibri" panose="020F0502020204030204" pitchFamily="34" charset="0"/>
              <a:cs typeface="Calibri" panose="020F0502020204030204" pitchFamily="34" charset="0"/>
            </a:endParaRPr>
          </a:p>
          <a:p>
            <a:pPr marL="381000" lvl="0" indent="-152400" algn="l" rtl="0">
              <a:spcBef>
                <a:spcPts val="600"/>
              </a:spcBef>
              <a:spcAft>
                <a:spcPts val="600"/>
              </a:spcAft>
              <a:buClr>
                <a:srgbClr val="000000"/>
              </a:buClr>
              <a:buSzPts val="3600"/>
              <a:buFont typeface="Arial"/>
              <a:buNone/>
            </a:pPr>
            <a:endParaRPr sz="4400" b="1" i="1"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fa60496b86_2_24"/>
          <p:cNvSpPr txBox="1">
            <a:spLocks noGrp="1"/>
          </p:cNvSpPr>
          <p:nvPr>
            <p:ph type="title"/>
          </p:nvPr>
        </p:nvSpPr>
        <p:spPr>
          <a:xfrm>
            <a:off x="650150" y="171450"/>
            <a:ext cx="11704500"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Lab Findings</a:t>
            </a:r>
            <a:endParaRPr dirty="0">
              <a:solidFill>
                <a:srgbClr val="00B0F0"/>
              </a:solidFill>
            </a:endParaRPr>
          </a:p>
        </p:txBody>
      </p:sp>
      <p:sp>
        <p:nvSpPr>
          <p:cNvPr id="218" name="Google Shape;218;gfa60496b86_2_24"/>
          <p:cNvSpPr txBox="1">
            <a:spLocks noGrp="1"/>
          </p:cNvSpPr>
          <p:nvPr>
            <p:ph type="body" idx="1"/>
          </p:nvPr>
        </p:nvSpPr>
        <p:spPr>
          <a:xfrm>
            <a:off x="203200" y="1581150"/>
            <a:ext cx="12623750" cy="2342457"/>
          </a:xfrm>
          <a:prstGeom prst="rect">
            <a:avLst/>
          </a:prstGeom>
          <a:noFill/>
          <a:ln>
            <a:noFill/>
          </a:ln>
        </p:spPr>
        <p:txBody>
          <a:bodyPr spcFirstLastPara="1" wrap="square" lIns="126425" tIns="72225" rIns="126425" bIns="72225" anchor="t" anchorCtr="0">
            <a:noAutofit/>
          </a:bodyPr>
          <a:lstStyle/>
          <a:p>
            <a:pPr marL="685800" indent="-685800">
              <a:spcBef>
                <a:spcPts val="600"/>
              </a:spcBef>
              <a:spcAft>
                <a:spcPts val="600"/>
              </a:spcAft>
              <a:buSzPct val="80000"/>
            </a:pPr>
            <a:r>
              <a:rPr lang="en-US" sz="4400" dirty="0">
                <a:latin typeface="Calibri" panose="020F0502020204030204" pitchFamily="34" charset="0"/>
                <a:ea typeface="Calibri"/>
                <a:cs typeface="Calibri" panose="020F0502020204030204" pitchFamily="34" charset="0"/>
                <a:sym typeface="Calibri"/>
              </a:rPr>
              <a:t>If the adrenal insufficiency is secondary or tertiary, how will the electrolyte abnormalities be different?</a:t>
            </a:r>
          </a:p>
          <a:p>
            <a:pPr marL="381000" lvl="0" indent="-152400" algn="l" rtl="0">
              <a:spcBef>
                <a:spcPts val="700"/>
              </a:spcBef>
              <a:spcAft>
                <a:spcPts val="0"/>
              </a:spcAft>
              <a:buClr>
                <a:srgbClr val="000000"/>
              </a:buClr>
              <a:buSzPts val="3600"/>
              <a:buFont typeface="Arial"/>
              <a:buNone/>
            </a:pPr>
            <a:endParaRPr lang="en-US" sz="4400" b="1" i="1" dirty="0">
              <a:latin typeface="Calibri" panose="020F0502020204030204" pitchFamily="34" charset="0"/>
              <a:ea typeface="Calibri"/>
              <a:cs typeface="Calibri" panose="020F0502020204030204" pitchFamily="34" charset="0"/>
              <a:sym typeface="Calibri"/>
            </a:endParaRPr>
          </a:p>
          <a:p>
            <a:pPr marL="381000" lvl="0" indent="-152400" algn="l" rtl="0">
              <a:spcBef>
                <a:spcPts val="700"/>
              </a:spcBef>
              <a:spcAft>
                <a:spcPts val="0"/>
              </a:spcAft>
              <a:buClr>
                <a:srgbClr val="000000"/>
              </a:buClr>
              <a:buSzPts val="3600"/>
              <a:buFont typeface="Arial"/>
              <a:buNone/>
            </a:pPr>
            <a:endParaRPr lang="en-US" sz="4400" b="1" i="1" dirty="0">
              <a:latin typeface="Calibri" panose="020F0502020204030204" pitchFamily="34" charset="0"/>
              <a:ea typeface="Calibri"/>
              <a:cs typeface="Calibri" panose="020F0502020204030204" pitchFamily="34" charset="0"/>
              <a:sym typeface="Calibri"/>
            </a:endParaRPr>
          </a:p>
        </p:txBody>
      </p:sp>
      <p:graphicFrame>
        <p:nvGraphicFramePr>
          <p:cNvPr id="2" name="Table 1">
            <a:extLst>
              <a:ext uri="{FF2B5EF4-FFF2-40B4-BE49-F238E27FC236}">
                <a16:creationId xmlns:a16="http://schemas.microsoft.com/office/drawing/2014/main" id="{451F43D6-DE85-6CCB-9F01-518E32B4C932}"/>
              </a:ext>
            </a:extLst>
          </p:cNvPr>
          <p:cNvGraphicFramePr>
            <a:graphicFrameLocks noGrp="1"/>
          </p:cNvGraphicFramePr>
          <p:nvPr>
            <p:extLst>
              <p:ext uri="{D42A27DB-BD31-4B8C-83A1-F6EECF244321}">
                <p14:modId xmlns:p14="http://schemas.microsoft.com/office/powerpoint/2010/main" val="2727539670"/>
              </p:ext>
            </p:extLst>
          </p:nvPr>
        </p:nvGraphicFramePr>
        <p:xfrm>
          <a:off x="332509" y="3923607"/>
          <a:ext cx="12203084" cy="5658542"/>
        </p:xfrm>
        <a:graphic>
          <a:graphicData uri="http://schemas.openxmlformats.org/drawingml/2006/table">
            <a:tbl>
              <a:tblPr firstRow="1" bandRow="1">
                <a:tableStyleId>{6E25E649-3F16-4E02-A733-19D2CDBF48F0}</a:tableStyleId>
              </a:tblPr>
              <a:tblGrid>
                <a:gridCol w="2144684">
                  <a:extLst>
                    <a:ext uri="{9D8B030D-6E8A-4147-A177-3AD203B41FA5}">
                      <a16:colId xmlns:a16="http://schemas.microsoft.com/office/drawing/2014/main" val="2456825783"/>
                    </a:ext>
                  </a:extLst>
                </a:gridCol>
                <a:gridCol w="3225338">
                  <a:extLst>
                    <a:ext uri="{9D8B030D-6E8A-4147-A177-3AD203B41FA5}">
                      <a16:colId xmlns:a16="http://schemas.microsoft.com/office/drawing/2014/main" val="496878843"/>
                    </a:ext>
                  </a:extLst>
                </a:gridCol>
                <a:gridCol w="3358342">
                  <a:extLst>
                    <a:ext uri="{9D8B030D-6E8A-4147-A177-3AD203B41FA5}">
                      <a16:colId xmlns:a16="http://schemas.microsoft.com/office/drawing/2014/main" val="1989918093"/>
                    </a:ext>
                  </a:extLst>
                </a:gridCol>
                <a:gridCol w="3474720">
                  <a:extLst>
                    <a:ext uri="{9D8B030D-6E8A-4147-A177-3AD203B41FA5}">
                      <a16:colId xmlns:a16="http://schemas.microsoft.com/office/drawing/2014/main" val="3267598245"/>
                    </a:ext>
                  </a:extLst>
                </a:gridCol>
              </a:tblGrid>
              <a:tr h="1744718">
                <a:tc>
                  <a:txBody>
                    <a:bodyPr/>
                    <a:lstStyle/>
                    <a:p>
                      <a:endParaRPr lang="en-US" sz="3200" dirty="0">
                        <a:solidFill>
                          <a:schemeClr val="tx1"/>
                        </a:solidFill>
                      </a:endParaRPr>
                    </a:p>
                  </a:txBody>
                  <a:tcPr>
                    <a:solidFill>
                      <a:srgbClr val="00B0F0"/>
                    </a:solidFill>
                  </a:tcPr>
                </a:tc>
                <a:tc>
                  <a:txBody>
                    <a:bodyPr/>
                    <a:lstStyle/>
                    <a:p>
                      <a:r>
                        <a:rPr lang="en-US" sz="3200" dirty="0">
                          <a:solidFill>
                            <a:schemeClr val="tx1"/>
                          </a:solidFill>
                        </a:rPr>
                        <a:t>Primary</a:t>
                      </a:r>
                    </a:p>
                  </a:txBody>
                  <a:tcPr>
                    <a:solidFill>
                      <a:srgbClr val="00B0F0"/>
                    </a:solidFill>
                  </a:tcPr>
                </a:tc>
                <a:tc>
                  <a:txBody>
                    <a:bodyPr/>
                    <a:lstStyle/>
                    <a:p>
                      <a:r>
                        <a:rPr lang="en-US" sz="3200" dirty="0">
                          <a:solidFill>
                            <a:schemeClr val="tx1"/>
                          </a:solidFill>
                        </a:rPr>
                        <a:t>Secondary</a:t>
                      </a:r>
                    </a:p>
                  </a:txBody>
                  <a:tcPr>
                    <a:solidFill>
                      <a:srgbClr val="00B0F0"/>
                    </a:solidFill>
                  </a:tcPr>
                </a:tc>
                <a:tc>
                  <a:txBody>
                    <a:bodyPr/>
                    <a:lstStyle/>
                    <a:p>
                      <a:r>
                        <a:rPr lang="en-US" sz="3200" dirty="0">
                          <a:solidFill>
                            <a:schemeClr val="tx1"/>
                          </a:solidFill>
                        </a:rPr>
                        <a:t>Tertiary</a:t>
                      </a:r>
                    </a:p>
                  </a:txBody>
                  <a:tcPr>
                    <a:solidFill>
                      <a:srgbClr val="00B0F0"/>
                    </a:solidFill>
                  </a:tcPr>
                </a:tc>
                <a:extLst>
                  <a:ext uri="{0D108BD9-81ED-4DB2-BD59-A6C34878D82A}">
                    <a16:rowId xmlns:a16="http://schemas.microsoft.com/office/drawing/2014/main" val="2861530380"/>
                  </a:ext>
                </a:extLst>
              </a:tr>
              <a:tr h="1304608">
                <a:tc>
                  <a:txBody>
                    <a:bodyPr/>
                    <a:lstStyle/>
                    <a:p>
                      <a:r>
                        <a:rPr lang="en-US" sz="3200" dirty="0"/>
                        <a:t>Cortisol</a:t>
                      </a:r>
                    </a:p>
                  </a:txBody>
                  <a:tcPr/>
                </a:tc>
                <a:tc>
                  <a:txBody>
                    <a:bodyPr/>
                    <a:lstStyle/>
                    <a:p>
                      <a:endParaRPr lang="en-US" sz="3200" dirty="0"/>
                    </a:p>
                  </a:txBody>
                  <a:tcPr/>
                </a:tc>
                <a:tc>
                  <a:txBody>
                    <a:bodyPr/>
                    <a:lstStyle/>
                    <a:p>
                      <a:endParaRPr lang="en-US" sz="3200"/>
                    </a:p>
                  </a:txBody>
                  <a:tcPr/>
                </a:tc>
                <a:tc>
                  <a:txBody>
                    <a:bodyPr/>
                    <a:lstStyle/>
                    <a:p>
                      <a:endParaRPr lang="en-US" sz="3200"/>
                    </a:p>
                  </a:txBody>
                  <a:tcPr/>
                </a:tc>
                <a:extLst>
                  <a:ext uri="{0D108BD9-81ED-4DB2-BD59-A6C34878D82A}">
                    <a16:rowId xmlns:a16="http://schemas.microsoft.com/office/drawing/2014/main" val="1280634699"/>
                  </a:ext>
                </a:extLst>
              </a:tr>
              <a:tr h="1304608">
                <a:tc>
                  <a:txBody>
                    <a:bodyPr/>
                    <a:lstStyle/>
                    <a:p>
                      <a:r>
                        <a:rPr lang="en-US" sz="3200" dirty="0"/>
                        <a:t>ACTH</a:t>
                      </a:r>
                    </a:p>
                  </a:txBody>
                  <a:tcPr/>
                </a:tc>
                <a:tc>
                  <a:txBody>
                    <a:bodyPr/>
                    <a:lstStyle/>
                    <a:p>
                      <a:endParaRPr lang="en-US" sz="3200" dirty="0"/>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2106871274"/>
                  </a:ext>
                </a:extLst>
              </a:tr>
              <a:tr h="1304608">
                <a:tc>
                  <a:txBody>
                    <a:bodyPr/>
                    <a:lstStyle/>
                    <a:p>
                      <a:r>
                        <a:rPr lang="en-US" sz="3200" dirty="0"/>
                        <a:t>CRH</a:t>
                      </a:r>
                    </a:p>
                  </a:txBody>
                  <a:tcPr/>
                </a:tc>
                <a:tc>
                  <a:txBody>
                    <a:bodyPr/>
                    <a:lstStyle/>
                    <a:p>
                      <a:endParaRPr lang="en-US" sz="3200" dirty="0"/>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80637821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636D6B1A-8C4A-5A54-4468-10682C995085}"/>
            </a:ext>
          </a:extLst>
        </p:cNvPr>
        <p:cNvGrpSpPr/>
        <p:nvPr/>
      </p:nvGrpSpPr>
      <p:grpSpPr>
        <a:xfrm>
          <a:off x="0" y="0"/>
          <a:ext cx="0" cy="0"/>
          <a:chOff x="0" y="0"/>
          <a:chExt cx="0" cy="0"/>
        </a:xfrm>
      </p:grpSpPr>
      <p:sp>
        <p:nvSpPr>
          <p:cNvPr id="217" name="Google Shape;217;gfa60496b86_2_24">
            <a:extLst>
              <a:ext uri="{FF2B5EF4-FFF2-40B4-BE49-F238E27FC236}">
                <a16:creationId xmlns:a16="http://schemas.microsoft.com/office/drawing/2014/main" id="{02392A2F-F8FB-8ED3-3422-21482CEA9DEB}"/>
              </a:ext>
            </a:extLst>
          </p:cNvPr>
          <p:cNvSpPr txBox="1">
            <a:spLocks noGrp="1"/>
          </p:cNvSpPr>
          <p:nvPr>
            <p:ph type="title"/>
          </p:nvPr>
        </p:nvSpPr>
        <p:spPr>
          <a:xfrm>
            <a:off x="650150" y="171450"/>
            <a:ext cx="11704500"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Radiology Findings</a:t>
            </a:r>
            <a:endParaRPr dirty="0">
              <a:solidFill>
                <a:srgbClr val="00B0F0"/>
              </a:solidFill>
            </a:endParaRPr>
          </a:p>
        </p:txBody>
      </p:sp>
      <p:sp>
        <p:nvSpPr>
          <p:cNvPr id="218" name="Google Shape;218;gfa60496b86_2_24">
            <a:extLst>
              <a:ext uri="{FF2B5EF4-FFF2-40B4-BE49-F238E27FC236}">
                <a16:creationId xmlns:a16="http://schemas.microsoft.com/office/drawing/2014/main" id="{66148E63-B66C-A36F-6033-6E9864C47245}"/>
              </a:ext>
            </a:extLst>
          </p:cNvPr>
          <p:cNvSpPr txBox="1">
            <a:spLocks noGrp="1"/>
          </p:cNvSpPr>
          <p:nvPr>
            <p:ph type="body" idx="1"/>
          </p:nvPr>
        </p:nvSpPr>
        <p:spPr>
          <a:xfrm>
            <a:off x="203200" y="1581150"/>
            <a:ext cx="12623750" cy="2442210"/>
          </a:xfrm>
          <a:prstGeom prst="rect">
            <a:avLst/>
          </a:prstGeom>
          <a:noFill/>
          <a:ln>
            <a:noFill/>
          </a:ln>
        </p:spPr>
        <p:txBody>
          <a:bodyPr spcFirstLastPara="1" wrap="square" lIns="126425" tIns="72225" rIns="126425" bIns="72225" anchor="t" anchorCtr="0">
            <a:noAutofit/>
          </a:bodyPr>
          <a:lstStyle/>
          <a:p>
            <a:pPr marL="800100" indent="-571500">
              <a:spcBef>
                <a:spcPts val="700"/>
              </a:spcBef>
              <a:buSzPts val="3600"/>
            </a:pPr>
            <a:r>
              <a:rPr lang="en-US" sz="4400" dirty="0">
                <a:latin typeface="Calibri" panose="020F0502020204030204" pitchFamily="34" charset="0"/>
                <a:ea typeface="Calibri"/>
                <a:cs typeface="Calibri" panose="020F0502020204030204" pitchFamily="34" charset="0"/>
                <a:sym typeface="Calibri"/>
              </a:rPr>
              <a:t>Adrenal glands may be evaluated with a </a:t>
            </a:r>
            <a:r>
              <a:rPr lang="en-US" sz="4400" b="1" i="1" dirty="0">
                <a:latin typeface="Calibri" panose="020F0502020204030204" pitchFamily="34" charset="0"/>
                <a:ea typeface="Calibri"/>
                <a:cs typeface="Calibri" panose="020F0502020204030204" pitchFamily="34" charset="0"/>
                <a:sym typeface="Calibri"/>
              </a:rPr>
              <a:t>CT of the </a:t>
            </a:r>
            <a:r>
              <a:rPr lang="en-US" sz="4400" b="1" i="1" dirty="0" err="1">
                <a:latin typeface="Calibri" panose="020F0502020204030204" pitchFamily="34" charset="0"/>
                <a:ea typeface="Calibri"/>
                <a:cs typeface="Calibri" panose="020F0502020204030204" pitchFamily="34" charset="0"/>
                <a:sym typeface="Calibri"/>
              </a:rPr>
              <a:t>abd</a:t>
            </a:r>
            <a:r>
              <a:rPr lang="en-US" sz="4400" b="1" i="1" dirty="0">
                <a:latin typeface="Calibri" panose="020F0502020204030204" pitchFamily="34" charset="0"/>
                <a:ea typeface="Calibri"/>
                <a:cs typeface="Calibri" panose="020F0502020204030204" pitchFamily="34" charset="0"/>
                <a:sym typeface="Calibri"/>
              </a:rPr>
              <a:t>/pelvis or an MRI of the adrenals. </a:t>
            </a:r>
            <a:r>
              <a:rPr lang="en-US" sz="4400" dirty="0">
                <a:latin typeface="Calibri" panose="020F0502020204030204" pitchFamily="34" charset="0"/>
                <a:ea typeface="Calibri"/>
                <a:cs typeface="Calibri" panose="020F0502020204030204" pitchFamily="34" charset="0"/>
                <a:sym typeface="Calibri"/>
              </a:rPr>
              <a:t> Usually, these studies are done with contrast.</a:t>
            </a:r>
          </a:p>
          <a:p>
            <a:pPr marL="381000" lvl="0" indent="-152400" algn="l" rtl="0">
              <a:spcBef>
                <a:spcPts val="700"/>
              </a:spcBef>
              <a:spcAft>
                <a:spcPts val="0"/>
              </a:spcAft>
              <a:buClr>
                <a:srgbClr val="000000"/>
              </a:buClr>
              <a:buSzPts val="3600"/>
              <a:buFont typeface="Arial"/>
              <a:buNone/>
            </a:pPr>
            <a:endParaRPr lang="en-US" sz="4400" b="1" i="1" dirty="0">
              <a:latin typeface="Calibri" panose="020F0502020204030204" pitchFamily="34" charset="0"/>
              <a:ea typeface="Calibri"/>
              <a:cs typeface="Calibri" panose="020F0502020204030204" pitchFamily="34" charset="0"/>
              <a:sym typeface="Calibri"/>
            </a:endParaRPr>
          </a:p>
          <a:p>
            <a:pPr marL="381000" lvl="0" indent="-152400" algn="l" rtl="0">
              <a:spcBef>
                <a:spcPts val="700"/>
              </a:spcBef>
              <a:spcAft>
                <a:spcPts val="0"/>
              </a:spcAft>
              <a:buClr>
                <a:srgbClr val="000000"/>
              </a:buClr>
              <a:buSzPts val="3600"/>
              <a:buFont typeface="Arial"/>
              <a:buNone/>
            </a:pPr>
            <a:endParaRPr sz="4400" b="1" i="1"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D892005A-7C0A-CA15-A904-1C462BC514CC}"/>
              </a:ext>
            </a:extLst>
          </p:cNvPr>
          <p:cNvSpPr txBox="1"/>
          <p:nvPr/>
        </p:nvSpPr>
        <p:spPr>
          <a:xfrm>
            <a:off x="203200" y="7063512"/>
            <a:ext cx="12623749" cy="2518638"/>
          </a:xfrm>
          <a:prstGeom prst="rect">
            <a:avLst/>
          </a:prstGeom>
          <a:noFill/>
        </p:spPr>
        <p:txBody>
          <a:bodyPr wrap="square" rtlCol="0">
            <a:spAutoFit/>
          </a:bodyPr>
          <a:lstStyle/>
          <a:p>
            <a:pPr marL="762000" lvl="1" indent="-381000">
              <a:spcBef>
                <a:spcPts val="700"/>
              </a:spcBef>
              <a:buSzPts val="3600"/>
              <a:buFont typeface="Arial"/>
              <a:buChar char="•"/>
            </a:pPr>
            <a:r>
              <a:rPr lang="en-US" sz="4400" dirty="0">
                <a:latin typeface="Calibri" panose="020F0502020204030204" pitchFamily="34" charset="0"/>
                <a:ea typeface="Calibri"/>
                <a:cs typeface="Calibri" panose="020F0502020204030204" pitchFamily="34" charset="0"/>
                <a:sym typeface="Calibri"/>
              </a:rPr>
              <a:t>Enlarged adrenals/ mass in metastatic disease</a:t>
            </a:r>
            <a:endParaRPr lang="en-US" sz="4400" dirty="0">
              <a:latin typeface="Calibri" panose="020F0502020204030204" pitchFamily="34" charset="0"/>
              <a:cs typeface="Calibri" panose="020F0502020204030204" pitchFamily="34" charset="0"/>
            </a:endParaRPr>
          </a:p>
          <a:p>
            <a:pPr marL="762000" lvl="1" indent="-381000">
              <a:spcBef>
                <a:spcPts val="700"/>
              </a:spcBef>
              <a:buSzPts val="3600"/>
              <a:buFont typeface="Arial"/>
              <a:buChar char="•"/>
            </a:pPr>
            <a:r>
              <a:rPr lang="en-US" sz="4400" dirty="0">
                <a:latin typeface="Calibri" panose="020F0502020204030204" pitchFamily="34" charset="0"/>
                <a:ea typeface="Calibri"/>
                <a:cs typeface="Calibri" panose="020F0502020204030204" pitchFamily="34" charset="0"/>
                <a:sym typeface="Calibri"/>
              </a:rPr>
              <a:t>Adrenal calcifications if tuberculosis, fungal disease</a:t>
            </a:r>
            <a:endParaRPr lang="en-US" sz="4400" dirty="0">
              <a:latin typeface="Calibri" panose="020F0502020204030204" pitchFamily="34" charset="0"/>
              <a:cs typeface="Calibri" panose="020F0502020204030204" pitchFamily="34" charset="0"/>
            </a:endParaRPr>
          </a:p>
          <a:p>
            <a:pPr marL="762000" lvl="1" indent="-381000">
              <a:spcBef>
                <a:spcPts val="700"/>
              </a:spcBef>
              <a:buSzPts val="3600"/>
              <a:buFont typeface="Arial"/>
              <a:buChar char="•"/>
            </a:pPr>
            <a:r>
              <a:rPr lang="en-US" sz="4400" dirty="0">
                <a:latin typeface="Calibri" panose="020F0502020204030204" pitchFamily="34" charset="0"/>
                <a:ea typeface="Calibri"/>
                <a:cs typeface="Calibri" panose="020F0502020204030204" pitchFamily="34" charset="0"/>
                <a:sym typeface="Calibri"/>
              </a:rPr>
              <a:t>No radiologic findings in other etiologies</a:t>
            </a:r>
          </a:p>
          <a:p>
            <a:endParaRPr lang="en-US" dirty="0"/>
          </a:p>
        </p:txBody>
      </p:sp>
      <p:graphicFrame>
        <p:nvGraphicFramePr>
          <p:cNvPr id="3" name="Table 2">
            <a:extLst>
              <a:ext uri="{FF2B5EF4-FFF2-40B4-BE49-F238E27FC236}">
                <a16:creationId xmlns:a16="http://schemas.microsoft.com/office/drawing/2014/main" id="{2EF6D25A-F8BC-EB8A-DE59-7B8C778E8DB4}"/>
              </a:ext>
            </a:extLst>
          </p:cNvPr>
          <p:cNvGraphicFramePr>
            <a:graphicFrameLocks noGrp="1"/>
          </p:cNvGraphicFramePr>
          <p:nvPr>
            <p:extLst>
              <p:ext uri="{D42A27DB-BD31-4B8C-83A1-F6EECF244321}">
                <p14:modId xmlns:p14="http://schemas.microsoft.com/office/powerpoint/2010/main" val="4149893545"/>
              </p:ext>
            </p:extLst>
          </p:nvPr>
        </p:nvGraphicFramePr>
        <p:xfrm>
          <a:off x="365760" y="4139738"/>
          <a:ext cx="12461188" cy="2776451"/>
        </p:xfrm>
        <a:graphic>
          <a:graphicData uri="http://schemas.openxmlformats.org/drawingml/2006/table">
            <a:tbl>
              <a:tblPr firstRow="1" bandRow="1">
                <a:tableStyleId>{779906F2-E3B9-4608-AB6C-7A0A5C81DEF4}</a:tableStyleId>
              </a:tblPr>
              <a:tblGrid>
                <a:gridCol w="2488378">
                  <a:extLst>
                    <a:ext uri="{9D8B030D-6E8A-4147-A177-3AD203B41FA5}">
                      <a16:colId xmlns:a16="http://schemas.microsoft.com/office/drawing/2014/main" val="2644182446"/>
                    </a:ext>
                  </a:extLst>
                </a:gridCol>
                <a:gridCol w="4371943">
                  <a:extLst>
                    <a:ext uri="{9D8B030D-6E8A-4147-A177-3AD203B41FA5}">
                      <a16:colId xmlns:a16="http://schemas.microsoft.com/office/drawing/2014/main" val="4003761704"/>
                    </a:ext>
                  </a:extLst>
                </a:gridCol>
                <a:gridCol w="5600867">
                  <a:extLst>
                    <a:ext uri="{9D8B030D-6E8A-4147-A177-3AD203B41FA5}">
                      <a16:colId xmlns:a16="http://schemas.microsoft.com/office/drawing/2014/main" val="3305450487"/>
                    </a:ext>
                  </a:extLst>
                </a:gridCol>
              </a:tblGrid>
              <a:tr h="780877">
                <a:tc>
                  <a:txBody>
                    <a:bodyPr/>
                    <a:lstStyle/>
                    <a:p>
                      <a:endParaRPr lang="en-US" sz="3200"/>
                    </a:p>
                  </a:txBody>
                  <a:tcPr/>
                </a:tc>
                <a:tc>
                  <a:txBody>
                    <a:bodyPr/>
                    <a:lstStyle/>
                    <a:p>
                      <a:r>
                        <a:rPr lang="en-US" sz="3200" dirty="0"/>
                        <a:t>CT</a:t>
                      </a:r>
                    </a:p>
                  </a:txBody>
                  <a:tcPr/>
                </a:tc>
                <a:tc>
                  <a:txBody>
                    <a:bodyPr/>
                    <a:lstStyle/>
                    <a:p>
                      <a:r>
                        <a:rPr lang="en-US" sz="3200" dirty="0"/>
                        <a:t>MRI</a:t>
                      </a:r>
                    </a:p>
                  </a:txBody>
                  <a:tcPr/>
                </a:tc>
                <a:extLst>
                  <a:ext uri="{0D108BD9-81ED-4DB2-BD59-A6C34878D82A}">
                    <a16:rowId xmlns:a16="http://schemas.microsoft.com/office/drawing/2014/main" val="2115959446"/>
                  </a:ext>
                </a:extLst>
              </a:tr>
              <a:tr h="997787">
                <a:tc>
                  <a:txBody>
                    <a:bodyPr/>
                    <a:lstStyle/>
                    <a:p>
                      <a:r>
                        <a:rPr lang="en-US" sz="3200" dirty="0"/>
                        <a:t>Advantages</a:t>
                      </a:r>
                    </a:p>
                  </a:txBody>
                  <a:tcPr/>
                </a:tc>
                <a:tc>
                  <a:txBody>
                    <a:bodyPr/>
                    <a:lstStyle/>
                    <a:p>
                      <a:endParaRPr lang="en-US" sz="3200"/>
                    </a:p>
                  </a:txBody>
                  <a:tcPr/>
                </a:tc>
                <a:tc>
                  <a:txBody>
                    <a:bodyPr/>
                    <a:lstStyle/>
                    <a:p>
                      <a:endParaRPr lang="en-US" sz="3200"/>
                    </a:p>
                  </a:txBody>
                  <a:tcPr/>
                </a:tc>
                <a:extLst>
                  <a:ext uri="{0D108BD9-81ED-4DB2-BD59-A6C34878D82A}">
                    <a16:rowId xmlns:a16="http://schemas.microsoft.com/office/drawing/2014/main" val="2194304794"/>
                  </a:ext>
                </a:extLst>
              </a:tr>
              <a:tr h="997787">
                <a:tc>
                  <a:txBody>
                    <a:bodyPr/>
                    <a:lstStyle/>
                    <a:p>
                      <a:r>
                        <a:rPr lang="en-US" sz="3200" dirty="0"/>
                        <a:t>Drawbacks</a:t>
                      </a:r>
                    </a:p>
                  </a:txBody>
                  <a:tcPr/>
                </a:tc>
                <a:tc>
                  <a:txBody>
                    <a:bodyPr/>
                    <a:lstStyle/>
                    <a:p>
                      <a:endParaRPr lang="en-US" sz="3200"/>
                    </a:p>
                  </a:txBody>
                  <a:tcPr/>
                </a:tc>
                <a:tc>
                  <a:txBody>
                    <a:bodyPr/>
                    <a:lstStyle/>
                    <a:p>
                      <a:endParaRPr lang="en-US" sz="3200" dirty="0"/>
                    </a:p>
                  </a:txBody>
                  <a:tcPr/>
                </a:tc>
                <a:extLst>
                  <a:ext uri="{0D108BD9-81ED-4DB2-BD59-A6C34878D82A}">
                    <a16:rowId xmlns:a16="http://schemas.microsoft.com/office/drawing/2014/main" val="2841836385"/>
                  </a:ext>
                </a:extLst>
              </a:tr>
            </a:tbl>
          </a:graphicData>
        </a:graphic>
      </p:graphicFrame>
    </p:spTree>
    <p:extLst>
      <p:ext uri="{BB962C8B-B14F-4D97-AF65-F5344CB8AC3E}">
        <p14:creationId xmlns:p14="http://schemas.microsoft.com/office/powerpoint/2010/main" val="2392515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a:spLocks noGrp="1"/>
          </p:cNvSpPr>
          <p:nvPr>
            <p:ph type="title"/>
          </p:nvPr>
        </p:nvSpPr>
        <p:spPr>
          <a:xfrm>
            <a:off x="650081" y="113241"/>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Secondary Adrenal Insufficiency</a:t>
            </a:r>
            <a:endParaRPr dirty="0">
              <a:solidFill>
                <a:srgbClr val="00B0F0"/>
              </a:solidFill>
              <a:latin typeface="Calibri"/>
              <a:ea typeface="Calibri"/>
              <a:cs typeface="Calibri"/>
              <a:sym typeface="Calibri"/>
            </a:endParaRPr>
          </a:p>
        </p:txBody>
      </p:sp>
      <p:sp>
        <p:nvSpPr>
          <p:cNvPr id="224" name="Google Shape;224;p24"/>
          <p:cNvSpPr txBox="1">
            <a:spLocks noGrp="1"/>
          </p:cNvSpPr>
          <p:nvPr>
            <p:ph type="body" idx="1"/>
          </p:nvPr>
        </p:nvSpPr>
        <p:spPr>
          <a:xfrm>
            <a:off x="203200" y="1733550"/>
            <a:ext cx="12564533" cy="7802563"/>
          </a:xfrm>
          <a:prstGeom prst="rect">
            <a:avLst/>
          </a:prstGeom>
          <a:noFill/>
          <a:ln>
            <a:noFill/>
          </a:ln>
        </p:spPr>
        <p:txBody>
          <a:bodyPr spcFirstLastPara="1" wrap="square" lIns="126425" tIns="72225" rIns="126425" bIns="72225" anchor="t" anchorCtr="0">
            <a:noAutofit/>
          </a:bodyPr>
          <a:lstStyle/>
          <a:p>
            <a:pPr marL="914400" indent="-914400">
              <a:spcBef>
                <a:spcPts val="0"/>
              </a:spcBef>
              <a:buSzPct val="80000"/>
            </a:pPr>
            <a:r>
              <a:rPr lang="en-US" sz="4500" dirty="0">
                <a:latin typeface="Calibri" panose="020F0502020204030204" pitchFamily="34" charset="0"/>
                <a:ea typeface="Calibri"/>
                <a:cs typeface="Calibri" panose="020F0502020204030204" pitchFamily="34" charset="0"/>
                <a:sym typeface="Calibri"/>
              </a:rPr>
              <a:t>Secondary adrenal insufficiency presents the same as primary insufficiency, but with a few important differences:</a:t>
            </a:r>
            <a:endParaRPr dirty="0">
              <a:latin typeface="Calibri" panose="020F0502020204030204" pitchFamily="34" charset="0"/>
              <a:cs typeface="Calibri" panose="020F0502020204030204" pitchFamily="34" charset="0"/>
            </a:endParaRPr>
          </a:p>
          <a:p>
            <a:pPr marL="388938" indent="-388938">
              <a:spcBef>
                <a:spcPts val="700"/>
              </a:spcBef>
              <a:buSzPct val="80000"/>
            </a:pPr>
            <a:endParaRPr sz="1500" dirty="0">
              <a:latin typeface="Calibri" panose="020F0502020204030204" pitchFamily="34" charset="0"/>
              <a:ea typeface="Calibri"/>
              <a:cs typeface="Calibri" panose="020F0502020204030204" pitchFamily="34" charset="0"/>
              <a:sym typeface="Calibri"/>
            </a:endParaRPr>
          </a:p>
          <a:p>
            <a:pPr marL="1447800" lvl="2" indent="-685800">
              <a:spcBef>
                <a:spcPts val="700"/>
              </a:spcBef>
              <a:buSzPct val="80000"/>
            </a:pPr>
            <a:r>
              <a:rPr lang="en-US" sz="4500" dirty="0">
                <a:latin typeface="Calibri" panose="020F0502020204030204" pitchFamily="34" charset="0"/>
                <a:ea typeface="Calibri"/>
                <a:cs typeface="Calibri" panose="020F0502020204030204" pitchFamily="34" charset="0"/>
                <a:sym typeface="Calibri"/>
              </a:rPr>
              <a:t>  Hyperpigmentation does not occur (ACTH levels are low)</a:t>
            </a:r>
            <a:endParaRPr dirty="0">
              <a:latin typeface="Calibri" panose="020F0502020204030204" pitchFamily="34" charset="0"/>
              <a:cs typeface="Calibri" panose="020F0502020204030204" pitchFamily="34" charset="0"/>
            </a:endParaRPr>
          </a:p>
          <a:p>
            <a:pPr marL="1150938" lvl="2" indent="-325438">
              <a:spcBef>
                <a:spcPts val="700"/>
              </a:spcBef>
              <a:buSzPct val="80000"/>
            </a:pPr>
            <a:endParaRPr sz="1000" dirty="0">
              <a:latin typeface="Calibri" panose="020F0502020204030204" pitchFamily="34" charset="0"/>
              <a:ea typeface="Calibri"/>
              <a:cs typeface="Calibri" panose="020F0502020204030204" pitchFamily="34" charset="0"/>
              <a:sym typeface="Calibri"/>
            </a:endParaRPr>
          </a:p>
          <a:p>
            <a:pPr marL="1447800" lvl="2" indent="-685800">
              <a:spcBef>
                <a:spcPts val="700"/>
              </a:spcBef>
              <a:buSzPct val="80000"/>
            </a:pPr>
            <a:r>
              <a:rPr lang="en-US" sz="4500" dirty="0">
                <a:latin typeface="Calibri" panose="020F0502020204030204" pitchFamily="34" charset="0"/>
                <a:ea typeface="Calibri"/>
                <a:cs typeface="Calibri" panose="020F0502020204030204" pitchFamily="34" charset="0"/>
                <a:sym typeface="Calibri"/>
              </a:rPr>
              <a:t>  Symptoms of salt craving, and lab findings of metabolic acidosis and hyperkalemia are absent (mineralocorticoid levels are normal)</a:t>
            </a:r>
            <a:endParaRPr dirty="0">
              <a:latin typeface="Calibri" panose="020F0502020204030204" pitchFamily="34" charset="0"/>
              <a:cs typeface="Calibri" panose="020F0502020204030204" pitchFamily="34" charset="0"/>
            </a:endParaRPr>
          </a:p>
          <a:p>
            <a:pPr marL="1200150" lvl="2">
              <a:spcBef>
                <a:spcPts val="700"/>
              </a:spcBef>
              <a:buSzPct val="80000"/>
            </a:pPr>
            <a:endParaRPr sz="1500" dirty="0">
              <a:latin typeface="Calibri" panose="020F0502020204030204" pitchFamily="34" charset="0"/>
              <a:ea typeface="Calibri"/>
              <a:cs typeface="Calibri" panose="020F0502020204030204" pitchFamily="34" charset="0"/>
              <a:sym typeface="Calibri"/>
            </a:endParaRPr>
          </a:p>
          <a:p>
            <a:pPr marL="1447800" lvl="2" indent="-685800">
              <a:spcBef>
                <a:spcPts val="700"/>
              </a:spcBef>
              <a:buSzPct val="80000"/>
            </a:pPr>
            <a:r>
              <a:rPr lang="en-US" sz="4500" dirty="0">
                <a:latin typeface="Calibri" panose="020F0502020204030204" pitchFamily="34" charset="0"/>
                <a:ea typeface="Calibri"/>
                <a:cs typeface="Calibri" panose="020F0502020204030204" pitchFamily="34" charset="0"/>
                <a:sym typeface="Calibri"/>
              </a:rPr>
              <a:t>  S/S of other endocrine diseases occur, why?</a:t>
            </a:r>
            <a:endParaRPr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7B19E04D-9754-B91C-B1C2-82680B2D0C79}"/>
            </a:ext>
          </a:extLst>
        </p:cNvPr>
        <p:cNvGrpSpPr/>
        <p:nvPr/>
      </p:nvGrpSpPr>
      <p:grpSpPr>
        <a:xfrm>
          <a:off x="0" y="0"/>
          <a:ext cx="0" cy="0"/>
          <a:chOff x="0" y="0"/>
          <a:chExt cx="0" cy="0"/>
        </a:xfrm>
      </p:grpSpPr>
      <p:sp>
        <p:nvSpPr>
          <p:cNvPr id="223" name="Google Shape;223;p24">
            <a:extLst>
              <a:ext uri="{FF2B5EF4-FFF2-40B4-BE49-F238E27FC236}">
                <a16:creationId xmlns:a16="http://schemas.microsoft.com/office/drawing/2014/main" id="{F2A72DF7-9853-40BA-EEAD-846FFB71FA04}"/>
              </a:ext>
            </a:extLst>
          </p:cNvPr>
          <p:cNvSpPr txBox="1">
            <a:spLocks noGrp="1"/>
          </p:cNvSpPr>
          <p:nvPr>
            <p:ph type="title"/>
          </p:nvPr>
        </p:nvSpPr>
        <p:spPr>
          <a:xfrm>
            <a:off x="650081" y="113241"/>
            <a:ext cx="1170463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Adrenal Insufficiency- Summarize</a:t>
            </a:r>
            <a:endParaRPr dirty="0">
              <a:solidFill>
                <a:srgbClr val="00B0F0"/>
              </a:solidFill>
              <a:latin typeface="Calibri"/>
              <a:ea typeface="Calibri"/>
              <a:cs typeface="Calibri"/>
              <a:sym typeface="Calibri"/>
            </a:endParaRPr>
          </a:p>
        </p:txBody>
      </p:sp>
      <p:sp>
        <p:nvSpPr>
          <p:cNvPr id="224" name="Google Shape;224;p24">
            <a:extLst>
              <a:ext uri="{FF2B5EF4-FFF2-40B4-BE49-F238E27FC236}">
                <a16:creationId xmlns:a16="http://schemas.microsoft.com/office/drawing/2014/main" id="{D46FD207-6E8A-0870-6399-9E2A3975FF7C}"/>
              </a:ext>
            </a:extLst>
          </p:cNvPr>
          <p:cNvSpPr txBox="1">
            <a:spLocks noGrp="1"/>
          </p:cNvSpPr>
          <p:nvPr>
            <p:ph type="body" idx="1"/>
          </p:nvPr>
        </p:nvSpPr>
        <p:spPr>
          <a:xfrm>
            <a:off x="114300" y="1733550"/>
            <a:ext cx="12738100" cy="7802563"/>
          </a:xfrm>
          <a:prstGeom prst="rect">
            <a:avLst/>
          </a:prstGeom>
          <a:noFill/>
          <a:ln>
            <a:noFill/>
          </a:ln>
        </p:spPr>
        <p:txBody>
          <a:bodyPr spcFirstLastPara="1" wrap="square" lIns="126425" tIns="72225" rIns="126425" bIns="72225" anchor="t" anchorCtr="0">
            <a:noAutofit/>
          </a:bodyPr>
          <a:lstStyle/>
          <a:p>
            <a:pPr marL="571500" indent="-571500">
              <a:spcBef>
                <a:spcPts val="0"/>
              </a:spcBef>
              <a:buSzPct val="80000"/>
            </a:pPr>
            <a:r>
              <a:rPr lang="en-US" sz="4400" dirty="0">
                <a:latin typeface="Calibri" panose="020F0502020204030204" pitchFamily="34" charset="0"/>
                <a:ea typeface="Calibri"/>
                <a:cs typeface="Calibri" panose="020F0502020204030204" pitchFamily="34" charset="0"/>
                <a:sym typeface="Calibri"/>
              </a:rPr>
              <a:t>Adrenal insufficiency presents subtly!  </a:t>
            </a:r>
          </a:p>
          <a:p>
            <a:pPr marL="571500" indent="-571500">
              <a:spcBef>
                <a:spcPts val="0"/>
              </a:spcBef>
              <a:buSzPct val="80000"/>
            </a:pPr>
            <a:endParaRPr lang="en-US" sz="4400" dirty="0">
              <a:latin typeface="Calibri" panose="020F0502020204030204" pitchFamily="34" charset="0"/>
              <a:ea typeface="Calibri"/>
              <a:cs typeface="Calibri" panose="020F0502020204030204" pitchFamily="34" charset="0"/>
              <a:sym typeface="Calibri"/>
            </a:endParaRPr>
          </a:p>
          <a:p>
            <a:pPr marL="571500" indent="-571500">
              <a:spcBef>
                <a:spcPts val="0"/>
              </a:spcBef>
              <a:buSzPct val="80000"/>
            </a:pPr>
            <a:r>
              <a:rPr lang="en-US" sz="4400" dirty="0">
                <a:latin typeface="Calibri" panose="020F0502020204030204" pitchFamily="34" charset="0"/>
                <a:ea typeface="Calibri"/>
                <a:cs typeface="Calibri" panose="020F0502020204030204" pitchFamily="34" charset="0"/>
                <a:sym typeface="Calibri"/>
              </a:rPr>
              <a:t>Hyperpigmentation, lowish blood pressure/ orthostasis dehydration, and fatigue are the most common signs/symptoms. </a:t>
            </a:r>
          </a:p>
          <a:p>
            <a:pPr marL="571500" indent="-571500">
              <a:spcBef>
                <a:spcPts val="0"/>
              </a:spcBef>
              <a:buSzPct val="80000"/>
            </a:pPr>
            <a:endParaRPr lang="en-US" sz="4400" dirty="0">
              <a:latin typeface="Calibri" panose="020F0502020204030204" pitchFamily="34" charset="0"/>
              <a:ea typeface="Calibri"/>
              <a:cs typeface="Calibri" panose="020F0502020204030204" pitchFamily="34" charset="0"/>
              <a:sym typeface="Calibri"/>
            </a:endParaRPr>
          </a:p>
          <a:p>
            <a:pPr marL="571500" indent="-571500">
              <a:spcBef>
                <a:spcPts val="0"/>
              </a:spcBef>
              <a:buSzPct val="80000"/>
            </a:pPr>
            <a:r>
              <a:rPr lang="en-US" sz="4400" dirty="0">
                <a:latin typeface="Calibri" panose="020F0502020204030204" pitchFamily="34" charset="0"/>
                <a:ea typeface="Calibri"/>
                <a:cs typeface="Calibri" panose="020F0502020204030204" pitchFamily="34" charset="0"/>
                <a:sym typeface="Calibri"/>
              </a:rPr>
              <a:t>Lab abnormalities include hyponatremia (low sodium), hyperkalemia (high potassium) and metabolic acidosis in primary adrenal insufficiency.</a:t>
            </a:r>
          </a:p>
          <a:p>
            <a:pPr marL="571500" indent="-571500">
              <a:spcBef>
                <a:spcPts val="0"/>
              </a:spcBef>
              <a:buSzPct val="80000"/>
            </a:pPr>
            <a:endParaRPr lang="en-US" sz="4400" dirty="0">
              <a:latin typeface="Calibri" panose="020F0502020204030204" pitchFamily="34" charset="0"/>
              <a:ea typeface="Calibri"/>
              <a:cs typeface="Calibri" panose="020F0502020204030204" pitchFamily="34" charset="0"/>
              <a:sym typeface="Calibri"/>
            </a:endParaRPr>
          </a:p>
          <a:p>
            <a:pPr marL="571500" indent="-571500">
              <a:spcBef>
                <a:spcPts val="0"/>
              </a:spcBef>
              <a:buSzPct val="80000"/>
            </a:pPr>
            <a:r>
              <a:rPr lang="en-US" sz="4400" dirty="0">
                <a:latin typeface="Calibri" panose="020F0502020204030204" pitchFamily="34" charset="0"/>
                <a:ea typeface="Calibri"/>
                <a:cs typeface="Calibri" panose="020F0502020204030204" pitchFamily="34" charset="0"/>
                <a:sym typeface="Calibri"/>
              </a:rPr>
              <a:t>Imaging is generally not helpful.</a:t>
            </a:r>
            <a:endParaRPr sz="4400" dirty="0">
              <a:latin typeface="Calibri" panose="020F0502020204030204" pitchFamily="34" charset="0"/>
              <a:ea typeface="Calibri"/>
              <a:cs typeface="Calibri" panose="020F0502020204030204" pitchFamily="34" charset="0"/>
              <a:sym typeface="Calibri"/>
            </a:endParaRPr>
          </a:p>
        </p:txBody>
      </p:sp>
    </p:spTree>
    <p:extLst>
      <p:ext uri="{BB962C8B-B14F-4D97-AF65-F5344CB8AC3E}">
        <p14:creationId xmlns:p14="http://schemas.microsoft.com/office/powerpoint/2010/main" val="3781702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215900" y="0"/>
            <a:ext cx="12571414" cy="2133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panose="020F0502020204030204" pitchFamily="34" charset="0"/>
                <a:ea typeface="Arial"/>
                <a:cs typeface="Calibri" panose="020F0502020204030204" pitchFamily="34" charset="0"/>
                <a:sym typeface="Arial"/>
              </a:rPr>
              <a:t>Making the Non-Emergent Diagnosis of Cortisol Deficiency</a:t>
            </a:r>
            <a:endParaRPr dirty="0">
              <a:solidFill>
                <a:srgbClr val="00B0F0"/>
              </a:solidFill>
              <a:latin typeface="Calibri" panose="020F0502020204030204" pitchFamily="34" charset="0"/>
              <a:cs typeface="Calibri" panose="020F0502020204030204" pitchFamily="34" charset="0"/>
            </a:endParaRPr>
          </a:p>
        </p:txBody>
      </p:sp>
      <p:sp>
        <p:nvSpPr>
          <p:cNvPr id="230" name="Google Shape;230;p25"/>
          <p:cNvSpPr txBox="1">
            <a:spLocks noGrp="1"/>
          </p:cNvSpPr>
          <p:nvPr>
            <p:ph type="body" idx="1"/>
          </p:nvPr>
        </p:nvSpPr>
        <p:spPr>
          <a:xfrm>
            <a:off x="215900" y="2514600"/>
            <a:ext cx="12571414" cy="7086600"/>
          </a:xfrm>
          <a:prstGeom prst="rect">
            <a:avLst/>
          </a:prstGeom>
          <a:noFill/>
          <a:ln>
            <a:noFill/>
          </a:ln>
        </p:spPr>
        <p:txBody>
          <a:bodyPr spcFirstLastPara="1" wrap="square" lIns="126425" tIns="72225" rIns="126425" bIns="72225" anchor="t" anchorCtr="0">
            <a:noAutofit/>
          </a:bodyPr>
          <a:lstStyle/>
          <a:p>
            <a:pPr marL="381000" lvl="0" indent="-381000" algn="l" rtl="0">
              <a:spcBef>
                <a:spcPts val="600"/>
              </a:spcBef>
              <a:spcAft>
                <a:spcPts val="60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First, a </a:t>
            </a:r>
            <a:r>
              <a:rPr lang="en-US" sz="4400" b="1" i="1" dirty="0">
                <a:latin typeface="Calibri" panose="020F0502020204030204" pitchFamily="34" charset="0"/>
                <a:ea typeface="Calibri"/>
                <a:cs typeface="Calibri" panose="020F0502020204030204" pitchFamily="34" charset="0"/>
                <a:sym typeface="Calibri"/>
              </a:rPr>
              <a:t>random serum cortisol level </a:t>
            </a:r>
            <a:r>
              <a:rPr lang="en-US" sz="4400" dirty="0">
                <a:latin typeface="Calibri" panose="020F0502020204030204" pitchFamily="34" charset="0"/>
                <a:ea typeface="Calibri"/>
                <a:cs typeface="Calibri" panose="020F0502020204030204" pitchFamily="34" charset="0"/>
                <a:sym typeface="Calibri"/>
              </a:rPr>
              <a:t>is drawn.  Levels &gt; 25 mcg/dL exclude adrenal insufficiency but should be interpreted with caution in the critically ill patient.  Illness may cause a cortisol surge, masking a borderline or early deficiency.</a:t>
            </a:r>
            <a:endParaRPr sz="4400" dirty="0">
              <a:latin typeface="Calibri" panose="020F0502020204030204" pitchFamily="34" charset="0"/>
              <a:cs typeface="Calibri" panose="020F0502020204030204" pitchFamily="34" charset="0"/>
            </a:endParaRPr>
          </a:p>
          <a:p>
            <a:pPr marL="381000" lvl="0" indent="-228600" algn="l" rtl="0">
              <a:spcBef>
                <a:spcPts val="600"/>
              </a:spcBef>
              <a:spcAft>
                <a:spcPts val="600"/>
              </a:spcAft>
              <a:buClr>
                <a:srgbClr val="000000"/>
              </a:buClr>
              <a:buSzPts val="24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381000" lvl="0" indent="-381000" algn="l" rtl="0">
              <a:spcBef>
                <a:spcPts val="600"/>
              </a:spcBef>
              <a:spcAft>
                <a:spcPts val="60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If the random cortisol level is not reassuring, testing to assess the synthetic function of the adrenal glands is performed with a </a:t>
            </a:r>
            <a:r>
              <a:rPr lang="en-US" sz="4400" b="1" i="1" dirty="0" err="1">
                <a:latin typeface="Calibri" panose="020F0502020204030204" pitchFamily="34" charset="0"/>
                <a:ea typeface="Calibri"/>
                <a:cs typeface="Calibri" panose="020F0502020204030204" pitchFamily="34" charset="0"/>
                <a:sym typeface="Calibri"/>
              </a:rPr>
              <a:t>cosynotropin</a:t>
            </a:r>
            <a:r>
              <a:rPr lang="en-US" sz="4400" b="1" i="1" dirty="0">
                <a:latin typeface="Calibri" panose="020F0502020204030204" pitchFamily="34" charset="0"/>
                <a:ea typeface="Calibri"/>
                <a:cs typeface="Calibri" panose="020F0502020204030204" pitchFamily="34" charset="0"/>
                <a:sym typeface="Calibri"/>
              </a:rPr>
              <a:t> stimulation test</a:t>
            </a:r>
            <a:r>
              <a:rPr lang="en-US" sz="4400" dirty="0">
                <a:latin typeface="Calibri" panose="020F0502020204030204" pitchFamily="34" charset="0"/>
                <a:ea typeface="Calibri"/>
                <a:cs typeface="Calibri" panose="020F0502020204030204" pitchFamily="34" charset="0"/>
                <a:sym typeface="Calibri"/>
              </a:rPr>
              <a:t>.</a:t>
            </a:r>
            <a:endParaRPr sz="4400" dirty="0">
              <a:latin typeface="Calibri" panose="020F0502020204030204" pitchFamily="34" charset="0"/>
              <a:cs typeface="Calibri" panose="020F0502020204030204" pitchFamily="34" charset="0"/>
            </a:endParaRPr>
          </a:p>
          <a:p>
            <a:pPr marL="381000" lvl="0" indent="-95250" algn="l" rtl="0">
              <a:spcBef>
                <a:spcPts val="1300"/>
              </a:spcBef>
              <a:spcAft>
                <a:spcPts val="0"/>
              </a:spcAft>
              <a:buClr>
                <a:srgbClr val="000000"/>
              </a:buClr>
              <a:buSzPts val="4500"/>
              <a:buFont typeface="Helvetica Neue Light"/>
              <a:buNone/>
            </a:pPr>
            <a:endParaRPr sz="4500" dirty="0">
              <a:latin typeface="Arial"/>
              <a:ea typeface="Arial"/>
              <a:cs typeface="Arial"/>
              <a:sym typeface="Arial"/>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0" lvl="0" indent="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0" lvl="0" indent="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6"/>
          <p:cNvSpPr txBox="1">
            <a:spLocks noGrp="1"/>
          </p:cNvSpPr>
          <p:nvPr>
            <p:ph type="title"/>
          </p:nvPr>
        </p:nvSpPr>
        <p:spPr>
          <a:xfrm>
            <a:off x="649288" y="0"/>
            <a:ext cx="11704637" cy="1219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How is this done?</a:t>
            </a:r>
            <a:endParaRPr dirty="0">
              <a:solidFill>
                <a:srgbClr val="00B0F0"/>
              </a:solidFill>
            </a:endParaRPr>
          </a:p>
        </p:txBody>
      </p:sp>
      <p:sp>
        <p:nvSpPr>
          <p:cNvPr id="236" name="Google Shape;236;p26"/>
          <p:cNvSpPr txBox="1">
            <a:spLocks noGrp="1"/>
          </p:cNvSpPr>
          <p:nvPr>
            <p:ph type="body" idx="1"/>
          </p:nvPr>
        </p:nvSpPr>
        <p:spPr>
          <a:xfrm>
            <a:off x="215900" y="1447800"/>
            <a:ext cx="12571414" cy="8077200"/>
          </a:xfrm>
          <a:prstGeom prst="rect">
            <a:avLst/>
          </a:prstGeom>
          <a:noFill/>
          <a:ln>
            <a:noFill/>
          </a:ln>
        </p:spPr>
        <p:txBody>
          <a:bodyPr spcFirstLastPara="1" wrap="square" lIns="126425" tIns="72225" rIns="126425" bIns="72225" anchor="t" anchorCtr="0">
            <a:noAutofit/>
          </a:bodyPr>
          <a:lstStyle/>
          <a:p>
            <a:pPr marL="289560" lvl="0" indent="-381000" algn="l" rtl="0">
              <a:spcBef>
                <a:spcPts val="600"/>
              </a:spcBef>
              <a:spcAft>
                <a:spcPts val="60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A baseline serum aldosterone level and cortisol level are drawn.</a:t>
            </a:r>
            <a:endParaRPr sz="4400" dirty="0">
              <a:latin typeface="Calibri" panose="020F0502020204030204" pitchFamily="34" charset="0"/>
              <a:cs typeface="Calibri" panose="020F0502020204030204" pitchFamily="34" charset="0"/>
            </a:endParaRPr>
          </a:p>
          <a:p>
            <a:pPr marL="289560" lvl="0" indent="-152400" algn="l" rtl="0">
              <a:spcBef>
                <a:spcPts val="600"/>
              </a:spcBef>
              <a:spcAft>
                <a:spcPts val="600"/>
              </a:spcAft>
              <a:buClr>
                <a:srgbClr val="000000"/>
              </a:buClr>
              <a:buSzPts val="36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289560" lvl="0" indent="-381000" algn="l" rtl="0">
              <a:spcBef>
                <a:spcPts val="600"/>
              </a:spcBef>
              <a:spcAft>
                <a:spcPts val="600"/>
              </a:spcAft>
              <a:buClr>
                <a:srgbClr val="000000"/>
              </a:buClr>
              <a:buSzPts val="3600"/>
              <a:buFont typeface="Calibri"/>
              <a:buChar char="•"/>
            </a:pPr>
            <a:r>
              <a:rPr lang="en-US" sz="4400" dirty="0" err="1">
                <a:latin typeface="Calibri" panose="020F0502020204030204" pitchFamily="34" charset="0"/>
                <a:ea typeface="Calibri"/>
                <a:cs typeface="Calibri" panose="020F0502020204030204" pitchFamily="34" charset="0"/>
                <a:sym typeface="Calibri"/>
              </a:rPr>
              <a:t>Cosynotropin</a:t>
            </a:r>
            <a:r>
              <a:rPr lang="en-US" sz="4400" dirty="0">
                <a:latin typeface="Calibri" panose="020F0502020204030204" pitchFamily="34" charset="0"/>
                <a:ea typeface="Calibri"/>
                <a:cs typeface="Calibri" panose="020F0502020204030204" pitchFamily="34" charset="0"/>
                <a:sym typeface="Calibri"/>
              </a:rPr>
              <a:t> (0.25mg of synthetic ACTH) is injected IM or IV and then cortisol and aldosterone levels are remeasured at either 30 or 60 minutes.</a:t>
            </a:r>
            <a:endParaRPr sz="4400" dirty="0">
              <a:latin typeface="Calibri" panose="020F0502020204030204" pitchFamily="34" charset="0"/>
              <a:cs typeface="Calibri" panose="020F0502020204030204" pitchFamily="34" charset="0"/>
            </a:endParaRPr>
          </a:p>
          <a:p>
            <a:pPr marL="289560" lvl="0" indent="-152400" algn="l" rtl="0">
              <a:spcBef>
                <a:spcPts val="600"/>
              </a:spcBef>
              <a:spcAft>
                <a:spcPts val="600"/>
              </a:spcAft>
              <a:buClr>
                <a:srgbClr val="000000"/>
              </a:buClr>
              <a:buSzPts val="36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289560" lvl="0" indent="-381000" algn="l" rtl="0">
              <a:spcBef>
                <a:spcPts val="600"/>
              </a:spcBef>
              <a:spcAft>
                <a:spcPts val="600"/>
              </a:spcAft>
              <a:buClr>
                <a:srgbClr val="000000"/>
              </a:buClr>
              <a:buSzPts val="3600"/>
              <a:buFont typeface="Calibri"/>
              <a:buChar char="•"/>
            </a:pPr>
            <a:r>
              <a:rPr lang="en-US" sz="4400" b="1" i="1" dirty="0">
                <a:latin typeface="Calibri" panose="020F0502020204030204" pitchFamily="34" charset="0"/>
                <a:ea typeface="Calibri"/>
                <a:cs typeface="Calibri" panose="020F0502020204030204" pitchFamily="34" charset="0"/>
                <a:sym typeface="Calibri"/>
              </a:rPr>
              <a:t>A </a:t>
            </a:r>
            <a:r>
              <a:rPr lang="en-US" sz="4400" b="1" i="1" dirty="0" err="1">
                <a:latin typeface="Calibri" panose="020F0502020204030204" pitchFamily="34" charset="0"/>
                <a:ea typeface="Calibri"/>
                <a:cs typeface="Calibri" panose="020F0502020204030204" pitchFamily="34" charset="0"/>
                <a:sym typeface="Calibri"/>
              </a:rPr>
              <a:t>cosynotropin</a:t>
            </a:r>
            <a:r>
              <a:rPr lang="en-US" sz="4400" b="1" i="1" dirty="0">
                <a:latin typeface="Calibri" panose="020F0502020204030204" pitchFamily="34" charset="0"/>
                <a:ea typeface="Calibri"/>
                <a:cs typeface="Calibri" panose="020F0502020204030204" pitchFamily="34" charset="0"/>
                <a:sym typeface="Calibri"/>
              </a:rPr>
              <a:t> test is positive if</a:t>
            </a:r>
            <a:r>
              <a:rPr lang="en-US" sz="4400" dirty="0">
                <a:latin typeface="Calibri" panose="020F0502020204030204" pitchFamily="34" charset="0"/>
                <a:ea typeface="Calibri"/>
                <a:cs typeface="Calibri" panose="020F0502020204030204" pitchFamily="34" charset="0"/>
                <a:sym typeface="Calibri"/>
              </a:rPr>
              <a:t> the stimulation </a:t>
            </a:r>
            <a:r>
              <a:rPr lang="en-US" sz="4400" b="1" i="1" dirty="0">
                <a:latin typeface="Calibri" panose="020F0502020204030204" pitchFamily="34" charset="0"/>
                <a:ea typeface="Calibri"/>
                <a:cs typeface="Calibri" panose="020F0502020204030204" pitchFamily="34" charset="0"/>
                <a:sym typeface="Calibri"/>
              </a:rPr>
              <a:t>fails to raise the level of cortisol</a:t>
            </a:r>
            <a:r>
              <a:rPr lang="en-US" sz="4400" dirty="0">
                <a:latin typeface="Calibri" panose="020F0502020204030204" pitchFamily="34" charset="0"/>
                <a:ea typeface="Calibri"/>
                <a:cs typeface="Calibri" panose="020F0502020204030204" pitchFamily="34" charset="0"/>
                <a:sym typeface="Calibri"/>
              </a:rPr>
              <a:t> by a specific amount in either 30 or 60 minutes.</a:t>
            </a:r>
            <a:endParaRPr sz="4400" dirty="0">
              <a:latin typeface="Calibri" panose="020F0502020204030204" pitchFamily="34" charset="0"/>
              <a:cs typeface="Calibri" panose="020F0502020204030204" pitchFamily="34" charset="0"/>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7"/>
          <p:cNvSpPr txBox="1">
            <a:spLocks noGrp="1"/>
          </p:cNvSpPr>
          <p:nvPr>
            <p:ph type="title"/>
          </p:nvPr>
        </p:nvSpPr>
        <p:spPr>
          <a:xfrm>
            <a:off x="323850" y="228600"/>
            <a:ext cx="12503150" cy="1219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500">
                <a:latin typeface="Arial"/>
                <a:ea typeface="Arial"/>
                <a:cs typeface="Arial"/>
                <a:sym typeface="Arial"/>
              </a:rPr>
              <a:t>Differential Dx of Adrenal Insufficiency</a:t>
            </a:r>
            <a:endParaRPr sz="5500"/>
          </a:p>
        </p:txBody>
      </p:sp>
      <p:sp>
        <p:nvSpPr>
          <p:cNvPr id="242" name="Google Shape;242;p27"/>
          <p:cNvSpPr txBox="1">
            <a:spLocks noGrp="1"/>
          </p:cNvSpPr>
          <p:nvPr>
            <p:ph type="body" idx="1"/>
          </p:nvPr>
        </p:nvSpPr>
        <p:spPr>
          <a:xfrm>
            <a:off x="323850" y="1752600"/>
            <a:ext cx="12245975" cy="7724775"/>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520"/>
              <a:buFont typeface="Calibri"/>
              <a:buChar char="•"/>
            </a:pPr>
            <a:r>
              <a:rPr lang="en-US" sz="4400" b="1" i="1" dirty="0">
                <a:latin typeface="Calibri"/>
                <a:ea typeface="Calibri"/>
                <a:cs typeface="Calibri"/>
                <a:sym typeface="Calibri"/>
              </a:rPr>
              <a:t>GI disease </a:t>
            </a:r>
            <a:r>
              <a:rPr lang="en-US" sz="4400" dirty="0">
                <a:latin typeface="Calibri"/>
                <a:ea typeface="Calibri"/>
                <a:cs typeface="Calibri"/>
                <a:sym typeface="Calibri"/>
              </a:rPr>
              <a:t>that may cause N/V/D, anorexia and weight loss</a:t>
            </a:r>
            <a:endParaRPr dirty="0"/>
          </a:p>
          <a:p>
            <a:pPr marL="381000" lvl="0" indent="-381000" algn="l" rtl="0">
              <a:spcBef>
                <a:spcPts val="1200"/>
              </a:spcBef>
              <a:spcAft>
                <a:spcPts val="0"/>
              </a:spcAft>
              <a:buClr>
                <a:srgbClr val="000000"/>
              </a:buClr>
              <a:buSzPts val="3520"/>
              <a:buFont typeface="Calibri"/>
              <a:buChar char="•"/>
            </a:pPr>
            <a:r>
              <a:rPr lang="en-US" sz="4400" b="1" i="1" dirty="0">
                <a:latin typeface="Calibri"/>
                <a:ea typeface="Calibri"/>
                <a:cs typeface="Calibri"/>
                <a:sym typeface="Calibri"/>
              </a:rPr>
              <a:t>HIV/ AIDS</a:t>
            </a:r>
            <a:r>
              <a:rPr lang="en-US" sz="4400" dirty="0">
                <a:latin typeface="Calibri"/>
                <a:ea typeface="Calibri"/>
                <a:cs typeface="Calibri"/>
                <a:sym typeface="Calibri"/>
              </a:rPr>
              <a:t>: may cause adrenal insufficiency as well</a:t>
            </a:r>
            <a:endParaRPr dirty="0"/>
          </a:p>
          <a:p>
            <a:pPr marL="381000" lvl="0" indent="-381000" algn="l" rtl="0">
              <a:spcBef>
                <a:spcPts val="1200"/>
              </a:spcBef>
              <a:spcAft>
                <a:spcPts val="0"/>
              </a:spcAft>
              <a:buClr>
                <a:srgbClr val="000000"/>
              </a:buClr>
              <a:buSzPts val="3520"/>
              <a:buFont typeface="Calibri"/>
              <a:buChar char="•"/>
            </a:pPr>
            <a:r>
              <a:rPr lang="en-US" sz="4400" b="1" i="1" dirty="0" err="1">
                <a:latin typeface="Calibri"/>
                <a:ea typeface="Calibri"/>
                <a:cs typeface="Calibri"/>
                <a:sym typeface="Calibri"/>
              </a:rPr>
              <a:t>Hemachromatosis</a:t>
            </a:r>
            <a:r>
              <a:rPr lang="en-US" sz="4400" dirty="0">
                <a:latin typeface="Calibri"/>
                <a:ea typeface="Calibri"/>
                <a:cs typeface="Calibri"/>
                <a:sym typeface="Calibri"/>
              </a:rPr>
              <a:t>: causes skin color changes (may also cause adrenal insufficiency)</a:t>
            </a:r>
            <a:endParaRPr dirty="0"/>
          </a:p>
          <a:p>
            <a:pPr marL="381000" lvl="0" indent="-381000" algn="l" rtl="0">
              <a:spcBef>
                <a:spcPts val="1200"/>
              </a:spcBef>
              <a:spcAft>
                <a:spcPts val="0"/>
              </a:spcAft>
              <a:buClr>
                <a:srgbClr val="000000"/>
              </a:buClr>
              <a:buSzPts val="3520"/>
              <a:buFont typeface="Calibri"/>
              <a:buChar char="•"/>
            </a:pPr>
            <a:r>
              <a:rPr lang="en-US" sz="4400" b="1" i="1" dirty="0">
                <a:latin typeface="Calibri"/>
                <a:ea typeface="Calibri"/>
                <a:cs typeface="Calibri"/>
                <a:sym typeface="Calibri"/>
              </a:rPr>
              <a:t>Occult malignancy</a:t>
            </a:r>
            <a:endParaRPr b="1" i="1" dirty="0"/>
          </a:p>
          <a:p>
            <a:pPr marL="381000" lvl="0" indent="-381000" algn="l" rtl="0">
              <a:spcBef>
                <a:spcPts val="1200"/>
              </a:spcBef>
              <a:spcAft>
                <a:spcPts val="0"/>
              </a:spcAft>
              <a:buClr>
                <a:srgbClr val="000000"/>
              </a:buClr>
              <a:buSzPts val="3520"/>
              <a:buFont typeface="Calibri"/>
              <a:buChar char="•"/>
            </a:pPr>
            <a:r>
              <a:rPr lang="en-US" sz="4400" b="1" i="1" dirty="0">
                <a:latin typeface="Calibri"/>
                <a:ea typeface="Calibri"/>
                <a:cs typeface="Calibri"/>
                <a:sym typeface="Calibri"/>
              </a:rPr>
              <a:t>Anorexia nervosa</a:t>
            </a:r>
            <a:endParaRPr sz="4400" b="1" i="1" dirty="0">
              <a:latin typeface="Calibri"/>
              <a:ea typeface="Calibri"/>
              <a:cs typeface="Calibri"/>
              <a:sym typeface="Calibri"/>
            </a:endParaRPr>
          </a:p>
          <a:p>
            <a:pPr marL="381000" lvl="0" indent="0" algn="l" rtl="0">
              <a:spcBef>
                <a:spcPts val="1200"/>
              </a:spcBef>
              <a:spcAft>
                <a:spcPts val="0"/>
              </a:spcAft>
              <a:buNone/>
            </a:pPr>
            <a:endParaRPr sz="4400" dirty="0">
              <a:latin typeface="Calibri"/>
              <a:ea typeface="Calibri"/>
              <a:cs typeface="Calibri"/>
              <a:sym typeface="Calibri"/>
            </a:endParaRPr>
          </a:p>
          <a:p>
            <a:pPr marL="381000" lvl="0" indent="-381000" algn="l" rtl="0">
              <a:spcBef>
                <a:spcPts val="1200"/>
              </a:spcBef>
              <a:spcAft>
                <a:spcPts val="0"/>
              </a:spcAft>
              <a:buClr>
                <a:srgbClr val="000000"/>
              </a:buClr>
              <a:buSzPts val="3520"/>
              <a:buFont typeface="Calibri"/>
              <a:buChar char="•"/>
            </a:pPr>
            <a:r>
              <a:rPr lang="en-US" sz="4400" dirty="0">
                <a:latin typeface="Calibri"/>
                <a:ea typeface="Calibri"/>
                <a:cs typeface="Calibri"/>
                <a:sym typeface="Calibri"/>
              </a:rPr>
              <a:t>Death by tanning booth </a:t>
            </a:r>
            <a:endParaRPr dirty="0"/>
          </a:p>
        </p:txBody>
      </p:sp>
      <p:pic>
        <p:nvPicPr>
          <p:cNvPr id="243" name="Google Shape;243;p27"/>
          <p:cNvPicPr preferRelativeResize="0"/>
          <p:nvPr/>
        </p:nvPicPr>
        <p:blipFill rotWithShape="1">
          <a:blip r:embed="rId3">
            <a:alphaModFix/>
          </a:blip>
          <a:srcRect/>
          <a:stretch/>
        </p:blipFill>
        <p:spPr>
          <a:xfrm>
            <a:off x="10283525" y="4965475"/>
            <a:ext cx="2543475" cy="4511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8"/>
          <p:cNvSpPr txBox="1">
            <a:spLocks noGrp="1"/>
          </p:cNvSpPr>
          <p:nvPr>
            <p:ph type="title"/>
          </p:nvPr>
        </p:nvSpPr>
        <p:spPr>
          <a:xfrm>
            <a:off x="433388" y="323850"/>
            <a:ext cx="12028487" cy="1409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Adrenal Insufficiency Treatment </a:t>
            </a:r>
            <a:endParaRPr dirty="0">
              <a:solidFill>
                <a:srgbClr val="00B0F0"/>
              </a:solidFill>
            </a:endParaRPr>
          </a:p>
        </p:txBody>
      </p:sp>
      <p:sp>
        <p:nvSpPr>
          <p:cNvPr id="249" name="Google Shape;249;p28"/>
          <p:cNvSpPr txBox="1">
            <a:spLocks noGrp="1"/>
          </p:cNvSpPr>
          <p:nvPr>
            <p:ph type="body" idx="1"/>
          </p:nvPr>
        </p:nvSpPr>
        <p:spPr>
          <a:xfrm>
            <a:off x="323850" y="1949450"/>
            <a:ext cx="12463463" cy="758666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ALL </a:t>
            </a:r>
            <a:r>
              <a:rPr lang="en-US" sz="4500" dirty="0">
                <a:solidFill>
                  <a:schemeClr val="dk1"/>
                </a:solidFill>
                <a:latin typeface="Calibri"/>
                <a:ea typeface="Calibri"/>
                <a:cs typeface="Calibri"/>
                <a:sym typeface="Calibri"/>
              </a:rPr>
              <a:t>patients </a:t>
            </a:r>
            <a:r>
              <a:rPr lang="en-US" sz="4500" dirty="0">
                <a:latin typeface="Calibri"/>
                <a:ea typeface="Calibri"/>
                <a:cs typeface="Calibri"/>
                <a:sym typeface="Calibri"/>
              </a:rPr>
              <a:t>with adrenal insufficiency MUST wear medic alert jewelry and consider emergent IM hydrocortisone injection kits.</a:t>
            </a:r>
            <a:endParaRPr dirty="0"/>
          </a:p>
          <a:p>
            <a:pPr marL="292100" lvl="0" indent="-6350"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0" lvl="0" indent="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Patients will require </a:t>
            </a:r>
            <a:r>
              <a:rPr lang="en-US" sz="4500" b="1" i="1" dirty="0">
                <a:latin typeface="Calibri"/>
                <a:ea typeface="Calibri"/>
                <a:cs typeface="Calibri"/>
                <a:sym typeface="Calibri"/>
              </a:rPr>
              <a:t>lifelong treatment with both glucocorticoid and mineralocorticoid</a:t>
            </a:r>
            <a:r>
              <a:rPr lang="en-US" sz="4500" dirty="0">
                <a:latin typeface="Calibri"/>
                <a:ea typeface="Calibri"/>
                <a:cs typeface="Calibri"/>
                <a:sym typeface="Calibri"/>
              </a:rPr>
              <a:t>.</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Unfortunately, most patients receive too much glucocorticoid and too little mineralocorticoid.</a:t>
            </a:r>
            <a:endParaRPr dirty="0"/>
          </a:p>
        </p:txBody>
      </p:sp>
      <p:pic>
        <p:nvPicPr>
          <p:cNvPr id="250" name="Google Shape;250;p28"/>
          <p:cNvPicPr preferRelativeResize="0"/>
          <p:nvPr/>
        </p:nvPicPr>
        <p:blipFill rotWithShape="1">
          <a:blip r:embed="rId3">
            <a:alphaModFix/>
          </a:blip>
          <a:srcRect/>
          <a:stretch/>
        </p:blipFill>
        <p:spPr>
          <a:xfrm>
            <a:off x="8499475" y="3581400"/>
            <a:ext cx="3962400" cy="1981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9"/>
          <p:cNvSpPr txBox="1">
            <a:spLocks noGrp="1"/>
          </p:cNvSpPr>
          <p:nvPr>
            <p:ph type="title"/>
          </p:nvPr>
        </p:nvSpPr>
        <p:spPr>
          <a:xfrm>
            <a:off x="650081" y="0"/>
            <a:ext cx="11704637" cy="1507067"/>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Calibri"/>
                <a:ea typeface="Calibri"/>
                <a:cs typeface="Calibri"/>
                <a:sym typeface="Calibri"/>
              </a:rPr>
              <a:t>Adrenal Insufficiency Treatment </a:t>
            </a:r>
            <a:endParaRPr dirty="0">
              <a:solidFill>
                <a:srgbClr val="00B0F0"/>
              </a:solidFill>
              <a:latin typeface="Calibri"/>
              <a:ea typeface="Calibri"/>
              <a:cs typeface="Calibri"/>
              <a:sym typeface="Calibri"/>
            </a:endParaRPr>
          </a:p>
        </p:txBody>
      </p:sp>
      <p:sp>
        <p:nvSpPr>
          <p:cNvPr id="256" name="Google Shape;256;p29"/>
          <p:cNvSpPr txBox="1">
            <a:spLocks noGrp="1"/>
          </p:cNvSpPr>
          <p:nvPr>
            <p:ph type="body" idx="1"/>
          </p:nvPr>
        </p:nvSpPr>
        <p:spPr>
          <a:xfrm>
            <a:off x="323850" y="1507067"/>
            <a:ext cx="12463463" cy="8029047"/>
          </a:xfrm>
          <a:prstGeom prst="rect">
            <a:avLst/>
          </a:prstGeom>
          <a:noFill/>
          <a:ln>
            <a:noFill/>
          </a:ln>
        </p:spPr>
        <p:txBody>
          <a:bodyPr spcFirstLastPara="1" wrap="square" lIns="126425" tIns="72225" rIns="126425" bIns="72225" anchor="t" anchorCtr="0">
            <a:noAutofit/>
          </a:bodyPr>
          <a:lstStyle/>
          <a:p>
            <a:pPr marL="914400" lvl="0" indent="-914400" algn="l" rtl="0">
              <a:spcBef>
                <a:spcPts val="600"/>
              </a:spcBef>
              <a:spcAft>
                <a:spcPts val="600"/>
              </a:spcAft>
              <a:buClr>
                <a:srgbClr val="000000"/>
              </a:buClr>
              <a:buSzPts val="4500"/>
              <a:buFont typeface="Helvetica Neue Light"/>
              <a:buAutoNum type="arabicPeriod"/>
            </a:pPr>
            <a:r>
              <a:rPr lang="en-US" sz="4500" b="1" dirty="0">
                <a:latin typeface="Calibri"/>
                <a:ea typeface="Calibri"/>
                <a:cs typeface="Calibri"/>
                <a:sym typeface="Calibri"/>
              </a:rPr>
              <a:t>Hydrocortisone </a:t>
            </a:r>
            <a:r>
              <a:rPr lang="en-US" sz="4500" dirty="0">
                <a:latin typeface="Calibri"/>
                <a:ea typeface="Calibri"/>
                <a:cs typeface="Calibri"/>
                <a:sym typeface="Calibri"/>
              </a:rPr>
              <a:t>(</a:t>
            </a:r>
            <a:r>
              <a:rPr lang="en-US" sz="4500" dirty="0" err="1">
                <a:latin typeface="Calibri"/>
                <a:ea typeface="Calibri"/>
                <a:cs typeface="Calibri"/>
                <a:sym typeface="Calibri"/>
              </a:rPr>
              <a:t>Cortef</a:t>
            </a:r>
            <a:r>
              <a:rPr lang="en-US" sz="4500" dirty="0">
                <a:latin typeface="Calibri"/>
                <a:ea typeface="Calibri"/>
                <a:cs typeface="Calibri"/>
                <a:sym typeface="Calibri"/>
              </a:rPr>
              <a:t>): 15-25 mg daily in two doses: 2/3 in AM, 1/3 in PM to mimic circadian rhythm (most physiologic).</a:t>
            </a:r>
            <a:endParaRPr dirty="0"/>
          </a:p>
          <a:p>
            <a:pPr marL="914400" lvl="0" indent="-819150" algn="l" rtl="0">
              <a:spcBef>
                <a:spcPts val="600"/>
              </a:spcBef>
              <a:spcAft>
                <a:spcPts val="600"/>
              </a:spcAft>
              <a:buClr>
                <a:srgbClr val="000000"/>
              </a:buClr>
              <a:buSzPts val="1500"/>
              <a:buFont typeface="Helvetica Neue Light"/>
              <a:buNone/>
            </a:pPr>
            <a:endParaRPr sz="1500" dirty="0">
              <a:latin typeface="Calibri"/>
              <a:ea typeface="Calibri"/>
              <a:cs typeface="Calibri"/>
              <a:sym typeface="Calibri"/>
            </a:endParaRPr>
          </a:p>
          <a:p>
            <a:pPr marL="428625" lvl="1" indent="-254000" algn="l" rtl="0">
              <a:spcBef>
                <a:spcPts val="600"/>
              </a:spcBef>
              <a:spcAft>
                <a:spcPts val="600"/>
              </a:spcAft>
              <a:buClr>
                <a:srgbClr val="000000"/>
              </a:buClr>
              <a:buSzPts val="4000"/>
              <a:buFont typeface="Arial"/>
              <a:buChar char="–"/>
            </a:pPr>
            <a:r>
              <a:rPr lang="en-US" sz="4000" dirty="0">
                <a:latin typeface="Calibri"/>
                <a:ea typeface="Calibri"/>
                <a:cs typeface="Calibri"/>
                <a:sym typeface="Calibri"/>
              </a:rPr>
              <a:t>The </a:t>
            </a:r>
            <a:r>
              <a:rPr lang="en-US" sz="4000" dirty="0" err="1">
                <a:latin typeface="Calibri"/>
                <a:ea typeface="Calibri"/>
                <a:cs typeface="Calibri"/>
                <a:sym typeface="Calibri"/>
              </a:rPr>
              <a:t>Cortef</a:t>
            </a:r>
            <a:r>
              <a:rPr lang="en-US" sz="4000" dirty="0">
                <a:latin typeface="Calibri"/>
                <a:ea typeface="Calibri"/>
                <a:cs typeface="Calibri"/>
                <a:sym typeface="Calibri"/>
              </a:rPr>
              <a:t> dose is </a:t>
            </a:r>
            <a:r>
              <a:rPr lang="en-US" sz="4000" b="1" i="1" dirty="0">
                <a:latin typeface="Calibri"/>
                <a:ea typeface="Calibri"/>
                <a:cs typeface="Calibri"/>
                <a:sym typeface="Calibri"/>
              </a:rPr>
              <a:t>titrated to the </a:t>
            </a:r>
            <a:r>
              <a:rPr lang="en-US" sz="4000" b="1" i="1" u="sng" dirty="0">
                <a:latin typeface="Calibri"/>
                <a:ea typeface="Calibri"/>
                <a:cs typeface="Calibri"/>
                <a:sym typeface="Calibri"/>
              </a:rPr>
              <a:t>lowest amount</a:t>
            </a:r>
            <a:r>
              <a:rPr lang="en-US" sz="4000" b="1" i="1" dirty="0">
                <a:latin typeface="Calibri"/>
                <a:ea typeface="Calibri"/>
                <a:cs typeface="Calibri"/>
                <a:sym typeface="Calibri"/>
              </a:rPr>
              <a:t> that stops symptoms of joint pain</a:t>
            </a:r>
            <a:r>
              <a:rPr lang="en-US" sz="4000" dirty="0">
                <a:latin typeface="Calibri"/>
                <a:ea typeface="Calibri"/>
                <a:cs typeface="Calibri"/>
                <a:sym typeface="Calibri"/>
              </a:rPr>
              <a:t>.</a:t>
            </a:r>
            <a:endParaRPr dirty="0"/>
          </a:p>
          <a:p>
            <a:pPr marL="428625" lvl="1" indent="-254000" algn="l" rtl="0">
              <a:spcBef>
                <a:spcPts val="600"/>
              </a:spcBef>
              <a:spcAft>
                <a:spcPts val="600"/>
              </a:spcAft>
              <a:buClr>
                <a:srgbClr val="000000"/>
              </a:buClr>
              <a:buSzPts val="4000"/>
              <a:buFont typeface="Arial"/>
              <a:buChar char="–"/>
            </a:pPr>
            <a:r>
              <a:rPr lang="en-US" sz="4000" dirty="0">
                <a:latin typeface="Calibri"/>
                <a:ea typeface="Calibri"/>
                <a:cs typeface="Calibri"/>
                <a:sym typeface="Calibri"/>
              </a:rPr>
              <a:t>Thin patients may need less, and obese patients may need more.</a:t>
            </a:r>
            <a:endParaRPr dirty="0"/>
          </a:p>
          <a:p>
            <a:pPr marL="428625" lvl="1" indent="-254000" algn="l" rtl="0">
              <a:spcBef>
                <a:spcPts val="600"/>
              </a:spcBef>
              <a:spcAft>
                <a:spcPts val="600"/>
              </a:spcAft>
              <a:buClr>
                <a:srgbClr val="000000"/>
              </a:buClr>
              <a:buSzPts val="4000"/>
              <a:buFont typeface="Arial"/>
              <a:buChar char="–"/>
            </a:pPr>
            <a:r>
              <a:rPr lang="en-US" sz="4000" b="1" i="1" dirty="0">
                <a:latin typeface="Calibri"/>
                <a:ea typeface="Calibri"/>
                <a:cs typeface="Calibri"/>
                <a:sym typeface="Calibri"/>
              </a:rPr>
              <a:t> Medications that induce cytochrome P450 will reduce serum </a:t>
            </a:r>
            <a:r>
              <a:rPr lang="en-US" sz="4000" b="1" i="1" dirty="0" err="1">
                <a:latin typeface="Calibri"/>
                <a:ea typeface="Calibri"/>
                <a:cs typeface="Calibri"/>
                <a:sym typeface="Calibri"/>
              </a:rPr>
              <a:t>Cortef</a:t>
            </a:r>
            <a:r>
              <a:rPr lang="en-US" sz="4000" b="1" i="1" dirty="0">
                <a:latin typeface="Calibri"/>
                <a:ea typeface="Calibri"/>
                <a:cs typeface="Calibri"/>
                <a:sym typeface="Calibri"/>
              </a:rPr>
              <a:t> concentrations</a:t>
            </a:r>
            <a:r>
              <a:rPr lang="en-US" sz="4000" dirty="0">
                <a:latin typeface="Calibri"/>
                <a:ea typeface="Calibri"/>
                <a:cs typeface="Calibri"/>
                <a:sym typeface="Calibri"/>
              </a:rPr>
              <a:t>; whereas liver disease will result in higher serum </a:t>
            </a:r>
            <a:r>
              <a:rPr lang="en-US" sz="4000" dirty="0" err="1">
                <a:latin typeface="Calibri"/>
                <a:ea typeface="Calibri"/>
                <a:cs typeface="Calibri"/>
                <a:sym typeface="Calibri"/>
              </a:rPr>
              <a:t>Cortef</a:t>
            </a:r>
            <a:r>
              <a:rPr lang="en-US" sz="4000" dirty="0">
                <a:latin typeface="Calibri"/>
                <a:ea typeface="Calibri"/>
                <a:cs typeface="Calibri"/>
                <a:sym typeface="Calibri"/>
              </a:rPr>
              <a:t> levels due to decreased clearance.</a:t>
            </a:r>
            <a:endParaRPr dirty="0"/>
          </a:p>
          <a:p>
            <a:pPr marL="428625" lvl="1" indent="-200025" algn="l" rtl="0">
              <a:spcBef>
                <a:spcPts val="1200"/>
              </a:spcBef>
              <a:spcAft>
                <a:spcPts val="0"/>
              </a:spcAft>
              <a:buClr>
                <a:srgbClr val="000000"/>
              </a:buClr>
              <a:buSzPts val="3900"/>
              <a:buFont typeface="Helvetica Neue Light"/>
              <a:buNone/>
            </a:pPr>
            <a:endParaRPr sz="3900" b="1" dirty="0">
              <a:latin typeface="Arial"/>
              <a:ea typeface="Arial"/>
              <a:cs typeface="Arial"/>
              <a:sym typeface="Arial"/>
            </a:endParaRPr>
          </a:p>
          <a:p>
            <a:pPr marL="428625" lvl="1" indent="-200025" algn="l" rtl="0">
              <a:spcBef>
                <a:spcPts val="600"/>
              </a:spcBef>
              <a:spcAft>
                <a:spcPts val="0"/>
              </a:spcAft>
              <a:buClr>
                <a:srgbClr val="000000"/>
              </a:buClr>
              <a:buSzPts val="3900"/>
              <a:buFont typeface="Helvetica Neue Light"/>
              <a:buNone/>
            </a:pPr>
            <a:endParaRPr sz="3900" dirty="0">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0"/>
          <p:cNvSpPr txBox="1">
            <a:spLocks noGrp="1"/>
          </p:cNvSpPr>
          <p:nvPr>
            <p:ph type="title"/>
          </p:nvPr>
        </p:nvSpPr>
        <p:spPr>
          <a:xfrm>
            <a:off x="650875" y="0"/>
            <a:ext cx="11703050" cy="13716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7000">
                <a:latin typeface="Calibri"/>
                <a:ea typeface="Calibri"/>
                <a:cs typeface="Calibri"/>
                <a:sym typeface="Calibri"/>
              </a:rPr>
              <a:t>Cytochrome P450- </a:t>
            </a:r>
            <a:r>
              <a:rPr lang="en-US" sz="7200">
                <a:solidFill>
                  <a:srgbClr val="00B050"/>
                </a:solidFill>
                <a:latin typeface="Calibri"/>
                <a:ea typeface="Calibri"/>
                <a:cs typeface="Calibri"/>
                <a:sym typeface="Calibri"/>
              </a:rPr>
              <a:t>Inducers</a:t>
            </a:r>
            <a:endParaRPr sz="7000">
              <a:latin typeface="Calibri"/>
              <a:ea typeface="Calibri"/>
              <a:cs typeface="Calibri"/>
              <a:sym typeface="Calibri"/>
            </a:endParaRPr>
          </a:p>
        </p:txBody>
      </p:sp>
      <p:sp>
        <p:nvSpPr>
          <p:cNvPr id="262" name="Google Shape;262;p30"/>
          <p:cNvSpPr txBox="1">
            <a:spLocks noGrp="1"/>
          </p:cNvSpPr>
          <p:nvPr>
            <p:ph type="body" idx="2"/>
          </p:nvPr>
        </p:nvSpPr>
        <p:spPr>
          <a:xfrm>
            <a:off x="177801" y="1371600"/>
            <a:ext cx="12496799" cy="8077200"/>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chemeClr val="dk1"/>
              </a:buClr>
              <a:buSzPts val="3200"/>
              <a:buFont typeface="Calibri"/>
              <a:buChar char="•"/>
            </a:pPr>
            <a:r>
              <a:rPr lang="en-US" sz="4000" dirty="0">
                <a:solidFill>
                  <a:schemeClr val="dk1"/>
                </a:solidFill>
                <a:latin typeface="Calibri"/>
                <a:ea typeface="Calibri"/>
                <a:cs typeface="Calibri"/>
                <a:sym typeface="Calibri"/>
              </a:rPr>
              <a:t>Recall that when drug A </a:t>
            </a:r>
            <a:r>
              <a:rPr lang="en-US" sz="4000" b="1" dirty="0">
                <a:solidFill>
                  <a:srgbClr val="00B050"/>
                </a:solidFill>
                <a:latin typeface="Calibri"/>
                <a:ea typeface="Calibri"/>
                <a:cs typeface="Calibri"/>
                <a:sym typeface="Calibri"/>
              </a:rPr>
              <a:t>INDUCES </a:t>
            </a:r>
            <a:r>
              <a:rPr lang="en-US" sz="4000" dirty="0">
                <a:solidFill>
                  <a:schemeClr val="dk1"/>
                </a:solidFill>
                <a:latin typeface="Calibri"/>
                <a:ea typeface="Calibri"/>
                <a:cs typeface="Calibri"/>
                <a:sym typeface="Calibri"/>
              </a:rPr>
              <a:t>the metabolism of drug B (</a:t>
            </a:r>
            <a:r>
              <a:rPr lang="en-US" sz="4000" dirty="0" err="1">
                <a:solidFill>
                  <a:schemeClr val="dk1"/>
                </a:solidFill>
                <a:latin typeface="Calibri"/>
                <a:ea typeface="Calibri"/>
                <a:cs typeface="Calibri"/>
                <a:sym typeface="Calibri"/>
              </a:rPr>
              <a:t>Cortef</a:t>
            </a:r>
            <a:r>
              <a:rPr lang="en-US" sz="4000" dirty="0">
                <a:solidFill>
                  <a:schemeClr val="dk1"/>
                </a:solidFill>
                <a:latin typeface="Calibri"/>
                <a:ea typeface="Calibri"/>
                <a:cs typeface="Calibri"/>
                <a:sym typeface="Calibri"/>
              </a:rPr>
              <a:t>), a higher dose of drug B must be given because the liver will metabolize and excrete drug B more rapidly and its’ clinical effect will be </a:t>
            </a:r>
            <a:r>
              <a:rPr lang="en-US" sz="4000" b="1" dirty="0">
                <a:solidFill>
                  <a:schemeClr val="dk1"/>
                </a:solidFill>
                <a:latin typeface="Calibri"/>
                <a:ea typeface="Calibri"/>
                <a:cs typeface="Calibri"/>
                <a:sym typeface="Calibri"/>
              </a:rPr>
              <a:t>less</a:t>
            </a:r>
            <a:r>
              <a:rPr lang="en-US" sz="4000" dirty="0">
                <a:solidFill>
                  <a:schemeClr val="dk1"/>
                </a:solidFill>
                <a:latin typeface="Calibri"/>
                <a:ea typeface="Calibri"/>
                <a:cs typeface="Calibri"/>
                <a:sym typeface="Calibri"/>
              </a:rPr>
              <a:t>.</a:t>
            </a:r>
            <a:endParaRPr dirty="0"/>
          </a:p>
          <a:p>
            <a:pPr marL="381000" lvl="0" indent="-187960" algn="l" rtl="0">
              <a:spcBef>
                <a:spcPts val="1200"/>
              </a:spcBef>
              <a:spcAft>
                <a:spcPts val="0"/>
              </a:spcAft>
              <a:buClr>
                <a:srgbClr val="000000"/>
              </a:buClr>
              <a:buSzPts val="3040"/>
              <a:buFont typeface="Helvetica Neue Light"/>
              <a:buNone/>
            </a:pPr>
            <a:endParaRPr sz="3800" dirty="0">
              <a:solidFill>
                <a:schemeClr val="dk1"/>
              </a:solidFill>
              <a:latin typeface="Calibri"/>
              <a:ea typeface="Calibri"/>
              <a:cs typeface="Calibri"/>
              <a:sym typeface="Calibri"/>
            </a:endParaRPr>
          </a:p>
          <a:p>
            <a:pPr marL="381000" lvl="0" indent="-381000" algn="l" rtl="0">
              <a:spcBef>
                <a:spcPts val="1200"/>
              </a:spcBef>
              <a:spcAft>
                <a:spcPts val="0"/>
              </a:spcAft>
              <a:buClr>
                <a:srgbClr val="00B050"/>
              </a:buClr>
              <a:buSzPts val="3040"/>
              <a:buFont typeface="Calibri"/>
              <a:buChar char="•"/>
            </a:pPr>
            <a:r>
              <a:rPr lang="en-US" sz="3800" b="1" dirty="0">
                <a:solidFill>
                  <a:srgbClr val="00B050"/>
                </a:solidFill>
                <a:latin typeface="Calibri"/>
                <a:ea typeface="Calibri"/>
                <a:cs typeface="Calibri"/>
                <a:sym typeface="Calibri"/>
              </a:rPr>
              <a:t>AEDs</a:t>
            </a:r>
            <a:r>
              <a:rPr lang="en-US" sz="3800" dirty="0">
                <a:latin typeface="Calibri"/>
                <a:ea typeface="Calibri"/>
                <a:cs typeface="Calibri"/>
                <a:sym typeface="Calibri"/>
              </a:rPr>
              <a:t>: carbamazepine, </a:t>
            </a:r>
            <a:r>
              <a:rPr lang="en-US" sz="3800" dirty="0" err="1">
                <a:latin typeface="Calibri"/>
                <a:ea typeface="Calibri"/>
                <a:cs typeface="Calibri"/>
                <a:sym typeface="Calibri"/>
              </a:rPr>
              <a:t>fosphenytoin</a:t>
            </a:r>
            <a:r>
              <a:rPr lang="en-US" sz="3800" dirty="0">
                <a:latin typeface="Calibri"/>
                <a:ea typeface="Calibri"/>
                <a:cs typeface="Calibri"/>
                <a:sym typeface="Calibri"/>
              </a:rPr>
              <a:t>, phenytoin, primidone</a:t>
            </a:r>
            <a:endParaRPr dirty="0"/>
          </a:p>
          <a:p>
            <a:pPr marL="381000" lvl="0" indent="-381000" algn="l" rtl="0">
              <a:spcBef>
                <a:spcPts val="1200"/>
              </a:spcBef>
              <a:spcAft>
                <a:spcPts val="0"/>
              </a:spcAft>
              <a:buClr>
                <a:srgbClr val="00B050"/>
              </a:buClr>
              <a:buSzPts val="3040"/>
              <a:buFont typeface="Calibri"/>
              <a:buChar char="•"/>
            </a:pPr>
            <a:r>
              <a:rPr lang="en-US" sz="3800" b="1" dirty="0">
                <a:solidFill>
                  <a:srgbClr val="00B050"/>
                </a:solidFill>
                <a:latin typeface="Calibri"/>
                <a:ea typeface="Calibri"/>
                <a:cs typeface="Calibri"/>
                <a:sym typeface="Calibri"/>
              </a:rPr>
              <a:t>Antibiotics active against mycobacteria </a:t>
            </a:r>
            <a:r>
              <a:rPr lang="en-US" sz="3800" dirty="0">
                <a:latin typeface="Calibri"/>
                <a:ea typeface="Calibri"/>
                <a:cs typeface="Calibri"/>
                <a:sym typeface="Calibri"/>
              </a:rPr>
              <a:t>(TB, MAC): rifampin </a:t>
            </a:r>
          </a:p>
          <a:p>
            <a:pPr marL="381000" lvl="0" indent="-381000" algn="l" rtl="0">
              <a:spcBef>
                <a:spcPts val="1200"/>
              </a:spcBef>
              <a:spcAft>
                <a:spcPts val="0"/>
              </a:spcAft>
              <a:buClr>
                <a:srgbClr val="00B050"/>
              </a:buClr>
              <a:buSzPts val="3040"/>
              <a:buFont typeface="Calibri"/>
              <a:buChar char="•"/>
            </a:pPr>
            <a:r>
              <a:rPr lang="en-US" sz="3800" b="1" dirty="0">
                <a:solidFill>
                  <a:srgbClr val="00B050"/>
                </a:solidFill>
                <a:latin typeface="Calibri"/>
                <a:ea typeface="Calibri"/>
                <a:cs typeface="Calibri"/>
                <a:sym typeface="Calibri"/>
              </a:rPr>
              <a:t>St. John’s wort</a:t>
            </a:r>
            <a:endParaRPr dirty="0"/>
          </a:p>
          <a:p>
            <a:pPr marL="381000" lvl="0" indent="-381000" algn="l" rtl="0">
              <a:spcBef>
                <a:spcPts val="1200"/>
              </a:spcBef>
              <a:spcAft>
                <a:spcPts val="0"/>
              </a:spcAft>
              <a:buClr>
                <a:srgbClr val="00B050"/>
              </a:buClr>
              <a:buSzPts val="3040"/>
              <a:buFont typeface="Calibri"/>
              <a:buChar char="•"/>
            </a:pPr>
            <a:r>
              <a:rPr lang="en-US" sz="3800" b="1" dirty="0">
                <a:solidFill>
                  <a:srgbClr val="00B050"/>
                </a:solidFill>
                <a:latin typeface="Calibri"/>
                <a:ea typeface="Calibri"/>
                <a:cs typeface="Calibri"/>
                <a:sym typeface="Calibri"/>
              </a:rPr>
              <a:t>Estrogen/progesterone</a:t>
            </a:r>
            <a:endParaRPr dirty="0"/>
          </a:p>
          <a:p>
            <a:pPr marL="381000" lvl="0" indent="-381000" algn="l" rtl="0">
              <a:spcBef>
                <a:spcPts val="1200"/>
              </a:spcBef>
              <a:spcAft>
                <a:spcPts val="0"/>
              </a:spcAft>
              <a:buClr>
                <a:srgbClr val="00B050"/>
              </a:buClr>
              <a:buSzPts val="3040"/>
              <a:buFont typeface="Calibri"/>
              <a:buChar char="•"/>
            </a:pPr>
            <a:r>
              <a:rPr lang="en-US" sz="3800" b="1" dirty="0">
                <a:solidFill>
                  <a:srgbClr val="00B050"/>
                </a:solidFill>
                <a:latin typeface="Calibri"/>
                <a:ea typeface="Calibri"/>
                <a:cs typeface="Calibri"/>
                <a:sym typeface="Calibri"/>
              </a:rPr>
              <a:t>Steroids</a:t>
            </a:r>
            <a:r>
              <a:rPr lang="en-US" sz="3800" b="1" dirty="0">
                <a:latin typeface="Calibri"/>
                <a:ea typeface="Calibri"/>
                <a:cs typeface="Calibri"/>
                <a:sym typeface="Calibri"/>
              </a:rPr>
              <a:t>: </a:t>
            </a:r>
            <a:r>
              <a:rPr lang="en-US" sz="3800" dirty="0">
                <a:latin typeface="Calibri"/>
                <a:ea typeface="Calibri"/>
                <a:cs typeface="Calibri"/>
                <a:sym typeface="Calibri"/>
              </a:rPr>
              <a:t>Dexamethasone, </a:t>
            </a:r>
            <a:r>
              <a:rPr lang="en-US" sz="3800" dirty="0" err="1">
                <a:latin typeface="Calibri"/>
                <a:ea typeface="Calibri"/>
                <a:cs typeface="Calibri"/>
                <a:sym typeface="Calibri"/>
              </a:rPr>
              <a:t>megace</a:t>
            </a:r>
            <a:r>
              <a:rPr lang="en-US" sz="3800" dirty="0">
                <a:latin typeface="Calibri"/>
                <a:ea typeface="Calibri"/>
                <a:cs typeface="Calibri"/>
                <a:sym typeface="Calibri"/>
              </a:rPr>
              <a:t>, prednisone</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1"/>
          <p:cNvSpPr txBox="1">
            <a:spLocks noGrp="1"/>
          </p:cNvSpPr>
          <p:nvPr>
            <p:ph type="title"/>
          </p:nvPr>
        </p:nvSpPr>
        <p:spPr>
          <a:xfrm>
            <a:off x="650875" y="0"/>
            <a:ext cx="11703050" cy="17526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7000">
                <a:latin typeface="Calibri"/>
                <a:ea typeface="Calibri"/>
                <a:cs typeface="Calibri"/>
                <a:sym typeface="Calibri"/>
              </a:rPr>
              <a:t>Cytochrome P450- </a:t>
            </a:r>
            <a:r>
              <a:rPr lang="en-US" sz="7200">
                <a:solidFill>
                  <a:srgbClr val="FF0000"/>
                </a:solidFill>
                <a:latin typeface="Calibri"/>
                <a:ea typeface="Calibri"/>
                <a:cs typeface="Calibri"/>
                <a:sym typeface="Calibri"/>
              </a:rPr>
              <a:t>Inhibitors</a:t>
            </a:r>
            <a:endParaRPr sz="7000">
              <a:latin typeface="Calibri"/>
              <a:ea typeface="Calibri"/>
              <a:cs typeface="Calibri"/>
              <a:sym typeface="Calibri"/>
            </a:endParaRPr>
          </a:p>
        </p:txBody>
      </p:sp>
      <p:sp>
        <p:nvSpPr>
          <p:cNvPr id="268" name="Google Shape;268;p31"/>
          <p:cNvSpPr txBox="1">
            <a:spLocks noGrp="1"/>
          </p:cNvSpPr>
          <p:nvPr>
            <p:ph type="body" idx="4"/>
          </p:nvPr>
        </p:nvSpPr>
        <p:spPr>
          <a:xfrm>
            <a:off x="254000" y="1447800"/>
            <a:ext cx="12573000" cy="8001000"/>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chemeClr val="dk1"/>
              </a:buClr>
              <a:buSzPts val="3200"/>
              <a:buFont typeface="Calibri"/>
              <a:buChar char="•"/>
            </a:pPr>
            <a:r>
              <a:rPr lang="en-US" sz="4000" dirty="0">
                <a:solidFill>
                  <a:schemeClr val="dk1"/>
                </a:solidFill>
                <a:latin typeface="Calibri"/>
                <a:ea typeface="Calibri"/>
                <a:cs typeface="Calibri"/>
                <a:sym typeface="Calibri"/>
              </a:rPr>
              <a:t>When drug A </a:t>
            </a:r>
            <a:r>
              <a:rPr lang="en-US" sz="4000" b="1" dirty="0">
                <a:solidFill>
                  <a:srgbClr val="FF0000"/>
                </a:solidFill>
                <a:latin typeface="Calibri"/>
                <a:ea typeface="Calibri"/>
                <a:cs typeface="Calibri"/>
                <a:sym typeface="Calibri"/>
              </a:rPr>
              <a:t>INHIBITS</a:t>
            </a:r>
            <a:r>
              <a:rPr lang="en-US" sz="4000" b="1" dirty="0">
                <a:solidFill>
                  <a:srgbClr val="00B050"/>
                </a:solidFill>
                <a:latin typeface="Calibri"/>
                <a:ea typeface="Calibri"/>
                <a:cs typeface="Calibri"/>
                <a:sym typeface="Calibri"/>
              </a:rPr>
              <a:t> </a:t>
            </a:r>
            <a:r>
              <a:rPr lang="en-US" sz="4000" dirty="0">
                <a:solidFill>
                  <a:schemeClr val="dk1"/>
                </a:solidFill>
                <a:latin typeface="Calibri"/>
                <a:ea typeface="Calibri"/>
                <a:cs typeface="Calibri"/>
                <a:sym typeface="Calibri"/>
              </a:rPr>
              <a:t>the metabolism of drug B (</a:t>
            </a:r>
            <a:r>
              <a:rPr lang="en-US" sz="4000" dirty="0" err="1">
                <a:solidFill>
                  <a:schemeClr val="dk1"/>
                </a:solidFill>
                <a:latin typeface="Calibri"/>
                <a:ea typeface="Calibri"/>
                <a:cs typeface="Calibri"/>
                <a:sym typeface="Calibri"/>
              </a:rPr>
              <a:t>Cortef</a:t>
            </a:r>
            <a:r>
              <a:rPr lang="en-US" sz="4000" dirty="0">
                <a:solidFill>
                  <a:schemeClr val="dk1"/>
                </a:solidFill>
                <a:latin typeface="Calibri"/>
                <a:ea typeface="Calibri"/>
                <a:cs typeface="Calibri"/>
                <a:sym typeface="Calibri"/>
              </a:rPr>
              <a:t>), a lower dose of drug B must be given because the liver will metabolize and excrete drug B more slowly, </a:t>
            </a:r>
            <a:r>
              <a:rPr lang="en-US" sz="4000" b="1" dirty="0">
                <a:solidFill>
                  <a:schemeClr val="dk1"/>
                </a:solidFill>
                <a:latin typeface="Calibri"/>
                <a:ea typeface="Calibri"/>
                <a:cs typeface="Calibri"/>
                <a:sym typeface="Calibri"/>
              </a:rPr>
              <a:t>magnifying its’ clinical effect </a:t>
            </a:r>
            <a:r>
              <a:rPr lang="en-US" sz="4000" dirty="0">
                <a:solidFill>
                  <a:schemeClr val="dk1"/>
                </a:solidFill>
                <a:latin typeface="Calibri"/>
                <a:ea typeface="Calibri"/>
                <a:cs typeface="Calibri"/>
                <a:sym typeface="Calibri"/>
              </a:rPr>
              <a:t>and predisposing to the build-up of a high drug level.</a:t>
            </a:r>
            <a:endParaRPr dirty="0"/>
          </a:p>
          <a:p>
            <a:pPr marL="381000" lvl="0" indent="-198120" algn="l" rtl="0">
              <a:spcBef>
                <a:spcPts val="1200"/>
              </a:spcBef>
              <a:spcAft>
                <a:spcPts val="0"/>
              </a:spcAft>
              <a:buClr>
                <a:srgbClr val="000000"/>
              </a:buClr>
              <a:buSzPts val="2880"/>
              <a:buFont typeface="Helvetica Neue Light"/>
              <a:buNone/>
            </a:pPr>
            <a:endParaRPr sz="3600" dirty="0">
              <a:solidFill>
                <a:schemeClr val="dk1"/>
              </a:solidFill>
              <a:latin typeface="Calibri"/>
              <a:ea typeface="Calibri"/>
              <a:cs typeface="Calibri"/>
              <a:sym typeface="Calibri"/>
            </a:endParaRPr>
          </a:p>
          <a:p>
            <a:pPr marL="381000" lvl="0" indent="-381000" algn="l" rtl="0">
              <a:spcBef>
                <a:spcPts val="1200"/>
              </a:spcBef>
              <a:spcAft>
                <a:spcPts val="0"/>
              </a:spcAft>
              <a:buClr>
                <a:srgbClr val="FF0000"/>
              </a:buClr>
              <a:buSzPts val="3040"/>
              <a:buFont typeface="Calibri"/>
              <a:buChar char="•"/>
            </a:pPr>
            <a:r>
              <a:rPr lang="en-US" sz="3800" b="1" dirty="0">
                <a:solidFill>
                  <a:srgbClr val="FF0000"/>
                </a:solidFill>
                <a:latin typeface="Calibri"/>
                <a:ea typeface="Calibri"/>
                <a:cs typeface="Calibri"/>
                <a:sym typeface="Calibri"/>
              </a:rPr>
              <a:t>Anti-</a:t>
            </a:r>
            <a:r>
              <a:rPr lang="en-US" sz="3800" b="1" dirty="0" err="1">
                <a:solidFill>
                  <a:srgbClr val="FF0000"/>
                </a:solidFill>
                <a:latin typeface="Calibri"/>
                <a:ea typeface="Calibri"/>
                <a:cs typeface="Calibri"/>
                <a:sym typeface="Calibri"/>
              </a:rPr>
              <a:t>retrovirals</a:t>
            </a:r>
            <a:r>
              <a:rPr lang="en-US" sz="3800" dirty="0">
                <a:latin typeface="Calibri"/>
                <a:ea typeface="Calibri"/>
                <a:cs typeface="Calibri"/>
                <a:sym typeface="Calibri"/>
              </a:rPr>
              <a:t>: </a:t>
            </a:r>
            <a:r>
              <a:rPr lang="en-US" sz="3800" dirty="0" err="1">
                <a:latin typeface="Calibri"/>
                <a:ea typeface="Calibri"/>
                <a:cs typeface="Calibri"/>
                <a:sym typeface="Calibri"/>
              </a:rPr>
              <a:t>telapavir</a:t>
            </a:r>
            <a:r>
              <a:rPr lang="en-US" sz="3800" dirty="0">
                <a:latin typeface="Calibri"/>
                <a:ea typeface="Calibri"/>
                <a:cs typeface="Calibri"/>
                <a:sym typeface="Calibri"/>
              </a:rPr>
              <a:t>, </a:t>
            </a:r>
            <a:r>
              <a:rPr lang="en-US" sz="3800" dirty="0" err="1">
                <a:latin typeface="Calibri"/>
                <a:ea typeface="Calibri"/>
                <a:cs typeface="Calibri"/>
                <a:sym typeface="Calibri"/>
              </a:rPr>
              <a:t>bocepavir</a:t>
            </a:r>
            <a:r>
              <a:rPr lang="en-US" sz="3800" dirty="0">
                <a:latin typeface="Calibri"/>
                <a:ea typeface="Calibri"/>
                <a:cs typeface="Calibri"/>
                <a:sym typeface="Calibri"/>
              </a:rPr>
              <a:t>, indinavir </a:t>
            </a:r>
            <a:endParaRPr dirty="0"/>
          </a:p>
          <a:p>
            <a:pPr marL="381000" lvl="0" indent="-381000" algn="l" rtl="0">
              <a:spcBef>
                <a:spcPts val="1200"/>
              </a:spcBef>
              <a:spcAft>
                <a:spcPts val="0"/>
              </a:spcAft>
              <a:buClr>
                <a:srgbClr val="FF0000"/>
              </a:buClr>
              <a:buSzPts val="3040"/>
              <a:buFont typeface="Calibri"/>
              <a:buChar char="•"/>
            </a:pPr>
            <a:r>
              <a:rPr lang="en-US" sz="3800" b="1" dirty="0">
                <a:solidFill>
                  <a:srgbClr val="FF0000"/>
                </a:solidFill>
                <a:latin typeface="Calibri"/>
                <a:ea typeface="Calibri"/>
                <a:cs typeface="Calibri"/>
                <a:sym typeface="Calibri"/>
              </a:rPr>
              <a:t>Azole antifungals</a:t>
            </a:r>
            <a:r>
              <a:rPr lang="en-US" sz="3800" dirty="0">
                <a:latin typeface="Calibri"/>
                <a:ea typeface="Calibri"/>
                <a:cs typeface="Calibri"/>
                <a:sym typeface="Calibri"/>
              </a:rPr>
              <a:t>: ketoconazole, itraconazole, voriconazole</a:t>
            </a:r>
            <a:endParaRPr dirty="0"/>
          </a:p>
          <a:p>
            <a:pPr marL="381000" lvl="0" indent="-381000" algn="l" rtl="0">
              <a:spcBef>
                <a:spcPts val="1200"/>
              </a:spcBef>
              <a:spcAft>
                <a:spcPts val="0"/>
              </a:spcAft>
              <a:buClr>
                <a:srgbClr val="FF0000"/>
              </a:buClr>
              <a:buSzPts val="3040"/>
              <a:buFont typeface="Calibri"/>
              <a:buChar char="•"/>
            </a:pPr>
            <a:r>
              <a:rPr lang="en-US" sz="3800" b="1" dirty="0">
                <a:solidFill>
                  <a:srgbClr val="FF0000"/>
                </a:solidFill>
                <a:latin typeface="Calibri"/>
                <a:ea typeface="Calibri"/>
                <a:cs typeface="Calibri"/>
                <a:sym typeface="Calibri"/>
              </a:rPr>
              <a:t>Macrolide antibiotics</a:t>
            </a:r>
            <a:r>
              <a:rPr lang="en-US" sz="3800" dirty="0">
                <a:latin typeface="Calibri"/>
                <a:ea typeface="Calibri"/>
                <a:cs typeface="Calibri"/>
                <a:sym typeface="Calibri"/>
              </a:rPr>
              <a:t>: clarithromycin, erythromycin, </a:t>
            </a:r>
            <a:endParaRPr dirty="0"/>
          </a:p>
          <a:p>
            <a:pPr marL="381000" lvl="0" indent="-381000" algn="l" rtl="0">
              <a:spcBef>
                <a:spcPts val="1200"/>
              </a:spcBef>
              <a:spcAft>
                <a:spcPts val="0"/>
              </a:spcAft>
              <a:buClr>
                <a:srgbClr val="FF0000"/>
              </a:buClr>
              <a:buSzPts val="3040"/>
              <a:buFont typeface="Calibri"/>
              <a:buChar char="•"/>
            </a:pPr>
            <a:r>
              <a:rPr lang="en-US" sz="3800" b="1" dirty="0" err="1">
                <a:solidFill>
                  <a:srgbClr val="FF0000"/>
                </a:solidFill>
                <a:latin typeface="Calibri"/>
                <a:ea typeface="Calibri"/>
                <a:cs typeface="Calibri"/>
                <a:sym typeface="Calibri"/>
              </a:rPr>
              <a:t>Fluoroquinalone</a:t>
            </a:r>
            <a:r>
              <a:rPr lang="en-US" sz="3800" b="1" dirty="0">
                <a:solidFill>
                  <a:srgbClr val="FF0000"/>
                </a:solidFill>
                <a:latin typeface="Calibri"/>
                <a:ea typeface="Calibri"/>
                <a:cs typeface="Calibri"/>
                <a:sym typeface="Calibri"/>
              </a:rPr>
              <a:t> antibiotics</a:t>
            </a:r>
            <a:r>
              <a:rPr lang="en-US" sz="3800" dirty="0">
                <a:latin typeface="Calibri"/>
                <a:ea typeface="Calibri"/>
                <a:cs typeface="Calibri"/>
                <a:sym typeface="Calibri"/>
              </a:rPr>
              <a:t>: ciprofloxacin, levofloxacin</a:t>
            </a:r>
            <a:endParaRPr dirty="0"/>
          </a:p>
          <a:p>
            <a:pPr marL="381000" lvl="0" indent="-381000" algn="l" rtl="0">
              <a:spcBef>
                <a:spcPts val="1200"/>
              </a:spcBef>
              <a:spcAft>
                <a:spcPts val="0"/>
              </a:spcAft>
              <a:buClr>
                <a:srgbClr val="FF0000"/>
              </a:buClr>
              <a:buSzPts val="3040"/>
              <a:buFont typeface="Calibri"/>
              <a:buChar char="•"/>
            </a:pPr>
            <a:r>
              <a:rPr lang="en-US" sz="3800" b="1" dirty="0">
                <a:solidFill>
                  <a:srgbClr val="FF0000"/>
                </a:solidFill>
                <a:latin typeface="Calibri"/>
                <a:ea typeface="Calibri"/>
                <a:cs typeface="Calibri"/>
                <a:sym typeface="Calibri"/>
              </a:rPr>
              <a:t>CCBs</a:t>
            </a:r>
            <a:r>
              <a:rPr lang="en-US" sz="3800" dirty="0">
                <a:latin typeface="Calibri"/>
                <a:ea typeface="Calibri"/>
                <a:cs typeface="Calibri"/>
                <a:sym typeface="Calibri"/>
              </a:rPr>
              <a:t>: verapamil, diltiazem</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2"/>
          <p:cNvSpPr txBox="1">
            <a:spLocks noGrp="1"/>
          </p:cNvSpPr>
          <p:nvPr>
            <p:ph type="title"/>
          </p:nvPr>
        </p:nvSpPr>
        <p:spPr>
          <a:xfrm>
            <a:off x="650081" y="195897"/>
            <a:ext cx="11704637" cy="1625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Adrenal Insufficiency Treatment </a:t>
            </a:r>
            <a:endParaRPr dirty="0">
              <a:solidFill>
                <a:srgbClr val="00B0F0"/>
              </a:solidFill>
            </a:endParaRPr>
          </a:p>
        </p:txBody>
      </p:sp>
      <p:sp>
        <p:nvSpPr>
          <p:cNvPr id="274" name="Google Shape;274;p32"/>
          <p:cNvSpPr txBox="1">
            <a:spLocks noGrp="1"/>
          </p:cNvSpPr>
          <p:nvPr>
            <p:ph type="body" idx="1"/>
          </p:nvPr>
        </p:nvSpPr>
        <p:spPr>
          <a:xfrm>
            <a:off x="323850" y="1821498"/>
            <a:ext cx="12463463" cy="7714616"/>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2"/>
            </a:pPr>
            <a:r>
              <a:rPr lang="en-US" sz="4400" b="1" dirty="0">
                <a:latin typeface="Calibri" panose="020F0502020204030204" pitchFamily="34" charset="0"/>
                <a:ea typeface="Calibri"/>
                <a:cs typeface="Calibri" panose="020F0502020204030204" pitchFamily="34" charset="0"/>
                <a:sym typeface="Calibri"/>
              </a:rPr>
              <a:t>Fludrocortisone </a:t>
            </a:r>
            <a:r>
              <a:rPr lang="en-US" sz="4400" dirty="0">
                <a:latin typeface="Calibri" panose="020F0502020204030204" pitchFamily="34" charset="0"/>
                <a:ea typeface="Calibri"/>
                <a:cs typeface="Calibri" panose="020F0502020204030204" pitchFamily="34" charset="0"/>
                <a:sym typeface="Calibri"/>
              </a:rPr>
              <a:t>(</a:t>
            </a:r>
            <a:r>
              <a:rPr lang="en-US" sz="4400" dirty="0" err="1">
                <a:latin typeface="Calibri" panose="020F0502020204030204" pitchFamily="34" charset="0"/>
                <a:ea typeface="Calibri"/>
                <a:cs typeface="Calibri" panose="020F0502020204030204" pitchFamily="34" charset="0"/>
                <a:sym typeface="Calibri"/>
              </a:rPr>
              <a:t>Florinef</a:t>
            </a:r>
            <a:r>
              <a:rPr lang="en-US" sz="4400" dirty="0">
                <a:latin typeface="Calibri" panose="020F0502020204030204" pitchFamily="34" charset="0"/>
                <a:ea typeface="Calibri"/>
                <a:cs typeface="Calibri" panose="020F0502020204030204" pitchFamily="34" charset="0"/>
                <a:sym typeface="Calibri"/>
              </a:rPr>
              <a:t>): a potent mineralocorticoid, typically given in doses of 0.05- 0.1 mg daily.  </a:t>
            </a:r>
            <a:endParaRPr sz="4400" dirty="0">
              <a:latin typeface="Calibri" panose="020F0502020204030204" pitchFamily="34" charset="0"/>
              <a:cs typeface="Calibri" panose="020F0502020204030204" pitchFamily="34" charset="0"/>
            </a:endParaRPr>
          </a:p>
          <a:p>
            <a:pPr marL="1524000" lvl="3" indent="-381000" algn="l" rtl="0">
              <a:spcBef>
                <a:spcPts val="700"/>
              </a:spcBef>
              <a:spcAft>
                <a:spcPts val="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No need for mineralocorticoid stress dosing.</a:t>
            </a:r>
            <a:endParaRPr sz="4400" dirty="0">
              <a:latin typeface="Calibri" panose="020F0502020204030204" pitchFamily="34" charset="0"/>
              <a:cs typeface="Calibri" panose="020F0502020204030204" pitchFamily="34" charset="0"/>
            </a:endParaRPr>
          </a:p>
          <a:p>
            <a:pPr marL="1524000" lvl="3" indent="-381000" algn="l" rtl="0">
              <a:spcBef>
                <a:spcPts val="700"/>
              </a:spcBef>
              <a:spcAft>
                <a:spcPts val="0"/>
              </a:spcAft>
              <a:buClr>
                <a:srgbClr val="000000"/>
              </a:buClr>
              <a:buSzPts val="3600"/>
              <a:buFont typeface="Calibri"/>
              <a:buChar char="•"/>
            </a:pPr>
            <a:r>
              <a:rPr lang="en-US" sz="4400" b="1" i="1" dirty="0">
                <a:latin typeface="Calibri" panose="020F0502020204030204" pitchFamily="34" charset="0"/>
                <a:ea typeface="Calibri"/>
                <a:cs typeface="Calibri" panose="020F0502020204030204" pitchFamily="34" charset="0"/>
                <a:sym typeface="Calibri"/>
              </a:rPr>
              <a:t>Dose is titrated to maintain normal BP, Na and K+ levels- no orthostasis!</a:t>
            </a:r>
            <a:endParaRPr sz="4400" b="1" i="1" dirty="0">
              <a:latin typeface="Calibri" panose="020F0502020204030204" pitchFamily="34" charset="0"/>
              <a:ea typeface="Helvetica Neue"/>
              <a:cs typeface="Calibri" panose="020F0502020204030204" pitchFamily="34" charset="0"/>
              <a:sym typeface="Helvetica Neue"/>
            </a:endParaRPr>
          </a:p>
          <a:p>
            <a:pPr marL="762000" lvl="1" indent="-95250" algn="l" rtl="0">
              <a:spcBef>
                <a:spcPts val="700"/>
              </a:spcBef>
              <a:spcAft>
                <a:spcPts val="0"/>
              </a:spcAft>
              <a:buClr>
                <a:srgbClr val="000000"/>
              </a:buClr>
              <a:buSzPts val="45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ts val="4500"/>
              <a:buFont typeface="Helvetica Neue Light"/>
              <a:buAutoNum type="arabicPeriod" startAt="2"/>
            </a:pPr>
            <a:r>
              <a:rPr lang="en-US" sz="4400" b="1" dirty="0">
                <a:latin typeface="Calibri" panose="020F0502020204030204" pitchFamily="34" charset="0"/>
                <a:ea typeface="Calibri"/>
                <a:cs typeface="Calibri" panose="020F0502020204030204" pitchFamily="34" charset="0"/>
                <a:sym typeface="Calibri"/>
              </a:rPr>
              <a:t>Consider: DHEA</a:t>
            </a:r>
            <a:r>
              <a:rPr lang="en-US" sz="4400" dirty="0">
                <a:latin typeface="Calibri" panose="020F0502020204030204" pitchFamily="34" charset="0"/>
                <a:ea typeface="Calibri"/>
                <a:cs typeface="Calibri" panose="020F0502020204030204" pitchFamily="34" charset="0"/>
                <a:sym typeface="Calibri"/>
              </a:rPr>
              <a:t>: 50mg daily for women only</a:t>
            </a:r>
            <a:endParaRPr sz="4400" dirty="0">
              <a:latin typeface="Calibri" panose="020F0502020204030204" pitchFamily="34" charset="0"/>
              <a:cs typeface="Calibri" panose="020F0502020204030204" pitchFamily="34" charset="0"/>
            </a:endParaRPr>
          </a:p>
          <a:p>
            <a:pPr marL="1524000" lvl="3" indent="-381000" algn="l" rtl="0">
              <a:spcBef>
                <a:spcPts val="600"/>
              </a:spcBef>
              <a:spcAft>
                <a:spcPts val="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Converted to testosterone by peripheral tissue</a:t>
            </a:r>
          </a:p>
          <a:p>
            <a:pPr marL="1524000" lvl="3" indent="-381000" algn="l" rtl="0">
              <a:spcBef>
                <a:spcPts val="600"/>
              </a:spcBef>
              <a:spcAft>
                <a:spcPts val="0"/>
              </a:spcAft>
              <a:buClr>
                <a:srgbClr val="000000"/>
              </a:buClr>
              <a:buSzPts val="3600"/>
              <a:buFont typeface="Calibri"/>
              <a:buChar char="•"/>
            </a:pPr>
            <a:r>
              <a:rPr lang="en-US" sz="4400" dirty="0">
                <a:latin typeface="Calibri" panose="020F0502020204030204" pitchFamily="34" charset="0"/>
                <a:ea typeface="Calibri"/>
                <a:cs typeface="Calibri" panose="020F0502020204030204" pitchFamily="34" charset="0"/>
                <a:sym typeface="Calibri"/>
              </a:rPr>
              <a:t>Improvement in libido, mood and well-being</a:t>
            </a:r>
            <a:endParaRPr sz="4400" dirty="0">
              <a:latin typeface="Calibri" panose="020F0502020204030204" pitchFamily="34" charset="0"/>
              <a:cs typeface="Calibri" panose="020F0502020204030204" pitchFamily="34" charset="0"/>
            </a:endParaRPr>
          </a:p>
          <a:p>
            <a:pPr marL="762000" lvl="1" indent="-381000" algn="l" rtl="0">
              <a:spcBef>
                <a:spcPts val="600"/>
              </a:spcBef>
              <a:spcAft>
                <a:spcPts val="0"/>
              </a:spcAft>
              <a:buClr>
                <a:srgbClr val="000000"/>
              </a:buClr>
              <a:buSzPts val="3900"/>
              <a:buFont typeface="Helvetica Neue Light"/>
              <a:buNone/>
            </a:pPr>
            <a:endParaRPr sz="3900" dirty="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3"/>
          <p:cNvSpPr txBox="1">
            <a:spLocks noGrp="1"/>
          </p:cNvSpPr>
          <p:nvPr>
            <p:ph type="title"/>
          </p:nvPr>
        </p:nvSpPr>
        <p:spPr>
          <a:xfrm>
            <a:off x="649300" y="71600"/>
            <a:ext cx="11704500" cy="13464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What if the patient becomes ill?</a:t>
            </a:r>
            <a:endParaRPr dirty="0">
              <a:solidFill>
                <a:srgbClr val="00B0F0"/>
              </a:solidFill>
            </a:endParaRPr>
          </a:p>
        </p:txBody>
      </p:sp>
      <p:sp>
        <p:nvSpPr>
          <p:cNvPr id="280" name="Google Shape;280;p33"/>
          <p:cNvSpPr txBox="1">
            <a:spLocks noGrp="1"/>
          </p:cNvSpPr>
          <p:nvPr>
            <p:ph type="body" idx="1"/>
          </p:nvPr>
        </p:nvSpPr>
        <p:spPr>
          <a:xfrm>
            <a:off x="177800" y="1418000"/>
            <a:ext cx="12615900" cy="8235300"/>
          </a:xfrm>
          <a:prstGeom prst="rect">
            <a:avLst/>
          </a:prstGeom>
          <a:noFill/>
          <a:ln>
            <a:noFill/>
          </a:ln>
        </p:spPr>
        <p:txBody>
          <a:bodyPr spcFirstLastPara="1" wrap="square" lIns="126425" tIns="72225" rIns="126425" bIns="72225" anchor="t" anchorCtr="0">
            <a:noAutofit/>
          </a:bodyPr>
          <a:lstStyle/>
          <a:p>
            <a:pPr marL="612775" lvl="1" indent="-307975" algn="l" rtl="0">
              <a:spcBef>
                <a:spcPts val="0"/>
              </a:spcBef>
              <a:spcAft>
                <a:spcPts val="0"/>
              </a:spcAft>
              <a:buClr>
                <a:srgbClr val="000000"/>
              </a:buClr>
              <a:buSzPct val="80000"/>
              <a:buFont typeface="Arial"/>
              <a:buChar char="•"/>
            </a:pPr>
            <a:r>
              <a:rPr lang="en-US" sz="4400" b="1" i="1" dirty="0">
                <a:latin typeface="Calibri" panose="020F0502020204030204" pitchFamily="34" charset="0"/>
                <a:ea typeface="Calibri"/>
                <a:cs typeface="Calibri" panose="020F0502020204030204" pitchFamily="34" charset="0"/>
                <a:sym typeface="Calibri"/>
              </a:rPr>
              <a:t>Minor illness</a:t>
            </a:r>
            <a:r>
              <a:rPr lang="en-US" sz="4400" dirty="0">
                <a:latin typeface="Calibri" panose="020F0502020204030204" pitchFamily="34" charset="0"/>
                <a:ea typeface="Calibri"/>
                <a:cs typeface="Calibri" panose="020F0502020204030204" pitchFamily="34" charset="0"/>
                <a:sym typeface="Calibri"/>
              </a:rPr>
              <a:t> (nausea, vomiting, fever &gt; 100.5) will require a </a:t>
            </a:r>
            <a:r>
              <a:rPr lang="en-US" sz="4400" b="1" i="1" dirty="0">
                <a:latin typeface="Calibri" panose="020F0502020204030204" pitchFamily="34" charset="0"/>
                <a:ea typeface="Calibri"/>
                <a:cs typeface="Calibri" panose="020F0502020204030204" pitchFamily="34" charset="0"/>
                <a:sym typeface="Calibri"/>
              </a:rPr>
              <a:t>doubling of the glucocorticoid dose and close outpatient follow-up.</a:t>
            </a:r>
            <a:endParaRPr sz="4400" dirty="0">
              <a:latin typeface="Calibri" panose="020F0502020204030204" pitchFamily="34" charset="0"/>
              <a:cs typeface="Calibri" panose="020F0502020204030204" pitchFamily="34" charset="0"/>
            </a:endParaRPr>
          </a:p>
          <a:p>
            <a:pPr marL="612775" lvl="1" indent="-307975" algn="l" rtl="0">
              <a:spcBef>
                <a:spcPts val="600"/>
              </a:spcBef>
              <a:spcAft>
                <a:spcPts val="0"/>
              </a:spcAft>
              <a:buClr>
                <a:srgbClr val="000000"/>
              </a:buClr>
              <a:buSzPct val="80000"/>
              <a:buFont typeface="Helvetica Neue Light"/>
              <a:buNone/>
            </a:pPr>
            <a:endParaRPr sz="4400" dirty="0">
              <a:latin typeface="Calibri" panose="020F0502020204030204" pitchFamily="34" charset="0"/>
              <a:ea typeface="Calibri"/>
              <a:cs typeface="Calibri" panose="020F0502020204030204" pitchFamily="34" charset="0"/>
              <a:sym typeface="Calibri"/>
            </a:endParaRPr>
          </a:p>
          <a:p>
            <a:pPr marL="612775" lvl="1" indent="-307975" algn="l" rtl="0">
              <a:spcBef>
                <a:spcPts val="600"/>
              </a:spcBef>
              <a:spcAft>
                <a:spcPts val="0"/>
              </a:spcAft>
              <a:buClr>
                <a:srgbClr val="000000"/>
              </a:buClr>
              <a:buSzPct val="80000"/>
              <a:buFont typeface="Arial"/>
              <a:buChar char="•"/>
            </a:pPr>
            <a:r>
              <a:rPr lang="en-US" sz="4400" b="1" i="1" dirty="0">
                <a:latin typeface="Calibri" panose="020F0502020204030204" pitchFamily="34" charset="0"/>
                <a:ea typeface="Calibri"/>
                <a:cs typeface="Calibri" panose="020F0502020204030204" pitchFamily="34" charset="0"/>
                <a:sym typeface="Calibri"/>
              </a:rPr>
              <a:t>Major stressful events</a:t>
            </a:r>
            <a:r>
              <a:rPr lang="en-US" sz="4400" dirty="0">
                <a:latin typeface="Calibri" panose="020F0502020204030204" pitchFamily="34" charset="0"/>
                <a:ea typeface="Calibri"/>
                <a:cs typeface="Calibri" panose="020F0502020204030204" pitchFamily="34" charset="0"/>
                <a:sym typeface="Calibri"/>
              </a:rPr>
              <a:t> (trauma, surgery requiring general anesthesia) will require parenteral </a:t>
            </a:r>
            <a:r>
              <a:rPr lang="en-US" sz="4400" b="1" i="1" dirty="0">
                <a:latin typeface="Calibri" panose="020F0502020204030204" pitchFamily="34" charset="0"/>
                <a:ea typeface="Calibri"/>
                <a:cs typeface="Calibri" panose="020F0502020204030204" pitchFamily="34" charset="0"/>
                <a:sym typeface="Calibri"/>
              </a:rPr>
              <a:t>hydrocortisone 50 mg every eight hours, </a:t>
            </a:r>
            <a:r>
              <a:rPr lang="en-US" sz="4400" dirty="0">
                <a:latin typeface="Calibri" panose="020F0502020204030204" pitchFamily="34" charset="0"/>
                <a:ea typeface="Calibri"/>
                <a:cs typeface="Calibri" panose="020F0502020204030204" pitchFamily="34" charset="0"/>
                <a:sym typeface="Calibri"/>
              </a:rPr>
              <a:t>weaned quickly following a planned surgery, more slowly for a clinical illness.</a:t>
            </a:r>
            <a:endParaRPr sz="4400" dirty="0">
              <a:latin typeface="Calibri" panose="020F0502020204030204" pitchFamily="34" charset="0"/>
              <a:ea typeface="Calibri"/>
              <a:cs typeface="Calibri" panose="020F0502020204030204" pitchFamily="34" charset="0"/>
              <a:sym typeface="Calibri"/>
            </a:endParaRPr>
          </a:p>
          <a:p>
            <a:pPr marL="762000" lvl="0" indent="0" algn="l" rtl="0">
              <a:spcBef>
                <a:spcPts val="600"/>
              </a:spcBef>
              <a:spcAft>
                <a:spcPts val="0"/>
              </a:spcAft>
              <a:buSzPct val="80000"/>
              <a:buNone/>
            </a:pPr>
            <a:endParaRPr sz="4400" dirty="0">
              <a:latin typeface="Calibri" panose="020F0502020204030204" pitchFamily="34" charset="0"/>
              <a:ea typeface="Calibri"/>
              <a:cs typeface="Calibri" panose="020F0502020204030204" pitchFamily="34" charset="0"/>
              <a:sym typeface="Calibri"/>
            </a:endParaRPr>
          </a:p>
          <a:p>
            <a:pPr marL="612775" lvl="1" indent="-307975" algn="l" rtl="0">
              <a:spcBef>
                <a:spcPts val="600"/>
              </a:spcBef>
              <a:spcAft>
                <a:spcPts val="0"/>
              </a:spcAft>
              <a:buSzPct val="80000"/>
              <a:buFont typeface="Calibri"/>
              <a:buChar char="•"/>
            </a:pPr>
            <a:r>
              <a:rPr lang="en-US" sz="4400" dirty="0">
                <a:latin typeface="Calibri" panose="020F0502020204030204" pitchFamily="34" charset="0"/>
                <a:ea typeface="Calibri"/>
                <a:cs typeface="Calibri" panose="020F0502020204030204" pitchFamily="34" charset="0"/>
                <a:sym typeface="Calibri"/>
              </a:rPr>
              <a:t>Look at clinical condition and for hypotension.</a:t>
            </a:r>
            <a:endParaRPr sz="44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649288" y="228600"/>
            <a:ext cx="11704637" cy="2590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a:latin typeface="Arial"/>
                <a:ea typeface="Arial"/>
                <a:cs typeface="Arial"/>
                <a:sym typeface="Arial"/>
              </a:rPr>
              <a:t>Let’s talk scenarios to get some clinical judgement. . .</a:t>
            </a:r>
            <a:endParaRPr/>
          </a:p>
        </p:txBody>
      </p:sp>
      <p:sp>
        <p:nvSpPr>
          <p:cNvPr id="286" name="Google Shape;286;p34"/>
          <p:cNvSpPr txBox="1">
            <a:spLocks noGrp="1"/>
          </p:cNvSpPr>
          <p:nvPr>
            <p:ph type="body" idx="1"/>
          </p:nvPr>
        </p:nvSpPr>
        <p:spPr>
          <a:xfrm>
            <a:off x="177800" y="3505200"/>
            <a:ext cx="12615862" cy="5954713"/>
          </a:xfrm>
          <a:prstGeom prst="rect">
            <a:avLst/>
          </a:prstGeom>
          <a:noFill/>
          <a:ln>
            <a:noFill/>
          </a:ln>
        </p:spPr>
        <p:txBody>
          <a:bodyPr spcFirstLastPara="1" wrap="square" lIns="126425" tIns="72225" rIns="126425" bIns="72225" anchor="t" anchorCtr="0">
            <a:noAutofit/>
          </a:bodyPr>
          <a:lstStyle/>
          <a:p>
            <a:pPr marL="612775" lvl="1" indent="-22225" algn="l" rtl="0">
              <a:spcBef>
                <a:spcPts val="0"/>
              </a:spcBef>
              <a:spcAft>
                <a:spcPts val="0"/>
              </a:spcAft>
              <a:buClr>
                <a:srgbClr val="000000"/>
              </a:buClr>
              <a:buSzPts val="4500"/>
              <a:buFont typeface="Arial"/>
              <a:buNone/>
            </a:pPr>
            <a:endParaRPr sz="4500">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5"/>
          <p:cNvSpPr txBox="1">
            <a:spLocks noGrp="1"/>
          </p:cNvSpPr>
          <p:nvPr>
            <p:ph type="title"/>
          </p:nvPr>
        </p:nvSpPr>
        <p:spPr>
          <a:xfrm>
            <a:off x="215900" y="215900"/>
            <a:ext cx="12571414" cy="140811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B0F0"/>
                </a:solidFill>
                <a:latin typeface="Arial"/>
                <a:ea typeface="Arial"/>
                <a:cs typeface="Arial"/>
                <a:sym typeface="Arial"/>
              </a:rPr>
              <a:t>Prognosis of Adrenal Insufficiency</a:t>
            </a:r>
            <a:endParaRPr dirty="0">
              <a:solidFill>
                <a:srgbClr val="00B0F0"/>
              </a:solidFill>
            </a:endParaRPr>
          </a:p>
        </p:txBody>
      </p:sp>
      <p:sp>
        <p:nvSpPr>
          <p:cNvPr id="292" name="Google Shape;292;p35"/>
          <p:cNvSpPr txBox="1">
            <a:spLocks noGrp="1"/>
          </p:cNvSpPr>
          <p:nvPr>
            <p:ph type="body" idx="1"/>
          </p:nvPr>
        </p:nvSpPr>
        <p:spPr>
          <a:xfrm>
            <a:off x="215900" y="1841500"/>
            <a:ext cx="12463463" cy="758666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a:latin typeface="Calibri"/>
                <a:ea typeface="Calibri"/>
                <a:cs typeface="Calibri"/>
                <a:sym typeface="Calibri"/>
              </a:rPr>
              <a:t>Patients with adrenal insufficiency must be especially </a:t>
            </a:r>
            <a:r>
              <a:rPr lang="en-US" sz="4500" b="1" i="1">
                <a:latin typeface="Calibri"/>
                <a:ea typeface="Calibri"/>
                <a:cs typeface="Calibri"/>
                <a:sym typeface="Calibri"/>
              </a:rPr>
              <a:t>cautious of stressors which may precipitate adrenal crisis.</a:t>
            </a:r>
            <a:endParaRPr/>
          </a:p>
          <a:p>
            <a:pPr marL="292100" lvl="0" indent="0" algn="l" rtl="0">
              <a:spcBef>
                <a:spcPts val="700"/>
              </a:spcBef>
              <a:spcAft>
                <a:spcPts val="0"/>
              </a:spcAft>
              <a:buClr>
                <a:srgbClr val="000000"/>
              </a:buClr>
              <a:buSzPts val="4800"/>
              <a:buFont typeface="Arial"/>
              <a:buNone/>
            </a:pPr>
            <a:endParaRPr sz="480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a:latin typeface="Calibri"/>
                <a:ea typeface="Calibri"/>
                <a:cs typeface="Calibri"/>
                <a:sym typeface="Calibri"/>
              </a:rPr>
              <a:t>Most patients do okay but overall will have a decreased life expectancy.  Risk of death from any illness is more than 2x average.</a:t>
            </a:r>
            <a:endParaRPr/>
          </a:p>
          <a:p>
            <a:pPr marL="292100" lvl="0" indent="-6350" algn="l" rtl="0">
              <a:spcBef>
                <a:spcPts val="700"/>
              </a:spcBef>
              <a:spcAft>
                <a:spcPts val="0"/>
              </a:spcAft>
              <a:buClr>
                <a:srgbClr val="000000"/>
              </a:buClr>
              <a:buSzPts val="4500"/>
              <a:buFont typeface="Arial"/>
              <a:buNone/>
            </a:pPr>
            <a:endParaRPr sz="450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a:latin typeface="Calibri"/>
                <a:ea typeface="Calibri"/>
                <a:cs typeface="Calibri"/>
                <a:sym typeface="Calibri"/>
              </a:rPr>
              <a:t>All patients with adrenal insufficiency are on medication for the remainder of their lives.</a:t>
            </a:r>
            <a:endParaRPr/>
          </a:p>
          <a:p>
            <a:pPr marL="292100" lvl="0" indent="-292100" algn="l" rtl="0">
              <a:spcBef>
                <a:spcPts val="700"/>
              </a:spcBef>
              <a:spcAft>
                <a:spcPts val="0"/>
              </a:spcAft>
              <a:buClr>
                <a:srgbClr val="000000"/>
              </a:buClr>
              <a:buSzPts val="4500"/>
              <a:buFont typeface="Helvetica Neue Light"/>
              <a:buNone/>
            </a:pPr>
            <a:endParaRPr sz="4500">
              <a:latin typeface="Arial"/>
              <a:ea typeface="Arial"/>
              <a:cs typeface="Arial"/>
              <a:sym typeface="Arial"/>
            </a:endParaRPr>
          </a:p>
          <a:p>
            <a:pPr marL="292100" lvl="0" indent="-292100" algn="l" rtl="0">
              <a:spcBef>
                <a:spcPts val="700"/>
              </a:spcBef>
              <a:spcAft>
                <a:spcPts val="0"/>
              </a:spcAft>
              <a:buClr>
                <a:srgbClr val="000000"/>
              </a:buClr>
              <a:buSzPts val="4500"/>
              <a:buFont typeface="Helvetica Neue Light"/>
              <a:buNone/>
            </a:pPr>
            <a:endParaRPr sz="4500">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6"/>
          <p:cNvSpPr txBox="1">
            <a:spLocks noGrp="1"/>
          </p:cNvSpPr>
          <p:nvPr>
            <p:ph type="title"/>
          </p:nvPr>
        </p:nvSpPr>
        <p:spPr>
          <a:xfrm>
            <a:off x="649288" y="0"/>
            <a:ext cx="11704637"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Adrenal Crisis: Why?</a:t>
            </a:r>
            <a:endParaRPr dirty="0">
              <a:solidFill>
                <a:srgbClr val="0070C0"/>
              </a:solidFill>
            </a:endParaRPr>
          </a:p>
        </p:txBody>
      </p:sp>
      <p:sp>
        <p:nvSpPr>
          <p:cNvPr id="298" name="Google Shape;298;p36"/>
          <p:cNvSpPr txBox="1">
            <a:spLocks noGrp="1"/>
          </p:cNvSpPr>
          <p:nvPr>
            <p:ph type="body" idx="1"/>
          </p:nvPr>
        </p:nvSpPr>
        <p:spPr>
          <a:xfrm>
            <a:off x="266700" y="1600200"/>
            <a:ext cx="12520613" cy="7861300"/>
          </a:xfrm>
          <a:prstGeom prst="rect">
            <a:avLst/>
          </a:prstGeom>
          <a:noFill/>
          <a:ln>
            <a:noFill/>
          </a:ln>
        </p:spPr>
        <p:txBody>
          <a:bodyPr spcFirstLastPara="1" wrap="square" lIns="126425" tIns="72225" rIns="126425" bIns="72225" anchor="t" anchorCtr="0">
            <a:noAutofit/>
          </a:bodyPr>
          <a:lstStyle/>
          <a:p>
            <a:pPr marL="584200" lvl="0" indent="-584200" algn="l" rtl="0">
              <a:spcBef>
                <a:spcPts val="0"/>
              </a:spcBef>
              <a:spcAft>
                <a:spcPts val="0"/>
              </a:spcAft>
              <a:buClr>
                <a:srgbClr val="000000"/>
              </a:buClr>
              <a:buSzPts val="4500"/>
              <a:buFont typeface="Times"/>
              <a:buChar char="•"/>
            </a:pPr>
            <a:r>
              <a:rPr lang="en-US" sz="4500" dirty="0">
                <a:latin typeface="Calibri"/>
                <a:ea typeface="Calibri"/>
                <a:cs typeface="Calibri"/>
                <a:sym typeface="Calibri"/>
              </a:rPr>
              <a:t>A medical emergency caused by cortisol deficiency.</a:t>
            </a:r>
            <a:endParaRPr dirty="0"/>
          </a:p>
          <a:p>
            <a:pPr marL="584200" lvl="0" indent="-584200" algn="l" rtl="0">
              <a:spcBef>
                <a:spcPts val="700"/>
              </a:spcBef>
              <a:spcAft>
                <a:spcPts val="0"/>
              </a:spcAft>
              <a:buClr>
                <a:srgbClr val="000000"/>
              </a:buClr>
              <a:buSzPts val="4500"/>
              <a:buFont typeface="Helvetica Neue Light"/>
              <a:buNone/>
            </a:pPr>
            <a:endParaRPr sz="3000" dirty="0">
              <a:latin typeface="Calibri"/>
              <a:ea typeface="Calibri"/>
              <a:cs typeface="Calibri"/>
              <a:sym typeface="Calibri"/>
            </a:endParaRPr>
          </a:p>
          <a:p>
            <a:pPr marL="584200" lvl="0" indent="-584200" algn="l" rtl="0">
              <a:spcBef>
                <a:spcPts val="700"/>
              </a:spcBef>
              <a:spcAft>
                <a:spcPts val="0"/>
              </a:spcAft>
              <a:buClr>
                <a:srgbClr val="000000"/>
              </a:buClr>
              <a:buSzPts val="4500"/>
              <a:buFont typeface="Calibri"/>
              <a:buAutoNum type="arabicPeriod"/>
            </a:pPr>
            <a:r>
              <a:rPr lang="en-US" sz="4500" b="1" i="1" dirty="0">
                <a:latin typeface="Calibri"/>
                <a:ea typeface="Calibri"/>
                <a:cs typeface="Calibri"/>
                <a:sym typeface="Calibri"/>
              </a:rPr>
              <a:t>Stress in a patient with mild adrenal insufficiency </a:t>
            </a:r>
            <a:r>
              <a:rPr lang="en-US" sz="4500" dirty="0">
                <a:latin typeface="Calibri"/>
                <a:ea typeface="Calibri"/>
                <a:cs typeface="Calibri"/>
                <a:sym typeface="Calibri"/>
              </a:rPr>
              <a:t>who hasn’t been diagnosed or failure to increase steroid in a diagnosed patient.</a:t>
            </a:r>
            <a:endParaRPr dirty="0"/>
          </a:p>
          <a:p>
            <a:pPr marL="809625" lvl="1" indent="-504825" algn="l" rtl="0">
              <a:spcBef>
                <a:spcPts val="600"/>
              </a:spcBef>
              <a:spcAft>
                <a:spcPts val="0"/>
              </a:spcAft>
              <a:buClr>
                <a:srgbClr val="000000"/>
              </a:buClr>
              <a:buSzPts val="3900"/>
              <a:buFont typeface="Times"/>
              <a:buChar char="•"/>
            </a:pPr>
            <a:r>
              <a:rPr lang="en-US" sz="3900" dirty="0">
                <a:latin typeface="Calibri"/>
                <a:ea typeface="Calibri"/>
                <a:cs typeface="Calibri"/>
                <a:sym typeface="Calibri"/>
              </a:rPr>
              <a:t>Surgery, infection, prolonged fasting, trauma</a:t>
            </a:r>
            <a:endParaRPr dirty="0"/>
          </a:p>
          <a:p>
            <a:pPr marL="809625" lvl="1" indent="-504825" algn="l" rtl="0">
              <a:spcBef>
                <a:spcPts val="600"/>
              </a:spcBef>
              <a:spcAft>
                <a:spcPts val="0"/>
              </a:spcAft>
              <a:buClr>
                <a:srgbClr val="000000"/>
              </a:buClr>
              <a:buSzPts val="3900"/>
              <a:buFont typeface="Helvetica Neue Light"/>
              <a:buNone/>
            </a:pPr>
            <a:endParaRPr sz="3900" dirty="0">
              <a:latin typeface="Calibri"/>
              <a:ea typeface="Calibri"/>
              <a:cs typeface="Calibri"/>
              <a:sym typeface="Calibri"/>
            </a:endParaRPr>
          </a:p>
          <a:p>
            <a:pPr marL="584200" lvl="0" indent="-584200" algn="l" rtl="0">
              <a:spcBef>
                <a:spcPts val="700"/>
              </a:spcBef>
              <a:spcAft>
                <a:spcPts val="0"/>
              </a:spcAft>
              <a:buClr>
                <a:srgbClr val="000000"/>
              </a:buClr>
              <a:buSzPts val="4500"/>
              <a:buFont typeface="Calibri"/>
              <a:buAutoNum type="arabicPeriod"/>
            </a:pPr>
            <a:r>
              <a:rPr lang="en-US" sz="4500" b="1" i="1" dirty="0">
                <a:latin typeface="Calibri"/>
                <a:ea typeface="Calibri"/>
                <a:cs typeface="Calibri"/>
                <a:sym typeface="Calibri"/>
              </a:rPr>
              <a:t>Sudden withdrawal of corticosteroid </a:t>
            </a:r>
            <a:r>
              <a:rPr lang="en-US" sz="4500" dirty="0">
                <a:latin typeface="Calibri"/>
                <a:ea typeface="Calibri"/>
                <a:cs typeface="Calibri"/>
                <a:sym typeface="Calibri"/>
              </a:rPr>
              <a:t>in a patient with chronic insufficiency.</a:t>
            </a:r>
            <a:endParaRPr dirty="0"/>
          </a:p>
          <a:p>
            <a:pPr marL="876300" lvl="1" indent="-5715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Prednisone, megestrol (possibly inhaled steroid too!)</a:t>
            </a:r>
            <a:endParaRPr dirty="0">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7"/>
          <p:cNvSpPr txBox="1">
            <a:spLocks noGrp="1"/>
          </p:cNvSpPr>
          <p:nvPr>
            <p:ph type="title"/>
          </p:nvPr>
        </p:nvSpPr>
        <p:spPr>
          <a:xfrm>
            <a:off x="649288" y="152400"/>
            <a:ext cx="11704637" cy="1371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Adrenal Crisis: Why?</a:t>
            </a:r>
            <a:endParaRPr dirty="0">
              <a:solidFill>
                <a:srgbClr val="0070C0"/>
              </a:solidFill>
            </a:endParaRPr>
          </a:p>
        </p:txBody>
      </p:sp>
      <p:sp>
        <p:nvSpPr>
          <p:cNvPr id="304" name="Google Shape;304;p37"/>
          <p:cNvSpPr txBox="1">
            <a:spLocks noGrp="1"/>
          </p:cNvSpPr>
          <p:nvPr>
            <p:ph type="body" idx="1"/>
          </p:nvPr>
        </p:nvSpPr>
        <p:spPr>
          <a:xfrm>
            <a:off x="186268" y="1524000"/>
            <a:ext cx="12601046" cy="8001000"/>
          </a:xfrm>
          <a:prstGeom prst="rect">
            <a:avLst/>
          </a:prstGeom>
          <a:noFill/>
          <a:ln>
            <a:noFill/>
          </a:ln>
        </p:spPr>
        <p:txBody>
          <a:bodyPr spcFirstLastPara="1" wrap="square" lIns="126425" tIns="72225" rIns="126425" bIns="72225" anchor="t" anchorCtr="0">
            <a:noAutofit/>
          </a:bodyPr>
          <a:lstStyle/>
          <a:p>
            <a:pPr marL="914400" lvl="0" indent="-914400" algn="l" rtl="0">
              <a:spcBef>
                <a:spcPts val="2400"/>
              </a:spcBef>
              <a:spcAft>
                <a:spcPts val="1200"/>
              </a:spcAft>
              <a:buClr>
                <a:srgbClr val="000000"/>
              </a:buClr>
              <a:buSzPts val="4500"/>
              <a:buFont typeface="+mj-lt"/>
              <a:buAutoNum type="arabicPeriod" startAt="3"/>
            </a:pPr>
            <a:r>
              <a:rPr lang="en-US" sz="4400" dirty="0">
                <a:latin typeface="Calibri" panose="020F0502020204030204" pitchFamily="34" charset="0"/>
                <a:ea typeface="Calibri"/>
                <a:cs typeface="Calibri" panose="020F0502020204030204" pitchFamily="34" charset="0"/>
                <a:sym typeface="Calibri"/>
              </a:rPr>
              <a:t>Temporary insufficiency due to exogenous suppression by taking oral steroids.</a:t>
            </a: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2400"/>
              </a:spcBef>
              <a:spcAft>
                <a:spcPts val="1200"/>
              </a:spcAft>
              <a:buClr>
                <a:srgbClr val="000000"/>
              </a:buClr>
              <a:buSzPts val="4500"/>
              <a:buFont typeface="+mj-lt"/>
              <a:buAutoNum type="arabicPeriod" startAt="3"/>
            </a:pPr>
            <a:r>
              <a:rPr lang="en-US" sz="4400" dirty="0">
                <a:latin typeface="Calibri" panose="020F0502020204030204" pitchFamily="34" charset="0"/>
                <a:ea typeface="Calibri"/>
                <a:cs typeface="Calibri" panose="020F0502020204030204" pitchFamily="34" charset="0"/>
                <a:sym typeface="Calibri"/>
              </a:rPr>
              <a:t>Adrenal or pituitary surgery: bilateral adrenalectomy, removal of a suppressing tumor.</a:t>
            </a: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2400"/>
              </a:spcBef>
              <a:spcAft>
                <a:spcPts val="1200"/>
              </a:spcAft>
              <a:buClr>
                <a:srgbClr val="000000"/>
              </a:buClr>
              <a:buSzPts val="4500"/>
              <a:buFont typeface="+mj-lt"/>
              <a:buAutoNum type="arabicPeriod" startAt="3"/>
            </a:pPr>
            <a:r>
              <a:rPr lang="en-US" sz="4400" dirty="0">
                <a:latin typeface="Calibri" panose="020F0502020204030204" pitchFamily="34" charset="0"/>
                <a:ea typeface="Calibri"/>
                <a:cs typeface="Calibri" panose="020F0502020204030204" pitchFamily="34" charset="0"/>
                <a:sym typeface="Calibri"/>
              </a:rPr>
              <a:t>Sudden destruction of the pituitary gland, Sheehan’s syndrome.</a:t>
            </a: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2400"/>
              </a:spcBef>
              <a:spcAft>
                <a:spcPts val="1200"/>
              </a:spcAft>
              <a:buClr>
                <a:srgbClr val="000000"/>
              </a:buClr>
              <a:buSzPts val="4500"/>
              <a:buFont typeface="+mj-lt"/>
              <a:buAutoNum type="arabicPeriod" startAt="3"/>
            </a:pPr>
            <a:r>
              <a:rPr lang="en-US" sz="4400" dirty="0">
                <a:latin typeface="Calibri" panose="020F0502020204030204" pitchFamily="34" charset="0"/>
                <a:ea typeface="Calibri"/>
                <a:cs typeface="Calibri" panose="020F0502020204030204" pitchFamily="34" charset="0"/>
                <a:sym typeface="Calibri"/>
              </a:rPr>
              <a:t>Bilateral adrenal injury: Trauma, hemorrhage, anticoagulant therapy, thrombosis, infection or metastasis.</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8"/>
          <p:cNvSpPr txBox="1">
            <a:spLocks noGrp="1"/>
          </p:cNvSpPr>
          <p:nvPr>
            <p:ph type="title"/>
          </p:nvPr>
        </p:nvSpPr>
        <p:spPr>
          <a:xfrm>
            <a:off x="323850" y="217486"/>
            <a:ext cx="12355514" cy="139518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S/S of Adrenal Crisis</a:t>
            </a:r>
            <a:endParaRPr dirty="0">
              <a:solidFill>
                <a:srgbClr val="0070C0"/>
              </a:solidFill>
            </a:endParaRPr>
          </a:p>
        </p:txBody>
      </p:sp>
      <p:sp>
        <p:nvSpPr>
          <p:cNvPr id="310" name="Google Shape;310;p38"/>
          <p:cNvSpPr txBox="1">
            <a:spLocks noGrp="1"/>
          </p:cNvSpPr>
          <p:nvPr>
            <p:ph type="body" idx="1"/>
          </p:nvPr>
        </p:nvSpPr>
        <p:spPr>
          <a:xfrm>
            <a:off x="177800" y="1795550"/>
            <a:ext cx="12501563" cy="7740564"/>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The patient is </a:t>
            </a:r>
            <a:r>
              <a:rPr lang="en-US" sz="4500" b="1" i="1" dirty="0">
                <a:latin typeface="Calibri"/>
                <a:ea typeface="Calibri"/>
                <a:cs typeface="Calibri"/>
                <a:sym typeface="Calibri"/>
              </a:rPr>
              <a:t>acutely ill</a:t>
            </a:r>
            <a:endParaRPr dirty="0"/>
          </a:p>
          <a:p>
            <a:pPr marL="1249363" lvl="2"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Hypotension, especially if refractory to IV fluid resuscitation</a:t>
            </a:r>
            <a:endParaRPr dirty="0"/>
          </a:p>
          <a:p>
            <a:pPr marL="1249363" lvl="2"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Metabolic acidosis</a:t>
            </a:r>
            <a:endParaRPr dirty="0"/>
          </a:p>
          <a:p>
            <a:pPr marL="1249363" lvl="2"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Confusion and coma</a:t>
            </a:r>
            <a:endParaRPr dirty="0"/>
          </a:p>
          <a:p>
            <a:pPr marL="1249363" lvl="2"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Nausea/ vomiting </a:t>
            </a:r>
            <a:r>
              <a:rPr lang="en-US" sz="4500" dirty="0">
                <a:latin typeface="Calibri"/>
                <a:ea typeface="Calibri"/>
                <a:cs typeface="Calibri"/>
                <a:sym typeface="Calibri"/>
              </a:rPr>
              <a:t>and</a:t>
            </a:r>
            <a:r>
              <a:rPr lang="en-US" sz="4500" b="1" i="1" dirty="0">
                <a:latin typeface="Calibri"/>
                <a:ea typeface="Calibri"/>
                <a:cs typeface="Calibri"/>
                <a:sym typeface="Calibri"/>
              </a:rPr>
              <a:t> abdominal pain</a:t>
            </a:r>
            <a:endParaRPr dirty="0"/>
          </a:p>
          <a:p>
            <a:pPr marL="1249363" lvl="2"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Fever </a:t>
            </a:r>
            <a:r>
              <a:rPr lang="en-US" sz="4500" dirty="0">
                <a:latin typeface="Calibri"/>
                <a:ea typeface="Calibri"/>
                <a:cs typeface="Calibri"/>
                <a:sym typeface="Calibri"/>
              </a:rPr>
              <a:t>and</a:t>
            </a:r>
            <a:r>
              <a:rPr lang="en-US" sz="4500" b="1" i="1" dirty="0">
                <a:latin typeface="Calibri"/>
                <a:ea typeface="Calibri"/>
                <a:cs typeface="Calibri"/>
                <a:sym typeface="Calibri"/>
              </a:rPr>
              <a:t> hyperpyrexia </a:t>
            </a:r>
            <a:r>
              <a:rPr lang="en-US" sz="4500" dirty="0">
                <a:latin typeface="Calibri"/>
                <a:ea typeface="Calibri"/>
                <a:cs typeface="Calibri"/>
                <a:sym typeface="Calibri"/>
              </a:rPr>
              <a:t>(up to 105 degrees)</a:t>
            </a:r>
            <a:endParaRPr dirty="0"/>
          </a:p>
          <a:p>
            <a:pPr marL="1249363" lvl="2"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Cyanosis</a:t>
            </a:r>
            <a:endParaRPr dirty="0"/>
          </a:p>
          <a:p>
            <a:pPr marL="1249363" lvl="2"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S/S and laboratory findings of chronic adrenal insufficiency, if it is present.</a:t>
            </a:r>
            <a:endParaRPr dirty="0">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9"/>
          <p:cNvSpPr txBox="1">
            <a:spLocks noGrp="1"/>
          </p:cNvSpPr>
          <p:nvPr>
            <p:ph type="title"/>
          </p:nvPr>
        </p:nvSpPr>
        <p:spPr>
          <a:xfrm>
            <a:off x="649288" y="215900"/>
            <a:ext cx="11704637" cy="151765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Making the Diagnosis of Crisis</a:t>
            </a:r>
            <a:endParaRPr dirty="0">
              <a:solidFill>
                <a:srgbClr val="0070C0"/>
              </a:solidFill>
            </a:endParaRPr>
          </a:p>
        </p:txBody>
      </p:sp>
      <p:sp>
        <p:nvSpPr>
          <p:cNvPr id="316" name="Google Shape;316;p39"/>
          <p:cNvSpPr txBox="1">
            <a:spLocks noGrp="1"/>
          </p:cNvSpPr>
          <p:nvPr>
            <p:ph type="body" idx="1"/>
          </p:nvPr>
        </p:nvSpPr>
        <p:spPr>
          <a:xfrm>
            <a:off x="254000" y="1949450"/>
            <a:ext cx="12573000" cy="7586663"/>
          </a:xfrm>
          <a:prstGeom prst="rect">
            <a:avLst/>
          </a:prstGeom>
          <a:noFill/>
          <a:ln>
            <a:noFill/>
          </a:ln>
        </p:spPr>
        <p:txBody>
          <a:bodyPr spcFirstLastPara="1" wrap="square" lIns="126425" tIns="72225" rIns="126425" bIns="72225" anchor="t" anchorCtr="0">
            <a:noAutofit/>
          </a:bodyPr>
          <a:lstStyle/>
          <a:p>
            <a:pPr marL="388938" lvl="0" indent="-388938" algn="l" rtl="0">
              <a:spcBef>
                <a:spcPts val="0"/>
              </a:spcBef>
              <a:spcAft>
                <a:spcPts val="0"/>
              </a:spcAft>
              <a:buClr>
                <a:srgbClr val="000000"/>
              </a:buClr>
              <a:buSzPts val="4500"/>
              <a:buFont typeface="Arial"/>
              <a:buChar char="•"/>
            </a:pPr>
            <a:r>
              <a:rPr lang="en-US" sz="4500" b="1" dirty="0">
                <a:latin typeface="Calibri"/>
                <a:ea typeface="Calibri"/>
                <a:cs typeface="Calibri"/>
                <a:sym typeface="Calibri"/>
              </a:rPr>
              <a:t>Acute adrenal insufficiency is a medical emergency!  </a:t>
            </a:r>
            <a:endParaRPr dirty="0"/>
          </a:p>
          <a:p>
            <a:pPr marL="388938" lvl="0" indent="-388938"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Do </a:t>
            </a:r>
            <a:r>
              <a:rPr lang="en-US" sz="4500" u="sng" dirty="0">
                <a:latin typeface="Calibri"/>
                <a:ea typeface="Calibri"/>
                <a:cs typeface="Calibri"/>
                <a:sym typeface="Calibri"/>
              </a:rPr>
              <a:t>not</a:t>
            </a:r>
            <a:r>
              <a:rPr lang="en-US" sz="4500" dirty="0">
                <a:latin typeface="Calibri"/>
                <a:ea typeface="Calibri"/>
                <a:cs typeface="Calibri"/>
                <a:sym typeface="Calibri"/>
              </a:rPr>
              <a:t> delay medical treatment of suspected adrenal insufficiency pending laboratory results.</a:t>
            </a:r>
            <a:endParaRPr dirty="0"/>
          </a:p>
          <a:p>
            <a:pPr marL="388938" lvl="0" indent="-388938"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388938" lvl="0" indent="-388938"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Instead, if adrenal insufficiency is suspected in the acutely ill patient, draw blood for:</a:t>
            </a:r>
            <a:endParaRPr dirty="0"/>
          </a:p>
          <a:p>
            <a:pPr marL="1150938" lvl="2" indent="-388938"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Random cortisol level, ACTH, aldosterone and renin levels, in addition to standard labs and treat empirically with stress dose steroid.</a:t>
            </a:r>
            <a:endParaRPr dirty="0">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0"/>
          <p:cNvSpPr txBox="1">
            <a:spLocks noGrp="1"/>
          </p:cNvSpPr>
          <p:nvPr>
            <p:ph type="title"/>
          </p:nvPr>
        </p:nvSpPr>
        <p:spPr>
          <a:xfrm>
            <a:off x="649288" y="228600"/>
            <a:ext cx="11704637" cy="178752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Differential Diagnosis of Crisis</a:t>
            </a:r>
            <a:endParaRPr dirty="0">
              <a:solidFill>
                <a:srgbClr val="0070C0"/>
              </a:solidFill>
            </a:endParaRPr>
          </a:p>
        </p:txBody>
      </p:sp>
      <p:sp>
        <p:nvSpPr>
          <p:cNvPr id="322" name="Google Shape;322;p40"/>
          <p:cNvSpPr txBox="1">
            <a:spLocks noGrp="1"/>
          </p:cNvSpPr>
          <p:nvPr>
            <p:ph type="body" idx="1"/>
          </p:nvPr>
        </p:nvSpPr>
        <p:spPr>
          <a:xfrm>
            <a:off x="323850" y="2016125"/>
            <a:ext cx="12463463" cy="7432675"/>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Other causes of </a:t>
            </a:r>
            <a:r>
              <a:rPr lang="en-US" sz="4500" b="1" dirty="0">
                <a:latin typeface="Calibri"/>
                <a:ea typeface="Calibri"/>
                <a:cs typeface="Calibri"/>
                <a:sym typeface="Calibri"/>
              </a:rPr>
              <a:t>shock</a:t>
            </a:r>
            <a:endParaRPr sz="4500" dirty="0">
              <a:latin typeface="Calibri"/>
              <a:ea typeface="Calibri"/>
              <a:cs typeface="Calibri"/>
              <a:sym typeface="Calibri"/>
            </a:endParaRPr>
          </a:p>
          <a:p>
            <a:pPr marL="863600" lvl="1" indent="-4064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Septic, hypovolemic or cardiogenic shock</a:t>
            </a:r>
            <a:endParaRPr dirty="0"/>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Other causes of </a:t>
            </a:r>
            <a:r>
              <a:rPr lang="en-US" sz="4500" b="1" dirty="0">
                <a:latin typeface="Calibri"/>
                <a:ea typeface="Calibri"/>
                <a:cs typeface="Calibri"/>
                <a:sym typeface="Calibri"/>
              </a:rPr>
              <a:t>hyperkalemia</a:t>
            </a:r>
            <a:endParaRPr dirty="0"/>
          </a:p>
          <a:p>
            <a:pPr marL="863600" lvl="1" indent="-4064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GIB, rhabdomyolysis, meds (spironolactone, ACEI)</a:t>
            </a:r>
            <a:endParaRPr dirty="0"/>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Other causes of </a:t>
            </a:r>
            <a:r>
              <a:rPr lang="en-US" sz="4500" b="1" dirty="0">
                <a:latin typeface="Calibri"/>
                <a:ea typeface="Calibri"/>
                <a:cs typeface="Calibri"/>
                <a:sym typeface="Calibri"/>
              </a:rPr>
              <a:t>hyponatremia</a:t>
            </a:r>
            <a:endParaRPr sz="4500" dirty="0">
              <a:latin typeface="Calibri"/>
              <a:ea typeface="Calibri"/>
              <a:cs typeface="Calibri"/>
              <a:sym typeface="Calibri"/>
            </a:endParaRPr>
          </a:p>
          <a:p>
            <a:pPr marL="863600" lvl="1" indent="-4064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Hypothyroidism, diuretics, heart failure, vomiting</a:t>
            </a:r>
            <a:endParaRPr dirty="0"/>
          </a:p>
          <a:p>
            <a:pPr marL="487363" lvl="0" indent="-487363" algn="l" rtl="0">
              <a:spcBef>
                <a:spcPts val="700"/>
              </a:spcBef>
              <a:spcAft>
                <a:spcPts val="0"/>
              </a:spcAft>
              <a:buClr>
                <a:srgbClr val="000000"/>
              </a:buClr>
              <a:buSzPts val="4500"/>
              <a:buFont typeface="Arial"/>
              <a:buChar char="•"/>
            </a:pPr>
            <a:r>
              <a:rPr lang="en-US" sz="4500" b="1" dirty="0">
                <a:latin typeface="Calibri"/>
                <a:ea typeface="Calibri"/>
                <a:cs typeface="Calibri"/>
                <a:sym typeface="Calibri"/>
              </a:rPr>
              <a:t>Acute abdomen</a:t>
            </a:r>
            <a:endParaRPr sz="4500" dirty="0">
              <a:latin typeface="Calibri"/>
              <a:ea typeface="Calibri"/>
              <a:cs typeface="Calibri"/>
              <a:sym typeface="Calibri"/>
            </a:endParaRPr>
          </a:p>
          <a:p>
            <a:pPr marL="863600" lvl="1" indent="-4064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We will generally see a significantly increased neutrophil count with acute abdomen but not necessarily with adrenal crisis</a:t>
            </a:r>
            <a:endParaRPr dirty="0">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1"/>
          <p:cNvSpPr txBox="1">
            <a:spLocks noGrp="1"/>
          </p:cNvSpPr>
          <p:nvPr>
            <p:ph type="title"/>
          </p:nvPr>
        </p:nvSpPr>
        <p:spPr>
          <a:xfrm>
            <a:off x="649288" y="0"/>
            <a:ext cx="11704637" cy="2133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Calibri"/>
                <a:ea typeface="Calibri"/>
                <a:cs typeface="Calibri"/>
                <a:sym typeface="Calibri"/>
              </a:rPr>
              <a:t>Treatment of the Acutely Ill Patient in Adrenal Crisis</a:t>
            </a:r>
            <a:endParaRPr dirty="0">
              <a:solidFill>
                <a:srgbClr val="0070C0"/>
              </a:solidFill>
              <a:latin typeface="Calibri"/>
              <a:ea typeface="Calibri"/>
              <a:cs typeface="Calibri"/>
              <a:sym typeface="Calibri"/>
            </a:endParaRPr>
          </a:p>
        </p:txBody>
      </p:sp>
      <p:sp>
        <p:nvSpPr>
          <p:cNvPr id="328" name="Google Shape;328;p41"/>
          <p:cNvSpPr txBox="1">
            <a:spLocks noGrp="1"/>
          </p:cNvSpPr>
          <p:nvPr>
            <p:ph type="body" idx="1"/>
          </p:nvPr>
        </p:nvSpPr>
        <p:spPr>
          <a:xfrm>
            <a:off x="254000" y="2377525"/>
            <a:ext cx="12573000" cy="7147500"/>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a:pPr>
            <a:r>
              <a:rPr lang="en-US" sz="4500" b="1" i="1" dirty="0">
                <a:latin typeface="Calibri"/>
                <a:ea typeface="Calibri"/>
                <a:cs typeface="Calibri"/>
                <a:sym typeface="Calibri"/>
              </a:rPr>
              <a:t>Steroid replacement- stress dosing</a:t>
            </a:r>
            <a:r>
              <a:rPr lang="en-US" sz="4500" dirty="0">
                <a:latin typeface="Calibri"/>
                <a:ea typeface="Calibri"/>
                <a:cs typeface="Calibri"/>
                <a:sym typeface="Calibri"/>
              </a:rPr>
              <a:t>: </a:t>
            </a:r>
            <a:endParaRPr dirty="0"/>
          </a:p>
          <a:p>
            <a:pPr marL="914400" lvl="0" indent="-9144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Hydrocortisone 100mg IV bolus, then by continuous infusion (10-12 mg/</a:t>
            </a:r>
            <a:r>
              <a:rPr lang="en-US" sz="4500" dirty="0" err="1">
                <a:latin typeface="Calibri"/>
                <a:ea typeface="Calibri"/>
                <a:cs typeface="Calibri"/>
                <a:sym typeface="Calibri"/>
              </a:rPr>
              <a:t>hr</a:t>
            </a:r>
            <a:r>
              <a:rPr lang="en-US" sz="4500" dirty="0">
                <a:latin typeface="Calibri"/>
                <a:ea typeface="Calibri"/>
                <a:cs typeface="Calibri"/>
                <a:sym typeface="Calibri"/>
              </a:rPr>
              <a:t>)- this is most physiologic</a:t>
            </a:r>
            <a:endParaRPr dirty="0"/>
          </a:p>
          <a:p>
            <a:pPr marL="914400" lvl="0" indent="-685800" algn="l" rtl="0">
              <a:spcBef>
                <a:spcPts val="700"/>
              </a:spcBef>
              <a:spcAft>
                <a:spcPts val="0"/>
              </a:spcAft>
              <a:buClr>
                <a:srgbClr val="000000"/>
              </a:buClr>
              <a:buSzPts val="3600"/>
              <a:buFont typeface="Helvetica Neue Light"/>
              <a:buNone/>
            </a:pPr>
            <a:endParaRPr sz="4500" dirty="0">
              <a:latin typeface="Calibri"/>
              <a:ea typeface="Calibri"/>
              <a:cs typeface="Calibri"/>
              <a:sym typeface="Calibri"/>
            </a:endParaRPr>
          </a:p>
          <a:p>
            <a:pPr marL="914400" lvl="0" indent="-9144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Alternatively, hydrocortisone 50-100mg IV push every 6-8 hours can be used.</a:t>
            </a:r>
            <a:endParaRPr sz="4500" dirty="0">
              <a:latin typeface="Calibri"/>
              <a:ea typeface="Calibri"/>
              <a:cs typeface="Calibri"/>
              <a:sym typeface="Calibri"/>
            </a:endParaRPr>
          </a:p>
          <a:p>
            <a:pPr marL="381000" lvl="0" indent="0" algn="l" rtl="0">
              <a:spcBef>
                <a:spcPts val="700"/>
              </a:spcBef>
              <a:spcAft>
                <a:spcPts val="0"/>
              </a:spcAft>
              <a:buNone/>
            </a:pPr>
            <a:endParaRPr sz="4500" dirty="0">
              <a:latin typeface="Calibri"/>
              <a:ea typeface="Calibri"/>
              <a:cs typeface="Calibri"/>
              <a:sym typeface="Calibri"/>
            </a:endParaRPr>
          </a:p>
          <a:p>
            <a:pPr marL="914400" lvl="0" indent="-876300" algn="l" rtl="0">
              <a:spcBef>
                <a:spcPts val="700"/>
              </a:spcBef>
              <a:spcAft>
                <a:spcPts val="0"/>
              </a:spcAft>
              <a:buSzPts val="3000"/>
              <a:buFont typeface="Calibri"/>
              <a:buChar char="•"/>
            </a:pPr>
            <a:r>
              <a:rPr lang="en-US" sz="3000" dirty="0">
                <a:latin typeface="Calibri"/>
                <a:ea typeface="Calibri"/>
                <a:cs typeface="Calibri"/>
                <a:sym typeface="Calibri"/>
              </a:rPr>
              <a:t>At this high dose of glucocorticoid (&gt;100 mg/day), </a:t>
            </a:r>
            <a:r>
              <a:rPr lang="en-US" sz="3000" dirty="0" err="1">
                <a:latin typeface="Calibri"/>
                <a:ea typeface="Calibri"/>
                <a:cs typeface="Calibri"/>
                <a:sym typeface="Calibri"/>
              </a:rPr>
              <a:t>Cortef</a:t>
            </a:r>
            <a:r>
              <a:rPr lang="en-US" sz="3000" dirty="0">
                <a:latin typeface="Calibri"/>
                <a:ea typeface="Calibri"/>
                <a:cs typeface="Calibri"/>
                <a:sym typeface="Calibri"/>
              </a:rPr>
              <a:t> acts as a mineralocorticoid as well, so no </a:t>
            </a:r>
            <a:r>
              <a:rPr lang="en-US" sz="3000" dirty="0" err="1">
                <a:latin typeface="Calibri"/>
                <a:ea typeface="Calibri"/>
                <a:cs typeface="Calibri"/>
                <a:sym typeface="Calibri"/>
              </a:rPr>
              <a:t>Florinef</a:t>
            </a:r>
            <a:r>
              <a:rPr lang="en-US" sz="3000" dirty="0">
                <a:latin typeface="Calibri"/>
                <a:ea typeface="Calibri"/>
                <a:cs typeface="Calibri"/>
                <a:sym typeface="Calibri"/>
              </a:rPr>
              <a:t> is needed.</a:t>
            </a:r>
            <a:endParaRPr sz="3000" dirty="0">
              <a:latin typeface="Calibri"/>
              <a:ea typeface="Calibri"/>
              <a:cs typeface="Calibri"/>
              <a:sym typeface="Calibri"/>
            </a:endParaRPr>
          </a:p>
          <a:p>
            <a:pPr marL="914400" lvl="0" indent="-723900" algn="l" rtl="0">
              <a:spcBef>
                <a:spcPts val="700"/>
              </a:spcBef>
              <a:spcAft>
                <a:spcPts val="0"/>
              </a:spcAft>
              <a:buClr>
                <a:srgbClr val="000000"/>
              </a:buClr>
              <a:buSzPts val="3000"/>
              <a:buFont typeface="Helvetica Neue Light"/>
              <a:buNone/>
            </a:pPr>
            <a:endParaRPr sz="3000" dirty="0">
              <a:latin typeface="Arial"/>
              <a:ea typeface="Arial"/>
              <a:cs typeface="Arial"/>
              <a:sym typeface="Arial"/>
            </a:endParaRPr>
          </a:p>
          <a:p>
            <a:pPr marL="914400" lvl="0" indent="-91440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914400" lvl="0" indent="-673100" algn="l" rtl="0">
              <a:spcBef>
                <a:spcPts val="700"/>
              </a:spcBef>
              <a:spcAft>
                <a:spcPts val="0"/>
              </a:spcAft>
              <a:buClr>
                <a:srgbClr val="000000"/>
              </a:buClr>
              <a:buSzPts val="3800"/>
              <a:buFont typeface="Helvetica Neue Light"/>
              <a:buNone/>
            </a:pP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2"/>
          <p:cNvSpPr txBox="1">
            <a:spLocks noGrp="1"/>
          </p:cNvSpPr>
          <p:nvPr>
            <p:ph type="title"/>
          </p:nvPr>
        </p:nvSpPr>
        <p:spPr>
          <a:xfrm>
            <a:off x="254000" y="254000"/>
            <a:ext cx="12573000"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Treatment of the Acutely Ill Patient</a:t>
            </a:r>
            <a:endParaRPr dirty="0">
              <a:solidFill>
                <a:srgbClr val="0070C0"/>
              </a:solidFill>
            </a:endParaRPr>
          </a:p>
        </p:txBody>
      </p:sp>
      <p:sp>
        <p:nvSpPr>
          <p:cNvPr id="334" name="Google Shape;334;p42"/>
          <p:cNvSpPr txBox="1">
            <a:spLocks noGrp="1"/>
          </p:cNvSpPr>
          <p:nvPr>
            <p:ph type="body" idx="1"/>
          </p:nvPr>
        </p:nvSpPr>
        <p:spPr>
          <a:xfrm>
            <a:off x="254000" y="1752600"/>
            <a:ext cx="12425363" cy="7772400"/>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4500"/>
              <a:buFont typeface="Calibri"/>
              <a:buChar char="•"/>
            </a:pPr>
            <a:r>
              <a:rPr lang="en-US" sz="4500" b="1" i="1" dirty="0">
                <a:latin typeface="Calibri"/>
                <a:ea typeface="Calibri"/>
                <a:cs typeface="Calibri"/>
                <a:sym typeface="Calibri"/>
              </a:rPr>
              <a:t>Stress dose steroid replacement</a:t>
            </a: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3520"/>
              <a:buFont typeface="Calibri"/>
              <a:buChar char="•"/>
            </a:pPr>
            <a:r>
              <a:rPr lang="en-US" sz="4400" dirty="0">
                <a:latin typeface="Calibri"/>
                <a:ea typeface="Calibri"/>
                <a:cs typeface="Calibri"/>
                <a:sym typeface="Calibri"/>
              </a:rPr>
              <a:t>Clinical improvement (BP) should be evident in 4-6 hours if adrenal crisis is the culprit.</a:t>
            </a:r>
            <a:endParaRPr dirty="0"/>
          </a:p>
          <a:p>
            <a:pPr marL="381000" lvl="0" indent="-228600" algn="l" rtl="0">
              <a:spcBef>
                <a:spcPts val="700"/>
              </a:spcBef>
              <a:spcAft>
                <a:spcPts val="0"/>
              </a:spcAft>
              <a:buClr>
                <a:srgbClr val="000000"/>
              </a:buClr>
              <a:buSzPts val="2400"/>
              <a:buFont typeface="Helvetica Neue Light"/>
              <a:buNone/>
            </a:pP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3520"/>
              <a:buFont typeface="Calibri"/>
              <a:buChar char="•"/>
            </a:pPr>
            <a:r>
              <a:rPr lang="en-US" sz="4400" dirty="0">
                <a:latin typeface="Calibri"/>
                <a:ea typeface="Calibri"/>
                <a:cs typeface="Calibri"/>
                <a:sym typeface="Calibri"/>
              </a:rPr>
              <a:t>Over 2-3 days the amount of steroid is reduced to 100 mg/day to avoid GI ulceration and bleeding, regardless of patient condition.</a:t>
            </a:r>
            <a:endParaRPr dirty="0"/>
          </a:p>
          <a:p>
            <a:pPr marL="381000" lvl="0" indent="-228600" algn="l" rtl="0">
              <a:spcBef>
                <a:spcPts val="700"/>
              </a:spcBef>
              <a:spcAft>
                <a:spcPts val="0"/>
              </a:spcAft>
              <a:buClr>
                <a:srgbClr val="000000"/>
              </a:buClr>
              <a:buSzPts val="2400"/>
              <a:buFont typeface="Helvetica Neue Light"/>
              <a:buNone/>
            </a:pP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3520"/>
              <a:buFont typeface="Calibri"/>
              <a:buChar char="•"/>
            </a:pPr>
            <a:r>
              <a:rPr lang="en-US" sz="4400" dirty="0">
                <a:latin typeface="Calibri"/>
                <a:ea typeface="Calibri"/>
                <a:cs typeface="Calibri"/>
                <a:sym typeface="Calibri"/>
              </a:rPr>
              <a:t>It is tapered further over the next 4-5 days to the oral dose and mineralocorticoid is begun when glucocorticoid dose is &lt; 100mg/day.</a:t>
            </a:r>
            <a:endParaRPr dirty="0"/>
          </a:p>
          <a:p>
            <a:pPr marL="381000" lvl="0" indent="-38100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381000" lvl="0" indent="-139700" algn="l" rtl="0">
              <a:spcBef>
                <a:spcPts val="700"/>
              </a:spcBef>
              <a:spcAft>
                <a:spcPts val="0"/>
              </a:spcAft>
              <a:buClr>
                <a:srgbClr val="000000"/>
              </a:buClr>
              <a:buSzPts val="3800"/>
              <a:buFont typeface="Helvetica Neue Light"/>
              <a:buNone/>
            </a:pP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3"/>
          <p:cNvSpPr txBox="1">
            <a:spLocks noGrp="1"/>
          </p:cNvSpPr>
          <p:nvPr>
            <p:ph type="title"/>
          </p:nvPr>
        </p:nvSpPr>
        <p:spPr>
          <a:xfrm>
            <a:off x="649288" y="215900"/>
            <a:ext cx="11704637" cy="19939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Treatment of the Acutely Ill Patient in Adrenal Crisis</a:t>
            </a:r>
            <a:endParaRPr dirty="0">
              <a:solidFill>
                <a:srgbClr val="0070C0"/>
              </a:solidFill>
            </a:endParaRPr>
          </a:p>
        </p:txBody>
      </p:sp>
      <p:sp>
        <p:nvSpPr>
          <p:cNvPr id="340" name="Google Shape;340;p43"/>
          <p:cNvSpPr txBox="1">
            <a:spLocks noGrp="1"/>
          </p:cNvSpPr>
          <p:nvPr>
            <p:ph type="body" idx="1"/>
          </p:nvPr>
        </p:nvSpPr>
        <p:spPr>
          <a:xfrm>
            <a:off x="291306" y="2590800"/>
            <a:ext cx="12420600" cy="6845300"/>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ct val="100000"/>
              <a:buFont typeface="+mj-lt"/>
              <a:buAutoNum type="arabicPeriod" startAt="2"/>
            </a:pPr>
            <a:r>
              <a:rPr lang="en-US" sz="4400" b="1" i="1" dirty="0">
                <a:latin typeface="Calibri" panose="020F0502020204030204" pitchFamily="34" charset="0"/>
                <a:ea typeface="Calibri"/>
                <a:cs typeface="Calibri" panose="020F0502020204030204" pitchFamily="34" charset="0"/>
                <a:sym typeface="Calibri"/>
              </a:rPr>
              <a:t>Aggressive IV fluid replacement</a:t>
            </a:r>
            <a:r>
              <a:rPr lang="en-US" sz="4400" dirty="0">
                <a:latin typeface="Calibri" panose="020F0502020204030204" pitchFamily="34" charset="0"/>
                <a:ea typeface="Calibri"/>
                <a:cs typeface="Calibri" panose="020F0502020204030204" pitchFamily="34" charset="0"/>
                <a:sym typeface="Calibri"/>
              </a:rPr>
              <a:t>: to assist with correction of hypotension.</a:t>
            </a:r>
            <a:endParaRPr sz="4400" dirty="0">
              <a:latin typeface="Calibri" panose="020F0502020204030204" pitchFamily="34" charset="0"/>
              <a:cs typeface="Calibri" panose="020F0502020204030204" pitchFamily="34" charset="0"/>
            </a:endParaRPr>
          </a:p>
          <a:p>
            <a:pPr marL="914400" lvl="0" indent="-914400" algn="l" rtl="0">
              <a:spcBef>
                <a:spcPts val="700"/>
              </a:spcBef>
              <a:spcAft>
                <a:spcPts val="0"/>
              </a:spcAft>
              <a:buClr>
                <a:srgbClr val="000000"/>
              </a:buClr>
              <a:buSzPct val="100000"/>
              <a:buFont typeface="+mj-lt"/>
              <a:buAutoNum type="arabicPeriod" startAt="2"/>
            </a:pP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ct val="100000"/>
              <a:buFont typeface="+mj-lt"/>
              <a:buAutoNum type="arabicPeriod" startAt="2"/>
            </a:pPr>
            <a:r>
              <a:rPr lang="en-US" sz="4400" b="1" i="1" dirty="0">
                <a:latin typeface="Calibri" panose="020F0502020204030204" pitchFamily="34" charset="0"/>
                <a:ea typeface="Calibri"/>
                <a:cs typeface="Calibri" panose="020F0502020204030204" pitchFamily="34" charset="0"/>
                <a:sym typeface="Calibri"/>
              </a:rPr>
              <a:t>Electrolyte correction</a:t>
            </a:r>
            <a:r>
              <a:rPr lang="en-US" sz="4400" dirty="0">
                <a:latin typeface="Calibri" panose="020F0502020204030204" pitchFamily="34" charset="0"/>
                <a:ea typeface="Calibri"/>
                <a:cs typeface="Calibri" panose="020F0502020204030204" pitchFamily="34" charset="0"/>
                <a:sym typeface="Calibri"/>
              </a:rPr>
              <a:t>: most commonly patients have hyponatremia, hyperkalemia, and metabolic acidosis.</a:t>
            </a:r>
            <a:endParaRPr sz="4400" dirty="0">
              <a:latin typeface="Calibri" panose="020F0502020204030204" pitchFamily="34" charset="0"/>
              <a:cs typeface="Calibri" panose="020F0502020204030204" pitchFamily="34" charset="0"/>
            </a:endParaRPr>
          </a:p>
          <a:p>
            <a:pPr marL="1028700" lvl="0" indent="-742950" algn="l" rtl="0">
              <a:spcBef>
                <a:spcPts val="700"/>
              </a:spcBef>
              <a:spcAft>
                <a:spcPts val="0"/>
              </a:spcAft>
              <a:buClr>
                <a:srgbClr val="000000"/>
              </a:buClr>
              <a:buSzPct val="100000"/>
              <a:buFont typeface="+mj-lt"/>
              <a:buAutoNum type="arabicPeriod" startAt="2"/>
            </a:pPr>
            <a:endParaRPr sz="4400" dirty="0">
              <a:latin typeface="Calibri" panose="020F0502020204030204" pitchFamily="34" charset="0"/>
              <a:ea typeface="Calibri"/>
              <a:cs typeface="Calibri" panose="020F0502020204030204" pitchFamily="34" charset="0"/>
              <a:sym typeface="Calibri"/>
            </a:endParaRPr>
          </a:p>
          <a:p>
            <a:pPr marL="914400" lvl="0" indent="-914400" algn="l" rtl="0">
              <a:spcBef>
                <a:spcPts val="700"/>
              </a:spcBef>
              <a:spcAft>
                <a:spcPts val="0"/>
              </a:spcAft>
              <a:buClr>
                <a:srgbClr val="000000"/>
              </a:buClr>
              <a:buSzPct val="100000"/>
              <a:buFont typeface="+mj-lt"/>
              <a:buAutoNum type="arabicPeriod" startAt="2"/>
            </a:pPr>
            <a:r>
              <a:rPr lang="en-US" sz="4400" dirty="0">
                <a:latin typeface="Calibri" panose="020F0502020204030204" pitchFamily="34" charset="0"/>
                <a:ea typeface="Calibri"/>
                <a:cs typeface="Calibri" panose="020F0502020204030204" pitchFamily="34" charset="0"/>
                <a:sym typeface="Calibri"/>
              </a:rPr>
              <a:t>Consideration for empiric antibiotics and endocrinology referral, address thyroid status.</a:t>
            </a:r>
            <a:endParaRPr sz="4400" dirty="0">
              <a:latin typeface="Calibri" panose="020F0502020204030204" pitchFamily="34" charset="0"/>
              <a:cs typeface="Calibri" panose="020F050202020403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4"/>
          <p:cNvSpPr txBox="1">
            <a:spLocks noGrp="1"/>
          </p:cNvSpPr>
          <p:nvPr>
            <p:ph type="title"/>
          </p:nvPr>
        </p:nvSpPr>
        <p:spPr>
          <a:xfrm>
            <a:off x="649288" y="215900"/>
            <a:ext cx="11704637" cy="151765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0070C0"/>
                </a:solidFill>
                <a:latin typeface="Arial"/>
                <a:ea typeface="Arial"/>
                <a:cs typeface="Arial"/>
                <a:sym typeface="Arial"/>
              </a:rPr>
              <a:t>Prognosis of Adrenal Crisis</a:t>
            </a:r>
            <a:endParaRPr dirty="0">
              <a:solidFill>
                <a:srgbClr val="0070C0"/>
              </a:solidFill>
            </a:endParaRPr>
          </a:p>
        </p:txBody>
      </p:sp>
      <p:sp>
        <p:nvSpPr>
          <p:cNvPr id="346" name="Google Shape;346;p44"/>
          <p:cNvSpPr txBox="1">
            <a:spLocks noGrp="1"/>
          </p:cNvSpPr>
          <p:nvPr>
            <p:ph type="body" idx="1"/>
          </p:nvPr>
        </p:nvSpPr>
        <p:spPr>
          <a:xfrm>
            <a:off x="241300" y="1733550"/>
            <a:ext cx="12611100" cy="780256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Rapid treatment of adrenal crisis results in an excellent outcome considering how ill the patient is from the stressor.</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However, adrenal insufficiency is </a:t>
            </a:r>
            <a:r>
              <a:rPr lang="en-US" sz="4500" u="sng" dirty="0">
                <a:latin typeface="Calibri"/>
                <a:ea typeface="Calibri"/>
                <a:cs typeface="Calibri"/>
                <a:sym typeface="Calibri"/>
              </a:rPr>
              <a:t>frequently</a:t>
            </a:r>
            <a:r>
              <a:rPr lang="en-US" sz="4500" dirty="0">
                <a:latin typeface="Calibri"/>
                <a:ea typeface="Calibri"/>
                <a:cs typeface="Calibri"/>
                <a:sym typeface="Calibri"/>
              </a:rPr>
              <a:t> unrecognized and untreated.</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Mortality in these cases is dependent upon the stress of the event and the degree of adrenal insufficiency.</a:t>
            </a:r>
            <a:endParaRPr dirty="0">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5"/>
          <p:cNvSpPr txBox="1">
            <a:spLocks noGrp="1"/>
          </p:cNvSpPr>
          <p:nvPr>
            <p:ph type="title"/>
          </p:nvPr>
        </p:nvSpPr>
        <p:spPr>
          <a:xfrm>
            <a:off x="1270000" y="254000"/>
            <a:ext cx="10464800" cy="14054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panose="020F0502020204030204" pitchFamily="34" charset="0"/>
                <a:cs typeface="Calibri" panose="020F0502020204030204" pitchFamily="34" charset="0"/>
              </a:rPr>
              <a:t>Question Time</a:t>
            </a:r>
            <a:endParaRPr dirty="0">
              <a:latin typeface="Calibri" panose="020F0502020204030204" pitchFamily="34" charset="0"/>
              <a:cs typeface="Calibri" panose="020F0502020204030204" pitchFamily="34" charset="0"/>
            </a:endParaRPr>
          </a:p>
        </p:txBody>
      </p:sp>
      <p:sp>
        <p:nvSpPr>
          <p:cNvPr id="352" name="Google Shape;352;p45"/>
          <p:cNvSpPr txBox="1">
            <a:spLocks noGrp="1"/>
          </p:cNvSpPr>
          <p:nvPr>
            <p:ph type="body" idx="1"/>
          </p:nvPr>
        </p:nvSpPr>
        <p:spPr>
          <a:xfrm>
            <a:off x="339725" y="1862668"/>
            <a:ext cx="12215813" cy="7640108"/>
          </a:xfrm>
          <a:prstGeom prst="rect">
            <a:avLst/>
          </a:prstGeom>
          <a:noFill/>
          <a:ln>
            <a:noFill/>
          </a:ln>
        </p:spPr>
        <p:txBody>
          <a:bodyPr spcFirstLastPara="1" wrap="square" lIns="50800" tIns="50800" rIns="50800" bIns="50800" anchor="ctr" anchorCtr="0">
            <a:noAutofit/>
          </a:bodyPr>
          <a:lstStyle/>
          <a:p>
            <a:pPr marL="592138" lvl="0" indent="-592138" algn="l" rtl="0">
              <a:spcBef>
                <a:spcPts val="0"/>
              </a:spcBef>
              <a:spcAft>
                <a:spcPts val="0"/>
              </a:spcAft>
              <a:buClr>
                <a:srgbClr val="000000"/>
              </a:buClr>
              <a:buSzPts val="4500"/>
              <a:buFont typeface="Calibri"/>
              <a:buChar char="•"/>
            </a:pPr>
            <a:r>
              <a:rPr lang="en-US" sz="4500" dirty="0">
                <a:latin typeface="Calibri"/>
                <a:ea typeface="Calibri"/>
                <a:cs typeface="Calibri"/>
                <a:sym typeface="Calibri"/>
              </a:rPr>
              <a:t>What is the most common etiology of adrenal insufficiency in the United States?</a:t>
            </a:r>
            <a:endParaRPr dirty="0"/>
          </a:p>
          <a:p>
            <a:pPr marL="592138" lvl="0" indent="-592138" algn="l" rtl="0">
              <a:spcBef>
                <a:spcPts val="3000"/>
              </a:spcBef>
              <a:spcAft>
                <a:spcPts val="0"/>
              </a:spcAft>
              <a:buClr>
                <a:srgbClr val="000000"/>
              </a:buClr>
              <a:buSzPts val="4500"/>
              <a:buFont typeface="Calibri"/>
              <a:buAutoNum type="alphaUcPeriod"/>
            </a:pPr>
            <a:r>
              <a:rPr lang="en-US" sz="4500" dirty="0">
                <a:latin typeface="Calibri"/>
                <a:ea typeface="Calibri"/>
                <a:cs typeface="Calibri"/>
                <a:sym typeface="Calibri"/>
              </a:rPr>
              <a:t>Autoimmune destruction</a:t>
            </a:r>
            <a:endParaRPr dirty="0"/>
          </a:p>
          <a:p>
            <a:pPr marL="592138" lvl="0" indent="-592138" algn="l" rtl="0">
              <a:spcBef>
                <a:spcPts val="3000"/>
              </a:spcBef>
              <a:spcAft>
                <a:spcPts val="0"/>
              </a:spcAft>
              <a:buClr>
                <a:srgbClr val="000000"/>
              </a:buClr>
              <a:buSzPts val="4500"/>
              <a:buFont typeface="Calibri"/>
              <a:buAutoNum type="alphaUcPeriod"/>
            </a:pPr>
            <a:r>
              <a:rPr lang="en-US" sz="4500" dirty="0">
                <a:latin typeface="Calibri"/>
                <a:ea typeface="Calibri"/>
                <a:cs typeface="Calibri"/>
                <a:sym typeface="Calibri"/>
              </a:rPr>
              <a:t>Tuberculosis</a:t>
            </a:r>
            <a:endParaRPr dirty="0"/>
          </a:p>
          <a:p>
            <a:pPr marL="592138" lvl="0" indent="-592138" algn="l" rtl="0">
              <a:spcBef>
                <a:spcPts val="3000"/>
              </a:spcBef>
              <a:spcAft>
                <a:spcPts val="0"/>
              </a:spcAft>
              <a:buClr>
                <a:srgbClr val="000000"/>
              </a:buClr>
              <a:buSzPts val="4500"/>
              <a:buFont typeface="Calibri"/>
              <a:buAutoNum type="alphaUcPeriod"/>
            </a:pPr>
            <a:r>
              <a:rPr lang="en-US" sz="4500" dirty="0">
                <a:latin typeface="Calibri"/>
                <a:ea typeface="Calibri"/>
                <a:cs typeface="Calibri"/>
                <a:sym typeface="Calibri"/>
              </a:rPr>
              <a:t>Infiltrative disease, such as sarcoidosis</a:t>
            </a:r>
            <a:endParaRPr dirty="0"/>
          </a:p>
          <a:p>
            <a:pPr marL="592138" lvl="0" indent="-592138" algn="l" rtl="0">
              <a:spcBef>
                <a:spcPts val="3000"/>
              </a:spcBef>
              <a:spcAft>
                <a:spcPts val="0"/>
              </a:spcAft>
              <a:buClr>
                <a:srgbClr val="000000"/>
              </a:buClr>
              <a:buSzPts val="4500"/>
              <a:buFont typeface="Calibri"/>
              <a:buAutoNum type="alphaUcPeriod"/>
            </a:pPr>
            <a:r>
              <a:rPr lang="en-US" sz="4500" dirty="0">
                <a:latin typeface="Calibri"/>
                <a:ea typeface="Calibri"/>
                <a:cs typeface="Calibri"/>
                <a:sym typeface="Calibri"/>
              </a:rPr>
              <a:t>Metastatic disease to the adrenals </a:t>
            </a:r>
            <a:endParaRPr dirty="0"/>
          </a:p>
          <a:p>
            <a:pPr marL="592138" lvl="0" indent="-592138" algn="l" rtl="0">
              <a:spcBef>
                <a:spcPts val="3000"/>
              </a:spcBef>
              <a:spcAft>
                <a:spcPts val="0"/>
              </a:spcAft>
              <a:buClr>
                <a:srgbClr val="000000"/>
              </a:buClr>
              <a:buSzPts val="4500"/>
              <a:buFont typeface="Calibri"/>
              <a:buAutoNum type="alphaUcPeriod"/>
            </a:pPr>
            <a:r>
              <a:rPr lang="en-US" sz="4500" dirty="0">
                <a:latin typeface="Calibri"/>
                <a:ea typeface="Calibri"/>
                <a:cs typeface="Calibri"/>
                <a:sym typeface="Calibri"/>
              </a:rPr>
              <a:t>Congenital absence of the adrenals</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7"/>
          <p:cNvSpPr txBox="1">
            <a:spLocks noGrp="1"/>
          </p:cNvSpPr>
          <p:nvPr>
            <p:ph type="title"/>
          </p:nvPr>
        </p:nvSpPr>
        <p:spPr>
          <a:xfrm>
            <a:off x="1270000" y="254000"/>
            <a:ext cx="10464800" cy="14054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panose="020F0502020204030204" pitchFamily="34" charset="0"/>
                <a:cs typeface="Calibri" panose="020F0502020204030204" pitchFamily="34" charset="0"/>
              </a:rPr>
              <a:t>Question Time</a:t>
            </a:r>
            <a:endParaRPr dirty="0"/>
          </a:p>
        </p:txBody>
      </p:sp>
      <p:sp>
        <p:nvSpPr>
          <p:cNvPr id="364" name="Google Shape;364;p47"/>
          <p:cNvSpPr txBox="1">
            <a:spLocks noGrp="1"/>
          </p:cNvSpPr>
          <p:nvPr>
            <p:ph type="body" idx="1"/>
          </p:nvPr>
        </p:nvSpPr>
        <p:spPr>
          <a:xfrm>
            <a:off x="339725" y="1845734"/>
            <a:ext cx="12478808" cy="7657042"/>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a:ea typeface="Calibri"/>
                <a:cs typeface="Calibri"/>
                <a:sym typeface="Calibri"/>
              </a:rPr>
              <a:t>Which of the following are the most common symptoms of adrenal insufficiency in an otherwise healthy patient?</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Fevers and chills</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Hypertension and tachycardia</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Weakness and fatigue</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Anorexia and paradoxical weight gain</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9"/>
          <p:cNvSpPr txBox="1">
            <a:spLocks noGrp="1"/>
          </p:cNvSpPr>
          <p:nvPr>
            <p:ph type="title"/>
          </p:nvPr>
        </p:nvSpPr>
        <p:spPr>
          <a:xfrm>
            <a:off x="1270000" y="254000"/>
            <a:ext cx="10464800" cy="1388533"/>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panose="020F0502020204030204" pitchFamily="34" charset="0"/>
                <a:cs typeface="Calibri" panose="020F0502020204030204" pitchFamily="34" charset="0"/>
              </a:rPr>
              <a:t>Question Time</a:t>
            </a:r>
            <a:endParaRPr dirty="0"/>
          </a:p>
        </p:txBody>
      </p:sp>
      <p:sp>
        <p:nvSpPr>
          <p:cNvPr id="376" name="Google Shape;376;p49"/>
          <p:cNvSpPr txBox="1">
            <a:spLocks noGrp="1"/>
          </p:cNvSpPr>
          <p:nvPr>
            <p:ph type="body" idx="1"/>
          </p:nvPr>
        </p:nvSpPr>
        <p:spPr>
          <a:xfrm>
            <a:off x="152400" y="1642533"/>
            <a:ext cx="12615333" cy="7860243"/>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3520"/>
              <a:buFont typeface="Calibri"/>
              <a:buChar char="•"/>
            </a:pPr>
            <a:r>
              <a:rPr lang="en-US" sz="4400" dirty="0">
                <a:latin typeface="Calibri"/>
                <a:ea typeface="Calibri"/>
                <a:cs typeface="Calibri"/>
                <a:sym typeface="Calibri"/>
              </a:rPr>
              <a:t>Which of the following tests would be suggestive of primary adrenal insufficiency if a low level was found- although it is NOT how we make the diagnosis? </a:t>
            </a:r>
          </a:p>
          <a:p>
            <a:pPr marL="584200" lvl="0" indent="-584200" algn="l" rtl="0">
              <a:spcBef>
                <a:spcPts val="0"/>
              </a:spcBef>
              <a:spcAft>
                <a:spcPts val="0"/>
              </a:spcAft>
              <a:buClr>
                <a:srgbClr val="000000"/>
              </a:buClr>
              <a:buSzPts val="3520"/>
              <a:buFont typeface="Calibri"/>
              <a:buChar char="•"/>
            </a:pPr>
            <a:endParaRPr lang="en-US" sz="4400" dirty="0">
              <a:latin typeface="Calibri"/>
              <a:ea typeface="Calibri"/>
              <a:cs typeface="Calibri"/>
              <a:sym typeface="Calibri"/>
            </a:endParaRPr>
          </a:p>
          <a:p>
            <a:pPr marL="742950" lvl="0" indent="-742950" algn="l" rtl="0">
              <a:spcBef>
                <a:spcPts val="0"/>
              </a:spcBef>
              <a:spcAft>
                <a:spcPts val="0"/>
              </a:spcAft>
              <a:buClr>
                <a:srgbClr val="000000"/>
              </a:buClr>
              <a:buSzPct val="100000"/>
              <a:buFont typeface="+mj-lt"/>
              <a:buAutoNum type="alphaUcPeriod"/>
            </a:pPr>
            <a:r>
              <a:rPr lang="en-US" sz="4400" dirty="0" err="1">
                <a:latin typeface="Calibri"/>
                <a:ea typeface="Calibri"/>
                <a:cs typeface="Calibri"/>
                <a:sym typeface="Calibri"/>
              </a:rPr>
              <a:t>Cosynotropin</a:t>
            </a:r>
            <a:r>
              <a:rPr lang="en-US" sz="4400" dirty="0">
                <a:latin typeface="Calibri"/>
                <a:ea typeface="Calibri"/>
                <a:cs typeface="Calibri"/>
                <a:sym typeface="Calibri"/>
              </a:rPr>
              <a:t> level</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Cortisol level</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CRH level</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None of the above</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1"/>
          <p:cNvSpPr txBox="1">
            <a:spLocks noGrp="1"/>
          </p:cNvSpPr>
          <p:nvPr>
            <p:ph type="title"/>
          </p:nvPr>
        </p:nvSpPr>
        <p:spPr>
          <a:xfrm>
            <a:off x="330200" y="152400"/>
            <a:ext cx="12420600" cy="1393361"/>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FF0000"/>
                </a:solidFill>
                <a:latin typeface="Arial"/>
                <a:ea typeface="Arial"/>
                <a:cs typeface="Arial"/>
                <a:sym typeface="Arial"/>
              </a:rPr>
              <a:t>Glucocorticoid Excess</a:t>
            </a:r>
            <a:endParaRPr sz="6000" dirty="0">
              <a:solidFill>
                <a:srgbClr val="FF0000"/>
              </a:solidFill>
            </a:endParaRPr>
          </a:p>
        </p:txBody>
      </p:sp>
      <p:sp>
        <p:nvSpPr>
          <p:cNvPr id="388" name="Google Shape;388;p51"/>
          <p:cNvSpPr txBox="1">
            <a:spLocks noGrp="1"/>
          </p:cNvSpPr>
          <p:nvPr>
            <p:ph type="body" idx="1"/>
          </p:nvPr>
        </p:nvSpPr>
        <p:spPr>
          <a:xfrm>
            <a:off x="215901" y="3365089"/>
            <a:ext cx="6946900" cy="6063086"/>
          </a:xfrm>
          <a:prstGeom prst="rect">
            <a:avLst/>
          </a:prstGeom>
          <a:noFill/>
          <a:ln>
            <a:noFill/>
          </a:ln>
        </p:spPr>
        <p:txBody>
          <a:bodyPr spcFirstLastPara="1" wrap="square" lIns="126425" tIns="72225" rIns="126425" bIns="72225" anchor="t" anchorCtr="0">
            <a:noAutofit/>
          </a:bodyPr>
          <a:lstStyle/>
          <a:p>
            <a:pPr marL="457200" lvl="1" indent="0">
              <a:spcBef>
                <a:spcPts val="0"/>
              </a:spcBef>
              <a:buSzPts val="4500"/>
              <a:buNone/>
            </a:pPr>
            <a:r>
              <a:rPr lang="en-US" sz="4400" dirty="0">
                <a:latin typeface="Calibri"/>
                <a:ea typeface="Calibri"/>
                <a:cs typeface="Calibri"/>
                <a:sym typeface="Calibri"/>
              </a:rPr>
              <a:t>and symptoms.</a:t>
            </a:r>
            <a:endParaRPr sz="4400" dirty="0">
              <a:latin typeface="Calibri"/>
              <a:ea typeface="Calibri"/>
              <a:cs typeface="Calibri"/>
              <a:sym typeface="Calibri"/>
            </a:endParaRPr>
          </a:p>
          <a:p>
            <a:pPr marL="381000" lvl="0" indent="0" algn="l" rtl="0">
              <a:spcBef>
                <a:spcPts val="0"/>
              </a:spcBef>
              <a:spcAft>
                <a:spcPts val="0"/>
              </a:spcAft>
              <a:buNone/>
            </a:pPr>
            <a:endParaRPr sz="4400" dirty="0">
              <a:latin typeface="Calibri"/>
              <a:ea typeface="Calibri"/>
              <a:cs typeface="Calibri"/>
              <a:sym typeface="Calibri"/>
            </a:endParaRPr>
          </a:p>
          <a:p>
            <a:pPr marL="487362" lvl="0" indent="-487362" algn="l" rtl="0">
              <a:spcBef>
                <a:spcPts val="0"/>
              </a:spcBef>
              <a:spcAft>
                <a:spcPts val="0"/>
              </a:spcAft>
              <a:buSzPct val="80000"/>
              <a:buFont typeface="Calibri"/>
              <a:buChar char="•"/>
            </a:pPr>
            <a:r>
              <a:rPr lang="en-US" sz="4400" dirty="0">
                <a:latin typeface="Calibri"/>
                <a:ea typeface="Calibri"/>
                <a:cs typeface="Calibri"/>
                <a:sym typeface="Calibri"/>
              </a:rPr>
              <a:t>Patients with a typical appearance of glucocorticoid excess are often referred to as having a “Cushingoid appearance”.</a:t>
            </a:r>
            <a:endParaRPr sz="4400" dirty="0">
              <a:latin typeface="Calibri"/>
              <a:ea typeface="Calibri"/>
              <a:cs typeface="Calibri"/>
              <a:sym typeface="Calibri"/>
            </a:endParaRPr>
          </a:p>
        </p:txBody>
      </p:sp>
      <p:pic>
        <p:nvPicPr>
          <p:cNvPr id="3074" name="Picture 2" descr="Moon face - Wikipedia">
            <a:extLst>
              <a:ext uri="{FF2B5EF4-FFF2-40B4-BE49-F238E27FC236}">
                <a16:creationId xmlns:a16="http://schemas.microsoft.com/office/drawing/2014/main" id="{0420CA7E-15BE-E472-436F-995C32A82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067" y="3365089"/>
            <a:ext cx="5439833" cy="623611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FCB52F-CA10-E367-69B5-6D4BF215782B}"/>
              </a:ext>
            </a:extLst>
          </p:cNvPr>
          <p:cNvSpPr txBox="1"/>
          <p:nvPr/>
        </p:nvSpPr>
        <p:spPr>
          <a:xfrm>
            <a:off x="215900" y="1961003"/>
            <a:ext cx="12534900" cy="1446550"/>
          </a:xfrm>
          <a:prstGeom prst="rect">
            <a:avLst/>
          </a:prstGeom>
          <a:noFill/>
        </p:spPr>
        <p:txBody>
          <a:bodyPr wrap="square" rtlCol="0">
            <a:spAutoFit/>
          </a:bodyPr>
          <a:lstStyle/>
          <a:p>
            <a:pPr marL="571500" indent="-571500">
              <a:buFont typeface="Arial" panose="020B0604020202020204" pitchFamily="34" charset="0"/>
              <a:buChar char="•"/>
            </a:pPr>
            <a:r>
              <a:rPr lang="en-US" sz="4400" dirty="0">
                <a:latin typeface="Calibri"/>
                <a:ea typeface="Calibri"/>
                <a:cs typeface="Calibri"/>
                <a:sym typeface="Calibri"/>
              </a:rPr>
              <a:t>Glucocorticoid excess or Cushing’s syndrome is often suspected on the basis of patient appearance</a:t>
            </a:r>
            <a:endParaRPr lang="en-US" sz="4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1"/>
          <p:cNvSpPr txBox="1">
            <a:spLocks noGrp="1"/>
          </p:cNvSpPr>
          <p:nvPr>
            <p:ph type="title"/>
          </p:nvPr>
        </p:nvSpPr>
        <p:spPr>
          <a:xfrm>
            <a:off x="330200" y="152400"/>
            <a:ext cx="12420600" cy="1405467"/>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Glucocorticoid Excess</a:t>
            </a:r>
            <a:endParaRPr sz="6200" dirty="0">
              <a:solidFill>
                <a:srgbClr val="FF0000"/>
              </a:solidFill>
            </a:endParaRPr>
          </a:p>
        </p:txBody>
      </p:sp>
      <p:sp>
        <p:nvSpPr>
          <p:cNvPr id="388" name="Google Shape;388;p51"/>
          <p:cNvSpPr txBox="1">
            <a:spLocks noGrp="1"/>
          </p:cNvSpPr>
          <p:nvPr>
            <p:ph type="body" idx="1"/>
          </p:nvPr>
        </p:nvSpPr>
        <p:spPr>
          <a:xfrm>
            <a:off x="215900" y="1761675"/>
            <a:ext cx="12571500" cy="7666500"/>
          </a:xfrm>
          <a:prstGeom prst="rect">
            <a:avLst/>
          </a:prstGeom>
          <a:noFill/>
          <a:ln>
            <a:noFill/>
          </a:ln>
        </p:spPr>
        <p:txBody>
          <a:bodyPr spcFirstLastPara="1" wrap="square" lIns="126425" tIns="72225" rIns="126425" bIns="72225" anchor="t" anchorCtr="0">
            <a:noAutofit/>
          </a:bodyPr>
          <a:lstStyle/>
          <a:p>
            <a:pPr marL="571500" indent="-571500">
              <a:spcBef>
                <a:spcPts val="0"/>
              </a:spcBef>
              <a:buSzPct val="80000"/>
            </a:pPr>
            <a:r>
              <a:rPr lang="en-US" sz="4400" dirty="0">
                <a:latin typeface="Calibri"/>
                <a:ea typeface="Calibri"/>
                <a:cs typeface="Calibri"/>
                <a:sym typeface="Calibri"/>
              </a:rPr>
              <a:t>Glucocorticoid excess has many causes and is frequently iatrogenic- the unfortunate by-product of treating another disease with chronic steroid.</a:t>
            </a:r>
          </a:p>
          <a:p>
            <a:pPr marL="571500" indent="-571500">
              <a:spcBef>
                <a:spcPts val="0"/>
              </a:spcBef>
              <a:buSzPct val="80000"/>
            </a:pPr>
            <a:endParaRPr lang="en-US" sz="4400" dirty="0">
              <a:latin typeface="Calibri"/>
              <a:ea typeface="Calibri"/>
              <a:cs typeface="Calibri"/>
              <a:sym typeface="Calibri"/>
            </a:endParaRPr>
          </a:p>
          <a:p>
            <a:pPr marL="571500" indent="-571500">
              <a:spcBef>
                <a:spcPts val="0"/>
              </a:spcBef>
              <a:buSzPct val="80000"/>
            </a:pPr>
            <a:r>
              <a:rPr lang="en-US" sz="4400" dirty="0">
                <a:latin typeface="Calibri"/>
                <a:ea typeface="Calibri"/>
                <a:cs typeface="Calibri"/>
                <a:sym typeface="Calibri"/>
              </a:rPr>
              <a:t>What are some of these diseases?</a:t>
            </a:r>
            <a:endParaRPr sz="4400" dirty="0">
              <a:latin typeface="Calibri"/>
              <a:ea typeface="Calibri"/>
              <a:cs typeface="Calibri"/>
              <a:sym typeface="Calibri"/>
            </a:endParaRPr>
          </a:p>
        </p:txBody>
      </p:sp>
    </p:spTree>
    <p:extLst>
      <p:ext uri="{BB962C8B-B14F-4D97-AF65-F5344CB8AC3E}">
        <p14:creationId xmlns:p14="http://schemas.microsoft.com/office/powerpoint/2010/main" val="6422728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fa60496b86_2_29"/>
          <p:cNvSpPr txBox="1">
            <a:spLocks noGrp="1"/>
          </p:cNvSpPr>
          <p:nvPr>
            <p:ph type="title"/>
          </p:nvPr>
        </p:nvSpPr>
        <p:spPr>
          <a:xfrm>
            <a:off x="330200" y="152400"/>
            <a:ext cx="12420600" cy="1388533"/>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500" dirty="0">
                <a:solidFill>
                  <a:srgbClr val="FF0000"/>
                </a:solidFill>
                <a:latin typeface="Arial"/>
                <a:ea typeface="Arial"/>
                <a:cs typeface="Arial"/>
                <a:sym typeface="Arial"/>
              </a:rPr>
              <a:t>Cushing’s Syndrome: Pathophysiology</a:t>
            </a:r>
            <a:endParaRPr sz="5500" dirty="0">
              <a:solidFill>
                <a:srgbClr val="FF0000"/>
              </a:solidFill>
            </a:endParaRPr>
          </a:p>
        </p:txBody>
      </p:sp>
      <p:sp>
        <p:nvSpPr>
          <p:cNvPr id="394" name="Google Shape;394;gfa60496b86_2_29"/>
          <p:cNvSpPr txBox="1">
            <a:spLocks noGrp="1"/>
          </p:cNvSpPr>
          <p:nvPr>
            <p:ph type="body" idx="1"/>
          </p:nvPr>
        </p:nvSpPr>
        <p:spPr>
          <a:xfrm>
            <a:off x="215900" y="1659467"/>
            <a:ext cx="12571500" cy="7941733"/>
          </a:xfrm>
          <a:prstGeom prst="rect">
            <a:avLst/>
          </a:prstGeom>
          <a:noFill/>
          <a:ln>
            <a:noFill/>
          </a:ln>
        </p:spPr>
        <p:txBody>
          <a:bodyPr spcFirstLastPara="1" wrap="square" lIns="126425" tIns="72225" rIns="126425" bIns="72225" anchor="t" anchorCtr="0">
            <a:noAutofit/>
          </a:bodyPr>
          <a:lstStyle/>
          <a:p>
            <a:pPr marL="514350" lvl="0" indent="-571500" algn="l" rtl="0">
              <a:spcBef>
                <a:spcPts val="700"/>
              </a:spcBef>
              <a:spcAft>
                <a:spcPts val="0"/>
              </a:spcAft>
              <a:buSzPct val="80000"/>
              <a:buFont typeface="Arial" panose="020B0604020202020204" pitchFamily="34" charset="0"/>
              <a:buChar char="•"/>
            </a:pPr>
            <a:r>
              <a:rPr lang="en-US" sz="4400" dirty="0">
                <a:latin typeface="Calibri" panose="020F0502020204030204" pitchFamily="34" charset="0"/>
                <a:ea typeface="Calibri"/>
                <a:cs typeface="Calibri" panose="020F0502020204030204" pitchFamily="34" charset="0"/>
                <a:sym typeface="Calibri"/>
              </a:rPr>
              <a:t>Cushing’s syndrome is endogenous glucocorticoid excess which is caused by:</a:t>
            </a:r>
            <a:endParaRPr sz="4400" dirty="0">
              <a:latin typeface="Calibri" panose="020F0502020204030204" pitchFamily="34" charset="0"/>
              <a:ea typeface="Calibri"/>
              <a:cs typeface="Calibri" panose="020F0502020204030204" pitchFamily="34" charset="0"/>
              <a:sym typeface="Calibri"/>
            </a:endParaRPr>
          </a:p>
          <a:p>
            <a:pPr marL="628650" lvl="0" indent="-171450" algn="l" rtl="0">
              <a:spcBef>
                <a:spcPts val="700"/>
              </a:spcBef>
              <a:spcAft>
                <a:spcPts val="0"/>
              </a:spcAft>
              <a:buSzPct val="80000"/>
              <a:buFont typeface="Arial" panose="020B0604020202020204" pitchFamily="34" charset="0"/>
              <a:buChar char="•"/>
            </a:pPr>
            <a:endParaRPr sz="1000" dirty="0">
              <a:latin typeface="Calibri" panose="020F0502020204030204" pitchFamily="34" charset="0"/>
              <a:ea typeface="Calibri"/>
              <a:cs typeface="Calibri" panose="020F0502020204030204" pitchFamily="34" charset="0"/>
              <a:sym typeface="Calibri"/>
            </a:endParaRPr>
          </a:p>
          <a:p>
            <a:pPr marL="1003300" lvl="1" indent="-571500">
              <a:spcBef>
                <a:spcPts val="600"/>
              </a:spcBef>
              <a:buSzPct val="80000"/>
              <a:buFont typeface="Arial" panose="020B0604020202020204" pitchFamily="34" charset="0"/>
              <a:buChar char="•"/>
            </a:pPr>
            <a:r>
              <a:rPr lang="en-US" sz="4200" dirty="0">
                <a:latin typeface="Calibri" panose="020F0502020204030204" pitchFamily="34" charset="0"/>
                <a:ea typeface="Calibri"/>
                <a:cs typeface="Calibri" panose="020F0502020204030204" pitchFamily="34" charset="0"/>
                <a:sym typeface="Calibri"/>
              </a:rPr>
              <a:t>~70% of cases due to </a:t>
            </a:r>
            <a:r>
              <a:rPr lang="en-US" sz="4200" b="1" dirty="0">
                <a:latin typeface="Calibri" panose="020F0502020204030204" pitchFamily="34" charset="0"/>
                <a:ea typeface="Calibri"/>
                <a:cs typeface="Calibri" panose="020F0502020204030204" pitchFamily="34" charset="0"/>
                <a:sym typeface="Calibri"/>
              </a:rPr>
              <a:t>ACTH hypersecretion by a benign pituitary adenoma</a:t>
            </a:r>
            <a:r>
              <a:rPr lang="en-US" sz="4200" dirty="0">
                <a:latin typeface="Calibri" panose="020F0502020204030204" pitchFamily="34" charset="0"/>
                <a:ea typeface="Calibri"/>
                <a:cs typeface="Calibri" panose="020F0502020204030204" pitchFamily="34" charset="0"/>
                <a:sym typeface="Calibri"/>
              </a:rPr>
              <a:t>: F:M= 5:1</a:t>
            </a:r>
            <a:endParaRPr sz="4200" dirty="0">
              <a:latin typeface="Calibri" panose="020F0502020204030204" pitchFamily="34" charset="0"/>
              <a:cs typeface="Calibri" panose="020F0502020204030204" pitchFamily="34" charset="0"/>
            </a:endParaRPr>
          </a:p>
          <a:p>
            <a:pPr marL="1619250" lvl="2" indent="-571500">
              <a:spcBef>
                <a:spcPts val="0"/>
              </a:spcBef>
              <a:buSzPct val="80000"/>
              <a:buFont typeface="Arial" panose="020B0604020202020204" pitchFamily="34" charset="0"/>
              <a:buChar char="•"/>
            </a:pPr>
            <a:endParaRPr sz="2000" dirty="0">
              <a:latin typeface="Calibri" panose="020F0502020204030204" pitchFamily="34" charset="0"/>
              <a:ea typeface="Calibri"/>
              <a:cs typeface="Calibri" panose="020F0502020204030204" pitchFamily="34" charset="0"/>
              <a:sym typeface="Calibri"/>
            </a:endParaRPr>
          </a:p>
          <a:p>
            <a:pPr marL="1003300" lvl="1" indent="-571500">
              <a:spcBef>
                <a:spcPts val="0"/>
              </a:spcBef>
              <a:buSzPct val="80000"/>
              <a:buFont typeface="Arial" panose="020B0604020202020204" pitchFamily="34" charset="0"/>
              <a:buChar char="•"/>
            </a:pPr>
            <a:r>
              <a:rPr lang="en-US" sz="4200" dirty="0">
                <a:latin typeface="Calibri" panose="020F0502020204030204" pitchFamily="34" charset="0"/>
                <a:ea typeface="Calibri"/>
                <a:cs typeface="Calibri" panose="020F0502020204030204" pitchFamily="34" charset="0"/>
                <a:sym typeface="Calibri"/>
              </a:rPr>
              <a:t>~15% are a </a:t>
            </a:r>
            <a:r>
              <a:rPr lang="en-US" sz="4200" b="1" dirty="0">
                <a:latin typeface="Calibri" panose="020F0502020204030204" pitchFamily="34" charset="0"/>
                <a:ea typeface="Calibri"/>
                <a:cs typeface="Calibri" panose="020F0502020204030204" pitchFamily="34" charset="0"/>
                <a:sym typeface="Calibri"/>
              </a:rPr>
              <a:t>non-pituitary neoplasm that secretes ACTH</a:t>
            </a:r>
            <a:r>
              <a:rPr lang="en-US" sz="4200" dirty="0">
                <a:latin typeface="Calibri" panose="020F0502020204030204" pitchFamily="34" charset="0"/>
                <a:ea typeface="Calibri"/>
                <a:cs typeface="Calibri" panose="020F0502020204030204" pitchFamily="34" charset="0"/>
                <a:sym typeface="Calibri"/>
              </a:rPr>
              <a:t> (SCLC or carcinoid tumors)</a:t>
            </a:r>
            <a:endParaRPr sz="4200" dirty="0">
              <a:latin typeface="Calibri" panose="020F0502020204030204" pitchFamily="34" charset="0"/>
              <a:cs typeface="Calibri" panose="020F0502020204030204" pitchFamily="34" charset="0"/>
            </a:endParaRPr>
          </a:p>
          <a:p>
            <a:pPr marL="1619250" lvl="2" indent="-571500">
              <a:spcBef>
                <a:spcPts val="0"/>
              </a:spcBef>
              <a:buSzPct val="80000"/>
              <a:buFont typeface="Arial" panose="020B0604020202020204" pitchFamily="34" charset="0"/>
              <a:buChar char="•"/>
            </a:pPr>
            <a:endParaRPr sz="2000" b="1" dirty="0">
              <a:latin typeface="Calibri" panose="020F0502020204030204" pitchFamily="34" charset="0"/>
              <a:ea typeface="Calibri"/>
              <a:cs typeface="Calibri" panose="020F0502020204030204" pitchFamily="34" charset="0"/>
              <a:sym typeface="Calibri"/>
            </a:endParaRPr>
          </a:p>
          <a:p>
            <a:pPr marL="1003300" lvl="1" indent="-571500">
              <a:spcBef>
                <a:spcPts val="0"/>
              </a:spcBef>
              <a:buSzPct val="80000"/>
              <a:buFont typeface="Arial" panose="020B0604020202020204" pitchFamily="34" charset="0"/>
              <a:buChar char="•"/>
            </a:pPr>
            <a:r>
              <a:rPr lang="en-US" sz="4200" dirty="0">
                <a:latin typeface="Calibri" panose="020F0502020204030204" pitchFamily="34" charset="0"/>
                <a:ea typeface="Calibri"/>
                <a:cs typeface="Calibri" panose="020F0502020204030204" pitchFamily="34" charset="0"/>
                <a:sym typeface="Calibri"/>
              </a:rPr>
              <a:t>~15% are due to excessive </a:t>
            </a:r>
            <a:r>
              <a:rPr lang="en-US" sz="4200" b="1" dirty="0">
                <a:latin typeface="Calibri" panose="020F0502020204030204" pitchFamily="34" charset="0"/>
                <a:ea typeface="Calibri"/>
                <a:cs typeface="Calibri" panose="020F0502020204030204" pitchFamily="34" charset="0"/>
                <a:sym typeface="Calibri"/>
              </a:rPr>
              <a:t>autonomous adrenal cortisol secretion</a:t>
            </a:r>
            <a:r>
              <a:rPr lang="en-US" sz="4200" dirty="0">
                <a:latin typeface="Calibri" panose="020F0502020204030204" pitchFamily="34" charset="0"/>
                <a:ea typeface="Calibri"/>
                <a:cs typeface="Calibri" panose="020F0502020204030204" pitchFamily="34" charset="0"/>
                <a:sym typeface="Calibri"/>
              </a:rPr>
              <a:t>: either an adrenal adenoma (small, common), a carcinoma (large, less common) or </a:t>
            </a:r>
            <a:r>
              <a:rPr lang="en-US" sz="4200" dirty="0">
                <a:solidFill>
                  <a:schemeClr val="dk1"/>
                </a:solidFill>
                <a:latin typeface="Calibri" panose="020F0502020204030204" pitchFamily="34" charset="0"/>
                <a:ea typeface="Calibri"/>
                <a:cs typeface="Calibri" panose="020F0502020204030204" pitchFamily="34" charset="0"/>
                <a:sym typeface="Calibri"/>
              </a:rPr>
              <a:t>bilateral adrenal hyperplasia.</a:t>
            </a:r>
            <a:endParaRPr sz="4200" dirty="0">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53" descr="Pit causing Cushings.jpg"/>
          <p:cNvPicPr preferRelativeResize="0"/>
          <p:nvPr/>
        </p:nvPicPr>
        <p:blipFill rotWithShape="1">
          <a:blip r:embed="rId3">
            <a:alphaModFix/>
          </a:blip>
          <a:srcRect l="11166" t="2473" r="9822" b="2952"/>
          <a:stretch/>
        </p:blipFill>
        <p:spPr>
          <a:xfrm>
            <a:off x="6688668" y="264533"/>
            <a:ext cx="5994400" cy="9224533"/>
          </a:xfrm>
          <a:prstGeom prst="rect">
            <a:avLst/>
          </a:prstGeom>
          <a:noFill/>
          <a:ln>
            <a:noFill/>
          </a:ln>
        </p:spPr>
      </p:pic>
      <p:sp>
        <p:nvSpPr>
          <p:cNvPr id="406" name="Google Shape;406;p53"/>
          <p:cNvSpPr txBox="1"/>
          <p:nvPr/>
        </p:nvSpPr>
        <p:spPr>
          <a:xfrm>
            <a:off x="186199" y="112500"/>
            <a:ext cx="6942733" cy="9571811"/>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Font typeface="Arial" panose="020B0604020202020204" pitchFamily="34" charset="0"/>
              <a:buChar char="•"/>
            </a:pPr>
            <a:r>
              <a:rPr lang="en-US" sz="4400" dirty="0">
                <a:solidFill>
                  <a:srgbClr val="000000"/>
                </a:solidFill>
                <a:latin typeface="Calibri"/>
                <a:ea typeface="Calibri"/>
                <a:cs typeface="Calibri"/>
                <a:sym typeface="Calibri"/>
              </a:rPr>
              <a:t>70% of Cushing’s syndrome is due to </a:t>
            </a:r>
            <a:r>
              <a:rPr lang="en-US" sz="4400" b="1" dirty="0">
                <a:solidFill>
                  <a:srgbClr val="000000"/>
                </a:solidFill>
                <a:latin typeface="Calibri"/>
                <a:ea typeface="Calibri"/>
                <a:cs typeface="Calibri"/>
                <a:sym typeface="Calibri"/>
              </a:rPr>
              <a:t>a benign pituitary adenoma that over-secretes ACTH</a:t>
            </a:r>
            <a:r>
              <a:rPr lang="en-US" sz="4400" dirty="0">
                <a:solidFill>
                  <a:srgbClr val="000000"/>
                </a:solidFill>
                <a:latin typeface="Calibri"/>
                <a:ea typeface="Calibri"/>
                <a:cs typeface="Calibri"/>
                <a:sym typeface="Calibri"/>
              </a:rPr>
              <a:t>: this is also known as Cushing’s </a:t>
            </a:r>
            <a:r>
              <a:rPr lang="en-US" sz="4400" u="sng" dirty="0">
                <a:solidFill>
                  <a:srgbClr val="000000"/>
                </a:solidFill>
                <a:latin typeface="Calibri"/>
                <a:ea typeface="Calibri"/>
                <a:cs typeface="Calibri"/>
                <a:sym typeface="Calibri"/>
              </a:rPr>
              <a:t>disease</a:t>
            </a:r>
            <a:r>
              <a:rPr lang="en-US" sz="4400" dirty="0">
                <a:solidFill>
                  <a:srgbClr val="000000"/>
                </a:solidFill>
                <a:latin typeface="Calibri"/>
                <a:ea typeface="Calibri"/>
                <a:cs typeface="Calibri"/>
                <a:sym typeface="Calibri"/>
              </a:rPr>
              <a:t>.</a:t>
            </a:r>
            <a:endParaRPr sz="4400" dirty="0">
              <a:solidFill>
                <a:srgbClr val="000000"/>
              </a:solidFill>
              <a:latin typeface="Calibri"/>
              <a:ea typeface="Calibri"/>
              <a:cs typeface="Calibri"/>
              <a:sym typeface="Calibri"/>
            </a:endParaRPr>
          </a:p>
          <a:p>
            <a:pPr marL="571500" marR="0" lvl="0" indent="-571500" algn="l" rtl="0">
              <a:spcBef>
                <a:spcPts val="0"/>
              </a:spcBef>
              <a:spcAft>
                <a:spcPts val="0"/>
              </a:spcAft>
              <a:buFont typeface="Arial" panose="020B0604020202020204" pitchFamily="34" charset="0"/>
              <a:buChar char="•"/>
            </a:pPr>
            <a:endParaRPr sz="4400" u="sng" dirty="0">
              <a:latin typeface="Calibri"/>
              <a:ea typeface="Calibri"/>
              <a:cs typeface="Calibri"/>
              <a:sym typeface="Calibri"/>
            </a:endParaRPr>
          </a:p>
          <a:p>
            <a:pPr marL="571500" marR="0" lvl="0" indent="-571500" algn="l" rtl="0">
              <a:spcBef>
                <a:spcPts val="0"/>
              </a:spcBef>
              <a:spcAft>
                <a:spcPts val="0"/>
              </a:spcAft>
              <a:buFont typeface="Arial" panose="020B0604020202020204" pitchFamily="34" charset="0"/>
              <a:buChar char="•"/>
            </a:pPr>
            <a:r>
              <a:rPr lang="en-US" sz="4400" dirty="0">
                <a:latin typeface="Calibri"/>
                <a:ea typeface="Calibri"/>
                <a:cs typeface="Calibri"/>
                <a:sym typeface="Calibri"/>
              </a:rPr>
              <a:t>Excessive ACTH forces the adrenal gland to produce excessive cortisol.</a:t>
            </a:r>
            <a:endParaRPr sz="4400" dirty="0">
              <a:latin typeface="Calibri"/>
              <a:ea typeface="Calibri"/>
              <a:cs typeface="Calibri"/>
              <a:sym typeface="Calibri"/>
            </a:endParaRPr>
          </a:p>
          <a:p>
            <a:pPr marL="571500" marR="0" lvl="0" indent="-571500" algn="l" rtl="0">
              <a:spcBef>
                <a:spcPts val="0"/>
              </a:spcBef>
              <a:spcAft>
                <a:spcPts val="0"/>
              </a:spcAft>
              <a:buFont typeface="Arial" panose="020B0604020202020204" pitchFamily="34" charset="0"/>
              <a:buChar char="•"/>
            </a:pPr>
            <a:endParaRPr sz="4400" dirty="0">
              <a:latin typeface="Calibri"/>
              <a:ea typeface="Calibri"/>
              <a:cs typeface="Calibri"/>
              <a:sym typeface="Calibri"/>
            </a:endParaRPr>
          </a:p>
          <a:p>
            <a:pPr marL="571500" marR="0" lvl="0" indent="-571500" algn="l" rtl="0">
              <a:spcBef>
                <a:spcPts val="0"/>
              </a:spcBef>
              <a:spcAft>
                <a:spcPts val="0"/>
              </a:spcAft>
              <a:buFont typeface="Arial" panose="020B0604020202020204" pitchFamily="34" charset="0"/>
              <a:buChar char="•"/>
            </a:pPr>
            <a:r>
              <a:rPr lang="en-US" sz="4400" dirty="0">
                <a:latin typeface="Calibri"/>
                <a:ea typeface="Calibri"/>
                <a:cs typeface="Calibri"/>
                <a:sym typeface="Calibri"/>
              </a:rPr>
              <a:t>What will happen to the rest of the ACTH producing pituitary tissue?</a:t>
            </a:r>
            <a:endParaRPr sz="4400" dirty="0">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Google Shape;411;p54" descr="Ectopic causing cushings.jpg"/>
          <p:cNvPicPr preferRelativeResize="0"/>
          <p:nvPr/>
        </p:nvPicPr>
        <p:blipFill rotWithShape="1">
          <a:blip r:embed="rId3">
            <a:alphaModFix/>
          </a:blip>
          <a:srcRect l="10015" t="2118" r="11862" b="2742"/>
          <a:stretch/>
        </p:blipFill>
        <p:spPr>
          <a:xfrm>
            <a:off x="406399" y="600416"/>
            <a:ext cx="5968999" cy="8754533"/>
          </a:xfrm>
          <a:prstGeom prst="rect">
            <a:avLst/>
          </a:prstGeom>
          <a:noFill/>
          <a:ln>
            <a:noFill/>
          </a:ln>
        </p:spPr>
      </p:pic>
      <p:sp>
        <p:nvSpPr>
          <p:cNvPr id="412" name="Google Shape;412;p54"/>
          <p:cNvSpPr txBox="1"/>
          <p:nvPr/>
        </p:nvSpPr>
        <p:spPr>
          <a:xfrm>
            <a:off x="6629403" y="398651"/>
            <a:ext cx="6121397" cy="8894702"/>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Font typeface="Arial" panose="020B0604020202020204" pitchFamily="34" charset="0"/>
              <a:buChar char="•"/>
            </a:pPr>
            <a:r>
              <a:rPr lang="en-US" sz="4400" dirty="0">
                <a:solidFill>
                  <a:srgbClr val="000000"/>
                </a:solidFill>
                <a:latin typeface="Calibri" panose="020F0502020204030204" pitchFamily="34" charset="0"/>
                <a:ea typeface="Calibri"/>
                <a:cs typeface="Calibri" panose="020F0502020204030204" pitchFamily="34" charset="0"/>
                <a:sym typeface="Calibri"/>
              </a:rPr>
              <a:t>15% of Cushing’s syndrome patients have a </a:t>
            </a:r>
            <a:r>
              <a:rPr lang="en-US" sz="4400" b="1" dirty="0">
                <a:solidFill>
                  <a:srgbClr val="000000"/>
                </a:solidFill>
                <a:latin typeface="Calibri" panose="020F0502020204030204" pitchFamily="34" charset="0"/>
                <a:ea typeface="Calibri"/>
                <a:cs typeface="Calibri" panose="020F0502020204030204" pitchFamily="34" charset="0"/>
                <a:sym typeface="Calibri"/>
              </a:rPr>
              <a:t>non-pituitary neoplasm that secretes ACTH </a:t>
            </a:r>
            <a:r>
              <a:rPr lang="en-US" sz="4400" dirty="0">
                <a:solidFill>
                  <a:srgbClr val="000000"/>
                </a:solidFill>
                <a:latin typeface="Calibri" panose="020F0502020204030204" pitchFamily="34" charset="0"/>
                <a:ea typeface="Calibri"/>
                <a:cs typeface="Calibri" panose="020F0502020204030204" pitchFamily="34" charset="0"/>
                <a:sym typeface="Calibri"/>
              </a:rPr>
              <a:t>as part of a </a:t>
            </a:r>
            <a:r>
              <a:rPr lang="en-US" sz="4400" b="1" dirty="0">
                <a:solidFill>
                  <a:srgbClr val="000000"/>
                </a:solidFill>
                <a:latin typeface="Calibri" panose="020F0502020204030204" pitchFamily="34" charset="0"/>
                <a:ea typeface="Calibri"/>
                <a:cs typeface="Calibri" panose="020F0502020204030204" pitchFamily="34" charset="0"/>
                <a:sym typeface="Calibri"/>
              </a:rPr>
              <a:t>paraneoplastic process.</a:t>
            </a:r>
            <a:endParaRPr sz="44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Font typeface="Arial" panose="020B0604020202020204" pitchFamily="34" charset="0"/>
              <a:buChar char="•"/>
            </a:pPr>
            <a:endParaRPr sz="4400" b="1" dirty="0">
              <a:solidFill>
                <a:srgbClr val="000000"/>
              </a:solidFill>
              <a:latin typeface="Calibri" panose="020F0502020204030204" pitchFamily="34" charset="0"/>
              <a:ea typeface="Calibri"/>
              <a:cs typeface="Calibri" panose="020F0502020204030204" pitchFamily="34" charset="0"/>
              <a:sym typeface="Calibri"/>
            </a:endParaRPr>
          </a:p>
          <a:p>
            <a:pPr marL="571500" marR="0" lvl="0" indent="-571500" algn="l" rtl="0">
              <a:spcBef>
                <a:spcPts val="0"/>
              </a:spcBef>
              <a:spcAft>
                <a:spcPts val="0"/>
              </a:spcAft>
              <a:buFont typeface="Arial" panose="020B0604020202020204" pitchFamily="34" charset="0"/>
              <a:buChar char="•"/>
            </a:pPr>
            <a:r>
              <a:rPr lang="en-US" sz="4400" b="1" dirty="0">
                <a:solidFill>
                  <a:srgbClr val="000000"/>
                </a:solidFill>
                <a:latin typeface="Calibri" panose="020F0502020204030204" pitchFamily="34" charset="0"/>
                <a:ea typeface="Calibri"/>
                <a:cs typeface="Calibri" panose="020F0502020204030204" pitchFamily="34" charset="0"/>
                <a:sym typeface="Calibri"/>
              </a:rPr>
              <a:t>SCLC </a:t>
            </a:r>
            <a:r>
              <a:rPr lang="en-US" sz="4400" dirty="0">
                <a:solidFill>
                  <a:srgbClr val="000000"/>
                </a:solidFill>
                <a:latin typeface="Calibri" panose="020F0502020204030204" pitchFamily="34" charset="0"/>
                <a:ea typeface="Calibri"/>
                <a:cs typeface="Calibri" panose="020F0502020204030204" pitchFamily="34" charset="0"/>
                <a:sym typeface="Calibri"/>
              </a:rPr>
              <a:t>is well known for this.  </a:t>
            </a:r>
          </a:p>
          <a:p>
            <a:pPr marL="571500" marR="0" lvl="0" indent="-571500" algn="l" rtl="0">
              <a:spcBef>
                <a:spcPts val="0"/>
              </a:spcBef>
              <a:spcAft>
                <a:spcPts val="0"/>
              </a:spcAft>
              <a:buFont typeface="Arial" panose="020B0604020202020204" pitchFamily="34" charset="0"/>
              <a:buChar char="•"/>
            </a:pPr>
            <a:r>
              <a:rPr lang="en-US" sz="4400" b="1" dirty="0">
                <a:solidFill>
                  <a:srgbClr val="000000"/>
                </a:solidFill>
                <a:latin typeface="Calibri" panose="020F0502020204030204" pitchFamily="34" charset="0"/>
                <a:ea typeface="Calibri"/>
                <a:cs typeface="Calibri" panose="020F0502020204030204" pitchFamily="34" charset="0"/>
                <a:sym typeface="Calibri"/>
              </a:rPr>
              <a:t>Carcinoid tumors of the GI system and lung </a:t>
            </a:r>
            <a:r>
              <a:rPr lang="en-US" sz="4400" dirty="0">
                <a:solidFill>
                  <a:srgbClr val="000000"/>
                </a:solidFill>
                <a:latin typeface="Calibri" panose="020F0502020204030204" pitchFamily="34" charset="0"/>
                <a:ea typeface="Calibri"/>
                <a:cs typeface="Calibri" panose="020F0502020204030204" pitchFamily="34" charset="0"/>
                <a:sym typeface="Calibri"/>
              </a:rPr>
              <a:t>are also likely.</a:t>
            </a:r>
            <a:endParaRPr sz="4400" dirty="0">
              <a:solidFill>
                <a:srgbClr val="000000"/>
              </a:solidFill>
              <a:latin typeface="Calibri" panose="020F0502020204030204" pitchFamily="34" charset="0"/>
              <a:ea typeface="Helvetica Neue Light"/>
              <a:cs typeface="Calibri" panose="020F0502020204030204" pitchFamily="34" charset="0"/>
              <a:sym typeface="Helvetica Neue 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55" descr="Adrenal causing cushings.jpg"/>
          <p:cNvPicPr preferRelativeResize="0"/>
          <p:nvPr/>
        </p:nvPicPr>
        <p:blipFill rotWithShape="1">
          <a:blip r:embed="rId3">
            <a:alphaModFix/>
          </a:blip>
          <a:srcRect l="6545" t="2638" r="12589" b="3605"/>
          <a:stretch/>
        </p:blipFill>
        <p:spPr>
          <a:xfrm>
            <a:off x="6818984" y="575732"/>
            <a:ext cx="6028266" cy="8805868"/>
          </a:xfrm>
          <a:prstGeom prst="rect">
            <a:avLst/>
          </a:prstGeom>
          <a:noFill/>
          <a:ln>
            <a:noFill/>
          </a:ln>
        </p:spPr>
      </p:pic>
      <p:sp>
        <p:nvSpPr>
          <p:cNvPr id="418" name="Google Shape;418;p55"/>
          <p:cNvSpPr txBox="1"/>
          <p:nvPr/>
        </p:nvSpPr>
        <p:spPr>
          <a:xfrm>
            <a:off x="157549" y="762000"/>
            <a:ext cx="6869784" cy="8894702"/>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Font typeface="Arial" panose="020B0604020202020204" pitchFamily="34" charset="0"/>
              <a:buChar char="•"/>
            </a:pPr>
            <a:r>
              <a:rPr lang="en-US" sz="4400" dirty="0">
                <a:solidFill>
                  <a:srgbClr val="000000"/>
                </a:solidFill>
                <a:latin typeface="Calibri" panose="020F0502020204030204" pitchFamily="34" charset="0"/>
                <a:ea typeface="Calibri"/>
                <a:cs typeface="Calibri" panose="020F0502020204030204" pitchFamily="34" charset="0"/>
                <a:sym typeface="Calibri"/>
              </a:rPr>
              <a:t>15% are due to excessive </a:t>
            </a:r>
            <a:r>
              <a:rPr lang="en-US" sz="4400" b="1" dirty="0">
                <a:solidFill>
                  <a:srgbClr val="000000"/>
                </a:solidFill>
                <a:latin typeface="Calibri" panose="020F0502020204030204" pitchFamily="34" charset="0"/>
                <a:ea typeface="Calibri"/>
                <a:cs typeface="Calibri" panose="020F0502020204030204" pitchFamily="34" charset="0"/>
                <a:sym typeface="Calibri"/>
              </a:rPr>
              <a:t>adrenal cortisol secretion</a:t>
            </a:r>
            <a:r>
              <a:rPr lang="en-US" sz="4400" dirty="0">
                <a:solidFill>
                  <a:srgbClr val="000000"/>
                </a:solidFill>
                <a:latin typeface="Calibri" panose="020F0502020204030204" pitchFamily="34" charset="0"/>
                <a:ea typeface="Calibri"/>
                <a:cs typeface="Calibri" panose="020F0502020204030204" pitchFamily="34" charset="0"/>
                <a:sym typeface="Calibri"/>
              </a:rPr>
              <a:t>: </a:t>
            </a:r>
            <a:endParaRPr sz="4400" dirty="0">
              <a:latin typeface="Calibri" panose="020F0502020204030204" pitchFamily="34" charset="0"/>
              <a:cs typeface="Calibri" panose="020F0502020204030204" pitchFamily="34" charset="0"/>
            </a:endParaRPr>
          </a:p>
          <a:p>
            <a:pPr marL="457200" marR="0" lvl="0" indent="0" algn="l" rtl="0">
              <a:spcBef>
                <a:spcPts val="0"/>
              </a:spcBef>
              <a:spcAft>
                <a:spcPts val="0"/>
              </a:spcAft>
              <a:buNone/>
            </a:pPr>
            <a:endParaRPr sz="4400" dirty="0">
              <a:latin typeface="Calibri" panose="020F0502020204030204" pitchFamily="34" charset="0"/>
              <a:cs typeface="Calibri" panose="020F0502020204030204" pitchFamily="34" charset="0"/>
            </a:endParaRPr>
          </a:p>
          <a:p>
            <a:pPr marL="742950" marR="0" lvl="0" indent="-742950" algn="l" rtl="0">
              <a:spcBef>
                <a:spcPts val="0"/>
              </a:spcBef>
              <a:spcAft>
                <a:spcPts val="0"/>
              </a:spcAft>
              <a:buClr>
                <a:srgbClr val="000000"/>
              </a:buClr>
              <a:buSzPts val="3600"/>
              <a:buFont typeface="Helvetica Neue Light"/>
              <a:buAutoNum type="arabicPeriod"/>
            </a:pPr>
            <a:r>
              <a:rPr lang="en-US" sz="4400" dirty="0">
                <a:solidFill>
                  <a:srgbClr val="000000"/>
                </a:solidFill>
                <a:latin typeface="Calibri" panose="020F0502020204030204" pitchFamily="34" charset="0"/>
                <a:ea typeface="Calibri"/>
                <a:cs typeface="Calibri" panose="020F0502020204030204" pitchFamily="34" charset="0"/>
                <a:sym typeface="Calibri"/>
              </a:rPr>
              <a:t>Adrenal adenoma</a:t>
            </a:r>
            <a:endParaRPr sz="4400" dirty="0">
              <a:latin typeface="Calibri" panose="020F0502020204030204" pitchFamily="34" charset="0"/>
              <a:cs typeface="Calibri" panose="020F0502020204030204" pitchFamily="34" charset="0"/>
            </a:endParaRPr>
          </a:p>
          <a:p>
            <a:pPr marL="742950" marR="0" lvl="0" indent="-742950" algn="l" rtl="0">
              <a:spcBef>
                <a:spcPts val="0"/>
              </a:spcBef>
              <a:spcAft>
                <a:spcPts val="0"/>
              </a:spcAft>
              <a:buClr>
                <a:srgbClr val="000000"/>
              </a:buClr>
              <a:buSzPts val="3600"/>
              <a:buFont typeface="Helvetica Neue Light"/>
              <a:buAutoNum type="arabicPeriod"/>
            </a:pPr>
            <a:r>
              <a:rPr lang="en-US" sz="4400" dirty="0">
                <a:solidFill>
                  <a:srgbClr val="000000"/>
                </a:solidFill>
                <a:latin typeface="Calibri" panose="020F0502020204030204" pitchFamily="34" charset="0"/>
                <a:ea typeface="Calibri"/>
                <a:cs typeface="Calibri" panose="020F0502020204030204" pitchFamily="34" charset="0"/>
                <a:sym typeface="Calibri"/>
              </a:rPr>
              <a:t>Adrenal carcinoma</a:t>
            </a:r>
            <a:endParaRPr sz="4400" dirty="0">
              <a:solidFill>
                <a:srgbClr val="000000"/>
              </a:solidFill>
              <a:latin typeface="Calibri" panose="020F0502020204030204" pitchFamily="34" charset="0"/>
              <a:ea typeface="Calibri"/>
              <a:cs typeface="Calibri" panose="020F0502020204030204" pitchFamily="34" charset="0"/>
              <a:sym typeface="Calibri"/>
            </a:endParaRPr>
          </a:p>
          <a:p>
            <a:pPr marL="457200" lvl="0" indent="-457200" algn="l" rtl="0">
              <a:spcBef>
                <a:spcPts val="0"/>
              </a:spcBef>
              <a:spcAft>
                <a:spcPts val="0"/>
              </a:spcAft>
              <a:buSzPts val="3600"/>
              <a:buFont typeface="Calibri"/>
              <a:buAutoNum type="arabicPeriod"/>
            </a:pPr>
            <a:r>
              <a:rPr lang="en-US" sz="4400" dirty="0">
                <a:solidFill>
                  <a:schemeClr val="dk1"/>
                </a:solidFill>
                <a:latin typeface="Calibri" panose="020F0502020204030204" pitchFamily="34" charset="0"/>
                <a:ea typeface="Calibri"/>
                <a:cs typeface="Calibri" panose="020F0502020204030204" pitchFamily="34" charset="0"/>
                <a:sym typeface="Calibri"/>
              </a:rPr>
              <a:t>Bilateral hyperplasia (rare)</a:t>
            </a:r>
            <a:endParaRPr sz="4400" dirty="0">
              <a:latin typeface="Calibri" panose="020F0502020204030204" pitchFamily="34" charset="0"/>
              <a:ea typeface="Calibri"/>
              <a:cs typeface="Calibri" panose="020F0502020204030204" pitchFamily="34" charset="0"/>
              <a:sym typeface="Calibri"/>
            </a:endParaRPr>
          </a:p>
          <a:p>
            <a:pPr marL="742950" marR="0" lvl="0" indent="-514350" algn="l" rtl="0">
              <a:spcBef>
                <a:spcPts val="0"/>
              </a:spcBef>
              <a:spcAft>
                <a:spcPts val="0"/>
              </a:spcAft>
              <a:buClr>
                <a:srgbClr val="000000"/>
              </a:buClr>
              <a:buSzPts val="3600"/>
              <a:buFont typeface="Helvetica Neue Light"/>
              <a:buNone/>
            </a:pPr>
            <a:endParaRPr sz="4400" dirty="0">
              <a:solidFill>
                <a:srgbClr val="000000"/>
              </a:solidFill>
              <a:latin typeface="Calibri" panose="020F0502020204030204" pitchFamily="34" charset="0"/>
              <a:ea typeface="Calibri"/>
              <a:cs typeface="Calibri" panose="020F0502020204030204" pitchFamily="34" charset="0"/>
              <a:sym typeface="Calibri"/>
            </a:endParaRPr>
          </a:p>
          <a:p>
            <a:pPr marL="571500" marR="0" lvl="0" indent="-571500" algn="l" rtl="0">
              <a:spcBef>
                <a:spcPts val="0"/>
              </a:spcBef>
              <a:spcAft>
                <a:spcPts val="0"/>
              </a:spcAft>
              <a:buFont typeface="Arial" panose="020B0604020202020204" pitchFamily="34" charset="0"/>
              <a:buChar char="•"/>
            </a:pPr>
            <a:r>
              <a:rPr lang="en-US" sz="4400" dirty="0">
                <a:solidFill>
                  <a:srgbClr val="000000"/>
                </a:solidFill>
                <a:latin typeface="Calibri" panose="020F0502020204030204" pitchFamily="34" charset="0"/>
                <a:ea typeface="Calibri"/>
                <a:cs typeface="Calibri" panose="020F0502020204030204" pitchFamily="34" charset="0"/>
                <a:sym typeface="Calibri"/>
              </a:rPr>
              <a:t>This adrenal secretion does NOT involve any stimulation from the hypothalamus or pituitary and is therefore ACTH independent.</a:t>
            </a:r>
            <a:endParaRPr sz="4400" dirty="0">
              <a:solidFill>
                <a:srgbClr val="000000"/>
              </a:solidFill>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52"/>
          <p:cNvSpPr txBox="1">
            <a:spLocks noGrp="1"/>
          </p:cNvSpPr>
          <p:nvPr>
            <p:ph type="title"/>
          </p:nvPr>
        </p:nvSpPr>
        <p:spPr>
          <a:xfrm>
            <a:off x="649288" y="152400"/>
            <a:ext cx="11704637" cy="1863725"/>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Causes of Cushing’s</a:t>
            </a:r>
            <a:endParaRPr dirty="0">
              <a:solidFill>
                <a:srgbClr val="FF0000"/>
              </a:solidFill>
            </a:endParaRPr>
          </a:p>
        </p:txBody>
      </p:sp>
      <p:pic>
        <p:nvPicPr>
          <p:cNvPr id="400" name="Google Shape;400;p52" descr="Causes of Cushing's.jpg"/>
          <p:cNvPicPr preferRelativeResize="0"/>
          <p:nvPr/>
        </p:nvPicPr>
        <p:blipFill rotWithShape="1">
          <a:blip r:embed="rId3">
            <a:alphaModFix/>
          </a:blip>
          <a:srcRect/>
          <a:stretch/>
        </p:blipFill>
        <p:spPr>
          <a:xfrm>
            <a:off x="0" y="1625600"/>
            <a:ext cx="13004800" cy="81280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6"/>
          <p:cNvSpPr txBox="1">
            <a:spLocks noGrp="1"/>
          </p:cNvSpPr>
          <p:nvPr>
            <p:ph type="title"/>
          </p:nvPr>
        </p:nvSpPr>
        <p:spPr>
          <a:xfrm>
            <a:off x="215875" y="304800"/>
            <a:ext cx="12571500" cy="19050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Signs/Symptoms of Glucocorticoid Excess</a:t>
            </a:r>
            <a:endParaRPr dirty="0">
              <a:solidFill>
                <a:srgbClr val="FF0000"/>
              </a:solidFill>
            </a:endParaRPr>
          </a:p>
        </p:txBody>
      </p:sp>
      <p:sp>
        <p:nvSpPr>
          <p:cNvPr id="424" name="Google Shape;424;p56"/>
          <p:cNvSpPr txBox="1">
            <a:spLocks noGrp="1"/>
          </p:cNvSpPr>
          <p:nvPr>
            <p:ph type="body" idx="1"/>
          </p:nvPr>
        </p:nvSpPr>
        <p:spPr>
          <a:xfrm>
            <a:off x="215900" y="2514600"/>
            <a:ext cx="12571414" cy="702151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i="1" dirty="0">
                <a:latin typeface="Calibri"/>
                <a:ea typeface="Calibri"/>
                <a:cs typeface="Calibri"/>
                <a:sym typeface="Calibri"/>
              </a:rPr>
              <a:t>Purple (violaceous) striae: </a:t>
            </a:r>
            <a:r>
              <a:rPr lang="en-US" sz="4500" dirty="0">
                <a:latin typeface="Calibri"/>
                <a:ea typeface="Calibri"/>
                <a:cs typeface="Calibri"/>
                <a:sym typeface="Calibri"/>
              </a:rPr>
              <a:t>stretch marks </a:t>
            </a:r>
            <a:r>
              <a:rPr lang="en-US" sz="4500" b="1" i="1" dirty="0">
                <a:latin typeface="Calibri"/>
                <a:ea typeface="Calibri"/>
                <a:cs typeface="Calibri"/>
                <a:sym typeface="Calibri"/>
              </a:rPr>
              <a:t> </a:t>
            </a:r>
            <a:endParaRPr dirty="0"/>
          </a:p>
          <a:p>
            <a:pPr marL="487363" lvl="0" indent="-296863" algn="l" rtl="0">
              <a:spcBef>
                <a:spcPts val="700"/>
              </a:spcBef>
              <a:spcAft>
                <a:spcPts val="0"/>
              </a:spcAft>
              <a:buClr>
                <a:srgbClr val="000000"/>
              </a:buClr>
              <a:buSzPts val="3000"/>
              <a:buFont typeface="Arial"/>
              <a:buNone/>
            </a:pPr>
            <a:endParaRPr sz="3000" b="1" i="1"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Hirsutism: </a:t>
            </a:r>
            <a:r>
              <a:rPr lang="en-US" sz="4500" dirty="0">
                <a:latin typeface="Calibri"/>
                <a:ea typeface="Calibri"/>
                <a:cs typeface="Calibri"/>
                <a:sym typeface="Calibri"/>
              </a:rPr>
              <a:t>male pattern hair growth on face, chest in women, deepening voice.</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Skin findings: </a:t>
            </a:r>
            <a:r>
              <a:rPr lang="en-US" sz="4500" dirty="0">
                <a:latin typeface="Calibri"/>
                <a:ea typeface="Calibri"/>
                <a:cs typeface="Calibri"/>
                <a:sym typeface="Calibri"/>
              </a:rPr>
              <a:t>thin skin with visible vessels, easy bruising, slow to heal if injured.</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Immunosuppression: </a:t>
            </a:r>
            <a:r>
              <a:rPr lang="en-US" sz="4500" dirty="0">
                <a:latin typeface="Calibri"/>
                <a:ea typeface="Calibri"/>
                <a:cs typeface="Calibri"/>
                <a:sym typeface="Calibri"/>
              </a:rPr>
              <a:t>poor wound healing and easy development of skin infections. </a:t>
            </a: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7"/>
          <p:cNvSpPr txBox="1">
            <a:spLocks noGrp="1"/>
          </p:cNvSpPr>
          <p:nvPr>
            <p:ph type="title"/>
          </p:nvPr>
        </p:nvSpPr>
        <p:spPr>
          <a:xfrm>
            <a:off x="215900" y="228600"/>
            <a:ext cx="12571414" cy="1828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mj-lt"/>
                <a:ea typeface="Calibri"/>
                <a:cs typeface="Calibri"/>
                <a:sym typeface="Calibri"/>
              </a:rPr>
              <a:t>Signs/Symptoms of Glucocorticoid Excess</a:t>
            </a:r>
            <a:endParaRPr sz="6200" dirty="0">
              <a:solidFill>
                <a:srgbClr val="FF0000"/>
              </a:solidFill>
              <a:latin typeface="+mj-lt"/>
              <a:ea typeface="Calibri"/>
              <a:cs typeface="Calibri"/>
              <a:sym typeface="Calibri"/>
            </a:endParaRPr>
          </a:p>
        </p:txBody>
      </p:sp>
      <p:sp>
        <p:nvSpPr>
          <p:cNvPr id="430" name="Google Shape;430;p57"/>
          <p:cNvSpPr txBox="1">
            <a:spLocks noGrp="1"/>
          </p:cNvSpPr>
          <p:nvPr>
            <p:ph type="body" idx="1"/>
          </p:nvPr>
        </p:nvSpPr>
        <p:spPr>
          <a:xfrm>
            <a:off x="215900" y="2286000"/>
            <a:ext cx="12571414" cy="72390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i="1" dirty="0">
                <a:latin typeface="Calibri"/>
                <a:ea typeface="Calibri"/>
                <a:cs typeface="Calibri"/>
                <a:sym typeface="Calibri"/>
              </a:rPr>
              <a:t>Central obesity:</a:t>
            </a:r>
            <a:r>
              <a:rPr lang="en-US" sz="4500" dirty="0">
                <a:latin typeface="Calibri"/>
                <a:ea typeface="Calibri"/>
                <a:cs typeface="Calibri"/>
                <a:sym typeface="Calibri"/>
              </a:rPr>
              <a:t> weight gain in the abdomen, with thin, wasted extremities and large muscle group weakness in the hip and shoulder girdles.</a:t>
            </a:r>
            <a:endParaRPr dirty="0"/>
          </a:p>
          <a:p>
            <a:pPr marL="487363"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Moon face </a:t>
            </a:r>
            <a:r>
              <a:rPr lang="en-US" sz="4500" dirty="0">
                <a:latin typeface="Calibri"/>
                <a:ea typeface="Calibri"/>
                <a:cs typeface="Calibri"/>
                <a:sym typeface="Calibri"/>
              </a:rPr>
              <a:t>with plethora (reddening)</a:t>
            </a:r>
            <a:endParaRPr dirty="0"/>
          </a:p>
          <a:p>
            <a:pPr marL="487363" lvl="0"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Buffalo hump and supraclavicular fat pads</a:t>
            </a:r>
            <a:r>
              <a:rPr lang="en-US" sz="4500" dirty="0">
                <a:latin typeface="Calibri"/>
                <a:ea typeface="Calibri"/>
                <a:cs typeface="Calibri"/>
                <a:sym typeface="Calibri"/>
              </a:rPr>
              <a:t>: deposition of fat at the high thoracic spine and above the clavicles.</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58"/>
          <p:cNvPicPr preferRelativeResize="0"/>
          <p:nvPr/>
        </p:nvPicPr>
        <p:blipFill rotWithShape="1">
          <a:blip r:embed="rId3">
            <a:alphaModFix/>
          </a:blip>
          <a:srcRect/>
          <a:stretch/>
        </p:blipFill>
        <p:spPr>
          <a:xfrm>
            <a:off x="330200" y="228600"/>
            <a:ext cx="6477000" cy="6376988"/>
          </a:xfrm>
          <a:prstGeom prst="rect">
            <a:avLst/>
          </a:prstGeom>
          <a:noFill/>
          <a:ln>
            <a:noFill/>
          </a:ln>
        </p:spPr>
      </p:pic>
      <p:pic>
        <p:nvPicPr>
          <p:cNvPr id="436" name="Google Shape;436;p58"/>
          <p:cNvPicPr preferRelativeResize="0">
            <a:picLocks noGrp="1"/>
          </p:cNvPicPr>
          <p:nvPr>
            <p:ph type="body" idx="1"/>
          </p:nvPr>
        </p:nvPicPr>
        <p:blipFill rotWithShape="1">
          <a:blip r:embed="rId4">
            <a:alphaModFix/>
          </a:blip>
          <a:srcRect l="2910"/>
          <a:stretch/>
        </p:blipFill>
        <p:spPr>
          <a:xfrm>
            <a:off x="6807200" y="96838"/>
            <a:ext cx="6202363" cy="9656762"/>
          </a:xfrm>
          <a:prstGeom prst="rect">
            <a:avLst/>
          </a:prstGeom>
          <a:noFill/>
          <a:ln>
            <a:noFill/>
          </a:ln>
        </p:spPr>
      </p:pic>
      <p:pic>
        <p:nvPicPr>
          <p:cNvPr id="437" name="Google Shape;437;p58"/>
          <p:cNvPicPr preferRelativeResize="0"/>
          <p:nvPr/>
        </p:nvPicPr>
        <p:blipFill rotWithShape="1">
          <a:blip r:embed="rId5">
            <a:alphaModFix/>
          </a:blip>
          <a:srcRect l="10432" r="13009" b="18222"/>
          <a:stretch/>
        </p:blipFill>
        <p:spPr>
          <a:xfrm>
            <a:off x="1603375" y="6737350"/>
            <a:ext cx="2994025" cy="293528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pic>
        <p:nvPicPr>
          <p:cNvPr id="442" name="Google Shape;442;p59" descr="Cushingoid.jpg"/>
          <p:cNvPicPr preferRelativeResize="0"/>
          <p:nvPr/>
        </p:nvPicPr>
        <p:blipFill rotWithShape="1">
          <a:blip r:embed="rId3">
            <a:alphaModFix/>
          </a:blip>
          <a:srcRect/>
          <a:stretch/>
        </p:blipFill>
        <p:spPr>
          <a:xfrm>
            <a:off x="0" y="0"/>
            <a:ext cx="13004800" cy="97536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0"/>
          <p:cNvSpPr txBox="1">
            <a:spLocks noGrp="1"/>
          </p:cNvSpPr>
          <p:nvPr>
            <p:ph type="title"/>
          </p:nvPr>
        </p:nvSpPr>
        <p:spPr>
          <a:xfrm>
            <a:off x="406400" y="254000"/>
            <a:ext cx="7543800" cy="11176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4800" dirty="0">
                <a:solidFill>
                  <a:srgbClr val="FF0000"/>
                </a:solidFill>
                <a:latin typeface="Calibri"/>
                <a:ea typeface="Calibri"/>
                <a:cs typeface="Calibri"/>
                <a:sym typeface="Calibri"/>
              </a:rPr>
              <a:t>Fragile Skin of Glucocorticoid Excess</a:t>
            </a:r>
            <a:endParaRPr dirty="0">
              <a:solidFill>
                <a:srgbClr val="FF0000"/>
              </a:solidFill>
            </a:endParaRPr>
          </a:p>
        </p:txBody>
      </p:sp>
      <p:pic>
        <p:nvPicPr>
          <p:cNvPr id="448" name="Google Shape;448;p60"/>
          <p:cNvPicPr preferRelativeResize="0">
            <a:picLocks noGrp="1"/>
          </p:cNvPicPr>
          <p:nvPr>
            <p:ph type="body" idx="1"/>
          </p:nvPr>
        </p:nvPicPr>
        <p:blipFill rotWithShape="1">
          <a:blip r:embed="rId3">
            <a:alphaModFix/>
          </a:blip>
          <a:srcRect/>
          <a:stretch/>
        </p:blipFill>
        <p:spPr>
          <a:xfrm>
            <a:off x="406400" y="1600200"/>
            <a:ext cx="7543800" cy="7896225"/>
          </a:xfrm>
          <a:prstGeom prst="rect">
            <a:avLst/>
          </a:prstGeom>
          <a:noFill/>
          <a:ln>
            <a:noFill/>
          </a:ln>
        </p:spPr>
      </p:pic>
      <p:pic>
        <p:nvPicPr>
          <p:cNvPr id="449" name="Google Shape;449;p60" descr="Buffalo hump.jpg"/>
          <p:cNvPicPr preferRelativeResize="0"/>
          <p:nvPr/>
        </p:nvPicPr>
        <p:blipFill rotWithShape="1">
          <a:blip r:embed="rId4">
            <a:alphaModFix/>
          </a:blip>
          <a:srcRect l="18114" r="14760"/>
          <a:stretch/>
        </p:blipFill>
        <p:spPr>
          <a:xfrm>
            <a:off x="8204200" y="0"/>
            <a:ext cx="4800600" cy="97536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61" descr="Cushing 1.jpg"/>
          <p:cNvPicPr preferRelativeResize="0"/>
          <p:nvPr/>
        </p:nvPicPr>
        <p:blipFill rotWithShape="1">
          <a:blip r:embed="rId3">
            <a:alphaModFix/>
          </a:blip>
          <a:srcRect/>
          <a:stretch/>
        </p:blipFill>
        <p:spPr>
          <a:xfrm>
            <a:off x="558800" y="609600"/>
            <a:ext cx="5726113" cy="8277225"/>
          </a:xfrm>
          <a:prstGeom prst="rect">
            <a:avLst/>
          </a:prstGeom>
          <a:noFill/>
          <a:ln>
            <a:noFill/>
          </a:ln>
        </p:spPr>
      </p:pic>
      <p:pic>
        <p:nvPicPr>
          <p:cNvPr id="455" name="Google Shape;455;p61" descr="Cushing 2.jpg"/>
          <p:cNvPicPr preferRelativeResize="0"/>
          <p:nvPr/>
        </p:nvPicPr>
        <p:blipFill rotWithShape="1">
          <a:blip r:embed="rId4">
            <a:alphaModFix/>
          </a:blip>
          <a:srcRect/>
          <a:stretch/>
        </p:blipFill>
        <p:spPr>
          <a:xfrm>
            <a:off x="6578600" y="838200"/>
            <a:ext cx="5943600" cy="7967663"/>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2"/>
          <p:cNvSpPr txBox="1">
            <a:spLocks noGrp="1"/>
          </p:cNvSpPr>
          <p:nvPr>
            <p:ph type="title"/>
          </p:nvPr>
        </p:nvSpPr>
        <p:spPr>
          <a:xfrm>
            <a:off x="207975" y="217502"/>
            <a:ext cx="12571500" cy="15729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FF0000"/>
                </a:solidFill>
                <a:latin typeface="Calibri"/>
                <a:ea typeface="Calibri"/>
                <a:cs typeface="Calibri"/>
                <a:sym typeface="Calibri"/>
              </a:rPr>
              <a:t>Signs/Symptoms of Glucocorticoid Excess</a:t>
            </a:r>
            <a:endParaRPr sz="6000" dirty="0">
              <a:solidFill>
                <a:srgbClr val="FF0000"/>
              </a:solidFill>
              <a:latin typeface="Calibri"/>
              <a:ea typeface="Calibri"/>
              <a:cs typeface="Calibri"/>
              <a:sym typeface="Calibri"/>
            </a:endParaRPr>
          </a:p>
        </p:txBody>
      </p:sp>
      <p:sp>
        <p:nvSpPr>
          <p:cNvPr id="461" name="Google Shape;461;p62"/>
          <p:cNvSpPr txBox="1">
            <a:spLocks noGrp="1"/>
          </p:cNvSpPr>
          <p:nvPr>
            <p:ph type="body" idx="1"/>
          </p:nvPr>
        </p:nvSpPr>
        <p:spPr>
          <a:xfrm>
            <a:off x="215900" y="1905000"/>
            <a:ext cx="12571414" cy="7631113"/>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4500"/>
              <a:buFont typeface="Calibri"/>
              <a:buChar char="•"/>
            </a:pPr>
            <a:r>
              <a:rPr lang="en-US" sz="4500" b="1" i="1" dirty="0">
                <a:latin typeface="Calibri"/>
                <a:ea typeface="Calibri"/>
                <a:cs typeface="Calibri"/>
                <a:sym typeface="Calibri"/>
              </a:rPr>
              <a:t>Hypertension </a:t>
            </a:r>
            <a:r>
              <a:rPr lang="en-US" sz="4500" dirty="0">
                <a:latin typeface="Calibri"/>
                <a:ea typeface="Calibri"/>
                <a:cs typeface="Calibri"/>
                <a:sym typeface="Calibri"/>
              </a:rPr>
              <a:t>and</a:t>
            </a:r>
            <a:r>
              <a:rPr lang="en-US" sz="4500" b="1" i="1" dirty="0">
                <a:latin typeface="Calibri"/>
                <a:ea typeface="Calibri"/>
                <a:cs typeface="Calibri"/>
                <a:sym typeface="Calibri"/>
              </a:rPr>
              <a:t> diabetes mellitus</a:t>
            </a:r>
            <a:endParaRPr dirty="0"/>
          </a:p>
          <a:p>
            <a:pPr marL="381000" lvl="0" indent="-190500" algn="l" rtl="0">
              <a:spcBef>
                <a:spcPts val="700"/>
              </a:spcBef>
              <a:spcAft>
                <a:spcPts val="0"/>
              </a:spcAft>
              <a:buClr>
                <a:srgbClr val="000000"/>
              </a:buClr>
              <a:buSzPts val="3000"/>
              <a:buFont typeface="Helvetica Neue Light"/>
              <a:buNone/>
            </a:pPr>
            <a:endParaRPr sz="3000" b="1" i="1"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Proximal muscle weakness/ osteoporosis/ avascular necrosis </a:t>
            </a:r>
            <a:r>
              <a:rPr lang="en-US" sz="4500" dirty="0">
                <a:latin typeface="Calibri"/>
                <a:ea typeface="Calibri"/>
                <a:cs typeface="Calibri"/>
                <a:sym typeface="Calibri"/>
              </a:rPr>
              <a:t>of the femoral heads</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b="1" i="1" dirty="0">
                <a:latin typeface="Calibri"/>
                <a:ea typeface="Calibri"/>
                <a:cs typeface="Calibri"/>
                <a:sym typeface="Calibri"/>
              </a:rPr>
              <a:t>Renal calculi</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Oligo or amenorrhea, impotence, decreased libido and decreased fertility</a:t>
            </a:r>
            <a:endParaRPr dirty="0"/>
          </a:p>
          <a:p>
            <a:pPr marL="487363" lvl="0" indent="-296863"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HA, psychiatric illness, cognitive dysfunction</a:t>
            </a:r>
            <a:endParaRPr dirty="0">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B966D769-8FE6-08F8-7CED-F0B384DD8F90}"/>
            </a:ext>
          </a:extLst>
        </p:cNvPr>
        <p:cNvGrpSpPr/>
        <p:nvPr/>
      </p:nvGrpSpPr>
      <p:grpSpPr>
        <a:xfrm>
          <a:off x="0" y="0"/>
          <a:ext cx="0" cy="0"/>
          <a:chOff x="0" y="0"/>
          <a:chExt cx="0" cy="0"/>
        </a:xfrm>
      </p:grpSpPr>
      <p:sp>
        <p:nvSpPr>
          <p:cNvPr id="460" name="Google Shape;460;p62">
            <a:extLst>
              <a:ext uri="{FF2B5EF4-FFF2-40B4-BE49-F238E27FC236}">
                <a16:creationId xmlns:a16="http://schemas.microsoft.com/office/drawing/2014/main" id="{A0C27249-D006-D993-1616-3FEE8D81A0A3}"/>
              </a:ext>
            </a:extLst>
          </p:cNvPr>
          <p:cNvSpPr txBox="1">
            <a:spLocks noGrp="1"/>
          </p:cNvSpPr>
          <p:nvPr>
            <p:ph type="title"/>
          </p:nvPr>
        </p:nvSpPr>
        <p:spPr>
          <a:xfrm>
            <a:off x="207975" y="217502"/>
            <a:ext cx="12571500" cy="15729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FF0000"/>
                </a:solidFill>
                <a:latin typeface="Calibri"/>
                <a:ea typeface="Calibri"/>
                <a:cs typeface="Calibri"/>
                <a:sym typeface="Calibri"/>
              </a:rPr>
              <a:t>Glucocorticoid Excess- Summarize</a:t>
            </a:r>
            <a:endParaRPr sz="6000" dirty="0">
              <a:solidFill>
                <a:srgbClr val="FF0000"/>
              </a:solidFill>
              <a:latin typeface="Calibri"/>
              <a:ea typeface="Calibri"/>
              <a:cs typeface="Calibri"/>
              <a:sym typeface="Calibri"/>
            </a:endParaRPr>
          </a:p>
        </p:txBody>
      </p:sp>
      <p:sp>
        <p:nvSpPr>
          <p:cNvPr id="461" name="Google Shape;461;p62">
            <a:extLst>
              <a:ext uri="{FF2B5EF4-FFF2-40B4-BE49-F238E27FC236}">
                <a16:creationId xmlns:a16="http://schemas.microsoft.com/office/drawing/2014/main" id="{28875014-A9A6-2954-8FAB-B1E92AA4B405}"/>
              </a:ext>
            </a:extLst>
          </p:cNvPr>
          <p:cNvSpPr txBox="1">
            <a:spLocks noGrp="1"/>
          </p:cNvSpPr>
          <p:nvPr>
            <p:ph type="body" idx="1"/>
          </p:nvPr>
        </p:nvSpPr>
        <p:spPr>
          <a:xfrm>
            <a:off x="215900" y="1790402"/>
            <a:ext cx="12687300" cy="7745711"/>
          </a:xfrm>
          <a:prstGeom prst="rect">
            <a:avLst/>
          </a:prstGeom>
          <a:noFill/>
          <a:ln>
            <a:noFill/>
          </a:ln>
        </p:spPr>
        <p:txBody>
          <a:bodyPr spcFirstLastPara="1" wrap="square" lIns="126425" tIns="72225" rIns="126425" bIns="72225" anchor="t" anchorCtr="0">
            <a:noAutofit/>
          </a:bodyPr>
          <a:lstStyle/>
          <a:p>
            <a:pPr marL="571500" indent="-571500">
              <a:spcBef>
                <a:spcPts val="0"/>
              </a:spcBef>
              <a:buSzPct val="80000"/>
            </a:pPr>
            <a:r>
              <a:rPr lang="en-US" sz="4400" dirty="0">
                <a:latin typeface="Calibri"/>
                <a:ea typeface="Calibri"/>
                <a:cs typeface="Calibri"/>
                <a:sym typeface="Calibri"/>
              </a:rPr>
              <a:t>Cushing’s syndrome has lots of symptoms: </a:t>
            </a:r>
          </a:p>
          <a:p>
            <a:pPr marL="571500" indent="-571500">
              <a:spcBef>
                <a:spcPts val="0"/>
              </a:spcBef>
              <a:buSzPct val="80000"/>
            </a:pPr>
            <a:endParaRPr lang="en-US" sz="4400" dirty="0">
              <a:latin typeface="Calibri"/>
              <a:ea typeface="Calibri"/>
              <a:cs typeface="Calibri"/>
              <a:sym typeface="Calibri"/>
            </a:endParaRPr>
          </a:p>
          <a:p>
            <a:pPr marL="571500" indent="-571500">
              <a:spcBef>
                <a:spcPts val="0"/>
              </a:spcBef>
              <a:buSzPct val="80000"/>
            </a:pPr>
            <a:r>
              <a:rPr lang="en-US" sz="4400" dirty="0">
                <a:latin typeface="Calibri"/>
                <a:ea typeface="Calibri"/>
                <a:cs typeface="Calibri"/>
                <a:sym typeface="Calibri"/>
              </a:rPr>
              <a:t>Thin skin that heals poorly, with prominent red stretch marks.</a:t>
            </a:r>
          </a:p>
          <a:p>
            <a:pPr marL="0" indent="0">
              <a:spcBef>
                <a:spcPts val="0"/>
              </a:spcBef>
              <a:buSzPct val="80000"/>
              <a:buNone/>
            </a:pPr>
            <a:r>
              <a:rPr lang="en-US" sz="4400" dirty="0">
                <a:latin typeface="Calibri"/>
                <a:ea typeface="Calibri"/>
                <a:cs typeface="Calibri"/>
                <a:sym typeface="Calibri"/>
              </a:rPr>
              <a:t> </a:t>
            </a:r>
          </a:p>
          <a:p>
            <a:pPr marL="571500" indent="-571500">
              <a:spcBef>
                <a:spcPts val="0"/>
              </a:spcBef>
              <a:buSzPct val="80000"/>
            </a:pPr>
            <a:r>
              <a:rPr lang="en-US" sz="4400" dirty="0">
                <a:latin typeface="Calibri"/>
                <a:ea typeface="Calibri"/>
                <a:cs typeface="Calibri"/>
                <a:sym typeface="Calibri"/>
              </a:rPr>
              <a:t>Changes in fat distribution causing supraclavicular fat pads, a buffalo hump, central obesity and moon facies.</a:t>
            </a:r>
          </a:p>
          <a:p>
            <a:pPr marL="0" indent="0">
              <a:spcBef>
                <a:spcPts val="0"/>
              </a:spcBef>
              <a:buSzPct val="80000"/>
              <a:buNone/>
            </a:pPr>
            <a:r>
              <a:rPr lang="en-US" sz="4400" dirty="0">
                <a:latin typeface="Calibri"/>
                <a:ea typeface="Calibri"/>
                <a:cs typeface="Calibri"/>
                <a:sym typeface="Calibri"/>
              </a:rPr>
              <a:t>  </a:t>
            </a:r>
          </a:p>
          <a:p>
            <a:pPr marL="571500" indent="-571500">
              <a:spcBef>
                <a:spcPts val="0"/>
              </a:spcBef>
              <a:buSzPct val="80000"/>
            </a:pPr>
            <a:r>
              <a:rPr lang="en-US" sz="4400" dirty="0">
                <a:latin typeface="Calibri"/>
                <a:ea typeface="Calibri"/>
                <a:cs typeface="Calibri"/>
                <a:sym typeface="Calibri"/>
              </a:rPr>
              <a:t>Persons have proximal muscle weakness of the hip and shoulder muscles.</a:t>
            </a:r>
          </a:p>
          <a:p>
            <a:pPr marL="381000" lvl="0" indent="-381000" algn="l" rtl="0">
              <a:spcBef>
                <a:spcPts val="0"/>
              </a:spcBef>
              <a:spcAft>
                <a:spcPts val="0"/>
              </a:spcAft>
              <a:buClr>
                <a:srgbClr val="000000"/>
              </a:buClr>
              <a:buSzPct val="80000"/>
              <a:buFont typeface="Calibri"/>
              <a:buChar char="•"/>
            </a:pPr>
            <a:endParaRPr lang="en-US" dirty="0">
              <a:latin typeface="Calibri"/>
              <a:ea typeface="Calibri"/>
              <a:cs typeface="Calibri"/>
              <a:sym typeface="Calibri"/>
            </a:endParaRPr>
          </a:p>
        </p:txBody>
      </p:sp>
    </p:spTree>
    <p:extLst>
      <p:ext uri="{BB962C8B-B14F-4D97-AF65-F5344CB8AC3E}">
        <p14:creationId xmlns:p14="http://schemas.microsoft.com/office/powerpoint/2010/main" val="2859000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2"/>
          <p:cNvSpPr txBox="1">
            <a:spLocks noGrp="1"/>
          </p:cNvSpPr>
          <p:nvPr>
            <p:ph type="title"/>
          </p:nvPr>
        </p:nvSpPr>
        <p:spPr>
          <a:xfrm>
            <a:off x="207975" y="217502"/>
            <a:ext cx="12571500" cy="15729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FF0000"/>
                </a:solidFill>
                <a:latin typeface="Calibri"/>
                <a:ea typeface="Calibri"/>
                <a:cs typeface="Calibri"/>
                <a:sym typeface="Calibri"/>
              </a:rPr>
              <a:t>Glucocorticoid Excess- Summarize</a:t>
            </a:r>
            <a:endParaRPr sz="6000" dirty="0">
              <a:solidFill>
                <a:srgbClr val="FF0000"/>
              </a:solidFill>
              <a:latin typeface="Calibri"/>
              <a:ea typeface="Calibri"/>
              <a:cs typeface="Calibri"/>
              <a:sym typeface="Calibri"/>
            </a:endParaRPr>
          </a:p>
        </p:txBody>
      </p:sp>
      <p:sp>
        <p:nvSpPr>
          <p:cNvPr id="461" name="Google Shape;461;p62"/>
          <p:cNvSpPr txBox="1">
            <a:spLocks noGrp="1"/>
          </p:cNvSpPr>
          <p:nvPr>
            <p:ph type="body" idx="1"/>
          </p:nvPr>
        </p:nvSpPr>
        <p:spPr>
          <a:xfrm>
            <a:off x="215900" y="1790402"/>
            <a:ext cx="12687300" cy="7745711"/>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ct val="80000"/>
              <a:buFont typeface="Calibri"/>
              <a:buChar char="•"/>
            </a:pPr>
            <a:r>
              <a:rPr lang="en-US" sz="4400" dirty="0">
                <a:latin typeface="Calibri"/>
                <a:ea typeface="Calibri"/>
                <a:cs typeface="Calibri"/>
                <a:sym typeface="Calibri"/>
              </a:rPr>
              <a:t>Glucocorticoid excess can be iatrogenic or endogenous.  </a:t>
            </a:r>
          </a:p>
          <a:p>
            <a:pPr marL="381000" lvl="0" indent="-381000" algn="l" rtl="0">
              <a:spcBef>
                <a:spcPts val="0"/>
              </a:spcBef>
              <a:spcAft>
                <a:spcPts val="0"/>
              </a:spcAft>
              <a:buClr>
                <a:srgbClr val="000000"/>
              </a:buClr>
              <a:buSzPct val="80000"/>
              <a:buFont typeface="Calibri"/>
              <a:buChar char="•"/>
            </a:pPr>
            <a:endParaRPr lang="en-US" sz="4400" dirty="0">
              <a:latin typeface="Calibri"/>
              <a:ea typeface="Calibri"/>
              <a:cs typeface="Calibri"/>
              <a:sym typeface="Calibri"/>
            </a:endParaRPr>
          </a:p>
          <a:p>
            <a:pPr marL="381000" lvl="0" indent="-381000" algn="l" rtl="0">
              <a:spcBef>
                <a:spcPts val="0"/>
              </a:spcBef>
              <a:spcAft>
                <a:spcPts val="0"/>
              </a:spcAft>
              <a:buClr>
                <a:srgbClr val="000000"/>
              </a:buClr>
              <a:buSzPct val="80000"/>
              <a:buFont typeface="Calibri"/>
              <a:buChar char="•"/>
            </a:pPr>
            <a:r>
              <a:rPr lang="en-US" sz="4400" dirty="0">
                <a:latin typeface="Calibri"/>
                <a:ea typeface="Calibri"/>
                <a:cs typeface="Calibri"/>
                <a:sym typeface="Calibri"/>
              </a:rPr>
              <a:t>If endogenous, there are 3 main causes: pituitary adenoma (MC), paraneoplastic syndrome and adrenal adenoma.</a:t>
            </a:r>
          </a:p>
          <a:p>
            <a:pPr marL="0" lvl="0" indent="0" algn="l" rtl="0">
              <a:spcBef>
                <a:spcPts val="0"/>
              </a:spcBef>
              <a:spcAft>
                <a:spcPts val="0"/>
              </a:spcAft>
              <a:buClr>
                <a:srgbClr val="000000"/>
              </a:buClr>
              <a:buSzPct val="80000"/>
              <a:buNone/>
            </a:pPr>
            <a:endParaRPr lang="en-US" sz="4400" dirty="0">
              <a:latin typeface="Calibri"/>
              <a:ea typeface="Calibri"/>
              <a:cs typeface="Calibri"/>
              <a:sym typeface="Calibri"/>
            </a:endParaRPr>
          </a:p>
          <a:p>
            <a:pPr marL="381000" lvl="0" indent="-381000" algn="l" rtl="0">
              <a:spcBef>
                <a:spcPts val="0"/>
              </a:spcBef>
              <a:spcAft>
                <a:spcPts val="0"/>
              </a:spcAft>
              <a:buClr>
                <a:srgbClr val="000000"/>
              </a:buClr>
              <a:buSzPct val="80000"/>
              <a:buFont typeface="Calibri"/>
              <a:buChar char="•"/>
            </a:pPr>
            <a:r>
              <a:rPr lang="en-US" sz="4400" dirty="0">
                <a:latin typeface="Calibri"/>
                <a:ea typeface="Calibri"/>
                <a:cs typeface="Calibri"/>
                <a:sym typeface="Calibri"/>
              </a:rPr>
              <a:t>Cushing’s causes or contributes to several chronic diseases: HTN, DM, avascular necrosis (AVN), osteoporosis, kidney stones and fertility changes.  May also cause decline in mental health.</a:t>
            </a:r>
            <a:endParaRPr sz="4400" dirty="0">
              <a:latin typeface="Calibri"/>
              <a:ea typeface="Calibri"/>
              <a:cs typeface="Calibri"/>
              <a:sym typeface="Calibri"/>
            </a:endParaRPr>
          </a:p>
        </p:txBody>
      </p:sp>
    </p:spTree>
    <p:extLst>
      <p:ext uri="{BB962C8B-B14F-4D97-AF65-F5344CB8AC3E}">
        <p14:creationId xmlns:p14="http://schemas.microsoft.com/office/powerpoint/2010/main" val="35198736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3"/>
          <p:cNvSpPr txBox="1">
            <a:spLocks noGrp="1"/>
          </p:cNvSpPr>
          <p:nvPr>
            <p:ph type="title"/>
          </p:nvPr>
        </p:nvSpPr>
        <p:spPr>
          <a:xfrm>
            <a:off x="215900" y="152400"/>
            <a:ext cx="12571414" cy="1371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Calibri"/>
                <a:ea typeface="Calibri"/>
                <a:cs typeface="Calibri"/>
                <a:sym typeface="Calibri"/>
              </a:rPr>
              <a:t>Cortisol Excess: Making the Diagnosis</a:t>
            </a:r>
            <a:endParaRPr dirty="0">
              <a:solidFill>
                <a:srgbClr val="FF0000"/>
              </a:solidFill>
              <a:latin typeface="Calibri"/>
              <a:ea typeface="Calibri"/>
              <a:cs typeface="Calibri"/>
              <a:sym typeface="Calibri"/>
            </a:endParaRPr>
          </a:p>
        </p:txBody>
      </p:sp>
      <p:sp>
        <p:nvSpPr>
          <p:cNvPr id="467" name="Google Shape;467;p63"/>
          <p:cNvSpPr txBox="1">
            <a:spLocks noGrp="1"/>
          </p:cNvSpPr>
          <p:nvPr>
            <p:ph type="body" idx="1"/>
          </p:nvPr>
        </p:nvSpPr>
        <p:spPr>
          <a:xfrm>
            <a:off x="215900" y="1905000"/>
            <a:ext cx="12571414" cy="763111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i="1" dirty="0">
                <a:latin typeface="Calibri"/>
                <a:ea typeface="Calibri"/>
                <a:cs typeface="Calibri"/>
                <a:sym typeface="Calibri"/>
              </a:rPr>
              <a:t>There are multiple tests can be used for the initial work-up- </a:t>
            </a:r>
            <a:r>
              <a:rPr lang="en-US" sz="4500" dirty="0">
                <a:latin typeface="Calibri"/>
                <a:ea typeface="Calibri"/>
                <a:cs typeface="Calibri"/>
                <a:sym typeface="Calibri"/>
              </a:rPr>
              <a:t>pick one.</a:t>
            </a:r>
            <a:endParaRPr dirty="0"/>
          </a:p>
          <a:p>
            <a:pPr marL="487363" lvl="0" indent="-296863" algn="l" rtl="0">
              <a:spcBef>
                <a:spcPts val="700"/>
              </a:spcBef>
              <a:spcAft>
                <a:spcPts val="0"/>
              </a:spcAft>
              <a:buClr>
                <a:srgbClr val="000000"/>
              </a:buClr>
              <a:buSzPts val="3000"/>
              <a:buFont typeface="Arial"/>
              <a:buNone/>
            </a:pPr>
            <a:endParaRPr sz="3000" b="1" i="1" dirty="0">
              <a:latin typeface="Calibri"/>
              <a:ea typeface="Calibri"/>
              <a:cs typeface="Calibri"/>
              <a:sym typeface="Calibri"/>
            </a:endParaRPr>
          </a:p>
          <a:p>
            <a:pPr marL="914400" lvl="0" indent="-914400" algn="l" rtl="0">
              <a:spcBef>
                <a:spcPts val="700"/>
              </a:spcBef>
              <a:spcAft>
                <a:spcPts val="0"/>
              </a:spcAft>
              <a:buClr>
                <a:srgbClr val="000000"/>
              </a:buClr>
              <a:buSzPts val="4500"/>
              <a:buFont typeface="Helvetica Neue Light"/>
              <a:buAutoNum type="arabicPeriod"/>
            </a:pPr>
            <a:r>
              <a:rPr lang="en-US" sz="4500" b="1" i="1" dirty="0">
                <a:latin typeface="Calibri"/>
                <a:ea typeface="Calibri"/>
                <a:cs typeface="Calibri"/>
                <a:sym typeface="Calibri"/>
              </a:rPr>
              <a:t>Dexamethasone suppression test</a:t>
            </a:r>
            <a:r>
              <a:rPr lang="en-US" sz="4500" dirty="0">
                <a:latin typeface="Calibri"/>
                <a:ea typeface="Calibri"/>
                <a:cs typeface="Calibri"/>
                <a:sym typeface="Calibri"/>
              </a:rPr>
              <a:t>: 1mg </a:t>
            </a:r>
            <a:r>
              <a:rPr lang="en-US" sz="4500" dirty="0" err="1">
                <a:latin typeface="Calibri"/>
                <a:ea typeface="Calibri"/>
                <a:cs typeface="Calibri"/>
                <a:sym typeface="Calibri"/>
              </a:rPr>
              <a:t>decadron</a:t>
            </a:r>
            <a:r>
              <a:rPr lang="en-US" sz="4500" dirty="0">
                <a:latin typeface="Calibri"/>
                <a:ea typeface="Calibri"/>
                <a:cs typeface="Calibri"/>
                <a:sym typeface="Calibri"/>
              </a:rPr>
              <a:t> is given po at 11pm, then we check the serum cortisol level at 8am.</a:t>
            </a:r>
            <a:endParaRPr dirty="0"/>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Knowing what you do about the HPA axis, what finding would indicate a positive test?</a:t>
            </a:r>
            <a:endParaRPr dirty="0"/>
          </a:p>
          <a:p>
            <a:pPr marL="0" lvl="0" indent="0" algn="l" rtl="0">
              <a:spcBef>
                <a:spcPts val="700"/>
              </a:spcBef>
              <a:spcAft>
                <a:spcPts val="0"/>
              </a:spcAft>
              <a:buClr>
                <a:srgbClr val="000000"/>
              </a:buClr>
              <a:buSzPts val="3000"/>
              <a:buFont typeface="Helvetica Neue Light"/>
              <a:buNone/>
            </a:pPr>
            <a:endParaRPr sz="3000" dirty="0">
              <a:latin typeface="Calibri"/>
              <a:ea typeface="Calibri"/>
              <a:cs typeface="Calibri"/>
              <a:sym typeface="Calibri"/>
            </a:endParaRPr>
          </a:p>
          <a:p>
            <a:pPr marL="863600" lvl="1" indent="-406400" algn="l" rtl="0">
              <a:spcBef>
                <a:spcPts val="600"/>
              </a:spcBef>
              <a:spcAft>
                <a:spcPts val="0"/>
              </a:spcAft>
              <a:buClr>
                <a:srgbClr val="000000"/>
              </a:buClr>
              <a:buSzPts val="3900"/>
              <a:buFont typeface="Arial"/>
              <a:buChar char="–"/>
            </a:pPr>
            <a:r>
              <a:rPr lang="en-US" sz="3900" dirty="0">
                <a:latin typeface="Calibri"/>
                <a:ea typeface="Calibri"/>
                <a:cs typeface="Calibri"/>
                <a:sym typeface="Calibri"/>
              </a:rPr>
              <a:t>Test may be skewed by anticonvulsants, rifampin and estrogens (pregnancy, OC, HRT)</a:t>
            </a:r>
            <a:endParaRPr dirty="0"/>
          </a:p>
          <a:p>
            <a:pPr marL="863600" lvl="1" indent="-158750" algn="l" rtl="0">
              <a:spcBef>
                <a:spcPts val="600"/>
              </a:spcBef>
              <a:spcAft>
                <a:spcPts val="0"/>
              </a:spcAft>
              <a:buClr>
                <a:srgbClr val="000000"/>
              </a:buClr>
              <a:buSzPts val="3900"/>
              <a:buFont typeface="Arial"/>
              <a:buNone/>
            </a:pPr>
            <a:endParaRPr sz="3900" dirty="0">
              <a:latin typeface="Arial"/>
              <a:ea typeface="Arial"/>
              <a:cs typeface="Arial"/>
              <a:sym typeface="Arial"/>
            </a:endParaRPr>
          </a:p>
          <a:p>
            <a:pPr marL="487363" lvl="0" indent="-201612" algn="l" rtl="0">
              <a:spcBef>
                <a:spcPts val="700"/>
              </a:spcBef>
              <a:spcAft>
                <a:spcPts val="0"/>
              </a:spcAft>
              <a:buClr>
                <a:srgbClr val="000000"/>
              </a:buClr>
              <a:buSzPts val="4500"/>
              <a:buFont typeface="Arial"/>
              <a:buNone/>
            </a:pPr>
            <a:endParaRPr sz="4500" dirty="0">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4"/>
          <p:cNvSpPr txBox="1">
            <a:spLocks noGrp="1"/>
          </p:cNvSpPr>
          <p:nvPr>
            <p:ph type="title"/>
          </p:nvPr>
        </p:nvSpPr>
        <p:spPr>
          <a:xfrm>
            <a:off x="649288" y="381000"/>
            <a:ext cx="11704637" cy="1447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Cortisol Excess: Other Tests</a:t>
            </a:r>
            <a:endParaRPr dirty="0">
              <a:solidFill>
                <a:srgbClr val="FF0000"/>
              </a:solidFill>
            </a:endParaRPr>
          </a:p>
        </p:txBody>
      </p:sp>
      <p:sp>
        <p:nvSpPr>
          <p:cNvPr id="473" name="Google Shape;473;p64"/>
          <p:cNvSpPr txBox="1">
            <a:spLocks noGrp="1"/>
          </p:cNvSpPr>
          <p:nvPr>
            <p:ph type="body" idx="1"/>
          </p:nvPr>
        </p:nvSpPr>
        <p:spPr>
          <a:xfrm>
            <a:off x="215900" y="2209800"/>
            <a:ext cx="12571414" cy="732631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a:pPr>
            <a:r>
              <a:rPr lang="en-US" sz="4500" b="1" dirty="0">
                <a:latin typeface="Calibri"/>
                <a:ea typeface="Calibri"/>
                <a:cs typeface="Calibri"/>
                <a:sym typeface="Calibri"/>
              </a:rPr>
              <a:t>Salivary cortisol level</a:t>
            </a:r>
            <a:r>
              <a:rPr lang="en-US" sz="4500" dirty="0">
                <a:latin typeface="Calibri"/>
                <a:ea typeface="Calibri"/>
                <a:cs typeface="Calibri"/>
                <a:sym typeface="Calibri"/>
              </a:rPr>
              <a:t>: patient awakens at 11pm and collects a saliva specimen.  Cortisol levels are lowest at this time, so if high, is suggestive.</a:t>
            </a:r>
            <a:endParaRPr dirty="0"/>
          </a:p>
          <a:p>
            <a:pPr marL="381000" lvl="0" indent="-190500"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This test is readily done by the patient at home and swabs are stable at room temp.</a:t>
            </a:r>
            <a:endParaRPr dirty="0"/>
          </a:p>
          <a:p>
            <a:pPr marL="381000" lvl="0" indent="-190500" algn="l" rtl="0">
              <a:spcBef>
                <a:spcPts val="700"/>
              </a:spcBef>
              <a:spcAft>
                <a:spcPts val="0"/>
              </a:spcAft>
              <a:buClr>
                <a:srgbClr val="000000"/>
              </a:buClr>
              <a:buSzPts val="3000"/>
              <a:buFont typeface="Arial"/>
              <a:buNone/>
            </a:pPr>
            <a:endParaRPr sz="3000" dirty="0">
              <a:latin typeface="Calibri"/>
              <a:ea typeface="Calibri"/>
              <a:cs typeface="Calibri"/>
              <a:sym typeface="Calibri"/>
            </a:endParaRPr>
          </a:p>
          <a:p>
            <a:pPr marL="381000" lvl="0" indent="-3810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Often the test must be done multiple times to obtain a valid result.  Would be skewed by sleep-wake disturbance, stress, illness, 3</a:t>
            </a:r>
            <a:r>
              <a:rPr lang="en-US" sz="4500" baseline="30000" dirty="0">
                <a:latin typeface="Calibri"/>
                <a:ea typeface="Calibri"/>
                <a:cs typeface="Calibri"/>
                <a:sym typeface="Calibri"/>
              </a:rPr>
              <a:t>rd</a:t>
            </a:r>
            <a:r>
              <a:rPr lang="en-US" sz="4500" dirty="0">
                <a:latin typeface="Calibri"/>
                <a:ea typeface="Calibri"/>
                <a:cs typeface="Calibri"/>
                <a:sym typeface="Calibri"/>
              </a:rPr>
              <a:t> shift work</a:t>
            </a: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5"/>
          <p:cNvSpPr txBox="1">
            <a:spLocks noGrp="1"/>
          </p:cNvSpPr>
          <p:nvPr>
            <p:ph type="title"/>
          </p:nvPr>
        </p:nvSpPr>
        <p:spPr>
          <a:xfrm>
            <a:off x="649288" y="152400"/>
            <a:ext cx="11704637" cy="10668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Cortisol Excess : Other Tests</a:t>
            </a:r>
            <a:endParaRPr dirty="0">
              <a:solidFill>
                <a:srgbClr val="FF0000"/>
              </a:solidFill>
            </a:endParaRPr>
          </a:p>
        </p:txBody>
      </p:sp>
      <p:sp>
        <p:nvSpPr>
          <p:cNvPr id="479" name="Google Shape;479;p65"/>
          <p:cNvSpPr txBox="1">
            <a:spLocks noGrp="1"/>
          </p:cNvSpPr>
          <p:nvPr>
            <p:ph type="body" idx="1"/>
          </p:nvPr>
        </p:nvSpPr>
        <p:spPr>
          <a:xfrm>
            <a:off x="215900" y="1752600"/>
            <a:ext cx="12571414" cy="778351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a:pPr>
            <a:r>
              <a:rPr lang="en-US" sz="4500" b="1">
                <a:latin typeface="Calibri"/>
                <a:ea typeface="Calibri"/>
                <a:cs typeface="Calibri"/>
                <a:sym typeface="Calibri"/>
              </a:rPr>
              <a:t>Random urinary free cortisol levels</a:t>
            </a:r>
            <a:r>
              <a:rPr lang="en-US" sz="4500">
                <a:latin typeface="Calibri"/>
                <a:ea typeface="Calibri"/>
                <a:cs typeface="Calibri"/>
                <a:sym typeface="Calibri"/>
              </a:rPr>
              <a:t>: check a random urine specimen for the amount of cortisol compared to the amount of creatinine excreted.  A cortisol level 3x the creatinine level is highly suggestive of Cushing’s. </a:t>
            </a:r>
            <a:endParaRPr/>
          </a:p>
          <a:p>
            <a:pPr marL="381000" lvl="0" indent="-95250" algn="l" rtl="0">
              <a:spcBef>
                <a:spcPts val="700"/>
              </a:spcBef>
              <a:spcAft>
                <a:spcPts val="0"/>
              </a:spcAft>
              <a:buClr>
                <a:srgbClr val="000000"/>
              </a:buClr>
              <a:buSzPts val="4500"/>
              <a:buFont typeface="Helvetica Neue Light"/>
              <a:buNone/>
            </a:pPr>
            <a:endParaRPr sz="4500">
              <a:latin typeface="Calibri"/>
              <a:ea typeface="Calibri"/>
              <a:cs typeface="Calibri"/>
              <a:sym typeface="Calibri"/>
            </a:endParaRPr>
          </a:p>
          <a:p>
            <a:pPr marL="381000" lvl="0" indent="-381000" algn="l" rtl="0">
              <a:spcBef>
                <a:spcPts val="700"/>
              </a:spcBef>
              <a:spcAft>
                <a:spcPts val="0"/>
              </a:spcAft>
              <a:buClr>
                <a:srgbClr val="000000"/>
              </a:buClr>
              <a:buSzPts val="3600"/>
              <a:buFont typeface="Calibri"/>
              <a:buChar char="•"/>
            </a:pPr>
            <a:r>
              <a:rPr lang="en-US" sz="4500">
                <a:latin typeface="Calibri"/>
                <a:ea typeface="Calibri"/>
                <a:cs typeface="Calibri"/>
                <a:sym typeface="Calibri"/>
              </a:rPr>
              <a:t>This test works best in patients less than 50 years of age because their excretion of creatinine is predictable- after age 50 renal function declines at an irregular rate.</a:t>
            </a:r>
            <a:endParaRPr sz="4500">
              <a:latin typeface="Calibri"/>
              <a:ea typeface="Calibri"/>
              <a:cs typeface="Calibri"/>
              <a:sym typeface="Calibri"/>
            </a:endParaRPr>
          </a:p>
          <a:p>
            <a:pPr marL="381000" lvl="0" indent="-95250" algn="l" rtl="0">
              <a:spcBef>
                <a:spcPts val="700"/>
              </a:spcBef>
              <a:spcAft>
                <a:spcPts val="0"/>
              </a:spcAft>
              <a:buClr>
                <a:srgbClr val="000000"/>
              </a:buClr>
              <a:buSzPts val="4500"/>
              <a:buFont typeface="Arial"/>
              <a:buNone/>
            </a:pPr>
            <a:endParaRPr sz="4500">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6"/>
          <p:cNvSpPr txBox="1">
            <a:spLocks noGrp="1"/>
          </p:cNvSpPr>
          <p:nvPr>
            <p:ph type="title"/>
          </p:nvPr>
        </p:nvSpPr>
        <p:spPr>
          <a:xfrm>
            <a:off x="649288" y="0"/>
            <a:ext cx="11704637"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Next, Localizing the Source</a:t>
            </a:r>
            <a:endParaRPr dirty="0">
              <a:solidFill>
                <a:srgbClr val="FF0000"/>
              </a:solidFill>
            </a:endParaRPr>
          </a:p>
        </p:txBody>
      </p:sp>
      <p:sp>
        <p:nvSpPr>
          <p:cNvPr id="485" name="Google Shape;485;p66"/>
          <p:cNvSpPr txBox="1">
            <a:spLocks noGrp="1"/>
          </p:cNvSpPr>
          <p:nvPr>
            <p:ph type="body" idx="1"/>
          </p:nvPr>
        </p:nvSpPr>
        <p:spPr>
          <a:xfrm>
            <a:off x="215900" y="1524000"/>
            <a:ext cx="12571414" cy="801211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2"/>
            </a:pPr>
            <a:r>
              <a:rPr lang="en-US" sz="4500" b="1" dirty="0">
                <a:latin typeface="Calibri" panose="020F0502020204030204" pitchFamily="34" charset="0"/>
                <a:ea typeface="Calibri"/>
                <a:cs typeface="Calibri" panose="020F0502020204030204" pitchFamily="34" charset="0"/>
                <a:sym typeface="Calibri"/>
              </a:rPr>
              <a:t>Measure a serum ACTH level </a:t>
            </a:r>
            <a:endParaRPr dirty="0">
              <a:latin typeface="Calibri" panose="020F0502020204030204" pitchFamily="34" charset="0"/>
              <a:cs typeface="Calibri" panose="020F0502020204030204" pitchFamily="34" charset="0"/>
            </a:endParaRPr>
          </a:p>
          <a:p>
            <a:pPr marL="863600" lvl="1" indent="-406400" algn="l" rtl="0">
              <a:spcBef>
                <a:spcPts val="600"/>
              </a:spcBef>
              <a:spcAft>
                <a:spcPts val="0"/>
              </a:spcAft>
              <a:buClr>
                <a:srgbClr val="000000"/>
              </a:buClr>
              <a:buSzPts val="4200"/>
              <a:buFont typeface="Arial"/>
              <a:buChar char="–"/>
            </a:pPr>
            <a:r>
              <a:rPr lang="en-US" sz="4200" dirty="0">
                <a:latin typeface="Calibri" panose="020F0502020204030204" pitchFamily="34" charset="0"/>
                <a:ea typeface="Calibri"/>
                <a:cs typeface="Calibri" panose="020F0502020204030204" pitchFamily="34" charset="0"/>
                <a:sym typeface="Calibri"/>
              </a:rPr>
              <a:t>If the </a:t>
            </a:r>
            <a:r>
              <a:rPr lang="en-US" sz="4200" b="1" i="1" dirty="0">
                <a:latin typeface="Calibri" panose="020F0502020204030204" pitchFamily="34" charset="0"/>
                <a:ea typeface="Calibri"/>
                <a:cs typeface="Calibri" panose="020F0502020204030204" pitchFamily="34" charset="0"/>
                <a:sym typeface="Calibri"/>
              </a:rPr>
              <a:t>ACTH is elevated</a:t>
            </a:r>
            <a:r>
              <a:rPr lang="en-US" sz="4200" b="1" dirty="0">
                <a:latin typeface="Calibri" panose="020F0502020204030204" pitchFamily="34" charset="0"/>
                <a:ea typeface="Calibri"/>
                <a:cs typeface="Calibri" panose="020F0502020204030204" pitchFamily="34" charset="0"/>
                <a:sym typeface="Calibri"/>
              </a:rPr>
              <a:t>, </a:t>
            </a:r>
            <a:r>
              <a:rPr lang="en-US" sz="4200" dirty="0">
                <a:latin typeface="Calibri" panose="020F0502020204030204" pitchFamily="34" charset="0"/>
                <a:ea typeface="Calibri"/>
                <a:cs typeface="Calibri" panose="020F0502020204030204" pitchFamily="34" charset="0"/>
                <a:sym typeface="Calibri"/>
              </a:rPr>
              <a:t>then there is either a pituitary source or ectopic secretion.  </a:t>
            </a:r>
          </a:p>
          <a:p>
            <a:pPr marL="1320800" lvl="2" indent="-406400">
              <a:spcBef>
                <a:spcPts val="600"/>
              </a:spcBef>
              <a:buSzPts val="4200"/>
              <a:buFont typeface="Arial"/>
              <a:buChar char="–"/>
            </a:pPr>
            <a:r>
              <a:rPr lang="en-US" sz="3200" dirty="0">
                <a:latin typeface="Calibri" panose="020F0502020204030204" pitchFamily="34" charset="0"/>
                <a:ea typeface="Calibri"/>
                <a:cs typeface="Calibri" panose="020F0502020204030204" pitchFamily="34" charset="0"/>
                <a:sym typeface="Calibri"/>
              </a:rPr>
              <a:t>Recall that a pituitary source means a </a:t>
            </a:r>
            <a:r>
              <a:rPr lang="en-US" sz="3200" b="1" i="1" dirty="0">
                <a:latin typeface="Calibri" panose="020F0502020204030204" pitchFamily="34" charset="0"/>
                <a:ea typeface="Calibri"/>
                <a:cs typeface="Calibri" panose="020F0502020204030204" pitchFamily="34" charset="0"/>
                <a:sym typeface="Calibri"/>
              </a:rPr>
              <a:t>pituitary adenoma.  </a:t>
            </a:r>
          </a:p>
          <a:p>
            <a:pPr marL="1320800" lvl="2" indent="-406400">
              <a:spcBef>
                <a:spcPts val="600"/>
              </a:spcBef>
              <a:buSzPts val="4200"/>
              <a:buFont typeface="Arial"/>
              <a:buChar char="–"/>
            </a:pPr>
            <a:r>
              <a:rPr lang="en-US" sz="3200" dirty="0">
                <a:latin typeface="Calibri" panose="020F0502020204030204" pitchFamily="34" charset="0"/>
                <a:ea typeface="Calibri"/>
                <a:cs typeface="Calibri" panose="020F0502020204030204" pitchFamily="34" charset="0"/>
                <a:sym typeface="Calibri"/>
              </a:rPr>
              <a:t>An ectopic source most often means an </a:t>
            </a:r>
            <a:r>
              <a:rPr lang="en-US" sz="3200" b="1" i="1" dirty="0">
                <a:latin typeface="Calibri" panose="020F0502020204030204" pitchFamily="34" charset="0"/>
                <a:ea typeface="Calibri"/>
                <a:cs typeface="Calibri" panose="020F0502020204030204" pitchFamily="34" charset="0"/>
                <a:sym typeface="Calibri"/>
              </a:rPr>
              <a:t>undiagnosed cancer- </a:t>
            </a:r>
            <a:r>
              <a:rPr lang="en-US" sz="3200" dirty="0">
                <a:latin typeface="Calibri" panose="020F0502020204030204" pitchFamily="34" charset="0"/>
                <a:ea typeface="Calibri"/>
                <a:cs typeface="Calibri" panose="020F0502020204030204" pitchFamily="34" charset="0"/>
                <a:sym typeface="Calibri"/>
              </a:rPr>
              <a:t>either small cell lung cancer or a carcinoid tumor in the lung or GI tract.</a:t>
            </a:r>
            <a:endParaRPr sz="3200" dirty="0">
              <a:latin typeface="Calibri" panose="020F0502020204030204" pitchFamily="34" charset="0"/>
              <a:cs typeface="Calibri" panose="020F0502020204030204" pitchFamily="34" charset="0"/>
            </a:endParaRPr>
          </a:p>
          <a:p>
            <a:pPr marL="863600" lvl="1" indent="-139700" algn="l" rtl="0">
              <a:spcBef>
                <a:spcPts val="600"/>
              </a:spcBef>
              <a:spcAft>
                <a:spcPts val="0"/>
              </a:spcAft>
              <a:buClr>
                <a:srgbClr val="000000"/>
              </a:buClr>
              <a:buSzPts val="4200"/>
              <a:buFont typeface="Arial"/>
              <a:buNone/>
            </a:pPr>
            <a:endParaRPr sz="4200" dirty="0">
              <a:latin typeface="Calibri"/>
              <a:ea typeface="Calibri"/>
              <a:cs typeface="Calibri"/>
              <a:sym typeface="Calibri"/>
            </a:endParaRPr>
          </a:p>
          <a:p>
            <a:pPr marL="863600" lvl="1" indent="-406400" algn="l" rtl="0">
              <a:spcBef>
                <a:spcPts val="600"/>
              </a:spcBef>
              <a:spcAft>
                <a:spcPts val="0"/>
              </a:spcAft>
              <a:buClr>
                <a:srgbClr val="000000"/>
              </a:buClr>
              <a:buSzPts val="4200"/>
              <a:buFont typeface="Arial"/>
              <a:buChar char="–"/>
            </a:pPr>
            <a:r>
              <a:rPr lang="en-US" sz="4200" dirty="0">
                <a:latin typeface="Calibri"/>
                <a:ea typeface="Calibri"/>
                <a:cs typeface="Calibri"/>
                <a:sym typeface="Calibri"/>
              </a:rPr>
              <a:t>If the </a:t>
            </a:r>
            <a:r>
              <a:rPr lang="en-US" sz="4200" b="1" i="1" dirty="0">
                <a:latin typeface="Calibri"/>
                <a:ea typeface="Calibri"/>
                <a:cs typeface="Calibri"/>
                <a:sym typeface="Calibri"/>
              </a:rPr>
              <a:t>ACTH levels are undetectable </a:t>
            </a:r>
            <a:r>
              <a:rPr lang="en-US" sz="4200" dirty="0">
                <a:latin typeface="Calibri"/>
                <a:ea typeface="Calibri"/>
                <a:cs typeface="Calibri"/>
                <a:sym typeface="Calibri"/>
              </a:rPr>
              <a:t>then there is autonomous </a:t>
            </a:r>
            <a:r>
              <a:rPr lang="en-US" sz="4200" b="1" i="1" dirty="0">
                <a:latin typeface="Calibri"/>
                <a:ea typeface="Calibri"/>
                <a:cs typeface="Calibri"/>
                <a:sym typeface="Calibri"/>
              </a:rPr>
              <a:t>adrenal secretion. </a:t>
            </a:r>
          </a:p>
          <a:p>
            <a:pPr marL="1320800" lvl="2" indent="-406400">
              <a:spcBef>
                <a:spcPts val="600"/>
              </a:spcBef>
              <a:buSzPts val="4200"/>
              <a:buFont typeface="Arial"/>
              <a:buChar char="–"/>
            </a:pPr>
            <a:r>
              <a:rPr lang="en-US" sz="3200" dirty="0">
                <a:latin typeface="Calibri"/>
                <a:ea typeface="Calibri"/>
                <a:cs typeface="Calibri"/>
                <a:sym typeface="Calibri"/>
              </a:rPr>
              <a:t>Most likely from an adrenal adenoma or carcinoma or rarely, adrenal </a:t>
            </a:r>
            <a:r>
              <a:rPr lang="en-US" sz="3200" dirty="0">
                <a:solidFill>
                  <a:schemeClr val="dk1"/>
                </a:solidFill>
                <a:latin typeface="Calibri"/>
                <a:ea typeface="Calibri"/>
                <a:cs typeface="Calibri"/>
                <a:sym typeface="Calibri"/>
              </a:rPr>
              <a:t>hyperplasia</a:t>
            </a:r>
            <a:r>
              <a:rPr lang="en-US" sz="3200" dirty="0">
                <a:latin typeface="Calibri"/>
                <a:ea typeface="Calibri"/>
                <a:cs typeface="Calibri"/>
                <a:sym typeface="Calibri"/>
              </a:rPr>
              <a:t>.</a:t>
            </a:r>
            <a:endParaRPr sz="3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7"/>
          <p:cNvSpPr txBox="1">
            <a:spLocks noGrp="1"/>
          </p:cNvSpPr>
          <p:nvPr>
            <p:ph type="title"/>
          </p:nvPr>
        </p:nvSpPr>
        <p:spPr>
          <a:xfrm>
            <a:off x="215900" y="0"/>
            <a:ext cx="12571500" cy="26924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5400" dirty="0">
                <a:solidFill>
                  <a:srgbClr val="FF0000"/>
                </a:solidFill>
                <a:latin typeface="Calibri" panose="020F0502020204030204" pitchFamily="34" charset="0"/>
                <a:ea typeface="Arial"/>
                <a:cs typeface="Calibri" panose="020F0502020204030204" pitchFamily="34" charset="0"/>
                <a:sym typeface="Arial"/>
              </a:rPr>
              <a:t>Third, Differentiating Between ACTH dependent Cortisol Excess- </a:t>
            </a:r>
            <a:br>
              <a:rPr lang="en-US" sz="5400" dirty="0">
                <a:solidFill>
                  <a:srgbClr val="FF0000"/>
                </a:solidFill>
                <a:latin typeface="Calibri" panose="020F0502020204030204" pitchFamily="34" charset="0"/>
                <a:ea typeface="Arial"/>
                <a:cs typeface="Calibri" panose="020F0502020204030204" pitchFamily="34" charset="0"/>
                <a:sym typeface="Arial"/>
              </a:rPr>
            </a:br>
            <a:r>
              <a:rPr lang="en-US" sz="5400" dirty="0">
                <a:solidFill>
                  <a:srgbClr val="FF0000"/>
                </a:solidFill>
                <a:latin typeface="Calibri" panose="020F0502020204030204" pitchFamily="34" charset="0"/>
                <a:ea typeface="Arial"/>
                <a:cs typeface="Calibri" panose="020F0502020204030204" pitchFamily="34" charset="0"/>
                <a:sym typeface="Arial"/>
              </a:rPr>
              <a:t>Ectopic vs Pituitary Source</a:t>
            </a:r>
            <a:endParaRPr sz="5400" dirty="0">
              <a:solidFill>
                <a:srgbClr val="FF0000"/>
              </a:solidFill>
              <a:latin typeface="Calibri" panose="020F0502020204030204" pitchFamily="34" charset="0"/>
              <a:cs typeface="Calibri" panose="020F0502020204030204" pitchFamily="34" charset="0"/>
            </a:endParaRPr>
          </a:p>
        </p:txBody>
      </p:sp>
      <p:sp>
        <p:nvSpPr>
          <p:cNvPr id="491" name="Google Shape;491;p67"/>
          <p:cNvSpPr txBox="1">
            <a:spLocks noGrp="1"/>
          </p:cNvSpPr>
          <p:nvPr>
            <p:ph type="body" idx="1"/>
          </p:nvPr>
        </p:nvSpPr>
        <p:spPr>
          <a:xfrm>
            <a:off x="215900" y="2801097"/>
            <a:ext cx="12571500" cy="6817035"/>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3"/>
            </a:pPr>
            <a:r>
              <a:rPr lang="en-US" sz="4500" b="1" dirty="0">
                <a:latin typeface="Calibri"/>
                <a:ea typeface="Calibri"/>
                <a:cs typeface="Calibri"/>
                <a:sym typeface="Calibri"/>
              </a:rPr>
              <a:t>CRH stimulation testing </a:t>
            </a:r>
            <a:r>
              <a:rPr lang="en-US" sz="4500" dirty="0">
                <a:latin typeface="Calibri"/>
                <a:ea typeface="Calibri"/>
                <a:cs typeface="Calibri"/>
                <a:sym typeface="Calibri"/>
              </a:rPr>
              <a:t>is performed to evaluate the source of elevated ACTH levels.</a:t>
            </a:r>
            <a:endParaRPr dirty="0"/>
          </a:p>
          <a:p>
            <a:pPr marL="868363" lvl="1"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For this test, ACTH and cortisol levels are obtained at baseline, and subsequently at 15, 30, 45, 60, 90, and 120 minutes after administration of 1 mcg/kg of CRH.</a:t>
            </a:r>
            <a:endParaRPr dirty="0"/>
          </a:p>
          <a:p>
            <a:pPr marL="868363" lvl="1" indent="-201612" algn="l" rtl="0">
              <a:spcBef>
                <a:spcPts val="700"/>
              </a:spcBef>
              <a:spcAft>
                <a:spcPts val="0"/>
              </a:spcAft>
              <a:buClr>
                <a:srgbClr val="000000"/>
              </a:buClr>
              <a:buSzPts val="4500"/>
              <a:buFont typeface="Arial"/>
              <a:buNone/>
            </a:pPr>
            <a:endParaRPr sz="45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Increasing ACTH and cortisol = a pituitary source</a:t>
            </a:r>
            <a:endParaRPr dirty="0"/>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Constant ACTH and cortisol = an ectopic source</a:t>
            </a:r>
            <a:endParaRP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68"/>
          <p:cNvSpPr txBox="1">
            <a:spLocks noGrp="1"/>
          </p:cNvSpPr>
          <p:nvPr>
            <p:ph type="title"/>
          </p:nvPr>
        </p:nvSpPr>
        <p:spPr>
          <a:xfrm>
            <a:off x="215900" y="0"/>
            <a:ext cx="12571414"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Localizing the Source with Imaging</a:t>
            </a:r>
            <a:endParaRPr dirty="0">
              <a:solidFill>
                <a:srgbClr val="FF0000"/>
              </a:solidFill>
            </a:endParaRPr>
          </a:p>
        </p:txBody>
      </p:sp>
      <p:sp>
        <p:nvSpPr>
          <p:cNvPr id="497" name="Google Shape;497;p68"/>
          <p:cNvSpPr txBox="1">
            <a:spLocks noGrp="1"/>
          </p:cNvSpPr>
          <p:nvPr>
            <p:ph type="body" idx="1"/>
          </p:nvPr>
        </p:nvSpPr>
        <p:spPr>
          <a:xfrm>
            <a:off x="215900" y="1828800"/>
            <a:ext cx="12571414" cy="770731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4"/>
            </a:pPr>
            <a:r>
              <a:rPr lang="en-US" sz="4500" dirty="0">
                <a:latin typeface="Calibri"/>
                <a:ea typeface="Calibri"/>
                <a:cs typeface="Calibri"/>
                <a:sym typeface="Calibri"/>
              </a:rPr>
              <a:t>Diagnostic imaging is performed only </a:t>
            </a:r>
            <a:r>
              <a:rPr lang="en-US" sz="4500" u="sng" dirty="0">
                <a:latin typeface="Calibri"/>
                <a:ea typeface="Calibri"/>
                <a:cs typeface="Calibri"/>
                <a:sym typeface="Calibri"/>
              </a:rPr>
              <a:t>after</a:t>
            </a:r>
            <a:r>
              <a:rPr lang="en-US" sz="4500" dirty="0">
                <a:latin typeface="Calibri"/>
                <a:ea typeface="Calibri"/>
                <a:cs typeface="Calibri"/>
                <a:sym typeface="Calibri"/>
              </a:rPr>
              <a:t> serum testing determines the area to be imaged- there is a 10% incidence of non-functioning pituitary adenomas.</a:t>
            </a:r>
            <a:endParaRPr dirty="0"/>
          </a:p>
          <a:p>
            <a:pPr marL="457200" lvl="1" indent="0" algn="l" rtl="0">
              <a:spcBef>
                <a:spcPts val="600"/>
              </a:spcBef>
              <a:spcAft>
                <a:spcPts val="0"/>
              </a:spcAft>
              <a:buClr>
                <a:srgbClr val="000000"/>
              </a:buClr>
              <a:buSzPts val="3900"/>
              <a:buFont typeface="Helvetica Neue Light"/>
              <a:buNone/>
            </a:pPr>
            <a:endParaRPr sz="39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If a pituitary source is indicated by the biochemical testing, </a:t>
            </a:r>
            <a:r>
              <a:rPr lang="en-US" sz="4500" b="1" i="1" dirty="0">
                <a:latin typeface="Calibri"/>
                <a:ea typeface="Calibri"/>
                <a:cs typeface="Calibri"/>
                <a:sym typeface="Calibri"/>
              </a:rPr>
              <a:t>a pituitary MRI with IV gadolinium contrast </a:t>
            </a:r>
            <a:r>
              <a:rPr lang="en-US" sz="4500" dirty="0">
                <a:latin typeface="Calibri"/>
                <a:ea typeface="Calibri"/>
                <a:cs typeface="Calibri"/>
                <a:sym typeface="Calibri"/>
              </a:rPr>
              <a:t>is obtained.</a:t>
            </a:r>
            <a:endParaRPr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68"/>
          <p:cNvSpPr txBox="1">
            <a:spLocks noGrp="1"/>
          </p:cNvSpPr>
          <p:nvPr>
            <p:ph type="title"/>
          </p:nvPr>
        </p:nvSpPr>
        <p:spPr>
          <a:xfrm>
            <a:off x="215900" y="0"/>
            <a:ext cx="12571414"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Localizing the Source with Imaging</a:t>
            </a:r>
            <a:endParaRPr dirty="0">
              <a:solidFill>
                <a:srgbClr val="FF0000"/>
              </a:solidFill>
            </a:endParaRPr>
          </a:p>
        </p:txBody>
      </p:sp>
      <p:sp>
        <p:nvSpPr>
          <p:cNvPr id="497" name="Google Shape;497;p68"/>
          <p:cNvSpPr txBox="1">
            <a:spLocks noGrp="1"/>
          </p:cNvSpPr>
          <p:nvPr>
            <p:ph type="body" idx="1"/>
          </p:nvPr>
        </p:nvSpPr>
        <p:spPr>
          <a:xfrm>
            <a:off x="215900" y="1828800"/>
            <a:ext cx="12571414" cy="7707313"/>
          </a:xfrm>
          <a:prstGeom prst="rect">
            <a:avLst/>
          </a:prstGeom>
          <a:noFill/>
          <a:ln>
            <a:noFill/>
          </a:ln>
        </p:spPr>
        <p:txBody>
          <a:bodyPr spcFirstLastPara="1" wrap="square" lIns="126425" tIns="72225" rIns="126425" bIns="72225" anchor="t" anchorCtr="0">
            <a:noAutofit/>
          </a:bodyPr>
          <a:lstStyle/>
          <a:p>
            <a:pPr marL="914400" lvl="0" indent="-914400" algn="l" rtl="0">
              <a:spcBef>
                <a:spcPts val="0"/>
              </a:spcBef>
              <a:spcAft>
                <a:spcPts val="0"/>
              </a:spcAft>
              <a:buClr>
                <a:srgbClr val="000000"/>
              </a:buClr>
              <a:buSzPts val="4500"/>
              <a:buFont typeface="Helvetica Neue Light"/>
              <a:buAutoNum type="arabicPeriod" startAt="4"/>
            </a:pPr>
            <a:r>
              <a:rPr lang="en-US" sz="4500" dirty="0">
                <a:latin typeface="Calibri"/>
                <a:ea typeface="Calibri"/>
                <a:cs typeface="Calibri"/>
                <a:sym typeface="Calibri"/>
              </a:rPr>
              <a:t>Diagnostic imaging is performed </a:t>
            </a:r>
            <a:r>
              <a:rPr lang="en-US" sz="4500" u="sng" dirty="0">
                <a:latin typeface="Calibri"/>
                <a:ea typeface="Calibri"/>
                <a:cs typeface="Calibri"/>
                <a:sym typeface="Calibri"/>
              </a:rPr>
              <a:t>after</a:t>
            </a:r>
            <a:r>
              <a:rPr lang="en-US" sz="4500" dirty="0">
                <a:latin typeface="Calibri"/>
                <a:ea typeface="Calibri"/>
                <a:cs typeface="Calibri"/>
                <a:sym typeface="Calibri"/>
              </a:rPr>
              <a:t> serum testing determines that there is a pituitary or an ectopic source.</a:t>
            </a:r>
          </a:p>
          <a:p>
            <a:pPr marL="914400" lvl="0" indent="-914400" algn="l" rtl="0">
              <a:spcBef>
                <a:spcPts val="0"/>
              </a:spcBef>
              <a:spcAft>
                <a:spcPts val="0"/>
              </a:spcAft>
              <a:buClr>
                <a:srgbClr val="000000"/>
              </a:buClr>
              <a:buSzPts val="4500"/>
              <a:buFont typeface="Helvetica Neue Light"/>
              <a:buAutoNum type="arabicPeriod" startAt="4"/>
            </a:pPr>
            <a:endParaRPr sz="15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A</a:t>
            </a:r>
            <a:r>
              <a:rPr lang="en-US" sz="4500" b="1" i="1" dirty="0">
                <a:latin typeface="Calibri"/>
                <a:ea typeface="Calibri"/>
                <a:cs typeface="Calibri"/>
                <a:sym typeface="Calibri"/>
              </a:rPr>
              <a:t> CT scan of chest and abdomen/pelvis with IV </a:t>
            </a:r>
            <a:r>
              <a:rPr lang="en-US" sz="4500" b="1" i="1" dirty="0" err="1">
                <a:latin typeface="Calibri"/>
                <a:ea typeface="Calibri"/>
                <a:cs typeface="Calibri"/>
                <a:sym typeface="Calibri"/>
              </a:rPr>
              <a:t>iodated</a:t>
            </a:r>
            <a:r>
              <a:rPr lang="en-US" sz="4500" b="1" i="1" dirty="0">
                <a:latin typeface="Calibri"/>
                <a:ea typeface="Calibri"/>
                <a:cs typeface="Calibri"/>
                <a:sym typeface="Calibri"/>
              </a:rPr>
              <a:t> contrast </a:t>
            </a:r>
            <a:r>
              <a:rPr lang="en-US" sz="4500" dirty="0">
                <a:latin typeface="Calibri"/>
                <a:ea typeface="Calibri"/>
                <a:cs typeface="Calibri"/>
                <a:sym typeface="Calibri"/>
              </a:rPr>
              <a:t>to look for disease of the lungs, thymus, GI tract, pancreas and adrenals.</a:t>
            </a:r>
            <a:endParaRPr dirty="0"/>
          </a:p>
          <a:p>
            <a:pPr marL="868363" lvl="1" indent="-487363" algn="l" rtl="0">
              <a:spcBef>
                <a:spcPts val="700"/>
              </a:spcBef>
              <a:spcAft>
                <a:spcPts val="0"/>
              </a:spcAft>
              <a:buClr>
                <a:srgbClr val="000000"/>
              </a:buClr>
              <a:buSzPts val="3000"/>
              <a:buFont typeface="Arial"/>
              <a:buChar char="•"/>
            </a:pPr>
            <a:r>
              <a:rPr lang="en-US" sz="3000" dirty="0">
                <a:latin typeface="Calibri"/>
                <a:ea typeface="Calibri"/>
                <a:cs typeface="Calibri"/>
                <a:sym typeface="Calibri"/>
              </a:rPr>
              <a:t>Octreotide scintigraphy can be used to detect ectopic ACTH secreting tumors if the initial CT is negative. Radiolabeled octreotide (somatostatin) is injected intravenously and then SPECT imaging is obtained using to pick up any tissues with high concentrations of the isotope.</a:t>
            </a:r>
            <a:endParaRPr sz="3000" dirty="0">
              <a:latin typeface="Calibri"/>
              <a:ea typeface="Calibri"/>
              <a:cs typeface="Calibri"/>
              <a:sym typeface="Calibri"/>
            </a:endParaRPr>
          </a:p>
        </p:txBody>
      </p:sp>
    </p:spTree>
    <p:extLst>
      <p:ext uri="{BB962C8B-B14F-4D97-AF65-F5344CB8AC3E}">
        <p14:creationId xmlns:p14="http://schemas.microsoft.com/office/powerpoint/2010/main" val="34362046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68"/>
          <p:cNvSpPr txBox="1">
            <a:spLocks noGrp="1"/>
          </p:cNvSpPr>
          <p:nvPr>
            <p:ph type="title"/>
          </p:nvPr>
        </p:nvSpPr>
        <p:spPr>
          <a:xfrm>
            <a:off x="215900" y="0"/>
            <a:ext cx="12571414" cy="17526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Arial"/>
                <a:ea typeface="Arial"/>
                <a:cs typeface="Arial"/>
                <a:sym typeface="Arial"/>
              </a:rPr>
              <a:t>Whoa!  Can we back up???</a:t>
            </a:r>
            <a:endParaRPr dirty="0">
              <a:solidFill>
                <a:srgbClr val="FF0000"/>
              </a:solidFill>
            </a:endParaRPr>
          </a:p>
        </p:txBody>
      </p:sp>
      <p:sp>
        <p:nvSpPr>
          <p:cNvPr id="497" name="Google Shape;497;p68"/>
          <p:cNvSpPr txBox="1">
            <a:spLocks noGrp="1"/>
          </p:cNvSpPr>
          <p:nvPr>
            <p:ph type="body" idx="1"/>
          </p:nvPr>
        </p:nvSpPr>
        <p:spPr>
          <a:xfrm>
            <a:off x="215900" y="1828800"/>
            <a:ext cx="12571414" cy="7707313"/>
          </a:xfrm>
          <a:prstGeom prst="rect">
            <a:avLst/>
          </a:prstGeom>
          <a:noFill/>
          <a:ln>
            <a:noFill/>
          </a:ln>
        </p:spPr>
        <p:txBody>
          <a:bodyPr spcFirstLastPara="1" wrap="square" lIns="126425" tIns="72225" rIns="126425" bIns="72225" anchor="t" anchorCtr="0">
            <a:noAutofit/>
          </a:bodyPr>
          <a:lstStyle/>
          <a:p>
            <a:pPr marL="0" lvl="0" indent="0" algn="l" rtl="0">
              <a:spcBef>
                <a:spcPts val="0"/>
              </a:spcBef>
              <a:spcAft>
                <a:spcPts val="0"/>
              </a:spcAft>
              <a:buClr>
                <a:srgbClr val="000000"/>
              </a:buClr>
              <a:buSzPts val="4500"/>
              <a:buNone/>
            </a:pPr>
            <a:endParaRPr sz="3000" dirty="0">
              <a:latin typeface="Calibri"/>
              <a:ea typeface="Calibri"/>
              <a:cs typeface="Calibri"/>
              <a:sym typeface="Calibri"/>
            </a:endParaRPr>
          </a:p>
        </p:txBody>
      </p:sp>
    </p:spTree>
    <p:extLst>
      <p:ext uri="{BB962C8B-B14F-4D97-AF65-F5344CB8AC3E}">
        <p14:creationId xmlns:p14="http://schemas.microsoft.com/office/powerpoint/2010/main" val="39457871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70"/>
          <p:cNvSpPr txBox="1">
            <a:spLocks noGrp="1"/>
          </p:cNvSpPr>
          <p:nvPr>
            <p:ph type="title"/>
          </p:nvPr>
        </p:nvSpPr>
        <p:spPr>
          <a:xfrm>
            <a:off x="177800" y="118533"/>
            <a:ext cx="12725399" cy="14732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000" dirty="0">
                <a:solidFill>
                  <a:srgbClr val="FF0000"/>
                </a:solidFill>
                <a:latin typeface="Calibri"/>
                <a:ea typeface="Calibri"/>
                <a:cs typeface="Calibri"/>
                <a:sym typeface="Calibri"/>
              </a:rPr>
              <a:t>Differential Diagnosis of Cortisol Excess</a:t>
            </a:r>
            <a:endParaRPr sz="6000" dirty="0">
              <a:solidFill>
                <a:srgbClr val="FF0000"/>
              </a:solidFill>
              <a:latin typeface="Calibri"/>
              <a:ea typeface="Calibri"/>
              <a:cs typeface="Calibri"/>
              <a:sym typeface="Calibri"/>
            </a:endParaRPr>
          </a:p>
        </p:txBody>
      </p:sp>
      <p:sp>
        <p:nvSpPr>
          <p:cNvPr id="508" name="Google Shape;508;p70"/>
          <p:cNvSpPr txBox="1">
            <a:spLocks noGrp="1"/>
          </p:cNvSpPr>
          <p:nvPr>
            <p:ph type="body" idx="1"/>
          </p:nvPr>
        </p:nvSpPr>
        <p:spPr>
          <a:xfrm>
            <a:off x="177799" y="1591733"/>
            <a:ext cx="12725399" cy="8043333"/>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Many conditions, in addition to exogenous steroids, can cause patients to have a Cushingoid appearance- such as antiretrovirals for HIV, obesity, and bulimia.</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Elevated levels of cortisol are found in alcoholism, anorexia nervosa, and depression.  This may cause these patients to have a Cushingoid appearance that will resolve if the underlying disorder is treated.</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gfa60496b86_2_34"/>
          <p:cNvSpPr txBox="1">
            <a:spLocks noGrp="1"/>
          </p:cNvSpPr>
          <p:nvPr>
            <p:ph type="title"/>
          </p:nvPr>
        </p:nvSpPr>
        <p:spPr>
          <a:xfrm>
            <a:off x="101600" y="257048"/>
            <a:ext cx="12725400" cy="16257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Calibri"/>
                <a:ea typeface="Calibri"/>
                <a:cs typeface="Calibri"/>
                <a:sym typeface="Calibri"/>
              </a:rPr>
              <a:t>Treating Cortisol Excess</a:t>
            </a:r>
            <a:endParaRPr dirty="0">
              <a:solidFill>
                <a:srgbClr val="FF0000"/>
              </a:solidFill>
              <a:latin typeface="Calibri"/>
              <a:ea typeface="Calibri"/>
              <a:cs typeface="Calibri"/>
              <a:sym typeface="Calibri"/>
            </a:endParaRPr>
          </a:p>
        </p:txBody>
      </p:sp>
      <p:sp>
        <p:nvSpPr>
          <p:cNvPr id="514" name="Google Shape;514;gfa60496b86_2_34"/>
          <p:cNvSpPr txBox="1">
            <a:spLocks noGrp="1"/>
          </p:cNvSpPr>
          <p:nvPr>
            <p:ph type="body" idx="1"/>
          </p:nvPr>
        </p:nvSpPr>
        <p:spPr>
          <a:xfrm>
            <a:off x="177800" y="2016126"/>
            <a:ext cx="12649200" cy="7412100"/>
          </a:xfrm>
          <a:prstGeom prst="rect">
            <a:avLst/>
          </a:prstGeom>
          <a:noFill/>
          <a:ln>
            <a:noFill/>
          </a:ln>
        </p:spPr>
        <p:txBody>
          <a:bodyPr spcFirstLastPara="1" wrap="square" lIns="126425" tIns="72225" rIns="126425" bIns="72225" anchor="t" anchorCtr="0">
            <a:noAutofit/>
          </a:bodyPr>
          <a:lstStyle/>
          <a:p>
            <a:pPr marL="292100" lvl="0" indent="-292100" algn="l" rtl="0">
              <a:spcBef>
                <a:spcPts val="0"/>
              </a:spcBef>
              <a:spcAft>
                <a:spcPts val="0"/>
              </a:spcAft>
              <a:buClr>
                <a:srgbClr val="000000"/>
              </a:buClr>
              <a:buSzPts val="4500"/>
              <a:buFont typeface="Arial"/>
              <a:buChar char="•"/>
            </a:pPr>
            <a:r>
              <a:rPr lang="en-US" sz="4500" dirty="0">
                <a:latin typeface="Calibri"/>
                <a:ea typeface="Calibri"/>
                <a:cs typeface="Calibri"/>
                <a:sym typeface="Calibri"/>
              </a:rPr>
              <a:t>It is important to treat a person with cortisol excess quickly, as glucocorticoid excess can cause considerable morbidity and mortality.</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The first step in treatment is to find the source- pituitary, paraneoplastic or adrenal?</a:t>
            </a:r>
            <a:endParaRPr dirty="0"/>
          </a:p>
          <a:p>
            <a:pPr marL="292100" lvl="0" indent="-292100" algn="l" rtl="0">
              <a:spcBef>
                <a:spcPts val="700"/>
              </a:spcBef>
              <a:spcAft>
                <a:spcPts val="0"/>
              </a:spcAft>
              <a:buClr>
                <a:srgbClr val="000000"/>
              </a:buClr>
              <a:buSzPts val="4500"/>
              <a:buFont typeface="Helvetica Neue Light"/>
              <a:buNone/>
            </a:pPr>
            <a:endParaRPr sz="4500" dirty="0">
              <a:latin typeface="Calibri"/>
              <a:ea typeface="Calibri"/>
              <a:cs typeface="Calibri"/>
              <a:sym typeface="Calibri"/>
            </a:endParaRPr>
          </a:p>
          <a:p>
            <a:pPr marL="292100" lvl="0" indent="-292100"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Most etiologies of cortisol excess are treated surgically, to remove the source of the disease.</a:t>
            </a:r>
            <a:endParaRPr dirty="0">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71"/>
          <p:cNvSpPr txBox="1">
            <a:spLocks noGrp="1"/>
          </p:cNvSpPr>
          <p:nvPr>
            <p:ph type="title"/>
          </p:nvPr>
        </p:nvSpPr>
        <p:spPr>
          <a:xfrm>
            <a:off x="254000" y="390525"/>
            <a:ext cx="4686300" cy="9134400"/>
          </a:xfrm>
          <a:prstGeom prst="rect">
            <a:avLst/>
          </a:prstGeom>
          <a:noFill/>
          <a:ln>
            <a:noFill/>
          </a:ln>
        </p:spPr>
        <p:txBody>
          <a:bodyPr spcFirstLastPara="1" wrap="square" lIns="126425" tIns="72225" rIns="126425" bIns="72225" anchor="ctr" anchorCtr="0">
            <a:noAutofit/>
          </a:bodyPr>
          <a:lstStyle/>
          <a:p>
            <a:pPr marL="571500" lvl="0" indent="-571500" algn="l" rtl="0">
              <a:spcBef>
                <a:spcPts val="0"/>
              </a:spcBef>
              <a:spcAft>
                <a:spcPts val="0"/>
              </a:spcAft>
              <a:buSzPct val="80000"/>
              <a:buFont typeface="Arial" panose="020B0604020202020204" pitchFamily="34" charset="0"/>
              <a:buChar char="•"/>
            </a:pPr>
            <a:r>
              <a:rPr lang="en-US" sz="4400" dirty="0">
                <a:latin typeface="Calibri" panose="020F0502020204030204" pitchFamily="34" charset="0"/>
                <a:ea typeface="Arial"/>
                <a:cs typeface="Calibri" panose="020F0502020204030204" pitchFamily="34" charset="0"/>
                <a:sym typeface="Arial"/>
              </a:rPr>
              <a:t>The primary treatment of pituitary adenomas is surgical and is performed by a neurosurgeon skilled in this type of surgery.</a:t>
            </a:r>
            <a:endParaRPr sz="4400" dirty="0">
              <a:latin typeface="Calibri" panose="020F0502020204030204" pitchFamily="34" charset="0"/>
              <a:cs typeface="Calibri" panose="020F0502020204030204" pitchFamily="34" charset="0"/>
            </a:endParaRPr>
          </a:p>
        </p:txBody>
      </p:sp>
      <p:pic>
        <p:nvPicPr>
          <p:cNvPr id="520" name="Google Shape;520;p71"/>
          <p:cNvPicPr preferRelativeResize="0"/>
          <p:nvPr/>
        </p:nvPicPr>
        <p:blipFill rotWithShape="1">
          <a:blip r:embed="rId3">
            <a:alphaModFix/>
          </a:blip>
          <a:srcRect l="4297" r="5170"/>
          <a:stretch/>
        </p:blipFill>
        <p:spPr>
          <a:xfrm>
            <a:off x="4521200" y="309563"/>
            <a:ext cx="8229600" cy="92964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72"/>
          <p:cNvSpPr txBox="1">
            <a:spLocks noGrp="1"/>
          </p:cNvSpPr>
          <p:nvPr>
            <p:ph type="title"/>
          </p:nvPr>
        </p:nvSpPr>
        <p:spPr>
          <a:xfrm>
            <a:off x="330200" y="228600"/>
            <a:ext cx="12192000" cy="1066800"/>
          </a:xfrm>
          <a:prstGeom prst="rect">
            <a:avLst/>
          </a:prstGeom>
          <a:noFill/>
          <a:ln>
            <a:noFill/>
          </a:ln>
        </p:spPr>
        <p:txBody>
          <a:bodyPr spcFirstLastPara="1" wrap="square" lIns="50800" tIns="50800" rIns="50800" bIns="50800" anchor="b" anchorCtr="0">
            <a:noAutofit/>
          </a:bodyPr>
          <a:lstStyle/>
          <a:p>
            <a:pPr marL="0" lvl="0" indent="0" algn="ctr" rtl="0">
              <a:spcBef>
                <a:spcPts val="0"/>
              </a:spcBef>
              <a:spcAft>
                <a:spcPts val="0"/>
              </a:spcAft>
              <a:buNone/>
            </a:pPr>
            <a:r>
              <a:rPr lang="en-US" sz="6000" dirty="0">
                <a:solidFill>
                  <a:srgbClr val="FF0000"/>
                </a:solidFill>
                <a:latin typeface="Calibri"/>
                <a:ea typeface="Calibri"/>
                <a:cs typeface="Calibri"/>
                <a:sym typeface="Calibri"/>
              </a:rPr>
              <a:t>Treatment of Pituitary Adenoma</a:t>
            </a:r>
            <a:endParaRPr dirty="0">
              <a:solidFill>
                <a:srgbClr val="FF0000"/>
              </a:solidFill>
            </a:endParaRPr>
          </a:p>
        </p:txBody>
      </p:sp>
      <p:pic>
        <p:nvPicPr>
          <p:cNvPr id="526" name="Google Shape;526;p72"/>
          <p:cNvPicPr preferRelativeResize="0">
            <a:picLocks noGrp="1"/>
          </p:cNvPicPr>
          <p:nvPr>
            <p:ph type="body" idx="1"/>
          </p:nvPr>
        </p:nvPicPr>
        <p:blipFill rotWithShape="1">
          <a:blip r:embed="rId3">
            <a:alphaModFix/>
          </a:blip>
          <a:srcRect/>
          <a:stretch/>
        </p:blipFill>
        <p:spPr>
          <a:xfrm>
            <a:off x="5892800" y="1676400"/>
            <a:ext cx="6934200" cy="7848600"/>
          </a:xfrm>
          <a:prstGeom prst="rect">
            <a:avLst/>
          </a:prstGeom>
          <a:noFill/>
          <a:ln>
            <a:noFill/>
          </a:ln>
        </p:spPr>
      </p:pic>
      <p:sp>
        <p:nvSpPr>
          <p:cNvPr id="527" name="Google Shape;527;p72"/>
          <p:cNvSpPr txBox="1">
            <a:spLocks noGrp="1"/>
          </p:cNvSpPr>
          <p:nvPr>
            <p:ph type="body" idx="2"/>
          </p:nvPr>
        </p:nvSpPr>
        <p:spPr>
          <a:xfrm>
            <a:off x="330200" y="1676400"/>
            <a:ext cx="5562600" cy="7848600"/>
          </a:xfrm>
          <a:prstGeom prst="rect">
            <a:avLst/>
          </a:prstGeom>
          <a:noFill/>
          <a:ln>
            <a:noFill/>
          </a:ln>
        </p:spPr>
        <p:txBody>
          <a:bodyPr spcFirstLastPara="1" wrap="square" lIns="50800" tIns="50800" rIns="50800" bIns="50800" anchor="ctr" anchorCtr="0">
            <a:noAutofit/>
          </a:bodyPr>
          <a:lstStyle/>
          <a:p>
            <a:pPr marL="0" lvl="0" indent="0" algn="l" rtl="0">
              <a:spcBef>
                <a:spcPts val="0"/>
              </a:spcBef>
              <a:spcAft>
                <a:spcPts val="0"/>
              </a:spcAft>
              <a:buClr>
                <a:srgbClr val="000000"/>
              </a:buClr>
              <a:buSzPts val="4400"/>
              <a:buFont typeface="Calibri"/>
              <a:buNone/>
            </a:pPr>
            <a:r>
              <a:rPr lang="en-US" sz="4400">
                <a:latin typeface="Calibri"/>
                <a:ea typeface="Calibri"/>
                <a:cs typeface="Calibri"/>
                <a:sym typeface="Calibri"/>
              </a:rPr>
              <a:t>Transsphenoidal resection of the pituitary adenoma; </a:t>
            </a:r>
            <a:endParaRPr/>
          </a:p>
          <a:p>
            <a:pPr marL="571500" lvl="0" indent="-571500" algn="l" rtl="0">
              <a:spcBef>
                <a:spcPts val="1200"/>
              </a:spcBef>
              <a:spcAft>
                <a:spcPts val="0"/>
              </a:spcAft>
              <a:buClr>
                <a:srgbClr val="000000"/>
              </a:buClr>
              <a:buSzPts val="4400"/>
              <a:buFont typeface="Arial"/>
              <a:buChar char="•"/>
            </a:pPr>
            <a:r>
              <a:rPr lang="en-US" sz="4400">
                <a:latin typeface="Calibri"/>
                <a:ea typeface="Calibri"/>
                <a:cs typeface="Calibri"/>
                <a:sym typeface="Calibri"/>
              </a:rPr>
              <a:t>Technically difficult </a:t>
            </a:r>
            <a:endParaRPr/>
          </a:p>
          <a:p>
            <a:pPr marL="571500" lvl="0" indent="-571500" algn="l" rtl="0">
              <a:spcBef>
                <a:spcPts val="1200"/>
              </a:spcBef>
              <a:spcAft>
                <a:spcPts val="0"/>
              </a:spcAft>
              <a:buClr>
                <a:srgbClr val="000000"/>
              </a:buClr>
              <a:buSzPts val="4400"/>
              <a:buFont typeface="Arial"/>
              <a:buChar char="•"/>
            </a:pPr>
            <a:r>
              <a:rPr lang="en-US" sz="4400">
                <a:latin typeface="Calibri"/>
                <a:ea typeface="Calibri"/>
                <a:cs typeface="Calibri"/>
                <a:sym typeface="Calibri"/>
              </a:rPr>
              <a:t>May destroy additional pituitary tissue</a:t>
            </a:r>
            <a:endParaRPr/>
          </a:p>
          <a:p>
            <a:pPr marL="571500" lvl="0" indent="-571500" algn="l" rtl="0">
              <a:spcBef>
                <a:spcPts val="1200"/>
              </a:spcBef>
              <a:spcAft>
                <a:spcPts val="0"/>
              </a:spcAft>
              <a:buClr>
                <a:srgbClr val="000000"/>
              </a:buClr>
              <a:buSzPts val="4400"/>
              <a:buFont typeface="Arial"/>
              <a:buChar char="•"/>
            </a:pPr>
            <a:r>
              <a:rPr lang="en-US" sz="4400">
                <a:latin typeface="Calibri"/>
                <a:ea typeface="Calibri"/>
                <a:cs typeface="Calibri"/>
                <a:sym typeface="Calibri"/>
              </a:rPr>
              <a:t>70-80% success, May require repeat surgery or XRT if surgery fails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3" name="Google Shape;533;p73"/>
          <p:cNvSpPr txBox="1">
            <a:spLocks noGrp="1"/>
          </p:cNvSpPr>
          <p:nvPr>
            <p:ph type="body" idx="1"/>
          </p:nvPr>
        </p:nvSpPr>
        <p:spPr>
          <a:xfrm>
            <a:off x="135468" y="2514600"/>
            <a:ext cx="5503332" cy="7021513"/>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4400" b="1" dirty="0">
                <a:latin typeface="Calibri" panose="020F0502020204030204" pitchFamily="34" charset="0"/>
                <a:ea typeface="Calibri"/>
                <a:cs typeface="Calibri" panose="020F0502020204030204" pitchFamily="34" charset="0"/>
                <a:sym typeface="Calibri"/>
              </a:rPr>
              <a:t>Adrenal adenomas</a:t>
            </a:r>
            <a:r>
              <a:rPr lang="en-US" sz="4400" dirty="0">
                <a:latin typeface="Calibri" panose="020F0502020204030204" pitchFamily="34" charset="0"/>
                <a:ea typeface="Calibri"/>
                <a:cs typeface="Calibri" panose="020F0502020204030204" pitchFamily="34" charset="0"/>
                <a:sym typeface="Calibri"/>
              </a:rPr>
              <a:t>: the most common adrenal source of Cushing’s, laparoscopic adrenal resection, sometimes done open with unilateral or bilateral flank incisions.</a:t>
            </a:r>
            <a:endParaRPr sz="4400" dirty="0">
              <a:latin typeface="Calibri" panose="020F0502020204030204" pitchFamily="34" charset="0"/>
              <a:cs typeface="Calibri" panose="020F0502020204030204" pitchFamily="34" charset="0"/>
            </a:endParaRPr>
          </a:p>
        </p:txBody>
      </p:sp>
      <p:pic>
        <p:nvPicPr>
          <p:cNvPr id="2" name="Picture 1" descr="Laparoscopic surgery - Βασίλης Σιούλας">
            <a:extLst>
              <a:ext uri="{FF2B5EF4-FFF2-40B4-BE49-F238E27FC236}">
                <a16:creationId xmlns:a16="http://schemas.microsoft.com/office/drawing/2014/main" id="{8DE271F1-92CD-89AA-2EA9-47EFA91AA35F}"/>
              </a:ext>
            </a:extLst>
          </p:cNvPr>
          <p:cNvPicPr>
            <a:picLocks noChangeAspect="1"/>
          </p:cNvPicPr>
          <p:nvPr/>
        </p:nvPicPr>
        <p:blipFill>
          <a:blip r:embed="rId3"/>
          <a:srcRect l="23965" t="5229"/>
          <a:stretch>
            <a:fillRect/>
          </a:stretch>
        </p:blipFill>
        <p:spPr>
          <a:xfrm>
            <a:off x="5638800" y="2083991"/>
            <a:ext cx="5909733" cy="4143374"/>
          </a:xfrm>
          <a:prstGeom prst="rect">
            <a:avLst/>
          </a:prstGeom>
        </p:spPr>
      </p:pic>
      <p:sp>
        <p:nvSpPr>
          <p:cNvPr id="532" name="Google Shape;532;p73"/>
          <p:cNvSpPr txBox="1">
            <a:spLocks noGrp="1"/>
          </p:cNvSpPr>
          <p:nvPr>
            <p:ph type="title"/>
          </p:nvPr>
        </p:nvSpPr>
        <p:spPr>
          <a:xfrm>
            <a:off x="135468" y="215900"/>
            <a:ext cx="12733864" cy="2070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7000" dirty="0">
                <a:solidFill>
                  <a:srgbClr val="FF0000"/>
                </a:solidFill>
                <a:latin typeface="Calibri"/>
                <a:ea typeface="Calibri"/>
                <a:cs typeface="Calibri"/>
                <a:sym typeface="Calibri"/>
              </a:rPr>
              <a:t>Treatment of Cortisol Excess- Adrenal Etiologies </a:t>
            </a:r>
            <a:endParaRPr dirty="0">
              <a:solidFill>
                <a:srgbClr val="FF0000"/>
              </a:solidFill>
              <a:latin typeface="Calibri"/>
              <a:ea typeface="Calibri"/>
              <a:cs typeface="Calibri"/>
              <a:sym typeface="Calibri"/>
            </a:endParaRPr>
          </a:p>
        </p:txBody>
      </p:sp>
      <p:pic>
        <p:nvPicPr>
          <p:cNvPr id="3" name="Picture 2" descr="Is Laparoscopic Surgery Better Than Open Surgery | Gastro Surgery Surat">
            <a:extLst>
              <a:ext uri="{FF2B5EF4-FFF2-40B4-BE49-F238E27FC236}">
                <a16:creationId xmlns:a16="http://schemas.microsoft.com/office/drawing/2014/main" id="{EB4C27F8-F4B5-63E1-832E-F9274DCCC3FA}"/>
              </a:ext>
            </a:extLst>
          </p:cNvPr>
          <p:cNvPicPr>
            <a:picLocks noChangeAspect="1"/>
          </p:cNvPicPr>
          <p:nvPr/>
        </p:nvPicPr>
        <p:blipFill>
          <a:blip r:embed="rId4"/>
          <a:srcRect l="7556" t="11264"/>
          <a:stretch>
            <a:fillRect/>
          </a:stretch>
        </p:blipFill>
        <p:spPr>
          <a:xfrm>
            <a:off x="7113597" y="6025356"/>
            <a:ext cx="5755735" cy="368508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E46DF0C5-8524-CFAA-E8F4-0501A681A688}"/>
            </a:ext>
          </a:extLst>
        </p:cNvPr>
        <p:cNvGrpSpPr/>
        <p:nvPr/>
      </p:nvGrpSpPr>
      <p:grpSpPr>
        <a:xfrm>
          <a:off x="0" y="0"/>
          <a:ext cx="0" cy="0"/>
          <a:chOff x="0" y="0"/>
          <a:chExt cx="0" cy="0"/>
        </a:xfrm>
      </p:grpSpPr>
      <p:sp>
        <p:nvSpPr>
          <p:cNvPr id="532" name="Google Shape;532;p73">
            <a:extLst>
              <a:ext uri="{FF2B5EF4-FFF2-40B4-BE49-F238E27FC236}">
                <a16:creationId xmlns:a16="http://schemas.microsoft.com/office/drawing/2014/main" id="{79CFA93A-EA4B-8209-7CF3-220B4A564B4C}"/>
              </a:ext>
            </a:extLst>
          </p:cNvPr>
          <p:cNvSpPr txBox="1">
            <a:spLocks noGrp="1"/>
          </p:cNvSpPr>
          <p:nvPr>
            <p:ph type="title"/>
          </p:nvPr>
        </p:nvSpPr>
        <p:spPr>
          <a:xfrm>
            <a:off x="649288" y="215900"/>
            <a:ext cx="11704637" cy="2070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7000" dirty="0">
                <a:solidFill>
                  <a:srgbClr val="FF0000"/>
                </a:solidFill>
                <a:latin typeface="Calibri"/>
                <a:ea typeface="Calibri"/>
                <a:cs typeface="Calibri"/>
                <a:sym typeface="Calibri"/>
              </a:rPr>
              <a:t>Treatment of Cortisol Excess- Adrenal Etiologies </a:t>
            </a:r>
            <a:endParaRPr dirty="0">
              <a:solidFill>
                <a:srgbClr val="FF0000"/>
              </a:solidFill>
              <a:latin typeface="Calibri"/>
              <a:ea typeface="Calibri"/>
              <a:cs typeface="Calibri"/>
              <a:sym typeface="Calibri"/>
            </a:endParaRPr>
          </a:p>
        </p:txBody>
      </p:sp>
      <p:sp>
        <p:nvSpPr>
          <p:cNvPr id="533" name="Google Shape;533;p73">
            <a:extLst>
              <a:ext uri="{FF2B5EF4-FFF2-40B4-BE49-F238E27FC236}">
                <a16:creationId xmlns:a16="http://schemas.microsoft.com/office/drawing/2014/main" id="{6EEEB92E-D6D2-5576-0DF2-F453DF7BEEE3}"/>
              </a:ext>
            </a:extLst>
          </p:cNvPr>
          <p:cNvSpPr txBox="1">
            <a:spLocks noGrp="1"/>
          </p:cNvSpPr>
          <p:nvPr>
            <p:ph type="body" idx="1"/>
          </p:nvPr>
        </p:nvSpPr>
        <p:spPr>
          <a:xfrm>
            <a:off x="6502400" y="2709333"/>
            <a:ext cx="6284913" cy="6826780"/>
          </a:xfrm>
          <a:prstGeom prst="rect">
            <a:avLst/>
          </a:prstGeom>
          <a:noFill/>
          <a:ln>
            <a:noFill/>
          </a:ln>
        </p:spPr>
        <p:txBody>
          <a:bodyPr spcFirstLastPara="1" wrap="square" lIns="126425" tIns="72225" rIns="126425" bIns="72225" anchor="t" anchorCtr="0">
            <a:noAutofit/>
          </a:bodyPr>
          <a:lstStyle/>
          <a:p>
            <a:pPr marL="571500" indent="-571500">
              <a:spcBef>
                <a:spcPts val="700"/>
              </a:spcBef>
              <a:buSzPct val="80000"/>
            </a:pPr>
            <a:r>
              <a:rPr lang="en-US" sz="4400" b="1" dirty="0">
                <a:latin typeface="Calibri" panose="020F0502020204030204" pitchFamily="34" charset="0"/>
                <a:ea typeface="Calibri"/>
                <a:cs typeface="Calibri" panose="020F0502020204030204" pitchFamily="34" charset="0"/>
                <a:sym typeface="Calibri"/>
              </a:rPr>
              <a:t>Adrenal carcinomas</a:t>
            </a:r>
            <a:r>
              <a:rPr lang="en-US" sz="4400" dirty="0">
                <a:latin typeface="Calibri" panose="020F0502020204030204" pitchFamily="34" charset="0"/>
                <a:ea typeface="Calibri"/>
                <a:cs typeface="Calibri" panose="020F0502020204030204" pitchFamily="34" charset="0"/>
                <a:sym typeface="Calibri"/>
              </a:rPr>
              <a:t> are more highly suggested by androgen excess rather than cortisol.  All should be aggressively resected with an open abdominal laparotomy and exploration.</a:t>
            </a:r>
            <a:endParaRPr sz="4400" dirty="0">
              <a:latin typeface="Calibri" panose="020F0502020204030204" pitchFamily="34" charset="0"/>
              <a:cs typeface="Calibri" panose="020F0502020204030204" pitchFamily="34" charset="0"/>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pic>
        <p:nvPicPr>
          <p:cNvPr id="2" name="Picture 1" descr="Laparotomy Recovery Instructions in Austin | NorthStar Surgery">
            <a:extLst>
              <a:ext uri="{FF2B5EF4-FFF2-40B4-BE49-F238E27FC236}">
                <a16:creationId xmlns:a16="http://schemas.microsoft.com/office/drawing/2014/main" id="{5DA74806-5E72-3E1D-5A2E-FEB25BE9294D}"/>
              </a:ext>
            </a:extLst>
          </p:cNvPr>
          <p:cNvPicPr>
            <a:picLocks noChangeAspect="1"/>
          </p:cNvPicPr>
          <p:nvPr/>
        </p:nvPicPr>
        <p:blipFill>
          <a:blip r:embed="rId3"/>
          <a:srcRect l="16741" r="16791"/>
          <a:stretch>
            <a:fillRect/>
          </a:stretch>
        </p:blipFill>
        <p:spPr>
          <a:xfrm>
            <a:off x="502279" y="2514600"/>
            <a:ext cx="5769214" cy="7021513"/>
          </a:xfrm>
          <a:prstGeom prst="rect">
            <a:avLst/>
          </a:prstGeom>
        </p:spPr>
      </p:pic>
    </p:spTree>
    <p:extLst>
      <p:ext uri="{BB962C8B-B14F-4D97-AF65-F5344CB8AC3E}">
        <p14:creationId xmlns:p14="http://schemas.microsoft.com/office/powerpoint/2010/main" val="23592508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74"/>
          <p:cNvSpPr txBox="1">
            <a:spLocks noGrp="1"/>
          </p:cNvSpPr>
          <p:nvPr>
            <p:ph type="title"/>
          </p:nvPr>
        </p:nvSpPr>
        <p:spPr>
          <a:xfrm>
            <a:off x="649288" y="215900"/>
            <a:ext cx="11704637" cy="2070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7000" dirty="0">
                <a:solidFill>
                  <a:srgbClr val="FF0000"/>
                </a:solidFill>
                <a:latin typeface="Calibri"/>
                <a:ea typeface="Calibri"/>
                <a:cs typeface="Calibri"/>
                <a:sym typeface="Calibri"/>
              </a:rPr>
              <a:t>Treatment of Cortisol Excess- Adrenal Etiologies </a:t>
            </a:r>
            <a:endParaRPr dirty="0">
              <a:solidFill>
                <a:srgbClr val="FF0000"/>
              </a:solidFill>
            </a:endParaRPr>
          </a:p>
        </p:txBody>
      </p:sp>
      <p:sp>
        <p:nvSpPr>
          <p:cNvPr id="539" name="Google Shape;539;p74"/>
          <p:cNvSpPr txBox="1">
            <a:spLocks noGrp="1"/>
          </p:cNvSpPr>
          <p:nvPr>
            <p:ph type="body" idx="1"/>
          </p:nvPr>
        </p:nvSpPr>
        <p:spPr>
          <a:xfrm>
            <a:off x="139700" y="2286000"/>
            <a:ext cx="12647613" cy="7250113"/>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ts val="3600"/>
              <a:buFont typeface="Calibri"/>
              <a:buChar char="•"/>
            </a:pPr>
            <a:r>
              <a:rPr lang="en-US" sz="4500" b="1" i="1" dirty="0">
                <a:latin typeface="Calibri"/>
                <a:ea typeface="Calibri"/>
                <a:cs typeface="Calibri"/>
                <a:sym typeface="Calibri"/>
              </a:rPr>
              <a:t>In children and teens, all adrenal masses should be resected</a:t>
            </a:r>
            <a:r>
              <a:rPr lang="en-US" sz="4500" dirty="0">
                <a:latin typeface="Calibri"/>
                <a:ea typeface="Calibri"/>
                <a:cs typeface="Calibri"/>
                <a:sym typeface="Calibri"/>
              </a:rPr>
              <a:t>- in this population there is a fairly high chance of a mass being malignant.</a:t>
            </a:r>
            <a:endParaRPr dirty="0"/>
          </a:p>
          <a:p>
            <a:pPr marL="381000" lvl="0" indent="-152400" algn="l" rtl="0">
              <a:spcBef>
                <a:spcPts val="700"/>
              </a:spcBef>
              <a:spcAft>
                <a:spcPts val="0"/>
              </a:spcAft>
              <a:buClr>
                <a:srgbClr val="000000"/>
              </a:buClr>
              <a:buSzPts val="3600"/>
              <a:buFont typeface="Helvetica Neue Light"/>
              <a:buNone/>
            </a:pPr>
            <a:endParaRPr sz="4500" dirty="0">
              <a:latin typeface="Calibri"/>
              <a:ea typeface="Calibri"/>
              <a:cs typeface="Calibri"/>
              <a:sym typeface="Calibri"/>
            </a:endParaRPr>
          </a:p>
          <a:p>
            <a:pPr marL="381000" lvl="0" indent="-3810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If adrenal cancer is present, with aggressive treatment, median survival has improved to 4 years.</a:t>
            </a:r>
            <a:endParaRPr dirty="0"/>
          </a:p>
          <a:p>
            <a:pPr marL="0" lvl="0" indent="0" algn="l" rtl="0">
              <a:spcBef>
                <a:spcPts val="700"/>
              </a:spcBef>
              <a:spcAft>
                <a:spcPts val="0"/>
              </a:spcAft>
              <a:buClr>
                <a:srgbClr val="000000"/>
              </a:buClr>
              <a:buSzPts val="3600"/>
              <a:buFont typeface="Calibri"/>
              <a:buNone/>
            </a:pPr>
            <a:r>
              <a:rPr lang="en-US" sz="4500" dirty="0">
                <a:latin typeface="Calibri"/>
                <a:ea typeface="Calibri"/>
                <a:cs typeface="Calibri"/>
                <a:sym typeface="Calibri"/>
              </a:rPr>
              <a:t> </a:t>
            </a:r>
            <a:endParaRPr dirty="0"/>
          </a:p>
          <a:p>
            <a:pPr marL="381000" lvl="0" indent="-381000" algn="l" rtl="0">
              <a:spcBef>
                <a:spcPts val="700"/>
              </a:spcBef>
              <a:spcAft>
                <a:spcPts val="0"/>
              </a:spcAft>
              <a:buClr>
                <a:srgbClr val="000000"/>
              </a:buClr>
              <a:buSzPts val="3600"/>
              <a:buFont typeface="Calibri"/>
              <a:buChar char="•"/>
            </a:pPr>
            <a:r>
              <a:rPr lang="en-US" sz="4500" dirty="0">
                <a:latin typeface="Calibri"/>
                <a:ea typeface="Calibri"/>
                <a:cs typeface="Calibri"/>
                <a:sym typeface="Calibri"/>
              </a:rPr>
              <a:t>If an adrenal adenoma is found, then there is excellent survival.</a:t>
            </a:r>
            <a:endParaRPr dirty="0"/>
          </a:p>
          <a:p>
            <a:pPr marL="487363" lvl="0" indent="-201612" algn="l" rtl="0">
              <a:spcBef>
                <a:spcPts val="700"/>
              </a:spcBef>
              <a:spcAft>
                <a:spcPts val="0"/>
              </a:spcAft>
              <a:buClr>
                <a:srgbClr val="000000"/>
              </a:buClr>
              <a:buSzPts val="4500"/>
              <a:buFont typeface="Arial"/>
              <a:buNone/>
            </a:pPr>
            <a:endParaRPr sz="4500" dirty="0">
              <a:latin typeface="Arial"/>
              <a:ea typeface="Arial"/>
              <a:cs typeface="Arial"/>
              <a:sym typeface="Arial"/>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75"/>
          <p:cNvSpPr txBox="1">
            <a:spLocks noGrp="1"/>
          </p:cNvSpPr>
          <p:nvPr>
            <p:ph type="title"/>
          </p:nvPr>
        </p:nvSpPr>
        <p:spPr>
          <a:xfrm>
            <a:off x="323850" y="215900"/>
            <a:ext cx="12198350" cy="2070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mj-lt"/>
                <a:ea typeface="Calibri"/>
                <a:cs typeface="Calibri"/>
                <a:sym typeface="Calibri"/>
              </a:rPr>
              <a:t>Treatment of Cortisol Excess: Ectopic Sources </a:t>
            </a:r>
            <a:endParaRPr sz="6200" dirty="0">
              <a:solidFill>
                <a:srgbClr val="FF0000"/>
              </a:solidFill>
              <a:latin typeface="+mj-lt"/>
              <a:ea typeface="Calibri"/>
              <a:cs typeface="Calibri"/>
              <a:sym typeface="Calibri"/>
            </a:endParaRPr>
          </a:p>
        </p:txBody>
      </p:sp>
      <p:sp>
        <p:nvSpPr>
          <p:cNvPr id="545" name="Google Shape;545;p75"/>
          <p:cNvSpPr txBox="1">
            <a:spLocks noGrp="1"/>
          </p:cNvSpPr>
          <p:nvPr>
            <p:ph type="body" idx="1"/>
          </p:nvPr>
        </p:nvSpPr>
        <p:spPr>
          <a:xfrm>
            <a:off x="203200" y="2667000"/>
            <a:ext cx="12584113" cy="6869113"/>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400"/>
              <a:buFont typeface="Arial"/>
              <a:buChar char="•"/>
            </a:pPr>
            <a:r>
              <a:rPr lang="en-US" sz="4400" b="1" dirty="0">
                <a:latin typeface="Calibri"/>
                <a:ea typeface="Calibri"/>
                <a:cs typeface="Calibri"/>
                <a:sym typeface="Calibri"/>
              </a:rPr>
              <a:t>Surgical resection </a:t>
            </a:r>
            <a:r>
              <a:rPr lang="en-US" sz="4400" dirty="0">
                <a:latin typeface="Calibri"/>
                <a:ea typeface="Calibri"/>
                <a:cs typeface="Calibri"/>
                <a:sym typeface="Calibri"/>
              </a:rPr>
              <a:t>is first line- but we have to find the source then resect it- survival depends on the primary disease.</a:t>
            </a:r>
            <a:endParaRPr dirty="0"/>
          </a:p>
          <a:p>
            <a:pPr marL="1249363" lvl="2" indent="-487363" algn="l" rtl="0">
              <a:spcBef>
                <a:spcPts val="700"/>
              </a:spcBef>
              <a:spcAft>
                <a:spcPts val="0"/>
              </a:spcAft>
              <a:buClr>
                <a:srgbClr val="000000"/>
              </a:buClr>
              <a:buSzPts val="4400"/>
              <a:buFont typeface="Arial"/>
              <a:buChar char="•"/>
            </a:pPr>
            <a:r>
              <a:rPr lang="en-US" sz="4400" b="1" i="1" dirty="0">
                <a:latin typeface="Calibri"/>
                <a:ea typeface="Calibri"/>
                <a:cs typeface="Calibri"/>
                <a:sym typeface="Calibri"/>
              </a:rPr>
              <a:t>Carcinoid tumors </a:t>
            </a:r>
            <a:r>
              <a:rPr lang="en-US" sz="4400" dirty="0">
                <a:latin typeface="Calibri"/>
                <a:ea typeface="Calibri"/>
                <a:cs typeface="Calibri"/>
                <a:sym typeface="Calibri"/>
              </a:rPr>
              <a:t>are the most common ectopic source- </a:t>
            </a:r>
            <a:r>
              <a:rPr lang="en-US" sz="4400" b="1" i="1" dirty="0">
                <a:latin typeface="Calibri"/>
                <a:ea typeface="Calibri"/>
                <a:cs typeface="Calibri"/>
                <a:sym typeface="Calibri"/>
              </a:rPr>
              <a:t>lung, proximal GI tract</a:t>
            </a:r>
            <a:r>
              <a:rPr lang="en-US" sz="4400" dirty="0">
                <a:latin typeface="Calibri"/>
                <a:ea typeface="Calibri"/>
                <a:cs typeface="Calibri"/>
                <a:sym typeface="Calibri"/>
              </a:rPr>
              <a:t>- these tumors are slow growing but may be malignant with distant metastases.</a:t>
            </a:r>
            <a:endParaRPr dirty="0"/>
          </a:p>
          <a:p>
            <a:pPr marL="1249363" lvl="2" indent="-487363" algn="l" rtl="0">
              <a:spcBef>
                <a:spcPts val="700"/>
              </a:spcBef>
              <a:spcAft>
                <a:spcPts val="0"/>
              </a:spcAft>
              <a:buClr>
                <a:srgbClr val="000000"/>
              </a:buClr>
              <a:buSzPts val="4400"/>
              <a:buFont typeface="Arial"/>
              <a:buChar char="•"/>
            </a:pPr>
            <a:r>
              <a:rPr lang="en-US" sz="4400" b="1" i="1" dirty="0">
                <a:latin typeface="Calibri"/>
                <a:ea typeface="Calibri"/>
                <a:cs typeface="Calibri"/>
                <a:sym typeface="Calibri"/>
              </a:rPr>
              <a:t>Neuroendocrine tumors-</a:t>
            </a:r>
            <a:r>
              <a:rPr lang="en-US" sz="4400" dirty="0">
                <a:latin typeface="Calibri"/>
                <a:ea typeface="Calibri"/>
                <a:cs typeface="Calibri"/>
                <a:sym typeface="Calibri"/>
              </a:rPr>
              <a:t> SCLC, pancreas, </a:t>
            </a:r>
            <a:r>
              <a:rPr lang="en-US" sz="4400" dirty="0" err="1">
                <a:latin typeface="Calibri"/>
                <a:ea typeface="Calibri"/>
                <a:cs typeface="Calibri"/>
                <a:sym typeface="Calibri"/>
              </a:rPr>
              <a:t>pheo</a:t>
            </a:r>
            <a:r>
              <a:rPr lang="en-US" sz="4400" dirty="0">
                <a:latin typeface="Calibri"/>
                <a:ea typeface="Calibri"/>
                <a:cs typeface="Calibri"/>
                <a:sym typeface="Calibri"/>
              </a:rPr>
              <a:t>, medullary thyroid CA (MEN syndromes)</a:t>
            </a:r>
            <a:endParaRPr dirty="0"/>
          </a:p>
          <a:p>
            <a:pPr marL="487363" lvl="0" indent="-201612" algn="l" rtl="0">
              <a:spcBef>
                <a:spcPts val="700"/>
              </a:spcBef>
              <a:spcAft>
                <a:spcPts val="0"/>
              </a:spcAft>
              <a:buClr>
                <a:srgbClr val="000000"/>
              </a:buClr>
              <a:buSzPts val="4500"/>
              <a:buFont typeface="Arial"/>
              <a:buNone/>
            </a:pPr>
            <a:endParaRPr sz="4500" dirty="0">
              <a:latin typeface="Arial"/>
              <a:ea typeface="Arial"/>
              <a:cs typeface="Arial"/>
              <a:sym typeface="Arial"/>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6"/>
          <p:cNvSpPr txBox="1">
            <a:spLocks noGrp="1"/>
          </p:cNvSpPr>
          <p:nvPr>
            <p:ph type="title"/>
          </p:nvPr>
        </p:nvSpPr>
        <p:spPr>
          <a:xfrm>
            <a:off x="323850" y="215900"/>
            <a:ext cx="12198350" cy="20701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mj-lt"/>
                <a:ea typeface="Calibri"/>
                <a:cs typeface="Calibri"/>
                <a:sym typeface="Calibri"/>
              </a:rPr>
              <a:t>Treatment of Cortisol Excess: Ectopic Sources </a:t>
            </a:r>
            <a:endParaRPr sz="6200" dirty="0">
              <a:solidFill>
                <a:srgbClr val="FF0000"/>
              </a:solidFill>
              <a:latin typeface="+mj-lt"/>
            </a:endParaRPr>
          </a:p>
        </p:txBody>
      </p:sp>
      <p:sp>
        <p:nvSpPr>
          <p:cNvPr id="551" name="Google Shape;551;p76"/>
          <p:cNvSpPr txBox="1">
            <a:spLocks noGrp="1"/>
          </p:cNvSpPr>
          <p:nvPr>
            <p:ph type="body" idx="1"/>
          </p:nvPr>
        </p:nvSpPr>
        <p:spPr>
          <a:xfrm>
            <a:off x="203200" y="2449150"/>
            <a:ext cx="12584150" cy="7086900"/>
          </a:xfrm>
          <a:prstGeom prst="rect">
            <a:avLst/>
          </a:prstGeom>
          <a:noFill/>
          <a:ln>
            <a:noFill/>
          </a:ln>
        </p:spPr>
        <p:txBody>
          <a:bodyPr spcFirstLastPara="1" wrap="square" lIns="126425" tIns="72225" rIns="126425" bIns="72225" anchor="t" anchorCtr="0">
            <a:noAutofit/>
          </a:bodyPr>
          <a:lstStyle/>
          <a:p>
            <a:pPr marL="487363" lvl="0" indent="-487363" algn="l" rtl="0">
              <a:spcBef>
                <a:spcPts val="0"/>
              </a:spcBef>
              <a:spcAft>
                <a:spcPts val="0"/>
              </a:spcAft>
              <a:buClr>
                <a:srgbClr val="000000"/>
              </a:buClr>
              <a:buSzPts val="4500"/>
              <a:buFont typeface="Arial"/>
              <a:buChar char="•"/>
            </a:pPr>
            <a:r>
              <a:rPr lang="en-US" sz="4500" b="1" dirty="0">
                <a:latin typeface="Calibri"/>
                <a:ea typeface="Calibri"/>
                <a:cs typeface="Calibri"/>
                <a:sym typeface="Calibri"/>
              </a:rPr>
              <a:t>Medical therapy </a:t>
            </a:r>
            <a:r>
              <a:rPr lang="en-US" sz="4500" dirty="0">
                <a:latin typeface="Calibri"/>
                <a:ea typeface="Calibri"/>
                <a:cs typeface="Calibri"/>
                <a:sym typeface="Calibri"/>
              </a:rPr>
              <a:t>for SCLC or another aggressive primary CA better treated by chemotherapy would be used.  These tumors are not treated surgically.</a:t>
            </a:r>
          </a:p>
          <a:p>
            <a:pPr marL="487363" lvl="0" indent="-487363" algn="l" rtl="0">
              <a:spcBef>
                <a:spcPts val="0"/>
              </a:spcBef>
              <a:spcAft>
                <a:spcPts val="0"/>
              </a:spcAft>
              <a:buClr>
                <a:srgbClr val="000000"/>
              </a:buClr>
              <a:buSzPts val="4500"/>
              <a:buFont typeface="Arial"/>
              <a:buChar char="•"/>
            </a:pPr>
            <a:endParaRPr sz="4500" dirty="0">
              <a:latin typeface="Calibri"/>
              <a:ea typeface="Calibri"/>
              <a:cs typeface="Calibri"/>
              <a:sym typeface="Calibri"/>
            </a:endParaRPr>
          </a:p>
          <a:p>
            <a:pPr marL="487363" lvl="0" indent="-487363" algn="l" rtl="0">
              <a:spcBef>
                <a:spcPts val="700"/>
              </a:spcBef>
              <a:spcAft>
                <a:spcPts val="0"/>
              </a:spcAft>
              <a:buClr>
                <a:srgbClr val="000000"/>
              </a:buClr>
              <a:buSzPts val="4500"/>
              <a:buFont typeface="Arial"/>
              <a:buChar char="•"/>
            </a:pPr>
            <a:r>
              <a:rPr lang="en-US" sz="4500" dirty="0">
                <a:latin typeface="Calibri"/>
                <a:ea typeface="Calibri"/>
                <a:cs typeface="Calibri"/>
                <a:sym typeface="Calibri"/>
              </a:rPr>
              <a:t>If the source cannot be found . . . </a:t>
            </a:r>
            <a:r>
              <a:rPr lang="en-US" sz="4500" b="1" dirty="0">
                <a:latin typeface="Calibri"/>
                <a:ea typeface="Calibri"/>
                <a:cs typeface="Calibri"/>
                <a:sym typeface="Calibri"/>
              </a:rPr>
              <a:t>medical suppression of steroidogenesis with ketoconazole </a:t>
            </a:r>
            <a:r>
              <a:rPr lang="en-US" sz="4500" dirty="0">
                <a:latin typeface="Calibri"/>
                <a:ea typeface="Calibri"/>
                <a:cs typeface="Calibri"/>
                <a:sym typeface="Calibri"/>
              </a:rPr>
              <a:t>is used most commonly.  Many other drugs can be used, usually doses that are effective have some toxicities.  Imaging studies to continue to search for the source are repeated every 6 months.</a:t>
            </a:r>
            <a:endParaRPr dirty="0"/>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pic>
        <p:nvPicPr>
          <p:cNvPr id="556" name="Google Shape;556;p77" descr="Cushing 4.jpg"/>
          <p:cNvPicPr preferRelativeResize="0"/>
          <p:nvPr/>
        </p:nvPicPr>
        <p:blipFill rotWithShape="1">
          <a:blip r:embed="rId3">
            <a:alphaModFix/>
          </a:blip>
          <a:srcRect/>
          <a:stretch/>
        </p:blipFill>
        <p:spPr>
          <a:xfrm>
            <a:off x="0" y="0"/>
            <a:ext cx="6718300" cy="9753600"/>
          </a:xfrm>
          <a:prstGeom prst="rect">
            <a:avLst/>
          </a:prstGeom>
          <a:noFill/>
          <a:ln>
            <a:noFill/>
          </a:ln>
        </p:spPr>
      </p:pic>
      <p:pic>
        <p:nvPicPr>
          <p:cNvPr id="557" name="Google Shape;557;p77" descr="Cushing 5.jpg"/>
          <p:cNvPicPr preferRelativeResize="0"/>
          <p:nvPr/>
        </p:nvPicPr>
        <p:blipFill rotWithShape="1">
          <a:blip r:embed="rId4">
            <a:alphaModFix/>
          </a:blip>
          <a:srcRect/>
          <a:stretch/>
        </p:blipFill>
        <p:spPr>
          <a:xfrm>
            <a:off x="6718300" y="0"/>
            <a:ext cx="6286500" cy="97536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8"/>
          <p:cNvSpPr txBox="1">
            <a:spLocks noGrp="1"/>
          </p:cNvSpPr>
          <p:nvPr>
            <p:ph type="title"/>
          </p:nvPr>
        </p:nvSpPr>
        <p:spPr>
          <a:xfrm>
            <a:off x="649288" y="215900"/>
            <a:ext cx="11704637" cy="1460500"/>
          </a:xfrm>
          <a:prstGeom prst="rect">
            <a:avLst/>
          </a:prstGeom>
          <a:noFill/>
          <a:ln>
            <a:noFill/>
          </a:ln>
        </p:spPr>
        <p:txBody>
          <a:bodyPr spcFirstLastPara="1" wrap="square" lIns="126425" tIns="72225" rIns="126425" bIns="72225" anchor="ctr" anchorCtr="0">
            <a:noAutofit/>
          </a:bodyPr>
          <a:lstStyle/>
          <a:p>
            <a:pPr marL="0" lvl="0" indent="0" algn="ctr" rtl="0">
              <a:spcBef>
                <a:spcPts val="0"/>
              </a:spcBef>
              <a:spcAft>
                <a:spcPts val="0"/>
              </a:spcAft>
              <a:buNone/>
            </a:pPr>
            <a:r>
              <a:rPr lang="en-US" sz="6200" dirty="0">
                <a:solidFill>
                  <a:srgbClr val="FF0000"/>
                </a:solidFill>
                <a:latin typeface="+mj-lt"/>
                <a:ea typeface="Calibri"/>
                <a:cs typeface="Calibri"/>
                <a:sym typeface="Calibri"/>
              </a:rPr>
              <a:t>Prognosis of Cortisol Excess</a:t>
            </a:r>
            <a:endParaRPr sz="6200" dirty="0">
              <a:solidFill>
                <a:srgbClr val="FF0000"/>
              </a:solidFill>
              <a:latin typeface="+mj-lt"/>
              <a:ea typeface="Calibri"/>
              <a:cs typeface="Calibri"/>
              <a:sym typeface="Calibri"/>
            </a:endParaRPr>
          </a:p>
        </p:txBody>
      </p:sp>
      <p:sp>
        <p:nvSpPr>
          <p:cNvPr id="563" name="Google Shape;563;p78"/>
          <p:cNvSpPr txBox="1">
            <a:spLocks noGrp="1"/>
          </p:cNvSpPr>
          <p:nvPr>
            <p:ph type="body" idx="1"/>
          </p:nvPr>
        </p:nvSpPr>
        <p:spPr>
          <a:xfrm>
            <a:off x="254000" y="1752600"/>
            <a:ext cx="12533313" cy="7783513"/>
          </a:xfrm>
          <a:prstGeom prst="rect">
            <a:avLst/>
          </a:prstGeom>
          <a:noFill/>
          <a:ln>
            <a:noFill/>
          </a:ln>
        </p:spPr>
        <p:txBody>
          <a:bodyPr spcFirstLastPara="1" wrap="square" lIns="126425" tIns="72225" rIns="126425" bIns="72225" anchor="t" anchorCtr="0">
            <a:noAutofit/>
          </a:bodyPr>
          <a:lstStyle/>
          <a:p>
            <a:pPr marL="381000" lvl="0" indent="-381000" algn="l" rtl="0">
              <a:spcBef>
                <a:spcPts val="0"/>
              </a:spcBef>
              <a:spcAft>
                <a:spcPts val="0"/>
              </a:spcAft>
              <a:buClr>
                <a:srgbClr val="000000"/>
              </a:buClr>
              <a:buSzPct val="80000"/>
              <a:buFont typeface="Calibri"/>
              <a:buChar char="•"/>
            </a:pPr>
            <a:r>
              <a:rPr lang="en-US" sz="4400" dirty="0">
                <a:latin typeface="Calibri" panose="020F0502020204030204" pitchFamily="34" charset="0"/>
                <a:ea typeface="Calibri"/>
                <a:cs typeface="Calibri" panose="020F0502020204030204" pitchFamily="34" charset="0"/>
                <a:sym typeface="Calibri"/>
              </a:rPr>
              <a:t>Untreated Cushing’s disease is LETHAL, and M&amp;M is usually related to the steroid excess:</a:t>
            </a:r>
          </a:p>
          <a:p>
            <a:pPr marL="381000" lvl="0" indent="-381000" algn="l" rtl="0">
              <a:spcBef>
                <a:spcPts val="0"/>
              </a:spcBef>
              <a:spcAft>
                <a:spcPts val="0"/>
              </a:spcAft>
              <a:buClr>
                <a:srgbClr val="000000"/>
              </a:buClr>
              <a:buSzPct val="80000"/>
              <a:buFont typeface="Calibri"/>
              <a:buChar char="•"/>
            </a:pPr>
            <a:endParaRPr sz="1000" dirty="0">
              <a:latin typeface="Calibri" panose="020F0502020204030204" pitchFamily="34" charset="0"/>
              <a:cs typeface="Calibri" panose="020F0502020204030204" pitchFamily="34" charset="0"/>
            </a:endParaRPr>
          </a:p>
          <a:p>
            <a:pPr marL="914400" lvl="0" indent="-914400" algn="l" rtl="0">
              <a:spcBef>
                <a:spcPts val="1300"/>
              </a:spcBef>
              <a:spcAft>
                <a:spcPts val="0"/>
              </a:spcAft>
              <a:buClr>
                <a:srgbClr val="000000"/>
              </a:buClr>
              <a:buSzPts val="4500"/>
              <a:buFont typeface="Helvetica Neue Light"/>
              <a:buAutoNum type="arabicPeriod"/>
            </a:pPr>
            <a:r>
              <a:rPr lang="en-US" sz="4400" b="1" dirty="0">
                <a:latin typeface="Calibri" panose="020F0502020204030204" pitchFamily="34" charset="0"/>
                <a:ea typeface="Calibri"/>
                <a:cs typeface="Calibri" panose="020F0502020204030204" pitchFamily="34" charset="0"/>
                <a:sym typeface="Calibri"/>
              </a:rPr>
              <a:t>CAD</a:t>
            </a:r>
            <a:r>
              <a:rPr lang="en-US" sz="4400" dirty="0">
                <a:latin typeface="Calibri" panose="020F0502020204030204" pitchFamily="34" charset="0"/>
                <a:ea typeface="Calibri"/>
                <a:cs typeface="Calibri" panose="020F0502020204030204" pitchFamily="34" charset="0"/>
                <a:sym typeface="Calibri"/>
              </a:rPr>
              <a:t> complications of HTN/ dyslipidemia/ DM. </a:t>
            </a:r>
            <a:endParaRPr sz="4400" dirty="0">
              <a:latin typeface="Calibri" panose="020F0502020204030204" pitchFamily="34" charset="0"/>
              <a:cs typeface="Calibri" panose="020F0502020204030204" pitchFamily="34" charset="0"/>
            </a:endParaRPr>
          </a:p>
          <a:p>
            <a:pPr marL="914400" lvl="0" indent="-914400" algn="l" rtl="0">
              <a:spcBef>
                <a:spcPts val="2500"/>
              </a:spcBef>
              <a:spcAft>
                <a:spcPts val="0"/>
              </a:spcAft>
              <a:buClr>
                <a:srgbClr val="000000"/>
              </a:buClr>
              <a:buSzPts val="4500"/>
              <a:buFont typeface="Helvetica Neue Light"/>
              <a:buAutoNum type="arabicPeriod"/>
            </a:pPr>
            <a:r>
              <a:rPr lang="en-US" sz="4400" dirty="0">
                <a:latin typeface="Calibri" panose="020F0502020204030204" pitchFamily="34" charset="0"/>
                <a:ea typeface="Calibri"/>
                <a:cs typeface="Calibri" panose="020F0502020204030204" pitchFamily="34" charset="0"/>
                <a:sym typeface="Calibri"/>
              </a:rPr>
              <a:t>Multisystem complications of </a:t>
            </a:r>
            <a:r>
              <a:rPr lang="en-US" sz="4400" b="1" dirty="0">
                <a:latin typeface="Calibri" panose="020F0502020204030204" pitchFamily="34" charset="0"/>
                <a:ea typeface="Calibri"/>
                <a:cs typeface="Calibri" panose="020F0502020204030204" pitchFamily="34" charset="0"/>
                <a:sym typeface="Calibri"/>
              </a:rPr>
              <a:t>diabetes.</a:t>
            </a:r>
            <a:endParaRPr sz="4400" dirty="0">
              <a:latin typeface="Calibri" panose="020F0502020204030204" pitchFamily="34" charset="0"/>
              <a:cs typeface="Calibri" panose="020F0502020204030204" pitchFamily="34" charset="0"/>
            </a:endParaRPr>
          </a:p>
          <a:p>
            <a:pPr marL="914400" lvl="0" indent="-914400" algn="l" rtl="0">
              <a:spcBef>
                <a:spcPts val="2500"/>
              </a:spcBef>
              <a:spcAft>
                <a:spcPts val="0"/>
              </a:spcAft>
              <a:buClr>
                <a:srgbClr val="000000"/>
              </a:buClr>
              <a:buSzPts val="4500"/>
              <a:buFont typeface="Helvetica Neue Light"/>
              <a:buAutoNum type="arabicPeriod"/>
            </a:pPr>
            <a:r>
              <a:rPr lang="en-US" sz="4400" dirty="0">
                <a:latin typeface="Calibri" panose="020F0502020204030204" pitchFamily="34" charset="0"/>
                <a:ea typeface="Calibri"/>
                <a:cs typeface="Calibri" panose="020F0502020204030204" pitchFamily="34" charset="0"/>
                <a:sym typeface="Calibri"/>
              </a:rPr>
              <a:t>High risk of opportunistic </a:t>
            </a:r>
            <a:r>
              <a:rPr lang="en-US" sz="4400" b="1" dirty="0">
                <a:latin typeface="Calibri" panose="020F0502020204030204" pitchFamily="34" charset="0"/>
                <a:ea typeface="Calibri"/>
                <a:cs typeface="Calibri" panose="020F0502020204030204" pitchFamily="34" charset="0"/>
                <a:sym typeface="Calibri"/>
              </a:rPr>
              <a:t>infections</a:t>
            </a:r>
            <a:r>
              <a:rPr lang="en-US" sz="4400" dirty="0">
                <a:latin typeface="Calibri" panose="020F0502020204030204" pitchFamily="34" charset="0"/>
                <a:ea typeface="Calibri"/>
                <a:cs typeface="Calibri" panose="020F0502020204030204" pitchFamily="34" charset="0"/>
                <a:sym typeface="Calibri"/>
              </a:rPr>
              <a:t>- bacterial and fungal, with poor wound healing.  </a:t>
            </a:r>
            <a:endParaRPr sz="4400" dirty="0">
              <a:latin typeface="Calibri" panose="020F0502020204030204" pitchFamily="34" charset="0"/>
              <a:cs typeface="Calibri" panose="020F0502020204030204" pitchFamily="34" charset="0"/>
            </a:endParaRPr>
          </a:p>
          <a:p>
            <a:pPr marL="914400" lvl="0" indent="-914400" algn="l" rtl="0">
              <a:spcBef>
                <a:spcPts val="2500"/>
              </a:spcBef>
              <a:spcAft>
                <a:spcPts val="0"/>
              </a:spcAft>
              <a:buClr>
                <a:srgbClr val="000000"/>
              </a:buClr>
              <a:buSzPts val="4500"/>
              <a:buFont typeface="Helvetica Neue Light"/>
              <a:buAutoNum type="arabicPeriod"/>
            </a:pPr>
            <a:r>
              <a:rPr lang="en-US" sz="4400" dirty="0">
                <a:latin typeface="Calibri" panose="020F0502020204030204" pitchFamily="34" charset="0"/>
                <a:ea typeface="Calibri"/>
                <a:cs typeface="Calibri" panose="020F0502020204030204" pitchFamily="34" charset="0"/>
                <a:sym typeface="Calibri"/>
              </a:rPr>
              <a:t>High risk of </a:t>
            </a:r>
            <a:r>
              <a:rPr lang="en-US" sz="4400" b="1" dirty="0">
                <a:latin typeface="Calibri" panose="020F0502020204030204" pitchFamily="34" charset="0"/>
                <a:ea typeface="Calibri"/>
                <a:cs typeface="Calibri" panose="020F0502020204030204" pitchFamily="34" charset="0"/>
                <a:sym typeface="Calibri"/>
              </a:rPr>
              <a:t>perforated abdominal viscera.</a:t>
            </a:r>
            <a:endParaRPr sz="4400" dirty="0">
              <a:latin typeface="Calibri" panose="020F0502020204030204" pitchFamily="34" charset="0"/>
              <a:cs typeface="Calibri" panose="020F0502020204030204" pitchFamily="34" charset="0"/>
            </a:endParaRPr>
          </a:p>
          <a:p>
            <a:pPr marL="914400" lvl="0" indent="-914400" algn="l" rtl="0">
              <a:spcBef>
                <a:spcPts val="2500"/>
              </a:spcBef>
              <a:spcAft>
                <a:spcPts val="0"/>
              </a:spcAft>
              <a:buClr>
                <a:srgbClr val="000000"/>
              </a:buClr>
              <a:buSzPts val="4500"/>
              <a:buFont typeface="Helvetica Neue Light"/>
              <a:buAutoNum type="arabicPeriod"/>
            </a:pPr>
            <a:r>
              <a:rPr lang="en-US" sz="4400" b="1" dirty="0">
                <a:latin typeface="Calibri" panose="020F0502020204030204" pitchFamily="34" charset="0"/>
                <a:ea typeface="Calibri"/>
                <a:cs typeface="Calibri" panose="020F0502020204030204" pitchFamily="34" charset="0"/>
                <a:sym typeface="Calibri"/>
              </a:rPr>
              <a:t>Osteoporosis</a:t>
            </a:r>
            <a:r>
              <a:rPr lang="en-US" sz="4400" dirty="0">
                <a:latin typeface="Calibri" panose="020F0502020204030204" pitchFamily="34" charset="0"/>
                <a:ea typeface="Calibri"/>
                <a:cs typeface="Calibri" panose="020F0502020204030204" pitchFamily="34" charset="0"/>
                <a:sym typeface="Calibri"/>
              </a:rPr>
              <a:t> and </a:t>
            </a:r>
            <a:r>
              <a:rPr lang="en-US" sz="4400" b="1" dirty="0">
                <a:latin typeface="Calibri" panose="020F0502020204030204" pitchFamily="34" charset="0"/>
                <a:ea typeface="Calibri"/>
                <a:cs typeface="Calibri" panose="020F0502020204030204" pitchFamily="34" charset="0"/>
                <a:sym typeface="Calibri"/>
              </a:rPr>
              <a:t>increased fracture risk. </a:t>
            </a:r>
            <a:endParaRPr sz="4400" dirty="0">
              <a:latin typeface="Calibri" panose="020F0502020204030204" pitchFamily="34" charset="0"/>
              <a:cs typeface="Calibri" panose="020F0502020204030204" pitchFamily="34" charset="0"/>
            </a:endParaRPr>
          </a:p>
          <a:p>
            <a:pPr marL="381000" lvl="0" indent="-95250" algn="l" rtl="0">
              <a:spcBef>
                <a:spcPts val="1900"/>
              </a:spcBef>
              <a:spcAft>
                <a:spcPts val="0"/>
              </a:spcAft>
              <a:buClr>
                <a:srgbClr val="000000"/>
              </a:buClr>
              <a:buSzPts val="4500"/>
              <a:buFont typeface="Helvetica Neue Light"/>
              <a:buNone/>
            </a:pPr>
            <a:endParaRPr sz="4500" dirty="0">
              <a:latin typeface="Arial"/>
              <a:ea typeface="Arial"/>
              <a:cs typeface="Arial"/>
              <a:sym typeface="Arial"/>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a:p>
            <a:pPr marL="381000" lvl="0" indent="-95250" algn="l" rtl="0">
              <a:spcBef>
                <a:spcPts val="700"/>
              </a:spcBef>
              <a:spcAft>
                <a:spcPts val="0"/>
              </a:spcAft>
              <a:buClr>
                <a:srgbClr val="000000"/>
              </a:buClr>
              <a:buSzPts val="4500"/>
              <a:buFont typeface="Helvetica Neue Light"/>
              <a:buNone/>
            </a:pPr>
            <a:endParaRPr sz="4500" dirty="0">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9"/>
          <p:cNvSpPr txBox="1">
            <a:spLocks noGrp="1"/>
          </p:cNvSpPr>
          <p:nvPr>
            <p:ph type="title"/>
          </p:nvPr>
        </p:nvSpPr>
        <p:spPr>
          <a:xfrm>
            <a:off x="406400" y="0"/>
            <a:ext cx="12268199" cy="15240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sz="7200">
                <a:latin typeface="Arial"/>
                <a:ea typeface="Arial"/>
                <a:cs typeface="Arial"/>
                <a:sym typeface="Arial"/>
              </a:rPr>
              <a:t>Pseudo-Cushing’s Syndrome</a:t>
            </a:r>
            <a:endParaRPr sz="7200">
              <a:latin typeface="Arial"/>
              <a:ea typeface="Arial"/>
              <a:cs typeface="Arial"/>
              <a:sym typeface="Arial"/>
            </a:endParaRPr>
          </a:p>
        </p:txBody>
      </p:sp>
      <p:sp>
        <p:nvSpPr>
          <p:cNvPr id="569" name="Google Shape;569;p79"/>
          <p:cNvSpPr txBox="1">
            <a:spLocks noGrp="1"/>
          </p:cNvSpPr>
          <p:nvPr>
            <p:ph type="body" idx="1"/>
          </p:nvPr>
        </p:nvSpPr>
        <p:spPr>
          <a:xfrm>
            <a:off x="177800" y="1828800"/>
            <a:ext cx="12496799" cy="7696200"/>
          </a:xfrm>
          <a:prstGeom prst="rect">
            <a:avLst/>
          </a:prstGeom>
          <a:noFill/>
          <a:ln>
            <a:noFill/>
          </a:ln>
        </p:spPr>
        <p:txBody>
          <a:bodyPr spcFirstLastPara="1" wrap="square" lIns="50800" tIns="50800" rIns="50800" bIns="50800" anchor="ctr" anchorCtr="0">
            <a:noAutofit/>
          </a:bodyPr>
          <a:lstStyle/>
          <a:p>
            <a:pPr marL="381000" lvl="0" indent="-381000" algn="l" rtl="0">
              <a:spcBef>
                <a:spcPts val="0"/>
              </a:spcBef>
              <a:spcAft>
                <a:spcPts val="0"/>
              </a:spcAft>
              <a:buClr>
                <a:srgbClr val="000000"/>
              </a:buClr>
              <a:buSzPts val="3600"/>
              <a:buFont typeface="Calibri"/>
              <a:buChar char="•"/>
            </a:pPr>
            <a:r>
              <a:rPr lang="en-US" sz="4500">
                <a:latin typeface="Calibri"/>
                <a:ea typeface="Calibri"/>
                <a:cs typeface="Calibri"/>
                <a:sym typeface="Calibri"/>
              </a:rPr>
              <a:t>Pseudo-Cushing’s syndrome is a well-recognized condition that occurs when people who ingest </a:t>
            </a:r>
            <a:r>
              <a:rPr lang="en-US" sz="4500" b="1" i="1">
                <a:latin typeface="Calibri"/>
                <a:ea typeface="Calibri"/>
                <a:cs typeface="Calibri"/>
                <a:sym typeface="Calibri"/>
              </a:rPr>
              <a:t>large quantities of alcohol </a:t>
            </a:r>
            <a:r>
              <a:rPr lang="en-US" sz="4500">
                <a:latin typeface="Calibri"/>
                <a:ea typeface="Calibri"/>
                <a:cs typeface="Calibri"/>
                <a:sym typeface="Calibri"/>
              </a:rPr>
              <a:t>develop signs, symptoms and the biochemical abnormalities of Cushing’s.</a:t>
            </a:r>
            <a:endParaRPr/>
          </a:p>
          <a:p>
            <a:pPr marL="381000" lvl="0" indent="-381000" algn="l" rtl="0">
              <a:spcBef>
                <a:spcPts val="5400"/>
              </a:spcBef>
              <a:spcAft>
                <a:spcPts val="0"/>
              </a:spcAft>
              <a:buClr>
                <a:srgbClr val="000000"/>
              </a:buClr>
              <a:buSzPts val="3600"/>
              <a:buFont typeface="Calibri"/>
              <a:buChar char="•"/>
            </a:pPr>
            <a:r>
              <a:rPr lang="en-US" sz="4500">
                <a:latin typeface="Calibri"/>
                <a:ea typeface="Calibri"/>
                <a:cs typeface="Calibri"/>
                <a:sym typeface="Calibri"/>
              </a:rPr>
              <a:t>May also occur in obesity and depression.  These patients have dysregulation of cortisol secretion.</a:t>
            </a:r>
            <a:endParaRPr/>
          </a:p>
          <a:p>
            <a:pPr marL="381000" lvl="0" indent="-381000" algn="l" rtl="0">
              <a:spcBef>
                <a:spcPts val="5400"/>
              </a:spcBef>
              <a:spcAft>
                <a:spcPts val="0"/>
              </a:spcAft>
              <a:buClr>
                <a:srgbClr val="000000"/>
              </a:buClr>
              <a:buSzPts val="3600"/>
              <a:buFont typeface="Calibri"/>
              <a:buChar char="•"/>
            </a:pPr>
            <a:r>
              <a:rPr lang="en-US" sz="4500" b="1" i="1">
                <a:latin typeface="Calibri"/>
                <a:ea typeface="Calibri"/>
                <a:cs typeface="Calibri"/>
                <a:sym typeface="Calibri"/>
              </a:rPr>
              <a:t>Complete abstinence </a:t>
            </a:r>
            <a:r>
              <a:rPr lang="en-US" sz="4500">
                <a:latin typeface="Calibri"/>
                <a:ea typeface="Calibri"/>
                <a:cs typeface="Calibri"/>
                <a:sym typeface="Calibri"/>
              </a:rPr>
              <a:t>from alcohol will completely reverse this process.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80"/>
          <p:cNvSpPr txBox="1">
            <a:spLocks noGrp="1"/>
          </p:cNvSpPr>
          <p:nvPr>
            <p:ph type="title"/>
          </p:nvPr>
        </p:nvSpPr>
        <p:spPr>
          <a:xfrm>
            <a:off x="1270000" y="254000"/>
            <a:ext cx="10464800" cy="1253067"/>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575" name="Google Shape;575;p80"/>
          <p:cNvSpPr txBox="1">
            <a:spLocks noGrp="1"/>
          </p:cNvSpPr>
          <p:nvPr>
            <p:ph type="body" idx="1"/>
          </p:nvPr>
        </p:nvSpPr>
        <p:spPr>
          <a:xfrm>
            <a:off x="304800" y="1761067"/>
            <a:ext cx="12236450" cy="7738533"/>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a:ea typeface="Calibri"/>
                <a:cs typeface="Calibri"/>
                <a:sym typeface="Calibri"/>
              </a:rPr>
              <a:t>Which of the following results of a dexamethasone suppression test would indicate a positive test for Cushing's?</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11pm cortisol level high</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8am cortisol level high</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11pm cortisol level low</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8am cortisol level low</a:t>
            </a:r>
            <a:endParaRPr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82"/>
          <p:cNvSpPr txBox="1">
            <a:spLocks noGrp="1"/>
          </p:cNvSpPr>
          <p:nvPr>
            <p:ph type="title"/>
          </p:nvPr>
        </p:nvSpPr>
        <p:spPr>
          <a:xfrm>
            <a:off x="1270000" y="254000"/>
            <a:ext cx="10464800" cy="16764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587" name="Google Shape;587;p82"/>
          <p:cNvSpPr txBox="1">
            <a:spLocks noGrp="1"/>
          </p:cNvSpPr>
          <p:nvPr>
            <p:ph type="body" idx="1"/>
          </p:nvPr>
        </p:nvSpPr>
        <p:spPr>
          <a:xfrm>
            <a:off x="598488" y="2295525"/>
            <a:ext cx="11942762" cy="7008813"/>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dirty="0">
                <a:latin typeface="Calibri"/>
                <a:ea typeface="Calibri"/>
                <a:cs typeface="Calibri"/>
                <a:sym typeface="Calibri"/>
              </a:rPr>
              <a:t>Which of the following is NOT a symptom or sign of cortisol excess?</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Purple, angry-looking stretch marks</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Non-healing wounds</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Hypertension</a:t>
            </a:r>
            <a:endParaRPr dirty="0"/>
          </a:p>
          <a:p>
            <a:pPr marL="584200" lvl="0" indent="-584200" algn="l" rtl="0">
              <a:spcBef>
                <a:spcPts val="4200"/>
              </a:spcBef>
              <a:spcAft>
                <a:spcPts val="0"/>
              </a:spcAft>
              <a:buClr>
                <a:srgbClr val="000000"/>
              </a:buClr>
              <a:buSzPts val="4400"/>
              <a:buFont typeface="Calibri"/>
              <a:buAutoNum type="alphaUcPeriod"/>
            </a:pPr>
            <a:r>
              <a:rPr lang="en-US" sz="4400" dirty="0">
                <a:latin typeface="Calibri"/>
                <a:ea typeface="Calibri"/>
                <a:cs typeface="Calibri"/>
                <a:sym typeface="Calibri"/>
              </a:rPr>
              <a:t>"Pear shape" obesity</a:t>
            </a:r>
            <a:endParaRPr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84"/>
          <p:cNvSpPr txBox="1">
            <a:spLocks noGrp="1"/>
          </p:cNvSpPr>
          <p:nvPr>
            <p:ph type="title"/>
          </p:nvPr>
        </p:nvSpPr>
        <p:spPr>
          <a:xfrm>
            <a:off x="1270000" y="254000"/>
            <a:ext cx="10464800" cy="1676400"/>
          </a:xfrm>
          <a:prstGeom prst="rect">
            <a:avLst/>
          </a:prstGeom>
          <a:noFill/>
          <a:ln>
            <a:noFill/>
          </a:ln>
        </p:spPr>
        <p:txBody>
          <a:bodyPr spcFirstLastPara="1" wrap="square" lIns="50800" tIns="50800" rIns="50800" bIns="50800" anchor="ctr" anchorCtr="0">
            <a:noAutofit/>
          </a:bodyPr>
          <a:lstStyle/>
          <a:p>
            <a:pPr marL="0" lvl="0" indent="0" algn="ctr" rtl="0">
              <a:spcBef>
                <a:spcPts val="0"/>
              </a:spcBef>
              <a:spcAft>
                <a:spcPts val="0"/>
              </a:spcAft>
              <a:buNone/>
            </a:pPr>
            <a:r>
              <a:rPr lang="en-US" dirty="0">
                <a:latin typeface="Calibri"/>
                <a:ea typeface="Calibri"/>
                <a:cs typeface="Calibri"/>
                <a:sym typeface="Calibri"/>
              </a:rPr>
              <a:t>Question Time</a:t>
            </a:r>
            <a:endParaRPr dirty="0"/>
          </a:p>
        </p:txBody>
      </p:sp>
      <p:sp>
        <p:nvSpPr>
          <p:cNvPr id="599" name="Google Shape;599;p84"/>
          <p:cNvSpPr txBox="1">
            <a:spLocks noGrp="1"/>
          </p:cNvSpPr>
          <p:nvPr>
            <p:ph type="body" idx="1"/>
          </p:nvPr>
        </p:nvSpPr>
        <p:spPr>
          <a:xfrm>
            <a:off x="598488" y="2295525"/>
            <a:ext cx="11942762" cy="7008813"/>
          </a:xfrm>
          <a:prstGeom prst="rect">
            <a:avLst/>
          </a:prstGeom>
          <a:noFill/>
          <a:ln>
            <a:noFill/>
          </a:ln>
        </p:spPr>
        <p:txBody>
          <a:bodyPr spcFirstLastPara="1" wrap="square" lIns="50800" tIns="50800" rIns="50800" bIns="50800" anchor="ctr" anchorCtr="0">
            <a:noAutofit/>
          </a:bodyPr>
          <a:lstStyle/>
          <a:p>
            <a:pPr marL="584200" lvl="0" indent="-584200" algn="l" rtl="0">
              <a:spcBef>
                <a:spcPts val="0"/>
              </a:spcBef>
              <a:spcAft>
                <a:spcPts val="0"/>
              </a:spcAft>
              <a:buClr>
                <a:srgbClr val="000000"/>
              </a:buClr>
              <a:buSzPts val="4400"/>
              <a:buFont typeface="Calibri"/>
              <a:buChar char="•"/>
            </a:pPr>
            <a:r>
              <a:rPr lang="en-US" sz="4400">
                <a:latin typeface="Calibri"/>
                <a:ea typeface="Calibri"/>
                <a:cs typeface="Calibri"/>
                <a:sym typeface="Calibri"/>
              </a:rPr>
              <a:t>Which of the following is the treatment of choice for Cushing's disease caused by an adrenal adenoma?</a:t>
            </a:r>
            <a:endParaRPr/>
          </a:p>
          <a:p>
            <a:pPr marL="584200" lvl="0" indent="-584200" algn="l" rtl="0">
              <a:spcBef>
                <a:spcPts val="4200"/>
              </a:spcBef>
              <a:spcAft>
                <a:spcPts val="0"/>
              </a:spcAft>
              <a:buClr>
                <a:srgbClr val="000000"/>
              </a:buClr>
              <a:buSzPts val="4400"/>
              <a:buFont typeface="Calibri"/>
              <a:buAutoNum type="alphaUcPeriod"/>
            </a:pPr>
            <a:r>
              <a:rPr lang="en-US" sz="4400">
                <a:latin typeface="Calibri"/>
                <a:ea typeface="Calibri"/>
                <a:cs typeface="Calibri"/>
                <a:sym typeface="Calibri"/>
              </a:rPr>
              <a:t>Unilateral adrenal resection</a:t>
            </a:r>
            <a:endParaRPr/>
          </a:p>
          <a:p>
            <a:pPr marL="584200" lvl="0" indent="-584200" algn="l" rtl="0">
              <a:spcBef>
                <a:spcPts val="4200"/>
              </a:spcBef>
              <a:spcAft>
                <a:spcPts val="0"/>
              </a:spcAft>
              <a:buClr>
                <a:srgbClr val="000000"/>
              </a:buClr>
              <a:buSzPts val="4400"/>
              <a:buFont typeface="Calibri"/>
              <a:buAutoNum type="alphaUcPeriod"/>
            </a:pPr>
            <a:r>
              <a:rPr lang="en-US" sz="4400">
                <a:latin typeface="Calibri"/>
                <a:ea typeface="Calibri"/>
                <a:cs typeface="Calibri"/>
                <a:sym typeface="Calibri"/>
              </a:rPr>
              <a:t>Ketoconazole</a:t>
            </a:r>
            <a:endParaRPr/>
          </a:p>
          <a:p>
            <a:pPr marL="584200" lvl="0" indent="-584200" algn="l" rtl="0">
              <a:spcBef>
                <a:spcPts val="4200"/>
              </a:spcBef>
              <a:spcAft>
                <a:spcPts val="0"/>
              </a:spcAft>
              <a:buClr>
                <a:srgbClr val="000000"/>
              </a:buClr>
              <a:buSzPts val="4400"/>
              <a:buFont typeface="Calibri"/>
              <a:buAutoNum type="alphaUcPeriod"/>
            </a:pPr>
            <a:r>
              <a:rPr lang="en-US" sz="4400">
                <a:latin typeface="Calibri"/>
                <a:ea typeface="Calibri"/>
                <a:cs typeface="Calibri"/>
                <a:sym typeface="Calibri"/>
              </a:rPr>
              <a:t>Transsphenoidal pituitary resection</a:t>
            </a:r>
            <a:endParaRPr/>
          </a:p>
          <a:p>
            <a:pPr marL="584200" lvl="0" indent="-584200" algn="l" rtl="0">
              <a:spcBef>
                <a:spcPts val="4200"/>
              </a:spcBef>
              <a:spcAft>
                <a:spcPts val="0"/>
              </a:spcAft>
              <a:buClr>
                <a:srgbClr val="000000"/>
              </a:buClr>
              <a:buSzPts val="4400"/>
              <a:buFont typeface="Calibri"/>
              <a:buAutoNum type="alphaUcPeriod"/>
            </a:pPr>
            <a:r>
              <a:rPr lang="en-US" sz="4400">
                <a:latin typeface="Calibri"/>
                <a:ea typeface="Calibri"/>
                <a:cs typeface="Calibri"/>
                <a:sym typeface="Calibri"/>
              </a:rPr>
              <a:t>Bilateral adrenalectomy</a:t>
            </a:r>
            <a:endParaRPr/>
          </a:p>
        </p:txBody>
      </p:sp>
    </p:spTree>
  </p:cSld>
  <p:clrMapOvr>
    <a:masterClrMapping/>
  </p:clrMapOvr>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8149</TotalTime>
  <Words>5141</Words>
  <Application>Microsoft Macintosh PowerPoint</Application>
  <PresentationFormat>Custom</PresentationFormat>
  <Paragraphs>560</Paragraphs>
  <Slides>95</Slides>
  <Notes>95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95</vt:i4>
      </vt:variant>
    </vt:vector>
  </HeadingPairs>
  <TitlesOfParts>
    <vt:vector size="102" baseType="lpstr">
      <vt:lpstr>Arial</vt:lpstr>
      <vt:lpstr>Helvetica Neue Light</vt:lpstr>
      <vt:lpstr>Calibri</vt:lpstr>
      <vt:lpstr>Wingdings</vt:lpstr>
      <vt:lpstr>Google Sans</vt:lpstr>
      <vt:lpstr>Times</vt:lpstr>
      <vt:lpstr>Office Theme</vt:lpstr>
      <vt:lpstr>Adrenal Disease, Part I Introduction and Glucocorticoids  CMM: Endocrinology   Autumn  2026</vt:lpstr>
      <vt:lpstr>The HPA Axis</vt:lpstr>
      <vt:lpstr>Adrenal Gland</vt:lpstr>
      <vt:lpstr>Roids?</vt:lpstr>
      <vt:lpstr> Glucocorticoid Function </vt:lpstr>
      <vt:lpstr> Mineralocorticoid &amp; Adrenal Androgens </vt:lpstr>
      <vt:lpstr>Cortisol’s Effect</vt:lpstr>
      <vt:lpstr>Cortisol’s Effect</vt:lpstr>
      <vt:lpstr>Circadian Rhythm of Cortisol</vt:lpstr>
      <vt:lpstr>Glucocorticoid Disorders</vt:lpstr>
      <vt:lpstr>Iatrogenic Adrenal Insufficiency</vt:lpstr>
      <vt:lpstr>Iatrogenic Adrenal Insufficiency</vt:lpstr>
      <vt:lpstr>Types of Steroids</vt:lpstr>
      <vt:lpstr>Adrenal Insufficiency</vt:lpstr>
      <vt:lpstr>Etiologies of Primary Adrenal Insufficiency: Autoimmune Destruction</vt:lpstr>
      <vt:lpstr>Etiologies of Adrenal Insufficiency: Autoimmune Destruction </vt:lpstr>
      <vt:lpstr>Addison’s Disease: Autoimmune Adrenal Destruction </vt:lpstr>
      <vt:lpstr>Etiologies of Primary Adrenal Insufficiency: Infections</vt:lpstr>
      <vt:lpstr>Other Etiologies of Primary Adrenal Insufficiency</vt:lpstr>
      <vt:lpstr>Etiologies of Adrenal Insufficiency</vt:lpstr>
      <vt:lpstr>Etiologies of Adrenal Insufficiency</vt:lpstr>
      <vt:lpstr>Adrenal Insufficiency . . .  Almost but not quite</vt:lpstr>
      <vt:lpstr>Adrenal Insufficiency- Summarize</vt:lpstr>
      <vt:lpstr>Primary Adrenal Insufficiency</vt:lpstr>
      <vt:lpstr>Symptoms of Adrenal Insufficiency</vt:lpstr>
      <vt:lpstr>Primary Adrenal Insufficiency</vt:lpstr>
      <vt:lpstr>Symptoms of Adrenal Insufficiency</vt:lpstr>
      <vt:lpstr>Signs of Primary Adrenal Insufficiency</vt:lpstr>
      <vt:lpstr>Lab Findings of Adrenal Insufficiency</vt:lpstr>
      <vt:lpstr>Lab Findings</vt:lpstr>
      <vt:lpstr>Radiology Findings</vt:lpstr>
      <vt:lpstr>Secondary Adrenal Insufficiency</vt:lpstr>
      <vt:lpstr>Adrenal Insufficiency- Summarize</vt:lpstr>
      <vt:lpstr>Making the Non-Emergent Diagnosis of Cortisol Deficiency</vt:lpstr>
      <vt:lpstr>How is this done?</vt:lpstr>
      <vt:lpstr>Differential Dx of Adrenal Insufficiency</vt:lpstr>
      <vt:lpstr>Adrenal Insufficiency Treatment </vt:lpstr>
      <vt:lpstr>Adrenal Insufficiency Treatment </vt:lpstr>
      <vt:lpstr>Cytochrome P450- Inducers</vt:lpstr>
      <vt:lpstr>Cytochrome P450- Inhibitors</vt:lpstr>
      <vt:lpstr>Adrenal Insufficiency Treatment </vt:lpstr>
      <vt:lpstr>What if the patient becomes ill?</vt:lpstr>
      <vt:lpstr>Let’s talk scenarios to get some clinical judgement. . .</vt:lpstr>
      <vt:lpstr>Prognosis of Adrenal Insufficiency</vt:lpstr>
      <vt:lpstr>Adrenal Crisis: Why?</vt:lpstr>
      <vt:lpstr>Adrenal Crisis: Why?</vt:lpstr>
      <vt:lpstr>S/S of Adrenal Crisis</vt:lpstr>
      <vt:lpstr>Making the Diagnosis of Crisis</vt:lpstr>
      <vt:lpstr>Differential Diagnosis of Crisis</vt:lpstr>
      <vt:lpstr>Treatment of the Acutely Ill Patient in Adrenal Crisis</vt:lpstr>
      <vt:lpstr>Treatment of the Acutely Ill Patient</vt:lpstr>
      <vt:lpstr>Treatment of the Acutely Ill Patient in Adrenal Crisis</vt:lpstr>
      <vt:lpstr>Prognosis of Adrenal Crisis</vt:lpstr>
      <vt:lpstr>Question Time</vt:lpstr>
      <vt:lpstr>Question Time</vt:lpstr>
      <vt:lpstr>Question Time</vt:lpstr>
      <vt:lpstr>Glucocorticoid Excess</vt:lpstr>
      <vt:lpstr>Glucocorticoid Excess</vt:lpstr>
      <vt:lpstr>Cushing’s Syndrome: Pathophysiology</vt:lpstr>
      <vt:lpstr>PowerPoint Presentation</vt:lpstr>
      <vt:lpstr>PowerPoint Presentation</vt:lpstr>
      <vt:lpstr>PowerPoint Presentation</vt:lpstr>
      <vt:lpstr>Causes of Cushing’s</vt:lpstr>
      <vt:lpstr>Signs/Symptoms of Glucocorticoid Excess</vt:lpstr>
      <vt:lpstr>Signs/Symptoms of Glucocorticoid Excess</vt:lpstr>
      <vt:lpstr>PowerPoint Presentation</vt:lpstr>
      <vt:lpstr>PowerPoint Presentation</vt:lpstr>
      <vt:lpstr>Fragile Skin of Glucocorticoid Excess</vt:lpstr>
      <vt:lpstr>PowerPoint Presentation</vt:lpstr>
      <vt:lpstr>Signs/Symptoms of Glucocorticoid Excess</vt:lpstr>
      <vt:lpstr>Glucocorticoid Excess- Summarize</vt:lpstr>
      <vt:lpstr>Glucocorticoid Excess- Summarize</vt:lpstr>
      <vt:lpstr>Cortisol Excess: Making the Diagnosis</vt:lpstr>
      <vt:lpstr>Cortisol Excess: Other Tests</vt:lpstr>
      <vt:lpstr>Cortisol Excess : Other Tests</vt:lpstr>
      <vt:lpstr>Next, Localizing the Source</vt:lpstr>
      <vt:lpstr>Third, Differentiating Between ACTH dependent Cortisol Excess-  Ectopic vs Pituitary Source</vt:lpstr>
      <vt:lpstr>Localizing the Source with Imaging</vt:lpstr>
      <vt:lpstr>Localizing the Source with Imaging</vt:lpstr>
      <vt:lpstr>Whoa!  Can we back up???</vt:lpstr>
      <vt:lpstr>Differential Diagnosis of Cortisol Excess</vt:lpstr>
      <vt:lpstr>Treating Cortisol Excess</vt:lpstr>
      <vt:lpstr>The primary treatment of pituitary adenomas is surgical and is performed by a neurosurgeon skilled in this type of surgery.</vt:lpstr>
      <vt:lpstr>Treatment of Pituitary Adenoma</vt:lpstr>
      <vt:lpstr>Treatment of Cortisol Excess- Adrenal Etiologies </vt:lpstr>
      <vt:lpstr>Treatment of Cortisol Excess- Adrenal Etiologies </vt:lpstr>
      <vt:lpstr>Treatment of Cortisol Excess- Adrenal Etiologies </vt:lpstr>
      <vt:lpstr>Treatment of Cortisol Excess: Ectopic Sources </vt:lpstr>
      <vt:lpstr>Treatment of Cortisol Excess: Ectopic Sources </vt:lpstr>
      <vt:lpstr>PowerPoint Presentation</vt:lpstr>
      <vt:lpstr>Prognosis of Cortisol Excess</vt:lpstr>
      <vt:lpstr>Pseudo-Cushing’s Syndrome</vt:lpstr>
      <vt:lpstr>Question Time</vt:lpstr>
      <vt:lpstr>Question Time</vt:lpstr>
      <vt:lpstr>Question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Adrenal Disease, Part I Introduction and Glucocorticoids  CMM: Endocrinology   Autumn  2022</dc:title>
  <dc:creator>Gulczinski, Jill-Renae</dc:creator>
  <cp:lastModifiedBy>Gulczinski, Jill-Renae</cp:lastModifiedBy>
  <cp:revision>14</cp:revision>
  <dcterms:modified xsi:type="dcterms:W3CDTF">2026-10-04T17:23:58Z</dcterms:modified>
</cp:coreProperties>
</file>