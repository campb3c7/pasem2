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8"/>
  </p:notesMasterIdLst>
  <p:sldIdLst>
    <p:sldId id="256" r:id="rId2"/>
    <p:sldId id="293" r:id="rId3"/>
    <p:sldId id="283" r:id="rId4"/>
    <p:sldId id="258" r:id="rId5"/>
    <p:sldId id="28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94" r:id="rId14"/>
    <p:sldId id="282" r:id="rId15"/>
    <p:sldId id="270" r:id="rId16"/>
    <p:sldId id="29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936BF3-5251-5E09-E2BF-8DE364FC3AFA}" v="1" dt="2026-10-04T04:13:08.534"/>
    <p1510:client id="{DC10A5F2-601E-02B0-C313-01C299BAABB9}" v="53" dt="2026-10-03T02:35:41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196" autoAdjust="0"/>
  </p:normalViewPr>
  <p:slideViewPr>
    <p:cSldViewPr>
      <p:cViewPr varScale="1">
        <p:scale>
          <a:sx n="88" d="100"/>
          <a:sy n="88" d="100"/>
        </p:scale>
        <p:origin x="199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CBCD6-50C2-4582-B638-80057E6C1C4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80CF2-9055-49E4-8ED7-509354FA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6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50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32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5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33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53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145">
              <a:spcBef>
                <a:spcPts val="492"/>
              </a:spcBef>
              <a:buClr>
                <a:srgbClr val="000000"/>
              </a:buClr>
              <a:defRPr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47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65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5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34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0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41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06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32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17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4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68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3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9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6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5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58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2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1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25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44BD-7CF2-4042-9B75-D9B3784A8C39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261D3-A9A1-4F4B-920B-8B6A4F0DF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1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2621" y="2960716"/>
            <a:ext cx="3460862" cy="23876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>
                <a:latin typeface="Amasis MT Pro Black" panose="02040A04050005020304" pitchFamily="18" charset="0"/>
                <a:cs typeface="Arial" charset="0"/>
                <a:sym typeface="Arial" charset="0"/>
              </a:rPr>
              <a:t>Hypoglycemia</a:t>
            </a:r>
            <a:endParaRPr lang="en-US" sz="3300" dirty="0">
              <a:latin typeface="Amasis MT Pro Black" panose="02040A040500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37" y="953037"/>
            <a:ext cx="3715719" cy="1709849"/>
          </a:xfrm>
        </p:spPr>
        <p:txBody>
          <a:bodyPr anchor="b">
            <a:normAutofit/>
          </a:bodyPr>
          <a:lstStyle/>
          <a:p>
            <a:pPr algn="l"/>
            <a:r>
              <a:rPr lang="en-US" sz="1700" dirty="0"/>
              <a:t>CMM: Endocrinology</a:t>
            </a:r>
          </a:p>
          <a:p>
            <a:pPr algn="l"/>
            <a:r>
              <a:rPr lang="en-US" sz="1700" dirty="0"/>
              <a:t>Fall Semester</a:t>
            </a:r>
          </a:p>
          <a:p>
            <a:pPr algn="l"/>
            <a:endParaRPr lang="en-US" sz="1700" dirty="0"/>
          </a:p>
          <a:p>
            <a:pPr algn="l"/>
            <a:r>
              <a:rPr lang="en-US" sz="1700" dirty="0"/>
              <a:t>Sarah </a:t>
            </a:r>
            <a:r>
              <a:rPr lang="en-US" sz="1700" dirty="0" err="1"/>
              <a:t>Brandell</a:t>
            </a:r>
            <a:r>
              <a:rPr lang="en-US" sz="1700" dirty="0"/>
              <a:t>, MPAS, PA-C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2984992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391886"/>
            <a:ext cx="4507025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326C8-39C6-4464-926C-DED30C47E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869" y="1323623"/>
            <a:ext cx="4152000" cy="4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85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FBFA3-E16C-4CD1-9CA5-BCE9CF69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3400" y="987128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 dirty="0">
                <a:latin typeface="Amasis MT Pro Black" panose="02040A040500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5999F-8917-4337-B21D-0619AFD35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503670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Glucose Homeostasis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Hypoglycemia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Symptoms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Signs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Etiologies</a:t>
            </a:r>
          </a:p>
          <a:p>
            <a:pPr lvl="1">
              <a:lnSpc>
                <a:spcPct val="90000"/>
              </a:lnSpc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Ddx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Dumping Syndrome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Clinical Hypoglycemia Workup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Hypoglycemia Treatment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lvl="1">
              <a:lnSpc>
                <a:spcPct val="9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562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456531" y="0"/>
            <a:ext cx="8229823" cy="1065982"/>
          </a:xfrm>
        </p:spPr>
        <p:txBody>
          <a:bodyPr lIns="88896" tIns="50798" rIns="88896" bIns="50798"/>
          <a:lstStyle/>
          <a:p>
            <a:pPr defTabSz="914145">
              <a:defRPr/>
            </a:pPr>
            <a:r>
              <a:rPr lang="en-US" dirty="0">
                <a:latin typeface="Amasis MT Pro Black" panose="020F0502020204030204" pitchFamily="18" charset="0"/>
                <a:cs typeface="Arial" charset="0"/>
                <a:sym typeface="Arial" charset="0"/>
              </a:rPr>
              <a:t>Glucose Homeostasis</a:t>
            </a:r>
            <a:endParaRPr lang="en-US" dirty="0">
              <a:latin typeface="Amasis MT Pro Black" panose="020F0502020204030204" pitchFamily="18" charset="0"/>
              <a:sym typeface="Helvetica Light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1805" y="1143000"/>
            <a:ext cx="8763372" cy="5486177"/>
          </a:xfrm>
        </p:spPr>
        <p:txBody>
          <a:bodyPr lIns="88896" tIns="50798" rIns="88896" bIns="50798" anchor="t"/>
          <a:lstStyle/>
          <a:p>
            <a:pPr marL="0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In the non-diabetic, healthy patient, glucose levels are maintained from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fasting and pre-prandial levels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&lt;100 mg/dL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to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post-prandial levels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&lt;140 mg/dL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, by multiple hormones.</a:t>
            </a:r>
          </a:p>
          <a:p>
            <a:pPr marL="282392" indent="-282392" defTabSz="914145">
              <a:spcBef>
                <a:spcPts val="492"/>
              </a:spcBef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0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Insulin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: a pancreatic hormone</a:t>
            </a:r>
          </a:p>
          <a:p>
            <a:pPr marL="282392" indent="-282392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Suppresses glucose production by the liver</a:t>
            </a:r>
          </a:p>
          <a:p>
            <a:pPr marL="282392" indent="-282392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Encourages glycogen storage</a:t>
            </a:r>
          </a:p>
          <a:p>
            <a:pPr marL="282392" indent="-282392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Promotes peripheral glucose utilization by tissues</a:t>
            </a:r>
          </a:p>
        </p:txBody>
      </p:sp>
    </p:spTree>
    <p:extLst>
      <p:ext uri="{BB962C8B-B14F-4D97-AF65-F5344CB8AC3E}">
        <p14:creationId xmlns:p14="http://schemas.microsoft.com/office/powerpoint/2010/main" val="54497116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456531" y="0"/>
            <a:ext cx="8229823" cy="1065982"/>
          </a:xfrm>
        </p:spPr>
        <p:txBody>
          <a:bodyPr lIns="88896" tIns="50798" rIns="88896" bIns="50798"/>
          <a:lstStyle/>
          <a:p>
            <a:pPr defTabSz="914145">
              <a:defRPr/>
            </a:pPr>
            <a:r>
              <a:rPr lang="en-US" dirty="0">
                <a:latin typeface="Amasis MT Pro Black" panose="02040A04050005020304" pitchFamily="18" charset="0"/>
                <a:cs typeface="Arial" charset="0"/>
                <a:sym typeface="Arial" charset="0"/>
              </a:rPr>
              <a:t>Glucose Homeostasis</a:t>
            </a:r>
            <a:endParaRPr lang="en-US" dirty="0">
              <a:latin typeface="Amasis MT Pro Black" panose="02040A04050005020304" pitchFamily="18" charset="0"/>
              <a:sym typeface="Helvetica Light" charset="0"/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1805" y="1143000"/>
            <a:ext cx="8763372" cy="5486177"/>
          </a:xfrm>
        </p:spPr>
        <p:txBody>
          <a:bodyPr lIns="88896" tIns="50798" rIns="88896" bIns="50798" anchor="t">
            <a:normAutofit/>
          </a:bodyPr>
          <a:lstStyle/>
          <a:p>
            <a:pPr marL="0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Four hormones are released to counteract </a:t>
            </a:r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hypoglycemia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:</a:t>
            </a:r>
          </a:p>
          <a:p>
            <a:pPr marL="514350" indent="-514350"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Glucagon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: stimulates breakdown of hepatic glycogen and creation of glucose</a:t>
            </a:r>
          </a:p>
          <a:p>
            <a:pPr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Arial" pitchFamily="34" charset="0"/>
            </a:endParaRPr>
          </a:p>
          <a:p>
            <a:pPr marL="514350" indent="-514350"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Epinephrine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: suppresses insulin, promotes breakdown of glycogen and fat for energy</a:t>
            </a:r>
          </a:p>
          <a:p>
            <a:pPr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Arial" pitchFamily="34" charset="0"/>
            </a:endParaRPr>
          </a:p>
          <a:p>
            <a:pPr marL="514350" indent="-514350"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Cortisol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 and 4.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growth hormone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: enhance glucagon’</a:t>
            </a:r>
            <a:r>
              <a:rPr lang="en-US" altLang="ja-JP" sz="2800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s effect and stimulate lipolysis, ketogenesis and proteolysis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9853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A1675C-4657-4232-93DA-6E63E27EC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>
                <a:latin typeface="Amasis MT Pro Black" panose="02040A04050005020304" pitchFamily="18" charset="0"/>
              </a:rPr>
              <a:t>Hypoglycemia</a:t>
            </a:r>
          </a:p>
        </p:txBody>
      </p:sp>
    </p:spTree>
    <p:extLst>
      <p:ext uri="{BB962C8B-B14F-4D97-AF65-F5344CB8AC3E}">
        <p14:creationId xmlns:p14="http://schemas.microsoft.com/office/powerpoint/2010/main" val="363028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xfrm>
            <a:off x="399603" y="53578"/>
            <a:ext cx="8460879" cy="1285875"/>
          </a:xfrm>
        </p:spPr>
        <p:txBody>
          <a:bodyPr/>
          <a:lstStyle/>
          <a:p>
            <a:pPr defTabSz="914145">
              <a:defRPr/>
            </a:pPr>
            <a:r>
              <a:rPr lang="en-US" dirty="0">
                <a:latin typeface="Amasis MT Pro Black" panose="02040A04050005020304" pitchFamily="18" charset="0"/>
                <a:cs typeface="Arial" charset="0"/>
                <a:sym typeface="Arial" charset="0"/>
              </a:rPr>
              <a:t>Symptoms of Hypoglycemia</a:t>
            </a:r>
            <a:br>
              <a:rPr lang="en-US" dirty="0">
                <a:latin typeface="Arial" charset="0"/>
                <a:cs typeface="Arial" charset="0"/>
                <a:sym typeface="Arial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(Generally, begin at glucose levels of 50-60mg/dL)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Helvetica Light" charset="0"/>
            </a:endParaRP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8594" y="1393031"/>
            <a:ext cx="8639473" cy="5213822"/>
          </a:xfrm>
        </p:spPr>
        <p:txBody>
          <a:bodyPr>
            <a:normAutofit/>
          </a:bodyPr>
          <a:lstStyle/>
          <a:p>
            <a:pPr marL="0" indent="0" defTabSz="914145">
              <a:spcBef>
                <a:spcPts val="492"/>
              </a:spcBef>
              <a:buNone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Neurogenic: mediated by catecholamines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720392" lvl="1" indent="-320342" defTabSz="914145">
              <a:spcBef>
                <a:spcPts val="492"/>
              </a:spcBef>
              <a:buFontTx/>
              <a:buChar char="•"/>
              <a:defRPr/>
            </a:pPr>
            <a:r>
              <a:rPr lang="en-US" sz="32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Nervousness/anxiety/ irritability</a:t>
            </a:r>
          </a:p>
          <a:p>
            <a:pPr marL="720392" lvl="1" indent="-320342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Diaphoresis</a:t>
            </a:r>
          </a:p>
          <a:p>
            <a:pPr marL="720392" lvl="1" indent="-320342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Tremor</a:t>
            </a:r>
          </a:p>
          <a:p>
            <a:pPr marL="720392" lvl="1" indent="-320342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Tachycardia</a:t>
            </a:r>
          </a:p>
          <a:p>
            <a:pPr marL="720392" lvl="1" indent="-320342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Pallor</a:t>
            </a:r>
          </a:p>
          <a:p>
            <a:pPr marL="720392" lvl="1" indent="-320342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Hunger</a:t>
            </a:r>
          </a:p>
          <a:p>
            <a:pPr marL="720392" lvl="1" indent="-320342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Palpitations</a:t>
            </a:r>
          </a:p>
          <a:p>
            <a:pPr marL="720392" lvl="1" indent="-320342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Nausea/Vomiting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7398FF-4970-924E-88E5-CC18C29A2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2895600"/>
            <a:ext cx="33528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7207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178594" y="0"/>
            <a:ext cx="8681889" cy="1339453"/>
          </a:xfrm>
        </p:spPr>
        <p:txBody>
          <a:bodyPr/>
          <a:lstStyle/>
          <a:p>
            <a:pPr defTabSz="914145">
              <a:defRPr/>
            </a:pPr>
            <a:r>
              <a:rPr lang="en-US" dirty="0">
                <a:latin typeface="Amasis MT Pro Black" panose="02040A04050005020304" pitchFamily="18" charset="0"/>
                <a:cs typeface="Arial" charset="0"/>
                <a:sym typeface="Arial" charset="0"/>
              </a:rPr>
              <a:t>Symptoms of Hypoglycemia</a:t>
            </a:r>
            <a:br>
              <a:rPr lang="en-US" dirty="0">
                <a:latin typeface="Arial" charset="0"/>
                <a:cs typeface="Arial" charset="0"/>
                <a:sym typeface="Arial" charset="0"/>
              </a:rPr>
            </a:br>
            <a:r>
              <a:rPr lang="en-US" sz="1800" dirty="0">
                <a:latin typeface="Arial" charset="0"/>
                <a:cs typeface="Arial" charset="0"/>
                <a:sym typeface="Arial" charset="0"/>
              </a:rPr>
              <a:t>(Generally begin at glucose levels of 50-60mg/</a:t>
            </a:r>
            <a:r>
              <a:rPr lang="en-US" sz="1800" dirty="0" err="1">
                <a:latin typeface="Arial" charset="0"/>
                <a:cs typeface="Arial" charset="0"/>
                <a:sym typeface="Arial" charset="0"/>
              </a:rPr>
              <a:t>dL</a:t>
            </a:r>
            <a:r>
              <a:rPr lang="en-US" sz="1800" dirty="0">
                <a:latin typeface="Arial" charset="0"/>
                <a:cs typeface="Arial" charset="0"/>
                <a:sym typeface="Arial" charset="0"/>
              </a:rPr>
              <a:t>)</a:t>
            </a:r>
            <a:endParaRPr lang="en-US" dirty="0">
              <a:ea typeface="+mj-ea"/>
              <a:sym typeface="Helvetica Light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8594" y="1420937"/>
            <a:ext cx="8840391" cy="5185916"/>
          </a:xfrm>
        </p:spPr>
        <p:txBody>
          <a:bodyPr/>
          <a:lstStyle/>
          <a:p>
            <a:pPr marL="0" indent="0" defTabSz="914145">
              <a:spcBef>
                <a:spcPts val="352"/>
              </a:spcBef>
              <a:buNone/>
              <a:defRPr/>
            </a:pPr>
            <a:r>
              <a:rPr lang="en-US" sz="3100" b="1" dirty="0" err="1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Neuroglycopenic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: due to lack of glucose to the brain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779548" lvl="1" indent="-379498" defTabSz="914145">
              <a:spcBef>
                <a:spcPts val="35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0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Weakness/ tiredness</a:t>
            </a:r>
          </a:p>
          <a:p>
            <a:pPr marL="779548" lvl="1" indent="-379498" defTabSz="914145">
              <a:spcBef>
                <a:spcPts val="35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0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Slow mentation/ confusion</a:t>
            </a:r>
          </a:p>
          <a:p>
            <a:pPr marL="779548" lvl="1" indent="-379498" defTabSz="914145">
              <a:spcBef>
                <a:spcPts val="35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0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Headache</a:t>
            </a:r>
          </a:p>
          <a:p>
            <a:pPr marL="779548" lvl="1" indent="-379498" defTabSz="914145">
              <a:spcBef>
                <a:spcPts val="35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Syncope/ pre-syncope</a:t>
            </a:r>
          </a:p>
          <a:p>
            <a:pPr marL="779548" lvl="1" indent="-379498" defTabSz="914145">
              <a:spcBef>
                <a:spcPts val="35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Blurred vision</a:t>
            </a:r>
          </a:p>
          <a:p>
            <a:pPr marL="779548" lvl="1" indent="-379498" defTabSz="914145">
              <a:spcBef>
                <a:spcPts val="35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Abnormal behavior</a:t>
            </a:r>
          </a:p>
          <a:p>
            <a:pPr marL="779548" lvl="1" indent="-379498" defTabSz="914145">
              <a:spcBef>
                <a:spcPts val="35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0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Seizures</a:t>
            </a:r>
          </a:p>
          <a:p>
            <a:pPr marL="779548" lvl="1" indent="-379498" defTabSz="914145">
              <a:spcBef>
                <a:spcPts val="35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Amnesia/ LOC/ coma / death (relatively rare)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3C2275-DAEF-4340-A958-0B8A8C4B41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448"/>
          <a:stretch/>
        </p:blipFill>
        <p:spPr>
          <a:xfrm>
            <a:off x="6477000" y="2362200"/>
            <a:ext cx="2231083" cy="287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9222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178594" y="0"/>
            <a:ext cx="8572500" cy="1218902"/>
          </a:xfrm>
        </p:spPr>
        <p:txBody>
          <a:bodyPr lIns="88896" tIns="50798" rIns="88896" bIns="50798"/>
          <a:lstStyle/>
          <a:p>
            <a:pPr defTabSz="914145">
              <a:defRPr/>
            </a:pPr>
            <a:r>
              <a:rPr lang="en-US" dirty="0">
                <a:latin typeface="Amasis MT Pro Black" panose="02040A04050005020304" pitchFamily="18" charset="0"/>
                <a:cs typeface="Arial" charset="0"/>
                <a:sym typeface="Arial" charset="0"/>
              </a:rPr>
              <a:t>Etiologies of Hypoglycemia</a:t>
            </a:r>
            <a:endParaRPr lang="en-US" dirty="0">
              <a:latin typeface="Amasis MT Pro Black" panose="02040A04050005020304" pitchFamily="18" charset="0"/>
              <a:sym typeface="Helvetica Light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1805" y="1218903"/>
            <a:ext cx="8839275" cy="5639098"/>
          </a:xfrm>
        </p:spPr>
        <p:txBody>
          <a:bodyPr lIns="88896" tIns="50798" rIns="88896" bIns="50798" anchor="t">
            <a:noAutofit/>
          </a:bodyPr>
          <a:lstStyle/>
          <a:p>
            <a:pPr marL="0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Drugs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: (many others are possible)</a:t>
            </a:r>
          </a:p>
          <a:p>
            <a:pPr marL="342665" indent="-342665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514350" indent="-514350"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Insulins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: check the duration of action</a:t>
            </a:r>
          </a:p>
          <a:p>
            <a:pPr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514350" indent="-514350"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Sulfonylureas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: long duration of action, initial hypoglycemia can recur following treatment.</a:t>
            </a:r>
          </a:p>
          <a:p>
            <a:pPr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514350" indent="-514350"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Meglitinides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: fairly short duration of action</a:t>
            </a:r>
          </a:p>
          <a:p>
            <a:pPr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514350" indent="-514350" defTabSz="914145">
              <a:spcBef>
                <a:spcPts val="492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Alcohol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: suppresses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gluconeogensis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 but not glycolysis, so patients with limited glycogen stores or those on a prolonged EtOH binge are most vulnerable.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9418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71437" y="160734"/>
            <a:ext cx="8840391" cy="1058168"/>
          </a:xfrm>
        </p:spPr>
        <p:txBody>
          <a:bodyPr lIns="88896" tIns="50798" rIns="88896" bIns="50798"/>
          <a:lstStyle/>
          <a:p>
            <a:pPr defTabSz="914145">
              <a:defRPr/>
            </a:pPr>
            <a:r>
              <a:rPr lang="en-US" dirty="0">
                <a:latin typeface="Amasis MT Pro Black" panose="02040A04050005020304" pitchFamily="18" charset="0"/>
                <a:cs typeface="Arial" charset="0"/>
                <a:sym typeface="Arial" charset="0"/>
              </a:rPr>
              <a:t>Etiologies of Hypoglycemia</a:t>
            </a:r>
            <a:endParaRPr lang="en-US" dirty="0">
              <a:latin typeface="Amasis MT Pro Black" panose="02040A04050005020304" pitchFamily="18" charset="0"/>
              <a:sym typeface="Helvetica Light" charset="0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1805" y="1370707"/>
            <a:ext cx="8839275" cy="5334893"/>
          </a:xfrm>
        </p:spPr>
        <p:txBody>
          <a:bodyPr lIns="88896" tIns="50798" rIns="88896" bIns="50798" anchor="t"/>
          <a:lstStyle/>
          <a:p>
            <a:pPr marL="150683" indent="-150683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Severe illness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: multi-system organ failure, particularly hepatic/ renal failure; shock; sepsis and malnutrition</a:t>
            </a:r>
          </a:p>
          <a:p>
            <a:pPr marL="150683" indent="-150683" defTabSz="914145">
              <a:spcBef>
                <a:spcPts val="492"/>
              </a:spcBef>
              <a:defRPr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  <a:sym typeface="Arial" pitchFamily="34" charset="0"/>
            </a:endParaRPr>
          </a:p>
          <a:p>
            <a:pPr marL="150683" indent="-150683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Endocrine disorders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: hypopituitarism, Addison</a:t>
            </a:r>
            <a:r>
              <a:rPr lang="ja-JP" altLang="en-US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’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s disease, myxedema coma</a:t>
            </a:r>
          </a:p>
          <a:p>
            <a:pPr marL="150683" indent="-150683" defTabSz="914145">
              <a:spcBef>
                <a:spcPts val="492"/>
              </a:spcBef>
              <a:defRPr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  <a:sym typeface="Arial" pitchFamily="34" charset="0"/>
            </a:endParaRPr>
          </a:p>
          <a:p>
            <a:pPr marL="150683" indent="-150683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itchFamily="34" charset="0"/>
              </a:rPr>
              <a:t>If none of the above, consider rare causes</a:t>
            </a:r>
          </a:p>
          <a:p>
            <a:pPr marL="572596" lvl="1" indent="-251139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–"/>
              <a:defRPr/>
            </a:pPr>
            <a:r>
              <a:rPr lang="en-US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  <a:sym typeface="Arial" pitchFamily="34" charset="0"/>
              </a:rPr>
              <a:t>Hyper-</a:t>
            </a:r>
            <a:r>
              <a:rPr lang="en-US" b="1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  <a:sym typeface="Arial" pitchFamily="34" charset="0"/>
              </a:rPr>
              <a:t>insulinism</a:t>
            </a:r>
            <a:r>
              <a:rPr lang="en-US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  <a:sym typeface="Arial" pitchFamily="34" charset="0"/>
              </a:rPr>
              <a:t> (B cell tumor, islet hyperplasia)</a:t>
            </a:r>
          </a:p>
          <a:p>
            <a:pPr marL="572596" lvl="1" indent="-251139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–"/>
              <a:defRPr/>
            </a:pPr>
            <a:r>
              <a:rPr lang="en-US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  <a:sym typeface="Arial" pitchFamily="34" charset="0"/>
              </a:rPr>
              <a:t>Non-insulin producing, extra pancreatic tumor </a:t>
            </a:r>
            <a:r>
              <a:rPr lang="en-US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  <a:sym typeface="Arial" pitchFamily="34" charset="0"/>
              </a:rPr>
              <a:t>(IGF-2 release)</a:t>
            </a:r>
          </a:p>
          <a:p>
            <a:pPr marL="150683" indent="-150683" defTabSz="914145">
              <a:spcBef>
                <a:spcPts val="492"/>
              </a:spcBef>
              <a:defRPr/>
            </a:pPr>
            <a:endParaRPr lang="en-US" sz="2800" dirty="0"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98218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456531" y="0"/>
            <a:ext cx="8229823" cy="1143000"/>
          </a:xfrm>
        </p:spPr>
        <p:txBody>
          <a:bodyPr lIns="88896" tIns="50798" rIns="88896" bIns="50798"/>
          <a:lstStyle/>
          <a:p>
            <a:pPr defTabSz="914145">
              <a:defRPr/>
            </a:pPr>
            <a:r>
              <a:rPr lang="en-US" sz="3900" dirty="0" err="1">
                <a:latin typeface="Amasis MT Pro Black" panose="02040A04050005020304" pitchFamily="18" charset="0"/>
                <a:cs typeface="Arial" charset="0"/>
                <a:sym typeface="Arial" charset="0"/>
              </a:rPr>
              <a:t>Ddx</a:t>
            </a:r>
            <a:r>
              <a:rPr lang="en-US" sz="3900" dirty="0">
                <a:latin typeface="Amasis MT Pro Black" panose="02040A04050005020304" pitchFamily="18" charset="0"/>
                <a:cs typeface="Arial" charset="0"/>
                <a:sym typeface="Arial" charset="0"/>
              </a:rPr>
              <a:t>: Dumping Syndrome</a:t>
            </a:r>
            <a:endParaRPr lang="en-US" dirty="0">
              <a:latin typeface="Amasis MT Pro Black" panose="02040A04050005020304" pitchFamily="18" charset="0"/>
              <a:sym typeface="Helvetica Light" charset="0"/>
            </a:endParaRP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1805" y="1218903"/>
            <a:ext cx="8763372" cy="5410275"/>
          </a:xfrm>
        </p:spPr>
        <p:txBody>
          <a:bodyPr lIns="88896" tIns="50798" rIns="88896" bIns="50798" anchor="t"/>
          <a:lstStyle/>
          <a:p>
            <a:pPr marL="0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Symptoms of dumping syndrome were previously ascribed to hypoglycemia and are similar to hypoglycemic symptoms. </a:t>
            </a:r>
          </a:p>
          <a:p>
            <a:pPr marL="227699" indent="-227699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227699" indent="-227699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Occurs within 1-2 hours after a meal</a:t>
            </a:r>
          </a:p>
          <a:p>
            <a:pPr marL="227699" indent="-227699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Often seen after GI surgery, particularly partial gastrectomy or gastric bypass</a:t>
            </a:r>
          </a:p>
          <a:p>
            <a:pPr marL="0" indent="0" defTabSz="914145">
              <a:spcBef>
                <a:spcPts val="492"/>
              </a:spcBef>
              <a:buClr>
                <a:srgbClr val="000000"/>
              </a:buClr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227699" indent="-227699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Symptoms include palpitations, tachycardia, lightheadedness, diaphoresis and orthostasis.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Helvetica Light" charset="0"/>
            </a:endParaRPr>
          </a:p>
          <a:p>
            <a:pPr marL="227699" indent="-227699" defTabSz="914145">
              <a:spcBef>
                <a:spcPts val="492"/>
              </a:spcBef>
              <a:defRPr/>
            </a:pPr>
            <a:endParaRPr lang="en-US" dirty="0">
              <a:latin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58326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456531" y="0"/>
            <a:ext cx="8229823" cy="1143000"/>
          </a:xfrm>
        </p:spPr>
        <p:txBody>
          <a:bodyPr lIns="88896" tIns="50798" rIns="88896" bIns="50798"/>
          <a:lstStyle/>
          <a:p>
            <a:pPr defTabSz="914145">
              <a:defRPr/>
            </a:pPr>
            <a:r>
              <a:rPr lang="en-US" sz="3900" dirty="0" err="1">
                <a:latin typeface="Amasis MT Pro Black" panose="02040A04050005020304" pitchFamily="18" charset="0"/>
                <a:cs typeface="Arial" charset="0"/>
                <a:sym typeface="Arial" charset="0"/>
              </a:rPr>
              <a:t>Ddx</a:t>
            </a:r>
            <a:r>
              <a:rPr lang="en-US" sz="3900" dirty="0">
                <a:latin typeface="Amasis MT Pro Black" panose="02040A04050005020304" pitchFamily="18" charset="0"/>
                <a:cs typeface="Arial" charset="0"/>
                <a:sym typeface="Arial" charset="0"/>
              </a:rPr>
              <a:t>: Dumping Syndrome</a:t>
            </a:r>
            <a:endParaRPr lang="en-US" dirty="0">
              <a:latin typeface="Amasis MT Pro Black" panose="02040A04050005020304" pitchFamily="18" charset="0"/>
              <a:sym typeface="Helvetica Light" charset="0"/>
            </a:endParaRP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1805" y="1218903"/>
            <a:ext cx="8867180" cy="5410275"/>
          </a:xfrm>
        </p:spPr>
        <p:txBody>
          <a:bodyPr lIns="88896" tIns="50798" rIns="88896" bIns="50798" anchor="t"/>
          <a:lstStyle/>
          <a:p>
            <a:pPr marL="227699" indent="-227699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Most patients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do not actually develop hypoglycemia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on labs when symptomatic.</a:t>
            </a:r>
          </a:p>
          <a:p>
            <a:pPr marL="227699" indent="-227699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Helvetica Light" charset="0"/>
            </a:endParaRPr>
          </a:p>
          <a:p>
            <a:pPr marL="227699" indent="-227699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Instead,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symptoms are most likely due to a rapid discharge of ingested carbohydrate into the small bowel.</a:t>
            </a:r>
          </a:p>
          <a:p>
            <a:pPr marL="227699" indent="-227699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Arial" charset="0"/>
            </a:endParaRPr>
          </a:p>
          <a:p>
            <a:pPr marL="227699" indent="-227699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This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sudden osmotic load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results in a rapid shift of fluid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 from the vasculature to the gut lumen, causing symptoms.</a:t>
            </a:r>
          </a:p>
          <a:p>
            <a:pPr marL="227699" indent="-227699" defTabSz="914145">
              <a:spcBef>
                <a:spcPts val="492"/>
              </a:spcBef>
              <a:defRPr/>
            </a:pPr>
            <a:endParaRPr lang="en-US" dirty="0">
              <a:latin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76267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456531" y="0"/>
            <a:ext cx="8229823" cy="1065982"/>
          </a:xfrm>
        </p:spPr>
        <p:txBody>
          <a:bodyPr lIns="88896" tIns="50798" rIns="88896" bIns="50798"/>
          <a:lstStyle/>
          <a:p>
            <a:pPr defTabSz="914145">
              <a:defRPr/>
            </a:pPr>
            <a:r>
              <a:rPr lang="en-US" dirty="0">
                <a:latin typeface="Amasis MT Pro Black" panose="02040A04050005020304" pitchFamily="18" charset="0"/>
                <a:cs typeface="Arial" charset="0"/>
                <a:sym typeface="Arial" charset="0"/>
              </a:rPr>
              <a:t>Clinical Hypoglycemia</a:t>
            </a:r>
            <a:endParaRPr lang="en-US" dirty="0">
              <a:latin typeface="Amasis MT Pro Black" panose="02040A04050005020304" pitchFamily="18" charset="0"/>
              <a:sym typeface="Helvetica Light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1805" y="1143000"/>
            <a:ext cx="8763372" cy="5562600"/>
          </a:xfrm>
        </p:spPr>
        <p:txBody>
          <a:bodyPr lIns="88896" tIns="50798" rIns="88896" bIns="50798" anchor="t">
            <a:normAutofit lnSpcReduction="10000"/>
          </a:bodyPr>
          <a:lstStyle/>
          <a:p>
            <a:pPr marL="0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dirty="0">
                <a:cs typeface="Arial" pitchFamily="34" charset="0"/>
                <a:sym typeface="Arial" pitchFamily="34" charset="0"/>
              </a:rPr>
              <a:t>Low levels of blood glucose may occur for the above etiologies transiently but hypoglycemia is not considered to be an illness unless </a:t>
            </a:r>
            <a:r>
              <a:rPr lang="en-US" b="1" dirty="0">
                <a:cs typeface="Arial" pitchFamily="34" charset="0"/>
                <a:sym typeface="Arial" pitchFamily="34" charset="0"/>
              </a:rPr>
              <a:t>Whipple’</a:t>
            </a:r>
            <a:r>
              <a:rPr lang="en-US" altLang="ja-JP" b="1" dirty="0">
                <a:cs typeface="Arial" pitchFamily="34" charset="0"/>
                <a:sym typeface="Arial" pitchFamily="34" charset="0"/>
              </a:rPr>
              <a:t>s triad </a:t>
            </a:r>
            <a:r>
              <a:rPr lang="en-US" altLang="ja-JP" dirty="0">
                <a:cs typeface="Arial" pitchFamily="34" charset="0"/>
                <a:sym typeface="Arial" pitchFamily="34" charset="0"/>
              </a:rPr>
              <a:t>is satisfied:</a:t>
            </a:r>
          </a:p>
          <a:p>
            <a:pPr marL="273462" indent="-273462" defTabSz="914145">
              <a:spcBef>
                <a:spcPts val="492"/>
              </a:spcBef>
              <a:defRPr/>
            </a:pPr>
            <a:endParaRPr lang="en-US" dirty="0">
              <a:cs typeface="Arial" pitchFamily="34" charset="0"/>
              <a:sym typeface="Arial" pitchFamily="34" charset="0"/>
            </a:endParaRPr>
          </a:p>
          <a:p>
            <a:pPr marL="273462" indent="-273462" defTabSz="914145">
              <a:spcBef>
                <a:spcPts val="492"/>
              </a:spcBef>
              <a:buClr>
                <a:srgbClr val="000000"/>
              </a:buClr>
              <a:buFontTx/>
              <a:buAutoNum type="arabicPeriod"/>
              <a:defRPr/>
            </a:pPr>
            <a:r>
              <a:rPr lang="en-US" dirty="0">
                <a:cs typeface="Arial" pitchFamily="34" charset="0"/>
                <a:sym typeface="Arial" pitchFamily="34" charset="0"/>
              </a:rPr>
              <a:t> Symptoms are consistent with hypoglycemia</a:t>
            </a:r>
          </a:p>
          <a:p>
            <a:pPr marL="273462" indent="-273462" defTabSz="914145">
              <a:spcBef>
                <a:spcPts val="492"/>
              </a:spcBef>
              <a:buClr>
                <a:srgbClr val="000000"/>
              </a:buClr>
              <a:buFontTx/>
              <a:buAutoNum type="arabicPeriod"/>
              <a:defRPr/>
            </a:pPr>
            <a:endParaRPr lang="en-US" sz="1000" dirty="0">
              <a:cs typeface="Arial" pitchFamily="34" charset="0"/>
              <a:sym typeface="Arial" pitchFamily="34" charset="0"/>
            </a:endParaRPr>
          </a:p>
          <a:p>
            <a:pPr marL="273050" indent="-273050" defTabSz="914145">
              <a:spcBef>
                <a:spcPts val="492"/>
              </a:spcBef>
              <a:buClr>
                <a:srgbClr val="000000"/>
              </a:buClr>
              <a:buFontTx/>
              <a:buAutoNum type="arabicPeriod"/>
              <a:defRPr/>
            </a:pPr>
            <a:r>
              <a:rPr lang="en-US">
                <a:cs typeface="Arial"/>
                <a:sym typeface="Arial" pitchFamily="34" charset="0"/>
              </a:rPr>
              <a:t> Hypoglycemia</a:t>
            </a:r>
            <a:r>
              <a:rPr lang="en-US" dirty="0">
                <a:cs typeface="Arial"/>
                <a:sym typeface="Arial" pitchFamily="34" charset="0"/>
              </a:rPr>
              <a:t> is present when the symptoms occur</a:t>
            </a:r>
            <a:endParaRPr lang="en-US" dirty="0">
              <a:ea typeface="Calibri"/>
              <a:cs typeface="Arial"/>
            </a:endParaRPr>
          </a:p>
          <a:p>
            <a:pPr marL="273462" indent="-273462" defTabSz="914145">
              <a:spcBef>
                <a:spcPts val="492"/>
              </a:spcBef>
              <a:buClr>
                <a:srgbClr val="000000"/>
              </a:buClr>
              <a:buFontTx/>
              <a:buAutoNum type="arabicPeriod"/>
              <a:defRPr/>
            </a:pPr>
            <a:endParaRPr lang="en-US" sz="1000" dirty="0">
              <a:cs typeface="Arial" pitchFamily="34" charset="0"/>
              <a:sym typeface="Arial" pitchFamily="34" charset="0"/>
            </a:endParaRPr>
          </a:p>
          <a:p>
            <a:pPr marL="273462" indent="-273462" defTabSz="914145">
              <a:spcBef>
                <a:spcPts val="492"/>
              </a:spcBef>
              <a:buClr>
                <a:srgbClr val="000000"/>
              </a:buClr>
              <a:buFontTx/>
              <a:buAutoNum type="arabicPeriod"/>
              <a:defRPr/>
            </a:pPr>
            <a:r>
              <a:rPr lang="en-US" dirty="0">
                <a:cs typeface="Arial" pitchFamily="34" charset="0"/>
                <a:sym typeface="Arial" pitchFamily="34" charset="0"/>
              </a:rPr>
              <a:t> Administration of glucose leads to symptom improvement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5803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0FF48-5A2B-49AF-B0FD-0CD2C63E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asis MT Pro Black" panose="02040A04050005020304" pitchFamily="18" charset="0"/>
              </a:rPr>
              <a:t>Work-up of Hypoglycemia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87CD8-01FC-4FE5-A0F4-483BA842A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If s/s not currently present at the time of evaluation, we can provoke them. </a:t>
            </a:r>
          </a:p>
          <a:p>
            <a:pPr lvl="1"/>
            <a:r>
              <a:rPr lang="en-US" b="1" dirty="0"/>
              <a:t>Fasting Evaluation</a:t>
            </a:r>
          </a:p>
          <a:p>
            <a:pPr lvl="1"/>
            <a:r>
              <a:rPr lang="en-US" b="1" dirty="0"/>
              <a:t>Post Prandial Evaluation</a:t>
            </a:r>
          </a:p>
          <a:p>
            <a:endParaRPr lang="en-US" dirty="0"/>
          </a:p>
          <a:p>
            <a:r>
              <a:rPr lang="en-US" dirty="0"/>
              <a:t>Labs ordered in the setting of a 72 hour fast: </a:t>
            </a:r>
          </a:p>
          <a:p>
            <a:pPr lvl="1"/>
            <a:r>
              <a:rPr lang="en-US" b="1" dirty="0"/>
              <a:t>Plasma glucose, Insulin, C-peptide, Proinsulin Beta-Hydroxybutyrate (BHOB), drug levels (Sulfonylurea, Meglitinide), Cortisol, Growth Hormone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926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asis MT Pro Black" panose="02040A04050005020304" pitchFamily="18" charset="0"/>
              </a:rPr>
              <a:t>Prevention of Hypoglycemia</a:t>
            </a:r>
          </a:p>
        </p:txBody>
      </p:sp>
    </p:spTree>
    <p:extLst>
      <p:ext uri="{BB962C8B-B14F-4D97-AF65-F5344CB8AC3E}">
        <p14:creationId xmlns:p14="http://schemas.microsoft.com/office/powerpoint/2010/main" val="3631958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xfrm>
            <a:off x="76201" y="274588"/>
            <a:ext cx="7467599" cy="1143000"/>
          </a:xfrm>
        </p:spPr>
        <p:txBody>
          <a:bodyPr lIns="88896" tIns="50798" rIns="88896" bIns="50798">
            <a:normAutofit/>
          </a:bodyPr>
          <a:lstStyle/>
          <a:p>
            <a:pPr defTabSz="914145">
              <a:defRPr/>
            </a:pPr>
            <a:r>
              <a:rPr lang="en-US" sz="3800" dirty="0">
                <a:latin typeface="Amasis MT Pro Black" panose="02040A04050005020304" pitchFamily="18" charset="0"/>
                <a:cs typeface="Arial" charset="0"/>
                <a:sym typeface="Arial" charset="0"/>
              </a:rPr>
              <a:t>Treatment of Hypoglycemia</a:t>
            </a:r>
            <a:endParaRPr lang="en-US" sz="3800" dirty="0">
              <a:latin typeface="Amasis MT Pro Black" panose="02040A04050005020304" pitchFamily="18" charset="0"/>
              <a:sym typeface="Helvetica Light" charset="0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1805" y="1599531"/>
            <a:ext cx="8839275" cy="5105549"/>
          </a:xfrm>
        </p:spPr>
        <p:txBody>
          <a:bodyPr lIns="88896" tIns="50798" rIns="88896" bIns="50798" anchor="t">
            <a:normAutofit fontScale="92500" lnSpcReduction="10000"/>
          </a:bodyPr>
          <a:lstStyle/>
          <a:p>
            <a:pPr marL="273462" indent="-273462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dirty="0">
                <a:cs typeface="Arial" charset="0"/>
                <a:sym typeface="Arial" charset="0"/>
              </a:rPr>
              <a:t>If the pt is </a:t>
            </a:r>
            <a:r>
              <a:rPr lang="en-US" i="1" dirty="0">
                <a:cs typeface="Arial" charset="0"/>
                <a:sym typeface="Arial" charset="0"/>
              </a:rPr>
              <a:t>alert</a:t>
            </a:r>
            <a:r>
              <a:rPr lang="en-US" dirty="0">
                <a:cs typeface="Arial" charset="0"/>
                <a:sym typeface="Arial" charset="0"/>
              </a:rPr>
              <a:t>, candy, glucose tablet, or </a:t>
            </a:r>
          </a:p>
          <a:p>
            <a:pPr marL="0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dirty="0">
                <a:cs typeface="Arial" charset="0"/>
                <a:sym typeface="Arial" charset="0"/>
              </a:rPr>
              <a:t>orange juice</a:t>
            </a:r>
          </a:p>
          <a:p>
            <a:pPr marL="0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endParaRPr lang="en-US" sz="2200" dirty="0">
              <a:cs typeface="Arial" charset="0"/>
              <a:sym typeface="Arial" charset="0"/>
            </a:endParaRPr>
          </a:p>
          <a:p>
            <a:pPr marL="273462" indent="-273462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dirty="0">
                <a:cs typeface="Arial" charset="0"/>
                <a:sym typeface="Arial" charset="0"/>
              </a:rPr>
              <a:t>If the pt is stuporous or any LOC:</a:t>
            </a:r>
          </a:p>
          <a:p>
            <a:pPr marL="404054" lvl="1" indent="-189749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–"/>
              <a:defRPr/>
            </a:pPr>
            <a:r>
              <a:rPr lang="en-US" sz="2700" dirty="0">
                <a:ea typeface="ＭＳ Ｐゴシック" charset="0"/>
                <a:cs typeface="Arial" charset="0"/>
                <a:sym typeface="Arial" charset="0"/>
              </a:rPr>
              <a:t>50 mL of 50% dextrose (D50) given rapid IV or</a:t>
            </a:r>
          </a:p>
          <a:p>
            <a:pPr marL="403860" lvl="1" indent="-189230" defTabSz="914145">
              <a:spcBef>
                <a:spcPts val="422"/>
              </a:spcBef>
              <a:buClr>
                <a:srgbClr val="000000"/>
              </a:buClr>
              <a:buFont typeface="ArialMT" charset="0"/>
              <a:buChar char="–"/>
              <a:defRPr/>
            </a:pPr>
            <a:r>
              <a:rPr lang="en-US" sz="2700" dirty="0">
                <a:ea typeface="ＭＳ Ｐゴシック"/>
                <a:cs typeface="Arial"/>
                <a:sym typeface="Arial" charset="0"/>
              </a:rPr>
              <a:t>Glucagon 1mg IM or SC in buttock, arm or thigh, follow instructions on kit. Intranasal glucagon is also available.</a:t>
            </a:r>
            <a:endParaRPr lang="en-US" sz="2700" dirty="0">
              <a:ea typeface="ＭＳ Ｐゴシック"/>
              <a:cs typeface="Arial"/>
            </a:endParaRPr>
          </a:p>
          <a:p>
            <a:pPr marL="404054" lvl="1" indent="-189749" defTabSz="914145">
              <a:spcBef>
                <a:spcPts val="422"/>
              </a:spcBef>
              <a:defRPr/>
            </a:pPr>
            <a:endParaRPr lang="en-US" sz="2200" dirty="0">
              <a:ea typeface="ＭＳ Ｐゴシック" charset="0"/>
              <a:cs typeface="Arial" charset="0"/>
              <a:sym typeface="Arial" charset="0"/>
            </a:endParaRPr>
          </a:p>
          <a:p>
            <a:pPr marL="273462" indent="-273462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dirty="0">
                <a:cs typeface="Arial" charset="0"/>
                <a:sym typeface="Arial" charset="0"/>
              </a:rPr>
              <a:t>Medic Alert jewelry</a:t>
            </a:r>
          </a:p>
          <a:p>
            <a:pPr marL="273462" indent="-273462" defTabSz="914145">
              <a:spcBef>
                <a:spcPts val="492"/>
              </a:spcBef>
              <a:defRPr/>
            </a:pPr>
            <a:endParaRPr lang="en-US" sz="2200" dirty="0">
              <a:cs typeface="Arial" charset="0"/>
              <a:sym typeface="Arial" charset="0"/>
            </a:endParaRPr>
          </a:p>
          <a:p>
            <a:pPr marL="273462" indent="-273462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dirty="0">
                <a:cs typeface="Arial" charset="0"/>
                <a:sym typeface="Arial" charset="0"/>
              </a:rPr>
              <a:t>Glucagon emergency kit and instructions to family and friends</a:t>
            </a:r>
            <a:endParaRPr lang="en-US" dirty="0">
              <a:ea typeface="+mn-ea"/>
              <a:sym typeface="Helvetica Light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00" y="1066800"/>
            <a:ext cx="17907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806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xfrm>
            <a:off x="76201" y="274588"/>
            <a:ext cx="8610599" cy="1143000"/>
          </a:xfrm>
        </p:spPr>
        <p:txBody>
          <a:bodyPr lIns="88896" tIns="50798" rIns="88896" bIns="50798">
            <a:normAutofit/>
          </a:bodyPr>
          <a:lstStyle/>
          <a:p>
            <a:pPr defTabSz="914145">
              <a:defRPr/>
            </a:pPr>
            <a:r>
              <a:rPr lang="en-US" dirty="0">
                <a:latin typeface="Amasis MT Pro Black" panose="02040A04050005020304" pitchFamily="18" charset="0"/>
                <a:cs typeface="Arial" charset="0"/>
                <a:sym typeface="Arial" charset="0"/>
              </a:rPr>
              <a:t>Treatment of Hypoglycemia</a:t>
            </a:r>
            <a:endParaRPr lang="en-US" dirty="0">
              <a:latin typeface="Amasis MT Pro Black" panose="02040A04050005020304" pitchFamily="18" charset="0"/>
              <a:sym typeface="Helvetica Light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633E8B-94B6-A456-B16B-8B70AB31E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61" y="3637513"/>
            <a:ext cx="3084519" cy="3071107"/>
          </a:xfrm>
          <a:prstGeom prst="rect">
            <a:avLst/>
          </a:prstGeom>
        </p:spPr>
      </p:pic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1805" y="1371601"/>
            <a:ext cx="8839275" cy="5333480"/>
          </a:xfrm>
        </p:spPr>
        <p:txBody>
          <a:bodyPr lIns="88896" tIns="50798" rIns="88896" bIns="50798" anchor="t">
            <a:normAutofit/>
          </a:bodyPr>
          <a:lstStyle/>
          <a:p>
            <a:pPr marL="0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sz="3600" dirty="0">
                <a:ea typeface="+mn-ea"/>
                <a:sym typeface="Helvetica Light" charset="0"/>
              </a:rPr>
              <a:t>ADA the </a:t>
            </a:r>
            <a:r>
              <a:rPr lang="en-US" sz="3600" dirty="0">
                <a:sym typeface="Helvetica Light" charset="0"/>
              </a:rPr>
              <a:t>“15-15 Rule”:</a:t>
            </a:r>
          </a:p>
          <a:p>
            <a:pPr marL="673512" lvl="1" indent="-273462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600" b="1" dirty="0"/>
              <a:t>Consume 15 grams of carbs to raise your blood sugar and check it after 15 minutes. If it’s still below 70 mg/dL, have another serving.</a:t>
            </a:r>
          </a:p>
          <a:p>
            <a:pPr marL="673512" lvl="1" indent="-273462" defTabSz="914145">
              <a:spcBef>
                <a:spcPts val="492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dirty="0"/>
              <a:t>Once your blood sugar is back </a:t>
            </a:r>
          </a:p>
          <a:p>
            <a:pPr marL="400050" lvl="1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sz="3200" dirty="0"/>
              <a:t>to normal, </a:t>
            </a:r>
            <a:r>
              <a:rPr lang="en-US" sz="3200" i="1" dirty="0"/>
              <a:t>eat a meal or snack </a:t>
            </a:r>
          </a:p>
          <a:p>
            <a:pPr marL="400050" lvl="1" indent="0" defTabSz="914145">
              <a:spcBef>
                <a:spcPts val="492"/>
              </a:spcBef>
              <a:buClr>
                <a:srgbClr val="000000"/>
              </a:buClr>
              <a:buNone/>
              <a:defRPr/>
            </a:pPr>
            <a:r>
              <a:rPr lang="en-US" sz="3200" i="1" dirty="0"/>
              <a:t>to make sure it doesn’t lower again.</a:t>
            </a:r>
          </a:p>
        </p:txBody>
      </p:sp>
    </p:spTree>
    <p:extLst>
      <p:ext uri="{BB962C8B-B14F-4D97-AF65-F5344CB8AC3E}">
        <p14:creationId xmlns:p14="http://schemas.microsoft.com/office/powerpoint/2010/main" val="406094053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PresentationFormat>On-screen Show (4:3)</PresentationFormat>
  <Paragraphs>135</Paragraphs>
  <Slides>16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Hypoglycemia</vt:lpstr>
      <vt:lpstr>Outline</vt:lpstr>
      <vt:lpstr>Glucose Homeostasis</vt:lpstr>
      <vt:lpstr>Glucose Homeostasis</vt:lpstr>
      <vt:lpstr>Hypoglycemia</vt:lpstr>
      <vt:lpstr>Symptoms of Hypoglycemia (Generally, begin at glucose levels of 50-60mg/dL)</vt:lpstr>
      <vt:lpstr>Symptoms of Hypoglycemia (Generally begin at glucose levels of 50-60mg/dL)</vt:lpstr>
      <vt:lpstr>Etiologies of Hypoglycemia</vt:lpstr>
      <vt:lpstr>Etiologies of Hypoglycemia</vt:lpstr>
      <vt:lpstr>Ddx: Dumping Syndrome</vt:lpstr>
      <vt:lpstr>Ddx: Dumping Syndrome</vt:lpstr>
      <vt:lpstr>Clinical Hypoglycemia</vt:lpstr>
      <vt:lpstr>Work-up of Hypoglycemia</vt:lpstr>
      <vt:lpstr>Prevention of Hypoglycemia</vt:lpstr>
      <vt:lpstr>Treatment of Hypoglycemia</vt:lpstr>
      <vt:lpstr>Treatment of Hypoglycemia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</cp:revision>
  <dcterms:created xsi:type="dcterms:W3CDTF">2024-08-16T14:48:24Z</dcterms:created>
  <dcterms:modified xsi:type="dcterms:W3CDTF">2026-10-04T04:13:08Z</dcterms:modified>
</cp:coreProperties>
</file>