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handoutMasterIdLst>
    <p:handoutMasterId r:id="rId33"/>
  </p:handoutMasterIdLst>
  <p:sldIdLst>
    <p:sldId id="292" r:id="rId5"/>
    <p:sldId id="276" r:id="rId6"/>
    <p:sldId id="316" r:id="rId7"/>
    <p:sldId id="277" r:id="rId8"/>
    <p:sldId id="293" r:id="rId9"/>
    <p:sldId id="301" r:id="rId10"/>
    <p:sldId id="295" r:id="rId11"/>
    <p:sldId id="296" r:id="rId12"/>
    <p:sldId id="298" r:id="rId13"/>
    <p:sldId id="297" r:id="rId14"/>
    <p:sldId id="299" r:id="rId15"/>
    <p:sldId id="300" r:id="rId16"/>
    <p:sldId id="302" r:id="rId17"/>
    <p:sldId id="288" r:id="rId18"/>
    <p:sldId id="303" r:id="rId19"/>
    <p:sldId id="312" r:id="rId20"/>
    <p:sldId id="304" r:id="rId21"/>
    <p:sldId id="305" r:id="rId22"/>
    <p:sldId id="306" r:id="rId23"/>
    <p:sldId id="307" r:id="rId24"/>
    <p:sldId id="308" r:id="rId25"/>
    <p:sldId id="309" r:id="rId26"/>
    <p:sldId id="310" r:id="rId27"/>
    <p:sldId id="311" r:id="rId28"/>
    <p:sldId id="284" r:id="rId29"/>
    <p:sldId id="289" r:id="rId30"/>
    <p:sldId id="31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74300" autoAdjust="0"/>
  </p:normalViewPr>
  <p:slideViewPr>
    <p:cSldViewPr snapToGrid="0" showGuides="1">
      <p:cViewPr varScale="1">
        <p:scale>
          <a:sx n="58" d="100"/>
          <a:sy n="58" d="100"/>
        </p:scale>
        <p:origin x="1363" y="53"/>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122" d="100"/>
          <a:sy n="122" d="100"/>
        </p:scale>
        <p:origin x="604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10/2/2026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40C3B-E28A-4854-8EDA-E7F8F6F6FFEF}" type="datetimeFigureOut">
              <a:rPr lang="zh-CN" altLang="en-US" smtClean="0"/>
              <a:t>2026/10/2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7105BD-6D6F-49DB-9DE4-D4A6452D7E5F}" type="slidenum">
              <a:rPr lang="zh-CN" altLang="en-US" smtClean="0"/>
              <a:t>‹#›</a:t>
            </a:fld>
            <a:endParaRPr lang="zh-CN" alt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a:t>
            </a:fld>
            <a:endParaRPr lang="zh-CN" altLang="en-US"/>
          </a:p>
        </p:txBody>
      </p:sp>
    </p:spTree>
    <p:extLst>
      <p:ext uri="{BB962C8B-B14F-4D97-AF65-F5344CB8AC3E}">
        <p14:creationId xmlns:p14="http://schemas.microsoft.com/office/powerpoint/2010/main" val="421065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105BD-6D6F-49DB-9DE4-D4A6452D7E5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97410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process helps patients incorporate knowledge, skills, values, and attitudes that relate to specific or general medical topics, preventive services, the adoption of healthy lifestyles, correct use of medicine, and the care of disease and injuries at home.”</a:t>
            </a:r>
          </a:p>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4</a:t>
            </a:fld>
            <a:endParaRPr lang="zh-CN" altLang="en-US"/>
          </a:p>
        </p:txBody>
      </p:sp>
    </p:spTree>
    <p:extLst>
      <p:ext uri="{BB962C8B-B14F-4D97-AF65-F5344CB8AC3E}">
        <p14:creationId xmlns:p14="http://schemas.microsoft.com/office/powerpoint/2010/main" val="625211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of U.S. adults say they have difficulty affording health care costs. About four in ten U.S. adults say they have delayed or gone without medical care in the last year due to cost, with dental services being the most common type of care adults report putting off due to cost.</a:t>
            </a:r>
          </a:p>
          <a:p>
            <a:r>
              <a:rPr lang="en-US" dirty="0"/>
              <a:t>https://www.kff.org/health-costs/issue-brief/americans-challenges-with-health-care-costs/</a:t>
            </a:r>
          </a:p>
          <a:p>
            <a:endParaRPr lang="en-US" dirty="0"/>
          </a:p>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5</a:t>
            </a:fld>
            <a:endParaRPr lang="zh-CN" altLang="en-US"/>
          </a:p>
        </p:txBody>
      </p:sp>
    </p:spTree>
    <p:extLst>
      <p:ext uri="{BB962C8B-B14F-4D97-AF65-F5344CB8AC3E}">
        <p14:creationId xmlns:p14="http://schemas.microsoft.com/office/powerpoint/2010/main" val="1296624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is used to empower patients and is an important aspect of quality improvement, given that it is associated with improved health outcomes.</a:t>
            </a:r>
          </a:p>
          <a:p>
            <a:endParaRPr lang="en-US" dirty="0"/>
          </a:p>
          <a:p>
            <a:r>
              <a:rPr lang="en-US" b="0" i="0" dirty="0">
                <a:solidFill>
                  <a:srgbClr val="212121"/>
                </a:solidFill>
                <a:effectLst/>
                <a:latin typeface="Cambria" panose="02040503050406030204" pitchFamily="18" charset="0"/>
              </a:rPr>
              <a:t>In addition, patient education has also helped to </a:t>
            </a:r>
            <a:r>
              <a:rPr lang="en-US" b="1" i="0" dirty="0">
                <a:solidFill>
                  <a:srgbClr val="212121"/>
                </a:solidFill>
                <a:effectLst/>
                <a:latin typeface="Cambria" panose="02040503050406030204" pitchFamily="18" charset="0"/>
              </a:rPr>
              <a:t>decrease unpleasant patient experiences in hospitals, including reduced levels of pain and anxiety </a:t>
            </a:r>
          </a:p>
          <a:p>
            <a:endParaRPr lang="en-US" b="1" i="0" dirty="0">
              <a:solidFill>
                <a:srgbClr val="212121"/>
              </a:solidFill>
              <a:effectLst/>
              <a:latin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11111"/>
                </a:solidFill>
                <a:effectLst/>
                <a:latin typeface="Roboto" panose="02000000000000000000" pitchFamily="2" charset="0"/>
              </a:rPr>
              <a:t>Patient education</a:t>
            </a:r>
            <a:r>
              <a:rPr lang="en-US" b="1" i="0" dirty="0">
                <a:solidFill>
                  <a:srgbClr val="111111"/>
                </a:solidFill>
                <a:effectLst/>
                <a:latin typeface="Roboto" panose="02000000000000000000" pitchFamily="2" charset="0"/>
              </a:rPr>
              <a:t> reduces readmissions and ER visits</a:t>
            </a:r>
            <a:r>
              <a:rPr lang="en-US" b="0" i="0" dirty="0">
                <a:solidFill>
                  <a:srgbClr val="111111"/>
                </a:solidFill>
                <a:effectLst/>
                <a:latin typeface="Roboto" panose="02000000000000000000" pitchFamily="2" charset="0"/>
              </a:rPr>
              <a:t>, saves money. Chelsey </a:t>
            </a:r>
            <a:r>
              <a:rPr lang="en-US" b="0" i="0" dirty="0" err="1">
                <a:solidFill>
                  <a:srgbClr val="111111"/>
                </a:solidFill>
                <a:effectLst/>
                <a:latin typeface="Roboto" panose="02000000000000000000" pitchFamily="2" charset="0"/>
              </a:rPr>
              <a:t>Ledue</a:t>
            </a:r>
            <a:r>
              <a:rPr lang="en-US" b="0" i="0" dirty="0">
                <a:solidFill>
                  <a:srgbClr val="111111"/>
                </a:solidFill>
                <a:effectLst/>
                <a:latin typeface="Roboto" panose="02000000000000000000" pitchFamily="2" charset="0"/>
              </a:rPr>
              <a:t>. Patients who have a clear understanding of their after-hospital care instructions are 30 percent less likely to be readmitted or visit the emergency department than patients who lack this information, according to </a:t>
            </a:r>
            <a:r>
              <a:rPr lang="en-US" b="1" i="0" dirty="0">
                <a:solidFill>
                  <a:srgbClr val="111111"/>
                </a:solidFill>
                <a:effectLst/>
                <a:latin typeface="Roboto" panose="02000000000000000000" pitchFamily="2" charset="0"/>
              </a:rPr>
              <a:t>a new study funded by the Agency for Healthcare Research and Quality.</a:t>
            </a:r>
            <a:endParaRPr lang="en-US" b="1" dirty="0"/>
          </a:p>
          <a:p>
            <a:endParaRPr lang="en-US" b="1"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7</a:t>
            </a:fld>
            <a:endParaRPr lang="zh-CN" altLang="en-US"/>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https://www.aafp.org/pubs/afp/issues/2000/1001/p1712.html#:~:text=Identify%20patient's%20educational%20needs.,of%20findings%20clearly%20and%20concisely.</a:t>
            </a:r>
          </a:p>
          <a:p>
            <a:endParaRPr lang="en-US" dirty="0"/>
          </a:p>
          <a:p>
            <a:r>
              <a:rPr lang="en-US" b="1" dirty="0"/>
              <a:t>The average American reads at the 7th- to 8th-grade level, according to The Literacy Project. [5]</a:t>
            </a:r>
          </a:p>
          <a:p>
            <a:r>
              <a:rPr lang="en-US" b="1" dirty="0"/>
              <a:t>Medical information for the public should be written at no higher than an eighth-grade reading level, according to the American Medical Association, National Institutes of Health and Centers for Disease Control and Prevention</a:t>
            </a:r>
          </a:p>
          <a:p>
            <a:endParaRPr lang="en-US" dirty="0"/>
          </a:p>
          <a:p>
            <a:endParaRPr lang="en-US" dirty="0"/>
          </a:p>
          <a:p>
            <a:r>
              <a:rPr lang="en-US" dirty="0"/>
              <a:t>Basic Skills:</a:t>
            </a:r>
          </a:p>
          <a:p>
            <a:r>
              <a:rPr lang="en-US" dirty="0"/>
              <a:t>inform patient of findings clearly and concisely.</a:t>
            </a:r>
          </a:p>
          <a:p>
            <a:endParaRPr lang="en-US" dirty="0"/>
          </a:p>
          <a:p>
            <a:r>
              <a:rPr lang="en-US" dirty="0"/>
              <a:t>Discuss treatment plans in terms of specific behaviors.</a:t>
            </a:r>
          </a:p>
          <a:p>
            <a:endParaRPr lang="en-US" dirty="0"/>
          </a:p>
          <a:p>
            <a:r>
              <a:rPr lang="en-US" dirty="0"/>
              <a:t>Encourage questions and provide appropriate answers.</a:t>
            </a:r>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8</a:t>
            </a:fld>
            <a:endParaRPr lang="zh-CN" altLang="en-US"/>
          </a:p>
        </p:txBody>
      </p:sp>
    </p:spTree>
    <p:extLst>
      <p:ext uri="{BB962C8B-B14F-4D97-AF65-F5344CB8AC3E}">
        <p14:creationId xmlns:p14="http://schemas.microsoft.com/office/powerpoint/2010/main" val="943844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https://www.aafp.org/pubs/afp/issues/2000/1001/p1712.html#:~:text=Identify%20patient's%20educational%20needs.,of%20findings%20clearly%20and%20concisely.</a:t>
            </a:r>
          </a:p>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9</a:t>
            </a:fld>
            <a:endParaRPr lang="zh-CN" altLang="en-US"/>
          </a:p>
        </p:txBody>
      </p:sp>
    </p:spTree>
    <p:extLst>
      <p:ext uri="{BB962C8B-B14F-4D97-AF65-F5344CB8AC3E}">
        <p14:creationId xmlns:p14="http://schemas.microsoft.com/office/powerpoint/2010/main" val="37012441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patient with adequate feedback on their progress toward goals</a:t>
            </a:r>
          </a:p>
          <a:p>
            <a:r>
              <a:rPr lang="en-US" dirty="0"/>
              <a:t>Present manageable amounts of information to the patient over time</a:t>
            </a:r>
          </a:p>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10</a:t>
            </a:fld>
            <a:endParaRPr lang="zh-CN" altLang="en-US"/>
          </a:p>
        </p:txBody>
      </p:sp>
    </p:spTree>
    <p:extLst>
      <p:ext uri="{BB962C8B-B14F-4D97-AF65-F5344CB8AC3E}">
        <p14:creationId xmlns:p14="http://schemas.microsoft.com/office/powerpoint/2010/main" val="1352985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11</a:t>
            </a:fld>
            <a:endParaRPr lang="zh-CN" altLang="en-US"/>
          </a:p>
        </p:txBody>
      </p:sp>
    </p:spTree>
    <p:extLst>
      <p:ext uri="{BB962C8B-B14F-4D97-AF65-F5344CB8AC3E}">
        <p14:creationId xmlns:p14="http://schemas.microsoft.com/office/powerpoint/2010/main" val="1397499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https://www.ncbi.nlm.nih.gov/pmc/articles/PMC6369867/</a:t>
            </a:r>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12</a:t>
            </a:fld>
            <a:endParaRPr lang="zh-CN" altLang="en-US"/>
          </a:p>
        </p:txBody>
      </p:sp>
    </p:spTree>
    <p:extLst>
      <p:ext uri="{BB962C8B-B14F-4D97-AF65-F5344CB8AC3E}">
        <p14:creationId xmlns:p14="http://schemas.microsoft.com/office/powerpoint/2010/main" val="4120852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https://www.ncbi.nlm.nih.gov/pmc/articles/PMC6369867/</a:t>
            </a:r>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13</a:t>
            </a:fld>
            <a:endParaRPr lang="zh-CN" altLang="en-US"/>
          </a:p>
        </p:txBody>
      </p:sp>
    </p:spTree>
    <p:extLst>
      <p:ext uri="{BB962C8B-B14F-4D97-AF65-F5344CB8AC3E}">
        <p14:creationId xmlns:p14="http://schemas.microsoft.com/office/powerpoint/2010/main" val="1791395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https://journals.plos.org/plosone/article?id=10.1371/journal.pone.0200691</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Try to classify patients based on their overall picture as you go into the decision of when to bring back for follow up:  Younger? Older? Comorbidities? Otherwise healthy? Lots of medications? Good home care/support/resources? Trustworthy?</a:t>
            </a:r>
          </a:p>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15</a:t>
            </a:fld>
            <a:endParaRPr lang="zh-CN" altLang="en-US"/>
          </a:p>
        </p:txBody>
      </p:sp>
    </p:spTree>
    <p:extLst>
      <p:ext uri="{BB962C8B-B14F-4D97-AF65-F5344CB8AC3E}">
        <p14:creationId xmlns:p14="http://schemas.microsoft.com/office/powerpoint/2010/main" val="2363398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for follow up: Monitor health, reinforce knowledge and action plans, confirm medicine regimens, schedule appts, verify follow through on referrals, share lab results</a:t>
            </a:r>
          </a:p>
          <a:p>
            <a:r>
              <a:rPr lang="en-US" dirty="0"/>
              <a:t>Ask patients to record information</a:t>
            </a:r>
          </a:p>
          <a:p>
            <a:endParaRPr lang="en-US" dirty="0"/>
          </a:p>
          <a:p>
            <a:endParaRPr lang="en-US" dirty="0"/>
          </a:p>
          <a:p>
            <a:r>
              <a:rPr lang="en-US" dirty="0"/>
              <a:t>BE SURE TO SPECIFY IF THEY, THE PATIENT, NEED TO SET UP THE APPT OR NOT</a:t>
            </a:r>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16</a:t>
            </a:fld>
            <a:endParaRPr lang="zh-CN" altLang="en-US"/>
          </a:p>
        </p:txBody>
      </p:sp>
    </p:spTree>
    <p:extLst>
      <p:ext uri="{BB962C8B-B14F-4D97-AF65-F5344CB8AC3E}">
        <p14:creationId xmlns:p14="http://schemas.microsoft.com/office/powerpoint/2010/main" val="2189384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17</a:t>
            </a:fld>
            <a:endParaRPr lang="zh-CN" altLang="en-US"/>
          </a:p>
        </p:txBody>
      </p:sp>
    </p:spTree>
    <p:extLst>
      <p:ext uri="{BB962C8B-B14F-4D97-AF65-F5344CB8AC3E}">
        <p14:creationId xmlns:p14="http://schemas.microsoft.com/office/powerpoint/2010/main" val="1667234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18</a:t>
            </a:fld>
            <a:endParaRPr lang="zh-CN" altLang="en-US"/>
          </a:p>
        </p:txBody>
      </p:sp>
    </p:spTree>
    <p:extLst>
      <p:ext uri="{BB962C8B-B14F-4D97-AF65-F5344CB8AC3E}">
        <p14:creationId xmlns:p14="http://schemas.microsoft.com/office/powerpoint/2010/main" val="3853887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Acute problems must be assessed for the need to follow up and how quickly. Give ER protocol/on call protocol/in-office protocol</a:t>
            </a:r>
          </a:p>
          <a:p>
            <a:r>
              <a:rPr lang="en-US" b="0" dirty="0"/>
              <a:t>Family practice really should ALWAYS have a follow-up date given to the patient. It may just be the date they are due for their next preventative visit, but don’t ever just leave a patient with “follow up as needed”.</a:t>
            </a:r>
          </a:p>
          <a:p>
            <a:endParaRPr lang="en-US" b="1"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19</a:t>
            </a:fld>
            <a:endParaRPr lang="zh-CN" altLang="en-US"/>
          </a:p>
        </p:txBody>
      </p:sp>
    </p:spTree>
    <p:extLst>
      <p:ext uri="{BB962C8B-B14F-4D97-AF65-F5344CB8AC3E}">
        <p14:creationId xmlns:p14="http://schemas.microsoft.com/office/powerpoint/2010/main" val="3292627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24-48 hours: </a:t>
            </a:r>
            <a:r>
              <a:rPr lang="en-US" b="0" dirty="0"/>
              <a:t>Concerning acute condition that doesn’t warrant ER but deems very close follow up to assure condition improvement.</a:t>
            </a:r>
          </a:p>
          <a:p>
            <a:r>
              <a:rPr lang="en-US" b="0" dirty="0"/>
              <a:t>Consider patient’s wishes here too.</a:t>
            </a:r>
          </a:p>
          <a:p>
            <a:r>
              <a:rPr lang="en-US" b="0" dirty="0"/>
              <a:t>Example:  Acute respiratory illnesses- patients who are struggling or have multiple comorbidities</a:t>
            </a:r>
          </a:p>
          <a:p>
            <a:endParaRPr lang="en-US" b="0" dirty="0"/>
          </a:p>
          <a:p>
            <a:r>
              <a:rPr lang="en-US" b="1" dirty="0"/>
              <a:t>Follow up in 3-5 days </a:t>
            </a:r>
          </a:p>
          <a:p>
            <a:r>
              <a:rPr lang="en-US" b="0" dirty="0"/>
              <a:t>Usually assessing improvement or resolution of a higher acuity illness or after completion of a medication treatment.</a:t>
            </a:r>
          </a:p>
          <a:p>
            <a:r>
              <a:rPr lang="en-US" b="0" dirty="0"/>
              <a:t>Example: Recheck a cellulitis in patients with risk factors for complications to assure it is improving.</a:t>
            </a:r>
          </a:p>
          <a:p>
            <a:endParaRPr lang="en-US" b="0" dirty="0"/>
          </a:p>
          <a:p>
            <a:r>
              <a:rPr lang="en-US" b="1" dirty="0"/>
              <a:t>Follow up in 1-2 weeks</a:t>
            </a:r>
          </a:p>
          <a:p>
            <a:r>
              <a:rPr lang="en-US" b="0" dirty="0"/>
              <a:t>Assessing improvement or resolution of a less severe illness or after completion of a medication treatment.</a:t>
            </a:r>
          </a:p>
          <a:p>
            <a:r>
              <a:rPr lang="en-US" b="0" dirty="0"/>
              <a:t>Examples: </a:t>
            </a:r>
          </a:p>
          <a:p>
            <a:r>
              <a:rPr lang="en-US" b="0" dirty="0"/>
              <a:t>Rechecking viral gastroenteritis in patients that are of concern if they can’t keep medicine or food down for extended period, making sure symptoms have improved.</a:t>
            </a:r>
          </a:p>
          <a:p>
            <a:r>
              <a:rPr lang="en-US" b="0" dirty="0"/>
              <a:t>Rechecking an acute MSK complaint after trialing RICE and NSAIDs</a:t>
            </a:r>
          </a:p>
          <a:p>
            <a:r>
              <a:rPr lang="en-US" b="0" dirty="0"/>
              <a:t>Rechecking constipation after trial on </a:t>
            </a:r>
            <a:r>
              <a:rPr lang="en-US" b="0" dirty="0" err="1"/>
              <a:t>Miralax</a:t>
            </a:r>
            <a:endParaRPr lang="en-US" b="0" dirty="0"/>
          </a:p>
          <a:p>
            <a:endParaRPr lang="en-US" b="0" dirty="0"/>
          </a:p>
          <a:p>
            <a:r>
              <a:rPr lang="en-US" b="1" dirty="0"/>
              <a:t>PRN</a:t>
            </a:r>
            <a:r>
              <a:rPr lang="en-US" b="0" dirty="0"/>
              <a:t>- This is to be used in that patient that is most likely to do completely fine in their treatment and you trust will return if they are not getting better.</a:t>
            </a:r>
          </a:p>
          <a:p>
            <a:r>
              <a:rPr lang="en-US" b="0" dirty="0"/>
              <a:t>The patients that have little to no risk of not healing up well.</a:t>
            </a:r>
          </a:p>
          <a:p>
            <a:r>
              <a:rPr lang="en-US" b="0" dirty="0"/>
              <a:t>I will often add in my note documentation to the patient “If we do not hear from you, we will assume your condition resolved.”</a:t>
            </a:r>
          </a:p>
          <a:p>
            <a:r>
              <a:rPr lang="en-US" b="0" dirty="0"/>
              <a:t>Examples: Common cold in the otherwise healthy individual, strep throat, uncomplicated ear infections.</a:t>
            </a:r>
          </a:p>
          <a:p>
            <a:endParaRPr lang="en-US" b="0" dirty="0"/>
          </a:p>
          <a:p>
            <a:r>
              <a:rPr lang="en-US" b="1" dirty="0"/>
              <a:t>Chronic</a:t>
            </a:r>
          </a:p>
          <a:p>
            <a:r>
              <a:rPr lang="en-US" b="0" dirty="0"/>
              <a:t>How many chronic conditions do they have? Examples: Diabetes, Hypertension, Hyperlipidemia, COPD,  Asthma, Hypothyroidism, Depression,  Anxiety, etc.</a:t>
            </a:r>
          </a:p>
          <a:p>
            <a:r>
              <a:rPr lang="en-US" b="0" dirty="0"/>
              <a:t>Age? </a:t>
            </a:r>
          </a:p>
          <a:p>
            <a:r>
              <a:rPr lang="en-US" b="0" dirty="0"/>
              <a:t>How many medications are they on? Were any new medications initiated?</a:t>
            </a:r>
          </a:p>
          <a:p>
            <a:r>
              <a:rPr lang="en-US" b="0" dirty="0"/>
              <a:t>How often do they need labs drawn?</a:t>
            </a:r>
          </a:p>
          <a:p>
            <a:r>
              <a:rPr lang="en-US" b="0" dirty="0"/>
              <a:t>Are their chronic conditions well controlled or uncontrolled?</a:t>
            </a:r>
          </a:p>
          <a:p>
            <a:r>
              <a:rPr lang="en-US" b="0" dirty="0"/>
              <a:t>What kind of patient is it, motivated or unmotivated?</a:t>
            </a:r>
          </a:p>
          <a:p>
            <a:endParaRPr lang="en-US" b="0" dirty="0"/>
          </a:p>
          <a:p>
            <a:r>
              <a:rPr lang="en-US" dirty="0"/>
              <a:t>3-month follow ups:</a:t>
            </a:r>
          </a:p>
          <a:p>
            <a:pPr lvl="1"/>
            <a:r>
              <a:rPr lang="en-US" dirty="0"/>
              <a:t>Multiple chronic conditions, typically uncontrolled, older age, with multiple medications.</a:t>
            </a:r>
          </a:p>
          <a:p>
            <a:pPr lvl="1"/>
            <a:endParaRPr lang="en-US" sz="1700" dirty="0"/>
          </a:p>
          <a:p>
            <a:r>
              <a:rPr lang="en-US" dirty="0"/>
              <a:t>6-month follow ups:</a:t>
            </a:r>
          </a:p>
          <a:p>
            <a:pPr lvl="1"/>
            <a:r>
              <a:rPr lang="en-US" dirty="0"/>
              <a:t>1-3 chronic conditions, well controlled or very mildly uncontrolled in a motivated patient. Middle aged or younger.</a:t>
            </a:r>
          </a:p>
          <a:p>
            <a:pPr lvl="1"/>
            <a:endParaRPr lang="en-US" sz="1600" dirty="0"/>
          </a:p>
          <a:p>
            <a:r>
              <a:rPr lang="en-US" dirty="0"/>
              <a:t>12-month follow ups:</a:t>
            </a:r>
          </a:p>
          <a:p>
            <a:pPr lvl="1"/>
            <a:r>
              <a:rPr lang="en-US" dirty="0"/>
              <a:t>Younger patients with one or more chronic conditions, </a:t>
            </a:r>
            <a:r>
              <a:rPr lang="en-US" u="sng" dirty="0"/>
              <a:t>well controlled and stable</a:t>
            </a:r>
            <a:r>
              <a:rPr lang="en-US" dirty="0"/>
              <a:t>.</a:t>
            </a:r>
          </a:p>
          <a:p>
            <a:endParaRPr lang="en-US" b="0" dirty="0"/>
          </a:p>
          <a:p>
            <a:endParaRPr lang="en-US" b="0" dirty="0"/>
          </a:p>
          <a:p>
            <a:endParaRPr lang="en-US" b="0"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20</a:t>
            </a:fld>
            <a:endParaRPr lang="zh-CN" altLang="en-US"/>
          </a:p>
        </p:txBody>
      </p:sp>
    </p:spTree>
    <p:extLst>
      <p:ext uri="{BB962C8B-B14F-4D97-AF65-F5344CB8AC3E}">
        <p14:creationId xmlns:p14="http://schemas.microsoft.com/office/powerpoint/2010/main" val="26181918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a:p>
            <a:endParaRPr lang="en-US" b="0"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21</a:t>
            </a:fld>
            <a:endParaRPr lang="zh-CN" altLang="en-US"/>
          </a:p>
        </p:txBody>
      </p:sp>
    </p:spTree>
    <p:extLst>
      <p:ext uri="{BB962C8B-B14F-4D97-AF65-F5344CB8AC3E}">
        <p14:creationId xmlns:p14="http://schemas.microsoft.com/office/powerpoint/2010/main" val="863133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r>
              <a:rPr lang="en-US" b="0" dirty="0"/>
              <a:t>Questionnaire posted on Canvas if you are interested in seeing</a:t>
            </a:r>
          </a:p>
          <a:p>
            <a:endParaRPr lang="en-US" b="0"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22</a:t>
            </a:fld>
            <a:endParaRPr lang="zh-CN" altLang="en-US"/>
          </a:p>
        </p:txBody>
      </p:sp>
    </p:spTree>
    <p:extLst>
      <p:ext uri="{BB962C8B-B14F-4D97-AF65-F5344CB8AC3E}">
        <p14:creationId xmlns:p14="http://schemas.microsoft.com/office/powerpoint/2010/main" val="1130621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r>
              <a:rPr lang="en-US" b="0" dirty="0"/>
              <a:t>Questionnaire posted on Canvas if you are interested in seeing</a:t>
            </a:r>
          </a:p>
          <a:p>
            <a:endParaRPr lang="en-US" b="0"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23</a:t>
            </a:fld>
            <a:endParaRPr lang="zh-CN" altLang="en-US"/>
          </a:p>
        </p:txBody>
      </p:sp>
    </p:spTree>
    <p:extLst>
      <p:ext uri="{BB962C8B-B14F-4D97-AF65-F5344CB8AC3E}">
        <p14:creationId xmlns:p14="http://schemas.microsoft.com/office/powerpoint/2010/main" val="11392846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r>
              <a:rPr lang="en-US" b="0" dirty="0"/>
              <a:t>MSK complaints: typically, 2-4 week follow ups</a:t>
            </a:r>
          </a:p>
          <a:p>
            <a:r>
              <a:rPr lang="en-US" b="0" dirty="0"/>
              <a:t>Psychiatric complaints (prior to chronic condition diagnosis): 1-2 week follow up for patients with acute psychiatric difficulties, 4-6 week follow up with SSRI/SNRI initiation, sooner as needed.</a:t>
            </a:r>
          </a:p>
          <a:p>
            <a:r>
              <a:rPr lang="en-US" b="0" dirty="0"/>
              <a:t>GI complaints: Huge variation, shorter term follow ups for more distressing symptoms, longer term follow ups for less distressing symptoms/chronic GERD</a:t>
            </a:r>
          </a:p>
          <a:p>
            <a:r>
              <a:rPr lang="en-US" b="0" dirty="0"/>
              <a:t>ENT complaints: Also, large variation in follow ups, just dependent on particular complaints</a:t>
            </a:r>
          </a:p>
          <a:p>
            <a:r>
              <a:rPr lang="en-US" b="0" dirty="0"/>
              <a:t>Etc.</a:t>
            </a:r>
          </a:p>
          <a:p>
            <a:endParaRPr lang="en-US" b="0"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24</a:t>
            </a:fld>
            <a:endParaRPr lang="zh-CN" altLang="en-US"/>
          </a:p>
        </p:txBody>
      </p:sp>
    </p:spTree>
    <p:extLst>
      <p:ext uri="{BB962C8B-B14F-4D97-AF65-F5344CB8AC3E}">
        <p14:creationId xmlns:p14="http://schemas.microsoft.com/office/powerpoint/2010/main" val="31401437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outpatient procedures can be performed in the family practice setting.</a:t>
            </a:r>
          </a:p>
          <a:p>
            <a:r>
              <a:rPr lang="en-US" dirty="0"/>
              <a:t>Procedures such as but not limited to:</a:t>
            </a:r>
          </a:p>
          <a:p>
            <a:pPr lvl="1"/>
            <a:r>
              <a:rPr lang="en-US" dirty="0"/>
              <a:t>Cryotherapy of warts, superficial skin lesions, molluscum contagiosum</a:t>
            </a:r>
          </a:p>
          <a:p>
            <a:pPr lvl="2"/>
            <a:r>
              <a:rPr lang="en-US" dirty="0"/>
              <a:t>No follow up needed unless warts need additional treatments, typically about 2-3 weeks after cryotherapy session.</a:t>
            </a:r>
          </a:p>
          <a:p>
            <a:pPr lvl="1"/>
            <a:r>
              <a:rPr lang="en-US" dirty="0"/>
              <a:t>Shave excision with electrocautery of assumed benign superficial skin lesions</a:t>
            </a:r>
          </a:p>
          <a:p>
            <a:pPr lvl="2"/>
            <a:r>
              <a:rPr lang="en-US" dirty="0"/>
              <a:t>Skin tags, inflamed seborrheic keratoses, etc.</a:t>
            </a:r>
          </a:p>
          <a:p>
            <a:pPr lvl="2"/>
            <a:r>
              <a:rPr lang="en-US" dirty="0"/>
              <a:t>Typically, no follow up needed unless patient sees signs of infection or delayed healing.</a:t>
            </a:r>
          </a:p>
          <a:p>
            <a:pPr lvl="1"/>
            <a:r>
              <a:rPr lang="en-US" dirty="0"/>
              <a:t>Punch biopsy for full thickness assessment of lesions</a:t>
            </a:r>
          </a:p>
          <a:p>
            <a:pPr lvl="2"/>
            <a:r>
              <a:rPr lang="en-US" dirty="0"/>
              <a:t>Typically follow up for suture removal- timing based on location of lesion removal</a:t>
            </a:r>
          </a:p>
          <a:p>
            <a:pPr lvl="2"/>
            <a:endParaRPr lang="en-US" dirty="0"/>
          </a:p>
          <a:p>
            <a:pPr lvl="1"/>
            <a:r>
              <a:rPr lang="en-US" dirty="0"/>
              <a:t>Full resection of skin lesions, cysts, lipomas</a:t>
            </a:r>
          </a:p>
          <a:p>
            <a:pPr lvl="2"/>
            <a:r>
              <a:rPr lang="en-US" dirty="0"/>
              <a:t>Same as punch biopsy, follow up for suture removal and to check on healing status.</a:t>
            </a:r>
          </a:p>
          <a:p>
            <a:pPr lvl="2"/>
            <a:r>
              <a:rPr lang="en-US" dirty="0"/>
              <a:t>Sooner follow up if signs of infection develop</a:t>
            </a:r>
          </a:p>
          <a:p>
            <a:pPr lvl="1"/>
            <a:r>
              <a:rPr lang="en-US" dirty="0"/>
              <a:t>Suturing of skin lacerations</a:t>
            </a:r>
          </a:p>
          <a:p>
            <a:pPr lvl="2"/>
            <a:r>
              <a:rPr lang="en-US" dirty="0"/>
              <a:t>Follow up for suture removal, timing based on location of injury</a:t>
            </a:r>
          </a:p>
          <a:p>
            <a:pPr lvl="1"/>
            <a:r>
              <a:rPr lang="en-US" dirty="0"/>
              <a:t>I&amp;D of abscesses with packing as needed</a:t>
            </a:r>
          </a:p>
          <a:p>
            <a:pPr lvl="2"/>
            <a:r>
              <a:rPr lang="en-US" dirty="0"/>
              <a:t>Follow up timing depends on size and amount of packing material required.</a:t>
            </a:r>
          </a:p>
          <a:p>
            <a:pPr lvl="2"/>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27294DA-D7BC-45D7-83A2-33FE576FEBF0}" type="slidenum">
              <a:rPr lang="en-US" smtClean="0"/>
              <a:t>25</a:t>
            </a:fld>
            <a:endParaRPr lang="en-US"/>
          </a:p>
        </p:txBody>
      </p:sp>
    </p:spTree>
    <p:extLst>
      <p:ext uri="{BB962C8B-B14F-4D97-AF65-F5344CB8AC3E}">
        <p14:creationId xmlns:p14="http://schemas.microsoft.com/office/powerpoint/2010/main" val="2209570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https://www.reliasmedia.com/articles/147129-better-patient-education-can-lead-to-lower-medical-costs</a:t>
            </a:r>
          </a:p>
          <a:p>
            <a:r>
              <a:rPr lang="en-US"/>
              <a:t>https://www.classpoint.io/interactive-quiz-in-powerpoint/</a:t>
            </a:r>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26</a:t>
            </a:fld>
            <a:endParaRPr lang="zh-CN" altLang="en-US"/>
          </a:p>
        </p:txBody>
      </p:sp>
    </p:spTree>
    <p:extLst>
      <p:ext uri="{BB962C8B-B14F-4D97-AF65-F5344CB8AC3E}">
        <p14:creationId xmlns:p14="http://schemas.microsoft.com/office/powerpoint/2010/main" val="1630251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7105BD-6D6F-49DB-9DE4-D4A6452D7E5F}" type="slidenum">
              <a:rPr lang="zh-CN" altLang="en-US" smtClean="0"/>
              <a:t>27</a:t>
            </a:fld>
            <a:endParaRPr lang="zh-CN" altLang="en-US"/>
          </a:p>
        </p:txBody>
      </p:sp>
    </p:spTree>
    <p:extLst>
      <p:ext uri="{BB962C8B-B14F-4D97-AF65-F5344CB8AC3E}">
        <p14:creationId xmlns:p14="http://schemas.microsoft.com/office/powerpoint/2010/main" val="1105737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r>
              <a:rPr lang="en-US" noProof="0" dirty="0"/>
              <a:t>Presentation Title</a:t>
            </a:r>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r>
              <a:rPr lang="en-US" noProof="0" dirty="0"/>
              <a:t>Presentation Title</a:t>
            </a:r>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tx2"/>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bg1"/>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bg1"/>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r>
              <a:rPr lang="en-US" noProof="0" dirty="0"/>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2"/>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dirty="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39" name="文本占位符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dirty="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1">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rgbClr val="44678D"/>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p>
            <a:r>
              <a:rPr lang="en-US" noProof="0" dirty="0"/>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PK"/>
          </a:p>
        </p:txBody>
      </p:sp>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solidFill>
              <a:schemeClr val="tx1"/>
            </a:solidFill>
          </a:ln>
        </p:spPr>
        <p:txBody>
          <a:bodyPr anchor="ctr">
            <a:noAutofit/>
          </a:bodyPr>
          <a:lstStyle>
            <a:lvl1pPr marL="0" indent="0" algn="ctr">
              <a:buNone/>
              <a:defRPr>
                <a:solidFill>
                  <a:schemeClr val="bg1"/>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31767" y="301752"/>
            <a:ext cx="11022677"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631767" y="1662545"/>
            <a:ext cx="11022677" cy="4721629"/>
          </a:xfrm>
        </p:spPr>
        <p:txBody>
          <a:bodyPr/>
          <a:lstStyle>
            <a:lvl1pPr>
              <a:defRPr sz="3000"/>
            </a:lvl1pPr>
            <a:lvl2pPr>
              <a:defRPr sz="2800"/>
            </a:lvl2pPr>
            <a:lvl3pPr>
              <a:defRPr sz="2400"/>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21195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r>
              <a:rPr lang="en-US" noProof="0" dirty="0"/>
              <a:t>Presentation Title</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 id="2147483669" r:id="rId17"/>
  </p:sldLayoutIdLst>
  <p:hf sldNum="0" hd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16.xml"/><Relationship Id="rId4" Type="http://schemas.openxmlformats.org/officeDocument/2006/relationships/image" Target="../media/image1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altLang="zh-CN" dirty="0"/>
              <a:t>Patient Education &amp; Follow up</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567499" y="4194068"/>
            <a:ext cx="4058668" cy="713834"/>
          </a:xfrm>
        </p:spPr>
        <p:txBody>
          <a:bodyPr/>
          <a:lstStyle/>
          <a:p>
            <a:endParaRPr lang="en-US" dirty="0"/>
          </a:p>
          <a:p>
            <a:r>
              <a:rPr lang="en-US" dirty="0"/>
              <a:t>Megan Bonk MPAS, PA-C</a:t>
            </a:r>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srcRect l="-606" t="-22903" r="-606" b="-22903"/>
          <a:stretch/>
        </p:blipFill>
        <p:spPr>
          <a:xfrm>
            <a:off x="6742558" y="821836"/>
            <a:ext cx="3609354" cy="5066346"/>
          </a:xfr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F894D96-4AC7-4A8D-A346-5545265DBA1A}"/>
              </a:ext>
            </a:extLst>
          </p:cNvPr>
          <p:cNvPicPr>
            <a:picLocks noChangeAspect="1"/>
          </p:cNvPicPr>
          <p:nvPr/>
        </p:nvPicPr>
        <p:blipFill>
          <a:blip r:embed="rId2"/>
          <a:stretch>
            <a:fillRect/>
          </a:stretch>
        </p:blipFill>
        <p:spPr>
          <a:xfrm>
            <a:off x="9069975" y="3876212"/>
            <a:ext cx="1920406" cy="2200847"/>
          </a:xfrm>
          <a:prstGeom prst="rect">
            <a:avLst/>
          </a:prstGeom>
        </p:spPr>
      </p:pic>
      <p:pic>
        <p:nvPicPr>
          <p:cNvPr id="8" name="Picture 7">
            <a:extLst>
              <a:ext uri="{FF2B5EF4-FFF2-40B4-BE49-F238E27FC236}">
                <a16:creationId xmlns:a16="http://schemas.microsoft.com/office/drawing/2014/main" id="{E3266EB3-0362-441F-BFA7-4290B39B36A3}"/>
              </a:ext>
            </a:extLst>
          </p:cNvPr>
          <p:cNvPicPr>
            <a:picLocks noChangeAspect="1"/>
          </p:cNvPicPr>
          <p:nvPr/>
        </p:nvPicPr>
        <p:blipFill>
          <a:blip r:embed="rId2"/>
          <a:stretch>
            <a:fillRect/>
          </a:stretch>
        </p:blipFill>
        <p:spPr>
          <a:xfrm>
            <a:off x="6668145" y="4427155"/>
            <a:ext cx="1920406" cy="2200847"/>
          </a:xfrm>
          <a:prstGeom prst="rect">
            <a:avLst/>
          </a:prstGeom>
        </p:spPr>
      </p:pic>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140216" y="189069"/>
            <a:ext cx="5117162" cy="1018841"/>
          </a:xfrm>
        </p:spPr>
        <p:txBody>
          <a:bodyPr/>
          <a:lstStyle/>
          <a:p>
            <a:r>
              <a:rPr lang="en-US" altLang="zh-CN" dirty="0"/>
              <a:t>Objectives</a:t>
            </a:r>
            <a:endParaRPr lang="en-US" dirty="0"/>
          </a:p>
        </p:txBody>
      </p:sp>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10046703" y="15659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zh-CN" altLang="en-US" sz="1200" u="none" strike="noStrike" kern="1200" cap="none" spc="0" normalizeH="0" baseline="0" noProof="0" dirty="0">
              <a:ln>
                <a:noFill/>
              </a:ln>
              <a:solidFill>
                <a:schemeClr val="bg1"/>
              </a:solidFill>
              <a:effectLst/>
              <a:uLnTx/>
              <a:uFillTx/>
            </a:endParaRPr>
          </a:p>
        </p:txBody>
      </p:sp>
      <p:sp>
        <p:nvSpPr>
          <p:cNvPr id="18" name="Footer Placeholder 17">
            <a:extLst>
              <a:ext uri="{FF2B5EF4-FFF2-40B4-BE49-F238E27FC236}">
                <a16:creationId xmlns:a16="http://schemas.microsoft.com/office/drawing/2014/main" id="{59AC624B-4FD9-E308-F182-08902D49A82B}"/>
              </a:ext>
            </a:extLst>
          </p:cNvPr>
          <p:cNvSpPr>
            <a:spLocks noGrp="1"/>
          </p:cNvSpPr>
          <p:nvPr>
            <p:ph type="ftr" sz="quarter" idx="52"/>
          </p:nvPr>
        </p:nvSpPr>
        <p:spPr/>
        <p:txBody>
          <a:bodyPr/>
          <a:lstStyle/>
          <a:p>
            <a:r>
              <a:rPr lang="en-US" noProof="0" dirty="0"/>
              <a:t>Patient Education &amp; Follow up</a:t>
            </a:r>
          </a:p>
        </p:txBody>
      </p:sp>
      <p:sp>
        <p:nvSpPr>
          <p:cNvPr id="7" name="Text Placeholder 6">
            <a:extLst>
              <a:ext uri="{FF2B5EF4-FFF2-40B4-BE49-F238E27FC236}">
                <a16:creationId xmlns:a16="http://schemas.microsoft.com/office/drawing/2014/main" id="{F1593C6B-91AE-446E-A204-3575CFD824AF}"/>
              </a:ext>
            </a:extLst>
          </p:cNvPr>
          <p:cNvSpPr>
            <a:spLocks noGrp="1"/>
          </p:cNvSpPr>
          <p:nvPr>
            <p:ph type="body" sz="quarter" idx="28"/>
          </p:nvPr>
        </p:nvSpPr>
        <p:spPr>
          <a:xfrm>
            <a:off x="304800" y="1330421"/>
            <a:ext cx="11638844" cy="4608033"/>
          </a:xfrm>
        </p:spPr>
        <p:txBody>
          <a:bodyPr/>
          <a:lstStyle/>
          <a:p>
            <a:pPr marL="457200" indent="-457200">
              <a:buFont typeface="+mj-lt"/>
              <a:buAutoNum type="arabicPeriod"/>
            </a:pPr>
            <a:r>
              <a:rPr lang="en-US" sz="2400" dirty="0"/>
              <a:t>Recognize the importance of patient education in the clinical setting, being able to describe when it should be used, what should be included, and the best methods to implement it into patient care.</a:t>
            </a:r>
          </a:p>
          <a:p>
            <a:pPr marL="457200" indent="-457200">
              <a:buFont typeface="+mj-lt"/>
              <a:buAutoNum type="arabicPeriod"/>
            </a:pPr>
            <a:r>
              <a:rPr lang="en-US" sz="2400" dirty="0"/>
              <a:t>Describe the importance of follow up and the best way to approach decisions on the timeline for follow up with primary care and referrals to specialists.</a:t>
            </a:r>
          </a:p>
          <a:p>
            <a:pPr marL="457200" indent="-457200">
              <a:buFont typeface="+mj-lt"/>
              <a:buAutoNum type="arabicPeriod"/>
            </a:pPr>
            <a:r>
              <a:rPr lang="en-US" sz="2400" dirty="0"/>
              <a:t>Recognize appointment types and the general recommendations for their follow up time frames.</a:t>
            </a:r>
          </a:p>
          <a:p>
            <a:pPr marL="457200" indent="-457200">
              <a:buFont typeface="+mj-lt"/>
              <a:buAutoNum type="arabicPeriod"/>
            </a:pPr>
            <a:r>
              <a:rPr lang="en-US" sz="2400" dirty="0"/>
              <a:t>Begin to identify appropriate follow up time frames based on condition seen for and environment patient is going to be seen at.</a:t>
            </a:r>
          </a:p>
          <a:p>
            <a:pPr marL="457200" indent="-457200">
              <a:buFont typeface="+mj-lt"/>
              <a:buAutoNum type="arabicPeriod"/>
            </a:pPr>
            <a:r>
              <a:rPr lang="en-US" sz="2400" dirty="0"/>
              <a:t>Complete the required PEARL assignment for the module prior to the end of the module.</a:t>
            </a:r>
          </a:p>
          <a:p>
            <a:endParaRPr lang="en-US" sz="2400" dirty="0"/>
          </a:p>
        </p:txBody>
      </p:sp>
    </p:spTree>
    <p:extLst>
      <p:ext uri="{BB962C8B-B14F-4D97-AF65-F5344CB8AC3E}">
        <p14:creationId xmlns:p14="http://schemas.microsoft.com/office/powerpoint/2010/main" val="77554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476F-60C5-4D2A-82F3-0A2085A24206}"/>
              </a:ext>
            </a:extLst>
          </p:cNvPr>
          <p:cNvSpPr>
            <a:spLocks noGrp="1"/>
          </p:cNvSpPr>
          <p:nvPr>
            <p:ph type="title"/>
          </p:nvPr>
        </p:nvSpPr>
        <p:spPr>
          <a:xfrm>
            <a:off x="587829" y="507076"/>
            <a:ext cx="10515600" cy="794782"/>
          </a:xfrm>
        </p:spPr>
        <p:txBody>
          <a:bodyPr/>
          <a:lstStyle/>
          <a:p>
            <a:r>
              <a:rPr lang="en-US" dirty="0"/>
              <a:t>Pre-Quiz</a:t>
            </a:r>
          </a:p>
        </p:txBody>
      </p:sp>
      <p:sp>
        <p:nvSpPr>
          <p:cNvPr id="4" name="Footer Placeholder 3">
            <a:extLst>
              <a:ext uri="{FF2B5EF4-FFF2-40B4-BE49-F238E27FC236}">
                <a16:creationId xmlns:a16="http://schemas.microsoft.com/office/drawing/2014/main" id="{A39A3E85-A9C9-4AEC-9B04-1C96A7D6774B}"/>
              </a:ext>
            </a:extLst>
          </p:cNvPr>
          <p:cNvSpPr>
            <a:spLocks noGrp="1"/>
          </p:cNvSpPr>
          <p:nvPr>
            <p:ph type="ftr" sz="quarter" idx="28"/>
          </p:nvPr>
        </p:nvSpPr>
        <p:spPr>
          <a:xfrm>
            <a:off x="484632" y="5788264"/>
            <a:ext cx="10515600" cy="794782"/>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badi"/>
                <a:ea typeface="+mn-ea"/>
                <a:cs typeface="+mn-cs"/>
              </a:rPr>
              <a:t>QR Code: Please scan and take quiz                     OR copy and paste link into browser</a:t>
            </a:r>
          </a:p>
        </p:txBody>
      </p:sp>
      <p:pic>
        <p:nvPicPr>
          <p:cNvPr id="6" name="Chart Placeholder 5">
            <a:extLst>
              <a:ext uri="{FF2B5EF4-FFF2-40B4-BE49-F238E27FC236}">
                <a16:creationId xmlns:a16="http://schemas.microsoft.com/office/drawing/2014/main" id="{87EF2CC2-42F5-47E7-BF60-F262D2E24C84}"/>
              </a:ext>
            </a:extLst>
          </p:cNvPr>
          <p:cNvPicPr>
            <a:picLocks noGrp="1" noChangeAspect="1"/>
          </p:cNvPicPr>
          <p:nvPr>
            <p:ph type="chart" sz="quarter" idx="27"/>
          </p:nvPr>
        </p:nvPicPr>
        <p:blipFill>
          <a:blip r:embed="rId3"/>
          <a:stretch>
            <a:fillRect/>
          </a:stretch>
        </p:blipFill>
        <p:spPr>
          <a:xfrm>
            <a:off x="484632" y="1350962"/>
            <a:ext cx="4156075" cy="4156075"/>
          </a:xfrm>
          <a:prstGeom prst="rect">
            <a:avLst/>
          </a:prstGeom>
        </p:spPr>
      </p:pic>
      <p:sp>
        <p:nvSpPr>
          <p:cNvPr id="10" name="TextBox 9">
            <a:extLst>
              <a:ext uri="{FF2B5EF4-FFF2-40B4-BE49-F238E27FC236}">
                <a16:creationId xmlns:a16="http://schemas.microsoft.com/office/drawing/2014/main" id="{7388D340-68F8-4A2E-AF99-27CD19B07FB0}"/>
              </a:ext>
            </a:extLst>
          </p:cNvPr>
          <p:cNvSpPr txBox="1"/>
          <p:nvPr/>
        </p:nvSpPr>
        <p:spPr>
          <a:xfrm>
            <a:off x="6096000" y="2991063"/>
            <a:ext cx="39696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badi"/>
                <a:ea typeface="+mn-ea"/>
                <a:cs typeface="+mn-cs"/>
              </a:rPr>
              <a:t>https://forms.office.com/r/fS0xHUbKTy</a:t>
            </a:r>
          </a:p>
        </p:txBody>
      </p:sp>
    </p:spTree>
    <p:extLst>
      <p:ext uri="{BB962C8B-B14F-4D97-AF65-F5344CB8AC3E}">
        <p14:creationId xmlns:p14="http://schemas.microsoft.com/office/powerpoint/2010/main" val="253783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99C4E8-8A2D-4234-A4BD-30F10474E909}"/>
              </a:ext>
            </a:extLst>
          </p:cNvPr>
          <p:cNvPicPr>
            <a:picLocks noChangeAspect="1"/>
          </p:cNvPicPr>
          <p:nvPr/>
        </p:nvPicPr>
        <p:blipFill rotWithShape="1">
          <a:blip r:embed="rId3"/>
          <a:srcRect l="2484" t="-6240" r="6406" b="-6238"/>
          <a:stretch/>
        </p:blipFill>
        <p:spPr>
          <a:xfrm>
            <a:off x="8096231" y="994904"/>
            <a:ext cx="3701782" cy="4121943"/>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noFill/>
          <a:ln w="19050">
            <a:solidFill>
              <a:schemeClr val="tx1"/>
            </a:solidFill>
          </a:ln>
        </p:spPr>
      </p:pic>
      <p:sp>
        <p:nvSpPr>
          <p:cNvPr id="49" name="Text Placeholder 2">
            <a:extLst>
              <a:ext uri="{FF2B5EF4-FFF2-40B4-BE49-F238E27FC236}">
                <a16:creationId xmlns:a16="http://schemas.microsoft.com/office/drawing/2014/main" id="{D975A1CF-E54E-054D-D73E-B8AD11713425}"/>
              </a:ext>
            </a:extLst>
          </p:cNvPr>
          <p:cNvSpPr>
            <a:spLocks noGrp="1"/>
          </p:cNvSpPr>
          <p:nvPr>
            <p:ph type="body" sz="quarter" idx="28"/>
          </p:nvPr>
        </p:nvSpPr>
        <p:spPr>
          <a:xfrm>
            <a:off x="128807" y="1672220"/>
            <a:ext cx="8203430" cy="4703866"/>
          </a:xfrm>
        </p:spPr>
        <p:txBody>
          <a:bodyPr/>
          <a:lstStyle/>
          <a:p>
            <a:pPr marL="285750" indent="-285750">
              <a:buFont typeface="Arial" panose="020B0604020202020204" pitchFamily="34" charset="0"/>
              <a:buChar char="•"/>
            </a:pPr>
            <a:r>
              <a:rPr lang="en-US" sz="2800" dirty="0"/>
              <a:t>“Patient education is a process by which health professionals impart information to patients and their caregivers to improve health status and encourages involvement in decision making related to ongoing care and treatment.” </a:t>
            </a:r>
          </a:p>
          <a:p>
            <a:pPr marL="4229100"/>
            <a:r>
              <a:rPr lang="en-US" sz="2800" dirty="0"/>
              <a:t>-</a:t>
            </a:r>
            <a:r>
              <a:rPr lang="en-US" sz="2800" dirty="0" err="1"/>
              <a:t>Fereidouni</a:t>
            </a:r>
            <a:r>
              <a:rPr lang="en-US" sz="2800" dirty="0"/>
              <a:t> et al, 2019</a:t>
            </a:r>
          </a:p>
          <a:p>
            <a:pPr marL="4229100"/>
            <a:endParaRPr lang="en-US" sz="2800" dirty="0"/>
          </a:p>
          <a:p>
            <a:pPr marL="457200" indent="-457200">
              <a:buFont typeface="Arial" panose="020B0604020202020204" pitchFamily="34" charset="0"/>
              <a:buChar char="•"/>
            </a:pPr>
            <a:r>
              <a:rPr lang="en-US" sz="2800" b="1" u="sng" dirty="0"/>
              <a:t>Patient education should be included in every visit, every time.</a:t>
            </a:r>
          </a:p>
          <a:p>
            <a:pPr marL="4229100"/>
            <a:endParaRPr lang="en-US" sz="2800" dirty="0"/>
          </a:p>
        </p:txBody>
      </p:sp>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128807" y="63392"/>
            <a:ext cx="5689063" cy="931512"/>
          </a:xfrm>
        </p:spPr>
        <p:txBody>
          <a:bodyPr anchor="t">
            <a:normAutofit/>
          </a:bodyPr>
          <a:lstStyle/>
          <a:p>
            <a:r>
              <a:rPr lang="en-US" dirty="0"/>
              <a:t>Patient Education</a:t>
            </a:r>
          </a:p>
        </p:txBody>
      </p:sp>
    </p:spTree>
    <p:extLst>
      <p:ext uri="{BB962C8B-B14F-4D97-AF65-F5344CB8AC3E}">
        <p14:creationId xmlns:p14="http://schemas.microsoft.com/office/powerpoint/2010/main" val="247807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6676190" y="181634"/>
            <a:ext cx="2420890" cy="921401"/>
          </a:xfrm>
        </p:spPr>
        <p:txBody>
          <a:bodyPr/>
          <a:lstStyle/>
          <a:p>
            <a:r>
              <a:rPr lang="en-US" dirty="0"/>
              <a:t>The Need</a:t>
            </a:r>
          </a:p>
        </p:txBody>
      </p:sp>
      <p:pic>
        <p:nvPicPr>
          <p:cNvPr id="26" name="图片占位符 25">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a:srcRect/>
          <a:stretch/>
        </p:blipFill>
        <p:spPr>
          <a:xfrm>
            <a:off x="1915523" y="2289528"/>
            <a:ext cx="1886360" cy="2095500"/>
          </a:xfrm>
          <a:solidFill>
            <a:srgbClr val="446992"/>
          </a:solidFill>
        </p:spPr>
      </p:pic>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a:xfrm>
            <a:off x="4018844" y="1200150"/>
            <a:ext cx="7936089" cy="5268383"/>
          </a:xfrm>
        </p:spPr>
        <p:txBody>
          <a:bodyPr/>
          <a:lstStyle/>
          <a:p>
            <a:r>
              <a:rPr lang="en-US" sz="3200" dirty="0"/>
              <a:t>There is an increased need for patient education and its importance continues to grow</a:t>
            </a:r>
          </a:p>
          <a:p>
            <a:pPr marL="576263" indent="-344488">
              <a:buFont typeface="Arial" panose="020B0604020202020204" pitchFamily="34" charset="0"/>
              <a:buChar char="•"/>
            </a:pPr>
            <a:r>
              <a:rPr lang="en-US" sz="3200" dirty="0"/>
              <a:t>Increasing prevalence of chronic illnesses</a:t>
            </a:r>
          </a:p>
          <a:p>
            <a:pPr marL="576263" indent="-344488">
              <a:buFont typeface="Arial" panose="020B0604020202020204" pitchFamily="34" charset="0"/>
              <a:buChar char="•"/>
            </a:pPr>
            <a:r>
              <a:rPr lang="en-US" sz="3200" dirty="0"/>
              <a:t>Limited number of hospital facilities</a:t>
            </a:r>
          </a:p>
          <a:p>
            <a:pPr marL="576263" indent="-344488">
              <a:buFont typeface="Arial" panose="020B0604020202020204" pitchFamily="34" charset="0"/>
              <a:buChar char="•"/>
            </a:pPr>
            <a:r>
              <a:rPr lang="en-US" sz="3200" dirty="0"/>
              <a:t>Economic constraints on hospital fees</a:t>
            </a:r>
          </a:p>
          <a:p>
            <a:pPr marL="576263" indent="-344488">
              <a:buFont typeface="Arial" panose="020B0604020202020204" pitchFamily="34" charset="0"/>
              <a:buChar char="•"/>
            </a:pPr>
            <a:r>
              <a:rPr lang="en-US" sz="3200" dirty="0"/>
              <a:t>High rate of hospital infections</a:t>
            </a:r>
          </a:p>
          <a:p>
            <a:pPr marL="576263" indent="-344488">
              <a:buFont typeface="Arial" panose="020B0604020202020204" pitchFamily="34" charset="0"/>
              <a:buChar char="•"/>
            </a:pPr>
            <a:r>
              <a:rPr lang="en-US" sz="3200" dirty="0"/>
              <a:t>Need for better, safer care at home</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182148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6232BA-F7C1-4272-AC8F-8C89877FFD47}"/>
              </a:ext>
            </a:extLst>
          </p:cNvPr>
          <p:cNvSpPr>
            <a:spLocks noGrp="1"/>
          </p:cNvSpPr>
          <p:nvPr>
            <p:ph type="body" sz="quarter" idx="27"/>
          </p:nvPr>
        </p:nvSpPr>
        <p:spPr/>
        <p:txBody>
          <a:bodyPr/>
          <a:lstStyle/>
          <a:p>
            <a:endParaRPr lang="en-US"/>
          </a:p>
        </p:txBody>
      </p:sp>
      <p:sp>
        <p:nvSpPr>
          <p:cNvPr id="3" name="Text Placeholder 2">
            <a:extLst>
              <a:ext uri="{FF2B5EF4-FFF2-40B4-BE49-F238E27FC236}">
                <a16:creationId xmlns:a16="http://schemas.microsoft.com/office/drawing/2014/main" id="{2BD99053-BF12-4A24-9E01-A00381EC4D0A}"/>
              </a:ext>
            </a:extLst>
          </p:cNvPr>
          <p:cNvSpPr>
            <a:spLocks noGrp="1"/>
          </p:cNvSpPr>
          <p:nvPr>
            <p:ph type="body" sz="quarter" idx="28"/>
          </p:nvPr>
        </p:nvSpPr>
        <p:spPr/>
        <p:txBody>
          <a:bodyPr/>
          <a:lstStyle/>
          <a:p>
            <a:endParaRPr lang="en-US"/>
          </a:p>
        </p:txBody>
      </p:sp>
      <p:sp>
        <p:nvSpPr>
          <p:cNvPr id="4" name="Picture Placeholder 3">
            <a:extLst>
              <a:ext uri="{FF2B5EF4-FFF2-40B4-BE49-F238E27FC236}">
                <a16:creationId xmlns:a16="http://schemas.microsoft.com/office/drawing/2014/main" id="{17896AFC-80B9-4C19-A16F-D1A774B5A067}"/>
              </a:ext>
            </a:extLst>
          </p:cNvPr>
          <p:cNvSpPr>
            <a:spLocks noGrp="1"/>
          </p:cNvSpPr>
          <p:nvPr>
            <p:ph type="pic" sz="quarter" idx="51"/>
          </p:nvPr>
        </p:nvSpPr>
        <p:spPr/>
        <p:txBody>
          <a:bodyPr/>
          <a:lstStyle/>
          <a:p>
            <a:endParaRPr lang="en-US"/>
          </a:p>
        </p:txBody>
      </p:sp>
      <p:sp>
        <p:nvSpPr>
          <p:cNvPr id="5" name="Title 4">
            <a:extLst>
              <a:ext uri="{FF2B5EF4-FFF2-40B4-BE49-F238E27FC236}">
                <a16:creationId xmlns:a16="http://schemas.microsoft.com/office/drawing/2014/main" id="{BC5B928F-D5CE-4D6B-ABA5-C60FC7D28751}"/>
              </a:ext>
            </a:extLst>
          </p:cNvPr>
          <p:cNvSpPr>
            <a:spLocks noGrp="1"/>
          </p:cNvSpPr>
          <p:nvPr>
            <p:ph type="title"/>
          </p:nvPr>
        </p:nvSpPr>
        <p:spPr/>
        <p:txBody>
          <a:bodyPr/>
          <a:lstStyle/>
          <a:p>
            <a:endParaRPr lang="en-US" dirty="0"/>
          </a:p>
        </p:txBody>
      </p:sp>
      <p:sp>
        <p:nvSpPr>
          <p:cNvPr id="6" name="Text Placeholder 5">
            <a:extLst>
              <a:ext uri="{FF2B5EF4-FFF2-40B4-BE49-F238E27FC236}">
                <a16:creationId xmlns:a16="http://schemas.microsoft.com/office/drawing/2014/main" id="{AD66C580-AA0E-488B-AC19-1B1B9ACD8228}"/>
              </a:ext>
            </a:extLst>
          </p:cNvPr>
          <p:cNvSpPr>
            <a:spLocks noGrp="1"/>
          </p:cNvSpPr>
          <p:nvPr>
            <p:ph type="body" sz="quarter" idx="52"/>
          </p:nvPr>
        </p:nvSpPr>
        <p:spPr/>
        <p:txBody>
          <a:bodyPr/>
          <a:lstStyle/>
          <a:p>
            <a:endParaRPr lang="en-US"/>
          </a:p>
        </p:txBody>
      </p:sp>
      <p:sp>
        <p:nvSpPr>
          <p:cNvPr id="7" name="Text Placeholder 6">
            <a:extLst>
              <a:ext uri="{FF2B5EF4-FFF2-40B4-BE49-F238E27FC236}">
                <a16:creationId xmlns:a16="http://schemas.microsoft.com/office/drawing/2014/main" id="{468E958B-3B6F-403C-BBF5-2029C9DC661B}"/>
              </a:ext>
            </a:extLst>
          </p:cNvPr>
          <p:cNvSpPr>
            <a:spLocks noGrp="1"/>
          </p:cNvSpPr>
          <p:nvPr>
            <p:ph type="body" sz="quarter" idx="53"/>
          </p:nvPr>
        </p:nvSpPr>
        <p:spPr/>
        <p:txBody>
          <a:bodyPr/>
          <a:lstStyle/>
          <a:p>
            <a:endParaRPr lang="en-US"/>
          </a:p>
        </p:txBody>
      </p:sp>
      <p:pic>
        <p:nvPicPr>
          <p:cNvPr id="10" name="Picture 9">
            <a:extLst>
              <a:ext uri="{FF2B5EF4-FFF2-40B4-BE49-F238E27FC236}">
                <a16:creationId xmlns:a16="http://schemas.microsoft.com/office/drawing/2014/main" id="{707EC12D-D5FF-4ADA-B10F-89A21D7F7F81}"/>
              </a:ext>
            </a:extLst>
          </p:cNvPr>
          <p:cNvPicPr>
            <a:picLocks noChangeAspect="1"/>
          </p:cNvPicPr>
          <p:nvPr/>
        </p:nvPicPr>
        <p:blipFill>
          <a:blip r:embed="rId2"/>
          <a:stretch>
            <a:fillRect/>
          </a:stretch>
        </p:blipFill>
        <p:spPr>
          <a:xfrm>
            <a:off x="3674530" y="0"/>
            <a:ext cx="8517470" cy="6858000"/>
          </a:xfrm>
          <a:prstGeom prst="rect">
            <a:avLst/>
          </a:prstGeom>
        </p:spPr>
      </p:pic>
      <p:sp>
        <p:nvSpPr>
          <p:cNvPr id="13" name="TextBox 12">
            <a:extLst>
              <a:ext uri="{FF2B5EF4-FFF2-40B4-BE49-F238E27FC236}">
                <a16:creationId xmlns:a16="http://schemas.microsoft.com/office/drawing/2014/main" id="{E29E6D12-AC7D-40B8-8551-57F887DC8823}"/>
              </a:ext>
            </a:extLst>
          </p:cNvPr>
          <p:cNvSpPr txBox="1"/>
          <p:nvPr/>
        </p:nvSpPr>
        <p:spPr>
          <a:xfrm>
            <a:off x="0" y="6275253"/>
            <a:ext cx="3674530" cy="461665"/>
          </a:xfrm>
          <a:prstGeom prst="rect">
            <a:avLst/>
          </a:prstGeom>
          <a:noFill/>
        </p:spPr>
        <p:txBody>
          <a:bodyPr wrap="square">
            <a:spAutoFit/>
          </a:bodyPr>
          <a:lstStyle/>
          <a:p>
            <a:r>
              <a:rPr lang="en-US" sz="1200" dirty="0">
                <a:solidFill>
                  <a:schemeClr val="bg1"/>
                </a:solidFill>
              </a:rPr>
              <a:t>https://www.cdc.gov/chronicdisease/resources/infographic/chronic-diseases.htm</a:t>
            </a:r>
          </a:p>
        </p:txBody>
      </p:sp>
    </p:spTree>
    <p:extLst>
      <p:ext uri="{BB962C8B-B14F-4D97-AF65-F5344CB8AC3E}">
        <p14:creationId xmlns:p14="http://schemas.microsoft.com/office/powerpoint/2010/main" val="4080504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118843" y="118211"/>
            <a:ext cx="6970579" cy="761964"/>
          </a:xfrm>
        </p:spPr>
        <p:txBody>
          <a:bodyPr/>
          <a:lstStyle/>
          <a:p>
            <a:r>
              <a:rPr lang="en-US" dirty="0"/>
              <a:t>Getting the Patient Involved</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a:xfrm>
            <a:off x="210065" y="880174"/>
            <a:ext cx="11981934" cy="5977825"/>
          </a:xfrm>
        </p:spPr>
        <p:txBody>
          <a:bodyPr/>
          <a:lstStyle/>
          <a:p>
            <a:r>
              <a:rPr lang="en-US" sz="3200" dirty="0"/>
              <a:t>“Increasing levels of literacy and development of mass media in recent years have encouraged recipients of healthcare to demand more information about their illness process and care plans.”</a:t>
            </a:r>
          </a:p>
          <a:p>
            <a:endParaRPr lang="en-US" sz="1200" dirty="0"/>
          </a:p>
          <a:p>
            <a:endParaRPr lang="en-US" sz="1000" dirty="0"/>
          </a:p>
          <a:p>
            <a:pPr marL="2063750"/>
            <a:r>
              <a:rPr lang="en-US" sz="3200" dirty="0"/>
              <a:t>Well educated patients understand and manage their own health and medical care better</a:t>
            </a:r>
          </a:p>
          <a:p>
            <a:pPr marL="2063750"/>
            <a:endParaRPr lang="en-US" sz="1050" dirty="0"/>
          </a:p>
          <a:p>
            <a:pPr marL="2063750"/>
            <a:endParaRPr lang="en-US" sz="1000" dirty="0"/>
          </a:p>
          <a:p>
            <a:pPr marL="3138488"/>
            <a:r>
              <a:rPr lang="en-US" sz="3200" dirty="0"/>
              <a:t>Education promotes patient compliance, satisfaction with care, healthy lifestyles, and self-care skills </a:t>
            </a:r>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519727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128587" y="0"/>
            <a:ext cx="10515600" cy="1115434"/>
          </a:xfrm>
        </p:spPr>
        <p:txBody>
          <a:bodyPr anchor="t">
            <a:normAutofit/>
          </a:bodyPr>
          <a:lstStyle/>
          <a:p>
            <a:r>
              <a:rPr lang="en-US" dirty="0"/>
              <a:t>What’s Included?</a:t>
            </a:r>
          </a:p>
        </p:txBody>
      </p:sp>
      <p:sp>
        <p:nvSpPr>
          <p:cNvPr id="49" name="Text Placeholder 2">
            <a:extLst>
              <a:ext uri="{FF2B5EF4-FFF2-40B4-BE49-F238E27FC236}">
                <a16:creationId xmlns:a16="http://schemas.microsoft.com/office/drawing/2014/main" id="{D975A1CF-E54E-054D-D73E-B8AD11713425}"/>
              </a:ext>
            </a:extLst>
          </p:cNvPr>
          <p:cNvSpPr>
            <a:spLocks noGrp="1"/>
          </p:cNvSpPr>
          <p:nvPr>
            <p:ph type="body" sz="quarter" idx="4294967295"/>
          </p:nvPr>
        </p:nvSpPr>
        <p:spPr>
          <a:xfrm>
            <a:off x="1" y="976184"/>
            <a:ext cx="12192000" cy="5783005"/>
          </a:xfrm>
        </p:spPr>
        <p:txBody>
          <a:bodyPr/>
          <a:lstStyle/>
          <a:p>
            <a:pPr marL="285750" indent="-285750">
              <a:buFont typeface="Arial" panose="020B0604020202020204" pitchFamily="34" charset="0"/>
              <a:buChar char="•"/>
            </a:pPr>
            <a:r>
              <a:rPr lang="en-US" sz="3600" b="1" u="sng" dirty="0"/>
              <a:t>Basic skills</a:t>
            </a:r>
          </a:p>
          <a:p>
            <a:pPr marL="285750" indent="-285750">
              <a:buFont typeface="Arial" panose="020B0604020202020204" pitchFamily="34" charset="0"/>
              <a:buChar char="•"/>
            </a:pPr>
            <a:endParaRPr lang="en-US" sz="1200" b="1" u="sng" dirty="0"/>
          </a:p>
          <a:p>
            <a:pPr marL="568325" lvl="1" indent="-285750"/>
            <a:r>
              <a:rPr lang="en-US" sz="3200" dirty="0"/>
              <a:t>Identify patient’s educational needs, information about patient’s daily activities, health beliefs, level of understanding and preferred language.</a:t>
            </a:r>
          </a:p>
          <a:p>
            <a:pPr marL="568325" lvl="1" indent="-285750"/>
            <a:endParaRPr lang="en-US" sz="600" dirty="0"/>
          </a:p>
          <a:p>
            <a:pPr marL="568325" lvl="1" indent="-285750"/>
            <a:r>
              <a:rPr lang="en-US" sz="3200" dirty="0"/>
              <a:t>Tailor education to the patient’s educational level and cultural background</a:t>
            </a:r>
          </a:p>
          <a:p>
            <a:pPr marL="568325" lvl="1" indent="-285750"/>
            <a:endParaRPr lang="en-US" sz="600" dirty="0"/>
          </a:p>
          <a:p>
            <a:pPr marL="568325" lvl="1" indent="-285750"/>
            <a:r>
              <a:rPr lang="en-US" sz="3200" dirty="0"/>
              <a:t>Encourage questions</a:t>
            </a:r>
          </a:p>
          <a:p>
            <a:pPr marL="568325" lvl="1" indent="-285750"/>
            <a:endParaRPr lang="en-US" sz="600" dirty="0"/>
          </a:p>
          <a:p>
            <a:pPr marL="568325" lvl="1" indent="-285750"/>
            <a:r>
              <a:rPr lang="en-US" sz="3200" dirty="0"/>
              <a:t>Utilize appropriate written, audiovisual, and computer-based materials</a:t>
            </a:r>
          </a:p>
          <a:p>
            <a:pPr marL="285750" indent="-285750">
              <a:buFont typeface="Arial" panose="020B0604020202020204" pitchFamily="34" charset="0"/>
              <a:buChar char="•"/>
            </a:pPr>
            <a:endParaRPr lang="en-US" sz="2800" dirty="0"/>
          </a:p>
        </p:txBody>
      </p:sp>
    </p:spTree>
    <p:extLst>
      <p:ext uri="{BB962C8B-B14F-4D97-AF65-F5344CB8AC3E}">
        <p14:creationId xmlns:p14="http://schemas.microsoft.com/office/powerpoint/2010/main" val="338574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128587" y="99303"/>
            <a:ext cx="10515600" cy="1115434"/>
          </a:xfrm>
        </p:spPr>
        <p:txBody>
          <a:bodyPr anchor="t">
            <a:normAutofit/>
          </a:bodyPr>
          <a:lstStyle/>
          <a:p>
            <a:r>
              <a:rPr lang="en-US" dirty="0"/>
              <a:t>What’s Included?</a:t>
            </a:r>
          </a:p>
        </p:txBody>
      </p:sp>
      <p:sp>
        <p:nvSpPr>
          <p:cNvPr id="49" name="Text Placeholder 2">
            <a:extLst>
              <a:ext uri="{FF2B5EF4-FFF2-40B4-BE49-F238E27FC236}">
                <a16:creationId xmlns:a16="http://schemas.microsoft.com/office/drawing/2014/main" id="{D975A1CF-E54E-054D-D73E-B8AD11713425}"/>
              </a:ext>
            </a:extLst>
          </p:cNvPr>
          <p:cNvSpPr>
            <a:spLocks noGrp="1"/>
          </p:cNvSpPr>
          <p:nvPr>
            <p:ph type="body" sz="quarter" idx="4294967295"/>
          </p:nvPr>
        </p:nvSpPr>
        <p:spPr>
          <a:xfrm>
            <a:off x="64293" y="1214737"/>
            <a:ext cx="12063413" cy="6035675"/>
          </a:xfrm>
        </p:spPr>
        <p:txBody>
          <a:bodyPr/>
          <a:lstStyle/>
          <a:p>
            <a:pPr marL="285750" indent="-285750">
              <a:buFont typeface="Arial" panose="020B0604020202020204" pitchFamily="34" charset="0"/>
              <a:buChar char="•"/>
            </a:pPr>
            <a:r>
              <a:rPr lang="en-US" sz="3200" b="1" u="sng" dirty="0"/>
              <a:t>Short-term plans for acute illness</a:t>
            </a:r>
          </a:p>
          <a:p>
            <a:pPr marL="285750" indent="-285750">
              <a:buFont typeface="Arial" panose="020B0604020202020204" pitchFamily="34" charset="0"/>
              <a:buChar char="•"/>
            </a:pPr>
            <a:endParaRPr lang="en-US" sz="1600" b="1" u="sng" dirty="0"/>
          </a:p>
          <a:p>
            <a:pPr marL="971550" lvl="1" indent="-285750"/>
            <a:r>
              <a:rPr lang="en-US" sz="2800" dirty="0"/>
              <a:t>Prepare patient for symptoms and effects of condition, examination, and/or treatment.</a:t>
            </a:r>
          </a:p>
          <a:p>
            <a:pPr marL="971550" lvl="1" indent="-285750"/>
            <a:endParaRPr lang="en-US" sz="800" dirty="0"/>
          </a:p>
          <a:p>
            <a:pPr marL="971550" lvl="1" indent="-285750"/>
            <a:r>
              <a:rPr lang="en-US" sz="2800" dirty="0"/>
              <a:t>Assess patient’s ability to carry out treatment plan; identify barriers and personalize treatment accordingly</a:t>
            </a:r>
          </a:p>
          <a:p>
            <a:pPr marL="971550" lvl="1" indent="-285750"/>
            <a:endParaRPr lang="en-US" sz="800" dirty="0"/>
          </a:p>
          <a:p>
            <a:pPr marL="971550" lvl="1" indent="-285750"/>
            <a:r>
              <a:rPr lang="en-US" sz="2800" dirty="0"/>
              <a:t>Assess patient’s understanding of the education by having them restate the treatment plan</a:t>
            </a:r>
          </a:p>
          <a:p>
            <a:pPr marL="971550" lvl="1" indent="-285750"/>
            <a:endParaRPr lang="en-US" sz="800" dirty="0"/>
          </a:p>
          <a:p>
            <a:pPr marL="971550" lvl="1" indent="-285750"/>
            <a:r>
              <a:rPr lang="en-US" sz="2800" dirty="0"/>
              <a:t>Document educational efforts in specific terms in the record</a:t>
            </a:r>
          </a:p>
        </p:txBody>
      </p:sp>
    </p:spTree>
    <p:extLst>
      <p:ext uri="{BB962C8B-B14F-4D97-AF65-F5344CB8AC3E}">
        <p14:creationId xmlns:p14="http://schemas.microsoft.com/office/powerpoint/2010/main" val="98053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0" y="79203"/>
            <a:ext cx="10515600" cy="1115434"/>
          </a:xfrm>
        </p:spPr>
        <p:txBody>
          <a:bodyPr anchor="t">
            <a:normAutofit/>
          </a:bodyPr>
          <a:lstStyle/>
          <a:p>
            <a:r>
              <a:rPr lang="en-US" dirty="0"/>
              <a:t>What’s Included?</a:t>
            </a:r>
          </a:p>
        </p:txBody>
      </p:sp>
      <p:sp>
        <p:nvSpPr>
          <p:cNvPr id="49" name="Text Placeholder 2">
            <a:extLst>
              <a:ext uri="{FF2B5EF4-FFF2-40B4-BE49-F238E27FC236}">
                <a16:creationId xmlns:a16="http://schemas.microsoft.com/office/drawing/2014/main" id="{D975A1CF-E54E-054D-D73E-B8AD11713425}"/>
              </a:ext>
            </a:extLst>
          </p:cNvPr>
          <p:cNvSpPr>
            <a:spLocks noGrp="1"/>
          </p:cNvSpPr>
          <p:nvPr>
            <p:ph type="body" sz="quarter" idx="4294967295"/>
          </p:nvPr>
        </p:nvSpPr>
        <p:spPr>
          <a:xfrm>
            <a:off x="0" y="926757"/>
            <a:ext cx="12192000" cy="6469191"/>
          </a:xfrm>
        </p:spPr>
        <p:txBody>
          <a:bodyPr/>
          <a:lstStyle/>
          <a:p>
            <a:pPr marL="457200" indent="-457200">
              <a:buFont typeface="Arial" panose="020B0604020202020204" pitchFamily="34" charset="0"/>
              <a:buChar char="•"/>
            </a:pPr>
            <a:r>
              <a:rPr lang="en-US" sz="3600" b="1" u="sng" dirty="0"/>
              <a:t>Long-term strategies for chronic disease</a:t>
            </a:r>
          </a:p>
          <a:p>
            <a:pPr marL="457200" indent="-457200">
              <a:buFont typeface="Arial" panose="020B0604020202020204" pitchFamily="34" charset="0"/>
              <a:buChar char="•"/>
            </a:pPr>
            <a:endParaRPr lang="en-US" sz="1200" b="1" u="sng" dirty="0"/>
          </a:p>
          <a:p>
            <a:pPr marL="852488" lvl="1" indent="-457200"/>
            <a:r>
              <a:rPr lang="en-US" sz="3200" dirty="0"/>
              <a:t>Provide patient with understandable explanation of their disease state and what that means for them.</a:t>
            </a:r>
          </a:p>
          <a:p>
            <a:pPr marL="852488" lvl="1" indent="-457200"/>
            <a:endParaRPr lang="en-US" sz="1200" dirty="0"/>
          </a:p>
          <a:p>
            <a:pPr marL="852488" lvl="1" indent="-457200"/>
            <a:r>
              <a:rPr lang="en-US" sz="3200" dirty="0"/>
              <a:t>Involve patient in setting treatment goals and the treatment plan</a:t>
            </a:r>
          </a:p>
          <a:p>
            <a:pPr marL="852488" lvl="1" indent="-457200">
              <a:buNone/>
            </a:pPr>
            <a:endParaRPr lang="en-US" sz="900" dirty="0"/>
          </a:p>
          <a:p>
            <a:pPr marL="852488" lvl="1" indent="-457200"/>
            <a:r>
              <a:rPr lang="en-US" sz="3200" dirty="0"/>
              <a:t>Provide opportunities for patient to discuss feelings</a:t>
            </a:r>
          </a:p>
          <a:p>
            <a:pPr marL="852488" lvl="1" indent="-457200">
              <a:buNone/>
            </a:pPr>
            <a:endParaRPr lang="en-US" sz="900" dirty="0"/>
          </a:p>
          <a:p>
            <a:pPr marL="852488" lvl="1" indent="-457200"/>
            <a:r>
              <a:rPr lang="en-US" sz="3200" dirty="0"/>
              <a:t>Assess patient's background, home and work environment and adapt education and plan accordingly</a:t>
            </a:r>
          </a:p>
          <a:p>
            <a:pPr marL="852488" lvl="1" indent="-457200"/>
            <a:endParaRPr lang="en-US" sz="900" dirty="0"/>
          </a:p>
          <a:p>
            <a:pPr marL="852488" lvl="1" indent="-457200"/>
            <a:r>
              <a:rPr lang="en-US" sz="3200" dirty="0"/>
              <a:t>Document educational efforts in specific terms in the record</a:t>
            </a:r>
            <a:endParaRPr lang="en-US" sz="2400" dirty="0"/>
          </a:p>
        </p:txBody>
      </p:sp>
    </p:spTree>
    <p:extLst>
      <p:ext uri="{BB962C8B-B14F-4D97-AF65-F5344CB8AC3E}">
        <p14:creationId xmlns:p14="http://schemas.microsoft.com/office/powerpoint/2010/main" val="233712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a:xfrm>
            <a:off x="0" y="0"/>
            <a:ext cx="10515600" cy="1115434"/>
          </a:xfrm>
        </p:spPr>
        <p:txBody>
          <a:bodyPr anchor="t">
            <a:normAutofit/>
          </a:bodyPr>
          <a:lstStyle/>
          <a:p>
            <a:r>
              <a:rPr lang="en-US" dirty="0"/>
              <a:t>What’s Included?</a:t>
            </a:r>
          </a:p>
        </p:txBody>
      </p:sp>
      <p:sp>
        <p:nvSpPr>
          <p:cNvPr id="49" name="Text Placeholder 2">
            <a:extLst>
              <a:ext uri="{FF2B5EF4-FFF2-40B4-BE49-F238E27FC236}">
                <a16:creationId xmlns:a16="http://schemas.microsoft.com/office/drawing/2014/main" id="{D975A1CF-E54E-054D-D73E-B8AD11713425}"/>
              </a:ext>
            </a:extLst>
          </p:cNvPr>
          <p:cNvSpPr>
            <a:spLocks noGrp="1"/>
          </p:cNvSpPr>
          <p:nvPr>
            <p:ph type="body" sz="quarter" idx="4294967295"/>
          </p:nvPr>
        </p:nvSpPr>
        <p:spPr>
          <a:xfrm>
            <a:off x="0" y="877974"/>
            <a:ext cx="12192000" cy="6091237"/>
          </a:xfrm>
        </p:spPr>
        <p:txBody>
          <a:bodyPr/>
          <a:lstStyle/>
          <a:p>
            <a:pPr marL="457200" indent="-457200">
              <a:buFont typeface="Arial" panose="020B0604020202020204" pitchFamily="34" charset="0"/>
              <a:buChar char="•"/>
            </a:pPr>
            <a:r>
              <a:rPr lang="en-US" sz="3200" b="1" u="sng" dirty="0"/>
              <a:t>Health promotion</a:t>
            </a:r>
          </a:p>
          <a:p>
            <a:pPr marL="971550" lvl="1" indent="-285750"/>
            <a:r>
              <a:rPr lang="en-US" sz="2300" dirty="0"/>
              <a:t>Determine patient’s health-risk behaviors</a:t>
            </a:r>
          </a:p>
          <a:p>
            <a:pPr marL="971550" lvl="1" indent="-285750"/>
            <a:r>
              <a:rPr lang="en-US" sz="2300" dirty="0"/>
              <a:t>Introduce health promoting topics, assessing patient’s priorities and readiness to change health-related behaviors</a:t>
            </a:r>
          </a:p>
          <a:p>
            <a:pPr marL="971550" lvl="1" indent="-285750"/>
            <a:r>
              <a:rPr lang="en-US" sz="2300" dirty="0"/>
              <a:t>Motivational interviewing</a:t>
            </a:r>
          </a:p>
          <a:p>
            <a:pPr marL="971550" lvl="1" indent="-285750"/>
            <a:r>
              <a:rPr lang="en-US" sz="2300" dirty="0"/>
              <a:t>Enlist assistance of other health care professionals (nutritionist, nurses, athletic trainers)</a:t>
            </a:r>
          </a:p>
          <a:p>
            <a:pPr lvl="1" indent="0">
              <a:buNone/>
            </a:pPr>
            <a:endParaRPr lang="en-US" sz="2300" dirty="0"/>
          </a:p>
          <a:p>
            <a:pPr marL="285750" indent="-285750">
              <a:buFont typeface="Arial" panose="020B0604020202020204" pitchFamily="34" charset="0"/>
              <a:buChar char="•"/>
            </a:pPr>
            <a:r>
              <a:rPr lang="en-US" sz="3200" b="1" u="sng" dirty="0"/>
              <a:t>Incorporation of patient education in practice</a:t>
            </a:r>
          </a:p>
          <a:p>
            <a:pPr marL="971550" lvl="1" indent="-285750"/>
            <a:r>
              <a:rPr lang="en-US" sz="2300" dirty="0"/>
              <a:t>Evaluate commercial education resources, such as brochures, books, and internet materials</a:t>
            </a:r>
          </a:p>
          <a:p>
            <a:pPr marL="971550" lvl="1" indent="-285750"/>
            <a:r>
              <a:rPr lang="en-US" sz="2300" dirty="0"/>
              <a:t>Develop systems to involve office staff in assisting with patient education</a:t>
            </a:r>
          </a:p>
          <a:p>
            <a:pPr marL="971550" lvl="1" indent="-285750"/>
            <a:r>
              <a:rPr lang="en-US" sz="2300" dirty="0"/>
              <a:t>Utilize family conferences when appropriate</a:t>
            </a:r>
          </a:p>
          <a:p>
            <a:pPr marL="971550" lvl="1" indent="-285750"/>
            <a:r>
              <a:rPr lang="en-US" sz="2300" dirty="0"/>
              <a:t>Be aware of emerging technologies</a:t>
            </a:r>
          </a:p>
        </p:txBody>
      </p:sp>
    </p:spTree>
    <p:extLst>
      <p:ext uri="{BB962C8B-B14F-4D97-AF65-F5344CB8AC3E}">
        <p14:creationId xmlns:p14="http://schemas.microsoft.com/office/powerpoint/2010/main" val="3190321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2977979" y="0"/>
            <a:ext cx="8044248" cy="921401"/>
          </a:xfrm>
        </p:spPr>
        <p:txBody>
          <a:bodyPr/>
          <a:lstStyle/>
          <a:p>
            <a:r>
              <a:rPr lang="en-US" dirty="0"/>
              <a:t>Things to keep in mind:</a:t>
            </a:r>
          </a:p>
        </p:txBody>
      </p:sp>
      <p:pic>
        <p:nvPicPr>
          <p:cNvPr id="26" name="图片占位符 25">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a:srcRect/>
          <a:stretch/>
        </p:blipFill>
        <p:spPr>
          <a:xfrm>
            <a:off x="1915523" y="2289528"/>
            <a:ext cx="1886360" cy="2095500"/>
          </a:xfrm>
          <a:solidFill>
            <a:srgbClr val="446992"/>
          </a:solidFill>
        </p:spPr>
      </p:pic>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a:xfrm>
            <a:off x="3801883" y="921401"/>
            <a:ext cx="8153051" cy="5754965"/>
          </a:xfrm>
        </p:spPr>
        <p:txBody>
          <a:bodyPr/>
          <a:lstStyle/>
          <a:p>
            <a:pPr marL="457200" indent="-457200">
              <a:buFont typeface="Arial" panose="020B0604020202020204" pitchFamily="34" charset="0"/>
              <a:buChar char="•"/>
            </a:pPr>
            <a:r>
              <a:rPr lang="en-US" sz="3200" dirty="0"/>
              <a:t>Because patients pay more for healthcare services, demand for high-quality care has increased</a:t>
            </a:r>
          </a:p>
          <a:p>
            <a:pPr marL="457200" indent="-457200">
              <a:buFont typeface="Arial" panose="020B0604020202020204" pitchFamily="34" charset="0"/>
              <a:buChar char="•"/>
            </a:pPr>
            <a:endParaRPr lang="en-US" sz="1000" dirty="0"/>
          </a:p>
          <a:p>
            <a:pPr marL="457200" indent="-457200">
              <a:buFont typeface="Arial" panose="020B0604020202020204" pitchFamily="34" charset="0"/>
              <a:buChar char="•"/>
            </a:pPr>
            <a:r>
              <a:rPr lang="en-US" sz="3200" dirty="0"/>
              <a:t>“Every $1.00 spent on patient education on health-promoting behaviors is estimated to save as much as $3.00–$4.00 in healthcare costs.”</a:t>
            </a:r>
          </a:p>
          <a:p>
            <a:pPr marL="457200" indent="-457200">
              <a:buFont typeface="Arial" panose="020B0604020202020204" pitchFamily="34" charset="0"/>
              <a:buChar char="•"/>
            </a:pPr>
            <a:endParaRPr lang="en-US" sz="1000" dirty="0"/>
          </a:p>
          <a:p>
            <a:pPr marL="457200" indent="-457200">
              <a:buFont typeface="Arial" panose="020B0604020202020204" pitchFamily="34" charset="0"/>
              <a:buChar char="•"/>
            </a:pPr>
            <a:r>
              <a:rPr lang="en-US" sz="3200" dirty="0"/>
              <a:t>“In the United States, about USD $69–100 million is spent on problems that are caused by lack of education.”</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zh-CN" altLang="en-US" sz="1200" u="none" strike="noStrike" kern="1200" cap="none" spc="0" normalizeH="0" baseline="0" noProof="0" dirty="0">
              <a:ln>
                <a:noFill/>
              </a:ln>
              <a:solidFill>
                <a:schemeClr val="bg1"/>
              </a:solidFill>
              <a:effectLst/>
              <a:uLnTx/>
              <a:uFillTx/>
            </a:endParaRPr>
          </a:p>
        </p:txBody>
      </p:sp>
      <p:sp>
        <p:nvSpPr>
          <p:cNvPr id="3" name="TextBox 2">
            <a:extLst>
              <a:ext uri="{FF2B5EF4-FFF2-40B4-BE49-F238E27FC236}">
                <a16:creationId xmlns:a16="http://schemas.microsoft.com/office/drawing/2014/main" id="{4B60A20A-03AC-4098-A934-615E954E8774}"/>
              </a:ext>
            </a:extLst>
          </p:cNvPr>
          <p:cNvSpPr txBox="1"/>
          <p:nvPr/>
        </p:nvSpPr>
        <p:spPr>
          <a:xfrm>
            <a:off x="4219157" y="6257624"/>
            <a:ext cx="6031832" cy="646331"/>
          </a:xfrm>
          <a:prstGeom prst="rect">
            <a:avLst/>
          </a:prstGeom>
        </p:spPr>
        <p:txBody>
          <a:bodyPr wrap="square" rtlCol="0">
            <a:spAutoFit/>
          </a:bodyPr>
          <a:lstStyle/>
          <a:p>
            <a:pPr algn="ctr"/>
            <a:r>
              <a:rPr lang="en-US" dirty="0">
                <a:solidFill>
                  <a:schemeClr val="bg1"/>
                </a:solidFill>
              </a:rPr>
              <a:t>https://www.ncbi.nlm.nih.gov/pmc/articles/PMC6369867/</a:t>
            </a: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1823220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2681416" y="1"/>
            <a:ext cx="9510584" cy="1341530"/>
          </a:xfrm>
        </p:spPr>
        <p:txBody>
          <a:bodyPr/>
          <a:lstStyle/>
          <a:p>
            <a:r>
              <a:rPr lang="en-US" dirty="0"/>
              <a:t>Places to practice how to give patient education this year:</a:t>
            </a:r>
          </a:p>
        </p:txBody>
      </p:sp>
      <p:pic>
        <p:nvPicPr>
          <p:cNvPr id="26" name="图片占位符 25">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a:srcRect/>
          <a:stretch/>
        </p:blipFill>
        <p:spPr>
          <a:xfrm>
            <a:off x="1915523" y="2289528"/>
            <a:ext cx="1886360" cy="2095500"/>
          </a:xfrm>
          <a:solidFill>
            <a:srgbClr val="446992"/>
          </a:solidFill>
        </p:spPr>
      </p:pic>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a:xfrm>
            <a:off x="3801883" y="1631092"/>
            <a:ext cx="8153051" cy="5045274"/>
          </a:xfrm>
        </p:spPr>
        <p:txBody>
          <a:bodyPr/>
          <a:lstStyle/>
          <a:p>
            <a:pPr marL="457200" indent="-457200">
              <a:buFont typeface="Arial" panose="020B0604020202020204" pitchFamily="34" charset="0"/>
              <a:buChar char="•"/>
            </a:pPr>
            <a:r>
              <a:rPr lang="en-US" sz="4000" dirty="0"/>
              <a:t>Ideas (not all-inclusive list)</a:t>
            </a:r>
          </a:p>
          <a:p>
            <a:pPr marL="1143000" lvl="1" indent="-457200"/>
            <a:r>
              <a:rPr lang="en-US" sz="3600" dirty="0"/>
              <a:t>H&amp;P practice</a:t>
            </a:r>
          </a:p>
          <a:p>
            <a:pPr marL="1143000" lvl="1" indent="-457200"/>
            <a:r>
              <a:rPr lang="en-US" sz="3600" dirty="0"/>
              <a:t>OSCEs</a:t>
            </a:r>
          </a:p>
          <a:p>
            <a:pPr marL="1143000" lvl="1" indent="-457200"/>
            <a:r>
              <a:rPr lang="en-US" sz="3600" dirty="0"/>
              <a:t>Documentation days</a:t>
            </a:r>
          </a:p>
          <a:p>
            <a:pPr marL="1143000" lvl="1" indent="-457200"/>
            <a:r>
              <a:rPr lang="en-US" sz="3600" dirty="0"/>
              <a:t>Application sessions</a:t>
            </a:r>
          </a:p>
          <a:p>
            <a:pPr marL="1143000" lvl="1" indent="-457200"/>
            <a:r>
              <a:rPr lang="en-US" sz="3600" dirty="0"/>
              <a:t>Studying with classmates</a:t>
            </a:r>
          </a:p>
          <a:p>
            <a:pPr marL="1143000" lvl="1" indent="-457200"/>
            <a:r>
              <a:rPr lang="en-US" sz="3600" dirty="0"/>
              <a:t>Helping out family members</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558649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A9173-F892-5C7D-99AF-4C5FFB1532B4}"/>
              </a:ext>
            </a:extLst>
          </p:cNvPr>
          <p:cNvSpPr>
            <a:spLocks noGrp="1"/>
          </p:cNvSpPr>
          <p:nvPr>
            <p:ph type="title"/>
          </p:nvPr>
        </p:nvSpPr>
        <p:spPr>
          <a:xfrm>
            <a:off x="1256787" y="2774092"/>
            <a:ext cx="4430949" cy="1309816"/>
          </a:xfrm>
        </p:spPr>
        <p:txBody>
          <a:bodyPr/>
          <a:lstStyle/>
          <a:p>
            <a:pPr algn="ctr"/>
            <a:r>
              <a:rPr lang="en-US" altLang="zh-CN" dirty="0"/>
              <a:t>The Importance of Follow Up</a:t>
            </a:r>
            <a:endParaRPr lang="en-US" dirty="0"/>
          </a:p>
        </p:txBody>
      </p:sp>
      <p:pic>
        <p:nvPicPr>
          <p:cNvPr id="38" name="Picture Placeholder 37">
            <a:extLst>
              <a:ext uri="{FF2B5EF4-FFF2-40B4-BE49-F238E27FC236}">
                <a16:creationId xmlns:a16="http://schemas.microsoft.com/office/drawing/2014/main" id="{4162880A-4A88-ED9F-357E-65638ED8BB0C}"/>
              </a:ext>
            </a:extLst>
          </p:cNvPr>
          <p:cNvPicPr>
            <a:picLocks noGrp="1" noChangeAspect="1"/>
          </p:cNvPicPr>
          <p:nvPr>
            <p:ph type="pic" sz="quarter" idx="48"/>
          </p:nvPr>
        </p:nvPicPr>
        <p:blipFill rotWithShape="1">
          <a:blip r:embed="rId2"/>
          <a:srcRect b="6250"/>
          <a:stretch/>
        </p:blipFill>
        <p:spPr>
          <a:xfrm>
            <a:off x="7493157" y="840259"/>
            <a:ext cx="4248873" cy="3521879"/>
          </a:xfrm>
        </p:spPr>
      </p:pic>
      <p:pic>
        <p:nvPicPr>
          <p:cNvPr id="39" name="图片占位符 31">
            <a:extLst>
              <a:ext uri="{FF2B5EF4-FFF2-40B4-BE49-F238E27FC236}">
                <a16:creationId xmlns:a16="http://schemas.microsoft.com/office/drawing/2014/main" id="{6037332D-8714-C147-6E64-3654D8C57839}"/>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8" name="Slide Number Placeholder 13">
            <a:extLst>
              <a:ext uri="{FF2B5EF4-FFF2-40B4-BE49-F238E27FC236}">
                <a16:creationId xmlns:a16="http://schemas.microsoft.com/office/drawing/2014/main" id="{965C5ABF-DCA7-6790-2E26-EE57DCD6490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4157533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89BF-DD36-48F7-A3B6-B53A8C418FD6}"/>
              </a:ext>
            </a:extLst>
          </p:cNvPr>
          <p:cNvSpPr>
            <a:spLocks noGrp="1"/>
          </p:cNvSpPr>
          <p:nvPr>
            <p:ph type="title"/>
          </p:nvPr>
        </p:nvSpPr>
        <p:spPr>
          <a:xfrm>
            <a:off x="631767" y="2610"/>
            <a:ext cx="11022677" cy="942432"/>
          </a:xfrm>
        </p:spPr>
        <p:txBody>
          <a:bodyPr anchor="ctr">
            <a:normAutofit/>
          </a:bodyPr>
          <a:lstStyle/>
          <a:p>
            <a:pPr algn="ctr"/>
            <a:r>
              <a:rPr lang="en-US" u="sng" dirty="0"/>
              <a:t>Patient Follow Up</a:t>
            </a:r>
          </a:p>
        </p:txBody>
      </p:sp>
      <p:sp>
        <p:nvSpPr>
          <p:cNvPr id="3" name="Text Placeholder 2">
            <a:extLst>
              <a:ext uri="{FF2B5EF4-FFF2-40B4-BE49-F238E27FC236}">
                <a16:creationId xmlns:a16="http://schemas.microsoft.com/office/drawing/2014/main" id="{0635EF95-5BB2-4AC8-BC07-A099C47D3121}"/>
              </a:ext>
            </a:extLst>
          </p:cNvPr>
          <p:cNvSpPr>
            <a:spLocks noGrp="1"/>
          </p:cNvSpPr>
          <p:nvPr>
            <p:ph idx="1"/>
          </p:nvPr>
        </p:nvSpPr>
        <p:spPr>
          <a:xfrm>
            <a:off x="209862" y="1064303"/>
            <a:ext cx="11857219" cy="5621310"/>
          </a:xfrm>
        </p:spPr>
        <p:txBody>
          <a:bodyPr>
            <a:normAutofit/>
          </a:bodyPr>
          <a:lstStyle/>
          <a:p>
            <a:pPr marL="457200" indent="-457200">
              <a:buFont typeface="Arial" panose="020B0604020202020204" pitchFamily="34" charset="0"/>
              <a:buChar char="•"/>
            </a:pPr>
            <a:r>
              <a:rPr lang="en-US" sz="3200" dirty="0"/>
              <a:t>Follow up should be a core topic </a:t>
            </a:r>
            <a:r>
              <a:rPr lang="en-US" sz="3200" i="1" dirty="0"/>
              <a:t>discussed at the end of every medical encounter</a:t>
            </a:r>
            <a:r>
              <a:rPr lang="en-US" sz="3200" dirty="0"/>
              <a:t>.</a:t>
            </a:r>
          </a:p>
          <a:p>
            <a:pPr marL="457200" indent="-457200">
              <a:buFont typeface="Arial" panose="020B0604020202020204" pitchFamily="34" charset="0"/>
              <a:buChar char="•"/>
            </a:pPr>
            <a:endParaRPr lang="en-US" sz="1600" dirty="0"/>
          </a:p>
          <a:p>
            <a:pPr marL="457200" indent="-457200">
              <a:buFont typeface="Arial" panose="020B0604020202020204" pitchFamily="34" charset="0"/>
              <a:buChar char="•"/>
            </a:pPr>
            <a:r>
              <a:rPr lang="en-US" sz="3200" dirty="0"/>
              <a:t>Can help provider identify areas of misunderstanding, answer questions, make further assessments, and adjust treatments.</a:t>
            </a:r>
          </a:p>
          <a:p>
            <a:pPr marL="457200" indent="-457200">
              <a:buFont typeface="Arial" panose="020B0604020202020204" pitchFamily="34" charset="0"/>
              <a:buChar char="•"/>
            </a:pPr>
            <a:endParaRPr lang="en-US" sz="1600" dirty="0"/>
          </a:p>
          <a:p>
            <a:pPr marL="457200" indent="-457200">
              <a:buFont typeface="Arial" panose="020B0604020202020204" pitchFamily="34" charset="0"/>
              <a:buChar char="•"/>
            </a:pPr>
            <a:r>
              <a:rPr lang="en-US" sz="3200" dirty="0"/>
              <a:t>Follow up also helps promote a good relationship between provider and patient.</a:t>
            </a:r>
          </a:p>
          <a:p>
            <a:pPr marL="457200" indent="-457200">
              <a:buFont typeface="Arial" panose="020B0604020202020204" pitchFamily="34" charset="0"/>
              <a:buChar char="•"/>
            </a:pPr>
            <a:endParaRPr lang="en-US" sz="1600" dirty="0"/>
          </a:p>
          <a:p>
            <a:pPr marL="457200" indent="-457200">
              <a:buFont typeface="Arial" panose="020B0604020202020204" pitchFamily="34" charset="0"/>
              <a:buChar char="•"/>
            </a:pPr>
            <a:r>
              <a:rPr lang="en-US" sz="3200" dirty="0"/>
              <a:t>Appropriate follow up has been shown to </a:t>
            </a:r>
            <a:r>
              <a:rPr lang="en-US" sz="3200" b="1" u="sng" dirty="0"/>
              <a:t>help reduce risk of readmission</a:t>
            </a:r>
            <a:r>
              <a:rPr lang="en-US" sz="3200" dirty="0"/>
              <a:t> to the hospital.</a:t>
            </a:r>
          </a:p>
        </p:txBody>
      </p:sp>
    </p:spTree>
    <p:extLst>
      <p:ext uri="{BB962C8B-B14F-4D97-AF65-F5344CB8AC3E}">
        <p14:creationId xmlns:p14="http://schemas.microsoft.com/office/powerpoint/2010/main" val="878032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89BF-DD36-48F7-A3B6-B53A8C418FD6}"/>
              </a:ext>
            </a:extLst>
          </p:cNvPr>
          <p:cNvSpPr>
            <a:spLocks noGrp="1"/>
          </p:cNvSpPr>
          <p:nvPr>
            <p:ph type="title"/>
          </p:nvPr>
        </p:nvSpPr>
        <p:spPr>
          <a:xfrm>
            <a:off x="587829" y="0"/>
            <a:ext cx="10515600" cy="1115434"/>
          </a:xfrm>
        </p:spPr>
        <p:txBody>
          <a:bodyPr/>
          <a:lstStyle/>
          <a:p>
            <a:pPr algn="ctr"/>
            <a:r>
              <a:rPr lang="en-US" sz="4400" u="sng" dirty="0"/>
              <a:t>Patient Follow Up</a:t>
            </a:r>
          </a:p>
        </p:txBody>
      </p:sp>
      <p:sp>
        <p:nvSpPr>
          <p:cNvPr id="3" name="Text Placeholder 2">
            <a:extLst>
              <a:ext uri="{FF2B5EF4-FFF2-40B4-BE49-F238E27FC236}">
                <a16:creationId xmlns:a16="http://schemas.microsoft.com/office/drawing/2014/main" id="{0635EF95-5BB2-4AC8-BC07-A099C47D3121}"/>
              </a:ext>
            </a:extLst>
          </p:cNvPr>
          <p:cNvSpPr>
            <a:spLocks noGrp="1"/>
          </p:cNvSpPr>
          <p:nvPr>
            <p:ph type="body" sz="quarter" idx="4294967295"/>
          </p:nvPr>
        </p:nvSpPr>
        <p:spPr>
          <a:xfrm>
            <a:off x="0" y="1074738"/>
            <a:ext cx="12192000" cy="5783262"/>
          </a:xfrm>
        </p:spPr>
        <p:txBody>
          <a:bodyPr/>
          <a:lstStyle/>
          <a:p>
            <a:pPr marL="457200" indent="-457200">
              <a:buFont typeface="Arial" panose="020B0604020202020204" pitchFamily="34" charset="0"/>
              <a:buChar char="•"/>
            </a:pPr>
            <a:r>
              <a:rPr lang="en-US" sz="3600" dirty="0">
                <a:solidFill>
                  <a:schemeClr val="bg1"/>
                </a:solidFill>
              </a:rPr>
              <a:t>Timing of follow up should be thought of on a spectrum based on:</a:t>
            </a:r>
          </a:p>
          <a:p>
            <a:pPr marL="1143000" lvl="1" indent="-457200"/>
            <a:r>
              <a:rPr lang="en-US" sz="3200" dirty="0">
                <a:solidFill>
                  <a:schemeClr val="bg1"/>
                </a:solidFill>
              </a:rPr>
              <a:t>The medical environment the patient is in</a:t>
            </a:r>
          </a:p>
          <a:p>
            <a:pPr marL="1143000" lvl="1" indent="-457200"/>
            <a:r>
              <a:rPr lang="en-US" sz="3200" dirty="0"/>
              <a:t>The c</a:t>
            </a:r>
            <a:r>
              <a:rPr lang="en-US" sz="3200" dirty="0">
                <a:solidFill>
                  <a:schemeClr val="bg1"/>
                </a:solidFill>
              </a:rPr>
              <a:t>onditions they have</a:t>
            </a:r>
            <a:endParaRPr lang="en-US" sz="3200" dirty="0"/>
          </a:p>
          <a:p>
            <a:pPr marL="1143000" lvl="1" indent="-457200"/>
            <a:r>
              <a:rPr lang="en-US" sz="3200" dirty="0"/>
              <a:t>T</a:t>
            </a:r>
            <a:r>
              <a:rPr lang="en-US" sz="3200" dirty="0">
                <a:solidFill>
                  <a:schemeClr val="bg1"/>
                </a:solidFill>
              </a:rPr>
              <a:t>he type of follow up that is needed</a:t>
            </a:r>
          </a:p>
          <a:p>
            <a:pPr marL="457200" indent="-457200">
              <a:buFont typeface="Arial" panose="020B0604020202020204" pitchFamily="34" charset="0"/>
              <a:buChar char="•"/>
            </a:pPr>
            <a:endParaRPr lang="en-US" sz="1800" dirty="0">
              <a:solidFill>
                <a:schemeClr val="bg1"/>
              </a:solidFill>
            </a:endParaRPr>
          </a:p>
          <a:p>
            <a:pPr marL="457200" indent="-457200">
              <a:buFont typeface="Arial" panose="020B0604020202020204" pitchFamily="34" charset="0"/>
              <a:buChar char="•"/>
            </a:pPr>
            <a:r>
              <a:rPr lang="en-US" sz="3200" dirty="0">
                <a:solidFill>
                  <a:schemeClr val="bg1"/>
                </a:solidFill>
              </a:rPr>
              <a:t>Patients need </a:t>
            </a:r>
            <a:r>
              <a:rPr lang="en-US" sz="3200" u="sng" dirty="0">
                <a:solidFill>
                  <a:schemeClr val="bg1"/>
                </a:solidFill>
              </a:rPr>
              <a:t>specific</a:t>
            </a:r>
            <a:r>
              <a:rPr lang="en-US" sz="3200" dirty="0">
                <a:solidFill>
                  <a:schemeClr val="bg1"/>
                </a:solidFill>
              </a:rPr>
              <a:t> instructions on when, where, and why they need to seek follow up care.</a:t>
            </a:r>
          </a:p>
          <a:p>
            <a:pPr marL="457200" indent="-457200">
              <a:buFont typeface="Arial" panose="020B0604020202020204" pitchFamily="34" charset="0"/>
              <a:buChar char="•"/>
            </a:pPr>
            <a:r>
              <a:rPr lang="en-US" sz="3200" dirty="0">
                <a:solidFill>
                  <a:schemeClr val="bg1"/>
                </a:solidFill>
              </a:rPr>
              <a:t>Identify who the patient will follow up with and how (i.e. the format of the follow up- office visit, phone, </a:t>
            </a:r>
            <a:r>
              <a:rPr lang="en-US" sz="3200" dirty="0"/>
              <a:t>M</a:t>
            </a:r>
            <a:r>
              <a:rPr lang="en-US" sz="3200" dirty="0">
                <a:solidFill>
                  <a:schemeClr val="bg1"/>
                </a:solidFill>
              </a:rPr>
              <a:t>yChart</a:t>
            </a:r>
            <a:r>
              <a:rPr lang="en-US" sz="3200" dirty="0"/>
              <a:t>))</a:t>
            </a:r>
            <a:r>
              <a:rPr lang="en-US" sz="3200" dirty="0">
                <a:solidFill>
                  <a:schemeClr val="bg1"/>
                </a:solidFill>
              </a:rPr>
              <a:t> </a:t>
            </a:r>
            <a:endParaRPr lang="en-US" sz="3000" dirty="0">
              <a:solidFill>
                <a:schemeClr val="bg1"/>
              </a:solidFill>
            </a:endParaRPr>
          </a:p>
        </p:txBody>
      </p:sp>
    </p:spTree>
    <p:extLst>
      <p:ext uri="{BB962C8B-B14F-4D97-AF65-F5344CB8AC3E}">
        <p14:creationId xmlns:p14="http://schemas.microsoft.com/office/powerpoint/2010/main" val="3730229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1066543" y="-31926"/>
            <a:ext cx="10515600" cy="1115434"/>
          </a:xfrm>
        </p:spPr>
        <p:txBody>
          <a:bodyPr/>
          <a:lstStyle/>
          <a:p>
            <a:r>
              <a:rPr lang="en-US" dirty="0"/>
              <a:t>Patient Follow Up – Inpatient Discharge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0" y="1083507"/>
            <a:ext cx="12192000" cy="5774493"/>
          </a:xfrm>
        </p:spPr>
        <p:txBody>
          <a:bodyPr/>
          <a:lstStyle/>
          <a:p>
            <a:pPr marL="0" indent="0">
              <a:buNone/>
            </a:pPr>
            <a:r>
              <a:rPr lang="en-US" sz="3200" b="1" u="sng" dirty="0"/>
              <a:t>Inpatient environment</a:t>
            </a:r>
          </a:p>
          <a:p>
            <a:pPr marL="395288" lvl="1"/>
            <a:r>
              <a:rPr lang="en-US" sz="2800" dirty="0"/>
              <a:t>Typically recommends follow up in 1 week with PCP post hospital stay</a:t>
            </a:r>
          </a:p>
          <a:p>
            <a:pPr marL="852488" lvl="3"/>
            <a:r>
              <a:rPr lang="en-US" sz="2700" dirty="0"/>
              <a:t>Exceptions: Inpatient warfarin initiation, uncommon/challenging med changes have recommendation for sooner follow up with PCP</a:t>
            </a:r>
          </a:p>
          <a:p>
            <a:pPr marL="852488" lvl="3"/>
            <a:endParaRPr lang="en-US" sz="1200" dirty="0"/>
          </a:p>
          <a:p>
            <a:pPr marL="395288" lvl="1"/>
            <a:r>
              <a:rPr lang="en-US" sz="2800" dirty="0"/>
              <a:t>Specialists: the discharging hospitalist will often contact specialist to see when they want to see them in office outpatient after discharge.</a:t>
            </a:r>
          </a:p>
          <a:p>
            <a:pPr marL="395288" lvl="1"/>
            <a:endParaRPr lang="en-US" sz="1200" dirty="0"/>
          </a:p>
          <a:p>
            <a:pPr marL="395288" lvl="2"/>
            <a:r>
              <a:rPr lang="en-US" sz="2700" dirty="0"/>
              <a:t>Typically, specialists will request 2-4 weeks timeline to follow up with the patient after being discharged from the hospital</a:t>
            </a:r>
          </a:p>
          <a:p>
            <a:pPr marL="852488" lvl="3"/>
            <a:r>
              <a:rPr lang="en-US" sz="2700" dirty="0"/>
              <a:t>Exception: Decompensated heart failure typically has cardiologist follow up within a week </a:t>
            </a:r>
          </a:p>
          <a:p>
            <a:pPr marL="852488" lvl="3"/>
            <a:endParaRPr lang="en-US" sz="1200" dirty="0"/>
          </a:p>
          <a:p>
            <a:pPr marL="395288" lvl="1"/>
            <a:r>
              <a:rPr lang="en-US" sz="2800" dirty="0"/>
              <a:t>If hospitalist wants labs done post discharge request will typically involve getting lab work done before follow up with PCP or specialist</a:t>
            </a:r>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044029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ER Discharge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200" b="1" u="sng" dirty="0"/>
              <a:t>Emergency environment</a:t>
            </a:r>
          </a:p>
          <a:p>
            <a:r>
              <a:rPr lang="en-US" sz="3200" dirty="0"/>
              <a:t>Typically, recommends follow up in 48 hours with PCP</a:t>
            </a:r>
          </a:p>
          <a:p>
            <a:endParaRPr lang="en-US" sz="1200" dirty="0"/>
          </a:p>
          <a:p>
            <a:r>
              <a:rPr lang="en-US" sz="3200" dirty="0"/>
              <a:t>If specialist is involved in follow up: On average 1-2 weeks, unless they deem follow up sooner is recommended.</a:t>
            </a:r>
          </a:p>
          <a:p>
            <a:pPr lvl="1"/>
            <a:r>
              <a:rPr lang="en-US" sz="2800" dirty="0"/>
              <a:t>Exceptions: Urology (longer wait)</a:t>
            </a:r>
          </a:p>
          <a:p>
            <a:pPr lvl="1"/>
            <a:r>
              <a:rPr lang="en-US" sz="2800" dirty="0"/>
              <a:t>Emergency rooms and specialists have contracts that the specialist office will see ER discharges “within a timely manner”. </a:t>
            </a:r>
          </a:p>
          <a:p>
            <a:pPr lvl="1"/>
            <a:r>
              <a:rPr lang="en-US" sz="2800" dirty="0"/>
              <a:t>Patient’s leave the ER and call the specialist office to schedule an appt</a:t>
            </a:r>
            <a:endParaRPr lang="en-US" sz="1200" dirty="0"/>
          </a:p>
          <a:p>
            <a:pPr lvl="1"/>
            <a:endParaRPr lang="en-US" sz="1200" dirty="0"/>
          </a:p>
          <a:p>
            <a:r>
              <a:rPr lang="en-US" sz="3200" dirty="0"/>
              <a:t>ER providers always give specific details to the patient on returning to the ER for care.</a:t>
            </a:r>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178279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600" b="1" u="sng" dirty="0"/>
              <a:t>Classify the reason for visit</a:t>
            </a:r>
          </a:p>
          <a:p>
            <a:r>
              <a:rPr lang="en-US" sz="3600" dirty="0"/>
              <a:t>Acute</a:t>
            </a:r>
          </a:p>
          <a:p>
            <a:r>
              <a:rPr lang="en-US" sz="3600" dirty="0"/>
              <a:t>Chronic care</a:t>
            </a:r>
          </a:p>
          <a:p>
            <a:r>
              <a:rPr lang="en-US" sz="3600" dirty="0"/>
              <a:t>Preventative</a:t>
            </a:r>
          </a:p>
          <a:p>
            <a:pPr lvl="1"/>
            <a:r>
              <a:rPr lang="en-US" sz="3600" dirty="0"/>
              <a:t>Annual physical</a:t>
            </a:r>
          </a:p>
          <a:p>
            <a:pPr lvl="1"/>
            <a:r>
              <a:rPr lang="en-US" sz="3600" dirty="0"/>
              <a:t>Well woman</a:t>
            </a:r>
          </a:p>
          <a:p>
            <a:pPr lvl="1"/>
            <a:r>
              <a:rPr lang="en-US" sz="3600" dirty="0"/>
              <a:t>Medicare Annual Wellness exam</a:t>
            </a:r>
          </a:p>
          <a:p>
            <a:r>
              <a:rPr lang="en-US" sz="3600" dirty="0"/>
              <a:t>Follow up (Hospital discharges and new problems)</a:t>
            </a:r>
          </a:p>
          <a:p>
            <a:r>
              <a:rPr lang="en-US" sz="3600" dirty="0"/>
              <a:t>Procedures</a:t>
            </a:r>
          </a:p>
          <a:p>
            <a:endParaRPr lang="en-US" sz="320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97869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600" b="1" u="sng" dirty="0"/>
              <a:t>Acute Visit Follow Up:</a:t>
            </a:r>
            <a:endParaRPr lang="en-US" sz="3200" dirty="0"/>
          </a:p>
          <a:p>
            <a:pPr marL="914400" lvl="2" indent="-512763"/>
            <a:r>
              <a:rPr lang="en-US" sz="3200" dirty="0"/>
              <a:t>24-48 hours:  ____________________________________</a:t>
            </a:r>
          </a:p>
          <a:p>
            <a:pPr marL="914400" lvl="2" indent="-512763"/>
            <a:r>
              <a:rPr lang="en-US" sz="3200" dirty="0"/>
              <a:t>3-5 days: ________________________________________</a:t>
            </a:r>
          </a:p>
          <a:p>
            <a:pPr marL="914400" lvl="2" indent="-512763"/>
            <a:r>
              <a:rPr lang="en-US" sz="3200" dirty="0"/>
              <a:t>1-2 weeks: ______________________________________</a:t>
            </a:r>
          </a:p>
          <a:p>
            <a:pPr marL="914400" lvl="2" indent="-512763"/>
            <a:r>
              <a:rPr lang="en-US" sz="3200" dirty="0"/>
              <a:t>“Follow up as needed if symptoms are not improving, resolving, or if they worsen.” “Due back for annual physical exam in ** months.”</a:t>
            </a:r>
          </a:p>
          <a:p>
            <a:pPr marL="914400" lvl="2" indent="0">
              <a:buNone/>
            </a:pPr>
            <a:endParaRPr lang="en-US" sz="3200" dirty="0"/>
          </a:p>
          <a:p>
            <a:pPr marL="0" lvl="2" indent="0">
              <a:buNone/>
            </a:pPr>
            <a:r>
              <a:rPr lang="en-US" sz="3200" b="1" u="sng" dirty="0"/>
              <a:t>Chronic Care Follow Up: </a:t>
            </a:r>
          </a:p>
          <a:p>
            <a:pPr marL="914400" lvl="3" indent="-457200"/>
            <a:r>
              <a:rPr lang="en-US" sz="3200" dirty="0"/>
              <a:t>Typically, a 3,6, or 12-month follow up pattern</a:t>
            </a:r>
          </a:p>
          <a:p>
            <a:pPr marL="914400" lvl="3" indent="-457200"/>
            <a:r>
              <a:rPr lang="en-US" sz="3200" dirty="0"/>
              <a:t>More complex the patient the shorter the follow up timeframe</a:t>
            </a:r>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648781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600" b="1" u="sng" dirty="0"/>
              <a:t>Preventative visits</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sng" strike="noStrike" kern="1200" cap="none" spc="0" normalizeH="0" baseline="0" noProof="0" dirty="0">
                <a:ln>
                  <a:noFill/>
                </a:ln>
                <a:effectLst/>
                <a:uLnTx/>
                <a:uFillTx/>
                <a:latin typeface="Gill Sans MT" panose="020B0502020104020203"/>
                <a:ea typeface="+mn-ea"/>
                <a:cs typeface="+mn-cs"/>
              </a:rPr>
              <a:t>Annual physical exam- Every 12 months</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lang="en-US" sz="2800" dirty="0">
                <a:latin typeface="Gill Sans MT" panose="020B0502020104020203"/>
              </a:rPr>
              <a:t>I</a:t>
            </a:r>
            <a:r>
              <a:rPr kumimoji="0" lang="en-US" sz="2800" b="0" i="0" u="none" strike="noStrike" kern="1200" cap="none" spc="0" normalizeH="0" baseline="0" noProof="0" dirty="0" err="1">
                <a:ln>
                  <a:noFill/>
                </a:ln>
                <a:effectLst/>
                <a:uLnTx/>
                <a:uFillTx/>
                <a:latin typeface="Gill Sans MT" panose="020B0502020104020203"/>
                <a:ea typeface="+mn-ea"/>
                <a:cs typeface="+mn-cs"/>
              </a:rPr>
              <a:t>nsurance</a:t>
            </a:r>
            <a:r>
              <a:rPr kumimoji="0" lang="en-US" sz="2800" b="0" i="0" u="none" strike="noStrike" kern="1200" cap="none" spc="0" normalizeH="0" baseline="0" noProof="0" dirty="0">
                <a:ln>
                  <a:noFill/>
                </a:ln>
                <a:effectLst/>
                <a:uLnTx/>
                <a:uFillTx/>
                <a:latin typeface="Gill Sans MT" panose="020B0502020104020203"/>
                <a:ea typeface="+mn-ea"/>
                <a:cs typeface="+mn-cs"/>
              </a:rPr>
              <a:t> term, meant to address patient preventative medicine</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Includes health maintenance, update chart and labs, do good thorough ROS and physical exam</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Problems will need to be billed as additional office visit fee, if addressed</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Follow up from those problems would be addressed as they fall into the categories of the previous slides.</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3000" b="0" i="0" u="sng" strike="noStrike" kern="1200" cap="none" spc="0" normalizeH="0" baseline="0" noProof="0" dirty="0">
                <a:ln>
                  <a:noFill/>
                </a:ln>
                <a:effectLst/>
                <a:uLnTx/>
                <a:uFillTx/>
                <a:latin typeface="Gill Sans MT" panose="020B0502020104020203"/>
                <a:ea typeface="+mn-ea"/>
                <a:cs typeface="+mn-cs"/>
              </a:rPr>
              <a:t>Well woman exam- Every 12 months</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Typically, a female’s annual exam with or without pap smear</a:t>
            </a:r>
          </a:p>
          <a:p>
            <a:pPr marL="0" indent="0">
              <a:buNone/>
            </a:pPr>
            <a:endParaRPr lang="en-US" sz="320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180805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600" b="1" u="sng" dirty="0"/>
              <a:t>Preventative visits</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sng" strike="noStrike" kern="1200" cap="none" spc="0" normalizeH="0" baseline="0" noProof="0" dirty="0">
                <a:ln>
                  <a:noFill/>
                </a:ln>
                <a:effectLst/>
                <a:uLnTx/>
                <a:uFillTx/>
                <a:latin typeface="Gill Sans MT" panose="020B0502020104020203"/>
                <a:ea typeface="+mn-ea"/>
                <a:cs typeface="+mn-cs"/>
              </a:rPr>
              <a:t>Medicare Annual Wellness Exam</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Medicare term for an annual visit in their patient population. Completely free for patient.</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Medicare does not pay for an “annual physical”</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Medicare HRA questionnaire provided to patient</a:t>
            </a:r>
            <a: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 </a:t>
            </a:r>
            <a:r>
              <a:rPr kumimoji="0" lang="en-US" sz="2800" b="0" i="0" u="none" strike="noStrike" kern="1200" cap="none" spc="0" normalizeH="0" baseline="0" noProof="0" dirty="0">
                <a:ln>
                  <a:noFill/>
                </a:ln>
                <a:effectLst/>
                <a:uLnTx/>
                <a:uFillTx/>
                <a:latin typeface="Gill Sans MT" panose="020B0502020104020203"/>
                <a:ea typeface="+mn-ea"/>
                <a:cs typeface="+mn-cs"/>
              </a:rPr>
              <a:t>they answer prior to visit</a:t>
            </a:r>
            <a: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 →</a:t>
            </a:r>
            <a:r>
              <a:rPr kumimoji="0" lang="en-US" sz="2800" b="0" i="0" u="none" strike="noStrike" kern="1200" cap="none" spc="0" normalizeH="0" baseline="0" noProof="0" dirty="0">
                <a:ln>
                  <a:noFill/>
                </a:ln>
                <a:effectLst/>
                <a:uLnTx/>
                <a:uFillTx/>
                <a:latin typeface="Gill Sans MT" panose="020B0502020104020203"/>
                <a:ea typeface="+mn-ea"/>
                <a:cs typeface="+mn-cs"/>
              </a:rPr>
              <a:t> give to nurse/MA at time of visit and answers are recorded into the computer</a:t>
            </a:r>
            <a:r>
              <a:rPr kumimoji="0" lang="en-US" sz="2800" b="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 → </a:t>
            </a:r>
            <a:r>
              <a:rPr kumimoji="0" lang="en-US" sz="2800" b="0" i="0" u="none" strike="noStrike" kern="1200" cap="none" spc="0" normalizeH="0" baseline="0" noProof="0" dirty="0">
                <a:ln>
                  <a:noFill/>
                </a:ln>
                <a:effectLst/>
                <a:uLnTx/>
                <a:uFillTx/>
                <a:latin typeface="Gill Sans MT" panose="020B0502020104020203"/>
                <a:ea typeface="+mn-ea"/>
                <a:cs typeface="+mn-cs"/>
              </a:rPr>
              <a:t>Provider is then responsible for going over any individual responses that are “flagged” by Medicare as “attention needed” with documentation in the note and patient education of issues addressed at the end of the visit.</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endParaRPr kumimoji="0" lang="en-US" sz="2800" b="0" i="0" u="none" strike="noStrike" kern="1200" cap="none" spc="0" normalizeH="0" baseline="0" noProof="0" dirty="0">
              <a:ln>
                <a:noFill/>
              </a:ln>
              <a:effectLst/>
              <a:uLnTx/>
              <a:uFillTx/>
              <a:latin typeface="Gill Sans MT" panose="020B0502020104020203"/>
              <a:ea typeface="+mn-ea"/>
              <a:cs typeface="+mn-cs"/>
            </a:endParaRPr>
          </a:p>
          <a:p>
            <a:pPr marL="0" indent="0">
              <a:buNone/>
            </a:pPr>
            <a:endParaRPr lang="en-US" sz="320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2736771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indent="0">
              <a:buNone/>
            </a:pPr>
            <a:r>
              <a:rPr lang="en-US" sz="3600" b="1" u="sng" dirty="0"/>
              <a:t>Preventative visits</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sng" strike="noStrike" kern="1200" cap="none" spc="0" normalizeH="0" baseline="0" noProof="0" dirty="0">
                <a:ln>
                  <a:noFill/>
                </a:ln>
                <a:effectLst/>
                <a:uLnTx/>
                <a:uFillTx/>
                <a:latin typeface="Gill Sans MT" panose="020B0502020104020203"/>
                <a:ea typeface="+mn-ea"/>
                <a:cs typeface="+mn-cs"/>
              </a:rPr>
              <a:t>Medicare Annual Wellness Exam</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Updating chart, getting labs updated, immunizations/health maintenance, vision screening, full set of vitals. EKG included with first “Welcome to Medicare Exam”.</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Problems should not be addressed at these visits</a:t>
            </a: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Ideally make chronic care visits separate from these visits</a:t>
            </a:r>
          </a:p>
          <a:p>
            <a:pPr marL="228600" marR="0" lvl="0"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endParaRPr kumimoji="0" lang="en-US" sz="2800" b="0" i="0" u="none" strike="noStrike" kern="1200" cap="none" spc="0" normalizeH="0" baseline="0" noProof="0" dirty="0">
              <a:ln>
                <a:noFill/>
              </a:ln>
              <a:effectLst/>
              <a:uLnTx/>
              <a:uFillTx/>
              <a:latin typeface="Gill Sans MT" panose="020B0502020104020203"/>
              <a:ea typeface="+mn-ea"/>
              <a:cs typeface="+mn-cs"/>
            </a:endParaRPr>
          </a:p>
          <a:p>
            <a:pPr marL="0" indent="0">
              <a:buNone/>
            </a:pPr>
            <a:endParaRPr lang="en-US" sz="320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805056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a:xfrm>
            <a:off x="0" y="0"/>
            <a:ext cx="10515600" cy="678036"/>
          </a:xfrm>
        </p:spPr>
        <p:txBody>
          <a:bodyPr/>
          <a:lstStyle/>
          <a:p>
            <a:r>
              <a:rPr lang="en-US" dirty="0"/>
              <a:t>Patient Follow Up – Primary Care</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4294967295"/>
          </p:nvPr>
        </p:nvSpPr>
        <p:spPr>
          <a:xfrm>
            <a:off x="104774" y="879475"/>
            <a:ext cx="12087225" cy="5978525"/>
          </a:xfrm>
        </p:spPr>
        <p:txBody>
          <a:bodyPr/>
          <a:lstStyle/>
          <a:p>
            <a:pPr marL="0" marR="0" lvl="0" indent="0" algn="l" defTabSz="914400" rtl="0" eaLnBrk="1" fontAlgn="auto" latinLnBrk="0" hangingPunct="1">
              <a:lnSpc>
                <a:spcPct val="100000"/>
              </a:lnSpc>
              <a:spcBef>
                <a:spcPts val="1000"/>
              </a:spcBef>
              <a:spcAft>
                <a:spcPts val="0"/>
              </a:spcAft>
              <a:buClr>
                <a:srgbClr val="C0504D"/>
              </a:buClr>
              <a:buSzTx/>
              <a:buNone/>
              <a:tabLst/>
              <a:defRPr/>
            </a:pPr>
            <a:r>
              <a:rPr lang="en-US" sz="3200" b="1" u="sng" dirty="0">
                <a:latin typeface="Gill Sans MT" panose="020B0502020104020203"/>
              </a:rPr>
              <a:t>New Problem Follow Up Visits</a:t>
            </a:r>
            <a:endParaRPr kumimoji="0" lang="en-US" sz="3200" b="1" i="0" u="none" strike="noStrike" kern="1200" cap="none" spc="0" normalizeH="0" baseline="0" noProof="0" dirty="0">
              <a:ln>
                <a:noFill/>
              </a:ln>
              <a:effectLst/>
              <a:uLnTx/>
              <a:uFillTx/>
              <a:latin typeface="Gill Sans MT" panose="020B0502020104020203"/>
              <a:ea typeface="+mn-ea"/>
              <a:cs typeface="+mn-cs"/>
            </a:endParaRPr>
          </a:p>
          <a:p>
            <a:pPr marL="457200" marR="0" lvl="1"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3200" b="0" i="0" u="none" strike="noStrike" kern="1200" cap="none" spc="0" normalizeH="0" baseline="0" noProof="0" dirty="0">
                <a:ln>
                  <a:noFill/>
                </a:ln>
                <a:effectLst/>
                <a:uLnTx/>
                <a:uFillTx/>
                <a:latin typeface="Gill Sans MT" panose="020B0502020104020203"/>
                <a:ea typeface="+mn-ea"/>
                <a:cs typeface="+mn-cs"/>
              </a:rPr>
              <a:t>Visits that follow up on acute/subacute problem visit. Follow up time frames can vary significantly just based on individual patient and problem.</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Psychiatric complaints (prior to chronic condition diagnosis): 1-2 week follow up for patients with acute psychiatric difficulties, 4-6 week follow up with SSRI/SNRI initiation, sooner as needed.</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ENT complaints: A large variation in follow up times, just dependent on the complaint</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r>
              <a:rPr kumimoji="0" lang="en-US" sz="2800" b="0" i="0" u="none" strike="noStrike" kern="1200" cap="none" spc="0" normalizeH="0" baseline="0" noProof="0" dirty="0">
                <a:ln>
                  <a:noFill/>
                </a:ln>
                <a:effectLst/>
                <a:uLnTx/>
                <a:uFillTx/>
                <a:latin typeface="Gill Sans MT" panose="020B0502020104020203"/>
                <a:ea typeface="+mn-ea"/>
                <a:cs typeface="+mn-cs"/>
              </a:rPr>
              <a:t>MSK complaints: typically, 2-4 week follow ups</a:t>
            </a:r>
          </a:p>
          <a:p>
            <a:pPr marL="685800" marR="0" lvl="2" indent="-228600" algn="l" defTabSz="914400" rtl="0" eaLnBrk="1" fontAlgn="auto" latinLnBrk="0" hangingPunct="1">
              <a:lnSpc>
                <a:spcPct val="100000"/>
              </a:lnSpc>
              <a:spcBef>
                <a:spcPts val="1000"/>
              </a:spcBef>
              <a:spcAft>
                <a:spcPts val="0"/>
              </a:spcAft>
              <a:buClr>
                <a:srgbClr val="C0504D"/>
              </a:buClr>
              <a:buSzTx/>
              <a:buFont typeface="Arial" panose="020B0604020202020204" pitchFamily="34" charset="0"/>
              <a:buChar char="•"/>
              <a:tabLst/>
              <a:defRPr/>
            </a:pPr>
            <a:endParaRPr kumimoji="0" lang="en-US" sz="2400" b="0" i="0" u="none" strike="noStrike" kern="1200" cap="none" spc="0" normalizeH="0" baseline="0" noProof="0" dirty="0">
              <a:ln>
                <a:noFill/>
              </a:ln>
              <a:effectLst/>
              <a:uLnTx/>
              <a:uFillTx/>
              <a:latin typeface="Gill Sans MT" panose="020B0502020104020203"/>
              <a:ea typeface="+mn-ea"/>
              <a:cs typeface="+mn-cs"/>
            </a:endParaRPr>
          </a:p>
          <a:p>
            <a:pPr marL="0" indent="0">
              <a:buNone/>
            </a:pPr>
            <a:endParaRPr lang="en-US" sz="320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zh-CN" altLang="en-US" sz="1200" u="none" strike="noStrike" kern="1200" cap="none" spc="0" normalizeH="0" baseline="0" noProof="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zh-CN" altLang="en-US" sz="1200" u="none" strike="noStrike" kern="120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3660755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EB826-4B91-46D7-AADA-1B407C5E4CB1}"/>
              </a:ext>
            </a:extLst>
          </p:cNvPr>
          <p:cNvSpPr>
            <a:spLocks noGrp="1"/>
          </p:cNvSpPr>
          <p:nvPr>
            <p:ph type="title"/>
          </p:nvPr>
        </p:nvSpPr>
        <p:spPr>
          <a:xfrm>
            <a:off x="0" y="0"/>
            <a:ext cx="11022677" cy="1188720"/>
          </a:xfrm>
        </p:spPr>
        <p:txBody>
          <a:bodyPr/>
          <a:lstStyle/>
          <a:p>
            <a:r>
              <a:rPr lang="en-US" dirty="0"/>
              <a:t>Patient Follow Up – Primary Care</a:t>
            </a:r>
          </a:p>
        </p:txBody>
      </p:sp>
      <p:sp>
        <p:nvSpPr>
          <p:cNvPr id="3" name="Content Placeholder 2">
            <a:extLst>
              <a:ext uri="{FF2B5EF4-FFF2-40B4-BE49-F238E27FC236}">
                <a16:creationId xmlns:a16="http://schemas.microsoft.com/office/drawing/2014/main" id="{423BC153-AA7F-44AA-9E46-FEA35C88BB6D}"/>
              </a:ext>
            </a:extLst>
          </p:cNvPr>
          <p:cNvSpPr>
            <a:spLocks noGrp="1"/>
          </p:cNvSpPr>
          <p:nvPr>
            <p:ph idx="1"/>
          </p:nvPr>
        </p:nvSpPr>
        <p:spPr>
          <a:xfrm>
            <a:off x="0" y="1064302"/>
            <a:ext cx="12191999" cy="5793699"/>
          </a:xfrm>
        </p:spPr>
        <p:txBody>
          <a:bodyPr>
            <a:normAutofit fontScale="92500" lnSpcReduction="10000"/>
          </a:bodyPr>
          <a:lstStyle/>
          <a:p>
            <a:r>
              <a:rPr lang="en-US" sz="3600" b="1" u="sng" dirty="0"/>
              <a:t>Hospital follow ups</a:t>
            </a:r>
          </a:p>
          <a:p>
            <a:pPr lvl="1"/>
            <a:r>
              <a:rPr lang="en-US" sz="3200" dirty="0"/>
              <a:t>TCM (Transitional Care Management)</a:t>
            </a:r>
          </a:p>
          <a:p>
            <a:pPr marL="1603375" lvl="2"/>
            <a:r>
              <a:rPr lang="en-US" sz="2800" dirty="0"/>
              <a:t>Communication: Initial contact with patient required within 2 business days of hospital discharge</a:t>
            </a:r>
          </a:p>
          <a:p>
            <a:pPr marL="1603375" lvl="2"/>
            <a:r>
              <a:rPr lang="en-US" sz="2800" dirty="0"/>
              <a:t>Medical decision making of moderate to high complexity during the service period</a:t>
            </a:r>
          </a:p>
          <a:p>
            <a:pPr marL="1603375" lvl="2"/>
            <a:r>
              <a:rPr lang="en-US" sz="2800" dirty="0"/>
              <a:t>Face to face visit within 7-14 days of discharge</a:t>
            </a:r>
          </a:p>
          <a:p>
            <a:pPr lvl="2"/>
            <a:endParaRPr lang="en-US" sz="1600" dirty="0"/>
          </a:p>
          <a:p>
            <a:pPr lvl="1"/>
            <a:r>
              <a:rPr lang="en-US" dirty="0"/>
              <a:t>Purpose of these visits are to ease transition from inpatient to outpatient and avoid readmission.</a:t>
            </a:r>
          </a:p>
          <a:p>
            <a:pPr lvl="1"/>
            <a:endParaRPr lang="en-US" sz="1100" dirty="0"/>
          </a:p>
          <a:p>
            <a:pPr lvl="1"/>
            <a:r>
              <a:rPr lang="en-US" dirty="0"/>
              <a:t>Review of hospital documentation, updating chart, assuring patient is improving and closely monitoring through their personal recovery.</a:t>
            </a:r>
          </a:p>
          <a:p>
            <a:pPr lvl="1"/>
            <a:endParaRPr lang="en-US" sz="1300" dirty="0"/>
          </a:p>
          <a:p>
            <a:pPr lvl="1"/>
            <a:r>
              <a:rPr lang="en-US" dirty="0"/>
              <a:t>Follow up from these visits should be decided on patient’s acute/subacute problem that hospitalized them alongside their chronic conditions and overall picture.</a:t>
            </a:r>
          </a:p>
        </p:txBody>
      </p:sp>
    </p:spTree>
    <p:extLst>
      <p:ext uri="{BB962C8B-B14F-4D97-AF65-F5344CB8AC3E}">
        <p14:creationId xmlns:p14="http://schemas.microsoft.com/office/powerpoint/2010/main" val="37670737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5151412" y="6153"/>
            <a:ext cx="5055698" cy="647545"/>
          </a:xfrm>
        </p:spPr>
        <p:txBody>
          <a:bodyPr/>
          <a:lstStyle/>
          <a:p>
            <a:r>
              <a:rPr lang="en-US" dirty="0"/>
              <a:t>Resources</a:t>
            </a:r>
          </a:p>
        </p:txBody>
      </p:sp>
      <p:pic>
        <p:nvPicPr>
          <p:cNvPr id="14" name="图片占位符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图片占位符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sp>
        <p:nvSpPr>
          <p:cNvPr id="3" name="Picture Placeholder 2">
            <a:extLst>
              <a:ext uri="{FF2B5EF4-FFF2-40B4-BE49-F238E27FC236}">
                <a16:creationId xmlns:a16="http://schemas.microsoft.com/office/drawing/2014/main" id="{01A4E398-927A-4A17-88CA-CB497664FE9B}"/>
              </a:ext>
            </a:extLst>
          </p:cNvPr>
          <p:cNvSpPr>
            <a:spLocks noGrp="1"/>
          </p:cNvSpPr>
          <p:nvPr>
            <p:ph type="pic" sz="quarter" idx="51"/>
          </p:nvPr>
        </p:nvSpPr>
        <p:spPr>
          <a:solidFill>
            <a:schemeClr val="bg1"/>
          </a:solidFill>
        </p:spPr>
        <p:txBody>
          <a:bodyPr/>
          <a:lstStyle/>
          <a:p>
            <a:endParaRPr lang="en-US"/>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5414439" y="764498"/>
            <a:ext cx="6777561" cy="5997946"/>
          </a:xfrm>
        </p:spPr>
        <p:txBody>
          <a:bodyPr/>
          <a:lstStyle/>
          <a:p>
            <a:pPr marL="285750" indent="-285750">
              <a:buFont typeface="Arial" panose="020B0604020202020204" pitchFamily="34" charset="0"/>
              <a:buChar char="•"/>
            </a:pPr>
            <a:r>
              <a:rPr lang="en-US" sz="1600" dirty="0">
                <a:solidFill>
                  <a:schemeClr val="accent1">
                    <a:lumMod val="40000"/>
                    <a:lumOff val="60000"/>
                  </a:schemeClr>
                </a:solidFill>
                <a:effectLst/>
              </a:rPr>
              <a:t>American Academy of Family Physicians. (2000, October 1). </a:t>
            </a:r>
            <a:r>
              <a:rPr lang="en-US" sz="1600" i="1" dirty="0">
                <a:solidFill>
                  <a:schemeClr val="accent1">
                    <a:lumMod val="40000"/>
                    <a:lumOff val="60000"/>
                  </a:schemeClr>
                </a:solidFill>
                <a:effectLst/>
              </a:rPr>
              <a:t>Patient education</a:t>
            </a:r>
            <a:r>
              <a:rPr lang="en-US" sz="1600" dirty="0">
                <a:solidFill>
                  <a:schemeClr val="accent1">
                    <a:lumMod val="40000"/>
                    <a:lumOff val="60000"/>
                  </a:schemeClr>
                </a:solidFill>
                <a:effectLst/>
              </a:rPr>
              <a:t>. American Family Physician. Retrieved August 22, 2022, from https://www.aafp.org/pubs/afp/issues/2000/1001/p1712.html#:~:text=Identify%20patient's%20educational%20needs.,of%20findings%20clearly%20and%20concisely </a:t>
            </a:r>
          </a:p>
          <a:p>
            <a:pPr marL="285750" indent="-285750">
              <a:buFont typeface="Arial" panose="020B0604020202020204" pitchFamily="34" charset="0"/>
              <a:buChar char="•"/>
            </a:pPr>
            <a:r>
              <a:rPr lang="en-US" sz="1600" dirty="0" err="1">
                <a:solidFill>
                  <a:schemeClr val="accent1">
                    <a:lumMod val="40000"/>
                    <a:lumOff val="60000"/>
                  </a:schemeClr>
                </a:solidFill>
                <a:effectLst/>
              </a:rPr>
              <a:t>Fereidouni</a:t>
            </a:r>
            <a:r>
              <a:rPr lang="en-US" sz="1600" dirty="0">
                <a:solidFill>
                  <a:schemeClr val="accent1">
                    <a:lumMod val="40000"/>
                    <a:lumOff val="60000"/>
                  </a:schemeClr>
                </a:solidFill>
                <a:effectLst/>
              </a:rPr>
              <a:t>, Z., </a:t>
            </a:r>
            <a:r>
              <a:rPr lang="en-US" sz="1600" dirty="0" err="1">
                <a:solidFill>
                  <a:schemeClr val="accent1">
                    <a:lumMod val="40000"/>
                    <a:lumOff val="60000"/>
                  </a:schemeClr>
                </a:solidFill>
                <a:effectLst/>
              </a:rPr>
              <a:t>Sabet</a:t>
            </a:r>
            <a:r>
              <a:rPr lang="en-US" sz="1600" dirty="0">
                <a:solidFill>
                  <a:schemeClr val="accent1">
                    <a:lumMod val="40000"/>
                    <a:lumOff val="60000"/>
                  </a:schemeClr>
                </a:solidFill>
                <a:effectLst/>
              </a:rPr>
              <a:t> </a:t>
            </a:r>
            <a:r>
              <a:rPr lang="en-US" sz="1600" dirty="0" err="1">
                <a:solidFill>
                  <a:schemeClr val="accent1">
                    <a:lumMod val="40000"/>
                    <a:lumOff val="60000"/>
                  </a:schemeClr>
                </a:solidFill>
                <a:effectLst/>
              </a:rPr>
              <a:t>Sarvestani</a:t>
            </a:r>
            <a:r>
              <a:rPr lang="en-US" sz="1600" dirty="0">
                <a:solidFill>
                  <a:schemeClr val="accent1">
                    <a:lumMod val="40000"/>
                    <a:lumOff val="60000"/>
                  </a:schemeClr>
                </a:solidFill>
                <a:effectLst/>
              </a:rPr>
              <a:t>, R., Hariri, G., </a:t>
            </a:r>
            <a:r>
              <a:rPr lang="en-US" sz="1600" dirty="0" err="1">
                <a:solidFill>
                  <a:schemeClr val="accent1">
                    <a:lumMod val="40000"/>
                    <a:lumOff val="60000"/>
                  </a:schemeClr>
                </a:solidFill>
                <a:effectLst/>
              </a:rPr>
              <a:t>Kuhpaye</a:t>
            </a:r>
            <a:r>
              <a:rPr lang="en-US" sz="1600" dirty="0">
                <a:solidFill>
                  <a:schemeClr val="accent1">
                    <a:lumMod val="40000"/>
                    <a:lumOff val="60000"/>
                  </a:schemeClr>
                </a:solidFill>
                <a:effectLst/>
              </a:rPr>
              <a:t>, S. A., Amirkhani, M., &amp; Kalyani, M. N. (2019, February 5). </a:t>
            </a:r>
            <a:r>
              <a:rPr lang="en-US" sz="1600" i="1" dirty="0">
                <a:solidFill>
                  <a:schemeClr val="accent1">
                    <a:lumMod val="40000"/>
                    <a:lumOff val="60000"/>
                  </a:schemeClr>
                </a:solidFill>
                <a:effectLst/>
              </a:rPr>
              <a:t>Moving into action: The master key to patient education</a:t>
            </a:r>
            <a:r>
              <a:rPr lang="en-US" sz="1600" dirty="0">
                <a:solidFill>
                  <a:schemeClr val="accent1">
                    <a:lumMod val="40000"/>
                    <a:lumOff val="60000"/>
                  </a:schemeClr>
                </a:solidFill>
                <a:effectLst/>
              </a:rPr>
              <a:t>. The journal of nursing research : JNR. Retrieved August 22, 2022, from https://www.ncbi.nlm.nih.gov/pmc/articles/PMC6369867/ </a:t>
            </a:r>
          </a:p>
          <a:p>
            <a:pPr marL="285750" indent="-285750">
              <a:buFont typeface="Arial" panose="020B0604020202020204" pitchFamily="34" charset="0"/>
              <a:buChar char="•"/>
            </a:pPr>
            <a:r>
              <a:rPr lang="en-US" sz="1600" dirty="0">
                <a:solidFill>
                  <a:schemeClr val="accent1">
                    <a:lumMod val="40000"/>
                    <a:lumOff val="60000"/>
                  </a:schemeClr>
                </a:solidFill>
                <a:effectLst/>
              </a:rPr>
              <a:t>Tong, L., Arnold, T., Yang, J., Tian, X., Erdmann, C., &amp; Esposito, T. (2018, July 17). </a:t>
            </a:r>
            <a:r>
              <a:rPr lang="en-US" sz="1600" i="1" dirty="0">
                <a:solidFill>
                  <a:schemeClr val="accent1">
                    <a:lumMod val="40000"/>
                    <a:lumOff val="60000"/>
                  </a:schemeClr>
                </a:solidFill>
                <a:effectLst/>
              </a:rPr>
              <a:t>The association between outpatient follow-up visits and all-cause non-elective 30-day readmissions: A retrospective observational cohort study</a:t>
            </a:r>
            <a:r>
              <a:rPr lang="en-US" sz="1600" dirty="0">
                <a:solidFill>
                  <a:schemeClr val="accent1">
                    <a:lumMod val="40000"/>
                    <a:lumOff val="60000"/>
                  </a:schemeClr>
                </a:solidFill>
                <a:effectLst/>
              </a:rPr>
              <a:t>. PLOS ONE. Retrieved August 22, 2022, from https://journals.plos.org/plosone/article?id=10.1371%2Fjournal.pone.0200691 </a:t>
            </a:r>
          </a:p>
          <a:p>
            <a:pPr marL="285750" indent="-285750">
              <a:buFont typeface="Arial" panose="020B0604020202020204" pitchFamily="34" charset="0"/>
              <a:buChar char="•"/>
            </a:pPr>
            <a:r>
              <a:rPr lang="en-US" sz="1600" dirty="0">
                <a:solidFill>
                  <a:schemeClr val="accent1">
                    <a:lumMod val="40000"/>
                    <a:lumOff val="60000"/>
                  </a:schemeClr>
                </a:solidFill>
                <a:effectLst/>
              </a:rPr>
              <a:t>Young, M. (2020, December 1). </a:t>
            </a:r>
            <a:r>
              <a:rPr lang="en-US" sz="1600" i="1" dirty="0">
                <a:solidFill>
                  <a:schemeClr val="accent1">
                    <a:lumMod val="40000"/>
                    <a:lumOff val="60000"/>
                  </a:schemeClr>
                </a:solidFill>
                <a:effectLst/>
              </a:rPr>
              <a:t>Better patient education can lead to lower medical costs: 2020-11-03</a:t>
            </a:r>
            <a:r>
              <a:rPr lang="en-US" sz="1600" dirty="0">
                <a:solidFill>
                  <a:schemeClr val="accent1">
                    <a:lumMod val="40000"/>
                    <a:lumOff val="60000"/>
                  </a:schemeClr>
                </a:solidFill>
                <a:effectLst/>
              </a:rPr>
              <a:t>. Relias Media | Online Continuing Medical Education | Relias Media - Continuing Medical Education Publishing. Retrieved August 22, 2022, from https://www.reliasmedia.com/articles/147129-better-patient-education-can-lead-to-lower-medical-costs </a:t>
            </a:r>
          </a:p>
          <a:p>
            <a:pPr marL="285750" indent="-285750">
              <a:buFont typeface="Arial" panose="020B0604020202020204" pitchFamily="34" charset="0"/>
              <a:buChar char="•"/>
            </a:pPr>
            <a:endParaRPr lang="en-US" sz="1600" dirty="0">
              <a:effectLst/>
            </a:endParaRP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dirty="0"/>
          </a:p>
        </p:txBody>
      </p:sp>
      <p:sp>
        <p:nvSpPr>
          <p:cNvPr id="4" name="Picture Placeholder 3">
            <a:extLst>
              <a:ext uri="{FF2B5EF4-FFF2-40B4-BE49-F238E27FC236}">
                <a16:creationId xmlns:a16="http://schemas.microsoft.com/office/drawing/2014/main" id="{F880E039-1517-40CC-8700-527A1BE7A685}"/>
              </a:ext>
            </a:extLst>
          </p:cNvPr>
          <p:cNvSpPr>
            <a:spLocks noGrp="1"/>
          </p:cNvSpPr>
          <p:nvPr>
            <p:ph type="pic" sz="quarter" idx="50"/>
          </p:nvPr>
        </p:nvSpPr>
        <p:spPr/>
        <p:txBody>
          <a:bodyPr/>
          <a:lstStyle/>
          <a:p>
            <a:endParaRPr lang="en-US"/>
          </a:p>
        </p:txBody>
      </p:sp>
    </p:spTree>
    <p:extLst>
      <p:ext uri="{BB962C8B-B14F-4D97-AF65-F5344CB8AC3E}">
        <p14:creationId xmlns:p14="http://schemas.microsoft.com/office/powerpoint/2010/main" val="529279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476F-60C5-4D2A-82F3-0A2085A24206}"/>
              </a:ext>
            </a:extLst>
          </p:cNvPr>
          <p:cNvSpPr>
            <a:spLocks noGrp="1"/>
          </p:cNvSpPr>
          <p:nvPr>
            <p:ph type="title"/>
          </p:nvPr>
        </p:nvSpPr>
        <p:spPr>
          <a:xfrm>
            <a:off x="2945027" y="2702053"/>
            <a:ext cx="6301945" cy="1453894"/>
          </a:xfrm>
        </p:spPr>
        <p:txBody>
          <a:bodyPr/>
          <a:lstStyle/>
          <a:p>
            <a:pPr algn="ctr"/>
            <a:r>
              <a:rPr lang="en-US" dirty="0"/>
              <a:t>Don’t forget to take the post-quiz!</a:t>
            </a:r>
          </a:p>
        </p:txBody>
      </p:sp>
    </p:spTree>
    <p:extLst>
      <p:ext uri="{BB962C8B-B14F-4D97-AF65-F5344CB8AC3E}">
        <p14:creationId xmlns:p14="http://schemas.microsoft.com/office/powerpoint/2010/main" val="3690443358"/>
      </p:ext>
    </p:extLst>
  </p:cSld>
  <p:clrMapOvr>
    <a:masterClrMapping/>
  </p:clrMapOvr>
</p:sld>
</file>

<file path=ppt/theme/theme1.xml><?xml version="1.0" encoding="utf-8"?>
<a:theme xmlns:a="http://schemas.openxmlformats.org/drawingml/2006/main" name="Office 主题​​">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dark - tm89027928_Win22_jx_v15" id="{6FC4CD7C-8D8C-413D-9734-DB9D2ACDF211}" vid="{3BCE2F71-642F-410D-8C9D-43A56939DC2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A2AE28-B20A-43BD-B938-8C55A179243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21E1349-079A-46DA-8C56-B35AC6C117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19EC099-CA80-4E7D-B4BF-2970B26F4E5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7716</TotalTime>
  <Words>3288</Words>
  <Application>Microsoft Office PowerPoint</Application>
  <PresentationFormat>Widescreen</PresentationFormat>
  <Paragraphs>338</Paragraphs>
  <Slides>27</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等线</vt:lpstr>
      <vt:lpstr>Abadi</vt:lpstr>
      <vt:lpstr>Arial</vt:lpstr>
      <vt:lpstr>Calibri</vt:lpstr>
      <vt:lpstr>Cambria</vt:lpstr>
      <vt:lpstr>Gill Sans MT</vt:lpstr>
      <vt:lpstr>Posterama</vt:lpstr>
      <vt:lpstr>Posterama Text Black</vt:lpstr>
      <vt:lpstr>Posterama Text SemiBold</vt:lpstr>
      <vt:lpstr>Roboto</vt:lpstr>
      <vt:lpstr>Office 主题​​</vt:lpstr>
      <vt:lpstr>Patient Education &amp; Follow up</vt:lpstr>
      <vt:lpstr>Objectives</vt:lpstr>
      <vt:lpstr>Pre-Quiz</vt:lpstr>
      <vt:lpstr>Patient Education</vt:lpstr>
      <vt:lpstr>The Need</vt:lpstr>
      <vt:lpstr>PowerPoint Presentation</vt:lpstr>
      <vt:lpstr>Getting the Patient Involved</vt:lpstr>
      <vt:lpstr>What’s Included?</vt:lpstr>
      <vt:lpstr>What’s Included?</vt:lpstr>
      <vt:lpstr>What’s Included?</vt:lpstr>
      <vt:lpstr>What’s Included?</vt:lpstr>
      <vt:lpstr>Things to keep in mind:</vt:lpstr>
      <vt:lpstr>Places to practice how to give patient education this year:</vt:lpstr>
      <vt:lpstr>The Importance of Follow Up</vt:lpstr>
      <vt:lpstr>Patient Follow Up</vt:lpstr>
      <vt:lpstr>Patient Follow Up</vt:lpstr>
      <vt:lpstr>Patient Follow Up – Inpatient Discharge</vt:lpstr>
      <vt:lpstr>Patient Follow Up – ER Discharge</vt:lpstr>
      <vt:lpstr>Patient Follow Up – Primary Care</vt:lpstr>
      <vt:lpstr>Patient Follow Up – Primary Care</vt:lpstr>
      <vt:lpstr>Patient Follow Up – Primary Care</vt:lpstr>
      <vt:lpstr>Patient Follow Up – Primary Care</vt:lpstr>
      <vt:lpstr>Patient Follow Up – Primary Care</vt:lpstr>
      <vt:lpstr>Patient Follow Up – Primary Care</vt:lpstr>
      <vt:lpstr>Patient Follow Up – Primary Care</vt:lpstr>
      <vt:lpstr>Resources</vt:lpstr>
      <vt:lpstr>Don’t forget to take the post-quiz!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Education &amp; Follow up</dc:title>
  <dc:creator>Bonk, Megan</dc:creator>
  <cp:lastModifiedBy>Palmer, Caroline</cp:lastModifiedBy>
  <cp:revision>14</cp:revision>
  <dcterms:created xsi:type="dcterms:W3CDTF">2022-08-03T13:24:24Z</dcterms:created>
  <dcterms:modified xsi:type="dcterms:W3CDTF">2026-10-02T13:39:22Z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