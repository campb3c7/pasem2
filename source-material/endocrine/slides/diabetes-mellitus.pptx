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</p:sldMasterIdLst>
  <p:notesMasterIdLst>
    <p:notesMasterId r:id="rId65"/>
  </p:notesMasterIdLst>
  <p:sldIdLst>
    <p:sldId id="256" r:id="rId5"/>
    <p:sldId id="645" r:id="rId6"/>
    <p:sldId id="636" r:id="rId7"/>
    <p:sldId id="637" r:id="rId8"/>
    <p:sldId id="638" r:id="rId9"/>
    <p:sldId id="639" r:id="rId10"/>
    <p:sldId id="257" r:id="rId11"/>
    <p:sldId id="589" r:id="rId12"/>
    <p:sldId id="258" r:id="rId13"/>
    <p:sldId id="591" r:id="rId14"/>
    <p:sldId id="261" r:id="rId15"/>
    <p:sldId id="646" r:id="rId16"/>
    <p:sldId id="640" r:id="rId17"/>
    <p:sldId id="586" r:id="rId18"/>
    <p:sldId id="289" r:id="rId19"/>
    <p:sldId id="651" r:id="rId20"/>
    <p:sldId id="593" r:id="rId21"/>
    <p:sldId id="582" r:id="rId22"/>
    <p:sldId id="581" r:id="rId23"/>
    <p:sldId id="583" r:id="rId24"/>
    <p:sldId id="588" r:id="rId25"/>
    <p:sldId id="647" r:id="rId26"/>
    <p:sldId id="575" r:id="rId27"/>
    <p:sldId id="576" r:id="rId28"/>
    <p:sldId id="607" r:id="rId29"/>
    <p:sldId id="608" r:id="rId30"/>
    <p:sldId id="610" r:id="rId31"/>
    <p:sldId id="652" r:id="rId32"/>
    <p:sldId id="597" r:id="rId33"/>
    <p:sldId id="265" r:id="rId34"/>
    <p:sldId id="267" r:id="rId35"/>
    <p:sldId id="657" r:id="rId36"/>
    <p:sldId id="656" r:id="rId37"/>
    <p:sldId id="655" r:id="rId38"/>
    <p:sldId id="654" r:id="rId39"/>
    <p:sldId id="571" r:id="rId40"/>
    <p:sldId id="572" r:id="rId41"/>
    <p:sldId id="490" r:id="rId42"/>
    <p:sldId id="270" r:id="rId43"/>
    <p:sldId id="603" r:id="rId44"/>
    <p:sldId id="606" r:id="rId45"/>
    <p:sldId id="598" r:id="rId46"/>
    <p:sldId id="599" r:id="rId47"/>
    <p:sldId id="275" r:id="rId48"/>
    <p:sldId id="653" r:id="rId49"/>
    <p:sldId id="590" r:id="rId50"/>
    <p:sldId id="642" r:id="rId51"/>
    <p:sldId id="284" r:id="rId52"/>
    <p:sldId id="613" r:id="rId53"/>
    <p:sldId id="285" r:id="rId54"/>
    <p:sldId id="287" r:id="rId55"/>
    <p:sldId id="614" r:id="rId56"/>
    <p:sldId id="633" r:id="rId57"/>
    <p:sldId id="644" r:id="rId58"/>
    <p:sldId id="617" r:id="rId59"/>
    <p:sldId id="619" r:id="rId60"/>
    <p:sldId id="570" r:id="rId61"/>
    <p:sldId id="343" r:id="rId62"/>
    <p:sldId id="658" r:id="rId63"/>
    <p:sldId id="650" r:id="rId64"/>
  </p:sldIdLst>
  <p:sldSz cx="130048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07" dt="2026-10-03T04:04:58.094"/>
    <p1510:client id="{64EB36D3-83C2-FE78-0948-87DD268A5552}" v="2" dt="2026-10-04T04:14:48.05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/>
      <a:tcStyle>
        <a:tcBdr/>
        <a:fill>
          <a:solidFill>
            <a:srgbClr val="E6E9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 autoAdjust="0"/>
    <p:restoredTop sz="72661" autoAdjust="0"/>
  </p:normalViewPr>
  <p:slideViewPr>
    <p:cSldViewPr snapToGrid="0" snapToObjects="1">
      <p:cViewPr varScale="1">
        <p:scale>
          <a:sx n="52" d="100"/>
          <a:sy n="52" d="100"/>
        </p:scale>
        <p:origin x="2286" y="84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ell, Sarah" userId="S::k134829@ketteringhealth.org::82e0543b-ab0e-44d1-b40d-f7dfc8a07e8d" providerId="AD" clId="Web-{64EB36D3-83C2-FE78-0948-87DD268A5552}"/>
    <pc:docChg chg="modSld">
      <pc:chgData name="Brandell, Sarah" userId="S::k134829@ketteringhealth.org::82e0543b-ab0e-44d1-b40d-f7dfc8a07e8d" providerId="AD" clId="Web-{64EB36D3-83C2-FE78-0948-87DD268A5552}" dt="2026-10-04T04:14:48.055" v="1"/>
      <pc:docMkLst>
        <pc:docMk/>
      </pc:docMkLst>
      <pc:sldChg chg="addSp delSp">
        <pc:chgData name="Brandell, Sarah" userId="S::k134829@ketteringhealth.org::82e0543b-ab0e-44d1-b40d-f7dfc8a07e8d" providerId="AD" clId="Web-{64EB36D3-83C2-FE78-0948-87DD268A5552}" dt="2026-10-04T04:14:48.055" v="1"/>
        <pc:sldMkLst>
          <pc:docMk/>
          <pc:sldMk cId="0" sldId="257"/>
        </pc:sldMkLst>
        <pc:spChg chg="add">
          <ac:chgData name="Brandell, Sarah" userId="S::k134829@ketteringhealth.org::82e0543b-ab0e-44d1-b40d-f7dfc8a07e8d" providerId="AD" clId="Web-{64EB36D3-83C2-FE78-0948-87DD268A5552}" dt="2026-10-04T04:14:48.055" v="1"/>
          <ac:spMkLst>
            <pc:docMk/>
            <pc:sldMk cId="0" sldId="257"/>
            <ac:spMk id="2" creationId="{119FCD01-3B98-C1AF-412B-B2ECD99F1A8A}"/>
          </ac:spMkLst>
        </pc:spChg>
        <pc:spChg chg="del">
          <ac:chgData name="Brandell, Sarah" userId="S::k134829@ketteringhealth.org::82e0543b-ab0e-44d1-b40d-f7dfc8a07e8d" providerId="AD" clId="Web-{64EB36D3-83C2-FE78-0948-87DD268A5552}" dt="2026-10-04T04:14:47.587" v="0"/>
          <ac:spMkLst>
            <pc:docMk/>
            <pc:sldMk cId="0" sldId="257"/>
            <ac:spMk id="31" creationId="{00000000-0000-0000-0000-000000000000}"/>
          </ac:spMkLst>
        </pc:spChg>
      </pc:sldChg>
    </pc:docChg>
  </pc:docChgLst>
  <pc:docChgLst>
    <pc:chgData name="Brandell, Sarah" userId="S::k134829@ketteringhealth.org::82e0543b-ab0e-44d1-b40d-f7dfc8a07e8d" providerId="AD" clId="Web-{00000000-0000-0000-0000-000000000000}"/>
    <pc:docChg chg="modSld">
      <pc:chgData name="Brandell, Sarah" userId="S::k134829@ketteringhealth.org::82e0543b-ab0e-44d1-b40d-f7dfc8a07e8d" providerId="AD" clId="Web-{00000000-0000-0000-0000-000000000000}" dt="2026-10-03T04:08:03.607" v="32"/>
      <pc:docMkLst>
        <pc:docMk/>
      </pc:docMkLst>
      <pc:sldChg chg="modNotes">
        <pc:chgData name="Brandell, Sarah" userId="S::k134829@ketteringhealth.org::82e0543b-ab0e-44d1-b40d-f7dfc8a07e8d" providerId="AD" clId="Web-{00000000-0000-0000-0000-000000000000}" dt="2026-10-03T04:06:00.932" v="6"/>
        <pc:sldMkLst>
          <pc:docMk/>
          <pc:sldMk cId="0" sldId="261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7:05.528" v="25"/>
        <pc:sldMkLst>
          <pc:docMk/>
          <pc:sldMk cId="0" sldId="265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7:41.888" v="29"/>
        <pc:sldMkLst>
          <pc:docMk/>
          <pc:sldMk cId="0" sldId="285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6:15.230" v="8"/>
        <pc:sldMkLst>
          <pc:docMk/>
          <pc:sldMk cId="2562234538" sldId="289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7:54.732" v="30"/>
        <pc:sldMkLst>
          <pc:docMk/>
          <pc:sldMk cId="973888669" sldId="343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7:17.700" v="27"/>
        <pc:sldMkLst>
          <pc:docMk/>
          <pc:sldMk cId="400413345" sldId="571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6:47.793" v="22"/>
        <pc:sldMkLst>
          <pc:docMk/>
          <pc:sldMk cId="655977880" sldId="575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6:51.871" v="23"/>
        <pc:sldMkLst>
          <pc:docMk/>
          <pc:sldMk cId="165741823" sldId="576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6:30.902" v="11"/>
        <pc:sldMkLst>
          <pc:docMk/>
          <pc:sldMk cId="1308992104" sldId="581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6:41.449" v="21"/>
        <pc:sldMkLst>
          <pc:docMk/>
          <pc:sldMk cId="122469774" sldId="583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7:33.872" v="28"/>
        <pc:sldMkLst>
          <pc:docMk/>
          <pc:sldMk cId="1073450983" sldId="590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5:43.072" v="2"/>
        <pc:sldMkLst>
          <pc:docMk/>
          <pc:sldMk cId="3853812199" sldId="637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5:51.870" v="4"/>
        <pc:sldMkLst>
          <pc:docMk/>
          <pc:sldMk cId="4039825039" sldId="638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8:03.607" v="32"/>
        <pc:sldMkLst>
          <pc:docMk/>
          <pc:sldMk cId="3235660697" sldId="650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6:21.323" v="10"/>
        <pc:sldMkLst>
          <pc:docMk/>
          <pc:sldMk cId="3660777792" sldId="651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7:00.121" v="24"/>
        <pc:sldMkLst>
          <pc:docMk/>
          <pc:sldMk cId="258076259" sldId="652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7:11.965" v="26"/>
        <pc:sldMkLst>
          <pc:docMk/>
          <pc:sldMk cId="4056596430" sldId="655"/>
        </pc:sldMkLst>
      </pc:sldChg>
      <pc:sldChg chg="modNotes">
        <pc:chgData name="Brandell, Sarah" userId="S::k134829@ketteringhealth.org::82e0543b-ab0e-44d1-b40d-f7dfc8a07e8d" providerId="AD" clId="Web-{00000000-0000-0000-0000-000000000000}" dt="2026-10-03T04:07:59.503" v="31"/>
        <pc:sldMkLst>
          <pc:docMk/>
          <pc:sldMk cId="2460571055" sldId="6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427432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ts val="3500"/>
      </a:lnSpc>
      <a:defRPr sz="2400">
        <a:solidFill>
          <a:srgbClr val="572E2D"/>
        </a:solidFill>
        <a:latin typeface="+mn-lt"/>
        <a:ea typeface="+mn-ea"/>
        <a:cs typeface="+mn-cs"/>
        <a:sym typeface="Noteworthy Bold"/>
      </a:defRPr>
    </a:lvl1pPr>
    <a:lvl2pPr indent="228600" defTabSz="457200" latinLnBrk="0">
      <a:lnSpc>
        <a:spcPts val="3500"/>
      </a:lnSpc>
      <a:defRPr sz="2400">
        <a:solidFill>
          <a:srgbClr val="572E2D"/>
        </a:solidFill>
        <a:latin typeface="+mn-lt"/>
        <a:ea typeface="+mn-ea"/>
        <a:cs typeface="+mn-cs"/>
        <a:sym typeface="Noteworthy Bold"/>
      </a:defRPr>
    </a:lvl2pPr>
    <a:lvl3pPr indent="457200" defTabSz="457200" latinLnBrk="0">
      <a:lnSpc>
        <a:spcPts val="3500"/>
      </a:lnSpc>
      <a:defRPr sz="2400">
        <a:solidFill>
          <a:srgbClr val="572E2D"/>
        </a:solidFill>
        <a:latin typeface="+mn-lt"/>
        <a:ea typeface="+mn-ea"/>
        <a:cs typeface="+mn-cs"/>
        <a:sym typeface="Noteworthy Bold"/>
      </a:defRPr>
    </a:lvl3pPr>
    <a:lvl4pPr indent="685800" defTabSz="457200" latinLnBrk="0">
      <a:lnSpc>
        <a:spcPts val="3500"/>
      </a:lnSpc>
      <a:defRPr sz="2400">
        <a:solidFill>
          <a:srgbClr val="572E2D"/>
        </a:solidFill>
        <a:latin typeface="+mn-lt"/>
        <a:ea typeface="+mn-ea"/>
        <a:cs typeface="+mn-cs"/>
        <a:sym typeface="Noteworthy Bold"/>
      </a:defRPr>
    </a:lvl4pPr>
    <a:lvl5pPr indent="914400" defTabSz="457200" latinLnBrk="0">
      <a:lnSpc>
        <a:spcPts val="3500"/>
      </a:lnSpc>
      <a:defRPr sz="2400">
        <a:solidFill>
          <a:srgbClr val="572E2D"/>
        </a:solidFill>
        <a:latin typeface="+mn-lt"/>
        <a:ea typeface="+mn-ea"/>
        <a:cs typeface="+mn-cs"/>
        <a:sym typeface="Noteworthy Bold"/>
      </a:defRPr>
    </a:lvl5pPr>
    <a:lvl6pPr indent="1143000" defTabSz="457200" latinLnBrk="0">
      <a:lnSpc>
        <a:spcPts val="3500"/>
      </a:lnSpc>
      <a:defRPr sz="2400">
        <a:solidFill>
          <a:srgbClr val="572E2D"/>
        </a:solidFill>
        <a:latin typeface="+mn-lt"/>
        <a:ea typeface="+mn-ea"/>
        <a:cs typeface="+mn-cs"/>
        <a:sym typeface="Noteworthy Bold"/>
      </a:defRPr>
    </a:lvl6pPr>
    <a:lvl7pPr indent="1371600" defTabSz="457200" latinLnBrk="0">
      <a:lnSpc>
        <a:spcPts val="3500"/>
      </a:lnSpc>
      <a:defRPr sz="2400">
        <a:solidFill>
          <a:srgbClr val="572E2D"/>
        </a:solidFill>
        <a:latin typeface="+mn-lt"/>
        <a:ea typeface="+mn-ea"/>
        <a:cs typeface="+mn-cs"/>
        <a:sym typeface="Noteworthy Bold"/>
      </a:defRPr>
    </a:lvl7pPr>
    <a:lvl8pPr indent="1600200" defTabSz="457200" latinLnBrk="0">
      <a:lnSpc>
        <a:spcPts val="3500"/>
      </a:lnSpc>
      <a:defRPr sz="2400">
        <a:solidFill>
          <a:srgbClr val="572E2D"/>
        </a:solidFill>
        <a:latin typeface="+mn-lt"/>
        <a:ea typeface="+mn-ea"/>
        <a:cs typeface="+mn-cs"/>
        <a:sym typeface="Noteworthy Bold"/>
      </a:defRPr>
    </a:lvl8pPr>
    <a:lvl9pPr indent="1828800" defTabSz="457200" latinLnBrk="0">
      <a:lnSpc>
        <a:spcPts val="3500"/>
      </a:lnSpc>
      <a:defRPr sz="2400">
        <a:solidFill>
          <a:srgbClr val="572E2D"/>
        </a:solidFill>
        <a:latin typeface="+mn-lt"/>
        <a:ea typeface="+mn-ea"/>
        <a:cs typeface="+mn-cs"/>
        <a:sym typeface="Noteworthy Bold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pathology.jhu.edu/pancreas/basicoverview3.php?area=ba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pathology.jhu.edu/pancreas/basicoverview3.php?area=ba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pathology.jhu.edu/pancreas/basicoverview3.php?area=ba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abetes.co.uk/body/glucagon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todate.com/contents/image?imageKey=ENDO/66417&amp;topicKey=ENDO/1800&amp;search=type%201%20diabetes%20pathophysiology&amp;rank=1~150&amp;source=see_link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utpatient.aace.com/type1-diabetes/pathophysiology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-B-RVybvffU&amp;t=73s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B-RVybvffU&amp;t=73s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todate.com/contents/management-of-type-1-diabetes-mellitus-in-children-and-adolescents?search=type%20I%20diabetes&amp;source=search_result&amp;selectedTitle=2~150&amp;usage_type=default&amp;display_rank=2#H720270993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diabetes/managing/problems.html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diabetes/managing/problems.html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6127640/pdf/fendo-09-00479.pdf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416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http://pathology.jhu.edu/pancreas/basicoverview3.php?area=ba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11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http://pathology.jhu.edu/pancreas/basicoverview3.php?area=ba</a:t>
            </a:r>
            <a:endParaRPr lang="en-US" dirty="0"/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36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http://pathology.jhu.edu/pancreas/basicoverview3.php?area=ba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855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https://www.diabetes.co.uk/body/glucagon.html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751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946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639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189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300162"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Noteworthy Bold"/>
            </a:endParaRPr>
          </a:p>
        </p:txBody>
      </p:sp>
    </p:spTree>
    <p:extLst>
      <p:ext uri="{BB962C8B-B14F-4D97-AF65-F5344CB8AC3E}">
        <p14:creationId xmlns:p14="http://schemas.microsoft.com/office/powerpoint/2010/main" val="2263898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https://www.uptodate.com/contents/image?imageKey=ENDO%2F66417&amp;topicKey=ENDO%2F1800&amp;search=type%201%20diabetes%20pathophysiology&amp;rank=1~150&amp;source=see_link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5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http://outpatient.aace.com/type1-diabetes/pathophysiology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hlinkClick r:id="rId4"/>
              </a:rPr>
              <a:t>https://www.youtube.com/watch?v=-B-RVybvffU&amp;t=73s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66824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6817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60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80CF2-9055-49E4-8ED7-509354FA8D3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72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https://www.youtube.com/watch?v=-B-RVybvffU&amp;t=73s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806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03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  </a:t>
            </a:r>
            <a:r>
              <a:rPr lang="en-US" dirty="0">
                <a:hlinkClick r:id="rId3"/>
              </a:rPr>
              <a:t>https://www.youtube.com/watch?v=-B-RVybvffU&amp;t=73s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601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24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9493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15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i="0" dirty="0">
              <a:solidFill>
                <a:srgbClr val="572E2D"/>
              </a:solidFill>
              <a:effectLst/>
              <a:latin typeface="+mn-lt"/>
              <a:ea typeface="+mn-ea"/>
              <a:cs typeface="+mn-cs"/>
              <a:sym typeface="Noteworthy Bold"/>
            </a:endParaRPr>
          </a:p>
        </p:txBody>
      </p:sp>
    </p:spTree>
    <p:extLst>
      <p:ext uri="{BB962C8B-B14F-4D97-AF65-F5344CB8AC3E}">
        <p14:creationId xmlns:p14="http://schemas.microsoft.com/office/powerpoint/2010/main" val="38325629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CB088-4A1F-4B9D-5C33-B457C88C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87F5E-B4FF-A53A-296D-4B4CC128D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0837C-F5AE-7FA0-78B3-E6E4675F9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1" i="0" dirty="0">
              <a:solidFill>
                <a:srgbClr val="572E2D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1302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563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487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400" b="0" i="0" dirty="0">
              <a:solidFill>
                <a:srgbClr val="572E2D"/>
              </a:solidFill>
              <a:effectLst/>
              <a:latin typeface="+mn-lt"/>
              <a:ea typeface="+mn-ea"/>
              <a:cs typeface="+mn-cs"/>
              <a:sym typeface="Noteworthy Bold"/>
            </a:endParaRPr>
          </a:p>
        </p:txBody>
      </p:sp>
    </p:spTree>
    <p:extLst>
      <p:ext uri="{BB962C8B-B14F-4D97-AF65-F5344CB8AC3E}">
        <p14:creationId xmlns:p14="http://schemas.microsoft.com/office/powerpoint/2010/main" val="16796484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7EA6C-259B-4658-2453-20F866DA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63C2B-F32B-359F-45F4-E4E963FE1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70DD6-10B0-D7C9-6C60-9C008B7D2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eworthy Bold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08580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5B62-9F75-2C5D-4FDC-D1B118C4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E91F5-E365-3FCC-4B97-2BC018B34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34698-78A2-523D-39DD-25A20CA33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233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8233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7112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7243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0982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https://www.uptodate.com/contents/management-of-type-1-diabetes-mellitus-in-children-and-adolescents?search=type%20I%20diabetes&amp;source=search_result&amp;selectedTitle=2~150&amp;usage_type=default&amp;display_rank=2#H720270993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8188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937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7013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32F1-FFED-C870-2B39-9A73D0AC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2B5DC-FFD9-8612-DE6F-FE5857C8E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EC578-95BC-452B-16B5-FC8909D96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1162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64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51372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0217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44449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355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512711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31387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4210309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https://www.cdc.gov/diabetes/managing/problems.html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082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4C39E-EFAF-2BEC-7A2D-B24066D4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F4F79-6B24-DE99-925B-BC5FD1F8F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C299F-00E2-856B-9F51-4103EEC90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https://www.cdc.gov/diabetes/managing/problems.html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4523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https://www.ncbi.nlm.nih.gov/pmc/articles/PMC6127640/pdf/fendo-09-00479.pdf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62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C5B1-0F9D-4A15-A1C8-5C5E14ADB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989A9-576D-41DC-A220-F675332F0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E1EA4-BCD7-4EDC-8CDD-13C7E7F0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E9F34-2A67-44A9-A5D5-AE5F2CE9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0DFC8-9589-4F8D-A5E0-5CF950C7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2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591A-A2D3-4210-B79C-6904413F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FF7BF-6AFD-4172-B34B-D3E3F1183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E744C-0C7F-4D38-8D64-9FC3FEA9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6C7F-926A-E843-9BD6-F0E9DA386F07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DAF98-80E2-4A5A-96AA-73C9CF18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78A81-D47A-43F7-B836-CBFFA233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AC821-6E9E-634C-9441-CE64F615A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1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04A9-EBC0-49EC-8E7C-B7704877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96677-3E4A-4B31-A855-AEEB7514F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E6B30-7239-48E7-9EBD-28DD0228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08502-B28E-4566-9A36-A0F65880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16E8B-9E3F-4B9D-B339-1AE9540C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2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2BB4-9D3C-4BB7-9A6F-CE6D9431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FD07-F51C-4BAA-A380-AA6092874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9BD4A-62BE-4B53-B394-23349F2A9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576-E87E-437F-8B9E-71A4623F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D2BEF-3456-40E9-97DA-9AB7A8D3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7FA0B-2090-4CE1-A4C5-088F947F2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9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405D-01BF-49AC-BABF-1F3A645B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78606-F16D-47D4-80F1-06ACC1CED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9E015-EBE4-4BCC-8EDC-1DC1D5DFE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27E5C-95DC-4151-887B-00FCE3956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F9CEF-DC3F-4E41-BCFF-6BD232AEA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CD6EB-4EAD-4D27-A041-B58A76FF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7F02E-F556-42F7-BA84-AB3E5722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EB9EDE-DEDE-4F1D-B79D-FFCDE8EE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4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013F-443C-4CB5-883A-7B819DFA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FFC59-998E-4BCF-BA32-5ED90B14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C809E-565C-4EB1-A4CD-E93CAEA1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F79A9-B43F-41D9-9111-960A5394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7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6AB31-0FAB-46C4-95C1-4C8F7959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2D7731-8C36-4640-8503-A5AD909F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0F675-74AA-47A0-9E26-983CA733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0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B0C3-C4CF-47AD-9E98-FF6B9F764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A7A9B-4992-4603-8334-9F6B069E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CA3B4-9DC9-4EAA-B4DA-869CE278B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EA676-17B3-4ADC-AFDF-B6D528FB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3DCA8-B439-470F-970F-441786CFA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053A1-367F-400E-96A5-455B287E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9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7BB9-CBFE-4333-83B2-54CEB284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279A2-3095-44C9-B649-A6B255E31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E0B0C-1C7E-4485-8341-7D53EF077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B442F-0BB4-41EF-A266-7D74345B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9A8E3-5399-4C46-AF90-A805979F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A84C8-4A7F-4DE4-B86C-CF4B1941E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8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21EB-1CF4-41BA-8F79-41A460291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49F3B-AD62-42A3-937E-071282A99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0E6AF-9210-4D95-8688-CBB8BA34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7EBC5-86ED-473A-88A8-32E3E70C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7117B-9676-45B4-807D-6F143BCA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79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E2316-3EB8-47D4-9B5B-86595D1A4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A55A4-0041-4636-8CB5-37040ACBC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CFE72-5785-4D33-8A65-C1247434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B6852-0B62-4398-A3CF-AC422EBFA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D62D9-0524-4024-8F47-1FA49119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30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926683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21A988-1192-4EE3-905B-CFCABF848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4B303-2146-45F0-AADD-DC706BFF1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81E00-773D-4176-90F0-E2BEA43BF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AFF22-2152-49C8-9887-233F2075297B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E9C99-7619-412B-BFE4-90DAD36D3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59C4E-7DA9-4794-B444-663076C68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3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64582" cy="9753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Shape 27"/>
          <p:cNvSpPr>
            <a:spLocks noGrp="1"/>
          </p:cNvSpPr>
          <p:nvPr>
            <p:ph type="title" idx="4294967295"/>
          </p:nvPr>
        </p:nvSpPr>
        <p:spPr>
          <a:xfrm>
            <a:off x="371475" y="886601"/>
            <a:ext cx="4314825" cy="35425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defTabSz="914400">
              <a:defRPr sz="6200">
                <a:latin typeface="Arial"/>
                <a:ea typeface="Arial"/>
                <a:cs typeface="Arial"/>
                <a:sym typeface="Arial"/>
              </a:defRPr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Diabetes Mellitus</a:t>
            </a:r>
            <a:b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CMM: Endocrinology</a:t>
            </a:r>
          </a:p>
        </p:txBody>
      </p:sp>
      <p:sp>
        <p:nvSpPr>
          <p:cNvPr id="28" name="Shape 28"/>
          <p:cNvSpPr>
            <a:spLocks noGrp="1"/>
          </p:cNvSpPr>
          <p:nvPr>
            <p:ph type="body" sz="quarter" idx="4294967295"/>
          </p:nvPr>
        </p:nvSpPr>
        <p:spPr>
          <a:xfrm>
            <a:off x="371474" y="4714875"/>
            <a:ext cx="4314825" cy="3894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1300162">
              <a:spcBef>
                <a:spcPts val="700"/>
              </a:spcBef>
              <a:defRPr sz="4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15248" indent="0" defTabSz="914400">
              <a:spcBef>
                <a:spcPts val="1000"/>
              </a:spcBef>
              <a:buNone/>
            </a:pP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5248" indent="0" defTabSz="914400">
              <a:spcBef>
                <a:spcPts val="1000"/>
              </a:spcBef>
              <a:buNone/>
            </a:pPr>
            <a:endParaRPr lang="en-US" sz="2800" dirty="0">
              <a:latin typeface="+mn-lt"/>
              <a:ea typeface="+mn-ea"/>
              <a:cs typeface="+mn-cs"/>
            </a:endParaRPr>
          </a:p>
          <a:p>
            <a:pPr marL="15248" indent="0" defTabSz="914400"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Fall </a:t>
            </a:r>
            <a:r>
              <a:rPr lang="en-US" sz="2800" dirty="0">
                <a:latin typeface="+mn-lt"/>
                <a:ea typeface="+mn-ea"/>
                <a:cs typeface="+mn-cs"/>
              </a:rPr>
              <a:t>Semester</a:t>
            </a: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5248" indent="0" defTabSz="914400">
              <a:spcBef>
                <a:spcPts val="1000"/>
              </a:spcBef>
              <a:buNone/>
            </a:pP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5248" indent="0" defTabSz="914400"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Sarah Brandell, MPAS, PA-C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C494A-0E40-4D34-863C-C9FC96D3A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47" y="1428662"/>
            <a:ext cx="6667487" cy="6667487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"/>
            <a:ext cx="13004800" cy="3264339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0C580-ED02-4FD8-AE2A-EDC9D129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838" y="780288"/>
            <a:ext cx="10179632" cy="16906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14058-3A85-465C-BA91-6FC2E5025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204" y="2696705"/>
            <a:ext cx="10319657" cy="5483627"/>
          </a:xfrm>
        </p:spPr>
        <p:txBody>
          <a:bodyPr numCol="2" anchor="ctr">
            <a:normAutofit fontScale="92500" lnSpcReduction="10000"/>
          </a:bodyPr>
          <a:lstStyle/>
          <a:p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Pancreas Function</a:t>
            </a:r>
          </a:p>
          <a:p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Epidemiology</a:t>
            </a:r>
          </a:p>
          <a:p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DM Types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1 DM</a:t>
            </a:r>
          </a:p>
          <a:p>
            <a:pPr lvl="2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Epidemiology</a:t>
            </a:r>
          </a:p>
          <a:p>
            <a:pPr lvl="2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Pathophysiology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Impaired Fasting Glucose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2 DM</a:t>
            </a:r>
          </a:p>
          <a:p>
            <a:pPr lvl="2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Epidemiology</a:t>
            </a:r>
          </a:p>
          <a:p>
            <a:pPr lvl="2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Pathophysiology</a:t>
            </a:r>
          </a:p>
          <a:p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we dealing with?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Diabetes Variants</a:t>
            </a:r>
          </a:p>
          <a:p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T1DM 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presentation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</a:p>
          <a:p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T2DM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Factors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presentation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</a:p>
          <a:p>
            <a:pPr lvl="1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</a:p>
          <a:p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 Maintenance in Diabetes</a:t>
            </a:r>
          </a:p>
          <a:p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 Considerations</a:t>
            </a:r>
          </a:p>
          <a:p>
            <a:endParaRPr lang="en-US" sz="2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2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2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72891" y="8491940"/>
            <a:ext cx="10631911" cy="126166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8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5625-6D80-43B3-ACAC-C5CD7F69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31" y="191194"/>
            <a:ext cx="12627033" cy="103909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Normal Pancreas Function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F1236C-220F-4117-AD5C-15DAFCECA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78" y="1565031"/>
            <a:ext cx="11941044" cy="8191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“Exocrine” cells-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produce enzymes that help with digestion of food that are released into ducts.</a:t>
            </a:r>
          </a:p>
          <a:p>
            <a:pPr marL="0" indent="0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“Endocrine” cells-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Composed of small islands of cells called islets of Langerhans.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Release their hormones into the blood stream</a:t>
            </a:r>
          </a:p>
          <a:p>
            <a:pPr lvl="1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Insulin</a:t>
            </a:r>
          </a:p>
          <a:p>
            <a:pPr lvl="1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Glucagon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Function is to help control blood glucose levels</a:t>
            </a:r>
          </a:p>
          <a:p>
            <a:pPr lvl="1"/>
            <a:endParaRPr lang="en-US" sz="3173" dirty="0"/>
          </a:p>
        </p:txBody>
      </p:sp>
    </p:spTree>
    <p:extLst>
      <p:ext uri="{BB962C8B-B14F-4D97-AF65-F5344CB8AC3E}">
        <p14:creationId xmlns:p14="http://schemas.microsoft.com/office/powerpoint/2010/main" val="2034709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5625-6D80-43B3-ACAC-C5CD7F69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31" y="191194"/>
            <a:ext cx="12627033" cy="10390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Normal Pancreas Function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F1236C-220F-4117-AD5C-15DAFCECA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09" y="2015602"/>
            <a:ext cx="11976337" cy="7546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Islets of Langerhans- Beta cells: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Produces and releases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insulin, amylin, and C-peptide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BG levels ↑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beta cells quickly respond by secreting stored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insulin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while at the same time increasing production of the hormone.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Response to a spike in BG usually takes about 10 min</a:t>
            </a:r>
          </a:p>
        </p:txBody>
      </p:sp>
    </p:spTree>
    <p:extLst>
      <p:ext uri="{BB962C8B-B14F-4D97-AF65-F5344CB8AC3E}">
        <p14:creationId xmlns:p14="http://schemas.microsoft.com/office/powerpoint/2010/main" val="385381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5625-6D80-43B3-ACAC-C5CD7F69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31" y="191194"/>
            <a:ext cx="12627033" cy="10390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Normal Pancreas Function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F1236C-220F-4117-AD5C-15DAFCECA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09" y="1548814"/>
            <a:ext cx="6133037" cy="80135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Islets of Langerhans-Beta cells  also secrete: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Amylin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slows the rate of glucose entering the blood stream, making it a short-term regulator of BG levels.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C-peptide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 marker of insulin creation.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1748AD-BD9F-415A-B620-3B74C1799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346" y="1548814"/>
            <a:ext cx="6556454" cy="812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2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5625-6D80-43B3-ACAC-C5CD7F69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31" y="191194"/>
            <a:ext cx="12627033" cy="10390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Normal Pancreas Function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F1236C-220F-4117-AD5C-15DAFCECA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09" y="2377440"/>
            <a:ext cx="12527855" cy="7184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Islets of Langerhans-Alpha cell:</a:t>
            </a:r>
          </a:p>
          <a:p>
            <a:pPr marL="0" indent="0">
              <a:buNone/>
            </a:pPr>
            <a:r>
              <a:rPr lang="en-US" sz="3600" dirty="0"/>
              <a:t>- Secrete the </a:t>
            </a:r>
            <a:r>
              <a:rPr lang="en-US" sz="3600" b="1" dirty="0"/>
              <a:t>hormone glucagon</a:t>
            </a:r>
          </a:p>
          <a:p>
            <a:pPr lvl="1"/>
            <a:r>
              <a:rPr lang="en-US" sz="3600" dirty="0"/>
              <a:t>Released in response to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sz="3600" b="1" dirty="0"/>
              <a:t> BG levels </a:t>
            </a:r>
            <a:r>
              <a:rPr lang="en-US" sz="3600" dirty="0"/>
              <a:t>and to events where the body needs additional glucose</a:t>
            </a:r>
          </a:p>
          <a:p>
            <a:pPr lvl="2"/>
            <a:r>
              <a:rPr lang="en-US" sz="3600" dirty="0"/>
              <a:t>Stimulate the liver to break down glycogen to be released into the blood as glucose</a:t>
            </a:r>
          </a:p>
          <a:p>
            <a:pPr lvl="2"/>
            <a:r>
              <a:rPr lang="en-US" sz="3600" dirty="0"/>
              <a:t>Activate gluconeogenesis, the conversion of amino acids into glucose</a:t>
            </a:r>
          </a:p>
          <a:p>
            <a:pPr lvl="2"/>
            <a:r>
              <a:rPr lang="en-US" sz="3600" dirty="0"/>
              <a:t>Break down stored fat (triglycerides) into fatty acids for use as fuel by cells</a:t>
            </a:r>
          </a:p>
          <a:p>
            <a:pPr lvl="3"/>
            <a:endParaRPr lang="en-US" sz="2460" dirty="0"/>
          </a:p>
        </p:txBody>
      </p:sp>
    </p:spTree>
    <p:extLst>
      <p:ext uri="{BB962C8B-B14F-4D97-AF65-F5344CB8AC3E}">
        <p14:creationId xmlns:p14="http://schemas.microsoft.com/office/powerpoint/2010/main" val="170211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lIns="72248" tIns="72248" rIns="72248" bIns="72248" anchor="ctr">
            <a:normAutofit/>
          </a:bodyPr>
          <a:lstStyle>
            <a:lvl1pPr defTabSz="1287160">
              <a:defRPr sz="6138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buNone/>
            </a:pPr>
            <a:r>
              <a:rPr dirty="0">
                <a:latin typeface="+mj-lt"/>
              </a:rPr>
              <a:t>The Burden of Diabetes Mellitus</a:t>
            </a: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119FCD01-3B98-C1AF-412B-B2ECD99F1A8A}"/>
              </a:ext>
            </a:extLst>
          </p:cNvPr>
          <p:cNvSpPr>
            <a:spLocks noGrp="1"/>
          </p:cNvSpPr>
          <p:nvPr/>
        </p:nvSpPr>
        <p:spPr>
          <a:xfrm>
            <a:off x="501650" y="1516063"/>
            <a:ext cx="12503150" cy="7912100"/>
          </a:xfrm>
          <a:prstGeom prst="rect">
            <a:avLst/>
          </a:prstGeom>
        </p:spPr>
        <p:txBody>
          <a:bodyPr vert="horz" lIns="72248" tIns="72248" rIns="72248" bIns="72248" rtlCol="0" anchor="t">
            <a:norm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3840" indent="-243840" defTabSz="1300162">
              <a:spcBef>
                <a:spcPts val="7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40.1 million Americans have diabetes (~12% of the population)</a:t>
            </a:r>
            <a:endParaRPr lang="en-US" sz="4500" dirty="0">
              <a:ea typeface="+mn-lt"/>
              <a:cs typeface="+mn-lt"/>
            </a:endParaRPr>
          </a:p>
          <a:p>
            <a:pPr marL="243840" indent="-243840" defTabSz="1300162">
              <a:spcBef>
                <a:spcPts val="7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&gt;1 in 4 adults with diabetes are undiagnosed</a:t>
            </a:r>
            <a:endParaRPr lang="en-US" sz="4500" dirty="0">
              <a:ea typeface="+mn-lt"/>
              <a:cs typeface="+mn-lt"/>
            </a:endParaRPr>
          </a:p>
          <a:p>
            <a:pPr marL="243840" indent="-243840" defTabSz="1300162">
              <a:spcBef>
                <a:spcPts val="7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2.1 million Americans have diagnosed T1DM</a:t>
            </a:r>
            <a:endParaRPr lang="en-US" sz="4500" dirty="0">
              <a:ea typeface="+mn-lt"/>
              <a:cs typeface="+mn-lt"/>
            </a:endParaRPr>
          </a:p>
          <a:p>
            <a:pPr marL="243840" indent="-243840" defTabSz="1300162">
              <a:spcBef>
                <a:spcPts val="7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  <a:sym typeface="Arial"/>
              </a:rPr>
              <a:t>115.2 million U.S. adults have prediabetes</a:t>
            </a:r>
            <a:endParaRPr lang="en-US" sz="4500" dirty="0">
              <a:ea typeface="+mn-lt"/>
              <a:cs typeface="+mn-lt"/>
            </a:endParaRPr>
          </a:p>
          <a:p>
            <a:pPr marL="243840" indent="-243840" defTabSz="1300162">
              <a:spcBef>
                <a:spcPts val="7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  <a:sym typeface="Arial"/>
              </a:rPr>
              <a:t>~</a:t>
            </a:r>
            <a:r>
              <a:rPr lang="en-US" sz="3600" dirty="0">
                <a:ea typeface="+mn-lt"/>
                <a:cs typeface="+mn-lt"/>
              </a:rPr>
              <a:t>8 in 10 adults with prediabetes are unaware</a:t>
            </a:r>
            <a:br>
              <a:rPr lang="en-US" b="1" dirty="0">
                <a:ea typeface="+mn-lt"/>
                <a:cs typeface="+mn-lt"/>
              </a:rPr>
            </a:br>
            <a:endParaRPr lang="en-US" b="1">
              <a:ea typeface="+mn-lt"/>
              <a:cs typeface="+mn-lt"/>
            </a:endParaRPr>
          </a:p>
          <a:p>
            <a:pPr marL="1017270" lvl="1" indent="-285750" defTabSz="1300162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b="1" dirty="0">
              <a:ea typeface="+mn-lt"/>
              <a:cs typeface="+mn-lt"/>
            </a:endParaRPr>
          </a:p>
          <a:p>
            <a:pPr marL="0" indent="0" defTabSz="1300162">
              <a:spcBef>
                <a:spcPts val="700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Arial"/>
              <a:ea typeface="Calibri"/>
              <a:cs typeface="Arial"/>
            </a:endParaRPr>
          </a:p>
          <a:p>
            <a:pPr marL="61912" indent="-61912" defTabSz="1300162">
              <a:spcBef>
                <a:spcPts val="7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Arial" panose="020B0604020202020204" pitchFamily="34" charset="0"/>
              <a:ea typeface="Calibri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lIns="72248" tIns="72248" rIns="72248" bIns="72248" anchor="ctr">
            <a:normAutofit/>
          </a:bodyPr>
          <a:lstStyle>
            <a:lvl1pPr defTabSz="1287160">
              <a:defRPr sz="6138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buNone/>
            </a:pPr>
            <a:r>
              <a:rPr dirty="0">
                <a:latin typeface="+mj-lt"/>
              </a:rPr>
              <a:t>The Burden of Diabetes Mellitus</a:t>
            </a:r>
          </a:p>
        </p:txBody>
      </p:sp>
      <p:sp>
        <p:nvSpPr>
          <p:cNvPr id="31" name="Shape 31"/>
          <p:cNvSpPr>
            <a:spLocks noGrp="1"/>
          </p:cNvSpPr>
          <p:nvPr>
            <p:ph type="body" idx="4294967295"/>
          </p:nvPr>
        </p:nvSpPr>
        <p:spPr>
          <a:xfrm>
            <a:off x="501650" y="2057400"/>
            <a:ext cx="12503150" cy="7519988"/>
          </a:xfrm>
          <a:prstGeom prst="rect">
            <a:avLst/>
          </a:prstGeom>
        </p:spPr>
        <p:txBody>
          <a:bodyPr vert="horz" lIns="72248" tIns="72248" rIns="72248" bIns="72248" rtlCol="0" anchor="t">
            <a:normAutofit/>
          </a:bodyPr>
          <a:lstStyle/>
          <a:p>
            <a:pPr marL="61912" indent="-61912" defTabSz="1300162"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charset="0"/>
                <a:ea typeface="Calibri" charset="0"/>
                <a:cs typeface="Calibri" charset="0"/>
              </a:rPr>
              <a:t>By 2050, 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if this trend continues, </a:t>
            </a:r>
            <a:r>
              <a:rPr dirty="0">
                <a:latin typeface="Calibri" charset="0"/>
                <a:ea typeface="Calibri" charset="0"/>
                <a:cs typeface="Calibri" charset="0"/>
              </a:rPr>
              <a:t>1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of every </a:t>
            </a:r>
            <a:r>
              <a:rPr dirty="0">
                <a:latin typeface="Calibri" charset="0"/>
                <a:ea typeface="Calibri" charset="0"/>
                <a:cs typeface="Calibri" charset="0"/>
              </a:rPr>
              <a:t>3-4 adults will have 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diabetes in the US</a:t>
            </a:r>
          </a:p>
          <a:p>
            <a:pPr marL="61912" indent="-61912" defTabSz="1300162"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charset="0"/>
              <a:ea typeface="Calibri" charset="0"/>
              <a:cs typeface="Calibri" charset="0"/>
            </a:endParaRPr>
          </a:p>
          <a:p>
            <a:pPr marL="61595" indent="-61595" defTabSz="1300162">
              <a:spcBef>
                <a:spcPts val="700"/>
              </a:spcBef>
              <a:buFont typeface="Arial"/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/>
                <a:ea typeface="Calibri"/>
                <a:cs typeface="Calibri"/>
              </a:rPr>
              <a:t>In 201</a:t>
            </a:r>
            <a:r>
              <a:rPr lang="en-US" dirty="0">
                <a:latin typeface="Calibri"/>
                <a:ea typeface="Calibri"/>
                <a:cs typeface="Calibri"/>
              </a:rPr>
              <a:t>7</a:t>
            </a:r>
            <a:r>
              <a:rPr dirty="0">
                <a:latin typeface="Calibri"/>
                <a:ea typeface="Calibri"/>
                <a:cs typeface="Calibri"/>
              </a:rPr>
              <a:t>, 1 in </a:t>
            </a:r>
            <a:r>
              <a:rPr lang="en-US" dirty="0">
                <a:latin typeface="Calibri"/>
                <a:ea typeface="Calibri"/>
                <a:cs typeface="Calibri"/>
              </a:rPr>
              <a:t>7</a:t>
            </a:r>
            <a:r>
              <a:rPr dirty="0">
                <a:latin typeface="Calibri"/>
                <a:ea typeface="Calibri"/>
                <a:cs typeface="Calibri"/>
              </a:rPr>
              <a:t> healthcare dollars was spent on DM for a total of $</a:t>
            </a:r>
            <a:r>
              <a:rPr lang="en-US" dirty="0">
                <a:latin typeface="Calibri"/>
                <a:ea typeface="Calibri"/>
                <a:cs typeface="Calibri"/>
              </a:rPr>
              <a:t>327 billion</a:t>
            </a:r>
            <a:r>
              <a:rPr dirty="0">
                <a:latin typeface="Calibri"/>
                <a:ea typeface="Calibri"/>
                <a:cs typeface="Calibri"/>
              </a:rPr>
              <a:t>, and ½</a:t>
            </a:r>
            <a:r>
              <a:rPr baseline="30000" dirty="0">
                <a:latin typeface="Calibri"/>
                <a:ea typeface="Calibri"/>
                <a:cs typeface="Calibri"/>
              </a:rPr>
              <a:t>+</a:t>
            </a:r>
            <a:r>
              <a:rPr dirty="0">
                <a:latin typeface="Calibri"/>
                <a:ea typeface="Calibri"/>
                <a:cs typeface="Calibri"/>
              </a:rPr>
              <a:t> of which was spent on complications of the disease: MI, CVA, foot ulcers, ESRD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61912" indent="-61912" defTabSz="1300162">
              <a:spcBef>
                <a:spcPts val="700"/>
              </a:spcBef>
              <a:buFont typeface="Arial"/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pPr marL="61595" indent="-61595" defTabSz="1300162">
              <a:spcBef>
                <a:spcPts val="700"/>
              </a:spcBef>
              <a:buFont typeface="Arial"/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latin typeface="Calibri"/>
                <a:ea typeface="Calibri"/>
                <a:cs typeface="Calibri"/>
              </a:rPr>
              <a:t>The life expectancy of persons with DM is reduced by 5-10 years and CV dz is the major cause of death</a:t>
            </a:r>
          </a:p>
          <a:p>
            <a:pPr marL="61912" indent="-61912" defTabSz="1300162"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pPr marL="61912" indent="-61912" defTabSz="1300162"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62078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/>
          </p:cNvSpPr>
          <p:nvPr>
            <p:ph type="body" idx="4294967295"/>
          </p:nvPr>
        </p:nvSpPr>
        <p:spPr>
          <a:xfrm>
            <a:off x="475488" y="2155370"/>
            <a:ext cx="12070080" cy="7598229"/>
          </a:xfrm>
          <a:prstGeom prst="rect">
            <a:avLst/>
          </a:prstGeom>
        </p:spPr>
        <p:txBody>
          <a:bodyPr lIns="72248" tIns="72248" rIns="72248" bIns="72248">
            <a:normAutofit/>
          </a:bodyPr>
          <a:lstStyle/>
          <a:p>
            <a:pPr marL="0" indent="0" defTabSz="1300162">
              <a:lnSpc>
                <a:spcPct val="110000"/>
              </a:lnSpc>
              <a:spcBef>
                <a:spcPts val="700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charset="0"/>
                <a:ea typeface="Calibri" charset="0"/>
                <a:cs typeface="Calibri" charset="0"/>
              </a:rPr>
              <a:t>In the US, diabetes is the </a:t>
            </a:r>
            <a:r>
              <a:rPr u="sng" dirty="0">
                <a:latin typeface="Calibri" charset="0"/>
                <a:ea typeface="Calibri" charset="0"/>
                <a:cs typeface="Calibri" charset="0"/>
              </a:rPr>
              <a:t>leading</a:t>
            </a:r>
            <a:r>
              <a:rPr dirty="0">
                <a:latin typeface="Calibri" charset="0"/>
                <a:ea typeface="Calibri" charset="0"/>
                <a:cs typeface="Calibri" charset="0"/>
              </a:rPr>
              <a:t> cause of </a:t>
            </a:r>
          </a:p>
          <a:p>
            <a:pPr marL="463550" lvl="1" indent="-120650" defTabSz="1300162">
              <a:lnSpc>
                <a:spcPct val="110000"/>
              </a:lnSpc>
              <a:spcBef>
                <a:spcPts val="6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charset="0"/>
                <a:ea typeface="Calibri" charset="0"/>
                <a:cs typeface="Calibri" charset="0"/>
              </a:rPr>
              <a:t>ESRD</a:t>
            </a:r>
          </a:p>
          <a:p>
            <a:pPr marL="463550" lvl="1" indent="-120650" defTabSz="1300162">
              <a:lnSpc>
                <a:spcPct val="110000"/>
              </a:lnSpc>
              <a:spcBef>
                <a:spcPts val="6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charset="0"/>
                <a:ea typeface="Calibri" charset="0"/>
                <a:cs typeface="Calibri" charset="0"/>
              </a:rPr>
              <a:t>Blindness</a:t>
            </a:r>
          </a:p>
          <a:p>
            <a:pPr marL="463550" lvl="1" indent="-120650" defTabSz="1300162">
              <a:lnSpc>
                <a:spcPct val="110000"/>
              </a:lnSpc>
              <a:spcBef>
                <a:spcPts val="6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charset="0"/>
                <a:ea typeface="Calibri" charset="0"/>
                <a:cs typeface="Calibri" charset="0"/>
              </a:rPr>
              <a:t>Non-traumatic lower limb amputation</a:t>
            </a:r>
          </a:p>
          <a:p>
            <a:pPr defTabSz="1300162">
              <a:lnSpc>
                <a:spcPct val="110000"/>
              </a:lnSpc>
              <a:spcBef>
                <a:spcPts val="7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sz="4900" dirty="0">
              <a:latin typeface="Calibri" charset="0"/>
              <a:ea typeface="Calibri" charset="0"/>
              <a:cs typeface="Calibri" charset="0"/>
            </a:endParaRPr>
          </a:p>
          <a:p>
            <a:pPr marL="22225" indent="-22225" defTabSz="1300162">
              <a:lnSpc>
                <a:spcPct val="110000"/>
              </a:lnSpc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charset="0"/>
                <a:ea typeface="Calibri" charset="0"/>
                <a:cs typeface="Calibri" charset="0"/>
              </a:rPr>
              <a:t>Diabetes is the s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eventh</a:t>
            </a:r>
            <a:r>
              <a:rPr dirty="0">
                <a:latin typeface="Calibri" charset="0"/>
                <a:ea typeface="Calibri" charset="0"/>
                <a:cs typeface="Calibri" charset="0"/>
              </a:rPr>
              <a:t> leading cause of death by disease and accounts for 18% of all deaths in the US, in people older than 25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" name="Shape 30">
            <a:extLst>
              <a:ext uri="{FF2B5EF4-FFF2-40B4-BE49-F238E27FC236}">
                <a16:creationId xmlns:a16="http://schemas.microsoft.com/office/drawing/2014/main" id="{15B7AE4E-CA89-4F9A-95E6-8F11DADDF1E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The Burden of Diabetes Mellitus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89650" cy="97536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78812" cy="97536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3A20D7-8F72-4424-8120-6B25FF216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846" y="1596249"/>
            <a:ext cx="4291584" cy="4556991"/>
          </a:xfrm>
        </p:spPr>
        <p:txBody>
          <a:bodyPr anchor="b">
            <a:normAutofit/>
          </a:bodyPr>
          <a:lstStyle/>
          <a:p>
            <a:pPr algn="l"/>
            <a:r>
              <a:rPr lang="en-US" sz="6000"/>
              <a:t>Type I Diabetes Mellitus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73" y="618385"/>
            <a:ext cx="208077" cy="7510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097" y="6466730"/>
            <a:ext cx="4291584" cy="26010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9B6D6-9882-4DC6-93E9-30B5EEC649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" b="14238"/>
          <a:stretch/>
        </p:blipFill>
        <p:spPr>
          <a:xfrm>
            <a:off x="5775313" y="3303521"/>
            <a:ext cx="6836091" cy="293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8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/>
          </p:cNvSpPr>
          <p:nvPr>
            <p:ph type="body" idx="4294967295"/>
          </p:nvPr>
        </p:nvSpPr>
        <p:spPr>
          <a:xfrm>
            <a:off x="217150" y="1516063"/>
            <a:ext cx="12227588" cy="8237536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243840" indent="-243840" defTabSz="1300162">
              <a:buFont typeface="Arial"/>
              <a:buChar char="•"/>
              <a:defRPr sz="42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Arial"/>
              </a:rPr>
              <a:t>Autoimmune destruction of pancreatic </a:t>
            </a:r>
            <a:r>
              <a:rPr lang="en-US" sz="4000" b="1" dirty="0">
                <a:ea typeface="+mn-lt"/>
                <a:cs typeface="Arial"/>
              </a:rPr>
              <a:t>β-cells</a:t>
            </a:r>
            <a:endParaRPr lang="en-US" sz="4000">
              <a:cs typeface="Arial"/>
            </a:endParaRPr>
          </a:p>
          <a:p>
            <a:pPr marL="243840" indent="-243840" defTabSz="1300162">
              <a:buFont typeface="Arial"/>
              <a:buChar char="•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Arial"/>
              </a:rPr>
              <a:t>Autoantibodies may be present before clinical disease</a:t>
            </a:r>
            <a:endParaRPr sz="4000">
              <a:cs typeface="Arial"/>
            </a:endParaRPr>
          </a:p>
          <a:p>
            <a:pPr marL="243840" indent="-243840" defTabSz="1300162">
              <a:buFont typeface="Arial"/>
              <a:buChar char="•"/>
              <a:defRPr sz="39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Arial"/>
              </a:rPr>
              <a:t>Progressive β-cell destruction eventually results in </a:t>
            </a:r>
            <a:r>
              <a:rPr lang="en-US" sz="4000" b="1" dirty="0">
                <a:ea typeface="+mn-lt"/>
                <a:cs typeface="Arial"/>
              </a:rPr>
              <a:t>absolute insulin deficiency</a:t>
            </a:r>
            <a:endParaRPr sz="4000">
              <a:cs typeface="Arial"/>
            </a:endParaRPr>
          </a:p>
          <a:p>
            <a:pPr marL="243840" indent="-243840" defTabSz="1300162">
              <a:buFont typeface="Arial"/>
              <a:buChar char="•"/>
              <a:defRPr sz="3900" b="1" i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Arial"/>
              </a:rPr>
              <a:t>Genetic susceptibility + </a:t>
            </a:r>
            <a:r>
              <a:rPr lang="en-US" sz="4000" dirty="0">
                <a:ea typeface="+mn-lt"/>
                <a:cs typeface="Arial"/>
                <a:sym typeface="Arial"/>
              </a:rPr>
              <a:t>environmental factors likely contribute </a:t>
            </a:r>
            <a:r>
              <a:rPr lang="en-US" sz="4000" dirty="0">
                <a:ea typeface="+mn-lt"/>
                <a:cs typeface="Arial"/>
              </a:rPr>
              <a:t>to </a:t>
            </a:r>
            <a:r>
              <a:rPr lang="en-US" sz="4000" dirty="0">
                <a:ea typeface="+mn-lt"/>
                <a:cs typeface="Arial"/>
                <a:sym typeface="Arial"/>
              </a:rPr>
              <a:t>disease development</a:t>
            </a:r>
            <a:endParaRPr sz="4000">
              <a:cs typeface="Arial"/>
            </a:endParaRPr>
          </a:p>
          <a:p>
            <a:pPr marL="487680" lvl="1" indent="0" defTabSz="1300162">
              <a:buNone/>
              <a:defRPr sz="4000"/>
            </a:pPr>
            <a:endParaRPr lang="en-US" sz="4000" b="1" dirty="0">
              <a:latin typeface="Arial"/>
              <a:ea typeface="+mn-lt"/>
              <a:cs typeface="Arial"/>
            </a:endParaRPr>
          </a:p>
          <a:p>
            <a:pPr marL="487680" lvl="1" indent="0" defTabSz="1300162">
              <a:buNone/>
              <a:defRPr sz="4000"/>
            </a:pPr>
            <a:r>
              <a:rPr lang="en-US" sz="4000" b="1" dirty="0">
                <a:latin typeface="Arial"/>
                <a:ea typeface="+mn-lt"/>
                <a:cs typeface="Arial"/>
                <a:sym typeface="Symbol"/>
              </a:rPr>
              <a:t>Associated</a:t>
            </a:r>
            <a:r>
              <a:rPr lang="en-US" sz="4000" b="1" dirty="0">
                <a:latin typeface="Arial"/>
                <a:ea typeface="+mn-lt"/>
                <a:cs typeface="Arial"/>
                <a:sym typeface="Arial"/>
              </a:rPr>
              <a:t> autoimmune diseases</a:t>
            </a:r>
            <a:r>
              <a:rPr lang="en-US" sz="4000" b="1" dirty="0">
                <a:latin typeface="Arial"/>
                <a:ea typeface="+mn-lt"/>
                <a:cs typeface="Arial"/>
              </a:rPr>
              <a:t>:</a:t>
            </a:r>
            <a:endParaRPr lang="en-US" sz="4000">
              <a:latin typeface="Arial"/>
              <a:cs typeface="Arial"/>
            </a:endParaRPr>
          </a:p>
          <a:p>
            <a:pPr marL="731520" lvl="1" indent="-243840" defTabSz="1300162">
              <a:buFont typeface="Arial"/>
              <a:defRPr sz="4000"/>
            </a:pPr>
            <a:r>
              <a:rPr lang="en-US" sz="4000" dirty="0">
                <a:latin typeface="Arial"/>
                <a:ea typeface="+mn-lt"/>
                <a:cs typeface="Arial"/>
              </a:rPr>
              <a:t>Autoimmune thyroid disease</a:t>
            </a:r>
            <a:r>
              <a:rPr lang="en-US" sz="4000" dirty="0">
                <a:latin typeface="Arial"/>
                <a:ea typeface="+mn-lt"/>
                <a:cs typeface="Arial"/>
                <a:sym typeface="Arial"/>
              </a:rPr>
              <a:t> </a:t>
            </a:r>
            <a:endParaRPr lang="en-US" sz="4000">
              <a:latin typeface="Arial"/>
              <a:cs typeface="Arial"/>
            </a:endParaRPr>
          </a:p>
          <a:p>
            <a:pPr marL="731520" lvl="1" indent="-243840" defTabSz="1300162">
              <a:buFont typeface="Arial"/>
              <a:defRPr sz="4000"/>
            </a:pPr>
            <a:r>
              <a:rPr lang="en-US" sz="4000" dirty="0">
                <a:latin typeface="Arial"/>
                <a:ea typeface="+mn-lt"/>
                <a:cs typeface="Arial"/>
              </a:rPr>
              <a:t>Celiac </a:t>
            </a:r>
            <a:r>
              <a:rPr lang="en-US" sz="4000" dirty="0">
                <a:latin typeface="Arial"/>
                <a:ea typeface="+mn-lt"/>
                <a:cs typeface="Arial"/>
                <a:sym typeface="Arial"/>
              </a:rPr>
              <a:t>disease</a:t>
            </a:r>
            <a:endParaRPr lang="en-US" sz="4000">
              <a:latin typeface="Arial"/>
              <a:cs typeface="Arial"/>
            </a:endParaRPr>
          </a:p>
          <a:p>
            <a:pPr marL="243840" indent="-243840" defTabSz="1300162">
              <a:buFont typeface="Arial"/>
              <a:defRPr sz="4000"/>
            </a:pPr>
            <a:endParaRPr lang="en-US"/>
          </a:p>
        </p:txBody>
      </p:sp>
      <p:sp>
        <p:nvSpPr>
          <p:cNvPr id="4" name="Shape 30">
            <a:extLst>
              <a:ext uri="{FF2B5EF4-FFF2-40B4-BE49-F238E27FC236}">
                <a16:creationId xmlns:a16="http://schemas.microsoft.com/office/drawing/2014/main" id="{C00560E5-9138-4CAC-8A90-E5948B7D94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I Diabetes Pathophysiology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3D9F16-E5A4-4EFD-9578-E998E2F84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062" y="1516063"/>
            <a:ext cx="6760675" cy="8416070"/>
          </a:xfrm>
          <a:prstGeom prst="rect">
            <a:avLst/>
          </a:prstGeom>
        </p:spPr>
      </p:pic>
      <p:sp>
        <p:nvSpPr>
          <p:cNvPr id="6" name="Shape 30">
            <a:extLst>
              <a:ext uri="{FF2B5EF4-FFF2-40B4-BE49-F238E27FC236}">
                <a16:creationId xmlns:a16="http://schemas.microsoft.com/office/drawing/2014/main" id="{D46D33D4-010D-4082-8FA7-6189410F2EF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I Diabetes Pathophysiology</a:t>
            </a:r>
          </a:p>
        </p:txBody>
      </p:sp>
    </p:spTree>
    <p:extLst>
      <p:ext uri="{BB962C8B-B14F-4D97-AF65-F5344CB8AC3E}">
        <p14:creationId xmlns:p14="http://schemas.microsoft.com/office/powerpoint/2010/main" val="88914347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body" idx="4294967295"/>
          </p:nvPr>
        </p:nvSpPr>
        <p:spPr>
          <a:xfrm>
            <a:off x="182881" y="2183363"/>
            <a:ext cx="12600432" cy="7346399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243840" indent="-243840" defTabSz="1300162"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dirty="0">
                <a:ea typeface="+mn-lt"/>
                <a:cs typeface="+mn-lt"/>
                <a:sym typeface="Wingdings" panose="05000000000000000000" pitchFamily="2" charset="2"/>
              </a:rPr>
              <a:t>Absolute insulin deficiency →</a:t>
            </a:r>
            <a:endParaRPr lang="en-US" sz="4000"/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  <a:sym typeface="Wingdings" panose="05000000000000000000" pitchFamily="2" charset="2"/>
              </a:rPr>
              <a:t>↓ glucose uptake into muscle and adipose tissue</a:t>
            </a:r>
            <a:endParaRPr lang="en-US" sz="4000"/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  <a:sym typeface="Wingdings" panose="05000000000000000000" pitchFamily="2" charset="2"/>
              </a:rPr>
              <a:t>↑ hepatic glucose production</a:t>
            </a:r>
            <a:endParaRPr lang="en-US" sz="4000" dirty="0">
              <a:ea typeface="+mn-lt"/>
              <a:cs typeface="+mn-lt"/>
            </a:endParaRPr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  <a:sym typeface="Wingdings" panose="05000000000000000000" pitchFamily="2" charset="2"/>
              </a:rPr>
              <a:t>↑ lipolysis and ketogenesis → </a:t>
            </a:r>
            <a:r>
              <a:rPr lang="en-US" sz="4000" b="1" dirty="0">
                <a:ea typeface="+mn-lt"/>
                <a:cs typeface="+mn-lt"/>
                <a:sym typeface="Wingdings" panose="05000000000000000000" pitchFamily="2" charset="2"/>
              </a:rPr>
              <a:t>risk of DKA </a:t>
            </a:r>
            <a:r>
              <a:rPr lang="en-US" sz="1100" b="1" dirty="0">
                <a:ea typeface="+mn-lt"/>
                <a:cs typeface="+mn-lt"/>
                <a:sym typeface="Wingdings" panose="05000000000000000000" pitchFamily="2" charset="2"/>
              </a:rPr>
              <a:t>(more to come)</a:t>
            </a:r>
            <a:endParaRPr lang="en-US" sz="1100"/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  <a:sym typeface="Wingdings" panose="05000000000000000000" pitchFamily="2" charset="2"/>
              </a:rPr>
              <a:t>Hyperglycemia → osmotic diuresis → </a:t>
            </a:r>
            <a:r>
              <a:rPr lang="en-US" sz="4000" b="1" dirty="0">
                <a:ea typeface="+mn-lt"/>
                <a:cs typeface="+mn-lt"/>
                <a:sym typeface="Wingdings" panose="05000000000000000000" pitchFamily="2" charset="2"/>
              </a:rPr>
              <a:t>dehydration</a:t>
            </a:r>
            <a:endParaRPr lang="en-US" sz="4000" b="1" dirty="0">
              <a:ea typeface="+mn-lt"/>
              <a:cs typeface="+mn-lt"/>
            </a:endParaRPr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  <a:sym typeface="Wingdings" panose="05000000000000000000" pitchFamily="2" charset="2"/>
              </a:rPr>
              <a:t>↑ protein breakdown → </a:t>
            </a:r>
            <a:r>
              <a:rPr lang="en-US" sz="4000" b="1" dirty="0">
                <a:ea typeface="+mn-lt"/>
                <a:cs typeface="+mn-lt"/>
                <a:sym typeface="Wingdings" panose="05000000000000000000" pitchFamily="2" charset="2"/>
              </a:rPr>
              <a:t>weight loss/muscle wasting</a:t>
            </a:r>
            <a:endParaRPr lang="en-US" sz="4000" b="1" dirty="0">
              <a:ea typeface="+mn-lt"/>
              <a:cs typeface="+mn-lt"/>
            </a:endParaRPr>
          </a:p>
          <a:p>
            <a:pPr marL="0" indent="0" defTabSz="1300162">
              <a:spcBef>
                <a:spcPts val="700"/>
              </a:spcBef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/>
          </a:p>
        </p:txBody>
      </p:sp>
      <p:sp>
        <p:nvSpPr>
          <p:cNvPr id="6" name="Shape 30">
            <a:extLst>
              <a:ext uri="{FF2B5EF4-FFF2-40B4-BE49-F238E27FC236}">
                <a16:creationId xmlns:a16="http://schemas.microsoft.com/office/drawing/2014/main" id="{D46D33D4-010D-4082-8FA7-6189410F2EF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I Diabetes Pathophysiology</a:t>
            </a:r>
          </a:p>
        </p:txBody>
      </p:sp>
    </p:spTree>
    <p:extLst>
      <p:ext uri="{BB962C8B-B14F-4D97-AF65-F5344CB8AC3E}">
        <p14:creationId xmlns:p14="http://schemas.microsoft.com/office/powerpoint/2010/main" val="54627870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body" idx="4294967295"/>
          </p:nvPr>
        </p:nvSpPr>
        <p:spPr>
          <a:xfrm>
            <a:off x="228600" y="1708150"/>
            <a:ext cx="12540343" cy="8045450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243840" indent="-243840" defTabSz="1300162"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T1DM can occur </a:t>
            </a:r>
            <a:r>
              <a:rPr lang="en-US" sz="4000" b="1" dirty="0">
                <a:ea typeface="+mn-lt"/>
                <a:cs typeface="+mn-lt"/>
              </a:rPr>
              <a:t>at any age</a:t>
            </a:r>
            <a:endParaRPr lang="en-US" sz="4000" dirty="0">
              <a:ea typeface="+mn-lt"/>
              <a:cs typeface="+mn-lt"/>
            </a:endParaRPr>
          </a:p>
          <a:p>
            <a:pPr marL="243840" indent="-243840" defTabSz="1300162"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Onset is common in </a:t>
            </a:r>
            <a:r>
              <a:rPr lang="en-US" sz="4000" b="1" dirty="0">
                <a:ea typeface="+mn-lt"/>
                <a:cs typeface="+mn-lt"/>
              </a:rPr>
              <a:t>childhood and adolescence</a:t>
            </a:r>
            <a:r>
              <a:rPr lang="en-US" sz="4000" dirty="0">
                <a:ea typeface="+mn-lt"/>
                <a:cs typeface="+mn-lt"/>
              </a:rPr>
              <a:t>, but also occurs in adults</a:t>
            </a:r>
          </a:p>
          <a:p>
            <a:pPr marL="243840" indent="-243840" defTabSz="1300162"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Incidence varies significantly by </a:t>
            </a:r>
            <a:r>
              <a:rPr lang="en-US" sz="4000" b="1" dirty="0">
                <a:ea typeface="+mn-lt"/>
                <a:cs typeface="+mn-lt"/>
              </a:rPr>
              <a:t>geographic region and race/ethnicity</a:t>
            </a:r>
            <a:endParaRPr lang="en-US" sz="4000"/>
          </a:p>
          <a:p>
            <a:pPr marL="243840" indent="-243840" defTabSz="1300162">
              <a:buFont typeface="Arial" panose="020B0604020202020204" pitchFamily="34" charset="0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Rates are generally highest in populations of </a:t>
            </a:r>
            <a:r>
              <a:rPr lang="en-US" sz="4000" b="1" dirty="0">
                <a:ea typeface="+mn-lt"/>
                <a:cs typeface="+mn-lt"/>
              </a:rPr>
              <a:t>Northern European ancestry</a:t>
            </a:r>
            <a:r>
              <a:rPr lang="en-US" sz="4000" dirty="0">
                <a:ea typeface="+mn-lt"/>
                <a:cs typeface="+mn-lt"/>
              </a:rPr>
              <a:t>, but T1DM occurs in </a:t>
            </a:r>
            <a:r>
              <a:rPr lang="en-US" sz="4000" b="1" dirty="0">
                <a:ea typeface="+mn-lt"/>
                <a:cs typeface="+mn-lt"/>
              </a:rPr>
              <a:t>all racial and ethnic groups</a:t>
            </a:r>
            <a:endParaRPr lang="en-US" sz="4000"/>
          </a:p>
          <a:p>
            <a:pPr marL="243840" indent="-243840" defTabSz="1300162">
              <a:buFont typeface="Arial" panose="020B0604020202020204" pitchFamily="34" charset="0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Genetic susceptibility plays an important role</a:t>
            </a:r>
            <a:endParaRPr sz="4000">
              <a:ea typeface="+mn-lt"/>
              <a:cs typeface="+mn-lt"/>
            </a:endParaRPr>
          </a:p>
          <a:p>
            <a:pPr marL="731520" lvl="1" indent="-243840" defTabSz="1300162"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Certain </a:t>
            </a:r>
            <a:r>
              <a:rPr lang="en-US" sz="4000" b="1" dirty="0">
                <a:ea typeface="+mn-lt"/>
                <a:cs typeface="+mn-lt"/>
              </a:rPr>
              <a:t>HLA genotypes</a:t>
            </a:r>
            <a:r>
              <a:rPr lang="en-US" sz="4000" dirty="0">
                <a:ea typeface="+mn-lt"/>
                <a:cs typeface="+mn-lt"/>
              </a:rPr>
              <a:t> are associated with increased risk</a:t>
            </a:r>
          </a:p>
          <a:p>
            <a:pPr marL="243840" indent="-243840" defTabSz="1300162"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Environmental factors may contribute to triggering autoimmunity</a:t>
            </a:r>
          </a:p>
          <a:p>
            <a:pPr marL="243840" indent="-243840" defTabSz="1300162">
              <a:buFont typeface="Arial,Sans-Serif" panose="020B0604020202020204" pitchFamily="34" charset="0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/>
          </a:p>
          <a:p>
            <a:pPr marL="285750" indent="-285750" defTabSz="1300162">
              <a:spcBef>
                <a:spcPts val="700"/>
              </a:spcBef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285750" indent="-285750" defTabSz="1300162">
              <a:spcBef>
                <a:spcPts val="700"/>
              </a:spcBef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Shape 30">
            <a:extLst>
              <a:ext uri="{FF2B5EF4-FFF2-40B4-BE49-F238E27FC236}">
                <a16:creationId xmlns:a16="http://schemas.microsoft.com/office/drawing/2014/main" id="{8F0647E1-ECB2-4226-A720-8160DA7064D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I Diabetes Epidemiology</a:t>
            </a:r>
          </a:p>
        </p:txBody>
      </p:sp>
    </p:spTree>
    <p:extLst>
      <p:ext uri="{BB962C8B-B14F-4D97-AF65-F5344CB8AC3E}">
        <p14:creationId xmlns:p14="http://schemas.microsoft.com/office/powerpoint/2010/main" val="106575111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48501" y="4744344"/>
            <a:ext cx="3511296" cy="455168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558" y="886435"/>
            <a:ext cx="11632057" cy="7975654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CCB773-4C05-4548-881A-9FCF41E49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923" y="1435013"/>
            <a:ext cx="9846838" cy="5037575"/>
          </a:xfrm>
        </p:spPr>
        <p:txBody>
          <a:bodyPr anchor="b">
            <a:normAutofit/>
          </a:bodyPr>
          <a:lstStyle/>
          <a:p>
            <a:pPr algn="l"/>
            <a:r>
              <a:rPr lang="en-US" sz="14300"/>
              <a:t>Prediabetes</a:t>
            </a:r>
          </a:p>
        </p:txBody>
      </p:sp>
    </p:spTree>
    <p:extLst>
      <p:ext uri="{BB962C8B-B14F-4D97-AF65-F5344CB8AC3E}">
        <p14:creationId xmlns:p14="http://schemas.microsoft.com/office/powerpoint/2010/main" val="2562234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Grp="1" noChangeArrowheads="1"/>
          </p:cNvSpPr>
          <p:nvPr>
            <p:ph type="title"/>
          </p:nvPr>
        </p:nvSpPr>
        <p:spPr>
          <a:xfrm>
            <a:off x="254000" y="254000"/>
            <a:ext cx="12192000" cy="2438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4550" dirty="0">
                <a:latin typeface="+mn-lt"/>
                <a:cs typeface="Arial"/>
                <a:sym typeface="Helvetica Light" charset="0"/>
              </a:rPr>
              <a:t>Prediabetes</a:t>
            </a:r>
            <a:endParaRPr lang="en-US" dirty="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79400" y="2768601"/>
            <a:ext cx="12444413" cy="65976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3600" b="1" dirty="0">
                <a:latin typeface="Arial"/>
                <a:cs typeface="Arial"/>
                <a:sym typeface="Helvetica Light" charset="0"/>
              </a:rPr>
              <a:t>Prediabetes may be diagnosed by:</a:t>
            </a:r>
            <a:endParaRPr lang="en-US" sz="3600" dirty="0">
              <a:latin typeface="Arial"/>
              <a:cs typeface="Arial"/>
            </a:endParaRPr>
          </a:p>
          <a:p>
            <a:pPr marL="731520" lvl="1" indent="-243840">
              <a:buFont typeface="Arial"/>
              <a:buChar char="•"/>
              <a:defRPr/>
            </a:pPr>
            <a:r>
              <a:rPr lang="en-US" sz="3600" b="1" dirty="0">
                <a:latin typeface="Arial"/>
                <a:cs typeface="Arial"/>
                <a:sym typeface="Helvetica Light" charset="0"/>
              </a:rPr>
              <a:t>A1C: 5.7–6.4%</a:t>
            </a:r>
            <a:endParaRPr lang="en-US" sz="3600" dirty="0">
              <a:latin typeface="Arial"/>
              <a:cs typeface="Arial"/>
            </a:endParaRPr>
          </a:p>
          <a:p>
            <a:pPr marL="731520" lvl="1" indent="-243840">
              <a:buFont typeface="Arial"/>
              <a:buChar char="•"/>
              <a:defRPr/>
            </a:pPr>
            <a:r>
              <a:rPr lang="en-US" sz="3600" b="1" dirty="0">
                <a:latin typeface="Arial"/>
                <a:cs typeface="Arial"/>
                <a:sym typeface="Helvetica Light" charset="0"/>
              </a:rPr>
              <a:t>Fasting plasma glucose: 100–125 mg/dL</a:t>
            </a:r>
            <a:r>
              <a:rPr lang="en-US" sz="3600" dirty="0">
                <a:latin typeface="Arial"/>
                <a:cs typeface="Arial"/>
                <a:sym typeface="Helvetica Light" charset="0"/>
              </a:rPr>
              <a:t> → impaired fasting glucose (IFG)</a:t>
            </a:r>
            <a:endParaRPr lang="en-US" sz="3600" dirty="0">
              <a:latin typeface="Arial"/>
              <a:cs typeface="Arial"/>
            </a:endParaRPr>
          </a:p>
          <a:p>
            <a:pPr marL="731520" lvl="1" indent="-243840">
              <a:buFont typeface="Arial"/>
              <a:buChar char="•"/>
              <a:defRPr/>
            </a:pPr>
            <a:r>
              <a:rPr lang="en-US" sz="3600" b="1" dirty="0">
                <a:latin typeface="Arial"/>
                <a:cs typeface="Arial"/>
                <a:sym typeface="Helvetica Light" charset="0"/>
              </a:rPr>
              <a:t>2-hour OGTT: 140–199 mg/dL</a:t>
            </a:r>
            <a:r>
              <a:rPr lang="en-US" sz="3600" dirty="0">
                <a:latin typeface="Arial"/>
                <a:cs typeface="Arial"/>
                <a:sym typeface="Helvetica Light" charset="0"/>
              </a:rPr>
              <a:t> → impaired glucose tolerance (IGT)</a:t>
            </a:r>
            <a:endParaRPr lang="en-US" sz="3600" dirty="0">
              <a:latin typeface="Arial"/>
              <a:cs typeface="Arial"/>
            </a:endParaRPr>
          </a:p>
          <a:p>
            <a:pPr marL="0" lvl="1" indent="0">
              <a:buNone/>
              <a:defRPr/>
            </a:pPr>
            <a:r>
              <a:rPr lang="en-US" sz="3600" b="1" dirty="0">
                <a:latin typeface="Arial"/>
                <a:cs typeface="Arial"/>
              </a:rPr>
              <a:t>Clinical significance</a:t>
            </a:r>
            <a:endParaRPr lang="en-US" sz="3600" dirty="0">
              <a:latin typeface="Arial"/>
              <a:cs typeface="Arial"/>
            </a:endParaRPr>
          </a:p>
          <a:p>
            <a:pPr marL="731520" lvl="1" indent="-243840">
              <a:buFont typeface="Arial"/>
              <a:buChar char="•"/>
              <a:defRPr/>
            </a:pPr>
            <a:r>
              <a:rPr lang="en-US" sz="3600" dirty="0">
                <a:latin typeface="Arial"/>
                <a:cs typeface="Arial"/>
                <a:sym typeface="Helvetica Light" charset="0"/>
              </a:rPr>
              <a:t>Increased risk of developing </a:t>
            </a:r>
            <a:r>
              <a:rPr lang="en-US" sz="3600" b="1" dirty="0">
                <a:latin typeface="Arial"/>
                <a:cs typeface="Arial"/>
                <a:sym typeface="Helvetica Light" charset="0"/>
              </a:rPr>
              <a:t>T2DM</a:t>
            </a:r>
            <a:endParaRPr lang="en-US" sz="3600" dirty="0">
              <a:latin typeface="Arial"/>
              <a:cs typeface="Arial"/>
            </a:endParaRPr>
          </a:p>
          <a:p>
            <a:pPr marL="731520" lvl="1" indent="-243840">
              <a:buFont typeface="Arial"/>
              <a:buChar char="•"/>
              <a:defRPr/>
            </a:pPr>
            <a:r>
              <a:rPr lang="en-US" sz="3600" dirty="0">
                <a:latin typeface="Arial"/>
                <a:cs typeface="Arial"/>
                <a:sym typeface="Helvetica Light" charset="0"/>
              </a:rPr>
              <a:t>Associated with increased </a:t>
            </a:r>
            <a:r>
              <a:rPr lang="en-US" sz="3600" b="1" dirty="0">
                <a:latin typeface="Arial"/>
                <a:cs typeface="Arial"/>
                <a:sym typeface="Helvetica Light" charset="0"/>
              </a:rPr>
              <a:t>cardiovascular risk</a:t>
            </a:r>
            <a:endParaRPr lang="en-US" sz="3600" dirty="0">
              <a:latin typeface="Arial"/>
              <a:cs typeface="Arial"/>
            </a:endParaRPr>
          </a:p>
          <a:p>
            <a:pPr marL="731520" lvl="1" indent="-243840">
              <a:buFont typeface="Arial"/>
              <a:buChar char="•"/>
              <a:defRPr/>
            </a:pPr>
            <a:r>
              <a:rPr lang="en-US" sz="3600" dirty="0">
                <a:latin typeface="Arial"/>
                <a:cs typeface="Arial"/>
                <a:sym typeface="Helvetica Light" charset="0"/>
              </a:rPr>
              <a:t>Lifestyle intervention is the foundation of prevention</a:t>
            </a:r>
            <a:endParaRPr lang="en-US" sz="3600" dirty="0">
              <a:latin typeface="Arial"/>
              <a:cs typeface="Arial"/>
            </a:endParaRPr>
          </a:p>
          <a:p>
            <a:pPr marL="731520" lvl="1" indent="-243840">
              <a:buFont typeface="Arial"/>
              <a:buChar char="•"/>
              <a:defRPr/>
            </a:pPr>
            <a:r>
              <a:rPr lang="en-US" sz="3600" b="1" dirty="0">
                <a:latin typeface="Arial"/>
                <a:cs typeface="Arial"/>
                <a:sym typeface="Helvetica Light" charset="0"/>
              </a:rPr>
              <a:t>Metformin may be considered in selected high-risk patients</a:t>
            </a:r>
            <a:endParaRPr lang="en-US" sz="3600" dirty="0">
              <a:latin typeface="Arial"/>
              <a:cs typeface="Arial"/>
            </a:endParaRPr>
          </a:p>
          <a:p>
            <a:pPr marL="380365" indent="-380365">
              <a:buFont typeface="Arial"/>
              <a:buChar char="•"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7779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89650" cy="97536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78812" cy="97536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3A20D7-8F72-4424-8120-6B25FF216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846" y="1596249"/>
            <a:ext cx="4291584" cy="455699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/>
            <a:r>
              <a:rPr lang="en-US" sz="6000" kern="1200">
                <a:latin typeface="+mj-lt"/>
                <a:ea typeface="+mj-ea"/>
                <a:cs typeface="+mj-cs"/>
              </a:rPr>
              <a:t>Type 2 Diabetes Mellitus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73" y="618385"/>
            <a:ext cx="208077" cy="7510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097" y="6466730"/>
            <a:ext cx="4291584" cy="26010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4690D8-B90A-43D5-AFE5-4326DCC36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075" y="889861"/>
            <a:ext cx="6478567" cy="775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8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/>
          </p:cNvSpPr>
          <p:nvPr>
            <p:ph type="body" idx="4294967295"/>
          </p:nvPr>
        </p:nvSpPr>
        <p:spPr>
          <a:xfrm>
            <a:off x="216568" y="1516699"/>
            <a:ext cx="8599487" cy="7358679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243840" indent="-243840" defTabSz="1300162">
              <a:buNone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Insulin resistance</a:t>
            </a:r>
            <a:endParaRPr lang="en-US" sz="3600"/>
          </a:p>
          <a:p>
            <a:pPr marL="243840" indent="-243840" defTabSz="1300162">
              <a:buFont typeface="Arial"/>
              <a:buChar char="•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↓ tissue response to endogenous insulin</a:t>
            </a:r>
          </a:p>
          <a:p>
            <a:pPr marL="243840" indent="-243840" defTabSz="1300162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Influenced by </a:t>
            </a:r>
            <a:r>
              <a:rPr lang="en-US" sz="3600" b="1" dirty="0">
                <a:ea typeface="+mn-lt"/>
                <a:cs typeface="+mn-lt"/>
              </a:rPr>
              <a:t>ge</a:t>
            </a:r>
            <a:r>
              <a:rPr lang="en-US" sz="3600" b="1" dirty="0">
                <a:solidFill>
                  <a:srgbClr val="000000"/>
                </a:solidFill>
                <a:ea typeface="+mn-lt"/>
                <a:cs typeface="+mn-lt"/>
              </a:rPr>
              <a:t>netics, aging, physical inactiv</a:t>
            </a:r>
            <a:r>
              <a:rPr lang="en-US" sz="3600" b="1" dirty="0">
                <a:ea typeface="+mn-lt"/>
                <a:cs typeface="+mn-lt"/>
              </a:rPr>
              <a:t>ity, excess visceral adiposity, and dietary patterns</a:t>
            </a:r>
            <a:endParaRPr lang="en-US" sz="3600"/>
          </a:p>
          <a:p>
            <a:pPr marL="243840" indent="-243840" defTabSz="1300162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Diets high in </a:t>
            </a:r>
            <a:r>
              <a:rPr lang="en-US" sz="3600" b="1" dirty="0">
                <a:ea typeface="+mn-lt"/>
                <a:cs typeface="+mn-lt"/>
              </a:rPr>
              <a:t>refined carbohydrates, added sugars, and highly processed foods</a:t>
            </a:r>
            <a:r>
              <a:rPr lang="en-US" sz="3600" dirty="0">
                <a:ea typeface="+mn-lt"/>
                <a:cs typeface="+mn-lt"/>
              </a:rPr>
              <a:t> can contribute to metabolic dysfunction and T2DM risk</a:t>
            </a:r>
            <a:endParaRPr lang="en-US" sz="3600"/>
          </a:p>
          <a:p>
            <a:pPr marL="243840" indent="-243840" defTabSz="1300162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Liver, skeletal muscle, and adipose tissue are major sites of insulin resistance</a:t>
            </a:r>
            <a:endParaRPr lang="en-US" sz="3600"/>
          </a:p>
          <a:p>
            <a:pPr marL="0" indent="0" defTabSz="1300162">
              <a:lnSpc>
                <a:spcPct val="90000"/>
              </a:lnSpc>
              <a:spcBef>
                <a:spcPts val="700"/>
              </a:spcBef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304800" lvl="1" indent="0" defTabSz="1300162">
              <a:lnSpc>
                <a:spcPct val="90000"/>
              </a:lnSpc>
              <a:spcBef>
                <a:spcPts val="600"/>
              </a:spcBef>
              <a:buNone/>
              <a:defRPr sz="3900">
                <a:latin typeface="Arial"/>
                <a:ea typeface="Arial"/>
                <a:cs typeface="Arial"/>
                <a:sym typeface="Arial"/>
              </a:defRPr>
            </a:pPr>
            <a:endParaRPr sz="4400" dirty="0">
              <a:latin typeface="Calibri" panose="020F0502020204030204" pitchFamily="34" charset="0"/>
              <a:ea typeface="Calibri" charset="0"/>
              <a:cs typeface="Calibri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704" t="6661" r="12484" b="10444"/>
          <a:stretch/>
        </p:blipFill>
        <p:spPr>
          <a:xfrm>
            <a:off x="8547884" y="5123580"/>
            <a:ext cx="4257076" cy="4443259"/>
          </a:xfrm>
          <a:prstGeom prst="rect">
            <a:avLst/>
          </a:prstGeom>
        </p:spPr>
      </p:pic>
      <p:sp>
        <p:nvSpPr>
          <p:cNvPr id="5" name="Shape 30">
            <a:extLst>
              <a:ext uri="{FF2B5EF4-FFF2-40B4-BE49-F238E27FC236}">
                <a16:creationId xmlns:a16="http://schemas.microsoft.com/office/drawing/2014/main" id="{3758EF92-AFC0-4F23-9C88-AAE162166C1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2 Diabetes Pathophysiology</a:t>
            </a:r>
          </a:p>
        </p:txBody>
      </p:sp>
    </p:spTree>
    <p:extLst>
      <p:ext uri="{BB962C8B-B14F-4D97-AF65-F5344CB8AC3E}">
        <p14:creationId xmlns:p14="http://schemas.microsoft.com/office/powerpoint/2010/main" val="140781206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body" idx="4294967295"/>
          </p:nvPr>
        </p:nvSpPr>
        <p:spPr>
          <a:xfrm>
            <a:off x="201168" y="2206510"/>
            <a:ext cx="12670770" cy="7329603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243840" indent="-243840" defTabSz="1300162">
              <a:buNone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Progressive β-cell dysfunction</a:t>
            </a:r>
            <a:endParaRPr lang="en-US" dirty="0"/>
          </a:p>
          <a:p>
            <a:pPr marL="243840" indent="-243840" defTabSz="1300162">
              <a:lnSpc>
                <a:spcPct val="90000"/>
              </a:lnSpc>
              <a:buFont typeface="Arial"/>
              <a:buChar char="•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Initially, β-cells compensate by </a:t>
            </a:r>
            <a:r>
              <a:rPr lang="en-US" sz="4000" b="1" dirty="0">
                <a:ea typeface="+mn-lt"/>
                <a:cs typeface="+mn-lt"/>
              </a:rPr>
              <a:t>increasing insulin secretion</a:t>
            </a:r>
            <a:endParaRPr dirty="0"/>
          </a:p>
          <a:p>
            <a:pPr marL="243840" indent="-243840" defTabSz="1300162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Compensatory hyperinsulinemia may maintain near-normal glucose for years</a:t>
            </a:r>
            <a:endParaRPr dirty="0"/>
          </a:p>
          <a:p>
            <a:pPr marL="243840" indent="-243840" defTabSz="1300162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Over time, β-cell function progressively declines</a:t>
            </a:r>
            <a:endParaRPr lang="en-US" dirty="0"/>
          </a:p>
          <a:p>
            <a:pPr marL="243840" indent="-243840" defTabSz="1300162"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ea typeface="+mn-lt"/>
                <a:cs typeface="+mn-lt"/>
              </a:rPr>
              <a:t>Insulin secretion can no longer meet metabolic demands → </a:t>
            </a:r>
            <a:r>
              <a:rPr lang="en-US" sz="4000" b="1" dirty="0">
                <a:ea typeface="+mn-lt"/>
                <a:cs typeface="+mn-lt"/>
              </a:rPr>
              <a:t>persistent hyperglycemia and T2DM</a:t>
            </a:r>
            <a:endParaRPr lang="en-US" dirty="0"/>
          </a:p>
          <a:p>
            <a:pPr marL="0" indent="0" defTabSz="1300162">
              <a:lnSpc>
                <a:spcPct val="90000"/>
              </a:lnSpc>
              <a:spcBef>
                <a:spcPts val="700"/>
              </a:spcBef>
              <a:buFont typeface="Arial"/>
              <a:defRPr sz="45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9B2CBF0C-63A2-455F-972A-0E6B99CFC8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2 Diabetes Pathophysiology</a:t>
            </a:r>
          </a:p>
        </p:txBody>
      </p:sp>
    </p:spTree>
    <p:extLst>
      <p:ext uri="{BB962C8B-B14F-4D97-AF65-F5344CB8AC3E}">
        <p14:creationId xmlns:p14="http://schemas.microsoft.com/office/powerpoint/2010/main" val="130899210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69FA0-F8B3-5741-861C-3330DB263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644" y="4869941"/>
            <a:ext cx="3109476" cy="2466459"/>
          </a:xfrm>
          <a:prstGeom prst="rect">
            <a:avLst/>
          </a:prstGeom>
        </p:spPr>
      </p:pic>
      <p:sp>
        <p:nvSpPr>
          <p:cNvPr id="6" name="Shape 30">
            <a:extLst>
              <a:ext uri="{FF2B5EF4-FFF2-40B4-BE49-F238E27FC236}">
                <a16:creationId xmlns:a16="http://schemas.microsoft.com/office/drawing/2014/main" id="{6EAE0DEB-CFBE-41B6-B147-02AE8AD9684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2 Diabetes Pathophysiology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5AA12-3F57-C3FF-85C8-8C43F7860ED1}"/>
              </a:ext>
            </a:extLst>
          </p:cNvPr>
          <p:cNvSpPr txBox="1"/>
          <p:nvPr/>
        </p:nvSpPr>
        <p:spPr>
          <a:xfrm>
            <a:off x="552024" y="1688823"/>
            <a:ext cx="10783606" cy="79222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43840" indent="-243840">
              <a:lnSpc>
                <a:spcPct val="90000"/>
              </a:lnSpc>
              <a:spcBef>
                <a:spcPts val="1067"/>
              </a:spcBef>
            </a:pPr>
            <a:r>
              <a:rPr lang="en-US" sz="3200" dirty="0">
                <a:latin typeface="Arial"/>
                <a:cs typeface="Arial"/>
              </a:rPr>
              <a:t>Hyperinsulinemia, hyperglycemia &amp; elevated free fatty acids contribute to: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"/>
              <a:buChar char="•"/>
            </a:pPr>
            <a:r>
              <a:rPr lang="en-US" sz="3200" b="1" i="1" dirty="0">
                <a:latin typeface="Arial"/>
                <a:cs typeface="Arial"/>
              </a:rPr>
              <a:t>Endothelial dysfunction</a:t>
            </a:r>
            <a:endParaRPr lang="en-US" sz="3200" b="1">
              <a:latin typeface="Arial"/>
              <a:cs typeface="Arial"/>
            </a:endParaRPr>
          </a:p>
          <a:p>
            <a:pPr marL="1017270" lvl="1" indent="-285750">
              <a:lnSpc>
                <a:spcPct val="90000"/>
              </a:lnSpc>
              <a:spcBef>
                <a:spcPts val="533"/>
              </a:spcBef>
              <a:buFont typeface="Arial"/>
              <a:buChar char="•"/>
            </a:pPr>
            <a:r>
              <a:rPr lang="en-US" sz="3200" i="1" dirty="0">
                <a:latin typeface="Arial"/>
                <a:cs typeface="Arial"/>
              </a:rPr>
              <a:t>Impaired vasodilation</a:t>
            </a:r>
            <a:endParaRPr lang="en-US" sz="3200" dirty="0">
              <a:latin typeface="Arial"/>
              <a:cs typeface="Arial"/>
            </a:endParaRPr>
          </a:p>
          <a:p>
            <a:pPr marL="1017270" lvl="1" indent="-285750">
              <a:lnSpc>
                <a:spcPct val="90000"/>
              </a:lnSpc>
              <a:spcBef>
                <a:spcPts val="533"/>
              </a:spcBef>
              <a:buFont typeface="Arial"/>
              <a:buChar char="•"/>
            </a:pPr>
            <a:r>
              <a:rPr lang="en-US" sz="3200" i="1" dirty="0">
                <a:latin typeface="Arial"/>
                <a:cs typeface="Arial"/>
              </a:rPr>
              <a:t>Vascular dysfunction contributes to hypertension and atherosclerotic disease</a:t>
            </a:r>
            <a:endParaRPr lang="en-US" sz="32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"/>
              <a:buChar char="•"/>
            </a:pPr>
            <a:r>
              <a:rPr lang="en-US" sz="3200" b="1" i="1" dirty="0">
                <a:latin typeface="Arial"/>
                <a:cs typeface="Arial"/>
              </a:rPr>
              <a:t>Chronic low-grade inflammation</a:t>
            </a:r>
            <a:endParaRPr lang="en-US" sz="3200" b="1">
              <a:latin typeface="Arial"/>
              <a:cs typeface="Arial"/>
            </a:endParaRPr>
          </a:p>
          <a:p>
            <a:pPr marL="1017270" lvl="1" indent="-285750">
              <a:lnSpc>
                <a:spcPct val="90000"/>
              </a:lnSpc>
              <a:spcBef>
                <a:spcPts val="533"/>
              </a:spcBef>
              <a:buFont typeface="Arial"/>
              <a:buChar char="•"/>
            </a:pPr>
            <a:r>
              <a:rPr lang="en-US" sz="3200" i="1" dirty="0">
                <a:latin typeface="Arial"/>
                <a:cs typeface="Arial"/>
              </a:rPr>
              <a:t>Can further worsen insulin resistance</a:t>
            </a:r>
            <a:endParaRPr lang="en-US" sz="3200" dirty="0">
              <a:latin typeface="Arial"/>
              <a:cs typeface="Arial"/>
            </a:endParaRPr>
          </a:p>
          <a:p>
            <a:pPr marL="1017270" lvl="1" indent="-285750">
              <a:lnSpc>
                <a:spcPct val="90000"/>
              </a:lnSpc>
              <a:spcBef>
                <a:spcPts val="533"/>
              </a:spcBef>
              <a:buFont typeface="Arial"/>
              <a:buChar char="•"/>
            </a:pPr>
            <a:r>
              <a:rPr lang="en-US" sz="3200" i="1" dirty="0">
                <a:latin typeface="Arial"/>
                <a:cs typeface="Arial"/>
              </a:rPr>
              <a:t>Promotes endothelial dysfunction and atherosclerosis</a:t>
            </a:r>
            <a:endParaRPr lang="en-US" sz="32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"/>
              <a:buChar char="•"/>
            </a:pPr>
            <a:r>
              <a:rPr lang="en-US" sz="3200" b="1" i="1" dirty="0">
                <a:latin typeface="Arial"/>
                <a:cs typeface="Arial"/>
              </a:rPr>
              <a:t>Dyslipidemia</a:t>
            </a:r>
            <a:endParaRPr lang="en-US" sz="3200" b="1" dirty="0">
              <a:latin typeface="Arial"/>
              <a:cs typeface="Arial"/>
            </a:endParaRPr>
          </a:p>
          <a:p>
            <a:pPr marL="1017270" lvl="1" indent="-285750">
              <a:lnSpc>
                <a:spcPct val="90000"/>
              </a:lnSpc>
              <a:spcBef>
                <a:spcPts val="533"/>
              </a:spcBef>
              <a:buFont typeface="Arial"/>
              <a:buChar char="•"/>
            </a:pPr>
            <a:r>
              <a:rPr lang="en-US" sz="3200" i="1" dirty="0">
                <a:latin typeface="Arial"/>
                <a:cs typeface="Arial"/>
              </a:rPr>
              <a:t>↑ triglycerides</a:t>
            </a:r>
            <a:endParaRPr lang="en-US" sz="3200" dirty="0">
              <a:latin typeface="Arial"/>
              <a:cs typeface="Arial"/>
            </a:endParaRPr>
          </a:p>
          <a:p>
            <a:pPr marL="1017270" lvl="1" indent="-285750">
              <a:lnSpc>
                <a:spcPct val="90000"/>
              </a:lnSpc>
              <a:spcBef>
                <a:spcPts val="533"/>
              </a:spcBef>
              <a:buFont typeface="Arial"/>
              <a:buChar char="•"/>
            </a:pPr>
            <a:r>
              <a:rPr lang="en-US" sz="3200" i="1" dirty="0">
                <a:latin typeface="Arial"/>
                <a:cs typeface="Arial"/>
              </a:rPr>
              <a:t>↓ HDL</a:t>
            </a:r>
            <a:endParaRPr lang="en-US" sz="3200" dirty="0">
              <a:latin typeface="Arial"/>
              <a:cs typeface="Arial"/>
            </a:endParaRPr>
          </a:p>
          <a:p>
            <a:pPr marL="1017270" lvl="1" indent="-285750">
              <a:lnSpc>
                <a:spcPct val="90000"/>
              </a:lnSpc>
              <a:spcBef>
                <a:spcPts val="533"/>
              </a:spcBef>
              <a:buFont typeface="Arial"/>
              <a:buChar char="•"/>
            </a:pPr>
            <a:r>
              <a:rPr lang="en-US" sz="3200" i="1" dirty="0">
                <a:latin typeface="Arial"/>
                <a:cs typeface="Arial"/>
              </a:rPr>
              <a:t>Often associated with small, dense LDL particles</a:t>
            </a:r>
            <a:endParaRPr lang="en-US" sz="3200" dirty="0">
              <a:latin typeface="Arial"/>
              <a:cs typeface="Arial"/>
            </a:endParaRPr>
          </a:p>
          <a:p>
            <a:pPr algn="l"/>
            <a:endParaRPr lang="en-US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46977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body" idx="4294967295"/>
          </p:nvPr>
        </p:nvSpPr>
        <p:spPr>
          <a:xfrm>
            <a:off x="325438" y="1625600"/>
            <a:ext cx="12679362" cy="7910513"/>
          </a:xfrm>
          <a:prstGeom prst="rect">
            <a:avLst/>
          </a:prstGeom>
        </p:spPr>
        <p:txBody>
          <a:bodyPr vert="horz" lIns="72248" tIns="72248" rIns="72248" bIns="72248" rtlCol="0" anchor="t">
            <a:normAutofit/>
          </a:bodyPr>
          <a:lstStyle/>
          <a:p>
            <a:pPr marL="243840" indent="-243840" defTabSz="1300162">
              <a:buFont typeface="Arial,Sans-Serif" panose="020B0604020202020204" pitchFamily="34" charset="0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sz="3600" dirty="0"/>
              <a:t> </a:t>
            </a:r>
            <a:r>
              <a:rPr lang="en-US" sz="3600" dirty="0">
                <a:ea typeface="+mn-lt"/>
                <a:cs typeface="+mn-lt"/>
              </a:rPr>
              <a:t>T2DM has historically been associated with adulthood, but is increasingly diagnosed in </a:t>
            </a:r>
            <a:r>
              <a:rPr lang="en-US" sz="3600" b="1" dirty="0">
                <a:ea typeface="+mn-lt"/>
                <a:cs typeface="+mn-lt"/>
              </a:rPr>
              <a:t>children and adolescents</a:t>
            </a:r>
            <a:endParaRPr lang="en-US" sz="3600"/>
          </a:p>
          <a:p>
            <a:pPr marL="243840" indent="-243840" defTabSz="1300162">
              <a:buFont typeface="Arial,Sans-Serif" panose="020B0604020202020204" pitchFamily="34" charset="0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Prevalence increases significantly with </a:t>
            </a:r>
            <a:r>
              <a:rPr lang="en-US" sz="3600" b="1" dirty="0">
                <a:ea typeface="+mn-lt"/>
                <a:cs typeface="+mn-lt"/>
              </a:rPr>
              <a:t>age</a:t>
            </a:r>
            <a:endParaRPr lang="en-US" sz="3600" dirty="0"/>
          </a:p>
          <a:p>
            <a:pPr marL="243840" indent="-243840" defTabSz="1300162">
              <a:buFont typeface="Arial,Sans-Serif" panose="020B0604020202020204" pitchFamily="34" charset="0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T2DM affects </a:t>
            </a:r>
            <a:r>
              <a:rPr lang="en-US" sz="3600" b="1" dirty="0">
                <a:ea typeface="+mn-lt"/>
                <a:cs typeface="+mn-lt"/>
              </a:rPr>
              <a:t>all racial and ethnic groups</a:t>
            </a:r>
            <a:r>
              <a:rPr lang="en-US" sz="3600" dirty="0">
                <a:ea typeface="+mn-lt"/>
                <a:cs typeface="+mn-lt"/>
              </a:rPr>
              <a:t>, but prevalence is not equal across populations</a:t>
            </a:r>
            <a:endParaRPr lang="en-US" sz="3600" dirty="0"/>
          </a:p>
          <a:p>
            <a:pPr marL="243840" indent="-243840" defTabSz="1300162">
              <a:buFont typeface="Arial,Sans-Serif" panose="020B0604020202020204" pitchFamily="34" charset="0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In the U.S., prevalence is higher among several historically underserved racial/ethnic populations, including </a:t>
            </a:r>
            <a:r>
              <a:rPr lang="en-US" sz="3600" b="1" dirty="0">
                <a:ea typeface="+mn-lt"/>
                <a:cs typeface="+mn-lt"/>
              </a:rPr>
              <a:t>American Indian/Alaska Native, Black, and Hispanic populations</a:t>
            </a:r>
            <a:endParaRPr lang="en-US" sz="3600" dirty="0"/>
          </a:p>
          <a:p>
            <a:pPr marL="243840" indent="-243840" defTabSz="1300162">
              <a:buFont typeface="Arial,Sans-Serif" panose="020B0604020202020204" pitchFamily="34" charset="0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Differences reflect a complex interaction of </a:t>
            </a:r>
            <a:r>
              <a:rPr lang="en-US" sz="3600" b="1" dirty="0">
                <a:ea typeface="+mn-lt"/>
                <a:cs typeface="+mn-lt"/>
              </a:rPr>
              <a:t>genetic susceptibility, social determinants of health, environmental exposures, access to care, and metabolic risk factors</a:t>
            </a:r>
            <a:endParaRPr lang="en-US" sz="3600" dirty="0"/>
          </a:p>
          <a:p>
            <a:pPr marL="201295" indent="-201295" defTabSz="1300162">
              <a:lnSpc>
                <a:spcPct val="110000"/>
              </a:lnSpc>
              <a:spcBef>
                <a:spcPts val="700"/>
              </a:spcBef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/>
          </a:p>
          <a:p>
            <a:pPr marL="201612" indent="-201612" defTabSz="1300162">
              <a:lnSpc>
                <a:spcPct val="110000"/>
              </a:lnSpc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pPr defTabSz="1300162">
              <a:lnSpc>
                <a:spcPct val="110000"/>
              </a:lnSpc>
              <a:spcBef>
                <a:spcPts val="700"/>
              </a:spcBef>
              <a:defRPr sz="20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BA395B41-125D-470C-B956-45292A9EA3D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2 Diabetes Epidemiology</a:t>
            </a:r>
          </a:p>
        </p:txBody>
      </p:sp>
    </p:spTree>
    <p:extLst>
      <p:ext uri="{BB962C8B-B14F-4D97-AF65-F5344CB8AC3E}">
        <p14:creationId xmlns:p14="http://schemas.microsoft.com/office/powerpoint/2010/main" val="42391731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8720" y="0"/>
            <a:ext cx="10627360" cy="97536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6441" y="0"/>
            <a:ext cx="10611917" cy="97536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96684-EAAE-406D-99B3-11C6A454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3" y="2843896"/>
            <a:ext cx="9753600" cy="39310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8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 2 Diabetes vs. Type 1 Diabetes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6464" y="7857473"/>
            <a:ext cx="5071872" cy="390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524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body" idx="4294967295"/>
          </p:nvPr>
        </p:nvSpPr>
        <p:spPr>
          <a:xfrm>
            <a:off x="219456" y="1443038"/>
            <a:ext cx="12429744" cy="8081962"/>
          </a:xfrm>
          <a:prstGeom prst="rect">
            <a:avLst/>
          </a:prstGeom>
        </p:spPr>
        <p:txBody>
          <a:bodyPr vert="horz" lIns="72248" tIns="72248" rIns="72248" bIns="72248" rtlCol="0" anchor="t">
            <a:normAutofit/>
          </a:bodyPr>
          <a:lstStyle/>
          <a:p>
            <a:pPr marL="243840" indent="-243840" defTabSz="1300162"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</a:rPr>
              <a:t>Distinguishing T1DM from T2DM is not always straightforward</a:t>
            </a:r>
            <a:endParaRPr lang="en-US" sz="3600" dirty="0"/>
          </a:p>
          <a:p>
            <a:pPr marL="243840" indent="-243840" defTabSz="1300162"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sz="3600" b="1" dirty="0">
              <a:ea typeface="+mn-lt"/>
              <a:cs typeface="+mn-lt"/>
            </a:endParaRPr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</a:rPr>
              <a:t>Both T1DM and T2DM can occur at any age</a:t>
            </a:r>
            <a:endParaRPr lang="en-US" sz="3600" dirty="0"/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All patients with </a:t>
            </a:r>
            <a:r>
              <a:rPr lang="en-US" sz="3600" b="1" dirty="0">
                <a:ea typeface="+mn-lt"/>
                <a:cs typeface="+mn-lt"/>
              </a:rPr>
              <a:t>T1DM require insulin</a:t>
            </a:r>
            <a:r>
              <a:rPr lang="en-US" sz="3600" dirty="0">
                <a:ea typeface="+mn-lt"/>
                <a:cs typeface="+mn-lt"/>
              </a:rPr>
              <a:t>, but many patients with T2DM may also require insulin</a:t>
            </a:r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</a:rPr>
              <a:t>DKA strongly suggests insulin deficiency/T1DM</a:t>
            </a:r>
            <a:r>
              <a:rPr lang="en-US" sz="3600" dirty="0">
                <a:ea typeface="+mn-lt"/>
                <a:cs typeface="+mn-lt"/>
              </a:rPr>
              <a:t>, but can also occur in T2DM</a:t>
            </a:r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</a:rPr>
              <a:t>Overweight/obesity does not exclude T1DM</a:t>
            </a:r>
            <a:endParaRPr lang="en-US" sz="3600" dirty="0"/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No single clinical feature definitively distinguishes T1DM from T2DM</a:t>
            </a:r>
            <a:endParaRPr lang="en-US" sz="3600" dirty="0"/>
          </a:p>
          <a:p>
            <a:pPr marL="0" indent="0" defTabSz="1300162">
              <a:spcBef>
                <a:spcPts val="700"/>
              </a:spcBef>
              <a:buFont typeface="Arial,Sans-Serif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F4978748-D3F7-454F-9DA3-E5F441EDDF6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2 Diabetes vs. Type I Diabetes</a:t>
            </a:r>
          </a:p>
        </p:txBody>
      </p:sp>
    </p:spTree>
    <p:extLst>
      <p:ext uri="{BB962C8B-B14F-4D97-AF65-F5344CB8AC3E}">
        <p14:creationId xmlns:p14="http://schemas.microsoft.com/office/powerpoint/2010/main" val="65597788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body" idx="4294967295"/>
          </p:nvPr>
        </p:nvSpPr>
        <p:spPr>
          <a:xfrm>
            <a:off x="292608" y="1428750"/>
            <a:ext cx="12356592" cy="8096250"/>
          </a:xfrm>
          <a:prstGeom prst="rect">
            <a:avLst/>
          </a:prstGeom>
        </p:spPr>
        <p:txBody>
          <a:bodyPr vert="horz" lIns="72248" tIns="72248" rIns="72248" bIns="72248" rtlCol="0" anchor="t">
            <a:normAutofit/>
          </a:bodyPr>
          <a:lstStyle/>
          <a:p>
            <a:pPr marL="243840" indent="-243840" defTabSz="1300162"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/>
              <a:t>When Should You Question T2DM?</a:t>
            </a:r>
          </a:p>
          <a:p>
            <a:pPr marL="243840" indent="-243840" defTabSz="1300162"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sz="3600" dirty="0">
              <a:ea typeface="+mn-lt"/>
              <a:cs typeface="Arial"/>
            </a:endParaRPr>
          </a:p>
          <a:p>
            <a:pPr marL="243840" indent="-243840" defTabSz="1300162"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</a:rPr>
              <a:t>Consider testing for islet autoantibodies when T1DM is clinically possible, especially with:</a:t>
            </a:r>
            <a:endParaRPr lang="en-US" sz="3600" dirty="0">
              <a:ea typeface="+mn-lt"/>
              <a:cs typeface="+mn-lt"/>
            </a:endParaRPr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  <a:sym typeface="Arial"/>
              </a:rPr>
              <a:t>Younger age at diagnosis</a:t>
            </a:r>
            <a:r>
              <a:rPr lang="en-US" sz="3600" dirty="0">
                <a:ea typeface="+mn-lt"/>
                <a:cs typeface="+mn-lt"/>
                <a:sym typeface="Arial"/>
              </a:rPr>
              <a:t> (particularly &lt;35 years)</a:t>
            </a:r>
            <a:endParaRPr lang="en-US" sz="3600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  <a:sym typeface="Arial"/>
              </a:rPr>
              <a:t>BMI &lt;25 kg/m²</a:t>
            </a:r>
            <a:endParaRPr lang="en-US" sz="3600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  <a:sym typeface="Arial"/>
              </a:rPr>
              <a:t>Unintentional weight loss</a:t>
            </a:r>
            <a:endParaRPr lang="en-US" sz="3600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  <a:sym typeface="Arial"/>
              </a:rPr>
              <a:t>DKA/ketosis at presentation</a:t>
            </a:r>
            <a:endParaRPr lang="en-US" sz="3600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  <a:sym typeface="Arial"/>
              </a:rPr>
              <a:t>Marked hyperglycemia</a:t>
            </a:r>
            <a:r>
              <a:rPr lang="en-US" sz="3600" dirty="0">
                <a:ea typeface="+mn-lt"/>
                <a:cs typeface="+mn-lt"/>
                <a:sym typeface="Arial"/>
              </a:rPr>
              <a:t> at presentation</a:t>
            </a:r>
            <a:endParaRPr lang="en-US" sz="3600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ea typeface="+mn-lt"/>
                <a:cs typeface="+mn-lt"/>
                <a:sym typeface="Arial"/>
              </a:rPr>
              <a:t>Poor response to noninsulin therapy or rapid progression to insulin requirement</a:t>
            </a:r>
            <a:endParaRPr lang="en-US" sz="3600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  <a:sym typeface="Arial"/>
              </a:rPr>
              <a:t>Personal/family history of </a:t>
            </a:r>
            <a:r>
              <a:rPr lang="en-US" sz="3600" b="1" dirty="0">
                <a:ea typeface="+mn-lt"/>
                <a:cs typeface="+mn-lt"/>
                <a:sym typeface="Arial"/>
              </a:rPr>
              <a:t>autoimmune disease</a:t>
            </a:r>
            <a:r>
              <a:rPr lang="en-US" sz="3600" dirty="0">
                <a:ea typeface="+mn-lt"/>
                <a:cs typeface="+mn-lt"/>
                <a:sym typeface="Arial"/>
              </a:rPr>
              <a:t> may increase suspicion</a:t>
            </a:r>
            <a:endParaRPr lang="en-US" sz="3600" dirty="0"/>
          </a:p>
          <a:p>
            <a:pPr marL="0" indent="0" defTabSz="1300162">
              <a:spcBef>
                <a:spcPts val="700"/>
              </a:spcBef>
              <a:buFont typeface="Arial,Sans-Serif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/>
          </a:p>
          <a:p>
            <a:pPr marL="285750" indent="-285750" defTabSz="1300162">
              <a:spcBef>
                <a:spcPts val="700"/>
              </a:spcBef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Shape 30">
            <a:extLst>
              <a:ext uri="{FF2B5EF4-FFF2-40B4-BE49-F238E27FC236}">
                <a16:creationId xmlns:a16="http://schemas.microsoft.com/office/drawing/2014/main" id="{84FCF07E-C2AF-42EA-AB4A-B11F3C04D3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16063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287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138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Type 2 Diabetes vs. Type I Diabetes</a:t>
            </a:r>
          </a:p>
        </p:txBody>
      </p:sp>
    </p:spTree>
    <p:extLst>
      <p:ext uri="{BB962C8B-B14F-4D97-AF65-F5344CB8AC3E}">
        <p14:creationId xmlns:p14="http://schemas.microsoft.com/office/powerpoint/2010/main" val="16574182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8720" y="0"/>
            <a:ext cx="10627360" cy="97536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6441" y="0"/>
            <a:ext cx="10611917" cy="97536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C354F-7083-4AE7-A039-A5E73DCA6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3" y="2843896"/>
            <a:ext cx="9753600" cy="3931062"/>
          </a:xfrm>
        </p:spPr>
        <p:txBody>
          <a:bodyPr anchor="ctr">
            <a:normAutofit/>
          </a:bodyPr>
          <a:lstStyle/>
          <a:p>
            <a:r>
              <a:rPr lang="en-US" sz="8900"/>
              <a:t>What other diabetes variants are out there??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6464" y="7857473"/>
            <a:ext cx="5071872" cy="390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793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title" idx="4294967295"/>
          </p:nvPr>
        </p:nvSpPr>
        <p:spPr>
          <a:xfrm>
            <a:off x="0" y="585481"/>
            <a:ext cx="13004800" cy="1190625"/>
          </a:xfrm>
          <a:prstGeom prst="rect">
            <a:avLst/>
          </a:prstGeom>
        </p:spPr>
        <p:txBody>
          <a:bodyPr lIns="72248" tIns="72248" rIns="72248" bIns="72248" anchor="ctr">
            <a:normAutofit fontScale="90000"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/>
              <a:t>Latent Autoimmune Diabetes in Adults (LADA)</a:t>
            </a:r>
            <a:endParaRPr lang="en-US" dirty="0"/>
          </a:p>
        </p:txBody>
      </p:sp>
      <p:sp>
        <p:nvSpPr>
          <p:cNvPr id="47" name="Shape 47"/>
          <p:cNvSpPr>
            <a:spLocks noGrp="1"/>
          </p:cNvSpPr>
          <p:nvPr>
            <p:ph type="body" idx="4294967295"/>
          </p:nvPr>
        </p:nvSpPr>
        <p:spPr>
          <a:xfrm>
            <a:off x="335175" y="2432304"/>
            <a:ext cx="12351209" cy="7092696"/>
          </a:xfrm>
          <a:prstGeom prst="rect">
            <a:avLst/>
          </a:prstGeom>
        </p:spPr>
        <p:txBody>
          <a:bodyPr vert="horz" lIns="72248" tIns="72248" rIns="72248" bIns="72248" rtlCol="0" anchor="t">
            <a:normAutofit/>
          </a:bodyPr>
          <a:lstStyle/>
          <a:p>
            <a:pPr marL="243840" indent="-243840" defTabSz="1300162">
              <a:buFont typeface="Arial,Sans-Serif" panose="020B0604020202020204" pitchFamily="34" charset="0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Slowly progressive </a:t>
            </a:r>
            <a:r>
              <a:rPr lang="en-US" sz="3600" b="1" dirty="0">
                <a:ea typeface="+mn-lt"/>
                <a:cs typeface="+mn-lt"/>
              </a:rPr>
              <a:t>autoimmune β-cell destruction occurring in adults</a:t>
            </a:r>
            <a:endParaRPr lang="en-US" sz="3600" dirty="0"/>
          </a:p>
          <a:p>
            <a:pPr marL="243840" indent="-243840" defTabSz="1300162">
              <a:buFont typeface="Arial,Sans-Serif" panose="020B0604020202020204" pitchFamily="34" charset="0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Islet autoantibodies are present, most commonly </a:t>
            </a:r>
            <a:r>
              <a:rPr lang="en-US" sz="3600" b="1" dirty="0">
                <a:ea typeface="+mn-lt"/>
                <a:cs typeface="+mn-lt"/>
              </a:rPr>
              <a:t>GAD antibodies</a:t>
            </a:r>
            <a:endParaRPr lang="en-US" sz="3600" dirty="0"/>
          </a:p>
          <a:p>
            <a:pPr marL="243840" indent="-243840" defTabSz="1300162">
              <a:buFont typeface="Arial,Sans-Serif" panose="020B0604020202020204" pitchFamily="34" charset="0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Patients may initially appear to have </a:t>
            </a:r>
            <a:r>
              <a:rPr lang="en-US" sz="3600" b="1" dirty="0">
                <a:ea typeface="+mn-lt"/>
                <a:cs typeface="+mn-lt"/>
              </a:rPr>
              <a:t>T2DM</a:t>
            </a:r>
            <a:r>
              <a:rPr lang="en-US" sz="3600" dirty="0">
                <a:ea typeface="+mn-lt"/>
                <a:cs typeface="+mn-lt"/>
              </a:rPr>
              <a:t> and may not require insulin at diagnosis</a:t>
            </a:r>
          </a:p>
          <a:p>
            <a:pPr marL="243840" indent="-243840" defTabSz="1300162">
              <a:buFont typeface="Arial,Sans-Serif" panose="020B0604020202020204" pitchFamily="34" charset="0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</a:rPr>
              <a:t>Progressive β-cell loss typically leads to </a:t>
            </a:r>
            <a:r>
              <a:rPr lang="en-US" sz="3600" b="1" dirty="0">
                <a:ea typeface="+mn-lt"/>
                <a:cs typeface="+mn-lt"/>
              </a:rPr>
              <a:t>insulin requirement</a:t>
            </a:r>
            <a:endParaRPr lang="en-US" sz="3600" dirty="0"/>
          </a:p>
          <a:p>
            <a:pPr marL="243840" indent="-243840" defTabSz="1300162">
              <a:buFont typeface="Arial,Sans-Serif" panose="020B0604020202020204" pitchFamily="34" charset="0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  <a:sym typeface="Arial"/>
              </a:rPr>
              <a:t>Sometimes called </a:t>
            </a:r>
            <a:r>
              <a:rPr lang="en-US" sz="3600" b="1" dirty="0">
                <a:ea typeface="+mn-lt"/>
                <a:cs typeface="+mn-lt"/>
                <a:sym typeface="Arial"/>
              </a:rPr>
              <a:t>“type 1.5 diabetes”</a:t>
            </a:r>
            <a:endParaRPr lang="en-US" sz="3600" dirty="0"/>
          </a:p>
          <a:p>
            <a:pPr marL="243840" indent="-243840" defTabSz="1300162">
              <a:buFont typeface="Arial,Sans-Serif" panose="020B0604020202020204" pitchFamily="34" charset="0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ea typeface="+mn-lt"/>
                <a:cs typeface="+mn-lt"/>
                <a:sym typeface="Arial"/>
              </a:rPr>
              <a:t>ADA classifies LADA within the spectrum of </a:t>
            </a:r>
            <a:r>
              <a:rPr lang="en-US" sz="3600" b="1" dirty="0">
                <a:ea typeface="+mn-lt"/>
                <a:cs typeface="+mn-lt"/>
                <a:sym typeface="Arial"/>
              </a:rPr>
              <a:t>T1DM</a:t>
            </a:r>
            <a:r>
              <a:rPr lang="en-US" sz="3600" dirty="0">
                <a:ea typeface="+mn-lt"/>
                <a:cs typeface="+mn-lt"/>
                <a:sym typeface="Arial"/>
              </a:rPr>
              <a:t>, rather than as a separate diabetes type</a:t>
            </a:r>
            <a:endParaRPr lang="en-US" sz="3600" dirty="0"/>
          </a:p>
          <a:p>
            <a:pPr marL="285750" indent="-285750" defTabSz="1300162">
              <a:spcBef>
                <a:spcPts val="700"/>
              </a:spcBef>
              <a:buFont typeface="Arial" panose="020B0604020202020204" pitchFamily="34" charset="0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sz="3600" dirty="0"/>
          </a:p>
          <a:p>
            <a:pPr marL="285750" indent="-285750" defTabSz="1300162">
              <a:spcBef>
                <a:spcPts val="700"/>
              </a:spcBef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03883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title" idx="4294967295"/>
          </p:nvPr>
        </p:nvSpPr>
        <p:spPr>
          <a:xfrm>
            <a:off x="652393" y="618937"/>
            <a:ext cx="11704638" cy="1190625"/>
          </a:xfrm>
          <a:prstGeom prst="rect">
            <a:avLst/>
          </a:prstGeom>
        </p:spPr>
        <p:txBody>
          <a:bodyPr lIns="72248" tIns="72248" rIns="72248" bIns="72248" anchor="ctr">
            <a:normAutofit fontScale="90000"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/>
              <a:t>Maturity-Onset Diabetes of the Young (MODY)</a:t>
            </a:r>
            <a:endParaRPr lang="en-US" dirty="0"/>
          </a:p>
        </p:txBody>
      </p:sp>
      <p:sp>
        <p:nvSpPr>
          <p:cNvPr id="47" name="Shape 47"/>
          <p:cNvSpPr>
            <a:spLocks noGrp="1"/>
          </p:cNvSpPr>
          <p:nvPr>
            <p:ph type="body" idx="4294967295"/>
          </p:nvPr>
        </p:nvSpPr>
        <p:spPr>
          <a:xfrm>
            <a:off x="329184" y="2262105"/>
            <a:ext cx="12417552" cy="7262895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b="1" dirty="0">
                <a:latin typeface="Arial"/>
                <a:ea typeface="Calibri"/>
                <a:cs typeface="Arial"/>
              </a:rPr>
              <a:t>Monogenic </a:t>
            </a:r>
            <a:r>
              <a:rPr lang="en-US" sz="3600" b="1" dirty="0">
                <a:latin typeface="Arial"/>
                <a:cs typeface="Arial"/>
                <a:sym typeface="Arial"/>
              </a:rPr>
              <a:t>diabetes</a:t>
            </a:r>
            <a:r>
              <a:rPr lang="en-US" sz="3600" dirty="0">
                <a:latin typeface="Arial"/>
                <a:cs typeface="Arial"/>
                <a:sym typeface="Arial"/>
              </a:rPr>
              <a:t> caused by a pathogenic genetic variant affecting β-cell function</a:t>
            </a:r>
            <a:endParaRPr lang="en-US" sz="3600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Arial"/>
                <a:cs typeface="Arial"/>
                <a:sym typeface="Arial"/>
              </a:rPr>
              <a:t>Often diagnosed in </a:t>
            </a:r>
            <a:r>
              <a:rPr lang="en-US" sz="3600" b="1" dirty="0">
                <a:latin typeface="Arial"/>
                <a:cs typeface="Arial"/>
                <a:sym typeface="Arial"/>
              </a:rPr>
              <a:t>adolescence or early adulthood</a:t>
            </a:r>
            <a:endParaRPr lang="en-US" sz="360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Arial"/>
                <a:cs typeface="Arial"/>
                <a:sym typeface="Arial"/>
              </a:rPr>
              <a:t>Usually demonstrates </a:t>
            </a:r>
            <a:r>
              <a:rPr lang="en-US" sz="3600" b="1" dirty="0">
                <a:latin typeface="Arial"/>
                <a:cs typeface="Arial"/>
                <a:sym typeface="Arial"/>
              </a:rPr>
              <a:t>autosomal dominant inheritance</a:t>
            </a:r>
            <a:endParaRPr lang="en-US" sz="360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Arial"/>
                <a:cs typeface="Arial"/>
                <a:sym typeface="Arial"/>
              </a:rPr>
              <a:t>Often lacks typical features of T1DM or T2DM</a:t>
            </a:r>
            <a:endParaRPr lang="en-US" sz="3600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3600" dirty="0">
                <a:latin typeface="Arial"/>
                <a:cs typeface="Arial"/>
                <a:sym typeface="Arial"/>
              </a:rPr>
              <a:t>Correct diagnosis matters because </a:t>
            </a:r>
            <a:r>
              <a:rPr lang="en-US" sz="3600" b="1" dirty="0">
                <a:latin typeface="Arial"/>
                <a:cs typeface="Arial"/>
                <a:sym typeface="Arial"/>
              </a:rPr>
              <a:t>treatment differs by MODY subtype</a:t>
            </a:r>
            <a:endParaRPr lang="en-US" sz="3600" dirty="0"/>
          </a:p>
          <a:p>
            <a:pPr marL="285750" indent="-285750" defTabSz="1300162">
              <a:spcBef>
                <a:spcPts val="700"/>
              </a:spcBef>
              <a:buFont typeface="Arial" panose="020B0604020202020204" pitchFamily="34" charset="0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94219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D327-6D93-B9E3-8C09-3271ABA1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>
            <a:extLst>
              <a:ext uri="{FF2B5EF4-FFF2-40B4-BE49-F238E27FC236}">
                <a16:creationId xmlns:a16="http://schemas.microsoft.com/office/drawing/2014/main" id="{0D6C6BDB-8F8F-A745-F37A-9658543FF4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2393" y="618937"/>
            <a:ext cx="11704638" cy="1190625"/>
          </a:xfrm>
          <a:prstGeom prst="rect">
            <a:avLst/>
          </a:prstGeom>
        </p:spPr>
        <p:txBody>
          <a:bodyPr lIns="72248" tIns="72248" rIns="72248" bIns="72248" anchor="ctr">
            <a:normAutofit fontScale="90000"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/>
              <a:t>Maturity-Onset Diabetes of the Young (MODY)</a:t>
            </a:r>
            <a:endParaRPr lang="en-US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DB3A0711-DDF9-7C77-17C4-38C0086E5A5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29184" y="2262105"/>
            <a:ext cx="12417552" cy="7262895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0" indent="0" defTabSz="1300162"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dirty="0">
                <a:latin typeface="Arial"/>
                <a:cs typeface="Arial"/>
                <a:sym typeface="Arial"/>
              </a:rPr>
              <a:t>Consider MODY when:</a:t>
            </a:r>
            <a:endParaRPr lang="en-US" sz="400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latin typeface="Arial"/>
                <a:cs typeface="Arial"/>
                <a:sym typeface="Arial"/>
              </a:rPr>
              <a:t>Diabetes occurs at a </a:t>
            </a:r>
            <a:r>
              <a:rPr lang="en-US" sz="4000" b="1" dirty="0">
                <a:latin typeface="Arial"/>
                <a:cs typeface="Arial"/>
                <a:sym typeface="Arial"/>
              </a:rPr>
              <a:t>young age</a:t>
            </a:r>
            <a:endParaRPr lang="en-US" sz="4000" b="1" dirty="0">
              <a:latin typeface="Arial"/>
              <a:cs typeface="Arial"/>
            </a:endParaRPr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dirty="0">
                <a:latin typeface="Arial"/>
                <a:cs typeface="Arial"/>
                <a:sym typeface="Arial"/>
              </a:rPr>
              <a:t>Strong family history across successive generations</a:t>
            </a:r>
            <a:endParaRPr lang="en-US" sz="400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dirty="0">
                <a:latin typeface="Arial"/>
                <a:cs typeface="Arial"/>
                <a:sym typeface="Arial"/>
              </a:rPr>
              <a:t>Negative islet autoantibodies</a:t>
            </a:r>
            <a:endParaRPr lang="en-US" sz="4000" dirty="0">
              <a:latin typeface="Arial"/>
              <a:cs typeface="Arial"/>
            </a:endParaRPr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dirty="0">
                <a:latin typeface="Arial"/>
                <a:cs typeface="Arial"/>
              </a:rPr>
              <a:t>No obesity or other typical </a:t>
            </a:r>
            <a:r>
              <a:rPr lang="en-US" sz="4000" b="1" dirty="0">
                <a:latin typeface="Arial"/>
                <a:cs typeface="Arial"/>
                <a:sym typeface="Arial"/>
              </a:rPr>
              <a:t>features of insulin resistance</a:t>
            </a:r>
            <a:endParaRPr lang="en-US" sz="4000"/>
          </a:p>
          <a:p>
            <a:pPr marL="243840" indent="-243840" defTabSz="1300162">
              <a:buFont typeface="Arial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latin typeface="Arial"/>
                <a:cs typeface="Arial"/>
                <a:sym typeface="Arial"/>
              </a:rPr>
              <a:t>Stable, mild fasting hyperglycemia may be a clue</a:t>
            </a:r>
            <a:endParaRPr lang="en-US" sz="4000"/>
          </a:p>
          <a:p>
            <a:pPr marL="0" indent="0" defTabSz="1300162"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>
                <a:latin typeface="Arial"/>
                <a:cs typeface="Arial"/>
                <a:sym typeface="Arial"/>
              </a:rPr>
              <a:t>       → </a:t>
            </a:r>
            <a:r>
              <a:rPr lang="en-US" sz="4000" b="1" dirty="0">
                <a:latin typeface="Arial"/>
                <a:cs typeface="Arial"/>
                <a:sym typeface="Arial"/>
              </a:rPr>
              <a:t>Confirm with genetic testing</a:t>
            </a:r>
            <a:endParaRPr lang="en-US" sz="4000"/>
          </a:p>
          <a:p>
            <a:pPr marL="285750" indent="-285750" defTabSz="1300162">
              <a:spcBef>
                <a:spcPts val="700"/>
              </a:spcBef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/>
          </a:p>
          <a:p>
            <a:pPr marL="285750" indent="-285750" defTabSz="1300162">
              <a:spcBef>
                <a:spcPts val="700"/>
              </a:spcBef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sz="4500" dirty="0"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07625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3" name="Freeform: Shape 72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89650" cy="97536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5" name="Freeform: Shape 74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78812" cy="97536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3A20D7-8F72-4424-8120-6B25FF216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846" y="1596249"/>
            <a:ext cx="4291584" cy="4556991"/>
          </a:xfrm>
        </p:spPr>
        <p:txBody>
          <a:bodyPr anchor="b">
            <a:normAutofit/>
          </a:bodyPr>
          <a:lstStyle/>
          <a:p>
            <a:pPr algn="l"/>
            <a:r>
              <a:rPr lang="en-US" sz="6000"/>
              <a:t>Type I Diabetes Mellitus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73" y="618385"/>
            <a:ext cx="208077" cy="7510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097" y="6466730"/>
            <a:ext cx="4291584" cy="26010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ype 1 Diabetes Images, Stock Photos &amp;amp; Vectors | Shutterstock">
            <a:extLst>
              <a:ext uri="{FF2B5EF4-FFF2-40B4-BE49-F238E27FC236}">
                <a16:creationId xmlns:a16="http://schemas.microsoft.com/office/drawing/2014/main" id="{2439CDB6-B0BE-4588-8B21-00ECB366E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75313" y="2068987"/>
            <a:ext cx="6836091" cy="5400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860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body" idx="4294967295"/>
          </p:nvPr>
        </p:nvSpPr>
        <p:spPr>
          <a:xfrm>
            <a:off x="0" y="1949450"/>
            <a:ext cx="13004800" cy="7804150"/>
          </a:xfrm>
          <a:prstGeom prst="rect">
            <a:avLst/>
          </a:prstGeom>
        </p:spPr>
        <p:txBody>
          <a:bodyPr vert="horz" lIns="72248" tIns="72248" rIns="72248" bIns="72248" rtlCol="0" anchor="t">
            <a:normAutofit/>
          </a:bodyPr>
          <a:lstStyle/>
          <a:p>
            <a:pPr marL="914400" indent="-914400" defTabSz="1300162">
              <a:spcBef>
                <a:spcPts val="700"/>
              </a:spcBef>
              <a:buFontTx/>
              <a:buAutoNum type="arabicPeriod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Calibri" panose="020F0502020204030204" pitchFamily="34" charset="0"/>
              </a:rPr>
              <a:t>Weight loss</a:t>
            </a:r>
            <a:r>
              <a:rPr b="0" dirty="0">
                <a:latin typeface="Calibri" panose="020F0502020204030204" pitchFamily="34" charset="0"/>
              </a:rPr>
              <a:t> despite normal or increased po intake</a:t>
            </a:r>
            <a:r>
              <a:rPr lang="en-US" b="0" dirty="0">
                <a:latin typeface="Calibri" panose="020F0502020204030204" pitchFamily="34" charset="0"/>
              </a:rPr>
              <a:t> (polyphagia)</a:t>
            </a:r>
          </a:p>
          <a:p>
            <a:pPr marL="914400" indent="-914400" defTabSz="1300162">
              <a:spcBef>
                <a:spcPts val="700"/>
              </a:spcBef>
              <a:buFontTx/>
              <a:buAutoNum type="arabicPeriod" startAt="2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/>
              <a:t>Increased urination (polyuria)</a:t>
            </a:r>
          </a:p>
          <a:p>
            <a:pPr marL="914400" indent="-914400" defTabSz="1300162">
              <a:lnSpc>
                <a:spcPct val="90000"/>
              </a:lnSpc>
              <a:spcBef>
                <a:spcPts val="700"/>
              </a:spcBef>
              <a:buFontTx/>
              <a:buAutoNum type="arabicPeriod" startAt="3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Thirst/ Polydipsia</a:t>
            </a:r>
          </a:p>
          <a:p>
            <a:pPr marL="914400" indent="-914400" defTabSz="1300162">
              <a:lnSpc>
                <a:spcPct val="90000"/>
              </a:lnSpc>
              <a:spcBef>
                <a:spcPts val="700"/>
              </a:spcBef>
              <a:buFontTx/>
              <a:buAutoNum type="arabicPeriod" startAt="4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Blurred vision</a:t>
            </a:r>
          </a:p>
          <a:p>
            <a:pPr marL="914400" indent="-914400" defTabSz="1300162">
              <a:lnSpc>
                <a:spcPct val="90000"/>
              </a:lnSpc>
              <a:spcBef>
                <a:spcPts val="700"/>
              </a:spcBef>
              <a:buFontTx/>
              <a:buAutoNum type="arabicPeriod" startAt="5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Postural Hypotension</a:t>
            </a:r>
          </a:p>
          <a:p>
            <a:pPr marL="914400" indent="-914400" defTabSz="1300162">
              <a:spcBef>
                <a:spcPts val="700"/>
              </a:spcBef>
              <a:buFontTx/>
              <a:buAutoNum type="arabicPeriod" startAt="5"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Paresthesia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D7D674-7932-44FC-A3BC-B9B985516F0B}"/>
              </a:ext>
            </a:extLst>
          </p:cNvPr>
          <p:cNvSpPr txBox="1">
            <a:spLocks/>
          </p:cNvSpPr>
          <p:nvPr/>
        </p:nvSpPr>
        <p:spPr>
          <a:xfrm>
            <a:off x="0" y="30531"/>
            <a:ext cx="13004800" cy="132330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Symptoms of Type I Diabetes Mellitus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/>
          </p:cNvSpPr>
          <p:nvPr>
            <p:ph type="body" idx="4294967295"/>
          </p:nvPr>
        </p:nvSpPr>
        <p:spPr>
          <a:xfrm>
            <a:off x="326571" y="1949450"/>
            <a:ext cx="12244842" cy="7478713"/>
          </a:xfrm>
          <a:prstGeom prst="rect">
            <a:avLst/>
          </a:prstGeom>
        </p:spPr>
        <p:txBody>
          <a:bodyPr vert="horz" lIns="72248" tIns="72248" rIns="72248" bIns="72248" rtlCol="0" anchor="t">
            <a:normAutofit/>
          </a:bodyPr>
          <a:lstStyle/>
          <a:p>
            <a:pPr marL="0" indent="0" defTabSz="1300162">
              <a:spcBef>
                <a:spcPts val="700"/>
              </a:spcBef>
              <a:buNone/>
              <a:defRPr sz="4500" b="1">
                <a:latin typeface="Arial"/>
                <a:ea typeface="Arial"/>
                <a:cs typeface="Arial"/>
                <a:sym typeface="Arial"/>
              </a:defRPr>
            </a:pPr>
            <a:r>
              <a:rPr lang="en-US" b="0" dirty="0"/>
              <a:t>Incidental discoveries do occur- asymptomatic patient</a:t>
            </a:r>
            <a:endParaRPr b="0" dirty="0"/>
          </a:p>
          <a:p>
            <a:pPr marL="914400" indent="-914400" defTabSz="1300162"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b="0" dirty="0"/>
          </a:p>
          <a:p>
            <a:pPr marL="914400" indent="-914400" defTabSz="1300162"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Patients with adult onset type I DM generally present with a slower onset of</a:t>
            </a:r>
            <a:r>
              <a:rPr lang="en-US" dirty="0"/>
              <a:t> </a:t>
            </a:r>
            <a:r>
              <a:rPr dirty="0"/>
              <a:t>hyperglycemia.</a:t>
            </a:r>
          </a:p>
          <a:p>
            <a:pPr marL="914400" indent="-914400" defTabSz="1300162"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0" indent="0" defTabSz="1300162">
              <a:spcBef>
                <a:spcPts val="700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/>
              <a:t>Peds: more likely to be acute onset</a:t>
            </a:r>
          </a:p>
          <a:p>
            <a:pPr marL="0" indent="0" defTabSz="1300162">
              <a:spcBef>
                <a:spcPts val="700"/>
              </a:spcBef>
              <a:buNone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022A61-23F6-4006-8746-D5FB9DC2AF3F}"/>
              </a:ext>
            </a:extLst>
          </p:cNvPr>
          <p:cNvSpPr txBox="1">
            <a:spLocks/>
          </p:cNvSpPr>
          <p:nvPr/>
        </p:nvSpPr>
        <p:spPr>
          <a:xfrm>
            <a:off x="0" y="30531"/>
            <a:ext cx="13004800" cy="132330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Symptoms of Type I Diabetes Mellitus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6785-7330-38FC-6D2E-CED285071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05">
            <a:extLst>
              <a:ext uri="{FF2B5EF4-FFF2-40B4-BE49-F238E27FC236}">
                <a16:creationId xmlns:a16="http://schemas.microsoft.com/office/drawing/2014/main" id="{0B82AA89-4B6C-CFD2-ADC7-2502BA4538F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24000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/>
              <a:t>Tests Used to Assess Glycemia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F63EF-194F-C7AF-D2E5-8DE2D6E867DF}"/>
              </a:ext>
            </a:extLst>
          </p:cNvPr>
          <p:cNvSpPr txBox="1"/>
          <p:nvPr/>
        </p:nvSpPr>
        <p:spPr>
          <a:xfrm>
            <a:off x="450519" y="1923723"/>
            <a:ext cx="12174798" cy="69624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43840" indent="-243840">
              <a:lnSpc>
                <a:spcPct val="90000"/>
              </a:lnSpc>
              <a:spcBef>
                <a:spcPts val="1067"/>
              </a:spcBef>
            </a:pPr>
            <a:r>
              <a:rPr lang="en-US" sz="2800" b="1" i="1" dirty="0">
                <a:latin typeface="Arial"/>
                <a:cs typeface="Arial"/>
              </a:rPr>
              <a:t>Plasma glucose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i="1" dirty="0">
                <a:latin typeface="Arial"/>
                <a:cs typeface="Arial"/>
              </a:rPr>
              <a:t>Fasting plasma glucose can be used for </a:t>
            </a:r>
            <a:r>
              <a:rPr lang="en-US" sz="2800" b="1" i="1" dirty="0">
                <a:latin typeface="Arial"/>
                <a:cs typeface="Arial"/>
              </a:rPr>
              <a:t>screening and diagnosis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Random plasma glucose can diagnose diabetes </a:t>
            </a:r>
            <a:r>
              <a:rPr lang="en-US" sz="2800" b="1" dirty="0">
                <a:latin typeface="Arial"/>
                <a:cs typeface="Arial"/>
              </a:rPr>
              <a:t>when ≥200 mg/dL with classic symptoms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or hyperglycemic crisis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endParaRPr lang="en-US" sz="2800" b="1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67"/>
              </a:spcBef>
            </a:pPr>
            <a:r>
              <a:rPr lang="en-US" sz="2800" b="1" dirty="0">
                <a:latin typeface="Arial"/>
                <a:cs typeface="Arial"/>
              </a:rPr>
              <a:t>Point-of-care glucose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"/>
              <a:buChar char="•"/>
            </a:pPr>
            <a:r>
              <a:rPr lang="en-US" sz="2800" dirty="0">
                <a:latin typeface="Arial"/>
                <a:cs typeface="Arial"/>
              </a:rPr>
              <a:t>Useful for </a:t>
            </a:r>
            <a:r>
              <a:rPr lang="en-US" sz="2800" b="1" dirty="0">
                <a:latin typeface="Arial"/>
                <a:cs typeface="Arial"/>
              </a:rPr>
              <a:t>monitoring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"/>
              <a:buChar char="•"/>
            </a:pPr>
            <a:r>
              <a:rPr lang="en-US" sz="2800" dirty="0">
                <a:latin typeface="Arial"/>
                <a:cs typeface="Arial"/>
              </a:rPr>
              <a:t>Standard glucometer testing should not be used to establish the diagnosis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"/>
              <a:buChar char="•"/>
            </a:pPr>
            <a:endParaRPr lang="en-US" sz="28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67"/>
              </a:spcBef>
            </a:pPr>
            <a:r>
              <a:rPr lang="en-US" sz="2800" b="1" dirty="0">
                <a:latin typeface="Arial"/>
                <a:cs typeface="Arial"/>
              </a:rPr>
              <a:t>A1C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i="1" dirty="0">
                <a:latin typeface="Arial"/>
                <a:cs typeface="Arial"/>
              </a:rPr>
              <a:t>Reflects average glycemia over approximately</a:t>
            </a:r>
            <a:r>
              <a:rPr lang="en-US" sz="2800" b="1" i="1" dirty="0">
                <a:latin typeface="Arial"/>
                <a:cs typeface="Arial"/>
              </a:rPr>
              <a:t> 2–3 months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Weighted more heavily toward recent glycemia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Can be used for </a:t>
            </a:r>
            <a:r>
              <a:rPr lang="en-US" sz="2800" b="1" dirty="0">
                <a:latin typeface="Arial"/>
                <a:cs typeface="Arial"/>
              </a:rPr>
              <a:t>screening, diagnosis, and monitoring</a:t>
            </a:r>
            <a:endParaRPr lang="en-US" sz="2800" dirty="0">
              <a:latin typeface="Arial"/>
              <a:cs typeface="Arial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394532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D519-EEC0-2676-6637-5212EF24C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37F793-FBC7-4657-9A35-4DF27BCE5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495"/>
            <a:ext cx="12733217" cy="6366609"/>
          </a:xfrm>
          <a:prstGeom prst="rect">
            <a:avLst/>
          </a:prstGeom>
        </p:spPr>
      </p:pic>
      <p:sp>
        <p:nvSpPr>
          <p:cNvPr id="5" name="Shape 105">
            <a:extLst>
              <a:ext uri="{FF2B5EF4-FFF2-40B4-BE49-F238E27FC236}">
                <a16:creationId xmlns:a16="http://schemas.microsoft.com/office/drawing/2014/main" id="{F47DA14D-748F-F9D3-C93D-1F23F15639F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24000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/>
              <a:t>Tests Used to Assess Glycemia</a:t>
            </a:r>
          </a:p>
        </p:txBody>
      </p:sp>
    </p:spTree>
    <p:extLst>
      <p:ext uri="{BB962C8B-B14F-4D97-AF65-F5344CB8AC3E}">
        <p14:creationId xmlns:p14="http://schemas.microsoft.com/office/powerpoint/2010/main" val="317146313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77D4-254E-EAEB-5D21-498479F20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>
            <a:extLst>
              <a:ext uri="{FF2B5EF4-FFF2-40B4-BE49-F238E27FC236}">
                <a16:creationId xmlns:a16="http://schemas.microsoft.com/office/drawing/2014/main" id="{03E4EBDD-0EB6-C310-9FA2-48A3F87105A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3004800" cy="1447800"/>
          </a:xfrm>
          <a:prstGeom prst="rect">
            <a:avLst/>
          </a:prstGeom>
        </p:spPr>
        <p:txBody>
          <a:bodyPr lIns="72248" tIns="72248" rIns="72248" bIns="72248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Diagnosis of Diabetes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E24CC1-A325-EAA2-7FEA-4EB81977957C}"/>
              </a:ext>
            </a:extLst>
          </p:cNvPr>
          <p:cNvSpPr txBox="1"/>
          <p:nvPr/>
        </p:nvSpPr>
        <p:spPr>
          <a:xfrm>
            <a:off x="416818" y="2124459"/>
            <a:ext cx="12298630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Arial"/>
                <a:ea typeface="+mn-lt"/>
                <a:cs typeface="Arial"/>
              </a:rPr>
              <a:t>Any of the following:</a:t>
            </a:r>
            <a:endParaRPr lang="en-US" sz="36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600" b="1" dirty="0">
                <a:latin typeface="Arial"/>
                <a:ea typeface="+mn-lt"/>
                <a:cs typeface="Arial"/>
              </a:rPr>
              <a:t>A1C ≥6.5% *</a:t>
            </a:r>
            <a:endParaRPr lang="en-US" sz="36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600" b="1" dirty="0">
                <a:latin typeface="Arial"/>
                <a:ea typeface="+mn-lt"/>
                <a:cs typeface="Arial"/>
              </a:rPr>
              <a:t>Fasting plasma glucose ≥126 mg/dL</a:t>
            </a:r>
            <a:endParaRPr lang="en-US" sz="36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600" b="1" dirty="0">
                <a:latin typeface="Arial"/>
                <a:ea typeface="+mn-lt"/>
                <a:cs typeface="Arial"/>
              </a:rPr>
              <a:t>2-hour plasma glucose ≥200 mg/dL</a:t>
            </a:r>
            <a:r>
              <a:rPr lang="en-US" sz="3600" dirty="0">
                <a:latin typeface="Arial"/>
                <a:ea typeface="+mn-lt"/>
                <a:cs typeface="Arial"/>
              </a:rPr>
              <a:t> during 75-g OGTT</a:t>
            </a:r>
            <a:endParaRPr lang="en-US" sz="36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600" b="1" dirty="0">
                <a:latin typeface="Arial"/>
                <a:ea typeface="+mn-lt"/>
                <a:cs typeface="Arial"/>
              </a:rPr>
              <a:t>Random plasma glucose ≥200 mg/dL</a:t>
            </a:r>
            <a:r>
              <a:rPr lang="en-US" sz="3600" dirty="0">
                <a:latin typeface="Arial"/>
                <a:ea typeface="+mn-lt"/>
                <a:cs typeface="Arial"/>
              </a:rPr>
              <a:t> with classic symptoms of hyperglycemia or hyperglycemic crisis</a:t>
            </a:r>
            <a:endParaRPr lang="en-US" sz="36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3600" dirty="0">
              <a:latin typeface="Arial"/>
              <a:ea typeface="+mn-lt"/>
              <a:cs typeface="Arial"/>
            </a:endParaRPr>
          </a:p>
          <a:p>
            <a:r>
              <a:rPr lang="en-US" sz="3600" b="1" dirty="0">
                <a:latin typeface="Arial"/>
                <a:ea typeface="+mn-lt"/>
                <a:cs typeface="Arial"/>
              </a:rPr>
              <a:t>In the absence of unequivocal hyperglycemia, confirm the diagnosis with repeat testing.</a:t>
            </a:r>
            <a:endParaRPr lang="en-US" sz="3600">
              <a:latin typeface="Arial"/>
              <a:cs typeface="Arial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659643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95F3-AE19-20AB-1D64-B2C252F9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Table 123">
            <a:extLst>
              <a:ext uri="{FF2B5EF4-FFF2-40B4-BE49-F238E27FC236}">
                <a16:creationId xmlns:a16="http://schemas.microsoft.com/office/drawing/2014/main" id="{200B95B8-6CBE-DDA1-8A31-9D150C5D73C4}"/>
              </a:ext>
            </a:extLst>
          </p:cNvPr>
          <p:cNvGraphicFramePr/>
          <p:nvPr/>
        </p:nvGraphicFramePr>
        <p:xfrm>
          <a:off x="1168400" y="1524000"/>
          <a:ext cx="10668000" cy="77724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HgbA1c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Mean Plasma Glucose Level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6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126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7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154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8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183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9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212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240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269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12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lang="en-US" sz="2600"/>
                        <a:t>298 mg/dL</a:t>
                      </a:r>
                      <a:endParaRPr lang="en-US" sz="2600" dirty="0"/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4" name="Shape 124">
            <a:extLst>
              <a:ext uri="{FF2B5EF4-FFF2-40B4-BE49-F238E27FC236}">
                <a16:creationId xmlns:a16="http://schemas.microsoft.com/office/drawing/2014/main" id="{1C5A7B15-7622-4A19-77DD-8E3E0290B177}"/>
              </a:ext>
            </a:extLst>
          </p:cNvPr>
          <p:cNvSpPr/>
          <p:nvPr/>
        </p:nvSpPr>
        <p:spPr>
          <a:xfrm>
            <a:off x="406400" y="445477"/>
            <a:ext cx="12192000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457200">
              <a:defRPr sz="1800"/>
            </a:lvl1pPr>
          </a:lstStyle>
          <a:p>
            <a:r>
              <a:rPr sz="4400" dirty="0"/>
              <a:t>What does an A1c Mean about DM Control?</a:t>
            </a:r>
          </a:p>
        </p:txBody>
      </p:sp>
    </p:spTree>
    <p:extLst>
      <p:ext uri="{BB962C8B-B14F-4D97-AF65-F5344CB8AC3E}">
        <p14:creationId xmlns:p14="http://schemas.microsoft.com/office/powerpoint/2010/main" val="676098901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/>
          </p:cNvSpPr>
          <p:nvPr>
            <p:ph type="body" idx="4294967295"/>
          </p:nvPr>
        </p:nvSpPr>
        <p:spPr>
          <a:xfrm>
            <a:off x="219456" y="1565276"/>
            <a:ext cx="12582144" cy="4918652"/>
          </a:xfrm>
          <a:prstGeom prst="rect">
            <a:avLst/>
          </a:prstGeom>
        </p:spPr>
        <p:txBody>
          <a:bodyPr vert="horz" lIns="72248" tIns="72248" rIns="72248" bIns="72248" rtlCol="0" anchor="t">
            <a:normAutofit fontScale="77500" lnSpcReduction="20000"/>
          </a:bodyPr>
          <a:lstStyle/>
          <a:p>
            <a:pPr marL="243840" indent="-243840" defTabSz="1300162"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C-Peptide</a:t>
            </a:r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>
                <a:ea typeface="+mn-lt"/>
                <a:cs typeface="+mn-lt"/>
              </a:rPr>
              <a:t>C-peptide is released when proinsulin is cleaved into insulin + C-peptide</a:t>
            </a:r>
            <a:endParaRPr lang="en-US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Therefore, C-peptide is a marker of </a:t>
            </a:r>
            <a:r>
              <a:rPr lang="en-US" b="1" dirty="0">
                <a:ea typeface="+mn-lt"/>
                <a:cs typeface="+mn-lt"/>
              </a:rPr>
              <a:t>endogenous insulin production</a:t>
            </a:r>
            <a:endParaRPr lang="en-US" dirty="0">
              <a:ea typeface="+mn-lt"/>
              <a:cs typeface="+mn-lt"/>
            </a:endParaRPr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>
                <a:ea typeface="+mn-lt"/>
                <a:cs typeface="+mn-lt"/>
              </a:rPr>
              <a:t>Low/undetectable C-peptide</a:t>
            </a:r>
            <a:r>
              <a:rPr lang="en-US" dirty="0">
                <a:ea typeface="+mn-lt"/>
                <a:cs typeface="+mn-lt"/>
              </a:rPr>
              <a:t> suggests significant loss of β-cell function</a:t>
            </a:r>
            <a:endParaRPr lang="en-US" dirty="0"/>
          </a:p>
          <a:p>
            <a:pPr marL="243840" indent="-243840" defTabSz="1300162"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>
                <a:ea typeface="+mn-lt"/>
                <a:cs typeface="+mn-lt"/>
              </a:rPr>
              <a:t>Normal or elevated C-peptide</a:t>
            </a:r>
            <a:r>
              <a:rPr lang="en-US" dirty="0">
                <a:ea typeface="+mn-lt"/>
                <a:cs typeface="+mn-lt"/>
              </a:rPr>
              <a:t> indicates preserved endogenous insulin secretion</a:t>
            </a:r>
            <a:endParaRPr lang="en-US" dirty="0"/>
          </a:p>
          <a:p>
            <a:pPr marL="0" indent="0" defTabSz="1300162">
              <a:spcBef>
                <a:spcPts val="700"/>
              </a:spcBef>
              <a:buFont typeface="Arial"/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C-peptide can help distinguish </a:t>
            </a:r>
            <a:r>
              <a:rPr lang="en-US" b="1" dirty="0">
                <a:ea typeface="+mn-lt"/>
                <a:cs typeface="+mn-lt"/>
              </a:rPr>
              <a:t>insulin deficiency from insulin resistance</a:t>
            </a:r>
            <a:r>
              <a:rPr lang="en-US" dirty="0">
                <a:ea typeface="+mn-lt"/>
                <a:cs typeface="+mn-lt"/>
              </a:rPr>
              <a:t>, particularly when the diagnosis is unclear</a:t>
            </a:r>
            <a:endParaRPr lang="en-US" dirty="0"/>
          </a:p>
          <a:p>
            <a:pPr marL="285750" indent="-285750" defTabSz="1300162">
              <a:spcBef>
                <a:spcPts val="700"/>
              </a:spcBef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 panose="020F0502020204030204" pitchFamily="34" charset="0"/>
            </a:endParaRPr>
          </a:p>
          <a:p>
            <a:pPr marL="285750" indent="-285750" defTabSz="1300162">
              <a:spcBef>
                <a:spcPts val="700"/>
              </a:spcBef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sz="4800" dirty="0">
              <a:latin typeface="Calibri" panose="020F0502020204030204" pitchFamily="34" charset="0"/>
            </a:endParaRPr>
          </a:p>
          <a:p>
            <a:pPr marL="285750" indent="-285750" defTabSz="1300162">
              <a:spcBef>
                <a:spcPts val="700"/>
              </a:spcBef>
              <a:buChar char="•"/>
              <a:defRPr sz="440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225927-2722-4261-BEB9-79585BF8EC04}"/>
              </a:ext>
            </a:extLst>
          </p:cNvPr>
          <p:cNvSpPr txBox="1">
            <a:spLocks/>
          </p:cNvSpPr>
          <p:nvPr/>
        </p:nvSpPr>
        <p:spPr>
          <a:xfrm>
            <a:off x="0" y="30531"/>
            <a:ext cx="13004800" cy="132330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Diagnostic testing- T1DM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597DA2-B72C-4DB8-B23C-96BA8CB62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494" y="7446037"/>
            <a:ext cx="3748969" cy="174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334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/>
          </p:cNvSpPr>
          <p:nvPr>
            <p:ph type="body" idx="4294967295"/>
          </p:nvPr>
        </p:nvSpPr>
        <p:spPr>
          <a:xfrm>
            <a:off x="457200" y="2322576"/>
            <a:ext cx="11821886" cy="7202424"/>
          </a:xfrm>
          <a:prstGeom prst="rect">
            <a:avLst/>
          </a:prstGeom>
        </p:spPr>
        <p:txBody>
          <a:bodyPr vert="horz" lIns="72248" tIns="72248" rIns="72248" bIns="72248" rtlCol="0" anchor="t">
            <a:normAutofit/>
          </a:bodyPr>
          <a:lstStyle/>
          <a:p>
            <a:pPr marL="0" indent="0" defTabSz="1300162">
              <a:spcBef>
                <a:spcPts val="700"/>
              </a:spcBef>
              <a:buNone/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400" b="1" i="1" dirty="0">
                <a:latin typeface="Calibri" panose="020F0502020204030204" pitchFamily="34" charset="0"/>
                <a:ea typeface="Calibri" charset="0"/>
                <a:cs typeface="Calibri" charset="0"/>
              </a:rPr>
              <a:t>Tests for autoantibodies </a:t>
            </a:r>
            <a:endParaRPr lang="en-US" sz="4400" dirty="0">
              <a:latin typeface="Calibri" panose="020F0502020204030204" pitchFamily="34" charset="0"/>
              <a:ea typeface="Calibri" charset="0"/>
              <a:cs typeface="Calibri" charset="0"/>
            </a:endParaRPr>
          </a:p>
          <a:p>
            <a:pPr marL="1084263" lvl="1" indent="-571500" defTabSz="1300162">
              <a:spcBef>
                <a:spcPts val="700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400" b="1" dirty="0">
                <a:latin typeface="Calibri" panose="020F0502020204030204" pitchFamily="34" charset="0"/>
                <a:ea typeface="Calibri" charset="0"/>
                <a:cs typeface="Calibri" charset="0"/>
              </a:rPr>
              <a:t>Insulin</a:t>
            </a:r>
          </a:p>
          <a:p>
            <a:pPr marL="1084263" lvl="1" indent="-571500" defTabSz="1300162">
              <a:spcBef>
                <a:spcPts val="700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400" b="1" dirty="0">
                <a:latin typeface="Calibri" panose="020F0502020204030204" pitchFamily="34" charset="0"/>
                <a:ea typeface="Calibri" charset="0"/>
                <a:cs typeface="Calibri" charset="0"/>
              </a:rPr>
              <a:t>Glutamic acid decarboxylase </a:t>
            </a:r>
            <a:r>
              <a:rPr lang="en-US" sz="4400" dirty="0">
                <a:latin typeface="Calibri" panose="020F0502020204030204" pitchFamily="34" charset="0"/>
                <a:ea typeface="Calibri" charset="0"/>
                <a:cs typeface="Calibri" charset="0"/>
              </a:rPr>
              <a:t>(also termed islet cell auto-antibodies) - an enzyme found in beta cells</a:t>
            </a:r>
          </a:p>
          <a:p>
            <a:pPr marL="1083945" lvl="1" indent="-571500" defTabSz="1300162">
              <a:spcBef>
                <a:spcPts val="700"/>
              </a:spcBef>
              <a:defRPr sz="4400">
                <a:latin typeface="Arial"/>
                <a:ea typeface="Arial"/>
                <a:cs typeface="Arial"/>
                <a:sym typeface="Arial"/>
              </a:defRPr>
            </a:pPr>
            <a:r>
              <a:rPr lang="en-US" sz="4400" b="1" i="1" dirty="0">
                <a:latin typeface="Calibri"/>
                <a:ea typeface="Calibri"/>
                <a:cs typeface="Calibri"/>
              </a:rPr>
              <a:t>IA-2, ZnT8</a:t>
            </a:r>
            <a:endParaRPr lang="en-US" sz="4400" dirty="0">
              <a:latin typeface="Calibri" panose="020F0502020204030204" pitchFamily="34" charset="0"/>
              <a:ea typeface="Calibri" charset="0"/>
              <a:cs typeface="Calibri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821B6C-2163-47A7-ACE7-7AB063C331F6}"/>
              </a:ext>
            </a:extLst>
          </p:cNvPr>
          <p:cNvSpPr txBox="1">
            <a:spLocks/>
          </p:cNvSpPr>
          <p:nvPr/>
        </p:nvSpPr>
        <p:spPr>
          <a:xfrm>
            <a:off x="0" y="30531"/>
            <a:ext cx="13004800" cy="132330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Diagnostic testing- T1DM</a:t>
            </a:r>
          </a:p>
        </p:txBody>
      </p:sp>
    </p:spTree>
    <p:extLst>
      <p:ext uri="{BB962C8B-B14F-4D97-AF65-F5344CB8AC3E}">
        <p14:creationId xmlns:p14="http://schemas.microsoft.com/office/powerpoint/2010/main" val="758196239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/>
          </p:cNvSpPr>
          <p:nvPr>
            <p:ph type="body" idx="4294967295"/>
          </p:nvPr>
        </p:nvSpPr>
        <p:spPr>
          <a:xfrm>
            <a:off x="325438" y="1625600"/>
            <a:ext cx="12679362" cy="7910513"/>
          </a:xfrm>
          <a:prstGeom prst="rect">
            <a:avLst/>
          </a:prstGeom>
        </p:spPr>
        <p:txBody>
          <a:bodyPr lIns="72248" tIns="72248" rIns="72248" bIns="72248">
            <a:noAutofit/>
          </a:bodyPr>
          <a:lstStyle/>
          <a:p>
            <a:pPr marL="0" indent="0" defTabSz="1300162">
              <a:spcBef>
                <a:spcPts val="700"/>
              </a:spcBef>
              <a:buNone/>
            </a:pPr>
            <a:r>
              <a:rPr sz="4200" dirty="0">
                <a:latin typeface="Calibri" charset="0"/>
                <a:ea typeface="Calibri" charset="0"/>
                <a:cs typeface="Calibri" charset="0"/>
              </a:rPr>
              <a:t>Treatment will involve a multispecialty team and pharmacologic/ non-pharm treatment.</a:t>
            </a:r>
          </a:p>
          <a:p>
            <a:pPr marL="201612" indent="-201612" defTabSz="1300162">
              <a:spcBef>
                <a:spcPts val="700"/>
              </a:spcBef>
              <a:buChar char="•"/>
            </a:pPr>
            <a:endParaRPr sz="3000" dirty="0">
              <a:latin typeface="Calibri" charset="0"/>
              <a:ea typeface="Calibri" charset="0"/>
              <a:cs typeface="Calibri" charset="0"/>
            </a:endParaRPr>
          </a:p>
          <a:p>
            <a:pPr marL="201612" indent="-201612" defTabSz="1300162">
              <a:spcBef>
                <a:spcPts val="700"/>
              </a:spcBef>
              <a:buChar char="•"/>
            </a:pPr>
            <a:r>
              <a:rPr sz="4200" dirty="0">
                <a:latin typeface="Calibri" charset="0"/>
                <a:ea typeface="Calibri" charset="0"/>
                <a:cs typeface="Calibri" charset="0"/>
              </a:rPr>
              <a:t>Registered dietician</a:t>
            </a:r>
            <a:r>
              <a:rPr lang="en-US" sz="42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sz="4200" dirty="0">
                <a:latin typeface="Calibri" charset="0"/>
                <a:ea typeface="Calibri" charset="0"/>
                <a:cs typeface="Calibri" charset="0"/>
              </a:rPr>
              <a:t>will give recommendations on total number of calories and division of calories between meals/snacks as well as division of calories by </a:t>
            </a:r>
            <a:r>
              <a:rPr lang="en-US" sz="4200" dirty="0">
                <a:latin typeface="Calibri" charset="0"/>
                <a:ea typeface="Calibri" charset="0"/>
                <a:cs typeface="Calibri" charset="0"/>
              </a:rPr>
              <a:t>macro</a:t>
            </a:r>
            <a:r>
              <a:rPr sz="4200" dirty="0">
                <a:latin typeface="Calibri" charset="0"/>
                <a:ea typeface="Calibri" charset="0"/>
                <a:cs typeface="Calibri" charset="0"/>
              </a:rPr>
              <a:t> type (fat, proteins, carbs).</a:t>
            </a:r>
          </a:p>
          <a:p>
            <a:pPr marL="201612" indent="-201612" defTabSz="1300162">
              <a:spcBef>
                <a:spcPts val="700"/>
              </a:spcBef>
              <a:buChar char="•"/>
            </a:pPr>
            <a:endParaRPr sz="3000" dirty="0">
              <a:latin typeface="Calibri" charset="0"/>
              <a:ea typeface="Calibri" charset="0"/>
              <a:cs typeface="Calibri" charset="0"/>
            </a:endParaRPr>
          </a:p>
          <a:p>
            <a:pPr marL="201612" indent="-201612" defTabSz="1300162">
              <a:spcBef>
                <a:spcPts val="700"/>
              </a:spcBef>
              <a:buChar char="•"/>
            </a:pPr>
            <a:r>
              <a:rPr lang="en-US" sz="4200" dirty="0">
                <a:latin typeface="Calibri" charset="0"/>
                <a:ea typeface="Calibri" charset="0"/>
                <a:cs typeface="Calibri" charset="0"/>
              </a:rPr>
              <a:t>P</a:t>
            </a:r>
            <a:r>
              <a:rPr sz="4200" dirty="0">
                <a:latin typeface="Calibri" charset="0"/>
                <a:ea typeface="Calibri" charset="0"/>
                <a:cs typeface="Calibri" charset="0"/>
              </a:rPr>
              <a:t>ts should be encouraged to exercise but may develop hypoglycemia if exercising &gt; 30 min without an adjustment in insulin or a pre-exercise snack.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22A7DC-E827-45A9-997F-FAC0C14D2915}"/>
              </a:ext>
            </a:extLst>
          </p:cNvPr>
          <p:cNvSpPr txBox="1">
            <a:spLocks/>
          </p:cNvSpPr>
          <p:nvPr/>
        </p:nvSpPr>
        <p:spPr>
          <a:xfrm>
            <a:off x="0" y="30531"/>
            <a:ext cx="13004800" cy="132330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Treatment of Type 1 DM</a:t>
            </a:r>
          </a:p>
        </p:txBody>
      </p:sp>
    </p:spTree>
    <p:extLst>
      <p:ext uri="{BB962C8B-B14F-4D97-AF65-F5344CB8AC3E}">
        <p14:creationId xmlns:p14="http://schemas.microsoft.com/office/powerpoint/2010/main" val="1272422310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body" idx="4294967295"/>
          </p:nvPr>
        </p:nvSpPr>
        <p:spPr>
          <a:xfrm>
            <a:off x="261256" y="2407298"/>
            <a:ext cx="12743543" cy="7315771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0" indent="0">
              <a:buClrTx/>
              <a:buNone/>
            </a:pPr>
            <a:r>
              <a:rPr lang="en-US" sz="4400" dirty="0">
                <a:latin typeface="Calibri" charset="0"/>
                <a:ea typeface="Calibri" charset="0"/>
                <a:cs typeface="Calibri" charset="0"/>
              </a:rPr>
              <a:t>T1DM </a:t>
            </a:r>
            <a:r>
              <a:rPr sz="4400" dirty="0">
                <a:latin typeface="Calibri" charset="0"/>
                <a:ea typeface="Calibri" charset="0"/>
                <a:cs typeface="Calibri" charset="0"/>
              </a:rPr>
              <a:t>will require lifelong treatment with insulin. </a:t>
            </a:r>
            <a:endParaRPr lang="en-US" sz="4400" dirty="0">
              <a:latin typeface="Calibri" charset="0"/>
              <a:ea typeface="Calibri" charset="0"/>
              <a:cs typeface="Calibri" charset="0"/>
            </a:endParaRPr>
          </a:p>
          <a:p>
            <a:pPr marL="571500" indent="-571500">
              <a:buClrTx/>
              <a:buFontTx/>
              <a:buChar char="•"/>
            </a:pPr>
            <a:endParaRPr sz="1500" dirty="0">
              <a:latin typeface="Calibri" charset="0"/>
              <a:ea typeface="Calibri" charset="0"/>
              <a:cs typeface="Calibri" charset="0"/>
            </a:endParaRPr>
          </a:p>
          <a:p>
            <a:pPr marL="571500" indent="-571500">
              <a:buClrTx/>
              <a:buFontTx/>
              <a:buChar char="•"/>
            </a:pPr>
            <a:r>
              <a:rPr sz="4400" dirty="0">
                <a:latin typeface="Calibri"/>
                <a:ea typeface="Calibri"/>
                <a:cs typeface="Calibri"/>
              </a:rPr>
              <a:t>The goal of glucose control is to provide insulin therapy in a manner that is as physiologic as possible for </a:t>
            </a:r>
            <a:r>
              <a:rPr sz="4400" b="1" i="1" dirty="0">
                <a:latin typeface="Calibri"/>
                <a:ea typeface="Calibri"/>
                <a:cs typeface="Calibri"/>
              </a:rPr>
              <a:t>a goal HgbA1c of </a:t>
            </a:r>
            <a:r>
              <a:rPr lang="en-US" sz="4400" b="1" i="1" dirty="0">
                <a:latin typeface="Calibri"/>
                <a:ea typeface="Calibri"/>
                <a:cs typeface="Calibri"/>
              </a:rPr>
              <a:t>7</a:t>
            </a:r>
            <a:r>
              <a:rPr sz="4400" b="1" i="1" dirty="0">
                <a:latin typeface="Calibri"/>
                <a:ea typeface="Calibri"/>
                <a:cs typeface="Calibri"/>
              </a:rPr>
              <a:t>%</a:t>
            </a:r>
            <a:r>
              <a:rPr lang="en-US" sz="4400" b="1" i="1" dirty="0">
                <a:latin typeface="Calibri"/>
                <a:ea typeface="Calibri"/>
                <a:cs typeface="Calibri"/>
              </a:rPr>
              <a:t> as a pediatric patient</a:t>
            </a:r>
            <a:r>
              <a:rPr sz="4400" dirty="0">
                <a:latin typeface="Calibri"/>
                <a:ea typeface="Calibri"/>
                <a:cs typeface="Calibri"/>
              </a:rPr>
              <a:t>.</a:t>
            </a:r>
            <a:endParaRPr lang="en-US" sz="4400" dirty="0">
              <a:latin typeface="Calibri"/>
              <a:ea typeface="Calibri"/>
              <a:cs typeface="Calibri"/>
            </a:endParaRPr>
          </a:p>
          <a:p>
            <a:pPr marL="571500" indent="-571500">
              <a:buClrTx/>
              <a:buFontTx/>
              <a:buChar char="•"/>
            </a:pPr>
            <a:endParaRPr lang="en-US" sz="1500" dirty="0">
              <a:latin typeface="Calibri" charset="0"/>
              <a:ea typeface="Calibri" charset="0"/>
              <a:cs typeface="Calibri" charset="0"/>
            </a:endParaRPr>
          </a:p>
          <a:p>
            <a:pPr marL="1059195" lvl="1" indent="-571500">
              <a:buFontTx/>
              <a:buChar char="•"/>
            </a:pPr>
            <a:r>
              <a:rPr lang="en-US" sz="4000" dirty="0">
                <a:latin typeface="Calibri" charset="0"/>
                <a:ea typeface="Calibri" charset="0"/>
                <a:cs typeface="Calibri" charset="0"/>
              </a:rPr>
              <a:t>Guidelines from American Diabetic Association (ADA)</a:t>
            </a:r>
          </a:p>
          <a:p>
            <a:pPr marL="1059195" lvl="1" indent="-571500">
              <a:buFontTx/>
              <a:buChar char="•"/>
            </a:pPr>
            <a:r>
              <a:rPr lang="en-US" sz="4000" dirty="0">
                <a:latin typeface="Calibri" charset="0"/>
                <a:ea typeface="Calibri" charset="0"/>
                <a:cs typeface="Calibri" charset="0"/>
              </a:rPr>
              <a:t>More or less stringent goals need to be tailored to the individual patient</a:t>
            </a:r>
            <a:endParaRPr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A6862D-A6F4-4FA1-89B0-45FA0F3DD359}"/>
              </a:ext>
            </a:extLst>
          </p:cNvPr>
          <p:cNvSpPr txBox="1">
            <a:spLocks/>
          </p:cNvSpPr>
          <p:nvPr/>
        </p:nvSpPr>
        <p:spPr>
          <a:xfrm>
            <a:off x="0" y="30531"/>
            <a:ext cx="13004800" cy="132330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Treatment of Type 1 DM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body" idx="4294967295"/>
          </p:nvPr>
        </p:nvSpPr>
        <p:spPr>
          <a:xfrm>
            <a:off x="347472" y="1751391"/>
            <a:ext cx="12234672" cy="7988436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243840" indent="-243840">
              <a:buNone/>
            </a:pPr>
            <a:r>
              <a:rPr lang="en-US" sz="3200" dirty="0">
                <a:latin typeface="Arial"/>
                <a:cs typeface="Arial"/>
              </a:rPr>
              <a:t>Pediatric Considerations in T1DM</a:t>
            </a:r>
          </a:p>
          <a:p>
            <a:pPr marL="243840" indent="-243840">
              <a:buFont typeface="Arial"/>
              <a:buChar char="•"/>
            </a:pPr>
            <a:r>
              <a:rPr lang="en-US" sz="3200" b="1" dirty="0">
                <a:latin typeface="Arial"/>
                <a:ea typeface="+mn-lt"/>
                <a:cs typeface="Arial"/>
              </a:rPr>
              <a:t>Insulin is required</a:t>
            </a:r>
            <a:r>
              <a:rPr lang="en-US" sz="3200" dirty="0">
                <a:latin typeface="Arial"/>
                <a:ea typeface="+mn-lt"/>
                <a:cs typeface="Arial"/>
              </a:rPr>
              <a:t> for treatment of T1DM</a:t>
            </a:r>
            <a:endParaRPr lang="en-US" sz="3200" dirty="0">
              <a:latin typeface="Arial"/>
              <a:cs typeface="Arial"/>
            </a:endParaRPr>
          </a:p>
          <a:p>
            <a:pPr marL="243840" indent="-243840">
              <a:buFont typeface="Arial"/>
              <a:buChar char="•"/>
            </a:pPr>
            <a:r>
              <a:rPr lang="en-US" sz="3200" b="1" dirty="0">
                <a:latin typeface="Arial"/>
                <a:ea typeface="+mn-lt"/>
                <a:cs typeface="Arial"/>
              </a:rPr>
              <a:t>CGM is recommended</a:t>
            </a:r>
            <a:r>
              <a:rPr lang="en-US" sz="3200" dirty="0">
                <a:latin typeface="Arial"/>
                <a:ea typeface="+mn-lt"/>
                <a:cs typeface="Arial"/>
              </a:rPr>
              <a:t> for most children and adolescents with T1DM</a:t>
            </a:r>
            <a:endParaRPr lang="en-US" sz="3200" dirty="0">
              <a:latin typeface="Arial"/>
              <a:cs typeface="Arial"/>
            </a:endParaRPr>
          </a:p>
          <a:p>
            <a:pPr marL="243840" indent="-243840">
              <a:buFont typeface="Arial"/>
              <a:buChar char="•"/>
            </a:pPr>
            <a:r>
              <a:rPr lang="en-US" sz="3200" dirty="0">
                <a:latin typeface="Arial"/>
                <a:ea typeface="+mn-lt"/>
                <a:cs typeface="Arial"/>
              </a:rPr>
              <a:t>Insulin pumps / </a:t>
            </a:r>
            <a:r>
              <a:rPr lang="en-US" sz="3200" b="1" dirty="0">
                <a:latin typeface="Arial"/>
                <a:ea typeface="+mn-lt"/>
                <a:cs typeface="Arial"/>
              </a:rPr>
              <a:t>automated insulin delivery (AID)</a:t>
            </a:r>
            <a:r>
              <a:rPr lang="en-US" sz="3200" dirty="0">
                <a:latin typeface="Arial"/>
                <a:ea typeface="+mn-lt"/>
                <a:cs typeface="Arial"/>
              </a:rPr>
              <a:t> systems may improve glycemic management</a:t>
            </a:r>
            <a:endParaRPr lang="en-US" sz="3200" dirty="0">
              <a:latin typeface="Arial"/>
              <a:cs typeface="Arial"/>
            </a:endParaRPr>
          </a:p>
          <a:p>
            <a:pPr marL="243840" indent="-243840">
              <a:buFont typeface="Arial"/>
              <a:buChar char="•"/>
            </a:pPr>
            <a:r>
              <a:rPr lang="en-US" sz="3200" b="1" dirty="0">
                <a:latin typeface="Arial"/>
                <a:ea typeface="+mn-lt"/>
                <a:cs typeface="Arial"/>
              </a:rPr>
              <a:t>Hypoglycemia prevention and recognition</a:t>
            </a:r>
            <a:r>
              <a:rPr lang="en-US" sz="3200" dirty="0">
                <a:latin typeface="Arial"/>
                <a:ea typeface="+mn-lt"/>
                <a:cs typeface="Arial"/>
              </a:rPr>
              <a:t> are especially important in young children</a:t>
            </a:r>
            <a:endParaRPr lang="en-US" sz="3200" dirty="0">
              <a:latin typeface="Arial"/>
              <a:cs typeface="Arial"/>
            </a:endParaRPr>
          </a:p>
          <a:p>
            <a:pPr marL="243840" indent="-243840">
              <a:buFont typeface="Arial"/>
              <a:buChar char="•"/>
            </a:pPr>
            <a:r>
              <a:rPr lang="en-US" sz="3200" dirty="0">
                <a:latin typeface="Arial"/>
                <a:ea typeface="+mn-lt"/>
                <a:cs typeface="Arial"/>
              </a:rPr>
              <a:t>Insulin and carbohydrate needs vary with </a:t>
            </a:r>
            <a:r>
              <a:rPr lang="en-US" sz="3200" b="1" dirty="0">
                <a:latin typeface="Arial"/>
                <a:ea typeface="+mn-lt"/>
                <a:cs typeface="Arial"/>
              </a:rPr>
              <a:t>growth, activity, illness, and puberty</a:t>
            </a:r>
            <a:endParaRPr lang="en-US" sz="3200" dirty="0">
              <a:latin typeface="Arial"/>
              <a:cs typeface="Arial"/>
            </a:endParaRPr>
          </a:p>
          <a:p>
            <a:pPr marL="243840" indent="-243840">
              <a:buFont typeface="Arial"/>
              <a:buChar char="•"/>
            </a:pPr>
            <a:r>
              <a:rPr lang="en-US" sz="3200" dirty="0">
                <a:latin typeface="Arial"/>
                <a:ea typeface="+mn-lt"/>
                <a:cs typeface="Arial"/>
              </a:rPr>
              <a:t>Diabetes management should gradually transition toward the child while maintaining </a:t>
            </a:r>
            <a:r>
              <a:rPr lang="en-US" sz="3200" b="1" dirty="0">
                <a:latin typeface="Arial"/>
                <a:ea typeface="+mn-lt"/>
                <a:cs typeface="Arial"/>
              </a:rPr>
              <a:t>age-appropriate caregiver supervision</a:t>
            </a:r>
            <a:endParaRPr lang="en-US" sz="3200" dirty="0">
              <a:latin typeface="Arial"/>
              <a:cs typeface="Arial"/>
            </a:endParaRPr>
          </a:p>
          <a:p>
            <a:pPr marL="243840" indent="-243840">
              <a:buFont typeface="Arial"/>
              <a:buChar char="•"/>
            </a:pPr>
            <a:r>
              <a:rPr lang="en-US" sz="3200" dirty="0">
                <a:latin typeface="Arial"/>
                <a:ea typeface="+mn-lt"/>
                <a:cs typeface="Arial"/>
              </a:rPr>
              <a:t>Consider psychosocial impact, including </a:t>
            </a:r>
            <a:r>
              <a:rPr lang="en-US" sz="3200" b="1" dirty="0">
                <a:latin typeface="Arial"/>
                <a:ea typeface="+mn-lt"/>
                <a:cs typeface="Arial"/>
              </a:rPr>
              <a:t>diabetes distress, depression, and eating disorders</a:t>
            </a:r>
            <a:r>
              <a:rPr lang="en-US" sz="3200" dirty="0">
                <a:latin typeface="Arial"/>
                <a:ea typeface="+mn-lt"/>
                <a:cs typeface="Arial"/>
              </a:rPr>
              <a:t> in adolescents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A6862D-A6F4-4FA1-89B0-45FA0F3DD359}"/>
              </a:ext>
            </a:extLst>
          </p:cNvPr>
          <p:cNvSpPr txBox="1">
            <a:spLocks/>
          </p:cNvSpPr>
          <p:nvPr/>
        </p:nvSpPr>
        <p:spPr>
          <a:xfrm>
            <a:off x="0" y="411010"/>
            <a:ext cx="13004800" cy="132330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Treatment of Type 1 DM – Across the lifespan</a:t>
            </a:r>
          </a:p>
        </p:txBody>
      </p:sp>
    </p:spTree>
    <p:extLst>
      <p:ext uri="{BB962C8B-B14F-4D97-AF65-F5344CB8AC3E}">
        <p14:creationId xmlns:p14="http://schemas.microsoft.com/office/powerpoint/2010/main" val="2357136215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body" idx="4294967295"/>
          </p:nvPr>
        </p:nvSpPr>
        <p:spPr>
          <a:xfrm>
            <a:off x="676656" y="1155947"/>
            <a:ext cx="11722608" cy="8650407"/>
          </a:xfrm>
          <a:prstGeom prst="rect">
            <a:avLst/>
          </a:prstGeom>
        </p:spPr>
        <p:txBody>
          <a:bodyPr vert="horz" lIns="72248" tIns="72248" rIns="72248" bIns="72248" rtlCol="0" anchor="t">
            <a:noAutofit/>
          </a:bodyPr>
          <a:lstStyle/>
          <a:p>
            <a:pPr marL="0" indent="0">
              <a:buNone/>
            </a:pPr>
            <a:r>
              <a:rPr lang="en-US" sz="4000" b="1" dirty="0">
                <a:latin typeface="Calibri" charset="0"/>
                <a:ea typeface="Calibri" charset="0"/>
                <a:cs typeface="Calibri" charset="0"/>
              </a:rPr>
              <a:t>Adults</a:t>
            </a:r>
          </a:p>
          <a:p>
            <a:pPr marL="0" indent="0">
              <a:buNone/>
            </a:pPr>
            <a:r>
              <a:rPr lang="en-US" sz="4000" dirty="0"/>
              <a:t>In adults, a </a:t>
            </a:r>
            <a:r>
              <a:rPr lang="en-US" sz="4000" b="1" dirty="0"/>
              <a:t>target A1C of &lt;7 % </a:t>
            </a:r>
            <a:r>
              <a:rPr lang="en-US" sz="4000" dirty="0"/>
              <a:t>best balances the risks of long-term sequelae and hypoglycemia</a:t>
            </a:r>
            <a:endParaRPr lang="en-US" sz="4000" dirty="0">
              <a:ea typeface="Calibri"/>
              <a:cs typeface="Calibri"/>
            </a:endParaRPr>
          </a:p>
          <a:p>
            <a:pPr marL="1059195" lvl="1" indent="-571500">
              <a:buFontTx/>
              <a:buChar char="•"/>
            </a:pPr>
            <a:r>
              <a:rPr lang="en-US" sz="4427" b="1" dirty="0">
                <a:latin typeface="Calibri" charset="0"/>
                <a:ea typeface="Calibri" charset="0"/>
                <a:cs typeface="Calibri" charset="0"/>
              </a:rPr>
              <a:t>Avoiding long term complications of hyperglycemia- </a:t>
            </a:r>
            <a:endParaRPr lang="en-US" sz="4427" dirty="0">
              <a:latin typeface="Calibri" charset="0"/>
              <a:ea typeface="Calibri" charset="0"/>
              <a:cs typeface="Calibri" charset="0"/>
            </a:endParaRPr>
          </a:p>
          <a:p>
            <a:pPr marL="1546890" lvl="2" indent="-571500">
              <a:buFontTx/>
              <a:buChar char="•"/>
            </a:pPr>
            <a:r>
              <a:rPr lang="en-US" sz="4213" dirty="0">
                <a:latin typeface="Calibri" charset="0"/>
                <a:ea typeface="Calibri" charset="0"/>
                <a:cs typeface="Calibri" charset="0"/>
              </a:rPr>
              <a:t>Delayed onset of microvascular disease</a:t>
            </a:r>
          </a:p>
          <a:p>
            <a:pPr marL="1546890" lvl="2" indent="-571500">
              <a:buFontTx/>
              <a:buChar char="•"/>
            </a:pPr>
            <a:r>
              <a:rPr lang="en-US" sz="4213" dirty="0">
                <a:latin typeface="Calibri" charset="0"/>
                <a:ea typeface="Calibri" charset="0"/>
                <a:cs typeface="Calibri" charset="0"/>
              </a:rPr>
              <a:t>Slowed progression of already-present microvascular disease</a:t>
            </a:r>
          </a:p>
          <a:p>
            <a:pPr marL="1546890" lvl="2" indent="-571500">
              <a:buFontTx/>
              <a:buChar char="•"/>
            </a:pPr>
            <a:r>
              <a:rPr lang="en-US" sz="4213" dirty="0">
                <a:latin typeface="Calibri" charset="0"/>
                <a:ea typeface="Calibri" charset="0"/>
                <a:cs typeface="Calibri" charset="0"/>
              </a:rPr>
              <a:t>Decreased the incidence of cardiovascular disease</a:t>
            </a:r>
          </a:p>
          <a:p>
            <a:pPr marL="1059195" lvl="1" indent="-571500">
              <a:buFontTx/>
              <a:buChar char="•"/>
            </a:pPr>
            <a:r>
              <a:rPr lang="en-US" sz="4427" b="1" dirty="0">
                <a:latin typeface="Calibri" charset="0"/>
                <a:ea typeface="Calibri" charset="0"/>
                <a:cs typeface="Calibri" charset="0"/>
              </a:rPr>
              <a:t>Hypoglycemia</a:t>
            </a:r>
          </a:p>
          <a:p>
            <a:pPr marL="1546890" lvl="2" indent="-571500">
              <a:buFontTx/>
              <a:buChar char="•"/>
            </a:pPr>
            <a:r>
              <a:rPr lang="en-US" sz="4213" dirty="0">
                <a:latin typeface="Calibri" charset="0"/>
                <a:ea typeface="Calibri" charset="0"/>
                <a:cs typeface="Calibri" charset="0"/>
              </a:rPr>
              <a:t>Avoiding complications from hypoglycemic events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86323CC-8982-C149-7004-D50F3689A737}"/>
              </a:ext>
            </a:extLst>
          </p:cNvPr>
          <p:cNvSpPr txBox="1">
            <a:spLocks/>
          </p:cNvSpPr>
          <p:nvPr/>
        </p:nvSpPr>
        <p:spPr>
          <a:xfrm>
            <a:off x="0" y="411010"/>
            <a:ext cx="13004800" cy="132330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Treatment of Type 1 DM – Across the lifespan</a:t>
            </a:r>
          </a:p>
        </p:txBody>
      </p:sp>
    </p:spTree>
    <p:extLst>
      <p:ext uri="{BB962C8B-B14F-4D97-AF65-F5344CB8AC3E}">
        <p14:creationId xmlns:p14="http://schemas.microsoft.com/office/powerpoint/2010/main" val="2778596017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body" idx="4294967295"/>
          </p:nvPr>
        </p:nvSpPr>
        <p:spPr>
          <a:xfrm>
            <a:off x="0" y="1600200"/>
            <a:ext cx="5928335" cy="7827963"/>
          </a:xfrm>
          <a:prstGeom prst="rect">
            <a:avLst/>
          </a:prstGeom>
        </p:spPr>
        <p:txBody>
          <a:bodyPr lIns="72248" tIns="72248" rIns="72248" bIns="72248">
            <a:noAutofit/>
          </a:bodyPr>
          <a:lstStyle/>
          <a:p>
            <a:pPr marL="0" indent="0">
              <a:buClrTx/>
              <a:buNone/>
            </a:pPr>
            <a:r>
              <a:rPr lang="en-US" sz="4400" dirty="0">
                <a:latin typeface="Calibri" charset="0"/>
                <a:ea typeface="Calibri" charset="0"/>
                <a:cs typeface="Calibri" charset="0"/>
              </a:rPr>
              <a:t>I</a:t>
            </a:r>
            <a:r>
              <a:rPr sz="4400" dirty="0">
                <a:latin typeface="Calibri" charset="0"/>
                <a:ea typeface="Calibri" charset="0"/>
                <a:cs typeface="Calibri" charset="0"/>
              </a:rPr>
              <a:t>nsulin regimens:</a:t>
            </a:r>
          </a:p>
          <a:p>
            <a:pPr marL="914400" lvl="2" indent="-571500">
              <a:spcBef>
                <a:spcPts val="0"/>
              </a:spcBef>
              <a:buClrTx/>
              <a:buFontTx/>
              <a:buChar char="•"/>
              <a:defRPr sz="1800"/>
            </a:pPr>
            <a:r>
              <a:rPr sz="4400" b="1" dirty="0">
                <a:latin typeface="Calibri" charset="0"/>
                <a:ea typeface="Calibri" charset="0"/>
                <a:cs typeface="Calibri" charset="0"/>
              </a:rPr>
              <a:t>Basal bolus therapy</a:t>
            </a:r>
            <a:r>
              <a:rPr lang="en-US" sz="4400" b="1" dirty="0">
                <a:latin typeface="Calibri" charset="0"/>
                <a:ea typeface="Calibri" charset="0"/>
                <a:cs typeface="Calibri" charset="0"/>
              </a:rPr>
              <a:t>-</a:t>
            </a:r>
            <a:r>
              <a:rPr sz="4400" dirty="0">
                <a:latin typeface="Calibri" charset="0"/>
                <a:ea typeface="Calibri" charset="0"/>
                <a:cs typeface="Calibri" charset="0"/>
              </a:rPr>
              <a:t> multiple daily injections of different forms of insulin</a:t>
            </a:r>
          </a:p>
          <a:p>
            <a:pPr marL="914400" lvl="2" indent="-571500">
              <a:spcBef>
                <a:spcPts val="0"/>
              </a:spcBef>
              <a:buClrTx/>
              <a:buFontTx/>
              <a:buChar char="•"/>
              <a:defRPr sz="1800"/>
            </a:pPr>
            <a:r>
              <a:rPr sz="4400" b="1" dirty="0">
                <a:latin typeface="Calibri" charset="0"/>
                <a:ea typeface="Calibri" charset="0"/>
                <a:cs typeface="Calibri" charset="0"/>
              </a:rPr>
              <a:t>Continuous subcutaneous insulin infusion (CSII) </a:t>
            </a:r>
            <a:r>
              <a:rPr sz="4400" dirty="0">
                <a:latin typeface="Calibri" charset="0"/>
                <a:ea typeface="Calibri" charset="0"/>
                <a:cs typeface="Calibri" charset="0"/>
              </a:rPr>
              <a:t>or an insulin pump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A6862D-A6F4-4FA1-89B0-45FA0F3DD359}"/>
              </a:ext>
            </a:extLst>
          </p:cNvPr>
          <p:cNvSpPr txBox="1">
            <a:spLocks/>
          </p:cNvSpPr>
          <p:nvPr/>
        </p:nvSpPr>
        <p:spPr>
          <a:xfrm>
            <a:off x="0" y="30531"/>
            <a:ext cx="13004800" cy="132330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Treatment of Type 1 DM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3830BE-D24E-4D88-B6E9-D0A6DC10E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66" y="2514600"/>
            <a:ext cx="6908434" cy="66997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5DDC3D-84B0-423C-8FCE-76A6012FCEAF}"/>
              </a:ext>
            </a:extLst>
          </p:cNvPr>
          <p:cNvSpPr txBox="1"/>
          <p:nvPr/>
        </p:nvSpPr>
        <p:spPr>
          <a:xfrm>
            <a:off x="6096366" y="1371419"/>
            <a:ext cx="6908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Working to mimic normal insulin fluctuation</a:t>
            </a:r>
          </a:p>
        </p:txBody>
      </p:sp>
    </p:spTree>
    <p:extLst>
      <p:ext uri="{BB962C8B-B14F-4D97-AF65-F5344CB8AC3E}">
        <p14:creationId xmlns:p14="http://schemas.microsoft.com/office/powerpoint/2010/main" val="275757241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3" name="Freeform: Shape 72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89650" cy="97536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5" name="Freeform: Shape 74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78812" cy="97536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3A20D7-8F72-4424-8120-6B25FF216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846" y="1596249"/>
            <a:ext cx="4291584" cy="455699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/>
            <a:r>
              <a:rPr lang="en-US" sz="6000" kern="1200">
                <a:latin typeface="+mj-lt"/>
                <a:ea typeface="+mj-ea"/>
                <a:cs typeface="+mj-cs"/>
              </a:rPr>
              <a:t>Type 2 Diabetes Mellitus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73" y="618385"/>
            <a:ext cx="208077" cy="7510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097" y="6466730"/>
            <a:ext cx="4291584" cy="26010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Diabetes Stock Illustrations – 18,955 Diabetes Stock Illustrations, Vectors  &amp;amp; Clipart - Dreamstime">
            <a:extLst>
              <a:ext uri="{FF2B5EF4-FFF2-40B4-BE49-F238E27FC236}">
                <a16:creationId xmlns:a16="http://schemas.microsoft.com/office/drawing/2014/main" id="{92CA717D-D5B6-4F4B-B24C-1527141FE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75313" y="950197"/>
            <a:ext cx="6836091" cy="763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5230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F788D8-CEBD-4119-8B4A-35985CA8BFD2}"/>
              </a:ext>
            </a:extLst>
          </p:cNvPr>
          <p:cNvSpPr txBox="1">
            <a:spLocks/>
          </p:cNvSpPr>
          <p:nvPr/>
        </p:nvSpPr>
        <p:spPr>
          <a:xfrm>
            <a:off x="0" y="30531"/>
            <a:ext cx="13004800" cy="132330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/>
              <a:t>Type 2 DM Risk Factors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5A17F0-988A-2B12-87DC-5988D965D117}"/>
              </a:ext>
            </a:extLst>
          </p:cNvPr>
          <p:cNvSpPr txBox="1"/>
          <p:nvPr/>
        </p:nvSpPr>
        <p:spPr>
          <a:xfrm>
            <a:off x="920041" y="1739715"/>
            <a:ext cx="11264815" cy="7172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Overweight/obesity,</a:t>
            </a:r>
            <a:r>
              <a:rPr lang="en-US" sz="3200" dirty="0">
                <a:latin typeface="Arial"/>
                <a:cs typeface="Arial"/>
              </a:rPr>
              <a:t> particularly visceral adiposity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Physical inactivity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Family history/genetic susceptibility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dirty="0">
                <a:latin typeface="Arial"/>
                <a:cs typeface="Arial"/>
              </a:rPr>
              <a:t>Increasing </a:t>
            </a:r>
            <a:r>
              <a:rPr lang="en-US" sz="3200" b="1" dirty="0">
                <a:latin typeface="Arial"/>
                <a:cs typeface="Arial"/>
              </a:rPr>
              <a:t>age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dirty="0">
                <a:latin typeface="Arial"/>
                <a:cs typeface="Arial"/>
              </a:rPr>
              <a:t>Higher-risk racial/ethnic ancestry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dirty="0">
                <a:latin typeface="Arial"/>
                <a:cs typeface="Arial"/>
              </a:rPr>
              <a:t>History of </a:t>
            </a:r>
            <a:r>
              <a:rPr lang="en-US" sz="3200" b="1" dirty="0">
                <a:latin typeface="Arial"/>
                <a:cs typeface="Arial"/>
              </a:rPr>
              <a:t>prediabetes or gestational diabetes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PCOS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dirty="0">
                <a:latin typeface="Arial"/>
                <a:cs typeface="Arial"/>
              </a:rPr>
              <a:t>Cardiovascular disease, hypertension, and dyslipidemia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dirty="0">
                <a:latin typeface="Arial"/>
                <a:cs typeface="Arial"/>
              </a:rPr>
              <a:t>Other conditions associated with insulin resistance (e.g., acanthosis nigricans, MASLD)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dirty="0">
                <a:latin typeface="Arial"/>
                <a:cs typeface="Arial"/>
              </a:rPr>
              <a:t>Certain medications, including </a:t>
            </a:r>
            <a:r>
              <a:rPr lang="en-US" sz="3200" b="1" dirty="0">
                <a:latin typeface="Arial"/>
                <a:cs typeface="Arial"/>
              </a:rPr>
              <a:t>glucocorticoids and second-generation antipsychotics</a:t>
            </a:r>
          </a:p>
          <a:p>
            <a:pPr algn="l"/>
            <a:endParaRPr lang="en-US" sz="3200" b="1" dirty="0"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DBCB7-15FD-D61B-3A1C-A8FEB5A3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0F032C-52EC-FCEC-9510-47EFDFF66EAC}"/>
              </a:ext>
            </a:extLst>
          </p:cNvPr>
          <p:cNvSpPr txBox="1">
            <a:spLocks/>
          </p:cNvSpPr>
          <p:nvPr/>
        </p:nvSpPr>
        <p:spPr>
          <a:xfrm>
            <a:off x="0" y="181083"/>
            <a:ext cx="13004800" cy="132330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700" dirty="0">
                <a:ea typeface="Calibri Light"/>
                <a:cs typeface="Calibri Light"/>
              </a:rPr>
              <a:t>Screening For Prediabetes &amp; T2DM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94A853-386A-EC55-F22D-6F8E232BD868}"/>
              </a:ext>
            </a:extLst>
          </p:cNvPr>
          <p:cNvSpPr txBox="1"/>
          <p:nvPr/>
        </p:nvSpPr>
        <p:spPr>
          <a:xfrm>
            <a:off x="920041" y="1739715"/>
            <a:ext cx="11264815" cy="83617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Arial"/>
                <a:cs typeface="Arial"/>
              </a:rPr>
              <a:t>Begin screening at age 35 for all adults</a:t>
            </a:r>
            <a:endParaRPr lang="en-US" sz="3200">
              <a:latin typeface="Arial"/>
              <a:ea typeface="Calibri"/>
              <a:cs typeface="Arial"/>
            </a:endParaRPr>
          </a:p>
          <a:p>
            <a:r>
              <a:rPr lang="en-US" sz="3200" b="1" dirty="0">
                <a:latin typeface="Arial"/>
                <a:cs typeface="Arial"/>
              </a:rPr>
              <a:t>Screen earlier at any age</a:t>
            </a:r>
            <a:r>
              <a:rPr lang="en-US" sz="3200" dirty="0">
                <a:latin typeface="Arial"/>
                <a:cs typeface="Arial"/>
              </a:rPr>
              <a:t> in adults with overweight/obesity plus ≥1 risk factor:</a:t>
            </a:r>
            <a:endParaRPr lang="en-US" sz="3200">
              <a:latin typeface="Arial"/>
              <a:ea typeface="Calibri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 sz="3200" dirty="0">
                <a:latin typeface="Arial"/>
                <a:cs typeface="Arial"/>
              </a:rPr>
              <a:t>First-degree relative with diabetes</a:t>
            </a:r>
            <a:endParaRPr lang="en-US" sz="3200">
              <a:latin typeface="Arial"/>
              <a:ea typeface="Calibri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 sz="3200" dirty="0">
                <a:latin typeface="Arial"/>
                <a:cs typeface="Arial"/>
              </a:rPr>
              <a:t>Higher-risk racial/ethnic ancestry</a:t>
            </a:r>
            <a:endParaRPr lang="en-US" sz="3200">
              <a:latin typeface="Arial"/>
              <a:ea typeface="Calibri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 sz="3200" dirty="0">
                <a:latin typeface="Arial"/>
                <a:cs typeface="Arial"/>
              </a:rPr>
              <a:t>History of CVD</a:t>
            </a:r>
            <a:endParaRPr lang="en-US" sz="3200">
              <a:latin typeface="Arial"/>
              <a:ea typeface="Calibri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 sz="3200" dirty="0">
                <a:latin typeface="Arial"/>
                <a:cs typeface="Arial"/>
              </a:rPr>
              <a:t>HTN</a:t>
            </a:r>
            <a:endParaRPr lang="en-US" sz="3200">
              <a:latin typeface="Arial"/>
              <a:ea typeface="Calibri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 sz="3200" dirty="0">
                <a:latin typeface="Arial"/>
                <a:cs typeface="Arial"/>
              </a:rPr>
              <a:t>HDL &lt;35 and/or triglycerides &gt;250</a:t>
            </a:r>
            <a:endParaRPr lang="en-US" sz="3200">
              <a:latin typeface="Arial"/>
              <a:ea typeface="Calibri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 sz="3200" dirty="0">
                <a:latin typeface="Arial"/>
                <a:cs typeface="Arial"/>
              </a:rPr>
              <a:t>PCOS</a:t>
            </a:r>
            <a:endParaRPr lang="en-US" sz="3200">
              <a:latin typeface="Arial"/>
              <a:ea typeface="Calibri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 sz="3200" dirty="0">
                <a:latin typeface="Arial"/>
                <a:cs typeface="Arial"/>
              </a:rPr>
              <a:t>Physical inactivity</a:t>
            </a:r>
            <a:endParaRPr lang="en-US" sz="3200">
              <a:latin typeface="Arial"/>
              <a:ea typeface="Calibri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 sz="3200" dirty="0">
                <a:latin typeface="Arial"/>
                <a:cs typeface="Arial"/>
              </a:rPr>
              <a:t>Other evidence of insulin resistance</a:t>
            </a:r>
            <a:endParaRPr lang="en-US" sz="3200" dirty="0">
              <a:latin typeface="Arial"/>
              <a:ea typeface="Calibri"/>
              <a:cs typeface="Arial"/>
            </a:endParaRPr>
          </a:p>
          <a:p>
            <a:pPr lvl="1">
              <a:buFont typeface="Arial"/>
              <a:buChar char="•"/>
            </a:pPr>
            <a:endParaRPr lang="en-US" sz="3200" b="1" dirty="0">
              <a:latin typeface="Arial"/>
              <a:cs typeface="Arial"/>
            </a:endParaRPr>
          </a:p>
          <a:p>
            <a:pPr marL="0" lvl="1"/>
            <a:r>
              <a:rPr lang="en-US" sz="3200" b="1" dirty="0">
                <a:latin typeface="Arial"/>
                <a:cs typeface="Arial"/>
              </a:rPr>
              <a:t>If normal:</a:t>
            </a:r>
            <a:r>
              <a:rPr lang="en-US" sz="3200" dirty="0">
                <a:latin typeface="Arial"/>
                <a:cs typeface="Arial"/>
              </a:rPr>
              <a:t> repeat at least every </a:t>
            </a:r>
            <a:r>
              <a:rPr lang="en-US" sz="3200" b="1" dirty="0">
                <a:latin typeface="Arial"/>
                <a:cs typeface="Arial"/>
              </a:rPr>
              <a:t>3 years</a:t>
            </a:r>
            <a:br>
              <a:rPr lang="en-US" sz="3200" b="1" dirty="0">
                <a:latin typeface="Arial"/>
                <a:cs typeface="Arial"/>
              </a:rPr>
            </a:br>
            <a:r>
              <a:rPr lang="en-US" sz="3200" b="1" dirty="0">
                <a:latin typeface="Arial"/>
                <a:cs typeface="Arial"/>
              </a:rPr>
              <a:t>Prediabetes:</a:t>
            </a:r>
            <a:r>
              <a:rPr lang="en-US" sz="3200" dirty="0">
                <a:latin typeface="Arial"/>
                <a:cs typeface="Arial"/>
              </a:rPr>
              <a:t> test </a:t>
            </a:r>
            <a:r>
              <a:rPr lang="en-US" sz="3200" b="1" dirty="0">
                <a:latin typeface="Arial"/>
                <a:cs typeface="Arial"/>
              </a:rPr>
              <a:t>yearly</a:t>
            </a:r>
            <a:br>
              <a:rPr lang="en-US" sz="3200" b="1" dirty="0">
                <a:latin typeface="Arial"/>
                <a:cs typeface="Arial"/>
              </a:rPr>
            </a:br>
            <a:r>
              <a:rPr lang="en-US" sz="3200" b="1" dirty="0">
                <a:latin typeface="Arial"/>
                <a:cs typeface="Arial"/>
              </a:rPr>
              <a:t>History of GDM:</a:t>
            </a:r>
            <a:r>
              <a:rPr lang="en-US" sz="3200" dirty="0">
                <a:latin typeface="Arial"/>
                <a:cs typeface="Arial"/>
              </a:rPr>
              <a:t> test every </a:t>
            </a:r>
            <a:r>
              <a:rPr lang="en-US" sz="3200" b="1" dirty="0">
                <a:latin typeface="Arial"/>
                <a:cs typeface="Arial"/>
              </a:rPr>
              <a:t>1–3 years</a:t>
            </a:r>
            <a:endParaRPr lang="en-US" sz="3200">
              <a:latin typeface="Arial"/>
              <a:ea typeface="Calibri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endParaRPr lang="en-US"/>
          </a:p>
          <a:p>
            <a:pPr algn="l"/>
            <a:endParaRPr lang="en-US" sz="3200" b="1" dirty="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6839852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3004800" cy="1524000"/>
          </a:xfrm>
          <a:prstGeom prst="rect">
            <a:avLst/>
          </a:prstGeom>
        </p:spPr>
        <p:txBody>
          <a:bodyPr lIns="72248" tIns="72248" rIns="72248" bIns="72248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buNone/>
            </a:pPr>
            <a:r>
              <a:rPr dirty="0">
                <a:latin typeface="+mj-lt"/>
              </a:rPr>
              <a:t>Symptoms of Type II DM</a:t>
            </a:r>
          </a:p>
        </p:txBody>
      </p:sp>
      <p:sp>
        <p:nvSpPr>
          <p:cNvPr id="106" name="Shape 106"/>
          <p:cNvSpPr>
            <a:spLocks noGrp="1"/>
          </p:cNvSpPr>
          <p:nvPr>
            <p:ph type="body" idx="4294967295"/>
          </p:nvPr>
        </p:nvSpPr>
        <p:spPr>
          <a:xfrm>
            <a:off x="325438" y="1949450"/>
            <a:ext cx="12476162" cy="7586663"/>
          </a:xfrm>
          <a:prstGeom prst="rect">
            <a:avLst/>
          </a:prstGeom>
        </p:spPr>
        <p:txBody>
          <a:bodyPr vert="horz" lIns="72248" tIns="72248" rIns="72248" bIns="72248" rtlCol="0" anchor="t">
            <a:normAutofit fontScale="85000" lnSpcReduction="20000"/>
          </a:bodyPr>
          <a:lstStyle/>
          <a:p>
            <a:pPr marL="243840" indent="-243840" defTabSz="1300162">
              <a:buFont typeface="Arial,Sans-Serif" panose="020B0604020202020204" pitchFamily="34" charset="0"/>
              <a:defRPr sz="450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Calibri"/>
            </a:endParaRPr>
          </a:p>
          <a:p>
            <a:pPr marL="243840" indent="-243840" defTabSz="1300162">
              <a:buFont typeface="Arial,Sans-Serif" panose="020B0604020202020204" pitchFamily="34" charset="0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Frequently </a:t>
            </a:r>
            <a:r>
              <a:rPr lang="en-US" b="1" dirty="0">
                <a:ea typeface="+mn-lt"/>
                <a:cs typeface="+mn-lt"/>
              </a:rPr>
              <a:t>asymptomatic</a:t>
            </a:r>
            <a:r>
              <a:rPr lang="en-US" dirty="0">
                <a:ea typeface="+mn-lt"/>
                <a:cs typeface="+mn-lt"/>
              </a:rPr>
              <a:t> and discovered on routine laboratory testing</a:t>
            </a:r>
            <a:endParaRPr lang="en-US" dirty="0"/>
          </a:p>
          <a:p>
            <a:pPr marL="243840" indent="-243840" defTabSz="1300162">
              <a:buFont typeface="Arial,Sans-Serif" panose="020B0604020202020204" pitchFamily="34" charset="0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When symptomatic:</a:t>
            </a:r>
            <a:endParaRPr lang="en-US" dirty="0"/>
          </a:p>
          <a:p>
            <a:pPr marL="731520" lvl="1" indent="-243840" defTabSz="1300162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Polyuria</a:t>
            </a:r>
            <a:endParaRPr lang="en-US" dirty="0"/>
          </a:p>
          <a:p>
            <a:pPr marL="731520" lvl="1" indent="-243840" defTabSz="1300162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Polydipsia</a:t>
            </a:r>
            <a:endParaRPr lang="en-US" dirty="0"/>
          </a:p>
          <a:p>
            <a:pPr marL="731520" lvl="1" indent="-243840" defTabSz="1300162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Blurred vision</a:t>
            </a:r>
            <a:endParaRPr lang="en-US" dirty="0"/>
          </a:p>
          <a:p>
            <a:pPr marL="731520" lvl="1" indent="-243840" defTabSz="1300162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Fatigue</a:t>
            </a:r>
            <a:endParaRPr lang="en-US" dirty="0"/>
          </a:p>
          <a:p>
            <a:pPr marL="731520" lvl="1" indent="-243840" defTabSz="1300162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Unintentional weight loss</a:t>
            </a:r>
            <a:endParaRPr lang="en-US" dirty="0"/>
          </a:p>
          <a:p>
            <a:pPr marL="243840" indent="-243840" defTabSz="1300162">
              <a:buFont typeface="Arial,Sans-Serif" panose="020B0604020202020204" pitchFamily="34" charset="0"/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Other clues:</a:t>
            </a:r>
            <a:endParaRPr dirty="0"/>
          </a:p>
          <a:p>
            <a:pPr marL="731520" lvl="1" indent="-243840" defTabSz="1300162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Recurrent </a:t>
            </a:r>
            <a:r>
              <a:rPr lang="en-US" b="1" dirty="0">
                <a:ea typeface="+mn-lt"/>
                <a:cs typeface="+mn-lt"/>
              </a:rPr>
              <a:t>candidiasis/infections</a:t>
            </a:r>
            <a:endParaRPr dirty="0"/>
          </a:p>
          <a:p>
            <a:pPr marL="731520" lvl="1" indent="-243840" defTabSz="1300162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Poor wound healing</a:t>
            </a:r>
            <a:endParaRPr dirty="0"/>
          </a:p>
          <a:p>
            <a:pPr marL="731520" lvl="1" indent="-243840" defTabSz="1300162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>
                <a:ea typeface="+mn-lt"/>
                <a:cs typeface="+mn-lt"/>
              </a:rPr>
              <a:t>Acanthosis nigricans</a:t>
            </a:r>
            <a:endParaRPr dirty="0"/>
          </a:p>
          <a:p>
            <a:pPr marL="731520" lvl="1" indent="-243840" defTabSz="1300162">
              <a:defRPr sz="450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ea typeface="+mn-lt"/>
                <a:cs typeface="+mn-lt"/>
              </a:rPr>
              <a:t>Neuropathic symptoms may be present at diagnosis</a:t>
            </a:r>
            <a:endParaRPr lang="en-US" dirty="0"/>
          </a:p>
          <a:p>
            <a:pPr marL="292100" indent="-292100" defTabSz="1300162">
              <a:spcBef>
                <a:spcPts val="700"/>
              </a:spcBef>
              <a:buChar char="•"/>
              <a:defRPr sz="45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2" name="Picture 1" descr="C:\Users\DR044078\Desktop\acanthosis nigrans.jpg">
            <a:extLst>
              <a:ext uri="{FF2B5EF4-FFF2-40B4-BE49-F238E27FC236}">
                <a16:creationId xmlns:a16="http://schemas.microsoft.com/office/drawing/2014/main" id="{70E77939-B351-8BAC-CF29-F11C7FF00C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06" b="-248"/>
          <a:stretch>
            <a:fillRect/>
          </a:stretch>
        </p:blipFill>
        <p:spPr>
          <a:xfrm>
            <a:off x="8689891" y="3171825"/>
            <a:ext cx="4094633" cy="340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50983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3004800" cy="1524000"/>
          </a:xfrm>
          <a:prstGeom prst="rect">
            <a:avLst/>
          </a:prstGeom>
        </p:spPr>
        <p:txBody>
          <a:bodyPr lIns="72248" tIns="72248" rIns="72248" bIns="72248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buNone/>
            </a:pPr>
            <a:r>
              <a:rPr dirty="0">
                <a:latin typeface="+mj-lt"/>
              </a:rPr>
              <a:t>Symptoms of Type II DM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7429C6-5B83-456D-A38C-025FADE22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70" y="1776046"/>
            <a:ext cx="12538059" cy="720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957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05">
            <a:extLst>
              <a:ext uri="{FF2B5EF4-FFF2-40B4-BE49-F238E27FC236}">
                <a16:creationId xmlns:a16="http://schemas.microsoft.com/office/drawing/2014/main" id="{68DEB415-CBFE-4BFB-97D5-1D11881B63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24000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/>
              <a:t>Tests Used to Assess Glycemia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E8918-A83F-70DB-96E6-1606CF257EC5}"/>
              </a:ext>
            </a:extLst>
          </p:cNvPr>
          <p:cNvSpPr txBox="1"/>
          <p:nvPr/>
        </p:nvSpPr>
        <p:spPr>
          <a:xfrm>
            <a:off x="450519" y="1923723"/>
            <a:ext cx="12174798" cy="69624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43840" indent="-243840">
              <a:lnSpc>
                <a:spcPct val="90000"/>
              </a:lnSpc>
              <a:spcBef>
                <a:spcPts val="1067"/>
              </a:spcBef>
            </a:pPr>
            <a:r>
              <a:rPr lang="en-US" sz="2800" b="1" i="1" dirty="0">
                <a:latin typeface="Arial"/>
                <a:cs typeface="Arial"/>
              </a:rPr>
              <a:t>Plasma glucose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i="1" dirty="0">
                <a:latin typeface="Arial"/>
                <a:cs typeface="Arial"/>
              </a:rPr>
              <a:t>Fasting plasma glucose can be used for </a:t>
            </a:r>
            <a:r>
              <a:rPr lang="en-US" sz="2800" b="1" i="1" dirty="0">
                <a:latin typeface="Arial"/>
                <a:cs typeface="Arial"/>
              </a:rPr>
              <a:t>screening and diagnosis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Random plasma glucose can diagnose diabetes </a:t>
            </a:r>
            <a:r>
              <a:rPr lang="en-US" sz="2800" b="1" dirty="0">
                <a:latin typeface="Arial"/>
                <a:cs typeface="Arial"/>
              </a:rPr>
              <a:t>when ≥200 mg/dL with classic symptoms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or hyperglycemic crisis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endParaRPr lang="en-US" sz="2800" b="1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67"/>
              </a:spcBef>
            </a:pPr>
            <a:r>
              <a:rPr lang="en-US" sz="2800" b="1" dirty="0">
                <a:latin typeface="Arial"/>
                <a:cs typeface="Arial"/>
              </a:rPr>
              <a:t>Point-of-care glucose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"/>
              <a:buChar char="•"/>
            </a:pPr>
            <a:r>
              <a:rPr lang="en-US" sz="2800" dirty="0">
                <a:latin typeface="Arial"/>
                <a:cs typeface="Arial"/>
              </a:rPr>
              <a:t>Useful for </a:t>
            </a:r>
            <a:r>
              <a:rPr lang="en-US" sz="2800" b="1" dirty="0">
                <a:latin typeface="Arial"/>
                <a:cs typeface="Arial"/>
              </a:rPr>
              <a:t>monitoring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"/>
              <a:buChar char="•"/>
            </a:pPr>
            <a:r>
              <a:rPr lang="en-US" sz="2800" dirty="0">
                <a:latin typeface="Arial"/>
                <a:cs typeface="Arial"/>
              </a:rPr>
              <a:t>Standard glucometer testing should not be used to establish the diagnosis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"/>
              <a:buChar char="•"/>
            </a:pPr>
            <a:endParaRPr lang="en-US" sz="28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67"/>
              </a:spcBef>
            </a:pPr>
            <a:r>
              <a:rPr lang="en-US" sz="2800" b="1" dirty="0">
                <a:latin typeface="Arial"/>
                <a:cs typeface="Arial"/>
              </a:rPr>
              <a:t>A1C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i="1" dirty="0">
                <a:latin typeface="Arial"/>
                <a:cs typeface="Arial"/>
              </a:rPr>
              <a:t>Reflects average glycemia over approximately</a:t>
            </a:r>
            <a:r>
              <a:rPr lang="en-US" sz="2800" b="1" i="1" dirty="0">
                <a:latin typeface="Arial"/>
                <a:cs typeface="Arial"/>
              </a:rPr>
              <a:t> 2–3 months</a:t>
            </a:r>
            <a:endParaRPr lang="en-US" sz="28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Weighted more heavily toward recent glycemia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2800" dirty="0">
                <a:latin typeface="Arial"/>
                <a:cs typeface="Arial"/>
              </a:rPr>
              <a:t>Can be used for </a:t>
            </a:r>
            <a:r>
              <a:rPr lang="en-US" sz="2800" b="1" dirty="0">
                <a:latin typeface="Arial"/>
                <a:cs typeface="Arial"/>
              </a:rPr>
              <a:t>screening, diagnosis, and monitoring</a:t>
            </a:r>
            <a:endParaRPr lang="en-US" sz="2800" dirty="0">
              <a:latin typeface="Arial"/>
              <a:cs typeface="Arial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A29197-70E6-4056-A65D-A5A4BA71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495"/>
            <a:ext cx="12733217" cy="6366609"/>
          </a:xfrm>
          <a:prstGeom prst="rect">
            <a:avLst/>
          </a:prstGeom>
        </p:spPr>
      </p:pic>
      <p:sp>
        <p:nvSpPr>
          <p:cNvPr id="5" name="Shape 105">
            <a:extLst>
              <a:ext uri="{FF2B5EF4-FFF2-40B4-BE49-F238E27FC236}">
                <a16:creationId xmlns:a16="http://schemas.microsoft.com/office/drawing/2014/main" id="{68DEB415-CBFE-4BFB-97D5-1D11881B63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3004800" cy="1524000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/>
              <a:t>Tests Used to Assess Glycemia</a:t>
            </a:r>
          </a:p>
        </p:txBody>
      </p:sp>
    </p:spTree>
    <p:extLst>
      <p:ext uri="{BB962C8B-B14F-4D97-AF65-F5344CB8AC3E}">
        <p14:creationId xmlns:p14="http://schemas.microsoft.com/office/powerpoint/2010/main" val="2194050240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3004800" cy="1447800"/>
          </a:xfrm>
          <a:prstGeom prst="rect">
            <a:avLst/>
          </a:prstGeom>
        </p:spPr>
        <p:txBody>
          <a:bodyPr lIns="72248" tIns="72248" rIns="72248" bIns="72248" anchor="ctr">
            <a:normAutofit/>
          </a:bodyPr>
          <a:lstStyle>
            <a:lvl1pPr defTabSz="1300162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Diagnosis of Diabetes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9F8F7D-4F93-FAD8-8F66-33F95469C4DD}"/>
              </a:ext>
            </a:extLst>
          </p:cNvPr>
          <p:cNvSpPr txBox="1"/>
          <p:nvPr/>
        </p:nvSpPr>
        <p:spPr>
          <a:xfrm>
            <a:off x="416818" y="2124459"/>
            <a:ext cx="12298630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Arial"/>
                <a:ea typeface="+mn-lt"/>
                <a:cs typeface="Arial"/>
              </a:rPr>
              <a:t>Any of the following:</a:t>
            </a:r>
            <a:endParaRPr lang="en-US" sz="36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600" b="1" dirty="0">
                <a:latin typeface="Arial"/>
                <a:ea typeface="+mn-lt"/>
                <a:cs typeface="Arial"/>
              </a:rPr>
              <a:t>A1C ≥6.5% *</a:t>
            </a:r>
            <a:endParaRPr lang="en-US" sz="36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600" b="1" dirty="0">
                <a:latin typeface="Arial"/>
                <a:ea typeface="+mn-lt"/>
                <a:cs typeface="Arial"/>
              </a:rPr>
              <a:t>Fasting plasma glucose ≥126 mg/dL</a:t>
            </a:r>
            <a:endParaRPr lang="en-US" sz="36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600" b="1" dirty="0">
                <a:latin typeface="Arial"/>
                <a:ea typeface="+mn-lt"/>
                <a:cs typeface="Arial"/>
              </a:rPr>
              <a:t>2-hour plasma glucose ≥200 mg/dL</a:t>
            </a:r>
            <a:r>
              <a:rPr lang="en-US" sz="3600" dirty="0">
                <a:latin typeface="Arial"/>
                <a:ea typeface="+mn-lt"/>
                <a:cs typeface="Arial"/>
              </a:rPr>
              <a:t> during 75-g OGTT</a:t>
            </a:r>
            <a:endParaRPr lang="en-US" sz="36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3600" b="1" dirty="0">
                <a:latin typeface="Arial"/>
                <a:ea typeface="+mn-lt"/>
                <a:cs typeface="Arial"/>
              </a:rPr>
              <a:t>Random plasma glucose ≥200 mg/dL</a:t>
            </a:r>
            <a:r>
              <a:rPr lang="en-US" sz="3600" dirty="0">
                <a:latin typeface="Arial"/>
                <a:ea typeface="+mn-lt"/>
                <a:cs typeface="Arial"/>
              </a:rPr>
              <a:t> with classic symptoms of hyperglycemia or hyperglycemic crisis</a:t>
            </a:r>
            <a:endParaRPr lang="en-US" sz="36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3600" dirty="0">
              <a:latin typeface="Arial"/>
              <a:ea typeface="+mn-lt"/>
              <a:cs typeface="Arial"/>
            </a:endParaRPr>
          </a:p>
          <a:p>
            <a:r>
              <a:rPr lang="en-US" sz="3600" b="1" dirty="0">
                <a:latin typeface="Arial"/>
                <a:ea typeface="+mn-lt"/>
                <a:cs typeface="Arial"/>
              </a:rPr>
              <a:t>In the absence of unequivocal hyperglycemia, confirm the diagnosis with repeat testing.</a:t>
            </a:r>
            <a:endParaRPr lang="en-US" sz="3600">
              <a:latin typeface="Arial"/>
              <a:cs typeface="Arial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Table 123"/>
          <p:cNvGraphicFramePr/>
          <p:nvPr/>
        </p:nvGraphicFramePr>
        <p:xfrm>
          <a:off x="1168400" y="1524000"/>
          <a:ext cx="10668000" cy="77724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HgbA1c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Mean Plasma Glucose Level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6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126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7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154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8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183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9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212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10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240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11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269 mg/dL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D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sz="2600"/>
                        <a:t>12</a:t>
                      </a:r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buClrTx/>
                        <a:buSzTx/>
                        <a:buFontTx/>
                        <a:buNone/>
                        <a:tabLst>
                          <a:tab pos="1181100" algn="l"/>
                        </a:tabLst>
                        <a:defRPr sz="1800"/>
                      </a:pPr>
                      <a:r>
                        <a:rPr lang="en-US" sz="2600"/>
                        <a:t>298 mg/dL</a:t>
                      </a:r>
                      <a:endParaRPr lang="en-US" sz="2600" dirty="0"/>
                    </a:p>
                  </a:txBody>
                  <a:tcPr marL="63500" marR="63500" marT="63500" marB="635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4" name="Shape 124"/>
          <p:cNvSpPr/>
          <p:nvPr/>
        </p:nvSpPr>
        <p:spPr>
          <a:xfrm>
            <a:off x="406400" y="445477"/>
            <a:ext cx="12192000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 defTabSz="457200">
              <a:defRPr sz="1800"/>
            </a:lvl1pPr>
          </a:lstStyle>
          <a:p>
            <a:r>
              <a:rPr sz="4400" dirty="0"/>
              <a:t>What does an A1c Mean about DM Control?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4CB2-5F84-44E9-ADF3-834084B13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846" y="2724911"/>
            <a:ext cx="12653108" cy="6861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/>
              <a:t>Medical nutrition therapy</a:t>
            </a:r>
          </a:p>
          <a:p>
            <a:pPr lvl="1"/>
            <a:r>
              <a:rPr lang="en-US" sz="4800" dirty="0"/>
              <a:t>MNT involves a more detailed discussion of calories, grams, and other metrics as well as intensive implementation of dietary recommendations aimed at optimizing glycemic control and reducing the risk for complications.</a:t>
            </a:r>
          </a:p>
          <a:p>
            <a:pPr lvl="1"/>
            <a:r>
              <a:rPr lang="en-US" sz="4800" dirty="0"/>
              <a:t>Recommendations should be personalized</a:t>
            </a:r>
          </a:p>
        </p:txBody>
      </p:sp>
      <p:sp>
        <p:nvSpPr>
          <p:cNvPr id="4" name="Shape 115">
            <a:extLst>
              <a:ext uri="{FF2B5EF4-FFF2-40B4-BE49-F238E27FC236}">
                <a16:creationId xmlns:a16="http://schemas.microsoft.com/office/drawing/2014/main" id="{830438EA-4595-4699-8C88-2DB78E399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846" y="167421"/>
            <a:ext cx="12696091" cy="1292102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Diabetes Education</a:t>
            </a:r>
          </a:p>
        </p:txBody>
      </p:sp>
    </p:spTree>
    <p:extLst>
      <p:ext uri="{BB962C8B-B14F-4D97-AF65-F5344CB8AC3E}">
        <p14:creationId xmlns:p14="http://schemas.microsoft.com/office/powerpoint/2010/main" val="27359174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D741-AF7F-4C74-89B8-0D2FA6AC5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88" y="2231137"/>
            <a:ext cx="12212266" cy="7355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/>
              <a:t>Carb Counting</a:t>
            </a:r>
            <a:endParaRPr lang="en-US" sz="3600" dirty="0">
              <a:ea typeface="Calibri"/>
              <a:cs typeface="Calibri"/>
            </a:endParaRPr>
          </a:p>
          <a:p>
            <a:pPr marL="731520" lvl="1" indent="-243840"/>
            <a:r>
              <a:rPr lang="en-US" sz="3600" dirty="0"/>
              <a:t>Requires time and effort on the part of the patient and the educator. </a:t>
            </a:r>
            <a:endParaRPr lang="en-US" sz="3600" dirty="0">
              <a:ea typeface="Calibri"/>
              <a:cs typeface="Calibri"/>
            </a:endParaRPr>
          </a:p>
          <a:p>
            <a:pPr marL="731520" lvl="1" indent="-243840"/>
            <a:endParaRPr lang="en-US" sz="3600" dirty="0">
              <a:ea typeface="Calibri"/>
              <a:cs typeface="Calibri"/>
            </a:endParaRPr>
          </a:p>
          <a:p>
            <a:pPr marL="731520" lvl="1" indent="-243840"/>
            <a:r>
              <a:rPr lang="en-US" sz="3600" dirty="0"/>
              <a:t>Usually done with a specialized diabetes educator or nutritionist, but many patients come with internet/app based resources.</a:t>
            </a:r>
            <a:endParaRPr lang="en-US" sz="3600" dirty="0">
              <a:ea typeface="Calibri"/>
              <a:cs typeface="Calibri"/>
            </a:endParaRPr>
          </a:p>
          <a:p>
            <a:pPr marL="731520" lvl="1" indent="-243840"/>
            <a:endParaRPr lang="en-US" sz="3600" dirty="0">
              <a:ea typeface="Calibri"/>
              <a:cs typeface="Calibri"/>
            </a:endParaRPr>
          </a:p>
          <a:p>
            <a:pPr marL="731520" lvl="1" indent="-243840"/>
            <a:r>
              <a:rPr lang="en-US" sz="3600" dirty="0">
                <a:latin typeface="Arial"/>
                <a:cs typeface="Arial"/>
              </a:rPr>
              <a:t>Carbohydrate intake should be individualized; there is no single ideal amount of carbohydrate for all patients with diabetes.</a:t>
            </a:r>
            <a:br>
              <a:rPr lang="en-US" sz="3600" dirty="0">
                <a:latin typeface="Arial"/>
                <a:cs typeface="Arial"/>
              </a:rPr>
            </a:br>
            <a:endParaRPr lang="en-US" sz="3600" dirty="0">
              <a:latin typeface="Arial"/>
              <a:cs typeface="Arial"/>
            </a:endParaRPr>
          </a:p>
          <a:p>
            <a:pPr lvl="1"/>
            <a:endParaRPr lang="en-US" sz="1500" dirty="0"/>
          </a:p>
          <a:p>
            <a:pPr marL="487695" lvl="1" indent="0">
              <a:buNone/>
            </a:pPr>
            <a:endParaRPr lang="en-US" sz="4000" dirty="0"/>
          </a:p>
        </p:txBody>
      </p:sp>
      <p:sp>
        <p:nvSpPr>
          <p:cNvPr id="4" name="Shape 115">
            <a:extLst>
              <a:ext uri="{FF2B5EF4-FFF2-40B4-BE49-F238E27FC236}">
                <a16:creationId xmlns:a16="http://schemas.microsoft.com/office/drawing/2014/main" id="{5B86038E-7C8D-4158-92AA-FFE52D56E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846" y="167421"/>
            <a:ext cx="12696091" cy="1292102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Diabetes Education</a:t>
            </a:r>
          </a:p>
        </p:txBody>
      </p:sp>
    </p:spTree>
    <p:extLst>
      <p:ext uri="{BB962C8B-B14F-4D97-AF65-F5344CB8AC3E}">
        <p14:creationId xmlns:p14="http://schemas.microsoft.com/office/powerpoint/2010/main" val="18085749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4CB2-5F84-44E9-ADF3-834084B13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846" y="2377439"/>
            <a:ext cx="12653108" cy="72087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400" b="1" dirty="0"/>
              <a:t>Weight reduction</a:t>
            </a:r>
          </a:p>
          <a:p>
            <a:pPr marL="731520" lvl="1" indent="-243840"/>
            <a:endParaRPr lang="en-US" sz="3200" dirty="0">
              <a:ea typeface="Calibri"/>
              <a:cs typeface="Calibri"/>
            </a:endParaRPr>
          </a:p>
          <a:p>
            <a:pPr marL="731520" lvl="1" indent="-243840"/>
            <a:r>
              <a:rPr lang="en-US" sz="3200" dirty="0">
                <a:ea typeface="+mn-lt"/>
                <a:cs typeface="+mn-lt"/>
              </a:rPr>
              <a:t>Weight management is an important component of T2DM treatment for patients with </a:t>
            </a:r>
            <a:r>
              <a:rPr lang="en-US" sz="3200" b="1" dirty="0">
                <a:ea typeface="+mn-lt"/>
                <a:cs typeface="+mn-lt"/>
              </a:rPr>
              <a:t>overweight or obesity</a:t>
            </a:r>
            <a:endParaRPr lang="en-US" sz="3200" dirty="0">
              <a:ea typeface="Calibri"/>
              <a:cs typeface="Calibri"/>
            </a:endParaRPr>
          </a:p>
          <a:p>
            <a:pPr marL="731520" lvl="1" indent="-243840"/>
            <a:r>
              <a:rPr lang="en-US" sz="3200" dirty="0">
                <a:ea typeface="+mn-lt"/>
                <a:cs typeface="+mn-lt"/>
              </a:rPr>
              <a:t>Even </a:t>
            </a:r>
            <a:r>
              <a:rPr lang="en-US" sz="3200" b="1" dirty="0">
                <a:ea typeface="+mn-lt"/>
                <a:cs typeface="+mn-lt"/>
              </a:rPr>
              <a:t>modest weight loss can improve glycemia and cardiometabolic risk</a:t>
            </a:r>
            <a:endParaRPr lang="en-US" sz="3200" dirty="0">
              <a:ea typeface="Calibri"/>
              <a:cs typeface="Calibri"/>
            </a:endParaRPr>
          </a:p>
          <a:p>
            <a:pPr marL="731520" lvl="1" indent="-243840"/>
            <a:r>
              <a:rPr lang="en-US" sz="3200" dirty="0">
                <a:ea typeface="+mn-lt"/>
                <a:cs typeface="+mn-lt"/>
              </a:rPr>
              <a:t>Greater sustained weight loss may provide greater metabolic benefit</a:t>
            </a:r>
            <a:endParaRPr lang="en-US" sz="3200" dirty="0">
              <a:ea typeface="Calibri"/>
              <a:cs typeface="Calibri"/>
            </a:endParaRPr>
          </a:p>
          <a:p>
            <a:pPr marL="731520" lvl="1" indent="-243840"/>
            <a:r>
              <a:rPr lang="en-US" sz="3200" dirty="0">
                <a:ea typeface="+mn-lt"/>
                <a:cs typeface="+mn-lt"/>
              </a:rPr>
              <a:t>Treatment should be </a:t>
            </a:r>
            <a:r>
              <a:rPr lang="en-US" sz="3200" b="1" dirty="0">
                <a:ea typeface="+mn-lt"/>
                <a:cs typeface="+mn-lt"/>
              </a:rPr>
              <a:t>individualized</a:t>
            </a:r>
            <a:r>
              <a:rPr lang="en-US" sz="3200" dirty="0">
                <a:ea typeface="+mn-lt"/>
                <a:cs typeface="+mn-lt"/>
              </a:rPr>
              <a:t> and may include lifestyle intervention, pharmacotherapy, and/or metabolic surgery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4" name="Shape 115">
            <a:extLst>
              <a:ext uri="{FF2B5EF4-FFF2-40B4-BE49-F238E27FC236}">
                <a16:creationId xmlns:a16="http://schemas.microsoft.com/office/drawing/2014/main" id="{830438EA-4595-4699-8C88-2DB78E399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846" y="167421"/>
            <a:ext cx="12696091" cy="1292102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Diabetes Education</a:t>
            </a:r>
          </a:p>
        </p:txBody>
      </p:sp>
    </p:spTree>
    <p:extLst>
      <p:ext uri="{BB962C8B-B14F-4D97-AF65-F5344CB8AC3E}">
        <p14:creationId xmlns:p14="http://schemas.microsoft.com/office/powerpoint/2010/main" val="6315338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4CB2-5F84-44E9-ADF3-834084B13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846" y="1459523"/>
            <a:ext cx="12653108" cy="81266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Exercise</a:t>
            </a:r>
          </a:p>
          <a:p>
            <a:pPr marL="731520" lvl="1" indent="-243840"/>
            <a:endParaRPr lang="en-US" sz="3600" dirty="0">
              <a:latin typeface="Arial"/>
              <a:cs typeface="Arial"/>
            </a:endParaRPr>
          </a:p>
          <a:p>
            <a:pPr marL="731520" lvl="1" indent="-243840"/>
            <a:r>
              <a:rPr lang="en-US" sz="3600" b="1" dirty="0">
                <a:latin typeface="Arial"/>
                <a:ea typeface="+mn-lt"/>
                <a:cs typeface="Arial"/>
              </a:rPr>
              <a:t>≥150 min/week</a:t>
            </a:r>
            <a:r>
              <a:rPr lang="en-US" sz="3600" dirty="0">
                <a:latin typeface="Arial"/>
                <a:ea typeface="+mn-lt"/>
                <a:cs typeface="Arial"/>
              </a:rPr>
              <a:t> moderate-to-vigorous aerobic activity</a:t>
            </a:r>
          </a:p>
          <a:p>
            <a:pPr marL="731520" lvl="1" indent="-243840"/>
            <a:r>
              <a:rPr lang="en-US" sz="3600" dirty="0">
                <a:latin typeface="Arial"/>
                <a:ea typeface="+mn-lt"/>
                <a:cs typeface="Arial"/>
              </a:rPr>
              <a:t>Spread over ≥3 days/week</a:t>
            </a:r>
          </a:p>
          <a:p>
            <a:pPr marL="731520" lvl="1" indent="-243840"/>
            <a:r>
              <a:rPr lang="en-US" sz="3600" dirty="0">
                <a:latin typeface="Arial"/>
                <a:ea typeface="+mn-lt"/>
                <a:cs typeface="Arial"/>
              </a:rPr>
              <a:t>No more than </a:t>
            </a:r>
            <a:r>
              <a:rPr lang="en-US" sz="3600" b="1" dirty="0">
                <a:latin typeface="Arial"/>
                <a:ea typeface="+mn-lt"/>
                <a:cs typeface="Arial"/>
              </a:rPr>
              <a:t>2 consecutive inactive days</a:t>
            </a:r>
            <a:endParaRPr lang="en-US" sz="3600" dirty="0">
              <a:latin typeface="Arial"/>
              <a:cs typeface="Arial"/>
            </a:endParaRPr>
          </a:p>
          <a:p>
            <a:pPr marL="731520" lvl="1" indent="-243840"/>
            <a:r>
              <a:rPr lang="en-US" sz="3600" b="1" dirty="0">
                <a:latin typeface="Arial"/>
                <a:ea typeface="+mn-lt"/>
                <a:cs typeface="Arial"/>
              </a:rPr>
              <a:t>Resistance exercise 2–3 times/week</a:t>
            </a:r>
          </a:p>
          <a:p>
            <a:pPr marL="731520" lvl="1" indent="-243840"/>
            <a:r>
              <a:rPr lang="en-US" sz="3600" dirty="0">
                <a:latin typeface="Arial"/>
                <a:ea typeface="+mn-lt"/>
                <a:cs typeface="Arial"/>
              </a:rPr>
              <a:t>Reduce sedentary time; interrupt prolonged sitting</a:t>
            </a:r>
            <a:endParaRPr lang="en-US" sz="3600" dirty="0">
              <a:latin typeface="Arial"/>
              <a:cs typeface="Arial"/>
            </a:endParaRPr>
          </a:p>
          <a:p>
            <a:pPr marL="731520" lvl="1" indent="-243840"/>
            <a:endParaRPr lang="en-US"/>
          </a:p>
        </p:txBody>
      </p:sp>
      <p:sp>
        <p:nvSpPr>
          <p:cNvPr id="4" name="Shape 115">
            <a:extLst>
              <a:ext uri="{FF2B5EF4-FFF2-40B4-BE49-F238E27FC236}">
                <a16:creationId xmlns:a16="http://schemas.microsoft.com/office/drawing/2014/main" id="{830438EA-4595-4699-8C88-2DB78E399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846" y="167421"/>
            <a:ext cx="12696091" cy="1292102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Diabetes Education</a:t>
            </a:r>
          </a:p>
        </p:txBody>
      </p:sp>
    </p:spTree>
    <p:extLst>
      <p:ext uri="{BB962C8B-B14F-4D97-AF65-F5344CB8AC3E}">
        <p14:creationId xmlns:p14="http://schemas.microsoft.com/office/powerpoint/2010/main" val="32643847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4CB2-5F84-44E9-ADF3-834084B13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846" y="1459523"/>
            <a:ext cx="12653108" cy="81266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Sleep</a:t>
            </a:r>
          </a:p>
          <a:p>
            <a:pPr marL="731520" lvl="1" indent="-243840"/>
            <a:r>
              <a:rPr lang="en-US" sz="3600" dirty="0">
                <a:latin typeface="Arial"/>
                <a:cs typeface="Arial"/>
              </a:rPr>
              <a:t> Adequate rest is important for maintaining energy levels and well-being, and all patients should be advised to sleep on average approximately 7+ hours per night.</a:t>
            </a:r>
          </a:p>
          <a:p>
            <a:pPr marL="731520" lvl="1" indent="-243840"/>
            <a:r>
              <a:rPr lang="en-US" sz="3600" dirty="0">
                <a:latin typeface="Arial"/>
                <a:cs typeface="Arial"/>
              </a:rPr>
              <a:t>Evidence supports an association of 6 to 9 hours of sleep per night with a reduction in cardiometabolic risk factors.</a:t>
            </a:r>
          </a:p>
          <a:p>
            <a:pPr marL="731520" lvl="1" indent="-243840"/>
            <a:r>
              <a:rPr lang="en-US" sz="3600" dirty="0">
                <a:latin typeface="Arial"/>
                <a:cs typeface="Arial"/>
              </a:rPr>
              <a:t> </a:t>
            </a:r>
            <a:r>
              <a:rPr lang="en-US" sz="3600" b="1" dirty="0">
                <a:latin typeface="Arial"/>
                <a:cs typeface="Arial"/>
              </a:rPr>
              <a:t>Sleep deprivation aggravates insulin resistance</a:t>
            </a:r>
            <a:r>
              <a:rPr lang="en-US" sz="3600" dirty="0">
                <a:latin typeface="Arial"/>
                <a:cs typeface="Arial"/>
              </a:rPr>
              <a:t>, hypertension, hyperglycemia, and dyslipidemia and increases inflammatory cytokines.</a:t>
            </a:r>
            <a:r>
              <a:rPr lang="en-US" sz="5200" dirty="0">
                <a:latin typeface="Arial"/>
                <a:cs typeface="Arial"/>
              </a:rPr>
              <a:t> </a:t>
            </a:r>
          </a:p>
        </p:txBody>
      </p:sp>
      <p:sp>
        <p:nvSpPr>
          <p:cNvPr id="4" name="Shape 115">
            <a:extLst>
              <a:ext uri="{FF2B5EF4-FFF2-40B4-BE49-F238E27FC236}">
                <a16:creationId xmlns:a16="http://schemas.microsoft.com/office/drawing/2014/main" id="{830438EA-4595-4699-8C88-2DB78E399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846" y="167421"/>
            <a:ext cx="12696091" cy="1292102"/>
          </a:xfrm>
          <a:prstGeom prst="rect">
            <a:avLst/>
          </a:prstGeom>
        </p:spPr>
        <p:txBody>
          <a:bodyPr vert="horz" lIns="72248" tIns="72248" rIns="72248" bIns="72248" rtlCol="0" anchor="ctr">
            <a:normAutofit/>
          </a:bodyPr>
          <a:lstStyle>
            <a:lvl1pPr algn="l" defTabSz="130016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kern="12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dirty="0">
                <a:latin typeface="+mj-lt"/>
              </a:rPr>
              <a:t>Diabetes Education</a:t>
            </a:r>
          </a:p>
        </p:txBody>
      </p:sp>
    </p:spTree>
    <p:extLst>
      <p:ext uri="{BB962C8B-B14F-4D97-AF65-F5344CB8AC3E}">
        <p14:creationId xmlns:p14="http://schemas.microsoft.com/office/powerpoint/2010/main" val="29483147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73"/>
          <a:stretch/>
        </p:blipFill>
        <p:spPr>
          <a:xfrm>
            <a:off x="132459" y="203033"/>
            <a:ext cx="6103170" cy="6480400"/>
          </a:xfrm>
          <a:prstGeom prst="rect">
            <a:avLst/>
          </a:prstGeom>
        </p:spPr>
      </p:pic>
      <p:pic>
        <p:nvPicPr>
          <p:cNvPr id="1026" name="Picture 2" descr="Funny Diabetes Cartoons Archives - Glasbergen Cartoon Service">
            <a:extLst>
              <a:ext uri="{FF2B5EF4-FFF2-40B4-BE49-F238E27FC236}">
                <a16:creationId xmlns:a16="http://schemas.microsoft.com/office/drawing/2014/main" id="{9F7DF2B1-0949-4D42-945C-B8CF3C538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272" y="4626033"/>
            <a:ext cx="6805432" cy="492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416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>
            <a:spLocks noGrp="1"/>
          </p:cNvSpPr>
          <p:nvPr>
            <p:ph type="title" idx="4294967295"/>
          </p:nvPr>
        </p:nvSpPr>
        <p:spPr>
          <a:xfrm>
            <a:off x="0" y="215900"/>
            <a:ext cx="13004800" cy="1408113"/>
          </a:xfrm>
          <a:prstGeom prst="rect">
            <a:avLst/>
          </a:prstGeom>
        </p:spPr>
        <p:txBody>
          <a:bodyPr lIns="72248" tIns="72248" rIns="72248" bIns="72248" anchor="ctr">
            <a:normAutofit fontScale="90000"/>
          </a:bodyPr>
          <a:lstStyle>
            <a:lvl1pPr defTabSz="1300162">
              <a:defRPr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dirty="0">
                <a:latin typeface="+mn-lt"/>
              </a:rPr>
              <a:t>Health Maintenance </a:t>
            </a:r>
            <a:r>
              <a:rPr lang="en-US" dirty="0">
                <a:latin typeface="+mn-lt"/>
              </a:rPr>
              <a:t>in Diabetes - Monitoring</a:t>
            </a:r>
            <a:endParaRPr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0F3474-6D73-F93D-D8BE-897A2804F131}"/>
              </a:ext>
            </a:extLst>
          </p:cNvPr>
          <p:cNvSpPr txBox="1"/>
          <p:nvPr/>
        </p:nvSpPr>
        <p:spPr>
          <a:xfrm>
            <a:off x="518569" y="1538978"/>
            <a:ext cx="11960538" cy="65833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Follow-up:</a:t>
            </a:r>
            <a:r>
              <a:rPr lang="en-US" sz="3200" dirty="0">
                <a:latin typeface="Arial"/>
                <a:cs typeface="Arial"/>
              </a:rPr>
              <a:t> generally every </a:t>
            </a:r>
            <a:r>
              <a:rPr lang="en-US" sz="3200" b="1" dirty="0">
                <a:latin typeface="Arial"/>
                <a:cs typeface="Arial"/>
              </a:rPr>
              <a:t>3–6 months</a:t>
            </a:r>
            <a:r>
              <a:rPr lang="en-US" sz="3200" dirty="0">
                <a:latin typeface="Arial"/>
                <a:cs typeface="Arial"/>
              </a:rPr>
              <a:t>, individualized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A1C:</a:t>
            </a:r>
            <a:r>
              <a:rPr lang="en-US" sz="3200" dirty="0">
                <a:latin typeface="Arial"/>
                <a:cs typeface="Arial"/>
              </a:rPr>
              <a:t> typically every </a:t>
            </a:r>
            <a:r>
              <a:rPr lang="en-US" sz="3200" b="1" dirty="0">
                <a:latin typeface="Arial"/>
                <a:cs typeface="Arial"/>
              </a:rPr>
              <a:t>3 months if therapy changed/goals not met; at least twice yearly if stable</a:t>
            </a:r>
            <a:endParaRPr lang="en-US" sz="3200" dirty="0">
              <a:latin typeface="Arial"/>
              <a:cs typeface="Arial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Blood pressure: </a:t>
            </a:r>
            <a:r>
              <a:rPr lang="en-US" sz="3200" dirty="0">
                <a:latin typeface="Arial"/>
                <a:cs typeface="Arial"/>
              </a:rPr>
              <a:t>every routine</a:t>
            </a:r>
            <a:r>
              <a:rPr lang="en-US" sz="3200" b="1" dirty="0">
                <a:latin typeface="Arial"/>
                <a:cs typeface="Arial"/>
              </a:rPr>
              <a:t> </a:t>
            </a:r>
            <a:r>
              <a:rPr lang="en-US" sz="3200" dirty="0">
                <a:latin typeface="Arial"/>
                <a:cs typeface="Arial"/>
              </a:rPr>
              <a:t>visit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Lipids: </a:t>
            </a:r>
            <a:r>
              <a:rPr lang="en-US" sz="3200" dirty="0">
                <a:latin typeface="Arial"/>
                <a:cs typeface="Arial"/>
              </a:rPr>
              <a:t>assess and monitor based on age, treatment, and cardiovascular risk</a:t>
            </a:r>
          </a:p>
          <a:p>
            <a:pPr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Kidney:</a:t>
            </a:r>
            <a:r>
              <a:rPr lang="en-US" sz="3200" dirty="0">
                <a:latin typeface="Arial"/>
                <a:cs typeface="Arial"/>
              </a:rPr>
              <a:t> </a:t>
            </a:r>
            <a:r>
              <a:rPr lang="en-US" sz="3200" b="1" dirty="0">
                <a:latin typeface="Arial"/>
                <a:cs typeface="Arial"/>
              </a:rPr>
              <a:t>UACR + eGFR at least annually</a:t>
            </a:r>
            <a:r>
              <a:rPr lang="en-US" sz="3200" dirty="0">
                <a:latin typeface="Arial"/>
                <a:cs typeface="Arial"/>
              </a:rPr>
              <a:t> when indicated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Feet: </a:t>
            </a:r>
            <a:r>
              <a:rPr lang="en-US" sz="3200" dirty="0">
                <a:latin typeface="Arial"/>
                <a:cs typeface="Arial"/>
              </a:rPr>
              <a:t>visual inspection regularly; </a:t>
            </a:r>
            <a:r>
              <a:rPr lang="en-US" sz="3200" b="1" dirty="0">
                <a:latin typeface="Arial"/>
                <a:cs typeface="Arial"/>
              </a:rPr>
              <a:t>comprehensive foot exam at least annually</a:t>
            </a:r>
            <a:endParaRPr lang="en-US" sz="3200" dirty="0">
              <a:latin typeface="Arial"/>
              <a:cs typeface="Arial"/>
            </a:endParaRPr>
          </a:p>
          <a:p>
            <a:pPr marL="701040" lvl="1" indent="-243840">
              <a:lnSpc>
                <a:spcPct val="90000"/>
              </a:lnSpc>
              <a:spcBef>
                <a:spcPts val="1067"/>
              </a:spcBef>
              <a:buFont typeface="Courier New"/>
              <a:buChar char="o"/>
            </a:pPr>
            <a:r>
              <a:rPr lang="en-US" sz="3200" dirty="0">
                <a:latin typeface="Arial"/>
                <a:cs typeface="Arial"/>
              </a:rPr>
              <a:t>Inspect </a:t>
            </a:r>
            <a:r>
              <a:rPr lang="en-US" sz="3200" b="1" dirty="0">
                <a:latin typeface="Arial"/>
                <a:cs typeface="Arial"/>
              </a:rPr>
              <a:t>every visit</a:t>
            </a:r>
            <a:r>
              <a:rPr lang="en-US" sz="3200" dirty="0">
                <a:latin typeface="Arial"/>
                <a:cs typeface="Arial"/>
              </a:rPr>
              <a:t> if sensory loss, prior ulcer, or amputation</a:t>
            </a: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r>
              <a:rPr lang="en-US" sz="3200" b="1" dirty="0">
                <a:latin typeface="Arial"/>
                <a:cs typeface="Arial"/>
              </a:rPr>
              <a:t>Eye exam:</a:t>
            </a:r>
            <a:r>
              <a:rPr lang="en-US" sz="3200" dirty="0">
                <a:latin typeface="Arial"/>
                <a:cs typeface="Arial"/>
              </a:rPr>
              <a:t> dilated retinal examination according to diabetes type, duration, and prior findings</a:t>
            </a: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3888669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970E6-F0AA-4C7E-89A7-8D04563F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>
            <a:extLst>
              <a:ext uri="{FF2B5EF4-FFF2-40B4-BE49-F238E27FC236}">
                <a16:creationId xmlns:a16="http://schemas.microsoft.com/office/drawing/2014/main" id="{9AE130AD-7B46-2923-D3E7-4D7DBD483D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15900"/>
            <a:ext cx="13004800" cy="1408113"/>
          </a:xfrm>
          <a:prstGeom prst="rect">
            <a:avLst/>
          </a:prstGeom>
        </p:spPr>
        <p:txBody>
          <a:bodyPr lIns="72248" tIns="72248" rIns="72248" bIns="72248" anchor="ctr">
            <a:normAutofit fontScale="90000"/>
          </a:bodyPr>
          <a:lstStyle>
            <a:lvl1pPr defTabSz="1300162">
              <a:defRPr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dirty="0">
                <a:latin typeface="+mn-lt"/>
              </a:rPr>
              <a:t>Health Maintenance </a:t>
            </a:r>
            <a:r>
              <a:rPr lang="en-US" dirty="0">
                <a:latin typeface="+mn-lt"/>
              </a:rPr>
              <a:t>in Diabetes –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Preventative Care</a:t>
            </a:r>
            <a:endParaRPr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64A46-2F91-CC6C-2E5E-BA36DF04712B}"/>
              </a:ext>
            </a:extLst>
          </p:cNvPr>
          <p:cNvSpPr txBox="1"/>
          <p:nvPr/>
        </p:nvSpPr>
        <p:spPr>
          <a:xfrm>
            <a:off x="518569" y="1538978"/>
            <a:ext cx="11960538" cy="71614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,Sans-Serif"/>
              <a:buChar char="•"/>
            </a:pPr>
            <a:endParaRPr lang="en-US" sz="3200" dirty="0">
              <a:latin typeface="Arial"/>
              <a:cs typeface="Arial"/>
            </a:endParaRPr>
          </a:p>
          <a:p>
            <a:pPr>
              <a:buFont typeface="Arial,Sans-Serif"/>
              <a:buChar char="•"/>
            </a:pPr>
            <a:r>
              <a:rPr lang="en-US" sz="3200" b="1" dirty="0">
                <a:ea typeface="+mn-lt"/>
                <a:cs typeface="+mn-lt"/>
              </a:rPr>
              <a:t>Tobacco:</a:t>
            </a:r>
            <a:r>
              <a:rPr lang="en-US" sz="3200" dirty="0">
                <a:ea typeface="+mn-lt"/>
                <a:cs typeface="+mn-lt"/>
              </a:rPr>
              <a:t> assess use and counsel cessation</a:t>
            </a:r>
            <a:endParaRPr lang="en-US" sz="3200">
              <a:ea typeface="Calibri"/>
              <a:cs typeface="Calibri"/>
            </a:endParaRPr>
          </a:p>
          <a:p>
            <a:pPr>
              <a:buFont typeface="Arial,Sans-Serif"/>
              <a:buChar char="•"/>
            </a:pPr>
            <a:r>
              <a:rPr lang="en-US" sz="3200" b="1" dirty="0">
                <a:ea typeface="+mn-lt"/>
                <a:cs typeface="+mn-lt"/>
              </a:rPr>
              <a:t>Mental/behavioral health:</a:t>
            </a:r>
            <a:r>
              <a:rPr lang="en-US" sz="3200" dirty="0">
                <a:ea typeface="+mn-lt"/>
                <a:cs typeface="+mn-lt"/>
              </a:rPr>
              <a:t> assess for depression, anxiety, diabetes distress, disordered eating, etc.</a:t>
            </a:r>
            <a:endParaRPr lang="en-US" sz="3200">
              <a:ea typeface="Calibri"/>
              <a:cs typeface="Calibri"/>
            </a:endParaRPr>
          </a:p>
          <a:p>
            <a:pPr>
              <a:buFont typeface="Arial,Sans-Serif"/>
              <a:buChar char="•"/>
            </a:pPr>
            <a:r>
              <a:rPr lang="en-US" sz="3200" b="1" dirty="0">
                <a:ea typeface="+mn-lt"/>
                <a:cs typeface="+mn-lt"/>
              </a:rPr>
              <a:t>Dental care:</a:t>
            </a:r>
            <a:r>
              <a:rPr lang="en-US" sz="3200" dirty="0">
                <a:ea typeface="+mn-lt"/>
                <a:cs typeface="+mn-lt"/>
              </a:rPr>
              <a:t> regular dental/periodontal care</a:t>
            </a:r>
            <a:endParaRPr lang="en-US" sz="3200">
              <a:ea typeface="Calibri"/>
              <a:cs typeface="Calibri"/>
            </a:endParaRPr>
          </a:p>
          <a:p>
            <a:pPr>
              <a:buFont typeface="Arial,Sans-Serif"/>
              <a:buChar char="•"/>
            </a:pPr>
            <a:r>
              <a:rPr lang="en-US" sz="3200" b="1" dirty="0">
                <a:ea typeface="+mn-lt"/>
                <a:cs typeface="+mn-lt"/>
              </a:rPr>
              <a:t>Vaccinations:</a:t>
            </a:r>
            <a:r>
              <a:rPr lang="en-US" sz="3200" dirty="0">
                <a:ea typeface="+mn-lt"/>
                <a:cs typeface="+mn-lt"/>
              </a:rPr>
              <a:t> follow age-appropriate recommendations; diabetes may affect indications for </a:t>
            </a:r>
            <a:r>
              <a:rPr lang="en-US" sz="3200" b="1" dirty="0">
                <a:ea typeface="+mn-lt"/>
                <a:cs typeface="+mn-lt"/>
              </a:rPr>
              <a:t>hepatitis B and pneumococcal vaccination</a:t>
            </a:r>
            <a:endParaRPr lang="en-US" sz="3200">
              <a:ea typeface="Calibri"/>
              <a:cs typeface="Calibri"/>
            </a:endParaRPr>
          </a:p>
          <a:p>
            <a:pPr>
              <a:buFont typeface="Arial,Sans-Serif"/>
              <a:buChar char="•"/>
            </a:pPr>
            <a:r>
              <a:rPr lang="en-US" sz="3200" b="1" dirty="0">
                <a:ea typeface="+mn-lt"/>
                <a:cs typeface="+mn-lt"/>
              </a:rPr>
              <a:t>Reproductive planning:</a:t>
            </a:r>
            <a:r>
              <a:rPr lang="en-US" sz="3200" dirty="0">
                <a:ea typeface="+mn-lt"/>
                <a:cs typeface="+mn-lt"/>
              </a:rPr>
              <a:t> contraception and preconception counseling when applicable</a:t>
            </a:r>
            <a:endParaRPr lang="en-US" sz="3200">
              <a:ea typeface="Calibri"/>
              <a:cs typeface="Calibri"/>
            </a:endParaRPr>
          </a:p>
          <a:p>
            <a:pPr>
              <a:buFont typeface="Arial,Sans-Serif"/>
              <a:buChar char="•"/>
            </a:pPr>
            <a:r>
              <a:rPr lang="en-US" sz="3200" b="1" dirty="0">
                <a:ea typeface="+mn-lt"/>
                <a:cs typeface="+mn-lt"/>
              </a:rPr>
              <a:t>Cancer screening:</a:t>
            </a:r>
            <a:r>
              <a:rPr lang="en-US" sz="3200" dirty="0">
                <a:ea typeface="+mn-lt"/>
                <a:cs typeface="+mn-lt"/>
              </a:rPr>
              <a:t> follow </a:t>
            </a:r>
            <a:r>
              <a:rPr lang="en-US" sz="3200" b="1" dirty="0">
                <a:ea typeface="+mn-lt"/>
                <a:cs typeface="+mn-lt"/>
              </a:rPr>
              <a:t>routine age- and sex-appropriate recommendations</a:t>
            </a:r>
            <a:endParaRPr lang="en-US" sz="3200">
              <a:ea typeface="Calibri"/>
              <a:cs typeface="Calibri"/>
            </a:endParaRPr>
          </a:p>
          <a:p>
            <a:pPr>
              <a:buFont typeface="Arial,Sans-Serif"/>
              <a:buChar char="•"/>
            </a:pPr>
            <a:r>
              <a:rPr lang="en-US" sz="3200" dirty="0">
                <a:ea typeface="+mn-lt"/>
                <a:cs typeface="+mn-lt"/>
              </a:rPr>
              <a:t>Assess </a:t>
            </a:r>
            <a:r>
              <a:rPr lang="en-US" sz="3200" b="1" dirty="0">
                <a:ea typeface="+mn-lt"/>
                <a:cs typeface="+mn-lt"/>
              </a:rPr>
              <a:t>hearing, sleep, sexual health, and other comorbidities</a:t>
            </a:r>
            <a:r>
              <a:rPr lang="en-US" sz="3200" dirty="0">
                <a:ea typeface="+mn-lt"/>
                <a:cs typeface="+mn-lt"/>
              </a:rPr>
              <a:t> when indicated</a:t>
            </a:r>
            <a:endParaRPr lang="en-US" sz="3200">
              <a:ea typeface="Calibri"/>
              <a:cs typeface="Calibri"/>
            </a:endParaRPr>
          </a:p>
          <a:p>
            <a:pPr marL="243840" indent="-243840">
              <a:lnSpc>
                <a:spcPct val="90000"/>
              </a:lnSpc>
              <a:spcBef>
                <a:spcPts val="1067"/>
              </a:spcBef>
              <a:buFont typeface="Arial,Sans-Serif"/>
              <a:buChar char="•"/>
            </a:pPr>
            <a:endParaRPr lang="en-US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0571055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26936"/>
            <a:ext cx="13004800" cy="10475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29323-FED5-4DCA-9840-05B559428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34" y="915153"/>
            <a:ext cx="11958320" cy="10593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Cultural Considerations in Diabetes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C1E3C6-AAC7-4C74-A498-555C2D634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6364" y="2671992"/>
            <a:ext cx="11632071" cy="567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60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572E2D"/>
      </a:dk1>
      <a:lt1>
        <a:srgbClr val="2A5657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Noteworthy Bold"/>
        <a:ea typeface="Noteworthy Bold"/>
        <a:cs typeface="Noteworthy Bold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Pct val="100000"/>
          <a:buFont typeface="Arial"/>
          <a:buChar char="–"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Pct val="100000"/>
          <a:buFont typeface="Arial"/>
          <a:buChar char="–"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AFE420A7EF1D4ABFC67E13CCF380F4" ma:contentTypeVersion="14" ma:contentTypeDescription="Create a new document." ma:contentTypeScope="" ma:versionID="51d109aabf79ffeb20f2d4f05a66b1a5">
  <xsd:schema xmlns:xsd="http://www.w3.org/2001/XMLSchema" xmlns:xs="http://www.w3.org/2001/XMLSchema" xmlns:p="http://schemas.microsoft.com/office/2006/metadata/properties" xmlns:ns3="9dbb2718-4180-40db-98fb-f9fe20588b96" xmlns:ns4="0d63d358-a8c1-4dbc-9cc4-1710aecef28f" targetNamespace="http://schemas.microsoft.com/office/2006/metadata/properties" ma:root="true" ma:fieldsID="5a642810939fbf2c1b55a2c355089b0a" ns3:_="" ns4:_="">
    <xsd:import namespace="9dbb2718-4180-40db-98fb-f9fe20588b96"/>
    <xsd:import namespace="0d63d358-a8c1-4dbc-9cc4-1710aecef28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bb2718-4180-40db-98fb-f9fe20588b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63d358-a8c1-4dbc-9cc4-1710aecef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FDA16E-05A9-4A53-BDEE-A5EE6CFB52EB}">
  <ds:schemaRefs>
    <ds:schemaRef ds:uri="http://purl.org/dc/elements/1.1/"/>
    <ds:schemaRef ds:uri="http://schemas.microsoft.com/office/2006/metadata/properties"/>
    <ds:schemaRef ds:uri="http://purl.org/dc/terms/"/>
    <ds:schemaRef ds:uri="9dbb2718-4180-40db-98fb-f9fe20588b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d63d358-a8c1-4dbc-9cc4-1710aecef28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70724F3-FF03-4ACB-8511-4D19E2F017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bb2718-4180-40db-98fb-f9fe20588b96"/>
    <ds:schemaRef ds:uri="0d63d358-a8c1-4dbc-9cc4-1710aecef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30EB4B-AAD6-4EB3-B565-894CAC6E5C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2906</TotalTime>
  <Words>4361</Words>
  <Application>Microsoft Office PowerPoint</Application>
  <PresentationFormat>Custom</PresentationFormat>
  <Paragraphs>466</Paragraphs>
  <Slides>60</Slides>
  <Notes>46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Diabetes Mellitus  CMM: Endocrinology</vt:lpstr>
      <vt:lpstr>Outline</vt:lpstr>
      <vt:lpstr>Normal Pancreas Function</vt:lpstr>
      <vt:lpstr>Normal Pancreas Function</vt:lpstr>
      <vt:lpstr>Normal Pancreas Function</vt:lpstr>
      <vt:lpstr>Normal Pancreas Function</vt:lpstr>
      <vt:lpstr>The Burden of Diabetes Mellitus</vt:lpstr>
      <vt:lpstr>The Burden of Diabetes Mellitus</vt:lpstr>
      <vt:lpstr>PowerPoint Presentation</vt:lpstr>
      <vt:lpstr>Type I Diabetes Mellitus</vt:lpstr>
      <vt:lpstr>PowerPoint Presentation</vt:lpstr>
      <vt:lpstr>PowerPoint Presentation</vt:lpstr>
      <vt:lpstr>PowerPoint Presentation</vt:lpstr>
      <vt:lpstr>PowerPoint Presentation</vt:lpstr>
      <vt:lpstr>Prediabetes</vt:lpstr>
      <vt:lpstr>Prediabetes</vt:lpstr>
      <vt:lpstr>Type 2 Diabetes Mellitus</vt:lpstr>
      <vt:lpstr>PowerPoint Presentation</vt:lpstr>
      <vt:lpstr>PowerPoint Presentation</vt:lpstr>
      <vt:lpstr>PowerPoint Presentation</vt:lpstr>
      <vt:lpstr>PowerPoint Presentation</vt:lpstr>
      <vt:lpstr>Type 2 Diabetes vs. Type 1 Diabetes</vt:lpstr>
      <vt:lpstr>PowerPoint Presentation</vt:lpstr>
      <vt:lpstr>PowerPoint Presentation</vt:lpstr>
      <vt:lpstr>What other diabetes variants are out there??</vt:lpstr>
      <vt:lpstr>Latent Autoimmune Diabetes in Adults (LADA)</vt:lpstr>
      <vt:lpstr>Maturity-Onset Diabetes of the Young (MODY)</vt:lpstr>
      <vt:lpstr>Maturity-Onset Diabetes of the Young (MODY)</vt:lpstr>
      <vt:lpstr>Type I Diabetes Mellitus</vt:lpstr>
      <vt:lpstr>PowerPoint Presentation</vt:lpstr>
      <vt:lpstr>PowerPoint Presentation</vt:lpstr>
      <vt:lpstr>PowerPoint Presentation</vt:lpstr>
      <vt:lpstr>PowerPoint Presentation</vt:lpstr>
      <vt:lpstr>Diagnosis of Diabetes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 2 Diabetes Mellitus</vt:lpstr>
      <vt:lpstr>PowerPoint Presentation</vt:lpstr>
      <vt:lpstr>PowerPoint Presentation</vt:lpstr>
      <vt:lpstr>Symptoms of Type II DM</vt:lpstr>
      <vt:lpstr>Symptoms of Type II DM</vt:lpstr>
      <vt:lpstr>PowerPoint Presentation</vt:lpstr>
      <vt:lpstr>PowerPoint Presentation</vt:lpstr>
      <vt:lpstr>Diagnosis of Diabetes</vt:lpstr>
      <vt:lpstr>PowerPoint Presentation</vt:lpstr>
      <vt:lpstr>Diabetes Education</vt:lpstr>
      <vt:lpstr>Diabetes Education</vt:lpstr>
      <vt:lpstr>Diabetes Education</vt:lpstr>
      <vt:lpstr>Diabetes Education</vt:lpstr>
      <vt:lpstr>Diabetes Education</vt:lpstr>
      <vt:lpstr>PowerPoint Presentation</vt:lpstr>
      <vt:lpstr>Health Maintenance in Diabetes - Monitoring</vt:lpstr>
      <vt:lpstr>Health Maintenance in Diabetes –  Preventative Care</vt:lpstr>
      <vt:lpstr>Cultural Considerations in Diabetes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Mellitus  CMM: Endocrinology</dc:title>
  <dc:creator>Megan</dc:creator>
  <cp:lastModifiedBy>Brandell, Sarah</cp:lastModifiedBy>
  <cp:revision>379</cp:revision>
  <dcterms:created xsi:type="dcterms:W3CDTF">2019-11-10T15:26:55Z</dcterms:created>
  <dcterms:modified xsi:type="dcterms:W3CDTF">2026-10-04T04:14:48Z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0x0101000BAFE420A7EF1D4ABFC67E13CCF380F4</vt:lpwstr>
  </property>
</Properties>
</file>