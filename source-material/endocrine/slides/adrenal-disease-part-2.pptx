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54"/>
  </p:notesMasterIdLst>
  <p:sldIdLst>
    <p:sldId id="347" r:id="rId2"/>
    <p:sldId id="348" r:id="rId3"/>
    <p:sldId id="349" r:id="rId4"/>
    <p:sldId id="350" r:id="rId5"/>
    <p:sldId id="351" r:id="rId6"/>
    <p:sldId id="352" r:id="rId7"/>
    <p:sldId id="353" r:id="rId8"/>
    <p:sldId id="354" r:id="rId9"/>
    <p:sldId id="355" r:id="rId10"/>
    <p:sldId id="356" r:id="rId11"/>
    <p:sldId id="357" r:id="rId12"/>
    <p:sldId id="358" r:id="rId13"/>
    <p:sldId id="359" r:id="rId14"/>
    <p:sldId id="360" r:id="rId15"/>
    <p:sldId id="361" r:id="rId16"/>
    <p:sldId id="362" r:id="rId17"/>
    <p:sldId id="363" r:id="rId18"/>
    <p:sldId id="364" r:id="rId19"/>
    <p:sldId id="365" r:id="rId20"/>
    <p:sldId id="413" r:id="rId21"/>
    <p:sldId id="366" r:id="rId22"/>
    <p:sldId id="367" r:id="rId23"/>
    <p:sldId id="369" r:id="rId24"/>
    <p:sldId id="415" r:id="rId25"/>
    <p:sldId id="414" r:id="rId26"/>
    <p:sldId id="370" r:id="rId27"/>
    <p:sldId id="371" r:id="rId28"/>
    <p:sldId id="373" r:id="rId29"/>
    <p:sldId id="375" r:id="rId30"/>
    <p:sldId id="377" r:id="rId31"/>
    <p:sldId id="401" r:id="rId32"/>
    <p:sldId id="378" r:id="rId33"/>
    <p:sldId id="380" r:id="rId34"/>
    <p:sldId id="381" r:id="rId35"/>
    <p:sldId id="382" r:id="rId36"/>
    <p:sldId id="383" r:id="rId37"/>
    <p:sldId id="402" r:id="rId38"/>
    <p:sldId id="384" r:id="rId39"/>
    <p:sldId id="403" r:id="rId40"/>
    <p:sldId id="385" r:id="rId41"/>
    <p:sldId id="387" r:id="rId42"/>
    <p:sldId id="388" r:id="rId43"/>
    <p:sldId id="389" r:id="rId44"/>
    <p:sldId id="407" r:id="rId45"/>
    <p:sldId id="391" r:id="rId46"/>
    <p:sldId id="392" r:id="rId47"/>
    <p:sldId id="404" r:id="rId48"/>
    <p:sldId id="386" r:id="rId49"/>
    <p:sldId id="406" r:id="rId50"/>
    <p:sldId id="408" r:id="rId51"/>
    <p:sldId id="409" r:id="rId52"/>
    <p:sldId id="411" r:id="rId53"/>
  </p:sldIdLst>
  <p:sldSz cx="13004800" cy="9753600"/>
  <p:notesSz cx="68580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9" roundtripDataSignature="AMtx7mgBx0Wai+3DnuxKahLvPPPkUJjtW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79906F2-E3B9-4608-AB6C-7A0A5C81DEF4}">
  <a:tblStyle styleId="{779906F2-E3B9-4608-AB6C-7A0A5C81DEF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8"/>
    <p:restoredTop sz="94661"/>
  </p:normalViewPr>
  <p:slideViewPr>
    <p:cSldViewPr snapToGrid="0">
      <p:cViewPr varScale="1">
        <p:scale>
          <a:sx n="77" d="100"/>
          <a:sy n="77" d="100"/>
        </p:scale>
        <p:origin x="1456" y="184"/>
      </p:cViewPr>
      <p:guideLst>
        <p:guide orient="horz" pos="3072"/>
        <p:guide pos="4096"/>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70"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73"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172"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17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16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lvl1pPr marL="457200" marR="0" lvl="0" indent="-228600" algn="l" rtl="0">
              <a:lnSpc>
                <a:spcPct val="145833"/>
              </a:lnSpc>
              <a:spcBef>
                <a:spcPts val="0"/>
              </a:spcBef>
              <a:spcAft>
                <a:spcPts val="0"/>
              </a:spcAft>
              <a:buSzPts val="1400"/>
              <a:buNone/>
              <a:defRPr sz="2400" b="0" i="0" u="none" strike="noStrike" cap="none">
                <a:solidFill>
                  <a:srgbClr val="572E2D"/>
                </a:solidFill>
                <a:latin typeface="Arial"/>
                <a:ea typeface="Arial"/>
                <a:cs typeface="Arial"/>
                <a:sym typeface="Arial"/>
              </a:defRPr>
            </a:lvl1pPr>
            <a:lvl2pPr marL="914400" marR="0" lvl="1" indent="-228600" algn="l" rtl="0">
              <a:lnSpc>
                <a:spcPct val="145833"/>
              </a:lnSpc>
              <a:spcBef>
                <a:spcPts val="0"/>
              </a:spcBef>
              <a:spcAft>
                <a:spcPts val="0"/>
              </a:spcAft>
              <a:buSzPts val="1400"/>
              <a:buNone/>
              <a:defRPr sz="2400" b="0" i="0" u="none" strike="noStrike" cap="none">
                <a:solidFill>
                  <a:srgbClr val="572E2D"/>
                </a:solidFill>
                <a:latin typeface="Arial"/>
                <a:ea typeface="Arial"/>
                <a:cs typeface="Arial"/>
                <a:sym typeface="Arial"/>
              </a:defRPr>
            </a:lvl2pPr>
            <a:lvl3pPr marL="1371600" marR="0" lvl="2" indent="-228600" algn="l" rtl="0">
              <a:lnSpc>
                <a:spcPct val="145833"/>
              </a:lnSpc>
              <a:spcBef>
                <a:spcPts val="0"/>
              </a:spcBef>
              <a:spcAft>
                <a:spcPts val="0"/>
              </a:spcAft>
              <a:buSzPts val="1400"/>
              <a:buNone/>
              <a:defRPr sz="2400" b="0" i="0" u="none" strike="noStrike" cap="none">
                <a:solidFill>
                  <a:srgbClr val="572E2D"/>
                </a:solidFill>
                <a:latin typeface="Arial"/>
                <a:ea typeface="Arial"/>
                <a:cs typeface="Arial"/>
                <a:sym typeface="Arial"/>
              </a:defRPr>
            </a:lvl3pPr>
            <a:lvl4pPr marL="1828800" marR="0" lvl="3" indent="-228600" algn="l" rtl="0">
              <a:lnSpc>
                <a:spcPct val="145833"/>
              </a:lnSpc>
              <a:spcBef>
                <a:spcPts val="0"/>
              </a:spcBef>
              <a:spcAft>
                <a:spcPts val="0"/>
              </a:spcAft>
              <a:buSzPts val="1400"/>
              <a:buNone/>
              <a:defRPr sz="2400" b="0" i="0" u="none" strike="noStrike" cap="none">
                <a:solidFill>
                  <a:srgbClr val="572E2D"/>
                </a:solidFill>
                <a:latin typeface="Arial"/>
                <a:ea typeface="Arial"/>
                <a:cs typeface="Arial"/>
                <a:sym typeface="Arial"/>
              </a:defRPr>
            </a:lvl4pPr>
            <a:lvl5pPr marL="2286000" marR="0" lvl="4" indent="-228600" algn="l" rtl="0">
              <a:lnSpc>
                <a:spcPct val="145833"/>
              </a:lnSpc>
              <a:spcBef>
                <a:spcPts val="0"/>
              </a:spcBef>
              <a:spcAft>
                <a:spcPts val="0"/>
              </a:spcAft>
              <a:buSzPts val="1400"/>
              <a:buNone/>
              <a:defRPr sz="2400" b="0" i="0" u="none" strike="noStrike" cap="none">
                <a:solidFill>
                  <a:srgbClr val="572E2D"/>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fa60496b86_2_0: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08" name="Google Shape;608;gfa60496b86_2_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86: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14" name="Google Shape;614;p8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87: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20" name="Google Shape;620;p87: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88: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26" name="Google Shape;626;p8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89: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32" name="Google Shape;632;p8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90: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38" name="Google Shape;638;p9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9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5" name="Google Shape;645;p91: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r>
              <a:rPr lang="en-US">
                <a:latin typeface="Arial"/>
                <a:ea typeface="Arial"/>
                <a:cs typeface="Arial"/>
                <a:sym typeface="Arial"/>
              </a:rPr>
              <a:t>Renal tubular acidosis is when otherwise normally functioning kidneys fail to acidify the urine resulting in excess acid in the body- a metabolic acidosis.  Types 1 and 2 are caused by tubular problems, type 3 is excluded from modern classification systems and type 4 is due to aldosterone deficiency.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92: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51" name="Google Shape;651;p9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p93: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dirty="0"/>
          </a:p>
        </p:txBody>
      </p:sp>
      <p:sp>
        <p:nvSpPr>
          <p:cNvPr id="657" name="Google Shape;657;p9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94: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63" name="Google Shape;663;p9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95: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69" name="Google Shape;669;p9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96: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75" name="Google Shape;675;p9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1016b1c0db4_0_0: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81" name="Google Shape;681;g1016b1c0db4_0_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99: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87" name="Google Shape;687;p9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97: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92" name="Google Shape;692;p97: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98: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00" name="Google Shape;700;p9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fa60496b86_2_39: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06" name="Google Shape;706;gfa60496b86_2_3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101b6edf74c_0_0: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12" name="Google Shape;712;g101b6edf74c_0_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100: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18" name="Google Shape;718;p10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a:extLst>
            <a:ext uri="{FF2B5EF4-FFF2-40B4-BE49-F238E27FC236}">
              <a16:creationId xmlns:a16="http://schemas.microsoft.com/office/drawing/2014/main" id="{C1E47C9F-E6E2-6FF2-837C-D30218C54123}"/>
            </a:ext>
          </a:extLst>
        </p:cNvPr>
        <p:cNvGrpSpPr/>
        <p:nvPr/>
      </p:nvGrpSpPr>
      <p:grpSpPr>
        <a:xfrm>
          <a:off x="0" y="0"/>
          <a:ext cx="0" cy="0"/>
          <a:chOff x="0" y="0"/>
          <a:chExt cx="0" cy="0"/>
        </a:xfrm>
      </p:grpSpPr>
      <p:sp>
        <p:nvSpPr>
          <p:cNvPr id="717" name="Google Shape;717;p100:notes">
            <a:extLst>
              <a:ext uri="{FF2B5EF4-FFF2-40B4-BE49-F238E27FC236}">
                <a16:creationId xmlns:a16="http://schemas.microsoft.com/office/drawing/2014/main" id="{A7864C18-FF04-6DE4-704C-2FA74900F3E8}"/>
              </a:ext>
            </a:extLst>
          </p:cNvPr>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r>
              <a:rPr lang="en-US" dirty="0"/>
              <a:t>MRA- mineralocorticoid receptor antagonists or aldosterone antagonists (spironolactone (Aldactone), eplerenone (</a:t>
            </a:r>
            <a:r>
              <a:rPr lang="en-US" dirty="0" err="1"/>
              <a:t>Inspra</a:t>
            </a:r>
            <a:r>
              <a:rPr lang="en-US" dirty="0"/>
              <a:t>) and </a:t>
            </a:r>
            <a:r>
              <a:rPr lang="en-US" dirty="0" err="1"/>
              <a:t>finerenone</a:t>
            </a:r>
            <a:r>
              <a:rPr lang="en-US" dirty="0"/>
              <a:t> (</a:t>
            </a:r>
            <a:r>
              <a:rPr lang="en-US" dirty="0" err="1"/>
              <a:t>Kerendia</a:t>
            </a:r>
            <a:r>
              <a:rPr lang="en-US" dirty="0"/>
              <a:t>)).</a:t>
            </a:r>
            <a:endParaRPr dirty="0"/>
          </a:p>
        </p:txBody>
      </p:sp>
      <p:sp>
        <p:nvSpPr>
          <p:cNvPr id="718" name="Google Shape;718;p100:notes">
            <a:extLst>
              <a:ext uri="{FF2B5EF4-FFF2-40B4-BE49-F238E27FC236}">
                <a16:creationId xmlns:a16="http://schemas.microsoft.com/office/drawing/2014/main" id="{E6FC510B-2D4C-9667-CC36-AA0312C21C83}"/>
              </a:ext>
            </a:extLst>
          </p:cNvPr>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11542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10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4" name="Google Shape;724;p101: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endParaRPr dirty="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101b6edf74c_0_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1" name="Google Shape;731;g101b6edf74c_0_5:notes"/>
          <p:cNvSpPr txBox="1">
            <a:spLocks noGrp="1"/>
          </p:cNvSpPr>
          <p:nvPr>
            <p:ph type="body" idx="1"/>
          </p:nvPr>
        </p:nvSpPr>
        <p:spPr>
          <a:xfrm>
            <a:off x="914400" y="4416425"/>
            <a:ext cx="5029200" cy="4183200"/>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endParaRPr dirty="0">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103: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43" name="Google Shape;743;p10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a:extLst>
            <a:ext uri="{FF2B5EF4-FFF2-40B4-BE49-F238E27FC236}">
              <a16:creationId xmlns:a16="http://schemas.microsoft.com/office/drawing/2014/main" id="{E4228E60-4486-70CE-9728-CE001FC9EFCD}"/>
            </a:ext>
          </a:extLst>
        </p:cNvPr>
        <p:cNvGrpSpPr/>
        <p:nvPr/>
      </p:nvGrpSpPr>
      <p:grpSpPr>
        <a:xfrm>
          <a:off x="0" y="0"/>
          <a:ext cx="0" cy="0"/>
          <a:chOff x="0" y="0"/>
          <a:chExt cx="0" cy="0"/>
        </a:xfrm>
      </p:grpSpPr>
      <p:sp>
        <p:nvSpPr>
          <p:cNvPr id="742" name="Google Shape;742;p103:notes">
            <a:extLst>
              <a:ext uri="{FF2B5EF4-FFF2-40B4-BE49-F238E27FC236}">
                <a16:creationId xmlns:a16="http://schemas.microsoft.com/office/drawing/2014/main" id="{A811A2A6-B2AE-617B-9FED-3D0AF2DFD97E}"/>
              </a:ext>
            </a:extLst>
          </p:cNvPr>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43" name="Google Shape;743;p103:notes">
            <a:extLst>
              <a:ext uri="{FF2B5EF4-FFF2-40B4-BE49-F238E27FC236}">
                <a16:creationId xmlns:a16="http://schemas.microsoft.com/office/drawing/2014/main" id="{8E450DA3-4405-0138-AE1A-2F8523BBEE18}"/>
              </a:ext>
            </a:extLst>
          </p:cNvPr>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17824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a:extLst>
            <a:ext uri="{FF2B5EF4-FFF2-40B4-BE49-F238E27FC236}">
              <a16:creationId xmlns:a16="http://schemas.microsoft.com/office/drawing/2014/main" id="{AE2FF1D8-6755-CC02-9B23-DD0E9C8502C1}"/>
            </a:ext>
          </a:extLst>
        </p:cNvPr>
        <p:cNvGrpSpPr/>
        <p:nvPr/>
      </p:nvGrpSpPr>
      <p:grpSpPr>
        <a:xfrm>
          <a:off x="0" y="0"/>
          <a:ext cx="0" cy="0"/>
          <a:chOff x="0" y="0"/>
          <a:chExt cx="0" cy="0"/>
        </a:xfrm>
      </p:grpSpPr>
      <p:sp>
        <p:nvSpPr>
          <p:cNvPr id="742" name="Google Shape;742;p103:notes">
            <a:extLst>
              <a:ext uri="{FF2B5EF4-FFF2-40B4-BE49-F238E27FC236}">
                <a16:creationId xmlns:a16="http://schemas.microsoft.com/office/drawing/2014/main" id="{89ABAFDC-57C3-66A5-5296-EADE785E714D}"/>
              </a:ext>
            </a:extLst>
          </p:cNvPr>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43" name="Google Shape;743;p103:notes">
            <a:extLst>
              <a:ext uri="{FF2B5EF4-FFF2-40B4-BE49-F238E27FC236}">
                <a16:creationId xmlns:a16="http://schemas.microsoft.com/office/drawing/2014/main" id="{A9532FFF-04A1-D921-D564-8D761AD9A92B}"/>
              </a:ext>
            </a:extLst>
          </p:cNvPr>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95312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101b8515189_0_0: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49" name="Google Shape;749;g101b8515189_0_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104: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55" name="Google Shape;755;p10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p106: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67" name="Google Shape;767;p10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108: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79" name="Google Shape;779;p10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101b8515189_1_0: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91" name="Google Shape;791;g101b8515189_1_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101b8515189_1_0: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91" name="Google Shape;791;g101b8515189_1_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76508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101b8515189_1_12: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97" name="Google Shape;797;g101b8515189_1_1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101b8515189_1_22: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09" name="Google Shape;809;g101b8515189_1_2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101b8515189_1_27: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15" name="Google Shape;815;g101b8515189_1_27: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101b8515189_1_6: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21" name="Google Shape;821;g101b8515189_1_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p119: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27" name="Google Shape;827;p11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p119: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27" name="Google Shape;827;p11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05974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p11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3" name="Google Shape;833;p110: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endParaRPr sz="1200">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p11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3" name="Google Shape;833;p110: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endParaRPr sz="1200">
              <a:latin typeface="Arial"/>
              <a:ea typeface="Arial"/>
              <a:cs typeface="Arial"/>
              <a:sym typeface="Arial"/>
            </a:endParaRPr>
          </a:p>
        </p:txBody>
      </p:sp>
    </p:spTree>
    <p:extLst>
      <p:ext uri="{BB962C8B-B14F-4D97-AF65-F5344CB8AC3E}">
        <p14:creationId xmlns:p14="http://schemas.microsoft.com/office/powerpoint/2010/main" val="14111855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101b8515189_1_3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9" name="Google Shape;839;g101b8515189_1_32:notes"/>
          <p:cNvSpPr txBox="1">
            <a:spLocks noGrp="1"/>
          </p:cNvSpPr>
          <p:nvPr>
            <p:ph type="body" idx="1"/>
          </p:nvPr>
        </p:nvSpPr>
        <p:spPr>
          <a:xfrm>
            <a:off x="914400" y="4416425"/>
            <a:ext cx="5029200" cy="4183200"/>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r>
              <a:rPr lang="en-US" sz="1200" dirty="0">
                <a:latin typeface="Arial"/>
                <a:ea typeface="Arial"/>
                <a:cs typeface="Arial"/>
                <a:sym typeface="Arial"/>
              </a:rPr>
              <a:t>von Hippel-Lindau (VHL) disease, or von Hippel-Lindau syndrome, is a rare genetic disorder characterized by visceral cysts and benign tumors in multiple organ systems that have subsequent potential for malignant change.   Clinical hallmarks of VHL disease include the development of retinal and central nervous system (CNS) hemangioblastomas (blood vessel tumors), pheochromocytomas, multiple cysts in the pancreas and kidneys, and an increased risk for malignant transformation of renal cysts into renal cell carcinoma. </a:t>
            </a:r>
            <a:endParaRPr sz="1200" dirty="0">
              <a:latin typeface="Arial"/>
              <a:ea typeface="Arial"/>
              <a:cs typeface="Arial"/>
              <a:sym typeface="Arial"/>
            </a:endParaRPr>
          </a:p>
          <a:p>
            <a:pPr marL="0" lvl="0" indent="0" algn="l" rtl="0">
              <a:lnSpc>
                <a:spcPct val="145833"/>
              </a:lnSpc>
              <a:spcBef>
                <a:spcPts val="0"/>
              </a:spcBef>
              <a:spcAft>
                <a:spcPts val="0"/>
              </a:spcAft>
              <a:buNone/>
            </a:pPr>
            <a:r>
              <a:rPr lang="en-US" sz="1200" dirty="0">
                <a:latin typeface="Arial"/>
                <a:ea typeface="Arial"/>
                <a:cs typeface="Arial"/>
                <a:sym typeface="Arial"/>
              </a:rPr>
              <a:t>Neurofibromatosis type 1 (NF1) is a multisystem genetic disorder that is characterized by cutaneous findings, most notably café-au-lait spots and axillary freckling, by skeletal </a:t>
            </a:r>
            <a:r>
              <a:rPr lang="en-US" sz="1200" dirty="0" err="1">
                <a:latin typeface="Arial"/>
                <a:ea typeface="Arial"/>
                <a:cs typeface="Arial"/>
                <a:sym typeface="Arial"/>
              </a:rPr>
              <a:t>dysplasias</a:t>
            </a:r>
            <a:r>
              <a:rPr lang="en-US" sz="1200" dirty="0">
                <a:latin typeface="Arial"/>
                <a:ea typeface="Arial"/>
                <a:cs typeface="Arial"/>
                <a:sym typeface="Arial"/>
              </a:rPr>
              <a:t>, and by the growth of both benign and malignant nervous system tumors, most notably benign neurofibromas.</a:t>
            </a:r>
            <a:endParaRPr sz="1200" dirty="0"/>
          </a:p>
          <a:p>
            <a:pPr marL="0" lvl="0" indent="0" algn="l" rtl="0">
              <a:lnSpc>
                <a:spcPct val="145833"/>
              </a:lnSpc>
              <a:spcBef>
                <a:spcPts val="0"/>
              </a:spcBef>
              <a:spcAft>
                <a:spcPts val="0"/>
              </a:spcAft>
              <a:buNone/>
            </a:pPr>
            <a:endParaRPr sz="1200" dirty="0">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112: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51" name="Google Shape;851;p11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113: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59" name="Google Shape;859;p11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p114: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64" name="Google Shape;864;p11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p114: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64" name="Google Shape;864;p11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72328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p115: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76" name="Google Shape;876;p11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p116: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82" name="Google Shape;882;p11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111: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45" name="Google Shape;845;p11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00595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111: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45" name="Google Shape;845;p11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362367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111: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45" name="Google Shape;845;p11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5720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108: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79" name="Google Shape;779;p10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75464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108: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79" name="Google Shape;779;p10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05792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108: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79" name="Google Shape;779;p10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0546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
        <p:cNvGrpSpPr/>
        <p:nvPr/>
      </p:nvGrpSpPr>
      <p:grpSpPr>
        <a:xfrm>
          <a:off x="0" y="0"/>
          <a:ext cx="0" cy="0"/>
          <a:chOff x="0" y="0"/>
          <a:chExt cx="0" cy="0"/>
        </a:xfrm>
      </p:grpSpPr>
      <p:sp>
        <p:nvSpPr>
          <p:cNvPr id="9" name="Google Shape;9;p121"/>
          <p:cNvSpPr txBox="1">
            <a:spLocks noGrp="1"/>
          </p:cNvSpPr>
          <p:nvPr>
            <p:ph type="title"/>
          </p:nvPr>
        </p:nvSpPr>
        <p:spPr>
          <a:xfrm>
            <a:off x="1270000" y="254000"/>
            <a:ext cx="10464800" cy="24384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 name="Google Shape;10;p121"/>
          <p:cNvSpPr txBox="1">
            <a:spLocks noGrp="1"/>
          </p:cNvSpPr>
          <p:nvPr>
            <p:ph type="body" idx="1"/>
          </p:nvPr>
        </p:nvSpPr>
        <p:spPr>
          <a:xfrm>
            <a:off x="1270000" y="2768600"/>
            <a:ext cx="10464800" cy="5715000"/>
          </a:xfrm>
          <a:prstGeom prst="rect">
            <a:avLst/>
          </a:prstGeom>
          <a:noFill/>
          <a:ln>
            <a:noFill/>
          </a:ln>
        </p:spPr>
        <p:txBody>
          <a:bodyPr spcFirstLastPara="1" wrap="square" lIns="50800" tIns="50800" rIns="50800" bIns="50800" anchor="ctr" anchorCtr="0">
            <a:noAutofit/>
          </a:bodyPr>
          <a:lstStyle>
            <a:lvl1pPr marL="457200" lvl="0" indent="-342900" algn="l">
              <a:spcBef>
                <a:spcPts val="4200"/>
              </a:spcBef>
              <a:spcAft>
                <a:spcPts val="0"/>
              </a:spcAft>
              <a:buClr>
                <a:srgbClr val="000000"/>
              </a:buClr>
              <a:buSzPts val="1800"/>
              <a:buChar char="•"/>
              <a:defRPr/>
            </a:lvl1pPr>
            <a:lvl2pPr marL="914400" lvl="1" indent="-342900" algn="l">
              <a:spcBef>
                <a:spcPts val="4200"/>
              </a:spcBef>
              <a:spcAft>
                <a:spcPts val="0"/>
              </a:spcAft>
              <a:buClr>
                <a:srgbClr val="000000"/>
              </a:buClr>
              <a:buSzPts val="1800"/>
              <a:buChar char="•"/>
              <a:defRPr/>
            </a:lvl2pPr>
            <a:lvl3pPr marL="1371600" lvl="2" indent="-342900" algn="l">
              <a:spcBef>
                <a:spcPts val="4200"/>
              </a:spcBef>
              <a:spcAft>
                <a:spcPts val="0"/>
              </a:spcAft>
              <a:buClr>
                <a:srgbClr val="000000"/>
              </a:buClr>
              <a:buSzPts val="1800"/>
              <a:buChar char="•"/>
              <a:defRPr/>
            </a:lvl3pPr>
            <a:lvl4pPr marL="1828800" lvl="3" indent="-342900" algn="l">
              <a:spcBef>
                <a:spcPts val="4200"/>
              </a:spcBef>
              <a:spcAft>
                <a:spcPts val="0"/>
              </a:spcAft>
              <a:buClr>
                <a:srgbClr val="000000"/>
              </a:buClr>
              <a:buSzPts val="1800"/>
              <a:buChar char="•"/>
              <a:defRPr/>
            </a:lvl4pPr>
            <a:lvl5pPr marL="2286000" lvl="4" indent="-342900" algn="l">
              <a:spcBef>
                <a:spcPts val="4200"/>
              </a:spcBef>
              <a:spcAft>
                <a:spcPts val="0"/>
              </a:spcAft>
              <a:buClr>
                <a:srgbClr val="000000"/>
              </a:buClr>
              <a:buSzPts val="1800"/>
              <a:buChar char="•"/>
              <a:defRPr/>
            </a:lvl5pPr>
            <a:lvl6pPr marL="2743200" lvl="5" indent="-342900" algn="l">
              <a:spcBef>
                <a:spcPts val="4200"/>
              </a:spcBef>
              <a:spcAft>
                <a:spcPts val="0"/>
              </a:spcAft>
              <a:buClr>
                <a:srgbClr val="000000"/>
              </a:buClr>
              <a:buSzPts val="1800"/>
              <a:buChar char="•"/>
              <a:defRPr/>
            </a:lvl6pPr>
            <a:lvl7pPr marL="3200400" lvl="6" indent="-342900" algn="l">
              <a:spcBef>
                <a:spcPts val="4200"/>
              </a:spcBef>
              <a:spcAft>
                <a:spcPts val="0"/>
              </a:spcAft>
              <a:buClr>
                <a:srgbClr val="000000"/>
              </a:buClr>
              <a:buSzPts val="1800"/>
              <a:buChar char="•"/>
              <a:defRPr/>
            </a:lvl7pPr>
            <a:lvl8pPr marL="3657600" lvl="7" indent="-342900" algn="l">
              <a:spcBef>
                <a:spcPts val="4200"/>
              </a:spcBef>
              <a:spcAft>
                <a:spcPts val="0"/>
              </a:spcAft>
              <a:buClr>
                <a:srgbClr val="000000"/>
              </a:buClr>
              <a:buSzPts val="1800"/>
              <a:buChar char="•"/>
              <a:defRPr/>
            </a:lvl8pPr>
            <a:lvl9pPr marL="4114800" lvl="8" indent="-342900" algn="l">
              <a:spcBef>
                <a:spcPts val="4200"/>
              </a:spcBef>
              <a:spcAft>
                <a:spcPts val="0"/>
              </a:spcAft>
              <a:buClr>
                <a:srgbClr val="000000"/>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24"/>
          <p:cNvSpPr txBox="1">
            <a:spLocks noGrp="1"/>
          </p:cNvSpPr>
          <p:nvPr>
            <p:ph type="ctrTitle"/>
          </p:nvPr>
        </p:nvSpPr>
        <p:spPr>
          <a:xfrm>
            <a:off x="974725" y="3030538"/>
            <a:ext cx="11055350" cy="2090737"/>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124"/>
          <p:cNvSpPr txBox="1">
            <a:spLocks noGrp="1"/>
          </p:cNvSpPr>
          <p:nvPr>
            <p:ph type="subTitle" idx="1"/>
          </p:nvPr>
        </p:nvSpPr>
        <p:spPr>
          <a:xfrm>
            <a:off x="1951038" y="5527675"/>
            <a:ext cx="9102725" cy="2492375"/>
          </a:xfrm>
          <a:prstGeom prst="rect">
            <a:avLst/>
          </a:prstGeom>
          <a:noFill/>
          <a:ln>
            <a:noFill/>
          </a:ln>
        </p:spPr>
        <p:txBody>
          <a:bodyPr spcFirstLastPara="1" wrap="square" lIns="50800" tIns="50800" rIns="50800" bIns="50800" anchor="ctr" anchorCtr="0">
            <a:noAutofit/>
          </a:bodyPr>
          <a:lstStyle>
            <a:lvl1pPr lvl="0" algn="ctr">
              <a:spcBef>
                <a:spcPts val="4200"/>
              </a:spcBef>
              <a:spcAft>
                <a:spcPts val="0"/>
              </a:spcAft>
              <a:buClr>
                <a:srgbClr val="000000"/>
              </a:buClr>
              <a:buSzPts val="3800"/>
              <a:buFont typeface="Helvetica Neue Light"/>
              <a:buNone/>
              <a:defRPr/>
            </a:lvl1pPr>
            <a:lvl2pPr lvl="1" algn="ctr">
              <a:spcBef>
                <a:spcPts val="4200"/>
              </a:spcBef>
              <a:spcAft>
                <a:spcPts val="0"/>
              </a:spcAft>
              <a:buClr>
                <a:srgbClr val="000000"/>
              </a:buClr>
              <a:buSzPts val="3800"/>
              <a:buFont typeface="Helvetica Neue Light"/>
              <a:buNone/>
              <a:defRPr/>
            </a:lvl2pPr>
            <a:lvl3pPr lvl="2" algn="ctr">
              <a:spcBef>
                <a:spcPts val="4200"/>
              </a:spcBef>
              <a:spcAft>
                <a:spcPts val="0"/>
              </a:spcAft>
              <a:buClr>
                <a:srgbClr val="000000"/>
              </a:buClr>
              <a:buSzPts val="3800"/>
              <a:buFont typeface="Helvetica Neue Light"/>
              <a:buNone/>
              <a:defRPr/>
            </a:lvl3pPr>
            <a:lvl4pPr lvl="3" algn="ctr">
              <a:spcBef>
                <a:spcPts val="4200"/>
              </a:spcBef>
              <a:spcAft>
                <a:spcPts val="0"/>
              </a:spcAft>
              <a:buClr>
                <a:srgbClr val="000000"/>
              </a:buClr>
              <a:buSzPts val="3800"/>
              <a:buFont typeface="Helvetica Neue Light"/>
              <a:buNone/>
              <a:defRPr/>
            </a:lvl4pPr>
            <a:lvl5pPr lvl="4" algn="ctr">
              <a:spcBef>
                <a:spcPts val="4200"/>
              </a:spcBef>
              <a:spcAft>
                <a:spcPts val="0"/>
              </a:spcAft>
              <a:buClr>
                <a:srgbClr val="000000"/>
              </a:buClr>
              <a:buSzPts val="3800"/>
              <a:buFont typeface="Helvetica Neue Light"/>
              <a:buNone/>
              <a:defRPr/>
            </a:lvl5pPr>
            <a:lvl6pPr lvl="5" algn="ctr">
              <a:spcBef>
                <a:spcPts val="4200"/>
              </a:spcBef>
              <a:spcAft>
                <a:spcPts val="0"/>
              </a:spcAft>
              <a:buClr>
                <a:srgbClr val="000000"/>
              </a:buClr>
              <a:buSzPts val="3800"/>
              <a:buFont typeface="Helvetica Neue Light"/>
              <a:buNone/>
              <a:defRPr/>
            </a:lvl6pPr>
            <a:lvl7pPr lvl="6" algn="ctr">
              <a:spcBef>
                <a:spcPts val="4200"/>
              </a:spcBef>
              <a:spcAft>
                <a:spcPts val="0"/>
              </a:spcAft>
              <a:buClr>
                <a:srgbClr val="000000"/>
              </a:buClr>
              <a:buSzPts val="3800"/>
              <a:buFont typeface="Helvetica Neue Light"/>
              <a:buNone/>
              <a:defRPr/>
            </a:lvl7pPr>
            <a:lvl8pPr lvl="7" algn="ctr">
              <a:spcBef>
                <a:spcPts val="4200"/>
              </a:spcBef>
              <a:spcAft>
                <a:spcPts val="0"/>
              </a:spcAft>
              <a:buClr>
                <a:srgbClr val="000000"/>
              </a:buClr>
              <a:buSzPts val="3800"/>
              <a:buFont typeface="Helvetica Neue Light"/>
              <a:buNone/>
              <a:defRPr/>
            </a:lvl8pPr>
            <a:lvl9pPr lvl="8" algn="ctr">
              <a:spcBef>
                <a:spcPts val="4200"/>
              </a:spcBef>
              <a:spcAft>
                <a:spcPts val="0"/>
              </a:spcAft>
              <a:buClr>
                <a:srgbClr val="000000"/>
              </a:buClr>
              <a:buSzPts val="3800"/>
              <a:buFont typeface="Helvetica Neue Ligh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125"/>
          <p:cNvSpPr txBox="1">
            <a:spLocks noGrp="1"/>
          </p:cNvSpPr>
          <p:nvPr>
            <p:ph type="title"/>
          </p:nvPr>
        </p:nvSpPr>
        <p:spPr>
          <a:xfrm>
            <a:off x="1027113" y="6267450"/>
            <a:ext cx="11053762" cy="1936750"/>
          </a:xfrm>
          <a:prstGeom prst="rect">
            <a:avLst/>
          </a:prstGeom>
          <a:noFill/>
          <a:ln>
            <a:noFill/>
          </a:ln>
        </p:spPr>
        <p:txBody>
          <a:bodyPr spcFirstLastPara="1" wrap="square" lIns="50800" tIns="50800" rIns="50800" bIns="508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6" name="Google Shape;26;p125"/>
          <p:cNvSpPr txBox="1">
            <a:spLocks noGrp="1"/>
          </p:cNvSpPr>
          <p:nvPr>
            <p:ph type="body" idx="1"/>
          </p:nvPr>
        </p:nvSpPr>
        <p:spPr>
          <a:xfrm>
            <a:off x="1027113" y="4133850"/>
            <a:ext cx="11053762" cy="2133600"/>
          </a:xfrm>
          <a:prstGeom prst="rect">
            <a:avLst/>
          </a:prstGeom>
          <a:noFill/>
          <a:ln>
            <a:noFill/>
          </a:ln>
        </p:spPr>
        <p:txBody>
          <a:bodyPr spcFirstLastPara="1" wrap="square" lIns="50800" tIns="50800" rIns="50800" bIns="50800" anchor="b" anchorCtr="0">
            <a:noAutofit/>
          </a:bodyPr>
          <a:lstStyle>
            <a:lvl1pPr marL="457200" lvl="0" indent="-228600" algn="l">
              <a:spcBef>
                <a:spcPts val="4200"/>
              </a:spcBef>
              <a:spcAft>
                <a:spcPts val="0"/>
              </a:spcAft>
              <a:buClr>
                <a:srgbClr val="000000"/>
              </a:buClr>
              <a:buSzPts val="2000"/>
              <a:buFont typeface="Helvetica Neue Light"/>
              <a:buNone/>
              <a:defRPr sz="2000"/>
            </a:lvl1pPr>
            <a:lvl2pPr marL="914400" lvl="1" indent="-228600" algn="l">
              <a:spcBef>
                <a:spcPts val="4200"/>
              </a:spcBef>
              <a:spcAft>
                <a:spcPts val="0"/>
              </a:spcAft>
              <a:buClr>
                <a:srgbClr val="000000"/>
              </a:buClr>
              <a:buSzPts val="1800"/>
              <a:buFont typeface="Helvetica Neue Light"/>
              <a:buNone/>
              <a:defRPr sz="1800"/>
            </a:lvl2pPr>
            <a:lvl3pPr marL="1371600" lvl="2" indent="-228600" algn="l">
              <a:spcBef>
                <a:spcPts val="4200"/>
              </a:spcBef>
              <a:spcAft>
                <a:spcPts val="0"/>
              </a:spcAft>
              <a:buClr>
                <a:srgbClr val="000000"/>
              </a:buClr>
              <a:buSzPts val="1600"/>
              <a:buFont typeface="Helvetica Neue Light"/>
              <a:buNone/>
              <a:defRPr sz="1600"/>
            </a:lvl3pPr>
            <a:lvl4pPr marL="1828800" lvl="3" indent="-228600" algn="l">
              <a:spcBef>
                <a:spcPts val="4200"/>
              </a:spcBef>
              <a:spcAft>
                <a:spcPts val="0"/>
              </a:spcAft>
              <a:buClr>
                <a:srgbClr val="000000"/>
              </a:buClr>
              <a:buSzPts val="1400"/>
              <a:buFont typeface="Helvetica Neue Light"/>
              <a:buNone/>
              <a:defRPr sz="1400"/>
            </a:lvl4pPr>
            <a:lvl5pPr marL="2286000" lvl="4" indent="-228600" algn="l">
              <a:spcBef>
                <a:spcPts val="4200"/>
              </a:spcBef>
              <a:spcAft>
                <a:spcPts val="0"/>
              </a:spcAft>
              <a:buClr>
                <a:srgbClr val="000000"/>
              </a:buClr>
              <a:buSzPts val="1400"/>
              <a:buFont typeface="Helvetica Neue Light"/>
              <a:buNone/>
              <a:defRPr sz="1400"/>
            </a:lvl5pPr>
            <a:lvl6pPr marL="2743200" lvl="5" indent="-228600" algn="l">
              <a:spcBef>
                <a:spcPts val="4200"/>
              </a:spcBef>
              <a:spcAft>
                <a:spcPts val="0"/>
              </a:spcAft>
              <a:buClr>
                <a:srgbClr val="000000"/>
              </a:buClr>
              <a:buSzPts val="1400"/>
              <a:buFont typeface="Helvetica Neue Light"/>
              <a:buNone/>
              <a:defRPr sz="1400"/>
            </a:lvl6pPr>
            <a:lvl7pPr marL="3200400" lvl="6" indent="-228600" algn="l">
              <a:spcBef>
                <a:spcPts val="4200"/>
              </a:spcBef>
              <a:spcAft>
                <a:spcPts val="0"/>
              </a:spcAft>
              <a:buClr>
                <a:srgbClr val="000000"/>
              </a:buClr>
              <a:buSzPts val="1400"/>
              <a:buFont typeface="Helvetica Neue Light"/>
              <a:buNone/>
              <a:defRPr sz="1400"/>
            </a:lvl7pPr>
            <a:lvl8pPr marL="3657600" lvl="7" indent="-228600" algn="l">
              <a:spcBef>
                <a:spcPts val="4200"/>
              </a:spcBef>
              <a:spcAft>
                <a:spcPts val="0"/>
              </a:spcAft>
              <a:buClr>
                <a:srgbClr val="000000"/>
              </a:buClr>
              <a:buSzPts val="1400"/>
              <a:buFont typeface="Helvetica Neue Light"/>
              <a:buNone/>
              <a:defRPr sz="1400"/>
            </a:lvl8pPr>
            <a:lvl9pPr marL="4114800" lvl="8" indent="-228600" algn="l">
              <a:spcBef>
                <a:spcPts val="4200"/>
              </a:spcBef>
              <a:spcAft>
                <a:spcPts val="0"/>
              </a:spcAft>
              <a:buClr>
                <a:srgbClr val="000000"/>
              </a:buClr>
              <a:buSzPts val="1400"/>
              <a:buFont typeface="Helvetica Neue Light"/>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126"/>
          <p:cNvSpPr txBox="1">
            <a:spLocks noGrp="1"/>
          </p:cNvSpPr>
          <p:nvPr>
            <p:ph type="title"/>
          </p:nvPr>
        </p:nvSpPr>
        <p:spPr>
          <a:xfrm>
            <a:off x="1270000" y="254000"/>
            <a:ext cx="10464800" cy="24384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126"/>
          <p:cNvSpPr txBox="1">
            <a:spLocks noGrp="1"/>
          </p:cNvSpPr>
          <p:nvPr>
            <p:ph type="body" idx="1"/>
          </p:nvPr>
        </p:nvSpPr>
        <p:spPr>
          <a:xfrm>
            <a:off x="1270000" y="2768600"/>
            <a:ext cx="5156200" cy="5715000"/>
          </a:xfrm>
          <a:prstGeom prst="rect">
            <a:avLst/>
          </a:prstGeom>
          <a:noFill/>
          <a:ln>
            <a:noFill/>
          </a:ln>
        </p:spPr>
        <p:txBody>
          <a:bodyPr spcFirstLastPara="1" wrap="square" lIns="50800" tIns="50800" rIns="50800" bIns="50800" anchor="ctr" anchorCtr="0">
            <a:noAutofit/>
          </a:bodyPr>
          <a:lstStyle>
            <a:lvl1pPr marL="457200" lvl="0" indent="-406400" algn="l">
              <a:spcBef>
                <a:spcPts val="4200"/>
              </a:spcBef>
              <a:spcAft>
                <a:spcPts val="0"/>
              </a:spcAft>
              <a:buClr>
                <a:srgbClr val="000000"/>
              </a:buClr>
              <a:buSzPts val="2800"/>
              <a:buFont typeface="Helvetica Neue Light"/>
              <a:buChar char="•"/>
              <a:defRPr sz="2800"/>
            </a:lvl1pPr>
            <a:lvl2pPr marL="914400" lvl="1" indent="-381000" algn="l">
              <a:spcBef>
                <a:spcPts val="4200"/>
              </a:spcBef>
              <a:spcAft>
                <a:spcPts val="0"/>
              </a:spcAft>
              <a:buClr>
                <a:srgbClr val="000000"/>
              </a:buClr>
              <a:buSzPts val="2400"/>
              <a:buFont typeface="Helvetica Neue Light"/>
              <a:buChar char="•"/>
              <a:defRPr sz="2400"/>
            </a:lvl2pPr>
            <a:lvl3pPr marL="1371600" lvl="2" indent="-355600" algn="l">
              <a:spcBef>
                <a:spcPts val="4200"/>
              </a:spcBef>
              <a:spcAft>
                <a:spcPts val="0"/>
              </a:spcAft>
              <a:buClr>
                <a:srgbClr val="000000"/>
              </a:buClr>
              <a:buSzPts val="2000"/>
              <a:buFont typeface="Helvetica Neue Light"/>
              <a:buChar char="•"/>
              <a:defRPr sz="2000"/>
            </a:lvl3pPr>
            <a:lvl4pPr marL="1828800" lvl="3" indent="-342900" algn="l">
              <a:spcBef>
                <a:spcPts val="4200"/>
              </a:spcBef>
              <a:spcAft>
                <a:spcPts val="0"/>
              </a:spcAft>
              <a:buClr>
                <a:srgbClr val="000000"/>
              </a:buClr>
              <a:buSzPts val="1800"/>
              <a:buFont typeface="Helvetica Neue Light"/>
              <a:buChar char="•"/>
              <a:defRPr sz="1800"/>
            </a:lvl4pPr>
            <a:lvl5pPr marL="2286000" lvl="4" indent="-342900" algn="l">
              <a:spcBef>
                <a:spcPts val="4200"/>
              </a:spcBef>
              <a:spcAft>
                <a:spcPts val="0"/>
              </a:spcAft>
              <a:buClr>
                <a:srgbClr val="000000"/>
              </a:buClr>
              <a:buSzPts val="1800"/>
              <a:buFont typeface="Helvetica Neue Light"/>
              <a:buChar char="•"/>
              <a:defRPr sz="1800"/>
            </a:lvl5pPr>
            <a:lvl6pPr marL="2743200" lvl="5" indent="-342900" algn="l">
              <a:spcBef>
                <a:spcPts val="4200"/>
              </a:spcBef>
              <a:spcAft>
                <a:spcPts val="0"/>
              </a:spcAft>
              <a:buClr>
                <a:srgbClr val="000000"/>
              </a:buClr>
              <a:buSzPts val="1800"/>
              <a:buFont typeface="Helvetica Neue Light"/>
              <a:buChar char="•"/>
              <a:defRPr sz="1800"/>
            </a:lvl6pPr>
            <a:lvl7pPr marL="3200400" lvl="6" indent="-342900" algn="l">
              <a:spcBef>
                <a:spcPts val="4200"/>
              </a:spcBef>
              <a:spcAft>
                <a:spcPts val="0"/>
              </a:spcAft>
              <a:buClr>
                <a:srgbClr val="000000"/>
              </a:buClr>
              <a:buSzPts val="1800"/>
              <a:buFont typeface="Helvetica Neue Light"/>
              <a:buChar char="•"/>
              <a:defRPr sz="1800"/>
            </a:lvl7pPr>
            <a:lvl8pPr marL="3657600" lvl="7" indent="-342900" algn="l">
              <a:spcBef>
                <a:spcPts val="4200"/>
              </a:spcBef>
              <a:spcAft>
                <a:spcPts val="0"/>
              </a:spcAft>
              <a:buClr>
                <a:srgbClr val="000000"/>
              </a:buClr>
              <a:buSzPts val="1800"/>
              <a:buFont typeface="Helvetica Neue Light"/>
              <a:buChar char="•"/>
              <a:defRPr sz="1800"/>
            </a:lvl8pPr>
            <a:lvl9pPr marL="4114800" lvl="8" indent="-342900" algn="l">
              <a:spcBef>
                <a:spcPts val="4200"/>
              </a:spcBef>
              <a:spcAft>
                <a:spcPts val="0"/>
              </a:spcAft>
              <a:buClr>
                <a:srgbClr val="000000"/>
              </a:buClr>
              <a:buSzPts val="1800"/>
              <a:buFont typeface="Helvetica Neue Light"/>
              <a:buChar char="•"/>
              <a:defRPr sz="1800"/>
            </a:lvl9pPr>
          </a:lstStyle>
          <a:p>
            <a:endParaRPr/>
          </a:p>
        </p:txBody>
      </p:sp>
      <p:sp>
        <p:nvSpPr>
          <p:cNvPr id="30" name="Google Shape;30;p126"/>
          <p:cNvSpPr txBox="1">
            <a:spLocks noGrp="1"/>
          </p:cNvSpPr>
          <p:nvPr>
            <p:ph type="body" idx="2"/>
          </p:nvPr>
        </p:nvSpPr>
        <p:spPr>
          <a:xfrm>
            <a:off x="6578600" y="2768600"/>
            <a:ext cx="5156200" cy="5715000"/>
          </a:xfrm>
          <a:prstGeom prst="rect">
            <a:avLst/>
          </a:prstGeom>
          <a:noFill/>
          <a:ln>
            <a:noFill/>
          </a:ln>
        </p:spPr>
        <p:txBody>
          <a:bodyPr spcFirstLastPara="1" wrap="square" lIns="50800" tIns="50800" rIns="50800" bIns="50800" anchor="ctr" anchorCtr="0">
            <a:noAutofit/>
          </a:bodyPr>
          <a:lstStyle>
            <a:lvl1pPr marL="457200" lvl="0" indent="-406400" algn="l">
              <a:spcBef>
                <a:spcPts val="4200"/>
              </a:spcBef>
              <a:spcAft>
                <a:spcPts val="0"/>
              </a:spcAft>
              <a:buClr>
                <a:srgbClr val="000000"/>
              </a:buClr>
              <a:buSzPts val="2800"/>
              <a:buFont typeface="Helvetica Neue Light"/>
              <a:buChar char="•"/>
              <a:defRPr sz="2800"/>
            </a:lvl1pPr>
            <a:lvl2pPr marL="914400" lvl="1" indent="-381000" algn="l">
              <a:spcBef>
                <a:spcPts val="4200"/>
              </a:spcBef>
              <a:spcAft>
                <a:spcPts val="0"/>
              </a:spcAft>
              <a:buClr>
                <a:srgbClr val="000000"/>
              </a:buClr>
              <a:buSzPts val="2400"/>
              <a:buFont typeface="Helvetica Neue Light"/>
              <a:buChar char="•"/>
              <a:defRPr sz="2400"/>
            </a:lvl2pPr>
            <a:lvl3pPr marL="1371600" lvl="2" indent="-355600" algn="l">
              <a:spcBef>
                <a:spcPts val="4200"/>
              </a:spcBef>
              <a:spcAft>
                <a:spcPts val="0"/>
              </a:spcAft>
              <a:buClr>
                <a:srgbClr val="000000"/>
              </a:buClr>
              <a:buSzPts val="2000"/>
              <a:buFont typeface="Helvetica Neue Light"/>
              <a:buChar char="•"/>
              <a:defRPr sz="2000"/>
            </a:lvl3pPr>
            <a:lvl4pPr marL="1828800" lvl="3" indent="-342900" algn="l">
              <a:spcBef>
                <a:spcPts val="4200"/>
              </a:spcBef>
              <a:spcAft>
                <a:spcPts val="0"/>
              </a:spcAft>
              <a:buClr>
                <a:srgbClr val="000000"/>
              </a:buClr>
              <a:buSzPts val="1800"/>
              <a:buFont typeface="Helvetica Neue Light"/>
              <a:buChar char="•"/>
              <a:defRPr sz="1800"/>
            </a:lvl4pPr>
            <a:lvl5pPr marL="2286000" lvl="4" indent="-342900" algn="l">
              <a:spcBef>
                <a:spcPts val="4200"/>
              </a:spcBef>
              <a:spcAft>
                <a:spcPts val="0"/>
              </a:spcAft>
              <a:buClr>
                <a:srgbClr val="000000"/>
              </a:buClr>
              <a:buSzPts val="1800"/>
              <a:buFont typeface="Helvetica Neue Light"/>
              <a:buChar char="•"/>
              <a:defRPr sz="1800"/>
            </a:lvl5pPr>
            <a:lvl6pPr marL="2743200" lvl="5" indent="-342900" algn="l">
              <a:spcBef>
                <a:spcPts val="4200"/>
              </a:spcBef>
              <a:spcAft>
                <a:spcPts val="0"/>
              </a:spcAft>
              <a:buClr>
                <a:srgbClr val="000000"/>
              </a:buClr>
              <a:buSzPts val="1800"/>
              <a:buFont typeface="Helvetica Neue Light"/>
              <a:buChar char="•"/>
              <a:defRPr sz="1800"/>
            </a:lvl6pPr>
            <a:lvl7pPr marL="3200400" lvl="6" indent="-342900" algn="l">
              <a:spcBef>
                <a:spcPts val="4200"/>
              </a:spcBef>
              <a:spcAft>
                <a:spcPts val="0"/>
              </a:spcAft>
              <a:buClr>
                <a:srgbClr val="000000"/>
              </a:buClr>
              <a:buSzPts val="1800"/>
              <a:buFont typeface="Helvetica Neue Light"/>
              <a:buChar char="•"/>
              <a:defRPr sz="1800"/>
            </a:lvl7pPr>
            <a:lvl8pPr marL="3657600" lvl="7" indent="-342900" algn="l">
              <a:spcBef>
                <a:spcPts val="4200"/>
              </a:spcBef>
              <a:spcAft>
                <a:spcPts val="0"/>
              </a:spcAft>
              <a:buClr>
                <a:srgbClr val="000000"/>
              </a:buClr>
              <a:buSzPts val="1800"/>
              <a:buFont typeface="Helvetica Neue Light"/>
              <a:buChar char="•"/>
              <a:defRPr sz="1800"/>
            </a:lvl8pPr>
            <a:lvl9pPr marL="4114800" lvl="8" indent="-342900" algn="l">
              <a:spcBef>
                <a:spcPts val="4200"/>
              </a:spcBef>
              <a:spcAft>
                <a:spcPts val="0"/>
              </a:spcAft>
              <a:buClr>
                <a:srgbClr val="000000"/>
              </a:buClr>
              <a:buSzPts val="1800"/>
              <a:buFont typeface="Helvetica Neue Light"/>
              <a:buChar char="•"/>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127"/>
          <p:cNvSpPr txBox="1">
            <a:spLocks noGrp="1"/>
          </p:cNvSpPr>
          <p:nvPr>
            <p:ph type="title"/>
          </p:nvPr>
        </p:nvSpPr>
        <p:spPr>
          <a:xfrm>
            <a:off x="1270000" y="254000"/>
            <a:ext cx="10464800" cy="24384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4"/>
        <p:cNvGrpSpPr/>
        <p:nvPr/>
      </p:nvGrpSpPr>
      <p:grpSpPr>
        <a:xfrm>
          <a:off x="0" y="0"/>
          <a:ext cx="0" cy="0"/>
          <a:chOff x="0" y="0"/>
          <a:chExt cx="0" cy="0"/>
        </a:xfrm>
      </p:grpSpPr>
      <p:sp>
        <p:nvSpPr>
          <p:cNvPr id="35" name="Google Shape;35;p129"/>
          <p:cNvSpPr txBox="1">
            <a:spLocks noGrp="1"/>
          </p:cNvSpPr>
          <p:nvPr>
            <p:ph type="title"/>
          </p:nvPr>
        </p:nvSpPr>
        <p:spPr>
          <a:xfrm>
            <a:off x="2549525" y="6827838"/>
            <a:ext cx="7802563" cy="806450"/>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129"/>
          <p:cNvSpPr>
            <a:spLocks noGrp="1"/>
          </p:cNvSpPr>
          <p:nvPr>
            <p:ph type="pic" idx="2"/>
          </p:nvPr>
        </p:nvSpPr>
        <p:spPr>
          <a:xfrm>
            <a:off x="2549525" y="871538"/>
            <a:ext cx="7802563" cy="5851525"/>
          </a:xfrm>
          <a:prstGeom prst="rect">
            <a:avLst/>
          </a:prstGeom>
          <a:noFill/>
          <a:ln>
            <a:noFill/>
          </a:ln>
        </p:spPr>
      </p:sp>
      <p:sp>
        <p:nvSpPr>
          <p:cNvPr id="37" name="Google Shape;37;p129"/>
          <p:cNvSpPr txBox="1">
            <a:spLocks noGrp="1"/>
          </p:cNvSpPr>
          <p:nvPr>
            <p:ph type="body" idx="1"/>
          </p:nvPr>
        </p:nvSpPr>
        <p:spPr>
          <a:xfrm>
            <a:off x="2549525" y="7634288"/>
            <a:ext cx="7802563" cy="1144587"/>
          </a:xfrm>
          <a:prstGeom prst="rect">
            <a:avLst/>
          </a:prstGeom>
          <a:noFill/>
          <a:ln>
            <a:noFill/>
          </a:ln>
        </p:spPr>
        <p:txBody>
          <a:bodyPr spcFirstLastPara="1" wrap="square" lIns="50800" tIns="50800" rIns="50800" bIns="50800" anchor="ctr" anchorCtr="0">
            <a:noAutofit/>
          </a:bodyPr>
          <a:lstStyle>
            <a:lvl1pPr marL="457200" lvl="0" indent="-228600" algn="l">
              <a:spcBef>
                <a:spcPts val="4200"/>
              </a:spcBef>
              <a:spcAft>
                <a:spcPts val="0"/>
              </a:spcAft>
              <a:buClr>
                <a:srgbClr val="000000"/>
              </a:buClr>
              <a:buSzPts val="1400"/>
              <a:buFont typeface="Helvetica Neue Light"/>
              <a:buNone/>
              <a:defRPr sz="1400"/>
            </a:lvl1pPr>
            <a:lvl2pPr marL="914400" lvl="1" indent="-228600" algn="l">
              <a:spcBef>
                <a:spcPts val="4200"/>
              </a:spcBef>
              <a:spcAft>
                <a:spcPts val="0"/>
              </a:spcAft>
              <a:buClr>
                <a:srgbClr val="000000"/>
              </a:buClr>
              <a:buSzPts val="1200"/>
              <a:buFont typeface="Helvetica Neue Light"/>
              <a:buNone/>
              <a:defRPr sz="1200"/>
            </a:lvl2pPr>
            <a:lvl3pPr marL="1371600" lvl="2" indent="-228600" algn="l">
              <a:spcBef>
                <a:spcPts val="4200"/>
              </a:spcBef>
              <a:spcAft>
                <a:spcPts val="0"/>
              </a:spcAft>
              <a:buClr>
                <a:srgbClr val="000000"/>
              </a:buClr>
              <a:buSzPts val="1000"/>
              <a:buFont typeface="Helvetica Neue Light"/>
              <a:buNone/>
              <a:defRPr sz="1000"/>
            </a:lvl3pPr>
            <a:lvl4pPr marL="1828800" lvl="3" indent="-228600" algn="l">
              <a:spcBef>
                <a:spcPts val="4200"/>
              </a:spcBef>
              <a:spcAft>
                <a:spcPts val="0"/>
              </a:spcAft>
              <a:buClr>
                <a:srgbClr val="000000"/>
              </a:buClr>
              <a:buSzPts val="900"/>
              <a:buFont typeface="Helvetica Neue Light"/>
              <a:buNone/>
              <a:defRPr sz="900"/>
            </a:lvl4pPr>
            <a:lvl5pPr marL="2286000" lvl="4" indent="-228600" algn="l">
              <a:spcBef>
                <a:spcPts val="4200"/>
              </a:spcBef>
              <a:spcAft>
                <a:spcPts val="0"/>
              </a:spcAft>
              <a:buClr>
                <a:srgbClr val="000000"/>
              </a:buClr>
              <a:buSzPts val="900"/>
              <a:buFont typeface="Helvetica Neue Light"/>
              <a:buNone/>
              <a:defRPr sz="900"/>
            </a:lvl5pPr>
            <a:lvl6pPr marL="2743200" lvl="5" indent="-228600" algn="l">
              <a:spcBef>
                <a:spcPts val="4200"/>
              </a:spcBef>
              <a:spcAft>
                <a:spcPts val="0"/>
              </a:spcAft>
              <a:buClr>
                <a:srgbClr val="000000"/>
              </a:buClr>
              <a:buSzPts val="900"/>
              <a:buFont typeface="Helvetica Neue Light"/>
              <a:buNone/>
              <a:defRPr sz="900"/>
            </a:lvl6pPr>
            <a:lvl7pPr marL="3200400" lvl="6" indent="-228600" algn="l">
              <a:spcBef>
                <a:spcPts val="4200"/>
              </a:spcBef>
              <a:spcAft>
                <a:spcPts val="0"/>
              </a:spcAft>
              <a:buClr>
                <a:srgbClr val="000000"/>
              </a:buClr>
              <a:buSzPts val="900"/>
              <a:buFont typeface="Helvetica Neue Light"/>
              <a:buNone/>
              <a:defRPr sz="900"/>
            </a:lvl7pPr>
            <a:lvl8pPr marL="3657600" lvl="7" indent="-228600" algn="l">
              <a:spcBef>
                <a:spcPts val="4200"/>
              </a:spcBef>
              <a:spcAft>
                <a:spcPts val="0"/>
              </a:spcAft>
              <a:buClr>
                <a:srgbClr val="000000"/>
              </a:buClr>
              <a:buSzPts val="900"/>
              <a:buFont typeface="Helvetica Neue Light"/>
              <a:buNone/>
              <a:defRPr sz="900"/>
            </a:lvl8pPr>
            <a:lvl9pPr marL="4114800" lvl="8" indent="-228600" algn="l">
              <a:spcBef>
                <a:spcPts val="4200"/>
              </a:spcBef>
              <a:spcAft>
                <a:spcPts val="0"/>
              </a:spcAft>
              <a:buClr>
                <a:srgbClr val="000000"/>
              </a:buClr>
              <a:buSzPts val="900"/>
              <a:buFont typeface="Helvetica Neue Light"/>
              <a:buNone/>
              <a:defRPr sz="9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8"/>
        <p:cNvGrpSpPr/>
        <p:nvPr/>
      </p:nvGrpSpPr>
      <p:grpSpPr>
        <a:xfrm>
          <a:off x="0" y="0"/>
          <a:ext cx="0" cy="0"/>
          <a:chOff x="0" y="0"/>
          <a:chExt cx="0" cy="0"/>
        </a:xfrm>
      </p:grpSpPr>
      <p:sp>
        <p:nvSpPr>
          <p:cNvPr id="39" name="Google Shape;39;p130"/>
          <p:cNvSpPr txBox="1">
            <a:spLocks noGrp="1"/>
          </p:cNvSpPr>
          <p:nvPr>
            <p:ph type="title"/>
          </p:nvPr>
        </p:nvSpPr>
        <p:spPr>
          <a:xfrm>
            <a:off x="1270000" y="254000"/>
            <a:ext cx="10464800" cy="24384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130"/>
          <p:cNvSpPr txBox="1">
            <a:spLocks noGrp="1"/>
          </p:cNvSpPr>
          <p:nvPr>
            <p:ph type="body" idx="1"/>
          </p:nvPr>
        </p:nvSpPr>
        <p:spPr>
          <a:xfrm rot="5400000">
            <a:off x="3644900" y="393700"/>
            <a:ext cx="5715000" cy="10464800"/>
          </a:xfrm>
          <a:prstGeom prst="rect">
            <a:avLst/>
          </a:prstGeom>
          <a:noFill/>
          <a:ln>
            <a:noFill/>
          </a:ln>
        </p:spPr>
        <p:txBody>
          <a:bodyPr spcFirstLastPara="1" wrap="square" lIns="50800" tIns="50800" rIns="50800" bIns="50800" anchor="ctr" anchorCtr="0">
            <a:noAutofit/>
          </a:bodyPr>
          <a:lstStyle>
            <a:lvl1pPr marL="457200" lvl="0" indent="-342900" algn="l">
              <a:spcBef>
                <a:spcPts val="4200"/>
              </a:spcBef>
              <a:spcAft>
                <a:spcPts val="0"/>
              </a:spcAft>
              <a:buClr>
                <a:srgbClr val="000000"/>
              </a:buClr>
              <a:buSzPts val="1800"/>
              <a:buChar char="•"/>
              <a:defRPr/>
            </a:lvl1pPr>
            <a:lvl2pPr marL="914400" lvl="1" indent="-342900" algn="l">
              <a:spcBef>
                <a:spcPts val="4200"/>
              </a:spcBef>
              <a:spcAft>
                <a:spcPts val="0"/>
              </a:spcAft>
              <a:buClr>
                <a:srgbClr val="000000"/>
              </a:buClr>
              <a:buSzPts val="1800"/>
              <a:buChar char="•"/>
              <a:defRPr/>
            </a:lvl2pPr>
            <a:lvl3pPr marL="1371600" lvl="2" indent="-342900" algn="l">
              <a:spcBef>
                <a:spcPts val="4200"/>
              </a:spcBef>
              <a:spcAft>
                <a:spcPts val="0"/>
              </a:spcAft>
              <a:buClr>
                <a:srgbClr val="000000"/>
              </a:buClr>
              <a:buSzPts val="1800"/>
              <a:buChar char="•"/>
              <a:defRPr/>
            </a:lvl3pPr>
            <a:lvl4pPr marL="1828800" lvl="3" indent="-342900" algn="l">
              <a:spcBef>
                <a:spcPts val="4200"/>
              </a:spcBef>
              <a:spcAft>
                <a:spcPts val="0"/>
              </a:spcAft>
              <a:buClr>
                <a:srgbClr val="000000"/>
              </a:buClr>
              <a:buSzPts val="1800"/>
              <a:buChar char="•"/>
              <a:defRPr/>
            </a:lvl4pPr>
            <a:lvl5pPr marL="2286000" lvl="4" indent="-342900" algn="l">
              <a:spcBef>
                <a:spcPts val="4200"/>
              </a:spcBef>
              <a:spcAft>
                <a:spcPts val="0"/>
              </a:spcAft>
              <a:buClr>
                <a:srgbClr val="000000"/>
              </a:buClr>
              <a:buSzPts val="1800"/>
              <a:buChar char="•"/>
              <a:defRPr/>
            </a:lvl5pPr>
            <a:lvl6pPr marL="2743200" lvl="5" indent="-342900" algn="l">
              <a:spcBef>
                <a:spcPts val="4200"/>
              </a:spcBef>
              <a:spcAft>
                <a:spcPts val="0"/>
              </a:spcAft>
              <a:buClr>
                <a:srgbClr val="000000"/>
              </a:buClr>
              <a:buSzPts val="1800"/>
              <a:buChar char="•"/>
              <a:defRPr/>
            </a:lvl6pPr>
            <a:lvl7pPr marL="3200400" lvl="6" indent="-342900" algn="l">
              <a:spcBef>
                <a:spcPts val="4200"/>
              </a:spcBef>
              <a:spcAft>
                <a:spcPts val="0"/>
              </a:spcAft>
              <a:buClr>
                <a:srgbClr val="000000"/>
              </a:buClr>
              <a:buSzPts val="1800"/>
              <a:buChar char="•"/>
              <a:defRPr/>
            </a:lvl7pPr>
            <a:lvl8pPr marL="3657600" lvl="7" indent="-342900" algn="l">
              <a:spcBef>
                <a:spcPts val="4200"/>
              </a:spcBef>
              <a:spcAft>
                <a:spcPts val="0"/>
              </a:spcAft>
              <a:buClr>
                <a:srgbClr val="000000"/>
              </a:buClr>
              <a:buSzPts val="1800"/>
              <a:buChar char="•"/>
              <a:defRPr/>
            </a:lvl8pPr>
            <a:lvl9pPr marL="4114800" lvl="8" indent="-342900" algn="l">
              <a:spcBef>
                <a:spcPts val="4200"/>
              </a:spcBef>
              <a:spcAft>
                <a:spcPts val="0"/>
              </a:spcAft>
              <a:buClr>
                <a:srgbClr val="000000"/>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1"/>
        <p:cNvGrpSpPr/>
        <p:nvPr/>
      </p:nvGrpSpPr>
      <p:grpSpPr>
        <a:xfrm>
          <a:off x="0" y="0"/>
          <a:ext cx="0" cy="0"/>
          <a:chOff x="0" y="0"/>
          <a:chExt cx="0" cy="0"/>
        </a:xfrm>
      </p:grpSpPr>
      <p:sp>
        <p:nvSpPr>
          <p:cNvPr id="42" name="Google Shape;42;p131"/>
          <p:cNvSpPr txBox="1">
            <a:spLocks noGrp="1"/>
          </p:cNvSpPr>
          <p:nvPr>
            <p:ph type="title"/>
          </p:nvPr>
        </p:nvSpPr>
        <p:spPr>
          <a:xfrm rot="5400000">
            <a:off x="6311900" y="3060700"/>
            <a:ext cx="8229600" cy="26162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131"/>
          <p:cNvSpPr txBox="1">
            <a:spLocks noGrp="1"/>
          </p:cNvSpPr>
          <p:nvPr>
            <p:ph type="body" idx="1"/>
          </p:nvPr>
        </p:nvSpPr>
        <p:spPr>
          <a:xfrm rot="5400000">
            <a:off x="1003300" y="520700"/>
            <a:ext cx="8229600" cy="7696200"/>
          </a:xfrm>
          <a:prstGeom prst="rect">
            <a:avLst/>
          </a:prstGeom>
          <a:noFill/>
          <a:ln>
            <a:noFill/>
          </a:ln>
        </p:spPr>
        <p:txBody>
          <a:bodyPr spcFirstLastPara="1" wrap="square" lIns="50800" tIns="50800" rIns="50800" bIns="50800" anchor="ctr" anchorCtr="0">
            <a:noAutofit/>
          </a:bodyPr>
          <a:lstStyle>
            <a:lvl1pPr marL="457200" lvl="0" indent="-342900" algn="l">
              <a:spcBef>
                <a:spcPts val="4200"/>
              </a:spcBef>
              <a:spcAft>
                <a:spcPts val="0"/>
              </a:spcAft>
              <a:buClr>
                <a:srgbClr val="000000"/>
              </a:buClr>
              <a:buSzPts val="1800"/>
              <a:buChar char="•"/>
              <a:defRPr/>
            </a:lvl1pPr>
            <a:lvl2pPr marL="914400" lvl="1" indent="-342900" algn="l">
              <a:spcBef>
                <a:spcPts val="4200"/>
              </a:spcBef>
              <a:spcAft>
                <a:spcPts val="0"/>
              </a:spcAft>
              <a:buClr>
                <a:srgbClr val="000000"/>
              </a:buClr>
              <a:buSzPts val="1800"/>
              <a:buChar char="•"/>
              <a:defRPr/>
            </a:lvl2pPr>
            <a:lvl3pPr marL="1371600" lvl="2" indent="-342900" algn="l">
              <a:spcBef>
                <a:spcPts val="4200"/>
              </a:spcBef>
              <a:spcAft>
                <a:spcPts val="0"/>
              </a:spcAft>
              <a:buClr>
                <a:srgbClr val="000000"/>
              </a:buClr>
              <a:buSzPts val="1800"/>
              <a:buChar char="•"/>
              <a:defRPr/>
            </a:lvl3pPr>
            <a:lvl4pPr marL="1828800" lvl="3" indent="-342900" algn="l">
              <a:spcBef>
                <a:spcPts val="4200"/>
              </a:spcBef>
              <a:spcAft>
                <a:spcPts val="0"/>
              </a:spcAft>
              <a:buClr>
                <a:srgbClr val="000000"/>
              </a:buClr>
              <a:buSzPts val="1800"/>
              <a:buChar char="•"/>
              <a:defRPr/>
            </a:lvl4pPr>
            <a:lvl5pPr marL="2286000" lvl="4" indent="-342900" algn="l">
              <a:spcBef>
                <a:spcPts val="4200"/>
              </a:spcBef>
              <a:spcAft>
                <a:spcPts val="0"/>
              </a:spcAft>
              <a:buClr>
                <a:srgbClr val="000000"/>
              </a:buClr>
              <a:buSzPts val="1800"/>
              <a:buChar char="•"/>
              <a:defRPr/>
            </a:lvl5pPr>
            <a:lvl6pPr marL="2743200" lvl="5" indent="-342900" algn="l">
              <a:spcBef>
                <a:spcPts val="4200"/>
              </a:spcBef>
              <a:spcAft>
                <a:spcPts val="0"/>
              </a:spcAft>
              <a:buClr>
                <a:srgbClr val="000000"/>
              </a:buClr>
              <a:buSzPts val="1800"/>
              <a:buChar char="•"/>
              <a:defRPr/>
            </a:lvl6pPr>
            <a:lvl7pPr marL="3200400" lvl="6" indent="-342900" algn="l">
              <a:spcBef>
                <a:spcPts val="4200"/>
              </a:spcBef>
              <a:spcAft>
                <a:spcPts val="0"/>
              </a:spcAft>
              <a:buClr>
                <a:srgbClr val="000000"/>
              </a:buClr>
              <a:buSzPts val="1800"/>
              <a:buChar char="•"/>
              <a:defRPr/>
            </a:lvl7pPr>
            <a:lvl8pPr marL="3657600" lvl="7" indent="-342900" algn="l">
              <a:spcBef>
                <a:spcPts val="4200"/>
              </a:spcBef>
              <a:spcAft>
                <a:spcPts val="0"/>
              </a:spcAft>
              <a:buClr>
                <a:srgbClr val="000000"/>
              </a:buClr>
              <a:buSzPts val="1800"/>
              <a:buChar char="•"/>
              <a:defRPr/>
            </a:lvl8pPr>
            <a:lvl9pPr marL="4114800" lvl="8" indent="-342900" algn="l">
              <a:spcBef>
                <a:spcPts val="4200"/>
              </a:spcBef>
              <a:spcAft>
                <a:spcPts val="0"/>
              </a:spcAft>
              <a:buClr>
                <a:srgbClr val="000000"/>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20"/>
          <p:cNvSpPr txBox="1">
            <a:spLocks noGrp="1"/>
          </p:cNvSpPr>
          <p:nvPr>
            <p:ph type="title"/>
          </p:nvPr>
        </p:nvSpPr>
        <p:spPr>
          <a:xfrm>
            <a:off x="1270000" y="254000"/>
            <a:ext cx="10464800" cy="2438400"/>
          </a:xfrm>
          <a:prstGeom prst="rect">
            <a:avLst/>
          </a:prstGeom>
          <a:noFill/>
          <a:ln>
            <a:noFill/>
          </a:ln>
        </p:spPr>
        <p:txBody>
          <a:bodyPr spcFirstLastPara="1" wrap="square" lIns="50800" tIns="50800" rIns="50800" bIns="50800" anchor="ctr" anchorCtr="0">
            <a:noAutofit/>
          </a:bodyPr>
          <a:lstStyle>
            <a:lvl1pPr marR="0" lvl="0"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1pPr>
            <a:lvl2pPr marR="0" lvl="1"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2pPr>
            <a:lvl3pPr marR="0" lvl="2"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3pPr>
            <a:lvl4pPr marR="0" lvl="3"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4pPr>
            <a:lvl5pPr marR="0" lvl="4"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5pPr>
            <a:lvl6pPr marR="0" lvl="5"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6pPr>
            <a:lvl7pPr marR="0" lvl="6"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7pPr>
            <a:lvl8pPr marR="0" lvl="7"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8pPr>
            <a:lvl9pPr marR="0" lvl="8"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7" name="Google Shape;7;p120"/>
          <p:cNvSpPr txBox="1">
            <a:spLocks noGrp="1"/>
          </p:cNvSpPr>
          <p:nvPr>
            <p:ph type="body" idx="1"/>
          </p:nvPr>
        </p:nvSpPr>
        <p:spPr>
          <a:xfrm>
            <a:off x="1270000" y="2768600"/>
            <a:ext cx="10464800" cy="5715000"/>
          </a:xfrm>
          <a:prstGeom prst="rect">
            <a:avLst/>
          </a:prstGeom>
          <a:noFill/>
          <a:ln>
            <a:noFill/>
          </a:ln>
        </p:spPr>
        <p:txBody>
          <a:bodyPr spcFirstLastPara="1" wrap="square" lIns="50800" tIns="50800" rIns="50800" bIns="50800" anchor="ctr" anchorCtr="0">
            <a:noAutofit/>
          </a:bodyPr>
          <a:lstStyle>
            <a:lvl1pPr marL="457200" marR="0" lvl="0"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1pPr>
            <a:lvl2pPr marL="914400" marR="0" lvl="1"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2pPr>
            <a:lvl3pPr marL="1371600" marR="0" lvl="2"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3pPr>
            <a:lvl4pPr marL="1828800" marR="0" lvl="3"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4pPr>
            <a:lvl5pPr marL="2286000" marR="0" lvl="4"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5pPr>
            <a:lvl6pPr marL="2743200" marR="0" lvl="5"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6pPr>
            <a:lvl7pPr marL="3200400" marR="0" lvl="6"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7pPr>
            <a:lvl8pPr marL="3657600" marR="0" lvl="7"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8pPr>
            <a:lvl9pPr marL="4114800" marR="0" lvl="8"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gfa60496b86_2_0"/>
          <p:cNvSpPr txBox="1">
            <a:spLocks noGrp="1"/>
          </p:cNvSpPr>
          <p:nvPr>
            <p:ph type="title"/>
          </p:nvPr>
        </p:nvSpPr>
        <p:spPr>
          <a:xfrm>
            <a:off x="511600" y="818650"/>
            <a:ext cx="12119100" cy="60018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latin typeface="Arial"/>
                <a:ea typeface="Arial"/>
                <a:cs typeface="Arial"/>
                <a:sym typeface="Arial"/>
              </a:rPr>
              <a:t>Adrenal Disease, Part II</a:t>
            </a:r>
            <a:endParaRPr sz="6200" dirty="0">
              <a:latin typeface="Arial"/>
              <a:ea typeface="Arial"/>
              <a:cs typeface="Arial"/>
              <a:sym typeface="Arial"/>
            </a:endParaRPr>
          </a:p>
          <a:p>
            <a:pPr marL="0" lvl="0" indent="0" algn="ctr" rtl="0">
              <a:spcBef>
                <a:spcPts val="0"/>
              </a:spcBef>
              <a:spcAft>
                <a:spcPts val="0"/>
              </a:spcAft>
              <a:buNone/>
            </a:pPr>
            <a:r>
              <a:rPr lang="en-US" sz="6200" dirty="0">
                <a:latin typeface="Arial"/>
                <a:ea typeface="Arial"/>
                <a:cs typeface="Arial"/>
                <a:sym typeface="Arial"/>
              </a:rPr>
              <a:t>Mineralocorticoids and Adrenal Androgens</a:t>
            </a:r>
            <a:br>
              <a:rPr lang="en-US" sz="6200" dirty="0">
                <a:latin typeface="Arial"/>
                <a:ea typeface="Arial"/>
                <a:cs typeface="Arial"/>
                <a:sym typeface="Arial"/>
              </a:rPr>
            </a:br>
            <a:br>
              <a:rPr lang="en-US" sz="6200" dirty="0">
                <a:latin typeface="Arial"/>
                <a:ea typeface="Arial"/>
                <a:cs typeface="Arial"/>
                <a:sym typeface="Arial"/>
              </a:rPr>
            </a:br>
            <a:r>
              <a:rPr lang="en-US" sz="4600" dirty="0">
                <a:latin typeface="Arial"/>
                <a:ea typeface="Arial"/>
                <a:cs typeface="Arial"/>
                <a:sym typeface="Arial"/>
              </a:rPr>
              <a:t>CMM: Endocrinology			Autumn  2026</a:t>
            </a:r>
            <a:endParaRPr dirty="0"/>
          </a:p>
        </p:txBody>
      </p:sp>
      <p:sp>
        <p:nvSpPr>
          <p:cNvPr id="611" name="Google Shape;611;gfa60496b86_2_0"/>
          <p:cNvSpPr txBox="1">
            <a:spLocks noGrp="1"/>
          </p:cNvSpPr>
          <p:nvPr>
            <p:ph type="body" idx="1"/>
          </p:nvPr>
        </p:nvSpPr>
        <p:spPr>
          <a:xfrm>
            <a:off x="1950200" y="7567500"/>
            <a:ext cx="9104400" cy="1335000"/>
          </a:xfrm>
          <a:prstGeom prst="rect">
            <a:avLst/>
          </a:prstGeom>
          <a:noFill/>
          <a:ln>
            <a:noFill/>
          </a:ln>
        </p:spPr>
        <p:txBody>
          <a:bodyPr spcFirstLastPara="1" wrap="square" lIns="126425" tIns="72225" rIns="126425" bIns="72225" anchor="t" anchorCtr="0">
            <a:noAutofit/>
          </a:bodyPr>
          <a:lstStyle/>
          <a:p>
            <a:pPr marL="0" lvl="0" indent="0" algn="ctr" rtl="0">
              <a:spcBef>
                <a:spcPts val="0"/>
              </a:spcBef>
              <a:spcAft>
                <a:spcPts val="0"/>
              </a:spcAft>
              <a:buClr>
                <a:srgbClr val="000000"/>
              </a:buClr>
              <a:buSzPts val="4000"/>
              <a:buFont typeface="Arial"/>
              <a:buNone/>
            </a:pPr>
            <a:r>
              <a:rPr lang="en-US" sz="4000">
                <a:latin typeface="Arial"/>
                <a:ea typeface="Arial"/>
                <a:cs typeface="Arial"/>
                <a:sym typeface="Arial"/>
              </a:rPr>
              <a:t>Jill-Renae Gulczinski MS, PA-C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86"/>
          <p:cNvSpPr txBox="1">
            <a:spLocks noGrp="1"/>
          </p:cNvSpPr>
          <p:nvPr>
            <p:ph type="title"/>
          </p:nvPr>
        </p:nvSpPr>
        <p:spPr>
          <a:xfrm>
            <a:off x="152400" y="215900"/>
            <a:ext cx="12634913" cy="1408113"/>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ln>
                  <a:solidFill>
                    <a:schemeClr val="tx1"/>
                  </a:solidFill>
                </a:ln>
                <a:solidFill>
                  <a:srgbClr val="FFC000"/>
                </a:solidFill>
                <a:latin typeface="Arial"/>
                <a:ea typeface="Arial"/>
                <a:cs typeface="Arial"/>
                <a:sym typeface="Arial"/>
              </a:rPr>
              <a:t>Renin-Angiotensin-Aldosterone</a:t>
            </a:r>
            <a:r>
              <a:rPr lang="en-US" sz="6200" dirty="0">
                <a:effectLst>
                  <a:outerShdw blurRad="38100" dist="38100" dir="2700000" algn="tl">
                    <a:srgbClr val="000000">
                      <a:alpha val="43137"/>
                    </a:srgbClr>
                  </a:outerShdw>
                </a:effectLst>
                <a:latin typeface="Arial"/>
                <a:ea typeface="Arial"/>
                <a:cs typeface="Arial"/>
                <a:sym typeface="Arial"/>
              </a:rPr>
              <a:t> </a:t>
            </a:r>
            <a:endParaRPr dirty="0">
              <a:effectLst>
                <a:outerShdw blurRad="38100" dist="38100" dir="2700000" algn="tl">
                  <a:srgbClr val="000000">
                    <a:alpha val="43137"/>
                  </a:srgbClr>
                </a:outerShdw>
              </a:effectLst>
            </a:endParaRPr>
          </a:p>
        </p:txBody>
      </p:sp>
      <p:sp>
        <p:nvSpPr>
          <p:cNvPr id="617" name="Google Shape;617;p86"/>
          <p:cNvSpPr txBox="1">
            <a:spLocks noGrp="1"/>
          </p:cNvSpPr>
          <p:nvPr>
            <p:ph type="body" idx="1"/>
          </p:nvPr>
        </p:nvSpPr>
        <p:spPr>
          <a:xfrm>
            <a:off x="152400" y="1733550"/>
            <a:ext cx="12634913" cy="7802563"/>
          </a:xfrm>
          <a:prstGeom prst="rect">
            <a:avLst/>
          </a:prstGeom>
          <a:noFill/>
          <a:ln>
            <a:noFill/>
          </a:ln>
        </p:spPr>
        <p:txBody>
          <a:bodyPr spcFirstLastPara="1" wrap="square" lIns="126425" tIns="72225" rIns="126425" bIns="72225" anchor="t" anchorCtr="0">
            <a:noAutofit/>
          </a:bodyPr>
          <a:lstStyle/>
          <a:p>
            <a:pPr marL="292100" lvl="0" indent="-292100" algn="l" rtl="0">
              <a:spcBef>
                <a:spcPts val="0"/>
              </a:spcBef>
              <a:spcAft>
                <a:spcPts val="0"/>
              </a:spcAft>
              <a:buClr>
                <a:srgbClr val="000000"/>
              </a:buClr>
              <a:buSzPts val="4500"/>
              <a:buFont typeface="Arial"/>
              <a:buChar char="•"/>
            </a:pPr>
            <a:r>
              <a:rPr lang="en-US" sz="4500" b="1" i="1" dirty="0">
                <a:latin typeface="Calibri"/>
                <a:ea typeface="Calibri"/>
                <a:cs typeface="Calibri"/>
                <a:sym typeface="Calibri"/>
              </a:rPr>
              <a:t>Renin</a:t>
            </a:r>
            <a:r>
              <a:rPr lang="en-US" sz="4500" dirty="0">
                <a:latin typeface="Calibri"/>
                <a:ea typeface="Calibri"/>
                <a:cs typeface="Calibri"/>
                <a:sym typeface="Calibri"/>
              </a:rPr>
              <a:t> (an enzyme) is </a:t>
            </a:r>
            <a:r>
              <a:rPr lang="en-US" sz="4500" b="1" i="1" dirty="0">
                <a:latin typeface="Calibri"/>
                <a:ea typeface="Calibri"/>
                <a:cs typeface="Calibri"/>
                <a:sym typeface="Calibri"/>
              </a:rPr>
              <a:t>secreted by the kidney </a:t>
            </a:r>
            <a:r>
              <a:rPr lang="en-US" sz="4500" dirty="0">
                <a:latin typeface="Calibri"/>
                <a:ea typeface="Calibri"/>
                <a:cs typeface="Calibri"/>
                <a:sym typeface="Calibri"/>
              </a:rPr>
              <a:t>when </a:t>
            </a:r>
            <a:r>
              <a:rPr lang="en-US" sz="4500" b="1" i="1" dirty="0">
                <a:latin typeface="Calibri"/>
                <a:ea typeface="Calibri"/>
                <a:cs typeface="Calibri"/>
                <a:sym typeface="Calibri"/>
              </a:rPr>
              <a:t>there is not enough renal blood flow </a:t>
            </a:r>
            <a:r>
              <a:rPr lang="en-US" sz="4500" dirty="0">
                <a:latin typeface="Calibri"/>
                <a:ea typeface="Calibri"/>
                <a:cs typeface="Calibri"/>
                <a:sym typeface="Calibri"/>
              </a:rPr>
              <a:t>or when </a:t>
            </a:r>
            <a:r>
              <a:rPr lang="en-US" sz="4500" b="1" i="1" dirty="0">
                <a:latin typeface="Calibri"/>
                <a:ea typeface="Calibri"/>
                <a:cs typeface="Calibri"/>
                <a:sym typeface="Calibri"/>
              </a:rPr>
              <a:t>hyperkalemia</a:t>
            </a:r>
            <a:r>
              <a:rPr lang="en-US" sz="4500" dirty="0">
                <a:latin typeface="Calibri"/>
                <a:ea typeface="Calibri"/>
                <a:cs typeface="Calibri"/>
                <a:sym typeface="Calibri"/>
              </a:rPr>
              <a:t> is sensed.</a:t>
            </a:r>
            <a:endParaRPr dirty="0"/>
          </a:p>
          <a:p>
            <a:pPr marL="292100" lvl="0" indent="-292100" algn="l" rtl="0">
              <a:spcBef>
                <a:spcPts val="700"/>
              </a:spcBef>
              <a:spcAft>
                <a:spcPts val="0"/>
              </a:spcAft>
              <a:buClr>
                <a:srgbClr val="000000"/>
              </a:buClr>
              <a:buSzPts val="4500"/>
              <a:buFont typeface="Helvetica Neue Light"/>
              <a:buNone/>
            </a:pPr>
            <a:endParaRPr sz="4500" dirty="0">
              <a:latin typeface="Calibri"/>
              <a:ea typeface="Calibri"/>
              <a:cs typeface="Calibri"/>
              <a:sym typeface="Calibri"/>
            </a:endParaRPr>
          </a:p>
          <a:p>
            <a:pPr marL="292100" lvl="0" indent="-292100"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Renin converts angiotensinogen (in the liver) to angiotensin I.</a:t>
            </a:r>
            <a:endParaRPr dirty="0"/>
          </a:p>
          <a:p>
            <a:pPr marL="292100" lvl="0" indent="-292100" algn="l" rtl="0">
              <a:spcBef>
                <a:spcPts val="700"/>
              </a:spcBef>
              <a:spcAft>
                <a:spcPts val="0"/>
              </a:spcAft>
              <a:buClr>
                <a:srgbClr val="000000"/>
              </a:buClr>
              <a:buSzPts val="4500"/>
              <a:buFont typeface="Helvetica Neue Light"/>
              <a:buNone/>
            </a:pPr>
            <a:endParaRPr sz="4500" dirty="0">
              <a:latin typeface="Calibri"/>
              <a:ea typeface="Calibri"/>
              <a:cs typeface="Calibri"/>
              <a:sym typeface="Calibri"/>
            </a:endParaRPr>
          </a:p>
          <a:p>
            <a:pPr marL="292100" lvl="0" indent="-292100"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Angiotensin I is converted to angiotensin II by ACE within the lungs and other tissues. </a:t>
            </a:r>
            <a:endParaRPr sz="4500"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87"/>
          <p:cNvSpPr txBox="1">
            <a:spLocks noGrp="1"/>
          </p:cNvSpPr>
          <p:nvPr>
            <p:ph type="title"/>
          </p:nvPr>
        </p:nvSpPr>
        <p:spPr>
          <a:xfrm>
            <a:off x="0" y="215900"/>
            <a:ext cx="13004800" cy="1408113"/>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ln>
                  <a:solidFill>
                    <a:schemeClr val="tx1"/>
                  </a:solidFill>
                </a:ln>
                <a:solidFill>
                  <a:srgbClr val="FFC000"/>
                </a:solidFill>
                <a:latin typeface="Arial"/>
                <a:ea typeface="Arial"/>
                <a:cs typeface="Arial"/>
                <a:sym typeface="Arial"/>
              </a:rPr>
              <a:t>Renin-Angiotensin-Aldosterone</a:t>
            </a:r>
            <a:r>
              <a:rPr lang="en-US" sz="6200" dirty="0">
                <a:latin typeface="Arial"/>
                <a:ea typeface="Arial"/>
                <a:cs typeface="Arial"/>
                <a:sym typeface="Arial"/>
              </a:rPr>
              <a:t> </a:t>
            </a:r>
            <a:endParaRPr dirty="0"/>
          </a:p>
        </p:txBody>
      </p:sp>
      <p:sp>
        <p:nvSpPr>
          <p:cNvPr id="623" name="Google Shape;623;p87"/>
          <p:cNvSpPr txBox="1">
            <a:spLocks noGrp="1"/>
          </p:cNvSpPr>
          <p:nvPr>
            <p:ph type="body" idx="1"/>
          </p:nvPr>
        </p:nvSpPr>
        <p:spPr>
          <a:xfrm>
            <a:off x="152400" y="1733550"/>
            <a:ext cx="12634913" cy="7802563"/>
          </a:xfrm>
          <a:prstGeom prst="rect">
            <a:avLst/>
          </a:prstGeom>
          <a:noFill/>
          <a:ln>
            <a:noFill/>
          </a:ln>
        </p:spPr>
        <p:txBody>
          <a:bodyPr spcFirstLastPara="1" wrap="square" lIns="126425" tIns="72225" rIns="126425" bIns="72225" anchor="t" anchorCtr="0">
            <a:noAutofit/>
          </a:bodyPr>
          <a:lstStyle/>
          <a:p>
            <a:pPr marL="292100" lvl="0" indent="-292100" algn="l" rtl="0">
              <a:spcBef>
                <a:spcPts val="0"/>
              </a:spcBef>
              <a:spcAft>
                <a:spcPts val="0"/>
              </a:spcAft>
              <a:buClr>
                <a:srgbClr val="000000"/>
              </a:buClr>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Angiotensin II is a vasopressor itself and causes vasoconstriction. Angiotensin II also stimulates aldosterone secretion from the adrenal gland.</a:t>
            </a:r>
            <a:endParaRPr sz="4400" dirty="0">
              <a:latin typeface="Calibri" panose="020F0502020204030204" pitchFamily="34" charset="0"/>
              <a:cs typeface="Calibri" panose="020F0502020204030204" pitchFamily="34" charset="0"/>
            </a:endParaRPr>
          </a:p>
          <a:p>
            <a:pPr marL="292100" lvl="0" indent="-292100" algn="l" rtl="0">
              <a:spcBef>
                <a:spcPts val="1900"/>
              </a:spcBef>
              <a:spcAft>
                <a:spcPts val="0"/>
              </a:spcAft>
              <a:buClr>
                <a:srgbClr val="000000"/>
              </a:buClr>
              <a:buSzPts val="4500"/>
              <a:buFont typeface="Helvetica Neue Light"/>
              <a:buNone/>
            </a:pPr>
            <a:endParaRPr sz="3000" dirty="0">
              <a:latin typeface="Calibri" panose="020F0502020204030204" pitchFamily="34" charset="0"/>
              <a:ea typeface="Calibri"/>
              <a:cs typeface="Calibri" panose="020F0502020204030204" pitchFamily="34" charset="0"/>
              <a:sym typeface="Calibri"/>
            </a:endParaRPr>
          </a:p>
          <a:p>
            <a:pPr marL="292100" lvl="0" indent="-292100" algn="l" rtl="0">
              <a:spcBef>
                <a:spcPts val="1900"/>
              </a:spcBef>
              <a:spcAft>
                <a:spcPts val="0"/>
              </a:spcAft>
              <a:buClr>
                <a:srgbClr val="000000"/>
              </a:buClr>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Aldosterone causes sodium to be reabsorbed and K</a:t>
            </a:r>
            <a:r>
              <a:rPr lang="en-US" sz="4400" baseline="30000" dirty="0">
                <a:latin typeface="Calibri" panose="020F0502020204030204" pitchFamily="34" charset="0"/>
                <a:ea typeface="Calibri"/>
                <a:cs typeface="Calibri" panose="020F0502020204030204" pitchFamily="34" charset="0"/>
                <a:sym typeface="Calibri"/>
              </a:rPr>
              <a:t>+</a:t>
            </a:r>
            <a:r>
              <a:rPr lang="en-US" sz="4400" dirty="0">
                <a:latin typeface="Calibri" panose="020F0502020204030204" pitchFamily="34" charset="0"/>
                <a:ea typeface="Calibri"/>
                <a:cs typeface="Calibri" panose="020F0502020204030204" pitchFamily="34" charset="0"/>
                <a:sym typeface="Calibri"/>
              </a:rPr>
              <a:t> and H</a:t>
            </a:r>
            <a:r>
              <a:rPr lang="en-US" sz="4400" baseline="30000" dirty="0">
                <a:latin typeface="Calibri" panose="020F0502020204030204" pitchFamily="34" charset="0"/>
                <a:ea typeface="Calibri"/>
                <a:cs typeface="Calibri" panose="020F0502020204030204" pitchFamily="34" charset="0"/>
                <a:sym typeface="Calibri"/>
              </a:rPr>
              <a:t>+</a:t>
            </a:r>
            <a:r>
              <a:rPr lang="en-US" sz="4400" dirty="0">
                <a:latin typeface="Calibri" panose="020F0502020204030204" pitchFamily="34" charset="0"/>
                <a:ea typeface="Calibri"/>
                <a:cs typeface="Calibri" panose="020F0502020204030204" pitchFamily="34" charset="0"/>
                <a:sym typeface="Calibri"/>
              </a:rPr>
              <a:t> secretion into the urine via pumps in the distal renal tubule.  Water follows sodium.</a:t>
            </a:r>
            <a:endParaRPr sz="4400" dirty="0">
              <a:latin typeface="Calibri" panose="020F0502020204030204" pitchFamily="34" charset="0"/>
              <a:cs typeface="Calibri" panose="020F0502020204030204" pitchFamily="34" charset="0"/>
            </a:endParaRPr>
          </a:p>
          <a:p>
            <a:pPr marL="292100" lvl="0" indent="-292100" algn="l" rtl="0">
              <a:spcBef>
                <a:spcPts val="1900"/>
              </a:spcBef>
              <a:spcAft>
                <a:spcPts val="0"/>
              </a:spcAft>
              <a:buClr>
                <a:srgbClr val="000000"/>
              </a:buClr>
              <a:buSzPts val="4500"/>
              <a:buFont typeface="Helvetica Neue Light"/>
              <a:buNone/>
            </a:pPr>
            <a:endParaRPr sz="3000" dirty="0">
              <a:latin typeface="Calibri" panose="020F0502020204030204" pitchFamily="34" charset="0"/>
              <a:ea typeface="Calibri"/>
              <a:cs typeface="Calibri" panose="020F0502020204030204" pitchFamily="34" charset="0"/>
              <a:sym typeface="Calibri"/>
            </a:endParaRPr>
          </a:p>
          <a:p>
            <a:pPr marL="292100" lvl="0" indent="-292100" algn="l" rtl="0">
              <a:spcBef>
                <a:spcPts val="1900"/>
              </a:spcBef>
              <a:spcAft>
                <a:spcPts val="0"/>
              </a:spcAft>
              <a:buClr>
                <a:srgbClr val="000000"/>
              </a:buClr>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Increased volume in the blood vessels raises BP, dilutes K</a:t>
            </a:r>
            <a:r>
              <a:rPr lang="en-US" sz="4400" baseline="30000" dirty="0">
                <a:latin typeface="Calibri" panose="020F0502020204030204" pitchFamily="34" charset="0"/>
                <a:ea typeface="Calibri"/>
                <a:cs typeface="Calibri" panose="020F0502020204030204" pitchFamily="34" charset="0"/>
                <a:sym typeface="Calibri"/>
              </a:rPr>
              <a:t>+</a:t>
            </a:r>
            <a:r>
              <a:rPr lang="en-US" sz="4400" dirty="0">
                <a:latin typeface="Calibri" panose="020F0502020204030204" pitchFamily="34" charset="0"/>
                <a:ea typeface="Calibri"/>
                <a:cs typeface="Calibri" panose="020F0502020204030204" pitchFamily="34" charset="0"/>
                <a:sym typeface="Calibri"/>
              </a:rPr>
              <a:t> and suppresses renin release. </a:t>
            </a:r>
            <a:endParaRPr sz="4400" dirty="0">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88"/>
          <p:cNvSpPr txBox="1">
            <a:spLocks noGrp="1"/>
          </p:cNvSpPr>
          <p:nvPr>
            <p:ph type="title"/>
          </p:nvPr>
        </p:nvSpPr>
        <p:spPr>
          <a:xfrm>
            <a:off x="1270000" y="254000"/>
            <a:ext cx="10464800" cy="1346200"/>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sz="6000"/>
              <a:t>The RAA System</a:t>
            </a:r>
            <a:endParaRPr/>
          </a:p>
        </p:txBody>
      </p:sp>
      <p:pic>
        <p:nvPicPr>
          <p:cNvPr id="629" name="Google Shape;629;p88"/>
          <p:cNvPicPr preferRelativeResize="0">
            <a:picLocks noGrp="1"/>
          </p:cNvPicPr>
          <p:nvPr>
            <p:ph type="body" idx="1"/>
          </p:nvPr>
        </p:nvPicPr>
        <p:blipFill rotWithShape="1">
          <a:blip r:embed="rId3">
            <a:alphaModFix/>
          </a:blip>
          <a:srcRect b="6783"/>
          <a:stretch/>
        </p:blipFill>
        <p:spPr>
          <a:xfrm>
            <a:off x="1212850" y="1423988"/>
            <a:ext cx="10699750" cy="81010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22000"/>
          </a:srgbClr>
        </a:solidFill>
        <a:effectLst/>
      </p:bgPr>
    </p:bg>
    <p:spTree>
      <p:nvGrpSpPr>
        <p:cNvPr id="1" name="Shape 633"/>
        <p:cNvGrpSpPr/>
        <p:nvPr/>
      </p:nvGrpSpPr>
      <p:grpSpPr>
        <a:xfrm>
          <a:off x="0" y="0"/>
          <a:ext cx="0" cy="0"/>
          <a:chOff x="0" y="0"/>
          <a:chExt cx="0" cy="0"/>
        </a:xfrm>
      </p:grpSpPr>
      <p:sp>
        <p:nvSpPr>
          <p:cNvPr id="634" name="Google Shape;634;p89"/>
          <p:cNvSpPr txBox="1">
            <a:spLocks noGrp="1"/>
          </p:cNvSpPr>
          <p:nvPr>
            <p:ph type="title"/>
          </p:nvPr>
        </p:nvSpPr>
        <p:spPr>
          <a:xfrm>
            <a:off x="649288" y="0"/>
            <a:ext cx="11704637" cy="1388533"/>
          </a:xfrm>
          <a:prstGeom prst="rect">
            <a:avLst/>
          </a:prstGeom>
          <a:noFill/>
          <a:ln>
            <a:solidFill>
              <a:schemeClr val="tx1"/>
            </a:solid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ln>
                  <a:solidFill>
                    <a:schemeClr val="tx1"/>
                  </a:solidFill>
                </a:ln>
                <a:solidFill>
                  <a:srgbClr val="FFC000"/>
                </a:solidFill>
                <a:latin typeface="Arial"/>
                <a:ea typeface="Arial"/>
                <a:cs typeface="Arial"/>
                <a:sym typeface="Arial"/>
              </a:rPr>
              <a:t>Hypoaldosteronism</a:t>
            </a:r>
            <a:endParaRPr dirty="0">
              <a:ln>
                <a:solidFill>
                  <a:schemeClr val="tx1"/>
                </a:solidFill>
              </a:ln>
              <a:solidFill>
                <a:srgbClr val="FFC000"/>
              </a:solidFill>
            </a:endParaRPr>
          </a:p>
        </p:txBody>
      </p:sp>
      <p:sp>
        <p:nvSpPr>
          <p:cNvPr id="635" name="Google Shape;635;p89"/>
          <p:cNvSpPr txBox="1">
            <a:spLocks noGrp="1"/>
          </p:cNvSpPr>
          <p:nvPr>
            <p:ph type="body" idx="1"/>
          </p:nvPr>
        </p:nvSpPr>
        <p:spPr>
          <a:xfrm>
            <a:off x="203200" y="1727200"/>
            <a:ext cx="12584113" cy="7808913"/>
          </a:xfrm>
          <a:prstGeom prst="rect">
            <a:avLst/>
          </a:prstGeom>
          <a:noFill/>
          <a:ln>
            <a:noFill/>
          </a:ln>
        </p:spPr>
        <p:txBody>
          <a:bodyPr spcFirstLastPara="1" wrap="square" lIns="126425" tIns="72225" rIns="126425" bIns="72225" anchor="t" anchorCtr="0">
            <a:noAutofit/>
          </a:bodyPr>
          <a:lstStyle/>
          <a:p>
            <a:pPr marL="288925" lvl="0" indent="-285750" algn="l" rtl="0">
              <a:spcBef>
                <a:spcPts val="600"/>
              </a:spcBef>
              <a:spcAft>
                <a:spcPts val="600"/>
              </a:spcAft>
              <a:buClr>
                <a:srgbClr val="000000"/>
              </a:buClr>
              <a:buSzPts val="4500"/>
              <a:buFont typeface="Arial"/>
              <a:buChar char="•"/>
            </a:pPr>
            <a:r>
              <a:rPr lang="en-US" sz="4500" b="1" i="1" dirty="0">
                <a:latin typeface="Calibri" panose="020F0502020204030204" pitchFamily="34" charset="0"/>
                <a:ea typeface="Calibri"/>
                <a:cs typeface="Calibri" panose="020F0502020204030204" pitchFamily="34" charset="0"/>
                <a:sym typeface="Calibri"/>
              </a:rPr>
              <a:t>Deficiency of aldosterone is usually </a:t>
            </a:r>
            <a:r>
              <a:rPr lang="en-US" sz="4500" b="1" i="1" u="sng" dirty="0">
                <a:latin typeface="Calibri" panose="020F0502020204030204" pitchFamily="34" charset="0"/>
                <a:ea typeface="Calibri"/>
                <a:cs typeface="Calibri" panose="020F0502020204030204" pitchFamily="34" charset="0"/>
                <a:sym typeface="Calibri"/>
              </a:rPr>
              <a:t>secondary to deficient renin production</a:t>
            </a:r>
            <a:r>
              <a:rPr lang="en-US" sz="4500" b="1" i="1" dirty="0">
                <a:latin typeface="Calibri" panose="020F0502020204030204" pitchFamily="34" charset="0"/>
                <a:ea typeface="Calibri"/>
                <a:cs typeface="Calibri" panose="020F0502020204030204" pitchFamily="34" charset="0"/>
                <a:sym typeface="Calibri"/>
              </a:rPr>
              <a:t> by a diseased kidney</a:t>
            </a:r>
            <a:r>
              <a:rPr lang="en-US" sz="4500" dirty="0">
                <a:latin typeface="Calibri" panose="020F0502020204030204" pitchFamily="34" charset="0"/>
                <a:ea typeface="Calibri"/>
                <a:cs typeface="Calibri" panose="020F0502020204030204" pitchFamily="34" charset="0"/>
                <a:sym typeface="Calibri"/>
              </a:rPr>
              <a:t> and not a problem with production of aldosterone from the adrenal gland.</a:t>
            </a:r>
            <a:endParaRPr dirty="0">
              <a:latin typeface="Calibri" panose="020F0502020204030204" pitchFamily="34" charset="0"/>
              <a:cs typeface="Calibri" panose="020F0502020204030204" pitchFamily="34" charset="0"/>
            </a:endParaRPr>
          </a:p>
          <a:p>
            <a:pPr marL="288925" lvl="0" indent="0" algn="l" rtl="0">
              <a:spcBef>
                <a:spcPts val="600"/>
              </a:spcBef>
              <a:spcAft>
                <a:spcPts val="600"/>
              </a:spcAft>
              <a:buClr>
                <a:srgbClr val="000000"/>
              </a:buClr>
              <a:buSzPts val="4500"/>
              <a:buFont typeface="Arial"/>
              <a:buNone/>
            </a:pPr>
            <a:endParaRPr sz="4500" dirty="0">
              <a:latin typeface="Calibri" panose="020F0502020204030204" pitchFamily="34" charset="0"/>
              <a:ea typeface="Calibri"/>
              <a:cs typeface="Calibri" panose="020F0502020204030204" pitchFamily="34" charset="0"/>
              <a:sym typeface="Calibri"/>
            </a:endParaRPr>
          </a:p>
          <a:p>
            <a:pPr marL="288925" lvl="0" indent="-285750" algn="l" rtl="0">
              <a:spcBef>
                <a:spcPts val="600"/>
              </a:spcBef>
              <a:spcAft>
                <a:spcPts val="600"/>
              </a:spcAft>
              <a:buClr>
                <a:srgbClr val="000000"/>
              </a:buClr>
              <a:buSzPts val="4500"/>
              <a:buFont typeface="Arial"/>
              <a:buChar char="•"/>
            </a:pPr>
            <a:r>
              <a:rPr lang="en-US" sz="4500" dirty="0">
                <a:latin typeface="Calibri" panose="020F0502020204030204" pitchFamily="34" charset="0"/>
                <a:ea typeface="Calibri"/>
                <a:cs typeface="Calibri" panose="020F0502020204030204" pitchFamily="34" charset="0"/>
                <a:sym typeface="Calibri"/>
              </a:rPr>
              <a:t>Therefore, this disorder is most commonly NOT due to an adrenal problem but instead due to chronic kidney disease, most often caused by diabetes and hypertension - this is </a:t>
            </a:r>
            <a:r>
              <a:rPr lang="en-US" sz="4500" b="1" i="1" dirty="0">
                <a:latin typeface="Calibri" panose="020F0502020204030204" pitchFamily="34" charset="0"/>
                <a:ea typeface="Calibri"/>
                <a:cs typeface="Calibri" panose="020F0502020204030204" pitchFamily="34" charset="0"/>
                <a:sym typeface="Calibri"/>
              </a:rPr>
              <a:t>hyporeninemic hypoaldosteronism.</a:t>
            </a:r>
            <a:endParaRPr dirty="0">
              <a:latin typeface="Calibri" panose="020F0502020204030204" pitchFamily="34" charset="0"/>
              <a:cs typeface="Calibri" panose="020F0502020204030204" pitchFamily="34" charset="0"/>
            </a:endParaRPr>
          </a:p>
          <a:p>
            <a:pPr marL="288925" lvl="0" indent="-288925" algn="l" rtl="0">
              <a:spcBef>
                <a:spcPts val="700"/>
              </a:spcBef>
              <a:spcAft>
                <a:spcPts val="0"/>
              </a:spcAft>
              <a:buClr>
                <a:srgbClr val="000000"/>
              </a:buClr>
              <a:buSzPts val="2500"/>
              <a:buFont typeface="Helvetica Neue Light"/>
              <a:buNone/>
            </a:pPr>
            <a:endParaRPr sz="2500" dirty="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90"/>
          <p:cNvSpPr txBox="1">
            <a:spLocks noGrp="1"/>
          </p:cNvSpPr>
          <p:nvPr>
            <p:ph type="title"/>
          </p:nvPr>
        </p:nvSpPr>
        <p:spPr>
          <a:xfrm>
            <a:off x="177800" y="217486"/>
            <a:ext cx="7200900" cy="1751014"/>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ln>
                  <a:solidFill>
                    <a:schemeClr val="tx1"/>
                  </a:solidFill>
                </a:ln>
                <a:solidFill>
                  <a:srgbClr val="FFC000"/>
                </a:solidFill>
                <a:latin typeface="Arial"/>
                <a:ea typeface="Arial"/>
                <a:cs typeface="Arial"/>
                <a:sym typeface="Arial"/>
              </a:rPr>
              <a:t>Hypoaldosteronism</a:t>
            </a:r>
            <a:endParaRPr sz="6200" dirty="0">
              <a:ln>
                <a:solidFill>
                  <a:schemeClr val="tx1"/>
                </a:solidFill>
              </a:ln>
              <a:solidFill>
                <a:srgbClr val="FFC000"/>
              </a:solidFill>
            </a:endParaRPr>
          </a:p>
        </p:txBody>
      </p:sp>
      <p:sp>
        <p:nvSpPr>
          <p:cNvPr id="641" name="Google Shape;641;p90"/>
          <p:cNvSpPr txBox="1">
            <a:spLocks noGrp="1"/>
          </p:cNvSpPr>
          <p:nvPr>
            <p:ph type="body" idx="1"/>
          </p:nvPr>
        </p:nvSpPr>
        <p:spPr>
          <a:xfrm>
            <a:off x="177800" y="6145214"/>
            <a:ext cx="12573000" cy="3390900"/>
          </a:xfrm>
          <a:prstGeom prst="rect">
            <a:avLst/>
          </a:prstGeom>
          <a:noFill/>
          <a:ln>
            <a:noFill/>
          </a:ln>
        </p:spPr>
        <p:txBody>
          <a:bodyPr spcFirstLastPara="1" wrap="square" lIns="126425" tIns="72225" rIns="126425" bIns="72225" anchor="t" anchorCtr="0">
            <a:noAutofit/>
          </a:bodyPr>
          <a:lstStyle/>
          <a:p>
            <a:pPr marL="571500" indent="-571500">
              <a:spcBef>
                <a:spcPts val="700"/>
              </a:spcBef>
              <a:buSzPct val="80000"/>
            </a:pPr>
            <a:r>
              <a:rPr lang="en-US" sz="4400" dirty="0">
                <a:latin typeface="Calibri"/>
                <a:ea typeface="Calibri"/>
                <a:cs typeface="Calibri"/>
                <a:sym typeface="Calibri"/>
              </a:rPr>
              <a:t>We try to prevent this with strict BP and glucose control</a:t>
            </a:r>
          </a:p>
          <a:p>
            <a:pPr marL="571500" indent="-571500">
              <a:spcBef>
                <a:spcPts val="700"/>
              </a:spcBef>
              <a:buSzPct val="80000"/>
            </a:pPr>
            <a:r>
              <a:rPr lang="en-US" sz="4400" dirty="0">
                <a:latin typeface="Calibri"/>
                <a:ea typeface="Calibri"/>
                <a:cs typeface="Calibri"/>
                <a:sym typeface="Calibri"/>
              </a:rPr>
              <a:t>Once present, hyporeninemic hypoaldosteronism is permanent.</a:t>
            </a:r>
            <a:endParaRPr sz="4400" dirty="0">
              <a:latin typeface="Calibri"/>
              <a:ea typeface="Calibri"/>
              <a:cs typeface="Calibri"/>
              <a:sym typeface="Calibri"/>
            </a:endParaRPr>
          </a:p>
          <a:p>
            <a:pPr marL="288925" lvl="0" indent="-288925" algn="l" rtl="0">
              <a:spcBef>
                <a:spcPts val="700"/>
              </a:spcBef>
              <a:spcAft>
                <a:spcPts val="0"/>
              </a:spcAft>
              <a:buClr>
                <a:srgbClr val="000000"/>
              </a:buClr>
              <a:buSzPts val="2500"/>
              <a:buFont typeface="Helvetica Neue Light"/>
              <a:buNone/>
            </a:pPr>
            <a:endParaRPr sz="2500" dirty="0">
              <a:latin typeface="Calibri"/>
              <a:ea typeface="Calibri"/>
              <a:cs typeface="Calibri"/>
              <a:sym typeface="Calibri"/>
            </a:endParaRPr>
          </a:p>
          <a:p>
            <a:pPr marL="3175" lvl="0" indent="0" algn="l" rtl="0">
              <a:spcBef>
                <a:spcPts val="700"/>
              </a:spcBef>
              <a:spcAft>
                <a:spcPts val="0"/>
              </a:spcAft>
              <a:buClr>
                <a:srgbClr val="000000"/>
              </a:buClr>
              <a:buSzPts val="4500"/>
              <a:buNone/>
            </a:pPr>
            <a:endParaRPr sz="4500" dirty="0">
              <a:latin typeface="Calibri"/>
              <a:ea typeface="Calibri"/>
              <a:cs typeface="Calibri"/>
              <a:sym typeface="Calibri"/>
            </a:endParaRPr>
          </a:p>
        </p:txBody>
      </p:sp>
      <p:pic>
        <p:nvPicPr>
          <p:cNvPr id="642" name="Google Shape;642;p90"/>
          <p:cNvPicPr preferRelativeResize="0"/>
          <p:nvPr/>
        </p:nvPicPr>
        <p:blipFill rotWithShape="1">
          <a:blip r:embed="rId3">
            <a:alphaModFix/>
          </a:blip>
          <a:srcRect/>
          <a:stretch/>
        </p:blipFill>
        <p:spPr>
          <a:xfrm>
            <a:off x="7569200" y="222250"/>
            <a:ext cx="5181600" cy="5922963"/>
          </a:xfrm>
          <a:prstGeom prst="rect">
            <a:avLst/>
          </a:prstGeom>
          <a:noFill/>
          <a:ln>
            <a:noFill/>
          </a:ln>
        </p:spPr>
      </p:pic>
      <p:sp>
        <p:nvSpPr>
          <p:cNvPr id="2" name="TextBox 1">
            <a:extLst>
              <a:ext uri="{FF2B5EF4-FFF2-40B4-BE49-F238E27FC236}">
                <a16:creationId xmlns:a16="http://schemas.microsoft.com/office/drawing/2014/main" id="{5CE6B183-282D-1B87-039D-8A3F6290FADC}"/>
              </a:ext>
            </a:extLst>
          </p:cNvPr>
          <p:cNvSpPr txBox="1"/>
          <p:nvPr/>
        </p:nvSpPr>
        <p:spPr>
          <a:xfrm>
            <a:off x="177800" y="1968500"/>
            <a:ext cx="7391400" cy="4460195"/>
          </a:xfrm>
          <a:prstGeom prst="rect">
            <a:avLst/>
          </a:prstGeom>
          <a:noFill/>
        </p:spPr>
        <p:txBody>
          <a:bodyPr wrap="square" rtlCol="0">
            <a:spAutoFit/>
          </a:bodyPr>
          <a:lstStyle/>
          <a:p>
            <a:pPr marL="288925" indent="-285750">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Hyporeninemic hypoaldosteronism is most commonly caused by </a:t>
            </a:r>
            <a:r>
              <a:rPr lang="en-US" sz="4400" b="1" i="1" dirty="0">
                <a:latin typeface="Calibri" panose="020F0502020204030204" pitchFamily="34" charset="0"/>
                <a:ea typeface="Calibri"/>
                <a:cs typeface="Calibri" panose="020F0502020204030204" pitchFamily="34" charset="0"/>
                <a:sym typeface="Calibri"/>
              </a:rPr>
              <a:t>diabetic nephropathy or chronic tubulointerstitial kidney disease.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91"/>
          <p:cNvSpPr txBox="1">
            <a:spLocks noGrp="1"/>
          </p:cNvSpPr>
          <p:nvPr>
            <p:ph type="title"/>
          </p:nvPr>
        </p:nvSpPr>
        <p:spPr>
          <a:xfrm>
            <a:off x="177800" y="215900"/>
            <a:ext cx="12609512" cy="13843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000" dirty="0">
                <a:ln>
                  <a:solidFill>
                    <a:schemeClr val="tx1"/>
                  </a:solidFill>
                </a:ln>
                <a:solidFill>
                  <a:srgbClr val="FFC000"/>
                </a:solidFill>
                <a:latin typeface="Arial"/>
                <a:ea typeface="Arial"/>
                <a:cs typeface="Arial"/>
                <a:sym typeface="Arial"/>
              </a:rPr>
              <a:t>Hypoaldosteronism Pathophysiology</a:t>
            </a:r>
            <a:endParaRPr sz="6000" dirty="0">
              <a:ln>
                <a:solidFill>
                  <a:schemeClr val="tx1"/>
                </a:solidFill>
              </a:ln>
              <a:solidFill>
                <a:srgbClr val="FFC000"/>
              </a:solidFill>
            </a:endParaRPr>
          </a:p>
        </p:txBody>
      </p:sp>
      <p:sp>
        <p:nvSpPr>
          <p:cNvPr id="648" name="Google Shape;648;p91"/>
          <p:cNvSpPr txBox="1">
            <a:spLocks noGrp="1"/>
          </p:cNvSpPr>
          <p:nvPr>
            <p:ph type="body" idx="1"/>
          </p:nvPr>
        </p:nvSpPr>
        <p:spPr>
          <a:xfrm>
            <a:off x="323850" y="1600200"/>
            <a:ext cx="12463463" cy="7935913"/>
          </a:xfrm>
          <a:prstGeom prst="rect">
            <a:avLst/>
          </a:prstGeom>
          <a:noFill/>
          <a:ln>
            <a:noFill/>
          </a:ln>
        </p:spPr>
        <p:txBody>
          <a:bodyPr spcFirstLastPara="1" wrap="square" lIns="126425" tIns="72225" rIns="126425" bIns="72225" anchor="t" anchorCtr="0">
            <a:noAutofit/>
          </a:bodyPr>
          <a:lstStyle/>
          <a:p>
            <a:pPr marL="277813" lvl="0" indent="-285750" algn="l" rtl="0">
              <a:spcBef>
                <a:spcPts val="0"/>
              </a:spcBef>
              <a:spcAft>
                <a:spcPts val="0"/>
              </a:spcAft>
              <a:buClr>
                <a:srgbClr val="000000"/>
              </a:buClr>
              <a:buSzPts val="4500"/>
              <a:buFont typeface="Arial"/>
              <a:buChar char="•"/>
            </a:pPr>
            <a:r>
              <a:rPr lang="en-US" sz="4500" dirty="0">
                <a:latin typeface="Calibri"/>
                <a:ea typeface="Calibri"/>
                <a:cs typeface="Calibri"/>
                <a:sym typeface="Calibri"/>
              </a:rPr>
              <a:t>Patients present with </a:t>
            </a:r>
            <a:r>
              <a:rPr lang="en-US" sz="4500" b="1" i="1" dirty="0">
                <a:latin typeface="Calibri"/>
                <a:ea typeface="Calibri"/>
                <a:cs typeface="Calibri"/>
                <a:sym typeface="Calibri"/>
              </a:rPr>
              <a:t>hyperkalemia, hyperchloremia and a non-anion gap metabolic acidosis, </a:t>
            </a:r>
            <a:r>
              <a:rPr lang="en-US" sz="4500" dirty="0">
                <a:latin typeface="Calibri"/>
                <a:ea typeface="Calibri"/>
                <a:cs typeface="Calibri"/>
                <a:sym typeface="Calibri"/>
              </a:rPr>
              <a:t>why?</a:t>
            </a:r>
            <a:endParaRPr dirty="0"/>
          </a:p>
          <a:p>
            <a:pPr marL="277813" lvl="0" indent="0" algn="l" rtl="0">
              <a:spcBef>
                <a:spcPts val="700"/>
              </a:spcBef>
              <a:spcAft>
                <a:spcPts val="0"/>
              </a:spcAft>
              <a:buClr>
                <a:srgbClr val="000000"/>
              </a:buClr>
              <a:buSzPts val="4500"/>
              <a:buFont typeface="Arial"/>
              <a:buNone/>
            </a:pPr>
            <a:endParaRPr sz="4500" dirty="0">
              <a:latin typeface="Calibri"/>
              <a:ea typeface="Calibri"/>
              <a:cs typeface="Calibri"/>
              <a:sym typeface="Calibri"/>
            </a:endParaRPr>
          </a:p>
          <a:p>
            <a:pPr marL="277813" lvl="0" indent="-277813" algn="l" rtl="0">
              <a:spcBef>
                <a:spcPts val="700"/>
              </a:spcBef>
              <a:spcAft>
                <a:spcPts val="0"/>
              </a:spcAft>
              <a:buClr>
                <a:srgbClr val="000000"/>
              </a:buClr>
              <a:buSzPts val="4500"/>
              <a:buFont typeface="Helvetica Neue Light"/>
              <a:buNone/>
            </a:pPr>
            <a:endParaRPr lang="en-US" sz="4500" dirty="0">
              <a:latin typeface="Calibri"/>
              <a:ea typeface="Calibri"/>
              <a:cs typeface="Calibri"/>
              <a:sym typeface="Calibri"/>
            </a:endParaRPr>
          </a:p>
          <a:p>
            <a:pPr marL="277813" lvl="0" indent="-277813" algn="l" rtl="0">
              <a:spcBef>
                <a:spcPts val="700"/>
              </a:spcBef>
              <a:spcAft>
                <a:spcPts val="0"/>
              </a:spcAft>
              <a:buClr>
                <a:srgbClr val="000000"/>
              </a:buClr>
              <a:buSzPts val="4500"/>
              <a:buFont typeface="Helvetica Neue Light"/>
              <a:buNone/>
            </a:pPr>
            <a:endParaRPr sz="2500" dirty="0">
              <a:latin typeface="Calibri"/>
              <a:ea typeface="Calibri"/>
              <a:cs typeface="Calibri"/>
              <a:sym typeface="Calibri"/>
            </a:endParaRPr>
          </a:p>
          <a:p>
            <a:pPr marL="277813" lvl="0" indent="-285750"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Also known as type 4 renal tubular acidosis, a non-anion gap metabolic acidosis caused by normally functioning kidneys that fail to acidify the urine.</a:t>
            </a:r>
            <a:endParaRPr dirty="0"/>
          </a:p>
          <a:p>
            <a:pPr marL="1143000" lvl="2" indent="-381000" algn="l" rtl="0">
              <a:spcBef>
                <a:spcPts val="700"/>
              </a:spcBef>
              <a:spcAft>
                <a:spcPts val="0"/>
              </a:spcAft>
              <a:buClr>
                <a:srgbClr val="000000"/>
              </a:buClr>
              <a:buSzPts val="3600"/>
              <a:buFont typeface="Calibri"/>
              <a:buChar char="•"/>
            </a:pPr>
            <a:r>
              <a:rPr lang="en-US" sz="4500" dirty="0">
                <a:latin typeface="Calibri"/>
                <a:ea typeface="Calibri"/>
                <a:cs typeface="Calibri"/>
                <a:sym typeface="Calibri"/>
              </a:rPr>
              <a:t>Plasma </a:t>
            </a:r>
            <a:r>
              <a:rPr lang="en-US" sz="4500" b="1" i="1" dirty="0">
                <a:latin typeface="Calibri"/>
                <a:ea typeface="Calibri"/>
                <a:cs typeface="Calibri"/>
                <a:sym typeface="Calibri"/>
              </a:rPr>
              <a:t>sodium concentration is normal</a:t>
            </a:r>
            <a:endParaRPr sz="4500" dirty="0">
              <a:latin typeface="Calibri"/>
              <a:ea typeface="Calibri"/>
              <a:cs typeface="Calibri"/>
              <a:sym typeface="Calibri"/>
            </a:endParaRPr>
          </a:p>
          <a:p>
            <a:pPr marL="1143000" lvl="2" indent="-381000"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Plasma </a:t>
            </a:r>
            <a:r>
              <a:rPr lang="en-US" sz="4500" b="1" i="1" dirty="0">
                <a:latin typeface="Calibri"/>
                <a:ea typeface="Calibri"/>
                <a:cs typeface="Calibri"/>
                <a:sym typeface="Calibri"/>
              </a:rPr>
              <a:t>volume</a:t>
            </a:r>
            <a:r>
              <a:rPr lang="en-US" sz="4500" dirty="0">
                <a:latin typeface="Calibri"/>
                <a:ea typeface="Calibri"/>
                <a:cs typeface="Calibri"/>
                <a:sym typeface="Calibri"/>
              </a:rPr>
              <a:t> is usually </a:t>
            </a:r>
            <a:r>
              <a:rPr lang="en-US" sz="4500" b="1" i="1" dirty="0">
                <a:latin typeface="Calibri"/>
                <a:ea typeface="Calibri"/>
                <a:cs typeface="Calibri"/>
                <a:sym typeface="Calibri"/>
              </a:rPr>
              <a:t>decreased</a:t>
            </a:r>
            <a:endParaRPr sz="4500" dirty="0">
              <a:latin typeface="Calibri"/>
              <a:ea typeface="Calibri"/>
              <a:cs typeface="Calibri"/>
              <a:sym typeface="Calibri"/>
            </a:endParaRPr>
          </a:p>
          <a:p>
            <a:pPr marL="277813" lvl="0" indent="-277813"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a:p>
            <a:pPr marL="277813" lvl="0" indent="-277813"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a:p>
            <a:pPr marL="277813" lvl="0" indent="-277813"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a:p>
            <a:pPr marL="277813" lvl="0" indent="-277813"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92"/>
          <p:cNvSpPr txBox="1">
            <a:spLocks noGrp="1"/>
          </p:cNvSpPr>
          <p:nvPr>
            <p:ph type="title"/>
          </p:nvPr>
        </p:nvSpPr>
        <p:spPr>
          <a:xfrm>
            <a:off x="406400" y="215900"/>
            <a:ext cx="11947525" cy="1536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ln>
                  <a:solidFill>
                    <a:schemeClr val="tx1"/>
                  </a:solidFill>
                </a:ln>
                <a:solidFill>
                  <a:srgbClr val="FFC000"/>
                </a:solidFill>
                <a:latin typeface="Arial"/>
                <a:ea typeface="Arial"/>
                <a:cs typeface="Arial"/>
                <a:sym typeface="Arial"/>
              </a:rPr>
              <a:t>Hypoaldosteronism</a:t>
            </a:r>
            <a:endParaRPr dirty="0">
              <a:ln>
                <a:solidFill>
                  <a:schemeClr val="tx1"/>
                </a:solidFill>
              </a:ln>
              <a:solidFill>
                <a:srgbClr val="FFC000"/>
              </a:solidFill>
            </a:endParaRPr>
          </a:p>
        </p:txBody>
      </p:sp>
      <p:sp>
        <p:nvSpPr>
          <p:cNvPr id="654" name="Google Shape;654;p92"/>
          <p:cNvSpPr txBox="1">
            <a:spLocks noGrp="1"/>
          </p:cNvSpPr>
          <p:nvPr>
            <p:ph type="body" idx="1"/>
          </p:nvPr>
        </p:nvSpPr>
        <p:spPr>
          <a:xfrm>
            <a:off x="146958" y="1894114"/>
            <a:ext cx="12640356" cy="7641999"/>
          </a:xfrm>
          <a:prstGeom prst="rect">
            <a:avLst/>
          </a:prstGeom>
          <a:noFill/>
          <a:ln>
            <a:noFill/>
          </a:ln>
        </p:spPr>
        <p:txBody>
          <a:bodyPr spcFirstLastPara="1" wrap="square" lIns="126425" tIns="72225" rIns="126425" bIns="72225" anchor="t" anchorCtr="0">
            <a:noAutofit/>
          </a:bodyPr>
          <a:lstStyle/>
          <a:p>
            <a:pPr marL="381000" lvl="0" indent="-381000" algn="l" rtl="0">
              <a:spcBef>
                <a:spcPts val="0"/>
              </a:spcBef>
              <a:spcAft>
                <a:spcPts val="0"/>
              </a:spcAft>
              <a:buClr>
                <a:srgbClr val="000000"/>
              </a:buClr>
              <a:buSzPts val="3600"/>
              <a:buFont typeface="Calibri"/>
              <a:buChar char="•"/>
            </a:pPr>
            <a:r>
              <a:rPr lang="en-US" sz="4500" dirty="0">
                <a:latin typeface="Calibri"/>
                <a:ea typeface="Calibri"/>
                <a:cs typeface="Calibri"/>
                <a:sym typeface="Calibri"/>
              </a:rPr>
              <a:t>What symptoms will this cause?</a:t>
            </a:r>
            <a:endParaRPr dirty="0"/>
          </a:p>
          <a:p>
            <a:pPr marL="381000" lvl="0" indent="-228600" algn="l" rtl="0">
              <a:spcBef>
                <a:spcPts val="700"/>
              </a:spcBef>
              <a:spcAft>
                <a:spcPts val="0"/>
              </a:spcAft>
              <a:buClr>
                <a:srgbClr val="000000"/>
              </a:buClr>
              <a:buSzPts val="2400"/>
              <a:buFont typeface="Helvetica Neue Light"/>
              <a:buNone/>
            </a:pPr>
            <a:endParaRPr sz="3000" dirty="0">
              <a:latin typeface="Calibri"/>
              <a:ea typeface="Calibri"/>
              <a:cs typeface="Calibri"/>
              <a:sym typeface="Calibri"/>
            </a:endParaRPr>
          </a:p>
          <a:p>
            <a:pPr marL="381000" lvl="0" indent="-381000" algn="l" rtl="0">
              <a:spcBef>
                <a:spcPts val="700"/>
              </a:spcBef>
              <a:spcAft>
                <a:spcPts val="0"/>
              </a:spcAft>
              <a:buClr>
                <a:srgbClr val="000000"/>
              </a:buClr>
              <a:buSzPts val="3600"/>
              <a:buFont typeface="Calibri"/>
              <a:buChar char="•"/>
            </a:pPr>
            <a:r>
              <a:rPr lang="en-US" sz="4500" dirty="0">
                <a:latin typeface="Calibri"/>
                <a:ea typeface="Calibri"/>
                <a:cs typeface="Calibri"/>
                <a:sym typeface="Calibri"/>
              </a:rPr>
              <a:t>In most patients, </a:t>
            </a:r>
            <a:r>
              <a:rPr lang="en-US" sz="4500" b="1" u="sng" dirty="0">
                <a:latin typeface="Calibri"/>
                <a:ea typeface="Calibri"/>
                <a:cs typeface="Calibri"/>
                <a:sym typeface="Calibri"/>
              </a:rPr>
              <a:t>not many symptoms</a:t>
            </a:r>
            <a:r>
              <a:rPr lang="en-US" sz="4500" b="1" dirty="0">
                <a:latin typeface="Calibri"/>
                <a:ea typeface="Calibri"/>
                <a:cs typeface="Calibri"/>
                <a:sym typeface="Calibri"/>
              </a:rPr>
              <a:t> </a:t>
            </a:r>
            <a:r>
              <a:rPr lang="en-US" sz="4500" dirty="0">
                <a:latin typeface="Calibri"/>
                <a:ea typeface="Calibri"/>
                <a:cs typeface="Calibri"/>
                <a:sym typeface="Calibri"/>
              </a:rPr>
              <a:t>since  significant sodium wasting will be prevented by other hormones that preserve sodium balance (angiotensin II and norepinephrine).  Is this good for the patient?</a:t>
            </a:r>
            <a:endParaRPr dirty="0"/>
          </a:p>
          <a:p>
            <a:pPr marL="0" lvl="0" indent="0" algn="l" rtl="0">
              <a:spcBef>
                <a:spcPts val="700"/>
              </a:spcBef>
              <a:spcAft>
                <a:spcPts val="0"/>
              </a:spcAft>
              <a:buClr>
                <a:srgbClr val="000000"/>
              </a:buClr>
              <a:buSzPts val="3600"/>
              <a:buFont typeface="Calibri"/>
              <a:buNone/>
            </a:pPr>
            <a:r>
              <a:rPr lang="en-US" sz="4500" dirty="0">
                <a:latin typeface="Calibri"/>
                <a:ea typeface="Calibri"/>
                <a:cs typeface="Calibri"/>
                <a:sym typeface="Calibri"/>
              </a:rPr>
              <a:t> </a:t>
            </a:r>
            <a:endParaRPr dirty="0"/>
          </a:p>
          <a:p>
            <a:pPr marL="0" lvl="0" indent="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a:p>
            <a:pPr marL="0" lvl="0" indent="0" algn="l" rtl="0">
              <a:spcBef>
                <a:spcPts val="700"/>
              </a:spcBef>
              <a:spcAft>
                <a:spcPts val="0"/>
              </a:spcAft>
              <a:buClr>
                <a:srgbClr val="000000"/>
              </a:buClr>
              <a:buSzPts val="3800"/>
              <a:buFont typeface="Helvetica Neue Light"/>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93"/>
          <p:cNvSpPr txBox="1">
            <a:spLocks noGrp="1"/>
          </p:cNvSpPr>
          <p:nvPr>
            <p:ph type="title"/>
          </p:nvPr>
        </p:nvSpPr>
        <p:spPr>
          <a:xfrm>
            <a:off x="0" y="215900"/>
            <a:ext cx="12787313" cy="1536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ln>
                  <a:solidFill>
                    <a:schemeClr val="tx1"/>
                  </a:solidFill>
                </a:ln>
                <a:solidFill>
                  <a:srgbClr val="FFC000"/>
                </a:solidFill>
                <a:latin typeface="Arial"/>
                <a:ea typeface="Arial"/>
                <a:cs typeface="Arial"/>
                <a:sym typeface="Arial"/>
              </a:rPr>
              <a:t>Hypoaldosteronism, Making the Dx</a:t>
            </a:r>
            <a:endParaRPr dirty="0">
              <a:ln>
                <a:solidFill>
                  <a:schemeClr val="tx1"/>
                </a:solidFill>
              </a:ln>
              <a:solidFill>
                <a:srgbClr val="FFC000"/>
              </a:solidFill>
            </a:endParaRPr>
          </a:p>
        </p:txBody>
      </p:sp>
      <p:sp>
        <p:nvSpPr>
          <p:cNvPr id="660" name="Google Shape;660;p93"/>
          <p:cNvSpPr txBox="1">
            <a:spLocks noGrp="1"/>
          </p:cNvSpPr>
          <p:nvPr>
            <p:ph type="body" idx="1"/>
          </p:nvPr>
        </p:nvSpPr>
        <p:spPr>
          <a:xfrm>
            <a:off x="177800" y="1959429"/>
            <a:ext cx="12609512" cy="7576684"/>
          </a:xfrm>
          <a:prstGeom prst="rect">
            <a:avLst/>
          </a:prstGeom>
          <a:noFill/>
          <a:ln>
            <a:noFill/>
          </a:ln>
        </p:spPr>
        <p:txBody>
          <a:bodyPr spcFirstLastPara="1" wrap="square" lIns="126425" tIns="72225" rIns="126425" bIns="72225" anchor="t" anchorCtr="0">
            <a:noAutofit/>
          </a:bodyPr>
          <a:lstStyle/>
          <a:p>
            <a:pPr marL="381000" indent="-381000">
              <a:spcBef>
                <a:spcPts val="0"/>
              </a:spcBef>
              <a:buSzPts val="3600"/>
              <a:buFont typeface="Calibri"/>
              <a:buChar char="•"/>
            </a:pPr>
            <a:r>
              <a:rPr lang="en-US" sz="4400" b="1" i="1" dirty="0">
                <a:latin typeface="Calibri"/>
                <a:ea typeface="Calibri"/>
                <a:cs typeface="Calibri"/>
                <a:sym typeface="Calibri"/>
              </a:rPr>
              <a:t>Hypoaldosteronism should be suspected </a:t>
            </a:r>
            <a:r>
              <a:rPr lang="en-US" sz="4400" dirty="0">
                <a:latin typeface="Calibri"/>
                <a:ea typeface="Calibri"/>
                <a:cs typeface="Calibri"/>
                <a:sym typeface="Calibri"/>
              </a:rPr>
              <a:t>in the right patient when there is </a:t>
            </a:r>
            <a:r>
              <a:rPr lang="en-US" sz="4400" b="1" i="1" dirty="0">
                <a:latin typeface="Calibri"/>
                <a:ea typeface="Calibri"/>
                <a:cs typeface="Calibri"/>
                <a:sym typeface="Calibri"/>
              </a:rPr>
              <a:t>persistent hyperkalemia </a:t>
            </a:r>
            <a:r>
              <a:rPr lang="en-US" sz="4400" dirty="0">
                <a:latin typeface="Calibri"/>
                <a:ea typeface="Calibri"/>
                <a:cs typeface="Calibri"/>
                <a:sym typeface="Calibri"/>
              </a:rPr>
              <a:t>without another cause.</a:t>
            </a:r>
            <a:endParaRPr lang="en-US" sz="4400" dirty="0"/>
          </a:p>
          <a:p>
            <a:pPr marL="381000" lvl="0" indent="-381000" algn="l" rtl="0">
              <a:spcBef>
                <a:spcPts val="0"/>
              </a:spcBef>
              <a:spcAft>
                <a:spcPts val="0"/>
              </a:spcAft>
              <a:buClr>
                <a:srgbClr val="000000"/>
              </a:buClr>
              <a:buSzPts val="3600"/>
              <a:buFont typeface="Calibri"/>
              <a:buChar char="•"/>
            </a:pPr>
            <a:endParaRPr lang="en-US" sz="4400" dirty="0">
              <a:latin typeface="Calibri" panose="020F0502020204030204" pitchFamily="34" charset="0"/>
              <a:ea typeface="Calibri"/>
              <a:cs typeface="Calibri" panose="020F0502020204030204" pitchFamily="34" charset="0"/>
              <a:sym typeface="Calibri"/>
            </a:endParaRPr>
          </a:p>
          <a:p>
            <a:pPr marL="381000" lvl="0" indent="-381000" algn="l" rtl="0">
              <a:spcBef>
                <a:spcPts val="0"/>
              </a:spcBef>
              <a:spcAft>
                <a:spcPts val="0"/>
              </a:spcAft>
              <a:buClr>
                <a:srgbClr val="000000"/>
              </a:buClr>
              <a:buSzPts val="3600"/>
              <a:buFont typeface="Calibri"/>
              <a:buChar char="•"/>
            </a:pPr>
            <a:r>
              <a:rPr lang="en-US" sz="4400" dirty="0">
                <a:latin typeface="Calibri" panose="020F0502020204030204" pitchFamily="34" charset="0"/>
                <a:ea typeface="Calibri"/>
                <a:cs typeface="Calibri" panose="020F0502020204030204" pitchFamily="34" charset="0"/>
                <a:sym typeface="Calibri"/>
              </a:rPr>
              <a:t>If hyperkalemia is noted, repeat K</a:t>
            </a:r>
            <a:r>
              <a:rPr lang="en-US" sz="4400" baseline="30000" dirty="0">
                <a:latin typeface="Calibri" panose="020F0502020204030204" pitchFamily="34" charset="0"/>
                <a:ea typeface="Calibri"/>
                <a:cs typeface="Calibri" panose="020F0502020204030204" pitchFamily="34" charset="0"/>
                <a:sym typeface="Calibri"/>
              </a:rPr>
              <a:t>+</a:t>
            </a:r>
            <a:r>
              <a:rPr lang="en-US" sz="4400" dirty="0">
                <a:latin typeface="Calibri" panose="020F0502020204030204" pitchFamily="34" charset="0"/>
                <a:ea typeface="Calibri"/>
                <a:cs typeface="Calibri" panose="020F0502020204030204" pitchFamily="34" charset="0"/>
                <a:sym typeface="Calibri"/>
              </a:rPr>
              <a:t> level stat and if still high (&gt; 6), check an EKG, this could be a medical emergency!</a:t>
            </a:r>
          </a:p>
          <a:p>
            <a:pPr marL="381000" lvl="0" indent="-381000" algn="l" rtl="0">
              <a:spcBef>
                <a:spcPts val="0"/>
              </a:spcBef>
              <a:spcAft>
                <a:spcPts val="0"/>
              </a:spcAft>
              <a:buClr>
                <a:srgbClr val="000000"/>
              </a:buClr>
              <a:buSzPts val="3600"/>
              <a:buFont typeface="Calibri"/>
              <a:buChar char="•"/>
            </a:pPr>
            <a:endParaRPr lang="en-US" sz="4400" dirty="0">
              <a:latin typeface="Calibri" panose="020F0502020204030204" pitchFamily="34" charset="0"/>
              <a:ea typeface="Calibri"/>
              <a:cs typeface="Calibri" panose="020F0502020204030204" pitchFamily="34" charset="0"/>
              <a:sym typeface="Calibri"/>
            </a:endParaRPr>
          </a:p>
          <a:p>
            <a:pPr marL="381000" indent="-381000">
              <a:spcBef>
                <a:spcPts val="0"/>
              </a:spcBef>
              <a:buSzPts val="3600"/>
              <a:buFont typeface="Calibri"/>
              <a:buChar char="•"/>
            </a:pPr>
            <a:r>
              <a:rPr lang="en-US" sz="4400" dirty="0">
                <a:latin typeface="Calibri" panose="020F0502020204030204" pitchFamily="34" charset="0"/>
                <a:ea typeface="Calibri"/>
                <a:cs typeface="Calibri" panose="020F0502020204030204" pitchFamily="34" charset="0"/>
                <a:sym typeface="Calibri"/>
              </a:rPr>
              <a:t>Hypoaldosteronism not attributable to hyporeninemic hypoaldosteronism or primary adrenal disease is best worked up by nephrology.</a:t>
            </a:r>
          </a:p>
          <a:p>
            <a:pPr marL="0" lvl="0" indent="0" algn="l" rtl="0">
              <a:spcBef>
                <a:spcPts val="0"/>
              </a:spcBef>
              <a:spcAft>
                <a:spcPts val="0"/>
              </a:spcAft>
              <a:buClr>
                <a:srgbClr val="000000"/>
              </a:buClr>
              <a:buSzPts val="3600"/>
              <a:buNone/>
            </a:pPr>
            <a:endParaRPr lang="en-US" sz="4400" dirty="0">
              <a:latin typeface="Calibri" panose="020F0502020204030204" pitchFamily="34" charset="0"/>
              <a:ea typeface="Calibri"/>
              <a:cs typeface="Calibri" panose="020F0502020204030204" pitchFamily="34" charset="0"/>
              <a:sym typeface="Calibri"/>
            </a:endParaRPr>
          </a:p>
          <a:p>
            <a:pPr marL="0" lvl="0" indent="0" algn="l" rtl="0">
              <a:spcBef>
                <a:spcPts val="700"/>
              </a:spcBef>
              <a:spcAft>
                <a:spcPts val="0"/>
              </a:spcAft>
              <a:buClr>
                <a:srgbClr val="000000"/>
              </a:buClr>
              <a:buSzPts val="3800"/>
              <a:buFont typeface="Helvetica Neue Light"/>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94"/>
          <p:cNvSpPr txBox="1">
            <a:spLocks noGrp="1"/>
          </p:cNvSpPr>
          <p:nvPr>
            <p:ph type="title"/>
          </p:nvPr>
        </p:nvSpPr>
        <p:spPr>
          <a:xfrm>
            <a:off x="406400" y="215900"/>
            <a:ext cx="11947525" cy="13081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ln>
                  <a:solidFill>
                    <a:schemeClr val="tx1"/>
                  </a:solidFill>
                </a:ln>
                <a:solidFill>
                  <a:srgbClr val="FFC000"/>
                </a:solidFill>
                <a:latin typeface="Arial"/>
                <a:ea typeface="Arial"/>
                <a:cs typeface="Arial"/>
                <a:sym typeface="Arial"/>
              </a:rPr>
              <a:t>Hypoaldosteronism Treatment</a:t>
            </a:r>
            <a:endParaRPr dirty="0">
              <a:ln>
                <a:solidFill>
                  <a:schemeClr val="tx1"/>
                </a:solidFill>
              </a:ln>
              <a:solidFill>
                <a:srgbClr val="FFC000"/>
              </a:solidFill>
            </a:endParaRPr>
          </a:p>
        </p:txBody>
      </p:sp>
      <p:sp>
        <p:nvSpPr>
          <p:cNvPr id="666" name="Google Shape;666;p94"/>
          <p:cNvSpPr txBox="1">
            <a:spLocks noGrp="1"/>
          </p:cNvSpPr>
          <p:nvPr>
            <p:ph type="body" idx="1"/>
          </p:nvPr>
        </p:nvSpPr>
        <p:spPr>
          <a:xfrm>
            <a:off x="177800" y="1600200"/>
            <a:ext cx="12609512" cy="7935913"/>
          </a:xfrm>
          <a:prstGeom prst="rect">
            <a:avLst/>
          </a:prstGeom>
          <a:noFill/>
          <a:ln>
            <a:noFill/>
          </a:ln>
        </p:spPr>
        <p:txBody>
          <a:bodyPr spcFirstLastPara="1" wrap="square" lIns="126425" tIns="72225" rIns="126425" bIns="72225" anchor="t" anchorCtr="0">
            <a:noAutofit/>
          </a:bodyPr>
          <a:lstStyle/>
          <a:p>
            <a:pPr marL="381000" lvl="0" indent="-381000" algn="l" rtl="0">
              <a:spcBef>
                <a:spcPts val="600"/>
              </a:spcBef>
              <a:spcAft>
                <a:spcPts val="600"/>
              </a:spcAft>
              <a:buClr>
                <a:srgbClr val="000000"/>
              </a:buClr>
              <a:buSzPts val="3520"/>
              <a:buFont typeface="Calibri"/>
              <a:buChar char="•"/>
            </a:pPr>
            <a:r>
              <a:rPr lang="en-US" sz="4400" b="1" i="1" dirty="0">
                <a:latin typeface="Calibri" panose="020F0502020204030204" pitchFamily="34" charset="0"/>
                <a:ea typeface="Calibri"/>
                <a:cs typeface="Calibri" panose="020F0502020204030204" pitchFamily="34" charset="0"/>
                <a:sym typeface="Calibri"/>
              </a:rPr>
              <a:t>If primary adrenal deficiency </a:t>
            </a:r>
            <a:r>
              <a:rPr lang="en-US" sz="4400" dirty="0">
                <a:latin typeface="Calibri" panose="020F0502020204030204" pitchFamily="34" charset="0"/>
                <a:ea typeface="Calibri"/>
                <a:cs typeface="Calibri" panose="020F0502020204030204" pitchFamily="34" charset="0"/>
                <a:sym typeface="Calibri"/>
              </a:rPr>
              <a:t>is present, </a:t>
            </a:r>
            <a:r>
              <a:rPr lang="en-US" sz="4400" b="1" i="1" dirty="0">
                <a:latin typeface="Calibri" panose="020F0502020204030204" pitchFamily="34" charset="0"/>
                <a:ea typeface="Calibri"/>
                <a:cs typeface="Calibri" panose="020F0502020204030204" pitchFamily="34" charset="0"/>
                <a:sym typeface="Calibri"/>
              </a:rPr>
              <a:t>treatment is with fludrocortisone</a:t>
            </a:r>
            <a:r>
              <a:rPr lang="en-US" sz="4400" dirty="0">
                <a:latin typeface="Calibri" panose="020F0502020204030204" pitchFamily="34" charset="0"/>
                <a:ea typeface="Calibri"/>
                <a:cs typeface="Calibri" panose="020F0502020204030204" pitchFamily="34" charset="0"/>
                <a:sym typeface="Calibri"/>
              </a:rPr>
              <a:t> to </a:t>
            </a:r>
            <a:r>
              <a:rPr lang="en-US" sz="4400" b="1" i="1" dirty="0">
                <a:latin typeface="Calibri" panose="020F0502020204030204" pitchFamily="34" charset="0"/>
                <a:ea typeface="Calibri"/>
                <a:cs typeface="Calibri" panose="020F0502020204030204" pitchFamily="34" charset="0"/>
                <a:sym typeface="Calibri"/>
              </a:rPr>
              <a:t>prevent orthostasis and normalize potassium</a:t>
            </a:r>
            <a:r>
              <a:rPr lang="en-US" sz="4400" dirty="0">
                <a:latin typeface="Calibri" panose="020F0502020204030204" pitchFamily="34" charset="0"/>
                <a:ea typeface="Calibri"/>
                <a:cs typeface="Calibri" panose="020F0502020204030204" pitchFamily="34" charset="0"/>
                <a:sym typeface="Calibri"/>
              </a:rPr>
              <a:t> levels. </a:t>
            </a:r>
            <a:endParaRPr dirty="0">
              <a:latin typeface="Calibri" panose="020F0502020204030204" pitchFamily="34" charset="0"/>
              <a:cs typeface="Calibri" panose="020F0502020204030204" pitchFamily="34" charset="0"/>
            </a:endParaRPr>
          </a:p>
          <a:p>
            <a:pPr marL="381000" lvl="0" indent="-203200" algn="l" rtl="0">
              <a:spcBef>
                <a:spcPts val="600"/>
              </a:spcBef>
              <a:spcAft>
                <a:spcPts val="600"/>
              </a:spcAft>
              <a:buClr>
                <a:srgbClr val="000000"/>
              </a:buClr>
              <a:buSzPts val="2800"/>
              <a:buFont typeface="Helvetica Neue Light"/>
              <a:buNone/>
            </a:pPr>
            <a:endParaRPr sz="3000" dirty="0">
              <a:latin typeface="Calibri" panose="020F0502020204030204" pitchFamily="34" charset="0"/>
              <a:ea typeface="Calibri"/>
              <a:cs typeface="Calibri" panose="020F0502020204030204" pitchFamily="34" charset="0"/>
              <a:sym typeface="Calibri"/>
            </a:endParaRPr>
          </a:p>
          <a:p>
            <a:pPr marL="381000" lvl="0" indent="-381000" algn="l" rtl="0">
              <a:spcBef>
                <a:spcPts val="600"/>
              </a:spcBef>
              <a:spcAft>
                <a:spcPts val="600"/>
              </a:spcAft>
              <a:buClr>
                <a:srgbClr val="000000"/>
              </a:buClr>
              <a:buSzPts val="3520"/>
              <a:buFont typeface="Calibri"/>
              <a:buChar char="•"/>
            </a:pPr>
            <a:r>
              <a:rPr lang="en-US" sz="4400" dirty="0">
                <a:latin typeface="Calibri" panose="020F0502020204030204" pitchFamily="34" charset="0"/>
                <a:ea typeface="Calibri"/>
                <a:cs typeface="Calibri" panose="020F0502020204030204" pitchFamily="34" charset="0"/>
                <a:sym typeface="Calibri"/>
              </a:rPr>
              <a:t>Fludrocortisone will exacerbate HTN and edema. Therefore, despite being effective, </a:t>
            </a:r>
            <a:r>
              <a:rPr lang="en-US" sz="4400" dirty="0" err="1">
                <a:latin typeface="Calibri" panose="020F0502020204030204" pitchFamily="34" charset="0"/>
                <a:ea typeface="Calibri"/>
                <a:cs typeface="Calibri" panose="020F0502020204030204" pitchFamily="34" charset="0"/>
                <a:sym typeface="Calibri"/>
              </a:rPr>
              <a:t>Florinef</a:t>
            </a:r>
            <a:r>
              <a:rPr lang="en-US" sz="4400" dirty="0">
                <a:latin typeface="Calibri" panose="020F0502020204030204" pitchFamily="34" charset="0"/>
                <a:ea typeface="Calibri"/>
                <a:cs typeface="Calibri" panose="020F0502020204030204" pitchFamily="34" charset="0"/>
                <a:sym typeface="Calibri"/>
              </a:rPr>
              <a:t> is </a:t>
            </a:r>
            <a:r>
              <a:rPr lang="en-US" sz="4400" b="1" i="1" dirty="0">
                <a:latin typeface="Calibri" panose="020F0502020204030204" pitchFamily="34" charset="0"/>
                <a:ea typeface="Calibri"/>
                <a:cs typeface="Calibri" panose="020F0502020204030204" pitchFamily="34" charset="0"/>
                <a:sym typeface="Calibri"/>
              </a:rPr>
              <a:t>rarely used in hyporeninemic hypoaldosteronism</a:t>
            </a:r>
            <a:r>
              <a:rPr lang="en-US" sz="4400" dirty="0">
                <a:latin typeface="Calibri" panose="020F0502020204030204" pitchFamily="34" charset="0"/>
                <a:ea typeface="Calibri"/>
                <a:cs typeface="Calibri" panose="020F0502020204030204" pitchFamily="34" charset="0"/>
                <a:sym typeface="Calibri"/>
              </a:rPr>
              <a:t>. </a:t>
            </a:r>
            <a:endParaRPr dirty="0">
              <a:latin typeface="Calibri" panose="020F0502020204030204" pitchFamily="34" charset="0"/>
              <a:cs typeface="Calibri" panose="020F0502020204030204" pitchFamily="34" charset="0"/>
            </a:endParaRPr>
          </a:p>
          <a:p>
            <a:pPr marL="381000" lvl="0" indent="-157480" algn="l" rtl="0">
              <a:spcBef>
                <a:spcPts val="600"/>
              </a:spcBef>
              <a:spcAft>
                <a:spcPts val="600"/>
              </a:spcAft>
              <a:buClr>
                <a:srgbClr val="000000"/>
              </a:buClr>
              <a:buSzPts val="3520"/>
              <a:buFont typeface="Helvetica Neue Light"/>
              <a:buNone/>
            </a:pPr>
            <a:endParaRPr sz="3000" dirty="0">
              <a:latin typeface="Calibri" panose="020F0502020204030204" pitchFamily="34" charset="0"/>
              <a:ea typeface="Calibri"/>
              <a:cs typeface="Calibri" panose="020F0502020204030204" pitchFamily="34" charset="0"/>
              <a:sym typeface="Calibri"/>
            </a:endParaRPr>
          </a:p>
          <a:p>
            <a:pPr marL="381000" lvl="0" indent="-381000" algn="l" rtl="0">
              <a:spcBef>
                <a:spcPts val="600"/>
              </a:spcBef>
              <a:spcAft>
                <a:spcPts val="600"/>
              </a:spcAft>
              <a:buClr>
                <a:srgbClr val="000000"/>
              </a:buClr>
              <a:buSzPts val="3520"/>
              <a:buFont typeface="Calibri"/>
              <a:buChar char="•"/>
            </a:pPr>
            <a:r>
              <a:rPr lang="en-US" sz="4400" dirty="0">
                <a:latin typeface="Calibri" panose="020F0502020204030204" pitchFamily="34" charset="0"/>
                <a:ea typeface="Calibri"/>
                <a:cs typeface="Calibri" panose="020F0502020204030204" pitchFamily="34" charset="0"/>
                <a:sym typeface="Calibri"/>
              </a:rPr>
              <a:t>Instead, </a:t>
            </a:r>
            <a:r>
              <a:rPr lang="en-US" sz="4400" b="1" i="1" dirty="0">
                <a:latin typeface="Calibri" panose="020F0502020204030204" pitchFamily="34" charset="0"/>
                <a:ea typeface="Calibri"/>
                <a:cs typeface="Calibri" panose="020F0502020204030204" pitchFamily="34" charset="0"/>
                <a:sym typeface="Calibri"/>
              </a:rPr>
              <a:t>a low K</a:t>
            </a:r>
            <a:r>
              <a:rPr lang="en-US" sz="4400" b="1" i="1" baseline="30000" dirty="0">
                <a:latin typeface="Calibri" panose="020F0502020204030204" pitchFamily="34" charset="0"/>
                <a:ea typeface="Calibri"/>
                <a:cs typeface="Calibri" panose="020F0502020204030204" pitchFamily="34" charset="0"/>
                <a:sym typeface="Calibri"/>
              </a:rPr>
              <a:t>+</a:t>
            </a:r>
            <a:r>
              <a:rPr lang="en-US" sz="4400" b="1" i="1" dirty="0">
                <a:latin typeface="Calibri" panose="020F0502020204030204" pitchFamily="34" charset="0"/>
                <a:ea typeface="Calibri"/>
                <a:cs typeface="Calibri" panose="020F0502020204030204" pitchFamily="34" charset="0"/>
                <a:sym typeface="Calibri"/>
              </a:rPr>
              <a:t> diet, with or without a loop or a thiazide diuretic are the mainstays of treatment in hyporeninemic hypoaldosteronism</a:t>
            </a:r>
            <a:r>
              <a:rPr lang="en-US" sz="4400" dirty="0">
                <a:latin typeface="Calibri" panose="020F0502020204030204" pitchFamily="34" charset="0"/>
                <a:ea typeface="Calibri"/>
                <a:cs typeface="Calibri" panose="020F0502020204030204" pitchFamily="34" charset="0"/>
                <a:sym typeface="Calibri"/>
              </a:rPr>
              <a:t>.</a:t>
            </a:r>
            <a:endParaRPr sz="4400" dirty="0">
              <a:latin typeface="Calibri" panose="020F0502020204030204" pitchFamily="34" charset="0"/>
              <a:ea typeface="Calibri"/>
              <a:cs typeface="Calibri" panose="020F0502020204030204" pitchFamily="34" charset="0"/>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95"/>
          <p:cNvSpPr txBox="1">
            <a:spLocks noGrp="1"/>
          </p:cNvSpPr>
          <p:nvPr>
            <p:ph type="title"/>
          </p:nvPr>
        </p:nvSpPr>
        <p:spPr>
          <a:xfrm>
            <a:off x="649288" y="152400"/>
            <a:ext cx="11704637" cy="14478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7030A0"/>
                </a:solidFill>
                <a:latin typeface="Calibri"/>
                <a:ea typeface="Calibri"/>
                <a:cs typeface="Calibri"/>
                <a:sym typeface="Calibri"/>
              </a:rPr>
              <a:t>Primary Hyperaldosteronism</a:t>
            </a:r>
            <a:endParaRPr dirty="0">
              <a:solidFill>
                <a:srgbClr val="7030A0"/>
              </a:solidFill>
              <a:latin typeface="Calibri"/>
              <a:ea typeface="Calibri"/>
              <a:cs typeface="Calibri"/>
              <a:sym typeface="Calibri"/>
            </a:endParaRPr>
          </a:p>
        </p:txBody>
      </p:sp>
      <p:sp>
        <p:nvSpPr>
          <p:cNvPr id="672" name="Google Shape;672;p95"/>
          <p:cNvSpPr txBox="1">
            <a:spLocks noGrp="1"/>
          </p:cNvSpPr>
          <p:nvPr>
            <p:ph type="body" idx="1"/>
          </p:nvPr>
        </p:nvSpPr>
        <p:spPr>
          <a:xfrm>
            <a:off x="186268" y="1600200"/>
            <a:ext cx="12601046" cy="8001000"/>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Also known as Conn’s syndrome</a:t>
            </a:r>
            <a:r>
              <a:rPr lang="en-US" sz="4400" dirty="0">
                <a:latin typeface="Calibri" panose="020F0502020204030204" pitchFamily="34" charset="0"/>
                <a:cs typeface="Calibri" panose="020F0502020204030204" pitchFamily="34" charset="0"/>
              </a:rPr>
              <a:t>, and m</a:t>
            </a:r>
            <a:r>
              <a:rPr lang="en-US" sz="4400" dirty="0">
                <a:latin typeface="Calibri" panose="020F0502020204030204" pitchFamily="34" charset="0"/>
                <a:ea typeface="Calibri"/>
                <a:cs typeface="Calibri" panose="020F0502020204030204" pitchFamily="34" charset="0"/>
                <a:sym typeface="Calibri"/>
              </a:rPr>
              <a:t>ost frequently caused by:</a:t>
            </a:r>
            <a:endParaRPr sz="4400" dirty="0">
              <a:latin typeface="Calibri" panose="020F0502020204030204" pitchFamily="34" charset="0"/>
              <a:cs typeface="Calibri" panose="020F0502020204030204" pitchFamily="34" charset="0"/>
            </a:endParaRPr>
          </a:p>
          <a:p>
            <a:pPr marL="914400" lvl="0" indent="-914400" algn="l" rtl="0">
              <a:spcBef>
                <a:spcPts val="700"/>
              </a:spcBef>
              <a:spcAft>
                <a:spcPts val="0"/>
              </a:spcAft>
              <a:buClr>
                <a:srgbClr val="000000"/>
              </a:buClr>
              <a:buSzPts val="4500"/>
              <a:buFont typeface="Helvetica Neue Light"/>
              <a:buAutoNum type="arabicPeriod"/>
            </a:pPr>
            <a:r>
              <a:rPr lang="en-US" sz="4400" b="1" i="1" dirty="0">
                <a:latin typeface="Calibri" panose="020F0502020204030204" pitchFamily="34" charset="0"/>
                <a:ea typeface="Calibri"/>
                <a:cs typeface="Calibri" panose="020F0502020204030204" pitchFamily="34" charset="0"/>
                <a:sym typeface="Calibri"/>
              </a:rPr>
              <a:t>Bilateral adrenal hyperplasia (60%)</a:t>
            </a:r>
            <a:endParaRPr sz="4400" dirty="0">
              <a:latin typeface="Calibri" panose="020F0502020204030204" pitchFamily="34" charset="0"/>
              <a:ea typeface="Calibri"/>
              <a:cs typeface="Calibri" panose="020F0502020204030204" pitchFamily="34" charset="0"/>
              <a:sym typeface="Calibri"/>
            </a:endParaRPr>
          </a:p>
          <a:p>
            <a:pPr marL="914400" lvl="0" indent="-914400" algn="l" rtl="0">
              <a:spcBef>
                <a:spcPts val="700"/>
              </a:spcBef>
              <a:spcAft>
                <a:spcPts val="0"/>
              </a:spcAft>
              <a:buClr>
                <a:srgbClr val="000000"/>
              </a:buClr>
              <a:buSzPts val="4500"/>
              <a:buFont typeface="Helvetica Neue Light"/>
              <a:buAutoNum type="arabicPeriod"/>
            </a:pPr>
            <a:r>
              <a:rPr lang="en-US" sz="4400" b="1" i="1" dirty="0">
                <a:latin typeface="Calibri" panose="020F0502020204030204" pitchFamily="34" charset="0"/>
                <a:ea typeface="Calibri"/>
                <a:cs typeface="Calibri" panose="020F0502020204030204" pitchFamily="34" charset="0"/>
                <a:sym typeface="Calibri"/>
              </a:rPr>
              <a:t>Aldosterone producing adenoma (40%)  </a:t>
            </a:r>
            <a:endParaRPr sz="4400" dirty="0">
              <a:latin typeface="Calibri" panose="020F0502020204030204" pitchFamily="34" charset="0"/>
              <a:cs typeface="Calibri" panose="020F0502020204030204" pitchFamily="34" charset="0"/>
            </a:endParaRPr>
          </a:p>
          <a:p>
            <a:pPr marL="914400" lvl="0" indent="-914400" algn="l" rtl="0">
              <a:spcBef>
                <a:spcPts val="700"/>
              </a:spcBef>
              <a:spcAft>
                <a:spcPts val="0"/>
              </a:spcAft>
              <a:buClr>
                <a:srgbClr val="000000"/>
              </a:buClr>
              <a:buSzPts val="4500"/>
              <a:buFont typeface="Helvetica Neue Light"/>
              <a:buAutoNum type="arabicPeriod"/>
            </a:pPr>
            <a:r>
              <a:rPr lang="en-US" sz="4400" dirty="0">
                <a:latin typeface="Calibri" panose="020F0502020204030204" pitchFamily="34" charset="0"/>
                <a:ea typeface="Calibri"/>
                <a:cs typeface="Calibri" panose="020F0502020204030204" pitchFamily="34" charset="0"/>
                <a:sym typeface="Calibri"/>
              </a:rPr>
              <a:t>Adrenal CA is extremely rare </a:t>
            </a:r>
            <a:endParaRPr sz="4400" dirty="0">
              <a:latin typeface="Calibri" panose="020F0502020204030204" pitchFamily="34" charset="0"/>
              <a:cs typeface="Calibri" panose="020F0502020204030204" pitchFamily="34" charset="0"/>
            </a:endParaRPr>
          </a:p>
          <a:p>
            <a:pPr marL="487363" lvl="0" indent="-201612" algn="l" rtl="0">
              <a:spcBef>
                <a:spcPts val="700"/>
              </a:spcBef>
              <a:spcAft>
                <a:spcPts val="0"/>
              </a:spcAft>
              <a:buClr>
                <a:srgbClr val="000000"/>
              </a:buClr>
              <a:buSzPts val="4500"/>
              <a:buFont typeface="Arial"/>
              <a:buNone/>
            </a:pPr>
            <a:endParaRPr sz="2000" dirty="0">
              <a:latin typeface="Calibri" panose="020F0502020204030204" pitchFamily="34" charset="0"/>
              <a:ea typeface="Calibri"/>
              <a:cs typeface="Calibri" panose="020F0502020204030204" pitchFamily="34" charset="0"/>
              <a:sym typeface="Calibri"/>
            </a:endParaRPr>
          </a:p>
          <a:p>
            <a:pPr marL="487363" lvl="0" indent="-487363" algn="l" rtl="0">
              <a:spcBef>
                <a:spcPts val="700"/>
              </a:spcBef>
              <a:spcAft>
                <a:spcPts val="0"/>
              </a:spcAft>
              <a:buClr>
                <a:srgbClr val="000000"/>
              </a:buClr>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Aldosterone excess results in:</a:t>
            </a:r>
          </a:p>
          <a:p>
            <a:pPr marL="944563" lvl="1" indent="-487363">
              <a:spcBef>
                <a:spcPts val="700"/>
              </a:spcBef>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Sodium retention causing </a:t>
            </a:r>
            <a:r>
              <a:rPr lang="en-US" sz="4400" b="1" i="1" dirty="0">
                <a:latin typeface="Calibri" panose="020F0502020204030204" pitchFamily="34" charset="0"/>
                <a:ea typeface="Calibri"/>
                <a:cs typeface="Calibri" panose="020F0502020204030204" pitchFamily="34" charset="0"/>
                <a:sym typeface="Calibri"/>
              </a:rPr>
              <a:t>hypertension, </a:t>
            </a:r>
            <a:r>
              <a:rPr lang="en-US" sz="4400" dirty="0">
                <a:latin typeface="Calibri" panose="020F0502020204030204" pitchFamily="34" charset="0"/>
                <a:ea typeface="Calibri"/>
                <a:cs typeface="Calibri" panose="020F0502020204030204" pitchFamily="34" charset="0"/>
                <a:sym typeface="Calibri"/>
              </a:rPr>
              <a:t>but not hypernatremia</a:t>
            </a:r>
            <a:r>
              <a:rPr lang="en-US" sz="4400" b="1" i="1" dirty="0">
                <a:latin typeface="Calibri" panose="020F0502020204030204" pitchFamily="34" charset="0"/>
                <a:ea typeface="Calibri"/>
                <a:cs typeface="Calibri" panose="020F0502020204030204" pitchFamily="34" charset="0"/>
                <a:sym typeface="Calibri"/>
              </a:rPr>
              <a:t> </a:t>
            </a:r>
            <a:r>
              <a:rPr lang="en-US" sz="4400" dirty="0">
                <a:latin typeface="Calibri" panose="020F0502020204030204" pitchFamily="34" charset="0"/>
                <a:ea typeface="Calibri"/>
                <a:cs typeface="Calibri" panose="020F0502020204030204" pitchFamily="34" charset="0"/>
                <a:sym typeface="Calibri"/>
              </a:rPr>
              <a:t>(equal Na</a:t>
            </a:r>
            <a:r>
              <a:rPr lang="en-US" sz="4400" baseline="30000" dirty="0">
                <a:latin typeface="Calibri" panose="020F0502020204030204" pitchFamily="34" charset="0"/>
                <a:ea typeface="Calibri"/>
                <a:cs typeface="Calibri" panose="020F0502020204030204" pitchFamily="34" charset="0"/>
                <a:sym typeface="Calibri"/>
              </a:rPr>
              <a:t>+</a:t>
            </a:r>
            <a:r>
              <a:rPr lang="en-US" sz="4400" dirty="0">
                <a:latin typeface="Calibri" panose="020F0502020204030204" pitchFamily="34" charset="0"/>
                <a:ea typeface="Calibri"/>
                <a:cs typeface="Calibri" panose="020F0502020204030204" pitchFamily="34" charset="0"/>
                <a:sym typeface="Calibri"/>
              </a:rPr>
              <a:t> and water retention)</a:t>
            </a:r>
          </a:p>
          <a:p>
            <a:pPr marL="944563" lvl="1" indent="-487363">
              <a:spcBef>
                <a:spcPts val="700"/>
              </a:spcBef>
              <a:buSzPts val="4500"/>
              <a:buFont typeface="Arial"/>
              <a:buChar char="•"/>
            </a:pPr>
            <a:r>
              <a:rPr lang="en-US" sz="4400" b="1" i="1" dirty="0">
                <a:latin typeface="Calibri" panose="020F0502020204030204" pitchFamily="34" charset="0"/>
                <a:ea typeface="Calibri"/>
                <a:cs typeface="Calibri" panose="020F0502020204030204" pitchFamily="34" charset="0"/>
                <a:sym typeface="Calibri"/>
              </a:rPr>
              <a:t>Low-normal potassium or hypokalemia</a:t>
            </a:r>
          </a:p>
          <a:p>
            <a:pPr marL="944563" lvl="1" indent="-487363">
              <a:spcBef>
                <a:spcPts val="700"/>
              </a:spcBef>
              <a:buSzPts val="4500"/>
              <a:buFont typeface="Arial"/>
              <a:buChar char="•"/>
            </a:pPr>
            <a:r>
              <a:rPr lang="en-US" sz="4400" b="1" i="1" dirty="0">
                <a:latin typeface="Calibri" panose="020F0502020204030204" pitchFamily="34" charset="0"/>
                <a:ea typeface="Calibri"/>
                <a:cs typeface="Calibri" panose="020F0502020204030204" pitchFamily="34" charset="0"/>
                <a:sym typeface="Calibri"/>
              </a:rPr>
              <a:t>Metabolic alkalosis</a:t>
            </a:r>
            <a:endParaRPr sz="4400" dirty="0">
              <a:latin typeface="Calibri" panose="020F0502020204030204" pitchFamily="34" charset="0"/>
              <a:ea typeface="Calibri"/>
              <a:cs typeface="Calibri" panose="020F0502020204030204" pitchFamily="34" charset="0"/>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96"/>
          <p:cNvSpPr txBox="1">
            <a:spLocks noGrp="1"/>
          </p:cNvSpPr>
          <p:nvPr>
            <p:ph type="title"/>
          </p:nvPr>
        </p:nvSpPr>
        <p:spPr>
          <a:xfrm>
            <a:off x="617537" y="54503"/>
            <a:ext cx="11704637" cy="14478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7030A0"/>
                </a:solidFill>
                <a:latin typeface="Arial"/>
                <a:ea typeface="Arial"/>
                <a:cs typeface="Arial"/>
                <a:sym typeface="Arial"/>
              </a:rPr>
              <a:t>Primary Hyperaldosteronism</a:t>
            </a:r>
            <a:endParaRPr dirty="0">
              <a:solidFill>
                <a:srgbClr val="7030A0"/>
              </a:solidFill>
            </a:endParaRPr>
          </a:p>
        </p:txBody>
      </p:sp>
      <p:sp>
        <p:nvSpPr>
          <p:cNvPr id="678" name="Google Shape;678;p96"/>
          <p:cNvSpPr txBox="1">
            <a:spLocks noGrp="1"/>
          </p:cNvSpPr>
          <p:nvPr>
            <p:ph type="body" idx="1"/>
          </p:nvPr>
        </p:nvSpPr>
        <p:spPr>
          <a:xfrm>
            <a:off x="152400" y="1608668"/>
            <a:ext cx="12634913" cy="7979832"/>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500" dirty="0">
                <a:latin typeface="Calibri" panose="020F0502020204030204" pitchFamily="34" charset="0"/>
                <a:ea typeface="Calibri"/>
                <a:cs typeface="Calibri" panose="020F0502020204030204" pitchFamily="34" charset="0"/>
                <a:sym typeface="Calibri"/>
              </a:rPr>
              <a:t>Hyperaldosteronism accounts for up to 5% of hypertension and is potentially curable.</a:t>
            </a:r>
            <a:endParaRPr dirty="0">
              <a:latin typeface="Calibri" panose="020F0502020204030204" pitchFamily="34" charset="0"/>
              <a:cs typeface="Calibri" panose="020F0502020204030204" pitchFamily="34" charset="0"/>
            </a:endParaRPr>
          </a:p>
          <a:p>
            <a:pPr marL="487363" lvl="0" indent="-201612" algn="l" rtl="0">
              <a:spcBef>
                <a:spcPts val="700"/>
              </a:spcBef>
              <a:spcAft>
                <a:spcPts val="0"/>
              </a:spcAft>
              <a:buClr>
                <a:srgbClr val="000000"/>
              </a:buClr>
              <a:buSzPts val="4500"/>
              <a:buFont typeface="Arial"/>
              <a:buNone/>
            </a:pPr>
            <a:endParaRPr sz="4500" dirty="0">
              <a:latin typeface="Calibri" panose="020F0502020204030204" pitchFamily="34" charset="0"/>
              <a:ea typeface="Calibri"/>
              <a:cs typeface="Calibri" panose="020F0502020204030204" pitchFamily="34" charset="0"/>
              <a:sym typeface="Calibri"/>
            </a:endParaRPr>
          </a:p>
          <a:p>
            <a:pPr marL="487363" lvl="0" indent="-487363" algn="l" rtl="0">
              <a:spcBef>
                <a:spcPts val="700"/>
              </a:spcBef>
              <a:spcAft>
                <a:spcPts val="0"/>
              </a:spcAft>
              <a:buClr>
                <a:srgbClr val="000000"/>
              </a:buClr>
              <a:buSzPts val="4500"/>
              <a:buFont typeface="Arial"/>
              <a:buChar char="•"/>
            </a:pPr>
            <a:r>
              <a:rPr lang="en-US" sz="4500" dirty="0">
                <a:latin typeface="Calibri" panose="020F0502020204030204" pitchFamily="34" charset="0"/>
                <a:ea typeface="Calibri"/>
                <a:cs typeface="Calibri" panose="020F0502020204030204" pitchFamily="34" charset="0"/>
                <a:sym typeface="Calibri"/>
              </a:rPr>
              <a:t>Persons with PA usually present with significant </a:t>
            </a:r>
            <a:r>
              <a:rPr lang="en-US" sz="4500" b="1" i="1" dirty="0">
                <a:latin typeface="Calibri" panose="020F0502020204030204" pitchFamily="34" charset="0"/>
                <a:ea typeface="Calibri"/>
                <a:cs typeface="Calibri" panose="020F0502020204030204" pitchFamily="34" charset="0"/>
                <a:sym typeface="Calibri"/>
              </a:rPr>
              <a:t>HTN at 30- 50 years and F:M ratio is 2:1. </a:t>
            </a:r>
            <a:endParaRPr dirty="0">
              <a:latin typeface="Calibri" panose="020F0502020204030204" pitchFamily="34" charset="0"/>
              <a:cs typeface="Calibri" panose="020F0502020204030204" pitchFamily="34" charset="0"/>
            </a:endParaRPr>
          </a:p>
          <a:p>
            <a:pPr marL="487363" lvl="0" indent="-201612" algn="l" rtl="0">
              <a:spcBef>
                <a:spcPts val="700"/>
              </a:spcBef>
              <a:spcAft>
                <a:spcPts val="0"/>
              </a:spcAft>
              <a:buClr>
                <a:srgbClr val="000000"/>
              </a:buClr>
              <a:buSzPts val="4500"/>
              <a:buFont typeface="Arial"/>
              <a:buNone/>
            </a:pPr>
            <a:endParaRPr sz="4500" dirty="0">
              <a:latin typeface="Calibri" panose="020F0502020204030204" pitchFamily="34" charset="0"/>
              <a:ea typeface="Calibri"/>
              <a:cs typeface="Calibri" panose="020F0502020204030204" pitchFamily="34" charset="0"/>
              <a:sym typeface="Calibri"/>
            </a:endParaRPr>
          </a:p>
          <a:p>
            <a:pPr marL="487363" lvl="0" indent="-487363" algn="l" rtl="0">
              <a:spcBef>
                <a:spcPts val="700"/>
              </a:spcBef>
              <a:spcAft>
                <a:spcPts val="0"/>
              </a:spcAft>
              <a:buClr>
                <a:srgbClr val="000000"/>
              </a:buClr>
              <a:buSzPts val="4500"/>
              <a:buFont typeface="Arial"/>
              <a:buChar char="•"/>
            </a:pPr>
            <a:r>
              <a:rPr lang="en-US" sz="4500" dirty="0">
                <a:latin typeface="Calibri" panose="020F0502020204030204" pitchFamily="34" charset="0"/>
                <a:ea typeface="Calibri"/>
                <a:cs typeface="Calibri" panose="020F0502020204030204" pitchFamily="34" charset="0"/>
                <a:sym typeface="Calibri"/>
              </a:rPr>
              <a:t>Primary hyperaldosteronism is suspected in any patient with </a:t>
            </a:r>
            <a:r>
              <a:rPr lang="en-US" sz="4500" b="1" i="1" dirty="0">
                <a:latin typeface="Calibri" panose="020F0502020204030204" pitchFamily="34" charset="0"/>
                <a:ea typeface="Calibri"/>
                <a:cs typeface="Calibri" panose="020F0502020204030204" pitchFamily="34" charset="0"/>
                <a:sym typeface="Calibri"/>
              </a:rPr>
              <a:t>persistent hypokalemia </a:t>
            </a:r>
            <a:r>
              <a:rPr lang="en-US" sz="2800" dirty="0">
                <a:latin typeface="Calibri" panose="020F0502020204030204" pitchFamily="34" charset="0"/>
                <a:ea typeface="Calibri"/>
                <a:cs typeface="Calibri" panose="020F0502020204030204" pitchFamily="34" charset="0"/>
                <a:sym typeface="Calibri"/>
              </a:rPr>
              <a:t>(not always seen) </a:t>
            </a:r>
            <a:r>
              <a:rPr lang="en-US" sz="4500" b="1" i="1" dirty="0">
                <a:latin typeface="Calibri" panose="020F0502020204030204" pitchFamily="34" charset="0"/>
                <a:ea typeface="Calibri"/>
                <a:cs typeface="Calibri" panose="020F0502020204030204" pitchFamily="34" charset="0"/>
                <a:sym typeface="Calibri"/>
              </a:rPr>
              <a:t>and resistant hypertension, </a:t>
            </a:r>
            <a:r>
              <a:rPr lang="en-US" sz="4500" dirty="0">
                <a:latin typeface="Calibri" panose="020F0502020204030204" pitchFamily="34" charset="0"/>
                <a:ea typeface="Calibri"/>
                <a:cs typeface="Calibri" panose="020F0502020204030204" pitchFamily="34" charset="0"/>
                <a:sym typeface="Calibri"/>
              </a:rPr>
              <a:t>when both are present, 50% of persons will have PA.</a:t>
            </a:r>
            <a:endParaRPr dirty="0">
              <a:latin typeface="Calibri" panose="020F0502020204030204" pitchFamily="34" charset="0"/>
              <a:ea typeface="Calibri"/>
              <a:cs typeface="Calibri" panose="020F0502020204030204" pitchFamily="34" charset="0"/>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g1016b1c0db4_0_0"/>
          <p:cNvSpPr txBox="1">
            <a:spLocks noGrp="1"/>
          </p:cNvSpPr>
          <p:nvPr>
            <p:ph type="title"/>
          </p:nvPr>
        </p:nvSpPr>
        <p:spPr>
          <a:xfrm>
            <a:off x="649288" y="325438"/>
            <a:ext cx="11704500" cy="14478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7030A0"/>
                </a:solidFill>
                <a:latin typeface="Arial"/>
                <a:ea typeface="Arial"/>
                <a:cs typeface="Arial"/>
                <a:sym typeface="Arial"/>
              </a:rPr>
              <a:t>Primary Hyperaldosteronism</a:t>
            </a:r>
            <a:endParaRPr dirty="0">
              <a:solidFill>
                <a:srgbClr val="7030A0"/>
              </a:solidFill>
            </a:endParaRPr>
          </a:p>
        </p:txBody>
      </p:sp>
      <p:sp>
        <p:nvSpPr>
          <p:cNvPr id="684" name="Google Shape;684;g1016b1c0db4_0_0"/>
          <p:cNvSpPr txBox="1">
            <a:spLocks noGrp="1"/>
          </p:cNvSpPr>
          <p:nvPr>
            <p:ph type="body" idx="1"/>
          </p:nvPr>
        </p:nvSpPr>
        <p:spPr>
          <a:xfrm>
            <a:off x="101600" y="1981200"/>
            <a:ext cx="12685750" cy="7594600"/>
          </a:xfrm>
          <a:prstGeom prst="rect">
            <a:avLst/>
          </a:prstGeom>
          <a:noFill/>
          <a:ln>
            <a:noFill/>
          </a:ln>
        </p:spPr>
        <p:txBody>
          <a:bodyPr spcFirstLastPara="1" wrap="square" lIns="126425" tIns="72225" rIns="126425" bIns="72225" anchor="t" anchorCtr="0">
            <a:noAutofit/>
          </a:bodyPr>
          <a:lstStyle/>
          <a:p>
            <a:pPr marL="487362" lvl="0" indent="-436562" algn="l" rtl="0">
              <a:spcBef>
                <a:spcPts val="700"/>
              </a:spcBef>
              <a:spcAft>
                <a:spcPts val="0"/>
              </a:spcAft>
              <a:buClr>
                <a:srgbClr val="000000"/>
              </a:buClr>
              <a:buSzPts val="3700"/>
              <a:buFont typeface="Arial"/>
              <a:buChar char="•"/>
            </a:pPr>
            <a:r>
              <a:rPr lang="en-US" sz="4500" dirty="0">
                <a:latin typeface="Calibri"/>
                <a:ea typeface="Calibri"/>
                <a:cs typeface="Calibri"/>
                <a:sym typeface="Calibri"/>
              </a:rPr>
              <a:t>Patients with primary aldosteronism have an increased risk of morbidity and mortality </a:t>
            </a:r>
            <a:r>
              <a:rPr lang="en-US" sz="4500" u="sng" dirty="0">
                <a:latin typeface="Calibri"/>
                <a:ea typeface="Calibri"/>
                <a:cs typeface="Calibri"/>
                <a:sym typeface="Calibri"/>
              </a:rPr>
              <a:t>beyond</a:t>
            </a:r>
            <a:r>
              <a:rPr lang="en-US" sz="4500" dirty="0">
                <a:latin typeface="Calibri"/>
                <a:ea typeface="Calibri"/>
                <a:cs typeface="Calibri"/>
                <a:sym typeface="Calibri"/>
              </a:rPr>
              <a:t> just their elevated BP.</a:t>
            </a:r>
            <a:endParaRPr sz="4500" dirty="0">
              <a:latin typeface="Calibri"/>
              <a:ea typeface="Calibri"/>
              <a:cs typeface="Calibri"/>
              <a:sym typeface="Calibri"/>
            </a:endParaRPr>
          </a:p>
          <a:p>
            <a:pPr marL="381000" lvl="0" indent="0" algn="l" rtl="0">
              <a:spcBef>
                <a:spcPts val="700"/>
              </a:spcBef>
              <a:spcAft>
                <a:spcPts val="0"/>
              </a:spcAft>
              <a:buNone/>
            </a:pPr>
            <a:endParaRPr sz="4500" dirty="0">
              <a:latin typeface="Calibri"/>
              <a:ea typeface="Calibri"/>
              <a:cs typeface="Calibri"/>
              <a:sym typeface="Calibri"/>
            </a:endParaRPr>
          </a:p>
          <a:p>
            <a:pPr marL="487362" lvl="0" indent="-423862" algn="l" rtl="0">
              <a:spcBef>
                <a:spcPts val="700"/>
              </a:spcBef>
              <a:spcAft>
                <a:spcPts val="0"/>
              </a:spcAft>
              <a:buSzPts val="3500"/>
              <a:buFont typeface="Calibri"/>
              <a:buChar char="•"/>
            </a:pPr>
            <a:r>
              <a:rPr lang="en-US" sz="4500" dirty="0">
                <a:latin typeface="Calibri"/>
                <a:ea typeface="Calibri"/>
                <a:cs typeface="Calibri"/>
                <a:sym typeface="Calibri"/>
              </a:rPr>
              <a:t>Their </a:t>
            </a:r>
            <a:r>
              <a:rPr lang="en-US" sz="4500" b="1" i="1" dirty="0">
                <a:latin typeface="Calibri"/>
                <a:ea typeface="Calibri"/>
                <a:cs typeface="Calibri"/>
                <a:sym typeface="Calibri"/>
              </a:rPr>
              <a:t>risk for certain cardiovascular outcomes is significantly higher than those with primary HTN. </a:t>
            </a:r>
            <a:endParaRPr sz="4500" b="1" i="1" dirty="0">
              <a:latin typeface="Calibri"/>
              <a:ea typeface="Calibri"/>
              <a:cs typeface="Calibri"/>
              <a:sym typeface="Calibri"/>
            </a:endParaRPr>
          </a:p>
          <a:p>
            <a:pPr marL="1143000" lvl="2" indent="-450850" algn="l" rtl="0">
              <a:spcBef>
                <a:spcPts val="700"/>
              </a:spcBef>
              <a:spcAft>
                <a:spcPts val="0"/>
              </a:spcAft>
              <a:buSzPts val="2900"/>
              <a:buFont typeface="Calibri"/>
              <a:buChar char="•"/>
            </a:pPr>
            <a:r>
              <a:rPr lang="en-US" sz="4500" b="1" i="1" dirty="0">
                <a:latin typeface="Calibri"/>
                <a:ea typeface="Calibri"/>
                <a:cs typeface="Calibri"/>
                <a:sym typeface="Calibri"/>
              </a:rPr>
              <a:t>Myocardial infarction </a:t>
            </a:r>
            <a:r>
              <a:rPr lang="en-US" sz="2800" dirty="0">
                <a:latin typeface="Calibri"/>
                <a:ea typeface="Calibri"/>
                <a:cs typeface="Calibri"/>
                <a:sym typeface="Calibri"/>
              </a:rPr>
              <a:t>(</a:t>
            </a:r>
            <a:r>
              <a:rPr lang="en-US" sz="2800" dirty="0">
                <a:solidFill>
                  <a:srgbClr val="232323"/>
                </a:solidFill>
                <a:highlight>
                  <a:srgbClr val="FFFFFF"/>
                </a:highlight>
                <a:latin typeface="Calibri"/>
                <a:ea typeface="Calibri"/>
                <a:cs typeface="Calibri"/>
                <a:sym typeface="Calibri"/>
              </a:rPr>
              <a:t>4% versus 0.6%)</a:t>
            </a:r>
            <a:endParaRPr sz="2800" dirty="0">
              <a:latin typeface="Calibri"/>
              <a:ea typeface="Calibri"/>
              <a:cs typeface="Calibri"/>
              <a:sym typeface="Calibri"/>
            </a:endParaRPr>
          </a:p>
          <a:p>
            <a:pPr marL="1143000" lvl="2" indent="-450850" algn="l" rtl="0">
              <a:spcBef>
                <a:spcPts val="700"/>
              </a:spcBef>
              <a:spcAft>
                <a:spcPts val="0"/>
              </a:spcAft>
              <a:buSzPts val="2900"/>
              <a:buFont typeface="Calibri"/>
              <a:buChar char="•"/>
            </a:pPr>
            <a:r>
              <a:rPr lang="en-US" sz="4500" b="1" i="1" dirty="0">
                <a:solidFill>
                  <a:schemeClr val="dk1"/>
                </a:solidFill>
                <a:latin typeface="Calibri"/>
                <a:ea typeface="Calibri"/>
                <a:cs typeface="Calibri"/>
                <a:sym typeface="Calibri"/>
              </a:rPr>
              <a:t>Atrial fibrillation </a:t>
            </a:r>
            <a:r>
              <a:rPr lang="en-US" sz="2800" dirty="0">
                <a:solidFill>
                  <a:schemeClr val="dk1"/>
                </a:solidFill>
                <a:latin typeface="Calibri"/>
                <a:ea typeface="Calibri"/>
                <a:cs typeface="Calibri"/>
                <a:sym typeface="Calibri"/>
              </a:rPr>
              <a:t>(</a:t>
            </a:r>
            <a:r>
              <a:rPr lang="en-US" sz="2800" dirty="0">
                <a:solidFill>
                  <a:srgbClr val="232323"/>
                </a:solidFill>
                <a:highlight>
                  <a:srgbClr val="FFFFFF"/>
                </a:highlight>
                <a:latin typeface="Calibri"/>
                <a:ea typeface="Calibri"/>
                <a:cs typeface="Calibri"/>
                <a:sym typeface="Calibri"/>
              </a:rPr>
              <a:t>7.3% versus 0.6%)</a:t>
            </a:r>
            <a:endParaRPr sz="2800" dirty="0">
              <a:solidFill>
                <a:srgbClr val="232323"/>
              </a:solidFill>
              <a:highlight>
                <a:srgbClr val="FFFFFF"/>
              </a:highlight>
              <a:latin typeface="Calibri"/>
              <a:ea typeface="Calibri"/>
              <a:cs typeface="Calibri"/>
              <a:sym typeface="Calibri"/>
            </a:endParaRPr>
          </a:p>
          <a:p>
            <a:pPr marL="1143000" lvl="2" indent="-450850" algn="l" rtl="0">
              <a:spcBef>
                <a:spcPts val="700"/>
              </a:spcBef>
              <a:spcAft>
                <a:spcPts val="0"/>
              </a:spcAft>
              <a:buSzPts val="2900"/>
              <a:buFont typeface="Calibri"/>
              <a:buChar char="•"/>
            </a:pPr>
            <a:r>
              <a:rPr lang="en-US" sz="4500" b="1" i="1" dirty="0">
                <a:latin typeface="Calibri"/>
                <a:ea typeface="Calibri"/>
                <a:cs typeface="Calibri"/>
                <a:sym typeface="Calibri"/>
              </a:rPr>
              <a:t>Stroke</a:t>
            </a:r>
            <a:r>
              <a:rPr lang="en-US" sz="4500" dirty="0">
                <a:latin typeface="Calibri"/>
                <a:ea typeface="Calibri"/>
                <a:cs typeface="Calibri"/>
                <a:sym typeface="Calibri"/>
              </a:rPr>
              <a:t> </a:t>
            </a:r>
            <a:r>
              <a:rPr lang="en-US" sz="2800" dirty="0">
                <a:latin typeface="Calibri"/>
                <a:ea typeface="Calibri"/>
                <a:cs typeface="Calibri"/>
                <a:sym typeface="Calibri"/>
              </a:rPr>
              <a:t>(</a:t>
            </a:r>
            <a:r>
              <a:rPr lang="en-US" sz="2800" dirty="0">
                <a:solidFill>
                  <a:srgbClr val="232323"/>
                </a:solidFill>
                <a:highlight>
                  <a:srgbClr val="FFFFFF"/>
                </a:highlight>
                <a:latin typeface="Calibri"/>
                <a:ea typeface="Calibri"/>
                <a:cs typeface="Calibri"/>
                <a:sym typeface="Calibri"/>
              </a:rPr>
              <a:t>12.9% versus 3.4%)</a:t>
            </a:r>
            <a:endParaRPr sz="2800" dirty="0">
              <a:latin typeface="Calibri"/>
              <a:ea typeface="Calibri"/>
              <a:cs typeface="Calibri"/>
              <a:sym typeface="Calibri"/>
            </a:endParaRPr>
          </a:p>
          <a:p>
            <a:pPr marL="1143000" lvl="0" indent="0" algn="l" rtl="0">
              <a:spcBef>
                <a:spcPts val="700"/>
              </a:spcBef>
              <a:spcAft>
                <a:spcPts val="0"/>
              </a:spcAft>
              <a:buNone/>
            </a:pPr>
            <a:endParaRPr sz="2800" dirty="0">
              <a:solidFill>
                <a:srgbClr val="232323"/>
              </a:solidFill>
              <a:highlight>
                <a:srgbClr val="FFFFFF"/>
              </a:highlight>
              <a:latin typeface="Calibri"/>
              <a:ea typeface="Calibri"/>
              <a:cs typeface="Calibri"/>
              <a:sym typeface="Calibri"/>
            </a:endParaRPr>
          </a:p>
          <a:p>
            <a:pPr marL="0" lvl="0" indent="0" algn="l" rtl="0">
              <a:spcBef>
                <a:spcPts val="700"/>
              </a:spcBef>
              <a:spcAft>
                <a:spcPts val="0"/>
              </a:spcAft>
              <a:buNone/>
            </a:pPr>
            <a:endParaRPr sz="1200" dirty="0">
              <a:solidFill>
                <a:srgbClr val="232323"/>
              </a:solidFill>
              <a:highlight>
                <a:srgbClr val="FFFFFF"/>
              </a:highlight>
              <a:latin typeface="Helvetica Neue"/>
              <a:ea typeface="Helvetica Neue"/>
              <a:cs typeface="Helvetica Neue"/>
              <a:sym typeface="Helvetica Neue"/>
            </a:endParaRPr>
          </a:p>
          <a:p>
            <a:pPr marL="0" lvl="0" indent="0" algn="l" rtl="0">
              <a:spcBef>
                <a:spcPts val="700"/>
              </a:spcBef>
              <a:spcAft>
                <a:spcPts val="0"/>
              </a:spcAft>
              <a:buNone/>
            </a:pPr>
            <a:endParaRPr sz="4500" dirty="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pic>
        <p:nvPicPr>
          <p:cNvPr id="689" name="Google Shape;689;p99"/>
          <p:cNvPicPr preferRelativeResize="0">
            <a:picLocks noGrp="1"/>
          </p:cNvPicPr>
          <p:nvPr>
            <p:ph type="body" idx="1"/>
          </p:nvPr>
        </p:nvPicPr>
        <p:blipFill rotWithShape="1">
          <a:blip r:embed="rId3">
            <a:alphaModFix/>
          </a:blip>
          <a:srcRect/>
          <a:stretch/>
        </p:blipFill>
        <p:spPr>
          <a:xfrm>
            <a:off x="134938" y="350838"/>
            <a:ext cx="12539662" cy="927893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97"/>
          <p:cNvSpPr txBox="1">
            <a:spLocks noGrp="1"/>
          </p:cNvSpPr>
          <p:nvPr>
            <p:ph type="title"/>
          </p:nvPr>
        </p:nvSpPr>
        <p:spPr>
          <a:xfrm>
            <a:off x="323850" y="152400"/>
            <a:ext cx="12030075" cy="14478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7030A0"/>
                </a:solidFill>
                <a:latin typeface="Arial"/>
                <a:ea typeface="Arial"/>
                <a:cs typeface="Arial"/>
                <a:sym typeface="Arial"/>
              </a:rPr>
              <a:t>Hyperaldosteronism S/S</a:t>
            </a:r>
            <a:endParaRPr dirty="0">
              <a:solidFill>
                <a:srgbClr val="7030A0"/>
              </a:solidFill>
            </a:endParaRPr>
          </a:p>
        </p:txBody>
      </p:sp>
      <p:sp>
        <p:nvSpPr>
          <p:cNvPr id="695" name="Google Shape;695;p97"/>
          <p:cNvSpPr txBox="1">
            <a:spLocks noGrp="1"/>
          </p:cNvSpPr>
          <p:nvPr>
            <p:ph type="body" idx="1"/>
          </p:nvPr>
        </p:nvSpPr>
        <p:spPr>
          <a:xfrm>
            <a:off x="177800" y="1600200"/>
            <a:ext cx="12609512" cy="4572000"/>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500" dirty="0">
                <a:latin typeface="Calibri"/>
                <a:ea typeface="Calibri"/>
                <a:cs typeface="Calibri"/>
                <a:sym typeface="Calibri"/>
              </a:rPr>
              <a:t>Most of the </a:t>
            </a:r>
            <a:r>
              <a:rPr lang="en-US" sz="4500" b="1" i="1" dirty="0">
                <a:latin typeface="Calibri"/>
                <a:ea typeface="Calibri"/>
                <a:cs typeface="Calibri"/>
                <a:sym typeface="Calibri"/>
              </a:rPr>
              <a:t>symptoms are related to low K</a:t>
            </a:r>
            <a:r>
              <a:rPr lang="en-US" sz="4500" b="1" i="1" baseline="30000" dirty="0">
                <a:latin typeface="Calibri"/>
                <a:ea typeface="Calibri"/>
                <a:cs typeface="Calibri"/>
                <a:sym typeface="Calibri"/>
              </a:rPr>
              <a:t>+</a:t>
            </a:r>
            <a:endParaRPr dirty="0"/>
          </a:p>
          <a:p>
            <a:pPr marL="487363" lvl="0" indent="-296863" algn="l" rtl="0">
              <a:spcBef>
                <a:spcPts val="700"/>
              </a:spcBef>
              <a:spcAft>
                <a:spcPts val="0"/>
              </a:spcAft>
              <a:buClr>
                <a:srgbClr val="000000"/>
              </a:buClr>
              <a:buSzPts val="3000"/>
              <a:buFont typeface="Arial"/>
              <a:buNone/>
            </a:pPr>
            <a:endParaRPr sz="3000" b="1" i="1"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b="1" i="1" dirty="0">
                <a:latin typeface="Calibri"/>
                <a:ea typeface="Calibri"/>
                <a:cs typeface="Calibri"/>
                <a:sym typeface="Calibri"/>
              </a:rPr>
              <a:t>Fatigue, weakness</a:t>
            </a:r>
            <a:r>
              <a:rPr lang="en-US" sz="4500" dirty="0">
                <a:latin typeface="Calibri"/>
                <a:ea typeface="Calibri"/>
                <a:cs typeface="Calibri"/>
                <a:sym typeface="Calibri"/>
              </a:rPr>
              <a:t>, nocturia, HA</a:t>
            </a:r>
            <a:endParaRPr dirty="0"/>
          </a:p>
          <a:p>
            <a:pPr marL="487363" lvl="0" indent="-296863" algn="l" rtl="0">
              <a:spcBef>
                <a:spcPts val="700"/>
              </a:spcBef>
              <a:spcAft>
                <a:spcPts val="0"/>
              </a:spcAft>
              <a:buClr>
                <a:srgbClr val="000000"/>
              </a:buClr>
              <a:buSzPts val="3000"/>
              <a:buFont typeface="Arial"/>
              <a:buNone/>
            </a:pPr>
            <a:endParaRPr sz="3000"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If severe, patients may present with polydipsia, polyuria, and </a:t>
            </a:r>
            <a:r>
              <a:rPr lang="en-US" sz="4500" dirty="0" err="1">
                <a:latin typeface="Calibri"/>
                <a:ea typeface="Calibri"/>
                <a:cs typeface="Calibri"/>
                <a:sym typeface="Calibri"/>
              </a:rPr>
              <a:t>paresthesias</a:t>
            </a:r>
            <a:r>
              <a:rPr lang="en-US" sz="4500" dirty="0">
                <a:latin typeface="Calibri"/>
                <a:ea typeface="Calibri"/>
                <a:cs typeface="Calibri"/>
                <a:sym typeface="Calibri"/>
              </a:rPr>
              <a:t>. </a:t>
            </a:r>
            <a:endParaRPr dirty="0"/>
          </a:p>
          <a:p>
            <a:pPr marL="487363" lvl="0" indent="-201612" algn="l" rtl="0">
              <a:spcBef>
                <a:spcPts val="700"/>
              </a:spcBef>
              <a:spcAft>
                <a:spcPts val="0"/>
              </a:spcAft>
              <a:buClr>
                <a:srgbClr val="000000"/>
              </a:buClr>
              <a:buSzPts val="4500"/>
              <a:buFont typeface="Arial"/>
              <a:buNone/>
            </a:pPr>
            <a:endParaRPr sz="4500" dirty="0">
              <a:latin typeface="Calibri"/>
              <a:ea typeface="Calibri"/>
              <a:cs typeface="Calibri"/>
              <a:sym typeface="Calibri"/>
            </a:endParaRPr>
          </a:p>
        </p:txBody>
      </p:sp>
      <p:pic>
        <p:nvPicPr>
          <p:cNvPr id="696" name="Google Shape;696;p97"/>
          <p:cNvPicPr preferRelativeResize="0"/>
          <p:nvPr/>
        </p:nvPicPr>
        <p:blipFill rotWithShape="1">
          <a:blip r:embed="rId3">
            <a:alphaModFix/>
          </a:blip>
          <a:srcRect l="12500" b="7130"/>
          <a:stretch/>
        </p:blipFill>
        <p:spPr>
          <a:xfrm>
            <a:off x="9247187" y="6172200"/>
            <a:ext cx="3757613" cy="3560763"/>
          </a:xfrm>
          <a:prstGeom prst="rect">
            <a:avLst/>
          </a:prstGeom>
          <a:noFill/>
          <a:ln>
            <a:noFill/>
          </a:ln>
        </p:spPr>
      </p:pic>
      <p:sp>
        <p:nvSpPr>
          <p:cNvPr id="697" name="Google Shape;697;p97"/>
          <p:cNvSpPr txBox="1"/>
          <p:nvPr/>
        </p:nvSpPr>
        <p:spPr>
          <a:xfrm>
            <a:off x="252412" y="6175375"/>
            <a:ext cx="11507787" cy="2123618"/>
          </a:xfrm>
          <a:prstGeom prst="rect">
            <a:avLst/>
          </a:prstGeom>
          <a:noFill/>
          <a:ln>
            <a:noFill/>
          </a:ln>
        </p:spPr>
        <p:txBody>
          <a:bodyPr spcFirstLastPara="1" wrap="square" lIns="91425" tIns="45700" rIns="91425" bIns="45700" anchor="t" anchorCtr="0">
            <a:spAutoFit/>
          </a:bodyPr>
          <a:lstStyle/>
          <a:p>
            <a:pPr marL="487363" marR="0" lvl="0" indent="-487363" algn="l" rtl="0">
              <a:spcBef>
                <a:spcPts val="0"/>
              </a:spcBef>
              <a:spcAft>
                <a:spcPts val="0"/>
              </a:spcAft>
              <a:buClr>
                <a:srgbClr val="000000"/>
              </a:buClr>
              <a:buSzPts val="4400"/>
              <a:buFont typeface="Arial"/>
              <a:buChar char="•"/>
            </a:pPr>
            <a:r>
              <a:rPr lang="en-US" sz="4400" dirty="0">
                <a:solidFill>
                  <a:srgbClr val="000000"/>
                </a:solidFill>
                <a:latin typeface="Calibri"/>
                <a:ea typeface="Calibri"/>
                <a:cs typeface="Calibri"/>
                <a:sym typeface="Calibri"/>
              </a:rPr>
              <a:t>If severe, patients may have intermittent paralysis, tetany, positive Trousseau’s or Chvostek’s sign</a:t>
            </a:r>
            <a:endParaRPr sz="4400" dirty="0">
              <a:solidFill>
                <a:srgbClr val="000000"/>
              </a:solidFill>
              <a:latin typeface="Calibri"/>
              <a:ea typeface="Calibri"/>
              <a:cs typeface="Calibri"/>
              <a:sym typeface="Calibri"/>
            </a:endParaRPr>
          </a:p>
        </p:txBody>
      </p:sp>
      <p:sp>
        <p:nvSpPr>
          <p:cNvPr id="2" name="TextBox 1">
            <a:extLst>
              <a:ext uri="{FF2B5EF4-FFF2-40B4-BE49-F238E27FC236}">
                <a16:creationId xmlns:a16="http://schemas.microsoft.com/office/drawing/2014/main" id="{7D4FE758-0334-2C0C-B9DD-8E90E715EF4E}"/>
              </a:ext>
            </a:extLst>
          </p:cNvPr>
          <p:cNvSpPr txBox="1"/>
          <p:nvPr/>
        </p:nvSpPr>
        <p:spPr>
          <a:xfrm>
            <a:off x="977900" y="8202533"/>
            <a:ext cx="8269287" cy="1446550"/>
          </a:xfrm>
          <a:prstGeom prst="rect">
            <a:avLst/>
          </a:prstGeom>
          <a:noFill/>
        </p:spPr>
        <p:txBody>
          <a:bodyPr wrap="square" rtlCol="0">
            <a:spAutoFit/>
          </a:bodyPr>
          <a:lstStyle/>
          <a:p>
            <a:r>
              <a:rPr lang="en-US" sz="2200" dirty="0">
                <a:latin typeface="Calibri" panose="020F0502020204030204" pitchFamily="34" charset="0"/>
                <a:cs typeface="Calibri" panose="020F0502020204030204" pitchFamily="34" charset="0"/>
              </a:rPr>
              <a:t>--Trousseau’s sign- carpal or pedal spasm in response to inflation of a BP cuff on the arm or leg.  Chvostek’s sign- tapping the facial nerve (CN VII) elicits twitching of the face.  These signs are more commonly seen in hypocalcemia but may be present in hypokalemia.</a:t>
            </a:r>
          </a:p>
        </p:txBody>
      </p:sp>
      <p:pic>
        <p:nvPicPr>
          <p:cNvPr id="3" name="Picture 2">
            <a:extLst>
              <a:ext uri="{FF2B5EF4-FFF2-40B4-BE49-F238E27FC236}">
                <a16:creationId xmlns:a16="http://schemas.microsoft.com/office/drawing/2014/main" id="{21C043F3-E8AF-521F-B22A-F74DEA1826A0}"/>
              </a:ext>
            </a:extLst>
          </p:cNvPr>
          <p:cNvPicPr>
            <a:picLocks noChangeAspect="1"/>
          </p:cNvPicPr>
          <p:nvPr/>
        </p:nvPicPr>
        <p:blipFill>
          <a:blip r:embed="rId4"/>
          <a:stretch>
            <a:fillRect/>
          </a:stretch>
        </p:blipFill>
        <p:spPr>
          <a:xfrm>
            <a:off x="10133158" y="2389981"/>
            <a:ext cx="2762898" cy="1981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98"/>
          <p:cNvSpPr txBox="1">
            <a:spLocks noGrp="1"/>
          </p:cNvSpPr>
          <p:nvPr>
            <p:ph type="title"/>
          </p:nvPr>
        </p:nvSpPr>
        <p:spPr>
          <a:xfrm>
            <a:off x="135468" y="119591"/>
            <a:ext cx="12651845" cy="1878541"/>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7030A0"/>
                </a:solidFill>
                <a:latin typeface="Arial"/>
                <a:ea typeface="Arial"/>
                <a:cs typeface="Arial"/>
                <a:sym typeface="Arial"/>
              </a:rPr>
              <a:t>Signs and Symptoms of Hyperaldosteronism</a:t>
            </a:r>
            <a:endParaRPr dirty="0">
              <a:solidFill>
                <a:srgbClr val="7030A0"/>
              </a:solidFill>
            </a:endParaRPr>
          </a:p>
        </p:txBody>
      </p:sp>
      <p:sp>
        <p:nvSpPr>
          <p:cNvPr id="703" name="Google Shape;703;p98"/>
          <p:cNvSpPr txBox="1">
            <a:spLocks noGrp="1"/>
          </p:cNvSpPr>
          <p:nvPr>
            <p:ph type="body" idx="1"/>
          </p:nvPr>
        </p:nvSpPr>
        <p:spPr>
          <a:xfrm>
            <a:off x="135468" y="2252134"/>
            <a:ext cx="12651845" cy="7381876"/>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In primary hyperaldosteronism, blood pressure may be severely elevated, causing:</a:t>
            </a:r>
            <a:endParaRPr lang="en-US" sz="4400" dirty="0">
              <a:latin typeface="Calibri" panose="020F0502020204030204" pitchFamily="34" charset="0"/>
              <a:cs typeface="Calibri" panose="020F0502020204030204" pitchFamily="34" charset="0"/>
            </a:endParaRPr>
          </a:p>
          <a:p>
            <a:pPr marL="944563" lvl="1" indent="-487363">
              <a:spcBef>
                <a:spcPts val="0"/>
              </a:spcBef>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End organ damage: retinal, renal, cardiac</a:t>
            </a:r>
            <a:endParaRPr sz="4400" dirty="0">
              <a:latin typeface="Calibri" panose="020F0502020204030204" pitchFamily="34" charset="0"/>
              <a:cs typeface="Calibri" panose="020F0502020204030204" pitchFamily="34" charset="0"/>
            </a:endParaRPr>
          </a:p>
          <a:p>
            <a:pPr marL="868363" lvl="1" indent="-487363" algn="l" rtl="0">
              <a:spcBef>
                <a:spcPts val="700"/>
              </a:spcBef>
              <a:spcAft>
                <a:spcPts val="0"/>
              </a:spcAft>
              <a:buClr>
                <a:srgbClr val="000000"/>
              </a:buClr>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Hypertensive encephalopathy</a:t>
            </a:r>
            <a:endParaRPr sz="4400" dirty="0">
              <a:latin typeface="Calibri" panose="020F0502020204030204" pitchFamily="34" charset="0"/>
              <a:cs typeface="Calibri" panose="020F0502020204030204" pitchFamily="34" charset="0"/>
            </a:endParaRPr>
          </a:p>
          <a:p>
            <a:pPr marL="868362" lvl="1" indent="-487362" algn="l" rtl="0">
              <a:spcBef>
                <a:spcPts val="700"/>
              </a:spcBef>
              <a:spcAft>
                <a:spcPts val="0"/>
              </a:spcAft>
              <a:buClr>
                <a:srgbClr val="000000"/>
              </a:buClr>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Facial flushing</a:t>
            </a:r>
            <a:r>
              <a:rPr lang="en-US" sz="4400" dirty="0">
                <a:latin typeface="Calibri" panose="020F0502020204030204" pitchFamily="34" charset="0"/>
                <a:cs typeface="Calibri" panose="020F0502020204030204" pitchFamily="34" charset="0"/>
              </a:rPr>
              <a:t>/ </a:t>
            </a:r>
            <a:r>
              <a:rPr lang="en-US" sz="4400" dirty="0">
                <a:latin typeface="Calibri" panose="020F0502020204030204" pitchFamily="34" charset="0"/>
                <a:cs typeface="Calibri" panose="020F0502020204030204" pitchFamily="34" charset="0"/>
                <a:sym typeface="Calibri"/>
              </a:rPr>
              <a:t>h</a:t>
            </a:r>
            <a:r>
              <a:rPr lang="en-US" sz="4400" dirty="0">
                <a:latin typeface="Calibri" panose="020F0502020204030204" pitchFamily="34" charset="0"/>
                <a:ea typeface="Calibri"/>
                <a:cs typeface="Calibri" panose="020F0502020204030204" pitchFamily="34" charset="0"/>
                <a:sym typeface="Calibri"/>
              </a:rPr>
              <a:t>eadache</a:t>
            </a:r>
            <a:endParaRPr sz="4400" dirty="0">
              <a:latin typeface="Calibri" panose="020F0502020204030204" pitchFamily="34" charset="0"/>
              <a:ea typeface="Calibri"/>
              <a:cs typeface="Calibri" panose="020F0502020204030204" pitchFamily="34" charset="0"/>
              <a:sym typeface="Calibri"/>
            </a:endParaRPr>
          </a:p>
          <a:p>
            <a:pPr marL="0" lvl="0" indent="0" algn="l" rtl="0">
              <a:spcBef>
                <a:spcPts val="700"/>
              </a:spcBef>
              <a:spcAft>
                <a:spcPts val="0"/>
              </a:spcAft>
              <a:buNone/>
            </a:pPr>
            <a:endParaRPr sz="4400" dirty="0">
              <a:latin typeface="Calibri" panose="020F0502020204030204" pitchFamily="34" charset="0"/>
              <a:ea typeface="Calibri"/>
              <a:cs typeface="Calibri" panose="020F0502020204030204" pitchFamily="34" charset="0"/>
              <a:sym typeface="Calibri"/>
            </a:endParaRPr>
          </a:p>
          <a:p>
            <a:pPr marL="685800" indent="-685800">
              <a:spcBef>
                <a:spcPts val="700"/>
              </a:spcBef>
              <a:buSzPct val="80000"/>
            </a:pPr>
            <a:r>
              <a:rPr lang="en-US" sz="4400" dirty="0">
                <a:latin typeface="Calibri" panose="020F0502020204030204" pitchFamily="34" charset="0"/>
                <a:ea typeface="Calibri"/>
                <a:cs typeface="Calibri" panose="020F0502020204030204" pitchFamily="34" charset="0"/>
                <a:sym typeface="Calibri"/>
              </a:rPr>
              <a:t>The major </a:t>
            </a:r>
            <a:r>
              <a:rPr lang="en-US" sz="4400" b="1" i="1" dirty="0">
                <a:latin typeface="Calibri" panose="020F0502020204030204" pitchFamily="34" charset="0"/>
                <a:ea typeface="Calibri"/>
                <a:cs typeface="Calibri" panose="020F0502020204030204" pitchFamily="34" charset="0"/>
                <a:sym typeface="Calibri"/>
              </a:rPr>
              <a:t>differential diagnosis of primary hyperaldosteronism </a:t>
            </a:r>
            <a:r>
              <a:rPr lang="en-US" sz="4400" dirty="0">
                <a:latin typeface="Calibri" panose="020F0502020204030204" pitchFamily="34" charset="0"/>
                <a:ea typeface="Calibri"/>
                <a:cs typeface="Calibri" panose="020F0502020204030204" pitchFamily="34" charset="0"/>
                <a:sym typeface="Calibri"/>
              </a:rPr>
              <a:t>includes other causes of secondary HTN, such as </a:t>
            </a:r>
            <a:r>
              <a:rPr lang="en-US" sz="4400" b="1" i="1" dirty="0">
                <a:latin typeface="Calibri" panose="020F0502020204030204" pitchFamily="34" charset="0"/>
                <a:ea typeface="Calibri"/>
                <a:cs typeface="Calibri" panose="020F0502020204030204" pitchFamily="34" charset="0"/>
                <a:sym typeface="Calibri"/>
              </a:rPr>
              <a:t>Cushing’s </a:t>
            </a:r>
            <a:r>
              <a:rPr lang="en-US" sz="4400" dirty="0">
                <a:latin typeface="Calibri" panose="020F0502020204030204" pitchFamily="34" charset="0"/>
                <a:ea typeface="Calibri"/>
                <a:cs typeface="Calibri" panose="020F0502020204030204" pitchFamily="34" charset="0"/>
                <a:sym typeface="Calibri"/>
              </a:rPr>
              <a:t>and renovascular hypertension/ </a:t>
            </a:r>
            <a:r>
              <a:rPr lang="en-US" sz="4400" b="1" i="1" dirty="0">
                <a:latin typeface="Calibri" panose="020F0502020204030204" pitchFamily="34" charset="0"/>
                <a:ea typeface="Calibri"/>
                <a:cs typeface="Calibri" panose="020F0502020204030204" pitchFamily="34" charset="0"/>
                <a:sym typeface="Calibri"/>
              </a:rPr>
              <a:t>renal artery stenosis</a:t>
            </a:r>
            <a:r>
              <a:rPr lang="en-US" sz="4500" dirty="0">
                <a:latin typeface="Calibri"/>
                <a:ea typeface="Calibri"/>
                <a:cs typeface="Calibri"/>
                <a:sym typeface="Calibri"/>
              </a:rPr>
              <a:t>.</a:t>
            </a:r>
            <a:endParaRPr sz="4500" dirty="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gfa60496b86_2_39"/>
          <p:cNvSpPr txBox="1">
            <a:spLocks noGrp="1"/>
          </p:cNvSpPr>
          <p:nvPr>
            <p:ph type="title"/>
          </p:nvPr>
        </p:nvSpPr>
        <p:spPr>
          <a:xfrm>
            <a:off x="649300" y="154375"/>
            <a:ext cx="11704500" cy="14454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7030A0"/>
                </a:solidFill>
                <a:latin typeface="Arial"/>
                <a:ea typeface="Arial"/>
                <a:cs typeface="Arial"/>
                <a:sym typeface="Arial"/>
              </a:rPr>
              <a:t>Who Should Be Tested for PA?</a:t>
            </a:r>
            <a:endParaRPr dirty="0">
              <a:solidFill>
                <a:srgbClr val="7030A0"/>
              </a:solidFill>
            </a:endParaRPr>
          </a:p>
        </p:txBody>
      </p:sp>
      <p:sp>
        <p:nvSpPr>
          <p:cNvPr id="709" name="Google Shape;709;gfa60496b86_2_39"/>
          <p:cNvSpPr txBox="1">
            <a:spLocks noGrp="1"/>
          </p:cNvSpPr>
          <p:nvPr>
            <p:ph type="body" idx="1"/>
          </p:nvPr>
        </p:nvSpPr>
        <p:spPr>
          <a:xfrm>
            <a:off x="203199" y="1682350"/>
            <a:ext cx="12632267" cy="7883700"/>
          </a:xfrm>
          <a:prstGeom prst="rect">
            <a:avLst/>
          </a:prstGeom>
          <a:noFill/>
          <a:ln>
            <a:noFill/>
          </a:ln>
        </p:spPr>
        <p:txBody>
          <a:bodyPr spcFirstLastPara="1" wrap="square" lIns="126425" tIns="72225" rIns="126425" bIns="72225" anchor="t" anchorCtr="0">
            <a:noAutofit/>
          </a:bodyPr>
          <a:lstStyle/>
          <a:p>
            <a:pPr marL="685800" lvl="0" indent="-742950" algn="l" rtl="0">
              <a:lnSpc>
                <a:spcPct val="100000"/>
              </a:lnSpc>
              <a:spcBef>
                <a:spcPts val="0"/>
              </a:spcBef>
              <a:spcAft>
                <a:spcPts val="0"/>
              </a:spcAft>
              <a:buClr>
                <a:srgbClr val="232323"/>
              </a:buClr>
              <a:buSzPct val="100000"/>
              <a:buFont typeface="+mj-lt"/>
              <a:buAutoNum type="arabicPeriod"/>
            </a:pPr>
            <a:r>
              <a:rPr lang="en-US" sz="4400" dirty="0">
                <a:solidFill>
                  <a:srgbClr val="232323"/>
                </a:solidFill>
                <a:highlight>
                  <a:srgbClr val="FFFFFF"/>
                </a:highlight>
                <a:latin typeface="Calibri"/>
                <a:ea typeface="Calibri"/>
                <a:cs typeface="Calibri"/>
                <a:sym typeface="Calibri"/>
              </a:rPr>
              <a:t>Patients with </a:t>
            </a:r>
            <a:r>
              <a:rPr lang="en-US" sz="4400" b="1" i="1" dirty="0">
                <a:solidFill>
                  <a:srgbClr val="232323"/>
                </a:solidFill>
                <a:highlight>
                  <a:srgbClr val="FFFFFF"/>
                </a:highlight>
                <a:latin typeface="Calibri"/>
                <a:ea typeface="Calibri"/>
                <a:cs typeface="Calibri"/>
                <a:sym typeface="Calibri"/>
              </a:rPr>
              <a:t>HTN and spontaneous hypokalemia </a:t>
            </a:r>
            <a:r>
              <a:rPr lang="en-US" sz="4400" dirty="0">
                <a:solidFill>
                  <a:srgbClr val="232323"/>
                </a:solidFill>
                <a:highlight>
                  <a:srgbClr val="FFFFFF"/>
                </a:highlight>
                <a:latin typeface="Calibri"/>
                <a:ea typeface="Calibri"/>
                <a:cs typeface="Calibri"/>
                <a:sym typeface="Calibri"/>
              </a:rPr>
              <a:t>or low-dose, diuretic-induced hypokalemia</a:t>
            </a:r>
            <a:endParaRPr sz="4400" dirty="0">
              <a:solidFill>
                <a:srgbClr val="232323"/>
              </a:solidFill>
              <a:highlight>
                <a:srgbClr val="FFFFFF"/>
              </a:highlight>
              <a:latin typeface="Calibri"/>
              <a:ea typeface="Calibri"/>
              <a:cs typeface="Calibri"/>
              <a:sym typeface="Calibri"/>
            </a:endParaRPr>
          </a:p>
          <a:p>
            <a:pPr marL="457200" lvl="0" indent="0" algn="l" rtl="0">
              <a:lnSpc>
                <a:spcPct val="100000"/>
              </a:lnSpc>
              <a:spcBef>
                <a:spcPts val="1200"/>
              </a:spcBef>
              <a:spcAft>
                <a:spcPts val="0"/>
              </a:spcAft>
              <a:buSzPct val="80000"/>
              <a:buNone/>
            </a:pPr>
            <a:endParaRPr sz="4400" dirty="0">
              <a:solidFill>
                <a:srgbClr val="232323"/>
              </a:solidFill>
              <a:highlight>
                <a:srgbClr val="FFFFFF"/>
              </a:highlight>
              <a:latin typeface="Calibri"/>
              <a:ea typeface="Calibri"/>
              <a:cs typeface="Calibri"/>
              <a:sym typeface="Calibri"/>
            </a:endParaRPr>
          </a:p>
          <a:p>
            <a:pPr marL="571500" indent="-571500">
              <a:spcBef>
                <a:spcPts val="1200"/>
              </a:spcBef>
              <a:buClr>
                <a:srgbClr val="232323"/>
              </a:buClr>
              <a:buSzPct val="80000"/>
            </a:pPr>
            <a:r>
              <a:rPr lang="en-US" sz="4400" dirty="0">
                <a:solidFill>
                  <a:srgbClr val="232323"/>
                </a:solidFill>
                <a:highlight>
                  <a:srgbClr val="FFFFFF"/>
                </a:highlight>
                <a:latin typeface="Calibri"/>
                <a:ea typeface="Calibri"/>
                <a:cs typeface="Calibri"/>
                <a:sym typeface="Calibri"/>
              </a:rPr>
              <a:t>The following patients should undergo testing even if they are </a:t>
            </a:r>
            <a:r>
              <a:rPr lang="en-US" sz="4400" b="1" dirty="0" err="1">
                <a:solidFill>
                  <a:srgbClr val="232323"/>
                </a:solidFill>
                <a:highlight>
                  <a:srgbClr val="FFFFFF"/>
                </a:highlight>
                <a:latin typeface="Calibri"/>
                <a:ea typeface="Calibri"/>
                <a:cs typeface="Calibri"/>
                <a:sym typeface="Calibri"/>
              </a:rPr>
              <a:t>normokalemic</a:t>
            </a:r>
            <a:r>
              <a:rPr lang="en-US" sz="4400" dirty="0">
                <a:solidFill>
                  <a:srgbClr val="232323"/>
                </a:solidFill>
                <a:highlight>
                  <a:srgbClr val="FFFFFF"/>
                </a:highlight>
                <a:latin typeface="Calibri"/>
                <a:ea typeface="Calibri"/>
                <a:cs typeface="Calibri"/>
                <a:sym typeface="Calibri"/>
              </a:rPr>
              <a:t> :</a:t>
            </a:r>
            <a:endParaRPr sz="4400" dirty="0">
              <a:solidFill>
                <a:srgbClr val="232323"/>
              </a:solidFill>
              <a:highlight>
                <a:srgbClr val="FFFFFF"/>
              </a:highlight>
              <a:latin typeface="Calibri"/>
              <a:ea typeface="Calibri"/>
              <a:cs typeface="Calibri"/>
              <a:sym typeface="Calibri"/>
            </a:endParaRPr>
          </a:p>
          <a:p>
            <a:pPr marL="1143000" lvl="1" indent="-742950" algn="l" rtl="0">
              <a:lnSpc>
                <a:spcPct val="100000"/>
              </a:lnSpc>
              <a:spcBef>
                <a:spcPts val="0"/>
              </a:spcBef>
              <a:spcAft>
                <a:spcPts val="0"/>
              </a:spcAft>
              <a:buClr>
                <a:srgbClr val="232323"/>
              </a:buClr>
              <a:buSzPct val="100000"/>
              <a:buFont typeface="+mj-lt"/>
              <a:buAutoNum type="arabicPeriod" startAt="2"/>
            </a:pPr>
            <a:r>
              <a:rPr lang="en-US" sz="4400" b="1" i="1" dirty="0">
                <a:solidFill>
                  <a:srgbClr val="232323"/>
                </a:solidFill>
                <a:highlight>
                  <a:srgbClr val="FFFFFF"/>
                </a:highlight>
                <a:latin typeface="Calibri"/>
                <a:ea typeface="Calibri"/>
                <a:cs typeface="Calibri"/>
                <a:sym typeface="Calibri"/>
              </a:rPr>
              <a:t>Drug-resistant severe hypertension </a:t>
            </a:r>
            <a:r>
              <a:rPr lang="en-US" sz="2800" dirty="0">
                <a:solidFill>
                  <a:srgbClr val="232323"/>
                </a:solidFill>
                <a:highlight>
                  <a:srgbClr val="FFFFFF"/>
                </a:highlight>
                <a:latin typeface="Calibri"/>
                <a:ea typeface="Calibri"/>
                <a:cs typeface="Calibri"/>
                <a:sym typeface="Calibri"/>
              </a:rPr>
              <a:t>(not controlled on 3+ medications at maximal doses)</a:t>
            </a:r>
          </a:p>
          <a:p>
            <a:pPr marL="400050" lvl="1" indent="0" algn="l" rtl="0">
              <a:lnSpc>
                <a:spcPct val="100000"/>
              </a:lnSpc>
              <a:spcBef>
                <a:spcPts val="0"/>
              </a:spcBef>
              <a:spcAft>
                <a:spcPts val="0"/>
              </a:spcAft>
              <a:buClr>
                <a:srgbClr val="232323"/>
              </a:buClr>
              <a:buSzPct val="100000"/>
              <a:buNone/>
            </a:pPr>
            <a:r>
              <a:rPr lang="en-US" sz="4400" dirty="0">
                <a:solidFill>
                  <a:srgbClr val="232323"/>
                </a:solidFill>
                <a:highlight>
                  <a:srgbClr val="FFFFFF"/>
                </a:highlight>
                <a:latin typeface="Calibri"/>
                <a:ea typeface="Calibri"/>
                <a:cs typeface="Calibri"/>
                <a:sym typeface="Calibri"/>
              </a:rPr>
              <a:t> </a:t>
            </a:r>
            <a:endParaRPr sz="4400" dirty="0">
              <a:solidFill>
                <a:srgbClr val="232323"/>
              </a:solidFill>
              <a:highlight>
                <a:srgbClr val="FFFFFF"/>
              </a:highlight>
              <a:latin typeface="Calibri"/>
              <a:ea typeface="Calibri"/>
              <a:cs typeface="Calibri"/>
              <a:sym typeface="Calibri"/>
            </a:endParaRPr>
          </a:p>
          <a:p>
            <a:pPr marL="1143000" lvl="1" indent="-742950" algn="l" rtl="0">
              <a:lnSpc>
                <a:spcPct val="100000"/>
              </a:lnSpc>
              <a:spcBef>
                <a:spcPts val="0"/>
              </a:spcBef>
              <a:spcAft>
                <a:spcPts val="0"/>
              </a:spcAft>
              <a:buClr>
                <a:srgbClr val="232323"/>
              </a:buClr>
              <a:buSzPct val="100000"/>
              <a:buFont typeface="+mj-lt"/>
              <a:buAutoNum type="arabicPeriod" startAt="3"/>
            </a:pPr>
            <a:r>
              <a:rPr lang="en-US" sz="4400" dirty="0">
                <a:solidFill>
                  <a:srgbClr val="232323"/>
                </a:solidFill>
                <a:highlight>
                  <a:srgbClr val="FFFFFF"/>
                </a:highlight>
                <a:latin typeface="Calibri"/>
                <a:ea typeface="Calibri"/>
                <a:cs typeface="Calibri"/>
                <a:sym typeface="Calibri"/>
              </a:rPr>
              <a:t>Persons with </a:t>
            </a:r>
            <a:r>
              <a:rPr lang="en-US" sz="4400" b="1" i="1" dirty="0">
                <a:solidFill>
                  <a:srgbClr val="232323"/>
                </a:solidFill>
                <a:highlight>
                  <a:srgbClr val="FFFFFF"/>
                </a:highlight>
                <a:latin typeface="Calibri"/>
                <a:ea typeface="Calibri"/>
                <a:cs typeface="Calibri"/>
                <a:sym typeface="Calibri"/>
              </a:rPr>
              <a:t>hypertension in whom an adrenal incidentaloma</a:t>
            </a:r>
            <a:r>
              <a:rPr lang="en-US" sz="4400" dirty="0">
                <a:solidFill>
                  <a:srgbClr val="232323"/>
                </a:solidFill>
                <a:highlight>
                  <a:srgbClr val="FFFFFF"/>
                </a:highlight>
                <a:latin typeface="Calibri"/>
                <a:ea typeface="Calibri"/>
                <a:cs typeface="Calibri"/>
                <a:sym typeface="Calibri"/>
              </a:rPr>
              <a:t> is found </a:t>
            </a:r>
            <a:r>
              <a:rPr lang="en-US" sz="2800" dirty="0">
                <a:solidFill>
                  <a:srgbClr val="232323"/>
                </a:solidFill>
                <a:highlight>
                  <a:srgbClr val="FFFFFF"/>
                </a:highlight>
                <a:latin typeface="Calibri"/>
                <a:ea typeface="Calibri"/>
                <a:cs typeface="Calibri"/>
                <a:sym typeface="Calibri"/>
              </a:rPr>
              <a:t>(an adrenal mass discovered incidentally on imaging)</a:t>
            </a:r>
          </a:p>
          <a:p>
            <a:pPr marL="457200" lvl="0" indent="0" algn="l" rtl="0">
              <a:lnSpc>
                <a:spcPct val="100000"/>
              </a:lnSpc>
              <a:spcBef>
                <a:spcPts val="1200"/>
              </a:spcBef>
              <a:spcAft>
                <a:spcPts val="1200"/>
              </a:spcAft>
              <a:buNone/>
            </a:pPr>
            <a:endParaRPr sz="5200" dirty="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101b6edf74c_0_0"/>
          <p:cNvSpPr txBox="1">
            <a:spLocks noGrp="1"/>
          </p:cNvSpPr>
          <p:nvPr>
            <p:ph type="title"/>
          </p:nvPr>
        </p:nvSpPr>
        <p:spPr>
          <a:xfrm>
            <a:off x="649300" y="154375"/>
            <a:ext cx="11704500" cy="14454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7030A0"/>
                </a:solidFill>
                <a:latin typeface="Arial"/>
                <a:ea typeface="Arial"/>
                <a:cs typeface="Arial"/>
                <a:sym typeface="Arial"/>
              </a:rPr>
              <a:t>Who Should Be Tested for PA?</a:t>
            </a:r>
            <a:endParaRPr dirty="0">
              <a:solidFill>
                <a:srgbClr val="7030A0"/>
              </a:solidFill>
            </a:endParaRPr>
          </a:p>
        </p:txBody>
      </p:sp>
      <p:sp>
        <p:nvSpPr>
          <p:cNvPr id="715" name="Google Shape;715;g101b6edf74c_0_0"/>
          <p:cNvSpPr txBox="1">
            <a:spLocks noGrp="1"/>
          </p:cNvSpPr>
          <p:nvPr>
            <p:ph type="body" idx="1"/>
          </p:nvPr>
        </p:nvSpPr>
        <p:spPr>
          <a:xfrm>
            <a:off x="139700" y="1682350"/>
            <a:ext cx="12593600" cy="7883700"/>
          </a:xfrm>
          <a:prstGeom prst="rect">
            <a:avLst/>
          </a:prstGeom>
          <a:noFill/>
          <a:ln>
            <a:noFill/>
          </a:ln>
        </p:spPr>
        <p:txBody>
          <a:bodyPr spcFirstLastPara="1" wrap="square" lIns="126425" tIns="72225" rIns="126425" bIns="72225" anchor="t" anchorCtr="0">
            <a:noAutofit/>
          </a:bodyPr>
          <a:lstStyle/>
          <a:p>
            <a:pPr marL="704850" lvl="0" indent="-685800" algn="l" rtl="0">
              <a:spcBef>
                <a:spcPts val="1200"/>
              </a:spcBef>
              <a:spcAft>
                <a:spcPts val="1200"/>
              </a:spcAft>
              <a:buClr>
                <a:srgbClr val="232323"/>
              </a:buClr>
              <a:buSzPts val="3300"/>
              <a:buFont typeface="Arial" panose="020B0604020202020204" pitchFamily="34" charset="0"/>
              <a:buChar char="•"/>
            </a:pPr>
            <a:r>
              <a:rPr lang="en-US" sz="4500" dirty="0">
                <a:solidFill>
                  <a:srgbClr val="232323"/>
                </a:solidFill>
                <a:highlight>
                  <a:srgbClr val="FFFFFF"/>
                </a:highlight>
                <a:latin typeface="Calibri"/>
                <a:ea typeface="Calibri"/>
                <a:cs typeface="Calibri"/>
                <a:sym typeface="Calibri"/>
              </a:rPr>
              <a:t>The following patients should undergo testing even if they are </a:t>
            </a:r>
            <a:r>
              <a:rPr lang="en-US" sz="4500" b="1" dirty="0" err="1">
                <a:solidFill>
                  <a:srgbClr val="232323"/>
                </a:solidFill>
                <a:highlight>
                  <a:srgbClr val="FFFFFF"/>
                </a:highlight>
                <a:latin typeface="Calibri"/>
                <a:ea typeface="Calibri"/>
                <a:cs typeface="Calibri"/>
                <a:sym typeface="Calibri"/>
              </a:rPr>
              <a:t>normokalemic</a:t>
            </a:r>
            <a:r>
              <a:rPr lang="en-US" sz="4500" dirty="0">
                <a:solidFill>
                  <a:srgbClr val="232323"/>
                </a:solidFill>
                <a:highlight>
                  <a:srgbClr val="FFFFFF"/>
                </a:highlight>
                <a:latin typeface="Calibri"/>
                <a:ea typeface="Calibri"/>
                <a:cs typeface="Calibri"/>
                <a:sym typeface="Calibri"/>
              </a:rPr>
              <a:t> :</a:t>
            </a:r>
            <a:endParaRPr sz="4500" dirty="0">
              <a:solidFill>
                <a:srgbClr val="232323"/>
              </a:solidFill>
              <a:highlight>
                <a:srgbClr val="FFFFFF"/>
              </a:highlight>
              <a:latin typeface="Calibri"/>
              <a:ea typeface="Calibri"/>
              <a:cs typeface="Calibri"/>
              <a:sym typeface="Calibri"/>
            </a:endParaRPr>
          </a:p>
          <a:p>
            <a:pPr marL="1384300" lvl="1" indent="-914400" algn="l" rtl="0">
              <a:spcBef>
                <a:spcPts val="1200"/>
              </a:spcBef>
              <a:spcAft>
                <a:spcPts val="1200"/>
              </a:spcAft>
              <a:buClr>
                <a:srgbClr val="232323"/>
              </a:buClr>
              <a:buSzPct val="100000"/>
              <a:buFont typeface="+mj-lt"/>
              <a:buAutoNum type="arabicPeriod" startAt="4"/>
            </a:pPr>
            <a:r>
              <a:rPr lang="en-US" sz="4500" dirty="0">
                <a:solidFill>
                  <a:srgbClr val="232323"/>
                </a:solidFill>
                <a:highlight>
                  <a:srgbClr val="FFFFFF"/>
                </a:highlight>
                <a:latin typeface="Calibri"/>
                <a:ea typeface="Calibri"/>
                <a:cs typeface="Calibri"/>
                <a:sym typeface="Calibri"/>
              </a:rPr>
              <a:t>Hypertension with sleep apnea.</a:t>
            </a:r>
            <a:endParaRPr sz="4500" dirty="0">
              <a:solidFill>
                <a:srgbClr val="232323"/>
              </a:solidFill>
              <a:highlight>
                <a:srgbClr val="FFFFFF"/>
              </a:highlight>
              <a:latin typeface="Calibri"/>
              <a:ea typeface="Calibri"/>
              <a:cs typeface="Calibri"/>
              <a:sym typeface="Calibri"/>
            </a:endParaRPr>
          </a:p>
          <a:p>
            <a:pPr marL="1384300" lvl="1" indent="-914400" algn="l" rtl="0">
              <a:spcBef>
                <a:spcPts val="1200"/>
              </a:spcBef>
              <a:spcAft>
                <a:spcPts val="1200"/>
              </a:spcAft>
              <a:buClr>
                <a:srgbClr val="232323"/>
              </a:buClr>
              <a:buSzPct val="100000"/>
              <a:buFont typeface="+mj-lt"/>
              <a:buAutoNum type="arabicPeriod" startAt="4"/>
            </a:pPr>
            <a:r>
              <a:rPr lang="en-US" sz="4500" dirty="0">
                <a:solidFill>
                  <a:srgbClr val="232323"/>
                </a:solidFill>
                <a:highlight>
                  <a:srgbClr val="FFFFFF"/>
                </a:highlight>
                <a:latin typeface="Calibri"/>
                <a:ea typeface="Calibri"/>
                <a:cs typeface="Calibri"/>
                <a:sym typeface="Calibri"/>
              </a:rPr>
              <a:t>Hypertension and family history of early-onset HTN or CVA at a young age (&lt;40 years).</a:t>
            </a:r>
            <a:endParaRPr sz="4500" dirty="0">
              <a:solidFill>
                <a:srgbClr val="232323"/>
              </a:solidFill>
              <a:highlight>
                <a:srgbClr val="FFFFFF"/>
              </a:highlight>
              <a:latin typeface="Calibri"/>
              <a:ea typeface="Calibri"/>
              <a:cs typeface="Calibri"/>
              <a:sym typeface="Calibri"/>
            </a:endParaRPr>
          </a:p>
          <a:p>
            <a:pPr marL="1384300" lvl="1" indent="-914400" algn="l" rtl="0">
              <a:spcBef>
                <a:spcPts val="1200"/>
              </a:spcBef>
              <a:spcAft>
                <a:spcPts val="1200"/>
              </a:spcAft>
              <a:buClr>
                <a:srgbClr val="232323"/>
              </a:buClr>
              <a:buSzPct val="100000"/>
              <a:buFont typeface="+mj-lt"/>
              <a:buAutoNum type="arabicPeriod" startAt="4"/>
            </a:pPr>
            <a:r>
              <a:rPr lang="en-US" sz="4500" dirty="0">
                <a:solidFill>
                  <a:srgbClr val="232323"/>
                </a:solidFill>
                <a:highlight>
                  <a:srgbClr val="FFFFFF"/>
                </a:highlight>
                <a:latin typeface="Calibri"/>
                <a:ea typeface="Calibri"/>
                <a:cs typeface="Calibri"/>
                <a:sym typeface="Calibri"/>
              </a:rPr>
              <a:t>All hypertensive 1st degree relatives of persons with primary aldosteronism.</a:t>
            </a:r>
          </a:p>
          <a:p>
            <a:pPr marL="1384300" lvl="1" indent="-914400" algn="l" rtl="0">
              <a:spcBef>
                <a:spcPts val="1200"/>
              </a:spcBef>
              <a:spcAft>
                <a:spcPts val="1200"/>
              </a:spcAft>
              <a:buClr>
                <a:srgbClr val="232323"/>
              </a:buClr>
              <a:buSzPct val="100000"/>
              <a:buFont typeface="+mj-lt"/>
              <a:buAutoNum type="arabicPeriod" startAt="4"/>
            </a:pPr>
            <a:r>
              <a:rPr lang="en-US" sz="4500" dirty="0">
                <a:solidFill>
                  <a:srgbClr val="232323"/>
                </a:solidFill>
                <a:highlight>
                  <a:srgbClr val="FFFFFF"/>
                </a:highlight>
                <a:latin typeface="Calibri"/>
                <a:ea typeface="Calibri"/>
                <a:cs typeface="Calibri"/>
                <a:sym typeface="Calibri"/>
              </a:rPr>
              <a:t>Younger patients with hypertension and atrial fibrillation.</a:t>
            </a:r>
            <a:endParaRPr sz="6100" dirty="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100"/>
          <p:cNvSpPr txBox="1">
            <a:spLocks noGrp="1"/>
          </p:cNvSpPr>
          <p:nvPr>
            <p:ph type="title"/>
          </p:nvPr>
        </p:nvSpPr>
        <p:spPr>
          <a:xfrm>
            <a:off x="649331" y="140025"/>
            <a:ext cx="11704637" cy="1819275"/>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7030A0"/>
                </a:solidFill>
                <a:latin typeface="Calibri"/>
                <a:ea typeface="Calibri"/>
                <a:cs typeface="Calibri"/>
                <a:sym typeface="Calibri"/>
              </a:rPr>
              <a:t>Making the Hyperaldosteronism Diagnosis</a:t>
            </a:r>
            <a:endParaRPr dirty="0">
              <a:solidFill>
                <a:srgbClr val="7030A0"/>
              </a:solidFill>
              <a:latin typeface="Calibri"/>
              <a:ea typeface="Calibri"/>
              <a:cs typeface="Calibri"/>
              <a:sym typeface="Calibri"/>
            </a:endParaRPr>
          </a:p>
        </p:txBody>
      </p:sp>
      <p:sp>
        <p:nvSpPr>
          <p:cNvPr id="721" name="Google Shape;721;p100"/>
          <p:cNvSpPr txBox="1">
            <a:spLocks noGrp="1"/>
          </p:cNvSpPr>
          <p:nvPr>
            <p:ph type="body" idx="1"/>
          </p:nvPr>
        </p:nvSpPr>
        <p:spPr>
          <a:xfrm>
            <a:off x="215900" y="2235200"/>
            <a:ext cx="12571500" cy="7378375"/>
          </a:xfrm>
          <a:prstGeom prst="rect">
            <a:avLst/>
          </a:prstGeom>
          <a:noFill/>
          <a:ln>
            <a:noFill/>
          </a:ln>
        </p:spPr>
        <p:txBody>
          <a:bodyPr spcFirstLastPara="1" wrap="square" lIns="126425" tIns="72225" rIns="126425" bIns="72225" anchor="t" anchorCtr="0">
            <a:noAutofit/>
          </a:bodyPr>
          <a:lstStyle/>
          <a:p>
            <a:pPr marL="331471" indent="-685800">
              <a:spcBef>
                <a:spcPts val="700"/>
              </a:spcBef>
              <a:buSzPct val="80000"/>
            </a:pPr>
            <a:r>
              <a:rPr lang="en-US" sz="4400" dirty="0">
                <a:latin typeface="Calibri" panose="020F0502020204030204" pitchFamily="34" charset="0"/>
                <a:ea typeface="Arial"/>
                <a:cs typeface="Calibri" panose="020F0502020204030204" pitchFamily="34" charset="0"/>
                <a:sym typeface="Arial"/>
              </a:rPr>
              <a:t>Testing is by obtaining a </a:t>
            </a:r>
            <a:r>
              <a:rPr lang="en-US" sz="4400" b="1" i="1" dirty="0">
                <a:latin typeface="Calibri" panose="020F0502020204030204" pitchFamily="34" charset="0"/>
                <a:ea typeface="Arial"/>
                <a:cs typeface="Calibri" panose="020F0502020204030204" pitchFamily="34" charset="0"/>
                <a:sym typeface="Arial"/>
              </a:rPr>
              <a:t>plasma aldosterone concentration</a:t>
            </a:r>
            <a:r>
              <a:rPr lang="en-US" sz="4400" dirty="0">
                <a:latin typeface="Calibri" panose="020F0502020204030204" pitchFamily="34" charset="0"/>
                <a:ea typeface="Arial"/>
                <a:cs typeface="Calibri" panose="020F0502020204030204" pitchFamily="34" charset="0"/>
                <a:sym typeface="Arial"/>
              </a:rPr>
              <a:t> and a </a:t>
            </a:r>
            <a:r>
              <a:rPr lang="en-US" sz="4400" b="1" i="1" dirty="0">
                <a:latin typeface="Calibri" panose="020F0502020204030204" pitchFamily="34" charset="0"/>
                <a:ea typeface="Arial"/>
                <a:cs typeface="Calibri" panose="020F0502020204030204" pitchFamily="34" charset="0"/>
                <a:sym typeface="Arial"/>
              </a:rPr>
              <a:t>plasma renin activity level</a:t>
            </a:r>
            <a:r>
              <a:rPr lang="en-US" sz="4400" dirty="0">
                <a:latin typeface="Calibri" panose="020F0502020204030204" pitchFamily="34" charset="0"/>
                <a:ea typeface="Arial"/>
                <a:cs typeface="Calibri" panose="020F0502020204030204" pitchFamily="34" charset="0"/>
                <a:sym typeface="Arial"/>
              </a:rPr>
              <a:t>, then </a:t>
            </a:r>
            <a:r>
              <a:rPr lang="en-US" sz="4400" b="1" i="1" dirty="0">
                <a:latin typeface="Calibri" panose="020F0502020204030204" pitchFamily="34" charset="0"/>
                <a:ea typeface="Arial"/>
                <a:cs typeface="Calibri" panose="020F0502020204030204" pitchFamily="34" charset="0"/>
                <a:sym typeface="Arial"/>
              </a:rPr>
              <a:t>calculating the aldosterone to renin activity ratio</a:t>
            </a:r>
            <a:r>
              <a:rPr lang="en-US" sz="4400" dirty="0">
                <a:latin typeface="Calibri" panose="020F0502020204030204" pitchFamily="34" charset="0"/>
                <a:ea typeface="Arial"/>
                <a:cs typeface="Calibri" panose="020F0502020204030204" pitchFamily="34" charset="0"/>
                <a:sym typeface="Arial"/>
              </a:rPr>
              <a:t> (ARR).</a:t>
            </a:r>
          </a:p>
          <a:p>
            <a:pPr marL="331471" indent="-685800">
              <a:spcBef>
                <a:spcPts val="700"/>
              </a:spcBef>
              <a:buSzPct val="80000"/>
            </a:pPr>
            <a:endParaRPr lang="en-US" sz="4400" dirty="0">
              <a:latin typeface="Calibri" panose="020F0502020204030204" pitchFamily="34" charset="0"/>
              <a:ea typeface="Arial"/>
              <a:cs typeface="Calibri" panose="020F0502020204030204" pitchFamily="34" charset="0"/>
              <a:sym typeface="Arial"/>
            </a:endParaRPr>
          </a:p>
          <a:p>
            <a:pPr marL="331471" indent="-685800">
              <a:spcBef>
                <a:spcPts val="700"/>
              </a:spcBef>
              <a:buSzPct val="80000"/>
            </a:pPr>
            <a:r>
              <a:rPr lang="en-US" sz="4400" dirty="0">
                <a:latin typeface="Calibri" panose="020F0502020204030204" pitchFamily="34" charset="0"/>
                <a:ea typeface="Arial"/>
                <a:cs typeface="Calibri" panose="020F0502020204030204" pitchFamily="34" charset="0"/>
                <a:sym typeface="Arial"/>
              </a:rPr>
              <a:t>The test is ideally done in mid-morning after the patient has been up and ambulatory for 2 hours, then sits for 15 minutes.</a:t>
            </a:r>
            <a:endParaRPr sz="4400" dirty="0">
              <a:latin typeface="Calibri" panose="020F0502020204030204" pitchFamily="34" charset="0"/>
              <a:ea typeface="Arial"/>
              <a:cs typeface="Calibri" panose="020F0502020204030204" pitchFamily="34" charset="0"/>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19">
          <a:extLst>
            <a:ext uri="{FF2B5EF4-FFF2-40B4-BE49-F238E27FC236}">
              <a16:creationId xmlns:a16="http://schemas.microsoft.com/office/drawing/2014/main" id="{95C8D021-3D21-F3B9-9871-D4025F65FF4E}"/>
            </a:ext>
          </a:extLst>
        </p:cNvPr>
        <p:cNvGrpSpPr/>
        <p:nvPr/>
      </p:nvGrpSpPr>
      <p:grpSpPr>
        <a:xfrm>
          <a:off x="0" y="0"/>
          <a:ext cx="0" cy="0"/>
          <a:chOff x="0" y="0"/>
          <a:chExt cx="0" cy="0"/>
        </a:xfrm>
      </p:grpSpPr>
      <p:sp>
        <p:nvSpPr>
          <p:cNvPr id="720" name="Google Shape;720;p100">
            <a:extLst>
              <a:ext uri="{FF2B5EF4-FFF2-40B4-BE49-F238E27FC236}">
                <a16:creationId xmlns:a16="http://schemas.microsoft.com/office/drawing/2014/main" id="{BF26B846-C5F9-2FDF-E14A-245F4D023C15}"/>
              </a:ext>
            </a:extLst>
          </p:cNvPr>
          <p:cNvSpPr txBox="1">
            <a:spLocks noGrp="1"/>
          </p:cNvSpPr>
          <p:nvPr>
            <p:ph type="title"/>
          </p:nvPr>
        </p:nvSpPr>
        <p:spPr>
          <a:xfrm>
            <a:off x="649331" y="140025"/>
            <a:ext cx="11704637" cy="1819275"/>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7030A0"/>
                </a:solidFill>
                <a:latin typeface="Calibri"/>
                <a:ea typeface="Calibri"/>
                <a:cs typeface="Calibri"/>
                <a:sym typeface="Calibri"/>
              </a:rPr>
              <a:t>Making the Hyperaldosteronism Diagnosis</a:t>
            </a:r>
            <a:endParaRPr dirty="0">
              <a:solidFill>
                <a:srgbClr val="7030A0"/>
              </a:solidFill>
              <a:latin typeface="Calibri"/>
              <a:ea typeface="Calibri"/>
              <a:cs typeface="Calibri"/>
              <a:sym typeface="Calibri"/>
            </a:endParaRPr>
          </a:p>
        </p:txBody>
      </p:sp>
      <p:sp>
        <p:nvSpPr>
          <p:cNvPr id="721" name="Google Shape;721;p100">
            <a:extLst>
              <a:ext uri="{FF2B5EF4-FFF2-40B4-BE49-F238E27FC236}">
                <a16:creationId xmlns:a16="http://schemas.microsoft.com/office/drawing/2014/main" id="{885E1425-B48F-5C58-1FCF-3593CE64AF56}"/>
              </a:ext>
            </a:extLst>
          </p:cNvPr>
          <p:cNvSpPr txBox="1">
            <a:spLocks noGrp="1"/>
          </p:cNvSpPr>
          <p:nvPr>
            <p:ph type="body" idx="1"/>
          </p:nvPr>
        </p:nvSpPr>
        <p:spPr>
          <a:xfrm>
            <a:off x="215900" y="2235200"/>
            <a:ext cx="12571500" cy="7378375"/>
          </a:xfrm>
          <a:prstGeom prst="rect">
            <a:avLst/>
          </a:prstGeom>
          <a:noFill/>
          <a:ln>
            <a:noFill/>
          </a:ln>
        </p:spPr>
        <p:txBody>
          <a:bodyPr spcFirstLastPara="1" wrap="square" lIns="126425" tIns="72225" rIns="126425" bIns="72225" anchor="t" anchorCtr="0">
            <a:noAutofit/>
          </a:bodyPr>
          <a:lstStyle/>
          <a:p>
            <a:pPr marL="331471" indent="-685800">
              <a:spcBef>
                <a:spcPts val="700"/>
              </a:spcBef>
              <a:buSzPct val="80000"/>
            </a:pPr>
            <a:r>
              <a:rPr lang="en-US" sz="4400" b="1" i="1" dirty="0">
                <a:latin typeface="Calibri" panose="020F0502020204030204" pitchFamily="34" charset="0"/>
                <a:ea typeface="Arial"/>
                <a:cs typeface="Calibri" panose="020F0502020204030204" pitchFamily="34" charset="0"/>
                <a:sym typeface="Arial"/>
              </a:rPr>
              <a:t>Hypokalemia must be corrected </a:t>
            </a:r>
            <a:r>
              <a:rPr lang="en-US" sz="4400" dirty="0">
                <a:latin typeface="Calibri" panose="020F0502020204030204" pitchFamily="34" charset="0"/>
                <a:ea typeface="Arial"/>
                <a:cs typeface="Calibri" panose="020F0502020204030204" pitchFamily="34" charset="0"/>
                <a:sym typeface="Arial"/>
              </a:rPr>
              <a:t>before the test as this may cause a falsely low aldosterone.</a:t>
            </a:r>
          </a:p>
          <a:p>
            <a:pPr marL="331471" indent="-685800">
              <a:spcBef>
                <a:spcPts val="700"/>
              </a:spcBef>
              <a:buSzPct val="80000"/>
            </a:pPr>
            <a:endParaRPr lang="en-US" sz="4400" dirty="0">
              <a:latin typeface="Calibri" panose="020F0502020204030204" pitchFamily="34" charset="0"/>
              <a:ea typeface="Arial"/>
              <a:cs typeface="Calibri" panose="020F0502020204030204" pitchFamily="34" charset="0"/>
              <a:sym typeface="Arial"/>
            </a:endParaRPr>
          </a:p>
          <a:p>
            <a:pPr marL="331471" indent="-685800">
              <a:spcBef>
                <a:spcPts val="700"/>
              </a:spcBef>
              <a:buSzPct val="80000"/>
            </a:pPr>
            <a:r>
              <a:rPr lang="en-US" sz="4400" dirty="0">
                <a:latin typeface="Calibri" panose="020F0502020204030204" pitchFamily="34" charset="0"/>
                <a:ea typeface="Arial"/>
                <a:cs typeface="Calibri" panose="020F0502020204030204" pitchFamily="34" charset="0"/>
                <a:sym typeface="Arial"/>
              </a:rPr>
              <a:t>All MRAs, amiloride and triamterene are discontinued 4 weeks prior to the test.</a:t>
            </a:r>
          </a:p>
          <a:p>
            <a:pPr marL="331471" indent="-685800">
              <a:spcBef>
                <a:spcPts val="700"/>
              </a:spcBef>
              <a:buSzPct val="80000"/>
            </a:pPr>
            <a:endParaRPr lang="en-US" sz="4400" dirty="0">
              <a:latin typeface="Calibri" panose="020F0502020204030204" pitchFamily="34" charset="0"/>
              <a:ea typeface="Arial"/>
              <a:cs typeface="Calibri" panose="020F0502020204030204" pitchFamily="34" charset="0"/>
              <a:sym typeface="Arial"/>
            </a:endParaRPr>
          </a:p>
          <a:p>
            <a:pPr marL="331471" indent="-685800">
              <a:spcBef>
                <a:spcPts val="700"/>
              </a:spcBef>
              <a:buSzPct val="80000"/>
            </a:pPr>
            <a:r>
              <a:rPr lang="en-US" sz="4400" dirty="0">
                <a:latin typeface="Calibri" panose="020F0502020204030204" pitchFamily="34" charset="0"/>
                <a:ea typeface="Arial"/>
                <a:cs typeface="Calibri" panose="020F0502020204030204" pitchFamily="34" charset="0"/>
                <a:sym typeface="Arial"/>
              </a:rPr>
              <a:t>The diagnosis depends on finding </a:t>
            </a:r>
            <a:r>
              <a:rPr lang="en-US" sz="4400" u="sng" dirty="0">
                <a:latin typeface="Calibri" panose="020F0502020204030204" pitchFamily="34" charset="0"/>
                <a:ea typeface="Arial"/>
                <a:cs typeface="Calibri" panose="020F0502020204030204" pitchFamily="34" charset="0"/>
                <a:sym typeface="Arial"/>
              </a:rPr>
              <a:t>both</a:t>
            </a:r>
            <a:r>
              <a:rPr lang="en-US" sz="4400" dirty="0">
                <a:latin typeface="Calibri" panose="020F0502020204030204" pitchFamily="34" charset="0"/>
                <a:ea typeface="Arial"/>
                <a:cs typeface="Calibri" panose="020F0502020204030204" pitchFamily="34" charset="0"/>
                <a:sym typeface="Arial"/>
              </a:rPr>
              <a:t> an </a:t>
            </a:r>
            <a:r>
              <a:rPr lang="en-US" sz="4400" b="1" i="1" dirty="0">
                <a:latin typeface="Calibri" panose="020F0502020204030204" pitchFamily="34" charset="0"/>
                <a:ea typeface="Arial"/>
                <a:cs typeface="Calibri" panose="020F0502020204030204" pitchFamily="34" charset="0"/>
                <a:sym typeface="Arial"/>
              </a:rPr>
              <a:t>inappropriately high aldosterone concentration</a:t>
            </a:r>
            <a:r>
              <a:rPr lang="en-US" sz="4400" dirty="0">
                <a:latin typeface="Calibri" panose="020F0502020204030204" pitchFamily="34" charset="0"/>
                <a:ea typeface="Arial"/>
                <a:cs typeface="Calibri" panose="020F0502020204030204" pitchFamily="34" charset="0"/>
                <a:sym typeface="Arial"/>
              </a:rPr>
              <a:t>, and an </a:t>
            </a:r>
            <a:r>
              <a:rPr lang="en-US" sz="4400" b="1" i="1" dirty="0">
                <a:latin typeface="Calibri" panose="020F0502020204030204" pitchFamily="34" charset="0"/>
                <a:ea typeface="Arial"/>
                <a:cs typeface="Calibri" panose="020F0502020204030204" pitchFamily="34" charset="0"/>
                <a:sym typeface="Arial"/>
              </a:rPr>
              <a:t>inappropriately low renin activity level</a:t>
            </a:r>
            <a:r>
              <a:rPr lang="en-US" sz="4400" dirty="0">
                <a:latin typeface="Calibri" panose="020F0502020204030204" pitchFamily="34" charset="0"/>
                <a:ea typeface="Arial"/>
                <a:cs typeface="Calibri" panose="020F0502020204030204" pitchFamily="34" charset="0"/>
                <a:sym typeface="Arial"/>
              </a:rPr>
              <a:t>.</a:t>
            </a:r>
            <a:endParaRPr sz="4400" dirty="0">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001836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101"/>
          <p:cNvSpPr txBox="1">
            <a:spLocks noGrp="1"/>
          </p:cNvSpPr>
          <p:nvPr>
            <p:ph type="title"/>
          </p:nvPr>
        </p:nvSpPr>
        <p:spPr>
          <a:xfrm>
            <a:off x="215899" y="173958"/>
            <a:ext cx="12661901" cy="128231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5500" dirty="0">
                <a:solidFill>
                  <a:srgbClr val="7030A0"/>
                </a:solidFill>
                <a:latin typeface="Calibri" panose="020F0502020204030204" pitchFamily="34" charset="0"/>
                <a:ea typeface="Arial"/>
                <a:cs typeface="Calibri" panose="020F0502020204030204" pitchFamily="34" charset="0"/>
                <a:sym typeface="Arial"/>
              </a:rPr>
              <a:t>Making the Hyperaldosteronism Diagnosis</a:t>
            </a:r>
            <a:endParaRPr sz="5500" dirty="0">
              <a:solidFill>
                <a:srgbClr val="7030A0"/>
              </a:solidFill>
              <a:latin typeface="Calibri" panose="020F0502020204030204" pitchFamily="34" charset="0"/>
              <a:cs typeface="Calibri" panose="020F0502020204030204" pitchFamily="34" charset="0"/>
            </a:endParaRPr>
          </a:p>
        </p:txBody>
      </p:sp>
      <p:sp>
        <p:nvSpPr>
          <p:cNvPr id="727" name="Google Shape;727;p101"/>
          <p:cNvSpPr txBox="1">
            <a:spLocks noGrp="1"/>
          </p:cNvSpPr>
          <p:nvPr>
            <p:ph type="body" idx="1"/>
          </p:nvPr>
        </p:nvSpPr>
        <p:spPr>
          <a:xfrm>
            <a:off x="306300" y="8498153"/>
            <a:ext cx="12571500" cy="1081489"/>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All positive tests require confirmatory testing.</a:t>
            </a:r>
            <a:endParaRPr dirty="0"/>
          </a:p>
          <a:p>
            <a:pPr marL="487363" lvl="0" indent="-201612" algn="l" rtl="0">
              <a:spcBef>
                <a:spcPts val="700"/>
              </a:spcBef>
              <a:spcAft>
                <a:spcPts val="0"/>
              </a:spcAft>
              <a:buClr>
                <a:srgbClr val="000000"/>
              </a:buClr>
              <a:buSzPts val="4500"/>
              <a:buFont typeface="Arial"/>
              <a:buNone/>
            </a:pPr>
            <a:endParaRPr sz="4500" dirty="0">
              <a:latin typeface="Calibri"/>
              <a:ea typeface="Calibri"/>
              <a:cs typeface="Calibri"/>
              <a:sym typeface="Calibri"/>
            </a:endParaRPr>
          </a:p>
          <a:p>
            <a:pPr marL="487363" lvl="0" indent="-201612" algn="l" rtl="0">
              <a:spcBef>
                <a:spcPts val="700"/>
              </a:spcBef>
              <a:spcAft>
                <a:spcPts val="0"/>
              </a:spcAft>
              <a:buClr>
                <a:srgbClr val="000000"/>
              </a:buClr>
              <a:buSzPts val="4500"/>
              <a:buFont typeface="Arial"/>
              <a:buNone/>
            </a:pPr>
            <a:endParaRPr sz="4500" dirty="0">
              <a:latin typeface="Calibri"/>
              <a:ea typeface="Calibri"/>
              <a:cs typeface="Calibri"/>
              <a:sym typeface="Calibri"/>
            </a:endParaRPr>
          </a:p>
        </p:txBody>
      </p:sp>
      <p:graphicFrame>
        <p:nvGraphicFramePr>
          <p:cNvPr id="728" name="Google Shape;728;p101"/>
          <p:cNvGraphicFramePr/>
          <p:nvPr>
            <p:extLst>
              <p:ext uri="{D42A27DB-BD31-4B8C-83A1-F6EECF244321}">
                <p14:modId xmlns:p14="http://schemas.microsoft.com/office/powerpoint/2010/main" val="3810422773"/>
              </p:ext>
            </p:extLst>
          </p:nvPr>
        </p:nvGraphicFramePr>
        <p:xfrm>
          <a:off x="215899" y="1729048"/>
          <a:ext cx="12571500" cy="6284421"/>
        </p:xfrm>
        <a:graphic>
          <a:graphicData uri="http://schemas.openxmlformats.org/drawingml/2006/table">
            <a:tbl>
              <a:tblPr>
                <a:noFill/>
                <a:tableStyleId>{779906F2-E3B9-4608-AB6C-7A0A5C81DEF4}</a:tableStyleId>
              </a:tblPr>
              <a:tblGrid>
                <a:gridCol w="6286501">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070830">
                  <a:extLst>
                    <a:ext uri="{9D8B030D-6E8A-4147-A177-3AD203B41FA5}">
                      <a16:colId xmlns:a16="http://schemas.microsoft.com/office/drawing/2014/main" val="20002"/>
                    </a:ext>
                  </a:extLst>
                </a:gridCol>
                <a:gridCol w="1699569">
                  <a:extLst>
                    <a:ext uri="{9D8B030D-6E8A-4147-A177-3AD203B41FA5}">
                      <a16:colId xmlns:a16="http://schemas.microsoft.com/office/drawing/2014/main" val="20003"/>
                    </a:ext>
                  </a:extLst>
                </a:gridCol>
              </a:tblGrid>
              <a:tr h="1169439">
                <a:tc>
                  <a:txBody>
                    <a:bodyPr/>
                    <a:lstStyle/>
                    <a:p>
                      <a:pPr marL="0" lvl="0" indent="0" algn="l" rtl="0">
                        <a:lnSpc>
                          <a:spcPct val="115000"/>
                        </a:lnSpc>
                        <a:spcBef>
                          <a:spcPts val="0"/>
                        </a:spcBef>
                        <a:spcAft>
                          <a:spcPts val="1100"/>
                        </a:spcAft>
                        <a:buNone/>
                      </a:pPr>
                      <a:r>
                        <a:rPr lang="en-US" sz="3200" b="1" dirty="0">
                          <a:highlight>
                            <a:srgbClr val="FFFFFF"/>
                          </a:highlight>
                          <a:latin typeface="Calibri" panose="020F0502020204030204" pitchFamily="34" charset="0"/>
                          <a:cs typeface="Calibri" panose="020F0502020204030204" pitchFamily="34" charset="0"/>
                        </a:rPr>
                        <a:t>Disease State</a:t>
                      </a:r>
                      <a:endParaRPr sz="3200" b="1" dirty="0">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1100"/>
                        </a:spcAft>
                        <a:buNone/>
                      </a:pPr>
                      <a:r>
                        <a:rPr lang="en-US" sz="3200" b="1">
                          <a:solidFill>
                            <a:srgbClr val="333333"/>
                          </a:solidFill>
                          <a:highlight>
                            <a:srgbClr val="FFFFFF"/>
                          </a:highlight>
                          <a:latin typeface="Calibri" panose="020F0502020204030204" pitchFamily="34" charset="0"/>
                          <a:cs typeface="Calibri" panose="020F0502020204030204" pitchFamily="34" charset="0"/>
                        </a:rPr>
                        <a:t>Aldosterone</a:t>
                      </a:r>
                      <a:endParaRPr sz="3200" b="1">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1100"/>
                        </a:spcAft>
                        <a:buNone/>
                      </a:pPr>
                      <a:r>
                        <a:rPr lang="en-US" sz="3200" b="1">
                          <a:solidFill>
                            <a:srgbClr val="333333"/>
                          </a:solidFill>
                          <a:highlight>
                            <a:srgbClr val="FFFFFF"/>
                          </a:highlight>
                          <a:latin typeface="Calibri" panose="020F0502020204030204" pitchFamily="34" charset="0"/>
                          <a:cs typeface="Calibri" panose="020F0502020204030204" pitchFamily="34" charset="0"/>
                        </a:rPr>
                        <a:t>Cortisol </a:t>
                      </a:r>
                      <a:endParaRPr sz="3200" b="1">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1100"/>
                        </a:spcAft>
                        <a:buNone/>
                      </a:pPr>
                      <a:r>
                        <a:rPr lang="en-US" sz="3200" b="1">
                          <a:solidFill>
                            <a:srgbClr val="333333"/>
                          </a:solidFill>
                          <a:highlight>
                            <a:srgbClr val="FFFFFF"/>
                          </a:highlight>
                          <a:latin typeface="Calibri" panose="020F0502020204030204" pitchFamily="34" charset="0"/>
                          <a:cs typeface="Calibri" panose="020F0502020204030204" pitchFamily="34" charset="0"/>
                        </a:rPr>
                        <a:t>Renin</a:t>
                      </a:r>
                      <a:endParaRPr sz="3200" b="1">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071939">
                <a:tc>
                  <a:txBody>
                    <a:bodyPr/>
                    <a:lstStyle/>
                    <a:p>
                      <a:pPr marL="0" lvl="0" indent="0" algn="l" rtl="0">
                        <a:lnSpc>
                          <a:spcPct val="115000"/>
                        </a:lnSpc>
                        <a:spcBef>
                          <a:spcPts val="0"/>
                        </a:spcBef>
                        <a:spcAft>
                          <a:spcPts val="1100"/>
                        </a:spcAft>
                        <a:buNone/>
                      </a:pPr>
                      <a:r>
                        <a:rPr lang="en-US" sz="3200" dirty="0">
                          <a:solidFill>
                            <a:srgbClr val="333333"/>
                          </a:solidFill>
                          <a:highlight>
                            <a:srgbClr val="FFFFFF"/>
                          </a:highlight>
                          <a:latin typeface="Calibri" panose="020F0502020204030204" pitchFamily="34" charset="0"/>
                          <a:cs typeface="Calibri" panose="020F0502020204030204" pitchFamily="34" charset="0"/>
                        </a:rPr>
                        <a:t>Primary hyperaldosteronism</a:t>
                      </a:r>
                      <a:endParaRPr sz="3200" dirty="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1100"/>
                        </a:spcAft>
                        <a:buNone/>
                      </a:pPr>
                      <a:r>
                        <a:rPr lang="en-US" sz="3200" dirty="0">
                          <a:solidFill>
                            <a:srgbClr val="333333"/>
                          </a:solidFill>
                          <a:highlight>
                            <a:srgbClr val="FFFFFF"/>
                          </a:highlight>
                          <a:latin typeface="Calibri" panose="020F0502020204030204" pitchFamily="34" charset="0"/>
                          <a:cs typeface="Calibri" panose="020F0502020204030204" pitchFamily="34" charset="0"/>
                        </a:rPr>
                        <a:t>High</a:t>
                      </a:r>
                      <a:endParaRPr sz="3200" dirty="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1100"/>
                        </a:spcAft>
                        <a:buNone/>
                      </a:pPr>
                      <a:r>
                        <a:rPr lang="en-US" sz="3200">
                          <a:solidFill>
                            <a:srgbClr val="333333"/>
                          </a:solidFill>
                          <a:highlight>
                            <a:srgbClr val="FFFFFF"/>
                          </a:highlight>
                          <a:latin typeface="Calibri" panose="020F0502020204030204" pitchFamily="34" charset="0"/>
                          <a:cs typeface="Calibri" panose="020F0502020204030204" pitchFamily="34" charset="0"/>
                        </a:rPr>
                        <a:t>Normal</a:t>
                      </a:r>
                      <a:endParaRPr sz="320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1100"/>
                        </a:spcAft>
                        <a:buNone/>
                      </a:pPr>
                      <a:r>
                        <a:rPr lang="en-US" sz="3200">
                          <a:solidFill>
                            <a:srgbClr val="333333"/>
                          </a:solidFill>
                          <a:highlight>
                            <a:srgbClr val="FFFFFF"/>
                          </a:highlight>
                          <a:latin typeface="Calibri" panose="020F0502020204030204" pitchFamily="34" charset="0"/>
                          <a:cs typeface="Calibri" panose="020F0502020204030204" pitchFamily="34" charset="0"/>
                        </a:rPr>
                        <a:t>Low</a:t>
                      </a:r>
                      <a:endParaRPr sz="320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666559">
                <a:tc>
                  <a:txBody>
                    <a:bodyPr/>
                    <a:lstStyle/>
                    <a:p>
                      <a:pPr marL="0" lvl="0" indent="0" algn="l" rtl="0">
                        <a:lnSpc>
                          <a:spcPct val="115000"/>
                        </a:lnSpc>
                        <a:spcBef>
                          <a:spcPts val="0"/>
                        </a:spcBef>
                        <a:spcAft>
                          <a:spcPts val="1100"/>
                        </a:spcAft>
                        <a:buNone/>
                      </a:pPr>
                      <a:r>
                        <a:rPr lang="en-US" sz="3200" dirty="0">
                          <a:solidFill>
                            <a:srgbClr val="333333"/>
                          </a:solidFill>
                          <a:highlight>
                            <a:srgbClr val="FFFFFF"/>
                          </a:highlight>
                          <a:latin typeface="Calibri" panose="020F0502020204030204" pitchFamily="34" charset="0"/>
                          <a:cs typeface="Calibri" panose="020F0502020204030204" pitchFamily="34" charset="0"/>
                        </a:rPr>
                        <a:t>Secondary hyperaldosteronism (Renal artery stenosis)</a:t>
                      </a:r>
                      <a:endParaRPr sz="3200" dirty="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1100"/>
                        </a:spcAft>
                        <a:buNone/>
                      </a:pPr>
                      <a:r>
                        <a:rPr lang="en-US" sz="3200" dirty="0">
                          <a:solidFill>
                            <a:srgbClr val="333333"/>
                          </a:solidFill>
                          <a:highlight>
                            <a:srgbClr val="FFFFFF"/>
                          </a:highlight>
                          <a:latin typeface="Calibri" panose="020F0502020204030204" pitchFamily="34" charset="0"/>
                          <a:cs typeface="Calibri" panose="020F0502020204030204" pitchFamily="34" charset="0"/>
                        </a:rPr>
                        <a:t>High</a:t>
                      </a:r>
                      <a:endParaRPr sz="3200" dirty="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1100"/>
                        </a:spcAft>
                        <a:buNone/>
                      </a:pPr>
                      <a:r>
                        <a:rPr lang="en-US" sz="3200" dirty="0">
                          <a:solidFill>
                            <a:srgbClr val="333333"/>
                          </a:solidFill>
                          <a:highlight>
                            <a:srgbClr val="FFFFFF"/>
                          </a:highlight>
                          <a:latin typeface="Calibri" panose="020F0502020204030204" pitchFamily="34" charset="0"/>
                          <a:cs typeface="Calibri" panose="020F0502020204030204" pitchFamily="34" charset="0"/>
                        </a:rPr>
                        <a:t>Normal</a:t>
                      </a:r>
                      <a:endParaRPr sz="3200" dirty="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1100"/>
                        </a:spcAft>
                        <a:buNone/>
                      </a:pPr>
                      <a:r>
                        <a:rPr lang="en-US" sz="3200">
                          <a:solidFill>
                            <a:srgbClr val="333333"/>
                          </a:solidFill>
                          <a:highlight>
                            <a:srgbClr val="FFFFFF"/>
                          </a:highlight>
                          <a:latin typeface="Calibri" panose="020F0502020204030204" pitchFamily="34" charset="0"/>
                          <a:cs typeface="Calibri" panose="020F0502020204030204" pitchFamily="34" charset="0"/>
                        </a:rPr>
                        <a:t>High</a:t>
                      </a:r>
                      <a:endParaRPr sz="320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169439">
                <a:tc>
                  <a:txBody>
                    <a:bodyPr/>
                    <a:lstStyle/>
                    <a:p>
                      <a:pPr marL="0" lvl="0" indent="0" algn="l" rtl="0">
                        <a:lnSpc>
                          <a:spcPct val="115000"/>
                        </a:lnSpc>
                        <a:spcBef>
                          <a:spcPts val="0"/>
                        </a:spcBef>
                        <a:spcAft>
                          <a:spcPts val="1100"/>
                        </a:spcAft>
                        <a:buNone/>
                      </a:pPr>
                      <a:r>
                        <a:rPr lang="en-US" sz="3200">
                          <a:solidFill>
                            <a:srgbClr val="333333"/>
                          </a:solidFill>
                          <a:highlight>
                            <a:srgbClr val="FFFFFF"/>
                          </a:highlight>
                          <a:latin typeface="Calibri" panose="020F0502020204030204" pitchFamily="34" charset="0"/>
                          <a:cs typeface="Calibri" panose="020F0502020204030204" pitchFamily="34" charset="0"/>
                        </a:rPr>
                        <a:t>Adrenal Insufficiency (Addison dz)</a:t>
                      </a:r>
                      <a:endParaRPr sz="320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1100"/>
                        </a:spcAft>
                        <a:buNone/>
                      </a:pPr>
                      <a:r>
                        <a:rPr lang="en-US" sz="3200">
                          <a:solidFill>
                            <a:srgbClr val="333333"/>
                          </a:solidFill>
                          <a:highlight>
                            <a:srgbClr val="FFFFFF"/>
                          </a:highlight>
                          <a:latin typeface="Calibri" panose="020F0502020204030204" pitchFamily="34" charset="0"/>
                          <a:cs typeface="Calibri" panose="020F0502020204030204" pitchFamily="34" charset="0"/>
                        </a:rPr>
                        <a:t>Low</a:t>
                      </a:r>
                      <a:endParaRPr sz="320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1100"/>
                        </a:spcAft>
                        <a:buNone/>
                      </a:pPr>
                      <a:r>
                        <a:rPr lang="en-US" sz="3200" dirty="0">
                          <a:solidFill>
                            <a:srgbClr val="333333"/>
                          </a:solidFill>
                          <a:highlight>
                            <a:srgbClr val="FFFFFF"/>
                          </a:highlight>
                          <a:latin typeface="Calibri" panose="020F0502020204030204" pitchFamily="34" charset="0"/>
                          <a:cs typeface="Calibri" panose="020F0502020204030204" pitchFamily="34" charset="0"/>
                        </a:rPr>
                        <a:t>Low</a:t>
                      </a:r>
                      <a:endParaRPr sz="3200" dirty="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1100"/>
                        </a:spcAft>
                        <a:buNone/>
                      </a:pPr>
                      <a:r>
                        <a:rPr lang="en-US" sz="3200">
                          <a:solidFill>
                            <a:srgbClr val="333333"/>
                          </a:solidFill>
                          <a:highlight>
                            <a:srgbClr val="FFFFFF"/>
                          </a:highlight>
                          <a:latin typeface="Calibri" panose="020F0502020204030204" pitchFamily="34" charset="0"/>
                          <a:cs typeface="Calibri" panose="020F0502020204030204" pitchFamily="34" charset="0"/>
                        </a:rPr>
                        <a:t>High</a:t>
                      </a:r>
                      <a:endParaRPr sz="320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207045">
                <a:tc>
                  <a:txBody>
                    <a:bodyPr/>
                    <a:lstStyle/>
                    <a:p>
                      <a:pPr marL="0" lvl="0" indent="0" algn="l" rtl="0">
                        <a:lnSpc>
                          <a:spcPct val="115000"/>
                        </a:lnSpc>
                        <a:spcBef>
                          <a:spcPts val="0"/>
                        </a:spcBef>
                        <a:spcAft>
                          <a:spcPts val="1100"/>
                        </a:spcAft>
                        <a:buNone/>
                      </a:pPr>
                      <a:r>
                        <a:rPr lang="en-US" sz="3200" dirty="0">
                          <a:solidFill>
                            <a:srgbClr val="333333"/>
                          </a:solidFill>
                          <a:highlight>
                            <a:srgbClr val="FFFFFF"/>
                          </a:highlight>
                          <a:latin typeface="Calibri" panose="020F0502020204030204" pitchFamily="34" charset="0"/>
                          <a:cs typeface="Calibri" panose="020F0502020204030204" pitchFamily="34" charset="0"/>
                        </a:rPr>
                        <a:t>Cushing’s syndrome</a:t>
                      </a:r>
                      <a:endParaRPr sz="3200" dirty="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1100"/>
                        </a:spcAft>
                        <a:buNone/>
                      </a:pPr>
                      <a:r>
                        <a:rPr lang="en-US" sz="3200">
                          <a:solidFill>
                            <a:srgbClr val="333333"/>
                          </a:solidFill>
                          <a:highlight>
                            <a:srgbClr val="FFFFFF"/>
                          </a:highlight>
                          <a:latin typeface="Calibri" panose="020F0502020204030204" pitchFamily="34" charset="0"/>
                          <a:cs typeface="Calibri" panose="020F0502020204030204" pitchFamily="34" charset="0"/>
                        </a:rPr>
                        <a:t>Low</a:t>
                      </a:r>
                      <a:endParaRPr sz="320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1100"/>
                        </a:spcAft>
                        <a:buNone/>
                      </a:pPr>
                      <a:r>
                        <a:rPr lang="en-US" sz="3200" dirty="0">
                          <a:solidFill>
                            <a:srgbClr val="333333"/>
                          </a:solidFill>
                          <a:highlight>
                            <a:srgbClr val="FFFFFF"/>
                          </a:highlight>
                          <a:latin typeface="Calibri" panose="020F0502020204030204" pitchFamily="34" charset="0"/>
                          <a:cs typeface="Calibri" panose="020F0502020204030204" pitchFamily="34" charset="0"/>
                        </a:rPr>
                        <a:t>High</a:t>
                      </a:r>
                      <a:endParaRPr sz="3200" dirty="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1100"/>
                        </a:spcAft>
                        <a:buNone/>
                      </a:pPr>
                      <a:r>
                        <a:rPr lang="en-US" sz="3200" dirty="0">
                          <a:solidFill>
                            <a:srgbClr val="333333"/>
                          </a:solidFill>
                          <a:highlight>
                            <a:srgbClr val="FFFFFF"/>
                          </a:highlight>
                          <a:latin typeface="Calibri" panose="020F0502020204030204" pitchFamily="34" charset="0"/>
                          <a:cs typeface="Calibri" panose="020F0502020204030204" pitchFamily="34" charset="0"/>
                        </a:rPr>
                        <a:t>Low</a:t>
                      </a:r>
                      <a:endParaRPr sz="3200" dirty="0">
                        <a:solidFill>
                          <a:srgbClr val="333333"/>
                        </a:solidFill>
                        <a:highlight>
                          <a:srgbClr val="FFFFFF"/>
                        </a:highlight>
                        <a:latin typeface="Calibri" panose="020F0502020204030204" pitchFamily="34" charset="0"/>
                        <a:cs typeface="Calibri" panose="020F0502020204030204" pitchFamily="34" charset="0"/>
                      </a:endParaRPr>
                    </a:p>
                  </a:txBody>
                  <a:tcPr marL="142875" marR="142875" marT="142875" marB="142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101b6edf74c_0_5"/>
          <p:cNvSpPr txBox="1">
            <a:spLocks noGrp="1"/>
          </p:cNvSpPr>
          <p:nvPr>
            <p:ph type="title"/>
          </p:nvPr>
        </p:nvSpPr>
        <p:spPr>
          <a:xfrm>
            <a:off x="215899" y="119592"/>
            <a:ext cx="12571499" cy="17430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7030A0"/>
                </a:solidFill>
                <a:latin typeface="Arial"/>
                <a:ea typeface="Arial"/>
                <a:cs typeface="Arial"/>
                <a:sym typeface="Arial"/>
              </a:rPr>
              <a:t>Making the Hyperaldosteronism Diagnosis</a:t>
            </a:r>
            <a:endParaRPr dirty="0">
              <a:solidFill>
                <a:srgbClr val="7030A0"/>
              </a:solidFill>
            </a:endParaRPr>
          </a:p>
        </p:txBody>
      </p:sp>
      <p:sp>
        <p:nvSpPr>
          <p:cNvPr id="734" name="Google Shape;734;g101b6edf74c_0_5"/>
          <p:cNvSpPr txBox="1">
            <a:spLocks noGrp="1"/>
          </p:cNvSpPr>
          <p:nvPr>
            <p:ph type="body" idx="1"/>
          </p:nvPr>
        </p:nvSpPr>
        <p:spPr>
          <a:xfrm>
            <a:off x="215900" y="2218267"/>
            <a:ext cx="12571498" cy="7415741"/>
          </a:xfrm>
          <a:prstGeom prst="rect">
            <a:avLst/>
          </a:prstGeom>
          <a:noFill/>
          <a:ln>
            <a:noFill/>
          </a:ln>
        </p:spPr>
        <p:txBody>
          <a:bodyPr spcFirstLastPara="1" wrap="square" lIns="126425" tIns="72225" rIns="126425" bIns="72225" anchor="t" anchorCtr="0">
            <a:noAutofit/>
          </a:bodyPr>
          <a:lstStyle/>
          <a:p>
            <a:pPr marL="487362" lvl="0" indent="-487362" algn="l" rtl="0">
              <a:spcBef>
                <a:spcPts val="0"/>
              </a:spcBef>
              <a:spcAft>
                <a:spcPts val="0"/>
              </a:spcAft>
              <a:buClr>
                <a:srgbClr val="000000"/>
              </a:buClr>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If aldosterone is very high compared to renin, and this finding is confirmed, then imaging is ordered to </a:t>
            </a:r>
            <a:r>
              <a:rPr lang="en-US" sz="4400" b="1" i="1" dirty="0">
                <a:latin typeface="Calibri" panose="020F0502020204030204" pitchFamily="34" charset="0"/>
                <a:ea typeface="Calibri"/>
                <a:cs typeface="Calibri" panose="020F0502020204030204" pitchFamily="34" charset="0"/>
                <a:sym typeface="Calibri"/>
              </a:rPr>
              <a:t>distinguish between an adrenal adenoma and  adrenal hyperplasia.</a:t>
            </a:r>
          </a:p>
          <a:p>
            <a:pPr marL="1200150" lvl="1" indent="-742950">
              <a:spcBef>
                <a:spcPts val="700"/>
              </a:spcBef>
              <a:buSzPct val="80000"/>
            </a:pPr>
            <a:r>
              <a:rPr lang="en-US" sz="4400" dirty="0">
                <a:latin typeface="Calibri" panose="020F0502020204030204" pitchFamily="34" charset="0"/>
                <a:cs typeface="Calibri" panose="020F0502020204030204" pitchFamily="34" charset="0"/>
                <a:sym typeface="Calibri"/>
              </a:rPr>
              <a:t>CT of abdomen/pelvis with </a:t>
            </a:r>
            <a:r>
              <a:rPr lang="en-US" sz="4400" dirty="0" err="1">
                <a:latin typeface="Calibri" panose="020F0502020204030204" pitchFamily="34" charset="0"/>
                <a:cs typeface="Calibri" panose="020F0502020204030204" pitchFamily="34" charset="0"/>
                <a:sym typeface="Calibri"/>
              </a:rPr>
              <a:t>iodated</a:t>
            </a:r>
            <a:r>
              <a:rPr lang="en-US" sz="4400" dirty="0">
                <a:latin typeface="Calibri" panose="020F0502020204030204" pitchFamily="34" charset="0"/>
                <a:cs typeface="Calibri" panose="020F0502020204030204" pitchFamily="34" charset="0"/>
                <a:sym typeface="Calibri"/>
              </a:rPr>
              <a:t> contrast, </a:t>
            </a:r>
            <a:r>
              <a:rPr lang="en-US" sz="4400" i="1" dirty="0">
                <a:latin typeface="Calibri" panose="020F0502020204030204" pitchFamily="34" charset="0"/>
                <a:cs typeface="Calibri" panose="020F0502020204030204" pitchFamily="34" charset="0"/>
                <a:sym typeface="Calibri"/>
              </a:rPr>
              <a:t>or</a:t>
            </a:r>
          </a:p>
          <a:p>
            <a:pPr marL="1200150" lvl="1" indent="-742950">
              <a:spcBef>
                <a:spcPts val="700"/>
              </a:spcBef>
              <a:buSzPct val="80000"/>
            </a:pPr>
            <a:r>
              <a:rPr lang="en-US" sz="4400" dirty="0">
                <a:latin typeface="Calibri" panose="020F0502020204030204" pitchFamily="34" charset="0"/>
                <a:cs typeface="Calibri" panose="020F0502020204030204" pitchFamily="34" charset="0"/>
                <a:sym typeface="Calibri"/>
              </a:rPr>
              <a:t>MRI of the adrenals with gadolinium contrast</a:t>
            </a:r>
          </a:p>
          <a:p>
            <a:pPr marL="1657350" lvl="2" indent="-742950">
              <a:spcBef>
                <a:spcPts val="700"/>
              </a:spcBef>
              <a:buSzPct val="80000"/>
            </a:pPr>
            <a:r>
              <a:rPr lang="en-US" sz="3500" dirty="0">
                <a:latin typeface="Calibri" panose="020F0502020204030204" pitchFamily="34" charset="0"/>
                <a:cs typeface="Calibri" panose="020F0502020204030204" pitchFamily="34" charset="0"/>
                <a:sym typeface="Calibri"/>
              </a:rPr>
              <a:t>Bilateral adrenal vein sampling of aldosterone levels to clarify if a patient has bilateral adrenal adenomas.</a:t>
            </a:r>
            <a:endParaRPr lang="en-US" sz="3500" dirty="0">
              <a:latin typeface="Calibri" panose="020F0502020204030204" pitchFamily="34" charset="0"/>
              <a:cs typeface="Calibri" panose="020F0502020204030204" pitchFamily="34" charset="0"/>
            </a:endParaRPr>
          </a:p>
          <a:p>
            <a:pPr marL="914400" lvl="0" indent="-914400" algn="l" rtl="0">
              <a:spcBef>
                <a:spcPts val="700"/>
              </a:spcBef>
              <a:spcAft>
                <a:spcPts val="0"/>
              </a:spcAft>
              <a:buClr>
                <a:srgbClr val="000000"/>
              </a:buClr>
              <a:buSzPts val="4200"/>
              <a:buFont typeface="Helvetica Neue Light"/>
              <a:buAutoNum type="arabicPeriod"/>
            </a:pPr>
            <a:endParaRPr sz="4400" dirty="0">
              <a:latin typeface="Calibri" panose="020F0502020204030204" pitchFamily="34" charset="0"/>
              <a:cs typeface="Calibri" panose="020F0502020204030204" pitchFamily="34" charset="0"/>
            </a:endParaRPr>
          </a:p>
          <a:p>
            <a:pPr marL="487362" lvl="0" indent="-201612" algn="l" rtl="0">
              <a:spcBef>
                <a:spcPts val="700"/>
              </a:spcBef>
              <a:spcAft>
                <a:spcPts val="0"/>
              </a:spcAft>
              <a:buClr>
                <a:srgbClr val="000000"/>
              </a:buClr>
              <a:buSzPts val="4500"/>
              <a:buFont typeface="Arial"/>
              <a:buNone/>
            </a:pPr>
            <a:endParaRPr sz="4500" dirty="0">
              <a:latin typeface="Calibri"/>
              <a:ea typeface="Calibri"/>
              <a:cs typeface="Calibri"/>
              <a:sym typeface="Calibri"/>
            </a:endParaRPr>
          </a:p>
          <a:p>
            <a:pPr marL="487362" lvl="0" indent="-201612" algn="l" rtl="0">
              <a:spcBef>
                <a:spcPts val="700"/>
              </a:spcBef>
              <a:spcAft>
                <a:spcPts val="0"/>
              </a:spcAft>
              <a:buClr>
                <a:srgbClr val="000000"/>
              </a:buClr>
              <a:buSzPts val="4500"/>
              <a:buFont typeface="Arial"/>
              <a:buNone/>
            </a:pPr>
            <a:endParaRPr sz="4500" dirty="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103"/>
          <p:cNvSpPr txBox="1">
            <a:spLocks noGrp="1"/>
          </p:cNvSpPr>
          <p:nvPr>
            <p:ph type="title"/>
          </p:nvPr>
        </p:nvSpPr>
        <p:spPr>
          <a:xfrm>
            <a:off x="330200" y="152400"/>
            <a:ext cx="12268199" cy="17526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7030A0"/>
                </a:solidFill>
                <a:latin typeface="Calibri"/>
                <a:ea typeface="Calibri"/>
                <a:cs typeface="Calibri"/>
                <a:sym typeface="Calibri"/>
              </a:rPr>
              <a:t>Hard Stop, Let’s Review Hyperaldosteronism</a:t>
            </a:r>
            <a:endParaRPr dirty="0">
              <a:solidFill>
                <a:srgbClr val="7030A0"/>
              </a:solidFill>
              <a:latin typeface="Calibri"/>
              <a:ea typeface="Calibri"/>
              <a:cs typeface="Calibri"/>
              <a:sym typeface="Calibri"/>
            </a:endParaRPr>
          </a:p>
        </p:txBody>
      </p:sp>
      <p:sp>
        <p:nvSpPr>
          <p:cNvPr id="746" name="Google Shape;746;p103"/>
          <p:cNvSpPr txBox="1">
            <a:spLocks noGrp="1"/>
          </p:cNvSpPr>
          <p:nvPr>
            <p:ph type="body" idx="1"/>
          </p:nvPr>
        </p:nvSpPr>
        <p:spPr>
          <a:xfrm>
            <a:off x="215900" y="2319868"/>
            <a:ext cx="12571500" cy="7281332"/>
          </a:xfrm>
          <a:prstGeom prst="rect">
            <a:avLst/>
          </a:prstGeom>
          <a:noFill/>
          <a:ln>
            <a:noFill/>
          </a:ln>
        </p:spPr>
        <p:txBody>
          <a:bodyPr spcFirstLastPara="1" wrap="square" lIns="126425" tIns="72225" rIns="126425" bIns="72225" anchor="t" anchorCtr="0">
            <a:noAutofit/>
          </a:bodyPr>
          <a:lstStyle/>
          <a:p>
            <a:pPr marL="685800" indent="-685800">
              <a:spcBef>
                <a:spcPts val="0"/>
              </a:spcBef>
              <a:buSzPct val="80000"/>
            </a:pPr>
            <a:r>
              <a:rPr lang="en-US" sz="4400" dirty="0">
                <a:latin typeface="Calibri"/>
                <a:ea typeface="Calibri"/>
                <a:cs typeface="Calibri"/>
                <a:sym typeface="Calibri"/>
              </a:rPr>
              <a:t>Hyperaldosteronism is most often caused by bilateral adrenal hyperplasia or an autonomous adenoma in one of the adrenal glands.</a:t>
            </a:r>
          </a:p>
          <a:p>
            <a:pPr marL="685800" indent="-685800">
              <a:spcBef>
                <a:spcPts val="0"/>
              </a:spcBef>
              <a:buSzPct val="80000"/>
            </a:pPr>
            <a:endParaRPr lang="en-US" sz="4400" dirty="0">
              <a:latin typeface="Calibri"/>
              <a:ea typeface="Calibri"/>
              <a:cs typeface="Calibri"/>
              <a:sym typeface="Calibri"/>
            </a:endParaRPr>
          </a:p>
          <a:p>
            <a:pPr marL="685800" indent="-685800">
              <a:spcBef>
                <a:spcPts val="0"/>
              </a:spcBef>
              <a:buSzPct val="80000"/>
            </a:pPr>
            <a:r>
              <a:rPr lang="en-US" sz="4400" dirty="0">
                <a:latin typeface="Calibri"/>
                <a:ea typeface="Calibri"/>
                <a:cs typeface="Calibri"/>
                <a:sym typeface="Calibri"/>
              </a:rPr>
              <a:t>Young persons (2x women) with resistant HTN and hypokalemia should be suspected.</a:t>
            </a:r>
          </a:p>
          <a:p>
            <a:pPr marL="685800" indent="-685800">
              <a:spcBef>
                <a:spcPts val="0"/>
              </a:spcBef>
              <a:buSzPct val="80000"/>
            </a:pPr>
            <a:endParaRPr lang="en-US" sz="4400" dirty="0">
              <a:latin typeface="Calibri"/>
              <a:ea typeface="Calibri"/>
              <a:cs typeface="Calibri"/>
              <a:sym typeface="Calibri"/>
            </a:endParaRPr>
          </a:p>
          <a:p>
            <a:pPr marL="685800" indent="-685800">
              <a:spcBef>
                <a:spcPts val="0"/>
              </a:spcBef>
              <a:buSzPct val="80000"/>
            </a:pPr>
            <a:r>
              <a:rPr lang="en-US" sz="4400" dirty="0">
                <a:latin typeface="Calibri"/>
                <a:ea typeface="Calibri"/>
                <a:cs typeface="Calibri"/>
                <a:sym typeface="Calibri"/>
              </a:rPr>
              <a:t>It is important to find, because the </a:t>
            </a:r>
            <a:r>
              <a:rPr lang="en-US" sz="4400" dirty="0" err="1">
                <a:latin typeface="Calibri"/>
                <a:ea typeface="Calibri"/>
                <a:cs typeface="Calibri"/>
                <a:sym typeface="Calibri"/>
              </a:rPr>
              <a:t>hypertention</a:t>
            </a:r>
            <a:r>
              <a:rPr lang="en-US" sz="4400" dirty="0">
                <a:latin typeface="Calibri"/>
                <a:ea typeface="Calibri"/>
                <a:cs typeface="Calibri"/>
                <a:sym typeface="Calibri"/>
              </a:rPr>
              <a:t> is potentially curable.</a:t>
            </a:r>
            <a:endParaRPr sz="4400" dirty="0">
              <a:latin typeface="Calibri"/>
              <a:ea typeface="Calibri"/>
              <a:cs typeface="Calibri"/>
              <a:sym typeface="Calibri"/>
            </a:endParaRPr>
          </a:p>
          <a:p>
            <a:pPr marL="0" lvl="0" indent="0" algn="l" rtl="0">
              <a:spcBef>
                <a:spcPts val="0"/>
              </a:spcBef>
              <a:spcAft>
                <a:spcPts val="0"/>
              </a:spcAft>
              <a:buNone/>
            </a:pPr>
            <a:endParaRPr sz="4500" dirty="0">
              <a:latin typeface="Calibri"/>
              <a:ea typeface="Calibri"/>
              <a:cs typeface="Calibri"/>
              <a:sym typeface="Calibri"/>
            </a:endParaRPr>
          </a:p>
          <a:p>
            <a:pPr marL="0" lvl="0" indent="0" algn="l" rtl="0">
              <a:spcBef>
                <a:spcPts val="700"/>
              </a:spcBef>
              <a:spcAft>
                <a:spcPts val="0"/>
              </a:spcAft>
              <a:buNone/>
            </a:pPr>
            <a:endParaRPr dirty="0"/>
          </a:p>
          <a:p>
            <a:pPr marL="914400" lvl="0" indent="-62865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44">
          <a:extLst>
            <a:ext uri="{FF2B5EF4-FFF2-40B4-BE49-F238E27FC236}">
              <a16:creationId xmlns:a16="http://schemas.microsoft.com/office/drawing/2014/main" id="{7435ECD8-94A7-3A6B-35DE-796322DAEE8E}"/>
            </a:ext>
          </a:extLst>
        </p:cNvPr>
        <p:cNvGrpSpPr/>
        <p:nvPr/>
      </p:nvGrpSpPr>
      <p:grpSpPr>
        <a:xfrm>
          <a:off x="0" y="0"/>
          <a:ext cx="0" cy="0"/>
          <a:chOff x="0" y="0"/>
          <a:chExt cx="0" cy="0"/>
        </a:xfrm>
      </p:grpSpPr>
      <p:sp>
        <p:nvSpPr>
          <p:cNvPr id="745" name="Google Shape;745;p103">
            <a:extLst>
              <a:ext uri="{FF2B5EF4-FFF2-40B4-BE49-F238E27FC236}">
                <a16:creationId xmlns:a16="http://schemas.microsoft.com/office/drawing/2014/main" id="{D22F3CF8-E6C8-E7DA-B5B0-D49657160AC2}"/>
              </a:ext>
            </a:extLst>
          </p:cNvPr>
          <p:cNvSpPr txBox="1">
            <a:spLocks noGrp="1"/>
          </p:cNvSpPr>
          <p:nvPr>
            <p:ph type="title"/>
          </p:nvPr>
        </p:nvSpPr>
        <p:spPr>
          <a:xfrm>
            <a:off x="330200" y="152400"/>
            <a:ext cx="12268199" cy="17526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7030A0"/>
                </a:solidFill>
                <a:latin typeface="Calibri"/>
                <a:ea typeface="Calibri"/>
                <a:cs typeface="Calibri"/>
                <a:sym typeface="Calibri"/>
              </a:rPr>
              <a:t>Hard Stop, Let’s Review Hyperaldosteronism</a:t>
            </a:r>
            <a:endParaRPr dirty="0">
              <a:solidFill>
                <a:srgbClr val="7030A0"/>
              </a:solidFill>
              <a:latin typeface="Calibri"/>
              <a:ea typeface="Calibri"/>
              <a:cs typeface="Calibri"/>
              <a:sym typeface="Calibri"/>
            </a:endParaRPr>
          </a:p>
        </p:txBody>
      </p:sp>
      <p:sp>
        <p:nvSpPr>
          <p:cNvPr id="746" name="Google Shape;746;p103">
            <a:extLst>
              <a:ext uri="{FF2B5EF4-FFF2-40B4-BE49-F238E27FC236}">
                <a16:creationId xmlns:a16="http://schemas.microsoft.com/office/drawing/2014/main" id="{34CF5D86-514A-9667-A637-BC00727E7932}"/>
              </a:ext>
            </a:extLst>
          </p:cNvPr>
          <p:cNvSpPr txBox="1">
            <a:spLocks noGrp="1"/>
          </p:cNvSpPr>
          <p:nvPr>
            <p:ph type="body" idx="1"/>
          </p:nvPr>
        </p:nvSpPr>
        <p:spPr>
          <a:xfrm>
            <a:off x="215900" y="2319868"/>
            <a:ext cx="12571500" cy="7281332"/>
          </a:xfrm>
          <a:prstGeom prst="rect">
            <a:avLst/>
          </a:prstGeom>
          <a:noFill/>
          <a:ln>
            <a:noFill/>
          </a:ln>
        </p:spPr>
        <p:txBody>
          <a:bodyPr spcFirstLastPara="1" wrap="square" lIns="126425" tIns="72225" rIns="126425" bIns="72225" anchor="t" anchorCtr="0">
            <a:noAutofit/>
          </a:bodyPr>
          <a:lstStyle/>
          <a:p>
            <a:pPr marL="685800" indent="-685800">
              <a:spcBef>
                <a:spcPts val="0"/>
              </a:spcBef>
              <a:buSzPct val="80000"/>
            </a:pPr>
            <a:r>
              <a:rPr lang="en-US" sz="4400" dirty="0" err="1">
                <a:latin typeface="Calibri"/>
                <a:ea typeface="Calibri"/>
                <a:cs typeface="Calibri"/>
                <a:sym typeface="Calibri"/>
              </a:rPr>
              <a:t>Hyperaldosterone</a:t>
            </a:r>
            <a:r>
              <a:rPr lang="en-US" sz="4400" dirty="0">
                <a:latin typeface="Calibri"/>
                <a:ea typeface="Calibri"/>
                <a:cs typeface="Calibri"/>
                <a:sym typeface="Calibri"/>
              </a:rPr>
              <a:t> is also important to find because if untreated it increases the risk of stroke, atrial fibrillation and myocardial infarctions.</a:t>
            </a:r>
          </a:p>
          <a:p>
            <a:pPr marL="685800" indent="-685800">
              <a:spcBef>
                <a:spcPts val="0"/>
              </a:spcBef>
              <a:buSzPct val="80000"/>
            </a:pPr>
            <a:endParaRPr lang="en-US" sz="4400" dirty="0">
              <a:latin typeface="Calibri"/>
              <a:ea typeface="Calibri"/>
              <a:cs typeface="Calibri"/>
              <a:sym typeface="Calibri"/>
            </a:endParaRPr>
          </a:p>
          <a:p>
            <a:pPr marL="685800" indent="-685800">
              <a:spcBef>
                <a:spcPts val="0"/>
              </a:spcBef>
              <a:buSzPct val="80000"/>
            </a:pPr>
            <a:r>
              <a:rPr lang="en-US" sz="4400" dirty="0">
                <a:latin typeface="Calibri"/>
                <a:ea typeface="Calibri"/>
                <a:cs typeface="Calibri"/>
                <a:sym typeface="Calibri"/>
              </a:rPr>
              <a:t>The diagnosis is made by assessing the plasma aldosterone concentration, the plasma renin activity level and the ratio between the two.</a:t>
            </a:r>
          </a:p>
          <a:p>
            <a:pPr marL="685800" indent="-685800">
              <a:spcBef>
                <a:spcPts val="0"/>
              </a:spcBef>
              <a:buSzPct val="80000"/>
            </a:pPr>
            <a:endParaRPr lang="en-US" sz="4400" dirty="0">
              <a:latin typeface="Calibri"/>
              <a:ea typeface="Calibri"/>
              <a:cs typeface="Calibri"/>
              <a:sym typeface="Calibri"/>
            </a:endParaRPr>
          </a:p>
          <a:p>
            <a:pPr marL="685800" indent="-685800">
              <a:spcBef>
                <a:spcPts val="0"/>
              </a:spcBef>
              <a:buSzPct val="80000"/>
            </a:pPr>
            <a:r>
              <a:rPr lang="en-US" sz="4400" dirty="0">
                <a:latin typeface="Calibri"/>
                <a:ea typeface="Calibri"/>
                <a:cs typeface="Calibri"/>
                <a:sym typeface="Calibri"/>
              </a:rPr>
              <a:t>The adrenal glands are then imaged to differentiate between hyperplasia and adenoma.</a:t>
            </a:r>
            <a:endParaRPr sz="4400" dirty="0">
              <a:latin typeface="Calibri"/>
              <a:ea typeface="Calibri"/>
              <a:cs typeface="Calibri"/>
              <a:sym typeface="Calibri"/>
            </a:endParaRPr>
          </a:p>
          <a:p>
            <a:pPr marL="0" lvl="0" indent="0" algn="l" rtl="0">
              <a:spcBef>
                <a:spcPts val="0"/>
              </a:spcBef>
              <a:spcAft>
                <a:spcPts val="0"/>
              </a:spcAft>
              <a:buNone/>
            </a:pPr>
            <a:endParaRPr sz="4500" dirty="0">
              <a:latin typeface="Calibri"/>
              <a:ea typeface="Calibri"/>
              <a:cs typeface="Calibri"/>
              <a:sym typeface="Calibri"/>
            </a:endParaRPr>
          </a:p>
          <a:p>
            <a:pPr marL="0" lvl="0" indent="0" algn="l" rtl="0">
              <a:spcBef>
                <a:spcPts val="700"/>
              </a:spcBef>
              <a:spcAft>
                <a:spcPts val="0"/>
              </a:spcAft>
              <a:buNone/>
            </a:pPr>
            <a:endParaRPr dirty="0"/>
          </a:p>
          <a:p>
            <a:pPr marL="914400" lvl="0" indent="-62865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p:txBody>
      </p:sp>
    </p:spTree>
    <p:extLst>
      <p:ext uri="{BB962C8B-B14F-4D97-AF65-F5344CB8AC3E}">
        <p14:creationId xmlns:p14="http://schemas.microsoft.com/office/powerpoint/2010/main" val="1073457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44">
          <a:extLst>
            <a:ext uri="{FF2B5EF4-FFF2-40B4-BE49-F238E27FC236}">
              <a16:creationId xmlns:a16="http://schemas.microsoft.com/office/drawing/2014/main" id="{450AB572-60A8-6A04-8DB2-50687BBBACCF}"/>
            </a:ext>
          </a:extLst>
        </p:cNvPr>
        <p:cNvGrpSpPr/>
        <p:nvPr/>
      </p:nvGrpSpPr>
      <p:grpSpPr>
        <a:xfrm>
          <a:off x="0" y="0"/>
          <a:ext cx="0" cy="0"/>
          <a:chOff x="0" y="0"/>
          <a:chExt cx="0" cy="0"/>
        </a:xfrm>
      </p:grpSpPr>
      <p:sp>
        <p:nvSpPr>
          <p:cNvPr id="745" name="Google Shape;745;p103">
            <a:extLst>
              <a:ext uri="{FF2B5EF4-FFF2-40B4-BE49-F238E27FC236}">
                <a16:creationId xmlns:a16="http://schemas.microsoft.com/office/drawing/2014/main" id="{17064A36-DD14-D1B5-3602-96FCE6EEB134}"/>
              </a:ext>
            </a:extLst>
          </p:cNvPr>
          <p:cNvSpPr txBox="1">
            <a:spLocks noGrp="1"/>
          </p:cNvSpPr>
          <p:nvPr>
            <p:ph type="title"/>
          </p:nvPr>
        </p:nvSpPr>
        <p:spPr>
          <a:xfrm>
            <a:off x="330200" y="152400"/>
            <a:ext cx="12268199" cy="17526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7030A0"/>
                </a:solidFill>
                <a:latin typeface="Calibri"/>
                <a:ea typeface="Calibri"/>
                <a:cs typeface="Calibri"/>
                <a:sym typeface="Calibri"/>
              </a:rPr>
              <a:t>Treatment of An Adrenal Adenoma causing Hyperaldosteronism</a:t>
            </a:r>
            <a:endParaRPr dirty="0">
              <a:solidFill>
                <a:srgbClr val="7030A0"/>
              </a:solidFill>
              <a:latin typeface="Calibri"/>
              <a:ea typeface="Calibri"/>
              <a:cs typeface="Calibri"/>
              <a:sym typeface="Calibri"/>
            </a:endParaRPr>
          </a:p>
        </p:txBody>
      </p:sp>
      <p:sp>
        <p:nvSpPr>
          <p:cNvPr id="746" name="Google Shape;746;p103">
            <a:extLst>
              <a:ext uri="{FF2B5EF4-FFF2-40B4-BE49-F238E27FC236}">
                <a16:creationId xmlns:a16="http://schemas.microsoft.com/office/drawing/2014/main" id="{CB3CFD6D-537D-95D4-7B5D-E34933D718B3}"/>
              </a:ext>
            </a:extLst>
          </p:cNvPr>
          <p:cNvSpPr txBox="1">
            <a:spLocks noGrp="1"/>
          </p:cNvSpPr>
          <p:nvPr>
            <p:ph type="body" idx="1"/>
          </p:nvPr>
        </p:nvSpPr>
        <p:spPr>
          <a:xfrm>
            <a:off x="215900" y="2319868"/>
            <a:ext cx="12571500" cy="7281332"/>
          </a:xfrm>
          <a:prstGeom prst="rect">
            <a:avLst/>
          </a:prstGeom>
          <a:noFill/>
          <a:ln>
            <a:noFill/>
          </a:ln>
        </p:spPr>
        <p:txBody>
          <a:bodyPr spcFirstLastPara="1" wrap="square" lIns="126425" tIns="72225" rIns="126425" bIns="72225" anchor="t" anchorCtr="0">
            <a:noAutofit/>
          </a:bodyPr>
          <a:lstStyle/>
          <a:p>
            <a:pPr marL="381000" lvl="0" indent="-381000" algn="l" rtl="0">
              <a:spcBef>
                <a:spcPts val="0"/>
              </a:spcBef>
              <a:spcAft>
                <a:spcPts val="0"/>
              </a:spcAft>
              <a:buClr>
                <a:srgbClr val="000000"/>
              </a:buClr>
              <a:buSzPts val="3600"/>
              <a:buFont typeface="Calibri"/>
              <a:buChar char="•"/>
            </a:pPr>
            <a:r>
              <a:rPr lang="en-US" sz="4500" dirty="0">
                <a:latin typeface="Calibri"/>
                <a:ea typeface="Calibri"/>
                <a:cs typeface="Calibri"/>
                <a:sym typeface="Calibri"/>
              </a:rPr>
              <a:t>An </a:t>
            </a:r>
            <a:r>
              <a:rPr lang="en-US" sz="4500" b="1" i="1" dirty="0">
                <a:latin typeface="Calibri"/>
                <a:ea typeface="Calibri"/>
                <a:cs typeface="Calibri"/>
                <a:sym typeface="Calibri"/>
              </a:rPr>
              <a:t>adrenal adenoma is treated </a:t>
            </a:r>
            <a:r>
              <a:rPr lang="en-US" sz="4500" dirty="0">
                <a:latin typeface="Calibri"/>
                <a:ea typeface="Calibri"/>
                <a:cs typeface="Calibri"/>
                <a:sym typeface="Calibri"/>
              </a:rPr>
              <a:t>surgically with a </a:t>
            </a:r>
            <a:r>
              <a:rPr lang="en-US" sz="4500" b="1" i="1" dirty="0">
                <a:latin typeface="Calibri"/>
                <a:ea typeface="Calibri"/>
                <a:cs typeface="Calibri"/>
                <a:sym typeface="Calibri"/>
              </a:rPr>
              <a:t>unilateral adrenal resection</a:t>
            </a:r>
            <a:r>
              <a:rPr lang="en-US" sz="4500" dirty="0">
                <a:latin typeface="Calibri"/>
                <a:ea typeface="Calibri"/>
                <a:cs typeface="Calibri"/>
                <a:sym typeface="Calibri"/>
              </a:rPr>
              <a:t>, often performed laparoscopically. </a:t>
            </a:r>
            <a:endParaRPr sz="4500" dirty="0">
              <a:latin typeface="Calibri"/>
              <a:ea typeface="Calibri"/>
              <a:cs typeface="Calibri"/>
              <a:sym typeface="Calibri"/>
            </a:endParaRPr>
          </a:p>
          <a:p>
            <a:pPr marL="381000" lvl="0" indent="0" algn="l" rtl="0">
              <a:spcBef>
                <a:spcPts val="0"/>
              </a:spcBef>
              <a:spcAft>
                <a:spcPts val="0"/>
              </a:spcAft>
              <a:buNone/>
            </a:pPr>
            <a:endParaRPr sz="4500" dirty="0">
              <a:latin typeface="Calibri"/>
              <a:ea typeface="Calibri"/>
              <a:cs typeface="Calibri"/>
              <a:sym typeface="Calibri"/>
            </a:endParaRPr>
          </a:p>
          <a:p>
            <a:pPr marL="381000" lvl="0" indent="-381000" algn="l" rtl="0">
              <a:spcBef>
                <a:spcPts val="0"/>
              </a:spcBef>
              <a:spcAft>
                <a:spcPts val="0"/>
              </a:spcAft>
              <a:buClr>
                <a:srgbClr val="000000"/>
              </a:buClr>
              <a:buSzPts val="3600"/>
              <a:buFont typeface="Calibri"/>
              <a:buChar char="•"/>
            </a:pPr>
            <a:r>
              <a:rPr lang="en-US" sz="4500" dirty="0">
                <a:latin typeface="Calibri"/>
                <a:ea typeface="Calibri"/>
                <a:cs typeface="Calibri"/>
                <a:sym typeface="Calibri"/>
              </a:rPr>
              <a:t>This will remove the source of high aldosterone secretion and allow the other adrenal gland to respond normally to renin stimulation. </a:t>
            </a:r>
            <a:endParaRPr sz="4500" dirty="0">
              <a:latin typeface="Calibri"/>
              <a:ea typeface="Calibri"/>
              <a:cs typeface="Calibri"/>
              <a:sym typeface="Calibri"/>
            </a:endParaRPr>
          </a:p>
          <a:p>
            <a:pPr marL="381000" lvl="0" indent="0" algn="l" rtl="0">
              <a:spcBef>
                <a:spcPts val="0"/>
              </a:spcBef>
              <a:spcAft>
                <a:spcPts val="0"/>
              </a:spcAft>
              <a:buNone/>
            </a:pPr>
            <a:endParaRPr sz="4500" dirty="0">
              <a:latin typeface="Calibri"/>
              <a:ea typeface="Calibri"/>
              <a:cs typeface="Calibri"/>
              <a:sym typeface="Calibri"/>
            </a:endParaRPr>
          </a:p>
          <a:p>
            <a:pPr marL="381000" lvl="0" indent="-381000" algn="l" rtl="0">
              <a:spcBef>
                <a:spcPts val="0"/>
              </a:spcBef>
              <a:spcAft>
                <a:spcPts val="0"/>
              </a:spcAft>
              <a:buSzPts val="3600"/>
              <a:buFont typeface="Calibri"/>
              <a:buChar char="•"/>
            </a:pPr>
            <a:r>
              <a:rPr lang="en-US" sz="4400" dirty="0">
                <a:latin typeface="Calibri"/>
                <a:ea typeface="Calibri"/>
                <a:cs typeface="Calibri"/>
                <a:sym typeface="Calibri"/>
              </a:rPr>
              <a:t>60-70% of patients become normotensive within a year of the surgery.</a:t>
            </a:r>
            <a:endParaRPr sz="4400" dirty="0">
              <a:latin typeface="Calibri"/>
              <a:ea typeface="Calibri"/>
              <a:cs typeface="Calibri"/>
              <a:sym typeface="Calibri"/>
            </a:endParaRPr>
          </a:p>
          <a:p>
            <a:pPr marL="0" lvl="0" indent="0" algn="l" rtl="0">
              <a:spcBef>
                <a:spcPts val="0"/>
              </a:spcBef>
              <a:spcAft>
                <a:spcPts val="0"/>
              </a:spcAft>
              <a:buNone/>
            </a:pPr>
            <a:endParaRPr sz="4500" dirty="0">
              <a:latin typeface="Calibri"/>
              <a:ea typeface="Calibri"/>
              <a:cs typeface="Calibri"/>
              <a:sym typeface="Calibri"/>
            </a:endParaRPr>
          </a:p>
          <a:p>
            <a:pPr marL="0" lvl="0" indent="0" algn="l" rtl="0">
              <a:spcBef>
                <a:spcPts val="0"/>
              </a:spcBef>
              <a:spcAft>
                <a:spcPts val="0"/>
              </a:spcAft>
              <a:buNone/>
            </a:pPr>
            <a:endParaRPr sz="4500" dirty="0">
              <a:latin typeface="Calibri"/>
              <a:ea typeface="Calibri"/>
              <a:cs typeface="Calibri"/>
              <a:sym typeface="Calibri"/>
            </a:endParaRPr>
          </a:p>
          <a:p>
            <a:pPr marL="0" lvl="0" indent="0" algn="l" rtl="0">
              <a:spcBef>
                <a:spcPts val="700"/>
              </a:spcBef>
              <a:spcAft>
                <a:spcPts val="0"/>
              </a:spcAft>
              <a:buNone/>
            </a:pPr>
            <a:endParaRPr dirty="0"/>
          </a:p>
          <a:p>
            <a:pPr marL="914400" lvl="0" indent="-62865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p:txBody>
      </p:sp>
    </p:spTree>
    <p:extLst>
      <p:ext uri="{BB962C8B-B14F-4D97-AF65-F5344CB8AC3E}">
        <p14:creationId xmlns:p14="http://schemas.microsoft.com/office/powerpoint/2010/main" val="3312586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101b8515189_0_0"/>
          <p:cNvSpPr txBox="1">
            <a:spLocks noGrp="1"/>
          </p:cNvSpPr>
          <p:nvPr>
            <p:ph type="title"/>
          </p:nvPr>
        </p:nvSpPr>
        <p:spPr>
          <a:xfrm>
            <a:off x="330200" y="152400"/>
            <a:ext cx="12571500" cy="2048933"/>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5900" dirty="0">
                <a:solidFill>
                  <a:srgbClr val="7030A0"/>
                </a:solidFill>
                <a:latin typeface="Calibri"/>
                <a:ea typeface="Calibri"/>
                <a:cs typeface="Calibri"/>
                <a:sym typeface="Calibri"/>
              </a:rPr>
              <a:t>Treatment of Hyperaldosteronism caused by Bilateral Adrenal Hyperplasia</a:t>
            </a:r>
            <a:endParaRPr sz="7700" dirty="0">
              <a:solidFill>
                <a:srgbClr val="7030A0"/>
              </a:solidFill>
              <a:latin typeface="Calibri"/>
              <a:ea typeface="Calibri"/>
              <a:cs typeface="Calibri"/>
              <a:sym typeface="Calibri"/>
            </a:endParaRPr>
          </a:p>
        </p:txBody>
      </p:sp>
      <p:sp>
        <p:nvSpPr>
          <p:cNvPr id="752" name="Google Shape;752;g101b8515189_0_0"/>
          <p:cNvSpPr txBox="1">
            <a:spLocks noGrp="1"/>
          </p:cNvSpPr>
          <p:nvPr>
            <p:ph type="body" idx="1"/>
          </p:nvPr>
        </p:nvSpPr>
        <p:spPr>
          <a:xfrm>
            <a:off x="215900" y="2590800"/>
            <a:ext cx="12571500" cy="7010400"/>
          </a:xfrm>
          <a:prstGeom prst="rect">
            <a:avLst/>
          </a:prstGeom>
          <a:noFill/>
          <a:ln>
            <a:noFill/>
          </a:ln>
        </p:spPr>
        <p:txBody>
          <a:bodyPr spcFirstLastPara="1" wrap="square" lIns="126425" tIns="72225" rIns="126425" bIns="72225" anchor="t" anchorCtr="0">
            <a:noAutofit/>
          </a:bodyPr>
          <a:lstStyle/>
          <a:p>
            <a:pPr marL="381000" lvl="0" indent="-431800" algn="l" rtl="0">
              <a:spcBef>
                <a:spcPts val="600"/>
              </a:spcBef>
              <a:spcAft>
                <a:spcPts val="600"/>
              </a:spcAft>
              <a:buClr>
                <a:srgbClr val="000000"/>
              </a:buClr>
              <a:buSzPct val="80000"/>
              <a:buFont typeface="Calibri"/>
              <a:buChar char="•"/>
            </a:pPr>
            <a:r>
              <a:rPr lang="en-US" sz="4400" dirty="0">
                <a:latin typeface="Calibri" panose="020F0502020204030204" pitchFamily="34" charset="0"/>
                <a:ea typeface="Calibri"/>
                <a:cs typeface="Calibri" panose="020F0502020204030204" pitchFamily="34" charset="0"/>
                <a:sym typeface="Calibri"/>
              </a:rPr>
              <a:t>Unilateral adrenalectomy has very minimal effects on the aldosterone level and BP in a patient with bilateral adrenal hyperplasia.</a:t>
            </a:r>
            <a:endParaRPr sz="4400" dirty="0">
              <a:latin typeface="Calibri" panose="020F0502020204030204" pitchFamily="34" charset="0"/>
              <a:ea typeface="Calibri"/>
              <a:cs typeface="Calibri" panose="020F0502020204030204" pitchFamily="34" charset="0"/>
              <a:sym typeface="Calibri"/>
            </a:endParaRPr>
          </a:p>
          <a:p>
            <a:pPr marL="0" lvl="0" indent="0" algn="l" rtl="0">
              <a:spcBef>
                <a:spcPts val="600"/>
              </a:spcBef>
              <a:spcAft>
                <a:spcPts val="600"/>
              </a:spcAft>
              <a:buSzPct val="80000"/>
              <a:buNone/>
            </a:pPr>
            <a:endParaRPr sz="4400" dirty="0">
              <a:latin typeface="Calibri" panose="020F0502020204030204" pitchFamily="34" charset="0"/>
              <a:ea typeface="Calibri"/>
              <a:cs typeface="Calibri" panose="020F0502020204030204" pitchFamily="34" charset="0"/>
              <a:sym typeface="Calibri"/>
            </a:endParaRPr>
          </a:p>
          <a:p>
            <a:pPr marL="381000" lvl="0" indent="-431800" algn="l" rtl="0">
              <a:spcBef>
                <a:spcPts val="600"/>
              </a:spcBef>
              <a:spcAft>
                <a:spcPts val="600"/>
              </a:spcAft>
              <a:buClr>
                <a:srgbClr val="000000"/>
              </a:buClr>
              <a:buSzPct val="80000"/>
              <a:buFont typeface="Calibri"/>
              <a:buChar char="•"/>
            </a:pPr>
            <a:r>
              <a:rPr lang="en-US" sz="4400" dirty="0">
                <a:latin typeface="Calibri" panose="020F0502020204030204" pitchFamily="34" charset="0"/>
                <a:ea typeface="Calibri"/>
                <a:cs typeface="Calibri" panose="020F0502020204030204" pitchFamily="34" charset="0"/>
                <a:sym typeface="Calibri"/>
              </a:rPr>
              <a:t>Therefore, </a:t>
            </a:r>
            <a:r>
              <a:rPr lang="en-US" sz="4400" b="1" i="1" dirty="0">
                <a:latin typeface="Calibri" panose="020F0502020204030204" pitchFamily="34" charset="0"/>
                <a:ea typeface="Calibri"/>
                <a:cs typeface="Calibri" panose="020F0502020204030204" pitchFamily="34" charset="0"/>
                <a:sym typeface="Calibri"/>
              </a:rPr>
              <a:t>adrenal hyperplasia is treated medically </a:t>
            </a:r>
            <a:r>
              <a:rPr lang="en-US" sz="4400" dirty="0">
                <a:latin typeface="Calibri" panose="020F0502020204030204" pitchFamily="34" charset="0"/>
                <a:ea typeface="Calibri"/>
                <a:cs typeface="Calibri" panose="020F0502020204030204" pitchFamily="34" charset="0"/>
                <a:sym typeface="Calibri"/>
              </a:rPr>
              <a:t>with an aldosterone antagonist to control the effects of aldosterone on the body: </a:t>
            </a:r>
          </a:p>
          <a:p>
            <a:pPr marL="1295400" lvl="2" indent="-431800">
              <a:spcBef>
                <a:spcPts val="600"/>
              </a:spcBef>
              <a:spcAft>
                <a:spcPts val="600"/>
              </a:spcAft>
              <a:buSzPct val="80000"/>
              <a:buFont typeface="Calibri"/>
              <a:buChar char="•"/>
            </a:pPr>
            <a:r>
              <a:rPr lang="en-US" sz="4400" b="1" dirty="0">
                <a:latin typeface="Calibri" panose="020F0502020204030204" pitchFamily="34" charset="0"/>
                <a:ea typeface="Calibri"/>
                <a:cs typeface="Calibri" panose="020F0502020204030204" pitchFamily="34" charset="0"/>
                <a:sym typeface="Calibri"/>
              </a:rPr>
              <a:t>Aldactone (Spironolactone) </a:t>
            </a:r>
          </a:p>
          <a:p>
            <a:pPr marL="1295400" lvl="2" indent="-431800">
              <a:spcBef>
                <a:spcPts val="600"/>
              </a:spcBef>
              <a:spcAft>
                <a:spcPts val="600"/>
              </a:spcAft>
              <a:buSzPct val="80000"/>
              <a:buFont typeface="Calibri"/>
              <a:buChar char="•"/>
            </a:pPr>
            <a:r>
              <a:rPr lang="en-US" sz="4400" b="1" dirty="0">
                <a:latin typeface="Calibri" panose="020F0502020204030204" pitchFamily="34" charset="0"/>
                <a:ea typeface="Calibri"/>
                <a:cs typeface="Calibri" panose="020F0502020204030204" pitchFamily="34" charset="0"/>
                <a:sym typeface="Calibri"/>
              </a:rPr>
              <a:t>E</a:t>
            </a:r>
            <a:r>
              <a:rPr lang="en-US" sz="4400" b="1" dirty="0">
                <a:latin typeface="Calibri" panose="020F0502020204030204" pitchFamily="34" charset="0"/>
                <a:cs typeface="Calibri" panose="020F0502020204030204" pitchFamily="34" charset="0"/>
              </a:rPr>
              <a:t>plerenone (</a:t>
            </a:r>
            <a:r>
              <a:rPr lang="en-US" sz="4400" b="1" dirty="0" err="1">
                <a:latin typeface="Calibri" panose="020F0502020204030204" pitchFamily="34" charset="0"/>
                <a:ea typeface="Calibri"/>
                <a:cs typeface="Calibri" panose="020F0502020204030204" pitchFamily="34" charset="0"/>
                <a:sym typeface="Calibri"/>
              </a:rPr>
              <a:t>Inspra</a:t>
            </a:r>
            <a:r>
              <a:rPr lang="en-US" sz="4400" b="1" dirty="0">
                <a:latin typeface="Calibri" panose="020F0502020204030204" pitchFamily="34" charset="0"/>
                <a:ea typeface="Calibri"/>
                <a:cs typeface="Calibri" panose="020F0502020204030204" pitchFamily="34" charset="0"/>
                <a:sym typeface="Calibri"/>
              </a:rPr>
              <a:t>)</a:t>
            </a:r>
            <a:endParaRPr sz="4400" b="1" dirty="0">
              <a:latin typeface="Calibri" panose="020F0502020204030204" pitchFamily="34" charset="0"/>
              <a:cs typeface="Calibri" panose="020F0502020204030204" pitchFamily="34" charset="0"/>
            </a:endParaRPr>
          </a:p>
          <a:p>
            <a:pPr marL="1143000" lvl="0" indent="0" algn="l" rtl="0">
              <a:spcBef>
                <a:spcPts val="700"/>
              </a:spcBef>
              <a:spcAft>
                <a:spcPts val="0"/>
              </a:spcAft>
              <a:buNone/>
            </a:pPr>
            <a:endParaRPr dirty="0"/>
          </a:p>
          <a:p>
            <a:pPr marL="914400" lvl="0" indent="-62865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104"/>
          <p:cNvSpPr txBox="1">
            <a:spLocks noGrp="1"/>
          </p:cNvSpPr>
          <p:nvPr>
            <p:ph type="title"/>
          </p:nvPr>
        </p:nvSpPr>
        <p:spPr>
          <a:xfrm>
            <a:off x="1270000" y="254000"/>
            <a:ext cx="10464800" cy="1303867"/>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dirty="0">
                <a:latin typeface="Calibri"/>
                <a:ea typeface="Calibri"/>
                <a:cs typeface="Calibri"/>
                <a:sym typeface="Calibri"/>
              </a:rPr>
              <a:t>Question Time</a:t>
            </a:r>
            <a:endParaRPr dirty="0"/>
          </a:p>
        </p:txBody>
      </p:sp>
      <p:sp>
        <p:nvSpPr>
          <p:cNvPr id="758" name="Google Shape;758;p104"/>
          <p:cNvSpPr txBox="1">
            <a:spLocks noGrp="1"/>
          </p:cNvSpPr>
          <p:nvPr>
            <p:ph type="body" idx="1"/>
          </p:nvPr>
        </p:nvSpPr>
        <p:spPr>
          <a:xfrm>
            <a:off x="220133" y="1752600"/>
            <a:ext cx="12607017" cy="7747000"/>
          </a:xfrm>
          <a:prstGeom prst="rect">
            <a:avLst/>
          </a:prstGeom>
          <a:noFill/>
          <a:ln>
            <a:noFill/>
          </a:ln>
        </p:spPr>
        <p:txBody>
          <a:bodyPr spcFirstLastPara="1" wrap="square" lIns="50800" tIns="50800" rIns="50800" bIns="50800" anchor="ctr" anchorCtr="0">
            <a:noAutofit/>
          </a:bodyPr>
          <a:lstStyle/>
          <a:p>
            <a:pPr marL="584200" lvl="0" indent="-584200" algn="l" rtl="0">
              <a:spcBef>
                <a:spcPts val="0"/>
              </a:spcBef>
              <a:spcAft>
                <a:spcPts val="0"/>
              </a:spcAft>
              <a:buClr>
                <a:srgbClr val="000000"/>
              </a:buClr>
              <a:buSzPts val="4400"/>
              <a:buFont typeface="Calibri"/>
              <a:buChar char="•"/>
            </a:pPr>
            <a:r>
              <a:rPr lang="en-US" sz="4400" dirty="0">
                <a:latin typeface="Calibri"/>
                <a:ea typeface="Calibri"/>
                <a:cs typeface="Calibri"/>
                <a:sym typeface="Calibri"/>
              </a:rPr>
              <a:t>In which of the following situations should hyperaldosteronism be suspected?</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When a patient younger than 25 has hypertension and persistent hyponatremia</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When a 50-year-old patient with ESRD has resistant hypertension and persistent hyperkalemia</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When a teen has hypertension and persistent metabolic alkalosis</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106"/>
          <p:cNvSpPr txBox="1">
            <a:spLocks noGrp="1"/>
          </p:cNvSpPr>
          <p:nvPr>
            <p:ph type="title"/>
          </p:nvPr>
        </p:nvSpPr>
        <p:spPr>
          <a:xfrm>
            <a:off x="1270000" y="118533"/>
            <a:ext cx="10464800" cy="1354667"/>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dirty="0">
                <a:latin typeface="Calibri"/>
                <a:ea typeface="Calibri"/>
                <a:cs typeface="Calibri"/>
                <a:sym typeface="Calibri"/>
              </a:rPr>
              <a:t>Question Time</a:t>
            </a:r>
            <a:endParaRPr dirty="0"/>
          </a:p>
        </p:txBody>
      </p:sp>
      <p:sp>
        <p:nvSpPr>
          <p:cNvPr id="770" name="Google Shape;770;p106"/>
          <p:cNvSpPr txBox="1">
            <a:spLocks noGrp="1"/>
          </p:cNvSpPr>
          <p:nvPr>
            <p:ph type="body" idx="1"/>
          </p:nvPr>
        </p:nvSpPr>
        <p:spPr>
          <a:xfrm>
            <a:off x="177800" y="1591734"/>
            <a:ext cx="12649200" cy="7840134"/>
          </a:xfrm>
          <a:prstGeom prst="rect">
            <a:avLst/>
          </a:prstGeom>
          <a:noFill/>
          <a:ln>
            <a:noFill/>
          </a:ln>
        </p:spPr>
        <p:txBody>
          <a:bodyPr spcFirstLastPara="1" wrap="square" lIns="50800" tIns="50800" rIns="50800" bIns="50800" anchor="ctr" anchorCtr="0">
            <a:noAutofit/>
          </a:bodyPr>
          <a:lstStyle/>
          <a:p>
            <a:pPr marL="584200" lvl="0" indent="-584200" algn="l" rtl="0">
              <a:spcBef>
                <a:spcPts val="0"/>
              </a:spcBef>
              <a:spcAft>
                <a:spcPts val="0"/>
              </a:spcAft>
              <a:buClr>
                <a:srgbClr val="000000"/>
              </a:buClr>
              <a:buSzPts val="4400"/>
              <a:buFont typeface="Calibri"/>
              <a:buChar char="•"/>
            </a:pPr>
            <a:r>
              <a:rPr lang="en-US" sz="4400" dirty="0">
                <a:latin typeface="Calibri" panose="020F0502020204030204" pitchFamily="34" charset="0"/>
                <a:ea typeface="Calibri"/>
                <a:cs typeface="Calibri" panose="020F0502020204030204" pitchFamily="34" charset="0"/>
                <a:sym typeface="Calibri"/>
              </a:rPr>
              <a:t>Which of the following is the most common cause of hypoaldosteronism?</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Insensitivity of the adrenal gland to angiotensin II</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Tumor or infiltrative disease of the adrenal gland</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Inability to produce renin by the diseased kidney</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Insensitivity of the renal tubule to aldosterone</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Circulating antibodies to aldosterone</a:t>
            </a:r>
            <a:endParaRPr dirty="0">
              <a:latin typeface="Calibri" panose="020F0502020204030204" pitchFamily="34" charset="0"/>
              <a:cs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108"/>
          <p:cNvSpPr txBox="1">
            <a:spLocks noGrp="1"/>
          </p:cNvSpPr>
          <p:nvPr>
            <p:ph type="title"/>
          </p:nvPr>
        </p:nvSpPr>
        <p:spPr>
          <a:xfrm>
            <a:off x="1270000" y="254000"/>
            <a:ext cx="10464800" cy="1303867"/>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dirty="0">
                <a:latin typeface="Calibri"/>
                <a:ea typeface="Calibri"/>
                <a:cs typeface="Calibri"/>
                <a:sym typeface="Calibri"/>
              </a:rPr>
              <a:t>Question Time</a:t>
            </a:r>
            <a:endParaRPr dirty="0"/>
          </a:p>
        </p:txBody>
      </p:sp>
      <p:sp>
        <p:nvSpPr>
          <p:cNvPr id="782" name="Google Shape;782;p108"/>
          <p:cNvSpPr txBox="1">
            <a:spLocks noGrp="1"/>
          </p:cNvSpPr>
          <p:nvPr>
            <p:ph type="body" idx="1"/>
          </p:nvPr>
        </p:nvSpPr>
        <p:spPr>
          <a:xfrm>
            <a:off x="254000" y="1752600"/>
            <a:ext cx="12378267" cy="7577667"/>
          </a:xfrm>
          <a:prstGeom prst="rect">
            <a:avLst/>
          </a:prstGeom>
          <a:noFill/>
          <a:ln>
            <a:noFill/>
          </a:ln>
        </p:spPr>
        <p:txBody>
          <a:bodyPr spcFirstLastPara="1" wrap="square" lIns="50800" tIns="50800" rIns="50800" bIns="50800" anchor="ctr" anchorCtr="0">
            <a:noAutofit/>
          </a:bodyPr>
          <a:lstStyle/>
          <a:p>
            <a:pPr marL="584200" lvl="0" indent="-584200" algn="l" rtl="0">
              <a:spcBef>
                <a:spcPts val="0"/>
              </a:spcBef>
              <a:spcAft>
                <a:spcPts val="0"/>
              </a:spcAft>
              <a:buClr>
                <a:srgbClr val="000000"/>
              </a:buClr>
              <a:buSzPts val="4400"/>
              <a:buFont typeface="Calibri"/>
              <a:buChar char="•"/>
            </a:pPr>
            <a:r>
              <a:rPr lang="en-US" sz="4400" dirty="0">
                <a:latin typeface="Calibri" panose="020F0502020204030204" pitchFamily="34" charset="0"/>
                <a:ea typeface="Calibri"/>
                <a:cs typeface="Calibri" panose="020F0502020204030204" pitchFamily="34" charset="0"/>
                <a:sym typeface="Calibri"/>
              </a:rPr>
              <a:t>Which of the following is one of the first screening tests that should be obtained for hyperaldosteronism?</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Ultrasound of the kidneys and adrenals</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MRI of the adrenal gland</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Aldosterone to renin ratio</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Random serum cortisol level</a:t>
            </a:r>
            <a:endParaRPr dirty="0">
              <a:latin typeface="Calibri" panose="020F0502020204030204" pitchFamily="34" charset="0"/>
              <a:cs typeface="Calibri" panose="020F050202020403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g101b8515189_1_0"/>
          <p:cNvSpPr txBox="1">
            <a:spLocks noGrp="1"/>
          </p:cNvSpPr>
          <p:nvPr>
            <p:ph type="title"/>
          </p:nvPr>
        </p:nvSpPr>
        <p:spPr>
          <a:xfrm>
            <a:off x="215899" y="152400"/>
            <a:ext cx="12571499" cy="15240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50"/>
                </a:solidFill>
                <a:latin typeface="Arial"/>
                <a:ea typeface="Arial"/>
                <a:cs typeface="Arial"/>
                <a:sym typeface="Arial"/>
              </a:rPr>
              <a:t>Normal Physiology of Androgens</a:t>
            </a:r>
            <a:endParaRPr dirty="0">
              <a:solidFill>
                <a:srgbClr val="00B050"/>
              </a:solidFill>
            </a:endParaRPr>
          </a:p>
        </p:txBody>
      </p:sp>
      <p:sp>
        <p:nvSpPr>
          <p:cNvPr id="794" name="Google Shape;794;g101b8515189_1_0"/>
          <p:cNvSpPr txBox="1">
            <a:spLocks noGrp="1"/>
          </p:cNvSpPr>
          <p:nvPr>
            <p:ph type="body" idx="1"/>
          </p:nvPr>
        </p:nvSpPr>
        <p:spPr>
          <a:xfrm>
            <a:off x="215900" y="1676400"/>
            <a:ext cx="12571500" cy="7924800"/>
          </a:xfrm>
          <a:prstGeom prst="rect">
            <a:avLst/>
          </a:prstGeom>
          <a:noFill/>
          <a:ln>
            <a:noFill/>
          </a:ln>
        </p:spPr>
        <p:txBody>
          <a:bodyPr spcFirstLastPara="1" wrap="square" lIns="126425" tIns="72225" rIns="126425" bIns="72225" anchor="t" anchorCtr="0">
            <a:noAutofit/>
          </a:bodyPr>
          <a:lstStyle/>
          <a:p>
            <a:pPr marL="487362" lvl="0" indent="-481012" algn="l" rtl="0">
              <a:spcBef>
                <a:spcPts val="700"/>
              </a:spcBef>
              <a:spcAft>
                <a:spcPts val="0"/>
              </a:spcAft>
              <a:buClr>
                <a:srgbClr val="000000"/>
              </a:buClr>
              <a:buSzPct val="80000"/>
              <a:buFont typeface="Calibri"/>
              <a:buChar char="•"/>
            </a:pPr>
            <a:r>
              <a:rPr lang="en-US" sz="4400" dirty="0">
                <a:latin typeface="Calibri"/>
                <a:ea typeface="Calibri"/>
                <a:cs typeface="Calibri"/>
                <a:sym typeface="Calibri"/>
              </a:rPr>
              <a:t>The </a:t>
            </a:r>
            <a:r>
              <a:rPr lang="en-US" sz="4400" b="1" i="1" dirty="0">
                <a:latin typeface="Calibri"/>
                <a:ea typeface="Calibri"/>
                <a:cs typeface="Calibri"/>
                <a:sym typeface="Calibri"/>
              </a:rPr>
              <a:t>ovaries and the adrenal glands are the two major sources of androgens in women</a:t>
            </a:r>
            <a:r>
              <a:rPr lang="en-US" sz="4400" dirty="0">
                <a:latin typeface="Calibri"/>
                <a:ea typeface="Calibri"/>
                <a:cs typeface="Calibri"/>
                <a:sym typeface="Calibri"/>
              </a:rPr>
              <a:t>, with the adrenal glands being the predominant source.  </a:t>
            </a:r>
          </a:p>
          <a:p>
            <a:pPr marL="487362" lvl="0" indent="-481012" algn="l" rtl="0">
              <a:spcBef>
                <a:spcPts val="700"/>
              </a:spcBef>
              <a:spcAft>
                <a:spcPts val="0"/>
              </a:spcAft>
              <a:buClr>
                <a:srgbClr val="000000"/>
              </a:buClr>
              <a:buSzPct val="80000"/>
              <a:buFont typeface="Calibri"/>
              <a:buChar char="•"/>
            </a:pPr>
            <a:endParaRPr lang="en-US" sz="4400" b="1" i="1" dirty="0">
              <a:latin typeface="Calibri"/>
              <a:ea typeface="Calibri"/>
              <a:cs typeface="Calibri"/>
              <a:sym typeface="Calibri"/>
            </a:endParaRPr>
          </a:p>
          <a:p>
            <a:pPr marL="487362" lvl="0" indent="-481012" algn="l" rtl="0">
              <a:spcBef>
                <a:spcPts val="700"/>
              </a:spcBef>
              <a:spcAft>
                <a:spcPts val="0"/>
              </a:spcAft>
              <a:buClr>
                <a:srgbClr val="000000"/>
              </a:buClr>
              <a:buSzPct val="80000"/>
              <a:buFont typeface="Calibri"/>
              <a:buChar char="•"/>
            </a:pPr>
            <a:r>
              <a:rPr lang="en-US" sz="4400" b="1" i="1" dirty="0">
                <a:latin typeface="Calibri"/>
                <a:ea typeface="Calibri"/>
                <a:cs typeface="Calibri"/>
                <a:sym typeface="Calibri"/>
              </a:rPr>
              <a:t>Fat tissue and skin also convert weak androgens into more potent ones.  </a:t>
            </a:r>
            <a:r>
              <a:rPr lang="en-US" sz="4400" dirty="0">
                <a:latin typeface="Calibri"/>
                <a:ea typeface="Calibri"/>
                <a:cs typeface="Calibri"/>
                <a:sym typeface="Calibri"/>
              </a:rPr>
              <a:t>Increasing adiposity (fat mass) means greater androgen conversion.</a:t>
            </a:r>
          </a:p>
          <a:p>
            <a:pPr marL="487362" lvl="0" indent="-481012" algn="l" rtl="0">
              <a:spcBef>
                <a:spcPts val="700"/>
              </a:spcBef>
              <a:spcAft>
                <a:spcPts val="0"/>
              </a:spcAft>
              <a:buClr>
                <a:srgbClr val="000000"/>
              </a:buClr>
              <a:buSzPct val="80000"/>
              <a:buFont typeface="Calibri"/>
              <a:buChar char="•"/>
            </a:pPr>
            <a:endParaRPr lang="en-US" sz="4400" dirty="0">
              <a:latin typeface="Calibri"/>
              <a:ea typeface="Calibri"/>
              <a:cs typeface="Calibri"/>
              <a:sym typeface="Calibri"/>
            </a:endParaRPr>
          </a:p>
          <a:p>
            <a:pPr marL="487362" indent="-481012">
              <a:spcBef>
                <a:spcPts val="700"/>
              </a:spcBef>
              <a:buSzPct val="80000"/>
              <a:buFont typeface="Calibri"/>
              <a:buChar char="•"/>
            </a:pPr>
            <a:r>
              <a:rPr lang="en-US" sz="4400" b="1" i="1" dirty="0">
                <a:latin typeface="Calibri"/>
                <a:ea typeface="Calibri"/>
                <a:cs typeface="Calibri"/>
                <a:sym typeface="Calibri"/>
              </a:rPr>
              <a:t>In men, the testes and the adrenal glands </a:t>
            </a:r>
            <a:r>
              <a:rPr lang="en-US" sz="4400" dirty="0">
                <a:latin typeface="Calibri"/>
                <a:ea typeface="Calibri"/>
                <a:cs typeface="Calibri"/>
                <a:sym typeface="Calibri"/>
              </a:rPr>
              <a:t>are the two major sources, with the testes being the predominant source.</a:t>
            </a:r>
            <a:endParaRPr sz="4400" dirty="0">
              <a:latin typeface="Calibri"/>
              <a:ea typeface="Calibri"/>
              <a:cs typeface="Calibri"/>
              <a:sym typeface="Calibri"/>
            </a:endParaRPr>
          </a:p>
          <a:p>
            <a:pPr marL="0" lvl="0" indent="0" algn="l" rtl="0">
              <a:spcBef>
                <a:spcPts val="700"/>
              </a:spcBef>
              <a:spcAft>
                <a:spcPts val="0"/>
              </a:spcAft>
              <a:buNone/>
            </a:pPr>
            <a:endParaRPr sz="2000" dirty="0">
              <a:latin typeface="Calibri"/>
              <a:ea typeface="Calibri"/>
              <a:cs typeface="Calibri"/>
              <a:sym typeface="Calibri"/>
            </a:endParaRPr>
          </a:p>
          <a:p>
            <a:pPr marL="0" lvl="0" indent="0" algn="l" rtl="0">
              <a:spcBef>
                <a:spcPts val="700"/>
              </a:spcBef>
              <a:spcAft>
                <a:spcPts val="0"/>
              </a:spcAft>
              <a:buClr>
                <a:srgbClr val="000000"/>
              </a:buClr>
              <a:buSzPts val="4500"/>
              <a:buFont typeface="Arial"/>
              <a:buNone/>
            </a:pP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g101b8515189_1_0"/>
          <p:cNvSpPr txBox="1">
            <a:spLocks noGrp="1"/>
          </p:cNvSpPr>
          <p:nvPr>
            <p:ph type="title"/>
          </p:nvPr>
        </p:nvSpPr>
        <p:spPr>
          <a:xfrm>
            <a:off x="649288" y="152400"/>
            <a:ext cx="11704500" cy="1439332"/>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50"/>
                </a:solidFill>
                <a:latin typeface="Arial"/>
                <a:ea typeface="Arial"/>
                <a:cs typeface="Arial"/>
                <a:sym typeface="Arial"/>
              </a:rPr>
              <a:t>Androgen Excess Etiologies</a:t>
            </a:r>
            <a:endParaRPr dirty="0">
              <a:solidFill>
                <a:srgbClr val="00B050"/>
              </a:solidFill>
            </a:endParaRPr>
          </a:p>
        </p:txBody>
      </p:sp>
      <p:sp>
        <p:nvSpPr>
          <p:cNvPr id="794" name="Google Shape;794;g101b8515189_1_0"/>
          <p:cNvSpPr txBox="1">
            <a:spLocks noGrp="1"/>
          </p:cNvSpPr>
          <p:nvPr>
            <p:ph type="body" idx="1"/>
          </p:nvPr>
        </p:nvSpPr>
        <p:spPr>
          <a:xfrm>
            <a:off x="215900" y="1591732"/>
            <a:ext cx="12571500" cy="7836367"/>
          </a:xfrm>
          <a:prstGeom prst="rect">
            <a:avLst/>
          </a:prstGeom>
          <a:noFill/>
          <a:ln>
            <a:noFill/>
          </a:ln>
        </p:spPr>
        <p:txBody>
          <a:bodyPr spcFirstLastPara="1" wrap="square" lIns="126425" tIns="72225" rIns="126425" bIns="72225" anchor="t" anchorCtr="0">
            <a:noAutofit/>
          </a:bodyPr>
          <a:lstStyle/>
          <a:p>
            <a:pPr marL="577850" indent="-571500">
              <a:spcBef>
                <a:spcPts val="700"/>
              </a:spcBef>
              <a:buSzPct val="80000"/>
            </a:pPr>
            <a:r>
              <a:rPr lang="en-US" sz="4400" b="1" i="1" dirty="0">
                <a:latin typeface="Calibri"/>
                <a:ea typeface="Calibri"/>
                <a:cs typeface="Calibri"/>
                <a:sym typeface="Calibri"/>
              </a:rPr>
              <a:t>Androgen excess is the most common endocrine disorder that occurs in women of reproductive age.</a:t>
            </a:r>
          </a:p>
          <a:p>
            <a:pPr marL="487362" lvl="0" indent="-481012" algn="l" rtl="0">
              <a:spcBef>
                <a:spcPts val="700"/>
              </a:spcBef>
              <a:spcAft>
                <a:spcPts val="0"/>
              </a:spcAft>
              <a:buSzPct val="80000"/>
              <a:buFont typeface="Calibri"/>
              <a:buChar char="•"/>
            </a:pPr>
            <a:endParaRPr lang="en-US" sz="4400" b="1" i="1" dirty="0">
              <a:latin typeface="Calibri"/>
              <a:ea typeface="Calibri"/>
              <a:cs typeface="Calibri"/>
              <a:sym typeface="Calibri"/>
            </a:endParaRPr>
          </a:p>
          <a:p>
            <a:pPr marL="487362" indent="-481012">
              <a:spcBef>
                <a:spcPts val="700"/>
              </a:spcBef>
              <a:buSzPct val="80000"/>
              <a:buFont typeface="Calibri"/>
              <a:buChar char="•"/>
            </a:pPr>
            <a:r>
              <a:rPr lang="en-US" sz="4400" b="1" i="1" dirty="0">
                <a:latin typeface="Calibri"/>
                <a:ea typeface="Calibri"/>
                <a:cs typeface="Calibri"/>
                <a:sym typeface="Calibri"/>
              </a:rPr>
              <a:t>The most common etiology of androgen excess</a:t>
            </a:r>
            <a:r>
              <a:rPr lang="en-US" sz="4400" dirty="0">
                <a:latin typeface="Calibri"/>
                <a:ea typeface="Calibri"/>
                <a:cs typeface="Calibri"/>
                <a:sym typeface="Calibri"/>
              </a:rPr>
              <a:t> is </a:t>
            </a:r>
            <a:r>
              <a:rPr lang="en-US" sz="4400" b="1" i="1" dirty="0">
                <a:latin typeface="Calibri"/>
                <a:ea typeface="Calibri"/>
                <a:cs typeface="Calibri"/>
                <a:sym typeface="Calibri"/>
              </a:rPr>
              <a:t>polycystic ovarian syndrome</a:t>
            </a:r>
            <a:r>
              <a:rPr lang="en-US" sz="4400" dirty="0">
                <a:latin typeface="Calibri"/>
                <a:ea typeface="Calibri"/>
                <a:cs typeface="Calibri"/>
                <a:sym typeface="Calibri"/>
              </a:rPr>
              <a:t> (PCOS) which accounts for 80-90% of cases.</a:t>
            </a:r>
          </a:p>
          <a:p>
            <a:pPr marL="487362" indent="-481012">
              <a:spcBef>
                <a:spcPts val="700"/>
              </a:spcBef>
              <a:buSzPct val="80000"/>
              <a:buFont typeface="Calibri"/>
              <a:buChar char="•"/>
            </a:pPr>
            <a:endParaRPr lang="en-US" sz="4400" dirty="0">
              <a:latin typeface="Calibri"/>
              <a:ea typeface="Calibri"/>
              <a:cs typeface="Calibri"/>
              <a:sym typeface="Calibri"/>
            </a:endParaRPr>
          </a:p>
          <a:p>
            <a:pPr marL="487362" indent="-481012">
              <a:spcBef>
                <a:spcPts val="700"/>
              </a:spcBef>
              <a:buSzPct val="80000"/>
              <a:buFont typeface="Calibri"/>
              <a:buChar char="•"/>
            </a:pPr>
            <a:r>
              <a:rPr lang="en-US" sz="4400" dirty="0">
                <a:latin typeface="Calibri"/>
                <a:ea typeface="Calibri"/>
                <a:cs typeface="Calibri"/>
                <a:sym typeface="Calibri"/>
              </a:rPr>
              <a:t>Other rare causes include androgen secreting tumors, Cushing’s syndrome and prolactinomas.</a:t>
            </a:r>
          </a:p>
          <a:p>
            <a:pPr marL="487362" lvl="0" indent="-481012" algn="l" rtl="0">
              <a:spcBef>
                <a:spcPts val="700"/>
              </a:spcBef>
              <a:spcAft>
                <a:spcPts val="0"/>
              </a:spcAft>
              <a:buSzPct val="80000"/>
              <a:buFont typeface="Calibri"/>
              <a:buChar char="•"/>
            </a:pPr>
            <a:endParaRPr sz="4400" b="1" i="1" dirty="0">
              <a:latin typeface="Calibri"/>
              <a:ea typeface="Calibri"/>
              <a:cs typeface="Calibri"/>
              <a:sym typeface="Calibri"/>
            </a:endParaRPr>
          </a:p>
          <a:p>
            <a:pPr marL="0" lvl="0" indent="0" algn="l" rtl="0">
              <a:spcBef>
                <a:spcPts val="700"/>
              </a:spcBef>
              <a:spcAft>
                <a:spcPts val="0"/>
              </a:spcAft>
              <a:buClr>
                <a:srgbClr val="000000"/>
              </a:buClr>
              <a:buSzPts val="4500"/>
              <a:buFont typeface="Arial"/>
              <a:buNone/>
            </a:pPr>
            <a:endParaRPr dirty="0"/>
          </a:p>
        </p:txBody>
      </p:sp>
    </p:spTree>
    <p:extLst>
      <p:ext uri="{BB962C8B-B14F-4D97-AF65-F5344CB8AC3E}">
        <p14:creationId xmlns:p14="http://schemas.microsoft.com/office/powerpoint/2010/main" val="24885907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g101b8515189_1_12"/>
          <p:cNvSpPr txBox="1">
            <a:spLocks noGrp="1"/>
          </p:cNvSpPr>
          <p:nvPr>
            <p:ph type="title"/>
          </p:nvPr>
        </p:nvSpPr>
        <p:spPr>
          <a:xfrm>
            <a:off x="649288" y="152400"/>
            <a:ext cx="11704500" cy="11430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50"/>
                </a:solidFill>
                <a:latin typeface="Arial"/>
                <a:ea typeface="Arial"/>
                <a:cs typeface="Arial"/>
                <a:sym typeface="Arial"/>
              </a:rPr>
              <a:t>Androgen Excess</a:t>
            </a:r>
            <a:endParaRPr dirty="0">
              <a:solidFill>
                <a:srgbClr val="00B050"/>
              </a:solidFill>
            </a:endParaRPr>
          </a:p>
        </p:txBody>
      </p:sp>
      <p:sp>
        <p:nvSpPr>
          <p:cNvPr id="800" name="Google Shape;800;g101b8515189_1_12"/>
          <p:cNvSpPr txBox="1">
            <a:spLocks noGrp="1"/>
          </p:cNvSpPr>
          <p:nvPr>
            <p:ph type="body" idx="1"/>
          </p:nvPr>
        </p:nvSpPr>
        <p:spPr>
          <a:xfrm>
            <a:off x="215900" y="1447800"/>
            <a:ext cx="12571500" cy="7980300"/>
          </a:xfrm>
          <a:prstGeom prst="rect">
            <a:avLst/>
          </a:prstGeom>
          <a:noFill/>
          <a:ln>
            <a:noFill/>
          </a:ln>
        </p:spPr>
        <p:txBody>
          <a:bodyPr spcFirstLastPara="1" wrap="square" lIns="126425" tIns="72225" rIns="126425" bIns="72225" anchor="t" anchorCtr="0">
            <a:noAutofit/>
          </a:bodyPr>
          <a:lstStyle/>
          <a:p>
            <a:pPr marL="487362" lvl="0" indent="-481012" algn="l" rtl="0">
              <a:spcBef>
                <a:spcPts val="700"/>
              </a:spcBef>
              <a:spcAft>
                <a:spcPts val="0"/>
              </a:spcAft>
              <a:buSzPct val="80000"/>
              <a:buFont typeface="Calibri"/>
              <a:buChar char="•"/>
            </a:pPr>
            <a:r>
              <a:rPr lang="en-US" sz="4400" dirty="0">
                <a:latin typeface="Calibri"/>
                <a:ea typeface="Calibri"/>
                <a:cs typeface="Calibri"/>
                <a:sym typeface="Calibri"/>
              </a:rPr>
              <a:t>Androgen excess affects about 8% of women of reproductive age</a:t>
            </a:r>
            <a:r>
              <a:rPr lang="en-US" sz="4400" b="1" i="1" dirty="0">
                <a:latin typeface="Calibri"/>
                <a:ea typeface="Calibri"/>
                <a:cs typeface="Calibri"/>
                <a:sym typeface="Calibri"/>
              </a:rPr>
              <a:t> </a:t>
            </a:r>
            <a:r>
              <a:rPr lang="en-US" sz="4400" dirty="0">
                <a:latin typeface="Calibri"/>
                <a:ea typeface="Calibri"/>
                <a:cs typeface="Calibri"/>
                <a:sym typeface="Calibri"/>
              </a:rPr>
              <a:t>and occurs equally in all ethnicities.  It is rare in post-menopausal women.</a:t>
            </a:r>
            <a:endParaRPr sz="4400" dirty="0">
              <a:latin typeface="Calibri"/>
              <a:ea typeface="Calibri"/>
              <a:cs typeface="Calibri"/>
              <a:sym typeface="Calibri"/>
            </a:endParaRPr>
          </a:p>
          <a:p>
            <a:pPr marL="0" lvl="0" indent="0" algn="l" rtl="0">
              <a:spcBef>
                <a:spcPts val="700"/>
              </a:spcBef>
              <a:spcAft>
                <a:spcPts val="0"/>
              </a:spcAft>
              <a:buSzPct val="80000"/>
              <a:buNone/>
            </a:pPr>
            <a:endParaRPr sz="4400" dirty="0">
              <a:latin typeface="Calibri"/>
              <a:ea typeface="Calibri"/>
              <a:cs typeface="Calibri"/>
              <a:sym typeface="Calibri"/>
            </a:endParaRPr>
          </a:p>
          <a:p>
            <a:pPr marL="487362" lvl="0" indent="-481012" algn="l" rtl="0">
              <a:spcBef>
                <a:spcPts val="700"/>
              </a:spcBef>
              <a:spcAft>
                <a:spcPts val="0"/>
              </a:spcAft>
              <a:buSzPct val="80000"/>
              <a:buFont typeface="Calibri"/>
              <a:buChar char="•"/>
            </a:pPr>
            <a:r>
              <a:rPr lang="en-US" sz="4400" dirty="0">
                <a:latin typeface="Calibri"/>
                <a:ea typeface="Calibri"/>
                <a:cs typeface="Calibri"/>
                <a:sym typeface="Calibri"/>
              </a:rPr>
              <a:t>Androgen excess </a:t>
            </a:r>
            <a:r>
              <a:rPr lang="en-US" sz="4400" b="1" i="1" dirty="0">
                <a:latin typeface="Calibri"/>
                <a:ea typeface="Calibri"/>
                <a:cs typeface="Calibri"/>
                <a:sym typeface="Calibri"/>
              </a:rPr>
              <a:t>causes insulin resistance, dyslipidemia, elevated BP and vascular disease</a:t>
            </a:r>
            <a:r>
              <a:rPr lang="en-US" sz="4400" dirty="0">
                <a:latin typeface="Calibri"/>
                <a:ea typeface="Calibri"/>
                <a:cs typeface="Calibri"/>
                <a:sym typeface="Calibri"/>
              </a:rPr>
              <a:t>, leading to </a:t>
            </a:r>
            <a:r>
              <a:rPr lang="en-US" sz="4400" b="1" i="1" dirty="0">
                <a:latin typeface="Calibri"/>
                <a:ea typeface="Calibri"/>
                <a:cs typeface="Calibri"/>
                <a:sym typeface="Calibri"/>
              </a:rPr>
              <a:t>high rates of diabetes and CAD.</a:t>
            </a:r>
            <a:r>
              <a:rPr lang="en-US" sz="4400" dirty="0">
                <a:latin typeface="Calibri"/>
                <a:ea typeface="Calibri"/>
                <a:cs typeface="Calibri"/>
                <a:sym typeface="Calibri"/>
              </a:rPr>
              <a:t> </a:t>
            </a:r>
            <a:endParaRPr sz="4400" dirty="0">
              <a:latin typeface="Calibri"/>
              <a:ea typeface="Calibri"/>
              <a:cs typeface="Calibri"/>
              <a:sym typeface="Calibri"/>
            </a:endParaRPr>
          </a:p>
          <a:p>
            <a:pPr marL="0" lvl="0" indent="0" algn="l" rtl="0">
              <a:spcBef>
                <a:spcPts val="700"/>
              </a:spcBef>
              <a:spcAft>
                <a:spcPts val="0"/>
              </a:spcAft>
              <a:buSzPct val="80000"/>
              <a:buNone/>
            </a:pPr>
            <a:endParaRPr sz="4400" dirty="0">
              <a:latin typeface="Calibri"/>
              <a:ea typeface="Calibri"/>
              <a:cs typeface="Calibri"/>
              <a:sym typeface="Calibri"/>
            </a:endParaRPr>
          </a:p>
          <a:p>
            <a:pPr marL="487362" lvl="0" indent="-481012" algn="l" rtl="0">
              <a:spcBef>
                <a:spcPts val="700"/>
              </a:spcBef>
              <a:spcAft>
                <a:spcPts val="0"/>
              </a:spcAft>
              <a:buSzPct val="80000"/>
              <a:buFont typeface="Calibri"/>
              <a:buChar char="•"/>
            </a:pPr>
            <a:r>
              <a:rPr lang="en-US" sz="4400" dirty="0">
                <a:latin typeface="Calibri"/>
                <a:ea typeface="Calibri"/>
                <a:cs typeface="Calibri"/>
                <a:sym typeface="Calibri"/>
              </a:rPr>
              <a:t>Other manifestations of androgen excess are </a:t>
            </a:r>
            <a:r>
              <a:rPr lang="en-US" sz="4400" b="1" i="1" dirty="0">
                <a:latin typeface="Calibri"/>
                <a:ea typeface="Calibri"/>
                <a:cs typeface="Calibri"/>
                <a:sym typeface="Calibri"/>
              </a:rPr>
              <a:t>irregular menstrual cycles, male pattern baldness, hirsutism and acne.</a:t>
            </a:r>
            <a:endParaRPr sz="4400" b="1" i="1" dirty="0">
              <a:latin typeface="Calibri"/>
              <a:ea typeface="Calibri"/>
              <a:cs typeface="Calibri"/>
              <a:sym typeface="Calibri"/>
            </a:endParaRPr>
          </a:p>
          <a:p>
            <a:pPr marL="0" lvl="0" indent="0" algn="l" rtl="0">
              <a:spcBef>
                <a:spcPts val="700"/>
              </a:spcBef>
              <a:spcAft>
                <a:spcPts val="0"/>
              </a:spcAft>
              <a:buNone/>
            </a:pPr>
            <a:endParaRPr sz="4400" b="1" i="1" dirty="0">
              <a:latin typeface="Calibri"/>
              <a:ea typeface="Calibri"/>
              <a:cs typeface="Calibri"/>
              <a:sym typeface="Calibri"/>
            </a:endParaRPr>
          </a:p>
          <a:p>
            <a:pPr marL="0" lvl="0" indent="0" algn="l" rtl="0">
              <a:spcBef>
                <a:spcPts val="700"/>
              </a:spcBef>
              <a:spcAft>
                <a:spcPts val="0"/>
              </a:spcAft>
              <a:buClr>
                <a:srgbClr val="000000"/>
              </a:buClr>
              <a:buSzPts val="4500"/>
              <a:buFont typeface="Arial"/>
              <a:buNone/>
            </a:pP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101b8515189_1_22"/>
          <p:cNvSpPr txBox="1">
            <a:spLocks noGrp="1"/>
          </p:cNvSpPr>
          <p:nvPr>
            <p:ph type="title"/>
          </p:nvPr>
        </p:nvSpPr>
        <p:spPr>
          <a:xfrm>
            <a:off x="649288" y="152400"/>
            <a:ext cx="11704500" cy="11430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50"/>
                </a:solidFill>
                <a:latin typeface="Arial"/>
                <a:ea typeface="Arial"/>
                <a:cs typeface="Arial"/>
                <a:sym typeface="Arial"/>
              </a:rPr>
              <a:t>Androgen Excess Diagnosis</a:t>
            </a:r>
            <a:endParaRPr dirty="0">
              <a:solidFill>
                <a:srgbClr val="00B050"/>
              </a:solidFill>
            </a:endParaRPr>
          </a:p>
        </p:txBody>
      </p:sp>
      <p:sp>
        <p:nvSpPr>
          <p:cNvPr id="812" name="Google Shape;812;g101b8515189_1_22"/>
          <p:cNvSpPr txBox="1">
            <a:spLocks noGrp="1"/>
          </p:cNvSpPr>
          <p:nvPr>
            <p:ph type="body" idx="1"/>
          </p:nvPr>
        </p:nvSpPr>
        <p:spPr>
          <a:xfrm>
            <a:off x="215900" y="1456267"/>
            <a:ext cx="12571500" cy="8144933"/>
          </a:xfrm>
          <a:prstGeom prst="rect">
            <a:avLst/>
          </a:prstGeom>
          <a:noFill/>
          <a:ln>
            <a:noFill/>
          </a:ln>
        </p:spPr>
        <p:txBody>
          <a:bodyPr spcFirstLastPara="1" wrap="square" lIns="126425" tIns="72225" rIns="126425" bIns="72225" anchor="t" anchorCtr="0">
            <a:noAutofit/>
          </a:bodyPr>
          <a:lstStyle/>
          <a:p>
            <a:pPr marL="487362" lvl="0" indent="-481012" algn="l" rtl="0">
              <a:spcBef>
                <a:spcPts val="700"/>
              </a:spcBef>
              <a:spcAft>
                <a:spcPts val="0"/>
              </a:spcAft>
              <a:buSzPct val="80000"/>
              <a:buFont typeface="Calibri"/>
              <a:buChar char="•"/>
            </a:pPr>
            <a:r>
              <a:rPr lang="en-US" sz="4400" dirty="0">
                <a:latin typeface="Calibri"/>
                <a:ea typeface="Calibri"/>
                <a:cs typeface="Calibri"/>
                <a:sym typeface="Calibri"/>
              </a:rPr>
              <a:t>Initial diagnostic testing focuses on measuring levels of androgens (total testosterone, DHEAs), 17-hydroxyprogesterone, TSH, and prolactin.</a:t>
            </a:r>
            <a:endParaRPr sz="4400" dirty="0">
              <a:latin typeface="Calibri"/>
              <a:ea typeface="Calibri"/>
              <a:cs typeface="Calibri"/>
              <a:sym typeface="Calibri"/>
            </a:endParaRPr>
          </a:p>
          <a:p>
            <a:pPr marL="0" lvl="0" indent="0" algn="l" rtl="0">
              <a:spcBef>
                <a:spcPts val="700"/>
              </a:spcBef>
              <a:spcAft>
                <a:spcPts val="0"/>
              </a:spcAft>
              <a:buSzPct val="80000"/>
              <a:buNone/>
            </a:pPr>
            <a:endParaRPr sz="4400" dirty="0">
              <a:latin typeface="Calibri"/>
              <a:ea typeface="Calibri"/>
              <a:cs typeface="Calibri"/>
              <a:sym typeface="Calibri"/>
            </a:endParaRPr>
          </a:p>
          <a:p>
            <a:pPr marL="487362" lvl="0" indent="-481012" algn="l" rtl="0">
              <a:spcBef>
                <a:spcPts val="700"/>
              </a:spcBef>
              <a:spcAft>
                <a:spcPts val="0"/>
              </a:spcAft>
              <a:buSzPct val="80000"/>
              <a:buFont typeface="Calibri"/>
              <a:buChar char="•"/>
            </a:pPr>
            <a:r>
              <a:rPr lang="en-US" sz="4400" dirty="0">
                <a:latin typeface="Calibri"/>
                <a:ea typeface="Calibri"/>
                <a:cs typeface="Calibri"/>
                <a:sym typeface="Calibri"/>
              </a:rPr>
              <a:t>In women, a transabdominal or transvaginal ultrasound of the uterus and adnexa is ordered in all to evaluate for ovarian cysts or masses.  In men, an ultrasound of the testicles.</a:t>
            </a:r>
            <a:endParaRPr sz="4400" dirty="0">
              <a:latin typeface="Calibri"/>
              <a:ea typeface="Calibri"/>
              <a:cs typeface="Calibri"/>
              <a:sym typeface="Calibri"/>
            </a:endParaRPr>
          </a:p>
          <a:p>
            <a:pPr marL="0" lvl="0" indent="0" algn="l" rtl="0">
              <a:spcBef>
                <a:spcPts val="700"/>
              </a:spcBef>
              <a:spcAft>
                <a:spcPts val="0"/>
              </a:spcAft>
              <a:buSzPct val="80000"/>
              <a:buNone/>
            </a:pPr>
            <a:endParaRPr sz="4400" dirty="0">
              <a:latin typeface="Calibri"/>
              <a:ea typeface="Calibri"/>
              <a:cs typeface="Calibri"/>
              <a:sym typeface="Calibri"/>
            </a:endParaRPr>
          </a:p>
          <a:p>
            <a:pPr marL="487362" lvl="0" indent="-481012" algn="l" rtl="0">
              <a:spcBef>
                <a:spcPts val="700"/>
              </a:spcBef>
              <a:spcAft>
                <a:spcPts val="0"/>
              </a:spcAft>
              <a:buSzPct val="80000"/>
              <a:buFont typeface="Calibri"/>
              <a:buChar char="•"/>
            </a:pPr>
            <a:r>
              <a:rPr lang="en-US" sz="4400" dirty="0">
                <a:latin typeface="Calibri"/>
                <a:ea typeface="Calibri"/>
                <a:cs typeface="Calibri"/>
                <a:sym typeface="Calibri"/>
              </a:rPr>
              <a:t>If an adrenal cause is suspected after negative U/S, a contrasted MRI of the adrenal glands is obtained.</a:t>
            </a:r>
            <a:endParaRPr sz="4400" dirty="0">
              <a:latin typeface="Calibri"/>
              <a:ea typeface="Calibri"/>
              <a:cs typeface="Calibri"/>
              <a:sym typeface="Calibri"/>
            </a:endParaRPr>
          </a:p>
          <a:p>
            <a:pPr marL="0" lvl="0" indent="0" algn="l" rtl="0">
              <a:spcBef>
                <a:spcPts val="700"/>
              </a:spcBef>
              <a:spcAft>
                <a:spcPts val="0"/>
              </a:spcAft>
              <a:buNone/>
            </a:pPr>
            <a:endParaRPr sz="4400" b="1" i="1" dirty="0">
              <a:latin typeface="Calibri"/>
              <a:ea typeface="Calibri"/>
              <a:cs typeface="Calibri"/>
              <a:sym typeface="Calibri"/>
            </a:endParaRPr>
          </a:p>
          <a:p>
            <a:pPr marL="0" lvl="0" indent="0" algn="l" rtl="0">
              <a:spcBef>
                <a:spcPts val="700"/>
              </a:spcBef>
              <a:spcAft>
                <a:spcPts val="0"/>
              </a:spcAft>
              <a:buClr>
                <a:srgbClr val="000000"/>
              </a:buClr>
              <a:buSzPts val="4500"/>
              <a:buFont typeface="Arial"/>
              <a:buNone/>
            </a:pP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g101b8515189_1_27"/>
          <p:cNvSpPr txBox="1">
            <a:spLocks noGrp="1"/>
          </p:cNvSpPr>
          <p:nvPr>
            <p:ph type="title"/>
          </p:nvPr>
        </p:nvSpPr>
        <p:spPr>
          <a:xfrm>
            <a:off x="649288" y="152400"/>
            <a:ext cx="11704500" cy="11430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50"/>
                </a:solidFill>
                <a:latin typeface="Arial"/>
                <a:ea typeface="Arial"/>
                <a:cs typeface="Arial"/>
                <a:sym typeface="Arial"/>
              </a:rPr>
              <a:t>Androgen Excess Treatment</a:t>
            </a:r>
            <a:endParaRPr dirty="0">
              <a:solidFill>
                <a:srgbClr val="00B050"/>
              </a:solidFill>
            </a:endParaRPr>
          </a:p>
        </p:txBody>
      </p:sp>
      <p:sp>
        <p:nvSpPr>
          <p:cNvPr id="818" name="Google Shape;818;g101b8515189_1_27"/>
          <p:cNvSpPr txBox="1">
            <a:spLocks noGrp="1"/>
          </p:cNvSpPr>
          <p:nvPr>
            <p:ph type="body" idx="1"/>
          </p:nvPr>
        </p:nvSpPr>
        <p:spPr>
          <a:xfrm>
            <a:off x="215900" y="1828800"/>
            <a:ext cx="12571500" cy="7772400"/>
          </a:xfrm>
          <a:prstGeom prst="rect">
            <a:avLst/>
          </a:prstGeom>
          <a:noFill/>
          <a:ln>
            <a:noFill/>
          </a:ln>
        </p:spPr>
        <p:txBody>
          <a:bodyPr spcFirstLastPara="1" wrap="square" lIns="126425" tIns="72225" rIns="126425" bIns="72225" anchor="t" anchorCtr="0">
            <a:noAutofit/>
          </a:bodyPr>
          <a:lstStyle/>
          <a:p>
            <a:pPr marL="577850" lvl="0" indent="-571500" algn="l" rtl="0">
              <a:spcBef>
                <a:spcPts val="700"/>
              </a:spcBef>
              <a:spcAft>
                <a:spcPts val="0"/>
              </a:spcAft>
              <a:buSzPts val="4400"/>
              <a:buFont typeface="Arial" panose="020B0604020202020204" pitchFamily="34" charset="0"/>
              <a:buChar char="•"/>
            </a:pPr>
            <a:r>
              <a:rPr lang="en-US" sz="4400" dirty="0">
                <a:latin typeface="Calibri"/>
                <a:ea typeface="Calibri"/>
                <a:cs typeface="Calibri"/>
                <a:sym typeface="Calibri"/>
              </a:rPr>
              <a:t>The standard of care for </a:t>
            </a:r>
            <a:r>
              <a:rPr lang="en-US" sz="4400" b="1" i="1" dirty="0">
                <a:latin typeface="Calibri"/>
                <a:ea typeface="Calibri"/>
                <a:cs typeface="Calibri"/>
                <a:sym typeface="Calibri"/>
              </a:rPr>
              <a:t>adrenal tumors resulting in androgen excess is surgical removal of the mass</a:t>
            </a:r>
            <a:r>
              <a:rPr lang="en-US" sz="4400" dirty="0">
                <a:latin typeface="Calibri"/>
                <a:ea typeface="Calibri"/>
                <a:cs typeface="Calibri"/>
                <a:sym typeface="Calibri"/>
              </a:rPr>
              <a:t>.</a:t>
            </a:r>
            <a:endParaRPr sz="4400" dirty="0">
              <a:latin typeface="Calibri"/>
              <a:ea typeface="Calibri"/>
              <a:cs typeface="Calibri"/>
              <a:sym typeface="Calibri"/>
            </a:endParaRPr>
          </a:p>
          <a:p>
            <a:pPr marL="571500" lvl="0" indent="-571500" algn="l" rtl="0">
              <a:spcBef>
                <a:spcPts val="700"/>
              </a:spcBef>
              <a:spcAft>
                <a:spcPts val="0"/>
              </a:spcAft>
              <a:buFont typeface="Arial" panose="020B0604020202020204" pitchFamily="34" charset="0"/>
              <a:buChar char="•"/>
            </a:pPr>
            <a:endParaRPr sz="4400" dirty="0">
              <a:latin typeface="Calibri"/>
              <a:ea typeface="Calibri"/>
              <a:cs typeface="Calibri"/>
              <a:sym typeface="Calibri"/>
            </a:endParaRPr>
          </a:p>
          <a:p>
            <a:pPr marL="577850" lvl="0" indent="-571500" algn="l" rtl="0">
              <a:spcBef>
                <a:spcPts val="700"/>
              </a:spcBef>
              <a:spcAft>
                <a:spcPts val="0"/>
              </a:spcAft>
              <a:buSzPts val="4400"/>
              <a:buFont typeface="Arial" panose="020B0604020202020204" pitchFamily="34" charset="0"/>
              <a:buChar char="•"/>
            </a:pPr>
            <a:r>
              <a:rPr lang="en-US" sz="4400" dirty="0">
                <a:latin typeface="Calibri"/>
                <a:ea typeface="Calibri"/>
                <a:cs typeface="Calibri"/>
                <a:sym typeface="Calibri"/>
              </a:rPr>
              <a:t>Prognosis is excellent for a benign mass, but less optimal for a malignancy.</a:t>
            </a:r>
          </a:p>
          <a:p>
            <a:pPr marL="577850" lvl="0" indent="-571500" algn="l" rtl="0">
              <a:spcBef>
                <a:spcPts val="700"/>
              </a:spcBef>
              <a:spcAft>
                <a:spcPts val="0"/>
              </a:spcAft>
              <a:buSzPts val="4400"/>
              <a:buFont typeface="Arial" panose="020B0604020202020204" pitchFamily="34" charset="0"/>
              <a:buChar char="•"/>
            </a:pPr>
            <a:endParaRPr lang="en-US" sz="4400" dirty="0">
              <a:latin typeface="Calibri"/>
              <a:ea typeface="Calibri"/>
              <a:cs typeface="Calibri"/>
              <a:sym typeface="Calibri"/>
            </a:endParaRPr>
          </a:p>
          <a:p>
            <a:pPr marL="577850" lvl="0" indent="-571500" algn="l" rtl="0">
              <a:spcBef>
                <a:spcPts val="700"/>
              </a:spcBef>
              <a:spcAft>
                <a:spcPts val="0"/>
              </a:spcAft>
              <a:buSzPts val="4400"/>
              <a:buFont typeface="Arial" panose="020B0604020202020204" pitchFamily="34" charset="0"/>
              <a:buChar char="•"/>
            </a:pPr>
            <a:r>
              <a:rPr lang="en-US" sz="4400" dirty="0">
                <a:latin typeface="Calibri"/>
                <a:ea typeface="Calibri"/>
                <a:cs typeface="Calibri"/>
                <a:sym typeface="Calibri"/>
              </a:rPr>
              <a:t>Non-adrenal causes of androgen excess will require different treatments.</a:t>
            </a:r>
            <a:endParaRPr sz="4400" dirty="0">
              <a:latin typeface="Calibri"/>
              <a:ea typeface="Calibri"/>
              <a:cs typeface="Calibri"/>
              <a:sym typeface="Calibri"/>
            </a:endParaRPr>
          </a:p>
          <a:p>
            <a:pPr marL="0" lvl="0" indent="0" algn="l" rtl="0">
              <a:spcBef>
                <a:spcPts val="700"/>
              </a:spcBef>
              <a:spcAft>
                <a:spcPts val="0"/>
              </a:spcAft>
              <a:buNone/>
            </a:pPr>
            <a:endParaRPr sz="4400" b="1" i="1" dirty="0">
              <a:latin typeface="Calibri"/>
              <a:ea typeface="Calibri"/>
              <a:cs typeface="Calibri"/>
              <a:sym typeface="Calibri"/>
            </a:endParaRPr>
          </a:p>
          <a:p>
            <a:pPr marL="0" lvl="0" indent="0" algn="l" rtl="0">
              <a:spcBef>
                <a:spcPts val="700"/>
              </a:spcBef>
              <a:spcAft>
                <a:spcPts val="0"/>
              </a:spcAft>
              <a:buClr>
                <a:srgbClr val="000000"/>
              </a:buClr>
              <a:buSzPts val="4500"/>
              <a:buFont typeface="Arial"/>
              <a:buNone/>
            </a:pP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g101b8515189_1_6"/>
          <p:cNvSpPr txBox="1">
            <a:spLocks noGrp="1"/>
          </p:cNvSpPr>
          <p:nvPr>
            <p:ph type="title"/>
          </p:nvPr>
        </p:nvSpPr>
        <p:spPr>
          <a:xfrm>
            <a:off x="649288" y="152400"/>
            <a:ext cx="11704500" cy="11430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ln>
                  <a:solidFill>
                    <a:schemeClr val="tx1"/>
                  </a:solidFill>
                </a:ln>
                <a:solidFill>
                  <a:srgbClr val="FFFF00"/>
                </a:solidFill>
                <a:latin typeface="Arial"/>
                <a:ea typeface="Arial"/>
                <a:cs typeface="Arial"/>
                <a:sym typeface="Arial"/>
              </a:rPr>
              <a:t>Adrenal Androgen Deficiency</a:t>
            </a:r>
            <a:endParaRPr dirty="0">
              <a:ln>
                <a:solidFill>
                  <a:schemeClr val="tx1"/>
                </a:solidFill>
              </a:ln>
              <a:solidFill>
                <a:srgbClr val="FFFF00"/>
              </a:solidFill>
            </a:endParaRPr>
          </a:p>
        </p:txBody>
      </p:sp>
      <p:sp>
        <p:nvSpPr>
          <p:cNvPr id="824" name="Google Shape;824;g101b8515189_1_6"/>
          <p:cNvSpPr txBox="1">
            <a:spLocks noGrp="1"/>
          </p:cNvSpPr>
          <p:nvPr>
            <p:ph type="body" idx="1"/>
          </p:nvPr>
        </p:nvSpPr>
        <p:spPr>
          <a:xfrm>
            <a:off x="215900" y="1693332"/>
            <a:ext cx="12571500" cy="7907868"/>
          </a:xfrm>
          <a:prstGeom prst="rect">
            <a:avLst/>
          </a:prstGeom>
          <a:noFill/>
          <a:ln>
            <a:noFill/>
          </a:ln>
        </p:spPr>
        <p:txBody>
          <a:bodyPr spcFirstLastPara="1" wrap="square" lIns="126425" tIns="72225" rIns="126425" bIns="72225" anchor="t" anchorCtr="0">
            <a:noAutofit/>
          </a:bodyPr>
          <a:lstStyle/>
          <a:p>
            <a:pPr marL="487362" lvl="0" indent="-487362" algn="l" rtl="0">
              <a:spcBef>
                <a:spcPts val="0"/>
              </a:spcBef>
              <a:spcAft>
                <a:spcPts val="0"/>
              </a:spcAft>
              <a:buClr>
                <a:srgbClr val="000000"/>
              </a:buClr>
              <a:buSzPts val="4500"/>
              <a:buFont typeface="Arial"/>
              <a:buChar char="•"/>
            </a:pPr>
            <a:r>
              <a:rPr lang="en-US" sz="4400" dirty="0">
                <a:latin typeface="Calibri" panose="020F0502020204030204" pitchFamily="34" charset="0"/>
                <a:ea typeface="Arial"/>
                <a:cs typeface="Calibri" panose="020F0502020204030204" pitchFamily="34" charset="0"/>
                <a:sym typeface="Arial"/>
              </a:rPr>
              <a:t>Part of primary adrenal insufficiency.</a:t>
            </a:r>
          </a:p>
          <a:p>
            <a:pPr marL="487362" lvl="0" indent="-487362" algn="l" rtl="0">
              <a:spcBef>
                <a:spcPts val="0"/>
              </a:spcBef>
              <a:spcAft>
                <a:spcPts val="0"/>
              </a:spcAft>
              <a:buClr>
                <a:srgbClr val="000000"/>
              </a:buClr>
              <a:buSzPts val="4500"/>
              <a:buFont typeface="Arial"/>
              <a:buChar char="•"/>
            </a:pPr>
            <a:endParaRPr lang="en-US" sz="4400" dirty="0">
              <a:latin typeface="Calibri" panose="020F0502020204030204" pitchFamily="34" charset="0"/>
              <a:ea typeface="Arial"/>
              <a:cs typeface="Calibri" panose="020F0502020204030204" pitchFamily="34" charset="0"/>
              <a:sym typeface="Arial"/>
            </a:endParaRPr>
          </a:p>
          <a:p>
            <a:pPr marL="487362" lvl="0" indent="-487362" algn="l" rtl="0">
              <a:spcBef>
                <a:spcPts val="0"/>
              </a:spcBef>
              <a:spcAft>
                <a:spcPts val="0"/>
              </a:spcAft>
              <a:buClr>
                <a:srgbClr val="000000"/>
              </a:buClr>
              <a:buSzPts val="4500"/>
              <a:buFont typeface="Arial"/>
              <a:buChar char="•"/>
            </a:pPr>
            <a:r>
              <a:rPr lang="en-US" sz="4400" dirty="0">
                <a:latin typeface="Calibri" panose="020F0502020204030204" pitchFamily="34" charset="0"/>
                <a:ea typeface="Arial"/>
                <a:cs typeface="Calibri" panose="020F0502020204030204" pitchFamily="34" charset="0"/>
                <a:sym typeface="Arial"/>
              </a:rPr>
              <a:t>Loss of adrenal androgens in men does not cause clinically significant disease.  Women may experience </a:t>
            </a:r>
            <a:r>
              <a:rPr lang="en-US" sz="4400" b="1" i="1" dirty="0">
                <a:latin typeface="Calibri" panose="020F0502020204030204" pitchFamily="34" charset="0"/>
                <a:ea typeface="Arial"/>
                <a:cs typeface="Calibri" panose="020F0502020204030204" pitchFamily="34" charset="0"/>
                <a:sym typeface="Arial"/>
              </a:rPr>
              <a:t>decreased sex drive/ libido and loss of a general feeling of well being</a:t>
            </a:r>
            <a:r>
              <a:rPr lang="en-US" sz="4400" dirty="0">
                <a:latin typeface="Calibri" panose="020F0502020204030204" pitchFamily="34" charset="0"/>
                <a:ea typeface="Arial"/>
                <a:cs typeface="Calibri" panose="020F0502020204030204" pitchFamily="34" charset="0"/>
                <a:sym typeface="Arial"/>
              </a:rPr>
              <a:t>.</a:t>
            </a:r>
            <a:endParaRPr sz="4400" dirty="0">
              <a:latin typeface="Calibri" panose="020F0502020204030204" pitchFamily="34" charset="0"/>
              <a:ea typeface="Arial"/>
              <a:cs typeface="Calibri" panose="020F0502020204030204" pitchFamily="34" charset="0"/>
              <a:sym typeface="Arial"/>
            </a:endParaRPr>
          </a:p>
          <a:p>
            <a:pPr marL="0" lvl="0" indent="0" algn="l" rtl="0">
              <a:spcBef>
                <a:spcPts val="700"/>
              </a:spcBef>
              <a:spcAft>
                <a:spcPts val="0"/>
              </a:spcAft>
              <a:buNone/>
            </a:pPr>
            <a:endParaRPr sz="4400" dirty="0">
              <a:latin typeface="Calibri" panose="020F0502020204030204" pitchFamily="34" charset="0"/>
              <a:ea typeface="Arial"/>
              <a:cs typeface="Calibri" panose="020F0502020204030204" pitchFamily="34" charset="0"/>
              <a:sym typeface="Arial"/>
            </a:endParaRPr>
          </a:p>
          <a:p>
            <a:pPr marL="487362" lvl="0" indent="-487362" algn="l" rtl="0">
              <a:spcBef>
                <a:spcPts val="700"/>
              </a:spcBef>
              <a:spcAft>
                <a:spcPts val="0"/>
              </a:spcAft>
              <a:buClr>
                <a:srgbClr val="000000"/>
              </a:buClr>
              <a:buSzPts val="4500"/>
              <a:buFont typeface="Arial"/>
              <a:buChar char="•"/>
            </a:pPr>
            <a:r>
              <a:rPr lang="en-US" sz="4400" dirty="0">
                <a:latin typeface="Calibri" panose="020F0502020204030204" pitchFamily="34" charset="0"/>
                <a:ea typeface="Arial"/>
                <a:cs typeface="Calibri" panose="020F0502020204030204" pitchFamily="34" charset="0"/>
                <a:sym typeface="Arial"/>
              </a:rPr>
              <a:t>Supplementation with </a:t>
            </a:r>
            <a:r>
              <a:rPr lang="en-US" sz="4400" b="1" i="1" dirty="0">
                <a:latin typeface="Calibri" panose="020F0502020204030204" pitchFamily="34" charset="0"/>
                <a:ea typeface="Arial"/>
                <a:cs typeface="Calibri" panose="020F0502020204030204" pitchFamily="34" charset="0"/>
                <a:sym typeface="Arial"/>
              </a:rPr>
              <a:t>DHEA 50mg daily</a:t>
            </a:r>
            <a:r>
              <a:rPr lang="en-US" sz="4400" dirty="0">
                <a:latin typeface="Calibri" panose="020F0502020204030204" pitchFamily="34" charset="0"/>
                <a:ea typeface="Arial"/>
                <a:cs typeface="Calibri" panose="020F0502020204030204" pitchFamily="34" charset="0"/>
                <a:sym typeface="Arial"/>
              </a:rPr>
              <a:t> is helpful </a:t>
            </a:r>
            <a:r>
              <a:rPr lang="en-US" sz="4400" b="1" i="1" dirty="0">
                <a:latin typeface="Calibri" panose="020F0502020204030204" pitchFamily="34" charset="0"/>
                <a:ea typeface="Arial"/>
                <a:cs typeface="Calibri" panose="020F0502020204030204" pitchFamily="34" charset="0"/>
                <a:sym typeface="Arial"/>
              </a:rPr>
              <a:t>for symptom relief</a:t>
            </a:r>
            <a:r>
              <a:rPr lang="en-US" sz="4400" dirty="0">
                <a:latin typeface="Calibri" panose="020F0502020204030204" pitchFamily="34" charset="0"/>
                <a:ea typeface="Arial"/>
                <a:cs typeface="Calibri" panose="020F0502020204030204" pitchFamily="34" charset="0"/>
                <a:sym typeface="Arial"/>
              </a:rPr>
              <a:t>.</a:t>
            </a:r>
            <a:endParaRPr sz="4400" dirty="0">
              <a:latin typeface="Calibri" panose="020F0502020204030204" pitchFamily="34" charset="0"/>
              <a:ea typeface="Arial"/>
              <a:cs typeface="Calibri" panose="020F0502020204030204" pitchFamily="34" charset="0"/>
              <a:sym typeface="Arial"/>
            </a:endParaRPr>
          </a:p>
          <a:p>
            <a:pPr marL="0" lvl="0" indent="0" algn="l" rtl="0">
              <a:spcBef>
                <a:spcPts val="700"/>
              </a:spcBef>
              <a:spcAft>
                <a:spcPts val="0"/>
              </a:spcAft>
              <a:buNone/>
            </a:pPr>
            <a:endParaRPr sz="4400" dirty="0">
              <a:latin typeface="Calibri" panose="020F0502020204030204" pitchFamily="34" charset="0"/>
              <a:ea typeface="Arial"/>
              <a:cs typeface="Calibri" panose="020F0502020204030204" pitchFamily="34" charset="0"/>
              <a:sym typeface="Arial"/>
            </a:endParaRPr>
          </a:p>
          <a:p>
            <a:pPr marL="487362" lvl="0" indent="-487362" algn="l" rtl="0">
              <a:spcBef>
                <a:spcPts val="700"/>
              </a:spcBef>
              <a:spcAft>
                <a:spcPts val="0"/>
              </a:spcAft>
              <a:buClr>
                <a:srgbClr val="000000"/>
              </a:buClr>
              <a:buSzPts val="4500"/>
              <a:buFont typeface="Arial"/>
              <a:buChar char="•"/>
            </a:pPr>
            <a:r>
              <a:rPr lang="en-US" sz="4400" b="1" i="1" dirty="0">
                <a:latin typeface="Calibri" panose="020F0502020204030204" pitchFamily="34" charset="0"/>
                <a:ea typeface="Arial"/>
                <a:cs typeface="Calibri" panose="020F0502020204030204" pitchFamily="34" charset="0"/>
                <a:sym typeface="Arial"/>
              </a:rPr>
              <a:t>DHEA is converted peripherally into testosterone</a:t>
            </a:r>
            <a:r>
              <a:rPr lang="en-US" sz="4400" dirty="0">
                <a:latin typeface="Calibri" panose="020F0502020204030204" pitchFamily="34" charset="0"/>
                <a:ea typeface="Arial"/>
                <a:cs typeface="Calibri" panose="020F0502020204030204" pitchFamily="34" charset="0"/>
                <a:sym typeface="Arial"/>
              </a:rPr>
              <a:t>.</a:t>
            </a:r>
            <a:endParaRPr sz="4400" dirty="0">
              <a:latin typeface="Calibri" panose="020F0502020204030204" pitchFamily="34" charset="0"/>
              <a:cs typeface="Calibri" panose="020F050202020403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p119"/>
          <p:cNvSpPr txBox="1">
            <a:spLocks noGrp="1"/>
          </p:cNvSpPr>
          <p:nvPr>
            <p:ph type="title"/>
          </p:nvPr>
        </p:nvSpPr>
        <p:spPr>
          <a:xfrm>
            <a:off x="215900" y="203200"/>
            <a:ext cx="12571414" cy="1337733"/>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500" dirty="0">
                <a:latin typeface="Calibri" panose="020F0502020204030204" pitchFamily="34" charset="0"/>
                <a:ea typeface="Arial"/>
                <a:cs typeface="Calibri" panose="020F0502020204030204" pitchFamily="34" charset="0"/>
                <a:sym typeface="Arial"/>
              </a:rPr>
              <a:t>Incidentalomas</a:t>
            </a:r>
            <a:endParaRPr sz="6500" dirty="0">
              <a:latin typeface="Calibri" panose="020F0502020204030204" pitchFamily="34" charset="0"/>
              <a:cs typeface="Calibri" panose="020F0502020204030204" pitchFamily="34" charset="0"/>
            </a:endParaRPr>
          </a:p>
        </p:txBody>
      </p:sp>
      <p:sp>
        <p:nvSpPr>
          <p:cNvPr id="830" name="Google Shape;830;p119"/>
          <p:cNvSpPr txBox="1">
            <a:spLocks noGrp="1"/>
          </p:cNvSpPr>
          <p:nvPr>
            <p:ph type="body" idx="1"/>
          </p:nvPr>
        </p:nvSpPr>
        <p:spPr>
          <a:xfrm>
            <a:off x="215900" y="1828800"/>
            <a:ext cx="12571414" cy="7721600"/>
          </a:xfrm>
          <a:prstGeom prst="rect">
            <a:avLst/>
          </a:prstGeom>
          <a:noFill/>
          <a:ln>
            <a:noFill/>
          </a:ln>
        </p:spPr>
        <p:txBody>
          <a:bodyPr spcFirstLastPara="1" wrap="square" lIns="126425" tIns="72225" rIns="126425" bIns="72225" anchor="t" anchorCtr="0">
            <a:noAutofit/>
          </a:bodyPr>
          <a:lstStyle/>
          <a:p>
            <a:pPr marL="487363" lvl="0" indent="-487363" algn="l" rtl="0">
              <a:spcBef>
                <a:spcPts val="600"/>
              </a:spcBef>
              <a:spcAft>
                <a:spcPts val="600"/>
              </a:spcAft>
              <a:buClr>
                <a:srgbClr val="000000"/>
              </a:buClr>
              <a:buSzPts val="4500"/>
              <a:buFont typeface="Arial"/>
              <a:buChar char="•"/>
            </a:pPr>
            <a:r>
              <a:rPr lang="en-US" sz="4500" dirty="0">
                <a:latin typeface="Calibri" panose="020F0502020204030204" pitchFamily="34" charset="0"/>
                <a:ea typeface="Calibri"/>
                <a:cs typeface="Calibri" panose="020F0502020204030204" pitchFamily="34" charset="0"/>
                <a:sym typeface="Calibri"/>
              </a:rPr>
              <a:t>These are </a:t>
            </a:r>
            <a:r>
              <a:rPr lang="en-US" sz="4500" b="1" i="1" dirty="0">
                <a:latin typeface="Calibri" panose="020F0502020204030204" pitchFamily="34" charset="0"/>
                <a:ea typeface="Calibri"/>
                <a:cs typeface="Calibri" panose="020F0502020204030204" pitchFamily="34" charset="0"/>
                <a:sym typeface="Calibri"/>
              </a:rPr>
              <a:t>clinically inapparent adrenal masses </a:t>
            </a:r>
            <a:r>
              <a:rPr lang="en-US" sz="4500" dirty="0">
                <a:latin typeface="Calibri" panose="020F0502020204030204" pitchFamily="34" charset="0"/>
                <a:ea typeface="Calibri"/>
                <a:cs typeface="Calibri" panose="020F0502020204030204" pitchFamily="34" charset="0"/>
                <a:sym typeface="Calibri"/>
              </a:rPr>
              <a:t>that are discovered on imaging done for another reason.  Incidentalomas are fairly common.</a:t>
            </a:r>
          </a:p>
          <a:p>
            <a:pPr marL="487363" lvl="0" indent="-487363" algn="l" rtl="0">
              <a:spcBef>
                <a:spcPts val="600"/>
              </a:spcBef>
              <a:spcAft>
                <a:spcPts val="600"/>
              </a:spcAft>
              <a:buClr>
                <a:srgbClr val="000000"/>
              </a:buClr>
              <a:buSzPts val="4500"/>
              <a:buFont typeface="Arial"/>
              <a:buChar char="•"/>
            </a:pPr>
            <a:endParaRPr dirty="0">
              <a:latin typeface="Calibri" panose="020F0502020204030204" pitchFamily="34" charset="0"/>
              <a:cs typeface="Calibri" panose="020F0502020204030204" pitchFamily="34" charset="0"/>
            </a:endParaRPr>
          </a:p>
          <a:p>
            <a:pPr marL="487363" lvl="0" indent="-487363" algn="l" rtl="0">
              <a:spcBef>
                <a:spcPts val="600"/>
              </a:spcBef>
              <a:spcAft>
                <a:spcPts val="600"/>
              </a:spcAft>
              <a:buClr>
                <a:srgbClr val="000000"/>
              </a:buClr>
              <a:buSzPts val="4500"/>
              <a:buFont typeface="Arial"/>
              <a:buChar char="•"/>
            </a:pPr>
            <a:r>
              <a:rPr lang="en-US" sz="4500" dirty="0">
                <a:latin typeface="Calibri" panose="020F0502020204030204" pitchFamily="34" charset="0"/>
                <a:ea typeface="Calibri"/>
                <a:cs typeface="Calibri" panose="020F0502020204030204" pitchFamily="34" charset="0"/>
                <a:sym typeface="Calibri"/>
              </a:rPr>
              <a:t>Some are biologically active and most commonly secrete small amounts of cortisol that may not be enough to cause obvious clinical disease.</a:t>
            </a:r>
          </a:p>
          <a:p>
            <a:pPr marL="487363" lvl="0" indent="-487363" algn="l" rtl="0">
              <a:spcBef>
                <a:spcPts val="600"/>
              </a:spcBef>
              <a:spcAft>
                <a:spcPts val="600"/>
              </a:spcAft>
              <a:buClr>
                <a:srgbClr val="000000"/>
              </a:buClr>
              <a:buSzPts val="4500"/>
              <a:buFont typeface="Arial"/>
              <a:buChar char="•"/>
            </a:pPr>
            <a:endParaRPr lang="en-US" sz="4500" dirty="0">
              <a:latin typeface="Calibri" panose="020F0502020204030204" pitchFamily="34" charset="0"/>
              <a:ea typeface="Calibri"/>
              <a:cs typeface="Calibri" panose="020F0502020204030204" pitchFamily="34" charset="0"/>
              <a:sym typeface="Calibri"/>
            </a:endParaRPr>
          </a:p>
          <a:p>
            <a:pPr marL="487363" lvl="0" indent="-487363" algn="l" rtl="0">
              <a:spcBef>
                <a:spcPts val="600"/>
              </a:spcBef>
              <a:spcAft>
                <a:spcPts val="600"/>
              </a:spcAft>
              <a:buClr>
                <a:srgbClr val="000000"/>
              </a:buClr>
              <a:buSzPts val="4500"/>
              <a:buFont typeface="Arial"/>
              <a:buChar char="•"/>
            </a:pPr>
            <a:r>
              <a:rPr lang="en-US" sz="4500" dirty="0">
                <a:latin typeface="Calibri" panose="020F0502020204030204" pitchFamily="34" charset="0"/>
                <a:ea typeface="Calibri"/>
                <a:cs typeface="Calibri" panose="020F0502020204030204" pitchFamily="34" charset="0"/>
                <a:sym typeface="Calibri"/>
              </a:rPr>
              <a:t>Occult malignancy must always be on the differential in persons with an incidentaloma.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p119"/>
          <p:cNvSpPr txBox="1">
            <a:spLocks noGrp="1"/>
          </p:cNvSpPr>
          <p:nvPr>
            <p:ph type="title"/>
          </p:nvPr>
        </p:nvSpPr>
        <p:spPr>
          <a:xfrm>
            <a:off x="649288" y="203200"/>
            <a:ext cx="11704637" cy="1456267"/>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500" dirty="0">
                <a:latin typeface="Calibri" panose="020F0502020204030204" pitchFamily="34" charset="0"/>
                <a:ea typeface="Arial"/>
                <a:cs typeface="Calibri" panose="020F0502020204030204" pitchFamily="34" charset="0"/>
                <a:sym typeface="Arial"/>
              </a:rPr>
              <a:t>Incidentalomas</a:t>
            </a:r>
            <a:endParaRPr sz="6500" dirty="0">
              <a:latin typeface="Calibri" panose="020F0502020204030204" pitchFamily="34" charset="0"/>
              <a:cs typeface="Calibri" panose="020F0502020204030204" pitchFamily="34" charset="0"/>
            </a:endParaRPr>
          </a:p>
        </p:txBody>
      </p:sp>
      <p:sp>
        <p:nvSpPr>
          <p:cNvPr id="830" name="Google Shape;830;p119"/>
          <p:cNvSpPr txBox="1">
            <a:spLocks noGrp="1"/>
          </p:cNvSpPr>
          <p:nvPr>
            <p:ph type="body" idx="1"/>
          </p:nvPr>
        </p:nvSpPr>
        <p:spPr>
          <a:xfrm>
            <a:off x="215900" y="1659467"/>
            <a:ext cx="12571414" cy="7890933"/>
          </a:xfrm>
          <a:prstGeom prst="rect">
            <a:avLst/>
          </a:prstGeom>
          <a:noFill/>
          <a:ln>
            <a:noFill/>
          </a:ln>
        </p:spPr>
        <p:txBody>
          <a:bodyPr spcFirstLastPara="1" wrap="square" lIns="126425" tIns="72225" rIns="126425" bIns="72225" anchor="t" anchorCtr="0">
            <a:noAutofit/>
          </a:bodyPr>
          <a:lstStyle/>
          <a:p>
            <a:pPr marL="487363" lvl="0" indent="-487363" algn="l" rtl="0">
              <a:spcBef>
                <a:spcPts val="700"/>
              </a:spcBef>
              <a:spcAft>
                <a:spcPts val="600"/>
              </a:spcAft>
              <a:buClr>
                <a:srgbClr val="000000"/>
              </a:buClr>
              <a:buSzPts val="4500"/>
              <a:buFont typeface="Arial"/>
              <a:buChar char="•"/>
            </a:pPr>
            <a:r>
              <a:rPr lang="en-US" sz="4400" b="1" i="1" u="sng" dirty="0">
                <a:latin typeface="Calibri" panose="020F0502020204030204" pitchFamily="34" charset="0"/>
                <a:ea typeface="Calibri"/>
                <a:cs typeface="Calibri" panose="020F0502020204030204" pitchFamily="34" charset="0"/>
                <a:sym typeface="Calibri"/>
              </a:rPr>
              <a:t>All</a:t>
            </a:r>
            <a:r>
              <a:rPr lang="en-US" sz="4400" b="1" i="1" dirty="0">
                <a:latin typeface="Calibri" panose="020F0502020204030204" pitchFamily="34" charset="0"/>
                <a:ea typeface="Calibri"/>
                <a:cs typeface="Calibri" panose="020F0502020204030204" pitchFamily="34" charset="0"/>
                <a:sym typeface="Calibri"/>
              </a:rPr>
              <a:t> patients </a:t>
            </a:r>
            <a:r>
              <a:rPr lang="en-US" sz="4400" dirty="0">
                <a:latin typeface="Calibri" panose="020F0502020204030204" pitchFamily="34" charset="0"/>
                <a:ea typeface="Calibri"/>
                <a:cs typeface="Calibri" panose="020F0502020204030204" pitchFamily="34" charset="0"/>
                <a:sym typeface="Calibri"/>
              </a:rPr>
              <a:t>should have </a:t>
            </a:r>
            <a:r>
              <a:rPr lang="en-US" sz="4400" b="1" i="1" dirty="0">
                <a:latin typeface="Calibri" panose="020F0502020204030204" pitchFamily="34" charset="0"/>
                <a:ea typeface="Calibri"/>
                <a:cs typeface="Calibri" panose="020F0502020204030204" pitchFamily="34" charset="0"/>
                <a:sym typeface="Calibri"/>
              </a:rPr>
              <a:t>an ACTH level and  dexamethasone suppression testing </a:t>
            </a:r>
            <a:r>
              <a:rPr lang="en-US" sz="4400" dirty="0">
                <a:latin typeface="Calibri" panose="020F0502020204030204" pitchFamily="34" charset="0"/>
                <a:ea typeface="Calibri"/>
                <a:cs typeface="Calibri" panose="020F0502020204030204" pitchFamily="34" charset="0"/>
                <a:sym typeface="Calibri"/>
              </a:rPr>
              <a:t>performed when the incidentaloma is discovered.</a:t>
            </a:r>
            <a:endParaRPr sz="4400" dirty="0">
              <a:latin typeface="Calibri" panose="020F0502020204030204" pitchFamily="34" charset="0"/>
              <a:cs typeface="Calibri" panose="020F0502020204030204" pitchFamily="34" charset="0"/>
            </a:endParaRPr>
          </a:p>
          <a:p>
            <a:pPr marL="487363" lvl="0" indent="-201612" algn="l" rtl="0">
              <a:spcBef>
                <a:spcPts val="700"/>
              </a:spcBef>
              <a:spcAft>
                <a:spcPts val="600"/>
              </a:spcAft>
              <a:buClr>
                <a:srgbClr val="000000"/>
              </a:buClr>
              <a:buSzPts val="4500"/>
              <a:buFont typeface="Arial"/>
              <a:buNone/>
            </a:pPr>
            <a:endParaRPr sz="3500" dirty="0">
              <a:latin typeface="Calibri" panose="020F0502020204030204" pitchFamily="34" charset="0"/>
              <a:ea typeface="Calibri"/>
              <a:cs typeface="Calibri" panose="020F0502020204030204" pitchFamily="34" charset="0"/>
              <a:sym typeface="Calibri"/>
            </a:endParaRPr>
          </a:p>
          <a:p>
            <a:pPr marL="487363" lvl="0" indent="-487363" algn="l" rtl="0">
              <a:spcBef>
                <a:spcPts val="700"/>
              </a:spcBef>
              <a:spcAft>
                <a:spcPts val="600"/>
              </a:spcAft>
              <a:buClr>
                <a:srgbClr val="000000"/>
              </a:buClr>
              <a:buSzPts val="4500"/>
              <a:buFont typeface="Arial"/>
              <a:buChar char="•"/>
            </a:pPr>
            <a:r>
              <a:rPr lang="en-US" sz="4400" b="1" i="1" u="sng" dirty="0">
                <a:latin typeface="Calibri" panose="020F0502020204030204" pitchFamily="34" charset="0"/>
                <a:ea typeface="Calibri"/>
                <a:cs typeface="Calibri" panose="020F0502020204030204" pitchFamily="34" charset="0"/>
                <a:sym typeface="Calibri"/>
              </a:rPr>
              <a:t>Hypertensive patients</a:t>
            </a:r>
            <a:r>
              <a:rPr lang="en-US" sz="4400" b="1" i="1" dirty="0">
                <a:latin typeface="Calibri" panose="020F0502020204030204" pitchFamily="34" charset="0"/>
                <a:ea typeface="Calibri"/>
                <a:cs typeface="Calibri" panose="020F0502020204030204" pitchFamily="34" charset="0"/>
                <a:sym typeface="Calibri"/>
              </a:rPr>
              <a:t> should also have work-up for primary hyperaldosteronism (PAC, PRA, ARR) and pheochromocytoma</a:t>
            </a:r>
            <a:r>
              <a:rPr lang="en-US" sz="4400" dirty="0">
                <a:latin typeface="Calibri" panose="020F0502020204030204" pitchFamily="34" charset="0"/>
                <a:ea typeface="Calibri"/>
                <a:cs typeface="Calibri" panose="020F0502020204030204" pitchFamily="34" charset="0"/>
                <a:sym typeface="Calibri"/>
              </a:rPr>
              <a:t>.</a:t>
            </a:r>
          </a:p>
          <a:p>
            <a:pPr marL="487363" lvl="0" indent="-487363" algn="l" rtl="0">
              <a:spcBef>
                <a:spcPts val="700"/>
              </a:spcBef>
              <a:spcAft>
                <a:spcPts val="600"/>
              </a:spcAft>
              <a:buClr>
                <a:srgbClr val="000000"/>
              </a:buClr>
              <a:buSzPts val="4500"/>
              <a:buFont typeface="Arial"/>
              <a:buChar char="•"/>
            </a:pPr>
            <a:endParaRPr sz="3500" dirty="0">
              <a:latin typeface="Calibri" panose="020F0502020204030204" pitchFamily="34" charset="0"/>
              <a:cs typeface="Calibri" panose="020F0502020204030204" pitchFamily="34" charset="0"/>
            </a:endParaRPr>
          </a:p>
          <a:p>
            <a:pPr marL="487363" lvl="0" indent="-487363" algn="l" rtl="0">
              <a:spcBef>
                <a:spcPts val="700"/>
              </a:spcBef>
              <a:spcAft>
                <a:spcPts val="600"/>
              </a:spcAft>
              <a:buClr>
                <a:srgbClr val="000000"/>
              </a:buClr>
              <a:buSzPts val="4500"/>
              <a:buFont typeface="Arial"/>
              <a:buChar char="•"/>
            </a:pPr>
            <a:r>
              <a:rPr lang="en-US" sz="4400" b="1" i="1" dirty="0">
                <a:latin typeface="Calibri" panose="020F0502020204030204" pitchFamily="34" charset="0"/>
                <a:ea typeface="Calibri"/>
                <a:cs typeface="Calibri" panose="020F0502020204030204" pitchFamily="34" charset="0"/>
                <a:sym typeface="Calibri"/>
              </a:rPr>
              <a:t>Surgical removal is indicated if the mass is &gt; 5cm or it is hormonally active. </a:t>
            </a:r>
            <a:r>
              <a:rPr lang="en-US" sz="4400" dirty="0">
                <a:latin typeface="Calibri" panose="020F0502020204030204" pitchFamily="34" charset="0"/>
                <a:ea typeface="Calibri"/>
                <a:cs typeface="Calibri" panose="020F0502020204030204" pitchFamily="34" charset="0"/>
                <a:sym typeface="Calibri"/>
              </a:rPr>
              <a:t>If it is not, </a:t>
            </a:r>
            <a:r>
              <a:rPr lang="en-US" sz="4400" b="1" i="1" dirty="0">
                <a:latin typeface="Calibri" panose="020F0502020204030204" pitchFamily="34" charset="0"/>
                <a:ea typeface="Calibri"/>
                <a:cs typeface="Calibri" panose="020F0502020204030204" pitchFamily="34" charset="0"/>
                <a:sym typeface="Calibri"/>
              </a:rPr>
              <a:t>repeat monitoring is recommended.</a:t>
            </a:r>
            <a:endParaRPr sz="4400" b="1" i="1" dirty="0">
              <a:latin typeface="Calibri" panose="020F0502020204030204" pitchFamily="34" charset="0"/>
              <a:ea typeface="Calibri"/>
              <a:cs typeface="Calibri" panose="020F0502020204030204" pitchFamily="34" charset="0"/>
              <a:sym typeface="Calibri"/>
            </a:endParaRPr>
          </a:p>
        </p:txBody>
      </p:sp>
    </p:spTree>
    <p:extLst>
      <p:ext uri="{BB962C8B-B14F-4D97-AF65-F5344CB8AC3E}">
        <p14:creationId xmlns:p14="http://schemas.microsoft.com/office/powerpoint/2010/main" val="12874016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110"/>
          <p:cNvSpPr txBox="1">
            <a:spLocks noGrp="1"/>
          </p:cNvSpPr>
          <p:nvPr>
            <p:ph type="title"/>
          </p:nvPr>
        </p:nvSpPr>
        <p:spPr>
          <a:xfrm>
            <a:off x="649288" y="323850"/>
            <a:ext cx="11704637"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chemeClr val="accent5">
                    <a:lumMod val="50000"/>
                  </a:schemeClr>
                </a:solidFill>
                <a:latin typeface="Arial"/>
                <a:ea typeface="Arial"/>
                <a:cs typeface="Arial"/>
                <a:sym typeface="Arial"/>
              </a:rPr>
              <a:t>Pheochromocytoma</a:t>
            </a:r>
            <a:endParaRPr dirty="0">
              <a:solidFill>
                <a:schemeClr val="accent5">
                  <a:lumMod val="50000"/>
                </a:schemeClr>
              </a:solidFill>
            </a:endParaRPr>
          </a:p>
        </p:txBody>
      </p:sp>
      <p:sp>
        <p:nvSpPr>
          <p:cNvPr id="836" name="Google Shape;836;p110"/>
          <p:cNvSpPr txBox="1">
            <a:spLocks noGrp="1"/>
          </p:cNvSpPr>
          <p:nvPr>
            <p:ph type="body" idx="1"/>
          </p:nvPr>
        </p:nvSpPr>
        <p:spPr>
          <a:xfrm>
            <a:off x="177800" y="1733550"/>
            <a:ext cx="12649200" cy="7867650"/>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400"/>
              <a:buFont typeface="Arial"/>
              <a:buChar char="•"/>
            </a:pPr>
            <a:r>
              <a:rPr lang="en-US" sz="4400" dirty="0">
                <a:latin typeface="Calibri" panose="020F0502020204030204" pitchFamily="34" charset="0"/>
                <a:ea typeface="Calibri"/>
                <a:cs typeface="Calibri" panose="020F0502020204030204" pitchFamily="34" charset="0"/>
                <a:sym typeface="Calibri"/>
              </a:rPr>
              <a:t>A pheochromocytoma is a tumor of the chromaffin cells of the adrenal medulla, which </a:t>
            </a:r>
            <a:r>
              <a:rPr lang="en-US" sz="4400" b="1" i="1" dirty="0">
                <a:latin typeface="Calibri" panose="020F0502020204030204" pitchFamily="34" charset="0"/>
                <a:ea typeface="Calibri"/>
                <a:cs typeface="Calibri" panose="020F0502020204030204" pitchFamily="34" charset="0"/>
                <a:sym typeface="Calibri"/>
              </a:rPr>
              <a:t>secrete catecholamines like epinephrine, norepinephrine.</a:t>
            </a:r>
          </a:p>
          <a:p>
            <a:pPr marL="487363" lvl="0" indent="-487363" algn="l" rtl="0">
              <a:spcBef>
                <a:spcPts val="0"/>
              </a:spcBef>
              <a:spcAft>
                <a:spcPts val="0"/>
              </a:spcAft>
              <a:buClr>
                <a:srgbClr val="000000"/>
              </a:buClr>
              <a:buSzPts val="4400"/>
              <a:buFont typeface="Arial"/>
              <a:buChar char="•"/>
            </a:pPr>
            <a:endParaRPr lang="en-US" sz="4400" b="1" i="1" dirty="0">
              <a:latin typeface="Calibri" panose="020F0502020204030204" pitchFamily="34" charset="0"/>
              <a:cs typeface="Calibri" panose="020F0502020204030204" pitchFamily="34" charset="0"/>
            </a:endParaRPr>
          </a:p>
          <a:p>
            <a:pPr marL="487363" lvl="0" indent="-487363" algn="l" rtl="0">
              <a:spcBef>
                <a:spcPts val="0"/>
              </a:spcBef>
              <a:spcAft>
                <a:spcPts val="0"/>
              </a:spcAft>
              <a:buClr>
                <a:srgbClr val="000000"/>
              </a:buClr>
              <a:buSzPts val="4400"/>
              <a:buFont typeface="Arial"/>
              <a:buChar char="•"/>
            </a:pPr>
            <a:r>
              <a:rPr lang="en-US" sz="4400" dirty="0">
                <a:latin typeface="Calibri" panose="020F0502020204030204" pitchFamily="34" charset="0"/>
                <a:ea typeface="Calibri"/>
                <a:cs typeface="Calibri" panose="020F0502020204030204" pitchFamily="34" charset="0"/>
                <a:sym typeface="Calibri"/>
              </a:rPr>
              <a:t>90% of pheochromocytomas are found in the adrenal medulla, but they may also occur in the mediastinum or abdomen.  </a:t>
            </a:r>
          </a:p>
          <a:p>
            <a:pPr marL="1401763" lvl="2" indent="-487363">
              <a:spcBef>
                <a:spcPts val="0"/>
              </a:spcBef>
              <a:buSzPts val="4400"/>
              <a:buFont typeface="Arial"/>
              <a:buChar char="•"/>
            </a:pPr>
            <a:r>
              <a:rPr lang="en-US" sz="3500" dirty="0">
                <a:latin typeface="Calibri" panose="020F0502020204030204" pitchFamily="34" charset="0"/>
                <a:ea typeface="Calibri"/>
                <a:cs typeface="Calibri" panose="020F0502020204030204" pitchFamily="34" charset="0"/>
                <a:sym typeface="Calibri"/>
              </a:rPr>
              <a:t>Common extra-adrenal locations include the origin of the inferior mesenteric artery, bladder, and heart.</a:t>
            </a:r>
          </a:p>
          <a:p>
            <a:pPr marL="1401763" lvl="2" indent="-487363">
              <a:spcBef>
                <a:spcPts val="0"/>
              </a:spcBef>
              <a:buSzPts val="4400"/>
              <a:buFont typeface="Arial"/>
              <a:buChar char="•"/>
            </a:pPr>
            <a:endParaRPr sz="3000" dirty="0">
              <a:latin typeface="Calibri" panose="020F0502020204030204" pitchFamily="34" charset="0"/>
              <a:cs typeface="Calibri" panose="020F0502020204030204" pitchFamily="34" charset="0"/>
            </a:endParaRPr>
          </a:p>
          <a:p>
            <a:pPr marL="571500" indent="-571500">
              <a:spcBef>
                <a:spcPts val="600"/>
              </a:spcBef>
              <a:buSzPts val="4400"/>
              <a:buFont typeface="Arial" panose="020B0604020202020204" pitchFamily="34" charset="0"/>
              <a:buChar char="•"/>
            </a:pPr>
            <a:r>
              <a:rPr lang="en-US" sz="4400" dirty="0">
                <a:latin typeface="Calibri" panose="020F0502020204030204" pitchFamily="34" charset="0"/>
                <a:ea typeface="Calibri"/>
                <a:cs typeface="Calibri" panose="020F0502020204030204" pitchFamily="34" charset="0"/>
                <a:sym typeface="Calibri"/>
              </a:rPr>
              <a:t>5% of persons with pheochromocytoma have bilateral tumors.</a:t>
            </a:r>
            <a:endParaRPr sz="4400" dirty="0">
              <a:latin typeface="Calibri" panose="020F0502020204030204" pitchFamily="34" charset="0"/>
              <a:cs typeface="Calibri" panose="020F0502020204030204" pitchFamily="34" charset="0"/>
            </a:endParaRPr>
          </a:p>
          <a:p>
            <a:pPr marL="381000" lvl="0" indent="0" algn="l" rtl="0">
              <a:spcBef>
                <a:spcPts val="700"/>
              </a:spcBef>
              <a:spcAft>
                <a:spcPts val="0"/>
              </a:spcAft>
              <a:buNone/>
            </a:pP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110"/>
          <p:cNvSpPr txBox="1">
            <a:spLocks noGrp="1"/>
          </p:cNvSpPr>
          <p:nvPr>
            <p:ph type="title"/>
          </p:nvPr>
        </p:nvSpPr>
        <p:spPr>
          <a:xfrm>
            <a:off x="649288" y="323850"/>
            <a:ext cx="11704637"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chemeClr val="accent5">
                    <a:lumMod val="50000"/>
                  </a:schemeClr>
                </a:solidFill>
                <a:latin typeface="Arial"/>
                <a:ea typeface="Arial"/>
                <a:cs typeface="Arial"/>
                <a:sym typeface="Arial"/>
              </a:rPr>
              <a:t>Pheochromocytoma</a:t>
            </a:r>
            <a:endParaRPr dirty="0">
              <a:solidFill>
                <a:schemeClr val="accent5">
                  <a:lumMod val="50000"/>
                </a:schemeClr>
              </a:solidFill>
            </a:endParaRPr>
          </a:p>
        </p:txBody>
      </p:sp>
      <p:sp>
        <p:nvSpPr>
          <p:cNvPr id="836" name="Google Shape;836;p110"/>
          <p:cNvSpPr txBox="1">
            <a:spLocks noGrp="1"/>
          </p:cNvSpPr>
          <p:nvPr>
            <p:ph type="body" idx="1"/>
          </p:nvPr>
        </p:nvSpPr>
        <p:spPr>
          <a:xfrm>
            <a:off x="177800" y="1733550"/>
            <a:ext cx="12649200" cy="7867650"/>
          </a:xfrm>
          <a:prstGeom prst="rect">
            <a:avLst/>
          </a:prstGeom>
          <a:noFill/>
          <a:ln>
            <a:noFill/>
          </a:ln>
        </p:spPr>
        <p:txBody>
          <a:bodyPr spcFirstLastPara="1" wrap="square" lIns="126425" tIns="72225" rIns="126425" bIns="72225" anchor="t" anchorCtr="0">
            <a:noAutofit/>
          </a:bodyPr>
          <a:lstStyle/>
          <a:p>
            <a:pPr marL="571500" indent="-571500">
              <a:spcBef>
                <a:spcPts val="600"/>
              </a:spcBef>
              <a:buSzPts val="4400"/>
              <a:buFont typeface="Arial" panose="020B0604020202020204" pitchFamily="34" charset="0"/>
              <a:buChar char="•"/>
            </a:pPr>
            <a:r>
              <a:rPr lang="en-US" sz="4400" dirty="0">
                <a:latin typeface="Calibri"/>
                <a:ea typeface="Calibri"/>
                <a:cs typeface="Calibri"/>
                <a:sym typeface="Calibri"/>
              </a:rPr>
              <a:t>10% of adrenal pheochromocytomas and 35% of extra-adrenal pheochromocytomas are malignant.</a:t>
            </a:r>
          </a:p>
          <a:p>
            <a:pPr marL="571500" indent="-571500">
              <a:spcBef>
                <a:spcPts val="600"/>
              </a:spcBef>
              <a:buSzPts val="4400"/>
              <a:buFont typeface="Arial" panose="020B0604020202020204" pitchFamily="34" charset="0"/>
              <a:buChar char="•"/>
            </a:pPr>
            <a:endParaRPr lang="en-US" sz="4400" dirty="0">
              <a:latin typeface="Calibri"/>
              <a:ea typeface="Calibri"/>
              <a:cs typeface="Calibri"/>
              <a:sym typeface="Calibri"/>
            </a:endParaRPr>
          </a:p>
          <a:p>
            <a:pPr marL="571500" indent="-571500">
              <a:spcBef>
                <a:spcPts val="600"/>
              </a:spcBef>
              <a:buSzPts val="4400"/>
              <a:buFont typeface="Arial" panose="020B0604020202020204" pitchFamily="34" charset="0"/>
              <a:buChar char="•"/>
            </a:pPr>
            <a:r>
              <a:rPr lang="en-US" sz="4400" dirty="0">
                <a:latin typeface="Calibri"/>
                <a:ea typeface="Calibri"/>
                <a:cs typeface="Calibri"/>
                <a:sym typeface="Calibri"/>
              </a:rPr>
              <a:t>Benign pheochromocytomas carry a good prognosis once resected, but malignant tumors carry a poor prognosis despite resection and chemotherapy.  </a:t>
            </a:r>
          </a:p>
          <a:p>
            <a:pPr marL="571500" indent="-571500">
              <a:spcBef>
                <a:spcPts val="600"/>
              </a:spcBef>
              <a:buSzPts val="4400"/>
              <a:buFont typeface="Arial" panose="020B0604020202020204" pitchFamily="34" charset="0"/>
              <a:buChar char="•"/>
            </a:pPr>
            <a:endParaRPr lang="en-US" sz="4400" dirty="0">
              <a:latin typeface="Calibri"/>
              <a:ea typeface="Calibri"/>
              <a:cs typeface="Calibri"/>
              <a:sym typeface="Calibri"/>
            </a:endParaRPr>
          </a:p>
          <a:p>
            <a:pPr marL="571500" indent="-571500">
              <a:spcBef>
                <a:spcPts val="600"/>
              </a:spcBef>
              <a:buSzPts val="4400"/>
              <a:buFont typeface="Arial" panose="020B0604020202020204" pitchFamily="34" charset="0"/>
              <a:buChar char="•"/>
            </a:pPr>
            <a:r>
              <a:rPr lang="en-US" sz="4400" dirty="0">
                <a:latin typeface="Calibri"/>
                <a:ea typeface="Calibri"/>
                <a:cs typeface="Calibri"/>
                <a:sym typeface="Calibri"/>
              </a:rPr>
              <a:t>The most common sites for metastasis for malignant pheochromocytoma include the bone, liver and the lymph nodes.</a:t>
            </a:r>
            <a:endParaRPr sz="3000" dirty="0">
              <a:latin typeface="Calibri"/>
              <a:ea typeface="Calibri"/>
              <a:cs typeface="Calibri"/>
              <a:sym typeface="Calibri"/>
            </a:endParaRPr>
          </a:p>
          <a:p>
            <a:pPr marL="381000" lvl="0" indent="0" algn="l" rtl="0">
              <a:spcBef>
                <a:spcPts val="700"/>
              </a:spcBef>
              <a:spcAft>
                <a:spcPts val="0"/>
              </a:spcAft>
              <a:buNone/>
            </a:pPr>
            <a:endParaRPr dirty="0"/>
          </a:p>
        </p:txBody>
      </p:sp>
    </p:spTree>
    <p:extLst>
      <p:ext uri="{BB962C8B-B14F-4D97-AF65-F5344CB8AC3E}">
        <p14:creationId xmlns:p14="http://schemas.microsoft.com/office/powerpoint/2010/main" val="34803878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g101b8515189_1_32"/>
          <p:cNvSpPr txBox="1">
            <a:spLocks noGrp="1"/>
          </p:cNvSpPr>
          <p:nvPr>
            <p:ph type="title"/>
          </p:nvPr>
        </p:nvSpPr>
        <p:spPr>
          <a:xfrm>
            <a:off x="650150" y="152250"/>
            <a:ext cx="11704500"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chemeClr val="accent5">
                    <a:lumMod val="50000"/>
                  </a:schemeClr>
                </a:solidFill>
                <a:latin typeface="Arial"/>
                <a:ea typeface="Arial"/>
                <a:cs typeface="Arial"/>
                <a:sym typeface="Arial"/>
              </a:rPr>
              <a:t>Pheochromocytoma</a:t>
            </a:r>
            <a:endParaRPr dirty="0">
              <a:solidFill>
                <a:schemeClr val="accent5">
                  <a:lumMod val="50000"/>
                </a:schemeClr>
              </a:solidFill>
            </a:endParaRPr>
          </a:p>
        </p:txBody>
      </p:sp>
      <p:sp>
        <p:nvSpPr>
          <p:cNvPr id="842" name="Google Shape;842;g101b8515189_1_32"/>
          <p:cNvSpPr txBox="1">
            <a:spLocks noGrp="1"/>
          </p:cNvSpPr>
          <p:nvPr>
            <p:ph type="body" idx="1"/>
          </p:nvPr>
        </p:nvSpPr>
        <p:spPr>
          <a:xfrm>
            <a:off x="177800" y="1561950"/>
            <a:ext cx="12649200" cy="8039400"/>
          </a:xfrm>
          <a:prstGeom prst="rect">
            <a:avLst/>
          </a:prstGeom>
          <a:noFill/>
          <a:ln>
            <a:noFill/>
          </a:ln>
        </p:spPr>
        <p:txBody>
          <a:bodyPr spcFirstLastPara="1" wrap="square" lIns="126425" tIns="72225" rIns="126425" bIns="72225" anchor="t" anchorCtr="0">
            <a:noAutofit/>
          </a:bodyPr>
          <a:lstStyle/>
          <a:p>
            <a:pPr marL="487362" lvl="0" indent="-487362" algn="l" rtl="0">
              <a:spcBef>
                <a:spcPts val="0"/>
              </a:spcBef>
              <a:spcAft>
                <a:spcPts val="0"/>
              </a:spcAft>
              <a:buClr>
                <a:srgbClr val="000000"/>
              </a:buClr>
              <a:buSzPts val="4400"/>
              <a:buFont typeface="Arial"/>
              <a:buChar char="•"/>
            </a:pPr>
            <a:r>
              <a:rPr lang="en-US" sz="4400" dirty="0">
                <a:latin typeface="Calibri"/>
                <a:ea typeface="Calibri"/>
                <a:cs typeface="Calibri"/>
                <a:sym typeface="Calibri"/>
              </a:rPr>
              <a:t>Pheochromocytoma is rare, occurring in up to 0.2% of hypertensive individuals, so it is a much less common cause of secondary HTN.</a:t>
            </a:r>
            <a:endParaRPr sz="4400" dirty="0">
              <a:latin typeface="Calibri"/>
              <a:ea typeface="Calibri"/>
              <a:cs typeface="Calibri"/>
              <a:sym typeface="Calibri"/>
            </a:endParaRPr>
          </a:p>
          <a:p>
            <a:pPr marL="0" lvl="0" indent="0" algn="l" rtl="0">
              <a:spcBef>
                <a:spcPts val="0"/>
              </a:spcBef>
              <a:spcAft>
                <a:spcPts val="0"/>
              </a:spcAft>
              <a:buNone/>
            </a:pPr>
            <a:endParaRPr sz="4400" dirty="0">
              <a:latin typeface="Calibri"/>
              <a:ea typeface="Calibri"/>
              <a:cs typeface="Calibri"/>
              <a:sym typeface="Calibri"/>
            </a:endParaRPr>
          </a:p>
          <a:p>
            <a:pPr marL="487362" lvl="0" indent="-423862" algn="l" rtl="0">
              <a:spcBef>
                <a:spcPts val="0"/>
              </a:spcBef>
              <a:spcAft>
                <a:spcPts val="0"/>
              </a:spcAft>
              <a:buSzPts val="3400"/>
              <a:buFont typeface="Calibri"/>
              <a:buChar char="•"/>
            </a:pPr>
            <a:r>
              <a:rPr lang="en-US" sz="4400" dirty="0">
                <a:latin typeface="Calibri"/>
                <a:ea typeface="Calibri"/>
                <a:cs typeface="Calibri"/>
                <a:sym typeface="Calibri"/>
              </a:rPr>
              <a:t>10% of pheochromocytomas occur in children and the incidence peaks in </a:t>
            </a:r>
            <a:r>
              <a:rPr lang="en-US" sz="4400" b="1" i="1" dirty="0">
                <a:latin typeface="Calibri"/>
                <a:ea typeface="Calibri"/>
                <a:cs typeface="Calibri"/>
                <a:sym typeface="Calibri"/>
              </a:rPr>
              <a:t>persons 30-50 years of age</a:t>
            </a:r>
            <a:r>
              <a:rPr lang="en-US" sz="4400" dirty="0">
                <a:latin typeface="Calibri"/>
                <a:ea typeface="Calibri"/>
                <a:cs typeface="Calibri"/>
                <a:sym typeface="Calibri"/>
              </a:rPr>
              <a:t>.</a:t>
            </a:r>
            <a:endParaRPr sz="4400" dirty="0">
              <a:latin typeface="Calibri"/>
              <a:ea typeface="Calibri"/>
              <a:cs typeface="Calibri"/>
              <a:sym typeface="Calibri"/>
            </a:endParaRPr>
          </a:p>
          <a:p>
            <a:pPr marL="0" lvl="0" indent="0" algn="l" rtl="0">
              <a:spcBef>
                <a:spcPts val="0"/>
              </a:spcBef>
              <a:spcAft>
                <a:spcPts val="0"/>
              </a:spcAft>
              <a:buNone/>
            </a:pPr>
            <a:endParaRPr sz="4400" dirty="0">
              <a:latin typeface="Calibri"/>
              <a:ea typeface="Calibri"/>
              <a:cs typeface="Calibri"/>
              <a:sym typeface="Calibri"/>
            </a:endParaRPr>
          </a:p>
          <a:p>
            <a:pPr marL="487362" lvl="0" indent="-487362" algn="l" rtl="0">
              <a:spcBef>
                <a:spcPts val="700"/>
              </a:spcBef>
              <a:spcAft>
                <a:spcPts val="0"/>
              </a:spcAft>
              <a:buClr>
                <a:srgbClr val="000000"/>
              </a:buClr>
              <a:buSzPts val="4400"/>
              <a:buFont typeface="Arial"/>
              <a:buChar char="•"/>
            </a:pPr>
            <a:r>
              <a:rPr lang="en-US" sz="4400" dirty="0">
                <a:latin typeface="Calibri"/>
                <a:ea typeface="Calibri"/>
                <a:cs typeface="Calibri"/>
                <a:sym typeface="Calibri"/>
              </a:rPr>
              <a:t>~30% are associated with other disorders: </a:t>
            </a:r>
          </a:p>
          <a:p>
            <a:pPr marL="944562" lvl="1" indent="-487362">
              <a:spcBef>
                <a:spcPts val="700"/>
              </a:spcBef>
              <a:buSzPts val="4400"/>
              <a:buFont typeface="Arial"/>
              <a:buChar char="•"/>
            </a:pPr>
            <a:r>
              <a:rPr lang="en-US" sz="4400" dirty="0">
                <a:latin typeface="Calibri"/>
                <a:ea typeface="Calibri"/>
                <a:cs typeface="Calibri"/>
                <a:sym typeface="Calibri"/>
              </a:rPr>
              <a:t>Multiple endocrine neoplasia (MEN) syndromes </a:t>
            </a:r>
          </a:p>
          <a:p>
            <a:pPr marL="944562" lvl="1" indent="-487362">
              <a:spcBef>
                <a:spcPts val="700"/>
              </a:spcBef>
              <a:buSzPts val="4400"/>
              <a:buFont typeface="Arial"/>
              <a:buChar char="•"/>
            </a:pPr>
            <a:r>
              <a:rPr lang="en-US" sz="4400" dirty="0">
                <a:latin typeface="Calibri"/>
                <a:ea typeface="Calibri"/>
                <a:cs typeface="Calibri"/>
                <a:sym typeface="Calibri"/>
              </a:rPr>
              <a:t>von Hippel-Lindau (VHL) syndrome </a:t>
            </a:r>
          </a:p>
          <a:p>
            <a:pPr marL="944562" lvl="1" indent="-487362">
              <a:spcBef>
                <a:spcPts val="700"/>
              </a:spcBef>
              <a:buSzPts val="4400"/>
              <a:buFont typeface="Arial"/>
              <a:buChar char="•"/>
            </a:pPr>
            <a:r>
              <a:rPr lang="en-US" sz="4400" dirty="0">
                <a:latin typeface="Calibri"/>
                <a:ea typeface="Calibri"/>
                <a:cs typeface="Calibri"/>
                <a:sym typeface="Calibri"/>
              </a:rPr>
              <a:t>Neurofibromatosis type 1 (NF1)</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112"/>
          <p:cNvSpPr txBox="1">
            <a:spLocks noGrp="1"/>
          </p:cNvSpPr>
          <p:nvPr>
            <p:ph type="title"/>
          </p:nvPr>
        </p:nvSpPr>
        <p:spPr>
          <a:xfrm>
            <a:off x="323850" y="390525"/>
            <a:ext cx="12355514" cy="1196975"/>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chemeClr val="accent5">
                    <a:lumMod val="50000"/>
                  </a:schemeClr>
                </a:solidFill>
                <a:latin typeface="Arial"/>
                <a:ea typeface="Arial"/>
                <a:cs typeface="Arial"/>
                <a:sym typeface="Arial"/>
              </a:rPr>
              <a:t>Symptoms of Pheochromocytoma</a:t>
            </a:r>
            <a:endParaRPr dirty="0">
              <a:solidFill>
                <a:schemeClr val="accent5">
                  <a:lumMod val="50000"/>
                </a:schemeClr>
              </a:solidFill>
            </a:endParaRPr>
          </a:p>
        </p:txBody>
      </p:sp>
      <p:sp>
        <p:nvSpPr>
          <p:cNvPr id="854" name="Google Shape;854;p112"/>
          <p:cNvSpPr txBox="1">
            <a:spLocks noGrp="1"/>
          </p:cNvSpPr>
          <p:nvPr>
            <p:ph type="body" idx="1"/>
          </p:nvPr>
        </p:nvSpPr>
        <p:spPr>
          <a:xfrm>
            <a:off x="323850" y="1752600"/>
            <a:ext cx="6711950" cy="5410200"/>
          </a:xfrm>
          <a:prstGeom prst="rect">
            <a:avLst/>
          </a:prstGeom>
          <a:noFill/>
          <a:ln>
            <a:noFill/>
          </a:ln>
        </p:spPr>
        <p:txBody>
          <a:bodyPr spcFirstLastPara="1" wrap="square" lIns="126425" tIns="72225" rIns="126425" bIns="72225" anchor="t" anchorCtr="0">
            <a:noAutofit/>
          </a:bodyPr>
          <a:lstStyle/>
          <a:p>
            <a:pPr marL="557213" lvl="0" indent="-557213" algn="l" rtl="0">
              <a:spcBef>
                <a:spcPts val="0"/>
              </a:spcBef>
              <a:spcAft>
                <a:spcPts val="0"/>
              </a:spcAft>
              <a:buClr>
                <a:srgbClr val="000000"/>
              </a:buClr>
              <a:buSzPts val="4400"/>
              <a:buFont typeface="Arial"/>
              <a:buChar char="•"/>
            </a:pPr>
            <a:r>
              <a:rPr lang="en-US" sz="4400" b="1" i="1" dirty="0">
                <a:latin typeface="Calibri"/>
                <a:ea typeface="Calibri"/>
                <a:cs typeface="Calibri"/>
                <a:sym typeface="Calibri"/>
              </a:rPr>
              <a:t>Paroxysmal hypertension</a:t>
            </a:r>
            <a:endParaRPr dirty="0"/>
          </a:p>
          <a:p>
            <a:pPr marL="557213" lvl="0" indent="-557213" algn="l" rtl="0">
              <a:spcBef>
                <a:spcPts val="600"/>
              </a:spcBef>
              <a:spcAft>
                <a:spcPts val="0"/>
              </a:spcAft>
              <a:buClr>
                <a:srgbClr val="000000"/>
              </a:buClr>
              <a:buSzPts val="4400"/>
              <a:buFont typeface="Arial"/>
              <a:buChar char="•"/>
            </a:pPr>
            <a:r>
              <a:rPr lang="en-US" sz="4400" b="1" i="1" dirty="0">
                <a:latin typeface="Calibri"/>
                <a:ea typeface="Calibri"/>
                <a:cs typeface="Calibri"/>
                <a:sym typeface="Calibri"/>
              </a:rPr>
              <a:t>Headache</a:t>
            </a:r>
            <a:endParaRPr dirty="0"/>
          </a:p>
          <a:p>
            <a:pPr marL="557213" lvl="0" indent="-557213" algn="l" rtl="0">
              <a:spcBef>
                <a:spcPts val="600"/>
              </a:spcBef>
              <a:spcAft>
                <a:spcPts val="0"/>
              </a:spcAft>
              <a:buClr>
                <a:srgbClr val="000000"/>
              </a:buClr>
              <a:buSzPts val="4400"/>
              <a:buFont typeface="Arial"/>
              <a:buChar char="•"/>
            </a:pPr>
            <a:r>
              <a:rPr lang="en-US" sz="4400" b="1" i="1" dirty="0">
                <a:latin typeface="Calibri"/>
                <a:ea typeface="Calibri"/>
                <a:cs typeface="Calibri"/>
                <a:sym typeface="Calibri"/>
              </a:rPr>
              <a:t>Palpitations</a:t>
            </a:r>
            <a:endParaRPr dirty="0"/>
          </a:p>
          <a:p>
            <a:pPr marL="557213" lvl="0" indent="-557213" algn="l" rtl="0">
              <a:spcBef>
                <a:spcPts val="600"/>
              </a:spcBef>
              <a:spcAft>
                <a:spcPts val="0"/>
              </a:spcAft>
              <a:buClr>
                <a:srgbClr val="000000"/>
              </a:buClr>
              <a:buSzPts val="4400"/>
              <a:buFont typeface="Arial"/>
              <a:buChar char="•"/>
            </a:pPr>
            <a:r>
              <a:rPr lang="en-US" sz="4400" b="1" i="1" dirty="0">
                <a:latin typeface="Calibri"/>
                <a:ea typeface="Calibri"/>
                <a:cs typeface="Calibri"/>
                <a:sym typeface="Calibri"/>
              </a:rPr>
              <a:t>Sweating</a:t>
            </a:r>
            <a:endParaRPr dirty="0"/>
          </a:p>
          <a:p>
            <a:pPr marL="557213" lvl="0" indent="-557213" algn="l" rtl="0">
              <a:spcBef>
                <a:spcPts val="600"/>
              </a:spcBef>
              <a:spcAft>
                <a:spcPts val="0"/>
              </a:spcAft>
              <a:buClr>
                <a:srgbClr val="000000"/>
              </a:buClr>
              <a:buSzPts val="4400"/>
              <a:buFont typeface="Arial"/>
              <a:buChar char="•"/>
            </a:pPr>
            <a:r>
              <a:rPr lang="en-US" sz="4400" dirty="0">
                <a:latin typeface="Calibri"/>
                <a:ea typeface="Calibri"/>
                <a:cs typeface="Calibri"/>
                <a:sym typeface="Calibri"/>
              </a:rPr>
              <a:t>Skin blanching/ pallor</a:t>
            </a:r>
            <a:endParaRPr dirty="0"/>
          </a:p>
          <a:p>
            <a:pPr marL="557213" lvl="0" indent="-557213" algn="l" rtl="0">
              <a:spcBef>
                <a:spcPts val="600"/>
              </a:spcBef>
              <a:spcAft>
                <a:spcPts val="0"/>
              </a:spcAft>
              <a:buClr>
                <a:srgbClr val="000000"/>
              </a:buClr>
              <a:buSzPts val="4400"/>
              <a:buFont typeface="Arial"/>
              <a:buChar char="•"/>
            </a:pPr>
            <a:r>
              <a:rPr lang="en-US" sz="4400" dirty="0">
                <a:latin typeface="Calibri"/>
                <a:ea typeface="Calibri"/>
                <a:cs typeface="Calibri"/>
                <a:sym typeface="Calibri"/>
              </a:rPr>
              <a:t>Anxiety</a:t>
            </a:r>
            <a:endParaRPr dirty="0"/>
          </a:p>
          <a:p>
            <a:pPr marL="557213" lvl="0" indent="-557213" algn="l" rtl="0">
              <a:spcBef>
                <a:spcPts val="600"/>
              </a:spcBef>
              <a:spcAft>
                <a:spcPts val="0"/>
              </a:spcAft>
              <a:buClr>
                <a:srgbClr val="000000"/>
              </a:buClr>
              <a:buSzPts val="4400"/>
              <a:buFont typeface="Arial"/>
              <a:buChar char="•"/>
            </a:pPr>
            <a:r>
              <a:rPr lang="en-US" sz="4400" dirty="0">
                <a:latin typeface="Calibri"/>
                <a:ea typeface="Calibri"/>
                <a:cs typeface="Calibri"/>
                <a:sym typeface="Calibri"/>
              </a:rPr>
              <a:t>Orthostatic hypotension</a:t>
            </a:r>
            <a:endParaRPr sz="4400" dirty="0">
              <a:latin typeface="Calibri"/>
              <a:ea typeface="Calibri"/>
              <a:cs typeface="Calibri"/>
              <a:sym typeface="Calibri"/>
            </a:endParaRPr>
          </a:p>
        </p:txBody>
      </p:sp>
      <p:sp>
        <p:nvSpPr>
          <p:cNvPr id="855" name="Google Shape;855;p112"/>
          <p:cNvSpPr/>
          <p:nvPr/>
        </p:nvSpPr>
        <p:spPr>
          <a:xfrm>
            <a:off x="7035800" y="1781175"/>
            <a:ext cx="5867400" cy="5410200"/>
          </a:xfrm>
          <a:prstGeom prst="rect">
            <a:avLst/>
          </a:prstGeom>
          <a:noFill/>
          <a:ln>
            <a:noFill/>
          </a:ln>
        </p:spPr>
        <p:txBody>
          <a:bodyPr spcFirstLastPara="1" wrap="square" lIns="126425" tIns="72225" rIns="126425" bIns="72225" anchor="t" anchorCtr="0">
            <a:noAutofit/>
          </a:bodyPr>
          <a:lstStyle/>
          <a:p>
            <a:pPr marL="557213" marR="0" lvl="0" indent="-557213" algn="l" rtl="0">
              <a:spcBef>
                <a:spcPts val="0"/>
              </a:spcBef>
              <a:spcAft>
                <a:spcPts val="0"/>
              </a:spcAft>
              <a:buClr>
                <a:srgbClr val="000000"/>
              </a:buClr>
              <a:buSzPts val="4400"/>
              <a:buFont typeface="Arial"/>
              <a:buChar char="•"/>
            </a:pPr>
            <a:r>
              <a:rPr lang="en-US" sz="4400">
                <a:solidFill>
                  <a:srgbClr val="000000"/>
                </a:solidFill>
                <a:latin typeface="Calibri"/>
                <a:ea typeface="Calibri"/>
                <a:cs typeface="Calibri"/>
                <a:sym typeface="Calibri"/>
              </a:rPr>
              <a:t>Fatigue</a:t>
            </a:r>
            <a:endParaRPr/>
          </a:p>
          <a:p>
            <a:pPr marL="557213" marR="0" lvl="0" indent="-557213" algn="l" rtl="0">
              <a:spcBef>
                <a:spcPts val="600"/>
              </a:spcBef>
              <a:spcAft>
                <a:spcPts val="0"/>
              </a:spcAft>
              <a:buClr>
                <a:srgbClr val="000000"/>
              </a:buClr>
              <a:buSzPts val="4400"/>
              <a:buFont typeface="Arial"/>
              <a:buChar char="•"/>
            </a:pPr>
            <a:r>
              <a:rPr lang="en-US" sz="4400">
                <a:solidFill>
                  <a:srgbClr val="000000"/>
                </a:solidFill>
                <a:latin typeface="Calibri"/>
                <a:ea typeface="Calibri"/>
                <a:cs typeface="Calibri"/>
                <a:sym typeface="Calibri"/>
              </a:rPr>
              <a:t>Weight loss</a:t>
            </a:r>
            <a:endParaRPr/>
          </a:p>
          <a:p>
            <a:pPr marL="557213" marR="0" lvl="0" indent="-557213" algn="l" rtl="0">
              <a:spcBef>
                <a:spcPts val="600"/>
              </a:spcBef>
              <a:spcAft>
                <a:spcPts val="0"/>
              </a:spcAft>
              <a:buClr>
                <a:srgbClr val="000000"/>
              </a:buClr>
              <a:buSzPts val="4400"/>
              <a:buFont typeface="Arial"/>
              <a:buChar char="•"/>
            </a:pPr>
            <a:r>
              <a:rPr lang="en-US" sz="4400" b="1" i="1">
                <a:solidFill>
                  <a:srgbClr val="000000"/>
                </a:solidFill>
                <a:latin typeface="Calibri"/>
                <a:ea typeface="Calibri"/>
                <a:cs typeface="Calibri"/>
                <a:sym typeface="Calibri"/>
              </a:rPr>
              <a:t>Chest pain</a:t>
            </a:r>
            <a:endParaRPr/>
          </a:p>
          <a:p>
            <a:pPr marL="557213" marR="0" lvl="0" indent="-557213" algn="l" rtl="0">
              <a:spcBef>
                <a:spcPts val="600"/>
              </a:spcBef>
              <a:spcAft>
                <a:spcPts val="0"/>
              </a:spcAft>
              <a:buClr>
                <a:srgbClr val="000000"/>
              </a:buClr>
              <a:buSzPts val="4400"/>
              <a:buFont typeface="Arial"/>
              <a:buChar char="•"/>
            </a:pPr>
            <a:r>
              <a:rPr lang="en-US" sz="4400">
                <a:solidFill>
                  <a:srgbClr val="000000"/>
                </a:solidFill>
                <a:latin typeface="Calibri"/>
                <a:ea typeface="Calibri"/>
                <a:cs typeface="Calibri"/>
                <a:sym typeface="Calibri"/>
              </a:rPr>
              <a:t>Abdominal pain</a:t>
            </a:r>
            <a:endParaRPr/>
          </a:p>
          <a:p>
            <a:pPr marL="557213" marR="0" lvl="0" indent="-557213" algn="l" rtl="0">
              <a:spcBef>
                <a:spcPts val="600"/>
              </a:spcBef>
              <a:spcAft>
                <a:spcPts val="0"/>
              </a:spcAft>
              <a:buClr>
                <a:srgbClr val="000000"/>
              </a:buClr>
              <a:buSzPts val="4400"/>
              <a:buFont typeface="Arial"/>
              <a:buChar char="•"/>
            </a:pPr>
            <a:r>
              <a:rPr lang="en-US" sz="4400" b="1" i="1">
                <a:solidFill>
                  <a:srgbClr val="000000"/>
                </a:solidFill>
                <a:latin typeface="Calibri"/>
                <a:ea typeface="Calibri"/>
                <a:cs typeface="Calibri"/>
                <a:sym typeface="Calibri"/>
              </a:rPr>
              <a:t>Wide fluctuations in blood pressure</a:t>
            </a:r>
            <a:endParaRPr/>
          </a:p>
          <a:p>
            <a:pPr marL="557213" marR="0" lvl="0" indent="-557213" algn="l" rtl="0">
              <a:spcBef>
                <a:spcPts val="600"/>
              </a:spcBef>
              <a:spcAft>
                <a:spcPts val="0"/>
              </a:spcAft>
              <a:buClr>
                <a:srgbClr val="000000"/>
              </a:buClr>
              <a:buSzPts val="4400"/>
              <a:buFont typeface="Arial"/>
              <a:buChar char="•"/>
            </a:pPr>
            <a:r>
              <a:rPr lang="en-US" sz="4400">
                <a:solidFill>
                  <a:srgbClr val="000000"/>
                </a:solidFill>
                <a:latin typeface="Calibri"/>
                <a:ea typeface="Calibri"/>
                <a:cs typeface="Calibri"/>
                <a:sym typeface="Calibri"/>
              </a:rPr>
              <a:t>Nausea</a:t>
            </a:r>
            <a:endParaRPr/>
          </a:p>
        </p:txBody>
      </p:sp>
      <p:sp>
        <p:nvSpPr>
          <p:cNvPr id="856" name="Google Shape;856;p112"/>
          <p:cNvSpPr txBox="1"/>
          <p:nvPr/>
        </p:nvSpPr>
        <p:spPr>
          <a:xfrm>
            <a:off x="323864" y="7385050"/>
            <a:ext cx="12355500" cy="2124000"/>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Clr>
                <a:srgbClr val="000000"/>
              </a:buClr>
              <a:buSzPts val="4400"/>
              <a:buFont typeface="Arial"/>
              <a:buChar char="•"/>
            </a:pPr>
            <a:r>
              <a:rPr lang="en-US" sz="4400" dirty="0">
                <a:solidFill>
                  <a:srgbClr val="000000"/>
                </a:solidFill>
                <a:latin typeface="Calibri"/>
                <a:ea typeface="Calibri"/>
                <a:cs typeface="Calibri"/>
                <a:sym typeface="Calibri"/>
              </a:rPr>
              <a:t>Symptoms may occur daily- monthly, lasting </a:t>
            </a:r>
            <a:r>
              <a:rPr lang="en-US" sz="4400" dirty="0">
                <a:latin typeface="Calibri"/>
                <a:ea typeface="Calibri"/>
                <a:cs typeface="Calibri"/>
                <a:sym typeface="Calibri"/>
              </a:rPr>
              <a:t>minute</a:t>
            </a:r>
            <a:r>
              <a:rPr lang="en-US" sz="4400" dirty="0">
                <a:solidFill>
                  <a:srgbClr val="000000"/>
                </a:solidFill>
                <a:latin typeface="Calibri"/>
                <a:ea typeface="Calibri"/>
                <a:cs typeface="Calibri"/>
                <a:sym typeface="Calibri"/>
              </a:rPr>
              <a:t>s to hours and tend to worsen over time as the tumor grows.</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pic>
        <p:nvPicPr>
          <p:cNvPr id="861" name="Google Shape;861;p113" descr="Pheochromacytoma.jpg"/>
          <p:cNvPicPr preferRelativeResize="0"/>
          <p:nvPr/>
        </p:nvPicPr>
        <p:blipFill rotWithShape="1">
          <a:blip r:embed="rId3">
            <a:alphaModFix/>
          </a:blip>
          <a:srcRect/>
          <a:stretch/>
        </p:blipFill>
        <p:spPr>
          <a:xfrm>
            <a:off x="0" y="0"/>
            <a:ext cx="13004800" cy="97536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114"/>
          <p:cNvSpPr txBox="1">
            <a:spLocks noGrp="1"/>
          </p:cNvSpPr>
          <p:nvPr>
            <p:ph type="title"/>
          </p:nvPr>
        </p:nvSpPr>
        <p:spPr>
          <a:xfrm>
            <a:off x="649288" y="169333"/>
            <a:ext cx="11704637" cy="1354668"/>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chemeClr val="accent5">
                    <a:lumMod val="50000"/>
                  </a:schemeClr>
                </a:solidFill>
                <a:latin typeface="Arial"/>
                <a:ea typeface="Arial"/>
                <a:cs typeface="Arial"/>
                <a:sym typeface="Arial"/>
              </a:rPr>
              <a:t>Making the Diagnosis of </a:t>
            </a:r>
            <a:r>
              <a:rPr lang="en-US" sz="6200" dirty="0" err="1">
                <a:solidFill>
                  <a:schemeClr val="accent5">
                    <a:lumMod val="50000"/>
                  </a:schemeClr>
                </a:solidFill>
                <a:latin typeface="Arial"/>
                <a:ea typeface="Arial"/>
                <a:cs typeface="Arial"/>
                <a:sym typeface="Arial"/>
              </a:rPr>
              <a:t>Pheo</a:t>
            </a:r>
            <a:endParaRPr dirty="0">
              <a:solidFill>
                <a:schemeClr val="accent5">
                  <a:lumMod val="50000"/>
                </a:schemeClr>
              </a:solidFill>
            </a:endParaRPr>
          </a:p>
        </p:txBody>
      </p:sp>
      <p:sp>
        <p:nvSpPr>
          <p:cNvPr id="867" name="Google Shape;867;p114"/>
          <p:cNvSpPr txBox="1">
            <a:spLocks noGrp="1"/>
          </p:cNvSpPr>
          <p:nvPr>
            <p:ph type="body" idx="1"/>
          </p:nvPr>
        </p:nvSpPr>
        <p:spPr>
          <a:xfrm>
            <a:off x="169333" y="1524001"/>
            <a:ext cx="12672917" cy="8060266"/>
          </a:xfrm>
          <a:prstGeom prst="rect">
            <a:avLst/>
          </a:prstGeom>
          <a:noFill/>
          <a:ln>
            <a:noFill/>
          </a:ln>
        </p:spPr>
        <p:txBody>
          <a:bodyPr spcFirstLastPara="1" wrap="square" lIns="126425" tIns="72225" rIns="126425" bIns="72225" anchor="t" anchorCtr="0">
            <a:noAutofit/>
          </a:bodyPr>
          <a:lstStyle/>
          <a:p>
            <a:pPr marL="381000" lvl="0" indent="-381000" algn="l" rtl="0">
              <a:spcBef>
                <a:spcPts val="600"/>
              </a:spcBef>
              <a:spcAft>
                <a:spcPts val="600"/>
              </a:spcAft>
              <a:buClr>
                <a:srgbClr val="000000"/>
              </a:buClr>
              <a:buSzPts val="3520"/>
              <a:buFont typeface="Calibri"/>
              <a:buChar char="•"/>
            </a:pPr>
            <a:r>
              <a:rPr lang="en-US" sz="4400" dirty="0">
                <a:latin typeface="Calibri" panose="020F0502020204030204" pitchFamily="34" charset="0"/>
                <a:ea typeface="Calibri"/>
                <a:cs typeface="Calibri" panose="020F0502020204030204" pitchFamily="34" charset="0"/>
                <a:sym typeface="Calibri"/>
              </a:rPr>
              <a:t>Pheochromocytomas are best diagnosed by measuring the levels of catecholamine metabolites in the plasma or the urine.</a:t>
            </a:r>
            <a:endParaRPr sz="4400" dirty="0">
              <a:latin typeface="Calibri" panose="020F0502020204030204" pitchFamily="34" charset="0"/>
              <a:ea typeface="Calibri"/>
              <a:cs typeface="Calibri" panose="020F0502020204030204" pitchFamily="34" charset="0"/>
              <a:sym typeface="Calibri"/>
            </a:endParaRPr>
          </a:p>
          <a:p>
            <a:pPr marL="0" lvl="0" indent="0" algn="l" rtl="0">
              <a:spcBef>
                <a:spcPts val="600"/>
              </a:spcBef>
              <a:spcAft>
                <a:spcPts val="600"/>
              </a:spcAft>
              <a:buNone/>
            </a:pPr>
            <a:endParaRPr sz="3000" dirty="0">
              <a:latin typeface="Calibri" panose="020F0502020204030204" pitchFamily="34" charset="0"/>
              <a:ea typeface="Calibri"/>
              <a:cs typeface="Calibri" panose="020F0502020204030204" pitchFamily="34" charset="0"/>
              <a:sym typeface="Calibri"/>
            </a:endParaRPr>
          </a:p>
          <a:p>
            <a:pPr marL="381000" lvl="0" indent="-381000" algn="l" rtl="0">
              <a:spcBef>
                <a:spcPts val="600"/>
              </a:spcBef>
              <a:spcAft>
                <a:spcPts val="600"/>
              </a:spcAft>
              <a:buClr>
                <a:srgbClr val="000000"/>
              </a:buClr>
              <a:buSzPts val="3520"/>
              <a:buFont typeface="Calibri"/>
              <a:buChar char="•"/>
            </a:pPr>
            <a:r>
              <a:rPr lang="en-US" sz="4400" dirty="0">
                <a:latin typeface="Calibri" panose="020F0502020204030204" pitchFamily="34" charset="0"/>
                <a:ea typeface="Calibri"/>
                <a:cs typeface="Calibri" panose="020F0502020204030204" pitchFamily="34" charset="0"/>
                <a:sym typeface="Calibri"/>
              </a:rPr>
              <a:t>Use </a:t>
            </a:r>
            <a:r>
              <a:rPr lang="en-US" sz="4400" b="1" i="1" dirty="0">
                <a:latin typeface="Calibri" panose="020F0502020204030204" pitchFamily="34" charset="0"/>
                <a:ea typeface="Calibri"/>
                <a:cs typeface="Calibri" panose="020F0502020204030204" pitchFamily="34" charset="0"/>
                <a:sym typeface="Calibri"/>
              </a:rPr>
              <a:t>plasma free </a:t>
            </a:r>
            <a:r>
              <a:rPr lang="en-US" sz="4400" b="1" i="1" dirty="0" err="1">
                <a:latin typeface="Calibri" panose="020F0502020204030204" pitchFamily="34" charset="0"/>
                <a:ea typeface="Calibri"/>
                <a:cs typeface="Calibri" panose="020F0502020204030204" pitchFamily="34" charset="0"/>
                <a:sym typeface="Calibri"/>
              </a:rPr>
              <a:t>metanephrine</a:t>
            </a:r>
            <a:r>
              <a:rPr lang="en-US" sz="4400" b="1" i="1" dirty="0">
                <a:latin typeface="Calibri" panose="020F0502020204030204" pitchFamily="34" charset="0"/>
                <a:ea typeface="Calibri"/>
                <a:cs typeface="Calibri" panose="020F0502020204030204" pitchFamily="34" charset="0"/>
                <a:sym typeface="Calibri"/>
              </a:rPr>
              <a:t> testing in patients who are at high risk of having pheochromocytoma</a:t>
            </a:r>
            <a:endParaRPr lang="en-US" sz="4400" dirty="0">
              <a:latin typeface="Calibri" panose="020F0502020204030204" pitchFamily="34" charset="0"/>
              <a:ea typeface="Calibri"/>
              <a:cs typeface="Calibri" panose="020F0502020204030204" pitchFamily="34" charset="0"/>
              <a:sym typeface="Calibri"/>
            </a:endParaRPr>
          </a:p>
          <a:p>
            <a:pPr marL="838200" lvl="1" indent="-381000">
              <a:spcBef>
                <a:spcPts val="600"/>
              </a:spcBef>
              <a:spcAft>
                <a:spcPts val="600"/>
              </a:spcAft>
              <a:buSzPts val="3520"/>
              <a:buFont typeface="Calibri"/>
              <a:buChar char="•"/>
            </a:pPr>
            <a:r>
              <a:rPr lang="en-US" sz="4400" dirty="0">
                <a:latin typeface="Calibri" panose="020F0502020204030204" pitchFamily="34" charset="0"/>
                <a:ea typeface="Calibri"/>
                <a:cs typeface="Calibri" panose="020F0502020204030204" pitchFamily="34" charset="0"/>
                <a:sym typeface="Calibri"/>
              </a:rPr>
              <a:t>Those with predisposing genetic syndromes </a:t>
            </a:r>
          </a:p>
          <a:p>
            <a:pPr marL="838200" lvl="1" indent="-381000">
              <a:spcBef>
                <a:spcPts val="600"/>
              </a:spcBef>
              <a:spcAft>
                <a:spcPts val="600"/>
              </a:spcAft>
              <a:buSzPts val="3520"/>
              <a:buFont typeface="Calibri"/>
              <a:buChar char="•"/>
            </a:pPr>
            <a:r>
              <a:rPr lang="en-US" sz="4400" dirty="0">
                <a:latin typeface="Calibri" panose="020F0502020204030204" pitchFamily="34" charset="0"/>
                <a:ea typeface="Calibri"/>
                <a:cs typeface="Calibri" panose="020F0502020204030204" pitchFamily="34" charset="0"/>
                <a:sym typeface="Calibri"/>
              </a:rPr>
              <a:t>Persons with a family/personal history of </a:t>
            </a:r>
            <a:r>
              <a:rPr lang="en-US" sz="4400" dirty="0" err="1">
                <a:latin typeface="Calibri" panose="020F0502020204030204" pitchFamily="34" charset="0"/>
                <a:ea typeface="Calibri"/>
                <a:cs typeface="Calibri" panose="020F0502020204030204" pitchFamily="34" charset="0"/>
                <a:sym typeface="Calibri"/>
              </a:rPr>
              <a:t>pheo</a:t>
            </a:r>
            <a:r>
              <a:rPr lang="en-US" sz="4400" dirty="0">
                <a:latin typeface="Calibri" panose="020F0502020204030204" pitchFamily="34" charset="0"/>
                <a:ea typeface="Calibri"/>
                <a:cs typeface="Calibri" panose="020F0502020204030204" pitchFamily="34" charset="0"/>
                <a:sym typeface="Calibri"/>
              </a:rPr>
              <a:t> </a:t>
            </a:r>
          </a:p>
          <a:p>
            <a:pPr marL="838200" lvl="1" indent="-381000">
              <a:spcBef>
                <a:spcPts val="600"/>
              </a:spcBef>
              <a:spcAft>
                <a:spcPts val="600"/>
              </a:spcAft>
              <a:buSzPts val="3520"/>
              <a:buFont typeface="Calibri"/>
              <a:buChar char="•"/>
            </a:pPr>
            <a:endParaRPr lang="en-US" sz="3000" dirty="0">
              <a:latin typeface="Calibri" panose="020F0502020204030204" pitchFamily="34" charset="0"/>
              <a:ea typeface="Calibri"/>
              <a:cs typeface="Calibri" panose="020F0502020204030204" pitchFamily="34" charset="0"/>
              <a:sym typeface="Calibri"/>
            </a:endParaRPr>
          </a:p>
          <a:p>
            <a:pPr marL="381000" lvl="0" indent="-381000" algn="l" rtl="0">
              <a:spcBef>
                <a:spcPts val="600"/>
              </a:spcBef>
              <a:spcAft>
                <a:spcPts val="600"/>
              </a:spcAft>
              <a:buClr>
                <a:srgbClr val="000000"/>
              </a:buClr>
              <a:buSzPts val="3520"/>
              <a:buFont typeface="Calibri"/>
              <a:buChar char="•"/>
            </a:pPr>
            <a:r>
              <a:rPr lang="en-US" sz="4400" dirty="0">
                <a:latin typeface="Calibri" panose="020F0502020204030204" pitchFamily="34" charset="0"/>
                <a:ea typeface="Calibri"/>
                <a:cs typeface="Calibri" panose="020F0502020204030204" pitchFamily="34" charset="0"/>
                <a:sym typeface="Calibri"/>
              </a:rPr>
              <a:t>Plasma free </a:t>
            </a:r>
            <a:r>
              <a:rPr lang="en-US" sz="4400" dirty="0" err="1">
                <a:latin typeface="Calibri" panose="020F0502020204030204" pitchFamily="34" charset="0"/>
                <a:ea typeface="Calibri"/>
                <a:cs typeface="Calibri" panose="020F0502020204030204" pitchFamily="34" charset="0"/>
                <a:sym typeface="Calibri"/>
              </a:rPr>
              <a:t>metanephrine</a:t>
            </a:r>
            <a:r>
              <a:rPr lang="en-US" sz="4400" dirty="0">
                <a:latin typeface="Calibri" panose="020F0502020204030204" pitchFamily="34" charset="0"/>
                <a:ea typeface="Calibri"/>
                <a:cs typeface="Calibri" panose="020F0502020204030204" pitchFamily="34" charset="0"/>
                <a:sym typeface="Calibri"/>
              </a:rPr>
              <a:t> testing is more sensitive but less specific.</a:t>
            </a:r>
            <a:endParaRPr sz="4400" dirty="0">
              <a:latin typeface="Calibri" panose="020F0502020204030204" pitchFamily="34" charset="0"/>
              <a:cs typeface="Calibri" panose="020F0502020204030204" pitchFamily="34" charset="0"/>
            </a:endParaRPr>
          </a:p>
          <a:p>
            <a:pPr marL="381000" lvl="0" indent="-190500" algn="l" rtl="0">
              <a:spcBef>
                <a:spcPts val="700"/>
              </a:spcBef>
              <a:spcAft>
                <a:spcPts val="0"/>
              </a:spcAft>
              <a:buClr>
                <a:srgbClr val="000000"/>
              </a:buClr>
              <a:buSzPts val="3000"/>
              <a:buFont typeface="Arial"/>
              <a:buNone/>
            </a:pPr>
            <a:endParaRPr sz="3000" b="1" i="1" dirty="0">
              <a:latin typeface="Calibri"/>
              <a:ea typeface="Calibri"/>
              <a:cs typeface="Calibri"/>
              <a:sym typeface="Calibri"/>
            </a:endParaRPr>
          </a:p>
          <a:p>
            <a:pPr marL="381000" lvl="0" indent="0" algn="l" rtl="0">
              <a:spcBef>
                <a:spcPts val="700"/>
              </a:spcBef>
              <a:spcAft>
                <a:spcPts val="0"/>
              </a:spcAft>
              <a:buNone/>
            </a:pPr>
            <a:endParaRPr dirty="0">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114"/>
          <p:cNvSpPr txBox="1">
            <a:spLocks noGrp="1"/>
          </p:cNvSpPr>
          <p:nvPr>
            <p:ph type="title"/>
          </p:nvPr>
        </p:nvSpPr>
        <p:spPr>
          <a:xfrm>
            <a:off x="649288" y="1"/>
            <a:ext cx="11704637" cy="15240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chemeClr val="accent5">
                    <a:lumMod val="50000"/>
                  </a:schemeClr>
                </a:solidFill>
                <a:latin typeface="Arial"/>
                <a:ea typeface="Arial"/>
                <a:cs typeface="Arial"/>
                <a:sym typeface="Arial"/>
              </a:rPr>
              <a:t>Making the Diagnosis of </a:t>
            </a:r>
            <a:r>
              <a:rPr lang="en-US" sz="6200" dirty="0" err="1">
                <a:solidFill>
                  <a:schemeClr val="accent5">
                    <a:lumMod val="50000"/>
                  </a:schemeClr>
                </a:solidFill>
                <a:latin typeface="Arial"/>
                <a:ea typeface="Arial"/>
                <a:cs typeface="Arial"/>
                <a:sym typeface="Arial"/>
              </a:rPr>
              <a:t>Pheo</a:t>
            </a:r>
            <a:endParaRPr dirty="0">
              <a:solidFill>
                <a:schemeClr val="accent5">
                  <a:lumMod val="50000"/>
                </a:schemeClr>
              </a:solidFill>
            </a:endParaRPr>
          </a:p>
        </p:txBody>
      </p:sp>
      <p:sp>
        <p:nvSpPr>
          <p:cNvPr id="867" name="Google Shape;867;p114"/>
          <p:cNvSpPr txBox="1">
            <a:spLocks noGrp="1"/>
          </p:cNvSpPr>
          <p:nvPr>
            <p:ph type="body" idx="1"/>
          </p:nvPr>
        </p:nvSpPr>
        <p:spPr>
          <a:xfrm>
            <a:off x="186267" y="1524001"/>
            <a:ext cx="12655983" cy="7904099"/>
          </a:xfrm>
          <a:prstGeom prst="rect">
            <a:avLst/>
          </a:prstGeom>
          <a:noFill/>
          <a:ln>
            <a:noFill/>
          </a:ln>
        </p:spPr>
        <p:txBody>
          <a:bodyPr spcFirstLastPara="1" wrap="square" lIns="126425" tIns="72225" rIns="126425" bIns="72225" anchor="t" anchorCtr="0">
            <a:noAutofit/>
          </a:bodyPr>
          <a:lstStyle/>
          <a:p>
            <a:pPr marL="420624" indent="-457200">
              <a:spcBef>
                <a:spcPts val="600"/>
              </a:spcBef>
              <a:spcAft>
                <a:spcPts val="600"/>
              </a:spcAft>
              <a:buSzPts val="3520"/>
              <a:buFont typeface="Calibri"/>
              <a:buChar char="•"/>
            </a:pPr>
            <a:r>
              <a:rPr lang="en-US" sz="4400" dirty="0">
                <a:latin typeface="Calibri" panose="020F0502020204030204" pitchFamily="34" charset="0"/>
                <a:ea typeface="Calibri"/>
                <a:cs typeface="Calibri" panose="020F0502020204030204" pitchFamily="34" charset="0"/>
                <a:sym typeface="Calibri"/>
              </a:rPr>
              <a:t>For persons at lower risk of having </a:t>
            </a:r>
            <a:r>
              <a:rPr lang="en-US" sz="4400" dirty="0" err="1">
                <a:latin typeface="Calibri" panose="020F0502020204030204" pitchFamily="34" charset="0"/>
                <a:ea typeface="Calibri"/>
                <a:cs typeface="Calibri" panose="020F0502020204030204" pitchFamily="34" charset="0"/>
                <a:sym typeface="Calibri"/>
              </a:rPr>
              <a:t>pheo</a:t>
            </a:r>
            <a:r>
              <a:rPr lang="en-US" sz="4400" dirty="0">
                <a:latin typeface="Calibri" panose="020F0502020204030204" pitchFamily="34" charset="0"/>
                <a:ea typeface="Calibri"/>
                <a:cs typeface="Calibri" panose="020F0502020204030204" pitchFamily="34" charset="0"/>
                <a:sym typeface="Calibri"/>
              </a:rPr>
              <a:t>, use a </a:t>
            </a:r>
            <a:r>
              <a:rPr lang="en-US" sz="4400" b="1" i="1" dirty="0">
                <a:latin typeface="Calibri" panose="020F0502020204030204" pitchFamily="34" charset="0"/>
                <a:ea typeface="Calibri"/>
                <a:cs typeface="Calibri" panose="020F0502020204030204" pitchFamily="34" charset="0"/>
                <a:sym typeface="Calibri"/>
              </a:rPr>
              <a:t>24-hour urine collection measuring levels of creatinine, catecholamines, </a:t>
            </a:r>
            <a:r>
              <a:rPr lang="en-US" sz="4400" b="1" i="1" dirty="0" err="1">
                <a:latin typeface="Calibri" panose="020F0502020204030204" pitchFamily="34" charset="0"/>
                <a:ea typeface="Calibri"/>
                <a:cs typeface="Calibri" panose="020F0502020204030204" pitchFamily="34" charset="0"/>
                <a:sym typeface="Calibri"/>
              </a:rPr>
              <a:t>vanllylmandelic</a:t>
            </a:r>
            <a:r>
              <a:rPr lang="en-US" sz="4400" b="1" i="1" dirty="0">
                <a:latin typeface="Calibri" panose="020F0502020204030204" pitchFamily="34" charset="0"/>
                <a:ea typeface="Calibri"/>
                <a:cs typeface="Calibri" panose="020F0502020204030204" pitchFamily="34" charset="0"/>
                <a:sym typeface="Calibri"/>
              </a:rPr>
              <a:t> acid and </a:t>
            </a:r>
            <a:r>
              <a:rPr lang="en-US" sz="4400" b="1" i="1" dirty="0" err="1">
                <a:latin typeface="Calibri" panose="020F0502020204030204" pitchFamily="34" charset="0"/>
                <a:ea typeface="Calibri"/>
                <a:cs typeface="Calibri" panose="020F0502020204030204" pitchFamily="34" charset="0"/>
                <a:sym typeface="Calibri"/>
              </a:rPr>
              <a:t>metanephrines</a:t>
            </a:r>
            <a:r>
              <a:rPr lang="en-US" sz="4400" b="1" i="1" dirty="0">
                <a:latin typeface="Calibri" panose="020F0502020204030204" pitchFamily="34" charset="0"/>
                <a:ea typeface="Calibri"/>
                <a:cs typeface="Calibri" panose="020F0502020204030204" pitchFamily="34" charset="0"/>
                <a:sym typeface="Calibri"/>
              </a:rPr>
              <a:t>.</a:t>
            </a:r>
          </a:p>
          <a:p>
            <a:pPr marL="1335024" lvl="2" indent="-457200">
              <a:spcBef>
                <a:spcPts val="600"/>
              </a:spcBef>
              <a:spcAft>
                <a:spcPts val="600"/>
              </a:spcAft>
              <a:buSzPts val="3520"/>
              <a:buFont typeface="Calibri"/>
              <a:buChar char="•"/>
            </a:pPr>
            <a:r>
              <a:rPr lang="en-US" sz="4000" dirty="0">
                <a:latin typeface="Calibri" panose="020F0502020204030204" pitchFamily="34" charset="0"/>
                <a:ea typeface="Calibri"/>
                <a:cs typeface="Calibri" panose="020F0502020204030204" pitchFamily="34" charset="0"/>
                <a:sym typeface="Calibri"/>
              </a:rPr>
              <a:t>Time the test to occur during or immediately after a hypertensive crisis if possible.</a:t>
            </a:r>
          </a:p>
          <a:p>
            <a:pPr marL="420624" lvl="0" indent="-457200" algn="l" rtl="0">
              <a:spcBef>
                <a:spcPts val="600"/>
              </a:spcBef>
              <a:spcAft>
                <a:spcPts val="600"/>
              </a:spcAft>
              <a:buClr>
                <a:srgbClr val="000000"/>
              </a:buClr>
              <a:buSzPts val="3520"/>
              <a:buFont typeface="Calibri"/>
              <a:buChar char="•"/>
            </a:pPr>
            <a:endParaRPr sz="3000" dirty="0">
              <a:latin typeface="Calibri" panose="020F0502020204030204" pitchFamily="34" charset="0"/>
              <a:cs typeface="Calibri" panose="020F0502020204030204" pitchFamily="34" charset="0"/>
            </a:endParaRPr>
          </a:p>
          <a:p>
            <a:pPr marL="420624" lvl="0" indent="-457200" algn="l" rtl="0">
              <a:spcBef>
                <a:spcPts val="600"/>
              </a:spcBef>
              <a:spcAft>
                <a:spcPts val="600"/>
              </a:spcAft>
              <a:buClr>
                <a:srgbClr val="000000"/>
              </a:buClr>
              <a:buSzPts val="3520"/>
              <a:buFont typeface="Calibri"/>
              <a:buChar char="•"/>
            </a:pPr>
            <a:r>
              <a:rPr lang="en-US" sz="4400" dirty="0">
                <a:latin typeface="Calibri" panose="020F0502020204030204" pitchFamily="34" charset="0"/>
                <a:ea typeface="Calibri"/>
                <a:cs typeface="Calibri" panose="020F0502020204030204" pitchFamily="34" charset="0"/>
                <a:sym typeface="Calibri"/>
              </a:rPr>
              <a:t>If either biochemical test is positive, obtain imaging to </a:t>
            </a:r>
            <a:r>
              <a:rPr lang="en-US" sz="4400" b="1" i="1" dirty="0">
                <a:latin typeface="Calibri" panose="020F0502020204030204" pitchFamily="34" charset="0"/>
                <a:ea typeface="Calibri"/>
                <a:cs typeface="Calibri" panose="020F0502020204030204" pitchFamily="34" charset="0"/>
                <a:sym typeface="Calibri"/>
              </a:rPr>
              <a:t>evaluate for the pheochromocytoma location</a:t>
            </a:r>
            <a:r>
              <a:rPr lang="en-US" sz="4400" dirty="0">
                <a:latin typeface="Calibri" panose="020F0502020204030204" pitchFamily="34" charset="0"/>
                <a:ea typeface="Calibri"/>
                <a:cs typeface="Calibri" panose="020F0502020204030204" pitchFamily="34" charset="0"/>
                <a:sym typeface="Calibri"/>
              </a:rPr>
              <a:t>.</a:t>
            </a:r>
          </a:p>
          <a:p>
            <a:pPr marL="1335024" lvl="4" indent="-457200">
              <a:spcBef>
                <a:spcPts val="600"/>
              </a:spcBef>
              <a:spcAft>
                <a:spcPts val="600"/>
              </a:spcAft>
              <a:buSzPts val="3520"/>
              <a:buFont typeface="Calibri"/>
              <a:buChar char="•"/>
            </a:pPr>
            <a:r>
              <a:rPr lang="en-US" sz="4000" dirty="0">
                <a:latin typeface="Calibri" panose="020F0502020204030204" pitchFamily="34" charset="0"/>
                <a:ea typeface="Calibri"/>
                <a:cs typeface="Calibri" panose="020F0502020204030204" pitchFamily="34" charset="0"/>
                <a:sym typeface="Calibri"/>
              </a:rPr>
              <a:t>CT of the abdomen/pelvis with IV contrast</a:t>
            </a:r>
          </a:p>
          <a:p>
            <a:pPr marL="1335024" lvl="4" indent="-457200">
              <a:spcBef>
                <a:spcPts val="600"/>
              </a:spcBef>
              <a:spcAft>
                <a:spcPts val="600"/>
              </a:spcAft>
              <a:buSzPts val="3520"/>
              <a:buFont typeface="Calibri"/>
              <a:buChar char="•"/>
            </a:pPr>
            <a:r>
              <a:rPr lang="en-US" sz="4000" dirty="0">
                <a:latin typeface="Calibri" panose="020F0502020204030204" pitchFamily="34" charset="0"/>
                <a:ea typeface="Calibri"/>
                <a:cs typeface="Calibri" panose="020F0502020204030204" pitchFamily="34" charset="0"/>
                <a:sym typeface="Calibri"/>
              </a:rPr>
              <a:t>Contrasted MRI of the adrenals </a:t>
            </a:r>
            <a:r>
              <a:rPr lang="en-US" sz="3500" dirty="0">
                <a:latin typeface="Calibri" panose="020F0502020204030204" pitchFamily="34" charset="0"/>
                <a:ea typeface="Calibri"/>
                <a:cs typeface="Calibri" panose="020F0502020204030204" pitchFamily="34" charset="0"/>
                <a:sym typeface="Calibri"/>
              </a:rPr>
              <a:t>(if CT is non-diagnostic</a:t>
            </a:r>
            <a:r>
              <a:rPr lang="en-US" sz="4000" dirty="0">
                <a:latin typeface="Calibri" panose="020F0502020204030204" pitchFamily="34" charset="0"/>
                <a:ea typeface="Calibri"/>
                <a:cs typeface="Calibri" panose="020F0502020204030204" pitchFamily="34" charset="0"/>
                <a:sym typeface="Calibri"/>
              </a:rPr>
              <a:t>)</a:t>
            </a:r>
            <a:endParaRPr sz="4000" dirty="0">
              <a:latin typeface="Calibri" panose="020F0502020204030204" pitchFamily="34" charset="0"/>
              <a:ea typeface="Calibri"/>
              <a:cs typeface="Calibri" panose="020F0502020204030204" pitchFamily="34" charset="0"/>
              <a:sym typeface="Calibri"/>
            </a:endParaRPr>
          </a:p>
          <a:p>
            <a:pPr marL="381000" lvl="0" indent="0" algn="l" rtl="0">
              <a:spcBef>
                <a:spcPts val="700"/>
              </a:spcBef>
              <a:spcAft>
                <a:spcPts val="0"/>
              </a:spcAft>
              <a:buNone/>
            </a:pPr>
            <a:endParaRPr dirty="0">
              <a:latin typeface="Calibri"/>
              <a:ea typeface="Calibri"/>
              <a:cs typeface="Calibri"/>
              <a:sym typeface="Calibri"/>
            </a:endParaRPr>
          </a:p>
        </p:txBody>
      </p:sp>
    </p:spTree>
    <p:extLst>
      <p:ext uri="{BB962C8B-B14F-4D97-AF65-F5344CB8AC3E}">
        <p14:creationId xmlns:p14="http://schemas.microsoft.com/office/powerpoint/2010/main" val="16972672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15"/>
          <p:cNvSpPr txBox="1">
            <a:spLocks noGrp="1"/>
          </p:cNvSpPr>
          <p:nvPr>
            <p:ph type="title"/>
          </p:nvPr>
        </p:nvSpPr>
        <p:spPr>
          <a:xfrm>
            <a:off x="649288" y="152400"/>
            <a:ext cx="11704637" cy="12954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chemeClr val="accent5">
                    <a:lumMod val="50000"/>
                  </a:schemeClr>
                </a:solidFill>
                <a:latin typeface="Arial"/>
                <a:ea typeface="Arial"/>
                <a:cs typeface="Arial"/>
                <a:sym typeface="Arial"/>
              </a:rPr>
              <a:t>Treatment of </a:t>
            </a:r>
            <a:r>
              <a:rPr lang="en-US" sz="6200" dirty="0" err="1">
                <a:solidFill>
                  <a:schemeClr val="accent5">
                    <a:lumMod val="50000"/>
                  </a:schemeClr>
                </a:solidFill>
                <a:latin typeface="Arial"/>
                <a:ea typeface="Arial"/>
                <a:cs typeface="Arial"/>
                <a:sym typeface="Arial"/>
              </a:rPr>
              <a:t>Pheo</a:t>
            </a:r>
            <a:endParaRPr dirty="0">
              <a:solidFill>
                <a:schemeClr val="accent5">
                  <a:lumMod val="50000"/>
                </a:schemeClr>
              </a:solidFill>
            </a:endParaRPr>
          </a:p>
        </p:txBody>
      </p:sp>
      <p:sp>
        <p:nvSpPr>
          <p:cNvPr id="879" name="Google Shape;879;p115"/>
          <p:cNvSpPr txBox="1">
            <a:spLocks noGrp="1"/>
          </p:cNvSpPr>
          <p:nvPr>
            <p:ph type="body" idx="1"/>
          </p:nvPr>
        </p:nvSpPr>
        <p:spPr>
          <a:xfrm>
            <a:off x="323850" y="1524000"/>
            <a:ext cx="12355514" cy="7904163"/>
          </a:xfrm>
          <a:prstGeom prst="rect">
            <a:avLst/>
          </a:prstGeom>
          <a:noFill/>
          <a:ln>
            <a:noFill/>
          </a:ln>
        </p:spPr>
        <p:txBody>
          <a:bodyPr spcFirstLastPara="1" wrap="square" lIns="126425" tIns="72225" rIns="126425" bIns="72225" anchor="t" anchorCtr="0">
            <a:noAutofit/>
          </a:bodyPr>
          <a:lstStyle/>
          <a:p>
            <a:pPr marL="487363" lvl="0" indent="-487363" algn="l" rtl="0">
              <a:spcBef>
                <a:spcPts val="600"/>
              </a:spcBef>
              <a:spcAft>
                <a:spcPts val="600"/>
              </a:spcAft>
              <a:buClr>
                <a:srgbClr val="000000"/>
              </a:buClr>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Hypertension that is associated with a  </a:t>
            </a:r>
            <a:r>
              <a:rPr lang="en-US" sz="4400" dirty="0" err="1">
                <a:latin typeface="Calibri" panose="020F0502020204030204" pitchFamily="34" charset="0"/>
                <a:ea typeface="Calibri"/>
                <a:cs typeface="Calibri" panose="020F0502020204030204" pitchFamily="34" charset="0"/>
                <a:sym typeface="Calibri"/>
              </a:rPr>
              <a:t>pheo</a:t>
            </a:r>
            <a:r>
              <a:rPr lang="en-US" sz="4400" dirty="0">
                <a:latin typeface="Calibri" panose="020F0502020204030204" pitchFamily="34" charset="0"/>
                <a:ea typeface="Calibri"/>
                <a:cs typeface="Calibri" panose="020F0502020204030204" pitchFamily="34" charset="0"/>
                <a:sym typeface="Calibri"/>
              </a:rPr>
              <a:t> is </a:t>
            </a:r>
            <a:r>
              <a:rPr lang="en-US" sz="4400" b="1" i="1" dirty="0">
                <a:latin typeface="Calibri" panose="020F0502020204030204" pitchFamily="34" charset="0"/>
                <a:ea typeface="Calibri"/>
                <a:cs typeface="Calibri" panose="020F0502020204030204" pitchFamily="34" charset="0"/>
                <a:sym typeface="Calibri"/>
              </a:rPr>
              <a:t>typically resistant to standard medications.</a:t>
            </a:r>
            <a:endParaRPr sz="4400" dirty="0">
              <a:latin typeface="Calibri" panose="020F0502020204030204" pitchFamily="34" charset="0"/>
              <a:cs typeface="Calibri" panose="020F0502020204030204" pitchFamily="34" charset="0"/>
            </a:endParaRPr>
          </a:p>
          <a:p>
            <a:pPr marL="487363" lvl="0" indent="-201612" algn="l" rtl="0">
              <a:spcBef>
                <a:spcPts val="600"/>
              </a:spcBef>
              <a:spcAft>
                <a:spcPts val="600"/>
              </a:spcAft>
              <a:buClr>
                <a:srgbClr val="000000"/>
              </a:buClr>
              <a:buSzPts val="4500"/>
              <a:buFont typeface="Arial"/>
              <a:buNone/>
            </a:pPr>
            <a:endParaRPr sz="4400" b="1" i="1" dirty="0">
              <a:latin typeface="Calibri" panose="020F0502020204030204" pitchFamily="34" charset="0"/>
              <a:ea typeface="Calibri"/>
              <a:cs typeface="Calibri" panose="020F0502020204030204" pitchFamily="34" charset="0"/>
              <a:sym typeface="Calibri"/>
            </a:endParaRPr>
          </a:p>
          <a:p>
            <a:pPr marL="487363" lvl="0" indent="-487363" algn="l" rtl="0">
              <a:spcBef>
                <a:spcPts val="600"/>
              </a:spcBef>
              <a:spcAft>
                <a:spcPts val="600"/>
              </a:spcAft>
              <a:buClr>
                <a:srgbClr val="000000"/>
              </a:buClr>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Patients are begun on </a:t>
            </a:r>
            <a:r>
              <a:rPr lang="en-US" sz="4400" b="1" i="1" dirty="0">
                <a:latin typeface="Calibri" panose="020F0502020204030204" pitchFamily="34" charset="0"/>
                <a:ea typeface="Calibri"/>
                <a:cs typeface="Calibri" panose="020F0502020204030204" pitchFamily="34" charset="0"/>
                <a:sym typeface="Calibri"/>
              </a:rPr>
              <a:t>pre-op alpha blockade</a:t>
            </a:r>
            <a:r>
              <a:rPr lang="en-US" sz="4400" dirty="0">
                <a:latin typeface="Calibri" panose="020F0502020204030204" pitchFamily="34" charset="0"/>
                <a:ea typeface="Calibri"/>
                <a:cs typeface="Calibri" panose="020F0502020204030204" pitchFamily="34" charset="0"/>
                <a:sym typeface="Calibri"/>
              </a:rPr>
              <a:t>, with doxazosin then beta blockade is added if needed.  Avoid unopposed beta blockade and encourage sodium intake and good hydration.</a:t>
            </a:r>
            <a:endParaRPr sz="4400" dirty="0">
              <a:latin typeface="Calibri" panose="020F0502020204030204" pitchFamily="34" charset="0"/>
              <a:cs typeface="Calibri" panose="020F0502020204030204" pitchFamily="34" charset="0"/>
            </a:endParaRPr>
          </a:p>
          <a:p>
            <a:pPr marL="487363" lvl="0" indent="-201612" algn="l" rtl="0">
              <a:spcBef>
                <a:spcPts val="600"/>
              </a:spcBef>
              <a:spcAft>
                <a:spcPts val="600"/>
              </a:spcAft>
              <a:buClr>
                <a:srgbClr val="000000"/>
              </a:buClr>
              <a:buSzPts val="4500"/>
              <a:buFont typeface="Arial"/>
              <a:buNone/>
            </a:pPr>
            <a:endParaRPr sz="4400" dirty="0">
              <a:latin typeface="Calibri" panose="020F0502020204030204" pitchFamily="34" charset="0"/>
              <a:ea typeface="Calibri"/>
              <a:cs typeface="Calibri" panose="020F0502020204030204" pitchFamily="34" charset="0"/>
              <a:sym typeface="Calibri"/>
            </a:endParaRPr>
          </a:p>
          <a:p>
            <a:pPr marL="487363" lvl="0" indent="-487363" algn="l" rtl="0">
              <a:spcBef>
                <a:spcPts val="600"/>
              </a:spcBef>
              <a:spcAft>
                <a:spcPts val="600"/>
              </a:spcAft>
              <a:buClr>
                <a:srgbClr val="000000"/>
              </a:buClr>
              <a:buSzPts val="4500"/>
              <a:buFont typeface="Arial"/>
              <a:buChar char="•"/>
            </a:pPr>
            <a:r>
              <a:rPr lang="en-US" sz="4400" b="1" i="1" dirty="0">
                <a:latin typeface="Calibri" panose="020F0502020204030204" pitchFamily="34" charset="0"/>
                <a:ea typeface="Calibri"/>
                <a:cs typeface="Calibri" panose="020F0502020204030204" pitchFamily="34" charset="0"/>
                <a:sym typeface="Calibri"/>
              </a:rPr>
              <a:t>After 1-2 weeks, a laparoscopic or open subtotal adrenalectomy </a:t>
            </a:r>
            <a:r>
              <a:rPr lang="en-US" sz="4400" dirty="0">
                <a:latin typeface="Calibri" panose="020F0502020204030204" pitchFamily="34" charset="0"/>
                <a:ea typeface="Calibri"/>
                <a:cs typeface="Calibri" panose="020F0502020204030204" pitchFamily="34" charset="0"/>
                <a:sym typeface="Calibri"/>
              </a:rPr>
              <a:t>(or larger surgery) is performed.</a:t>
            </a:r>
            <a:endParaRPr sz="4400" dirty="0">
              <a:latin typeface="Calibri" panose="020F0502020204030204" pitchFamily="34" charset="0"/>
              <a:cs typeface="Calibri" panose="020F050202020403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p116"/>
          <p:cNvSpPr txBox="1">
            <a:spLocks noGrp="1"/>
          </p:cNvSpPr>
          <p:nvPr>
            <p:ph type="title"/>
          </p:nvPr>
        </p:nvSpPr>
        <p:spPr>
          <a:xfrm>
            <a:off x="649288" y="323850"/>
            <a:ext cx="11704637"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chemeClr val="accent5">
                    <a:lumMod val="50000"/>
                  </a:schemeClr>
                </a:solidFill>
                <a:latin typeface="Arial"/>
                <a:ea typeface="Arial"/>
                <a:cs typeface="Arial"/>
                <a:sym typeface="Arial"/>
              </a:rPr>
              <a:t>Treatment of </a:t>
            </a:r>
            <a:r>
              <a:rPr lang="en-US" sz="6200" dirty="0" err="1">
                <a:solidFill>
                  <a:schemeClr val="accent5">
                    <a:lumMod val="50000"/>
                  </a:schemeClr>
                </a:solidFill>
                <a:latin typeface="Arial"/>
                <a:ea typeface="Arial"/>
                <a:cs typeface="Arial"/>
                <a:sym typeface="Arial"/>
              </a:rPr>
              <a:t>Pheo</a:t>
            </a:r>
            <a:endParaRPr dirty="0">
              <a:solidFill>
                <a:schemeClr val="accent5">
                  <a:lumMod val="50000"/>
                </a:schemeClr>
              </a:solidFill>
            </a:endParaRPr>
          </a:p>
        </p:txBody>
      </p:sp>
      <p:sp>
        <p:nvSpPr>
          <p:cNvPr id="885" name="Google Shape;885;p116"/>
          <p:cNvSpPr txBox="1">
            <a:spLocks noGrp="1"/>
          </p:cNvSpPr>
          <p:nvPr>
            <p:ph type="body" idx="1"/>
          </p:nvPr>
        </p:nvSpPr>
        <p:spPr>
          <a:xfrm>
            <a:off x="254000" y="1841500"/>
            <a:ext cx="12573000" cy="7586663"/>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400"/>
              <a:buFont typeface="Arial"/>
              <a:buChar char="•"/>
            </a:pPr>
            <a:r>
              <a:rPr lang="en-US" sz="4400" dirty="0">
                <a:latin typeface="Calibri"/>
                <a:ea typeface="Calibri"/>
                <a:cs typeface="Calibri"/>
                <a:sym typeface="Calibri"/>
              </a:rPr>
              <a:t>During surgery, nicardipine and/or nitroprusside are used to control hemodynamic swings from tumor manipulation.</a:t>
            </a:r>
            <a:endParaRPr dirty="0"/>
          </a:p>
          <a:p>
            <a:pPr marL="487363" lvl="0" indent="-271463" algn="l" rtl="0">
              <a:spcBef>
                <a:spcPts val="700"/>
              </a:spcBef>
              <a:spcAft>
                <a:spcPts val="0"/>
              </a:spcAft>
              <a:buClr>
                <a:srgbClr val="000000"/>
              </a:buClr>
              <a:buSzPts val="3400"/>
              <a:buFont typeface="Arial"/>
              <a:buNone/>
            </a:pPr>
            <a:endParaRPr sz="3400" dirty="0">
              <a:latin typeface="Calibri"/>
              <a:ea typeface="Calibri"/>
              <a:cs typeface="Calibri"/>
              <a:sym typeface="Calibri"/>
            </a:endParaRPr>
          </a:p>
          <a:p>
            <a:pPr marL="487363" lvl="0" indent="-487363" algn="l" rtl="0">
              <a:spcBef>
                <a:spcPts val="700"/>
              </a:spcBef>
              <a:spcAft>
                <a:spcPts val="0"/>
              </a:spcAft>
              <a:buClr>
                <a:srgbClr val="000000"/>
              </a:buClr>
              <a:buSzPts val="4400"/>
              <a:buFont typeface="Arial"/>
              <a:buChar char="•"/>
            </a:pPr>
            <a:r>
              <a:rPr lang="en-US" sz="4400" dirty="0">
                <a:latin typeface="Calibri"/>
                <a:ea typeface="Calibri"/>
                <a:cs typeface="Calibri"/>
                <a:sym typeface="Calibri"/>
              </a:rPr>
              <a:t>Post-operatively, </a:t>
            </a:r>
            <a:r>
              <a:rPr lang="en-US" sz="4400" b="1" i="1" dirty="0">
                <a:latin typeface="Calibri"/>
                <a:ea typeface="Calibri"/>
                <a:cs typeface="Calibri"/>
                <a:sym typeface="Calibri"/>
              </a:rPr>
              <a:t>serum free </a:t>
            </a:r>
            <a:r>
              <a:rPr lang="en-US" sz="4400" b="1" i="1" dirty="0" err="1">
                <a:latin typeface="Calibri"/>
                <a:ea typeface="Calibri"/>
                <a:cs typeface="Calibri"/>
                <a:sym typeface="Calibri"/>
              </a:rPr>
              <a:t>metanephrine</a:t>
            </a:r>
            <a:r>
              <a:rPr lang="en-US" sz="4400" b="1" i="1" dirty="0">
                <a:latin typeface="Calibri"/>
                <a:ea typeface="Calibri"/>
                <a:cs typeface="Calibri"/>
                <a:sym typeface="Calibri"/>
              </a:rPr>
              <a:t> levels will normalize within 2 weeks and should be checked yearly for ten years</a:t>
            </a:r>
            <a:r>
              <a:rPr lang="en-US" sz="4400" dirty="0">
                <a:latin typeface="Calibri"/>
                <a:ea typeface="Calibri"/>
                <a:cs typeface="Calibri"/>
                <a:sym typeface="Calibri"/>
              </a:rPr>
              <a:t>.  Patients with MEN syndromes will require lifelong testing.</a:t>
            </a:r>
            <a:endParaRPr dirty="0"/>
          </a:p>
          <a:p>
            <a:pPr marL="487363" lvl="0" indent="-271463" algn="l" rtl="0">
              <a:spcBef>
                <a:spcPts val="700"/>
              </a:spcBef>
              <a:spcAft>
                <a:spcPts val="0"/>
              </a:spcAft>
              <a:buClr>
                <a:srgbClr val="000000"/>
              </a:buClr>
              <a:buSzPts val="3400"/>
              <a:buFont typeface="Arial"/>
              <a:buNone/>
            </a:pPr>
            <a:endParaRPr sz="3400" dirty="0">
              <a:latin typeface="Calibri"/>
              <a:ea typeface="Calibri"/>
              <a:cs typeface="Calibri"/>
              <a:sym typeface="Calibri"/>
            </a:endParaRPr>
          </a:p>
          <a:p>
            <a:pPr marL="487363" lvl="0" indent="-487363" algn="l" rtl="0">
              <a:spcBef>
                <a:spcPts val="700"/>
              </a:spcBef>
              <a:spcAft>
                <a:spcPts val="0"/>
              </a:spcAft>
              <a:buClr>
                <a:srgbClr val="000000"/>
              </a:buClr>
              <a:buSzPts val="4400"/>
              <a:buFont typeface="Arial"/>
              <a:buChar char="•"/>
            </a:pPr>
            <a:r>
              <a:rPr lang="en-US" sz="4400" dirty="0">
                <a:latin typeface="Calibri"/>
                <a:ea typeface="Calibri"/>
                <a:cs typeface="Calibri"/>
                <a:sym typeface="Calibri"/>
              </a:rPr>
              <a:t>If the pheochromocytoma is inoperable, the patient is treated with lifelong alpha blockers </a:t>
            </a:r>
            <a:endParaRPr sz="4400" dirty="0">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111"/>
          <p:cNvSpPr txBox="1">
            <a:spLocks noGrp="1"/>
          </p:cNvSpPr>
          <p:nvPr>
            <p:ph type="title"/>
          </p:nvPr>
        </p:nvSpPr>
        <p:spPr>
          <a:xfrm>
            <a:off x="650081" y="114300"/>
            <a:ext cx="11704637"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FF"/>
                </a:solidFill>
                <a:latin typeface="Arial"/>
                <a:ea typeface="Arial"/>
                <a:cs typeface="Arial"/>
                <a:sym typeface="Arial"/>
              </a:rPr>
              <a:t>MEN Syndromes</a:t>
            </a:r>
            <a:endParaRPr dirty="0">
              <a:solidFill>
                <a:srgbClr val="FF00FF"/>
              </a:solidFill>
            </a:endParaRPr>
          </a:p>
        </p:txBody>
      </p:sp>
      <p:sp>
        <p:nvSpPr>
          <p:cNvPr id="848" name="Google Shape;848;p111"/>
          <p:cNvSpPr txBox="1">
            <a:spLocks noGrp="1"/>
          </p:cNvSpPr>
          <p:nvPr>
            <p:ph type="body" idx="1"/>
          </p:nvPr>
        </p:nvSpPr>
        <p:spPr>
          <a:xfrm>
            <a:off x="177800" y="1524000"/>
            <a:ext cx="12649200" cy="8115300"/>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400"/>
              <a:buFont typeface="Arial"/>
              <a:buChar char="•"/>
            </a:pPr>
            <a:r>
              <a:rPr lang="en-US" sz="4400" dirty="0">
                <a:latin typeface="Calibri" panose="020F0502020204030204" pitchFamily="34" charset="0"/>
                <a:cs typeface="Calibri" panose="020F0502020204030204" pitchFamily="34" charset="0"/>
              </a:rPr>
              <a:t>Multiple endocrine neoplasia syndromes are inherited disorders that </a:t>
            </a:r>
            <a:r>
              <a:rPr lang="en-US" sz="4400" b="1" i="1" dirty="0">
                <a:latin typeface="Calibri" panose="020F0502020204030204" pitchFamily="34" charset="0"/>
                <a:cs typeface="Calibri" panose="020F0502020204030204" pitchFamily="34" charset="0"/>
              </a:rPr>
              <a:t>predispose a person to developing multiple endocrine tumors</a:t>
            </a:r>
            <a:r>
              <a:rPr lang="en-US" sz="4400" dirty="0">
                <a:latin typeface="Calibri" panose="020F0502020204030204" pitchFamily="34" charset="0"/>
                <a:cs typeface="Calibri" panose="020F0502020204030204" pitchFamily="34" charset="0"/>
              </a:rPr>
              <a:t>, some of which may be malignant.  Two types:</a:t>
            </a:r>
          </a:p>
          <a:p>
            <a:pPr marL="944563" lvl="1" indent="-487363">
              <a:spcBef>
                <a:spcPts val="0"/>
              </a:spcBef>
              <a:buSzPct val="80000"/>
              <a:buFont typeface="Arial"/>
              <a:buChar char="•"/>
            </a:pPr>
            <a:r>
              <a:rPr lang="en-US" sz="3500" dirty="0">
                <a:latin typeface="Calibri" panose="020F0502020204030204" pitchFamily="34" charset="0"/>
                <a:cs typeface="Calibri" panose="020F0502020204030204" pitchFamily="34" charset="0"/>
              </a:rPr>
              <a:t>MEN1: caused by loss of MEN tumor suppressor gene</a:t>
            </a:r>
          </a:p>
          <a:p>
            <a:pPr marL="944563" lvl="1" indent="-487363">
              <a:spcBef>
                <a:spcPts val="0"/>
              </a:spcBef>
              <a:buSzPct val="80000"/>
              <a:buFont typeface="Arial"/>
              <a:buChar char="•"/>
            </a:pPr>
            <a:r>
              <a:rPr lang="en-US" sz="3500" dirty="0">
                <a:latin typeface="Calibri" panose="020F0502020204030204" pitchFamily="34" charset="0"/>
                <a:cs typeface="Calibri" panose="020F0502020204030204" pitchFamily="34" charset="0"/>
              </a:rPr>
              <a:t>MEN2: caused by mutations of the RET gene</a:t>
            </a:r>
          </a:p>
          <a:p>
            <a:pPr marL="487363" lvl="0" indent="-487363" algn="l" rtl="0">
              <a:spcBef>
                <a:spcPts val="0"/>
              </a:spcBef>
              <a:spcAft>
                <a:spcPts val="0"/>
              </a:spcAft>
              <a:buClr>
                <a:srgbClr val="000000"/>
              </a:buClr>
              <a:buSzPts val="4400"/>
              <a:buFont typeface="Arial"/>
              <a:buChar char="•"/>
            </a:pPr>
            <a:endParaRPr lang="en-US" sz="4400" dirty="0">
              <a:latin typeface="Calibri" panose="020F0502020204030204" pitchFamily="34" charset="0"/>
              <a:cs typeface="Calibri" panose="020F0502020204030204" pitchFamily="34" charset="0"/>
            </a:endParaRPr>
          </a:p>
          <a:p>
            <a:pPr marL="487363" lvl="0" indent="-487363" algn="l" rtl="0">
              <a:spcBef>
                <a:spcPts val="0"/>
              </a:spcBef>
              <a:spcAft>
                <a:spcPts val="0"/>
              </a:spcAft>
              <a:buClr>
                <a:srgbClr val="000000"/>
              </a:buClr>
              <a:buSzPts val="4400"/>
              <a:buFont typeface="Arial"/>
              <a:buChar char="•"/>
            </a:pPr>
            <a:r>
              <a:rPr lang="en-US" sz="4400" dirty="0">
                <a:latin typeface="Calibri" panose="020F0502020204030204" pitchFamily="34" charset="0"/>
                <a:cs typeface="Calibri" panose="020F0502020204030204" pitchFamily="34" charset="0"/>
              </a:rPr>
              <a:t>A person who reaches middle age with only one endocrine tumor likely does not have MEN.</a:t>
            </a:r>
          </a:p>
          <a:p>
            <a:pPr marL="487363" lvl="0" indent="-487363" algn="l" rtl="0">
              <a:spcBef>
                <a:spcPts val="0"/>
              </a:spcBef>
              <a:spcAft>
                <a:spcPts val="0"/>
              </a:spcAft>
              <a:buClr>
                <a:srgbClr val="000000"/>
              </a:buClr>
              <a:buSzPts val="4400"/>
              <a:buFont typeface="Arial"/>
              <a:buChar char="•"/>
            </a:pPr>
            <a:endParaRPr lang="en-US" sz="4400" dirty="0">
              <a:latin typeface="Calibri" panose="020F0502020204030204" pitchFamily="34" charset="0"/>
              <a:cs typeface="Calibri" panose="020F0502020204030204" pitchFamily="34" charset="0"/>
            </a:endParaRPr>
          </a:p>
          <a:p>
            <a:pPr marL="487363" lvl="0" indent="-487363" algn="l" rtl="0">
              <a:spcBef>
                <a:spcPts val="0"/>
              </a:spcBef>
              <a:spcAft>
                <a:spcPts val="0"/>
              </a:spcAft>
              <a:buClr>
                <a:srgbClr val="000000"/>
              </a:buClr>
              <a:buSzPts val="4400"/>
              <a:buFont typeface="Arial"/>
              <a:buChar char="•"/>
            </a:pPr>
            <a:r>
              <a:rPr lang="en-US" sz="4400" dirty="0">
                <a:latin typeface="Calibri" panose="020F0502020204030204" pitchFamily="34" charset="0"/>
                <a:cs typeface="Calibri" panose="020F0502020204030204" pitchFamily="34" charset="0"/>
              </a:rPr>
              <a:t>Children of persons with an MEN syndrome have a 50% chance of inheriting the disorder.</a:t>
            </a:r>
            <a:endParaRPr sz="4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104479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111"/>
          <p:cNvSpPr txBox="1">
            <a:spLocks noGrp="1"/>
          </p:cNvSpPr>
          <p:nvPr>
            <p:ph type="title"/>
          </p:nvPr>
        </p:nvSpPr>
        <p:spPr>
          <a:xfrm>
            <a:off x="650081" y="114300"/>
            <a:ext cx="11704637"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FF"/>
                </a:solidFill>
                <a:latin typeface="Arial"/>
                <a:ea typeface="Arial"/>
                <a:cs typeface="Arial"/>
                <a:sym typeface="Arial"/>
              </a:rPr>
              <a:t>MEN1 Manifestations</a:t>
            </a:r>
            <a:endParaRPr dirty="0">
              <a:solidFill>
                <a:srgbClr val="FF00FF"/>
              </a:solidFill>
            </a:endParaRPr>
          </a:p>
        </p:txBody>
      </p:sp>
      <p:sp>
        <p:nvSpPr>
          <p:cNvPr id="848" name="Google Shape;848;p111"/>
          <p:cNvSpPr txBox="1">
            <a:spLocks noGrp="1"/>
          </p:cNvSpPr>
          <p:nvPr>
            <p:ph type="body" idx="1"/>
          </p:nvPr>
        </p:nvSpPr>
        <p:spPr>
          <a:xfrm>
            <a:off x="177800" y="1524000"/>
            <a:ext cx="12649200" cy="4368800"/>
          </a:xfrm>
          <a:prstGeom prst="rect">
            <a:avLst/>
          </a:prstGeom>
          <a:noFill/>
          <a:ln>
            <a:noFill/>
          </a:ln>
        </p:spPr>
        <p:txBody>
          <a:bodyPr spcFirstLastPara="1" wrap="square" lIns="126425" tIns="72225" rIns="126425" bIns="72225" anchor="t" anchorCtr="0">
            <a:noAutofit/>
          </a:bodyPr>
          <a:lstStyle/>
          <a:p>
            <a:pPr marL="742950" indent="-742950">
              <a:spcBef>
                <a:spcPts val="700"/>
              </a:spcBef>
              <a:buSzPct val="100000"/>
              <a:buFont typeface="+mj-lt"/>
              <a:buAutoNum type="arabicPeriod"/>
            </a:pPr>
            <a:r>
              <a:rPr lang="en-US" sz="4400" b="1" i="1" dirty="0">
                <a:latin typeface="Calibri"/>
                <a:ea typeface="Calibri"/>
                <a:cs typeface="Calibri"/>
                <a:sym typeface="Calibri"/>
              </a:rPr>
              <a:t>Parathyroid adenoma resulting in primary hyperparathyroidism</a:t>
            </a:r>
            <a:r>
              <a:rPr lang="en-US" sz="4400" dirty="0">
                <a:latin typeface="Calibri"/>
                <a:ea typeface="Calibri"/>
                <a:cs typeface="Calibri"/>
                <a:sym typeface="Calibri"/>
              </a:rPr>
              <a:t>, affects almost all patients with MEN1 and is usually the first tumor to occur.</a:t>
            </a:r>
          </a:p>
          <a:p>
            <a:pPr marL="742950" indent="-742950">
              <a:spcBef>
                <a:spcPts val="700"/>
              </a:spcBef>
              <a:buSzPct val="100000"/>
              <a:buFont typeface="+mj-lt"/>
              <a:buAutoNum type="arabicPeriod"/>
            </a:pPr>
            <a:endParaRPr lang="en-US" sz="2000" dirty="0">
              <a:latin typeface="Calibri"/>
              <a:ea typeface="Calibri"/>
              <a:cs typeface="Calibri"/>
              <a:sym typeface="Calibri"/>
            </a:endParaRPr>
          </a:p>
          <a:p>
            <a:pPr marL="742950" indent="-742950">
              <a:spcBef>
                <a:spcPts val="700"/>
              </a:spcBef>
              <a:buSzPct val="100000"/>
              <a:buFont typeface="+mj-lt"/>
              <a:buAutoNum type="arabicPeriod"/>
            </a:pPr>
            <a:r>
              <a:rPr lang="en-US" sz="4400" b="1" i="1" dirty="0">
                <a:latin typeface="Calibri"/>
                <a:ea typeface="Calibri"/>
                <a:cs typeface="Calibri"/>
                <a:sym typeface="Calibri"/>
              </a:rPr>
              <a:t>Anterior pituitary tumors</a:t>
            </a:r>
            <a:r>
              <a:rPr lang="en-US" sz="4400" dirty="0">
                <a:latin typeface="Calibri"/>
                <a:ea typeface="Calibri"/>
                <a:cs typeface="Calibri"/>
                <a:sym typeface="Calibri"/>
              </a:rPr>
              <a:t>, may be non-functional, if functional, usually prolactinoma.</a:t>
            </a:r>
          </a:p>
        </p:txBody>
      </p:sp>
      <p:pic>
        <p:nvPicPr>
          <p:cNvPr id="1026" name="Picture 2">
            <a:extLst>
              <a:ext uri="{FF2B5EF4-FFF2-40B4-BE49-F238E27FC236}">
                <a16:creationId xmlns:a16="http://schemas.microsoft.com/office/drawing/2014/main" id="{867AC61D-37F8-0EEC-2222-D17A52E4E7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22" t="3247" r="47511"/>
          <a:stretch/>
        </p:blipFill>
        <p:spPr bwMode="auto">
          <a:xfrm>
            <a:off x="9787467" y="4949688"/>
            <a:ext cx="2895599" cy="468961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CA3ACBB-94C0-3CC8-52EA-BA263E56024F}"/>
              </a:ext>
            </a:extLst>
          </p:cNvPr>
          <p:cNvSpPr txBox="1"/>
          <p:nvPr/>
        </p:nvSpPr>
        <p:spPr>
          <a:xfrm>
            <a:off x="177800" y="6060281"/>
            <a:ext cx="9457267" cy="3693319"/>
          </a:xfrm>
          <a:prstGeom prst="rect">
            <a:avLst/>
          </a:prstGeom>
          <a:noFill/>
        </p:spPr>
        <p:txBody>
          <a:bodyPr wrap="square" rtlCol="0">
            <a:spAutoFit/>
          </a:bodyPr>
          <a:lstStyle/>
          <a:p>
            <a:pPr marL="742950" indent="-742950">
              <a:buFont typeface="+mj-lt"/>
              <a:buAutoNum type="arabicPeriod" startAt="3"/>
            </a:pPr>
            <a:r>
              <a:rPr lang="en-US" sz="4400" b="1" i="1" dirty="0" err="1">
                <a:latin typeface="Calibri" panose="020F0502020204030204" pitchFamily="34" charset="0"/>
                <a:ea typeface="Calibri"/>
                <a:cs typeface="Calibri" panose="020F0502020204030204" pitchFamily="34" charset="0"/>
                <a:sym typeface="Calibri"/>
              </a:rPr>
              <a:t>Enteropancreatic</a:t>
            </a:r>
            <a:r>
              <a:rPr lang="en-US" sz="4400" b="1" i="1" dirty="0">
                <a:latin typeface="Calibri" panose="020F0502020204030204" pitchFamily="34" charset="0"/>
                <a:ea typeface="Calibri"/>
                <a:cs typeface="Calibri" panose="020F0502020204030204" pitchFamily="34" charset="0"/>
                <a:sym typeface="Calibri"/>
              </a:rPr>
              <a:t> tumors </a:t>
            </a:r>
            <a:r>
              <a:rPr lang="en-US" sz="4400" dirty="0">
                <a:latin typeface="Calibri" panose="020F0502020204030204" pitchFamily="34" charset="0"/>
                <a:ea typeface="Calibri"/>
                <a:cs typeface="Calibri" panose="020F0502020204030204" pitchFamily="34" charset="0"/>
                <a:sym typeface="Calibri"/>
              </a:rPr>
              <a:t>(most commonly </a:t>
            </a:r>
            <a:r>
              <a:rPr lang="en-US" sz="4400" dirty="0" err="1">
                <a:latin typeface="Calibri" panose="020F0502020204030204" pitchFamily="34" charset="0"/>
                <a:ea typeface="Calibri"/>
                <a:cs typeface="Calibri" panose="020F0502020204030204" pitchFamily="34" charset="0"/>
                <a:sym typeface="Calibri"/>
              </a:rPr>
              <a:t>gastrinomas</a:t>
            </a:r>
            <a:r>
              <a:rPr lang="en-US" sz="4400" dirty="0">
                <a:latin typeface="Calibri" panose="020F0502020204030204" pitchFamily="34" charset="0"/>
                <a:ea typeface="Calibri"/>
                <a:cs typeface="Calibri" panose="020F0502020204030204" pitchFamily="34" charset="0"/>
                <a:sym typeface="Calibri"/>
              </a:rPr>
              <a:t>, insulinomas) and less commonly tumors of the skin, adrenal glands or carcinoid tumors</a:t>
            </a:r>
            <a:endParaRPr lang="en-US" sz="44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22157861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111"/>
          <p:cNvSpPr txBox="1">
            <a:spLocks noGrp="1"/>
          </p:cNvSpPr>
          <p:nvPr>
            <p:ph type="title"/>
          </p:nvPr>
        </p:nvSpPr>
        <p:spPr>
          <a:xfrm>
            <a:off x="650081" y="114300"/>
            <a:ext cx="11704637"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FF"/>
                </a:solidFill>
                <a:latin typeface="Arial"/>
                <a:ea typeface="Arial"/>
                <a:cs typeface="Arial"/>
                <a:sym typeface="Arial"/>
              </a:rPr>
              <a:t>MEN2 Syndromes</a:t>
            </a:r>
            <a:endParaRPr dirty="0">
              <a:solidFill>
                <a:srgbClr val="FF00FF"/>
              </a:solidFill>
            </a:endParaRPr>
          </a:p>
        </p:txBody>
      </p:sp>
      <p:sp>
        <p:nvSpPr>
          <p:cNvPr id="848" name="Google Shape;848;p111"/>
          <p:cNvSpPr txBox="1">
            <a:spLocks noGrp="1"/>
          </p:cNvSpPr>
          <p:nvPr>
            <p:ph type="body" idx="1"/>
          </p:nvPr>
        </p:nvSpPr>
        <p:spPr>
          <a:xfrm>
            <a:off x="177800" y="1524000"/>
            <a:ext cx="12649200" cy="4131733"/>
          </a:xfrm>
          <a:prstGeom prst="rect">
            <a:avLst/>
          </a:prstGeom>
          <a:noFill/>
          <a:ln>
            <a:noFill/>
          </a:ln>
        </p:spPr>
        <p:txBody>
          <a:bodyPr spcFirstLastPara="1" wrap="square" lIns="126425" tIns="72225" rIns="126425" bIns="72225" anchor="t" anchorCtr="0">
            <a:noAutofit/>
          </a:bodyPr>
          <a:lstStyle/>
          <a:p>
            <a:pPr marL="571500" indent="-571500">
              <a:spcBef>
                <a:spcPts val="700"/>
              </a:spcBef>
              <a:buSzPct val="80000"/>
            </a:pPr>
            <a:r>
              <a:rPr lang="en-US" sz="4400" dirty="0">
                <a:latin typeface="Calibri" panose="020F0502020204030204" pitchFamily="34" charset="0"/>
                <a:ea typeface="Calibri"/>
                <a:cs typeface="Calibri" panose="020F0502020204030204" pitchFamily="34" charset="0"/>
                <a:sym typeface="Calibri"/>
              </a:rPr>
              <a:t>Persons with any of the MEN2 syndromes have a 95% chance of </a:t>
            </a:r>
            <a:r>
              <a:rPr lang="en-US" sz="4400" b="1" i="1" dirty="0">
                <a:latin typeface="Calibri" panose="020F0502020204030204" pitchFamily="34" charset="0"/>
                <a:ea typeface="Calibri"/>
                <a:cs typeface="Calibri" panose="020F0502020204030204" pitchFamily="34" charset="0"/>
                <a:sym typeface="Calibri"/>
              </a:rPr>
              <a:t>medullary thyroid cancer</a:t>
            </a:r>
            <a:r>
              <a:rPr lang="en-US" sz="4400" dirty="0">
                <a:latin typeface="Calibri" panose="020F0502020204030204" pitchFamily="34" charset="0"/>
                <a:ea typeface="Calibri"/>
                <a:cs typeface="Calibri" panose="020F0502020204030204" pitchFamily="34" charset="0"/>
                <a:sym typeface="Calibri"/>
              </a:rPr>
              <a:t>.</a:t>
            </a:r>
          </a:p>
          <a:p>
            <a:pPr marL="571500" indent="-571500">
              <a:spcBef>
                <a:spcPts val="700"/>
              </a:spcBef>
              <a:buSzPct val="80000"/>
            </a:pPr>
            <a:endParaRPr lang="en-US" sz="3000" dirty="0">
              <a:latin typeface="Calibri" panose="020F0502020204030204" pitchFamily="34" charset="0"/>
              <a:ea typeface="Calibri"/>
              <a:cs typeface="Calibri" panose="020F0502020204030204" pitchFamily="34" charset="0"/>
              <a:sym typeface="Calibri"/>
            </a:endParaRPr>
          </a:p>
          <a:p>
            <a:pPr marL="571500" indent="-571500">
              <a:spcBef>
                <a:spcPts val="700"/>
              </a:spcBef>
              <a:buSzPct val="80000"/>
            </a:pPr>
            <a:r>
              <a:rPr lang="en-US" sz="4400" dirty="0">
                <a:latin typeface="Calibri" panose="020F0502020204030204" pitchFamily="34" charset="0"/>
                <a:ea typeface="Calibri"/>
                <a:cs typeface="Calibri" panose="020F0502020204030204" pitchFamily="34" charset="0"/>
                <a:sym typeface="Calibri"/>
              </a:rPr>
              <a:t>They also have a 50% chance of developing </a:t>
            </a:r>
            <a:r>
              <a:rPr lang="en-US" sz="4400" b="1" i="1" dirty="0">
                <a:latin typeface="Calibri" panose="020F0502020204030204" pitchFamily="34" charset="0"/>
                <a:ea typeface="Calibri"/>
                <a:cs typeface="Calibri" panose="020F0502020204030204" pitchFamily="34" charset="0"/>
                <a:sym typeface="Calibri"/>
              </a:rPr>
              <a:t>pheochromocytoma</a:t>
            </a:r>
            <a:r>
              <a:rPr lang="en-US" sz="4400" dirty="0">
                <a:latin typeface="Calibri" panose="020F0502020204030204" pitchFamily="34" charset="0"/>
                <a:ea typeface="Calibri"/>
                <a:cs typeface="Calibri" panose="020F0502020204030204" pitchFamily="34" charset="0"/>
                <a:sym typeface="Calibri"/>
              </a:rPr>
              <a:t>, but it is rarely malignant.</a:t>
            </a:r>
          </a:p>
        </p:txBody>
      </p:sp>
      <p:pic>
        <p:nvPicPr>
          <p:cNvPr id="2" name="Picture 2">
            <a:extLst>
              <a:ext uri="{FF2B5EF4-FFF2-40B4-BE49-F238E27FC236}">
                <a16:creationId xmlns:a16="http://schemas.microsoft.com/office/drawing/2014/main" id="{DB29BDFB-74B3-0ECD-F572-E75D74FC37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311" t="3029" r="1822" b="10390"/>
          <a:stretch/>
        </p:blipFill>
        <p:spPr bwMode="auto">
          <a:xfrm>
            <a:off x="9332118" y="4953099"/>
            <a:ext cx="3022600" cy="46862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0380732-A7BF-0856-4732-FB38438076C1}"/>
              </a:ext>
            </a:extLst>
          </p:cNvPr>
          <p:cNvSpPr txBox="1"/>
          <p:nvPr/>
        </p:nvSpPr>
        <p:spPr>
          <a:xfrm>
            <a:off x="177801" y="5625962"/>
            <a:ext cx="9017000" cy="3967753"/>
          </a:xfrm>
          <a:prstGeom prst="rect">
            <a:avLst/>
          </a:prstGeom>
          <a:noFill/>
        </p:spPr>
        <p:txBody>
          <a:bodyPr wrap="square" rtlCol="0">
            <a:spAutoFit/>
          </a:bodyPr>
          <a:lstStyle/>
          <a:p>
            <a:pPr marL="571500" indent="-571500">
              <a:spcBef>
                <a:spcPts val="700"/>
              </a:spcBef>
              <a:buSzPct val="80000"/>
              <a:buFont typeface="Arial" panose="020B0604020202020204" pitchFamily="34" charset="0"/>
              <a:buChar char="•"/>
            </a:pPr>
            <a:r>
              <a:rPr lang="en-US" sz="4400" dirty="0">
                <a:latin typeface="Calibri" panose="020F0502020204030204" pitchFamily="34" charset="0"/>
                <a:ea typeface="Calibri"/>
                <a:cs typeface="Calibri" panose="020F0502020204030204" pitchFamily="34" charset="0"/>
                <a:sym typeface="Calibri"/>
              </a:rPr>
              <a:t>MEN2 is divided into 3 types- MEN2A, MEN2B and FMTC </a:t>
            </a:r>
            <a:r>
              <a:rPr lang="en-US" sz="3000" dirty="0">
                <a:latin typeface="Calibri" panose="020F0502020204030204" pitchFamily="34" charset="0"/>
                <a:ea typeface="Calibri"/>
                <a:cs typeface="Calibri" panose="020F0502020204030204" pitchFamily="34" charset="0"/>
                <a:sym typeface="Calibri"/>
              </a:rPr>
              <a:t>(familial medullary thyroid CA)</a:t>
            </a:r>
          </a:p>
          <a:p>
            <a:pPr marL="1485900" lvl="2" indent="-571500">
              <a:spcBef>
                <a:spcPts val="700"/>
              </a:spcBef>
              <a:buSzPct val="80000"/>
              <a:buFont typeface="Arial" panose="020B0604020202020204" pitchFamily="34" charset="0"/>
              <a:buChar char="•"/>
            </a:pPr>
            <a:r>
              <a:rPr lang="en-US" sz="3800" dirty="0">
                <a:latin typeface="Calibri" panose="020F0502020204030204" pitchFamily="34" charset="0"/>
                <a:ea typeface="Calibri"/>
                <a:cs typeface="Calibri" panose="020F0502020204030204" pitchFamily="34" charset="0"/>
                <a:sym typeface="Calibri"/>
              </a:rPr>
              <a:t>Multiple other endocrine abnormalities distinguish each type of MEN2.</a:t>
            </a:r>
          </a:p>
          <a:p>
            <a:endParaRPr lang="en-US" dirty="0"/>
          </a:p>
        </p:txBody>
      </p:sp>
    </p:spTree>
    <p:extLst>
      <p:ext uri="{BB962C8B-B14F-4D97-AF65-F5344CB8AC3E}">
        <p14:creationId xmlns:p14="http://schemas.microsoft.com/office/powerpoint/2010/main" val="13615357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108"/>
          <p:cNvSpPr txBox="1">
            <a:spLocks noGrp="1"/>
          </p:cNvSpPr>
          <p:nvPr>
            <p:ph type="title"/>
          </p:nvPr>
        </p:nvSpPr>
        <p:spPr>
          <a:xfrm>
            <a:off x="1270000" y="254000"/>
            <a:ext cx="10464800" cy="1303867"/>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dirty="0">
                <a:latin typeface="Calibri"/>
                <a:ea typeface="Calibri"/>
                <a:cs typeface="Calibri"/>
                <a:sym typeface="Calibri"/>
              </a:rPr>
              <a:t>Question Time</a:t>
            </a:r>
            <a:endParaRPr dirty="0"/>
          </a:p>
        </p:txBody>
      </p:sp>
      <p:sp>
        <p:nvSpPr>
          <p:cNvPr id="782" name="Google Shape;782;p108"/>
          <p:cNvSpPr txBox="1">
            <a:spLocks noGrp="1"/>
          </p:cNvSpPr>
          <p:nvPr>
            <p:ph type="body" idx="1"/>
          </p:nvPr>
        </p:nvSpPr>
        <p:spPr>
          <a:xfrm>
            <a:off x="254000" y="1752600"/>
            <a:ext cx="12378267" cy="7577667"/>
          </a:xfrm>
          <a:prstGeom prst="rect">
            <a:avLst/>
          </a:prstGeom>
          <a:noFill/>
          <a:ln>
            <a:noFill/>
          </a:ln>
        </p:spPr>
        <p:txBody>
          <a:bodyPr spcFirstLastPara="1" wrap="square" lIns="50800" tIns="50800" rIns="50800" bIns="50800" anchor="ctr" anchorCtr="0">
            <a:noAutofit/>
          </a:bodyPr>
          <a:lstStyle/>
          <a:p>
            <a:pPr marL="584200" lvl="0" indent="-584200" algn="l" rtl="0">
              <a:spcBef>
                <a:spcPts val="0"/>
              </a:spcBef>
              <a:spcAft>
                <a:spcPts val="0"/>
              </a:spcAft>
              <a:buClr>
                <a:srgbClr val="000000"/>
              </a:buClr>
              <a:buSzPts val="4400"/>
              <a:buFont typeface="Calibri"/>
              <a:buChar char="•"/>
            </a:pPr>
            <a:r>
              <a:rPr lang="en-US" sz="4400" dirty="0">
                <a:latin typeface="Calibri" panose="020F0502020204030204" pitchFamily="34" charset="0"/>
                <a:ea typeface="Calibri"/>
                <a:cs typeface="Calibri" panose="020F0502020204030204" pitchFamily="34" charset="0"/>
                <a:sym typeface="Calibri"/>
              </a:rPr>
              <a:t>Which of the following is the most likely cause of androgen excess in women?</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Benign adenoma of the adrenal gland</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Hyperplasia of the adrenal glands</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Polycystic ovarian syndrome</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Malignant adrenal tumor</a:t>
            </a:r>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324273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108"/>
          <p:cNvSpPr txBox="1">
            <a:spLocks noGrp="1"/>
          </p:cNvSpPr>
          <p:nvPr>
            <p:ph type="title"/>
          </p:nvPr>
        </p:nvSpPr>
        <p:spPr>
          <a:xfrm>
            <a:off x="1270000" y="254000"/>
            <a:ext cx="10464800" cy="1303867"/>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dirty="0">
                <a:latin typeface="Calibri"/>
                <a:ea typeface="Calibri"/>
                <a:cs typeface="Calibri"/>
                <a:sym typeface="Calibri"/>
              </a:rPr>
              <a:t>Question Time</a:t>
            </a:r>
            <a:endParaRPr dirty="0"/>
          </a:p>
        </p:txBody>
      </p:sp>
      <p:sp>
        <p:nvSpPr>
          <p:cNvPr id="782" name="Google Shape;782;p108"/>
          <p:cNvSpPr txBox="1">
            <a:spLocks noGrp="1"/>
          </p:cNvSpPr>
          <p:nvPr>
            <p:ph type="body" idx="1"/>
          </p:nvPr>
        </p:nvSpPr>
        <p:spPr>
          <a:xfrm>
            <a:off x="254000" y="1752600"/>
            <a:ext cx="12378267" cy="7577667"/>
          </a:xfrm>
          <a:prstGeom prst="rect">
            <a:avLst/>
          </a:prstGeom>
          <a:noFill/>
          <a:ln>
            <a:noFill/>
          </a:ln>
        </p:spPr>
        <p:txBody>
          <a:bodyPr spcFirstLastPara="1" wrap="square" lIns="50800" tIns="50800" rIns="50800" bIns="50800" anchor="ctr" anchorCtr="0">
            <a:noAutofit/>
          </a:bodyPr>
          <a:lstStyle/>
          <a:p>
            <a:pPr marL="584200" lvl="0" indent="-584200" algn="l" rtl="0">
              <a:spcBef>
                <a:spcPts val="0"/>
              </a:spcBef>
              <a:spcAft>
                <a:spcPts val="0"/>
              </a:spcAft>
              <a:buClr>
                <a:srgbClr val="000000"/>
              </a:buClr>
              <a:buSzPts val="4400"/>
              <a:buFont typeface="Calibri"/>
              <a:buChar char="•"/>
            </a:pPr>
            <a:r>
              <a:rPr lang="en-US" sz="4400" dirty="0">
                <a:latin typeface="Calibri" panose="020F0502020204030204" pitchFamily="34" charset="0"/>
                <a:ea typeface="Calibri"/>
                <a:cs typeface="Calibri" panose="020F0502020204030204" pitchFamily="34" charset="0"/>
                <a:sym typeface="Calibri"/>
              </a:rPr>
              <a:t>Which of the following symptoms is most likely to occur in women with androgen deficiency?</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Patchy hair loss</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Lack of sexual desire</a:t>
            </a:r>
            <a:endParaRPr dirty="0">
              <a:latin typeface="Calibri" panose="020F0502020204030204" pitchFamily="34" charset="0"/>
              <a:cs typeface="Calibri" panose="020F0502020204030204" pitchFamily="34" charset="0"/>
            </a:endParaRPr>
          </a:p>
          <a:p>
            <a:pPr marL="584200" indent="-584200">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Unintentional weight loss</a:t>
            </a:r>
            <a:endParaRPr lang="en-US" sz="4400"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Early menopause</a:t>
            </a:r>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427653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108"/>
          <p:cNvSpPr txBox="1">
            <a:spLocks noGrp="1"/>
          </p:cNvSpPr>
          <p:nvPr>
            <p:ph type="title"/>
          </p:nvPr>
        </p:nvSpPr>
        <p:spPr>
          <a:xfrm>
            <a:off x="1270000" y="254000"/>
            <a:ext cx="10464800" cy="1303867"/>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dirty="0">
                <a:latin typeface="Calibri"/>
                <a:ea typeface="Calibri"/>
                <a:cs typeface="Calibri"/>
                <a:sym typeface="Calibri"/>
              </a:rPr>
              <a:t>Question Time</a:t>
            </a:r>
            <a:endParaRPr dirty="0"/>
          </a:p>
        </p:txBody>
      </p:sp>
      <p:sp>
        <p:nvSpPr>
          <p:cNvPr id="782" name="Google Shape;782;p108"/>
          <p:cNvSpPr txBox="1">
            <a:spLocks noGrp="1"/>
          </p:cNvSpPr>
          <p:nvPr>
            <p:ph type="body" idx="1"/>
          </p:nvPr>
        </p:nvSpPr>
        <p:spPr>
          <a:xfrm>
            <a:off x="195943" y="1752600"/>
            <a:ext cx="12654643" cy="7577667"/>
          </a:xfrm>
          <a:prstGeom prst="rect">
            <a:avLst/>
          </a:prstGeom>
          <a:noFill/>
          <a:ln>
            <a:noFill/>
          </a:ln>
        </p:spPr>
        <p:txBody>
          <a:bodyPr spcFirstLastPara="1" wrap="square" lIns="50800" tIns="50800" rIns="50800" bIns="50800" anchor="ctr" anchorCtr="0">
            <a:noAutofit/>
          </a:bodyPr>
          <a:lstStyle/>
          <a:p>
            <a:pPr marL="584200" lvl="0" indent="-584200" algn="l" rtl="0">
              <a:spcBef>
                <a:spcPts val="0"/>
              </a:spcBef>
              <a:spcAft>
                <a:spcPts val="0"/>
              </a:spcAft>
              <a:buClr>
                <a:srgbClr val="000000"/>
              </a:buClr>
              <a:buSzPts val="4400"/>
              <a:buFont typeface="Calibri"/>
              <a:buChar char="•"/>
            </a:pPr>
            <a:r>
              <a:rPr lang="en-US" sz="4400" dirty="0">
                <a:latin typeface="Calibri" panose="020F0502020204030204" pitchFamily="34" charset="0"/>
                <a:ea typeface="Calibri"/>
                <a:cs typeface="Calibri" panose="020F0502020204030204" pitchFamily="34" charset="0"/>
                <a:sym typeface="Calibri"/>
              </a:rPr>
              <a:t>Which of the following features of hypertension are most closely associated with pheochromocytoma?</a:t>
            </a:r>
            <a:endParaRPr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Intermittent </a:t>
            </a: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Resistant to control </a:t>
            </a:r>
          </a:p>
          <a:p>
            <a:pPr marL="584200" indent="-584200">
              <a:buSzPts val="4400"/>
              <a:buFont typeface="Calibri"/>
              <a:buAutoNum type="alphaUcPeriod"/>
            </a:pPr>
            <a:r>
              <a:rPr lang="en-US" sz="4400" dirty="0">
                <a:latin typeface="Calibri" panose="020F0502020204030204" pitchFamily="34" charset="0"/>
                <a:cs typeface="Calibri" panose="020F0502020204030204" pitchFamily="34" charset="0"/>
                <a:sym typeface="Calibri"/>
              </a:rPr>
              <a:t>Rapidly escalating</a:t>
            </a:r>
            <a:endParaRPr lang="en-US" sz="4400"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Sensitive to medications</a:t>
            </a:r>
            <a:endParaRPr lang="en-US" sz="4400" dirty="0">
              <a:latin typeface="Calibri" panose="020F0502020204030204" pitchFamily="34" charset="0"/>
              <a:cs typeface="Calibri" panose="020F0502020204030204" pitchFamily="34" charset="0"/>
            </a:endParaRPr>
          </a:p>
          <a:p>
            <a:pPr marL="584200" lvl="0" indent="-584200" algn="l" rtl="0">
              <a:spcBef>
                <a:spcPts val="4200"/>
              </a:spcBef>
              <a:spcAft>
                <a:spcPts val="0"/>
              </a:spcAft>
              <a:buClr>
                <a:srgbClr val="000000"/>
              </a:buClr>
              <a:buSzPts val="4400"/>
              <a:buFont typeface="Calibri"/>
              <a:buAutoNum type="alphaUcPeriod"/>
            </a:pPr>
            <a:r>
              <a:rPr lang="en-US" sz="4400" dirty="0">
                <a:latin typeface="Calibri" panose="020F0502020204030204" pitchFamily="34" charset="0"/>
                <a:ea typeface="Calibri"/>
                <a:cs typeface="Calibri" panose="020F0502020204030204" pitchFamily="34" charset="0"/>
                <a:sym typeface="Calibri"/>
              </a:rPr>
              <a:t>Occurring at an early age</a:t>
            </a:r>
          </a:p>
        </p:txBody>
      </p:sp>
    </p:spTree>
    <p:extLst>
      <p:ext uri="{BB962C8B-B14F-4D97-AF65-F5344CB8AC3E}">
        <p14:creationId xmlns:p14="http://schemas.microsoft.com/office/powerpoint/2010/main" val="2615642069"/>
      </p:ext>
    </p:extLst>
  </p:cSld>
  <p:clrMapOvr>
    <a:masterClrMapping/>
  </p:clrMapOvr>
</p:sld>
</file>

<file path=ppt/theme/theme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8646</TotalTime>
  <Words>3064</Words>
  <Application>Microsoft Macintosh PowerPoint</Application>
  <PresentationFormat>Custom</PresentationFormat>
  <Paragraphs>343</Paragraphs>
  <Slides>52</Slides>
  <Notes>52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Helvetica Neue</vt:lpstr>
      <vt:lpstr>Arial</vt:lpstr>
      <vt:lpstr>Helvetica Neue Light</vt:lpstr>
      <vt:lpstr>Calibri</vt:lpstr>
      <vt:lpstr>Office Theme</vt:lpstr>
      <vt:lpstr>Adrenal Disease, Part II Mineralocorticoids and Adrenal Androgens  CMM: Endocrinology   Autumn  2026</vt:lpstr>
      <vt:lpstr>Renin-Angiotensin-Aldosterone </vt:lpstr>
      <vt:lpstr>Renin-Angiotensin-Aldosterone </vt:lpstr>
      <vt:lpstr>The RAA System</vt:lpstr>
      <vt:lpstr>Hypoaldosteronism</vt:lpstr>
      <vt:lpstr>Hypoaldosteronism</vt:lpstr>
      <vt:lpstr>Hypoaldosteronism Pathophysiology</vt:lpstr>
      <vt:lpstr>Hypoaldosteronism</vt:lpstr>
      <vt:lpstr>Hypoaldosteronism, Making the Dx</vt:lpstr>
      <vt:lpstr>Hypoaldosteronism Treatment</vt:lpstr>
      <vt:lpstr>Primary Hyperaldosteronism</vt:lpstr>
      <vt:lpstr>Primary Hyperaldosteronism</vt:lpstr>
      <vt:lpstr>Primary Hyperaldosteronism</vt:lpstr>
      <vt:lpstr>PowerPoint Presentation</vt:lpstr>
      <vt:lpstr>Hyperaldosteronism S/S</vt:lpstr>
      <vt:lpstr>Signs and Symptoms of Hyperaldosteronism</vt:lpstr>
      <vt:lpstr>Who Should Be Tested for PA?</vt:lpstr>
      <vt:lpstr>Who Should Be Tested for PA?</vt:lpstr>
      <vt:lpstr>Making the Hyperaldosteronism Diagnosis</vt:lpstr>
      <vt:lpstr>Making the Hyperaldosteronism Diagnosis</vt:lpstr>
      <vt:lpstr>Making the Hyperaldosteronism Diagnosis</vt:lpstr>
      <vt:lpstr>Making the Hyperaldosteronism Diagnosis</vt:lpstr>
      <vt:lpstr>Hard Stop, Let’s Review Hyperaldosteronism</vt:lpstr>
      <vt:lpstr>Hard Stop, Let’s Review Hyperaldosteronism</vt:lpstr>
      <vt:lpstr>Treatment of An Adrenal Adenoma causing Hyperaldosteronism</vt:lpstr>
      <vt:lpstr>Treatment of Hyperaldosteronism caused by Bilateral Adrenal Hyperplasia</vt:lpstr>
      <vt:lpstr>Question Time</vt:lpstr>
      <vt:lpstr>Question Time</vt:lpstr>
      <vt:lpstr>Question Time</vt:lpstr>
      <vt:lpstr>Normal Physiology of Androgens</vt:lpstr>
      <vt:lpstr>Androgen Excess Etiologies</vt:lpstr>
      <vt:lpstr>Androgen Excess</vt:lpstr>
      <vt:lpstr>Androgen Excess Diagnosis</vt:lpstr>
      <vt:lpstr>Androgen Excess Treatment</vt:lpstr>
      <vt:lpstr>Adrenal Androgen Deficiency</vt:lpstr>
      <vt:lpstr>Incidentalomas</vt:lpstr>
      <vt:lpstr>Incidentalomas</vt:lpstr>
      <vt:lpstr>Pheochromocytoma</vt:lpstr>
      <vt:lpstr>Pheochromocytoma</vt:lpstr>
      <vt:lpstr>Pheochromocytoma</vt:lpstr>
      <vt:lpstr>Symptoms of Pheochromocytoma</vt:lpstr>
      <vt:lpstr>PowerPoint Presentation</vt:lpstr>
      <vt:lpstr>Making the Diagnosis of Pheo</vt:lpstr>
      <vt:lpstr>Making the Diagnosis of Pheo</vt:lpstr>
      <vt:lpstr>Treatment of Pheo</vt:lpstr>
      <vt:lpstr>Treatment of Pheo</vt:lpstr>
      <vt:lpstr>MEN Syndromes</vt:lpstr>
      <vt:lpstr>MEN1 Manifestations</vt:lpstr>
      <vt:lpstr>MEN2 Syndromes</vt:lpstr>
      <vt:lpstr>Question Time</vt:lpstr>
      <vt:lpstr>Question Time</vt:lpstr>
      <vt:lpstr>Question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Adrenal Disease, Part I Introduction and Glucocorticoids  CMM: Endocrinology   Autumn  2022</dc:title>
  <dc:creator>Gulczinski, Jill-Renae</dc:creator>
  <cp:lastModifiedBy>Gulczinski, Jill-Renae</cp:lastModifiedBy>
  <cp:revision>11</cp:revision>
  <dcterms:modified xsi:type="dcterms:W3CDTF">2026-10-04T21:52:39Z</dcterms:modified>
</cp:coreProperties>
</file>