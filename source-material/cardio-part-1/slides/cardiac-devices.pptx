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311"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Lst>
  <p:sldSz cx="9144000" cy="6858000" type="screen4x3"/>
  <p:notesSz cx="6858000" cy="9144000"/>
  <p:embeddedFontLst>
    <p:embeddedFont>
      <p:font typeface="Proxima Nova" panose="02000506030000020004" pitchFamily="2"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jnqeYQQoZJlEy74AehhwZnYhb3F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09"/>
    <p:restoredTop sz="94661"/>
  </p:normalViewPr>
  <p:slideViewPr>
    <p:cSldViewPr snapToGrid="0">
      <p:cViewPr varScale="1">
        <p:scale>
          <a:sx n="114" d="100"/>
          <a:sy n="114" d="100"/>
        </p:scale>
        <p:origin x="1400" y="168"/>
      </p:cViewPr>
      <p:guideLst>
        <p:guide orient="horz" pos="2160"/>
        <p:guide pos="2880"/>
      </p:guideLst>
    </p:cSldViewPr>
  </p:slideViewPr>
  <p:notesTextViewPr>
    <p:cViewPr>
      <p:scale>
        <a:sx n="1" d="1"/>
        <a:sy n="1" d="1"/>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font" Target="fonts/font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4.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2.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3" name="Google Shape;243;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Class I means that the treatment is useful, that its benefit greatly outweighs the risk, and that it should be administered.</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Class IIa means that the benefit outweighs the risk and it is reasonable to administer the treatment.  Class IIa indications include:</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Unexplained syncope, significant LV dysfunction, nonischemic CM</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Sustained VT, normal or near-normal ventricular function</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Hypertrophic cardiomyopathy (CM) with 1 or more major risk factors</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Arrhythmogenic right ventricular dysplasia/cardiomyopathy (ARVD/C) with 1 or more risk factors for sudden cardiac death (SCD)</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Long QT syndrome, syncope or VT while receiving beta blockers</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Nonhospitalized patients awaiting heart transplant</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Brugada syndrome, with syncope or VT</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Catecholaminergic polymorphic VT, syncope or VT while receiving beta blockers</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Cardiac sarcoidosis, giant cell myocarditis, or Chagas disease</a:t>
            </a:r>
            <a:endParaRPr/>
          </a:p>
          <a:p>
            <a:pPr marL="0" lvl="0" indent="0" algn="l" rtl="0">
              <a:lnSpc>
                <a:spcPct val="100000"/>
              </a:lnSpc>
              <a:spcBef>
                <a:spcPts val="0"/>
              </a:spcBef>
              <a:spcAft>
                <a:spcPts val="0"/>
              </a:spcAft>
              <a:buSzPts val="1400"/>
              <a:buNone/>
            </a:pPr>
            <a:r>
              <a:rPr lang="en-US" b="0" i="0">
                <a:solidFill>
                  <a:srgbClr val="2A2A2A"/>
                </a:solidFill>
                <a:latin typeface="Proxima Nova"/>
                <a:ea typeface="Proxima Nova"/>
                <a:cs typeface="Proxima Nova"/>
                <a:sym typeface="Proxima Nova"/>
              </a:rPr>
              <a:t>	</a:t>
            </a:r>
            <a:endParaRPr/>
          </a:p>
        </p:txBody>
      </p:sp>
      <p:sp>
        <p:nvSpPr>
          <p:cNvPr id="301" name="Google Shape;30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a:extLst>
            <a:ext uri="{FF2B5EF4-FFF2-40B4-BE49-F238E27FC236}">
              <a16:creationId xmlns:a16="http://schemas.microsoft.com/office/drawing/2014/main" id="{DC25EB7C-5366-9FC9-3809-93606EBF7A54}"/>
            </a:ext>
          </a:extLst>
        </p:cNvPr>
        <p:cNvGrpSpPr/>
        <p:nvPr/>
      </p:nvGrpSpPr>
      <p:grpSpPr>
        <a:xfrm>
          <a:off x="0" y="0"/>
          <a:ext cx="0" cy="0"/>
          <a:chOff x="0" y="0"/>
          <a:chExt cx="0" cy="0"/>
        </a:xfrm>
      </p:grpSpPr>
      <p:sp>
        <p:nvSpPr>
          <p:cNvPr id="343" name="Google Shape;343;p26:notes">
            <a:extLst>
              <a:ext uri="{FF2B5EF4-FFF2-40B4-BE49-F238E27FC236}">
                <a16:creationId xmlns:a16="http://schemas.microsoft.com/office/drawing/2014/main" id="{A8721672-1F0D-945D-5E6E-942F02EC11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4" name="Google Shape;344;p26:notes">
            <a:extLst>
              <a:ext uri="{FF2B5EF4-FFF2-40B4-BE49-F238E27FC236}">
                <a16:creationId xmlns:a16="http://schemas.microsoft.com/office/drawing/2014/main" id="{BFFFAC49-97A5-40BB-B14E-B74A55525AC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47911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0" name="Google Shape;350;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2" name="Google Shape;36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8" name="Google Shape;388;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0" name="Google Shape;30;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1" name="Google Shape;3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7" name="Google Shape;37;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4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4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4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4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47"/>
          <p:cNvSpPr>
            <a:spLocks noGrp="1"/>
          </p:cNvSpPr>
          <p:nvPr>
            <p:ph type="pic" idx="2"/>
          </p:nvPr>
        </p:nvSpPr>
        <p:spPr>
          <a:xfrm>
            <a:off x="1792288" y="612775"/>
            <a:ext cx="5486400" cy="4114800"/>
          </a:xfrm>
          <a:prstGeom prst="rect">
            <a:avLst/>
          </a:prstGeom>
          <a:noFill/>
          <a:ln>
            <a:noFill/>
          </a:ln>
        </p:spPr>
      </p:sp>
      <p:sp>
        <p:nvSpPr>
          <p:cNvPr id="68" name="Google Shape;68;p4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8"/>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9"/>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9"/>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www.youtube.com/watch?v=HkUhXolsUp4" TargetMode="Externa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5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85800" y="859809"/>
            <a:ext cx="7772400" cy="2740641"/>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Cardiac Devices</a:t>
            </a:r>
            <a:endParaRPr/>
          </a:p>
        </p:txBody>
      </p:sp>
      <p:sp>
        <p:nvSpPr>
          <p:cNvPr id="89" name="Google Shape;89;p1"/>
          <p:cNvSpPr txBox="1">
            <a:spLocks noGrp="1"/>
          </p:cNvSpPr>
          <p:nvPr>
            <p:ph type="subTitle" idx="1"/>
          </p:nvPr>
        </p:nvSpPr>
        <p:spPr>
          <a:xfrm>
            <a:off x="1371600" y="3429000"/>
            <a:ext cx="6400800" cy="17526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888888"/>
              </a:buClr>
              <a:buSzPts val="3200"/>
              <a:buNone/>
            </a:pPr>
            <a:r>
              <a:rPr lang="en-US" dirty="0"/>
              <a:t>CMM: Cardiology		Fall 2026</a:t>
            </a:r>
            <a:endParaRPr dirty="0"/>
          </a:p>
          <a:p>
            <a:pPr marL="0" lvl="0" indent="0" algn="ctr" rtl="0">
              <a:lnSpc>
                <a:spcPct val="100000"/>
              </a:lnSpc>
              <a:spcBef>
                <a:spcPts val="640"/>
              </a:spcBef>
              <a:spcAft>
                <a:spcPts val="0"/>
              </a:spcAft>
              <a:buClr>
                <a:srgbClr val="888888"/>
              </a:buClr>
              <a:buSzPts val="3200"/>
              <a:buNone/>
            </a:pPr>
            <a:endParaRPr dirty="0"/>
          </a:p>
          <a:p>
            <a:pPr marL="0" lvl="0" indent="0" algn="ctr" rtl="0">
              <a:lnSpc>
                <a:spcPct val="100000"/>
              </a:lnSpc>
              <a:spcBef>
                <a:spcPts val="640"/>
              </a:spcBef>
              <a:spcAft>
                <a:spcPts val="0"/>
              </a:spcAft>
              <a:buClr>
                <a:srgbClr val="888888"/>
              </a:buClr>
              <a:buSzPts val="3200"/>
              <a:buNone/>
            </a:pPr>
            <a:r>
              <a:rPr lang="en-US" dirty="0"/>
              <a:t>Jill-Renae Gulczinski, MS, PA-C</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227707" y="136452"/>
            <a:ext cx="8687470" cy="75573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Cardiac Devices</a:t>
            </a:r>
            <a:endParaRPr/>
          </a:p>
        </p:txBody>
      </p:sp>
      <p:sp>
        <p:nvSpPr>
          <p:cNvPr id="96" name="Google Shape;96;p2"/>
          <p:cNvSpPr txBox="1">
            <a:spLocks noGrp="1"/>
          </p:cNvSpPr>
          <p:nvPr>
            <p:ph type="body" idx="1"/>
          </p:nvPr>
        </p:nvSpPr>
        <p:spPr>
          <a:xfrm>
            <a:off x="118753" y="1136073"/>
            <a:ext cx="8918369" cy="5529058"/>
          </a:xfrm>
          <a:prstGeom prst="rect">
            <a:avLst/>
          </a:prstGeom>
          <a:noFill/>
          <a:ln>
            <a:noFill/>
          </a:ln>
        </p:spPr>
        <p:txBody>
          <a:bodyPr spcFirstLastPara="1" wrap="square" lIns="88875" tIns="50775" rIns="88875" bIns="50775" anchor="t" anchorCtr="0">
            <a:noAutofit/>
          </a:bodyPr>
          <a:lstStyle/>
          <a:p>
            <a:pPr marL="342900" lvl="0" indent="-342900" algn="l" rtl="0">
              <a:lnSpc>
                <a:spcPct val="100000"/>
              </a:lnSpc>
              <a:spcBef>
                <a:spcPts val="0"/>
              </a:spcBef>
              <a:spcAft>
                <a:spcPts val="0"/>
              </a:spcAft>
              <a:buClr>
                <a:schemeClr val="dk1"/>
              </a:buClr>
              <a:buSzPts val="3200"/>
              <a:buChar char="•"/>
            </a:pPr>
            <a:r>
              <a:rPr lang="en-US"/>
              <a:t>More than 3 million people in the US have a conventional permanent pacemaker (PPM) and more than 300,000 have an implantable cardioverter-defibrillator (ICD) with pacing capabilities.</a:t>
            </a:r>
            <a:endParaRPr/>
          </a:p>
          <a:p>
            <a:pPr marL="342900" lvl="0" indent="-139700" algn="l" rtl="0">
              <a:lnSpc>
                <a:spcPct val="100000"/>
              </a:lnSpc>
              <a:spcBef>
                <a:spcPts val="640"/>
              </a:spcBef>
              <a:spcAft>
                <a:spcPts val="0"/>
              </a:spcAft>
              <a:buClr>
                <a:schemeClr val="dk1"/>
              </a:buClr>
              <a:buSzPts val="3200"/>
              <a:buNone/>
            </a:pPr>
            <a:endParaRPr/>
          </a:p>
          <a:p>
            <a:pPr marL="342900" lvl="0" indent="-342900" algn="l" rtl="0">
              <a:lnSpc>
                <a:spcPct val="100000"/>
              </a:lnSpc>
              <a:spcBef>
                <a:spcPts val="640"/>
              </a:spcBef>
              <a:spcAft>
                <a:spcPts val="0"/>
              </a:spcAft>
              <a:buClr>
                <a:schemeClr val="dk1"/>
              </a:buClr>
              <a:buSzPts val="3200"/>
              <a:buChar char="•"/>
            </a:pPr>
            <a:r>
              <a:rPr lang="en-US"/>
              <a:t>Pacemakers are generally placed for disease of the AV node or the His-Purkinje system.  Sometimes they are used for sinus node disease as well.</a:t>
            </a:r>
            <a:endParaRPr/>
          </a:p>
          <a:p>
            <a:pPr marL="227698" lvl="0" indent="-100697" algn="l" rtl="0">
              <a:lnSpc>
                <a:spcPct val="100000"/>
              </a:lnSpc>
              <a:spcBef>
                <a:spcPts val="492"/>
              </a:spcBef>
              <a:spcAft>
                <a:spcPts val="0"/>
              </a:spcAft>
              <a:buClr>
                <a:srgbClr val="000000"/>
              </a:buClr>
              <a:buSzPts val="2000"/>
              <a:buFont typeface="Arial"/>
              <a:buNone/>
            </a:pP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227707" y="136452"/>
            <a:ext cx="8687470" cy="902639"/>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Do They Need a Pacemaker?</a:t>
            </a:r>
            <a:endParaRPr/>
          </a:p>
        </p:txBody>
      </p:sp>
      <p:sp>
        <p:nvSpPr>
          <p:cNvPr id="103" name="Google Shape;103;p3"/>
          <p:cNvSpPr txBox="1">
            <a:spLocks noGrp="1"/>
          </p:cNvSpPr>
          <p:nvPr>
            <p:ph type="body" idx="1"/>
          </p:nvPr>
        </p:nvSpPr>
        <p:spPr>
          <a:xfrm>
            <a:off x="118753" y="1136073"/>
            <a:ext cx="8900556" cy="5529058"/>
          </a:xfrm>
          <a:prstGeom prst="rect">
            <a:avLst/>
          </a:prstGeom>
          <a:noFill/>
          <a:ln>
            <a:noFill/>
          </a:ln>
        </p:spPr>
        <p:txBody>
          <a:bodyPr spcFirstLastPara="1" wrap="square" lIns="88875" tIns="50775" rIns="88875" bIns="50775" anchor="t" anchorCtr="0">
            <a:noAutofit/>
          </a:bodyPr>
          <a:lstStyle/>
          <a:p>
            <a:pPr marL="342900" lvl="0" indent="-342900" algn="l" rtl="0">
              <a:lnSpc>
                <a:spcPct val="100000"/>
              </a:lnSpc>
              <a:spcBef>
                <a:spcPts val="0"/>
              </a:spcBef>
              <a:spcAft>
                <a:spcPts val="0"/>
              </a:spcAft>
              <a:buClr>
                <a:schemeClr val="dk1"/>
              </a:buClr>
              <a:buSzPts val="3200"/>
              <a:buChar char="•"/>
            </a:pPr>
            <a:r>
              <a:rPr lang="en-US"/>
              <a:t>There are plenty of instances in which a patient has a bradyarrhythmia when a PPM is not warranted, including bradycardia/blocks occurring</a:t>
            </a:r>
            <a:endParaRPr/>
          </a:p>
          <a:p>
            <a:pPr marL="514350" lvl="0" indent="-514350" algn="l" rtl="0">
              <a:lnSpc>
                <a:spcPct val="100000"/>
              </a:lnSpc>
              <a:spcBef>
                <a:spcPts val="640"/>
              </a:spcBef>
              <a:spcAft>
                <a:spcPts val="0"/>
              </a:spcAft>
              <a:buClr>
                <a:schemeClr val="dk1"/>
              </a:buClr>
              <a:buSzPts val="3200"/>
              <a:buFont typeface="Calibri"/>
              <a:buAutoNum type="arabicPeriod"/>
            </a:pPr>
            <a:r>
              <a:rPr lang="en-US"/>
              <a:t>While “under the influence” of medications that block the AV node</a:t>
            </a:r>
            <a:endParaRPr/>
          </a:p>
          <a:p>
            <a:pPr marL="514350" lvl="0" indent="-514350" algn="l" rtl="0">
              <a:lnSpc>
                <a:spcPct val="100000"/>
              </a:lnSpc>
              <a:spcBef>
                <a:spcPts val="640"/>
              </a:spcBef>
              <a:spcAft>
                <a:spcPts val="0"/>
              </a:spcAft>
              <a:buClr>
                <a:schemeClr val="dk1"/>
              </a:buClr>
              <a:buSzPts val="3200"/>
              <a:buFont typeface="Calibri"/>
              <a:buAutoNum type="arabicPeriod"/>
            </a:pPr>
            <a:r>
              <a:rPr lang="en-US"/>
              <a:t>In the presence of severe electrolyte disturbances, or toxic/ metabolic abnormalities</a:t>
            </a:r>
            <a:endParaRPr/>
          </a:p>
          <a:p>
            <a:pPr marL="514350" lvl="0" indent="-514350" algn="l" rtl="0">
              <a:lnSpc>
                <a:spcPct val="100000"/>
              </a:lnSpc>
              <a:spcBef>
                <a:spcPts val="640"/>
              </a:spcBef>
              <a:spcAft>
                <a:spcPts val="0"/>
              </a:spcAft>
              <a:buClr>
                <a:schemeClr val="dk1"/>
              </a:buClr>
              <a:buSzPts val="3200"/>
              <a:buFont typeface="Calibri"/>
              <a:buAutoNum type="arabicPeriod"/>
            </a:pPr>
            <a:r>
              <a:rPr lang="en-US"/>
              <a:t>During myocardial ischemia or infarction</a:t>
            </a:r>
            <a:endParaRPr/>
          </a:p>
          <a:p>
            <a:pPr marL="514350" lvl="0" indent="-514350" algn="l" rtl="0">
              <a:lnSpc>
                <a:spcPct val="100000"/>
              </a:lnSpc>
              <a:spcBef>
                <a:spcPts val="640"/>
              </a:spcBef>
              <a:spcAft>
                <a:spcPts val="0"/>
              </a:spcAft>
              <a:buClr>
                <a:schemeClr val="dk1"/>
              </a:buClr>
              <a:buSzPts val="3200"/>
              <a:buFont typeface="Calibri"/>
              <a:buAutoNum type="arabicPeriod"/>
            </a:pPr>
            <a:r>
              <a:rPr lang="en-US"/>
              <a:t>Due to infectious etiology, such as Lyme dz or IE</a:t>
            </a:r>
            <a:endParaRPr/>
          </a:p>
          <a:p>
            <a:pPr marL="514350" lvl="0" indent="-514350" algn="l" rtl="0">
              <a:lnSpc>
                <a:spcPct val="100000"/>
              </a:lnSpc>
              <a:spcBef>
                <a:spcPts val="640"/>
              </a:spcBef>
              <a:spcAft>
                <a:spcPts val="0"/>
              </a:spcAft>
              <a:buClr>
                <a:schemeClr val="dk1"/>
              </a:buClr>
              <a:buSzPts val="3200"/>
              <a:buFont typeface="Calibri"/>
              <a:buAutoNum type="arabicPeriod"/>
            </a:pPr>
            <a:r>
              <a:rPr lang="en-US"/>
              <a:t>After chest trauma</a:t>
            </a:r>
            <a:endParaRPr/>
          </a:p>
          <a:p>
            <a:pPr marL="227698" lvl="0" indent="-100697" algn="l" rtl="0">
              <a:lnSpc>
                <a:spcPct val="100000"/>
              </a:lnSpc>
              <a:spcBef>
                <a:spcPts val="492"/>
              </a:spcBef>
              <a:spcAft>
                <a:spcPts val="0"/>
              </a:spcAft>
              <a:buClr>
                <a:srgbClr val="000000"/>
              </a:buClr>
              <a:buSzPts val="2000"/>
              <a:buFont typeface="Arial"/>
              <a:buNone/>
            </a:pP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227707" y="136452"/>
            <a:ext cx="8687470" cy="902639"/>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Do They Need a Pacemaker?</a:t>
            </a:r>
            <a:endParaRPr/>
          </a:p>
        </p:txBody>
      </p:sp>
      <p:sp>
        <p:nvSpPr>
          <p:cNvPr id="110" name="Google Shape;110;p4"/>
          <p:cNvSpPr txBox="1">
            <a:spLocks noGrp="1"/>
          </p:cNvSpPr>
          <p:nvPr>
            <p:ph type="body" idx="1"/>
          </p:nvPr>
        </p:nvSpPr>
        <p:spPr>
          <a:xfrm>
            <a:off x="227707" y="1136074"/>
            <a:ext cx="8687471" cy="1654628"/>
          </a:xfrm>
          <a:prstGeom prst="rect">
            <a:avLst/>
          </a:prstGeom>
          <a:noFill/>
          <a:ln>
            <a:noFill/>
          </a:ln>
        </p:spPr>
        <p:txBody>
          <a:bodyPr spcFirstLastPara="1" wrap="square" lIns="88875" tIns="50775" rIns="88875" bIns="50775" anchor="t" anchorCtr="0">
            <a:noAutofit/>
          </a:bodyPr>
          <a:lstStyle/>
          <a:p>
            <a:pPr marL="342900" lvl="0" indent="-342900" algn="l" rtl="0">
              <a:lnSpc>
                <a:spcPct val="100000"/>
              </a:lnSpc>
              <a:spcBef>
                <a:spcPts val="0"/>
              </a:spcBef>
              <a:spcAft>
                <a:spcPts val="0"/>
              </a:spcAft>
              <a:buClr>
                <a:schemeClr val="dk1"/>
              </a:buClr>
              <a:buSzPts val="3200"/>
              <a:buChar char="•"/>
            </a:pPr>
            <a:r>
              <a:rPr lang="en-US"/>
              <a:t>Instead, during these times, the offending drugs should be held, the metabolic disturbance corrected, or the underlying disease treated.</a:t>
            </a:r>
            <a:endParaRPr/>
          </a:p>
        </p:txBody>
      </p:sp>
      <p:pic>
        <p:nvPicPr>
          <p:cNvPr id="111" name="Google Shape;111;p4" descr="How to Apply AED Pads"/>
          <p:cNvPicPr preferRelativeResize="0"/>
          <p:nvPr/>
        </p:nvPicPr>
        <p:blipFill rotWithShape="1">
          <a:blip r:embed="rId3">
            <a:alphaModFix/>
          </a:blip>
          <a:srcRect l="51688" t="13641" r="2502" b="9750"/>
          <a:stretch/>
        </p:blipFill>
        <p:spPr>
          <a:xfrm>
            <a:off x="6181113" y="3906983"/>
            <a:ext cx="2817191" cy="2453776"/>
          </a:xfrm>
          <a:prstGeom prst="rect">
            <a:avLst/>
          </a:prstGeom>
          <a:noFill/>
          <a:ln>
            <a:noFill/>
          </a:ln>
        </p:spPr>
      </p:pic>
      <p:sp>
        <p:nvSpPr>
          <p:cNvPr id="112" name="Google Shape;112;p4"/>
          <p:cNvSpPr txBox="1"/>
          <p:nvPr/>
        </p:nvSpPr>
        <p:spPr>
          <a:xfrm>
            <a:off x="227707" y="2887685"/>
            <a:ext cx="6030589" cy="326243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The heart should be monitored closely, and depending on the situation, the patient may have a crash cart nearby or even pacer pads applied while they are treated.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xfrm>
            <a:off x="227707" y="136452"/>
            <a:ext cx="8687470" cy="75573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Types of Pacemakers</a:t>
            </a:r>
            <a:endParaRPr/>
          </a:p>
        </p:txBody>
      </p:sp>
      <p:pic>
        <p:nvPicPr>
          <p:cNvPr id="119" name="Google Shape;119;p5"/>
          <p:cNvPicPr preferRelativeResize="0"/>
          <p:nvPr/>
        </p:nvPicPr>
        <p:blipFill rotWithShape="1">
          <a:blip r:embed="rId3">
            <a:alphaModFix/>
          </a:blip>
          <a:srcRect r="56088"/>
          <a:stretch/>
        </p:blipFill>
        <p:spPr>
          <a:xfrm>
            <a:off x="4288205" y="3137284"/>
            <a:ext cx="4855795" cy="3720716"/>
          </a:xfrm>
          <a:prstGeom prst="rect">
            <a:avLst/>
          </a:prstGeom>
          <a:noFill/>
          <a:ln>
            <a:noFill/>
          </a:ln>
        </p:spPr>
      </p:pic>
      <p:sp>
        <p:nvSpPr>
          <p:cNvPr id="120" name="Google Shape;120;p5"/>
          <p:cNvSpPr txBox="1">
            <a:spLocks noGrp="1"/>
          </p:cNvSpPr>
          <p:nvPr>
            <p:ph type="body" idx="1"/>
          </p:nvPr>
        </p:nvSpPr>
        <p:spPr>
          <a:xfrm>
            <a:off x="227707" y="892183"/>
            <a:ext cx="8687470" cy="2052232"/>
          </a:xfrm>
          <a:prstGeom prst="rect">
            <a:avLst/>
          </a:prstGeom>
          <a:noFill/>
          <a:ln>
            <a:noFill/>
          </a:ln>
        </p:spPr>
        <p:txBody>
          <a:bodyPr spcFirstLastPara="1" wrap="square" lIns="88875" tIns="50775" rIns="88875" bIns="50775" anchor="t" anchorCtr="0">
            <a:noAutofit/>
          </a:bodyPr>
          <a:lstStyle/>
          <a:p>
            <a:pPr marL="227698" lvl="0" indent="-227698" algn="l" rtl="0">
              <a:lnSpc>
                <a:spcPct val="100000"/>
              </a:lnSpc>
              <a:spcBef>
                <a:spcPts val="0"/>
              </a:spcBef>
              <a:spcAft>
                <a:spcPts val="0"/>
              </a:spcAft>
              <a:buClr>
                <a:srgbClr val="000000"/>
              </a:buClr>
              <a:buSzPts val="3200"/>
              <a:buFont typeface="Arial"/>
              <a:buChar char="•"/>
            </a:pPr>
            <a:r>
              <a:rPr lang="en-US" b="1"/>
              <a:t>Transcutaneous</a:t>
            </a:r>
            <a:r>
              <a:rPr lang="en-US"/>
              <a:t>: temporary and painful, used for a minimal time until a transvenous pacer can be placed.  The patient often requires sedation during transcutaneous pacing.</a:t>
            </a:r>
            <a:endParaRPr/>
          </a:p>
          <a:p>
            <a:pPr marL="227698" lvl="0" indent="-24497" algn="l" rtl="0">
              <a:lnSpc>
                <a:spcPct val="100000"/>
              </a:lnSpc>
              <a:spcBef>
                <a:spcPts val="492"/>
              </a:spcBef>
              <a:spcAft>
                <a:spcPts val="0"/>
              </a:spcAft>
              <a:buClr>
                <a:srgbClr val="000000"/>
              </a:buClr>
              <a:buSzPts val="3200"/>
              <a:buFont typeface="Arial"/>
              <a:buNone/>
            </a:pPr>
            <a:endParaRPr/>
          </a:p>
        </p:txBody>
      </p:sp>
      <p:pic>
        <p:nvPicPr>
          <p:cNvPr id="121" name="Google Shape;121;p5" descr="Completely Disassociated - The Emergency Medical Minute"/>
          <p:cNvPicPr preferRelativeResize="0"/>
          <p:nvPr/>
        </p:nvPicPr>
        <p:blipFill rotWithShape="1">
          <a:blip r:embed="rId4">
            <a:alphaModFix/>
          </a:blip>
          <a:srcRect/>
          <a:stretch/>
        </p:blipFill>
        <p:spPr>
          <a:xfrm>
            <a:off x="227707" y="3102973"/>
            <a:ext cx="4813300" cy="1701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227707" y="136452"/>
            <a:ext cx="8687470" cy="75573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Types of Pacemakers</a:t>
            </a:r>
            <a:endParaRPr/>
          </a:p>
        </p:txBody>
      </p:sp>
      <p:pic>
        <p:nvPicPr>
          <p:cNvPr id="128" name="Google Shape;128;p6"/>
          <p:cNvPicPr preferRelativeResize="0"/>
          <p:nvPr/>
        </p:nvPicPr>
        <p:blipFill rotWithShape="1">
          <a:blip r:embed="rId3">
            <a:alphaModFix/>
          </a:blip>
          <a:srcRect/>
          <a:stretch/>
        </p:blipFill>
        <p:spPr>
          <a:xfrm>
            <a:off x="748146" y="3362137"/>
            <a:ext cx="7342909" cy="3495863"/>
          </a:xfrm>
          <a:prstGeom prst="rect">
            <a:avLst/>
          </a:prstGeom>
          <a:noFill/>
          <a:ln>
            <a:noFill/>
          </a:ln>
        </p:spPr>
      </p:pic>
      <p:sp>
        <p:nvSpPr>
          <p:cNvPr id="129" name="Google Shape;129;p6"/>
          <p:cNvSpPr txBox="1">
            <a:spLocks noGrp="1"/>
          </p:cNvSpPr>
          <p:nvPr>
            <p:ph type="body" idx="1"/>
          </p:nvPr>
        </p:nvSpPr>
        <p:spPr>
          <a:xfrm>
            <a:off x="106878" y="892183"/>
            <a:ext cx="8942119" cy="2469954"/>
          </a:xfrm>
          <a:prstGeom prst="rect">
            <a:avLst/>
          </a:prstGeom>
          <a:noFill/>
          <a:ln>
            <a:noFill/>
          </a:ln>
        </p:spPr>
        <p:txBody>
          <a:bodyPr spcFirstLastPara="1" wrap="square" lIns="88875" tIns="50775" rIns="88875" bIns="50775" anchor="t" anchorCtr="0">
            <a:noAutofit/>
          </a:bodyPr>
          <a:lstStyle/>
          <a:p>
            <a:pPr marL="342900" lvl="0" indent="-342900" algn="l" rtl="0">
              <a:lnSpc>
                <a:spcPct val="100000"/>
              </a:lnSpc>
              <a:spcBef>
                <a:spcPts val="0"/>
              </a:spcBef>
              <a:spcAft>
                <a:spcPts val="0"/>
              </a:spcAft>
              <a:buClr>
                <a:srgbClr val="000000"/>
              </a:buClr>
              <a:buSzPts val="3200"/>
              <a:buChar char="•"/>
            </a:pPr>
            <a:r>
              <a:rPr lang="en-US" b="1"/>
              <a:t>Transvenous</a:t>
            </a:r>
            <a:r>
              <a:rPr lang="en-US"/>
              <a:t>: temporary pacing wires, placed for &lt;24 hours in a patient who requires pacing in order to bridge them to the OR for a permanent pacemaker.  Not painful, the patient is on strict bedrest.</a:t>
            </a:r>
            <a:endParaRPr/>
          </a:p>
          <a:p>
            <a:pPr marL="227698" lvl="0" indent="-100697" algn="l" rtl="0">
              <a:lnSpc>
                <a:spcPct val="100000"/>
              </a:lnSpc>
              <a:spcBef>
                <a:spcPts val="492"/>
              </a:spcBef>
              <a:spcAft>
                <a:spcPts val="0"/>
              </a:spcAft>
              <a:buClr>
                <a:srgbClr val="000000"/>
              </a:buClr>
              <a:buSzPts val="2000"/>
              <a:buFont typeface="Arial"/>
              <a:buNone/>
            </a:pP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txBox="1">
            <a:spLocks noGrp="1"/>
          </p:cNvSpPr>
          <p:nvPr>
            <p:ph type="title"/>
          </p:nvPr>
        </p:nvSpPr>
        <p:spPr>
          <a:xfrm>
            <a:off x="227707" y="136452"/>
            <a:ext cx="8687470" cy="75573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Types of Pacemakers- Temporary</a:t>
            </a:r>
            <a:endParaRPr/>
          </a:p>
        </p:txBody>
      </p:sp>
      <p:sp>
        <p:nvSpPr>
          <p:cNvPr id="135" name="Google Shape;135;p7"/>
          <p:cNvSpPr txBox="1">
            <a:spLocks noGrp="1"/>
          </p:cNvSpPr>
          <p:nvPr>
            <p:ph type="body" idx="1"/>
          </p:nvPr>
        </p:nvSpPr>
        <p:spPr>
          <a:xfrm>
            <a:off x="110836" y="985652"/>
            <a:ext cx="8904597" cy="5735895"/>
          </a:xfrm>
          <a:prstGeom prst="rect">
            <a:avLst/>
          </a:prstGeom>
          <a:noFill/>
          <a:ln>
            <a:noFill/>
          </a:ln>
        </p:spPr>
        <p:txBody>
          <a:bodyPr spcFirstLastPara="1" wrap="square" lIns="88875" tIns="50775" rIns="88875" bIns="50775" anchor="t" anchorCtr="0">
            <a:noAutofit/>
          </a:bodyPr>
          <a:lstStyle/>
          <a:p>
            <a:pPr marL="603251" lvl="0" indent="-457200" algn="l" rtl="0">
              <a:lnSpc>
                <a:spcPct val="100000"/>
              </a:lnSpc>
              <a:spcBef>
                <a:spcPts val="492"/>
              </a:spcBef>
              <a:spcAft>
                <a:spcPts val="0"/>
              </a:spcAft>
              <a:buClr>
                <a:srgbClr val="000000"/>
              </a:buClr>
              <a:buSzPts val="3200"/>
              <a:buChar char="•"/>
            </a:pPr>
            <a:r>
              <a:rPr lang="en-US"/>
              <a:t>Temporary transcutaneous or transvenous pacing is only used for a short time when there is life-threatening lack of intrinsic cardiac pacing.</a:t>
            </a:r>
            <a:endParaRPr/>
          </a:p>
          <a:p>
            <a:pPr marL="603251" lvl="0" indent="-254000" algn="l" rtl="0">
              <a:lnSpc>
                <a:spcPct val="100000"/>
              </a:lnSpc>
              <a:spcBef>
                <a:spcPts val="492"/>
              </a:spcBef>
              <a:spcAft>
                <a:spcPts val="0"/>
              </a:spcAft>
              <a:buClr>
                <a:srgbClr val="000000"/>
              </a:buClr>
              <a:buSzPts val="3200"/>
              <a:buNone/>
            </a:pPr>
            <a:endParaRPr/>
          </a:p>
          <a:p>
            <a:pPr marL="603251" lvl="0" indent="-457200" algn="l" rtl="0">
              <a:lnSpc>
                <a:spcPct val="100000"/>
              </a:lnSpc>
              <a:spcBef>
                <a:spcPts val="492"/>
              </a:spcBef>
              <a:spcAft>
                <a:spcPts val="0"/>
              </a:spcAft>
              <a:buClr>
                <a:srgbClr val="000000"/>
              </a:buClr>
              <a:buSzPts val="3200"/>
              <a:buChar char="•"/>
            </a:pPr>
            <a:r>
              <a:rPr lang="en-US"/>
              <a:t>Major indications include:</a:t>
            </a:r>
            <a:endParaRPr/>
          </a:p>
          <a:p>
            <a:pPr marL="1060451" lvl="1" indent="-457199" algn="l" rtl="0">
              <a:lnSpc>
                <a:spcPct val="100000"/>
              </a:lnSpc>
              <a:spcBef>
                <a:spcPts val="492"/>
              </a:spcBef>
              <a:spcAft>
                <a:spcPts val="0"/>
              </a:spcAft>
              <a:buClr>
                <a:srgbClr val="000000"/>
              </a:buClr>
              <a:buSzPts val="3200"/>
              <a:buChar char="–"/>
            </a:pPr>
            <a:r>
              <a:rPr lang="en-US">
                <a:latin typeface="Calibri"/>
                <a:ea typeface="Calibri"/>
                <a:cs typeface="Calibri"/>
                <a:sym typeface="Calibri"/>
              </a:rPr>
              <a:t>Bradyarrhythmias causing hemodynamic instability</a:t>
            </a:r>
            <a:endParaRPr/>
          </a:p>
          <a:p>
            <a:pPr marL="1060451" lvl="1" indent="-457199" algn="l" rtl="0">
              <a:lnSpc>
                <a:spcPct val="100000"/>
              </a:lnSpc>
              <a:spcBef>
                <a:spcPts val="492"/>
              </a:spcBef>
              <a:spcAft>
                <a:spcPts val="0"/>
              </a:spcAft>
              <a:buClr>
                <a:srgbClr val="000000"/>
              </a:buClr>
              <a:buSzPts val="3200"/>
              <a:buChar char="–"/>
            </a:pPr>
            <a:r>
              <a:rPr lang="en-US">
                <a:solidFill>
                  <a:srgbClr val="2A2A2A"/>
                </a:solidFill>
                <a:latin typeface="Calibri"/>
                <a:ea typeface="Calibri"/>
                <a:cs typeface="Calibri"/>
                <a:sym typeface="Calibri"/>
              </a:rPr>
              <a:t>T</a:t>
            </a:r>
            <a:r>
              <a:rPr lang="en-US" b="0" i="0">
                <a:solidFill>
                  <a:srgbClr val="2A2A2A"/>
                </a:solidFill>
                <a:latin typeface="Calibri"/>
                <a:ea typeface="Calibri"/>
                <a:cs typeface="Calibri"/>
                <a:sym typeface="Calibri"/>
              </a:rPr>
              <a:t>ranscatheter aortic valve replacement (TAVR) </a:t>
            </a:r>
            <a:endParaRPr/>
          </a:p>
          <a:p>
            <a:pPr marL="1060451" lvl="1" indent="-457199" algn="l" rtl="0">
              <a:lnSpc>
                <a:spcPct val="100000"/>
              </a:lnSpc>
              <a:spcBef>
                <a:spcPts val="492"/>
              </a:spcBef>
              <a:spcAft>
                <a:spcPts val="0"/>
              </a:spcAft>
              <a:buClr>
                <a:srgbClr val="000000"/>
              </a:buClr>
              <a:buSzPts val="3200"/>
              <a:buChar char="–"/>
            </a:pPr>
            <a:r>
              <a:rPr lang="en-US">
                <a:solidFill>
                  <a:srgbClr val="2A2A2A"/>
                </a:solidFill>
                <a:latin typeface="Calibri"/>
                <a:ea typeface="Calibri"/>
                <a:cs typeface="Calibri"/>
                <a:sym typeface="Calibri"/>
              </a:rPr>
              <a:t>P</a:t>
            </a:r>
            <a:r>
              <a:rPr lang="en-US" b="0" i="0">
                <a:solidFill>
                  <a:srgbClr val="2A2A2A"/>
                </a:solidFill>
                <a:latin typeface="Calibri"/>
                <a:ea typeface="Calibri"/>
                <a:cs typeface="Calibri"/>
                <a:sym typeface="Calibri"/>
              </a:rPr>
              <a:t>rophylaxis during the post-op period surrounding cardiac valvular surgery </a:t>
            </a:r>
            <a:endParaRPr/>
          </a:p>
          <a:p>
            <a:pPr marL="1060451" lvl="1" indent="-457199" algn="l" rtl="0">
              <a:lnSpc>
                <a:spcPct val="100000"/>
              </a:lnSpc>
              <a:spcBef>
                <a:spcPts val="492"/>
              </a:spcBef>
              <a:spcAft>
                <a:spcPts val="0"/>
              </a:spcAft>
              <a:buClr>
                <a:srgbClr val="000000"/>
              </a:buClr>
              <a:buSzPts val="3200"/>
              <a:buChar char="–"/>
            </a:pPr>
            <a:r>
              <a:rPr lang="en-US" b="0" i="0">
                <a:solidFill>
                  <a:srgbClr val="2A2A2A"/>
                </a:solidFill>
                <a:latin typeface="Calibri"/>
                <a:ea typeface="Calibri"/>
                <a:cs typeface="Calibri"/>
                <a:sym typeface="Calibri"/>
              </a:rPr>
              <a:t>Lyme disease or other infections (Chagas disease) that cause interval changes</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50"/>
          <p:cNvSpPr txBox="1">
            <a:spLocks noGrp="1"/>
          </p:cNvSpPr>
          <p:nvPr>
            <p:ph type="title"/>
          </p:nvPr>
        </p:nvSpPr>
        <p:spPr>
          <a:xfrm>
            <a:off x="227707" y="136452"/>
            <a:ext cx="8687470" cy="75573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Types of Pacemakers- Permanent</a:t>
            </a:r>
            <a:endParaRPr/>
          </a:p>
        </p:txBody>
      </p:sp>
      <p:sp>
        <p:nvSpPr>
          <p:cNvPr id="141" name="Google Shape;141;p50"/>
          <p:cNvSpPr txBox="1">
            <a:spLocks noGrp="1"/>
          </p:cNvSpPr>
          <p:nvPr>
            <p:ph type="body" idx="1"/>
          </p:nvPr>
        </p:nvSpPr>
        <p:spPr>
          <a:xfrm>
            <a:off x="110836" y="1108363"/>
            <a:ext cx="8904597" cy="5613185"/>
          </a:xfrm>
          <a:prstGeom prst="rect">
            <a:avLst/>
          </a:prstGeom>
          <a:noFill/>
          <a:ln>
            <a:noFill/>
          </a:ln>
        </p:spPr>
        <p:txBody>
          <a:bodyPr spcFirstLastPara="1" wrap="square" lIns="88875" tIns="50775" rIns="88875" bIns="50775" anchor="t" anchorCtr="0">
            <a:noAutofit/>
          </a:bodyPr>
          <a:lstStyle/>
          <a:p>
            <a:pPr marL="227698" lvl="0" indent="-227698" algn="l" rtl="0">
              <a:lnSpc>
                <a:spcPct val="100000"/>
              </a:lnSpc>
              <a:spcBef>
                <a:spcPts val="0"/>
              </a:spcBef>
              <a:spcAft>
                <a:spcPts val="0"/>
              </a:spcAft>
              <a:buClr>
                <a:srgbClr val="000000"/>
              </a:buClr>
              <a:buSzPts val="3200"/>
              <a:buFont typeface="Arial"/>
              <a:buChar char="•"/>
            </a:pPr>
            <a:r>
              <a:rPr lang="en-US" b="1" i="1"/>
              <a:t>Single</a:t>
            </a:r>
            <a:r>
              <a:rPr lang="en-US"/>
              <a:t>: one lead is connected to the right ventricle.</a:t>
            </a:r>
            <a:endParaRPr/>
          </a:p>
          <a:p>
            <a:pPr marL="227698" lvl="0" indent="-227698" algn="l" rtl="0">
              <a:lnSpc>
                <a:spcPct val="100000"/>
              </a:lnSpc>
              <a:spcBef>
                <a:spcPts val="492"/>
              </a:spcBef>
              <a:spcAft>
                <a:spcPts val="0"/>
              </a:spcAft>
              <a:buClr>
                <a:srgbClr val="000000"/>
              </a:buClr>
              <a:buSzPts val="3200"/>
              <a:buFont typeface="Arial"/>
              <a:buChar char="•"/>
            </a:pPr>
            <a:r>
              <a:rPr lang="en-US" b="1" i="1"/>
              <a:t>Dual chamber</a:t>
            </a:r>
            <a:r>
              <a:rPr lang="en-US"/>
              <a:t>: two leads, one each to the right atria and right ventricle.</a:t>
            </a:r>
            <a:endParaRPr/>
          </a:p>
          <a:p>
            <a:pPr marL="227698" lvl="0" indent="-24497" algn="l" rtl="0">
              <a:lnSpc>
                <a:spcPct val="100000"/>
              </a:lnSpc>
              <a:spcBef>
                <a:spcPts val="492"/>
              </a:spcBef>
              <a:spcAft>
                <a:spcPts val="0"/>
              </a:spcAft>
              <a:buClr>
                <a:srgbClr val="000000"/>
              </a:buClr>
              <a:buSzPts val="3200"/>
              <a:buFont typeface="Arial"/>
              <a:buNone/>
            </a:pPr>
            <a:endParaRPr/>
          </a:p>
          <a:p>
            <a:pPr marL="342900" lvl="0" indent="-342900" algn="l" rtl="0">
              <a:lnSpc>
                <a:spcPct val="100000"/>
              </a:lnSpc>
              <a:spcBef>
                <a:spcPts val="492"/>
              </a:spcBef>
              <a:spcAft>
                <a:spcPts val="0"/>
              </a:spcAft>
              <a:buClr>
                <a:srgbClr val="000000"/>
              </a:buClr>
              <a:buSzPts val="3200"/>
              <a:buFont typeface="Arial"/>
              <a:buChar char="•"/>
            </a:pPr>
            <a:r>
              <a:rPr lang="en-US" b="1" i="1"/>
              <a:t>Biventricular</a:t>
            </a:r>
            <a:r>
              <a:rPr lang="en-US"/>
              <a:t>: three leads, one to the RA and one each to the right ventricle and left ventricle, </a:t>
            </a:r>
            <a:r>
              <a:rPr lang="en-US" b="1" i="1"/>
              <a:t>a resynchronization device </a:t>
            </a:r>
            <a:r>
              <a:rPr lang="en-US"/>
              <a:t>that allows the heart to beat more efficiently.  Cardiac resynchronization therapy (CRT) is </a:t>
            </a:r>
            <a:r>
              <a:rPr lang="en-US" b="1" i="1"/>
              <a:t>used in HFrEF when altering the cardiac cycle may improve the cardiac output.</a:t>
            </a:r>
            <a:endParaRPr/>
          </a:p>
          <a:p>
            <a:pPr marL="627749" lvl="1" indent="-24497" algn="l" rtl="0">
              <a:lnSpc>
                <a:spcPct val="100000"/>
              </a:lnSpc>
              <a:spcBef>
                <a:spcPts val="492"/>
              </a:spcBef>
              <a:spcAft>
                <a:spcPts val="0"/>
              </a:spcAft>
              <a:buClr>
                <a:srgbClr val="000000"/>
              </a:buClr>
              <a:buSzPts val="3200"/>
              <a:buFont typeface="Arial"/>
              <a:buNone/>
            </a:pP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Pacemakers Parts</a:t>
            </a:r>
            <a:endParaRPr/>
          </a:p>
        </p:txBody>
      </p:sp>
      <p:sp>
        <p:nvSpPr>
          <p:cNvPr id="147" name="Google Shape;147;p8"/>
          <p:cNvSpPr txBox="1">
            <a:spLocks noGrp="1"/>
          </p:cNvSpPr>
          <p:nvPr>
            <p:ph type="body" idx="1"/>
          </p:nvPr>
        </p:nvSpPr>
        <p:spPr>
          <a:xfrm>
            <a:off x="124692" y="1187355"/>
            <a:ext cx="8880246" cy="5576179"/>
          </a:xfrm>
          <a:prstGeom prst="rect">
            <a:avLst/>
          </a:prstGeom>
          <a:noFill/>
          <a:ln>
            <a:noFill/>
          </a:ln>
        </p:spPr>
        <p:txBody>
          <a:bodyPr spcFirstLastPara="1" wrap="square" lIns="88875" tIns="50775" rIns="88875" bIns="50775" anchor="t" anchorCtr="0">
            <a:normAutofit/>
          </a:bodyPr>
          <a:lstStyle/>
          <a:p>
            <a:pPr marL="342665" lvl="0" indent="-342665" algn="l" rtl="0">
              <a:lnSpc>
                <a:spcPct val="100000"/>
              </a:lnSpc>
              <a:spcBef>
                <a:spcPts val="0"/>
              </a:spcBef>
              <a:spcAft>
                <a:spcPts val="0"/>
              </a:spcAft>
              <a:buClr>
                <a:srgbClr val="000000"/>
              </a:buClr>
              <a:buSzPts val="3500"/>
              <a:buFont typeface="Arial"/>
              <a:buChar char="•"/>
            </a:pPr>
            <a:r>
              <a:rPr lang="en-US" b="1" i="1"/>
              <a:t>Pacemakers consist of a pulse generator, </a:t>
            </a:r>
            <a:r>
              <a:rPr lang="en-US"/>
              <a:t>located in a subcutaneous pocket in the chest wall </a:t>
            </a:r>
            <a:r>
              <a:rPr lang="en-US" b="1" i="1"/>
              <a:t>and electrical leads, </a:t>
            </a:r>
            <a:r>
              <a:rPr lang="en-US"/>
              <a:t>which travel through a major vein of the chest to reach the right side of the heart </a:t>
            </a:r>
            <a:r>
              <a:rPr lang="en-US" sz="2500"/>
              <a:t>(in most patients). </a:t>
            </a:r>
            <a:endParaRPr sz="2500"/>
          </a:p>
          <a:p>
            <a:pPr marL="342665" lvl="0" indent="-120415" algn="l" rtl="0">
              <a:lnSpc>
                <a:spcPct val="100000"/>
              </a:lnSpc>
              <a:spcBef>
                <a:spcPts val="492"/>
              </a:spcBef>
              <a:spcAft>
                <a:spcPts val="0"/>
              </a:spcAft>
              <a:buClr>
                <a:srgbClr val="000000"/>
              </a:buClr>
              <a:buSzPts val="3500"/>
              <a:buFont typeface="Arial"/>
              <a:buNone/>
            </a:pPr>
            <a:endParaRPr sz="3500"/>
          </a:p>
          <a:p>
            <a:pPr marL="342665" lvl="0" indent="-342665" algn="l" rtl="0">
              <a:lnSpc>
                <a:spcPct val="100000"/>
              </a:lnSpc>
              <a:spcBef>
                <a:spcPts val="492"/>
              </a:spcBef>
              <a:spcAft>
                <a:spcPts val="0"/>
              </a:spcAft>
              <a:buClr>
                <a:srgbClr val="000000"/>
              </a:buClr>
              <a:buSzPts val="3500"/>
              <a:buFont typeface="Arial"/>
              <a:buChar char="•"/>
            </a:pPr>
            <a:r>
              <a:rPr lang="en-US" b="1" i="1"/>
              <a:t>The pulse generator is the battery and brain </a:t>
            </a:r>
            <a:r>
              <a:rPr lang="en-US"/>
              <a:t>of the pacemaker, creating the electrical impulse that travels though one or more leads to depolarize the heart chamber or augment the heart’s own electrical beat.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51"/>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Pulse Generators</a:t>
            </a:r>
            <a:endParaRPr/>
          </a:p>
        </p:txBody>
      </p:sp>
      <p:sp>
        <p:nvSpPr>
          <p:cNvPr id="153" name="Google Shape;153;p51"/>
          <p:cNvSpPr txBox="1">
            <a:spLocks noGrp="1"/>
          </p:cNvSpPr>
          <p:nvPr>
            <p:ph type="body" idx="1"/>
          </p:nvPr>
        </p:nvSpPr>
        <p:spPr>
          <a:xfrm>
            <a:off x="124692" y="1175657"/>
            <a:ext cx="8943108" cy="5587877"/>
          </a:xfrm>
          <a:prstGeom prst="rect">
            <a:avLst/>
          </a:prstGeom>
          <a:noFill/>
          <a:ln>
            <a:noFill/>
          </a:ln>
        </p:spPr>
        <p:txBody>
          <a:bodyPr spcFirstLastPara="1" wrap="square" lIns="88875" tIns="50775" rIns="88875" bIns="50775" anchor="t" anchorCtr="0">
            <a:normAutofit fontScale="92500"/>
          </a:bodyPr>
          <a:lstStyle/>
          <a:p>
            <a:pPr marL="342665" lvl="0" indent="-342665" algn="l" rtl="0">
              <a:lnSpc>
                <a:spcPct val="110000"/>
              </a:lnSpc>
              <a:spcBef>
                <a:spcPts val="0"/>
              </a:spcBef>
              <a:spcAft>
                <a:spcPts val="0"/>
              </a:spcAft>
              <a:buClr>
                <a:srgbClr val="000000"/>
              </a:buClr>
              <a:buSzPct val="80000"/>
              <a:buFont typeface="Arial"/>
              <a:buChar char="•"/>
            </a:pPr>
            <a:r>
              <a:rPr lang="en-US" b="1" i="1">
                <a:solidFill>
                  <a:srgbClr val="2A2A2A"/>
                </a:solidFill>
                <a:latin typeface="Calibri"/>
                <a:ea typeface="Calibri"/>
                <a:cs typeface="Calibri"/>
                <a:sym typeface="Calibri"/>
              </a:rPr>
              <a:t>The battery typically has a 10-year lifespan</a:t>
            </a:r>
            <a:r>
              <a:rPr lang="en-US" b="0" i="0">
                <a:solidFill>
                  <a:srgbClr val="2A2A2A"/>
                </a:solidFill>
                <a:latin typeface="Calibri"/>
                <a:ea typeface="Calibri"/>
                <a:cs typeface="Calibri"/>
                <a:sym typeface="Calibri"/>
              </a:rPr>
              <a:t>, although technologic advances are constantly improving PPMs.</a:t>
            </a:r>
            <a:endParaRPr/>
          </a:p>
          <a:p>
            <a:pPr marL="342665" lvl="0" indent="-267481" algn="l" rtl="0">
              <a:lnSpc>
                <a:spcPct val="110000"/>
              </a:lnSpc>
              <a:spcBef>
                <a:spcPts val="0"/>
              </a:spcBef>
              <a:spcAft>
                <a:spcPts val="0"/>
              </a:spcAft>
              <a:buClr>
                <a:srgbClr val="000000"/>
              </a:buClr>
              <a:buSzPct val="80000"/>
              <a:buFont typeface="Arial"/>
              <a:buNone/>
            </a:pPr>
            <a:endParaRPr sz="1600" b="0" i="0">
              <a:solidFill>
                <a:srgbClr val="2A2A2A"/>
              </a:solidFill>
              <a:latin typeface="Calibri"/>
              <a:ea typeface="Calibri"/>
              <a:cs typeface="Calibri"/>
              <a:sym typeface="Calibri"/>
            </a:endParaRPr>
          </a:p>
          <a:p>
            <a:pPr marL="342665" lvl="0" indent="-342665" algn="l" rtl="0">
              <a:lnSpc>
                <a:spcPct val="110000"/>
              </a:lnSpc>
              <a:spcBef>
                <a:spcPts val="0"/>
              </a:spcBef>
              <a:spcAft>
                <a:spcPts val="0"/>
              </a:spcAft>
              <a:buClr>
                <a:srgbClr val="000000"/>
              </a:buClr>
              <a:buSzPct val="80000"/>
              <a:buFont typeface="Arial"/>
              <a:buChar char="•"/>
            </a:pPr>
            <a:r>
              <a:rPr lang="en-US" b="1" i="1">
                <a:solidFill>
                  <a:srgbClr val="2A2A2A"/>
                </a:solidFill>
                <a:latin typeface="Calibri"/>
                <a:ea typeface="Calibri"/>
                <a:cs typeface="Calibri"/>
                <a:sym typeface="Calibri"/>
              </a:rPr>
              <a:t>Pulse generators can be set to fixed-rate</a:t>
            </a:r>
            <a:r>
              <a:rPr lang="en-US" b="0" i="0">
                <a:solidFill>
                  <a:srgbClr val="2A2A2A"/>
                </a:solidFill>
                <a:latin typeface="Calibri"/>
                <a:ea typeface="Calibri"/>
                <a:cs typeface="Calibri"/>
                <a:sym typeface="Calibri"/>
              </a:rPr>
              <a:t> (asynchronous) </a:t>
            </a:r>
            <a:r>
              <a:rPr lang="en-US" b="1" i="1">
                <a:solidFill>
                  <a:srgbClr val="2A2A2A"/>
                </a:solidFill>
                <a:latin typeface="Calibri"/>
                <a:ea typeface="Calibri"/>
                <a:cs typeface="Calibri"/>
                <a:sym typeface="Calibri"/>
              </a:rPr>
              <a:t>or demand </a:t>
            </a:r>
            <a:r>
              <a:rPr lang="en-US" b="0" i="0">
                <a:solidFill>
                  <a:srgbClr val="2A2A2A"/>
                </a:solidFill>
                <a:latin typeface="Calibri"/>
                <a:ea typeface="Calibri"/>
                <a:cs typeface="Calibri"/>
                <a:sym typeface="Calibri"/>
              </a:rPr>
              <a:t>(synchronous) </a:t>
            </a:r>
            <a:r>
              <a:rPr lang="en-US" b="1" i="1">
                <a:solidFill>
                  <a:srgbClr val="2A2A2A"/>
                </a:solidFill>
                <a:latin typeface="Calibri"/>
                <a:ea typeface="Calibri"/>
                <a:cs typeface="Calibri"/>
                <a:sym typeface="Calibri"/>
              </a:rPr>
              <a:t>modes</a:t>
            </a:r>
            <a:r>
              <a:rPr lang="en-US" b="0" i="0">
                <a:solidFill>
                  <a:srgbClr val="2A2A2A"/>
                </a:solidFill>
                <a:latin typeface="Calibri"/>
                <a:ea typeface="Calibri"/>
                <a:cs typeface="Calibri"/>
                <a:sym typeface="Calibri"/>
              </a:rPr>
              <a:t>. </a:t>
            </a:r>
            <a:endParaRPr/>
          </a:p>
          <a:p>
            <a:pPr marL="799865" lvl="1" indent="-342665" algn="l" rtl="0">
              <a:lnSpc>
                <a:spcPct val="110000"/>
              </a:lnSpc>
              <a:spcBef>
                <a:spcPts val="0"/>
              </a:spcBef>
              <a:spcAft>
                <a:spcPts val="0"/>
              </a:spcAft>
              <a:buClr>
                <a:srgbClr val="000000"/>
              </a:buClr>
              <a:buSzPct val="80000"/>
              <a:buFont typeface="Arial"/>
              <a:buChar char="•"/>
            </a:pPr>
            <a:r>
              <a:rPr lang="en-US" b="0" i="0">
                <a:solidFill>
                  <a:srgbClr val="2A2A2A"/>
                </a:solidFill>
                <a:latin typeface="Calibri"/>
                <a:ea typeface="Calibri"/>
                <a:cs typeface="Calibri"/>
                <a:sym typeface="Calibri"/>
              </a:rPr>
              <a:t>In the asynchronous mode, impulses are produced at a set rate, independent of intrinsic cardiac activity. There is a small, but inherent, risk of causing a lethal arrhythmia if the impulse coincides with the T-wave’s vulnerable period. </a:t>
            </a:r>
            <a:endParaRPr/>
          </a:p>
          <a:p>
            <a:pPr marL="799865" lvl="1" indent="-342665" algn="l" rtl="0">
              <a:lnSpc>
                <a:spcPct val="110000"/>
              </a:lnSpc>
              <a:spcBef>
                <a:spcPts val="0"/>
              </a:spcBef>
              <a:spcAft>
                <a:spcPts val="0"/>
              </a:spcAft>
              <a:buClr>
                <a:srgbClr val="000000"/>
              </a:buClr>
              <a:buSzPct val="80000"/>
              <a:buFont typeface="Arial"/>
              <a:buChar char="•"/>
            </a:pPr>
            <a:r>
              <a:rPr lang="en-US" b="0" i="0">
                <a:solidFill>
                  <a:srgbClr val="2A2A2A"/>
                </a:solidFill>
                <a:latin typeface="Calibri"/>
                <a:ea typeface="Calibri"/>
                <a:cs typeface="Calibri"/>
                <a:sym typeface="Calibri"/>
              </a:rPr>
              <a:t>In the synchronous mode, the sensing circuit searches for an intrinsic depolarization potential. If this is absent, a pacing impulse is generated. </a:t>
            </a:r>
            <a:endParaRPr>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Pacemakers Parts</a:t>
            </a:r>
            <a:endParaRPr/>
          </a:p>
        </p:txBody>
      </p:sp>
      <p:sp>
        <p:nvSpPr>
          <p:cNvPr id="159" name="Google Shape;159;p9"/>
          <p:cNvSpPr txBox="1">
            <a:spLocks noGrp="1"/>
          </p:cNvSpPr>
          <p:nvPr>
            <p:ph type="body" idx="1"/>
          </p:nvPr>
        </p:nvSpPr>
        <p:spPr>
          <a:xfrm>
            <a:off x="124692" y="955964"/>
            <a:ext cx="8880246" cy="5807570"/>
          </a:xfrm>
          <a:prstGeom prst="rect">
            <a:avLst/>
          </a:prstGeom>
          <a:noFill/>
          <a:ln>
            <a:noFill/>
          </a:ln>
        </p:spPr>
        <p:txBody>
          <a:bodyPr spcFirstLastPara="1" wrap="square" lIns="88875" tIns="50775" rIns="88875" bIns="50775" anchor="t" anchorCtr="0">
            <a:normAutofit/>
          </a:bodyPr>
          <a:lstStyle/>
          <a:p>
            <a:pPr marL="342665" lvl="0" indent="-342665" algn="l" rtl="0">
              <a:lnSpc>
                <a:spcPct val="100000"/>
              </a:lnSpc>
              <a:spcBef>
                <a:spcPts val="0"/>
              </a:spcBef>
              <a:spcAft>
                <a:spcPts val="0"/>
              </a:spcAft>
              <a:buClr>
                <a:srgbClr val="000000"/>
              </a:buClr>
              <a:buSzPts val="3200"/>
              <a:buFont typeface="Arial"/>
              <a:buChar char="•"/>
            </a:pPr>
            <a:r>
              <a:rPr lang="en-US"/>
              <a:t>The </a:t>
            </a:r>
            <a:r>
              <a:rPr lang="en-US" b="1" i="1"/>
              <a:t>leads carry the electrical impulse </a:t>
            </a:r>
            <a:r>
              <a:rPr lang="en-US"/>
              <a:t>from the pulse generator to the heart or may be sensing leads only.</a:t>
            </a:r>
            <a:endParaRPr/>
          </a:p>
          <a:p>
            <a:pPr marL="342665" lvl="0" indent="-139465" algn="l" rtl="0">
              <a:lnSpc>
                <a:spcPct val="100000"/>
              </a:lnSpc>
              <a:spcBef>
                <a:spcPts val="492"/>
              </a:spcBef>
              <a:spcAft>
                <a:spcPts val="0"/>
              </a:spcAft>
              <a:buClr>
                <a:srgbClr val="000000"/>
              </a:buClr>
              <a:buSzPts val="3200"/>
              <a:buFont typeface="Arial"/>
              <a:buNone/>
            </a:pPr>
            <a:endParaRPr sz="1500"/>
          </a:p>
          <a:p>
            <a:pPr marL="342665" lvl="0" indent="-342665" algn="l" rtl="0">
              <a:lnSpc>
                <a:spcPct val="100000"/>
              </a:lnSpc>
              <a:spcBef>
                <a:spcPts val="492"/>
              </a:spcBef>
              <a:spcAft>
                <a:spcPts val="0"/>
              </a:spcAft>
              <a:buClr>
                <a:srgbClr val="000000"/>
              </a:buClr>
              <a:buSzPts val="3200"/>
              <a:buFont typeface="Arial"/>
              <a:buChar char="•"/>
            </a:pPr>
            <a:r>
              <a:rPr lang="en-US" b="1" i="1"/>
              <a:t>Most leads are transvenous- </a:t>
            </a:r>
            <a:r>
              <a:rPr lang="en-US"/>
              <a:t>traveling through the subclavian vein to the heart.</a:t>
            </a:r>
            <a:endParaRPr/>
          </a:p>
          <a:p>
            <a:pPr marL="342665" lvl="0" indent="-139465" algn="l" rtl="0">
              <a:lnSpc>
                <a:spcPct val="100000"/>
              </a:lnSpc>
              <a:spcBef>
                <a:spcPts val="492"/>
              </a:spcBef>
              <a:spcAft>
                <a:spcPts val="0"/>
              </a:spcAft>
              <a:buClr>
                <a:srgbClr val="000000"/>
              </a:buClr>
              <a:buSzPts val="3200"/>
              <a:buFont typeface="Arial"/>
              <a:buNone/>
            </a:pPr>
            <a:endParaRPr sz="2000"/>
          </a:p>
          <a:p>
            <a:pPr marL="342665" lvl="0" indent="-342665" algn="l" rtl="0">
              <a:lnSpc>
                <a:spcPct val="100000"/>
              </a:lnSpc>
              <a:spcBef>
                <a:spcPts val="492"/>
              </a:spcBef>
              <a:spcAft>
                <a:spcPts val="0"/>
              </a:spcAft>
              <a:buClr>
                <a:srgbClr val="000000"/>
              </a:buClr>
              <a:buSzPts val="3200"/>
              <a:buFont typeface="Arial"/>
              <a:buChar char="•"/>
            </a:pPr>
            <a:r>
              <a:rPr lang="en-US" b="1" i="1"/>
              <a:t>Leads may also be epicardial</a:t>
            </a:r>
            <a:r>
              <a:rPr lang="en-US"/>
              <a:t>, threaded through the chest tissue and surgically attached to the heart.  This type of lead is used when there is an anatomical reason to avoid transvenous placement, such as venous stenosis.</a:t>
            </a:r>
            <a:endParaRPr/>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52"/>
          <p:cNvSpPr txBox="1">
            <a:spLocks noGrp="1"/>
          </p:cNvSpPr>
          <p:nvPr>
            <p:ph type="title"/>
          </p:nvPr>
        </p:nvSpPr>
        <p:spPr>
          <a:xfrm>
            <a:off x="124692" y="94466"/>
            <a:ext cx="8880245" cy="1271196"/>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11111"/>
              <a:buFont typeface="Arial"/>
              <a:buNone/>
            </a:pPr>
            <a:r>
              <a:rPr lang="en-US">
                <a:latin typeface="Arial"/>
                <a:ea typeface="Arial"/>
                <a:cs typeface="Arial"/>
                <a:sym typeface="Arial"/>
              </a:rPr>
              <a:t>Pacemakers Leads- </a:t>
            </a:r>
            <a:br>
              <a:rPr lang="en-US">
                <a:latin typeface="Arial"/>
                <a:ea typeface="Arial"/>
                <a:cs typeface="Arial"/>
                <a:sym typeface="Arial"/>
              </a:rPr>
            </a:br>
            <a:r>
              <a:rPr lang="en-US">
                <a:latin typeface="Arial"/>
                <a:ea typeface="Arial"/>
                <a:cs typeface="Arial"/>
                <a:sym typeface="Arial"/>
              </a:rPr>
              <a:t>Clinical Implications</a:t>
            </a:r>
            <a:endParaRPr/>
          </a:p>
        </p:txBody>
      </p:sp>
      <p:sp>
        <p:nvSpPr>
          <p:cNvPr id="165" name="Google Shape;165;p52"/>
          <p:cNvSpPr txBox="1">
            <a:spLocks noGrp="1"/>
          </p:cNvSpPr>
          <p:nvPr>
            <p:ph type="body" idx="1"/>
          </p:nvPr>
        </p:nvSpPr>
        <p:spPr>
          <a:xfrm>
            <a:off x="124692" y="1496291"/>
            <a:ext cx="8880246" cy="5267242"/>
          </a:xfrm>
          <a:prstGeom prst="rect">
            <a:avLst/>
          </a:prstGeom>
          <a:noFill/>
          <a:ln>
            <a:noFill/>
          </a:ln>
        </p:spPr>
        <p:txBody>
          <a:bodyPr spcFirstLastPara="1" wrap="square" lIns="88875" tIns="50775" rIns="88875" bIns="50775" anchor="t" anchorCtr="0">
            <a:noAutofit/>
          </a:bodyPr>
          <a:lstStyle/>
          <a:p>
            <a:pPr marL="342900" lvl="0" indent="-342900" algn="l" rtl="0">
              <a:lnSpc>
                <a:spcPct val="100000"/>
              </a:lnSpc>
              <a:spcBef>
                <a:spcPts val="0"/>
              </a:spcBef>
              <a:spcAft>
                <a:spcPts val="0"/>
              </a:spcAft>
              <a:buClr>
                <a:srgbClr val="000000"/>
              </a:buClr>
              <a:buSzPts val="3200"/>
              <a:buChar char="•"/>
            </a:pPr>
            <a:r>
              <a:rPr lang="en-US">
                <a:latin typeface="Calibri"/>
                <a:ea typeface="Calibri"/>
                <a:cs typeface="Calibri"/>
                <a:sym typeface="Calibri"/>
              </a:rPr>
              <a:t>Transvenous pacemaker leads are associated with relatively small risks:</a:t>
            </a:r>
            <a:endParaRPr>
              <a:latin typeface="Calibri"/>
              <a:ea typeface="Calibri"/>
              <a:cs typeface="Calibri"/>
              <a:sym typeface="Calibri"/>
            </a:endParaRPr>
          </a:p>
          <a:p>
            <a:pPr marL="742950" lvl="1" indent="-285750" algn="l" rtl="0">
              <a:lnSpc>
                <a:spcPct val="100000"/>
              </a:lnSpc>
              <a:spcBef>
                <a:spcPts val="640"/>
              </a:spcBef>
              <a:spcAft>
                <a:spcPts val="0"/>
              </a:spcAft>
              <a:buClr>
                <a:schemeClr val="dk1"/>
              </a:buClr>
              <a:buSzPts val="3200"/>
              <a:buChar char="–"/>
            </a:pPr>
            <a:r>
              <a:rPr lang="en-US" sz="3200" b="1" i="1">
                <a:latin typeface="Calibri"/>
                <a:ea typeface="Calibri"/>
                <a:cs typeface="Calibri"/>
                <a:sym typeface="Calibri"/>
              </a:rPr>
              <a:t>Trauma to cardiac structures </a:t>
            </a:r>
            <a:r>
              <a:rPr lang="en-US" sz="3200">
                <a:latin typeface="Calibri"/>
                <a:ea typeface="Calibri"/>
                <a:cs typeface="Calibri"/>
                <a:sym typeface="Calibri"/>
              </a:rPr>
              <a:t>at the time of insertion (tamponade, perforation)</a:t>
            </a:r>
            <a:endParaRPr sz="3200">
              <a:latin typeface="Calibri"/>
              <a:ea typeface="Calibri"/>
              <a:cs typeface="Calibri"/>
              <a:sym typeface="Calibri"/>
            </a:endParaRPr>
          </a:p>
          <a:p>
            <a:pPr marL="742950" lvl="1" indent="-285750" algn="l" rtl="0">
              <a:lnSpc>
                <a:spcPct val="100000"/>
              </a:lnSpc>
              <a:spcBef>
                <a:spcPts val="640"/>
              </a:spcBef>
              <a:spcAft>
                <a:spcPts val="0"/>
              </a:spcAft>
              <a:buClr>
                <a:schemeClr val="dk1"/>
              </a:buClr>
              <a:buSzPts val="3200"/>
              <a:buChar char="–"/>
            </a:pPr>
            <a:r>
              <a:rPr lang="en-US" sz="3200" b="1" i="1">
                <a:latin typeface="Calibri"/>
                <a:ea typeface="Calibri"/>
                <a:cs typeface="Calibri"/>
                <a:sym typeface="Calibri"/>
              </a:rPr>
              <a:t>Infection: </a:t>
            </a:r>
            <a:r>
              <a:rPr lang="en-US" sz="3200">
                <a:latin typeface="Calibri"/>
                <a:ea typeface="Calibri"/>
                <a:cs typeface="Calibri"/>
                <a:sym typeface="Calibri"/>
              </a:rPr>
              <a:t>bacteremia can seed a small clot on the leads</a:t>
            </a:r>
            <a:endParaRPr sz="3200">
              <a:latin typeface="Calibri"/>
              <a:ea typeface="Calibri"/>
              <a:cs typeface="Calibri"/>
              <a:sym typeface="Calibri"/>
            </a:endParaRPr>
          </a:p>
          <a:p>
            <a:pPr marL="742950" lvl="1" indent="-285750" algn="l" rtl="0">
              <a:lnSpc>
                <a:spcPct val="100000"/>
              </a:lnSpc>
              <a:spcBef>
                <a:spcPts val="640"/>
              </a:spcBef>
              <a:spcAft>
                <a:spcPts val="0"/>
              </a:spcAft>
              <a:buClr>
                <a:schemeClr val="dk1"/>
              </a:buClr>
              <a:buSzPts val="3200"/>
              <a:buChar char="–"/>
            </a:pPr>
            <a:r>
              <a:rPr lang="en-US" sz="3200" b="1" i="1">
                <a:latin typeface="Calibri"/>
                <a:ea typeface="Calibri"/>
                <a:cs typeface="Calibri"/>
                <a:sym typeface="Calibri"/>
              </a:rPr>
              <a:t>Venous thrombosis </a:t>
            </a:r>
            <a:r>
              <a:rPr lang="en-US" sz="3200">
                <a:latin typeface="Calibri"/>
                <a:ea typeface="Calibri"/>
                <a:cs typeface="Calibri"/>
                <a:sym typeface="Calibri"/>
              </a:rPr>
              <a:t>and resultant subclavian vein occlusion</a:t>
            </a:r>
            <a:endParaRPr sz="3200">
              <a:latin typeface="Calibri"/>
              <a:ea typeface="Calibri"/>
              <a:cs typeface="Calibri"/>
              <a:sym typeface="Calibri"/>
            </a:endParaRPr>
          </a:p>
          <a:p>
            <a:pPr marL="742950" lvl="1" indent="-285750" algn="l" rtl="0">
              <a:lnSpc>
                <a:spcPct val="100000"/>
              </a:lnSpc>
              <a:spcBef>
                <a:spcPts val="640"/>
              </a:spcBef>
              <a:spcAft>
                <a:spcPts val="0"/>
              </a:spcAft>
              <a:buClr>
                <a:schemeClr val="dk1"/>
              </a:buClr>
              <a:buSzPts val="3200"/>
              <a:buChar char="–"/>
            </a:pPr>
            <a:r>
              <a:rPr lang="en-US" sz="3200" b="1" i="1">
                <a:latin typeface="Calibri"/>
                <a:ea typeface="Calibri"/>
                <a:cs typeface="Calibri"/>
                <a:sym typeface="Calibri"/>
              </a:rPr>
              <a:t>Tricuspid valve injury, </a:t>
            </a:r>
            <a:r>
              <a:rPr lang="en-US" sz="3200">
                <a:latin typeface="Calibri"/>
                <a:ea typeface="Calibri"/>
                <a:cs typeface="Calibri"/>
                <a:sym typeface="Calibri"/>
              </a:rPr>
              <a:t>resulting in tricuspid regurgitation.</a:t>
            </a:r>
            <a:endParaRPr sz="32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1"/>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 Indications</a:t>
            </a:r>
            <a:endParaRPr/>
          </a:p>
        </p:txBody>
      </p:sp>
      <p:sp>
        <p:nvSpPr>
          <p:cNvPr id="171" name="Google Shape;171;p11"/>
          <p:cNvSpPr txBox="1">
            <a:spLocks noGrp="1"/>
          </p:cNvSpPr>
          <p:nvPr>
            <p:ph type="body" idx="1"/>
          </p:nvPr>
        </p:nvSpPr>
        <p:spPr>
          <a:xfrm>
            <a:off x="124692" y="1065981"/>
            <a:ext cx="8880246" cy="5697553"/>
          </a:xfrm>
          <a:prstGeom prst="rect">
            <a:avLst/>
          </a:prstGeom>
          <a:noFill/>
          <a:ln>
            <a:noFill/>
          </a:ln>
        </p:spPr>
        <p:txBody>
          <a:bodyPr spcFirstLastPara="1" wrap="square" lIns="88875" tIns="50775" rIns="88875" bIns="50775" anchor="t" anchorCtr="0">
            <a:normAutofit/>
          </a:bodyPr>
          <a:lstStyle/>
          <a:p>
            <a:pPr marL="628650" lvl="0" indent="-514350" algn="l" rtl="0">
              <a:lnSpc>
                <a:spcPct val="100000"/>
              </a:lnSpc>
              <a:spcBef>
                <a:spcPts val="360"/>
              </a:spcBef>
              <a:spcAft>
                <a:spcPts val="0"/>
              </a:spcAft>
              <a:buSzPts val="3200"/>
              <a:buFont typeface="Arial"/>
              <a:buAutoNum type="arabicPeriod"/>
            </a:pPr>
            <a:r>
              <a:rPr lang="en-US" b="1" i="0">
                <a:solidFill>
                  <a:srgbClr val="2A2A2A"/>
                </a:solidFill>
                <a:latin typeface="Calibri"/>
                <a:ea typeface="Calibri"/>
                <a:cs typeface="Calibri"/>
                <a:sym typeface="Calibri"/>
              </a:rPr>
              <a:t>Symptomatic bradycardia due to sinus node dysfunction </a:t>
            </a:r>
            <a:r>
              <a:rPr lang="en-US" b="0" i="0">
                <a:solidFill>
                  <a:srgbClr val="2A2A2A"/>
                </a:solidFill>
                <a:latin typeface="Calibri"/>
                <a:ea typeface="Calibri"/>
                <a:cs typeface="Calibri"/>
                <a:sym typeface="Calibri"/>
              </a:rPr>
              <a:t>(sick sinus syndrome), usually seen with heart rates less than 40 bpm</a:t>
            </a:r>
            <a:endParaRPr/>
          </a:p>
          <a:p>
            <a:pPr marL="628650" lvl="0" indent="-514350" algn="l" rtl="0">
              <a:lnSpc>
                <a:spcPct val="100000"/>
              </a:lnSpc>
              <a:spcBef>
                <a:spcPts val="960"/>
              </a:spcBef>
              <a:spcAft>
                <a:spcPts val="0"/>
              </a:spcAft>
              <a:buSzPts val="3200"/>
              <a:buFont typeface="Arial"/>
              <a:buAutoNum type="arabicPeriod"/>
            </a:pPr>
            <a:r>
              <a:rPr lang="en-US" b="1" i="0">
                <a:solidFill>
                  <a:srgbClr val="2A2A2A"/>
                </a:solidFill>
                <a:latin typeface="Calibri"/>
                <a:ea typeface="Calibri"/>
                <a:cs typeface="Calibri"/>
                <a:sym typeface="Calibri"/>
              </a:rPr>
              <a:t>Symptomatic AV block</a:t>
            </a:r>
            <a:r>
              <a:rPr lang="en-US" b="0" i="0">
                <a:solidFill>
                  <a:srgbClr val="2A2A2A"/>
                </a:solidFill>
                <a:latin typeface="Calibri"/>
                <a:ea typeface="Calibri"/>
                <a:cs typeface="Calibri"/>
                <a:sym typeface="Calibri"/>
              </a:rPr>
              <a:t>, usually complete heart block or second-degree AV block, type II</a:t>
            </a:r>
            <a:endParaRPr/>
          </a:p>
          <a:p>
            <a:pPr marL="628650" lvl="0" indent="-514350" algn="l" rtl="0">
              <a:lnSpc>
                <a:spcPct val="100000"/>
              </a:lnSpc>
              <a:spcBef>
                <a:spcPts val="960"/>
              </a:spcBef>
              <a:spcAft>
                <a:spcPts val="0"/>
              </a:spcAft>
              <a:buSzPts val="3200"/>
              <a:buFont typeface="Arial"/>
              <a:buAutoNum type="arabicPeriod"/>
            </a:pPr>
            <a:r>
              <a:rPr lang="en-US" b="1">
                <a:solidFill>
                  <a:srgbClr val="2A2A2A"/>
                </a:solidFill>
                <a:latin typeface="Calibri"/>
                <a:ea typeface="Calibri"/>
                <a:cs typeface="Calibri"/>
                <a:sym typeface="Calibri"/>
              </a:rPr>
              <a:t>P</a:t>
            </a:r>
            <a:r>
              <a:rPr lang="en-US" b="1" i="0">
                <a:solidFill>
                  <a:srgbClr val="2A2A2A"/>
                </a:solidFill>
                <a:latin typeface="Calibri"/>
                <a:ea typeface="Calibri"/>
                <a:cs typeface="Calibri"/>
                <a:sym typeface="Calibri"/>
              </a:rPr>
              <a:t>eriods of asystole </a:t>
            </a:r>
            <a:r>
              <a:rPr lang="en-US" b="0" i="0">
                <a:solidFill>
                  <a:srgbClr val="2A2A2A"/>
                </a:solidFill>
                <a:latin typeface="Calibri"/>
                <a:ea typeface="Calibri"/>
                <a:cs typeface="Calibri"/>
                <a:sym typeface="Calibri"/>
              </a:rPr>
              <a:t>longer than 3 seconds or at least 5 seconds in persons with atrial fibrillation</a:t>
            </a:r>
            <a:endParaRPr/>
          </a:p>
          <a:p>
            <a:pPr marL="628650" lvl="0" indent="-514350" algn="l" rtl="0">
              <a:lnSpc>
                <a:spcPct val="100000"/>
              </a:lnSpc>
              <a:spcBef>
                <a:spcPts val="960"/>
              </a:spcBef>
              <a:spcAft>
                <a:spcPts val="0"/>
              </a:spcAft>
              <a:buSzPts val="3200"/>
              <a:buFont typeface="Arial"/>
              <a:buAutoNum type="arabicPeriod"/>
            </a:pPr>
            <a:r>
              <a:rPr lang="en-US" b="0" i="0">
                <a:solidFill>
                  <a:srgbClr val="2A2A2A"/>
                </a:solidFill>
                <a:latin typeface="Calibri"/>
                <a:ea typeface="Calibri"/>
                <a:cs typeface="Calibri"/>
                <a:sym typeface="Calibri"/>
              </a:rPr>
              <a:t>To facilitate </a:t>
            </a:r>
            <a:r>
              <a:rPr lang="en-US" b="1" i="0">
                <a:solidFill>
                  <a:srgbClr val="2A2A2A"/>
                </a:solidFill>
                <a:latin typeface="Calibri"/>
                <a:ea typeface="Calibri"/>
                <a:cs typeface="Calibri"/>
                <a:sym typeface="Calibri"/>
              </a:rPr>
              <a:t>AV node ablation</a:t>
            </a:r>
            <a:endParaRPr/>
          </a:p>
          <a:p>
            <a:pPr marL="628650" lvl="0" indent="-514350" algn="l" rtl="0">
              <a:lnSpc>
                <a:spcPct val="100000"/>
              </a:lnSpc>
              <a:spcBef>
                <a:spcPts val="960"/>
              </a:spcBef>
              <a:spcAft>
                <a:spcPts val="0"/>
              </a:spcAft>
              <a:buSzPts val="3200"/>
              <a:buFont typeface="Arial"/>
              <a:buAutoNum type="arabicPeriod"/>
            </a:pPr>
            <a:r>
              <a:rPr lang="en-US" b="1" i="0">
                <a:solidFill>
                  <a:srgbClr val="2A2A2A"/>
                </a:solidFill>
                <a:latin typeface="Calibri"/>
                <a:ea typeface="Calibri"/>
                <a:cs typeface="Calibri"/>
                <a:sym typeface="Calibri"/>
              </a:rPr>
              <a:t>Cardiac resynchronization therapy </a:t>
            </a:r>
            <a:r>
              <a:rPr lang="en-US" b="0" i="0">
                <a:solidFill>
                  <a:srgbClr val="2A2A2A"/>
                </a:solidFill>
                <a:latin typeface="Calibri"/>
                <a:ea typeface="Calibri"/>
                <a:cs typeface="Calibri"/>
                <a:sym typeface="Calibri"/>
              </a:rPr>
              <a:t>with biventricular pacing</a:t>
            </a:r>
            <a:endParaRPr/>
          </a:p>
          <a:p>
            <a:pPr marL="0" lvl="0" indent="0" algn="l" rtl="0">
              <a:lnSpc>
                <a:spcPct val="120000"/>
              </a:lnSpc>
              <a:spcBef>
                <a:spcPts val="1092"/>
              </a:spcBef>
              <a:spcAft>
                <a:spcPts val="0"/>
              </a:spcAft>
              <a:buClr>
                <a:srgbClr val="000000"/>
              </a:buClr>
              <a:buSzPts val="3500"/>
              <a:buNone/>
            </a:pPr>
            <a:endParaRPr/>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5"/>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 Codes</a:t>
            </a:r>
            <a:endParaRPr/>
          </a:p>
        </p:txBody>
      </p:sp>
      <p:sp>
        <p:nvSpPr>
          <p:cNvPr id="177" name="Google Shape;177;p15"/>
          <p:cNvSpPr txBox="1">
            <a:spLocks noGrp="1"/>
          </p:cNvSpPr>
          <p:nvPr>
            <p:ph type="body" idx="1"/>
          </p:nvPr>
        </p:nvSpPr>
        <p:spPr>
          <a:xfrm>
            <a:off x="124692" y="1187355"/>
            <a:ext cx="8880246" cy="5498769"/>
          </a:xfrm>
          <a:prstGeom prst="rect">
            <a:avLst/>
          </a:prstGeom>
          <a:noFill/>
          <a:ln>
            <a:noFill/>
          </a:ln>
        </p:spPr>
        <p:txBody>
          <a:bodyPr spcFirstLastPara="1" wrap="square" lIns="88875" tIns="50775" rIns="88875" bIns="50775" anchor="t" anchorCtr="0">
            <a:normAutofit/>
          </a:bodyPr>
          <a:lstStyle/>
          <a:p>
            <a:pPr marL="457200" lvl="0" indent="-457200" algn="l" rtl="0">
              <a:lnSpc>
                <a:spcPct val="100000"/>
              </a:lnSpc>
              <a:spcBef>
                <a:spcPts val="492"/>
              </a:spcBef>
              <a:spcAft>
                <a:spcPts val="0"/>
              </a:spcAft>
              <a:buClr>
                <a:srgbClr val="000000"/>
              </a:buClr>
              <a:buSzPts val="3200"/>
              <a:buChar char="•"/>
            </a:pPr>
            <a:r>
              <a:rPr lang="en-US"/>
              <a:t>Electrophysiologists have developed a 5-letter code which describes the pacing mode of a device.  Typically, the first 3 letters are documented.</a:t>
            </a:r>
            <a:endParaRPr/>
          </a:p>
          <a:p>
            <a:pPr marL="457200" lvl="0" indent="-457200" algn="l" rtl="0">
              <a:lnSpc>
                <a:spcPct val="100000"/>
              </a:lnSpc>
              <a:spcBef>
                <a:spcPts val="492"/>
              </a:spcBef>
              <a:spcAft>
                <a:spcPts val="0"/>
              </a:spcAft>
              <a:buClr>
                <a:srgbClr val="000000"/>
              </a:buClr>
              <a:buSzPts val="3200"/>
              <a:buChar char="•"/>
            </a:pPr>
            <a:r>
              <a:rPr lang="en-US"/>
              <a:t>Pacemaker Code:</a:t>
            </a:r>
            <a:endParaRPr/>
          </a:p>
          <a:p>
            <a:pPr marL="742715" lvl="1" indent="-342696" algn="l" rtl="0">
              <a:lnSpc>
                <a:spcPct val="100000"/>
              </a:lnSpc>
              <a:spcBef>
                <a:spcPts val="492"/>
              </a:spcBef>
              <a:spcAft>
                <a:spcPts val="0"/>
              </a:spcAft>
              <a:buClr>
                <a:srgbClr val="000000"/>
              </a:buClr>
              <a:buSzPts val="3200"/>
              <a:buFont typeface="Arial"/>
              <a:buChar char="•"/>
            </a:pPr>
            <a:r>
              <a:rPr lang="en-US" sz="3200"/>
              <a:t>First letter: refers to the </a:t>
            </a:r>
            <a:r>
              <a:rPr lang="en-US" sz="3200" b="1" i="1"/>
              <a:t>chamber being paced </a:t>
            </a:r>
            <a:r>
              <a:rPr lang="en-US" sz="3200"/>
              <a:t>(</a:t>
            </a:r>
            <a:r>
              <a:rPr lang="en-US" sz="3200" b="1" u="sng"/>
              <a:t>A</a:t>
            </a:r>
            <a:r>
              <a:rPr lang="en-US" sz="3200"/>
              <a:t> =atria, </a:t>
            </a:r>
            <a:r>
              <a:rPr lang="en-US" sz="3200" b="1" u="sng"/>
              <a:t>V</a:t>
            </a:r>
            <a:r>
              <a:rPr lang="en-US" sz="3200"/>
              <a:t> = ventricle, </a:t>
            </a:r>
            <a:r>
              <a:rPr lang="en-US" sz="3200" b="1" u="sng"/>
              <a:t>D</a:t>
            </a:r>
            <a:r>
              <a:rPr lang="en-US" sz="3200"/>
              <a:t> =dual, both)</a:t>
            </a:r>
            <a:endParaRPr/>
          </a:p>
          <a:p>
            <a:pPr marL="742715" lvl="1" indent="-139495" algn="l" rtl="0">
              <a:lnSpc>
                <a:spcPct val="100000"/>
              </a:lnSpc>
              <a:spcBef>
                <a:spcPts val="492"/>
              </a:spcBef>
              <a:spcAft>
                <a:spcPts val="0"/>
              </a:spcAft>
              <a:buClr>
                <a:srgbClr val="000000"/>
              </a:buClr>
              <a:buSzPts val="3200"/>
              <a:buFont typeface="Arial"/>
              <a:buNone/>
            </a:pPr>
            <a:endParaRPr sz="3200"/>
          </a:p>
          <a:p>
            <a:pPr marL="742715" lvl="1" indent="-342696" algn="l" rtl="0">
              <a:lnSpc>
                <a:spcPct val="100000"/>
              </a:lnSpc>
              <a:spcBef>
                <a:spcPts val="492"/>
              </a:spcBef>
              <a:spcAft>
                <a:spcPts val="0"/>
              </a:spcAft>
              <a:buClr>
                <a:srgbClr val="000000"/>
              </a:buClr>
              <a:buSzPts val="3200"/>
              <a:buFont typeface="Arial"/>
              <a:buChar char="•"/>
            </a:pPr>
            <a:r>
              <a:rPr lang="en-US" sz="3200"/>
              <a:t>Second letter is the </a:t>
            </a:r>
            <a:r>
              <a:rPr lang="en-US" sz="3200" b="1" i="1"/>
              <a:t>chamber being sensed       </a:t>
            </a:r>
            <a:r>
              <a:rPr lang="en-US" sz="3200"/>
              <a:t>(</a:t>
            </a:r>
            <a:r>
              <a:rPr lang="en-US" sz="3200" b="1" u="sng"/>
              <a:t>A</a:t>
            </a:r>
            <a:r>
              <a:rPr lang="en-US" sz="3200"/>
              <a:t> =atria, </a:t>
            </a:r>
            <a:r>
              <a:rPr lang="en-US" sz="3200" b="1" u="sng"/>
              <a:t>V</a:t>
            </a:r>
            <a:r>
              <a:rPr lang="en-US" sz="3200" b="1"/>
              <a:t> </a:t>
            </a:r>
            <a:r>
              <a:rPr lang="en-US" sz="3200"/>
              <a:t>= ventricle, </a:t>
            </a:r>
            <a:r>
              <a:rPr lang="en-US" sz="3200" b="1" u="sng"/>
              <a:t>D</a:t>
            </a:r>
            <a:r>
              <a:rPr lang="en-US" sz="3200"/>
              <a:t> =dual/ both, </a:t>
            </a:r>
            <a:r>
              <a:rPr lang="en-US" sz="3200" b="1" u="sng"/>
              <a:t>O</a:t>
            </a:r>
            <a:r>
              <a:rPr lang="en-US" sz="3200"/>
              <a:t> =none)</a:t>
            </a:r>
            <a:endParaRPr sz="3200"/>
          </a:p>
          <a:p>
            <a:pPr marL="342665" lvl="0" indent="-283927"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6"/>
          <p:cNvSpPr txBox="1">
            <a:spLocks noGrp="1"/>
          </p:cNvSpPr>
          <p:nvPr>
            <p:ph type="title"/>
          </p:nvPr>
        </p:nvSpPr>
        <p:spPr>
          <a:xfrm>
            <a:off x="227707" y="0"/>
            <a:ext cx="8687470" cy="938151"/>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 Code</a:t>
            </a:r>
            <a:endParaRPr/>
          </a:p>
        </p:txBody>
      </p:sp>
      <p:sp>
        <p:nvSpPr>
          <p:cNvPr id="183" name="Google Shape;183;p16"/>
          <p:cNvSpPr txBox="1">
            <a:spLocks noGrp="1"/>
          </p:cNvSpPr>
          <p:nvPr>
            <p:ph type="body" idx="1"/>
          </p:nvPr>
        </p:nvSpPr>
        <p:spPr>
          <a:xfrm>
            <a:off x="106878" y="1045029"/>
            <a:ext cx="8898059" cy="5723906"/>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rgbClr val="000000"/>
              </a:buClr>
              <a:buSzPts val="3200"/>
              <a:buChar char="•"/>
            </a:pPr>
            <a:r>
              <a:rPr lang="en-US"/>
              <a:t>Third letter is </a:t>
            </a:r>
            <a:r>
              <a:rPr lang="en-US" b="1" i="1"/>
              <a:t>the response mode of the pacemaker </a:t>
            </a:r>
            <a:r>
              <a:rPr lang="en-US"/>
              <a:t>to the native cardiac electrical activity</a:t>
            </a:r>
            <a:endParaRPr/>
          </a:p>
          <a:p>
            <a:pPr marL="607197" lvl="1" indent="-285739" algn="l" rtl="0">
              <a:lnSpc>
                <a:spcPct val="100000"/>
              </a:lnSpc>
              <a:spcBef>
                <a:spcPts val="422"/>
              </a:spcBef>
              <a:spcAft>
                <a:spcPts val="0"/>
              </a:spcAft>
              <a:buClr>
                <a:srgbClr val="000000"/>
              </a:buClr>
              <a:buSzPts val="3200"/>
              <a:buFont typeface="Arial"/>
              <a:buChar char="–"/>
            </a:pPr>
            <a:r>
              <a:rPr lang="en-US" sz="3200" b="1" u="sng"/>
              <a:t>I</a:t>
            </a:r>
            <a:r>
              <a:rPr lang="en-US" sz="3200"/>
              <a:t> = the device is </a:t>
            </a:r>
            <a:r>
              <a:rPr lang="en-US" sz="3200" b="1" i="1"/>
              <a:t>inhibited</a:t>
            </a:r>
            <a:r>
              <a:rPr lang="en-US" sz="3200"/>
              <a:t> if it senses the patient’s own native beat</a:t>
            </a:r>
            <a:endParaRPr/>
          </a:p>
          <a:p>
            <a:pPr marL="607197" lvl="1" indent="-285739" algn="l" rtl="0">
              <a:lnSpc>
                <a:spcPct val="100000"/>
              </a:lnSpc>
              <a:spcBef>
                <a:spcPts val="422"/>
              </a:spcBef>
              <a:spcAft>
                <a:spcPts val="0"/>
              </a:spcAft>
              <a:buClr>
                <a:srgbClr val="000000"/>
              </a:buClr>
              <a:buSzPts val="3200"/>
              <a:buFont typeface="Arial"/>
              <a:buChar char="–"/>
            </a:pPr>
            <a:r>
              <a:rPr lang="en-US" sz="3200" b="1" u="sng"/>
              <a:t>T</a:t>
            </a:r>
            <a:r>
              <a:rPr lang="en-US" sz="3200"/>
              <a:t> =the device is </a:t>
            </a:r>
            <a:r>
              <a:rPr lang="en-US" sz="3200" b="1" i="1"/>
              <a:t>triggered</a:t>
            </a:r>
            <a:r>
              <a:rPr lang="en-US" sz="3200"/>
              <a:t> by the native atrial beat (PPM provides additive depolarization)</a:t>
            </a:r>
            <a:endParaRPr/>
          </a:p>
          <a:p>
            <a:pPr marL="607197" lvl="1" indent="-285739" algn="l" rtl="0">
              <a:lnSpc>
                <a:spcPct val="100000"/>
              </a:lnSpc>
              <a:spcBef>
                <a:spcPts val="422"/>
              </a:spcBef>
              <a:spcAft>
                <a:spcPts val="0"/>
              </a:spcAft>
              <a:buClr>
                <a:srgbClr val="000000"/>
              </a:buClr>
              <a:buSzPts val="3200"/>
              <a:buFont typeface="Arial"/>
              <a:buChar char="–"/>
            </a:pPr>
            <a:r>
              <a:rPr lang="en-US" sz="3200" b="1" u="sng"/>
              <a:t>D</a:t>
            </a:r>
            <a:r>
              <a:rPr lang="en-US" sz="3200"/>
              <a:t> =the pacemaker is </a:t>
            </a:r>
            <a:r>
              <a:rPr lang="en-US" sz="3200" b="1" i="1"/>
              <a:t>triggered after a sensed atrial event but inhibited after a sensed ventricular event</a:t>
            </a:r>
            <a:endParaRPr/>
          </a:p>
          <a:p>
            <a:pPr marL="607197" lvl="1" indent="-285739" algn="l" rtl="0">
              <a:lnSpc>
                <a:spcPct val="100000"/>
              </a:lnSpc>
              <a:spcBef>
                <a:spcPts val="422"/>
              </a:spcBef>
              <a:spcAft>
                <a:spcPts val="0"/>
              </a:spcAft>
              <a:buClr>
                <a:srgbClr val="000000"/>
              </a:buClr>
              <a:buSzPts val="3200"/>
              <a:buFont typeface="Arial"/>
              <a:buChar char="–"/>
            </a:pPr>
            <a:r>
              <a:rPr lang="en-US" sz="3200" b="1" u="sng"/>
              <a:t>O</a:t>
            </a:r>
            <a:r>
              <a:rPr lang="en-US" sz="3200"/>
              <a:t> = none, usually means that the device is pacing continuously.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7"/>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 Code</a:t>
            </a:r>
            <a:endParaRPr/>
          </a:p>
        </p:txBody>
      </p:sp>
      <p:sp>
        <p:nvSpPr>
          <p:cNvPr id="189" name="Google Shape;189;p17"/>
          <p:cNvSpPr txBox="1">
            <a:spLocks noGrp="1"/>
          </p:cNvSpPr>
          <p:nvPr>
            <p:ph type="body" idx="1"/>
          </p:nvPr>
        </p:nvSpPr>
        <p:spPr>
          <a:xfrm>
            <a:off x="227706" y="1143000"/>
            <a:ext cx="8777231" cy="5543124"/>
          </a:xfrm>
          <a:prstGeom prst="rect">
            <a:avLst/>
          </a:prstGeom>
          <a:noFill/>
          <a:ln>
            <a:noFill/>
          </a:ln>
        </p:spPr>
        <p:txBody>
          <a:bodyPr spcFirstLastPara="1" wrap="square" lIns="88875" tIns="50775" rIns="88875" bIns="50775" anchor="t" anchorCtr="0">
            <a:normAutofit lnSpcReduction="10000"/>
          </a:bodyPr>
          <a:lstStyle/>
          <a:p>
            <a:pPr marL="342665" lvl="0" indent="-342665" algn="l" rtl="0">
              <a:lnSpc>
                <a:spcPct val="100000"/>
              </a:lnSpc>
              <a:spcBef>
                <a:spcPts val="0"/>
              </a:spcBef>
              <a:spcAft>
                <a:spcPts val="0"/>
              </a:spcAft>
              <a:buClr>
                <a:srgbClr val="000000"/>
              </a:buClr>
              <a:buSzPts val="3200"/>
              <a:buFont typeface="Arial"/>
              <a:buChar char="•"/>
            </a:pPr>
            <a:r>
              <a:rPr lang="en-US"/>
              <a:t>The fourth letter refers to the </a:t>
            </a:r>
            <a:r>
              <a:rPr lang="en-US" b="1" i="1"/>
              <a:t>rate modulation- </a:t>
            </a:r>
            <a:r>
              <a:rPr lang="en-US"/>
              <a:t>an automatic response of the pacemaker to chronotropic incompetence.</a:t>
            </a:r>
            <a:endParaRPr/>
          </a:p>
          <a:p>
            <a:pPr marL="457200" lvl="0" indent="-342900" algn="l" rtl="0">
              <a:lnSpc>
                <a:spcPct val="100000"/>
              </a:lnSpc>
              <a:spcBef>
                <a:spcPts val="360"/>
              </a:spcBef>
              <a:spcAft>
                <a:spcPts val="0"/>
              </a:spcAft>
              <a:buSzPts val="2560"/>
              <a:buFont typeface="Arial"/>
              <a:buChar char="•"/>
            </a:pPr>
            <a:r>
              <a:rPr lang="en-US" b="1" u="sng">
                <a:solidFill>
                  <a:srgbClr val="2A2A2A"/>
                </a:solidFill>
                <a:latin typeface="Calibri"/>
                <a:ea typeface="Calibri"/>
                <a:cs typeface="Calibri"/>
                <a:sym typeface="Calibri"/>
              </a:rPr>
              <a:t>R</a:t>
            </a:r>
            <a:r>
              <a:rPr lang="en-US" b="0" i="0">
                <a:solidFill>
                  <a:srgbClr val="2A2A2A"/>
                </a:solidFill>
                <a:latin typeface="Calibri"/>
                <a:ea typeface="Calibri"/>
                <a:cs typeface="Calibri"/>
                <a:sym typeface="Calibri"/>
              </a:rPr>
              <a:t> - Rate-response ("physiologic") pacing</a:t>
            </a:r>
            <a:endParaRPr/>
          </a:p>
          <a:p>
            <a:pPr marL="457200" lvl="0" indent="-342900" algn="l" rtl="0">
              <a:lnSpc>
                <a:spcPct val="100000"/>
              </a:lnSpc>
              <a:spcBef>
                <a:spcPts val="360"/>
              </a:spcBef>
              <a:spcAft>
                <a:spcPts val="0"/>
              </a:spcAft>
              <a:buSzPts val="2560"/>
              <a:buFont typeface="Arial"/>
              <a:buChar char="•"/>
            </a:pPr>
            <a:r>
              <a:rPr lang="en-US" b="1" u="sng">
                <a:solidFill>
                  <a:srgbClr val="2A2A2A"/>
                </a:solidFill>
                <a:latin typeface="Calibri"/>
                <a:ea typeface="Calibri"/>
                <a:cs typeface="Calibri"/>
                <a:sym typeface="Calibri"/>
              </a:rPr>
              <a:t>O</a:t>
            </a:r>
            <a:r>
              <a:rPr lang="en-US" b="0" i="0">
                <a:solidFill>
                  <a:srgbClr val="2A2A2A"/>
                </a:solidFill>
                <a:latin typeface="Calibri"/>
                <a:ea typeface="Calibri"/>
                <a:cs typeface="Calibri"/>
                <a:sym typeface="Calibri"/>
              </a:rPr>
              <a:t> - No programmability or rate modulation</a:t>
            </a:r>
            <a:endParaRPr/>
          </a:p>
          <a:p>
            <a:pPr marL="342665" lvl="0" indent="-139465" algn="l" rtl="0">
              <a:lnSpc>
                <a:spcPct val="100000"/>
              </a:lnSpc>
              <a:spcBef>
                <a:spcPts val="492"/>
              </a:spcBef>
              <a:spcAft>
                <a:spcPts val="0"/>
              </a:spcAft>
              <a:buClr>
                <a:srgbClr val="000000"/>
              </a:buClr>
              <a:buSzPts val="3200"/>
              <a:buFont typeface="Arial"/>
              <a:buNone/>
            </a:pPr>
            <a:endParaRPr/>
          </a:p>
          <a:p>
            <a:pPr marL="342665" lvl="0" indent="-342665" algn="l" rtl="0">
              <a:lnSpc>
                <a:spcPct val="100000"/>
              </a:lnSpc>
              <a:spcBef>
                <a:spcPts val="492"/>
              </a:spcBef>
              <a:spcAft>
                <a:spcPts val="0"/>
              </a:spcAft>
              <a:buClr>
                <a:srgbClr val="000000"/>
              </a:buClr>
              <a:buSzPts val="3200"/>
              <a:buFont typeface="Arial"/>
              <a:buChar char="•"/>
            </a:pPr>
            <a:r>
              <a:rPr lang="en-US"/>
              <a:t>The fifth letter refers to multisite pacing (if the device is for CRT) and refers to the sites being electrically stimulated by the device. </a:t>
            </a:r>
            <a:endParaRPr/>
          </a:p>
          <a:p>
            <a:pPr marL="342665" lvl="0" indent="-342665" algn="l" rtl="0">
              <a:lnSpc>
                <a:spcPct val="100000"/>
              </a:lnSpc>
              <a:spcBef>
                <a:spcPts val="492"/>
              </a:spcBef>
              <a:spcAft>
                <a:spcPts val="0"/>
              </a:spcAft>
              <a:buClr>
                <a:srgbClr val="000000"/>
              </a:buClr>
              <a:buSzPts val="3200"/>
              <a:buFont typeface="Arial"/>
              <a:buChar char="•"/>
            </a:pPr>
            <a:r>
              <a:rPr lang="en-US" b="1" u="sng">
                <a:solidFill>
                  <a:srgbClr val="2A2A2A"/>
                </a:solidFill>
                <a:latin typeface="Proxima Nova"/>
                <a:ea typeface="Proxima Nova"/>
                <a:cs typeface="Proxima Nova"/>
                <a:sym typeface="Proxima Nova"/>
              </a:rPr>
              <a:t>A</a:t>
            </a:r>
            <a:r>
              <a:rPr lang="en-US" b="0" i="0">
                <a:solidFill>
                  <a:srgbClr val="2A2A2A"/>
                </a:solidFill>
                <a:latin typeface="Proxima Nova"/>
                <a:ea typeface="Proxima Nova"/>
                <a:cs typeface="Proxima Nova"/>
                <a:sym typeface="Proxima Nova"/>
              </a:rPr>
              <a:t> = Atrial, </a:t>
            </a:r>
            <a:r>
              <a:rPr lang="en-US" b="1" u="sng">
                <a:solidFill>
                  <a:srgbClr val="2A2A2A"/>
                </a:solidFill>
                <a:latin typeface="Proxima Nova"/>
                <a:ea typeface="Proxima Nova"/>
                <a:cs typeface="Proxima Nova"/>
                <a:sym typeface="Proxima Nova"/>
              </a:rPr>
              <a:t>V</a:t>
            </a:r>
            <a:r>
              <a:rPr lang="en-US" b="0" i="0">
                <a:solidFill>
                  <a:srgbClr val="2A2A2A"/>
                </a:solidFill>
                <a:latin typeface="Proxima Nova"/>
                <a:ea typeface="Proxima Nova"/>
                <a:cs typeface="Proxima Nova"/>
                <a:sym typeface="Proxima Nova"/>
              </a:rPr>
              <a:t> =Ventricle, </a:t>
            </a:r>
            <a:r>
              <a:rPr lang="en-US" b="1" u="sng">
                <a:solidFill>
                  <a:srgbClr val="2A2A2A"/>
                </a:solidFill>
                <a:latin typeface="Proxima Nova"/>
                <a:ea typeface="Proxima Nova"/>
                <a:cs typeface="Proxima Nova"/>
                <a:sym typeface="Proxima Nova"/>
              </a:rPr>
              <a:t>D</a:t>
            </a:r>
            <a:r>
              <a:rPr lang="en-US" b="0" i="0">
                <a:solidFill>
                  <a:srgbClr val="2A2A2A"/>
                </a:solidFill>
                <a:latin typeface="Proxima Nova"/>
                <a:ea typeface="Proxima Nova"/>
                <a:cs typeface="Proxima Nova"/>
                <a:sym typeface="Proxima Nova"/>
              </a:rPr>
              <a:t> =Dual/ both, </a:t>
            </a:r>
            <a:r>
              <a:rPr lang="en-US" b="1" u="sng">
                <a:solidFill>
                  <a:srgbClr val="2A2A2A"/>
                </a:solidFill>
                <a:latin typeface="Proxima Nova"/>
                <a:ea typeface="Proxima Nova"/>
                <a:cs typeface="Proxima Nova"/>
                <a:sym typeface="Proxima Nova"/>
              </a:rPr>
              <a:t>O</a:t>
            </a:r>
            <a:r>
              <a:rPr lang="en-US" b="0" i="0">
                <a:solidFill>
                  <a:srgbClr val="2A2A2A"/>
                </a:solidFill>
                <a:latin typeface="Proxima Nova"/>
                <a:ea typeface="Proxima Nova"/>
                <a:cs typeface="Proxima Nova"/>
                <a:sym typeface="Proxima Nova"/>
              </a:rPr>
              <a:t> = none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8"/>
          <p:cNvSpPr txBox="1">
            <a:spLocks noGrp="1"/>
          </p:cNvSpPr>
          <p:nvPr>
            <p:ph type="title"/>
          </p:nvPr>
        </p:nvSpPr>
        <p:spPr>
          <a:xfrm>
            <a:off x="227707" y="0"/>
            <a:ext cx="5301556"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For Example</a:t>
            </a:r>
            <a:endParaRPr/>
          </a:p>
        </p:txBody>
      </p:sp>
      <p:sp>
        <p:nvSpPr>
          <p:cNvPr id="195" name="Google Shape;195;p18"/>
          <p:cNvSpPr txBox="1">
            <a:spLocks noGrp="1"/>
          </p:cNvSpPr>
          <p:nvPr>
            <p:ph type="body" idx="1"/>
          </p:nvPr>
        </p:nvSpPr>
        <p:spPr>
          <a:xfrm>
            <a:off x="227707" y="1294805"/>
            <a:ext cx="8687470" cy="5380822"/>
          </a:xfrm>
          <a:prstGeom prst="rect">
            <a:avLst/>
          </a:prstGeom>
          <a:noFill/>
          <a:ln>
            <a:noFill/>
          </a:ln>
        </p:spPr>
        <p:txBody>
          <a:bodyPr spcFirstLastPara="1" wrap="square" lIns="88875" tIns="50775" rIns="88875" bIns="50775" anchor="t" anchorCtr="0">
            <a:normAutofit/>
          </a:bodyPr>
          <a:lstStyle/>
          <a:p>
            <a:pPr marL="284624" lvl="0" indent="-284624" algn="l" rtl="0">
              <a:lnSpc>
                <a:spcPct val="100000"/>
              </a:lnSpc>
              <a:spcBef>
                <a:spcPts val="0"/>
              </a:spcBef>
              <a:spcAft>
                <a:spcPts val="0"/>
              </a:spcAft>
              <a:buClr>
                <a:srgbClr val="000000"/>
              </a:buClr>
              <a:buSzPts val="3200"/>
              <a:buFont typeface="Arial"/>
              <a:buChar char="•"/>
            </a:pPr>
            <a:r>
              <a:rPr lang="en-US">
                <a:latin typeface="Calibri"/>
                <a:ea typeface="Calibri"/>
                <a:cs typeface="Calibri"/>
                <a:sym typeface="Calibri"/>
              </a:rPr>
              <a:t>An ADI pacer will </a:t>
            </a:r>
            <a:endParaRPr>
              <a:latin typeface="Calibri"/>
              <a:ea typeface="Calibri"/>
              <a:cs typeface="Calibri"/>
              <a:sym typeface="Calibri"/>
            </a:endParaRPr>
          </a:p>
          <a:p>
            <a:pPr marL="684674" lvl="1" indent="-284624" algn="l" rtl="0">
              <a:lnSpc>
                <a:spcPct val="100000"/>
              </a:lnSpc>
              <a:spcBef>
                <a:spcPts val="492"/>
              </a:spcBef>
              <a:spcAft>
                <a:spcPts val="0"/>
              </a:spcAft>
              <a:buClr>
                <a:srgbClr val="000000"/>
              </a:buClr>
              <a:buSzPts val="3200"/>
              <a:buFont typeface="Arial"/>
              <a:buChar char="•"/>
            </a:pPr>
            <a:r>
              <a:rPr lang="en-US" sz="3200">
                <a:latin typeface="Calibri"/>
                <a:ea typeface="Calibri"/>
                <a:cs typeface="Calibri"/>
                <a:sym typeface="Calibri"/>
              </a:rPr>
              <a:t>Pace the right atrium</a:t>
            </a:r>
            <a:endParaRPr>
              <a:latin typeface="Calibri"/>
              <a:ea typeface="Calibri"/>
              <a:cs typeface="Calibri"/>
              <a:sym typeface="Calibri"/>
            </a:endParaRPr>
          </a:p>
          <a:p>
            <a:pPr marL="684674" lvl="1" indent="-284624" algn="l" rtl="0">
              <a:lnSpc>
                <a:spcPct val="100000"/>
              </a:lnSpc>
              <a:spcBef>
                <a:spcPts val="492"/>
              </a:spcBef>
              <a:spcAft>
                <a:spcPts val="0"/>
              </a:spcAft>
              <a:buClr>
                <a:srgbClr val="000000"/>
              </a:buClr>
              <a:buSzPts val="3200"/>
              <a:buFont typeface="Arial"/>
              <a:buChar char="•"/>
            </a:pPr>
            <a:r>
              <a:rPr lang="en-US" sz="3200">
                <a:latin typeface="Calibri"/>
                <a:ea typeface="Calibri"/>
                <a:cs typeface="Calibri"/>
                <a:sym typeface="Calibri"/>
              </a:rPr>
              <a:t>Will sense both the atria and ventricle</a:t>
            </a:r>
            <a:endParaRPr>
              <a:latin typeface="Calibri"/>
              <a:ea typeface="Calibri"/>
              <a:cs typeface="Calibri"/>
              <a:sym typeface="Calibri"/>
            </a:endParaRPr>
          </a:p>
          <a:p>
            <a:pPr marL="684674" lvl="1" indent="-284624" algn="l" rtl="0">
              <a:lnSpc>
                <a:spcPct val="100000"/>
              </a:lnSpc>
              <a:spcBef>
                <a:spcPts val="492"/>
              </a:spcBef>
              <a:spcAft>
                <a:spcPts val="0"/>
              </a:spcAft>
              <a:buClr>
                <a:srgbClr val="000000"/>
              </a:buClr>
              <a:buSzPts val="3200"/>
              <a:buFont typeface="Arial"/>
              <a:buChar char="•"/>
            </a:pPr>
            <a:r>
              <a:rPr lang="en-US" sz="3200">
                <a:latin typeface="Calibri"/>
                <a:ea typeface="Calibri"/>
                <a:cs typeface="Calibri"/>
                <a:sym typeface="Calibri"/>
              </a:rPr>
              <a:t>And the atrial pacer impulse will be inhibited if the patient produces their own electrical depolarization which is sensed by the lead in the right ventricle</a:t>
            </a:r>
            <a:r>
              <a:rPr lang="en-US">
                <a:latin typeface="Calibri"/>
                <a:ea typeface="Calibri"/>
                <a:cs typeface="Calibri"/>
                <a:sym typeface="Calibri"/>
              </a:rPr>
              <a:t>.</a:t>
            </a:r>
            <a:endParaRPr>
              <a:latin typeface="Calibri"/>
              <a:ea typeface="Calibri"/>
              <a:cs typeface="Calibri"/>
              <a:sym typeface="Calibri"/>
            </a:endParaRPr>
          </a:p>
          <a:p>
            <a:pPr marL="284624" lvl="0" indent="-284624" algn="l" rtl="0">
              <a:lnSpc>
                <a:spcPct val="100000"/>
              </a:lnSpc>
              <a:spcBef>
                <a:spcPts val="492"/>
              </a:spcBef>
              <a:spcAft>
                <a:spcPts val="0"/>
              </a:spcAft>
              <a:buClr>
                <a:schemeClr val="dk1"/>
              </a:buClr>
              <a:buSzPts val="3200"/>
              <a:buNone/>
            </a:pPr>
            <a:endParaRPr>
              <a:latin typeface="Calibri"/>
              <a:ea typeface="Calibri"/>
              <a:cs typeface="Calibri"/>
              <a:sym typeface="Calibri"/>
            </a:endParaRPr>
          </a:p>
          <a:p>
            <a:pPr marL="284624" lvl="0" indent="-284624" algn="l" rtl="0">
              <a:lnSpc>
                <a:spcPct val="100000"/>
              </a:lnSpc>
              <a:spcBef>
                <a:spcPts val="492"/>
              </a:spcBef>
              <a:spcAft>
                <a:spcPts val="0"/>
              </a:spcAft>
              <a:buClr>
                <a:srgbClr val="000000"/>
              </a:buClr>
              <a:buSzPts val="3200"/>
              <a:buFont typeface="Arial"/>
              <a:buChar char="•"/>
            </a:pPr>
            <a:r>
              <a:rPr lang="en-US">
                <a:latin typeface="Calibri"/>
                <a:ea typeface="Calibri"/>
                <a:cs typeface="Calibri"/>
                <a:sym typeface="Calibri"/>
              </a:rPr>
              <a:t>If the atria fails to depolarize on its own what will happen?</a:t>
            </a:r>
            <a:endParaRPr>
              <a:latin typeface="Calibri"/>
              <a:ea typeface="Calibri"/>
              <a:cs typeface="Calibri"/>
              <a:sym typeface="Calibri"/>
            </a:endParaRPr>
          </a:p>
        </p:txBody>
      </p:sp>
      <p:pic>
        <p:nvPicPr>
          <p:cNvPr id="196" name="Google Shape;196;p18"/>
          <p:cNvPicPr preferRelativeResize="0"/>
          <p:nvPr/>
        </p:nvPicPr>
        <p:blipFill rotWithShape="1">
          <a:blip r:embed="rId3">
            <a:alphaModFix/>
          </a:blip>
          <a:srcRect/>
          <a:stretch/>
        </p:blipFill>
        <p:spPr>
          <a:xfrm>
            <a:off x="5972176" y="67684"/>
            <a:ext cx="3057524" cy="229906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9"/>
          <p:cNvSpPr txBox="1">
            <a:spLocks noGrp="1"/>
          </p:cNvSpPr>
          <p:nvPr>
            <p:ph type="body" idx="1"/>
          </p:nvPr>
        </p:nvSpPr>
        <p:spPr>
          <a:xfrm>
            <a:off x="120511" y="2707574"/>
            <a:ext cx="8884427" cy="4055960"/>
          </a:xfrm>
          <a:prstGeom prst="rect">
            <a:avLst/>
          </a:prstGeom>
          <a:noFill/>
          <a:ln>
            <a:noFill/>
          </a:ln>
        </p:spPr>
        <p:txBody>
          <a:bodyPr spcFirstLastPara="1" wrap="square" lIns="88875" tIns="50775" rIns="88875" bIns="50775" anchor="t" anchorCtr="0">
            <a:normAutofit fontScale="92500" lnSpcReduction="10000"/>
          </a:bodyPr>
          <a:lstStyle/>
          <a:p>
            <a:pPr marL="205376" lvl="0" indent="-205581" algn="l" rtl="0">
              <a:lnSpc>
                <a:spcPct val="120000"/>
              </a:lnSpc>
              <a:spcBef>
                <a:spcPts val="492"/>
              </a:spcBef>
              <a:spcAft>
                <a:spcPts val="0"/>
              </a:spcAft>
              <a:buClr>
                <a:srgbClr val="000000"/>
              </a:buClr>
              <a:buSzPct val="100000"/>
              <a:buFont typeface="Arial"/>
              <a:buChar char="•"/>
            </a:pPr>
            <a:r>
              <a:rPr lang="en-US" sz="3500"/>
              <a:t>Although not used as an event monitor, pacemakers can determine how much time a patient spends in atrial fibrillation.</a:t>
            </a:r>
            <a:endParaRPr sz="3600"/>
          </a:p>
          <a:p>
            <a:pPr marL="205376" lvl="0" indent="-205376" algn="l" rtl="0">
              <a:lnSpc>
                <a:spcPct val="120000"/>
              </a:lnSpc>
              <a:spcBef>
                <a:spcPts val="492"/>
              </a:spcBef>
              <a:spcAft>
                <a:spcPts val="0"/>
              </a:spcAft>
              <a:buClr>
                <a:schemeClr val="dk1"/>
              </a:buClr>
              <a:buSzPct val="100000"/>
              <a:buNone/>
            </a:pPr>
            <a:endParaRPr sz="2400"/>
          </a:p>
          <a:p>
            <a:pPr marL="205376" lvl="0" indent="-205581" algn="l" rtl="0">
              <a:lnSpc>
                <a:spcPct val="120000"/>
              </a:lnSpc>
              <a:spcBef>
                <a:spcPts val="492"/>
              </a:spcBef>
              <a:spcAft>
                <a:spcPts val="0"/>
              </a:spcAft>
              <a:buClr>
                <a:srgbClr val="000000"/>
              </a:buClr>
              <a:buSzPct val="100000"/>
              <a:buFont typeface="Arial"/>
              <a:buChar char="•"/>
            </a:pPr>
            <a:r>
              <a:rPr lang="en-US" sz="3500"/>
              <a:t>Interrogation is generally done by the pacemaker manufacturer</a:t>
            </a:r>
            <a:r>
              <a:rPr lang="en-US" sz="3500">
                <a:latin typeface="Arial"/>
                <a:ea typeface="Arial"/>
                <a:cs typeface="Arial"/>
                <a:sym typeface="Arial"/>
              </a:rPr>
              <a:t>’</a:t>
            </a:r>
            <a:r>
              <a:rPr lang="en-US" sz="3500"/>
              <a:t>s representative in the hospital or by the cardiologist in the office.</a:t>
            </a:r>
            <a:endParaRPr sz="3500"/>
          </a:p>
          <a:p>
            <a:pPr marL="0" lvl="0" indent="0" algn="l" rtl="0">
              <a:lnSpc>
                <a:spcPct val="100000"/>
              </a:lnSpc>
              <a:spcBef>
                <a:spcPts val="492"/>
              </a:spcBef>
              <a:spcAft>
                <a:spcPts val="0"/>
              </a:spcAft>
              <a:buClr>
                <a:srgbClr val="000000"/>
              </a:buClr>
              <a:buSzPct val="100000"/>
              <a:buNone/>
            </a:pPr>
            <a:endParaRPr/>
          </a:p>
        </p:txBody>
      </p:sp>
      <p:pic>
        <p:nvPicPr>
          <p:cNvPr id="202" name="Google Shape;202;p19" descr="Interrogation Meme Generator - Imgflip"/>
          <p:cNvPicPr preferRelativeResize="0"/>
          <p:nvPr/>
        </p:nvPicPr>
        <p:blipFill rotWithShape="1">
          <a:blip r:embed="rId3">
            <a:alphaModFix/>
          </a:blip>
          <a:srcRect l="866" t="8448" r="4097" b="8799"/>
          <a:stretch/>
        </p:blipFill>
        <p:spPr>
          <a:xfrm>
            <a:off x="5427023" y="371088"/>
            <a:ext cx="3596466" cy="2277547"/>
          </a:xfrm>
          <a:prstGeom prst="rect">
            <a:avLst/>
          </a:prstGeom>
          <a:noFill/>
          <a:ln>
            <a:noFill/>
          </a:ln>
        </p:spPr>
      </p:pic>
      <p:sp>
        <p:nvSpPr>
          <p:cNvPr id="203" name="Google Shape;203;p19"/>
          <p:cNvSpPr txBox="1"/>
          <p:nvPr/>
        </p:nvSpPr>
        <p:spPr>
          <a:xfrm>
            <a:off x="120511" y="312149"/>
            <a:ext cx="5699847" cy="22775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Pacemakers may be </a:t>
            </a:r>
            <a:r>
              <a:rPr lang="en-US" sz="3200" b="1" i="0" u="none" strike="noStrike" cap="none">
                <a:solidFill>
                  <a:srgbClr val="000000"/>
                </a:solidFill>
                <a:latin typeface="Calibri"/>
                <a:ea typeface="Calibri"/>
                <a:cs typeface="Calibri"/>
                <a:sym typeface="Calibri"/>
              </a:rPr>
              <a:t>interrogated</a:t>
            </a:r>
            <a:r>
              <a:rPr lang="en-US" sz="3200" b="0" i="0" u="none" strike="noStrike" cap="none">
                <a:solidFill>
                  <a:srgbClr val="000000"/>
                </a:solidFill>
                <a:latin typeface="Calibri"/>
                <a:ea typeface="Calibri"/>
                <a:cs typeface="Calibri"/>
                <a:sym typeface="Calibri"/>
              </a:rPr>
              <a:t>, to determine the rhythm during events, such as a syncopal episode.</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53"/>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Pacemaker Indications</a:t>
            </a:r>
            <a:endParaRPr/>
          </a:p>
        </p:txBody>
      </p:sp>
      <p:sp>
        <p:nvSpPr>
          <p:cNvPr id="209" name="Google Shape;209;p53"/>
          <p:cNvSpPr txBox="1">
            <a:spLocks noGrp="1"/>
          </p:cNvSpPr>
          <p:nvPr>
            <p:ph type="body" idx="1"/>
          </p:nvPr>
        </p:nvSpPr>
        <p:spPr>
          <a:xfrm>
            <a:off x="124692" y="1065981"/>
            <a:ext cx="8880246" cy="5697553"/>
          </a:xfrm>
          <a:prstGeom prst="rect">
            <a:avLst/>
          </a:prstGeom>
          <a:noFill/>
          <a:ln>
            <a:noFill/>
          </a:ln>
        </p:spPr>
        <p:txBody>
          <a:bodyPr spcFirstLastPara="1" wrap="square" lIns="88875" tIns="50775" rIns="88875" bIns="50775" anchor="t" anchorCtr="0">
            <a:normAutofit/>
          </a:bodyPr>
          <a:lstStyle/>
          <a:p>
            <a:pPr marL="457200" lvl="0" indent="-457200" algn="l" rtl="0">
              <a:lnSpc>
                <a:spcPct val="120000"/>
              </a:lnSpc>
              <a:spcBef>
                <a:spcPts val="492"/>
              </a:spcBef>
              <a:spcAft>
                <a:spcPts val="0"/>
              </a:spcAft>
              <a:buClr>
                <a:srgbClr val="000000"/>
              </a:buClr>
              <a:buSzPts val="3500"/>
              <a:buChar char="•"/>
            </a:pPr>
            <a:r>
              <a:rPr lang="en-US"/>
              <a:t>Patients requiring a pacemaker will typically present with </a:t>
            </a:r>
            <a:r>
              <a:rPr lang="en-US" b="1" i="1"/>
              <a:t>exertional dyspnea, loss of exercise tolerance, syncope and near syncope</a:t>
            </a:r>
            <a:r>
              <a:rPr lang="en-US"/>
              <a:t>.</a:t>
            </a:r>
            <a:endParaRPr/>
          </a:p>
          <a:p>
            <a:pPr marL="457200" lvl="0" indent="-457200" algn="l" rtl="0">
              <a:lnSpc>
                <a:spcPct val="120000"/>
              </a:lnSpc>
              <a:spcBef>
                <a:spcPts val="492"/>
              </a:spcBef>
              <a:spcAft>
                <a:spcPts val="0"/>
              </a:spcAft>
              <a:buClr>
                <a:srgbClr val="000000"/>
              </a:buClr>
              <a:buSzPts val="3500"/>
              <a:buChar char="•"/>
            </a:pPr>
            <a:r>
              <a:rPr lang="en-US"/>
              <a:t>The patient or someone around them might note that their heart rate is low.</a:t>
            </a:r>
            <a:endParaRPr/>
          </a:p>
          <a:p>
            <a:pPr marL="457200" lvl="0" indent="-234950" algn="l" rtl="0">
              <a:lnSpc>
                <a:spcPct val="120000"/>
              </a:lnSpc>
              <a:spcBef>
                <a:spcPts val="492"/>
              </a:spcBef>
              <a:spcAft>
                <a:spcPts val="0"/>
              </a:spcAft>
              <a:buClr>
                <a:srgbClr val="000000"/>
              </a:buClr>
              <a:buSzPts val="3500"/>
              <a:buNone/>
            </a:pPr>
            <a:endParaRPr/>
          </a:p>
          <a:p>
            <a:pPr marL="457200" lvl="0" indent="-457200" algn="l" rtl="0">
              <a:lnSpc>
                <a:spcPct val="120000"/>
              </a:lnSpc>
              <a:spcBef>
                <a:spcPts val="492"/>
              </a:spcBef>
              <a:spcAft>
                <a:spcPts val="0"/>
              </a:spcAft>
              <a:buClr>
                <a:srgbClr val="000000"/>
              </a:buClr>
              <a:buSzPts val="3500"/>
              <a:buChar char="•"/>
            </a:pPr>
            <a:r>
              <a:rPr lang="en-US"/>
              <a:t>Before the decision is made to place a device, all reversible causes must be corrected.  What are these?</a:t>
            </a:r>
            <a:endParaRPr/>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3"/>
          <p:cNvSpPr txBox="1">
            <a:spLocks noGrp="1"/>
          </p:cNvSpPr>
          <p:nvPr>
            <p:ph type="title"/>
          </p:nvPr>
        </p:nvSpPr>
        <p:spPr>
          <a:xfrm>
            <a:off x="227707" y="136452"/>
            <a:ext cx="8687470" cy="83970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Permanent Pacemaker Placement</a:t>
            </a:r>
            <a:endParaRPr/>
          </a:p>
        </p:txBody>
      </p:sp>
      <p:sp>
        <p:nvSpPr>
          <p:cNvPr id="215" name="Google Shape;215;p23"/>
          <p:cNvSpPr txBox="1">
            <a:spLocks noGrp="1"/>
          </p:cNvSpPr>
          <p:nvPr>
            <p:ph type="body" idx="1"/>
          </p:nvPr>
        </p:nvSpPr>
        <p:spPr>
          <a:xfrm>
            <a:off x="137160" y="1144092"/>
            <a:ext cx="8909759" cy="5563023"/>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A cardiac electrophysiologist will be consulted to evaluate the patient.</a:t>
            </a:r>
            <a:endParaRPr/>
          </a:p>
          <a:p>
            <a:pPr marL="342900" lvl="0" indent="-139700" algn="l" rtl="0">
              <a:lnSpc>
                <a:spcPct val="100000"/>
              </a:lnSpc>
              <a:spcBef>
                <a:spcPts val="0"/>
              </a:spcBef>
              <a:spcAft>
                <a:spcPts val="0"/>
              </a:spcAft>
              <a:buClr>
                <a:schemeClr val="dk1"/>
              </a:buClr>
              <a:buSzPts val="3200"/>
              <a:buNone/>
            </a:pPr>
            <a:endParaRPr/>
          </a:p>
          <a:p>
            <a:pPr marL="342900" lvl="0" indent="-342900" algn="l" rtl="0">
              <a:lnSpc>
                <a:spcPct val="100000"/>
              </a:lnSpc>
              <a:spcBef>
                <a:spcPts val="0"/>
              </a:spcBef>
              <a:spcAft>
                <a:spcPts val="0"/>
              </a:spcAft>
              <a:buClr>
                <a:schemeClr val="dk1"/>
              </a:buClr>
              <a:buSzPts val="3200"/>
              <a:buChar char="•"/>
            </a:pPr>
            <a:r>
              <a:rPr lang="en-US"/>
              <a:t>PPM placement can be a same day surgery, so the patient should be kept npo at midnight if admitted to the hospital until they are evaluated by the EP specialist.  Hold AC and antiplatelet meds.</a:t>
            </a:r>
            <a:endParaRPr/>
          </a:p>
          <a:p>
            <a:pPr marL="342900" lvl="0" indent="-139700" algn="l" rtl="0">
              <a:lnSpc>
                <a:spcPct val="100000"/>
              </a:lnSpc>
              <a:spcBef>
                <a:spcPts val="0"/>
              </a:spcBef>
              <a:spcAft>
                <a:spcPts val="0"/>
              </a:spcAft>
              <a:buClr>
                <a:schemeClr val="dk1"/>
              </a:buClr>
              <a:buSzPts val="3200"/>
              <a:buNone/>
            </a:pPr>
            <a:endParaRPr/>
          </a:p>
          <a:p>
            <a:pPr marL="342900" lvl="0" indent="-342900" algn="l" rtl="0">
              <a:lnSpc>
                <a:spcPct val="100000"/>
              </a:lnSpc>
              <a:spcBef>
                <a:spcPts val="0"/>
              </a:spcBef>
              <a:spcAft>
                <a:spcPts val="0"/>
              </a:spcAft>
              <a:buClr>
                <a:schemeClr val="dk1"/>
              </a:buClr>
              <a:buSzPts val="3200"/>
              <a:buChar char="•"/>
            </a:pPr>
            <a:r>
              <a:rPr lang="en-US"/>
              <a:t>Pacemakers are typically placed under conscious sedation in the cath lab by the electrophysiologist.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0"/>
          <p:cNvSpPr txBox="1">
            <a:spLocks noGrp="1"/>
          </p:cNvSpPr>
          <p:nvPr>
            <p:ph type="title"/>
          </p:nvPr>
        </p:nvSpPr>
        <p:spPr>
          <a:xfrm>
            <a:off x="227707" y="136452"/>
            <a:ext cx="8687470" cy="839701"/>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Placing the Pacemaker</a:t>
            </a:r>
            <a:endParaRPr/>
          </a:p>
        </p:txBody>
      </p:sp>
      <p:sp>
        <p:nvSpPr>
          <p:cNvPr id="221" name="Google Shape;221;p20"/>
          <p:cNvSpPr txBox="1">
            <a:spLocks noGrp="1"/>
          </p:cNvSpPr>
          <p:nvPr>
            <p:ph type="body" idx="1"/>
          </p:nvPr>
        </p:nvSpPr>
        <p:spPr>
          <a:xfrm>
            <a:off x="227707" y="1144092"/>
            <a:ext cx="8819212" cy="5563023"/>
          </a:xfrm>
          <a:prstGeom prst="rect">
            <a:avLst/>
          </a:prstGeom>
          <a:noFill/>
          <a:ln>
            <a:noFill/>
          </a:ln>
        </p:spPr>
        <p:txBody>
          <a:bodyPr spcFirstLastPara="1" wrap="square" lIns="88875" tIns="50775" rIns="88875" bIns="50775" anchor="t" anchorCtr="0">
            <a:normAutofit/>
          </a:bodyPr>
          <a:lstStyle/>
          <a:p>
            <a:pPr marL="342665" lvl="0" indent="-342665" algn="l" rtl="0">
              <a:lnSpc>
                <a:spcPct val="100000"/>
              </a:lnSpc>
              <a:spcBef>
                <a:spcPts val="0"/>
              </a:spcBef>
              <a:spcAft>
                <a:spcPts val="0"/>
              </a:spcAft>
              <a:buClr>
                <a:srgbClr val="000000"/>
              </a:buClr>
              <a:buSzPts val="3200"/>
              <a:buFont typeface="Arial"/>
              <a:buChar char="•"/>
            </a:pPr>
            <a:r>
              <a:rPr lang="en-US"/>
              <a:t>A patient is placed under </a:t>
            </a:r>
            <a:r>
              <a:rPr lang="en-US" b="1" i="1"/>
              <a:t>conscious sedation </a:t>
            </a:r>
            <a:r>
              <a:rPr lang="en-US"/>
              <a:t>in the cath lab and after prepping a draping, a local anesthetic is used to numb the chest wall.</a:t>
            </a:r>
            <a:endParaRPr/>
          </a:p>
          <a:p>
            <a:pPr marL="0" lvl="0" indent="0" algn="l" rtl="0">
              <a:lnSpc>
                <a:spcPct val="100000"/>
              </a:lnSpc>
              <a:spcBef>
                <a:spcPts val="492"/>
              </a:spcBef>
              <a:spcAft>
                <a:spcPts val="0"/>
              </a:spcAft>
              <a:buClr>
                <a:srgbClr val="000000"/>
              </a:buClr>
              <a:buSzPts val="3200"/>
              <a:buNone/>
            </a:pPr>
            <a:r>
              <a:rPr lang="en-US"/>
              <a:t> </a:t>
            </a:r>
            <a:endParaRPr/>
          </a:p>
        </p:txBody>
      </p:sp>
      <p:pic>
        <p:nvPicPr>
          <p:cNvPr id="222" name="Google Shape;222;p20"/>
          <p:cNvPicPr preferRelativeResize="0"/>
          <p:nvPr/>
        </p:nvPicPr>
        <p:blipFill rotWithShape="1">
          <a:blip r:embed="rId3">
            <a:alphaModFix/>
          </a:blip>
          <a:srcRect/>
          <a:stretch/>
        </p:blipFill>
        <p:spPr>
          <a:xfrm>
            <a:off x="388938" y="3211513"/>
            <a:ext cx="5080000" cy="3378200"/>
          </a:xfrm>
          <a:prstGeom prst="rect">
            <a:avLst/>
          </a:prstGeom>
          <a:noFill/>
          <a:ln>
            <a:noFill/>
          </a:ln>
        </p:spPr>
      </p:pic>
      <p:sp>
        <p:nvSpPr>
          <p:cNvPr id="223" name="Google Shape;223;p20"/>
          <p:cNvSpPr txBox="1"/>
          <p:nvPr/>
        </p:nvSpPr>
        <p:spPr>
          <a:xfrm>
            <a:off x="5630169" y="3331837"/>
            <a:ext cx="3285008" cy="30469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The veins of the chest are accessed directly, or by using the Seldinger technique.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54"/>
          <p:cNvSpPr txBox="1">
            <a:spLocks noGrp="1"/>
          </p:cNvSpPr>
          <p:nvPr>
            <p:ph type="title"/>
          </p:nvPr>
        </p:nvSpPr>
        <p:spPr>
          <a:xfrm>
            <a:off x="227707" y="136452"/>
            <a:ext cx="8687470" cy="839701"/>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Dr. Seldinger and His Wire</a:t>
            </a:r>
            <a:endParaRPr/>
          </a:p>
        </p:txBody>
      </p:sp>
      <p:pic>
        <p:nvPicPr>
          <p:cNvPr id="229" name="Google Shape;229;p54" descr="Seldinger technique - Wikipedia"/>
          <p:cNvPicPr preferRelativeResize="0"/>
          <p:nvPr/>
        </p:nvPicPr>
        <p:blipFill rotWithShape="1">
          <a:blip r:embed="rId3">
            <a:alphaModFix/>
          </a:blip>
          <a:srcRect t="16840" b="12194"/>
          <a:stretch/>
        </p:blipFill>
        <p:spPr>
          <a:xfrm>
            <a:off x="227707" y="1107621"/>
            <a:ext cx="4361510" cy="2321379"/>
          </a:xfrm>
          <a:prstGeom prst="rect">
            <a:avLst/>
          </a:prstGeom>
          <a:noFill/>
          <a:ln>
            <a:noFill/>
          </a:ln>
        </p:spPr>
      </p:pic>
      <p:pic>
        <p:nvPicPr>
          <p:cNvPr id="230" name="Google Shape;230;p54" descr="Seldinger Technique for Central Intravenous (IV) Line Placement"/>
          <p:cNvPicPr preferRelativeResize="0"/>
          <p:nvPr/>
        </p:nvPicPr>
        <p:blipFill rotWithShape="1">
          <a:blip r:embed="rId4">
            <a:alphaModFix/>
          </a:blip>
          <a:srcRect/>
          <a:stretch/>
        </p:blipFill>
        <p:spPr>
          <a:xfrm>
            <a:off x="4765292" y="976153"/>
            <a:ext cx="4378708" cy="5881847"/>
          </a:xfrm>
          <a:prstGeom prst="rect">
            <a:avLst/>
          </a:prstGeom>
          <a:noFill/>
          <a:ln>
            <a:noFill/>
          </a:ln>
        </p:spPr>
      </p:pic>
      <p:pic>
        <p:nvPicPr>
          <p:cNvPr id="231" name="Google Shape;231;p54" descr="A hombros de gigantes: Sven Ivar Seldinger | Curar a veces, aliviar a  menudo, consolar siempre"/>
          <p:cNvPicPr preferRelativeResize="0"/>
          <p:nvPr/>
        </p:nvPicPr>
        <p:blipFill rotWithShape="1">
          <a:blip r:embed="rId5">
            <a:alphaModFix/>
          </a:blip>
          <a:srcRect/>
          <a:stretch/>
        </p:blipFill>
        <p:spPr>
          <a:xfrm>
            <a:off x="227707" y="3511994"/>
            <a:ext cx="2995584" cy="3209554"/>
          </a:xfrm>
          <a:prstGeom prst="rect">
            <a:avLst/>
          </a:prstGeom>
          <a:noFill/>
          <a:ln>
            <a:noFill/>
          </a:ln>
        </p:spPr>
      </p:pic>
      <p:sp>
        <p:nvSpPr>
          <p:cNvPr id="232" name="Google Shape;232;p54"/>
          <p:cNvSpPr txBox="1"/>
          <p:nvPr/>
        </p:nvSpPr>
        <p:spPr>
          <a:xfrm>
            <a:off x="4298868" y="4678878"/>
            <a:ext cx="1847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33" name="Google Shape;233;p54"/>
          <p:cNvSpPr txBox="1"/>
          <p:nvPr/>
        </p:nvSpPr>
        <p:spPr>
          <a:xfrm>
            <a:off x="3223291" y="5336553"/>
            <a:ext cx="1773252"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Dr. Ivar Seldinger, a Swedish radiologist, developed a safe method for vascular access in 1953.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1"/>
          <p:cNvSpPr txBox="1">
            <a:spLocks noGrp="1"/>
          </p:cNvSpPr>
          <p:nvPr>
            <p:ph type="title"/>
          </p:nvPr>
        </p:nvSpPr>
        <p:spPr>
          <a:xfrm>
            <a:off x="227707" y="136452"/>
            <a:ext cx="8687470" cy="83970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Permanent Pacemaker Placement</a:t>
            </a:r>
            <a:endParaRPr/>
          </a:p>
        </p:txBody>
      </p:sp>
      <p:sp>
        <p:nvSpPr>
          <p:cNvPr id="239" name="Google Shape;239;p21"/>
          <p:cNvSpPr txBox="1">
            <a:spLocks noGrp="1"/>
          </p:cNvSpPr>
          <p:nvPr>
            <p:ph type="body" idx="1"/>
          </p:nvPr>
        </p:nvSpPr>
        <p:spPr>
          <a:xfrm>
            <a:off x="227707" y="1144092"/>
            <a:ext cx="8819212" cy="5563023"/>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rgbClr val="000000"/>
              </a:buClr>
              <a:buSzPts val="3200"/>
              <a:buChar char="•"/>
            </a:pPr>
            <a:r>
              <a:rPr lang="en-US"/>
              <a:t>Pacing wires are run to the right side of the heart via the major veins in the chest (cephalic, axillary, subclavian) under fluoroscopic guidance.</a:t>
            </a:r>
            <a:endParaRPr/>
          </a:p>
        </p:txBody>
      </p:sp>
      <p:pic>
        <p:nvPicPr>
          <p:cNvPr id="240" name="Google Shape;240;p21"/>
          <p:cNvPicPr preferRelativeResize="0"/>
          <p:nvPr/>
        </p:nvPicPr>
        <p:blipFill rotWithShape="1">
          <a:blip r:embed="rId3">
            <a:alphaModFix/>
          </a:blip>
          <a:srcRect/>
          <a:stretch/>
        </p:blipFill>
        <p:spPr>
          <a:xfrm>
            <a:off x="985838" y="2784302"/>
            <a:ext cx="7690196" cy="393724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2"/>
          <p:cNvSpPr txBox="1">
            <a:spLocks noGrp="1"/>
          </p:cNvSpPr>
          <p:nvPr>
            <p:ph type="title"/>
          </p:nvPr>
        </p:nvSpPr>
        <p:spPr>
          <a:xfrm>
            <a:off x="227707" y="136452"/>
            <a:ext cx="8687470" cy="83970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Permanent Pacemaker Placement</a:t>
            </a:r>
            <a:endParaRPr/>
          </a:p>
        </p:txBody>
      </p:sp>
      <p:sp>
        <p:nvSpPr>
          <p:cNvPr id="246" name="Google Shape;246;p22"/>
          <p:cNvSpPr txBox="1">
            <a:spLocks noGrp="1"/>
          </p:cNvSpPr>
          <p:nvPr>
            <p:ph type="body" idx="1"/>
          </p:nvPr>
        </p:nvSpPr>
        <p:spPr>
          <a:xfrm>
            <a:off x="227707" y="1144093"/>
            <a:ext cx="8819212" cy="1812864"/>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rgbClr val="000000"/>
              </a:buClr>
              <a:buSzPts val="3200"/>
              <a:buChar char="•"/>
            </a:pPr>
            <a:r>
              <a:rPr lang="en-US"/>
              <a:t> The cardiologist creates a subcutanous </a:t>
            </a:r>
            <a:r>
              <a:rPr lang="en-US">
                <a:latin typeface="Arial"/>
                <a:ea typeface="Arial"/>
                <a:cs typeface="Arial"/>
                <a:sym typeface="Arial"/>
              </a:rPr>
              <a:t>“</a:t>
            </a:r>
            <a:r>
              <a:rPr lang="en-US"/>
              <a:t>pocket</a:t>
            </a:r>
            <a:r>
              <a:rPr lang="en-US">
                <a:latin typeface="Arial"/>
                <a:ea typeface="Arial"/>
                <a:cs typeface="Arial"/>
                <a:sym typeface="Arial"/>
              </a:rPr>
              <a:t>”</a:t>
            </a:r>
            <a:r>
              <a:rPr lang="en-US"/>
              <a:t> in the chest wall between the skin and the pectoralis muscle at the time of insertion.</a:t>
            </a:r>
            <a:endParaRPr/>
          </a:p>
        </p:txBody>
      </p:sp>
      <p:pic>
        <p:nvPicPr>
          <p:cNvPr id="247" name="Google Shape;247;p22"/>
          <p:cNvPicPr preferRelativeResize="0"/>
          <p:nvPr/>
        </p:nvPicPr>
        <p:blipFill rotWithShape="1">
          <a:blip r:embed="rId3">
            <a:alphaModFix/>
          </a:blip>
          <a:srcRect l="6312" t="10243" r="28663" b="15037"/>
          <a:stretch/>
        </p:blipFill>
        <p:spPr>
          <a:xfrm>
            <a:off x="3960346" y="2843213"/>
            <a:ext cx="4954831" cy="3786188"/>
          </a:xfrm>
          <a:prstGeom prst="rect">
            <a:avLst/>
          </a:prstGeom>
          <a:noFill/>
          <a:ln>
            <a:noFill/>
          </a:ln>
        </p:spPr>
      </p:pic>
      <p:pic>
        <p:nvPicPr>
          <p:cNvPr id="248" name="Google Shape;248;p22"/>
          <p:cNvPicPr preferRelativeResize="0"/>
          <p:nvPr/>
        </p:nvPicPr>
        <p:blipFill rotWithShape="1">
          <a:blip r:embed="rId4">
            <a:alphaModFix/>
          </a:blip>
          <a:srcRect l="13668" t="15833" r="16406"/>
          <a:stretch/>
        </p:blipFill>
        <p:spPr>
          <a:xfrm>
            <a:off x="227707" y="2765499"/>
            <a:ext cx="4473678" cy="3028950"/>
          </a:xfrm>
          <a:prstGeom prst="rect">
            <a:avLst/>
          </a:prstGeom>
          <a:noFill/>
          <a:ln>
            <a:noFill/>
          </a:ln>
        </p:spPr>
      </p:pic>
      <p:sp>
        <p:nvSpPr>
          <p:cNvPr id="249" name="Google Shape;249;p22"/>
          <p:cNvSpPr txBox="1"/>
          <p:nvPr/>
        </p:nvSpPr>
        <p:spPr>
          <a:xfrm>
            <a:off x="227707" y="6106181"/>
            <a:ext cx="345364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sng" strike="noStrike" cap="none">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https://www.youtube.com/watch?v=HkUhXolsUp4</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55"/>
          <p:cNvSpPr txBox="1">
            <a:spLocks noGrp="1"/>
          </p:cNvSpPr>
          <p:nvPr>
            <p:ph type="title"/>
          </p:nvPr>
        </p:nvSpPr>
        <p:spPr>
          <a:xfrm>
            <a:off x="227707" y="136452"/>
            <a:ext cx="8687470" cy="83970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Permanent Pacemaker Placement</a:t>
            </a:r>
            <a:endParaRPr/>
          </a:p>
        </p:txBody>
      </p:sp>
      <p:sp>
        <p:nvSpPr>
          <p:cNvPr id="255" name="Google Shape;255;p55"/>
          <p:cNvSpPr txBox="1">
            <a:spLocks noGrp="1"/>
          </p:cNvSpPr>
          <p:nvPr>
            <p:ph type="body" idx="1"/>
          </p:nvPr>
        </p:nvSpPr>
        <p:spPr>
          <a:xfrm>
            <a:off x="227707" y="1144092"/>
            <a:ext cx="8819212" cy="5563023"/>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After placing a pacemaker, </a:t>
            </a:r>
            <a:r>
              <a:rPr lang="en-US" b="1" i="1"/>
              <a:t>most patients can go home that day or the next</a:t>
            </a:r>
            <a:r>
              <a:rPr lang="en-US"/>
              <a:t>.  They then return to the cardiologist for care as follows:</a:t>
            </a:r>
            <a:endParaRPr/>
          </a:p>
          <a:p>
            <a:pPr marL="742950" lvl="1" indent="-285750" algn="l" rtl="0">
              <a:lnSpc>
                <a:spcPct val="100000"/>
              </a:lnSpc>
              <a:spcBef>
                <a:spcPts val="560"/>
              </a:spcBef>
              <a:spcAft>
                <a:spcPts val="0"/>
              </a:spcAft>
              <a:buClr>
                <a:schemeClr val="dk1"/>
              </a:buClr>
              <a:buSzPts val="2800"/>
              <a:buChar char="–"/>
            </a:pPr>
            <a:r>
              <a:rPr lang="en-US"/>
              <a:t>1-2 weeks for chest wound check</a:t>
            </a:r>
            <a:endParaRPr/>
          </a:p>
          <a:p>
            <a:pPr marL="742950" lvl="1" indent="-285750" algn="l" rtl="0">
              <a:lnSpc>
                <a:spcPct val="100000"/>
              </a:lnSpc>
              <a:spcBef>
                <a:spcPts val="560"/>
              </a:spcBef>
              <a:spcAft>
                <a:spcPts val="0"/>
              </a:spcAft>
              <a:buClr>
                <a:schemeClr val="dk1"/>
              </a:buClr>
              <a:buSzPts val="2800"/>
              <a:buChar char="–"/>
            </a:pPr>
            <a:r>
              <a:rPr lang="en-US"/>
              <a:t>1 month for pacemaker interrogation</a:t>
            </a:r>
            <a:endParaRPr/>
          </a:p>
          <a:p>
            <a:pPr marL="742950" lvl="1" indent="-285750" algn="l" rtl="0">
              <a:lnSpc>
                <a:spcPct val="100000"/>
              </a:lnSpc>
              <a:spcBef>
                <a:spcPts val="560"/>
              </a:spcBef>
              <a:spcAft>
                <a:spcPts val="0"/>
              </a:spcAft>
              <a:buClr>
                <a:schemeClr val="dk1"/>
              </a:buClr>
              <a:buSzPts val="2800"/>
              <a:buChar char="–"/>
            </a:pPr>
            <a:r>
              <a:rPr lang="en-US"/>
              <a:t>3 months for pacemaker interrogation</a:t>
            </a:r>
            <a:endParaRPr/>
          </a:p>
          <a:p>
            <a:pPr marL="742950" lvl="1" indent="-285750" algn="l" rtl="0">
              <a:lnSpc>
                <a:spcPct val="100000"/>
              </a:lnSpc>
              <a:spcBef>
                <a:spcPts val="560"/>
              </a:spcBef>
              <a:spcAft>
                <a:spcPts val="0"/>
              </a:spcAft>
              <a:buClr>
                <a:schemeClr val="dk1"/>
              </a:buClr>
              <a:buSzPts val="2800"/>
              <a:buChar char="–"/>
            </a:pPr>
            <a:r>
              <a:rPr lang="en-US"/>
              <a:t>Then every 6 months for pacemaker interrogation</a:t>
            </a:r>
            <a:endParaRPr/>
          </a:p>
          <a:p>
            <a:pPr marL="342900" lvl="0" indent="-139700" algn="l" rtl="0">
              <a:lnSpc>
                <a:spcPct val="100000"/>
              </a:lnSpc>
              <a:spcBef>
                <a:spcPts val="640"/>
              </a:spcBef>
              <a:spcAft>
                <a:spcPts val="0"/>
              </a:spcAft>
              <a:buClr>
                <a:schemeClr val="dk1"/>
              </a:buClr>
              <a:buSzPts val="3200"/>
              <a:buNone/>
            </a:pPr>
            <a:endParaRPr>
              <a:latin typeface="Helvetica Neue Light"/>
              <a:ea typeface="Helvetica Neue Light"/>
              <a:cs typeface="Helvetica Neue Light"/>
              <a:sym typeface="Helvetica Neue Light"/>
            </a:endParaRPr>
          </a:p>
          <a:p>
            <a:pPr marL="342900" lvl="0" indent="-342900" algn="l" rtl="0">
              <a:lnSpc>
                <a:spcPct val="100000"/>
              </a:lnSpc>
              <a:spcBef>
                <a:spcPts val="640"/>
              </a:spcBef>
              <a:spcAft>
                <a:spcPts val="0"/>
              </a:spcAft>
              <a:buClr>
                <a:schemeClr val="dk1"/>
              </a:buClr>
              <a:buSzPts val="3200"/>
              <a:buChar char="•"/>
            </a:pPr>
            <a:r>
              <a:rPr lang="en-US"/>
              <a:t>Pacemakers may be reprogrammed in the office by a cardiologist while implanted if needed.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24"/>
          <p:cNvPicPr preferRelativeResize="0"/>
          <p:nvPr/>
        </p:nvPicPr>
        <p:blipFill rotWithShape="1">
          <a:blip r:embed="rId3">
            <a:alphaModFix/>
          </a:blip>
          <a:srcRect/>
          <a:stretch/>
        </p:blipFill>
        <p:spPr>
          <a:xfrm>
            <a:off x="1320800" y="177800"/>
            <a:ext cx="6502400" cy="6502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56"/>
          <p:cNvSpPr txBox="1">
            <a:spLocks noGrp="1"/>
          </p:cNvSpPr>
          <p:nvPr>
            <p:ph type="title"/>
          </p:nvPr>
        </p:nvSpPr>
        <p:spPr>
          <a:xfrm>
            <a:off x="227707" y="94466"/>
            <a:ext cx="8687470" cy="1092889"/>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11111"/>
              <a:buFont typeface="Arial"/>
              <a:buNone/>
            </a:pPr>
            <a:r>
              <a:rPr lang="en-US">
                <a:latin typeface="Arial"/>
                <a:ea typeface="Arial"/>
                <a:cs typeface="Arial"/>
                <a:sym typeface="Arial"/>
              </a:rPr>
              <a:t>Implantable Cardioverter- Defibrillators (ICD)</a:t>
            </a:r>
            <a:endParaRPr/>
          </a:p>
        </p:txBody>
      </p:sp>
      <p:sp>
        <p:nvSpPr>
          <p:cNvPr id="266" name="Google Shape;266;p56"/>
          <p:cNvSpPr txBox="1">
            <a:spLocks noGrp="1"/>
          </p:cNvSpPr>
          <p:nvPr>
            <p:ph type="body" idx="1"/>
          </p:nvPr>
        </p:nvSpPr>
        <p:spPr>
          <a:xfrm>
            <a:off x="124692" y="1460665"/>
            <a:ext cx="8880246" cy="5302869"/>
          </a:xfrm>
          <a:prstGeom prst="rect">
            <a:avLst/>
          </a:prstGeom>
          <a:noFill/>
          <a:ln>
            <a:noFill/>
          </a:ln>
        </p:spPr>
        <p:txBody>
          <a:bodyPr spcFirstLastPara="1" wrap="square" lIns="88875" tIns="50775" rIns="88875" bIns="50775" anchor="t" anchorCtr="0">
            <a:normAutofit/>
          </a:bodyPr>
          <a:lstStyle/>
          <a:p>
            <a:pPr marL="342665" lvl="0" indent="-342665" algn="l" rtl="0">
              <a:lnSpc>
                <a:spcPct val="100000"/>
              </a:lnSpc>
              <a:spcBef>
                <a:spcPts val="0"/>
              </a:spcBef>
              <a:spcAft>
                <a:spcPts val="0"/>
              </a:spcAft>
              <a:buClr>
                <a:srgbClr val="000000"/>
              </a:buClr>
              <a:buSzPts val="3200"/>
              <a:buFont typeface="Arial"/>
              <a:buChar char="•"/>
            </a:pPr>
            <a:r>
              <a:rPr lang="en-US" b="0" i="0">
                <a:solidFill>
                  <a:srgbClr val="2A2A2A"/>
                </a:solidFill>
                <a:latin typeface="Calibri"/>
                <a:ea typeface="Calibri"/>
                <a:cs typeface="Calibri"/>
                <a:sym typeface="Calibri"/>
              </a:rPr>
              <a:t>The ICD has revolutionized the treatment of patients at risk for sudden cardiac death due to ventricular tachyarrhythmias.</a:t>
            </a:r>
            <a:endParaRPr/>
          </a:p>
          <a:p>
            <a:pPr marL="342665" lvl="0" indent="-139465" algn="l" rtl="0">
              <a:lnSpc>
                <a:spcPct val="100000"/>
              </a:lnSpc>
              <a:spcBef>
                <a:spcPts val="0"/>
              </a:spcBef>
              <a:spcAft>
                <a:spcPts val="0"/>
              </a:spcAft>
              <a:buClr>
                <a:srgbClr val="000000"/>
              </a:buClr>
              <a:buSzPts val="3200"/>
              <a:buFont typeface="Arial"/>
              <a:buNone/>
            </a:pPr>
            <a:endParaRPr>
              <a:solidFill>
                <a:srgbClr val="2A2A2A"/>
              </a:solidFill>
              <a:latin typeface="Calibri"/>
              <a:ea typeface="Calibri"/>
              <a:cs typeface="Calibri"/>
              <a:sym typeface="Calibri"/>
            </a:endParaRPr>
          </a:p>
          <a:p>
            <a:pPr marL="342665" lvl="0" indent="-342665" algn="l" rtl="0">
              <a:lnSpc>
                <a:spcPct val="100000"/>
              </a:lnSpc>
              <a:spcBef>
                <a:spcPts val="0"/>
              </a:spcBef>
              <a:spcAft>
                <a:spcPts val="0"/>
              </a:spcAft>
              <a:buClr>
                <a:srgbClr val="000000"/>
              </a:buClr>
              <a:buSzPts val="3200"/>
              <a:buFont typeface="Arial"/>
              <a:buChar char="•"/>
            </a:pPr>
            <a:r>
              <a:rPr lang="en-US">
                <a:solidFill>
                  <a:srgbClr val="2A2A2A"/>
                </a:solidFill>
                <a:latin typeface="Calibri"/>
                <a:ea typeface="Calibri"/>
                <a:cs typeface="Calibri"/>
                <a:sym typeface="Calibri"/>
              </a:rPr>
              <a:t>First used in 1980 and approved by the FDA in 1985, the initial ICD device was big and bulky,  requiring abdominal cavity placement and a thoracotomy to place epicardial leads.</a:t>
            </a:r>
            <a:endParaRPr/>
          </a:p>
          <a:p>
            <a:pPr marL="342665" lvl="0" indent="-139465" algn="l" rtl="0">
              <a:lnSpc>
                <a:spcPct val="100000"/>
              </a:lnSpc>
              <a:spcBef>
                <a:spcPts val="0"/>
              </a:spcBef>
              <a:spcAft>
                <a:spcPts val="0"/>
              </a:spcAft>
              <a:buClr>
                <a:srgbClr val="000000"/>
              </a:buClr>
              <a:buSzPts val="3200"/>
              <a:buFont typeface="Arial"/>
              <a:buNone/>
            </a:pPr>
            <a:endParaRPr sz="2400">
              <a:solidFill>
                <a:srgbClr val="2A2A2A"/>
              </a:solidFill>
              <a:latin typeface="Calibri"/>
              <a:ea typeface="Calibri"/>
              <a:cs typeface="Calibri"/>
              <a:sym typeface="Calibri"/>
            </a:endParaRPr>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7"/>
          <p:cNvSpPr txBox="1">
            <a:spLocks noGrp="1"/>
          </p:cNvSpPr>
          <p:nvPr>
            <p:ph type="title"/>
          </p:nvPr>
        </p:nvSpPr>
        <p:spPr>
          <a:xfrm>
            <a:off x="227707" y="94466"/>
            <a:ext cx="8687470" cy="986189"/>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ICD</a:t>
            </a:r>
            <a:endParaRPr/>
          </a:p>
        </p:txBody>
      </p:sp>
      <p:sp>
        <p:nvSpPr>
          <p:cNvPr id="272" name="Google Shape;272;p57"/>
          <p:cNvSpPr txBox="1">
            <a:spLocks noGrp="1"/>
          </p:cNvSpPr>
          <p:nvPr>
            <p:ph type="body" idx="1"/>
          </p:nvPr>
        </p:nvSpPr>
        <p:spPr>
          <a:xfrm>
            <a:off x="124692" y="1080655"/>
            <a:ext cx="8880246" cy="5682879"/>
          </a:xfrm>
          <a:prstGeom prst="rect">
            <a:avLst/>
          </a:prstGeom>
          <a:noFill/>
          <a:ln>
            <a:noFill/>
          </a:ln>
        </p:spPr>
        <p:txBody>
          <a:bodyPr spcFirstLastPara="1" wrap="square" lIns="88875" tIns="50775" rIns="88875" bIns="50775" anchor="t" anchorCtr="0">
            <a:normAutofit/>
          </a:bodyPr>
          <a:lstStyle/>
          <a:p>
            <a:pPr marL="520700" lvl="0" indent="-457200" algn="l" rtl="0">
              <a:lnSpc>
                <a:spcPct val="100000"/>
              </a:lnSpc>
              <a:spcBef>
                <a:spcPts val="492"/>
              </a:spcBef>
              <a:spcAft>
                <a:spcPts val="0"/>
              </a:spcAft>
              <a:buClr>
                <a:srgbClr val="000000"/>
              </a:buClr>
              <a:buSzPts val="2560"/>
              <a:buChar char="•"/>
            </a:pPr>
            <a:r>
              <a:rPr lang="en-US">
                <a:solidFill>
                  <a:srgbClr val="2A2A2A"/>
                </a:solidFill>
                <a:latin typeface="Calibri"/>
                <a:ea typeface="Calibri"/>
                <a:cs typeface="Calibri"/>
                <a:sym typeface="Calibri"/>
              </a:rPr>
              <a:t>Early ICDs were simple “shock boxes” and their battery life was limited to 2 years.</a:t>
            </a:r>
            <a:endParaRPr/>
          </a:p>
          <a:p>
            <a:pPr marL="520700" lvl="0" indent="-294640" algn="l" rtl="0">
              <a:lnSpc>
                <a:spcPct val="100000"/>
              </a:lnSpc>
              <a:spcBef>
                <a:spcPts val="492"/>
              </a:spcBef>
              <a:spcAft>
                <a:spcPts val="0"/>
              </a:spcAft>
              <a:buClr>
                <a:srgbClr val="000000"/>
              </a:buClr>
              <a:buSzPts val="2560"/>
              <a:buNone/>
            </a:pPr>
            <a:endParaRPr>
              <a:latin typeface="Calibri"/>
              <a:ea typeface="Calibri"/>
              <a:cs typeface="Calibri"/>
              <a:sym typeface="Calibri"/>
            </a:endParaRPr>
          </a:p>
          <a:p>
            <a:pPr marL="520700" lvl="0" indent="-457200" algn="l" rtl="0">
              <a:lnSpc>
                <a:spcPct val="100000"/>
              </a:lnSpc>
              <a:spcBef>
                <a:spcPts val="492"/>
              </a:spcBef>
              <a:spcAft>
                <a:spcPts val="0"/>
              </a:spcAft>
              <a:buClr>
                <a:srgbClr val="000000"/>
              </a:buClr>
              <a:buSzPts val="2560"/>
              <a:buChar char="•"/>
            </a:pPr>
            <a:r>
              <a:rPr lang="en-US">
                <a:latin typeface="Calibri"/>
                <a:ea typeface="Calibri"/>
                <a:cs typeface="Calibri"/>
                <a:sym typeface="Calibri"/>
              </a:rPr>
              <a:t>Modern ICDs are considerably smaller, with an </a:t>
            </a:r>
            <a:r>
              <a:rPr lang="en-US" b="1" i="1">
                <a:latin typeface="Calibri"/>
                <a:ea typeface="Calibri"/>
                <a:cs typeface="Calibri"/>
                <a:sym typeface="Calibri"/>
              </a:rPr>
              <a:t>average battery life of 8 years</a:t>
            </a:r>
            <a:r>
              <a:rPr lang="en-US">
                <a:latin typeface="Calibri"/>
                <a:ea typeface="Calibri"/>
                <a:cs typeface="Calibri"/>
                <a:sym typeface="Calibri"/>
              </a:rPr>
              <a:t>, and have a much more detailed algorithm for arrhythmias, in addition to recording cardiac events.</a:t>
            </a:r>
            <a:endParaRPr/>
          </a:p>
          <a:p>
            <a:pPr marL="520700" lvl="0" indent="-294640" algn="l" rtl="0">
              <a:lnSpc>
                <a:spcPct val="100000"/>
              </a:lnSpc>
              <a:spcBef>
                <a:spcPts val="492"/>
              </a:spcBef>
              <a:spcAft>
                <a:spcPts val="0"/>
              </a:spcAft>
              <a:buClr>
                <a:srgbClr val="000000"/>
              </a:buClr>
              <a:buSzPts val="2560"/>
              <a:buNone/>
            </a:pPr>
            <a:endParaRPr>
              <a:latin typeface="Calibri"/>
              <a:ea typeface="Calibri"/>
              <a:cs typeface="Calibri"/>
              <a:sym typeface="Calibri"/>
            </a:endParaRPr>
          </a:p>
          <a:p>
            <a:pPr marL="520700" lvl="0" indent="-457200" algn="l" rtl="0">
              <a:lnSpc>
                <a:spcPct val="100000"/>
              </a:lnSpc>
              <a:spcBef>
                <a:spcPts val="492"/>
              </a:spcBef>
              <a:spcAft>
                <a:spcPts val="0"/>
              </a:spcAft>
              <a:buClr>
                <a:srgbClr val="000000"/>
              </a:buClr>
              <a:buSzPts val="2560"/>
              <a:buChar char="•"/>
            </a:pPr>
            <a:r>
              <a:rPr lang="en-US" b="0" i="0">
                <a:solidFill>
                  <a:srgbClr val="2A2A2A"/>
                </a:solidFill>
                <a:latin typeface="Calibri"/>
                <a:ea typeface="Calibri"/>
                <a:cs typeface="Calibri"/>
                <a:sym typeface="Calibri"/>
              </a:rPr>
              <a:t>ICDs can perform dual-chamber, rate-responsive pacing for bradycardia for a short time. </a:t>
            </a:r>
            <a:endParaRPr/>
          </a:p>
          <a:p>
            <a:pPr marL="520700" lvl="0" indent="-294640" algn="l" rtl="0">
              <a:lnSpc>
                <a:spcPct val="100000"/>
              </a:lnSpc>
              <a:spcBef>
                <a:spcPts val="492"/>
              </a:spcBef>
              <a:spcAft>
                <a:spcPts val="0"/>
              </a:spcAft>
              <a:buClr>
                <a:srgbClr val="000000"/>
              </a:buClr>
              <a:buSzPts val="2560"/>
              <a:buNone/>
            </a:pPr>
            <a:endParaRPr b="0" i="0">
              <a:solidFill>
                <a:srgbClr val="2A2A2A"/>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2"/>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ICDs</a:t>
            </a:r>
            <a:endParaRPr/>
          </a:p>
        </p:txBody>
      </p:sp>
      <p:sp>
        <p:nvSpPr>
          <p:cNvPr id="278" name="Google Shape;278;p12"/>
          <p:cNvSpPr txBox="1">
            <a:spLocks noGrp="1"/>
          </p:cNvSpPr>
          <p:nvPr>
            <p:ph type="body" idx="1"/>
          </p:nvPr>
        </p:nvSpPr>
        <p:spPr>
          <a:xfrm>
            <a:off x="124692" y="1175657"/>
            <a:ext cx="8880246" cy="5510467"/>
          </a:xfrm>
          <a:prstGeom prst="rect">
            <a:avLst/>
          </a:prstGeom>
          <a:noFill/>
          <a:ln>
            <a:noFill/>
          </a:ln>
        </p:spPr>
        <p:txBody>
          <a:bodyPr spcFirstLastPara="1" wrap="square" lIns="88875" tIns="50775" rIns="88875" bIns="50775" anchor="t" anchorCtr="0">
            <a:normAutofit/>
          </a:bodyPr>
          <a:lstStyle/>
          <a:p>
            <a:pPr marL="342665" lvl="0" indent="-342665" algn="l" rtl="0">
              <a:lnSpc>
                <a:spcPct val="100000"/>
              </a:lnSpc>
              <a:spcBef>
                <a:spcPts val="0"/>
              </a:spcBef>
              <a:spcAft>
                <a:spcPts val="0"/>
              </a:spcAft>
              <a:buClr>
                <a:srgbClr val="000000"/>
              </a:buClr>
              <a:buSzPts val="3200"/>
              <a:buChar char="•"/>
            </a:pPr>
            <a:r>
              <a:rPr lang="en-US">
                <a:solidFill>
                  <a:srgbClr val="2A2A2A"/>
                </a:solidFill>
                <a:latin typeface="Calibri"/>
                <a:ea typeface="Calibri"/>
                <a:cs typeface="Calibri"/>
                <a:sym typeface="Calibri"/>
              </a:rPr>
              <a:t>Modern ICDs have </a:t>
            </a:r>
            <a:r>
              <a:rPr lang="en-US" b="1" i="1">
                <a:solidFill>
                  <a:srgbClr val="2A2A2A"/>
                </a:solidFill>
                <a:latin typeface="Calibri"/>
                <a:ea typeface="Calibri"/>
                <a:cs typeface="Calibri"/>
                <a:sym typeface="Calibri"/>
              </a:rPr>
              <a:t>sophisticated discrimination algorithms minimize shocks for</a:t>
            </a:r>
            <a:r>
              <a:rPr lang="en-US" b="0" i="0">
                <a:solidFill>
                  <a:srgbClr val="2A2A2A"/>
                </a:solidFill>
                <a:latin typeface="Calibri"/>
                <a:ea typeface="Calibri"/>
                <a:cs typeface="Calibri"/>
                <a:sym typeface="Calibri"/>
              </a:rPr>
              <a:t> AF, sinus tach, and other </a:t>
            </a:r>
            <a:r>
              <a:rPr lang="en-US" b="1" i="1">
                <a:solidFill>
                  <a:srgbClr val="2A2A2A"/>
                </a:solidFill>
                <a:latin typeface="Calibri"/>
                <a:ea typeface="Calibri"/>
                <a:cs typeface="Calibri"/>
                <a:sym typeface="Calibri"/>
              </a:rPr>
              <a:t>non–life-threatening supraventricular tachyarrhythmias</a:t>
            </a:r>
            <a:r>
              <a:rPr lang="en-US" b="0" i="0">
                <a:solidFill>
                  <a:srgbClr val="2A2A2A"/>
                </a:solidFill>
                <a:latin typeface="Calibri"/>
                <a:ea typeface="Calibri"/>
                <a:cs typeface="Calibri"/>
                <a:sym typeface="Calibri"/>
              </a:rPr>
              <a:t>.</a:t>
            </a:r>
            <a:endParaRPr>
              <a:latin typeface="Calibri"/>
              <a:ea typeface="Calibri"/>
              <a:cs typeface="Calibri"/>
              <a:sym typeface="Calibri"/>
            </a:endParaRPr>
          </a:p>
          <a:p>
            <a:pPr marL="342665" lvl="0" indent="-139465" algn="l" rtl="0">
              <a:lnSpc>
                <a:spcPct val="100000"/>
              </a:lnSpc>
              <a:spcBef>
                <a:spcPts val="0"/>
              </a:spcBef>
              <a:spcAft>
                <a:spcPts val="0"/>
              </a:spcAft>
              <a:buClr>
                <a:srgbClr val="000000"/>
              </a:buClr>
              <a:buSzPts val="3200"/>
              <a:buFont typeface="Arial"/>
              <a:buNone/>
            </a:pPr>
            <a:endParaRPr/>
          </a:p>
          <a:p>
            <a:pPr marL="342665" lvl="0" indent="-342665" algn="l" rtl="0">
              <a:lnSpc>
                <a:spcPct val="100000"/>
              </a:lnSpc>
              <a:spcBef>
                <a:spcPts val="0"/>
              </a:spcBef>
              <a:spcAft>
                <a:spcPts val="0"/>
              </a:spcAft>
              <a:buClr>
                <a:srgbClr val="000000"/>
              </a:buClr>
              <a:buSzPts val="3200"/>
              <a:buChar char="•"/>
            </a:pPr>
            <a:r>
              <a:rPr lang="en-US" b="1" i="1"/>
              <a:t>ICDs have a pulse generator and a shocking lead which travels to the ventricle</a:t>
            </a:r>
            <a:r>
              <a:rPr lang="en-US"/>
              <a:t>.</a:t>
            </a:r>
            <a:endParaRPr/>
          </a:p>
          <a:p>
            <a:pPr marL="342665" lvl="0" indent="-139465" algn="l" rtl="0">
              <a:lnSpc>
                <a:spcPct val="100000"/>
              </a:lnSpc>
              <a:spcBef>
                <a:spcPts val="0"/>
              </a:spcBef>
              <a:spcAft>
                <a:spcPts val="0"/>
              </a:spcAft>
              <a:buClr>
                <a:srgbClr val="000000"/>
              </a:buClr>
              <a:buSzPts val="3200"/>
              <a:buFont typeface="Arial"/>
              <a:buNone/>
            </a:pPr>
            <a:endParaRPr/>
          </a:p>
          <a:p>
            <a:pPr marL="342665" lvl="0" indent="-342665" algn="l" rtl="0">
              <a:lnSpc>
                <a:spcPct val="100000"/>
              </a:lnSpc>
              <a:spcBef>
                <a:spcPts val="0"/>
              </a:spcBef>
              <a:spcAft>
                <a:spcPts val="0"/>
              </a:spcAft>
              <a:buClr>
                <a:srgbClr val="000000"/>
              </a:buClr>
              <a:buSzPts val="3200"/>
              <a:buFont typeface="Arial"/>
              <a:buChar char="•"/>
            </a:pPr>
            <a:r>
              <a:rPr lang="en-US"/>
              <a:t>Most ICD leads are implanted transvenously (TV-ICD) and the technique is very similar to implantation of a pacemaker. </a:t>
            </a:r>
            <a:endParaRPr/>
          </a:p>
          <a:p>
            <a:pPr marL="342665" lvl="0" indent="-139465" algn="l" rtl="0">
              <a:lnSpc>
                <a:spcPct val="100000"/>
              </a:lnSpc>
              <a:spcBef>
                <a:spcPts val="0"/>
              </a:spcBef>
              <a:spcAft>
                <a:spcPts val="0"/>
              </a:spcAft>
              <a:buClr>
                <a:srgbClr val="000000"/>
              </a:buClr>
              <a:buSzPts val="3200"/>
              <a:buFont typeface="Arial"/>
              <a:buNone/>
            </a:pPr>
            <a:endParaRPr/>
          </a:p>
          <a:p>
            <a:pPr marL="342665" lvl="0" indent="-139465" algn="l" rtl="0">
              <a:lnSpc>
                <a:spcPct val="100000"/>
              </a:lnSpc>
              <a:spcBef>
                <a:spcPts val="0"/>
              </a:spcBef>
              <a:spcAft>
                <a:spcPts val="0"/>
              </a:spcAft>
              <a:buClr>
                <a:srgbClr val="000000"/>
              </a:buClr>
              <a:buSzPts val="3200"/>
              <a:buFont typeface="Arial"/>
              <a:buNone/>
            </a:pPr>
            <a:endParaRPr/>
          </a:p>
          <a:p>
            <a:pPr marL="0" lvl="0" indent="0" algn="l" rtl="0">
              <a:lnSpc>
                <a:spcPct val="120000"/>
              </a:lnSpc>
              <a:spcBef>
                <a:spcPts val="492"/>
              </a:spcBef>
              <a:spcAft>
                <a:spcPts val="0"/>
              </a:spcAft>
              <a:buClr>
                <a:srgbClr val="000000"/>
              </a:buClr>
              <a:buSzPts val="3500"/>
              <a:buNone/>
            </a:pPr>
            <a:endParaRPr sz="3500"/>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58"/>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ICDs and Pacemakers</a:t>
            </a:r>
            <a:endParaRPr/>
          </a:p>
        </p:txBody>
      </p:sp>
      <p:sp>
        <p:nvSpPr>
          <p:cNvPr id="284" name="Google Shape;284;p58"/>
          <p:cNvSpPr txBox="1">
            <a:spLocks noGrp="1"/>
          </p:cNvSpPr>
          <p:nvPr>
            <p:ph type="body" idx="1"/>
          </p:nvPr>
        </p:nvSpPr>
        <p:spPr>
          <a:xfrm>
            <a:off x="124692" y="1187356"/>
            <a:ext cx="6050477" cy="3028208"/>
          </a:xfrm>
          <a:prstGeom prst="rect">
            <a:avLst/>
          </a:prstGeom>
          <a:noFill/>
          <a:ln>
            <a:noFill/>
          </a:ln>
        </p:spPr>
        <p:txBody>
          <a:bodyPr spcFirstLastPara="1" wrap="square" lIns="88875" tIns="50775" rIns="88875" bIns="50775" anchor="t" anchorCtr="0">
            <a:normAutofit/>
          </a:bodyPr>
          <a:lstStyle/>
          <a:p>
            <a:pPr marL="342665" lvl="0" indent="-342665" algn="l" rtl="0">
              <a:lnSpc>
                <a:spcPct val="100000"/>
              </a:lnSpc>
              <a:spcBef>
                <a:spcPts val="0"/>
              </a:spcBef>
              <a:spcAft>
                <a:spcPts val="0"/>
              </a:spcAft>
              <a:buClr>
                <a:srgbClr val="000000"/>
              </a:buClr>
              <a:buSzPts val="3200"/>
              <a:buChar char="•"/>
            </a:pPr>
            <a:r>
              <a:rPr lang="en-US"/>
              <a:t>In 2012, a subcutaneous (S-ICD) was FDA approved.  SubQ ICDs have a shocking lead, which is tunneled to the sternum.  These devices have limited pacing capabilities.</a:t>
            </a:r>
            <a:endParaRPr sz="3500"/>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pic>
        <p:nvPicPr>
          <p:cNvPr id="285" name="Google Shape;285;p58" descr="Subcutaneous implantable cardioverter-defibrillator (S-ICD)"/>
          <p:cNvPicPr preferRelativeResize="0"/>
          <p:nvPr/>
        </p:nvPicPr>
        <p:blipFill rotWithShape="1">
          <a:blip r:embed="rId3">
            <a:alphaModFix/>
          </a:blip>
          <a:srcRect l="12533" t="8312" r="13594" b="10129"/>
          <a:stretch/>
        </p:blipFill>
        <p:spPr>
          <a:xfrm>
            <a:off x="5977341" y="1113169"/>
            <a:ext cx="2937836" cy="3176581"/>
          </a:xfrm>
          <a:prstGeom prst="rect">
            <a:avLst/>
          </a:prstGeom>
          <a:noFill/>
          <a:ln>
            <a:noFill/>
          </a:ln>
        </p:spPr>
      </p:pic>
      <p:sp>
        <p:nvSpPr>
          <p:cNvPr id="286" name="Google Shape;286;p58"/>
          <p:cNvSpPr txBox="1"/>
          <p:nvPr/>
        </p:nvSpPr>
        <p:spPr>
          <a:xfrm>
            <a:off x="124693" y="4531870"/>
            <a:ext cx="8790484" cy="2277547"/>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A pacemaker should be combined with an ICD or a cardiac resynchronization device if one is required, so that all devices run off one pulse generator. </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9"/>
          <p:cNvSpPr txBox="1">
            <a:spLocks noGrp="1"/>
          </p:cNvSpPr>
          <p:nvPr>
            <p:ph type="title"/>
          </p:nvPr>
        </p:nvSpPr>
        <p:spPr>
          <a:xfrm>
            <a:off x="227707" y="94466"/>
            <a:ext cx="8687470" cy="986189"/>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The Data Behind ICDs</a:t>
            </a:r>
            <a:endParaRPr/>
          </a:p>
        </p:txBody>
      </p:sp>
      <p:sp>
        <p:nvSpPr>
          <p:cNvPr id="292" name="Google Shape;292;p59"/>
          <p:cNvSpPr txBox="1">
            <a:spLocks noGrp="1"/>
          </p:cNvSpPr>
          <p:nvPr>
            <p:ph type="body" idx="1"/>
          </p:nvPr>
        </p:nvSpPr>
        <p:spPr>
          <a:xfrm>
            <a:off x="124692" y="938151"/>
            <a:ext cx="8880246" cy="5825383"/>
          </a:xfrm>
          <a:prstGeom prst="rect">
            <a:avLst/>
          </a:prstGeom>
          <a:noFill/>
          <a:ln>
            <a:noFill/>
          </a:ln>
        </p:spPr>
        <p:txBody>
          <a:bodyPr spcFirstLastPara="1" wrap="square" lIns="88875" tIns="50775" rIns="88875" bIns="50775" anchor="t" anchorCtr="0">
            <a:normAutofit/>
          </a:bodyPr>
          <a:lstStyle/>
          <a:p>
            <a:pPr marL="520700" lvl="0" indent="-457200" algn="l" rtl="0">
              <a:lnSpc>
                <a:spcPct val="100000"/>
              </a:lnSpc>
              <a:spcBef>
                <a:spcPts val="492"/>
              </a:spcBef>
              <a:spcAft>
                <a:spcPts val="0"/>
              </a:spcAft>
              <a:buClr>
                <a:srgbClr val="000000"/>
              </a:buClr>
              <a:buSzPts val="2560"/>
              <a:buChar char="•"/>
            </a:pPr>
            <a:r>
              <a:rPr lang="en-US">
                <a:latin typeface="Calibri"/>
                <a:ea typeface="Calibri"/>
                <a:cs typeface="Calibri"/>
                <a:sym typeface="Calibri"/>
              </a:rPr>
              <a:t>Multiple trials conducted in survivors of life- threatening ventricular arrhythmias (such as VT) have proven that ICD placement is superior to multiple antiarrhythmics, although a few trials did not show benefit.</a:t>
            </a:r>
            <a:endParaRPr/>
          </a:p>
          <a:p>
            <a:pPr marL="977900" lvl="1" indent="-457200" algn="l" rtl="0">
              <a:lnSpc>
                <a:spcPct val="100000"/>
              </a:lnSpc>
              <a:spcBef>
                <a:spcPts val="492"/>
              </a:spcBef>
              <a:spcAft>
                <a:spcPts val="0"/>
              </a:spcAft>
              <a:buClr>
                <a:srgbClr val="000000"/>
              </a:buClr>
              <a:buSzPts val="2240"/>
              <a:buChar char="–"/>
            </a:pPr>
            <a:r>
              <a:rPr lang="en-US">
                <a:latin typeface="Calibri"/>
                <a:ea typeface="Calibri"/>
                <a:cs typeface="Calibri"/>
                <a:sym typeface="Calibri"/>
              </a:rPr>
              <a:t>Data is less robust for women and elderly </a:t>
            </a:r>
            <a:endParaRPr/>
          </a:p>
          <a:p>
            <a:pPr marL="520700" lvl="0" indent="-294640" algn="l" rtl="0">
              <a:lnSpc>
                <a:spcPct val="100000"/>
              </a:lnSpc>
              <a:spcBef>
                <a:spcPts val="492"/>
              </a:spcBef>
              <a:spcAft>
                <a:spcPts val="0"/>
              </a:spcAft>
              <a:buClr>
                <a:srgbClr val="000000"/>
              </a:buClr>
              <a:buSzPts val="2560"/>
              <a:buNone/>
            </a:pPr>
            <a:endParaRPr>
              <a:latin typeface="Calibri"/>
              <a:ea typeface="Calibri"/>
              <a:cs typeface="Calibri"/>
              <a:sym typeface="Calibri"/>
            </a:endParaRPr>
          </a:p>
          <a:p>
            <a:pPr marL="520700" lvl="0" indent="-457200" algn="l" rtl="0">
              <a:lnSpc>
                <a:spcPct val="100000"/>
              </a:lnSpc>
              <a:spcBef>
                <a:spcPts val="492"/>
              </a:spcBef>
              <a:spcAft>
                <a:spcPts val="0"/>
              </a:spcAft>
              <a:buClr>
                <a:srgbClr val="000000"/>
              </a:buClr>
              <a:buSzPts val="2560"/>
              <a:buChar char="•"/>
            </a:pPr>
            <a:r>
              <a:rPr lang="en-US">
                <a:latin typeface="Calibri"/>
                <a:ea typeface="Calibri"/>
                <a:cs typeface="Calibri"/>
                <a:sym typeface="Calibri"/>
              </a:rPr>
              <a:t>Multiple trials have also shown benefit for persons who have strong risk factors for life-threatening ventricular arrhythmias (such as long QT), although this data is not nearly as robust.</a:t>
            </a:r>
            <a:endParaRPr>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60"/>
          <p:cNvSpPr txBox="1">
            <a:spLocks noGrp="1"/>
          </p:cNvSpPr>
          <p:nvPr>
            <p:ph type="title"/>
          </p:nvPr>
        </p:nvSpPr>
        <p:spPr>
          <a:xfrm>
            <a:off x="227707" y="94466"/>
            <a:ext cx="8687470" cy="986189"/>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Indications for ICD Implantation</a:t>
            </a:r>
            <a:endParaRPr/>
          </a:p>
        </p:txBody>
      </p:sp>
      <p:sp>
        <p:nvSpPr>
          <p:cNvPr id="298" name="Google Shape;298;p60"/>
          <p:cNvSpPr txBox="1">
            <a:spLocks noGrp="1"/>
          </p:cNvSpPr>
          <p:nvPr>
            <p:ph type="body" idx="1"/>
          </p:nvPr>
        </p:nvSpPr>
        <p:spPr>
          <a:xfrm>
            <a:off x="124692" y="1187532"/>
            <a:ext cx="8880246" cy="5576002"/>
          </a:xfrm>
          <a:prstGeom prst="rect">
            <a:avLst/>
          </a:prstGeom>
          <a:noFill/>
          <a:ln>
            <a:noFill/>
          </a:ln>
        </p:spPr>
        <p:txBody>
          <a:bodyPr spcFirstLastPara="1" wrap="square" lIns="88875" tIns="50775" rIns="88875" bIns="50775" anchor="t" anchorCtr="0">
            <a:normAutofit/>
          </a:bodyPr>
          <a:lstStyle/>
          <a:p>
            <a:pPr marL="577850" lvl="0" indent="-514350" algn="l" rtl="0">
              <a:lnSpc>
                <a:spcPct val="110000"/>
              </a:lnSpc>
              <a:spcBef>
                <a:spcPts val="492"/>
              </a:spcBef>
              <a:spcAft>
                <a:spcPts val="0"/>
              </a:spcAft>
              <a:buClr>
                <a:srgbClr val="000000"/>
              </a:buClr>
              <a:buSzPts val="2560"/>
              <a:buFont typeface="Arial"/>
              <a:buAutoNum type="arabicPeriod"/>
            </a:pPr>
            <a:r>
              <a:rPr lang="en-US">
                <a:latin typeface="Calibri"/>
                <a:ea typeface="Calibri"/>
                <a:cs typeface="Calibri"/>
                <a:sym typeface="Calibri"/>
              </a:rPr>
              <a:t>Secondary prophylaxis: ICDs are </a:t>
            </a:r>
            <a:r>
              <a:rPr lang="en-US" b="1" i="1">
                <a:latin typeface="Calibri"/>
                <a:ea typeface="Calibri"/>
                <a:cs typeface="Calibri"/>
                <a:sym typeface="Calibri"/>
              </a:rPr>
              <a:t>first line therapy for survivors of VT or VF arrest</a:t>
            </a:r>
            <a:r>
              <a:rPr lang="en-US">
                <a:latin typeface="Calibri"/>
                <a:ea typeface="Calibri"/>
                <a:cs typeface="Calibri"/>
                <a:sym typeface="Calibri"/>
              </a:rPr>
              <a:t>, not caused by a completely reversible factor.</a:t>
            </a:r>
            <a:endParaRPr/>
          </a:p>
          <a:p>
            <a:pPr marL="520700" lvl="0" indent="-406400" algn="l" rtl="0">
              <a:lnSpc>
                <a:spcPct val="110000"/>
              </a:lnSpc>
              <a:spcBef>
                <a:spcPts val="492"/>
              </a:spcBef>
              <a:spcAft>
                <a:spcPts val="0"/>
              </a:spcAft>
              <a:buClr>
                <a:srgbClr val="000000"/>
              </a:buClr>
              <a:buSzPts val="800"/>
              <a:buNone/>
            </a:pPr>
            <a:endParaRPr sz="1000">
              <a:latin typeface="Calibri"/>
              <a:ea typeface="Calibri"/>
              <a:cs typeface="Calibri"/>
              <a:sym typeface="Calibri"/>
            </a:endParaRPr>
          </a:p>
          <a:p>
            <a:pPr marL="520700" lvl="0" indent="-457200" algn="l" rtl="0">
              <a:lnSpc>
                <a:spcPct val="110000"/>
              </a:lnSpc>
              <a:spcBef>
                <a:spcPts val="492"/>
              </a:spcBef>
              <a:spcAft>
                <a:spcPts val="0"/>
              </a:spcAft>
              <a:buClr>
                <a:srgbClr val="000000"/>
              </a:buClr>
              <a:buSzPts val="2560"/>
              <a:buChar char="•"/>
            </a:pPr>
            <a:r>
              <a:rPr lang="en-US">
                <a:latin typeface="Calibri"/>
                <a:ea typeface="Calibri"/>
                <a:cs typeface="Calibri"/>
                <a:sym typeface="Calibri"/>
              </a:rPr>
              <a:t>This is a little controversial.</a:t>
            </a:r>
            <a:endParaRPr/>
          </a:p>
          <a:p>
            <a:pPr marL="520700" lvl="0" indent="-457200" algn="l" rtl="0">
              <a:lnSpc>
                <a:spcPct val="110000"/>
              </a:lnSpc>
              <a:spcBef>
                <a:spcPts val="492"/>
              </a:spcBef>
              <a:spcAft>
                <a:spcPts val="0"/>
              </a:spcAft>
              <a:buClr>
                <a:srgbClr val="000000"/>
              </a:buClr>
              <a:buSzPts val="2560"/>
              <a:buChar char="•"/>
            </a:pPr>
            <a:r>
              <a:rPr lang="en-US">
                <a:latin typeface="Calibri"/>
                <a:ea typeface="Calibri"/>
                <a:cs typeface="Calibri"/>
                <a:sym typeface="Calibri"/>
              </a:rPr>
              <a:t>If a patient suffers a VT arrest due to MI and receives a stent that opens that artery . . .</a:t>
            </a:r>
            <a:endParaRPr/>
          </a:p>
          <a:p>
            <a:pPr marL="520700" lvl="0" indent="-457200" algn="l" rtl="0">
              <a:lnSpc>
                <a:spcPct val="110000"/>
              </a:lnSpc>
              <a:spcBef>
                <a:spcPts val="492"/>
              </a:spcBef>
              <a:spcAft>
                <a:spcPts val="0"/>
              </a:spcAft>
              <a:buClr>
                <a:srgbClr val="000000"/>
              </a:buClr>
              <a:buSzPts val="2560"/>
              <a:buChar char="•"/>
            </a:pPr>
            <a:r>
              <a:rPr lang="en-US">
                <a:latin typeface="Calibri"/>
                <a:ea typeface="Calibri"/>
                <a:cs typeface="Calibri"/>
                <a:sym typeface="Calibri"/>
              </a:rPr>
              <a:t>If a patient suffers a VF arrest due to a QT prolonging medication and that medication is discontinued . .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61"/>
          <p:cNvSpPr txBox="1">
            <a:spLocks noGrp="1"/>
          </p:cNvSpPr>
          <p:nvPr>
            <p:ph type="title"/>
          </p:nvPr>
        </p:nvSpPr>
        <p:spPr>
          <a:xfrm>
            <a:off x="227707" y="94466"/>
            <a:ext cx="8687470" cy="986189"/>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Indications for ICD Implantation</a:t>
            </a:r>
            <a:endParaRPr/>
          </a:p>
        </p:txBody>
      </p:sp>
      <p:sp>
        <p:nvSpPr>
          <p:cNvPr id="304" name="Google Shape;304;p61"/>
          <p:cNvSpPr txBox="1">
            <a:spLocks noGrp="1"/>
          </p:cNvSpPr>
          <p:nvPr>
            <p:ph type="body" idx="1"/>
          </p:nvPr>
        </p:nvSpPr>
        <p:spPr>
          <a:xfrm>
            <a:off x="124692" y="1163783"/>
            <a:ext cx="8880246" cy="5599752"/>
          </a:xfrm>
          <a:prstGeom prst="rect">
            <a:avLst/>
          </a:prstGeom>
          <a:noFill/>
          <a:ln>
            <a:noFill/>
          </a:ln>
        </p:spPr>
        <p:txBody>
          <a:bodyPr spcFirstLastPara="1" wrap="square" lIns="88875" tIns="50775" rIns="88875" bIns="50775" anchor="t" anchorCtr="0">
            <a:normAutofit/>
          </a:bodyPr>
          <a:lstStyle/>
          <a:p>
            <a:pPr marL="520700" lvl="0" indent="-457200" algn="l" rtl="0">
              <a:lnSpc>
                <a:spcPct val="110000"/>
              </a:lnSpc>
              <a:spcBef>
                <a:spcPts val="492"/>
              </a:spcBef>
              <a:spcAft>
                <a:spcPts val="0"/>
              </a:spcAft>
              <a:buClr>
                <a:srgbClr val="000000"/>
              </a:buClr>
              <a:buSzPts val="2560"/>
              <a:buChar char="•"/>
            </a:pPr>
            <a:r>
              <a:rPr lang="en-US">
                <a:latin typeface="Calibri"/>
                <a:ea typeface="Calibri"/>
                <a:cs typeface="Calibri"/>
                <a:sym typeface="Calibri"/>
              </a:rPr>
              <a:t>Primary prophylaxis indications </a:t>
            </a:r>
            <a:endParaRPr/>
          </a:p>
          <a:p>
            <a:pPr marL="1035050" lvl="1" indent="-514350" algn="l" rtl="0">
              <a:lnSpc>
                <a:spcPct val="110000"/>
              </a:lnSpc>
              <a:spcBef>
                <a:spcPts val="492"/>
              </a:spcBef>
              <a:spcAft>
                <a:spcPts val="0"/>
              </a:spcAft>
              <a:buClr>
                <a:srgbClr val="000000"/>
              </a:buClr>
              <a:buSzPts val="2240"/>
              <a:buAutoNum type="arabicPeriod" startAt="2"/>
            </a:pPr>
            <a:r>
              <a:rPr lang="en-US" b="1" i="0">
                <a:solidFill>
                  <a:srgbClr val="2A2A2A"/>
                </a:solidFill>
              </a:rPr>
              <a:t>LVEF ≤30%, if due to MI, at least 40 days post-MI</a:t>
            </a:r>
            <a:endParaRPr b="1"/>
          </a:p>
          <a:p>
            <a:pPr marL="1035050" lvl="1" indent="-514350" algn="l" rtl="0">
              <a:lnSpc>
                <a:spcPct val="110000"/>
              </a:lnSpc>
              <a:spcBef>
                <a:spcPts val="492"/>
              </a:spcBef>
              <a:spcAft>
                <a:spcPts val="0"/>
              </a:spcAft>
              <a:buClr>
                <a:srgbClr val="000000"/>
              </a:buClr>
              <a:buSzPts val="2240"/>
              <a:buFont typeface="Arial"/>
              <a:buAutoNum type="arabicPeriod" startAt="2"/>
            </a:pPr>
            <a:r>
              <a:rPr lang="en-US" b="0" i="0">
                <a:solidFill>
                  <a:srgbClr val="2A2A2A"/>
                </a:solidFill>
                <a:latin typeface="Calibri"/>
                <a:ea typeface="Calibri"/>
                <a:cs typeface="Calibri"/>
                <a:sym typeface="Calibri"/>
              </a:rPr>
              <a:t>LVEF ≤35% with NYHA Class II or III symptoms.  If due to prior MI, at least 40 days post-MI. </a:t>
            </a:r>
            <a:endParaRPr/>
          </a:p>
          <a:p>
            <a:pPr marL="1035050" lvl="1" indent="-514350" algn="l" rtl="0">
              <a:lnSpc>
                <a:spcPct val="110000"/>
              </a:lnSpc>
              <a:spcBef>
                <a:spcPts val="492"/>
              </a:spcBef>
              <a:spcAft>
                <a:spcPts val="0"/>
              </a:spcAft>
              <a:buClr>
                <a:srgbClr val="000000"/>
              </a:buClr>
              <a:buSzPts val="2240"/>
              <a:buFont typeface="Arial"/>
              <a:buAutoNum type="arabicPeriod" startAt="2"/>
            </a:pPr>
            <a:r>
              <a:rPr lang="en-US" b="0" i="0">
                <a:solidFill>
                  <a:srgbClr val="2A2A2A"/>
                </a:solidFill>
                <a:latin typeface="Calibri"/>
                <a:ea typeface="Calibri"/>
                <a:cs typeface="Calibri"/>
                <a:sym typeface="Calibri"/>
              </a:rPr>
              <a:t>LVEF ≤40% due to prior MI, with inducible VT or VF </a:t>
            </a:r>
            <a:r>
              <a:rPr lang="en-US">
                <a:solidFill>
                  <a:srgbClr val="2A2A2A"/>
                </a:solidFill>
                <a:latin typeface="Calibri"/>
                <a:ea typeface="Calibri"/>
                <a:cs typeface="Calibri"/>
                <a:sym typeface="Calibri"/>
              </a:rPr>
              <a:t>on an electrophysiology study (EPS)</a:t>
            </a:r>
            <a:endParaRPr b="0" i="0">
              <a:solidFill>
                <a:srgbClr val="2A2A2A"/>
              </a:solidFill>
              <a:latin typeface="Calibri"/>
              <a:ea typeface="Calibri"/>
              <a:cs typeface="Calibri"/>
              <a:sym typeface="Calibri"/>
            </a:endParaRPr>
          </a:p>
          <a:p>
            <a:pPr marL="1035050" lvl="1" indent="-514350" algn="l" rtl="0">
              <a:lnSpc>
                <a:spcPct val="110000"/>
              </a:lnSpc>
              <a:spcBef>
                <a:spcPts val="492"/>
              </a:spcBef>
              <a:spcAft>
                <a:spcPts val="0"/>
              </a:spcAft>
              <a:buClr>
                <a:srgbClr val="000000"/>
              </a:buClr>
              <a:buSzPts val="2240"/>
              <a:buAutoNum type="arabicPeriod" startAt="2"/>
            </a:pPr>
            <a:r>
              <a:rPr lang="en-US" b="1" i="0">
                <a:solidFill>
                  <a:srgbClr val="2A2A2A"/>
                </a:solidFill>
              </a:rPr>
              <a:t>Structural heart disease with sustained VT</a:t>
            </a:r>
            <a:endParaRPr b="1"/>
          </a:p>
          <a:p>
            <a:pPr marL="1035050" lvl="1" indent="-514350" algn="l" rtl="0">
              <a:lnSpc>
                <a:spcPct val="110000"/>
              </a:lnSpc>
              <a:spcBef>
                <a:spcPts val="492"/>
              </a:spcBef>
              <a:spcAft>
                <a:spcPts val="0"/>
              </a:spcAft>
              <a:buClr>
                <a:srgbClr val="000000"/>
              </a:buClr>
              <a:buSzPts val="2240"/>
              <a:buFont typeface="Arial"/>
              <a:buAutoNum type="arabicPeriod" startAt="2"/>
            </a:pPr>
            <a:r>
              <a:rPr lang="en-US" b="0" i="0">
                <a:solidFill>
                  <a:srgbClr val="2A2A2A"/>
                </a:solidFill>
                <a:latin typeface="Calibri"/>
                <a:ea typeface="Calibri"/>
                <a:cs typeface="Calibri"/>
                <a:sym typeface="Calibri"/>
              </a:rPr>
              <a:t>Syncope</a:t>
            </a:r>
            <a:r>
              <a:rPr lang="en-US">
                <a:solidFill>
                  <a:srgbClr val="2A2A2A"/>
                </a:solidFill>
                <a:latin typeface="Calibri"/>
                <a:ea typeface="Calibri"/>
                <a:cs typeface="Calibri"/>
                <a:sym typeface="Calibri"/>
              </a:rPr>
              <a:t> of undetermined </a:t>
            </a:r>
            <a:r>
              <a:rPr lang="en-US" b="0" i="0">
                <a:solidFill>
                  <a:srgbClr val="2A2A2A"/>
                </a:solidFill>
                <a:latin typeface="Calibri"/>
                <a:ea typeface="Calibri"/>
                <a:cs typeface="Calibri"/>
                <a:sym typeface="Calibri"/>
              </a:rPr>
              <a:t>origin, with inducible VT or VF on an </a:t>
            </a:r>
            <a:r>
              <a:rPr lang="en-US">
                <a:solidFill>
                  <a:srgbClr val="2A2A2A"/>
                </a:solidFill>
                <a:latin typeface="Calibri"/>
                <a:ea typeface="Calibri"/>
                <a:cs typeface="Calibri"/>
                <a:sym typeface="Calibri"/>
              </a:rPr>
              <a:t>electrophysiology study.</a:t>
            </a:r>
            <a:endParaRPr b="0" i="0">
              <a:solidFill>
                <a:srgbClr val="2A2A2A"/>
              </a:solidFill>
              <a:latin typeface="Calibri"/>
              <a:ea typeface="Calibri"/>
              <a:cs typeface="Calibri"/>
              <a:sym typeface="Calibri"/>
            </a:endParaRPr>
          </a:p>
          <a:p>
            <a:pPr marL="977900" lvl="1" indent="-406400" algn="l" rtl="0">
              <a:lnSpc>
                <a:spcPct val="110000"/>
              </a:lnSpc>
              <a:spcBef>
                <a:spcPts val="492"/>
              </a:spcBef>
              <a:spcAft>
                <a:spcPts val="0"/>
              </a:spcAft>
              <a:buClr>
                <a:srgbClr val="000000"/>
              </a:buClr>
              <a:buSzPts val="800"/>
              <a:buNone/>
            </a:pPr>
            <a:endParaRPr sz="1000" b="0" i="0">
              <a:solidFill>
                <a:srgbClr val="2A2A2A"/>
              </a:solidFill>
              <a:latin typeface="Calibri"/>
              <a:ea typeface="Calibri"/>
              <a:cs typeface="Calibri"/>
              <a:sym typeface="Calibri"/>
            </a:endParaRPr>
          </a:p>
          <a:p>
            <a:pPr marL="520700" lvl="0" indent="-457200" algn="l" rtl="0">
              <a:lnSpc>
                <a:spcPct val="110000"/>
              </a:lnSpc>
              <a:spcBef>
                <a:spcPts val="492"/>
              </a:spcBef>
              <a:spcAft>
                <a:spcPts val="0"/>
              </a:spcAft>
              <a:buClr>
                <a:srgbClr val="000000"/>
              </a:buClr>
              <a:buSzPts val="1600"/>
              <a:buChar char="•"/>
            </a:pPr>
            <a:r>
              <a:rPr lang="en-US" sz="2000">
                <a:solidFill>
                  <a:srgbClr val="2A2A2A"/>
                </a:solidFill>
                <a:latin typeface="Calibri"/>
                <a:ea typeface="Calibri"/>
                <a:cs typeface="Calibri"/>
                <a:sym typeface="Calibri"/>
              </a:rPr>
              <a:t>The above are class I indications, there are additional class IIa indications.</a:t>
            </a:r>
            <a:endParaRPr sz="2000">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3"/>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How Does an ICD Work?</a:t>
            </a:r>
            <a:endParaRPr/>
          </a:p>
        </p:txBody>
      </p:sp>
      <p:sp>
        <p:nvSpPr>
          <p:cNvPr id="310" name="Google Shape;310;p13"/>
          <p:cNvSpPr txBox="1">
            <a:spLocks noGrp="1"/>
          </p:cNvSpPr>
          <p:nvPr>
            <p:ph type="body" idx="1"/>
          </p:nvPr>
        </p:nvSpPr>
        <p:spPr>
          <a:xfrm>
            <a:off x="124692" y="1065981"/>
            <a:ext cx="8880246" cy="5697553"/>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b="1" i="1"/>
              <a:t>ICDs deliver an 80-joule shock for defibrillation of ventricular tachyarrhythmias </a:t>
            </a:r>
            <a:r>
              <a:rPr lang="en-US"/>
              <a:t>including monomorphic ventricular tachycardia (VT), polymorphic VT, and ventricular fibrillation (VF). </a:t>
            </a:r>
            <a:endParaRPr/>
          </a:p>
          <a:p>
            <a:pPr marL="342900" lvl="0" indent="-139700" algn="l" rtl="0">
              <a:lnSpc>
                <a:spcPct val="100000"/>
              </a:lnSpc>
              <a:spcBef>
                <a:spcPts val="640"/>
              </a:spcBef>
              <a:spcAft>
                <a:spcPts val="0"/>
              </a:spcAft>
              <a:buClr>
                <a:schemeClr val="dk1"/>
              </a:buClr>
              <a:buSzPts val="3200"/>
              <a:buNone/>
            </a:pPr>
            <a:endParaRPr sz="1500"/>
          </a:p>
          <a:p>
            <a:pPr marL="342900" lvl="0" indent="-342900" algn="l" rtl="0">
              <a:lnSpc>
                <a:spcPct val="100000"/>
              </a:lnSpc>
              <a:spcBef>
                <a:spcPts val="640"/>
              </a:spcBef>
              <a:spcAft>
                <a:spcPts val="0"/>
              </a:spcAft>
              <a:buClr>
                <a:schemeClr val="dk1"/>
              </a:buClr>
              <a:buSzPts val="3200"/>
              <a:buChar char="•"/>
            </a:pPr>
            <a:r>
              <a:rPr lang="en-US"/>
              <a:t>Following the shock, the device will re-evaluate the cardiac rhythm.</a:t>
            </a:r>
            <a:endParaRPr/>
          </a:p>
          <a:p>
            <a:pPr marL="342900" lvl="0" indent="-139700" algn="l" rtl="0">
              <a:lnSpc>
                <a:spcPct val="100000"/>
              </a:lnSpc>
              <a:spcBef>
                <a:spcPts val="640"/>
              </a:spcBef>
              <a:spcAft>
                <a:spcPts val="0"/>
              </a:spcAft>
              <a:buClr>
                <a:schemeClr val="dk1"/>
              </a:buClr>
              <a:buSzPts val="3200"/>
              <a:buNone/>
            </a:pPr>
            <a:endParaRPr/>
          </a:p>
          <a:p>
            <a:pPr marL="342900" lvl="0" indent="-342900" algn="l" rtl="0">
              <a:lnSpc>
                <a:spcPct val="100000"/>
              </a:lnSpc>
              <a:spcBef>
                <a:spcPts val="640"/>
              </a:spcBef>
              <a:spcAft>
                <a:spcPts val="0"/>
              </a:spcAft>
              <a:buClr>
                <a:schemeClr val="dk1"/>
              </a:buClr>
              <a:buSzPts val="3200"/>
              <a:buChar char="•"/>
            </a:pPr>
            <a:r>
              <a:rPr lang="en-US"/>
              <a:t>If VT or VF persists following the initial shock, the device will reverse polarity between the electrodes and deliver subsequent shocks. </a:t>
            </a:r>
            <a:endParaRPr/>
          </a:p>
          <a:p>
            <a:pPr marL="0" lvl="0" indent="0" algn="l" rtl="0">
              <a:lnSpc>
                <a:spcPct val="120000"/>
              </a:lnSpc>
              <a:spcBef>
                <a:spcPts val="492"/>
              </a:spcBef>
              <a:spcAft>
                <a:spcPts val="0"/>
              </a:spcAft>
              <a:buClr>
                <a:srgbClr val="000000"/>
              </a:buClr>
              <a:buSzPts val="3500"/>
              <a:buNone/>
            </a:pPr>
            <a:endParaRPr sz="3500"/>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4"/>
          <p:cNvSpPr txBox="1">
            <a:spLocks noGrp="1"/>
          </p:cNvSpPr>
          <p:nvPr>
            <p:ph type="title"/>
          </p:nvPr>
        </p:nvSpPr>
        <p:spPr>
          <a:xfrm>
            <a:off x="227707" y="94466"/>
            <a:ext cx="8687470" cy="125932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Implantable Cardioverter Defibrillators</a:t>
            </a:r>
            <a:endParaRPr/>
          </a:p>
        </p:txBody>
      </p:sp>
      <p:sp>
        <p:nvSpPr>
          <p:cNvPr id="316" name="Google Shape;316;p14"/>
          <p:cNvSpPr txBox="1">
            <a:spLocks noGrp="1"/>
          </p:cNvSpPr>
          <p:nvPr>
            <p:ph type="body" idx="1"/>
          </p:nvPr>
        </p:nvSpPr>
        <p:spPr>
          <a:xfrm>
            <a:off x="124692" y="1508166"/>
            <a:ext cx="8880246" cy="5177958"/>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Sometimes the ICD will attempt to “overdrive pace” the arrhythmia rather than deliver a shock.</a:t>
            </a:r>
            <a:endParaRPr/>
          </a:p>
          <a:p>
            <a:pPr marL="342900" lvl="0" indent="-139700" algn="l" rtl="0">
              <a:lnSpc>
                <a:spcPct val="100000"/>
              </a:lnSpc>
              <a:spcBef>
                <a:spcPts val="0"/>
              </a:spcBef>
              <a:spcAft>
                <a:spcPts val="0"/>
              </a:spcAft>
              <a:buClr>
                <a:schemeClr val="dk1"/>
              </a:buClr>
              <a:buSzPts val="3200"/>
              <a:buNone/>
            </a:pPr>
            <a:endParaRPr/>
          </a:p>
          <a:p>
            <a:pPr marL="342900" lvl="0" indent="-342900" algn="l" rtl="0">
              <a:lnSpc>
                <a:spcPct val="100000"/>
              </a:lnSpc>
              <a:spcBef>
                <a:spcPts val="0"/>
              </a:spcBef>
              <a:spcAft>
                <a:spcPts val="0"/>
              </a:spcAft>
              <a:buClr>
                <a:schemeClr val="dk1"/>
              </a:buClr>
              <a:buSzPts val="3200"/>
              <a:buChar char="•"/>
            </a:pPr>
            <a:r>
              <a:rPr lang="en-US"/>
              <a:t>The ICD will deliver a maximum number of shocks for a single episode of a ventricular arrhythmia (this is programmed) and then will not deliver more.</a:t>
            </a:r>
            <a:endParaRPr/>
          </a:p>
          <a:p>
            <a:pPr marL="0" lvl="0" indent="0" algn="l" rtl="0">
              <a:lnSpc>
                <a:spcPct val="100000"/>
              </a:lnSpc>
              <a:spcBef>
                <a:spcPts val="0"/>
              </a:spcBef>
              <a:spcAft>
                <a:spcPts val="0"/>
              </a:spcAft>
              <a:buClr>
                <a:schemeClr val="dk1"/>
              </a:buClr>
              <a:buSzPts val="3200"/>
              <a:buNone/>
            </a:pPr>
            <a:r>
              <a:rPr lang="en-US"/>
              <a:t>  </a:t>
            </a:r>
            <a:endParaRPr/>
          </a:p>
          <a:p>
            <a:pPr marL="342900" lvl="0" indent="-342900" algn="l" rtl="0">
              <a:lnSpc>
                <a:spcPct val="100000"/>
              </a:lnSpc>
              <a:spcBef>
                <a:spcPts val="0"/>
              </a:spcBef>
              <a:spcAft>
                <a:spcPts val="0"/>
              </a:spcAft>
              <a:buClr>
                <a:schemeClr val="dk1"/>
              </a:buClr>
              <a:buSzPts val="3200"/>
              <a:buChar char="•"/>
            </a:pPr>
            <a:r>
              <a:rPr lang="en-US"/>
              <a:t>The cardiology office is alerted that the device has delivered one or more shocks.</a:t>
            </a:r>
            <a:endParaRPr/>
          </a:p>
          <a:p>
            <a:pPr marL="342900" lvl="0" indent="-139700" algn="l" rtl="0">
              <a:lnSpc>
                <a:spcPct val="100000"/>
              </a:lnSpc>
              <a:spcBef>
                <a:spcPts val="0"/>
              </a:spcBef>
              <a:spcAft>
                <a:spcPts val="0"/>
              </a:spcAft>
              <a:buClr>
                <a:schemeClr val="dk1"/>
              </a:buClr>
              <a:buSzPts val="3200"/>
              <a:buNone/>
            </a:pPr>
            <a:endParaRPr sz="3500"/>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62"/>
          <p:cNvSpPr txBox="1">
            <a:spLocks noGrp="1"/>
          </p:cNvSpPr>
          <p:nvPr>
            <p:ph type="title"/>
          </p:nvPr>
        </p:nvSpPr>
        <p:spPr>
          <a:xfrm>
            <a:off x="227707" y="94466"/>
            <a:ext cx="8687470" cy="1259321"/>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Implantable Cardioverter Defibrillators</a:t>
            </a:r>
            <a:endParaRPr/>
          </a:p>
        </p:txBody>
      </p:sp>
      <p:sp>
        <p:nvSpPr>
          <p:cNvPr id="322" name="Google Shape;322;p62"/>
          <p:cNvSpPr txBox="1">
            <a:spLocks noGrp="1"/>
          </p:cNvSpPr>
          <p:nvPr>
            <p:ph type="body" idx="1"/>
          </p:nvPr>
        </p:nvSpPr>
        <p:spPr>
          <a:xfrm>
            <a:off x="124692" y="1508166"/>
            <a:ext cx="8880246" cy="5177958"/>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Patients are instructed to go to the ER if their ICD fires and should generally be admitted to correct any reversible cause and see the cardiology service.</a:t>
            </a:r>
            <a:endParaRPr/>
          </a:p>
          <a:p>
            <a:pPr marL="342900" lvl="0" indent="-139700" algn="l" rtl="0">
              <a:lnSpc>
                <a:spcPct val="100000"/>
              </a:lnSpc>
              <a:spcBef>
                <a:spcPts val="0"/>
              </a:spcBef>
              <a:spcAft>
                <a:spcPts val="0"/>
              </a:spcAft>
              <a:buClr>
                <a:schemeClr val="dk1"/>
              </a:buClr>
              <a:buSzPts val="3200"/>
              <a:buNone/>
            </a:pPr>
            <a:endParaRPr/>
          </a:p>
          <a:p>
            <a:pPr marL="342900" lvl="0" indent="-342900" algn="l" rtl="0">
              <a:lnSpc>
                <a:spcPct val="100000"/>
              </a:lnSpc>
              <a:spcBef>
                <a:spcPts val="0"/>
              </a:spcBef>
              <a:spcAft>
                <a:spcPts val="0"/>
              </a:spcAft>
              <a:buClr>
                <a:schemeClr val="dk1"/>
              </a:buClr>
              <a:buSzPts val="3200"/>
              <a:buChar char="•"/>
            </a:pPr>
            <a:r>
              <a:rPr lang="en-US"/>
              <a:t>Modern transvenous ICDs are also capable of pacing a bradyarrhythmia and will record cardiac events.  Order a device interrogation.</a:t>
            </a:r>
            <a:endParaRPr/>
          </a:p>
          <a:p>
            <a:pPr marL="342900" lvl="0" indent="-139700" algn="l" rtl="0">
              <a:lnSpc>
                <a:spcPct val="100000"/>
              </a:lnSpc>
              <a:spcBef>
                <a:spcPts val="0"/>
              </a:spcBef>
              <a:spcAft>
                <a:spcPts val="0"/>
              </a:spcAft>
              <a:buClr>
                <a:schemeClr val="dk1"/>
              </a:buClr>
              <a:buSzPts val="3200"/>
              <a:buNone/>
            </a:pPr>
            <a:endParaRPr sz="3500"/>
          </a:p>
          <a:p>
            <a:pPr marL="342665" lvl="0" indent="-279165" algn="l" rtl="0">
              <a:lnSpc>
                <a:spcPct val="100000"/>
              </a:lnSpc>
              <a:spcBef>
                <a:spcPts val="492"/>
              </a:spcBef>
              <a:spcAft>
                <a:spcPts val="0"/>
              </a:spcAft>
              <a:buClr>
                <a:srgbClr val="000000"/>
              </a:buClr>
              <a:buSzPts val="1000"/>
              <a:buFont typeface="Arial"/>
              <a:buNone/>
            </a:pPr>
            <a:endParaRPr sz="1000">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5"/>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Device Precautions- All Devices</a:t>
            </a:r>
            <a:endParaRPr/>
          </a:p>
        </p:txBody>
      </p:sp>
      <p:sp>
        <p:nvSpPr>
          <p:cNvPr id="328" name="Google Shape;328;p25"/>
          <p:cNvSpPr txBox="1">
            <a:spLocks noGrp="1"/>
          </p:cNvSpPr>
          <p:nvPr>
            <p:ph type="body" idx="1"/>
          </p:nvPr>
        </p:nvSpPr>
        <p:spPr>
          <a:xfrm>
            <a:off x="110836" y="1065982"/>
            <a:ext cx="8894101" cy="5606282"/>
          </a:xfrm>
          <a:prstGeom prst="rect">
            <a:avLst/>
          </a:prstGeom>
          <a:noFill/>
          <a:ln>
            <a:noFill/>
          </a:ln>
        </p:spPr>
        <p:txBody>
          <a:bodyPr spcFirstLastPara="1" wrap="square" lIns="88875" tIns="50775" rIns="88875" bIns="50775" anchor="t" anchorCtr="0">
            <a:normAutofit/>
          </a:bodyPr>
          <a:lstStyle/>
          <a:p>
            <a:pPr marL="205376" lvl="0" indent="-205376" algn="l" rtl="0">
              <a:lnSpc>
                <a:spcPct val="110000"/>
              </a:lnSpc>
              <a:spcBef>
                <a:spcPts val="0"/>
              </a:spcBef>
              <a:spcAft>
                <a:spcPts val="0"/>
              </a:spcAft>
              <a:buClr>
                <a:srgbClr val="000000"/>
              </a:buClr>
              <a:buSzPts val="2560"/>
              <a:buFont typeface="Arial"/>
              <a:buChar char="•"/>
            </a:pPr>
            <a:r>
              <a:rPr lang="en-US"/>
              <a:t>Patients with a pacemaker or ICD should carry a wallet card identifying their device.  </a:t>
            </a:r>
            <a:endParaRPr/>
          </a:p>
          <a:p>
            <a:pPr marL="205376" lvl="0" indent="-42816" algn="l" rtl="0">
              <a:lnSpc>
                <a:spcPct val="110000"/>
              </a:lnSpc>
              <a:spcBef>
                <a:spcPts val="0"/>
              </a:spcBef>
              <a:spcAft>
                <a:spcPts val="0"/>
              </a:spcAft>
              <a:buClr>
                <a:srgbClr val="000000"/>
              </a:buClr>
              <a:buSzPts val="2560"/>
              <a:buFont typeface="Arial"/>
              <a:buNone/>
            </a:pPr>
            <a:endParaRPr/>
          </a:p>
          <a:p>
            <a:pPr marL="205376" lvl="0" indent="-205376" algn="l" rtl="0">
              <a:lnSpc>
                <a:spcPct val="110000"/>
              </a:lnSpc>
              <a:spcBef>
                <a:spcPts val="0"/>
              </a:spcBef>
              <a:spcAft>
                <a:spcPts val="0"/>
              </a:spcAft>
              <a:buClr>
                <a:srgbClr val="000000"/>
              </a:buClr>
              <a:buSzPts val="2560"/>
              <a:buFont typeface="Arial"/>
              <a:buChar char="•"/>
            </a:pPr>
            <a:r>
              <a:rPr lang="en-US"/>
              <a:t>Radio-opaque codes on the pulse generator are seen on a CXR and may help identify the make &amp; model.</a:t>
            </a:r>
            <a:endParaRPr/>
          </a:p>
          <a:p>
            <a:pPr marL="205376" lvl="0" indent="-76153" algn="l" rtl="0">
              <a:lnSpc>
                <a:spcPct val="110000"/>
              </a:lnSpc>
              <a:spcBef>
                <a:spcPts val="492"/>
              </a:spcBef>
              <a:spcAft>
                <a:spcPts val="0"/>
              </a:spcAft>
              <a:buClr>
                <a:srgbClr val="000000"/>
              </a:buClr>
              <a:buSzPts val="1760"/>
              <a:buFont typeface="Arial"/>
              <a:buNone/>
            </a:pPr>
            <a:endParaRPr sz="2200"/>
          </a:p>
          <a:p>
            <a:pPr marL="205376" lvl="0" indent="-205376" algn="l" rtl="0">
              <a:lnSpc>
                <a:spcPct val="110000"/>
              </a:lnSpc>
              <a:spcBef>
                <a:spcPts val="492"/>
              </a:spcBef>
              <a:spcAft>
                <a:spcPts val="0"/>
              </a:spcAft>
              <a:buClr>
                <a:srgbClr val="000000"/>
              </a:buClr>
              <a:buSzPts val="2560"/>
              <a:buFont typeface="Arial"/>
              <a:buChar char="•"/>
            </a:pPr>
            <a:r>
              <a:rPr lang="en-US" b="1" i="1"/>
              <a:t>Patients with pacemakers and ICDs cannot generally have MRIs</a:t>
            </a:r>
            <a:r>
              <a:rPr lang="en-US"/>
              <a:t>.  There are some PPMs and ICDs that are safe- check with cardiology.</a:t>
            </a:r>
            <a:endParaRPr sz="2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63"/>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11111"/>
              <a:buFont typeface="Arial"/>
              <a:buNone/>
            </a:pPr>
            <a:r>
              <a:rPr lang="en-US">
                <a:latin typeface="Arial"/>
                <a:ea typeface="Arial"/>
                <a:cs typeface="Arial"/>
                <a:sym typeface="Arial"/>
              </a:rPr>
              <a:t>Device Precautions- ACLS and PPM</a:t>
            </a:r>
            <a:endParaRPr/>
          </a:p>
        </p:txBody>
      </p:sp>
      <p:sp>
        <p:nvSpPr>
          <p:cNvPr id="334" name="Google Shape;334;p63"/>
          <p:cNvSpPr txBox="1">
            <a:spLocks noGrp="1"/>
          </p:cNvSpPr>
          <p:nvPr>
            <p:ph type="body" idx="1"/>
          </p:nvPr>
        </p:nvSpPr>
        <p:spPr>
          <a:xfrm>
            <a:off x="110836" y="957264"/>
            <a:ext cx="8894101" cy="1796822"/>
          </a:xfrm>
          <a:prstGeom prst="rect">
            <a:avLst/>
          </a:prstGeom>
          <a:noFill/>
          <a:ln>
            <a:noFill/>
          </a:ln>
        </p:spPr>
        <p:txBody>
          <a:bodyPr spcFirstLastPara="1" wrap="square" lIns="88875" tIns="50775" rIns="88875" bIns="50775" anchor="t" anchorCtr="0">
            <a:normAutofit/>
          </a:bodyPr>
          <a:lstStyle/>
          <a:p>
            <a:pPr marL="457200" lvl="0" indent="-457200" algn="l" rtl="0">
              <a:lnSpc>
                <a:spcPct val="110000"/>
              </a:lnSpc>
              <a:spcBef>
                <a:spcPts val="492"/>
              </a:spcBef>
              <a:spcAft>
                <a:spcPts val="0"/>
              </a:spcAft>
              <a:buClr>
                <a:srgbClr val="000000"/>
              </a:buClr>
              <a:buSzPts val="2560"/>
              <a:buChar char="•"/>
            </a:pPr>
            <a:r>
              <a:rPr lang="en-US" b="1" i="1"/>
              <a:t>ACLS and defibrillation can be performed safely </a:t>
            </a:r>
            <a:r>
              <a:rPr lang="en-US"/>
              <a:t>with a PPM, just place paddles/ pads 10 cm away from the pulse generator.</a:t>
            </a:r>
            <a:endParaRPr/>
          </a:p>
        </p:txBody>
      </p:sp>
      <p:pic>
        <p:nvPicPr>
          <p:cNvPr id="335" name="Google Shape;335;p63" descr="Double Defibrillation: Where's That on the ACLS Algorithm? | Critical Care  Medicine Section"/>
          <p:cNvPicPr preferRelativeResize="0"/>
          <p:nvPr/>
        </p:nvPicPr>
        <p:blipFill rotWithShape="1">
          <a:blip r:embed="rId3">
            <a:alphaModFix/>
          </a:blip>
          <a:srcRect/>
          <a:stretch/>
        </p:blipFill>
        <p:spPr>
          <a:xfrm>
            <a:off x="1433686" y="2754086"/>
            <a:ext cx="6248400" cy="38661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64"/>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11111"/>
              <a:buFont typeface="Arial"/>
              <a:buNone/>
            </a:pPr>
            <a:r>
              <a:rPr lang="en-US">
                <a:latin typeface="Arial"/>
                <a:ea typeface="Arial"/>
                <a:cs typeface="Arial"/>
                <a:sym typeface="Arial"/>
              </a:rPr>
              <a:t>Device Precautions- ACLS and ICD</a:t>
            </a:r>
            <a:endParaRPr/>
          </a:p>
        </p:txBody>
      </p:sp>
      <p:sp>
        <p:nvSpPr>
          <p:cNvPr id="341" name="Google Shape;341;p64"/>
          <p:cNvSpPr txBox="1">
            <a:spLocks noGrp="1"/>
          </p:cNvSpPr>
          <p:nvPr>
            <p:ph type="body" idx="1"/>
          </p:nvPr>
        </p:nvSpPr>
        <p:spPr>
          <a:xfrm>
            <a:off x="110836" y="957264"/>
            <a:ext cx="8894101" cy="5799796"/>
          </a:xfrm>
          <a:prstGeom prst="rect">
            <a:avLst/>
          </a:prstGeom>
          <a:noFill/>
          <a:ln>
            <a:noFill/>
          </a:ln>
        </p:spPr>
        <p:txBody>
          <a:bodyPr spcFirstLastPara="1" wrap="square" lIns="88875" tIns="50775" rIns="88875" bIns="50775" anchor="t" anchorCtr="0">
            <a:normAutofit/>
          </a:bodyPr>
          <a:lstStyle/>
          <a:p>
            <a:pPr marL="457200" lvl="0" indent="-457200" algn="l" rtl="0">
              <a:lnSpc>
                <a:spcPct val="100000"/>
              </a:lnSpc>
              <a:spcBef>
                <a:spcPts val="492"/>
              </a:spcBef>
              <a:spcAft>
                <a:spcPts val="0"/>
              </a:spcAft>
              <a:buClr>
                <a:srgbClr val="000000"/>
              </a:buClr>
              <a:buSzPts val="2560"/>
              <a:buChar char="•"/>
            </a:pPr>
            <a:r>
              <a:rPr lang="en-US"/>
              <a:t>During an event that requires ACLS, an ICD should act to defibrillate the patient.</a:t>
            </a:r>
            <a:endParaRPr/>
          </a:p>
          <a:p>
            <a:pPr marL="457200" lvl="0" indent="-294640" algn="l" rtl="0">
              <a:lnSpc>
                <a:spcPct val="100000"/>
              </a:lnSpc>
              <a:spcBef>
                <a:spcPts val="492"/>
              </a:spcBef>
              <a:spcAft>
                <a:spcPts val="0"/>
              </a:spcAft>
              <a:buClr>
                <a:srgbClr val="000000"/>
              </a:buClr>
              <a:buSzPts val="2560"/>
              <a:buNone/>
            </a:pPr>
            <a:endParaRPr/>
          </a:p>
          <a:p>
            <a:pPr marL="457200" lvl="0" indent="-457200" algn="l" rtl="0">
              <a:lnSpc>
                <a:spcPct val="100000"/>
              </a:lnSpc>
              <a:spcBef>
                <a:spcPts val="492"/>
              </a:spcBef>
              <a:spcAft>
                <a:spcPts val="0"/>
              </a:spcAft>
              <a:buClr>
                <a:srgbClr val="000000"/>
              </a:buClr>
              <a:buSzPts val="2560"/>
              <a:buChar char="•"/>
            </a:pPr>
            <a:r>
              <a:rPr lang="en-US"/>
              <a:t>Rescuers can safely perform CPR- some of the current from defibrillation may enter the rescuer and cause mild discomfort, but there has never been a serious case of rescuer injury.</a:t>
            </a:r>
            <a:endParaRPr/>
          </a:p>
          <a:p>
            <a:pPr marL="457200" lvl="0" indent="-294640" algn="l" rtl="0">
              <a:lnSpc>
                <a:spcPct val="100000"/>
              </a:lnSpc>
              <a:spcBef>
                <a:spcPts val="492"/>
              </a:spcBef>
              <a:spcAft>
                <a:spcPts val="0"/>
              </a:spcAft>
              <a:buClr>
                <a:srgbClr val="000000"/>
              </a:buClr>
              <a:buSzPts val="2560"/>
              <a:buNone/>
            </a:pPr>
            <a:endParaRPr/>
          </a:p>
          <a:p>
            <a:pPr marL="457200" lvl="0" indent="-457200" algn="l" rtl="0">
              <a:lnSpc>
                <a:spcPct val="100000"/>
              </a:lnSpc>
              <a:spcBef>
                <a:spcPts val="492"/>
              </a:spcBef>
              <a:spcAft>
                <a:spcPts val="0"/>
              </a:spcAft>
              <a:buClr>
                <a:srgbClr val="000000"/>
              </a:buClr>
              <a:buSzPts val="2560"/>
              <a:buChar char="•"/>
            </a:pPr>
            <a:r>
              <a:rPr lang="en-US"/>
              <a:t>Again, place pads 10 cm away from pulse generator if external defibrillation is needed.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6"/>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PPM Precautions- Surgery</a:t>
            </a:r>
            <a:endParaRPr/>
          </a:p>
        </p:txBody>
      </p:sp>
      <p:sp>
        <p:nvSpPr>
          <p:cNvPr id="347" name="Google Shape;347;p26"/>
          <p:cNvSpPr txBox="1">
            <a:spLocks noGrp="1"/>
          </p:cNvSpPr>
          <p:nvPr>
            <p:ph type="body" idx="1"/>
          </p:nvPr>
        </p:nvSpPr>
        <p:spPr>
          <a:xfrm>
            <a:off x="110837" y="957264"/>
            <a:ext cx="4343400" cy="5706772"/>
          </a:xfrm>
          <a:prstGeom prst="rect">
            <a:avLst/>
          </a:prstGeom>
          <a:noFill/>
          <a:ln>
            <a:noFill/>
          </a:ln>
        </p:spPr>
        <p:txBody>
          <a:bodyPr spcFirstLastPara="1" wrap="square" lIns="88875" tIns="50775" rIns="88875" bIns="50775" anchor="t" anchorCtr="0">
            <a:normAutofit/>
          </a:bodyPr>
          <a:lstStyle/>
          <a:p>
            <a:pPr marL="205376" lvl="0" indent="-205376" algn="l" rtl="0">
              <a:lnSpc>
                <a:spcPct val="110000"/>
              </a:lnSpc>
              <a:spcBef>
                <a:spcPts val="0"/>
              </a:spcBef>
              <a:spcAft>
                <a:spcPts val="0"/>
              </a:spcAft>
              <a:buClr>
                <a:srgbClr val="000000"/>
              </a:buClr>
              <a:buSzPts val="3200"/>
              <a:buFont typeface="Arial"/>
              <a:buChar char="•"/>
            </a:pPr>
            <a:r>
              <a:rPr lang="en-US" b="1" i="1" dirty="0"/>
              <a:t>Electrocautery</a:t>
            </a:r>
            <a:r>
              <a:rPr lang="en-US" dirty="0"/>
              <a:t> during surgery can sometimes cause a pacemaker to malfunction, because the electromagnetic interference (EMI) from the cautery is picked up and interpreted by the PPM as cardiac electrical activity. </a:t>
            </a:r>
            <a:endParaRPr dirty="0"/>
          </a:p>
          <a:p>
            <a:pPr marL="205376" lvl="0" indent="-2176" algn="l" rtl="0">
              <a:lnSpc>
                <a:spcPct val="110000"/>
              </a:lnSpc>
              <a:spcBef>
                <a:spcPts val="492"/>
              </a:spcBef>
              <a:spcAft>
                <a:spcPts val="0"/>
              </a:spcAft>
              <a:buClr>
                <a:srgbClr val="000000"/>
              </a:buClr>
              <a:buSzPts val="3200"/>
              <a:buFont typeface="Arial"/>
              <a:buNone/>
            </a:pPr>
            <a:endParaRPr dirty="0"/>
          </a:p>
        </p:txBody>
      </p:sp>
      <p:pic>
        <p:nvPicPr>
          <p:cNvPr id="2" name="Picture 1" descr="Electrocautery | Springer Nature Link">
            <a:extLst>
              <a:ext uri="{FF2B5EF4-FFF2-40B4-BE49-F238E27FC236}">
                <a16:creationId xmlns:a16="http://schemas.microsoft.com/office/drawing/2014/main" id="{9A82CD45-C5E0-B47F-6F7F-FE54F0199B90}"/>
              </a:ext>
            </a:extLst>
          </p:cNvPr>
          <p:cNvPicPr>
            <a:picLocks noChangeAspect="1"/>
          </p:cNvPicPr>
          <p:nvPr/>
        </p:nvPicPr>
        <p:blipFill>
          <a:blip r:embed="rId3"/>
          <a:stretch>
            <a:fillRect/>
          </a:stretch>
        </p:blipFill>
        <p:spPr>
          <a:xfrm>
            <a:off x="4445977" y="3429000"/>
            <a:ext cx="4343400" cy="3302000"/>
          </a:xfrm>
          <a:prstGeom prst="rect">
            <a:avLst/>
          </a:prstGeom>
        </p:spPr>
      </p:pic>
      <p:pic>
        <p:nvPicPr>
          <p:cNvPr id="3" name="Picture 2" descr="Bovie Electrosurgical Pencil - Dispomed">
            <a:extLst>
              <a:ext uri="{FF2B5EF4-FFF2-40B4-BE49-F238E27FC236}">
                <a16:creationId xmlns:a16="http://schemas.microsoft.com/office/drawing/2014/main" id="{34FA42D1-6D33-0E26-6DE0-6941E9F1967A}"/>
              </a:ext>
            </a:extLst>
          </p:cNvPr>
          <p:cNvPicPr>
            <a:picLocks noChangeAspect="1"/>
          </p:cNvPicPr>
          <p:nvPr/>
        </p:nvPicPr>
        <p:blipFill>
          <a:blip r:embed="rId4"/>
          <a:srcRect l="6179" t="17843" r="7179" b="15509"/>
          <a:stretch>
            <a:fillRect/>
          </a:stretch>
        </p:blipFill>
        <p:spPr>
          <a:xfrm>
            <a:off x="5156689" y="957264"/>
            <a:ext cx="3048000" cy="234461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5">
          <a:extLst>
            <a:ext uri="{FF2B5EF4-FFF2-40B4-BE49-F238E27FC236}">
              <a16:creationId xmlns:a16="http://schemas.microsoft.com/office/drawing/2014/main" id="{F1866091-5576-973A-6C6A-A2982BEA72B9}"/>
            </a:ext>
          </a:extLst>
        </p:cNvPr>
        <p:cNvGrpSpPr/>
        <p:nvPr/>
      </p:nvGrpSpPr>
      <p:grpSpPr>
        <a:xfrm>
          <a:off x="0" y="0"/>
          <a:ext cx="0" cy="0"/>
          <a:chOff x="0" y="0"/>
          <a:chExt cx="0" cy="0"/>
        </a:xfrm>
      </p:grpSpPr>
      <p:sp>
        <p:nvSpPr>
          <p:cNvPr id="346" name="Google Shape;346;p26">
            <a:extLst>
              <a:ext uri="{FF2B5EF4-FFF2-40B4-BE49-F238E27FC236}">
                <a16:creationId xmlns:a16="http://schemas.microsoft.com/office/drawing/2014/main" id="{CCCC8401-4907-30ED-3A2A-8B99DE5E1B59}"/>
              </a:ext>
            </a:extLst>
          </p:cNvPr>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PPM Precautions- Surgery</a:t>
            </a:r>
            <a:endParaRPr/>
          </a:p>
        </p:txBody>
      </p:sp>
      <p:sp>
        <p:nvSpPr>
          <p:cNvPr id="347" name="Google Shape;347;p26">
            <a:extLst>
              <a:ext uri="{FF2B5EF4-FFF2-40B4-BE49-F238E27FC236}">
                <a16:creationId xmlns:a16="http://schemas.microsoft.com/office/drawing/2014/main" id="{9083BDEB-3E77-DC91-F619-BDC8D7CDA9AA}"/>
              </a:ext>
            </a:extLst>
          </p:cNvPr>
          <p:cNvSpPr txBox="1">
            <a:spLocks noGrp="1"/>
          </p:cNvSpPr>
          <p:nvPr>
            <p:ph type="body" idx="1"/>
          </p:nvPr>
        </p:nvSpPr>
        <p:spPr>
          <a:xfrm>
            <a:off x="110836" y="957264"/>
            <a:ext cx="8894101" cy="5706772"/>
          </a:xfrm>
          <a:prstGeom prst="rect">
            <a:avLst/>
          </a:prstGeom>
          <a:noFill/>
          <a:ln>
            <a:noFill/>
          </a:ln>
        </p:spPr>
        <p:txBody>
          <a:bodyPr spcFirstLastPara="1" wrap="square" lIns="88875" tIns="50775" rIns="88875" bIns="50775" anchor="t" anchorCtr="0">
            <a:normAutofit/>
          </a:bodyPr>
          <a:lstStyle/>
          <a:p>
            <a:pPr marL="205376" lvl="0" indent="-205376" algn="l" rtl="0">
              <a:lnSpc>
                <a:spcPct val="110000"/>
              </a:lnSpc>
              <a:spcBef>
                <a:spcPts val="0"/>
              </a:spcBef>
              <a:spcAft>
                <a:spcPts val="0"/>
              </a:spcAft>
              <a:buClr>
                <a:srgbClr val="000000"/>
              </a:buClr>
              <a:buSzPts val="3200"/>
              <a:buFont typeface="Arial"/>
              <a:buChar char="•"/>
            </a:pPr>
            <a:r>
              <a:rPr lang="en-US" dirty="0"/>
              <a:t>In this situation, called “oversensing”, the pacemaker does not fire because it thinks that the heart has normal electrical activity.</a:t>
            </a:r>
            <a:endParaRPr dirty="0"/>
          </a:p>
          <a:p>
            <a:pPr marL="0" lvl="0" indent="0" algn="l" rtl="0">
              <a:lnSpc>
                <a:spcPct val="110000"/>
              </a:lnSpc>
              <a:spcBef>
                <a:spcPts val="492"/>
              </a:spcBef>
              <a:spcAft>
                <a:spcPts val="0"/>
              </a:spcAft>
              <a:buClr>
                <a:srgbClr val="000000"/>
              </a:buClr>
              <a:buSzPts val="3200"/>
              <a:buNone/>
            </a:pPr>
            <a:r>
              <a:rPr lang="en-US" dirty="0"/>
              <a:t>  </a:t>
            </a:r>
            <a:endParaRPr dirty="0"/>
          </a:p>
          <a:p>
            <a:pPr marL="205376" lvl="0" indent="-205376" algn="l" rtl="0">
              <a:lnSpc>
                <a:spcPct val="110000"/>
              </a:lnSpc>
              <a:spcBef>
                <a:spcPts val="492"/>
              </a:spcBef>
              <a:spcAft>
                <a:spcPts val="0"/>
              </a:spcAft>
              <a:buClr>
                <a:srgbClr val="000000"/>
              </a:buClr>
              <a:buSzPts val="3200"/>
              <a:buFont typeface="Arial"/>
              <a:buChar char="•"/>
            </a:pPr>
            <a:r>
              <a:rPr lang="en-US" dirty="0"/>
              <a:t>However, what is actually happening is a profound bradycardia/ asystole in the pacemaker dependent patient during surgery.</a:t>
            </a:r>
            <a:endParaRPr dirty="0"/>
          </a:p>
          <a:p>
            <a:pPr marL="205376" lvl="0" indent="-2176" algn="l" rtl="0">
              <a:lnSpc>
                <a:spcPct val="110000"/>
              </a:lnSpc>
              <a:spcBef>
                <a:spcPts val="492"/>
              </a:spcBef>
              <a:spcAft>
                <a:spcPts val="0"/>
              </a:spcAft>
              <a:buClr>
                <a:srgbClr val="000000"/>
              </a:buClr>
              <a:buSzPts val="3200"/>
              <a:buFont typeface="Arial"/>
              <a:buNone/>
            </a:pPr>
            <a:endParaRPr dirty="0"/>
          </a:p>
        </p:txBody>
      </p:sp>
    </p:spTree>
    <p:extLst>
      <p:ext uri="{BB962C8B-B14F-4D97-AF65-F5344CB8AC3E}">
        <p14:creationId xmlns:p14="http://schemas.microsoft.com/office/powerpoint/2010/main" val="819953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65"/>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ICD Precautions- Surgery</a:t>
            </a:r>
            <a:endParaRPr/>
          </a:p>
        </p:txBody>
      </p:sp>
      <p:sp>
        <p:nvSpPr>
          <p:cNvPr id="353" name="Google Shape;353;p65"/>
          <p:cNvSpPr txBox="1">
            <a:spLocks noGrp="1"/>
          </p:cNvSpPr>
          <p:nvPr>
            <p:ph type="body" idx="1"/>
          </p:nvPr>
        </p:nvSpPr>
        <p:spPr>
          <a:xfrm>
            <a:off x="110836" y="1065982"/>
            <a:ext cx="8894101" cy="5598054"/>
          </a:xfrm>
          <a:prstGeom prst="rect">
            <a:avLst/>
          </a:prstGeom>
          <a:noFill/>
          <a:ln>
            <a:noFill/>
          </a:ln>
        </p:spPr>
        <p:txBody>
          <a:bodyPr spcFirstLastPara="1" wrap="square" lIns="88875" tIns="50775" rIns="88875" bIns="50775" anchor="t" anchorCtr="0">
            <a:normAutofit/>
          </a:bodyPr>
          <a:lstStyle/>
          <a:p>
            <a:pPr marL="457200" lvl="0" indent="-457200" algn="l" rtl="0">
              <a:lnSpc>
                <a:spcPct val="110000"/>
              </a:lnSpc>
              <a:spcBef>
                <a:spcPts val="0"/>
              </a:spcBef>
              <a:spcAft>
                <a:spcPts val="0"/>
              </a:spcAft>
              <a:buClr>
                <a:srgbClr val="000000"/>
              </a:buClr>
              <a:buSzPts val="3200"/>
              <a:buChar char="•"/>
            </a:pPr>
            <a:r>
              <a:rPr lang="en-US" dirty="0"/>
              <a:t>ICDs can also be problematic during surgery.  EMI from cautery can be “</a:t>
            </a:r>
            <a:r>
              <a:rPr lang="en-US" dirty="0" err="1"/>
              <a:t>oversensed</a:t>
            </a:r>
            <a:r>
              <a:rPr lang="en-US" dirty="0"/>
              <a:t>” by an ICD and cause it to fire inappropriately during surgery, shocking the patient.</a:t>
            </a:r>
            <a:endParaRPr dirty="0"/>
          </a:p>
          <a:p>
            <a:pPr marL="457200" lvl="0" indent="-254000" algn="l" rtl="0">
              <a:lnSpc>
                <a:spcPct val="110000"/>
              </a:lnSpc>
              <a:spcBef>
                <a:spcPts val="0"/>
              </a:spcBef>
              <a:spcAft>
                <a:spcPts val="0"/>
              </a:spcAft>
              <a:buClr>
                <a:srgbClr val="000000"/>
              </a:buClr>
              <a:buSzPts val="3200"/>
              <a:buNone/>
            </a:pPr>
            <a:endParaRPr dirty="0"/>
          </a:p>
          <a:p>
            <a:pPr marL="457200" lvl="0" indent="-457200" algn="l" rtl="0">
              <a:lnSpc>
                <a:spcPct val="110000"/>
              </a:lnSpc>
              <a:spcBef>
                <a:spcPts val="0"/>
              </a:spcBef>
              <a:spcAft>
                <a:spcPts val="0"/>
              </a:spcAft>
              <a:buClr>
                <a:srgbClr val="000000"/>
              </a:buClr>
              <a:buSzPts val="3200"/>
              <a:buChar char="•"/>
            </a:pPr>
            <a:r>
              <a:rPr lang="en-US" dirty="0"/>
              <a:t>Because unwanted patient movement from an ICD shock would likely create a hazard to the patient or surgical personnel, the ICD should be disabled prior to surgery, and the patient will have defibrillator pads in place during surgery.</a:t>
            </a:r>
            <a:endParaRPr dirty="0"/>
          </a:p>
          <a:p>
            <a:pPr marL="457200" lvl="0" indent="-254000" algn="l" rtl="0">
              <a:lnSpc>
                <a:spcPct val="110000"/>
              </a:lnSpc>
              <a:spcBef>
                <a:spcPts val="0"/>
              </a:spcBef>
              <a:spcAft>
                <a:spcPts val="0"/>
              </a:spcAft>
              <a:buClr>
                <a:srgbClr val="000000"/>
              </a:buClr>
              <a:buSzPts val="3200"/>
              <a:buNone/>
            </a:pPr>
            <a:endParaRPr dirty="0"/>
          </a:p>
          <a:p>
            <a:pPr marL="205376" lvl="0" indent="-2176" algn="l" rtl="0">
              <a:lnSpc>
                <a:spcPct val="110000"/>
              </a:lnSpc>
              <a:spcBef>
                <a:spcPts val="492"/>
              </a:spcBef>
              <a:spcAft>
                <a:spcPts val="0"/>
              </a:spcAft>
              <a:buClr>
                <a:srgbClr val="000000"/>
              </a:buClr>
              <a:buSzPts val="3200"/>
              <a:buFont typeface="Arial"/>
              <a:buNone/>
            </a:pPr>
            <a:endParaRPr dirty="0"/>
          </a:p>
          <a:p>
            <a:pPr marL="205376" lvl="0" indent="-2176" algn="l" rtl="0">
              <a:lnSpc>
                <a:spcPct val="110000"/>
              </a:lnSpc>
              <a:spcBef>
                <a:spcPts val="492"/>
              </a:spcBef>
              <a:spcAft>
                <a:spcPts val="0"/>
              </a:spcAft>
              <a:buClr>
                <a:srgbClr val="000000"/>
              </a:buClr>
              <a:buSzPts val="3200"/>
              <a:buFont typeface="Arial"/>
              <a:buNone/>
            </a:pPr>
            <a:endParaRPr dirty="0"/>
          </a:p>
          <a:p>
            <a:pPr marL="0" lvl="0" indent="0" algn="l" rtl="0">
              <a:lnSpc>
                <a:spcPct val="110000"/>
              </a:lnSpc>
              <a:spcBef>
                <a:spcPts val="492"/>
              </a:spcBef>
              <a:spcAft>
                <a:spcPts val="0"/>
              </a:spcAft>
              <a:buClr>
                <a:srgbClr val="000000"/>
              </a:buClr>
              <a:buSzPts val="3200"/>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8"/>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PPM Precautions- Surgery</a:t>
            </a:r>
            <a:endParaRPr/>
          </a:p>
        </p:txBody>
      </p:sp>
      <p:sp>
        <p:nvSpPr>
          <p:cNvPr id="359" name="Google Shape;359;p28"/>
          <p:cNvSpPr txBox="1">
            <a:spLocks noGrp="1"/>
          </p:cNvSpPr>
          <p:nvPr>
            <p:ph type="body" idx="1"/>
          </p:nvPr>
        </p:nvSpPr>
        <p:spPr>
          <a:xfrm>
            <a:off x="110836" y="1065982"/>
            <a:ext cx="8894101" cy="5598054"/>
          </a:xfrm>
          <a:prstGeom prst="rect">
            <a:avLst/>
          </a:prstGeom>
          <a:noFill/>
          <a:ln>
            <a:noFill/>
          </a:ln>
        </p:spPr>
        <p:txBody>
          <a:bodyPr spcFirstLastPara="1" wrap="square" lIns="88875" tIns="50775" rIns="88875" bIns="50775" anchor="t" anchorCtr="0">
            <a:normAutofit/>
          </a:bodyPr>
          <a:lstStyle/>
          <a:p>
            <a:pPr marL="205376" lvl="0" indent="-205376" algn="l" rtl="0">
              <a:lnSpc>
                <a:spcPct val="110000"/>
              </a:lnSpc>
              <a:spcBef>
                <a:spcPts val="0"/>
              </a:spcBef>
              <a:spcAft>
                <a:spcPts val="0"/>
              </a:spcAft>
              <a:buClr>
                <a:srgbClr val="000000"/>
              </a:buClr>
              <a:buSzPts val="3200"/>
              <a:buFont typeface="Arial"/>
              <a:buChar char="•"/>
            </a:pPr>
            <a:r>
              <a:rPr lang="en-US" dirty="0"/>
              <a:t>Although electrocautery is the most significant issue, other electric devices used during surgery, such as nerve stimulators, can also create enough EMI to interfere with the PPM.</a:t>
            </a:r>
            <a:endParaRPr dirty="0"/>
          </a:p>
          <a:p>
            <a:pPr marL="205376" lvl="0" indent="-2176" algn="l" rtl="0">
              <a:lnSpc>
                <a:spcPct val="110000"/>
              </a:lnSpc>
              <a:spcBef>
                <a:spcPts val="0"/>
              </a:spcBef>
              <a:spcAft>
                <a:spcPts val="0"/>
              </a:spcAft>
              <a:buClr>
                <a:srgbClr val="000000"/>
              </a:buClr>
              <a:buSzPts val="3200"/>
              <a:buFont typeface="Arial"/>
              <a:buNone/>
            </a:pPr>
            <a:endParaRPr dirty="0"/>
          </a:p>
          <a:p>
            <a:pPr marL="205376" lvl="0" indent="-205376" algn="l" rtl="0">
              <a:lnSpc>
                <a:spcPct val="110000"/>
              </a:lnSpc>
              <a:spcBef>
                <a:spcPts val="0"/>
              </a:spcBef>
              <a:spcAft>
                <a:spcPts val="0"/>
              </a:spcAft>
              <a:buClr>
                <a:srgbClr val="000000"/>
              </a:buClr>
              <a:buSzPts val="3200"/>
              <a:buChar char="•"/>
            </a:pPr>
            <a:r>
              <a:rPr lang="en-US" dirty="0"/>
              <a:t>Therefore, when surgery is planned, </a:t>
            </a:r>
            <a:r>
              <a:rPr lang="en-US" b="1" i="1" dirty="0"/>
              <a:t>especially a procedure above the umbilicus in a patient with a PPM or ICD, cardiology should assist in pre-op planning.</a:t>
            </a:r>
            <a:endParaRPr dirty="0"/>
          </a:p>
          <a:p>
            <a:pPr marL="205376" lvl="0" indent="-2176" algn="l" rtl="0">
              <a:lnSpc>
                <a:spcPct val="110000"/>
              </a:lnSpc>
              <a:spcBef>
                <a:spcPts val="0"/>
              </a:spcBef>
              <a:spcAft>
                <a:spcPts val="0"/>
              </a:spcAft>
              <a:buClr>
                <a:srgbClr val="000000"/>
              </a:buClr>
              <a:buSzPts val="3200"/>
              <a:buFont typeface="Arial"/>
              <a:buNone/>
            </a:pPr>
            <a:endParaRPr dirty="0"/>
          </a:p>
          <a:p>
            <a:pPr marL="205376" lvl="0" indent="-2176" algn="l" rtl="0">
              <a:lnSpc>
                <a:spcPct val="110000"/>
              </a:lnSpc>
              <a:spcBef>
                <a:spcPts val="0"/>
              </a:spcBef>
              <a:spcAft>
                <a:spcPts val="0"/>
              </a:spcAft>
              <a:buClr>
                <a:srgbClr val="000000"/>
              </a:buClr>
              <a:buSzPts val="3200"/>
              <a:buFont typeface="Arial"/>
              <a:buNone/>
            </a:pPr>
            <a:endParaRPr dirty="0"/>
          </a:p>
          <a:p>
            <a:pPr marL="205376" lvl="0" indent="-2176" algn="l" rtl="0">
              <a:lnSpc>
                <a:spcPct val="110000"/>
              </a:lnSpc>
              <a:spcBef>
                <a:spcPts val="492"/>
              </a:spcBef>
              <a:spcAft>
                <a:spcPts val="0"/>
              </a:spcAft>
              <a:buClr>
                <a:srgbClr val="000000"/>
              </a:buClr>
              <a:buSzPts val="3200"/>
              <a:buFont typeface="Arial"/>
              <a:buNone/>
            </a:pPr>
            <a:endParaRPr dirty="0"/>
          </a:p>
          <a:p>
            <a:pPr marL="205376" lvl="0" indent="-2176" algn="l" rtl="0">
              <a:lnSpc>
                <a:spcPct val="110000"/>
              </a:lnSpc>
              <a:spcBef>
                <a:spcPts val="492"/>
              </a:spcBef>
              <a:spcAft>
                <a:spcPts val="0"/>
              </a:spcAft>
              <a:buClr>
                <a:srgbClr val="000000"/>
              </a:buClr>
              <a:buSzPts val="3200"/>
              <a:buFont typeface="Arial"/>
              <a:buNone/>
            </a:pPr>
            <a:endParaRPr dirty="0"/>
          </a:p>
          <a:p>
            <a:pPr marL="0" lvl="0" indent="0" algn="l" rtl="0">
              <a:lnSpc>
                <a:spcPct val="110000"/>
              </a:lnSpc>
              <a:spcBef>
                <a:spcPts val="492"/>
              </a:spcBef>
              <a:spcAft>
                <a:spcPts val="0"/>
              </a:spcAft>
              <a:buClr>
                <a:srgbClr val="000000"/>
              </a:buClr>
              <a:buSzPts val="3200"/>
              <a:buNone/>
            </a:pP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1"/>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00000"/>
              <a:buFont typeface="Arial"/>
              <a:buNone/>
            </a:pPr>
            <a:r>
              <a:rPr lang="en-US">
                <a:latin typeface="Arial"/>
                <a:ea typeface="Arial"/>
                <a:cs typeface="Arial"/>
                <a:sym typeface="Arial"/>
              </a:rPr>
              <a:t>PPM Management During Surgery</a:t>
            </a:r>
            <a:endParaRPr/>
          </a:p>
        </p:txBody>
      </p:sp>
      <p:sp>
        <p:nvSpPr>
          <p:cNvPr id="365" name="Google Shape;365;p31"/>
          <p:cNvSpPr txBox="1">
            <a:spLocks noGrp="1"/>
          </p:cNvSpPr>
          <p:nvPr>
            <p:ph type="body" idx="1"/>
          </p:nvPr>
        </p:nvSpPr>
        <p:spPr>
          <a:xfrm>
            <a:off x="110836" y="1274618"/>
            <a:ext cx="8894101" cy="5482442"/>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For most permanent pacemakers, </a:t>
            </a:r>
            <a:r>
              <a:rPr lang="en-US" b="1" i="1"/>
              <a:t>applying a magnet over the pacemaker will initiate asynchronous pacing at a fixed rate with a fixed AV delay.  </a:t>
            </a:r>
            <a:endParaRPr/>
          </a:p>
          <a:p>
            <a:pPr marL="342900" lvl="0" indent="-139700" algn="l" rtl="0">
              <a:lnSpc>
                <a:spcPct val="100000"/>
              </a:lnSpc>
              <a:spcBef>
                <a:spcPts val="0"/>
              </a:spcBef>
              <a:spcAft>
                <a:spcPts val="0"/>
              </a:spcAft>
              <a:buClr>
                <a:schemeClr val="dk1"/>
              </a:buClr>
              <a:buSzPts val="3200"/>
              <a:buNone/>
            </a:pPr>
            <a:endParaRPr/>
          </a:p>
          <a:p>
            <a:pPr marL="342900" lvl="0" indent="-342900" algn="l" rtl="0">
              <a:lnSpc>
                <a:spcPct val="100000"/>
              </a:lnSpc>
              <a:spcBef>
                <a:spcPts val="0"/>
              </a:spcBef>
              <a:spcAft>
                <a:spcPts val="0"/>
              </a:spcAft>
              <a:buClr>
                <a:schemeClr val="dk1"/>
              </a:buClr>
              <a:buSzPts val="3200"/>
              <a:buChar char="•"/>
            </a:pPr>
            <a:r>
              <a:rPr lang="en-US"/>
              <a:t>The PPM will simply pace the heart for the entire surgical procedure.</a:t>
            </a:r>
            <a:endParaRPr/>
          </a:p>
          <a:p>
            <a:pPr marL="0" lvl="0" indent="0" algn="l" rtl="0">
              <a:lnSpc>
                <a:spcPct val="100000"/>
              </a:lnSpc>
              <a:spcBef>
                <a:spcPts val="0"/>
              </a:spcBef>
              <a:spcAft>
                <a:spcPts val="0"/>
              </a:spcAft>
              <a:buClr>
                <a:schemeClr val="dk1"/>
              </a:buClr>
              <a:buSzPts val="3200"/>
              <a:buNone/>
            </a:pPr>
            <a:r>
              <a:rPr lang="en-US"/>
              <a:t> </a:t>
            </a:r>
            <a:endParaRPr/>
          </a:p>
          <a:p>
            <a:pPr marL="342900" lvl="0" indent="-342900" algn="l" rtl="0">
              <a:lnSpc>
                <a:spcPct val="100000"/>
              </a:lnSpc>
              <a:spcBef>
                <a:spcPts val="0"/>
              </a:spcBef>
              <a:spcAft>
                <a:spcPts val="0"/>
              </a:spcAft>
              <a:buClr>
                <a:schemeClr val="dk1"/>
              </a:buClr>
              <a:buSzPts val="3200"/>
              <a:buChar char="•"/>
            </a:pPr>
            <a:r>
              <a:rPr lang="en-US"/>
              <a:t>However, if the pacemaker is at the end of battery life, the rate may not be adequate.</a:t>
            </a:r>
            <a:endParaRPr/>
          </a:p>
          <a:p>
            <a:pPr marL="342900" lvl="0" indent="-139700" algn="l" rtl="0">
              <a:lnSpc>
                <a:spcPct val="100000"/>
              </a:lnSpc>
              <a:spcBef>
                <a:spcPts val="0"/>
              </a:spcBef>
              <a:spcAft>
                <a:spcPts val="0"/>
              </a:spcAft>
              <a:buClr>
                <a:schemeClr val="dk1"/>
              </a:buClr>
              <a:buSzPts val="3200"/>
              <a:buNone/>
            </a:pPr>
            <a:endParaRPr/>
          </a:p>
          <a:p>
            <a:pPr marL="0" lvl="0" indent="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6"/>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ICD Management During Surgery</a:t>
            </a:r>
            <a:endParaRPr/>
          </a:p>
        </p:txBody>
      </p:sp>
      <p:sp>
        <p:nvSpPr>
          <p:cNvPr id="371" name="Google Shape;371;p66"/>
          <p:cNvSpPr txBox="1">
            <a:spLocks noGrp="1"/>
          </p:cNvSpPr>
          <p:nvPr>
            <p:ph type="body" idx="1"/>
          </p:nvPr>
        </p:nvSpPr>
        <p:spPr>
          <a:xfrm>
            <a:off x="110836" y="1122218"/>
            <a:ext cx="8894101" cy="5634842"/>
          </a:xfrm>
          <a:prstGeom prst="rect">
            <a:avLst/>
          </a:prstGeom>
          <a:noFill/>
          <a:ln>
            <a:noFill/>
          </a:ln>
        </p:spPr>
        <p:txBody>
          <a:bodyPr spcFirstLastPara="1" wrap="square" lIns="88875" tIns="50775" rIns="88875" bIns="50775" anchor="t" anchorCtr="0">
            <a:normAutofit/>
          </a:bodyPr>
          <a:lstStyle/>
          <a:p>
            <a:pPr marL="457200" lvl="0" indent="-457200" algn="l" rtl="0">
              <a:lnSpc>
                <a:spcPct val="100000"/>
              </a:lnSpc>
              <a:spcBef>
                <a:spcPts val="640"/>
              </a:spcBef>
              <a:spcAft>
                <a:spcPts val="0"/>
              </a:spcAft>
              <a:buSzPts val="3200"/>
              <a:buChar char="•"/>
            </a:pPr>
            <a:r>
              <a:rPr lang="en-US" dirty="0"/>
              <a:t>The ICD function is suspended during surgery by placing a magnet over the device.</a:t>
            </a:r>
          </a:p>
          <a:p>
            <a:pPr marL="457200" lvl="0" indent="-457200" algn="l" rtl="0">
              <a:lnSpc>
                <a:spcPct val="100000"/>
              </a:lnSpc>
              <a:spcBef>
                <a:spcPts val="640"/>
              </a:spcBef>
              <a:spcAft>
                <a:spcPts val="0"/>
              </a:spcAft>
              <a:buSzPts val="3200"/>
              <a:buChar char="•"/>
            </a:pPr>
            <a:endParaRPr lang="en-US" dirty="0"/>
          </a:p>
          <a:p>
            <a:pPr indent="-457200">
              <a:spcBef>
                <a:spcPts val="640"/>
              </a:spcBef>
              <a:buSzPts val="3200"/>
            </a:pPr>
            <a:r>
              <a:rPr lang="en-US" dirty="0"/>
              <a:t>The surgical team should apply pacer/defib pads to the chest before prepping and draping, in case of an intra-op emergency.</a:t>
            </a:r>
          </a:p>
          <a:p>
            <a:pPr lvl="1" indent="-457200">
              <a:spcBef>
                <a:spcPts val="640"/>
              </a:spcBef>
              <a:buSzPts val="3200"/>
            </a:pPr>
            <a:r>
              <a:rPr lang="en-US" dirty="0"/>
              <a:t>If needed, an external defibrillator/ pacer would be used to deliver a shock or pacing through these pads. </a:t>
            </a:r>
          </a:p>
          <a:p>
            <a:pPr marL="457200" lvl="0" indent="-457200" algn="l" rtl="0">
              <a:lnSpc>
                <a:spcPct val="100000"/>
              </a:lnSpc>
              <a:spcBef>
                <a:spcPts val="640"/>
              </a:spcBef>
              <a:spcAft>
                <a:spcPts val="0"/>
              </a:spcAft>
              <a:buSzPts val="3200"/>
              <a:buChar char="•"/>
            </a:pPr>
            <a:endParaRPr dirty="0"/>
          </a:p>
          <a:p>
            <a:pPr marL="457200" lvl="0" indent="-254000" algn="l" rtl="0">
              <a:lnSpc>
                <a:spcPct val="100000"/>
              </a:lnSpc>
              <a:spcBef>
                <a:spcPts val="640"/>
              </a:spcBef>
              <a:spcAft>
                <a:spcPts val="0"/>
              </a:spcAft>
              <a:buSzPts val="3200"/>
              <a:buNone/>
            </a:pPr>
            <a:endParaRPr dirty="0"/>
          </a:p>
          <a:p>
            <a:pPr marL="457200" lvl="0" indent="-254000" algn="l" rtl="0">
              <a:lnSpc>
                <a:spcPct val="100000"/>
              </a:lnSpc>
              <a:spcBef>
                <a:spcPts val="640"/>
              </a:spcBef>
              <a:spcAft>
                <a:spcPts val="0"/>
              </a:spcAft>
              <a:buSzPts val="3200"/>
              <a:buNone/>
            </a:pPr>
            <a:endParaRPr dirty="0"/>
          </a:p>
          <a:p>
            <a:pPr marL="457200" lvl="0" indent="-254000" algn="l" rtl="0">
              <a:lnSpc>
                <a:spcPct val="100000"/>
              </a:lnSpc>
              <a:spcBef>
                <a:spcPts val="640"/>
              </a:spcBef>
              <a:spcAft>
                <a:spcPts val="0"/>
              </a:spcAft>
              <a:buSzPts val="3200"/>
              <a:buNone/>
            </a:pPr>
            <a:endParaRPr dirty="0"/>
          </a:p>
          <a:p>
            <a:pPr marL="342900" lvl="0" indent="-279400" algn="l" rtl="0">
              <a:lnSpc>
                <a:spcPct val="100000"/>
              </a:lnSpc>
              <a:spcBef>
                <a:spcPts val="200"/>
              </a:spcBef>
              <a:spcAft>
                <a:spcPts val="0"/>
              </a:spcAft>
              <a:buClr>
                <a:schemeClr val="dk1"/>
              </a:buClr>
              <a:buSzPts val="1000"/>
              <a:buNone/>
            </a:pPr>
            <a:endParaRPr sz="1000" dirty="0"/>
          </a:p>
          <a:p>
            <a:pPr marL="0" lvl="0" indent="0" algn="l" rtl="0">
              <a:lnSpc>
                <a:spcPct val="100000"/>
              </a:lnSpc>
              <a:spcBef>
                <a:spcPts val="640"/>
              </a:spcBef>
              <a:spcAft>
                <a:spcPts val="0"/>
              </a:spcAft>
              <a:buClr>
                <a:schemeClr val="dk1"/>
              </a:buClr>
              <a:buSzPts val="3200"/>
              <a:buNone/>
            </a:pP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0"/>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Device Precautions- Surgery</a:t>
            </a:r>
            <a:endParaRPr/>
          </a:p>
        </p:txBody>
      </p:sp>
      <p:sp>
        <p:nvSpPr>
          <p:cNvPr id="377" name="Google Shape;377;p30"/>
          <p:cNvSpPr txBox="1">
            <a:spLocks noGrp="1"/>
          </p:cNvSpPr>
          <p:nvPr>
            <p:ph type="body" idx="1"/>
          </p:nvPr>
        </p:nvSpPr>
        <p:spPr>
          <a:xfrm>
            <a:off x="110836" y="1065982"/>
            <a:ext cx="8894101" cy="5598054"/>
          </a:xfrm>
          <a:prstGeom prst="rect">
            <a:avLst/>
          </a:prstGeom>
          <a:noFill/>
          <a:ln>
            <a:noFill/>
          </a:ln>
        </p:spPr>
        <p:txBody>
          <a:bodyPr spcFirstLastPara="1" wrap="square" lIns="88875" tIns="50775" rIns="88875" bIns="50775" anchor="t" anchorCtr="0">
            <a:normAutofit/>
          </a:bodyPr>
          <a:lstStyle/>
          <a:p>
            <a:pPr indent="-457200">
              <a:spcBef>
                <a:spcPts val="0"/>
              </a:spcBef>
              <a:buSzPct val="108108"/>
            </a:pPr>
            <a:r>
              <a:rPr lang="en-US" dirty="0"/>
              <a:t>Post-op, the device is reprogrammed by cardiology, or the magnet is removed, and the patient is monitored carefully in the PACU or ICU on telemetry.</a:t>
            </a:r>
            <a:endParaRPr dirty="0"/>
          </a:p>
          <a:p>
            <a:pPr marL="342900" lvl="0" indent="-139700" algn="l" rtl="0">
              <a:lnSpc>
                <a:spcPct val="100000"/>
              </a:lnSpc>
              <a:spcBef>
                <a:spcPts val="640"/>
              </a:spcBef>
              <a:spcAft>
                <a:spcPts val="0"/>
              </a:spcAft>
              <a:buClr>
                <a:schemeClr val="dk1"/>
              </a:buClr>
              <a:buSzPct val="108108"/>
              <a:buNone/>
            </a:pPr>
            <a:endParaRPr dirty="0"/>
          </a:p>
          <a:p>
            <a:pPr marL="342900" lvl="0" indent="-342900" algn="l" rtl="0">
              <a:lnSpc>
                <a:spcPct val="100000"/>
              </a:lnSpc>
              <a:spcBef>
                <a:spcPts val="640"/>
              </a:spcBef>
              <a:spcAft>
                <a:spcPts val="0"/>
              </a:spcAft>
              <a:buClr>
                <a:schemeClr val="dk1"/>
              </a:buClr>
              <a:buSzPct val="108108"/>
              <a:buChar char="•"/>
            </a:pPr>
            <a:r>
              <a:rPr lang="en-US" dirty="0"/>
              <a:t>If surgery was emergent or the device delivered shocks or pacing during the surgery, a closer interrogation by cardiology is needed.</a:t>
            </a:r>
            <a:endParaRPr dirty="0"/>
          </a:p>
          <a:p>
            <a:pPr marL="457200" lvl="0" indent="-254000" algn="l" rtl="0">
              <a:lnSpc>
                <a:spcPct val="100000"/>
              </a:lnSpc>
              <a:spcBef>
                <a:spcPts val="640"/>
              </a:spcBef>
              <a:spcAft>
                <a:spcPts val="0"/>
              </a:spcAft>
              <a:buSzPct val="108108"/>
              <a:buNone/>
            </a:pPr>
            <a:endParaRPr dirty="0"/>
          </a:p>
          <a:p>
            <a:pPr marL="457200" lvl="0" indent="-254000" algn="l" rtl="0">
              <a:lnSpc>
                <a:spcPct val="100000"/>
              </a:lnSpc>
              <a:spcBef>
                <a:spcPts val="640"/>
              </a:spcBef>
              <a:spcAft>
                <a:spcPts val="0"/>
              </a:spcAft>
              <a:buSzPct val="108108"/>
              <a:buNone/>
            </a:pPr>
            <a:endParaRPr dirty="0"/>
          </a:p>
          <a:p>
            <a:pPr marL="457200" lvl="0" indent="-254000" algn="l" rtl="0">
              <a:lnSpc>
                <a:spcPct val="100000"/>
              </a:lnSpc>
              <a:spcBef>
                <a:spcPts val="640"/>
              </a:spcBef>
              <a:spcAft>
                <a:spcPts val="0"/>
              </a:spcAft>
              <a:buSzPct val="108108"/>
              <a:buNone/>
            </a:pPr>
            <a:endParaRPr dirty="0"/>
          </a:p>
          <a:p>
            <a:pPr marL="342900" lvl="0" indent="-139700" algn="l" rtl="0">
              <a:lnSpc>
                <a:spcPct val="100000"/>
              </a:lnSpc>
              <a:spcBef>
                <a:spcPts val="640"/>
              </a:spcBef>
              <a:spcAft>
                <a:spcPts val="0"/>
              </a:spcAft>
              <a:buClr>
                <a:schemeClr val="dk1"/>
              </a:buClr>
              <a:buSzPct val="108108"/>
              <a:buNone/>
            </a:pP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3"/>
          <p:cNvSpPr txBox="1">
            <a:spLocks noGrp="1"/>
          </p:cNvSpPr>
          <p:nvPr>
            <p:ph type="title"/>
          </p:nvPr>
        </p:nvSpPr>
        <p:spPr>
          <a:xfrm>
            <a:off x="227707" y="0"/>
            <a:ext cx="8687470" cy="1065982"/>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Device Precautions- Central Lines</a:t>
            </a:r>
            <a:endParaRPr/>
          </a:p>
        </p:txBody>
      </p:sp>
      <p:sp>
        <p:nvSpPr>
          <p:cNvPr id="383" name="Google Shape;383;p33"/>
          <p:cNvSpPr txBox="1">
            <a:spLocks noGrp="1"/>
          </p:cNvSpPr>
          <p:nvPr>
            <p:ph type="body" idx="1"/>
          </p:nvPr>
        </p:nvSpPr>
        <p:spPr>
          <a:xfrm>
            <a:off x="110836" y="1065982"/>
            <a:ext cx="8894101" cy="2009727"/>
          </a:xfrm>
          <a:prstGeom prst="rect">
            <a:avLst/>
          </a:prstGeom>
          <a:noFill/>
          <a:ln>
            <a:noFill/>
          </a:ln>
        </p:spPr>
        <p:txBody>
          <a:bodyPr spcFirstLastPara="1" wrap="square" lIns="88875" tIns="50775" rIns="88875" bIns="50775" anchor="t" anchorCtr="0">
            <a:normAutofit/>
          </a:bodyPr>
          <a:lstStyle/>
          <a:p>
            <a:pPr marL="342900" lvl="0" indent="-342900" algn="l" rtl="0">
              <a:lnSpc>
                <a:spcPct val="110000"/>
              </a:lnSpc>
              <a:spcBef>
                <a:spcPts val="0"/>
              </a:spcBef>
              <a:spcAft>
                <a:spcPts val="0"/>
              </a:spcAft>
              <a:buClr>
                <a:srgbClr val="000000"/>
              </a:buClr>
              <a:buSzPts val="3200"/>
              <a:buChar char="•"/>
            </a:pPr>
            <a:r>
              <a:rPr lang="en-US"/>
              <a:t>Guidewires used to place central lines can short out or dislodge transvenous ICD or pacemaker wires and cause irreversible damage.  </a:t>
            </a:r>
            <a:endParaRPr/>
          </a:p>
        </p:txBody>
      </p:sp>
      <p:pic>
        <p:nvPicPr>
          <p:cNvPr id="384" name="Google Shape;384;p33" descr="Liver Cancer Treatment Options - Tunneled Central Catheters"/>
          <p:cNvPicPr preferRelativeResize="0"/>
          <p:nvPr/>
        </p:nvPicPr>
        <p:blipFill rotWithShape="1">
          <a:blip r:embed="rId3">
            <a:alphaModFix/>
          </a:blip>
          <a:srcRect t="18454" b="3110"/>
          <a:stretch/>
        </p:blipFill>
        <p:spPr>
          <a:xfrm>
            <a:off x="2947476" y="3333997"/>
            <a:ext cx="5807849" cy="3429000"/>
          </a:xfrm>
          <a:prstGeom prst="rect">
            <a:avLst/>
          </a:prstGeom>
          <a:noFill/>
          <a:ln>
            <a:noFill/>
          </a:ln>
        </p:spPr>
      </p:pic>
      <p:sp>
        <p:nvSpPr>
          <p:cNvPr id="385" name="Google Shape;385;p33"/>
          <p:cNvSpPr txBox="1"/>
          <p:nvPr/>
        </p:nvSpPr>
        <p:spPr>
          <a:xfrm>
            <a:off x="139063" y="2821121"/>
            <a:ext cx="3126651" cy="3754874"/>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3200"/>
              <a:buFont typeface="Arial"/>
              <a:buChar char="•"/>
            </a:pPr>
            <a:r>
              <a:rPr lang="en-US" sz="3200" b="0" i="0" u="none" strike="noStrike" cap="none">
                <a:solidFill>
                  <a:srgbClr val="000000"/>
                </a:solidFill>
                <a:latin typeface="Calibri"/>
                <a:ea typeface="Calibri"/>
                <a:cs typeface="Calibri"/>
                <a:sym typeface="Calibri"/>
              </a:rPr>
              <a:t>The risk of dislodging the wire is highest in the first 3 months after PPM or ICD insertion.</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7"/>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Device Precautions: EMI</a:t>
            </a:r>
            <a:endParaRPr/>
          </a:p>
        </p:txBody>
      </p:sp>
      <p:sp>
        <p:nvSpPr>
          <p:cNvPr id="391" name="Google Shape;391;p67"/>
          <p:cNvSpPr txBox="1">
            <a:spLocks noGrp="1"/>
          </p:cNvSpPr>
          <p:nvPr>
            <p:ph type="body" idx="1"/>
          </p:nvPr>
        </p:nvSpPr>
        <p:spPr>
          <a:xfrm>
            <a:off x="110836" y="1274618"/>
            <a:ext cx="8894101" cy="5482442"/>
          </a:xfrm>
          <a:prstGeom prst="rect">
            <a:avLst/>
          </a:prstGeom>
          <a:noFill/>
          <a:ln>
            <a:noFill/>
          </a:ln>
        </p:spPr>
        <p:txBody>
          <a:bodyPr spcFirstLastPara="1" wrap="square" lIns="88875" tIns="50775" rIns="88875" bIns="50775" anchor="t" anchorCtr="0">
            <a:normAutofit/>
          </a:bodyPr>
          <a:lstStyle/>
          <a:p>
            <a:pPr marL="205376" lvl="0" indent="-205376" algn="l" rtl="0">
              <a:lnSpc>
                <a:spcPct val="100000"/>
              </a:lnSpc>
              <a:spcBef>
                <a:spcPts val="0"/>
              </a:spcBef>
              <a:spcAft>
                <a:spcPts val="0"/>
              </a:spcAft>
              <a:buClr>
                <a:srgbClr val="000000"/>
              </a:buClr>
              <a:buSzPts val="3200"/>
              <a:buFont typeface="Arial"/>
              <a:buChar char="•"/>
            </a:pPr>
            <a:r>
              <a:rPr lang="en-US">
                <a:latin typeface="Calibri"/>
                <a:ea typeface="Calibri"/>
                <a:cs typeface="Calibri"/>
                <a:sym typeface="Calibri"/>
              </a:rPr>
              <a:t>Patients with PPM or ICDs are counseled to avoid: </a:t>
            </a:r>
            <a:endParaRPr>
              <a:latin typeface="Calibri"/>
              <a:ea typeface="Calibri"/>
              <a:cs typeface="Calibri"/>
              <a:sym typeface="Calibri"/>
            </a:endParaRPr>
          </a:p>
          <a:p>
            <a:pPr marL="628650" lvl="0" indent="-514350" algn="l" rtl="0">
              <a:lnSpc>
                <a:spcPct val="100000"/>
              </a:lnSpc>
              <a:spcBef>
                <a:spcPts val="360"/>
              </a:spcBef>
              <a:spcAft>
                <a:spcPts val="0"/>
              </a:spcAft>
              <a:buSzPts val="3200"/>
              <a:buFont typeface="Arial"/>
              <a:buAutoNum type="arabicPeriod"/>
            </a:pPr>
            <a:r>
              <a:rPr lang="en-US" b="1" i="0">
                <a:solidFill>
                  <a:srgbClr val="111111"/>
                </a:solidFill>
                <a:latin typeface="Calibri"/>
                <a:ea typeface="Calibri"/>
                <a:cs typeface="Calibri"/>
                <a:sym typeface="Calibri"/>
              </a:rPr>
              <a:t>Cell phones, mobile devices, magnets, headphones and wireless chargers:</a:t>
            </a:r>
            <a:r>
              <a:rPr lang="en-US" b="0" i="0">
                <a:solidFill>
                  <a:srgbClr val="111111"/>
                </a:solidFill>
                <a:latin typeface="Calibri"/>
                <a:ea typeface="Calibri"/>
                <a:cs typeface="Calibri"/>
                <a:sym typeface="Calibri"/>
              </a:rPr>
              <a:t> avoid placing these within 6 inches (about 15 cm) of an ICD site when on.</a:t>
            </a:r>
            <a:endParaRPr/>
          </a:p>
          <a:p>
            <a:pPr marL="628650" lvl="0" indent="-514350" algn="l" rtl="0">
              <a:lnSpc>
                <a:spcPct val="100000"/>
              </a:lnSpc>
              <a:spcBef>
                <a:spcPts val="360"/>
              </a:spcBef>
              <a:spcAft>
                <a:spcPts val="0"/>
              </a:spcAft>
              <a:buSzPts val="3200"/>
              <a:buFont typeface="Arial"/>
              <a:buAutoNum type="arabicPeriod"/>
            </a:pPr>
            <a:r>
              <a:rPr lang="en-US" b="1" i="0">
                <a:solidFill>
                  <a:srgbClr val="111111"/>
                </a:solidFill>
                <a:latin typeface="Calibri"/>
                <a:ea typeface="Calibri"/>
                <a:cs typeface="Calibri"/>
                <a:sym typeface="Calibri"/>
              </a:rPr>
              <a:t>Security systems.</a:t>
            </a:r>
            <a:r>
              <a:rPr lang="en-US" b="0" i="0">
                <a:solidFill>
                  <a:srgbClr val="111111"/>
                </a:solidFill>
                <a:latin typeface="Calibri"/>
                <a:ea typeface="Calibri"/>
                <a:cs typeface="Calibri"/>
                <a:sym typeface="Calibri"/>
              </a:rPr>
              <a:t> ICDs may set off airport security alarms.  </a:t>
            </a:r>
            <a:r>
              <a:rPr lang="en-US">
                <a:solidFill>
                  <a:srgbClr val="111111"/>
                </a:solidFill>
                <a:latin typeface="Calibri"/>
                <a:ea typeface="Calibri"/>
                <a:cs typeface="Calibri"/>
                <a:sym typeface="Calibri"/>
              </a:rPr>
              <a:t>H</a:t>
            </a:r>
            <a:r>
              <a:rPr lang="en-US" b="0" i="0">
                <a:solidFill>
                  <a:srgbClr val="111111"/>
                </a:solidFill>
                <a:latin typeface="Calibri"/>
                <a:ea typeface="Calibri"/>
                <a:cs typeface="Calibri"/>
                <a:sym typeface="Calibri"/>
              </a:rPr>
              <a:t>and-held metal detectors should </a:t>
            </a:r>
            <a:r>
              <a:rPr lang="en-US">
                <a:solidFill>
                  <a:srgbClr val="111111"/>
                </a:solidFill>
                <a:latin typeface="Calibri"/>
                <a:ea typeface="Calibri"/>
                <a:cs typeface="Calibri"/>
                <a:sym typeface="Calibri"/>
              </a:rPr>
              <a:t>be limited </a:t>
            </a:r>
            <a:r>
              <a:rPr lang="en-US" b="0" i="0">
                <a:solidFill>
                  <a:srgbClr val="111111"/>
                </a:solidFill>
                <a:latin typeface="Calibri"/>
                <a:ea typeface="Calibri"/>
                <a:cs typeface="Calibri"/>
                <a:sym typeface="Calibri"/>
              </a:rPr>
              <a:t>to less than 30 seconds over the ICD site or make a request for a manual search.</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4"/>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Device Precautions: EMI</a:t>
            </a:r>
            <a:endParaRPr/>
          </a:p>
        </p:txBody>
      </p:sp>
      <p:sp>
        <p:nvSpPr>
          <p:cNvPr id="397" name="Google Shape;397;p34"/>
          <p:cNvSpPr txBox="1">
            <a:spLocks noGrp="1"/>
          </p:cNvSpPr>
          <p:nvPr>
            <p:ph type="body" idx="1"/>
          </p:nvPr>
        </p:nvSpPr>
        <p:spPr>
          <a:xfrm>
            <a:off x="110836" y="1274618"/>
            <a:ext cx="8894101" cy="5482442"/>
          </a:xfrm>
          <a:prstGeom prst="rect">
            <a:avLst/>
          </a:prstGeom>
          <a:noFill/>
          <a:ln>
            <a:noFill/>
          </a:ln>
        </p:spPr>
        <p:txBody>
          <a:bodyPr spcFirstLastPara="1" wrap="square" lIns="88875" tIns="50775" rIns="88875" bIns="50775" anchor="t" anchorCtr="0">
            <a:normAutofit lnSpcReduction="10000"/>
          </a:bodyPr>
          <a:lstStyle/>
          <a:p>
            <a:pPr marL="205376" lvl="0" indent="-205376" algn="l" rtl="0">
              <a:lnSpc>
                <a:spcPct val="100000"/>
              </a:lnSpc>
              <a:spcBef>
                <a:spcPts val="0"/>
              </a:spcBef>
              <a:spcAft>
                <a:spcPts val="0"/>
              </a:spcAft>
              <a:buClr>
                <a:srgbClr val="000000"/>
              </a:buClr>
              <a:buSzPts val="3200"/>
              <a:buFont typeface="Arial"/>
              <a:buChar char="•"/>
            </a:pPr>
            <a:r>
              <a:rPr lang="en-US" sz="3500">
                <a:latin typeface="Calibri"/>
                <a:ea typeface="Calibri"/>
                <a:cs typeface="Calibri"/>
                <a:sym typeface="Calibri"/>
              </a:rPr>
              <a:t>Patients with PPM or ICDs are counseled to avoid: </a:t>
            </a:r>
            <a:endParaRPr sz="3500">
              <a:latin typeface="Calibri"/>
              <a:ea typeface="Calibri"/>
              <a:cs typeface="Calibri"/>
              <a:sym typeface="Calibri"/>
            </a:endParaRPr>
          </a:p>
          <a:p>
            <a:pPr marL="628650" lvl="0" indent="-514350" algn="l" rtl="0">
              <a:lnSpc>
                <a:spcPct val="100000"/>
              </a:lnSpc>
              <a:spcBef>
                <a:spcPts val="360"/>
              </a:spcBef>
              <a:spcAft>
                <a:spcPts val="0"/>
              </a:spcAft>
              <a:buSzPts val="3200"/>
              <a:buFont typeface="Arial"/>
              <a:buAutoNum type="arabicPeriod" startAt="3"/>
            </a:pPr>
            <a:r>
              <a:rPr lang="en-US" b="1" i="0">
                <a:solidFill>
                  <a:srgbClr val="111111"/>
                </a:solidFill>
                <a:latin typeface="Calibri"/>
                <a:ea typeface="Calibri"/>
                <a:cs typeface="Calibri"/>
                <a:sym typeface="Calibri"/>
              </a:rPr>
              <a:t>Power generators.</a:t>
            </a:r>
            <a:r>
              <a:rPr lang="en-US" b="0" i="0">
                <a:solidFill>
                  <a:srgbClr val="111111"/>
                </a:solidFill>
                <a:latin typeface="Calibri"/>
                <a:ea typeface="Calibri"/>
                <a:cs typeface="Calibri"/>
                <a:sym typeface="Calibri"/>
              </a:rPr>
              <a:t> Stand at least 2 feet (0.6 meters) from welding equipment, high-voltage transformers or motor-generator systems.</a:t>
            </a:r>
            <a:endParaRPr/>
          </a:p>
          <a:p>
            <a:pPr marL="457200" lvl="0" indent="-228600" algn="l" rtl="0">
              <a:lnSpc>
                <a:spcPct val="100000"/>
              </a:lnSpc>
              <a:spcBef>
                <a:spcPts val="360"/>
              </a:spcBef>
              <a:spcAft>
                <a:spcPts val="0"/>
              </a:spcAft>
              <a:buSzPts val="1800"/>
              <a:buFont typeface="Arial"/>
              <a:buNone/>
            </a:pPr>
            <a:endParaRPr>
              <a:solidFill>
                <a:srgbClr val="111111"/>
              </a:solidFill>
              <a:latin typeface="Calibri"/>
              <a:ea typeface="Calibri"/>
              <a:cs typeface="Calibri"/>
              <a:sym typeface="Calibri"/>
            </a:endParaRPr>
          </a:p>
          <a:p>
            <a:pPr marL="457200" lvl="0" indent="-342900" algn="l" rtl="0">
              <a:lnSpc>
                <a:spcPct val="100000"/>
              </a:lnSpc>
              <a:spcBef>
                <a:spcPts val="360"/>
              </a:spcBef>
              <a:spcAft>
                <a:spcPts val="0"/>
              </a:spcAft>
              <a:buSzPts val="2560"/>
              <a:buFont typeface="Arial"/>
              <a:buChar char="•"/>
            </a:pPr>
            <a:r>
              <a:rPr lang="en-US" b="0" i="0">
                <a:solidFill>
                  <a:srgbClr val="111111"/>
                </a:solidFill>
                <a:latin typeface="Calibri"/>
                <a:ea typeface="Calibri"/>
                <a:cs typeface="Calibri"/>
                <a:sym typeface="Calibri"/>
              </a:rPr>
              <a:t>Devices that pose little or no risk to a PPM or an </a:t>
            </a:r>
            <a:r>
              <a:rPr lang="en-US">
                <a:latin typeface="Calibri"/>
                <a:ea typeface="Calibri"/>
                <a:cs typeface="Calibri"/>
                <a:sym typeface="Calibri"/>
              </a:rPr>
              <a:t>ICD</a:t>
            </a:r>
            <a:r>
              <a:rPr lang="en-US" b="0" i="0">
                <a:solidFill>
                  <a:srgbClr val="111111"/>
                </a:solidFill>
                <a:latin typeface="Calibri"/>
                <a:ea typeface="Calibri"/>
                <a:cs typeface="Calibri"/>
                <a:sym typeface="Calibri"/>
              </a:rPr>
              <a:t> include microwave ovens, televisions and remote controls, AM/FM radios, toasters, electric blankets, electric shavers and electric drills, computers, scanners, printers, and GPS devices. </a:t>
            </a:r>
            <a:endParaRPr>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8"/>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Device Replacement</a:t>
            </a:r>
            <a:endParaRPr/>
          </a:p>
        </p:txBody>
      </p:sp>
      <p:sp>
        <p:nvSpPr>
          <p:cNvPr id="403" name="Google Shape;403;p68"/>
          <p:cNvSpPr txBox="1">
            <a:spLocks noGrp="1"/>
          </p:cNvSpPr>
          <p:nvPr>
            <p:ph type="body" idx="1"/>
          </p:nvPr>
        </p:nvSpPr>
        <p:spPr>
          <a:xfrm>
            <a:off x="110836" y="1068779"/>
            <a:ext cx="8894101" cy="5688281"/>
          </a:xfrm>
          <a:prstGeom prst="rect">
            <a:avLst/>
          </a:prstGeom>
          <a:noFill/>
          <a:ln>
            <a:noFill/>
          </a:ln>
        </p:spPr>
        <p:txBody>
          <a:bodyPr spcFirstLastPara="1" wrap="square" lIns="88875" tIns="50775" rIns="88875" bIns="50775" anchor="t" anchorCtr="0">
            <a:normAutofit/>
          </a:bodyPr>
          <a:lstStyle/>
          <a:p>
            <a:pPr marL="205376" lvl="0" indent="-205376" algn="l" rtl="0">
              <a:lnSpc>
                <a:spcPct val="100000"/>
              </a:lnSpc>
              <a:spcBef>
                <a:spcPts val="0"/>
              </a:spcBef>
              <a:spcAft>
                <a:spcPts val="0"/>
              </a:spcAft>
              <a:buClr>
                <a:srgbClr val="000000"/>
              </a:buClr>
              <a:buSzPts val="3200"/>
              <a:buFont typeface="Arial"/>
              <a:buChar char="•"/>
            </a:pPr>
            <a:r>
              <a:rPr lang="en-US" b="1" i="1"/>
              <a:t>Replacement-</a:t>
            </a:r>
            <a:r>
              <a:rPr lang="en-US"/>
              <a:t> A </a:t>
            </a:r>
            <a:r>
              <a:rPr lang="en-US" b="1" i="1"/>
              <a:t>pacemaker or ICD battery life is about 7-10 years</a:t>
            </a:r>
            <a:r>
              <a:rPr lang="en-US"/>
              <a:t>, depending on how much the device is used.</a:t>
            </a:r>
            <a:endParaRPr/>
          </a:p>
          <a:p>
            <a:pPr marL="0" lvl="0" indent="0" algn="l" rtl="0">
              <a:lnSpc>
                <a:spcPct val="100000"/>
              </a:lnSpc>
              <a:spcBef>
                <a:spcPts val="492"/>
              </a:spcBef>
              <a:spcAft>
                <a:spcPts val="0"/>
              </a:spcAft>
              <a:buClr>
                <a:srgbClr val="000000"/>
              </a:buClr>
              <a:buSzPts val="3200"/>
              <a:buNone/>
            </a:pPr>
            <a:r>
              <a:rPr lang="en-US"/>
              <a:t> </a:t>
            </a:r>
            <a:endParaRPr/>
          </a:p>
          <a:p>
            <a:pPr marL="205376" lvl="0" indent="-205376" algn="l" rtl="0">
              <a:lnSpc>
                <a:spcPct val="100000"/>
              </a:lnSpc>
              <a:spcBef>
                <a:spcPts val="492"/>
              </a:spcBef>
              <a:spcAft>
                <a:spcPts val="0"/>
              </a:spcAft>
              <a:buClr>
                <a:srgbClr val="000000"/>
              </a:buClr>
              <a:buSzPts val="3200"/>
              <a:buFont typeface="Arial"/>
              <a:buChar char="•"/>
            </a:pPr>
            <a:r>
              <a:rPr lang="en-US"/>
              <a:t>A pacemaker will begin slowing or changing their pacing mode as this dwindles.</a:t>
            </a:r>
            <a:endParaRPr/>
          </a:p>
          <a:p>
            <a:pPr marL="205376" lvl="0" indent="-2176" algn="l" rtl="0">
              <a:lnSpc>
                <a:spcPct val="100000"/>
              </a:lnSpc>
              <a:spcBef>
                <a:spcPts val="492"/>
              </a:spcBef>
              <a:spcAft>
                <a:spcPts val="0"/>
              </a:spcAft>
              <a:buClr>
                <a:srgbClr val="000000"/>
              </a:buClr>
              <a:buSzPts val="3200"/>
              <a:buFont typeface="Arial"/>
              <a:buNone/>
            </a:pPr>
            <a:endParaRPr/>
          </a:p>
          <a:p>
            <a:pPr marL="205376" lvl="0" indent="-205376" algn="l" rtl="0">
              <a:lnSpc>
                <a:spcPct val="100000"/>
              </a:lnSpc>
              <a:spcBef>
                <a:spcPts val="492"/>
              </a:spcBef>
              <a:spcAft>
                <a:spcPts val="0"/>
              </a:spcAft>
              <a:buClr>
                <a:srgbClr val="000000"/>
              </a:buClr>
              <a:buSzPts val="3200"/>
              <a:buFont typeface="Arial"/>
              <a:buChar char="•"/>
            </a:pPr>
            <a:r>
              <a:rPr lang="en-US"/>
              <a:t>When this happens patients are scheduled for a generator change- which replaces the pocket device but leaves the wires alone.</a:t>
            </a:r>
            <a:endParaRPr/>
          </a:p>
          <a:p>
            <a:pPr marL="0" lvl="0" indent="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5"/>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Lead Issues</a:t>
            </a:r>
            <a:endParaRPr/>
          </a:p>
        </p:txBody>
      </p:sp>
      <p:sp>
        <p:nvSpPr>
          <p:cNvPr id="409" name="Google Shape;409;p35"/>
          <p:cNvSpPr txBox="1">
            <a:spLocks noGrp="1"/>
          </p:cNvSpPr>
          <p:nvPr>
            <p:ph type="body" idx="1"/>
          </p:nvPr>
        </p:nvSpPr>
        <p:spPr>
          <a:xfrm>
            <a:off x="110836" y="973777"/>
            <a:ext cx="3107377" cy="5783283"/>
          </a:xfrm>
          <a:prstGeom prst="rect">
            <a:avLst/>
          </a:prstGeom>
          <a:noFill/>
          <a:ln>
            <a:noFill/>
          </a:ln>
        </p:spPr>
        <p:txBody>
          <a:bodyPr spcFirstLastPara="1" wrap="square" lIns="88875" tIns="50775" rIns="88875" bIns="50775" anchor="t" anchorCtr="0">
            <a:normAutofit/>
          </a:bodyPr>
          <a:lstStyle/>
          <a:p>
            <a:pPr marL="205376" lvl="0" indent="-205376" algn="l" rtl="0">
              <a:lnSpc>
                <a:spcPct val="100000"/>
              </a:lnSpc>
              <a:spcBef>
                <a:spcPts val="0"/>
              </a:spcBef>
              <a:spcAft>
                <a:spcPts val="0"/>
              </a:spcAft>
              <a:buClr>
                <a:srgbClr val="000000"/>
              </a:buClr>
              <a:buSzPts val="3200"/>
              <a:buFont typeface="Arial"/>
              <a:buChar char="•"/>
            </a:pPr>
            <a:r>
              <a:rPr lang="en-US"/>
              <a:t>Sometimes pacemaker or ICD leads may break/ fracture, leading to device malfunction.  </a:t>
            </a:r>
            <a:endParaRPr/>
          </a:p>
          <a:p>
            <a:pPr marL="205376" lvl="0" indent="-205376" algn="l" rtl="0">
              <a:lnSpc>
                <a:spcPct val="100000"/>
              </a:lnSpc>
              <a:spcBef>
                <a:spcPts val="492"/>
              </a:spcBef>
              <a:spcAft>
                <a:spcPts val="0"/>
              </a:spcAft>
              <a:buClr>
                <a:srgbClr val="000000"/>
              </a:buClr>
              <a:buSzPts val="3200"/>
              <a:buFont typeface="Arial"/>
              <a:buChar char="•"/>
            </a:pPr>
            <a:r>
              <a:rPr lang="en-US"/>
              <a:t>If this happens, the lead will need to be replaced.</a:t>
            </a:r>
            <a:endParaRPr/>
          </a:p>
          <a:p>
            <a:pPr marL="0" lvl="0" indent="0" algn="l" rtl="0">
              <a:lnSpc>
                <a:spcPct val="100000"/>
              </a:lnSpc>
              <a:spcBef>
                <a:spcPts val="640"/>
              </a:spcBef>
              <a:spcAft>
                <a:spcPts val="0"/>
              </a:spcAft>
              <a:buClr>
                <a:schemeClr val="dk1"/>
              </a:buClr>
              <a:buSzPts val="3200"/>
              <a:buNone/>
            </a:pPr>
            <a:endParaRPr/>
          </a:p>
        </p:txBody>
      </p:sp>
      <p:pic>
        <p:nvPicPr>
          <p:cNvPr id="410" name="Google Shape;410;p35" descr="A broken pacemaker lead in a 69-year-old woman | Cleveland Clinic Journal  of Medicine"/>
          <p:cNvPicPr preferRelativeResize="0"/>
          <p:nvPr/>
        </p:nvPicPr>
        <p:blipFill rotWithShape="1">
          <a:blip r:embed="rId3">
            <a:alphaModFix/>
          </a:blip>
          <a:srcRect l="8343" r="7470"/>
          <a:stretch/>
        </p:blipFill>
        <p:spPr>
          <a:xfrm>
            <a:off x="3325091" y="1215164"/>
            <a:ext cx="5554293" cy="543296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6"/>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Device Infections</a:t>
            </a:r>
            <a:endParaRPr/>
          </a:p>
        </p:txBody>
      </p:sp>
      <p:sp>
        <p:nvSpPr>
          <p:cNvPr id="416" name="Google Shape;416;p36"/>
          <p:cNvSpPr txBox="1">
            <a:spLocks noGrp="1"/>
          </p:cNvSpPr>
          <p:nvPr>
            <p:ph type="body" idx="1"/>
          </p:nvPr>
        </p:nvSpPr>
        <p:spPr>
          <a:xfrm>
            <a:off x="110836" y="1068779"/>
            <a:ext cx="8894101" cy="3253839"/>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Sometimes a device will become infected.</a:t>
            </a:r>
            <a:endParaRPr/>
          </a:p>
          <a:p>
            <a:pPr marL="971550" lvl="1" indent="-514350" algn="l" rtl="0">
              <a:lnSpc>
                <a:spcPct val="100000"/>
              </a:lnSpc>
              <a:spcBef>
                <a:spcPts val="640"/>
              </a:spcBef>
              <a:spcAft>
                <a:spcPts val="0"/>
              </a:spcAft>
              <a:buClr>
                <a:schemeClr val="dk1"/>
              </a:buClr>
              <a:buSzPts val="3200"/>
              <a:buFont typeface="Calibri"/>
              <a:buAutoNum type="arabicPeriod"/>
            </a:pPr>
            <a:r>
              <a:rPr lang="en-US" sz="3200"/>
              <a:t>Pocket incision becomes infected at the time of insertion</a:t>
            </a:r>
            <a:endParaRPr/>
          </a:p>
          <a:p>
            <a:pPr marL="971550" lvl="1" indent="-514350" algn="l" rtl="0">
              <a:lnSpc>
                <a:spcPct val="100000"/>
              </a:lnSpc>
              <a:spcBef>
                <a:spcPts val="640"/>
              </a:spcBef>
              <a:spcAft>
                <a:spcPts val="0"/>
              </a:spcAft>
              <a:buClr>
                <a:schemeClr val="dk1"/>
              </a:buClr>
              <a:buSzPts val="3200"/>
              <a:buFont typeface="Calibri"/>
              <a:buAutoNum type="arabicPeriod"/>
            </a:pPr>
            <a:r>
              <a:rPr lang="en-US" sz="3200"/>
              <a:t>Pocket erodes due to weight loss </a:t>
            </a:r>
            <a:endParaRPr/>
          </a:p>
        </p:txBody>
      </p:sp>
      <p:pic>
        <p:nvPicPr>
          <p:cNvPr id="417" name="Google Shape;417;p36" descr="Cardiac Implantable Electronic Device Infection in Patients at Risk | AER  Journal"/>
          <p:cNvPicPr preferRelativeResize="0"/>
          <p:nvPr/>
        </p:nvPicPr>
        <p:blipFill rotWithShape="1">
          <a:blip r:embed="rId3">
            <a:alphaModFix/>
          </a:blip>
          <a:srcRect/>
          <a:stretch/>
        </p:blipFill>
        <p:spPr>
          <a:xfrm>
            <a:off x="4422620" y="3429000"/>
            <a:ext cx="4610544" cy="3358979"/>
          </a:xfrm>
          <a:prstGeom prst="rect">
            <a:avLst/>
          </a:prstGeom>
          <a:noFill/>
          <a:ln>
            <a:noFill/>
          </a:ln>
        </p:spPr>
      </p:pic>
      <p:pic>
        <p:nvPicPr>
          <p:cNvPr id="418" name="Google Shape;418;p36" descr="Mycobacterium peregrinum Pacemaker Pocket Infection: A Case Report and  Review of the Literature"/>
          <p:cNvPicPr preferRelativeResize="0"/>
          <p:nvPr/>
        </p:nvPicPr>
        <p:blipFill rotWithShape="1">
          <a:blip r:embed="rId4">
            <a:alphaModFix/>
          </a:blip>
          <a:srcRect/>
          <a:stretch/>
        </p:blipFill>
        <p:spPr>
          <a:xfrm>
            <a:off x="260515" y="3387644"/>
            <a:ext cx="3883973" cy="332455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7"/>
          <p:cNvSpPr txBox="1">
            <a:spLocks noGrp="1"/>
          </p:cNvSpPr>
          <p:nvPr>
            <p:ph type="title"/>
          </p:nvPr>
        </p:nvSpPr>
        <p:spPr>
          <a:xfrm>
            <a:off x="227707" y="0"/>
            <a:ext cx="8687470" cy="1274618"/>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Device Infection</a:t>
            </a:r>
            <a:endParaRPr/>
          </a:p>
        </p:txBody>
      </p:sp>
      <p:sp>
        <p:nvSpPr>
          <p:cNvPr id="424" name="Google Shape;424;p37"/>
          <p:cNvSpPr txBox="1">
            <a:spLocks noGrp="1"/>
          </p:cNvSpPr>
          <p:nvPr>
            <p:ph type="body" idx="1"/>
          </p:nvPr>
        </p:nvSpPr>
        <p:spPr>
          <a:xfrm>
            <a:off x="110837" y="1068779"/>
            <a:ext cx="4698670" cy="5789220"/>
          </a:xfrm>
          <a:prstGeom prst="rect">
            <a:avLst/>
          </a:prstGeom>
          <a:noFill/>
          <a:ln>
            <a:noFill/>
          </a:ln>
        </p:spPr>
        <p:txBody>
          <a:bodyPr spcFirstLastPara="1" wrap="square" lIns="88875" tIns="50775" rIns="88875" bIns="50775" anchor="t" anchorCtr="0">
            <a:normAutofit/>
          </a:bodyPr>
          <a:lstStyle/>
          <a:p>
            <a:pPr marL="342900" lvl="0" indent="-342900" algn="l" rtl="0">
              <a:lnSpc>
                <a:spcPct val="100000"/>
              </a:lnSpc>
              <a:spcBef>
                <a:spcPts val="0"/>
              </a:spcBef>
              <a:spcAft>
                <a:spcPts val="0"/>
              </a:spcAft>
              <a:buClr>
                <a:schemeClr val="dk1"/>
              </a:buClr>
              <a:buSzPts val="3200"/>
              <a:buChar char="•"/>
            </a:pPr>
            <a:r>
              <a:rPr lang="en-US"/>
              <a:t>Sometimes a device will become infected.</a:t>
            </a:r>
            <a:endParaRPr/>
          </a:p>
          <a:p>
            <a:pPr marL="971550" lvl="1" indent="-514350" algn="l" rtl="0">
              <a:lnSpc>
                <a:spcPct val="100000"/>
              </a:lnSpc>
              <a:spcBef>
                <a:spcPts val="640"/>
              </a:spcBef>
              <a:spcAft>
                <a:spcPts val="0"/>
              </a:spcAft>
              <a:buClr>
                <a:schemeClr val="dk1"/>
              </a:buClr>
              <a:buSzPts val="3200"/>
              <a:buFont typeface="Calibri"/>
              <a:buAutoNum type="arabicPeriod" startAt="3"/>
            </a:pPr>
            <a:r>
              <a:rPr lang="en-US" sz="3200"/>
              <a:t>Device is seeded from a bacteremia- usually this affects the leads and will cause a persistent bacteremia.  A vegetation may be seen on the lead during a TEE.</a:t>
            </a:r>
            <a:endParaRPr/>
          </a:p>
        </p:txBody>
      </p:sp>
      <p:pic>
        <p:nvPicPr>
          <p:cNvPr id="425" name="Google Shape;425;p37" descr="Device Infections | Circulation"/>
          <p:cNvPicPr preferRelativeResize="0"/>
          <p:nvPr/>
        </p:nvPicPr>
        <p:blipFill rotWithShape="1">
          <a:blip r:embed="rId3">
            <a:alphaModFix/>
          </a:blip>
          <a:srcRect/>
          <a:stretch/>
        </p:blipFill>
        <p:spPr>
          <a:xfrm>
            <a:off x="5085035" y="1068779"/>
            <a:ext cx="3947012" cy="567046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9"/>
          <p:cNvSpPr txBox="1">
            <a:spLocks noGrp="1"/>
          </p:cNvSpPr>
          <p:nvPr>
            <p:ph type="title"/>
          </p:nvPr>
        </p:nvSpPr>
        <p:spPr>
          <a:xfrm>
            <a:off x="227707" y="94466"/>
            <a:ext cx="8687470" cy="971515"/>
          </a:xfrm>
          <a:prstGeom prst="rect">
            <a:avLst/>
          </a:prstGeom>
          <a:noFill/>
          <a:ln>
            <a:noFill/>
          </a:ln>
        </p:spPr>
        <p:txBody>
          <a:bodyPr spcFirstLastPara="1" wrap="square" lIns="88875" tIns="50775" rIns="88875" bIns="50775" anchor="ctr" anchorCtr="0">
            <a:normAutofit/>
          </a:bodyPr>
          <a:lstStyle/>
          <a:p>
            <a:pPr marL="0" lvl="0" indent="0" algn="ctr" rtl="0">
              <a:lnSpc>
                <a:spcPct val="100000"/>
              </a:lnSpc>
              <a:spcBef>
                <a:spcPts val="0"/>
              </a:spcBef>
              <a:spcAft>
                <a:spcPts val="0"/>
              </a:spcAft>
              <a:buClr>
                <a:schemeClr val="dk1"/>
              </a:buClr>
              <a:buSzPts val="4400"/>
              <a:buFont typeface="Arial"/>
              <a:buNone/>
            </a:pPr>
            <a:r>
              <a:rPr lang="en-US">
                <a:latin typeface="Arial"/>
                <a:ea typeface="Arial"/>
                <a:cs typeface="Arial"/>
                <a:sym typeface="Arial"/>
              </a:rPr>
              <a:t>Device Infections</a:t>
            </a:r>
            <a:endParaRPr/>
          </a:p>
        </p:txBody>
      </p:sp>
      <p:sp>
        <p:nvSpPr>
          <p:cNvPr id="431" name="Google Shape;431;p69"/>
          <p:cNvSpPr txBox="1">
            <a:spLocks noGrp="1"/>
          </p:cNvSpPr>
          <p:nvPr>
            <p:ph type="body" idx="1"/>
          </p:nvPr>
        </p:nvSpPr>
        <p:spPr>
          <a:xfrm>
            <a:off x="124692" y="1187355"/>
            <a:ext cx="8880246" cy="5498769"/>
          </a:xfrm>
          <a:prstGeom prst="rect">
            <a:avLst/>
          </a:prstGeom>
          <a:noFill/>
          <a:ln>
            <a:noFill/>
          </a:ln>
        </p:spPr>
        <p:txBody>
          <a:bodyPr spcFirstLastPara="1" wrap="square" lIns="88875" tIns="50775" rIns="88875" bIns="50775" anchor="t" anchorCtr="0">
            <a:normAutofit/>
          </a:bodyPr>
          <a:lstStyle/>
          <a:p>
            <a:pPr marL="457200" lvl="0" indent="-457200" algn="l" rtl="0">
              <a:lnSpc>
                <a:spcPct val="100000"/>
              </a:lnSpc>
              <a:spcBef>
                <a:spcPts val="492"/>
              </a:spcBef>
              <a:spcAft>
                <a:spcPts val="0"/>
              </a:spcAft>
              <a:buClr>
                <a:srgbClr val="000000"/>
              </a:buClr>
              <a:buSzPts val="3500"/>
              <a:buChar char="•"/>
            </a:pPr>
            <a:r>
              <a:rPr lang="en-US">
                <a:latin typeface="Calibri"/>
                <a:ea typeface="Calibri"/>
                <a:cs typeface="Calibri"/>
                <a:sym typeface="Calibri"/>
              </a:rPr>
              <a:t>A generator change is more likely to cause a device infection than a de novo implant.  </a:t>
            </a:r>
            <a:endParaRPr/>
          </a:p>
          <a:p>
            <a:pPr marL="457200" lvl="0" indent="-457200" algn="l" rtl="0">
              <a:lnSpc>
                <a:spcPct val="100000"/>
              </a:lnSpc>
              <a:spcBef>
                <a:spcPts val="1692"/>
              </a:spcBef>
              <a:spcAft>
                <a:spcPts val="0"/>
              </a:spcAft>
              <a:buClr>
                <a:srgbClr val="000000"/>
              </a:buClr>
              <a:buSzPts val="3500"/>
              <a:buChar char="•"/>
            </a:pPr>
            <a:r>
              <a:rPr lang="en-US">
                <a:latin typeface="Calibri"/>
                <a:ea typeface="Calibri"/>
                <a:cs typeface="Calibri"/>
                <a:sym typeface="Calibri"/>
              </a:rPr>
              <a:t>In addition, the presence of a hematoma in the pocket increases the risk of infection from 0.98% to 22.7%.</a:t>
            </a:r>
            <a:endParaRPr/>
          </a:p>
          <a:p>
            <a:pPr marL="457200" lvl="0" indent="-457200" algn="l" rtl="0">
              <a:lnSpc>
                <a:spcPct val="100000"/>
              </a:lnSpc>
              <a:spcBef>
                <a:spcPts val="1692"/>
              </a:spcBef>
              <a:spcAft>
                <a:spcPts val="0"/>
              </a:spcAft>
              <a:buClr>
                <a:srgbClr val="000000"/>
              </a:buClr>
              <a:buSzPts val="3500"/>
              <a:buChar char="•"/>
            </a:pPr>
            <a:r>
              <a:rPr lang="en-US">
                <a:latin typeface="Calibri"/>
                <a:ea typeface="Calibri"/>
                <a:cs typeface="Calibri"/>
                <a:sym typeface="Calibri"/>
              </a:rPr>
              <a:t>Anytime a pacemaker or ICD becomes infected, the device and the leads must be explanted.</a:t>
            </a:r>
            <a:endParaRPr>
              <a:latin typeface="Calibri"/>
              <a:ea typeface="Calibri"/>
              <a:cs typeface="Calibri"/>
              <a:sym typeface="Calibri"/>
            </a:endParaRPr>
          </a:p>
          <a:p>
            <a:pPr marL="457200" lvl="0" indent="-457200" algn="l" rtl="0">
              <a:lnSpc>
                <a:spcPct val="100000"/>
              </a:lnSpc>
              <a:spcBef>
                <a:spcPts val="1692"/>
              </a:spcBef>
              <a:spcAft>
                <a:spcPts val="1200"/>
              </a:spcAft>
              <a:buClr>
                <a:srgbClr val="000000"/>
              </a:buClr>
              <a:buSzPts val="3500"/>
              <a:buChar char="•"/>
            </a:pPr>
            <a:r>
              <a:rPr lang="en-US">
                <a:latin typeface="Calibri"/>
                <a:ea typeface="Calibri"/>
                <a:cs typeface="Calibri"/>
                <a:sym typeface="Calibri"/>
              </a:rPr>
              <a:t>Patients will require a period of antibiotic therapy before a new device can be implanted.</a:t>
            </a:r>
            <a:endParaRPr>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70"/>
          <p:cNvSpPr txBox="1">
            <a:spLocks noGrp="1"/>
          </p:cNvSpPr>
          <p:nvPr>
            <p:ph type="title"/>
          </p:nvPr>
        </p:nvSpPr>
        <p:spPr>
          <a:xfrm>
            <a:off x="227707" y="94466"/>
            <a:ext cx="8687470" cy="1265704"/>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11111"/>
              <a:buFont typeface="Arial"/>
              <a:buNone/>
            </a:pPr>
            <a:r>
              <a:rPr lang="en-US">
                <a:latin typeface="Arial"/>
                <a:ea typeface="Arial"/>
                <a:cs typeface="Arial"/>
                <a:sym typeface="Arial"/>
              </a:rPr>
              <a:t>ICD Complication: </a:t>
            </a:r>
            <a:br>
              <a:rPr lang="en-US">
                <a:latin typeface="Arial"/>
                <a:ea typeface="Arial"/>
                <a:cs typeface="Arial"/>
                <a:sym typeface="Arial"/>
              </a:rPr>
            </a:br>
            <a:r>
              <a:rPr lang="en-US">
                <a:latin typeface="Arial"/>
                <a:ea typeface="Arial"/>
                <a:cs typeface="Arial"/>
                <a:sym typeface="Arial"/>
              </a:rPr>
              <a:t>Inappropriate Shocks</a:t>
            </a:r>
            <a:endParaRPr/>
          </a:p>
        </p:txBody>
      </p:sp>
      <p:sp>
        <p:nvSpPr>
          <p:cNvPr id="437" name="Google Shape;437;p70"/>
          <p:cNvSpPr txBox="1">
            <a:spLocks noGrp="1"/>
          </p:cNvSpPr>
          <p:nvPr>
            <p:ph type="body" idx="1"/>
          </p:nvPr>
        </p:nvSpPr>
        <p:spPr>
          <a:xfrm>
            <a:off x="124692" y="1577340"/>
            <a:ext cx="8880246" cy="5186194"/>
          </a:xfrm>
          <a:prstGeom prst="rect">
            <a:avLst/>
          </a:prstGeom>
          <a:noFill/>
          <a:ln>
            <a:noFill/>
          </a:ln>
        </p:spPr>
        <p:txBody>
          <a:bodyPr spcFirstLastPara="1" wrap="square" lIns="88875" tIns="50775" rIns="88875" bIns="50775" anchor="t" anchorCtr="0">
            <a:noAutofit/>
          </a:bodyPr>
          <a:lstStyle/>
          <a:p>
            <a:pPr marL="457200" lvl="0" indent="-457200" algn="l" rtl="0">
              <a:lnSpc>
                <a:spcPct val="100000"/>
              </a:lnSpc>
              <a:spcBef>
                <a:spcPts val="492"/>
              </a:spcBef>
              <a:spcAft>
                <a:spcPts val="0"/>
              </a:spcAft>
              <a:buClr>
                <a:srgbClr val="000000"/>
              </a:buClr>
              <a:buSzPts val="3500"/>
              <a:buChar char="•"/>
            </a:pPr>
            <a:r>
              <a:rPr lang="en-US" b="0" i="0">
                <a:solidFill>
                  <a:srgbClr val="2A2A2A"/>
                </a:solidFill>
                <a:latin typeface="Calibri"/>
                <a:ea typeface="Calibri"/>
                <a:cs typeface="Calibri"/>
                <a:sym typeface="Calibri"/>
              </a:rPr>
              <a:t>A major issue with ICDs are inappropriate shocks, which are not precipitated by accurate detection of a malignant ventricular arrhythmia (VT or VF)</a:t>
            </a:r>
            <a:endParaRPr/>
          </a:p>
          <a:p>
            <a:pPr marL="914400" lvl="1" indent="-457200" algn="l" rtl="0">
              <a:lnSpc>
                <a:spcPct val="100000"/>
              </a:lnSpc>
              <a:spcBef>
                <a:spcPts val="1692"/>
              </a:spcBef>
              <a:spcAft>
                <a:spcPts val="0"/>
              </a:spcAft>
              <a:buClr>
                <a:srgbClr val="000000"/>
              </a:buClr>
              <a:buSzPts val="1920"/>
              <a:buFont typeface="Arial"/>
              <a:buChar char="•"/>
            </a:pPr>
            <a:r>
              <a:rPr lang="en-US" sz="2400" b="0" i="0">
                <a:solidFill>
                  <a:srgbClr val="2A2A2A"/>
                </a:solidFill>
                <a:latin typeface="Calibri"/>
                <a:ea typeface="Calibri"/>
                <a:cs typeface="Calibri"/>
                <a:sym typeface="Calibri"/>
              </a:rPr>
              <a:t>One major trial revealed that 11.5% of the ICD pts received inappropriate shocks and that 31.2% of all ICD shocks were deemed inappropriate. </a:t>
            </a:r>
            <a:endParaRPr sz="1000" b="0" i="0">
              <a:solidFill>
                <a:srgbClr val="2A2A2A"/>
              </a:solidFill>
              <a:latin typeface="Calibri"/>
              <a:ea typeface="Calibri"/>
              <a:cs typeface="Calibri"/>
              <a:sym typeface="Calibri"/>
            </a:endParaRPr>
          </a:p>
          <a:p>
            <a:pPr marL="457200" lvl="0" indent="-457200" algn="l" rtl="0">
              <a:lnSpc>
                <a:spcPct val="100000"/>
              </a:lnSpc>
              <a:spcBef>
                <a:spcPts val="1692"/>
              </a:spcBef>
              <a:spcAft>
                <a:spcPts val="1200"/>
              </a:spcAft>
              <a:buClr>
                <a:srgbClr val="000000"/>
              </a:buClr>
              <a:buSzPts val="3500"/>
              <a:buChar char="•"/>
            </a:pPr>
            <a:r>
              <a:rPr lang="en-US" b="0" i="0">
                <a:solidFill>
                  <a:srgbClr val="2A2A2A"/>
                </a:solidFill>
                <a:latin typeface="Calibri"/>
                <a:ea typeface="Calibri"/>
                <a:cs typeface="Calibri"/>
                <a:sym typeface="Calibri"/>
              </a:rPr>
              <a:t>Typically, </a:t>
            </a:r>
            <a:r>
              <a:rPr lang="en-US" b="1" i="1">
                <a:solidFill>
                  <a:srgbClr val="2A2A2A"/>
                </a:solidFill>
                <a:latin typeface="Calibri"/>
                <a:ea typeface="Calibri"/>
                <a:cs typeface="Calibri"/>
                <a:sym typeface="Calibri"/>
              </a:rPr>
              <a:t>inappropriate ICD shocks result when an atrial arrhythmia accelerates the ventricular rate </a:t>
            </a:r>
            <a:r>
              <a:rPr lang="en-US" b="0" i="0">
                <a:solidFill>
                  <a:srgbClr val="2A2A2A"/>
                </a:solidFill>
                <a:latin typeface="Calibri"/>
                <a:ea typeface="Calibri"/>
                <a:cs typeface="Calibri"/>
                <a:sym typeface="Calibri"/>
              </a:rPr>
              <a:t>beyond the limit set for delivery of an ICD shock.</a:t>
            </a:r>
            <a:endParaRPr>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71"/>
          <p:cNvSpPr txBox="1">
            <a:spLocks noGrp="1"/>
          </p:cNvSpPr>
          <p:nvPr>
            <p:ph type="title"/>
          </p:nvPr>
        </p:nvSpPr>
        <p:spPr>
          <a:xfrm>
            <a:off x="227707" y="94466"/>
            <a:ext cx="8687470" cy="1380004"/>
          </a:xfrm>
          <a:prstGeom prst="rect">
            <a:avLst/>
          </a:prstGeom>
          <a:noFill/>
          <a:ln>
            <a:noFill/>
          </a:ln>
        </p:spPr>
        <p:txBody>
          <a:bodyPr spcFirstLastPara="1" wrap="square" lIns="88875" tIns="50775" rIns="88875" bIns="50775" anchor="ctr" anchorCtr="0">
            <a:normAutofit fontScale="90000"/>
          </a:bodyPr>
          <a:lstStyle/>
          <a:p>
            <a:pPr marL="0" lvl="0" indent="0" algn="ctr" rtl="0">
              <a:lnSpc>
                <a:spcPct val="100000"/>
              </a:lnSpc>
              <a:spcBef>
                <a:spcPts val="0"/>
              </a:spcBef>
              <a:spcAft>
                <a:spcPts val="0"/>
              </a:spcAft>
              <a:buClr>
                <a:schemeClr val="dk1"/>
              </a:buClr>
              <a:buSzPct val="111111"/>
              <a:buFont typeface="Arial"/>
              <a:buNone/>
            </a:pPr>
            <a:r>
              <a:rPr lang="en-US">
                <a:latin typeface="Arial"/>
                <a:ea typeface="Arial"/>
                <a:cs typeface="Arial"/>
                <a:sym typeface="Arial"/>
              </a:rPr>
              <a:t>ICD Complication: </a:t>
            </a:r>
            <a:br>
              <a:rPr lang="en-US">
                <a:latin typeface="Arial"/>
                <a:ea typeface="Arial"/>
                <a:cs typeface="Arial"/>
                <a:sym typeface="Arial"/>
              </a:rPr>
            </a:br>
            <a:r>
              <a:rPr lang="en-US">
                <a:latin typeface="Arial"/>
                <a:ea typeface="Arial"/>
                <a:cs typeface="Arial"/>
                <a:sym typeface="Arial"/>
              </a:rPr>
              <a:t>Inappropriate Shocks</a:t>
            </a:r>
            <a:endParaRPr/>
          </a:p>
        </p:txBody>
      </p:sp>
      <p:sp>
        <p:nvSpPr>
          <p:cNvPr id="443" name="Google Shape;443;p71"/>
          <p:cNvSpPr txBox="1">
            <a:spLocks noGrp="1"/>
          </p:cNvSpPr>
          <p:nvPr>
            <p:ph type="body" idx="1"/>
          </p:nvPr>
        </p:nvSpPr>
        <p:spPr>
          <a:xfrm>
            <a:off x="124692" y="1588770"/>
            <a:ext cx="8880246" cy="5174764"/>
          </a:xfrm>
          <a:prstGeom prst="rect">
            <a:avLst/>
          </a:prstGeom>
          <a:noFill/>
          <a:ln>
            <a:noFill/>
          </a:ln>
        </p:spPr>
        <p:txBody>
          <a:bodyPr spcFirstLastPara="1" wrap="square" lIns="88875" tIns="50775" rIns="88875" bIns="50775" anchor="t" anchorCtr="0">
            <a:normAutofit/>
          </a:bodyPr>
          <a:lstStyle/>
          <a:p>
            <a:pPr marL="457200" lvl="0" indent="-457200" algn="l" rtl="0">
              <a:lnSpc>
                <a:spcPct val="100000"/>
              </a:lnSpc>
              <a:spcBef>
                <a:spcPts val="492"/>
              </a:spcBef>
              <a:spcAft>
                <a:spcPts val="0"/>
              </a:spcAft>
              <a:buClr>
                <a:srgbClr val="000000"/>
              </a:buClr>
              <a:buSzPts val="3500"/>
              <a:buChar char="•"/>
            </a:pPr>
            <a:r>
              <a:rPr lang="en-US" b="0" i="0">
                <a:solidFill>
                  <a:srgbClr val="2A2A2A"/>
                </a:solidFill>
                <a:latin typeface="Calibri"/>
                <a:ea typeface="Calibri"/>
                <a:cs typeface="Calibri"/>
                <a:sym typeface="Calibri"/>
              </a:rPr>
              <a:t>Inappropriate shocks are a significant issue, since the patient is counseled to go to the ER immediately if their ICD shocks them.</a:t>
            </a:r>
            <a:endParaRPr/>
          </a:p>
          <a:p>
            <a:pPr marL="457200" lvl="0" indent="-234950" algn="l" rtl="0">
              <a:lnSpc>
                <a:spcPct val="100000"/>
              </a:lnSpc>
              <a:spcBef>
                <a:spcPts val="492"/>
              </a:spcBef>
              <a:spcAft>
                <a:spcPts val="0"/>
              </a:spcAft>
              <a:buClr>
                <a:srgbClr val="000000"/>
              </a:buClr>
              <a:buSzPts val="3500"/>
              <a:buNone/>
            </a:pPr>
            <a:endParaRPr b="0" i="0">
              <a:solidFill>
                <a:srgbClr val="2A2A2A"/>
              </a:solidFill>
              <a:latin typeface="Calibri"/>
              <a:ea typeface="Calibri"/>
              <a:cs typeface="Calibri"/>
              <a:sym typeface="Calibri"/>
            </a:endParaRPr>
          </a:p>
          <a:p>
            <a:pPr marL="457200" lvl="0" indent="-457200" algn="l" rtl="0">
              <a:lnSpc>
                <a:spcPct val="100000"/>
              </a:lnSpc>
              <a:spcBef>
                <a:spcPts val="492"/>
              </a:spcBef>
              <a:spcAft>
                <a:spcPts val="0"/>
              </a:spcAft>
              <a:buClr>
                <a:srgbClr val="000000"/>
              </a:buClr>
              <a:buSzPts val="3500"/>
              <a:buChar char="•"/>
            </a:pPr>
            <a:r>
              <a:rPr lang="en-US">
                <a:solidFill>
                  <a:srgbClr val="2A2A2A"/>
                </a:solidFill>
                <a:latin typeface="Calibri"/>
                <a:ea typeface="Calibri"/>
                <a:cs typeface="Calibri"/>
                <a:sym typeface="Calibri"/>
              </a:rPr>
              <a:t>In addition, ICD shocks HURT!</a:t>
            </a:r>
            <a:endParaRPr/>
          </a:p>
          <a:p>
            <a:pPr marL="457200" lvl="0" indent="-234950" algn="l" rtl="0">
              <a:lnSpc>
                <a:spcPct val="100000"/>
              </a:lnSpc>
              <a:spcBef>
                <a:spcPts val="492"/>
              </a:spcBef>
              <a:spcAft>
                <a:spcPts val="0"/>
              </a:spcAft>
              <a:buClr>
                <a:srgbClr val="000000"/>
              </a:buClr>
              <a:buSzPts val="3500"/>
              <a:buNone/>
            </a:pPr>
            <a:endParaRPr>
              <a:solidFill>
                <a:srgbClr val="2A2A2A"/>
              </a:solidFill>
              <a:latin typeface="Calibri"/>
              <a:ea typeface="Calibri"/>
              <a:cs typeface="Calibri"/>
              <a:sym typeface="Calibri"/>
            </a:endParaRPr>
          </a:p>
          <a:p>
            <a:pPr marL="457200" lvl="0" indent="-457200" algn="l" rtl="0">
              <a:lnSpc>
                <a:spcPct val="100000"/>
              </a:lnSpc>
              <a:spcBef>
                <a:spcPts val="492"/>
              </a:spcBef>
              <a:spcAft>
                <a:spcPts val="0"/>
              </a:spcAft>
              <a:buClr>
                <a:srgbClr val="000000"/>
              </a:buClr>
              <a:buSzPts val="3500"/>
              <a:buChar char="•"/>
            </a:pPr>
            <a:r>
              <a:rPr lang="en-US">
                <a:solidFill>
                  <a:srgbClr val="2A2A2A"/>
                </a:solidFill>
                <a:latin typeface="Calibri"/>
                <a:ea typeface="Calibri"/>
                <a:cs typeface="Calibri"/>
                <a:sym typeface="Calibri"/>
              </a:rPr>
              <a:t>Lastly, most cardiologists will recommend that patients with an ICD be shock free for six months before they drive.  </a:t>
            </a:r>
            <a:endParaRPr b="0" i="0">
              <a:solidFill>
                <a:srgbClr val="2A2A2A"/>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3491</Words>
  <Application>Microsoft Macintosh PowerPoint</Application>
  <PresentationFormat>On-screen Show (4:3)</PresentationFormat>
  <Paragraphs>294</Paragraphs>
  <Slides>56</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Proxima Nova</vt:lpstr>
      <vt:lpstr>Helvetica Neue Light</vt:lpstr>
      <vt:lpstr>Arial</vt:lpstr>
      <vt:lpstr>Calibri</vt:lpstr>
      <vt:lpstr>Office Theme</vt:lpstr>
      <vt:lpstr>Cardiac Devices</vt:lpstr>
      <vt:lpstr>Cardiac Devices</vt:lpstr>
      <vt:lpstr>Do They Need a Pacemaker?</vt:lpstr>
      <vt:lpstr>Do They Need a Pacemaker?</vt:lpstr>
      <vt:lpstr>Types of Pacemakers</vt:lpstr>
      <vt:lpstr>Types of Pacemakers</vt:lpstr>
      <vt:lpstr>Types of Pacemakers- Temporary</vt:lpstr>
      <vt:lpstr>Types of Pacemakers- Permanent</vt:lpstr>
      <vt:lpstr>Pacemakers Parts</vt:lpstr>
      <vt:lpstr>Pulse Generators</vt:lpstr>
      <vt:lpstr>Pacemakers Parts</vt:lpstr>
      <vt:lpstr>Pacemakers Leads-  Clinical Implications</vt:lpstr>
      <vt:lpstr>Pacemaker Indications</vt:lpstr>
      <vt:lpstr>Pacemaker Codes</vt:lpstr>
      <vt:lpstr>Pacemaker Code</vt:lpstr>
      <vt:lpstr>Pacemaker Code</vt:lpstr>
      <vt:lpstr>For Example</vt:lpstr>
      <vt:lpstr>PowerPoint Presentation</vt:lpstr>
      <vt:lpstr>Pacemaker Indications</vt:lpstr>
      <vt:lpstr>Permanent Pacemaker Placement</vt:lpstr>
      <vt:lpstr>Placing the Pacemaker</vt:lpstr>
      <vt:lpstr>Dr. Seldinger and His Wire</vt:lpstr>
      <vt:lpstr>Permanent Pacemaker Placement</vt:lpstr>
      <vt:lpstr>Permanent Pacemaker Placement</vt:lpstr>
      <vt:lpstr>Permanent Pacemaker Placement</vt:lpstr>
      <vt:lpstr>PowerPoint Presentation</vt:lpstr>
      <vt:lpstr>Implantable Cardioverter- Defibrillators (ICD)</vt:lpstr>
      <vt:lpstr>ICD</vt:lpstr>
      <vt:lpstr>ICDs</vt:lpstr>
      <vt:lpstr>ICDs and Pacemakers</vt:lpstr>
      <vt:lpstr>The Data Behind ICDs</vt:lpstr>
      <vt:lpstr>Indications for ICD Implantation</vt:lpstr>
      <vt:lpstr>Indications for ICD Implantation</vt:lpstr>
      <vt:lpstr>How Does an ICD Work?</vt:lpstr>
      <vt:lpstr>Implantable Cardioverter Defibrillators</vt:lpstr>
      <vt:lpstr>Implantable Cardioverter Defibrillators</vt:lpstr>
      <vt:lpstr>Device Precautions- All Devices</vt:lpstr>
      <vt:lpstr>Device Precautions- ACLS and PPM</vt:lpstr>
      <vt:lpstr>Device Precautions- ACLS and ICD</vt:lpstr>
      <vt:lpstr>PPM Precautions- Surgery</vt:lpstr>
      <vt:lpstr>PPM Precautions- Surgery</vt:lpstr>
      <vt:lpstr>ICD Precautions- Surgery</vt:lpstr>
      <vt:lpstr>PPM Precautions- Surgery</vt:lpstr>
      <vt:lpstr>PPM Management During Surgery</vt:lpstr>
      <vt:lpstr>ICD Management During Surgery</vt:lpstr>
      <vt:lpstr>Device Precautions- Surgery</vt:lpstr>
      <vt:lpstr>Device Precautions- Central Lines</vt:lpstr>
      <vt:lpstr>Device Precautions: EMI</vt:lpstr>
      <vt:lpstr>Device Precautions: EMI</vt:lpstr>
      <vt:lpstr>Device Replacement</vt:lpstr>
      <vt:lpstr>Lead Issues</vt:lpstr>
      <vt:lpstr>Device Infections</vt:lpstr>
      <vt:lpstr>Device Infection</vt:lpstr>
      <vt:lpstr>Device Infections</vt:lpstr>
      <vt:lpstr>ICD Complication:  Inappropriate Shocks</vt:lpstr>
      <vt:lpstr>ICD Complication:  Inappropriate Shocks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Gulczinski, Jill-Renae</dc:creator>
  <cp:lastModifiedBy>Gulczinski, Jill-Renae</cp:lastModifiedBy>
  <cp:revision>2</cp:revision>
  <dcterms:created xsi:type="dcterms:W3CDTF">2019-10-18T00:23:05Z</dcterms:created>
  <dcterms:modified xsi:type="dcterms:W3CDTF">2026-10-20T21:13:15Z</dcterms:modified>
</cp:coreProperties>
</file>