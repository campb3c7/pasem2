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notesMasterIdLst>
    <p:notesMasterId r:id="rId96"/>
  </p:notesMasterIdLst>
  <p:sldIdLst>
    <p:sldId id="267" r:id="rId4"/>
    <p:sldId id="411" r:id="rId5"/>
    <p:sldId id="268" r:id="rId6"/>
    <p:sldId id="269" r:id="rId7"/>
    <p:sldId id="282" r:id="rId8"/>
    <p:sldId id="270" r:id="rId9"/>
    <p:sldId id="286" r:id="rId10"/>
    <p:sldId id="273" r:id="rId11"/>
    <p:sldId id="274" r:id="rId12"/>
    <p:sldId id="392" r:id="rId13"/>
    <p:sldId id="289" r:id="rId14"/>
    <p:sldId id="391" r:id="rId15"/>
    <p:sldId id="272" r:id="rId16"/>
    <p:sldId id="394" r:id="rId17"/>
    <p:sldId id="403" r:id="rId18"/>
    <p:sldId id="275" r:id="rId19"/>
    <p:sldId id="283" r:id="rId20"/>
    <p:sldId id="288" r:id="rId21"/>
    <p:sldId id="292" r:id="rId22"/>
    <p:sldId id="277" r:id="rId23"/>
    <p:sldId id="332" r:id="rId24"/>
    <p:sldId id="295" r:id="rId25"/>
    <p:sldId id="395" r:id="rId26"/>
    <p:sldId id="321" r:id="rId27"/>
    <p:sldId id="320" r:id="rId28"/>
    <p:sldId id="323" r:id="rId29"/>
    <p:sldId id="396" r:id="rId30"/>
    <p:sldId id="325" r:id="rId31"/>
    <p:sldId id="326" r:id="rId32"/>
    <p:sldId id="327" r:id="rId33"/>
    <p:sldId id="334" r:id="rId34"/>
    <p:sldId id="328" r:id="rId35"/>
    <p:sldId id="329" r:id="rId36"/>
    <p:sldId id="330" r:id="rId37"/>
    <p:sldId id="331" r:id="rId38"/>
    <p:sldId id="333" r:id="rId39"/>
    <p:sldId id="350" r:id="rId40"/>
    <p:sldId id="351" r:id="rId41"/>
    <p:sldId id="352" r:id="rId42"/>
    <p:sldId id="335" r:id="rId43"/>
    <p:sldId id="397" r:id="rId44"/>
    <p:sldId id="398" r:id="rId45"/>
    <p:sldId id="279" r:id="rId46"/>
    <p:sldId id="353" r:id="rId47"/>
    <p:sldId id="408" r:id="rId48"/>
    <p:sldId id="354" r:id="rId49"/>
    <p:sldId id="355" r:id="rId50"/>
    <p:sldId id="409" r:id="rId51"/>
    <p:sldId id="356" r:id="rId52"/>
    <p:sldId id="357" r:id="rId53"/>
    <p:sldId id="293" r:id="rId54"/>
    <p:sldId id="276" r:id="rId55"/>
    <p:sldId id="358" r:id="rId56"/>
    <p:sldId id="371" r:id="rId57"/>
    <p:sldId id="359" r:id="rId58"/>
    <p:sldId id="400" r:id="rId59"/>
    <p:sldId id="369" r:id="rId60"/>
    <p:sldId id="367" r:id="rId61"/>
    <p:sldId id="368" r:id="rId62"/>
    <p:sldId id="401" r:id="rId63"/>
    <p:sldId id="402" r:id="rId64"/>
    <p:sldId id="278" r:id="rId65"/>
    <p:sldId id="385" r:id="rId66"/>
    <p:sldId id="257" r:id="rId67"/>
    <p:sldId id="387" r:id="rId68"/>
    <p:sldId id="389" r:id="rId69"/>
    <p:sldId id="404" r:id="rId70"/>
    <p:sldId id="390" r:id="rId71"/>
    <p:sldId id="294" r:id="rId72"/>
    <p:sldId id="280" r:id="rId73"/>
    <p:sldId id="361" r:id="rId74"/>
    <p:sldId id="363" r:id="rId75"/>
    <p:sldId id="362" r:id="rId76"/>
    <p:sldId id="364" r:id="rId77"/>
    <p:sldId id="365" r:id="rId78"/>
    <p:sldId id="366" r:id="rId79"/>
    <p:sldId id="406" r:id="rId80"/>
    <p:sldId id="290" r:id="rId81"/>
    <p:sldId id="370" r:id="rId82"/>
    <p:sldId id="373" r:id="rId83"/>
    <p:sldId id="374" r:id="rId84"/>
    <p:sldId id="375" r:id="rId85"/>
    <p:sldId id="377" r:id="rId86"/>
    <p:sldId id="378" r:id="rId87"/>
    <p:sldId id="379" r:id="rId88"/>
    <p:sldId id="281" r:id="rId89"/>
    <p:sldId id="380" r:id="rId90"/>
    <p:sldId id="384" r:id="rId91"/>
    <p:sldId id="381" r:id="rId92"/>
    <p:sldId id="382" r:id="rId93"/>
    <p:sldId id="383" r:id="rId94"/>
    <p:sldId id="410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668" autoAdjust="0"/>
  </p:normalViewPr>
  <p:slideViewPr>
    <p:cSldViewPr snapToGrid="0">
      <p:cViewPr varScale="1">
        <p:scale>
          <a:sx n="70" d="100"/>
          <a:sy n="70" d="100"/>
        </p:scale>
        <p:origin x="112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69.xml"/><Relationship Id="rId3" Type="http://schemas.openxmlformats.org/officeDocument/2006/relationships/slide" Target="../slides/slide51.xml"/><Relationship Id="rId7" Type="http://schemas.openxmlformats.org/officeDocument/2006/relationships/slide" Target="../slides/slide62.xml"/><Relationship Id="rId2" Type="http://schemas.openxmlformats.org/officeDocument/2006/relationships/slide" Target="../slides/slide19.xml"/><Relationship Id="rId1" Type="http://schemas.openxmlformats.org/officeDocument/2006/relationships/slide" Target="../slides/slide3.xml"/><Relationship Id="rId6" Type="http://schemas.openxmlformats.org/officeDocument/2006/relationships/slide" Target="../slides/slide52.xml"/><Relationship Id="rId11" Type="http://schemas.openxmlformats.org/officeDocument/2006/relationships/slide" Target="../slides/slide86.xml"/><Relationship Id="rId5" Type="http://schemas.openxmlformats.org/officeDocument/2006/relationships/slide" Target="../slides/slide43.xml"/><Relationship Id="rId10" Type="http://schemas.openxmlformats.org/officeDocument/2006/relationships/slide" Target="../slides/slide78.xml"/><Relationship Id="rId4" Type="http://schemas.openxmlformats.org/officeDocument/2006/relationships/slide" Target="../slides/slide20.xml"/><Relationship Id="rId9" Type="http://schemas.openxmlformats.org/officeDocument/2006/relationships/slide" Target="../slides/slide7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6DDCF6-A7B0-4D23-B9D6-0FC5C8386EA4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5D46FD-1184-4CA7-8A0B-7C51647E54A3}">
      <dgm:prSet phldrT="[Text]" custT="1"/>
      <dgm:spPr/>
      <dgm:t>
        <a:bodyPr/>
        <a:lstStyle/>
        <a:p>
          <a:r>
            <a:rPr lang="en-US" sz="3200" dirty="0">
              <a:hlinkClick xmlns:r="http://schemas.openxmlformats.org/officeDocument/2006/relationships" r:id="rId1" action="ppaction://hlinksldjump"/>
            </a:rPr>
            <a:t>General Overview</a:t>
          </a:r>
          <a:endParaRPr lang="en-US" sz="3200" dirty="0"/>
        </a:p>
      </dgm:t>
    </dgm:pt>
    <dgm:pt modelId="{A1BE4FF7-8D83-4B28-BDD5-E63BD2B95FFE}" type="parTrans" cxnId="{8D1A23F7-5F56-4981-9C7B-09887AF5A7A9}">
      <dgm:prSet/>
      <dgm:spPr/>
      <dgm:t>
        <a:bodyPr/>
        <a:lstStyle/>
        <a:p>
          <a:endParaRPr lang="en-US"/>
        </a:p>
      </dgm:t>
    </dgm:pt>
    <dgm:pt modelId="{99D22183-B9E0-4C33-A751-65458F6FEAA2}" type="sibTrans" cxnId="{8D1A23F7-5F56-4981-9C7B-09887AF5A7A9}">
      <dgm:prSet/>
      <dgm:spPr/>
      <dgm:t>
        <a:bodyPr/>
        <a:lstStyle/>
        <a:p>
          <a:endParaRPr lang="en-US"/>
        </a:p>
      </dgm:t>
    </dgm:pt>
    <dgm:pt modelId="{4B33D4C1-D5DE-471D-BBD5-71EC6391893C}">
      <dgm:prSet phldrT="[Text]" custT="1"/>
      <dgm:spPr/>
      <dgm:t>
        <a:bodyPr/>
        <a:lstStyle/>
        <a:p>
          <a:r>
            <a:rPr lang="en-US" sz="3200" dirty="0">
              <a:hlinkClick xmlns:r="http://schemas.openxmlformats.org/officeDocument/2006/relationships" r:id="rId2" action="ppaction://hlinksldjump"/>
            </a:rPr>
            <a:t>Genetic</a:t>
          </a:r>
          <a:endParaRPr lang="en-US" sz="3200" dirty="0"/>
        </a:p>
      </dgm:t>
    </dgm:pt>
    <dgm:pt modelId="{34CAB674-EE57-4DBD-B243-EC1EC5AF3C4F}" type="parTrans" cxnId="{4AEB17A9-1368-4140-9D01-4238FD382555}">
      <dgm:prSet/>
      <dgm:spPr/>
      <dgm:t>
        <a:bodyPr/>
        <a:lstStyle/>
        <a:p>
          <a:endParaRPr lang="en-US"/>
        </a:p>
      </dgm:t>
    </dgm:pt>
    <dgm:pt modelId="{9F2BA600-B469-4059-A361-83A32C6E89E9}" type="sibTrans" cxnId="{4AEB17A9-1368-4140-9D01-4238FD382555}">
      <dgm:prSet/>
      <dgm:spPr/>
      <dgm:t>
        <a:bodyPr/>
        <a:lstStyle/>
        <a:p>
          <a:endParaRPr lang="en-US"/>
        </a:p>
      </dgm:t>
    </dgm:pt>
    <dgm:pt modelId="{DDCC1DFA-2448-4FB6-9099-315030D5BC57}">
      <dgm:prSet phldrT="[Text]" custT="1"/>
      <dgm:spPr/>
      <dgm:t>
        <a:bodyPr/>
        <a:lstStyle/>
        <a:p>
          <a:r>
            <a:rPr lang="en-US" sz="3200" dirty="0">
              <a:hlinkClick xmlns:r="http://schemas.openxmlformats.org/officeDocument/2006/relationships" r:id="rId3" action="ppaction://hlinksldjump"/>
            </a:rPr>
            <a:t>Mixed</a:t>
          </a:r>
          <a:endParaRPr lang="en-US" sz="3200" dirty="0"/>
        </a:p>
      </dgm:t>
    </dgm:pt>
    <dgm:pt modelId="{3B74C4CB-2767-4ED1-B570-542698BB69A1}" type="parTrans" cxnId="{644CFFC5-BA79-46EA-8291-1F5F0D88E92C}">
      <dgm:prSet/>
      <dgm:spPr/>
      <dgm:t>
        <a:bodyPr/>
        <a:lstStyle/>
        <a:p>
          <a:endParaRPr lang="en-US"/>
        </a:p>
      </dgm:t>
    </dgm:pt>
    <dgm:pt modelId="{9CD906D2-754D-48F2-B81F-7921CB94E41D}" type="sibTrans" cxnId="{644CFFC5-BA79-46EA-8291-1F5F0D88E92C}">
      <dgm:prSet/>
      <dgm:spPr/>
      <dgm:t>
        <a:bodyPr/>
        <a:lstStyle/>
        <a:p>
          <a:endParaRPr lang="en-US"/>
        </a:p>
      </dgm:t>
    </dgm:pt>
    <dgm:pt modelId="{EEEE9E45-17C2-43C9-A027-6C023B80B604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4" action="ppaction://hlinksldjump"/>
            </a:rPr>
            <a:t>Hypertrophic Cardiomyopathy (HCM)</a:t>
          </a:r>
          <a:endParaRPr lang="en-US" dirty="0"/>
        </a:p>
      </dgm:t>
    </dgm:pt>
    <dgm:pt modelId="{536CB361-8B50-43DD-8306-6649A5FF9500}" type="parTrans" cxnId="{0D5BEBB6-0BEA-4859-B3D0-ADD475866DAD}">
      <dgm:prSet/>
      <dgm:spPr/>
      <dgm:t>
        <a:bodyPr/>
        <a:lstStyle/>
        <a:p>
          <a:endParaRPr lang="en-US"/>
        </a:p>
      </dgm:t>
    </dgm:pt>
    <dgm:pt modelId="{F0DC2CC7-241D-4883-9A3E-B453AB01B240}" type="sibTrans" cxnId="{0D5BEBB6-0BEA-4859-B3D0-ADD475866DAD}">
      <dgm:prSet/>
      <dgm:spPr/>
      <dgm:t>
        <a:bodyPr/>
        <a:lstStyle/>
        <a:p>
          <a:endParaRPr lang="en-US"/>
        </a:p>
      </dgm:t>
    </dgm:pt>
    <dgm:pt modelId="{E6DDF277-2E6A-497A-91FC-30F41891447E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5" action="ppaction://hlinksldjump"/>
            </a:rPr>
            <a:t>Arrhythmogenic Right Ventricular Cardiomyopathy (ARVC)</a:t>
          </a:r>
          <a:endParaRPr lang="en-US" dirty="0"/>
        </a:p>
      </dgm:t>
    </dgm:pt>
    <dgm:pt modelId="{D4C6F6DD-ADFC-481B-B9E5-30E34599DC4C}" type="parTrans" cxnId="{E692C8BF-4E29-418B-90A1-21E6DC69F164}">
      <dgm:prSet/>
      <dgm:spPr/>
      <dgm:t>
        <a:bodyPr/>
        <a:lstStyle/>
        <a:p>
          <a:endParaRPr lang="en-US"/>
        </a:p>
      </dgm:t>
    </dgm:pt>
    <dgm:pt modelId="{7C62E9C1-6524-4D65-934E-EED37AEC7F71}" type="sibTrans" cxnId="{E692C8BF-4E29-418B-90A1-21E6DC69F164}">
      <dgm:prSet/>
      <dgm:spPr/>
      <dgm:t>
        <a:bodyPr/>
        <a:lstStyle/>
        <a:p>
          <a:endParaRPr lang="en-US"/>
        </a:p>
      </dgm:t>
    </dgm:pt>
    <dgm:pt modelId="{BC06FCEC-7BFE-4C75-A148-8600619B662D}">
      <dgm:prSet phldrT="[Text]"/>
      <dgm:spPr/>
      <dgm:t>
        <a:bodyPr/>
        <a:lstStyle/>
        <a:p>
          <a:r>
            <a:rPr lang="en-US" dirty="0"/>
            <a:t>What cardiomyopathy is and isn’t</a:t>
          </a:r>
        </a:p>
      </dgm:t>
    </dgm:pt>
    <dgm:pt modelId="{61C7BB10-F9F6-45D8-9427-BE5E7DB4997A}" type="parTrans" cxnId="{B91A2E46-B7E6-417F-B532-E5E15B7B188B}">
      <dgm:prSet/>
      <dgm:spPr/>
      <dgm:t>
        <a:bodyPr/>
        <a:lstStyle/>
        <a:p>
          <a:endParaRPr lang="en-US"/>
        </a:p>
      </dgm:t>
    </dgm:pt>
    <dgm:pt modelId="{776C211B-0A74-4E92-965E-9CC934B70674}" type="sibTrans" cxnId="{B91A2E46-B7E6-417F-B532-E5E15B7B188B}">
      <dgm:prSet/>
      <dgm:spPr/>
      <dgm:t>
        <a:bodyPr/>
        <a:lstStyle/>
        <a:p>
          <a:endParaRPr lang="en-US"/>
        </a:p>
      </dgm:t>
    </dgm:pt>
    <dgm:pt modelId="{26BDB1B1-1A89-4881-BE59-0E439D124880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6" action="ppaction://hlinksldjump"/>
            </a:rPr>
            <a:t>Dilated Cardiomyopathy (DCM)</a:t>
          </a:r>
          <a:endParaRPr lang="en-US" dirty="0"/>
        </a:p>
      </dgm:t>
    </dgm:pt>
    <dgm:pt modelId="{B993E9B3-A3A3-49FE-A711-9898F448C88E}" type="parTrans" cxnId="{02A8C423-A5DF-4298-A14A-88D16A62FCEB}">
      <dgm:prSet/>
      <dgm:spPr/>
      <dgm:t>
        <a:bodyPr/>
        <a:lstStyle/>
        <a:p>
          <a:endParaRPr lang="en-US"/>
        </a:p>
      </dgm:t>
    </dgm:pt>
    <dgm:pt modelId="{5637D6B0-8A4A-4D06-A2E7-2EAAE0EA6D20}" type="sibTrans" cxnId="{02A8C423-A5DF-4298-A14A-88D16A62FCEB}">
      <dgm:prSet/>
      <dgm:spPr/>
      <dgm:t>
        <a:bodyPr/>
        <a:lstStyle/>
        <a:p>
          <a:endParaRPr lang="en-US"/>
        </a:p>
      </dgm:t>
    </dgm:pt>
    <dgm:pt modelId="{BBC87995-1EA4-4622-85D2-7DFCCF9A6681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7" action="ppaction://hlinksldjump"/>
            </a:rPr>
            <a:t>Restrictive Cardiomyopathy (RCM)</a:t>
          </a:r>
          <a:endParaRPr lang="en-US" dirty="0"/>
        </a:p>
      </dgm:t>
    </dgm:pt>
    <dgm:pt modelId="{C5A45A64-C7EA-4A2C-8138-E220258744A7}" type="parTrans" cxnId="{C5CFBBB2-F571-4768-96E3-69F300DECF32}">
      <dgm:prSet/>
      <dgm:spPr/>
      <dgm:t>
        <a:bodyPr/>
        <a:lstStyle/>
        <a:p>
          <a:endParaRPr lang="en-US"/>
        </a:p>
      </dgm:t>
    </dgm:pt>
    <dgm:pt modelId="{FE917F4A-C732-42AE-BF97-D281B317234A}" type="sibTrans" cxnId="{C5CFBBB2-F571-4768-96E3-69F300DECF32}">
      <dgm:prSet/>
      <dgm:spPr/>
      <dgm:t>
        <a:bodyPr/>
        <a:lstStyle/>
        <a:p>
          <a:endParaRPr lang="en-US"/>
        </a:p>
      </dgm:t>
    </dgm:pt>
    <dgm:pt modelId="{665FA6D7-B8DA-4102-9763-926768BE4FEC}">
      <dgm:prSet phldrT="[Text]" custT="1"/>
      <dgm:spPr/>
      <dgm:t>
        <a:bodyPr/>
        <a:lstStyle/>
        <a:p>
          <a:r>
            <a:rPr lang="en-US" sz="3200" dirty="0">
              <a:hlinkClick xmlns:r="http://schemas.openxmlformats.org/officeDocument/2006/relationships" r:id="rId8" action="ppaction://hlinksldjump"/>
            </a:rPr>
            <a:t>Acquired</a:t>
          </a:r>
          <a:endParaRPr lang="en-US" sz="3200" dirty="0"/>
        </a:p>
      </dgm:t>
    </dgm:pt>
    <dgm:pt modelId="{9F740EEE-B2B1-4EA7-8D1E-5E2398422C4C}" type="parTrans" cxnId="{1BAD62FE-2629-4ADE-B475-E20FF98F3691}">
      <dgm:prSet/>
      <dgm:spPr/>
      <dgm:t>
        <a:bodyPr/>
        <a:lstStyle/>
        <a:p>
          <a:endParaRPr lang="en-US"/>
        </a:p>
      </dgm:t>
    </dgm:pt>
    <dgm:pt modelId="{362DD665-0EF4-4306-B7EB-4BD1D39126DF}" type="sibTrans" cxnId="{1BAD62FE-2629-4ADE-B475-E20FF98F3691}">
      <dgm:prSet/>
      <dgm:spPr/>
      <dgm:t>
        <a:bodyPr/>
        <a:lstStyle/>
        <a:p>
          <a:endParaRPr lang="en-US"/>
        </a:p>
      </dgm:t>
    </dgm:pt>
    <dgm:pt modelId="{3D80DD34-EDF0-44B2-8198-64487611BB04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9" action="ppaction://hlinksldjump"/>
            </a:rPr>
            <a:t>Myocarditis</a:t>
          </a:r>
          <a:endParaRPr lang="en-US" dirty="0"/>
        </a:p>
      </dgm:t>
    </dgm:pt>
    <dgm:pt modelId="{91DA8C44-C62F-4BF4-9F42-70E4E5818E6C}" type="parTrans" cxnId="{9EE7A9D7-BE8D-4042-A922-E30DA57147BE}">
      <dgm:prSet/>
      <dgm:spPr/>
      <dgm:t>
        <a:bodyPr/>
        <a:lstStyle/>
        <a:p>
          <a:endParaRPr lang="en-US"/>
        </a:p>
      </dgm:t>
    </dgm:pt>
    <dgm:pt modelId="{A98D0E00-17AD-4BC2-907E-E61647D80263}" type="sibTrans" cxnId="{9EE7A9D7-BE8D-4042-A922-E30DA57147BE}">
      <dgm:prSet/>
      <dgm:spPr/>
      <dgm:t>
        <a:bodyPr/>
        <a:lstStyle/>
        <a:p>
          <a:endParaRPr lang="en-US"/>
        </a:p>
      </dgm:t>
    </dgm:pt>
    <dgm:pt modelId="{FE5083C8-30CF-4C75-B70A-2BC5F650CB0A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10" action="ppaction://hlinksldjump"/>
            </a:rPr>
            <a:t>Peripartum Cardiomyopathy (PPCM)</a:t>
          </a:r>
          <a:endParaRPr lang="en-US" dirty="0"/>
        </a:p>
      </dgm:t>
    </dgm:pt>
    <dgm:pt modelId="{8141EB83-C3EF-47C8-A8D5-D0B07F0BEDF4}" type="parTrans" cxnId="{3D8501A2-32CB-4F4E-899A-C39408CE8266}">
      <dgm:prSet/>
      <dgm:spPr/>
      <dgm:t>
        <a:bodyPr/>
        <a:lstStyle/>
        <a:p>
          <a:endParaRPr lang="en-US"/>
        </a:p>
      </dgm:t>
    </dgm:pt>
    <dgm:pt modelId="{6E30EED0-5FE2-4ADC-85ED-BDBB6266D8BF}" type="sibTrans" cxnId="{3D8501A2-32CB-4F4E-899A-C39408CE8266}">
      <dgm:prSet/>
      <dgm:spPr/>
      <dgm:t>
        <a:bodyPr/>
        <a:lstStyle/>
        <a:p>
          <a:endParaRPr lang="en-US"/>
        </a:p>
      </dgm:t>
    </dgm:pt>
    <dgm:pt modelId="{5C2D23A1-0370-4E4F-B585-CA18C4CB4DFF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11" action="ppaction://hlinksldjump"/>
            </a:rPr>
            <a:t>Tako-Tsubo Cardiomyopathy</a:t>
          </a:r>
          <a:endParaRPr lang="en-US" dirty="0"/>
        </a:p>
      </dgm:t>
    </dgm:pt>
    <dgm:pt modelId="{77B25899-3290-4492-A2E3-40AEBA27E2CA}" type="parTrans" cxnId="{6661A3D6-C2C5-4929-B959-254431CA96C2}">
      <dgm:prSet/>
      <dgm:spPr/>
      <dgm:t>
        <a:bodyPr/>
        <a:lstStyle/>
        <a:p>
          <a:endParaRPr lang="en-US"/>
        </a:p>
      </dgm:t>
    </dgm:pt>
    <dgm:pt modelId="{93C6F9B0-84B9-4541-8424-51E6EEFF58CE}" type="sibTrans" cxnId="{6661A3D6-C2C5-4929-B959-254431CA96C2}">
      <dgm:prSet/>
      <dgm:spPr/>
      <dgm:t>
        <a:bodyPr/>
        <a:lstStyle/>
        <a:p>
          <a:endParaRPr lang="en-US"/>
        </a:p>
      </dgm:t>
    </dgm:pt>
    <dgm:pt modelId="{189646C7-4FFE-4E0F-873E-F51FFAEF9055}" type="pres">
      <dgm:prSet presAssocID="{E86DDCF6-A7B0-4D23-B9D6-0FC5C8386EA4}" presName="linear" presStyleCnt="0">
        <dgm:presLayoutVars>
          <dgm:dir/>
          <dgm:animLvl val="lvl"/>
          <dgm:resizeHandles val="exact"/>
        </dgm:presLayoutVars>
      </dgm:prSet>
      <dgm:spPr/>
    </dgm:pt>
    <dgm:pt modelId="{34E43B56-D21A-4478-9301-D1C79D474708}" type="pres">
      <dgm:prSet presAssocID="{095D46FD-1184-4CA7-8A0B-7C51647E54A3}" presName="parentLin" presStyleCnt="0"/>
      <dgm:spPr/>
    </dgm:pt>
    <dgm:pt modelId="{32C6312C-6526-4EFD-93BE-CE57B983926A}" type="pres">
      <dgm:prSet presAssocID="{095D46FD-1184-4CA7-8A0B-7C51647E54A3}" presName="parentLeftMargin" presStyleLbl="node1" presStyleIdx="0" presStyleCnt="4"/>
      <dgm:spPr/>
    </dgm:pt>
    <dgm:pt modelId="{BDA528AE-9A15-4211-B2B1-42D534DBEB84}" type="pres">
      <dgm:prSet presAssocID="{095D46FD-1184-4CA7-8A0B-7C51647E54A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E1937B-D379-4795-965F-0C43630EFECC}" type="pres">
      <dgm:prSet presAssocID="{095D46FD-1184-4CA7-8A0B-7C51647E54A3}" presName="negativeSpace" presStyleCnt="0"/>
      <dgm:spPr/>
    </dgm:pt>
    <dgm:pt modelId="{E1504DF1-1FBB-4A63-ADB9-011438E22BB4}" type="pres">
      <dgm:prSet presAssocID="{095D46FD-1184-4CA7-8A0B-7C51647E54A3}" presName="childText" presStyleLbl="conFgAcc1" presStyleIdx="0" presStyleCnt="4" custLinFactNeighborX="262">
        <dgm:presLayoutVars>
          <dgm:bulletEnabled val="1"/>
        </dgm:presLayoutVars>
      </dgm:prSet>
      <dgm:spPr/>
    </dgm:pt>
    <dgm:pt modelId="{E3F7ECF4-6DD4-4229-9E54-C420DC56C57B}" type="pres">
      <dgm:prSet presAssocID="{99D22183-B9E0-4C33-A751-65458F6FEAA2}" presName="spaceBetweenRectangles" presStyleCnt="0"/>
      <dgm:spPr/>
    </dgm:pt>
    <dgm:pt modelId="{1602EC00-09E4-412B-84E4-C91E9C8020DE}" type="pres">
      <dgm:prSet presAssocID="{4B33D4C1-D5DE-471D-BBD5-71EC6391893C}" presName="parentLin" presStyleCnt="0"/>
      <dgm:spPr/>
    </dgm:pt>
    <dgm:pt modelId="{4D0562F7-987A-4640-AA74-486A3A831AC3}" type="pres">
      <dgm:prSet presAssocID="{4B33D4C1-D5DE-471D-BBD5-71EC6391893C}" presName="parentLeftMargin" presStyleLbl="node1" presStyleIdx="0" presStyleCnt="4"/>
      <dgm:spPr/>
    </dgm:pt>
    <dgm:pt modelId="{D92BCA19-046F-4814-AD63-BBCC1E97F7C1}" type="pres">
      <dgm:prSet presAssocID="{4B33D4C1-D5DE-471D-BBD5-71EC639189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74F522-2F82-45E6-8062-6580CDE6C1BD}" type="pres">
      <dgm:prSet presAssocID="{4B33D4C1-D5DE-471D-BBD5-71EC6391893C}" presName="negativeSpace" presStyleCnt="0"/>
      <dgm:spPr/>
    </dgm:pt>
    <dgm:pt modelId="{EB2614E3-70DA-45DF-B6D5-EFC888923D17}" type="pres">
      <dgm:prSet presAssocID="{4B33D4C1-D5DE-471D-BBD5-71EC6391893C}" presName="childText" presStyleLbl="conFgAcc1" presStyleIdx="1" presStyleCnt="4" custLinFactNeighborX="393">
        <dgm:presLayoutVars>
          <dgm:bulletEnabled val="1"/>
        </dgm:presLayoutVars>
      </dgm:prSet>
      <dgm:spPr/>
    </dgm:pt>
    <dgm:pt modelId="{6084C7C7-3BFC-4911-A20C-3DDAB49FE3D8}" type="pres">
      <dgm:prSet presAssocID="{9F2BA600-B469-4059-A361-83A32C6E89E9}" presName="spaceBetweenRectangles" presStyleCnt="0"/>
      <dgm:spPr/>
    </dgm:pt>
    <dgm:pt modelId="{6DE18AA2-7706-4A72-BD44-C6F80274A441}" type="pres">
      <dgm:prSet presAssocID="{DDCC1DFA-2448-4FB6-9099-315030D5BC57}" presName="parentLin" presStyleCnt="0"/>
      <dgm:spPr/>
    </dgm:pt>
    <dgm:pt modelId="{3FF2CAF5-00F7-4D20-AE6D-BE989B5C0725}" type="pres">
      <dgm:prSet presAssocID="{DDCC1DFA-2448-4FB6-9099-315030D5BC57}" presName="parentLeftMargin" presStyleLbl="node1" presStyleIdx="1" presStyleCnt="4"/>
      <dgm:spPr/>
    </dgm:pt>
    <dgm:pt modelId="{3CF492ED-6D2D-42C8-AC93-A1BC6FBDA0CE}" type="pres">
      <dgm:prSet presAssocID="{DDCC1DFA-2448-4FB6-9099-315030D5BC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FD47374-5331-468B-80CA-BFB11B3D0F0D}" type="pres">
      <dgm:prSet presAssocID="{DDCC1DFA-2448-4FB6-9099-315030D5BC57}" presName="negativeSpace" presStyleCnt="0"/>
      <dgm:spPr/>
    </dgm:pt>
    <dgm:pt modelId="{91039DCC-42DD-4965-A71F-342B27618F02}" type="pres">
      <dgm:prSet presAssocID="{DDCC1DFA-2448-4FB6-9099-315030D5BC57}" presName="childText" presStyleLbl="conFgAcc1" presStyleIdx="2" presStyleCnt="4" custLinFactNeighborX="393">
        <dgm:presLayoutVars>
          <dgm:bulletEnabled val="1"/>
        </dgm:presLayoutVars>
      </dgm:prSet>
      <dgm:spPr/>
    </dgm:pt>
    <dgm:pt modelId="{84459691-F280-48E4-BC90-05EBF166CCE3}" type="pres">
      <dgm:prSet presAssocID="{9CD906D2-754D-48F2-B81F-7921CB94E41D}" presName="spaceBetweenRectangles" presStyleCnt="0"/>
      <dgm:spPr/>
    </dgm:pt>
    <dgm:pt modelId="{3DC21B85-D92E-414D-8C61-6A192ED717AE}" type="pres">
      <dgm:prSet presAssocID="{665FA6D7-B8DA-4102-9763-926768BE4FEC}" presName="parentLin" presStyleCnt="0"/>
      <dgm:spPr/>
    </dgm:pt>
    <dgm:pt modelId="{E028A992-9CF1-413E-879A-2196CFC66B59}" type="pres">
      <dgm:prSet presAssocID="{665FA6D7-B8DA-4102-9763-926768BE4FEC}" presName="parentLeftMargin" presStyleLbl="node1" presStyleIdx="2" presStyleCnt="4"/>
      <dgm:spPr/>
    </dgm:pt>
    <dgm:pt modelId="{CAA51C13-7248-4AD0-8B44-6A08FC08FD85}" type="pres">
      <dgm:prSet presAssocID="{665FA6D7-B8DA-4102-9763-926768BE4FE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81E8DD1-1F45-4408-8206-DF803BABC2CA}" type="pres">
      <dgm:prSet presAssocID="{665FA6D7-B8DA-4102-9763-926768BE4FEC}" presName="negativeSpace" presStyleCnt="0"/>
      <dgm:spPr/>
    </dgm:pt>
    <dgm:pt modelId="{83096D71-4D02-4102-9FC7-ECC3F6E681A7}" type="pres">
      <dgm:prSet presAssocID="{665FA6D7-B8DA-4102-9763-926768BE4FEC}" presName="childText" presStyleLbl="conFgAcc1" presStyleIdx="3" presStyleCnt="4" custLinFactNeighborX="393">
        <dgm:presLayoutVars>
          <dgm:bulletEnabled val="1"/>
        </dgm:presLayoutVars>
      </dgm:prSet>
      <dgm:spPr/>
    </dgm:pt>
  </dgm:ptLst>
  <dgm:cxnLst>
    <dgm:cxn modelId="{C03E5F11-D6F9-4D35-BC1B-4A1E448A2695}" type="presOf" srcId="{DDCC1DFA-2448-4FB6-9099-315030D5BC57}" destId="{3FF2CAF5-00F7-4D20-AE6D-BE989B5C0725}" srcOrd="0" destOrd="0" presId="urn:microsoft.com/office/officeart/2005/8/layout/list1"/>
    <dgm:cxn modelId="{AE6C2E18-CE48-4A79-B40F-F75C314E1BDF}" type="presOf" srcId="{BBC87995-1EA4-4622-85D2-7DFCCF9A6681}" destId="{91039DCC-42DD-4965-A71F-342B27618F02}" srcOrd="0" destOrd="1" presId="urn:microsoft.com/office/officeart/2005/8/layout/list1"/>
    <dgm:cxn modelId="{02A8C423-A5DF-4298-A14A-88D16A62FCEB}" srcId="{DDCC1DFA-2448-4FB6-9099-315030D5BC57}" destId="{26BDB1B1-1A89-4881-BE59-0E439D124880}" srcOrd="0" destOrd="0" parTransId="{B993E9B3-A3A3-49FE-A711-9898F448C88E}" sibTransId="{5637D6B0-8A4A-4D06-A2E7-2EAAE0EA6D20}"/>
    <dgm:cxn modelId="{78509C25-5EB4-48EF-A89D-9A9626EB8FCF}" type="presOf" srcId="{665FA6D7-B8DA-4102-9763-926768BE4FEC}" destId="{CAA51C13-7248-4AD0-8B44-6A08FC08FD85}" srcOrd="1" destOrd="0" presId="urn:microsoft.com/office/officeart/2005/8/layout/list1"/>
    <dgm:cxn modelId="{963DF625-7569-436B-A4C5-CA9BCAB4B962}" type="presOf" srcId="{095D46FD-1184-4CA7-8A0B-7C51647E54A3}" destId="{32C6312C-6526-4EFD-93BE-CE57B983926A}" srcOrd="0" destOrd="0" presId="urn:microsoft.com/office/officeart/2005/8/layout/list1"/>
    <dgm:cxn modelId="{470A662A-787B-4CA7-91FA-D97CC5C0DBD9}" type="presOf" srcId="{BC06FCEC-7BFE-4C75-A148-8600619B662D}" destId="{E1504DF1-1FBB-4A63-ADB9-011438E22BB4}" srcOrd="0" destOrd="0" presId="urn:microsoft.com/office/officeart/2005/8/layout/list1"/>
    <dgm:cxn modelId="{880FCA2F-0C34-4FAB-93CC-C89301213D98}" type="presOf" srcId="{665FA6D7-B8DA-4102-9763-926768BE4FEC}" destId="{E028A992-9CF1-413E-879A-2196CFC66B59}" srcOrd="0" destOrd="0" presId="urn:microsoft.com/office/officeart/2005/8/layout/list1"/>
    <dgm:cxn modelId="{89DAB15C-6E86-45BB-9E17-0BC5E9F7064D}" type="presOf" srcId="{E6DDF277-2E6A-497A-91FC-30F41891447E}" destId="{EB2614E3-70DA-45DF-B6D5-EFC888923D17}" srcOrd="0" destOrd="1" presId="urn:microsoft.com/office/officeart/2005/8/layout/list1"/>
    <dgm:cxn modelId="{4B21405F-3D44-4404-9409-CD4D3D56A802}" type="presOf" srcId="{4B33D4C1-D5DE-471D-BBD5-71EC6391893C}" destId="{4D0562F7-987A-4640-AA74-486A3A831AC3}" srcOrd="0" destOrd="0" presId="urn:microsoft.com/office/officeart/2005/8/layout/list1"/>
    <dgm:cxn modelId="{B91A2E46-B7E6-417F-B532-E5E15B7B188B}" srcId="{095D46FD-1184-4CA7-8A0B-7C51647E54A3}" destId="{BC06FCEC-7BFE-4C75-A148-8600619B662D}" srcOrd="0" destOrd="0" parTransId="{61C7BB10-F9F6-45D8-9427-BE5E7DB4997A}" sibTransId="{776C211B-0A74-4E92-965E-9CC934B70674}"/>
    <dgm:cxn modelId="{43CA7F68-C91E-4CF1-BDE0-0510D9BDE224}" type="presOf" srcId="{4B33D4C1-D5DE-471D-BBD5-71EC6391893C}" destId="{D92BCA19-046F-4814-AD63-BBCC1E97F7C1}" srcOrd="1" destOrd="0" presId="urn:microsoft.com/office/officeart/2005/8/layout/list1"/>
    <dgm:cxn modelId="{7F8DC38B-DDF7-4A63-A231-2A0A86BD24EB}" type="presOf" srcId="{5C2D23A1-0370-4E4F-B585-CA18C4CB4DFF}" destId="{83096D71-4D02-4102-9FC7-ECC3F6E681A7}" srcOrd="0" destOrd="2" presId="urn:microsoft.com/office/officeart/2005/8/layout/list1"/>
    <dgm:cxn modelId="{6F0C258D-B16A-4CC2-9618-677C5402312C}" type="presOf" srcId="{26BDB1B1-1A89-4881-BE59-0E439D124880}" destId="{91039DCC-42DD-4965-A71F-342B27618F02}" srcOrd="0" destOrd="0" presId="urn:microsoft.com/office/officeart/2005/8/layout/list1"/>
    <dgm:cxn modelId="{0C0C2F95-E48C-4A4B-BE43-9E3956D183CF}" type="presOf" srcId="{DDCC1DFA-2448-4FB6-9099-315030D5BC57}" destId="{3CF492ED-6D2D-42C8-AC93-A1BC6FBDA0CE}" srcOrd="1" destOrd="0" presId="urn:microsoft.com/office/officeart/2005/8/layout/list1"/>
    <dgm:cxn modelId="{3D8501A2-32CB-4F4E-899A-C39408CE8266}" srcId="{665FA6D7-B8DA-4102-9763-926768BE4FEC}" destId="{FE5083C8-30CF-4C75-B70A-2BC5F650CB0A}" srcOrd="1" destOrd="0" parTransId="{8141EB83-C3EF-47C8-A8D5-D0B07F0BEDF4}" sibTransId="{6E30EED0-5FE2-4ADC-85ED-BDBB6266D8BF}"/>
    <dgm:cxn modelId="{4AEB17A9-1368-4140-9D01-4238FD382555}" srcId="{E86DDCF6-A7B0-4D23-B9D6-0FC5C8386EA4}" destId="{4B33D4C1-D5DE-471D-BBD5-71EC6391893C}" srcOrd="1" destOrd="0" parTransId="{34CAB674-EE57-4DBD-B243-EC1EC5AF3C4F}" sibTransId="{9F2BA600-B469-4059-A361-83A32C6E89E9}"/>
    <dgm:cxn modelId="{C5CFBBB2-F571-4768-96E3-69F300DECF32}" srcId="{DDCC1DFA-2448-4FB6-9099-315030D5BC57}" destId="{BBC87995-1EA4-4622-85D2-7DFCCF9A6681}" srcOrd="1" destOrd="0" parTransId="{C5A45A64-C7EA-4A2C-8138-E220258744A7}" sibTransId="{FE917F4A-C732-42AE-BF97-D281B317234A}"/>
    <dgm:cxn modelId="{0D5BEBB6-0BEA-4859-B3D0-ADD475866DAD}" srcId="{4B33D4C1-D5DE-471D-BBD5-71EC6391893C}" destId="{EEEE9E45-17C2-43C9-A027-6C023B80B604}" srcOrd="0" destOrd="0" parTransId="{536CB361-8B50-43DD-8306-6649A5FF9500}" sibTransId="{F0DC2CC7-241D-4883-9A3E-B453AB01B240}"/>
    <dgm:cxn modelId="{E692C8BF-4E29-418B-90A1-21E6DC69F164}" srcId="{4B33D4C1-D5DE-471D-BBD5-71EC6391893C}" destId="{E6DDF277-2E6A-497A-91FC-30F41891447E}" srcOrd="1" destOrd="0" parTransId="{D4C6F6DD-ADFC-481B-B9E5-30E34599DC4C}" sibTransId="{7C62E9C1-6524-4D65-934E-EED37AEC7F71}"/>
    <dgm:cxn modelId="{644CFFC5-BA79-46EA-8291-1F5F0D88E92C}" srcId="{E86DDCF6-A7B0-4D23-B9D6-0FC5C8386EA4}" destId="{DDCC1DFA-2448-4FB6-9099-315030D5BC57}" srcOrd="2" destOrd="0" parTransId="{3B74C4CB-2767-4ED1-B570-542698BB69A1}" sibTransId="{9CD906D2-754D-48F2-B81F-7921CB94E41D}"/>
    <dgm:cxn modelId="{715530D1-D7F7-48EE-B7D6-1F06A90C7EB8}" type="presOf" srcId="{095D46FD-1184-4CA7-8A0B-7C51647E54A3}" destId="{BDA528AE-9A15-4211-B2B1-42D534DBEB84}" srcOrd="1" destOrd="0" presId="urn:microsoft.com/office/officeart/2005/8/layout/list1"/>
    <dgm:cxn modelId="{6661A3D6-C2C5-4929-B959-254431CA96C2}" srcId="{665FA6D7-B8DA-4102-9763-926768BE4FEC}" destId="{5C2D23A1-0370-4E4F-B585-CA18C4CB4DFF}" srcOrd="2" destOrd="0" parTransId="{77B25899-3290-4492-A2E3-40AEBA27E2CA}" sibTransId="{93C6F9B0-84B9-4541-8424-51E6EEFF58CE}"/>
    <dgm:cxn modelId="{9EE7A9D7-BE8D-4042-A922-E30DA57147BE}" srcId="{665FA6D7-B8DA-4102-9763-926768BE4FEC}" destId="{3D80DD34-EDF0-44B2-8198-64487611BB04}" srcOrd="0" destOrd="0" parTransId="{91DA8C44-C62F-4BF4-9F42-70E4E5818E6C}" sibTransId="{A98D0E00-17AD-4BC2-907E-E61647D80263}"/>
    <dgm:cxn modelId="{A5F991E1-FC56-4BC1-AA54-C6BF68558204}" type="presOf" srcId="{3D80DD34-EDF0-44B2-8198-64487611BB04}" destId="{83096D71-4D02-4102-9FC7-ECC3F6E681A7}" srcOrd="0" destOrd="0" presId="urn:microsoft.com/office/officeart/2005/8/layout/list1"/>
    <dgm:cxn modelId="{CF6DABEA-9BAE-4E5D-A90E-C897818561F2}" type="presOf" srcId="{FE5083C8-30CF-4C75-B70A-2BC5F650CB0A}" destId="{83096D71-4D02-4102-9FC7-ECC3F6E681A7}" srcOrd="0" destOrd="1" presId="urn:microsoft.com/office/officeart/2005/8/layout/list1"/>
    <dgm:cxn modelId="{595B47EC-9E9B-447F-9905-AFD63B1E6899}" type="presOf" srcId="{E86DDCF6-A7B0-4D23-B9D6-0FC5C8386EA4}" destId="{189646C7-4FFE-4E0F-873E-F51FFAEF9055}" srcOrd="0" destOrd="0" presId="urn:microsoft.com/office/officeart/2005/8/layout/list1"/>
    <dgm:cxn modelId="{170CA1EC-419C-4C8B-A54D-E40189C6E56F}" type="presOf" srcId="{EEEE9E45-17C2-43C9-A027-6C023B80B604}" destId="{EB2614E3-70DA-45DF-B6D5-EFC888923D17}" srcOrd="0" destOrd="0" presId="urn:microsoft.com/office/officeart/2005/8/layout/list1"/>
    <dgm:cxn modelId="{8D1A23F7-5F56-4981-9C7B-09887AF5A7A9}" srcId="{E86DDCF6-A7B0-4D23-B9D6-0FC5C8386EA4}" destId="{095D46FD-1184-4CA7-8A0B-7C51647E54A3}" srcOrd="0" destOrd="0" parTransId="{A1BE4FF7-8D83-4B28-BDD5-E63BD2B95FFE}" sibTransId="{99D22183-B9E0-4C33-A751-65458F6FEAA2}"/>
    <dgm:cxn modelId="{1BAD62FE-2629-4ADE-B475-E20FF98F3691}" srcId="{E86DDCF6-A7B0-4D23-B9D6-0FC5C8386EA4}" destId="{665FA6D7-B8DA-4102-9763-926768BE4FEC}" srcOrd="3" destOrd="0" parTransId="{9F740EEE-B2B1-4EA7-8D1E-5E2398422C4C}" sibTransId="{362DD665-0EF4-4306-B7EB-4BD1D39126DF}"/>
    <dgm:cxn modelId="{895742FE-9095-4D43-A23F-03A5D3190358}" type="presParOf" srcId="{189646C7-4FFE-4E0F-873E-F51FFAEF9055}" destId="{34E43B56-D21A-4478-9301-D1C79D474708}" srcOrd="0" destOrd="0" presId="urn:microsoft.com/office/officeart/2005/8/layout/list1"/>
    <dgm:cxn modelId="{E25DD040-81CD-4E27-85C3-C41460076E83}" type="presParOf" srcId="{34E43B56-D21A-4478-9301-D1C79D474708}" destId="{32C6312C-6526-4EFD-93BE-CE57B983926A}" srcOrd="0" destOrd="0" presId="urn:microsoft.com/office/officeart/2005/8/layout/list1"/>
    <dgm:cxn modelId="{0B3423FA-A15E-4010-AAD8-214944744E71}" type="presParOf" srcId="{34E43B56-D21A-4478-9301-D1C79D474708}" destId="{BDA528AE-9A15-4211-B2B1-42D534DBEB84}" srcOrd="1" destOrd="0" presId="urn:microsoft.com/office/officeart/2005/8/layout/list1"/>
    <dgm:cxn modelId="{32FAE8AC-3493-49E4-B156-41447454A052}" type="presParOf" srcId="{189646C7-4FFE-4E0F-873E-F51FFAEF9055}" destId="{A9E1937B-D379-4795-965F-0C43630EFECC}" srcOrd="1" destOrd="0" presId="urn:microsoft.com/office/officeart/2005/8/layout/list1"/>
    <dgm:cxn modelId="{47BD19F1-76EE-4382-A691-28E59F4A916D}" type="presParOf" srcId="{189646C7-4FFE-4E0F-873E-F51FFAEF9055}" destId="{E1504DF1-1FBB-4A63-ADB9-011438E22BB4}" srcOrd="2" destOrd="0" presId="urn:microsoft.com/office/officeart/2005/8/layout/list1"/>
    <dgm:cxn modelId="{92386DF1-4FC3-44C8-9946-668743CDB6ED}" type="presParOf" srcId="{189646C7-4FFE-4E0F-873E-F51FFAEF9055}" destId="{E3F7ECF4-6DD4-4229-9E54-C420DC56C57B}" srcOrd="3" destOrd="0" presId="urn:microsoft.com/office/officeart/2005/8/layout/list1"/>
    <dgm:cxn modelId="{EDCFC60B-9AE0-4A96-8681-D305FC92C7FB}" type="presParOf" srcId="{189646C7-4FFE-4E0F-873E-F51FFAEF9055}" destId="{1602EC00-09E4-412B-84E4-C91E9C8020DE}" srcOrd="4" destOrd="0" presId="urn:microsoft.com/office/officeart/2005/8/layout/list1"/>
    <dgm:cxn modelId="{7AD2DB68-8700-40D2-9B6A-368BFCABB476}" type="presParOf" srcId="{1602EC00-09E4-412B-84E4-C91E9C8020DE}" destId="{4D0562F7-987A-4640-AA74-486A3A831AC3}" srcOrd="0" destOrd="0" presId="urn:microsoft.com/office/officeart/2005/8/layout/list1"/>
    <dgm:cxn modelId="{A50EF37D-E72D-4648-A9F5-F10A4C286BB0}" type="presParOf" srcId="{1602EC00-09E4-412B-84E4-C91E9C8020DE}" destId="{D92BCA19-046F-4814-AD63-BBCC1E97F7C1}" srcOrd="1" destOrd="0" presId="urn:microsoft.com/office/officeart/2005/8/layout/list1"/>
    <dgm:cxn modelId="{3531B5B2-CAC9-4597-B9CD-5C5E61ED91FF}" type="presParOf" srcId="{189646C7-4FFE-4E0F-873E-F51FFAEF9055}" destId="{2C74F522-2F82-45E6-8062-6580CDE6C1BD}" srcOrd="5" destOrd="0" presId="urn:microsoft.com/office/officeart/2005/8/layout/list1"/>
    <dgm:cxn modelId="{636B719A-49B6-4096-9020-EE551EEB6444}" type="presParOf" srcId="{189646C7-4FFE-4E0F-873E-F51FFAEF9055}" destId="{EB2614E3-70DA-45DF-B6D5-EFC888923D17}" srcOrd="6" destOrd="0" presId="urn:microsoft.com/office/officeart/2005/8/layout/list1"/>
    <dgm:cxn modelId="{441F1884-03DB-4673-922D-1240F7AA8B32}" type="presParOf" srcId="{189646C7-4FFE-4E0F-873E-F51FFAEF9055}" destId="{6084C7C7-3BFC-4911-A20C-3DDAB49FE3D8}" srcOrd="7" destOrd="0" presId="urn:microsoft.com/office/officeart/2005/8/layout/list1"/>
    <dgm:cxn modelId="{8B2074C0-C6F4-46E6-A06D-B709373DA6A4}" type="presParOf" srcId="{189646C7-4FFE-4E0F-873E-F51FFAEF9055}" destId="{6DE18AA2-7706-4A72-BD44-C6F80274A441}" srcOrd="8" destOrd="0" presId="urn:microsoft.com/office/officeart/2005/8/layout/list1"/>
    <dgm:cxn modelId="{B15C49B4-D6BA-4908-8C8F-4D83CD350DF1}" type="presParOf" srcId="{6DE18AA2-7706-4A72-BD44-C6F80274A441}" destId="{3FF2CAF5-00F7-4D20-AE6D-BE989B5C0725}" srcOrd="0" destOrd="0" presId="urn:microsoft.com/office/officeart/2005/8/layout/list1"/>
    <dgm:cxn modelId="{164F9ADF-8952-43AF-832C-2AB7AB3AB004}" type="presParOf" srcId="{6DE18AA2-7706-4A72-BD44-C6F80274A441}" destId="{3CF492ED-6D2D-42C8-AC93-A1BC6FBDA0CE}" srcOrd="1" destOrd="0" presId="urn:microsoft.com/office/officeart/2005/8/layout/list1"/>
    <dgm:cxn modelId="{B5BEA45F-930D-476A-8264-7FF8BD140D64}" type="presParOf" srcId="{189646C7-4FFE-4E0F-873E-F51FFAEF9055}" destId="{BFD47374-5331-468B-80CA-BFB11B3D0F0D}" srcOrd="9" destOrd="0" presId="urn:microsoft.com/office/officeart/2005/8/layout/list1"/>
    <dgm:cxn modelId="{936EF4A3-CF53-4AC1-BCFD-C53025FBB6D3}" type="presParOf" srcId="{189646C7-4FFE-4E0F-873E-F51FFAEF9055}" destId="{91039DCC-42DD-4965-A71F-342B27618F02}" srcOrd="10" destOrd="0" presId="urn:microsoft.com/office/officeart/2005/8/layout/list1"/>
    <dgm:cxn modelId="{A5AA48A8-4553-4B9B-8A46-7B55F6E70B45}" type="presParOf" srcId="{189646C7-4FFE-4E0F-873E-F51FFAEF9055}" destId="{84459691-F280-48E4-BC90-05EBF166CCE3}" srcOrd="11" destOrd="0" presId="urn:microsoft.com/office/officeart/2005/8/layout/list1"/>
    <dgm:cxn modelId="{319117E7-D4ED-42BC-8C5D-1EABE35FC755}" type="presParOf" srcId="{189646C7-4FFE-4E0F-873E-F51FFAEF9055}" destId="{3DC21B85-D92E-414D-8C61-6A192ED717AE}" srcOrd="12" destOrd="0" presId="urn:microsoft.com/office/officeart/2005/8/layout/list1"/>
    <dgm:cxn modelId="{EF397C52-9B6A-4556-8687-82AB4BE264F0}" type="presParOf" srcId="{3DC21B85-D92E-414D-8C61-6A192ED717AE}" destId="{E028A992-9CF1-413E-879A-2196CFC66B59}" srcOrd="0" destOrd="0" presId="urn:microsoft.com/office/officeart/2005/8/layout/list1"/>
    <dgm:cxn modelId="{7829B786-3E1E-4DFF-8779-A5A13F4F00DF}" type="presParOf" srcId="{3DC21B85-D92E-414D-8C61-6A192ED717AE}" destId="{CAA51C13-7248-4AD0-8B44-6A08FC08FD85}" srcOrd="1" destOrd="0" presId="urn:microsoft.com/office/officeart/2005/8/layout/list1"/>
    <dgm:cxn modelId="{EC80C171-C79F-467F-B7FB-9493A4704EB9}" type="presParOf" srcId="{189646C7-4FFE-4E0F-873E-F51FFAEF9055}" destId="{281E8DD1-1F45-4408-8206-DF803BABC2CA}" srcOrd="13" destOrd="0" presId="urn:microsoft.com/office/officeart/2005/8/layout/list1"/>
    <dgm:cxn modelId="{D4F4FBF5-93DB-41A2-A7A4-595559D8A90F}" type="presParOf" srcId="{189646C7-4FFE-4E0F-873E-F51FFAEF9055}" destId="{83096D71-4D02-4102-9FC7-ECC3F6E681A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04DF1-1FBB-4A63-ADB9-011438E22BB4}">
      <dsp:nvSpPr>
        <dsp:cNvPr id="0" name=""/>
        <dsp:cNvSpPr/>
      </dsp:nvSpPr>
      <dsp:spPr>
        <a:xfrm>
          <a:off x="0" y="408844"/>
          <a:ext cx="8494234" cy="83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247" tIns="416560" rIns="65924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What cardiomyopathy is and isn’t</a:t>
          </a:r>
        </a:p>
      </dsp:txBody>
      <dsp:txXfrm>
        <a:off x="0" y="408844"/>
        <a:ext cx="8494234" cy="834750"/>
      </dsp:txXfrm>
    </dsp:sp>
    <dsp:sp modelId="{BDA528AE-9A15-4211-B2B1-42D534DBEB84}">
      <dsp:nvSpPr>
        <dsp:cNvPr id="0" name=""/>
        <dsp:cNvSpPr/>
      </dsp:nvSpPr>
      <dsp:spPr>
        <a:xfrm>
          <a:off x="424711" y="113644"/>
          <a:ext cx="5945963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43" tIns="0" rIns="2247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hlinkClick xmlns:r="http://schemas.openxmlformats.org/officeDocument/2006/relationships" r:id="" action="ppaction://hlinksldjump"/>
            </a:rPr>
            <a:t>General Overview</a:t>
          </a:r>
          <a:endParaRPr lang="en-US" sz="3200" kern="1200" dirty="0"/>
        </a:p>
      </dsp:txBody>
      <dsp:txXfrm>
        <a:off x="453532" y="142465"/>
        <a:ext cx="5888321" cy="532758"/>
      </dsp:txXfrm>
    </dsp:sp>
    <dsp:sp modelId="{EB2614E3-70DA-45DF-B6D5-EFC888923D17}">
      <dsp:nvSpPr>
        <dsp:cNvPr id="0" name=""/>
        <dsp:cNvSpPr/>
      </dsp:nvSpPr>
      <dsp:spPr>
        <a:xfrm>
          <a:off x="0" y="1646794"/>
          <a:ext cx="8494234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247" tIns="416560" rIns="65924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Hypertrophic Cardiomyopathy (HCM)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Arrhythmogenic Right Ventricular Cardiomyopathy (ARVC)</a:t>
          </a:r>
          <a:endParaRPr lang="en-US" sz="2000" kern="1200" dirty="0"/>
        </a:p>
      </dsp:txBody>
      <dsp:txXfrm>
        <a:off x="0" y="1646794"/>
        <a:ext cx="8494234" cy="1134000"/>
      </dsp:txXfrm>
    </dsp:sp>
    <dsp:sp modelId="{D92BCA19-046F-4814-AD63-BBCC1E97F7C1}">
      <dsp:nvSpPr>
        <dsp:cNvPr id="0" name=""/>
        <dsp:cNvSpPr/>
      </dsp:nvSpPr>
      <dsp:spPr>
        <a:xfrm>
          <a:off x="424711" y="1351594"/>
          <a:ext cx="5945963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43" tIns="0" rIns="2247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hlinkClick xmlns:r="http://schemas.openxmlformats.org/officeDocument/2006/relationships" r:id="" action="ppaction://hlinksldjump"/>
            </a:rPr>
            <a:t>Genetic</a:t>
          </a:r>
          <a:endParaRPr lang="en-US" sz="3200" kern="1200" dirty="0"/>
        </a:p>
      </dsp:txBody>
      <dsp:txXfrm>
        <a:off x="453532" y="1380415"/>
        <a:ext cx="5888321" cy="532758"/>
      </dsp:txXfrm>
    </dsp:sp>
    <dsp:sp modelId="{91039DCC-42DD-4965-A71F-342B27618F02}">
      <dsp:nvSpPr>
        <dsp:cNvPr id="0" name=""/>
        <dsp:cNvSpPr/>
      </dsp:nvSpPr>
      <dsp:spPr>
        <a:xfrm>
          <a:off x="0" y="3183994"/>
          <a:ext cx="8494234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247" tIns="416560" rIns="65924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Dilated Cardiomyopathy (DCM)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Restrictive Cardiomyopathy (RCM)</a:t>
          </a:r>
          <a:endParaRPr lang="en-US" sz="2000" kern="1200" dirty="0"/>
        </a:p>
      </dsp:txBody>
      <dsp:txXfrm>
        <a:off x="0" y="3183994"/>
        <a:ext cx="8494234" cy="1134000"/>
      </dsp:txXfrm>
    </dsp:sp>
    <dsp:sp modelId="{3CF492ED-6D2D-42C8-AC93-A1BC6FBDA0CE}">
      <dsp:nvSpPr>
        <dsp:cNvPr id="0" name=""/>
        <dsp:cNvSpPr/>
      </dsp:nvSpPr>
      <dsp:spPr>
        <a:xfrm>
          <a:off x="424711" y="2888794"/>
          <a:ext cx="5945963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43" tIns="0" rIns="2247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hlinkClick xmlns:r="http://schemas.openxmlformats.org/officeDocument/2006/relationships" r:id="" action="ppaction://hlinksldjump"/>
            </a:rPr>
            <a:t>Mixed</a:t>
          </a:r>
          <a:endParaRPr lang="en-US" sz="3200" kern="1200" dirty="0"/>
        </a:p>
      </dsp:txBody>
      <dsp:txXfrm>
        <a:off x="453532" y="2917615"/>
        <a:ext cx="5888321" cy="532758"/>
      </dsp:txXfrm>
    </dsp:sp>
    <dsp:sp modelId="{83096D71-4D02-4102-9FC7-ECC3F6E681A7}">
      <dsp:nvSpPr>
        <dsp:cNvPr id="0" name=""/>
        <dsp:cNvSpPr/>
      </dsp:nvSpPr>
      <dsp:spPr>
        <a:xfrm>
          <a:off x="0" y="4721195"/>
          <a:ext cx="8494234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59247" tIns="416560" rIns="65924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Myocarditis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Peripartum Cardiomyopathy (PPCM)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hlinkClick xmlns:r="http://schemas.openxmlformats.org/officeDocument/2006/relationships" r:id="" action="ppaction://hlinksldjump"/>
            </a:rPr>
            <a:t>Tako-Tsubo Cardiomyopathy</a:t>
          </a:r>
          <a:endParaRPr lang="en-US" sz="2000" kern="1200" dirty="0"/>
        </a:p>
      </dsp:txBody>
      <dsp:txXfrm>
        <a:off x="0" y="4721195"/>
        <a:ext cx="8494234" cy="1449000"/>
      </dsp:txXfrm>
    </dsp:sp>
    <dsp:sp modelId="{CAA51C13-7248-4AD0-8B44-6A08FC08FD85}">
      <dsp:nvSpPr>
        <dsp:cNvPr id="0" name=""/>
        <dsp:cNvSpPr/>
      </dsp:nvSpPr>
      <dsp:spPr>
        <a:xfrm>
          <a:off x="424711" y="4425995"/>
          <a:ext cx="5945963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4743" tIns="0" rIns="22474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hlinkClick xmlns:r="http://schemas.openxmlformats.org/officeDocument/2006/relationships" r:id="" action="ppaction://hlinksldjump"/>
            </a:rPr>
            <a:t>Acquired</a:t>
          </a:r>
          <a:endParaRPr lang="en-US" sz="3200" kern="1200" dirty="0"/>
        </a:p>
      </dsp:txBody>
      <dsp:txXfrm>
        <a:off x="453532" y="4454816"/>
        <a:ext cx="5888321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5E907-37EE-4976-B970-FAE1E8350A3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ACE37-D195-46D5-AD6A-B0E7DE768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928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32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632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525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7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496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558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289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802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669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1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16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953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58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580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518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646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627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342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486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853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BC01D-D8C3-472B-96DC-960A610210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9508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599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2568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25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613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1098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223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9810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6164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664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4296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4021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2726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224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160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8431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2226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2094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0935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0106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96543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88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7998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092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1698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BC01D-D8C3-472B-96DC-960A610210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377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561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0180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2174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1459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1129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5119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2512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9363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9793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2091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5209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59250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8150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6156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7736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0898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56685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7344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5255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15864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7191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88792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8198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98936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82134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79547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11881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518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2562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B46F2B-1084-40BA-9F0A-B1F6847335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194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5F0045C-9C5D-4237-8D86-673F5CDEB9EE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5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63041"/>
            <a:ext cx="10178322" cy="52287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32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2043E7-FEC5-4B9C-ADBF-A2C816FF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806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769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0C17E77-2DAA-4CB5-A4E8-D837BAC7CF0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9549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73D21-3DB0-4757-A0C3-9BF1531E10F7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224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3D1C-D964-4E47-86BA-BB7378BAB4BB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507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9A4F-B37D-4491-8B8B-837EBDB6A2F5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7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2006-E458-484A-ACB8-9903F9ACB1A6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0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048988D-49FE-46D4-B507-CE81D11841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6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C3AD5F3C-E7D1-47CF-9B56-98BA1F779CE1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81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67B8F-408A-4799-8025-D8E6A24772E6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2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B780-22E9-4312-A599-46A93874FF08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783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03201" y="6477001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Copyrights apply</a:t>
            </a:r>
          </a:p>
        </p:txBody>
      </p:sp>
    </p:spTree>
    <p:extLst>
      <p:ext uri="{BB962C8B-B14F-4D97-AF65-F5344CB8AC3E}">
        <p14:creationId xmlns:p14="http://schemas.microsoft.com/office/powerpoint/2010/main" val="2140233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en-US" noProof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5D9C57-9DDA-4A98-B42C-01D941AFD38F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A9823C4-A2E4-4197-A1B3-ACCAF0A918D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F84BBE-193D-4F9C-82D5-AAE2B1EB0B95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3824B1-1207-4586-985C-EE265D0DA3F6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539593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2"/>
          </a:xfrm>
        </p:spPr>
        <p:txBody>
          <a:bodyPr/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C82CFC-CEA7-4088-9D34-7E2D845356F6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09CAA1C-88E4-4E50-BD93-38EC86B05E1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1A2DBFC-CD9D-468A-86D9-A554E238390D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C3C213-4160-4FEA-8AAA-421BD02B230E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96822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15C9DA3-3A59-4C97-94BC-B288A4521C2B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259C6A5-2113-42E4-94FB-52F7E858B74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D7497F7-1F0F-479E-A7C1-3C96097DE527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1B4E44-CBD6-4B68-8E5D-F4CC672CA6EA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1740473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4E22E10-72CE-47B3-9FE5-7722416AEAC6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0E02E49-9D7B-4C68-8C87-211F7781C89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2F77B3F-653F-4A47-B04B-51C06ECEB61E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D8FF2C3-02DD-4107-9F09-CCBFFAEABD62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243604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5331E750-800B-46C7-9587-D7B19BAB4E67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22C7F92-FFAD-41B6-9A36-66438D576A6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AEFB239-C6F9-4C2E-954D-00ED45915B1E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F9B42920-9680-450B-8201-9893D7280342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79643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16C5E0-1354-4326-AF2B-86B9552F2B72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41EFBAC-9EC6-4271-94C5-15F0632E175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0F73-EB55-4B7C-BF2F-80B355C62411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A445-BE5E-4A0A-84C3-3AC7BBEF92C2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8307819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D3994F1-D90F-4574-9683-2B11C646697F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9692C1-5CA3-47D6-A552-758A9F639EF8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1B090A8A-4ADA-4242-9177-DDB18D43CEF7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934EAE5-6CE3-431F-BC25-A47ED4102BAF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0810723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21DD0CD-4DF4-46E6-BE1C-31C21CB790EC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7D913B-D013-4B40-A84F-A0F9496E4A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0536FA3-084D-4A19-8282-8D8696B6C5EA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456C121-066C-43AA-A166-4CAA0354BFFC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947625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alt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BBBFEEB-4A4E-4D5B-A34C-88E19B78B5BF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6111EAA-8259-4CE6-9FC2-629BD651828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6948E46-539A-4C0C-BAEF-02287D9A321C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3764685-0A20-4B1D-9773-A28F0E2E0EE5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8864945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2"/>
          </a:xfrm>
        </p:spPr>
        <p:txBody>
          <a:bodyPr vert="eaVert"/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251CFE-90E9-4774-8A4F-D7697FA2F47C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ED87C3A-E4F2-4DAA-96B2-D40DA0E63F1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0C01672-B89D-4E00-9F10-12A7BC792D17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40FB0A-5CD2-4CB2-8855-DB39511EA9C9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1886806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6E44E41-EA9D-4C33-A031-F686E50BE6EC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BD249B9-1A15-4DE3-86B6-14BA97E8E774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006D7F-F242-4484-845F-A94826C18B46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519DDA-D7E2-41FE-9B1A-055AA8D04C97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6997935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93BFE8B-0912-46D2-B427-5BD275538C5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609600" y="350838"/>
            <a:ext cx="10972800" cy="10207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9pPr>
          </a:lstStyle>
          <a:p>
            <a:pPr algn="ctr" eaLnBrk="1" hangingPunct="1">
              <a:buSzTx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  <a:sym typeface="Wingdings" charset="2"/>
              </a:defRPr>
            </a:pPr>
            <a:r>
              <a:rPr lang="en-US" sz="30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/>
                <a:sym typeface="Wingdings"/>
              </a:rPr>
              <a:t>SCM6 White Label Figure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F5D936-E7AA-4586-800D-FB584CBF62A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4165600" y="6248401"/>
            <a:ext cx="51816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898989"/>
                </a:solidFill>
              </a:rPr>
              <a:t>Copyright © The Publisher. All rights reserved.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09600" y="5105400"/>
            <a:ext cx="10972800" cy="1066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>
              <a:defRPr sz="1200" b="1" i="0"/>
            </a:lvl1pPr>
          </a:lstStyle>
          <a:p>
            <a:pPr lvl="0"/>
            <a:r>
              <a:rPr lang="en-US" altLang="en-US" noProof="0"/>
              <a:t>Figure legend: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0ED129-EF10-404F-B3BC-4DC91E97741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</p:spTree>
    <p:extLst>
      <p:ext uri="{BB962C8B-B14F-4D97-AF65-F5344CB8AC3E}">
        <p14:creationId xmlns:p14="http://schemas.microsoft.com/office/powerpoint/2010/main" val="226298930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en-US" noProof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32DB2B-A526-4ED2-8EC1-E7827E6613B6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7024CA9-8284-40AC-A201-7C78F792111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1A87598-CDBF-4670-9B58-8D48447E1A24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F38CE0-8BAD-4852-9ED0-C955C5B1EEF7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0015152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2"/>
          </a:xfrm>
        </p:spPr>
        <p:txBody>
          <a:bodyPr/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10762F-ED1E-4C0F-85A2-873B72BFC125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6E71FAA-C699-4157-B6F0-B1093652F9C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2147A8-1CDE-47DF-83F8-0B68E8AA82E9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D6DB7A-F8C4-4A00-85A4-76CD3743E06C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815104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8BF802-0DAD-49BB-9352-C68EA8321675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DE75BC5-70D0-4B79-AA18-D68692E1A21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817FBE-F9F2-4A5D-8699-04F1322684C0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2B7313-FA85-4172-AC66-82F454A21079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835595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1D1C576-9338-4F1C-83EE-55F8C5D88A3A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9C6B89C-8D80-48C6-BA48-55B16AFE550C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229DECB-3A20-4FA0-A920-014D8A827C14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20D26F5-55DD-4D1B-9C1B-DB0724A9BEF3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85932041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D3CDE13-8162-4D26-ACD9-24E9ACDD9AB3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E752A4-2150-442D-AE54-D0CD4EB7AB9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D21142EA-B0F0-4DB9-83B5-CA6D9E96C459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726C5666-5895-4BBA-8F30-0A51AFC418BD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5657056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0953AA-2894-4F09-9635-1AC3087B04CF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8B7A38A-3E30-4D0C-8DBF-CC65D0E2EB9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8295-72D0-492D-8472-C8E4A53BAD30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DEA7F-667D-41D3-86F8-4F4948DE3B86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0817919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191D8FB-EDE7-446E-89FA-918542FFA476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52430FD-6772-442A-BB49-E52D3F186BE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87F9563-B21E-4A76-B618-A054FAFF43DD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038F7B-FDE1-4E8E-9C07-43C37BF8B8BE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508457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2AB92B8-203E-4BFA-9CD8-2B406ABD0F3B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3E86997-0AE5-4302-876E-1EF1B54057F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893091A-4F9B-44EB-9827-5DE81A07E0B1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1E6E0F1-25B9-4187-A4BB-F720444A0EEC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42245401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alt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en-US" noProof="0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40A6069-3FFA-4796-830A-3FD6C0ED6A68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C833AD-8AAA-4499-8D3A-47FF19CEB35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83BC165-80A0-45BE-B3E8-BF16E078891C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7ACC562-19E9-4FAE-A029-F2503151C424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067331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2"/>
          </a:xfrm>
        </p:spPr>
        <p:txBody>
          <a:bodyPr vert="eaVert"/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DF4EEA-80A3-4442-A44E-FD81153271CF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B85ED93-E346-4615-9096-03DBEEDE8C74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BD9470F-D703-417D-9397-D9F2A7CC346D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35A1FB-55D8-4E8B-B085-B3D4E7D6F493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17083333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87A29C-2DB5-4F5E-AF69-EE9692D94F1D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830D426-4B17-49A6-BCD1-0A381091CD3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3674E1B-E979-4FC8-8A93-B13589CD392A}"/>
              </a:ext>
            </a:extLst>
          </p:cNvPr>
          <p:cNvSpPr>
            <a:spLocks noGrp="1"/>
          </p:cNvSpPr>
          <p:nvPr>
            <p:ph type="dt" sz="half" idx="11"/>
            <p:custDataLst>
              <p:tags r:id="rId2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898989"/>
                </a:solidFill>
                <a:ea typeface="ＭＳ Ｐゴシック" charset="0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BF16ABD-6485-421D-B19E-05AC5613A3BC}"/>
              </a:ext>
            </a:extLst>
          </p:cNvPr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4406508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6944CC0-113E-4214-916D-DF94FFEA0B5E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609600" y="350838"/>
            <a:ext cx="10972800" cy="10207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/>
                <a:ea typeface="ＭＳ Ｐゴシック" charset="0"/>
              </a:defRPr>
            </a:lvl9pPr>
          </a:lstStyle>
          <a:p>
            <a:pPr algn="ctr" eaLnBrk="1" hangingPunct="1">
              <a:buSzTx/>
              <a:defRPr kumimoji="0" sz="24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  <a:sym typeface="Wingdings" charset="2"/>
              </a:defRPr>
            </a:pPr>
            <a:r>
              <a:rPr lang="en-US" sz="30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/>
                <a:sym typeface="Wingdings"/>
              </a:rPr>
              <a:t>SCM6 White Label Figure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F6024D8-B463-406B-9605-431F053A998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4165600" y="6248401"/>
            <a:ext cx="51816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898989"/>
                </a:solidFill>
              </a:rPr>
              <a:t>Copyright © The Publisher. All rights reserved.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09600" y="5105400"/>
            <a:ext cx="10972800" cy="1066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>
              <a:defRPr sz="1200" b="1" i="0"/>
            </a:lvl1pPr>
          </a:lstStyle>
          <a:p>
            <a:pPr lvl="0"/>
            <a:r>
              <a:rPr lang="en-US" altLang="en-US" noProof="0"/>
              <a:t>Figure legend: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A9B9187-7543-4FB1-B520-2A2E6661E70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r>
              <a:rPr lang="en-US" dirty="0">
                <a:sym typeface="Wingdings" charset="2"/>
              </a:rPr>
              <a:t>Date of download:  mm/dd/yyyy</a:t>
            </a:r>
          </a:p>
        </p:txBody>
      </p:sp>
    </p:spTree>
    <p:extLst>
      <p:ext uri="{BB962C8B-B14F-4D97-AF65-F5344CB8AC3E}">
        <p14:creationId xmlns:p14="http://schemas.microsoft.com/office/powerpoint/2010/main" val="38534739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0113EB9-F8D2-4880-8A7F-2DBB73160BFC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5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934FA5D-3FC3-44C5-8D68-EE1B8F33E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550C9E2-9395-4EFA-AE11-C5766E714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Date Placeholder 3">
            <a:extLst>
              <a:ext uri="{FF2B5EF4-FFF2-40B4-BE49-F238E27FC236}">
                <a16:creationId xmlns:a16="http://schemas.microsoft.com/office/drawing/2014/main" id="{2EA3B3AF-E42D-47C7-AF7B-8B4975CDF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rtlCol="0" anchor="ctr"/>
          <a:lstStyle>
            <a:lvl1pPr algn="l" eaLnBrk="1" hangingPunct="1">
              <a:buSzTx/>
              <a:defRPr sz="1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latin typeface="Arial"/>
                <a:ea typeface="+mn-ea"/>
                <a:cs typeface="+mn-cs"/>
                <a:sym typeface="Wingdings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r>
              <a:rPr lang="en-US" dirty="0"/>
              <a:t>Date of download:  mm/dd/yyyy</a:t>
            </a:r>
            <a:endParaRPr lang="en-US" dirty="0">
              <a:sym typeface="Wingdings" charset="2"/>
            </a:endParaRPr>
          </a:p>
        </p:txBody>
      </p:sp>
      <p:sp>
        <p:nvSpPr>
          <p:cNvPr id="1029" name="Footer Placeholder 4">
            <a:extLst>
              <a:ext uri="{FF2B5EF4-FFF2-40B4-BE49-F238E27FC236}">
                <a16:creationId xmlns:a16="http://schemas.microsoft.com/office/drawing/2014/main" id="{6FB238E5-4B92-4A3C-8087-3654FF7B4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  <p:sp>
        <p:nvSpPr>
          <p:cNvPr id="1030" name="Slide Number Placeholder 5">
            <a:extLst>
              <a:ext uri="{FF2B5EF4-FFF2-40B4-BE49-F238E27FC236}">
                <a16:creationId xmlns:a16="http://schemas.microsoft.com/office/drawing/2014/main" id="{99A4A71C-1A53-4E32-A6DD-9C91CA0DE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82D25F0-B6BC-48C4-8E71-A9C24FD45F2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31" name="Date Placeholder 3">
            <a:extLst>
              <a:ext uri="{FF2B5EF4-FFF2-40B4-BE49-F238E27FC236}">
                <a16:creationId xmlns:a16="http://schemas.microsoft.com/office/drawing/2014/main" id="{6654CA31-79C3-41EC-BA2F-6FB9B3855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6400801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1380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SzPct val="100000"/>
        <a:defRPr sz="4400" kern="1200">
          <a:solidFill>
            <a:schemeClr val="tx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B53017D-99CA-4260-9758-954CF4B8C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495208-9905-46E9-8998-26E3AD0DF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Date Placeholder 3">
            <a:extLst>
              <a:ext uri="{FF2B5EF4-FFF2-40B4-BE49-F238E27FC236}">
                <a16:creationId xmlns:a16="http://schemas.microsoft.com/office/drawing/2014/main" id="{2EA3B3AF-E42D-47C7-AF7B-8B4975CDF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rtlCol="0" anchor="ctr"/>
          <a:lstStyle>
            <a:lvl1pPr algn="l" eaLnBrk="1" hangingPunct="1">
              <a:buSzTx/>
              <a:defRPr sz="12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latin typeface="Arial"/>
                <a:ea typeface="+mn-ea"/>
                <a:cs typeface="+mn-cs"/>
                <a:sym typeface="Wingdings"/>
              </a:defRPr>
            </a:lvl1pPr>
          </a:lstStyle>
          <a:p>
            <a:pPr>
              <a:defRPr kumimoji="0" sz="12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Wingdings" charset="2"/>
              </a:defRPr>
            </a:pPr>
            <a:r>
              <a:rPr lang="en-US" dirty="0"/>
              <a:t>Date of download:  mm/dd/yyyy</a:t>
            </a:r>
            <a:endParaRPr lang="en-US" dirty="0">
              <a:sym typeface="Wingdings" charset="2"/>
            </a:endParaRPr>
          </a:p>
        </p:txBody>
      </p:sp>
      <p:sp>
        <p:nvSpPr>
          <p:cNvPr id="1029" name="Footer Placeholder 4">
            <a:extLst>
              <a:ext uri="{FF2B5EF4-FFF2-40B4-BE49-F238E27FC236}">
                <a16:creationId xmlns:a16="http://schemas.microsoft.com/office/drawing/2014/main" id="{6FB238E5-4B92-4A3C-8087-3654FF7B4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en-US" dirty="0"/>
              <a:t>Copyright © 2012 American Medical Association. All rights reserved.</a:t>
            </a:r>
          </a:p>
        </p:txBody>
      </p:sp>
      <p:sp>
        <p:nvSpPr>
          <p:cNvPr id="1030" name="Slide Number Placeholder 5">
            <a:extLst>
              <a:ext uri="{FF2B5EF4-FFF2-40B4-BE49-F238E27FC236}">
                <a16:creationId xmlns:a16="http://schemas.microsoft.com/office/drawing/2014/main" id="{99A4A71C-1A53-4E32-A6DD-9C91CA0DE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9216EC8-A616-42A8-846C-012E3DD6E98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31" name="Date Placeholder 3">
            <a:extLst>
              <a:ext uri="{FF2B5EF4-FFF2-40B4-BE49-F238E27FC236}">
                <a16:creationId xmlns:a16="http://schemas.microsoft.com/office/drawing/2014/main" id="{91A101B5-F9D7-40E4-87BD-282599D73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6400801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8921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SzPct val="100000"/>
        <a:defRPr sz="4400" kern="1200">
          <a:solidFill>
            <a:schemeClr val="tx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buSzPct val="100000"/>
        <a:defRPr sz="4400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75.xml"/><Relationship Id="rId7" Type="http://schemas.openxmlformats.org/officeDocument/2006/relationships/image" Target="../media/image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Layout" Target="../slideLayouts/slideLayout21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80.xml"/><Relationship Id="rId7" Type="http://schemas.openxmlformats.org/officeDocument/2006/relationships/image" Target="../media/image7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53.xml"/><Relationship Id="rId5" Type="http://schemas.openxmlformats.org/officeDocument/2006/relationships/slideLayout" Target="../slideLayouts/slideLayout33.xml"/><Relationship Id="rId4" Type="http://schemas.openxmlformats.org/officeDocument/2006/relationships/tags" Target="../tags/tag8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7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9453AC2-8882-459A-8985-3E24DD42A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4543" y="0"/>
            <a:ext cx="1196771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Picture 6" descr="Heart made from white candy">
            <a:extLst>
              <a:ext uri="{FF2B5EF4-FFF2-40B4-BE49-F238E27FC236}">
                <a16:creationId xmlns:a16="http://schemas.microsoft.com/office/drawing/2014/main" id="{F92AED05-CE03-4017-91A7-1CB221B81A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4702" r="-1" b="6454"/>
          <a:stretch/>
        </p:blipFill>
        <p:spPr>
          <a:xfrm>
            <a:off x="264543" y="10"/>
            <a:ext cx="1196771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6A1A43-B750-4259-AA02-68777493B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>
            <a:normAutofit/>
          </a:bodyPr>
          <a:lstStyle/>
          <a:p>
            <a:r>
              <a:rPr lang="en-US" sz="7800" dirty="0">
                <a:solidFill>
                  <a:srgbClr val="FFFFFF"/>
                </a:solidFill>
              </a:rPr>
              <a:t>Cardiomyopathies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61DBF-2C3F-4F06-BAE0-5C6A7317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611" y="5906278"/>
            <a:ext cx="9113580" cy="49739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Pamela E. Wireman, MPAS, PA-C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A11FEA-6E98-401C-B708-DA2C9508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6454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279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16AD-C287-4FA7-AA07-451A575F0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568" y="0"/>
            <a:ext cx="1083339" cy="6858000"/>
          </a:xfrm>
        </p:spPr>
        <p:txBody>
          <a:bodyPr vert="wordArtVert">
            <a:normAutofit/>
          </a:bodyPr>
          <a:lstStyle/>
          <a:p>
            <a:pPr algn="ctr"/>
            <a:r>
              <a:rPr lang="en-US" sz="2400" dirty="0"/>
              <a:t>TOPIC OUTLINE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47164EA-45D4-48D0-BA3E-C757F7051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386648"/>
              </p:ext>
            </p:extLst>
          </p:nvPr>
        </p:nvGraphicFramePr>
        <p:xfrm>
          <a:off x="3127153" y="276448"/>
          <a:ext cx="8494234" cy="6283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67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C05CE37C-F8C1-45AB-A904-8649EAD8D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EA0B05-B5DB-4204-97F1-ED2BB2934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C615D28-8D37-47CB-9D5B-9ACFDA30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49B37-612C-4526-BE7E-324F1907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799" y="804335"/>
            <a:ext cx="7271327" cy="16817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cardiomyopathy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1FDC264-1201-436C-919B-101837D60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72465" cy="6858000"/>
          </a:xfrm>
          <a:custGeom>
            <a:avLst/>
            <a:gdLst>
              <a:gd name="connsiteX0" fmla="*/ 0 w 672465"/>
              <a:gd name="connsiteY0" fmla="*/ 0 h 6858000"/>
              <a:gd name="connsiteX1" fmla="*/ 496253 w 672465"/>
              <a:gd name="connsiteY1" fmla="*/ 0 h 6858000"/>
              <a:gd name="connsiteX2" fmla="*/ 497840 w 672465"/>
              <a:gd name="connsiteY2" fmla="*/ 68263 h 6858000"/>
              <a:gd name="connsiteX3" fmla="*/ 505778 w 672465"/>
              <a:gd name="connsiteY3" fmla="*/ 128588 h 6858000"/>
              <a:gd name="connsiteX4" fmla="*/ 516890 w 672465"/>
              <a:gd name="connsiteY4" fmla="*/ 180975 h 6858000"/>
              <a:gd name="connsiteX5" fmla="*/ 531178 w 672465"/>
              <a:gd name="connsiteY5" fmla="*/ 227013 h 6858000"/>
              <a:gd name="connsiteX6" fmla="*/ 547053 w 672465"/>
              <a:gd name="connsiteY6" fmla="*/ 268288 h 6858000"/>
              <a:gd name="connsiteX7" fmla="*/ 566103 w 672465"/>
              <a:gd name="connsiteY7" fmla="*/ 304800 h 6858000"/>
              <a:gd name="connsiteX8" fmla="*/ 585153 w 672465"/>
              <a:gd name="connsiteY8" fmla="*/ 342900 h 6858000"/>
              <a:gd name="connsiteX9" fmla="*/ 604203 w 672465"/>
              <a:gd name="connsiteY9" fmla="*/ 381000 h 6858000"/>
              <a:gd name="connsiteX10" fmla="*/ 620078 w 672465"/>
              <a:gd name="connsiteY10" fmla="*/ 417513 h 6858000"/>
              <a:gd name="connsiteX11" fmla="*/ 635953 w 672465"/>
              <a:gd name="connsiteY11" fmla="*/ 458788 h 6858000"/>
              <a:gd name="connsiteX12" fmla="*/ 651828 w 672465"/>
              <a:gd name="connsiteY12" fmla="*/ 504825 h 6858000"/>
              <a:gd name="connsiteX13" fmla="*/ 662940 w 672465"/>
              <a:gd name="connsiteY13" fmla="*/ 557213 h 6858000"/>
              <a:gd name="connsiteX14" fmla="*/ 669290 w 672465"/>
              <a:gd name="connsiteY14" fmla="*/ 617538 h 6858000"/>
              <a:gd name="connsiteX15" fmla="*/ 672465 w 672465"/>
              <a:gd name="connsiteY15" fmla="*/ 685800 h 6858000"/>
              <a:gd name="connsiteX16" fmla="*/ 669290 w 672465"/>
              <a:gd name="connsiteY16" fmla="*/ 754063 h 6858000"/>
              <a:gd name="connsiteX17" fmla="*/ 662940 w 672465"/>
              <a:gd name="connsiteY17" fmla="*/ 814388 h 6858000"/>
              <a:gd name="connsiteX18" fmla="*/ 651828 w 672465"/>
              <a:gd name="connsiteY18" fmla="*/ 866775 h 6858000"/>
              <a:gd name="connsiteX19" fmla="*/ 635953 w 672465"/>
              <a:gd name="connsiteY19" fmla="*/ 912813 h 6858000"/>
              <a:gd name="connsiteX20" fmla="*/ 620078 w 672465"/>
              <a:gd name="connsiteY20" fmla="*/ 954088 h 6858000"/>
              <a:gd name="connsiteX21" fmla="*/ 604203 w 672465"/>
              <a:gd name="connsiteY21" fmla="*/ 990600 h 6858000"/>
              <a:gd name="connsiteX22" fmla="*/ 585153 w 672465"/>
              <a:gd name="connsiteY22" fmla="*/ 1028700 h 6858000"/>
              <a:gd name="connsiteX23" fmla="*/ 566103 w 672465"/>
              <a:gd name="connsiteY23" fmla="*/ 1066800 h 6858000"/>
              <a:gd name="connsiteX24" fmla="*/ 547053 w 672465"/>
              <a:gd name="connsiteY24" fmla="*/ 1103313 h 6858000"/>
              <a:gd name="connsiteX25" fmla="*/ 531178 w 672465"/>
              <a:gd name="connsiteY25" fmla="*/ 1144588 h 6858000"/>
              <a:gd name="connsiteX26" fmla="*/ 516890 w 672465"/>
              <a:gd name="connsiteY26" fmla="*/ 1190625 h 6858000"/>
              <a:gd name="connsiteX27" fmla="*/ 505778 w 672465"/>
              <a:gd name="connsiteY27" fmla="*/ 1243013 h 6858000"/>
              <a:gd name="connsiteX28" fmla="*/ 497840 w 672465"/>
              <a:gd name="connsiteY28" fmla="*/ 1303338 h 6858000"/>
              <a:gd name="connsiteX29" fmla="*/ 496253 w 672465"/>
              <a:gd name="connsiteY29" fmla="*/ 1371600 h 6858000"/>
              <a:gd name="connsiteX30" fmla="*/ 497840 w 672465"/>
              <a:gd name="connsiteY30" fmla="*/ 1439863 h 6858000"/>
              <a:gd name="connsiteX31" fmla="*/ 505778 w 672465"/>
              <a:gd name="connsiteY31" fmla="*/ 1500188 h 6858000"/>
              <a:gd name="connsiteX32" fmla="*/ 516890 w 672465"/>
              <a:gd name="connsiteY32" fmla="*/ 1552575 h 6858000"/>
              <a:gd name="connsiteX33" fmla="*/ 531178 w 672465"/>
              <a:gd name="connsiteY33" fmla="*/ 1598613 h 6858000"/>
              <a:gd name="connsiteX34" fmla="*/ 547053 w 672465"/>
              <a:gd name="connsiteY34" fmla="*/ 1639888 h 6858000"/>
              <a:gd name="connsiteX35" fmla="*/ 566103 w 672465"/>
              <a:gd name="connsiteY35" fmla="*/ 1676400 h 6858000"/>
              <a:gd name="connsiteX36" fmla="*/ 585153 w 672465"/>
              <a:gd name="connsiteY36" fmla="*/ 1714500 h 6858000"/>
              <a:gd name="connsiteX37" fmla="*/ 604203 w 672465"/>
              <a:gd name="connsiteY37" fmla="*/ 1752600 h 6858000"/>
              <a:gd name="connsiteX38" fmla="*/ 620078 w 672465"/>
              <a:gd name="connsiteY38" fmla="*/ 1789113 h 6858000"/>
              <a:gd name="connsiteX39" fmla="*/ 635953 w 672465"/>
              <a:gd name="connsiteY39" fmla="*/ 1830388 h 6858000"/>
              <a:gd name="connsiteX40" fmla="*/ 651828 w 672465"/>
              <a:gd name="connsiteY40" fmla="*/ 1876425 h 6858000"/>
              <a:gd name="connsiteX41" fmla="*/ 662940 w 672465"/>
              <a:gd name="connsiteY41" fmla="*/ 1928813 h 6858000"/>
              <a:gd name="connsiteX42" fmla="*/ 669290 w 672465"/>
              <a:gd name="connsiteY42" fmla="*/ 1989138 h 6858000"/>
              <a:gd name="connsiteX43" fmla="*/ 672465 w 672465"/>
              <a:gd name="connsiteY43" fmla="*/ 2057400 h 6858000"/>
              <a:gd name="connsiteX44" fmla="*/ 669290 w 672465"/>
              <a:gd name="connsiteY44" fmla="*/ 2125663 h 6858000"/>
              <a:gd name="connsiteX45" fmla="*/ 662940 w 672465"/>
              <a:gd name="connsiteY45" fmla="*/ 2185988 h 6858000"/>
              <a:gd name="connsiteX46" fmla="*/ 651828 w 672465"/>
              <a:gd name="connsiteY46" fmla="*/ 2238375 h 6858000"/>
              <a:gd name="connsiteX47" fmla="*/ 635953 w 672465"/>
              <a:gd name="connsiteY47" fmla="*/ 2284413 h 6858000"/>
              <a:gd name="connsiteX48" fmla="*/ 620078 w 672465"/>
              <a:gd name="connsiteY48" fmla="*/ 2325688 h 6858000"/>
              <a:gd name="connsiteX49" fmla="*/ 604203 w 672465"/>
              <a:gd name="connsiteY49" fmla="*/ 2362200 h 6858000"/>
              <a:gd name="connsiteX50" fmla="*/ 585153 w 672465"/>
              <a:gd name="connsiteY50" fmla="*/ 2400300 h 6858000"/>
              <a:gd name="connsiteX51" fmla="*/ 566103 w 672465"/>
              <a:gd name="connsiteY51" fmla="*/ 2438400 h 6858000"/>
              <a:gd name="connsiteX52" fmla="*/ 547053 w 672465"/>
              <a:gd name="connsiteY52" fmla="*/ 2474913 h 6858000"/>
              <a:gd name="connsiteX53" fmla="*/ 531178 w 672465"/>
              <a:gd name="connsiteY53" fmla="*/ 2516188 h 6858000"/>
              <a:gd name="connsiteX54" fmla="*/ 516890 w 672465"/>
              <a:gd name="connsiteY54" fmla="*/ 2562225 h 6858000"/>
              <a:gd name="connsiteX55" fmla="*/ 505778 w 672465"/>
              <a:gd name="connsiteY55" fmla="*/ 2614613 h 6858000"/>
              <a:gd name="connsiteX56" fmla="*/ 497840 w 672465"/>
              <a:gd name="connsiteY56" fmla="*/ 2674938 h 6858000"/>
              <a:gd name="connsiteX57" fmla="*/ 496253 w 672465"/>
              <a:gd name="connsiteY57" fmla="*/ 2743200 h 6858000"/>
              <a:gd name="connsiteX58" fmla="*/ 497840 w 672465"/>
              <a:gd name="connsiteY58" fmla="*/ 2811463 h 6858000"/>
              <a:gd name="connsiteX59" fmla="*/ 505778 w 672465"/>
              <a:gd name="connsiteY59" fmla="*/ 2871788 h 6858000"/>
              <a:gd name="connsiteX60" fmla="*/ 516890 w 672465"/>
              <a:gd name="connsiteY60" fmla="*/ 2924175 h 6858000"/>
              <a:gd name="connsiteX61" fmla="*/ 531178 w 672465"/>
              <a:gd name="connsiteY61" fmla="*/ 2970213 h 6858000"/>
              <a:gd name="connsiteX62" fmla="*/ 547053 w 672465"/>
              <a:gd name="connsiteY62" fmla="*/ 3011488 h 6858000"/>
              <a:gd name="connsiteX63" fmla="*/ 566103 w 672465"/>
              <a:gd name="connsiteY63" fmla="*/ 3048000 h 6858000"/>
              <a:gd name="connsiteX64" fmla="*/ 585153 w 672465"/>
              <a:gd name="connsiteY64" fmla="*/ 3086100 h 6858000"/>
              <a:gd name="connsiteX65" fmla="*/ 604203 w 672465"/>
              <a:gd name="connsiteY65" fmla="*/ 3124200 h 6858000"/>
              <a:gd name="connsiteX66" fmla="*/ 620078 w 672465"/>
              <a:gd name="connsiteY66" fmla="*/ 3160713 h 6858000"/>
              <a:gd name="connsiteX67" fmla="*/ 635953 w 672465"/>
              <a:gd name="connsiteY67" fmla="*/ 3201988 h 6858000"/>
              <a:gd name="connsiteX68" fmla="*/ 651828 w 672465"/>
              <a:gd name="connsiteY68" fmla="*/ 3248025 h 6858000"/>
              <a:gd name="connsiteX69" fmla="*/ 662940 w 672465"/>
              <a:gd name="connsiteY69" fmla="*/ 3300413 h 6858000"/>
              <a:gd name="connsiteX70" fmla="*/ 669290 w 672465"/>
              <a:gd name="connsiteY70" fmla="*/ 3360738 h 6858000"/>
              <a:gd name="connsiteX71" fmla="*/ 672465 w 672465"/>
              <a:gd name="connsiteY71" fmla="*/ 3427413 h 6858000"/>
              <a:gd name="connsiteX72" fmla="*/ 669290 w 672465"/>
              <a:gd name="connsiteY72" fmla="*/ 3497263 h 6858000"/>
              <a:gd name="connsiteX73" fmla="*/ 662940 w 672465"/>
              <a:gd name="connsiteY73" fmla="*/ 3557588 h 6858000"/>
              <a:gd name="connsiteX74" fmla="*/ 651828 w 672465"/>
              <a:gd name="connsiteY74" fmla="*/ 3609975 h 6858000"/>
              <a:gd name="connsiteX75" fmla="*/ 635953 w 672465"/>
              <a:gd name="connsiteY75" fmla="*/ 3656013 h 6858000"/>
              <a:gd name="connsiteX76" fmla="*/ 620078 w 672465"/>
              <a:gd name="connsiteY76" fmla="*/ 3697288 h 6858000"/>
              <a:gd name="connsiteX77" fmla="*/ 604203 w 672465"/>
              <a:gd name="connsiteY77" fmla="*/ 3733800 h 6858000"/>
              <a:gd name="connsiteX78" fmla="*/ 585153 w 672465"/>
              <a:gd name="connsiteY78" fmla="*/ 3771900 h 6858000"/>
              <a:gd name="connsiteX79" fmla="*/ 566103 w 672465"/>
              <a:gd name="connsiteY79" fmla="*/ 3810000 h 6858000"/>
              <a:gd name="connsiteX80" fmla="*/ 547053 w 672465"/>
              <a:gd name="connsiteY80" fmla="*/ 3846513 h 6858000"/>
              <a:gd name="connsiteX81" fmla="*/ 531178 w 672465"/>
              <a:gd name="connsiteY81" fmla="*/ 3887788 h 6858000"/>
              <a:gd name="connsiteX82" fmla="*/ 516890 w 672465"/>
              <a:gd name="connsiteY82" fmla="*/ 3933825 h 6858000"/>
              <a:gd name="connsiteX83" fmla="*/ 505778 w 672465"/>
              <a:gd name="connsiteY83" fmla="*/ 3986213 h 6858000"/>
              <a:gd name="connsiteX84" fmla="*/ 497840 w 672465"/>
              <a:gd name="connsiteY84" fmla="*/ 4046538 h 6858000"/>
              <a:gd name="connsiteX85" fmla="*/ 496253 w 672465"/>
              <a:gd name="connsiteY85" fmla="*/ 4114800 h 6858000"/>
              <a:gd name="connsiteX86" fmla="*/ 497840 w 672465"/>
              <a:gd name="connsiteY86" fmla="*/ 4183063 h 6858000"/>
              <a:gd name="connsiteX87" fmla="*/ 505778 w 672465"/>
              <a:gd name="connsiteY87" fmla="*/ 4243388 h 6858000"/>
              <a:gd name="connsiteX88" fmla="*/ 516890 w 672465"/>
              <a:gd name="connsiteY88" fmla="*/ 4295775 h 6858000"/>
              <a:gd name="connsiteX89" fmla="*/ 531178 w 672465"/>
              <a:gd name="connsiteY89" fmla="*/ 4341813 h 6858000"/>
              <a:gd name="connsiteX90" fmla="*/ 547053 w 672465"/>
              <a:gd name="connsiteY90" fmla="*/ 4383088 h 6858000"/>
              <a:gd name="connsiteX91" fmla="*/ 566103 w 672465"/>
              <a:gd name="connsiteY91" fmla="*/ 4419600 h 6858000"/>
              <a:gd name="connsiteX92" fmla="*/ 604203 w 672465"/>
              <a:gd name="connsiteY92" fmla="*/ 4495800 h 6858000"/>
              <a:gd name="connsiteX93" fmla="*/ 620078 w 672465"/>
              <a:gd name="connsiteY93" fmla="*/ 4532313 h 6858000"/>
              <a:gd name="connsiteX94" fmla="*/ 635953 w 672465"/>
              <a:gd name="connsiteY94" fmla="*/ 4573588 h 6858000"/>
              <a:gd name="connsiteX95" fmla="*/ 651828 w 672465"/>
              <a:gd name="connsiteY95" fmla="*/ 4619625 h 6858000"/>
              <a:gd name="connsiteX96" fmla="*/ 662940 w 672465"/>
              <a:gd name="connsiteY96" fmla="*/ 4672013 h 6858000"/>
              <a:gd name="connsiteX97" fmla="*/ 669290 w 672465"/>
              <a:gd name="connsiteY97" fmla="*/ 4732338 h 6858000"/>
              <a:gd name="connsiteX98" fmla="*/ 672465 w 672465"/>
              <a:gd name="connsiteY98" fmla="*/ 4800600 h 6858000"/>
              <a:gd name="connsiteX99" fmla="*/ 669290 w 672465"/>
              <a:gd name="connsiteY99" fmla="*/ 4868863 h 6858000"/>
              <a:gd name="connsiteX100" fmla="*/ 662940 w 672465"/>
              <a:gd name="connsiteY100" fmla="*/ 4929188 h 6858000"/>
              <a:gd name="connsiteX101" fmla="*/ 651828 w 672465"/>
              <a:gd name="connsiteY101" fmla="*/ 4981575 h 6858000"/>
              <a:gd name="connsiteX102" fmla="*/ 635953 w 672465"/>
              <a:gd name="connsiteY102" fmla="*/ 5027613 h 6858000"/>
              <a:gd name="connsiteX103" fmla="*/ 620078 w 672465"/>
              <a:gd name="connsiteY103" fmla="*/ 5068888 h 6858000"/>
              <a:gd name="connsiteX104" fmla="*/ 604203 w 672465"/>
              <a:gd name="connsiteY104" fmla="*/ 5105400 h 6858000"/>
              <a:gd name="connsiteX105" fmla="*/ 585153 w 672465"/>
              <a:gd name="connsiteY105" fmla="*/ 5143500 h 6858000"/>
              <a:gd name="connsiteX106" fmla="*/ 566103 w 672465"/>
              <a:gd name="connsiteY106" fmla="*/ 5181600 h 6858000"/>
              <a:gd name="connsiteX107" fmla="*/ 547053 w 672465"/>
              <a:gd name="connsiteY107" fmla="*/ 5218113 h 6858000"/>
              <a:gd name="connsiteX108" fmla="*/ 531178 w 672465"/>
              <a:gd name="connsiteY108" fmla="*/ 5259388 h 6858000"/>
              <a:gd name="connsiteX109" fmla="*/ 516890 w 672465"/>
              <a:gd name="connsiteY109" fmla="*/ 5305425 h 6858000"/>
              <a:gd name="connsiteX110" fmla="*/ 505778 w 672465"/>
              <a:gd name="connsiteY110" fmla="*/ 5357813 h 6858000"/>
              <a:gd name="connsiteX111" fmla="*/ 497840 w 672465"/>
              <a:gd name="connsiteY111" fmla="*/ 5418138 h 6858000"/>
              <a:gd name="connsiteX112" fmla="*/ 496253 w 672465"/>
              <a:gd name="connsiteY112" fmla="*/ 5486400 h 6858000"/>
              <a:gd name="connsiteX113" fmla="*/ 497840 w 672465"/>
              <a:gd name="connsiteY113" fmla="*/ 5554663 h 6858000"/>
              <a:gd name="connsiteX114" fmla="*/ 505778 w 672465"/>
              <a:gd name="connsiteY114" fmla="*/ 5614988 h 6858000"/>
              <a:gd name="connsiteX115" fmla="*/ 516890 w 672465"/>
              <a:gd name="connsiteY115" fmla="*/ 5667375 h 6858000"/>
              <a:gd name="connsiteX116" fmla="*/ 531178 w 672465"/>
              <a:gd name="connsiteY116" fmla="*/ 5713413 h 6858000"/>
              <a:gd name="connsiteX117" fmla="*/ 547053 w 672465"/>
              <a:gd name="connsiteY117" fmla="*/ 5754688 h 6858000"/>
              <a:gd name="connsiteX118" fmla="*/ 566103 w 672465"/>
              <a:gd name="connsiteY118" fmla="*/ 5791200 h 6858000"/>
              <a:gd name="connsiteX119" fmla="*/ 585153 w 672465"/>
              <a:gd name="connsiteY119" fmla="*/ 5829300 h 6858000"/>
              <a:gd name="connsiteX120" fmla="*/ 604203 w 672465"/>
              <a:gd name="connsiteY120" fmla="*/ 5867400 h 6858000"/>
              <a:gd name="connsiteX121" fmla="*/ 620078 w 672465"/>
              <a:gd name="connsiteY121" fmla="*/ 5903913 h 6858000"/>
              <a:gd name="connsiteX122" fmla="*/ 635953 w 672465"/>
              <a:gd name="connsiteY122" fmla="*/ 5945188 h 6858000"/>
              <a:gd name="connsiteX123" fmla="*/ 651828 w 672465"/>
              <a:gd name="connsiteY123" fmla="*/ 5991225 h 6858000"/>
              <a:gd name="connsiteX124" fmla="*/ 662940 w 672465"/>
              <a:gd name="connsiteY124" fmla="*/ 6043613 h 6858000"/>
              <a:gd name="connsiteX125" fmla="*/ 669290 w 672465"/>
              <a:gd name="connsiteY125" fmla="*/ 6103938 h 6858000"/>
              <a:gd name="connsiteX126" fmla="*/ 672465 w 672465"/>
              <a:gd name="connsiteY126" fmla="*/ 6172200 h 6858000"/>
              <a:gd name="connsiteX127" fmla="*/ 669290 w 672465"/>
              <a:gd name="connsiteY127" fmla="*/ 6240463 h 6858000"/>
              <a:gd name="connsiteX128" fmla="*/ 662940 w 672465"/>
              <a:gd name="connsiteY128" fmla="*/ 6300788 h 6858000"/>
              <a:gd name="connsiteX129" fmla="*/ 651828 w 672465"/>
              <a:gd name="connsiteY129" fmla="*/ 6353175 h 6858000"/>
              <a:gd name="connsiteX130" fmla="*/ 635953 w 672465"/>
              <a:gd name="connsiteY130" fmla="*/ 6399213 h 6858000"/>
              <a:gd name="connsiteX131" fmla="*/ 620078 w 672465"/>
              <a:gd name="connsiteY131" fmla="*/ 6440488 h 6858000"/>
              <a:gd name="connsiteX132" fmla="*/ 604203 w 672465"/>
              <a:gd name="connsiteY132" fmla="*/ 6477000 h 6858000"/>
              <a:gd name="connsiteX133" fmla="*/ 585153 w 672465"/>
              <a:gd name="connsiteY133" fmla="*/ 6515100 h 6858000"/>
              <a:gd name="connsiteX134" fmla="*/ 566103 w 672465"/>
              <a:gd name="connsiteY134" fmla="*/ 6553200 h 6858000"/>
              <a:gd name="connsiteX135" fmla="*/ 547053 w 672465"/>
              <a:gd name="connsiteY135" fmla="*/ 6589713 h 6858000"/>
              <a:gd name="connsiteX136" fmla="*/ 531178 w 672465"/>
              <a:gd name="connsiteY136" fmla="*/ 6630988 h 6858000"/>
              <a:gd name="connsiteX137" fmla="*/ 516890 w 672465"/>
              <a:gd name="connsiteY137" fmla="*/ 6677025 h 6858000"/>
              <a:gd name="connsiteX138" fmla="*/ 505778 w 672465"/>
              <a:gd name="connsiteY138" fmla="*/ 6729413 h 6858000"/>
              <a:gd name="connsiteX139" fmla="*/ 497840 w 672465"/>
              <a:gd name="connsiteY139" fmla="*/ 6789738 h 6858000"/>
              <a:gd name="connsiteX140" fmla="*/ 496253 w 672465"/>
              <a:gd name="connsiteY140" fmla="*/ 6858000 h 6858000"/>
              <a:gd name="connsiteX141" fmla="*/ 0 w 672465"/>
              <a:gd name="connsiteY1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2465" h="6858000">
                <a:moveTo>
                  <a:pt x="0" y="0"/>
                </a:moveTo>
                <a:lnTo>
                  <a:pt x="496253" y="0"/>
                </a:lnTo>
                <a:lnTo>
                  <a:pt x="497840" y="68263"/>
                </a:lnTo>
                <a:lnTo>
                  <a:pt x="505778" y="128588"/>
                </a:lnTo>
                <a:lnTo>
                  <a:pt x="516890" y="180975"/>
                </a:lnTo>
                <a:lnTo>
                  <a:pt x="531178" y="227013"/>
                </a:lnTo>
                <a:lnTo>
                  <a:pt x="547053" y="268288"/>
                </a:lnTo>
                <a:lnTo>
                  <a:pt x="566103" y="304800"/>
                </a:lnTo>
                <a:lnTo>
                  <a:pt x="585153" y="342900"/>
                </a:lnTo>
                <a:lnTo>
                  <a:pt x="604203" y="381000"/>
                </a:lnTo>
                <a:lnTo>
                  <a:pt x="620078" y="417513"/>
                </a:lnTo>
                <a:lnTo>
                  <a:pt x="635953" y="458788"/>
                </a:lnTo>
                <a:lnTo>
                  <a:pt x="651828" y="504825"/>
                </a:lnTo>
                <a:lnTo>
                  <a:pt x="662940" y="557213"/>
                </a:lnTo>
                <a:lnTo>
                  <a:pt x="669290" y="617538"/>
                </a:lnTo>
                <a:lnTo>
                  <a:pt x="672465" y="685800"/>
                </a:lnTo>
                <a:lnTo>
                  <a:pt x="669290" y="754063"/>
                </a:lnTo>
                <a:lnTo>
                  <a:pt x="662940" y="814388"/>
                </a:lnTo>
                <a:lnTo>
                  <a:pt x="651828" y="866775"/>
                </a:lnTo>
                <a:lnTo>
                  <a:pt x="635953" y="912813"/>
                </a:lnTo>
                <a:lnTo>
                  <a:pt x="620078" y="954088"/>
                </a:lnTo>
                <a:lnTo>
                  <a:pt x="604203" y="990600"/>
                </a:lnTo>
                <a:lnTo>
                  <a:pt x="585153" y="1028700"/>
                </a:lnTo>
                <a:lnTo>
                  <a:pt x="566103" y="1066800"/>
                </a:lnTo>
                <a:lnTo>
                  <a:pt x="547053" y="1103313"/>
                </a:lnTo>
                <a:lnTo>
                  <a:pt x="531178" y="1144588"/>
                </a:lnTo>
                <a:lnTo>
                  <a:pt x="516890" y="1190625"/>
                </a:lnTo>
                <a:lnTo>
                  <a:pt x="505778" y="1243013"/>
                </a:lnTo>
                <a:lnTo>
                  <a:pt x="497840" y="1303338"/>
                </a:lnTo>
                <a:lnTo>
                  <a:pt x="496253" y="1371600"/>
                </a:lnTo>
                <a:lnTo>
                  <a:pt x="497840" y="1439863"/>
                </a:lnTo>
                <a:lnTo>
                  <a:pt x="505778" y="1500188"/>
                </a:lnTo>
                <a:lnTo>
                  <a:pt x="516890" y="1552575"/>
                </a:lnTo>
                <a:lnTo>
                  <a:pt x="531178" y="1598613"/>
                </a:lnTo>
                <a:lnTo>
                  <a:pt x="547053" y="1639888"/>
                </a:lnTo>
                <a:lnTo>
                  <a:pt x="566103" y="1676400"/>
                </a:lnTo>
                <a:lnTo>
                  <a:pt x="585153" y="1714500"/>
                </a:lnTo>
                <a:lnTo>
                  <a:pt x="604203" y="1752600"/>
                </a:lnTo>
                <a:lnTo>
                  <a:pt x="620078" y="1789113"/>
                </a:lnTo>
                <a:lnTo>
                  <a:pt x="635953" y="1830388"/>
                </a:lnTo>
                <a:lnTo>
                  <a:pt x="651828" y="1876425"/>
                </a:lnTo>
                <a:lnTo>
                  <a:pt x="662940" y="1928813"/>
                </a:lnTo>
                <a:lnTo>
                  <a:pt x="669290" y="1989138"/>
                </a:lnTo>
                <a:lnTo>
                  <a:pt x="672465" y="2057400"/>
                </a:lnTo>
                <a:lnTo>
                  <a:pt x="669290" y="2125663"/>
                </a:lnTo>
                <a:lnTo>
                  <a:pt x="662940" y="2185988"/>
                </a:lnTo>
                <a:lnTo>
                  <a:pt x="651828" y="2238375"/>
                </a:lnTo>
                <a:lnTo>
                  <a:pt x="635953" y="2284413"/>
                </a:lnTo>
                <a:lnTo>
                  <a:pt x="620078" y="2325688"/>
                </a:lnTo>
                <a:lnTo>
                  <a:pt x="604203" y="2362200"/>
                </a:lnTo>
                <a:lnTo>
                  <a:pt x="585153" y="2400300"/>
                </a:lnTo>
                <a:lnTo>
                  <a:pt x="566103" y="2438400"/>
                </a:lnTo>
                <a:lnTo>
                  <a:pt x="547053" y="2474913"/>
                </a:lnTo>
                <a:lnTo>
                  <a:pt x="531178" y="2516188"/>
                </a:lnTo>
                <a:lnTo>
                  <a:pt x="516890" y="2562225"/>
                </a:lnTo>
                <a:lnTo>
                  <a:pt x="505778" y="2614613"/>
                </a:lnTo>
                <a:lnTo>
                  <a:pt x="497840" y="2674938"/>
                </a:lnTo>
                <a:lnTo>
                  <a:pt x="496253" y="2743200"/>
                </a:lnTo>
                <a:lnTo>
                  <a:pt x="497840" y="2811463"/>
                </a:lnTo>
                <a:lnTo>
                  <a:pt x="505778" y="2871788"/>
                </a:lnTo>
                <a:lnTo>
                  <a:pt x="516890" y="2924175"/>
                </a:lnTo>
                <a:lnTo>
                  <a:pt x="531178" y="2970213"/>
                </a:lnTo>
                <a:lnTo>
                  <a:pt x="547053" y="3011488"/>
                </a:lnTo>
                <a:lnTo>
                  <a:pt x="566103" y="3048000"/>
                </a:lnTo>
                <a:lnTo>
                  <a:pt x="585153" y="3086100"/>
                </a:lnTo>
                <a:lnTo>
                  <a:pt x="604203" y="3124200"/>
                </a:lnTo>
                <a:lnTo>
                  <a:pt x="620078" y="3160713"/>
                </a:lnTo>
                <a:lnTo>
                  <a:pt x="635953" y="3201988"/>
                </a:lnTo>
                <a:lnTo>
                  <a:pt x="651828" y="3248025"/>
                </a:lnTo>
                <a:lnTo>
                  <a:pt x="662940" y="3300413"/>
                </a:lnTo>
                <a:lnTo>
                  <a:pt x="669290" y="3360738"/>
                </a:lnTo>
                <a:lnTo>
                  <a:pt x="672465" y="3427413"/>
                </a:lnTo>
                <a:lnTo>
                  <a:pt x="669290" y="3497263"/>
                </a:lnTo>
                <a:lnTo>
                  <a:pt x="662940" y="3557588"/>
                </a:lnTo>
                <a:lnTo>
                  <a:pt x="651828" y="3609975"/>
                </a:lnTo>
                <a:lnTo>
                  <a:pt x="635953" y="3656013"/>
                </a:lnTo>
                <a:lnTo>
                  <a:pt x="620078" y="3697288"/>
                </a:lnTo>
                <a:lnTo>
                  <a:pt x="604203" y="3733800"/>
                </a:lnTo>
                <a:lnTo>
                  <a:pt x="585153" y="3771900"/>
                </a:lnTo>
                <a:lnTo>
                  <a:pt x="566103" y="3810000"/>
                </a:lnTo>
                <a:lnTo>
                  <a:pt x="547053" y="3846513"/>
                </a:lnTo>
                <a:lnTo>
                  <a:pt x="531178" y="3887788"/>
                </a:lnTo>
                <a:lnTo>
                  <a:pt x="516890" y="3933825"/>
                </a:lnTo>
                <a:lnTo>
                  <a:pt x="505778" y="3986213"/>
                </a:lnTo>
                <a:lnTo>
                  <a:pt x="497840" y="4046538"/>
                </a:lnTo>
                <a:lnTo>
                  <a:pt x="496253" y="4114800"/>
                </a:lnTo>
                <a:lnTo>
                  <a:pt x="497840" y="4183063"/>
                </a:lnTo>
                <a:lnTo>
                  <a:pt x="505778" y="4243388"/>
                </a:lnTo>
                <a:lnTo>
                  <a:pt x="516890" y="4295775"/>
                </a:lnTo>
                <a:lnTo>
                  <a:pt x="531178" y="4341813"/>
                </a:lnTo>
                <a:lnTo>
                  <a:pt x="547053" y="4383088"/>
                </a:lnTo>
                <a:lnTo>
                  <a:pt x="566103" y="4419600"/>
                </a:lnTo>
                <a:lnTo>
                  <a:pt x="604203" y="4495800"/>
                </a:lnTo>
                <a:lnTo>
                  <a:pt x="620078" y="4532313"/>
                </a:lnTo>
                <a:lnTo>
                  <a:pt x="635953" y="4573588"/>
                </a:lnTo>
                <a:lnTo>
                  <a:pt x="651828" y="4619625"/>
                </a:lnTo>
                <a:lnTo>
                  <a:pt x="662940" y="4672013"/>
                </a:lnTo>
                <a:lnTo>
                  <a:pt x="669290" y="4732338"/>
                </a:lnTo>
                <a:lnTo>
                  <a:pt x="672465" y="4800600"/>
                </a:lnTo>
                <a:lnTo>
                  <a:pt x="669290" y="4868863"/>
                </a:lnTo>
                <a:lnTo>
                  <a:pt x="662940" y="4929188"/>
                </a:lnTo>
                <a:lnTo>
                  <a:pt x="651828" y="4981575"/>
                </a:lnTo>
                <a:lnTo>
                  <a:pt x="635953" y="5027613"/>
                </a:lnTo>
                <a:lnTo>
                  <a:pt x="620078" y="5068888"/>
                </a:lnTo>
                <a:lnTo>
                  <a:pt x="604203" y="5105400"/>
                </a:lnTo>
                <a:lnTo>
                  <a:pt x="585153" y="5143500"/>
                </a:lnTo>
                <a:lnTo>
                  <a:pt x="566103" y="5181600"/>
                </a:lnTo>
                <a:lnTo>
                  <a:pt x="547053" y="5218113"/>
                </a:lnTo>
                <a:lnTo>
                  <a:pt x="531178" y="5259388"/>
                </a:lnTo>
                <a:lnTo>
                  <a:pt x="516890" y="5305425"/>
                </a:lnTo>
                <a:lnTo>
                  <a:pt x="505778" y="5357813"/>
                </a:lnTo>
                <a:lnTo>
                  <a:pt x="497840" y="5418138"/>
                </a:lnTo>
                <a:lnTo>
                  <a:pt x="496253" y="5486400"/>
                </a:lnTo>
                <a:lnTo>
                  <a:pt x="497840" y="5554663"/>
                </a:lnTo>
                <a:lnTo>
                  <a:pt x="505778" y="5614988"/>
                </a:lnTo>
                <a:lnTo>
                  <a:pt x="516890" y="5667375"/>
                </a:lnTo>
                <a:lnTo>
                  <a:pt x="531178" y="5713413"/>
                </a:lnTo>
                <a:lnTo>
                  <a:pt x="547053" y="5754688"/>
                </a:lnTo>
                <a:lnTo>
                  <a:pt x="566103" y="5791200"/>
                </a:lnTo>
                <a:lnTo>
                  <a:pt x="585153" y="5829300"/>
                </a:lnTo>
                <a:lnTo>
                  <a:pt x="604203" y="5867400"/>
                </a:lnTo>
                <a:lnTo>
                  <a:pt x="620078" y="5903913"/>
                </a:lnTo>
                <a:lnTo>
                  <a:pt x="635953" y="5945188"/>
                </a:lnTo>
                <a:lnTo>
                  <a:pt x="651828" y="5991225"/>
                </a:lnTo>
                <a:lnTo>
                  <a:pt x="662940" y="6043613"/>
                </a:lnTo>
                <a:lnTo>
                  <a:pt x="669290" y="6103938"/>
                </a:lnTo>
                <a:lnTo>
                  <a:pt x="672465" y="6172200"/>
                </a:lnTo>
                <a:lnTo>
                  <a:pt x="669290" y="6240463"/>
                </a:lnTo>
                <a:lnTo>
                  <a:pt x="662940" y="6300788"/>
                </a:lnTo>
                <a:lnTo>
                  <a:pt x="651828" y="6353175"/>
                </a:lnTo>
                <a:lnTo>
                  <a:pt x="635953" y="6399213"/>
                </a:lnTo>
                <a:lnTo>
                  <a:pt x="620078" y="6440488"/>
                </a:lnTo>
                <a:lnTo>
                  <a:pt x="604203" y="6477000"/>
                </a:lnTo>
                <a:lnTo>
                  <a:pt x="585153" y="6515100"/>
                </a:lnTo>
                <a:lnTo>
                  <a:pt x="566103" y="6553200"/>
                </a:lnTo>
                <a:lnTo>
                  <a:pt x="547053" y="6589713"/>
                </a:lnTo>
                <a:lnTo>
                  <a:pt x="531178" y="6630988"/>
                </a:lnTo>
                <a:lnTo>
                  <a:pt x="516890" y="6677025"/>
                </a:lnTo>
                <a:lnTo>
                  <a:pt x="505778" y="6729413"/>
                </a:lnTo>
                <a:lnTo>
                  <a:pt x="497840" y="6789738"/>
                </a:lnTo>
                <a:lnTo>
                  <a:pt x="4962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7E33F-EB5D-436D-B38C-431993FD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004" y="1753973"/>
            <a:ext cx="4170052" cy="40885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4000" dirty="0">
                <a:solidFill>
                  <a:schemeClr val="tx1"/>
                </a:solidFill>
              </a:rPr>
              <a:t>Cardio = “heart”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4000" dirty="0">
                <a:solidFill>
                  <a:schemeClr val="tx1"/>
                </a:solidFill>
              </a:rPr>
              <a:t>Myo = “muscle”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4000" dirty="0">
                <a:solidFill>
                  <a:schemeClr val="tx1"/>
                </a:solidFill>
              </a:rPr>
              <a:t>Pathy = “disease”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6B215F4-747D-4CC6-A400-179A94AB8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9668" y="0"/>
            <a:ext cx="4232332" cy="3701000"/>
          </a:xfrm>
          <a:custGeom>
            <a:avLst/>
            <a:gdLst>
              <a:gd name="connsiteX0" fmla="*/ 319701 w 4232332"/>
              <a:gd name="connsiteY0" fmla="*/ 0 h 3701000"/>
              <a:gd name="connsiteX1" fmla="*/ 4232332 w 4232332"/>
              <a:gd name="connsiteY1" fmla="*/ 0 h 3701000"/>
              <a:gd name="connsiteX2" fmla="*/ 4232332 w 4232332"/>
              <a:gd name="connsiteY2" fmla="*/ 3034486 h 3701000"/>
              <a:gd name="connsiteX3" fmla="*/ 4230268 w 4232332"/>
              <a:gd name="connsiteY3" fmla="*/ 3035198 h 3701000"/>
              <a:gd name="connsiteX4" fmla="*/ 4185051 w 4232332"/>
              <a:gd name="connsiteY4" fmla="*/ 3049231 h 3701000"/>
              <a:gd name="connsiteX5" fmla="*/ 4136714 w 4232332"/>
              <a:gd name="connsiteY5" fmla="*/ 3061706 h 3701000"/>
              <a:gd name="connsiteX6" fmla="*/ 4089935 w 4232332"/>
              <a:gd name="connsiteY6" fmla="*/ 3074180 h 3701000"/>
              <a:gd name="connsiteX7" fmla="*/ 4043158 w 4232332"/>
              <a:gd name="connsiteY7" fmla="*/ 3088214 h 3701000"/>
              <a:gd name="connsiteX8" fmla="*/ 3997940 w 4232332"/>
              <a:gd name="connsiteY8" fmla="*/ 3103806 h 3701000"/>
              <a:gd name="connsiteX9" fmla="*/ 3955840 w 4232332"/>
              <a:gd name="connsiteY9" fmla="*/ 3122518 h 3701000"/>
              <a:gd name="connsiteX10" fmla="*/ 3916860 w 4232332"/>
              <a:gd name="connsiteY10" fmla="*/ 3144346 h 3701000"/>
              <a:gd name="connsiteX11" fmla="*/ 3882555 w 4232332"/>
              <a:gd name="connsiteY11" fmla="*/ 3172413 h 3701000"/>
              <a:gd name="connsiteX12" fmla="*/ 3846692 w 4232332"/>
              <a:gd name="connsiteY12" fmla="*/ 3203599 h 3701000"/>
              <a:gd name="connsiteX13" fmla="*/ 3815506 w 4232332"/>
              <a:gd name="connsiteY13" fmla="*/ 3239461 h 3701000"/>
              <a:gd name="connsiteX14" fmla="*/ 3785881 w 4232332"/>
              <a:gd name="connsiteY14" fmla="*/ 3276884 h 3701000"/>
              <a:gd name="connsiteX15" fmla="*/ 3756254 w 4232332"/>
              <a:gd name="connsiteY15" fmla="*/ 3315864 h 3701000"/>
              <a:gd name="connsiteX16" fmla="*/ 3726629 w 4232332"/>
              <a:gd name="connsiteY16" fmla="*/ 3354846 h 3701000"/>
              <a:gd name="connsiteX17" fmla="*/ 3697003 w 4232332"/>
              <a:gd name="connsiteY17" fmla="*/ 3392268 h 3701000"/>
              <a:gd name="connsiteX18" fmla="*/ 3664258 w 4232332"/>
              <a:gd name="connsiteY18" fmla="*/ 3428131 h 3701000"/>
              <a:gd name="connsiteX19" fmla="*/ 3631513 w 4232332"/>
              <a:gd name="connsiteY19" fmla="*/ 3459315 h 3701000"/>
              <a:gd name="connsiteX20" fmla="*/ 3594093 w 4232332"/>
              <a:gd name="connsiteY20" fmla="*/ 3485823 h 3701000"/>
              <a:gd name="connsiteX21" fmla="*/ 3555111 w 4232332"/>
              <a:gd name="connsiteY21" fmla="*/ 3506094 h 3701000"/>
              <a:gd name="connsiteX22" fmla="*/ 3508332 w 4232332"/>
              <a:gd name="connsiteY22" fmla="*/ 3520128 h 3701000"/>
              <a:gd name="connsiteX23" fmla="*/ 3459994 w 4232332"/>
              <a:gd name="connsiteY23" fmla="*/ 3526365 h 3701000"/>
              <a:gd name="connsiteX24" fmla="*/ 3410100 w 4232332"/>
              <a:gd name="connsiteY24" fmla="*/ 3527923 h 3701000"/>
              <a:gd name="connsiteX25" fmla="*/ 3357084 w 4232332"/>
              <a:gd name="connsiteY25" fmla="*/ 3523245 h 3701000"/>
              <a:gd name="connsiteX26" fmla="*/ 3304070 w 4232332"/>
              <a:gd name="connsiteY26" fmla="*/ 3517009 h 3701000"/>
              <a:gd name="connsiteX27" fmla="*/ 3251054 w 4232332"/>
              <a:gd name="connsiteY27" fmla="*/ 3509211 h 3701000"/>
              <a:gd name="connsiteX28" fmla="*/ 3198040 w 4232332"/>
              <a:gd name="connsiteY28" fmla="*/ 3502976 h 3701000"/>
              <a:gd name="connsiteX29" fmla="*/ 3145024 w 4232332"/>
              <a:gd name="connsiteY29" fmla="*/ 3499857 h 3701000"/>
              <a:gd name="connsiteX30" fmla="*/ 3093569 w 4232332"/>
              <a:gd name="connsiteY30" fmla="*/ 3499857 h 3701000"/>
              <a:gd name="connsiteX31" fmla="*/ 3045233 w 4232332"/>
              <a:gd name="connsiteY31" fmla="*/ 3506094 h 3701000"/>
              <a:gd name="connsiteX32" fmla="*/ 2995337 w 4232332"/>
              <a:gd name="connsiteY32" fmla="*/ 3518569 h 3701000"/>
              <a:gd name="connsiteX33" fmla="*/ 2950118 w 4232332"/>
              <a:gd name="connsiteY33" fmla="*/ 3537278 h 3701000"/>
              <a:gd name="connsiteX34" fmla="*/ 2903340 w 4232332"/>
              <a:gd name="connsiteY34" fmla="*/ 3562227 h 3701000"/>
              <a:gd name="connsiteX35" fmla="*/ 2856564 w 4232332"/>
              <a:gd name="connsiteY35" fmla="*/ 3587176 h 3701000"/>
              <a:gd name="connsiteX36" fmla="*/ 2809785 w 4232332"/>
              <a:gd name="connsiteY36" fmla="*/ 3615241 h 3701000"/>
              <a:gd name="connsiteX37" fmla="*/ 2764565 w 4232332"/>
              <a:gd name="connsiteY37" fmla="*/ 3641749 h 3701000"/>
              <a:gd name="connsiteX38" fmla="*/ 2716230 w 4232332"/>
              <a:gd name="connsiteY38" fmla="*/ 3665138 h 3701000"/>
              <a:gd name="connsiteX39" fmla="*/ 2669451 w 4232332"/>
              <a:gd name="connsiteY39" fmla="*/ 3683850 h 3701000"/>
              <a:gd name="connsiteX40" fmla="*/ 2621114 w 4232332"/>
              <a:gd name="connsiteY40" fmla="*/ 3696324 h 3701000"/>
              <a:gd name="connsiteX41" fmla="*/ 2571219 w 4232332"/>
              <a:gd name="connsiteY41" fmla="*/ 3701000 h 3701000"/>
              <a:gd name="connsiteX42" fmla="*/ 2521322 w 4232332"/>
              <a:gd name="connsiteY42" fmla="*/ 3696324 h 3701000"/>
              <a:gd name="connsiteX43" fmla="*/ 2472985 w 4232332"/>
              <a:gd name="connsiteY43" fmla="*/ 3683850 h 3701000"/>
              <a:gd name="connsiteX44" fmla="*/ 2426209 w 4232332"/>
              <a:gd name="connsiteY44" fmla="*/ 3665138 h 3701000"/>
              <a:gd name="connsiteX45" fmla="*/ 2377871 w 4232332"/>
              <a:gd name="connsiteY45" fmla="*/ 3641749 h 3701000"/>
              <a:gd name="connsiteX46" fmla="*/ 2332651 w 4232332"/>
              <a:gd name="connsiteY46" fmla="*/ 3615241 h 3701000"/>
              <a:gd name="connsiteX47" fmla="*/ 2285874 w 4232332"/>
              <a:gd name="connsiteY47" fmla="*/ 3587176 h 3701000"/>
              <a:gd name="connsiteX48" fmla="*/ 2239096 w 4232332"/>
              <a:gd name="connsiteY48" fmla="*/ 3562227 h 3701000"/>
              <a:gd name="connsiteX49" fmla="*/ 2192319 w 4232332"/>
              <a:gd name="connsiteY49" fmla="*/ 3537278 h 3701000"/>
              <a:gd name="connsiteX50" fmla="*/ 2145542 w 4232332"/>
              <a:gd name="connsiteY50" fmla="*/ 3518569 h 3701000"/>
              <a:gd name="connsiteX51" fmla="*/ 2097204 w 4232332"/>
              <a:gd name="connsiteY51" fmla="*/ 3506094 h 3701000"/>
              <a:gd name="connsiteX52" fmla="*/ 2048867 w 4232332"/>
              <a:gd name="connsiteY52" fmla="*/ 3499857 h 3701000"/>
              <a:gd name="connsiteX53" fmla="*/ 1997410 w 4232332"/>
              <a:gd name="connsiteY53" fmla="*/ 3499857 h 3701000"/>
              <a:gd name="connsiteX54" fmla="*/ 1944396 w 4232332"/>
              <a:gd name="connsiteY54" fmla="*/ 3502976 h 3701000"/>
              <a:gd name="connsiteX55" fmla="*/ 1891382 w 4232332"/>
              <a:gd name="connsiteY55" fmla="*/ 3509211 h 3701000"/>
              <a:gd name="connsiteX56" fmla="*/ 1838366 w 4232332"/>
              <a:gd name="connsiteY56" fmla="*/ 3517009 h 3701000"/>
              <a:gd name="connsiteX57" fmla="*/ 1785350 w 4232332"/>
              <a:gd name="connsiteY57" fmla="*/ 3523245 h 3701000"/>
              <a:gd name="connsiteX58" fmla="*/ 1732336 w 4232332"/>
              <a:gd name="connsiteY58" fmla="*/ 3527923 h 3701000"/>
              <a:gd name="connsiteX59" fmla="*/ 1682442 w 4232332"/>
              <a:gd name="connsiteY59" fmla="*/ 3526365 h 3701000"/>
              <a:gd name="connsiteX60" fmla="*/ 1634105 w 4232332"/>
              <a:gd name="connsiteY60" fmla="*/ 3520128 h 3701000"/>
              <a:gd name="connsiteX61" fmla="*/ 1587326 w 4232332"/>
              <a:gd name="connsiteY61" fmla="*/ 3506094 h 3701000"/>
              <a:gd name="connsiteX62" fmla="*/ 1548345 w 4232332"/>
              <a:gd name="connsiteY62" fmla="*/ 3485823 h 3701000"/>
              <a:gd name="connsiteX63" fmla="*/ 1510922 w 4232332"/>
              <a:gd name="connsiteY63" fmla="*/ 3459315 h 3701000"/>
              <a:gd name="connsiteX64" fmla="*/ 1478179 w 4232332"/>
              <a:gd name="connsiteY64" fmla="*/ 3428131 h 3701000"/>
              <a:gd name="connsiteX65" fmla="*/ 1445433 w 4232332"/>
              <a:gd name="connsiteY65" fmla="*/ 3392268 h 3701000"/>
              <a:gd name="connsiteX66" fmla="*/ 1415807 w 4232332"/>
              <a:gd name="connsiteY66" fmla="*/ 3354846 h 3701000"/>
              <a:gd name="connsiteX67" fmla="*/ 1386182 w 4232332"/>
              <a:gd name="connsiteY67" fmla="*/ 3315864 h 3701000"/>
              <a:gd name="connsiteX68" fmla="*/ 1356556 w 4232332"/>
              <a:gd name="connsiteY68" fmla="*/ 3276884 h 3701000"/>
              <a:gd name="connsiteX69" fmla="*/ 1326930 w 4232332"/>
              <a:gd name="connsiteY69" fmla="*/ 3239461 h 3701000"/>
              <a:gd name="connsiteX70" fmla="*/ 1295744 w 4232332"/>
              <a:gd name="connsiteY70" fmla="*/ 3203599 h 3701000"/>
              <a:gd name="connsiteX71" fmla="*/ 1259881 w 4232332"/>
              <a:gd name="connsiteY71" fmla="*/ 3172413 h 3701000"/>
              <a:gd name="connsiteX72" fmla="*/ 1225577 w 4232332"/>
              <a:gd name="connsiteY72" fmla="*/ 3144346 h 3701000"/>
              <a:gd name="connsiteX73" fmla="*/ 1186596 w 4232332"/>
              <a:gd name="connsiteY73" fmla="*/ 3122518 h 3701000"/>
              <a:gd name="connsiteX74" fmla="*/ 1144496 w 4232332"/>
              <a:gd name="connsiteY74" fmla="*/ 3103806 h 3701000"/>
              <a:gd name="connsiteX75" fmla="*/ 1099278 w 4232332"/>
              <a:gd name="connsiteY75" fmla="*/ 3088214 h 3701000"/>
              <a:gd name="connsiteX76" fmla="*/ 1052499 w 4232332"/>
              <a:gd name="connsiteY76" fmla="*/ 3074180 h 3701000"/>
              <a:gd name="connsiteX77" fmla="*/ 1005723 w 4232332"/>
              <a:gd name="connsiteY77" fmla="*/ 3061706 h 3701000"/>
              <a:gd name="connsiteX78" fmla="*/ 957386 w 4232332"/>
              <a:gd name="connsiteY78" fmla="*/ 3049231 h 3701000"/>
              <a:gd name="connsiteX79" fmla="*/ 912167 w 4232332"/>
              <a:gd name="connsiteY79" fmla="*/ 3035198 h 3701000"/>
              <a:gd name="connsiteX80" fmla="*/ 866948 w 4232332"/>
              <a:gd name="connsiteY80" fmla="*/ 3019606 h 3701000"/>
              <a:gd name="connsiteX81" fmla="*/ 824850 w 4232332"/>
              <a:gd name="connsiteY81" fmla="*/ 3000894 h 3701000"/>
              <a:gd name="connsiteX82" fmla="*/ 787426 w 4232332"/>
              <a:gd name="connsiteY82" fmla="*/ 2977505 h 3701000"/>
              <a:gd name="connsiteX83" fmla="*/ 753122 w 4232332"/>
              <a:gd name="connsiteY83" fmla="*/ 2949439 h 3701000"/>
              <a:gd name="connsiteX84" fmla="*/ 725057 w 4232332"/>
              <a:gd name="connsiteY84" fmla="*/ 2915136 h 3701000"/>
              <a:gd name="connsiteX85" fmla="*/ 701668 w 4232332"/>
              <a:gd name="connsiteY85" fmla="*/ 2877713 h 3701000"/>
              <a:gd name="connsiteX86" fmla="*/ 682956 w 4232332"/>
              <a:gd name="connsiteY86" fmla="*/ 2835613 h 3701000"/>
              <a:gd name="connsiteX87" fmla="*/ 667364 w 4232332"/>
              <a:gd name="connsiteY87" fmla="*/ 2790396 h 3701000"/>
              <a:gd name="connsiteX88" fmla="*/ 653331 w 4232332"/>
              <a:gd name="connsiteY88" fmla="*/ 2745177 h 3701000"/>
              <a:gd name="connsiteX89" fmla="*/ 640857 w 4232332"/>
              <a:gd name="connsiteY89" fmla="*/ 2696840 h 3701000"/>
              <a:gd name="connsiteX90" fmla="*/ 628382 w 4232332"/>
              <a:gd name="connsiteY90" fmla="*/ 2650063 h 3701000"/>
              <a:gd name="connsiteX91" fmla="*/ 614349 w 4232332"/>
              <a:gd name="connsiteY91" fmla="*/ 2603285 h 3701000"/>
              <a:gd name="connsiteX92" fmla="*/ 598756 w 4232332"/>
              <a:gd name="connsiteY92" fmla="*/ 2558065 h 3701000"/>
              <a:gd name="connsiteX93" fmla="*/ 580044 w 4232332"/>
              <a:gd name="connsiteY93" fmla="*/ 2515965 h 3701000"/>
              <a:gd name="connsiteX94" fmla="*/ 558214 w 4232332"/>
              <a:gd name="connsiteY94" fmla="*/ 2476984 h 3701000"/>
              <a:gd name="connsiteX95" fmla="*/ 530150 w 4232332"/>
              <a:gd name="connsiteY95" fmla="*/ 2442681 h 3701000"/>
              <a:gd name="connsiteX96" fmla="*/ 498963 w 4232332"/>
              <a:gd name="connsiteY96" fmla="*/ 2406817 h 3701000"/>
              <a:gd name="connsiteX97" fmla="*/ 463101 w 4232332"/>
              <a:gd name="connsiteY97" fmla="*/ 2375633 h 3701000"/>
              <a:gd name="connsiteX98" fmla="*/ 424118 w 4232332"/>
              <a:gd name="connsiteY98" fmla="*/ 2346007 h 3701000"/>
              <a:gd name="connsiteX99" fmla="*/ 385138 w 4232332"/>
              <a:gd name="connsiteY99" fmla="*/ 2316382 h 3701000"/>
              <a:gd name="connsiteX100" fmla="*/ 346157 w 4232332"/>
              <a:gd name="connsiteY100" fmla="*/ 2286756 h 3701000"/>
              <a:gd name="connsiteX101" fmla="*/ 308733 w 4232332"/>
              <a:gd name="connsiteY101" fmla="*/ 2257129 h 3701000"/>
              <a:gd name="connsiteX102" fmla="*/ 272871 w 4232332"/>
              <a:gd name="connsiteY102" fmla="*/ 2224386 h 3701000"/>
              <a:gd name="connsiteX103" fmla="*/ 241686 w 4232332"/>
              <a:gd name="connsiteY103" fmla="*/ 2191641 h 3701000"/>
              <a:gd name="connsiteX104" fmla="*/ 215179 w 4232332"/>
              <a:gd name="connsiteY104" fmla="*/ 2154219 h 3701000"/>
              <a:gd name="connsiteX105" fmla="*/ 194909 w 4232332"/>
              <a:gd name="connsiteY105" fmla="*/ 2115238 h 3701000"/>
              <a:gd name="connsiteX106" fmla="*/ 180876 w 4232332"/>
              <a:gd name="connsiteY106" fmla="*/ 2068461 h 3701000"/>
              <a:gd name="connsiteX107" fmla="*/ 174638 w 4232332"/>
              <a:gd name="connsiteY107" fmla="*/ 2020123 h 3701000"/>
              <a:gd name="connsiteX108" fmla="*/ 173078 w 4232332"/>
              <a:gd name="connsiteY108" fmla="*/ 1970225 h 3701000"/>
              <a:gd name="connsiteX109" fmla="*/ 177756 w 4232332"/>
              <a:gd name="connsiteY109" fmla="*/ 1917211 h 3701000"/>
              <a:gd name="connsiteX110" fmla="*/ 183993 w 4232332"/>
              <a:gd name="connsiteY110" fmla="*/ 1864197 h 3701000"/>
              <a:gd name="connsiteX111" fmla="*/ 191789 w 4232332"/>
              <a:gd name="connsiteY111" fmla="*/ 1811182 h 3701000"/>
              <a:gd name="connsiteX112" fmla="*/ 198027 w 4232332"/>
              <a:gd name="connsiteY112" fmla="*/ 1758167 h 3701000"/>
              <a:gd name="connsiteX113" fmla="*/ 201146 w 4232332"/>
              <a:gd name="connsiteY113" fmla="*/ 1705153 h 3701000"/>
              <a:gd name="connsiteX114" fmla="*/ 201146 w 4232332"/>
              <a:gd name="connsiteY114" fmla="*/ 1653697 h 3701000"/>
              <a:gd name="connsiteX115" fmla="*/ 194909 w 4232332"/>
              <a:gd name="connsiteY115" fmla="*/ 1605362 h 3701000"/>
              <a:gd name="connsiteX116" fmla="*/ 182434 w 4232332"/>
              <a:gd name="connsiteY116" fmla="*/ 1557024 h 3701000"/>
              <a:gd name="connsiteX117" fmla="*/ 163723 w 4232332"/>
              <a:gd name="connsiteY117" fmla="*/ 1511804 h 3701000"/>
              <a:gd name="connsiteX118" fmla="*/ 140335 w 4232332"/>
              <a:gd name="connsiteY118" fmla="*/ 1465027 h 3701000"/>
              <a:gd name="connsiteX119" fmla="*/ 113826 w 4232332"/>
              <a:gd name="connsiteY119" fmla="*/ 1418251 h 3701000"/>
              <a:gd name="connsiteX120" fmla="*/ 85761 w 4232332"/>
              <a:gd name="connsiteY120" fmla="*/ 1371472 h 3701000"/>
              <a:gd name="connsiteX121" fmla="*/ 59253 w 4232332"/>
              <a:gd name="connsiteY121" fmla="*/ 1326252 h 3701000"/>
              <a:gd name="connsiteX122" fmla="*/ 35863 w 4232332"/>
              <a:gd name="connsiteY122" fmla="*/ 1277917 h 3701000"/>
              <a:gd name="connsiteX123" fmla="*/ 17153 w 4232332"/>
              <a:gd name="connsiteY123" fmla="*/ 1231139 h 3701000"/>
              <a:gd name="connsiteX124" fmla="*/ 4679 w 4232332"/>
              <a:gd name="connsiteY124" fmla="*/ 1182801 h 3701000"/>
              <a:gd name="connsiteX125" fmla="*/ 0 w 4232332"/>
              <a:gd name="connsiteY125" fmla="*/ 1132905 h 3701000"/>
              <a:gd name="connsiteX126" fmla="*/ 4679 w 4232332"/>
              <a:gd name="connsiteY126" fmla="*/ 1083010 h 3701000"/>
              <a:gd name="connsiteX127" fmla="*/ 17153 w 4232332"/>
              <a:gd name="connsiteY127" fmla="*/ 1034673 h 3701000"/>
              <a:gd name="connsiteX128" fmla="*/ 35863 w 4232332"/>
              <a:gd name="connsiteY128" fmla="*/ 987895 h 3701000"/>
              <a:gd name="connsiteX129" fmla="*/ 59253 w 4232332"/>
              <a:gd name="connsiteY129" fmla="*/ 939559 h 3701000"/>
              <a:gd name="connsiteX130" fmla="*/ 85761 w 4232332"/>
              <a:gd name="connsiteY130" fmla="*/ 894339 h 3701000"/>
              <a:gd name="connsiteX131" fmla="*/ 113826 w 4232332"/>
              <a:gd name="connsiteY131" fmla="*/ 847563 h 3701000"/>
              <a:gd name="connsiteX132" fmla="*/ 140335 w 4232332"/>
              <a:gd name="connsiteY132" fmla="*/ 800784 h 3701000"/>
              <a:gd name="connsiteX133" fmla="*/ 163723 w 4232332"/>
              <a:gd name="connsiteY133" fmla="*/ 754007 h 3701000"/>
              <a:gd name="connsiteX134" fmla="*/ 182434 w 4232332"/>
              <a:gd name="connsiteY134" fmla="*/ 708787 h 3701000"/>
              <a:gd name="connsiteX135" fmla="*/ 194909 w 4232332"/>
              <a:gd name="connsiteY135" fmla="*/ 660451 h 3701000"/>
              <a:gd name="connsiteX136" fmla="*/ 201146 w 4232332"/>
              <a:gd name="connsiteY136" fmla="*/ 612115 h 3701000"/>
              <a:gd name="connsiteX137" fmla="*/ 201146 w 4232332"/>
              <a:gd name="connsiteY137" fmla="*/ 560659 h 3701000"/>
              <a:gd name="connsiteX138" fmla="*/ 198027 w 4232332"/>
              <a:gd name="connsiteY138" fmla="*/ 507644 h 3701000"/>
              <a:gd name="connsiteX139" fmla="*/ 191789 w 4232332"/>
              <a:gd name="connsiteY139" fmla="*/ 454630 h 3701000"/>
              <a:gd name="connsiteX140" fmla="*/ 183993 w 4232332"/>
              <a:gd name="connsiteY140" fmla="*/ 401614 h 3701000"/>
              <a:gd name="connsiteX141" fmla="*/ 177756 w 4232332"/>
              <a:gd name="connsiteY141" fmla="*/ 348600 h 3701000"/>
              <a:gd name="connsiteX142" fmla="*/ 173078 w 4232332"/>
              <a:gd name="connsiteY142" fmla="*/ 295586 h 3701000"/>
              <a:gd name="connsiteX143" fmla="*/ 174638 w 4232332"/>
              <a:gd name="connsiteY143" fmla="*/ 245689 h 3701000"/>
              <a:gd name="connsiteX144" fmla="*/ 180876 w 4232332"/>
              <a:gd name="connsiteY144" fmla="*/ 197353 h 3701000"/>
              <a:gd name="connsiteX145" fmla="*/ 194909 w 4232332"/>
              <a:gd name="connsiteY145" fmla="*/ 150574 h 3701000"/>
              <a:gd name="connsiteX146" fmla="*/ 215179 w 4232332"/>
              <a:gd name="connsiteY146" fmla="*/ 111594 h 3701000"/>
              <a:gd name="connsiteX147" fmla="*/ 241686 w 4232332"/>
              <a:gd name="connsiteY147" fmla="*/ 74171 h 3701000"/>
              <a:gd name="connsiteX148" fmla="*/ 272871 w 4232332"/>
              <a:gd name="connsiteY148" fmla="*/ 41427 h 3701000"/>
              <a:gd name="connsiteX149" fmla="*/ 308733 w 4232332"/>
              <a:gd name="connsiteY149" fmla="*/ 8683 h 370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4232332" h="3701000">
                <a:moveTo>
                  <a:pt x="319701" y="0"/>
                </a:moveTo>
                <a:lnTo>
                  <a:pt x="4232332" y="0"/>
                </a:lnTo>
                <a:lnTo>
                  <a:pt x="4232332" y="3034486"/>
                </a:lnTo>
                <a:lnTo>
                  <a:pt x="4230268" y="3035198"/>
                </a:lnTo>
                <a:lnTo>
                  <a:pt x="4185051" y="3049231"/>
                </a:lnTo>
                <a:lnTo>
                  <a:pt x="4136714" y="3061706"/>
                </a:lnTo>
                <a:lnTo>
                  <a:pt x="4089935" y="3074180"/>
                </a:lnTo>
                <a:lnTo>
                  <a:pt x="4043158" y="3088214"/>
                </a:lnTo>
                <a:lnTo>
                  <a:pt x="3997940" y="3103806"/>
                </a:lnTo>
                <a:lnTo>
                  <a:pt x="3955840" y="3122518"/>
                </a:lnTo>
                <a:lnTo>
                  <a:pt x="3916860" y="3144346"/>
                </a:lnTo>
                <a:lnTo>
                  <a:pt x="3882555" y="3172413"/>
                </a:lnTo>
                <a:lnTo>
                  <a:pt x="3846692" y="3203599"/>
                </a:lnTo>
                <a:lnTo>
                  <a:pt x="3815506" y="3239461"/>
                </a:lnTo>
                <a:lnTo>
                  <a:pt x="3785881" y="3276884"/>
                </a:lnTo>
                <a:lnTo>
                  <a:pt x="3756254" y="3315864"/>
                </a:lnTo>
                <a:lnTo>
                  <a:pt x="3726629" y="3354846"/>
                </a:lnTo>
                <a:lnTo>
                  <a:pt x="3697003" y="3392268"/>
                </a:lnTo>
                <a:lnTo>
                  <a:pt x="3664258" y="3428131"/>
                </a:lnTo>
                <a:lnTo>
                  <a:pt x="3631513" y="3459315"/>
                </a:lnTo>
                <a:lnTo>
                  <a:pt x="3594093" y="3485823"/>
                </a:lnTo>
                <a:lnTo>
                  <a:pt x="3555111" y="3506094"/>
                </a:lnTo>
                <a:lnTo>
                  <a:pt x="3508332" y="3520128"/>
                </a:lnTo>
                <a:lnTo>
                  <a:pt x="3459994" y="3526365"/>
                </a:lnTo>
                <a:lnTo>
                  <a:pt x="3410100" y="3527923"/>
                </a:lnTo>
                <a:lnTo>
                  <a:pt x="3357084" y="3523245"/>
                </a:lnTo>
                <a:lnTo>
                  <a:pt x="3304070" y="3517009"/>
                </a:lnTo>
                <a:lnTo>
                  <a:pt x="3251054" y="3509211"/>
                </a:lnTo>
                <a:lnTo>
                  <a:pt x="3198040" y="3502976"/>
                </a:lnTo>
                <a:lnTo>
                  <a:pt x="3145024" y="3499857"/>
                </a:lnTo>
                <a:lnTo>
                  <a:pt x="3093569" y="3499857"/>
                </a:lnTo>
                <a:lnTo>
                  <a:pt x="3045233" y="3506094"/>
                </a:lnTo>
                <a:lnTo>
                  <a:pt x="2995337" y="3518569"/>
                </a:lnTo>
                <a:lnTo>
                  <a:pt x="2950118" y="3537278"/>
                </a:lnTo>
                <a:lnTo>
                  <a:pt x="2903340" y="3562227"/>
                </a:lnTo>
                <a:lnTo>
                  <a:pt x="2856564" y="3587176"/>
                </a:lnTo>
                <a:lnTo>
                  <a:pt x="2809785" y="3615241"/>
                </a:lnTo>
                <a:lnTo>
                  <a:pt x="2764565" y="3641749"/>
                </a:lnTo>
                <a:lnTo>
                  <a:pt x="2716230" y="3665138"/>
                </a:lnTo>
                <a:lnTo>
                  <a:pt x="2669451" y="3683850"/>
                </a:lnTo>
                <a:lnTo>
                  <a:pt x="2621114" y="3696324"/>
                </a:lnTo>
                <a:lnTo>
                  <a:pt x="2571219" y="3701000"/>
                </a:lnTo>
                <a:lnTo>
                  <a:pt x="2521322" y="3696324"/>
                </a:lnTo>
                <a:lnTo>
                  <a:pt x="2472985" y="3683850"/>
                </a:lnTo>
                <a:lnTo>
                  <a:pt x="2426209" y="3665138"/>
                </a:lnTo>
                <a:lnTo>
                  <a:pt x="2377871" y="3641749"/>
                </a:lnTo>
                <a:lnTo>
                  <a:pt x="2332651" y="3615241"/>
                </a:lnTo>
                <a:lnTo>
                  <a:pt x="2285874" y="3587176"/>
                </a:lnTo>
                <a:lnTo>
                  <a:pt x="2239096" y="3562227"/>
                </a:lnTo>
                <a:lnTo>
                  <a:pt x="2192319" y="3537278"/>
                </a:lnTo>
                <a:lnTo>
                  <a:pt x="2145542" y="3518569"/>
                </a:lnTo>
                <a:lnTo>
                  <a:pt x="2097204" y="3506094"/>
                </a:lnTo>
                <a:lnTo>
                  <a:pt x="2048867" y="3499857"/>
                </a:lnTo>
                <a:lnTo>
                  <a:pt x="1997410" y="3499857"/>
                </a:lnTo>
                <a:lnTo>
                  <a:pt x="1944396" y="3502976"/>
                </a:lnTo>
                <a:lnTo>
                  <a:pt x="1891382" y="3509211"/>
                </a:lnTo>
                <a:lnTo>
                  <a:pt x="1838366" y="3517009"/>
                </a:lnTo>
                <a:lnTo>
                  <a:pt x="1785350" y="3523245"/>
                </a:lnTo>
                <a:lnTo>
                  <a:pt x="1732336" y="3527923"/>
                </a:lnTo>
                <a:lnTo>
                  <a:pt x="1682442" y="3526365"/>
                </a:lnTo>
                <a:lnTo>
                  <a:pt x="1634105" y="3520128"/>
                </a:lnTo>
                <a:lnTo>
                  <a:pt x="1587326" y="3506094"/>
                </a:lnTo>
                <a:lnTo>
                  <a:pt x="1548345" y="3485823"/>
                </a:lnTo>
                <a:lnTo>
                  <a:pt x="1510922" y="3459315"/>
                </a:lnTo>
                <a:lnTo>
                  <a:pt x="1478179" y="3428131"/>
                </a:lnTo>
                <a:lnTo>
                  <a:pt x="1445433" y="3392268"/>
                </a:lnTo>
                <a:lnTo>
                  <a:pt x="1415807" y="3354846"/>
                </a:lnTo>
                <a:lnTo>
                  <a:pt x="1386182" y="3315864"/>
                </a:lnTo>
                <a:lnTo>
                  <a:pt x="1356556" y="3276884"/>
                </a:lnTo>
                <a:lnTo>
                  <a:pt x="1326930" y="3239461"/>
                </a:lnTo>
                <a:lnTo>
                  <a:pt x="1295744" y="3203599"/>
                </a:lnTo>
                <a:lnTo>
                  <a:pt x="1259881" y="3172413"/>
                </a:lnTo>
                <a:lnTo>
                  <a:pt x="1225577" y="3144346"/>
                </a:lnTo>
                <a:lnTo>
                  <a:pt x="1186596" y="3122518"/>
                </a:lnTo>
                <a:lnTo>
                  <a:pt x="1144496" y="3103806"/>
                </a:lnTo>
                <a:lnTo>
                  <a:pt x="1099278" y="3088214"/>
                </a:lnTo>
                <a:lnTo>
                  <a:pt x="1052499" y="3074180"/>
                </a:lnTo>
                <a:lnTo>
                  <a:pt x="1005723" y="3061706"/>
                </a:lnTo>
                <a:lnTo>
                  <a:pt x="957386" y="3049231"/>
                </a:lnTo>
                <a:lnTo>
                  <a:pt x="912167" y="3035198"/>
                </a:lnTo>
                <a:lnTo>
                  <a:pt x="866948" y="3019606"/>
                </a:lnTo>
                <a:lnTo>
                  <a:pt x="824850" y="3000894"/>
                </a:lnTo>
                <a:lnTo>
                  <a:pt x="787426" y="2977505"/>
                </a:lnTo>
                <a:lnTo>
                  <a:pt x="753122" y="2949439"/>
                </a:lnTo>
                <a:lnTo>
                  <a:pt x="725057" y="2915136"/>
                </a:lnTo>
                <a:lnTo>
                  <a:pt x="701668" y="2877713"/>
                </a:lnTo>
                <a:lnTo>
                  <a:pt x="682956" y="2835613"/>
                </a:lnTo>
                <a:lnTo>
                  <a:pt x="667364" y="2790396"/>
                </a:lnTo>
                <a:lnTo>
                  <a:pt x="653331" y="2745177"/>
                </a:lnTo>
                <a:lnTo>
                  <a:pt x="640857" y="2696840"/>
                </a:lnTo>
                <a:lnTo>
                  <a:pt x="628382" y="2650063"/>
                </a:lnTo>
                <a:lnTo>
                  <a:pt x="614349" y="2603285"/>
                </a:lnTo>
                <a:lnTo>
                  <a:pt x="598756" y="2558065"/>
                </a:lnTo>
                <a:lnTo>
                  <a:pt x="580044" y="2515965"/>
                </a:lnTo>
                <a:lnTo>
                  <a:pt x="558214" y="2476984"/>
                </a:lnTo>
                <a:lnTo>
                  <a:pt x="530150" y="2442681"/>
                </a:lnTo>
                <a:lnTo>
                  <a:pt x="498963" y="2406817"/>
                </a:lnTo>
                <a:lnTo>
                  <a:pt x="463101" y="2375633"/>
                </a:lnTo>
                <a:lnTo>
                  <a:pt x="424118" y="2346007"/>
                </a:lnTo>
                <a:lnTo>
                  <a:pt x="385138" y="2316382"/>
                </a:lnTo>
                <a:lnTo>
                  <a:pt x="346157" y="2286756"/>
                </a:lnTo>
                <a:lnTo>
                  <a:pt x="308733" y="2257129"/>
                </a:lnTo>
                <a:lnTo>
                  <a:pt x="272871" y="2224386"/>
                </a:lnTo>
                <a:lnTo>
                  <a:pt x="241686" y="2191641"/>
                </a:lnTo>
                <a:lnTo>
                  <a:pt x="215179" y="2154219"/>
                </a:lnTo>
                <a:lnTo>
                  <a:pt x="194909" y="2115238"/>
                </a:lnTo>
                <a:lnTo>
                  <a:pt x="180876" y="2068461"/>
                </a:lnTo>
                <a:lnTo>
                  <a:pt x="174638" y="2020123"/>
                </a:lnTo>
                <a:lnTo>
                  <a:pt x="173078" y="1970225"/>
                </a:lnTo>
                <a:lnTo>
                  <a:pt x="177756" y="1917211"/>
                </a:lnTo>
                <a:lnTo>
                  <a:pt x="183993" y="1864197"/>
                </a:lnTo>
                <a:lnTo>
                  <a:pt x="191789" y="1811182"/>
                </a:lnTo>
                <a:lnTo>
                  <a:pt x="198027" y="1758167"/>
                </a:lnTo>
                <a:lnTo>
                  <a:pt x="201146" y="1705153"/>
                </a:lnTo>
                <a:lnTo>
                  <a:pt x="201146" y="1653697"/>
                </a:lnTo>
                <a:lnTo>
                  <a:pt x="194909" y="1605362"/>
                </a:lnTo>
                <a:lnTo>
                  <a:pt x="182434" y="1557024"/>
                </a:lnTo>
                <a:lnTo>
                  <a:pt x="163723" y="1511804"/>
                </a:lnTo>
                <a:lnTo>
                  <a:pt x="140335" y="1465027"/>
                </a:lnTo>
                <a:lnTo>
                  <a:pt x="113826" y="1418251"/>
                </a:lnTo>
                <a:lnTo>
                  <a:pt x="85761" y="1371472"/>
                </a:lnTo>
                <a:lnTo>
                  <a:pt x="59253" y="1326252"/>
                </a:lnTo>
                <a:lnTo>
                  <a:pt x="35863" y="1277917"/>
                </a:lnTo>
                <a:lnTo>
                  <a:pt x="17153" y="1231139"/>
                </a:lnTo>
                <a:lnTo>
                  <a:pt x="4679" y="1182801"/>
                </a:lnTo>
                <a:lnTo>
                  <a:pt x="0" y="1132905"/>
                </a:lnTo>
                <a:lnTo>
                  <a:pt x="4679" y="1083010"/>
                </a:lnTo>
                <a:lnTo>
                  <a:pt x="17153" y="1034673"/>
                </a:lnTo>
                <a:lnTo>
                  <a:pt x="35863" y="987895"/>
                </a:lnTo>
                <a:lnTo>
                  <a:pt x="59253" y="939559"/>
                </a:lnTo>
                <a:lnTo>
                  <a:pt x="85761" y="894339"/>
                </a:lnTo>
                <a:lnTo>
                  <a:pt x="113826" y="847563"/>
                </a:lnTo>
                <a:lnTo>
                  <a:pt x="140335" y="800784"/>
                </a:lnTo>
                <a:lnTo>
                  <a:pt x="163723" y="754007"/>
                </a:lnTo>
                <a:lnTo>
                  <a:pt x="182434" y="708787"/>
                </a:lnTo>
                <a:lnTo>
                  <a:pt x="194909" y="660451"/>
                </a:lnTo>
                <a:lnTo>
                  <a:pt x="201146" y="612115"/>
                </a:lnTo>
                <a:lnTo>
                  <a:pt x="201146" y="560659"/>
                </a:lnTo>
                <a:lnTo>
                  <a:pt x="198027" y="507644"/>
                </a:lnTo>
                <a:lnTo>
                  <a:pt x="191789" y="454630"/>
                </a:lnTo>
                <a:lnTo>
                  <a:pt x="183993" y="401614"/>
                </a:lnTo>
                <a:lnTo>
                  <a:pt x="177756" y="348600"/>
                </a:lnTo>
                <a:lnTo>
                  <a:pt x="173078" y="295586"/>
                </a:lnTo>
                <a:lnTo>
                  <a:pt x="174638" y="245689"/>
                </a:lnTo>
                <a:lnTo>
                  <a:pt x="180876" y="197353"/>
                </a:lnTo>
                <a:lnTo>
                  <a:pt x="194909" y="150574"/>
                </a:lnTo>
                <a:lnTo>
                  <a:pt x="215179" y="111594"/>
                </a:lnTo>
                <a:lnTo>
                  <a:pt x="241686" y="74171"/>
                </a:lnTo>
                <a:lnTo>
                  <a:pt x="272871" y="41427"/>
                </a:lnTo>
                <a:lnTo>
                  <a:pt x="308733" y="868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336FE1A-0BAD-4B17-A0E2-47F32802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5116" y="0"/>
            <a:ext cx="4116885" cy="3585722"/>
          </a:xfrm>
          <a:custGeom>
            <a:avLst/>
            <a:gdLst>
              <a:gd name="connsiteX0" fmla="*/ 371204 w 4116885"/>
              <a:gd name="connsiteY0" fmla="*/ 0 h 3585722"/>
              <a:gd name="connsiteX1" fmla="*/ 4116885 w 4116885"/>
              <a:gd name="connsiteY1" fmla="*/ 0 h 3585722"/>
              <a:gd name="connsiteX2" fmla="*/ 4116885 w 4116885"/>
              <a:gd name="connsiteY2" fmla="*/ 2920084 h 3585722"/>
              <a:gd name="connsiteX3" fmla="*/ 4083518 w 4116885"/>
              <a:gd name="connsiteY3" fmla="*/ 2934914 h 3585722"/>
              <a:gd name="connsiteX4" fmla="*/ 4040331 w 4116885"/>
              <a:gd name="connsiteY4" fmla="*/ 2949806 h 3585722"/>
              <a:gd name="connsiteX5" fmla="*/ 3997143 w 4116885"/>
              <a:gd name="connsiteY5" fmla="*/ 2963209 h 3585722"/>
              <a:gd name="connsiteX6" fmla="*/ 3950976 w 4116885"/>
              <a:gd name="connsiteY6" fmla="*/ 2975125 h 3585722"/>
              <a:gd name="connsiteX7" fmla="*/ 3906298 w 4116885"/>
              <a:gd name="connsiteY7" fmla="*/ 2987039 h 3585722"/>
              <a:gd name="connsiteX8" fmla="*/ 3861622 w 4116885"/>
              <a:gd name="connsiteY8" fmla="*/ 3000442 h 3585722"/>
              <a:gd name="connsiteX9" fmla="*/ 3818433 w 4116885"/>
              <a:gd name="connsiteY9" fmla="*/ 3015336 h 3585722"/>
              <a:gd name="connsiteX10" fmla="*/ 3778225 w 4116885"/>
              <a:gd name="connsiteY10" fmla="*/ 3033207 h 3585722"/>
              <a:gd name="connsiteX11" fmla="*/ 3740994 w 4116885"/>
              <a:gd name="connsiteY11" fmla="*/ 3054056 h 3585722"/>
              <a:gd name="connsiteX12" fmla="*/ 3708230 w 4116885"/>
              <a:gd name="connsiteY12" fmla="*/ 3080861 h 3585722"/>
              <a:gd name="connsiteX13" fmla="*/ 3673977 w 4116885"/>
              <a:gd name="connsiteY13" fmla="*/ 3110649 h 3585722"/>
              <a:gd name="connsiteX14" fmla="*/ 3644190 w 4116885"/>
              <a:gd name="connsiteY14" fmla="*/ 3144902 h 3585722"/>
              <a:gd name="connsiteX15" fmla="*/ 3615895 w 4116885"/>
              <a:gd name="connsiteY15" fmla="*/ 3180643 h 3585722"/>
              <a:gd name="connsiteX16" fmla="*/ 3587600 w 4116885"/>
              <a:gd name="connsiteY16" fmla="*/ 3217874 h 3585722"/>
              <a:gd name="connsiteX17" fmla="*/ 3559305 w 4116885"/>
              <a:gd name="connsiteY17" fmla="*/ 3255107 h 3585722"/>
              <a:gd name="connsiteX18" fmla="*/ 3531009 w 4116885"/>
              <a:gd name="connsiteY18" fmla="*/ 3290849 h 3585722"/>
              <a:gd name="connsiteX19" fmla="*/ 3499734 w 4116885"/>
              <a:gd name="connsiteY19" fmla="*/ 3325101 h 3585722"/>
              <a:gd name="connsiteX20" fmla="*/ 3468459 w 4116885"/>
              <a:gd name="connsiteY20" fmla="*/ 3354887 h 3585722"/>
              <a:gd name="connsiteX21" fmla="*/ 3432719 w 4116885"/>
              <a:gd name="connsiteY21" fmla="*/ 3380204 h 3585722"/>
              <a:gd name="connsiteX22" fmla="*/ 3395487 w 4116885"/>
              <a:gd name="connsiteY22" fmla="*/ 3399565 h 3585722"/>
              <a:gd name="connsiteX23" fmla="*/ 3350809 w 4116885"/>
              <a:gd name="connsiteY23" fmla="*/ 3412968 h 3585722"/>
              <a:gd name="connsiteX24" fmla="*/ 3304642 w 4116885"/>
              <a:gd name="connsiteY24" fmla="*/ 3418925 h 3585722"/>
              <a:gd name="connsiteX25" fmla="*/ 3256988 w 4116885"/>
              <a:gd name="connsiteY25" fmla="*/ 3420415 h 3585722"/>
              <a:gd name="connsiteX26" fmla="*/ 3206353 w 4116885"/>
              <a:gd name="connsiteY26" fmla="*/ 3415946 h 3585722"/>
              <a:gd name="connsiteX27" fmla="*/ 3155719 w 4116885"/>
              <a:gd name="connsiteY27" fmla="*/ 3409991 h 3585722"/>
              <a:gd name="connsiteX28" fmla="*/ 3105083 w 4116885"/>
              <a:gd name="connsiteY28" fmla="*/ 3402543 h 3585722"/>
              <a:gd name="connsiteX29" fmla="*/ 3054450 w 4116885"/>
              <a:gd name="connsiteY29" fmla="*/ 3396587 h 3585722"/>
              <a:gd name="connsiteX30" fmla="*/ 3003814 w 4116885"/>
              <a:gd name="connsiteY30" fmla="*/ 3393607 h 3585722"/>
              <a:gd name="connsiteX31" fmla="*/ 2954669 w 4116885"/>
              <a:gd name="connsiteY31" fmla="*/ 3393607 h 3585722"/>
              <a:gd name="connsiteX32" fmla="*/ 2908503 w 4116885"/>
              <a:gd name="connsiteY32" fmla="*/ 3399565 h 3585722"/>
              <a:gd name="connsiteX33" fmla="*/ 2860847 w 4116885"/>
              <a:gd name="connsiteY33" fmla="*/ 3411479 h 3585722"/>
              <a:gd name="connsiteX34" fmla="*/ 2817659 w 4116885"/>
              <a:gd name="connsiteY34" fmla="*/ 3429350 h 3585722"/>
              <a:gd name="connsiteX35" fmla="*/ 2772981 w 4116885"/>
              <a:gd name="connsiteY35" fmla="*/ 3453178 h 3585722"/>
              <a:gd name="connsiteX36" fmla="*/ 2728305 w 4116885"/>
              <a:gd name="connsiteY36" fmla="*/ 3477008 h 3585722"/>
              <a:gd name="connsiteX37" fmla="*/ 2683627 w 4116885"/>
              <a:gd name="connsiteY37" fmla="*/ 3503814 h 3585722"/>
              <a:gd name="connsiteX38" fmla="*/ 2640437 w 4116885"/>
              <a:gd name="connsiteY38" fmla="*/ 3529131 h 3585722"/>
              <a:gd name="connsiteX39" fmla="*/ 2594272 w 4116885"/>
              <a:gd name="connsiteY39" fmla="*/ 3551469 h 3585722"/>
              <a:gd name="connsiteX40" fmla="*/ 2549594 w 4116885"/>
              <a:gd name="connsiteY40" fmla="*/ 3569341 h 3585722"/>
              <a:gd name="connsiteX41" fmla="*/ 2503426 w 4116885"/>
              <a:gd name="connsiteY41" fmla="*/ 3581255 h 3585722"/>
              <a:gd name="connsiteX42" fmla="*/ 2455772 w 4116885"/>
              <a:gd name="connsiteY42" fmla="*/ 3585722 h 3585722"/>
              <a:gd name="connsiteX43" fmla="*/ 2408116 w 4116885"/>
              <a:gd name="connsiteY43" fmla="*/ 3581255 h 3585722"/>
              <a:gd name="connsiteX44" fmla="*/ 2361949 w 4116885"/>
              <a:gd name="connsiteY44" fmla="*/ 3569341 h 3585722"/>
              <a:gd name="connsiteX45" fmla="*/ 2317272 w 4116885"/>
              <a:gd name="connsiteY45" fmla="*/ 3551469 h 3585722"/>
              <a:gd name="connsiteX46" fmla="*/ 2271105 w 4116885"/>
              <a:gd name="connsiteY46" fmla="*/ 3529131 h 3585722"/>
              <a:gd name="connsiteX47" fmla="*/ 2227917 w 4116885"/>
              <a:gd name="connsiteY47" fmla="*/ 3503814 h 3585722"/>
              <a:gd name="connsiteX48" fmla="*/ 2183239 w 4116885"/>
              <a:gd name="connsiteY48" fmla="*/ 3477008 h 3585722"/>
              <a:gd name="connsiteX49" fmla="*/ 2138561 w 4116885"/>
              <a:gd name="connsiteY49" fmla="*/ 3453178 h 3585722"/>
              <a:gd name="connsiteX50" fmla="*/ 2093885 w 4116885"/>
              <a:gd name="connsiteY50" fmla="*/ 3429350 h 3585722"/>
              <a:gd name="connsiteX51" fmla="*/ 2049208 w 4116885"/>
              <a:gd name="connsiteY51" fmla="*/ 3411479 h 3585722"/>
              <a:gd name="connsiteX52" fmla="*/ 2003041 w 4116885"/>
              <a:gd name="connsiteY52" fmla="*/ 3399565 h 3585722"/>
              <a:gd name="connsiteX53" fmla="*/ 1956874 w 4116885"/>
              <a:gd name="connsiteY53" fmla="*/ 3393607 h 3585722"/>
              <a:gd name="connsiteX54" fmla="*/ 1907728 w 4116885"/>
              <a:gd name="connsiteY54" fmla="*/ 3393607 h 3585722"/>
              <a:gd name="connsiteX55" fmla="*/ 1857094 w 4116885"/>
              <a:gd name="connsiteY55" fmla="*/ 3396587 h 3585722"/>
              <a:gd name="connsiteX56" fmla="*/ 1806460 w 4116885"/>
              <a:gd name="connsiteY56" fmla="*/ 3402543 h 3585722"/>
              <a:gd name="connsiteX57" fmla="*/ 1755825 w 4116885"/>
              <a:gd name="connsiteY57" fmla="*/ 3409991 h 3585722"/>
              <a:gd name="connsiteX58" fmla="*/ 1705189 w 4116885"/>
              <a:gd name="connsiteY58" fmla="*/ 3415946 h 3585722"/>
              <a:gd name="connsiteX59" fmla="*/ 1654555 w 4116885"/>
              <a:gd name="connsiteY59" fmla="*/ 3420415 h 3585722"/>
              <a:gd name="connsiteX60" fmla="*/ 1606901 w 4116885"/>
              <a:gd name="connsiteY60" fmla="*/ 3418925 h 3585722"/>
              <a:gd name="connsiteX61" fmla="*/ 1560733 w 4116885"/>
              <a:gd name="connsiteY61" fmla="*/ 3412968 h 3585722"/>
              <a:gd name="connsiteX62" fmla="*/ 1516055 w 4116885"/>
              <a:gd name="connsiteY62" fmla="*/ 3399565 h 3585722"/>
              <a:gd name="connsiteX63" fmla="*/ 1478825 w 4116885"/>
              <a:gd name="connsiteY63" fmla="*/ 3380204 h 3585722"/>
              <a:gd name="connsiteX64" fmla="*/ 1443081 w 4116885"/>
              <a:gd name="connsiteY64" fmla="*/ 3354887 h 3585722"/>
              <a:gd name="connsiteX65" fmla="*/ 1411808 w 4116885"/>
              <a:gd name="connsiteY65" fmla="*/ 3325101 h 3585722"/>
              <a:gd name="connsiteX66" fmla="*/ 1380533 w 4116885"/>
              <a:gd name="connsiteY66" fmla="*/ 3290849 h 3585722"/>
              <a:gd name="connsiteX67" fmla="*/ 1352239 w 4116885"/>
              <a:gd name="connsiteY67" fmla="*/ 3255107 h 3585722"/>
              <a:gd name="connsiteX68" fmla="*/ 1323942 w 4116885"/>
              <a:gd name="connsiteY68" fmla="*/ 3217874 h 3585722"/>
              <a:gd name="connsiteX69" fmla="*/ 1295647 w 4116885"/>
              <a:gd name="connsiteY69" fmla="*/ 3180643 h 3585722"/>
              <a:gd name="connsiteX70" fmla="*/ 1267352 w 4116885"/>
              <a:gd name="connsiteY70" fmla="*/ 3144902 h 3585722"/>
              <a:gd name="connsiteX71" fmla="*/ 1237566 w 4116885"/>
              <a:gd name="connsiteY71" fmla="*/ 3110649 h 3585722"/>
              <a:gd name="connsiteX72" fmla="*/ 1203314 w 4116885"/>
              <a:gd name="connsiteY72" fmla="*/ 3080861 h 3585722"/>
              <a:gd name="connsiteX73" fmla="*/ 1170550 w 4116885"/>
              <a:gd name="connsiteY73" fmla="*/ 3054056 h 3585722"/>
              <a:gd name="connsiteX74" fmla="*/ 1133319 w 4116885"/>
              <a:gd name="connsiteY74" fmla="*/ 3033207 h 3585722"/>
              <a:gd name="connsiteX75" fmla="*/ 1093109 w 4116885"/>
              <a:gd name="connsiteY75" fmla="*/ 3015336 h 3585722"/>
              <a:gd name="connsiteX76" fmla="*/ 1049921 w 4116885"/>
              <a:gd name="connsiteY76" fmla="*/ 3000442 h 3585722"/>
              <a:gd name="connsiteX77" fmla="*/ 1005242 w 4116885"/>
              <a:gd name="connsiteY77" fmla="*/ 2987039 h 3585722"/>
              <a:gd name="connsiteX78" fmla="*/ 960566 w 4116885"/>
              <a:gd name="connsiteY78" fmla="*/ 2975125 h 3585722"/>
              <a:gd name="connsiteX79" fmla="*/ 914400 w 4116885"/>
              <a:gd name="connsiteY79" fmla="*/ 2963209 h 3585722"/>
              <a:gd name="connsiteX80" fmla="*/ 871211 w 4116885"/>
              <a:gd name="connsiteY80" fmla="*/ 2949806 h 3585722"/>
              <a:gd name="connsiteX81" fmla="*/ 828022 w 4116885"/>
              <a:gd name="connsiteY81" fmla="*/ 2934914 h 3585722"/>
              <a:gd name="connsiteX82" fmla="*/ 787813 w 4116885"/>
              <a:gd name="connsiteY82" fmla="*/ 2917043 h 3585722"/>
              <a:gd name="connsiteX83" fmla="*/ 752072 w 4116885"/>
              <a:gd name="connsiteY83" fmla="*/ 2894704 h 3585722"/>
              <a:gd name="connsiteX84" fmla="*/ 719306 w 4116885"/>
              <a:gd name="connsiteY84" fmla="*/ 2867898 h 3585722"/>
              <a:gd name="connsiteX85" fmla="*/ 692502 w 4116885"/>
              <a:gd name="connsiteY85" fmla="*/ 2835134 h 3585722"/>
              <a:gd name="connsiteX86" fmla="*/ 670163 w 4116885"/>
              <a:gd name="connsiteY86" fmla="*/ 2799391 h 3585722"/>
              <a:gd name="connsiteX87" fmla="*/ 652291 w 4116885"/>
              <a:gd name="connsiteY87" fmla="*/ 2759180 h 3585722"/>
              <a:gd name="connsiteX88" fmla="*/ 637399 w 4116885"/>
              <a:gd name="connsiteY88" fmla="*/ 2715993 h 3585722"/>
              <a:gd name="connsiteX89" fmla="*/ 623997 w 4116885"/>
              <a:gd name="connsiteY89" fmla="*/ 2672804 h 3585722"/>
              <a:gd name="connsiteX90" fmla="*/ 612083 w 4116885"/>
              <a:gd name="connsiteY90" fmla="*/ 2626638 h 3585722"/>
              <a:gd name="connsiteX91" fmla="*/ 600169 w 4116885"/>
              <a:gd name="connsiteY91" fmla="*/ 2581960 h 3585722"/>
              <a:gd name="connsiteX92" fmla="*/ 586764 w 4116885"/>
              <a:gd name="connsiteY92" fmla="*/ 2537281 h 3585722"/>
              <a:gd name="connsiteX93" fmla="*/ 571872 w 4116885"/>
              <a:gd name="connsiteY93" fmla="*/ 2494092 h 3585722"/>
              <a:gd name="connsiteX94" fmla="*/ 554000 w 4116885"/>
              <a:gd name="connsiteY94" fmla="*/ 2453882 h 3585722"/>
              <a:gd name="connsiteX95" fmla="*/ 533152 w 4116885"/>
              <a:gd name="connsiteY95" fmla="*/ 2416651 h 3585722"/>
              <a:gd name="connsiteX96" fmla="*/ 506346 w 4116885"/>
              <a:gd name="connsiteY96" fmla="*/ 2383887 h 3585722"/>
              <a:gd name="connsiteX97" fmla="*/ 476561 w 4116885"/>
              <a:gd name="connsiteY97" fmla="*/ 2349633 h 3585722"/>
              <a:gd name="connsiteX98" fmla="*/ 442308 w 4116885"/>
              <a:gd name="connsiteY98" fmla="*/ 2319849 h 3585722"/>
              <a:gd name="connsiteX99" fmla="*/ 405075 w 4116885"/>
              <a:gd name="connsiteY99" fmla="*/ 2291554 h 3585722"/>
              <a:gd name="connsiteX100" fmla="*/ 367844 w 4116885"/>
              <a:gd name="connsiteY100" fmla="*/ 2263257 h 3585722"/>
              <a:gd name="connsiteX101" fmla="*/ 330615 w 4116885"/>
              <a:gd name="connsiteY101" fmla="*/ 2234962 h 3585722"/>
              <a:gd name="connsiteX102" fmla="*/ 294872 w 4116885"/>
              <a:gd name="connsiteY102" fmla="*/ 2206664 h 3585722"/>
              <a:gd name="connsiteX103" fmla="*/ 260619 w 4116885"/>
              <a:gd name="connsiteY103" fmla="*/ 2175390 h 3585722"/>
              <a:gd name="connsiteX104" fmla="*/ 230835 w 4116885"/>
              <a:gd name="connsiteY104" fmla="*/ 2144116 h 3585722"/>
              <a:gd name="connsiteX105" fmla="*/ 205519 w 4116885"/>
              <a:gd name="connsiteY105" fmla="*/ 2108372 h 3585722"/>
              <a:gd name="connsiteX106" fmla="*/ 186158 w 4116885"/>
              <a:gd name="connsiteY106" fmla="*/ 2071141 h 3585722"/>
              <a:gd name="connsiteX107" fmla="*/ 172755 w 4116885"/>
              <a:gd name="connsiteY107" fmla="*/ 2026465 h 3585722"/>
              <a:gd name="connsiteX108" fmla="*/ 166797 w 4116885"/>
              <a:gd name="connsiteY108" fmla="*/ 1980297 h 3585722"/>
              <a:gd name="connsiteX109" fmla="*/ 165306 w 4116885"/>
              <a:gd name="connsiteY109" fmla="*/ 1932640 h 3585722"/>
              <a:gd name="connsiteX110" fmla="*/ 169775 w 4116885"/>
              <a:gd name="connsiteY110" fmla="*/ 1882006 h 3585722"/>
              <a:gd name="connsiteX111" fmla="*/ 175733 w 4116885"/>
              <a:gd name="connsiteY111" fmla="*/ 1831370 h 3585722"/>
              <a:gd name="connsiteX112" fmla="*/ 183178 w 4116885"/>
              <a:gd name="connsiteY112" fmla="*/ 1780735 h 3585722"/>
              <a:gd name="connsiteX113" fmla="*/ 189136 w 4116885"/>
              <a:gd name="connsiteY113" fmla="*/ 1730101 h 3585722"/>
              <a:gd name="connsiteX114" fmla="*/ 192116 w 4116885"/>
              <a:gd name="connsiteY114" fmla="*/ 1679466 h 3585722"/>
              <a:gd name="connsiteX115" fmla="*/ 192116 w 4116885"/>
              <a:gd name="connsiteY115" fmla="*/ 1630319 h 3585722"/>
              <a:gd name="connsiteX116" fmla="*/ 186158 w 4116885"/>
              <a:gd name="connsiteY116" fmla="*/ 1584152 h 3585722"/>
              <a:gd name="connsiteX117" fmla="*/ 174244 w 4116885"/>
              <a:gd name="connsiteY117" fmla="*/ 1537986 h 3585722"/>
              <a:gd name="connsiteX118" fmla="*/ 156372 w 4116885"/>
              <a:gd name="connsiteY118" fmla="*/ 1494795 h 3585722"/>
              <a:gd name="connsiteX119" fmla="*/ 134033 w 4116885"/>
              <a:gd name="connsiteY119" fmla="*/ 1450119 h 3585722"/>
              <a:gd name="connsiteX120" fmla="*/ 108716 w 4116885"/>
              <a:gd name="connsiteY120" fmla="*/ 1405442 h 3585722"/>
              <a:gd name="connsiteX121" fmla="*/ 81910 w 4116885"/>
              <a:gd name="connsiteY121" fmla="*/ 1360762 h 3585722"/>
              <a:gd name="connsiteX122" fmla="*/ 56594 w 4116885"/>
              <a:gd name="connsiteY122" fmla="*/ 1317574 h 3585722"/>
              <a:gd name="connsiteX123" fmla="*/ 34253 w 4116885"/>
              <a:gd name="connsiteY123" fmla="*/ 1271407 h 3585722"/>
              <a:gd name="connsiteX124" fmla="*/ 16383 w 4116885"/>
              <a:gd name="connsiteY124" fmla="*/ 1226729 h 3585722"/>
              <a:gd name="connsiteX125" fmla="*/ 4469 w 4116885"/>
              <a:gd name="connsiteY125" fmla="*/ 1180561 h 3585722"/>
              <a:gd name="connsiteX126" fmla="*/ 0 w 4116885"/>
              <a:gd name="connsiteY126" fmla="*/ 1132905 h 3585722"/>
              <a:gd name="connsiteX127" fmla="*/ 4469 w 4116885"/>
              <a:gd name="connsiteY127" fmla="*/ 1085249 h 3585722"/>
              <a:gd name="connsiteX128" fmla="*/ 16383 w 4116885"/>
              <a:gd name="connsiteY128" fmla="*/ 1039083 h 3585722"/>
              <a:gd name="connsiteX129" fmla="*/ 34253 w 4116885"/>
              <a:gd name="connsiteY129" fmla="*/ 994403 h 3585722"/>
              <a:gd name="connsiteX130" fmla="*/ 56594 w 4116885"/>
              <a:gd name="connsiteY130" fmla="*/ 948238 h 3585722"/>
              <a:gd name="connsiteX131" fmla="*/ 81910 w 4116885"/>
              <a:gd name="connsiteY131" fmla="*/ 905048 h 3585722"/>
              <a:gd name="connsiteX132" fmla="*/ 108716 w 4116885"/>
              <a:gd name="connsiteY132" fmla="*/ 860370 h 3585722"/>
              <a:gd name="connsiteX133" fmla="*/ 134033 w 4116885"/>
              <a:gd name="connsiteY133" fmla="*/ 815693 h 3585722"/>
              <a:gd name="connsiteX134" fmla="*/ 156372 w 4116885"/>
              <a:gd name="connsiteY134" fmla="*/ 771015 h 3585722"/>
              <a:gd name="connsiteX135" fmla="*/ 174244 w 4116885"/>
              <a:gd name="connsiteY135" fmla="*/ 727825 h 3585722"/>
              <a:gd name="connsiteX136" fmla="*/ 186158 w 4116885"/>
              <a:gd name="connsiteY136" fmla="*/ 681658 h 3585722"/>
              <a:gd name="connsiteX137" fmla="*/ 192116 w 4116885"/>
              <a:gd name="connsiteY137" fmla="*/ 635491 h 3585722"/>
              <a:gd name="connsiteX138" fmla="*/ 192116 w 4116885"/>
              <a:gd name="connsiteY138" fmla="*/ 586346 h 3585722"/>
              <a:gd name="connsiteX139" fmla="*/ 189136 w 4116885"/>
              <a:gd name="connsiteY139" fmla="*/ 535711 h 3585722"/>
              <a:gd name="connsiteX140" fmla="*/ 183178 w 4116885"/>
              <a:gd name="connsiteY140" fmla="*/ 485075 h 3585722"/>
              <a:gd name="connsiteX141" fmla="*/ 175733 w 4116885"/>
              <a:gd name="connsiteY141" fmla="*/ 434440 h 3585722"/>
              <a:gd name="connsiteX142" fmla="*/ 169775 w 4116885"/>
              <a:gd name="connsiteY142" fmla="*/ 383806 h 3585722"/>
              <a:gd name="connsiteX143" fmla="*/ 165306 w 4116885"/>
              <a:gd name="connsiteY143" fmla="*/ 333172 h 3585722"/>
              <a:gd name="connsiteX144" fmla="*/ 166797 w 4116885"/>
              <a:gd name="connsiteY144" fmla="*/ 285515 h 3585722"/>
              <a:gd name="connsiteX145" fmla="*/ 172755 w 4116885"/>
              <a:gd name="connsiteY145" fmla="*/ 239348 h 3585722"/>
              <a:gd name="connsiteX146" fmla="*/ 186158 w 4116885"/>
              <a:gd name="connsiteY146" fmla="*/ 194669 h 3585722"/>
              <a:gd name="connsiteX147" fmla="*/ 205519 w 4116885"/>
              <a:gd name="connsiteY147" fmla="*/ 157438 h 3585722"/>
              <a:gd name="connsiteX148" fmla="*/ 230835 w 4116885"/>
              <a:gd name="connsiteY148" fmla="*/ 121696 h 3585722"/>
              <a:gd name="connsiteX149" fmla="*/ 260619 w 4116885"/>
              <a:gd name="connsiteY149" fmla="*/ 90421 h 3585722"/>
              <a:gd name="connsiteX150" fmla="*/ 294872 w 4116885"/>
              <a:gd name="connsiteY150" fmla="*/ 59147 h 3585722"/>
              <a:gd name="connsiteX151" fmla="*/ 330615 w 4116885"/>
              <a:gd name="connsiteY151" fmla="*/ 30850 h 3585722"/>
              <a:gd name="connsiteX152" fmla="*/ 367844 w 4116885"/>
              <a:gd name="connsiteY152" fmla="*/ 2553 h 358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4116885" h="3585722">
                <a:moveTo>
                  <a:pt x="371204" y="0"/>
                </a:moveTo>
                <a:lnTo>
                  <a:pt x="4116885" y="0"/>
                </a:lnTo>
                <a:lnTo>
                  <a:pt x="4116885" y="2920084"/>
                </a:lnTo>
                <a:lnTo>
                  <a:pt x="4083518" y="2934914"/>
                </a:lnTo>
                <a:lnTo>
                  <a:pt x="4040331" y="2949806"/>
                </a:lnTo>
                <a:lnTo>
                  <a:pt x="3997143" y="2963209"/>
                </a:lnTo>
                <a:lnTo>
                  <a:pt x="3950976" y="2975125"/>
                </a:lnTo>
                <a:lnTo>
                  <a:pt x="3906298" y="2987039"/>
                </a:lnTo>
                <a:lnTo>
                  <a:pt x="3861622" y="3000442"/>
                </a:lnTo>
                <a:lnTo>
                  <a:pt x="3818433" y="3015336"/>
                </a:lnTo>
                <a:lnTo>
                  <a:pt x="3778225" y="3033207"/>
                </a:lnTo>
                <a:lnTo>
                  <a:pt x="3740994" y="3054056"/>
                </a:lnTo>
                <a:lnTo>
                  <a:pt x="3708230" y="3080861"/>
                </a:lnTo>
                <a:lnTo>
                  <a:pt x="3673977" y="3110649"/>
                </a:lnTo>
                <a:lnTo>
                  <a:pt x="3644190" y="3144902"/>
                </a:lnTo>
                <a:lnTo>
                  <a:pt x="3615895" y="3180643"/>
                </a:lnTo>
                <a:lnTo>
                  <a:pt x="3587600" y="3217874"/>
                </a:lnTo>
                <a:lnTo>
                  <a:pt x="3559305" y="3255107"/>
                </a:lnTo>
                <a:lnTo>
                  <a:pt x="3531009" y="3290849"/>
                </a:lnTo>
                <a:lnTo>
                  <a:pt x="3499734" y="3325101"/>
                </a:lnTo>
                <a:lnTo>
                  <a:pt x="3468459" y="3354887"/>
                </a:lnTo>
                <a:lnTo>
                  <a:pt x="3432719" y="3380204"/>
                </a:lnTo>
                <a:lnTo>
                  <a:pt x="3395487" y="3399565"/>
                </a:lnTo>
                <a:lnTo>
                  <a:pt x="3350809" y="3412968"/>
                </a:lnTo>
                <a:lnTo>
                  <a:pt x="3304642" y="3418925"/>
                </a:lnTo>
                <a:lnTo>
                  <a:pt x="3256988" y="3420415"/>
                </a:lnTo>
                <a:lnTo>
                  <a:pt x="3206353" y="3415946"/>
                </a:lnTo>
                <a:lnTo>
                  <a:pt x="3155719" y="3409991"/>
                </a:lnTo>
                <a:lnTo>
                  <a:pt x="3105083" y="3402543"/>
                </a:lnTo>
                <a:lnTo>
                  <a:pt x="3054450" y="3396587"/>
                </a:lnTo>
                <a:lnTo>
                  <a:pt x="3003814" y="3393607"/>
                </a:lnTo>
                <a:lnTo>
                  <a:pt x="2954669" y="3393607"/>
                </a:lnTo>
                <a:lnTo>
                  <a:pt x="2908503" y="3399565"/>
                </a:lnTo>
                <a:lnTo>
                  <a:pt x="2860847" y="3411479"/>
                </a:lnTo>
                <a:lnTo>
                  <a:pt x="2817659" y="3429350"/>
                </a:lnTo>
                <a:lnTo>
                  <a:pt x="2772981" y="3453178"/>
                </a:lnTo>
                <a:lnTo>
                  <a:pt x="2728305" y="3477008"/>
                </a:lnTo>
                <a:lnTo>
                  <a:pt x="2683627" y="3503814"/>
                </a:lnTo>
                <a:lnTo>
                  <a:pt x="2640437" y="3529131"/>
                </a:lnTo>
                <a:lnTo>
                  <a:pt x="2594272" y="3551469"/>
                </a:lnTo>
                <a:lnTo>
                  <a:pt x="2549594" y="3569341"/>
                </a:lnTo>
                <a:lnTo>
                  <a:pt x="2503426" y="3581255"/>
                </a:lnTo>
                <a:lnTo>
                  <a:pt x="2455772" y="3585722"/>
                </a:lnTo>
                <a:lnTo>
                  <a:pt x="2408116" y="3581255"/>
                </a:lnTo>
                <a:lnTo>
                  <a:pt x="2361949" y="3569341"/>
                </a:lnTo>
                <a:lnTo>
                  <a:pt x="2317272" y="3551469"/>
                </a:lnTo>
                <a:lnTo>
                  <a:pt x="2271105" y="3529131"/>
                </a:lnTo>
                <a:lnTo>
                  <a:pt x="2227917" y="3503814"/>
                </a:lnTo>
                <a:lnTo>
                  <a:pt x="2183239" y="3477008"/>
                </a:lnTo>
                <a:lnTo>
                  <a:pt x="2138561" y="3453178"/>
                </a:lnTo>
                <a:lnTo>
                  <a:pt x="2093885" y="3429350"/>
                </a:lnTo>
                <a:lnTo>
                  <a:pt x="2049208" y="3411479"/>
                </a:lnTo>
                <a:lnTo>
                  <a:pt x="2003041" y="3399565"/>
                </a:lnTo>
                <a:lnTo>
                  <a:pt x="1956874" y="3393607"/>
                </a:lnTo>
                <a:lnTo>
                  <a:pt x="1907728" y="3393607"/>
                </a:lnTo>
                <a:lnTo>
                  <a:pt x="1857094" y="3396587"/>
                </a:lnTo>
                <a:lnTo>
                  <a:pt x="1806460" y="3402543"/>
                </a:lnTo>
                <a:lnTo>
                  <a:pt x="1755825" y="3409991"/>
                </a:lnTo>
                <a:lnTo>
                  <a:pt x="1705189" y="3415946"/>
                </a:lnTo>
                <a:lnTo>
                  <a:pt x="1654555" y="3420415"/>
                </a:lnTo>
                <a:lnTo>
                  <a:pt x="1606901" y="3418925"/>
                </a:lnTo>
                <a:lnTo>
                  <a:pt x="1560733" y="3412968"/>
                </a:lnTo>
                <a:lnTo>
                  <a:pt x="1516055" y="3399565"/>
                </a:lnTo>
                <a:lnTo>
                  <a:pt x="1478825" y="3380204"/>
                </a:lnTo>
                <a:lnTo>
                  <a:pt x="1443081" y="3354887"/>
                </a:lnTo>
                <a:lnTo>
                  <a:pt x="1411808" y="3325101"/>
                </a:lnTo>
                <a:lnTo>
                  <a:pt x="1380533" y="3290849"/>
                </a:lnTo>
                <a:lnTo>
                  <a:pt x="1352239" y="3255107"/>
                </a:lnTo>
                <a:lnTo>
                  <a:pt x="1323942" y="3217874"/>
                </a:lnTo>
                <a:lnTo>
                  <a:pt x="1295647" y="3180643"/>
                </a:lnTo>
                <a:lnTo>
                  <a:pt x="1267352" y="3144902"/>
                </a:lnTo>
                <a:lnTo>
                  <a:pt x="1237566" y="3110649"/>
                </a:lnTo>
                <a:lnTo>
                  <a:pt x="1203314" y="3080861"/>
                </a:lnTo>
                <a:lnTo>
                  <a:pt x="1170550" y="3054056"/>
                </a:lnTo>
                <a:lnTo>
                  <a:pt x="1133319" y="3033207"/>
                </a:lnTo>
                <a:lnTo>
                  <a:pt x="1093109" y="3015336"/>
                </a:lnTo>
                <a:lnTo>
                  <a:pt x="1049921" y="3000442"/>
                </a:lnTo>
                <a:lnTo>
                  <a:pt x="1005242" y="2987039"/>
                </a:lnTo>
                <a:lnTo>
                  <a:pt x="960566" y="2975125"/>
                </a:lnTo>
                <a:lnTo>
                  <a:pt x="914400" y="2963209"/>
                </a:lnTo>
                <a:lnTo>
                  <a:pt x="871211" y="2949806"/>
                </a:lnTo>
                <a:lnTo>
                  <a:pt x="828022" y="2934914"/>
                </a:lnTo>
                <a:lnTo>
                  <a:pt x="787813" y="2917043"/>
                </a:lnTo>
                <a:lnTo>
                  <a:pt x="752072" y="2894704"/>
                </a:lnTo>
                <a:lnTo>
                  <a:pt x="719306" y="2867898"/>
                </a:lnTo>
                <a:lnTo>
                  <a:pt x="692502" y="2835134"/>
                </a:lnTo>
                <a:lnTo>
                  <a:pt x="670163" y="2799391"/>
                </a:lnTo>
                <a:lnTo>
                  <a:pt x="652291" y="2759180"/>
                </a:lnTo>
                <a:lnTo>
                  <a:pt x="637399" y="2715993"/>
                </a:lnTo>
                <a:lnTo>
                  <a:pt x="623997" y="2672804"/>
                </a:lnTo>
                <a:lnTo>
                  <a:pt x="612083" y="2626638"/>
                </a:lnTo>
                <a:lnTo>
                  <a:pt x="600169" y="2581960"/>
                </a:lnTo>
                <a:lnTo>
                  <a:pt x="586764" y="2537281"/>
                </a:lnTo>
                <a:lnTo>
                  <a:pt x="571872" y="2494092"/>
                </a:lnTo>
                <a:lnTo>
                  <a:pt x="554000" y="2453882"/>
                </a:lnTo>
                <a:lnTo>
                  <a:pt x="533152" y="2416651"/>
                </a:lnTo>
                <a:lnTo>
                  <a:pt x="506346" y="2383887"/>
                </a:lnTo>
                <a:lnTo>
                  <a:pt x="476561" y="2349633"/>
                </a:lnTo>
                <a:lnTo>
                  <a:pt x="442308" y="2319849"/>
                </a:lnTo>
                <a:lnTo>
                  <a:pt x="405075" y="2291554"/>
                </a:lnTo>
                <a:lnTo>
                  <a:pt x="367844" y="2263257"/>
                </a:lnTo>
                <a:lnTo>
                  <a:pt x="330615" y="2234962"/>
                </a:lnTo>
                <a:lnTo>
                  <a:pt x="294872" y="2206664"/>
                </a:lnTo>
                <a:lnTo>
                  <a:pt x="260619" y="2175390"/>
                </a:lnTo>
                <a:lnTo>
                  <a:pt x="230835" y="2144116"/>
                </a:lnTo>
                <a:lnTo>
                  <a:pt x="205519" y="2108372"/>
                </a:lnTo>
                <a:lnTo>
                  <a:pt x="186158" y="2071141"/>
                </a:lnTo>
                <a:lnTo>
                  <a:pt x="172755" y="2026465"/>
                </a:lnTo>
                <a:lnTo>
                  <a:pt x="166797" y="1980297"/>
                </a:lnTo>
                <a:lnTo>
                  <a:pt x="165306" y="1932640"/>
                </a:lnTo>
                <a:lnTo>
                  <a:pt x="169775" y="1882006"/>
                </a:lnTo>
                <a:lnTo>
                  <a:pt x="175733" y="1831370"/>
                </a:lnTo>
                <a:lnTo>
                  <a:pt x="183178" y="1780735"/>
                </a:lnTo>
                <a:lnTo>
                  <a:pt x="189136" y="1730101"/>
                </a:lnTo>
                <a:lnTo>
                  <a:pt x="192116" y="1679466"/>
                </a:lnTo>
                <a:lnTo>
                  <a:pt x="192116" y="1630319"/>
                </a:lnTo>
                <a:lnTo>
                  <a:pt x="186158" y="1584152"/>
                </a:lnTo>
                <a:lnTo>
                  <a:pt x="174244" y="1537986"/>
                </a:lnTo>
                <a:lnTo>
                  <a:pt x="156372" y="1494795"/>
                </a:lnTo>
                <a:lnTo>
                  <a:pt x="134033" y="1450119"/>
                </a:lnTo>
                <a:lnTo>
                  <a:pt x="108716" y="1405442"/>
                </a:lnTo>
                <a:lnTo>
                  <a:pt x="81910" y="1360762"/>
                </a:lnTo>
                <a:lnTo>
                  <a:pt x="56594" y="1317574"/>
                </a:lnTo>
                <a:lnTo>
                  <a:pt x="34253" y="1271407"/>
                </a:lnTo>
                <a:lnTo>
                  <a:pt x="16383" y="1226729"/>
                </a:lnTo>
                <a:lnTo>
                  <a:pt x="4469" y="1180561"/>
                </a:lnTo>
                <a:lnTo>
                  <a:pt x="0" y="1132905"/>
                </a:lnTo>
                <a:lnTo>
                  <a:pt x="4469" y="1085249"/>
                </a:lnTo>
                <a:lnTo>
                  <a:pt x="16383" y="1039083"/>
                </a:lnTo>
                <a:lnTo>
                  <a:pt x="34253" y="994403"/>
                </a:lnTo>
                <a:lnTo>
                  <a:pt x="56594" y="948238"/>
                </a:lnTo>
                <a:lnTo>
                  <a:pt x="81910" y="905048"/>
                </a:lnTo>
                <a:lnTo>
                  <a:pt x="108716" y="860370"/>
                </a:lnTo>
                <a:lnTo>
                  <a:pt x="134033" y="815693"/>
                </a:lnTo>
                <a:lnTo>
                  <a:pt x="156372" y="771015"/>
                </a:lnTo>
                <a:lnTo>
                  <a:pt x="174244" y="727825"/>
                </a:lnTo>
                <a:lnTo>
                  <a:pt x="186158" y="681658"/>
                </a:lnTo>
                <a:lnTo>
                  <a:pt x="192116" y="635491"/>
                </a:lnTo>
                <a:lnTo>
                  <a:pt x="192116" y="586346"/>
                </a:lnTo>
                <a:lnTo>
                  <a:pt x="189136" y="535711"/>
                </a:lnTo>
                <a:lnTo>
                  <a:pt x="183178" y="485075"/>
                </a:lnTo>
                <a:lnTo>
                  <a:pt x="175733" y="434440"/>
                </a:lnTo>
                <a:lnTo>
                  <a:pt x="169775" y="383806"/>
                </a:lnTo>
                <a:lnTo>
                  <a:pt x="165306" y="333172"/>
                </a:lnTo>
                <a:lnTo>
                  <a:pt x="166797" y="285515"/>
                </a:lnTo>
                <a:lnTo>
                  <a:pt x="172755" y="239348"/>
                </a:lnTo>
                <a:lnTo>
                  <a:pt x="186158" y="194669"/>
                </a:lnTo>
                <a:lnTo>
                  <a:pt x="205519" y="157438"/>
                </a:lnTo>
                <a:lnTo>
                  <a:pt x="230835" y="121696"/>
                </a:lnTo>
                <a:lnTo>
                  <a:pt x="260619" y="90421"/>
                </a:lnTo>
                <a:lnTo>
                  <a:pt x="294872" y="59147"/>
                </a:lnTo>
                <a:lnTo>
                  <a:pt x="330615" y="30850"/>
                </a:lnTo>
                <a:lnTo>
                  <a:pt x="367844" y="25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Graphic 10" descr="Badge Heart">
            <a:extLst>
              <a:ext uri="{FF2B5EF4-FFF2-40B4-BE49-F238E27FC236}">
                <a16:creationId xmlns:a16="http://schemas.microsoft.com/office/drawing/2014/main" id="{70ACCC68-1688-4FFE-B8B4-8AA44C88B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9319" y="248259"/>
            <a:ext cx="2336538" cy="2336538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563FBA8-D302-415D-ACB8-C0406838D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3688" y="2584797"/>
            <a:ext cx="3261712" cy="3257750"/>
          </a:xfrm>
          <a:custGeom>
            <a:avLst/>
            <a:gdLst>
              <a:gd name="connsiteX0" fmla="*/ 3095991 w 6191980"/>
              <a:gd name="connsiteY0" fmla="*/ 0 h 6184462"/>
              <a:gd name="connsiteX1" fmla="*/ 3156069 w 6191980"/>
              <a:gd name="connsiteY1" fmla="*/ 5631 h 6184462"/>
              <a:gd name="connsiteX2" fmla="*/ 3214272 w 6191980"/>
              <a:gd name="connsiteY2" fmla="*/ 20652 h 6184462"/>
              <a:gd name="connsiteX3" fmla="*/ 3270598 w 6191980"/>
              <a:gd name="connsiteY3" fmla="*/ 43182 h 6184462"/>
              <a:gd name="connsiteX4" fmla="*/ 3328798 w 6191980"/>
              <a:gd name="connsiteY4" fmla="*/ 71344 h 6184462"/>
              <a:gd name="connsiteX5" fmla="*/ 3383247 w 6191980"/>
              <a:gd name="connsiteY5" fmla="*/ 103262 h 6184462"/>
              <a:gd name="connsiteX6" fmla="*/ 3439573 w 6191980"/>
              <a:gd name="connsiteY6" fmla="*/ 137057 h 6184462"/>
              <a:gd name="connsiteX7" fmla="*/ 3495897 w 6191980"/>
              <a:gd name="connsiteY7" fmla="*/ 167096 h 6184462"/>
              <a:gd name="connsiteX8" fmla="*/ 3552221 w 6191980"/>
              <a:gd name="connsiteY8" fmla="*/ 197137 h 6184462"/>
              <a:gd name="connsiteX9" fmla="*/ 3606669 w 6191980"/>
              <a:gd name="connsiteY9" fmla="*/ 219666 h 6184462"/>
              <a:gd name="connsiteX10" fmla="*/ 3666749 w 6191980"/>
              <a:gd name="connsiteY10" fmla="*/ 234686 h 6184462"/>
              <a:gd name="connsiteX11" fmla="*/ 3724950 w 6191980"/>
              <a:gd name="connsiteY11" fmla="*/ 242197 h 6184462"/>
              <a:gd name="connsiteX12" fmla="*/ 3786907 w 6191980"/>
              <a:gd name="connsiteY12" fmla="*/ 242197 h 6184462"/>
              <a:gd name="connsiteX13" fmla="*/ 3850743 w 6191980"/>
              <a:gd name="connsiteY13" fmla="*/ 238443 h 6184462"/>
              <a:gd name="connsiteX14" fmla="*/ 3914577 w 6191980"/>
              <a:gd name="connsiteY14" fmla="*/ 230932 h 6184462"/>
              <a:gd name="connsiteX15" fmla="*/ 3978413 w 6191980"/>
              <a:gd name="connsiteY15" fmla="*/ 221545 h 6184462"/>
              <a:gd name="connsiteX16" fmla="*/ 4042247 w 6191980"/>
              <a:gd name="connsiteY16" fmla="*/ 214035 h 6184462"/>
              <a:gd name="connsiteX17" fmla="*/ 4106083 w 6191980"/>
              <a:gd name="connsiteY17" fmla="*/ 208401 h 6184462"/>
              <a:gd name="connsiteX18" fmla="*/ 4166161 w 6191980"/>
              <a:gd name="connsiteY18" fmla="*/ 210279 h 6184462"/>
              <a:gd name="connsiteX19" fmla="*/ 4224364 w 6191980"/>
              <a:gd name="connsiteY19" fmla="*/ 217789 h 6184462"/>
              <a:gd name="connsiteX20" fmla="*/ 4280690 w 6191980"/>
              <a:gd name="connsiteY20" fmla="*/ 234686 h 6184462"/>
              <a:gd name="connsiteX21" fmla="*/ 4327628 w 6191980"/>
              <a:gd name="connsiteY21" fmla="*/ 259094 h 6184462"/>
              <a:gd name="connsiteX22" fmla="*/ 4372686 w 6191980"/>
              <a:gd name="connsiteY22" fmla="*/ 291012 h 6184462"/>
              <a:gd name="connsiteX23" fmla="*/ 4412114 w 6191980"/>
              <a:gd name="connsiteY23" fmla="*/ 328561 h 6184462"/>
              <a:gd name="connsiteX24" fmla="*/ 4451542 w 6191980"/>
              <a:gd name="connsiteY24" fmla="*/ 371743 h 6184462"/>
              <a:gd name="connsiteX25" fmla="*/ 4487214 w 6191980"/>
              <a:gd name="connsiteY25" fmla="*/ 416803 h 6184462"/>
              <a:gd name="connsiteX26" fmla="*/ 4522886 w 6191980"/>
              <a:gd name="connsiteY26" fmla="*/ 463741 h 6184462"/>
              <a:gd name="connsiteX27" fmla="*/ 4558559 w 6191980"/>
              <a:gd name="connsiteY27" fmla="*/ 510678 h 6184462"/>
              <a:gd name="connsiteX28" fmla="*/ 4594231 w 6191980"/>
              <a:gd name="connsiteY28" fmla="*/ 555737 h 6184462"/>
              <a:gd name="connsiteX29" fmla="*/ 4631782 w 6191980"/>
              <a:gd name="connsiteY29" fmla="*/ 598919 h 6184462"/>
              <a:gd name="connsiteX30" fmla="*/ 4674964 w 6191980"/>
              <a:gd name="connsiteY30" fmla="*/ 636471 h 6184462"/>
              <a:gd name="connsiteX31" fmla="*/ 4716270 w 6191980"/>
              <a:gd name="connsiteY31" fmla="*/ 670266 h 6184462"/>
              <a:gd name="connsiteX32" fmla="*/ 4763206 w 6191980"/>
              <a:gd name="connsiteY32" fmla="*/ 696549 h 6184462"/>
              <a:gd name="connsiteX33" fmla="*/ 4813899 w 6191980"/>
              <a:gd name="connsiteY33" fmla="*/ 719079 h 6184462"/>
              <a:gd name="connsiteX34" fmla="*/ 4868345 w 6191980"/>
              <a:gd name="connsiteY34" fmla="*/ 737854 h 6184462"/>
              <a:gd name="connsiteX35" fmla="*/ 4924669 w 6191980"/>
              <a:gd name="connsiteY35" fmla="*/ 754751 h 6184462"/>
              <a:gd name="connsiteX36" fmla="*/ 4980995 w 6191980"/>
              <a:gd name="connsiteY36" fmla="*/ 769772 h 6184462"/>
              <a:gd name="connsiteX37" fmla="*/ 5039198 w 6191980"/>
              <a:gd name="connsiteY37" fmla="*/ 784792 h 6184462"/>
              <a:gd name="connsiteX38" fmla="*/ 5093644 w 6191980"/>
              <a:gd name="connsiteY38" fmla="*/ 801690 h 6184462"/>
              <a:gd name="connsiteX39" fmla="*/ 5148091 w 6191980"/>
              <a:gd name="connsiteY39" fmla="*/ 820464 h 6184462"/>
              <a:gd name="connsiteX40" fmla="*/ 5198784 w 6191980"/>
              <a:gd name="connsiteY40" fmla="*/ 842995 h 6184462"/>
              <a:gd name="connsiteX41" fmla="*/ 5243845 w 6191980"/>
              <a:gd name="connsiteY41" fmla="*/ 871157 h 6184462"/>
              <a:gd name="connsiteX42" fmla="*/ 5285151 w 6191980"/>
              <a:gd name="connsiteY42" fmla="*/ 904952 h 6184462"/>
              <a:gd name="connsiteX43" fmla="*/ 5318944 w 6191980"/>
              <a:gd name="connsiteY43" fmla="*/ 946257 h 6184462"/>
              <a:gd name="connsiteX44" fmla="*/ 5347108 w 6191980"/>
              <a:gd name="connsiteY44" fmla="*/ 991317 h 6184462"/>
              <a:gd name="connsiteX45" fmla="*/ 5369636 w 6191980"/>
              <a:gd name="connsiteY45" fmla="*/ 1042007 h 6184462"/>
              <a:gd name="connsiteX46" fmla="*/ 5388410 w 6191980"/>
              <a:gd name="connsiteY46" fmla="*/ 1096456 h 6184462"/>
              <a:gd name="connsiteX47" fmla="*/ 5405308 w 6191980"/>
              <a:gd name="connsiteY47" fmla="*/ 1150903 h 6184462"/>
              <a:gd name="connsiteX48" fmla="*/ 5420328 w 6191980"/>
              <a:gd name="connsiteY48" fmla="*/ 1209105 h 6184462"/>
              <a:gd name="connsiteX49" fmla="*/ 5435349 w 6191980"/>
              <a:gd name="connsiteY49" fmla="*/ 1265429 h 6184462"/>
              <a:gd name="connsiteX50" fmla="*/ 5452246 w 6191980"/>
              <a:gd name="connsiteY50" fmla="*/ 1321755 h 6184462"/>
              <a:gd name="connsiteX51" fmla="*/ 5471021 w 6191980"/>
              <a:gd name="connsiteY51" fmla="*/ 1376203 h 6184462"/>
              <a:gd name="connsiteX52" fmla="*/ 5493550 w 6191980"/>
              <a:gd name="connsiteY52" fmla="*/ 1426896 h 6184462"/>
              <a:gd name="connsiteX53" fmla="*/ 5519836 w 6191980"/>
              <a:gd name="connsiteY53" fmla="*/ 1473832 h 6184462"/>
              <a:gd name="connsiteX54" fmla="*/ 5553632 w 6191980"/>
              <a:gd name="connsiteY54" fmla="*/ 1515138 h 6184462"/>
              <a:gd name="connsiteX55" fmla="*/ 5591181 w 6191980"/>
              <a:gd name="connsiteY55" fmla="*/ 1558320 h 6184462"/>
              <a:gd name="connsiteX56" fmla="*/ 5634364 w 6191980"/>
              <a:gd name="connsiteY56" fmla="*/ 1595869 h 6184462"/>
              <a:gd name="connsiteX57" fmla="*/ 5679425 w 6191980"/>
              <a:gd name="connsiteY57" fmla="*/ 1631541 h 6184462"/>
              <a:gd name="connsiteX58" fmla="*/ 5728238 w 6191980"/>
              <a:gd name="connsiteY58" fmla="*/ 1667213 h 6184462"/>
              <a:gd name="connsiteX59" fmla="*/ 5775175 w 6191980"/>
              <a:gd name="connsiteY59" fmla="*/ 1702885 h 6184462"/>
              <a:gd name="connsiteX60" fmla="*/ 5820236 w 6191980"/>
              <a:gd name="connsiteY60" fmla="*/ 1738560 h 6184462"/>
              <a:gd name="connsiteX61" fmla="*/ 5863416 w 6191980"/>
              <a:gd name="connsiteY61" fmla="*/ 1777986 h 6184462"/>
              <a:gd name="connsiteX62" fmla="*/ 5900968 w 6191980"/>
              <a:gd name="connsiteY62" fmla="*/ 1817414 h 6184462"/>
              <a:gd name="connsiteX63" fmla="*/ 5932886 w 6191980"/>
              <a:gd name="connsiteY63" fmla="*/ 1862474 h 6184462"/>
              <a:gd name="connsiteX64" fmla="*/ 5957294 w 6191980"/>
              <a:gd name="connsiteY64" fmla="*/ 1909410 h 6184462"/>
              <a:gd name="connsiteX65" fmla="*/ 5974191 w 6191980"/>
              <a:gd name="connsiteY65" fmla="*/ 1965736 h 6184462"/>
              <a:gd name="connsiteX66" fmla="*/ 5981700 w 6191980"/>
              <a:gd name="connsiteY66" fmla="*/ 2023938 h 6184462"/>
              <a:gd name="connsiteX67" fmla="*/ 5983578 w 6191980"/>
              <a:gd name="connsiteY67" fmla="*/ 2084018 h 6184462"/>
              <a:gd name="connsiteX68" fmla="*/ 5977945 w 6191980"/>
              <a:gd name="connsiteY68" fmla="*/ 2147852 h 6184462"/>
              <a:gd name="connsiteX69" fmla="*/ 5970435 w 6191980"/>
              <a:gd name="connsiteY69" fmla="*/ 2211686 h 6184462"/>
              <a:gd name="connsiteX70" fmla="*/ 5961048 w 6191980"/>
              <a:gd name="connsiteY70" fmla="*/ 2275522 h 6184462"/>
              <a:gd name="connsiteX71" fmla="*/ 5953538 w 6191980"/>
              <a:gd name="connsiteY71" fmla="*/ 2339356 h 6184462"/>
              <a:gd name="connsiteX72" fmla="*/ 5949784 w 6191980"/>
              <a:gd name="connsiteY72" fmla="*/ 2403192 h 6184462"/>
              <a:gd name="connsiteX73" fmla="*/ 5949784 w 6191980"/>
              <a:gd name="connsiteY73" fmla="*/ 2465149 h 6184462"/>
              <a:gd name="connsiteX74" fmla="*/ 5957294 w 6191980"/>
              <a:gd name="connsiteY74" fmla="*/ 2523350 h 6184462"/>
              <a:gd name="connsiteX75" fmla="*/ 5972312 w 6191980"/>
              <a:gd name="connsiteY75" fmla="*/ 2581552 h 6184462"/>
              <a:gd name="connsiteX76" fmla="*/ 5994843 w 6191980"/>
              <a:gd name="connsiteY76" fmla="*/ 2636001 h 6184462"/>
              <a:gd name="connsiteX77" fmla="*/ 6024884 w 6191980"/>
              <a:gd name="connsiteY77" fmla="*/ 2692325 h 6184462"/>
              <a:gd name="connsiteX78" fmla="*/ 6054922 w 6191980"/>
              <a:gd name="connsiteY78" fmla="*/ 2748651 h 6184462"/>
              <a:gd name="connsiteX79" fmla="*/ 6088718 w 6191980"/>
              <a:gd name="connsiteY79" fmla="*/ 2804974 h 6184462"/>
              <a:gd name="connsiteX80" fmla="*/ 6120634 w 6191980"/>
              <a:gd name="connsiteY80" fmla="*/ 2859423 h 6184462"/>
              <a:gd name="connsiteX81" fmla="*/ 6148798 w 6191980"/>
              <a:gd name="connsiteY81" fmla="*/ 2917624 h 6184462"/>
              <a:gd name="connsiteX82" fmla="*/ 6171326 w 6191980"/>
              <a:gd name="connsiteY82" fmla="*/ 2973950 h 6184462"/>
              <a:gd name="connsiteX83" fmla="*/ 6186347 w 6191980"/>
              <a:gd name="connsiteY83" fmla="*/ 3032152 h 6184462"/>
              <a:gd name="connsiteX84" fmla="*/ 6191980 w 6191980"/>
              <a:gd name="connsiteY84" fmla="*/ 3092230 h 6184462"/>
              <a:gd name="connsiteX85" fmla="*/ 6186347 w 6191980"/>
              <a:gd name="connsiteY85" fmla="*/ 3152310 h 6184462"/>
              <a:gd name="connsiteX86" fmla="*/ 6171326 w 6191980"/>
              <a:gd name="connsiteY86" fmla="*/ 3210513 h 6184462"/>
              <a:gd name="connsiteX87" fmla="*/ 6148798 w 6191980"/>
              <a:gd name="connsiteY87" fmla="*/ 3266839 h 6184462"/>
              <a:gd name="connsiteX88" fmla="*/ 6120634 w 6191980"/>
              <a:gd name="connsiteY88" fmla="*/ 3325039 h 6184462"/>
              <a:gd name="connsiteX89" fmla="*/ 6088718 w 6191980"/>
              <a:gd name="connsiteY89" fmla="*/ 3379488 h 6184462"/>
              <a:gd name="connsiteX90" fmla="*/ 6054922 w 6191980"/>
              <a:gd name="connsiteY90" fmla="*/ 3435814 h 6184462"/>
              <a:gd name="connsiteX91" fmla="*/ 6024884 w 6191980"/>
              <a:gd name="connsiteY91" fmla="*/ 3492137 h 6184462"/>
              <a:gd name="connsiteX92" fmla="*/ 5994843 w 6191980"/>
              <a:gd name="connsiteY92" fmla="*/ 3548461 h 6184462"/>
              <a:gd name="connsiteX93" fmla="*/ 5972312 w 6191980"/>
              <a:gd name="connsiteY93" fmla="*/ 3602910 h 6184462"/>
              <a:gd name="connsiteX94" fmla="*/ 5957294 w 6191980"/>
              <a:gd name="connsiteY94" fmla="*/ 3661113 h 6184462"/>
              <a:gd name="connsiteX95" fmla="*/ 5949784 w 6191980"/>
              <a:gd name="connsiteY95" fmla="*/ 3719313 h 6184462"/>
              <a:gd name="connsiteX96" fmla="*/ 5949784 w 6191980"/>
              <a:gd name="connsiteY96" fmla="*/ 3781272 h 6184462"/>
              <a:gd name="connsiteX97" fmla="*/ 5953538 w 6191980"/>
              <a:gd name="connsiteY97" fmla="*/ 3845106 h 6184462"/>
              <a:gd name="connsiteX98" fmla="*/ 5961048 w 6191980"/>
              <a:gd name="connsiteY98" fmla="*/ 3908940 h 6184462"/>
              <a:gd name="connsiteX99" fmla="*/ 5970435 w 6191980"/>
              <a:gd name="connsiteY99" fmla="*/ 3972776 h 6184462"/>
              <a:gd name="connsiteX100" fmla="*/ 5977945 w 6191980"/>
              <a:gd name="connsiteY100" fmla="*/ 4036610 h 6184462"/>
              <a:gd name="connsiteX101" fmla="*/ 5983578 w 6191980"/>
              <a:gd name="connsiteY101" fmla="*/ 4100444 h 6184462"/>
              <a:gd name="connsiteX102" fmla="*/ 5981700 w 6191980"/>
              <a:gd name="connsiteY102" fmla="*/ 4160526 h 6184462"/>
              <a:gd name="connsiteX103" fmla="*/ 5974191 w 6191980"/>
              <a:gd name="connsiteY103" fmla="*/ 4218729 h 6184462"/>
              <a:gd name="connsiteX104" fmla="*/ 5957294 w 6191980"/>
              <a:gd name="connsiteY104" fmla="*/ 4275053 h 6184462"/>
              <a:gd name="connsiteX105" fmla="*/ 5932886 w 6191980"/>
              <a:gd name="connsiteY105" fmla="*/ 4321989 h 6184462"/>
              <a:gd name="connsiteX106" fmla="*/ 5900968 w 6191980"/>
              <a:gd name="connsiteY106" fmla="*/ 4367050 h 6184462"/>
              <a:gd name="connsiteX107" fmla="*/ 5863416 w 6191980"/>
              <a:gd name="connsiteY107" fmla="*/ 4406477 h 6184462"/>
              <a:gd name="connsiteX108" fmla="*/ 5820236 w 6191980"/>
              <a:gd name="connsiteY108" fmla="*/ 4445903 h 6184462"/>
              <a:gd name="connsiteX109" fmla="*/ 5775175 w 6191980"/>
              <a:gd name="connsiteY109" fmla="*/ 4481577 h 6184462"/>
              <a:gd name="connsiteX110" fmla="*/ 5728238 w 6191980"/>
              <a:gd name="connsiteY110" fmla="*/ 4517249 h 6184462"/>
              <a:gd name="connsiteX111" fmla="*/ 5679425 w 6191980"/>
              <a:gd name="connsiteY111" fmla="*/ 4552921 h 6184462"/>
              <a:gd name="connsiteX112" fmla="*/ 5634364 w 6191980"/>
              <a:gd name="connsiteY112" fmla="*/ 4588593 h 6184462"/>
              <a:gd name="connsiteX113" fmla="*/ 5591181 w 6191980"/>
              <a:gd name="connsiteY113" fmla="*/ 4626142 h 6184462"/>
              <a:gd name="connsiteX114" fmla="*/ 5553632 w 6191980"/>
              <a:gd name="connsiteY114" fmla="*/ 4669325 h 6184462"/>
              <a:gd name="connsiteX115" fmla="*/ 5519836 w 6191980"/>
              <a:gd name="connsiteY115" fmla="*/ 4710630 h 6184462"/>
              <a:gd name="connsiteX116" fmla="*/ 5493550 w 6191980"/>
              <a:gd name="connsiteY116" fmla="*/ 4757566 h 6184462"/>
              <a:gd name="connsiteX117" fmla="*/ 5471021 w 6191980"/>
              <a:gd name="connsiteY117" fmla="*/ 4808259 h 6184462"/>
              <a:gd name="connsiteX118" fmla="*/ 5452246 w 6191980"/>
              <a:gd name="connsiteY118" fmla="*/ 4862708 h 6184462"/>
              <a:gd name="connsiteX119" fmla="*/ 5435349 w 6191980"/>
              <a:gd name="connsiteY119" fmla="*/ 4919033 h 6184462"/>
              <a:gd name="connsiteX120" fmla="*/ 5420328 w 6191980"/>
              <a:gd name="connsiteY120" fmla="*/ 4975357 h 6184462"/>
              <a:gd name="connsiteX121" fmla="*/ 5405308 w 6191980"/>
              <a:gd name="connsiteY121" fmla="*/ 5033560 h 6184462"/>
              <a:gd name="connsiteX122" fmla="*/ 5388410 w 6191980"/>
              <a:gd name="connsiteY122" fmla="*/ 5088007 h 6184462"/>
              <a:gd name="connsiteX123" fmla="*/ 5369636 w 6191980"/>
              <a:gd name="connsiteY123" fmla="*/ 5142453 h 6184462"/>
              <a:gd name="connsiteX124" fmla="*/ 5347108 w 6191980"/>
              <a:gd name="connsiteY124" fmla="*/ 5193146 h 6184462"/>
              <a:gd name="connsiteX125" fmla="*/ 5318944 w 6191980"/>
              <a:gd name="connsiteY125" fmla="*/ 5238207 h 6184462"/>
              <a:gd name="connsiteX126" fmla="*/ 5285151 w 6191980"/>
              <a:gd name="connsiteY126" fmla="*/ 5279510 h 6184462"/>
              <a:gd name="connsiteX127" fmla="*/ 5243845 w 6191980"/>
              <a:gd name="connsiteY127" fmla="*/ 5313305 h 6184462"/>
              <a:gd name="connsiteX128" fmla="*/ 5198784 w 6191980"/>
              <a:gd name="connsiteY128" fmla="*/ 5341467 h 6184462"/>
              <a:gd name="connsiteX129" fmla="*/ 5148091 w 6191980"/>
              <a:gd name="connsiteY129" fmla="*/ 5363998 h 6184462"/>
              <a:gd name="connsiteX130" fmla="*/ 5093644 w 6191980"/>
              <a:gd name="connsiteY130" fmla="*/ 5382773 h 6184462"/>
              <a:gd name="connsiteX131" fmla="*/ 5039198 w 6191980"/>
              <a:gd name="connsiteY131" fmla="*/ 5399670 h 6184462"/>
              <a:gd name="connsiteX132" fmla="*/ 4980995 w 6191980"/>
              <a:gd name="connsiteY132" fmla="*/ 5414691 h 6184462"/>
              <a:gd name="connsiteX133" fmla="*/ 4924669 w 6191980"/>
              <a:gd name="connsiteY133" fmla="*/ 5429711 h 6184462"/>
              <a:gd name="connsiteX134" fmla="*/ 4868345 w 6191980"/>
              <a:gd name="connsiteY134" fmla="*/ 5446609 h 6184462"/>
              <a:gd name="connsiteX135" fmla="*/ 4813899 w 6191980"/>
              <a:gd name="connsiteY135" fmla="*/ 5465383 h 6184462"/>
              <a:gd name="connsiteX136" fmla="*/ 4763206 w 6191980"/>
              <a:gd name="connsiteY136" fmla="*/ 5487914 h 6184462"/>
              <a:gd name="connsiteX137" fmla="*/ 4716270 w 6191980"/>
              <a:gd name="connsiteY137" fmla="*/ 5514197 h 6184462"/>
              <a:gd name="connsiteX138" fmla="*/ 4674964 w 6191980"/>
              <a:gd name="connsiteY138" fmla="*/ 5547992 h 6184462"/>
              <a:gd name="connsiteX139" fmla="*/ 4631782 w 6191980"/>
              <a:gd name="connsiteY139" fmla="*/ 5585543 h 6184462"/>
              <a:gd name="connsiteX140" fmla="*/ 4594231 w 6191980"/>
              <a:gd name="connsiteY140" fmla="*/ 5628725 h 6184462"/>
              <a:gd name="connsiteX141" fmla="*/ 4558559 w 6191980"/>
              <a:gd name="connsiteY141" fmla="*/ 5673785 h 6184462"/>
              <a:gd name="connsiteX142" fmla="*/ 4522886 w 6191980"/>
              <a:gd name="connsiteY142" fmla="*/ 5720721 h 6184462"/>
              <a:gd name="connsiteX143" fmla="*/ 4487214 w 6191980"/>
              <a:gd name="connsiteY143" fmla="*/ 5767659 h 6184462"/>
              <a:gd name="connsiteX144" fmla="*/ 4451542 w 6191980"/>
              <a:gd name="connsiteY144" fmla="*/ 5812719 h 6184462"/>
              <a:gd name="connsiteX145" fmla="*/ 4412114 w 6191980"/>
              <a:gd name="connsiteY145" fmla="*/ 5855901 h 6184462"/>
              <a:gd name="connsiteX146" fmla="*/ 4372686 w 6191980"/>
              <a:gd name="connsiteY146" fmla="*/ 5893450 h 6184462"/>
              <a:gd name="connsiteX147" fmla="*/ 4327628 w 6191980"/>
              <a:gd name="connsiteY147" fmla="*/ 5925368 h 6184462"/>
              <a:gd name="connsiteX148" fmla="*/ 4280690 w 6191980"/>
              <a:gd name="connsiteY148" fmla="*/ 5949776 h 6184462"/>
              <a:gd name="connsiteX149" fmla="*/ 4224364 w 6191980"/>
              <a:gd name="connsiteY149" fmla="*/ 5966674 h 6184462"/>
              <a:gd name="connsiteX150" fmla="*/ 4166161 w 6191980"/>
              <a:gd name="connsiteY150" fmla="*/ 5974184 h 6184462"/>
              <a:gd name="connsiteX151" fmla="*/ 4106083 w 6191980"/>
              <a:gd name="connsiteY151" fmla="*/ 5976061 h 6184462"/>
              <a:gd name="connsiteX152" fmla="*/ 4042247 w 6191980"/>
              <a:gd name="connsiteY152" fmla="*/ 5970428 h 6184462"/>
              <a:gd name="connsiteX153" fmla="*/ 3978413 w 6191980"/>
              <a:gd name="connsiteY153" fmla="*/ 5962919 h 6184462"/>
              <a:gd name="connsiteX154" fmla="*/ 3914577 w 6191980"/>
              <a:gd name="connsiteY154" fmla="*/ 5953530 h 6184462"/>
              <a:gd name="connsiteX155" fmla="*/ 3850743 w 6191980"/>
              <a:gd name="connsiteY155" fmla="*/ 5946022 h 6184462"/>
              <a:gd name="connsiteX156" fmla="*/ 3786907 w 6191980"/>
              <a:gd name="connsiteY156" fmla="*/ 5942266 h 6184462"/>
              <a:gd name="connsiteX157" fmla="*/ 3724950 w 6191980"/>
              <a:gd name="connsiteY157" fmla="*/ 5942266 h 6184462"/>
              <a:gd name="connsiteX158" fmla="*/ 3666749 w 6191980"/>
              <a:gd name="connsiteY158" fmla="*/ 5949776 h 6184462"/>
              <a:gd name="connsiteX159" fmla="*/ 3606669 w 6191980"/>
              <a:gd name="connsiteY159" fmla="*/ 5964797 h 6184462"/>
              <a:gd name="connsiteX160" fmla="*/ 3552221 w 6191980"/>
              <a:gd name="connsiteY160" fmla="*/ 5987325 h 6184462"/>
              <a:gd name="connsiteX161" fmla="*/ 3495897 w 6191980"/>
              <a:gd name="connsiteY161" fmla="*/ 6017366 h 6184462"/>
              <a:gd name="connsiteX162" fmla="*/ 3439573 w 6191980"/>
              <a:gd name="connsiteY162" fmla="*/ 6047407 h 6184462"/>
              <a:gd name="connsiteX163" fmla="*/ 3383247 w 6191980"/>
              <a:gd name="connsiteY163" fmla="*/ 6081200 h 6184462"/>
              <a:gd name="connsiteX164" fmla="*/ 3328798 w 6191980"/>
              <a:gd name="connsiteY164" fmla="*/ 6113118 h 6184462"/>
              <a:gd name="connsiteX165" fmla="*/ 3270598 w 6191980"/>
              <a:gd name="connsiteY165" fmla="*/ 6141280 h 6184462"/>
              <a:gd name="connsiteX166" fmla="*/ 3214272 w 6191980"/>
              <a:gd name="connsiteY166" fmla="*/ 6163811 h 6184462"/>
              <a:gd name="connsiteX167" fmla="*/ 3156069 w 6191980"/>
              <a:gd name="connsiteY167" fmla="*/ 6178831 h 6184462"/>
              <a:gd name="connsiteX168" fmla="*/ 3095991 w 6191980"/>
              <a:gd name="connsiteY168" fmla="*/ 6184462 h 6184462"/>
              <a:gd name="connsiteX169" fmla="*/ 3035911 w 6191980"/>
              <a:gd name="connsiteY169" fmla="*/ 6178831 h 6184462"/>
              <a:gd name="connsiteX170" fmla="*/ 2977708 w 6191980"/>
              <a:gd name="connsiteY170" fmla="*/ 6163811 h 6184462"/>
              <a:gd name="connsiteX171" fmla="*/ 2921385 w 6191980"/>
              <a:gd name="connsiteY171" fmla="*/ 6141280 h 6184462"/>
              <a:gd name="connsiteX172" fmla="*/ 2863182 w 6191980"/>
              <a:gd name="connsiteY172" fmla="*/ 6113118 h 6184462"/>
              <a:gd name="connsiteX173" fmla="*/ 2808733 w 6191980"/>
              <a:gd name="connsiteY173" fmla="*/ 6081200 h 6184462"/>
              <a:gd name="connsiteX174" fmla="*/ 2752409 w 6191980"/>
              <a:gd name="connsiteY174" fmla="*/ 6047407 h 6184462"/>
              <a:gd name="connsiteX175" fmla="*/ 2696083 w 6191980"/>
              <a:gd name="connsiteY175" fmla="*/ 6017366 h 6184462"/>
              <a:gd name="connsiteX176" fmla="*/ 2639760 w 6191980"/>
              <a:gd name="connsiteY176" fmla="*/ 5987325 h 6184462"/>
              <a:gd name="connsiteX177" fmla="*/ 2583436 w 6191980"/>
              <a:gd name="connsiteY177" fmla="*/ 5964797 h 6184462"/>
              <a:gd name="connsiteX178" fmla="*/ 2525233 w 6191980"/>
              <a:gd name="connsiteY178" fmla="*/ 5949776 h 6184462"/>
              <a:gd name="connsiteX179" fmla="*/ 2467030 w 6191980"/>
              <a:gd name="connsiteY179" fmla="*/ 5942266 h 6184462"/>
              <a:gd name="connsiteX180" fmla="*/ 2405071 w 6191980"/>
              <a:gd name="connsiteY180" fmla="*/ 5942266 h 6184462"/>
              <a:gd name="connsiteX181" fmla="*/ 2341237 w 6191980"/>
              <a:gd name="connsiteY181" fmla="*/ 5946022 h 6184462"/>
              <a:gd name="connsiteX182" fmla="*/ 2277403 w 6191980"/>
              <a:gd name="connsiteY182" fmla="*/ 5953530 h 6184462"/>
              <a:gd name="connsiteX183" fmla="*/ 2213567 w 6191980"/>
              <a:gd name="connsiteY183" fmla="*/ 5962919 h 6184462"/>
              <a:gd name="connsiteX184" fmla="*/ 2149731 w 6191980"/>
              <a:gd name="connsiteY184" fmla="*/ 5970428 h 6184462"/>
              <a:gd name="connsiteX185" fmla="*/ 2085897 w 6191980"/>
              <a:gd name="connsiteY185" fmla="*/ 5976061 h 6184462"/>
              <a:gd name="connsiteX186" fmla="*/ 2025819 w 6191980"/>
              <a:gd name="connsiteY186" fmla="*/ 5974184 h 6184462"/>
              <a:gd name="connsiteX187" fmla="*/ 1967617 w 6191980"/>
              <a:gd name="connsiteY187" fmla="*/ 5966674 h 6184462"/>
              <a:gd name="connsiteX188" fmla="*/ 1911291 w 6191980"/>
              <a:gd name="connsiteY188" fmla="*/ 5949776 h 6184462"/>
              <a:gd name="connsiteX189" fmla="*/ 1864354 w 6191980"/>
              <a:gd name="connsiteY189" fmla="*/ 5925368 h 6184462"/>
              <a:gd name="connsiteX190" fmla="*/ 1819293 w 6191980"/>
              <a:gd name="connsiteY190" fmla="*/ 5893450 h 6184462"/>
              <a:gd name="connsiteX191" fmla="*/ 1779867 w 6191980"/>
              <a:gd name="connsiteY191" fmla="*/ 5855901 h 6184462"/>
              <a:gd name="connsiteX192" fmla="*/ 1740438 w 6191980"/>
              <a:gd name="connsiteY192" fmla="*/ 5812719 h 6184462"/>
              <a:gd name="connsiteX193" fmla="*/ 1704766 w 6191980"/>
              <a:gd name="connsiteY193" fmla="*/ 5767659 h 6184462"/>
              <a:gd name="connsiteX194" fmla="*/ 1669094 w 6191980"/>
              <a:gd name="connsiteY194" fmla="*/ 5720721 h 6184462"/>
              <a:gd name="connsiteX195" fmla="*/ 1633422 w 6191980"/>
              <a:gd name="connsiteY195" fmla="*/ 5673785 h 6184462"/>
              <a:gd name="connsiteX196" fmla="*/ 1597750 w 6191980"/>
              <a:gd name="connsiteY196" fmla="*/ 5628725 h 6184462"/>
              <a:gd name="connsiteX197" fmla="*/ 1560199 w 6191980"/>
              <a:gd name="connsiteY197" fmla="*/ 5585543 h 6184462"/>
              <a:gd name="connsiteX198" fmla="*/ 1517016 w 6191980"/>
              <a:gd name="connsiteY198" fmla="*/ 5547992 h 6184462"/>
              <a:gd name="connsiteX199" fmla="*/ 1475711 w 6191980"/>
              <a:gd name="connsiteY199" fmla="*/ 5514197 h 6184462"/>
              <a:gd name="connsiteX200" fmla="*/ 1428774 w 6191980"/>
              <a:gd name="connsiteY200" fmla="*/ 5487914 h 6184462"/>
              <a:gd name="connsiteX201" fmla="*/ 1378082 w 6191980"/>
              <a:gd name="connsiteY201" fmla="*/ 5465383 h 6184462"/>
              <a:gd name="connsiteX202" fmla="*/ 1323635 w 6191980"/>
              <a:gd name="connsiteY202" fmla="*/ 5446609 h 6184462"/>
              <a:gd name="connsiteX203" fmla="*/ 1267309 w 6191980"/>
              <a:gd name="connsiteY203" fmla="*/ 5429711 h 6184462"/>
              <a:gd name="connsiteX204" fmla="*/ 1210986 w 6191980"/>
              <a:gd name="connsiteY204" fmla="*/ 5414691 h 6184462"/>
              <a:gd name="connsiteX205" fmla="*/ 1152783 w 6191980"/>
              <a:gd name="connsiteY205" fmla="*/ 5399670 h 6184462"/>
              <a:gd name="connsiteX206" fmla="*/ 1098336 w 6191980"/>
              <a:gd name="connsiteY206" fmla="*/ 5382773 h 6184462"/>
              <a:gd name="connsiteX207" fmla="*/ 1043887 w 6191980"/>
              <a:gd name="connsiteY207" fmla="*/ 5363998 h 6184462"/>
              <a:gd name="connsiteX208" fmla="*/ 993197 w 6191980"/>
              <a:gd name="connsiteY208" fmla="*/ 5341467 h 6184462"/>
              <a:gd name="connsiteX209" fmla="*/ 948135 w 6191980"/>
              <a:gd name="connsiteY209" fmla="*/ 5313305 h 6184462"/>
              <a:gd name="connsiteX210" fmla="*/ 906830 w 6191980"/>
              <a:gd name="connsiteY210" fmla="*/ 5279510 h 6184462"/>
              <a:gd name="connsiteX211" fmla="*/ 873037 w 6191980"/>
              <a:gd name="connsiteY211" fmla="*/ 5238207 h 6184462"/>
              <a:gd name="connsiteX212" fmla="*/ 844875 w 6191980"/>
              <a:gd name="connsiteY212" fmla="*/ 5193146 h 6184462"/>
              <a:gd name="connsiteX213" fmla="*/ 822344 w 6191980"/>
              <a:gd name="connsiteY213" fmla="*/ 5142453 h 6184462"/>
              <a:gd name="connsiteX214" fmla="*/ 803570 w 6191980"/>
              <a:gd name="connsiteY214" fmla="*/ 5088007 h 6184462"/>
              <a:gd name="connsiteX215" fmla="*/ 786672 w 6191980"/>
              <a:gd name="connsiteY215" fmla="*/ 5033560 h 6184462"/>
              <a:gd name="connsiteX216" fmla="*/ 771652 w 6191980"/>
              <a:gd name="connsiteY216" fmla="*/ 4975357 h 6184462"/>
              <a:gd name="connsiteX217" fmla="*/ 756631 w 6191980"/>
              <a:gd name="connsiteY217" fmla="*/ 4919033 h 6184462"/>
              <a:gd name="connsiteX218" fmla="*/ 739734 w 6191980"/>
              <a:gd name="connsiteY218" fmla="*/ 4862708 h 6184462"/>
              <a:gd name="connsiteX219" fmla="*/ 720959 w 6191980"/>
              <a:gd name="connsiteY219" fmla="*/ 4808259 h 6184462"/>
              <a:gd name="connsiteX220" fmla="*/ 698428 w 6191980"/>
              <a:gd name="connsiteY220" fmla="*/ 4757566 h 6184462"/>
              <a:gd name="connsiteX221" fmla="*/ 672143 w 6191980"/>
              <a:gd name="connsiteY221" fmla="*/ 4710630 h 6184462"/>
              <a:gd name="connsiteX222" fmla="*/ 638351 w 6191980"/>
              <a:gd name="connsiteY222" fmla="*/ 4669325 h 6184462"/>
              <a:gd name="connsiteX223" fmla="*/ 600799 w 6191980"/>
              <a:gd name="connsiteY223" fmla="*/ 4626142 h 6184462"/>
              <a:gd name="connsiteX224" fmla="*/ 557617 w 6191980"/>
              <a:gd name="connsiteY224" fmla="*/ 4588593 h 6184462"/>
              <a:gd name="connsiteX225" fmla="*/ 510678 w 6191980"/>
              <a:gd name="connsiteY225" fmla="*/ 4552921 h 6184462"/>
              <a:gd name="connsiteX226" fmla="*/ 463742 w 6191980"/>
              <a:gd name="connsiteY226" fmla="*/ 4517249 h 6184462"/>
              <a:gd name="connsiteX227" fmla="*/ 416805 w 6191980"/>
              <a:gd name="connsiteY227" fmla="*/ 4481577 h 6184462"/>
              <a:gd name="connsiteX228" fmla="*/ 371744 w 6191980"/>
              <a:gd name="connsiteY228" fmla="*/ 4445903 h 6184462"/>
              <a:gd name="connsiteX229" fmla="*/ 328562 w 6191980"/>
              <a:gd name="connsiteY229" fmla="*/ 4406477 h 6184462"/>
              <a:gd name="connsiteX230" fmla="*/ 291012 w 6191980"/>
              <a:gd name="connsiteY230" fmla="*/ 4367050 h 6184462"/>
              <a:gd name="connsiteX231" fmla="*/ 259096 w 6191980"/>
              <a:gd name="connsiteY231" fmla="*/ 4321989 h 6184462"/>
              <a:gd name="connsiteX232" fmla="*/ 234689 w 6191980"/>
              <a:gd name="connsiteY232" fmla="*/ 4275053 h 6184462"/>
              <a:gd name="connsiteX233" fmla="*/ 217791 w 6191980"/>
              <a:gd name="connsiteY233" fmla="*/ 4218729 h 6184462"/>
              <a:gd name="connsiteX234" fmla="*/ 210281 w 6191980"/>
              <a:gd name="connsiteY234" fmla="*/ 4160526 h 6184462"/>
              <a:gd name="connsiteX235" fmla="*/ 208402 w 6191980"/>
              <a:gd name="connsiteY235" fmla="*/ 4100444 h 6184462"/>
              <a:gd name="connsiteX236" fmla="*/ 214035 w 6191980"/>
              <a:gd name="connsiteY236" fmla="*/ 4036610 h 6184462"/>
              <a:gd name="connsiteX237" fmla="*/ 221545 w 6191980"/>
              <a:gd name="connsiteY237" fmla="*/ 3972776 h 6184462"/>
              <a:gd name="connsiteX238" fmla="*/ 230932 w 6191980"/>
              <a:gd name="connsiteY238" fmla="*/ 3908940 h 6184462"/>
              <a:gd name="connsiteX239" fmla="*/ 238443 w 6191980"/>
              <a:gd name="connsiteY239" fmla="*/ 3845106 h 6184462"/>
              <a:gd name="connsiteX240" fmla="*/ 242199 w 6191980"/>
              <a:gd name="connsiteY240" fmla="*/ 3781272 h 6184462"/>
              <a:gd name="connsiteX241" fmla="*/ 242199 w 6191980"/>
              <a:gd name="connsiteY241" fmla="*/ 3719313 h 6184462"/>
              <a:gd name="connsiteX242" fmla="*/ 234689 w 6191980"/>
              <a:gd name="connsiteY242" fmla="*/ 3661113 h 6184462"/>
              <a:gd name="connsiteX243" fmla="*/ 219668 w 6191980"/>
              <a:gd name="connsiteY243" fmla="*/ 3602910 h 6184462"/>
              <a:gd name="connsiteX244" fmla="*/ 197138 w 6191980"/>
              <a:gd name="connsiteY244" fmla="*/ 3548461 h 6184462"/>
              <a:gd name="connsiteX245" fmla="*/ 168976 w 6191980"/>
              <a:gd name="connsiteY245" fmla="*/ 3492137 h 6184462"/>
              <a:gd name="connsiteX246" fmla="*/ 137057 w 6191980"/>
              <a:gd name="connsiteY246" fmla="*/ 3435814 h 6184462"/>
              <a:gd name="connsiteX247" fmla="*/ 103264 w 6191980"/>
              <a:gd name="connsiteY247" fmla="*/ 3379488 h 6184462"/>
              <a:gd name="connsiteX248" fmla="*/ 71346 w 6191980"/>
              <a:gd name="connsiteY248" fmla="*/ 3325039 h 6184462"/>
              <a:gd name="connsiteX249" fmla="*/ 43182 w 6191980"/>
              <a:gd name="connsiteY249" fmla="*/ 3266839 h 6184462"/>
              <a:gd name="connsiteX250" fmla="*/ 20654 w 6191980"/>
              <a:gd name="connsiteY250" fmla="*/ 3210513 h 6184462"/>
              <a:gd name="connsiteX251" fmla="*/ 5634 w 6191980"/>
              <a:gd name="connsiteY251" fmla="*/ 3152310 h 6184462"/>
              <a:gd name="connsiteX252" fmla="*/ 0 w 6191980"/>
              <a:gd name="connsiteY252" fmla="*/ 3092230 h 6184462"/>
              <a:gd name="connsiteX253" fmla="*/ 5634 w 6191980"/>
              <a:gd name="connsiteY253" fmla="*/ 3032152 h 6184462"/>
              <a:gd name="connsiteX254" fmla="*/ 20654 w 6191980"/>
              <a:gd name="connsiteY254" fmla="*/ 2973950 h 6184462"/>
              <a:gd name="connsiteX255" fmla="*/ 43182 w 6191980"/>
              <a:gd name="connsiteY255" fmla="*/ 2917624 h 6184462"/>
              <a:gd name="connsiteX256" fmla="*/ 71346 w 6191980"/>
              <a:gd name="connsiteY256" fmla="*/ 2859423 h 6184462"/>
              <a:gd name="connsiteX257" fmla="*/ 103264 w 6191980"/>
              <a:gd name="connsiteY257" fmla="*/ 2804974 h 6184462"/>
              <a:gd name="connsiteX258" fmla="*/ 137057 w 6191980"/>
              <a:gd name="connsiteY258" fmla="*/ 2748651 h 6184462"/>
              <a:gd name="connsiteX259" fmla="*/ 168976 w 6191980"/>
              <a:gd name="connsiteY259" fmla="*/ 2692325 h 6184462"/>
              <a:gd name="connsiteX260" fmla="*/ 197138 w 6191980"/>
              <a:gd name="connsiteY260" fmla="*/ 2636001 h 6184462"/>
              <a:gd name="connsiteX261" fmla="*/ 219668 w 6191980"/>
              <a:gd name="connsiteY261" fmla="*/ 2581552 h 6184462"/>
              <a:gd name="connsiteX262" fmla="*/ 234689 w 6191980"/>
              <a:gd name="connsiteY262" fmla="*/ 2523350 h 6184462"/>
              <a:gd name="connsiteX263" fmla="*/ 242199 w 6191980"/>
              <a:gd name="connsiteY263" fmla="*/ 2465149 h 6184462"/>
              <a:gd name="connsiteX264" fmla="*/ 242199 w 6191980"/>
              <a:gd name="connsiteY264" fmla="*/ 2403192 h 6184462"/>
              <a:gd name="connsiteX265" fmla="*/ 238443 w 6191980"/>
              <a:gd name="connsiteY265" fmla="*/ 2339356 h 6184462"/>
              <a:gd name="connsiteX266" fmla="*/ 230932 w 6191980"/>
              <a:gd name="connsiteY266" fmla="*/ 2275522 h 6184462"/>
              <a:gd name="connsiteX267" fmla="*/ 221545 w 6191980"/>
              <a:gd name="connsiteY267" fmla="*/ 2211686 h 6184462"/>
              <a:gd name="connsiteX268" fmla="*/ 214035 w 6191980"/>
              <a:gd name="connsiteY268" fmla="*/ 2147852 h 6184462"/>
              <a:gd name="connsiteX269" fmla="*/ 208402 w 6191980"/>
              <a:gd name="connsiteY269" fmla="*/ 2084018 h 6184462"/>
              <a:gd name="connsiteX270" fmla="*/ 210281 w 6191980"/>
              <a:gd name="connsiteY270" fmla="*/ 2023938 h 6184462"/>
              <a:gd name="connsiteX271" fmla="*/ 217791 w 6191980"/>
              <a:gd name="connsiteY271" fmla="*/ 1965736 h 6184462"/>
              <a:gd name="connsiteX272" fmla="*/ 234689 w 6191980"/>
              <a:gd name="connsiteY272" fmla="*/ 1909410 h 6184462"/>
              <a:gd name="connsiteX273" fmla="*/ 259096 w 6191980"/>
              <a:gd name="connsiteY273" fmla="*/ 1862474 h 6184462"/>
              <a:gd name="connsiteX274" fmla="*/ 291012 w 6191980"/>
              <a:gd name="connsiteY274" fmla="*/ 1817414 h 6184462"/>
              <a:gd name="connsiteX275" fmla="*/ 328562 w 6191980"/>
              <a:gd name="connsiteY275" fmla="*/ 1777986 h 6184462"/>
              <a:gd name="connsiteX276" fmla="*/ 371744 w 6191980"/>
              <a:gd name="connsiteY276" fmla="*/ 1738560 h 6184462"/>
              <a:gd name="connsiteX277" fmla="*/ 416805 w 6191980"/>
              <a:gd name="connsiteY277" fmla="*/ 1702885 h 6184462"/>
              <a:gd name="connsiteX278" fmla="*/ 463742 w 6191980"/>
              <a:gd name="connsiteY278" fmla="*/ 1667213 h 6184462"/>
              <a:gd name="connsiteX279" fmla="*/ 510678 w 6191980"/>
              <a:gd name="connsiteY279" fmla="*/ 1631541 h 6184462"/>
              <a:gd name="connsiteX280" fmla="*/ 557617 w 6191980"/>
              <a:gd name="connsiteY280" fmla="*/ 1595869 h 6184462"/>
              <a:gd name="connsiteX281" fmla="*/ 600799 w 6191980"/>
              <a:gd name="connsiteY281" fmla="*/ 1558320 h 6184462"/>
              <a:gd name="connsiteX282" fmla="*/ 638351 w 6191980"/>
              <a:gd name="connsiteY282" fmla="*/ 1515138 h 6184462"/>
              <a:gd name="connsiteX283" fmla="*/ 672143 w 6191980"/>
              <a:gd name="connsiteY283" fmla="*/ 1473832 h 6184462"/>
              <a:gd name="connsiteX284" fmla="*/ 698428 w 6191980"/>
              <a:gd name="connsiteY284" fmla="*/ 1426896 h 6184462"/>
              <a:gd name="connsiteX285" fmla="*/ 720959 w 6191980"/>
              <a:gd name="connsiteY285" fmla="*/ 1376203 h 6184462"/>
              <a:gd name="connsiteX286" fmla="*/ 739734 w 6191980"/>
              <a:gd name="connsiteY286" fmla="*/ 1321755 h 6184462"/>
              <a:gd name="connsiteX287" fmla="*/ 756631 w 6191980"/>
              <a:gd name="connsiteY287" fmla="*/ 1265429 h 6184462"/>
              <a:gd name="connsiteX288" fmla="*/ 771652 w 6191980"/>
              <a:gd name="connsiteY288" fmla="*/ 1209105 h 6184462"/>
              <a:gd name="connsiteX289" fmla="*/ 786672 w 6191980"/>
              <a:gd name="connsiteY289" fmla="*/ 1150903 h 6184462"/>
              <a:gd name="connsiteX290" fmla="*/ 803570 w 6191980"/>
              <a:gd name="connsiteY290" fmla="*/ 1096456 h 6184462"/>
              <a:gd name="connsiteX291" fmla="*/ 822344 w 6191980"/>
              <a:gd name="connsiteY291" fmla="*/ 1042007 h 6184462"/>
              <a:gd name="connsiteX292" fmla="*/ 844875 w 6191980"/>
              <a:gd name="connsiteY292" fmla="*/ 991317 h 6184462"/>
              <a:gd name="connsiteX293" fmla="*/ 873037 w 6191980"/>
              <a:gd name="connsiteY293" fmla="*/ 946257 h 6184462"/>
              <a:gd name="connsiteX294" fmla="*/ 906830 w 6191980"/>
              <a:gd name="connsiteY294" fmla="*/ 904952 h 6184462"/>
              <a:gd name="connsiteX295" fmla="*/ 948135 w 6191980"/>
              <a:gd name="connsiteY295" fmla="*/ 871157 h 6184462"/>
              <a:gd name="connsiteX296" fmla="*/ 993197 w 6191980"/>
              <a:gd name="connsiteY296" fmla="*/ 842995 h 6184462"/>
              <a:gd name="connsiteX297" fmla="*/ 1043887 w 6191980"/>
              <a:gd name="connsiteY297" fmla="*/ 820464 h 6184462"/>
              <a:gd name="connsiteX298" fmla="*/ 1098336 w 6191980"/>
              <a:gd name="connsiteY298" fmla="*/ 801690 h 6184462"/>
              <a:gd name="connsiteX299" fmla="*/ 1152783 w 6191980"/>
              <a:gd name="connsiteY299" fmla="*/ 784792 h 6184462"/>
              <a:gd name="connsiteX300" fmla="*/ 1210986 w 6191980"/>
              <a:gd name="connsiteY300" fmla="*/ 769772 h 6184462"/>
              <a:gd name="connsiteX301" fmla="*/ 1267309 w 6191980"/>
              <a:gd name="connsiteY301" fmla="*/ 754751 h 6184462"/>
              <a:gd name="connsiteX302" fmla="*/ 1323635 w 6191980"/>
              <a:gd name="connsiteY302" fmla="*/ 737854 h 6184462"/>
              <a:gd name="connsiteX303" fmla="*/ 1378082 w 6191980"/>
              <a:gd name="connsiteY303" fmla="*/ 719079 h 6184462"/>
              <a:gd name="connsiteX304" fmla="*/ 1428774 w 6191980"/>
              <a:gd name="connsiteY304" fmla="*/ 696549 h 6184462"/>
              <a:gd name="connsiteX305" fmla="*/ 1475711 w 6191980"/>
              <a:gd name="connsiteY305" fmla="*/ 670266 h 6184462"/>
              <a:gd name="connsiteX306" fmla="*/ 1517016 w 6191980"/>
              <a:gd name="connsiteY306" fmla="*/ 636471 h 6184462"/>
              <a:gd name="connsiteX307" fmla="*/ 1560199 w 6191980"/>
              <a:gd name="connsiteY307" fmla="*/ 598919 h 6184462"/>
              <a:gd name="connsiteX308" fmla="*/ 1597750 w 6191980"/>
              <a:gd name="connsiteY308" fmla="*/ 555737 h 6184462"/>
              <a:gd name="connsiteX309" fmla="*/ 1633422 w 6191980"/>
              <a:gd name="connsiteY309" fmla="*/ 510678 h 6184462"/>
              <a:gd name="connsiteX310" fmla="*/ 1669094 w 6191980"/>
              <a:gd name="connsiteY310" fmla="*/ 463741 h 6184462"/>
              <a:gd name="connsiteX311" fmla="*/ 1704766 w 6191980"/>
              <a:gd name="connsiteY311" fmla="*/ 416803 h 6184462"/>
              <a:gd name="connsiteX312" fmla="*/ 1740438 w 6191980"/>
              <a:gd name="connsiteY312" fmla="*/ 371743 h 6184462"/>
              <a:gd name="connsiteX313" fmla="*/ 1779867 w 6191980"/>
              <a:gd name="connsiteY313" fmla="*/ 328561 h 6184462"/>
              <a:gd name="connsiteX314" fmla="*/ 1819293 w 6191980"/>
              <a:gd name="connsiteY314" fmla="*/ 291012 h 6184462"/>
              <a:gd name="connsiteX315" fmla="*/ 1864354 w 6191980"/>
              <a:gd name="connsiteY315" fmla="*/ 259094 h 6184462"/>
              <a:gd name="connsiteX316" fmla="*/ 1911291 w 6191980"/>
              <a:gd name="connsiteY316" fmla="*/ 234686 h 6184462"/>
              <a:gd name="connsiteX317" fmla="*/ 1967617 w 6191980"/>
              <a:gd name="connsiteY317" fmla="*/ 217789 h 6184462"/>
              <a:gd name="connsiteX318" fmla="*/ 2025819 w 6191980"/>
              <a:gd name="connsiteY318" fmla="*/ 210279 h 6184462"/>
              <a:gd name="connsiteX319" fmla="*/ 2085897 w 6191980"/>
              <a:gd name="connsiteY319" fmla="*/ 208401 h 6184462"/>
              <a:gd name="connsiteX320" fmla="*/ 2149731 w 6191980"/>
              <a:gd name="connsiteY320" fmla="*/ 214035 h 6184462"/>
              <a:gd name="connsiteX321" fmla="*/ 2213567 w 6191980"/>
              <a:gd name="connsiteY321" fmla="*/ 221545 h 6184462"/>
              <a:gd name="connsiteX322" fmla="*/ 2277403 w 6191980"/>
              <a:gd name="connsiteY322" fmla="*/ 230932 h 6184462"/>
              <a:gd name="connsiteX323" fmla="*/ 2341237 w 6191980"/>
              <a:gd name="connsiteY323" fmla="*/ 238443 h 6184462"/>
              <a:gd name="connsiteX324" fmla="*/ 2405071 w 6191980"/>
              <a:gd name="connsiteY324" fmla="*/ 242197 h 6184462"/>
              <a:gd name="connsiteX325" fmla="*/ 2467030 w 6191980"/>
              <a:gd name="connsiteY325" fmla="*/ 242197 h 6184462"/>
              <a:gd name="connsiteX326" fmla="*/ 2525233 w 6191980"/>
              <a:gd name="connsiteY326" fmla="*/ 234686 h 6184462"/>
              <a:gd name="connsiteX327" fmla="*/ 2583436 w 6191980"/>
              <a:gd name="connsiteY327" fmla="*/ 219666 h 6184462"/>
              <a:gd name="connsiteX328" fmla="*/ 2639760 w 6191980"/>
              <a:gd name="connsiteY328" fmla="*/ 197137 h 6184462"/>
              <a:gd name="connsiteX329" fmla="*/ 2696083 w 6191980"/>
              <a:gd name="connsiteY329" fmla="*/ 167096 h 6184462"/>
              <a:gd name="connsiteX330" fmla="*/ 2752409 w 6191980"/>
              <a:gd name="connsiteY330" fmla="*/ 137057 h 6184462"/>
              <a:gd name="connsiteX331" fmla="*/ 2808733 w 6191980"/>
              <a:gd name="connsiteY331" fmla="*/ 103262 h 6184462"/>
              <a:gd name="connsiteX332" fmla="*/ 2863182 w 6191980"/>
              <a:gd name="connsiteY332" fmla="*/ 71344 h 6184462"/>
              <a:gd name="connsiteX333" fmla="*/ 2921385 w 6191980"/>
              <a:gd name="connsiteY333" fmla="*/ 43182 h 6184462"/>
              <a:gd name="connsiteX334" fmla="*/ 2977708 w 6191980"/>
              <a:gd name="connsiteY334" fmla="*/ 20652 h 6184462"/>
              <a:gd name="connsiteX335" fmla="*/ 3035911 w 6191980"/>
              <a:gd name="connsiteY335" fmla="*/ 5631 h 61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6191980" h="6184462">
                <a:moveTo>
                  <a:pt x="3095991" y="0"/>
                </a:moveTo>
                <a:lnTo>
                  <a:pt x="3156069" y="5631"/>
                </a:lnTo>
                <a:lnTo>
                  <a:pt x="3214272" y="20652"/>
                </a:lnTo>
                <a:lnTo>
                  <a:pt x="3270598" y="43182"/>
                </a:lnTo>
                <a:lnTo>
                  <a:pt x="3328798" y="71344"/>
                </a:lnTo>
                <a:lnTo>
                  <a:pt x="3383247" y="103262"/>
                </a:lnTo>
                <a:lnTo>
                  <a:pt x="3439573" y="137057"/>
                </a:lnTo>
                <a:lnTo>
                  <a:pt x="3495897" y="167096"/>
                </a:lnTo>
                <a:lnTo>
                  <a:pt x="3552221" y="197137"/>
                </a:lnTo>
                <a:lnTo>
                  <a:pt x="3606669" y="219666"/>
                </a:lnTo>
                <a:lnTo>
                  <a:pt x="3666749" y="234686"/>
                </a:lnTo>
                <a:lnTo>
                  <a:pt x="3724950" y="242197"/>
                </a:lnTo>
                <a:lnTo>
                  <a:pt x="3786907" y="242197"/>
                </a:lnTo>
                <a:lnTo>
                  <a:pt x="3850743" y="238443"/>
                </a:lnTo>
                <a:lnTo>
                  <a:pt x="3914577" y="230932"/>
                </a:lnTo>
                <a:lnTo>
                  <a:pt x="3978413" y="221545"/>
                </a:lnTo>
                <a:lnTo>
                  <a:pt x="4042247" y="214035"/>
                </a:lnTo>
                <a:lnTo>
                  <a:pt x="4106083" y="208401"/>
                </a:lnTo>
                <a:lnTo>
                  <a:pt x="4166161" y="210279"/>
                </a:lnTo>
                <a:lnTo>
                  <a:pt x="4224364" y="217789"/>
                </a:lnTo>
                <a:lnTo>
                  <a:pt x="4280690" y="234686"/>
                </a:lnTo>
                <a:lnTo>
                  <a:pt x="4327628" y="259094"/>
                </a:lnTo>
                <a:lnTo>
                  <a:pt x="4372686" y="291012"/>
                </a:lnTo>
                <a:lnTo>
                  <a:pt x="4412114" y="328561"/>
                </a:lnTo>
                <a:lnTo>
                  <a:pt x="4451542" y="371743"/>
                </a:lnTo>
                <a:lnTo>
                  <a:pt x="4487214" y="416803"/>
                </a:lnTo>
                <a:lnTo>
                  <a:pt x="4522886" y="463741"/>
                </a:lnTo>
                <a:lnTo>
                  <a:pt x="4558559" y="510678"/>
                </a:lnTo>
                <a:lnTo>
                  <a:pt x="4594231" y="555737"/>
                </a:lnTo>
                <a:lnTo>
                  <a:pt x="4631782" y="598919"/>
                </a:lnTo>
                <a:lnTo>
                  <a:pt x="4674964" y="636471"/>
                </a:lnTo>
                <a:lnTo>
                  <a:pt x="4716270" y="670266"/>
                </a:lnTo>
                <a:lnTo>
                  <a:pt x="4763206" y="696549"/>
                </a:lnTo>
                <a:lnTo>
                  <a:pt x="4813899" y="719079"/>
                </a:lnTo>
                <a:lnTo>
                  <a:pt x="4868345" y="737854"/>
                </a:lnTo>
                <a:lnTo>
                  <a:pt x="4924669" y="754751"/>
                </a:lnTo>
                <a:lnTo>
                  <a:pt x="4980995" y="769772"/>
                </a:lnTo>
                <a:lnTo>
                  <a:pt x="5039198" y="784792"/>
                </a:lnTo>
                <a:lnTo>
                  <a:pt x="5093644" y="801690"/>
                </a:lnTo>
                <a:lnTo>
                  <a:pt x="5148091" y="820464"/>
                </a:lnTo>
                <a:lnTo>
                  <a:pt x="5198784" y="842995"/>
                </a:lnTo>
                <a:lnTo>
                  <a:pt x="5243845" y="871157"/>
                </a:lnTo>
                <a:lnTo>
                  <a:pt x="5285151" y="904952"/>
                </a:lnTo>
                <a:lnTo>
                  <a:pt x="5318944" y="946257"/>
                </a:lnTo>
                <a:lnTo>
                  <a:pt x="5347108" y="991317"/>
                </a:lnTo>
                <a:lnTo>
                  <a:pt x="5369636" y="1042007"/>
                </a:lnTo>
                <a:lnTo>
                  <a:pt x="5388410" y="1096456"/>
                </a:lnTo>
                <a:lnTo>
                  <a:pt x="5405308" y="1150903"/>
                </a:lnTo>
                <a:lnTo>
                  <a:pt x="5420328" y="1209105"/>
                </a:lnTo>
                <a:lnTo>
                  <a:pt x="5435349" y="1265429"/>
                </a:lnTo>
                <a:lnTo>
                  <a:pt x="5452246" y="1321755"/>
                </a:lnTo>
                <a:lnTo>
                  <a:pt x="5471021" y="1376203"/>
                </a:lnTo>
                <a:lnTo>
                  <a:pt x="5493550" y="1426896"/>
                </a:lnTo>
                <a:lnTo>
                  <a:pt x="5519836" y="1473832"/>
                </a:lnTo>
                <a:lnTo>
                  <a:pt x="5553632" y="1515138"/>
                </a:lnTo>
                <a:lnTo>
                  <a:pt x="5591181" y="1558320"/>
                </a:lnTo>
                <a:lnTo>
                  <a:pt x="5634364" y="1595869"/>
                </a:lnTo>
                <a:lnTo>
                  <a:pt x="5679425" y="1631541"/>
                </a:lnTo>
                <a:lnTo>
                  <a:pt x="5728238" y="1667213"/>
                </a:lnTo>
                <a:lnTo>
                  <a:pt x="5775175" y="1702885"/>
                </a:lnTo>
                <a:lnTo>
                  <a:pt x="5820236" y="1738560"/>
                </a:lnTo>
                <a:lnTo>
                  <a:pt x="5863416" y="1777986"/>
                </a:lnTo>
                <a:lnTo>
                  <a:pt x="5900968" y="1817414"/>
                </a:lnTo>
                <a:lnTo>
                  <a:pt x="5932886" y="1862474"/>
                </a:lnTo>
                <a:lnTo>
                  <a:pt x="5957294" y="1909410"/>
                </a:lnTo>
                <a:lnTo>
                  <a:pt x="5974191" y="1965736"/>
                </a:lnTo>
                <a:lnTo>
                  <a:pt x="5981700" y="2023938"/>
                </a:lnTo>
                <a:lnTo>
                  <a:pt x="5983578" y="2084018"/>
                </a:lnTo>
                <a:lnTo>
                  <a:pt x="5977945" y="2147852"/>
                </a:lnTo>
                <a:lnTo>
                  <a:pt x="5970435" y="2211686"/>
                </a:lnTo>
                <a:lnTo>
                  <a:pt x="5961048" y="2275522"/>
                </a:lnTo>
                <a:lnTo>
                  <a:pt x="5953538" y="2339356"/>
                </a:lnTo>
                <a:lnTo>
                  <a:pt x="5949784" y="2403192"/>
                </a:lnTo>
                <a:lnTo>
                  <a:pt x="5949784" y="2465149"/>
                </a:lnTo>
                <a:lnTo>
                  <a:pt x="5957294" y="2523350"/>
                </a:lnTo>
                <a:lnTo>
                  <a:pt x="5972312" y="2581552"/>
                </a:lnTo>
                <a:lnTo>
                  <a:pt x="5994843" y="2636001"/>
                </a:lnTo>
                <a:lnTo>
                  <a:pt x="6024884" y="2692325"/>
                </a:lnTo>
                <a:lnTo>
                  <a:pt x="6054922" y="2748651"/>
                </a:lnTo>
                <a:lnTo>
                  <a:pt x="6088718" y="2804974"/>
                </a:lnTo>
                <a:lnTo>
                  <a:pt x="6120634" y="2859423"/>
                </a:lnTo>
                <a:lnTo>
                  <a:pt x="6148798" y="2917624"/>
                </a:lnTo>
                <a:lnTo>
                  <a:pt x="6171326" y="2973950"/>
                </a:lnTo>
                <a:lnTo>
                  <a:pt x="6186347" y="3032152"/>
                </a:lnTo>
                <a:lnTo>
                  <a:pt x="6191980" y="3092230"/>
                </a:lnTo>
                <a:lnTo>
                  <a:pt x="6186347" y="3152310"/>
                </a:lnTo>
                <a:lnTo>
                  <a:pt x="6171326" y="3210513"/>
                </a:lnTo>
                <a:lnTo>
                  <a:pt x="6148798" y="3266839"/>
                </a:lnTo>
                <a:lnTo>
                  <a:pt x="6120634" y="3325039"/>
                </a:lnTo>
                <a:lnTo>
                  <a:pt x="6088718" y="3379488"/>
                </a:lnTo>
                <a:lnTo>
                  <a:pt x="6054922" y="3435814"/>
                </a:lnTo>
                <a:lnTo>
                  <a:pt x="6024884" y="3492137"/>
                </a:lnTo>
                <a:lnTo>
                  <a:pt x="5994843" y="3548461"/>
                </a:lnTo>
                <a:lnTo>
                  <a:pt x="5972312" y="3602910"/>
                </a:lnTo>
                <a:lnTo>
                  <a:pt x="5957294" y="3661113"/>
                </a:lnTo>
                <a:lnTo>
                  <a:pt x="5949784" y="3719313"/>
                </a:lnTo>
                <a:lnTo>
                  <a:pt x="5949784" y="3781272"/>
                </a:lnTo>
                <a:lnTo>
                  <a:pt x="5953538" y="3845106"/>
                </a:lnTo>
                <a:lnTo>
                  <a:pt x="5961048" y="3908940"/>
                </a:lnTo>
                <a:lnTo>
                  <a:pt x="5970435" y="3972776"/>
                </a:lnTo>
                <a:lnTo>
                  <a:pt x="5977945" y="4036610"/>
                </a:lnTo>
                <a:lnTo>
                  <a:pt x="5983578" y="4100444"/>
                </a:lnTo>
                <a:lnTo>
                  <a:pt x="5981700" y="4160526"/>
                </a:lnTo>
                <a:lnTo>
                  <a:pt x="5974191" y="4218729"/>
                </a:lnTo>
                <a:lnTo>
                  <a:pt x="5957294" y="4275053"/>
                </a:lnTo>
                <a:lnTo>
                  <a:pt x="5932886" y="4321989"/>
                </a:lnTo>
                <a:lnTo>
                  <a:pt x="5900968" y="4367050"/>
                </a:lnTo>
                <a:lnTo>
                  <a:pt x="5863416" y="4406477"/>
                </a:lnTo>
                <a:lnTo>
                  <a:pt x="5820236" y="4445903"/>
                </a:lnTo>
                <a:lnTo>
                  <a:pt x="5775175" y="4481577"/>
                </a:lnTo>
                <a:lnTo>
                  <a:pt x="5728238" y="4517249"/>
                </a:lnTo>
                <a:lnTo>
                  <a:pt x="5679425" y="4552921"/>
                </a:lnTo>
                <a:lnTo>
                  <a:pt x="5634364" y="4588593"/>
                </a:lnTo>
                <a:lnTo>
                  <a:pt x="5591181" y="4626142"/>
                </a:lnTo>
                <a:lnTo>
                  <a:pt x="5553632" y="4669325"/>
                </a:lnTo>
                <a:lnTo>
                  <a:pt x="5519836" y="4710630"/>
                </a:lnTo>
                <a:lnTo>
                  <a:pt x="5493550" y="4757566"/>
                </a:lnTo>
                <a:lnTo>
                  <a:pt x="5471021" y="4808259"/>
                </a:lnTo>
                <a:lnTo>
                  <a:pt x="5452246" y="4862708"/>
                </a:lnTo>
                <a:lnTo>
                  <a:pt x="5435349" y="4919033"/>
                </a:lnTo>
                <a:lnTo>
                  <a:pt x="5420328" y="4975357"/>
                </a:lnTo>
                <a:lnTo>
                  <a:pt x="5405308" y="5033560"/>
                </a:lnTo>
                <a:lnTo>
                  <a:pt x="5388410" y="5088007"/>
                </a:lnTo>
                <a:lnTo>
                  <a:pt x="5369636" y="5142453"/>
                </a:lnTo>
                <a:lnTo>
                  <a:pt x="5347108" y="5193146"/>
                </a:lnTo>
                <a:lnTo>
                  <a:pt x="5318944" y="5238207"/>
                </a:lnTo>
                <a:lnTo>
                  <a:pt x="5285151" y="5279510"/>
                </a:lnTo>
                <a:lnTo>
                  <a:pt x="5243845" y="5313305"/>
                </a:lnTo>
                <a:lnTo>
                  <a:pt x="5198784" y="5341467"/>
                </a:lnTo>
                <a:lnTo>
                  <a:pt x="5148091" y="5363998"/>
                </a:lnTo>
                <a:lnTo>
                  <a:pt x="5093644" y="5382773"/>
                </a:lnTo>
                <a:lnTo>
                  <a:pt x="5039198" y="5399670"/>
                </a:lnTo>
                <a:lnTo>
                  <a:pt x="4980995" y="5414691"/>
                </a:lnTo>
                <a:lnTo>
                  <a:pt x="4924669" y="5429711"/>
                </a:lnTo>
                <a:lnTo>
                  <a:pt x="4868345" y="5446609"/>
                </a:lnTo>
                <a:lnTo>
                  <a:pt x="4813899" y="5465383"/>
                </a:lnTo>
                <a:lnTo>
                  <a:pt x="4763206" y="5487914"/>
                </a:lnTo>
                <a:lnTo>
                  <a:pt x="4716270" y="5514197"/>
                </a:lnTo>
                <a:lnTo>
                  <a:pt x="4674964" y="5547992"/>
                </a:lnTo>
                <a:lnTo>
                  <a:pt x="4631782" y="5585543"/>
                </a:lnTo>
                <a:lnTo>
                  <a:pt x="4594231" y="5628725"/>
                </a:lnTo>
                <a:lnTo>
                  <a:pt x="4558559" y="5673785"/>
                </a:lnTo>
                <a:lnTo>
                  <a:pt x="4522886" y="5720721"/>
                </a:lnTo>
                <a:lnTo>
                  <a:pt x="4487214" y="5767659"/>
                </a:lnTo>
                <a:lnTo>
                  <a:pt x="4451542" y="5812719"/>
                </a:lnTo>
                <a:lnTo>
                  <a:pt x="4412114" y="5855901"/>
                </a:lnTo>
                <a:lnTo>
                  <a:pt x="4372686" y="5893450"/>
                </a:lnTo>
                <a:lnTo>
                  <a:pt x="4327628" y="5925368"/>
                </a:lnTo>
                <a:lnTo>
                  <a:pt x="4280690" y="5949776"/>
                </a:lnTo>
                <a:lnTo>
                  <a:pt x="4224364" y="5966674"/>
                </a:lnTo>
                <a:lnTo>
                  <a:pt x="4166161" y="5974184"/>
                </a:lnTo>
                <a:lnTo>
                  <a:pt x="4106083" y="5976061"/>
                </a:lnTo>
                <a:lnTo>
                  <a:pt x="4042247" y="5970428"/>
                </a:lnTo>
                <a:lnTo>
                  <a:pt x="3978413" y="5962919"/>
                </a:lnTo>
                <a:lnTo>
                  <a:pt x="3914577" y="5953530"/>
                </a:lnTo>
                <a:lnTo>
                  <a:pt x="3850743" y="5946022"/>
                </a:lnTo>
                <a:lnTo>
                  <a:pt x="3786907" y="5942266"/>
                </a:lnTo>
                <a:lnTo>
                  <a:pt x="3724950" y="5942266"/>
                </a:lnTo>
                <a:lnTo>
                  <a:pt x="3666749" y="5949776"/>
                </a:lnTo>
                <a:lnTo>
                  <a:pt x="3606669" y="5964797"/>
                </a:lnTo>
                <a:lnTo>
                  <a:pt x="3552221" y="5987325"/>
                </a:lnTo>
                <a:lnTo>
                  <a:pt x="3495897" y="6017366"/>
                </a:lnTo>
                <a:lnTo>
                  <a:pt x="3439573" y="6047407"/>
                </a:lnTo>
                <a:lnTo>
                  <a:pt x="3383247" y="6081200"/>
                </a:lnTo>
                <a:lnTo>
                  <a:pt x="3328798" y="6113118"/>
                </a:lnTo>
                <a:lnTo>
                  <a:pt x="3270598" y="6141280"/>
                </a:lnTo>
                <a:lnTo>
                  <a:pt x="3214272" y="6163811"/>
                </a:lnTo>
                <a:lnTo>
                  <a:pt x="3156069" y="6178831"/>
                </a:lnTo>
                <a:lnTo>
                  <a:pt x="3095991" y="6184462"/>
                </a:lnTo>
                <a:lnTo>
                  <a:pt x="3035911" y="6178831"/>
                </a:lnTo>
                <a:lnTo>
                  <a:pt x="2977708" y="6163811"/>
                </a:lnTo>
                <a:lnTo>
                  <a:pt x="2921385" y="6141280"/>
                </a:lnTo>
                <a:lnTo>
                  <a:pt x="2863182" y="6113118"/>
                </a:lnTo>
                <a:lnTo>
                  <a:pt x="2808733" y="6081200"/>
                </a:lnTo>
                <a:lnTo>
                  <a:pt x="2752409" y="6047407"/>
                </a:lnTo>
                <a:lnTo>
                  <a:pt x="2696083" y="6017366"/>
                </a:lnTo>
                <a:lnTo>
                  <a:pt x="2639760" y="5987325"/>
                </a:lnTo>
                <a:lnTo>
                  <a:pt x="2583436" y="5964797"/>
                </a:lnTo>
                <a:lnTo>
                  <a:pt x="2525233" y="5949776"/>
                </a:lnTo>
                <a:lnTo>
                  <a:pt x="2467030" y="5942266"/>
                </a:lnTo>
                <a:lnTo>
                  <a:pt x="2405071" y="5942266"/>
                </a:lnTo>
                <a:lnTo>
                  <a:pt x="2341237" y="5946022"/>
                </a:lnTo>
                <a:lnTo>
                  <a:pt x="2277403" y="5953530"/>
                </a:lnTo>
                <a:lnTo>
                  <a:pt x="2213567" y="5962919"/>
                </a:lnTo>
                <a:lnTo>
                  <a:pt x="2149731" y="5970428"/>
                </a:lnTo>
                <a:lnTo>
                  <a:pt x="2085897" y="5976061"/>
                </a:lnTo>
                <a:lnTo>
                  <a:pt x="2025819" y="5974184"/>
                </a:lnTo>
                <a:lnTo>
                  <a:pt x="1967617" y="5966674"/>
                </a:lnTo>
                <a:lnTo>
                  <a:pt x="1911291" y="5949776"/>
                </a:lnTo>
                <a:lnTo>
                  <a:pt x="1864354" y="5925368"/>
                </a:lnTo>
                <a:lnTo>
                  <a:pt x="1819293" y="5893450"/>
                </a:lnTo>
                <a:lnTo>
                  <a:pt x="1779867" y="5855901"/>
                </a:lnTo>
                <a:lnTo>
                  <a:pt x="1740438" y="5812719"/>
                </a:lnTo>
                <a:lnTo>
                  <a:pt x="1704766" y="5767659"/>
                </a:lnTo>
                <a:lnTo>
                  <a:pt x="1669094" y="5720721"/>
                </a:lnTo>
                <a:lnTo>
                  <a:pt x="1633422" y="5673785"/>
                </a:lnTo>
                <a:lnTo>
                  <a:pt x="1597750" y="5628725"/>
                </a:lnTo>
                <a:lnTo>
                  <a:pt x="1560199" y="5585543"/>
                </a:lnTo>
                <a:lnTo>
                  <a:pt x="1517016" y="5547992"/>
                </a:lnTo>
                <a:lnTo>
                  <a:pt x="1475711" y="5514197"/>
                </a:lnTo>
                <a:lnTo>
                  <a:pt x="1428774" y="5487914"/>
                </a:lnTo>
                <a:lnTo>
                  <a:pt x="1378082" y="5465383"/>
                </a:lnTo>
                <a:lnTo>
                  <a:pt x="1323635" y="5446609"/>
                </a:lnTo>
                <a:lnTo>
                  <a:pt x="1267309" y="5429711"/>
                </a:lnTo>
                <a:lnTo>
                  <a:pt x="1210986" y="5414691"/>
                </a:lnTo>
                <a:lnTo>
                  <a:pt x="1152783" y="5399670"/>
                </a:lnTo>
                <a:lnTo>
                  <a:pt x="1098336" y="5382773"/>
                </a:lnTo>
                <a:lnTo>
                  <a:pt x="1043887" y="5363998"/>
                </a:lnTo>
                <a:lnTo>
                  <a:pt x="993197" y="5341467"/>
                </a:lnTo>
                <a:lnTo>
                  <a:pt x="948135" y="5313305"/>
                </a:lnTo>
                <a:lnTo>
                  <a:pt x="906830" y="5279510"/>
                </a:lnTo>
                <a:lnTo>
                  <a:pt x="873037" y="5238207"/>
                </a:lnTo>
                <a:lnTo>
                  <a:pt x="844875" y="5193146"/>
                </a:lnTo>
                <a:lnTo>
                  <a:pt x="822344" y="5142453"/>
                </a:lnTo>
                <a:lnTo>
                  <a:pt x="803570" y="5088007"/>
                </a:lnTo>
                <a:lnTo>
                  <a:pt x="786672" y="5033560"/>
                </a:lnTo>
                <a:lnTo>
                  <a:pt x="771652" y="4975357"/>
                </a:lnTo>
                <a:lnTo>
                  <a:pt x="756631" y="4919033"/>
                </a:lnTo>
                <a:lnTo>
                  <a:pt x="739734" y="4862708"/>
                </a:lnTo>
                <a:lnTo>
                  <a:pt x="720959" y="4808259"/>
                </a:lnTo>
                <a:lnTo>
                  <a:pt x="698428" y="4757566"/>
                </a:lnTo>
                <a:lnTo>
                  <a:pt x="672143" y="4710630"/>
                </a:lnTo>
                <a:lnTo>
                  <a:pt x="638351" y="4669325"/>
                </a:lnTo>
                <a:lnTo>
                  <a:pt x="600799" y="4626142"/>
                </a:lnTo>
                <a:lnTo>
                  <a:pt x="557617" y="4588593"/>
                </a:lnTo>
                <a:lnTo>
                  <a:pt x="510678" y="4552921"/>
                </a:lnTo>
                <a:lnTo>
                  <a:pt x="463742" y="4517249"/>
                </a:lnTo>
                <a:lnTo>
                  <a:pt x="416805" y="4481577"/>
                </a:lnTo>
                <a:lnTo>
                  <a:pt x="371744" y="4445903"/>
                </a:lnTo>
                <a:lnTo>
                  <a:pt x="328562" y="4406477"/>
                </a:lnTo>
                <a:lnTo>
                  <a:pt x="291012" y="4367050"/>
                </a:lnTo>
                <a:lnTo>
                  <a:pt x="259096" y="4321989"/>
                </a:lnTo>
                <a:lnTo>
                  <a:pt x="234689" y="4275053"/>
                </a:lnTo>
                <a:lnTo>
                  <a:pt x="217791" y="4218729"/>
                </a:lnTo>
                <a:lnTo>
                  <a:pt x="210281" y="4160526"/>
                </a:lnTo>
                <a:lnTo>
                  <a:pt x="208402" y="4100444"/>
                </a:lnTo>
                <a:lnTo>
                  <a:pt x="214035" y="4036610"/>
                </a:lnTo>
                <a:lnTo>
                  <a:pt x="221545" y="3972776"/>
                </a:lnTo>
                <a:lnTo>
                  <a:pt x="230932" y="3908940"/>
                </a:lnTo>
                <a:lnTo>
                  <a:pt x="238443" y="3845106"/>
                </a:lnTo>
                <a:lnTo>
                  <a:pt x="242199" y="3781272"/>
                </a:lnTo>
                <a:lnTo>
                  <a:pt x="242199" y="3719313"/>
                </a:lnTo>
                <a:lnTo>
                  <a:pt x="234689" y="3661113"/>
                </a:lnTo>
                <a:lnTo>
                  <a:pt x="219668" y="3602910"/>
                </a:lnTo>
                <a:lnTo>
                  <a:pt x="197138" y="3548461"/>
                </a:lnTo>
                <a:lnTo>
                  <a:pt x="168976" y="3492137"/>
                </a:lnTo>
                <a:lnTo>
                  <a:pt x="137057" y="3435814"/>
                </a:lnTo>
                <a:lnTo>
                  <a:pt x="103264" y="3379488"/>
                </a:lnTo>
                <a:lnTo>
                  <a:pt x="71346" y="3325039"/>
                </a:lnTo>
                <a:lnTo>
                  <a:pt x="43182" y="3266839"/>
                </a:lnTo>
                <a:lnTo>
                  <a:pt x="20654" y="3210513"/>
                </a:lnTo>
                <a:lnTo>
                  <a:pt x="5634" y="3152310"/>
                </a:lnTo>
                <a:lnTo>
                  <a:pt x="0" y="3092230"/>
                </a:lnTo>
                <a:lnTo>
                  <a:pt x="5634" y="3032152"/>
                </a:lnTo>
                <a:lnTo>
                  <a:pt x="20654" y="2973950"/>
                </a:lnTo>
                <a:lnTo>
                  <a:pt x="43182" y="2917624"/>
                </a:lnTo>
                <a:lnTo>
                  <a:pt x="71346" y="2859423"/>
                </a:lnTo>
                <a:lnTo>
                  <a:pt x="103264" y="2804974"/>
                </a:lnTo>
                <a:lnTo>
                  <a:pt x="137057" y="2748651"/>
                </a:lnTo>
                <a:lnTo>
                  <a:pt x="168976" y="2692325"/>
                </a:lnTo>
                <a:lnTo>
                  <a:pt x="197138" y="2636001"/>
                </a:lnTo>
                <a:lnTo>
                  <a:pt x="219668" y="2581552"/>
                </a:lnTo>
                <a:lnTo>
                  <a:pt x="234689" y="2523350"/>
                </a:lnTo>
                <a:lnTo>
                  <a:pt x="242199" y="2465149"/>
                </a:lnTo>
                <a:lnTo>
                  <a:pt x="242199" y="2403192"/>
                </a:lnTo>
                <a:lnTo>
                  <a:pt x="238443" y="2339356"/>
                </a:lnTo>
                <a:lnTo>
                  <a:pt x="230932" y="2275522"/>
                </a:lnTo>
                <a:lnTo>
                  <a:pt x="221545" y="2211686"/>
                </a:lnTo>
                <a:lnTo>
                  <a:pt x="214035" y="2147852"/>
                </a:lnTo>
                <a:lnTo>
                  <a:pt x="208402" y="2084018"/>
                </a:lnTo>
                <a:lnTo>
                  <a:pt x="210281" y="2023938"/>
                </a:lnTo>
                <a:lnTo>
                  <a:pt x="217791" y="1965736"/>
                </a:lnTo>
                <a:lnTo>
                  <a:pt x="234689" y="1909410"/>
                </a:lnTo>
                <a:lnTo>
                  <a:pt x="259096" y="1862474"/>
                </a:lnTo>
                <a:lnTo>
                  <a:pt x="291012" y="1817414"/>
                </a:lnTo>
                <a:lnTo>
                  <a:pt x="328562" y="1777986"/>
                </a:lnTo>
                <a:lnTo>
                  <a:pt x="371744" y="1738560"/>
                </a:lnTo>
                <a:lnTo>
                  <a:pt x="416805" y="1702885"/>
                </a:lnTo>
                <a:lnTo>
                  <a:pt x="463742" y="1667213"/>
                </a:lnTo>
                <a:lnTo>
                  <a:pt x="510678" y="1631541"/>
                </a:lnTo>
                <a:lnTo>
                  <a:pt x="557617" y="1595869"/>
                </a:lnTo>
                <a:lnTo>
                  <a:pt x="600799" y="1558320"/>
                </a:lnTo>
                <a:lnTo>
                  <a:pt x="638351" y="1515138"/>
                </a:lnTo>
                <a:lnTo>
                  <a:pt x="672143" y="1473832"/>
                </a:lnTo>
                <a:lnTo>
                  <a:pt x="698428" y="1426896"/>
                </a:lnTo>
                <a:lnTo>
                  <a:pt x="720959" y="1376203"/>
                </a:lnTo>
                <a:lnTo>
                  <a:pt x="739734" y="1321755"/>
                </a:lnTo>
                <a:lnTo>
                  <a:pt x="756631" y="1265429"/>
                </a:lnTo>
                <a:lnTo>
                  <a:pt x="771652" y="1209105"/>
                </a:lnTo>
                <a:lnTo>
                  <a:pt x="786672" y="1150903"/>
                </a:lnTo>
                <a:lnTo>
                  <a:pt x="803570" y="1096456"/>
                </a:lnTo>
                <a:lnTo>
                  <a:pt x="822344" y="1042007"/>
                </a:lnTo>
                <a:lnTo>
                  <a:pt x="844875" y="991317"/>
                </a:lnTo>
                <a:lnTo>
                  <a:pt x="873037" y="946257"/>
                </a:lnTo>
                <a:lnTo>
                  <a:pt x="906830" y="904952"/>
                </a:lnTo>
                <a:lnTo>
                  <a:pt x="948135" y="871157"/>
                </a:lnTo>
                <a:lnTo>
                  <a:pt x="993197" y="842995"/>
                </a:lnTo>
                <a:lnTo>
                  <a:pt x="1043887" y="820464"/>
                </a:lnTo>
                <a:lnTo>
                  <a:pt x="1098336" y="801690"/>
                </a:lnTo>
                <a:lnTo>
                  <a:pt x="1152783" y="784792"/>
                </a:lnTo>
                <a:lnTo>
                  <a:pt x="1210986" y="769772"/>
                </a:lnTo>
                <a:lnTo>
                  <a:pt x="1267309" y="754751"/>
                </a:lnTo>
                <a:lnTo>
                  <a:pt x="1323635" y="737854"/>
                </a:lnTo>
                <a:lnTo>
                  <a:pt x="1378082" y="719079"/>
                </a:lnTo>
                <a:lnTo>
                  <a:pt x="1428774" y="696549"/>
                </a:lnTo>
                <a:lnTo>
                  <a:pt x="1475711" y="670266"/>
                </a:lnTo>
                <a:lnTo>
                  <a:pt x="1517016" y="636471"/>
                </a:lnTo>
                <a:lnTo>
                  <a:pt x="1560199" y="598919"/>
                </a:lnTo>
                <a:lnTo>
                  <a:pt x="1597750" y="555737"/>
                </a:lnTo>
                <a:lnTo>
                  <a:pt x="1633422" y="510678"/>
                </a:lnTo>
                <a:lnTo>
                  <a:pt x="1669094" y="463741"/>
                </a:lnTo>
                <a:lnTo>
                  <a:pt x="1704766" y="416803"/>
                </a:lnTo>
                <a:lnTo>
                  <a:pt x="1740438" y="371743"/>
                </a:lnTo>
                <a:lnTo>
                  <a:pt x="1779867" y="328561"/>
                </a:lnTo>
                <a:lnTo>
                  <a:pt x="1819293" y="291012"/>
                </a:lnTo>
                <a:lnTo>
                  <a:pt x="1864354" y="259094"/>
                </a:lnTo>
                <a:lnTo>
                  <a:pt x="1911291" y="234686"/>
                </a:lnTo>
                <a:lnTo>
                  <a:pt x="1967617" y="217789"/>
                </a:lnTo>
                <a:lnTo>
                  <a:pt x="2025819" y="210279"/>
                </a:lnTo>
                <a:lnTo>
                  <a:pt x="2085897" y="208401"/>
                </a:lnTo>
                <a:lnTo>
                  <a:pt x="2149731" y="214035"/>
                </a:lnTo>
                <a:lnTo>
                  <a:pt x="2213567" y="221545"/>
                </a:lnTo>
                <a:lnTo>
                  <a:pt x="2277403" y="230932"/>
                </a:lnTo>
                <a:lnTo>
                  <a:pt x="2341237" y="238443"/>
                </a:lnTo>
                <a:lnTo>
                  <a:pt x="2405071" y="242197"/>
                </a:lnTo>
                <a:lnTo>
                  <a:pt x="2467030" y="242197"/>
                </a:lnTo>
                <a:lnTo>
                  <a:pt x="2525233" y="234686"/>
                </a:lnTo>
                <a:lnTo>
                  <a:pt x="2583436" y="219666"/>
                </a:lnTo>
                <a:lnTo>
                  <a:pt x="2639760" y="197137"/>
                </a:lnTo>
                <a:lnTo>
                  <a:pt x="2696083" y="167096"/>
                </a:lnTo>
                <a:lnTo>
                  <a:pt x="2752409" y="137057"/>
                </a:lnTo>
                <a:lnTo>
                  <a:pt x="2808733" y="103262"/>
                </a:lnTo>
                <a:lnTo>
                  <a:pt x="2863182" y="71344"/>
                </a:lnTo>
                <a:lnTo>
                  <a:pt x="2921385" y="43182"/>
                </a:lnTo>
                <a:lnTo>
                  <a:pt x="2977708" y="20652"/>
                </a:lnTo>
                <a:lnTo>
                  <a:pt x="3035911" y="563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4AF41C3-8948-4210-91C5-1285DC5E9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3605" y="2694563"/>
            <a:ext cx="3041878" cy="3038218"/>
          </a:xfrm>
          <a:custGeom>
            <a:avLst/>
            <a:gdLst>
              <a:gd name="connsiteX0" fmla="*/ 1418354 w 2836707"/>
              <a:gd name="connsiteY0" fmla="*/ 0 h 2833294"/>
              <a:gd name="connsiteX1" fmla="*/ 1445877 w 2836707"/>
              <a:gd name="connsiteY1" fmla="*/ 2580 h 2833294"/>
              <a:gd name="connsiteX2" fmla="*/ 1472542 w 2836707"/>
              <a:gd name="connsiteY2" fmla="*/ 9461 h 2833294"/>
              <a:gd name="connsiteX3" fmla="*/ 1498346 w 2836707"/>
              <a:gd name="connsiteY3" fmla="*/ 19783 h 2833294"/>
              <a:gd name="connsiteX4" fmla="*/ 1525009 w 2836707"/>
              <a:gd name="connsiteY4" fmla="*/ 32685 h 2833294"/>
              <a:gd name="connsiteX5" fmla="*/ 1549954 w 2836707"/>
              <a:gd name="connsiteY5" fmla="*/ 47308 h 2833294"/>
              <a:gd name="connsiteX6" fmla="*/ 1575758 w 2836707"/>
              <a:gd name="connsiteY6" fmla="*/ 62790 h 2833294"/>
              <a:gd name="connsiteX7" fmla="*/ 1601561 w 2836707"/>
              <a:gd name="connsiteY7" fmla="*/ 76552 h 2833294"/>
              <a:gd name="connsiteX8" fmla="*/ 1627365 w 2836707"/>
              <a:gd name="connsiteY8" fmla="*/ 90315 h 2833294"/>
              <a:gd name="connsiteX9" fmla="*/ 1652309 w 2836707"/>
              <a:gd name="connsiteY9" fmla="*/ 100636 h 2833294"/>
              <a:gd name="connsiteX10" fmla="*/ 1679833 w 2836707"/>
              <a:gd name="connsiteY10" fmla="*/ 107517 h 2833294"/>
              <a:gd name="connsiteX11" fmla="*/ 1706497 w 2836707"/>
              <a:gd name="connsiteY11" fmla="*/ 110958 h 2833294"/>
              <a:gd name="connsiteX12" fmla="*/ 1734881 w 2836707"/>
              <a:gd name="connsiteY12" fmla="*/ 110958 h 2833294"/>
              <a:gd name="connsiteX13" fmla="*/ 1764126 w 2836707"/>
              <a:gd name="connsiteY13" fmla="*/ 109238 h 2833294"/>
              <a:gd name="connsiteX14" fmla="*/ 1793370 w 2836707"/>
              <a:gd name="connsiteY14" fmla="*/ 105797 h 2833294"/>
              <a:gd name="connsiteX15" fmla="*/ 1822615 w 2836707"/>
              <a:gd name="connsiteY15" fmla="*/ 101497 h 2833294"/>
              <a:gd name="connsiteX16" fmla="*/ 1851859 w 2836707"/>
              <a:gd name="connsiteY16" fmla="*/ 98056 h 2833294"/>
              <a:gd name="connsiteX17" fmla="*/ 1881104 w 2836707"/>
              <a:gd name="connsiteY17" fmla="*/ 95475 h 2833294"/>
              <a:gd name="connsiteX18" fmla="*/ 1908627 w 2836707"/>
              <a:gd name="connsiteY18" fmla="*/ 96335 h 2833294"/>
              <a:gd name="connsiteX19" fmla="*/ 1935291 w 2836707"/>
              <a:gd name="connsiteY19" fmla="*/ 99776 h 2833294"/>
              <a:gd name="connsiteX20" fmla="*/ 1961095 w 2836707"/>
              <a:gd name="connsiteY20" fmla="*/ 107517 h 2833294"/>
              <a:gd name="connsiteX21" fmla="*/ 1982599 w 2836707"/>
              <a:gd name="connsiteY21" fmla="*/ 118699 h 2833294"/>
              <a:gd name="connsiteX22" fmla="*/ 2003241 w 2836707"/>
              <a:gd name="connsiteY22" fmla="*/ 133322 h 2833294"/>
              <a:gd name="connsiteX23" fmla="*/ 2021304 w 2836707"/>
              <a:gd name="connsiteY23" fmla="*/ 150524 h 2833294"/>
              <a:gd name="connsiteX24" fmla="*/ 2039367 w 2836707"/>
              <a:gd name="connsiteY24" fmla="*/ 170307 h 2833294"/>
              <a:gd name="connsiteX25" fmla="*/ 2055710 w 2836707"/>
              <a:gd name="connsiteY25" fmla="*/ 190950 h 2833294"/>
              <a:gd name="connsiteX26" fmla="*/ 2072052 w 2836707"/>
              <a:gd name="connsiteY26" fmla="*/ 212454 h 2833294"/>
              <a:gd name="connsiteX27" fmla="*/ 2088394 w 2836707"/>
              <a:gd name="connsiteY27" fmla="*/ 233957 h 2833294"/>
              <a:gd name="connsiteX28" fmla="*/ 2104736 w 2836707"/>
              <a:gd name="connsiteY28" fmla="*/ 254601 h 2833294"/>
              <a:gd name="connsiteX29" fmla="*/ 2121940 w 2836707"/>
              <a:gd name="connsiteY29" fmla="*/ 274384 h 2833294"/>
              <a:gd name="connsiteX30" fmla="*/ 2141723 w 2836707"/>
              <a:gd name="connsiteY30" fmla="*/ 291587 h 2833294"/>
              <a:gd name="connsiteX31" fmla="*/ 2160646 w 2836707"/>
              <a:gd name="connsiteY31" fmla="*/ 307070 h 2833294"/>
              <a:gd name="connsiteX32" fmla="*/ 2182149 w 2836707"/>
              <a:gd name="connsiteY32" fmla="*/ 319111 h 2833294"/>
              <a:gd name="connsiteX33" fmla="*/ 2205372 w 2836707"/>
              <a:gd name="connsiteY33" fmla="*/ 329433 h 2833294"/>
              <a:gd name="connsiteX34" fmla="*/ 2230316 w 2836707"/>
              <a:gd name="connsiteY34" fmla="*/ 338034 h 2833294"/>
              <a:gd name="connsiteX35" fmla="*/ 2256119 w 2836707"/>
              <a:gd name="connsiteY35" fmla="*/ 345775 h 2833294"/>
              <a:gd name="connsiteX36" fmla="*/ 2281923 w 2836707"/>
              <a:gd name="connsiteY36" fmla="*/ 352656 h 2833294"/>
              <a:gd name="connsiteX37" fmla="*/ 2308587 w 2836707"/>
              <a:gd name="connsiteY37" fmla="*/ 359538 h 2833294"/>
              <a:gd name="connsiteX38" fmla="*/ 2333531 w 2836707"/>
              <a:gd name="connsiteY38" fmla="*/ 367279 h 2833294"/>
              <a:gd name="connsiteX39" fmla="*/ 2358474 w 2836707"/>
              <a:gd name="connsiteY39" fmla="*/ 375880 h 2833294"/>
              <a:gd name="connsiteX40" fmla="*/ 2381698 w 2836707"/>
              <a:gd name="connsiteY40" fmla="*/ 386202 h 2833294"/>
              <a:gd name="connsiteX41" fmla="*/ 2402342 w 2836707"/>
              <a:gd name="connsiteY41" fmla="*/ 399104 h 2833294"/>
              <a:gd name="connsiteX42" fmla="*/ 2421265 w 2836707"/>
              <a:gd name="connsiteY42" fmla="*/ 414587 h 2833294"/>
              <a:gd name="connsiteX43" fmla="*/ 2436746 w 2836707"/>
              <a:gd name="connsiteY43" fmla="*/ 433510 h 2833294"/>
              <a:gd name="connsiteX44" fmla="*/ 2449649 w 2836707"/>
              <a:gd name="connsiteY44" fmla="*/ 454153 h 2833294"/>
              <a:gd name="connsiteX45" fmla="*/ 2459970 w 2836707"/>
              <a:gd name="connsiteY45" fmla="*/ 477376 h 2833294"/>
              <a:gd name="connsiteX46" fmla="*/ 2468571 w 2836707"/>
              <a:gd name="connsiteY46" fmla="*/ 502321 h 2833294"/>
              <a:gd name="connsiteX47" fmla="*/ 2476312 w 2836707"/>
              <a:gd name="connsiteY47" fmla="*/ 527264 h 2833294"/>
              <a:gd name="connsiteX48" fmla="*/ 2483194 w 2836707"/>
              <a:gd name="connsiteY48" fmla="*/ 553929 h 2833294"/>
              <a:gd name="connsiteX49" fmla="*/ 2490075 w 2836707"/>
              <a:gd name="connsiteY49" fmla="*/ 579732 h 2833294"/>
              <a:gd name="connsiteX50" fmla="*/ 2497816 w 2836707"/>
              <a:gd name="connsiteY50" fmla="*/ 605537 h 2833294"/>
              <a:gd name="connsiteX51" fmla="*/ 2506417 w 2836707"/>
              <a:gd name="connsiteY51" fmla="*/ 630482 h 2833294"/>
              <a:gd name="connsiteX52" fmla="*/ 2516738 w 2836707"/>
              <a:gd name="connsiteY52" fmla="*/ 653705 h 2833294"/>
              <a:gd name="connsiteX53" fmla="*/ 2528781 w 2836707"/>
              <a:gd name="connsiteY53" fmla="*/ 675208 h 2833294"/>
              <a:gd name="connsiteX54" fmla="*/ 2544263 w 2836707"/>
              <a:gd name="connsiteY54" fmla="*/ 694132 h 2833294"/>
              <a:gd name="connsiteX55" fmla="*/ 2561465 w 2836707"/>
              <a:gd name="connsiteY55" fmla="*/ 713915 h 2833294"/>
              <a:gd name="connsiteX56" fmla="*/ 2581248 w 2836707"/>
              <a:gd name="connsiteY56" fmla="*/ 731117 h 2833294"/>
              <a:gd name="connsiteX57" fmla="*/ 2601892 w 2836707"/>
              <a:gd name="connsiteY57" fmla="*/ 747460 h 2833294"/>
              <a:gd name="connsiteX58" fmla="*/ 2624255 w 2836707"/>
              <a:gd name="connsiteY58" fmla="*/ 763802 h 2833294"/>
              <a:gd name="connsiteX59" fmla="*/ 2645758 w 2836707"/>
              <a:gd name="connsiteY59" fmla="*/ 780145 h 2833294"/>
              <a:gd name="connsiteX60" fmla="*/ 2666401 w 2836707"/>
              <a:gd name="connsiteY60" fmla="*/ 796488 h 2833294"/>
              <a:gd name="connsiteX61" fmla="*/ 2686183 w 2836707"/>
              <a:gd name="connsiteY61" fmla="*/ 814551 h 2833294"/>
              <a:gd name="connsiteX62" fmla="*/ 2703387 w 2836707"/>
              <a:gd name="connsiteY62" fmla="*/ 832614 h 2833294"/>
              <a:gd name="connsiteX63" fmla="*/ 2718009 w 2836707"/>
              <a:gd name="connsiteY63" fmla="*/ 853257 h 2833294"/>
              <a:gd name="connsiteX64" fmla="*/ 2729191 w 2836707"/>
              <a:gd name="connsiteY64" fmla="*/ 874760 h 2833294"/>
              <a:gd name="connsiteX65" fmla="*/ 2736932 w 2836707"/>
              <a:gd name="connsiteY65" fmla="*/ 900565 h 2833294"/>
              <a:gd name="connsiteX66" fmla="*/ 2740372 w 2836707"/>
              <a:gd name="connsiteY66" fmla="*/ 927229 h 2833294"/>
              <a:gd name="connsiteX67" fmla="*/ 2741233 w 2836707"/>
              <a:gd name="connsiteY67" fmla="*/ 954754 h 2833294"/>
              <a:gd name="connsiteX68" fmla="*/ 2738652 w 2836707"/>
              <a:gd name="connsiteY68" fmla="*/ 983998 h 2833294"/>
              <a:gd name="connsiteX69" fmla="*/ 2735211 w 2836707"/>
              <a:gd name="connsiteY69" fmla="*/ 1013242 h 2833294"/>
              <a:gd name="connsiteX70" fmla="*/ 2730911 w 2836707"/>
              <a:gd name="connsiteY70" fmla="*/ 1042487 h 2833294"/>
              <a:gd name="connsiteX71" fmla="*/ 2727470 w 2836707"/>
              <a:gd name="connsiteY71" fmla="*/ 1071732 h 2833294"/>
              <a:gd name="connsiteX72" fmla="*/ 2725751 w 2836707"/>
              <a:gd name="connsiteY72" fmla="*/ 1100977 h 2833294"/>
              <a:gd name="connsiteX73" fmla="*/ 2725751 w 2836707"/>
              <a:gd name="connsiteY73" fmla="*/ 1129361 h 2833294"/>
              <a:gd name="connsiteX74" fmla="*/ 2729191 w 2836707"/>
              <a:gd name="connsiteY74" fmla="*/ 1156025 h 2833294"/>
              <a:gd name="connsiteX75" fmla="*/ 2736071 w 2836707"/>
              <a:gd name="connsiteY75" fmla="*/ 1182689 h 2833294"/>
              <a:gd name="connsiteX76" fmla="*/ 2746393 w 2836707"/>
              <a:gd name="connsiteY76" fmla="*/ 1207634 h 2833294"/>
              <a:gd name="connsiteX77" fmla="*/ 2760156 w 2836707"/>
              <a:gd name="connsiteY77" fmla="*/ 1233438 h 2833294"/>
              <a:gd name="connsiteX78" fmla="*/ 2773917 w 2836707"/>
              <a:gd name="connsiteY78" fmla="*/ 1259242 h 2833294"/>
              <a:gd name="connsiteX79" fmla="*/ 2789400 w 2836707"/>
              <a:gd name="connsiteY79" fmla="*/ 1285046 h 2833294"/>
              <a:gd name="connsiteX80" fmla="*/ 2804021 w 2836707"/>
              <a:gd name="connsiteY80" fmla="*/ 1309991 h 2833294"/>
              <a:gd name="connsiteX81" fmla="*/ 2816924 w 2836707"/>
              <a:gd name="connsiteY81" fmla="*/ 1336654 h 2833294"/>
              <a:gd name="connsiteX82" fmla="*/ 2827245 w 2836707"/>
              <a:gd name="connsiteY82" fmla="*/ 1362459 h 2833294"/>
              <a:gd name="connsiteX83" fmla="*/ 2834126 w 2836707"/>
              <a:gd name="connsiteY83" fmla="*/ 1389123 h 2833294"/>
              <a:gd name="connsiteX84" fmla="*/ 2836707 w 2836707"/>
              <a:gd name="connsiteY84" fmla="*/ 1416647 h 2833294"/>
              <a:gd name="connsiteX85" fmla="*/ 2834126 w 2836707"/>
              <a:gd name="connsiteY85" fmla="*/ 1444171 h 2833294"/>
              <a:gd name="connsiteX86" fmla="*/ 2827245 w 2836707"/>
              <a:gd name="connsiteY86" fmla="*/ 1470836 h 2833294"/>
              <a:gd name="connsiteX87" fmla="*/ 2816924 w 2836707"/>
              <a:gd name="connsiteY87" fmla="*/ 1496640 h 2833294"/>
              <a:gd name="connsiteX88" fmla="*/ 2804021 w 2836707"/>
              <a:gd name="connsiteY88" fmla="*/ 1523304 h 2833294"/>
              <a:gd name="connsiteX89" fmla="*/ 2789400 w 2836707"/>
              <a:gd name="connsiteY89" fmla="*/ 1548248 h 2833294"/>
              <a:gd name="connsiteX90" fmla="*/ 2773917 w 2836707"/>
              <a:gd name="connsiteY90" fmla="*/ 1574053 h 2833294"/>
              <a:gd name="connsiteX91" fmla="*/ 2760156 w 2836707"/>
              <a:gd name="connsiteY91" fmla="*/ 1599857 h 2833294"/>
              <a:gd name="connsiteX92" fmla="*/ 2746393 w 2836707"/>
              <a:gd name="connsiteY92" fmla="*/ 1625660 h 2833294"/>
              <a:gd name="connsiteX93" fmla="*/ 2736071 w 2836707"/>
              <a:gd name="connsiteY93" fmla="*/ 1650605 h 2833294"/>
              <a:gd name="connsiteX94" fmla="*/ 2729191 w 2836707"/>
              <a:gd name="connsiteY94" fmla="*/ 1677269 h 2833294"/>
              <a:gd name="connsiteX95" fmla="*/ 2725751 w 2836707"/>
              <a:gd name="connsiteY95" fmla="*/ 1703933 h 2833294"/>
              <a:gd name="connsiteX96" fmla="*/ 2725751 w 2836707"/>
              <a:gd name="connsiteY96" fmla="*/ 1732318 h 2833294"/>
              <a:gd name="connsiteX97" fmla="*/ 2727470 w 2836707"/>
              <a:gd name="connsiteY97" fmla="*/ 1761563 h 2833294"/>
              <a:gd name="connsiteX98" fmla="*/ 2730911 w 2836707"/>
              <a:gd name="connsiteY98" fmla="*/ 1790807 h 2833294"/>
              <a:gd name="connsiteX99" fmla="*/ 2735211 w 2836707"/>
              <a:gd name="connsiteY99" fmla="*/ 1820052 h 2833294"/>
              <a:gd name="connsiteX100" fmla="*/ 2738652 w 2836707"/>
              <a:gd name="connsiteY100" fmla="*/ 1849297 h 2833294"/>
              <a:gd name="connsiteX101" fmla="*/ 2741233 w 2836707"/>
              <a:gd name="connsiteY101" fmla="*/ 1878541 h 2833294"/>
              <a:gd name="connsiteX102" fmla="*/ 2740372 w 2836707"/>
              <a:gd name="connsiteY102" fmla="*/ 1906066 h 2833294"/>
              <a:gd name="connsiteX103" fmla="*/ 2736932 w 2836707"/>
              <a:gd name="connsiteY103" fmla="*/ 1932731 h 2833294"/>
              <a:gd name="connsiteX104" fmla="*/ 2729191 w 2836707"/>
              <a:gd name="connsiteY104" fmla="*/ 1958534 h 2833294"/>
              <a:gd name="connsiteX105" fmla="*/ 2718009 w 2836707"/>
              <a:gd name="connsiteY105" fmla="*/ 1980037 h 2833294"/>
              <a:gd name="connsiteX106" fmla="*/ 2703387 w 2836707"/>
              <a:gd name="connsiteY106" fmla="*/ 2000681 h 2833294"/>
              <a:gd name="connsiteX107" fmla="*/ 2686183 w 2836707"/>
              <a:gd name="connsiteY107" fmla="*/ 2018744 h 2833294"/>
              <a:gd name="connsiteX108" fmla="*/ 2666401 w 2836707"/>
              <a:gd name="connsiteY108" fmla="*/ 2036806 h 2833294"/>
              <a:gd name="connsiteX109" fmla="*/ 2645758 w 2836707"/>
              <a:gd name="connsiteY109" fmla="*/ 2053150 h 2833294"/>
              <a:gd name="connsiteX110" fmla="*/ 2624255 w 2836707"/>
              <a:gd name="connsiteY110" fmla="*/ 2069492 h 2833294"/>
              <a:gd name="connsiteX111" fmla="*/ 2601892 w 2836707"/>
              <a:gd name="connsiteY111" fmla="*/ 2085835 h 2833294"/>
              <a:gd name="connsiteX112" fmla="*/ 2581248 w 2836707"/>
              <a:gd name="connsiteY112" fmla="*/ 2102177 h 2833294"/>
              <a:gd name="connsiteX113" fmla="*/ 2561465 w 2836707"/>
              <a:gd name="connsiteY113" fmla="*/ 2119379 h 2833294"/>
              <a:gd name="connsiteX114" fmla="*/ 2544263 w 2836707"/>
              <a:gd name="connsiteY114" fmla="*/ 2139163 h 2833294"/>
              <a:gd name="connsiteX115" fmla="*/ 2528781 w 2836707"/>
              <a:gd name="connsiteY115" fmla="*/ 2158086 h 2833294"/>
              <a:gd name="connsiteX116" fmla="*/ 2516738 w 2836707"/>
              <a:gd name="connsiteY116" fmla="*/ 2179589 h 2833294"/>
              <a:gd name="connsiteX117" fmla="*/ 2506417 w 2836707"/>
              <a:gd name="connsiteY117" fmla="*/ 2202813 h 2833294"/>
              <a:gd name="connsiteX118" fmla="*/ 2497816 w 2836707"/>
              <a:gd name="connsiteY118" fmla="*/ 2227757 h 2833294"/>
              <a:gd name="connsiteX119" fmla="*/ 2490075 w 2836707"/>
              <a:gd name="connsiteY119" fmla="*/ 2253562 h 2833294"/>
              <a:gd name="connsiteX120" fmla="*/ 2483194 w 2836707"/>
              <a:gd name="connsiteY120" fmla="*/ 2279366 h 2833294"/>
              <a:gd name="connsiteX121" fmla="*/ 2476312 w 2836707"/>
              <a:gd name="connsiteY121" fmla="*/ 2306030 h 2833294"/>
              <a:gd name="connsiteX122" fmla="*/ 2468571 w 2836707"/>
              <a:gd name="connsiteY122" fmla="*/ 2330974 h 2833294"/>
              <a:gd name="connsiteX123" fmla="*/ 2459970 w 2836707"/>
              <a:gd name="connsiteY123" fmla="*/ 2355917 h 2833294"/>
              <a:gd name="connsiteX124" fmla="*/ 2449649 w 2836707"/>
              <a:gd name="connsiteY124" fmla="*/ 2379141 h 2833294"/>
              <a:gd name="connsiteX125" fmla="*/ 2436746 w 2836707"/>
              <a:gd name="connsiteY125" fmla="*/ 2399785 h 2833294"/>
              <a:gd name="connsiteX126" fmla="*/ 2421265 w 2836707"/>
              <a:gd name="connsiteY126" fmla="*/ 2418708 h 2833294"/>
              <a:gd name="connsiteX127" fmla="*/ 2402342 w 2836707"/>
              <a:gd name="connsiteY127" fmla="*/ 2434190 h 2833294"/>
              <a:gd name="connsiteX128" fmla="*/ 2381698 w 2836707"/>
              <a:gd name="connsiteY128" fmla="*/ 2447092 h 2833294"/>
              <a:gd name="connsiteX129" fmla="*/ 2358474 w 2836707"/>
              <a:gd name="connsiteY129" fmla="*/ 2457414 h 2833294"/>
              <a:gd name="connsiteX130" fmla="*/ 2333531 w 2836707"/>
              <a:gd name="connsiteY130" fmla="*/ 2466015 h 2833294"/>
              <a:gd name="connsiteX131" fmla="*/ 2308587 w 2836707"/>
              <a:gd name="connsiteY131" fmla="*/ 2473756 h 2833294"/>
              <a:gd name="connsiteX132" fmla="*/ 2281923 w 2836707"/>
              <a:gd name="connsiteY132" fmla="*/ 2480638 h 2833294"/>
              <a:gd name="connsiteX133" fmla="*/ 2256119 w 2836707"/>
              <a:gd name="connsiteY133" fmla="*/ 2487519 h 2833294"/>
              <a:gd name="connsiteX134" fmla="*/ 2230316 w 2836707"/>
              <a:gd name="connsiteY134" fmla="*/ 2495260 h 2833294"/>
              <a:gd name="connsiteX135" fmla="*/ 2205372 w 2836707"/>
              <a:gd name="connsiteY135" fmla="*/ 2503862 h 2833294"/>
              <a:gd name="connsiteX136" fmla="*/ 2182149 w 2836707"/>
              <a:gd name="connsiteY136" fmla="*/ 2514184 h 2833294"/>
              <a:gd name="connsiteX137" fmla="*/ 2160646 w 2836707"/>
              <a:gd name="connsiteY137" fmla="*/ 2526225 h 2833294"/>
              <a:gd name="connsiteX138" fmla="*/ 2141723 w 2836707"/>
              <a:gd name="connsiteY138" fmla="*/ 2541707 h 2833294"/>
              <a:gd name="connsiteX139" fmla="*/ 2121940 w 2836707"/>
              <a:gd name="connsiteY139" fmla="*/ 2558911 h 2833294"/>
              <a:gd name="connsiteX140" fmla="*/ 2104736 w 2836707"/>
              <a:gd name="connsiteY140" fmla="*/ 2578694 h 2833294"/>
              <a:gd name="connsiteX141" fmla="*/ 2088394 w 2836707"/>
              <a:gd name="connsiteY141" fmla="*/ 2599337 h 2833294"/>
              <a:gd name="connsiteX142" fmla="*/ 2072052 w 2836707"/>
              <a:gd name="connsiteY142" fmla="*/ 2620840 h 2833294"/>
              <a:gd name="connsiteX143" fmla="*/ 2055710 w 2836707"/>
              <a:gd name="connsiteY143" fmla="*/ 2642344 h 2833294"/>
              <a:gd name="connsiteX144" fmla="*/ 2039367 w 2836707"/>
              <a:gd name="connsiteY144" fmla="*/ 2662987 h 2833294"/>
              <a:gd name="connsiteX145" fmla="*/ 2021304 w 2836707"/>
              <a:gd name="connsiteY145" fmla="*/ 2682770 h 2833294"/>
              <a:gd name="connsiteX146" fmla="*/ 2003241 w 2836707"/>
              <a:gd name="connsiteY146" fmla="*/ 2699973 h 2833294"/>
              <a:gd name="connsiteX147" fmla="*/ 1982599 w 2836707"/>
              <a:gd name="connsiteY147" fmla="*/ 2714595 h 2833294"/>
              <a:gd name="connsiteX148" fmla="*/ 1961095 w 2836707"/>
              <a:gd name="connsiteY148" fmla="*/ 2725777 h 2833294"/>
              <a:gd name="connsiteX149" fmla="*/ 1935291 w 2836707"/>
              <a:gd name="connsiteY149" fmla="*/ 2733518 h 2833294"/>
              <a:gd name="connsiteX150" fmla="*/ 1908627 w 2836707"/>
              <a:gd name="connsiteY150" fmla="*/ 2736959 h 2833294"/>
              <a:gd name="connsiteX151" fmla="*/ 1881104 w 2836707"/>
              <a:gd name="connsiteY151" fmla="*/ 2737819 h 2833294"/>
              <a:gd name="connsiteX152" fmla="*/ 1851859 w 2836707"/>
              <a:gd name="connsiteY152" fmla="*/ 2735238 h 2833294"/>
              <a:gd name="connsiteX153" fmla="*/ 1822615 w 2836707"/>
              <a:gd name="connsiteY153" fmla="*/ 2731799 h 2833294"/>
              <a:gd name="connsiteX154" fmla="*/ 1793370 w 2836707"/>
              <a:gd name="connsiteY154" fmla="*/ 2727497 h 2833294"/>
              <a:gd name="connsiteX155" fmla="*/ 1764126 w 2836707"/>
              <a:gd name="connsiteY155" fmla="*/ 2724057 h 2833294"/>
              <a:gd name="connsiteX156" fmla="*/ 1734881 w 2836707"/>
              <a:gd name="connsiteY156" fmla="*/ 2722336 h 2833294"/>
              <a:gd name="connsiteX157" fmla="*/ 1706497 w 2836707"/>
              <a:gd name="connsiteY157" fmla="*/ 2722336 h 2833294"/>
              <a:gd name="connsiteX158" fmla="*/ 1679833 w 2836707"/>
              <a:gd name="connsiteY158" fmla="*/ 2725777 h 2833294"/>
              <a:gd name="connsiteX159" fmla="*/ 1652309 w 2836707"/>
              <a:gd name="connsiteY159" fmla="*/ 2732658 h 2833294"/>
              <a:gd name="connsiteX160" fmla="*/ 1627365 w 2836707"/>
              <a:gd name="connsiteY160" fmla="*/ 2742980 h 2833294"/>
              <a:gd name="connsiteX161" fmla="*/ 1601561 w 2836707"/>
              <a:gd name="connsiteY161" fmla="*/ 2756742 h 2833294"/>
              <a:gd name="connsiteX162" fmla="*/ 1575758 w 2836707"/>
              <a:gd name="connsiteY162" fmla="*/ 2770505 h 2833294"/>
              <a:gd name="connsiteX163" fmla="*/ 1549954 w 2836707"/>
              <a:gd name="connsiteY163" fmla="*/ 2785987 h 2833294"/>
              <a:gd name="connsiteX164" fmla="*/ 1525009 w 2836707"/>
              <a:gd name="connsiteY164" fmla="*/ 2800609 h 2833294"/>
              <a:gd name="connsiteX165" fmla="*/ 1498346 w 2836707"/>
              <a:gd name="connsiteY165" fmla="*/ 2813511 h 2833294"/>
              <a:gd name="connsiteX166" fmla="*/ 1472542 w 2836707"/>
              <a:gd name="connsiteY166" fmla="*/ 2823833 h 2833294"/>
              <a:gd name="connsiteX167" fmla="*/ 1445877 w 2836707"/>
              <a:gd name="connsiteY167" fmla="*/ 2830714 h 2833294"/>
              <a:gd name="connsiteX168" fmla="*/ 1418354 w 2836707"/>
              <a:gd name="connsiteY168" fmla="*/ 2833294 h 2833294"/>
              <a:gd name="connsiteX169" fmla="*/ 1390830 w 2836707"/>
              <a:gd name="connsiteY169" fmla="*/ 2830714 h 2833294"/>
              <a:gd name="connsiteX170" fmla="*/ 1364166 w 2836707"/>
              <a:gd name="connsiteY170" fmla="*/ 2823833 h 2833294"/>
              <a:gd name="connsiteX171" fmla="*/ 1338362 w 2836707"/>
              <a:gd name="connsiteY171" fmla="*/ 2813511 h 2833294"/>
              <a:gd name="connsiteX172" fmla="*/ 1311698 w 2836707"/>
              <a:gd name="connsiteY172" fmla="*/ 2800609 h 2833294"/>
              <a:gd name="connsiteX173" fmla="*/ 1286754 w 2836707"/>
              <a:gd name="connsiteY173" fmla="*/ 2785987 h 2833294"/>
              <a:gd name="connsiteX174" fmla="*/ 1260950 w 2836707"/>
              <a:gd name="connsiteY174" fmla="*/ 2770505 h 2833294"/>
              <a:gd name="connsiteX175" fmla="*/ 1235146 w 2836707"/>
              <a:gd name="connsiteY175" fmla="*/ 2756742 h 2833294"/>
              <a:gd name="connsiteX176" fmla="*/ 1209343 w 2836707"/>
              <a:gd name="connsiteY176" fmla="*/ 2742980 h 2833294"/>
              <a:gd name="connsiteX177" fmla="*/ 1183539 w 2836707"/>
              <a:gd name="connsiteY177" fmla="*/ 2732658 h 2833294"/>
              <a:gd name="connsiteX178" fmla="*/ 1156875 w 2836707"/>
              <a:gd name="connsiteY178" fmla="*/ 2725777 h 2833294"/>
              <a:gd name="connsiteX179" fmla="*/ 1130211 w 2836707"/>
              <a:gd name="connsiteY179" fmla="*/ 2722336 h 2833294"/>
              <a:gd name="connsiteX180" fmla="*/ 1101826 w 2836707"/>
              <a:gd name="connsiteY180" fmla="*/ 2722336 h 2833294"/>
              <a:gd name="connsiteX181" fmla="*/ 1072582 w 2836707"/>
              <a:gd name="connsiteY181" fmla="*/ 2724057 h 2833294"/>
              <a:gd name="connsiteX182" fmla="*/ 1043338 w 2836707"/>
              <a:gd name="connsiteY182" fmla="*/ 2727497 h 2833294"/>
              <a:gd name="connsiteX183" fmla="*/ 1014093 w 2836707"/>
              <a:gd name="connsiteY183" fmla="*/ 2731799 h 2833294"/>
              <a:gd name="connsiteX184" fmla="*/ 984848 w 2836707"/>
              <a:gd name="connsiteY184" fmla="*/ 2735238 h 2833294"/>
              <a:gd name="connsiteX185" fmla="*/ 955604 w 2836707"/>
              <a:gd name="connsiteY185" fmla="*/ 2737819 h 2833294"/>
              <a:gd name="connsiteX186" fmla="*/ 928081 w 2836707"/>
              <a:gd name="connsiteY186" fmla="*/ 2736959 h 2833294"/>
              <a:gd name="connsiteX187" fmla="*/ 901416 w 2836707"/>
              <a:gd name="connsiteY187" fmla="*/ 2733518 h 2833294"/>
              <a:gd name="connsiteX188" fmla="*/ 875612 w 2836707"/>
              <a:gd name="connsiteY188" fmla="*/ 2725777 h 2833294"/>
              <a:gd name="connsiteX189" fmla="*/ 854109 w 2836707"/>
              <a:gd name="connsiteY189" fmla="*/ 2714595 h 2833294"/>
              <a:gd name="connsiteX190" fmla="*/ 833465 w 2836707"/>
              <a:gd name="connsiteY190" fmla="*/ 2699973 h 2833294"/>
              <a:gd name="connsiteX191" fmla="*/ 815403 w 2836707"/>
              <a:gd name="connsiteY191" fmla="*/ 2682770 h 2833294"/>
              <a:gd name="connsiteX192" fmla="*/ 797340 w 2836707"/>
              <a:gd name="connsiteY192" fmla="*/ 2662987 h 2833294"/>
              <a:gd name="connsiteX193" fmla="*/ 780998 w 2836707"/>
              <a:gd name="connsiteY193" fmla="*/ 2642344 h 2833294"/>
              <a:gd name="connsiteX194" fmla="*/ 764655 w 2836707"/>
              <a:gd name="connsiteY194" fmla="*/ 2620840 h 2833294"/>
              <a:gd name="connsiteX195" fmla="*/ 748313 w 2836707"/>
              <a:gd name="connsiteY195" fmla="*/ 2599337 h 2833294"/>
              <a:gd name="connsiteX196" fmla="*/ 731971 w 2836707"/>
              <a:gd name="connsiteY196" fmla="*/ 2578694 h 2833294"/>
              <a:gd name="connsiteX197" fmla="*/ 714768 w 2836707"/>
              <a:gd name="connsiteY197" fmla="*/ 2558911 h 2833294"/>
              <a:gd name="connsiteX198" fmla="*/ 694985 w 2836707"/>
              <a:gd name="connsiteY198" fmla="*/ 2541707 h 2833294"/>
              <a:gd name="connsiteX199" fmla="*/ 676062 w 2836707"/>
              <a:gd name="connsiteY199" fmla="*/ 2526225 h 2833294"/>
              <a:gd name="connsiteX200" fmla="*/ 654559 w 2836707"/>
              <a:gd name="connsiteY200" fmla="*/ 2514184 h 2833294"/>
              <a:gd name="connsiteX201" fmla="*/ 631335 w 2836707"/>
              <a:gd name="connsiteY201" fmla="*/ 2503862 h 2833294"/>
              <a:gd name="connsiteX202" fmla="*/ 606392 w 2836707"/>
              <a:gd name="connsiteY202" fmla="*/ 2495260 h 2833294"/>
              <a:gd name="connsiteX203" fmla="*/ 580587 w 2836707"/>
              <a:gd name="connsiteY203" fmla="*/ 2487519 h 2833294"/>
              <a:gd name="connsiteX204" fmla="*/ 554784 w 2836707"/>
              <a:gd name="connsiteY204" fmla="*/ 2480638 h 2833294"/>
              <a:gd name="connsiteX205" fmla="*/ 528120 w 2836707"/>
              <a:gd name="connsiteY205" fmla="*/ 2473756 h 2833294"/>
              <a:gd name="connsiteX206" fmla="*/ 503176 w 2836707"/>
              <a:gd name="connsiteY206" fmla="*/ 2466015 h 2833294"/>
              <a:gd name="connsiteX207" fmla="*/ 478232 w 2836707"/>
              <a:gd name="connsiteY207" fmla="*/ 2457414 h 2833294"/>
              <a:gd name="connsiteX208" fmla="*/ 455009 w 2836707"/>
              <a:gd name="connsiteY208" fmla="*/ 2447092 h 2833294"/>
              <a:gd name="connsiteX209" fmla="*/ 434366 w 2836707"/>
              <a:gd name="connsiteY209" fmla="*/ 2434190 h 2833294"/>
              <a:gd name="connsiteX210" fmla="*/ 415442 w 2836707"/>
              <a:gd name="connsiteY210" fmla="*/ 2418708 h 2833294"/>
              <a:gd name="connsiteX211" fmla="*/ 399961 w 2836707"/>
              <a:gd name="connsiteY211" fmla="*/ 2399785 h 2833294"/>
              <a:gd name="connsiteX212" fmla="*/ 387059 w 2836707"/>
              <a:gd name="connsiteY212" fmla="*/ 2379141 h 2833294"/>
              <a:gd name="connsiteX213" fmla="*/ 376737 w 2836707"/>
              <a:gd name="connsiteY213" fmla="*/ 2355917 h 2833294"/>
              <a:gd name="connsiteX214" fmla="*/ 368136 w 2836707"/>
              <a:gd name="connsiteY214" fmla="*/ 2330974 h 2833294"/>
              <a:gd name="connsiteX215" fmla="*/ 360395 w 2836707"/>
              <a:gd name="connsiteY215" fmla="*/ 2306030 h 2833294"/>
              <a:gd name="connsiteX216" fmla="*/ 353514 w 2836707"/>
              <a:gd name="connsiteY216" fmla="*/ 2279366 h 2833294"/>
              <a:gd name="connsiteX217" fmla="*/ 346633 w 2836707"/>
              <a:gd name="connsiteY217" fmla="*/ 2253562 h 2833294"/>
              <a:gd name="connsiteX218" fmla="*/ 338891 w 2836707"/>
              <a:gd name="connsiteY218" fmla="*/ 2227757 h 2833294"/>
              <a:gd name="connsiteX219" fmla="*/ 330290 w 2836707"/>
              <a:gd name="connsiteY219" fmla="*/ 2202813 h 2833294"/>
              <a:gd name="connsiteX220" fmla="*/ 319968 w 2836707"/>
              <a:gd name="connsiteY220" fmla="*/ 2179589 h 2833294"/>
              <a:gd name="connsiteX221" fmla="*/ 307927 w 2836707"/>
              <a:gd name="connsiteY221" fmla="*/ 2158086 h 2833294"/>
              <a:gd name="connsiteX222" fmla="*/ 292445 w 2836707"/>
              <a:gd name="connsiteY222" fmla="*/ 2139163 h 2833294"/>
              <a:gd name="connsiteX223" fmla="*/ 275242 w 2836707"/>
              <a:gd name="connsiteY223" fmla="*/ 2119379 h 2833294"/>
              <a:gd name="connsiteX224" fmla="*/ 255459 w 2836707"/>
              <a:gd name="connsiteY224" fmla="*/ 2102177 h 2833294"/>
              <a:gd name="connsiteX225" fmla="*/ 233955 w 2836707"/>
              <a:gd name="connsiteY225" fmla="*/ 2085835 h 2833294"/>
              <a:gd name="connsiteX226" fmla="*/ 212452 w 2836707"/>
              <a:gd name="connsiteY226" fmla="*/ 2069492 h 2833294"/>
              <a:gd name="connsiteX227" fmla="*/ 190950 w 2836707"/>
              <a:gd name="connsiteY227" fmla="*/ 2053150 h 2833294"/>
              <a:gd name="connsiteX228" fmla="*/ 170306 w 2836707"/>
              <a:gd name="connsiteY228" fmla="*/ 2036806 h 2833294"/>
              <a:gd name="connsiteX229" fmla="*/ 150523 w 2836707"/>
              <a:gd name="connsiteY229" fmla="*/ 2018744 h 2833294"/>
              <a:gd name="connsiteX230" fmla="*/ 133321 w 2836707"/>
              <a:gd name="connsiteY230" fmla="*/ 2000681 h 2833294"/>
              <a:gd name="connsiteX231" fmla="*/ 118699 w 2836707"/>
              <a:gd name="connsiteY231" fmla="*/ 1980037 h 2833294"/>
              <a:gd name="connsiteX232" fmla="*/ 107517 w 2836707"/>
              <a:gd name="connsiteY232" fmla="*/ 1958534 h 2833294"/>
              <a:gd name="connsiteX233" fmla="*/ 99776 w 2836707"/>
              <a:gd name="connsiteY233" fmla="*/ 1932731 h 2833294"/>
              <a:gd name="connsiteX234" fmla="*/ 96335 w 2836707"/>
              <a:gd name="connsiteY234" fmla="*/ 1906066 h 2833294"/>
              <a:gd name="connsiteX235" fmla="*/ 95474 w 2836707"/>
              <a:gd name="connsiteY235" fmla="*/ 1878541 h 2833294"/>
              <a:gd name="connsiteX236" fmla="*/ 98055 w 2836707"/>
              <a:gd name="connsiteY236" fmla="*/ 1849297 h 2833294"/>
              <a:gd name="connsiteX237" fmla="*/ 101496 w 2836707"/>
              <a:gd name="connsiteY237" fmla="*/ 1820052 h 2833294"/>
              <a:gd name="connsiteX238" fmla="*/ 105796 w 2836707"/>
              <a:gd name="connsiteY238" fmla="*/ 1790807 h 2833294"/>
              <a:gd name="connsiteX239" fmla="*/ 109237 w 2836707"/>
              <a:gd name="connsiteY239" fmla="*/ 1761563 h 2833294"/>
              <a:gd name="connsiteX240" fmla="*/ 110958 w 2836707"/>
              <a:gd name="connsiteY240" fmla="*/ 1732318 h 2833294"/>
              <a:gd name="connsiteX241" fmla="*/ 110958 w 2836707"/>
              <a:gd name="connsiteY241" fmla="*/ 1703933 h 2833294"/>
              <a:gd name="connsiteX242" fmla="*/ 107517 w 2836707"/>
              <a:gd name="connsiteY242" fmla="*/ 1677269 h 2833294"/>
              <a:gd name="connsiteX243" fmla="*/ 100636 w 2836707"/>
              <a:gd name="connsiteY243" fmla="*/ 1650605 h 2833294"/>
              <a:gd name="connsiteX244" fmla="*/ 90314 w 2836707"/>
              <a:gd name="connsiteY244" fmla="*/ 1625660 h 2833294"/>
              <a:gd name="connsiteX245" fmla="*/ 77412 w 2836707"/>
              <a:gd name="connsiteY245" fmla="*/ 1599857 h 2833294"/>
              <a:gd name="connsiteX246" fmla="*/ 62790 w 2836707"/>
              <a:gd name="connsiteY246" fmla="*/ 1574053 h 2833294"/>
              <a:gd name="connsiteX247" fmla="*/ 47308 w 2836707"/>
              <a:gd name="connsiteY247" fmla="*/ 1548248 h 2833294"/>
              <a:gd name="connsiteX248" fmla="*/ 32686 w 2836707"/>
              <a:gd name="connsiteY248" fmla="*/ 1523304 h 2833294"/>
              <a:gd name="connsiteX249" fmla="*/ 19783 w 2836707"/>
              <a:gd name="connsiteY249" fmla="*/ 1496640 h 2833294"/>
              <a:gd name="connsiteX250" fmla="*/ 9462 w 2836707"/>
              <a:gd name="connsiteY250" fmla="*/ 1470836 h 2833294"/>
              <a:gd name="connsiteX251" fmla="*/ 2581 w 2836707"/>
              <a:gd name="connsiteY251" fmla="*/ 1444171 h 2833294"/>
              <a:gd name="connsiteX252" fmla="*/ 0 w 2836707"/>
              <a:gd name="connsiteY252" fmla="*/ 1416647 h 2833294"/>
              <a:gd name="connsiteX253" fmla="*/ 2581 w 2836707"/>
              <a:gd name="connsiteY253" fmla="*/ 1389123 h 2833294"/>
              <a:gd name="connsiteX254" fmla="*/ 9462 w 2836707"/>
              <a:gd name="connsiteY254" fmla="*/ 1362459 h 2833294"/>
              <a:gd name="connsiteX255" fmla="*/ 19783 w 2836707"/>
              <a:gd name="connsiteY255" fmla="*/ 1336654 h 2833294"/>
              <a:gd name="connsiteX256" fmla="*/ 32686 w 2836707"/>
              <a:gd name="connsiteY256" fmla="*/ 1309991 h 2833294"/>
              <a:gd name="connsiteX257" fmla="*/ 47308 w 2836707"/>
              <a:gd name="connsiteY257" fmla="*/ 1285046 h 2833294"/>
              <a:gd name="connsiteX258" fmla="*/ 62790 w 2836707"/>
              <a:gd name="connsiteY258" fmla="*/ 1259242 h 2833294"/>
              <a:gd name="connsiteX259" fmla="*/ 77412 w 2836707"/>
              <a:gd name="connsiteY259" fmla="*/ 1233438 h 2833294"/>
              <a:gd name="connsiteX260" fmla="*/ 90314 w 2836707"/>
              <a:gd name="connsiteY260" fmla="*/ 1207634 h 2833294"/>
              <a:gd name="connsiteX261" fmla="*/ 100636 w 2836707"/>
              <a:gd name="connsiteY261" fmla="*/ 1182689 h 2833294"/>
              <a:gd name="connsiteX262" fmla="*/ 107517 w 2836707"/>
              <a:gd name="connsiteY262" fmla="*/ 1156025 h 2833294"/>
              <a:gd name="connsiteX263" fmla="*/ 110958 w 2836707"/>
              <a:gd name="connsiteY263" fmla="*/ 1129361 h 2833294"/>
              <a:gd name="connsiteX264" fmla="*/ 110958 w 2836707"/>
              <a:gd name="connsiteY264" fmla="*/ 1100977 h 2833294"/>
              <a:gd name="connsiteX265" fmla="*/ 109237 w 2836707"/>
              <a:gd name="connsiteY265" fmla="*/ 1071732 h 2833294"/>
              <a:gd name="connsiteX266" fmla="*/ 105796 w 2836707"/>
              <a:gd name="connsiteY266" fmla="*/ 1042487 h 2833294"/>
              <a:gd name="connsiteX267" fmla="*/ 101496 w 2836707"/>
              <a:gd name="connsiteY267" fmla="*/ 1013242 h 2833294"/>
              <a:gd name="connsiteX268" fmla="*/ 98055 w 2836707"/>
              <a:gd name="connsiteY268" fmla="*/ 983998 h 2833294"/>
              <a:gd name="connsiteX269" fmla="*/ 95474 w 2836707"/>
              <a:gd name="connsiteY269" fmla="*/ 954754 h 2833294"/>
              <a:gd name="connsiteX270" fmla="*/ 96335 w 2836707"/>
              <a:gd name="connsiteY270" fmla="*/ 927229 h 2833294"/>
              <a:gd name="connsiteX271" fmla="*/ 99776 w 2836707"/>
              <a:gd name="connsiteY271" fmla="*/ 900565 h 2833294"/>
              <a:gd name="connsiteX272" fmla="*/ 107517 w 2836707"/>
              <a:gd name="connsiteY272" fmla="*/ 874760 h 2833294"/>
              <a:gd name="connsiteX273" fmla="*/ 118699 w 2836707"/>
              <a:gd name="connsiteY273" fmla="*/ 853257 h 2833294"/>
              <a:gd name="connsiteX274" fmla="*/ 133321 w 2836707"/>
              <a:gd name="connsiteY274" fmla="*/ 832614 h 2833294"/>
              <a:gd name="connsiteX275" fmla="*/ 150523 w 2836707"/>
              <a:gd name="connsiteY275" fmla="*/ 814551 h 2833294"/>
              <a:gd name="connsiteX276" fmla="*/ 170306 w 2836707"/>
              <a:gd name="connsiteY276" fmla="*/ 796488 h 2833294"/>
              <a:gd name="connsiteX277" fmla="*/ 190950 w 2836707"/>
              <a:gd name="connsiteY277" fmla="*/ 780145 h 2833294"/>
              <a:gd name="connsiteX278" fmla="*/ 212452 w 2836707"/>
              <a:gd name="connsiteY278" fmla="*/ 763802 h 2833294"/>
              <a:gd name="connsiteX279" fmla="*/ 233955 w 2836707"/>
              <a:gd name="connsiteY279" fmla="*/ 747460 h 2833294"/>
              <a:gd name="connsiteX280" fmla="*/ 255459 w 2836707"/>
              <a:gd name="connsiteY280" fmla="*/ 731117 h 2833294"/>
              <a:gd name="connsiteX281" fmla="*/ 275242 w 2836707"/>
              <a:gd name="connsiteY281" fmla="*/ 713915 h 2833294"/>
              <a:gd name="connsiteX282" fmla="*/ 292445 w 2836707"/>
              <a:gd name="connsiteY282" fmla="*/ 694132 h 2833294"/>
              <a:gd name="connsiteX283" fmla="*/ 307927 w 2836707"/>
              <a:gd name="connsiteY283" fmla="*/ 675208 h 2833294"/>
              <a:gd name="connsiteX284" fmla="*/ 319968 w 2836707"/>
              <a:gd name="connsiteY284" fmla="*/ 653705 h 2833294"/>
              <a:gd name="connsiteX285" fmla="*/ 330290 w 2836707"/>
              <a:gd name="connsiteY285" fmla="*/ 630482 h 2833294"/>
              <a:gd name="connsiteX286" fmla="*/ 338891 w 2836707"/>
              <a:gd name="connsiteY286" fmla="*/ 605537 h 2833294"/>
              <a:gd name="connsiteX287" fmla="*/ 346633 w 2836707"/>
              <a:gd name="connsiteY287" fmla="*/ 579732 h 2833294"/>
              <a:gd name="connsiteX288" fmla="*/ 353514 w 2836707"/>
              <a:gd name="connsiteY288" fmla="*/ 553929 h 2833294"/>
              <a:gd name="connsiteX289" fmla="*/ 360395 w 2836707"/>
              <a:gd name="connsiteY289" fmla="*/ 527264 h 2833294"/>
              <a:gd name="connsiteX290" fmla="*/ 368136 w 2836707"/>
              <a:gd name="connsiteY290" fmla="*/ 502321 h 2833294"/>
              <a:gd name="connsiteX291" fmla="*/ 376737 w 2836707"/>
              <a:gd name="connsiteY291" fmla="*/ 477376 h 2833294"/>
              <a:gd name="connsiteX292" fmla="*/ 387059 w 2836707"/>
              <a:gd name="connsiteY292" fmla="*/ 454153 h 2833294"/>
              <a:gd name="connsiteX293" fmla="*/ 399961 w 2836707"/>
              <a:gd name="connsiteY293" fmla="*/ 433510 h 2833294"/>
              <a:gd name="connsiteX294" fmla="*/ 415442 w 2836707"/>
              <a:gd name="connsiteY294" fmla="*/ 414587 h 2833294"/>
              <a:gd name="connsiteX295" fmla="*/ 434366 w 2836707"/>
              <a:gd name="connsiteY295" fmla="*/ 399104 h 2833294"/>
              <a:gd name="connsiteX296" fmla="*/ 455009 w 2836707"/>
              <a:gd name="connsiteY296" fmla="*/ 386202 h 2833294"/>
              <a:gd name="connsiteX297" fmla="*/ 478232 w 2836707"/>
              <a:gd name="connsiteY297" fmla="*/ 375880 h 2833294"/>
              <a:gd name="connsiteX298" fmla="*/ 503176 w 2836707"/>
              <a:gd name="connsiteY298" fmla="*/ 367279 h 2833294"/>
              <a:gd name="connsiteX299" fmla="*/ 528120 w 2836707"/>
              <a:gd name="connsiteY299" fmla="*/ 359538 h 2833294"/>
              <a:gd name="connsiteX300" fmla="*/ 554784 w 2836707"/>
              <a:gd name="connsiteY300" fmla="*/ 352656 h 2833294"/>
              <a:gd name="connsiteX301" fmla="*/ 580587 w 2836707"/>
              <a:gd name="connsiteY301" fmla="*/ 345775 h 2833294"/>
              <a:gd name="connsiteX302" fmla="*/ 606392 w 2836707"/>
              <a:gd name="connsiteY302" fmla="*/ 338034 h 2833294"/>
              <a:gd name="connsiteX303" fmla="*/ 631335 w 2836707"/>
              <a:gd name="connsiteY303" fmla="*/ 329433 h 2833294"/>
              <a:gd name="connsiteX304" fmla="*/ 654559 w 2836707"/>
              <a:gd name="connsiteY304" fmla="*/ 319111 h 2833294"/>
              <a:gd name="connsiteX305" fmla="*/ 676062 w 2836707"/>
              <a:gd name="connsiteY305" fmla="*/ 307070 h 2833294"/>
              <a:gd name="connsiteX306" fmla="*/ 694985 w 2836707"/>
              <a:gd name="connsiteY306" fmla="*/ 291587 h 2833294"/>
              <a:gd name="connsiteX307" fmla="*/ 714768 w 2836707"/>
              <a:gd name="connsiteY307" fmla="*/ 274384 h 2833294"/>
              <a:gd name="connsiteX308" fmla="*/ 731971 w 2836707"/>
              <a:gd name="connsiteY308" fmla="*/ 254601 h 2833294"/>
              <a:gd name="connsiteX309" fmla="*/ 748313 w 2836707"/>
              <a:gd name="connsiteY309" fmla="*/ 233957 h 2833294"/>
              <a:gd name="connsiteX310" fmla="*/ 764655 w 2836707"/>
              <a:gd name="connsiteY310" fmla="*/ 212454 h 2833294"/>
              <a:gd name="connsiteX311" fmla="*/ 780998 w 2836707"/>
              <a:gd name="connsiteY311" fmla="*/ 190950 h 2833294"/>
              <a:gd name="connsiteX312" fmla="*/ 797340 w 2836707"/>
              <a:gd name="connsiteY312" fmla="*/ 170307 h 2833294"/>
              <a:gd name="connsiteX313" fmla="*/ 815403 w 2836707"/>
              <a:gd name="connsiteY313" fmla="*/ 150524 h 2833294"/>
              <a:gd name="connsiteX314" fmla="*/ 833465 w 2836707"/>
              <a:gd name="connsiteY314" fmla="*/ 133322 h 2833294"/>
              <a:gd name="connsiteX315" fmla="*/ 854109 w 2836707"/>
              <a:gd name="connsiteY315" fmla="*/ 118699 h 2833294"/>
              <a:gd name="connsiteX316" fmla="*/ 875612 w 2836707"/>
              <a:gd name="connsiteY316" fmla="*/ 107517 h 2833294"/>
              <a:gd name="connsiteX317" fmla="*/ 901416 w 2836707"/>
              <a:gd name="connsiteY317" fmla="*/ 99776 h 2833294"/>
              <a:gd name="connsiteX318" fmla="*/ 928081 w 2836707"/>
              <a:gd name="connsiteY318" fmla="*/ 96335 h 2833294"/>
              <a:gd name="connsiteX319" fmla="*/ 955604 w 2836707"/>
              <a:gd name="connsiteY319" fmla="*/ 95475 h 2833294"/>
              <a:gd name="connsiteX320" fmla="*/ 984848 w 2836707"/>
              <a:gd name="connsiteY320" fmla="*/ 98056 h 2833294"/>
              <a:gd name="connsiteX321" fmla="*/ 1014093 w 2836707"/>
              <a:gd name="connsiteY321" fmla="*/ 101497 h 2833294"/>
              <a:gd name="connsiteX322" fmla="*/ 1043338 w 2836707"/>
              <a:gd name="connsiteY322" fmla="*/ 105797 h 2833294"/>
              <a:gd name="connsiteX323" fmla="*/ 1072582 w 2836707"/>
              <a:gd name="connsiteY323" fmla="*/ 109238 h 2833294"/>
              <a:gd name="connsiteX324" fmla="*/ 1101826 w 2836707"/>
              <a:gd name="connsiteY324" fmla="*/ 110958 h 2833294"/>
              <a:gd name="connsiteX325" fmla="*/ 1130211 w 2836707"/>
              <a:gd name="connsiteY325" fmla="*/ 110958 h 2833294"/>
              <a:gd name="connsiteX326" fmla="*/ 1156875 w 2836707"/>
              <a:gd name="connsiteY326" fmla="*/ 107517 h 2833294"/>
              <a:gd name="connsiteX327" fmla="*/ 1183539 w 2836707"/>
              <a:gd name="connsiteY327" fmla="*/ 100636 h 2833294"/>
              <a:gd name="connsiteX328" fmla="*/ 1209343 w 2836707"/>
              <a:gd name="connsiteY328" fmla="*/ 90315 h 2833294"/>
              <a:gd name="connsiteX329" fmla="*/ 1235146 w 2836707"/>
              <a:gd name="connsiteY329" fmla="*/ 76552 h 2833294"/>
              <a:gd name="connsiteX330" fmla="*/ 1260950 w 2836707"/>
              <a:gd name="connsiteY330" fmla="*/ 62790 h 2833294"/>
              <a:gd name="connsiteX331" fmla="*/ 1286754 w 2836707"/>
              <a:gd name="connsiteY331" fmla="*/ 47308 h 2833294"/>
              <a:gd name="connsiteX332" fmla="*/ 1311698 w 2836707"/>
              <a:gd name="connsiteY332" fmla="*/ 32685 h 2833294"/>
              <a:gd name="connsiteX333" fmla="*/ 1338362 w 2836707"/>
              <a:gd name="connsiteY333" fmla="*/ 19783 h 2833294"/>
              <a:gd name="connsiteX334" fmla="*/ 1364166 w 2836707"/>
              <a:gd name="connsiteY334" fmla="*/ 9461 h 2833294"/>
              <a:gd name="connsiteX335" fmla="*/ 1390830 w 2836707"/>
              <a:gd name="connsiteY335" fmla="*/ 2580 h 283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2836707" h="2833294">
                <a:moveTo>
                  <a:pt x="1418354" y="0"/>
                </a:moveTo>
                <a:lnTo>
                  <a:pt x="1445877" y="2580"/>
                </a:lnTo>
                <a:lnTo>
                  <a:pt x="1472542" y="9461"/>
                </a:lnTo>
                <a:lnTo>
                  <a:pt x="1498346" y="19783"/>
                </a:lnTo>
                <a:lnTo>
                  <a:pt x="1525009" y="32685"/>
                </a:lnTo>
                <a:lnTo>
                  <a:pt x="1549954" y="47308"/>
                </a:lnTo>
                <a:lnTo>
                  <a:pt x="1575758" y="62790"/>
                </a:lnTo>
                <a:lnTo>
                  <a:pt x="1601561" y="76552"/>
                </a:lnTo>
                <a:lnTo>
                  <a:pt x="1627365" y="90315"/>
                </a:lnTo>
                <a:lnTo>
                  <a:pt x="1652309" y="100636"/>
                </a:lnTo>
                <a:lnTo>
                  <a:pt x="1679833" y="107517"/>
                </a:lnTo>
                <a:lnTo>
                  <a:pt x="1706497" y="110958"/>
                </a:lnTo>
                <a:lnTo>
                  <a:pt x="1734881" y="110958"/>
                </a:lnTo>
                <a:lnTo>
                  <a:pt x="1764126" y="109238"/>
                </a:lnTo>
                <a:lnTo>
                  <a:pt x="1793370" y="105797"/>
                </a:lnTo>
                <a:lnTo>
                  <a:pt x="1822615" y="101497"/>
                </a:lnTo>
                <a:lnTo>
                  <a:pt x="1851859" y="98056"/>
                </a:lnTo>
                <a:lnTo>
                  <a:pt x="1881104" y="95475"/>
                </a:lnTo>
                <a:lnTo>
                  <a:pt x="1908627" y="96335"/>
                </a:lnTo>
                <a:lnTo>
                  <a:pt x="1935291" y="99776"/>
                </a:lnTo>
                <a:lnTo>
                  <a:pt x="1961095" y="107517"/>
                </a:lnTo>
                <a:lnTo>
                  <a:pt x="1982599" y="118699"/>
                </a:lnTo>
                <a:lnTo>
                  <a:pt x="2003241" y="133322"/>
                </a:lnTo>
                <a:lnTo>
                  <a:pt x="2021304" y="150524"/>
                </a:lnTo>
                <a:lnTo>
                  <a:pt x="2039367" y="170307"/>
                </a:lnTo>
                <a:lnTo>
                  <a:pt x="2055710" y="190950"/>
                </a:lnTo>
                <a:lnTo>
                  <a:pt x="2072052" y="212454"/>
                </a:lnTo>
                <a:lnTo>
                  <a:pt x="2088394" y="233957"/>
                </a:lnTo>
                <a:lnTo>
                  <a:pt x="2104736" y="254601"/>
                </a:lnTo>
                <a:lnTo>
                  <a:pt x="2121940" y="274384"/>
                </a:lnTo>
                <a:lnTo>
                  <a:pt x="2141723" y="291587"/>
                </a:lnTo>
                <a:lnTo>
                  <a:pt x="2160646" y="307070"/>
                </a:lnTo>
                <a:lnTo>
                  <a:pt x="2182149" y="319111"/>
                </a:lnTo>
                <a:lnTo>
                  <a:pt x="2205372" y="329433"/>
                </a:lnTo>
                <a:lnTo>
                  <a:pt x="2230316" y="338034"/>
                </a:lnTo>
                <a:lnTo>
                  <a:pt x="2256119" y="345775"/>
                </a:lnTo>
                <a:lnTo>
                  <a:pt x="2281923" y="352656"/>
                </a:lnTo>
                <a:lnTo>
                  <a:pt x="2308587" y="359538"/>
                </a:lnTo>
                <a:lnTo>
                  <a:pt x="2333531" y="367279"/>
                </a:lnTo>
                <a:lnTo>
                  <a:pt x="2358474" y="375880"/>
                </a:lnTo>
                <a:lnTo>
                  <a:pt x="2381698" y="386202"/>
                </a:lnTo>
                <a:lnTo>
                  <a:pt x="2402342" y="399104"/>
                </a:lnTo>
                <a:lnTo>
                  <a:pt x="2421265" y="414587"/>
                </a:lnTo>
                <a:lnTo>
                  <a:pt x="2436746" y="433510"/>
                </a:lnTo>
                <a:lnTo>
                  <a:pt x="2449649" y="454153"/>
                </a:lnTo>
                <a:lnTo>
                  <a:pt x="2459970" y="477376"/>
                </a:lnTo>
                <a:lnTo>
                  <a:pt x="2468571" y="502321"/>
                </a:lnTo>
                <a:lnTo>
                  <a:pt x="2476312" y="527264"/>
                </a:lnTo>
                <a:lnTo>
                  <a:pt x="2483194" y="553929"/>
                </a:lnTo>
                <a:lnTo>
                  <a:pt x="2490075" y="579732"/>
                </a:lnTo>
                <a:lnTo>
                  <a:pt x="2497816" y="605537"/>
                </a:lnTo>
                <a:lnTo>
                  <a:pt x="2506417" y="630482"/>
                </a:lnTo>
                <a:lnTo>
                  <a:pt x="2516738" y="653705"/>
                </a:lnTo>
                <a:lnTo>
                  <a:pt x="2528781" y="675208"/>
                </a:lnTo>
                <a:lnTo>
                  <a:pt x="2544263" y="694132"/>
                </a:lnTo>
                <a:lnTo>
                  <a:pt x="2561465" y="713915"/>
                </a:lnTo>
                <a:lnTo>
                  <a:pt x="2581248" y="731117"/>
                </a:lnTo>
                <a:lnTo>
                  <a:pt x="2601892" y="747460"/>
                </a:lnTo>
                <a:lnTo>
                  <a:pt x="2624255" y="763802"/>
                </a:lnTo>
                <a:lnTo>
                  <a:pt x="2645758" y="780145"/>
                </a:lnTo>
                <a:lnTo>
                  <a:pt x="2666401" y="796488"/>
                </a:lnTo>
                <a:lnTo>
                  <a:pt x="2686183" y="814551"/>
                </a:lnTo>
                <a:lnTo>
                  <a:pt x="2703387" y="832614"/>
                </a:lnTo>
                <a:lnTo>
                  <a:pt x="2718009" y="853257"/>
                </a:lnTo>
                <a:lnTo>
                  <a:pt x="2729191" y="874760"/>
                </a:lnTo>
                <a:lnTo>
                  <a:pt x="2736932" y="900565"/>
                </a:lnTo>
                <a:lnTo>
                  <a:pt x="2740372" y="927229"/>
                </a:lnTo>
                <a:lnTo>
                  <a:pt x="2741233" y="954754"/>
                </a:lnTo>
                <a:lnTo>
                  <a:pt x="2738652" y="983998"/>
                </a:lnTo>
                <a:lnTo>
                  <a:pt x="2735211" y="1013242"/>
                </a:lnTo>
                <a:lnTo>
                  <a:pt x="2730911" y="1042487"/>
                </a:lnTo>
                <a:lnTo>
                  <a:pt x="2727470" y="1071732"/>
                </a:lnTo>
                <a:lnTo>
                  <a:pt x="2725751" y="1100977"/>
                </a:lnTo>
                <a:lnTo>
                  <a:pt x="2725751" y="1129361"/>
                </a:lnTo>
                <a:lnTo>
                  <a:pt x="2729191" y="1156025"/>
                </a:lnTo>
                <a:lnTo>
                  <a:pt x="2736071" y="1182689"/>
                </a:lnTo>
                <a:lnTo>
                  <a:pt x="2746393" y="1207634"/>
                </a:lnTo>
                <a:lnTo>
                  <a:pt x="2760156" y="1233438"/>
                </a:lnTo>
                <a:lnTo>
                  <a:pt x="2773917" y="1259242"/>
                </a:lnTo>
                <a:lnTo>
                  <a:pt x="2789400" y="1285046"/>
                </a:lnTo>
                <a:lnTo>
                  <a:pt x="2804021" y="1309991"/>
                </a:lnTo>
                <a:lnTo>
                  <a:pt x="2816924" y="1336654"/>
                </a:lnTo>
                <a:lnTo>
                  <a:pt x="2827245" y="1362459"/>
                </a:lnTo>
                <a:lnTo>
                  <a:pt x="2834126" y="1389123"/>
                </a:lnTo>
                <a:lnTo>
                  <a:pt x="2836707" y="1416647"/>
                </a:lnTo>
                <a:lnTo>
                  <a:pt x="2834126" y="1444171"/>
                </a:lnTo>
                <a:lnTo>
                  <a:pt x="2827245" y="1470836"/>
                </a:lnTo>
                <a:lnTo>
                  <a:pt x="2816924" y="1496640"/>
                </a:lnTo>
                <a:lnTo>
                  <a:pt x="2804021" y="1523304"/>
                </a:lnTo>
                <a:lnTo>
                  <a:pt x="2789400" y="1548248"/>
                </a:lnTo>
                <a:lnTo>
                  <a:pt x="2773917" y="1574053"/>
                </a:lnTo>
                <a:lnTo>
                  <a:pt x="2760156" y="1599857"/>
                </a:lnTo>
                <a:lnTo>
                  <a:pt x="2746393" y="1625660"/>
                </a:lnTo>
                <a:lnTo>
                  <a:pt x="2736071" y="1650605"/>
                </a:lnTo>
                <a:lnTo>
                  <a:pt x="2729191" y="1677269"/>
                </a:lnTo>
                <a:lnTo>
                  <a:pt x="2725751" y="1703933"/>
                </a:lnTo>
                <a:lnTo>
                  <a:pt x="2725751" y="1732318"/>
                </a:lnTo>
                <a:lnTo>
                  <a:pt x="2727470" y="1761563"/>
                </a:lnTo>
                <a:lnTo>
                  <a:pt x="2730911" y="1790807"/>
                </a:lnTo>
                <a:lnTo>
                  <a:pt x="2735211" y="1820052"/>
                </a:lnTo>
                <a:lnTo>
                  <a:pt x="2738652" y="1849297"/>
                </a:lnTo>
                <a:lnTo>
                  <a:pt x="2741233" y="1878541"/>
                </a:lnTo>
                <a:lnTo>
                  <a:pt x="2740372" y="1906066"/>
                </a:lnTo>
                <a:lnTo>
                  <a:pt x="2736932" y="1932731"/>
                </a:lnTo>
                <a:lnTo>
                  <a:pt x="2729191" y="1958534"/>
                </a:lnTo>
                <a:lnTo>
                  <a:pt x="2718009" y="1980037"/>
                </a:lnTo>
                <a:lnTo>
                  <a:pt x="2703387" y="2000681"/>
                </a:lnTo>
                <a:lnTo>
                  <a:pt x="2686183" y="2018744"/>
                </a:lnTo>
                <a:lnTo>
                  <a:pt x="2666401" y="2036806"/>
                </a:lnTo>
                <a:lnTo>
                  <a:pt x="2645758" y="2053150"/>
                </a:lnTo>
                <a:lnTo>
                  <a:pt x="2624255" y="2069492"/>
                </a:lnTo>
                <a:lnTo>
                  <a:pt x="2601892" y="2085835"/>
                </a:lnTo>
                <a:lnTo>
                  <a:pt x="2581248" y="2102177"/>
                </a:lnTo>
                <a:lnTo>
                  <a:pt x="2561465" y="2119379"/>
                </a:lnTo>
                <a:lnTo>
                  <a:pt x="2544263" y="2139163"/>
                </a:lnTo>
                <a:lnTo>
                  <a:pt x="2528781" y="2158086"/>
                </a:lnTo>
                <a:lnTo>
                  <a:pt x="2516738" y="2179589"/>
                </a:lnTo>
                <a:lnTo>
                  <a:pt x="2506417" y="2202813"/>
                </a:lnTo>
                <a:lnTo>
                  <a:pt x="2497816" y="2227757"/>
                </a:lnTo>
                <a:lnTo>
                  <a:pt x="2490075" y="2253562"/>
                </a:lnTo>
                <a:lnTo>
                  <a:pt x="2483194" y="2279366"/>
                </a:lnTo>
                <a:lnTo>
                  <a:pt x="2476312" y="2306030"/>
                </a:lnTo>
                <a:lnTo>
                  <a:pt x="2468571" y="2330974"/>
                </a:lnTo>
                <a:lnTo>
                  <a:pt x="2459970" y="2355917"/>
                </a:lnTo>
                <a:lnTo>
                  <a:pt x="2449649" y="2379141"/>
                </a:lnTo>
                <a:lnTo>
                  <a:pt x="2436746" y="2399785"/>
                </a:lnTo>
                <a:lnTo>
                  <a:pt x="2421265" y="2418708"/>
                </a:lnTo>
                <a:lnTo>
                  <a:pt x="2402342" y="2434190"/>
                </a:lnTo>
                <a:lnTo>
                  <a:pt x="2381698" y="2447092"/>
                </a:lnTo>
                <a:lnTo>
                  <a:pt x="2358474" y="2457414"/>
                </a:lnTo>
                <a:lnTo>
                  <a:pt x="2333531" y="2466015"/>
                </a:lnTo>
                <a:lnTo>
                  <a:pt x="2308587" y="2473756"/>
                </a:lnTo>
                <a:lnTo>
                  <a:pt x="2281923" y="2480638"/>
                </a:lnTo>
                <a:lnTo>
                  <a:pt x="2256119" y="2487519"/>
                </a:lnTo>
                <a:lnTo>
                  <a:pt x="2230316" y="2495260"/>
                </a:lnTo>
                <a:lnTo>
                  <a:pt x="2205372" y="2503862"/>
                </a:lnTo>
                <a:lnTo>
                  <a:pt x="2182149" y="2514184"/>
                </a:lnTo>
                <a:lnTo>
                  <a:pt x="2160646" y="2526225"/>
                </a:lnTo>
                <a:lnTo>
                  <a:pt x="2141723" y="2541707"/>
                </a:lnTo>
                <a:lnTo>
                  <a:pt x="2121940" y="2558911"/>
                </a:lnTo>
                <a:lnTo>
                  <a:pt x="2104736" y="2578694"/>
                </a:lnTo>
                <a:lnTo>
                  <a:pt x="2088394" y="2599337"/>
                </a:lnTo>
                <a:lnTo>
                  <a:pt x="2072052" y="2620840"/>
                </a:lnTo>
                <a:lnTo>
                  <a:pt x="2055710" y="2642344"/>
                </a:lnTo>
                <a:lnTo>
                  <a:pt x="2039367" y="2662987"/>
                </a:lnTo>
                <a:lnTo>
                  <a:pt x="2021304" y="2682770"/>
                </a:lnTo>
                <a:lnTo>
                  <a:pt x="2003241" y="2699973"/>
                </a:lnTo>
                <a:lnTo>
                  <a:pt x="1982599" y="2714595"/>
                </a:lnTo>
                <a:lnTo>
                  <a:pt x="1961095" y="2725777"/>
                </a:lnTo>
                <a:lnTo>
                  <a:pt x="1935291" y="2733518"/>
                </a:lnTo>
                <a:lnTo>
                  <a:pt x="1908627" y="2736959"/>
                </a:lnTo>
                <a:lnTo>
                  <a:pt x="1881104" y="2737819"/>
                </a:lnTo>
                <a:lnTo>
                  <a:pt x="1851859" y="2735238"/>
                </a:lnTo>
                <a:lnTo>
                  <a:pt x="1822615" y="2731799"/>
                </a:lnTo>
                <a:lnTo>
                  <a:pt x="1793370" y="2727497"/>
                </a:lnTo>
                <a:lnTo>
                  <a:pt x="1764126" y="2724057"/>
                </a:lnTo>
                <a:lnTo>
                  <a:pt x="1734881" y="2722336"/>
                </a:lnTo>
                <a:lnTo>
                  <a:pt x="1706497" y="2722336"/>
                </a:lnTo>
                <a:lnTo>
                  <a:pt x="1679833" y="2725777"/>
                </a:lnTo>
                <a:lnTo>
                  <a:pt x="1652309" y="2732658"/>
                </a:lnTo>
                <a:lnTo>
                  <a:pt x="1627365" y="2742980"/>
                </a:lnTo>
                <a:lnTo>
                  <a:pt x="1601561" y="2756742"/>
                </a:lnTo>
                <a:lnTo>
                  <a:pt x="1575758" y="2770505"/>
                </a:lnTo>
                <a:lnTo>
                  <a:pt x="1549954" y="2785987"/>
                </a:lnTo>
                <a:lnTo>
                  <a:pt x="1525009" y="2800609"/>
                </a:lnTo>
                <a:lnTo>
                  <a:pt x="1498346" y="2813511"/>
                </a:lnTo>
                <a:lnTo>
                  <a:pt x="1472542" y="2823833"/>
                </a:lnTo>
                <a:lnTo>
                  <a:pt x="1445877" y="2830714"/>
                </a:lnTo>
                <a:lnTo>
                  <a:pt x="1418354" y="2833294"/>
                </a:lnTo>
                <a:lnTo>
                  <a:pt x="1390830" y="2830714"/>
                </a:lnTo>
                <a:lnTo>
                  <a:pt x="1364166" y="2823833"/>
                </a:lnTo>
                <a:lnTo>
                  <a:pt x="1338362" y="2813511"/>
                </a:lnTo>
                <a:lnTo>
                  <a:pt x="1311698" y="2800609"/>
                </a:lnTo>
                <a:lnTo>
                  <a:pt x="1286754" y="2785987"/>
                </a:lnTo>
                <a:lnTo>
                  <a:pt x="1260950" y="2770505"/>
                </a:lnTo>
                <a:lnTo>
                  <a:pt x="1235146" y="2756742"/>
                </a:lnTo>
                <a:lnTo>
                  <a:pt x="1209343" y="2742980"/>
                </a:lnTo>
                <a:lnTo>
                  <a:pt x="1183539" y="2732658"/>
                </a:lnTo>
                <a:lnTo>
                  <a:pt x="1156875" y="2725777"/>
                </a:lnTo>
                <a:lnTo>
                  <a:pt x="1130211" y="2722336"/>
                </a:lnTo>
                <a:lnTo>
                  <a:pt x="1101826" y="2722336"/>
                </a:lnTo>
                <a:lnTo>
                  <a:pt x="1072582" y="2724057"/>
                </a:lnTo>
                <a:lnTo>
                  <a:pt x="1043338" y="2727497"/>
                </a:lnTo>
                <a:lnTo>
                  <a:pt x="1014093" y="2731799"/>
                </a:lnTo>
                <a:lnTo>
                  <a:pt x="984848" y="2735238"/>
                </a:lnTo>
                <a:lnTo>
                  <a:pt x="955604" y="2737819"/>
                </a:lnTo>
                <a:lnTo>
                  <a:pt x="928081" y="2736959"/>
                </a:lnTo>
                <a:lnTo>
                  <a:pt x="901416" y="2733518"/>
                </a:lnTo>
                <a:lnTo>
                  <a:pt x="875612" y="2725777"/>
                </a:lnTo>
                <a:lnTo>
                  <a:pt x="854109" y="2714595"/>
                </a:lnTo>
                <a:lnTo>
                  <a:pt x="833465" y="2699973"/>
                </a:lnTo>
                <a:lnTo>
                  <a:pt x="815403" y="2682770"/>
                </a:lnTo>
                <a:lnTo>
                  <a:pt x="797340" y="2662987"/>
                </a:lnTo>
                <a:lnTo>
                  <a:pt x="780998" y="2642344"/>
                </a:lnTo>
                <a:lnTo>
                  <a:pt x="764655" y="2620840"/>
                </a:lnTo>
                <a:lnTo>
                  <a:pt x="748313" y="2599337"/>
                </a:lnTo>
                <a:lnTo>
                  <a:pt x="731971" y="2578694"/>
                </a:lnTo>
                <a:lnTo>
                  <a:pt x="714768" y="2558911"/>
                </a:lnTo>
                <a:lnTo>
                  <a:pt x="694985" y="2541707"/>
                </a:lnTo>
                <a:lnTo>
                  <a:pt x="676062" y="2526225"/>
                </a:lnTo>
                <a:lnTo>
                  <a:pt x="654559" y="2514184"/>
                </a:lnTo>
                <a:lnTo>
                  <a:pt x="631335" y="2503862"/>
                </a:lnTo>
                <a:lnTo>
                  <a:pt x="606392" y="2495260"/>
                </a:lnTo>
                <a:lnTo>
                  <a:pt x="580587" y="2487519"/>
                </a:lnTo>
                <a:lnTo>
                  <a:pt x="554784" y="2480638"/>
                </a:lnTo>
                <a:lnTo>
                  <a:pt x="528120" y="2473756"/>
                </a:lnTo>
                <a:lnTo>
                  <a:pt x="503176" y="2466015"/>
                </a:lnTo>
                <a:lnTo>
                  <a:pt x="478232" y="2457414"/>
                </a:lnTo>
                <a:lnTo>
                  <a:pt x="455009" y="2447092"/>
                </a:lnTo>
                <a:lnTo>
                  <a:pt x="434366" y="2434190"/>
                </a:lnTo>
                <a:lnTo>
                  <a:pt x="415442" y="2418708"/>
                </a:lnTo>
                <a:lnTo>
                  <a:pt x="399961" y="2399785"/>
                </a:lnTo>
                <a:lnTo>
                  <a:pt x="387059" y="2379141"/>
                </a:lnTo>
                <a:lnTo>
                  <a:pt x="376737" y="2355917"/>
                </a:lnTo>
                <a:lnTo>
                  <a:pt x="368136" y="2330974"/>
                </a:lnTo>
                <a:lnTo>
                  <a:pt x="360395" y="2306030"/>
                </a:lnTo>
                <a:lnTo>
                  <a:pt x="353514" y="2279366"/>
                </a:lnTo>
                <a:lnTo>
                  <a:pt x="346633" y="2253562"/>
                </a:lnTo>
                <a:lnTo>
                  <a:pt x="338891" y="2227757"/>
                </a:lnTo>
                <a:lnTo>
                  <a:pt x="330290" y="2202813"/>
                </a:lnTo>
                <a:lnTo>
                  <a:pt x="319968" y="2179589"/>
                </a:lnTo>
                <a:lnTo>
                  <a:pt x="307927" y="2158086"/>
                </a:lnTo>
                <a:lnTo>
                  <a:pt x="292445" y="2139163"/>
                </a:lnTo>
                <a:lnTo>
                  <a:pt x="275242" y="2119379"/>
                </a:lnTo>
                <a:lnTo>
                  <a:pt x="255459" y="2102177"/>
                </a:lnTo>
                <a:lnTo>
                  <a:pt x="233955" y="2085835"/>
                </a:lnTo>
                <a:lnTo>
                  <a:pt x="212452" y="2069492"/>
                </a:lnTo>
                <a:lnTo>
                  <a:pt x="190950" y="2053150"/>
                </a:lnTo>
                <a:lnTo>
                  <a:pt x="170306" y="2036806"/>
                </a:lnTo>
                <a:lnTo>
                  <a:pt x="150523" y="2018744"/>
                </a:lnTo>
                <a:lnTo>
                  <a:pt x="133321" y="2000681"/>
                </a:lnTo>
                <a:lnTo>
                  <a:pt x="118699" y="1980037"/>
                </a:lnTo>
                <a:lnTo>
                  <a:pt x="107517" y="1958534"/>
                </a:lnTo>
                <a:lnTo>
                  <a:pt x="99776" y="1932731"/>
                </a:lnTo>
                <a:lnTo>
                  <a:pt x="96335" y="1906066"/>
                </a:lnTo>
                <a:lnTo>
                  <a:pt x="95474" y="1878541"/>
                </a:lnTo>
                <a:lnTo>
                  <a:pt x="98055" y="1849297"/>
                </a:lnTo>
                <a:lnTo>
                  <a:pt x="101496" y="1820052"/>
                </a:lnTo>
                <a:lnTo>
                  <a:pt x="105796" y="1790807"/>
                </a:lnTo>
                <a:lnTo>
                  <a:pt x="109237" y="1761563"/>
                </a:lnTo>
                <a:lnTo>
                  <a:pt x="110958" y="1732318"/>
                </a:lnTo>
                <a:lnTo>
                  <a:pt x="110958" y="1703933"/>
                </a:lnTo>
                <a:lnTo>
                  <a:pt x="107517" y="1677269"/>
                </a:lnTo>
                <a:lnTo>
                  <a:pt x="100636" y="1650605"/>
                </a:lnTo>
                <a:lnTo>
                  <a:pt x="90314" y="1625660"/>
                </a:lnTo>
                <a:lnTo>
                  <a:pt x="77412" y="1599857"/>
                </a:lnTo>
                <a:lnTo>
                  <a:pt x="62790" y="1574053"/>
                </a:lnTo>
                <a:lnTo>
                  <a:pt x="47308" y="1548248"/>
                </a:lnTo>
                <a:lnTo>
                  <a:pt x="32686" y="1523304"/>
                </a:lnTo>
                <a:lnTo>
                  <a:pt x="19783" y="1496640"/>
                </a:lnTo>
                <a:lnTo>
                  <a:pt x="9462" y="1470836"/>
                </a:lnTo>
                <a:lnTo>
                  <a:pt x="2581" y="1444171"/>
                </a:lnTo>
                <a:lnTo>
                  <a:pt x="0" y="1416647"/>
                </a:lnTo>
                <a:lnTo>
                  <a:pt x="2581" y="1389123"/>
                </a:lnTo>
                <a:lnTo>
                  <a:pt x="9462" y="1362459"/>
                </a:lnTo>
                <a:lnTo>
                  <a:pt x="19783" y="1336654"/>
                </a:lnTo>
                <a:lnTo>
                  <a:pt x="32686" y="1309991"/>
                </a:lnTo>
                <a:lnTo>
                  <a:pt x="47308" y="1285046"/>
                </a:lnTo>
                <a:lnTo>
                  <a:pt x="62790" y="1259242"/>
                </a:lnTo>
                <a:lnTo>
                  <a:pt x="77412" y="1233438"/>
                </a:lnTo>
                <a:lnTo>
                  <a:pt x="90314" y="1207634"/>
                </a:lnTo>
                <a:lnTo>
                  <a:pt x="100636" y="1182689"/>
                </a:lnTo>
                <a:lnTo>
                  <a:pt x="107517" y="1156025"/>
                </a:lnTo>
                <a:lnTo>
                  <a:pt x="110958" y="1129361"/>
                </a:lnTo>
                <a:lnTo>
                  <a:pt x="110958" y="1100977"/>
                </a:lnTo>
                <a:lnTo>
                  <a:pt x="109237" y="1071732"/>
                </a:lnTo>
                <a:lnTo>
                  <a:pt x="105796" y="1042487"/>
                </a:lnTo>
                <a:lnTo>
                  <a:pt x="101496" y="1013242"/>
                </a:lnTo>
                <a:lnTo>
                  <a:pt x="98055" y="983998"/>
                </a:lnTo>
                <a:lnTo>
                  <a:pt x="95474" y="954754"/>
                </a:lnTo>
                <a:lnTo>
                  <a:pt x="96335" y="927229"/>
                </a:lnTo>
                <a:lnTo>
                  <a:pt x="99776" y="900565"/>
                </a:lnTo>
                <a:lnTo>
                  <a:pt x="107517" y="874760"/>
                </a:lnTo>
                <a:lnTo>
                  <a:pt x="118699" y="853257"/>
                </a:lnTo>
                <a:lnTo>
                  <a:pt x="133321" y="832614"/>
                </a:lnTo>
                <a:lnTo>
                  <a:pt x="150523" y="814551"/>
                </a:lnTo>
                <a:lnTo>
                  <a:pt x="170306" y="796488"/>
                </a:lnTo>
                <a:lnTo>
                  <a:pt x="190950" y="780145"/>
                </a:lnTo>
                <a:lnTo>
                  <a:pt x="212452" y="763802"/>
                </a:lnTo>
                <a:lnTo>
                  <a:pt x="233955" y="747460"/>
                </a:lnTo>
                <a:lnTo>
                  <a:pt x="255459" y="731117"/>
                </a:lnTo>
                <a:lnTo>
                  <a:pt x="275242" y="713915"/>
                </a:lnTo>
                <a:lnTo>
                  <a:pt x="292445" y="694132"/>
                </a:lnTo>
                <a:lnTo>
                  <a:pt x="307927" y="675208"/>
                </a:lnTo>
                <a:lnTo>
                  <a:pt x="319968" y="653705"/>
                </a:lnTo>
                <a:lnTo>
                  <a:pt x="330290" y="630482"/>
                </a:lnTo>
                <a:lnTo>
                  <a:pt x="338891" y="605537"/>
                </a:lnTo>
                <a:lnTo>
                  <a:pt x="346633" y="579732"/>
                </a:lnTo>
                <a:lnTo>
                  <a:pt x="353514" y="553929"/>
                </a:lnTo>
                <a:lnTo>
                  <a:pt x="360395" y="527264"/>
                </a:lnTo>
                <a:lnTo>
                  <a:pt x="368136" y="502321"/>
                </a:lnTo>
                <a:lnTo>
                  <a:pt x="376737" y="477376"/>
                </a:lnTo>
                <a:lnTo>
                  <a:pt x="387059" y="454153"/>
                </a:lnTo>
                <a:lnTo>
                  <a:pt x="399961" y="433510"/>
                </a:lnTo>
                <a:lnTo>
                  <a:pt x="415442" y="414587"/>
                </a:lnTo>
                <a:lnTo>
                  <a:pt x="434366" y="399104"/>
                </a:lnTo>
                <a:lnTo>
                  <a:pt x="455009" y="386202"/>
                </a:lnTo>
                <a:lnTo>
                  <a:pt x="478232" y="375880"/>
                </a:lnTo>
                <a:lnTo>
                  <a:pt x="503176" y="367279"/>
                </a:lnTo>
                <a:lnTo>
                  <a:pt x="528120" y="359538"/>
                </a:lnTo>
                <a:lnTo>
                  <a:pt x="554784" y="352656"/>
                </a:lnTo>
                <a:lnTo>
                  <a:pt x="580587" y="345775"/>
                </a:lnTo>
                <a:lnTo>
                  <a:pt x="606392" y="338034"/>
                </a:lnTo>
                <a:lnTo>
                  <a:pt x="631335" y="329433"/>
                </a:lnTo>
                <a:lnTo>
                  <a:pt x="654559" y="319111"/>
                </a:lnTo>
                <a:lnTo>
                  <a:pt x="676062" y="307070"/>
                </a:lnTo>
                <a:lnTo>
                  <a:pt x="694985" y="291587"/>
                </a:lnTo>
                <a:lnTo>
                  <a:pt x="714768" y="274384"/>
                </a:lnTo>
                <a:lnTo>
                  <a:pt x="731971" y="254601"/>
                </a:lnTo>
                <a:lnTo>
                  <a:pt x="748313" y="233957"/>
                </a:lnTo>
                <a:lnTo>
                  <a:pt x="764655" y="212454"/>
                </a:lnTo>
                <a:lnTo>
                  <a:pt x="780998" y="190950"/>
                </a:lnTo>
                <a:lnTo>
                  <a:pt x="797340" y="170307"/>
                </a:lnTo>
                <a:lnTo>
                  <a:pt x="815403" y="150524"/>
                </a:lnTo>
                <a:lnTo>
                  <a:pt x="833465" y="133322"/>
                </a:lnTo>
                <a:lnTo>
                  <a:pt x="854109" y="118699"/>
                </a:lnTo>
                <a:lnTo>
                  <a:pt x="875612" y="107517"/>
                </a:lnTo>
                <a:lnTo>
                  <a:pt x="901416" y="99776"/>
                </a:lnTo>
                <a:lnTo>
                  <a:pt x="928081" y="96335"/>
                </a:lnTo>
                <a:lnTo>
                  <a:pt x="955604" y="95475"/>
                </a:lnTo>
                <a:lnTo>
                  <a:pt x="984848" y="98056"/>
                </a:lnTo>
                <a:lnTo>
                  <a:pt x="1014093" y="101497"/>
                </a:lnTo>
                <a:lnTo>
                  <a:pt x="1043338" y="105797"/>
                </a:lnTo>
                <a:lnTo>
                  <a:pt x="1072582" y="109238"/>
                </a:lnTo>
                <a:lnTo>
                  <a:pt x="1101826" y="110958"/>
                </a:lnTo>
                <a:lnTo>
                  <a:pt x="1130211" y="110958"/>
                </a:lnTo>
                <a:lnTo>
                  <a:pt x="1156875" y="107517"/>
                </a:lnTo>
                <a:lnTo>
                  <a:pt x="1183539" y="100636"/>
                </a:lnTo>
                <a:lnTo>
                  <a:pt x="1209343" y="90315"/>
                </a:lnTo>
                <a:lnTo>
                  <a:pt x="1235146" y="76552"/>
                </a:lnTo>
                <a:lnTo>
                  <a:pt x="1260950" y="62790"/>
                </a:lnTo>
                <a:lnTo>
                  <a:pt x="1286754" y="47308"/>
                </a:lnTo>
                <a:lnTo>
                  <a:pt x="1311698" y="32685"/>
                </a:lnTo>
                <a:lnTo>
                  <a:pt x="1338362" y="19783"/>
                </a:lnTo>
                <a:lnTo>
                  <a:pt x="1364166" y="9461"/>
                </a:lnTo>
                <a:lnTo>
                  <a:pt x="1390830" y="25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Graphic 4" descr="Muscular arm">
            <a:extLst>
              <a:ext uri="{FF2B5EF4-FFF2-40B4-BE49-F238E27FC236}">
                <a16:creationId xmlns:a16="http://schemas.microsoft.com/office/drawing/2014/main" id="{EC68EC15-304D-4206-985F-D443EB6E2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15688" y="3344816"/>
            <a:ext cx="1737712" cy="1737712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D3DD866-9865-42E4-989A-17A2755F2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78598" y="3909952"/>
            <a:ext cx="3313402" cy="2948047"/>
          </a:xfrm>
          <a:custGeom>
            <a:avLst/>
            <a:gdLst>
              <a:gd name="connsiteX0" fmla="*/ 1934947 w 3313402"/>
              <a:gd name="connsiteY0" fmla="*/ 0 h 2948047"/>
              <a:gd name="connsiteX1" fmla="*/ 1972495 w 3313402"/>
              <a:gd name="connsiteY1" fmla="*/ 3519 h 2948047"/>
              <a:gd name="connsiteX2" fmla="*/ 2008871 w 3313402"/>
              <a:gd name="connsiteY2" fmla="*/ 12907 h 2948047"/>
              <a:gd name="connsiteX3" fmla="*/ 2044074 w 3313402"/>
              <a:gd name="connsiteY3" fmla="*/ 26988 h 2948047"/>
              <a:gd name="connsiteX4" fmla="*/ 2080448 w 3313402"/>
              <a:gd name="connsiteY4" fmla="*/ 44589 h 2948047"/>
              <a:gd name="connsiteX5" fmla="*/ 2114478 w 3313402"/>
              <a:gd name="connsiteY5" fmla="*/ 64537 h 2948047"/>
              <a:gd name="connsiteX6" fmla="*/ 2149681 w 3313402"/>
              <a:gd name="connsiteY6" fmla="*/ 85659 h 2948047"/>
              <a:gd name="connsiteX7" fmla="*/ 2184882 w 3313402"/>
              <a:gd name="connsiteY7" fmla="*/ 104433 h 2948047"/>
              <a:gd name="connsiteX8" fmla="*/ 2220084 w 3313402"/>
              <a:gd name="connsiteY8" fmla="*/ 123208 h 2948047"/>
              <a:gd name="connsiteX9" fmla="*/ 2254113 w 3313402"/>
              <a:gd name="connsiteY9" fmla="*/ 137288 h 2948047"/>
              <a:gd name="connsiteX10" fmla="*/ 2291662 w 3313402"/>
              <a:gd name="connsiteY10" fmla="*/ 146675 h 2948047"/>
              <a:gd name="connsiteX11" fmla="*/ 2328037 w 3313402"/>
              <a:gd name="connsiteY11" fmla="*/ 151369 h 2948047"/>
              <a:gd name="connsiteX12" fmla="*/ 2366759 w 3313402"/>
              <a:gd name="connsiteY12" fmla="*/ 151369 h 2948047"/>
              <a:gd name="connsiteX13" fmla="*/ 2406656 w 3313402"/>
              <a:gd name="connsiteY13" fmla="*/ 149023 h 2948047"/>
              <a:gd name="connsiteX14" fmla="*/ 2446551 w 3313402"/>
              <a:gd name="connsiteY14" fmla="*/ 144329 h 2948047"/>
              <a:gd name="connsiteX15" fmla="*/ 2486448 w 3313402"/>
              <a:gd name="connsiteY15" fmla="*/ 138462 h 2948047"/>
              <a:gd name="connsiteX16" fmla="*/ 2526343 w 3313402"/>
              <a:gd name="connsiteY16" fmla="*/ 133769 h 2948047"/>
              <a:gd name="connsiteX17" fmla="*/ 2566239 w 3313402"/>
              <a:gd name="connsiteY17" fmla="*/ 130247 h 2948047"/>
              <a:gd name="connsiteX18" fmla="*/ 2603787 w 3313402"/>
              <a:gd name="connsiteY18" fmla="*/ 131421 h 2948047"/>
              <a:gd name="connsiteX19" fmla="*/ 2640163 w 3313402"/>
              <a:gd name="connsiteY19" fmla="*/ 136115 h 2948047"/>
              <a:gd name="connsiteX20" fmla="*/ 2675366 w 3313402"/>
              <a:gd name="connsiteY20" fmla="*/ 146675 h 2948047"/>
              <a:gd name="connsiteX21" fmla="*/ 2704702 w 3313402"/>
              <a:gd name="connsiteY21" fmla="*/ 161930 h 2948047"/>
              <a:gd name="connsiteX22" fmla="*/ 2732862 w 3313402"/>
              <a:gd name="connsiteY22" fmla="*/ 181878 h 2948047"/>
              <a:gd name="connsiteX23" fmla="*/ 2757504 w 3313402"/>
              <a:gd name="connsiteY23" fmla="*/ 205346 h 2948047"/>
              <a:gd name="connsiteX24" fmla="*/ 2782146 w 3313402"/>
              <a:gd name="connsiteY24" fmla="*/ 232334 h 2948047"/>
              <a:gd name="connsiteX25" fmla="*/ 2804440 w 3313402"/>
              <a:gd name="connsiteY25" fmla="*/ 260495 h 2948047"/>
              <a:gd name="connsiteX26" fmla="*/ 2826735 w 3313402"/>
              <a:gd name="connsiteY26" fmla="*/ 289831 h 2948047"/>
              <a:gd name="connsiteX27" fmla="*/ 2849030 w 3313402"/>
              <a:gd name="connsiteY27" fmla="*/ 319166 h 2948047"/>
              <a:gd name="connsiteX28" fmla="*/ 2871324 w 3313402"/>
              <a:gd name="connsiteY28" fmla="*/ 347327 h 2948047"/>
              <a:gd name="connsiteX29" fmla="*/ 2894793 w 3313402"/>
              <a:gd name="connsiteY29" fmla="*/ 374315 h 2948047"/>
              <a:gd name="connsiteX30" fmla="*/ 2921781 w 3313402"/>
              <a:gd name="connsiteY30" fmla="*/ 397785 h 2948047"/>
              <a:gd name="connsiteX31" fmla="*/ 2947597 w 3313402"/>
              <a:gd name="connsiteY31" fmla="*/ 418906 h 2948047"/>
              <a:gd name="connsiteX32" fmla="*/ 2976931 w 3313402"/>
              <a:gd name="connsiteY32" fmla="*/ 435332 h 2948047"/>
              <a:gd name="connsiteX33" fmla="*/ 3008614 w 3313402"/>
              <a:gd name="connsiteY33" fmla="*/ 449413 h 2948047"/>
              <a:gd name="connsiteX34" fmla="*/ 3042641 w 3313402"/>
              <a:gd name="connsiteY34" fmla="*/ 461147 h 2948047"/>
              <a:gd name="connsiteX35" fmla="*/ 3077843 w 3313402"/>
              <a:gd name="connsiteY35" fmla="*/ 471708 h 2948047"/>
              <a:gd name="connsiteX36" fmla="*/ 3113046 w 3313402"/>
              <a:gd name="connsiteY36" fmla="*/ 481096 h 2948047"/>
              <a:gd name="connsiteX37" fmla="*/ 3149422 w 3313402"/>
              <a:gd name="connsiteY37" fmla="*/ 490483 h 2948047"/>
              <a:gd name="connsiteX38" fmla="*/ 3183450 w 3313402"/>
              <a:gd name="connsiteY38" fmla="*/ 501044 h 2948047"/>
              <a:gd name="connsiteX39" fmla="*/ 3217478 w 3313402"/>
              <a:gd name="connsiteY39" fmla="*/ 512777 h 2948047"/>
              <a:gd name="connsiteX40" fmla="*/ 3249161 w 3313402"/>
              <a:gd name="connsiteY40" fmla="*/ 526859 h 2948047"/>
              <a:gd name="connsiteX41" fmla="*/ 3277323 w 3313402"/>
              <a:gd name="connsiteY41" fmla="*/ 544460 h 2948047"/>
              <a:gd name="connsiteX42" fmla="*/ 3303139 w 3313402"/>
              <a:gd name="connsiteY42" fmla="*/ 565581 h 2948047"/>
              <a:gd name="connsiteX43" fmla="*/ 3313402 w 3313402"/>
              <a:gd name="connsiteY43" fmla="*/ 578126 h 2948047"/>
              <a:gd name="connsiteX44" fmla="*/ 3313402 w 3313402"/>
              <a:gd name="connsiteY44" fmla="*/ 2948047 h 2948047"/>
              <a:gd name="connsiteX45" fmla="*/ 422306 w 3313402"/>
              <a:gd name="connsiteY45" fmla="*/ 2948047 h 2948047"/>
              <a:gd name="connsiteX46" fmla="*/ 420079 w 3313402"/>
              <a:gd name="connsiteY46" fmla="*/ 2944070 h 2948047"/>
              <a:gd name="connsiteX47" fmla="*/ 398960 w 3313402"/>
              <a:gd name="connsiteY47" fmla="*/ 2918255 h 2948047"/>
              <a:gd name="connsiteX48" fmla="*/ 375490 w 3313402"/>
              <a:gd name="connsiteY48" fmla="*/ 2891267 h 2948047"/>
              <a:gd name="connsiteX49" fmla="*/ 348502 w 3313402"/>
              <a:gd name="connsiteY49" fmla="*/ 2867799 h 2948047"/>
              <a:gd name="connsiteX50" fmla="*/ 319166 w 3313402"/>
              <a:gd name="connsiteY50" fmla="*/ 2845505 h 2948047"/>
              <a:gd name="connsiteX51" fmla="*/ 289832 w 3313402"/>
              <a:gd name="connsiteY51" fmla="*/ 2823210 h 2948047"/>
              <a:gd name="connsiteX52" fmla="*/ 260497 w 3313402"/>
              <a:gd name="connsiteY52" fmla="*/ 2800916 h 2948047"/>
              <a:gd name="connsiteX53" fmla="*/ 232334 w 3313402"/>
              <a:gd name="connsiteY53" fmla="*/ 2778620 h 2948047"/>
              <a:gd name="connsiteX54" fmla="*/ 205346 w 3313402"/>
              <a:gd name="connsiteY54" fmla="*/ 2753979 h 2948047"/>
              <a:gd name="connsiteX55" fmla="*/ 181878 w 3313402"/>
              <a:gd name="connsiteY55" fmla="*/ 2729338 h 2948047"/>
              <a:gd name="connsiteX56" fmla="*/ 161931 w 3313402"/>
              <a:gd name="connsiteY56" fmla="*/ 2701176 h 2948047"/>
              <a:gd name="connsiteX57" fmla="*/ 146677 w 3313402"/>
              <a:gd name="connsiteY57" fmla="*/ 2671841 h 2948047"/>
              <a:gd name="connsiteX58" fmla="*/ 136116 w 3313402"/>
              <a:gd name="connsiteY58" fmla="*/ 2636640 h 2948047"/>
              <a:gd name="connsiteX59" fmla="*/ 131422 w 3313402"/>
              <a:gd name="connsiteY59" fmla="*/ 2600264 h 2948047"/>
              <a:gd name="connsiteX60" fmla="*/ 130248 w 3313402"/>
              <a:gd name="connsiteY60" fmla="*/ 2562713 h 2948047"/>
              <a:gd name="connsiteX61" fmla="*/ 133769 w 3313402"/>
              <a:gd name="connsiteY61" fmla="*/ 2522818 h 2948047"/>
              <a:gd name="connsiteX62" fmla="*/ 138462 w 3313402"/>
              <a:gd name="connsiteY62" fmla="*/ 2482923 h 2948047"/>
              <a:gd name="connsiteX63" fmla="*/ 144329 w 3313402"/>
              <a:gd name="connsiteY63" fmla="*/ 2443026 h 2948047"/>
              <a:gd name="connsiteX64" fmla="*/ 149023 w 3313402"/>
              <a:gd name="connsiteY64" fmla="*/ 2403131 h 2948047"/>
              <a:gd name="connsiteX65" fmla="*/ 151371 w 3313402"/>
              <a:gd name="connsiteY65" fmla="*/ 2363236 h 2948047"/>
              <a:gd name="connsiteX66" fmla="*/ 151371 w 3313402"/>
              <a:gd name="connsiteY66" fmla="*/ 2324513 h 2948047"/>
              <a:gd name="connsiteX67" fmla="*/ 146677 w 3313402"/>
              <a:gd name="connsiteY67" fmla="*/ 2288138 h 2948047"/>
              <a:gd name="connsiteX68" fmla="*/ 137289 w 3313402"/>
              <a:gd name="connsiteY68" fmla="*/ 2251763 h 2948047"/>
              <a:gd name="connsiteX69" fmla="*/ 123208 w 3313402"/>
              <a:gd name="connsiteY69" fmla="*/ 2217733 h 2948047"/>
              <a:gd name="connsiteX70" fmla="*/ 105607 w 3313402"/>
              <a:gd name="connsiteY70" fmla="*/ 2182531 h 2948047"/>
              <a:gd name="connsiteX71" fmla="*/ 85659 w 3313402"/>
              <a:gd name="connsiteY71" fmla="*/ 2147330 h 2948047"/>
              <a:gd name="connsiteX72" fmla="*/ 64538 w 3313402"/>
              <a:gd name="connsiteY72" fmla="*/ 2112127 h 2948047"/>
              <a:gd name="connsiteX73" fmla="*/ 44590 w 3313402"/>
              <a:gd name="connsiteY73" fmla="*/ 2078098 h 2948047"/>
              <a:gd name="connsiteX74" fmla="*/ 26988 w 3313402"/>
              <a:gd name="connsiteY74" fmla="*/ 2041723 h 2948047"/>
              <a:gd name="connsiteX75" fmla="*/ 12908 w 3313402"/>
              <a:gd name="connsiteY75" fmla="*/ 2006521 h 2948047"/>
              <a:gd name="connsiteX76" fmla="*/ 3521 w 3313402"/>
              <a:gd name="connsiteY76" fmla="*/ 1970145 h 2948047"/>
              <a:gd name="connsiteX77" fmla="*/ 0 w 3313402"/>
              <a:gd name="connsiteY77" fmla="*/ 1932596 h 2948047"/>
              <a:gd name="connsiteX78" fmla="*/ 3521 w 3313402"/>
              <a:gd name="connsiteY78" fmla="*/ 1895048 h 2948047"/>
              <a:gd name="connsiteX79" fmla="*/ 12908 w 3313402"/>
              <a:gd name="connsiteY79" fmla="*/ 1858672 h 2948047"/>
              <a:gd name="connsiteX80" fmla="*/ 26988 w 3313402"/>
              <a:gd name="connsiteY80" fmla="*/ 1823470 h 2948047"/>
              <a:gd name="connsiteX81" fmla="*/ 44590 w 3313402"/>
              <a:gd name="connsiteY81" fmla="*/ 1787095 h 2948047"/>
              <a:gd name="connsiteX82" fmla="*/ 64538 w 3313402"/>
              <a:gd name="connsiteY82" fmla="*/ 1753065 h 2948047"/>
              <a:gd name="connsiteX83" fmla="*/ 85659 w 3313402"/>
              <a:gd name="connsiteY83" fmla="*/ 1717864 h 2948047"/>
              <a:gd name="connsiteX84" fmla="*/ 105607 w 3313402"/>
              <a:gd name="connsiteY84" fmla="*/ 1682661 h 2948047"/>
              <a:gd name="connsiteX85" fmla="*/ 123208 w 3313402"/>
              <a:gd name="connsiteY85" fmla="*/ 1647460 h 2948047"/>
              <a:gd name="connsiteX86" fmla="*/ 137289 w 3313402"/>
              <a:gd name="connsiteY86" fmla="*/ 1613430 h 2948047"/>
              <a:gd name="connsiteX87" fmla="*/ 146677 w 3313402"/>
              <a:gd name="connsiteY87" fmla="*/ 1577054 h 2948047"/>
              <a:gd name="connsiteX88" fmla="*/ 151371 w 3313402"/>
              <a:gd name="connsiteY88" fmla="*/ 1540680 h 2948047"/>
              <a:gd name="connsiteX89" fmla="*/ 151371 w 3313402"/>
              <a:gd name="connsiteY89" fmla="*/ 1501958 h 2948047"/>
              <a:gd name="connsiteX90" fmla="*/ 149023 w 3313402"/>
              <a:gd name="connsiteY90" fmla="*/ 1462061 h 2948047"/>
              <a:gd name="connsiteX91" fmla="*/ 144329 w 3313402"/>
              <a:gd name="connsiteY91" fmla="*/ 1422166 h 2948047"/>
              <a:gd name="connsiteX92" fmla="*/ 138462 w 3313402"/>
              <a:gd name="connsiteY92" fmla="*/ 1382269 h 2948047"/>
              <a:gd name="connsiteX93" fmla="*/ 133769 w 3313402"/>
              <a:gd name="connsiteY93" fmla="*/ 1342374 h 2948047"/>
              <a:gd name="connsiteX94" fmla="*/ 130248 w 3313402"/>
              <a:gd name="connsiteY94" fmla="*/ 1302479 h 2948047"/>
              <a:gd name="connsiteX95" fmla="*/ 131422 w 3313402"/>
              <a:gd name="connsiteY95" fmla="*/ 1264930 h 2948047"/>
              <a:gd name="connsiteX96" fmla="*/ 136116 w 3313402"/>
              <a:gd name="connsiteY96" fmla="*/ 1228554 h 2948047"/>
              <a:gd name="connsiteX97" fmla="*/ 146677 w 3313402"/>
              <a:gd name="connsiteY97" fmla="*/ 1193352 h 2948047"/>
              <a:gd name="connsiteX98" fmla="*/ 161931 w 3313402"/>
              <a:gd name="connsiteY98" fmla="*/ 1164017 h 2948047"/>
              <a:gd name="connsiteX99" fmla="*/ 181878 w 3313402"/>
              <a:gd name="connsiteY99" fmla="*/ 1135856 h 2948047"/>
              <a:gd name="connsiteX100" fmla="*/ 205346 w 3313402"/>
              <a:gd name="connsiteY100" fmla="*/ 1111214 h 2948047"/>
              <a:gd name="connsiteX101" fmla="*/ 232334 w 3313402"/>
              <a:gd name="connsiteY101" fmla="*/ 1086573 h 2948047"/>
              <a:gd name="connsiteX102" fmla="*/ 260497 w 3313402"/>
              <a:gd name="connsiteY102" fmla="*/ 1064277 h 2948047"/>
              <a:gd name="connsiteX103" fmla="*/ 289832 w 3313402"/>
              <a:gd name="connsiteY103" fmla="*/ 1041982 h 2948047"/>
              <a:gd name="connsiteX104" fmla="*/ 319166 w 3313402"/>
              <a:gd name="connsiteY104" fmla="*/ 1019688 h 2948047"/>
              <a:gd name="connsiteX105" fmla="*/ 348502 w 3313402"/>
              <a:gd name="connsiteY105" fmla="*/ 997393 h 2948047"/>
              <a:gd name="connsiteX106" fmla="*/ 375490 w 3313402"/>
              <a:gd name="connsiteY106" fmla="*/ 973926 h 2948047"/>
              <a:gd name="connsiteX107" fmla="*/ 398960 w 3313402"/>
              <a:gd name="connsiteY107" fmla="*/ 946938 h 2948047"/>
              <a:gd name="connsiteX108" fmla="*/ 420079 w 3313402"/>
              <a:gd name="connsiteY108" fmla="*/ 921122 h 2948047"/>
              <a:gd name="connsiteX109" fmla="*/ 436507 w 3313402"/>
              <a:gd name="connsiteY109" fmla="*/ 891788 h 2948047"/>
              <a:gd name="connsiteX110" fmla="*/ 450588 w 3313402"/>
              <a:gd name="connsiteY110" fmla="*/ 860106 h 2948047"/>
              <a:gd name="connsiteX111" fmla="*/ 462322 w 3313402"/>
              <a:gd name="connsiteY111" fmla="*/ 826076 h 2948047"/>
              <a:gd name="connsiteX112" fmla="*/ 472883 w 3313402"/>
              <a:gd name="connsiteY112" fmla="*/ 790874 h 2948047"/>
              <a:gd name="connsiteX113" fmla="*/ 482271 w 3313402"/>
              <a:gd name="connsiteY113" fmla="*/ 755672 h 2948047"/>
              <a:gd name="connsiteX114" fmla="*/ 491658 w 3313402"/>
              <a:gd name="connsiteY114" fmla="*/ 719297 h 2948047"/>
              <a:gd name="connsiteX115" fmla="*/ 502219 w 3313402"/>
              <a:gd name="connsiteY115" fmla="*/ 685268 h 2948047"/>
              <a:gd name="connsiteX116" fmla="*/ 513952 w 3313402"/>
              <a:gd name="connsiteY116" fmla="*/ 651238 h 2948047"/>
              <a:gd name="connsiteX117" fmla="*/ 528034 w 3313402"/>
              <a:gd name="connsiteY117" fmla="*/ 619558 h 2948047"/>
              <a:gd name="connsiteX118" fmla="*/ 545635 w 3313402"/>
              <a:gd name="connsiteY118" fmla="*/ 591396 h 2948047"/>
              <a:gd name="connsiteX119" fmla="*/ 566755 w 3313402"/>
              <a:gd name="connsiteY119" fmla="*/ 565581 h 2948047"/>
              <a:gd name="connsiteX120" fmla="*/ 592570 w 3313402"/>
              <a:gd name="connsiteY120" fmla="*/ 544460 h 2948047"/>
              <a:gd name="connsiteX121" fmla="*/ 620733 w 3313402"/>
              <a:gd name="connsiteY121" fmla="*/ 526859 h 2948047"/>
              <a:gd name="connsiteX122" fmla="*/ 652413 w 3313402"/>
              <a:gd name="connsiteY122" fmla="*/ 512777 h 2948047"/>
              <a:gd name="connsiteX123" fmla="*/ 686443 w 3313402"/>
              <a:gd name="connsiteY123" fmla="*/ 501044 h 2948047"/>
              <a:gd name="connsiteX124" fmla="*/ 720472 w 3313402"/>
              <a:gd name="connsiteY124" fmla="*/ 490483 h 2948047"/>
              <a:gd name="connsiteX125" fmla="*/ 756848 w 3313402"/>
              <a:gd name="connsiteY125" fmla="*/ 481096 h 2948047"/>
              <a:gd name="connsiteX126" fmla="*/ 792049 w 3313402"/>
              <a:gd name="connsiteY126" fmla="*/ 471708 h 2948047"/>
              <a:gd name="connsiteX127" fmla="*/ 827252 w 3313402"/>
              <a:gd name="connsiteY127" fmla="*/ 461147 h 2948047"/>
              <a:gd name="connsiteX128" fmla="*/ 861280 w 3313402"/>
              <a:gd name="connsiteY128" fmla="*/ 449413 h 2948047"/>
              <a:gd name="connsiteX129" fmla="*/ 892962 w 3313402"/>
              <a:gd name="connsiteY129" fmla="*/ 435332 h 2948047"/>
              <a:gd name="connsiteX130" fmla="*/ 922297 w 3313402"/>
              <a:gd name="connsiteY130" fmla="*/ 418906 h 2948047"/>
              <a:gd name="connsiteX131" fmla="*/ 948112 w 3313402"/>
              <a:gd name="connsiteY131" fmla="*/ 397785 h 2948047"/>
              <a:gd name="connsiteX132" fmla="*/ 975101 w 3313402"/>
              <a:gd name="connsiteY132" fmla="*/ 374315 h 2948047"/>
              <a:gd name="connsiteX133" fmla="*/ 998569 w 3313402"/>
              <a:gd name="connsiteY133" fmla="*/ 347327 h 2948047"/>
              <a:gd name="connsiteX134" fmla="*/ 1020864 w 3313402"/>
              <a:gd name="connsiteY134" fmla="*/ 319166 h 2948047"/>
              <a:gd name="connsiteX135" fmla="*/ 1043158 w 3313402"/>
              <a:gd name="connsiteY135" fmla="*/ 289831 h 2948047"/>
              <a:gd name="connsiteX136" fmla="*/ 1065453 w 3313402"/>
              <a:gd name="connsiteY136" fmla="*/ 260495 h 2948047"/>
              <a:gd name="connsiteX137" fmla="*/ 1087747 w 3313402"/>
              <a:gd name="connsiteY137" fmla="*/ 232334 h 2948047"/>
              <a:gd name="connsiteX138" fmla="*/ 1112390 w 3313402"/>
              <a:gd name="connsiteY138" fmla="*/ 205346 h 2948047"/>
              <a:gd name="connsiteX139" fmla="*/ 1137030 w 3313402"/>
              <a:gd name="connsiteY139" fmla="*/ 181878 h 2948047"/>
              <a:gd name="connsiteX140" fmla="*/ 1165193 w 3313402"/>
              <a:gd name="connsiteY140" fmla="*/ 161930 h 2948047"/>
              <a:gd name="connsiteX141" fmla="*/ 1194528 w 3313402"/>
              <a:gd name="connsiteY141" fmla="*/ 146675 h 2948047"/>
              <a:gd name="connsiteX142" fmla="*/ 1229731 w 3313402"/>
              <a:gd name="connsiteY142" fmla="*/ 136115 h 2948047"/>
              <a:gd name="connsiteX143" fmla="*/ 1266106 w 3313402"/>
              <a:gd name="connsiteY143" fmla="*/ 131421 h 2948047"/>
              <a:gd name="connsiteX144" fmla="*/ 1303654 w 3313402"/>
              <a:gd name="connsiteY144" fmla="*/ 130247 h 2948047"/>
              <a:gd name="connsiteX145" fmla="*/ 1343549 w 3313402"/>
              <a:gd name="connsiteY145" fmla="*/ 133769 h 2948047"/>
              <a:gd name="connsiteX146" fmla="*/ 1383446 w 3313402"/>
              <a:gd name="connsiteY146" fmla="*/ 138462 h 2948047"/>
              <a:gd name="connsiteX147" fmla="*/ 1423342 w 3313402"/>
              <a:gd name="connsiteY147" fmla="*/ 144329 h 2948047"/>
              <a:gd name="connsiteX148" fmla="*/ 1463237 w 3313402"/>
              <a:gd name="connsiteY148" fmla="*/ 149023 h 2948047"/>
              <a:gd name="connsiteX149" fmla="*/ 1503133 w 3313402"/>
              <a:gd name="connsiteY149" fmla="*/ 151369 h 2948047"/>
              <a:gd name="connsiteX150" fmla="*/ 1541856 w 3313402"/>
              <a:gd name="connsiteY150" fmla="*/ 151369 h 2948047"/>
              <a:gd name="connsiteX151" fmla="*/ 1578232 w 3313402"/>
              <a:gd name="connsiteY151" fmla="*/ 146675 h 2948047"/>
              <a:gd name="connsiteX152" fmla="*/ 1614608 w 3313402"/>
              <a:gd name="connsiteY152" fmla="*/ 137288 h 2948047"/>
              <a:gd name="connsiteX153" fmla="*/ 1649810 w 3313402"/>
              <a:gd name="connsiteY153" fmla="*/ 123208 h 2948047"/>
              <a:gd name="connsiteX154" fmla="*/ 1685011 w 3313402"/>
              <a:gd name="connsiteY154" fmla="*/ 104433 h 2948047"/>
              <a:gd name="connsiteX155" fmla="*/ 1720214 w 3313402"/>
              <a:gd name="connsiteY155" fmla="*/ 85659 h 2948047"/>
              <a:gd name="connsiteX156" fmla="*/ 1755415 w 3313402"/>
              <a:gd name="connsiteY156" fmla="*/ 64537 h 2948047"/>
              <a:gd name="connsiteX157" fmla="*/ 1789445 w 3313402"/>
              <a:gd name="connsiteY157" fmla="*/ 44589 h 2948047"/>
              <a:gd name="connsiteX158" fmla="*/ 1825821 w 3313402"/>
              <a:gd name="connsiteY158" fmla="*/ 26988 h 2948047"/>
              <a:gd name="connsiteX159" fmla="*/ 1861022 w 3313402"/>
              <a:gd name="connsiteY159" fmla="*/ 12907 h 2948047"/>
              <a:gd name="connsiteX160" fmla="*/ 1897398 w 3313402"/>
              <a:gd name="connsiteY160" fmla="*/ 3519 h 294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3313402" h="2948047">
                <a:moveTo>
                  <a:pt x="1934947" y="0"/>
                </a:moveTo>
                <a:lnTo>
                  <a:pt x="1972495" y="3519"/>
                </a:lnTo>
                <a:lnTo>
                  <a:pt x="2008871" y="12907"/>
                </a:lnTo>
                <a:lnTo>
                  <a:pt x="2044074" y="26988"/>
                </a:lnTo>
                <a:lnTo>
                  <a:pt x="2080448" y="44589"/>
                </a:lnTo>
                <a:lnTo>
                  <a:pt x="2114478" y="64537"/>
                </a:lnTo>
                <a:lnTo>
                  <a:pt x="2149681" y="85659"/>
                </a:lnTo>
                <a:lnTo>
                  <a:pt x="2184882" y="104433"/>
                </a:lnTo>
                <a:lnTo>
                  <a:pt x="2220084" y="123208"/>
                </a:lnTo>
                <a:lnTo>
                  <a:pt x="2254113" y="137288"/>
                </a:lnTo>
                <a:lnTo>
                  <a:pt x="2291662" y="146675"/>
                </a:lnTo>
                <a:lnTo>
                  <a:pt x="2328037" y="151369"/>
                </a:lnTo>
                <a:lnTo>
                  <a:pt x="2366759" y="151369"/>
                </a:lnTo>
                <a:lnTo>
                  <a:pt x="2406656" y="149023"/>
                </a:lnTo>
                <a:lnTo>
                  <a:pt x="2446551" y="144329"/>
                </a:lnTo>
                <a:lnTo>
                  <a:pt x="2486448" y="138462"/>
                </a:lnTo>
                <a:lnTo>
                  <a:pt x="2526343" y="133769"/>
                </a:lnTo>
                <a:lnTo>
                  <a:pt x="2566239" y="130247"/>
                </a:lnTo>
                <a:lnTo>
                  <a:pt x="2603787" y="131421"/>
                </a:lnTo>
                <a:lnTo>
                  <a:pt x="2640163" y="136115"/>
                </a:lnTo>
                <a:lnTo>
                  <a:pt x="2675366" y="146675"/>
                </a:lnTo>
                <a:lnTo>
                  <a:pt x="2704702" y="161930"/>
                </a:lnTo>
                <a:lnTo>
                  <a:pt x="2732862" y="181878"/>
                </a:lnTo>
                <a:lnTo>
                  <a:pt x="2757504" y="205346"/>
                </a:lnTo>
                <a:lnTo>
                  <a:pt x="2782146" y="232334"/>
                </a:lnTo>
                <a:lnTo>
                  <a:pt x="2804440" y="260495"/>
                </a:lnTo>
                <a:lnTo>
                  <a:pt x="2826735" y="289831"/>
                </a:lnTo>
                <a:lnTo>
                  <a:pt x="2849030" y="319166"/>
                </a:lnTo>
                <a:lnTo>
                  <a:pt x="2871324" y="347327"/>
                </a:lnTo>
                <a:lnTo>
                  <a:pt x="2894793" y="374315"/>
                </a:lnTo>
                <a:lnTo>
                  <a:pt x="2921781" y="397785"/>
                </a:lnTo>
                <a:lnTo>
                  <a:pt x="2947597" y="418906"/>
                </a:lnTo>
                <a:lnTo>
                  <a:pt x="2976931" y="435332"/>
                </a:lnTo>
                <a:lnTo>
                  <a:pt x="3008614" y="449413"/>
                </a:lnTo>
                <a:lnTo>
                  <a:pt x="3042641" y="461147"/>
                </a:lnTo>
                <a:lnTo>
                  <a:pt x="3077843" y="471708"/>
                </a:lnTo>
                <a:lnTo>
                  <a:pt x="3113046" y="481096"/>
                </a:lnTo>
                <a:lnTo>
                  <a:pt x="3149422" y="490483"/>
                </a:lnTo>
                <a:lnTo>
                  <a:pt x="3183450" y="501044"/>
                </a:lnTo>
                <a:lnTo>
                  <a:pt x="3217478" y="512777"/>
                </a:lnTo>
                <a:lnTo>
                  <a:pt x="3249161" y="526859"/>
                </a:lnTo>
                <a:lnTo>
                  <a:pt x="3277323" y="544460"/>
                </a:lnTo>
                <a:lnTo>
                  <a:pt x="3303139" y="565581"/>
                </a:lnTo>
                <a:lnTo>
                  <a:pt x="3313402" y="578126"/>
                </a:lnTo>
                <a:lnTo>
                  <a:pt x="3313402" y="2948047"/>
                </a:lnTo>
                <a:lnTo>
                  <a:pt x="422306" y="2948047"/>
                </a:lnTo>
                <a:lnTo>
                  <a:pt x="420079" y="2944070"/>
                </a:lnTo>
                <a:lnTo>
                  <a:pt x="398960" y="2918255"/>
                </a:lnTo>
                <a:lnTo>
                  <a:pt x="375490" y="2891267"/>
                </a:lnTo>
                <a:lnTo>
                  <a:pt x="348502" y="2867799"/>
                </a:lnTo>
                <a:lnTo>
                  <a:pt x="319166" y="2845505"/>
                </a:lnTo>
                <a:lnTo>
                  <a:pt x="289832" y="2823210"/>
                </a:lnTo>
                <a:lnTo>
                  <a:pt x="260497" y="2800916"/>
                </a:lnTo>
                <a:lnTo>
                  <a:pt x="232334" y="2778620"/>
                </a:lnTo>
                <a:lnTo>
                  <a:pt x="205346" y="2753979"/>
                </a:lnTo>
                <a:lnTo>
                  <a:pt x="181878" y="2729338"/>
                </a:lnTo>
                <a:lnTo>
                  <a:pt x="161931" y="2701176"/>
                </a:lnTo>
                <a:lnTo>
                  <a:pt x="146677" y="2671841"/>
                </a:lnTo>
                <a:lnTo>
                  <a:pt x="136116" y="2636640"/>
                </a:lnTo>
                <a:lnTo>
                  <a:pt x="131422" y="2600264"/>
                </a:lnTo>
                <a:lnTo>
                  <a:pt x="130248" y="2562713"/>
                </a:lnTo>
                <a:lnTo>
                  <a:pt x="133769" y="2522818"/>
                </a:lnTo>
                <a:lnTo>
                  <a:pt x="138462" y="2482923"/>
                </a:lnTo>
                <a:lnTo>
                  <a:pt x="144329" y="2443026"/>
                </a:lnTo>
                <a:lnTo>
                  <a:pt x="149023" y="2403131"/>
                </a:lnTo>
                <a:lnTo>
                  <a:pt x="151371" y="2363236"/>
                </a:lnTo>
                <a:lnTo>
                  <a:pt x="151371" y="2324513"/>
                </a:lnTo>
                <a:lnTo>
                  <a:pt x="146677" y="2288138"/>
                </a:lnTo>
                <a:lnTo>
                  <a:pt x="137289" y="2251763"/>
                </a:lnTo>
                <a:lnTo>
                  <a:pt x="123208" y="2217733"/>
                </a:lnTo>
                <a:lnTo>
                  <a:pt x="105607" y="2182531"/>
                </a:lnTo>
                <a:lnTo>
                  <a:pt x="85659" y="2147330"/>
                </a:lnTo>
                <a:lnTo>
                  <a:pt x="64538" y="2112127"/>
                </a:lnTo>
                <a:lnTo>
                  <a:pt x="44590" y="2078098"/>
                </a:lnTo>
                <a:lnTo>
                  <a:pt x="26988" y="2041723"/>
                </a:lnTo>
                <a:lnTo>
                  <a:pt x="12908" y="2006521"/>
                </a:lnTo>
                <a:lnTo>
                  <a:pt x="3521" y="1970145"/>
                </a:lnTo>
                <a:lnTo>
                  <a:pt x="0" y="1932596"/>
                </a:lnTo>
                <a:lnTo>
                  <a:pt x="3521" y="1895048"/>
                </a:lnTo>
                <a:lnTo>
                  <a:pt x="12908" y="1858672"/>
                </a:lnTo>
                <a:lnTo>
                  <a:pt x="26988" y="1823470"/>
                </a:lnTo>
                <a:lnTo>
                  <a:pt x="44590" y="1787095"/>
                </a:lnTo>
                <a:lnTo>
                  <a:pt x="64538" y="1753065"/>
                </a:lnTo>
                <a:lnTo>
                  <a:pt x="85659" y="1717864"/>
                </a:lnTo>
                <a:lnTo>
                  <a:pt x="105607" y="1682661"/>
                </a:lnTo>
                <a:lnTo>
                  <a:pt x="123208" y="1647460"/>
                </a:lnTo>
                <a:lnTo>
                  <a:pt x="137289" y="1613430"/>
                </a:lnTo>
                <a:lnTo>
                  <a:pt x="146677" y="1577054"/>
                </a:lnTo>
                <a:lnTo>
                  <a:pt x="151371" y="1540680"/>
                </a:lnTo>
                <a:lnTo>
                  <a:pt x="151371" y="1501958"/>
                </a:lnTo>
                <a:lnTo>
                  <a:pt x="149023" y="1462061"/>
                </a:lnTo>
                <a:lnTo>
                  <a:pt x="144329" y="1422166"/>
                </a:lnTo>
                <a:lnTo>
                  <a:pt x="138462" y="1382269"/>
                </a:lnTo>
                <a:lnTo>
                  <a:pt x="133769" y="1342374"/>
                </a:lnTo>
                <a:lnTo>
                  <a:pt x="130248" y="1302479"/>
                </a:lnTo>
                <a:lnTo>
                  <a:pt x="131422" y="1264930"/>
                </a:lnTo>
                <a:lnTo>
                  <a:pt x="136116" y="1228554"/>
                </a:lnTo>
                <a:lnTo>
                  <a:pt x="146677" y="1193352"/>
                </a:lnTo>
                <a:lnTo>
                  <a:pt x="161931" y="1164017"/>
                </a:lnTo>
                <a:lnTo>
                  <a:pt x="181878" y="1135856"/>
                </a:lnTo>
                <a:lnTo>
                  <a:pt x="205346" y="1111214"/>
                </a:lnTo>
                <a:lnTo>
                  <a:pt x="232334" y="1086573"/>
                </a:lnTo>
                <a:lnTo>
                  <a:pt x="260497" y="1064277"/>
                </a:lnTo>
                <a:lnTo>
                  <a:pt x="289832" y="1041982"/>
                </a:lnTo>
                <a:lnTo>
                  <a:pt x="319166" y="1019688"/>
                </a:lnTo>
                <a:lnTo>
                  <a:pt x="348502" y="997393"/>
                </a:lnTo>
                <a:lnTo>
                  <a:pt x="375490" y="973926"/>
                </a:lnTo>
                <a:lnTo>
                  <a:pt x="398960" y="946938"/>
                </a:lnTo>
                <a:lnTo>
                  <a:pt x="420079" y="921122"/>
                </a:lnTo>
                <a:lnTo>
                  <a:pt x="436507" y="891788"/>
                </a:lnTo>
                <a:lnTo>
                  <a:pt x="450588" y="860106"/>
                </a:lnTo>
                <a:lnTo>
                  <a:pt x="462322" y="826076"/>
                </a:lnTo>
                <a:lnTo>
                  <a:pt x="472883" y="790874"/>
                </a:lnTo>
                <a:lnTo>
                  <a:pt x="482271" y="755672"/>
                </a:lnTo>
                <a:lnTo>
                  <a:pt x="491658" y="719297"/>
                </a:lnTo>
                <a:lnTo>
                  <a:pt x="502219" y="685268"/>
                </a:lnTo>
                <a:lnTo>
                  <a:pt x="513952" y="651238"/>
                </a:lnTo>
                <a:lnTo>
                  <a:pt x="528034" y="619558"/>
                </a:lnTo>
                <a:lnTo>
                  <a:pt x="545635" y="591396"/>
                </a:lnTo>
                <a:lnTo>
                  <a:pt x="566755" y="565581"/>
                </a:lnTo>
                <a:lnTo>
                  <a:pt x="592570" y="544460"/>
                </a:lnTo>
                <a:lnTo>
                  <a:pt x="620733" y="526859"/>
                </a:lnTo>
                <a:lnTo>
                  <a:pt x="652413" y="512777"/>
                </a:lnTo>
                <a:lnTo>
                  <a:pt x="686443" y="501044"/>
                </a:lnTo>
                <a:lnTo>
                  <a:pt x="720472" y="490483"/>
                </a:lnTo>
                <a:lnTo>
                  <a:pt x="756848" y="481096"/>
                </a:lnTo>
                <a:lnTo>
                  <a:pt x="792049" y="471708"/>
                </a:lnTo>
                <a:lnTo>
                  <a:pt x="827252" y="461147"/>
                </a:lnTo>
                <a:lnTo>
                  <a:pt x="861280" y="449413"/>
                </a:lnTo>
                <a:lnTo>
                  <a:pt x="892962" y="435332"/>
                </a:lnTo>
                <a:lnTo>
                  <a:pt x="922297" y="418906"/>
                </a:lnTo>
                <a:lnTo>
                  <a:pt x="948112" y="397785"/>
                </a:lnTo>
                <a:lnTo>
                  <a:pt x="975101" y="374315"/>
                </a:lnTo>
                <a:lnTo>
                  <a:pt x="998569" y="347327"/>
                </a:lnTo>
                <a:lnTo>
                  <a:pt x="1020864" y="319166"/>
                </a:lnTo>
                <a:lnTo>
                  <a:pt x="1043158" y="289831"/>
                </a:lnTo>
                <a:lnTo>
                  <a:pt x="1065453" y="260495"/>
                </a:lnTo>
                <a:lnTo>
                  <a:pt x="1087747" y="232334"/>
                </a:lnTo>
                <a:lnTo>
                  <a:pt x="1112390" y="205346"/>
                </a:lnTo>
                <a:lnTo>
                  <a:pt x="1137030" y="181878"/>
                </a:lnTo>
                <a:lnTo>
                  <a:pt x="1165193" y="161930"/>
                </a:lnTo>
                <a:lnTo>
                  <a:pt x="1194528" y="146675"/>
                </a:lnTo>
                <a:lnTo>
                  <a:pt x="1229731" y="136115"/>
                </a:lnTo>
                <a:lnTo>
                  <a:pt x="1266106" y="131421"/>
                </a:lnTo>
                <a:lnTo>
                  <a:pt x="1303654" y="130247"/>
                </a:lnTo>
                <a:lnTo>
                  <a:pt x="1343549" y="133769"/>
                </a:lnTo>
                <a:lnTo>
                  <a:pt x="1383446" y="138462"/>
                </a:lnTo>
                <a:lnTo>
                  <a:pt x="1423342" y="144329"/>
                </a:lnTo>
                <a:lnTo>
                  <a:pt x="1463237" y="149023"/>
                </a:lnTo>
                <a:lnTo>
                  <a:pt x="1503133" y="151369"/>
                </a:lnTo>
                <a:lnTo>
                  <a:pt x="1541856" y="151369"/>
                </a:lnTo>
                <a:lnTo>
                  <a:pt x="1578232" y="146675"/>
                </a:lnTo>
                <a:lnTo>
                  <a:pt x="1614608" y="137288"/>
                </a:lnTo>
                <a:lnTo>
                  <a:pt x="1649810" y="123208"/>
                </a:lnTo>
                <a:lnTo>
                  <a:pt x="1685011" y="104433"/>
                </a:lnTo>
                <a:lnTo>
                  <a:pt x="1720214" y="85659"/>
                </a:lnTo>
                <a:lnTo>
                  <a:pt x="1755415" y="64537"/>
                </a:lnTo>
                <a:lnTo>
                  <a:pt x="1789445" y="44589"/>
                </a:lnTo>
                <a:lnTo>
                  <a:pt x="1825821" y="26988"/>
                </a:lnTo>
                <a:lnTo>
                  <a:pt x="1861022" y="12907"/>
                </a:lnTo>
                <a:lnTo>
                  <a:pt x="1897398" y="351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E2E6A6E-803E-4838-AD5C-113793CC2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7890" y="4009102"/>
            <a:ext cx="3214111" cy="2848897"/>
          </a:xfrm>
          <a:custGeom>
            <a:avLst/>
            <a:gdLst>
              <a:gd name="connsiteX0" fmla="*/ 1835656 w 3214111"/>
              <a:gd name="connsiteY0" fmla="*/ 0 h 2848897"/>
              <a:gd name="connsiteX1" fmla="*/ 1871276 w 3214111"/>
              <a:gd name="connsiteY1" fmla="*/ 3339 h 2848897"/>
              <a:gd name="connsiteX2" fmla="*/ 1905787 w 3214111"/>
              <a:gd name="connsiteY2" fmla="*/ 12245 h 2848897"/>
              <a:gd name="connsiteX3" fmla="*/ 1939183 w 3214111"/>
              <a:gd name="connsiteY3" fmla="*/ 25604 h 2848897"/>
              <a:gd name="connsiteX4" fmla="*/ 1973690 w 3214111"/>
              <a:gd name="connsiteY4" fmla="*/ 42302 h 2848897"/>
              <a:gd name="connsiteX5" fmla="*/ 2005974 w 3214111"/>
              <a:gd name="connsiteY5" fmla="*/ 61227 h 2848897"/>
              <a:gd name="connsiteX6" fmla="*/ 2039370 w 3214111"/>
              <a:gd name="connsiteY6" fmla="*/ 81264 h 2848897"/>
              <a:gd name="connsiteX7" fmla="*/ 2072765 w 3214111"/>
              <a:gd name="connsiteY7" fmla="*/ 99075 h 2848897"/>
              <a:gd name="connsiteX8" fmla="*/ 2106161 w 3214111"/>
              <a:gd name="connsiteY8" fmla="*/ 116887 h 2848897"/>
              <a:gd name="connsiteX9" fmla="*/ 2138444 w 3214111"/>
              <a:gd name="connsiteY9" fmla="*/ 130245 h 2848897"/>
              <a:gd name="connsiteX10" fmla="*/ 2174066 w 3214111"/>
              <a:gd name="connsiteY10" fmla="*/ 139150 h 2848897"/>
              <a:gd name="connsiteX11" fmla="*/ 2208575 w 3214111"/>
              <a:gd name="connsiteY11" fmla="*/ 143604 h 2848897"/>
              <a:gd name="connsiteX12" fmla="*/ 2245310 w 3214111"/>
              <a:gd name="connsiteY12" fmla="*/ 143604 h 2848897"/>
              <a:gd name="connsiteX13" fmla="*/ 2283159 w 3214111"/>
              <a:gd name="connsiteY13" fmla="*/ 141378 h 2848897"/>
              <a:gd name="connsiteX14" fmla="*/ 2321007 w 3214111"/>
              <a:gd name="connsiteY14" fmla="*/ 136924 h 2848897"/>
              <a:gd name="connsiteX15" fmla="*/ 2358857 w 3214111"/>
              <a:gd name="connsiteY15" fmla="*/ 131359 h 2848897"/>
              <a:gd name="connsiteX16" fmla="*/ 2396705 w 3214111"/>
              <a:gd name="connsiteY16" fmla="*/ 126906 h 2848897"/>
              <a:gd name="connsiteX17" fmla="*/ 2434554 w 3214111"/>
              <a:gd name="connsiteY17" fmla="*/ 123565 h 2848897"/>
              <a:gd name="connsiteX18" fmla="*/ 2470175 w 3214111"/>
              <a:gd name="connsiteY18" fmla="*/ 124678 h 2848897"/>
              <a:gd name="connsiteX19" fmla="*/ 2504683 w 3214111"/>
              <a:gd name="connsiteY19" fmla="*/ 129132 h 2848897"/>
              <a:gd name="connsiteX20" fmla="*/ 2538079 w 3214111"/>
              <a:gd name="connsiteY20" fmla="*/ 139150 h 2848897"/>
              <a:gd name="connsiteX21" fmla="*/ 2565910 w 3214111"/>
              <a:gd name="connsiteY21" fmla="*/ 153622 h 2848897"/>
              <a:gd name="connsiteX22" fmla="*/ 2592625 w 3214111"/>
              <a:gd name="connsiteY22" fmla="*/ 172547 h 2848897"/>
              <a:gd name="connsiteX23" fmla="*/ 2616003 w 3214111"/>
              <a:gd name="connsiteY23" fmla="*/ 194811 h 2848897"/>
              <a:gd name="connsiteX24" fmla="*/ 2639380 w 3214111"/>
              <a:gd name="connsiteY24" fmla="*/ 220414 h 2848897"/>
              <a:gd name="connsiteX25" fmla="*/ 2660531 w 3214111"/>
              <a:gd name="connsiteY25" fmla="*/ 247131 h 2848897"/>
              <a:gd name="connsiteX26" fmla="*/ 2681682 w 3214111"/>
              <a:gd name="connsiteY26" fmla="*/ 274961 h 2848897"/>
              <a:gd name="connsiteX27" fmla="*/ 2702832 w 3214111"/>
              <a:gd name="connsiteY27" fmla="*/ 302791 h 2848897"/>
              <a:gd name="connsiteX28" fmla="*/ 2723982 w 3214111"/>
              <a:gd name="connsiteY28" fmla="*/ 329509 h 2848897"/>
              <a:gd name="connsiteX29" fmla="*/ 2746247 w 3214111"/>
              <a:gd name="connsiteY29" fmla="*/ 355112 h 2848897"/>
              <a:gd name="connsiteX30" fmla="*/ 2771851 w 3214111"/>
              <a:gd name="connsiteY30" fmla="*/ 377377 h 2848897"/>
              <a:gd name="connsiteX31" fmla="*/ 2796341 w 3214111"/>
              <a:gd name="connsiteY31" fmla="*/ 397415 h 2848897"/>
              <a:gd name="connsiteX32" fmla="*/ 2824171 w 3214111"/>
              <a:gd name="connsiteY32" fmla="*/ 412999 h 2848897"/>
              <a:gd name="connsiteX33" fmla="*/ 2854227 w 3214111"/>
              <a:gd name="connsiteY33" fmla="*/ 426357 h 2848897"/>
              <a:gd name="connsiteX34" fmla="*/ 2886509 w 3214111"/>
              <a:gd name="connsiteY34" fmla="*/ 437489 h 2848897"/>
              <a:gd name="connsiteX35" fmla="*/ 2919904 w 3214111"/>
              <a:gd name="connsiteY35" fmla="*/ 447507 h 2848897"/>
              <a:gd name="connsiteX36" fmla="*/ 2953300 w 3214111"/>
              <a:gd name="connsiteY36" fmla="*/ 456413 h 2848897"/>
              <a:gd name="connsiteX37" fmla="*/ 2987809 w 3214111"/>
              <a:gd name="connsiteY37" fmla="*/ 465320 h 2848897"/>
              <a:gd name="connsiteX38" fmla="*/ 3020092 w 3214111"/>
              <a:gd name="connsiteY38" fmla="*/ 475338 h 2848897"/>
              <a:gd name="connsiteX39" fmla="*/ 3052373 w 3214111"/>
              <a:gd name="connsiteY39" fmla="*/ 486470 h 2848897"/>
              <a:gd name="connsiteX40" fmla="*/ 3082430 w 3214111"/>
              <a:gd name="connsiteY40" fmla="*/ 499829 h 2848897"/>
              <a:gd name="connsiteX41" fmla="*/ 3109148 w 3214111"/>
              <a:gd name="connsiteY41" fmla="*/ 516527 h 2848897"/>
              <a:gd name="connsiteX42" fmla="*/ 3133639 w 3214111"/>
              <a:gd name="connsiteY42" fmla="*/ 536565 h 2848897"/>
              <a:gd name="connsiteX43" fmla="*/ 3153674 w 3214111"/>
              <a:gd name="connsiteY43" fmla="*/ 561055 h 2848897"/>
              <a:gd name="connsiteX44" fmla="*/ 3170373 w 3214111"/>
              <a:gd name="connsiteY44" fmla="*/ 587772 h 2848897"/>
              <a:gd name="connsiteX45" fmla="*/ 3183731 w 3214111"/>
              <a:gd name="connsiteY45" fmla="*/ 617827 h 2848897"/>
              <a:gd name="connsiteX46" fmla="*/ 3194863 w 3214111"/>
              <a:gd name="connsiteY46" fmla="*/ 650112 h 2848897"/>
              <a:gd name="connsiteX47" fmla="*/ 3204881 w 3214111"/>
              <a:gd name="connsiteY47" fmla="*/ 682393 h 2848897"/>
              <a:gd name="connsiteX48" fmla="*/ 3213788 w 3214111"/>
              <a:gd name="connsiteY48" fmla="*/ 716904 h 2848897"/>
              <a:gd name="connsiteX49" fmla="*/ 3214111 w 3214111"/>
              <a:gd name="connsiteY49" fmla="*/ 718115 h 2848897"/>
              <a:gd name="connsiteX50" fmla="*/ 3214111 w 3214111"/>
              <a:gd name="connsiteY50" fmla="*/ 2848897 h 2848897"/>
              <a:gd name="connsiteX51" fmla="*/ 426570 w 3214111"/>
              <a:gd name="connsiteY51" fmla="*/ 2848897 h 2848897"/>
              <a:gd name="connsiteX52" fmla="*/ 414108 w 3214111"/>
              <a:gd name="connsiteY52" fmla="*/ 2820857 h 2848897"/>
              <a:gd name="connsiteX53" fmla="*/ 398524 w 3214111"/>
              <a:gd name="connsiteY53" fmla="*/ 2793028 h 2848897"/>
              <a:gd name="connsiteX54" fmla="*/ 378487 w 3214111"/>
              <a:gd name="connsiteY54" fmla="*/ 2768537 h 2848897"/>
              <a:gd name="connsiteX55" fmla="*/ 356222 w 3214111"/>
              <a:gd name="connsiteY55" fmla="*/ 2742933 h 2848897"/>
              <a:gd name="connsiteX56" fmla="*/ 330619 w 3214111"/>
              <a:gd name="connsiteY56" fmla="*/ 2720669 h 2848897"/>
              <a:gd name="connsiteX57" fmla="*/ 302788 w 3214111"/>
              <a:gd name="connsiteY57" fmla="*/ 2699519 h 2848897"/>
              <a:gd name="connsiteX58" fmla="*/ 274959 w 3214111"/>
              <a:gd name="connsiteY58" fmla="*/ 2678368 h 2848897"/>
              <a:gd name="connsiteX59" fmla="*/ 247130 w 3214111"/>
              <a:gd name="connsiteY59" fmla="*/ 2657218 h 2848897"/>
              <a:gd name="connsiteX60" fmla="*/ 220413 w 3214111"/>
              <a:gd name="connsiteY60" fmla="*/ 2636065 h 2848897"/>
              <a:gd name="connsiteX61" fmla="*/ 194809 w 3214111"/>
              <a:gd name="connsiteY61" fmla="*/ 2612689 h 2848897"/>
              <a:gd name="connsiteX62" fmla="*/ 172546 w 3214111"/>
              <a:gd name="connsiteY62" fmla="*/ 2589312 h 2848897"/>
              <a:gd name="connsiteX63" fmla="*/ 153622 w 3214111"/>
              <a:gd name="connsiteY63" fmla="*/ 2562594 h 2848897"/>
              <a:gd name="connsiteX64" fmla="*/ 139150 w 3214111"/>
              <a:gd name="connsiteY64" fmla="*/ 2534764 h 2848897"/>
              <a:gd name="connsiteX65" fmla="*/ 129132 w 3214111"/>
              <a:gd name="connsiteY65" fmla="*/ 2501370 h 2848897"/>
              <a:gd name="connsiteX66" fmla="*/ 124678 w 3214111"/>
              <a:gd name="connsiteY66" fmla="*/ 2466860 h 2848897"/>
              <a:gd name="connsiteX67" fmla="*/ 123564 w 3214111"/>
              <a:gd name="connsiteY67" fmla="*/ 2431236 h 2848897"/>
              <a:gd name="connsiteX68" fmla="*/ 126904 w 3214111"/>
              <a:gd name="connsiteY68" fmla="*/ 2393388 h 2848897"/>
              <a:gd name="connsiteX69" fmla="*/ 131358 w 3214111"/>
              <a:gd name="connsiteY69" fmla="*/ 2355539 h 2848897"/>
              <a:gd name="connsiteX70" fmla="*/ 136923 w 3214111"/>
              <a:gd name="connsiteY70" fmla="*/ 2317690 h 2848897"/>
              <a:gd name="connsiteX71" fmla="*/ 141376 w 3214111"/>
              <a:gd name="connsiteY71" fmla="*/ 2279842 h 2848897"/>
              <a:gd name="connsiteX72" fmla="*/ 143604 w 3214111"/>
              <a:gd name="connsiteY72" fmla="*/ 2241992 h 2848897"/>
              <a:gd name="connsiteX73" fmla="*/ 143604 w 3214111"/>
              <a:gd name="connsiteY73" fmla="*/ 2205256 h 2848897"/>
              <a:gd name="connsiteX74" fmla="*/ 139150 w 3214111"/>
              <a:gd name="connsiteY74" fmla="*/ 2170747 h 2848897"/>
              <a:gd name="connsiteX75" fmla="*/ 130245 w 3214111"/>
              <a:gd name="connsiteY75" fmla="*/ 2136238 h 2848897"/>
              <a:gd name="connsiteX76" fmla="*/ 116886 w 3214111"/>
              <a:gd name="connsiteY76" fmla="*/ 2103954 h 2848897"/>
              <a:gd name="connsiteX77" fmla="*/ 100188 w 3214111"/>
              <a:gd name="connsiteY77" fmla="*/ 2070559 h 2848897"/>
              <a:gd name="connsiteX78" fmla="*/ 81264 w 3214111"/>
              <a:gd name="connsiteY78" fmla="*/ 2037163 h 2848897"/>
              <a:gd name="connsiteX79" fmla="*/ 61227 w 3214111"/>
              <a:gd name="connsiteY79" fmla="*/ 2003766 h 2848897"/>
              <a:gd name="connsiteX80" fmla="*/ 42303 w 3214111"/>
              <a:gd name="connsiteY80" fmla="*/ 1971483 h 2848897"/>
              <a:gd name="connsiteX81" fmla="*/ 25603 w 3214111"/>
              <a:gd name="connsiteY81" fmla="*/ 1936974 h 2848897"/>
              <a:gd name="connsiteX82" fmla="*/ 12246 w 3214111"/>
              <a:gd name="connsiteY82" fmla="*/ 1903578 h 2848897"/>
              <a:gd name="connsiteX83" fmla="*/ 3340 w 3214111"/>
              <a:gd name="connsiteY83" fmla="*/ 1869068 h 2848897"/>
              <a:gd name="connsiteX84" fmla="*/ 0 w 3214111"/>
              <a:gd name="connsiteY84" fmla="*/ 1833446 h 2848897"/>
              <a:gd name="connsiteX85" fmla="*/ 3340 w 3214111"/>
              <a:gd name="connsiteY85" fmla="*/ 1797824 h 2848897"/>
              <a:gd name="connsiteX86" fmla="*/ 12246 w 3214111"/>
              <a:gd name="connsiteY86" fmla="*/ 1763315 h 2848897"/>
              <a:gd name="connsiteX87" fmla="*/ 25603 w 3214111"/>
              <a:gd name="connsiteY87" fmla="*/ 1729918 h 2848897"/>
              <a:gd name="connsiteX88" fmla="*/ 42303 w 3214111"/>
              <a:gd name="connsiteY88" fmla="*/ 1695410 h 2848897"/>
              <a:gd name="connsiteX89" fmla="*/ 61227 w 3214111"/>
              <a:gd name="connsiteY89" fmla="*/ 1663126 h 2848897"/>
              <a:gd name="connsiteX90" fmla="*/ 81264 w 3214111"/>
              <a:gd name="connsiteY90" fmla="*/ 1629730 h 2848897"/>
              <a:gd name="connsiteX91" fmla="*/ 100188 w 3214111"/>
              <a:gd name="connsiteY91" fmla="*/ 1596334 h 2848897"/>
              <a:gd name="connsiteX92" fmla="*/ 116886 w 3214111"/>
              <a:gd name="connsiteY92" fmla="*/ 1562938 h 2848897"/>
              <a:gd name="connsiteX93" fmla="*/ 130245 w 3214111"/>
              <a:gd name="connsiteY93" fmla="*/ 1530654 h 2848897"/>
              <a:gd name="connsiteX94" fmla="*/ 139150 w 3214111"/>
              <a:gd name="connsiteY94" fmla="*/ 1496145 h 2848897"/>
              <a:gd name="connsiteX95" fmla="*/ 143604 w 3214111"/>
              <a:gd name="connsiteY95" fmla="*/ 1461636 h 2848897"/>
              <a:gd name="connsiteX96" fmla="*/ 143604 w 3214111"/>
              <a:gd name="connsiteY96" fmla="*/ 1424901 h 2848897"/>
              <a:gd name="connsiteX97" fmla="*/ 141376 w 3214111"/>
              <a:gd name="connsiteY97" fmla="*/ 1387052 h 2848897"/>
              <a:gd name="connsiteX98" fmla="*/ 136923 w 3214111"/>
              <a:gd name="connsiteY98" fmla="*/ 1349203 h 2848897"/>
              <a:gd name="connsiteX99" fmla="*/ 131358 w 3214111"/>
              <a:gd name="connsiteY99" fmla="*/ 1311353 h 2848897"/>
              <a:gd name="connsiteX100" fmla="*/ 126904 w 3214111"/>
              <a:gd name="connsiteY100" fmla="*/ 1273505 h 2848897"/>
              <a:gd name="connsiteX101" fmla="*/ 123564 w 3214111"/>
              <a:gd name="connsiteY101" fmla="*/ 1235657 h 2848897"/>
              <a:gd name="connsiteX102" fmla="*/ 124678 w 3214111"/>
              <a:gd name="connsiteY102" fmla="*/ 1200034 h 2848897"/>
              <a:gd name="connsiteX103" fmla="*/ 129132 w 3214111"/>
              <a:gd name="connsiteY103" fmla="*/ 1165525 h 2848897"/>
              <a:gd name="connsiteX104" fmla="*/ 139150 w 3214111"/>
              <a:gd name="connsiteY104" fmla="*/ 1132128 h 2848897"/>
              <a:gd name="connsiteX105" fmla="*/ 153622 w 3214111"/>
              <a:gd name="connsiteY105" fmla="*/ 1104298 h 2848897"/>
              <a:gd name="connsiteX106" fmla="*/ 172546 w 3214111"/>
              <a:gd name="connsiteY106" fmla="*/ 1077582 h 2848897"/>
              <a:gd name="connsiteX107" fmla="*/ 194809 w 3214111"/>
              <a:gd name="connsiteY107" fmla="*/ 1054204 h 2848897"/>
              <a:gd name="connsiteX108" fmla="*/ 220413 w 3214111"/>
              <a:gd name="connsiteY108" fmla="*/ 1030827 h 2848897"/>
              <a:gd name="connsiteX109" fmla="*/ 247130 w 3214111"/>
              <a:gd name="connsiteY109" fmla="*/ 1009676 h 2848897"/>
              <a:gd name="connsiteX110" fmla="*/ 274959 w 3214111"/>
              <a:gd name="connsiteY110" fmla="*/ 988524 h 2848897"/>
              <a:gd name="connsiteX111" fmla="*/ 302788 w 3214111"/>
              <a:gd name="connsiteY111" fmla="*/ 967374 h 2848897"/>
              <a:gd name="connsiteX112" fmla="*/ 330619 w 3214111"/>
              <a:gd name="connsiteY112" fmla="*/ 946223 h 2848897"/>
              <a:gd name="connsiteX113" fmla="*/ 356222 w 3214111"/>
              <a:gd name="connsiteY113" fmla="*/ 923960 h 2848897"/>
              <a:gd name="connsiteX114" fmla="*/ 378487 w 3214111"/>
              <a:gd name="connsiteY114" fmla="*/ 898356 h 2848897"/>
              <a:gd name="connsiteX115" fmla="*/ 398524 w 3214111"/>
              <a:gd name="connsiteY115" fmla="*/ 873865 h 2848897"/>
              <a:gd name="connsiteX116" fmla="*/ 414108 w 3214111"/>
              <a:gd name="connsiteY116" fmla="*/ 846035 h 2848897"/>
              <a:gd name="connsiteX117" fmla="*/ 427466 w 3214111"/>
              <a:gd name="connsiteY117" fmla="*/ 815980 h 2848897"/>
              <a:gd name="connsiteX118" fmla="*/ 438598 w 3214111"/>
              <a:gd name="connsiteY118" fmla="*/ 783695 h 2848897"/>
              <a:gd name="connsiteX119" fmla="*/ 448618 w 3214111"/>
              <a:gd name="connsiteY119" fmla="*/ 750298 h 2848897"/>
              <a:gd name="connsiteX120" fmla="*/ 457523 w 3214111"/>
              <a:gd name="connsiteY120" fmla="*/ 716904 h 2848897"/>
              <a:gd name="connsiteX121" fmla="*/ 466429 w 3214111"/>
              <a:gd name="connsiteY121" fmla="*/ 682393 h 2848897"/>
              <a:gd name="connsiteX122" fmla="*/ 476447 w 3214111"/>
              <a:gd name="connsiteY122" fmla="*/ 650112 h 2848897"/>
              <a:gd name="connsiteX123" fmla="*/ 487579 w 3214111"/>
              <a:gd name="connsiteY123" fmla="*/ 617827 h 2848897"/>
              <a:gd name="connsiteX124" fmla="*/ 500938 w 3214111"/>
              <a:gd name="connsiteY124" fmla="*/ 587772 h 2848897"/>
              <a:gd name="connsiteX125" fmla="*/ 517636 w 3214111"/>
              <a:gd name="connsiteY125" fmla="*/ 561055 h 2848897"/>
              <a:gd name="connsiteX126" fmla="*/ 537671 w 3214111"/>
              <a:gd name="connsiteY126" fmla="*/ 536565 h 2848897"/>
              <a:gd name="connsiteX127" fmla="*/ 562163 w 3214111"/>
              <a:gd name="connsiteY127" fmla="*/ 516527 h 2848897"/>
              <a:gd name="connsiteX128" fmla="*/ 588880 w 3214111"/>
              <a:gd name="connsiteY128" fmla="*/ 499829 h 2848897"/>
              <a:gd name="connsiteX129" fmla="*/ 618935 w 3214111"/>
              <a:gd name="connsiteY129" fmla="*/ 486470 h 2848897"/>
              <a:gd name="connsiteX130" fmla="*/ 651218 w 3214111"/>
              <a:gd name="connsiteY130" fmla="*/ 475338 h 2848897"/>
              <a:gd name="connsiteX131" fmla="*/ 683501 w 3214111"/>
              <a:gd name="connsiteY131" fmla="*/ 465320 h 2848897"/>
              <a:gd name="connsiteX132" fmla="*/ 718010 w 3214111"/>
              <a:gd name="connsiteY132" fmla="*/ 456413 h 2848897"/>
              <a:gd name="connsiteX133" fmla="*/ 751405 w 3214111"/>
              <a:gd name="connsiteY133" fmla="*/ 447507 h 2848897"/>
              <a:gd name="connsiteX134" fmla="*/ 784802 w 3214111"/>
              <a:gd name="connsiteY134" fmla="*/ 437489 h 2848897"/>
              <a:gd name="connsiteX135" fmla="*/ 817083 w 3214111"/>
              <a:gd name="connsiteY135" fmla="*/ 426357 h 2848897"/>
              <a:gd name="connsiteX136" fmla="*/ 847140 w 3214111"/>
              <a:gd name="connsiteY136" fmla="*/ 412999 h 2848897"/>
              <a:gd name="connsiteX137" fmla="*/ 874970 w 3214111"/>
              <a:gd name="connsiteY137" fmla="*/ 397415 h 2848897"/>
              <a:gd name="connsiteX138" fmla="*/ 899460 w 3214111"/>
              <a:gd name="connsiteY138" fmla="*/ 377377 h 2848897"/>
              <a:gd name="connsiteX139" fmla="*/ 925064 w 3214111"/>
              <a:gd name="connsiteY139" fmla="*/ 355112 h 2848897"/>
              <a:gd name="connsiteX140" fmla="*/ 947328 w 3214111"/>
              <a:gd name="connsiteY140" fmla="*/ 329509 h 2848897"/>
              <a:gd name="connsiteX141" fmla="*/ 968478 w 3214111"/>
              <a:gd name="connsiteY141" fmla="*/ 302791 h 2848897"/>
              <a:gd name="connsiteX142" fmla="*/ 989628 w 3214111"/>
              <a:gd name="connsiteY142" fmla="*/ 274961 h 2848897"/>
              <a:gd name="connsiteX143" fmla="*/ 1010780 w 3214111"/>
              <a:gd name="connsiteY143" fmla="*/ 247131 h 2848897"/>
              <a:gd name="connsiteX144" fmla="*/ 1031930 w 3214111"/>
              <a:gd name="connsiteY144" fmla="*/ 220414 h 2848897"/>
              <a:gd name="connsiteX145" fmla="*/ 1055307 w 3214111"/>
              <a:gd name="connsiteY145" fmla="*/ 194811 h 2848897"/>
              <a:gd name="connsiteX146" fmla="*/ 1078683 w 3214111"/>
              <a:gd name="connsiteY146" fmla="*/ 172547 h 2848897"/>
              <a:gd name="connsiteX147" fmla="*/ 1105401 w 3214111"/>
              <a:gd name="connsiteY147" fmla="*/ 153622 h 2848897"/>
              <a:gd name="connsiteX148" fmla="*/ 1133231 w 3214111"/>
              <a:gd name="connsiteY148" fmla="*/ 139150 h 2848897"/>
              <a:gd name="connsiteX149" fmla="*/ 1166627 w 3214111"/>
              <a:gd name="connsiteY149" fmla="*/ 129132 h 2848897"/>
              <a:gd name="connsiteX150" fmla="*/ 1201137 w 3214111"/>
              <a:gd name="connsiteY150" fmla="*/ 124678 h 2848897"/>
              <a:gd name="connsiteX151" fmla="*/ 1236757 w 3214111"/>
              <a:gd name="connsiteY151" fmla="*/ 123565 h 2848897"/>
              <a:gd name="connsiteX152" fmla="*/ 1274605 w 3214111"/>
              <a:gd name="connsiteY152" fmla="*/ 126906 h 2848897"/>
              <a:gd name="connsiteX153" fmla="*/ 1312455 w 3214111"/>
              <a:gd name="connsiteY153" fmla="*/ 131359 h 2848897"/>
              <a:gd name="connsiteX154" fmla="*/ 1350304 w 3214111"/>
              <a:gd name="connsiteY154" fmla="*/ 136924 h 2848897"/>
              <a:gd name="connsiteX155" fmla="*/ 1388152 w 3214111"/>
              <a:gd name="connsiteY155" fmla="*/ 141378 h 2848897"/>
              <a:gd name="connsiteX156" fmla="*/ 1426000 w 3214111"/>
              <a:gd name="connsiteY156" fmla="*/ 143604 h 2848897"/>
              <a:gd name="connsiteX157" fmla="*/ 1462737 w 3214111"/>
              <a:gd name="connsiteY157" fmla="*/ 143604 h 2848897"/>
              <a:gd name="connsiteX158" fmla="*/ 1497245 w 3214111"/>
              <a:gd name="connsiteY158" fmla="*/ 139150 h 2848897"/>
              <a:gd name="connsiteX159" fmla="*/ 1531755 w 3214111"/>
              <a:gd name="connsiteY159" fmla="*/ 130245 h 2848897"/>
              <a:gd name="connsiteX160" fmla="*/ 1565150 w 3214111"/>
              <a:gd name="connsiteY160" fmla="*/ 116887 h 2848897"/>
              <a:gd name="connsiteX161" fmla="*/ 1598545 w 3214111"/>
              <a:gd name="connsiteY161" fmla="*/ 99075 h 2848897"/>
              <a:gd name="connsiteX162" fmla="*/ 1631941 w 3214111"/>
              <a:gd name="connsiteY162" fmla="*/ 81264 h 2848897"/>
              <a:gd name="connsiteX163" fmla="*/ 1665337 w 3214111"/>
              <a:gd name="connsiteY163" fmla="*/ 61227 h 2848897"/>
              <a:gd name="connsiteX164" fmla="*/ 1697620 w 3214111"/>
              <a:gd name="connsiteY164" fmla="*/ 42302 h 2848897"/>
              <a:gd name="connsiteX165" fmla="*/ 1732129 w 3214111"/>
              <a:gd name="connsiteY165" fmla="*/ 25604 h 2848897"/>
              <a:gd name="connsiteX166" fmla="*/ 1765525 w 3214111"/>
              <a:gd name="connsiteY166" fmla="*/ 12245 h 2848897"/>
              <a:gd name="connsiteX167" fmla="*/ 1800034 w 3214111"/>
              <a:gd name="connsiteY167" fmla="*/ 3339 h 284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214111" h="2848897">
                <a:moveTo>
                  <a:pt x="1835656" y="0"/>
                </a:moveTo>
                <a:lnTo>
                  <a:pt x="1871276" y="3339"/>
                </a:lnTo>
                <a:lnTo>
                  <a:pt x="1905787" y="12245"/>
                </a:lnTo>
                <a:lnTo>
                  <a:pt x="1939183" y="25604"/>
                </a:lnTo>
                <a:lnTo>
                  <a:pt x="1973690" y="42302"/>
                </a:lnTo>
                <a:lnTo>
                  <a:pt x="2005974" y="61227"/>
                </a:lnTo>
                <a:lnTo>
                  <a:pt x="2039370" y="81264"/>
                </a:lnTo>
                <a:lnTo>
                  <a:pt x="2072765" y="99075"/>
                </a:lnTo>
                <a:lnTo>
                  <a:pt x="2106161" y="116887"/>
                </a:lnTo>
                <a:lnTo>
                  <a:pt x="2138444" y="130245"/>
                </a:lnTo>
                <a:lnTo>
                  <a:pt x="2174066" y="139150"/>
                </a:lnTo>
                <a:lnTo>
                  <a:pt x="2208575" y="143604"/>
                </a:lnTo>
                <a:lnTo>
                  <a:pt x="2245310" y="143604"/>
                </a:lnTo>
                <a:lnTo>
                  <a:pt x="2283159" y="141378"/>
                </a:lnTo>
                <a:lnTo>
                  <a:pt x="2321007" y="136924"/>
                </a:lnTo>
                <a:lnTo>
                  <a:pt x="2358857" y="131359"/>
                </a:lnTo>
                <a:lnTo>
                  <a:pt x="2396705" y="126906"/>
                </a:lnTo>
                <a:lnTo>
                  <a:pt x="2434554" y="123565"/>
                </a:lnTo>
                <a:lnTo>
                  <a:pt x="2470175" y="124678"/>
                </a:lnTo>
                <a:lnTo>
                  <a:pt x="2504683" y="129132"/>
                </a:lnTo>
                <a:lnTo>
                  <a:pt x="2538079" y="139150"/>
                </a:lnTo>
                <a:lnTo>
                  <a:pt x="2565910" y="153622"/>
                </a:lnTo>
                <a:lnTo>
                  <a:pt x="2592625" y="172547"/>
                </a:lnTo>
                <a:lnTo>
                  <a:pt x="2616003" y="194811"/>
                </a:lnTo>
                <a:lnTo>
                  <a:pt x="2639380" y="220414"/>
                </a:lnTo>
                <a:lnTo>
                  <a:pt x="2660531" y="247131"/>
                </a:lnTo>
                <a:lnTo>
                  <a:pt x="2681682" y="274961"/>
                </a:lnTo>
                <a:lnTo>
                  <a:pt x="2702832" y="302791"/>
                </a:lnTo>
                <a:lnTo>
                  <a:pt x="2723982" y="329509"/>
                </a:lnTo>
                <a:lnTo>
                  <a:pt x="2746247" y="355112"/>
                </a:lnTo>
                <a:lnTo>
                  <a:pt x="2771851" y="377377"/>
                </a:lnTo>
                <a:lnTo>
                  <a:pt x="2796341" y="397415"/>
                </a:lnTo>
                <a:lnTo>
                  <a:pt x="2824171" y="412999"/>
                </a:lnTo>
                <a:lnTo>
                  <a:pt x="2854227" y="426357"/>
                </a:lnTo>
                <a:lnTo>
                  <a:pt x="2886509" y="437489"/>
                </a:lnTo>
                <a:lnTo>
                  <a:pt x="2919904" y="447507"/>
                </a:lnTo>
                <a:lnTo>
                  <a:pt x="2953300" y="456413"/>
                </a:lnTo>
                <a:lnTo>
                  <a:pt x="2987809" y="465320"/>
                </a:lnTo>
                <a:lnTo>
                  <a:pt x="3020092" y="475338"/>
                </a:lnTo>
                <a:lnTo>
                  <a:pt x="3052373" y="486470"/>
                </a:lnTo>
                <a:lnTo>
                  <a:pt x="3082430" y="499829"/>
                </a:lnTo>
                <a:lnTo>
                  <a:pt x="3109148" y="516527"/>
                </a:lnTo>
                <a:lnTo>
                  <a:pt x="3133639" y="536565"/>
                </a:lnTo>
                <a:lnTo>
                  <a:pt x="3153674" y="561055"/>
                </a:lnTo>
                <a:lnTo>
                  <a:pt x="3170373" y="587772"/>
                </a:lnTo>
                <a:lnTo>
                  <a:pt x="3183731" y="617827"/>
                </a:lnTo>
                <a:lnTo>
                  <a:pt x="3194863" y="650112"/>
                </a:lnTo>
                <a:lnTo>
                  <a:pt x="3204881" y="682393"/>
                </a:lnTo>
                <a:lnTo>
                  <a:pt x="3213788" y="716904"/>
                </a:lnTo>
                <a:lnTo>
                  <a:pt x="3214111" y="718115"/>
                </a:lnTo>
                <a:lnTo>
                  <a:pt x="3214111" y="2848897"/>
                </a:lnTo>
                <a:lnTo>
                  <a:pt x="426570" y="2848897"/>
                </a:lnTo>
                <a:lnTo>
                  <a:pt x="414108" y="2820857"/>
                </a:lnTo>
                <a:lnTo>
                  <a:pt x="398524" y="2793028"/>
                </a:lnTo>
                <a:lnTo>
                  <a:pt x="378487" y="2768537"/>
                </a:lnTo>
                <a:lnTo>
                  <a:pt x="356222" y="2742933"/>
                </a:lnTo>
                <a:lnTo>
                  <a:pt x="330619" y="2720669"/>
                </a:lnTo>
                <a:lnTo>
                  <a:pt x="302788" y="2699519"/>
                </a:lnTo>
                <a:lnTo>
                  <a:pt x="274959" y="2678368"/>
                </a:lnTo>
                <a:lnTo>
                  <a:pt x="247130" y="2657218"/>
                </a:lnTo>
                <a:lnTo>
                  <a:pt x="220413" y="2636065"/>
                </a:lnTo>
                <a:lnTo>
                  <a:pt x="194809" y="2612689"/>
                </a:lnTo>
                <a:lnTo>
                  <a:pt x="172546" y="2589312"/>
                </a:lnTo>
                <a:lnTo>
                  <a:pt x="153622" y="2562594"/>
                </a:lnTo>
                <a:lnTo>
                  <a:pt x="139150" y="2534764"/>
                </a:lnTo>
                <a:lnTo>
                  <a:pt x="129132" y="2501370"/>
                </a:lnTo>
                <a:lnTo>
                  <a:pt x="124678" y="2466860"/>
                </a:lnTo>
                <a:lnTo>
                  <a:pt x="123564" y="2431236"/>
                </a:lnTo>
                <a:lnTo>
                  <a:pt x="126904" y="2393388"/>
                </a:lnTo>
                <a:lnTo>
                  <a:pt x="131358" y="2355539"/>
                </a:lnTo>
                <a:lnTo>
                  <a:pt x="136923" y="2317690"/>
                </a:lnTo>
                <a:lnTo>
                  <a:pt x="141376" y="2279842"/>
                </a:lnTo>
                <a:lnTo>
                  <a:pt x="143604" y="2241992"/>
                </a:lnTo>
                <a:lnTo>
                  <a:pt x="143604" y="2205256"/>
                </a:lnTo>
                <a:lnTo>
                  <a:pt x="139150" y="2170747"/>
                </a:lnTo>
                <a:lnTo>
                  <a:pt x="130245" y="2136238"/>
                </a:lnTo>
                <a:lnTo>
                  <a:pt x="116886" y="2103954"/>
                </a:lnTo>
                <a:lnTo>
                  <a:pt x="100188" y="2070559"/>
                </a:lnTo>
                <a:lnTo>
                  <a:pt x="81264" y="2037163"/>
                </a:lnTo>
                <a:lnTo>
                  <a:pt x="61227" y="2003766"/>
                </a:lnTo>
                <a:lnTo>
                  <a:pt x="42303" y="1971483"/>
                </a:lnTo>
                <a:lnTo>
                  <a:pt x="25603" y="1936974"/>
                </a:lnTo>
                <a:lnTo>
                  <a:pt x="12246" y="1903578"/>
                </a:lnTo>
                <a:lnTo>
                  <a:pt x="3340" y="1869068"/>
                </a:lnTo>
                <a:lnTo>
                  <a:pt x="0" y="1833446"/>
                </a:lnTo>
                <a:lnTo>
                  <a:pt x="3340" y="1797824"/>
                </a:lnTo>
                <a:lnTo>
                  <a:pt x="12246" y="1763315"/>
                </a:lnTo>
                <a:lnTo>
                  <a:pt x="25603" y="1729918"/>
                </a:lnTo>
                <a:lnTo>
                  <a:pt x="42303" y="1695410"/>
                </a:lnTo>
                <a:lnTo>
                  <a:pt x="61227" y="1663126"/>
                </a:lnTo>
                <a:lnTo>
                  <a:pt x="81264" y="1629730"/>
                </a:lnTo>
                <a:lnTo>
                  <a:pt x="100188" y="1596334"/>
                </a:lnTo>
                <a:lnTo>
                  <a:pt x="116886" y="1562938"/>
                </a:lnTo>
                <a:lnTo>
                  <a:pt x="130245" y="1530654"/>
                </a:lnTo>
                <a:lnTo>
                  <a:pt x="139150" y="1496145"/>
                </a:lnTo>
                <a:lnTo>
                  <a:pt x="143604" y="1461636"/>
                </a:lnTo>
                <a:lnTo>
                  <a:pt x="143604" y="1424901"/>
                </a:lnTo>
                <a:lnTo>
                  <a:pt x="141376" y="1387052"/>
                </a:lnTo>
                <a:lnTo>
                  <a:pt x="136923" y="1349203"/>
                </a:lnTo>
                <a:lnTo>
                  <a:pt x="131358" y="1311353"/>
                </a:lnTo>
                <a:lnTo>
                  <a:pt x="126904" y="1273505"/>
                </a:lnTo>
                <a:lnTo>
                  <a:pt x="123564" y="1235657"/>
                </a:lnTo>
                <a:lnTo>
                  <a:pt x="124678" y="1200034"/>
                </a:lnTo>
                <a:lnTo>
                  <a:pt x="129132" y="1165525"/>
                </a:lnTo>
                <a:lnTo>
                  <a:pt x="139150" y="1132128"/>
                </a:lnTo>
                <a:lnTo>
                  <a:pt x="153622" y="1104298"/>
                </a:lnTo>
                <a:lnTo>
                  <a:pt x="172546" y="1077582"/>
                </a:lnTo>
                <a:lnTo>
                  <a:pt x="194809" y="1054204"/>
                </a:lnTo>
                <a:lnTo>
                  <a:pt x="220413" y="1030827"/>
                </a:lnTo>
                <a:lnTo>
                  <a:pt x="247130" y="1009676"/>
                </a:lnTo>
                <a:lnTo>
                  <a:pt x="274959" y="988524"/>
                </a:lnTo>
                <a:lnTo>
                  <a:pt x="302788" y="967374"/>
                </a:lnTo>
                <a:lnTo>
                  <a:pt x="330619" y="946223"/>
                </a:lnTo>
                <a:lnTo>
                  <a:pt x="356222" y="923960"/>
                </a:lnTo>
                <a:lnTo>
                  <a:pt x="378487" y="898356"/>
                </a:lnTo>
                <a:lnTo>
                  <a:pt x="398524" y="873865"/>
                </a:lnTo>
                <a:lnTo>
                  <a:pt x="414108" y="846035"/>
                </a:lnTo>
                <a:lnTo>
                  <a:pt x="427466" y="815980"/>
                </a:lnTo>
                <a:lnTo>
                  <a:pt x="438598" y="783695"/>
                </a:lnTo>
                <a:lnTo>
                  <a:pt x="448618" y="750298"/>
                </a:lnTo>
                <a:lnTo>
                  <a:pt x="457523" y="716904"/>
                </a:lnTo>
                <a:lnTo>
                  <a:pt x="466429" y="682393"/>
                </a:lnTo>
                <a:lnTo>
                  <a:pt x="476447" y="650112"/>
                </a:lnTo>
                <a:lnTo>
                  <a:pt x="487579" y="617827"/>
                </a:lnTo>
                <a:lnTo>
                  <a:pt x="500938" y="587772"/>
                </a:lnTo>
                <a:lnTo>
                  <a:pt x="517636" y="561055"/>
                </a:lnTo>
                <a:lnTo>
                  <a:pt x="537671" y="536565"/>
                </a:lnTo>
                <a:lnTo>
                  <a:pt x="562163" y="516527"/>
                </a:lnTo>
                <a:lnTo>
                  <a:pt x="588880" y="499829"/>
                </a:lnTo>
                <a:lnTo>
                  <a:pt x="618935" y="486470"/>
                </a:lnTo>
                <a:lnTo>
                  <a:pt x="651218" y="475338"/>
                </a:lnTo>
                <a:lnTo>
                  <a:pt x="683501" y="465320"/>
                </a:lnTo>
                <a:lnTo>
                  <a:pt x="718010" y="456413"/>
                </a:lnTo>
                <a:lnTo>
                  <a:pt x="751405" y="447507"/>
                </a:lnTo>
                <a:lnTo>
                  <a:pt x="784802" y="437489"/>
                </a:lnTo>
                <a:lnTo>
                  <a:pt x="817083" y="426357"/>
                </a:lnTo>
                <a:lnTo>
                  <a:pt x="847140" y="412999"/>
                </a:lnTo>
                <a:lnTo>
                  <a:pt x="874970" y="397415"/>
                </a:lnTo>
                <a:lnTo>
                  <a:pt x="899460" y="377377"/>
                </a:lnTo>
                <a:lnTo>
                  <a:pt x="925064" y="355112"/>
                </a:lnTo>
                <a:lnTo>
                  <a:pt x="947328" y="329509"/>
                </a:lnTo>
                <a:lnTo>
                  <a:pt x="968478" y="302791"/>
                </a:lnTo>
                <a:lnTo>
                  <a:pt x="989628" y="274961"/>
                </a:lnTo>
                <a:lnTo>
                  <a:pt x="1010780" y="247131"/>
                </a:lnTo>
                <a:lnTo>
                  <a:pt x="1031930" y="220414"/>
                </a:lnTo>
                <a:lnTo>
                  <a:pt x="1055307" y="194811"/>
                </a:lnTo>
                <a:lnTo>
                  <a:pt x="1078683" y="172547"/>
                </a:lnTo>
                <a:lnTo>
                  <a:pt x="1105401" y="153622"/>
                </a:lnTo>
                <a:lnTo>
                  <a:pt x="1133231" y="139150"/>
                </a:lnTo>
                <a:lnTo>
                  <a:pt x="1166627" y="129132"/>
                </a:lnTo>
                <a:lnTo>
                  <a:pt x="1201137" y="124678"/>
                </a:lnTo>
                <a:lnTo>
                  <a:pt x="1236757" y="123565"/>
                </a:lnTo>
                <a:lnTo>
                  <a:pt x="1274605" y="126906"/>
                </a:lnTo>
                <a:lnTo>
                  <a:pt x="1312455" y="131359"/>
                </a:lnTo>
                <a:lnTo>
                  <a:pt x="1350304" y="136924"/>
                </a:lnTo>
                <a:lnTo>
                  <a:pt x="1388152" y="141378"/>
                </a:lnTo>
                <a:lnTo>
                  <a:pt x="1426000" y="143604"/>
                </a:lnTo>
                <a:lnTo>
                  <a:pt x="1462737" y="143604"/>
                </a:lnTo>
                <a:lnTo>
                  <a:pt x="1497245" y="139150"/>
                </a:lnTo>
                <a:lnTo>
                  <a:pt x="1531755" y="130245"/>
                </a:lnTo>
                <a:lnTo>
                  <a:pt x="1565150" y="116887"/>
                </a:lnTo>
                <a:lnTo>
                  <a:pt x="1598545" y="99075"/>
                </a:lnTo>
                <a:lnTo>
                  <a:pt x="1631941" y="81264"/>
                </a:lnTo>
                <a:lnTo>
                  <a:pt x="1665337" y="61227"/>
                </a:lnTo>
                <a:lnTo>
                  <a:pt x="1697620" y="42302"/>
                </a:lnTo>
                <a:lnTo>
                  <a:pt x="1732129" y="25604"/>
                </a:lnTo>
                <a:lnTo>
                  <a:pt x="1765525" y="12245"/>
                </a:lnTo>
                <a:lnTo>
                  <a:pt x="1800034" y="33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Graphic 6" descr="Thumbs Down">
            <a:extLst>
              <a:ext uri="{FF2B5EF4-FFF2-40B4-BE49-F238E27FC236}">
                <a16:creationId xmlns:a16="http://schemas.microsoft.com/office/drawing/2014/main" id="{EA39C1FE-8E80-4A62-9613-53012AB4F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72433" y="4799040"/>
            <a:ext cx="1882223" cy="188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00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FE4EA5-713E-4421-AA90-FE96B0AC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3041"/>
            <a:ext cx="10178322" cy="5256414"/>
          </a:xfrm>
        </p:spPr>
        <p:txBody>
          <a:bodyPr>
            <a:normAutofit/>
          </a:bodyPr>
          <a:lstStyle/>
          <a:p>
            <a:r>
              <a:rPr lang="en-US" dirty="0"/>
              <a:t>There have been multiple changes to the classification of cardiomyopathies over the last few decades</a:t>
            </a:r>
          </a:p>
          <a:p>
            <a:pPr lvl="1"/>
            <a:r>
              <a:rPr lang="en-US" dirty="0"/>
              <a:t>In the past, all causes of heart muscle damage were included</a:t>
            </a:r>
          </a:p>
          <a:p>
            <a:pPr lvl="2"/>
            <a:r>
              <a:rPr lang="en-US" dirty="0"/>
              <a:t>Most notably were the known cardiovascular causes (HTN, CAD, CHD, and valve disease)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current definition is more limiting: a group of conditions in which the heart muscle (myocardium) is structurally and functionally abnormal in the </a:t>
            </a:r>
            <a:r>
              <a:rPr lang="en-US" b="1" i="1" dirty="0"/>
              <a:t>absence</a:t>
            </a:r>
            <a:r>
              <a:rPr lang="en-US" dirty="0"/>
              <a:t> of known cardiovascular causes sufficient to explain the abnormality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E832A-CEB4-4E11-8124-8A6588F4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134934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FE4EA5-713E-4421-AA90-FE96B0AC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3041"/>
            <a:ext cx="10178322" cy="52564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CM had been considered idiopathic but modern advances in genetics and imaging have helped identify the pathological and genetic basis of CM</a:t>
            </a:r>
          </a:p>
          <a:p>
            <a:pPr lvl="1"/>
            <a:r>
              <a:rPr lang="en-US" dirty="0"/>
              <a:t>We now know that most cardiomyopathies have a genetic basis</a:t>
            </a:r>
          </a:p>
          <a:p>
            <a:pPr lvl="1"/>
            <a:endParaRPr lang="en-US" dirty="0"/>
          </a:p>
          <a:p>
            <a:r>
              <a:rPr lang="en-US" dirty="0"/>
              <a:t>The classifications of CM are undergoing a transition based on their </a:t>
            </a:r>
            <a:r>
              <a:rPr lang="en-US" i="1" dirty="0"/>
              <a:t>genetic association </a:t>
            </a:r>
            <a:r>
              <a:rPr lang="en-US" dirty="0"/>
              <a:t>rather than the phenotype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Genetic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Mixed (genetic and acquired)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Acquired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E832A-CEB4-4E11-8124-8A6588F4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 (CM)</a:t>
            </a:r>
          </a:p>
        </p:txBody>
      </p:sp>
    </p:spTree>
    <p:extLst>
      <p:ext uri="{BB962C8B-B14F-4D97-AF65-F5344CB8AC3E}">
        <p14:creationId xmlns:p14="http://schemas.microsoft.com/office/powerpoint/2010/main" val="347735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90021A-2154-4F7E-A3C0-DC18673E7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However, it’s still important to recognize that heart muscle damage can occur as a </a:t>
            </a:r>
            <a:r>
              <a:rPr lang="en-US" b="1" i="1" dirty="0"/>
              <a:t>sequelae</a:t>
            </a:r>
            <a:r>
              <a:rPr lang="en-US" dirty="0"/>
              <a:t> of valve disease, congenital heart disease, HTN, coronary artery disease (CAD)  but they are no longer classified as a cardiomyopathy (instead they may cause the generic term = left ventricular hypertrophy)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You have separate lectures on those topics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“ischemic cardiomyopathy” is an old-fashion term that describes heart muscle damage as a result of vessel disease (CAD)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“valvular cardiomyopathy” is again, old-fashion and describes when damage of the heart muscle occurs due to abnormal valves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9D2BCA-AD6E-4565-88C3-00CFD5CC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8980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Beating heart">
                <a:extLst>
                  <a:ext uri="{FF2B5EF4-FFF2-40B4-BE49-F238E27FC236}">
                    <a16:creationId xmlns:a16="http://schemas.microsoft.com/office/drawing/2014/main" id="{184697CF-187D-4E03-BF21-F7BE65B621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4261" y="-439782"/>
              <a:ext cx="5863476" cy="771722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863476" cy="7717224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 ax="-757741" ay="1412631" az="-306835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867157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Beating heart">
                <a:extLst>
                  <a:ext uri="{FF2B5EF4-FFF2-40B4-BE49-F238E27FC236}">
                    <a16:creationId xmlns:a16="http://schemas.microsoft.com/office/drawing/2014/main" id="{184697CF-187D-4E03-BF21-F7BE65B621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4261" y="-439782"/>
                <a:ext cx="5863476" cy="7717224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7FD4CCE-0792-4EB8-8A36-F4FB72FF3090}"/>
              </a:ext>
            </a:extLst>
          </p:cNvPr>
          <p:cNvSpPr txBox="1"/>
          <p:nvPr/>
        </p:nvSpPr>
        <p:spPr>
          <a:xfrm>
            <a:off x="291402" y="301451"/>
            <a:ext cx="37078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The heart 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48BF7-4DD3-47B6-BAFE-05D2FC3B0256}"/>
              </a:ext>
            </a:extLst>
          </p:cNvPr>
          <p:cNvSpPr/>
          <p:nvPr/>
        </p:nvSpPr>
        <p:spPr>
          <a:xfrm>
            <a:off x="175846" y="4694501"/>
            <a:ext cx="7646795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 w="0"/>
                <a:solidFill>
                  <a:srgbClr val="F8B323">
                    <a:lumMod val="75000"/>
                  </a:srgbClr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AMAZING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D37B98-87E1-4FC4-9EB3-6C7F67F2BD39}"/>
              </a:ext>
            </a:extLst>
          </p:cNvPr>
          <p:cNvGrpSpPr/>
          <p:nvPr/>
        </p:nvGrpSpPr>
        <p:grpSpPr>
          <a:xfrm>
            <a:off x="7331438" y="260573"/>
            <a:ext cx="4569157" cy="6123487"/>
            <a:chOff x="7331438" y="260573"/>
            <a:chExt cx="4569157" cy="612348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BFFB63-3D9D-448C-B1D8-FF9D2CFDF887}"/>
                </a:ext>
              </a:extLst>
            </p:cNvPr>
            <p:cNvSpPr txBox="1"/>
            <p:nvPr/>
          </p:nvSpPr>
          <p:spPr>
            <a:xfrm>
              <a:off x="7331438" y="260573"/>
              <a:ext cx="45691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26276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The myocardium needs to contract more than 100,000 times a day without stopping or tiring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9F2EA0-5885-416C-ABDC-0F4E67915C28}"/>
                </a:ext>
              </a:extLst>
            </p:cNvPr>
            <p:cNvSpPr txBox="1"/>
            <p:nvPr/>
          </p:nvSpPr>
          <p:spPr>
            <a:xfrm>
              <a:off x="7938196" y="1233185"/>
              <a:ext cx="396239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8B323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It requires the ability to respond rapidly to physiologic changes; instantaneously varying the rate and strength of contractions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1721ED-090B-4051-BB6D-B77901037C77}"/>
                </a:ext>
              </a:extLst>
            </p:cNvPr>
            <p:cNvSpPr txBox="1"/>
            <p:nvPr/>
          </p:nvSpPr>
          <p:spPr>
            <a:xfrm>
              <a:off x="8623643" y="2680486"/>
              <a:ext cx="3276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656A59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A heartbeat can be detected 3 weeks after conception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A23C74-0BA3-4028-956A-84034D512B6A}"/>
                </a:ext>
              </a:extLst>
            </p:cNvPr>
            <p:cNvSpPr txBox="1"/>
            <p:nvPr/>
          </p:nvSpPr>
          <p:spPr>
            <a:xfrm>
              <a:off x="8822339" y="3532225"/>
              <a:ext cx="30782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6B2B5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Even at rest, the heart is still working twice as hard as the leg muscles of a sprinter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B3294A-1612-4A63-A88C-497575D55707}"/>
                </a:ext>
              </a:extLst>
            </p:cNvPr>
            <p:cNvSpPr txBox="1"/>
            <p:nvPr/>
          </p:nvSpPr>
          <p:spPr>
            <a:xfrm>
              <a:off x="8136083" y="4637989"/>
              <a:ext cx="37645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CAA7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Because it has its own electrical system, it can beat when removed from the human body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9F4466-3E75-42EC-9021-629D063694F0}"/>
                </a:ext>
              </a:extLst>
            </p:cNvPr>
            <p:cNvSpPr txBox="1"/>
            <p:nvPr/>
          </p:nvSpPr>
          <p:spPr>
            <a:xfrm>
              <a:off x="8623643" y="5737729"/>
              <a:ext cx="327695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6F68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It generates enough electricity in a day to drive a truck 20 miles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2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C7B597-6D45-432D-9957-6E2E2BB83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myocardium is composed of myocytes (muscle tissue) which allow for contractility and electrical conduction </a:t>
            </a:r>
          </a:p>
          <a:p>
            <a:r>
              <a:rPr lang="en-US" dirty="0"/>
              <a:t>A healthy myocardium requires the ability to respond rapidly to physiologic changes</a:t>
            </a:r>
          </a:p>
          <a:p>
            <a:pPr lvl="1"/>
            <a:r>
              <a:rPr lang="en-US" dirty="0"/>
              <a:t>i.e., Exercise, fight or flight response, sleeping, medications, test-taking</a:t>
            </a:r>
          </a:p>
          <a:p>
            <a:pPr lvl="1"/>
            <a:endParaRPr lang="en-US" dirty="0"/>
          </a:p>
          <a:p>
            <a:r>
              <a:rPr lang="en-US" dirty="0"/>
              <a:t>CM can result from changes to the shape, size, or thickness of the myocardium. These abnormalities can impair contraction and electrical conduction</a:t>
            </a:r>
          </a:p>
          <a:p>
            <a:pPr lvl="1"/>
            <a:r>
              <a:rPr lang="en-US" dirty="0"/>
              <a:t>The way the myocardium is affected depends on the phenotype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DB1677-97AD-4750-BC30-1C12682C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187027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Spectrum of symptoms are variable and can range from asymptomatic to severe heart failure or sudden death</a:t>
            </a:r>
          </a:p>
          <a:p>
            <a:pPr lvl="1"/>
            <a:r>
              <a:rPr lang="en-US" dirty="0"/>
              <a:t>If symptomatic, generally present with chest pain, exertional intolerance, SOB, palpitations</a:t>
            </a:r>
          </a:p>
          <a:p>
            <a:endParaRPr lang="en-US" dirty="0"/>
          </a:p>
          <a:p>
            <a:r>
              <a:rPr lang="en-US" dirty="0"/>
              <a:t>PE is normal in many cases but may show a gallop rhythm, atrioventricular valve regurgitation, displaced PMI, cardiac lift/heave, rales (crackles), JVD, peripheral edema, ascites</a:t>
            </a:r>
          </a:p>
          <a:p>
            <a:endParaRPr lang="en-US" dirty="0"/>
          </a:p>
          <a:p>
            <a:r>
              <a:rPr lang="en-US" dirty="0"/>
              <a:t>The final common pathways of the various CM etiologies usually result in </a:t>
            </a:r>
            <a:r>
              <a:rPr lang="en-US" b="1" dirty="0"/>
              <a:t>heart failure</a:t>
            </a:r>
            <a:r>
              <a:rPr lang="en-US" dirty="0"/>
              <a:t>, </a:t>
            </a:r>
            <a:r>
              <a:rPr lang="en-US" b="1" dirty="0"/>
              <a:t>arrythmias</a:t>
            </a:r>
            <a:r>
              <a:rPr lang="en-US" dirty="0"/>
              <a:t> and </a:t>
            </a:r>
            <a:r>
              <a:rPr lang="en-US" b="1" dirty="0"/>
              <a:t>death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1317701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Progression of heart failure in CM</a:t>
            </a:r>
          </a:p>
          <a:p>
            <a:pPr lvl="1"/>
            <a:r>
              <a:rPr lang="en-US" dirty="0"/>
              <a:t>Early symptoms are often related to </a:t>
            </a:r>
            <a:r>
              <a:rPr lang="en-US" b="1" dirty="0"/>
              <a:t>exertional</a:t>
            </a:r>
            <a:r>
              <a:rPr lang="en-US" dirty="0"/>
              <a:t> intolerance, usually due to insufficient cardiac reserve during exercise</a:t>
            </a:r>
          </a:p>
          <a:p>
            <a:pPr lvl="2"/>
            <a:r>
              <a:rPr lang="en-US" dirty="0"/>
              <a:t>Breathlessness (dyspnea on exertion = DOE), fatigue, dizziness, syncope, chest pain</a:t>
            </a:r>
          </a:p>
          <a:p>
            <a:pPr lvl="2"/>
            <a:r>
              <a:rPr lang="en-US" dirty="0"/>
              <a:t>Vague symptoms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may be overlooked or attributed to other causes such as aging or deconditioning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3810916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Usually over time (though it can be rapid in acute heart failure), fluid retention leads to increased filling pressures in the heart which will worsen symptoms</a:t>
            </a:r>
          </a:p>
          <a:p>
            <a:pPr lvl="1"/>
            <a:r>
              <a:rPr lang="en-US" dirty="0"/>
              <a:t>Shortness of breath (dyspnea) during routine activity</a:t>
            </a:r>
          </a:p>
          <a:p>
            <a:pPr lvl="1"/>
            <a:r>
              <a:rPr lang="en-US" dirty="0"/>
              <a:t>Wet cough with frothy sputum</a:t>
            </a:r>
          </a:p>
          <a:p>
            <a:pPr lvl="1"/>
            <a:r>
              <a:rPr lang="en-US" dirty="0"/>
              <a:t>Orthopnea: dyspnea when lying down, typically described as # of pillows needed to alleviate SOB</a:t>
            </a:r>
          </a:p>
          <a:p>
            <a:pPr lvl="1"/>
            <a:r>
              <a:rPr lang="en-US" dirty="0"/>
              <a:t>Paroxysmal nocturnal dyspnea (PND): SOB or coughing attack waking pt up at night</a:t>
            </a:r>
          </a:p>
          <a:p>
            <a:pPr lvl="1"/>
            <a:r>
              <a:rPr lang="en-US" dirty="0"/>
              <a:t>Peripheral edema, ascites, abdominal discomfort</a:t>
            </a:r>
          </a:p>
          <a:p>
            <a:pPr lvl="1"/>
            <a:r>
              <a:rPr lang="en-US" dirty="0"/>
              <a:t>Increased JVP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238367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Arrythmias</a:t>
            </a:r>
          </a:p>
          <a:p>
            <a:pPr lvl="1"/>
            <a:r>
              <a:rPr lang="en-US" dirty="0"/>
              <a:t>Atrial and ventricular tachyarrhythmias</a:t>
            </a:r>
          </a:p>
          <a:p>
            <a:pPr lvl="1"/>
            <a:r>
              <a:rPr lang="en-US" dirty="0"/>
              <a:t>Sudden death is typically due to </a:t>
            </a:r>
            <a:r>
              <a:rPr lang="en-US" b="1" dirty="0"/>
              <a:t>sustained ventricular tachycardia (VT)</a:t>
            </a:r>
            <a:r>
              <a:rPr lang="en-US" dirty="0"/>
              <a:t>, ultimately progressing to ventricular fibrillation (VF) and then asystole</a:t>
            </a:r>
          </a:p>
          <a:p>
            <a:endParaRPr lang="en-US" dirty="0"/>
          </a:p>
          <a:p>
            <a:r>
              <a:rPr lang="en-US" dirty="0"/>
              <a:t>Many patients will have increased risk of thromboembolism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186361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800" dirty="0"/>
              <a:t>Workup typically includes: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Labs: BNP is helpful in setting of heart failure; troponins may be helpful in acute settings; other labs as indicated to rule out other etiologies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EKG/Holter monitor: assess electrical activity; provides clues but does </a:t>
            </a:r>
            <a:r>
              <a:rPr lang="en-US" b="1" dirty="0"/>
              <a:t>not</a:t>
            </a:r>
            <a:r>
              <a:rPr lang="en-US" dirty="0"/>
              <a:t> diagnose CM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Atrial and ventricular tachyarrhythmias are common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CXR: suggestive but not specific; normal in many early cases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May show enlarged cardiac silhouette if cardiomegaly is present</a:t>
            </a:r>
          </a:p>
          <a:p>
            <a:pPr lvl="2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Incidental cardiomegaly on CXR should prompt a cardio evaluation with echo and EKG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May show fluffy infiltrates (“kerley lines”) if CHF is present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2866578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Echocardiogram</a:t>
            </a:r>
            <a:r>
              <a:rPr lang="en-US" dirty="0"/>
              <a:t> (“echo”): the test of choice to </a:t>
            </a:r>
            <a:r>
              <a:rPr lang="en-US" u="sng" dirty="0"/>
              <a:t>diagnose</a:t>
            </a:r>
            <a:r>
              <a:rPr lang="en-US" dirty="0"/>
              <a:t> cardiomyopathy; defines both anatomical and functional characteristics of the heart with high sensitivity and specificity for myocardial dysfunction</a:t>
            </a:r>
          </a:p>
          <a:p>
            <a:endParaRPr lang="en-US" dirty="0"/>
          </a:p>
          <a:p>
            <a:r>
              <a:rPr lang="en-US" dirty="0"/>
              <a:t>Cardiac MRI (aka CMR): used as an additional study </a:t>
            </a:r>
            <a:r>
              <a:rPr lang="en-US" i="1" dirty="0"/>
              <a:t>after</a:t>
            </a:r>
            <a:r>
              <a:rPr lang="en-US" dirty="0"/>
              <a:t> CM is confirmed on echo</a:t>
            </a:r>
          </a:p>
          <a:p>
            <a:pPr lvl="1"/>
            <a:r>
              <a:rPr lang="en-US" dirty="0"/>
              <a:t>better definition of anatomy and evaluation of R ventricle</a:t>
            </a:r>
          </a:p>
          <a:p>
            <a:pPr lvl="1"/>
            <a:r>
              <a:rPr lang="en-US" dirty="0"/>
              <a:t>identifies/localizes fat, iron or amyloid infiltration, inflammation, fibrosis (scar), focal hypertrophy, aneurysm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3947072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Cardiac biopsy is rarely needed anymore; provides a definitive diagnosis for tissue pathology in subtypes of CM (such as infiltrative disease) if etiology is equivocal</a:t>
            </a:r>
          </a:p>
          <a:p>
            <a:endParaRPr lang="en-US" dirty="0"/>
          </a:p>
          <a:p>
            <a:r>
              <a:rPr lang="en-US" dirty="0"/>
              <a:t>Cardiac stress testing (“stress test”) is typically performed at some point during the CM evaluation; helps characterize a patient’s exercise tolerance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3704114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dirty="0"/>
              <a:t>Generally, there is no cure (some exceptions)</a:t>
            </a:r>
          </a:p>
          <a:p>
            <a:endParaRPr lang="en-US" sz="3600" dirty="0"/>
          </a:p>
          <a:p>
            <a:r>
              <a:rPr lang="en-US" dirty="0"/>
              <a:t>Management goals: reduce morbidity and prevent mortality</a:t>
            </a:r>
          </a:p>
          <a:p>
            <a:pPr lvl="1"/>
            <a:r>
              <a:rPr lang="en-US" dirty="0"/>
              <a:t>Heart rate control: </a:t>
            </a:r>
            <a:r>
              <a:rPr lang="en-US" b="1" dirty="0"/>
              <a:t>beta-blockers </a:t>
            </a:r>
            <a:r>
              <a:rPr lang="en-US" dirty="0"/>
              <a:t>(i.e. metoprolol)</a:t>
            </a:r>
            <a:endParaRPr lang="en-US" b="1" dirty="0"/>
          </a:p>
          <a:p>
            <a:pPr lvl="1"/>
            <a:r>
              <a:rPr lang="en-US" dirty="0"/>
              <a:t>Reduce thromboembolism risk: anticoagulants (i.e. warfarin or DOAC)</a:t>
            </a:r>
          </a:p>
          <a:p>
            <a:pPr lvl="1"/>
            <a:r>
              <a:rPr lang="en-US" dirty="0"/>
              <a:t>*Reduce fluid retention: diuretics (i.e. furosemide/Lasix)</a:t>
            </a:r>
          </a:p>
          <a:p>
            <a:pPr lvl="1"/>
            <a:r>
              <a:rPr lang="en-US" dirty="0"/>
              <a:t>Rhythm control: Implantable pacemakers</a:t>
            </a:r>
          </a:p>
          <a:p>
            <a:pPr lvl="1"/>
            <a:r>
              <a:rPr lang="en-US" dirty="0"/>
              <a:t>Rhythm control </a:t>
            </a:r>
            <a:r>
              <a:rPr lang="en-US" i="1" dirty="0"/>
              <a:t>and</a:t>
            </a:r>
            <a:r>
              <a:rPr lang="en-US" dirty="0"/>
              <a:t> shock: implantable cardioverter defibrillators (ICDs)</a:t>
            </a:r>
          </a:p>
          <a:p>
            <a:pPr lvl="1"/>
            <a:r>
              <a:rPr lang="en-US" dirty="0"/>
              <a:t>In select cases: surgical excision of myocardial areas or heart transplant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2695023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8A7A-F208-4F03-9974-2A742E4F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many CMs have a substantial genetic basis, recommendations are given for families of a patient with confirmed CM </a:t>
            </a:r>
          </a:p>
          <a:p>
            <a:pPr lvl="1"/>
            <a:r>
              <a:rPr lang="en-US" dirty="0"/>
              <a:t>Detailed, thorough FHx for at least 3 generations </a:t>
            </a:r>
          </a:p>
          <a:p>
            <a:pPr lvl="1"/>
            <a:r>
              <a:rPr lang="en-US" dirty="0"/>
              <a:t>Clinical screening of first-degree relatives which consist of </a:t>
            </a:r>
            <a:r>
              <a:rPr lang="en-US" b="1" dirty="0"/>
              <a:t>H&amp;P</a:t>
            </a:r>
            <a:r>
              <a:rPr lang="en-US" dirty="0"/>
              <a:t>,</a:t>
            </a:r>
            <a:r>
              <a:rPr lang="en-US" b="1" dirty="0"/>
              <a:t> EKG</a:t>
            </a:r>
            <a:r>
              <a:rPr lang="en-US" dirty="0"/>
              <a:t>, and</a:t>
            </a:r>
            <a:r>
              <a:rPr lang="en-US" b="1" dirty="0"/>
              <a:t> Echo</a:t>
            </a:r>
          </a:p>
          <a:p>
            <a:pPr lvl="1"/>
            <a:r>
              <a:rPr lang="en-US" dirty="0"/>
              <a:t>Genetic testing of family members should be considered if </a:t>
            </a:r>
            <a:r>
              <a:rPr lang="en-US" u="sng" dirty="0"/>
              <a:t>index</a:t>
            </a:r>
            <a:r>
              <a:rPr lang="en-US" dirty="0"/>
              <a:t> case has a known genetic mutation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D6FA3-51C3-48DC-A522-7726857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3977082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FE4EA5-713E-4421-AA90-FE96B0AC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3041"/>
            <a:ext cx="10178322" cy="52564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The AHA classifications of CM: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Genetic</a:t>
            </a:r>
          </a:p>
          <a:p>
            <a:pPr lvl="1"/>
            <a:r>
              <a:rPr lang="en-US" dirty="0">
                <a:ln>
                  <a:solidFill>
                    <a:schemeClr val="accent5"/>
                  </a:solidFill>
                </a:ln>
              </a:rPr>
              <a:t>Hypertrophic Cardiomyopathy (HCM)</a:t>
            </a:r>
          </a:p>
          <a:p>
            <a:pPr lvl="1"/>
            <a:r>
              <a:rPr lang="en-US" dirty="0"/>
              <a:t>Arrhythmogenic right ventricular cardiomyopathy/dysplasia (ARVC/D)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Mixed (genetic and acquired)</a:t>
            </a:r>
          </a:p>
          <a:p>
            <a:pPr lvl="1"/>
            <a:r>
              <a:rPr lang="en-US" dirty="0">
                <a:ln>
                  <a:solidFill>
                    <a:schemeClr val="accent5"/>
                  </a:solidFill>
                </a:ln>
              </a:rPr>
              <a:t>Dilated cardiomyopathy (DCM)</a:t>
            </a:r>
          </a:p>
          <a:p>
            <a:pPr lvl="1"/>
            <a:r>
              <a:rPr lang="en-US" dirty="0">
                <a:ln>
                  <a:solidFill>
                    <a:schemeClr val="accent5"/>
                  </a:solidFill>
                </a:ln>
              </a:rPr>
              <a:t>Restrictive cardiomyopathy (RCM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Acquired</a:t>
            </a:r>
          </a:p>
          <a:p>
            <a:pPr lvl="1"/>
            <a:r>
              <a:rPr lang="en-US" dirty="0"/>
              <a:t>Myocarditis (infectious/inflammatory)</a:t>
            </a:r>
          </a:p>
          <a:p>
            <a:pPr lvl="1"/>
            <a:r>
              <a:rPr lang="en-US" dirty="0"/>
              <a:t>Peripartum cardiomyopathy (PPCM)</a:t>
            </a:r>
          </a:p>
          <a:p>
            <a:pPr lvl="1"/>
            <a:r>
              <a:rPr lang="en-US" dirty="0"/>
              <a:t>Stress-related “Tako-Tsubo” cardiomyopathy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E832A-CEB4-4E11-8124-8A6588F4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Cardiomyopathies</a:t>
            </a:r>
          </a:p>
        </p:txBody>
      </p:sp>
    </p:spTree>
    <p:extLst>
      <p:ext uri="{BB962C8B-B14F-4D97-AF65-F5344CB8AC3E}">
        <p14:creationId xmlns:p14="http://schemas.microsoft.com/office/powerpoint/2010/main" val="1036998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1DF61F47-37EC-408A-BDC8-E491FB5E5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157995-9098-42A2-8E36-8BA9015D7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BD17F87-FE96-4A5F-83F2-3E87B953B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6" y="666625"/>
            <a:ext cx="10668004" cy="12078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200" dirty="0">
                <a:ln>
                  <a:solidFill>
                    <a:schemeClr val="accent1"/>
                  </a:solidFill>
                </a:ln>
                <a:effectLst>
                  <a:glow rad="101600">
                    <a:schemeClr val="accent1">
                      <a:alpha val="40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Genetic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46C973-6034-4DAE-8C50-764E31604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9705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2ADC72-9292-411C-B17E-1DC83998D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53659" y="666625"/>
            <a:ext cx="0" cy="1207892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96" y="2286001"/>
            <a:ext cx="10570420" cy="3593592"/>
          </a:xfrm>
        </p:spPr>
        <p:txBody>
          <a:bodyPr vert="horz" lIns="91440" tIns="45720" rIns="91440" bIns="45720" rtlCol="0">
            <a:normAutofit/>
          </a:bodyPr>
          <a:lstStyle/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3600" dirty="0"/>
              <a:t> </a:t>
            </a:r>
            <a:r>
              <a:rPr lang="en-US" sz="4400" dirty="0"/>
              <a:t>Hypertrophic Cardiomyopathy</a:t>
            </a:r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endParaRPr lang="en-US" sz="4400" dirty="0"/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4400" dirty="0"/>
              <a:t> Arrhythmogenic Right Ventricular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259093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073912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disorder of the myocardium caused by mutations of the cardiac </a:t>
            </a:r>
            <a:r>
              <a:rPr lang="en-US" b="1" dirty="0"/>
              <a:t>sarcomere</a:t>
            </a:r>
            <a:r>
              <a:rPr lang="en-US" dirty="0"/>
              <a:t> or sarcomere-associated proteins (encodes components of the contractile apparatus)</a:t>
            </a:r>
          </a:p>
          <a:p>
            <a:endParaRPr lang="en-US" dirty="0"/>
          </a:p>
          <a:p>
            <a:r>
              <a:rPr lang="en-US" dirty="0"/>
              <a:t>The genetics of HCM involve an </a:t>
            </a:r>
            <a:r>
              <a:rPr lang="en-US" b="1" dirty="0"/>
              <a:t>autosomal dominant </a:t>
            </a:r>
            <a:r>
              <a:rPr lang="en-US" dirty="0"/>
              <a:t>pattern of inheritance, with 60–70% of patients having an affected family member</a:t>
            </a:r>
          </a:p>
          <a:p>
            <a:pPr lvl="1"/>
            <a:r>
              <a:rPr lang="en-US" dirty="0"/>
              <a:t>Age-dependent (rarely present at birth, usually develops later)</a:t>
            </a:r>
          </a:p>
          <a:p>
            <a:pPr lvl="1"/>
            <a:r>
              <a:rPr lang="en-US" dirty="0"/>
              <a:t>Incomplete penetrance (varied extent of disease and clinical outcomes)</a:t>
            </a:r>
          </a:p>
          <a:p>
            <a:pPr lvl="1"/>
            <a:endParaRPr lang="en-US" dirty="0"/>
          </a:p>
          <a:p>
            <a:r>
              <a:rPr lang="en-US" dirty="0"/>
              <a:t>Results in Left Ventricular Hypertrophy (LVH)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989383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3041"/>
            <a:ext cx="6994134" cy="52287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Characteristics:</a:t>
            </a:r>
          </a:p>
          <a:p>
            <a:pPr lvl="1"/>
            <a:r>
              <a:rPr lang="en-US" b="1" dirty="0"/>
              <a:t>Asymmetric thickening of the left ventricular septum, especially the sub-aortic area</a:t>
            </a:r>
          </a:p>
          <a:p>
            <a:pPr lvl="1"/>
            <a:r>
              <a:rPr lang="en-US" dirty="0"/>
              <a:t>Ventricular wall thickness and loss of elasticity impairs cardiac relaxation, making it harder to fill the heart (</a:t>
            </a:r>
            <a:r>
              <a:rPr lang="en-US" u="sng" dirty="0"/>
              <a:t>diastolic dysfunction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2⁄3 of patients experience left ventricular outflow tract (LVOT) obstruction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  <p:pic>
        <p:nvPicPr>
          <p:cNvPr id="4" name="Picture 2" descr="C:\Users\dr081467\Desktop\figure_32.14.jpg">
            <a:extLst>
              <a:ext uri="{FF2B5EF4-FFF2-40B4-BE49-F238E27FC236}">
                <a16:creationId xmlns:a16="http://schemas.microsoft.com/office/drawing/2014/main" id="{DA45B05D-33BB-4558-8A38-761911DE4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5812" y="2154534"/>
            <a:ext cx="3608028" cy="333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80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8" name="Straight Connector 8">
            <a:extLst>
              <a:ext uri="{FF2B5EF4-FFF2-40B4-BE49-F238E27FC236}">
                <a16:creationId xmlns:a16="http://schemas.microsoft.com/office/drawing/2014/main" id="{1F161C3B-7725-4DAA-818E-2A32856864DA}"/>
              </a:ext>
            </a:extLst>
          </p:cNvPr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1517650" y="6173788"/>
            <a:ext cx="9144000" cy="0"/>
          </a:xfrm>
          <a:prstGeom prst="line">
            <a:avLst/>
          </a:prstGeom>
          <a:noFill/>
          <a:ln w="9525" algn="ctr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7" name="TextBox 9">
            <a:extLst>
              <a:ext uri="{FF2B5EF4-FFF2-40B4-BE49-F238E27FC236}">
                <a16:creationId xmlns:a16="http://schemas.microsoft.com/office/drawing/2014/main" id="{BD909706-CA77-4953-AF08-CFD4793D8B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278064" y="6227763"/>
            <a:ext cx="8237537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Citation: Chapter 10 Cardiovascular Disorders: Heart Disease, Hammer GD, McPhee SJ. </a:t>
            </a:r>
            <a:r>
              <a:rPr kumimoji="0" lang="en-US" alt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Pathophysiology of Disease: An Introduction to Clinical Medicine, 8e;</a:t>
            </a: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 2019. Available at: https://accessmedicine.mhmedical.com/content.aspx?bookid=2468&amp;sectionid=198221738 Accessed: October 13, 2020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Copyright © 2020 McGraw-Hill Education. All rights reserved</a:t>
            </a:r>
          </a:p>
        </p:txBody>
      </p:sp>
      <p:pic>
        <p:nvPicPr>
          <p:cNvPr id="14340" name="Picture 10">
            <a:extLst>
              <a:ext uri="{FF2B5EF4-FFF2-40B4-BE49-F238E27FC236}">
                <a16:creationId xmlns:a16="http://schemas.microsoft.com/office/drawing/2014/main" id="{04A28EF1-DC78-4172-BD04-0F6DCC6CC0E1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8" y="6269038"/>
            <a:ext cx="4508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Placeholder 2">
            <a:extLst>
              <a:ext uri="{FF2B5EF4-FFF2-40B4-BE49-F238E27FC236}">
                <a16:creationId xmlns:a16="http://schemas.microsoft.com/office/drawing/2014/main" id="{656F8B29-0A06-4F3D-9A77-E5ED6971DA0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1517650" y="5769324"/>
            <a:ext cx="8894762" cy="71913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254000" tIns="0" rIns="0" bIns="635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Helvetica" panose="020B0604020202020204" pitchFamily="34" charset="0"/>
              </a:rPr>
              <a:t>Hypertrophic cardiomyopathy (left lateral view). The cardinal features are displayed. (Redrawn, with permission, from Cheitlin MD et al, eds. Clinical Cardiology, 6th ed. Originally published by Appleton &amp; Lange. Copyright © 1993 by The McGraw-Hill Companies, Inc.)
</a:t>
            </a:r>
          </a:p>
        </p:txBody>
      </p:sp>
      <p:pic>
        <p:nvPicPr>
          <p:cNvPr id="14342" name="New picture">
            <a:extLst>
              <a:ext uri="{FF2B5EF4-FFF2-40B4-BE49-F238E27FC236}">
                <a16:creationId xmlns:a16="http://schemas.microsoft.com/office/drawing/2014/main" id="{5399D785-650A-4965-9092-91FF6CA2185F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042" y="264273"/>
            <a:ext cx="8433916" cy="540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463041"/>
            <a:ext cx="10178321" cy="5228704"/>
          </a:xfrm>
        </p:spPr>
        <p:txBody>
          <a:bodyPr>
            <a:normAutofit/>
          </a:bodyPr>
          <a:lstStyle/>
          <a:p>
            <a:r>
              <a:rPr lang="en-US" dirty="0"/>
              <a:t>Clinical features may be variable from no symptoms in one patient to sudden cardiac death in another</a:t>
            </a:r>
          </a:p>
          <a:p>
            <a:endParaRPr lang="en-US" dirty="0"/>
          </a:p>
          <a:p>
            <a:r>
              <a:rPr lang="en-US" dirty="0"/>
              <a:t>May be identified through familial screening or upon workup of suggestive clinical and EKG findings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4210500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463041"/>
            <a:ext cx="10178321" cy="52287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While many patients are asymptomatic, some may develop symptoms such as </a:t>
            </a:r>
            <a:r>
              <a:rPr lang="en-US" b="1" dirty="0"/>
              <a:t>dyspnea on exertion</a:t>
            </a:r>
            <a:r>
              <a:rPr lang="en-US" dirty="0"/>
              <a:t>, </a:t>
            </a:r>
            <a:r>
              <a:rPr lang="en-US" b="1" dirty="0"/>
              <a:t>exertional chest pain</a:t>
            </a:r>
            <a:r>
              <a:rPr lang="en-US" dirty="0"/>
              <a:t>, </a:t>
            </a:r>
            <a:r>
              <a:rPr lang="en-US" b="1" dirty="0"/>
              <a:t>exertional syncope (or presyncope)</a:t>
            </a:r>
            <a:r>
              <a:rPr lang="en-US" dirty="0"/>
              <a:t>, </a:t>
            </a:r>
            <a:r>
              <a:rPr lang="en-US" b="1" dirty="0"/>
              <a:t>palpitations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Advanced heart failure symptoms (orthopnea, PND, edema) are possible as disease progresses</a:t>
            </a:r>
          </a:p>
          <a:p>
            <a:endParaRPr lang="en-US" dirty="0"/>
          </a:p>
          <a:p>
            <a:r>
              <a:rPr lang="en-US" dirty="0"/>
              <a:t>Patients with mild to moderate limitation usually experience slow progression of symptoms with advancing age, related to modest deterioration in LV function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914562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463041"/>
            <a:ext cx="10178321" cy="52287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physical exam is normal in many cases but may reveal nonspecific abnormalities such as a 4</a:t>
            </a:r>
            <a:r>
              <a:rPr lang="en-US" baseline="30000" dirty="0"/>
              <a:t>th</a:t>
            </a:r>
            <a:r>
              <a:rPr lang="en-US" dirty="0"/>
              <a:t> heart sound (S4), systolic </a:t>
            </a:r>
            <a:r>
              <a:rPr lang="en-US" i="1" dirty="0"/>
              <a:t>murmur</a:t>
            </a:r>
            <a:r>
              <a:rPr lang="en-US" dirty="0"/>
              <a:t>, or cardiac lift/heave</a:t>
            </a:r>
          </a:p>
          <a:p>
            <a:endParaRPr lang="en-US" dirty="0"/>
          </a:p>
          <a:p>
            <a:r>
              <a:rPr lang="en-US" dirty="0"/>
              <a:t>LVOT obstruction may have a characteristic </a:t>
            </a:r>
            <a:r>
              <a:rPr lang="en-US" b="1" dirty="0"/>
              <a:t>harsh crescendo-decrescendo systolic murmur heard best at the apex and LLSB</a:t>
            </a:r>
          </a:p>
          <a:p>
            <a:endParaRPr lang="en-US" b="1" dirty="0"/>
          </a:p>
          <a:p>
            <a:r>
              <a:rPr lang="en-US" dirty="0"/>
              <a:t>Mitral regurgitation murmur may also occur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931362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1DF61F47-37EC-408A-BDC8-E491FB5E5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57995-9098-42A2-8E36-8BA9015D7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80D4D6-B06E-4316-8BBC-7A65A10A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6" y="1153287"/>
            <a:ext cx="3570566" cy="4551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dirty="0"/>
              <a:t>Extra Heart Sound: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s4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72A37F-0C2F-473C-9D71-B80AEE71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796" y="1962397"/>
            <a:ext cx="0" cy="2933206"/>
          </a:xfrm>
          <a:prstGeom prst="line">
            <a:avLst/>
          </a:prstGeom>
          <a:ln w="2222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6031" y="854110"/>
            <a:ext cx="6453969" cy="53604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000" dirty="0"/>
              <a:t>Heard in </a:t>
            </a:r>
            <a:r>
              <a:rPr lang="en-US" sz="2000" u="sng" dirty="0"/>
              <a:t>hypertrophic</a:t>
            </a:r>
            <a:r>
              <a:rPr lang="en-US" sz="2000" dirty="0"/>
              <a:t> cardiomyopathies 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Also called the atrial diastolic </a:t>
            </a:r>
            <a:r>
              <a:rPr lang="en-US" sz="2000" b="1" dirty="0"/>
              <a:t>gallop</a:t>
            </a:r>
            <a:r>
              <a:rPr lang="en-US" sz="2000" dirty="0"/>
              <a:t> or “Tennessee murmur”</a:t>
            </a:r>
            <a:endParaRPr lang="en-US" sz="2000" u="sng" dirty="0"/>
          </a:p>
          <a:p>
            <a:pPr>
              <a:spcBef>
                <a:spcPts val="700"/>
              </a:spcBef>
            </a:pPr>
            <a:r>
              <a:rPr lang="en-US" sz="2000" dirty="0"/>
              <a:t>Low-pitched, heard at the end of diastole immediately before S1 (ta-lub-dub)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Best heard at the cardiac apex with the bell of the stethoscope</a:t>
            </a:r>
          </a:p>
          <a:p>
            <a:pPr>
              <a:spcBef>
                <a:spcPts val="700"/>
              </a:spcBef>
            </a:pPr>
            <a:r>
              <a:rPr lang="en-US" sz="2000" dirty="0"/>
              <a:t>Augmentation: auscultate while pt performs a Valsalva strain or stands from the squatting 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016ABB-4F5D-4BFA-9406-7CD6139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74263" y="440267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51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463041"/>
            <a:ext cx="10178321" cy="522870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An electrocardiogram (ECG) is typically </a:t>
            </a:r>
            <a:r>
              <a:rPr lang="en-US" b="1" dirty="0"/>
              <a:t>abnormal</a:t>
            </a:r>
            <a:r>
              <a:rPr lang="en-US" dirty="0"/>
              <a:t>. It can </a:t>
            </a:r>
            <a:r>
              <a:rPr lang="en-US" i="1" dirty="0"/>
              <a:t>suggest</a:t>
            </a:r>
            <a:r>
              <a:rPr lang="en-US" dirty="0"/>
              <a:t> the diagnosis, but the findings are nonspecific and cannot be used to make a definitive diagnosis of CM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EKG findings may include: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b="1" dirty="0"/>
              <a:t>Left Ventricular Hypertrophy (LVH)</a:t>
            </a:r>
          </a:p>
          <a:p>
            <a:pPr lvl="2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Compensatory mechanisms may cause atrial hypertrophy as well, resulting in abnormal p waves</a:t>
            </a:r>
          </a:p>
          <a:p>
            <a:pPr lvl="3">
              <a:lnSpc>
                <a:spcPct val="120000"/>
              </a:lnSpc>
              <a:spcAft>
                <a:spcPts val="0"/>
              </a:spcAft>
            </a:pPr>
            <a:r>
              <a:rPr lang="en-US" sz="2600" dirty="0"/>
              <a:t>LVH with abnormal P waves strongly suggests HCM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Deep narrow (“dagger-like”) Q waves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One variant (apical) may result in deeply inverted T waves, aka “Giant Negative T Waves”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dirty="0"/>
              <a:t>May see atrial and </a:t>
            </a:r>
            <a:r>
              <a:rPr lang="en-US" i="1" dirty="0"/>
              <a:t>ventricular arrythmias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634370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463041"/>
            <a:ext cx="10178321" cy="5228704"/>
          </a:xfrm>
        </p:spPr>
        <p:txBody>
          <a:bodyPr>
            <a:normAutofit/>
          </a:bodyPr>
          <a:lstStyle/>
          <a:p>
            <a:r>
              <a:rPr lang="en-US" dirty="0"/>
              <a:t>ALL patients with the associated abnormal ECG findings or clinical concern for HCM need to have an </a:t>
            </a:r>
            <a:r>
              <a:rPr lang="en-US" b="1" dirty="0"/>
              <a:t>echocardiogram (“echo”)</a:t>
            </a:r>
          </a:p>
          <a:p>
            <a:endParaRPr lang="en-US" b="1" dirty="0"/>
          </a:p>
          <a:p>
            <a:r>
              <a:rPr lang="en-US" b="1" dirty="0"/>
              <a:t>Echo</a:t>
            </a:r>
            <a:r>
              <a:rPr lang="en-US" dirty="0"/>
              <a:t> is performed transthoracic (TTE) and uses doppler imaging to evaluate blood flow. It can demonstrate cardiac morphology, systolic and diastolic function, presence and severity of LVOT, and valvular abnormalities</a:t>
            </a:r>
            <a:endParaRPr lang="en-US" b="1" dirty="0"/>
          </a:p>
          <a:p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245801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190541"/>
            <a:ext cx="6838970" cy="45012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HCM is confirmed when there is any increase in </a:t>
            </a:r>
            <a:r>
              <a:rPr lang="en-US" b="1" dirty="0"/>
              <a:t>LV wall thickness ≥ 15mm </a:t>
            </a:r>
            <a:r>
              <a:rPr lang="en-US" dirty="0"/>
              <a:t>on echo, in the absence of another cause</a:t>
            </a:r>
          </a:p>
          <a:p>
            <a:endParaRPr lang="en-US" dirty="0"/>
          </a:p>
          <a:p>
            <a:r>
              <a:rPr lang="en-US" dirty="0"/>
              <a:t>The increased thickness is usually</a:t>
            </a:r>
            <a:r>
              <a:rPr lang="en-US" i="1" dirty="0"/>
              <a:t> </a:t>
            </a:r>
            <a:r>
              <a:rPr lang="en-US" b="1" dirty="0"/>
              <a:t>asymmetric</a:t>
            </a:r>
            <a:r>
              <a:rPr lang="en-US" dirty="0"/>
              <a:t> and may occur in any segment of the LV wall</a:t>
            </a:r>
          </a:p>
          <a:p>
            <a:pPr lvl="1"/>
            <a:r>
              <a:rPr lang="en-US" dirty="0"/>
              <a:t>Most often in the </a:t>
            </a:r>
            <a:r>
              <a:rPr lang="en-US" b="1" dirty="0"/>
              <a:t>septum</a:t>
            </a:r>
            <a:r>
              <a:rPr lang="en-US" dirty="0"/>
              <a:t> or anterolateral wall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6838968" cy="1641901"/>
          </a:xfrm>
        </p:spPr>
        <p:txBody>
          <a:bodyPr>
            <a:normAutofit/>
          </a:bodyPr>
          <a:lstStyle/>
          <a:p>
            <a:r>
              <a:rPr lang="en-US" dirty="0"/>
              <a:t>Hypertrophic cardiomyopathy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8063056-4E87-44D7-82B2-3120D521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47" y="0"/>
            <a:ext cx="4101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27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LVOT obstruction ≥50 mmHg is a strong and independent determinant of progressive heart failure (HF) symptoms and stroke death in patients with HCM</a:t>
            </a:r>
          </a:p>
          <a:p>
            <a:endParaRPr lang="en-US" dirty="0"/>
          </a:p>
          <a:p>
            <a:r>
              <a:rPr lang="en-US" dirty="0"/>
              <a:t>The presence of LVOT obstruction may include additional treatment options for heart failure symptoms, as well as the need to avoid some medications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060833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3041"/>
            <a:ext cx="5835819" cy="5228704"/>
          </a:xfrm>
        </p:spPr>
        <p:txBody>
          <a:bodyPr>
            <a:normAutofit/>
          </a:bodyPr>
          <a:lstStyle/>
          <a:p>
            <a:r>
              <a:rPr lang="en-US" dirty="0"/>
              <a:t>CMR is typically then ordered to more reliably assess LV morphology and maximal LV wall thickness</a:t>
            </a:r>
          </a:p>
          <a:p>
            <a:pPr lvl="1"/>
            <a:r>
              <a:rPr lang="en-US" dirty="0"/>
              <a:t>Anatomy is also better defined for select patients considering septal reduction (alcohol septal ablation or surgical myectomy)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4D5109-6651-4912-8004-78D8C4431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497" y="1763486"/>
            <a:ext cx="5104503" cy="509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19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Patients will also undergo an exercise stress test as part of the HCM evaluation</a:t>
            </a:r>
          </a:p>
          <a:p>
            <a:pPr lvl="1"/>
            <a:r>
              <a:rPr lang="en-US" dirty="0"/>
              <a:t>most have LVOT obstruction following exercise </a:t>
            </a:r>
          </a:p>
          <a:p>
            <a:pPr lvl="1"/>
            <a:r>
              <a:rPr lang="en-US" dirty="0"/>
              <a:t>Evaluates for exercise-related ischemia or arrythmias</a:t>
            </a:r>
          </a:p>
          <a:p>
            <a:pPr lvl="1"/>
            <a:r>
              <a:rPr lang="en-US" dirty="0"/>
              <a:t>Abnormal findings may include:</a:t>
            </a:r>
          </a:p>
          <a:p>
            <a:pPr lvl="2"/>
            <a:r>
              <a:rPr lang="en-US" dirty="0"/>
              <a:t>Symptoms (angina, dyspnea, palpitations, presyncope)</a:t>
            </a:r>
          </a:p>
          <a:p>
            <a:pPr lvl="2"/>
            <a:r>
              <a:rPr lang="en-US" dirty="0"/>
              <a:t>Failure of BP to increase appropriately or exercise-induced hypotension</a:t>
            </a:r>
          </a:p>
          <a:p>
            <a:pPr lvl="2"/>
            <a:r>
              <a:rPr lang="en-US" dirty="0"/>
              <a:t>Arrythmias (AF,  VT) at maximal intensity or immediately after exercise</a:t>
            </a:r>
          </a:p>
          <a:p>
            <a:pPr lvl="2"/>
            <a:r>
              <a:rPr lang="en-US" dirty="0"/>
              <a:t>Severe ST depression (reflecting myocardial ischemia)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012025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Due to large genetic influence, all first-degree family members of an affected individual should be evaluated</a:t>
            </a:r>
          </a:p>
          <a:p>
            <a:endParaRPr lang="en-US" dirty="0"/>
          </a:p>
          <a:p>
            <a:r>
              <a:rPr lang="en-US" dirty="0"/>
              <a:t>Family screening includes: </a:t>
            </a:r>
            <a:r>
              <a:rPr lang="en-US" b="1" dirty="0"/>
              <a:t>H&amp;P</a:t>
            </a:r>
            <a:r>
              <a:rPr lang="en-US" dirty="0"/>
              <a:t>,</a:t>
            </a:r>
            <a:r>
              <a:rPr lang="en-US" b="1" dirty="0"/>
              <a:t> ECG</a:t>
            </a:r>
            <a:r>
              <a:rPr lang="en-US" dirty="0"/>
              <a:t>, and </a:t>
            </a:r>
            <a:r>
              <a:rPr lang="en-US" b="1" dirty="0"/>
              <a:t>echo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an HCM-causing mutation is identified in the index case, </a:t>
            </a:r>
            <a:r>
              <a:rPr lang="en-US" i="1" dirty="0"/>
              <a:t>then</a:t>
            </a:r>
            <a:r>
              <a:rPr lang="en-US" dirty="0"/>
              <a:t> family members should be genetically screened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88613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Many cardiac etiologies can result in LVH which must be distinguished from HCM. These include acquired causes such as HTN, aortic stenosis, cardiac amyloid, and Athlete’s heart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“Athlete’s heart” – Athletic LVH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Athletic Left Ventricular Hypertrophy is NOT a cardiomyopathy!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With endurance training, there can be physiologic increased thickness of the left ventricular wall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These individuals can experience several benign arrhythmias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Ventricular wall thickness is </a:t>
            </a:r>
            <a:r>
              <a:rPr lang="en-US" u="sng" dirty="0">
                <a:solidFill>
                  <a:schemeClr val="accent2"/>
                </a:solidFill>
              </a:rPr>
              <a:t>symmetric</a:t>
            </a:r>
            <a:r>
              <a:rPr lang="en-US" dirty="0">
                <a:solidFill>
                  <a:schemeClr val="accent2"/>
                </a:solidFill>
              </a:rPr>
              <a:t> and usually measures between </a:t>
            </a:r>
            <a:r>
              <a:rPr lang="en-US" u="sng" dirty="0">
                <a:solidFill>
                  <a:schemeClr val="accent2"/>
                </a:solidFill>
              </a:rPr>
              <a:t>13-15 mm</a:t>
            </a:r>
            <a:r>
              <a:rPr lang="en-US" dirty="0">
                <a:solidFill>
                  <a:schemeClr val="accent2"/>
                </a:solidFill>
              </a:rPr>
              <a:t> during echocardiogram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499241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Treatment for asymptomatic HCM patients include close clinical observation and follow-up</a:t>
            </a:r>
          </a:p>
          <a:p>
            <a:endParaRPr lang="en-US" dirty="0"/>
          </a:p>
          <a:p>
            <a:r>
              <a:rPr lang="en-US" dirty="0"/>
              <a:t>All patients should be counseled on activity restriction: avoid competitive and strenuous exercise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223515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Heart failure symptoms or angina due to LVOT obstruction are treated with a </a:t>
            </a:r>
            <a:r>
              <a:rPr lang="en-US" sz="2800" b="1" dirty="0"/>
              <a:t>beta-blocker</a:t>
            </a:r>
            <a:r>
              <a:rPr lang="en-US" sz="2800" dirty="0"/>
              <a:t> (BB), such as metoprolol </a:t>
            </a:r>
          </a:p>
          <a:p>
            <a:pPr lvl="1"/>
            <a:r>
              <a:rPr lang="en-US" sz="2400" b="1" dirty="0"/>
              <a:t>Non</a:t>
            </a:r>
            <a:r>
              <a:rPr lang="en-US" sz="2400" dirty="0"/>
              <a:t>dihydropyridine CCB (such as diltiazem or verapamil) is typically used if there are contraindications to BB </a:t>
            </a:r>
            <a:r>
              <a:rPr lang="en-US" sz="2400" i="1" dirty="0"/>
              <a:t>(such as asthma)</a:t>
            </a:r>
            <a:r>
              <a:rPr lang="en-US" sz="2400" dirty="0"/>
              <a:t> or those who are unwilling to tolerate BB due to side effects </a:t>
            </a:r>
            <a:r>
              <a:rPr lang="en-US" sz="2400" i="1" dirty="0"/>
              <a:t>(i.e. feeling sluggish</a:t>
            </a:r>
            <a:r>
              <a:rPr lang="en-US" i="1" dirty="0"/>
              <a:t>)</a:t>
            </a:r>
          </a:p>
          <a:p>
            <a:pPr lvl="1"/>
            <a:endParaRPr lang="en-US" i="1" dirty="0"/>
          </a:p>
          <a:p>
            <a:pPr marL="457200" lvl="1" indent="0">
              <a:buNone/>
            </a:pPr>
            <a:r>
              <a:rPr lang="en-US" dirty="0"/>
              <a:t>Initially monotherapy, but may try a combo of BB and nondihydropyridine CCB if further management needed – greater likelihood of bradyarrhythmia and intolerance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886894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</a:t>
            </a:r>
            <a:r>
              <a:rPr lang="en-US" b="1" dirty="0"/>
              <a:t>HF symptoms are refractory</a:t>
            </a:r>
            <a:r>
              <a:rPr lang="en-US" dirty="0"/>
              <a:t> to drugs, surgical septal myectomy or ETOH septal ablation may help alleviate the LVOT obstruction</a:t>
            </a:r>
          </a:p>
          <a:p>
            <a:pPr lvl="1"/>
            <a:r>
              <a:rPr lang="en-US" dirty="0"/>
              <a:t>Surgical septal myectomy: removes a portion of the ventricular septum to enable a wider outflow tract for exit of blood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Alcohol septal ablation involves injecting absolute ethanol (1-3mL) percutaneously into a septal perforator branch (usually from the LAD coronary artery) that supplies the hypertrophied portion; this induces a local transmural infarction in that zone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953140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AVOID </a:t>
            </a:r>
            <a:r>
              <a:rPr lang="en-US" dirty="0"/>
              <a:t>in patients with significant LVOT obstruction as they can worsen LVOT obstruction and symptoms </a:t>
            </a:r>
          </a:p>
          <a:p>
            <a:pPr lvl="1"/>
            <a:r>
              <a:rPr lang="en-US" b="1" dirty="0"/>
              <a:t>Positive inotropes </a:t>
            </a:r>
            <a:r>
              <a:rPr lang="en-US" dirty="0"/>
              <a:t>(i.e. dopamine, dobutamine, digoxin)</a:t>
            </a:r>
          </a:p>
          <a:p>
            <a:pPr lvl="1"/>
            <a:r>
              <a:rPr lang="en-US" b="1" dirty="0"/>
              <a:t>Vasodilators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dihydropyridines CCB (nifedipine, amlodipine)</a:t>
            </a:r>
          </a:p>
          <a:p>
            <a:pPr lvl="2"/>
            <a:r>
              <a:rPr lang="en-US" dirty="0"/>
              <a:t>ACE/ARBs (lisinopril/losartan)</a:t>
            </a:r>
          </a:p>
          <a:p>
            <a:pPr lvl="2"/>
            <a:r>
              <a:rPr lang="en-US" dirty="0"/>
              <a:t>Nitrates (nitroglycerin)</a:t>
            </a:r>
          </a:p>
          <a:p>
            <a:pPr lvl="1"/>
            <a:r>
              <a:rPr lang="en-US" b="1" dirty="0"/>
              <a:t>Diuretics </a:t>
            </a:r>
            <a:r>
              <a:rPr lang="en-US" dirty="0"/>
              <a:t>(i.e. furosemide)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474600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9944B-A11A-4892-B209-563799DE4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Treatment of HCM patients with atrial fibrillation: due to increased risk of thromboembolism (clot formation), oral anticoagulation with either </a:t>
            </a:r>
            <a:r>
              <a:rPr lang="en-US" b="1" dirty="0"/>
              <a:t>warfarin (Coumadin)</a:t>
            </a:r>
            <a:r>
              <a:rPr lang="en-US" dirty="0"/>
              <a:t> or </a:t>
            </a:r>
            <a:r>
              <a:rPr lang="en-US" b="1" dirty="0"/>
              <a:t>DOAC</a:t>
            </a:r>
          </a:p>
          <a:p>
            <a:endParaRPr lang="en-US" dirty="0"/>
          </a:p>
          <a:p>
            <a:r>
              <a:rPr lang="en-US" dirty="0"/>
              <a:t>Treatment of HCM patients with ventricular arrythmias or higher risk for sudden cardiac death (SCD) is an Implantable Cardio Defibrillator (ICD) - only effective </a:t>
            </a:r>
            <a:r>
              <a:rPr lang="en-US" b="1" dirty="0"/>
              <a:t>prevention</a:t>
            </a:r>
            <a:r>
              <a:rPr lang="en-US" dirty="0"/>
              <a:t> strategy against sudden cardiac death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Hypertrophic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475243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6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6" y="1463041"/>
            <a:ext cx="10464701" cy="5228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HCM is the leading cause of sudden cardiac death in young athletes</a:t>
            </a:r>
          </a:p>
          <a:p>
            <a:r>
              <a:rPr lang="en-US" sz="2800" dirty="0"/>
              <a:t>Sudden cardiac arrest (SCA)/death is rare, but immediate and drastic</a:t>
            </a:r>
          </a:p>
          <a:p>
            <a:pPr lvl="1"/>
            <a:r>
              <a:rPr lang="en-US" sz="2400" dirty="0"/>
              <a:t>A person (typically </a:t>
            </a:r>
            <a:r>
              <a:rPr lang="en-US" sz="2400" i="1" dirty="0"/>
              <a:t>young adult athlete </a:t>
            </a:r>
            <a:r>
              <a:rPr lang="en-US" sz="2400" dirty="0"/>
              <a:t>in HCM) suddenly collapses, with absent pulse and respirations. Occasional there is chest discomfort/dyspnea/palpitations immediately prior to the arrest, but it often occurs without warning</a:t>
            </a:r>
          </a:p>
          <a:p>
            <a:pPr lvl="1"/>
            <a:r>
              <a:rPr lang="en-US" sz="2400" dirty="0"/>
              <a:t>Caused by ventricular arrythmias (</a:t>
            </a:r>
            <a:r>
              <a:rPr lang="en-US" sz="2400" b="1" dirty="0"/>
              <a:t>sustained Ventricular Tachycardia</a:t>
            </a:r>
            <a:r>
              <a:rPr lang="en-US" sz="2400" dirty="0"/>
              <a:t> / </a:t>
            </a:r>
            <a:r>
              <a:rPr lang="en-US" sz="2400" b="1" dirty="0"/>
              <a:t>Ventricular Fibrillation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HCM </a:t>
            </a:r>
            <a:r>
              <a:rPr lang="en-US" sz="4400" dirty="0"/>
              <a:t>and</a:t>
            </a:r>
            <a:r>
              <a:rPr lang="en-US" dirty="0"/>
              <a:t> sudden cardiac arrest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FD071A-5990-4431-9B93-3157D615798B}"/>
              </a:ext>
            </a:extLst>
          </p:cNvPr>
          <p:cNvGrpSpPr/>
          <p:nvPr/>
        </p:nvGrpSpPr>
        <p:grpSpPr>
          <a:xfrm>
            <a:off x="1579500" y="5472114"/>
            <a:ext cx="9522678" cy="1023782"/>
            <a:chOff x="1597532" y="4636677"/>
            <a:chExt cx="9522678" cy="10237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4E254A-ABCC-40B1-B1E7-BD9FC481A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4194" y="4656509"/>
              <a:ext cx="2760562" cy="738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 descr="ACLS Ventricular Fibrillation and Pulseless Ventricular Tachycardia Guide">
              <a:extLst>
                <a:ext uri="{FF2B5EF4-FFF2-40B4-BE49-F238E27FC236}">
                  <a16:creationId xmlns:a16="http://schemas.microsoft.com/office/drawing/2014/main" id="{69068B6F-277B-4AE8-A161-5C422B841E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0047" y="4991159"/>
              <a:ext cx="3289232" cy="669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Arrow: Curved Right 12">
              <a:extLst>
                <a:ext uri="{FF2B5EF4-FFF2-40B4-BE49-F238E27FC236}">
                  <a16:creationId xmlns:a16="http://schemas.microsoft.com/office/drawing/2014/main" id="{F932573A-E343-44B5-89AE-C88EA58EAD60}"/>
                </a:ext>
              </a:extLst>
            </p:cNvPr>
            <p:cNvSpPr/>
            <p:nvPr/>
          </p:nvSpPr>
          <p:spPr>
            <a:xfrm>
              <a:off x="1597532" y="4783015"/>
              <a:ext cx="331749" cy="611944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5" name="Arrow: Curved Right 14">
              <a:extLst>
                <a:ext uri="{FF2B5EF4-FFF2-40B4-BE49-F238E27FC236}">
                  <a16:creationId xmlns:a16="http://schemas.microsoft.com/office/drawing/2014/main" id="{B5E18172-E694-49D5-B3DD-C7D5F94BF406}"/>
                </a:ext>
              </a:extLst>
            </p:cNvPr>
            <p:cNvSpPr/>
            <p:nvPr/>
          </p:nvSpPr>
          <p:spPr>
            <a:xfrm rot="1806300" flipH="1">
              <a:off x="10796408" y="4636677"/>
              <a:ext cx="323802" cy="651893"/>
            </a:xfrm>
            <a:prstGeom prst="curvedRightArrow">
              <a:avLst>
                <a:gd name="adj1" fmla="val 25000"/>
                <a:gd name="adj2" fmla="val 50000"/>
                <a:gd name="adj3" fmla="val 405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2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6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9CA10-DD01-4D19-9B13-512EC933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6" y="1463041"/>
            <a:ext cx="10464701" cy="5228704"/>
          </a:xfrm>
        </p:spPr>
        <p:txBody>
          <a:bodyPr>
            <a:normAutofit/>
          </a:bodyPr>
          <a:lstStyle/>
          <a:p>
            <a:r>
              <a:rPr lang="en-US" sz="3200" dirty="0"/>
              <a:t>Risk is greatest in pts &lt;40yoa, previously identified non-sustained VT, massive hypertrophy, hypotension on stress test, and FH of SCA</a:t>
            </a:r>
          </a:p>
          <a:p>
            <a:endParaRPr lang="en-US" dirty="0"/>
          </a:p>
          <a:p>
            <a:r>
              <a:rPr lang="en-US" dirty="0"/>
              <a:t>In patients with acute hemodynamic collapse </a:t>
            </a:r>
            <a:r>
              <a:rPr lang="en-US" b="1" dirty="0"/>
              <a:t>/ </a:t>
            </a:r>
            <a:r>
              <a:rPr lang="en-US" dirty="0"/>
              <a:t>SCA</a:t>
            </a:r>
          </a:p>
          <a:p>
            <a:pPr lvl="1"/>
            <a:r>
              <a:rPr lang="en-US" sz="2800" dirty="0"/>
              <a:t>Life-saving interventions will be discussed in ACLS and arrythmias lecture, but prompt </a:t>
            </a:r>
            <a:r>
              <a:rPr lang="en-US" sz="2800" b="1" dirty="0"/>
              <a:t>defibrillation</a:t>
            </a:r>
            <a:r>
              <a:rPr lang="en-US" sz="2800" dirty="0"/>
              <a:t> and </a:t>
            </a:r>
            <a:r>
              <a:rPr lang="en-US" sz="2800" b="1" dirty="0"/>
              <a:t>CPR</a:t>
            </a:r>
            <a:r>
              <a:rPr lang="en-US" sz="2800" dirty="0"/>
              <a:t> is necessary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14367-3411-40BF-8748-9ECDA8B8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HCM </a:t>
            </a:r>
            <a:r>
              <a:rPr lang="en-US" sz="4400" dirty="0"/>
              <a:t>and </a:t>
            </a:r>
            <a:r>
              <a:rPr lang="en-US" dirty="0"/>
              <a:t>sudden cardiac arrest</a:t>
            </a:r>
          </a:p>
        </p:txBody>
      </p:sp>
    </p:spTree>
    <p:extLst>
      <p:ext uri="{BB962C8B-B14F-4D97-AF65-F5344CB8AC3E}">
        <p14:creationId xmlns:p14="http://schemas.microsoft.com/office/powerpoint/2010/main" val="1225855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Arrhythmogenic right ventricular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1844347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858779"/>
            <a:ext cx="5963510" cy="483296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Autosomal dominant disorder</a:t>
            </a:r>
          </a:p>
          <a:p>
            <a:endParaRPr lang="en-US" dirty="0"/>
          </a:p>
          <a:p>
            <a:r>
              <a:rPr lang="en-US" dirty="0"/>
              <a:t>Mutations in genes encoding for desmosomal proteins, which cause myocyte detachment and apoptosis. The myocytes are then replaced by </a:t>
            </a:r>
            <a:r>
              <a:rPr lang="en-US" b="1" dirty="0"/>
              <a:t>fibro-fatty tissue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  <p:pic>
        <p:nvPicPr>
          <p:cNvPr id="18434" name="Picture 2" descr="See the source image">
            <a:extLst>
              <a:ext uri="{FF2B5EF4-FFF2-40B4-BE49-F238E27FC236}">
                <a16:creationId xmlns:a16="http://schemas.microsoft.com/office/drawing/2014/main" id="{935AEF0F-FEAC-4A3E-9C6B-D740AD65E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63" y="1746704"/>
            <a:ext cx="4548187" cy="51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722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58779"/>
            <a:ext cx="10178322" cy="4832965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Presents typically with </a:t>
            </a:r>
            <a:r>
              <a:rPr lang="en-US" sz="3600" b="1" dirty="0"/>
              <a:t>right-sided heart failure </a:t>
            </a:r>
            <a:r>
              <a:rPr lang="en-US" sz="3600" dirty="0"/>
              <a:t>symptoms and various rhythm disturbances, particularly VT </a:t>
            </a:r>
          </a:p>
          <a:p>
            <a:endParaRPr lang="en-US" sz="3600" dirty="0"/>
          </a:p>
          <a:p>
            <a:r>
              <a:rPr lang="en-US" sz="3600" dirty="0"/>
              <a:t>Often precipitated by release of catecholamines during exercise and is the 2</a:t>
            </a:r>
            <a:r>
              <a:rPr lang="en-US" sz="3600" baseline="30000" dirty="0"/>
              <a:t>nd</a:t>
            </a:r>
            <a:r>
              <a:rPr lang="en-US" sz="3600" dirty="0"/>
              <a:t> MCC of sudden death in athletes</a:t>
            </a:r>
          </a:p>
          <a:p>
            <a:endParaRPr lang="en-US" sz="3600" dirty="0"/>
          </a:p>
          <a:p>
            <a:r>
              <a:rPr lang="en-US" sz="3600" dirty="0"/>
              <a:t>Often diagnosed in the 2nd or 3rd decade of life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78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58779"/>
            <a:ext cx="10178322" cy="4832965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Three phases of clinical presentation:</a:t>
            </a:r>
          </a:p>
          <a:p>
            <a:pPr lvl="1"/>
            <a:r>
              <a:rPr lang="en-US" sz="2400" dirty="0"/>
              <a:t>Concealed phase- asymptomatic patients</a:t>
            </a:r>
          </a:p>
          <a:p>
            <a:pPr lvl="1"/>
            <a:r>
              <a:rPr lang="en-US" sz="2400" dirty="0"/>
              <a:t>Electrical phase - patients present with palpitations or syncope</a:t>
            </a:r>
          </a:p>
          <a:p>
            <a:pPr lvl="1"/>
            <a:r>
              <a:rPr lang="en-US" sz="2400" dirty="0"/>
              <a:t>Diffuse phase - patient’s present with </a:t>
            </a:r>
            <a:r>
              <a:rPr lang="en-US" sz="2400" i="1" dirty="0"/>
              <a:t>right sided heart failure</a:t>
            </a:r>
          </a:p>
          <a:p>
            <a:r>
              <a:rPr lang="en-US" dirty="0"/>
              <a:t>Results in:</a:t>
            </a:r>
          </a:p>
          <a:p>
            <a:pPr lvl="1"/>
            <a:r>
              <a:rPr lang="en-US" sz="2400" dirty="0"/>
              <a:t>Right sided heart failure (JVD, peripheral edema, ascites, etc.)</a:t>
            </a:r>
          </a:p>
          <a:p>
            <a:pPr lvl="1"/>
            <a:r>
              <a:rPr lang="en-US" sz="2400" dirty="0"/>
              <a:t>V-Tach</a:t>
            </a:r>
          </a:p>
          <a:p>
            <a:pPr lvl="1"/>
            <a:r>
              <a:rPr lang="en-US" sz="2400" dirty="0"/>
              <a:t>Sudden death</a:t>
            </a:r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0885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58779"/>
            <a:ext cx="10178322" cy="4832965"/>
          </a:xfrm>
        </p:spPr>
        <p:txBody>
          <a:bodyPr>
            <a:normAutofit/>
          </a:bodyPr>
          <a:lstStyle/>
          <a:p>
            <a:r>
              <a:rPr lang="en-US" sz="3600" dirty="0"/>
              <a:t>EKG is suggestive, but nonspecific</a:t>
            </a:r>
          </a:p>
          <a:p>
            <a:pPr lvl="1"/>
            <a:r>
              <a:rPr lang="en-US" sz="3200" dirty="0"/>
              <a:t>50% of patients will have a normal EKG at presentation</a:t>
            </a:r>
          </a:p>
          <a:p>
            <a:pPr lvl="1"/>
            <a:r>
              <a:rPr lang="en-US" sz="3200" dirty="0"/>
              <a:t>However, all patients had one or more EKG findings in a retrospective study performed over 6 years</a:t>
            </a:r>
          </a:p>
          <a:p>
            <a:pPr lvl="1"/>
            <a:r>
              <a:rPr lang="en-US" sz="3200" dirty="0"/>
              <a:t>PVCs, QRS prolongation, </a:t>
            </a:r>
            <a:r>
              <a:rPr lang="en-US" sz="3200" b="1" dirty="0"/>
              <a:t>V-Tach</a:t>
            </a:r>
            <a:r>
              <a:rPr lang="en-US" sz="3200" dirty="0"/>
              <a:t>, bundle branch blocks, T wave inversions, </a:t>
            </a:r>
            <a:r>
              <a:rPr lang="en-US" sz="3200" u="sng" dirty="0"/>
              <a:t>Epsilon wave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75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58779"/>
            <a:ext cx="10178322" cy="4832965"/>
          </a:xfrm>
        </p:spPr>
        <p:txBody>
          <a:bodyPr>
            <a:normAutofit/>
          </a:bodyPr>
          <a:lstStyle/>
          <a:p>
            <a:pPr>
              <a:buFont typeface="Gill Sans MT" panose="020B0502020104020203" pitchFamily="34" charset="0"/>
              <a:buChar char="›"/>
            </a:pPr>
            <a:r>
              <a:rPr lang="en-US" dirty="0"/>
              <a:t>Epsilon waves: notches/blips/wiggles at the end of the QRS complex in precordial leads (particularly V1)</a:t>
            </a:r>
          </a:p>
          <a:p>
            <a:pPr lvl="1">
              <a:buFont typeface="Gill Sans MT" panose="020B0502020104020203" pitchFamily="34" charset="0"/>
              <a:buChar char="›"/>
            </a:pPr>
            <a:r>
              <a:rPr lang="en-US" dirty="0"/>
              <a:t>Caused by delayed excitation of the myocytes strands that are scattered between fibrous and fatty tissue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30728-A0E4-483F-B34D-E643D55E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522" y="3944562"/>
            <a:ext cx="4616957" cy="29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024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58779"/>
            <a:ext cx="10178322" cy="483296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Echocardiogram is again, the test of choice for diagnosis</a:t>
            </a:r>
          </a:p>
          <a:p>
            <a:pPr lvl="1"/>
            <a:r>
              <a:rPr lang="en-US" sz="2400" dirty="0"/>
              <a:t>Demonstrates enlarged/dilated RV with RV wall motion abnormalities and possibly fatty tissue in the RV wall</a:t>
            </a:r>
          </a:p>
          <a:p>
            <a:pPr lvl="1"/>
            <a:r>
              <a:rPr lang="en-US" sz="2400" dirty="0"/>
              <a:t>Left ventricle is normal (until later stages)</a:t>
            </a:r>
          </a:p>
          <a:p>
            <a:pPr lvl="1"/>
            <a:endParaRPr lang="en-US" sz="2400" dirty="0"/>
          </a:p>
          <a:p>
            <a:r>
              <a:rPr lang="en-US" dirty="0"/>
              <a:t>Cardiac MRI</a:t>
            </a:r>
          </a:p>
          <a:p>
            <a:pPr lvl="1"/>
            <a:r>
              <a:rPr lang="en-US" sz="2400" dirty="0"/>
              <a:t>Used as a follow up study</a:t>
            </a:r>
          </a:p>
          <a:p>
            <a:pPr lvl="1"/>
            <a:r>
              <a:rPr lang="en-US" sz="2400" dirty="0"/>
              <a:t>Best study to identify </a:t>
            </a:r>
            <a:r>
              <a:rPr lang="en-US" sz="2400" b="1" dirty="0"/>
              <a:t>the fibro-fatty</a:t>
            </a:r>
            <a:r>
              <a:rPr lang="en-US" sz="2400" dirty="0"/>
              <a:t> infiltrates in patient with </a:t>
            </a:r>
            <a:r>
              <a:rPr lang="en-US" sz="2400" b="1" dirty="0"/>
              <a:t>RV findings</a:t>
            </a:r>
            <a:r>
              <a:rPr lang="en-US" sz="2400" dirty="0"/>
              <a:t> on echo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3507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AFC24-CD19-4AA6-9FF1-2DB18AAF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58779"/>
            <a:ext cx="10178322" cy="4832965"/>
          </a:xfrm>
        </p:spPr>
        <p:txBody>
          <a:bodyPr>
            <a:normAutofit fontScale="92500"/>
          </a:bodyPr>
          <a:lstStyle/>
          <a:p>
            <a:r>
              <a:rPr lang="en-US" dirty="0"/>
              <a:t>Treatment consists of:</a:t>
            </a:r>
          </a:p>
          <a:p>
            <a:pPr lvl="1"/>
            <a:r>
              <a:rPr lang="en-US" sz="3200" dirty="0"/>
              <a:t>Activity restriction (avoid competitive/strenuous exercise)</a:t>
            </a:r>
          </a:p>
          <a:p>
            <a:pPr lvl="1"/>
            <a:r>
              <a:rPr lang="en-US" sz="3200" dirty="0"/>
              <a:t>Anti-arrhythmic drugs – first line are BB</a:t>
            </a:r>
          </a:p>
          <a:p>
            <a:pPr lvl="1"/>
            <a:r>
              <a:rPr lang="en-US" sz="3200" dirty="0"/>
              <a:t>Implantable cardio defibrillator (ICD) - appropriate for the secondary prevention of sudden cardiac death in those who have experienced a sustained ventricular arrhythmia</a:t>
            </a:r>
          </a:p>
          <a:p>
            <a:pPr lvl="1"/>
            <a:r>
              <a:rPr lang="en-US" sz="3200" dirty="0"/>
              <a:t>Last resort is cardiac transplantation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5832A9-3DA6-4AC0-AB94-109AA8A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Arrhythmogenic Right Ventricular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656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1DF61F47-37EC-408A-BDC8-E491FB5E5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157995-9098-42A2-8E36-8BA9015D7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BD17F87-FE96-4A5F-83F2-3E87B953B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6" y="666625"/>
            <a:ext cx="10668004" cy="12078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ln>
                  <a:solidFill>
                    <a:schemeClr val="accent1"/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Mixed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46C973-6034-4DAE-8C50-764E31604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9705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2ADC72-9292-411C-B17E-1DC83998D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53659" y="666625"/>
            <a:ext cx="0" cy="1207892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96" y="2286001"/>
            <a:ext cx="10570420" cy="3593592"/>
          </a:xfrm>
        </p:spPr>
        <p:txBody>
          <a:bodyPr vert="horz" lIns="91440" tIns="45720" rIns="91440" bIns="45720" rtlCol="0">
            <a:normAutofit/>
          </a:bodyPr>
          <a:lstStyle/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3600" dirty="0"/>
              <a:t> Dilated cardiomyopathy (DCM)</a:t>
            </a:r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endParaRPr lang="en-US" sz="3600" dirty="0"/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3600" dirty="0"/>
              <a:t> Restrictive cardiomyopathy (RCM)</a:t>
            </a:r>
          </a:p>
        </p:txBody>
      </p:sp>
    </p:spTree>
    <p:extLst>
      <p:ext uri="{BB962C8B-B14F-4D97-AF65-F5344CB8AC3E}">
        <p14:creationId xmlns:p14="http://schemas.microsoft.com/office/powerpoint/2010/main" val="3032216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</p:spTree>
    <p:extLst>
      <p:ext uri="{BB962C8B-B14F-4D97-AF65-F5344CB8AC3E}">
        <p14:creationId xmlns:p14="http://schemas.microsoft.com/office/powerpoint/2010/main" val="7204530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u="sng" dirty="0"/>
              <a:t>most common</a:t>
            </a:r>
            <a:r>
              <a:rPr lang="en-US" dirty="0"/>
              <a:t> form of cardiomyopathies</a:t>
            </a:r>
          </a:p>
          <a:p>
            <a:r>
              <a:rPr lang="en-US" dirty="0"/>
              <a:t>Characterized by dilation of the ventricle (typically left but can also include right) and impairment of ventricle contraction</a:t>
            </a:r>
          </a:p>
          <a:p>
            <a:pPr lvl="1"/>
            <a:r>
              <a:rPr lang="en-US" u="sng" dirty="0"/>
              <a:t>Systolic dysfunction</a:t>
            </a:r>
            <a:r>
              <a:rPr lang="en-US" dirty="0"/>
              <a:t> (ejection fraction ≤ 40%) with left ventricular enlargement </a:t>
            </a:r>
          </a:p>
          <a:p>
            <a:pPr lvl="1"/>
            <a:r>
              <a:rPr lang="en-US" dirty="0"/>
              <a:t>Usually presents with features of cardiomegaly and s/s of heart failure that are progressive, often becoming severe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18211-52BB-4EC8-BC0C-BD11428973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2087" y1="47927" x2="32087" y2="47927"/>
                      </a14:backgroundRemoval>
                    </a14:imgEffect>
                  </a14:imgLayer>
                </a14:imgProps>
              </a:ext>
            </a:extLst>
          </a:blip>
          <a:srcRect l="20836" t="16044" r="24892" b="31502"/>
          <a:stretch/>
        </p:blipFill>
        <p:spPr>
          <a:xfrm>
            <a:off x="9013371" y="23386"/>
            <a:ext cx="2914022" cy="1798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750BCF-B2EA-43E4-8E28-5997421E0CBF}"/>
              </a:ext>
            </a:extLst>
          </p:cNvPr>
          <p:cNvSpPr txBox="1"/>
          <p:nvPr/>
        </p:nvSpPr>
        <p:spPr>
          <a:xfrm>
            <a:off x="9435402" y="1683540"/>
            <a:ext cx="668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Normal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B6BB9-6959-4F36-A104-76C7A25C9630}"/>
              </a:ext>
            </a:extLst>
          </p:cNvPr>
          <p:cNvSpPr txBox="1"/>
          <p:nvPr/>
        </p:nvSpPr>
        <p:spPr>
          <a:xfrm>
            <a:off x="10863943" y="1695483"/>
            <a:ext cx="5293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DCM</a:t>
            </a:r>
          </a:p>
        </p:txBody>
      </p:sp>
    </p:spTree>
    <p:extLst>
      <p:ext uri="{BB962C8B-B14F-4D97-AF65-F5344CB8AC3E}">
        <p14:creationId xmlns:p14="http://schemas.microsoft.com/office/powerpoint/2010/main" val="9590024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Causes are mixed: genetic and acquired</a:t>
            </a:r>
          </a:p>
          <a:p>
            <a:pPr lvl="1"/>
            <a:r>
              <a:rPr lang="en-US" sz="2400" dirty="0"/>
              <a:t>Acquired from </a:t>
            </a:r>
            <a:r>
              <a:rPr lang="en-US" sz="2400" b="1" dirty="0"/>
              <a:t>ETOH</a:t>
            </a:r>
            <a:r>
              <a:rPr lang="en-US" sz="2400" dirty="0"/>
              <a:t> use; </a:t>
            </a:r>
            <a:r>
              <a:rPr lang="en-US" sz="2400" i="1" dirty="0"/>
              <a:t>early stages may be reversible if able to abstain from alcohol</a:t>
            </a:r>
          </a:p>
          <a:p>
            <a:pPr lvl="1"/>
            <a:r>
              <a:rPr lang="en-US" sz="2400" dirty="0"/>
              <a:t>Acquired from pregnancy (PPCM); though there may be some underlying genetic factors</a:t>
            </a:r>
          </a:p>
          <a:p>
            <a:pPr lvl="1"/>
            <a:r>
              <a:rPr lang="en-US" sz="2400" dirty="0"/>
              <a:t>About 35% of DCM are attributed to genetics</a:t>
            </a:r>
          </a:p>
          <a:p>
            <a:pPr lvl="2"/>
            <a:r>
              <a:rPr lang="en-US" sz="1800" dirty="0"/>
              <a:t>Muscular Dystrophy: mutation in the dystrophin encoding gene causes lysis of the cardiomyocytes</a:t>
            </a:r>
          </a:p>
          <a:p>
            <a:pPr lvl="1"/>
            <a:r>
              <a:rPr lang="en-US" sz="2400" dirty="0"/>
              <a:t>Drugs/Toxins represent another source of acquired DCM </a:t>
            </a:r>
          </a:p>
          <a:p>
            <a:pPr lvl="2"/>
            <a:r>
              <a:rPr lang="en-US" sz="1800" dirty="0"/>
              <a:t>Chemotherapy agents: </a:t>
            </a:r>
            <a:r>
              <a:rPr lang="en-US" sz="1800" b="1" dirty="0"/>
              <a:t>doxorubicin</a:t>
            </a:r>
            <a:r>
              <a:rPr lang="en-US" sz="1800" dirty="0"/>
              <a:t> (Adriamycin) – generally develops within 3 months of last dose</a:t>
            </a:r>
          </a:p>
          <a:p>
            <a:pPr lvl="2"/>
            <a:r>
              <a:rPr lang="en-US" sz="1800" dirty="0"/>
              <a:t>Anti-rheumatic agents: </a:t>
            </a:r>
            <a:r>
              <a:rPr lang="en-US" sz="1800" b="1" dirty="0"/>
              <a:t>hydroxychloroquine</a:t>
            </a:r>
            <a:r>
              <a:rPr lang="en-US" sz="1800" dirty="0"/>
              <a:t> (Plaquenil)</a:t>
            </a:r>
          </a:p>
          <a:p>
            <a:pPr lvl="1"/>
            <a:r>
              <a:rPr lang="en-US" sz="2400" dirty="0"/>
              <a:t>Idiopathic (50%) – family members in half of idiopathic DCM patients are found to also have abnormal cardiac evaluations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3676826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Clinical symptoms:</a:t>
            </a:r>
          </a:p>
          <a:p>
            <a:pPr lvl="1"/>
            <a:r>
              <a:rPr lang="en-US" dirty="0"/>
              <a:t>Typical present with left-sided heart failure, which include exertional intolerance/dyspnea early and PND/orthopnea in later stages. Cough with frothy sputum (signifying pulmonary edema), and right heart failure symptoms will then occur, such as anasarca, LE edema, and abdominal distension </a:t>
            </a:r>
          </a:p>
          <a:p>
            <a:r>
              <a:rPr lang="en-US" dirty="0"/>
              <a:t>Physical exam: </a:t>
            </a:r>
          </a:p>
          <a:p>
            <a:pPr lvl="1"/>
            <a:r>
              <a:rPr lang="en-US" dirty="0"/>
              <a:t>May see signs of left-sided heart failure +/- right-sided HF</a:t>
            </a:r>
          </a:p>
          <a:p>
            <a:pPr lvl="2"/>
            <a:r>
              <a:rPr lang="en-US" dirty="0"/>
              <a:t>S3 heart sound and regurg murmurs (tricuspid and mitral)</a:t>
            </a:r>
          </a:p>
          <a:p>
            <a:pPr lvl="2"/>
            <a:r>
              <a:rPr lang="en-US" dirty="0"/>
              <a:t>Rales</a:t>
            </a:r>
          </a:p>
          <a:p>
            <a:pPr lvl="2"/>
            <a:r>
              <a:rPr lang="en-US" dirty="0"/>
              <a:t>Elevated JVP,  peripheral edema,  ascites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7141583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1DF61F47-37EC-408A-BDC8-E491FB5E5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57995-9098-42A2-8E36-8BA9015D7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80D4D6-B06E-4316-8BBC-7A65A10A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6" y="1153287"/>
            <a:ext cx="3570566" cy="4551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dirty="0"/>
              <a:t>Extra Heart Sound: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s3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72A37F-0C2F-473C-9D71-B80AEE71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796" y="1962397"/>
            <a:ext cx="0" cy="2933206"/>
          </a:xfrm>
          <a:prstGeom prst="line">
            <a:avLst/>
          </a:prstGeom>
          <a:ln w="2222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6031" y="723480"/>
            <a:ext cx="6453969" cy="5491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700"/>
              </a:spcBef>
            </a:pPr>
            <a:r>
              <a:rPr lang="en-US" sz="2400" dirty="0"/>
              <a:t>Heard in </a:t>
            </a:r>
            <a:r>
              <a:rPr lang="en-US" sz="2400" u="sng" dirty="0"/>
              <a:t>dilated</a:t>
            </a:r>
            <a:r>
              <a:rPr lang="en-US" sz="2400" dirty="0"/>
              <a:t> cardiomyopathies </a:t>
            </a:r>
          </a:p>
          <a:p>
            <a:pPr>
              <a:spcBef>
                <a:spcPts val="700"/>
              </a:spcBef>
            </a:pPr>
            <a:r>
              <a:rPr lang="en-US" sz="2400" dirty="0"/>
              <a:t>Also called the ventricular diastolic </a:t>
            </a:r>
            <a:r>
              <a:rPr lang="en-US" sz="2400" b="1" dirty="0"/>
              <a:t>gallop</a:t>
            </a:r>
            <a:r>
              <a:rPr lang="en-US" sz="2400" dirty="0"/>
              <a:t> or “Kentucky murmur”</a:t>
            </a:r>
          </a:p>
          <a:p>
            <a:pPr>
              <a:spcBef>
                <a:spcPts val="700"/>
              </a:spcBef>
            </a:pPr>
            <a:r>
              <a:rPr lang="en-US" sz="2400" dirty="0"/>
              <a:t>low-pitched sound occurring at the beginning of diastole shortly after S2 (lub-dub-ta)</a:t>
            </a:r>
          </a:p>
          <a:p>
            <a:pPr>
              <a:spcBef>
                <a:spcPts val="700"/>
              </a:spcBef>
            </a:pPr>
            <a:r>
              <a:rPr lang="en-US" sz="2400" dirty="0"/>
              <a:t>Best heard at the cardiac apex with the patient in the left lateral position</a:t>
            </a:r>
          </a:p>
          <a:p>
            <a:pPr>
              <a:spcBef>
                <a:spcPts val="700"/>
              </a:spcBef>
            </a:pPr>
            <a:r>
              <a:rPr lang="en-US" sz="2400" dirty="0"/>
              <a:t>Accentuated in more tachycardic patients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016ABB-4F5D-4BFA-9406-7CD6139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74263" y="440267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48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Workup includes:</a:t>
            </a:r>
          </a:p>
          <a:p>
            <a:pPr lvl="1"/>
            <a:r>
              <a:rPr lang="en-US" sz="3200" b="1" dirty="0"/>
              <a:t>Echo</a:t>
            </a:r>
            <a:r>
              <a:rPr lang="en-US" sz="3200" dirty="0"/>
              <a:t> will provide the most useful information and is the test of choice for diagnosis</a:t>
            </a:r>
          </a:p>
          <a:p>
            <a:pPr lvl="2"/>
            <a:r>
              <a:rPr lang="en-US" sz="2800" dirty="0"/>
              <a:t>Findings: dilation of the cavity of the left ventricle with a normal or decreased wall thickness, reduced inward endocardial systolic motion, EF ≤ 40%</a:t>
            </a:r>
          </a:p>
          <a:p>
            <a:pPr lvl="3"/>
            <a:r>
              <a:rPr lang="en-US" sz="2800" dirty="0"/>
              <a:t>May also include enlargement of the atria and RV as well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5542003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3041"/>
            <a:ext cx="7058308" cy="522870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Workup includes:</a:t>
            </a:r>
          </a:p>
          <a:p>
            <a:pPr lvl="1"/>
            <a:r>
              <a:rPr lang="en-US" dirty="0"/>
              <a:t>CXR: suggestive but not specific enough to diagnosis DCM. Findings include:</a:t>
            </a:r>
          </a:p>
          <a:p>
            <a:pPr lvl="2"/>
            <a:r>
              <a:rPr lang="en-US" sz="2800" dirty="0"/>
              <a:t>Cardiomegaly and fluffy infiltrates (known as Kerley lines)</a:t>
            </a:r>
          </a:p>
          <a:p>
            <a:pPr lvl="3"/>
            <a:r>
              <a:rPr lang="en-US" sz="2100" dirty="0"/>
              <a:t>Kerley A lines: long (at least 2cm) un-branching lines coursing diagonally from the hila out to the periphery of the lungs</a:t>
            </a:r>
          </a:p>
          <a:p>
            <a:pPr lvl="3"/>
            <a:r>
              <a:rPr lang="en-US" sz="2100" dirty="0"/>
              <a:t>Kerley B lines:  short, fat horizontal lines in the periphery</a:t>
            </a:r>
          </a:p>
          <a:p>
            <a:pPr lvl="3"/>
            <a:r>
              <a:rPr lang="en-US" sz="2100" dirty="0"/>
              <a:t>Kerley C lines: short, fine lines throughout the lungs (least common)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May also see pleural effusions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D07E568-A749-4F47-BA1A-A7516B5F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986" y="3065918"/>
            <a:ext cx="3882013" cy="379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70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Workup includes:</a:t>
            </a:r>
          </a:p>
          <a:p>
            <a:pPr lvl="1"/>
            <a:r>
              <a:rPr lang="en-US" dirty="0"/>
              <a:t>ECG: sinus tach and LBBB are most common; a-fib is 2</a:t>
            </a:r>
            <a:r>
              <a:rPr lang="en-US" baseline="30000" dirty="0"/>
              <a:t>nd</a:t>
            </a:r>
            <a:r>
              <a:rPr lang="en-US" dirty="0"/>
              <a:t> most common (again, these are not specific to DCM)</a:t>
            </a:r>
          </a:p>
          <a:p>
            <a:pPr lvl="1"/>
            <a:r>
              <a:rPr lang="en-US" dirty="0"/>
              <a:t>BNP: helps establish prognosis and severity of HF (increasingly elevates as heart failure worsens)</a:t>
            </a:r>
          </a:p>
          <a:p>
            <a:pPr lvl="1"/>
            <a:r>
              <a:rPr lang="en-US" dirty="0"/>
              <a:t>Troponins not useful except to rule out acute coronary event</a:t>
            </a:r>
          </a:p>
          <a:p>
            <a:pPr lvl="1"/>
            <a:r>
              <a:rPr lang="en-US" dirty="0"/>
              <a:t>Stress test</a:t>
            </a:r>
          </a:p>
          <a:p>
            <a:pPr lvl="1"/>
            <a:r>
              <a:rPr lang="en-US" dirty="0"/>
              <a:t>Cardiac cath may be included to evaluate for ischemic causes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40706424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Treatment:</a:t>
            </a:r>
          </a:p>
          <a:p>
            <a:pPr lvl="1"/>
            <a:r>
              <a:rPr lang="en-US" dirty="0"/>
              <a:t>Correct reversible causes if possible (i.e. ETOH)</a:t>
            </a:r>
          </a:p>
          <a:p>
            <a:pPr lvl="1"/>
            <a:r>
              <a:rPr lang="en-US" dirty="0"/>
              <a:t>Treat heart failure</a:t>
            </a:r>
          </a:p>
          <a:p>
            <a:pPr lvl="2"/>
            <a:r>
              <a:rPr lang="en-US" dirty="0"/>
              <a:t>Beta-Blockers (reduce heart rate and myocardial O2 demand)</a:t>
            </a:r>
          </a:p>
          <a:p>
            <a:pPr lvl="2"/>
            <a:r>
              <a:rPr lang="en-US" dirty="0"/>
              <a:t>Vasodilators:  ACE inhibitors (for afterload reduction) and nitroglycerin (for preload &amp; afterload reduction)</a:t>
            </a:r>
          </a:p>
          <a:p>
            <a:pPr lvl="2"/>
            <a:r>
              <a:rPr lang="en-US" dirty="0"/>
              <a:t>Diuretics (i.e. furosemide)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6158118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B87FB-9ABB-48EF-BBAE-74E7A2C9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Treatment:</a:t>
            </a:r>
          </a:p>
          <a:p>
            <a:pPr lvl="1"/>
            <a:r>
              <a:rPr lang="en-US" dirty="0"/>
              <a:t>Prevent thromboembolism with anticoagulants </a:t>
            </a:r>
          </a:p>
          <a:p>
            <a:pPr lvl="1"/>
            <a:r>
              <a:rPr lang="en-US" dirty="0"/>
              <a:t>Manage dysrhythmias</a:t>
            </a:r>
          </a:p>
          <a:p>
            <a:pPr lvl="2"/>
            <a:r>
              <a:rPr lang="en-US" dirty="0"/>
              <a:t>Beta blockers</a:t>
            </a:r>
          </a:p>
          <a:p>
            <a:pPr lvl="2"/>
            <a:r>
              <a:rPr lang="en-US" dirty="0"/>
              <a:t>Digoxin (positive inotrope used for dilated cardiomyopathy) </a:t>
            </a:r>
          </a:p>
          <a:p>
            <a:pPr lvl="2"/>
            <a:r>
              <a:rPr lang="en-US" dirty="0"/>
              <a:t>Implantable cardioverter/defibrillators (ICD)</a:t>
            </a:r>
          </a:p>
          <a:p>
            <a:pPr lvl="1"/>
            <a:r>
              <a:rPr lang="en-US" dirty="0"/>
              <a:t>Cardiac transplantation: DCM is most common reason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5436E7-1B57-4964-8BE8-83D726AE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7532561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0427651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787FF7-201B-4338-A12A-1DE626AA5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36431"/>
            <a:ext cx="8471672" cy="53553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Less common than DCM or HCM</a:t>
            </a:r>
          </a:p>
          <a:p>
            <a:r>
              <a:rPr lang="en-US" dirty="0"/>
              <a:t>Distinct characteristics as compared to DCM and HCM:</a:t>
            </a:r>
          </a:p>
          <a:p>
            <a:pPr lvl="1"/>
            <a:r>
              <a:rPr lang="en-US" dirty="0"/>
              <a:t>Non-dilated ventricles with (usually) normal wall thickness (although infiltrative disease may cause increase LV wall thickness)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Ventricular walls are rigid (“stiff ventricles”), resulting in severe </a:t>
            </a:r>
            <a:r>
              <a:rPr lang="en-US" u="sng" dirty="0"/>
              <a:t>diastolic dysfunction</a:t>
            </a:r>
            <a:r>
              <a:rPr lang="en-US" dirty="0"/>
              <a:t> and restrictive filling with elevated filling pressures and dilated atria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LV systolic function usually remains normal (though will start to become impaired when RCM is severe)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8D1AF-7AF1-434D-9CDC-CF3167D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Restrictive cardiomyopathy (RCM)</a:t>
            </a:r>
          </a:p>
        </p:txBody>
      </p:sp>
      <p:pic>
        <p:nvPicPr>
          <p:cNvPr id="16386" name="Picture 2" descr="See the source image">
            <a:extLst>
              <a:ext uri="{FF2B5EF4-FFF2-40B4-BE49-F238E27FC236}">
                <a16:creationId xmlns:a16="http://schemas.microsoft.com/office/drawing/2014/main" id="{64E7A980-AC76-4210-BB64-5BF486ACE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3350" y="4077393"/>
            <a:ext cx="21907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8081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8" name="Straight Connector 8">
            <a:extLst>
              <a:ext uri="{FF2B5EF4-FFF2-40B4-BE49-F238E27FC236}">
                <a16:creationId xmlns:a16="http://schemas.microsoft.com/office/drawing/2014/main" id="{C8E03AB5-49EB-4104-9D3E-011B792CCC1D}"/>
              </a:ext>
            </a:extLst>
          </p:cNvPr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1517650" y="6173788"/>
            <a:ext cx="9144000" cy="0"/>
          </a:xfrm>
          <a:prstGeom prst="line">
            <a:avLst/>
          </a:prstGeom>
          <a:noFill/>
          <a:ln w="9525" algn="ctr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7" name="TextBox 9">
            <a:extLst>
              <a:ext uri="{FF2B5EF4-FFF2-40B4-BE49-F238E27FC236}">
                <a16:creationId xmlns:a16="http://schemas.microsoft.com/office/drawing/2014/main" id="{BDEE0FA6-600A-4A2F-B945-6BC5B538BD5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278064" y="6227763"/>
            <a:ext cx="8237537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Citation: Chapter 14 Myocardial Diseases, Elmoselhi A. </a:t>
            </a:r>
            <a:r>
              <a:rPr kumimoji="0" lang="en-US" alt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Cardiology: An Integrated Approach;</a:t>
            </a: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 2017. Available at: https://accessmedicine.mhmedical.com/content.aspx?sectionid=171661981&amp;bookid=2224 Accessed: October 09, 2020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Arial"/>
              </a:rPr>
              <a:t>Copyright © 2020 McGraw-Hill Education. All rights reserved</a:t>
            </a:r>
          </a:p>
        </p:txBody>
      </p:sp>
      <p:pic>
        <p:nvPicPr>
          <p:cNvPr id="14340" name="Picture 10">
            <a:extLst>
              <a:ext uri="{FF2B5EF4-FFF2-40B4-BE49-F238E27FC236}">
                <a16:creationId xmlns:a16="http://schemas.microsoft.com/office/drawing/2014/main" id="{FD90E1D0-28DA-441A-A8B3-E5F4A61CE2F7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8" y="6269038"/>
            <a:ext cx="4508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Placeholder 2">
            <a:extLst>
              <a:ext uri="{FF2B5EF4-FFF2-40B4-BE49-F238E27FC236}">
                <a16:creationId xmlns:a16="http://schemas.microsoft.com/office/drawing/2014/main" id="{656F8B29-0A06-4F3D-9A77-E5ED6971DA0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1517650" y="5549900"/>
            <a:ext cx="8894762" cy="71913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254000" tIns="0" rIns="0" bIns="635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800" b="0" i="0" u="none" strike="noStrike" kern="1200" cap="none" spc="0" normalizeH="0" baseline="0" noProof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Arial"/>
                <a:sym typeface="Wingdings" charset="2"/>
              </a:defRPr>
            </a:pPr>
            <a:r>
              <a:rPr kumimoji="0" lang="en-US" sz="1000" b="0" i="0" u="none" strike="noStrike" kern="1200" cap="none" spc="0" normalizeH="0" baseline="0" noProof="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Helvetica"/>
                <a:sym typeface="Wingdings"/>
              </a:rPr>
              <a:t>Classification of restrictive cardiomyopathy. (Reproduced, with permission, from Crawford MH, ed. Current Diagnosis and Treatment: Cardiology. 4th ed. New York, NY: McGraw-Hill; 2014.)
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39EFB-C34E-4035-9B95-0703E1D189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4182" y="231502"/>
            <a:ext cx="6850936" cy="50064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EF03E9-7206-43F8-B100-C403ED367187}"/>
              </a:ext>
            </a:extLst>
          </p:cNvPr>
          <p:cNvSpPr/>
          <p:nvPr/>
        </p:nvSpPr>
        <p:spPr>
          <a:xfrm>
            <a:off x="2994410" y="3537020"/>
            <a:ext cx="1024932" cy="49236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361B2-BFA6-422E-BFEC-2867B2C04E0B}"/>
              </a:ext>
            </a:extLst>
          </p:cNvPr>
          <p:cNvSpPr/>
          <p:nvPr/>
        </p:nvSpPr>
        <p:spPr>
          <a:xfrm>
            <a:off x="5884366" y="2061587"/>
            <a:ext cx="1199722" cy="52083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10D7A-EEE0-42E7-9611-F23BCC9A15E5}"/>
              </a:ext>
            </a:extLst>
          </p:cNvPr>
          <p:cNvSpPr/>
          <p:nvPr/>
        </p:nvSpPr>
        <p:spPr>
          <a:xfrm>
            <a:off x="5884366" y="2795017"/>
            <a:ext cx="1199722" cy="52083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684AAE-1A29-48B4-A528-49516974281F}"/>
              </a:ext>
            </a:extLst>
          </p:cNvPr>
          <p:cNvSpPr txBox="1"/>
          <p:nvPr/>
        </p:nvSpPr>
        <p:spPr>
          <a:xfrm>
            <a:off x="9656815" y="1627833"/>
            <a:ext cx="1004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~50% of RCM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6BBF953-E3CB-413D-B1F2-A487060BD00C}"/>
              </a:ext>
            </a:extLst>
          </p:cNvPr>
          <p:cNvCxnSpPr/>
          <p:nvPr/>
        </p:nvCxnSpPr>
        <p:spPr>
          <a:xfrm rot="10800000">
            <a:off x="9375113" y="1497205"/>
            <a:ext cx="422031" cy="351693"/>
          </a:xfrm>
          <a:prstGeom prst="curvedConnector3">
            <a:avLst>
              <a:gd name="adj1" fmla="val 40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7FFE673-FE74-4281-B483-BD9A6AC2D36C}"/>
              </a:ext>
            </a:extLst>
          </p:cNvPr>
          <p:cNvSpPr/>
          <p:nvPr/>
        </p:nvSpPr>
        <p:spPr>
          <a:xfrm>
            <a:off x="8510607" y="1226870"/>
            <a:ext cx="1017210" cy="53159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787FF7-201B-4338-A12A-1DE626AA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RCM develops Left and Right heart failure, and progression is usually rapid</a:t>
            </a:r>
          </a:p>
          <a:p>
            <a:pPr lvl="1"/>
            <a:r>
              <a:rPr lang="en-US" dirty="0"/>
              <a:t>SOB</a:t>
            </a:r>
          </a:p>
          <a:p>
            <a:pPr lvl="1"/>
            <a:r>
              <a:rPr lang="en-US" dirty="0"/>
              <a:t>Orthopnea</a:t>
            </a:r>
          </a:p>
          <a:p>
            <a:pPr lvl="1"/>
            <a:r>
              <a:rPr lang="en-US" dirty="0"/>
              <a:t>PND </a:t>
            </a:r>
          </a:p>
          <a:p>
            <a:pPr lvl="1"/>
            <a:r>
              <a:rPr lang="en-US" dirty="0"/>
              <a:t>JVD, peripheral edema, ascites</a:t>
            </a:r>
          </a:p>
          <a:p>
            <a:pPr lvl="1"/>
            <a:r>
              <a:rPr lang="en-US" dirty="0"/>
              <a:t>Gallop rhythm (S3 or S4) and regurg murmurs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8D1AF-7AF1-434D-9CDC-CF3167D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Restrictive cardiomyopathy (RCM)</a:t>
            </a:r>
          </a:p>
        </p:txBody>
      </p:sp>
    </p:spTree>
    <p:extLst>
      <p:ext uri="{BB962C8B-B14F-4D97-AF65-F5344CB8AC3E}">
        <p14:creationId xmlns:p14="http://schemas.microsoft.com/office/powerpoint/2010/main" val="14091110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C8D1AF-7AF1-434D-9CDC-CF3167D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Restrictive cardiomyopathy (RCM)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95A4B5-3D23-4CE1-8883-4EB44FDA4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Workup includes:</a:t>
            </a:r>
          </a:p>
          <a:p>
            <a:r>
              <a:rPr lang="en-US" dirty="0"/>
              <a:t>ECG: nonspecific abnormalities, may show </a:t>
            </a:r>
            <a:r>
              <a:rPr lang="en-US" b="1" dirty="0"/>
              <a:t>decreased QRS amplitude</a:t>
            </a:r>
          </a:p>
          <a:p>
            <a:endParaRPr lang="en-US" dirty="0"/>
          </a:p>
          <a:p>
            <a:r>
              <a:rPr lang="en-US" dirty="0"/>
              <a:t>CXR: may show cardiomegaly (secondary to enlarged atria) and pulmonary congestion</a:t>
            </a:r>
          </a:p>
          <a:p>
            <a:endParaRPr lang="en-US" dirty="0"/>
          </a:p>
          <a:p>
            <a:r>
              <a:rPr lang="en-US" b="1" u="sng" dirty="0"/>
              <a:t>Echocardiogram</a:t>
            </a:r>
            <a:r>
              <a:rPr lang="en-US" dirty="0"/>
              <a:t>: TOC – shows non-dilated, non-hypertrophied ventricles with bi-atrial enlargement, preserved systolic LV but abnormal diastolic function</a:t>
            </a:r>
          </a:p>
        </p:txBody>
      </p:sp>
    </p:spTree>
    <p:extLst>
      <p:ext uri="{BB962C8B-B14F-4D97-AF65-F5344CB8AC3E}">
        <p14:creationId xmlns:p14="http://schemas.microsoft.com/office/powerpoint/2010/main" val="5900563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C8D1AF-7AF1-434D-9CDC-CF3167D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Restrictive cardiomyopathy (RCM)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95A4B5-3D23-4CE1-8883-4EB44FDA4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Workup includes:</a:t>
            </a:r>
          </a:p>
          <a:p>
            <a:r>
              <a:rPr lang="en-US" dirty="0"/>
              <a:t>Cardiac MRI: provides data regarding the presence or absence of myocardial infiltration and fibrosis, patterns which inform the diagnosis of specific forms of RCM</a:t>
            </a:r>
          </a:p>
          <a:p>
            <a:endParaRPr lang="en-US" dirty="0"/>
          </a:p>
          <a:p>
            <a:r>
              <a:rPr lang="en-US" dirty="0"/>
              <a:t>Endomyocardial biopsy: most accurate, but invasive and less commonly used. It may be necessary to confirm the presence of infiltrative disease if MRI is unclear/equivocal</a:t>
            </a:r>
          </a:p>
        </p:txBody>
      </p:sp>
    </p:spTree>
    <p:extLst>
      <p:ext uri="{BB962C8B-B14F-4D97-AF65-F5344CB8AC3E}">
        <p14:creationId xmlns:p14="http://schemas.microsoft.com/office/powerpoint/2010/main" val="22120600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C8D1AF-7AF1-434D-9CDC-CF3167D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Restrictive cardiomyopathy (RCM)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95A4B5-3D23-4CE1-8883-4EB44FDA4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No cure; management is aimed at HF and arrhythmia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RCM has the lowest one-year survival rates when compared to DCM and HCM;  most patients die within a few years of diagnosis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Heart transplant may be performed but seldom advised because of the underlying primary disease</a:t>
            </a:r>
          </a:p>
        </p:txBody>
      </p:sp>
    </p:spTree>
    <p:extLst>
      <p:ext uri="{BB962C8B-B14F-4D97-AF65-F5344CB8AC3E}">
        <p14:creationId xmlns:p14="http://schemas.microsoft.com/office/powerpoint/2010/main" val="2648463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1DF61F47-37EC-408A-BDC8-E491FB5E5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157995-9098-42A2-8E36-8BA9015D7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BD17F87-FE96-4A5F-83F2-3E87B953B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6" y="666625"/>
            <a:ext cx="10668004" cy="12078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200" dirty="0">
                <a:ln>
                  <a:solidFill>
                    <a:schemeClr val="accent1"/>
                  </a:solidFill>
                </a:ln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Acquired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46C973-6034-4DAE-8C50-764E31604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9705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2ADC72-9292-411C-B17E-1DC83998D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53659" y="666625"/>
            <a:ext cx="0" cy="1207892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96" y="2286000"/>
            <a:ext cx="10570420" cy="4104751"/>
          </a:xfrm>
        </p:spPr>
        <p:txBody>
          <a:bodyPr vert="horz" lIns="91440" tIns="45720" rIns="91440" bIns="45720" rtlCol="0">
            <a:normAutofit/>
          </a:bodyPr>
          <a:lstStyle/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3600" dirty="0"/>
              <a:t> Myocarditis (infectious/inflammatory)</a:t>
            </a:r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endParaRPr lang="en-US" sz="3600" dirty="0"/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3600" dirty="0"/>
              <a:t> Peripartum cardiomyopathy (PPCM)</a:t>
            </a:r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endParaRPr lang="en-US" sz="3600" dirty="0"/>
          </a:p>
          <a:p>
            <a:pPr marL="1492250" lvl="2" indent="-457200">
              <a:lnSpc>
                <a:spcPct val="110000"/>
              </a:lnSpc>
              <a:spcBef>
                <a:spcPts val="700"/>
              </a:spcBef>
              <a:buFont typeface="+mj-lt"/>
              <a:buAutoNum type="alphaUcPeriod"/>
            </a:pPr>
            <a:r>
              <a:rPr lang="en-US" sz="3600" dirty="0"/>
              <a:t> Stress-related “Tako-Tsubo”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3957423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Myocarditis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0813930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inflammatory process with necrosis that involves the myocardium</a:t>
            </a:r>
          </a:p>
          <a:p>
            <a:r>
              <a:rPr lang="en-US" dirty="0"/>
              <a:t>The histologic hallmark is a </a:t>
            </a:r>
            <a:r>
              <a:rPr lang="en-US" b="1" dirty="0"/>
              <a:t>focal patchy </a:t>
            </a:r>
            <a:r>
              <a:rPr lang="en-US" dirty="0"/>
              <a:t>or </a:t>
            </a:r>
            <a:r>
              <a:rPr lang="en-US" b="1" dirty="0"/>
              <a:t>diffuse inflammatory infiltrate </a:t>
            </a:r>
            <a:r>
              <a:rPr lang="en-US" dirty="0"/>
              <a:t>with adjacent myocyte injury</a:t>
            </a:r>
          </a:p>
          <a:p>
            <a:r>
              <a:rPr lang="en-US" dirty="0"/>
              <a:t>Course of illness varies:</a:t>
            </a:r>
          </a:p>
          <a:p>
            <a:pPr lvl="1"/>
            <a:r>
              <a:rPr lang="en-US" dirty="0"/>
              <a:t>Asymptomatic, self-limiting</a:t>
            </a:r>
          </a:p>
          <a:p>
            <a:pPr lvl="1"/>
            <a:r>
              <a:rPr lang="en-US" dirty="0"/>
              <a:t>Fevers, chest pain, chills, N/V/D, arthralgia, myalgia </a:t>
            </a:r>
          </a:p>
          <a:p>
            <a:pPr lvl="1"/>
            <a:r>
              <a:rPr lang="en-US" dirty="0"/>
              <a:t>Acute HF,  arrhythmias and death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42473103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Etiologies:</a:t>
            </a:r>
          </a:p>
          <a:p>
            <a:pPr lvl="1"/>
            <a:r>
              <a:rPr lang="en-US" dirty="0"/>
              <a:t>Most commonly initiated by </a:t>
            </a:r>
            <a:r>
              <a:rPr lang="en-US" b="1" dirty="0"/>
              <a:t>viral</a:t>
            </a:r>
            <a:r>
              <a:rPr lang="en-US" dirty="0"/>
              <a:t> infection </a:t>
            </a:r>
          </a:p>
          <a:p>
            <a:pPr lvl="2"/>
            <a:r>
              <a:rPr lang="en-US" sz="2800" dirty="0"/>
              <a:t>The most common viruses associated with myocarditis in the United States and Western Europe in immunocompetent persons are adenoviruses, coxsackievirus B (enterovirus), parvovirus B19, herpes simplex, influenza A, and cytomegalovirus (CMV)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5638048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Etiologies also include:</a:t>
            </a:r>
          </a:p>
          <a:p>
            <a:pPr lvl="1"/>
            <a:r>
              <a:rPr lang="en-US" dirty="0"/>
              <a:t>Bacteria: (mycoplasma, staph, strep, haemophilus, tuberculosis…)</a:t>
            </a:r>
          </a:p>
          <a:p>
            <a:pPr lvl="1"/>
            <a:r>
              <a:rPr lang="en-US" dirty="0"/>
              <a:t>Fungus: (toxoplasmosis, coccidiomycosis, histoplasmosis)</a:t>
            </a:r>
          </a:p>
          <a:p>
            <a:pPr lvl="1"/>
            <a:r>
              <a:rPr lang="en-US" dirty="0"/>
              <a:t>Parasites: (Amebiasis)</a:t>
            </a:r>
          </a:p>
          <a:p>
            <a:pPr lvl="1"/>
            <a:r>
              <a:rPr lang="en-US" dirty="0"/>
              <a:t>Protozoan: (Chagas disease - South America)</a:t>
            </a:r>
          </a:p>
          <a:p>
            <a:pPr lvl="1"/>
            <a:r>
              <a:rPr lang="en-US" dirty="0"/>
              <a:t>Autoimmune conditions: (Giant-Cell Myocarditis)</a:t>
            </a:r>
          </a:p>
          <a:p>
            <a:pPr lvl="1"/>
            <a:r>
              <a:rPr lang="en-US" dirty="0"/>
              <a:t>Drugs, toxins, hypersensitivity reactions, collagen vascular diseases, and autoimmune reactions may also be contributing factors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13313452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Myocarditis may initially be overshadowed or completely masked by the constitutional symptoms of the illness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i.e. fever, malaise, fatigue, arthralgias, myalgias, and skin rash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Red flag: </a:t>
            </a:r>
            <a:r>
              <a:rPr lang="en-US" dirty="0"/>
              <a:t>frequently seek medical attention </a:t>
            </a:r>
            <a:r>
              <a:rPr lang="en-US" u="sng" dirty="0"/>
              <a:t>days/weeks</a:t>
            </a:r>
            <a:r>
              <a:rPr lang="en-US" dirty="0"/>
              <a:t> after an acute flu-like syndrome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u="sng" dirty="0"/>
              <a:t>C/o of chest pain or present with s/s of acute onset of HF </a:t>
            </a:r>
            <a:r>
              <a:rPr lang="en-US" sz="2200" dirty="0"/>
              <a:t>(dyspnea, fatigue, decreased exercise tolerance, palpitations, JVD, peripheral edema, ascites)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600" dirty="0"/>
              <a:t>Other presentations may include syncope, ventricular arrhythmias, complete heart block, or emboli (such as a PE)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17760744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Workup:</a:t>
            </a:r>
          </a:p>
          <a:p>
            <a:pPr lvl="1"/>
            <a:r>
              <a:rPr lang="en-US" dirty="0"/>
              <a:t>ECG:  Tachycardia and non-specific ST and T wave changes</a:t>
            </a:r>
          </a:p>
          <a:p>
            <a:pPr lvl="1"/>
            <a:r>
              <a:rPr lang="en-US" dirty="0"/>
              <a:t>Positive cardiac enzymes</a:t>
            </a:r>
          </a:p>
          <a:p>
            <a:pPr lvl="1"/>
            <a:r>
              <a:rPr lang="en-US" dirty="0"/>
              <a:t>+/- cardiomegaly on CXR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Echo</a:t>
            </a:r>
            <a:r>
              <a:rPr lang="en-US" dirty="0"/>
              <a:t>: many presentations; left ventricular dysfunction is commonly seen but findings can mimic HCM, DCM, RCM and ARVC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22793283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Supportive care</a:t>
            </a:r>
          </a:p>
          <a:p>
            <a:pPr lvl="1"/>
            <a:r>
              <a:rPr lang="en-US" dirty="0"/>
              <a:t>Hospitalize and monitor closely for HF,  arrhythmias</a:t>
            </a:r>
          </a:p>
          <a:p>
            <a:pPr lvl="1"/>
            <a:r>
              <a:rPr lang="en-US" dirty="0"/>
              <a:t>Rest</a:t>
            </a:r>
          </a:p>
          <a:p>
            <a:pPr lvl="1"/>
            <a:r>
              <a:rPr lang="en-US" dirty="0"/>
              <a:t>NSAIDs</a:t>
            </a:r>
          </a:p>
          <a:p>
            <a:pPr lvl="1"/>
            <a:r>
              <a:rPr lang="en-US" dirty="0"/>
              <a:t>Oxygen</a:t>
            </a:r>
          </a:p>
          <a:p>
            <a:pPr lvl="1"/>
            <a:r>
              <a:rPr lang="en-US" dirty="0"/>
              <a:t>+/- antibiotics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35253437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98E4C-1B07-47EA-8E40-72F1F4DE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Heart Failure management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Restrict fluids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Diuretics (acutely, then continue depending on course)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ACE inhibitors or Beta Blockers (ongoing management)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Anticoagulation necessary if embolic event (such as PE) or mural thrombi detected on ECHO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In severe cases:  arrhythmia suppression, hemodynamic support, vasopressors, positive inotropes, intra-aortic balloon pumps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Prolonged courses can result in the need for a heart transplant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6E43D-315F-4355-BF61-D9847C7E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Myocarditis</a:t>
            </a:r>
          </a:p>
        </p:txBody>
      </p:sp>
    </p:spTree>
    <p:extLst>
      <p:ext uri="{BB962C8B-B14F-4D97-AF65-F5344CB8AC3E}">
        <p14:creationId xmlns:p14="http://schemas.microsoft.com/office/powerpoint/2010/main" val="955222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Peripartum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  <p:pic>
        <p:nvPicPr>
          <p:cNvPr id="5" name="Graphic 4" descr="Pregnant lady">
            <a:extLst>
              <a:ext uri="{FF2B5EF4-FFF2-40B4-BE49-F238E27FC236}">
                <a16:creationId xmlns:a16="http://schemas.microsoft.com/office/drawing/2014/main" id="{83D38EA5-5660-4D77-92D1-37761ADFC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898004" y="2175758"/>
            <a:ext cx="5067361" cy="479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29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Rare form of CM that is acquired in late pregnancy or early post-partum (mc during 1</a:t>
            </a:r>
            <a:r>
              <a:rPr lang="en-US" baseline="30000" dirty="0"/>
              <a:t>st</a:t>
            </a:r>
            <a:r>
              <a:rPr lang="en-US" dirty="0"/>
              <a:t> month after delivery)</a:t>
            </a:r>
          </a:p>
          <a:p>
            <a:endParaRPr lang="en-US" dirty="0"/>
          </a:p>
          <a:p>
            <a:r>
              <a:rPr lang="en-US" dirty="0"/>
              <a:t>LV systolic dysfunction with ejection fraction of ≤45%</a:t>
            </a:r>
          </a:p>
          <a:p>
            <a:endParaRPr lang="en-US" dirty="0"/>
          </a:p>
          <a:p>
            <a:r>
              <a:rPr lang="en-US" dirty="0"/>
              <a:t>LV is frequently dilated; typically presents like a dilated cardiomyopathy</a:t>
            </a:r>
          </a:p>
          <a:p>
            <a:endParaRPr lang="en-US" dirty="0"/>
          </a:p>
          <a:p>
            <a:r>
              <a:rPr lang="en-US" dirty="0"/>
              <a:t>Etiology is unknown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Peripartum cardiomyopathy (PPCM)</a:t>
            </a:r>
          </a:p>
        </p:txBody>
      </p:sp>
    </p:spTree>
    <p:extLst>
      <p:ext uri="{BB962C8B-B14F-4D97-AF65-F5344CB8AC3E}">
        <p14:creationId xmlns:p14="http://schemas.microsoft.com/office/powerpoint/2010/main" val="4991909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factors:</a:t>
            </a:r>
          </a:p>
          <a:p>
            <a:pPr lvl="1"/>
            <a:r>
              <a:rPr lang="en-US" dirty="0"/>
              <a:t>Age &gt; 30 years</a:t>
            </a:r>
          </a:p>
          <a:p>
            <a:pPr lvl="1"/>
            <a:r>
              <a:rPr lang="en-US" dirty="0"/>
              <a:t>African descent</a:t>
            </a:r>
          </a:p>
          <a:p>
            <a:pPr lvl="1"/>
            <a:r>
              <a:rPr lang="en-US" dirty="0"/>
              <a:t>Multiple gestation pregnancy</a:t>
            </a:r>
          </a:p>
          <a:p>
            <a:pPr lvl="1"/>
            <a:r>
              <a:rPr lang="en-US" dirty="0"/>
              <a:t>Hx preeclampsia, eclampsia, or postpartum hypertension</a:t>
            </a:r>
          </a:p>
          <a:p>
            <a:pPr lvl="1"/>
            <a:r>
              <a:rPr lang="en-US" dirty="0"/>
              <a:t>Maternal cocaine use</a:t>
            </a:r>
          </a:p>
          <a:p>
            <a:pPr lvl="1"/>
            <a:r>
              <a:rPr lang="en-US" dirty="0"/>
              <a:t>Prolonged tocolytic therapy with oral beta-adrenergic agonists (i.e. terbutaline)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Peripartum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716855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clinical presentation is variable and similar to the other CMs</a:t>
            </a:r>
          </a:p>
          <a:p>
            <a:pPr lvl="1"/>
            <a:r>
              <a:rPr lang="en-US" dirty="0"/>
              <a:t>Dyspnea, cough, orthopnea, PND, pedal edema</a:t>
            </a:r>
          </a:p>
          <a:p>
            <a:pPr lvl="2"/>
            <a:r>
              <a:rPr lang="en-US" dirty="0"/>
              <a:t>Initial diagnosis may be delayed because of ‘normal’ pregnancy symptoms such as nonspecific fatigue, SOB, swelling of feet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PE findings may include an elevated JVP, a displaced apical impulse, S3, mitral regurgitation murmur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Peripartum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8126348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diagnosis, must meet all 3 criteria: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HF toward end of pregnancy or within 6 months of delivery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Absence of another identifiable cause of HF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LV systolic dysfunction = LVEF ≤ 45%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Peripartum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10444791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Workup needs to include Echo and ECG</a:t>
            </a:r>
          </a:p>
          <a:p>
            <a:endParaRPr lang="en-US" dirty="0"/>
          </a:p>
          <a:p>
            <a:r>
              <a:rPr lang="en-US" dirty="0"/>
              <a:t>Other studies such as BNP, CXR, cardiac MRI, cardiac catheterization, and endomyocardial biopsy may be helpful in selected cases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Peripartum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5071820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Treatment of PPCM is similar to other forms of dilated CM but modifications are usually needed for safety of mother and unborn/breastfeeding baby</a:t>
            </a:r>
          </a:p>
          <a:p>
            <a:pPr lvl="1"/>
            <a:r>
              <a:rPr lang="en-US" dirty="0"/>
              <a:t>Avoid ACEi/ARBs in pregnancy/breastfeeding</a:t>
            </a:r>
          </a:p>
          <a:p>
            <a:endParaRPr lang="en-US" dirty="0"/>
          </a:p>
          <a:p>
            <a:r>
              <a:rPr lang="en-US" dirty="0"/>
              <a:t>Prompt delivery is suggested in women with PPCM with advanced HF and hemodynamic instability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Peripartum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22558991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38B3-BD85-4658-80CB-B25F4F7B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Half of patients with PPCM will spontaneously recover; the other half will have persistent left ventricular dysfunction, heart failure and early death</a:t>
            </a:r>
          </a:p>
          <a:p>
            <a:pPr lvl="1"/>
            <a:r>
              <a:rPr lang="en-US" dirty="0"/>
              <a:t>1 in 10 PPCM diagnoses will be fatal</a:t>
            </a:r>
          </a:p>
          <a:p>
            <a:endParaRPr lang="en-US" dirty="0"/>
          </a:p>
          <a:p>
            <a:r>
              <a:rPr lang="en-US" dirty="0"/>
              <a:t>Advised to avoid future pregnancies due to risk of recurrence, HF progression and maternal death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C09A64-C1E3-468A-870A-70FC977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Peripartum cardiomyopathy</a:t>
            </a:r>
          </a:p>
        </p:txBody>
      </p:sp>
    </p:spTree>
    <p:extLst>
      <p:ext uri="{BB962C8B-B14F-4D97-AF65-F5344CB8AC3E}">
        <p14:creationId xmlns:p14="http://schemas.microsoft.com/office/powerpoint/2010/main" val="5097313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2E49-25A5-4270-A2AD-0CD086DD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Tako-tsubo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07999-1052-47F3-AE8A-23120D67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Cardiomyopathy</a:t>
            </a:r>
          </a:p>
        </p:txBody>
      </p:sp>
      <p:pic>
        <p:nvPicPr>
          <p:cNvPr id="5" name="Graphic 4" descr="Broken Heart">
            <a:extLst>
              <a:ext uri="{FF2B5EF4-FFF2-40B4-BE49-F238E27FC236}">
                <a16:creationId xmlns:a16="http://schemas.microsoft.com/office/drawing/2014/main" id="{AAA78410-DE87-4A1B-B709-ACA416494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0130" y="3603619"/>
            <a:ext cx="2180493" cy="21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48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BBC950-163D-418B-822F-2B4351BB3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AKA “stress-induced CM” and “broken-heart syndrome”</a:t>
            </a:r>
          </a:p>
          <a:p>
            <a:pPr>
              <a:spcBef>
                <a:spcPts val="1200"/>
              </a:spcBef>
            </a:pPr>
            <a:r>
              <a:rPr lang="en-US" dirty="0"/>
              <a:t>Transient LV dysfunction without significant coronary artery disease </a:t>
            </a:r>
          </a:p>
          <a:p>
            <a:pPr>
              <a:spcBef>
                <a:spcPts val="1200"/>
              </a:spcBef>
            </a:pPr>
            <a:r>
              <a:rPr lang="en-US" sz="3200" dirty="0"/>
              <a:t>Precipitated by </a:t>
            </a:r>
            <a:r>
              <a:rPr lang="en-US" sz="3200" b="1" dirty="0"/>
              <a:t>acute emotional</a:t>
            </a:r>
            <a:r>
              <a:rPr lang="en-US" sz="3200" dirty="0"/>
              <a:t> or </a:t>
            </a:r>
            <a:r>
              <a:rPr lang="en-US" sz="3200" b="1" dirty="0"/>
              <a:t>psychological distress</a:t>
            </a:r>
          </a:p>
          <a:p>
            <a:pPr>
              <a:spcBef>
                <a:spcPts val="1200"/>
              </a:spcBef>
            </a:pPr>
            <a:r>
              <a:rPr lang="en-US" dirty="0"/>
              <a:t>Surge of catecholamines causes coronary artery spasm – presents like a STEMI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A4B10-DB2A-4C5C-BF8E-F9328B7C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Tako-tsubo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7288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BBC950-163D-418B-822F-2B4351BB3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described in Japan – 1990s; demonstrated impaired myocardial contractility of the heart’s apex with hypercontractility of the left ventricle base</a:t>
            </a:r>
          </a:p>
          <a:p>
            <a:endParaRPr lang="en-US" dirty="0"/>
          </a:p>
          <a:p>
            <a:pPr lvl="1"/>
            <a:r>
              <a:rPr lang="en-US" dirty="0"/>
              <a:t>Results in transient </a:t>
            </a:r>
            <a:r>
              <a:rPr lang="en-US" b="1" dirty="0"/>
              <a:t>apical ballooning</a:t>
            </a:r>
            <a:r>
              <a:rPr lang="en-US" dirty="0"/>
              <a:t>, resembling its Japanese namesake (a pot used to trap octopus)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A4B10-DB2A-4C5C-BF8E-F9328B7C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Tako-tsubo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541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picalstresscrdmypthyvid">
            <a:hlinkClick r:id="" action="ppaction://media"/>
            <a:extLst>
              <a:ext uri="{FF2B5EF4-FFF2-40B4-BE49-F238E27FC236}">
                <a16:creationId xmlns:a16="http://schemas.microsoft.com/office/drawing/2014/main" id="{011934DB-3E47-49B7-A521-A887D26A14C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1678" y="1247977"/>
            <a:ext cx="5227637" cy="52276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F5A4B10-DB2A-4C5C-BF8E-F9328B7C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Tako-tsubo Cardiomyopathy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A33A-EEC1-478F-BFB9-EF9D7012FB56}"/>
              </a:ext>
            </a:extLst>
          </p:cNvPr>
          <p:cNvSpPr txBox="1"/>
          <p:nvPr/>
        </p:nvSpPr>
        <p:spPr>
          <a:xfrm>
            <a:off x="6479315" y="3429000"/>
            <a:ext cx="173585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Stress cardiomyopathy, apical variant.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Left ventriculography shows akinesis of the anterolateral, apical, and inferior apical segments with hyperdynamic function of the basal segments.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Graphic 112457 Version 1.0</a:t>
            </a:r>
          </a:p>
        </p:txBody>
      </p:sp>
      <p:pic>
        <p:nvPicPr>
          <p:cNvPr id="1026" name="Picture 2" descr="ST-Segment Elevation in Elderly Patient Following Smoke Inhalation - ACLS Medical Training">
            <a:extLst>
              <a:ext uri="{FF2B5EF4-FFF2-40B4-BE49-F238E27FC236}">
                <a16:creationId xmlns:a16="http://schemas.microsoft.com/office/drawing/2014/main" id="{CFF87B1A-382C-4710-9BD8-C3AF4A59E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903" y="1632857"/>
            <a:ext cx="3861097" cy="359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3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BBC950-163D-418B-822F-2B4351BB3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acute situation, you’ll first treat this as a STEMI due to clinical picture, EKG findings, and elevated troponin levels</a:t>
            </a:r>
          </a:p>
          <a:p>
            <a:pPr lvl="1"/>
            <a:r>
              <a:rPr lang="en-US" dirty="0"/>
              <a:t>However, a cardiac cath will visualize LV wall motion abnormalities and find no evidence of significant CAD</a:t>
            </a:r>
          </a:p>
          <a:p>
            <a:pPr lvl="1"/>
            <a:endParaRPr lang="en-US" dirty="0"/>
          </a:p>
          <a:p>
            <a:r>
              <a:rPr lang="en-US" dirty="0"/>
              <a:t>Some patients may develop acute complications such as cardiogenic shock and acute HF, requiring intensive care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A4B10-DB2A-4C5C-BF8E-F9328B7C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Tako-tsubo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516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BBC950-163D-418B-822F-2B4351BB3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Patients who survive the acute episode typically recover LV function within 4 weeks</a:t>
            </a:r>
          </a:p>
          <a:p>
            <a:pPr lvl="1"/>
            <a:r>
              <a:rPr lang="en-US" dirty="0"/>
              <a:t>Benzodiazepines (i.e. diazepam &amp; lorazepam) may be used once pt is stable to reduce stress and decrease catecholamine release</a:t>
            </a:r>
          </a:p>
          <a:p>
            <a:pPr lvl="1"/>
            <a:endParaRPr lang="en-US" dirty="0"/>
          </a:p>
          <a:p>
            <a:r>
              <a:rPr lang="en-US" dirty="0"/>
              <a:t>2% yearly risk of recurrence; some specialists may prefer life-long BB but efficacy is unknown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A4B10-DB2A-4C5C-BF8E-F9328B7C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Tako-tsubo Cardiomyopathy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2161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7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Handwritten &amp;quot;You Are Amazing&amp;quot; Valentine Day Card With Modern Calligraphy In Hand Painted Golden ...">
            <a:extLst>
              <a:ext uri="{FF2B5EF4-FFF2-40B4-BE49-F238E27FC236}">
                <a16:creationId xmlns:a16="http://schemas.microsoft.com/office/drawing/2014/main" id="{2D3BD846-7C5A-4EF2-997C-7CD7A63239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74" b="9011"/>
          <a:stretch/>
        </p:blipFill>
        <p:spPr bwMode="auto">
          <a:xfrm>
            <a:off x="3407162" y="796343"/>
            <a:ext cx="5377675" cy="526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125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BJS Theme">
      <a:majorFont>
        <a:latin typeface="Times New Roman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BJS Theme">
      <a:majorFont>
        <a:latin typeface="Times New Roman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5059</Words>
  <Application>Microsoft Office PowerPoint</Application>
  <PresentationFormat>Widescreen</PresentationFormat>
  <Paragraphs>612</Paragraphs>
  <Slides>92</Slides>
  <Notes>76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92</vt:i4>
      </vt:variant>
    </vt:vector>
  </HeadingPairs>
  <TitlesOfParts>
    <vt:vector size="104" baseType="lpstr">
      <vt:lpstr>ＭＳ Ｐゴシック</vt:lpstr>
      <vt:lpstr>Arial</vt:lpstr>
      <vt:lpstr>Arial Rounded MT Bold</vt:lpstr>
      <vt:lpstr>Calibri</vt:lpstr>
      <vt:lpstr>Gill Sans MT</vt:lpstr>
      <vt:lpstr>Helvetica</vt:lpstr>
      <vt:lpstr>Impact</vt:lpstr>
      <vt:lpstr>Times New Roman</vt:lpstr>
      <vt:lpstr>Wingdings</vt:lpstr>
      <vt:lpstr>Badge</vt:lpstr>
      <vt:lpstr>1_Office Theme</vt:lpstr>
      <vt:lpstr>2_Office Theme</vt:lpstr>
      <vt:lpstr>Cardiomyopathies</vt:lpstr>
      <vt:lpstr>PowerPoint Presentation</vt:lpstr>
      <vt:lpstr>cardiomyopathy</vt:lpstr>
      <vt:lpstr>Cardiomyopathies</vt:lpstr>
      <vt:lpstr>Cardiomyopathies (CM)</vt:lpstr>
      <vt:lpstr>Cardiomyopathies</vt:lpstr>
      <vt:lpstr>PowerPoint Presentation</vt:lpstr>
      <vt:lpstr>Cardiomyopathies</vt:lpstr>
      <vt:lpstr>Cardiomyopathies</vt:lpstr>
      <vt:lpstr>Cardiomyopathies</vt:lpstr>
      <vt:lpstr>Cardiomyopathies</vt:lpstr>
      <vt:lpstr>Cardiomyopathies</vt:lpstr>
      <vt:lpstr>Cardiomyopathies</vt:lpstr>
      <vt:lpstr>Cardiomyopathies</vt:lpstr>
      <vt:lpstr>Cardiomyopathies</vt:lpstr>
      <vt:lpstr>Cardiomyopathies</vt:lpstr>
      <vt:lpstr>Cardiomyopathies</vt:lpstr>
      <vt:lpstr>Cardiomyopathies</vt:lpstr>
      <vt:lpstr>Genetic</vt:lpstr>
      <vt:lpstr>Hypertrophic</vt:lpstr>
      <vt:lpstr>Hypertrophic cardiomyopathy</vt:lpstr>
      <vt:lpstr>Hypertrophic cardiomyopathy</vt:lpstr>
      <vt:lpstr>PowerPoint Presentation</vt:lpstr>
      <vt:lpstr>Hypertrophic cardiomyopathy</vt:lpstr>
      <vt:lpstr>Hypertrophic cardiomyopathy</vt:lpstr>
      <vt:lpstr>Hypertrophic cardiomyopathy</vt:lpstr>
      <vt:lpstr>Extra Heart Sound:  s4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Hypertrophic cardiomyopathy</vt:lpstr>
      <vt:lpstr>HCM and sudden cardiac arrest</vt:lpstr>
      <vt:lpstr>HCM and sudden cardiac arrest</vt:lpstr>
      <vt:lpstr>Arrhythmogenic right ventricular</vt:lpstr>
      <vt:lpstr>Arrhythmogenic Right Ventricular Cardiomyopathy</vt:lpstr>
      <vt:lpstr>Arrhythmogenic Right Ventricular Cardiomyopathy</vt:lpstr>
      <vt:lpstr>Arrhythmogenic Right Ventricular Cardiomyopathy</vt:lpstr>
      <vt:lpstr>Arrhythmogenic Right Ventricular Cardiomyopathy</vt:lpstr>
      <vt:lpstr>Arrhythmogenic Right Ventricular Cardiomyopathy</vt:lpstr>
      <vt:lpstr>Arrhythmogenic Right Ventricular Cardiomyopathy</vt:lpstr>
      <vt:lpstr>Arrhythmogenic Right Ventricular Cardiomyopathy</vt:lpstr>
      <vt:lpstr>Mixed</vt:lpstr>
      <vt:lpstr>Dilated</vt:lpstr>
      <vt:lpstr>Dilated cardiomyopathy</vt:lpstr>
      <vt:lpstr>Dilated cardiomyopathy</vt:lpstr>
      <vt:lpstr>Dilated cardiomyopathy</vt:lpstr>
      <vt:lpstr>Extra Heart Sound:  s3</vt:lpstr>
      <vt:lpstr>Dilated cardiomyopathy</vt:lpstr>
      <vt:lpstr>Dilated cardiomyopathy</vt:lpstr>
      <vt:lpstr>Dilated cardiomyopathy</vt:lpstr>
      <vt:lpstr>Dilated cardiomyopathy</vt:lpstr>
      <vt:lpstr>Dilated cardiomyopathy</vt:lpstr>
      <vt:lpstr>restrictive</vt:lpstr>
      <vt:lpstr>Restrictive cardiomyopathy (RCM)</vt:lpstr>
      <vt:lpstr>PowerPoint Presentation</vt:lpstr>
      <vt:lpstr>Restrictive cardiomyopathy (RCM)</vt:lpstr>
      <vt:lpstr>Restrictive cardiomyopathy (RCM)</vt:lpstr>
      <vt:lpstr>Restrictive cardiomyopathy (RCM)</vt:lpstr>
      <vt:lpstr>Restrictive cardiomyopathy (RCM)</vt:lpstr>
      <vt:lpstr>Acquired</vt:lpstr>
      <vt:lpstr>Myocarditis</vt:lpstr>
      <vt:lpstr>Myocarditis</vt:lpstr>
      <vt:lpstr>Myocarditis</vt:lpstr>
      <vt:lpstr>Myocarditis</vt:lpstr>
      <vt:lpstr>Myocarditis</vt:lpstr>
      <vt:lpstr>Myocarditis</vt:lpstr>
      <vt:lpstr>Myocarditis</vt:lpstr>
      <vt:lpstr>Myocarditis</vt:lpstr>
      <vt:lpstr>Peripartum</vt:lpstr>
      <vt:lpstr>Peripartum cardiomyopathy (PPCM)</vt:lpstr>
      <vt:lpstr>Peripartum cardiomyopathy</vt:lpstr>
      <vt:lpstr>Peripartum cardiomyopathy</vt:lpstr>
      <vt:lpstr>Peripartum cardiomyopathy</vt:lpstr>
      <vt:lpstr>Peripartum cardiomyopathy</vt:lpstr>
      <vt:lpstr>Peripartum cardiomyopathy</vt:lpstr>
      <vt:lpstr>Peripartum cardiomyopathy</vt:lpstr>
      <vt:lpstr>Tako-tsubo</vt:lpstr>
      <vt:lpstr>Tako-tsubo Cardiomyopathy</vt:lpstr>
      <vt:lpstr>Tako-tsubo Cardiomyopathy</vt:lpstr>
      <vt:lpstr>Tako-tsubo Cardiomyopathy</vt:lpstr>
      <vt:lpstr>Tako-tsubo Cardiomyopathy</vt:lpstr>
      <vt:lpstr>Tako-tsubo Cardiomyopathy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Wireman, Pamela</cp:lastModifiedBy>
  <cp:revision>2</cp:revision>
  <dcterms:created xsi:type="dcterms:W3CDTF">2021-09-23T20:36:47Z</dcterms:created>
  <dcterms:modified xsi:type="dcterms:W3CDTF">2026-10-14T18:43:15Z</dcterms:modified>
</cp:coreProperties>
</file>