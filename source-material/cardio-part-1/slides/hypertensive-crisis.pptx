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58"/>
  </p:notesMasterIdLst>
  <p:sldIdLst>
    <p:sldId id="256" r:id="rId3"/>
    <p:sldId id="479" r:id="rId4"/>
    <p:sldId id="541" r:id="rId5"/>
    <p:sldId id="465" r:id="rId6"/>
    <p:sldId id="474" r:id="rId7"/>
    <p:sldId id="469" r:id="rId8"/>
    <p:sldId id="470" r:id="rId9"/>
    <p:sldId id="530" r:id="rId10"/>
    <p:sldId id="534" r:id="rId11"/>
    <p:sldId id="471" r:id="rId12"/>
    <p:sldId id="535" r:id="rId13"/>
    <p:sldId id="472" r:id="rId14"/>
    <p:sldId id="536" r:id="rId15"/>
    <p:sldId id="473" r:id="rId16"/>
    <p:sldId id="537" r:id="rId17"/>
    <p:sldId id="531" r:id="rId18"/>
    <p:sldId id="538" r:id="rId19"/>
    <p:sldId id="532" r:id="rId20"/>
    <p:sldId id="476" r:id="rId21"/>
    <p:sldId id="477" r:id="rId22"/>
    <p:sldId id="478" r:id="rId23"/>
    <p:sldId id="480" r:id="rId24"/>
    <p:sldId id="481" r:id="rId25"/>
    <p:sldId id="482" r:id="rId26"/>
    <p:sldId id="483" r:id="rId27"/>
    <p:sldId id="484" r:id="rId28"/>
    <p:sldId id="485" r:id="rId29"/>
    <p:sldId id="540" r:id="rId30"/>
    <p:sldId id="512" r:id="rId31"/>
    <p:sldId id="513" r:id="rId32"/>
    <p:sldId id="488" r:id="rId33"/>
    <p:sldId id="487" r:id="rId34"/>
    <p:sldId id="515" r:id="rId35"/>
    <p:sldId id="489" r:id="rId36"/>
    <p:sldId id="490" r:id="rId37"/>
    <p:sldId id="491" r:id="rId38"/>
    <p:sldId id="492" r:id="rId39"/>
    <p:sldId id="493" r:id="rId40"/>
    <p:sldId id="496" r:id="rId41"/>
    <p:sldId id="497" r:id="rId42"/>
    <p:sldId id="494" r:id="rId43"/>
    <p:sldId id="495" r:id="rId44"/>
    <p:sldId id="498" r:id="rId45"/>
    <p:sldId id="499" r:id="rId46"/>
    <p:sldId id="500" r:id="rId47"/>
    <p:sldId id="501" r:id="rId48"/>
    <p:sldId id="502" r:id="rId49"/>
    <p:sldId id="505" r:id="rId50"/>
    <p:sldId id="503" r:id="rId51"/>
    <p:sldId id="507" r:id="rId52"/>
    <p:sldId id="508" r:id="rId53"/>
    <p:sldId id="509" r:id="rId54"/>
    <p:sldId id="510" r:id="rId55"/>
    <p:sldId id="511" r:id="rId56"/>
    <p:sldId id="506" r:id="rId57"/>
  </p:sldIdLst>
  <p:sldSz cx="12192000" cy="6858000"/>
  <p:notesSz cx="6858000" cy="9144000"/>
  <p:embeddedFontLst>
    <p:embeddedFont>
      <p:font typeface="Constantia" panose="02030602050306030303" pitchFamily="18" charset="0"/>
      <p:regular r:id="rId59"/>
      <p:bold r:id="rId60"/>
      <p:italic r:id="rId61"/>
      <p:boldItalic r:id="rId62"/>
    </p:embeddedFont>
    <p:embeddedFont>
      <p:font typeface="Helvetica Neue" panose="020B0604020202020204" charset="0"/>
      <p:regular r:id="rId63"/>
      <p:bold r:id="rId64"/>
      <p:italic r:id="rId65"/>
      <p:boldItalic r:id="rId66"/>
    </p:embeddedFont>
    <p:embeddedFont>
      <p:font typeface="Roboto" panose="02000000000000000000" pitchFamily="2"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1" roundtripDataSignature="AMtx7mhv9okJ2d/14MPsiQ5245EjDuh8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500EC1-2580-4279-ABFF-E99678A4F935}">
  <a:tblStyle styleId="{EC500EC1-2580-4279-ABFF-E99678A4F9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5"/>
          </a:solidFill>
        </a:fill>
      </a:tcStyle>
    </a:wholeTbl>
    <a:band1H>
      <a:tcTxStyle/>
      <a:tcStyle>
        <a:tcBdr/>
        <a:fill>
          <a:solidFill>
            <a:schemeClr val="accent5"/>
          </a:solidFill>
        </a:fill>
      </a:tcStyle>
    </a:band1H>
    <a:band2H>
      <a:tcTxStyle/>
      <a:tcStyle>
        <a:tcBdr/>
      </a:tcStyle>
    </a:band2H>
    <a:band1V>
      <a:tcTxStyle/>
      <a:tcStyle>
        <a:tcBdr/>
        <a:fill>
          <a:solidFill>
            <a:schemeClr val="accent5"/>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9176C877-5902-4F01-AA12-915402B82F0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5CA6CF68-EC4B-4158-8A7C-682902D774E9}"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82547C-5184-4841-A74E-8B02F8914B86}"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1"/>
          </a:solidFill>
        </a:fill>
      </a:tcStyle>
    </a:wholeTbl>
    <a:band1H>
      <a:tcTxStyle/>
      <a:tcStyle>
        <a:tcBdr/>
        <a:fill>
          <a:solidFill>
            <a:schemeClr val="accent1"/>
          </a:solidFill>
        </a:fill>
      </a:tcStyle>
    </a:band1H>
    <a:band2H>
      <a:tcTxStyle/>
      <a:tcStyle>
        <a:tcBdr/>
      </a:tcStyle>
    </a:band2H>
    <a:band1V>
      <a:tcTxStyle/>
      <a:tcStyle>
        <a:tcBdr/>
        <a:fill>
          <a:solidFill>
            <a:schemeClr val="accent1"/>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p:restoredTop sz="80447" autoAdjust="0"/>
  </p:normalViewPr>
  <p:slideViewPr>
    <p:cSldViewPr snapToGrid="0">
      <p:cViewPr varScale="1">
        <p:scale>
          <a:sx n="89" d="100"/>
          <a:sy n="89" d="100"/>
        </p:scale>
        <p:origin x="1398" y="78"/>
      </p:cViewPr>
      <p:guideLst>
        <p:guide orient="horz" pos="2160"/>
        <p:guide pos="384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81" Type="http://customschemas.google.com/relationships/presentationmetadata" Target="metadata"/><Relationship Id="rId286"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font" Target="fonts/font5.fntdata"/><Relationship Id="rId68" Type="http://schemas.openxmlformats.org/officeDocument/2006/relationships/font" Target="fonts/font10.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284" Type="http://schemas.openxmlformats.org/officeDocument/2006/relationships/theme" Target="theme/theme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66" Type="http://schemas.openxmlformats.org/officeDocument/2006/relationships/font" Target="fonts/font8.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font" Target="fonts/font3.fntdata"/><Relationship Id="rId28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6.fntdata"/><Relationship Id="rId69" Type="http://schemas.openxmlformats.org/officeDocument/2006/relationships/font" Target="fonts/font11.fntdata"/><Relationship Id="rId282"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285"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4.fntdata"/><Relationship Id="rId7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al, Breanna" userId="9dd65cb9-b789-4014-8a75-5340e8ea9a9e" providerId="ADAL" clId="{ACED115F-8C23-4612-8EFF-7965D144131C}"/>
    <pc:docChg chg="custSel modSld">
      <pc:chgData name="Veal, Breanna" userId="9dd65cb9-b789-4014-8a75-5340e8ea9a9e" providerId="ADAL" clId="{ACED115F-8C23-4612-8EFF-7965D144131C}" dt="2026-10-22T20:19:53.579" v="81" actId="368"/>
      <pc:docMkLst>
        <pc:docMk/>
      </pc:docMkLst>
      <pc:sldChg chg="modNotes">
        <pc:chgData name="Veal, Breanna" userId="9dd65cb9-b789-4014-8a75-5340e8ea9a9e" providerId="ADAL" clId="{ACED115F-8C23-4612-8EFF-7965D144131C}" dt="2026-10-22T20:19:53.248" v="1" actId="368"/>
        <pc:sldMkLst>
          <pc:docMk/>
          <pc:sldMk cId="0" sldId="465"/>
        </pc:sldMkLst>
      </pc:sldChg>
      <pc:sldChg chg="modNotes">
        <pc:chgData name="Veal, Breanna" userId="9dd65cb9-b789-4014-8a75-5340e8ea9a9e" providerId="ADAL" clId="{ACED115F-8C23-4612-8EFF-7965D144131C}" dt="2026-10-22T20:19:53.281" v="7" actId="368"/>
        <pc:sldMkLst>
          <pc:docMk/>
          <pc:sldMk cId="0" sldId="471"/>
        </pc:sldMkLst>
      </pc:sldChg>
      <pc:sldChg chg="modNotes">
        <pc:chgData name="Veal, Breanna" userId="9dd65cb9-b789-4014-8a75-5340e8ea9a9e" providerId="ADAL" clId="{ACED115F-8C23-4612-8EFF-7965D144131C}" dt="2026-10-22T20:19:53.296" v="11" actId="368"/>
        <pc:sldMkLst>
          <pc:docMk/>
          <pc:sldMk cId="0" sldId="472"/>
        </pc:sldMkLst>
      </pc:sldChg>
      <pc:sldChg chg="modNotes">
        <pc:chgData name="Veal, Breanna" userId="9dd65cb9-b789-4014-8a75-5340e8ea9a9e" providerId="ADAL" clId="{ACED115F-8C23-4612-8EFF-7965D144131C}" dt="2026-10-22T20:19:53.312" v="15" actId="368"/>
        <pc:sldMkLst>
          <pc:docMk/>
          <pc:sldMk cId="0" sldId="473"/>
        </pc:sldMkLst>
      </pc:sldChg>
      <pc:sldChg chg="modNotes">
        <pc:chgData name="Veal, Breanna" userId="9dd65cb9-b789-4014-8a75-5340e8ea9a9e" providerId="ADAL" clId="{ACED115F-8C23-4612-8EFF-7965D144131C}" dt="2026-10-22T20:19:53.249" v="3" actId="368"/>
        <pc:sldMkLst>
          <pc:docMk/>
          <pc:sldMk cId="0" sldId="474"/>
        </pc:sldMkLst>
      </pc:sldChg>
      <pc:sldChg chg="modNotes">
        <pc:chgData name="Veal, Breanna" userId="9dd65cb9-b789-4014-8a75-5340e8ea9a9e" providerId="ADAL" clId="{ACED115F-8C23-4612-8EFF-7965D144131C}" dt="2026-10-22T20:19:53.351" v="23" actId="368"/>
        <pc:sldMkLst>
          <pc:docMk/>
          <pc:sldMk cId="0" sldId="477"/>
        </pc:sldMkLst>
      </pc:sldChg>
      <pc:sldChg chg="modNotes">
        <pc:chgData name="Veal, Breanna" userId="9dd65cb9-b789-4014-8a75-5340e8ea9a9e" providerId="ADAL" clId="{ACED115F-8C23-4612-8EFF-7965D144131C}" dt="2026-10-22T20:19:53.351" v="25" actId="368"/>
        <pc:sldMkLst>
          <pc:docMk/>
          <pc:sldMk cId="0" sldId="478"/>
        </pc:sldMkLst>
      </pc:sldChg>
      <pc:sldChg chg="modNotes">
        <pc:chgData name="Veal, Breanna" userId="9dd65cb9-b789-4014-8a75-5340e8ea9a9e" providerId="ADAL" clId="{ACED115F-8C23-4612-8EFF-7965D144131C}" dt="2026-10-22T20:19:53.358" v="27" actId="368"/>
        <pc:sldMkLst>
          <pc:docMk/>
          <pc:sldMk cId="0" sldId="480"/>
        </pc:sldMkLst>
      </pc:sldChg>
      <pc:sldChg chg="modNotes">
        <pc:chgData name="Veal, Breanna" userId="9dd65cb9-b789-4014-8a75-5340e8ea9a9e" providerId="ADAL" clId="{ACED115F-8C23-4612-8EFF-7965D144131C}" dt="2026-10-22T20:19:53.365" v="29" actId="368"/>
        <pc:sldMkLst>
          <pc:docMk/>
          <pc:sldMk cId="0" sldId="481"/>
        </pc:sldMkLst>
      </pc:sldChg>
      <pc:sldChg chg="modNotes">
        <pc:chgData name="Veal, Breanna" userId="9dd65cb9-b789-4014-8a75-5340e8ea9a9e" providerId="ADAL" clId="{ACED115F-8C23-4612-8EFF-7965D144131C}" dt="2026-10-22T20:19:53.379" v="31" actId="368"/>
        <pc:sldMkLst>
          <pc:docMk/>
          <pc:sldMk cId="0" sldId="482"/>
        </pc:sldMkLst>
      </pc:sldChg>
      <pc:sldChg chg="modNotes">
        <pc:chgData name="Veal, Breanna" userId="9dd65cb9-b789-4014-8a75-5340e8ea9a9e" providerId="ADAL" clId="{ACED115F-8C23-4612-8EFF-7965D144131C}" dt="2026-10-22T20:19:53.379" v="33" actId="368"/>
        <pc:sldMkLst>
          <pc:docMk/>
          <pc:sldMk cId="0" sldId="483"/>
        </pc:sldMkLst>
      </pc:sldChg>
      <pc:sldChg chg="modNotes">
        <pc:chgData name="Veal, Breanna" userId="9dd65cb9-b789-4014-8a75-5340e8ea9a9e" providerId="ADAL" clId="{ACED115F-8C23-4612-8EFF-7965D144131C}" dt="2026-10-22T20:19:53.390" v="35" actId="368"/>
        <pc:sldMkLst>
          <pc:docMk/>
          <pc:sldMk cId="0" sldId="484"/>
        </pc:sldMkLst>
      </pc:sldChg>
      <pc:sldChg chg="modNotes">
        <pc:chgData name="Veal, Breanna" userId="9dd65cb9-b789-4014-8a75-5340e8ea9a9e" providerId="ADAL" clId="{ACED115F-8C23-4612-8EFF-7965D144131C}" dt="2026-10-22T20:19:53.390" v="37" actId="368"/>
        <pc:sldMkLst>
          <pc:docMk/>
          <pc:sldMk cId="0" sldId="485"/>
        </pc:sldMkLst>
      </pc:sldChg>
      <pc:sldChg chg="modNotes">
        <pc:chgData name="Veal, Breanna" userId="9dd65cb9-b789-4014-8a75-5340e8ea9a9e" providerId="ADAL" clId="{ACED115F-8C23-4612-8EFF-7965D144131C}" dt="2026-10-22T20:19:53.429" v="47" actId="368"/>
        <pc:sldMkLst>
          <pc:docMk/>
          <pc:sldMk cId="0" sldId="487"/>
        </pc:sldMkLst>
      </pc:sldChg>
      <pc:sldChg chg="modNotes">
        <pc:chgData name="Veal, Breanna" userId="9dd65cb9-b789-4014-8a75-5340e8ea9a9e" providerId="ADAL" clId="{ACED115F-8C23-4612-8EFF-7965D144131C}" dt="2026-10-22T20:19:53.429" v="45" actId="368"/>
        <pc:sldMkLst>
          <pc:docMk/>
          <pc:sldMk cId="0" sldId="488"/>
        </pc:sldMkLst>
      </pc:sldChg>
      <pc:sldChg chg="modNotes">
        <pc:chgData name="Veal, Breanna" userId="9dd65cb9-b789-4014-8a75-5340e8ea9a9e" providerId="ADAL" clId="{ACED115F-8C23-4612-8EFF-7965D144131C}" dt="2026-10-22T20:19:53.453" v="51" actId="368"/>
        <pc:sldMkLst>
          <pc:docMk/>
          <pc:sldMk cId="0" sldId="489"/>
        </pc:sldMkLst>
      </pc:sldChg>
      <pc:sldChg chg="modNotes">
        <pc:chgData name="Veal, Breanna" userId="9dd65cb9-b789-4014-8a75-5340e8ea9a9e" providerId="ADAL" clId="{ACED115F-8C23-4612-8EFF-7965D144131C}" dt="2026-10-22T20:19:53.462" v="53" actId="368"/>
        <pc:sldMkLst>
          <pc:docMk/>
          <pc:sldMk cId="0" sldId="490"/>
        </pc:sldMkLst>
      </pc:sldChg>
      <pc:sldChg chg="modNotes">
        <pc:chgData name="Veal, Breanna" userId="9dd65cb9-b789-4014-8a75-5340e8ea9a9e" providerId="ADAL" clId="{ACED115F-8C23-4612-8EFF-7965D144131C}" dt="2026-10-22T20:19:53.468" v="55" actId="368"/>
        <pc:sldMkLst>
          <pc:docMk/>
          <pc:sldMk cId="0" sldId="491"/>
        </pc:sldMkLst>
      </pc:sldChg>
      <pc:sldChg chg="modNotes">
        <pc:chgData name="Veal, Breanna" userId="9dd65cb9-b789-4014-8a75-5340e8ea9a9e" providerId="ADAL" clId="{ACED115F-8C23-4612-8EFF-7965D144131C}" dt="2026-10-22T20:19:53.468" v="57" actId="368"/>
        <pc:sldMkLst>
          <pc:docMk/>
          <pc:sldMk cId="0" sldId="492"/>
        </pc:sldMkLst>
      </pc:sldChg>
      <pc:sldChg chg="modNotes">
        <pc:chgData name="Veal, Breanna" userId="9dd65cb9-b789-4014-8a75-5340e8ea9a9e" providerId="ADAL" clId="{ACED115F-8C23-4612-8EFF-7965D144131C}" dt="2026-10-22T20:19:53.484" v="59" actId="368"/>
        <pc:sldMkLst>
          <pc:docMk/>
          <pc:sldMk cId="0" sldId="493"/>
        </pc:sldMkLst>
      </pc:sldChg>
      <pc:sldChg chg="modNotes">
        <pc:chgData name="Veal, Breanna" userId="9dd65cb9-b789-4014-8a75-5340e8ea9a9e" providerId="ADAL" clId="{ACED115F-8C23-4612-8EFF-7965D144131C}" dt="2026-10-22T20:19:53.513" v="65" actId="368"/>
        <pc:sldMkLst>
          <pc:docMk/>
          <pc:sldMk cId="0" sldId="495"/>
        </pc:sldMkLst>
      </pc:sldChg>
      <pc:sldChg chg="modNotes">
        <pc:chgData name="Veal, Breanna" userId="9dd65cb9-b789-4014-8a75-5340e8ea9a9e" providerId="ADAL" clId="{ACED115F-8C23-4612-8EFF-7965D144131C}" dt="2026-10-22T20:19:53.493" v="61" actId="368"/>
        <pc:sldMkLst>
          <pc:docMk/>
          <pc:sldMk cId="0" sldId="496"/>
        </pc:sldMkLst>
      </pc:sldChg>
      <pc:sldChg chg="modNotes">
        <pc:chgData name="Veal, Breanna" userId="9dd65cb9-b789-4014-8a75-5340e8ea9a9e" providerId="ADAL" clId="{ACED115F-8C23-4612-8EFF-7965D144131C}" dt="2026-10-22T20:19:53.500" v="63" actId="368"/>
        <pc:sldMkLst>
          <pc:docMk/>
          <pc:sldMk cId="0" sldId="497"/>
        </pc:sldMkLst>
      </pc:sldChg>
      <pc:sldChg chg="modNotes">
        <pc:chgData name="Veal, Breanna" userId="9dd65cb9-b789-4014-8a75-5340e8ea9a9e" providerId="ADAL" clId="{ACED115F-8C23-4612-8EFF-7965D144131C}" dt="2026-10-22T20:19:53.521" v="67" actId="368"/>
        <pc:sldMkLst>
          <pc:docMk/>
          <pc:sldMk cId="0" sldId="498"/>
        </pc:sldMkLst>
      </pc:sldChg>
      <pc:sldChg chg="modNotes">
        <pc:chgData name="Veal, Breanna" userId="9dd65cb9-b789-4014-8a75-5340e8ea9a9e" providerId="ADAL" clId="{ACED115F-8C23-4612-8EFF-7965D144131C}" dt="2026-10-22T20:19:53.521" v="69" actId="368"/>
        <pc:sldMkLst>
          <pc:docMk/>
          <pc:sldMk cId="0" sldId="499"/>
        </pc:sldMkLst>
      </pc:sldChg>
      <pc:sldChg chg="modNotes">
        <pc:chgData name="Veal, Breanna" userId="9dd65cb9-b789-4014-8a75-5340e8ea9a9e" providerId="ADAL" clId="{ACED115F-8C23-4612-8EFF-7965D144131C}" dt="2026-10-22T20:19:53.531" v="71" actId="368"/>
        <pc:sldMkLst>
          <pc:docMk/>
          <pc:sldMk cId="0" sldId="501"/>
        </pc:sldMkLst>
      </pc:sldChg>
      <pc:sldChg chg="modNotes">
        <pc:chgData name="Veal, Breanna" userId="9dd65cb9-b789-4014-8a75-5340e8ea9a9e" providerId="ADAL" clId="{ACED115F-8C23-4612-8EFF-7965D144131C}" dt="2026-10-22T20:19:53.539" v="73" actId="368"/>
        <pc:sldMkLst>
          <pc:docMk/>
          <pc:sldMk cId="0" sldId="502"/>
        </pc:sldMkLst>
      </pc:sldChg>
      <pc:sldChg chg="modNotes">
        <pc:chgData name="Veal, Breanna" userId="9dd65cb9-b789-4014-8a75-5340e8ea9a9e" providerId="ADAL" clId="{ACED115F-8C23-4612-8EFF-7965D144131C}" dt="2026-10-22T20:19:53.560" v="77" actId="368"/>
        <pc:sldMkLst>
          <pc:docMk/>
          <pc:sldMk cId="0" sldId="503"/>
        </pc:sldMkLst>
      </pc:sldChg>
      <pc:sldChg chg="modNotes">
        <pc:chgData name="Veal, Breanna" userId="9dd65cb9-b789-4014-8a75-5340e8ea9a9e" providerId="ADAL" clId="{ACED115F-8C23-4612-8EFF-7965D144131C}" dt="2026-10-22T20:19:53.553" v="75" actId="368"/>
        <pc:sldMkLst>
          <pc:docMk/>
          <pc:sldMk cId="0" sldId="505"/>
        </pc:sldMkLst>
      </pc:sldChg>
      <pc:sldChg chg="modNotes">
        <pc:chgData name="Veal, Breanna" userId="9dd65cb9-b789-4014-8a75-5340e8ea9a9e" providerId="ADAL" clId="{ACED115F-8C23-4612-8EFF-7965D144131C}" dt="2026-10-22T20:19:53.576" v="79" actId="368"/>
        <pc:sldMkLst>
          <pc:docMk/>
          <pc:sldMk cId="0" sldId="509"/>
        </pc:sldMkLst>
      </pc:sldChg>
      <pc:sldChg chg="modNotes">
        <pc:chgData name="Veal, Breanna" userId="9dd65cb9-b789-4014-8a75-5340e8ea9a9e" providerId="ADAL" clId="{ACED115F-8C23-4612-8EFF-7965D144131C}" dt="2026-10-22T20:19:53.579" v="81" actId="368"/>
        <pc:sldMkLst>
          <pc:docMk/>
          <pc:sldMk cId="0" sldId="510"/>
        </pc:sldMkLst>
      </pc:sldChg>
      <pc:sldChg chg="modNotes">
        <pc:chgData name="Veal, Breanna" userId="9dd65cb9-b789-4014-8a75-5340e8ea9a9e" providerId="ADAL" clId="{ACED115F-8C23-4612-8EFF-7965D144131C}" dt="2026-10-22T20:19:53.406" v="41" actId="368"/>
        <pc:sldMkLst>
          <pc:docMk/>
          <pc:sldMk cId="1862583498" sldId="512"/>
        </pc:sldMkLst>
      </pc:sldChg>
      <pc:sldChg chg="modNotes">
        <pc:chgData name="Veal, Breanna" userId="9dd65cb9-b789-4014-8a75-5340e8ea9a9e" providerId="ADAL" clId="{ACED115F-8C23-4612-8EFF-7965D144131C}" dt="2026-10-22T20:19:53.421" v="43" actId="368"/>
        <pc:sldMkLst>
          <pc:docMk/>
          <pc:sldMk cId="1303128133" sldId="513"/>
        </pc:sldMkLst>
      </pc:sldChg>
      <pc:sldChg chg="modNotes">
        <pc:chgData name="Veal, Breanna" userId="9dd65cb9-b789-4014-8a75-5340e8ea9a9e" providerId="ADAL" clId="{ACED115F-8C23-4612-8EFF-7965D144131C}" dt="2026-10-22T20:19:53.440" v="49" actId="368"/>
        <pc:sldMkLst>
          <pc:docMk/>
          <pc:sldMk cId="2092837854" sldId="515"/>
        </pc:sldMkLst>
      </pc:sldChg>
      <pc:sldChg chg="modNotes">
        <pc:chgData name="Veal, Breanna" userId="9dd65cb9-b789-4014-8a75-5340e8ea9a9e" providerId="ADAL" clId="{ACED115F-8C23-4612-8EFF-7965D144131C}" dt="2026-10-22T20:19:53.264" v="5" actId="368"/>
        <pc:sldMkLst>
          <pc:docMk/>
          <pc:sldMk cId="1281401491" sldId="530"/>
        </pc:sldMkLst>
      </pc:sldChg>
      <pc:sldChg chg="modNotes">
        <pc:chgData name="Veal, Breanna" userId="9dd65cb9-b789-4014-8a75-5340e8ea9a9e" providerId="ADAL" clId="{ACED115F-8C23-4612-8EFF-7965D144131C}" dt="2026-10-22T20:19:53.319" v="19" actId="368"/>
        <pc:sldMkLst>
          <pc:docMk/>
          <pc:sldMk cId="171264606" sldId="531"/>
        </pc:sldMkLst>
      </pc:sldChg>
      <pc:sldChg chg="modNotes">
        <pc:chgData name="Veal, Breanna" userId="9dd65cb9-b789-4014-8a75-5340e8ea9a9e" providerId="ADAL" clId="{ACED115F-8C23-4612-8EFF-7965D144131C}" dt="2026-10-22T20:19:53.281" v="9" actId="368"/>
        <pc:sldMkLst>
          <pc:docMk/>
          <pc:sldMk cId="2971887467" sldId="535"/>
        </pc:sldMkLst>
      </pc:sldChg>
      <pc:sldChg chg="modNotes">
        <pc:chgData name="Veal, Breanna" userId="9dd65cb9-b789-4014-8a75-5340e8ea9a9e" providerId="ADAL" clId="{ACED115F-8C23-4612-8EFF-7965D144131C}" dt="2026-10-22T20:19:53.296" v="13" actId="368"/>
        <pc:sldMkLst>
          <pc:docMk/>
          <pc:sldMk cId="4213896794" sldId="536"/>
        </pc:sldMkLst>
      </pc:sldChg>
      <pc:sldChg chg="modNotes">
        <pc:chgData name="Veal, Breanna" userId="9dd65cb9-b789-4014-8a75-5340e8ea9a9e" providerId="ADAL" clId="{ACED115F-8C23-4612-8EFF-7965D144131C}" dt="2026-10-22T20:19:53.319" v="17" actId="368"/>
        <pc:sldMkLst>
          <pc:docMk/>
          <pc:sldMk cId="2060522907" sldId="537"/>
        </pc:sldMkLst>
      </pc:sldChg>
      <pc:sldChg chg="modNotes">
        <pc:chgData name="Veal, Breanna" userId="9dd65cb9-b789-4014-8a75-5340e8ea9a9e" providerId="ADAL" clId="{ACED115F-8C23-4612-8EFF-7965D144131C}" dt="2026-10-22T20:19:53.334" v="21" actId="368"/>
        <pc:sldMkLst>
          <pc:docMk/>
          <pc:sldMk cId="783021172" sldId="538"/>
        </pc:sldMkLst>
      </pc:sldChg>
      <pc:sldChg chg="modNotes">
        <pc:chgData name="Veal, Breanna" userId="9dd65cb9-b789-4014-8a75-5340e8ea9a9e" providerId="ADAL" clId="{ACED115F-8C23-4612-8EFF-7965D144131C}" dt="2026-10-22T20:19:53.406" v="39" actId="368"/>
        <pc:sldMkLst>
          <pc:docMk/>
          <pc:sldMk cId="4142267138" sldId="5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L="914400" marR="0" lvl="1"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2pPr>
            <a:lvl3pPr marL="1371600" marR="0" lvl="2"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4pPr>
            <a:lvl5pPr marL="2286000" marR="0" lvl="4"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p2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0803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p2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85" name="Google Shape;1585;p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p:cNvGrpSpPr/>
        <p:nvPr/>
      </p:nvGrpSpPr>
      <p:grpSpPr>
        <a:xfrm>
          <a:off x="0" y="0"/>
          <a:ext cx="0" cy="0"/>
          <a:chOff x="0" y="0"/>
          <a:chExt cx="0" cy="0"/>
        </a:xfrm>
      </p:grpSpPr>
      <p:sp>
        <p:nvSpPr>
          <p:cNvPr id="1643" name="Google Shape;1643;p2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644" name="Google Shape;1644;p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7"/>
        <p:cNvGrpSpPr/>
        <p:nvPr/>
      </p:nvGrpSpPr>
      <p:grpSpPr>
        <a:xfrm>
          <a:off x="0" y="0"/>
          <a:ext cx="0" cy="0"/>
          <a:chOff x="0" y="0"/>
          <a:chExt cx="0" cy="0"/>
        </a:xfrm>
      </p:grpSpPr>
      <p:sp>
        <p:nvSpPr>
          <p:cNvPr id="1608" name="Google Shape;1608;p2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9" name="Google Shape;1609;p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p:cNvGrpSpPr/>
        <p:nvPr/>
      </p:nvGrpSpPr>
      <p:grpSpPr>
        <a:xfrm>
          <a:off x="0" y="0"/>
          <a:ext cx="0" cy="0"/>
          <a:chOff x="0" y="0"/>
          <a:chExt cx="0" cy="0"/>
        </a:xfrm>
      </p:grpSpPr>
      <p:sp>
        <p:nvSpPr>
          <p:cNvPr id="1614" name="Google Shape;1614;p2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15" name="Google Shape;1615;p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p:cNvGrpSpPr/>
        <p:nvPr/>
      </p:nvGrpSpPr>
      <p:grpSpPr>
        <a:xfrm>
          <a:off x="0" y="0"/>
          <a:ext cx="0" cy="0"/>
          <a:chOff x="0" y="0"/>
          <a:chExt cx="0" cy="0"/>
        </a:xfrm>
      </p:grpSpPr>
      <p:sp>
        <p:nvSpPr>
          <p:cNvPr id="1614" name="Google Shape;1614;p2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15" name="Google Shape;1615;p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7918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a:extLst>
            <a:ext uri="{FF2B5EF4-FFF2-40B4-BE49-F238E27FC236}">
              <a16:creationId xmlns:a16="http://schemas.microsoft.com/office/drawing/2014/main" id="{94E540F5-B7C7-7904-785D-E884043D7FE5}"/>
            </a:ext>
          </a:extLst>
        </p:cNvPr>
        <p:cNvGrpSpPr/>
        <p:nvPr/>
      </p:nvGrpSpPr>
      <p:grpSpPr>
        <a:xfrm>
          <a:off x="0" y="0"/>
          <a:ext cx="0" cy="0"/>
          <a:chOff x="0" y="0"/>
          <a:chExt cx="0" cy="0"/>
        </a:xfrm>
      </p:grpSpPr>
      <p:sp>
        <p:nvSpPr>
          <p:cNvPr id="1614" name="Google Shape;1614;p214:notes">
            <a:extLst>
              <a:ext uri="{FF2B5EF4-FFF2-40B4-BE49-F238E27FC236}">
                <a16:creationId xmlns:a16="http://schemas.microsoft.com/office/drawing/2014/main" id="{A5EECCE3-2AB4-728A-1429-CC5582AACA4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5" name="Google Shape;1615;p214:notes">
            <a:extLst>
              <a:ext uri="{FF2B5EF4-FFF2-40B4-BE49-F238E27FC236}">
                <a16:creationId xmlns:a16="http://schemas.microsoft.com/office/drawing/2014/main" id="{884EA93A-DDD9-DFFE-421E-ACBEB62F92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606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9"/>
        <p:cNvGrpSpPr/>
        <p:nvPr/>
      </p:nvGrpSpPr>
      <p:grpSpPr>
        <a:xfrm>
          <a:off x="0" y="0"/>
          <a:ext cx="0" cy="0"/>
          <a:chOff x="0" y="0"/>
          <a:chExt cx="0" cy="0"/>
        </a:xfrm>
      </p:grpSpPr>
      <p:sp>
        <p:nvSpPr>
          <p:cNvPr id="1620" name="Google Shape;1620;p2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1" name="Google Shape;1621;p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9">
          <a:extLst>
            <a:ext uri="{FF2B5EF4-FFF2-40B4-BE49-F238E27FC236}">
              <a16:creationId xmlns:a16="http://schemas.microsoft.com/office/drawing/2014/main" id="{4F44E160-DCE3-BA12-8E9A-EEFB33CB003A}"/>
            </a:ext>
          </a:extLst>
        </p:cNvPr>
        <p:cNvGrpSpPr/>
        <p:nvPr/>
      </p:nvGrpSpPr>
      <p:grpSpPr>
        <a:xfrm>
          <a:off x="0" y="0"/>
          <a:ext cx="0" cy="0"/>
          <a:chOff x="0" y="0"/>
          <a:chExt cx="0" cy="0"/>
        </a:xfrm>
      </p:grpSpPr>
      <p:sp>
        <p:nvSpPr>
          <p:cNvPr id="1620" name="Google Shape;1620;p215:notes">
            <a:extLst>
              <a:ext uri="{FF2B5EF4-FFF2-40B4-BE49-F238E27FC236}">
                <a16:creationId xmlns:a16="http://schemas.microsoft.com/office/drawing/2014/main" id="{66A43E24-B6B2-10CC-9DFA-0BE9E479FE2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p:txBody>
      </p:sp>
      <p:sp>
        <p:nvSpPr>
          <p:cNvPr id="1621" name="Google Shape;1621;p215:notes">
            <a:extLst>
              <a:ext uri="{FF2B5EF4-FFF2-40B4-BE49-F238E27FC236}">
                <a16:creationId xmlns:a16="http://schemas.microsoft.com/office/drawing/2014/main" id="{CAB1C80E-C758-4009-1EDA-7E66345354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5365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p2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9" name="Google Shape;1629;p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a:extLst>
            <a:ext uri="{FF2B5EF4-FFF2-40B4-BE49-F238E27FC236}">
              <a16:creationId xmlns:a16="http://schemas.microsoft.com/office/drawing/2014/main" id="{32B668DB-7959-185B-F5A3-F3CD5245D087}"/>
            </a:ext>
          </a:extLst>
        </p:cNvPr>
        <p:cNvGrpSpPr/>
        <p:nvPr/>
      </p:nvGrpSpPr>
      <p:grpSpPr>
        <a:xfrm>
          <a:off x="0" y="0"/>
          <a:ext cx="0" cy="0"/>
          <a:chOff x="0" y="0"/>
          <a:chExt cx="0" cy="0"/>
        </a:xfrm>
      </p:grpSpPr>
      <p:sp>
        <p:nvSpPr>
          <p:cNvPr id="1628" name="Google Shape;1628;p216:notes">
            <a:extLst>
              <a:ext uri="{FF2B5EF4-FFF2-40B4-BE49-F238E27FC236}">
                <a16:creationId xmlns:a16="http://schemas.microsoft.com/office/drawing/2014/main" id="{8423A17F-2F53-B998-4750-E0DB708CF5F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9" name="Google Shape;1629;p216:notes">
            <a:extLst>
              <a:ext uri="{FF2B5EF4-FFF2-40B4-BE49-F238E27FC236}">
                <a16:creationId xmlns:a16="http://schemas.microsoft.com/office/drawing/2014/main" id="{0665FAE0-4DDF-87C1-9EEF-B16A5B8238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8774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4"/>
        <p:cNvGrpSpPr/>
        <p:nvPr/>
      </p:nvGrpSpPr>
      <p:grpSpPr>
        <a:xfrm>
          <a:off x="0" y="0"/>
          <a:ext cx="0" cy="0"/>
          <a:chOff x="0" y="0"/>
          <a:chExt cx="0" cy="0"/>
        </a:xfrm>
      </p:grpSpPr>
      <p:sp>
        <p:nvSpPr>
          <p:cNvPr id="1635" name="Google Shape;1635;p2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36" name="Google Shape;1636;p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a:extLst>
            <a:ext uri="{FF2B5EF4-FFF2-40B4-BE49-F238E27FC236}">
              <a16:creationId xmlns:a16="http://schemas.microsoft.com/office/drawing/2014/main" id="{0AE625E0-1EA1-4F5E-5ED0-2439CE28DA28}"/>
            </a:ext>
          </a:extLst>
        </p:cNvPr>
        <p:cNvGrpSpPr/>
        <p:nvPr/>
      </p:nvGrpSpPr>
      <p:grpSpPr>
        <a:xfrm>
          <a:off x="0" y="0"/>
          <a:ext cx="0" cy="0"/>
          <a:chOff x="0" y="0"/>
          <a:chExt cx="0" cy="0"/>
        </a:xfrm>
      </p:grpSpPr>
      <p:sp>
        <p:nvSpPr>
          <p:cNvPr id="1643" name="Google Shape;1643;p218:notes">
            <a:extLst>
              <a:ext uri="{FF2B5EF4-FFF2-40B4-BE49-F238E27FC236}">
                <a16:creationId xmlns:a16="http://schemas.microsoft.com/office/drawing/2014/main" id="{1855D465-F3C4-B54C-581D-71B317A132F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644" name="Google Shape;1644;p218:notes">
            <a:extLst>
              <a:ext uri="{FF2B5EF4-FFF2-40B4-BE49-F238E27FC236}">
                <a16:creationId xmlns:a16="http://schemas.microsoft.com/office/drawing/2014/main" id="{E2F3FB1B-A1BF-1552-FE6E-2CC8628C67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8029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p:cNvGrpSpPr/>
        <p:nvPr/>
      </p:nvGrpSpPr>
      <p:grpSpPr>
        <a:xfrm>
          <a:off x="0" y="0"/>
          <a:ext cx="0" cy="0"/>
          <a:chOff x="0" y="0"/>
          <a:chExt cx="0" cy="0"/>
        </a:xfrm>
      </p:grpSpPr>
      <p:sp>
        <p:nvSpPr>
          <p:cNvPr id="1643" name="Google Shape;1643;p2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4" name="Google Shape;1644;p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3144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a:extLst>
            <a:ext uri="{FF2B5EF4-FFF2-40B4-BE49-F238E27FC236}">
              <a16:creationId xmlns:a16="http://schemas.microsoft.com/office/drawing/2014/main" id="{38F39C33-2D3F-0732-C1C9-8E39D6C76192}"/>
            </a:ext>
          </a:extLst>
        </p:cNvPr>
        <p:cNvGrpSpPr/>
        <p:nvPr/>
      </p:nvGrpSpPr>
      <p:grpSpPr>
        <a:xfrm>
          <a:off x="0" y="0"/>
          <a:ext cx="0" cy="0"/>
          <a:chOff x="0" y="0"/>
          <a:chExt cx="0" cy="0"/>
        </a:xfrm>
      </p:grpSpPr>
      <p:sp>
        <p:nvSpPr>
          <p:cNvPr id="1643" name="Google Shape;1643;p218:notes">
            <a:extLst>
              <a:ext uri="{FF2B5EF4-FFF2-40B4-BE49-F238E27FC236}">
                <a16:creationId xmlns:a16="http://schemas.microsoft.com/office/drawing/2014/main" id="{0F6DE757-C000-1B13-B608-BF051738402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4" name="Google Shape;1644;p218:notes">
            <a:extLst>
              <a:ext uri="{FF2B5EF4-FFF2-40B4-BE49-F238E27FC236}">
                <a16:creationId xmlns:a16="http://schemas.microsoft.com/office/drawing/2014/main" id="{AA33F921-8696-6DFA-D311-9B9E8AC374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60236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p:cNvGrpSpPr/>
        <p:nvPr/>
      </p:nvGrpSpPr>
      <p:grpSpPr>
        <a:xfrm>
          <a:off x="0" y="0"/>
          <a:ext cx="0" cy="0"/>
          <a:chOff x="0" y="0"/>
          <a:chExt cx="0" cy="0"/>
        </a:xfrm>
      </p:grpSpPr>
      <p:sp>
        <p:nvSpPr>
          <p:cNvPr id="1643" name="Google Shape;1643;p2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4" name="Google Shape;1644;p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0285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2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56" name="Google Shape;1656;p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0"/>
        <p:cNvGrpSpPr/>
        <p:nvPr/>
      </p:nvGrpSpPr>
      <p:grpSpPr>
        <a:xfrm>
          <a:off x="0" y="0"/>
          <a:ext cx="0" cy="0"/>
          <a:chOff x="0" y="0"/>
          <a:chExt cx="0" cy="0"/>
        </a:xfrm>
      </p:grpSpPr>
      <p:sp>
        <p:nvSpPr>
          <p:cNvPr id="1661" name="Google Shape;1661;p2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62" name="Google Shape;1662;p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6"/>
        <p:cNvGrpSpPr/>
        <p:nvPr/>
      </p:nvGrpSpPr>
      <p:grpSpPr>
        <a:xfrm>
          <a:off x="0" y="0"/>
          <a:ext cx="0" cy="0"/>
          <a:chOff x="0" y="0"/>
          <a:chExt cx="0" cy="0"/>
        </a:xfrm>
      </p:grpSpPr>
      <p:sp>
        <p:nvSpPr>
          <p:cNvPr id="1667" name="Google Shape;1667;p2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68" name="Google Shape;1668;p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9"/>
        <p:cNvGrpSpPr/>
        <p:nvPr/>
      </p:nvGrpSpPr>
      <p:grpSpPr>
        <a:xfrm>
          <a:off x="0" y="0"/>
          <a:ext cx="0" cy="0"/>
          <a:chOff x="0" y="0"/>
          <a:chExt cx="0" cy="0"/>
        </a:xfrm>
      </p:grpSpPr>
      <p:sp>
        <p:nvSpPr>
          <p:cNvPr id="1680" name="Google Shape;1680;p2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1" name="Google Shape;1681;p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2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688" name="Google Shape;1688;p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p2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95" name="Google Shape;1695;p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0"/>
        <p:cNvGrpSpPr/>
        <p:nvPr/>
      </p:nvGrpSpPr>
      <p:grpSpPr>
        <a:xfrm>
          <a:off x="0" y="0"/>
          <a:ext cx="0" cy="0"/>
          <a:chOff x="0" y="0"/>
          <a:chExt cx="0" cy="0"/>
        </a:xfrm>
      </p:grpSpPr>
      <p:sp>
        <p:nvSpPr>
          <p:cNvPr id="1701" name="Google Shape;1701;p2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02" name="Google Shape;1702;p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p2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09" name="Google Shape;1709;p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p:cNvGrpSpPr/>
        <p:nvPr/>
      </p:nvGrpSpPr>
      <p:grpSpPr>
        <a:xfrm>
          <a:off x="0" y="0"/>
          <a:ext cx="0" cy="0"/>
          <a:chOff x="0" y="0"/>
          <a:chExt cx="0" cy="0"/>
        </a:xfrm>
      </p:grpSpPr>
      <p:sp>
        <p:nvSpPr>
          <p:cNvPr id="1715" name="Google Shape;1715;p2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16" name="Google Shape;1716;p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a:extLst>
            <a:ext uri="{FF2B5EF4-FFF2-40B4-BE49-F238E27FC236}">
              <a16:creationId xmlns:a16="http://schemas.microsoft.com/office/drawing/2014/main" id="{1900705B-F7AB-4941-6A38-CB536D63AB93}"/>
            </a:ext>
          </a:extLst>
        </p:cNvPr>
        <p:cNvGrpSpPr/>
        <p:nvPr/>
      </p:nvGrpSpPr>
      <p:grpSpPr>
        <a:xfrm>
          <a:off x="0" y="0"/>
          <a:ext cx="0" cy="0"/>
          <a:chOff x="0" y="0"/>
          <a:chExt cx="0" cy="0"/>
        </a:xfrm>
      </p:grpSpPr>
      <p:sp>
        <p:nvSpPr>
          <p:cNvPr id="1715" name="Google Shape;1715;p229:notes">
            <a:extLst>
              <a:ext uri="{FF2B5EF4-FFF2-40B4-BE49-F238E27FC236}">
                <a16:creationId xmlns:a16="http://schemas.microsoft.com/office/drawing/2014/main" id="{2180D4AE-9963-428A-62B6-C1A41996424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16" name="Google Shape;1716;p229:notes">
            <a:extLst>
              <a:ext uri="{FF2B5EF4-FFF2-40B4-BE49-F238E27FC236}">
                <a16:creationId xmlns:a16="http://schemas.microsoft.com/office/drawing/2014/main" id="{760DE876-C186-9EAA-6641-DE629BE723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429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p:cNvGrpSpPr/>
        <p:nvPr/>
      </p:nvGrpSpPr>
      <p:grpSpPr>
        <a:xfrm>
          <a:off x="0" y="0"/>
          <a:ext cx="0" cy="0"/>
          <a:chOff x="0" y="0"/>
          <a:chExt cx="0" cy="0"/>
        </a:xfrm>
      </p:grpSpPr>
      <p:sp>
        <p:nvSpPr>
          <p:cNvPr id="1907" name="Google Shape;1907;p2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08" name="Google Shape;1908;p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201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2"/>
        <p:cNvGrpSpPr/>
        <p:nvPr/>
      </p:nvGrpSpPr>
      <p:grpSpPr>
        <a:xfrm>
          <a:off x="0" y="0"/>
          <a:ext cx="0" cy="0"/>
          <a:chOff x="0" y="0"/>
          <a:chExt cx="0" cy="0"/>
        </a:xfrm>
      </p:grpSpPr>
      <p:sp>
        <p:nvSpPr>
          <p:cNvPr id="1913" name="Google Shape;1913;p2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14" name="Google Shape;1914;p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9274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5"/>
        <p:cNvGrpSpPr/>
        <p:nvPr/>
      </p:nvGrpSpPr>
      <p:grpSpPr>
        <a:xfrm>
          <a:off x="0" y="0"/>
          <a:ext cx="0" cy="0"/>
          <a:chOff x="0" y="0"/>
          <a:chExt cx="0" cy="0"/>
        </a:xfrm>
      </p:grpSpPr>
      <p:sp>
        <p:nvSpPr>
          <p:cNvPr id="1736" name="Google Shape;1736;p2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37" name="Google Shape;1737;p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p2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30" name="Google Shape;1730;p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4"/>
        <p:cNvGrpSpPr/>
        <p:nvPr/>
      </p:nvGrpSpPr>
      <p:grpSpPr>
        <a:xfrm>
          <a:off x="0" y="0"/>
          <a:ext cx="0" cy="0"/>
          <a:chOff x="0" y="0"/>
          <a:chExt cx="0" cy="0"/>
        </a:xfrm>
      </p:grpSpPr>
      <p:sp>
        <p:nvSpPr>
          <p:cNvPr id="1925" name="Google Shape;1925;p2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26" name="Google Shape;1926;p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94935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2"/>
        <p:cNvGrpSpPr/>
        <p:nvPr/>
      </p:nvGrpSpPr>
      <p:grpSpPr>
        <a:xfrm>
          <a:off x="0" y="0"/>
          <a:ext cx="0" cy="0"/>
          <a:chOff x="0" y="0"/>
          <a:chExt cx="0" cy="0"/>
        </a:xfrm>
      </p:grpSpPr>
      <p:sp>
        <p:nvSpPr>
          <p:cNvPr id="1743" name="Google Shape;1743;p2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44" name="Google Shape;1744;p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p2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51" name="Google Shape;1751;p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7"/>
        <p:cNvGrpSpPr/>
        <p:nvPr/>
      </p:nvGrpSpPr>
      <p:grpSpPr>
        <a:xfrm>
          <a:off x="0" y="0"/>
          <a:ext cx="0" cy="0"/>
          <a:chOff x="0" y="0"/>
          <a:chExt cx="0" cy="0"/>
        </a:xfrm>
      </p:grpSpPr>
      <p:sp>
        <p:nvSpPr>
          <p:cNvPr id="1758" name="Google Shape;1758;p2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59" name="Google Shape;1759;p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5"/>
        <p:cNvGrpSpPr/>
        <p:nvPr/>
      </p:nvGrpSpPr>
      <p:grpSpPr>
        <a:xfrm>
          <a:off x="0" y="0"/>
          <a:ext cx="0" cy="0"/>
          <a:chOff x="0" y="0"/>
          <a:chExt cx="0" cy="0"/>
        </a:xfrm>
      </p:grpSpPr>
      <p:sp>
        <p:nvSpPr>
          <p:cNvPr id="1766" name="Google Shape;1766;p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67" name="Google Shape;1767;p2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2"/>
        <p:cNvGrpSpPr/>
        <p:nvPr/>
      </p:nvGrpSpPr>
      <p:grpSpPr>
        <a:xfrm>
          <a:off x="0" y="0"/>
          <a:ext cx="0" cy="0"/>
          <a:chOff x="0" y="0"/>
          <a:chExt cx="0" cy="0"/>
        </a:xfrm>
      </p:grpSpPr>
      <p:sp>
        <p:nvSpPr>
          <p:cNvPr id="1773" name="Google Shape;1773;gf4cb610f5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74" name="Google Shape;1774;gf4cb610f56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3"/>
        <p:cNvGrpSpPr/>
        <p:nvPr/>
      </p:nvGrpSpPr>
      <p:grpSpPr>
        <a:xfrm>
          <a:off x="0" y="0"/>
          <a:ext cx="0" cy="0"/>
          <a:chOff x="0" y="0"/>
          <a:chExt cx="0" cy="0"/>
        </a:xfrm>
      </p:grpSpPr>
      <p:sp>
        <p:nvSpPr>
          <p:cNvPr id="1794" name="Google Shape;1794;gf4cb610f5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95" name="Google Shape;1795;gf4cb610f56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0"/>
        <p:cNvGrpSpPr/>
        <p:nvPr/>
      </p:nvGrpSpPr>
      <p:grpSpPr>
        <a:xfrm>
          <a:off x="0" y="0"/>
          <a:ext cx="0" cy="0"/>
          <a:chOff x="0" y="0"/>
          <a:chExt cx="0" cy="0"/>
        </a:xfrm>
      </p:grpSpPr>
      <p:sp>
        <p:nvSpPr>
          <p:cNvPr id="1801" name="Google Shape;1801;gf4cb610f56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02" name="Google Shape;1802;gf4cb610f56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9"/>
        <p:cNvGrpSpPr/>
        <p:nvPr/>
      </p:nvGrpSpPr>
      <p:grpSpPr>
        <a:xfrm>
          <a:off x="0" y="0"/>
          <a:ext cx="0" cy="0"/>
          <a:chOff x="0" y="0"/>
          <a:chExt cx="0" cy="0"/>
        </a:xfrm>
      </p:grpSpPr>
      <p:sp>
        <p:nvSpPr>
          <p:cNvPr id="1780" name="Google Shape;1780;gf4cb610f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81" name="Google Shape;1781;gf4cb610f56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1">
              <a:solidFill>
                <a:srgbClr val="232323"/>
              </a:solidFill>
              <a:highlight>
                <a:srgbClr val="FFFFFF"/>
              </a:highlight>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6"/>
        <p:cNvGrpSpPr/>
        <p:nvPr/>
      </p:nvGrpSpPr>
      <p:grpSpPr>
        <a:xfrm>
          <a:off x="0" y="0"/>
          <a:ext cx="0" cy="0"/>
          <a:chOff x="0" y="0"/>
          <a:chExt cx="0" cy="0"/>
        </a:xfrm>
      </p:grpSpPr>
      <p:sp>
        <p:nvSpPr>
          <p:cNvPr id="1787" name="Google Shape;1787;gf4cb610f56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88" name="Google Shape;1788;gf4cb610f56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7"/>
        <p:cNvGrpSpPr/>
        <p:nvPr/>
      </p:nvGrpSpPr>
      <p:grpSpPr>
        <a:xfrm>
          <a:off x="0" y="0"/>
          <a:ext cx="0" cy="0"/>
          <a:chOff x="0" y="0"/>
          <a:chExt cx="0" cy="0"/>
        </a:xfrm>
      </p:grpSpPr>
      <p:sp>
        <p:nvSpPr>
          <p:cNvPr id="1808" name="Google Shape;1808;gf4cb610f5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09" name="Google Shape;1809;gf4cb610f5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4"/>
        <p:cNvGrpSpPr/>
        <p:nvPr/>
      </p:nvGrpSpPr>
      <p:grpSpPr>
        <a:xfrm>
          <a:off x="0" y="0"/>
          <a:ext cx="0" cy="0"/>
          <a:chOff x="0" y="0"/>
          <a:chExt cx="0" cy="0"/>
        </a:xfrm>
      </p:grpSpPr>
      <p:sp>
        <p:nvSpPr>
          <p:cNvPr id="1815" name="Google Shape;1815;p2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16" name="Google Shape;1816;p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1"/>
        <p:cNvGrpSpPr/>
        <p:nvPr/>
      </p:nvGrpSpPr>
      <p:grpSpPr>
        <a:xfrm>
          <a:off x="0" y="0"/>
          <a:ext cx="0" cy="0"/>
          <a:chOff x="0" y="0"/>
          <a:chExt cx="0" cy="0"/>
        </a:xfrm>
      </p:grpSpPr>
      <p:sp>
        <p:nvSpPr>
          <p:cNvPr id="1822" name="Google Shape;1822;p2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3" name="Google Shape;1823;p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8"/>
        <p:cNvGrpSpPr/>
        <p:nvPr/>
      </p:nvGrpSpPr>
      <p:grpSpPr>
        <a:xfrm>
          <a:off x="0" y="0"/>
          <a:ext cx="0" cy="0"/>
          <a:chOff x="0" y="0"/>
          <a:chExt cx="0" cy="0"/>
        </a:xfrm>
      </p:grpSpPr>
      <p:sp>
        <p:nvSpPr>
          <p:cNvPr id="1829" name="Google Shape;1829;p2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30" name="Google Shape;1830;p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5"/>
        <p:cNvGrpSpPr/>
        <p:nvPr/>
      </p:nvGrpSpPr>
      <p:grpSpPr>
        <a:xfrm>
          <a:off x="0" y="0"/>
          <a:ext cx="0" cy="0"/>
          <a:chOff x="0" y="0"/>
          <a:chExt cx="0" cy="0"/>
        </a:xfrm>
      </p:grpSpPr>
      <p:sp>
        <p:nvSpPr>
          <p:cNvPr id="1836" name="Google Shape;1836;p2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837" name="Google Shape;1837;p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7"/>
        <p:cNvGrpSpPr/>
        <p:nvPr/>
      </p:nvGrpSpPr>
      <p:grpSpPr>
        <a:xfrm>
          <a:off x="0" y="0"/>
          <a:ext cx="0" cy="0"/>
          <a:chOff x="0" y="0"/>
          <a:chExt cx="0" cy="0"/>
        </a:xfrm>
      </p:grpSpPr>
      <p:sp>
        <p:nvSpPr>
          <p:cNvPr id="1858" name="Google Shape;1858;p2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59" name="Google Shape;1859;p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2"/>
        <p:cNvGrpSpPr/>
        <p:nvPr/>
      </p:nvGrpSpPr>
      <p:grpSpPr>
        <a:xfrm>
          <a:off x="0" y="0"/>
          <a:ext cx="0" cy="0"/>
          <a:chOff x="0" y="0"/>
          <a:chExt cx="0" cy="0"/>
        </a:xfrm>
      </p:grpSpPr>
      <p:sp>
        <p:nvSpPr>
          <p:cNvPr id="1843" name="Google Shape;1843;p2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44" name="Google Shape;1844;p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p2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2" name="Google Shape;1872;p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7"/>
        <p:cNvGrpSpPr/>
        <p:nvPr/>
      </p:nvGrpSpPr>
      <p:grpSpPr>
        <a:xfrm>
          <a:off x="0" y="0"/>
          <a:ext cx="0" cy="0"/>
          <a:chOff x="0" y="0"/>
          <a:chExt cx="0" cy="0"/>
        </a:xfrm>
      </p:grpSpPr>
      <p:sp>
        <p:nvSpPr>
          <p:cNvPr id="1878" name="Google Shape;1878;p2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9" name="Google Shape;1879;p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p2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86" name="Google Shape;1886;p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p2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93" name="Google Shape;1893;p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8"/>
        <p:cNvGrpSpPr/>
        <p:nvPr/>
      </p:nvGrpSpPr>
      <p:grpSpPr>
        <a:xfrm>
          <a:off x="0" y="0"/>
          <a:ext cx="0" cy="0"/>
          <a:chOff x="0" y="0"/>
          <a:chExt cx="0" cy="0"/>
        </a:xfrm>
      </p:grpSpPr>
      <p:sp>
        <p:nvSpPr>
          <p:cNvPr id="1899" name="Google Shape;1899;p2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0" name="Google Shape;1900;p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4"/>
        <p:cNvGrpSpPr/>
        <p:nvPr/>
      </p:nvGrpSpPr>
      <p:grpSpPr>
        <a:xfrm>
          <a:off x="0" y="0"/>
          <a:ext cx="0" cy="0"/>
          <a:chOff x="0" y="0"/>
          <a:chExt cx="0" cy="0"/>
        </a:xfrm>
      </p:grpSpPr>
      <p:sp>
        <p:nvSpPr>
          <p:cNvPr id="1865" name="Google Shape;1865;p2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6" name="Google Shape;1866;p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
        <p:cNvGrpSpPr/>
        <p:nvPr/>
      </p:nvGrpSpPr>
      <p:grpSpPr>
        <a:xfrm>
          <a:off x="0" y="0"/>
          <a:ext cx="0" cy="0"/>
          <a:chOff x="0" y="0"/>
          <a:chExt cx="0" cy="0"/>
        </a:xfrm>
      </p:grpSpPr>
      <p:sp>
        <p:nvSpPr>
          <p:cNvPr id="9" name="Google Shape;9;p25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 name="Google Shape;10;p255"/>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61"/>
          <p:cNvSpPr txBox="1">
            <a:spLocks noGrp="1"/>
          </p:cNvSpPr>
          <p:nvPr>
            <p:ph type="ctrTitle"/>
          </p:nvPr>
        </p:nvSpPr>
        <p:spPr>
          <a:xfrm>
            <a:off x="914400" y="2130426"/>
            <a:ext cx="10363200" cy="14700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61"/>
          <p:cNvSpPr txBox="1">
            <a:spLocks noGrp="1"/>
          </p:cNvSpPr>
          <p:nvPr>
            <p:ph type="subTitle" idx="1"/>
          </p:nvPr>
        </p:nvSpPr>
        <p:spPr>
          <a:xfrm>
            <a:off x="1828800" y="3886200"/>
            <a:ext cx="8534400" cy="1752600"/>
          </a:xfrm>
          <a:prstGeom prst="rect">
            <a:avLst/>
          </a:prstGeom>
          <a:noFill/>
          <a:ln>
            <a:noFill/>
          </a:ln>
        </p:spPr>
        <p:txBody>
          <a:bodyPr spcFirstLastPara="1" wrap="square" lIns="50800" tIns="50800" rIns="50800" bIns="50800" anchor="t" anchorCtr="0">
            <a:noAutofit/>
          </a:bodyPr>
          <a:lstStyle>
            <a:lvl1pPr lvl="0" algn="ctr">
              <a:spcBef>
                <a:spcPts val="800"/>
              </a:spcBef>
              <a:spcAft>
                <a:spcPts val="0"/>
              </a:spcAft>
              <a:buClr>
                <a:srgbClr val="878787"/>
              </a:buClr>
              <a:buSzPts val="3200"/>
              <a:buFont typeface="Calibri"/>
              <a:buNone/>
              <a:defRPr/>
            </a:lvl1pPr>
            <a:lvl2pPr lvl="1" algn="ctr">
              <a:spcBef>
                <a:spcPts val="800"/>
              </a:spcBef>
              <a:spcAft>
                <a:spcPts val="0"/>
              </a:spcAft>
              <a:buClr>
                <a:srgbClr val="878787"/>
              </a:buClr>
              <a:buSzPts val="3200"/>
              <a:buFont typeface="Calibri"/>
              <a:buNone/>
              <a:defRPr/>
            </a:lvl2pPr>
            <a:lvl3pPr lvl="2" algn="ctr">
              <a:spcBef>
                <a:spcPts val="800"/>
              </a:spcBef>
              <a:spcAft>
                <a:spcPts val="0"/>
              </a:spcAft>
              <a:buClr>
                <a:srgbClr val="878787"/>
              </a:buClr>
              <a:buSzPts val="3200"/>
              <a:buFont typeface="Calibri"/>
              <a:buNone/>
              <a:defRPr/>
            </a:lvl3pPr>
            <a:lvl4pPr lvl="3" algn="ctr">
              <a:spcBef>
                <a:spcPts val="800"/>
              </a:spcBef>
              <a:spcAft>
                <a:spcPts val="0"/>
              </a:spcAft>
              <a:buClr>
                <a:srgbClr val="878787"/>
              </a:buClr>
              <a:buSzPts val="3200"/>
              <a:buFont typeface="Calibri"/>
              <a:buNone/>
              <a:defRPr/>
            </a:lvl4pPr>
            <a:lvl5pPr lvl="4" algn="ctr">
              <a:spcBef>
                <a:spcPts val="800"/>
              </a:spcBef>
              <a:spcAft>
                <a:spcPts val="0"/>
              </a:spcAft>
              <a:buClr>
                <a:srgbClr val="878787"/>
              </a:buClr>
              <a:buSzPts val="3200"/>
              <a:buFont typeface="Calibri"/>
              <a:buNone/>
              <a:defRPr/>
            </a:lvl5pPr>
            <a:lvl6pPr lvl="5" algn="ctr">
              <a:spcBef>
                <a:spcPts val="800"/>
              </a:spcBef>
              <a:spcAft>
                <a:spcPts val="0"/>
              </a:spcAft>
              <a:buClr>
                <a:srgbClr val="878787"/>
              </a:buClr>
              <a:buSzPts val="3200"/>
              <a:buFont typeface="Calibri"/>
              <a:buNone/>
              <a:defRPr/>
            </a:lvl6pPr>
            <a:lvl7pPr lvl="6" algn="ctr">
              <a:spcBef>
                <a:spcPts val="800"/>
              </a:spcBef>
              <a:spcAft>
                <a:spcPts val="0"/>
              </a:spcAft>
              <a:buClr>
                <a:srgbClr val="878787"/>
              </a:buClr>
              <a:buSzPts val="3200"/>
              <a:buFont typeface="Calibri"/>
              <a:buNone/>
              <a:defRPr/>
            </a:lvl7pPr>
            <a:lvl8pPr lvl="7" algn="ctr">
              <a:spcBef>
                <a:spcPts val="800"/>
              </a:spcBef>
              <a:spcAft>
                <a:spcPts val="0"/>
              </a:spcAft>
              <a:buClr>
                <a:srgbClr val="878787"/>
              </a:buClr>
              <a:buSzPts val="3200"/>
              <a:buFont typeface="Calibri"/>
              <a:buNone/>
              <a:defRPr/>
            </a:lvl8pPr>
            <a:lvl9pPr lvl="8" algn="ctr">
              <a:spcBef>
                <a:spcPts val="800"/>
              </a:spcBef>
              <a:spcAft>
                <a:spcPts val="0"/>
              </a:spcAft>
              <a:buClr>
                <a:srgbClr val="878787"/>
              </a:buClr>
              <a:buSzPts val="3200"/>
              <a:buFont typeface="Calibri"/>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26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 name="Google Shape;16;p262"/>
          <p:cNvSpPr txBox="1">
            <a:spLocks noGrp="1"/>
          </p:cNvSpPr>
          <p:nvPr>
            <p:ph type="body" idx="1"/>
          </p:nvPr>
        </p:nvSpPr>
        <p:spPr>
          <a:xfrm>
            <a:off x="963084" y="2906713"/>
            <a:ext cx="10363200" cy="1500187"/>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000"/>
              <a:buFont typeface="Calibri"/>
              <a:buNone/>
              <a:defRPr sz="2000"/>
            </a:lvl1pPr>
            <a:lvl2pPr marL="914400" lvl="1" indent="-228600" algn="ctr">
              <a:spcBef>
                <a:spcPts val="800"/>
              </a:spcBef>
              <a:spcAft>
                <a:spcPts val="0"/>
              </a:spcAft>
              <a:buClr>
                <a:srgbClr val="878787"/>
              </a:buClr>
              <a:buSzPts val="1800"/>
              <a:buFont typeface="Calibri"/>
              <a:buNone/>
              <a:defRPr sz="1800"/>
            </a:lvl2pPr>
            <a:lvl3pPr marL="1371600" lvl="2" indent="-228600" algn="ctr">
              <a:spcBef>
                <a:spcPts val="800"/>
              </a:spcBef>
              <a:spcAft>
                <a:spcPts val="0"/>
              </a:spcAft>
              <a:buClr>
                <a:srgbClr val="878787"/>
              </a:buClr>
              <a:buSzPts val="1600"/>
              <a:buFont typeface="Calibri"/>
              <a:buNone/>
              <a:defRPr sz="1600"/>
            </a:lvl3pPr>
            <a:lvl4pPr marL="1828800" lvl="3" indent="-228600" algn="ctr">
              <a:spcBef>
                <a:spcPts val="800"/>
              </a:spcBef>
              <a:spcAft>
                <a:spcPts val="0"/>
              </a:spcAft>
              <a:buClr>
                <a:srgbClr val="878787"/>
              </a:buClr>
              <a:buSzPts val="1400"/>
              <a:buFont typeface="Calibri"/>
              <a:buNone/>
              <a:defRPr sz="1400"/>
            </a:lvl4pPr>
            <a:lvl5pPr marL="2286000" lvl="4" indent="-228600" algn="ctr">
              <a:spcBef>
                <a:spcPts val="800"/>
              </a:spcBef>
              <a:spcAft>
                <a:spcPts val="0"/>
              </a:spcAft>
              <a:buClr>
                <a:srgbClr val="878787"/>
              </a:buClr>
              <a:buSzPts val="1400"/>
              <a:buFont typeface="Calibri"/>
              <a:buNone/>
              <a:defRPr sz="1400"/>
            </a:lvl5pPr>
            <a:lvl6pPr marL="2743200" lvl="5" indent="-228600" algn="ctr">
              <a:spcBef>
                <a:spcPts val="800"/>
              </a:spcBef>
              <a:spcAft>
                <a:spcPts val="0"/>
              </a:spcAft>
              <a:buClr>
                <a:srgbClr val="878787"/>
              </a:buClr>
              <a:buSzPts val="1400"/>
              <a:buFont typeface="Calibri"/>
              <a:buNone/>
              <a:defRPr sz="1400"/>
            </a:lvl6pPr>
            <a:lvl7pPr marL="3200400" lvl="6" indent="-228600" algn="ctr">
              <a:spcBef>
                <a:spcPts val="800"/>
              </a:spcBef>
              <a:spcAft>
                <a:spcPts val="0"/>
              </a:spcAft>
              <a:buClr>
                <a:srgbClr val="878787"/>
              </a:buClr>
              <a:buSzPts val="1400"/>
              <a:buFont typeface="Calibri"/>
              <a:buNone/>
              <a:defRPr sz="1400"/>
            </a:lvl7pPr>
            <a:lvl8pPr marL="3657600" lvl="7" indent="-228600" algn="ctr">
              <a:spcBef>
                <a:spcPts val="800"/>
              </a:spcBef>
              <a:spcAft>
                <a:spcPts val="0"/>
              </a:spcAft>
              <a:buClr>
                <a:srgbClr val="878787"/>
              </a:buClr>
              <a:buSzPts val="1400"/>
              <a:buFont typeface="Calibri"/>
              <a:buNone/>
              <a:defRPr sz="1400"/>
            </a:lvl8pPr>
            <a:lvl9pPr marL="4114800" lvl="8" indent="-228600" algn="ctr">
              <a:spcBef>
                <a:spcPts val="800"/>
              </a:spcBef>
              <a:spcAft>
                <a:spcPts val="0"/>
              </a:spcAft>
              <a:buClr>
                <a:srgbClr val="878787"/>
              </a:buClr>
              <a:buSzPts val="1400"/>
              <a:buFont typeface="Calibri"/>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263"/>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263"/>
          <p:cNvSpPr txBox="1">
            <a:spLocks noGrp="1"/>
          </p:cNvSpPr>
          <p:nvPr>
            <p:ph type="body" idx="1"/>
          </p:nvPr>
        </p:nvSpPr>
        <p:spPr>
          <a:xfrm>
            <a:off x="18288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
        <p:nvSpPr>
          <p:cNvPr id="20" name="Google Shape;20;p263"/>
          <p:cNvSpPr txBox="1">
            <a:spLocks noGrp="1"/>
          </p:cNvSpPr>
          <p:nvPr>
            <p:ph type="body" idx="2"/>
          </p:nvPr>
        </p:nvSpPr>
        <p:spPr>
          <a:xfrm>
            <a:off x="61976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264"/>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264"/>
          <p:cNvSpPr txBox="1">
            <a:spLocks noGrp="1"/>
          </p:cNvSpPr>
          <p:nvPr>
            <p:ph type="body" idx="1"/>
          </p:nvPr>
        </p:nvSpPr>
        <p:spPr>
          <a:xfrm>
            <a:off x="609600" y="1535113"/>
            <a:ext cx="5386917"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4" name="Google Shape;24;p264"/>
          <p:cNvSpPr txBox="1">
            <a:spLocks noGrp="1"/>
          </p:cNvSpPr>
          <p:nvPr>
            <p:ph type="body" idx="2"/>
          </p:nvPr>
        </p:nvSpPr>
        <p:spPr>
          <a:xfrm>
            <a:off x="609600" y="2174875"/>
            <a:ext cx="5386917"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
        <p:nvSpPr>
          <p:cNvPr id="25" name="Google Shape;25;p264"/>
          <p:cNvSpPr txBox="1">
            <a:spLocks noGrp="1"/>
          </p:cNvSpPr>
          <p:nvPr>
            <p:ph type="body" idx="3"/>
          </p:nvPr>
        </p:nvSpPr>
        <p:spPr>
          <a:xfrm>
            <a:off x="6193368" y="1535113"/>
            <a:ext cx="5389033"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6" name="Google Shape;26;p264"/>
          <p:cNvSpPr txBox="1">
            <a:spLocks noGrp="1"/>
          </p:cNvSpPr>
          <p:nvPr>
            <p:ph type="body" idx="4"/>
          </p:nvPr>
        </p:nvSpPr>
        <p:spPr>
          <a:xfrm>
            <a:off x="6193368" y="2174875"/>
            <a:ext cx="5389033"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6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0"/>
        <p:cNvGrpSpPr/>
        <p:nvPr/>
      </p:nvGrpSpPr>
      <p:grpSpPr>
        <a:xfrm>
          <a:off x="0" y="0"/>
          <a:ext cx="0" cy="0"/>
          <a:chOff x="0" y="0"/>
          <a:chExt cx="0" cy="0"/>
        </a:xfrm>
      </p:grpSpPr>
      <p:sp>
        <p:nvSpPr>
          <p:cNvPr id="31" name="Google Shape;31;p267"/>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67"/>
          <p:cNvSpPr txBox="1">
            <a:spLocks noGrp="1"/>
          </p:cNvSpPr>
          <p:nvPr>
            <p:ph type="body" idx="1"/>
          </p:nvPr>
        </p:nvSpPr>
        <p:spPr>
          <a:xfrm>
            <a:off x="4766733" y="273051"/>
            <a:ext cx="6815667" cy="585311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3200"/>
            </a:lvl1pPr>
            <a:lvl2pPr marL="914400" lvl="1" indent="-228600" algn="ctr">
              <a:spcBef>
                <a:spcPts val="800"/>
              </a:spcBef>
              <a:spcAft>
                <a:spcPts val="0"/>
              </a:spcAft>
              <a:buSzPts val="1400"/>
              <a:buNone/>
              <a:defRPr sz="2800"/>
            </a:lvl2pPr>
            <a:lvl3pPr marL="1371600" lvl="2" indent="-228600" algn="ctr">
              <a:spcBef>
                <a:spcPts val="800"/>
              </a:spcBef>
              <a:spcAft>
                <a:spcPts val="0"/>
              </a:spcAft>
              <a:buSzPts val="1400"/>
              <a:buNone/>
              <a:defRPr sz="2400"/>
            </a:lvl3pPr>
            <a:lvl4pPr marL="1828800" lvl="3" indent="-228600" algn="ctr">
              <a:spcBef>
                <a:spcPts val="800"/>
              </a:spcBef>
              <a:spcAft>
                <a:spcPts val="0"/>
              </a:spcAft>
              <a:buSzPts val="1400"/>
              <a:buNone/>
              <a:defRPr sz="2000"/>
            </a:lvl4pPr>
            <a:lvl5pPr marL="2286000" lvl="4" indent="-228600" algn="ctr">
              <a:spcBef>
                <a:spcPts val="800"/>
              </a:spcBef>
              <a:spcAft>
                <a:spcPts val="0"/>
              </a:spcAft>
              <a:buSzPts val="1400"/>
              <a:buNone/>
              <a:defRPr sz="2000"/>
            </a:lvl5pPr>
            <a:lvl6pPr marL="2743200" lvl="5" indent="-228600" algn="ctr">
              <a:spcBef>
                <a:spcPts val="800"/>
              </a:spcBef>
              <a:spcAft>
                <a:spcPts val="0"/>
              </a:spcAft>
              <a:buSzPts val="1400"/>
              <a:buNone/>
              <a:defRPr sz="2000"/>
            </a:lvl6pPr>
            <a:lvl7pPr marL="3200400" lvl="6" indent="-228600" algn="ctr">
              <a:spcBef>
                <a:spcPts val="800"/>
              </a:spcBef>
              <a:spcAft>
                <a:spcPts val="0"/>
              </a:spcAft>
              <a:buSzPts val="1400"/>
              <a:buNone/>
              <a:defRPr sz="2000"/>
            </a:lvl7pPr>
            <a:lvl8pPr marL="3657600" lvl="7" indent="-228600" algn="ctr">
              <a:spcBef>
                <a:spcPts val="800"/>
              </a:spcBef>
              <a:spcAft>
                <a:spcPts val="0"/>
              </a:spcAft>
              <a:buSzPts val="1400"/>
              <a:buNone/>
              <a:defRPr sz="2000"/>
            </a:lvl8pPr>
            <a:lvl9pPr marL="4114800" lvl="8" indent="-228600" algn="ctr">
              <a:spcBef>
                <a:spcPts val="800"/>
              </a:spcBef>
              <a:spcAft>
                <a:spcPts val="0"/>
              </a:spcAft>
              <a:buSzPts val="1400"/>
              <a:buNone/>
              <a:defRPr sz="2000"/>
            </a:lvl9pPr>
          </a:lstStyle>
          <a:p>
            <a:endParaRPr/>
          </a:p>
        </p:txBody>
      </p:sp>
      <p:sp>
        <p:nvSpPr>
          <p:cNvPr id="33" name="Google Shape;33;p267"/>
          <p:cNvSpPr txBox="1">
            <a:spLocks noGrp="1"/>
          </p:cNvSpPr>
          <p:nvPr>
            <p:ph type="body" idx="2"/>
          </p:nvPr>
        </p:nvSpPr>
        <p:spPr>
          <a:xfrm>
            <a:off x="609601" y="1435101"/>
            <a:ext cx="4011084" cy="469106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4"/>
        <p:cNvGrpSpPr/>
        <p:nvPr/>
      </p:nvGrpSpPr>
      <p:grpSpPr>
        <a:xfrm>
          <a:off x="0" y="0"/>
          <a:ext cx="0" cy="0"/>
          <a:chOff x="0" y="0"/>
          <a:chExt cx="0" cy="0"/>
        </a:xfrm>
      </p:grpSpPr>
      <p:sp>
        <p:nvSpPr>
          <p:cNvPr id="35" name="Google Shape;35;p268"/>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268"/>
          <p:cNvSpPr>
            <a:spLocks noGrp="1"/>
          </p:cNvSpPr>
          <p:nvPr>
            <p:ph type="pic" idx="2"/>
          </p:nvPr>
        </p:nvSpPr>
        <p:spPr>
          <a:xfrm>
            <a:off x="2389717" y="612775"/>
            <a:ext cx="7315200" cy="4114800"/>
          </a:xfrm>
          <a:prstGeom prst="rect">
            <a:avLst/>
          </a:prstGeom>
          <a:noFill/>
          <a:ln>
            <a:noFill/>
          </a:ln>
        </p:spPr>
      </p:sp>
      <p:sp>
        <p:nvSpPr>
          <p:cNvPr id="37" name="Google Shape;37;p268"/>
          <p:cNvSpPr txBox="1">
            <a:spLocks noGrp="1"/>
          </p:cNvSpPr>
          <p:nvPr>
            <p:ph type="body" idx="1"/>
          </p:nvPr>
        </p:nvSpPr>
        <p:spPr>
          <a:xfrm>
            <a:off x="2389717" y="5367338"/>
            <a:ext cx="7315200" cy="804862"/>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269"/>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269"/>
          <p:cNvSpPr txBox="1">
            <a:spLocks noGrp="1"/>
          </p:cNvSpPr>
          <p:nvPr>
            <p:ph type="body" idx="1"/>
          </p:nvPr>
        </p:nvSpPr>
        <p:spPr>
          <a:xfrm rot="5400000">
            <a:off x="4610100" y="1104900"/>
            <a:ext cx="2971800" cy="85344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1"/>
        <p:cNvGrpSpPr/>
        <p:nvPr/>
      </p:nvGrpSpPr>
      <p:grpSpPr>
        <a:xfrm>
          <a:off x="0" y="0"/>
          <a:ext cx="0" cy="0"/>
          <a:chOff x="0" y="0"/>
          <a:chExt cx="0" cy="0"/>
        </a:xfrm>
      </p:grpSpPr>
      <p:sp>
        <p:nvSpPr>
          <p:cNvPr id="42" name="Google Shape;42;p270"/>
          <p:cNvSpPr txBox="1">
            <a:spLocks noGrp="1"/>
          </p:cNvSpPr>
          <p:nvPr>
            <p:ph type="title"/>
          </p:nvPr>
        </p:nvSpPr>
        <p:spPr>
          <a:xfrm rot="5400000">
            <a:off x="7475538" y="3055938"/>
            <a:ext cx="5013325" cy="25908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270"/>
          <p:cNvSpPr txBox="1">
            <a:spLocks noGrp="1"/>
          </p:cNvSpPr>
          <p:nvPr>
            <p:ph type="body" idx="1"/>
          </p:nvPr>
        </p:nvSpPr>
        <p:spPr>
          <a:xfrm rot="5400000">
            <a:off x="2192338" y="566738"/>
            <a:ext cx="5013325" cy="75692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6"/>
        <p:cNvGrpSpPr/>
        <p:nvPr/>
      </p:nvGrpSpPr>
      <p:grpSpPr>
        <a:xfrm>
          <a:off x="0" y="0"/>
          <a:ext cx="0" cy="0"/>
          <a:chOff x="0" y="0"/>
          <a:chExt cx="0" cy="0"/>
        </a:xfrm>
      </p:grpSpPr>
      <p:sp>
        <p:nvSpPr>
          <p:cNvPr id="47" name="Google Shape;47;p25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25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3"/>
        <p:cNvGrpSpPr/>
        <p:nvPr/>
      </p:nvGrpSpPr>
      <p:grpSpPr>
        <a:xfrm>
          <a:off x="0" y="0"/>
          <a:ext cx="0" cy="0"/>
          <a:chOff x="0" y="0"/>
          <a:chExt cx="0" cy="0"/>
        </a:xfrm>
      </p:grpSpPr>
      <p:sp>
        <p:nvSpPr>
          <p:cNvPr id="64" name="Google Shape;64;p27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5" name="Google Shape;65;p272"/>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273"/>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27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9" name="Google Shape;69;p27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70" name="Google Shape;70;p273"/>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1" name="Google Shape;71;p273"/>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274"/>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4"/>
        <p:cNvGrpSpPr/>
        <p:nvPr/>
      </p:nvGrpSpPr>
      <p:grpSpPr>
        <a:xfrm>
          <a:off x="0" y="0"/>
          <a:ext cx="0" cy="0"/>
          <a:chOff x="0" y="0"/>
          <a:chExt cx="0" cy="0"/>
        </a:xfrm>
      </p:grpSpPr>
      <p:sp>
        <p:nvSpPr>
          <p:cNvPr id="75" name="Google Shape;75;p275"/>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275"/>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275"/>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276"/>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276"/>
          <p:cNvSpPr>
            <a:spLocks noGrp="1"/>
          </p:cNvSpPr>
          <p:nvPr>
            <p:ph type="pic" idx="2"/>
          </p:nvPr>
        </p:nvSpPr>
        <p:spPr>
          <a:xfrm>
            <a:off x="2389717" y="612775"/>
            <a:ext cx="7315200" cy="4114800"/>
          </a:xfrm>
          <a:prstGeom prst="rect">
            <a:avLst/>
          </a:prstGeom>
          <a:noFill/>
          <a:ln>
            <a:noFill/>
          </a:ln>
        </p:spPr>
      </p:sp>
      <p:sp>
        <p:nvSpPr>
          <p:cNvPr id="81" name="Google Shape;81;p276"/>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27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277"/>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78"/>
          <p:cNvSpPr txBox="1">
            <a:spLocks noGrp="1"/>
          </p:cNvSpPr>
          <p:nvPr>
            <p:ph type="title"/>
          </p:nvPr>
        </p:nvSpPr>
        <p:spPr>
          <a:xfrm rot="5400000">
            <a:off x="7193756" y="1737519"/>
            <a:ext cx="6034088" cy="27432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7" name="Google Shape;87;p278"/>
          <p:cNvSpPr txBox="1">
            <a:spLocks noGrp="1"/>
          </p:cNvSpPr>
          <p:nvPr>
            <p:ph type="body" idx="1"/>
          </p:nvPr>
        </p:nvSpPr>
        <p:spPr>
          <a:xfrm rot="5400000">
            <a:off x="1605756" y="-904081"/>
            <a:ext cx="6034088" cy="8026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4"/>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254"/>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marR="0" lvl="0"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1pPr>
            <a:lvl2pPr marL="914400" marR="0" lvl="1"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2pPr>
            <a:lvl3pPr marL="1371600" marR="0" lvl="2"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3pPr>
            <a:lvl4pPr marL="1828800" marR="0" lvl="3"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4pPr>
            <a:lvl5pPr marL="2286000" marR="0" lvl="4"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5pPr>
            <a:lvl6pPr marL="2743200" marR="0" lvl="5"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6pPr>
            <a:lvl7pPr marL="3200400" marR="0" lvl="6"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7pPr>
            <a:lvl8pPr marL="3657600" marR="0" lvl="7"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8pPr>
            <a:lvl9pPr marL="4114800" marR="0" lvl="8"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p256"/>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66" r:id="rId2"/>
    <p:sldLayoutId id="2147483667" r:id="rId3"/>
    <p:sldLayoutId id="2147483668" r:id="rId4"/>
    <p:sldLayoutId id="2147483669" r:id="rId5"/>
    <p:sldLayoutId id="2147483670" r:id="rId6"/>
    <p:sldLayoutId id="2147483671" r:id="rId7"/>
    <p:sldLayoutId id="214748367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2" name="Picture 1" descr="A stethoscope formed in a heart">
            <a:extLst>
              <a:ext uri="{FF2B5EF4-FFF2-40B4-BE49-F238E27FC236}">
                <a16:creationId xmlns:a16="http://schemas.microsoft.com/office/drawing/2014/main" id="{508F660B-0A43-F401-513B-4F4D44197ADF}"/>
              </a:ext>
            </a:extLst>
          </p:cNvPr>
          <p:cNvPicPr>
            <a:picLocks noChangeAspect="1"/>
          </p:cNvPicPr>
          <p:nvPr/>
        </p:nvPicPr>
        <p:blipFill rotWithShape="1">
          <a:blip r:embed="rId3">
            <a:extLst>
              <a:ext uri="{28A0092B-C50C-407E-A947-70E740481C1C}">
                <a14:useLocalDpi xmlns:a14="http://schemas.microsoft.com/office/drawing/2010/main" val="0"/>
              </a:ext>
            </a:extLst>
          </a:blip>
          <a:srcRect t="17" b="12774"/>
          <a:stretch/>
        </p:blipFill>
        <p:spPr>
          <a:xfrm>
            <a:off x="1" y="10"/>
            <a:ext cx="12191999" cy="6857990"/>
          </a:xfrm>
          <a:prstGeom prst="rect">
            <a:avLst/>
          </a:prstGeom>
        </p:spPr>
      </p:pic>
      <p:sp>
        <p:nvSpPr>
          <p:cNvPr id="92" name="Google Shape;92;p1"/>
          <p:cNvSpPr txBox="1">
            <a:spLocks noGrp="1"/>
          </p:cNvSpPr>
          <p:nvPr>
            <p:ph type="title"/>
          </p:nvPr>
        </p:nvSpPr>
        <p:spPr>
          <a:xfrm>
            <a:off x="652708" y="0"/>
            <a:ext cx="10134522" cy="2646381"/>
          </a:xfrm>
          <a:prstGeom prst="rect">
            <a:avLst/>
          </a:prstGeom>
          <a:noFill/>
          <a:ln>
            <a:noFill/>
          </a:ln>
        </p:spPr>
        <p:txBody>
          <a:bodyPr spcFirstLastPara="1" wrap="square" lIns="50800" tIns="50800" rIns="50800" bIns="50800" anchor="ctr" anchorCtr="0">
            <a:noAutofit/>
          </a:bodyPr>
          <a:lstStyle/>
          <a:p>
            <a:r>
              <a:rPr lang="en-US" dirty="0"/>
              <a:t>HYPERTENSIVE URGENCY AND EMERGENCY</a:t>
            </a:r>
            <a:br>
              <a:rPr lang="en-US" dirty="0"/>
            </a:br>
            <a:endParaRPr dirty="0"/>
          </a:p>
        </p:txBody>
      </p:sp>
      <p:sp>
        <p:nvSpPr>
          <p:cNvPr id="93" name="Google Shape;93;p1"/>
          <p:cNvSpPr txBox="1">
            <a:spLocks noGrp="1"/>
          </p:cNvSpPr>
          <p:nvPr>
            <p:ph type="body" idx="1"/>
          </p:nvPr>
        </p:nvSpPr>
        <p:spPr>
          <a:xfrm>
            <a:off x="3488634" y="1695037"/>
            <a:ext cx="4462670" cy="2895600"/>
          </a:xfrm>
          <a:prstGeom prst="rect">
            <a:avLst/>
          </a:prstGeom>
          <a:noFill/>
          <a:ln>
            <a:noFill/>
          </a:ln>
        </p:spPr>
        <p:txBody>
          <a:bodyPr spcFirstLastPara="1" wrap="square" lIns="50800" tIns="50800" rIns="50800" bIns="50800" anchor="t" anchorCtr="0">
            <a:noAutofit/>
          </a:bodyPr>
          <a:lstStyle/>
          <a:p>
            <a:pPr marL="0" indent="0"/>
            <a:endParaRPr dirty="0"/>
          </a:p>
          <a:p>
            <a:pPr marL="0" indent="0"/>
            <a:endParaRPr dirty="0"/>
          </a:p>
          <a:p>
            <a:pPr marL="0" indent="0"/>
            <a:r>
              <a:rPr lang="en-US" dirty="0">
                <a:solidFill>
                  <a:schemeClr val="tx1"/>
                </a:solidFill>
              </a:rPr>
              <a:t>Breanna Veal, MHS, PA-C</a:t>
            </a:r>
            <a:endParaRP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sp>
        <p:nvSpPr>
          <p:cNvPr id="1676" name="Google Shape;1676;p223"/>
          <p:cNvSpPr txBox="1">
            <a:spLocks noGrp="1"/>
          </p:cNvSpPr>
          <p:nvPr>
            <p:ph type="title"/>
          </p:nvPr>
        </p:nvSpPr>
        <p:spPr>
          <a:xfrm>
            <a:off x="1981200" y="92077"/>
            <a:ext cx="8229600" cy="663704"/>
          </a:xfrm>
          <a:prstGeom prst="rect">
            <a:avLst/>
          </a:prstGeom>
          <a:noFill/>
          <a:ln>
            <a:noFill/>
          </a:ln>
        </p:spPr>
        <p:txBody>
          <a:bodyPr spcFirstLastPara="1" wrap="square" lIns="50800" tIns="50800" rIns="50800" bIns="50800" anchor="ctr" anchorCtr="0">
            <a:noAutofit/>
          </a:bodyPr>
          <a:lstStyle/>
          <a:p>
            <a:r>
              <a:rPr lang="en-US" dirty="0"/>
              <a:t>Definition</a:t>
            </a:r>
            <a:endParaRPr dirty="0"/>
          </a:p>
        </p:txBody>
      </p:sp>
      <p:sp>
        <p:nvSpPr>
          <p:cNvPr id="1677" name="Google Shape;1677;p223"/>
          <p:cNvSpPr txBox="1">
            <a:spLocks noGrp="1"/>
          </p:cNvSpPr>
          <p:nvPr>
            <p:ph type="body" idx="1"/>
          </p:nvPr>
        </p:nvSpPr>
        <p:spPr>
          <a:xfrm>
            <a:off x="432319" y="925286"/>
            <a:ext cx="11327362" cy="56388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Hypertensive urgency: </a:t>
            </a:r>
            <a:r>
              <a:rPr lang="en-US" dirty="0"/>
              <a:t>systolic BP ≥ 180 and/or diastolic BP ≥ 120 mmHg</a:t>
            </a:r>
            <a:endParaRPr dirty="0"/>
          </a:p>
          <a:p>
            <a:pPr marL="782638" lvl="1" indent="-325438"/>
            <a:r>
              <a:rPr lang="en-US" dirty="0"/>
              <a:t>no acute or progressing target-organ injury</a:t>
            </a:r>
          </a:p>
          <a:p>
            <a:pPr marL="782638" lvl="1" indent="-325438"/>
            <a:endParaRPr dirty="0"/>
          </a:p>
          <a:p>
            <a:pPr marL="342900" indent="-342900"/>
            <a:r>
              <a:rPr lang="en-US" b="1" dirty="0"/>
              <a:t>Hypertensive emergency (AKA Hypertensive Crisis): </a:t>
            </a:r>
            <a:r>
              <a:rPr lang="en-US" dirty="0"/>
              <a:t>systolic BP ≥ 180 and/or diastolic BP ≥ 120 mmHg</a:t>
            </a:r>
            <a:endParaRPr dirty="0"/>
          </a:p>
          <a:p>
            <a:pPr marL="782638" lvl="1" indent="-325438"/>
            <a:r>
              <a:rPr lang="en-US" dirty="0"/>
              <a:t>acute or progressing target-organ damage</a:t>
            </a:r>
            <a:endParaRPr dirty="0"/>
          </a:p>
          <a:p>
            <a:pPr marL="1219200" lvl="2" indent="-304800">
              <a:buSzPts val="2800"/>
            </a:pPr>
            <a:r>
              <a:rPr lang="en-US" sz="2800" dirty="0"/>
              <a:t>CNS: CVA (stroke ischemic or hemorrhagic), encephalopathy, </a:t>
            </a:r>
          </a:p>
          <a:p>
            <a:pPr marL="1219200" lvl="2" indent="-304800">
              <a:buSzPts val="2800"/>
            </a:pPr>
            <a:r>
              <a:rPr lang="en-US" sz="2800" dirty="0"/>
              <a:t>CV: acute LV failure with pulmonary edema, MI, aortic dissection, unstable angina, eclampsia</a:t>
            </a:r>
          </a:p>
          <a:p>
            <a:pPr marL="1219200" lvl="2" indent="-304800">
              <a:buSzPts val="2800"/>
            </a:pPr>
            <a:r>
              <a:rPr lang="en-US" sz="2800" dirty="0"/>
              <a:t>Renal: AKI</a:t>
            </a:r>
            <a:endParaRPr dirty="0"/>
          </a:p>
          <a:p>
            <a:pPr marL="782638" lvl="1" indent="-122237">
              <a:buNone/>
            </a:pPr>
            <a:endParaRPr dirty="0">
              <a:latin typeface="Constantia"/>
              <a:ea typeface="Constantia"/>
              <a:cs typeface="Constantia"/>
              <a:sym typeface="Constant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98AFE-B37C-9E73-0CB0-25E402C937B2}"/>
              </a:ext>
            </a:extLst>
          </p:cNvPr>
          <p:cNvSpPr>
            <a:spLocks noGrp="1"/>
          </p:cNvSpPr>
          <p:nvPr>
            <p:ph type="title"/>
          </p:nvPr>
        </p:nvSpPr>
        <p:spPr/>
        <p:txBody>
          <a:bodyPr/>
          <a:lstStyle/>
          <a:p>
            <a:r>
              <a:rPr lang="en-US" dirty="0"/>
              <a:t>Causes of Hypertensive crisis</a:t>
            </a:r>
          </a:p>
        </p:txBody>
      </p:sp>
      <p:sp>
        <p:nvSpPr>
          <p:cNvPr id="3" name="Text Placeholder 2">
            <a:extLst>
              <a:ext uri="{FF2B5EF4-FFF2-40B4-BE49-F238E27FC236}">
                <a16:creationId xmlns:a16="http://schemas.microsoft.com/office/drawing/2014/main" id="{86D1013C-9288-5B19-185E-5AFA58222B92}"/>
              </a:ext>
            </a:extLst>
          </p:cNvPr>
          <p:cNvSpPr>
            <a:spLocks noGrp="1"/>
          </p:cNvSpPr>
          <p:nvPr>
            <p:ph type="body" idx="1"/>
          </p:nvPr>
        </p:nvSpPr>
        <p:spPr/>
        <p:txBody>
          <a:bodyPr/>
          <a:lstStyle/>
          <a:p>
            <a:r>
              <a:rPr lang="en-US" b="1" dirty="0"/>
              <a:t>Non-adherence to antihypertensive med (MC)</a:t>
            </a:r>
          </a:p>
          <a:p>
            <a:r>
              <a:rPr lang="en-US" dirty="0"/>
              <a:t>Undiagnosed Hypertension</a:t>
            </a:r>
          </a:p>
          <a:p>
            <a:r>
              <a:rPr lang="en-US" dirty="0"/>
              <a:t>Abrupt cessation of antihypertensive med- BB or clonidine</a:t>
            </a:r>
          </a:p>
          <a:p>
            <a:r>
              <a:rPr lang="en-US" dirty="0"/>
              <a:t>CKD</a:t>
            </a:r>
          </a:p>
          <a:p>
            <a:r>
              <a:rPr lang="en-US" dirty="0"/>
              <a:t>OSA</a:t>
            </a:r>
          </a:p>
          <a:p>
            <a:r>
              <a:rPr lang="en-US" dirty="0"/>
              <a:t>Drugs- Cocaine amphetamines, diet pills, phenylephrine</a:t>
            </a:r>
          </a:p>
        </p:txBody>
      </p:sp>
    </p:spTree>
    <p:extLst>
      <p:ext uri="{BB962C8B-B14F-4D97-AF65-F5344CB8AC3E}">
        <p14:creationId xmlns:p14="http://schemas.microsoft.com/office/powerpoint/2010/main" val="1300258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209"/>
          <p:cNvSpPr txBox="1">
            <a:spLocks noGrp="1"/>
          </p:cNvSpPr>
          <p:nvPr>
            <p:ph type="title"/>
          </p:nvPr>
        </p:nvSpPr>
        <p:spPr>
          <a:xfrm>
            <a:off x="612396" y="76200"/>
            <a:ext cx="10972800" cy="687198"/>
          </a:xfrm>
          <a:prstGeom prst="rect">
            <a:avLst/>
          </a:prstGeom>
          <a:noFill/>
          <a:ln>
            <a:noFill/>
          </a:ln>
        </p:spPr>
        <p:txBody>
          <a:bodyPr spcFirstLastPara="1" wrap="square" lIns="50800" tIns="50800" rIns="50800" bIns="50800" anchor="ctr" anchorCtr="0">
            <a:noAutofit/>
          </a:bodyPr>
          <a:lstStyle/>
          <a:p>
            <a:r>
              <a:rPr lang="en-US" sz="4300" dirty="0"/>
              <a:t>Pathophysiology of Hypertensive Emergencies</a:t>
            </a:r>
            <a:endParaRPr dirty="0"/>
          </a:p>
        </p:txBody>
      </p:sp>
      <p:sp>
        <p:nvSpPr>
          <p:cNvPr id="1588" name="Google Shape;1588;p209"/>
          <p:cNvSpPr txBox="1">
            <a:spLocks noGrp="1"/>
          </p:cNvSpPr>
          <p:nvPr>
            <p:ph type="body" idx="1"/>
          </p:nvPr>
        </p:nvSpPr>
        <p:spPr>
          <a:xfrm>
            <a:off x="433431" y="977265"/>
            <a:ext cx="11325138" cy="490347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dirty="0"/>
              <a:t>The cause and events of a hypertensive crisis are incompletely understood.</a:t>
            </a:r>
          </a:p>
          <a:p>
            <a:pPr marL="292100" indent="-292100">
              <a:spcBef>
                <a:spcPts val="0"/>
              </a:spcBef>
            </a:pPr>
            <a:r>
              <a:rPr lang="en-US" sz="2800" dirty="0"/>
              <a:t>Failure of normal autoregulation</a:t>
            </a:r>
          </a:p>
          <a:p>
            <a:pPr marL="749300" lvl="1" indent="-292100"/>
            <a:r>
              <a:rPr lang="en-US" sz="2800" dirty="0"/>
              <a:t>Autoregulation at the level of each organ helps to prevent wide swings in blood flow whenever MAP changes. </a:t>
            </a:r>
          </a:p>
          <a:p>
            <a:pPr marL="1206500" lvl="2" indent="-292100"/>
            <a:r>
              <a:rPr lang="en-US" sz="2800" dirty="0"/>
              <a:t>Example: When MAP</a:t>
            </a:r>
            <a:r>
              <a:rPr lang="en-US" sz="2800" b="1" dirty="0"/>
              <a:t> increases</a:t>
            </a:r>
            <a:r>
              <a:rPr lang="en-US" sz="2800" dirty="0"/>
              <a:t>, vasoconstriction occurs limiting hyper-perfusion of capillaries. When MAP </a:t>
            </a:r>
            <a:r>
              <a:rPr lang="en-US" sz="2800" b="1" dirty="0"/>
              <a:t>decreases</a:t>
            </a:r>
            <a:r>
              <a:rPr lang="en-US" sz="2800" dirty="0"/>
              <a:t>, vasodilatation allows for increased blood flow to organs. However, </a:t>
            </a:r>
            <a:r>
              <a:rPr lang="en-US" sz="2800" b="1" dirty="0"/>
              <a:t>organs have their limits and autoregulation can fail during hypertensive emergencies. </a:t>
            </a:r>
          </a:p>
          <a:p>
            <a:pPr marL="292100" indent="-292100"/>
            <a:endParaRPr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5"/>
        <p:cNvGrpSpPr/>
        <p:nvPr/>
      </p:nvGrpSpPr>
      <p:grpSpPr>
        <a:xfrm>
          <a:off x="0" y="0"/>
          <a:ext cx="0" cy="0"/>
          <a:chOff x="0" y="0"/>
          <a:chExt cx="0" cy="0"/>
        </a:xfrm>
      </p:grpSpPr>
      <p:sp>
        <p:nvSpPr>
          <p:cNvPr id="1646" name="Google Shape;1646;p218"/>
          <p:cNvSpPr txBox="1">
            <a:spLocks noGrp="1"/>
          </p:cNvSpPr>
          <p:nvPr>
            <p:ph type="title"/>
          </p:nvPr>
        </p:nvSpPr>
        <p:spPr>
          <a:xfrm>
            <a:off x="1204408" y="160020"/>
            <a:ext cx="9801113" cy="539227"/>
          </a:xfrm>
          <a:prstGeom prst="rect">
            <a:avLst/>
          </a:prstGeom>
          <a:noFill/>
          <a:ln>
            <a:noFill/>
          </a:ln>
        </p:spPr>
        <p:txBody>
          <a:bodyPr spcFirstLastPara="1" wrap="square" lIns="50800" tIns="50800" rIns="50800" bIns="50800" anchor="ctr" anchorCtr="0">
            <a:noAutofit/>
          </a:bodyPr>
          <a:lstStyle/>
          <a:p>
            <a:r>
              <a:rPr lang="en-US" dirty="0"/>
              <a:t>Pathophysiology in Hypertensive Crisis</a:t>
            </a:r>
            <a:endParaRPr dirty="0"/>
          </a:p>
        </p:txBody>
      </p:sp>
      <p:sp>
        <p:nvSpPr>
          <p:cNvPr id="1647" name="Google Shape;1647;p218"/>
          <p:cNvSpPr txBox="1">
            <a:spLocks noGrp="1"/>
          </p:cNvSpPr>
          <p:nvPr>
            <p:ph type="body" idx="1"/>
          </p:nvPr>
        </p:nvSpPr>
        <p:spPr>
          <a:xfrm>
            <a:off x="722556" y="1062317"/>
            <a:ext cx="10746888" cy="4733365"/>
          </a:xfrm>
          <a:prstGeom prst="rect">
            <a:avLst/>
          </a:prstGeom>
          <a:noFill/>
          <a:ln>
            <a:noFill/>
          </a:ln>
        </p:spPr>
        <p:txBody>
          <a:bodyPr spcFirstLastPara="1" wrap="square" lIns="50800" tIns="50800" rIns="50800" bIns="50800" anchor="t" anchorCtr="0">
            <a:noAutofit/>
          </a:bodyPr>
          <a:lstStyle/>
          <a:p>
            <a:pPr marL="0" indent="0">
              <a:spcBef>
                <a:spcPts val="0"/>
              </a:spcBef>
              <a:buSzPts val="3100"/>
              <a:buNone/>
            </a:pPr>
            <a:r>
              <a:rPr lang="en-US" sz="2400" dirty="0"/>
              <a:t>Abrupt rise in systemic vascular resistance (SVR) possibly mediated by humoral vasoconstrictors from the wall of a </a:t>
            </a:r>
            <a:r>
              <a:rPr lang="en-US" sz="2400" b="1" dirty="0"/>
              <a:t>stressed blood vessel</a:t>
            </a:r>
            <a:endParaRPr lang="en-US" sz="2400" dirty="0"/>
          </a:p>
          <a:p>
            <a:pPr marL="0" indent="0">
              <a:spcBef>
                <a:spcPts val="0"/>
              </a:spcBef>
              <a:buSzPts val="3100"/>
              <a:buNone/>
            </a:pPr>
            <a:endParaRPr lang="en-US" sz="2400" dirty="0"/>
          </a:p>
          <a:p>
            <a:pPr marL="292100" indent="-292100">
              <a:spcBef>
                <a:spcPts val="0"/>
              </a:spcBef>
              <a:buSzPts val="3100"/>
            </a:pPr>
            <a:r>
              <a:rPr lang="en-US" sz="2400" dirty="0"/>
              <a:t>The endothelium adapts to high blood pressure by smooth muscle hypertrophy and vasoconstriction (essentially protecting the walls of the vessel from the excessive force of blood)  </a:t>
            </a:r>
          </a:p>
          <a:p>
            <a:pPr marL="342900" indent="-342900">
              <a:spcBef>
                <a:spcPts val="0"/>
              </a:spcBef>
              <a:buSzPts val="3100"/>
              <a:buFont typeface="Arial" panose="020B0604020202020204" pitchFamily="34" charset="0"/>
              <a:buChar char="•"/>
            </a:pPr>
            <a:r>
              <a:rPr lang="en-US" sz="2400" dirty="0"/>
              <a:t>Prolonged smooth muscle contraction leads to endothelial dysfunction, diminished nitric oxide production and failure of autoregulation</a:t>
            </a:r>
          </a:p>
          <a:p>
            <a:pPr marL="292100" indent="-292100">
              <a:spcBef>
                <a:spcPts val="600"/>
              </a:spcBef>
              <a:buSzPts val="3100"/>
            </a:pPr>
            <a:r>
              <a:rPr lang="en-US" sz="2400" dirty="0"/>
              <a:t>There will be focal vasodilatation and endothelial damage leading to vascular permeability</a:t>
            </a:r>
          </a:p>
          <a:p>
            <a:pPr marL="292100" indent="-292100">
              <a:spcBef>
                <a:spcPts val="600"/>
              </a:spcBef>
              <a:buSzPts val="3100"/>
            </a:pPr>
            <a:r>
              <a:rPr lang="en-US" sz="2400" dirty="0"/>
              <a:t>Fibrinoid necrosis</a:t>
            </a:r>
          </a:p>
          <a:p>
            <a:pPr marL="292100" indent="-292100">
              <a:spcBef>
                <a:spcPts val="600"/>
              </a:spcBef>
              <a:buSzPts val="3100"/>
            </a:pPr>
            <a:r>
              <a:rPr lang="en-US" sz="2400" dirty="0"/>
              <a:t>Activation of the clotting cascade</a:t>
            </a:r>
          </a:p>
          <a:p>
            <a:pPr marL="292100" indent="-292100">
              <a:spcBef>
                <a:spcPts val="600"/>
              </a:spcBef>
              <a:buSzPts val="3100"/>
            </a:pPr>
            <a:r>
              <a:rPr lang="en-US" sz="2400" dirty="0"/>
              <a:t>Inflammatory factors</a:t>
            </a:r>
          </a:p>
          <a:p>
            <a:pPr marL="292100" indent="-292100">
              <a:spcBef>
                <a:spcPts val="600"/>
              </a:spcBef>
              <a:buSzPts val="3100"/>
            </a:pPr>
            <a:r>
              <a:rPr lang="en-US" sz="2400" dirty="0"/>
              <a:t>Increasing release of vasoconstrictors (angiotensin II, norepinephrine, vasopressin)</a:t>
            </a:r>
          </a:p>
          <a:p>
            <a:pPr marL="292100" indent="-292100">
              <a:spcBef>
                <a:spcPts val="0"/>
              </a:spcBef>
              <a:buSzPts val="3100"/>
            </a:pPr>
            <a:endParaRPr lang="en-US" sz="2400" dirty="0"/>
          </a:p>
          <a:p>
            <a:pPr marL="457200" lvl="1" indent="0">
              <a:lnSpc>
                <a:spcPct val="90000"/>
              </a:lnSpc>
              <a:spcBef>
                <a:spcPts val="688"/>
              </a:spcBef>
              <a:buSzPts val="3000"/>
              <a:buNone/>
            </a:pPr>
            <a:endParaRPr sz="2400" dirty="0"/>
          </a:p>
          <a:p>
            <a:pPr marL="782638" lvl="1" indent="-325438">
              <a:spcBef>
                <a:spcPts val="688"/>
              </a:spcBef>
              <a:buSzPts val="3000"/>
            </a:pPr>
            <a:endParaRPr lang="en-US" sz="2400" b="1" i="1" dirty="0"/>
          </a:p>
          <a:p>
            <a:pPr marL="457200" lvl="1" indent="0">
              <a:spcBef>
                <a:spcPts val="688"/>
              </a:spcBef>
              <a:buSzPts val="2000"/>
              <a:buNone/>
            </a:pPr>
            <a:endParaRPr sz="2400" b="1" i="1" dirty="0"/>
          </a:p>
          <a:p>
            <a:pPr marL="692150" lvl="1" indent="-44450">
              <a:lnSpc>
                <a:spcPct val="90000"/>
              </a:lnSpc>
              <a:spcBef>
                <a:spcPts val="688"/>
              </a:spcBef>
              <a:buSzPts val="3000"/>
              <a:buNone/>
            </a:pPr>
            <a:endParaRPr sz="3000" b="1"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0"/>
        <p:cNvGrpSpPr/>
        <p:nvPr/>
      </p:nvGrpSpPr>
      <p:grpSpPr>
        <a:xfrm>
          <a:off x="0" y="0"/>
          <a:ext cx="0" cy="0"/>
          <a:chOff x="0" y="0"/>
          <a:chExt cx="0" cy="0"/>
        </a:xfrm>
      </p:grpSpPr>
      <p:sp>
        <p:nvSpPr>
          <p:cNvPr id="1611" name="Google Shape;1611;p213"/>
          <p:cNvSpPr txBox="1">
            <a:spLocks noGrp="1"/>
          </p:cNvSpPr>
          <p:nvPr>
            <p:ph type="title"/>
          </p:nvPr>
        </p:nvSpPr>
        <p:spPr>
          <a:xfrm>
            <a:off x="1600200" y="76200"/>
            <a:ext cx="8915400" cy="838200"/>
          </a:xfrm>
          <a:prstGeom prst="rect">
            <a:avLst/>
          </a:prstGeom>
          <a:noFill/>
          <a:ln>
            <a:noFill/>
          </a:ln>
        </p:spPr>
        <p:txBody>
          <a:bodyPr spcFirstLastPara="1" wrap="square" lIns="50800" tIns="50800" rIns="50800" bIns="50800" anchor="ctr" anchorCtr="0">
            <a:noAutofit/>
          </a:bodyPr>
          <a:lstStyle/>
          <a:p>
            <a:r>
              <a:rPr lang="en-US"/>
              <a:t>HTN Emergency</a:t>
            </a:r>
            <a:endParaRPr/>
          </a:p>
        </p:txBody>
      </p:sp>
      <p:sp>
        <p:nvSpPr>
          <p:cNvPr id="1612" name="Google Shape;1612;p213"/>
          <p:cNvSpPr txBox="1">
            <a:spLocks noGrp="1"/>
          </p:cNvSpPr>
          <p:nvPr>
            <p:ph type="body" idx="1"/>
          </p:nvPr>
        </p:nvSpPr>
        <p:spPr>
          <a:xfrm>
            <a:off x="569167" y="914400"/>
            <a:ext cx="11056775" cy="58674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End organ damage during hypertensive emergencies falls under three broad categories which are commonly affected:</a:t>
            </a:r>
            <a:endParaRPr dirty="0"/>
          </a:p>
          <a:p>
            <a:pPr marL="1428750" lvl="2" indent="-514350">
              <a:buFont typeface="Calibri"/>
              <a:buAutoNum type="arabicPeriod"/>
            </a:pPr>
            <a:r>
              <a:rPr lang="en-US" dirty="0"/>
              <a:t>Central nervous system</a:t>
            </a:r>
            <a:endParaRPr dirty="0"/>
          </a:p>
          <a:p>
            <a:pPr marL="1428750" lvl="2" indent="-514350">
              <a:buFont typeface="Calibri"/>
              <a:buAutoNum type="arabicPeriod"/>
            </a:pPr>
            <a:r>
              <a:rPr lang="en-US" dirty="0"/>
              <a:t>Cardiopulmonary manifestations</a:t>
            </a:r>
            <a:endParaRPr dirty="0"/>
          </a:p>
          <a:p>
            <a:pPr marL="1428750" lvl="2" indent="-514350">
              <a:buFont typeface="Calibri"/>
              <a:buAutoNum type="arabicPeriod"/>
            </a:pPr>
            <a:r>
              <a:rPr lang="en-US" dirty="0"/>
              <a:t>Renal failure</a:t>
            </a:r>
            <a:endParaRPr dirty="0"/>
          </a:p>
          <a:p>
            <a:pPr marL="1219200" lvl="2" indent="-177800">
              <a:buSzPts val="2000"/>
              <a:buNone/>
            </a:pPr>
            <a:endParaRPr sz="2000" dirty="0"/>
          </a:p>
          <a:p>
            <a:pPr marL="342900" indent="-342900"/>
            <a:r>
              <a:rPr lang="en-US" dirty="0"/>
              <a:t>Other hypertensive end organ damage from emergencies can affect the eyes, the vasculature, or in the cases of pregnancy, the mom and baby.</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6"/>
        <p:cNvGrpSpPr/>
        <p:nvPr/>
      </p:nvGrpSpPr>
      <p:grpSpPr>
        <a:xfrm>
          <a:off x="0" y="0"/>
          <a:ext cx="0" cy="0"/>
          <a:chOff x="0" y="0"/>
          <a:chExt cx="0" cy="0"/>
        </a:xfrm>
      </p:grpSpPr>
      <p:sp>
        <p:nvSpPr>
          <p:cNvPr id="1617" name="Google Shape;1617;p214"/>
          <p:cNvSpPr txBox="1">
            <a:spLocks noGrp="1"/>
          </p:cNvSpPr>
          <p:nvPr>
            <p:ph type="title"/>
          </p:nvPr>
        </p:nvSpPr>
        <p:spPr>
          <a:xfrm>
            <a:off x="1752600" y="76200"/>
            <a:ext cx="8763000" cy="1066800"/>
          </a:xfrm>
          <a:prstGeom prst="rect">
            <a:avLst/>
          </a:prstGeom>
          <a:noFill/>
          <a:ln>
            <a:noFill/>
          </a:ln>
        </p:spPr>
        <p:txBody>
          <a:bodyPr spcFirstLastPara="1" wrap="square" lIns="50800" tIns="50800" rIns="50800" bIns="50800" anchor="ctr" anchorCtr="0">
            <a:noAutofit/>
          </a:bodyPr>
          <a:lstStyle/>
          <a:p>
            <a:r>
              <a:rPr lang="en-US" sz="3800" dirty="0"/>
              <a:t>Neuro Damage in Hypertensive Emergency</a:t>
            </a:r>
            <a:endParaRPr sz="3800" dirty="0"/>
          </a:p>
        </p:txBody>
      </p:sp>
      <p:sp>
        <p:nvSpPr>
          <p:cNvPr id="1618" name="Google Shape;1618;p214"/>
          <p:cNvSpPr txBox="1">
            <a:spLocks noGrp="1"/>
          </p:cNvSpPr>
          <p:nvPr>
            <p:ph type="body" idx="1"/>
          </p:nvPr>
        </p:nvSpPr>
        <p:spPr>
          <a:xfrm>
            <a:off x="597159" y="1251284"/>
            <a:ext cx="11168743" cy="5530516"/>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Acute end-organ damage in the setting of HTN emergency may include neurologic damage.</a:t>
            </a:r>
            <a:endParaRPr dirty="0"/>
          </a:p>
          <a:p>
            <a:pPr marL="692150" lvl="1" indent="-234950">
              <a:spcBef>
                <a:spcPts val="688"/>
              </a:spcBef>
            </a:pPr>
            <a:endParaRPr lang="en-US" sz="2000" b="1" i="1" dirty="0"/>
          </a:p>
          <a:p>
            <a:pPr indent="-457200">
              <a:spcBef>
                <a:spcPts val="688"/>
              </a:spcBef>
              <a:buFont typeface="Arial" panose="020B0604020202020204" pitchFamily="34" charset="0"/>
              <a:buChar char="•"/>
            </a:pPr>
            <a:r>
              <a:rPr lang="en-US" dirty="0"/>
              <a:t>Patients may develop </a:t>
            </a:r>
            <a:r>
              <a:rPr lang="en-US" b="1" i="1" dirty="0"/>
              <a:t>hypertensive encephalopathy </a:t>
            </a:r>
            <a:r>
              <a:rPr lang="en-US" dirty="0"/>
              <a:t>which is characterized by </a:t>
            </a:r>
            <a:r>
              <a:rPr lang="en-US" b="1" i="1" dirty="0"/>
              <a:t>altered mentation/ confusion</a:t>
            </a:r>
            <a:r>
              <a:rPr lang="en-US" dirty="0"/>
              <a:t> due to generalized </a:t>
            </a:r>
            <a:r>
              <a:rPr lang="en-US" b="1" i="1" dirty="0"/>
              <a:t>edema of the brain from high hydrostatic pressures and cerebral congestion.</a:t>
            </a:r>
          </a:p>
          <a:p>
            <a:pPr indent="-457200">
              <a:spcBef>
                <a:spcPts val="688"/>
              </a:spcBef>
              <a:buFont typeface="Arial" panose="020B0604020202020204" pitchFamily="34" charset="0"/>
              <a:buChar char="•"/>
            </a:pPr>
            <a:endParaRPr lang="en-US" sz="2000" b="1" i="1" dirty="0"/>
          </a:p>
          <a:p>
            <a:pPr indent="-457200">
              <a:spcBef>
                <a:spcPts val="688"/>
              </a:spcBef>
              <a:buFont typeface="Arial" panose="020B0604020202020204" pitchFamily="34" charset="0"/>
              <a:buChar char="•"/>
            </a:pPr>
            <a:endParaRPr lang="en-US" sz="2000" dirty="0"/>
          </a:p>
          <a:p>
            <a:pPr marL="457200" lvl="1" indent="0">
              <a:lnSpc>
                <a:spcPct val="90000"/>
              </a:lnSpc>
              <a:spcBef>
                <a:spcPts val="688"/>
              </a:spcBef>
              <a:buSzPts val="1500"/>
              <a:buNone/>
            </a:pPr>
            <a:endParaRPr sz="1500" b="1"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6"/>
        <p:cNvGrpSpPr/>
        <p:nvPr/>
      </p:nvGrpSpPr>
      <p:grpSpPr>
        <a:xfrm>
          <a:off x="0" y="0"/>
          <a:ext cx="0" cy="0"/>
          <a:chOff x="0" y="0"/>
          <a:chExt cx="0" cy="0"/>
        </a:xfrm>
      </p:grpSpPr>
      <p:sp>
        <p:nvSpPr>
          <p:cNvPr id="1617" name="Google Shape;1617;p214"/>
          <p:cNvSpPr txBox="1">
            <a:spLocks noGrp="1"/>
          </p:cNvSpPr>
          <p:nvPr>
            <p:ph type="title"/>
          </p:nvPr>
        </p:nvSpPr>
        <p:spPr>
          <a:xfrm>
            <a:off x="1752600" y="76200"/>
            <a:ext cx="8763000" cy="1066800"/>
          </a:xfrm>
          <a:prstGeom prst="rect">
            <a:avLst/>
          </a:prstGeom>
          <a:noFill/>
          <a:ln>
            <a:noFill/>
          </a:ln>
        </p:spPr>
        <p:txBody>
          <a:bodyPr spcFirstLastPara="1" wrap="square" lIns="50800" tIns="50800" rIns="50800" bIns="50800" anchor="ctr" anchorCtr="0">
            <a:noAutofit/>
          </a:bodyPr>
          <a:lstStyle/>
          <a:p>
            <a:r>
              <a:rPr lang="en-US" sz="3800" dirty="0"/>
              <a:t>Neuro Damage in Hypertensive Emergency</a:t>
            </a:r>
            <a:endParaRPr sz="3800" dirty="0"/>
          </a:p>
        </p:txBody>
      </p:sp>
      <p:sp>
        <p:nvSpPr>
          <p:cNvPr id="1618" name="Google Shape;1618;p214"/>
          <p:cNvSpPr txBox="1">
            <a:spLocks noGrp="1"/>
          </p:cNvSpPr>
          <p:nvPr>
            <p:ph type="body" idx="1"/>
          </p:nvPr>
        </p:nvSpPr>
        <p:spPr>
          <a:xfrm>
            <a:off x="688258" y="1143000"/>
            <a:ext cx="11031794" cy="5638800"/>
          </a:xfrm>
          <a:prstGeom prst="rect">
            <a:avLst/>
          </a:prstGeom>
          <a:noFill/>
          <a:ln>
            <a:noFill/>
          </a:ln>
        </p:spPr>
        <p:txBody>
          <a:bodyPr spcFirstLastPara="1" wrap="square" lIns="50800" tIns="50800" rIns="50800" bIns="50800" anchor="t" anchorCtr="0">
            <a:noAutofit/>
          </a:bodyPr>
          <a:lstStyle/>
          <a:p>
            <a:pPr indent="-457200">
              <a:spcBef>
                <a:spcPts val="688"/>
              </a:spcBef>
              <a:buFont typeface="Arial" panose="020B0604020202020204" pitchFamily="34" charset="0"/>
              <a:buChar char="•"/>
            </a:pPr>
            <a:r>
              <a:rPr lang="en-US" dirty="0"/>
              <a:t>A second neurologic syndrome caused by hypertensive emergency is </a:t>
            </a:r>
            <a:r>
              <a:rPr lang="en-US" b="1" i="1" dirty="0"/>
              <a:t>posterior reversible encephalopathy syndrome </a:t>
            </a:r>
            <a:r>
              <a:rPr lang="en-US" dirty="0"/>
              <a:t>(PRES).</a:t>
            </a:r>
          </a:p>
          <a:p>
            <a:pPr indent="-457200">
              <a:spcBef>
                <a:spcPts val="688"/>
              </a:spcBef>
              <a:buFont typeface="Arial" panose="020B0604020202020204" pitchFamily="34" charset="0"/>
              <a:buChar char="•"/>
            </a:pPr>
            <a:endParaRPr lang="en-US" sz="2000" dirty="0"/>
          </a:p>
          <a:p>
            <a:pPr indent="-457200">
              <a:spcBef>
                <a:spcPts val="688"/>
              </a:spcBef>
              <a:buFont typeface="Arial" panose="020B0604020202020204" pitchFamily="34" charset="0"/>
              <a:buChar char="•"/>
            </a:pPr>
            <a:r>
              <a:rPr lang="en-US" dirty="0"/>
              <a:t>PRES symptoms include </a:t>
            </a:r>
            <a:r>
              <a:rPr lang="en-US" b="1" i="1" dirty="0">
                <a:solidFill>
                  <a:srgbClr val="202124"/>
                </a:solidFill>
                <a:effectLst/>
                <a:latin typeface="Calibri" panose="020F0502020204030204" pitchFamily="34" charset="0"/>
                <a:cs typeface="Calibri" panose="020F0502020204030204" pitchFamily="34" charset="0"/>
              </a:rPr>
              <a:t>vision changes, seizures, </a:t>
            </a:r>
            <a:r>
              <a:rPr lang="en-US" b="1" i="1" dirty="0"/>
              <a:t>severe HA </a:t>
            </a:r>
            <a:r>
              <a:rPr lang="en-US" b="1" i="1" dirty="0">
                <a:solidFill>
                  <a:srgbClr val="202124"/>
                </a:solidFill>
                <a:effectLst/>
                <a:latin typeface="Calibri" panose="020F0502020204030204" pitchFamily="34" charset="0"/>
                <a:cs typeface="Calibri" panose="020F0502020204030204" pitchFamily="34" charset="0"/>
              </a:rPr>
              <a:t>and edema of the brain.  AMS may occur.</a:t>
            </a:r>
          </a:p>
          <a:p>
            <a:pPr indent="-457200">
              <a:spcBef>
                <a:spcPts val="688"/>
              </a:spcBef>
              <a:buFont typeface="Arial" panose="020B0604020202020204" pitchFamily="34" charset="0"/>
              <a:buChar char="•"/>
            </a:pPr>
            <a:endParaRPr lang="en-US" sz="2000" dirty="0">
              <a:solidFill>
                <a:srgbClr val="202124"/>
              </a:solidFill>
              <a:latin typeface="Roboto" panose="02000000000000000000" pitchFamily="2" charset="0"/>
            </a:endParaRPr>
          </a:p>
          <a:p>
            <a:pPr indent="-457200">
              <a:spcBef>
                <a:spcPts val="688"/>
              </a:spcBef>
              <a:buFont typeface="Arial" panose="020B0604020202020204" pitchFamily="34" charset="0"/>
              <a:buChar char="•"/>
            </a:pPr>
            <a:r>
              <a:rPr lang="en-US" dirty="0"/>
              <a:t>This </a:t>
            </a:r>
            <a:r>
              <a:rPr lang="en-US" b="1" i="1" dirty="0"/>
              <a:t>edema most commonly affects the B/L occipital and parietal lobes </a:t>
            </a:r>
            <a:r>
              <a:rPr lang="en-US" dirty="0"/>
              <a:t>and is seen best on MRI. </a:t>
            </a:r>
            <a:endParaRPr sz="1500" b="1" i="1" dirty="0"/>
          </a:p>
        </p:txBody>
      </p:sp>
    </p:spTree>
    <p:extLst>
      <p:ext uri="{BB962C8B-B14F-4D97-AF65-F5344CB8AC3E}">
        <p14:creationId xmlns:p14="http://schemas.microsoft.com/office/powerpoint/2010/main" val="1281401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6">
          <a:extLst>
            <a:ext uri="{FF2B5EF4-FFF2-40B4-BE49-F238E27FC236}">
              <a16:creationId xmlns:a16="http://schemas.microsoft.com/office/drawing/2014/main" id="{84B687E1-2934-B913-B829-181C6980B645}"/>
            </a:ext>
          </a:extLst>
        </p:cNvPr>
        <p:cNvGrpSpPr/>
        <p:nvPr/>
      </p:nvGrpSpPr>
      <p:grpSpPr>
        <a:xfrm>
          <a:off x="0" y="0"/>
          <a:ext cx="0" cy="0"/>
          <a:chOff x="0" y="0"/>
          <a:chExt cx="0" cy="0"/>
        </a:xfrm>
      </p:grpSpPr>
      <p:sp>
        <p:nvSpPr>
          <p:cNvPr id="1617" name="Google Shape;1617;p214">
            <a:extLst>
              <a:ext uri="{FF2B5EF4-FFF2-40B4-BE49-F238E27FC236}">
                <a16:creationId xmlns:a16="http://schemas.microsoft.com/office/drawing/2014/main" id="{2946BCD5-A3F6-E9BC-523F-1BF7E8F44840}"/>
              </a:ext>
            </a:extLst>
          </p:cNvPr>
          <p:cNvSpPr txBox="1">
            <a:spLocks noGrp="1"/>
          </p:cNvSpPr>
          <p:nvPr>
            <p:ph type="title"/>
          </p:nvPr>
        </p:nvSpPr>
        <p:spPr>
          <a:xfrm>
            <a:off x="1752600" y="76200"/>
            <a:ext cx="8763000" cy="1066800"/>
          </a:xfrm>
          <a:prstGeom prst="rect">
            <a:avLst/>
          </a:prstGeom>
          <a:noFill/>
          <a:ln>
            <a:noFill/>
          </a:ln>
        </p:spPr>
        <p:txBody>
          <a:bodyPr spcFirstLastPara="1" wrap="square" lIns="50800" tIns="50800" rIns="50800" bIns="50800" anchor="ctr" anchorCtr="0">
            <a:noAutofit/>
          </a:bodyPr>
          <a:lstStyle/>
          <a:p>
            <a:r>
              <a:rPr lang="en-US" sz="3600" dirty="0"/>
              <a:t>Neuro Damage in Hypertensive Emergency</a:t>
            </a:r>
            <a:endParaRPr sz="3600" dirty="0"/>
          </a:p>
        </p:txBody>
      </p:sp>
      <p:pic>
        <p:nvPicPr>
          <p:cNvPr id="2050" name="Picture 2" descr="Typical neuroradiologic presentations in posterior reversible encephalopathy syndrome. In patient 1, lesions with hyperintense signal on fluid-attenuated inversion recovery MRI locating prominently in both subcortical white matter and cortical gray matter of bilateral parieto-occipital regions. ">
            <a:extLst>
              <a:ext uri="{FF2B5EF4-FFF2-40B4-BE49-F238E27FC236}">
                <a16:creationId xmlns:a16="http://schemas.microsoft.com/office/drawing/2014/main" id="{F82EA3FC-45A1-182A-4F3D-6DE938994C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040" y="943611"/>
            <a:ext cx="4251960" cy="442203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12E734C-8A90-93DE-CCDC-59A85EF51081}"/>
              </a:ext>
            </a:extLst>
          </p:cNvPr>
          <p:cNvSpPr txBox="1"/>
          <p:nvPr/>
        </p:nvSpPr>
        <p:spPr>
          <a:xfrm>
            <a:off x="1623060" y="5612250"/>
            <a:ext cx="4511040" cy="1169551"/>
          </a:xfrm>
          <a:prstGeom prst="rect">
            <a:avLst/>
          </a:prstGeom>
          <a:noFill/>
        </p:spPr>
        <p:txBody>
          <a:bodyPr wrap="square" rtlCol="0">
            <a:spAutoFit/>
          </a:bodyPr>
          <a:lstStyle/>
          <a:p>
            <a:r>
              <a:rPr lang="en-US" dirty="0">
                <a:solidFill>
                  <a:srgbClr val="111111"/>
                </a:solidFill>
                <a:latin typeface="Roboto" panose="02000000000000000000" pitchFamily="2" charset="0"/>
              </a:rPr>
              <a:t>Typical neuroradiologic presentations in posterior reversible encephalopathy syndrome. Lesions with hyperintense signal on MRI locating prominently in both subcortical white matter and cortical gray matter of bilateral parieto-occipital regions.</a:t>
            </a:r>
          </a:p>
        </p:txBody>
      </p:sp>
      <p:sp>
        <p:nvSpPr>
          <p:cNvPr id="3" name="TextBox 2">
            <a:extLst>
              <a:ext uri="{FF2B5EF4-FFF2-40B4-BE49-F238E27FC236}">
                <a16:creationId xmlns:a16="http://schemas.microsoft.com/office/drawing/2014/main" id="{6CE5CA6A-4B40-EF3F-3B37-59BADD53EC1C}"/>
              </a:ext>
            </a:extLst>
          </p:cNvPr>
          <p:cNvSpPr txBox="1"/>
          <p:nvPr/>
        </p:nvSpPr>
        <p:spPr>
          <a:xfrm>
            <a:off x="6263641" y="1337310"/>
            <a:ext cx="4251959" cy="3754874"/>
          </a:xfrm>
          <a:prstGeom prst="rect">
            <a:avLst/>
          </a:prstGeom>
          <a:noFill/>
        </p:spPr>
        <p:txBody>
          <a:bodyPr wrap="square" rtlCol="0">
            <a:spAutoFit/>
          </a:bodyPr>
          <a:lstStyle/>
          <a:p>
            <a:r>
              <a:rPr lang="en-US" sz="3200" dirty="0">
                <a:latin typeface="Calibri" panose="020F0502020204030204" pitchFamily="34" charset="0"/>
                <a:cs typeface="Calibri" panose="020F0502020204030204" pitchFamily="34" charset="0"/>
              </a:rPr>
              <a:t>Both PRES and hypertensive encephalopathy are generally responsive to gradual BP lowering therapy, will </a:t>
            </a:r>
            <a:r>
              <a:rPr lang="en-US" sz="3200" b="1" i="1" dirty="0">
                <a:latin typeface="Calibri" panose="020F0502020204030204" pitchFamily="34" charset="0"/>
                <a:cs typeface="Calibri" panose="020F0502020204030204" pitchFamily="34" charset="0"/>
              </a:rPr>
              <a:t>slowly improve over 2-4 days</a:t>
            </a:r>
            <a:r>
              <a:rPr lang="en-US" sz="3200" dirty="0">
                <a:latin typeface="Calibri" panose="020F0502020204030204" pitchFamily="34" charset="0"/>
                <a:cs typeface="Calibri" panose="020F0502020204030204" pitchFamily="34" charset="0"/>
              </a:rPr>
              <a:t>.</a:t>
            </a:r>
          </a:p>
          <a:p>
            <a:endParaRPr lang="en-US" dirty="0"/>
          </a:p>
        </p:txBody>
      </p:sp>
    </p:spTree>
    <p:extLst>
      <p:ext uri="{BB962C8B-B14F-4D97-AF65-F5344CB8AC3E}">
        <p14:creationId xmlns:p14="http://schemas.microsoft.com/office/powerpoint/2010/main" val="3227644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2"/>
        <p:cNvGrpSpPr/>
        <p:nvPr/>
      </p:nvGrpSpPr>
      <p:grpSpPr>
        <a:xfrm>
          <a:off x="0" y="0"/>
          <a:ext cx="0" cy="0"/>
          <a:chOff x="0" y="0"/>
          <a:chExt cx="0" cy="0"/>
        </a:xfrm>
      </p:grpSpPr>
      <p:sp>
        <p:nvSpPr>
          <p:cNvPr id="1623" name="Google Shape;1623;p215"/>
          <p:cNvSpPr txBox="1">
            <a:spLocks noGrp="1"/>
          </p:cNvSpPr>
          <p:nvPr>
            <p:ph type="title"/>
          </p:nvPr>
        </p:nvSpPr>
        <p:spPr>
          <a:xfrm>
            <a:off x="1752600" y="76200"/>
            <a:ext cx="8763000" cy="1672590"/>
          </a:xfrm>
          <a:prstGeom prst="rect">
            <a:avLst/>
          </a:prstGeom>
          <a:noFill/>
          <a:ln>
            <a:noFill/>
          </a:ln>
        </p:spPr>
        <p:txBody>
          <a:bodyPr spcFirstLastPara="1" wrap="square" lIns="50800" tIns="50800" rIns="50800" bIns="50800" anchor="ctr" anchorCtr="0">
            <a:noAutofit/>
          </a:bodyPr>
          <a:lstStyle/>
          <a:p>
            <a:r>
              <a:rPr lang="en-US" dirty="0"/>
              <a:t>Neurologic Damage in Hypertensive Emergency</a:t>
            </a:r>
            <a:endParaRPr dirty="0"/>
          </a:p>
        </p:txBody>
      </p:sp>
      <p:sp>
        <p:nvSpPr>
          <p:cNvPr id="1624" name="Google Shape;1624;p215"/>
          <p:cNvSpPr txBox="1">
            <a:spLocks noGrp="1"/>
          </p:cNvSpPr>
          <p:nvPr>
            <p:ph type="body" idx="1"/>
          </p:nvPr>
        </p:nvSpPr>
        <p:spPr>
          <a:xfrm>
            <a:off x="1647092" y="1874520"/>
            <a:ext cx="8868508" cy="2571750"/>
          </a:xfrm>
          <a:prstGeom prst="rect">
            <a:avLst/>
          </a:prstGeom>
          <a:noFill/>
          <a:ln>
            <a:noFill/>
          </a:ln>
        </p:spPr>
        <p:txBody>
          <a:bodyPr spcFirstLastPara="1" wrap="square" lIns="50800" tIns="50800" rIns="50800" bIns="50800" anchor="t" anchorCtr="0">
            <a:noAutofit/>
          </a:bodyPr>
          <a:lstStyle/>
          <a:p>
            <a:pPr marL="474662" indent="-457200">
              <a:spcBef>
                <a:spcPts val="0"/>
              </a:spcBef>
            </a:pPr>
            <a:r>
              <a:rPr lang="en-US" dirty="0"/>
              <a:t>An</a:t>
            </a:r>
            <a:r>
              <a:rPr lang="en-US" b="1" i="1" dirty="0"/>
              <a:t> ischemic cerebrovascular accident (stroke): </a:t>
            </a:r>
            <a:r>
              <a:rPr lang="en-US" dirty="0"/>
              <a:t>may occur anywhere and will be due to </a:t>
            </a:r>
            <a:r>
              <a:rPr lang="en-US" b="1" i="1" dirty="0"/>
              <a:t>embolus </a:t>
            </a:r>
            <a:r>
              <a:rPr lang="en-US" dirty="0"/>
              <a:t>that travels</a:t>
            </a:r>
            <a:endParaRPr dirty="0"/>
          </a:p>
        </p:txBody>
      </p:sp>
      <p:pic>
        <p:nvPicPr>
          <p:cNvPr id="3074" name="Picture 2" descr="Atherosclerosis | Description, Pathophysiology, Risk Factors, &amp; Treatment |  Britannica">
            <a:extLst>
              <a:ext uri="{FF2B5EF4-FFF2-40B4-BE49-F238E27FC236}">
                <a16:creationId xmlns:a16="http://schemas.microsoft.com/office/drawing/2014/main" id="{EDBC00FB-4E62-7D10-A90D-13FA338B5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454" y="2994661"/>
            <a:ext cx="5496147" cy="377478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CECB16C-F229-F766-0C9B-189AE07F9C00}"/>
              </a:ext>
            </a:extLst>
          </p:cNvPr>
          <p:cNvSpPr txBox="1"/>
          <p:nvPr/>
        </p:nvSpPr>
        <p:spPr>
          <a:xfrm>
            <a:off x="2106930" y="3372991"/>
            <a:ext cx="2983230" cy="3046988"/>
          </a:xfrm>
          <a:prstGeom prst="rect">
            <a:avLst/>
          </a:prstGeom>
          <a:noFill/>
        </p:spPr>
        <p:txBody>
          <a:bodyPr wrap="square" rtlCol="0">
            <a:spAutoFit/>
          </a:bodyPr>
          <a:lstStyle/>
          <a:p>
            <a:r>
              <a:rPr lang="en-US" sz="3200" dirty="0">
                <a:latin typeface="Calibri" panose="020F0502020204030204" pitchFamily="34" charset="0"/>
                <a:cs typeface="Calibri" panose="020F0502020204030204" pitchFamily="34" charset="0"/>
              </a:rPr>
              <a:t>to the brain or </a:t>
            </a:r>
            <a:r>
              <a:rPr lang="en-US" sz="3200" b="1" i="1" dirty="0">
                <a:latin typeface="Calibri" panose="020F0502020204030204" pitchFamily="34" charset="0"/>
                <a:cs typeface="Calibri" panose="020F0502020204030204" pitchFamily="34" charset="0"/>
              </a:rPr>
              <a:t>rupture of an arteriosclerotic plaque </a:t>
            </a:r>
            <a:r>
              <a:rPr lang="en-US" sz="3200" dirty="0">
                <a:latin typeface="Calibri" panose="020F0502020204030204" pitchFamily="34" charset="0"/>
                <a:cs typeface="Calibri" panose="020F0502020204030204" pitchFamily="34" charset="0"/>
              </a:rPr>
              <a:t>that</a:t>
            </a:r>
            <a:r>
              <a:rPr lang="en-US" sz="3200" b="1" i="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causes in situ thrombosis.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2">
          <a:extLst>
            <a:ext uri="{FF2B5EF4-FFF2-40B4-BE49-F238E27FC236}">
              <a16:creationId xmlns:a16="http://schemas.microsoft.com/office/drawing/2014/main" id="{DF5D91CD-7C80-152E-E906-E7ED8543D07E}"/>
            </a:ext>
          </a:extLst>
        </p:cNvPr>
        <p:cNvGrpSpPr/>
        <p:nvPr/>
      </p:nvGrpSpPr>
      <p:grpSpPr>
        <a:xfrm>
          <a:off x="0" y="0"/>
          <a:ext cx="0" cy="0"/>
          <a:chOff x="0" y="0"/>
          <a:chExt cx="0" cy="0"/>
        </a:xfrm>
      </p:grpSpPr>
      <p:sp>
        <p:nvSpPr>
          <p:cNvPr id="1623" name="Google Shape;1623;p215">
            <a:extLst>
              <a:ext uri="{FF2B5EF4-FFF2-40B4-BE49-F238E27FC236}">
                <a16:creationId xmlns:a16="http://schemas.microsoft.com/office/drawing/2014/main" id="{52749929-4F8A-52AB-C133-4CCD4EB33CA6}"/>
              </a:ext>
            </a:extLst>
          </p:cNvPr>
          <p:cNvSpPr txBox="1">
            <a:spLocks noGrp="1"/>
          </p:cNvSpPr>
          <p:nvPr>
            <p:ph type="title"/>
          </p:nvPr>
        </p:nvSpPr>
        <p:spPr>
          <a:xfrm>
            <a:off x="1752600" y="76200"/>
            <a:ext cx="8763000" cy="1066800"/>
          </a:xfrm>
          <a:prstGeom prst="rect">
            <a:avLst/>
          </a:prstGeom>
          <a:noFill/>
          <a:ln>
            <a:noFill/>
          </a:ln>
        </p:spPr>
        <p:txBody>
          <a:bodyPr spcFirstLastPara="1" wrap="square" lIns="50800" tIns="50800" rIns="50800" bIns="50800" anchor="ctr" anchorCtr="0">
            <a:noAutofit/>
          </a:bodyPr>
          <a:lstStyle/>
          <a:p>
            <a:r>
              <a:rPr lang="en-US" sz="3500"/>
              <a:t>Neuro Damage in Hypertensive Emergency</a:t>
            </a:r>
            <a:endParaRPr/>
          </a:p>
        </p:txBody>
      </p:sp>
      <p:pic>
        <p:nvPicPr>
          <p:cNvPr id="1625" name="Google Shape;1625;p215">
            <a:extLst>
              <a:ext uri="{FF2B5EF4-FFF2-40B4-BE49-F238E27FC236}">
                <a16:creationId xmlns:a16="http://schemas.microsoft.com/office/drawing/2014/main" id="{72F8BC0C-9E61-241C-EDCA-EDE2FDD7DD7D}"/>
              </a:ext>
            </a:extLst>
          </p:cNvPr>
          <p:cNvPicPr preferRelativeResize="0"/>
          <p:nvPr/>
        </p:nvPicPr>
        <p:blipFill rotWithShape="1">
          <a:blip r:embed="rId3">
            <a:alphaModFix/>
          </a:blip>
          <a:srcRect/>
          <a:stretch/>
        </p:blipFill>
        <p:spPr>
          <a:xfrm>
            <a:off x="4450080" y="2110791"/>
            <a:ext cx="6065520" cy="4481060"/>
          </a:xfrm>
          <a:prstGeom prst="rect">
            <a:avLst/>
          </a:prstGeom>
          <a:noFill/>
          <a:ln>
            <a:noFill/>
          </a:ln>
        </p:spPr>
      </p:pic>
      <p:sp>
        <p:nvSpPr>
          <p:cNvPr id="1626" name="Google Shape;1626;p215">
            <a:extLst>
              <a:ext uri="{FF2B5EF4-FFF2-40B4-BE49-F238E27FC236}">
                <a16:creationId xmlns:a16="http://schemas.microsoft.com/office/drawing/2014/main" id="{B76D5076-0F35-221C-AE75-F2BC8E5DA177}"/>
              </a:ext>
            </a:extLst>
          </p:cNvPr>
          <p:cNvSpPr txBox="1"/>
          <p:nvPr/>
        </p:nvSpPr>
        <p:spPr>
          <a:xfrm>
            <a:off x="824948" y="2110792"/>
            <a:ext cx="3773722" cy="1569620"/>
          </a:xfrm>
          <a:prstGeom prst="rect">
            <a:avLst/>
          </a:prstGeom>
          <a:noFill/>
          <a:ln>
            <a:noFill/>
          </a:ln>
        </p:spPr>
        <p:txBody>
          <a:bodyPr spcFirstLastPara="1" wrap="square" lIns="91425" tIns="45700" rIns="91425" bIns="45700" anchor="t" anchorCtr="0">
            <a:spAutoFit/>
          </a:bodyPr>
          <a:lstStyle/>
          <a:p>
            <a:pPr>
              <a:buClr>
                <a:schemeClr val="dk1"/>
              </a:buClr>
              <a:buSzPts val="3200"/>
            </a:pPr>
            <a:r>
              <a:rPr lang="en-US" sz="3200" b="1" i="1" dirty="0">
                <a:solidFill>
                  <a:schemeClr val="dk1"/>
                </a:solidFill>
                <a:latin typeface="Calibri"/>
                <a:ea typeface="Calibri"/>
                <a:cs typeface="Calibri"/>
                <a:sym typeface="Calibri"/>
              </a:rPr>
              <a:t>arteries of the MCA </a:t>
            </a:r>
            <a:r>
              <a:rPr lang="en-US" sz="3200" dirty="0">
                <a:solidFill>
                  <a:schemeClr val="dk1"/>
                </a:solidFill>
                <a:latin typeface="Calibri"/>
                <a:ea typeface="Calibri"/>
                <a:cs typeface="Calibri"/>
                <a:sym typeface="Calibri"/>
              </a:rPr>
              <a:t>affecting the basal ganglia.</a:t>
            </a:r>
            <a:endParaRPr dirty="0"/>
          </a:p>
        </p:txBody>
      </p:sp>
      <p:sp>
        <p:nvSpPr>
          <p:cNvPr id="3" name="Text Placeholder 2">
            <a:extLst>
              <a:ext uri="{FF2B5EF4-FFF2-40B4-BE49-F238E27FC236}">
                <a16:creationId xmlns:a16="http://schemas.microsoft.com/office/drawing/2014/main" id="{BE8F5A20-0E80-F118-5858-CE0E5FF5B0FF}"/>
              </a:ext>
            </a:extLst>
          </p:cNvPr>
          <p:cNvSpPr>
            <a:spLocks noGrp="1"/>
          </p:cNvSpPr>
          <p:nvPr>
            <p:ph type="body" idx="1"/>
          </p:nvPr>
        </p:nvSpPr>
        <p:spPr>
          <a:xfrm>
            <a:off x="371060" y="1048580"/>
            <a:ext cx="8792309" cy="1866900"/>
          </a:xfrm>
        </p:spPr>
        <p:txBody>
          <a:bodyPr/>
          <a:lstStyle/>
          <a:p>
            <a:r>
              <a:rPr lang="en-US" dirty="0"/>
              <a:t>Chronically uncontrolled hypertension </a:t>
            </a:r>
            <a:r>
              <a:rPr lang="en-US" b="1" i="1" dirty="0"/>
              <a:t>classically causes lacunar strokes in small penetrating</a:t>
            </a:r>
            <a:endParaRPr lang="en-US" dirty="0"/>
          </a:p>
        </p:txBody>
      </p:sp>
    </p:spTree>
    <p:extLst>
      <p:ext uri="{BB962C8B-B14F-4D97-AF65-F5344CB8AC3E}">
        <p14:creationId xmlns:p14="http://schemas.microsoft.com/office/powerpoint/2010/main" val="2971887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0"/>
        <p:cNvGrpSpPr/>
        <p:nvPr/>
      </p:nvGrpSpPr>
      <p:grpSpPr>
        <a:xfrm>
          <a:off x="0" y="0"/>
          <a:ext cx="0" cy="0"/>
          <a:chOff x="0" y="0"/>
          <a:chExt cx="0" cy="0"/>
        </a:xfrm>
      </p:grpSpPr>
      <p:sp>
        <p:nvSpPr>
          <p:cNvPr id="1631" name="Google Shape;1631;p216"/>
          <p:cNvSpPr txBox="1">
            <a:spLocks noGrp="1"/>
          </p:cNvSpPr>
          <p:nvPr>
            <p:ph type="title"/>
          </p:nvPr>
        </p:nvSpPr>
        <p:spPr>
          <a:xfrm>
            <a:off x="1752600" y="76200"/>
            <a:ext cx="8763000" cy="1443990"/>
          </a:xfrm>
          <a:prstGeom prst="rect">
            <a:avLst/>
          </a:prstGeom>
          <a:noFill/>
          <a:ln>
            <a:noFill/>
          </a:ln>
        </p:spPr>
        <p:txBody>
          <a:bodyPr spcFirstLastPara="1" wrap="square" lIns="50800" tIns="50800" rIns="50800" bIns="50800" anchor="ctr" anchorCtr="0">
            <a:noAutofit/>
          </a:bodyPr>
          <a:lstStyle/>
          <a:p>
            <a:r>
              <a:rPr lang="en-US" dirty="0"/>
              <a:t>Neuro Damage in Hypertensive Emergency</a:t>
            </a:r>
            <a:endParaRPr dirty="0"/>
          </a:p>
        </p:txBody>
      </p:sp>
      <p:sp>
        <p:nvSpPr>
          <p:cNvPr id="1632" name="Google Shape;1632;p216"/>
          <p:cNvSpPr txBox="1">
            <a:spLocks noGrp="1"/>
          </p:cNvSpPr>
          <p:nvPr>
            <p:ph type="body" idx="1"/>
          </p:nvPr>
        </p:nvSpPr>
        <p:spPr>
          <a:xfrm>
            <a:off x="98610" y="1555825"/>
            <a:ext cx="5756197" cy="5124450"/>
          </a:xfrm>
          <a:prstGeom prst="rect">
            <a:avLst/>
          </a:prstGeom>
          <a:noFill/>
          <a:ln>
            <a:noFill/>
          </a:ln>
        </p:spPr>
        <p:txBody>
          <a:bodyPr spcFirstLastPara="1" wrap="square" lIns="50800" tIns="50800" rIns="50800" bIns="50800" anchor="t" anchorCtr="0">
            <a:noAutofit/>
          </a:bodyPr>
          <a:lstStyle/>
          <a:p>
            <a:pPr marL="252411" indent="-234950">
              <a:spcBef>
                <a:spcPts val="0"/>
              </a:spcBef>
            </a:pPr>
            <a:r>
              <a:rPr lang="en-US" sz="2600" dirty="0"/>
              <a:t>An</a:t>
            </a:r>
            <a:r>
              <a:rPr lang="en-US" sz="2600" b="1" i="1" dirty="0"/>
              <a:t> intraparenchymal hemorrhage, </a:t>
            </a:r>
            <a:r>
              <a:rPr lang="en-US" sz="2600" dirty="0"/>
              <a:t>a hemorrhagic stroke can occur with acutely elevated BP or as a consequence of long standing poorly controlled HTN.</a:t>
            </a:r>
          </a:p>
          <a:p>
            <a:pPr marL="252411" indent="-234950">
              <a:spcBef>
                <a:spcPts val="0"/>
              </a:spcBef>
            </a:pPr>
            <a:endParaRPr lang="en-US" sz="2600" dirty="0"/>
          </a:p>
          <a:p>
            <a:pPr marL="252411" indent="-234950">
              <a:spcBef>
                <a:spcPts val="0"/>
              </a:spcBef>
            </a:pPr>
            <a:r>
              <a:rPr lang="en-US" sz="2600" dirty="0"/>
              <a:t>How does the brain respond to chronic HTN?</a:t>
            </a:r>
          </a:p>
          <a:p>
            <a:pPr marL="252411" indent="-234950">
              <a:spcBef>
                <a:spcPts val="0"/>
              </a:spcBef>
            </a:pPr>
            <a:endParaRPr lang="en-US" sz="2600" dirty="0"/>
          </a:p>
          <a:p>
            <a:pPr marL="252411" indent="-234950">
              <a:spcBef>
                <a:spcPts val="0"/>
              </a:spcBef>
            </a:pPr>
            <a:r>
              <a:rPr lang="en-US" sz="2600" dirty="0"/>
              <a:t>Intraparenchymal hemorrhages often occur in the basal ganglia, in the small penetrating arteries off the MCA.</a:t>
            </a:r>
          </a:p>
          <a:p>
            <a:pPr marL="252411" indent="-234950">
              <a:spcBef>
                <a:spcPts val="0"/>
              </a:spcBef>
            </a:pPr>
            <a:endParaRPr sz="2800" b="1" i="1" dirty="0"/>
          </a:p>
          <a:p>
            <a:pPr marL="457200" lvl="1" indent="0">
              <a:lnSpc>
                <a:spcPct val="90000"/>
              </a:lnSpc>
              <a:spcBef>
                <a:spcPts val="688"/>
              </a:spcBef>
              <a:buSzPts val="2700"/>
              <a:buNone/>
            </a:pPr>
            <a:r>
              <a:rPr lang="en-US" sz="2800" b="1" i="1" dirty="0"/>
              <a:t> </a:t>
            </a:r>
            <a:endParaRPr sz="2800" b="1" i="1" dirty="0"/>
          </a:p>
        </p:txBody>
      </p:sp>
      <p:pic>
        <p:nvPicPr>
          <p:cNvPr id="3" name="Picture 2">
            <a:extLst>
              <a:ext uri="{FF2B5EF4-FFF2-40B4-BE49-F238E27FC236}">
                <a16:creationId xmlns:a16="http://schemas.microsoft.com/office/drawing/2014/main" id="{3D1168C6-770B-A669-5EA4-99696C0CF61F}"/>
              </a:ext>
            </a:extLst>
          </p:cNvPr>
          <p:cNvPicPr>
            <a:picLocks noChangeAspect="1"/>
          </p:cNvPicPr>
          <p:nvPr/>
        </p:nvPicPr>
        <p:blipFill>
          <a:blip r:embed="rId3"/>
          <a:stretch>
            <a:fillRect/>
          </a:stretch>
        </p:blipFill>
        <p:spPr>
          <a:xfrm>
            <a:off x="5854808" y="1753495"/>
            <a:ext cx="6337192" cy="4879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0">
          <a:extLst>
            <a:ext uri="{FF2B5EF4-FFF2-40B4-BE49-F238E27FC236}">
              <a16:creationId xmlns:a16="http://schemas.microsoft.com/office/drawing/2014/main" id="{3D938562-6A2F-4C2F-69FF-5BCC3A8C14FB}"/>
            </a:ext>
          </a:extLst>
        </p:cNvPr>
        <p:cNvGrpSpPr/>
        <p:nvPr/>
      </p:nvGrpSpPr>
      <p:grpSpPr>
        <a:xfrm>
          <a:off x="0" y="0"/>
          <a:ext cx="0" cy="0"/>
          <a:chOff x="0" y="0"/>
          <a:chExt cx="0" cy="0"/>
        </a:xfrm>
      </p:grpSpPr>
      <p:sp>
        <p:nvSpPr>
          <p:cNvPr id="1631" name="Google Shape;1631;p216">
            <a:extLst>
              <a:ext uri="{FF2B5EF4-FFF2-40B4-BE49-F238E27FC236}">
                <a16:creationId xmlns:a16="http://schemas.microsoft.com/office/drawing/2014/main" id="{8BF283DD-F81A-9D62-4656-4D6834ADEF3F}"/>
              </a:ext>
            </a:extLst>
          </p:cNvPr>
          <p:cNvSpPr txBox="1">
            <a:spLocks noGrp="1"/>
          </p:cNvSpPr>
          <p:nvPr>
            <p:ph type="title"/>
          </p:nvPr>
        </p:nvSpPr>
        <p:spPr>
          <a:xfrm>
            <a:off x="1752600" y="76200"/>
            <a:ext cx="8763000" cy="1066800"/>
          </a:xfrm>
          <a:prstGeom prst="rect">
            <a:avLst/>
          </a:prstGeom>
          <a:noFill/>
          <a:ln>
            <a:noFill/>
          </a:ln>
        </p:spPr>
        <p:txBody>
          <a:bodyPr spcFirstLastPara="1" wrap="square" lIns="50800" tIns="50800" rIns="50800" bIns="50800" anchor="ctr" anchorCtr="0">
            <a:noAutofit/>
          </a:bodyPr>
          <a:lstStyle/>
          <a:p>
            <a:r>
              <a:rPr lang="en-US" sz="3500"/>
              <a:t>Neuro Damage in Hypertensive Emergency</a:t>
            </a:r>
            <a:endParaRPr/>
          </a:p>
        </p:txBody>
      </p:sp>
      <p:sp>
        <p:nvSpPr>
          <p:cNvPr id="1632" name="Google Shape;1632;p216">
            <a:extLst>
              <a:ext uri="{FF2B5EF4-FFF2-40B4-BE49-F238E27FC236}">
                <a16:creationId xmlns:a16="http://schemas.microsoft.com/office/drawing/2014/main" id="{A5EB7EDF-A003-B57F-7AC3-349D2E9BA279}"/>
              </a:ext>
            </a:extLst>
          </p:cNvPr>
          <p:cNvSpPr txBox="1">
            <a:spLocks noGrp="1"/>
          </p:cNvSpPr>
          <p:nvPr>
            <p:ph type="body" idx="1"/>
          </p:nvPr>
        </p:nvSpPr>
        <p:spPr>
          <a:xfrm>
            <a:off x="1752600" y="1143000"/>
            <a:ext cx="8686800" cy="2033338"/>
          </a:xfrm>
          <a:prstGeom prst="rect">
            <a:avLst/>
          </a:prstGeom>
          <a:noFill/>
          <a:ln>
            <a:noFill/>
          </a:ln>
        </p:spPr>
        <p:txBody>
          <a:bodyPr spcFirstLastPara="1" wrap="square" lIns="50800" tIns="50800" rIns="50800" bIns="50800" anchor="t" anchorCtr="0">
            <a:no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Why is an intraparenchymal hemorrhage especially tricky to deal with in a patient with long-standing HTN?</a:t>
            </a:r>
          </a:p>
          <a:p>
            <a:pPr marL="457200" lvl="1" indent="0">
              <a:lnSpc>
                <a:spcPct val="90000"/>
              </a:lnSpc>
              <a:spcBef>
                <a:spcPts val="688"/>
              </a:spcBef>
              <a:buSzPts val="2700"/>
              <a:buNone/>
            </a:pPr>
            <a:r>
              <a:rPr lang="en-US" sz="2700" b="1" i="1" dirty="0"/>
              <a:t> </a:t>
            </a:r>
            <a:endParaRPr sz="3000" b="1" i="1" dirty="0"/>
          </a:p>
        </p:txBody>
      </p:sp>
      <p:pic>
        <p:nvPicPr>
          <p:cNvPr id="1633" name="Google Shape;1633;p216" descr="A picture containing fruit, animal, photo, sitting&#10;&#10;Description automatically generated">
            <a:extLst>
              <a:ext uri="{FF2B5EF4-FFF2-40B4-BE49-F238E27FC236}">
                <a16:creationId xmlns:a16="http://schemas.microsoft.com/office/drawing/2014/main" id="{6AC7A7FE-E295-1219-BCDC-CDCDB277AF06}"/>
              </a:ext>
            </a:extLst>
          </p:cNvPr>
          <p:cNvPicPr preferRelativeResize="0"/>
          <p:nvPr/>
        </p:nvPicPr>
        <p:blipFill rotWithShape="1">
          <a:blip r:embed="rId3">
            <a:alphaModFix/>
          </a:blip>
          <a:srcRect/>
          <a:stretch/>
        </p:blipFill>
        <p:spPr>
          <a:xfrm>
            <a:off x="4884420" y="2868930"/>
            <a:ext cx="5663264" cy="3846838"/>
          </a:xfrm>
          <a:prstGeom prst="rect">
            <a:avLst/>
          </a:prstGeom>
          <a:noFill/>
          <a:ln>
            <a:noFill/>
          </a:ln>
        </p:spPr>
      </p:pic>
      <p:sp>
        <p:nvSpPr>
          <p:cNvPr id="3" name="TextBox 2">
            <a:extLst>
              <a:ext uri="{FF2B5EF4-FFF2-40B4-BE49-F238E27FC236}">
                <a16:creationId xmlns:a16="http://schemas.microsoft.com/office/drawing/2014/main" id="{78AD216C-6FE4-739A-5050-6E23E1EC184D}"/>
              </a:ext>
            </a:extLst>
          </p:cNvPr>
          <p:cNvSpPr txBox="1"/>
          <p:nvPr/>
        </p:nvSpPr>
        <p:spPr>
          <a:xfrm>
            <a:off x="1958340" y="4469000"/>
            <a:ext cx="2720340" cy="2246769"/>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CT of the brain with intraparenchymal blood, which appears bright white and surrounding vasogenic edema, which appears darker grey.</a:t>
            </a:r>
          </a:p>
        </p:txBody>
      </p:sp>
    </p:spTree>
    <p:extLst>
      <p:ext uri="{BB962C8B-B14F-4D97-AF65-F5344CB8AC3E}">
        <p14:creationId xmlns:p14="http://schemas.microsoft.com/office/powerpoint/2010/main" val="4213896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7"/>
        <p:cNvGrpSpPr/>
        <p:nvPr/>
      </p:nvGrpSpPr>
      <p:grpSpPr>
        <a:xfrm>
          <a:off x="0" y="0"/>
          <a:ext cx="0" cy="0"/>
          <a:chOff x="0" y="0"/>
          <a:chExt cx="0" cy="0"/>
        </a:xfrm>
      </p:grpSpPr>
      <p:pic>
        <p:nvPicPr>
          <p:cNvPr id="1638" name="Google Shape;1638;p217" descr="A close up of a coin&#10;&#10;Description automatically generated"/>
          <p:cNvPicPr preferRelativeResize="0"/>
          <p:nvPr/>
        </p:nvPicPr>
        <p:blipFill rotWithShape="1">
          <a:blip r:embed="rId3">
            <a:alphaModFix/>
          </a:blip>
          <a:srcRect/>
          <a:stretch/>
        </p:blipFill>
        <p:spPr>
          <a:xfrm>
            <a:off x="6264956" y="3810000"/>
            <a:ext cx="2451100" cy="2891945"/>
          </a:xfrm>
          <a:prstGeom prst="rect">
            <a:avLst/>
          </a:prstGeom>
          <a:noFill/>
          <a:ln>
            <a:noFill/>
          </a:ln>
        </p:spPr>
      </p:pic>
      <p:sp>
        <p:nvSpPr>
          <p:cNvPr id="1640" name="Google Shape;1640;p217"/>
          <p:cNvSpPr txBox="1">
            <a:spLocks noGrp="1"/>
          </p:cNvSpPr>
          <p:nvPr>
            <p:ph type="body" idx="1"/>
          </p:nvPr>
        </p:nvSpPr>
        <p:spPr>
          <a:xfrm>
            <a:off x="1752600" y="1143000"/>
            <a:ext cx="4512356" cy="5558945"/>
          </a:xfrm>
          <a:prstGeom prst="rect">
            <a:avLst/>
          </a:prstGeom>
          <a:noFill/>
          <a:ln>
            <a:noFill/>
          </a:ln>
        </p:spPr>
        <p:txBody>
          <a:bodyPr spcFirstLastPara="1" wrap="square" lIns="50800" tIns="50800" rIns="50800" bIns="50800" anchor="t" anchorCtr="0">
            <a:noAutofit/>
          </a:bodyPr>
          <a:lstStyle/>
          <a:p>
            <a:pPr indent="-457200">
              <a:spcBef>
                <a:spcPts val="0"/>
              </a:spcBef>
            </a:pPr>
            <a:r>
              <a:rPr lang="en-US" b="1" i="1" dirty="0"/>
              <a:t>Subarachnoid hemorrhage</a:t>
            </a:r>
            <a:endParaRPr dirty="0"/>
          </a:p>
          <a:p>
            <a:pPr marL="896938" lvl="1" indent="-457200">
              <a:buFont typeface="Arial"/>
              <a:buChar char="•"/>
            </a:pPr>
            <a:r>
              <a:rPr lang="en-US" dirty="0"/>
              <a:t>Blood collects between the skull and the brain- applying external pressure to cerebral tissue.</a:t>
            </a:r>
            <a:endParaRPr dirty="0"/>
          </a:p>
          <a:p>
            <a:pPr marL="896938" lvl="1" indent="-457200">
              <a:buFont typeface="Arial"/>
              <a:buChar char="•"/>
            </a:pPr>
            <a:r>
              <a:rPr lang="en-US" dirty="0"/>
              <a:t>Fairly easily treated with a burr hole and evacuation. </a:t>
            </a:r>
            <a:endParaRPr dirty="0"/>
          </a:p>
          <a:p>
            <a:pPr marL="457200" lvl="1" indent="0">
              <a:lnSpc>
                <a:spcPct val="90000"/>
              </a:lnSpc>
              <a:spcBef>
                <a:spcPts val="688"/>
              </a:spcBef>
              <a:buSzPts val="3000"/>
              <a:buNone/>
            </a:pPr>
            <a:endParaRPr sz="3000" b="1" i="1" dirty="0"/>
          </a:p>
          <a:p>
            <a:pPr marL="457200" lvl="1" indent="0">
              <a:lnSpc>
                <a:spcPct val="90000"/>
              </a:lnSpc>
              <a:spcBef>
                <a:spcPts val="688"/>
              </a:spcBef>
              <a:buSzPts val="2700"/>
              <a:buNone/>
            </a:pPr>
            <a:r>
              <a:rPr lang="en-US" sz="2700" b="1" i="1" dirty="0"/>
              <a:t> </a:t>
            </a:r>
            <a:endParaRPr sz="3000" b="1" i="1" dirty="0"/>
          </a:p>
        </p:txBody>
      </p:sp>
      <p:sp>
        <p:nvSpPr>
          <p:cNvPr id="1641" name="Google Shape;1641;p217"/>
          <p:cNvSpPr txBox="1">
            <a:spLocks noGrp="1"/>
          </p:cNvSpPr>
          <p:nvPr>
            <p:ph type="title"/>
          </p:nvPr>
        </p:nvSpPr>
        <p:spPr>
          <a:xfrm>
            <a:off x="1752600" y="76200"/>
            <a:ext cx="8763000" cy="1066800"/>
          </a:xfrm>
          <a:prstGeom prst="rect">
            <a:avLst/>
          </a:prstGeom>
          <a:noFill/>
          <a:ln>
            <a:noFill/>
          </a:ln>
        </p:spPr>
        <p:txBody>
          <a:bodyPr spcFirstLastPara="1" wrap="square" lIns="50800" tIns="50800" rIns="50800" bIns="50800" anchor="ctr" anchorCtr="0">
            <a:noAutofit/>
          </a:bodyPr>
          <a:lstStyle/>
          <a:p>
            <a:r>
              <a:rPr lang="en-US" sz="3500" dirty="0"/>
              <a:t>Neuro Damage in Hypertensive Emergency</a:t>
            </a:r>
            <a:endParaRPr dirty="0"/>
          </a:p>
        </p:txBody>
      </p:sp>
      <p:sp>
        <p:nvSpPr>
          <p:cNvPr id="2" name="TextBox 1">
            <a:extLst>
              <a:ext uri="{FF2B5EF4-FFF2-40B4-BE49-F238E27FC236}">
                <a16:creationId xmlns:a16="http://schemas.microsoft.com/office/drawing/2014/main" id="{873FA00B-E745-8798-5902-32D5F1094239}"/>
              </a:ext>
            </a:extLst>
          </p:cNvPr>
          <p:cNvSpPr txBox="1"/>
          <p:nvPr/>
        </p:nvSpPr>
        <p:spPr>
          <a:xfrm>
            <a:off x="8839200" y="3791806"/>
            <a:ext cx="1676400" cy="2862322"/>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Concave hyperdense (white) blood following the curve of the skull and overlying the folds of the brain.</a:t>
            </a:r>
          </a:p>
        </p:txBody>
      </p:sp>
      <p:pic>
        <p:nvPicPr>
          <p:cNvPr id="4098" name="Picture 2" descr="Subarachnoid space - definition">
            <a:extLst>
              <a:ext uri="{FF2B5EF4-FFF2-40B4-BE49-F238E27FC236}">
                <a16:creationId xmlns:a16="http://schemas.microsoft.com/office/drawing/2014/main" id="{2FC5FCD8-6225-EC1B-4090-C4DCE34122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318" t="4870" r="6287" b="3685"/>
          <a:stretch/>
        </p:blipFill>
        <p:spPr bwMode="auto">
          <a:xfrm>
            <a:off x="6050280" y="971550"/>
            <a:ext cx="4389120" cy="26174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5">
          <a:extLst>
            <a:ext uri="{FF2B5EF4-FFF2-40B4-BE49-F238E27FC236}">
              <a16:creationId xmlns:a16="http://schemas.microsoft.com/office/drawing/2014/main" id="{A4E42FFC-922A-DC09-4291-F453C41C793E}"/>
            </a:ext>
          </a:extLst>
        </p:cNvPr>
        <p:cNvGrpSpPr/>
        <p:nvPr/>
      </p:nvGrpSpPr>
      <p:grpSpPr>
        <a:xfrm>
          <a:off x="0" y="0"/>
          <a:ext cx="0" cy="0"/>
          <a:chOff x="0" y="0"/>
          <a:chExt cx="0" cy="0"/>
        </a:xfrm>
      </p:grpSpPr>
      <p:sp>
        <p:nvSpPr>
          <p:cNvPr id="1646" name="Google Shape;1646;p218">
            <a:extLst>
              <a:ext uri="{FF2B5EF4-FFF2-40B4-BE49-F238E27FC236}">
                <a16:creationId xmlns:a16="http://schemas.microsoft.com/office/drawing/2014/main" id="{09FB9A11-DC3C-AB58-CCD8-797EEAC55ADF}"/>
              </a:ext>
            </a:extLst>
          </p:cNvPr>
          <p:cNvSpPr txBox="1">
            <a:spLocks noGrp="1"/>
          </p:cNvSpPr>
          <p:nvPr>
            <p:ph type="title"/>
          </p:nvPr>
        </p:nvSpPr>
        <p:spPr>
          <a:xfrm>
            <a:off x="1752600" y="76200"/>
            <a:ext cx="9478384" cy="1604010"/>
          </a:xfrm>
          <a:prstGeom prst="rect">
            <a:avLst/>
          </a:prstGeom>
          <a:noFill/>
          <a:ln>
            <a:noFill/>
          </a:ln>
        </p:spPr>
        <p:txBody>
          <a:bodyPr spcFirstLastPara="1" wrap="square" lIns="50800" tIns="50800" rIns="50800" bIns="50800" anchor="ctr" anchorCtr="0">
            <a:noAutofit/>
          </a:bodyPr>
          <a:lstStyle/>
          <a:p>
            <a:r>
              <a:rPr lang="en-US" dirty="0"/>
              <a:t>CV Damage in Hypertensive Emergency</a:t>
            </a:r>
            <a:endParaRPr dirty="0"/>
          </a:p>
        </p:txBody>
      </p:sp>
      <p:sp>
        <p:nvSpPr>
          <p:cNvPr id="1647" name="Google Shape;1647;p218">
            <a:extLst>
              <a:ext uri="{FF2B5EF4-FFF2-40B4-BE49-F238E27FC236}">
                <a16:creationId xmlns:a16="http://schemas.microsoft.com/office/drawing/2014/main" id="{CEC2E1E4-3126-E66B-66D4-5CD8DAD4E4A9}"/>
              </a:ext>
            </a:extLst>
          </p:cNvPr>
          <p:cNvSpPr txBox="1">
            <a:spLocks noGrp="1"/>
          </p:cNvSpPr>
          <p:nvPr>
            <p:ph type="body" idx="1"/>
          </p:nvPr>
        </p:nvSpPr>
        <p:spPr>
          <a:xfrm>
            <a:off x="1676400" y="1552070"/>
            <a:ext cx="8839200" cy="1672392"/>
          </a:xfrm>
          <a:prstGeom prst="rect">
            <a:avLst/>
          </a:prstGeom>
          <a:noFill/>
          <a:ln>
            <a:noFill/>
          </a:ln>
        </p:spPr>
        <p:txBody>
          <a:bodyPr spcFirstLastPara="1" wrap="square" lIns="50800" tIns="50800" rIns="50800" bIns="50800" anchor="t" anchorCtr="0">
            <a:noAutofit/>
          </a:bodyPr>
          <a:lstStyle/>
          <a:p>
            <a:pPr indent="-457200">
              <a:lnSpc>
                <a:spcPct val="90000"/>
              </a:lnSpc>
              <a:spcBef>
                <a:spcPts val="688"/>
              </a:spcBef>
              <a:buSzPts val="3000"/>
              <a:buFont typeface="Arial" panose="020B0604020202020204" pitchFamily="34" charset="0"/>
              <a:buChar char="•"/>
            </a:pPr>
            <a:r>
              <a:rPr lang="en-US" b="1" i="1" dirty="0">
                <a:latin typeface="Calibri" panose="020F0502020204030204" pitchFamily="34" charset="0"/>
                <a:cs typeface="Calibri" panose="020F0502020204030204" pitchFamily="34" charset="0"/>
              </a:rPr>
              <a:t>Aortic dissection</a:t>
            </a:r>
            <a:endParaRPr lang="en-US" dirty="0">
              <a:latin typeface="Calibri" panose="020F0502020204030204" pitchFamily="34" charset="0"/>
              <a:cs typeface="Calibri" panose="020F0502020204030204" pitchFamily="34" charset="0"/>
            </a:endParaRPr>
          </a:p>
          <a:p>
            <a:pPr marL="782638" lvl="1" indent="-325438">
              <a:lnSpc>
                <a:spcPct val="90000"/>
              </a:lnSpc>
              <a:spcBef>
                <a:spcPts val="688"/>
              </a:spcBef>
              <a:buSzPts val="3000"/>
              <a:buFont typeface="Arial"/>
              <a:buChar char="•"/>
            </a:pPr>
            <a:r>
              <a:rPr lang="en-US" dirty="0">
                <a:latin typeface="Calibri" panose="020F0502020204030204" pitchFamily="34" charset="0"/>
                <a:cs typeface="Calibri" panose="020F0502020204030204" pitchFamily="34" charset="0"/>
              </a:rPr>
              <a:t>High pressures in the aorta can lead to tears in the intima that widen rapidly.  </a:t>
            </a:r>
          </a:p>
          <a:p>
            <a:pPr marL="782638" lvl="1" indent="-325438">
              <a:lnSpc>
                <a:spcPct val="90000"/>
              </a:lnSpc>
              <a:spcBef>
                <a:spcPts val="688"/>
              </a:spcBef>
              <a:buSzPts val="3000"/>
              <a:buFont typeface="Arial"/>
              <a:buChar char="•"/>
            </a:pPr>
            <a:endParaRPr dirty="0"/>
          </a:p>
          <a:p>
            <a:pPr marL="782638" lvl="1" indent="-325438">
              <a:spcBef>
                <a:spcPts val="688"/>
              </a:spcBef>
              <a:buSzPts val="3000"/>
            </a:pPr>
            <a:endParaRPr lang="en-US" sz="2000" b="1" i="1" dirty="0"/>
          </a:p>
          <a:p>
            <a:pPr marL="457200" lvl="1" indent="0">
              <a:spcBef>
                <a:spcPts val="688"/>
              </a:spcBef>
              <a:buSzPts val="2000"/>
              <a:buNone/>
            </a:pPr>
            <a:endParaRPr sz="2000" b="1" i="1" dirty="0"/>
          </a:p>
          <a:p>
            <a:pPr marL="692150" lvl="1" indent="-44450">
              <a:lnSpc>
                <a:spcPct val="90000"/>
              </a:lnSpc>
              <a:spcBef>
                <a:spcPts val="688"/>
              </a:spcBef>
              <a:buSzPts val="3000"/>
              <a:buNone/>
            </a:pPr>
            <a:endParaRPr sz="3000" b="1" i="1" dirty="0"/>
          </a:p>
        </p:txBody>
      </p:sp>
      <p:pic>
        <p:nvPicPr>
          <p:cNvPr id="3074" name="Picture 2" descr="Aortic Dissection | The Patient Guide to Heart, Lung, and Esophageal Surgery">
            <a:extLst>
              <a:ext uri="{FF2B5EF4-FFF2-40B4-BE49-F238E27FC236}">
                <a16:creationId xmlns:a16="http://schemas.microsoft.com/office/drawing/2014/main" id="{232698D7-ED03-17F0-A296-134B8A9CFA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 r="2494"/>
          <a:stretch/>
        </p:blipFill>
        <p:spPr bwMode="auto">
          <a:xfrm>
            <a:off x="5779770" y="3448325"/>
            <a:ext cx="4888230" cy="288829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B512D7B-1D5A-A31B-B1D8-8ACF867393D8}"/>
              </a:ext>
            </a:extLst>
          </p:cNvPr>
          <p:cNvSpPr txBox="1"/>
          <p:nvPr/>
        </p:nvSpPr>
        <p:spPr>
          <a:xfrm>
            <a:off x="1524000" y="3220082"/>
            <a:ext cx="4572000" cy="3194721"/>
          </a:xfrm>
          <a:prstGeom prst="rect">
            <a:avLst/>
          </a:prstGeom>
          <a:noFill/>
        </p:spPr>
        <p:txBody>
          <a:bodyPr wrap="square" rtlCol="0">
            <a:spAutoFit/>
          </a:bodyPr>
          <a:lstStyle/>
          <a:p>
            <a:pPr marL="782638" lvl="1" indent="-325438">
              <a:lnSpc>
                <a:spcPct val="90000"/>
              </a:lnSpc>
              <a:spcBef>
                <a:spcPts val="688"/>
              </a:spcBef>
              <a:buClr>
                <a:schemeClr val="dk1"/>
              </a:buClr>
              <a:buSzPts val="3000"/>
              <a:buFont typeface="Arial"/>
              <a:buChar char="•"/>
            </a:pPr>
            <a:r>
              <a:rPr lang="en-US" sz="3200" dirty="0">
                <a:latin typeface="Calibri" panose="020F0502020204030204" pitchFamily="34" charset="0"/>
                <a:cs typeface="Calibri" panose="020F0502020204030204" pitchFamily="34" charset="0"/>
              </a:rPr>
              <a:t>As the blood is forced into the space between the intima and the media, the dissection worsens quickly and can rupture.</a:t>
            </a:r>
          </a:p>
        </p:txBody>
      </p:sp>
    </p:spTree>
    <p:extLst>
      <p:ext uri="{BB962C8B-B14F-4D97-AF65-F5344CB8AC3E}">
        <p14:creationId xmlns:p14="http://schemas.microsoft.com/office/powerpoint/2010/main" val="2060522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5"/>
        <p:cNvGrpSpPr/>
        <p:nvPr/>
      </p:nvGrpSpPr>
      <p:grpSpPr>
        <a:xfrm>
          <a:off x="0" y="0"/>
          <a:ext cx="0" cy="0"/>
          <a:chOff x="0" y="0"/>
          <a:chExt cx="0" cy="0"/>
        </a:xfrm>
      </p:grpSpPr>
      <p:sp>
        <p:nvSpPr>
          <p:cNvPr id="1646" name="Google Shape;1646;p218"/>
          <p:cNvSpPr txBox="1">
            <a:spLocks noGrp="1"/>
          </p:cNvSpPr>
          <p:nvPr>
            <p:ph type="title"/>
          </p:nvPr>
        </p:nvSpPr>
        <p:spPr>
          <a:xfrm>
            <a:off x="1313777" y="160422"/>
            <a:ext cx="9564445" cy="1365325"/>
          </a:xfrm>
          <a:prstGeom prst="rect">
            <a:avLst/>
          </a:prstGeom>
          <a:noFill/>
          <a:ln>
            <a:noFill/>
          </a:ln>
        </p:spPr>
        <p:txBody>
          <a:bodyPr spcFirstLastPara="1" wrap="square" lIns="50800" tIns="50800" rIns="50800" bIns="50800" anchor="ctr" anchorCtr="0">
            <a:noAutofit/>
          </a:bodyPr>
          <a:lstStyle/>
          <a:p>
            <a:r>
              <a:rPr lang="en-US" dirty="0"/>
              <a:t>CV Damage in Hypertensive Emergency</a:t>
            </a:r>
            <a:endParaRPr dirty="0"/>
          </a:p>
        </p:txBody>
      </p:sp>
      <p:sp>
        <p:nvSpPr>
          <p:cNvPr id="1647" name="Google Shape;1647;p218"/>
          <p:cNvSpPr txBox="1">
            <a:spLocks noGrp="1"/>
          </p:cNvSpPr>
          <p:nvPr>
            <p:ph type="body" idx="1"/>
          </p:nvPr>
        </p:nvSpPr>
        <p:spPr>
          <a:xfrm>
            <a:off x="432619" y="2251711"/>
            <a:ext cx="11366091" cy="4445867"/>
          </a:xfrm>
          <a:prstGeom prst="rect">
            <a:avLst/>
          </a:prstGeom>
          <a:noFill/>
          <a:ln>
            <a:noFill/>
          </a:ln>
        </p:spPr>
        <p:txBody>
          <a:bodyPr spcFirstLastPara="1" wrap="square" lIns="50800" tIns="50800" rIns="50800" bIns="50800" anchor="t" anchorCtr="0">
            <a:noAutofit/>
          </a:bodyPr>
          <a:lstStyle/>
          <a:p>
            <a:pPr indent="-457200">
              <a:spcBef>
                <a:spcPts val="688"/>
              </a:spcBef>
              <a:buSzPts val="3000"/>
              <a:buFont typeface="Arial" panose="020B0604020202020204" pitchFamily="34" charset="0"/>
              <a:buChar char="•"/>
            </a:pPr>
            <a:r>
              <a:rPr lang="en-US" b="1" i="1" dirty="0"/>
              <a:t>Myocardial ischemia/infarction </a:t>
            </a:r>
            <a:r>
              <a:rPr lang="en-US" dirty="0"/>
              <a:t>(STEMI, NSTEMI) or unstable angina (UA)</a:t>
            </a:r>
          </a:p>
          <a:p>
            <a:pPr marL="762000" lvl="1" indent="-304800">
              <a:spcBef>
                <a:spcPts val="688"/>
              </a:spcBef>
              <a:buSzPts val="3000"/>
              <a:buChar char="•"/>
            </a:pPr>
            <a:r>
              <a:rPr lang="en-US" dirty="0"/>
              <a:t>The heart muscle is perfused by the coronary arteries when it relaxes during diastole.</a:t>
            </a:r>
          </a:p>
          <a:p>
            <a:pPr marL="762000" lvl="1" indent="-304800">
              <a:spcBef>
                <a:spcPts val="688"/>
              </a:spcBef>
              <a:buSzPts val="3000"/>
              <a:buChar char="•"/>
            </a:pPr>
            <a:r>
              <a:rPr lang="en-US" dirty="0"/>
              <a:t>The pressure in the aorta from increased vascular resistance, severely elevated afterload, and hypertrophy of the heart means that the coronary arteries are less likely to perfused.</a:t>
            </a:r>
          </a:p>
        </p:txBody>
      </p:sp>
    </p:spTree>
    <p:extLst>
      <p:ext uri="{BB962C8B-B14F-4D97-AF65-F5344CB8AC3E}">
        <p14:creationId xmlns:p14="http://schemas.microsoft.com/office/powerpoint/2010/main" val="171264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5">
          <a:extLst>
            <a:ext uri="{FF2B5EF4-FFF2-40B4-BE49-F238E27FC236}">
              <a16:creationId xmlns:a16="http://schemas.microsoft.com/office/drawing/2014/main" id="{A9304527-3BC4-80E6-E48D-B11545045218}"/>
            </a:ext>
          </a:extLst>
        </p:cNvPr>
        <p:cNvGrpSpPr/>
        <p:nvPr/>
      </p:nvGrpSpPr>
      <p:grpSpPr>
        <a:xfrm>
          <a:off x="0" y="0"/>
          <a:ext cx="0" cy="0"/>
          <a:chOff x="0" y="0"/>
          <a:chExt cx="0" cy="0"/>
        </a:xfrm>
      </p:grpSpPr>
      <p:sp>
        <p:nvSpPr>
          <p:cNvPr id="1646" name="Google Shape;1646;p218">
            <a:extLst>
              <a:ext uri="{FF2B5EF4-FFF2-40B4-BE49-F238E27FC236}">
                <a16:creationId xmlns:a16="http://schemas.microsoft.com/office/drawing/2014/main" id="{9CDCF645-03E6-8B81-F9AC-7695ADEF93AA}"/>
              </a:ext>
            </a:extLst>
          </p:cNvPr>
          <p:cNvSpPr txBox="1">
            <a:spLocks noGrp="1"/>
          </p:cNvSpPr>
          <p:nvPr>
            <p:ph type="title"/>
          </p:nvPr>
        </p:nvSpPr>
        <p:spPr>
          <a:xfrm>
            <a:off x="1329914" y="160422"/>
            <a:ext cx="9532172" cy="1128656"/>
          </a:xfrm>
          <a:prstGeom prst="rect">
            <a:avLst/>
          </a:prstGeom>
          <a:noFill/>
          <a:ln>
            <a:noFill/>
          </a:ln>
        </p:spPr>
        <p:txBody>
          <a:bodyPr spcFirstLastPara="1" wrap="square" lIns="50800" tIns="50800" rIns="50800" bIns="50800" anchor="ctr" anchorCtr="0">
            <a:noAutofit/>
          </a:bodyPr>
          <a:lstStyle/>
          <a:p>
            <a:r>
              <a:rPr lang="en-US" dirty="0"/>
              <a:t>CV Damage in Hypertensive Emergency</a:t>
            </a:r>
            <a:endParaRPr dirty="0"/>
          </a:p>
        </p:txBody>
      </p:sp>
      <p:sp>
        <p:nvSpPr>
          <p:cNvPr id="1647" name="Google Shape;1647;p218">
            <a:extLst>
              <a:ext uri="{FF2B5EF4-FFF2-40B4-BE49-F238E27FC236}">
                <a16:creationId xmlns:a16="http://schemas.microsoft.com/office/drawing/2014/main" id="{A21896F9-4419-61C4-49C4-DAD397426EE2}"/>
              </a:ext>
            </a:extLst>
          </p:cNvPr>
          <p:cNvSpPr txBox="1">
            <a:spLocks noGrp="1"/>
          </p:cNvSpPr>
          <p:nvPr>
            <p:ph type="body" idx="1"/>
          </p:nvPr>
        </p:nvSpPr>
        <p:spPr>
          <a:xfrm>
            <a:off x="373626" y="2297431"/>
            <a:ext cx="11454580" cy="4400147"/>
          </a:xfrm>
          <a:prstGeom prst="rect">
            <a:avLst/>
          </a:prstGeom>
          <a:noFill/>
          <a:ln>
            <a:noFill/>
          </a:ln>
        </p:spPr>
        <p:txBody>
          <a:bodyPr spcFirstLastPara="1" wrap="square" lIns="50800" tIns="50800" rIns="50800" bIns="50800" anchor="t" anchorCtr="0">
            <a:noAutofit/>
          </a:bodyPr>
          <a:lstStyle/>
          <a:p>
            <a:pPr indent="-457200">
              <a:spcBef>
                <a:spcPts val="688"/>
              </a:spcBef>
              <a:buSzPts val="3000"/>
            </a:pPr>
            <a:r>
              <a:rPr lang="en-US" dirty="0"/>
              <a:t>If the heart muscle is too tensely contracted and overly stiff from hypertrophy, then the myocardium both </a:t>
            </a:r>
          </a:p>
          <a:p>
            <a:pPr marL="971550" lvl="1" indent="-514350">
              <a:spcBef>
                <a:spcPts val="688"/>
              </a:spcBef>
              <a:buSzPts val="3000"/>
              <a:buFont typeface="+mj-lt"/>
              <a:buAutoNum type="arabicPeriod"/>
            </a:pPr>
            <a:r>
              <a:rPr lang="en-US" dirty="0"/>
              <a:t>Needs more oxygen for pumping demand </a:t>
            </a:r>
            <a:r>
              <a:rPr lang="en-US" i="1" u="sng" dirty="0"/>
              <a:t>and</a:t>
            </a:r>
            <a:r>
              <a:rPr lang="en-US" dirty="0"/>
              <a:t> </a:t>
            </a:r>
          </a:p>
          <a:p>
            <a:pPr marL="971550" lvl="1" indent="-514350">
              <a:spcBef>
                <a:spcPts val="688"/>
              </a:spcBef>
              <a:buSzPts val="3000"/>
              <a:buFont typeface="+mj-lt"/>
              <a:buAutoNum type="arabicPeriod"/>
            </a:pPr>
            <a:r>
              <a:rPr lang="en-US" dirty="0"/>
              <a:t>May not relax enough for diastolic filling</a:t>
            </a:r>
          </a:p>
          <a:p>
            <a:pPr marL="457200" lvl="1" indent="0">
              <a:spcBef>
                <a:spcPts val="688"/>
              </a:spcBef>
              <a:buSzPts val="3000"/>
              <a:buNone/>
            </a:pPr>
            <a:r>
              <a:rPr lang="en-US" dirty="0"/>
              <a:t> </a:t>
            </a:r>
          </a:p>
          <a:p>
            <a:pPr marL="304800" indent="-304800">
              <a:spcBef>
                <a:spcPts val="688"/>
              </a:spcBef>
              <a:buSzPts val="3000"/>
            </a:pPr>
            <a:r>
              <a:rPr lang="en-US" dirty="0"/>
              <a:t>Patients will have troponin elevation and may develop EKG changes.</a:t>
            </a:r>
          </a:p>
        </p:txBody>
      </p:sp>
    </p:spTree>
    <p:extLst>
      <p:ext uri="{BB962C8B-B14F-4D97-AF65-F5344CB8AC3E}">
        <p14:creationId xmlns:p14="http://schemas.microsoft.com/office/powerpoint/2010/main" val="783021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5"/>
        <p:cNvGrpSpPr/>
        <p:nvPr/>
      </p:nvGrpSpPr>
      <p:grpSpPr>
        <a:xfrm>
          <a:off x="0" y="0"/>
          <a:ext cx="0" cy="0"/>
          <a:chOff x="0" y="0"/>
          <a:chExt cx="0" cy="0"/>
        </a:xfrm>
      </p:grpSpPr>
      <p:sp>
        <p:nvSpPr>
          <p:cNvPr id="1646" name="Google Shape;1646;p218"/>
          <p:cNvSpPr txBox="1">
            <a:spLocks noGrp="1"/>
          </p:cNvSpPr>
          <p:nvPr>
            <p:ph type="title"/>
          </p:nvPr>
        </p:nvSpPr>
        <p:spPr>
          <a:xfrm>
            <a:off x="511277" y="76201"/>
            <a:ext cx="11311377" cy="967292"/>
          </a:xfrm>
          <a:prstGeom prst="rect">
            <a:avLst/>
          </a:prstGeom>
          <a:noFill/>
          <a:ln>
            <a:noFill/>
          </a:ln>
        </p:spPr>
        <p:txBody>
          <a:bodyPr spcFirstLastPara="1" wrap="square" lIns="50800" tIns="50800" rIns="50800" bIns="50800" anchor="ctr" anchorCtr="0">
            <a:noAutofit/>
          </a:bodyPr>
          <a:lstStyle/>
          <a:p>
            <a:r>
              <a:rPr lang="en-US" dirty="0" err="1"/>
              <a:t>CardioPulm</a:t>
            </a:r>
            <a:r>
              <a:rPr lang="en-US" dirty="0"/>
              <a:t> Damage in Hypertensive Emergency</a:t>
            </a:r>
            <a:endParaRPr dirty="0"/>
          </a:p>
        </p:txBody>
      </p:sp>
      <p:sp>
        <p:nvSpPr>
          <p:cNvPr id="1647" name="Google Shape;1647;p218"/>
          <p:cNvSpPr txBox="1">
            <a:spLocks noGrp="1"/>
          </p:cNvSpPr>
          <p:nvPr>
            <p:ph type="body" idx="1"/>
          </p:nvPr>
        </p:nvSpPr>
        <p:spPr>
          <a:xfrm>
            <a:off x="511277" y="2029835"/>
            <a:ext cx="11218607" cy="4278629"/>
          </a:xfrm>
          <a:prstGeom prst="rect">
            <a:avLst/>
          </a:prstGeom>
          <a:noFill/>
          <a:ln>
            <a:noFill/>
          </a:ln>
        </p:spPr>
        <p:txBody>
          <a:bodyPr spcFirstLastPara="1" wrap="square" lIns="50800" tIns="50800" rIns="50800" bIns="50800" anchor="t" anchorCtr="0">
            <a:noAutofit/>
          </a:bodyPr>
          <a:lstStyle/>
          <a:p>
            <a:pPr indent="-457200">
              <a:spcBef>
                <a:spcPts val="688"/>
              </a:spcBef>
              <a:buSzPts val="3000"/>
            </a:pPr>
            <a:r>
              <a:rPr lang="en-US" sz="3000" b="1" i="1" dirty="0"/>
              <a:t>Acute left ventricular dysfunction causing acute pulmonary edema</a:t>
            </a:r>
            <a:endParaRPr dirty="0"/>
          </a:p>
          <a:p>
            <a:pPr marL="671512" lvl="1" indent="-234950">
              <a:spcBef>
                <a:spcPts val="688"/>
              </a:spcBef>
              <a:buSzPts val="3000"/>
              <a:buChar char="•"/>
            </a:pPr>
            <a:r>
              <a:rPr lang="en-US" sz="3000" dirty="0"/>
              <a:t>In hypertensive crisis, the afterload (aortic pressure) becomes so high that forward movement of the blood out of the left ventricle is compromised.</a:t>
            </a:r>
          </a:p>
          <a:p>
            <a:pPr marL="671512" lvl="1" indent="-234950">
              <a:spcBef>
                <a:spcPts val="688"/>
              </a:spcBef>
              <a:buSzPts val="3000"/>
              <a:buChar char="•"/>
            </a:pPr>
            <a:endParaRPr lang="en-US" sz="3000" dirty="0"/>
          </a:p>
          <a:p>
            <a:pPr marL="671512" lvl="1" indent="-234950">
              <a:spcBef>
                <a:spcPts val="688"/>
              </a:spcBef>
              <a:buSzPts val="3000"/>
              <a:buFont typeface="Arial"/>
              <a:buChar char="•"/>
            </a:pPr>
            <a:r>
              <a:rPr lang="en-US" sz="3000" dirty="0"/>
              <a:t>Blood backs up into the lungs causing pulmonary vascular congestion that progressively worsens.</a:t>
            </a:r>
          </a:p>
          <a:p>
            <a:pPr marL="671512" lvl="1" indent="-234950">
              <a:spcBef>
                <a:spcPts val="688"/>
              </a:spcBef>
              <a:buSzPts val="3000"/>
              <a:buChar char="•"/>
            </a:pPr>
            <a:endParaRPr lang="en-US" sz="1000" dirty="0"/>
          </a:p>
          <a:p>
            <a:pPr marL="692150" lvl="1" indent="-44450">
              <a:lnSpc>
                <a:spcPct val="90000"/>
              </a:lnSpc>
              <a:spcBef>
                <a:spcPts val="688"/>
              </a:spcBef>
              <a:buSzPts val="3000"/>
              <a:buNone/>
            </a:pPr>
            <a:endParaRPr sz="3000" b="1" i="1" dirty="0"/>
          </a:p>
        </p:txBody>
      </p:sp>
    </p:spTree>
    <p:extLst>
      <p:ext uri="{BB962C8B-B14F-4D97-AF65-F5344CB8AC3E}">
        <p14:creationId xmlns:p14="http://schemas.microsoft.com/office/powerpoint/2010/main" val="4040687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sp>
        <p:nvSpPr>
          <p:cNvPr id="1658" name="Google Shape;1658;p220"/>
          <p:cNvSpPr txBox="1">
            <a:spLocks noGrp="1"/>
          </p:cNvSpPr>
          <p:nvPr>
            <p:ph type="title"/>
          </p:nvPr>
        </p:nvSpPr>
        <p:spPr>
          <a:xfrm>
            <a:off x="1193541" y="76200"/>
            <a:ext cx="9804918" cy="1053353"/>
          </a:xfrm>
          <a:prstGeom prst="rect">
            <a:avLst/>
          </a:prstGeom>
          <a:noFill/>
          <a:ln>
            <a:noFill/>
          </a:ln>
        </p:spPr>
        <p:txBody>
          <a:bodyPr spcFirstLastPara="1" wrap="square" lIns="50800" tIns="50800" rIns="50800" bIns="50800" anchor="ctr" anchorCtr="0">
            <a:noAutofit/>
          </a:bodyPr>
          <a:lstStyle/>
          <a:p>
            <a:r>
              <a:rPr lang="en-US" dirty="0"/>
              <a:t>Renal Damage in Hypertensive Emergency</a:t>
            </a:r>
            <a:endParaRPr dirty="0"/>
          </a:p>
        </p:txBody>
      </p:sp>
      <p:sp>
        <p:nvSpPr>
          <p:cNvPr id="1659" name="Google Shape;1659;p220"/>
          <p:cNvSpPr txBox="1">
            <a:spLocks noGrp="1"/>
          </p:cNvSpPr>
          <p:nvPr>
            <p:ph type="body" idx="1"/>
          </p:nvPr>
        </p:nvSpPr>
        <p:spPr>
          <a:xfrm>
            <a:off x="634482" y="1840230"/>
            <a:ext cx="11103428" cy="4941570"/>
          </a:xfrm>
          <a:prstGeom prst="rect">
            <a:avLst/>
          </a:prstGeom>
          <a:noFill/>
          <a:ln>
            <a:noFill/>
          </a:ln>
        </p:spPr>
        <p:txBody>
          <a:bodyPr spcFirstLastPara="1" wrap="square" lIns="50800" tIns="50800" rIns="50800" bIns="50800" anchor="t" anchorCtr="0">
            <a:noAutofit/>
          </a:bodyPr>
          <a:lstStyle/>
          <a:p>
            <a:pPr indent="-457200">
              <a:spcBef>
                <a:spcPts val="688"/>
              </a:spcBef>
              <a:buSzPts val="3000"/>
            </a:pPr>
            <a:r>
              <a:rPr lang="en-US" b="1" i="1" dirty="0"/>
              <a:t>Acute kidney injury or proteinuria</a:t>
            </a:r>
            <a:endParaRPr dirty="0"/>
          </a:p>
          <a:p>
            <a:pPr marL="692150" lvl="1" indent="-234950">
              <a:spcBef>
                <a:spcPts val="688"/>
              </a:spcBef>
              <a:buSzPts val="3000"/>
            </a:pPr>
            <a:r>
              <a:rPr lang="en-US" dirty="0"/>
              <a:t>As the cardiac output falls in the face of severely increased afterload, the kidney will be hypo-perfused and unable to maintain proper filtration to recondition the blood composition. </a:t>
            </a:r>
            <a:endParaRPr lang="en-US" sz="2500" dirty="0"/>
          </a:p>
          <a:p>
            <a:pPr marL="457200" lvl="1" indent="0">
              <a:lnSpc>
                <a:spcPct val="90000"/>
              </a:lnSpc>
              <a:spcBef>
                <a:spcPts val="688"/>
              </a:spcBef>
              <a:buSzPts val="3000"/>
              <a:buNone/>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3"/>
        <p:cNvGrpSpPr/>
        <p:nvPr/>
      </p:nvGrpSpPr>
      <p:grpSpPr>
        <a:xfrm>
          <a:off x="0" y="0"/>
          <a:ext cx="0" cy="0"/>
          <a:chOff x="0" y="0"/>
          <a:chExt cx="0" cy="0"/>
        </a:xfrm>
      </p:grpSpPr>
      <p:sp>
        <p:nvSpPr>
          <p:cNvPr id="1664" name="Google Shape;1664;p221"/>
          <p:cNvSpPr txBox="1">
            <a:spLocks noGrp="1"/>
          </p:cNvSpPr>
          <p:nvPr>
            <p:ph type="title"/>
          </p:nvPr>
        </p:nvSpPr>
        <p:spPr>
          <a:xfrm>
            <a:off x="1752600" y="76200"/>
            <a:ext cx="8763000" cy="1066800"/>
          </a:xfrm>
          <a:prstGeom prst="rect">
            <a:avLst/>
          </a:prstGeom>
          <a:noFill/>
          <a:ln>
            <a:noFill/>
          </a:ln>
        </p:spPr>
        <p:txBody>
          <a:bodyPr spcFirstLastPara="1" wrap="square" lIns="50800" tIns="50800" rIns="50800" bIns="50800" anchor="ctr" anchorCtr="0">
            <a:noAutofit/>
          </a:bodyPr>
          <a:lstStyle/>
          <a:p>
            <a:r>
              <a:rPr lang="en-US" sz="3500"/>
              <a:t>End-Organ Damage in Hypertensive Emergency</a:t>
            </a:r>
            <a:endParaRPr/>
          </a:p>
        </p:txBody>
      </p:sp>
      <p:sp>
        <p:nvSpPr>
          <p:cNvPr id="1665" name="Google Shape;1665;p221"/>
          <p:cNvSpPr txBox="1">
            <a:spLocks noGrp="1"/>
          </p:cNvSpPr>
          <p:nvPr>
            <p:ph type="body" idx="1"/>
          </p:nvPr>
        </p:nvSpPr>
        <p:spPr>
          <a:xfrm>
            <a:off x="606490" y="1143000"/>
            <a:ext cx="11122090" cy="5638800"/>
          </a:xfrm>
          <a:prstGeom prst="rect">
            <a:avLst/>
          </a:prstGeom>
          <a:noFill/>
          <a:ln>
            <a:noFill/>
          </a:ln>
        </p:spPr>
        <p:txBody>
          <a:bodyPr spcFirstLastPara="1" wrap="square" lIns="50800" tIns="50800" rIns="50800" bIns="50800" anchor="t" anchorCtr="0">
            <a:noAutofit/>
          </a:bodyPr>
          <a:lstStyle/>
          <a:p>
            <a:pPr marL="292100" indent="-292100">
              <a:spcBef>
                <a:spcPts val="0"/>
              </a:spcBef>
              <a:buSzPts val="3100"/>
            </a:pPr>
            <a:r>
              <a:rPr lang="en-US" sz="3100" dirty="0"/>
              <a:t>Acute end-organ damage in the setting of a hypertensive emergency may also include: </a:t>
            </a:r>
            <a:r>
              <a:rPr lang="en-US" sz="3000" b="1" i="1" dirty="0"/>
              <a:t> </a:t>
            </a:r>
            <a:endParaRPr dirty="0"/>
          </a:p>
          <a:p>
            <a:pPr marL="692150" lvl="1" indent="-234950">
              <a:spcBef>
                <a:spcPts val="688"/>
              </a:spcBef>
              <a:buSzPts val="3000"/>
            </a:pPr>
            <a:r>
              <a:rPr lang="en-US" sz="3000" b="1" i="1" dirty="0"/>
              <a:t>Hypertensive retinopathy: </a:t>
            </a:r>
            <a:r>
              <a:rPr lang="en-US" sz="3000" dirty="0"/>
              <a:t>vascular changes within the retina causing exudates and microinfarctions.  </a:t>
            </a:r>
            <a:endParaRPr dirty="0"/>
          </a:p>
          <a:p>
            <a:pPr marL="692150" lvl="1" indent="-44450">
              <a:spcBef>
                <a:spcPts val="688"/>
              </a:spcBef>
              <a:buSzPts val="3000"/>
              <a:buNone/>
            </a:pPr>
            <a:endParaRPr sz="2000" b="1" i="1" dirty="0"/>
          </a:p>
          <a:p>
            <a:pPr marL="692150" lvl="1" indent="-234950">
              <a:spcBef>
                <a:spcPts val="688"/>
              </a:spcBef>
              <a:buSzPts val="3000"/>
            </a:pPr>
            <a:r>
              <a:rPr lang="en-US" sz="3000" b="1" i="1" dirty="0"/>
              <a:t>Pre-eclampsia/ eclampsia: </a:t>
            </a:r>
            <a:r>
              <a:rPr lang="en-US" sz="3000" dirty="0"/>
              <a:t>a pregnancy related hypertensive crisis marked by placental insufficiency, proteinuria and potential seizures. </a:t>
            </a:r>
            <a:endParaRPr dirty="0"/>
          </a:p>
          <a:p>
            <a:pPr marL="692150" lvl="1" indent="-44450">
              <a:spcBef>
                <a:spcPts val="688"/>
              </a:spcBef>
              <a:buSzPts val="3000"/>
              <a:buNone/>
            </a:pPr>
            <a:endParaRPr sz="2000" b="1" i="1" dirty="0"/>
          </a:p>
          <a:p>
            <a:pPr marL="692150" lvl="1" indent="-234950">
              <a:spcBef>
                <a:spcPts val="688"/>
              </a:spcBef>
              <a:buSzPts val="3000"/>
            </a:pPr>
            <a:r>
              <a:rPr lang="en-US" sz="3000" b="1" i="1" dirty="0"/>
              <a:t>Microangiopathic hemolytic anemia:</a:t>
            </a:r>
            <a:r>
              <a:rPr lang="en-US" sz="3000" dirty="0"/>
              <a:t> hemolysis as a result of high vascular pressures.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69"/>
        <p:cNvGrpSpPr/>
        <p:nvPr/>
      </p:nvGrpSpPr>
      <p:grpSpPr>
        <a:xfrm>
          <a:off x="0" y="0"/>
          <a:ext cx="0" cy="0"/>
          <a:chOff x="0" y="0"/>
          <a:chExt cx="0" cy="0"/>
        </a:xfrm>
      </p:grpSpPr>
      <p:pic>
        <p:nvPicPr>
          <p:cNvPr id="1670" name="Google Shape;1670;p222"/>
          <p:cNvPicPr preferRelativeResize="0">
            <a:picLocks noGrp="1"/>
          </p:cNvPicPr>
          <p:nvPr>
            <p:ph type="body" idx="1"/>
          </p:nvPr>
        </p:nvPicPr>
        <p:blipFill rotWithShape="1">
          <a:blip r:embed="rId3">
            <a:alphaModFix/>
          </a:blip>
          <a:srcRect/>
          <a:stretch/>
        </p:blipFill>
        <p:spPr>
          <a:xfrm>
            <a:off x="1600200" y="228600"/>
            <a:ext cx="8915400" cy="6477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2"/>
        <p:cNvGrpSpPr/>
        <p:nvPr/>
      </p:nvGrpSpPr>
      <p:grpSpPr>
        <a:xfrm>
          <a:off x="0" y="0"/>
          <a:ext cx="0" cy="0"/>
          <a:chOff x="0" y="0"/>
          <a:chExt cx="0" cy="0"/>
        </a:xfrm>
      </p:grpSpPr>
      <p:sp>
        <p:nvSpPr>
          <p:cNvPr id="1683" name="Google Shape;1683;p224"/>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Crisis History</a:t>
            </a:r>
            <a:endParaRPr/>
          </a:p>
        </p:txBody>
      </p:sp>
      <p:sp>
        <p:nvSpPr>
          <p:cNvPr id="1684" name="Google Shape;1684;p224"/>
          <p:cNvSpPr txBox="1">
            <a:spLocks noGrp="1"/>
          </p:cNvSpPr>
          <p:nvPr>
            <p:ph type="body" idx="1"/>
          </p:nvPr>
        </p:nvSpPr>
        <p:spPr>
          <a:xfrm>
            <a:off x="662473" y="1066800"/>
            <a:ext cx="10982131"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Duration and severity of the patient’s preexisting HTN, degree of control, medication history and compliance. </a:t>
            </a:r>
            <a:endParaRPr dirty="0"/>
          </a:p>
          <a:p>
            <a:pPr marL="342900" indent="-139700">
              <a:buNone/>
            </a:pPr>
            <a:endParaRPr dirty="0"/>
          </a:p>
          <a:p>
            <a:pPr marL="342900" indent="-342900"/>
            <a:r>
              <a:rPr lang="en-US" dirty="0"/>
              <a:t>OTC meds/ supplements and use of illicit drugs (cocaine, meth)</a:t>
            </a:r>
            <a:endParaRPr dirty="0"/>
          </a:p>
          <a:p>
            <a:pPr marL="342900" indent="-139700">
              <a:buNone/>
            </a:pPr>
            <a:endParaRPr dirty="0"/>
          </a:p>
          <a:p>
            <a:pPr marL="342900" indent="-342900"/>
            <a:r>
              <a:rPr lang="en-US" dirty="0"/>
              <a:t>Presence of previous end-organ dysfunction, particularly cardiovascular, renal and cerebrovascular disease</a:t>
            </a:r>
            <a:endParaRPr dirty="0"/>
          </a:p>
          <a:p>
            <a:pPr marL="342900" indent="-342900">
              <a:buNone/>
            </a:pPr>
            <a:r>
              <a:rPr lang="en-US" dirty="0"/>
              <a:t>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690" name="Google Shape;1690;p225"/>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Crisis History</a:t>
            </a:r>
            <a:endParaRPr/>
          </a:p>
        </p:txBody>
      </p:sp>
      <p:sp>
        <p:nvSpPr>
          <p:cNvPr id="1691" name="Google Shape;1691;p225"/>
          <p:cNvSpPr txBox="1">
            <a:spLocks noGrp="1"/>
          </p:cNvSpPr>
          <p:nvPr>
            <p:ph type="body" idx="1"/>
          </p:nvPr>
        </p:nvSpPr>
        <p:spPr>
          <a:xfrm>
            <a:off x="699797" y="1066800"/>
            <a:ext cx="10963468"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Recent head injury or trauma</a:t>
            </a:r>
            <a:endParaRPr dirty="0"/>
          </a:p>
          <a:p>
            <a:pPr marL="342900" indent="-342900">
              <a:buNone/>
            </a:pPr>
            <a:r>
              <a:rPr lang="en-US" dirty="0"/>
              <a:t> </a:t>
            </a:r>
            <a:endParaRPr dirty="0"/>
          </a:p>
          <a:p>
            <a:pPr marL="342900" indent="-342900"/>
            <a:r>
              <a:rPr lang="en-US" dirty="0"/>
              <a:t>Other medical problems: thyroid disease, Cushing’s, systemic lupus</a:t>
            </a:r>
            <a:endParaRPr dirty="0"/>
          </a:p>
          <a:p>
            <a:pPr marL="342900" indent="-139700">
              <a:buNone/>
            </a:pPr>
            <a:endParaRPr dirty="0"/>
          </a:p>
          <a:p>
            <a:pPr marL="342900" indent="-342900"/>
            <a:r>
              <a:rPr lang="en-US" dirty="0"/>
              <a:t>Pregnancy</a:t>
            </a:r>
            <a:endParaRPr dirty="0"/>
          </a:p>
          <a:p>
            <a:pPr marL="342900" indent="-139700">
              <a:buNone/>
            </a:pPr>
            <a:endParaRPr dirty="0"/>
          </a:p>
          <a:p>
            <a:pPr marL="342900" indent="-342900"/>
            <a:r>
              <a:rPr lang="en-US" dirty="0"/>
              <a:t>Recent use of prescription meds (MAOI’s), or recent discontinuation of BB or clonidine</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697" name="Google Shape;1697;p226"/>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Crisis Exam</a:t>
            </a:r>
            <a:endParaRPr/>
          </a:p>
        </p:txBody>
      </p:sp>
      <p:sp>
        <p:nvSpPr>
          <p:cNvPr id="1698" name="Google Shape;1698;p226"/>
          <p:cNvSpPr txBox="1">
            <a:spLocks noGrp="1"/>
          </p:cNvSpPr>
          <p:nvPr>
            <p:ph type="body" idx="1"/>
          </p:nvPr>
        </p:nvSpPr>
        <p:spPr>
          <a:xfrm>
            <a:off x="485192" y="1371600"/>
            <a:ext cx="11346024" cy="52578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dirty="0"/>
              <a:t>Physical exam should assess for end-organ </a:t>
            </a:r>
            <a:r>
              <a:rPr lang="en-US" sz="2800" dirty="0" err="1"/>
              <a:t>dysfxn</a:t>
            </a:r>
            <a:r>
              <a:rPr lang="en-US" sz="2800" dirty="0"/>
              <a:t> </a:t>
            </a:r>
          </a:p>
          <a:p>
            <a:pPr marL="0" indent="0">
              <a:spcBef>
                <a:spcPts val="0"/>
              </a:spcBef>
              <a:buNone/>
            </a:pPr>
            <a:endParaRPr lang="en-US" sz="2800" dirty="0"/>
          </a:p>
          <a:p>
            <a:pPr marL="342900" indent="-342900">
              <a:spcBef>
                <a:spcPts val="0"/>
              </a:spcBef>
            </a:pPr>
            <a:r>
              <a:rPr lang="en-US" sz="2800" dirty="0"/>
              <a:t>BP should be measured in supine position and the standing position to assess volume depletion and in both arms as a difference suggests aortic dissection.</a:t>
            </a:r>
          </a:p>
          <a:p>
            <a:pPr marL="800100" lvl="1" indent="-342900"/>
            <a:r>
              <a:rPr lang="en-US" sz="2800" dirty="0"/>
              <a:t>Pulses: Check for weak or absent carotid, brachial, or femoral pulse as this could suggest aortic dissection as well. </a:t>
            </a:r>
          </a:p>
          <a:p>
            <a:pPr marL="457200" lvl="1" indent="0">
              <a:buNone/>
            </a:pPr>
            <a:endParaRPr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03"/>
        <p:cNvGrpSpPr/>
        <p:nvPr/>
      </p:nvGrpSpPr>
      <p:grpSpPr>
        <a:xfrm>
          <a:off x="0" y="0"/>
          <a:ext cx="0" cy="0"/>
          <a:chOff x="0" y="0"/>
          <a:chExt cx="0" cy="0"/>
        </a:xfrm>
      </p:grpSpPr>
      <p:sp>
        <p:nvSpPr>
          <p:cNvPr id="1704" name="Google Shape;1704;p227"/>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Crisis Exam</a:t>
            </a:r>
            <a:endParaRPr/>
          </a:p>
        </p:txBody>
      </p:sp>
      <p:sp>
        <p:nvSpPr>
          <p:cNvPr id="1705" name="Google Shape;1705;p227"/>
          <p:cNvSpPr txBox="1">
            <a:spLocks noGrp="1"/>
          </p:cNvSpPr>
          <p:nvPr>
            <p:ph type="body" idx="1"/>
          </p:nvPr>
        </p:nvSpPr>
        <p:spPr>
          <a:xfrm>
            <a:off x="587829" y="1066800"/>
            <a:ext cx="11206065" cy="5379720"/>
          </a:xfrm>
          <a:prstGeom prst="rect">
            <a:avLst/>
          </a:prstGeom>
          <a:noFill/>
          <a:ln>
            <a:noFill/>
          </a:ln>
        </p:spPr>
        <p:txBody>
          <a:bodyPr spcFirstLastPara="1" wrap="square" lIns="91425" tIns="45700" rIns="91425" bIns="45700" anchor="t" anchorCtr="0">
            <a:noAutofit/>
          </a:bodyPr>
          <a:lstStyle/>
          <a:p>
            <a:pPr marL="342900" indent="-342900"/>
            <a:r>
              <a:rPr lang="en-US" b="1" dirty="0"/>
              <a:t>Eyes</a:t>
            </a:r>
            <a:r>
              <a:rPr lang="en-US" dirty="0"/>
              <a:t>: fundoscopic exam to evaluate for new retinal flame hemorrhages, exudates, or papilledema </a:t>
            </a:r>
            <a:endParaRPr dirty="0"/>
          </a:p>
          <a:p>
            <a:pPr marL="342900" indent="-342900"/>
            <a:r>
              <a:rPr lang="en-US" b="1" dirty="0"/>
              <a:t>CV</a:t>
            </a:r>
            <a:r>
              <a:rPr lang="en-US" dirty="0"/>
              <a:t>: </a:t>
            </a:r>
            <a:endParaRPr dirty="0"/>
          </a:p>
          <a:p>
            <a:pPr marL="782638" lvl="1" indent="-325438"/>
            <a:r>
              <a:rPr lang="en-US" dirty="0"/>
              <a:t>Jugular venous distention</a:t>
            </a:r>
            <a:endParaRPr dirty="0"/>
          </a:p>
          <a:p>
            <a:pPr marL="782638" lvl="1" indent="-325438"/>
            <a:r>
              <a:rPr lang="en-US" dirty="0"/>
              <a:t>Crackles in the lungs (rales) on auscultation </a:t>
            </a:r>
            <a:endParaRPr dirty="0"/>
          </a:p>
          <a:p>
            <a:pPr marL="782638" lvl="1" indent="-325438"/>
            <a:r>
              <a:rPr lang="en-US" dirty="0"/>
              <a:t>Dyspnea/ orthopnea </a:t>
            </a:r>
            <a:endParaRPr dirty="0"/>
          </a:p>
          <a:p>
            <a:pPr marL="782638" lvl="1" indent="-325438"/>
            <a:r>
              <a:rPr lang="en-US" dirty="0"/>
              <a:t>Peripheral edema</a:t>
            </a:r>
            <a:endParaRPr dirty="0"/>
          </a:p>
          <a:p>
            <a:pPr marL="782638" lvl="1" indent="-325438"/>
            <a:r>
              <a:rPr lang="en-US" dirty="0"/>
              <a:t>Acute severe back pain </a:t>
            </a:r>
            <a:endParaRPr dirty="0"/>
          </a:p>
        </p:txBody>
      </p:sp>
      <p:sp>
        <p:nvSpPr>
          <p:cNvPr id="1706" name="Google Shape;1706;p227"/>
          <p:cNvSpPr txBox="1">
            <a:spLocks noGrp="1"/>
          </p:cNvSpPr>
          <p:nvPr>
            <p:ph type="sldNum" idx="12"/>
          </p:nvPr>
        </p:nvSpPr>
        <p:spPr>
          <a:xfrm>
            <a:off x="9448800" y="6356351"/>
            <a:ext cx="762000" cy="365125"/>
          </a:xfrm>
          <a:prstGeom prst="rect">
            <a:avLst/>
          </a:prstGeom>
          <a:noFill/>
          <a:ln>
            <a:noFill/>
          </a:ln>
        </p:spPr>
        <p:txBody>
          <a:bodyPr spcFirstLastPara="1" wrap="square" lIns="91425" tIns="45700" rIns="91425" bIns="45700" anchor="t" anchorCtr="0">
            <a:noAutofit/>
          </a:bodyPr>
          <a:lstStyle/>
          <a:p>
            <a:fld id="{00000000-1234-1234-1234-123412341234}" type="slidenum">
              <a:rPr lang="en-US" sz="1200">
                <a:solidFill>
                  <a:srgbClr val="045C75"/>
                </a:solidFill>
                <a:latin typeface="Constantia"/>
                <a:ea typeface="Constantia"/>
                <a:cs typeface="Constantia"/>
                <a:sym typeface="Constantia"/>
              </a:rPr>
              <a:pPr/>
              <a:t>25</a:t>
            </a:fld>
            <a:endParaRPr sz="1200">
              <a:solidFill>
                <a:srgbClr val="045C75"/>
              </a:solidFill>
              <a:latin typeface="Constantia"/>
              <a:ea typeface="Constantia"/>
              <a:cs typeface="Constantia"/>
              <a:sym typeface="Constantia"/>
            </a:endParaRPr>
          </a:p>
        </p:txBody>
      </p:sp>
      <p:pic>
        <p:nvPicPr>
          <p:cNvPr id="2050" name="Picture 2" descr="a. Asymptomatic jugular vein distention of the patient due to bulky mediastinal lymphadenopathy consistent with superior vena cava syndrome (SVCS).">
            <a:extLst>
              <a:ext uri="{FF2B5EF4-FFF2-40B4-BE49-F238E27FC236}">
                <a16:creationId xmlns:a16="http://schemas.microsoft.com/office/drawing/2014/main" id="{4599A486-7BC9-758B-F426-83004C7DB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0429" y="4483735"/>
            <a:ext cx="3072232" cy="2256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10"/>
        <p:cNvGrpSpPr/>
        <p:nvPr/>
      </p:nvGrpSpPr>
      <p:grpSpPr>
        <a:xfrm>
          <a:off x="0" y="0"/>
          <a:ext cx="0" cy="0"/>
          <a:chOff x="0" y="0"/>
          <a:chExt cx="0" cy="0"/>
        </a:xfrm>
      </p:grpSpPr>
      <p:sp>
        <p:nvSpPr>
          <p:cNvPr id="1711" name="Google Shape;1711;p228"/>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Crisis Exam</a:t>
            </a:r>
            <a:endParaRPr/>
          </a:p>
        </p:txBody>
      </p:sp>
      <p:sp>
        <p:nvSpPr>
          <p:cNvPr id="1712" name="Google Shape;1712;p228"/>
          <p:cNvSpPr txBox="1">
            <a:spLocks noGrp="1"/>
          </p:cNvSpPr>
          <p:nvPr>
            <p:ph type="body" idx="1"/>
          </p:nvPr>
        </p:nvSpPr>
        <p:spPr>
          <a:xfrm>
            <a:off x="662473" y="1066800"/>
            <a:ext cx="11094097" cy="5562600"/>
          </a:xfrm>
          <a:prstGeom prst="rect">
            <a:avLst/>
          </a:prstGeom>
          <a:noFill/>
          <a:ln>
            <a:noFill/>
          </a:ln>
        </p:spPr>
        <p:txBody>
          <a:bodyPr spcFirstLastPara="1" wrap="square" lIns="91425" tIns="45700" rIns="91425" bIns="45700" anchor="t" anchorCtr="0">
            <a:noAutofit/>
          </a:bodyPr>
          <a:lstStyle/>
          <a:p>
            <a:pPr marL="342900" indent="-342900"/>
            <a:r>
              <a:rPr lang="en-US" b="1" dirty="0"/>
              <a:t>CNS</a:t>
            </a:r>
            <a:r>
              <a:rPr lang="en-US" dirty="0"/>
              <a:t> findings: </a:t>
            </a:r>
            <a:endParaRPr dirty="0"/>
          </a:p>
          <a:p>
            <a:pPr marL="782638" lvl="1" indent="-325438"/>
            <a:r>
              <a:rPr lang="en-US" dirty="0"/>
              <a:t>Agitation/ delirium </a:t>
            </a:r>
            <a:endParaRPr dirty="0"/>
          </a:p>
          <a:p>
            <a:pPr marL="782638" lvl="1" indent="-325438"/>
            <a:r>
              <a:rPr lang="en-US" dirty="0"/>
              <a:t>Visual deficits </a:t>
            </a:r>
            <a:endParaRPr dirty="0"/>
          </a:p>
          <a:p>
            <a:pPr marL="782638" lvl="1" indent="-325438"/>
            <a:r>
              <a:rPr lang="en-US" dirty="0"/>
              <a:t>Focal neurologic signs </a:t>
            </a:r>
            <a:endParaRPr dirty="0"/>
          </a:p>
          <a:p>
            <a:pPr marL="782638" lvl="1" indent="-325438"/>
            <a:r>
              <a:rPr lang="en-US" dirty="0"/>
              <a:t>Seizures  </a:t>
            </a:r>
            <a:endParaRPr dirty="0"/>
          </a:p>
          <a:p>
            <a:pPr marL="782638" lvl="1" indent="-325438"/>
            <a:r>
              <a:rPr lang="en-US" dirty="0"/>
              <a:t>N/V may also suggest increased ICP</a:t>
            </a:r>
            <a:endParaRPr dirty="0"/>
          </a:p>
          <a:p>
            <a:pPr marL="457200" lvl="1" indent="0">
              <a:buNone/>
            </a:pPr>
            <a:r>
              <a:rPr lang="en-US" dirty="0"/>
              <a:t> </a:t>
            </a:r>
            <a:endParaRPr dirty="0"/>
          </a:p>
          <a:p>
            <a:pPr marL="342900" indent="-342900"/>
            <a:r>
              <a:rPr lang="en-US" b="1" dirty="0"/>
              <a:t>Abdominal</a:t>
            </a:r>
            <a:r>
              <a:rPr lang="en-US" dirty="0"/>
              <a:t> masses or bruits may be noted.</a:t>
            </a:r>
            <a:endParaRPr dirty="0">
              <a:latin typeface="Constantia"/>
              <a:ea typeface="Constantia"/>
              <a:cs typeface="Constantia"/>
              <a:sym typeface="Constanti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17"/>
        <p:cNvGrpSpPr/>
        <p:nvPr/>
      </p:nvGrpSpPr>
      <p:grpSpPr>
        <a:xfrm>
          <a:off x="0" y="0"/>
          <a:ext cx="0" cy="0"/>
          <a:chOff x="0" y="0"/>
          <a:chExt cx="0" cy="0"/>
        </a:xfrm>
      </p:grpSpPr>
      <p:sp>
        <p:nvSpPr>
          <p:cNvPr id="1718" name="Google Shape;1718;p229"/>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Crisis Work-up</a:t>
            </a:r>
            <a:endParaRPr/>
          </a:p>
        </p:txBody>
      </p:sp>
      <p:sp>
        <p:nvSpPr>
          <p:cNvPr id="1719" name="Google Shape;1719;p229"/>
          <p:cNvSpPr txBox="1">
            <a:spLocks noGrp="1"/>
          </p:cNvSpPr>
          <p:nvPr>
            <p:ph type="body" idx="1"/>
          </p:nvPr>
        </p:nvSpPr>
        <p:spPr>
          <a:xfrm>
            <a:off x="1649730" y="1066800"/>
            <a:ext cx="8865870"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i="1" dirty="0"/>
              <a:t>Serum chemistry panel </a:t>
            </a:r>
            <a:r>
              <a:rPr lang="en-US" dirty="0"/>
              <a:t>to evaluate for a new AKI by looking at the BUN and Cr, as well as the calculated eGFR.</a:t>
            </a:r>
          </a:p>
          <a:p>
            <a:pPr marL="342900" indent="-342900">
              <a:spcBef>
                <a:spcPts val="0"/>
              </a:spcBef>
            </a:pPr>
            <a:endParaRPr dirty="0"/>
          </a:p>
          <a:p>
            <a:pPr marL="342900" indent="-342900"/>
            <a:r>
              <a:rPr lang="en-US" b="1" i="1" dirty="0"/>
              <a:t>Urinalysis (U/A)</a:t>
            </a:r>
            <a:r>
              <a:rPr lang="en-US" dirty="0"/>
              <a:t> to detect hematuria, proteinuria, red blood cells (RBCs) or RBC casts.</a:t>
            </a:r>
          </a:p>
          <a:p>
            <a:pPr marL="0" indent="0">
              <a:buNone/>
            </a:pPr>
            <a:r>
              <a:rPr lang="en-US" dirty="0"/>
              <a:t> </a:t>
            </a:r>
            <a:endParaRPr dirty="0"/>
          </a:p>
          <a:p>
            <a:pPr marL="342900" indent="-342900"/>
            <a:r>
              <a:rPr lang="en-US" b="1" i="1" dirty="0"/>
              <a:t>CBC</a:t>
            </a:r>
            <a:r>
              <a:rPr lang="en-US" dirty="0"/>
              <a:t>, if a new anemia, consider a set of LFTs and a haptoglobin as well as a peripheral blood smear to exclude microangiopathic anemia.</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17">
          <a:extLst>
            <a:ext uri="{FF2B5EF4-FFF2-40B4-BE49-F238E27FC236}">
              <a16:creationId xmlns:a16="http://schemas.microsoft.com/office/drawing/2014/main" id="{DBA8B42B-22FA-2319-3A7F-938469723F50}"/>
            </a:ext>
          </a:extLst>
        </p:cNvPr>
        <p:cNvGrpSpPr/>
        <p:nvPr/>
      </p:nvGrpSpPr>
      <p:grpSpPr>
        <a:xfrm>
          <a:off x="0" y="0"/>
          <a:ext cx="0" cy="0"/>
          <a:chOff x="0" y="0"/>
          <a:chExt cx="0" cy="0"/>
        </a:xfrm>
      </p:grpSpPr>
      <p:sp>
        <p:nvSpPr>
          <p:cNvPr id="1718" name="Google Shape;1718;p229">
            <a:extLst>
              <a:ext uri="{FF2B5EF4-FFF2-40B4-BE49-F238E27FC236}">
                <a16:creationId xmlns:a16="http://schemas.microsoft.com/office/drawing/2014/main" id="{7E341835-A9C7-B2BC-F449-D847CD421C28}"/>
              </a:ext>
            </a:extLst>
          </p:cNvPr>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Crisis Work-up</a:t>
            </a:r>
            <a:endParaRPr/>
          </a:p>
        </p:txBody>
      </p:sp>
      <p:sp>
        <p:nvSpPr>
          <p:cNvPr id="1719" name="Google Shape;1719;p229">
            <a:extLst>
              <a:ext uri="{FF2B5EF4-FFF2-40B4-BE49-F238E27FC236}">
                <a16:creationId xmlns:a16="http://schemas.microsoft.com/office/drawing/2014/main" id="{E9953C4E-979E-7CA9-F01F-8E91718C4048}"/>
              </a:ext>
            </a:extLst>
          </p:cNvPr>
          <p:cNvSpPr txBox="1">
            <a:spLocks noGrp="1"/>
          </p:cNvSpPr>
          <p:nvPr>
            <p:ph type="body" idx="1"/>
          </p:nvPr>
        </p:nvSpPr>
        <p:spPr>
          <a:xfrm>
            <a:off x="541177" y="1066800"/>
            <a:ext cx="11122088" cy="5562600"/>
          </a:xfrm>
          <a:prstGeom prst="rect">
            <a:avLst/>
          </a:prstGeom>
          <a:noFill/>
          <a:ln>
            <a:noFill/>
          </a:ln>
        </p:spPr>
        <p:txBody>
          <a:bodyPr spcFirstLastPara="1" wrap="square" lIns="91425" tIns="45700" rIns="91425" bIns="45700" anchor="t" anchorCtr="0">
            <a:noAutofit/>
          </a:bodyPr>
          <a:lstStyle/>
          <a:p>
            <a:pPr marL="342900" indent="-342900"/>
            <a:r>
              <a:rPr lang="en-US" b="1" i="1" dirty="0"/>
              <a:t>HS troponin </a:t>
            </a:r>
            <a:r>
              <a:rPr lang="en-US" dirty="0"/>
              <a:t>now and in 60-90 minutes, if elevated repeat every 6-8 hours x 2.</a:t>
            </a:r>
          </a:p>
          <a:p>
            <a:pPr marL="342900" indent="-342900"/>
            <a:endParaRPr dirty="0"/>
          </a:p>
          <a:p>
            <a:pPr marL="342900" indent="-342900"/>
            <a:r>
              <a:rPr lang="en-US" dirty="0"/>
              <a:t>Obtain a urine toxicology screen, pregnancy test, and consider endocrine testing if suspicious.</a:t>
            </a:r>
          </a:p>
          <a:p>
            <a:pPr marL="0" indent="0">
              <a:buNone/>
            </a:pPr>
            <a:r>
              <a:rPr lang="en-US" dirty="0"/>
              <a:t> </a:t>
            </a:r>
            <a:endParaRPr dirty="0"/>
          </a:p>
          <a:p>
            <a:pPr marL="342900" indent="-342900"/>
            <a:r>
              <a:rPr lang="en-US" b="1" i="1" dirty="0"/>
              <a:t>Imaging</a:t>
            </a:r>
            <a:r>
              <a:rPr lang="en-US" dirty="0"/>
              <a:t> should be directed by the patient’s clinical presentation.  Consider a CXR, if dyspnea or chest pain.  Perform a non-contrast CT head for AMS or neurologic changes.</a:t>
            </a:r>
            <a:endParaRPr sz="2900" dirty="0">
              <a:latin typeface="Constantia"/>
              <a:ea typeface="Constantia"/>
              <a:cs typeface="Constantia"/>
              <a:sym typeface="Constantia"/>
            </a:endParaRPr>
          </a:p>
        </p:txBody>
      </p:sp>
    </p:spTree>
    <p:extLst>
      <p:ext uri="{BB962C8B-B14F-4D97-AF65-F5344CB8AC3E}">
        <p14:creationId xmlns:p14="http://schemas.microsoft.com/office/powerpoint/2010/main" val="4142267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09"/>
        <p:cNvGrpSpPr/>
        <p:nvPr/>
      </p:nvGrpSpPr>
      <p:grpSpPr>
        <a:xfrm>
          <a:off x="0" y="0"/>
          <a:ext cx="0" cy="0"/>
          <a:chOff x="0" y="0"/>
          <a:chExt cx="0" cy="0"/>
        </a:xfrm>
      </p:grpSpPr>
      <p:sp>
        <p:nvSpPr>
          <p:cNvPr id="1910" name="Google Shape;1910;p250"/>
          <p:cNvSpPr txBox="1">
            <a:spLocks noGrp="1"/>
          </p:cNvSpPr>
          <p:nvPr>
            <p:ph type="title"/>
          </p:nvPr>
        </p:nvSpPr>
        <p:spPr>
          <a:xfrm>
            <a:off x="1600200" y="76200"/>
            <a:ext cx="8915400" cy="838200"/>
          </a:xfrm>
          <a:prstGeom prst="rect">
            <a:avLst/>
          </a:prstGeom>
          <a:noFill/>
          <a:ln>
            <a:noFill/>
          </a:ln>
        </p:spPr>
        <p:txBody>
          <a:bodyPr spcFirstLastPara="1" wrap="square" lIns="50800" tIns="50800" rIns="50800" bIns="50800" anchor="ctr" anchorCtr="0">
            <a:noAutofit/>
          </a:bodyPr>
          <a:lstStyle/>
          <a:p>
            <a:r>
              <a:rPr lang="en-US" dirty="0"/>
              <a:t>Hypertensive Management</a:t>
            </a:r>
            <a:endParaRPr dirty="0"/>
          </a:p>
        </p:txBody>
      </p:sp>
      <p:sp>
        <p:nvSpPr>
          <p:cNvPr id="1911" name="Google Shape;1911;p250"/>
          <p:cNvSpPr txBox="1">
            <a:spLocks noGrp="1"/>
          </p:cNvSpPr>
          <p:nvPr>
            <p:ph type="body" idx="1"/>
          </p:nvPr>
        </p:nvSpPr>
        <p:spPr>
          <a:xfrm>
            <a:off x="679174" y="1066800"/>
            <a:ext cx="10833651" cy="5715000"/>
          </a:xfrm>
          <a:prstGeom prst="rect">
            <a:avLst/>
          </a:prstGeom>
          <a:noFill/>
          <a:ln>
            <a:noFill/>
          </a:ln>
        </p:spPr>
        <p:txBody>
          <a:bodyPr spcFirstLastPara="1" wrap="square" lIns="50800" tIns="50800" rIns="50800" bIns="50800" anchor="t" anchorCtr="0">
            <a:noAutofit/>
          </a:bodyPr>
          <a:lstStyle/>
          <a:p>
            <a:pPr marL="0" indent="0">
              <a:spcBef>
                <a:spcPts val="0"/>
              </a:spcBef>
              <a:buNone/>
            </a:pPr>
            <a:r>
              <a:rPr lang="en-US" dirty="0"/>
              <a:t>Our concern stems from two competing concerns:</a:t>
            </a:r>
            <a:endParaRPr dirty="0"/>
          </a:p>
          <a:p>
            <a:pPr marL="342900" indent="-342900"/>
            <a:r>
              <a:rPr lang="en-US" dirty="0"/>
              <a:t>The potential risk of imminent CV events (aortic dissection, stroke, MI, AKI) that may result from severe hypertension if the blood pressure is not quickly and sufficiently reduced.</a:t>
            </a:r>
            <a:endParaRPr dirty="0"/>
          </a:p>
          <a:p>
            <a:pPr marL="0" indent="0">
              <a:buNone/>
            </a:pPr>
            <a:r>
              <a:rPr lang="en-US" dirty="0"/>
              <a:t>			vs</a:t>
            </a:r>
            <a:endParaRPr dirty="0"/>
          </a:p>
          <a:p>
            <a:pPr marL="342900" indent="-342900"/>
            <a:r>
              <a:rPr lang="en-US" dirty="0"/>
              <a:t>The risk of adverse events (stroke, MI, AKI) that may occur if the blood pressure is lowered too rapidly or to a level below the ability for autoregulation to maintain adequate tissue perfusion. </a:t>
            </a:r>
            <a:endParaRPr dirty="0"/>
          </a:p>
          <a:p>
            <a:pPr marL="0" indent="0">
              <a:buNone/>
            </a:pPr>
            <a:endParaRPr i="1" dirty="0"/>
          </a:p>
        </p:txBody>
      </p:sp>
    </p:spTree>
    <p:extLst>
      <p:ext uri="{BB962C8B-B14F-4D97-AF65-F5344CB8AC3E}">
        <p14:creationId xmlns:p14="http://schemas.microsoft.com/office/powerpoint/2010/main" val="1862583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15"/>
        <p:cNvGrpSpPr/>
        <p:nvPr/>
      </p:nvGrpSpPr>
      <p:grpSpPr>
        <a:xfrm>
          <a:off x="0" y="0"/>
          <a:ext cx="0" cy="0"/>
          <a:chOff x="0" y="0"/>
          <a:chExt cx="0" cy="0"/>
        </a:xfrm>
      </p:grpSpPr>
      <p:sp>
        <p:nvSpPr>
          <p:cNvPr id="1916" name="Google Shape;1916;p251"/>
          <p:cNvSpPr txBox="1">
            <a:spLocks noGrp="1"/>
          </p:cNvSpPr>
          <p:nvPr>
            <p:ph type="title"/>
          </p:nvPr>
        </p:nvSpPr>
        <p:spPr>
          <a:xfrm>
            <a:off x="1600200" y="76200"/>
            <a:ext cx="8915400" cy="838200"/>
          </a:xfrm>
          <a:prstGeom prst="rect">
            <a:avLst/>
          </a:prstGeom>
          <a:noFill/>
          <a:ln>
            <a:noFill/>
          </a:ln>
        </p:spPr>
        <p:txBody>
          <a:bodyPr spcFirstLastPara="1" wrap="square" lIns="50800" tIns="50800" rIns="50800" bIns="50800" anchor="ctr" anchorCtr="0">
            <a:noAutofit/>
          </a:bodyPr>
          <a:lstStyle/>
          <a:p>
            <a:r>
              <a:rPr lang="en-US"/>
              <a:t>Hypertensive Urgency Management</a:t>
            </a:r>
            <a:endParaRPr/>
          </a:p>
        </p:txBody>
      </p:sp>
      <p:sp>
        <p:nvSpPr>
          <p:cNvPr id="1917" name="Google Shape;1917;p251"/>
          <p:cNvSpPr txBox="1">
            <a:spLocks noGrp="1"/>
          </p:cNvSpPr>
          <p:nvPr>
            <p:ph type="body" idx="1"/>
          </p:nvPr>
        </p:nvSpPr>
        <p:spPr>
          <a:xfrm>
            <a:off x="655983" y="1066800"/>
            <a:ext cx="10634869" cy="57150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Studies have revealed, that hypertensive urgency patients who present to an ambulatory setting (urgent care, office) do NOT need to be sent to the ER for evaluation and management and should instead be lowered in the outpatient setting. </a:t>
            </a:r>
            <a:endParaRPr dirty="0"/>
          </a:p>
          <a:p>
            <a:pPr marL="342900" indent="-139700">
              <a:buNone/>
            </a:pPr>
            <a:endParaRPr dirty="0"/>
          </a:p>
          <a:p>
            <a:pPr marL="342900" indent="-342900"/>
            <a:r>
              <a:rPr lang="en-US" dirty="0"/>
              <a:t>Elderly patients are at particular risk of complications if the BP is lowered precipitously.</a:t>
            </a:r>
            <a:endParaRPr dirty="0"/>
          </a:p>
        </p:txBody>
      </p:sp>
    </p:spTree>
    <p:extLst>
      <p:ext uri="{BB962C8B-B14F-4D97-AF65-F5344CB8AC3E}">
        <p14:creationId xmlns:p14="http://schemas.microsoft.com/office/powerpoint/2010/main" val="1303128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38"/>
        <p:cNvGrpSpPr/>
        <p:nvPr/>
      </p:nvGrpSpPr>
      <p:grpSpPr>
        <a:xfrm>
          <a:off x="0" y="0"/>
          <a:ext cx="0" cy="0"/>
          <a:chOff x="0" y="0"/>
          <a:chExt cx="0" cy="0"/>
        </a:xfrm>
      </p:grpSpPr>
      <p:sp>
        <p:nvSpPr>
          <p:cNvPr id="1739" name="Google Shape;1739;p232"/>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dirty="0"/>
              <a:t>Hypertensive Urgency Treatment</a:t>
            </a:r>
            <a:endParaRPr dirty="0"/>
          </a:p>
        </p:txBody>
      </p:sp>
      <p:sp>
        <p:nvSpPr>
          <p:cNvPr id="1740" name="Google Shape;1740;p232"/>
          <p:cNvSpPr txBox="1">
            <a:spLocks noGrp="1"/>
          </p:cNvSpPr>
          <p:nvPr>
            <p:ph type="body" idx="1"/>
          </p:nvPr>
        </p:nvSpPr>
        <p:spPr>
          <a:xfrm>
            <a:off x="755780" y="1066800"/>
            <a:ext cx="10758196" cy="569912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dirty="0"/>
              <a:t>Just placing the patient in a quiet room to rest for 30min can cause BP to fall ≥ 20/10mmHg in 1/3</a:t>
            </a:r>
            <a:r>
              <a:rPr lang="en-US" sz="2800" baseline="30000" dirty="0"/>
              <a:t>rd</a:t>
            </a:r>
            <a:r>
              <a:rPr lang="en-US" sz="2800" dirty="0"/>
              <a:t> of patients. </a:t>
            </a:r>
          </a:p>
          <a:p>
            <a:pPr marL="0" indent="0">
              <a:spcBef>
                <a:spcPts val="0"/>
              </a:spcBef>
              <a:buNone/>
            </a:pPr>
            <a:endParaRPr sz="2800" dirty="0"/>
          </a:p>
          <a:p>
            <a:pPr marL="342900" indent="-342900"/>
            <a:r>
              <a:rPr lang="en-US" sz="2800" dirty="0"/>
              <a:t>Patients with hypertensive urgency, judged to be at imminent risk of a CV event (known cerebral or aortic aneurysms) should be sent to the ER and can have their BP lowered over a period of 2-4 hours.</a:t>
            </a:r>
          </a:p>
          <a:p>
            <a:pPr marL="1257300" lvl="2" indent="-342900"/>
            <a:r>
              <a:rPr lang="en-US" sz="2800" b="1" dirty="0">
                <a:solidFill>
                  <a:srgbClr val="C00000"/>
                </a:solidFill>
              </a:rPr>
              <a:t>These patients can be treated as if they have hypertensive emergency, and the same medications used</a:t>
            </a:r>
            <a:r>
              <a:rPr lang="en-US" sz="2800" dirty="0">
                <a:solidFill>
                  <a:srgbClr val="C00000"/>
                </a:solidFill>
              </a:rPr>
              <a:t>.</a:t>
            </a:r>
          </a:p>
          <a:p>
            <a:pPr marL="342900" indent="-342900"/>
            <a:r>
              <a:rPr lang="en-US" sz="2800" dirty="0"/>
              <a:t>Those with h/o DM, CAD or prior CVA should be considered for admission as well. </a:t>
            </a:r>
          </a:p>
          <a:p>
            <a:pPr marL="0" indent="0">
              <a:buNone/>
            </a:pP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sp>
        <p:nvSpPr>
          <p:cNvPr id="1732" name="Google Shape;1732;p231"/>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Hypertensive Urgency Treatment</a:t>
            </a:r>
            <a:endParaRPr/>
          </a:p>
        </p:txBody>
      </p:sp>
      <p:sp>
        <p:nvSpPr>
          <p:cNvPr id="1733" name="Google Shape;1733;p231"/>
          <p:cNvSpPr txBox="1">
            <a:spLocks noGrp="1"/>
          </p:cNvSpPr>
          <p:nvPr>
            <p:ph type="body" idx="1"/>
          </p:nvPr>
        </p:nvSpPr>
        <p:spPr>
          <a:xfrm>
            <a:off x="475861" y="1066800"/>
            <a:ext cx="11215395"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dirty="0"/>
              <a:t>If a patient has been non-compliant with previously prescribed and well tolerated treatment, this is restarted- provided that no contraindications exist.</a:t>
            </a:r>
            <a:endParaRPr sz="2800" dirty="0"/>
          </a:p>
          <a:p>
            <a:pPr marL="342900" indent="-215900">
              <a:spcBef>
                <a:spcPts val="0"/>
              </a:spcBef>
              <a:buSzPts val="2000"/>
              <a:buNone/>
            </a:pPr>
            <a:endParaRPr sz="2800" dirty="0"/>
          </a:p>
          <a:p>
            <a:pPr marL="342900" indent="-342900">
              <a:spcBef>
                <a:spcPts val="0"/>
              </a:spcBef>
            </a:pPr>
            <a:r>
              <a:rPr lang="en-US" sz="2800" dirty="0"/>
              <a:t>Salt restriction may also be very helpful.</a:t>
            </a:r>
            <a:endParaRPr sz="2800" dirty="0"/>
          </a:p>
          <a:p>
            <a:pPr marL="342900" indent="-215900">
              <a:spcBef>
                <a:spcPts val="0"/>
              </a:spcBef>
              <a:buSzPts val="2000"/>
              <a:buNone/>
            </a:pPr>
            <a:endParaRPr sz="2800" dirty="0"/>
          </a:p>
          <a:p>
            <a:pPr marL="342900" indent="-342900">
              <a:spcBef>
                <a:spcPts val="0"/>
              </a:spcBef>
            </a:pPr>
            <a:r>
              <a:rPr lang="en-US" sz="2800" dirty="0"/>
              <a:t>Patients with new onset HTN presenting with urgency can be started on appropriate guideline-based therapy-  </a:t>
            </a:r>
            <a:r>
              <a:rPr lang="en-US" sz="2800" u="sng" dirty="0"/>
              <a:t>initiating 2 drugs at modest dosages (ACE or ARB, CCB, thiazide).</a:t>
            </a:r>
          </a:p>
          <a:p>
            <a:pPr marL="342900" indent="-342900">
              <a:spcBef>
                <a:spcPts val="0"/>
              </a:spcBef>
            </a:pPr>
            <a:endParaRPr lang="en-US" sz="2800" dirty="0"/>
          </a:p>
          <a:p>
            <a:pPr marL="342900" indent="-342900">
              <a:spcBef>
                <a:spcPts val="0"/>
              </a:spcBef>
            </a:pPr>
            <a:r>
              <a:rPr lang="en-US" sz="2800" dirty="0"/>
              <a:t>Prompt out-pt follow-up is needed to continue to reduce BP to goal over days to weeks. </a:t>
            </a:r>
            <a:endParaRPr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27"/>
        <p:cNvGrpSpPr/>
        <p:nvPr/>
      </p:nvGrpSpPr>
      <p:grpSpPr>
        <a:xfrm>
          <a:off x="0" y="0"/>
          <a:ext cx="0" cy="0"/>
          <a:chOff x="0" y="0"/>
          <a:chExt cx="0" cy="0"/>
        </a:xfrm>
      </p:grpSpPr>
      <p:sp>
        <p:nvSpPr>
          <p:cNvPr id="1928" name="Google Shape;1928;p253"/>
          <p:cNvSpPr txBox="1">
            <a:spLocks noGrp="1"/>
          </p:cNvSpPr>
          <p:nvPr>
            <p:ph type="title"/>
          </p:nvPr>
        </p:nvSpPr>
        <p:spPr>
          <a:xfrm>
            <a:off x="1600200" y="76200"/>
            <a:ext cx="9710530" cy="838200"/>
          </a:xfrm>
          <a:prstGeom prst="rect">
            <a:avLst/>
          </a:prstGeom>
          <a:noFill/>
          <a:ln>
            <a:noFill/>
          </a:ln>
        </p:spPr>
        <p:txBody>
          <a:bodyPr spcFirstLastPara="1" wrap="square" lIns="50800" tIns="50800" rIns="50800" bIns="50800" anchor="ctr" anchorCtr="0">
            <a:noAutofit/>
          </a:bodyPr>
          <a:lstStyle/>
          <a:p>
            <a:r>
              <a:rPr lang="en-US" dirty="0"/>
              <a:t>Specific Strategies for HTN Urgency</a:t>
            </a:r>
            <a:endParaRPr dirty="0"/>
          </a:p>
        </p:txBody>
      </p:sp>
      <p:sp>
        <p:nvSpPr>
          <p:cNvPr id="1929" name="Google Shape;1929;p253"/>
          <p:cNvSpPr txBox="1">
            <a:spLocks noGrp="1"/>
          </p:cNvSpPr>
          <p:nvPr>
            <p:ph type="body" idx="1"/>
          </p:nvPr>
        </p:nvSpPr>
        <p:spPr>
          <a:xfrm>
            <a:off x="681135" y="1219200"/>
            <a:ext cx="10832841" cy="5562600"/>
          </a:xfrm>
          <a:prstGeom prst="rect">
            <a:avLst/>
          </a:prstGeom>
          <a:noFill/>
          <a:ln>
            <a:noFill/>
          </a:ln>
        </p:spPr>
        <p:txBody>
          <a:bodyPr spcFirstLastPara="1" wrap="square" lIns="50800" tIns="50800" rIns="50800" bIns="50800" anchor="t" anchorCtr="0">
            <a:noAutofit/>
          </a:bodyPr>
          <a:lstStyle/>
          <a:p>
            <a:pPr marL="342900" indent="-342900"/>
            <a:r>
              <a:rPr lang="en-US" b="1" i="1" dirty="0"/>
              <a:t>Within 2-4 hours, the BP should be reduced to less than 160/100, or the MAP reduced by no more than 25-30% over 2-4 hours (whichever is greater)</a:t>
            </a:r>
            <a:r>
              <a:rPr lang="en-US" dirty="0"/>
              <a:t>.  Then over 1-2 weeks the BP is gradually reduced to goal.</a:t>
            </a:r>
          </a:p>
          <a:p>
            <a:pPr marL="342900" indent="-139700">
              <a:buNone/>
            </a:pPr>
            <a:endParaRPr dirty="0"/>
          </a:p>
          <a:p>
            <a:pPr marL="342900" indent="-342900"/>
            <a:r>
              <a:rPr lang="en-US" dirty="0"/>
              <a:t>The patient should be monitored for 1-2 hours to make sure that they don’t develop signs of end organ damage.  Patients can be released as BP comes down but must have close outpatient follow-up established.</a:t>
            </a:r>
            <a:endParaRPr dirty="0"/>
          </a:p>
          <a:p>
            <a:pPr marL="342900" indent="-139700">
              <a:buNone/>
            </a:pPr>
            <a:endParaRPr dirty="0"/>
          </a:p>
        </p:txBody>
      </p:sp>
    </p:spTree>
    <p:extLst>
      <p:ext uri="{BB962C8B-B14F-4D97-AF65-F5344CB8AC3E}">
        <p14:creationId xmlns:p14="http://schemas.microsoft.com/office/powerpoint/2010/main" val="2092837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45"/>
        <p:cNvGrpSpPr/>
        <p:nvPr/>
      </p:nvGrpSpPr>
      <p:grpSpPr>
        <a:xfrm>
          <a:off x="0" y="0"/>
          <a:ext cx="0" cy="0"/>
          <a:chOff x="0" y="0"/>
          <a:chExt cx="0" cy="0"/>
        </a:xfrm>
      </p:grpSpPr>
      <p:sp>
        <p:nvSpPr>
          <p:cNvPr id="1746" name="Google Shape;1746;p233"/>
          <p:cNvSpPr txBox="1">
            <a:spLocks noGrp="1"/>
          </p:cNvSpPr>
          <p:nvPr>
            <p:ph type="title"/>
          </p:nvPr>
        </p:nvSpPr>
        <p:spPr>
          <a:xfrm>
            <a:off x="1981200" y="92076"/>
            <a:ext cx="8902148" cy="898525"/>
          </a:xfrm>
          <a:prstGeom prst="rect">
            <a:avLst/>
          </a:prstGeom>
          <a:noFill/>
          <a:ln>
            <a:noFill/>
          </a:ln>
        </p:spPr>
        <p:txBody>
          <a:bodyPr spcFirstLastPara="1" wrap="square" lIns="50800" tIns="50800" rIns="50800" bIns="50800" anchor="ctr" anchorCtr="0">
            <a:noAutofit/>
          </a:bodyPr>
          <a:lstStyle/>
          <a:p>
            <a:r>
              <a:rPr lang="en-US" dirty="0"/>
              <a:t>Hypertensive Emergency Treatment</a:t>
            </a:r>
            <a:endParaRPr dirty="0"/>
          </a:p>
        </p:txBody>
      </p:sp>
      <p:sp>
        <p:nvSpPr>
          <p:cNvPr id="1747" name="Google Shape;1747;p233"/>
          <p:cNvSpPr txBox="1">
            <a:spLocks noGrp="1"/>
          </p:cNvSpPr>
          <p:nvPr>
            <p:ph type="body" idx="1"/>
          </p:nvPr>
        </p:nvSpPr>
        <p:spPr>
          <a:xfrm>
            <a:off x="554477" y="1066800"/>
            <a:ext cx="11138169" cy="5562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sz="2800" dirty="0"/>
              <a:t>In </a:t>
            </a:r>
            <a:r>
              <a:rPr lang="en-US" sz="2800" b="1" dirty="0"/>
              <a:t>hypertensive emergency</a:t>
            </a:r>
            <a:r>
              <a:rPr lang="en-US" sz="2800" dirty="0"/>
              <a:t>, the treatment guidelines are to </a:t>
            </a:r>
            <a:r>
              <a:rPr lang="en-US" sz="2800" b="1" i="1" dirty="0"/>
              <a:t>reduce the MAP no more than 10-20% over minutes to 1 hour, using IV medications</a:t>
            </a:r>
            <a:r>
              <a:rPr lang="en-US" sz="2800" dirty="0"/>
              <a:t>.  </a:t>
            </a:r>
            <a:endParaRPr sz="2800" dirty="0"/>
          </a:p>
          <a:p>
            <a:pPr marL="342900" indent="-215900">
              <a:spcBef>
                <a:spcPts val="0"/>
              </a:spcBef>
              <a:buSzPts val="2000"/>
              <a:buNone/>
            </a:pPr>
            <a:endParaRPr sz="2800" dirty="0"/>
          </a:p>
          <a:p>
            <a:pPr marL="342900" indent="-342900">
              <a:spcBef>
                <a:spcPts val="0"/>
              </a:spcBef>
            </a:pPr>
            <a:r>
              <a:rPr lang="en-US" sz="2800" dirty="0"/>
              <a:t>Then reduce the MAP another 5-15% (from current BP value) over the next 23 hours in the ICU or stepdown unit under close monitoring with IV meds.</a:t>
            </a:r>
            <a:endParaRPr sz="2800" dirty="0"/>
          </a:p>
          <a:p>
            <a:pPr marL="342900" indent="-215900">
              <a:spcBef>
                <a:spcPts val="0"/>
              </a:spcBef>
              <a:buSzPts val="2000"/>
              <a:buNone/>
            </a:pPr>
            <a:endParaRPr sz="2800" dirty="0"/>
          </a:p>
          <a:p>
            <a:pPr marL="342900" indent="-342900">
              <a:spcBef>
                <a:spcPts val="0"/>
              </a:spcBef>
            </a:pPr>
            <a:r>
              <a:rPr lang="en-US" sz="2800" dirty="0"/>
              <a:t>Over the next days to weeks the BP lowering is continued with oral meds. </a:t>
            </a:r>
          </a:p>
          <a:p>
            <a:pPr marL="342900" indent="-342900">
              <a:spcBef>
                <a:spcPts val="0"/>
              </a:spcBef>
            </a:pPr>
            <a:endParaRPr lang="en-US" sz="2800" dirty="0"/>
          </a:p>
          <a:p>
            <a:pPr marL="342900" indent="-342900">
              <a:spcBef>
                <a:spcPts val="0"/>
              </a:spcBef>
            </a:pPr>
            <a:r>
              <a:rPr lang="en-US" sz="2800" i="1" dirty="0"/>
              <a:t>There are a few exceptions to this rule in which certain processes require a faster reduction or no reduction in BP at all in the first day. (Slide 47-49)</a:t>
            </a:r>
            <a:endParaRPr sz="2800"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234"/>
          <p:cNvSpPr txBox="1">
            <a:spLocks noGrp="1"/>
          </p:cNvSpPr>
          <p:nvPr>
            <p:ph type="title"/>
          </p:nvPr>
        </p:nvSpPr>
        <p:spPr>
          <a:xfrm>
            <a:off x="1752600" y="0"/>
            <a:ext cx="8458200" cy="1143000"/>
          </a:xfrm>
          <a:prstGeom prst="rect">
            <a:avLst/>
          </a:prstGeom>
          <a:noFill/>
          <a:ln>
            <a:noFill/>
          </a:ln>
        </p:spPr>
        <p:txBody>
          <a:bodyPr spcFirstLastPara="1" wrap="square" lIns="50800" tIns="50800" rIns="50800" bIns="50800" anchor="ctr" anchorCtr="0">
            <a:noAutofit/>
          </a:bodyPr>
          <a:lstStyle/>
          <a:p>
            <a:r>
              <a:rPr lang="en-US"/>
              <a:t>Hypertensive Emergency Meds</a:t>
            </a:r>
            <a:endParaRPr/>
          </a:p>
        </p:txBody>
      </p:sp>
      <p:graphicFrame>
        <p:nvGraphicFramePr>
          <p:cNvPr id="1754" name="Google Shape;1754;p234"/>
          <p:cNvGraphicFramePr/>
          <p:nvPr>
            <p:extLst>
              <p:ext uri="{D42A27DB-BD31-4B8C-83A1-F6EECF244321}">
                <p14:modId xmlns:p14="http://schemas.microsoft.com/office/powerpoint/2010/main" val="2494291992"/>
              </p:ext>
            </p:extLst>
          </p:nvPr>
        </p:nvGraphicFramePr>
        <p:xfrm>
          <a:off x="1638300" y="1143000"/>
          <a:ext cx="8801100" cy="5253050"/>
        </p:xfrm>
        <a:graphic>
          <a:graphicData uri="http://schemas.openxmlformats.org/drawingml/2006/table">
            <a:tbl>
              <a:tblPr>
                <a:noFill/>
                <a:tableStyleId>{5CA6CF68-EC4B-4158-8A7C-682902D774E9}</a:tableStyleId>
              </a:tblPr>
              <a:tblGrid>
                <a:gridCol w="1930066">
                  <a:extLst>
                    <a:ext uri="{9D8B030D-6E8A-4147-A177-3AD203B41FA5}">
                      <a16:colId xmlns:a16="http://schemas.microsoft.com/office/drawing/2014/main" val="20000"/>
                    </a:ext>
                  </a:extLst>
                </a:gridCol>
                <a:gridCol w="1621255">
                  <a:extLst>
                    <a:ext uri="{9D8B030D-6E8A-4147-A177-3AD203B41FA5}">
                      <a16:colId xmlns:a16="http://schemas.microsoft.com/office/drawing/2014/main" val="20001"/>
                    </a:ext>
                  </a:extLst>
                </a:gridCol>
                <a:gridCol w="2779447">
                  <a:extLst>
                    <a:ext uri="{9D8B030D-6E8A-4147-A177-3AD203B41FA5}">
                      <a16:colId xmlns:a16="http://schemas.microsoft.com/office/drawing/2014/main" val="20002"/>
                    </a:ext>
                  </a:extLst>
                </a:gridCol>
                <a:gridCol w="2470332">
                  <a:extLst>
                    <a:ext uri="{9D8B030D-6E8A-4147-A177-3AD203B41FA5}">
                      <a16:colId xmlns:a16="http://schemas.microsoft.com/office/drawing/2014/main" val="20003"/>
                    </a:ext>
                  </a:extLst>
                </a:gridCol>
              </a:tblGrid>
              <a:tr h="525125">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Drug</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Dose</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Adverse Effects</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Indications</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extLst>
                  <a:ext uri="{0D108BD9-81ED-4DB2-BD59-A6C34878D82A}">
                    <a16:rowId xmlns:a16="http://schemas.microsoft.com/office/drawing/2014/main" val="10000"/>
                  </a:ext>
                </a:extLst>
              </a:tr>
              <a:tr h="1650750">
                <a:tc>
                  <a:txBody>
                    <a:bodyPr/>
                    <a:lstStyle/>
                    <a:p>
                      <a:pPr marL="0" marR="0" lvl="0" indent="0" algn="ctr" rtl="0">
                        <a:lnSpc>
                          <a:spcPct val="100000"/>
                        </a:lnSpc>
                        <a:spcBef>
                          <a:spcPts val="0"/>
                        </a:spcBef>
                        <a:spcAft>
                          <a:spcPts val="0"/>
                        </a:spcAft>
                        <a:buClr>
                          <a:srgbClr val="000000"/>
                        </a:buClr>
                        <a:buSzPts val="2000"/>
                        <a:buFont typeface="Calibri"/>
                        <a:buNone/>
                      </a:pPr>
                      <a:endParaRPr lang="en-US"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Sodium nitroprusside</a:t>
                      </a:r>
                      <a:endParaRPr dirty="0"/>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1500"/>
                        <a:buFont typeface="Calibri"/>
                        <a:buNone/>
                      </a:pPr>
                      <a:r>
                        <a:rPr lang="en-US" sz="1500" b="0" i="0" u="none" strike="noStrike" cap="none">
                          <a:solidFill>
                            <a:srgbClr val="000000"/>
                          </a:solidFill>
                          <a:latin typeface="Calibri"/>
                          <a:ea typeface="Calibri"/>
                          <a:cs typeface="Calibri"/>
                          <a:sym typeface="Calibri"/>
                        </a:rPr>
                        <a:t>0.25–10 mcg/kg/min intravenous infusion (requires special delivery system)</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Nausea, vomiting, muscle twitching, sweating, thiocyanate and cyanide intoxication</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Most HTN emergencies; caution with high intracranial pressure, azotemia, or in CKD</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1"/>
                  </a:ext>
                </a:extLst>
              </a:tr>
              <a:tr h="1377050">
                <a:tc>
                  <a:txBody>
                    <a:bodyPr/>
                    <a:lstStyle/>
                    <a:p>
                      <a:pPr marL="0" marR="0" lvl="0" indent="0" algn="ctr" rtl="0">
                        <a:lnSpc>
                          <a:spcPct val="100000"/>
                        </a:lnSpc>
                        <a:spcBef>
                          <a:spcPts val="0"/>
                        </a:spcBef>
                        <a:spcAft>
                          <a:spcPts val="0"/>
                        </a:spcAft>
                        <a:buClr>
                          <a:srgbClr val="000000"/>
                        </a:buClr>
                        <a:buSzPts val="2000"/>
                        <a:buFont typeface="Calibri"/>
                        <a:buNone/>
                      </a:pPr>
                      <a:endParaRPr lang="en-US"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Nicardipine hydrochloride</a:t>
                      </a:r>
                      <a:endParaRPr dirty="0"/>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Calibri"/>
                        <a:buNone/>
                      </a:pPr>
                      <a:endParaRPr lang="en-US" sz="15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Calibri"/>
                        <a:buNone/>
                      </a:pPr>
                      <a:r>
                        <a:rPr lang="en-US" sz="1500" b="0" i="0" u="none" strike="noStrike" cap="none" dirty="0">
                          <a:solidFill>
                            <a:srgbClr val="000000"/>
                          </a:solidFill>
                          <a:latin typeface="Calibri"/>
                          <a:ea typeface="Calibri"/>
                          <a:cs typeface="Calibri"/>
                          <a:sym typeface="Calibri"/>
                        </a:rPr>
                        <a:t>5–15 mg/h intravenous</a:t>
                      </a:r>
                      <a:endParaRPr dirty="0"/>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Tachycardia, headache, flushing, local phlebitis</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Most HTN emergencies except acute heart failure; caution with coronary ischemia</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extLst>
                  <a:ext uri="{0D108BD9-81ED-4DB2-BD59-A6C34878D82A}">
                    <a16:rowId xmlns:a16="http://schemas.microsoft.com/office/drawing/2014/main" val="10002"/>
                  </a:ext>
                </a:extLst>
              </a:tr>
              <a:tr h="1700125">
                <a:tc>
                  <a:txBody>
                    <a:bodyPr/>
                    <a:lstStyle/>
                    <a:p>
                      <a:pPr marL="0" marR="0" lvl="0" indent="0" algn="ctr" rtl="0">
                        <a:lnSpc>
                          <a:spcPct val="100000"/>
                        </a:lnSpc>
                        <a:spcBef>
                          <a:spcPts val="0"/>
                        </a:spcBef>
                        <a:spcAft>
                          <a:spcPts val="0"/>
                        </a:spcAft>
                        <a:buClr>
                          <a:srgbClr val="000000"/>
                        </a:buClr>
                        <a:buSzPts val="2000"/>
                        <a:buFont typeface="Calibri"/>
                        <a:buNone/>
                      </a:pPr>
                      <a:endParaRPr lang="en-US"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Esmolol hydrochloride</a:t>
                      </a:r>
                      <a:endParaRPr dirty="0"/>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1500"/>
                        <a:buFont typeface="Calibri"/>
                        <a:buNone/>
                      </a:pPr>
                      <a:endParaRPr lang="en-US" sz="15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Calibri"/>
                        <a:buNone/>
                      </a:pPr>
                      <a:r>
                        <a:rPr lang="en-US" sz="1500" b="0" i="0" u="none" strike="noStrike" cap="none" dirty="0">
                          <a:solidFill>
                            <a:srgbClr val="000000"/>
                          </a:solidFill>
                          <a:latin typeface="Calibri"/>
                          <a:ea typeface="Calibri"/>
                          <a:cs typeface="Calibri"/>
                          <a:sym typeface="Calibri"/>
                        </a:rPr>
                        <a:t>250–500 mcg/kg/min IV bolus, then 50–100 mcg/kg/min infusion</a:t>
                      </a:r>
                      <a:endParaRPr dirty="0"/>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Hypotension, nausea, asthma, first-degree heart block, decompens</a:t>
                      </a:r>
                      <a:r>
                        <a:rPr lang="en-US" sz="2000">
                          <a:latin typeface="Calibri"/>
                          <a:ea typeface="Calibri"/>
                          <a:cs typeface="Calibri"/>
                          <a:sym typeface="Calibri"/>
                        </a:rPr>
                        <a:t>ated HFrEF</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2000"/>
                        <a:buFont typeface="Calibri"/>
                        <a:buNone/>
                      </a:pPr>
                      <a:endParaRPr lang="en-US"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Aortic dissection; perioperative</a:t>
                      </a:r>
                      <a:endParaRPr dirty="0"/>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3"/>
                  </a:ext>
                </a:extLst>
              </a:tr>
            </a:tbl>
          </a:graphicData>
        </a:graphic>
      </p:graphicFrame>
      <p:sp>
        <p:nvSpPr>
          <p:cNvPr id="1756" name="Google Shape;1756;p234"/>
          <p:cNvSpPr/>
          <p:nvPr/>
        </p:nvSpPr>
        <p:spPr>
          <a:xfrm>
            <a:off x="1524000" y="6396038"/>
            <a:ext cx="9144000" cy="461962"/>
          </a:xfrm>
          <a:prstGeom prst="rect">
            <a:avLst/>
          </a:prstGeom>
          <a:noFill/>
          <a:ln>
            <a:noFill/>
          </a:ln>
        </p:spPr>
        <p:txBody>
          <a:bodyPr spcFirstLastPara="1" wrap="square" lIns="91425" tIns="45700" rIns="91425" bIns="45700" anchor="t" anchorCtr="0">
            <a:spAutoFit/>
          </a:bodyPr>
          <a:lstStyle/>
          <a:p>
            <a:r>
              <a:rPr lang="en-US" sz="1200">
                <a:solidFill>
                  <a:schemeClr val="dk1"/>
                </a:solidFill>
                <a:latin typeface="Calibri"/>
                <a:ea typeface="Calibri"/>
                <a:cs typeface="Calibri"/>
                <a:sym typeface="Calibri"/>
              </a:rPr>
              <a:t>DiPiro JT, Talbert RL, Yee GC, Matzke GR, Wells BG, Posey LM: Pharmacotherapy:A Pathophysiologic Approach, 7th Edition: http://www.accesspharmacy.com/</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235"/>
          <p:cNvSpPr txBox="1">
            <a:spLocks noGrp="1"/>
          </p:cNvSpPr>
          <p:nvPr>
            <p:ph type="title"/>
          </p:nvPr>
        </p:nvSpPr>
        <p:spPr>
          <a:xfrm>
            <a:off x="1752600" y="0"/>
            <a:ext cx="8458200" cy="1143000"/>
          </a:xfrm>
          <a:prstGeom prst="rect">
            <a:avLst/>
          </a:prstGeom>
          <a:noFill/>
          <a:ln>
            <a:noFill/>
          </a:ln>
        </p:spPr>
        <p:txBody>
          <a:bodyPr spcFirstLastPara="1" wrap="square" lIns="50800" tIns="50800" rIns="50800" bIns="50800" anchor="ctr" anchorCtr="0">
            <a:noAutofit/>
          </a:bodyPr>
          <a:lstStyle/>
          <a:p>
            <a:r>
              <a:rPr lang="en-US"/>
              <a:t>Hypertensive Emergency Meds</a:t>
            </a:r>
            <a:endParaRPr/>
          </a:p>
        </p:txBody>
      </p:sp>
      <p:graphicFrame>
        <p:nvGraphicFramePr>
          <p:cNvPr id="1762" name="Google Shape;1762;p235"/>
          <p:cNvGraphicFramePr/>
          <p:nvPr>
            <p:extLst>
              <p:ext uri="{D42A27DB-BD31-4B8C-83A1-F6EECF244321}">
                <p14:modId xmlns:p14="http://schemas.microsoft.com/office/powerpoint/2010/main" val="2949282404"/>
              </p:ext>
            </p:extLst>
          </p:nvPr>
        </p:nvGraphicFramePr>
        <p:xfrm>
          <a:off x="1676400" y="1219201"/>
          <a:ext cx="8888730" cy="5000625"/>
        </p:xfrm>
        <a:graphic>
          <a:graphicData uri="http://schemas.openxmlformats.org/drawingml/2006/table">
            <a:tbl>
              <a:tblPr>
                <a:noFill/>
                <a:tableStyleId>{5CA6CF68-EC4B-4158-8A7C-682902D774E9}</a:tableStyleId>
              </a:tblPr>
              <a:tblGrid>
                <a:gridCol w="1674764">
                  <a:extLst>
                    <a:ext uri="{9D8B030D-6E8A-4147-A177-3AD203B41FA5}">
                      <a16:colId xmlns:a16="http://schemas.microsoft.com/office/drawing/2014/main" val="20000"/>
                    </a:ext>
                  </a:extLst>
                </a:gridCol>
                <a:gridCol w="1880728">
                  <a:extLst>
                    <a:ext uri="{9D8B030D-6E8A-4147-A177-3AD203B41FA5}">
                      <a16:colId xmlns:a16="http://schemas.microsoft.com/office/drawing/2014/main" val="20001"/>
                    </a:ext>
                  </a:extLst>
                </a:gridCol>
                <a:gridCol w="3497218">
                  <a:extLst>
                    <a:ext uri="{9D8B030D-6E8A-4147-A177-3AD203B41FA5}">
                      <a16:colId xmlns:a16="http://schemas.microsoft.com/office/drawing/2014/main" val="20002"/>
                    </a:ext>
                  </a:extLst>
                </a:gridCol>
                <a:gridCol w="1836020">
                  <a:extLst>
                    <a:ext uri="{9D8B030D-6E8A-4147-A177-3AD203B41FA5}">
                      <a16:colId xmlns:a16="http://schemas.microsoft.com/office/drawing/2014/main" val="20003"/>
                    </a:ext>
                  </a:extLst>
                </a:gridCol>
              </a:tblGrid>
              <a:tr h="567075">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Drug</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Dose</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Adverse Effects</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500"/>
                        <a:buFont typeface="Calibri"/>
                        <a:buNone/>
                      </a:pPr>
                      <a:r>
                        <a:rPr lang="en-US" sz="2500" b="1" i="0" u="none" strike="noStrike" cap="none">
                          <a:solidFill>
                            <a:srgbClr val="000000"/>
                          </a:solidFill>
                          <a:latin typeface="Calibri"/>
                          <a:ea typeface="Calibri"/>
                          <a:cs typeface="Calibri"/>
                          <a:sym typeface="Calibri"/>
                        </a:rPr>
                        <a:t>Indications</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extLst>
                  <a:ext uri="{0D108BD9-81ED-4DB2-BD59-A6C34878D82A}">
                    <a16:rowId xmlns:a16="http://schemas.microsoft.com/office/drawing/2014/main" val="10000"/>
                  </a:ext>
                </a:extLst>
              </a:tr>
              <a:tr h="1477850">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endParaRPr lang="en-US"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Nitroglycerin</a:t>
                      </a:r>
                      <a:endParaRPr dirty="0"/>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1500"/>
                        <a:buFont typeface="Calibri"/>
                        <a:buNone/>
                      </a:pPr>
                      <a:endParaRPr lang="en-US" sz="15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Calibri"/>
                        <a:buNone/>
                      </a:pPr>
                      <a:endParaRPr lang="en-US" sz="15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Calibri"/>
                        <a:buNone/>
                      </a:pPr>
                      <a:r>
                        <a:rPr lang="en-US" sz="1500" b="0" i="0" u="none" strike="noStrike" cap="none" dirty="0">
                          <a:solidFill>
                            <a:srgbClr val="000000"/>
                          </a:solidFill>
                          <a:latin typeface="Calibri"/>
                          <a:ea typeface="Calibri"/>
                          <a:cs typeface="Calibri"/>
                          <a:sym typeface="Calibri"/>
                        </a:rPr>
                        <a:t>5–100 mcg/min intravenous infusion</a:t>
                      </a:r>
                      <a:endParaRPr dirty="0"/>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Headache, vomiting, methemoglobinemia, tolerance with prolonged use</a:t>
                      </a:r>
                      <a:endParaRPr/>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Coronary ischemia and heart failure</a:t>
                      </a:r>
                      <a:endParaRPr dirty="0"/>
                    </a:p>
                  </a:txBody>
                  <a:tcPr marL="8875" marR="8875"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1"/>
                  </a:ext>
                </a:extLst>
              </a:tr>
              <a:tr h="1111250">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Hydralazine hydrochloride</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Calibri"/>
                        <a:buNone/>
                      </a:pPr>
                      <a:endParaRPr lang="en-US" sz="15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Calibri"/>
                        <a:buNone/>
                      </a:pPr>
                      <a:r>
                        <a:rPr lang="en-US" sz="1500" b="0" i="0" u="none" strike="noStrike" cap="none" dirty="0">
                          <a:solidFill>
                            <a:srgbClr val="000000"/>
                          </a:solidFill>
                          <a:latin typeface="Calibri"/>
                          <a:ea typeface="Calibri"/>
                          <a:cs typeface="Calibri"/>
                          <a:sym typeface="Calibri"/>
                        </a:rPr>
                        <a:t>10–20 mg intravenous</a:t>
                      </a:r>
                      <a:endParaRPr dirty="0"/>
                    </a:p>
                    <a:p>
                      <a:pPr marL="0" marR="0" lvl="0" indent="0" algn="ctr" rtl="0">
                        <a:lnSpc>
                          <a:spcPct val="100000"/>
                        </a:lnSpc>
                        <a:spcBef>
                          <a:spcPts val="0"/>
                        </a:spcBef>
                        <a:spcAft>
                          <a:spcPts val="0"/>
                        </a:spcAft>
                        <a:buClr>
                          <a:srgbClr val="000000"/>
                        </a:buClr>
                        <a:buSzPts val="1500"/>
                        <a:buFont typeface="Calibri"/>
                        <a:buNone/>
                      </a:pPr>
                      <a:r>
                        <a:rPr lang="en-US" sz="1500" b="0" i="0" u="none" strike="noStrike" cap="none" dirty="0">
                          <a:solidFill>
                            <a:srgbClr val="000000"/>
                          </a:solidFill>
                          <a:latin typeface="Calibri"/>
                          <a:ea typeface="Calibri"/>
                          <a:cs typeface="Calibri"/>
                          <a:sym typeface="Calibri"/>
                        </a:rPr>
                        <a:t>10–50 mg intramuscular</a:t>
                      </a:r>
                      <a:endParaRPr dirty="0"/>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Tachycardia, flushing, headache vomiting, aggravation of angina</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Eclampsia</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extLst>
                  <a:ext uri="{0D108BD9-81ED-4DB2-BD59-A6C34878D82A}">
                    <a16:rowId xmlns:a16="http://schemas.microsoft.com/office/drawing/2014/main" val="10002"/>
                  </a:ext>
                </a:extLst>
              </a:tr>
              <a:tr h="1844450">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endParaRPr lang="en-US" sz="20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Labetalol hydrochloride</a:t>
                      </a:r>
                      <a:endParaRPr dirty="0"/>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1500"/>
                        <a:buFont typeface="Calibri"/>
                        <a:buNone/>
                      </a:pPr>
                      <a:endParaRPr lang="en-US" sz="15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Calibri"/>
                        <a:buNone/>
                      </a:pPr>
                      <a:endParaRPr lang="en-US" sz="15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Calibri"/>
                        <a:buNone/>
                      </a:pPr>
                      <a:r>
                        <a:rPr lang="en-US" sz="1500" b="0" i="0" u="none" strike="noStrike" cap="none" dirty="0">
                          <a:solidFill>
                            <a:srgbClr val="000000"/>
                          </a:solidFill>
                          <a:latin typeface="Calibri"/>
                          <a:ea typeface="Calibri"/>
                          <a:cs typeface="Calibri"/>
                          <a:sym typeface="Calibri"/>
                        </a:rPr>
                        <a:t>20–80 mg intravenous bolus every 10 min; 0.5–2.0 mg/min intravenous infusion</a:t>
                      </a:r>
                      <a:endParaRPr dirty="0"/>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Vomiting, scalp tingling, bronchoconstriction, dizziness, nausea, heart block, orthostatic hypotension</a:t>
                      </a:r>
                      <a:endParaRPr/>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ctr"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Most hypertensive emergencies except acute heart failure</a:t>
                      </a:r>
                      <a:endParaRPr dirty="0"/>
                    </a:p>
                  </a:txBody>
                  <a:tcPr marL="9350" marR="9350" marT="9525" marB="0">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3"/>
                  </a:ext>
                </a:extLst>
              </a:tr>
            </a:tbl>
          </a:graphicData>
        </a:graphic>
      </p:graphicFrame>
      <p:sp>
        <p:nvSpPr>
          <p:cNvPr id="1764" name="Google Shape;1764;p235"/>
          <p:cNvSpPr/>
          <p:nvPr/>
        </p:nvSpPr>
        <p:spPr>
          <a:xfrm>
            <a:off x="1524000" y="6396038"/>
            <a:ext cx="9144000" cy="461962"/>
          </a:xfrm>
          <a:prstGeom prst="rect">
            <a:avLst/>
          </a:prstGeom>
          <a:noFill/>
          <a:ln>
            <a:noFill/>
          </a:ln>
        </p:spPr>
        <p:txBody>
          <a:bodyPr spcFirstLastPara="1" wrap="square" lIns="91425" tIns="45700" rIns="91425" bIns="45700" anchor="t" anchorCtr="0">
            <a:spAutoFit/>
          </a:bodyPr>
          <a:lstStyle/>
          <a:p>
            <a:r>
              <a:rPr lang="en-US" sz="1200">
                <a:solidFill>
                  <a:schemeClr val="dk1"/>
                </a:solidFill>
                <a:latin typeface="Calibri"/>
                <a:ea typeface="Calibri"/>
                <a:cs typeface="Calibri"/>
                <a:sym typeface="Calibri"/>
              </a:rPr>
              <a:t>DiPiro JT, Talbert RL, Yee GC, Matzke GR, Wells BG, Posey LM: Pharmacotherapy:A Pathophysiologic Approach, 7th Edition: http://www.accesspharmacy.com/</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sp>
        <p:nvSpPr>
          <p:cNvPr id="1769" name="Google Shape;1769;p236"/>
          <p:cNvSpPr txBox="1">
            <a:spLocks noGrp="1"/>
          </p:cNvSpPr>
          <p:nvPr>
            <p:ph type="title"/>
          </p:nvPr>
        </p:nvSpPr>
        <p:spPr>
          <a:xfrm>
            <a:off x="1752600" y="92075"/>
            <a:ext cx="8763000" cy="1187450"/>
          </a:xfrm>
          <a:prstGeom prst="rect">
            <a:avLst/>
          </a:prstGeom>
          <a:noFill/>
          <a:ln>
            <a:noFill/>
          </a:ln>
        </p:spPr>
        <p:txBody>
          <a:bodyPr spcFirstLastPara="1" wrap="square" lIns="50800" tIns="50800" rIns="50800" bIns="50800" anchor="ctr" anchorCtr="0">
            <a:noAutofit/>
          </a:bodyPr>
          <a:lstStyle/>
          <a:p>
            <a:r>
              <a:rPr lang="en-US" dirty="0"/>
              <a:t>Sodium Nitroprusside (</a:t>
            </a:r>
            <a:r>
              <a:rPr lang="en-US" dirty="0" err="1"/>
              <a:t>Nipride</a:t>
            </a:r>
            <a:r>
              <a:rPr lang="en-US" dirty="0"/>
              <a:t>) IV</a:t>
            </a:r>
            <a:endParaRPr dirty="0"/>
          </a:p>
        </p:txBody>
      </p:sp>
      <p:sp>
        <p:nvSpPr>
          <p:cNvPr id="1770" name="Google Shape;1770;p236"/>
          <p:cNvSpPr txBox="1">
            <a:spLocks noGrp="1"/>
          </p:cNvSpPr>
          <p:nvPr>
            <p:ph type="body" idx="1"/>
          </p:nvPr>
        </p:nvSpPr>
        <p:spPr>
          <a:xfrm>
            <a:off x="345233" y="1233450"/>
            <a:ext cx="11523305" cy="5487900"/>
          </a:xfrm>
          <a:prstGeom prst="rect">
            <a:avLst/>
          </a:prstGeom>
          <a:noFill/>
          <a:ln>
            <a:noFill/>
          </a:ln>
        </p:spPr>
        <p:txBody>
          <a:bodyPr spcFirstLastPara="1" wrap="square" lIns="91425" tIns="45700" rIns="91425" bIns="45700" anchor="t" anchorCtr="0">
            <a:noAutofit/>
          </a:bodyPr>
          <a:lstStyle/>
          <a:p>
            <a:r>
              <a:rPr lang="en-US" sz="2800" dirty="0"/>
              <a:t>Dilated in 5% Dextrose</a:t>
            </a:r>
          </a:p>
          <a:p>
            <a:endParaRPr lang="en-US" sz="2800" dirty="0"/>
          </a:p>
          <a:p>
            <a:r>
              <a:rPr lang="en-US" sz="2800" dirty="0"/>
              <a:t>Nitrates Vasodilate</a:t>
            </a:r>
          </a:p>
          <a:p>
            <a:pPr marL="25400" indent="0">
              <a:buNone/>
            </a:pPr>
            <a:endParaRPr lang="en-US" sz="2800" dirty="0"/>
          </a:p>
          <a:p>
            <a:r>
              <a:rPr lang="en-US" sz="2800" dirty="0"/>
              <a:t>Nitroprusside will cause a </a:t>
            </a:r>
            <a:r>
              <a:rPr lang="en-US" sz="2800" b="1" i="1" dirty="0"/>
              <a:t>precipitous drop in BP within 2 minutes</a:t>
            </a:r>
            <a:r>
              <a:rPr lang="en-US" sz="2800" dirty="0"/>
              <a:t> by causing </a:t>
            </a:r>
            <a:r>
              <a:rPr lang="en-US" sz="2800" b="1" i="1" dirty="0"/>
              <a:t>direct venous and arteriolar vasodilation which equates to decreased PVR and venous return, lowering BP</a:t>
            </a:r>
            <a:r>
              <a:rPr lang="en-US" sz="2800" dirty="0"/>
              <a:t>. Nitroprusside </a:t>
            </a:r>
            <a:r>
              <a:rPr lang="en-US" sz="2800" b="1" i="1" dirty="0"/>
              <a:t>raises intracranial pressure </a:t>
            </a:r>
            <a:r>
              <a:rPr lang="en-US" sz="2800" dirty="0"/>
              <a:t>(ICP).</a:t>
            </a:r>
            <a:endParaRPr sz="2800" dirty="0"/>
          </a:p>
          <a:p>
            <a:pPr marL="0" indent="0">
              <a:buNone/>
            </a:pPr>
            <a:endParaRPr sz="2800" dirty="0"/>
          </a:p>
          <a:p>
            <a:r>
              <a:rPr lang="en-US" sz="2800" dirty="0"/>
              <a:t>The medication effect lasts up to 10 minutes</a:t>
            </a:r>
            <a:endParaRPr sz="2800" dirty="0"/>
          </a:p>
          <a:p>
            <a:pPr marL="342900" indent="-215900">
              <a:buSzPts val="2000"/>
              <a:buNone/>
            </a:pPr>
            <a:endParaRPr sz="2000" dirty="0"/>
          </a:p>
          <a:p>
            <a:pPr marL="342900" indent="-279400">
              <a:buSzPts val="1000"/>
              <a:buNone/>
            </a:pPr>
            <a:endParaRPr sz="1000" dirty="0"/>
          </a:p>
          <a:p>
            <a:pPr marL="782638" lvl="1" indent="-261937">
              <a:buSzPts val="1000"/>
              <a:buNone/>
            </a:pPr>
            <a:endParaRPr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75"/>
        <p:cNvGrpSpPr/>
        <p:nvPr/>
      </p:nvGrpSpPr>
      <p:grpSpPr>
        <a:xfrm>
          <a:off x="0" y="0"/>
          <a:ext cx="0" cy="0"/>
          <a:chOff x="0" y="0"/>
          <a:chExt cx="0" cy="0"/>
        </a:xfrm>
      </p:grpSpPr>
      <p:sp>
        <p:nvSpPr>
          <p:cNvPr id="1776" name="Google Shape;1776;gf4cb610f56_0_6"/>
          <p:cNvSpPr txBox="1">
            <a:spLocks noGrp="1"/>
          </p:cNvSpPr>
          <p:nvPr>
            <p:ph type="title"/>
          </p:nvPr>
        </p:nvSpPr>
        <p:spPr>
          <a:xfrm>
            <a:off x="1752600" y="92075"/>
            <a:ext cx="8763000" cy="894514"/>
          </a:xfrm>
          <a:prstGeom prst="rect">
            <a:avLst/>
          </a:prstGeom>
          <a:noFill/>
          <a:ln>
            <a:noFill/>
          </a:ln>
        </p:spPr>
        <p:txBody>
          <a:bodyPr spcFirstLastPara="1" wrap="square" lIns="50800" tIns="50800" rIns="50800" bIns="50800" anchor="ctr" anchorCtr="0">
            <a:noAutofit/>
          </a:bodyPr>
          <a:lstStyle/>
          <a:p>
            <a:r>
              <a:rPr lang="en-US" dirty="0"/>
              <a:t>Sodium Nitroprusside (</a:t>
            </a:r>
            <a:r>
              <a:rPr lang="en-US" dirty="0" err="1"/>
              <a:t>Nipride</a:t>
            </a:r>
            <a:r>
              <a:rPr lang="en-US" dirty="0"/>
              <a:t>) IV</a:t>
            </a:r>
            <a:endParaRPr dirty="0"/>
          </a:p>
        </p:txBody>
      </p:sp>
      <p:sp>
        <p:nvSpPr>
          <p:cNvPr id="1777" name="Google Shape;1777;gf4cb610f56_0_6"/>
          <p:cNvSpPr txBox="1">
            <a:spLocks noGrp="1"/>
          </p:cNvSpPr>
          <p:nvPr>
            <p:ph type="body" idx="1"/>
          </p:nvPr>
        </p:nvSpPr>
        <p:spPr>
          <a:xfrm>
            <a:off x="485192" y="854242"/>
            <a:ext cx="11122090" cy="5867108"/>
          </a:xfrm>
          <a:prstGeom prst="rect">
            <a:avLst/>
          </a:prstGeom>
          <a:noFill/>
          <a:ln>
            <a:noFill/>
          </a:ln>
        </p:spPr>
        <p:txBody>
          <a:bodyPr spcFirstLastPara="1" wrap="square" lIns="91425" tIns="45700" rIns="91425" bIns="45700" anchor="t" anchorCtr="0">
            <a:noAutofit/>
          </a:bodyPr>
          <a:lstStyle/>
          <a:p>
            <a:pPr marL="342900" indent="-342900"/>
            <a:r>
              <a:rPr lang="en-US" dirty="0"/>
              <a:t>Sodium nitroprusside has two major adverse </a:t>
            </a:r>
            <a:r>
              <a:rPr lang="en-US" dirty="0" err="1"/>
              <a:t>rxns</a:t>
            </a:r>
            <a:r>
              <a:rPr lang="en-US" dirty="0"/>
              <a:t>: </a:t>
            </a:r>
            <a:endParaRPr dirty="0"/>
          </a:p>
          <a:p>
            <a:pPr marL="539750" indent="-514350">
              <a:spcBef>
                <a:spcPts val="0"/>
              </a:spcBef>
              <a:buFont typeface="+mj-lt"/>
              <a:buAutoNum type="arabicPeriod"/>
            </a:pPr>
            <a:r>
              <a:rPr lang="en-US" b="1" i="1" dirty="0"/>
              <a:t>Cyanide toxicity</a:t>
            </a:r>
            <a:r>
              <a:rPr lang="en-US" dirty="0"/>
              <a:t>: nitroprusside administration causes large quantities of cyanide to be produced.  Humans have limited ability to clear cyanide, especially if they have renal/liver dz. Treatment sodium thiosulfate</a:t>
            </a:r>
            <a:endParaRPr dirty="0"/>
          </a:p>
          <a:p>
            <a:pPr marL="914400" indent="-457200">
              <a:buFont typeface="+mj-lt"/>
              <a:buAutoNum type="arabicPeriod"/>
            </a:pPr>
            <a:endParaRPr sz="1000" dirty="0"/>
          </a:p>
          <a:p>
            <a:pPr marL="539750" indent="-514350">
              <a:buFont typeface="+mj-lt"/>
              <a:buAutoNum type="arabicPeriod"/>
            </a:pPr>
            <a:r>
              <a:rPr lang="en-US" b="1" i="1" dirty="0"/>
              <a:t>Methemoglobinemia</a:t>
            </a:r>
            <a:r>
              <a:rPr lang="en-US" dirty="0"/>
              <a:t>: Hgb is oxidized from the ferrous (Fe</a:t>
            </a:r>
            <a:r>
              <a:rPr lang="en-US" baseline="30000" dirty="0"/>
              <a:t>2+</a:t>
            </a:r>
            <a:r>
              <a:rPr lang="en-US" dirty="0"/>
              <a:t>) to ferric (Fe</a:t>
            </a:r>
            <a:r>
              <a:rPr lang="en-US" baseline="30000" dirty="0"/>
              <a:t>3+</a:t>
            </a:r>
            <a:r>
              <a:rPr lang="en-US" dirty="0"/>
              <a:t>) state</a:t>
            </a:r>
            <a:r>
              <a:rPr lang="en-US" baseline="30000" dirty="0"/>
              <a:t> </a:t>
            </a:r>
            <a:r>
              <a:rPr lang="en-US" dirty="0"/>
              <a:t>and no longer allows binding of oxygen.  Patients develop cyanosis and can die of hypoxia despite high flow oxygen.  Treatment is methylene blue.</a:t>
            </a:r>
            <a:endParaRPr dirty="0"/>
          </a:p>
          <a:p>
            <a:pPr marL="342900" indent="-215900">
              <a:buSzPts val="2000"/>
              <a:buNone/>
            </a:pPr>
            <a:endParaRPr sz="2000" dirty="0"/>
          </a:p>
          <a:p>
            <a:pPr marL="342900" indent="-279400">
              <a:buSzPts val="1000"/>
              <a:buNone/>
            </a:pPr>
            <a:endParaRPr sz="1000" dirty="0"/>
          </a:p>
          <a:p>
            <a:pPr marL="782637" lvl="1" indent="-261937">
              <a:buSzPts val="1000"/>
              <a:buNone/>
            </a:pPr>
            <a:endParaRPr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96"/>
        <p:cNvGrpSpPr/>
        <p:nvPr/>
      </p:nvGrpSpPr>
      <p:grpSpPr>
        <a:xfrm>
          <a:off x="0" y="0"/>
          <a:ext cx="0" cy="0"/>
          <a:chOff x="0" y="0"/>
          <a:chExt cx="0" cy="0"/>
        </a:xfrm>
      </p:grpSpPr>
      <p:sp>
        <p:nvSpPr>
          <p:cNvPr id="1797" name="Google Shape;1797;gf4cb610f56_0_25"/>
          <p:cNvSpPr txBox="1">
            <a:spLocks noGrp="1"/>
          </p:cNvSpPr>
          <p:nvPr>
            <p:ph type="title"/>
          </p:nvPr>
        </p:nvSpPr>
        <p:spPr>
          <a:xfrm>
            <a:off x="1752600" y="92075"/>
            <a:ext cx="8763000" cy="1187400"/>
          </a:xfrm>
          <a:prstGeom prst="rect">
            <a:avLst/>
          </a:prstGeom>
          <a:noFill/>
          <a:ln>
            <a:noFill/>
          </a:ln>
        </p:spPr>
        <p:txBody>
          <a:bodyPr spcFirstLastPara="1" wrap="square" lIns="50800" tIns="50800" rIns="50800" bIns="50800" anchor="ctr" anchorCtr="0">
            <a:noAutofit/>
          </a:bodyPr>
          <a:lstStyle/>
          <a:p>
            <a:r>
              <a:rPr lang="en-US"/>
              <a:t>Nitroglycerin</a:t>
            </a:r>
            <a:endParaRPr/>
          </a:p>
        </p:txBody>
      </p:sp>
      <p:sp>
        <p:nvSpPr>
          <p:cNvPr id="1798" name="Google Shape;1798;gf4cb610f56_0_25"/>
          <p:cNvSpPr txBox="1">
            <a:spLocks noGrp="1"/>
          </p:cNvSpPr>
          <p:nvPr>
            <p:ph type="body" idx="1"/>
          </p:nvPr>
        </p:nvSpPr>
        <p:spPr>
          <a:xfrm>
            <a:off x="401217" y="1233450"/>
            <a:ext cx="11411338" cy="5487900"/>
          </a:xfrm>
          <a:prstGeom prst="rect">
            <a:avLst/>
          </a:prstGeom>
          <a:noFill/>
          <a:ln>
            <a:noFill/>
          </a:ln>
        </p:spPr>
        <p:txBody>
          <a:bodyPr spcFirstLastPara="1" wrap="square" lIns="91425" tIns="45700" rIns="91425" bIns="45700" anchor="t" anchorCtr="0">
            <a:noAutofit/>
          </a:bodyPr>
          <a:lstStyle/>
          <a:p>
            <a:r>
              <a:rPr lang="en-US" sz="2800" dirty="0"/>
              <a:t>The nitroglycerin IV drip is titratable and </a:t>
            </a:r>
            <a:r>
              <a:rPr lang="en-US" sz="2800" b="1" i="1" dirty="0"/>
              <a:t>works immediately to produce a vasodilatory effect on the peripheral veins</a:t>
            </a:r>
            <a:r>
              <a:rPr lang="en-US" sz="2800" dirty="0"/>
              <a:t> and a lesser effect on the peripheral arteries.</a:t>
            </a:r>
            <a:endParaRPr sz="2800" dirty="0"/>
          </a:p>
          <a:p>
            <a:pPr marL="0" indent="0">
              <a:buNone/>
            </a:pPr>
            <a:endParaRPr sz="2800" dirty="0"/>
          </a:p>
          <a:p>
            <a:r>
              <a:rPr lang="en-US" sz="2800" b="1" i="1" dirty="0"/>
              <a:t>Reduces preload</a:t>
            </a:r>
            <a:r>
              <a:rPr lang="en-US" sz="2800" dirty="0"/>
              <a:t>, with less reduction of afterload, </a:t>
            </a:r>
            <a:r>
              <a:rPr lang="en-US" sz="2800" b="1" i="1" dirty="0"/>
              <a:t>dilates the coronary arteries and improves collateral flow to areas of ischemic myocardium</a:t>
            </a:r>
            <a:r>
              <a:rPr lang="en-US" sz="2800" dirty="0"/>
              <a:t>.</a:t>
            </a:r>
          </a:p>
          <a:p>
            <a:endParaRPr lang="en-US" sz="2800" dirty="0"/>
          </a:p>
          <a:p>
            <a:r>
              <a:rPr lang="en-US" sz="2800" dirty="0"/>
              <a:t>Onset of action 2-5 min</a:t>
            </a:r>
            <a:endParaRPr sz="2800" dirty="0"/>
          </a:p>
          <a:p>
            <a:pPr marL="0" indent="0">
              <a:buNone/>
            </a:pPr>
            <a:endParaRPr sz="2800" dirty="0"/>
          </a:p>
          <a:p>
            <a:r>
              <a:rPr lang="en-US" sz="2800" dirty="0"/>
              <a:t>Antihypertensive effect disappears in 5-10 minutes</a:t>
            </a:r>
            <a:endParaRPr sz="2800" dirty="0"/>
          </a:p>
          <a:p>
            <a:pPr marL="342900" indent="-215900">
              <a:buSzPts val="2000"/>
              <a:buNone/>
            </a:pPr>
            <a:endParaRPr sz="2800" dirty="0"/>
          </a:p>
          <a:p>
            <a:pPr marL="342900" indent="-279400">
              <a:buSzPts val="1000"/>
              <a:buNone/>
            </a:pPr>
            <a:endParaRPr sz="1000" dirty="0"/>
          </a:p>
          <a:p>
            <a:pPr marL="782637" lvl="1" indent="-261937">
              <a:buSzPts val="1000"/>
              <a:buNone/>
            </a:pPr>
            <a:endParaRPr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03"/>
        <p:cNvGrpSpPr/>
        <p:nvPr/>
      </p:nvGrpSpPr>
      <p:grpSpPr>
        <a:xfrm>
          <a:off x="0" y="0"/>
          <a:ext cx="0" cy="0"/>
          <a:chOff x="0" y="0"/>
          <a:chExt cx="0" cy="0"/>
        </a:xfrm>
      </p:grpSpPr>
      <p:sp>
        <p:nvSpPr>
          <p:cNvPr id="1804" name="Google Shape;1804;gf4cb610f56_0_31"/>
          <p:cNvSpPr txBox="1">
            <a:spLocks noGrp="1"/>
          </p:cNvSpPr>
          <p:nvPr>
            <p:ph type="title"/>
          </p:nvPr>
        </p:nvSpPr>
        <p:spPr>
          <a:xfrm>
            <a:off x="1752600" y="92075"/>
            <a:ext cx="8763000" cy="1187400"/>
          </a:xfrm>
          <a:prstGeom prst="rect">
            <a:avLst/>
          </a:prstGeom>
          <a:noFill/>
          <a:ln>
            <a:noFill/>
          </a:ln>
        </p:spPr>
        <p:txBody>
          <a:bodyPr spcFirstLastPara="1" wrap="square" lIns="50800" tIns="50800" rIns="50800" bIns="50800" anchor="ctr" anchorCtr="0">
            <a:noAutofit/>
          </a:bodyPr>
          <a:lstStyle/>
          <a:p>
            <a:r>
              <a:rPr lang="en-US"/>
              <a:t>Nitroglycerin</a:t>
            </a:r>
            <a:endParaRPr/>
          </a:p>
        </p:txBody>
      </p:sp>
      <p:sp>
        <p:nvSpPr>
          <p:cNvPr id="1805" name="Google Shape;1805;gf4cb610f56_0_31"/>
          <p:cNvSpPr txBox="1">
            <a:spLocks noGrp="1"/>
          </p:cNvSpPr>
          <p:nvPr>
            <p:ph type="body" idx="1"/>
          </p:nvPr>
        </p:nvSpPr>
        <p:spPr>
          <a:xfrm>
            <a:off x="587829" y="1203850"/>
            <a:ext cx="10926147" cy="5517600"/>
          </a:xfrm>
          <a:prstGeom prst="rect">
            <a:avLst/>
          </a:prstGeom>
          <a:noFill/>
          <a:ln>
            <a:noFill/>
          </a:ln>
        </p:spPr>
        <p:txBody>
          <a:bodyPr spcFirstLastPara="1" wrap="square" lIns="91425" tIns="45700" rIns="91425" bIns="45700" anchor="t" anchorCtr="0">
            <a:noAutofit/>
          </a:bodyPr>
          <a:lstStyle/>
          <a:p>
            <a:r>
              <a:rPr lang="en-US" dirty="0"/>
              <a:t>Nitroglycerin causes headache, flushing and hypotension</a:t>
            </a:r>
            <a:endParaRPr dirty="0"/>
          </a:p>
          <a:p>
            <a:pPr marL="0" indent="0">
              <a:buNone/>
            </a:pPr>
            <a:endParaRPr sz="1000" dirty="0"/>
          </a:p>
          <a:p>
            <a:r>
              <a:rPr lang="en-US" b="1" i="1" dirty="0"/>
              <a:t>Tachyphylaxis develops within 24-48 hours- </a:t>
            </a:r>
            <a:r>
              <a:rPr lang="en-US" dirty="0"/>
              <a:t>must have a nitrate free interval</a:t>
            </a:r>
            <a:endParaRPr dirty="0"/>
          </a:p>
          <a:p>
            <a:pPr marL="0" indent="0">
              <a:buNone/>
            </a:pPr>
            <a:endParaRPr sz="2000" dirty="0"/>
          </a:p>
          <a:p>
            <a:r>
              <a:rPr lang="en-US" b="1" i="1" dirty="0"/>
              <a:t>Concurrent use with PDE-5 inhibitors </a:t>
            </a:r>
            <a:r>
              <a:rPr lang="en-US" dirty="0"/>
              <a:t>for erectile dysfunction or pulmonary HTN (sildenafil, tadalafil) </a:t>
            </a:r>
            <a:r>
              <a:rPr lang="en-US" b="1" i="1" dirty="0"/>
              <a:t>may cause very severe hypotension.</a:t>
            </a:r>
            <a:endParaRPr b="1" i="1" dirty="0"/>
          </a:p>
          <a:p>
            <a:pPr indent="0">
              <a:buNone/>
            </a:pPr>
            <a:endParaRPr sz="2000" dirty="0"/>
          </a:p>
          <a:p>
            <a:r>
              <a:rPr lang="en-US" dirty="0"/>
              <a:t>May also cause </a:t>
            </a:r>
            <a:r>
              <a:rPr lang="en-US" b="1" i="1" dirty="0"/>
              <a:t>methemoglobinemia.</a:t>
            </a:r>
            <a:endParaRPr b="1" i="1" dirty="0"/>
          </a:p>
          <a:p>
            <a:pPr marL="342900" indent="-215900">
              <a:buSzPts val="2000"/>
              <a:buNone/>
            </a:pPr>
            <a:endParaRPr sz="2000" dirty="0"/>
          </a:p>
          <a:p>
            <a:pPr marL="342900" indent="-279400">
              <a:buSzPts val="1000"/>
              <a:buNone/>
            </a:pPr>
            <a:endParaRPr sz="1000" dirty="0"/>
          </a:p>
          <a:p>
            <a:pPr marL="782637" lvl="1" indent="-261937">
              <a:buSzPts val="1000"/>
              <a:buNone/>
            </a:pPr>
            <a:endParaRPr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82"/>
        <p:cNvGrpSpPr/>
        <p:nvPr/>
      </p:nvGrpSpPr>
      <p:grpSpPr>
        <a:xfrm>
          <a:off x="0" y="0"/>
          <a:ext cx="0" cy="0"/>
          <a:chOff x="0" y="0"/>
          <a:chExt cx="0" cy="0"/>
        </a:xfrm>
      </p:grpSpPr>
      <p:sp>
        <p:nvSpPr>
          <p:cNvPr id="1783" name="Google Shape;1783;gf4cb610f56_0_13"/>
          <p:cNvSpPr txBox="1">
            <a:spLocks noGrp="1"/>
          </p:cNvSpPr>
          <p:nvPr>
            <p:ph type="title"/>
          </p:nvPr>
        </p:nvSpPr>
        <p:spPr>
          <a:xfrm>
            <a:off x="1752600" y="92075"/>
            <a:ext cx="8763000" cy="1187400"/>
          </a:xfrm>
          <a:prstGeom prst="rect">
            <a:avLst/>
          </a:prstGeom>
          <a:noFill/>
          <a:ln>
            <a:noFill/>
          </a:ln>
        </p:spPr>
        <p:txBody>
          <a:bodyPr spcFirstLastPara="1" wrap="square" lIns="50800" tIns="50800" rIns="50800" bIns="50800" anchor="ctr" anchorCtr="0">
            <a:noAutofit/>
          </a:bodyPr>
          <a:lstStyle/>
          <a:p>
            <a:r>
              <a:rPr lang="en-US"/>
              <a:t>Nicardipine (Cardene)</a:t>
            </a:r>
            <a:endParaRPr/>
          </a:p>
        </p:txBody>
      </p:sp>
      <p:sp>
        <p:nvSpPr>
          <p:cNvPr id="1784" name="Google Shape;1784;gf4cb610f56_0_13"/>
          <p:cNvSpPr txBox="1">
            <a:spLocks noGrp="1"/>
          </p:cNvSpPr>
          <p:nvPr>
            <p:ph type="body" idx="1"/>
          </p:nvPr>
        </p:nvSpPr>
        <p:spPr>
          <a:xfrm>
            <a:off x="475861" y="1233450"/>
            <a:ext cx="11019453" cy="5487900"/>
          </a:xfrm>
          <a:prstGeom prst="rect">
            <a:avLst/>
          </a:prstGeom>
          <a:noFill/>
          <a:ln>
            <a:noFill/>
          </a:ln>
        </p:spPr>
        <p:txBody>
          <a:bodyPr spcFirstLastPara="1" wrap="square" lIns="91425" tIns="45700" rIns="91425" bIns="45700" anchor="t" anchorCtr="0">
            <a:noAutofit/>
          </a:bodyPr>
          <a:lstStyle/>
          <a:p>
            <a:r>
              <a:rPr lang="en-US" dirty="0"/>
              <a:t>A dihydropyridine CCB in an IV drip, administered through a large peripheral vein or central line, titrated to a goal BP.</a:t>
            </a:r>
            <a:endParaRPr dirty="0"/>
          </a:p>
          <a:p>
            <a:pPr indent="0">
              <a:buNone/>
            </a:pPr>
            <a:endParaRPr sz="2000" dirty="0"/>
          </a:p>
          <a:p>
            <a:r>
              <a:rPr lang="en-US" b="1" i="1" dirty="0"/>
              <a:t>Lowers BP </a:t>
            </a:r>
            <a:r>
              <a:rPr lang="en-US" dirty="0"/>
              <a:t>by inhibiting peripheral cardiac calcium channels causing </a:t>
            </a:r>
            <a:r>
              <a:rPr lang="en-US" b="1" i="1" dirty="0"/>
              <a:t>vasodilation.  </a:t>
            </a:r>
          </a:p>
          <a:p>
            <a:pPr lvl="2"/>
            <a:r>
              <a:rPr lang="en-US" sz="2800" dirty="0"/>
              <a:t>It can affect cardiac calcium channels causing decreased strength of myocardial contraction. </a:t>
            </a:r>
            <a:endParaRPr sz="2800" dirty="0"/>
          </a:p>
          <a:p>
            <a:pPr indent="0">
              <a:buNone/>
            </a:pPr>
            <a:endParaRPr sz="2000" dirty="0"/>
          </a:p>
          <a:p>
            <a:r>
              <a:rPr lang="en-US" dirty="0" err="1"/>
              <a:t>Cardene</a:t>
            </a:r>
            <a:r>
              <a:rPr lang="en-US" dirty="0"/>
              <a:t> may cause irritation of the vein, so site should be rotated every 12 hours.</a:t>
            </a:r>
            <a:endParaRPr dirty="0"/>
          </a:p>
          <a:p>
            <a:pPr marL="342900" indent="-215900">
              <a:buSzPts val="2000"/>
              <a:buNone/>
            </a:pPr>
            <a:endParaRPr sz="2000" dirty="0"/>
          </a:p>
          <a:p>
            <a:pPr marL="342900" indent="-279400">
              <a:buSzPts val="1000"/>
              <a:buNone/>
            </a:pPr>
            <a:endParaRPr sz="1000" dirty="0"/>
          </a:p>
          <a:p>
            <a:pPr marL="782637" lvl="1" indent="-261937">
              <a:buSzPts val="1000"/>
              <a:buNone/>
            </a:pPr>
            <a:endParaRPr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89"/>
        <p:cNvGrpSpPr/>
        <p:nvPr/>
      </p:nvGrpSpPr>
      <p:grpSpPr>
        <a:xfrm>
          <a:off x="0" y="0"/>
          <a:ext cx="0" cy="0"/>
          <a:chOff x="0" y="0"/>
          <a:chExt cx="0" cy="0"/>
        </a:xfrm>
      </p:grpSpPr>
      <p:sp>
        <p:nvSpPr>
          <p:cNvPr id="1790" name="Google Shape;1790;gf4cb610f56_0_19"/>
          <p:cNvSpPr txBox="1">
            <a:spLocks noGrp="1"/>
          </p:cNvSpPr>
          <p:nvPr>
            <p:ph type="title"/>
          </p:nvPr>
        </p:nvSpPr>
        <p:spPr>
          <a:xfrm>
            <a:off x="1752600" y="92075"/>
            <a:ext cx="8763000" cy="1187400"/>
          </a:xfrm>
          <a:prstGeom prst="rect">
            <a:avLst/>
          </a:prstGeom>
          <a:noFill/>
          <a:ln>
            <a:noFill/>
          </a:ln>
        </p:spPr>
        <p:txBody>
          <a:bodyPr spcFirstLastPara="1" wrap="square" lIns="50800" tIns="50800" rIns="50800" bIns="50800" anchor="ctr" anchorCtr="0">
            <a:noAutofit/>
          </a:bodyPr>
          <a:lstStyle/>
          <a:p>
            <a:r>
              <a:rPr lang="en-US"/>
              <a:t>Nicardipine (Cardene)</a:t>
            </a:r>
            <a:endParaRPr/>
          </a:p>
        </p:txBody>
      </p:sp>
      <p:sp>
        <p:nvSpPr>
          <p:cNvPr id="1791" name="Google Shape;1791;gf4cb610f56_0_19"/>
          <p:cNvSpPr txBox="1">
            <a:spLocks noGrp="1"/>
          </p:cNvSpPr>
          <p:nvPr>
            <p:ph type="body" idx="1"/>
          </p:nvPr>
        </p:nvSpPr>
        <p:spPr>
          <a:xfrm>
            <a:off x="503853" y="1233450"/>
            <a:ext cx="11224727" cy="5487900"/>
          </a:xfrm>
          <a:prstGeom prst="rect">
            <a:avLst/>
          </a:prstGeom>
          <a:noFill/>
          <a:ln>
            <a:noFill/>
          </a:ln>
        </p:spPr>
        <p:txBody>
          <a:bodyPr spcFirstLastPara="1" wrap="square" lIns="91425" tIns="45700" rIns="91425" bIns="45700" anchor="t" anchorCtr="0">
            <a:noAutofit/>
          </a:bodyPr>
          <a:lstStyle/>
          <a:p>
            <a:r>
              <a:rPr lang="en-US" b="1" i="1" dirty="0"/>
              <a:t>Peak BP lowering effect occurs in 1-2 hours </a:t>
            </a:r>
            <a:r>
              <a:rPr lang="en-US" dirty="0"/>
              <a:t>and decreases sharply over 30 minutes after infusion stops but it takes about 50 hours for all the anti-hypertensive effect to resolve.</a:t>
            </a:r>
            <a:endParaRPr dirty="0"/>
          </a:p>
          <a:p>
            <a:pPr marL="0" indent="0">
              <a:buNone/>
            </a:pPr>
            <a:endParaRPr dirty="0"/>
          </a:p>
          <a:p>
            <a:r>
              <a:rPr lang="en-US" dirty="0"/>
              <a:t>Effect is prolonged in kidney disease.</a:t>
            </a:r>
            <a:endParaRPr dirty="0"/>
          </a:p>
          <a:p>
            <a:pPr marL="0" indent="0">
              <a:buNone/>
            </a:pPr>
            <a:endParaRPr dirty="0"/>
          </a:p>
          <a:p>
            <a:r>
              <a:rPr lang="en-US" b="1" i="1" dirty="0"/>
              <a:t>Contraindicated in persons with aortic stenosis, severe ventricular dysfunction (</a:t>
            </a:r>
            <a:r>
              <a:rPr lang="en-US" b="1" i="1" dirty="0" err="1"/>
              <a:t>HFrEF</a:t>
            </a:r>
            <a:r>
              <a:rPr lang="en-US" b="1" i="1" dirty="0"/>
              <a:t>) or hypertrophic cardiomyopathy</a:t>
            </a:r>
            <a:r>
              <a:rPr lang="en-US" dirty="0"/>
              <a:t>.</a:t>
            </a:r>
            <a:endParaRPr dirty="0"/>
          </a:p>
          <a:p>
            <a:pPr marL="342900" indent="-215900">
              <a:buSzPts val="2000"/>
              <a:buNone/>
            </a:pPr>
            <a:endParaRPr sz="2000" dirty="0"/>
          </a:p>
          <a:p>
            <a:pPr marL="342900" indent="-279400">
              <a:buSzPts val="1000"/>
              <a:buNone/>
            </a:pPr>
            <a:endParaRPr sz="1000" dirty="0"/>
          </a:p>
          <a:p>
            <a:pPr marL="782637" lvl="1" indent="-261937">
              <a:buSzPts val="1000"/>
              <a:buNone/>
            </a:pPr>
            <a:endParaRPr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10"/>
        <p:cNvGrpSpPr/>
        <p:nvPr/>
      </p:nvGrpSpPr>
      <p:grpSpPr>
        <a:xfrm>
          <a:off x="0" y="0"/>
          <a:ext cx="0" cy="0"/>
          <a:chOff x="0" y="0"/>
          <a:chExt cx="0" cy="0"/>
        </a:xfrm>
      </p:grpSpPr>
      <p:sp>
        <p:nvSpPr>
          <p:cNvPr id="1811" name="Google Shape;1811;gf4cb610f56_0_0"/>
          <p:cNvSpPr txBox="1">
            <a:spLocks noGrp="1"/>
          </p:cNvSpPr>
          <p:nvPr>
            <p:ph type="title"/>
          </p:nvPr>
        </p:nvSpPr>
        <p:spPr>
          <a:xfrm>
            <a:off x="1752600" y="92075"/>
            <a:ext cx="8763000" cy="1187400"/>
          </a:xfrm>
          <a:prstGeom prst="rect">
            <a:avLst/>
          </a:prstGeom>
          <a:noFill/>
          <a:ln>
            <a:noFill/>
          </a:ln>
        </p:spPr>
        <p:txBody>
          <a:bodyPr spcFirstLastPara="1" wrap="square" lIns="50800" tIns="50800" rIns="50800" bIns="50800" anchor="ctr" anchorCtr="0">
            <a:noAutofit/>
          </a:bodyPr>
          <a:lstStyle/>
          <a:p>
            <a:r>
              <a:rPr lang="en-US"/>
              <a:t>Hypertensive Emergency:</a:t>
            </a:r>
            <a:br>
              <a:rPr lang="en-US"/>
            </a:br>
            <a:r>
              <a:rPr lang="en-US"/>
              <a:t> Treating Cardiac Complications</a:t>
            </a:r>
            <a:endParaRPr/>
          </a:p>
        </p:txBody>
      </p:sp>
      <p:sp>
        <p:nvSpPr>
          <p:cNvPr id="1812" name="Google Shape;1812;gf4cb610f56_0_0"/>
          <p:cNvSpPr txBox="1">
            <a:spLocks noGrp="1"/>
          </p:cNvSpPr>
          <p:nvPr>
            <p:ph type="body" idx="1"/>
          </p:nvPr>
        </p:nvSpPr>
        <p:spPr>
          <a:xfrm>
            <a:off x="419879" y="1447799"/>
            <a:ext cx="11215394" cy="52737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Acute coronary syndromes</a:t>
            </a:r>
            <a:r>
              <a:rPr lang="en-US" dirty="0"/>
              <a:t>, including acute STEMI, NSTEMI and unstable angina.  </a:t>
            </a:r>
            <a:endParaRPr dirty="0"/>
          </a:p>
          <a:p>
            <a:pPr marL="342900" indent="-139700">
              <a:buNone/>
            </a:pPr>
            <a:endParaRPr dirty="0"/>
          </a:p>
          <a:p>
            <a:pPr marL="342900" indent="-342900"/>
            <a:r>
              <a:rPr lang="en-US" dirty="0"/>
              <a:t>Treat if the SBP is &gt;160 mm Hg and/or the DBP is &gt;100 mm Hg. </a:t>
            </a:r>
            <a:r>
              <a:rPr lang="en-US" sz="2000" dirty="0"/>
              <a:t> </a:t>
            </a:r>
            <a:r>
              <a:rPr lang="en-US" b="1" i="1" dirty="0"/>
              <a:t>Nitroglycerin </a:t>
            </a:r>
            <a:r>
              <a:rPr lang="en-US" b="1" i="1" dirty="0" err="1"/>
              <a:t>gtt</a:t>
            </a:r>
            <a:r>
              <a:rPr lang="en-US" b="1" i="1" dirty="0"/>
              <a:t> or IV beta blockers (metoprolol, esmolol) </a:t>
            </a:r>
            <a:r>
              <a:rPr lang="en-US" dirty="0"/>
              <a:t>are the preferred drugs. </a:t>
            </a:r>
            <a:endParaRPr dirty="0"/>
          </a:p>
          <a:p>
            <a:pPr marL="342900" indent="-139700">
              <a:buNone/>
            </a:pPr>
            <a:endParaRPr dirty="0"/>
          </a:p>
          <a:p>
            <a:pPr marL="342900" indent="-342900"/>
            <a:r>
              <a:rPr lang="en-US" dirty="0"/>
              <a:t>Get cardiology involved early and trend troponin, obtain an echocardiogram if not going to the cardiac catheterization lab.</a:t>
            </a:r>
            <a:endParaRPr dirty="0"/>
          </a:p>
          <a:p>
            <a:pPr marL="342900" indent="-215900">
              <a:buSzPts val="2000"/>
              <a:buNone/>
            </a:pPr>
            <a:endParaRPr sz="2000" dirty="0"/>
          </a:p>
          <a:p>
            <a:pPr marL="342900" indent="-279400">
              <a:buSzPts val="1000"/>
              <a:buNone/>
            </a:pPr>
            <a:endParaRPr sz="1000" dirty="0"/>
          </a:p>
          <a:p>
            <a:pPr marL="782637" lvl="1" indent="-261937">
              <a:buSzPts val="1000"/>
              <a:buNone/>
            </a:pPr>
            <a:endParaRPr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17"/>
        <p:cNvGrpSpPr/>
        <p:nvPr/>
      </p:nvGrpSpPr>
      <p:grpSpPr>
        <a:xfrm>
          <a:off x="0" y="0"/>
          <a:ext cx="0" cy="0"/>
          <a:chOff x="0" y="0"/>
          <a:chExt cx="0" cy="0"/>
        </a:xfrm>
      </p:grpSpPr>
      <p:sp>
        <p:nvSpPr>
          <p:cNvPr id="1818" name="Google Shape;1818;p237"/>
          <p:cNvSpPr txBox="1">
            <a:spLocks noGrp="1"/>
          </p:cNvSpPr>
          <p:nvPr>
            <p:ph type="title"/>
          </p:nvPr>
        </p:nvSpPr>
        <p:spPr>
          <a:xfrm>
            <a:off x="1752600" y="92076"/>
            <a:ext cx="8763000" cy="1355725"/>
          </a:xfrm>
          <a:prstGeom prst="rect">
            <a:avLst/>
          </a:prstGeom>
          <a:noFill/>
          <a:ln>
            <a:noFill/>
          </a:ln>
        </p:spPr>
        <p:txBody>
          <a:bodyPr spcFirstLastPara="1" wrap="square" lIns="50800" tIns="50800" rIns="50800" bIns="50800" anchor="ctr" anchorCtr="0">
            <a:noAutofit/>
          </a:bodyPr>
          <a:lstStyle/>
          <a:p>
            <a:r>
              <a:rPr lang="en-US"/>
              <a:t>Hypertensive Emergency:</a:t>
            </a:r>
            <a:br>
              <a:rPr lang="en-US"/>
            </a:br>
            <a:r>
              <a:rPr lang="en-US"/>
              <a:t> Treating Cardiac Complications</a:t>
            </a:r>
            <a:endParaRPr/>
          </a:p>
        </p:txBody>
      </p:sp>
      <p:sp>
        <p:nvSpPr>
          <p:cNvPr id="1819" name="Google Shape;1819;p237"/>
          <p:cNvSpPr txBox="1">
            <a:spLocks noGrp="1"/>
          </p:cNvSpPr>
          <p:nvPr>
            <p:ph type="body" idx="1"/>
          </p:nvPr>
        </p:nvSpPr>
        <p:spPr>
          <a:xfrm>
            <a:off x="401217" y="1600200"/>
            <a:ext cx="11383346" cy="51213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Acute heart failure</a:t>
            </a:r>
            <a:r>
              <a:rPr lang="en-US" dirty="0"/>
              <a:t>, </a:t>
            </a:r>
            <a:r>
              <a:rPr lang="en-US" b="1" dirty="0"/>
              <a:t>goal is a SBP &lt; 140mmHg</a:t>
            </a:r>
            <a:endParaRPr b="1" dirty="0"/>
          </a:p>
          <a:p>
            <a:pPr marL="342900" indent="-342900"/>
            <a:r>
              <a:rPr lang="en-US" dirty="0"/>
              <a:t>A </a:t>
            </a:r>
            <a:r>
              <a:rPr lang="en-US" b="1" i="1" dirty="0"/>
              <a:t>loop diuretic IV is often administered first </a:t>
            </a:r>
            <a:r>
              <a:rPr lang="en-US" dirty="0"/>
              <a:t>if the patient is fluid overloaded to dry the lungs</a:t>
            </a:r>
            <a:endParaRPr dirty="0"/>
          </a:p>
          <a:p>
            <a:pPr marL="342900" indent="-342900"/>
            <a:r>
              <a:rPr lang="en-US" dirty="0"/>
              <a:t>A venous </a:t>
            </a:r>
            <a:r>
              <a:rPr lang="en-US" b="1" i="1" dirty="0"/>
              <a:t>vasodilator</a:t>
            </a:r>
            <a:r>
              <a:rPr lang="en-US" dirty="0"/>
              <a:t>- nitroglycerin is added next, which dilates the coronary arteries as well.</a:t>
            </a:r>
            <a:endParaRPr dirty="0"/>
          </a:p>
          <a:p>
            <a:pPr marL="342900" indent="-279400">
              <a:buSzPts val="1000"/>
              <a:buNone/>
            </a:pPr>
            <a:endParaRPr sz="1000" dirty="0"/>
          </a:p>
          <a:p>
            <a:pPr marL="342900" indent="-342900"/>
            <a:r>
              <a:rPr lang="en-US" u="sng" dirty="0"/>
              <a:t>Drugs to avoid</a:t>
            </a:r>
            <a:r>
              <a:rPr lang="en-US" dirty="0"/>
              <a:t> in acute decompensated </a:t>
            </a:r>
            <a:r>
              <a:rPr lang="en-US" dirty="0" err="1"/>
              <a:t>HFrEF</a:t>
            </a:r>
            <a:r>
              <a:rPr lang="en-US" dirty="0"/>
              <a:t> are:</a:t>
            </a:r>
            <a:endParaRPr dirty="0"/>
          </a:p>
          <a:p>
            <a:pPr marL="782638" lvl="1" indent="-325438">
              <a:buSzPts val="3000"/>
            </a:pPr>
            <a:r>
              <a:rPr lang="en-US" sz="3000" dirty="0"/>
              <a:t>BBs and CCBs: depress cardiac contractility</a:t>
            </a:r>
            <a:endParaRPr dirty="0"/>
          </a:p>
          <a:p>
            <a:pPr marL="782638" lvl="1" indent="-325438">
              <a:buSzPts val="3000"/>
            </a:pPr>
            <a:r>
              <a:rPr lang="en-US" sz="3000" dirty="0"/>
              <a:t>Hydralazine: increases cardiac work by arterial vasodilation </a:t>
            </a:r>
            <a:endParaRPr dirty="0"/>
          </a:p>
          <a:p>
            <a:pPr marL="342900" indent="-139700">
              <a:buNone/>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24"/>
        <p:cNvGrpSpPr/>
        <p:nvPr/>
      </p:nvGrpSpPr>
      <p:grpSpPr>
        <a:xfrm>
          <a:off x="0" y="0"/>
          <a:ext cx="0" cy="0"/>
          <a:chOff x="0" y="0"/>
          <a:chExt cx="0" cy="0"/>
        </a:xfrm>
      </p:grpSpPr>
      <p:sp>
        <p:nvSpPr>
          <p:cNvPr id="1825" name="Google Shape;1825;p238"/>
          <p:cNvSpPr txBox="1">
            <a:spLocks noGrp="1"/>
          </p:cNvSpPr>
          <p:nvPr>
            <p:ph type="title"/>
          </p:nvPr>
        </p:nvSpPr>
        <p:spPr>
          <a:xfrm>
            <a:off x="1752600" y="92076"/>
            <a:ext cx="8763000" cy="1355725"/>
          </a:xfrm>
          <a:prstGeom prst="rect">
            <a:avLst/>
          </a:prstGeom>
          <a:noFill/>
          <a:ln>
            <a:noFill/>
          </a:ln>
        </p:spPr>
        <p:txBody>
          <a:bodyPr spcFirstLastPara="1" wrap="square" lIns="50800" tIns="50800" rIns="50800" bIns="50800" anchor="ctr" anchorCtr="0">
            <a:noAutofit/>
          </a:bodyPr>
          <a:lstStyle/>
          <a:p>
            <a:r>
              <a:rPr lang="en-US"/>
              <a:t>Hypertensive Emergency:</a:t>
            </a:r>
            <a:br>
              <a:rPr lang="en-US"/>
            </a:br>
            <a:r>
              <a:rPr lang="en-US"/>
              <a:t>Treating Sympathetic Over Activity</a:t>
            </a:r>
            <a:endParaRPr/>
          </a:p>
        </p:txBody>
      </p:sp>
      <p:sp>
        <p:nvSpPr>
          <p:cNvPr id="1826" name="Google Shape;1826;p238"/>
          <p:cNvSpPr txBox="1">
            <a:spLocks noGrp="1"/>
          </p:cNvSpPr>
          <p:nvPr>
            <p:ph type="body" idx="1"/>
          </p:nvPr>
        </p:nvSpPr>
        <p:spPr>
          <a:xfrm>
            <a:off x="569167" y="1600200"/>
            <a:ext cx="11066105" cy="516572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Occurs with the following:</a:t>
            </a:r>
            <a:endParaRPr dirty="0"/>
          </a:p>
          <a:p>
            <a:pPr marL="782638" lvl="1" indent="-325438">
              <a:buSzPts val="3000"/>
            </a:pPr>
            <a:r>
              <a:rPr lang="en-US" sz="3000" b="1" dirty="0"/>
              <a:t>Cocaine toxicity </a:t>
            </a:r>
            <a:endParaRPr dirty="0"/>
          </a:p>
          <a:p>
            <a:pPr marL="782638" lvl="1" indent="-325438">
              <a:buSzPts val="3000"/>
            </a:pPr>
            <a:r>
              <a:rPr lang="en-US" sz="3000" b="1" dirty="0"/>
              <a:t>Methamphetamines/ Amphetamines </a:t>
            </a:r>
            <a:r>
              <a:rPr lang="en-US" sz="2800" dirty="0"/>
              <a:t>(Ritalin, Adderall)</a:t>
            </a:r>
            <a:endParaRPr dirty="0"/>
          </a:p>
          <a:p>
            <a:pPr marL="782638" lvl="1" indent="-325438">
              <a:buSzPts val="3000"/>
            </a:pPr>
            <a:r>
              <a:rPr lang="en-US" sz="3000" b="1" dirty="0"/>
              <a:t>Pheochromocytoma</a:t>
            </a:r>
            <a:endParaRPr dirty="0"/>
          </a:p>
          <a:p>
            <a:pPr marL="782638" lvl="1" indent="-325438">
              <a:buSzPts val="3000"/>
            </a:pPr>
            <a:r>
              <a:rPr lang="en-US" sz="3000" b="1" dirty="0"/>
              <a:t>Severe autonomic dysfunction: </a:t>
            </a:r>
            <a:r>
              <a:rPr lang="en-US" sz="3000" dirty="0"/>
              <a:t>cord injury, GBS</a:t>
            </a:r>
            <a:endParaRPr dirty="0"/>
          </a:p>
          <a:p>
            <a:pPr marL="342900" indent="-215900">
              <a:buSzPts val="2000"/>
              <a:buNone/>
            </a:pPr>
            <a:endParaRPr sz="2000" dirty="0"/>
          </a:p>
          <a:p>
            <a:pPr marL="342900" indent="-342900"/>
            <a:r>
              <a:rPr lang="en-US" dirty="0"/>
              <a:t>In these disease states, the sympathetic nervous system is releasing large amounts of catecholamines causing sudden severe HTN</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31"/>
        <p:cNvGrpSpPr/>
        <p:nvPr/>
      </p:nvGrpSpPr>
      <p:grpSpPr>
        <a:xfrm>
          <a:off x="0" y="0"/>
          <a:ext cx="0" cy="0"/>
          <a:chOff x="0" y="0"/>
          <a:chExt cx="0" cy="0"/>
        </a:xfrm>
      </p:grpSpPr>
      <p:sp>
        <p:nvSpPr>
          <p:cNvPr id="1832" name="Google Shape;1832;p239"/>
          <p:cNvSpPr txBox="1">
            <a:spLocks noGrp="1"/>
          </p:cNvSpPr>
          <p:nvPr>
            <p:ph type="title"/>
          </p:nvPr>
        </p:nvSpPr>
        <p:spPr>
          <a:xfrm>
            <a:off x="1752600" y="92076"/>
            <a:ext cx="8763000" cy="1355725"/>
          </a:xfrm>
          <a:prstGeom prst="rect">
            <a:avLst/>
          </a:prstGeom>
          <a:noFill/>
          <a:ln>
            <a:noFill/>
          </a:ln>
        </p:spPr>
        <p:txBody>
          <a:bodyPr spcFirstLastPara="1" wrap="square" lIns="50800" tIns="50800" rIns="50800" bIns="50800" anchor="ctr" anchorCtr="0">
            <a:noAutofit/>
          </a:bodyPr>
          <a:lstStyle/>
          <a:p>
            <a:r>
              <a:rPr lang="en-US"/>
              <a:t>Hypertensive Emergency:</a:t>
            </a:r>
            <a:br>
              <a:rPr lang="en-US"/>
            </a:br>
            <a:r>
              <a:rPr lang="en-US"/>
              <a:t> Treating Sympathetic Over Activity</a:t>
            </a:r>
            <a:endParaRPr/>
          </a:p>
        </p:txBody>
      </p:sp>
      <p:sp>
        <p:nvSpPr>
          <p:cNvPr id="1833" name="Google Shape;1833;p239"/>
          <p:cNvSpPr txBox="1">
            <a:spLocks noGrp="1"/>
          </p:cNvSpPr>
          <p:nvPr>
            <p:ph type="body" idx="1"/>
          </p:nvPr>
        </p:nvSpPr>
        <p:spPr>
          <a:xfrm>
            <a:off x="597159" y="1600200"/>
            <a:ext cx="11112759" cy="51212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In these cases, the patient is quite tachycardic and hypertensive, perhaps with coronary ischemia.</a:t>
            </a:r>
            <a:endParaRPr dirty="0"/>
          </a:p>
          <a:p>
            <a:pPr marL="342900" indent="-342900"/>
            <a:r>
              <a:rPr lang="en-US" dirty="0"/>
              <a:t>However, </a:t>
            </a:r>
            <a:r>
              <a:rPr lang="en-US" b="1" i="1" dirty="0"/>
              <a:t>administration of a beta blocker alone is contraindicated,</a:t>
            </a:r>
            <a:r>
              <a:rPr lang="en-US" dirty="0"/>
              <a:t> since blocking of the beta receptors will result in all the catecholamine binding to the alpha receptors </a:t>
            </a:r>
            <a:r>
              <a:rPr lang="en-US" b="1" i="1" dirty="0"/>
              <a:t>causing unopposed alpha-adrenergic vasoconstriction and a further rise in blood pressure.  </a:t>
            </a:r>
            <a:endParaRPr b="1" i="1" dirty="0"/>
          </a:p>
          <a:p>
            <a:pPr marL="342900" indent="-342900"/>
            <a:r>
              <a:rPr lang="en-US" dirty="0"/>
              <a:t>Block both together with labetalol IV</a:t>
            </a:r>
            <a:endParaRPr dirty="0"/>
          </a:p>
          <a:p>
            <a:pPr marL="342900" indent="-139700">
              <a:buNone/>
            </a:pP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838"/>
        <p:cNvGrpSpPr/>
        <p:nvPr/>
      </p:nvGrpSpPr>
      <p:grpSpPr>
        <a:xfrm>
          <a:off x="0" y="0"/>
          <a:ext cx="0" cy="0"/>
          <a:chOff x="0" y="0"/>
          <a:chExt cx="0" cy="0"/>
        </a:xfrm>
      </p:grpSpPr>
      <p:sp>
        <p:nvSpPr>
          <p:cNvPr id="1839" name="Google Shape;1839;p240"/>
          <p:cNvSpPr txBox="1">
            <a:spLocks noGrp="1"/>
          </p:cNvSpPr>
          <p:nvPr>
            <p:ph type="title"/>
          </p:nvPr>
        </p:nvSpPr>
        <p:spPr>
          <a:xfrm>
            <a:off x="1981200" y="92075"/>
            <a:ext cx="8229600" cy="1263650"/>
          </a:xfrm>
          <a:prstGeom prst="rect">
            <a:avLst/>
          </a:prstGeom>
          <a:noFill/>
          <a:ln>
            <a:noFill/>
          </a:ln>
        </p:spPr>
        <p:txBody>
          <a:bodyPr spcFirstLastPara="1" wrap="square" lIns="50800" tIns="50800" rIns="50800" bIns="50800" anchor="ctr" anchorCtr="0">
            <a:noAutofit/>
          </a:bodyPr>
          <a:lstStyle/>
          <a:p>
            <a:r>
              <a:rPr lang="en-US"/>
              <a:t>Hypertensive Crisis Treatment Exceptions</a:t>
            </a:r>
            <a:endParaRPr/>
          </a:p>
        </p:txBody>
      </p:sp>
      <p:sp>
        <p:nvSpPr>
          <p:cNvPr id="1840" name="Google Shape;1840;p240"/>
          <p:cNvSpPr txBox="1">
            <a:spLocks noGrp="1"/>
          </p:cNvSpPr>
          <p:nvPr>
            <p:ph type="body" idx="1"/>
          </p:nvPr>
        </p:nvSpPr>
        <p:spPr>
          <a:xfrm>
            <a:off x="382555" y="1447800"/>
            <a:ext cx="11374015" cy="51816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A few exceptions exist for treatment of hypertensive emergency.</a:t>
            </a:r>
            <a:endParaRPr dirty="0"/>
          </a:p>
          <a:p>
            <a:pPr marL="342900" indent="-215900">
              <a:buSzPts val="2000"/>
              <a:buNone/>
            </a:pPr>
            <a:endParaRPr sz="2000" dirty="0"/>
          </a:p>
          <a:p>
            <a:pPr marL="342900" indent="-342900"/>
            <a:r>
              <a:rPr lang="en-US" dirty="0"/>
              <a:t>For </a:t>
            </a:r>
            <a:r>
              <a:rPr lang="en-US" b="1" dirty="0"/>
              <a:t>acute</a:t>
            </a:r>
            <a:r>
              <a:rPr lang="en-US" dirty="0"/>
              <a:t> </a:t>
            </a:r>
            <a:r>
              <a:rPr lang="en-US" b="1" dirty="0"/>
              <a:t>ischemic stroke</a:t>
            </a:r>
            <a:r>
              <a:rPr lang="en-US" dirty="0"/>
              <a:t>, treat only if the SBP is ≥ 220 mm Hg and the DBP is ≥ 120 mm Hg: preferred meds are labetalol and nicardipine. </a:t>
            </a:r>
          </a:p>
          <a:p>
            <a:pPr marL="782638" lvl="1" indent="-325438"/>
            <a:r>
              <a:rPr lang="en-US" dirty="0"/>
              <a:t>All others resume home antihypertensive regimen, pending no contraindications, 24-48hr after the stroke</a:t>
            </a:r>
            <a:endParaRPr sz="2000" dirty="0"/>
          </a:p>
          <a:p>
            <a:pPr marL="474662" indent="-457200"/>
            <a:r>
              <a:rPr lang="en-US" dirty="0"/>
              <a:t>For an </a:t>
            </a:r>
            <a:r>
              <a:rPr lang="en-US" b="1" dirty="0"/>
              <a:t>ischemic stroke patient receiving IV or intra-arterial (IA) fibrinolysis with tPA</a:t>
            </a:r>
            <a:r>
              <a:rPr lang="en-US" dirty="0"/>
              <a:t>, goal is &lt;185 and &lt;110 mmHg prior to reperfusion </a:t>
            </a:r>
            <a:r>
              <a:rPr lang="en-US" dirty="0" err="1"/>
              <a:t>tx</a:t>
            </a:r>
            <a:r>
              <a:rPr lang="en-US" dirty="0"/>
              <a:t>. </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60"/>
        <p:cNvGrpSpPr/>
        <p:nvPr/>
      </p:nvGrpSpPr>
      <p:grpSpPr>
        <a:xfrm>
          <a:off x="0" y="0"/>
          <a:ext cx="0" cy="0"/>
          <a:chOff x="0" y="0"/>
          <a:chExt cx="0" cy="0"/>
        </a:xfrm>
      </p:grpSpPr>
      <p:sp>
        <p:nvSpPr>
          <p:cNvPr id="1861" name="Google Shape;1861;p243"/>
          <p:cNvSpPr txBox="1">
            <a:spLocks noGrp="1"/>
          </p:cNvSpPr>
          <p:nvPr>
            <p:ph type="title"/>
          </p:nvPr>
        </p:nvSpPr>
        <p:spPr>
          <a:xfrm>
            <a:off x="1981200" y="92075"/>
            <a:ext cx="8229600" cy="1416050"/>
          </a:xfrm>
          <a:prstGeom prst="rect">
            <a:avLst/>
          </a:prstGeom>
          <a:noFill/>
          <a:ln>
            <a:noFill/>
          </a:ln>
        </p:spPr>
        <p:txBody>
          <a:bodyPr spcFirstLastPara="1" wrap="square" lIns="50800" tIns="50800" rIns="50800" bIns="50800" anchor="ctr" anchorCtr="0">
            <a:noAutofit/>
          </a:bodyPr>
          <a:lstStyle/>
          <a:p>
            <a:r>
              <a:rPr lang="en-US"/>
              <a:t>Hypertensive Crisis Treatment Exceptions</a:t>
            </a:r>
            <a:endParaRPr/>
          </a:p>
        </p:txBody>
      </p:sp>
      <p:sp>
        <p:nvSpPr>
          <p:cNvPr id="1862" name="Google Shape;1862;p243"/>
          <p:cNvSpPr txBox="1">
            <a:spLocks noGrp="1"/>
          </p:cNvSpPr>
          <p:nvPr>
            <p:ph type="body" idx="1"/>
          </p:nvPr>
        </p:nvSpPr>
        <p:spPr>
          <a:xfrm>
            <a:off x="535021" y="1600200"/>
            <a:ext cx="11079805" cy="51212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For </a:t>
            </a:r>
            <a:r>
              <a:rPr lang="en-US" b="1" dirty="0"/>
              <a:t>acute intracerebral hemorrhage or subarachnoid hemorrhage</a:t>
            </a:r>
            <a:r>
              <a:rPr lang="en-US" dirty="0"/>
              <a:t>, determine if increased ICP is present.  </a:t>
            </a:r>
            <a:endParaRPr dirty="0"/>
          </a:p>
          <a:p>
            <a:pPr marL="342900" indent="-342900"/>
            <a:r>
              <a:rPr lang="en-US" dirty="0"/>
              <a:t>Goal BP is a difficult decision to make, with competing interests- why?</a:t>
            </a:r>
            <a:endParaRPr dirty="0"/>
          </a:p>
          <a:p>
            <a:pPr marL="0" indent="0">
              <a:buNone/>
            </a:pPr>
            <a:endParaRPr dirty="0"/>
          </a:p>
          <a:p>
            <a:pPr marL="342900" indent="-342900"/>
            <a:r>
              <a:rPr lang="en-US" dirty="0"/>
              <a:t>Preferred meds are </a:t>
            </a:r>
            <a:r>
              <a:rPr lang="en-US" b="1" i="1" dirty="0"/>
              <a:t>nicardipine (DOC)</a:t>
            </a:r>
            <a:r>
              <a:rPr lang="en-US" dirty="0"/>
              <a:t>, could also use labetalol or esmolol; avoid nitroprusside and hydralazine, usually titrated to a systolic of 160.</a:t>
            </a:r>
            <a:endParaRPr dirty="0"/>
          </a:p>
          <a:p>
            <a:pPr marL="782638" lvl="1" indent="-261937">
              <a:buSzPts val="1000"/>
              <a:buNone/>
            </a:pPr>
            <a:endParaRPr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45"/>
        <p:cNvGrpSpPr/>
        <p:nvPr/>
      </p:nvGrpSpPr>
      <p:grpSpPr>
        <a:xfrm>
          <a:off x="0" y="0"/>
          <a:ext cx="0" cy="0"/>
          <a:chOff x="0" y="0"/>
          <a:chExt cx="0" cy="0"/>
        </a:xfrm>
      </p:grpSpPr>
      <p:sp>
        <p:nvSpPr>
          <p:cNvPr id="1846" name="Google Shape;1846;p241"/>
          <p:cNvSpPr txBox="1">
            <a:spLocks noGrp="1"/>
          </p:cNvSpPr>
          <p:nvPr>
            <p:ph type="title"/>
          </p:nvPr>
        </p:nvSpPr>
        <p:spPr>
          <a:xfrm>
            <a:off x="1981200" y="92076"/>
            <a:ext cx="8229600" cy="1203325"/>
          </a:xfrm>
          <a:prstGeom prst="rect">
            <a:avLst/>
          </a:prstGeom>
          <a:noFill/>
          <a:ln>
            <a:noFill/>
          </a:ln>
        </p:spPr>
        <p:txBody>
          <a:bodyPr spcFirstLastPara="1" wrap="square" lIns="50800" tIns="50800" rIns="50800" bIns="50800" anchor="ctr" anchorCtr="0">
            <a:noAutofit/>
          </a:bodyPr>
          <a:lstStyle/>
          <a:p>
            <a:r>
              <a:rPr lang="en-US"/>
              <a:t>Hypertensive Crisis Treatment Exceptions</a:t>
            </a:r>
            <a:endParaRPr/>
          </a:p>
        </p:txBody>
      </p:sp>
      <p:sp>
        <p:nvSpPr>
          <p:cNvPr id="1847" name="Google Shape;1847;p241"/>
          <p:cNvSpPr txBox="1">
            <a:spLocks noGrp="1"/>
          </p:cNvSpPr>
          <p:nvPr>
            <p:ph type="body" idx="1"/>
          </p:nvPr>
        </p:nvSpPr>
        <p:spPr>
          <a:xfrm>
            <a:off x="774441" y="1600200"/>
            <a:ext cx="10711543" cy="50292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For </a:t>
            </a:r>
            <a:r>
              <a:rPr lang="en-US" b="1" dirty="0"/>
              <a:t>acute aortic dissection</a:t>
            </a:r>
            <a:r>
              <a:rPr lang="en-US" dirty="0"/>
              <a:t>, the goal is to </a:t>
            </a:r>
            <a:r>
              <a:rPr lang="en-US" b="1" i="1" dirty="0"/>
              <a:t>rapidly lower the SBP to 100-120 mm Hg </a:t>
            </a:r>
            <a:r>
              <a:rPr lang="en-US" dirty="0"/>
              <a:t>within 20 min, unless signs of end-organ hypoperfusion occur. </a:t>
            </a:r>
            <a:endParaRPr dirty="0"/>
          </a:p>
          <a:p>
            <a:pPr marL="342900" indent="-222250">
              <a:buSzPts val="1900"/>
              <a:buNone/>
            </a:pPr>
            <a:endParaRPr sz="1900" dirty="0"/>
          </a:p>
          <a:p>
            <a:pPr marL="342900" indent="-342900"/>
            <a:r>
              <a:rPr lang="en-US" dirty="0"/>
              <a:t>Preferred treatment is a combination of:</a:t>
            </a:r>
            <a:endParaRPr dirty="0"/>
          </a:p>
          <a:p>
            <a:pPr marL="782638" lvl="1" indent="-325438"/>
            <a:r>
              <a:rPr lang="en-US" dirty="0"/>
              <a:t>narcotic analgesics (morphine sulfate) </a:t>
            </a:r>
            <a:endParaRPr dirty="0"/>
          </a:p>
          <a:p>
            <a:pPr marL="782638" lvl="1" indent="-325438"/>
            <a:r>
              <a:rPr lang="en-US" dirty="0"/>
              <a:t>beta blockers (esmolol, labetalol) </a:t>
            </a:r>
            <a:endParaRPr dirty="0"/>
          </a:p>
          <a:p>
            <a:pPr marL="782638" lvl="1" indent="-325438"/>
            <a:r>
              <a:rPr lang="en-US" dirty="0"/>
              <a:t>vasodilators (nitroprusside)</a:t>
            </a:r>
            <a:endParaRPr dirty="0"/>
          </a:p>
          <a:p>
            <a:pPr marL="342900" indent="-342900"/>
            <a:r>
              <a:rPr lang="en-US" dirty="0"/>
              <a:t>Then the patient goes to the OR. </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245"/>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Hypertension in Pregnancy</a:t>
            </a:r>
            <a:endParaRPr/>
          </a:p>
        </p:txBody>
      </p:sp>
      <p:sp>
        <p:nvSpPr>
          <p:cNvPr id="1875" name="Google Shape;1875;p245"/>
          <p:cNvSpPr txBox="1">
            <a:spLocks noGrp="1"/>
          </p:cNvSpPr>
          <p:nvPr>
            <p:ph type="body" idx="1"/>
          </p:nvPr>
        </p:nvSpPr>
        <p:spPr>
          <a:xfrm>
            <a:off x="556591" y="1066800"/>
            <a:ext cx="11012557" cy="565467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Most women who become pregnant do not have issues with BP, however, the plasma volume increases to 150% of normal during pregnancy, the RBC volume increases by 30% and CV system is under increased stress.  So HTN can occur in pregnancy.</a:t>
            </a:r>
            <a:endParaRPr dirty="0"/>
          </a:p>
          <a:p>
            <a:pPr marL="342900" indent="-139700">
              <a:buNone/>
            </a:pPr>
            <a:endParaRPr dirty="0"/>
          </a:p>
          <a:p>
            <a:pPr marL="342900" indent="-342900"/>
            <a:r>
              <a:rPr lang="en-US" dirty="0"/>
              <a:t>It is important to differentiate preeclampsia from chronic, transient, &amp; gestational hypertension during pregnancy.</a:t>
            </a:r>
            <a:endParaRPr dirty="0"/>
          </a:p>
          <a:p>
            <a:pPr marL="342900" indent="-247650">
              <a:buSzPts val="1500"/>
              <a:buNone/>
            </a:pPr>
            <a:endParaRPr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80"/>
        <p:cNvGrpSpPr/>
        <p:nvPr/>
      </p:nvGrpSpPr>
      <p:grpSpPr>
        <a:xfrm>
          <a:off x="0" y="0"/>
          <a:ext cx="0" cy="0"/>
          <a:chOff x="0" y="0"/>
          <a:chExt cx="0" cy="0"/>
        </a:xfrm>
      </p:grpSpPr>
      <p:sp>
        <p:nvSpPr>
          <p:cNvPr id="1881" name="Google Shape;1881;p246"/>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Hypertension in Pregnancy</a:t>
            </a:r>
            <a:endParaRPr/>
          </a:p>
        </p:txBody>
      </p:sp>
      <p:sp>
        <p:nvSpPr>
          <p:cNvPr id="1882" name="Google Shape;1882;p246"/>
          <p:cNvSpPr txBox="1">
            <a:spLocks noGrp="1"/>
          </p:cNvSpPr>
          <p:nvPr>
            <p:ph type="body" idx="1"/>
          </p:nvPr>
        </p:nvSpPr>
        <p:spPr>
          <a:xfrm>
            <a:off x="1752600" y="1066800"/>
            <a:ext cx="8686800" cy="5699125"/>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i="1" dirty="0"/>
              <a:t>Chronic hypertension</a:t>
            </a:r>
            <a:r>
              <a:rPr lang="en-US" dirty="0"/>
              <a:t>: </a:t>
            </a:r>
            <a:endParaRPr dirty="0"/>
          </a:p>
          <a:p>
            <a:pPr marL="782638" lvl="1" indent="-325438"/>
            <a:r>
              <a:rPr lang="en-US" dirty="0"/>
              <a:t>Pre-pregnancy hypertension (prior diagnosis) </a:t>
            </a:r>
            <a:endParaRPr dirty="0"/>
          </a:p>
          <a:p>
            <a:pPr marL="782638" lvl="1" indent="-325438"/>
            <a:r>
              <a:rPr lang="en-US" dirty="0"/>
              <a:t>&gt; 140/90 mmHg before 20 weeks’ gestation </a:t>
            </a:r>
            <a:endParaRPr dirty="0"/>
          </a:p>
          <a:p>
            <a:pPr marL="782638" lvl="1" indent="-325438"/>
            <a:r>
              <a:rPr lang="en-US" dirty="0"/>
              <a:t>HTN which persists &gt; 12 weeks postpartum</a:t>
            </a:r>
            <a:endParaRPr dirty="0"/>
          </a:p>
          <a:p>
            <a:pPr marL="342900" indent="-139700">
              <a:buNone/>
            </a:pPr>
            <a:endParaRPr dirty="0"/>
          </a:p>
          <a:p>
            <a:pPr marL="342900" indent="-342900"/>
            <a:r>
              <a:rPr lang="en-US" b="1" i="1" dirty="0"/>
              <a:t>Pregnancy induced hypertension/ gestational hypertension</a:t>
            </a:r>
            <a:r>
              <a:rPr lang="en-US" dirty="0"/>
              <a:t>: </a:t>
            </a:r>
            <a:endParaRPr dirty="0"/>
          </a:p>
          <a:p>
            <a:pPr marL="782638" lvl="1" indent="-325438"/>
            <a:r>
              <a:rPr lang="en-US" dirty="0"/>
              <a:t>&gt; 140/90 after 20 weeks gestation without proteinuria, which resolves by 12 weeks post-partum</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247"/>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Hypertension in Pregnancy</a:t>
            </a:r>
            <a:endParaRPr/>
          </a:p>
        </p:txBody>
      </p:sp>
      <p:sp>
        <p:nvSpPr>
          <p:cNvPr id="1889" name="Google Shape;1889;p247"/>
          <p:cNvSpPr txBox="1">
            <a:spLocks noGrp="1"/>
          </p:cNvSpPr>
          <p:nvPr>
            <p:ph type="body" idx="1"/>
          </p:nvPr>
        </p:nvSpPr>
        <p:spPr>
          <a:xfrm>
            <a:off x="765313" y="1066800"/>
            <a:ext cx="10793896" cy="56388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b="1" dirty="0"/>
              <a:t>Preeclampsia</a:t>
            </a:r>
            <a:r>
              <a:rPr lang="en-US" dirty="0"/>
              <a:t>: hypertension that is either chronic or gestational with placental insufficiency and proteinuria- end organ kidney damage</a:t>
            </a:r>
            <a:endParaRPr dirty="0"/>
          </a:p>
          <a:p>
            <a:pPr marL="782638" lvl="1" indent="-325438"/>
            <a:r>
              <a:rPr lang="en-US" dirty="0"/>
              <a:t>More common in nulliparous women, multiple gestation, in a woman with a h/o HTN or renal disease, family </a:t>
            </a:r>
            <a:r>
              <a:rPr lang="en-US" dirty="0" err="1"/>
              <a:t>hx</a:t>
            </a:r>
            <a:endParaRPr dirty="0"/>
          </a:p>
          <a:p>
            <a:pPr marL="782638" lvl="1" indent="-325438"/>
            <a:r>
              <a:rPr lang="en-US" dirty="0"/>
              <a:t>Restricted activity and possibly bed rest for mom, very close monitoring of the fetus</a:t>
            </a:r>
            <a:endParaRPr dirty="0"/>
          </a:p>
          <a:p>
            <a:pPr marL="782638" lvl="1" indent="-325438"/>
            <a:r>
              <a:rPr lang="en-US" dirty="0"/>
              <a:t>Definitive treatment of preeclampsia is delivery</a:t>
            </a:r>
            <a:endParaRPr dirty="0"/>
          </a:p>
          <a:p>
            <a:pPr marL="342900" indent="-342900"/>
            <a:r>
              <a:rPr lang="en-US" b="1" dirty="0"/>
              <a:t>Eclampsia: </a:t>
            </a:r>
            <a:r>
              <a:rPr lang="en-US" dirty="0"/>
              <a:t>HTN, proteinuria and seizure</a:t>
            </a:r>
            <a:endParaRPr dirty="0"/>
          </a:p>
          <a:p>
            <a:pPr marL="457200" lvl="1" indent="0">
              <a:buSzPts val="1000"/>
              <a:buNone/>
            </a:pPr>
            <a:endParaRPr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248"/>
          <p:cNvSpPr txBox="1">
            <a:spLocks noGrp="1"/>
          </p:cNvSpPr>
          <p:nvPr>
            <p:ph type="title"/>
          </p:nvPr>
        </p:nvSpPr>
        <p:spPr>
          <a:xfrm>
            <a:off x="1981200" y="92076"/>
            <a:ext cx="8229600" cy="898525"/>
          </a:xfrm>
          <a:prstGeom prst="rect">
            <a:avLst/>
          </a:prstGeom>
          <a:noFill/>
          <a:ln>
            <a:noFill/>
          </a:ln>
        </p:spPr>
        <p:txBody>
          <a:bodyPr spcFirstLastPara="1" wrap="square" lIns="50800" tIns="50800" rIns="50800" bIns="50800" anchor="ctr" anchorCtr="0">
            <a:noAutofit/>
          </a:bodyPr>
          <a:lstStyle/>
          <a:p>
            <a:r>
              <a:rPr lang="en-US"/>
              <a:t>Hypertension in Pregnancy</a:t>
            </a:r>
            <a:endParaRPr/>
          </a:p>
        </p:txBody>
      </p:sp>
      <p:sp>
        <p:nvSpPr>
          <p:cNvPr id="1896" name="Google Shape;1896;p248"/>
          <p:cNvSpPr txBox="1">
            <a:spLocks noGrp="1"/>
          </p:cNvSpPr>
          <p:nvPr>
            <p:ph type="body" idx="1"/>
          </p:nvPr>
        </p:nvSpPr>
        <p:spPr>
          <a:xfrm>
            <a:off x="476655" y="1066800"/>
            <a:ext cx="11206263" cy="56388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Methyldopa, labetalol and diltiazem are the drugs used most commonly during pregnancy for hypertensive disorders.</a:t>
            </a:r>
            <a:endParaRPr dirty="0"/>
          </a:p>
          <a:p>
            <a:pPr marL="342900" indent="-139700">
              <a:buNone/>
            </a:pPr>
            <a:endParaRPr dirty="0"/>
          </a:p>
          <a:p>
            <a:pPr marL="342900" indent="-342900"/>
            <a:r>
              <a:rPr lang="en-US" dirty="0"/>
              <a:t>Labetalol: twice daily, well tolerated, good safety data</a:t>
            </a:r>
            <a:endParaRPr dirty="0"/>
          </a:p>
          <a:p>
            <a:pPr marL="342900" indent="-247650">
              <a:buSzPts val="1500"/>
              <a:buNone/>
            </a:pPr>
            <a:endParaRPr sz="1500" dirty="0"/>
          </a:p>
          <a:p>
            <a:pPr marL="342900" indent="-342900"/>
            <a:r>
              <a:rPr lang="en-US" dirty="0"/>
              <a:t>Methyldopa: 2-4 times daily, good safety data, some anti-cholinergic side effects</a:t>
            </a:r>
            <a:endParaRPr dirty="0"/>
          </a:p>
          <a:p>
            <a:pPr marL="342900" indent="-247650">
              <a:buSzPts val="1500"/>
              <a:buNone/>
            </a:pPr>
            <a:endParaRPr sz="1500" dirty="0"/>
          </a:p>
          <a:p>
            <a:pPr marL="342900" indent="-342900"/>
            <a:r>
              <a:rPr lang="en-US" dirty="0"/>
              <a:t>Nifedipine or Diltiazem: once daily, less safety data</a:t>
            </a:r>
            <a:endParaRPr dirty="0"/>
          </a:p>
          <a:p>
            <a:pPr marL="342900" indent="-139700">
              <a:buNone/>
            </a:pPr>
            <a:endParaRPr dirty="0"/>
          </a:p>
          <a:p>
            <a:pPr marL="342900" indent="-139700">
              <a:buNone/>
            </a:pPr>
            <a:endParaRPr dirty="0"/>
          </a:p>
          <a:p>
            <a:pPr marL="342900" indent="-139700">
              <a:buNone/>
            </a:pP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901"/>
        <p:cNvGrpSpPr/>
        <p:nvPr/>
      </p:nvGrpSpPr>
      <p:grpSpPr>
        <a:xfrm>
          <a:off x="0" y="0"/>
          <a:ext cx="0" cy="0"/>
          <a:chOff x="0" y="0"/>
          <a:chExt cx="0" cy="0"/>
        </a:xfrm>
      </p:grpSpPr>
      <p:sp>
        <p:nvSpPr>
          <p:cNvPr id="1902" name="Google Shape;1902;p249"/>
          <p:cNvSpPr txBox="1">
            <a:spLocks noGrp="1"/>
          </p:cNvSpPr>
          <p:nvPr>
            <p:ph type="title"/>
          </p:nvPr>
        </p:nvSpPr>
        <p:spPr>
          <a:xfrm>
            <a:off x="1981200" y="0"/>
            <a:ext cx="8229600" cy="1143000"/>
          </a:xfrm>
          <a:prstGeom prst="rect">
            <a:avLst/>
          </a:prstGeom>
          <a:noFill/>
          <a:ln>
            <a:noFill/>
          </a:ln>
        </p:spPr>
        <p:txBody>
          <a:bodyPr spcFirstLastPara="1" wrap="square" lIns="50800" tIns="50800" rIns="50800" bIns="50800" anchor="ctr" anchorCtr="0">
            <a:noAutofit/>
          </a:bodyPr>
          <a:lstStyle/>
          <a:p>
            <a:r>
              <a:rPr lang="en-US"/>
              <a:t> HTN in Pregnancy</a:t>
            </a:r>
            <a:endParaRPr/>
          </a:p>
        </p:txBody>
      </p:sp>
      <p:graphicFrame>
        <p:nvGraphicFramePr>
          <p:cNvPr id="1903" name="Google Shape;1903;p249"/>
          <p:cNvGraphicFramePr/>
          <p:nvPr/>
        </p:nvGraphicFramePr>
        <p:xfrm>
          <a:off x="2057400" y="1096964"/>
          <a:ext cx="8382000" cy="5121225"/>
        </p:xfrm>
        <a:graphic>
          <a:graphicData uri="http://schemas.openxmlformats.org/drawingml/2006/table">
            <a:tbl>
              <a:tblPr>
                <a:noFill/>
                <a:tableStyleId>{5CA6CF68-EC4B-4158-8A7C-682902D774E9}</a:tableStyleId>
              </a:tblPr>
              <a:tblGrid>
                <a:gridCol w="2017725">
                  <a:extLst>
                    <a:ext uri="{9D8B030D-6E8A-4147-A177-3AD203B41FA5}">
                      <a16:colId xmlns:a16="http://schemas.microsoft.com/office/drawing/2014/main" val="20000"/>
                    </a:ext>
                  </a:extLst>
                </a:gridCol>
                <a:gridCol w="6364275">
                  <a:extLst>
                    <a:ext uri="{9D8B030D-6E8A-4147-A177-3AD203B41FA5}">
                      <a16:colId xmlns:a16="http://schemas.microsoft.com/office/drawing/2014/main" val="20001"/>
                    </a:ext>
                  </a:extLst>
                </a:gridCol>
              </a:tblGrid>
              <a:tr h="365825">
                <a:tc>
                  <a:txBody>
                    <a:bodyPr/>
                    <a:lstStyle/>
                    <a:p>
                      <a:pPr marL="0" marR="0" lvl="0" indent="0" algn="l" rtl="0">
                        <a:lnSpc>
                          <a:spcPct val="100000"/>
                        </a:lnSpc>
                        <a:spcBef>
                          <a:spcPts val="0"/>
                        </a:spcBef>
                        <a:spcAft>
                          <a:spcPts val="0"/>
                        </a:spcAft>
                        <a:buClr>
                          <a:schemeClr val="dk1"/>
                        </a:buClr>
                        <a:buSzPts val="1800"/>
                        <a:buFont typeface="Constantia"/>
                        <a:buNone/>
                      </a:pPr>
                      <a:r>
                        <a:rPr lang="en-US" sz="1800" b="1" i="0" u="none" strike="noStrike" cap="none">
                          <a:solidFill>
                            <a:schemeClr val="dk1"/>
                          </a:solidFill>
                          <a:latin typeface="Constantia"/>
                          <a:ea typeface="Constantia"/>
                          <a:cs typeface="Constantia"/>
                          <a:sym typeface="Constantia"/>
                        </a:rPr>
                        <a:t>Drug/Class</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onstantia"/>
                        <a:buNone/>
                      </a:pPr>
                      <a:r>
                        <a:rPr lang="en-US" sz="1800" b="1" i="0" u="none" strike="noStrike" cap="none">
                          <a:solidFill>
                            <a:schemeClr val="dk1"/>
                          </a:solidFill>
                          <a:latin typeface="Constantia"/>
                          <a:ea typeface="Constantia"/>
                          <a:cs typeface="Constantia"/>
                          <a:sym typeface="Constantia"/>
                        </a:rPr>
                        <a:t>Comments</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25400" cap="flat" cmpd="sng">
                      <a:solidFill>
                        <a:srgbClr val="0BD0D9"/>
                      </a:solidFill>
                      <a:prstDash val="solid"/>
                      <a:round/>
                      <a:headEnd type="none" w="sm" len="sm"/>
                      <a:tailEnd type="none" w="sm" len="sm"/>
                    </a:lnB>
                  </a:tcPr>
                </a:tc>
                <a:extLst>
                  <a:ext uri="{0D108BD9-81ED-4DB2-BD59-A6C34878D82A}">
                    <a16:rowId xmlns:a16="http://schemas.microsoft.com/office/drawing/2014/main" val="10000"/>
                  </a:ext>
                </a:extLst>
              </a:tr>
              <a:tr h="640150">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Methyldopa</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onstantia"/>
                        <a:ea typeface="Constantia"/>
                        <a:cs typeface="Constantia"/>
                        <a:sym typeface="Constantia"/>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Preferred based on long-term follow-up data supporting safety</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254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1"/>
                  </a:ext>
                </a:extLst>
              </a:tr>
              <a:tr h="640150">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β-Blockers</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onstantia"/>
                        <a:ea typeface="Constantia"/>
                        <a:cs typeface="Constantia"/>
                        <a:sym typeface="Constantia"/>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Generally safe, but intrauterine growth retardation reported</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extLst>
                  <a:ext uri="{0D108BD9-81ED-4DB2-BD59-A6C34878D82A}">
                    <a16:rowId xmlns:a16="http://schemas.microsoft.com/office/drawing/2014/main" val="10002"/>
                  </a:ext>
                </a:extLst>
              </a:tr>
              <a:tr h="640150">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Labetolol </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Increasingly preferred over methyldopa because of fewer side effects</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3"/>
                  </a:ext>
                </a:extLst>
              </a:tr>
              <a:tr h="640150">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Clonidine</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onstantia"/>
                        <a:ea typeface="Constantia"/>
                        <a:cs typeface="Constantia"/>
                        <a:sym typeface="Constantia"/>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Limited data</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extLst>
                  <a:ext uri="{0D108BD9-81ED-4DB2-BD59-A6C34878D82A}">
                    <a16:rowId xmlns:a16="http://schemas.microsoft.com/office/drawing/2014/main" val="10004"/>
                  </a:ext>
                </a:extLst>
              </a:tr>
              <a:tr h="640150">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Calcium channel blockers</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Limited data; no increase in major teratogenicity with exposure</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5"/>
                  </a:ext>
                </a:extLst>
              </a:tr>
              <a:tr h="640150">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Diuretics</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onstantia"/>
                        <a:ea typeface="Constantia"/>
                        <a:cs typeface="Constantia"/>
                        <a:sym typeface="Constantia"/>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Not first-line, probably safe in low doses</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tcPr>
                </a:tc>
                <a:extLst>
                  <a:ext uri="{0D108BD9-81ED-4DB2-BD59-A6C34878D82A}">
                    <a16:rowId xmlns:a16="http://schemas.microsoft.com/office/drawing/2014/main" val="10006"/>
                  </a:ext>
                </a:extLst>
              </a:tr>
              <a:tr h="914500">
                <a:tc>
                  <a:txBody>
                    <a:bodyPr/>
                    <a:lstStyle/>
                    <a:p>
                      <a:pPr marL="0" marR="0" lvl="0" indent="0" algn="l" rtl="0">
                        <a:lnSpc>
                          <a:spcPct val="100000"/>
                        </a:lnSpc>
                        <a:spcBef>
                          <a:spcPts val="0"/>
                        </a:spcBef>
                        <a:spcAft>
                          <a:spcPts val="0"/>
                        </a:spcAft>
                        <a:buClr>
                          <a:schemeClr val="dk1"/>
                        </a:buClr>
                        <a:buSzPts val="1800"/>
                        <a:buFont typeface="Constantia"/>
                        <a:buNone/>
                      </a:pPr>
                      <a:r>
                        <a:rPr lang="en-US" sz="1800" b="0" i="0" u="none" strike="noStrike" cap="none">
                          <a:solidFill>
                            <a:schemeClr val="dk1"/>
                          </a:solidFill>
                          <a:latin typeface="Constantia"/>
                          <a:ea typeface="Constantia"/>
                          <a:cs typeface="Constantia"/>
                          <a:sym typeface="Constantia"/>
                        </a:rPr>
                        <a:t>ACE inhibitors, ARBs</a:t>
                      </a:r>
                      <a:endParaRPr/>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tc>
                  <a:txBody>
                    <a:bodyPr/>
                    <a:lstStyle/>
                    <a:p>
                      <a:pPr marL="0" marR="0" lvl="1" indent="0" algn="l" rtl="0">
                        <a:lnSpc>
                          <a:spcPct val="100000"/>
                        </a:lnSpc>
                        <a:spcBef>
                          <a:spcPts val="0"/>
                        </a:spcBef>
                        <a:spcAft>
                          <a:spcPts val="0"/>
                        </a:spcAft>
                        <a:buClr>
                          <a:schemeClr val="dk1"/>
                        </a:buClr>
                        <a:buSzPts val="1800"/>
                        <a:buFont typeface="Constantia"/>
                        <a:buNone/>
                      </a:pPr>
                      <a:r>
                        <a:rPr lang="en-US" sz="1800" b="0" i="0" u="none" strike="noStrike" cap="none" dirty="0">
                          <a:solidFill>
                            <a:schemeClr val="dk1"/>
                          </a:solidFill>
                          <a:latin typeface="Constantia"/>
                          <a:ea typeface="Constantia"/>
                          <a:cs typeface="Constantia"/>
                          <a:sym typeface="Constantia"/>
                        </a:rPr>
                        <a:t>Pregnancy category C in 1</a:t>
                      </a:r>
                      <a:r>
                        <a:rPr lang="en-US" sz="1800" b="0" i="0" u="none" strike="noStrike" cap="none" baseline="30000" dirty="0">
                          <a:solidFill>
                            <a:schemeClr val="dk1"/>
                          </a:solidFill>
                          <a:latin typeface="Constantia"/>
                          <a:ea typeface="Constantia"/>
                          <a:cs typeface="Constantia"/>
                          <a:sym typeface="Constantia"/>
                        </a:rPr>
                        <a:t>st</a:t>
                      </a:r>
                      <a:r>
                        <a:rPr lang="en-US" sz="1800" b="0" i="0" u="none" strike="noStrike" cap="none" dirty="0">
                          <a:solidFill>
                            <a:schemeClr val="dk1"/>
                          </a:solidFill>
                          <a:latin typeface="Constantia"/>
                          <a:ea typeface="Constantia"/>
                          <a:cs typeface="Constantia"/>
                          <a:sym typeface="Constantia"/>
                        </a:rPr>
                        <a:t> trimester, category D in 2</a:t>
                      </a:r>
                      <a:r>
                        <a:rPr lang="en-US" sz="1800" b="0" i="0" u="none" strike="noStrike" cap="none" baseline="30000" dirty="0">
                          <a:solidFill>
                            <a:schemeClr val="dk1"/>
                          </a:solidFill>
                          <a:latin typeface="Constantia"/>
                          <a:ea typeface="Constantia"/>
                          <a:cs typeface="Constantia"/>
                          <a:sym typeface="Constantia"/>
                        </a:rPr>
                        <a:t>nd</a:t>
                      </a:r>
                      <a:r>
                        <a:rPr lang="en-US" sz="1800" b="0" i="0" u="none" strike="noStrike" cap="none" dirty="0">
                          <a:solidFill>
                            <a:schemeClr val="dk1"/>
                          </a:solidFill>
                          <a:latin typeface="Constantia"/>
                          <a:ea typeface="Constantia"/>
                          <a:cs typeface="Constantia"/>
                          <a:sym typeface="Constantia"/>
                        </a:rPr>
                        <a:t> &amp; 3</a:t>
                      </a:r>
                      <a:r>
                        <a:rPr lang="en-US" sz="1800" b="0" i="0" u="none" strike="noStrike" cap="none" baseline="30000" dirty="0">
                          <a:solidFill>
                            <a:schemeClr val="dk1"/>
                          </a:solidFill>
                          <a:latin typeface="Constantia"/>
                          <a:ea typeface="Constantia"/>
                          <a:cs typeface="Constantia"/>
                          <a:sym typeface="Constantia"/>
                        </a:rPr>
                        <a:t>rd</a:t>
                      </a:r>
                      <a:r>
                        <a:rPr lang="en-US" sz="1800" b="0" i="0" u="none" strike="noStrike" cap="none" dirty="0">
                          <a:solidFill>
                            <a:schemeClr val="dk1"/>
                          </a:solidFill>
                          <a:latin typeface="Constantia"/>
                          <a:ea typeface="Constantia"/>
                          <a:cs typeface="Constantia"/>
                          <a:sym typeface="Constantia"/>
                        </a:rPr>
                        <a:t> trimester.  Major teratogenicity has been reported with exposure (fetal toxicity, death) </a:t>
                      </a:r>
                      <a:endParaRPr dirty="0"/>
                    </a:p>
                  </a:txBody>
                  <a:tcPr marL="91450" marR="91450" marT="45725" marB="45725">
                    <a:lnL w="12700" cap="flat" cmpd="sng">
                      <a:solidFill>
                        <a:srgbClr val="0BD0D9"/>
                      </a:solidFill>
                      <a:prstDash val="solid"/>
                      <a:round/>
                      <a:headEnd type="none" w="sm" len="sm"/>
                      <a:tailEnd type="none" w="sm" len="sm"/>
                    </a:lnL>
                    <a:lnR w="12700" cap="flat" cmpd="sng">
                      <a:solidFill>
                        <a:srgbClr val="0BD0D9"/>
                      </a:solidFill>
                      <a:prstDash val="solid"/>
                      <a:round/>
                      <a:headEnd type="none" w="sm" len="sm"/>
                      <a:tailEnd type="none" w="sm" len="sm"/>
                    </a:lnR>
                    <a:lnT w="12700" cap="flat" cmpd="sng">
                      <a:solidFill>
                        <a:srgbClr val="0BD0D9"/>
                      </a:solidFill>
                      <a:prstDash val="solid"/>
                      <a:round/>
                      <a:headEnd type="none" w="sm" len="sm"/>
                      <a:tailEnd type="none" w="sm" len="sm"/>
                    </a:lnT>
                    <a:lnB w="12700" cap="flat" cmpd="sng">
                      <a:solidFill>
                        <a:srgbClr val="0BD0D9"/>
                      </a:solidFill>
                      <a:prstDash val="solid"/>
                      <a:round/>
                      <a:headEnd type="none" w="sm" len="sm"/>
                      <a:tailEnd type="none" w="sm" len="sm"/>
                    </a:lnB>
                    <a:solidFill>
                      <a:srgbClr val="0BD0D9">
                        <a:alpha val="20000"/>
                      </a:srgbClr>
                    </a:solidFill>
                  </a:tcPr>
                </a:tc>
                <a:extLst>
                  <a:ext uri="{0D108BD9-81ED-4DB2-BD59-A6C34878D82A}">
                    <a16:rowId xmlns:a16="http://schemas.microsoft.com/office/drawing/2014/main" val="10007"/>
                  </a:ext>
                </a:extLst>
              </a:tr>
            </a:tbl>
          </a:graphicData>
        </a:graphic>
      </p:graphicFrame>
      <p:sp>
        <p:nvSpPr>
          <p:cNvPr id="1905" name="Google Shape;1905;p249"/>
          <p:cNvSpPr/>
          <p:nvPr/>
        </p:nvSpPr>
        <p:spPr>
          <a:xfrm>
            <a:off x="1524000" y="6396038"/>
            <a:ext cx="9144000" cy="461962"/>
          </a:xfrm>
          <a:prstGeom prst="rect">
            <a:avLst/>
          </a:prstGeom>
          <a:noFill/>
          <a:ln>
            <a:noFill/>
          </a:ln>
        </p:spPr>
        <p:txBody>
          <a:bodyPr spcFirstLastPara="1" wrap="square" lIns="91425" tIns="45700" rIns="91425" bIns="45700" anchor="t" anchorCtr="0">
            <a:spAutoFit/>
          </a:bodyPr>
          <a:lstStyle/>
          <a:p>
            <a:r>
              <a:rPr lang="en-US" sz="1200">
                <a:solidFill>
                  <a:schemeClr val="dk1"/>
                </a:solidFill>
                <a:latin typeface="Calibri"/>
                <a:ea typeface="Calibri"/>
                <a:cs typeface="Calibri"/>
                <a:sym typeface="Calibri"/>
              </a:rPr>
              <a:t>DiPiro JT, Talbert RL, Yee GC, Matzke GR, Wells BG, Posey LM: Pharmacotherapy:A Pathophysiologic Approach, 7th Edition: http://www.accesspharmacy.com/</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67"/>
        <p:cNvGrpSpPr/>
        <p:nvPr/>
      </p:nvGrpSpPr>
      <p:grpSpPr>
        <a:xfrm>
          <a:off x="0" y="0"/>
          <a:ext cx="0" cy="0"/>
          <a:chOff x="0" y="0"/>
          <a:chExt cx="0" cy="0"/>
        </a:xfrm>
      </p:grpSpPr>
      <p:pic>
        <p:nvPicPr>
          <p:cNvPr id="1869" name="Google Shape;1869;p244" descr="An Algorithm for the Evaluation and Management of Hypertensive ... | GrepMed"/>
          <p:cNvPicPr preferRelativeResize="0">
            <a:picLocks noGrp="1"/>
          </p:cNvPicPr>
          <p:nvPr>
            <p:ph type="body" idx="1"/>
          </p:nvPr>
        </p:nvPicPr>
        <p:blipFill rotWithShape="1">
          <a:blip r:embed="rId3">
            <a:alphaModFix/>
          </a:blip>
          <a:srcRect/>
          <a:stretch/>
        </p:blipFill>
        <p:spPr>
          <a:xfrm>
            <a:off x="1524000" y="240632"/>
            <a:ext cx="9023684" cy="6284410"/>
          </a:xfrm>
          <a:prstGeom prst="rect">
            <a:avLst/>
          </a:prstGeom>
          <a:noFill/>
          <a:ln>
            <a:noFill/>
          </a:ln>
        </p:spPr>
      </p:pic>
    </p:spTree>
  </p:cSld>
  <p:clrMapOvr>
    <a:masterClrMapping/>
  </p:clrMapOvr>
</p:sld>
</file>

<file path=ppt/theme/theme1.xml><?xml version="1.0" encoding="utf-8"?>
<a:theme xmlns:a="http://schemas.openxmlformats.org/drawingml/2006/main" name="Default - Title Slide">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 Title and Content">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19782</TotalTime>
  <Words>3465</Words>
  <Application>Microsoft Office PowerPoint</Application>
  <PresentationFormat>Widescreen</PresentationFormat>
  <Paragraphs>399</Paragraphs>
  <Slides>55</Slides>
  <Notes>55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55</vt:i4>
      </vt:variant>
    </vt:vector>
  </HeadingPairs>
  <TitlesOfParts>
    <vt:vector size="62" baseType="lpstr">
      <vt:lpstr>Calibri</vt:lpstr>
      <vt:lpstr>Roboto</vt:lpstr>
      <vt:lpstr>Helvetica Neue</vt:lpstr>
      <vt:lpstr>Constantia</vt:lpstr>
      <vt:lpstr>Arial</vt:lpstr>
      <vt:lpstr>Default - Title Slide</vt:lpstr>
      <vt:lpstr>Default - Title and Content</vt:lpstr>
      <vt:lpstr>HYPERTENSIVE URGENCY AND EMERGENCY </vt:lpstr>
      <vt:lpstr>Definition</vt:lpstr>
      <vt:lpstr>Causes of Hypertensive crisis</vt:lpstr>
      <vt:lpstr>Pathophysiology of Hypertensive Emergencies</vt:lpstr>
      <vt:lpstr>Pathophysiology in Hypertensive Crisis</vt:lpstr>
      <vt:lpstr>HTN Emergency</vt:lpstr>
      <vt:lpstr>Neuro Damage in Hypertensive Emergency</vt:lpstr>
      <vt:lpstr>Neuro Damage in Hypertensive Emergency</vt:lpstr>
      <vt:lpstr>Neuro Damage in Hypertensive Emergency</vt:lpstr>
      <vt:lpstr>Neurologic Damage in Hypertensive Emergency</vt:lpstr>
      <vt:lpstr>Neuro Damage in Hypertensive Emergency</vt:lpstr>
      <vt:lpstr>Neuro Damage in Hypertensive Emergency</vt:lpstr>
      <vt:lpstr>Neuro Damage in Hypertensive Emergency</vt:lpstr>
      <vt:lpstr>Neuro Damage in Hypertensive Emergency</vt:lpstr>
      <vt:lpstr>CV Damage in Hypertensive Emergency</vt:lpstr>
      <vt:lpstr>CV Damage in Hypertensive Emergency</vt:lpstr>
      <vt:lpstr>CV Damage in Hypertensive Emergency</vt:lpstr>
      <vt:lpstr>CardioPulm Damage in Hypertensive Emergency</vt:lpstr>
      <vt:lpstr>Renal Damage in Hypertensive Emergency</vt:lpstr>
      <vt:lpstr>End-Organ Damage in Hypertensive Emergency</vt:lpstr>
      <vt:lpstr>PowerPoint Presentation</vt:lpstr>
      <vt:lpstr>Hypertensive Crisis History</vt:lpstr>
      <vt:lpstr>Hypertensive Crisis History</vt:lpstr>
      <vt:lpstr>Hypertensive Crisis Exam</vt:lpstr>
      <vt:lpstr>Hypertensive Crisis Exam</vt:lpstr>
      <vt:lpstr>Hypertensive Crisis Exam</vt:lpstr>
      <vt:lpstr>Hypertensive Crisis Work-up</vt:lpstr>
      <vt:lpstr>Hypertensive Crisis Work-up</vt:lpstr>
      <vt:lpstr>Hypertensive Management</vt:lpstr>
      <vt:lpstr>Hypertensive Urgency Management</vt:lpstr>
      <vt:lpstr>Hypertensive Urgency Treatment</vt:lpstr>
      <vt:lpstr>Hypertensive Urgency Treatment</vt:lpstr>
      <vt:lpstr>Specific Strategies for HTN Urgency</vt:lpstr>
      <vt:lpstr>Hypertensive Emergency Treatment</vt:lpstr>
      <vt:lpstr>Hypertensive Emergency Meds</vt:lpstr>
      <vt:lpstr>Hypertensive Emergency Meds</vt:lpstr>
      <vt:lpstr>Sodium Nitroprusside (Nipride) IV</vt:lpstr>
      <vt:lpstr>Sodium Nitroprusside (Nipride) IV</vt:lpstr>
      <vt:lpstr>Nitroglycerin</vt:lpstr>
      <vt:lpstr>Nitroglycerin</vt:lpstr>
      <vt:lpstr>Nicardipine (Cardene)</vt:lpstr>
      <vt:lpstr>Nicardipine (Cardene)</vt:lpstr>
      <vt:lpstr>Hypertensive Emergency:  Treating Cardiac Complications</vt:lpstr>
      <vt:lpstr>Hypertensive Emergency:  Treating Cardiac Complications</vt:lpstr>
      <vt:lpstr>Hypertensive Emergency: Treating Sympathetic Over Activity</vt:lpstr>
      <vt:lpstr>Hypertensive Emergency:  Treating Sympathetic Over Activity</vt:lpstr>
      <vt:lpstr>Hypertensive Crisis Treatment Exceptions</vt:lpstr>
      <vt:lpstr>Hypertensive Crisis Treatment Exceptions</vt:lpstr>
      <vt:lpstr>Hypertensive Crisis Treatment Exceptions</vt:lpstr>
      <vt:lpstr>Hypertension in Pregnancy</vt:lpstr>
      <vt:lpstr>Hypertension in Pregnancy</vt:lpstr>
      <vt:lpstr>Hypertension in Pregnancy</vt:lpstr>
      <vt:lpstr>Hypertension in Pregnancy</vt:lpstr>
      <vt:lpstr> HTN in Pregnancy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HYPERTENSION</dc:title>
  <dc:creator>Gulczinski, Jill-Renae</dc:creator>
  <cp:lastModifiedBy>Veal, Breanna</cp:lastModifiedBy>
  <cp:revision>31</cp:revision>
  <dcterms:modified xsi:type="dcterms:W3CDTF">2026-10-22T20:20:02Z</dcterms:modified>
</cp:coreProperties>
</file>