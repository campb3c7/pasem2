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Lst>
  <p:notesMasterIdLst>
    <p:notesMasterId r:id="rId108"/>
  </p:notesMasterIdLst>
  <p:sldIdLst>
    <p:sldId id="256" r:id="rId3"/>
    <p:sldId id="371" r:id="rId4"/>
    <p:sldId id="530" r:id="rId5"/>
    <p:sldId id="384" r:id="rId6"/>
    <p:sldId id="531" r:id="rId7"/>
    <p:sldId id="385" r:id="rId8"/>
    <p:sldId id="521" r:id="rId9"/>
    <p:sldId id="551" r:id="rId10"/>
    <p:sldId id="534" r:id="rId11"/>
    <p:sldId id="532" r:id="rId12"/>
    <p:sldId id="550" r:id="rId13"/>
    <p:sldId id="372" r:id="rId14"/>
    <p:sldId id="374" r:id="rId15"/>
    <p:sldId id="375" r:id="rId16"/>
    <p:sldId id="376" r:id="rId17"/>
    <p:sldId id="377" r:id="rId18"/>
    <p:sldId id="378" r:id="rId19"/>
    <p:sldId id="379" r:id="rId20"/>
    <p:sldId id="552" r:id="rId21"/>
    <p:sldId id="523" r:id="rId22"/>
    <p:sldId id="383" r:id="rId23"/>
    <p:sldId id="394" r:id="rId24"/>
    <p:sldId id="525" r:id="rId25"/>
    <p:sldId id="388" r:id="rId26"/>
    <p:sldId id="387" r:id="rId27"/>
    <p:sldId id="391" r:id="rId28"/>
    <p:sldId id="392" r:id="rId29"/>
    <p:sldId id="393" r:id="rId30"/>
    <p:sldId id="526" r:id="rId31"/>
    <p:sldId id="389" r:id="rId32"/>
    <p:sldId id="538" r:id="rId33"/>
    <p:sldId id="395" r:id="rId34"/>
    <p:sldId id="396" r:id="rId35"/>
    <p:sldId id="397" r:id="rId36"/>
    <p:sldId id="398" r:id="rId37"/>
    <p:sldId id="399" r:id="rId38"/>
    <p:sldId id="400" r:id="rId39"/>
    <p:sldId id="402" r:id="rId40"/>
    <p:sldId id="403" r:id="rId41"/>
    <p:sldId id="404" r:id="rId42"/>
    <p:sldId id="405" r:id="rId43"/>
    <p:sldId id="406" r:id="rId44"/>
    <p:sldId id="407" r:id="rId45"/>
    <p:sldId id="408" r:id="rId46"/>
    <p:sldId id="409" r:id="rId47"/>
    <p:sldId id="410" r:id="rId48"/>
    <p:sldId id="411" r:id="rId49"/>
    <p:sldId id="412" r:id="rId50"/>
    <p:sldId id="413" r:id="rId51"/>
    <p:sldId id="414" r:id="rId52"/>
    <p:sldId id="415" r:id="rId53"/>
    <p:sldId id="417" r:id="rId54"/>
    <p:sldId id="540" r:id="rId55"/>
    <p:sldId id="418" r:id="rId56"/>
    <p:sldId id="419" r:id="rId57"/>
    <p:sldId id="541" r:id="rId58"/>
    <p:sldId id="420" r:id="rId59"/>
    <p:sldId id="421" r:id="rId60"/>
    <p:sldId id="422" r:id="rId61"/>
    <p:sldId id="542" r:id="rId62"/>
    <p:sldId id="423" r:id="rId63"/>
    <p:sldId id="425" r:id="rId64"/>
    <p:sldId id="543" r:id="rId65"/>
    <p:sldId id="544" r:id="rId66"/>
    <p:sldId id="545" r:id="rId67"/>
    <p:sldId id="427" r:id="rId68"/>
    <p:sldId id="428" r:id="rId69"/>
    <p:sldId id="546" r:id="rId70"/>
    <p:sldId id="429" r:id="rId71"/>
    <p:sldId id="547" r:id="rId72"/>
    <p:sldId id="430" r:id="rId73"/>
    <p:sldId id="431" r:id="rId74"/>
    <p:sldId id="432" r:id="rId75"/>
    <p:sldId id="433" r:id="rId76"/>
    <p:sldId id="434" r:id="rId77"/>
    <p:sldId id="548" r:id="rId78"/>
    <p:sldId id="435" r:id="rId79"/>
    <p:sldId id="549" r:id="rId80"/>
    <p:sldId id="436" r:id="rId81"/>
    <p:sldId id="437" r:id="rId82"/>
    <p:sldId id="438" r:id="rId83"/>
    <p:sldId id="439" r:id="rId84"/>
    <p:sldId id="440" r:id="rId85"/>
    <p:sldId id="441" r:id="rId86"/>
    <p:sldId id="442" r:id="rId87"/>
    <p:sldId id="444" r:id="rId88"/>
    <p:sldId id="443" r:id="rId89"/>
    <p:sldId id="445" r:id="rId90"/>
    <p:sldId id="446" r:id="rId91"/>
    <p:sldId id="447" r:id="rId92"/>
    <p:sldId id="449" r:id="rId93"/>
    <p:sldId id="450" r:id="rId94"/>
    <p:sldId id="451" r:id="rId95"/>
    <p:sldId id="452" r:id="rId96"/>
    <p:sldId id="453" r:id="rId97"/>
    <p:sldId id="454" r:id="rId98"/>
    <p:sldId id="528" r:id="rId99"/>
    <p:sldId id="527" r:id="rId100"/>
    <p:sldId id="456" r:id="rId101"/>
    <p:sldId id="457" r:id="rId102"/>
    <p:sldId id="459" r:id="rId103"/>
    <p:sldId id="460" r:id="rId104"/>
    <p:sldId id="529" r:id="rId105"/>
    <p:sldId id="461" r:id="rId106"/>
    <p:sldId id="462" r:id="rId107"/>
  </p:sldIdLst>
  <p:sldSz cx="12192000" cy="6858000"/>
  <p:notesSz cx="6858000" cy="9144000"/>
  <p:embeddedFontLst>
    <p:embeddedFont>
      <p:font typeface="Comic Sans MS" panose="030F0702030302020204" pitchFamily="66" charset="0"/>
      <p:regular r:id="rId109"/>
      <p:bold r:id="rId110"/>
      <p:italic r:id="rId111"/>
      <p:boldItalic r:id="rId112"/>
    </p:embeddedFont>
    <p:embeddedFont>
      <p:font typeface="Constantia" panose="02030602050306030303" pitchFamily="18" charset="0"/>
      <p:regular r:id="rId113"/>
      <p:bold r:id="rId114"/>
      <p:italic r:id="rId115"/>
      <p:boldItalic r:id="rId116"/>
    </p:embeddedFont>
    <p:embeddedFont>
      <p:font typeface="Helvetica Neue" panose="020B0604020202020204" charset="0"/>
      <p:regular r:id="rId117"/>
      <p:bold r:id="rId118"/>
      <p:italic r:id="rId119"/>
      <p:boldItalic r:id="rId1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81" roundtripDataSignature="AMtx7mhv9okJ2d/14MPsiQ5245EjDuh8z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FD6AE8-3374-4858-9010-253337391022}" v="1" dt="2026-10-19T17:42:14.660"/>
  </p1510:revLst>
</p1510:revInfo>
</file>

<file path=ppt/tableStyles.xml><?xml version="1.0" encoding="utf-8"?>
<a:tblStyleLst xmlns:a="http://schemas.openxmlformats.org/drawingml/2006/main" def="{EC500EC1-2580-4279-ABFF-E99678A4F935}">
  <a:tblStyle styleId="{EC500EC1-2580-4279-ABFF-E99678A4F935}"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chemeClr val="accent5"/>
          </a:solidFill>
        </a:fill>
      </a:tcStyle>
    </a:wholeTbl>
    <a:band1H>
      <a:tcTxStyle/>
      <a:tcStyle>
        <a:tcBdr/>
        <a:fill>
          <a:solidFill>
            <a:schemeClr val="accent5"/>
          </a:solidFill>
        </a:fill>
      </a:tcStyle>
    </a:band1H>
    <a:band2H>
      <a:tcTxStyle/>
      <a:tcStyle>
        <a:tcBdr/>
      </a:tcStyle>
    </a:band2H>
    <a:band1V>
      <a:tcTxStyle/>
      <a:tcStyle>
        <a:tcBdr/>
        <a:fill>
          <a:solidFill>
            <a:schemeClr val="accent5"/>
          </a:solidFill>
        </a:fill>
      </a:tcStyle>
    </a:band1V>
    <a:band2V>
      <a:tcTxStyle/>
      <a:tcStyle>
        <a:tcBdr/>
      </a:tcStyle>
    </a:band2V>
    <a:lastCol>
      <a:tcTxStyle b="on" i="off">
        <a:font>
          <a:latin typeface="Calibri"/>
          <a:ea typeface="Calibri"/>
          <a:cs typeface="Calibri"/>
        </a:font>
        <a:schemeClr val="lt1"/>
      </a:tcTxStyle>
      <a:tcStyle>
        <a:tcBdr/>
        <a:fill>
          <a:solidFill>
            <a:schemeClr val="accent5"/>
          </a:solidFill>
        </a:fill>
      </a:tcStyle>
    </a:lastCol>
    <a:firstCol>
      <a:tcTxStyle b="on" i="off">
        <a:font>
          <a:latin typeface="Calibri"/>
          <a:ea typeface="Calibri"/>
          <a:cs typeface="Calibri"/>
        </a:font>
        <a:schemeClr val="lt1"/>
      </a:tcTxStyle>
      <a:tcStyle>
        <a:tcBdr/>
        <a:fill>
          <a:solidFill>
            <a:schemeClr val="accent5"/>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5"/>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5"/>
          </a:solidFill>
        </a:fill>
      </a:tcStyle>
    </a:firstRow>
    <a:neCell>
      <a:tcTxStyle/>
      <a:tcStyle>
        <a:tcBdr/>
      </a:tcStyle>
    </a:neCell>
    <a:nwCell>
      <a:tcTxStyle/>
      <a:tcStyle>
        <a:tcBdr/>
      </a:tcStyle>
    </a:nwCell>
  </a:tblStyle>
  <a:tblStyle styleId="{9176C877-5902-4F01-AA12-915402B82F07}" styleName="Table_1">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E6E6"/>
          </a:solidFill>
        </a:fill>
      </a:tcStyle>
    </a:wholeTbl>
    <a:band1H>
      <a:tcTxStyle/>
      <a:tcStyle>
        <a:tcBdr/>
        <a:fill>
          <a:solidFill>
            <a:srgbClr val="CACACA"/>
          </a:solidFill>
        </a:fill>
      </a:tcStyle>
    </a:band1H>
    <a:band2H>
      <a:tcTxStyle/>
      <a:tcStyle>
        <a:tcBdr/>
      </a:tcStyle>
    </a:band2H>
    <a:band1V>
      <a:tcTxStyle/>
      <a:tcStyle>
        <a:tcBdr/>
        <a:fill>
          <a:solidFill>
            <a:srgbClr val="CACACA"/>
          </a:solidFill>
        </a:fill>
      </a:tcStyle>
    </a:band1V>
    <a:band2V>
      <a:tcTxStyle/>
      <a:tcStyle>
        <a:tcBdr/>
      </a:tcStyle>
    </a:band2V>
    <a:lastCol>
      <a:tcTxStyle b="on" i="off">
        <a:font>
          <a:latin typeface="Calibri"/>
          <a:ea typeface="Calibri"/>
          <a:cs typeface="Calibri"/>
        </a:font>
        <a:schemeClr val="lt1"/>
      </a:tcTxStyle>
      <a:tcStyle>
        <a:tcBdr/>
        <a:fill>
          <a:solidFill>
            <a:schemeClr val="dk1"/>
          </a:solidFill>
        </a:fill>
      </a:tcStyle>
    </a:lastCol>
    <a:firstCol>
      <a:tcTxStyle b="on" i="off">
        <a:font>
          <a:latin typeface="Calibri"/>
          <a:ea typeface="Calibri"/>
          <a:cs typeface="Calibri"/>
        </a:font>
        <a:schemeClr val="lt1"/>
      </a:tcTxStyle>
      <a:tcStyle>
        <a:tcBdr/>
        <a:fill>
          <a:solidFill>
            <a:schemeClr val="dk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dk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dk1"/>
          </a:solidFill>
        </a:fill>
      </a:tcStyle>
    </a:firstRow>
    <a:neCell>
      <a:tcTxStyle/>
      <a:tcStyle>
        <a:tcBdr/>
      </a:tcStyle>
    </a:neCell>
    <a:nwCell>
      <a:tcTxStyle/>
      <a:tcStyle>
        <a:tcBdr/>
      </a:tcStyle>
    </a:nwCell>
  </a:tblStyle>
  <a:tblStyle styleId="{5CA6CF68-EC4B-4158-8A7C-682902D774E9}" styleName="Table_2">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982547C-5184-4841-A74E-8B02F8914B86}" styleName="Table_3">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chemeClr val="accent1"/>
          </a:solidFill>
        </a:fill>
      </a:tcStyle>
    </a:wholeTbl>
    <a:band1H>
      <a:tcTxStyle/>
      <a:tcStyle>
        <a:tcBdr/>
        <a:fill>
          <a:solidFill>
            <a:schemeClr val="accent1"/>
          </a:solidFill>
        </a:fill>
      </a:tcStyle>
    </a:band1H>
    <a:band2H>
      <a:tcTxStyle/>
      <a:tcStyle>
        <a:tcBdr/>
      </a:tcStyle>
    </a:band2H>
    <a:band1V>
      <a:tcTxStyle/>
      <a:tcStyle>
        <a:tcBdr/>
        <a:fill>
          <a:solidFill>
            <a:schemeClr val="accent1"/>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3911" autoAdjust="0"/>
  </p:normalViewPr>
  <p:slideViewPr>
    <p:cSldViewPr snapToGrid="0">
      <p:cViewPr varScale="1">
        <p:scale>
          <a:sx n="76" d="100"/>
          <a:sy n="76" d="100"/>
        </p:scale>
        <p:origin x="720" y="6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font" Target="fonts/font9.fntdata"/><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font" Target="fonts/font4.fntdata"/><Relationship Id="rId16" Type="http://schemas.openxmlformats.org/officeDocument/2006/relationships/slide" Target="slides/slide14.xml"/><Relationship Id="rId107" Type="http://schemas.openxmlformats.org/officeDocument/2006/relationships/slide" Target="slides/slide105.xml"/><Relationship Id="rId284" Type="http://schemas.openxmlformats.org/officeDocument/2006/relationships/theme" Target="theme/theme1.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19" Type="http://schemas.openxmlformats.org/officeDocument/2006/relationships/slide" Target="slides/slide17.xml"/><Relationship Id="rId287" Type="http://schemas.microsoft.com/office/2015/10/relationships/revisionInfo" Target="revisionInfo.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13" Type="http://schemas.openxmlformats.org/officeDocument/2006/relationships/font" Target="fonts/font5.fntdata"/><Relationship Id="rId118" Type="http://schemas.openxmlformats.org/officeDocument/2006/relationships/font" Target="fonts/font10.fntdata"/><Relationship Id="rId282"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285" Type="http://schemas.openxmlformats.org/officeDocument/2006/relationships/tableStyles" Target="tableStyles.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3" Type="http://schemas.openxmlformats.org/officeDocument/2006/relationships/slide" Target="slides/slide101.xml"/><Relationship Id="rId108" Type="http://schemas.openxmlformats.org/officeDocument/2006/relationships/notesMaster" Target="notesMasters/notesMaster1.xml"/><Relationship Id="rId116" Type="http://schemas.openxmlformats.org/officeDocument/2006/relationships/font" Target="fonts/font8.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11"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slide" Target="slides/slide104.xml"/><Relationship Id="rId114" Type="http://schemas.openxmlformats.org/officeDocument/2006/relationships/font" Target="fonts/font6.fntdata"/><Relationship Id="rId119" Type="http://schemas.openxmlformats.org/officeDocument/2006/relationships/font" Target="fonts/font11.fntdata"/><Relationship Id="rId283" Type="http://schemas.openxmlformats.org/officeDocument/2006/relationships/viewProps" Target="view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font" Target="fonts/font1.fntdata"/><Relationship Id="rId281" Type="http://customschemas.google.com/relationships/presentationmetadata" Target="metadata"/><Relationship Id="rId286" Type="http://schemas.microsoft.com/office/2016/11/relationships/changesInfo" Target="changesInfos/changesInfo1.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font" Target="fonts/font12.fntdata"/><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font" Target="fonts/font2.fntdata"/><Relationship Id="rId115" Type="http://schemas.openxmlformats.org/officeDocument/2006/relationships/font" Target="fonts/font7.fntdata"/><Relationship Id="rId61" Type="http://schemas.openxmlformats.org/officeDocument/2006/relationships/slide" Target="slides/slide59.xml"/><Relationship Id="rId82" Type="http://schemas.openxmlformats.org/officeDocument/2006/relationships/slide" Target="slides/slide8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al, Breanna" userId="9dd65cb9-b789-4014-8a75-5340e8ea9a9e" providerId="ADAL" clId="{ACED115F-8C23-4612-8EFF-7965D144131C}"/>
    <pc:docChg chg="custSel modSld">
      <pc:chgData name="Veal, Breanna" userId="9dd65cb9-b789-4014-8a75-5340e8ea9a9e" providerId="ADAL" clId="{ACED115F-8C23-4612-8EFF-7965D144131C}" dt="2026-10-19T17:39:38.215" v="121" actId="368"/>
      <pc:docMkLst>
        <pc:docMk/>
      </pc:docMkLst>
      <pc:sldChg chg="modNotes">
        <pc:chgData name="Veal, Breanna" userId="9dd65cb9-b789-4014-8a75-5340e8ea9a9e" providerId="ADAL" clId="{ACED115F-8C23-4612-8EFF-7965D144131C}" dt="2026-10-19T17:39:36.764" v="9" actId="368"/>
        <pc:sldMkLst>
          <pc:docMk/>
          <pc:sldMk cId="0" sldId="379"/>
        </pc:sldMkLst>
      </pc:sldChg>
      <pc:sldChg chg="modNotes">
        <pc:chgData name="Veal, Breanna" userId="9dd65cb9-b789-4014-8a75-5340e8ea9a9e" providerId="ADAL" clId="{ACED115F-8C23-4612-8EFF-7965D144131C}" dt="2026-10-19T17:39:36.603" v="1" actId="368"/>
        <pc:sldMkLst>
          <pc:docMk/>
          <pc:sldMk cId="3996653182" sldId="385"/>
        </pc:sldMkLst>
      </pc:sldChg>
      <pc:sldChg chg="modNotes">
        <pc:chgData name="Veal, Breanna" userId="9dd65cb9-b789-4014-8a75-5340e8ea9a9e" providerId="ADAL" clId="{ACED115F-8C23-4612-8EFF-7965D144131C}" dt="2026-10-19T17:39:36.875" v="17" actId="368"/>
        <pc:sldMkLst>
          <pc:docMk/>
          <pc:sldMk cId="0" sldId="387"/>
        </pc:sldMkLst>
      </pc:sldChg>
      <pc:sldChg chg="modNotes">
        <pc:chgData name="Veal, Breanna" userId="9dd65cb9-b789-4014-8a75-5340e8ea9a9e" providerId="ADAL" clId="{ACED115F-8C23-4612-8EFF-7965D144131C}" dt="2026-10-19T17:39:36.869" v="15" actId="368"/>
        <pc:sldMkLst>
          <pc:docMk/>
          <pc:sldMk cId="0" sldId="388"/>
        </pc:sldMkLst>
      </pc:sldChg>
      <pc:sldChg chg="modNotes">
        <pc:chgData name="Veal, Breanna" userId="9dd65cb9-b789-4014-8a75-5340e8ea9a9e" providerId="ADAL" clId="{ACED115F-8C23-4612-8EFF-7965D144131C}" dt="2026-10-19T17:39:36.971" v="23" actId="368"/>
        <pc:sldMkLst>
          <pc:docMk/>
          <pc:sldMk cId="0" sldId="389"/>
        </pc:sldMkLst>
      </pc:sldChg>
      <pc:sldChg chg="modNotes">
        <pc:chgData name="Veal, Breanna" userId="9dd65cb9-b789-4014-8a75-5340e8ea9a9e" providerId="ADAL" clId="{ACED115F-8C23-4612-8EFF-7965D144131C}" dt="2026-10-19T17:39:36.903" v="19" actId="368"/>
        <pc:sldMkLst>
          <pc:docMk/>
          <pc:sldMk cId="0" sldId="391"/>
        </pc:sldMkLst>
      </pc:sldChg>
      <pc:sldChg chg="modNotes">
        <pc:chgData name="Veal, Breanna" userId="9dd65cb9-b789-4014-8a75-5340e8ea9a9e" providerId="ADAL" clId="{ACED115F-8C23-4612-8EFF-7965D144131C}" dt="2026-10-19T17:39:36.924" v="21" actId="368"/>
        <pc:sldMkLst>
          <pc:docMk/>
          <pc:sldMk cId="0" sldId="392"/>
        </pc:sldMkLst>
      </pc:sldChg>
      <pc:sldChg chg="modNotes">
        <pc:chgData name="Veal, Breanna" userId="9dd65cb9-b789-4014-8a75-5340e8ea9a9e" providerId="ADAL" clId="{ACED115F-8C23-4612-8EFF-7965D144131C}" dt="2026-10-19T17:39:37.004" v="25" actId="368"/>
        <pc:sldMkLst>
          <pc:docMk/>
          <pc:sldMk cId="0" sldId="395"/>
        </pc:sldMkLst>
      </pc:sldChg>
      <pc:sldChg chg="modNotes">
        <pc:chgData name="Veal, Breanna" userId="9dd65cb9-b789-4014-8a75-5340e8ea9a9e" providerId="ADAL" clId="{ACED115F-8C23-4612-8EFF-7965D144131C}" dt="2026-10-19T17:39:37.017" v="27" actId="368"/>
        <pc:sldMkLst>
          <pc:docMk/>
          <pc:sldMk cId="0" sldId="396"/>
        </pc:sldMkLst>
      </pc:sldChg>
      <pc:sldChg chg="modNotes">
        <pc:chgData name="Veal, Breanna" userId="9dd65cb9-b789-4014-8a75-5340e8ea9a9e" providerId="ADAL" clId="{ACED115F-8C23-4612-8EFF-7965D144131C}" dt="2026-10-19T17:39:37.033" v="29" actId="368"/>
        <pc:sldMkLst>
          <pc:docMk/>
          <pc:sldMk cId="0" sldId="397"/>
        </pc:sldMkLst>
      </pc:sldChg>
      <pc:sldChg chg="modNotes">
        <pc:chgData name="Veal, Breanna" userId="9dd65cb9-b789-4014-8a75-5340e8ea9a9e" providerId="ADAL" clId="{ACED115F-8C23-4612-8EFF-7965D144131C}" dt="2026-10-19T17:39:37.033" v="31" actId="368"/>
        <pc:sldMkLst>
          <pc:docMk/>
          <pc:sldMk cId="0" sldId="398"/>
        </pc:sldMkLst>
      </pc:sldChg>
      <pc:sldChg chg="modNotes">
        <pc:chgData name="Veal, Breanna" userId="9dd65cb9-b789-4014-8a75-5340e8ea9a9e" providerId="ADAL" clId="{ACED115F-8C23-4612-8EFF-7965D144131C}" dt="2026-10-19T17:39:37.067" v="33" actId="368"/>
        <pc:sldMkLst>
          <pc:docMk/>
          <pc:sldMk cId="0" sldId="400"/>
        </pc:sldMkLst>
      </pc:sldChg>
      <pc:sldChg chg="modNotes">
        <pc:chgData name="Veal, Breanna" userId="9dd65cb9-b789-4014-8a75-5340e8ea9a9e" providerId="ADAL" clId="{ACED115F-8C23-4612-8EFF-7965D144131C}" dt="2026-10-19T17:39:37.084" v="35" actId="368"/>
        <pc:sldMkLst>
          <pc:docMk/>
          <pc:sldMk cId="0" sldId="402"/>
        </pc:sldMkLst>
      </pc:sldChg>
      <pc:sldChg chg="modNotes">
        <pc:chgData name="Veal, Breanna" userId="9dd65cb9-b789-4014-8a75-5340e8ea9a9e" providerId="ADAL" clId="{ACED115F-8C23-4612-8EFF-7965D144131C}" dt="2026-10-19T17:39:37.100" v="37" actId="368"/>
        <pc:sldMkLst>
          <pc:docMk/>
          <pc:sldMk cId="0" sldId="403"/>
        </pc:sldMkLst>
      </pc:sldChg>
      <pc:sldChg chg="modNotes">
        <pc:chgData name="Veal, Breanna" userId="9dd65cb9-b789-4014-8a75-5340e8ea9a9e" providerId="ADAL" clId="{ACED115F-8C23-4612-8EFF-7965D144131C}" dt="2026-10-19T17:39:37.132" v="39" actId="368"/>
        <pc:sldMkLst>
          <pc:docMk/>
          <pc:sldMk cId="0" sldId="405"/>
        </pc:sldMkLst>
      </pc:sldChg>
      <pc:sldChg chg="modNotes">
        <pc:chgData name="Veal, Breanna" userId="9dd65cb9-b789-4014-8a75-5340e8ea9a9e" providerId="ADAL" clId="{ACED115F-8C23-4612-8EFF-7965D144131C}" dt="2026-10-19T17:39:37.164" v="41" actId="368"/>
        <pc:sldMkLst>
          <pc:docMk/>
          <pc:sldMk cId="0" sldId="407"/>
        </pc:sldMkLst>
      </pc:sldChg>
      <pc:sldChg chg="modNotes">
        <pc:chgData name="Veal, Breanna" userId="9dd65cb9-b789-4014-8a75-5340e8ea9a9e" providerId="ADAL" clId="{ACED115F-8C23-4612-8EFF-7965D144131C}" dt="2026-10-19T17:39:37.226" v="43" actId="368"/>
        <pc:sldMkLst>
          <pc:docMk/>
          <pc:sldMk cId="0" sldId="411"/>
        </pc:sldMkLst>
      </pc:sldChg>
      <pc:sldChg chg="modNotes">
        <pc:chgData name="Veal, Breanna" userId="9dd65cb9-b789-4014-8a75-5340e8ea9a9e" providerId="ADAL" clId="{ACED115F-8C23-4612-8EFF-7965D144131C}" dt="2026-10-19T17:39:37.251" v="45" actId="368"/>
        <pc:sldMkLst>
          <pc:docMk/>
          <pc:sldMk cId="0" sldId="412"/>
        </pc:sldMkLst>
      </pc:sldChg>
      <pc:sldChg chg="modNotes">
        <pc:chgData name="Veal, Breanna" userId="9dd65cb9-b789-4014-8a75-5340e8ea9a9e" providerId="ADAL" clId="{ACED115F-8C23-4612-8EFF-7965D144131C}" dt="2026-10-19T17:39:37.287" v="47" actId="368"/>
        <pc:sldMkLst>
          <pc:docMk/>
          <pc:sldMk cId="0" sldId="415"/>
        </pc:sldMkLst>
      </pc:sldChg>
      <pc:sldChg chg="modNotes">
        <pc:chgData name="Veal, Breanna" userId="9dd65cb9-b789-4014-8a75-5340e8ea9a9e" providerId="ADAL" clId="{ACED115F-8C23-4612-8EFF-7965D144131C}" dt="2026-10-19T17:39:37.312" v="49" actId="368"/>
        <pc:sldMkLst>
          <pc:docMk/>
          <pc:sldMk cId="0" sldId="417"/>
        </pc:sldMkLst>
      </pc:sldChg>
      <pc:sldChg chg="modNotes">
        <pc:chgData name="Veal, Breanna" userId="9dd65cb9-b789-4014-8a75-5340e8ea9a9e" providerId="ADAL" clId="{ACED115F-8C23-4612-8EFF-7965D144131C}" dt="2026-10-19T17:39:37.349" v="53" actId="368"/>
        <pc:sldMkLst>
          <pc:docMk/>
          <pc:sldMk cId="0" sldId="418"/>
        </pc:sldMkLst>
      </pc:sldChg>
      <pc:sldChg chg="modNotes">
        <pc:chgData name="Veal, Breanna" userId="9dd65cb9-b789-4014-8a75-5340e8ea9a9e" providerId="ADAL" clId="{ACED115F-8C23-4612-8EFF-7965D144131C}" dt="2026-10-19T17:39:37.367" v="55" actId="368"/>
        <pc:sldMkLst>
          <pc:docMk/>
          <pc:sldMk cId="0" sldId="419"/>
        </pc:sldMkLst>
      </pc:sldChg>
      <pc:sldChg chg="modNotes">
        <pc:chgData name="Veal, Breanna" userId="9dd65cb9-b789-4014-8a75-5340e8ea9a9e" providerId="ADAL" clId="{ACED115F-8C23-4612-8EFF-7965D144131C}" dt="2026-10-19T17:39:37.443" v="59" actId="368"/>
        <pc:sldMkLst>
          <pc:docMk/>
          <pc:sldMk cId="0" sldId="423"/>
        </pc:sldMkLst>
      </pc:sldChg>
      <pc:sldChg chg="modNotes">
        <pc:chgData name="Veal, Breanna" userId="9dd65cb9-b789-4014-8a75-5340e8ea9a9e" providerId="ADAL" clId="{ACED115F-8C23-4612-8EFF-7965D144131C}" dt="2026-10-19T17:39:37.460" v="61" actId="368"/>
        <pc:sldMkLst>
          <pc:docMk/>
          <pc:sldMk cId="0" sldId="425"/>
        </pc:sldMkLst>
      </pc:sldChg>
      <pc:sldChg chg="modNotes">
        <pc:chgData name="Veal, Breanna" userId="9dd65cb9-b789-4014-8a75-5340e8ea9a9e" providerId="ADAL" clId="{ACED115F-8C23-4612-8EFF-7965D144131C}" dt="2026-10-19T17:39:37.626" v="67" actId="368"/>
        <pc:sldMkLst>
          <pc:docMk/>
          <pc:sldMk cId="0" sldId="427"/>
        </pc:sldMkLst>
      </pc:sldChg>
      <pc:sldChg chg="modNotes">
        <pc:chgData name="Veal, Breanna" userId="9dd65cb9-b789-4014-8a75-5340e8ea9a9e" providerId="ADAL" clId="{ACED115F-8C23-4612-8EFF-7965D144131C}" dt="2026-10-19T17:39:37.636" v="69" actId="368"/>
        <pc:sldMkLst>
          <pc:docMk/>
          <pc:sldMk cId="0" sldId="428"/>
        </pc:sldMkLst>
      </pc:sldChg>
      <pc:sldChg chg="modNotes">
        <pc:chgData name="Veal, Breanna" userId="9dd65cb9-b789-4014-8a75-5340e8ea9a9e" providerId="ADAL" clId="{ACED115F-8C23-4612-8EFF-7965D144131C}" dt="2026-10-19T17:39:37.715" v="75" actId="368"/>
        <pc:sldMkLst>
          <pc:docMk/>
          <pc:sldMk cId="0" sldId="431"/>
        </pc:sldMkLst>
      </pc:sldChg>
      <pc:sldChg chg="modNotes">
        <pc:chgData name="Veal, Breanna" userId="9dd65cb9-b789-4014-8a75-5340e8ea9a9e" providerId="ADAL" clId="{ACED115F-8C23-4612-8EFF-7965D144131C}" dt="2026-10-19T17:39:37.731" v="77" actId="368"/>
        <pc:sldMkLst>
          <pc:docMk/>
          <pc:sldMk cId="0" sldId="432"/>
        </pc:sldMkLst>
      </pc:sldChg>
      <pc:sldChg chg="modNotes">
        <pc:chgData name="Veal, Breanna" userId="9dd65cb9-b789-4014-8a75-5340e8ea9a9e" providerId="ADAL" clId="{ACED115F-8C23-4612-8EFF-7965D144131C}" dt="2026-10-19T17:39:37.750" v="79" actId="368"/>
        <pc:sldMkLst>
          <pc:docMk/>
          <pc:sldMk cId="0" sldId="433"/>
        </pc:sldMkLst>
      </pc:sldChg>
      <pc:sldChg chg="modNotes">
        <pc:chgData name="Veal, Breanna" userId="9dd65cb9-b789-4014-8a75-5340e8ea9a9e" providerId="ADAL" clId="{ACED115F-8C23-4612-8EFF-7965D144131C}" dt="2026-10-19T17:39:37.765" v="81" actId="368"/>
        <pc:sldMkLst>
          <pc:docMk/>
          <pc:sldMk cId="0" sldId="434"/>
        </pc:sldMkLst>
      </pc:sldChg>
      <pc:sldChg chg="modNotes">
        <pc:chgData name="Veal, Breanna" userId="9dd65cb9-b789-4014-8a75-5340e8ea9a9e" providerId="ADAL" clId="{ACED115F-8C23-4612-8EFF-7965D144131C}" dt="2026-10-19T17:39:37.845" v="87" actId="368"/>
        <pc:sldMkLst>
          <pc:docMk/>
          <pc:sldMk cId="0" sldId="436"/>
        </pc:sldMkLst>
      </pc:sldChg>
      <pc:sldChg chg="modNotes">
        <pc:chgData name="Veal, Breanna" userId="9dd65cb9-b789-4014-8a75-5340e8ea9a9e" providerId="ADAL" clId="{ACED115F-8C23-4612-8EFF-7965D144131C}" dt="2026-10-19T17:39:37.862" v="89" actId="368"/>
        <pc:sldMkLst>
          <pc:docMk/>
          <pc:sldMk cId="0" sldId="437"/>
        </pc:sldMkLst>
      </pc:sldChg>
      <pc:sldChg chg="modNotes">
        <pc:chgData name="Veal, Breanna" userId="9dd65cb9-b789-4014-8a75-5340e8ea9a9e" providerId="ADAL" clId="{ACED115F-8C23-4612-8EFF-7965D144131C}" dt="2026-10-19T17:39:37.876" v="91" actId="368"/>
        <pc:sldMkLst>
          <pc:docMk/>
          <pc:sldMk cId="0" sldId="438"/>
        </pc:sldMkLst>
      </pc:sldChg>
      <pc:sldChg chg="modNotes">
        <pc:chgData name="Veal, Breanna" userId="9dd65cb9-b789-4014-8a75-5340e8ea9a9e" providerId="ADAL" clId="{ACED115F-8C23-4612-8EFF-7965D144131C}" dt="2026-10-19T17:39:37.890" v="93" actId="368"/>
        <pc:sldMkLst>
          <pc:docMk/>
          <pc:sldMk cId="0" sldId="439"/>
        </pc:sldMkLst>
      </pc:sldChg>
      <pc:sldChg chg="modNotes">
        <pc:chgData name="Veal, Breanna" userId="9dd65cb9-b789-4014-8a75-5340e8ea9a9e" providerId="ADAL" clId="{ACED115F-8C23-4612-8EFF-7965D144131C}" dt="2026-10-19T17:39:37.892" v="95" actId="368"/>
        <pc:sldMkLst>
          <pc:docMk/>
          <pc:sldMk cId="0" sldId="440"/>
        </pc:sldMkLst>
      </pc:sldChg>
      <pc:sldChg chg="modNotes">
        <pc:chgData name="Veal, Breanna" userId="9dd65cb9-b789-4014-8a75-5340e8ea9a9e" providerId="ADAL" clId="{ACED115F-8C23-4612-8EFF-7965D144131C}" dt="2026-10-19T17:39:37.906" v="97" actId="368"/>
        <pc:sldMkLst>
          <pc:docMk/>
          <pc:sldMk cId="0" sldId="441"/>
        </pc:sldMkLst>
      </pc:sldChg>
      <pc:sldChg chg="modNotes">
        <pc:chgData name="Veal, Breanna" userId="9dd65cb9-b789-4014-8a75-5340e8ea9a9e" providerId="ADAL" clId="{ACED115F-8C23-4612-8EFF-7965D144131C}" dt="2026-10-19T17:39:37.922" v="99" actId="368"/>
        <pc:sldMkLst>
          <pc:docMk/>
          <pc:sldMk cId="0" sldId="442"/>
        </pc:sldMkLst>
      </pc:sldChg>
      <pc:sldChg chg="modNotes">
        <pc:chgData name="Veal, Breanna" userId="9dd65cb9-b789-4014-8a75-5340e8ea9a9e" providerId="ADAL" clId="{ACED115F-8C23-4612-8EFF-7965D144131C}" dt="2026-10-19T17:39:37.950" v="101" actId="368"/>
        <pc:sldMkLst>
          <pc:docMk/>
          <pc:sldMk cId="0" sldId="444"/>
        </pc:sldMkLst>
      </pc:sldChg>
      <pc:sldChg chg="modNotes">
        <pc:chgData name="Veal, Breanna" userId="9dd65cb9-b789-4014-8a75-5340e8ea9a9e" providerId="ADAL" clId="{ACED115F-8C23-4612-8EFF-7965D144131C}" dt="2026-10-19T17:39:37.969" v="103" actId="368"/>
        <pc:sldMkLst>
          <pc:docMk/>
          <pc:sldMk cId="0" sldId="445"/>
        </pc:sldMkLst>
      </pc:sldChg>
      <pc:sldChg chg="modNotes">
        <pc:chgData name="Veal, Breanna" userId="9dd65cb9-b789-4014-8a75-5340e8ea9a9e" providerId="ADAL" clId="{ACED115F-8C23-4612-8EFF-7965D144131C}" dt="2026-10-19T17:39:37.985" v="105" actId="368"/>
        <pc:sldMkLst>
          <pc:docMk/>
          <pc:sldMk cId="0" sldId="446"/>
        </pc:sldMkLst>
      </pc:sldChg>
      <pc:sldChg chg="modNotes">
        <pc:chgData name="Veal, Breanna" userId="9dd65cb9-b789-4014-8a75-5340e8ea9a9e" providerId="ADAL" clId="{ACED115F-8C23-4612-8EFF-7965D144131C}" dt="2026-10-19T17:39:38.008" v="107" actId="368"/>
        <pc:sldMkLst>
          <pc:docMk/>
          <pc:sldMk cId="0" sldId="447"/>
        </pc:sldMkLst>
      </pc:sldChg>
      <pc:sldChg chg="modNotes">
        <pc:chgData name="Veal, Breanna" userId="9dd65cb9-b789-4014-8a75-5340e8ea9a9e" providerId="ADAL" clId="{ACED115F-8C23-4612-8EFF-7965D144131C}" dt="2026-10-19T17:39:38.018" v="109" actId="368"/>
        <pc:sldMkLst>
          <pc:docMk/>
          <pc:sldMk cId="0" sldId="449"/>
        </pc:sldMkLst>
      </pc:sldChg>
      <pc:sldChg chg="modNotes">
        <pc:chgData name="Veal, Breanna" userId="9dd65cb9-b789-4014-8a75-5340e8ea9a9e" providerId="ADAL" clId="{ACED115F-8C23-4612-8EFF-7965D144131C}" dt="2026-10-19T17:39:38.072" v="111" actId="368"/>
        <pc:sldMkLst>
          <pc:docMk/>
          <pc:sldMk cId="0" sldId="452"/>
        </pc:sldMkLst>
      </pc:sldChg>
      <pc:sldChg chg="modNotes">
        <pc:chgData name="Veal, Breanna" userId="9dd65cb9-b789-4014-8a75-5340e8ea9a9e" providerId="ADAL" clId="{ACED115F-8C23-4612-8EFF-7965D144131C}" dt="2026-10-19T17:39:38.092" v="113" actId="368"/>
        <pc:sldMkLst>
          <pc:docMk/>
          <pc:sldMk cId="0" sldId="453"/>
        </pc:sldMkLst>
      </pc:sldChg>
      <pc:sldChg chg="modNotes">
        <pc:chgData name="Veal, Breanna" userId="9dd65cb9-b789-4014-8a75-5340e8ea9a9e" providerId="ADAL" clId="{ACED115F-8C23-4612-8EFF-7965D144131C}" dt="2026-10-19T17:39:38.152" v="119" actId="368"/>
        <pc:sldMkLst>
          <pc:docMk/>
          <pc:sldMk cId="0" sldId="456"/>
        </pc:sldMkLst>
      </pc:sldChg>
      <pc:sldChg chg="modNotes">
        <pc:chgData name="Veal, Breanna" userId="9dd65cb9-b789-4014-8a75-5340e8ea9a9e" providerId="ADAL" clId="{ACED115F-8C23-4612-8EFF-7965D144131C}" dt="2026-10-19T17:39:36.619" v="3" actId="368"/>
        <pc:sldMkLst>
          <pc:docMk/>
          <pc:sldMk cId="2705971962" sldId="521"/>
        </pc:sldMkLst>
      </pc:sldChg>
      <pc:sldChg chg="modNotes">
        <pc:chgData name="Veal, Breanna" userId="9dd65cb9-b789-4014-8a75-5340e8ea9a9e" providerId="ADAL" clId="{ACED115F-8C23-4612-8EFF-7965D144131C}" dt="2026-10-19T17:39:36.811" v="11" actId="368"/>
        <pc:sldMkLst>
          <pc:docMk/>
          <pc:sldMk cId="1889994514" sldId="523"/>
        </pc:sldMkLst>
      </pc:sldChg>
      <pc:sldChg chg="modNotes">
        <pc:chgData name="Veal, Breanna" userId="9dd65cb9-b789-4014-8a75-5340e8ea9a9e" providerId="ADAL" clId="{ACED115F-8C23-4612-8EFF-7965D144131C}" dt="2026-10-19T17:39:36.843" v="13" actId="368"/>
        <pc:sldMkLst>
          <pc:docMk/>
          <pc:sldMk cId="765000840" sldId="525"/>
        </pc:sldMkLst>
      </pc:sldChg>
      <pc:sldChg chg="modNotes">
        <pc:chgData name="Veal, Breanna" userId="9dd65cb9-b789-4014-8a75-5340e8ea9a9e" providerId="ADAL" clId="{ACED115F-8C23-4612-8EFF-7965D144131C}" dt="2026-10-19T17:39:38.128" v="117" actId="368"/>
        <pc:sldMkLst>
          <pc:docMk/>
          <pc:sldMk cId="853806425" sldId="527"/>
        </pc:sldMkLst>
      </pc:sldChg>
      <pc:sldChg chg="modNotes">
        <pc:chgData name="Veal, Breanna" userId="9dd65cb9-b789-4014-8a75-5340e8ea9a9e" providerId="ADAL" clId="{ACED115F-8C23-4612-8EFF-7965D144131C}" dt="2026-10-19T17:39:38.112" v="115" actId="368"/>
        <pc:sldMkLst>
          <pc:docMk/>
          <pc:sldMk cId="965756808" sldId="528"/>
        </pc:sldMkLst>
      </pc:sldChg>
      <pc:sldChg chg="modNotes">
        <pc:chgData name="Veal, Breanna" userId="9dd65cb9-b789-4014-8a75-5340e8ea9a9e" providerId="ADAL" clId="{ACED115F-8C23-4612-8EFF-7965D144131C}" dt="2026-10-19T17:39:38.215" v="121" actId="368"/>
        <pc:sldMkLst>
          <pc:docMk/>
          <pc:sldMk cId="1168671429" sldId="529"/>
        </pc:sldMkLst>
      </pc:sldChg>
      <pc:sldChg chg="modNotes">
        <pc:chgData name="Veal, Breanna" userId="9dd65cb9-b789-4014-8a75-5340e8ea9a9e" providerId="ADAL" clId="{ACED115F-8C23-4612-8EFF-7965D144131C}" dt="2026-10-19T17:39:37.336" v="51" actId="368"/>
        <pc:sldMkLst>
          <pc:docMk/>
          <pc:sldMk cId="35159148" sldId="540"/>
        </pc:sldMkLst>
      </pc:sldChg>
      <pc:sldChg chg="modNotes">
        <pc:chgData name="Veal, Breanna" userId="9dd65cb9-b789-4014-8a75-5340e8ea9a9e" providerId="ADAL" clId="{ACED115F-8C23-4612-8EFF-7965D144131C}" dt="2026-10-19T17:39:37.367" v="57" actId="368"/>
        <pc:sldMkLst>
          <pc:docMk/>
          <pc:sldMk cId="2771013922" sldId="541"/>
        </pc:sldMkLst>
      </pc:sldChg>
      <pc:sldChg chg="modNotes">
        <pc:chgData name="Veal, Breanna" userId="9dd65cb9-b789-4014-8a75-5340e8ea9a9e" providerId="ADAL" clId="{ACED115F-8C23-4612-8EFF-7965D144131C}" dt="2026-10-19T17:39:37.488" v="63" actId="368"/>
        <pc:sldMkLst>
          <pc:docMk/>
          <pc:sldMk cId="3683112090" sldId="544"/>
        </pc:sldMkLst>
      </pc:sldChg>
      <pc:sldChg chg="modNotes">
        <pc:chgData name="Veal, Breanna" userId="9dd65cb9-b789-4014-8a75-5340e8ea9a9e" providerId="ADAL" clId="{ACED115F-8C23-4612-8EFF-7965D144131C}" dt="2026-10-19T17:39:37.503" v="65" actId="368"/>
        <pc:sldMkLst>
          <pc:docMk/>
          <pc:sldMk cId="1508540761" sldId="545"/>
        </pc:sldMkLst>
      </pc:sldChg>
      <pc:sldChg chg="modNotes">
        <pc:chgData name="Veal, Breanna" userId="9dd65cb9-b789-4014-8a75-5340e8ea9a9e" providerId="ADAL" clId="{ACED115F-8C23-4612-8EFF-7965D144131C}" dt="2026-10-19T17:39:37.652" v="71" actId="368"/>
        <pc:sldMkLst>
          <pc:docMk/>
          <pc:sldMk cId="3674212328" sldId="546"/>
        </pc:sldMkLst>
      </pc:sldChg>
      <pc:sldChg chg="modNotes">
        <pc:chgData name="Veal, Breanna" userId="9dd65cb9-b789-4014-8a75-5340e8ea9a9e" providerId="ADAL" clId="{ACED115F-8C23-4612-8EFF-7965D144131C}" dt="2026-10-19T17:39:37.691" v="73" actId="368"/>
        <pc:sldMkLst>
          <pc:docMk/>
          <pc:sldMk cId="731448820" sldId="547"/>
        </pc:sldMkLst>
      </pc:sldChg>
      <pc:sldChg chg="modNotes">
        <pc:chgData name="Veal, Breanna" userId="9dd65cb9-b789-4014-8a75-5340e8ea9a9e" providerId="ADAL" clId="{ACED115F-8C23-4612-8EFF-7965D144131C}" dt="2026-10-19T17:39:37.782" v="83" actId="368"/>
        <pc:sldMkLst>
          <pc:docMk/>
          <pc:sldMk cId="1153394120" sldId="548"/>
        </pc:sldMkLst>
      </pc:sldChg>
      <pc:sldChg chg="modNotes">
        <pc:chgData name="Veal, Breanna" userId="9dd65cb9-b789-4014-8a75-5340e8ea9a9e" providerId="ADAL" clId="{ACED115F-8C23-4612-8EFF-7965D144131C}" dt="2026-10-19T17:39:37.816" v="85" actId="368"/>
        <pc:sldMkLst>
          <pc:docMk/>
          <pc:sldMk cId="3209113412" sldId="549"/>
        </pc:sldMkLst>
      </pc:sldChg>
      <pc:sldChg chg="modNotes">
        <pc:chgData name="Veal, Breanna" userId="9dd65cb9-b789-4014-8a75-5340e8ea9a9e" providerId="ADAL" clId="{ACED115F-8C23-4612-8EFF-7965D144131C}" dt="2026-10-19T17:39:36.690" v="7" actId="368"/>
        <pc:sldMkLst>
          <pc:docMk/>
          <pc:sldMk cId="2431550024" sldId="550"/>
        </pc:sldMkLst>
      </pc:sldChg>
      <pc:sldChg chg="modNotes">
        <pc:chgData name="Veal, Breanna" userId="9dd65cb9-b789-4014-8a75-5340e8ea9a9e" providerId="ADAL" clId="{ACED115F-8C23-4612-8EFF-7965D144131C}" dt="2026-10-19T17:39:36.638" v="5" actId="368"/>
        <pc:sldMkLst>
          <pc:docMk/>
          <pc:sldMk cId="2295090242" sldId="55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Helvetica Neue"/>
                <a:ea typeface="Helvetica Neue"/>
                <a:cs typeface="Helvetica Neue"/>
                <a:sym typeface="Helvetica Neue"/>
              </a:defRPr>
            </a:lvl1pPr>
            <a:lvl2pPr marL="914400" marR="0" lvl="1" indent="-228600" algn="l" rtl="0">
              <a:spcBef>
                <a:spcPts val="0"/>
              </a:spcBef>
              <a:spcAft>
                <a:spcPts val="0"/>
              </a:spcAft>
              <a:buSzPts val="1400"/>
              <a:buNone/>
              <a:defRPr sz="1200" b="0" i="0" u="none" strike="noStrike" cap="none">
                <a:solidFill>
                  <a:schemeClr val="dk1"/>
                </a:solidFill>
                <a:latin typeface="Helvetica Neue"/>
                <a:ea typeface="Helvetica Neue"/>
                <a:cs typeface="Helvetica Neue"/>
                <a:sym typeface="Helvetica Neue"/>
              </a:defRPr>
            </a:lvl2pPr>
            <a:lvl3pPr marL="1371600" marR="0" lvl="2" indent="-228600" algn="l" rtl="0">
              <a:spcBef>
                <a:spcPts val="0"/>
              </a:spcBef>
              <a:spcAft>
                <a:spcPts val="0"/>
              </a:spcAft>
              <a:buSzPts val="1400"/>
              <a:buNone/>
              <a:defRPr sz="1200" b="0" i="0" u="none" strike="noStrike" cap="none">
                <a:solidFill>
                  <a:schemeClr val="dk1"/>
                </a:solidFill>
                <a:latin typeface="Helvetica Neue"/>
                <a:ea typeface="Helvetica Neue"/>
                <a:cs typeface="Helvetica Neue"/>
                <a:sym typeface="Helvetica Neue"/>
              </a:defRPr>
            </a:lvl3pPr>
            <a:lvl4pPr marL="1828800" marR="0" lvl="3" indent="-228600" algn="l" rtl="0">
              <a:spcBef>
                <a:spcPts val="0"/>
              </a:spcBef>
              <a:spcAft>
                <a:spcPts val="0"/>
              </a:spcAft>
              <a:buSzPts val="1400"/>
              <a:buNone/>
              <a:defRPr sz="1200" b="0" i="0" u="none" strike="noStrike" cap="none">
                <a:solidFill>
                  <a:schemeClr val="dk1"/>
                </a:solidFill>
                <a:latin typeface="Helvetica Neue"/>
                <a:ea typeface="Helvetica Neue"/>
                <a:cs typeface="Helvetica Neue"/>
                <a:sym typeface="Helvetica Neue"/>
              </a:defRPr>
            </a:lvl4pPr>
            <a:lvl5pPr marL="2286000" marR="0" lvl="4" indent="-228600" algn="l" rtl="0">
              <a:spcBef>
                <a:spcPts val="0"/>
              </a:spcBef>
              <a:spcAft>
                <a:spcPts val="0"/>
              </a:spcAft>
              <a:buSzPts val="1400"/>
              <a:buNone/>
              <a:defRPr sz="1200" b="0" i="0" u="none" strike="noStrike" cap="none">
                <a:solidFill>
                  <a:schemeClr val="dk1"/>
                </a:solidFill>
                <a:latin typeface="Helvetica Neue"/>
                <a:ea typeface="Helvetica Neue"/>
                <a:cs typeface="Helvetica Neue"/>
                <a:sym typeface="Helvetica Neue"/>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www.ahajournals.org/doi/epdf/10.1161/CIR.0000000000001356"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 name="Google Shape;9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3"/>
        <p:cNvGrpSpPr/>
        <p:nvPr/>
      </p:nvGrpSpPr>
      <p:grpSpPr>
        <a:xfrm>
          <a:off x="0" y="0"/>
          <a:ext cx="0" cy="0"/>
          <a:chOff x="0" y="0"/>
          <a:chExt cx="0" cy="0"/>
        </a:xfrm>
      </p:grpSpPr>
      <p:sp>
        <p:nvSpPr>
          <p:cNvPr id="914" name="Google Shape;914;p1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5" name="Google Shape;915;p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85619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3"/>
        <p:cNvGrpSpPr/>
        <p:nvPr/>
      </p:nvGrpSpPr>
      <p:grpSpPr>
        <a:xfrm>
          <a:off x="0" y="0"/>
          <a:ext cx="0" cy="0"/>
          <a:chOff x="0" y="0"/>
          <a:chExt cx="0" cy="0"/>
        </a:xfrm>
      </p:grpSpPr>
      <p:sp>
        <p:nvSpPr>
          <p:cNvPr id="914" name="Google Shape;914;p1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5" name="Google Shape;915;p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493850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1"/>
        <p:cNvGrpSpPr/>
        <p:nvPr/>
      </p:nvGrpSpPr>
      <p:grpSpPr>
        <a:xfrm>
          <a:off x="0" y="0"/>
          <a:ext cx="0" cy="0"/>
          <a:chOff x="0" y="0"/>
          <a:chExt cx="0" cy="0"/>
        </a:xfrm>
      </p:grpSpPr>
      <p:sp>
        <p:nvSpPr>
          <p:cNvPr id="992" name="Google Shape;992;p1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3" name="Google Shape;993;p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527093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1"/>
        <p:cNvGrpSpPr/>
        <p:nvPr/>
      </p:nvGrpSpPr>
      <p:grpSpPr>
        <a:xfrm>
          <a:off x="0" y="0"/>
          <a:ext cx="0" cy="0"/>
          <a:chOff x="0" y="0"/>
          <a:chExt cx="0" cy="0"/>
        </a:xfrm>
      </p:grpSpPr>
      <p:sp>
        <p:nvSpPr>
          <p:cNvPr id="992" name="Google Shape;992;p1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3" name="Google Shape;993;p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293554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7"/>
        <p:cNvGrpSpPr/>
        <p:nvPr/>
      </p:nvGrpSpPr>
      <p:grpSpPr>
        <a:xfrm>
          <a:off x="0" y="0"/>
          <a:ext cx="0" cy="0"/>
          <a:chOff x="0" y="0"/>
          <a:chExt cx="0" cy="0"/>
        </a:xfrm>
      </p:grpSpPr>
      <p:sp>
        <p:nvSpPr>
          <p:cNvPr id="998" name="Google Shape;998;p1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999" name="Google Shape;999;p13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193673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3"/>
        <p:cNvGrpSpPr/>
        <p:nvPr/>
      </p:nvGrpSpPr>
      <p:grpSpPr>
        <a:xfrm>
          <a:off x="0" y="0"/>
          <a:ext cx="0" cy="0"/>
          <a:chOff x="0" y="0"/>
          <a:chExt cx="0" cy="0"/>
        </a:xfrm>
      </p:grpSpPr>
      <p:sp>
        <p:nvSpPr>
          <p:cNvPr id="914" name="Google Shape;914;p1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915" name="Google Shape;915;p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413932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3"/>
        <p:cNvGrpSpPr/>
        <p:nvPr/>
      </p:nvGrpSpPr>
      <p:grpSpPr>
        <a:xfrm>
          <a:off x="0" y="0"/>
          <a:ext cx="0" cy="0"/>
          <a:chOff x="0" y="0"/>
          <a:chExt cx="0" cy="0"/>
        </a:xfrm>
      </p:grpSpPr>
      <p:sp>
        <p:nvSpPr>
          <p:cNvPr id="914" name="Google Shape;914;p1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5" name="Google Shape;915;p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03522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3"/>
        <p:cNvGrpSpPr/>
        <p:nvPr/>
      </p:nvGrpSpPr>
      <p:grpSpPr>
        <a:xfrm>
          <a:off x="0" y="0"/>
          <a:ext cx="0" cy="0"/>
          <a:chOff x="0" y="0"/>
          <a:chExt cx="0" cy="0"/>
        </a:xfrm>
      </p:grpSpPr>
      <p:sp>
        <p:nvSpPr>
          <p:cNvPr id="914" name="Google Shape;914;p1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915" name="Google Shape;915;p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284588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3"/>
        <p:cNvGrpSpPr/>
        <p:nvPr/>
      </p:nvGrpSpPr>
      <p:grpSpPr>
        <a:xfrm>
          <a:off x="0" y="0"/>
          <a:ext cx="0" cy="0"/>
          <a:chOff x="0" y="0"/>
          <a:chExt cx="0" cy="0"/>
        </a:xfrm>
      </p:grpSpPr>
      <p:sp>
        <p:nvSpPr>
          <p:cNvPr id="914" name="Google Shape;914;p1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5" name="Google Shape;915;p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414625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3"/>
        <p:cNvGrpSpPr/>
        <p:nvPr/>
      </p:nvGrpSpPr>
      <p:grpSpPr>
        <a:xfrm>
          <a:off x="0" y="0"/>
          <a:ext cx="0" cy="0"/>
          <a:chOff x="0" y="0"/>
          <a:chExt cx="0" cy="0"/>
        </a:xfrm>
      </p:grpSpPr>
      <p:sp>
        <p:nvSpPr>
          <p:cNvPr id="914" name="Google Shape;914;p1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5" name="Google Shape;915;p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575256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9"/>
        <p:cNvGrpSpPr/>
        <p:nvPr/>
      </p:nvGrpSpPr>
      <p:grpSpPr>
        <a:xfrm>
          <a:off x="0" y="0"/>
          <a:ext cx="0" cy="0"/>
          <a:chOff x="0" y="0"/>
          <a:chExt cx="0" cy="0"/>
        </a:xfrm>
      </p:grpSpPr>
      <p:sp>
        <p:nvSpPr>
          <p:cNvPr id="920" name="Google Shape;920;p1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921" name="Google Shape;921;p1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2"/>
        <p:cNvGrpSpPr/>
        <p:nvPr/>
      </p:nvGrpSpPr>
      <p:grpSpPr>
        <a:xfrm>
          <a:off x="0" y="0"/>
          <a:ext cx="0" cy="0"/>
          <a:chOff x="0" y="0"/>
          <a:chExt cx="0" cy="0"/>
        </a:xfrm>
      </p:grpSpPr>
      <p:sp>
        <p:nvSpPr>
          <p:cNvPr id="933" name="Google Shape;933;p1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4" name="Google Shape;934;p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8"/>
        <p:cNvGrpSpPr/>
        <p:nvPr/>
      </p:nvGrpSpPr>
      <p:grpSpPr>
        <a:xfrm>
          <a:off x="0" y="0"/>
          <a:ext cx="0" cy="0"/>
          <a:chOff x="0" y="0"/>
          <a:chExt cx="0" cy="0"/>
        </a:xfrm>
      </p:grpSpPr>
      <p:sp>
        <p:nvSpPr>
          <p:cNvPr id="939" name="Google Shape;939;p1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0" name="Google Shape;940;p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4"/>
        <p:cNvGrpSpPr/>
        <p:nvPr/>
      </p:nvGrpSpPr>
      <p:grpSpPr>
        <a:xfrm>
          <a:off x="0" y="0"/>
          <a:ext cx="0" cy="0"/>
          <a:chOff x="0" y="0"/>
          <a:chExt cx="0" cy="0"/>
        </a:xfrm>
      </p:grpSpPr>
      <p:sp>
        <p:nvSpPr>
          <p:cNvPr id="945" name="Google Shape;945;p1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6" name="Google Shape;946;p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0"/>
        <p:cNvGrpSpPr/>
        <p:nvPr/>
      </p:nvGrpSpPr>
      <p:grpSpPr>
        <a:xfrm>
          <a:off x="0" y="0"/>
          <a:ext cx="0" cy="0"/>
          <a:chOff x="0" y="0"/>
          <a:chExt cx="0" cy="0"/>
        </a:xfrm>
      </p:grpSpPr>
      <p:sp>
        <p:nvSpPr>
          <p:cNvPr id="951" name="Google Shape;951;p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952" name="Google Shape;952;p1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6"/>
        <p:cNvGrpSpPr/>
        <p:nvPr/>
      </p:nvGrpSpPr>
      <p:grpSpPr>
        <a:xfrm>
          <a:off x="0" y="0"/>
          <a:ext cx="0" cy="0"/>
          <a:chOff x="0" y="0"/>
          <a:chExt cx="0" cy="0"/>
        </a:xfrm>
      </p:grpSpPr>
      <p:sp>
        <p:nvSpPr>
          <p:cNvPr id="957" name="Google Shape;957;p1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8" name="Google Shape;958;p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2"/>
        <p:cNvGrpSpPr/>
        <p:nvPr/>
      </p:nvGrpSpPr>
      <p:grpSpPr>
        <a:xfrm>
          <a:off x="0" y="0"/>
          <a:ext cx="0" cy="0"/>
          <a:chOff x="0" y="0"/>
          <a:chExt cx="0" cy="0"/>
        </a:xfrm>
      </p:grpSpPr>
      <p:sp>
        <p:nvSpPr>
          <p:cNvPr id="963" name="Google Shape;963;p1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964" name="Google Shape;964;p12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2">
          <a:extLst>
            <a:ext uri="{FF2B5EF4-FFF2-40B4-BE49-F238E27FC236}">
              <a16:creationId xmlns:a16="http://schemas.microsoft.com/office/drawing/2014/main" id="{076B4504-8142-EAE7-E6EA-2A2011604BE2}"/>
            </a:ext>
          </a:extLst>
        </p:cNvPr>
        <p:cNvGrpSpPr/>
        <p:nvPr/>
      </p:nvGrpSpPr>
      <p:grpSpPr>
        <a:xfrm>
          <a:off x="0" y="0"/>
          <a:ext cx="0" cy="0"/>
          <a:chOff x="0" y="0"/>
          <a:chExt cx="0" cy="0"/>
        </a:xfrm>
      </p:grpSpPr>
      <p:sp>
        <p:nvSpPr>
          <p:cNvPr id="963" name="Google Shape;963;p124:notes">
            <a:extLst>
              <a:ext uri="{FF2B5EF4-FFF2-40B4-BE49-F238E27FC236}">
                <a16:creationId xmlns:a16="http://schemas.microsoft.com/office/drawing/2014/main" id="{0806BF20-8D99-AAE3-72B6-F98D982B5EC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964" name="Google Shape;964;p124:notes">
            <a:extLst>
              <a:ext uri="{FF2B5EF4-FFF2-40B4-BE49-F238E27FC236}">
                <a16:creationId xmlns:a16="http://schemas.microsoft.com/office/drawing/2014/main" id="{4EEEE2BB-1830-6B32-4618-94D333B4C42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hlinkClick r:id="rId3"/>
              </a:rPr>
              <a:t>2025 AHA/ACC/AANP/AAPA/ABC/ACCP/ACPM/AGS/AMA/ASPC/NMA/PCNA/SGIM Guideline for the Prevention, Detection, Evaluation and Management of High Blood Pressure in Adults: A Report of the American College of Cardiology/American Heart Association Joint Committee on Clinical Practice Guidelines</a:t>
            </a:r>
            <a:endParaRPr lang="en-US"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27187643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5"/>
        <p:cNvGrpSpPr/>
        <p:nvPr/>
      </p:nvGrpSpPr>
      <p:grpSpPr>
        <a:xfrm>
          <a:off x="0" y="0"/>
          <a:ext cx="0" cy="0"/>
          <a:chOff x="0" y="0"/>
          <a:chExt cx="0" cy="0"/>
        </a:xfrm>
      </p:grpSpPr>
      <p:sp>
        <p:nvSpPr>
          <p:cNvPr id="986" name="Google Shape;986;p1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987" name="Google Shape;987;p12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766336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5"/>
        <p:cNvGrpSpPr/>
        <p:nvPr/>
      </p:nvGrpSpPr>
      <p:grpSpPr>
        <a:xfrm>
          <a:off x="0" y="0"/>
          <a:ext cx="0" cy="0"/>
          <a:chOff x="0" y="0"/>
          <a:chExt cx="0" cy="0"/>
        </a:xfrm>
      </p:grpSpPr>
      <p:sp>
        <p:nvSpPr>
          <p:cNvPr id="986" name="Google Shape;986;p1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987" name="Google Shape;987;p12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9"/>
        <p:cNvGrpSpPr/>
        <p:nvPr/>
      </p:nvGrpSpPr>
      <p:grpSpPr>
        <a:xfrm>
          <a:off x="0" y="0"/>
          <a:ext cx="0" cy="0"/>
          <a:chOff x="0" y="0"/>
          <a:chExt cx="0" cy="0"/>
        </a:xfrm>
      </p:grpSpPr>
      <p:sp>
        <p:nvSpPr>
          <p:cNvPr id="1060" name="Google Shape;1060;p13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1" name="Google Shape;1061;p1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5"/>
        <p:cNvGrpSpPr/>
        <p:nvPr/>
      </p:nvGrpSpPr>
      <p:grpSpPr>
        <a:xfrm>
          <a:off x="0" y="0"/>
          <a:ext cx="0" cy="0"/>
          <a:chOff x="0" y="0"/>
          <a:chExt cx="0" cy="0"/>
        </a:xfrm>
      </p:grpSpPr>
      <p:sp>
        <p:nvSpPr>
          <p:cNvPr id="986" name="Google Shape;986;p1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987" name="Google Shape;987;p12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430378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6"/>
        <p:cNvGrpSpPr/>
        <p:nvPr/>
      </p:nvGrpSpPr>
      <p:grpSpPr>
        <a:xfrm>
          <a:off x="0" y="0"/>
          <a:ext cx="0" cy="0"/>
          <a:chOff x="0" y="0"/>
          <a:chExt cx="0" cy="0"/>
        </a:xfrm>
      </p:grpSpPr>
      <p:sp>
        <p:nvSpPr>
          <p:cNvPr id="1017" name="Google Shape;1017;p13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18" name="Google Shape;1018;p1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9"/>
        <p:cNvGrpSpPr/>
        <p:nvPr/>
      </p:nvGrpSpPr>
      <p:grpSpPr>
        <a:xfrm>
          <a:off x="0" y="0"/>
          <a:ext cx="0" cy="0"/>
          <a:chOff x="0" y="0"/>
          <a:chExt cx="0" cy="0"/>
        </a:xfrm>
      </p:grpSpPr>
      <p:sp>
        <p:nvSpPr>
          <p:cNvPr id="1010" name="Google Shape;1010;p1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1" name="Google Shape;1011;p1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8"/>
        <p:cNvGrpSpPr/>
        <p:nvPr/>
      </p:nvGrpSpPr>
      <p:grpSpPr>
        <a:xfrm>
          <a:off x="0" y="0"/>
          <a:ext cx="0" cy="0"/>
          <a:chOff x="0" y="0"/>
          <a:chExt cx="0" cy="0"/>
        </a:xfrm>
      </p:grpSpPr>
      <p:sp>
        <p:nvSpPr>
          <p:cNvPr id="1039" name="Google Shape;1039;p1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40" name="Google Shape;1040;p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5"/>
        <p:cNvGrpSpPr/>
        <p:nvPr/>
      </p:nvGrpSpPr>
      <p:grpSpPr>
        <a:xfrm>
          <a:off x="0" y="0"/>
          <a:ext cx="0" cy="0"/>
          <a:chOff x="0" y="0"/>
          <a:chExt cx="0" cy="0"/>
        </a:xfrm>
      </p:grpSpPr>
      <p:sp>
        <p:nvSpPr>
          <p:cNvPr id="1046" name="Google Shape;1046;p1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47" name="Google Shape;1047;p1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2"/>
        <p:cNvGrpSpPr/>
        <p:nvPr/>
      </p:nvGrpSpPr>
      <p:grpSpPr>
        <a:xfrm>
          <a:off x="0" y="0"/>
          <a:ext cx="0" cy="0"/>
          <a:chOff x="0" y="0"/>
          <a:chExt cx="0" cy="0"/>
        </a:xfrm>
      </p:grpSpPr>
      <p:sp>
        <p:nvSpPr>
          <p:cNvPr id="1053" name="Google Shape;1053;p13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4" name="Google Shape;1054;p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2"/>
        <p:cNvGrpSpPr/>
        <p:nvPr/>
      </p:nvGrpSpPr>
      <p:grpSpPr>
        <a:xfrm>
          <a:off x="0" y="0"/>
          <a:ext cx="0" cy="0"/>
          <a:chOff x="0" y="0"/>
          <a:chExt cx="0" cy="0"/>
        </a:xfrm>
      </p:grpSpPr>
      <p:sp>
        <p:nvSpPr>
          <p:cNvPr id="1053" name="Google Shape;1053;p13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4" name="Google Shape;1054;p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4378055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3"/>
        <p:cNvGrpSpPr/>
        <p:nvPr/>
      </p:nvGrpSpPr>
      <p:grpSpPr>
        <a:xfrm>
          <a:off x="0" y="0"/>
          <a:ext cx="0" cy="0"/>
          <a:chOff x="0" y="0"/>
          <a:chExt cx="0" cy="0"/>
        </a:xfrm>
      </p:grpSpPr>
      <p:sp>
        <p:nvSpPr>
          <p:cNvPr id="1024" name="Google Shape;1024;p13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25" name="Google Shape;1025;p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3"/>
        <p:cNvGrpSpPr/>
        <p:nvPr/>
      </p:nvGrpSpPr>
      <p:grpSpPr>
        <a:xfrm>
          <a:off x="0" y="0"/>
          <a:ext cx="0" cy="0"/>
          <a:chOff x="0" y="0"/>
          <a:chExt cx="0" cy="0"/>
        </a:xfrm>
      </p:grpSpPr>
      <p:sp>
        <p:nvSpPr>
          <p:cNvPr id="1024" name="Google Shape;1024;p13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5" name="Google Shape;1025;p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9327400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6"/>
        <p:cNvGrpSpPr/>
        <p:nvPr/>
      </p:nvGrpSpPr>
      <p:grpSpPr>
        <a:xfrm>
          <a:off x="0" y="0"/>
          <a:ext cx="0" cy="0"/>
          <a:chOff x="0" y="0"/>
          <a:chExt cx="0" cy="0"/>
        </a:xfrm>
      </p:grpSpPr>
      <p:sp>
        <p:nvSpPr>
          <p:cNvPr id="1067" name="Google Shape;1067;p140:notes"/>
          <p:cNvSpPr txBox="1">
            <a:spLocks noGrp="1"/>
          </p:cNvSpPr>
          <p:nvPr>
            <p:ph type="sldNum" idx="12"/>
          </p:nvPr>
        </p:nvSpPr>
        <p:spPr>
          <a:xfrm>
            <a:off x="3884613" y="8685213"/>
            <a:ext cx="2971800" cy="457200"/>
          </a:xfrm>
          <a:prstGeom prst="rect">
            <a:avLst/>
          </a:prstGeom>
          <a:noFill/>
          <a:ln>
            <a:noFill/>
          </a:ln>
        </p:spPr>
        <p:txBody>
          <a:bodyPr spcFirstLastPara="1" wrap="square" lIns="89250" tIns="44625" rIns="89250" bIns="44625" anchor="t" anchorCtr="0">
            <a:noAutofit/>
          </a:bodyPr>
          <a:lstStyle/>
          <a:p>
            <a:pPr marL="0" marR="0" lvl="0" indent="0" algn="l" rtl="0">
              <a:spcBef>
                <a:spcPts val="0"/>
              </a:spcBef>
              <a:spcAft>
                <a:spcPts val="0"/>
              </a:spcAft>
              <a:buNone/>
            </a:pPr>
            <a:fld id="{00000000-1234-1234-1234-123412341234}" type="slidenum">
              <a:rPr lang="en-US" sz="1200">
                <a:solidFill>
                  <a:schemeClr val="dk1"/>
                </a:solidFill>
                <a:latin typeface="Calibri"/>
                <a:ea typeface="Calibri"/>
                <a:cs typeface="Calibri"/>
                <a:sym typeface="Calibri"/>
              </a:rPr>
              <a:t>32</a:t>
            </a:fld>
            <a:endParaRPr sz="1200">
              <a:solidFill>
                <a:schemeClr val="dk1"/>
              </a:solidFill>
              <a:latin typeface="Calibri"/>
              <a:ea typeface="Calibri"/>
              <a:cs typeface="Calibri"/>
              <a:sym typeface="Calibri"/>
            </a:endParaRPr>
          </a:p>
        </p:txBody>
      </p:sp>
      <p:sp>
        <p:nvSpPr>
          <p:cNvPr id="1068" name="Google Shape;1068;p1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69" name="Google Shape;1069;p14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sym typeface="Calibri"/>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3"/>
        <p:cNvGrpSpPr/>
        <p:nvPr/>
      </p:nvGrpSpPr>
      <p:grpSpPr>
        <a:xfrm>
          <a:off x="0" y="0"/>
          <a:ext cx="0" cy="0"/>
          <a:chOff x="0" y="0"/>
          <a:chExt cx="0" cy="0"/>
        </a:xfrm>
      </p:grpSpPr>
      <p:sp>
        <p:nvSpPr>
          <p:cNvPr id="1074" name="Google Shape;1074;p141:notes"/>
          <p:cNvSpPr txBox="1">
            <a:spLocks noGrp="1"/>
          </p:cNvSpPr>
          <p:nvPr>
            <p:ph type="sldNum" idx="12"/>
          </p:nvPr>
        </p:nvSpPr>
        <p:spPr>
          <a:xfrm>
            <a:off x="3884613" y="8685213"/>
            <a:ext cx="2971800" cy="457200"/>
          </a:xfrm>
          <a:prstGeom prst="rect">
            <a:avLst/>
          </a:prstGeom>
          <a:noFill/>
          <a:ln>
            <a:noFill/>
          </a:ln>
        </p:spPr>
        <p:txBody>
          <a:bodyPr spcFirstLastPara="1" wrap="square" lIns="89250" tIns="44625" rIns="89250" bIns="44625" anchor="t" anchorCtr="0">
            <a:noAutofit/>
          </a:bodyPr>
          <a:lstStyle/>
          <a:p>
            <a:pPr marL="0" marR="0" lvl="0" indent="0" algn="l" rtl="0">
              <a:spcBef>
                <a:spcPts val="0"/>
              </a:spcBef>
              <a:spcAft>
                <a:spcPts val="0"/>
              </a:spcAft>
              <a:buNone/>
            </a:pPr>
            <a:fld id="{00000000-1234-1234-1234-123412341234}" type="slidenum">
              <a:rPr lang="en-US" sz="1200">
                <a:solidFill>
                  <a:schemeClr val="dk1"/>
                </a:solidFill>
                <a:latin typeface="Calibri"/>
                <a:ea typeface="Calibri"/>
                <a:cs typeface="Calibri"/>
                <a:sym typeface="Calibri"/>
              </a:rPr>
              <a:t>33</a:t>
            </a:fld>
            <a:endParaRPr sz="1200">
              <a:solidFill>
                <a:schemeClr val="dk1"/>
              </a:solidFill>
              <a:latin typeface="Calibri"/>
              <a:ea typeface="Calibri"/>
              <a:cs typeface="Calibri"/>
              <a:sym typeface="Calibri"/>
            </a:endParaRPr>
          </a:p>
        </p:txBody>
      </p:sp>
      <p:sp>
        <p:nvSpPr>
          <p:cNvPr id="1075" name="Google Shape;1075;p1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76" name="Google Shape;1076;p14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sym typeface="Calibri"/>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8"/>
        <p:cNvGrpSpPr/>
        <p:nvPr/>
      </p:nvGrpSpPr>
      <p:grpSpPr>
        <a:xfrm>
          <a:off x="0" y="0"/>
          <a:ext cx="0" cy="0"/>
          <a:chOff x="0" y="0"/>
          <a:chExt cx="0" cy="0"/>
        </a:xfrm>
      </p:grpSpPr>
      <p:sp>
        <p:nvSpPr>
          <p:cNvPr id="1089" name="Google Shape;1089;p14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90" name="Google Shape;1090;p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7"/>
        <p:cNvGrpSpPr/>
        <p:nvPr/>
      </p:nvGrpSpPr>
      <p:grpSpPr>
        <a:xfrm>
          <a:off x="0" y="0"/>
          <a:ext cx="0" cy="0"/>
          <a:chOff x="0" y="0"/>
          <a:chExt cx="0" cy="0"/>
        </a:xfrm>
      </p:grpSpPr>
      <p:sp>
        <p:nvSpPr>
          <p:cNvPr id="1098" name="Google Shape;1098;p14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99" name="Google Shape;1099;p1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5"/>
        <p:cNvGrpSpPr/>
        <p:nvPr/>
      </p:nvGrpSpPr>
      <p:grpSpPr>
        <a:xfrm>
          <a:off x="0" y="0"/>
          <a:ext cx="0" cy="0"/>
          <a:chOff x="0" y="0"/>
          <a:chExt cx="0" cy="0"/>
        </a:xfrm>
      </p:grpSpPr>
      <p:sp>
        <p:nvSpPr>
          <p:cNvPr id="1106" name="Google Shape;1106;p1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107" name="Google Shape;1107;p14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u="sng"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3"/>
        <p:cNvGrpSpPr/>
        <p:nvPr/>
      </p:nvGrpSpPr>
      <p:grpSpPr>
        <a:xfrm>
          <a:off x="0" y="0"/>
          <a:ext cx="0" cy="0"/>
          <a:chOff x="0" y="0"/>
          <a:chExt cx="0" cy="0"/>
        </a:xfrm>
      </p:grpSpPr>
      <p:sp>
        <p:nvSpPr>
          <p:cNvPr id="1114" name="Google Shape;1114;p14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115" name="Google Shape;1115;p1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9"/>
        <p:cNvGrpSpPr/>
        <p:nvPr/>
      </p:nvGrpSpPr>
      <p:grpSpPr>
        <a:xfrm>
          <a:off x="0" y="0"/>
          <a:ext cx="0" cy="0"/>
          <a:chOff x="0" y="0"/>
          <a:chExt cx="0" cy="0"/>
        </a:xfrm>
      </p:grpSpPr>
      <p:sp>
        <p:nvSpPr>
          <p:cNvPr id="1130" name="Google Shape;1130;p14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1" name="Google Shape;1131;p1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9"/>
        <p:cNvGrpSpPr/>
        <p:nvPr/>
      </p:nvGrpSpPr>
      <p:grpSpPr>
        <a:xfrm>
          <a:off x="0" y="0"/>
          <a:ext cx="0" cy="0"/>
          <a:chOff x="0" y="0"/>
          <a:chExt cx="0" cy="0"/>
        </a:xfrm>
      </p:grpSpPr>
      <p:sp>
        <p:nvSpPr>
          <p:cNvPr id="1140" name="Google Shape;1140;p1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141" name="Google Shape;1141;p14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6"/>
        <p:cNvGrpSpPr/>
        <p:nvPr/>
      </p:nvGrpSpPr>
      <p:grpSpPr>
        <a:xfrm>
          <a:off x="0" y="0"/>
          <a:ext cx="0" cy="0"/>
          <a:chOff x="0" y="0"/>
          <a:chExt cx="0" cy="0"/>
        </a:xfrm>
      </p:grpSpPr>
      <p:sp>
        <p:nvSpPr>
          <p:cNvPr id="1147" name="Google Shape;1147;p14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8" name="Google Shape;1148;p1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3"/>
        <p:cNvGrpSpPr/>
        <p:nvPr/>
      </p:nvGrpSpPr>
      <p:grpSpPr>
        <a:xfrm>
          <a:off x="0" y="0"/>
          <a:ext cx="0" cy="0"/>
          <a:chOff x="0" y="0"/>
          <a:chExt cx="0" cy="0"/>
        </a:xfrm>
      </p:grpSpPr>
      <p:sp>
        <p:nvSpPr>
          <p:cNvPr id="1154" name="Google Shape;1154;p15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5" name="Google Shape;1155;p1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0"/>
        <p:cNvGrpSpPr/>
        <p:nvPr/>
      </p:nvGrpSpPr>
      <p:grpSpPr>
        <a:xfrm>
          <a:off x="0" y="0"/>
          <a:ext cx="0" cy="0"/>
          <a:chOff x="0" y="0"/>
          <a:chExt cx="0" cy="0"/>
        </a:xfrm>
      </p:grpSpPr>
      <p:sp>
        <p:nvSpPr>
          <p:cNvPr id="1161" name="Google Shape;1161;p15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2" name="Google Shape;1162;p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7"/>
        <p:cNvGrpSpPr/>
        <p:nvPr/>
      </p:nvGrpSpPr>
      <p:grpSpPr>
        <a:xfrm>
          <a:off x="0" y="0"/>
          <a:ext cx="0" cy="0"/>
          <a:chOff x="0" y="0"/>
          <a:chExt cx="0" cy="0"/>
        </a:xfrm>
      </p:grpSpPr>
      <p:sp>
        <p:nvSpPr>
          <p:cNvPr id="1168" name="Google Shape;1168;p1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169" name="Google Shape;1169;p15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228600" lvl="0" indent="-228600" algn="l" rtl="0">
              <a:spcBef>
                <a:spcPts val="0"/>
              </a:spcBef>
              <a:spcAft>
                <a:spcPts val="0"/>
              </a:spcAft>
              <a:buAutoNum type="arabicPeriod"/>
            </a:pPr>
            <a:endParaRPr 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4"/>
        <p:cNvGrpSpPr/>
        <p:nvPr/>
      </p:nvGrpSpPr>
      <p:grpSpPr>
        <a:xfrm>
          <a:off x="0" y="0"/>
          <a:ext cx="0" cy="0"/>
          <a:chOff x="0" y="0"/>
          <a:chExt cx="0" cy="0"/>
        </a:xfrm>
      </p:grpSpPr>
      <p:sp>
        <p:nvSpPr>
          <p:cNvPr id="1175" name="Google Shape;1175;p15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6" name="Google Shape;1176;p1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2"/>
        <p:cNvGrpSpPr/>
        <p:nvPr/>
      </p:nvGrpSpPr>
      <p:grpSpPr>
        <a:xfrm>
          <a:off x="0" y="0"/>
          <a:ext cx="0" cy="0"/>
          <a:chOff x="0" y="0"/>
          <a:chExt cx="0" cy="0"/>
        </a:xfrm>
      </p:grpSpPr>
      <p:sp>
        <p:nvSpPr>
          <p:cNvPr id="1183" name="Google Shape;1183;p15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4" name="Google Shape;1184;p1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9"/>
        <p:cNvGrpSpPr/>
        <p:nvPr/>
      </p:nvGrpSpPr>
      <p:grpSpPr>
        <a:xfrm>
          <a:off x="0" y="0"/>
          <a:ext cx="0" cy="0"/>
          <a:chOff x="0" y="0"/>
          <a:chExt cx="0" cy="0"/>
        </a:xfrm>
      </p:grpSpPr>
      <p:sp>
        <p:nvSpPr>
          <p:cNvPr id="1190" name="Google Shape;1190;p15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1" name="Google Shape;1191;p1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6"/>
        <p:cNvGrpSpPr/>
        <p:nvPr/>
      </p:nvGrpSpPr>
      <p:grpSpPr>
        <a:xfrm>
          <a:off x="0" y="0"/>
          <a:ext cx="0" cy="0"/>
          <a:chOff x="0" y="0"/>
          <a:chExt cx="0" cy="0"/>
        </a:xfrm>
      </p:grpSpPr>
      <p:sp>
        <p:nvSpPr>
          <p:cNvPr id="1197" name="Google Shape;1197;p15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8" name="Google Shape;1198;p1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5"/>
        <p:cNvGrpSpPr/>
        <p:nvPr/>
      </p:nvGrpSpPr>
      <p:grpSpPr>
        <a:xfrm>
          <a:off x="0" y="0"/>
          <a:ext cx="0" cy="0"/>
          <a:chOff x="0" y="0"/>
          <a:chExt cx="0" cy="0"/>
        </a:xfrm>
      </p:grpSpPr>
      <p:sp>
        <p:nvSpPr>
          <p:cNvPr id="1206" name="Google Shape;1206;p15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7" name="Google Shape;1207;p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2"/>
        <p:cNvGrpSpPr/>
        <p:nvPr/>
      </p:nvGrpSpPr>
      <p:grpSpPr>
        <a:xfrm>
          <a:off x="0" y="0"/>
          <a:ext cx="0" cy="0"/>
          <a:chOff x="0" y="0"/>
          <a:chExt cx="0" cy="0"/>
        </a:xfrm>
      </p:grpSpPr>
      <p:sp>
        <p:nvSpPr>
          <p:cNvPr id="1213" name="Google Shape;1213;p158:notes"/>
          <p:cNvSpPr txBox="1">
            <a:spLocks noGrp="1"/>
          </p:cNvSpPr>
          <p:nvPr>
            <p:ph type="sldNum" idx="12"/>
          </p:nvPr>
        </p:nvSpPr>
        <p:spPr>
          <a:xfrm>
            <a:off x="3884613" y="8685213"/>
            <a:ext cx="2971800" cy="457200"/>
          </a:xfrm>
          <a:prstGeom prst="rect">
            <a:avLst/>
          </a:prstGeom>
          <a:noFill/>
          <a:ln>
            <a:noFill/>
          </a:ln>
        </p:spPr>
        <p:txBody>
          <a:bodyPr spcFirstLastPara="1" wrap="square" lIns="89250" tIns="44625" rIns="89250" bIns="44625" anchor="t" anchorCtr="0">
            <a:noAutofit/>
          </a:bodyPr>
          <a:lstStyle/>
          <a:p>
            <a:pPr marL="0" marR="0" lvl="0" indent="0" algn="l" rtl="0">
              <a:spcBef>
                <a:spcPts val="0"/>
              </a:spcBef>
              <a:spcAft>
                <a:spcPts val="0"/>
              </a:spcAft>
              <a:buNone/>
            </a:pPr>
            <a:fld id="{00000000-1234-1234-1234-123412341234}" type="slidenum">
              <a:rPr lang="en-US" sz="1200">
                <a:solidFill>
                  <a:schemeClr val="dk1"/>
                </a:solidFill>
                <a:latin typeface="Calibri"/>
                <a:ea typeface="Calibri"/>
                <a:cs typeface="Calibri"/>
                <a:sym typeface="Calibri"/>
              </a:rPr>
              <a:t>49</a:t>
            </a:fld>
            <a:endParaRPr sz="1200">
              <a:solidFill>
                <a:schemeClr val="dk1"/>
              </a:solidFill>
              <a:latin typeface="Calibri"/>
              <a:ea typeface="Calibri"/>
              <a:cs typeface="Calibri"/>
              <a:sym typeface="Calibri"/>
            </a:endParaRPr>
          </a:p>
        </p:txBody>
      </p:sp>
      <p:sp>
        <p:nvSpPr>
          <p:cNvPr id="1214" name="Google Shape;1214;p1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15" name="Google Shape;1215;p15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Calibri"/>
              <a:ea typeface="Calibri"/>
              <a:cs typeface="Calibri"/>
              <a:sym typeface="Calibri"/>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2"/>
        <p:cNvGrpSpPr/>
        <p:nvPr/>
      </p:nvGrpSpPr>
      <p:grpSpPr>
        <a:xfrm>
          <a:off x="0" y="0"/>
          <a:ext cx="0" cy="0"/>
          <a:chOff x="0" y="0"/>
          <a:chExt cx="0" cy="0"/>
        </a:xfrm>
      </p:grpSpPr>
      <p:sp>
        <p:nvSpPr>
          <p:cNvPr id="1223" name="Google Shape;1223;p159:notes"/>
          <p:cNvSpPr txBox="1">
            <a:spLocks noGrp="1"/>
          </p:cNvSpPr>
          <p:nvPr>
            <p:ph type="sldNum" idx="12"/>
          </p:nvPr>
        </p:nvSpPr>
        <p:spPr>
          <a:xfrm>
            <a:off x="3884613" y="8685213"/>
            <a:ext cx="2971800" cy="457200"/>
          </a:xfrm>
          <a:prstGeom prst="rect">
            <a:avLst/>
          </a:prstGeom>
          <a:noFill/>
          <a:ln>
            <a:noFill/>
          </a:ln>
        </p:spPr>
        <p:txBody>
          <a:bodyPr spcFirstLastPara="1" wrap="square" lIns="89250" tIns="44625" rIns="89250" bIns="44625" anchor="t" anchorCtr="0">
            <a:noAutofit/>
          </a:bodyPr>
          <a:lstStyle/>
          <a:p>
            <a:pPr marL="0" marR="0" lvl="0" indent="0" algn="l" rtl="0">
              <a:spcBef>
                <a:spcPts val="0"/>
              </a:spcBef>
              <a:spcAft>
                <a:spcPts val="0"/>
              </a:spcAft>
              <a:buNone/>
            </a:pPr>
            <a:fld id="{00000000-1234-1234-1234-123412341234}" type="slidenum">
              <a:rPr lang="en-US" sz="1200">
                <a:solidFill>
                  <a:schemeClr val="dk1"/>
                </a:solidFill>
                <a:latin typeface="Calibri"/>
                <a:ea typeface="Calibri"/>
                <a:cs typeface="Calibri"/>
                <a:sym typeface="Calibri"/>
              </a:rPr>
              <a:t>50</a:t>
            </a:fld>
            <a:endParaRPr sz="1200">
              <a:solidFill>
                <a:schemeClr val="dk1"/>
              </a:solidFill>
              <a:latin typeface="Calibri"/>
              <a:ea typeface="Calibri"/>
              <a:cs typeface="Calibri"/>
              <a:sym typeface="Calibri"/>
            </a:endParaRPr>
          </a:p>
        </p:txBody>
      </p:sp>
      <p:sp>
        <p:nvSpPr>
          <p:cNvPr id="1224" name="Google Shape;1224;p1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25" name="Google Shape;1225;p15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Calibri"/>
              <a:ea typeface="Calibri"/>
              <a:cs typeface="Calibri"/>
              <a:sym typeface="Calibri"/>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9"/>
        <p:cNvGrpSpPr/>
        <p:nvPr/>
      </p:nvGrpSpPr>
      <p:grpSpPr>
        <a:xfrm>
          <a:off x="0" y="0"/>
          <a:ext cx="0" cy="0"/>
          <a:chOff x="0" y="0"/>
          <a:chExt cx="0" cy="0"/>
        </a:xfrm>
      </p:grpSpPr>
      <p:sp>
        <p:nvSpPr>
          <p:cNvPr id="1230" name="Google Shape;1230;p160:notes"/>
          <p:cNvSpPr txBox="1">
            <a:spLocks noGrp="1"/>
          </p:cNvSpPr>
          <p:nvPr>
            <p:ph type="sldNum" idx="12"/>
          </p:nvPr>
        </p:nvSpPr>
        <p:spPr>
          <a:xfrm>
            <a:off x="3884613" y="8685213"/>
            <a:ext cx="2971800" cy="457200"/>
          </a:xfrm>
          <a:prstGeom prst="rect">
            <a:avLst/>
          </a:prstGeom>
          <a:noFill/>
          <a:ln>
            <a:noFill/>
          </a:ln>
        </p:spPr>
        <p:txBody>
          <a:bodyPr spcFirstLastPara="1" wrap="square" lIns="89250" tIns="44625" rIns="89250" bIns="44625" anchor="t" anchorCtr="0">
            <a:noAutofit/>
          </a:bodyPr>
          <a:lstStyle/>
          <a:p>
            <a:pPr marL="0" marR="0" lvl="0" indent="0" algn="l" rtl="0">
              <a:spcBef>
                <a:spcPts val="0"/>
              </a:spcBef>
              <a:spcAft>
                <a:spcPts val="0"/>
              </a:spcAft>
              <a:buNone/>
            </a:pPr>
            <a:fld id="{00000000-1234-1234-1234-123412341234}" type="slidenum">
              <a:rPr lang="en-US" sz="1200">
                <a:solidFill>
                  <a:schemeClr val="dk1"/>
                </a:solidFill>
                <a:latin typeface="Calibri"/>
                <a:ea typeface="Calibri"/>
                <a:cs typeface="Calibri"/>
                <a:sym typeface="Calibri"/>
              </a:rPr>
              <a:t>51</a:t>
            </a:fld>
            <a:endParaRPr sz="1200">
              <a:solidFill>
                <a:schemeClr val="dk1"/>
              </a:solidFill>
              <a:latin typeface="Calibri"/>
              <a:ea typeface="Calibri"/>
              <a:cs typeface="Calibri"/>
              <a:sym typeface="Calibri"/>
            </a:endParaRPr>
          </a:p>
        </p:txBody>
      </p:sp>
      <p:sp>
        <p:nvSpPr>
          <p:cNvPr id="1231" name="Google Shape;1231;p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32" name="Google Shape;1232;p16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sym typeface="Calibri"/>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5"/>
        <p:cNvGrpSpPr/>
        <p:nvPr/>
      </p:nvGrpSpPr>
      <p:grpSpPr>
        <a:xfrm>
          <a:off x="0" y="0"/>
          <a:ext cx="0" cy="0"/>
          <a:chOff x="0" y="0"/>
          <a:chExt cx="0" cy="0"/>
        </a:xfrm>
      </p:grpSpPr>
      <p:sp>
        <p:nvSpPr>
          <p:cNvPr id="1246" name="Google Shape;1246;p16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47" name="Google Shape;1247;p1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5"/>
        <p:cNvGrpSpPr/>
        <p:nvPr/>
      </p:nvGrpSpPr>
      <p:grpSpPr>
        <a:xfrm>
          <a:off x="0" y="0"/>
          <a:ext cx="0" cy="0"/>
          <a:chOff x="0" y="0"/>
          <a:chExt cx="0" cy="0"/>
        </a:xfrm>
      </p:grpSpPr>
      <p:sp>
        <p:nvSpPr>
          <p:cNvPr id="1246" name="Google Shape;1246;p16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7" name="Google Shape;1247;p1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3710349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2"/>
        <p:cNvGrpSpPr/>
        <p:nvPr/>
      </p:nvGrpSpPr>
      <p:grpSpPr>
        <a:xfrm>
          <a:off x="0" y="0"/>
          <a:ext cx="0" cy="0"/>
          <a:chOff x="0" y="0"/>
          <a:chExt cx="0" cy="0"/>
        </a:xfrm>
      </p:grpSpPr>
      <p:sp>
        <p:nvSpPr>
          <p:cNvPr id="1253" name="Google Shape;1253;p16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54" name="Google Shape;1254;p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9"/>
        <p:cNvGrpSpPr/>
        <p:nvPr/>
      </p:nvGrpSpPr>
      <p:grpSpPr>
        <a:xfrm>
          <a:off x="0" y="0"/>
          <a:ext cx="0" cy="0"/>
          <a:chOff x="0" y="0"/>
          <a:chExt cx="0" cy="0"/>
        </a:xfrm>
      </p:grpSpPr>
      <p:sp>
        <p:nvSpPr>
          <p:cNvPr id="1260" name="Google Shape;1260;p16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US" dirty="0"/>
          </a:p>
        </p:txBody>
      </p:sp>
      <p:sp>
        <p:nvSpPr>
          <p:cNvPr id="1261" name="Google Shape;1261;p1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9"/>
        <p:cNvGrpSpPr/>
        <p:nvPr/>
      </p:nvGrpSpPr>
      <p:grpSpPr>
        <a:xfrm>
          <a:off x="0" y="0"/>
          <a:ext cx="0" cy="0"/>
          <a:chOff x="0" y="0"/>
          <a:chExt cx="0" cy="0"/>
        </a:xfrm>
      </p:grpSpPr>
      <p:sp>
        <p:nvSpPr>
          <p:cNvPr id="1260" name="Google Shape;1260;p16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1" name="Google Shape;1261;p1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44571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8"/>
        <p:cNvGrpSpPr/>
        <p:nvPr/>
      </p:nvGrpSpPr>
      <p:grpSpPr>
        <a:xfrm>
          <a:off x="0" y="0"/>
          <a:ext cx="0" cy="0"/>
          <a:chOff x="0" y="0"/>
          <a:chExt cx="0" cy="0"/>
        </a:xfrm>
      </p:grpSpPr>
      <p:sp>
        <p:nvSpPr>
          <p:cNvPr id="1269" name="Google Shape;1269;p16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0" name="Google Shape;1270;p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5"/>
        <p:cNvGrpSpPr/>
        <p:nvPr/>
      </p:nvGrpSpPr>
      <p:grpSpPr>
        <a:xfrm>
          <a:off x="0" y="0"/>
          <a:ext cx="0" cy="0"/>
          <a:chOff x="0" y="0"/>
          <a:chExt cx="0" cy="0"/>
        </a:xfrm>
      </p:grpSpPr>
      <p:sp>
        <p:nvSpPr>
          <p:cNvPr id="1276" name="Google Shape;1276;p1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77" name="Google Shape;1277;p16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Calibri"/>
              <a:ea typeface="Calibri"/>
              <a:cs typeface="Calibri"/>
              <a:sym typeface="Calibri"/>
            </a:endParaRPr>
          </a:p>
        </p:txBody>
      </p:sp>
      <p:sp>
        <p:nvSpPr>
          <p:cNvPr id="1278" name="Google Shape;1278;p166:notes"/>
          <p:cNvSpPr txBox="1">
            <a:spLocks noGrp="1"/>
          </p:cNvSpPr>
          <p:nvPr>
            <p:ph type="sldNum" idx="12"/>
          </p:nvPr>
        </p:nvSpPr>
        <p:spPr>
          <a:xfrm>
            <a:off x="3884613" y="8685213"/>
            <a:ext cx="2971800" cy="457200"/>
          </a:xfrm>
          <a:prstGeom prst="rect">
            <a:avLst/>
          </a:prstGeom>
          <a:noFill/>
          <a:ln>
            <a:noFill/>
          </a:ln>
        </p:spPr>
        <p:txBody>
          <a:bodyPr spcFirstLastPara="1" wrap="square" lIns="89250" tIns="44625" rIns="89250" bIns="44625" anchor="t" anchorCtr="0">
            <a:noAutofit/>
          </a:bodyPr>
          <a:lstStyle/>
          <a:p>
            <a:pPr marL="0" marR="0" lvl="0" indent="0" algn="l" rtl="0">
              <a:spcBef>
                <a:spcPts val="0"/>
              </a:spcBef>
              <a:spcAft>
                <a:spcPts val="0"/>
              </a:spcAft>
              <a:buNone/>
            </a:pPr>
            <a:fld id="{00000000-1234-1234-1234-123412341234}" type="slidenum">
              <a:rPr lang="en-US" sz="1200">
                <a:solidFill>
                  <a:schemeClr val="dk1"/>
                </a:solidFill>
                <a:latin typeface="Calibri"/>
                <a:ea typeface="Calibri"/>
                <a:cs typeface="Calibri"/>
                <a:sym typeface="Calibri"/>
              </a:rPr>
              <a:t>58</a:t>
            </a:fld>
            <a:endParaRPr sz="1200">
              <a:solidFill>
                <a:schemeClr val="dk1"/>
              </a:solidFill>
              <a:latin typeface="Calibri"/>
              <a:ea typeface="Calibri"/>
              <a:cs typeface="Calibri"/>
              <a:sym typeface="Calibri"/>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5"/>
        <p:cNvGrpSpPr/>
        <p:nvPr/>
      </p:nvGrpSpPr>
      <p:grpSpPr>
        <a:xfrm>
          <a:off x="0" y="0"/>
          <a:ext cx="0" cy="0"/>
          <a:chOff x="0" y="0"/>
          <a:chExt cx="0" cy="0"/>
        </a:xfrm>
      </p:grpSpPr>
      <p:sp>
        <p:nvSpPr>
          <p:cNvPr id="1286" name="Google Shape;1286;p16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87" name="Google Shape;1287;p1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5"/>
        <p:cNvGrpSpPr/>
        <p:nvPr/>
      </p:nvGrpSpPr>
      <p:grpSpPr>
        <a:xfrm>
          <a:off x="0" y="0"/>
          <a:ext cx="0" cy="0"/>
          <a:chOff x="0" y="0"/>
          <a:chExt cx="0" cy="0"/>
        </a:xfrm>
      </p:grpSpPr>
      <p:sp>
        <p:nvSpPr>
          <p:cNvPr id="1286" name="Google Shape;1286;p16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7" name="Google Shape;1287;p1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4791434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2"/>
        <p:cNvGrpSpPr/>
        <p:nvPr/>
      </p:nvGrpSpPr>
      <p:grpSpPr>
        <a:xfrm>
          <a:off x="0" y="0"/>
          <a:ext cx="0" cy="0"/>
          <a:chOff x="0" y="0"/>
          <a:chExt cx="0" cy="0"/>
        </a:xfrm>
      </p:grpSpPr>
      <p:sp>
        <p:nvSpPr>
          <p:cNvPr id="1293" name="Google Shape;1293;p16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4" name="Google Shape;1294;p1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5"/>
        <p:cNvGrpSpPr/>
        <p:nvPr/>
      </p:nvGrpSpPr>
      <p:grpSpPr>
        <a:xfrm>
          <a:off x="0" y="0"/>
          <a:ext cx="0" cy="0"/>
          <a:chOff x="0" y="0"/>
          <a:chExt cx="0" cy="0"/>
        </a:xfrm>
      </p:grpSpPr>
      <p:sp>
        <p:nvSpPr>
          <p:cNvPr id="1306" name="Google Shape;1306;p17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7" name="Google Shape;1307;p1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5"/>
        <p:cNvGrpSpPr/>
        <p:nvPr/>
      </p:nvGrpSpPr>
      <p:grpSpPr>
        <a:xfrm>
          <a:off x="0" y="0"/>
          <a:ext cx="0" cy="0"/>
          <a:chOff x="0" y="0"/>
          <a:chExt cx="0" cy="0"/>
        </a:xfrm>
      </p:grpSpPr>
      <p:sp>
        <p:nvSpPr>
          <p:cNvPr id="1306" name="Google Shape;1306;p17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7" name="Google Shape;1307;p1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546415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5"/>
        <p:cNvGrpSpPr/>
        <p:nvPr/>
      </p:nvGrpSpPr>
      <p:grpSpPr>
        <a:xfrm>
          <a:off x="0" y="0"/>
          <a:ext cx="0" cy="0"/>
          <a:chOff x="0" y="0"/>
          <a:chExt cx="0" cy="0"/>
        </a:xfrm>
      </p:grpSpPr>
      <p:sp>
        <p:nvSpPr>
          <p:cNvPr id="1306" name="Google Shape;1306;p17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7" name="Google Shape;1307;p1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7136274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5"/>
        <p:cNvGrpSpPr/>
        <p:nvPr/>
      </p:nvGrpSpPr>
      <p:grpSpPr>
        <a:xfrm>
          <a:off x="0" y="0"/>
          <a:ext cx="0" cy="0"/>
          <a:chOff x="0" y="0"/>
          <a:chExt cx="0" cy="0"/>
        </a:xfrm>
      </p:grpSpPr>
      <p:sp>
        <p:nvSpPr>
          <p:cNvPr id="1306" name="Google Shape;1306;p17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07" name="Google Shape;1307;p1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14882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0"/>
        <p:cNvGrpSpPr/>
        <p:nvPr/>
      </p:nvGrpSpPr>
      <p:grpSpPr>
        <a:xfrm>
          <a:off x="0" y="0"/>
          <a:ext cx="0" cy="0"/>
          <a:chOff x="0" y="0"/>
          <a:chExt cx="0" cy="0"/>
        </a:xfrm>
      </p:grpSpPr>
      <p:sp>
        <p:nvSpPr>
          <p:cNvPr id="1321" name="Google Shape;1321;p17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US" dirty="0"/>
          </a:p>
        </p:txBody>
      </p:sp>
      <p:sp>
        <p:nvSpPr>
          <p:cNvPr id="1322" name="Google Shape;1322;p1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6"/>
        <p:cNvGrpSpPr/>
        <p:nvPr/>
      </p:nvGrpSpPr>
      <p:grpSpPr>
        <a:xfrm>
          <a:off x="0" y="0"/>
          <a:ext cx="0" cy="0"/>
          <a:chOff x="0" y="0"/>
          <a:chExt cx="0" cy="0"/>
        </a:xfrm>
      </p:grpSpPr>
      <p:sp>
        <p:nvSpPr>
          <p:cNvPr id="1327" name="Google Shape;1327;p17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8" name="Google Shape;1328;p1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6"/>
        <p:cNvGrpSpPr/>
        <p:nvPr/>
      </p:nvGrpSpPr>
      <p:grpSpPr>
        <a:xfrm>
          <a:off x="0" y="0"/>
          <a:ext cx="0" cy="0"/>
          <a:chOff x="0" y="0"/>
          <a:chExt cx="0" cy="0"/>
        </a:xfrm>
      </p:grpSpPr>
      <p:sp>
        <p:nvSpPr>
          <p:cNvPr id="1327" name="Google Shape;1327;p17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8" name="Google Shape;1328;p1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8368450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3"/>
        <p:cNvGrpSpPr/>
        <p:nvPr/>
      </p:nvGrpSpPr>
      <p:grpSpPr>
        <a:xfrm>
          <a:off x="0" y="0"/>
          <a:ext cx="0" cy="0"/>
          <a:chOff x="0" y="0"/>
          <a:chExt cx="0" cy="0"/>
        </a:xfrm>
      </p:grpSpPr>
      <p:sp>
        <p:nvSpPr>
          <p:cNvPr id="1334" name="Google Shape;1334;p17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5" name="Google Shape;1335;p1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3"/>
        <p:cNvGrpSpPr/>
        <p:nvPr/>
      </p:nvGrpSpPr>
      <p:grpSpPr>
        <a:xfrm>
          <a:off x="0" y="0"/>
          <a:ext cx="0" cy="0"/>
          <a:chOff x="0" y="0"/>
          <a:chExt cx="0" cy="0"/>
        </a:xfrm>
      </p:grpSpPr>
      <p:sp>
        <p:nvSpPr>
          <p:cNvPr id="1334" name="Google Shape;1334;p17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35" name="Google Shape;1335;p1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982466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0"/>
        <p:cNvGrpSpPr/>
        <p:nvPr/>
      </p:nvGrpSpPr>
      <p:grpSpPr>
        <a:xfrm>
          <a:off x="0" y="0"/>
          <a:ext cx="0" cy="0"/>
          <a:chOff x="0" y="0"/>
          <a:chExt cx="0" cy="0"/>
        </a:xfrm>
      </p:grpSpPr>
      <p:sp>
        <p:nvSpPr>
          <p:cNvPr id="1341" name="Google Shape;1341;p1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342" name="Google Shape;1342;p17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7"/>
        <p:cNvGrpSpPr/>
        <p:nvPr/>
      </p:nvGrpSpPr>
      <p:grpSpPr>
        <a:xfrm>
          <a:off x="0" y="0"/>
          <a:ext cx="0" cy="0"/>
          <a:chOff x="0" y="0"/>
          <a:chExt cx="0" cy="0"/>
        </a:xfrm>
      </p:grpSpPr>
      <p:sp>
        <p:nvSpPr>
          <p:cNvPr id="1348" name="Google Shape;1348;p17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9" name="Google Shape;1349;p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4"/>
        <p:cNvGrpSpPr/>
        <p:nvPr/>
      </p:nvGrpSpPr>
      <p:grpSpPr>
        <a:xfrm>
          <a:off x="0" y="0"/>
          <a:ext cx="0" cy="0"/>
          <a:chOff x="0" y="0"/>
          <a:chExt cx="0" cy="0"/>
        </a:xfrm>
      </p:grpSpPr>
      <p:sp>
        <p:nvSpPr>
          <p:cNvPr id="1355" name="Google Shape;1355;p17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56" name="Google Shape;1356;p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1"/>
        <p:cNvGrpSpPr/>
        <p:nvPr/>
      </p:nvGrpSpPr>
      <p:grpSpPr>
        <a:xfrm>
          <a:off x="0" y="0"/>
          <a:ext cx="0" cy="0"/>
          <a:chOff x="0" y="0"/>
          <a:chExt cx="0" cy="0"/>
        </a:xfrm>
      </p:grpSpPr>
      <p:sp>
        <p:nvSpPr>
          <p:cNvPr id="1362" name="Google Shape;1362;p178:notes"/>
          <p:cNvSpPr txBox="1">
            <a:spLocks noGrp="1"/>
          </p:cNvSpPr>
          <p:nvPr>
            <p:ph type="sldNum" idx="12"/>
          </p:nvPr>
        </p:nvSpPr>
        <p:spPr>
          <a:xfrm>
            <a:off x="3884613" y="8685213"/>
            <a:ext cx="2971800" cy="457200"/>
          </a:xfrm>
          <a:prstGeom prst="rect">
            <a:avLst/>
          </a:prstGeom>
          <a:noFill/>
          <a:ln>
            <a:noFill/>
          </a:ln>
        </p:spPr>
        <p:txBody>
          <a:bodyPr spcFirstLastPara="1" wrap="square" lIns="89250" tIns="44625" rIns="89250" bIns="44625" anchor="t" anchorCtr="0">
            <a:noAutofit/>
          </a:bodyPr>
          <a:lstStyle/>
          <a:p>
            <a:pPr marL="0" marR="0" lvl="0" indent="0" algn="l" rtl="0">
              <a:spcBef>
                <a:spcPts val="0"/>
              </a:spcBef>
              <a:spcAft>
                <a:spcPts val="0"/>
              </a:spcAft>
              <a:buNone/>
            </a:pPr>
            <a:fld id="{00000000-1234-1234-1234-123412341234}" type="slidenum">
              <a:rPr lang="en-US" sz="1200">
                <a:solidFill>
                  <a:schemeClr val="dk1"/>
                </a:solidFill>
                <a:latin typeface="Calibri"/>
                <a:ea typeface="Calibri"/>
                <a:cs typeface="Calibri"/>
                <a:sym typeface="Calibri"/>
              </a:rPr>
              <a:t>74</a:t>
            </a:fld>
            <a:endParaRPr sz="1200">
              <a:solidFill>
                <a:schemeClr val="dk1"/>
              </a:solidFill>
              <a:latin typeface="Calibri"/>
              <a:ea typeface="Calibri"/>
              <a:cs typeface="Calibri"/>
              <a:sym typeface="Calibri"/>
            </a:endParaRPr>
          </a:p>
        </p:txBody>
      </p:sp>
      <p:sp>
        <p:nvSpPr>
          <p:cNvPr id="1363" name="Google Shape;1363;p1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64" name="Google Shape;1364;p17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sym typeface="Calibri"/>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8"/>
        <p:cNvGrpSpPr/>
        <p:nvPr/>
      </p:nvGrpSpPr>
      <p:grpSpPr>
        <a:xfrm>
          <a:off x="0" y="0"/>
          <a:ext cx="0" cy="0"/>
          <a:chOff x="0" y="0"/>
          <a:chExt cx="0" cy="0"/>
        </a:xfrm>
      </p:grpSpPr>
      <p:sp>
        <p:nvSpPr>
          <p:cNvPr id="1369" name="Google Shape;1369;p179:notes"/>
          <p:cNvSpPr txBox="1">
            <a:spLocks noGrp="1"/>
          </p:cNvSpPr>
          <p:nvPr>
            <p:ph type="sldNum" idx="12"/>
          </p:nvPr>
        </p:nvSpPr>
        <p:spPr>
          <a:xfrm>
            <a:off x="3884613" y="8685213"/>
            <a:ext cx="2971800" cy="457200"/>
          </a:xfrm>
          <a:prstGeom prst="rect">
            <a:avLst/>
          </a:prstGeom>
          <a:noFill/>
          <a:ln>
            <a:noFill/>
          </a:ln>
        </p:spPr>
        <p:txBody>
          <a:bodyPr spcFirstLastPara="1" wrap="square" lIns="89250" tIns="44625" rIns="89250" bIns="44625" anchor="t" anchorCtr="0">
            <a:noAutofit/>
          </a:bodyPr>
          <a:lstStyle/>
          <a:p>
            <a:pPr marL="0" marR="0" lvl="0" indent="0" algn="l" rtl="0">
              <a:spcBef>
                <a:spcPts val="0"/>
              </a:spcBef>
              <a:spcAft>
                <a:spcPts val="0"/>
              </a:spcAft>
              <a:buNone/>
            </a:pPr>
            <a:fld id="{00000000-1234-1234-1234-123412341234}" type="slidenum">
              <a:rPr lang="en-US" sz="1200">
                <a:solidFill>
                  <a:schemeClr val="dk1"/>
                </a:solidFill>
                <a:latin typeface="Calibri"/>
                <a:ea typeface="Calibri"/>
                <a:cs typeface="Calibri"/>
                <a:sym typeface="Calibri"/>
              </a:rPr>
              <a:t>75</a:t>
            </a:fld>
            <a:endParaRPr sz="1200">
              <a:solidFill>
                <a:schemeClr val="dk1"/>
              </a:solidFill>
              <a:latin typeface="Calibri"/>
              <a:ea typeface="Calibri"/>
              <a:cs typeface="Calibri"/>
              <a:sym typeface="Calibri"/>
            </a:endParaRPr>
          </a:p>
        </p:txBody>
      </p:sp>
      <p:sp>
        <p:nvSpPr>
          <p:cNvPr id="1370" name="Google Shape;1370;p1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71" name="Google Shape;1371;p17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sym typeface="Calibri"/>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8"/>
        <p:cNvGrpSpPr/>
        <p:nvPr/>
      </p:nvGrpSpPr>
      <p:grpSpPr>
        <a:xfrm>
          <a:off x="0" y="0"/>
          <a:ext cx="0" cy="0"/>
          <a:chOff x="0" y="0"/>
          <a:chExt cx="0" cy="0"/>
        </a:xfrm>
      </p:grpSpPr>
      <p:sp>
        <p:nvSpPr>
          <p:cNvPr id="1369" name="Google Shape;1369;p179:notes"/>
          <p:cNvSpPr txBox="1">
            <a:spLocks noGrp="1"/>
          </p:cNvSpPr>
          <p:nvPr>
            <p:ph type="sldNum" idx="12"/>
          </p:nvPr>
        </p:nvSpPr>
        <p:spPr>
          <a:xfrm>
            <a:off x="3884613" y="8685213"/>
            <a:ext cx="2971800" cy="457200"/>
          </a:xfrm>
          <a:prstGeom prst="rect">
            <a:avLst/>
          </a:prstGeom>
          <a:noFill/>
          <a:ln>
            <a:noFill/>
          </a:ln>
        </p:spPr>
        <p:txBody>
          <a:bodyPr spcFirstLastPara="1" wrap="square" lIns="89250" tIns="44625" rIns="89250" bIns="44625" anchor="t" anchorCtr="0">
            <a:noAutofit/>
          </a:bodyPr>
          <a:lstStyle/>
          <a:p>
            <a:pPr marL="0" marR="0" lvl="0" indent="0" algn="l" rtl="0">
              <a:spcBef>
                <a:spcPts val="0"/>
              </a:spcBef>
              <a:spcAft>
                <a:spcPts val="0"/>
              </a:spcAft>
              <a:buNone/>
            </a:pPr>
            <a:fld id="{00000000-1234-1234-1234-123412341234}" type="slidenum">
              <a:rPr lang="en-US" sz="1200">
                <a:solidFill>
                  <a:schemeClr val="dk1"/>
                </a:solidFill>
                <a:latin typeface="Calibri"/>
                <a:ea typeface="Calibri"/>
                <a:cs typeface="Calibri"/>
                <a:sym typeface="Calibri"/>
              </a:rPr>
              <a:t>76</a:t>
            </a:fld>
            <a:endParaRPr sz="1200">
              <a:solidFill>
                <a:schemeClr val="dk1"/>
              </a:solidFill>
              <a:latin typeface="Calibri"/>
              <a:ea typeface="Calibri"/>
              <a:cs typeface="Calibri"/>
              <a:sym typeface="Calibri"/>
            </a:endParaRPr>
          </a:p>
        </p:txBody>
      </p:sp>
      <p:sp>
        <p:nvSpPr>
          <p:cNvPr id="1370" name="Google Shape;1370;p1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71" name="Google Shape;1371;p17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sym typeface="Calibri"/>
            </a:endParaRPr>
          </a:p>
        </p:txBody>
      </p:sp>
    </p:spTree>
    <p:extLst>
      <p:ext uri="{BB962C8B-B14F-4D97-AF65-F5344CB8AC3E}">
        <p14:creationId xmlns:p14="http://schemas.microsoft.com/office/powerpoint/2010/main" val="382902800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5"/>
        <p:cNvGrpSpPr/>
        <p:nvPr/>
      </p:nvGrpSpPr>
      <p:grpSpPr>
        <a:xfrm>
          <a:off x="0" y="0"/>
          <a:ext cx="0" cy="0"/>
          <a:chOff x="0" y="0"/>
          <a:chExt cx="0" cy="0"/>
        </a:xfrm>
      </p:grpSpPr>
      <p:sp>
        <p:nvSpPr>
          <p:cNvPr id="1376" name="Google Shape;1376;gf7b10500a7_0_0:notes"/>
          <p:cNvSpPr txBox="1">
            <a:spLocks noGrp="1"/>
          </p:cNvSpPr>
          <p:nvPr>
            <p:ph type="sldNum" idx="12"/>
          </p:nvPr>
        </p:nvSpPr>
        <p:spPr>
          <a:xfrm>
            <a:off x="3884613" y="8685213"/>
            <a:ext cx="2971800" cy="457200"/>
          </a:xfrm>
          <a:prstGeom prst="rect">
            <a:avLst/>
          </a:prstGeom>
          <a:noFill/>
          <a:ln>
            <a:noFill/>
          </a:ln>
        </p:spPr>
        <p:txBody>
          <a:bodyPr spcFirstLastPara="1" wrap="square" lIns="89250" tIns="44625" rIns="89250" bIns="44625" anchor="t" anchorCtr="0">
            <a:noAutofit/>
          </a:bodyPr>
          <a:lstStyle/>
          <a:p>
            <a:pPr marL="0" marR="0" lvl="0" indent="0" algn="l" rtl="0">
              <a:spcBef>
                <a:spcPts val="0"/>
              </a:spcBef>
              <a:spcAft>
                <a:spcPts val="0"/>
              </a:spcAft>
              <a:buNone/>
            </a:pPr>
            <a:fld id="{00000000-1234-1234-1234-123412341234}" type="slidenum">
              <a:rPr lang="en-US" sz="1200">
                <a:solidFill>
                  <a:schemeClr val="dk1"/>
                </a:solidFill>
                <a:latin typeface="Calibri"/>
                <a:ea typeface="Calibri"/>
                <a:cs typeface="Calibri"/>
                <a:sym typeface="Calibri"/>
              </a:rPr>
              <a:t>77</a:t>
            </a:fld>
            <a:endParaRPr sz="1200">
              <a:solidFill>
                <a:schemeClr val="dk1"/>
              </a:solidFill>
              <a:latin typeface="Calibri"/>
              <a:ea typeface="Calibri"/>
              <a:cs typeface="Calibri"/>
              <a:sym typeface="Calibri"/>
            </a:endParaRPr>
          </a:p>
        </p:txBody>
      </p:sp>
      <p:sp>
        <p:nvSpPr>
          <p:cNvPr id="1377" name="Google Shape;1377;gf7b10500a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78" name="Google Shape;1378;gf7b10500a7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Calibri"/>
              <a:ea typeface="Calibri"/>
              <a:cs typeface="Calibri"/>
              <a:sym typeface="Calibri"/>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2"/>
        <p:cNvGrpSpPr/>
        <p:nvPr/>
      </p:nvGrpSpPr>
      <p:grpSpPr>
        <a:xfrm>
          <a:off x="0" y="0"/>
          <a:ext cx="0" cy="0"/>
          <a:chOff x="0" y="0"/>
          <a:chExt cx="0" cy="0"/>
        </a:xfrm>
      </p:grpSpPr>
      <p:sp>
        <p:nvSpPr>
          <p:cNvPr id="1383" name="Google Shape;1383;p180:notes"/>
          <p:cNvSpPr txBox="1">
            <a:spLocks noGrp="1"/>
          </p:cNvSpPr>
          <p:nvPr>
            <p:ph type="sldNum" idx="12"/>
          </p:nvPr>
        </p:nvSpPr>
        <p:spPr>
          <a:xfrm>
            <a:off x="3884613" y="8685213"/>
            <a:ext cx="2971800" cy="457200"/>
          </a:xfrm>
          <a:prstGeom prst="rect">
            <a:avLst/>
          </a:prstGeom>
          <a:noFill/>
          <a:ln>
            <a:noFill/>
          </a:ln>
        </p:spPr>
        <p:txBody>
          <a:bodyPr spcFirstLastPara="1" wrap="square" lIns="89250" tIns="44625" rIns="89250" bIns="44625" anchor="t" anchorCtr="0">
            <a:noAutofit/>
          </a:bodyPr>
          <a:lstStyle/>
          <a:p>
            <a:pPr marL="0" marR="0" lvl="0" indent="0" algn="l" rtl="0">
              <a:spcBef>
                <a:spcPts val="0"/>
              </a:spcBef>
              <a:spcAft>
                <a:spcPts val="0"/>
              </a:spcAft>
              <a:buNone/>
            </a:pPr>
            <a:fld id="{00000000-1234-1234-1234-123412341234}" type="slidenum">
              <a:rPr lang="en-US" sz="1200">
                <a:solidFill>
                  <a:schemeClr val="dk1"/>
                </a:solidFill>
                <a:latin typeface="Calibri"/>
                <a:ea typeface="Calibri"/>
                <a:cs typeface="Calibri"/>
                <a:sym typeface="Calibri"/>
              </a:rPr>
              <a:t>78</a:t>
            </a:fld>
            <a:endParaRPr sz="1200">
              <a:solidFill>
                <a:schemeClr val="dk1"/>
              </a:solidFill>
              <a:latin typeface="Calibri"/>
              <a:ea typeface="Calibri"/>
              <a:cs typeface="Calibri"/>
              <a:sym typeface="Calibri"/>
            </a:endParaRPr>
          </a:p>
        </p:txBody>
      </p:sp>
      <p:sp>
        <p:nvSpPr>
          <p:cNvPr id="1384" name="Google Shape;1384;p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85" name="Google Shape;1385;p18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lang="en-US" dirty="0">
              <a:sym typeface="Calibri"/>
            </a:endParaRPr>
          </a:p>
        </p:txBody>
      </p:sp>
    </p:spTree>
    <p:extLst>
      <p:ext uri="{BB962C8B-B14F-4D97-AF65-F5344CB8AC3E}">
        <p14:creationId xmlns:p14="http://schemas.microsoft.com/office/powerpoint/2010/main" val="366641133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2"/>
        <p:cNvGrpSpPr/>
        <p:nvPr/>
      </p:nvGrpSpPr>
      <p:grpSpPr>
        <a:xfrm>
          <a:off x="0" y="0"/>
          <a:ext cx="0" cy="0"/>
          <a:chOff x="0" y="0"/>
          <a:chExt cx="0" cy="0"/>
        </a:xfrm>
      </p:grpSpPr>
      <p:sp>
        <p:nvSpPr>
          <p:cNvPr id="1383" name="Google Shape;1383;p180:notes"/>
          <p:cNvSpPr txBox="1">
            <a:spLocks noGrp="1"/>
          </p:cNvSpPr>
          <p:nvPr>
            <p:ph type="sldNum" idx="12"/>
          </p:nvPr>
        </p:nvSpPr>
        <p:spPr>
          <a:xfrm>
            <a:off x="3884613" y="8685213"/>
            <a:ext cx="2971800" cy="457200"/>
          </a:xfrm>
          <a:prstGeom prst="rect">
            <a:avLst/>
          </a:prstGeom>
          <a:noFill/>
          <a:ln>
            <a:noFill/>
          </a:ln>
        </p:spPr>
        <p:txBody>
          <a:bodyPr spcFirstLastPara="1" wrap="square" lIns="89250" tIns="44625" rIns="89250" bIns="44625" anchor="t" anchorCtr="0">
            <a:noAutofit/>
          </a:bodyPr>
          <a:lstStyle/>
          <a:p>
            <a:pPr marL="0" marR="0" lvl="0" indent="0" algn="l" rtl="0">
              <a:spcBef>
                <a:spcPts val="0"/>
              </a:spcBef>
              <a:spcAft>
                <a:spcPts val="0"/>
              </a:spcAft>
              <a:buNone/>
            </a:pPr>
            <a:fld id="{00000000-1234-1234-1234-123412341234}" type="slidenum">
              <a:rPr lang="en-US" sz="1200">
                <a:solidFill>
                  <a:schemeClr val="dk1"/>
                </a:solidFill>
                <a:latin typeface="Calibri"/>
                <a:ea typeface="Calibri"/>
                <a:cs typeface="Calibri"/>
                <a:sym typeface="Calibri"/>
              </a:rPr>
              <a:t>79</a:t>
            </a:fld>
            <a:endParaRPr sz="1200">
              <a:solidFill>
                <a:schemeClr val="dk1"/>
              </a:solidFill>
              <a:latin typeface="Calibri"/>
              <a:ea typeface="Calibri"/>
              <a:cs typeface="Calibri"/>
              <a:sym typeface="Calibri"/>
            </a:endParaRPr>
          </a:p>
        </p:txBody>
      </p:sp>
      <p:sp>
        <p:nvSpPr>
          <p:cNvPr id="1384" name="Google Shape;1384;p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85" name="Google Shape;1385;p18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lang="en-US" dirty="0">
              <a:sym typeface="Calibri"/>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9"/>
        <p:cNvGrpSpPr/>
        <p:nvPr/>
      </p:nvGrpSpPr>
      <p:grpSpPr>
        <a:xfrm>
          <a:off x="0" y="0"/>
          <a:ext cx="0" cy="0"/>
          <a:chOff x="0" y="0"/>
          <a:chExt cx="0" cy="0"/>
        </a:xfrm>
      </p:grpSpPr>
      <p:sp>
        <p:nvSpPr>
          <p:cNvPr id="1390" name="Google Shape;1390;p181:notes"/>
          <p:cNvSpPr txBox="1">
            <a:spLocks noGrp="1"/>
          </p:cNvSpPr>
          <p:nvPr>
            <p:ph type="sldNum" idx="12"/>
          </p:nvPr>
        </p:nvSpPr>
        <p:spPr>
          <a:xfrm>
            <a:off x="3884613" y="8685213"/>
            <a:ext cx="2971800" cy="457200"/>
          </a:xfrm>
          <a:prstGeom prst="rect">
            <a:avLst/>
          </a:prstGeom>
          <a:noFill/>
          <a:ln>
            <a:noFill/>
          </a:ln>
        </p:spPr>
        <p:txBody>
          <a:bodyPr spcFirstLastPara="1" wrap="square" lIns="89250" tIns="44625" rIns="89250" bIns="44625" anchor="t" anchorCtr="0">
            <a:noAutofit/>
          </a:bodyPr>
          <a:lstStyle/>
          <a:p>
            <a:pPr marL="0" marR="0" lvl="0" indent="0" algn="l" rtl="0">
              <a:spcBef>
                <a:spcPts val="0"/>
              </a:spcBef>
              <a:spcAft>
                <a:spcPts val="0"/>
              </a:spcAft>
              <a:buNone/>
            </a:pPr>
            <a:fld id="{00000000-1234-1234-1234-123412341234}" type="slidenum">
              <a:rPr lang="en-US" sz="1200">
                <a:solidFill>
                  <a:schemeClr val="dk1"/>
                </a:solidFill>
                <a:latin typeface="Calibri"/>
                <a:ea typeface="Calibri"/>
                <a:cs typeface="Calibri"/>
                <a:sym typeface="Calibri"/>
              </a:rPr>
              <a:t>80</a:t>
            </a:fld>
            <a:endParaRPr sz="1200">
              <a:solidFill>
                <a:schemeClr val="dk1"/>
              </a:solidFill>
              <a:latin typeface="Calibri"/>
              <a:ea typeface="Calibri"/>
              <a:cs typeface="Calibri"/>
              <a:sym typeface="Calibri"/>
            </a:endParaRPr>
          </a:p>
        </p:txBody>
      </p:sp>
      <p:sp>
        <p:nvSpPr>
          <p:cNvPr id="1391" name="Google Shape;1391;p1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92" name="Google Shape;1392;p18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sym typeface="Calibri"/>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6"/>
        <p:cNvGrpSpPr/>
        <p:nvPr/>
      </p:nvGrpSpPr>
      <p:grpSpPr>
        <a:xfrm>
          <a:off x="0" y="0"/>
          <a:ext cx="0" cy="0"/>
          <a:chOff x="0" y="0"/>
          <a:chExt cx="0" cy="0"/>
        </a:xfrm>
      </p:grpSpPr>
      <p:sp>
        <p:nvSpPr>
          <p:cNvPr id="1397" name="Google Shape;1397;p182:notes"/>
          <p:cNvSpPr txBox="1">
            <a:spLocks noGrp="1"/>
          </p:cNvSpPr>
          <p:nvPr>
            <p:ph type="sldNum" idx="12"/>
          </p:nvPr>
        </p:nvSpPr>
        <p:spPr>
          <a:xfrm>
            <a:off x="3884613" y="8685213"/>
            <a:ext cx="2971800" cy="457200"/>
          </a:xfrm>
          <a:prstGeom prst="rect">
            <a:avLst/>
          </a:prstGeom>
          <a:noFill/>
          <a:ln>
            <a:noFill/>
          </a:ln>
        </p:spPr>
        <p:txBody>
          <a:bodyPr spcFirstLastPara="1" wrap="square" lIns="89250" tIns="44625" rIns="89250" bIns="44625" anchor="t" anchorCtr="0">
            <a:noAutofit/>
          </a:bodyPr>
          <a:lstStyle/>
          <a:p>
            <a:pPr marL="0" marR="0" lvl="0" indent="0" algn="l" rtl="0">
              <a:spcBef>
                <a:spcPts val="0"/>
              </a:spcBef>
              <a:spcAft>
                <a:spcPts val="0"/>
              </a:spcAft>
              <a:buNone/>
            </a:pPr>
            <a:fld id="{00000000-1234-1234-1234-123412341234}" type="slidenum">
              <a:rPr lang="en-US" sz="1200">
                <a:solidFill>
                  <a:schemeClr val="dk1"/>
                </a:solidFill>
                <a:latin typeface="Calibri"/>
                <a:ea typeface="Calibri"/>
                <a:cs typeface="Calibri"/>
                <a:sym typeface="Calibri"/>
              </a:rPr>
              <a:t>81</a:t>
            </a:fld>
            <a:endParaRPr sz="1200">
              <a:solidFill>
                <a:schemeClr val="dk1"/>
              </a:solidFill>
              <a:latin typeface="Calibri"/>
              <a:ea typeface="Calibri"/>
              <a:cs typeface="Calibri"/>
              <a:sym typeface="Calibri"/>
            </a:endParaRPr>
          </a:p>
        </p:txBody>
      </p:sp>
      <p:sp>
        <p:nvSpPr>
          <p:cNvPr id="1398" name="Google Shape;1398;p1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99" name="Google Shape;1399;p18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sym typeface="Calibri"/>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3"/>
        <p:cNvGrpSpPr/>
        <p:nvPr/>
      </p:nvGrpSpPr>
      <p:grpSpPr>
        <a:xfrm>
          <a:off x="0" y="0"/>
          <a:ext cx="0" cy="0"/>
          <a:chOff x="0" y="0"/>
          <a:chExt cx="0" cy="0"/>
        </a:xfrm>
      </p:grpSpPr>
      <p:sp>
        <p:nvSpPr>
          <p:cNvPr id="1404" name="Google Shape;1404;p183:notes"/>
          <p:cNvSpPr txBox="1">
            <a:spLocks noGrp="1"/>
          </p:cNvSpPr>
          <p:nvPr>
            <p:ph type="sldNum" idx="12"/>
          </p:nvPr>
        </p:nvSpPr>
        <p:spPr>
          <a:xfrm>
            <a:off x="3884613" y="8685213"/>
            <a:ext cx="2971800" cy="457200"/>
          </a:xfrm>
          <a:prstGeom prst="rect">
            <a:avLst/>
          </a:prstGeom>
          <a:noFill/>
          <a:ln>
            <a:noFill/>
          </a:ln>
        </p:spPr>
        <p:txBody>
          <a:bodyPr spcFirstLastPara="1" wrap="square" lIns="89250" tIns="44625" rIns="89250" bIns="44625" anchor="t" anchorCtr="0">
            <a:noAutofit/>
          </a:bodyPr>
          <a:lstStyle/>
          <a:p>
            <a:pPr marL="0" marR="0" lvl="0" indent="0" algn="l" rtl="0">
              <a:spcBef>
                <a:spcPts val="0"/>
              </a:spcBef>
              <a:spcAft>
                <a:spcPts val="0"/>
              </a:spcAft>
              <a:buNone/>
            </a:pPr>
            <a:fld id="{00000000-1234-1234-1234-123412341234}" type="slidenum">
              <a:rPr lang="en-US" sz="1200">
                <a:solidFill>
                  <a:schemeClr val="dk1"/>
                </a:solidFill>
                <a:latin typeface="Calibri"/>
                <a:ea typeface="Calibri"/>
                <a:cs typeface="Calibri"/>
                <a:sym typeface="Calibri"/>
              </a:rPr>
              <a:t>82</a:t>
            </a:fld>
            <a:endParaRPr sz="1200">
              <a:solidFill>
                <a:schemeClr val="dk1"/>
              </a:solidFill>
              <a:latin typeface="Calibri"/>
              <a:ea typeface="Calibri"/>
              <a:cs typeface="Calibri"/>
              <a:sym typeface="Calibri"/>
            </a:endParaRPr>
          </a:p>
        </p:txBody>
      </p:sp>
      <p:sp>
        <p:nvSpPr>
          <p:cNvPr id="1405" name="Google Shape;1405;p1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06" name="Google Shape;1406;p18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sym typeface="Calibri"/>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0"/>
        <p:cNvGrpSpPr/>
        <p:nvPr/>
      </p:nvGrpSpPr>
      <p:grpSpPr>
        <a:xfrm>
          <a:off x="0" y="0"/>
          <a:ext cx="0" cy="0"/>
          <a:chOff x="0" y="0"/>
          <a:chExt cx="0" cy="0"/>
        </a:xfrm>
      </p:grpSpPr>
      <p:sp>
        <p:nvSpPr>
          <p:cNvPr id="1411" name="Google Shape;1411;p18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US"/>
          </a:p>
        </p:txBody>
      </p:sp>
      <p:sp>
        <p:nvSpPr>
          <p:cNvPr id="1412" name="Google Shape;1412;p1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7"/>
        <p:cNvGrpSpPr/>
        <p:nvPr/>
      </p:nvGrpSpPr>
      <p:grpSpPr>
        <a:xfrm>
          <a:off x="0" y="0"/>
          <a:ext cx="0" cy="0"/>
          <a:chOff x="0" y="0"/>
          <a:chExt cx="0" cy="0"/>
        </a:xfrm>
      </p:grpSpPr>
      <p:sp>
        <p:nvSpPr>
          <p:cNvPr id="1418" name="Google Shape;1418;p18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US"/>
          </a:p>
        </p:txBody>
      </p:sp>
      <p:sp>
        <p:nvSpPr>
          <p:cNvPr id="1419" name="Google Shape;1419;p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4"/>
        <p:cNvGrpSpPr/>
        <p:nvPr/>
      </p:nvGrpSpPr>
      <p:grpSpPr>
        <a:xfrm>
          <a:off x="0" y="0"/>
          <a:ext cx="0" cy="0"/>
          <a:chOff x="0" y="0"/>
          <a:chExt cx="0" cy="0"/>
        </a:xfrm>
      </p:grpSpPr>
      <p:sp>
        <p:nvSpPr>
          <p:cNvPr id="1425" name="Google Shape;1425;p18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US" dirty="0"/>
          </a:p>
        </p:txBody>
      </p:sp>
      <p:sp>
        <p:nvSpPr>
          <p:cNvPr id="1426" name="Google Shape;1426;p1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8"/>
        <p:cNvGrpSpPr/>
        <p:nvPr/>
      </p:nvGrpSpPr>
      <p:grpSpPr>
        <a:xfrm>
          <a:off x="0" y="0"/>
          <a:ext cx="0" cy="0"/>
          <a:chOff x="0" y="0"/>
          <a:chExt cx="0" cy="0"/>
        </a:xfrm>
      </p:grpSpPr>
      <p:sp>
        <p:nvSpPr>
          <p:cNvPr id="1439" name="Google Shape;1439;p18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0" name="Google Shape;1440;p1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1"/>
        <p:cNvGrpSpPr/>
        <p:nvPr/>
      </p:nvGrpSpPr>
      <p:grpSpPr>
        <a:xfrm>
          <a:off x="0" y="0"/>
          <a:ext cx="0" cy="0"/>
          <a:chOff x="0" y="0"/>
          <a:chExt cx="0" cy="0"/>
        </a:xfrm>
      </p:grpSpPr>
      <p:sp>
        <p:nvSpPr>
          <p:cNvPr id="1432" name="Google Shape;1432;p18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3" name="Google Shape;1433;p1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5"/>
        <p:cNvGrpSpPr/>
        <p:nvPr/>
      </p:nvGrpSpPr>
      <p:grpSpPr>
        <a:xfrm>
          <a:off x="0" y="0"/>
          <a:ext cx="0" cy="0"/>
          <a:chOff x="0" y="0"/>
          <a:chExt cx="0" cy="0"/>
        </a:xfrm>
      </p:grpSpPr>
      <p:sp>
        <p:nvSpPr>
          <p:cNvPr id="1446" name="Google Shape;1446;p1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447" name="Google Shape;1447;p18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lang="en-US" dirty="0"/>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2"/>
        <p:cNvGrpSpPr/>
        <p:nvPr/>
      </p:nvGrpSpPr>
      <p:grpSpPr>
        <a:xfrm>
          <a:off x="0" y="0"/>
          <a:ext cx="0" cy="0"/>
          <a:chOff x="0" y="0"/>
          <a:chExt cx="0" cy="0"/>
        </a:xfrm>
      </p:grpSpPr>
      <p:sp>
        <p:nvSpPr>
          <p:cNvPr id="1453" name="Google Shape;1453;p19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4" name="Google Shape;1454;p1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9"/>
        <p:cNvGrpSpPr/>
        <p:nvPr/>
      </p:nvGrpSpPr>
      <p:grpSpPr>
        <a:xfrm>
          <a:off x="0" y="0"/>
          <a:ext cx="0" cy="0"/>
          <a:chOff x="0" y="0"/>
          <a:chExt cx="0" cy="0"/>
        </a:xfrm>
      </p:grpSpPr>
      <p:sp>
        <p:nvSpPr>
          <p:cNvPr id="1460" name="Google Shape;1460;p19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US" dirty="0"/>
          </a:p>
        </p:txBody>
      </p:sp>
      <p:sp>
        <p:nvSpPr>
          <p:cNvPr id="1461" name="Google Shape;1461;p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4"/>
        <p:cNvGrpSpPr/>
        <p:nvPr/>
      </p:nvGrpSpPr>
      <p:grpSpPr>
        <a:xfrm>
          <a:off x="0" y="0"/>
          <a:ext cx="0" cy="0"/>
          <a:chOff x="0" y="0"/>
          <a:chExt cx="0" cy="0"/>
        </a:xfrm>
      </p:grpSpPr>
      <p:sp>
        <p:nvSpPr>
          <p:cNvPr id="1475" name="Google Shape;1475;p19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6" name="Google Shape;1476;p1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1"/>
        <p:cNvGrpSpPr/>
        <p:nvPr/>
      </p:nvGrpSpPr>
      <p:grpSpPr>
        <a:xfrm>
          <a:off x="0" y="0"/>
          <a:ext cx="0" cy="0"/>
          <a:chOff x="0" y="0"/>
          <a:chExt cx="0" cy="0"/>
        </a:xfrm>
      </p:grpSpPr>
      <p:sp>
        <p:nvSpPr>
          <p:cNvPr id="1482" name="Google Shape;1482;p19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83" name="Google Shape;1483;p1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8"/>
        <p:cNvGrpSpPr/>
        <p:nvPr/>
      </p:nvGrpSpPr>
      <p:grpSpPr>
        <a:xfrm>
          <a:off x="0" y="0"/>
          <a:ext cx="0" cy="0"/>
          <a:chOff x="0" y="0"/>
          <a:chExt cx="0" cy="0"/>
        </a:xfrm>
      </p:grpSpPr>
      <p:sp>
        <p:nvSpPr>
          <p:cNvPr id="1489" name="Google Shape;1489;p19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90" name="Google Shape;1490;p1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5"/>
        <p:cNvGrpSpPr/>
        <p:nvPr/>
      </p:nvGrpSpPr>
      <p:grpSpPr>
        <a:xfrm>
          <a:off x="0" y="0"/>
          <a:ext cx="0" cy="0"/>
          <a:chOff x="0" y="0"/>
          <a:chExt cx="0" cy="0"/>
        </a:xfrm>
      </p:grpSpPr>
      <p:sp>
        <p:nvSpPr>
          <p:cNvPr id="1496" name="Google Shape;1496;p19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97" name="Google Shape;1497;p1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2"/>
        <p:cNvGrpSpPr/>
        <p:nvPr/>
      </p:nvGrpSpPr>
      <p:grpSpPr>
        <a:xfrm>
          <a:off x="0" y="0"/>
          <a:ext cx="0" cy="0"/>
          <a:chOff x="0" y="0"/>
          <a:chExt cx="0" cy="0"/>
        </a:xfrm>
      </p:grpSpPr>
      <p:sp>
        <p:nvSpPr>
          <p:cNvPr id="1503" name="Google Shape;1503;p19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504" name="Google Shape;1504;p1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0"/>
        <p:cNvGrpSpPr/>
        <p:nvPr/>
      </p:nvGrpSpPr>
      <p:grpSpPr>
        <a:xfrm>
          <a:off x="0" y="0"/>
          <a:ext cx="0" cy="0"/>
          <a:chOff x="0" y="0"/>
          <a:chExt cx="0" cy="0"/>
        </a:xfrm>
      </p:grpSpPr>
      <p:sp>
        <p:nvSpPr>
          <p:cNvPr id="1511" name="Google Shape;1511;p19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12" name="Google Shape;1512;p1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0"/>
        <p:cNvGrpSpPr/>
        <p:nvPr/>
      </p:nvGrpSpPr>
      <p:grpSpPr>
        <a:xfrm>
          <a:off x="0" y="0"/>
          <a:ext cx="0" cy="0"/>
          <a:chOff x="0" y="0"/>
          <a:chExt cx="0" cy="0"/>
        </a:xfrm>
      </p:grpSpPr>
      <p:sp>
        <p:nvSpPr>
          <p:cNvPr id="1511" name="Google Shape;1511;p19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12" name="Google Shape;1512;p1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20128264"/>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0"/>
        <p:cNvGrpSpPr/>
        <p:nvPr/>
      </p:nvGrpSpPr>
      <p:grpSpPr>
        <a:xfrm>
          <a:off x="0" y="0"/>
          <a:ext cx="0" cy="0"/>
          <a:chOff x="0" y="0"/>
          <a:chExt cx="0" cy="0"/>
        </a:xfrm>
      </p:grpSpPr>
      <p:sp>
        <p:nvSpPr>
          <p:cNvPr id="1511" name="Google Shape;1511;p19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12" name="Google Shape;1512;p1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70530464"/>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4"/>
        <p:cNvGrpSpPr/>
        <p:nvPr/>
      </p:nvGrpSpPr>
      <p:grpSpPr>
        <a:xfrm>
          <a:off x="0" y="0"/>
          <a:ext cx="0" cy="0"/>
          <a:chOff x="0" y="0"/>
          <a:chExt cx="0" cy="0"/>
        </a:xfrm>
      </p:grpSpPr>
      <p:sp>
        <p:nvSpPr>
          <p:cNvPr id="1525" name="Google Shape;1525;p20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6" name="Google Shape;1526;p2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0"/>
        <p:cNvGrpSpPr/>
        <p:nvPr/>
      </p:nvGrpSpPr>
      <p:grpSpPr>
        <a:xfrm>
          <a:off x="0" y="0"/>
          <a:ext cx="0" cy="0"/>
          <a:chOff x="0" y="0"/>
          <a:chExt cx="0" cy="0"/>
        </a:xfrm>
      </p:grpSpPr>
      <p:sp>
        <p:nvSpPr>
          <p:cNvPr id="1531" name="Google Shape;1531;p20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342900" indent="-342900">
              <a:spcBef>
                <a:spcPts val="0"/>
              </a:spcBef>
            </a:pPr>
            <a:endParaRPr/>
          </a:p>
        </p:txBody>
      </p:sp>
      <p:sp>
        <p:nvSpPr>
          <p:cNvPr id="1532" name="Google Shape;1532;p2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4"/>
        <p:cNvGrpSpPr/>
        <p:nvPr/>
      </p:nvGrpSpPr>
      <p:grpSpPr>
        <a:xfrm>
          <a:off x="0" y="0"/>
          <a:ext cx="0" cy="0"/>
          <a:chOff x="0" y="0"/>
          <a:chExt cx="0" cy="0"/>
        </a:xfrm>
      </p:grpSpPr>
      <p:sp>
        <p:nvSpPr>
          <p:cNvPr id="1545" name="Google Shape;1545;p20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46" name="Google Shape;1546;p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1"/>
        <p:cNvGrpSpPr/>
        <p:nvPr/>
      </p:nvGrpSpPr>
      <p:grpSpPr>
        <a:xfrm>
          <a:off x="0" y="0"/>
          <a:ext cx="0" cy="0"/>
          <a:chOff x="0" y="0"/>
          <a:chExt cx="0" cy="0"/>
        </a:xfrm>
      </p:grpSpPr>
      <p:sp>
        <p:nvSpPr>
          <p:cNvPr id="1552" name="Google Shape;1552;p20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3" name="Google Shape;1553;p2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1"/>
        <p:cNvGrpSpPr/>
        <p:nvPr/>
      </p:nvGrpSpPr>
      <p:grpSpPr>
        <a:xfrm>
          <a:off x="0" y="0"/>
          <a:ext cx="0" cy="0"/>
          <a:chOff x="0" y="0"/>
          <a:chExt cx="0" cy="0"/>
        </a:xfrm>
      </p:grpSpPr>
      <p:sp>
        <p:nvSpPr>
          <p:cNvPr id="1552" name="Google Shape;1552;p20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3" name="Google Shape;1553;p2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9796293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8"/>
        <p:cNvGrpSpPr/>
        <p:nvPr/>
      </p:nvGrpSpPr>
      <p:grpSpPr>
        <a:xfrm>
          <a:off x="0" y="0"/>
          <a:ext cx="0" cy="0"/>
          <a:chOff x="0" y="0"/>
          <a:chExt cx="0" cy="0"/>
        </a:xfrm>
      </p:grpSpPr>
      <p:sp>
        <p:nvSpPr>
          <p:cNvPr id="1559" name="Google Shape;1559;p20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0" name="Google Shape;1560;p2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4"/>
        <p:cNvGrpSpPr/>
        <p:nvPr/>
      </p:nvGrpSpPr>
      <p:grpSpPr>
        <a:xfrm>
          <a:off x="0" y="0"/>
          <a:ext cx="0" cy="0"/>
          <a:chOff x="0" y="0"/>
          <a:chExt cx="0" cy="0"/>
        </a:xfrm>
      </p:grpSpPr>
      <p:sp>
        <p:nvSpPr>
          <p:cNvPr id="1565" name="Google Shape;1565;p20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6" name="Google Shape;1566;p2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8"/>
        <p:cNvGrpSpPr/>
        <p:nvPr/>
      </p:nvGrpSpPr>
      <p:grpSpPr>
        <a:xfrm>
          <a:off x="0" y="0"/>
          <a:ext cx="0" cy="0"/>
          <a:chOff x="0" y="0"/>
          <a:chExt cx="0" cy="0"/>
        </a:xfrm>
      </p:grpSpPr>
      <p:sp>
        <p:nvSpPr>
          <p:cNvPr id="9" name="Google Shape;9;p255"/>
          <p:cNvSpPr txBox="1">
            <a:spLocks noGrp="1"/>
          </p:cNvSpPr>
          <p:nvPr>
            <p:ph type="title"/>
          </p:nvPr>
        </p:nvSpPr>
        <p:spPr>
          <a:xfrm>
            <a:off x="914400" y="1844676"/>
            <a:ext cx="10363200" cy="2041525"/>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0" name="Google Shape;10;p255"/>
          <p:cNvSpPr txBox="1">
            <a:spLocks noGrp="1"/>
          </p:cNvSpPr>
          <p:nvPr>
            <p:ph type="body" idx="1"/>
          </p:nvPr>
        </p:nvSpPr>
        <p:spPr>
          <a:xfrm>
            <a:off x="1828800" y="3886200"/>
            <a:ext cx="8534400" cy="2971800"/>
          </a:xfrm>
          <a:prstGeom prst="rect">
            <a:avLst/>
          </a:prstGeom>
          <a:noFill/>
          <a:ln>
            <a:noFill/>
          </a:ln>
        </p:spPr>
        <p:txBody>
          <a:bodyPr spcFirstLastPara="1" wrap="square" lIns="50800" tIns="50800" rIns="50800" bIns="50800" anchor="t" anchorCtr="0">
            <a:noAutofit/>
          </a:bodyPr>
          <a:lstStyle>
            <a:lvl1pPr marL="457200" lvl="0" indent="-228600" algn="ctr">
              <a:spcBef>
                <a:spcPts val="800"/>
              </a:spcBef>
              <a:spcAft>
                <a:spcPts val="0"/>
              </a:spcAft>
              <a:buSzPts val="1400"/>
              <a:buNone/>
              <a:defRPr/>
            </a:lvl1pPr>
            <a:lvl2pPr marL="914400" lvl="1" indent="-228600" algn="ctr">
              <a:spcBef>
                <a:spcPts val="800"/>
              </a:spcBef>
              <a:spcAft>
                <a:spcPts val="0"/>
              </a:spcAft>
              <a:buSzPts val="1400"/>
              <a:buNone/>
              <a:defRPr/>
            </a:lvl2pPr>
            <a:lvl3pPr marL="1371600" lvl="2" indent="-228600" algn="ctr">
              <a:spcBef>
                <a:spcPts val="800"/>
              </a:spcBef>
              <a:spcAft>
                <a:spcPts val="0"/>
              </a:spcAft>
              <a:buSzPts val="1400"/>
              <a:buNone/>
              <a:defRPr/>
            </a:lvl3pPr>
            <a:lvl4pPr marL="1828800" lvl="3" indent="-228600" algn="ctr">
              <a:spcBef>
                <a:spcPts val="800"/>
              </a:spcBef>
              <a:spcAft>
                <a:spcPts val="0"/>
              </a:spcAft>
              <a:buSzPts val="1400"/>
              <a:buNone/>
              <a:defRPr/>
            </a:lvl4pPr>
            <a:lvl5pPr marL="2286000" lvl="4" indent="-228600" algn="ctr">
              <a:spcBef>
                <a:spcPts val="800"/>
              </a:spcBef>
              <a:spcAft>
                <a:spcPts val="0"/>
              </a:spcAft>
              <a:buSzPts val="1400"/>
              <a:buNone/>
              <a:defRPr/>
            </a:lvl5pPr>
            <a:lvl6pPr marL="2743200" lvl="5" indent="-228600" algn="ctr">
              <a:spcBef>
                <a:spcPts val="800"/>
              </a:spcBef>
              <a:spcAft>
                <a:spcPts val="0"/>
              </a:spcAft>
              <a:buSzPts val="1400"/>
              <a:buNone/>
              <a:defRPr/>
            </a:lvl6pPr>
            <a:lvl7pPr marL="3200400" lvl="6" indent="-228600" algn="ctr">
              <a:spcBef>
                <a:spcPts val="800"/>
              </a:spcBef>
              <a:spcAft>
                <a:spcPts val="0"/>
              </a:spcAft>
              <a:buSzPts val="1400"/>
              <a:buNone/>
              <a:defRPr/>
            </a:lvl7pPr>
            <a:lvl8pPr marL="3657600" lvl="7" indent="-228600" algn="ctr">
              <a:spcBef>
                <a:spcPts val="800"/>
              </a:spcBef>
              <a:spcAft>
                <a:spcPts val="0"/>
              </a:spcAft>
              <a:buSzPts val="1400"/>
              <a:buNone/>
              <a:defRPr/>
            </a:lvl8pPr>
            <a:lvl9pPr marL="4114800" lvl="8" indent="-228600" algn="ctr">
              <a:spcBef>
                <a:spcPts val="80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261"/>
          <p:cNvSpPr txBox="1">
            <a:spLocks noGrp="1"/>
          </p:cNvSpPr>
          <p:nvPr>
            <p:ph type="ctrTitle"/>
          </p:nvPr>
        </p:nvSpPr>
        <p:spPr>
          <a:xfrm>
            <a:off x="914400" y="2130426"/>
            <a:ext cx="10363200" cy="1470025"/>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3" name="Google Shape;13;p261"/>
          <p:cNvSpPr txBox="1">
            <a:spLocks noGrp="1"/>
          </p:cNvSpPr>
          <p:nvPr>
            <p:ph type="subTitle" idx="1"/>
          </p:nvPr>
        </p:nvSpPr>
        <p:spPr>
          <a:xfrm>
            <a:off x="1828800" y="3886200"/>
            <a:ext cx="8534400" cy="1752600"/>
          </a:xfrm>
          <a:prstGeom prst="rect">
            <a:avLst/>
          </a:prstGeom>
          <a:noFill/>
          <a:ln>
            <a:noFill/>
          </a:ln>
        </p:spPr>
        <p:txBody>
          <a:bodyPr spcFirstLastPara="1" wrap="square" lIns="50800" tIns="50800" rIns="50800" bIns="50800" anchor="t" anchorCtr="0">
            <a:noAutofit/>
          </a:bodyPr>
          <a:lstStyle>
            <a:lvl1pPr lvl="0" algn="ctr">
              <a:spcBef>
                <a:spcPts val="800"/>
              </a:spcBef>
              <a:spcAft>
                <a:spcPts val="0"/>
              </a:spcAft>
              <a:buClr>
                <a:srgbClr val="878787"/>
              </a:buClr>
              <a:buSzPts val="3200"/>
              <a:buFont typeface="Calibri"/>
              <a:buNone/>
              <a:defRPr/>
            </a:lvl1pPr>
            <a:lvl2pPr lvl="1" algn="ctr">
              <a:spcBef>
                <a:spcPts val="800"/>
              </a:spcBef>
              <a:spcAft>
                <a:spcPts val="0"/>
              </a:spcAft>
              <a:buClr>
                <a:srgbClr val="878787"/>
              </a:buClr>
              <a:buSzPts val="3200"/>
              <a:buFont typeface="Calibri"/>
              <a:buNone/>
              <a:defRPr/>
            </a:lvl2pPr>
            <a:lvl3pPr lvl="2" algn="ctr">
              <a:spcBef>
                <a:spcPts val="800"/>
              </a:spcBef>
              <a:spcAft>
                <a:spcPts val="0"/>
              </a:spcAft>
              <a:buClr>
                <a:srgbClr val="878787"/>
              </a:buClr>
              <a:buSzPts val="3200"/>
              <a:buFont typeface="Calibri"/>
              <a:buNone/>
              <a:defRPr/>
            </a:lvl3pPr>
            <a:lvl4pPr lvl="3" algn="ctr">
              <a:spcBef>
                <a:spcPts val="800"/>
              </a:spcBef>
              <a:spcAft>
                <a:spcPts val="0"/>
              </a:spcAft>
              <a:buClr>
                <a:srgbClr val="878787"/>
              </a:buClr>
              <a:buSzPts val="3200"/>
              <a:buFont typeface="Calibri"/>
              <a:buNone/>
              <a:defRPr/>
            </a:lvl4pPr>
            <a:lvl5pPr lvl="4" algn="ctr">
              <a:spcBef>
                <a:spcPts val="800"/>
              </a:spcBef>
              <a:spcAft>
                <a:spcPts val="0"/>
              </a:spcAft>
              <a:buClr>
                <a:srgbClr val="878787"/>
              </a:buClr>
              <a:buSzPts val="3200"/>
              <a:buFont typeface="Calibri"/>
              <a:buNone/>
              <a:defRPr/>
            </a:lvl5pPr>
            <a:lvl6pPr lvl="5" algn="ctr">
              <a:spcBef>
                <a:spcPts val="800"/>
              </a:spcBef>
              <a:spcAft>
                <a:spcPts val="0"/>
              </a:spcAft>
              <a:buClr>
                <a:srgbClr val="878787"/>
              </a:buClr>
              <a:buSzPts val="3200"/>
              <a:buFont typeface="Calibri"/>
              <a:buNone/>
              <a:defRPr/>
            </a:lvl6pPr>
            <a:lvl7pPr lvl="6" algn="ctr">
              <a:spcBef>
                <a:spcPts val="800"/>
              </a:spcBef>
              <a:spcAft>
                <a:spcPts val="0"/>
              </a:spcAft>
              <a:buClr>
                <a:srgbClr val="878787"/>
              </a:buClr>
              <a:buSzPts val="3200"/>
              <a:buFont typeface="Calibri"/>
              <a:buNone/>
              <a:defRPr/>
            </a:lvl7pPr>
            <a:lvl8pPr lvl="7" algn="ctr">
              <a:spcBef>
                <a:spcPts val="800"/>
              </a:spcBef>
              <a:spcAft>
                <a:spcPts val="0"/>
              </a:spcAft>
              <a:buClr>
                <a:srgbClr val="878787"/>
              </a:buClr>
              <a:buSzPts val="3200"/>
              <a:buFont typeface="Calibri"/>
              <a:buNone/>
              <a:defRPr/>
            </a:lvl8pPr>
            <a:lvl9pPr lvl="8" algn="ctr">
              <a:spcBef>
                <a:spcPts val="800"/>
              </a:spcBef>
              <a:spcAft>
                <a:spcPts val="0"/>
              </a:spcAft>
              <a:buClr>
                <a:srgbClr val="878787"/>
              </a:buClr>
              <a:buSzPts val="3200"/>
              <a:buFont typeface="Calibri"/>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
        <p:cNvGrpSpPr/>
        <p:nvPr/>
      </p:nvGrpSpPr>
      <p:grpSpPr>
        <a:xfrm>
          <a:off x="0" y="0"/>
          <a:ext cx="0" cy="0"/>
          <a:chOff x="0" y="0"/>
          <a:chExt cx="0" cy="0"/>
        </a:xfrm>
      </p:grpSpPr>
      <p:sp>
        <p:nvSpPr>
          <p:cNvPr id="15" name="Google Shape;15;p262"/>
          <p:cNvSpPr txBox="1">
            <a:spLocks noGrp="1"/>
          </p:cNvSpPr>
          <p:nvPr>
            <p:ph type="title"/>
          </p:nvPr>
        </p:nvSpPr>
        <p:spPr>
          <a:xfrm>
            <a:off x="963084" y="4406901"/>
            <a:ext cx="10363200" cy="1362075"/>
          </a:xfrm>
          <a:prstGeom prst="rect">
            <a:avLst/>
          </a:prstGeom>
          <a:noFill/>
          <a:ln>
            <a:noFill/>
          </a:ln>
        </p:spPr>
        <p:txBody>
          <a:bodyPr spcFirstLastPara="1" wrap="square" lIns="50800" tIns="50800" rIns="50800" bIns="508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6" name="Google Shape;16;p262"/>
          <p:cNvSpPr txBox="1">
            <a:spLocks noGrp="1"/>
          </p:cNvSpPr>
          <p:nvPr>
            <p:ph type="body" idx="1"/>
          </p:nvPr>
        </p:nvSpPr>
        <p:spPr>
          <a:xfrm>
            <a:off x="963084" y="2906713"/>
            <a:ext cx="10363200" cy="1500187"/>
          </a:xfrm>
          <a:prstGeom prst="rect">
            <a:avLst/>
          </a:prstGeom>
          <a:noFill/>
          <a:ln>
            <a:noFill/>
          </a:ln>
        </p:spPr>
        <p:txBody>
          <a:bodyPr spcFirstLastPara="1" wrap="square" lIns="50800" tIns="50800" rIns="50800" bIns="50800" anchor="b" anchorCtr="0">
            <a:noAutofit/>
          </a:bodyPr>
          <a:lstStyle>
            <a:lvl1pPr marL="457200" lvl="0" indent="-228600" algn="ctr">
              <a:spcBef>
                <a:spcPts val="800"/>
              </a:spcBef>
              <a:spcAft>
                <a:spcPts val="0"/>
              </a:spcAft>
              <a:buClr>
                <a:srgbClr val="878787"/>
              </a:buClr>
              <a:buSzPts val="2000"/>
              <a:buFont typeface="Calibri"/>
              <a:buNone/>
              <a:defRPr sz="2000"/>
            </a:lvl1pPr>
            <a:lvl2pPr marL="914400" lvl="1" indent="-228600" algn="ctr">
              <a:spcBef>
                <a:spcPts val="800"/>
              </a:spcBef>
              <a:spcAft>
                <a:spcPts val="0"/>
              </a:spcAft>
              <a:buClr>
                <a:srgbClr val="878787"/>
              </a:buClr>
              <a:buSzPts val="1800"/>
              <a:buFont typeface="Calibri"/>
              <a:buNone/>
              <a:defRPr sz="1800"/>
            </a:lvl2pPr>
            <a:lvl3pPr marL="1371600" lvl="2" indent="-228600" algn="ctr">
              <a:spcBef>
                <a:spcPts val="800"/>
              </a:spcBef>
              <a:spcAft>
                <a:spcPts val="0"/>
              </a:spcAft>
              <a:buClr>
                <a:srgbClr val="878787"/>
              </a:buClr>
              <a:buSzPts val="1600"/>
              <a:buFont typeface="Calibri"/>
              <a:buNone/>
              <a:defRPr sz="1600"/>
            </a:lvl3pPr>
            <a:lvl4pPr marL="1828800" lvl="3" indent="-228600" algn="ctr">
              <a:spcBef>
                <a:spcPts val="800"/>
              </a:spcBef>
              <a:spcAft>
                <a:spcPts val="0"/>
              </a:spcAft>
              <a:buClr>
                <a:srgbClr val="878787"/>
              </a:buClr>
              <a:buSzPts val="1400"/>
              <a:buFont typeface="Calibri"/>
              <a:buNone/>
              <a:defRPr sz="1400"/>
            </a:lvl4pPr>
            <a:lvl5pPr marL="2286000" lvl="4" indent="-228600" algn="ctr">
              <a:spcBef>
                <a:spcPts val="800"/>
              </a:spcBef>
              <a:spcAft>
                <a:spcPts val="0"/>
              </a:spcAft>
              <a:buClr>
                <a:srgbClr val="878787"/>
              </a:buClr>
              <a:buSzPts val="1400"/>
              <a:buFont typeface="Calibri"/>
              <a:buNone/>
              <a:defRPr sz="1400"/>
            </a:lvl5pPr>
            <a:lvl6pPr marL="2743200" lvl="5" indent="-228600" algn="ctr">
              <a:spcBef>
                <a:spcPts val="800"/>
              </a:spcBef>
              <a:spcAft>
                <a:spcPts val="0"/>
              </a:spcAft>
              <a:buClr>
                <a:srgbClr val="878787"/>
              </a:buClr>
              <a:buSzPts val="1400"/>
              <a:buFont typeface="Calibri"/>
              <a:buNone/>
              <a:defRPr sz="1400"/>
            </a:lvl6pPr>
            <a:lvl7pPr marL="3200400" lvl="6" indent="-228600" algn="ctr">
              <a:spcBef>
                <a:spcPts val="800"/>
              </a:spcBef>
              <a:spcAft>
                <a:spcPts val="0"/>
              </a:spcAft>
              <a:buClr>
                <a:srgbClr val="878787"/>
              </a:buClr>
              <a:buSzPts val="1400"/>
              <a:buFont typeface="Calibri"/>
              <a:buNone/>
              <a:defRPr sz="1400"/>
            </a:lvl7pPr>
            <a:lvl8pPr marL="3657600" lvl="7" indent="-228600" algn="ctr">
              <a:spcBef>
                <a:spcPts val="800"/>
              </a:spcBef>
              <a:spcAft>
                <a:spcPts val="0"/>
              </a:spcAft>
              <a:buClr>
                <a:srgbClr val="878787"/>
              </a:buClr>
              <a:buSzPts val="1400"/>
              <a:buFont typeface="Calibri"/>
              <a:buNone/>
              <a:defRPr sz="1400"/>
            </a:lvl8pPr>
            <a:lvl9pPr marL="4114800" lvl="8" indent="-228600" algn="ctr">
              <a:spcBef>
                <a:spcPts val="800"/>
              </a:spcBef>
              <a:spcAft>
                <a:spcPts val="0"/>
              </a:spcAft>
              <a:buClr>
                <a:srgbClr val="878787"/>
              </a:buClr>
              <a:buSzPts val="1400"/>
              <a:buFont typeface="Calibri"/>
              <a:buNone/>
              <a:defRPr sz="14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7"/>
        <p:cNvGrpSpPr/>
        <p:nvPr/>
      </p:nvGrpSpPr>
      <p:grpSpPr>
        <a:xfrm>
          <a:off x="0" y="0"/>
          <a:ext cx="0" cy="0"/>
          <a:chOff x="0" y="0"/>
          <a:chExt cx="0" cy="0"/>
        </a:xfrm>
      </p:grpSpPr>
      <p:sp>
        <p:nvSpPr>
          <p:cNvPr id="18" name="Google Shape;18;p263"/>
          <p:cNvSpPr txBox="1">
            <a:spLocks noGrp="1"/>
          </p:cNvSpPr>
          <p:nvPr>
            <p:ph type="title"/>
          </p:nvPr>
        </p:nvSpPr>
        <p:spPr>
          <a:xfrm>
            <a:off x="914400" y="1844676"/>
            <a:ext cx="10363200" cy="2041525"/>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9" name="Google Shape;19;p263"/>
          <p:cNvSpPr txBox="1">
            <a:spLocks noGrp="1"/>
          </p:cNvSpPr>
          <p:nvPr>
            <p:ph type="body" idx="1"/>
          </p:nvPr>
        </p:nvSpPr>
        <p:spPr>
          <a:xfrm>
            <a:off x="1828800" y="3886200"/>
            <a:ext cx="4165600" cy="2971800"/>
          </a:xfrm>
          <a:prstGeom prst="rect">
            <a:avLst/>
          </a:prstGeom>
          <a:noFill/>
          <a:ln>
            <a:noFill/>
          </a:ln>
        </p:spPr>
        <p:txBody>
          <a:bodyPr spcFirstLastPara="1" wrap="square" lIns="50800" tIns="50800" rIns="50800" bIns="50800" anchor="t" anchorCtr="0">
            <a:noAutofit/>
          </a:bodyPr>
          <a:lstStyle>
            <a:lvl1pPr marL="457200" lvl="0" indent="-228600" algn="ctr">
              <a:spcBef>
                <a:spcPts val="800"/>
              </a:spcBef>
              <a:spcAft>
                <a:spcPts val="0"/>
              </a:spcAft>
              <a:buSzPts val="1400"/>
              <a:buNone/>
              <a:defRPr sz="2800"/>
            </a:lvl1pPr>
            <a:lvl2pPr marL="914400" lvl="1" indent="-228600" algn="ctr">
              <a:spcBef>
                <a:spcPts val="800"/>
              </a:spcBef>
              <a:spcAft>
                <a:spcPts val="0"/>
              </a:spcAft>
              <a:buSzPts val="1400"/>
              <a:buNone/>
              <a:defRPr sz="2400"/>
            </a:lvl2pPr>
            <a:lvl3pPr marL="1371600" lvl="2" indent="-228600" algn="ctr">
              <a:spcBef>
                <a:spcPts val="800"/>
              </a:spcBef>
              <a:spcAft>
                <a:spcPts val="0"/>
              </a:spcAft>
              <a:buSzPts val="1400"/>
              <a:buNone/>
              <a:defRPr sz="2000"/>
            </a:lvl3pPr>
            <a:lvl4pPr marL="1828800" lvl="3" indent="-228600" algn="ctr">
              <a:spcBef>
                <a:spcPts val="800"/>
              </a:spcBef>
              <a:spcAft>
                <a:spcPts val="0"/>
              </a:spcAft>
              <a:buSzPts val="1400"/>
              <a:buNone/>
              <a:defRPr sz="1800"/>
            </a:lvl4pPr>
            <a:lvl5pPr marL="2286000" lvl="4" indent="-228600" algn="ctr">
              <a:spcBef>
                <a:spcPts val="800"/>
              </a:spcBef>
              <a:spcAft>
                <a:spcPts val="0"/>
              </a:spcAft>
              <a:buSzPts val="1400"/>
              <a:buNone/>
              <a:defRPr sz="1800"/>
            </a:lvl5pPr>
            <a:lvl6pPr marL="2743200" lvl="5" indent="-228600" algn="ctr">
              <a:spcBef>
                <a:spcPts val="800"/>
              </a:spcBef>
              <a:spcAft>
                <a:spcPts val="0"/>
              </a:spcAft>
              <a:buSzPts val="1400"/>
              <a:buNone/>
              <a:defRPr sz="1800"/>
            </a:lvl6pPr>
            <a:lvl7pPr marL="3200400" lvl="6" indent="-228600" algn="ctr">
              <a:spcBef>
                <a:spcPts val="800"/>
              </a:spcBef>
              <a:spcAft>
                <a:spcPts val="0"/>
              </a:spcAft>
              <a:buSzPts val="1400"/>
              <a:buNone/>
              <a:defRPr sz="1800"/>
            </a:lvl7pPr>
            <a:lvl8pPr marL="3657600" lvl="7" indent="-228600" algn="ctr">
              <a:spcBef>
                <a:spcPts val="800"/>
              </a:spcBef>
              <a:spcAft>
                <a:spcPts val="0"/>
              </a:spcAft>
              <a:buSzPts val="1400"/>
              <a:buNone/>
              <a:defRPr sz="1800"/>
            </a:lvl8pPr>
            <a:lvl9pPr marL="4114800" lvl="8" indent="-228600" algn="ctr">
              <a:spcBef>
                <a:spcPts val="800"/>
              </a:spcBef>
              <a:spcAft>
                <a:spcPts val="0"/>
              </a:spcAft>
              <a:buSzPts val="1400"/>
              <a:buNone/>
              <a:defRPr sz="1800"/>
            </a:lvl9pPr>
          </a:lstStyle>
          <a:p>
            <a:endParaRPr/>
          </a:p>
        </p:txBody>
      </p:sp>
      <p:sp>
        <p:nvSpPr>
          <p:cNvPr id="20" name="Google Shape;20;p263"/>
          <p:cNvSpPr txBox="1">
            <a:spLocks noGrp="1"/>
          </p:cNvSpPr>
          <p:nvPr>
            <p:ph type="body" idx="2"/>
          </p:nvPr>
        </p:nvSpPr>
        <p:spPr>
          <a:xfrm>
            <a:off x="6197600" y="3886200"/>
            <a:ext cx="4165600" cy="2971800"/>
          </a:xfrm>
          <a:prstGeom prst="rect">
            <a:avLst/>
          </a:prstGeom>
          <a:noFill/>
          <a:ln>
            <a:noFill/>
          </a:ln>
        </p:spPr>
        <p:txBody>
          <a:bodyPr spcFirstLastPara="1" wrap="square" lIns="50800" tIns="50800" rIns="50800" bIns="50800" anchor="t" anchorCtr="0">
            <a:noAutofit/>
          </a:bodyPr>
          <a:lstStyle>
            <a:lvl1pPr marL="457200" lvl="0" indent="-228600" algn="ctr">
              <a:spcBef>
                <a:spcPts val="800"/>
              </a:spcBef>
              <a:spcAft>
                <a:spcPts val="0"/>
              </a:spcAft>
              <a:buSzPts val="1400"/>
              <a:buNone/>
              <a:defRPr sz="2800"/>
            </a:lvl1pPr>
            <a:lvl2pPr marL="914400" lvl="1" indent="-228600" algn="ctr">
              <a:spcBef>
                <a:spcPts val="800"/>
              </a:spcBef>
              <a:spcAft>
                <a:spcPts val="0"/>
              </a:spcAft>
              <a:buSzPts val="1400"/>
              <a:buNone/>
              <a:defRPr sz="2400"/>
            </a:lvl2pPr>
            <a:lvl3pPr marL="1371600" lvl="2" indent="-228600" algn="ctr">
              <a:spcBef>
                <a:spcPts val="800"/>
              </a:spcBef>
              <a:spcAft>
                <a:spcPts val="0"/>
              </a:spcAft>
              <a:buSzPts val="1400"/>
              <a:buNone/>
              <a:defRPr sz="2000"/>
            </a:lvl3pPr>
            <a:lvl4pPr marL="1828800" lvl="3" indent="-228600" algn="ctr">
              <a:spcBef>
                <a:spcPts val="800"/>
              </a:spcBef>
              <a:spcAft>
                <a:spcPts val="0"/>
              </a:spcAft>
              <a:buSzPts val="1400"/>
              <a:buNone/>
              <a:defRPr sz="1800"/>
            </a:lvl4pPr>
            <a:lvl5pPr marL="2286000" lvl="4" indent="-228600" algn="ctr">
              <a:spcBef>
                <a:spcPts val="800"/>
              </a:spcBef>
              <a:spcAft>
                <a:spcPts val="0"/>
              </a:spcAft>
              <a:buSzPts val="1400"/>
              <a:buNone/>
              <a:defRPr sz="1800"/>
            </a:lvl5pPr>
            <a:lvl6pPr marL="2743200" lvl="5" indent="-228600" algn="ctr">
              <a:spcBef>
                <a:spcPts val="800"/>
              </a:spcBef>
              <a:spcAft>
                <a:spcPts val="0"/>
              </a:spcAft>
              <a:buSzPts val="1400"/>
              <a:buNone/>
              <a:defRPr sz="1800"/>
            </a:lvl6pPr>
            <a:lvl7pPr marL="3200400" lvl="6" indent="-228600" algn="ctr">
              <a:spcBef>
                <a:spcPts val="800"/>
              </a:spcBef>
              <a:spcAft>
                <a:spcPts val="0"/>
              </a:spcAft>
              <a:buSzPts val="1400"/>
              <a:buNone/>
              <a:defRPr sz="1800"/>
            </a:lvl7pPr>
            <a:lvl8pPr marL="3657600" lvl="7" indent="-228600" algn="ctr">
              <a:spcBef>
                <a:spcPts val="800"/>
              </a:spcBef>
              <a:spcAft>
                <a:spcPts val="0"/>
              </a:spcAft>
              <a:buSzPts val="1400"/>
              <a:buNone/>
              <a:defRPr sz="1800"/>
            </a:lvl8pPr>
            <a:lvl9pPr marL="4114800" lvl="8" indent="-228600" algn="ctr">
              <a:spcBef>
                <a:spcPts val="800"/>
              </a:spcBef>
              <a:spcAft>
                <a:spcPts val="0"/>
              </a:spcAft>
              <a:buSzPts val="1400"/>
              <a:buNone/>
              <a:defRPr sz="18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1"/>
        <p:cNvGrpSpPr/>
        <p:nvPr/>
      </p:nvGrpSpPr>
      <p:grpSpPr>
        <a:xfrm>
          <a:off x="0" y="0"/>
          <a:ext cx="0" cy="0"/>
          <a:chOff x="0" y="0"/>
          <a:chExt cx="0" cy="0"/>
        </a:xfrm>
      </p:grpSpPr>
      <p:sp>
        <p:nvSpPr>
          <p:cNvPr id="22" name="Google Shape;22;p264"/>
          <p:cNvSpPr txBox="1">
            <a:spLocks noGrp="1"/>
          </p:cNvSpPr>
          <p:nvPr>
            <p:ph type="title"/>
          </p:nvPr>
        </p:nvSpPr>
        <p:spPr>
          <a:xfrm>
            <a:off x="609600" y="274638"/>
            <a:ext cx="10972800" cy="1143000"/>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3" name="Google Shape;23;p264"/>
          <p:cNvSpPr txBox="1">
            <a:spLocks noGrp="1"/>
          </p:cNvSpPr>
          <p:nvPr>
            <p:ph type="body" idx="1"/>
          </p:nvPr>
        </p:nvSpPr>
        <p:spPr>
          <a:xfrm>
            <a:off x="609600" y="1535113"/>
            <a:ext cx="5386917" cy="639762"/>
          </a:xfrm>
          <a:prstGeom prst="rect">
            <a:avLst/>
          </a:prstGeom>
          <a:noFill/>
          <a:ln>
            <a:noFill/>
          </a:ln>
        </p:spPr>
        <p:txBody>
          <a:bodyPr spcFirstLastPara="1" wrap="square" lIns="50800" tIns="50800" rIns="50800" bIns="50800" anchor="b" anchorCtr="0">
            <a:noAutofit/>
          </a:bodyPr>
          <a:lstStyle>
            <a:lvl1pPr marL="457200" lvl="0" indent="-228600" algn="ctr">
              <a:spcBef>
                <a:spcPts val="800"/>
              </a:spcBef>
              <a:spcAft>
                <a:spcPts val="0"/>
              </a:spcAft>
              <a:buClr>
                <a:srgbClr val="878787"/>
              </a:buClr>
              <a:buSzPts val="2400"/>
              <a:buFont typeface="Calibri"/>
              <a:buNone/>
              <a:defRPr sz="2400" b="1"/>
            </a:lvl1pPr>
            <a:lvl2pPr marL="914400" lvl="1" indent="-228600" algn="ctr">
              <a:spcBef>
                <a:spcPts val="800"/>
              </a:spcBef>
              <a:spcAft>
                <a:spcPts val="0"/>
              </a:spcAft>
              <a:buClr>
                <a:srgbClr val="878787"/>
              </a:buClr>
              <a:buSzPts val="2000"/>
              <a:buFont typeface="Calibri"/>
              <a:buNone/>
              <a:defRPr sz="2000" b="1"/>
            </a:lvl2pPr>
            <a:lvl3pPr marL="1371600" lvl="2" indent="-228600" algn="ctr">
              <a:spcBef>
                <a:spcPts val="800"/>
              </a:spcBef>
              <a:spcAft>
                <a:spcPts val="0"/>
              </a:spcAft>
              <a:buClr>
                <a:srgbClr val="878787"/>
              </a:buClr>
              <a:buSzPts val="1800"/>
              <a:buFont typeface="Calibri"/>
              <a:buNone/>
              <a:defRPr sz="1800" b="1"/>
            </a:lvl3pPr>
            <a:lvl4pPr marL="1828800" lvl="3" indent="-228600" algn="ctr">
              <a:spcBef>
                <a:spcPts val="800"/>
              </a:spcBef>
              <a:spcAft>
                <a:spcPts val="0"/>
              </a:spcAft>
              <a:buClr>
                <a:srgbClr val="878787"/>
              </a:buClr>
              <a:buSzPts val="1600"/>
              <a:buFont typeface="Calibri"/>
              <a:buNone/>
              <a:defRPr sz="1600" b="1"/>
            </a:lvl4pPr>
            <a:lvl5pPr marL="2286000" lvl="4" indent="-228600" algn="ctr">
              <a:spcBef>
                <a:spcPts val="800"/>
              </a:spcBef>
              <a:spcAft>
                <a:spcPts val="0"/>
              </a:spcAft>
              <a:buClr>
                <a:srgbClr val="878787"/>
              </a:buClr>
              <a:buSzPts val="1600"/>
              <a:buFont typeface="Calibri"/>
              <a:buNone/>
              <a:defRPr sz="1600" b="1"/>
            </a:lvl5pPr>
            <a:lvl6pPr marL="2743200" lvl="5" indent="-228600" algn="ctr">
              <a:spcBef>
                <a:spcPts val="800"/>
              </a:spcBef>
              <a:spcAft>
                <a:spcPts val="0"/>
              </a:spcAft>
              <a:buClr>
                <a:srgbClr val="878787"/>
              </a:buClr>
              <a:buSzPts val="1600"/>
              <a:buFont typeface="Calibri"/>
              <a:buNone/>
              <a:defRPr sz="1600" b="1"/>
            </a:lvl6pPr>
            <a:lvl7pPr marL="3200400" lvl="6" indent="-228600" algn="ctr">
              <a:spcBef>
                <a:spcPts val="800"/>
              </a:spcBef>
              <a:spcAft>
                <a:spcPts val="0"/>
              </a:spcAft>
              <a:buClr>
                <a:srgbClr val="878787"/>
              </a:buClr>
              <a:buSzPts val="1600"/>
              <a:buFont typeface="Calibri"/>
              <a:buNone/>
              <a:defRPr sz="1600" b="1"/>
            </a:lvl7pPr>
            <a:lvl8pPr marL="3657600" lvl="7" indent="-228600" algn="ctr">
              <a:spcBef>
                <a:spcPts val="800"/>
              </a:spcBef>
              <a:spcAft>
                <a:spcPts val="0"/>
              </a:spcAft>
              <a:buClr>
                <a:srgbClr val="878787"/>
              </a:buClr>
              <a:buSzPts val="1600"/>
              <a:buFont typeface="Calibri"/>
              <a:buNone/>
              <a:defRPr sz="1600" b="1"/>
            </a:lvl8pPr>
            <a:lvl9pPr marL="4114800" lvl="8" indent="-228600" algn="ctr">
              <a:spcBef>
                <a:spcPts val="800"/>
              </a:spcBef>
              <a:spcAft>
                <a:spcPts val="0"/>
              </a:spcAft>
              <a:buClr>
                <a:srgbClr val="878787"/>
              </a:buClr>
              <a:buSzPts val="1600"/>
              <a:buFont typeface="Calibri"/>
              <a:buNone/>
              <a:defRPr sz="1600" b="1"/>
            </a:lvl9pPr>
          </a:lstStyle>
          <a:p>
            <a:endParaRPr/>
          </a:p>
        </p:txBody>
      </p:sp>
      <p:sp>
        <p:nvSpPr>
          <p:cNvPr id="24" name="Google Shape;24;p264"/>
          <p:cNvSpPr txBox="1">
            <a:spLocks noGrp="1"/>
          </p:cNvSpPr>
          <p:nvPr>
            <p:ph type="body" idx="2"/>
          </p:nvPr>
        </p:nvSpPr>
        <p:spPr>
          <a:xfrm>
            <a:off x="609600" y="2174875"/>
            <a:ext cx="5386917" cy="3951288"/>
          </a:xfrm>
          <a:prstGeom prst="rect">
            <a:avLst/>
          </a:prstGeom>
          <a:noFill/>
          <a:ln>
            <a:noFill/>
          </a:ln>
        </p:spPr>
        <p:txBody>
          <a:bodyPr spcFirstLastPara="1" wrap="square" lIns="50800" tIns="50800" rIns="50800" bIns="50800" anchor="t" anchorCtr="0">
            <a:noAutofit/>
          </a:bodyPr>
          <a:lstStyle>
            <a:lvl1pPr marL="457200" lvl="0" indent="-228600" algn="ctr">
              <a:spcBef>
                <a:spcPts val="800"/>
              </a:spcBef>
              <a:spcAft>
                <a:spcPts val="0"/>
              </a:spcAft>
              <a:buSzPts val="1400"/>
              <a:buNone/>
              <a:defRPr sz="2400"/>
            </a:lvl1pPr>
            <a:lvl2pPr marL="914400" lvl="1" indent="-228600" algn="ctr">
              <a:spcBef>
                <a:spcPts val="800"/>
              </a:spcBef>
              <a:spcAft>
                <a:spcPts val="0"/>
              </a:spcAft>
              <a:buSzPts val="1400"/>
              <a:buNone/>
              <a:defRPr sz="2000"/>
            </a:lvl2pPr>
            <a:lvl3pPr marL="1371600" lvl="2" indent="-228600" algn="ctr">
              <a:spcBef>
                <a:spcPts val="800"/>
              </a:spcBef>
              <a:spcAft>
                <a:spcPts val="0"/>
              </a:spcAft>
              <a:buSzPts val="1400"/>
              <a:buNone/>
              <a:defRPr sz="1800"/>
            </a:lvl3pPr>
            <a:lvl4pPr marL="1828800" lvl="3" indent="-228600" algn="ctr">
              <a:spcBef>
                <a:spcPts val="800"/>
              </a:spcBef>
              <a:spcAft>
                <a:spcPts val="0"/>
              </a:spcAft>
              <a:buSzPts val="1400"/>
              <a:buNone/>
              <a:defRPr sz="1600"/>
            </a:lvl4pPr>
            <a:lvl5pPr marL="2286000" lvl="4" indent="-228600" algn="ctr">
              <a:spcBef>
                <a:spcPts val="800"/>
              </a:spcBef>
              <a:spcAft>
                <a:spcPts val="0"/>
              </a:spcAft>
              <a:buSzPts val="1400"/>
              <a:buNone/>
              <a:defRPr sz="1600"/>
            </a:lvl5pPr>
            <a:lvl6pPr marL="2743200" lvl="5" indent="-228600" algn="ctr">
              <a:spcBef>
                <a:spcPts val="800"/>
              </a:spcBef>
              <a:spcAft>
                <a:spcPts val="0"/>
              </a:spcAft>
              <a:buSzPts val="1400"/>
              <a:buNone/>
              <a:defRPr sz="1600"/>
            </a:lvl6pPr>
            <a:lvl7pPr marL="3200400" lvl="6" indent="-228600" algn="ctr">
              <a:spcBef>
                <a:spcPts val="800"/>
              </a:spcBef>
              <a:spcAft>
                <a:spcPts val="0"/>
              </a:spcAft>
              <a:buSzPts val="1400"/>
              <a:buNone/>
              <a:defRPr sz="1600"/>
            </a:lvl7pPr>
            <a:lvl8pPr marL="3657600" lvl="7" indent="-228600" algn="ctr">
              <a:spcBef>
                <a:spcPts val="800"/>
              </a:spcBef>
              <a:spcAft>
                <a:spcPts val="0"/>
              </a:spcAft>
              <a:buSzPts val="1400"/>
              <a:buNone/>
              <a:defRPr sz="1600"/>
            </a:lvl8pPr>
            <a:lvl9pPr marL="4114800" lvl="8" indent="-228600" algn="ctr">
              <a:spcBef>
                <a:spcPts val="800"/>
              </a:spcBef>
              <a:spcAft>
                <a:spcPts val="0"/>
              </a:spcAft>
              <a:buSzPts val="1400"/>
              <a:buNone/>
              <a:defRPr sz="1600"/>
            </a:lvl9pPr>
          </a:lstStyle>
          <a:p>
            <a:endParaRPr/>
          </a:p>
        </p:txBody>
      </p:sp>
      <p:sp>
        <p:nvSpPr>
          <p:cNvPr id="25" name="Google Shape;25;p264"/>
          <p:cNvSpPr txBox="1">
            <a:spLocks noGrp="1"/>
          </p:cNvSpPr>
          <p:nvPr>
            <p:ph type="body" idx="3"/>
          </p:nvPr>
        </p:nvSpPr>
        <p:spPr>
          <a:xfrm>
            <a:off x="6193368" y="1535113"/>
            <a:ext cx="5389033" cy="639762"/>
          </a:xfrm>
          <a:prstGeom prst="rect">
            <a:avLst/>
          </a:prstGeom>
          <a:noFill/>
          <a:ln>
            <a:noFill/>
          </a:ln>
        </p:spPr>
        <p:txBody>
          <a:bodyPr spcFirstLastPara="1" wrap="square" lIns="50800" tIns="50800" rIns="50800" bIns="50800" anchor="b" anchorCtr="0">
            <a:noAutofit/>
          </a:bodyPr>
          <a:lstStyle>
            <a:lvl1pPr marL="457200" lvl="0" indent="-228600" algn="ctr">
              <a:spcBef>
                <a:spcPts val="800"/>
              </a:spcBef>
              <a:spcAft>
                <a:spcPts val="0"/>
              </a:spcAft>
              <a:buClr>
                <a:srgbClr val="878787"/>
              </a:buClr>
              <a:buSzPts val="2400"/>
              <a:buFont typeface="Calibri"/>
              <a:buNone/>
              <a:defRPr sz="2400" b="1"/>
            </a:lvl1pPr>
            <a:lvl2pPr marL="914400" lvl="1" indent="-228600" algn="ctr">
              <a:spcBef>
                <a:spcPts val="800"/>
              </a:spcBef>
              <a:spcAft>
                <a:spcPts val="0"/>
              </a:spcAft>
              <a:buClr>
                <a:srgbClr val="878787"/>
              </a:buClr>
              <a:buSzPts val="2000"/>
              <a:buFont typeface="Calibri"/>
              <a:buNone/>
              <a:defRPr sz="2000" b="1"/>
            </a:lvl2pPr>
            <a:lvl3pPr marL="1371600" lvl="2" indent="-228600" algn="ctr">
              <a:spcBef>
                <a:spcPts val="800"/>
              </a:spcBef>
              <a:spcAft>
                <a:spcPts val="0"/>
              </a:spcAft>
              <a:buClr>
                <a:srgbClr val="878787"/>
              </a:buClr>
              <a:buSzPts val="1800"/>
              <a:buFont typeface="Calibri"/>
              <a:buNone/>
              <a:defRPr sz="1800" b="1"/>
            </a:lvl3pPr>
            <a:lvl4pPr marL="1828800" lvl="3" indent="-228600" algn="ctr">
              <a:spcBef>
                <a:spcPts val="800"/>
              </a:spcBef>
              <a:spcAft>
                <a:spcPts val="0"/>
              </a:spcAft>
              <a:buClr>
                <a:srgbClr val="878787"/>
              </a:buClr>
              <a:buSzPts val="1600"/>
              <a:buFont typeface="Calibri"/>
              <a:buNone/>
              <a:defRPr sz="1600" b="1"/>
            </a:lvl4pPr>
            <a:lvl5pPr marL="2286000" lvl="4" indent="-228600" algn="ctr">
              <a:spcBef>
                <a:spcPts val="800"/>
              </a:spcBef>
              <a:spcAft>
                <a:spcPts val="0"/>
              </a:spcAft>
              <a:buClr>
                <a:srgbClr val="878787"/>
              </a:buClr>
              <a:buSzPts val="1600"/>
              <a:buFont typeface="Calibri"/>
              <a:buNone/>
              <a:defRPr sz="1600" b="1"/>
            </a:lvl5pPr>
            <a:lvl6pPr marL="2743200" lvl="5" indent="-228600" algn="ctr">
              <a:spcBef>
                <a:spcPts val="800"/>
              </a:spcBef>
              <a:spcAft>
                <a:spcPts val="0"/>
              </a:spcAft>
              <a:buClr>
                <a:srgbClr val="878787"/>
              </a:buClr>
              <a:buSzPts val="1600"/>
              <a:buFont typeface="Calibri"/>
              <a:buNone/>
              <a:defRPr sz="1600" b="1"/>
            </a:lvl6pPr>
            <a:lvl7pPr marL="3200400" lvl="6" indent="-228600" algn="ctr">
              <a:spcBef>
                <a:spcPts val="800"/>
              </a:spcBef>
              <a:spcAft>
                <a:spcPts val="0"/>
              </a:spcAft>
              <a:buClr>
                <a:srgbClr val="878787"/>
              </a:buClr>
              <a:buSzPts val="1600"/>
              <a:buFont typeface="Calibri"/>
              <a:buNone/>
              <a:defRPr sz="1600" b="1"/>
            </a:lvl7pPr>
            <a:lvl8pPr marL="3657600" lvl="7" indent="-228600" algn="ctr">
              <a:spcBef>
                <a:spcPts val="800"/>
              </a:spcBef>
              <a:spcAft>
                <a:spcPts val="0"/>
              </a:spcAft>
              <a:buClr>
                <a:srgbClr val="878787"/>
              </a:buClr>
              <a:buSzPts val="1600"/>
              <a:buFont typeface="Calibri"/>
              <a:buNone/>
              <a:defRPr sz="1600" b="1"/>
            </a:lvl8pPr>
            <a:lvl9pPr marL="4114800" lvl="8" indent="-228600" algn="ctr">
              <a:spcBef>
                <a:spcPts val="800"/>
              </a:spcBef>
              <a:spcAft>
                <a:spcPts val="0"/>
              </a:spcAft>
              <a:buClr>
                <a:srgbClr val="878787"/>
              </a:buClr>
              <a:buSzPts val="1600"/>
              <a:buFont typeface="Calibri"/>
              <a:buNone/>
              <a:defRPr sz="1600" b="1"/>
            </a:lvl9pPr>
          </a:lstStyle>
          <a:p>
            <a:endParaRPr/>
          </a:p>
        </p:txBody>
      </p:sp>
      <p:sp>
        <p:nvSpPr>
          <p:cNvPr id="26" name="Google Shape;26;p264"/>
          <p:cNvSpPr txBox="1">
            <a:spLocks noGrp="1"/>
          </p:cNvSpPr>
          <p:nvPr>
            <p:ph type="body" idx="4"/>
          </p:nvPr>
        </p:nvSpPr>
        <p:spPr>
          <a:xfrm>
            <a:off x="6193368" y="2174875"/>
            <a:ext cx="5389033" cy="3951288"/>
          </a:xfrm>
          <a:prstGeom prst="rect">
            <a:avLst/>
          </a:prstGeom>
          <a:noFill/>
          <a:ln>
            <a:noFill/>
          </a:ln>
        </p:spPr>
        <p:txBody>
          <a:bodyPr spcFirstLastPara="1" wrap="square" lIns="50800" tIns="50800" rIns="50800" bIns="50800" anchor="t" anchorCtr="0">
            <a:noAutofit/>
          </a:bodyPr>
          <a:lstStyle>
            <a:lvl1pPr marL="457200" lvl="0" indent="-228600" algn="ctr">
              <a:spcBef>
                <a:spcPts val="800"/>
              </a:spcBef>
              <a:spcAft>
                <a:spcPts val="0"/>
              </a:spcAft>
              <a:buSzPts val="1400"/>
              <a:buNone/>
              <a:defRPr sz="2400"/>
            </a:lvl1pPr>
            <a:lvl2pPr marL="914400" lvl="1" indent="-228600" algn="ctr">
              <a:spcBef>
                <a:spcPts val="800"/>
              </a:spcBef>
              <a:spcAft>
                <a:spcPts val="0"/>
              </a:spcAft>
              <a:buSzPts val="1400"/>
              <a:buNone/>
              <a:defRPr sz="2000"/>
            </a:lvl2pPr>
            <a:lvl3pPr marL="1371600" lvl="2" indent="-228600" algn="ctr">
              <a:spcBef>
                <a:spcPts val="800"/>
              </a:spcBef>
              <a:spcAft>
                <a:spcPts val="0"/>
              </a:spcAft>
              <a:buSzPts val="1400"/>
              <a:buNone/>
              <a:defRPr sz="1800"/>
            </a:lvl3pPr>
            <a:lvl4pPr marL="1828800" lvl="3" indent="-228600" algn="ctr">
              <a:spcBef>
                <a:spcPts val="800"/>
              </a:spcBef>
              <a:spcAft>
                <a:spcPts val="0"/>
              </a:spcAft>
              <a:buSzPts val="1400"/>
              <a:buNone/>
              <a:defRPr sz="1600"/>
            </a:lvl4pPr>
            <a:lvl5pPr marL="2286000" lvl="4" indent="-228600" algn="ctr">
              <a:spcBef>
                <a:spcPts val="800"/>
              </a:spcBef>
              <a:spcAft>
                <a:spcPts val="0"/>
              </a:spcAft>
              <a:buSzPts val="1400"/>
              <a:buNone/>
              <a:defRPr sz="1600"/>
            </a:lvl5pPr>
            <a:lvl6pPr marL="2743200" lvl="5" indent="-228600" algn="ctr">
              <a:spcBef>
                <a:spcPts val="800"/>
              </a:spcBef>
              <a:spcAft>
                <a:spcPts val="0"/>
              </a:spcAft>
              <a:buSzPts val="1400"/>
              <a:buNone/>
              <a:defRPr sz="1600"/>
            </a:lvl6pPr>
            <a:lvl7pPr marL="3200400" lvl="6" indent="-228600" algn="ctr">
              <a:spcBef>
                <a:spcPts val="800"/>
              </a:spcBef>
              <a:spcAft>
                <a:spcPts val="0"/>
              </a:spcAft>
              <a:buSzPts val="1400"/>
              <a:buNone/>
              <a:defRPr sz="1600"/>
            </a:lvl7pPr>
            <a:lvl8pPr marL="3657600" lvl="7" indent="-228600" algn="ctr">
              <a:spcBef>
                <a:spcPts val="800"/>
              </a:spcBef>
              <a:spcAft>
                <a:spcPts val="0"/>
              </a:spcAft>
              <a:buSzPts val="1400"/>
              <a:buNone/>
              <a:defRPr sz="1600"/>
            </a:lvl8pPr>
            <a:lvl9pPr marL="4114800" lvl="8" indent="-228600" algn="ctr">
              <a:spcBef>
                <a:spcPts val="800"/>
              </a:spcBef>
              <a:spcAft>
                <a:spcPts val="0"/>
              </a:spcAft>
              <a:buSzPts val="1400"/>
              <a:buNone/>
              <a:defRPr sz="16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265"/>
          <p:cNvSpPr txBox="1">
            <a:spLocks noGrp="1"/>
          </p:cNvSpPr>
          <p:nvPr>
            <p:ph type="title"/>
          </p:nvPr>
        </p:nvSpPr>
        <p:spPr>
          <a:xfrm>
            <a:off x="914400" y="1844676"/>
            <a:ext cx="10363200" cy="2041525"/>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9"/>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0"/>
        <p:cNvGrpSpPr/>
        <p:nvPr/>
      </p:nvGrpSpPr>
      <p:grpSpPr>
        <a:xfrm>
          <a:off x="0" y="0"/>
          <a:ext cx="0" cy="0"/>
          <a:chOff x="0" y="0"/>
          <a:chExt cx="0" cy="0"/>
        </a:xfrm>
      </p:grpSpPr>
      <p:sp>
        <p:nvSpPr>
          <p:cNvPr id="31" name="Google Shape;31;p267"/>
          <p:cNvSpPr txBox="1">
            <a:spLocks noGrp="1"/>
          </p:cNvSpPr>
          <p:nvPr>
            <p:ph type="title"/>
          </p:nvPr>
        </p:nvSpPr>
        <p:spPr>
          <a:xfrm>
            <a:off x="609601" y="273050"/>
            <a:ext cx="4011084" cy="1162050"/>
          </a:xfrm>
          <a:prstGeom prst="rect">
            <a:avLst/>
          </a:prstGeom>
          <a:noFill/>
          <a:ln>
            <a:noFill/>
          </a:ln>
        </p:spPr>
        <p:txBody>
          <a:bodyPr spcFirstLastPara="1" wrap="square" lIns="50800" tIns="50800" rIns="50800" bIns="508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2" name="Google Shape;32;p267"/>
          <p:cNvSpPr txBox="1">
            <a:spLocks noGrp="1"/>
          </p:cNvSpPr>
          <p:nvPr>
            <p:ph type="body" idx="1"/>
          </p:nvPr>
        </p:nvSpPr>
        <p:spPr>
          <a:xfrm>
            <a:off x="4766733" y="273051"/>
            <a:ext cx="6815667" cy="5853113"/>
          </a:xfrm>
          <a:prstGeom prst="rect">
            <a:avLst/>
          </a:prstGeom>
          <a:noFill/>
          <a:ln>
            <a:noFill/>
          </a:ln>
        </p:spPr>
        <p:txBody>
          <a:bodyPr spcFirstLastPara="1" wrap="square" lIns="50800" tIns="50800" rIns="50800" bIns="50800" anchor="t" anchorCtr="0">
            <a:noAutofit/>
          </a:bodyPr>
          <a:lstStyle>
            <a:lvl1pPr marL="457200" lvl="0" indent="-228600" algn="ctr">
              <a:spcBef>
                <a:spcPts val="800"/>
              </a:spcBef>
              <a:spcAft>
                <a:spcPts val="0"/>
              </a:spcAft>
              <a:buSzPts val="1400"/>
              <a:buNone/>
              <a:defRPr sz="3200"/>
            </a:lvl1pPr>
            <a:lvl2pPr marL="914400" lvl="1" indent="-228600" algn="ctr">
              <a:spcBef>
                <a:spcPts val="800"/>
              </a:spcBef>
              <a:spcAft>
                <a:spcPts val="0"/>
              </a:spcAft>
              <a:buSzPts val="1400"/>
              <a:buNone/>
              <a:defRPr sz="2800"/>
            </a:lvl2pPr>
            <a:lvl3pPr marL="1371600" lvl="2" indent="-228600" algn="ctr">
              <a:spcBef>
                <a:spcPts val="800"/>
              </a:spcBef>
              <a:spcAft>
                <a:spcPts val="0"/>
              </a:spcAft>
              <a:buSzPts val="1400"/>
              <a:buNone/>
              <a:defRPr sz="2400"/>
            </a:lvl3pPr>
            <a:lvl4pPr marL="1828800" lvl="3" indent="-228600" algn="ctr">
              <a:spcBef>
                <a:spcPts val="800"/>
              </a:spcBef>
              <a:spcAft>
                <a:spcPts val="0"/>
              </a:spcAft>
              <a:buSzPts val="1400"/>
              <a:buNone/>
              <a:defRPr sz="2000"/>
            </a:lvl4pPr>
            <a:lvl5pPr marL="2286000" lvl="4" indent="-228600" algn="ctr">
              <a:spcBef>
                <a:spcPts val="800"/>
              </a:spcBef>
              <a:spcAft>
                <a:spcPts val="0"/>
              </a:spcAft>
              <a:buSzPts val="1400"/>
              <a:buNone/>
              <a:defRPr sz="2000"/>
            </a:lvl5pPr>
            <a:lvl6pPr marL="2743200" lvl="5" indent="-228600" algn="ctr">
              <a:spcBef>
                <a:spcPts val="800"/>
              </a:spcBef>
              <a:spcAft>
                <a:spcPts val="0"/>
              </a:spcAft>
              <a:buSzPts val="1400"/>
              <a:buNone/>
              <a:defRPr sz="2000"/>
            </a:lvl6pPr>
            <a:lvl7pPr marL="3200400" lvl="6" indent="-228600" algn="ctr">
              <a:spcBef>
                <a:spcPts val="800"/>
              </a:spcBef>
              <a:spcAft>
                <a:spcPts val="0"/>
              </a:spcAft>
              <a:buSzPts val="1400"/>
              <a:buNone/>
              <a:defRPr sz="2000"/>
            </a:lvl7pPr>
            <a:lvl8pPr marL="3657600" lvl="7" indent="-228600" algn="ctr">
              <a:spcBef>
                <a:spcPts val="800"/>
              </a:spcBef>
              <a:spcAft>
                <a:spcPts val="0"/>
              </a:spcAft>
              <a:buSzPts val="1400"/>
              <a:buNone/>
              <a:defRPr sz="2000"/>
            </a:lvl8pPr>
            <a:lvl9pPr marL="4114800" lvl="8" indent="-228600" algn="ctr">
              <a:spcBef>
                <a:spcPts val="800"/>
              </a:spcBef>
              <a:spcAft>
                <a:spcPts val="0"/>
              </a:spcAft>
              <a:buSzPts val="1400"/>
              <a:buNone/>
              <a:defRPr sz="2000"/>
            </a:lvl9pPr>
          </a:lstStyle>
          <a:p>
            <a:endParaRPr/>
          </a:p>
        </p:txBody>
      </p:sp>
      <p:sp>
        <p:nvSpPr>
          <p:cNvPr id="33" name="Google Shape;33;p267"/>
          <p:cNvSpPr txBox="1">
            <a:spLocks noGrp="1"/>
          </p:cNvSpPr>
          <p:nvPr>
            <p:ph type="body" idx="2"/>
          </p:nvPr>
        </p:nvSpPr>
        <p:spPr>
          <a:xfrm>
            <a:off x="609601" y="1435101"/>
            <a:ext cx="4011084" cy="4691063"/>
          </a:xfrm>
          <a:prstGeom prst="rect">
            <a:avLst/>
          </a:prstGeom>
          <a:noFill/>
          <a:ln>
            <a:noFill/>
          </a:ln>
        </p:spPr>
        <p:txBody>
          <a:bodyPr spcFirstLastPara="1" wrap="square" lIns="50800" tIns="50800" rIns="50800" bIns="50800" anchor="t" anchorCtr="0">
            <a:noAutofit/>
          </a:bodyPr>
          <a:lstStyle>
            <a:lvl1pPr marL="457200" lvl="0" indent="-228600" algn="ctr">
              <a:spcBef>
                <a:spcPts val="800"/>
              </a:spcBef>
              <a:spcAft>
                <a:spcPts val="0"/>
              </a:spcAft>
              <a:buClr>
                <a:srgbClr val="878787"/>
              </a:buClr>
              <a:buSzPts val="1400"/>
              <a:buFont typeface="Calibri"/>
              <a:buNone/>
              <a:defRPr sz="1400"/>
            </a:lvl1pPr>
            <a:lvl2pPr marL="914400" lvl="1" indent="-228600" algn="ctr">
              <a:spcBef>
                <a:spcPts val="800"/>
              </a:spcBef>
              <a:spcAft>
                <a:spcPts val="0"/>
              </a:spcAft>
              <a:buClr>
                <a:srgbClr val="878787"/>
              </a:buClr>
              <a:buSzPts val="1200"/>
              <a:buFont typeface="Calibri"/>
              <a:buNone/>
              <a:defRPr sz="1200"/>
            </a:lvl2pPr>
            <a:lvl3pPr marL="1371600" lvl="2" indent="-228600" algn="ctr">
              <a:spcBef>
                <a:spcPts val="800"/>
              </a:spcBef>
              <a:spcAft>
                <a:spcPts val="0"/>
              </a:spcAft>
              <a:buClr>
                <a:srgbClr val="878787"/>
              </a:buClr>
              <a:buSzPts val="1000"/>
              <a:buFont typeface="Calibri"/>
              <a:buNone/>
              <a:defRPr sz="1000"/>
            </a:lvl3pPr>
            <a:lvl4pPr marL="1828800" lvl="3" indent="-228600" algn="ctr">
              <a:spcBef>
                <a:spcPts val="800"/>
              </a:spcBef>
              <a:spcAft>
                <a:spcPts val="0"/>
              </a:spcAft>
              <a:buClr>
                <a:srgbClr val="878787"/>
              </a:buClr>
              <a:buSzPts val="900"/>
              <a:buFont typeface="Calibri"/>
              <a:buNone/>
              <a:defRPr sz="900"/>
            </a:lvl4pPr>
            <a:lvl5pPr marL="2286000" lvl="4" indent="-228600" algn="ctr">
              <a:spcBef>
                <a:spcPts val="800"/>
              </a:spcBef>
              <a:spcAft>
                <a:spcPts val="0"/>
              </a:spcAft>
              <a:buClr>
                <a:srgbClr val="878787"/>
              </a:buClr>
              <a:buSzPts val="900"/>
              <a:buFont typeface="Calibri"/>
              <a:buNone/>
              <a:defRPr sz="900"/>
            </a:lvl5pPr>
            <a:lvl6pPr marL="2743200" lvl="5" indent="-228600" algn="ctr">
              <a:spcBef>
                <a:spcPts val="800"/>
              </a:spcBef>
              <a:spcAft>
                <a:spcPts val="0"/>
              </a:spcAft>
              <a:buClr>
                <a:srgbClr val="878787"/>
              </a:buClr>
              <a:buSzPts val="900"/>
              <a:buFont typeface="Calibri"/>
              <a:buNone/>
              <a:defRPr sz="900"/>
            </a:lvl6pPr>
            <a:lvl7pPr marL="3200400" lvl="6" indent="-228600" algn="ctr">
              <a:spcBef>
                <a:spcPts val="800"/>
              </a:spcBef>
              <a:spcAft>
                <a:spcPts val="0"/>
              </a:spcAft>
              <a:buClr>
                <a:srgbClr val="878787"/>
              </a:buClr>
              <a:buSzPts val="900"/>
              <a:buFont typeface="Calibri"/>
              <a:buNone/>
              <a:defRPr sz="900"/>
            </a:lvl7pPr>
            <a:lvl8pPr marL="3657600" lvl="7" indent="-228600" algn="ctr">
              <a:spcBef>
                <a:spcPts val="800"/>
              </a:spcBef>
              <a:spcAft>
                <a:spcPts val="0"/>
              </a:spcAft>
              <a:buClr>
                <a:srgbClr val="878787"/>
              </a:buClr>
              <a:buSzPts val="900"/>
              <a:buFont typeface="Calibri"/>
              <a:buNone/>
              <a:defRPr sz="900"/>
            </a:lvl8pPr>
            <a:lvl9pPr marL="4114800" lvl="8" indent="-228600" algn="ctr">
              <a:spcBef>
                <a:spcPts val="800"/>
              </a:spcBef>
              <a:spcAft>
                <a:spcPts val="0"/>
              </a:spcAft>
              <a:buClr>
                <a:srgbClr val="878787"/>
              </a:buClr>
              <a:buSzPts val="900"/>
              <a:buFont typeface="Calibri"/>
              <a:buNone/>
              <a:defRPr sz="9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4"/>
        <p:cNvGrpSpPr/>
        <p:nvPr/>
      </p:nvGrpSpPr>
      <p:grpSpPr>
        <a:xfrm>
          <a:off x="0" y="0"/>
          <a:ext cx="0" cy="0"/>
          <a:chOff x="0" y="0"/>
          <a:chExt cx="0" cy="0"/>
        </a:xfrm>
      </p:grpSpPr>
      <p:sp>
        <p:nvSpPr>
          <p:cNvPr id="35" name="Google Shape;35;p268"/>
          <p:cNvSpPr txBox="1">
            <a:spLocks noGrp="1"/>
          </p:cNvSpPr>
          <p:nvPr>
            <p:ph type="title"/>
          </p:nvPr>
        </p:nvSpPr>
        <p:spPr>
          <a:xfrm>
            <a:off x="2389717" y="4800600"/>
            <a:ext cx="7315200" cy="566738"/>
          </a:xfrm>
          <a:prstGeom prst="rect">
            <a:avLst/>
          </a:prstGeom>
          <a:noFill/>
          <a:ln>
            <a:noFill/>
          </a:ln>
        </p:spPr>
        <p:txBody>
          <a:bodyPr spcFirstLastPara="1" wrap="square" lIns="50800" tIns="50800" rIns="50800" bIns="508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6" name="Google Shape;36;p268"/>
          <p:cNvSpPr>
            <a:spLocks noGrp="1"/>
          </p:cNvSpPr>
          <p:nvPr>
            <p:ph type="pic" idx="2"/>
          </p:nvPr>
        </p:nvSpPr>
        <p:spPr>
          <a:xfrm>
            <a:off x="2389717" y="612775"/>
            <a:ext cx="7315200" cy="4114800"/>
          </a:xfrm>
          <a:prstGeom prst="rect">
            <a:avLst/>
          </a:prstGeom>
          <a:noFill/>
          <a:ln>
            <a:noFill/>
          </a:ln>
        </p:spPr>
      </p:sp>
      <p:sp>
        <p:nvSpPr>
          <p:cNvPr id="37" name="Google Shape;37;p268"/>
          <p:cNvSpPr txBox="1">
            <a:spLocks noGrp="1"/>
          </p:cNvSpPr>
          <p:nvPr>
            <p:ph type="body" idx="1"/>
          </p:nvPr>
        </p:nvSpPr>
        <p:spPr>
          <a:xfrm>
            <a:off x="2389717" y="5367338"/>
            <a:ext cx="7315200" cy="804862"/>
          </a:xfrm>
          <a:prstGeom prst="rect">
            <a:avLst/>
          </a:prstGeom>
          <a:noFill/>
          <a:ln>
            <a:noFill/>
          </a:ln>
        </p:spPr>
        <p:txBody>
          <a:bodyPr spcFirstLastPara="1" wrap="square" lIns="50800" tIns="50800" rIns="50800" bIns="50800" anchor="t" anchorCtr="0">
            <a:noAutofit/>
          </a:bodyPr>
          <a:lstStyle>
            <a:lvl1pPr marL="457200" lvl="0" indent="-228600" algn="ctr">
              <a:spcBef>
                <a:spcPts val="800"/>
              </a:spcBef>
              <a:spcAft>
                <a:spcPts val="0"/>
              </a:spcAft>
              <a:buClr>
                <a:srgbClr val="878787"/>
              </a:buClr>
              <a:buSzPts val="1400"/>
              <a:buFont typeface="Calibri"/>
              <a:buNone/>
              <a:defRPr sz="1400"/>
            </a:lvl1pPr>
            <a:lvl2pPr marL="914400" lvl="1" indent="-228600" algn="ctr">
              <a:spcBef>
                <a:spcPts val="800"/>
              </a:spcBef>
              <a:spcAft>
                <a:spcPts val="0"/>
              </a:spcAft>
              <a:buClr>
                <a:srgbClr val="878787"/>
              </a:buClr>
              <a:buSzPts val="1200"/>
              <a:buFont typeface="Calibri"/>
              <a:buNone/>
              <a:defRPr sz="1200"/>
            </a:lvl2pPr>
            <a:lvl3pPr marL="1371600" lvl="2" indent="-228600" algn="ctr">
              <a:spcBef>
                <a:spcPts val="800"/>
              </a:spcBef>
              <a:spcAft>
                <a:spcPts val="0"/>
              </a:spcAft>
              <a:buClr>
                <a:srgbClr val="878787"/>
              </a:buClr>
              <a:buSzPts val="1000"/>
              <a:buFont typeface="Calibri"/>
              <a:buNone/>
              <a:defRPr sz="1000"/>
            </a:lvl3pPr>
            <a:lvl4pPr marL="1828800" lvl="3" indent="-228600" algn="ctr">
              <a:spcBef>
                <a:spcPts val="800"/>
              </a:spcBef>
              <a:spcAft>
                <a:spcPts val="0"/>
              </a:spcAft>
              <a:buClr>
                <a:srgbClr val="878787"/>
              </a:buClr>
              <a:buSzPts val="900"/>
              <a:buFont typeface="Calibri"/>
              <a:buNone/>
              <a:defRPr sz="900"/>
            </a:lvl4pPr>
            <a:lvl5pPr marL="2286000" lvl="4" indent="-228600" algn="ctr">
              <a:spcBef>
                <a:spcPts val="800"/>
              </a:spcBef>
              <a:spcAft>
                <a:spcPts val="0"/>
              </a:spcAft>
              <a:buClr>
                <a:srgbClr val="878787"/>
              </a:buClr>
              <a:buSzPts val="900"/>
              <a:buFont typeface="Calibri"/>
              <a:buNone/>
              <a:defRPr sz="900"/>
            </a:lvl5pPr>
            <a:lvl6pPr marL="2743200" lvl="5" indent="-228600" algn="ctr">
              <a:spcBef>
                <a:spcPts val="800"/>
              </a:spcBef>
              <a:spcAft>
                <a:spcPts val="0"/>
              </a:spcAft>
              <a:buClr>
                <a:srgbClr val="878787"/>
              </a:buClr>
              <a:buSzPts val="900"/>
              <a:buFont typeface="Calibri"/>
              <a:buNone/>
              <a:defRPr sz="900"/>
            </a:lvl6pPr>
            <a:lvl7pPr marL="3200400" lvl="6" indent="-228600" algn="ctr">
              <a:spcBef>
                <a:spcPts val="800"/>
              </a:spcBef>
              <a:spcAft>
                <a:spcPts val="0"/>
              </a:spcAft>
              <a:buClr>
                <a:srgbClr val="878787"/>
              </a:buClr>
              <a:buSzPts val="900"/>
              <a:buFont typeface="Calibri"/>
              <a:buNone/>
              <a:defRPr sz="900"/>
            </a:lvl7pPr>
            <a:lvl8pPr marL="3657600" lvl="7" indent="-228600" algn="ctr">
              <a:spcBef>
                <a:spcPts val="800"/>
              </a:spcBef>
              <a:spcAft>
                <a:spcPts val="0"/>
              </a:spcAft>
              <a:buClr>
                <a:srgbClr val="878787"/>
              </a:buClr>
              <a:buSzPts val="900"/>
              <a:buFont typeface="Calibri"/>
              <a:buNone/>
              <a:defRPr sz="900"/>
            </a:lvl8pPr>
            <a:lvl9pPr marL="4114800" lvl="8" indent="-228600" algn="ctr">
              <a:spcBef>
                <a:spcPts val="800"/>
              </a:spcBef>
              <a:spcAft>
                <a:spcPts val="0"/>
              </a:spcAft>
              <a:buClr>
                <a:srgbClr val="878787"/>
              </a:buClr>
              <a:buSzPts val="900"/>
              <a:buFont typeface="Calibri"/>
              <a:buNone/>
              <a:defRPr sz="9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8"/>
        <p:cNvGrpSpPr/>
        <p:nvPr/>
      </p:nvGrpSpPr>
      <p:grpSpPr>
        <a:xfrm>
          <a:off x="0" y="0"/>
          <a:ext cx="0" cy="0"/>
          <a:chOff x="0" y="0"/>
          <a:chExt cx="0" cy="0"/>
        </a:xfrm>
      </p:grpSpPr>
      <p:sp>
        <p:nvSpPr>
          <p:cNvPr id="39" name="Google Shape;39;p269"/>
          <p:cNvSpPr txBox="1">
            <a:spLocks noGrp="1"/>
          </p:cNvSpPr>
          <p:nvPr>
            <p:ph type="title"/>
          </p:nvPr>
        </p:nvSpPr>
        <p:spPr>
          <a:xfrm>
            <a:off x="914400" y="1844676"/>
            <a:ext cx="10363200" cy="2041525"/>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0" name="Google Shape;40;p269"/>
          <p:cNvSpPr txBox="1">
            <a:spLocks noGrp="1"/>
          </p:cNvSpPr>
          <p:nvPr>
            <p:ph type="body" idx="1"/>
          </p:nvPr>
        </p:nvSpPr>
        <p:spPr>
          <a:xfrm rot="5400000">
            <a:off x="4610100" y="1104900"/>
            <a:ext cx="2971800" cy="8534400"/>
          </a:xfrm>
          <a:prstGeom prst="rect">
            <a:avLst/>
          </a:prstGeom>
          <a:noFill/>
          <a:ln>
            <a:noFill/>
          </a:ln>
        </p:spPr>
        <p:txBody>
          <a:bodyPr spcFirstLastPara="1" wrap="square" lIns="50800" tIns="50800" rIns="50800" bIns="50800" anchor="t" anchorCtr="0">
            <a:noAutofit/>
          </a:bodyPr>
          <a:lstStyle>
            <a:lvl1pPr marL="457200" lvl="0" indent="-228600" algn="ctr">
              <a:spcBef>
                <a:spcPts val="800"/>
              </a:spcBef>
              <a:spcAft>
                <a:spcPts val="0"/>
              </a:spcAft>
              <a:buSzPts val="1400"/>
              <a:buNone/>
              <a:defRPr/>
            </a:lvl1pPr>
            <a:lvl2pPr marL="914400" lvl="1" indent="-228600" algn="ctr">
              <a:spcBef>
                <a:spcPts val="800"/>
              </a:spcBef>
              <a:spcAft>
                <a:spcPts val="0"/>
              </a:spcAft>
              <a:buSzPts val="1400"/>
              <a:buNone/>
              <a:defRPr/>
            </a:lvl2pPr>
            <a:lvl3pPr marL="1371600" lvl="2" indent="-228600" algn="ctr">
              <a:spcBef>
                <a:spcPts val="800"/>
              </a:spcBef>
              <a:spcAft>
                <a:spcPts val="0"/>
              </a:spcAft>
              <a:buSzPts val="1400"/>
              <a:buNone/>
              <a:defRPr/>
            </a:lvl3pPr>
            <a:lvl4pPr marL="1828800" lvl="3" indent="-228600" algn="ctr">
              <a:spcBef>
                <a:spcPts val="800"/>
              </a:spcBef>
              <a:spcAft>
                <a:spcPts val="0"/>
              </a:spcAft>
              <a:buSzPts val="1400"/>
              <a:buNone/>
              <a:defRPr/>
            </a:lvl4pPr>
            <a:lvl5pPr marL="2286000" lvl="4" indent="-228600" algn="ctr">
              <a:spcBef>
                <a:spcPts val="800"/>
              </a:spcBef>
              <a:spcAft>
                <a:spcPts val="0"/>
              </a:spcAft>
              <a:buSzPts val="1400"/>
              <a:buNone/>
              <a:defRPr/>
            </a:lvl5pPr>
            <a:lvl6pPr marL="2743200" lvl="5" indent="-228600" algn="ctr">
              <a:spcBef>
                <a:spcPts val="800"/>
              </a:spcBef>
              <a:spcAft>
                <a:spcPts val="0"/>
              </a:spcAft>
              <a:buSzPts val="1400"/>
              <a:buNone/>
              <a:defRPr/>
            </a:lvl6pPr>
            <a:lvl7pPr marL="3200400" lvl="6" indent="-228600" algn="ctr">
              <a:spcBef>
                <a:spcPts val="800"/>
              </a:spcBef>
              <a:spcAft>
                <a:spcPts val="0"/>
              </a:spcAft>
              <a:buSzPts val="1400"/>
              <a:buNone/>
              <a:defRPr/>
            </a:lvl7pPr>
            <a:lvl8pPr marL="3657600" lvl="7" indent="-228600" algn="ctr">
              <a:spcBef>
                <a:spcPts val="800"/>
              </a:spcBef>
              <a:spcAft>
                <a:spcPts val="0"/>
              </a:spcAft>
              <a:buSzPts val="1400"/>
              <a:buNone/>
              <a:defRPr/>
            </a:lvl8pPr>
            <a:lvl9pPr marL="4114800" lvl="8" indent="-228600" algn="ctr">
              <a:spcBef>
                <a:spcPts val="80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41"/>
        <p:cNvGrpSpPr/>
        <p:nvPr/>
      </p:nvGrpSpPr>
      <p:grpSpPr>
        <a:xfrm>
          <a:off x="0" y="0"/>
          <a:ext cx="0" cy="0"/>
          <a:chOff x="0" y="0"/>
          <a:chExt cx="0" cy="0"/>
        </a:xfrm>
      </p:grpSpPr>
      <p:sp>
        <p:nvSpPr>
          <p:cNvPr id="42" name="Google Shape;42;p270"/>
          <p:cNvSpPr txBox="1">
            <a:spLocks noGrp="1"/>
          </p:cNvSpPr>
          <p:nvPr>
            <p:ph type="title"/>
          </p:nvPr>
        </p:nvSpPr>
        <p:spPr>
          <a:xfrm rot="5400000">
            <a:off x="7475538" y="3055938"/>
            <a:ext cx="5013325" cy="2590800"/>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3" name="Google Shape;43;p270"/>
          <p:cNvSpPr txBox="1">
            <a:spLocks noGrp="1"/>
          </p:cNvSpPr>
          <p:nvPr>
            <p:ph type="body" idx="1"/>
          </p:nvPr>
        </p:nvSpPr>
        <p:spPr>
          <a:xfrm rot="5400000">
            <a:off x="2192338" y="566738"/>
            <a:ext cx="5013325" cy="7569200"/>
          </a:xfrm>
          <a:prstGeom prst="rect">
            <a:avLst/>
          </a:prstGeom>
          <a:noFill/>
          <a:ln>
            <a:noFill/>
          </a:ln>
        </p:spPr>
        <p:txBody>
          <a:bodyPr spcFirstLastPara="1" wrap="square" lIns="50800" tIns="50800" rIns="50800" bIns="50800" anchor="t" anchorCtr="0">
            <a:noAutofit/>
          </a:bodyPr>
          <a:lstStyle>
            <a:lvl1pPr marL="457200" lvl="0" indent="-228600" algn="ctr">
              <a:spcBef>
                <a:spcPts val="800"/>
              </a:spcBef>
              <a:spcAft>
                <a:spcPts val="0"/>
              </a:spcAft>
              <a:buSzPts val="1400"/>
              <a:buNone/>
              <a:defRPr/>
            </a:lvl1pPr>
            <a:lvl2pPr marL="914400" lvl="1" indent="-228600" algn="ctr">
              <a:spcBef>
                <a:spcPts val="800"/>
              </a:spcBef>
              <a:spcAft>
                <a:spcPts val="0"/>
              </a:spcAft>
              <a:buSzPts val="1400"/>
              <a:buNone/>
              <a:defRPr/>
            </a:lvl2pPr>
            <a:lvl3pPr marL="1371600" lvl="2" indent="-228600" algn="ctr">
              <a:spcBef>
                <a:spcPts val="800"/>
              </a:spcBef>
              <a:spcAft>
                <a:spcPts val="0"/>
              </a:spcAft>
              <a:buSzPts val="1400"/>
              <a:buNone/>
              <a:defRPr/>
            </a:lvl3pPr>
            <a:lvl4pPr marL="1828800" lvl="3" indent="-228600" algn="ctr">
              <a:spcBef>
                <a:spcPts val="800"/>
              </a:spcBef>
              <a:spcAft>
                <a:spcPts val="0"/>
              </a:spcAft>
              <a:buSzPts val="1400"/>
              <a:buNone/>
              <a:defRPr/>
            </a:lvl4pPr>
            <a:lvl5pPr marL="2286000" lvl="4" indent="-228600" algn="ctr">
              <a:spcBef>
                <a:spcPts val="800"/>
              </a:spcBef>
              <a:spcAft>
                <a:spcPts val="0"/>
              </a:spcAft>
              <a:buSzPts val="1400"/>
              <a:buNone/>
              <a:defRPr/>
            </a:lvl5pPr>
            <a:lvl6pPr marL="2743200" lvl="5" indent="-228600" algn="ctr">
              <a:spcBef>
                <a:spcPts val="800"/>
              </a:spcBef>
              <a:spcAft>
                <a:spcPts val="0"/>
              </a:spcAft>
              <a:buSzPts val="1400"/>
              <a:buNone/>
              <a:defRPr/>
            </a:lvl6pPr>
            <a:lvl7pPr marL="3200400" lvl="6" indent="-228600" algn="ctr">
              <a:spcBef>
                <a:spcPts val="800"/>
              </a:spcBef>
              <a:spcAft>
                <a:spcPts val="0"/>
              </a:spcAft>
              <a:buSzPts val="1400"/>
              <a:buNone/>
              <a:defRPr/>
            </a:lvl7pPr>
            <a:lvl8pPr marL="3657600" lvl="7" indent="-228600" algn="ctr">
              <a:spcBef>
                <a:spcPts val="800"/>
              </a:spcBef>
              <a:spcAft>
                <a:spcPts val="0"/>
              </a:spcAft>
              <a:buSzPts val="1400"/>
              <a:buNone/>
              <a:defRPr/>
            </a:lvl8pPr>
            <a:lvl9pPr marL="4114800" lvl="8" indent="-228600" algn="ctr">
              <a:spcBef>
                <a:spcPts val="80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46"/>
        <p:cNvGrpSpPr/>
        <p:nvPr/>
      </p:nvGrpSpPr>
      <p:grpSpPr>
        <a:xfrm>
          <a:off x="0" y="0"/>
          <a:ext cx="0" cy="0"/>
          <a:chOff x="0" y="0"/>
          <a:chExt cx="0" cy="0"/>
        </a:xfrm>
      </p:grpSpPr>
      <p:sp>
        <p:nvSpPr>
          <p:cNvPr id="47" name="Google Shape;47;p257"/>
          <p:cNvSpPr txBox="1">
            <a:spLocks noGrp="1"/>
          </p:cNvSpPr>
          <p:nvPr>
            <p:ph type="title"/>
          </p:nvPr>
        </p:nvSpPr>
        <p:spPr>
          <a:xfrm>
            <a:off x="609600" y="92076"/>
            <a:ext cx="10972800" cy="1508125"/>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8" name="Google Shape;48;p257"/>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3pPr>
            <a:lvl4pPr marL="1828800" marR="0" lvl="3"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4pPr>
            <a:lvl5pPr marL="2286000" marR="0" lvl="4"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5pPr>
            <a:lvl6pPr marL="2743200" marR="0" lvl="5"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6pPr>
            <a:lvl7pPr marL="3200400" marR="0" lvl="6"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7pPr>
            <a:lvl8pPr marL="3657600" marR="0" lvl="7"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8pPr>
            <a:lvl9pPr marL="4114800" marR="0" lvl="8"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5"/>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6"/>
        <p:cNvGrpSpPr/>
        <p:nvPr/>
      </p:nvGrpSpPr>
      <p:grpSpPr>
        <a:xfrm>
          <a:off x="0" y="0"/>
          <a:ext cx="0" cy="0"/>
          <a:chOff x="0" y="0"/>
          <a:chExt cx="0" cy="0"/>
        </a:xfrm>
      </p:grpSpPr>
      <p:sp>
        <p:nvSpPr>
          <p:cNvPr id="57" name="Google Shape;57;p260"/>
          <p:cNvSpPr txBox="1">
            <a:spLocks noGrp="1"/>
          </p:cNvSpPr>
          <p:nvPr>
            <p:ph type="title"/>
          </p:nvPr>
        </p:nvSpPr>
        <p:spPr>
          <a:xfrm>
            <a:off x="609600" y="92076"/>
            <a:ext cx="10972800" cy="1508125"/>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8" name="Google Shape;58;p260"/>
          <p:cNvSpPr txBox="1">
            <a:spLocks noGrp="1"/>
          </p:cNvSpPr>
          <p:nvPr>
            <p:ph type="body" idx="1"/>
          </p:nvPr>
        </p:nvSpPr>
        <p:spPr>
          <a:xfrm>
            <a:off x="609600" y="1600201"/>
            <a:ext cx="5384800" cy="4525963"/>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8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spcBef>
                <a:spcPts val="8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spcBef>
                <a:spcPts val="8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spcBef>
                <a:spcPts val="8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8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spcBef>
                <a:spcPts val="8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spcBef>
                <a:spcPts val="8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spcBef>
                <a:spcPts val="8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spcBef>
                <a:spcPts val="8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9" name="Google Shape;59;p260"/>
          <p:cNvSpPr txBox="1">
            <a:spLocks noGrp="1"/>
          </p:cNvSpPr>
          <p:nvPr>
            <p:ph type="body" idx="2"/>
          </p:nvPr>
        </p:nvSpPr>
        <p:spPr>
          <a:xfrm>
            <a:off x="6197600" y="1600201"/>
            <a:ext cx="5384800" cy="4525963"/>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8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spcBef>
                <a:spcPts val="8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spcBef>
                <a:spcPts val="8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spcBef>
                <a:spcPts val="8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8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spcBef>
                <a:spcPts val="8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spcBef>
                <a:spcPts val="8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spcBef>
                <a:spcPts val="8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spcBef>
                <a:spcPts val="8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0"/>
        <p:cNvGrpSpPr/>
        <p:nvPr/>
      </p:nvGrpSpPr>
      <p:grpSpPr>
        <a:xfrm>
          <a:off x="0" y="0"/>
          <a:ext cx="0" cy="0"/>
          <a:chOff x="0" y="0"/>
          <a:chExt cx="0" cy="0"/>
        </a:xfrm>
      </p:grpSpPr>
      <p:sp>
        <p:nvSpPr>
          <p:cNvPr id="61" name="Google Shape;61;p271"/>
          <p:cNvSpPr txBox="1">
            <a:spLocks noGrp="1"/>
          </p:cNvSpPr>
          <p:nvPr>
            <p:ph type="ctrTitle"/>
          </p:nvPr>
        </p:nvSpPr>
        <p:spPr>
          <a:xfrm>
            <a:off x="914400" y="2130426"/>
            <a:ext cx="10363200" cy="1470025"/>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2" name="Google Shape;62;p271"/>
          <p:cNvSpPr txBox="1">
            <a:spLocks noGrp="1"/>
          </p:cNvSpPr>
          <p:nvPr>
            <p:ph type="subTitle" idx="1"/>
          </p:nvPr>
        </p:nvSpPr>
        <p:spPr>
          <a:xfrm>
            <a:off x="1828800" y="3886200"/>
            <a:ext cx="8534400" cy="1752600"/>
          </a:xfrm>
          <a:prstGeom prst="rect">
            <a:avLst/>
          </a:prstGeom>
          <a:noFill/>
          <a:ln>
            <a:noFill/>
          </a:ln>
        </p:spPr>
        <p:txBody>
          <a:bodyPr spcFirstLastPara="1" wrap="square" lIns="91425" tIns="45700" rIns="91425" bIns="45700" anchor="t" anchorCtr="0">
            <a:noAutofit/>
          </a:bodyPr>
          <a:lstStyle>
            <a:lvl1pPr marR="0" lvl="0" algn="ctr" rtl="0">
              <a:spcBef>
                <a:spcPts val="8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ctr" rtl="0">
              <a:spcBef>
                <a:spcPts val="8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2pPr>
            <a:lvl3pPr marR="0" lvl="2" algn="ctr" rtl="0">
              <a:spcBef>
                <a:spcPts val="8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3pPr>
            <a:lvl4pPr marR="0" lvl="3" algn="ctr" rtl="0">
              <a:spcBef>
                <a:spcPts val="8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4pPr>
            <a:lvl5pPr marR="0" lvl="4" algn="ctr" rtl="0">
              <a:spcBef>
                <a:spcPts val="8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5pPr>
            <a:lvl6pPr marR="0" lvl="5" algn="ctr" rtl="0">
              <a:spcBef>
                <a:spcPts val="8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6pPr>
            <a:lvl7pPr marR="0" lvl="6" algn="ctr" rtl="0">
              <a:spcBef>
                <a:spcPts val="8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7pPr>
            <a:lvl8pPr marR="0" lvl="7" algn="ctr" rtl="0">
              <a:spcBef>
                <a:spcPts val="8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8pPr>
            <a:lvl9pPr marR="0" lvl="8" algn="ctr" rtl="0">
              <a:spcBef>
                <a:spcPts val="8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3"/>
        <p:cNvGrpSpPr/>
        <p:nvPr/>
      </p:nvGrpSpPr>
      <p:grpSpPr>
        <a:xfrm>
          <a:off x="0" y="0"/>
          <a:ext cx="0" cy="0"/>
          <a:chOff x="0" y="0"/>
          <a:chExt cx="0" cy="0"/>
        </a:xfrm>
      </p:grpSpPr>
      <p:sp>
        <p:nvSpPr>
          <p:cNvPr id="64" name="Google Shape;64;p272"/>
          <p:cNvSpPr txBox="1">
            <a:spLocks noGrp="1"/>
          </p:cNvSpPr>
          <p:nvPr>
            <p:ph type="title"/>
          </p:nvPr>
        </p:nvSpPr>
        <p:spPr>
          <a:xfrm>
            <a:off x="963084" y="4406901"/>
            <a:ext cx="10363200" cy="1362075"/>
          </a:xfrm>
          <a:prstGeom prst="rect">
            <a:avLst/>
          </a:prstGeom>
          <a:noFill/>
          <a:ln>
            <a:noFill/>
          </a:ln>
        </p:spPr>
        <p:txBody>
          <a:bodyPr spcFirstLastPara="1" wrap="square" lIns="50800" tIns="50800" rIns="50800" bIns="508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5" name="Google Shape;65;p272"/>
          <p:cNvSpPr txBox="1">
            <a:spLocks noGrp="1"/>
          </p:cNvSpPr>
          <p:nvPr>
            <p:ph type="body" idx="1"/>
          </p:nvPr>
        </p:nvSpPr>
        <p:spPr>
          <a:xfrm>
            <a:off x="963084" y="2906713"/>
            <a:ext cx="10363200" cy="1500187"/>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8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1pPr>
            <a:lvl2pPr marL="914400" marR="0" lvl="1" indent="-228600" algn="l" rtl="0">
              <a:spcBef>
                <a:spcPts val="8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2pPr>
            <a:lvl3pPr marL="1371600" marR="0" lvl="2" indent="-228600" algn="l" rtl="0">
              <a:spcBef>
                <a:spcPts val="8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3pPr>
            <a:lvl4pPr marL="1828800" marR="0" lvl="3" indent="-228600" algn="l" rtl="0">
              <a:spcBef>
                <a:spcPts val="8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4pPr>
            <a:lvl5pPr marL="2286000" marR="0" lvl="4" indent="-228600" algn="l" rtl="0">
              <a:spcBef>
                <a:spcPts val="8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5pPr>
            <a:lvl6pPr marL="2743200" marR="0" lvl="5" indent="-228600" algn="l" rtl="0">
              <a:spcBef>
                <a:spcPts val="8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6pPr>
            <a:lvl7pPr marL="3200400" marR="0" lvl="6" indent="-228600" algn="l" rtl="0">
              <a:spcBef>
                <a:spcPts val="8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7pPr>
            <a:lvl8pPr marL="3657600" marR="0" lvl="7" indent="-228600" algn="l" rtl="0">
              <a:spcBef>
                <a:spcPts val="8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8pPr>
            <a:lvl9pPr marL="4114800" marR="0" lvl="8" indent="-228600" algn="l" rtl="0">
              <a:spcBef>
                <a:spcPts val="8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6"/>
        <p:cNvGrpSpPr/>
        <p:nvPr/>
      </p:nvGrpSpPr>
      <p:grpSpPr>
        <a:xfrm>
          <a:off x="0" y="0"/>
          <a:ext cx="0" cy="0"/>
          <a:chOff x="0" y="0"/>
          <a:chExt cx="0" cy="0"/>
        </a:xfrm>
      </p:grpSpPr>
      <p:sp>
        <p:nvSpPr>
          <p:cNvPr id="67" name="Google Shape;67;p273"/>
          <p:cNvSpPr txBox="1">
            <a:spLocks noGrp="1"/>
          </p:cNvSpPr>
          <p:nvPr>
            <p:ph type="title"/>
          </p:nvPr>
        </p:nvSpPr>
        <p:spPr>
          <a:xfrm>
            <a:off x="609600" y="274638"/>
            <a:ext cx="10972800" cy="1143000"/>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8" name="Google Shape;68;p273"/>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8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spcBef>
                <a:spcPts val="8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spcBef>
                <a:spcPts val="8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spcBef>
                <a:spcPts val="8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spcBef>
                <a:spcPts val="8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spcBef>
                <a:spcPts val="8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spcBef>
                <a:spcPts val="8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spcBef>
                <a:spcPts val="8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spcBef>
                <a:spcPts val="8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69" name="Google Shape;69;p273"/>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Autofit/>
          </a:bodyPr>
          <a:lstStyle>
            <a:lvl1pPr marL="457200" marR="0" lvl="0" indent="-381000" algn="l" rtl="0">
              <a:spcBef>
                <a:spcPts val="8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55600" algn="l" rtl="0">
              <a:spcBef>
                <a:spcPts val="8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spcBef>
                <a:spcPts val="8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spcBef>
                <a:spcPts val="8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spcBef>
                <a:spcPts val="8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30200" algn="l" rtl="0">
              <a:spcBef>
                <a:spcPts val="8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spcBef>
                <a:spcPts val="8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spcBef>
                <a:spcPts val="8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spcBef>
                <a:spcPts val="8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70" name="Google Shape;70;p273"/>
          <p:cNvSpPr txBox="1">
            <a:spLocks noGrp="1"/>
          </p:cNvSpPr>
          <p:nvPr>
            <p:ph type="body" idx="3"/>
          </p:nvPr>
        </p:nvSpPr>
        <p:spPr>
          <a:xfrm>
            <a:off x="6193368" y="1535113"/>
            <a:ext cx="5389033" cy="639762"/>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8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spcBef>
                <a:spcPts val="8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spcBef>
                <a:spcPts val="8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spcBef>
                <a:spcPts val="8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spcBef>
                <a:spcPts val="8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spcBef>
                <a:spcPts val="8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spcBef>
                <a:spcPts val="8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spcBef>
                <a:spcPts val="8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spcBef>
                <a:spcPts val="8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71" name="Google Shape;71;p273"/>
          <p:cNvSpPr txBox="1">
            <a:spLocks noGrp="1"/>
          </p:cNvSpPr>
          <p:nvPr>
            <p:ph type="body" idx="4"/>
          </p:nvPr>
        </p:nvSpPr>
        <p:spPr>
          <a:xfrm>
            <a:off x="6193368" y="2174875"/>
            <a:ext cx="5389033" cy="3951288"/>
          </a:xfrm>
          <a:prstGeom prst="rect">
            <a:avLst/>
          </a:prstGeom>
          <a:noFill/>
          <a:ln>
            <a:noFill/>
          </a:ln>
        </p:spPr>
        <p:txBody>
          <a:bodyPr spcFirstLastPara="1" wrap="square" lIns="91425" tIns="45700" rIns="91425" bIns="45700" anchor="t" anchorCtr="0">
            <a:noAutofit/>
          </a:bodyPr>
          <a:lstStyle>
            <a:lvl1pPr marL="457200" marR="0" lvl="0" indent="-381000" algn="l" rtl="0">
              <a:spcBef>
                <a:spcPts val="8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55600" algn="l" rtl="0">
              <a:spcBef>
                <a:spcPts val="8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spcBef>
                <a:spcPts val="8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spcBef>
                <a:spcPts val="8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spcBef>
                <a:spcPts val="8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30200" algn="l" rtl="0">
              <a:spcBef>
                <a:spcPts val="8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spcBef>
                <a:spcPts val="8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spcBef>
                <a:spcPts val="8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spcBef>
                <a:spcPts val="8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2"/>
        <p:cNvGrpSpPr/>
        <p:nvPr/>
      </p:nvGrpSpPr>
      <p:grpSpPr>
        <a:xfrm>
          <a:off x="0" y="0"/>
          <a:ext cx="0" cy="0"/>
          <a:chOff x="0" y="0"/>
          <a:chExt cx="0" cy="0"/>
        </a:xfrm>
      </p:grpSpPr>
      <p:sp>
        <p:nvSpPr>
          <p:cNvPr id="73" name="Google Shape;73;p274"/>
          <p:cNvSpPr txBox="1">
            <a:spLocks noGrp="1"/>
          </p:cNvSpPr>
          <p:nvPr>
            <p:ph type="title"/>
          </p:nvPr>
        </p:nvSpPr>
        <p:spPr>
          <a:xfrm>
            <a:off x="609600" y="92076"/>
            <a:ext cx="10972800" cy="1508125"/>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4"/>
        <p:cNvGrpSpPr/>
        <p:nvPr/>
      </p:nvGrpSpPr>
      <p:grpSpPr>
        <a:xfrm>
          <a:off x="0" y="0"/>
          <a:ext cx="0" cy="0"/>
          <a:chOff x="0" y="0"/>
          <a:chExt cx="0" cy="0"/>
        </a:xfrm>
      </p:grpSpPr>
      <p:sp>
        <p:nvSpPr>
          <p:cNvPr id="75" name="Google Shape;75;p275"/>
          <p:cNvSpPr txBox="1">
            <a:spLocks noGrp="1"/>
          </p:cNvSpPr>
          <p:nvPr>
            <p:ph type="title"/>
          </p:nvPr>
        </p:nvSpPr>
        <p:spPr>
          <a:xfrm>
            <a:off x="609601" y="273050"/>
            <a:ext cx="4011084" cy="1162050"/>
          </a:xfrm>
          <a:prstGeom prst="rect">
            <a:avLst/>
          </a:prstGeom>
          <a:noFill/>
          <a:ln>
            <a:noFill/>
          </a:ln>
        </p:spPr>
        <p:txBody>
          <a:bodyPr spcFirstLastPara="1" wrap="square" lIns="50800" tIns="50800" rIns="50800" bIns="508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6" name="Google Shape;76;p275"/>
          <p:cNvSpPr txBox="1">
            <a:spLocks noGrp="1"/>
          </p:cNvSpPr>
          <p:nvPr>
            <p:ph type="body" idx="1"/>
          </p:nvPr>
        </p:nvSpPr>
        <p:spPr>
          <a:xfrm>
            <a:off x="4766733" y="273051"/>
            <a:ext cx="6815667" cy="585311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8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8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8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8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8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8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8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8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77" name="Google Shape;77;p275"/>
          <p:cNvSpPr txBox="1">
            <a:spLocks noGrp="1"/>
          </p:cNvSpPr>
          <p:nvPr>
            <p:ph type="body" idx="2"/>
          </p:nvPr>
        </p:nvSpPr>
        <p:spPr>
          <a:xfrm>
            <a:off x="609601" y="1435101"/>
            <a:ext cx="4011084" cy="4691063"/>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8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1pPr>
            <a:lvl2pPr marL="914400" marR="0" lvl="1" indent="-228600" algn="l" rtl="0">
              <a:spcBef>
                <a:spcPts val="8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8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80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80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80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80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80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80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8"/>
        <p:cNvGrpSpPr/>
        <p:nvPr/>
      </p:nvGrpSpPr>
      <p:grpSpPr>
        <a:xfrm>
          <a:off x="0" y="0"/>
          <a:ext cx="0" cy="0"/>
          <a:chOff x="0" y="0"/>
          <a:chExt cx="0" cy="0"/>
        </a:xfrm>
      </p:grpSpPr>
      <p:sp>
        <p:nvSpPr>
          <p:cNvPr id="79" name="Google Shape;79;p276"/>
          <p:cNvSpPr txBox="1">
            <a:spLocks noGrp="1"/>
          </p:cNvSpPr>
          <p:nvPr>
            <p:ph type="title"/>
          </p:nvPr>
        </p:nvSpPr>
        <p:spPr>
          <a:xfrm>
            <a:off x="2389717" y="4800600"/>
            <a:ext cx="7315200" cy="566738"/>
          </a:xfrm>
          <a:prstGeom prst="rect">
            <a:avLst/>
          </a:prstGeom>
          <a:noFill/>
          <a:ln>
            <a:noFill/>
          </a:ln>
        </p:spPr>
        <p:txBody>
          <a:bodyPr spcFirstLastPara="1" wrap="square" lIns="50800" tIns="50800" rIns="50800" bIns="508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0" name="Google Shape;80;p276"/>
          <p:cNvSpPr>
            <a:spLocks noGrp="1"/>
          </p:cNvSpPr>
          <p:nvPr>
            <p:ph type="pic" idx="2"/>
          </p:nvPr>
        </p:nvSpPr>
        <p:spPr>
          <a:xfrm>
            <a:off x="2389717" y="612775"/>
            <a:ext cx="7315200" cy="4114800"/>
          </a:xfrm>
          <a:prstGeom prst="rect">
            <a:avLst/>
          </a:prstGeom>
          <a:noFill/>
          <a:ln>
            <a:noFill/>
          </a:ln>
        </p:spPr>
      </p:sp>
      <p:sp>
        <p:nvSpPr>
          <p:cNvPr id="81" name="Google Shape;81;p276"/>
          <p:cNvSpPr txBox="1">
            <a:spLocks noGrp="1"/>
          </p:cNvSpPr>
          <p:nvPr>
            <p:ph type="body" idx="1"/>
          </p:nvPr>
        </p:nvSpPr>
        <p:spPr>
          <a:xfrm>
            <a:off x="2389717" y="5367338"/>
            <a:ext cx="7315200" cy="80486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8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1pPr>
            <a:lvl2pPr marL="914400" marR="0" lvl="1" indent="-228600" algn="l" rtl="0">
              <a:spcBef>
                <a:spcPts val="8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8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80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80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80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80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80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80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2"/>
        <p:cNvGrpSpPr/>
        <p:nvPr/>
      </p:nvGrpSpPr>
      <p:grpSpPr>
        <a:xfrm>
          <a:off x="0" y="0"/>
          <a:ext cx="0" cy="0"/>
          <a:chOff x="0" y="0"/>
          <a:chExt cx="0" cy="0"/>
        </a:xfrm>
      </p:grpSpPr>
      <p:sp>
        <p:nvSpPr>
          <p:cNvPr id="83" name="Google Shape;83;p277"/>
          <p:cNvSpPr txBox="1">
            <a:spLocks noGrp="1"/>
          </p:cNvSpPr>
          <p:nvPr>
            <p:ph type="title"/>
          </p:nvPr>
        </p:nvSpPr>
        <p:spPr>
          <a:xfrm>
            <a:off x="609600" y="92076"/>
            <a:ext cx="10972800" cy="1508125"/>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4" name="Google Shape;84;p277"/>
          <p:cNvSpPr txBox="1">
            <a:spLocks noGrp="1"/>
          </p:cNvSpPr>
          <p:nvPr>
            <p:ph type="body" idx="1"/>
          </p:nvPr>
        </p:nvSpPr>
        <p:spPr>
          <a:xfrm rot="5400000">
            <a:off x="3833019" y="-1623219"/>
            <a:ext cx="4525963" cy="10972800"/>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3pPr>
            <a:lvl4pPr marL="1828800" marR="0" lvl="3"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4pPr>
            <a:lvl5pPr marL="2286000" marR="0" lvl="4"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5pPr>
            <a:lvl6pPr marL="2743200" marR="0" lvl="5"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6pPr>
            <a:lvl7pPr marL="3200400" marR="0" lvl="6"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7pPr>
            <a:lvl8pPr marL="3657600" marR="0" lvl="7"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8pPr>
            <a:lvl9pPr marL="4114800" marR="0" lvl="8"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5"/>
        <p:cNvGrpSpPr/>
        <p:nvPr/>
      </p:nvGrpSpPr>
      <p:grpSpPr>
        <a:xfrm>
          <a:off x="0" y="0"/>
          <a:ext cx="0" cy="0"/>
          <a:chOff x="0" y="0"/>
          <a:chExt cx="0" cy="0"/>
        </a:xfrm>
      </p:grpSpPr>
      <p:sp>
        <p:nvSpPr>
          <p:cNvPr id="86" name="Google Shape;86;p278"/>
          <p:cNvSpPr txBox="1">
            <a:spLocks noGrp="1"/>
          </p:cNvSpPr>
          <p:nvPr>
            <p:ph type="title"/>
          </p:nvPr>
        </p:nvSpPr>
        <p:spPr>
          <a:xfrm rot="5400000">
            <a:off x="7193756" y="1737519"/>
            <a:ext cx="6034088" cy="2743200"/>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7" name="Google Shape;87;p278"/>
          <p:cNvSpPr txBox="1">
            <a:spLocks noGrp="1"/>
          </p:cNvSpPr>
          <p:nvPr>
            <p:ph type="body" idx="1"/>
          </p:nvPr>
        </p:nvSpPr>
        <p:spPr>
          <a:xfrm rot="5400000">
            <a:off x="1605756" y="-904081"/>
            <a:ext cx="6034088" cy="8026400"/>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3pPr>
            <a:lvl4pPr marL="1828800" marR="0" lvl="3"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4pPr>
            <a:lvl5pPr marL="2286000" marR="0" lvl="4"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5pPr>
            <a:lvl6pPr marL="2743200" marR="0" lvl="5"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6pPr>
            <a:lvl7pPr marL="3200400" marR="0" lvl="6"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7pPr>
            <a:lvl8pPr marL="3657600" marR="0" lvl="7"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8pPr>
            <a:lvl9pPr marL="4114800" marR="0" lvl="8"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54"/>
          <p:cNvSpPr txBox="1">
            <a:spLocks noGrp="1"/>
          </p:cNvSpPr>
          <p:nvPr>
            <p:ph type="title"/>
          </p:nvPr>
        </p:nvSpPr>
        <p:spPr>
          <a:xfrm>
            <a:off x="914400" y="1844676"/>
            <a:ext cx="10363200" cy="2041525"/>
          </a:xfrm>
          <a:prstGeom prst="rect">
            <a:avLst/>
          </a:prstGeom>
          <a:noFill/>
          <a:ln>
            <a:noFill/>
          </a:ln>
        </p:spPr>
        <p:txBody>
          <a:bodyPr spcFirstLastPara="1" wrap="square" lIns="50800" tIns="50800" rIns="50800" bIns="508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7" name="Google Shape;7;p254"/>
          <p:cNvSpPr txBox="1">
            <a:spLocks noGrp="1"/>
          </p:cNvSpPr>
          <p:nvPr>
            <p:ph type="body" idx="1"/>
          </p:nvPr>
        </p:nvSpPr>
        <p:spPr>
          <a:xfrm>
            <a:off x="1828800" y="3886200"/>
            <a:ext cx="8534400" cy="2971800"/>
          </a:xfrm>
          <a:prstGeom prst="rect">
            <a:avLst/>
          </a:prstGeom>
          <a:noFill/>
          <a:ln>
            <a:noFill/>
          </a:ln>
        </p:spPr>
        <p:txBody>
          <a:bodyPr spcFirstLastPara="1" wrap="square" lIns="50800" tIns="50800" rIns="50800" bIns="50800" anchor="t" anchorCtr="0">
            <a:noAutofit/>
          </a:bodyPr>
          <a:lstStyle>
            <a:lvl1pPr marL="457200" marR="0" lvl="0" indent="-228600" algn="ctr" rtl="0">
              <a:spcBef>
                <a:spcPts val="800"/>
              </a:spcBef>
              <a:spcAft>
                <a:spcPts val="0"/>
              </a:spcAft>
              <a:buSzPts val="1400"/>
              <a:buNone/>
              <a:defRPr sz="3200" b="0" i="0" u="none" strike="noStrike" cap="none">
                <a:solidFill>
                  <a:srgbClr val="878787"/>
                </a:solidFill>
                <a:latin typeface="Calibri"/>
                <a:ea typeface="Calibri"/>
                <a:cs typeface="Calibri"/>
                <a:sym typeface="Calibri"/>
              </a:defRPr>
            </a:lvl1pPr>
            <a:lvl2pPr marL="914400" marR="0" lvl="1" indent="-228600" algn="ctr" rtl="0">
              <a:spcBef>
                <a:spcPts val="800"/>
              </a:spcBef>
              <a:spcAft>
                <a:spcPts val="0"/>
              </a:spcAft>
              <a:buSzPts val="1400"/>
              <a:buNone/>
              <a:defRPr sz="3200" b="0" i="0" u="none" strike="noStrike" cap="none">
                <a:solidFill>
                  <a:srgbClr val="878787"/>
                </a:solidFill>
                <a:latin typeface="Calibri"/>
                <a:ea typeface="Calibri"/>
                <a:cs typeface="Calibri"/>
                <a:sym typeface="Calibri"/>
              </a:defRPr>
            </a:lvl2pPr>
            <a:lvl3pPr marL="1371600" marR="0" lvl="2" indent="-228600" algn="ctr" rtl="0">
              <a:spcBef>
                <a:spcPts val="800"/>
              </a:spcBef>
              <a:spcAft>
                <a:spcPts val="0"/>
              </a:spcAft>
              <a:buSzPts val="1400"/>
              <a:buNone/>
              <a:defRPr sz="3200" b="0" i="0" u="none" strike="noStrike" cap="none">
                <a:solidFill>
                  <a:srgbClr val="878787"/>
                </a:solidFill>
                <a:latin typeface="Calibri"/>
                <a:ea typeface="Calibri"/>
                <a:cs typeface="Calibri"/>
                <a:sym typeface="Calibri"/>
              </a:defRPr>
            </a:lvl3pPr>
            <a:lvl4pPr marL="1828800" marR="0" lvl="3" indent="-228600" algn="ctr" rtl="0">
              <a:spcBef>
                <a:spcPts val="800"/>
              </a:spcBef>
              <a:spcAft>
                <a:spcPts val="0"/>
              </a:spcAft>
              <a:buSzPts val="1400"/>
              <a:buNone/>
              <a:defRPr sz="3200" b="0" i="0" u="none" strike="noStrike" cap="none">
                <a:solidFill>
                  <a:srgbClr val="878787"/>
                </a:solidFill>
                <a:latin typeface="Calibri"/>
                <a:ea typeface="Calibri"/>
                <a:cs typeface="Calibri"/>
                <a:sym typeface="Calibri"/>
              </a:defRPr>
            </a:lvl4pPr>
            <a:lvl5pPr marL="2286000" marR="0" lvl="4" indent="-228600" algn="ctr" rtl="0">
              <a:spcBef>
                <a:spcPts val="800"/>
              </a:spcBef>
              <a:spcAft>
                <a:spcPts val="0"/>
              </a:spcAft>
              <a:buSzPts val="1400"/>
              <a:buNone/>
              <a:defRPr sz="3200" b="0" i="0" u="none" strike="noStrike" cap="none">
                <a:solidFill>
                  <a:srgbClr val="878787"/>
                </a:solidFill>
                <a:latin typeface="Calibri"/>
                <a:ea typeface="Calibri"/>
                <a:cs typeface="Calibri"/>
                <a:sym typeface="Calibri"/>
              </a:defRPr>
            </a:lvl5pPr>
            <a:lvl6pPr marL="2743200" marR="0" lvl="5" indent="-228600" algn="ctr" rtl="0">
              <a:spcBef>
                <a:spcPts val="800"/>
              </a:spcBef>
              <a:spcAft>
                <a:spcPts val="0"/>
              </a:spcAft>
              <a:buSzPts val="1400"/>
              <a:buNone/>
              <a:defRPr sz="3200" b="0" i="0" u="none" strike="noStrike" cap="none">
                <a:solidFill>
                  <a:srgbClr val="878787"/>
                </a:solidFill>
                <a:latin typeface="Calibri"/>
                <a:ea typeface="Calibri"/>
                <a:cs typeface="Calibri"/>
                <a:sym typeface="Calibri"/>
              </a:defRPr>
            </a:lvl6pPr>
            <a:lvl7pPr marL="3200400" marR="0" lvl="6" indent="-228600" algn="ctr" rtl="0">
              <a:spcBef>
                <a:spcPts val="800"/>
              </a:spcBef>
              <a:spcAft>
                <a:spcPts val="0"/>
              </a:spcAft>
              <a:buSzPts val="1400"/>
              <a:buNone/>
              <a:defRPr sz="3200" b="0" i="0" u="none" strike="noStrike" cap="none">
                <a:solidFill>
                  <a:srgbClr val="878787"/>
                </a:solidFill>
                <a:latin typeface="Calibri"/>
                <a:ea typeface="Calibri"/>
                <a:cs typeface="Calibri"/>
                <a:sym typeface="Calibri"/>
              </a:defRPr>
            </a:lvl7pPr>
            <a:lvl8pPr marL="3657600" marR="0" lvl="7" indent="-228600" algn="ctr" rtl="0">
              <a:spcBef>
                <a:spcPts val="800"/>
              </a:spcBef>
              <a:spcAft>
                <a:spcPts val="0"/>
              </a:spcAft>
              <a:buSzPts val="1400"/>
              <a:buNone/>
              <a:defRPr sz="3200" b="0" i="0" u="none" strike="noStrike" cap="none">
                <a:solidFill>
                  <a:srgbClr val="878787"/>
                </a:solidFill>
                <a:latin typeface="Calibri"/>
                <a:ea typeface="Calibri"/>
                <a:cs typeface="Calibri"/>
                <a:sym typeface="Calibri"/>
              </a:defRPr>
            </a:lvl8pPr>
            <a:lvl9pPr marL="4114800" marR="0" lvl="8" indent="-228600" algn="ctr" rtl="0">
              <a:spcBef>
                <a:spcPts val="800"/>
              </a:spcBef>
              <a:spcAft>
                <a:spcPts val="0"/>
              </a:spcAft>
              <a:buSzPts val="1400"/>
              <a:buNone/>
              <a:defRPr sz="3200" b="0" i="0" u="none" strike="noStrike" cap="none">
                <a:solidFill>
                  <a:srgbClr val="878787"/>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4"/>
        <p:cNvGrpSpPr/>
        <p:nvPr/>
      </p:nvGrpSpPr>
      <p:grpSpPr>
        <a:xfrm>
          <a:off x="0" y="0"/>
          <a:ext cx="0" cy="0"/>
          <a:chOff x="0" y="0"/>
          <a:chExt cx="0" cy="0"/>
        </a:xfrm>
      </p:grpSpPr>
      <p:sp>
        <p:nvSpPr>
          <p:cNvPr id="45" name="Google Shape;45;p256"/>
          <p:cNvSpPr txBox="1">
            <a:spLocks noGrp="1"/>
          </p:cNvSpPr>
          <p:nvPr>
            <p:ph type="title"/>
          </p:nvPr>
        </p:nvSpPr>
        <p:spPr>
          <a:xfrm>
            <a:off x="609600" y="92076"/>
            <a:ext cx="10972800" cy="1508125"/>
          </a:xfrm>
          <a:prstGeom prst="rect">
            <a:avLst/>
          </a:prstGeom>
          <a:noFill/>
          <a:ln>
            <a:noFill/>
          </a:ln>
        </p:spPr>
        <p:txBody>
          <a:bodyPr spcFirstLastPara="1" wrap="square" lIns="50800" tIns="50800" rIns="50800" bIns="508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61"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9.xml"/><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8.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5.xml"/><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95.xml"/><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2.xml"/></Relationships>
</file>

<file path=ppt/slides/_rels/slide100.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notesSlide" Target="../notesSlides/notesSlide100.xml"/><Relationship Id="rId1" Type="http://schemas.openxmlformats.org/officeDocument/2006/relationships/slideLayout" Target="../slideLayouts/slideLayout1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pic>
        <p:nvPicPr>
          <p:cNvPr id="2" name="Picture 1" descr="A stethoscope formed in a heart">
            <a:extLst>
              <a:ext uri="{FF2B5EF4-FFF2-40B4-BE49-F238E27FC236}">
                <a16:creationId xmlns:a16="http://schemas.microsoft.com/office/drawing/2014/main" id="{21D07998-DADF-5AA8-C0CD-7FC106605FEA}"/>
              </a:ext>
            </a:extLst>
          </p:cNvPr>
          <p:cNvPicPr>
            <a:picLocks noChangeAspect="1"/>
          </p:cNvPicPr>
          <p:nvPr/>
        </p:nvPicPr>
        <p:blipFill rotWithShape="1">
          <a:blip r:embed="rId3">
            <a:extLst>
              <a:ext uri="{28A0092B-C50C-407E-A947-70E740481C1C}">
                <a14:useLocalDpi xmlns:a14="http://schemas.microsoft.com/office/drawing/2010/main" val="0"/>
              </a:ext>
            </a:extLst>
          </a:blip>
          <a:srcRect t="17" b="12774"/>
          <a:stretch/>
        </p:blipFill>
        <p:spPr>
          <a:xfrm>
            <a:off x="0" y="0"/>
            <a:ext cx="12191999" cy="6857990"/>
          </a:xfrm>
          <a:prstGeom prst="rect">
            <a:avLst/>
          </a:prstGeom>
        </p:spPr>
      </p:pic>
      <p:sp>
        <p:nvSpPr>
          <p:cNvPr id="92" name="Google Shape;92;p1"/>
          <p:cNvSpPr txBox="1">
            <a:spLocks noGrp="1"/>
          </p:cNvSpPr>
          <p:nvPr>
            <p:ph type="title"/>
          </p:nvPr>
        </p:nvSpPr>
        <p:spPr>
          <a:xfrm>
            <a:off x="4678680" y="0"/>
            <a:ext cx="7924800" cy="2838450"/>
          </a:xfrm>
          <a:prstGeom prst="rect">
            <a:avLst/>
          </a:prstGeom>
          <a:noFill/>
          <a:ln>
            <a:noFill/>
          </a:ln>
        </p:spPr>
        <p:txBody>
          <a:bodyPr spcFirstLastPara="1" wrap="square" lIns="50800" tIns="50800" rIns="50800" bIns="50800" anchor="ctr" anchorCtr="0">
            <a:noAutofit/>
          </a:bodyPr>
          <a:lstStyle/>
          <a:p>
            <a:r>
              <a:rPr lang="en-US"/>
              <a:t>HYPERTENSION</a:t>
            </a:r>
            <a:br>
              <a:rPr lang="en-US"/>
            </a:br>
            <a:r>
              <a:rPr lang="en-US"/>
              <a:t>Part III</a:t>
            </a:r>
            <a:endParaRPr/>
          </a:p>
        </p:txBody>
      </p:sp>
      <p:sp>
        <p:nvSpPr>
          <p:cNvPr id="93" name="Google Shape;93;p1"/>
          <p:cNvSpPr txBox="1">
            <a:spLocks noGrp="1"/>
          </p:cNvSpPr>
          <p:nvPr>
            <p:ph type="body" idx="1"/>
          </p:nvPr>
        </p:nvSpPr>
        <p:spPr>
          <a:xfrm>
            <a:off x="2057400" y="3200400"/>
            <a:ext cx="7924800" cy="2895600"/>
          </a:xfrm>
          <a:prstGeom prst="rect">
            <a:avLst/>
          </a:prstGeom>
          <a:noFill/>
          <a:ln>
            <a:noFill/>
          </a:ln>
        </p:spPr>
        <p:txBody>
          <a:bodyPr spcFirstLastPara="1" wrap="square" lIns="50800" tIns="50800" rIns="50800" bIns="50800" anchor="t" anchorCtr="0">
            <a:noAutofit/>
          </a:bodyPr>
          <a:lstStyle/>
          <a:p>
            <a:pPr marL="0" indent="0">
              <a:spcBef>
                <a:spcPts val="0"/>
              </a:spcBef>
            </a:pPr>
            <a:r>
              <a:rPr lang="en-US" dirty="0">
                <a:solidFill>
                  <a:schemeClr val="tx1"/>
                </a:solidFill>
              </a:rPr>
              <a:t>Breanna Veal, MHS, PA-C</a:t>
            </a:r>
          </a:p>
          <a:p>
            <a:pPr marL="0" indent="0">
              <a:spcBef>
                <a:spcPts val="0"/>
              </a:spcBef>
            </a:pPr>
            <a:endParaRPr lang="en-US" dirty="0">
              <a:solidFill>
                <a:schemeClr val="tx1"/>
              </a:solidFill>
            </a:endParaRPr>
          </a:p>
          <a:p>
            <a:pPr marL="0" indent="0">
              <a:spcBef>
                <a:spcPts val="0"/>
              </a:spcBef>
            </a:pPr>
            <a:endParaRPr lang="en-US" dirty="0">
              <a:solidFill>
                <a:schemeClr val="tx1"/>
              </a:solidFill>
            </a:endParaRPr>
          </a:p>
          <a:p>
            <a:pPr marL="0" indent="0">
              <a:spcBef>
                <a:spcPts val="0"/>
              </a:spcBef>
            </a:pPr>
            <a:endParaRPr lang="en-US" dirty="0">
              <a:solidFill>
                <a:schemeClr val="tx1"/>
              </a:solidFill>
            </a:endParaRPr>
          </a:p>
          <a:p>
            <a:pPr marL="0" indent="0">
              <a:spcBef>
                <a:spcPts val="0"/>
              </a:spcBef>
            </a:pPr>
            <a:endParaRPr lang="en-US" dirty="0">
              <a:solidFill>
                <a:schemeClr val="tx1"/>
              </a:solidFill>
            </a:endParaRPr>
          </a:p>
          <a:p>
            <a:pPr marL="0" indent="0">
              <a:spcBef>
                <a:spcPts val="0"/>
              </a:spcBef>
            </a:pPr>
            <a:r>
              <a:rPr lang="en-US" dirty="0">
                <a:solidFill>
                  <a:schemeClr val="tx1"/>
                </a:solidFill>
              </a:rPr>
              <a:t>                            Treatment</a:t>
            </a:r>
            <a:endParaRPr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6"/>
        <p:cNvGrpSpPr/>
        <p:nvPr/>
      </p:nvGrpSpPr>
      <p:grpSpPr>
        <a:xfrm>
          <a:off x="0" y="0"/>
          <a:ext cx="0" cy="0"/>
          <a:chOff x="0" y="0"/>
          <a:chExt cx="0" cy="0"/>
        </a:xfrm>
      </p:grpSpPr>
      <p:sp>
        <p:nvSpPr>
          <p:cNvPr id="917" name="Google Shape;917;p116"/>
          <p:cNvSpPr txBox="1">
            <a:spLocks noGrp="1"/>
          </p:cNvSpPr>
          <p:nvPr>
            <p:ph type="title"/>
          </p:nvPr>
        </p:nvSpPr>
        <p:spPr>
          <a:xfrm>
            <a:off x="1848854" y="152400"/>
            <a:ext cx="8373979" cy="673894"/>
          </a:xfrm>
          <a:prstGeom prst="rect">
            <a:avLst/>
          </a:prstGeom>
          <a:noFill/>
          <a:ln>
            <a:noFill/>
          </a:ln>
        </p:spPr>
        <p:txBody>
          <a:bodyPr spcFirstLastPara="1" wrap="square" lIns="50800" tIns="50800" rIns="50800" bIns="50800" anchor="ctr" anchorCtr="0">
            <a:noAutofit/>
          </a:bodyPr>
          <a:lstStyle/>
          <a:p>
            <a:r>
              <a:rPr lang="en-US" sz="4800"/>
              <a:t>Treatment of Hypertension</a:t>
            </a:r>
            <a:endParaRPr sz="4800"/>
          </a:p>
        </p:txBody>
      </p:sp>
      <p:sp>
        <p:nvSpPr>
          <p:cNvPr id="918" name="Google Shape;918;p116"/>
          <p:cNvSpPr txBox="1">
            <a:spLocks noGrp="1"/>
          </p:cNvSpPr>
          <p:nvPr>
            <p:ph type="body" idx="1"/>
          </p:nvPr>
        </p:nvSpPr>
        <p:spPr>
          <a:xfrm>
            <a:off x="1738953" y="1284515"/>
            <a:ext cx="8772098" cy="5421085"/>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dirty="0"/>
              <a:t>Although drug treatment may be required, </a:t>
            </a:r>
            <a:r>
              <a:rPr lang="en-US" b="1" dirty="0"/>
              <a:t>lifestyle modifications </a:t>
            </a:r>
            <a:r>
              <a:rPr lang="en-US" dirty="0"/>
              <a:t>should </a:t>
            </a:r>
            <a:r>
              <a:rPr lang="en-US" b="1" dirty="0"/>
              <a:t>always</a:t>
            </a:r>
            <a:r>
              <a:rPr lang="en-US" dirty="0"/>
              <a:t> be incorporated into managing HTN.  </a:t>
            </a:r>
          </a:p>
          <a:p>
            <a:pPr marL="0" indent="0">
              <a:spcBef>
                <a:spcPts val="0"/>
              </a:spcBef>
              <a:buNone/>
            </a:pPr>
            <a:endParaRPr lang="en-US" dirty="0"/>
          </a:p>
          <a:p>
            <a:pPr marL="342900" indent="-342900">
              <a:spcBef>
                <a:spcPts val="0"/>
              </a:spcBef>
            </a:pPr>
            <a:r>
              <a:rPr lang="en-US" dirty="0"/>
              <a:t>This means taking time EACH VISIT to discuss the importance of lifestyle changes that are realistic and attainable for that patient.</a:t>
            </a:r>
          </a:p>
          <a:p>
            <a:pPr marL="342900" indent="-342900">
              <a:spcBef>
                <a:spcPts val="0"/>
              </a:spcBef>
            </a:pPr>
            <a:endParaRPr lang="en-US" dirty="0"/>
          </a:p>
          <a:p>
            <a:pPr marL="342900" indent="-342900">
              <a:spcBef>
                <a:spcPts val="0"/>
              </a:spcBef>
            </a:pPr>
            <a:r>
              <a:rPr lang="en-US" dirty="0"/>
              <a:t>Motivational interviewing is KEY here!!  What are the components of motivational interviewing?</a:t>
            </a:r>
            <a:endParaRPr dirty="0"/>
          </a:p>
        </p:txBody>
      </p:sp>
    </p:spTree>
    <p:extLst>
      <p:ext uri="{BB962C8B-B14F-4D97-AF65-F5344CB8AC3E}">
        <p14:creationId xmlns:p14="http://schemas.microsoft.com/office/powerpoint/2010/main" val="2415775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16"/>
        <p:cNvGrpSpPr/>
        <p:nvPr/>
      </p:nvGrpSpPr>
      <p:grpSpPr>
        <a:xfrm>
          <a:off x="0" y="0"/>
          <a:ext cx="0" cy="0"/>
          <a:chOff x="0" y="0"/>
          <a:chExt cx="0" cy="0"/>
        </a:xfrm>
      </p:grpSpPr>
      <p:sp>
        <p:nvSpPr>
          <p:cNvPr id="917" name="Google Shape;917;p116"/>
          <p:cNvSpPr txBox="1">
            <a:spLocks noGrp="1"/>
          </p:cNvSpPr>
          <p:nvPr>
            <p:ph type="title"/>
          </p:nvPr>
        </p:nvSpPr>
        <p:spPr>
          <a:xfrm>
            <a:off x="1848854" y="152400"/>
            <a:ext cx="8373979" cy="1393371"/>
          </a:xfrm>
          <a:prstGeom prst="rect">
            <a:avLst/>
          </a:prstGeom>
          <a:noFill/>
          <a:ln>
            <a:noFill/>
          </a:ln>
        </p:spPr>
        <p:txBody>
          <a:bodyPr spcFirstLastPara="1" wrap="square" lIns="50800" tIns="50800" rIns="50800" bIns="50800" anchor="ctr" anchorCtr="0">
            <a:noAutofit/>
          </a:bodyPr>
          <a:lstStyle/>
          <a:p>
            <a:r>
              <a:rPr lang="en-US" sz="4800"/>
              <a:t>Motivational Interviewing in the Treatment of Hypertension</a:t>
            </a:r>
            <a:endParaRPr sz="4800"/>
          </a:p>
        </p:txBody>
      </p:sp>
      <p:sp>
        <p:nvSpPr>
          <p:cNvPr id="918" name="Google Shape;918;p116"/>
          <p:cNvSpPr txBox="1">
            <a:spLocks noGrp="1"/>
          </p:cNvSpPr>
          <p:nvPr>
            <p:ph type="body" idx="1"/>
          </p:nvPr>
        </p:nvSpPr>
        <p:spPr>
          <a:xfrm>
            <a:off x="1654629" y="1719943"/>
            <a:ext cx="8856422" cy="4985656"/>
          </a:xfrm>
          <a:prstGeom prst="rect">
            <a:avLst/>
          </a:prstGeom>
          <a:noFill/>
          <a:ln>
            <a:noFill/>
          </a:ln>
        </p:spPr>
        <p:txBody>
          <a:bodyPr spcFirstLastPara="1" wrap="square" lIns="91425" tIns="45700" rIns="91425" bIns="45700" anchor="t" anchorCtr="0">
            <a:noAutofit/>
          </a:bodyPr>
          <a:lstStyle/>
          <a:p>
            <a:pPr marL="342900" indent="-342900">
              <a:spcBef>
                <a:spcPts val="1200"/>
              </a:spcBef>
            </a:pPr>
            <a:r>
              <a:rPr lang="en-US"/>
              <a:t>How does your hypertension affect you?</a:t>
            </a:r>
          </a:p>
          <a:p>
            <a:pPr marL="342900" indent="-342900">
              <a:spcBef>
                <a:spcPts val="1200"/>
              </a:spcBef>
            </a:pPr>
            <a:r>
              <a:rPr lang="en-US"/>
              <a:t>What will happen to you if your hypertension is not controlled?</a:t>
            </a:r>
          </a:p>
          <a:p>
            <a:pPr marL="342900" indent="-342900">
              <a:spcBef>
                <a:spcPts val="1200"/>
              </a:spcBef>
            </a:pPr>
            <a:r>
              <a:rPr lang="en-US"/>
              <a:t>What changes can you make to cause a positive change in your lifestyle?</a:t>
            </a:r>
          </a:p>
          <a:p>
            <a:pPr marL="342900" indent="-342900">
              <a:spcBef>
                <a:spcPts val="1200"/>
              </a:spcBef>
            </a:pPr>
            <a:r>
              <a:rPr lang="en-US"/>
              <a:t>How do you plan to make these changes and what can I do to support you?</a:t>
            </a:r>
          </a:p>
          <a:p>
            <a:pPr marL="342900" indent="-342900">
              <a:spcBef>
                <a:spcPts val="1200"/>
              </a:spcBef>
            </a:pPr>
            <a:r>
              <a:rPr lang="en-US"/>
              <a:t>What goals can we set together today?</a:t>
            </a:r>
            <a:endParaRPr/>
          </a:p>
        </p:txBody>
      </p:sp>
    </p:spTree>
    <p:extLst>
      <p:ext uri="{BB962C8B-B14F-4D97-AF65-F5344CB8AC3E}">
        <p14:creationId xmlns:p14="http://schemas.microsoft.com/office/powerpoint/2010/main" val="32573684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94"/>
        <p:cNvGrpSpPr/>
        <p:nvPr/>
      </p:nvGrpSpPr>
      <p:grpSpPr>
        <a:xfrm>
          <a:off x="0" y="0"/>
          <a:ext cx="0" cy="0"/>
          <a:chOff x="0" y="0"/>
          <a:chExt cx="0" cy="0"/>
        </a:xfrm>
      </p:grpSpPr>
      <p:sp>
        <p:nvSpPr>
          <p:cNvPr id="995" name="Google Shape;995;p129"/>
          <p:cNvSpPr txBox="1">
            <a:spLocks noGrp="1"/>
          </p:cNvSpPr>
          <p:nvPr>
            <p:ph type="title"/>
          </p:nvPr>
        </p:nvSpPr>
        <p:spPr>
          <a:xfrm>
            <a:off x="1600200" y="152400"/>
            <a:ext cx="8915400" cy="1387032"/>
          </a:xfrm>
          <a:prstGeom prst="rect">
            <a:avLst/>
          </a:prstGeom>
          <a:noFill/>
          <a:ln>
            <a:noFill/>
          </a:ln>
        </p:spPr>
        <p:txBody>
          <a:bodyPr spcFirstLastPara="1" wrap="square" lIns="50800" tIns="50800" rIns="50800" bIns="50800" anchor="ctr" anchorCtr="0">
            <a:noAutofit/>
          </a:bodyPr>
          <a:lstStyle/>
          <a:p>
            <a:r>
              <a:rPr lang="en-US"/>
              <a:t>How Do Clinicians Decide On BP Treatment?</a:t>
            </a:r>
            <a:endParaRPr/>
          </a:p>
        </p:txBody>
      </p:sp>
      <p:sp>
        <p:nvSpPr>
          <p:cNvPr id="996" name="Google Shape;996;p129"/>
          <p:cNvSpPr txBox="1">
            <a:spLocks noGrp="1"/>
          </p:cNvSpPr>
          <p:nvPr>
            <p:ph type="body" idx="1"/>
          </p:nvPr>
        </p:nvSpPr>
        <p:spPr>
          <a:xfrm>
            <a:off x="343949" y="1747777"/>
            <a:ext cx="11509695" cy="5034022"/>
          </a:xfrm>
          <a:prstGeom prst="rect">
            <a:avLst/>
          </a:prstGeom>
          <a:noFill/>
          <a:ln>
            <a:noFill/>
          </a:ln>
        </p:spPr>
        <p:txBody>
          <a:bodyPr spcFirstLastPara="1" wrap="square" lIns="50800" tIns="50800" rIns="50800" bIns="50800" anchor="t" anchorCtr="0">
            <a:noAutofit/>
          </a:bodyPr>
          <a:lstStyle/>
          <a:p>
            <a:pPr marL="292100" indent="-292100">
              <a:spcBef>
                <a:spcPts val="0"/>
              </a:spcBef>
              <a:buSzPts val="3000"/>
            </a:pPr>
            <a:r>
              <a:rPr lang="en-US"/>
              <a:t>Common diseases in the US population, like hypertension, are studied and clinical guidelines, by multiple expert groups, developed for diagnosis and treatment.</a:t>
            </a:r>
          </a:p>
          <a:p>
            <a:pPr marL="749300" lvl="1" indent="-292100">
              <a:spcBef>
                <a:spcPts val="0"/>
              </a:spcBef>
              <a:buSzPts val="3000"/>
              <a:buFont typeface="Arial"/>
              <a:buChar char="•"/>
            </a:pPr>
            <a:r>
              <a:rPr lang="en-US"/>
              <a:t>American College of Cardiology (ACC), the American Heart Association (AHA), the American Society of Hypertension (ASH), the Joint National Committee (JNC), the International Society on Hypertension in Blacks (ISHIB).</a:t>
            </a:r>
          </a:p>
          <a:p>
            <a:pPr marL="749300" lvl="1" indent="-292100">
              <a:spcBef>
                <a:spcPts val="0"/>
              </a:spcBef>
              <a:buSzPts val="3000"/>
              <a:buChar char="•"/>
            </a:pPr>
            <a:endParaRPr lang="en-US"/>
          </a:p>
        </p:txBody>
      </p:sp>
    </p:spTree>
    <p:extLst>
      <p:ext uri="{BB962C8B-B14F-4D97-AF65-F5344CB8AC3E}">
        <p14:creationId xmlns:p14="http://schemas.microsoft.com/office/powerpoint/2010/main" val="2145377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94"/>
        <p:cNvGrpSpPr/>
        <p:nvPr/>
      </p:nvGrpSpPr>
      <p:grpSpPr>
        <a:xfrm>
          <a:off x="0" y="0"/>
          <a:ext cx="0" cy="0"/>
          <a:chOff x="0" y="0"/>
          <a:chExt cx="0" cy="0"/>
        </a:xfrm>
      </p:grpSpPr>
      <p:sp>
        <p:nvSpPr>
          <p:cNvPr id="995" name="Google Shape;995;p129"/>
          <p:cNvSpPr txBox="1">
            <a:spLocks noGrp="1"/>
          </p:cNvSpPr>
          <p:nvPr>
            <p:ph type="title"/>
          </p:nvPr>
        </p:nvSpPr>
        <p:spPr>
          <a:xfrm>
            <a:off x="1981200" y="152400"/>
            <a:ext cx="8229600" cy="990600"/>
          </a:xfrm>
          <a:prstGeom prst="rect">
            <a:avLst/>
          </a:prstGeom>
          <a:noFill/>
          <a:ln>
            <a:noFill/>
          </a:ln>
        </p:spPr>
        <p:txBody>
          <a:bodyPr spcFirstLastPara="1" wrap="square" lIns="50800" tIns="50800" rIns="50800" bIns="50800" anchor="ctr" anchorCtr="0">
            <a:noAutofit/>
          </a:bodyPr>
          <a:lstStyle/>
          <a:p>
            <a:r>
              <a:rPr lang="en-US"/>
              <a:t>Who is Running This Show?</a:t>
            </a:r>
            <a:endParaRPr/>
          </a:p>
        </p:txBody>
      </p:sp>
      <p:sp>
        <p:nvSpPr>
          <p:cNvPr id="996" name="Google Shape;996;p129"/>
          <p:cNvSpPr txBox="1">
            <a:spLocks noGrp="1"/>
          </p:cNvSpPr>
          <p:nvPr>
            <p:ph type="body" idx="1"/>
          </p:nvPr>
        </p:nvSpPr>
        <p:spPr>
          <a:xfrm>
            <a:off x="1600200" y="1219200"/>
            <a:ext cx="8915400" cy="5562600"/>
          </a:xfrm>
          <a:prstGeom prst="rect">
            <a:avLst/>
          </a:prstGeom>
          <a:noFill/>
          <a:ln>
            <a:noFill/>
          </a:ln>
        </p:spPr>
        <p:txBody>
          <a:bodyPr spcFirstLastPara="1" wrap="square" lIns="50800" tIns="50800" rIns="50800" bIns="50800" anchor="t" anchorCtr="0">
            <a:noAutofit/>
          </a:bodyPr>
          <a:lstStyle/>
          <a:p>
            <a:pPr marL="292100" indent="-292100">
              <a:spcBef>
                <a:spcPts val="0"/>
              </a:spcBef>
              <a:buSzPts val="3000"/>
            </a:pPr>
            <a:r>
              <a:rPr lang="en-US" sz="3000" dirty="0"/>
              <a:t>Joint National Committee 7</a:t>
            </a:r>
            <a:r>
              <a:rPr lang="en-US" sz="3000" baseline="30000" dirty="0"/>
              <a:t>th</a:t>
            </a:r>
            <a:r>
              <a:rPr lang="en-US" sz="3000" dirty="0"/>
              <a:t> Meeting (JNC7) established guidelines in 2003 that were in place until December 2013 when the long overdue JNC 8 guidelines were published.</a:t>
            </a:r>
            <a:endParaRPr dirty="0"/>
          </a:p>
          <a:p>
            <a:pPr marL="782638" lvl="1" indent="-325438">
              <a:buSzPts val="2500"/>
            </a:pPr>
            <a:r>
              <a:rPr lang="en-US" sz="2500" dirty="0"/>
              <a:t>The JNC 8 guidelines were controversial and characterized by many as “likely to harm patients” and “as clear as mud”.  There were calls for retraction of the guidelines- but they have now become largely ignored.</a:t>
            </a:r>
            <a:endParaRPr dirty="0"/>
          </a:p>
          <a:p>
            <a:pPr marL="782638" lvl="1" indent="-166687">
              <a:buSzPts val="2500"/>
              <a:buNone/>
            </a:pPr>
            <a:endParaRPr sz="2500" dirty="0"/>
          </a:p>
          <a:p>
            <a:pPr marL="342900" indent="-342900">
              <a:buSzPts val="3000"/>
            </a:pPr>
            <a:r>
              <a:rPr lang="en-US" sz="3000" dirty="0"/>
              <a:t>Most US clinicians now use the American College of Cardiology/ American Heart Association (ACC/AHA) guidelines.</a:t>
            </a:r>
            <a:endParaRPr dirty="0"/>
          </a:p>
        </p:txBody>
      </p:sp>
    </p:spTree>
    <p:extLst>
      <p:ext uri="{BB962C8B-B14F-4D97-AF65-F5344CB8AC3E}">
        <p14:creationId xmlns:p14="http://schemas.microsoft.com/office/powerpoint/2010/main" val="31804446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00"/>
        <p:cNvGrpSpPr/>
        <p:nvPr/>
      </p:nvGrpSpPr>
      <p:grpSpPr>
        <a:xfrm>
          <a:off x="0" y="0"/>
          <a:ext cx="0" cy="0"/>
          <a:chOff x="0" y="0"/>
          <a:chExt cx="0" cy="0"/>
        </a:xfrm>
      </p:grpSpPr>
      <p:sp>
        <p:nvSpPr>
          <p:cNvPr id="1001" name="Google Shape;1001;p130"/>
          <p:cNvSpPr txBox="1">
            <a:spLocks noGrp="1"/>
          </p:cNvSpPr>
          <p:nvPr>
            <p:ph type="title"/>
          </p:nvPr>
        </p:nvSpPr>
        <p:spPr>
          <a:xfrm>
            <a:off x="1676400" y="92076"/>
            <a:ext cx="8763000" cy="898525"/>
          </a:xfrm>
          <a:prstGeom prst="rect">
            <a:avLst/>
          </a:prstGeom>
          <a:noFill/>
          <a:ln>
            <a:noFill/>
          </a:ln>
        </p:spPr>
        <p:txBody>
          <a:bodyPr spcFirstLastPara="1" wrap="square" lIns="50800" tIns="50800" rIns="50800" bIns="50800" anchor="ctr" anchorCtr="0">
            <a:noAutofit/>
          </a:bodyPr>
          <a:lstStyle/>
          <a:p>
            <a:r>
              <a:rPr lang="en-US" sz="4000"/>
              <a:t>Goals of Antihypertensive Treatment</a:t>
            </a:r>
            <a:endParaRPr sz="3000"/>
          </a:p>
        </p:txBody>
      </p:sp>
      <p:sp>
        <p:nvSpPr>
          <p:cNvPr id="2" name="TextBox 1">
            <a:extLst>
              <a:ext uri="{FF2B5EF4-FFF2-40B4-BE49-F238E27FC236}">
                <a16:creationId xmlns:a16="http://schemas.microsoft.com/office/drawing/2014/main" id="{1C3101A3-8BEE-F53E-634A-613EFA6122AF}"/>
              </a:ext>
            </a:extLst>
          </p:cNvPr>
          <p:cNvSpPr txBox="1"/>
          <p:nvPr/>
        </p:nvSpPr>
        <p:spPr>
          <a:xfrm>
            <a:off x="687574" y="1205845"/>
            <a:ext cx="11038785" cy="3970318"/>
          </a:xfrm>
          <a:prstGeom prst="rect">
            <a:avLst/>
          </a:prstGeom>
          <a:noFill/>
        </p:spPr>
        <p:txBody>
          <a:bodyPr wrap="square" rtlCol="0">
            <a:spAutoFit/>
          </a:bodyPr>
          <a:lstStyle/>
          <a:p>
            <a:pPr marL="285750" indent="-285750">
              <a:buFont typeface="Arial" panose="020B0604020202020204" pitchFamily="34" charset="0"/>
              <a:buChar char="•"/>
            </a:pPr>
            <a:r>
              <a:rPr lang="en-US" sz="2800" b="1" dirty="0">
                <a:latin typeface="Calibri" panose="020F0502020204030204" pitchFamily="34" charset="0"/>
                <a:cs typeface="Calibri" panose="020F0502020204030204" pitchFamily="34" charset="0"/>
              </a:rPr>
              <a:t>BP goal &lt;130/80 is desired for those undergoing treatment for HTN</a:t>
            </a:r>
          </a:p>
          <a:p>
            <a:pPr marL="285750" indent="-285750">
              <a:buFont typeface="Arial" panose="020B0604020202020204" pitchFamily="34" charset="0"/>
              <a:buChar char="•"/>
            </a:pPr>
            <a:endParaRPr lang="en-US" sz="2800" dirty="0">
              <a:latin typeface="Calibri" panose="020F0502020204030204" pitchFamily="34" charset="0"/>
              <a:cs typeface="Calibri" panose="020F0502020204030204" pitchFamily="34" charset="0"/>
            </a:endParaRPr>
          </a:p>
          <a:p>
            <a:pPr marL="285750" lvl="8" indent="-285750">
              <a:buFont typeface="Arial" panose="020B0604020202020204" pitchFamily="34" charset="0"/>
              <a:buChar char="•"/>
            </a:pPr>
            <a:r>
              <a:rPr lang="en-US" sz="2800" dirty="0">
                <a:latin typeface="Calibri" panose="020F0502020204030204" pitchFamily="34" charset="0"/>
                <a:cs typeface="Calibri" panose="020F0502020204030204" pitchFamily="34" charset="0"/>
              </a:rPr>
              <a:t>The overall goal of reducing blood pressure is to reduce the risk of future adverse outcomes of CVD, thus all potential risk factors must be assessed and potential CV risk calculator used (</a:t>
            </a:r>
            <a:r>
              <a:rPr lang="en-US" sz="2800" b="1" dirty="0">
                <a:latin typeface="Calibri" panose="020F0502020204030204" pitchFamily="34" charset="0"/>
                <a:cs typeface="Calibri" panose="020F0502020204030204" pitchFamily="34" charset="0"/>
              </a:rPr>
              <a:t>PREVENT</a:t>
            </a:r>
            <a:r>
              <a:rPr lang="en-US" sz="2800" dirty="0">
                <a:latin typeface="Calibri" panose="020F0502020204030204" pitchFamily="34" charset="0"/>
                <a:cs typeface="Calibri" panose="020F0502020204030204" pitchFamily="34" charset="0"/>
              </a:rPr>
              <a:t> or ASCVD plus). </a:t>
            </a:r>
          </a:p>
          <a:p>
            <a:pPr marL="285750" lvl="8" indent="-285750">
              <a:buFont typeface="Arial" panose="020B0604020202020204" pitchFamily="34" charset="0"/>
              <a:buChar char="•"/>
            </a:pPr>
            <a:endParaRPr lang="en-US" sz="2800"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2800" dirty="0">
                <a:latin typeface="Calibri" panose="020F0502020204030204" pitchFamily="34" charset="0"/>
                <a:cs typeface="Calibri" panose="020F0502020204030204" pitchFamily="34" charset="0"/>
              </a:rPr>
              <a:t>CVD risk will </a:t>
            </a:r>
            <a:r>
              <a:rPr lang="en-US" sz="2800" u="sng" dirty="0">
                <a:latin typeface="Calibri" panose="020F0502020204030204" pitchFamily="34" charset="0"/>
                <a:cs typeface="Calibri" panose="020F0502020204030204" pitchFamily="34" charset="0"/>
              </a:rPr>
              <a:t>double</a:t>
            </a:r>
            <a:r>
              <a:rPr lang="en-US" sz="2800" dirty="0">
                <a:latin typeface="Calibri" panose="020F0502020204030204" pitchFamily="34" charset="0"/>
                <a:cs typeface="Calibri" panose="020F0502020204030204" pitchFamily="34" charset="0"/>
              </a:rPr>
              <a:t> if the BP is greater than 115/75 for every 20/10 increment of BP elevation.</a:t>
            </a:r>
          </a:p>
          <a:p>
            <a:pPr marL="285750" indent="-285750">
              <a:buFont typeface="Arial" panose="020B0604020202020204" pitchFamily="34" charset="0"/>
              <a:buChar char="•"/>
            </a:pPr>
            <a:endParaRPr lang="en-US" sz="2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966531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16"/>
        <p:cNvGrpSpPr/>
        <p:nvPr/>
      </p:nvGrpSpPr>
      <p:grpSpPr>
        <a:xfrm>
          <a:off x="0" y="0"/>
          <a:ext cx="0" cy="0"/>
          <a:chOff x="0" y="0"/>
          <a:chExt cx="0" cy="0"/>
        </a:xfrm>
      </p:grpSpPr>
      <p:sp>
        <p:nvSpPr>
          <p:cNvPr id="917" name="Google Shape;917;p116"/>
          <p:cNvSpPr txBox="1">
            <a:spLocks noGrp="1"/>
          </p:cNvSpPr>
          <p:nvPr>
            <p:ph type="title"/>
          </p:nvPr>
        </p:nvSpPr>
        <p:spPr>
          <a:xfrm>
            <a:off x="1738953" y="152400"/>
            <a:ext cx="8772098" cy="1267326"/>
          </a:xfrm>
          <a:prstGeom prst="rect">
            <a:avLst/>
          </a:prstGeom>
          <a:noFill/>
          <a:ln>
            <a:noFill/>
          </a:ln>
        </p:spPr>
        <p:txBody>
          <a:bodyPr spcFirstLastPara="1" wrap="square" lIns="50800" tIns="50800" rIns="50800" bIns="50800" anchor="ctr" anchorCtr="0">
            <a:noAutofit/>
          </a:bodyPr>
          <a:lstStyle/>
          <a:p>
            <a:r>
              <a:rPr lang="en-US" sz="4800"/>
              <a:t>Lifestyle Management Recommendations in HTN</a:t>
            </a:r>
            <a:endParaRPr sz="4800"/>
          </a:p>
        </p:txBody>
      </p:sp>
      <p:sp>
        <p:nvSpPr>
          <p:cNvPr id="918" name="Google Shape;918;p116"/>
          <p:cNvSpPr txBox="1">
            <a:spLocks noGrp="1"/>
          </p:cNvSpPr>
          <p:nvPr>
            <p:ph type="body" idx="1"/>
          </p:nvPr>
        </p:nvSpPr>
        <p:spPr>
          <a:xfrm>
            <a:off x="631596" y="2243579"/>
            <a:ext cx="11283884" cy="4462020"/>
          </a:xfrm>
          <a:prstGeom prst="rect">
            <a:avLst/>
          </a:prstGeom>
          <a:noFill/>
          <a:ln>
            <a:noFill/>
          </a:ln>
        </p:spPr>
        <p:txBody>
          <a:bodyPr spcFirstLastPara="1" wrap="square" lIns="91425" tIns="45700" rIns="91425" bIns="45700" anchor="t" anchorCtr="0">
            <a:noAutofit/>
          </a:bodyPr>
          <a:lstStyle/>
          <a:p>
            <a:pPr indent="-457200">
              <a:spcBef>
                <a:spcPts val="0"/>
              </a:spcBef>
            </a:pPr>
            <a:r>
              <a:rPr lang="en-US" dirty="0"/>
              <a:t>As systolic BP increases with age, the goal should always be considering lifestyle modifications to help prevent HTN in all patients. </a:t>
            </a:r>
          </a:p>
          <a:p>
            <a:pPr indent="-457200">
              <a:spcBef>
                <a:spcPts val="0"/>
              </a:spcBef>
            </a:pPr>
            <a:r>
              <a:rPr lang="en-US" dirty="0"/>
              <a:t>Lifestyle modification is an important approach either alone for those persons with elevated BP or in combination with antihypertensive medication for patients with Stage 1 or 2 HTN.</a:t>
            </a:r>
          </a:p>
          <a:p>
            <a:pPr indent="-457200">
              <a:spcBef>
                <a:spcPts val="0"/>
              </a:spcBef>
            </a:pPr>
            <a:r>
              <a:rPr lang="en-US" dirty="0"/>
              <a:t>If lifestyle modification is insufficient to get to goal, drug treatment must be initiated. </a:t>
            </a:r>
          </a:p>
          <a:p>
            <a:pPr indent="-457200">
              <a:spcBef>
                <a:spcPts val="0"/>
              </a:spcBef>
            </a:pPr>
            <a:endParaRPr lang="en-US" dirty="0"/>
          </a:p>
        </p:txBody>
      </p:sp>
    </p:spTree>
    <p:extLst>
      <p:ext uri="{BB962C8B-B14F-4D97-AF65-F5344CB8AC3E}">
        <p14:creationId xmlns:p14="http://schemas.microsoft.com/office/powerpoint/2010/main" val="27059719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16"/>
        <p:cNvGrpSpPr/>
        <p:nvPr/>
      </p:nvGrpSpPr>
      <p:grpSpPr>
        <a:xfrm>
          <a:off x="0" y="0"/>
          <a:ext cx="0" cy="0"/>
          <a:chOff x="0" y="0"/>
          <a:chExt cx="0" cy="0"/>
        </a:xfrm>
      </p:grpSpPr>
      <p:sp>
        <p:nvSpPr>
          <p:cNvPr id="917" name="Google Shape;917;p116"/>
          <p:cNvSpPr txBox="1">
            <a:spLocks noGrp="1"/>
          </p:cNvSpPr>
          <p:nvPr>
            <p:ph type="title"/>
          </p:nvPr>
        </p:nvSpPr>
        <p:spPr>
          <a:xfrm>
            <a:off x="1738953" y="152400"/>
            <a:ext cx="8772098" cy="1267326"/>
          </a:xfrm>
          <a:prstGeom prst="rect">
            <a:avLst/>
          </a:prstGeom>
          <a:noFill/>
          <a:ln>
            <a:noFill/>
          </a:ln>
        </p:spPr>
        <p:txBody>
          <a:bodyPr spcFirstLastPara="1" wrap="square" lIns="50800" tIns="50800" rIns="50800" bIns="50800" anchor="ctr" anchorCtr="0">
            <a:noAutofit/>
          </a:bodyPr>
          <a:lstStyle/>
          <a:p>
            <a:r>
              <a:rPr lang="en-US" sz="4800"/>
              <a:t>Lifestyle Management Recommendations in HTN</a:t>
            </a:r>
            <a:endParaRPr sz="4800"/>
          </a:p>
        </p:txBody>
      </p:sp>
      <p:sp>
        <p:nvSpPr>
          <p:cNvPr id="918" name="Google Shape;918;p116"/>
          <p:cNvSpPr txBox="1">
            <a:spLocks noGrp="1"/>
          </p:cNvSpPr>
          <p:nvPr>
            <p:ph type="body" idx="1"/>
          </p:nvPr>
        </p:nvSpPr>
        <p:spPr>
          <a:xfrm>
            <a:off x="631596" y="1574157"/>
            <a:ext cx="11283884" cy="5131442"/>
          </a:xfrm>
          <a:prstGeom prst="rect">
            <a:avLst/>
          </a:prstGeom>
          <a:noFill/>
          <a:ln>
            <a:noFill/>
          </a:ln>
        </p:spPr>
        <p:txBody>
          <a:bodyPr spcFirstLastPara="1" wrap="square" lIns="91425" tIns="45700" rIns="91425" bIns="45700" anchor="t" anchorCtr="0">
            <a:noAutofit/>
          </a:bodyPr>
          <a:lstStyle/>
          <a:p>
            <a:pPr marL="514350" indent="-514350">
              <a:spcBef>
                <a:spcPts val="0"/>
              </a:spcBef>
              <a:buFont typeface="+mj-lt"/>
              <a:buAutoNum type="arabicPeriod"/>
            </a:pPr>
            <a:r>
              <a:rPr lang="en-US" b="1"/>
              <a:t>A heart healthy DASH diet</a:t>
            </a:r>
            <a:r>
              <a:rPr lang="en-US"/>
              <a:t>:</a:t>
            </a:r>
          </a:p>
          <a:p>
            <a:pPr lvl="1">
              <a:buFont typeface="Arial" panose="020B0604020202020204" pitchFamily="34" charset="0"/>
              <a:buChar char="•"/>
            </a:pPr>
            <a:r>
              <a:rPr lang="en-US" sz="3000">
                <a:solidFill>
                  <a:srgbClr val="222222"/>
                </a:solidFill>
                <a:latin typeface="Calibri" panose="020F0502020204030204" pitchFamily="34" charset="0"/>
                <a:cs typeface="Calibri" panose="020F0502020204030204" pitchFamily="34" charset="0"/>
              </a:rPr>
              <a:t>Eating vegetables, fruits, and whole grains</a:t>
            </a:r>
          </a:p>
          <a:p>
            <a:pPr lvl="1">
              <a:buFont typeface="Arial" panose="020B0604020202020204" pitchFamily="34" charset="0"/>
              <a:buChar char="•"/>
            </a:pPr>
            <a:r>
              <a:rPr lang="en-US" sz="3000">
                <a:solidFill>
                  <a:srgbClr val="222222"/>
                </a:solidFill>
                <a:latin typeface="Calibri" panose="020F0502020204030204" pitchFamily="34" charset="0"/>
                <a:cs typeface="Calibri" panose="020F0502020204030204" pitchFamily="34" charset="0"/>
              </a:rPr>
              <a:t>Including fat-free or low-fat dairy products, fish, poultry, beans, nuts, and vegetable oils</a:t>
            </a:r>
          </a:p>
          <a:p>
            <a:pPr lvl="1">
              <a:buFont typeface="Arial" panose="020B0604020202020204" pitchFamily="34" charset="0"/>
              <a:buChar char="•"/>
            </a:pPr>
            <a:r>
              <a:rPr lang="en-US" sz="3000">
                <a:solidFill>
                  <a:srgbClr val="222222"/>
                </a:solidFill>
                <a:latin typeface="Calibri" panose="020F0502020204030204" pitchFamily="34" charset="0"/>
                <a:cs typeface="Calibri" panose="020F0502020204030204" pitchFamily="34" charset="0"/>
              </a:rPr>
              <a:t>Limiting foods high in saturated fat, such as fatty meats, full-fat dairy, and tropical oils such as coconut, palm kernel, and palm oils</a:t>
            </a:r>
          </a:p>
          <a:p>
            <a:pPr lvl="1">
              <a:buFont typeface="Arial" panose="020B0604020202020204" pitchFamily="34" charset="0"/>
              <a:buChar char="•"/>
            </a:pPr>
            <a:r>
              <a:rPr lang="en-US" sz="3000">
                <a:solidFill>
                  <a:srgbClr val="222222"/>
                </a:solidFill>
                <a:latin typeface="Calibri" panose="020F0502020204030204" pitchFamily="34" charset="0"/>
                <a:cs typeface="Calibri" panose="020F0502020204030204" pitchFamily="34" charset="0"/>
              </a:rPr>
              <a:t>Limiting sugar-sweetened beverages and sweets</a:t>
            </a:r>
          </a:p>
          <a:p>
            <a:pPr marL="782638" lvl="1" indent="-325438">
              <a:buSzPts val="3000"/>
            </a:pPr>
            <a:endParaRPr/>
          </a:p>
        </p:txBody>
      </p:sp>
    </p:spTree>
    <p:extLst>
      <p:ext uri="{BB962C8B-B14F-4D97-AF65-F5344CB8AC3E}">
        <p14:creationId xmlns:p14="http://schemas.microsoft.com/office/powerpoint/2010/main" val="22950902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16"/>
        <p:cNvGrpSpPr/>
        <p:nvPr/>
      </p:nvGrpSpPr>
      <p:grpSpPr>
        <a:xfrm>
          <a:off x="0" y="0"/>
          <a:ext cx="0" cy="0"/>
          <a:chOff x="0" y="0"/>
          <a:chExt cx="0" cy="0"/>
        </a:xfrm>
      </p:grpSpPr>
      <p:sp>
        <p:nvSpPr>
          <p:cNvPr id="917" name="Google Shape;917;p116"/>
          <p:cNvSpPr txBox="1">
            <a:spLocks noGrp="1"/>
          </p:cNvSpPr>
          <p:nvPr>
            <p:ph type="title"/>
          </p:nvPr>
        </p:nvSpPr>
        <p:spPr>
          <a:xfrm>
            <a:off x="1738953" y="152400"/>
            <a:ext cx="8772098" cy="1267326"/>
          </a:xfrm>
          <a:prstGeom prst="rect">
            <a:avLst/>
          </a:prstGeom>
          <a:noFill/>
          <a:ln>
            <a:noFill/>
          </a:ln>
        </p:spPr>
        <p:txBody>
          <a:bodyPr spcFirstLastPara="1" wrap="square" lIns="50800" tIns="50800" rIns="50800" bIns="50800" anchor="ctr" anchorCtr="0">
            <a:noAutofit/>
          </a:bodyPr>
          <a:lstStyle/>
          <a:p>
            <a:r>
              <a:rPr lang="en-US" sz="4800"/>
              <a:t>Lifestyle Management Recommendations in HTN</a:t>
            </a:r>
            <a:endParaRPr sz="4800"/>
          </a:p>
        </p:txBody>
      </p:sp>
      <p:sp>
        <p:nvSpPr>
          <p:cNvPr id="918" name="Google Shape;918;p116"/>
          <p:cNvSpPr txBox="1">
            <a:spLocks noGrp="1"/>
          </p:cNvSpPr>
          <p:nvPr>
            <p:ph type="body" idx="1"/>
          </p:nvPr>
        </p:nvSpPr>
        <p:spPr>
          <a:xfrm>
            <a:off x="499620" y="1419727"/>
            <a:ext cx="11453567" cy="5285873"/>
          </a:xfrm>
          <a:prstGeom prst="rect">
            <a:avLst/>
          </a:prstGeom>
          <a:noFill/>
          <a:ln>
            <a:noFill/>
          </a:ln>
        </p:spPr>
        <p:txBody>
          <a:bodyPr spcFirstLastPara="1" wrap="square" lIns="91425" tIns="45700" rIns="91425" bIns="45700" anchor="t" anchorCtr="0">
            <a:noAutofit/>
          </a:bodyPr>
          <a:lstStyle/>
          <a:p>
            <a:pPr marL="514350" indent="-514350">
              <a:buSzPct val="100000"/>
              <a:buFont typeface="+mj-lt"/>
              <a:buAutoNum type="arabicPeriod" startAt="2"/>
            </a:pPr>
            <a:r>
              <a:rPr lang="en-US" b="1" dirty="0"/>
              <a:t>Weight loss</a:t>
            </a:r>
            <a:r>
              <a:rPr lang="en-US" dirty="0"/>
              <a:t>, for patients who are overweight or obese.</a:t>
            </a:r>
          </a:p>
          <a:p>
            <a:pPr marL="971550" lvl="1" indent="-514350">
              <a:buSzPct val="100000"/>
            </a:pPr>
            <a:r>
              <a:rPr lang="en-US" sz="3000" dirty="0"/>
              <a:t>Assess a patient’s nutritional knowledge</a:t>
            </a:r>
          </a:p>
          <a:p>
            <a:pPr marL="971550" lvl="1" indent="-514350">
              <a:buSzPct val="100000"/>
            </a:pPr>
            <a:r>
              <a:rPr lang="en-US" sz="3000" dirty="0"/>
              <a:t>Recommend an app, like My Fitness Pal, or a structured program, like Weight Watchers</a:t>
            </a:r>
          </a:p>
          <a:p>
            <a:pPr marL="971550" lvl="1" indent="-514350">
              <a:buSzPct val="100000"/>
            </a:pPr>
            <a:endParaRPr sz="2000" dirty="0"/>
          </a:p>
          <a:p>
            <a:pPr marL="514350" indent="-514350">
              <a:buSzPct val="100000"/>
              <a:buFont typeface="+mj-lt"/>
              <a:buAutoNum type="arabicPeriod" startAt="2"/>
            </a:pPr>
            <a:r>
              <a:rPr lang="en-US" b="1" dirty="0"/>
              <a:t>Physical activity</a:t>
            </a:r>
            <a:r>
              <a:rPr lang="en-US" dirty="0"/>
              <a:t>: the goal is 150 mins/week of physical activity in divided sessions.</a:t>
            </a:r>
            <a:endParaRPr dirty="0"/>
          </a:p>
        </p:txBody>
      </p:sp>
    </p:spTree>
    <p:extLst>
      <p:ext uri="{BB962C8B-B14F-4D97-AF65-F5344CB8AC3E}">
        <p14:creationId xmlns:p14="http://schemas.microsoft.com/office/powerpoint/2010/main" val="36091038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16"/>
        <p:cNvGrpSpPr/>
        <p:nvPr/>
      </p:nvGrpSpPr>
      <p:grpSpPr>
        <a:xfrm>
          <a:off x="0" y="0"/>
          <a:ext cx="0" cy="0"/>
          <a:chOff x="0" y="0"/>
          <a:chExt cx="0" cy="0"/>
        </a:xfrm>
      </p:grpSpPr>
      <p:sp>
        <p:nvSpPr>
          <p:cNvPr id="918" name="Google Shape;918;p116"/>
          <p:cNvSpPr txBox="1">
            <a:spLocks noGrp="1"/>
          </p:cNvSpPr>
          <p:nvPr>
            <p:ph type="body" idx="1"/>
          </p:nvPr>
        </p:nvSpPr>
        <p:spPr>
          <a:xfrm>
            <a:off x="914400" y="1414021"/>
            <a:ext cx="10944519" cy="5291579"/>
          </a:xfrm>
          <a:prstGeom prst="rect">
            <a:avLst/>
          </a:prstGeom>
          <a:noFill/>
          <a:ln>
            <a:noFill/>
          </a:ln>
        </p:spPr>
        <p:txBody>
          <a:bodyPr spcFirstLastPara="1" wrap="square" lIns="91425" tIns="45700" rIns="91425" bIns="45700" anchor="t" anchorCtr="0">
            <a:noAutofit/>
          </a:bodyPr>
          <a:lstStyle/>
          <a:p>
            <a:pPr marL="514350" indent="-514350">
              <a:buSzPct val="100000"/>
              <a:buFont typeface="+mj-lt"/>
              <a:buAutoNum type="arabicPeriod" startAt="4"/>
            </a:pPr>
            <a:r>
              <a:rPr lang="en-US" b="1" dirty="0"/>
              <a:t>Tobacco cessation </a:t>
            </a:r>
            <a:r>
              <a:rPr lang="en-US" dirty="0"/>
              <a:t>if needed</a:t>
            </a:r>
          </a:p>
          <a:p>
            <a:pPr marL="971550" lvl="1" indent="-514350">
              <a:buSzPct val="100000"/>
            </a:pPr>
            <a:r>
              <a:rPr lang="en-US" sz="3000" dirty="0"/>
              <a:t>Cutting down is better than continuing</a:t>
            </a:r>
          </a:p>
          <a:p>
            <a:pPr marL="971550" lvl="1" indent="-514350">
              <a:buSzPct val="100000"/>
            </a:pPr>
            <a:r>
              <a:rPr lang="en-US" sz="3000" dirty="0"/>
              <a:t>Multiple options for nicotine replacement or non-nicotine adjuncts for cessation</a:t>
            </a:r>
          </a:p>
          <a:p>
            <a:pPr marL="971550" lvl="1" indent="-514350">
              <a:buSzPct val="100000"/>
            </a:pPr>
            <a:r>
              <a:rPr lang="en-US" sz="3000" dirty="0"/>
              <a:t>Uncertain effects of vaping</a:t>
            </a:r>
          </a:p>
          <a:p>
            <a:pPr marL="971550" lvl="1" indent="-514350">
              <a:buSzPct val="100000"/>
              <a:buFont typeface="+mj-lt"/>
              <a:buAutoNum type="arabicPeriod" startAt="5"/>
            </a:pPr>
            <a:endParaRPr lang="en-US" sz="2000" dirty="0"/>
          </a:p>
          <a:p>
            <a:pPr marL="514350" indent="-514350">
              <a:buSzPct val="100000"/>
              <a:buFont typeface="+mj-lt"/>
              <a:buAutoNum type="arabicPeriod" startAt="4"/>
            </a:pPr>
            <a:r>
              <a:rPr lang="en-US" b="1" dirty="0"/>
              <a:t>Moderation or abstinence of alcohol </a:t>
            </a:r>
            <a:r>
              <a:rPr lang="en-US" dirty="0"/>
              <a:t>consumption: </a:t>
            </a:r>
          </a:p>
          <a:p>
            <a:pPr marL="971550" lvl="1" indent="-514350">
              <a:buSzPct val="100000"/>
            </a:pPr>
            <a:r>
              <a:rPr lang="en-US" sz="3000" dirty="0"/>
              <a:t>Maximum daily safe limit is 1 drink for women or smaller men, 2 drinks for larger men.</a:t>
            </a:r>
          </a:p>
          <a:p>
            <a:pPr marL="1428750" lvl="2" indent="-514350">
              <a:buSzPct val="100000"/>
            </a:pPr>
            <a:r>
              <a:rPr lang="en-US" sz="2400" dirty="0"/>
              <a:t>1 drink = 12 oz beer, 5 oz wine, or 1.5 oz 80-proof liquor</a:t>
            </a:r>
          </a:p>
          <a:p>
            <a:pPr marL="342900" lvl="1" indent="0">
              <a:buSzPts val="1800"/>
              <a:buNone/>
            </a:pPr>
            <a:endParaRPr dirty="0"/>
          </a:p>
        </p:txBody>
      </p:sp>
      <p:sp>
        <p:nvSpPr>
          <p:cNvPr id="2" name="Google Shape;917;p116">
            <a:extLst>
              <a:ext uri="{FF2B5EF4-FFF2-40B4-BE49-F238E27FC236}">
                <a16:creationId xmlns:a16="http://schemas.microsoft.com/office/drawing/2014/main" id="{BC1F423E-4675-8D71-6A42-254572378634}"/>
              </a:ext>
            </a:extLst>
          </p:cNvPr>
          <p:cNvSpPr txBox="1">
            <a:spLocks noGrp="1"/>
          </p:cNvSpPr>
          <p:nvPr>
            <p:ph type="title"/>
          </p:nvPr>
        </p:nvSpPr>
        <p:spPr>
          <a:xfrm>
            <a:off x="1738953" y="152400"/>
            <a:ext cx="8772098" cy="1267326"/>
          </a:xfrm>
          <a:prstGeom prst="rect">
            <a:avLst/>
          </a:prstGeom>
          <a:noFill/>
          <a:ln>
            <a:noFill/>
          </a:ln>
        </p:spPr>
        <p:txBody>
          <a:bodyPr spcFirstLastPara="1" wrap="square" lIns="50800" tIns="50800" rIns="50800" bIns="50800" anchor="ctr" anchorCtr="0">
            <a:noAutofit/>
          </a:bodyPr>
          <a:lstStyle/>
          <a:p>
            <a:r>
              <a:rPr lang="en-US" sz="4800"/>
              <a:t>Lifestyle Management Recommendations in HTN</a:t>
            </a:r>
            <a:endParaRPr sz="4800"/>
          </a:p>
        </p:txBody>
      </p:sp>
    </p:spTree>
    <p:extLst>
      <p:ext uri="{BB962C8B-B14F-4D97-AF65-F5344CB8AC3E}">
        <p14:creationId xmlns:p14="http://schemas.microsoft.com/office/powerpoint/2010/main" val="35389624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16"/>
        <p:cNvGrpSpPr/>
        <p:nvPr/>
      </p:nvGrpSpPr>
      <p:grpSpPr>
        <a:xfrm>
          <a:off x="0" y="0"/>
          <a:ext cx="0" cy="0"/>
          <a:chOff x="0" y="0"/>
          <a:chExt cx="0" cy="0"/>
        </a:xfrm>
      </p:grpSpPr>
      <p:sp>
        <p:nvSpPr>
          <p:cNvPr id="918" name="Google Shape;918;p116"/>
          <p:cNvSpPr txBox="1">
            <a:spLocks noGrp="1"/>
          </p:cNvSpPr>
          <p:nvPr>
            <p:ph type="body" idx="1"/>
          </p:nvPr>
        </p:nvSpPr>
        <p:spPr>
          <a:xfrm>
            <a:off x="895546" y="1932496"/>
            <a:ext cx="10944519" cy="2658358"/>
          </a:xfrm>
          <a:prstGeom prst="rect">
            <a:avLst/>
          </a:prstGeom>
          <a:noFill/>
          <a:ln>
            <a:noFill/>
          </a:ln>
        </p:spPr>
        <p:txBody>
          <a:bodyPr spcFirstLastPara="1" wrap="square" lIns="91425" tIns="45700" rIns="91425" bIns="45700" anchor="t" anchorCtr="0">
            <a:noAutofit/>
          </a:bodyPr>
          <a:lstStyle/>
          <a:p>
            <a:pPr marL="514350" indent="-514350">
              <a:buSzPct val="100000"/>
              <a:buFont typeface="+mj-lt"/>
              <a:buAutoNum type="arabicPeriod" startAt="6"/>
            </a:pPr>
            <a:r>
              <a:rPr lang="en-US" b="1"/>
              <a:t>Dietary salt restriction</a:t>
            </a:r>
          </a:p>
          <a:p>
            <a:pPr lvl="1" indent="-457200">
              <a:buClrTx/>
              <a:buSzPct val="100000"/>
              <a:buFont typeface="Calibri" panose="020F0502020204030204" pitchFamily="34" charset="0"/>
              <a:buChar char="─"/>
            </a:pPr>
            <a:r>
              <a:rPr lang="en-US" sz="3000"/>
              <a:t>&lt;1500-2000mg/day of sodium</a:t>
            </a:r>
          </a:p>
          <a:p>
            <a:pPr lvl="1" indent="-457200">
              <a:buClrTx/>
              <a:buSzPct val="100000"/>
              <a:buFont typeface="Calibri" panose="020F0502020204030204" pitchFamily="34" charset="0"/>
              <a:buChar char="─"/>
            </a:pPr>
            <a:r>
              <a:rPr lang="en-US" sz="3000"/>
              <a:t>Consider switch to salt substitute</a:t>
            </a:r>
          </a:p>
          <a:p>
            <a:pPr marL="0" indent="0">
              <a:buSzPct val="100000"/>
              <a:buNone/>
            </a:pPr>
            <a:endParaRPr lang="en-US" sz="3000"/>
          </a:p>
          <a:p>
            <a:pPr lvl="1" indent="-457200">
              <a:buClrTx/>
              <a:buSzPct val="100000"/>
              <a:buFont typeface="Calibri" panose="020F0502020204030204" pitchFamily="34" charset="0"/>
              <a:buChar char="─"/>
            </a:pPr>
            <a:endParaRPr lang="en-US" sz="3000"/>
          </a:p>
          <a:p>
            <a:pPr marL="342900" lvl="1" indent="0">
              <a:buSzPts val="1800"/>
              <a:buNone/>
            </a:pPr>
            <a:endParaRPr/>
          </a:p>
        </p:txBody>
      </p:sp>
      <p:sp>
        <p:nvSpPr>
          <p:cNvPr id="2" name="Google Shape;917;p116">
            <a:extLst>
              <a:ext uri="{FF2B5EF4-FFF2-40B4-BE49-F238E27FC236}">
                <a16:creationId xmlns:a16="http://schemas.microsoft.com/office/drawing/2014/main" id="{BC1F423E-4675-8D71-6A42-254572378634}"/>
              </a:ext>
            </a:extLst>
          </p:cNvPr>
          <p:cNvSpPr txBox="1">
            <a:spLocks noGrp="1"/>
          </p:cNvSpPr>
          <p:nvPr>
            <p:ph type="title"/>
          </p:nvPr>
        </p:nvSpPr>
        <p:spPr>
          <a:xfrm>
            <a:off x="1738953" y="152400"/>
            <a:ext cx="8772098" cy="1267326"/>
          </a:xfrm>
          <a:prstGeom prst="rect">
            <a:avLst/>
          </a:prstGeom>
          <a:noFill/>
          <a:ln>
            <a:noFill/>
          </a:ln>
        </p:spPr>
        <p:txBody>
          <a:bodyPr spcFirstLastPara="1" wrap="square" lIns="50800" tIns="50800" rIns="50800" bIns="50800" anchor="ctr" anchorCtr="0">
            <a:noAutofit/>
          </a:bodyPr>
          <a:lstStyle/>
          <a:p>
            <a:r>
              <a:rPr lang="en-US" sz="4800"/>
              <a:t>Lifestyle Management Recommendations in HTN</a:t>
            </a:r>
            <a:endParaRPr sz="4800"/>
          </a:p>
        </p:txBody>
      </p:sp>
    </p:spTree>
    <p:extLst>
      <p:ext uri="{BB962C8B-B14F-4D97-AF65-F5344CB8AC3E}">
        <p14:creationId xmlns:p14="http://schemas.microsoft.com/office/powerpoint/2010/main" val="24315500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22"/>
        <p:cNvGrpSpPr/>
        <p:nvPr/>
      </p:nvGrpSpPr>
      <p:grpSpPr>
        <a:xfrm>
          <a:off x="0" y="0"/>
          <a:ext cx="0" cy="0"/>
          <a:chOff x="0" y="0"/>
          <a:chExt cx="0" cy="0"/>
        </a:xfrm>
      </p:grpSpPr>
      <p:sp>
        <p:nvSpPr>
          <p:cNvPr id="923" name="Google Shape;923;p117"/>
          <p:cNvSpPr txBox="1">
            <a:spLocks noGrp="1"/>
          </p:cNvSpPr>
          <p:nvPr>
            <p:ph type="title"/>
          </p:nvPr>
        </p:nvSpPr>
        <p:spPr>
          <a:xfrm>
            <a:off x="1981200" y="152400"/>
            <a:ext cx="8229600" cy="762000"/>
          </a:xfrm>
          <a:prstGeom prst="rect">
            <a:avLst/>
          </a:prstGeom>
          <a:noFill/>
          <a:ln>
            <a:noFill/>
          </a:ln>
        </p:spPr>
        <p:txBody>
          <a:bodyPr spcFirstLastPara="1" wrap="square" lIns="50800" tIns="50800" rIns="50800" bIns="50800" anchor="ctr" anchorCtr="0">
            <a:noAutofit/>
          </a:bodyPr>
          <a:lstStyle/>
          <a:p>
            <a:r>
              <a:rPr lang="en-US"/>
              <a:t>Treatment: Lifestyle Modifications</a:t>
            </a:r>
            <a:endParaRPr/>
          </a:p>
        </p:txBody>
      </p:sp>
      <p:graphicFrame>
        <p:nvGraphicFramePr>
          <p:cNvPr id="924" name="Google Shape;924;p117"/>
          <p:cNvGraphicFramePr/>
          <p:nvPr/>
        </p:nvGraphicFramePr>
        <p:xfrm>
          <a:off x="1676400" y="1066801"/>
          <a:ext cx="8763000" cy="5637275"/>
        </p:xfrm>
        <a:graphic>
          <a:graphicData uri="http://schemas.openxmlformats.org/drawingml/2006/table">
            <a:tbl>
              <a:tblPr>
                <a:noFill/>
                <a:tableStyleId>{5CA6CF68-EC4B-4158-8A7C-682902D774E9}</a:tableStyleId>
              </a:tblPr>
              <a:tblGrid>
                <a:gridCol w="152400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gridCol w="1981200">
                  <a:extLst>
                    <a:ext uri="{9D8B030D-6E8A-4147-A177-3AD203B41FA5}">
                      <a16:colId xmlns:a16="http://schemas.microsoft.com/office/drawing/2014/main" val="20002"/>
                    </a:ext>
                  </a:extLst>
                </a:gridCol>
              </a:tblGrid>
              <a:tr h="890600">
                <a:tc>
                  <a:txBody>
                    <a:bodyPr/>
                    <a:lstStyle/>
                    <a:p>
                      <a:pPr marL="0" marR="0" lvl="0" indent="0" algn="ctr" rtl="0">
                        <a:lnSpc>
                          <a:spcPct val="100000"/>
                        </a:lnSpc>
                        <a:spcBef>
                          <a:spcPts val="0"/>
                        </a:spcBef>
                        <a:spcAft>
                          <a:spcPts val="0"/>
                        </a:spcAft>
                        <a:buClr>
                          <a:schemeClr val="dk1"/>
                        </a:buClr>
                        <a:buSzPts val="1600"/>
                        <a:buFont typeface="Constantia"/>
                        <a:buNone/>
                      </a:pPr>
                      <a:r>
                        <a:rPr lang="en-US" sz="1600" b="1" i="0" u="none" strike="noStrike" cap="none">
                          <a:solidFill>
                            <a:schemeClr val="dk1"/>
                          </a:solidFill>
                          <a:latin typeface="Constantia"/>
                          <a:ea typeface="Constantia"/>
                          <a:cs typeface="Constantia"/>
                          <a:sym typeface="Constantia"/>
                        </a:rPr>
                        <a:t>Modification</a:t>
                      </a:r>
                      <a:endParaRPr sz="1600" b="1" i="0" u="none" strike="noStrike" cap="none">
                        <a:solidFill>
                          <a:srgbClr val="000000"/>
                        </a:solidFill>
                        <a:latin typeface="Constantia"/>
                        <a:ea typeface="Constantia"/>
                        <a:cs typeface="Constantia"/>
                        <a:sym typeface="Constantia"/>
                      </a:endParaRPr>
                    </a:p>
                  </a:txBody>
                  <a:tcPr marL="9525" marR="9525" marT="9525" marB="0" anchor="ctr">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12700" cap="flat" cmpd="sng">
                      <a:solidFill>
                        <a:srgbClr val="0BD0D9"/>
                      </a:solidFill>
                      <a:prstDash val="solid"/>
                      <a:round/>
                      <a:headEnd type="none" w="sm" len="sm"/>
                      <a:tailEnd type="none" w="sm" len="sm"/>
                    </a:lnT>
                    <a:lnB w="25400" cap="flat" cmpd="sng">
                      <a:solidFill>
                        <a:srgbClr val="0BD0D9"/>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onstantia"/>
                        <a:buNone/>
                      </a:pPr>
                      <a:r>
                        <a:rPr lang="en-US" sz="1600" b="1" i="0" u="none" strike="noStrike" cap="none">
                          <a:solidFill>
                            <a:schemeClr val="dk1"/>
                          </a:solidFill>
                          <a:latin typeface="Constantia"/>
                          <a:ea typeface="Constantia"/>
                          <a:cs typeface="Constantia"/>
                          <a:sym typeface="Constantia"/>
                        </a:rPr>
                        <a:t>Recommendation</a:t>
                      </a:r>
                      <a:endParaRPr sz="1600" b="1" i="0" u="none" strike="noStrike" cap="none">
                        <a:solidFill>
                          <a:srgbClr val="000000"/>
                        </a:solidFill>
                        <a:latin typeface="Constantia"/>
                        <a:ea typeface="Constantia"/>
                        <a:cs typeface="Constantia"/>
                        <a:sym typeface="Constantia"/>
                      </a:endParaRPr>
                    </a:p>
                  </a:txBody>
                  <a:tcPr marL="9525" marR="9525" marT="9525" marB="0" anchor="ctr">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12700" cap="flat" cmpd="sng">
                      <a:solidFill>
                        <a:srgbClr val="0BD0D9"/>
                      </a:solidFill>
                      <a:prstDash val="solid"/>
                      <a:round/>
                      <a:headEnd type="none" w="sm" len="sm"/>
                      <a:tailEnd type="none" w="sm" len="sm"/>
                    </a:lnT>
                    <a:lnB w="25400" cap="flat" cmpd="sng">
                      <a:solidFill>
                        <a:srgbClr val="0BD0D9"/>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onstantia"/>
                        <a:buNone/>
                      </a:pPr>
                      <a:r>
                        <a:rPr lang="en-US" sz="1600" b="1" i="0" u="none" strike="noStrike" cap="none">
                          <a:solidFill>
                            <a:schemeClr val="dk1"/>
                          </a:solidFill>
                          <a:latin typeface="Constantia"/>
                          <a:ea typeface="Constantia"/>
                          <a:cs typeface="Constantia"/>
                          <a:sym typeface="Constantia"/>
                        </a:rPr>
                        <a:t>Approximate SBP Reduction</a:t>
                      </a:r>
                      <a:endParaRPr sz="1600" b="1" i="0" u="none" strike="noStrike" cap="none">
                        <a:solidFill>
                          <a:srgbClr val="000000"/>
                        </a:solidFill>
                        <a:latin typeface="Constantia"/>
                        <a:ea typeface="Constantia"/>
                        <a:cs typeface="Constantia"/>
                        <a:sym typeface="Constantia"/>
                      </a:endParaRPr>
                    </a:p>
                  </a:txBody>
                  <a:tcPr marL="9525" marR="9525" marT="9525" marB="0" anchor="ctr">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12700" cap="flat" cmpd="sng">
                      <a:solidFill>
                        <a:srgbClr val="0BD0D9"/>
                      </a:solidFill>
                      <a:prstDash val="solid"/>
                      <a:round/>
                      <a:headEnd type="none" w="sm" len="sm"/>
                      <a:tailEnd type="none" w="sm" len="sm"/>
                    </a:lnT>
                    <a:lnB w="25400" cap="flat" cmpd="sng">
                      <a:solidFill>
                        <a:srgbClr val="0BD0D9"/>
                      </a:solidFill>
                      <a:prstDash val="solid"/>
                      <a:round/>
                      <a:headEnd type="none" w="sm" len="sm"/>
                      <a:tailEnd type="none" w="sm" len="sm"/>
                    </a:lnB>
                  </a:tcPr>
                </a:tc>
                <a:extLst>
                  <a:ext uri="{0D108BD9-81ED-4DB2-BD59-A6C34878D82A}">
                    <a16:rowId xmlns:a16="http://schemas.microsoft.com/office/drawing/2014/main" val="10000"/>
                  </a:ext>
                </a:extLst>
              </a:tr>
              <a:tr h="890600">
                <a:tc>
                  <a:txBody>
                    <a:bodyPr/>
                    <a:lstStyle/>
                    <a:p>
                      <a:pPr marL="0" marR="0" lvl="0" indent="0" algn="ctr" rtl="0">
                        <a:lnSpc>
                          <a:spcPct val="100000"/>
                        </a:lnSpc>
                        <a:spcBef>
                          <a:spcPts val="0"/>
                        </a:spcBef>
                        <a:spcAft>
                          <a:spcPts val="0"/>
                        </a:spcAft>
                        <a:buClr>
                          <a:schemeClr val="dk1"/>
                        </a:buClr>
                        <a:buSzPts val="1600"/>
                        <a:buFont typeface="Calibri"/>
                        <a:buNone/>
                      </a:pPr>
                      <a:endParaRPr sz="1600" b="0" i="0" u="none" strike="noStrike" cap="none">
                        <a:solidFill>
                          <a:schemeClr val="dk1"/>
                        </a:solidFill>
                        <a:latin typeface="Constantia"/>
                        <a:ea typeface="Constantia"/>
                        <a:cs typeface="Constantia"/>
                        <a:sym typeface="Constantia"/>
                      </a:endParaRPr>
                    </a:p>
                    <a:p>
                      <a:pPr marL="0" marR="0" lvl="0" indent="0" algn="ctr" rtl="0">
                        <a:lnSpc>
                          <a:spcPct val="100000"/>
                        </a:lnSpc>
                        <a:spcBef>
                          <a:spcPts val="0"/>
                        </a:spcBef>
                        <a:spcAft>
                          <a:spcPts val="0"/>
                        </a:spcAft>
                        <a:buClr>
                          <a:schemeClr val="dk1"/>
                        </a:buClr>
                        <a:buSzPts val="1600"/>
                        <a:buFont typeface="Constantia"/>
                        <a:buNone/>
                      </a:pPr>
                      <a:r>
                        <a:rPr lang="en-US" sz="1600" b="0" i="0" u="none" strike="noStrike" cap="none">
                          <a:solidFill>
                            <a:schemeClr val="dk1"/>
                          </a:solidFill>
                          <a:latin typeface="Constantia"/>
                          <a:ea typeface="Constantia"/>
                          <a:cs typeface="Constantia"/>
                          <a:sym typeface="Constantia"/>
                        </a:rPr>
                        <a:t>Weight loss</a:t>
                      </a:r>
                      <a:endParaRPr sz="1600" b="0" i="0" u="none" strike="noStrike" cap="none">
                        <a:solidFill>
                          <a:srgbClr val="000000"/>
                        </a:solidFill>
                        <a:latin typeface="Constantia"/>
                        <a:ea typeface="Constantia"/>
                        <a:cs typeface="Constantia"/>
                        <a:sym typeface="Constantia"/>
                      </a:endParaRPr>
                    </a:p>
                  </a:txBody>
                  <a:tcPr marL="9525" marR="9525" marT="9525" marB="0">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25400" cap="flat" cmpd="sng">
                      <a:solidFill>
                        <a:srgbClr val="0BD0D9"/>
                      </a:solidFill>
                      <a:prstDash val="solid"/>
                      <a:round/>
                      <a:headEnd type="none" w="sm" len="sm"/>
                      <a:tailEnd type="none" w="sm" len="sm"/>
                    </a:lnT>
                    <a:lnB w="12700" cap="flat" cmpd="sng">
                      <a:solidFill>
                        <a:srgbClr val="0BD0D9"/>
                      </a:solidFill>
                      <a:prstDash val="solid"/>
                      <a:round/>
                      <a:headEnd type="none" w="sm" len="sm"/>
                      <a:tailEnd type="none" w="sm" len="sm"/>
                    </a:lnB>
                    <a:solidFill>
                      <a:srgbClr val="0BD0D9">
                        <a:alpha val="20000"/>
                      </a:srgbClr>
                    </a:solidFill>
                  </a:tcPr>
                </a:tc>
                <a:tc>
                  <a:txBody>
                    <a:bodyPr/>
                    <a:lstStyle/>
                    <a:p>
                      <a:pPr marL="0" marR="0" lvl="0" indent="0" algn="ctr" rtl="0">
                        <a:lnSpc>
                          <a:spcPct val="100000"/>
                        </a:lnSpc>
                        <a:spcBef>
                          <a:spcPts val="0"/>
                        </a:spcBef>
                        <a:spcAft>
                          <a:spcPts val="0"/>
                        </a:spcAft>
                        <a:buClr>
                          <a:schemeClr val="dk1"/>
                        </a:buClr>
                        <a:buSzPts val="1600"/>
                        <a:buFont typeface="Calibri"/>
                        <a:buNone/>
                      </a:pPr>
                      <a:endParaRPr sz="1600" b="0" i="0" u="none" strike="noStrike" cap="none">
                        <a:solidFill>
                          <a:schemeClr val="dk1"/>
                        </a:solidFill>
                        <a:latin typeface="Constantia"/>
                        <a:ea typeface="Constantia"/>
                        <a:cs typeface="Constantia"/>
                        <a:sym typeface="Constantia"/>
                      </a:endParaRPr>
                    </a:p>
                    <a:p>
                      <a:pPr marL="0" marR="0" lvl="0" indent="0" algn="ctr" rtl="0">
                        <a:lnSpc>
                          <a:spcPct val="100000"/>
                        </a:lnSpc>
                        <a:spcBef>
                          <a:spcPts val="0"/>
                        </a:spcBef>
                        <a:spcAft>
                          <a:spcPts val="0"/>
                        </a:spcAft>
                        <a:buClr>
                          <a:schemeClr val="dk1"/>
                        </a:buClr>
                        <a:buSzPts val="1600"/>
                        <a:buFont typeface="Constantia"/>
                        <a:buNone/>
                      </a:pPr>
                      <a:r>
                        <a:rPr lang="en-US" sz="1600" b="0" i="0" u="none" strike="noStrike" cap="none">
                          <a:solidFill>
                            <a:schemeClr val="dk1"/>
                          </a:solidFill>
                          <a:latin typeface="Constantia"/>
                          <a:ea typeface="Constantia"/>
                          <a:cs typeface="Constantia"/>
                          <a:sym typeface="Constantia"/>
                        </a:rPr>
                        <a:t>Maintain normal body weight  (body mass index 18.5–24.9 kg/m</a:t>
                      </a:r>
                      <a:r>
                        <a:rPr lang="en-US" sz="1600" b="0" i="0" u="none" strike="noStrike" cap="none" baseline="30000">
                          <a:solidFill>
                            <a:schemeClr val="dk1"/>
                          </a:solidFill>
                          <a:latin typeface="Constantia"/>
                          <a:ea typeface="Constantia"/>
                          <a:cs typeface="Constantia"/>
                          <a:sym typeface="Constantia"/>
                        </a:rPr>
                        <a:t>2</a:t>
                      </a:r>
                      <a:r>
                        <a:rPr lang="en-US" sz="1600" b="0" i="0" u="none" strike="noStrike" cap="none">
                          <a:solidFill>
                            <a:schemeClr val="dk1"/>
                          </a:solidFill>
                          <a:latin typeface="Constantia"/>
                          <a:ea typeface="Constantia"/>
                          <a:cs typeface="Constantia"/>
                          <a:sym typeface="Constantia"/>
                        </a:rPr>
                        <a:t>)</a:t>
                      </a:r>
                      <a:endParaRPr sz="1600" b="0" i="0" u="none" strike="noStrike" cap="none">
                        <a:solidFill>
                          <a:srgbClr val="000000"/>
                        </a:solidFill>
                        <a:latin typeface="Constantia"/>
                        <a:ea typeface="Constantia"/>
                        <a:cs typeface="Constantia"/>
                        <a:sym typeface="Constantia"/>
                      </a:endParaRPr>
                    </a:p>
                  </a:txBody>
                  <a:tcPr marL="9525" marR="9525" marT="9525" marB="0">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25400" cap="flat" cmpd="sng">
                      <a:solidFill>
                        <a:srgbClr val="0BD0D9"/>
                      </a:solidFill>
                      <a:prstDash val="solid"/>
                      <a:round/>
                      <a:headEnd type="none" w="sm" len="sm"/>
                      <a:tailEnd type="none" w="sm" len="sm"/>
                    </a:lnT>
                    <a:lnB w="12700" cap="flat" cmpd="sng">
                      <a:solidFill>
                        <a:srgbClr val="0BD0D9"/>
                      </a:solidFill>
                      <a:prstDash val="solid"/>
                      <a:round/>
                      <a:headEnd type="none" w="sm" len="sm"/>
                      <a:tailEnd type="none" w="sm" len="sm"/>
                    </a:lnB>
                    <a:solidFill>
                      <a:srgbClr val="0BD0D9">
                        <a:alpha val="20000"/>
                      </a:srgbClr>
                    </a:solidFill>
                  </a:tcPr>
                </a:tc>
                <a:tc>
                  <a:txBody>
                    <a:bodyPr/>
                    <a:lstStyle/>
                    <a:p>
                      <a:pPr marL="0" marR="0" lvl="0" indent="0" algn="ctr" rtl="0">
                        <a:lnSpc>
                          <a:spcPct val="100000"/>
                        </a:lnSpc>
                        <a:spcBef>
                          <a:spcPts val="0"/>
                        </a:spcBef>
                        <a:spcAft>
                          <a:spcPts val="0"/>
                        </a:spcAft>
                        <a:buClr>
                          <a:schemeClr val="dk1"/>
                        </a:buClr>
                        <a:buSzPts val="1600"/>
                        <a:buFont typeface="Calibri"/>
                        <a:buNone/>
                      </a:pPr>
                      <a:endParaRPr sz="1600" b="0" i="0" u="none" strike="noStrike" cap="none">
                        <a:solidFill>
                          <a:schemeClr val="dk1"/>
                        </a:solidFill>
                        <a:latin typeface="Constantia"/>
                        <a:ea typeface="Constantia"/>
                        <a:cs typeface="Constantia"/>
                        <a:sym typeface="Constantia"/>
                      </a:endParaRPr>
                    </a:p>
                    <a:p>
                      <a:pPr marL="0" marR="0" lvl="0" indent="0" algn="ctr" rtl="0">
                        <a:lnSpc>
                          <a:spcPct val="100000"/>
                        </a:lnSpc>
                        <a:spcBef>
                          <a:spcPts val="0"/>
                        </a:spcBef>
                        <a:spcAft>
                          <a:spcPts val="0"/>
                        </a:spcAft>
                        <a:buClr>
                          <a:schemeClr val="dk1"/>
                        </a:buClr>
                        <a:buSzPts val="1600"/>
                        <a:buFont typeface="Constantia"/>
                        <a:buNone/>
                      </a:pPr>
                      <a:r>
                        <a:rPr lang="en-US" sz="1600" b="0" i="0" u="none" strike="noStrike" cap="none">
                          <a:solidFill>
                            <a:schemeClr val="dk1"/>
                          </a:solidFill>
                          <a:latin typeface="Constantia"/>
                          <a:ea typeface="Constantia"/>
                          <a:cs typeface="Constantia"/>
                          <a:sym typeface="Constantia"/>
                        </a:rPr>
                        <a:t>5–20mmHg per 10-kg weight loss</a:t>
                      </a:r>
                      <a:endParaRPr sz="1600" b="0" i="0" u="none" strike="noStrike" cap="none">
                        <a:solidFill>
                          <a:srgbClr val="000000"/>
                        </a:solidFill>
                        <a:latin typeface="Constantia"/>
                        <a:ea typeface="Constantia"/>
                        <a:cs typeface="Constantia"/>
                        <a:sym typeface="Constantia"/>
                      </a:endParaRPr>
                    </a:p>
                  </a:txBody>
                  <a:tcPr marL="9525" marR="9525" marT="9525" marB="0">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25400" cap="flat" cmpd="sng">
                      <a:solidFill>
                        <a:srgbClr val="0BD0D9"/>
                      </a:solidFill>
                      <a:prstDash val="solid"/>
                      <a:round/>
                      <a:headEnd type="none" w="sm" len="sm"/>
                      <a:tailEnd type="none" w="sm" len="sm"/>
                    </a:lnT>
                    <a:lnB w="12700" cap="flat" cmpd="sng">
                      <a:solidFill>
                        <a:srgbClr val="0BD0D9"/>
                      </a:solidFill>
                      <a:prstDash val="solid"/>
                      <a:round/>
                      <a:headEnd type="none" w="sm" len="sm"/>
                      <a:tailEnd type="none" w="sm" len="sm"/>
                    </a:lnB>
                    <a:solidFill>
                      <a:srgbClr val="0BD0D9">
                        <a:alpha val="20000"/>
                      </a:srgbClr>
                    </a:solidFill>
                  </a:tcPr>
                </a:tc>
                <a:extLst>
                  <a:ext uri="{0D108BD9-81ED-4DB2-BD59-A6C34878D82A}">
                    <a16:rowId xmlns:a16="http://schemas.microsoft.com/office/drawing/2014/main" val="10001"/>
                  </a:ext>
                </a:extLst>
              </a:tr>
              <a:tr h="890600">
                <a:tc>
                  <a:txBody>
                    <a:bodyPr/>
                    <a:lstStyle/>
                    <a:p>
                      <a:pPr marL="0" marR="0" lvl="0" indent="0" algn="ctr" rtl="0">
                        <a:lnSpc>
                          <a:spcPct val="100000"/>
                        </a:lnSpc>
                        <a:spcBef>
                          <a:spcPts val="0"/>
                        </a:spcBef>
                        <a:spcAft>
                          <a:spcPts val="0"/>
                        </a:spcAft>
                        <a:buClr>
                          <a:schemeClr val="dk1"/>
                        </a:buClr>
                        <a:buSzPts val="1600"/>
                        <a:buFont typeface="Calibri"/>
                        <a:buNone/>
                      </a:pPr>
                      <a:endParaRPr sz="1600" b="0" i="0" u="none" strike="noStrike" cap="none">
                        <a:solidFill>
                          <a:schemeClr val="dk1"/>
                        </a:solidFill>
                        <a:latin typeface="Constantia"/>
                        <a:ea typeface="Constantia"/>
                        <a:cs typeface="Constantia"/>
                        <a:sym typeface="Constantia"/>
                      </a:endParaRPr>
                    </a:p>
                    <a:p>
                      <a:pPr marL="0" marR="0" lvl="0" indent="0" algn="ctr" rtl="0">
                        <a:lnSpc>
                          <a:spcPct val="100000"/>
                        </a:lnSpc>
                        <a:spcBef>
                          <a:spcPts val="0"/>
                        </a:spcBef>
                        <a:spcAft>
                          <a:spcPts val="0"/>
                        </a:spcAft>
                        <a:buClr>
                          <a:schemeClr val="dk1"/>
                        </a:buClr>
                        <a:buSzPts val="1600"/>
                        <a:buFont typeface="Constantia"/>
                        <a:buNone/>
                      </a:pPr>
                      <a:r>
                        <a:rPr lang="en-US" sz="1600" b="0" i="0" u="none" strike="noStrike" cap="none">
                          <a:solidFill>
                            <a:schemeClr val="dk1"/>
                          </a:solidFill>
                          <a:latin typeface="Constantia"/>
                          <a:ea typeface="Constantia"/>
                          <a:cs typeface="Constantia"/>
                          <a:sym typeface="Constantia"/>
                        </a:rPr>
                        <a:t>DASH-type diet</a:t>
                      </a:r>
                      <a:endParaRPr sz="1600" b="0" i="0" u="none" strike="noStrike" cap="none">
                        <a:solidFill>
                          <a:srgbClr val="000000"/>
                        </a:solidFill>
                        <a:latin typeface="Constantia"/>
                        <a:ea typeface="Constantia"/>
                        <a:cs typeface="Constantia"/>
                        <a:sym typeface="Constantia"/>
                      </a:endParaRPr>
                    </a:p>
                  </a:txBody>
                  <a:tcPr marL="9525" marR="9525" marT="9525" marB="0">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12700" cap="flat" cmpd="sng">
                      <a:solidFill>
                        <a:srgbClr val="0BD0D9"/>
                      </a:solidFill>
                      <a:prstDash val="solid"/>
                      <a:round/>
                      <a:headEnd type="none" w="sm" len="sm"/>
                      <a:tailEnd type="none" w="sm" len="sm"/>
                    </a:lnT>
                    <a:lnB w="12700" cap="flat" cmpd="sng">
                      <a:solidFill>
                        <a:srgbClr val="0BD0D9"/>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endParaRPr sz="1600" b="0" i="0" u="none" strike="noStrike" cap="none">
                        <a:solidFill>
                          <a:schemeClr val="dk1"/>
                        </a:solidFill>
                        <a:latin typeface="Constantia"/>
                        <a:ea typeface="Constantia"/>
                        <a:cs typeface="Constantia"/>
                        <a:sym typeface="Constantia"/>
                      </a:endParaRPr>
                    </a:p>
                    <a:p>
                      <a:pPr marL="0" marR="0" lvl="0" indent="0" algn="ctr" rtl="0">
                        <a:lnSpc>
                          <a:spcPct val="100000"/>
                        </a:lnSpc>
                        <a:spcBef>
                          <a:spcPts val="0"/>
                        </a:spcBef>
                        <a:spcAft>
                          <a:spcPts val="0"/>
                        </a:spcAft>
                        <a:buClr>
                          <a:schemeClr val="dk1"/>
                        </a:buClr>
                        <a:buSzPts val="1600"/>
                        <a:buFont typeface="Constantia"/>
                        <a:buNone/>
                      </a:pPr>
                      <a:r>
                        <a:rPr lang="en-US" sz="1600" b="0" i="0" u="none" strike="noStrike" cap="none">
                          <a:solidFill>
                            <a:schemeClr val="dk1"/>
                          </a:solidFill>
                          <a:latin typeface="Constantia"/>
                          <a:ea typeface="Constantia"/>
                          <a:cs typeface="Constantia"/>
                          <a:sym typeface="Constantia"/>
                        </a:rPr>
                        <a:t>Consume a diet rich in fruits, vegetables, and low-fat dairy products with a reduced content of saturated and total fat</a:t>
                      </a:r>
                      <a:endParaRPr sz="1600" b="0" i="0" u="none" strike="noStrike" cap="none">
                        <a:solidFill>
                          <a:srgbClr val="000000"/>
                        </a:solidFill>
                        <a:latin typeface="Constantia"/>
                        <a:ea typeface="Constantia"/>
                        <a:cs typeface="Constantia"/>
                        <a:sym typeface="Constantia"/>
                      </a:endParaRPr>
                    </a:p>
                  </a:txBody>
                  <a:tcPr marL="9525" marR="9525" marT="9525" marB="0">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12700" cap="flat" cmpd="sng">
                      <a:solidFill>
                        <a:srgbClr val="0BD0D9"/>
                      </a:solidFill>
                      <a:prstDash val="solid"/>
                      <a:round/>
                      <a:headEnd type="none" w="sm" len="sm"/>
                      <a:tailEnd type="none" w="sm" len="sm"/>
                    </a:lnT>
                    <a:lnB w="12700" cap="flat" cmpd="sng">
                      <a:solidFill>
                        <a:srgbClr val="0BD0D9"/>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endParaRPr sz="1600" b="0" i="0" u="none" strike="noStrike" cap="none">
                        <a:solidFill>
                          <a:schemeClr val="dk1"/>
                        </a:solidFill>
                        <a:latin typeface="Constantia"/>
                        <a:ea typeface="Constantia"/>
                        <a:cs typeface="Constantia"/>
                        <a:sym typeface="Constantia"/>
                      </a:endParaRPr>
                    </a:p>
                    <a:p>
                      <a:pPr marL="0" marR="0" lvl="0" indent="0" algn="ctr" rtl="0">
                        <a:lnSpc>
                          <a:spcPct val="100000"/>
                        </a:lnSpc>
                        <a:spcBef>
                          <a:spcPts val="0"/>
                        </a:spcBef>
                        <a:spcAft>
                          <a:spcPts val="0"/>
                        </a:spcAft>
                        <a:buClr>
                          <a:schemeClr val="dk1"/>
                        </a:buClr>
                        <a:buSzPts val="1600"/>
                        <a:buFont typeface="Constantia"/>
                        <a:buNone/>
                      </a:pPr>
                      <a:r>
                        <a:rPr lang="en-US" sz="1600" b="0" i="0" u="none" strike="noStrike" cap="none">
                          <a:solidFill>
                            <a:schemeClr val="dk1"/>
                          </a:solidFill>
                          <a:latin typeface="Constantia"/>
                          <a:ea typeface="Constantia"/>
                          <a:cs typeface="Constantia"/>
                          <a:sym typeface="Constantia"/>
                        </a:rPr>
                        <a:t>8–14mmHg</a:t>
                      </a:r>
                      <a:endParaRPr sz="1600" b="0" i="0" u="none" strike="noStrike" cap="none">
                        <a:solidFill>
                          <a:srgbClr val="000000"/>
                        </a:solidFill>
                        <a:latin typeface="Constantia"/>
                        <a:ea typeface="Constantia"/>
                        <a:cs typeface="Constantia"/>
                        <a:sym typeface="Constantia"/>
                      </a:endParaRPr>
                    </a:p>
                  </a:txBody>
                  <a:tcPr marL="9525" marR="9525" marT="9525" marB="0">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12700" cap="flat" cmpd="sng">
                      <a:solidFill>
                        <a:srgbClr val="0BD0D9"/>
                      </a:solidFill>
                      <a:prstDash val="solid"/>
                      <a:round/>
                      <a:headEnd type="none" w="sm" len="sm"/>
                      <a:tailEnd type="none" w="sm" len="sm"/>
                    </a:lnT>
                    <a:lnB w="12700" cap="flat" cmpd="sng">
                      <a:solidFill>
                        <a:srgbClr val="0BD0D9"/>
                      </a:solidFill>
                      <a:prstDash val="solid"/>
                      <a:round/>
                      <a:headEnd type="none" w="sm" len="sm"/>
                      <a:tailEnd type="none" w="sm" len="sm"/>
                    </a:lnB>
                  </a:tcPr>
                </a:tc>
                <a:extLst>
                  <a:ext uri="{0D108BD9-81ED-4DB2-BD59-A6C34878D82A}">
                    <a16:rowId xmlns:a16="http://schemas.microsoft.com/office/drawing/2014/main" val="10002"/>
                  </a:ext>
                </a:extLst>
              </a:tr>
              <a:tr h="1184275">
                <a:tc>
                  <a:txBody>
                    <a:bodyPr/>
                    <a:lstStyle/>
                    <a:p>
                      <a:pPr marL="0" marR="0" lvl="0" indent="0" algn="ctr" rtl="0">
                        <a:lnSpc>
                          <a:spcPct val="100000"/>
                        </a:lnSpc>
                        <a:spcBef>
                          <a:spcPts val="0"/>
                        </a:spcBef>
                        <a:spcAft>
                          <a:spcPts val="0"/>
                        </a:spcAft>
                        <a:buClr>
                          <a:schemeClr val="dk1"/>
                        </a:buClr>
                        <a:buSzPts val="1600"/>
                        <a:buFont typeface="Calibri"/>
                        <a:buNone/>
                      </a:pPr>
                      <a:endParaRPr sz="1600" b="0" i="0" u="none" strike="noStrike" cap="none">
                        <a:solidFill>
                          <a:schemeClr val="dk1"/>
                        </a:solidFill>
                        <a:latin typeface="Constantia"/>
                        <a:ea typeface="Constantia"/>
                        <a:cs typeface="Constantia"/>
                        <a:sym typeface="Constantia"/>
                      </a:endParaRPr>
                    </a:p>
                    <a:p>
                      <a:pPr marL="0" marR="0" lvl="0" indent="0" algn="ctr" rtl="0">
                        <a:lnSpc>
                          <a:spcPct val="100000"/>
                        </a:lnSpc>
                        <a:spcBef>
                          <a:spcPts val="0"/>
                        </a:spcBef>
                        <a:spcAft>
                          <a:spcPts val="0"/>
                        </a:spcAft>
                        <a:buClr>
                          <a:schemeClr val="dk1"/>
                        </a:buClr>
                        <a:buSzPts val="1600"/>
                        <a:buFont typeface="Constantia"/>
                        <a:buNone/>
                      </a:pPr>
                      <a:r>
                        <a:rPr lang="en-US" sz="1600" b="0" i="0" u="none" strike="noStrike" cap="none">
                          <a:solidFill>
                            <a:schemeClr val="dk1"/>
                          </a:solidFill>
                          <a:latin typeface="Constantia"/>
                          <a:ea typeface="Constantia"/>
                          <a:cs typeface="Constantia"/>
                          <a:sym typeface="Constantia"/>
                        </a:rPr>
                        <a:t>Reduced salt intake</a:t>
                      </a:r>
                      <a:endParaRPr sz="1600" b="0" i="0" u="none" strike="noStrike" cap="none">
                        <a:solidFill>
                          <a:srgbClr val="000000"/>
                        </a:solidFill>
                        <a:latin typeface="Constantia"/>
                        <a:ea typeface="Constantia"/>
                        <a:cs typeface="Constantia"/>
                        <a:sym typeface="Constantia"/>
                      </a:endParaRPr>
                    </a:p>
                  </a:txBody>
                  <a:tcPr marL="9525" marR="9525" marT="9525" marB="0">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12700" cap="flat" cmpd="sng">
                      <a:solidFill>
                        <a:srgbClr val="0BD0D9"/>
                      </a:solidFill>
                      <a:prstDash val="solid"/>
                      <a:round/>
                      <a:headEnd type="none" w="sm" len="sm"/>
                      <a:tailEnd type="none" w="sm" len="sm"/>
                    </a:lnT>
                    <a:lnB w="12700" cap="flat" cmpd="sng">
                      <a:solidFill>
                        <a:srgbClr val="0BD0D9"/>
                      </a:solidFill>
                      <a:prstDash val="solid"/>
                      <a:round/>
                      <a:headEnd type="none" w="sm" len="sm"/>
                      <a:tailEnd type="none" w="sm" len="sm"/>
                    </a:lnB>
                    <a:solidFill>
                      <a:srgbClr val="0BD0D9">
                        <a:alpha val="20000"/>
                      </a:srgbClr>
                    </a:solidFill>
                  </a:tcPr>
                </a:tc>
                <a:tc>
                  <a:txBody>
                    <a:bodyPr/>
                    <a:lstStyle/>
                    <a:p>
                      <a:pPr marL="0" marR="0" lvl="0" indent="0" algn="ctr" rtl="0">
                        <a:lnSpc>
                          <a:spcPct val="100000"/>
                        </a:lnSpc>
                        <a:spcBef>
                          <a:spcPts val="0"/>
                        </a:spcBef>
                        <a:spcAft>
                          <a:spcPts val="0"/>
                        </a:spcAft>
                        <a:buClr>
                          <a:schemeClr val="dk1"/>
                        </a:buClr>
                        <a:buSzPts val="1600"/>
                        <a:buFont typeface="Calibri"/>
                        <a:buNone/>
                      </a:pPr>
                      <a:endParaRPr sz="1600" b="0" i="0" u="none" strike="noStrike" cap="none">
                        <a:solidFill>
                          <a:schemeClr val="dk1"/>
                        </a:solidFill>
                        <a:latin typeface="Constantia"/>
                        <a:ea typeface="Constantia"/>
                        <a:cs typeface="Constantia"/>
                        <a:sym typeface="Constantia"/>
                      </a:endParaRPr>
                    </a:p>
                    <a:p>
                      <a:pPr marL="0" marR="0" lvl="0" indent="0" algn="ctr" rtl="0">
                        <a:lnSpc>
                          <a:spcPct val="100000"/>
                        </a:lnSpc>
                        <a:spcBef>
                          <a:spcPts val="0"/>
                        </a:spcBef>
                        <a:spcAft>
                          <a:spcPts val="0"/>
                        </a:spcAft>
                        <a:buClr>
                          <a:schemeClr val="dk1"/>
                        </a:buClr>
                        <a:buSzPts val="1600"/>
                        <a:buFont typeface="Constantia"/>
                        <a:buNone/>
                      </a:pPr>
                      <a:r>
                        <a:rPr lang="en-US" sz="1600" b="0" i="0" u="none" strike="noStrike" cap="none">
                          <a:solidFill>
                            <a:schemeClr val="dk1"/>
                          </a:solidFill>
                          <a:latin typeface="Constantia"/>
                          <a:ea typeface="Constantia"/>
                          <a:cs typeface="Constantia"/>
                          <a:sym typeface="Constantia"/>
                        </a:rPr>
                        <a:t>Reduce daily dietary sodium intake as much as possible, ideally to 2.4 g/day sodium, or 6 g/day sodium chloride.  Consume enough K, Ca and Mg for good health</a:t>
                      </a:r>
                      <a:endParaRPr sz="1600" b="0" i="0" u="none" strike="noStrike" cap="none">
                        <a:solidFill>
                          <a:srgbClr val="000000"/>
                        </a:solidFill>
                        <a:latin typeface="Constantia"/>
                        <a:ea typeface="Constantia"/>
                        <a:cs typeface="Constantia"/>
                        <a:sym typeface="Constantia"/>
                      </a:endParaRPr>
                    </a:p>
                  </a:txBody>
                  <a:tcPr marL="9525" marR="9525" marT="9525" marB="0">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12700" cap="flat" cmpd="sng">
                      <a:solidFill>
                        <a:srgbClr val="0BD0D9"/>
                      </a:solidFill>
                      <a:prstDash val="solid"/>
                      <a:round/>
                      <a:headEnd type="none" w="sm" len="sm"/>
                      <a:tailEnd type="none" w="sm" len="sm"/>
                    </a:lnT>
                    <a:lnB w="12700" cap="flat" cmpd="sng">
                      <a:solidFill>
                        <a:srgbClr val="0BD0D9"/>
                      </a:solidFill>
                      <a:prstDash val="solid"/>
                      <a:round/>
                      <a:headEnd type="none" w="sm" len="sm"/>
                      <a:tailEnd type="none" w="sm" len="sm"/>
                    </a:lnB>
                    <a:solidFill>
                      <a:srgbClr val="0BD0D9">
                        <a:alpha val="20000"/>
                      </a:srgbClr>
                    </a:solidFill>
                  </a:tcPr>
                </a:tc>
                <a:tc>
                  <a:txBody>
                    <a:bodyPr/>
                    <a:lstStyle/>
                    <a:p>
                      <a:pPr marL="0" marR="0" lvl="0" indent="0" algn="ctr" rtl="0">
                        <a:lnSpc>
                          <a:spcPct val="100000"/>
                        </a:lnSpc>
                        <a:spcBef>
                          <a:spcPts val="0"/>
                        </a:spcBef>
                        <a:spcAft>
                          <a:spcPts val="0"/>
                        </a:spcAft>
                        <a:buClr>
                          <a:schemeClr val="dk1"/>
                        </a:buClr>
                        <a:buSzPts val="1600"/>
                        <a:buFont typeface="Calibri"/>
                        <a:buNone/>
                      </a:pPr>
                      <a:endParaRPr sz="1600" b="0" i="0" u="none" strike="noStrike" cap="none">
                        <a:solidFill>
                          <a:schemeClr val="dk1"/>
                        </a:solidFill>
                        <a:latin typeface="Constantia"/>
                        <a:ea typeface="Constantia"/>
                        <a:cs typeface="Constantia"/>
                        <a:sym typeface="Constantia"/>
                      </a:endParaRPr>
                    </a:p>
                    <a:p>
                      <a:pPr marL="0" marR="0" lvl="0" indent="0" algn="ctr" rtl="0">
                        <a:lnSpc>
                          <a:spcPct val="100000"/>
                        </a:lnSpc>
                        <a:spcBef>
                          <a:spcPts val="0"/>
                        </a:spcBef>
                        <a:spcAft>
                          <a:spcPts val="0"/>
                        </a:spcAft>
                        <a:buClr>
                          <a:schemeClr val="dk1"/>
                        </a:buClr>
                        <a:buSzPts val="1600"/>
                        <a:buFont typeface="Constantia"/>
                        <a:buNone/>
                      </a:pPr>
                      <a:r>
                        <a:rPr lang="en-US" sz="1600" b="0" i="0" u="none" strike="noStrike" cap="none">
                          <a:solidFill>
                            <a:schemeClr val="dk1"/>
                          </a:solidFill>
                          <a:latin typeface="Constantia"/>
                          <a:ea typeface="Constantia"/>
                          <a:cs typeface="Constantia"/>
                          <a:sym typeface="Constantia"/>
                        </a:rPr>
                        <a:t>2–8mmHg</a:t>
                      </a:r>
                      <a:endParaRPr sz="1600" b="0" i="0" u="none" strike="noStrike" cap="none">
                        <a:solidFill>
                          <a:srgbClr val="000000"/>
                        </a:solidFill>
                        <a:latin typeface="Constantia"/>
                        <a:ea typeface="Constantia"/>
                        <a:cs typeface="Constantia"/>
                        <a:sym typeface="Constantia"/>
                      </a:endParaRPr>
                    </a:p>
                  </a:txBody>
                  <a:tcPr marL="9525" marR="9525" marT="9525" marB="0">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12700" cap="flat" cmpd="sng">
                      <a:solidFill>
                        <a:srgbClr val="0BD0D9"/>
                      </a:solidFill>
                      <a:prstDash val="solid"/>
                      <a:round/>
                      <a:headEnd type="none" w="sm" len="sm"/>
                      <a:tailEnd type="none" w="sm" len="sm"/>
                    </a:lnT>
                    <a:lnB w="12700" cap="flat" cmpd="sng">
                      <a:solidFill>
                        <a:srgbClr val="0BD0D9"/>
                      </a:solidFill>
                      <a:prstDash val="solid"/>
                      <a:round/>
                      <a:headEnd type="none" w="sm" len="sm"/>
                      <a:tailEnd type="none" w="sm" len="sm"/>
                    </a:lnB>
                    <a:solidFill>
                      <a:srgbClr val="0BD0D9">
                        <a:alpha val="20000"/>
                      </a:srgbClr>
                    </a:solidFill>
                  </a:tcPr>
                </a:tc>
                <a:extLst>
                  <a:ext uri="{0D108BD9-81ED-4DB2-BD59-A6C34878D82A}">
                    <a16:rowId xmlns:a16="http://schemas.microsoft.com/office/drawing/2014/main" val="10003"/>
                  </a:ext>
                </a:extLst>
              </a:tr>
              <a:tr h="890600">
                <a:tc>
                  <a:txBody>
                    <a:bodyPr/>
                    <a:lstStyle/>
                    <a:p>
                      <a:pPr marL="0" marR="0" lvl="0" indent="0" algn="ctr" rtl="0">
                        <a:lnSpc>
                          <a:spcPct val="100000"/>
                        </a:lnSpc>
                        <a:spcBef>
                          <a:spcPts val="0"/>
                        </a:spcBef>
                        <a:spcAft>
                          <a:spcPts val="0"/>
                        </a:spcAft>
                        <a:buClr>
                          <a:schemeClr val="dk1"/>
                        </a:buClr>
                        <a:buSzPts val="1600"/>
                        <a:buFont typeface="Calibri"/>
                        <a:buNone/>
                      </a:pPr>
                      <a:endParaRPr sz="1600" b="0" i="0" u="none" strike="noStrike" cap="none">
                        <a:solidFill>
                          <a:schemeClr val="dk1"/>
                        </a:solidFill>
                        <a:latin typeface="Constantia"/>
                        <a:ea typeface="Constantia"/>
                        <a:cs typeface="Constantia"/>
                        <a:sym typeface="Constantia"/>
                      </a:endParaRPr>
                    </a:p>
                    <a:p>
                      <a:pPr marL="0" marR="0" lvl="0" indent="0" algn="ctr" rtl="0">
                        <a:lnSpc>
                          <a:spcPct val="100000"/>
                        </a:lnSpc>
                        <a:spcBef>
                          <a:spcPts val="0"/>
                        </a:spcBef>
                        <a:spcAft>
                          <a:spcPts val="0"/>
                        </a:spcAft>
                        <a:buClr>
                          <a:schemeClr val="dk1"/>
                        </a:buClr>
                        <a:buSzPts val="1600"/>
                        <a:buFont typeface="Constantia"/>
                        <a:buNone/>
                      </a:pPr>
                      <a:r>
                        <a:rPr lang="en-US" sz="1600" b="0" i="0" u="none" strike="noStrike" cap="none">
                          <a:solidFill>
                            <a:schemeClr val="dk1"/>
                          </a:solidFill>
                          <a:latin typeface="Constantia"/>
                          <a:ea typeface="Constantia"/>
                          <a:cs typeface="Constantia"/>
                          <a:sym typeface="Constantia"/>
                        </a:rPr>
                        <a:t>Exercise</a:t>
                      </a:r>
                      <a:endParaRPr sz="1600" b="0" i="0" u="none" strike="noStrike" cap="none">
                        <a:solidFill>
                          <a:srgbClr val="000000"/>
                        </a:solidFill>
                        <a:latin typeface="Constantia"/>
                        <a:ea typeface="Constantia"/>
                        <a:cs typeface="Constantia"/>
                        <a:sym typeface="Constantia"/>
                      </a:endParaRPr>
                    </a:p>
                  </a:txBody>
                  <a:tcPr marL="9525" marR="9525" marT="9525" marB="0">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12700" cap="flat" cmpd="sng">
                      <a:solidFill>
                        <a:srgbClr val="0BD0D9"/>
                      </a:solidFill>
                      <a:prstDash val="solid"/>
                      <a:round/>
                      <a:headEnd type="none" w="sm" len="sm"/>
                      <a:tailEnd type="none" w="sm" len="sm"/>
                    </a:lnT>
                    <a:lnB w="12700" cap="flat" cmpd="sng">
                      <a:solidFill>
                        <a:srgbClr val="0BD0D9"/>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endParaRPr sz="1600" b="0" i="0" u="none" strike="noStrike" cap="none">
                        <a:solidFill>
                          <a:schemeClr val="dk1"/>
                        </a:solidFill>
                        <a:latin typeface="Constantia"/>
                        <a:ea typeface="Constantia"/>
                        <a:cs typeface="Constantia"/>
                        <a:sym typeface="Constantia"/>
                      </a:endParaRPr>
                    </a:p>
                    <a:p>
                      <a:pPr marL="0" marR="0" lvl="0" indent="0" algn="ctr" rtl="0">
                        <a:lnSpc>
                          <a:spcPct val="100000"/>
                        </a:lnSpc>
                        <a:spcBef>
                          <a:spcPts val="0"/>
                        </a:spcBef>
                        <a:spcAft>
                          <a:spcPts val="0"/>
                        </a:spcAft>
                        <a:buClr>
                          <a:schemeClr val="dk1"/>
                        </a:buClr>
                        <a:buSzPts val="1600"/>
                        <a:buFont typeface="Constantia"/>
                        <a:buNone/>
                      </a:pPr>
                      <a:r>
                        <a:rPr lang="en-US" sz="1600" b="0" i="0" u="none" strike="noStrike" cap="none">
                          <a:solidFill>
                            <a:schemeClr val="dk1"/>
                          </a:solidFill>
                          <a:latin typeface="Constantia"/>
                          <a:ea typeface="Constantia"/>
                          <a:cs typeface="Constantia"/>
                          <a:sym typeface="Constantia"/>
                        </a:rPr>
                        <a:t>Regular aerobic physical activity (at least 30 min/day, most days of the week)</a:t>
                      </a:r>
                      <a:endParaRPr sz="1600" b="0" i="0" u="none" strike="noStrike" cap="none">
                        <a:solidFill>
                          <a:srgbClr val="000000"/>
                        </a:solidFill>
                        <a:latin typeface="Constantia"/>
                        <a:ea typeface="Constantia"/>
                        <a:cs typeface="Constantia"/>
                        <a:sym typeface="Constantia"/>
                      </a:endParaRPr>
                    </a:p>
                  </a:txBody>
                  <a:tcPr marL="9525" marR="9525" marT="9525" marB="0">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12700" cap="flat" cmpd="sng">
                      <a:solidFill>
                        <a:srgbClr val="0BD0D9"/>
                      </a:solidFill>
                      <a:prstDash val="solid"/>
                      <a:round/>
                      <a:headEnd type="none" w="sm" len="sm"/>
                      <a:tailEnd type="none" w="sm" len="sm"/>
                    </a:lnT>
                    <a:lnB w="12700" cap="flat" cmpd="sng">
                      <a:solidFill>
                        <a:srgbClr val="0BD0D9"/>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endParaRPr sz="1600" b="0" i="0" u="none" strike="noStrike" cap="none">
                        <a:solidFill>
                          <a:schemeClr val="dk1"/>
                        </a:solidFill>
                        <a:latin typeface="Constantia"/>
                        <a:ea typeface="Constantia"/>
                        <a:cs typeface="Constantia"/>
                        <a:sym typeface="Constantia"/>
                      </a:endParaRPr>
                    </a:p>
                    <a:p>
                      <a:pPr marL="0" marR="0" lvl="0" indent="0" algn="ctr" rtl="0">
                        <a:lnSpc>
                          <a:spcPct val="100000"/>
                        </a:lnSpc>
                        <a:spcBef>
                          <a:spcPts val="0"/>
                        </a:spcBef>
                        <a:spcAft>
                          <a:spcPts val="0"/>
                        </a:spcAft>
                        <a:buClr>
                          <a:schemeClr val="dk1"/>
                        </a:buClr>
                        <a:buSzPts val="1600"/>
                        <a:buFont typeface="Constantia"/>
                        <a:buNone/>
                      </a:pPr>
                      <a:r>
                        <a:rPr lang="en-US" sz="1600" b="0" i="0" u="none" strike="noStrike" cap="none">
                          <a:solidFill>
                            <a:schemeClr val="dk1"/>
                          </a:solidFill>
                          <a:latin typeface="Constantia"/>
                          <a:ea typeface="Constantia"/>
                          <a:cs typeface="Constantia"/>
                          <a:sym typeface="Constantia"/>
                        </a:rPr>
                        <a:t>4–9mmHg</a:t>
                      </a:r>
                      <a:endParaRPr sz="1600" b="0" i="0" u="none" strike="noStrike" cap="none">
                        <a:solidFill>
                          <a:srgbClr val="000000"/>
                        </a:solidFill>
                        <a:latin typeface="Constantia"/>
                        <a:ea typeface="Constantia"/>
                        <a:cs typeface="Constantia"/>
                        <a:sym typeface="Constantia"/>
                      </a:endParaRPr>
                    </a:p>
                  </a:txBody>
                  <a:tcPr marL="9525" marR="9525" marT="9525" marB="0">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12700" cap="flat" cmpd="sng">
                      <a:solidFill>
                        <a:srgbClr val="0BD0D9"/>
                      </a:solidFill>
                      <a:prstDash val="solid"/>
                      <a:round/>
                      <a:headEnd type="none" w="sm" len="sm"/>
                      <a:tailEnd type="none" w="sm" len="sm"/>
                    </a:lnT>
                    <a:lnB w="12700" cap="flat" cmpd="sng">
                      <a:solidFill>
                        <a:srgbClr val="0BD0D9"/>
                      </a:solidFill>
                      <a:prstDash val="solid"/>
                      <a:round/>
                      <a:headEnd type="none" w="sm" len="sm"/>
                      <a:tailEnd type="none" w="sm" len="sm"/>
                    </a:lnB>
                  </a:tcPr>
                </a:tc>
                <a:extLst>
                  <a:ext uri="{0D108BD9-81ED-4DB2-BD59-A6C34878D82A}">
                    <a16:rowId xmlns:a16="http://schemas.microsoft.com/office/drawing/2014/main" val="10004"/>
                  </a:ext>
                </a:extLst>
              </a:tr>
              <a:tr h="890600">
                <a:tc>
                  <a:txBody>
                    <a:bodyPr/>
                    <a:lstStyle/>
                    <a:p>
                      <a:pPr marL="0" marR="0" lvl="0" indent="0" algn="ctr" rtl="0">
                        <a:lnSpc>
                          <a:spcPct val="100000"/>
                        </a:lnSpc>
                        <a:spcBef>
                          <a:spcPts val="0"/>
                        </a:spcBef>
                        <a:spcAft>
                          <a:spcPts val="0"/>
                        </a:spcAft>
                        <a:buClr>
                          <a:schemeClr val="dk1"/>
                        </a:buClr>
                        <a:buSzPts val="1600"/>
                        <a:buFont typeface="Calibri"/>
                        <a:buNone/>
                      </a:pPr>
                      <a:endParaRPr sz="1600" b="0" i="0" u="none" strike="noStrike" cap="none">
                        <a:solidFill>
                          <a:schemeClr val="dk1"/>
                        </a:solidFill>
                        <a:latin typeface="Constantia"/>
                        <a:ea typeface="Constantia"/>
                        <a:cs typeface="Constantia"/>
                        <a:sym typeface="Constantia"/>
                      </a:endParaRPr>
                    </a:p>
                    <a:p>
                      <a:pPr marL="0" marR="0" lvl="0" indent="0" algn="ctr" rtl="0">
                        <a:lnSpc>
                          <a:spcPct val="100000"/>
                        </a:lnSpc>
                        <a:spcBef>
                          <a:spcPts val="0"/>
                        </a:spcBef>
                        <a:spcAft>
                          <a:spcPts val="0"/>
                        </a:spcAft>
                        <a:buClr>
                          <a:schemeClr val="dk1"/>
                        </a:buClr>
                        <a:buSzPts val="1600"/>
                        <a:buFont typeface="Constantia"/>
                        <a:buNone/>
                      </a:pPr>
                      <a:r>
                        <a:rPr lang="en-US" sz="1600" b="0" i="0" u="none" strike="noStrike" cap="none">
                          <a:solidFill>
                            <a:schemeClr val="dk1"/>
                          </a:solidFill>
                          <a:latin typeface="Constantia"/>
                          <a:ea typeface="Constantia"/>
                          <a:cs typeface="Constantia"/>
                          <a:sym typeface="Constantia"/>
                        </a:rPr>
                        <a:t>Alcohol</a:t>
                      </a:r>
                      <a:endParaRPr/>
                    </a:p>
                  </a:txBody>
                  <a:tcPr marL="9525" marR="9525" marT="9525" marB="0">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12700" cap="flat" cmpd="sng">
                      <a:solidFill>
                        <a:srgbClr val="0BD0D9"/>
                      </a:solidFill>
                      <a:prstDash val="solid"/>
                      <a:round/>
                      <a:headEnd type="none" w="sm" len="sm"/>
                      <a:tailEnd type="none" w="sm" len="sm"/>
                    </a:lnT>
                    <a:lnB w="12700" cap="flat" cmpd="sng">
                      <a:solidFill>
                        <a:srgbClr val="0BD0D9"/>
                      </a:solidFill>
                      <a:prstDash val="solid"/>
                      <a:round/>
                      <a:headEnd type="none" w="sm" len="sm"/>
                      <a:tailEnd type="none" w="sm" len="sm"/>
                    </a:lnB>
                    <a:solidFill>
                      <a:srgbClr val="0BD0D9">
                        <a:alpha val="20000"/>
                      </a:srgbClr>
                    </a:solidFill>
                  </a:tcPr>
                </a:tc>
                <a:tc>
                  <a:txBody>
                    <a:bodyPr/>
                    <a:lstStyle/>
                    <a:p>
                      <a:pPr marL="0" marR="0" lvl="0" indent="0" algn="ctr" rtl="0">
                        <a:lnSpc>
                          <a:spcPct val="100000"/>
                        </a:lnSpc>
                        <a:spcBef>
                          <a:spcPts val="0"/>
                        </a:spcBef>
                        <a:spcAft>
                          <a:spcPts val="0"/>
                        </a:spcAft>
                        <a:buClr>
                          <a:schemeClr val="dk1"/>
                        </a:buClr>
                        <a:buSzPts val="1600"/>
                        <a:buFont typeface="Calibri"/>
                        <a:buNone/>
                      </a:pPr>
                      <a:endParaRPr sz="1600" b="0" i="0" u="none" strike="noStrike" cap="none">
                        <a:solidFill>
                          <a:schemeClr val="dk1"/>
                        </a:solidFill>
                        <a:latin typeface="Constantia"/>
                        <a:ea typeface="Constantia"/>
                        <a:cs typeface="Constantia"/>
                        <a:sym typeface="Constantia"/>
                      </a:endParaRPr>
                    </a:p>
                    <a:p>
                      <a:pPr marL="0" marR="0" lvl="0" indent="0" algn="ctr" rtl="0">
                        <a:lnSpc>
                          <a:spcPct val="100000"/>
                        </a:lnSpc>
                        <a:spcBef>
                          <a:spcPts val="0"/>
                        </a:spcBef>
                        <a:spcAft>
                          <a:spcPts val="0"/>
                        </a:spcAft>
                        <a:buClr>
                          <a:schemeClr val="dk1"/>
                        </a:buClr>
                        <a:buSzPts val="1600"/>
                        <a:buFont typeface="Constantia"/>
                        <a:buNone/>
                      </a:pPr>
                      <a:r>
                        <a:rPr lang="en-US" sz="1600" b="0" i="0" u="none" strike="noStrike" cap="none">
                          <a:solidFill>
                            <a:schemeClr val="dk1"/>
                          </a:solidFill>
                          <a:latin typeface="Constantia"/>
                          <a:ea typeface="Constantia"/>
                          <a:cs typeface="Constantia"/>
                          <a:sym typeface="Constantia"/>
                        </a:rPr>
                        <a:t>Limit consumption to 2 drinks/day in men and 1 drink/day in women and lighter-weight persons</a:t>
                      </a:r>
                      <a:endParaRPr sz="1600" b="0" i="0" u="none" strike="noStrike" cap="none">
                        <a:solidFill>
                          <a:srgbClr val="000000"/>
                        </a:solidFill>
                        <a:latin typeface="Constantia"/>
                        <a:ea typeface="Constantia"/>
                        <a:cs typeface="Constantia"/>
                        <a:sym typeface="Constantia"/>
                      </a:endParaRPr>
                    </a:p>
                  </a:txBody>
                  <a:tcPr marL="9525" marR="9525" marT="9525" marB="0">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12700" cap="flat" cmpd="sng">
                      <a:solidFill>
                        <a:srgbClr val="0BD0D9"/>
                      </a:solidFill>
                      <a:prstDash val="solid"/>
                      <a:round/>
                      <a:headEnd type="none" w="sm" len="sm"/>
                      <a:tailEnd type="none" w="sm" len="sm"/>
                    </a:lnT>
                    <a:lnB w="12700" cap="flat" cmpd="sng">
                      <a:solidFill>
                        <a:srgbClr val="0BD0D9"/>
                      </a:solidFill>
                      <a:prstDash val="solid"/>
                      <a:round/>
                      <a:headEnd type="none" w="sm" len="sm"/>
                      <a:tailEnd type="none" w="sm" len="sm"/>
                    </a:lnB>
                    <a:solidFill>
                      <a:srgbClr val="0BD0D9">
                        <a:alpha val="20000"/>
                      </a:srgbClr>
                    </a:solidFill>
                  </a:tcPr>
                </a:tc>
                <a:tc>
                  <a:txBody>
                    <a:bodyPr/>
                    <a:lstStyle/>
                    <a:p>
                      <a:pPr marL="0" marR="0" lvl="0" indent="0" algn="ctr" rtl="0">
                        <a:lnSpc>
                          <a:spcPct val="100000"/>
                        </a:lnSpc>
                        <a:spcBef>
                          <a:spcPts val="0"/>
                        </a:spcBef>
                        <a:spcAft>
                          <a:spcPts val="0"/>
                        </a:spcAft>
                        <a:buClr>
                          <a:schemeClr val="dk1"/>
                        </a:buClr>
                        <a:buSzPts val="1600"/>
                        <a:buFont typeface="Calibri"/>
                        <a:buNone/>
                      </a:pPr>
                      <a:endParaRPr sz="1600" b="0" i="0" u="none" strike="noStrike" cap="none" dirty="0">
                        <a:solidFill>
                          <a:schemeClr val="dk1"/>
                        </a:solidFill>
                        <a:latin typeface="Constantia"/>
                        <a:ea typeface="Constantia"/>
                        <a:cs typeface="Constantia"/>
                        <a:sym typeface="Constantia"/>
                      </a:endParaRPr>
                    </a:p>
                    <a:p>
                      <a:pPr marL="0" marR="0" lvl="0" indent="0" algn="ctr" rtl="0">
                        <a:lnSpc>
                          <a:spcPct val="100000"/>
                        </a:lnSpc>
                        <a:spcBef>
                          <a:spcPts val="0"/>
                        </a:spcBef>
                        <a:spcAft>
                          <a:spcPts val="0"/>
                        </a:spcAft>
                        <a:buClr>
                          <a:schemeClr val="dk1"/>
                        </a:buClr>
                        <a:buSzPts val="1600"/>
                        <a:buFont typeface="Constantia"/>
                        <a:buNone/>
                      </a:pPr>
                      <a:r>
                        <a:rPr lang="en-US" sz="1600" b="0" i="0" u="none" strike="noStrike" cap="none" dirty="0">
                          <a:solidFill>
                            <a:schemeClr val="dk1"/>
                          </a:solidFill>
                          <a:latin typeface="Constantia"/>
                          <a:ea typeface="Constantia"/>
                          <a:cs typeface="Constantia"/>
                          <a:sym typeface="Constantia"/>
                        </a:rPr>
                        <a:t>2–4mmHg</a:t>
                      </a:r>
                      <a:endParaRPr sz="1600" b="0" i="0" u="none" strike="noStrike" cap="none" dirty="0">
                        <a:solidFill>
                          <a:srgbClr val="000000"/>
                        </a:solidFill>
                        <a:latin typeface="Constantia"/>
                        <a:ea typeface="Constantia"/>
                        <a:cs typeface="Constantia"/>
                        <a:sym typeface="Constantia"/>
                      </a:endParaRPr>
                    </a:p>
                  </a:txBody>
                  <a:tcPr marL="9525" marR="9525" marT="9525" marB="0">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12700" cap="flat" cmpd="sng">
                      <a:solidFill>
                        <a:srgbClr val="0BD0D9"/>
                      </a:solidFill>
                      <a:prstDash val="solid"/>
                      <a:round/>
                      <a:headEnd type="none" w="sm" len="sm"/>
                      <a:tailEnd type="none" w="sm" len="sm"/>
                    </a:lnT>
                    <a:lnB w="12700" cap="flat" cmpd="sng">
                      <a:solidFill>
                        <a:srgbClr val="0BD0D9"/>
                      </a:solidFill>
                      <a:prstDash val="solid"/>
                      <a:round/>
                      <a:headEnd type="none" w="sm" len="sm"/>
                      <a:tailEnd type="none" w="sm" len="sm"/>
                    </a:lnB>
                    <a:solidFill>
                      <a:srgbClr val="0BD0D9">
                        <a:alpha val="20000"/>
                      </a:srgbClr>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35"/>
        <p:cNvGrpSpPr/>
        <p:nvPr/>
      </p:nvGrpSpPr>
      <p:grpSpPr>
        <a:xfrm>
          <a:off x="0" y="0"/>
          <a:ext cx="0" cy="0"/>
          <a:chOff x="0" y="0"/>
          <a:chExt cx="0" cy="0"/>
        </a:xfrm>
      </p:grpSpPr>
      <p:sp>
        <p:nvSpPr>
          <p:cNvPr id="936" name="Google Shape;936;p119"/>
          <p:cNvSpPr txBox="1">
            <a:spLocks noGrp="1"/>
          </p:cNvSpPr>
          <p:nvPr>
            <p:ph type="title"/>
          </p:nvPr>
        </p:nvSpPr>
        <p:spPr>
          <a:xfrm>
            <a:off x="1676400" y="76200"/>
            <a:ext cx="8814179" cy="781050"/>
          </a:xfrm>
          <a:prstGeom prst="rect">
            <a:avLst/>
          </a:prstGeom>
          <a:noFill/>
          <a:ln>
            <a:noFill/>
          </a:ln>
        </p:spPr>
        <p:txBody>
          <a:bodyPr spcFirstLastPara="1" wrap="square" lIns="50800" tIns="50800" rIns="50800" bIns="50800" anchor="ctr" anchorCtr="0">
            <a:noAutofit/>
          </a:bodyPr>
          <a:lstStyle/>
          <a:p>
            <a:r>
              <a:rPr lang="en-US"/>
              <a:t>Long Term Management of HTN</a:t>
            </a:r>
            <a:endParaRPr/>
          </a:p>
        </p:txBody>
      </p:sp>
      <p:sp>
        <p:nvSpPr>
          <p:cNvPr id="937" name="Google Shape;937;p119"/>
          <p:cNvSpPr txBox="1">
            <a:spLocks noGrp="1"/>
          </p:cNvSpPr>
          <p:nvPr>
            <p:ph type="body" idx="1"/>
          </p:nvPr>
        </p:nvSpPr>
        <p:spPr>
          <a:xfrm>
            <a:off x="424206" y="857250"/>
            <a:ext cx="11519555" cy="5924550"/>
          </a:xfrm>
          <a:prstGeom prst="rect">
            <a:avLst/>
          </a:prstGeom>
          <a:noFill/>
          <a:ln>
            <a:noFill/>
          </a:ln>
        </p:spPr>
        <p:txBody>
          <a:bodyPr spcFirstLastPara="1" wrap="square" lIns="38100" tIns="38100" rIns="38100" bIns="38100" anchor="t" anchorCtr="0">
            <a:noAutofit/>
          </a:bodyPr>
          <a:lstStyle/>
          <a:p>
            <a:pPr marL="219075" indent="-219075">
              <a:spcBef>
                <a:spcPts val="0"/>
              </a:spcBef>
            </a:pPr>
            <a:r>
              <a:rPr lang="en-US"/>
              <a:t>What should we do at a chronic care visit with the hypertensive patient:</a:t>
            </a:r>
            <a:endParaRPr/>
          </a:p>
          <a:p>
            <a:pPr marL="514350" indent="-514350">
              <a:spcBef>
                <a:spcPts val="900"/>
              </a:spcBef>
              <a:buFont typeface="Calibri"/>
              <a:buAutoNum type="arabicPeriod"/>
            </a:pPr>
            <a:r>
              <a:rPr lang="en-US" b="1"/>
              <a:t>Blood pressure readings</a:t>
            </a:r>
            <a:endParaRPr/>
          </a:p>
          <a:p>
            <a:pPr marL="548879" lvl="1" indent="-219075">
              <a:spcBef>
                <a:spcPts val="900"/>
              </a:spcBef>
              <a:buSzPts val="3000"/>
            </a:pPr>
            <a:r>
              <a:rPr lang="en-US" sz="3000"/>
              <a:t>If able use automated </a:t>
            </a:r>
            <a:r>
              <a:rPr lang="en-US" sz="3000" err="1"/>
              <a:t>oscillometric</a:t>
            </a:r>
            <a:r>
              <a:rPr lang="en-US" sz="3000"/>
              <a:t> meter to check BP, otherwise check manually, and compare them to previous visits.</a:t>
            </a:r>
            <a:endParaRPr/>
          </a:p>
          <a:p>
            <a:pPr marL="548879" lvl="1" indent="-219075">
              <a:spcBef>
                <a:spcPts val="900"/>
              </a:spcBef>
              <a:buSzPts val="3000"/>
            </a:pPr>
            <a:r>
              <a:rPr lang="en-US" sz="3000"/>
              <a:t>Evaluate the patient’s home BP log, noting: </a:t>
            </a:r>
          </a:p>
          <a:p>
            <a:pPr marL="1006079" lvl="2" indent="-219075">
              <a:spcBef>
                <a:spcPts val="900"/>
              </a:spcBef>
              <a:buSzPts val="3000"/>
              <a:buChar char="–"/>
            </a:pPr>
            <a:r>
              <a:rPr lang="en-US" sz="3000"/>
              <a:t>Average SBP and DBP</a:t>
            </a:r>
          </a:p>
          <a:p>
            <a:pPr marL="1006079" lvl="2" indent="-219075">
              <a:spcBef>
                <a:spcPts val="900"/>
              </a:spcBef>
              <a:buSzPts val="3000"/>
              <a:buChar char="–"/>
            </a:pPr>
            <a:r>
              <a:rPr lang="en-US" sz="3000"/>
              <a:t>Highest reading and lowest reading. Ask about any symptoms of low blood pressure. </a:t>
            </a:r>
            <a:endParaRPr/>
          </a:p>
          <a:p>
            <a:pPr marL="548879" lvl="1" indent="-219075">
              <a:spcBef>
                <a:spcPts val="900"/>
              </a:spcBef>
              <a:buSzPts val="3000"/>
            </a:pPr>
            <a:r>
              <a:rPr lang="en-US" sz="3000"/>
              <a:t>Compare home cuff to in-office manual reading, if not already done at previous visit, to assure accuracy and reliability of the home BP log.</a:t>
            </a:r>
            <a:endParaRPr/>
          </a:p>
          <a:p>
            <a:pPr marL="329804" lvl="1" indent="0">
              <a:spcBef>
                <a:spcPts val="900"/>
              </a:spcBef>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41"/>
        <p:cNvGrpSpPr/>
        <p:nvPr/>
      </p:nvGrpSpPr>
      <p:grpSpPr>
        <a:xfrm>
          <a:off x="0" y="0"/>
          <a:ext cx="0" cy="0"/>
          <a:chOff x="0" y="0"/>
          <a:chExt cx="0" cy="0"/>
        </a:xfrm>
      </p:grpSpPr>
      <p:sp>
        <p:nvSpPr>
          <p:cNvPr id="942" name="Google Shape;942;p120"/>
          <p:cNvSpPr txBox="1">
            <a:spLocks noGrp="1"/>
          </p:cNvSpPr>
          <p:nvPr>
            <p:ph type="title"/>
          </p:nvPr>
        </p:nvSpPr>
        <p:spPr>
          <a:xfrm>
            <a:off x="1646830" y="228600"/>
            <a:ext cx="8792570" cy="685800"/>
          </a:xfrm>
          <a:prstGeom prst="rect">
            <a:avLst/>
          </a:prstGeom>
          <a:noFill/>
          <a:ln>
            <a:noFill/>
          </a:ln>
        </p:spPr>
        <p:txBody>
          <a:bodyPr spcFirstLastPara="1" wrap="square" lIns="50800" tIns="50800" rIns="50800" bIns="50800" anchor="ctr" anchorCtr="0">
            <a:noAutofit/>
          </a:bodyPr>
          <a:lstStyle/>
          <a:p>
            <a:r>
              <a:rPr lang="en-US"/>
              <a:t>Long Term Management of HTN</a:t>
            </a:r>
            <a:endParaRPr/>
          </a:p>
        </p:txBody>
      </p:sp>
      <p:sp>
        <p:nvSpPr>
          <p:cNvPr id="943" name="Google Shape;943;p120"/>
          <p:cNvSpPr txBox="1">
            <a:spLocks noGrp="1"/>
          </p:cNvSpPr>
          <p:nvPr>
            <p:ph type="body" idx="1"/>
          </p:nvPr>
        </p:nvSpPr>
        <p:spPr>
          <a:xfrm>
            <a:off x="499621" y="1143000"/>
            <a:ext cx="11378152" cy="5486400"/>
          </a:xfrm>
          <a:prstGeom prst="rect">
            <a:avLst/>
          </a:prstGeom>
          <a:noFill/>
          <a:ln>
            <a:noFill/>
          </a:ln>
        </p:spPr>
        <p:txBody>
          <a:bodyPr spcFirstLastPara="1" wrap="square" lIns="38100" tIns="38100" rIns="38100" bIns="38100" anchor="t" anchorCtr="0">
            <a:noAutofit/>
          </a:bodyPr>
          <a:lstStyle/>
          <a:p>
            <a:pPr marL="219075" indent="-219075">
              <a:spcBef>
                <a:spcPts val="0"/>
              </a:spcBef>
            </a:pPr>
            <a:r>
              <a:rPr lang="en-US"/>
              <a:t>Chronic care visit with the HTN patient:</a:t>
            </a:r>
            <a:endParaRPr/>
          </a:p>
          <a:p>
            <a:pPr marL="404416" indent="-404416">
              <a:spcBef>
                <a:spcPts val="900"/>
              </a:spcBef>
              <a:buFont typeface="Calibri"/>
              <a:buAutoNum type="arabicPeriod" startAt="2"/>
            </a:pPr>
            <a:r>
              <a:rPr lang="en-US" b="1" i="1"/>
              <a:t>Assess</a:t>
            </a:r>
            <a:r>
              <a:rPr lang="en-US"/>
              <a:t> for HTN associated </a:t>
            </a:r>
            <a:r>
              <a:rPr lang="en-US" b="1" i="1"/>
              <a:t>symptoms</a:t>
            </a:r>
            <a:r>
              <a:rPr lang="en-US"/>
              <a:t>:</a:t>
            </a:r>
            <a:endParaRPr/>
          </a:p>
          <a:p>
            <a:pPr marL="876300" lvl="2" indent="-219075">
              <a:spcBef>
                <a:spcPts val="900"/>
              </a:spcBef>
            </a:pPr>
            <a:r>
              <a:rPr lang="en-US"/>
              <a:t>ENT: Headaches, visual disturbances, epistaxis, lightheadedness/dizziness, tinnitus </a:t>
            </a:r>
          </a:p>
          <a:p>
            <a:pPr marL="876300" lvl="2" indent="-219075">
              <a:spcBef>
                <a:spcPts val="900"/>
              </a:spcBef>
            </a:pPr>
            <a:r>
              <a:rPr lang="en-US"/>
              <a:t>CV: Diaphoresis, chest pain, palpitations, edema, dyspnea or decreased exercise tolerance.</a:t>
            </a:r>
          </a:p>
          <a:p>
            <a:pPr marL="876300" lvl="2" indent="-219075">
              <a:spcBef>
                <a:spcPts val="900"/>
              </a:spcBef>
            </a:pPr>
            <a:endParaRPr sz="2000"/>
          </a:p>
          <a:p>
            <a:pPr marL="735013" lvl="1" indent="-514350">
              <a:spcBef>
                <a:spcPts val="900"/>
              </a:spcBef>
              <a:buFont typeface="Calibri"/>
              <a:buAutoNum type="arabicPeriod" startAt="3"/>
            </a:pPr>
            <a:r>
              <a:rPr lang="en-US"/>
              <a:t>Check for </a:t>
            </a:r>
            <a:r>
              <a:rPr lang="en-US" b="1" i="1"/>
              <a:t>compliance with currently prescribed medications </a:t>
            </a:r>
            <a:r>
              <a:rPr lang="en-US"/>
              <a:t>and monitor for side effects.</a:t>
            </a:r>
            <a:endParaRPr/>
          </a:p>
          <a:p>
            <a:pPr marL="876300" lvl="2" indent="-15875">
              <a:spcBef>
                <a:spcPts val="900"/>
              </a:spcBef>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47"/>
        <p:cNvGrpSpPr/>
        <p:nvPr/>
      </p:nvGrpSpPr>
      <p:grpSpPr>
        <a:xfrm>
          <a:off x="0" y="0"/>
          <a:ext cx="0" cy="0"/>
          <a:chOff x="0" y="0"/>
          <a:chExt cx="0" cy="0"/>
        </a:xfrm>
      </p:grpSpPr>
      <p:sp>
        <p:nvSpPr>
          <p:cNvPr id="948" name="Google Shape;948;p121"/>
          <p:cNvSpPr txBox="1">
            <a:spLocks noGrp="1"/>
          </p:cNvSpPr>
          <p:nvPr>
            <p:ph type="title"/>
          </p:nvPr>
        </p:nvSpPr>
        <p:spPr>
          <a:xfrm>
            <a:off x="1646830" y="228600"/>
            <a:ext cx="8792570" cy="685800"/>
          </a:xfrm>
          <a:prstGeom prst="rect">
            <a:avLst/>
          </a:prstGeom>
          <a:noFill/>
          <a:ln>
            <a:noFill/>
          </a:ln>
        </p:spPr>
        <p:txBody>
          <a:bodyPr spcFirstLastPara="1" wrap="square" lIns="50800" tIns="50800" rIns="50800" bIns="50800" anchor="ctr" anchorCtr="0">
            <a:noAutofit/>
          </a:bodyPr>
          <a:lstStyle/>
          <a:p>
            <a:r>
              <a:rPr lang="en-US"/>
              <a:t>Long Term Management of HTN</a:t>
            </a:r>
            <a:endParaRPr/>
          </a:p>
        </p:txBody>
      </p:sp>
      <p:sp>
        <p:nvSpPr>
          <p:cNvPr id="949" name="Google Shape;949;p121"/>
          <p:cNvSpPr txBox="1">
            <a:spLocks noGrp="1"/>
          </p:cNvSpPr>
          <p:nvPr>
            <p:ph type="body" idx="1"/>
          </p:nvPr>
        </p:nvSpPr>
        <p:spPr>
          <a:xfrm>
            <a:off x="480767" y="1143000"/>
            <a:ext cx="11387579" cy="5562600"/>
          </a:xfrm>
          <a:prstGeom prst="rect">
            <a:avLst/>
          </a:prstGeom>
          <a:noFill/>
          <a:ln>
            <a:noFill/>
          </a:ln>
        </p:spPr>
        <p:txBody>
          <a:bodyPr spcFirstLastPara="1" wrap="square" lIns="38100" tIns="38100" rIns="38100" bIns="38100" anchor="t" anchorCtr="0">
            <a:noAutofit/>
          </a:bodyPr>
          <a:lstStyle/>
          <a:p>
            <a:pPr marL="219075" indent="-219075">
              <a:spcBef>
                <a:spcPts val="0"/>
              </a:spcBef>
            </a:pPr>
            <a:r>
              <a:rPr lang="en-US"/>
              <a:t>Chronic care visit with the HTN patient:</a:t>
            </a:r>
            <a:endParaRPr/>
          </a:p>
          <a:p>
            <a:pPr marL="404416" indent="-404416">
              <a:spcBef>
                <a:spcPts val="900"/>
              </a:spcBef>
              <a:buFont typeface="Calibri"/>
              <a:buAutoNum type="arabicPeriod" startAt="4"/>
            </a:pPr>
            <a:r>
              <a:rPr lang="en-US" b="1" i="1"/>
              <a:t>Perform a physical exam</a:t>
            </a:r>
            <a:r>
              <a:rPr lang="en-US"/>
              <a:t>:</a:t>
            </a:r>
            <a:endParaRPr/>
          </a:p>
          <a:p>
            <a:pPr marL="876300" lvl="2" indent="-219075">
              <a:spcBef>
                <a:spcPts val="900"/>
              </a:spcBef>
            </a:pPr>
            <a:r>
              <a:rPr lang="en-US"/>
              <a:t>General assessment, HEENT, cardio and vascular exams, lungs, GI, neuro, lymph, psych</a:t>
            </a:r>
            <a:endParaRPr/>
          </a:p>
          <a:p>
            <a:pPr marL="876300" lvl="2" indent="-15875">
              <a:spcBef>
                <a:spcPts val="900"/>
              </a:spcBef>
              <a:buNone/>
            </a:pPr>
            <a:endParaRPr/>
          </a:p>
          <a:p>
            <a:pPr marL="277813" indent="-514350">
              <a:spcBef>
                <a:spcPts val="900"/>
              </a:spcBef>
              <a:buFont typeface="Calibri"/>
              <a:buAutoNum type="arabicPeriod" startAt="4"/>
            </a:pPr>
            <a:r>
              <a:rPr lang="en-US" b="1" i="1"/>
              <a:t>Review lab results </a:t>
            </a:r>
            <a:r>
              <a:rPr lang="en-US"/>
              <a:t>if present, or if due, order regular labs. </a:t>
            </a:r>
            <a:endParaRPr/>
          </a:p>
          <a:p>
            <a:pPr marL="876300" lvl="2" indent="-219075">
              <a:spcBef>
                <a:spcPts val="900"/>
              </a:spcBef>
              <a:buSzPts val="3000"/>
            </a:pPr>
            <a:r>
              <a:rPr lang="en-US" sz="3000"/>
              <a:t>Frequency depends on chronicity and HTN control. </a:t>
            </a:r>
            <a:endParaRPr/>
          </a:p>
          <a:p>
            <a:pPr marL="876300" lvl="2" indent="-219075">
              <a:spcBef>
                <a:spcPts val="900"/>
              </a:spcBef>
              <a:buSzPts val="3000"/>
            </a:pPr>
            <a:r>
              <a:rPr lang="en-US" sz="3000"/>
              <a:t>Will likely include chemistry panel, and screening for comorbid conditions (A1c and lipid panel).</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53"/>
        <p:cNvGrpSpPr/>
        <p:nvPr/>
      </p:nvGrpSpPr>
      <p:grpSpPr>
        <a:xfrm>
          <a:off x="0" y="0"/>
          <a:ext cx="0" cy="0"/>
          <a:chOff x="0" y="0"/>
          <a:chExt cx="0" cy="0"/>
        </a:xfrm>
      </p:grpSpPr>
      <p:sp>
        <p:nvSpPr>
          <p:cNvPr id="954" name="Google Shape;954;p122"/>
          <p:cNvSpPr txBox="1">
            <a:spLocks noGrp="1"/>
          </p:cNvSpPr>
          <p:nvPr>
            <p:ph type="title"/>
          </p:nvPr>
        </p:nvSpPr>
        <p:spPr>
          <a:xfrm>
            <a:off x="1801505" y="171450"/>
            <a:ext cx="8534400" cy="685800"/>
          </a:xfrm>
          <a:prstGeom prst="rect">
            <a:avLst/>
          </a:prstGeom>
          <a:noFill/>
          <a:ln>
            <a:noFill/>
          </a:ln>
        </p:spPr>
        <p:txBody>
          <a:bodyPr spcFirstLastPara="1" wrap="square" lIns="50800" tIns="50800" rIns="50800" bIns="50800" anchor="ctr" anchorCtr="0">
            <a:noAutofit/>
          </a:bodyPr>
          <a:lstStyle/>
          <a:p>
            <a:r>
              <a:rPr lang="en-US"/>
              <a:t>Long Term Management of HTN</a:t>
            </a:r>
            <a:endParaRPr/>
          </a:p>
        </p:txBody>
      </p:sp>
      <p:sp>
        <p:nvSpPr>
          <p:cNvPr id="955" name="Google Shape;955;p122"/>
          <p:cNvSpPr txBox="1">
            <a:spLocks noGrp="1"/>
          </p:cNvSpPr>
          <p:nvPr>
            <p:ph type="body" idx="1"/>
          </p:nvPr>
        </p:nvSpPr>
        <p:spPr>
          <a:xfrm>
            <a:off x="386500" y="990600"/>
            <a:ext cx="11528980" cy="5867400"/>
          </a:xfrm>
          <a:prstGeom prst="rect">
            <a:avLst/>
          </a:prstGeom>
          <a:noFill/>
          <a:ln>
            <a:noFill/>
          </a:ln>
        </p:spPr>
        <p:txBody>
          <a:bodyPr spcFirstLastPara="1" wrap="square" lIns="38100" tIns="38100" rIns="38100" bIns="38100" anchor="t" anchorCtr="0">
            <a:noAutofit/>
          </a:bodyPr>
          <a:lstStyle/>
          <a:p>
            <a:pPr marL="219075" indent="-219075">
              <a:spcBef>
                <a:spcPts val="0"/>
              </a:spcBef>
            </a:pPr>
            <a:r>
              <a:rPr lang="en-US" dirty="0"/>
              <a:t>Chronic care visit with the HTN patient:</a:t>
            </a:r>
            <a:endParaRPr dirty="0"/>
          </a:p>
          <a:p>
            <a:pPr marL="404416" indent="-404416">
              <a:spcBef>
                <a:spcPts val="900"/>
              </a:spcBef>
              <a:buFont typeface="Calibri"/>
              <a:buAutoNum type="arabicPeriod" startAt="6"/>
            </a:pPr>
            <a:r>
              <a:rPr lang="en-US" b="1" i="1" dirty="0"/>
              <a:t>Assess</a:t>
            </a:r>
            <a:r>
              <a:rPr lang="en-US" dirty="0"/>
              <a:t> how </a:t>
            </a:r>
            <a:r>
              <a:rPr lang="en-US" b="1" i="1" dirty="0"/>
              <a:t>lifestyle change </a:t>
            </a:r>
            <a:r>
              <a:rPr lang="en-US" dirty="0"/>
              <a:t>is going</a:t>
            </a:r>
            <a:endParaRPr dirty="0"/>
          </a:p>
          <a:p>
            <a:pPr marL="876300" lvl="2" indent="-219075">
              <a:spcBef>
                <a:spcPts val="900"/>
              </a:spcBef>
            </a:pPr>
            <a:r>
              <a:rPr lang="en-US" dirty="0"/>
              <a:t>At minimum address one needed lifestyle management goal per chronic visit.</a:t>
            </a:r>
            <a:endParaRPr dirty="0"/>
          </a:p>
          <a:p>
            <a:pPr marL="876300" lvl="2" indent="-219075">
              <a:spcBef>
                <a:spcPts val="900"/>
              </a:spcBef>
            </a:pPr>
            <a:r>
              <a:rPr lang="en-US" dirty="0"/>
              <a:t>Needs to be measurable, attainable, and should be reassessed at all chronic care visits.</a:t>
            </a:r>
            <a:endParaRPr dirty="0"/>
          </a:p>
          <a:p>
            <a:pPr marL="876300" lvl="2" indent="-15875">
              <a:spcBef>
                <a:spcPts val="900"/>
              </a:spcBef>
              <a:buNone/>
            </a:pPr>
            <a:endParaRPr dirty="0"/>
          </a:p>
          <a:p>
            <a:pPr marL="277813" indent="-514350">
              <a:spcBef>
                <a:spcPts val="900"/>
              </a:spcBef>
              <a:buFont typeface="Calibri"/>
              <a:buAutoNum type="arabicPeriod" startAt="6"/>
            </a:pPr>
            <a:r>
              <a:rPr lang="en-US" b="1" i="1" dirty="0"/>
              <a:t>Treatment plan</a:t>
            </a:r>
            <a:r>
              <a:rPr lang="en-US" dirty="0"/>
              <a:t>: Decide if the medication regimen needs to be adjusted or if any additional work-up is needed.</a:t>
            </a:r>
            <a:endParaRPr dirty="0"/>
          </a:p>
          <a:p>
            <a:pPr marL="548879" lvl="1" indent="-15875">
              <a:spcBef>
                <a:spcPts val="900"/>
              </a:spcBef>
              <a:buNone/>
            </a:pP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59"/>
        <p:cNvGrpSpPr/>
        <p:nvPr/>
      </p:nvGrpSpPr>
      <p:grpSpPr>
        <a:xfrm>
          <a:off x="0" y="0"/>
          <a:ext cx="0" cy="0"/>
          <a:chOff x="0" y="0"/>
          <a:chExt cx="0" cy="0"/>
        </a:xfrm>
      </p:grpSpPr>
      <p:sp>
        <p:nvSpPr>
          <p:cNvPr id="960" name="Google Shape;960;p123"/>
          <p:cNvSpPr txBox="1">
            <a:spLocks noGrp="1"/>
          </p:cNvSpPr>
          <p:nvPr>
            <p:ph type="title"/>
          </p:nvPr>
        </p:nvSpPr>
        <p:spPr>
          <a:xfrm>
            <a:off x="1849839" y="171450"/>
            <a:ext cx="8632210" cy="685800"/>
          </a:xfrm>
          <a:prstGeom prst="rect">
            <a:avLst/>
          </a:prstGeom>
          <a:noFill/>
          <a:ln>
            <a:noFill/>
          </a:ln>
        </p:spPr>
        <p:txBody>
          <a:bodyPr spcFirstLastPara="1" wrap="square" lIns="50800" tIns="50800" rIns="50800" bIns="50800" anchor="ctr" anchorCtr="0">
            <a:noAutofit/>
          </a:bodyPr>
          <a:lstStyle/>
          <a:p>
            <a:r>
              <a:rPr lang="en-US"/>
              <a:t>Long Term Management of HTN</a:t>
            </a:r>
            <a:endParaRPr/>
          </a:p>
        </p:txBody>
      </p:sp>
      <p:sp>
        <p:nvSpPr>
          <p:cNvPr id="961" name="Google Shape;961;p123"/>
          <p:cNvSpPr txBox="1">
            <a:spLocks noGrp="1"/>
          </p:cNvSpPr>
          <p:nvPr>
            <p:ph type="body" idx="1"/>
          </p:nvPr>
        </p:nvSpPr>
        <p:spPr>
          <a:xfrm>
            <a:off x="622170" y="1066800"/>
            <a:ext cx="11217896" cy="5619750"/>
          </a:xfrm>
          <a:prstGeom prst="rect">
            <a:avLst/>
          </a:prstGeom>
          <a:noFill/>
          <a:ln>
            <a:noFill/>
          </a:ln>
        </p:spPr>
        <p:txBody>
          <a:bodyPr spcFirstLastPara="1" wrap="square" lIns="38100" tIns="38100" rIns="38100" bIns="38100" anchor="t" anchorCtr="0">
            <a:noAutofit/>
          </a:bodyPr>
          <a:lstStyle/>
          <a:p>
            <a:pPr marL="219075" indent="-219075">
              <a:spcBef>
                <a:spcPts val="0"/>
              </a:spcBef>
            </a:pPr>
            <a:r>
              <a:rPr lang="en-US" dirty="0"/>
              <a:t>Chronic care visit with the HTN patient:</a:t>
            </a:r>
            <a:endParaRPr dirty="0"/>
          </a:p>
          <a:p>
            <a:pPr marL="404416" indent="-404416">
              <a:spcBef>
                <a:spcPts val="900"/>
              </a:spcBef>
              <a:buFont typeface="Calibri"/>
              <a:buAutoNum type="arabicPeriod" startAt="8"/>
            </a:pPr>
            <a:r>
              <a:rPr lang="en-US" b="1" i="1" dirty="0"/>
              <a:t>Follow-up care</a:t>
            </a:r>
            <a:endParaRPr dirty="0"/>
          </a:p>
          <a:p>
            <a:pPr marL="787004" lvl="1" indent="-457200">
              <a:spcBef>
                <a:spcPts val="900"/>
              </a:spcBef>
            </a:pPr>
            <a:r>
              <a:rPr lang="en-US" b="1" dirty="0"/>
              <a:t>Decide on office follow up visit time frame:</a:t>
            </a:r>
            <a:endParaRPr b="1" dirty="0"/>
          </a:p>
          <a:p>
            <a:pPr marL="876300" lvl="2" indent="-219075">
              <a:spcBef>
                <a:spcPts val="900"/>
              </a:spcBef>
            </a:pPr>
            <a:r>
              <a:rPr lang="en-US" dirty="0"/>
              <a:t>Uncontrolled and noncompliant pts: 2-4 weeks</a:t>
            </a:r>
            <a:endParaRPr dirty="0"/>
          </a:p>
          <a:p>
            <a:pPr marL="876300" lvl="2" indent="-219075">
              <a:spcBef>
                <a:spcPts val="900"/>
              </a:spcBef>
            </a:pPr>
            <a:r>
              <a:rPr lang="en-US" dirty="0"/>
              <a:t>Slightly uncontrolled and compliant: 3 months</a:t>
            </a:r>
            <a:endParaRPr dirty="0"/>
          </a:p>
          <a:p>
            <a:pPr marL="876300" lvl="2" indent="-219075">
              <a:spcBef>
                <a:spcPts val="900"/>
              </a:spcBef>
            </a:pPr>
            <a:r>
              <a:rPr lang="en-US" dirty="0"/>
              <a:t>Controlled and compliant with risk factors for progression: 3-6 months</a:t>
            </a:r>
            <a:endParaRPr dirty="0"/>
          </a:p>
          <a:p>
            <a:pPr marL="876300" lvl="2" indent="-219075">
              <a:spcBef>
                <a:spcPts val="900"/>
              </a:spcBef>
            </a:pPr>
            <a:r>
              <a:rPr lang="en-US" dirty="0"/>
              <a:t>Chronically well controlled, compliant, and otherwise healthy: 6 months</a:t>
            </a: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65"/>
        <p:cNvGrpSpPr/>
        <p:nvPr/>
      </p:nvGrpSpPr>
      <p:grpSpPr>
        <a:xfrm>
          <a:off x="0" y="0"/>
          <a:ext cx="0" cy="0"/>
          <a:chOff x="0" y="0"/>
          <a:chExt cx="0" cy="0"/>
        </a:xfrm>
      </p:grpSpPr>
      <p:pic>
        <p:nvPicPr>
          <p:cNvPr id="3" name="Picture 2">
            <a:extLst>
              <a:ext uri="{FF2B5EF4-FFF2-40B4-BE49-F238E27FC236}">
                <a16:creationId xmlns:a16="http://schemas.microsoft.com/office/drawing/2014/main" id="{ACA94328-1CEC-C3C5-2C38-2C90BD51C53F}"/>
              </a:ext>
            </a:extLst>
          </p:cNvPr>
          <p:cNvPicPr>
            <a:picLocks noChangeAspect="1"/>
          </p:cNvPicPr>
          <p:nvPr/>
        </p:nvPicPr>
        <p:blipFill>
          <a:blip r:embed="rId3"/>
          <a:srcRect b="13422"/>
          <a:stretch>
            <a:fillRect/>
          </a:stretch>
        </p:blipFill>
        <p:spPr>
          <a:xfrm>
            <a:off x="3110369" y="0"/>
            <a:ext cx="9081631" cy="6838982"/>
          </a:xfrm>
          <a:prstGeom prst="rect">
            <a:avLst/>
          </a:prstGeom>
        </p:spPr>
      </p:pic>
      <p:sp>
        <p:nvSpPr>
          <p:cNvPr id="4" name="TextBox 3">
            <a:extLst>
              <a:ext uri="{FF2B5EF4-FFF2-40B4-BE49-F238E27FC236}">
                <a16:creationId xmlns:a16="http://schemas.microsoft.com/office/drawing/2014/main" id="{8A0D0387-B423-362F-5E5C-509BAAC54272}"/>
              </a:ext>
            </a:extLst>
          </p:cNvPr>
          <p:cNvSpPr txBox="1"/>
          <p:nvPr/>
        </p:nvSpPr>
        <p:spPr>
          <a:xfrm>
            <a:off x="344592" y="523169"/>
            <a:ext cx="2584906" cy="1569660"/>
          </a:xfrm>
          <a:prstGeom prst="rect">
            <a:avLst/>
          </a:prstGeom>
          <a:noFill/>
        </p:spPr>
        <p:txBody>
          <a:bodyPr wrap="square" rtlCol="0">
            <a:spAutoFit/>
          </a:bodyPr>
          <a:lstStyle/>
          <a:p>
            <a:pPr algn="ctr"/>
            <a:r>
              <a:rPr lang="en-US" sz="3200" dirty="0"/>
              <a:t>Indications for Treatment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65">
          <a:extLst>
            <a:ext uri="{FF2B5EF4-FFF2-40B4-BE49-F238E27FC236}">
              <a16:creationId xmlns:a16="http://schemas.microsoft.com/office/drawing/2014/main" id="{7CF9C0B1-04E2-4A42-0179-A37FAA10467E}"/>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4E75284A-5FDB-FD4F-A005-93B55F65A474}"/>
              </a:ext>
            </a:extLst>
          </p:cNvPr>
          <p:cNvPicPr>
            <a:picLocks noChangeAspect="1"/>
          </p:cNvPicPr>
          <p:nvPr/>
        </p:nvPicPr>
        <p:blipFill>
          <a:blip r:embed="rId3"/>
          <a:stretch>
            <a:fillRect/>
          </a:stretch>
        </p:blipFill>
        <p:spPr>
          <a:xfrm>
            <a:off x="3215473" y="0"/>
            <a:ext cx="8681775" cy="6858000"/>
          </a:xfrm>
          <a:prstGeom prst="rect">
            <a:avLst/>
          </a:prstGeom>
        </p:spPr>
      </p:pic>
      <p:sp>
        <p:nvSpPr>
          <p:cNvPr id="11" name="TextBox 10">
            <a:extLst>
              <a:ext uri="{FF2B5EF4-FFF2-40B4-BE49-F238E27FC236}">
                <a16:creationId xmlns:a16="http://schemas.microsoft.com/office/drawing/2014/main" id="{B6AE2130-A366-B129-2AD4-B99483B871D1}"/>
              </a:ext>
            </a:extLst>
          </p:cNvPr>
          <p:cNvSpPr txBox="1"/>
          <p:nvPr/>
        </p:nvSpPr>
        <p:spPr>
          <a:xfrm>
            <a:off x="344592" y="523169"/>
            <a:ext cx="2584906" cy="1569660"/>
          </a:xfrm>
          <a:prstGeom prst="rect">
            <a:avLst/>
          </a:prstGeom>
          <a:noFill/>
        </p:spPr>
        <p:txBody>
          <a:bodyPr wrap="square" rtlCol="0">
            <a:spAutoFit/>
          </a:bodyPr>
          <a:lstStyle/>
          <a:p>
            <a:pPr algn="ctr"/>
            <a:r>
              <a:rPr lang="en-US" sz="3200" dirty="0"/>
              <a:t>Indications for Treatment</a:t>
            </a:r>
          </a:p>
        </p:txBody>
      </p:sp>
    </p:spTree>
    <p:extLst>
      <p:ext uri="{BB962C8B-B14F-4D97-AF65-F5344CB8AC3E}">
        <p14:creationId xmlns:p14="http://schemas.microsoft.com/office/powerpoint/2010/main" val="19137600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88"/>
        <p:cNvGrpSpPr/>
        <p:nvPr/>
      </p:nvGrpSpPr>
      <p:grpSpPr>
        <a:xfrm>
          <a:off x="0" y="0"/>
          <a:ext cx="0" cy="0"/>
          <a:chOff x="0" y="0"/>
          <a:chExt cx="0" cy="0"/>
        </a:xfrm>
      </p:grpSpPr>
      <p:sp>
        <p:nvSpPr>
          <p:cNvPr id="990" name="Google Shape;990;p128"/>
          <p:cNvSpPr txBox="1">
            <a:spLocks noGrp="1"/>
          </p:cNvSpPr>
          <p:nvPr>
            <p:ph type="body" idx="1"/>
          </p:nvPr>
        </p:nvSpPr>
        <p:spPr>
          <a:xfrm>
            <a:off x="1608222" y="1219200"/>
            <a:ext cx="8907379" cy="5562600"/>
          </a:xfrm>
          <a:prstGeom prst="rect">
            <a:avLst/>
          </a:prstGeom>
          <a:noFill/>
          <a:ln>
            <a:noFill/>
          </a:ln>
        </p:spPr>
        <p:txBody>
          <a:bodyPr spcFirstLastPara="1" wrap="square" lIns="50800" tIns="50800" rIns="50800" bIns="50800" anchor="t" anchorCtr="0">
            <a:noAutofit/>
          </a:bodyPr>
          <a:lstStyle/>
          <a:p>
            <a:pPr marL="342900" indent="-342900">
              <a:spcBef>
                <a:spcPts val="0"/>
              </a:spcBef>
            </a:pPr>
            <a:endParaRPr lang="en-US"/>
          </a:p>
          <a:p>
            <a:pPr marL="0" indent="0">
              <a:spcBef>
                <a:spcPts val="0"/>
              </a:spcBef>
              <a:buNone/>
            </a:pPr>
            <a:endParaRPr/>
          </a:p>
          <a:p>
            <a:pPr marL="0" indent="0">
              <a:buNone/>
            </a:pPr>
            <a:r>
              <a:rPr lang="en-US"/>
              <a:t> </a:t>
            </a:r>
            <a:endParaRPr/>
          </a:p>
        </p:txBody>
      </p:sp>
      <p:graphicFrame>
        <p:nvGraphicFramePr>
          <p:cNvPr id="2" name="Table 1">
            <a:extLst>
              <a:ext uri="{FF2B5EF4-FFF2-40B4-BE49-F238E27FC236}">
                <a16:creationId xmlns:a16="http://schemas.microsoft.com/office/drawing/2014/main" id="{BCE4D004-0C12-0984-9311-AB0EFF5D2545}"/>
              </a:ext>
            </a:extLst>
          </p:cNvPr>
          <p:cNvGraphicFramePr>
            <a:graphicFrameLocks noGrp="1"/>
          </p:cNvGraphicFramePr>
          <p:nvPr>
            <p:extLst>
              <p:ext uri="{D42A27DB-BD31-4B8C-83A1-F6EECF244321}">
                <p14:modId xmlns:p14="http://schemas.microsoft.com/office/powerpoint/2010/main" val="656326517"/>
              </p:ext>
            </p:extLst>
          </p:nvPr>
        </p:nvGraphicFramePr>
        <p:xfrm>
          <a:off x="1676400" y="1"/>
          <a:ext cx="8907378" cy="6877563"/>
        </p:xfrm>
        <a:graphic>
          <a:graphicData uri="http://schemas.openxmlformats.org/drawingml/2006/table">
            <a:tbl>
              <a:tblPr/>
              <a:tblGrid>
                <a:gridCol w="2501664">
                  <a:extLst>
                    <a:ext uri="{9D8B030D-6E8A-4147-A177-3AD203B41FA5}">
                      <a16:colId xmlns:a16="http://schemas.microsoft.com/office/drawing/2014/main" val="637666600"/>
                    </a:ext>
                  </a:extLst>
                </a:gridCol>
                <a:gridCol w="6405714">
                  <a:extLst>
                    <a:ext uri="{9D8B030D-6E8A-4147-A177-3AD203B41FA5}">
                      <a16:colId xmlns:a16="http://schemas.microsoft.com/office/drawing/2014/main" val="2326860871"/>
                    </a:ext>
                  </a:extLst>
                </a:gridCol>
              </a:tblGrid>
              <a:tr h="774001">
                <a:tc>
                  <a:txBody>
                    <a:bodyPr/>
                    <a:lstStyle/>
                    <a:p>
                      <a:pPr algn="ctr"/>
                      <a:r>
                        <a:rPr lang="en-US" sz="2400" b="1" dirty="0">
                          <a:effectLst/>
                          <a:latin typeface="Calibri" panose="020F0502020204030204" pitchFamily="34" charset="0"/>
                          <a:cs typeface="Calibri" panose="020F0502020204030204" pitchFamily="34" charset="0"/>
                        </a:rPr>
                        <a:t>BP Category</a:t>
                      </a:r>
                    </a:p>
                    <a:p>
                      <a:pPr algn="ctr"/>
                      <a:r>
                        <a:rPr lang="en-US" sz="2400" b="1" dirty="0">
                          <a:effectLst/>
                          <a:latin typeface="Calibri" panose="020F0502020204030204" pitchFamily="34" charset="0"/>
                          <a:cs typeface="Calibri" panose="020F0502020204030204" pitchFamily="34" charset="0"/>
                        </a:rPr>
                        <a:t>Pressure Ranges</a:t>
                      </a:r>
                      <a:endParaRPr lang="en-US" sz="2400" dirty="0">
                        <a:effectLst/>
                        <a:latin typeface="Calibri" panose="020F0502020204030204" pitchFamily="34" charset="0"/>
                        <a:cs typeface="Calibri" panose="020F0502020204030204" pitchFamily="34" charset="0"/>
                      </a:endParaRPr>
                    </a:p>
                  </a:txBody>
                  <a:tcPr marL="23445" marR="23445" marT="23445" marB="23445">
                    <a:lnL w="9525" cap="flat" cmpd="sng" algn="ctr">
                      <a:solidFill>
                        <a:srgbClr val="A8A8A8"/>
                      </a:solidFill>
                      <a:prstDash val="solid"/>
                      <a:round/>
                      <a:headEnd type="none" w="med" len="med"/>
                      <a:tailEnd type="none" w="med" len="med"/>
                    </a:lnL>
                    <a:lnR w="9525" cap="flat" cmpd="sng" algn="ctr">
                      <a:solidFill>
                        <a:srgbClr val="A8A8A8"/>
                      </a:solidFill>
                      <a:prstDash val="solid"/>
                      <a:round/>
                      <a:headEnd type="none" w="med" len="med"/>
                      <a:tailEnd type="none" w="med" len="med"/>
                    </a:lnR>
                    <a:lnT w="9525" cap="flat" cmpd="sng" algn="ctr">
                      <a:solidFill>
                        <a:srgbClr val="D0D118"/>
                      </a:solidFill>
                      <a:prstDash val="solid"/>
                      <a:round/>
                      <a:headEnd type="none" w="med" len="med"/>
                      <a:tailEnd type="none" w="med" len="med"/>
                    </a:lnT>
                    <a:lnB w="9525" cap="flat" cmpd="sng" algn="ctr">
                      <a:solidFill>
                        <a:srgbClr val="50CF18"/>
                      </a:solidFill>
                      <a:prstDash val="solid"/>
                      <a:round/>
                      <a:headEnd type="none" w="med" len="med"/>
                      <a:tailEnd type="none" w="med" len="med"/>
                    </a:lnB>
                    <a:solidFill>
                      <a:srgbClr val="EBEBEB"/>
                    </a:solidFill>
                  </a:tcPr>
                </a:tc>
                <a:tc>
                  <a:txBody>
                    <a:bodyPr/>
                    <a:lstStyle/>
                    <a:p>
                      <a:pPr algn="ctr"/>
                      <a:r>
                        <a:rPr lang="en-US" sz="2400" b="1" dirty="0">
                          <a:effectLst/>
                          <a:latin typeface="Calibri" panose="020F0502020204030204" pitchFamily="34" charset="0"/>
                          <a:cs typeface="Calibri" panose="020F0502020204030204" pitchFamily="34" charset="0"/>
                        </a:rPr>
                        <a:t>Recommendations</a:t>
                      </a:r>
                      <a:endParaRPr lang="en-US" sz="2400" dirty="0">
                        <a:effectLst/>
                        <a:latin typeface="Calibri" panose="020F0502020204030204" pitchFamily="34" charset="0"/>
                        <a:cs typeface="Calibri" panose="020F0502020204030204" pitchFamily="34" charset="0"/>
                      </a:endParaRPr>
                    </a:p>
                  </a:txBody>
                  <a:tcPr marL="23445" marR="23445" marT="23445" marB="23445">
                    <a:lnL w="9525" cap="flat" cmpd="sng" algn="ctr">
                      <a:solidFill>
                        <a:srgbClr val="A8A8A8"/>
                      </a:solidFill>
                      <a:prstDash val="solid"/>
                      <a:round/>
                      <a:headEnd type="none" w="med" len="med"/>
                      <a:tailEnd type="none" w="med" len="med"/>
                    </a:lnL>
                    <a:lnR w="9525" cap="flat" cmpd="sng" algn="ctr">
                      <a:solidFill>
                        <a:srgbClr val="90FE18"/>
                      </a:solidFill>
                      <a:prstDash val="solid"/>
                      <a:round/>
                      <a:headEnd type="none" w="med" len="med"/>
                      <a:tailEnd type="none" w="med" len="med"/>
                    </a:lnR>
                    <a:lnT w="9525" cap="flat" cmpd="sng" algn="ctr">
                      <a:solidFill>
                        <a:srgbClr val="D0C518"/>
                      </a:solidFill>
                      <a:prstDash val="solid"/>
                      <a:round/>
                      <a:headEnd type="none" w="med" len="med"/>
                      <a:tailEnd type="none" w="med" len="med"/>
                    </a:lnT>
                    <a:lnB w="9525" cap="flat" cmpd="sng" algn="ctr">
                      <a:solidFill>
                        <a:srgbClr val="A0C618"/>
                      </a:solidFill>
                      <a:prstDash val="solid"/>
                      <a:round/>
                      <a:headEnd type="none" w="med" len="med"/>
                      <a:tailEnd type="none" w="med" len="med"/>
                    </a:lnB>
                    <a:solidFill>
                      <a:srgbClr val="EBEBEB"/>
                    </a:solidFill>
                  </a:tcPr>
                </a:tc>
                <a:extLst>
                  <a:ext uri="{0D108BD9-81ED-4DB2-BD59-A6C34878D82A}">
                    <a16:rowId xmlns:a16="http://schemas.microsoft.com/office/drawing/2014/main" val="3023660329"/>
                  </a:ext>
                </a:extLst>
              </a:tr>
              <a:tr h="653361">
                <a:tc>
                  <a:txBody>
                    <a:bodyPr/>
                    <a:lstStyle/>
                    <a:p>
                      <a:pPr algn="ctr"/>
                      <a:r>
                        <a:rPr lang="en-US" sz="2000">
                          <a:effectLst/>
                          <a:latin typeface="Calibri" panose="020F0502020204030204" pitchFamily="34" charset="0"/>
                          <a:cs typeface="Calibri" panose="020F0502020204030204" pitchFamily="34" charset="0"/>
                        </a:rPr>
                        <a:t>Normal BP</a:t>
                      </a:r>
                    </a:p>
                    <a:p>
                      <a:pPr algn="ctr"/>
                      <a:r>
                        <a:rPr lang="en-US" sz="2000">
                          <a:effectLst/>
                          <a:latin typeface="Calibri" panose="020F0502020204030204" pitchFamily="34" charset="0"/>
                          <a:cs typeface="Calibri" panose="020F0502020204030204" pitchFamily="34" charset="0"/>
                        </a:rPr>
                        <a:t>&lt;120/&lt;80 mmHg</a:t>
                      </a:r>
                    </a:p>
                  </a:txBody>
                  <a:tcPr marL="23445" marR="23445" marT="23445" marB="23445" anchor="ctr">
                    <a:lnL w="9525" cap="flat" cmpd="sng" algn="ctr">
                      <a:solidFill>
                        <a:srgbClr val="A8A8A8"/>
                      </a:solidFill>
                      <a:prstDash val="solid"/>
                      <a:round/>
                      <a:headEnd type="none" w="med" len="med"/>
                      <a:tailEnd type="none" w="med" len="med"/>
                    </a:lnL>
                    <a:lnR w="9525" cap="flat" cmpd="sng" algn="ctr">
                      <a:solidFill>
                        <a:srgbClr val="A8A8A8"/>
                      </a:solidFill>
                      <a:prstDash val="solid"/>
                      <a:round/>
                      <a:headEnd type="none" w="med" len="med"/>
                      <a:tailEnd type="none" w="med" len="med"/>
                    </a:lnR>
                    <a:lnT w="9525" cap="flat" cmpd="sng" algn="ctr">
                      <a:solidFill>
                        <a:srgbClr val="50CF18"/>
                      </a:solidFill>
                      <a:prstDash val="solid"/>
                      <a:round/>
                      <a:headEnd type="none" w="med" len="med"/>
                      <a:tailEnd type="none" w="med" len="med"/>
                    </a:lnT>
                    <a:lnB w="9525" cap="flat" cmpd="sng" algn="ctr">
                      <a:solidFill>
                        <a:srgbClr val="40CF18"/>
                      </a:solidFill>
                      <a:prstDash val="solid"/>
                      <a:round/>
                      <a:headEnd type="none" w="med" len="med"/>
                      <a:tailEnd type="none" w="med" len="med"/>
                    </a:lnB>
                    <a:solidFill>
                      <a:srgbClr val="FFFFFF"/>
                    </a:solidFill>
                  </a:tcPr>
                </a:tc>
                <a:tc>
                  <a:txBody>
                    <a:bodyPr/>
                    <a:lstStyle/>
                    <a:p>
                      <a:pPr algn="l"/>
                      <a:r>
                        <a:rPr lang="en-US" sz="2000">
                          <a:effectLst/>
                          <a:latin typeface="Calibri" panose="020F0502020204030204" pitchFamily="34" charset="0"/>
                          <a:cs typeface="Calibri" panose="020F0502020204030204" pitchFamily="34" charset="0"/>
                        </a:rPr>
                        <a:t> Promote healthy lifestyle; reassess BP annually.</a:t>
                      </a:r>
                    </a:p>
                  </a:txBody>
                  <a:tcPr marL="23445" marR="23445" marT="23445" marB="23445" anchor="ctr">
                    <a:lnL w="9525" cap="flat" cmpd="sng" algn="ctr">
                      <a:solidFill>
                        <a:srgbClr val="A8A8A8"/>
                      </a:solidFill>
                      <a:prstDash val="solid"/>
                      <a:round/>
                      <a:headEnd type="none" w="med" len="med"/>
                      <a:tailEnd type="none" w="med" len="med"/>
                    </a:lnL>
                    <a:lnR w="9525" cap="flat" cmpd="sng" algn="ctr">
                      <a:solidFill>
                        <a:srgbClr val="50DE18"/>
                      </a:solidFill>
                      <a:prstDash val="solid"/>
                      <a:round/>
                      <a:headEnd type="none" w="med" len="med"/>
                      <a:tailEnd type="none" w="med" len="med"/>
                    </a:lnR>
                    <a:lnT w="9525" cap="flat" cmpd="sng" algn="ctr">
                      <a:solidFill>
                        <a:srgbClr val="A0C618"/>
                      </a:solidFill>
                      <a:prstDash val="solid"/>
                      <a:round/>
                      <a:headEnd type="none" w="med" len="med"/>
                      <a:tailEnd type="none" w="med" len="med"/>
                    </a:lnT>
                    <a:lnB w="9525" cap="flat" cmpd="sng" algn="ctr">
                      <a:solidFill>
                        <a:srgbClr val="D0DF18"/>
                      </a:solidFill>
                      <a:prstDash val="solid"/>
                      <a:round/>
                      <a:headEnd type="none" w="med" len="med"/>
                      <a:tailEnd type="none" w="med" len="med"/>
                    </a:lnB>
                    <a:solidFill>
                      <a:srgbClr val="FFFFFF"/>
                    </a:solidFill>
                  </a:tcPr>
                </a:tc>
                <a:extLst>
                  <a:ext uri="{0D108BD9-81ED-4DB2-BD59-A6C34878D82A}">
                    <a16:rowId xmlns:a16="http://schemas.microsoft.com/office/drawing/2014/main" val="3342088204"/>
                  </a:ext>
                </a:extLst>
              </a:tr>
              <a:tr h="653361">
                <a:tc>
                  <a:txBody>
                    <a:bodyPr/>
                    <a:lstStyle/>
                    <a:p>
                      <a:pPr algn="ctr"/>
                      <a:r>
                        <a:rPr lang="en-US" sz="2000">
                          <a:effectLst/>
                          <a:latin typeface="Calibri" panose="020F0502020204030204" pitchFamily="34" charset="0"/>
                          <a:cs typeface="Calibri" panose="020F0502020204030204" pitchFamily="34" charset="0"/>
                        </a:rPr>
                        <a:t>Elevated BP</a:t>
                      </a:r>
                    </a:p>
                    <a:p>
                      <a:pPr algn="ctr"/>
                      <a:r>
                        <a:rPr lang="en-US" sz="2000">
                          <a:effectLst/>
                          <a:latin typeface="Calibri" panose="020F0502020204030204" pitchFamily="34" charset="0"/>
                          <a:cs typeface="Calibri" panose="020F0502020204030204" pitchFamily="34" charset="0"/>
                        </a:rPr>
                        <a:t>120-129/ &lt;80 mmHg</a:t>
                      </a:r>
                    </a:p>
                  </a:txBody>
                  <a:tcPr marL="23445" marR="23445" marT="23445" marB="23445" anchor="ctr">
                    <a:lnL w="9525" cap="flat" cmpd="sng" algn="ctr">
                      <a:solidFill>
                        <a:srgbClr val="A8A8A8"/>
                      </a:solidFill>
                      <a:prstDash val="solid"/>
                      <a:round/>
                      <a:headEnd type="none" w="med" len="med"/>
                      <a:tailEnd type="none" w="med" len="med"/>
                    </a:lnL>
                    <a:lnR w="9525" cap="flat" cmpd="sng" algn="ctr">
                      <a:solidFill>
                        <a:srgbClr val="A8A8A8"/>
                      </a:solidFill>
                      <a:prstDash val="solid"/>
                      <a:round/>
                      <a:headEnd type="none" w="med" len="med"/>
                      <a:tailEnd type="none" w="med" len="med"/>
                    </a:lnR>
                    <a:lnT w="9525" cap="flat" cmpd="sng" algn="ctr">
                      <a:solidFill>
                        <a:srgbClr val="40CF18"/>
                      </a:solidFill>
                      <a:prstDash val="solid"/>
                      <a:round/>
                      <a:headEnd type="none" w="med" len="med"/>
                      <a:tailEnd type="none" w="med" len="med"/>
                    </a:lnT>
                    <a:lnB w="9525" cap="flat" cmpd="sng" algn="ctr">
                      <a:solidFill>
                        <a:srgbClr val="40E918"/>
                      </a:solidFill>
                      <a:prstDash val="solid"/>
                      <a:round/>
                      <a:headEnd type="none" w="med" len="med"/>
                      <a:tailEnd type="none" w="med" len="med"/>
                    </a:lnB>
                    <a:solidFill>
                      <a:srgbClr val="FFFFFF"/>
                    </a:solidFill>
                  </a:tcPr>
                </a:tc>
                <a:tc>
                  <a:txBody>
                    <a:bodyPr/>
                    <a:lstStyle/>
                    <a:p>
                      <a:pPr algn="l"/>
                      <a:r>
                        <a:rPr lang="en-US" sz="2000" dirty="0">
                          <a:effectLst/>
                          <a:latin typeface="Calibri" panose="020F0502020204030204" pitchFamily="34" charset="0"/>
                          <a:cs typeface="Calibri" panose="020F0502020204030204" pitchFamily="34" charset="0"/>
                        </a:rPr>
                        <a:t> Start with nonpharmacologic (TLC) therapy, reassess BP in 3-6 months.</a:t>
                      </a:r>
                    </a:p>
                  </a:txBody>
                  <a:tcPr marL="23445" marR="23445" marT="23445" marB="23445" anchor="ctr">
                    <a:lnL w="9525" cap="flat" cmpd="sng" algn="ctr">
                      <a:solidFill>
                        <a:srgbClr val="A8A8A8"/>
                      </a:solidFill>
                      <a:prstDash val="solid"/>
                      <a:round/>
                      <a:headEnd type="none" w="med" len="med"/>
                      <a:tailEnd type="none" w="med" len="med"/>
                    </a:lnL>
                    <a:lnR w="9525" cap="flat" cmpd="sng" algn="ctr">
                      <a:solidFill>
                        <a:srgbClr val="D0E018"/>
                      </a:solidFill>
                      <a:prstDash val="solid"/>
                      <a:round/>
                      <a:headEnd type="none" w="med" len="med"/>
                      <a:tailEnd type="none" w="med" len="med"/>
                    </a:lnR>
                    <a:lnT w="9525" cap="flat" cmpd="sng" algn="ctr">
                      <a:solidFill>
                        <a:srgbClr val="D0DF18"/>
                      </a:solidFill>
                      <a:prstDash val="solid"/>
                      <a:round/>
                      <a:headEnd type="none" w="med" len="med"/>
                      <a:tailEnd type="none" w="med" len="med"/>
                    </a:lnT>
                    <a:lnB w="9525" cap="flat" cmpd="sng" algn="ctr">
                      <a:solidFill>
                        <a:srgbClr val="70F118"/>
                      </a:solidFill>
                      <a:prstDash val="solid"/>
                      <a:round/>
                      <a:headEnd type="none" w="med" len="med"/>
                      <a:tailEnd type="none" w="med" len="med"/>
                    </a:lnB>
                    <a:solidFill>
                      <a:srgbClr val="FFFFFF"/>
                    </a:solidFill>
                  </a:tcPr>
                </a:tc>
                <a:extLst>
                  <a:ext uri="{0D108BD9-81ED-4DB2-BD59-A6C34878D82A}">
                    <a16:rowId xmlns:a16="http://schemas.microsoft.com/office/drawing/2014/main" val="3753302788"/>
                  </a:ext>
                </a:extLst>
              </a:tr>
              <a:tr h="1674495">
                <a:tc rowSpan="2">
                  <a:txBody>
                    <a:bodyPr/>
                    <a:lstStyle/>
                    <a:p>
                      <a:pPr algn="ctr"/>
                      <a:r>
                        <a:rPr lang="en-US" sz="2000" dirty="0">
                          <a:effectLst/>
                          <a:latin typeface="Calibri" panose="020F0502020204030204" pitchFamily="34" charset="0"/>
                          <a:cs typeface="Calibri" panose="020F0502020204030204" pitchFamily="34" charset="0"/>
                        </a:rPr>
                        <a:t>Stage 1 Hypertension</a:t>
                      </a:r>
                    </a:p>
                    <a:p>
                      <a:pPr algn="ctr"/>
                      <a:r>
                        <a:rPr lang="en-US" sz="2000" dirty="0">
                          <a:effectLst/>
                          <a:latin typeface="Calibri" panose="020F0502020204030204" pitchFamily="34" charset="0"/>
                          <a:cs typeface="Calibri" panose="020F0502020204030204" pitchFamily="34" charset="0"/>
                        </a:rPr>
                        <a:t>Systolic 130-139 or Diastolic 80-89 mmHg</a:t>
                      </a:r>
                    </a:p>
                  </a:txBody>
                  <a:tcPr marL="23445" marR="23445" marT="23445" marB="23445" anchor="ctr">
                    <a:lnL w="9525" cap="flat" cmpd="sng" algn="ctr">
                      <a:solidFill>
                        <a:srgbClr val="A8A8A8"/>
                      </a:solidFill>
                      <a:prstDash val="solid"/>
                      <a:round/>
                      <a:headEnd type="none" w="med" len="med"/>
                      <a:tailEnd type="none" w="med" len="med"/>
                    </a:lnL>
                    <a:lnR w="9525" cap="flat" cmpd="sng" algn="ctr">
                      <a:solidFill>
                        <a:srgbClr val="A8A8A8"/>
                      </a:solidFill>
                      <a:prstDash val="solid"/>
                      <a:round/>
                      <a:headEnd type="none" w="med" len="med"/>
                      <a:tailEnd type="none" w="med" len="med"/>
                    </a:lnR>
                    <a:lnT w="9525" cap="flat" cmpd="sng" algn="ctr">
                      <a:solidFill>
                        <a:srgbClr val="40E918"/>
                      </a:solidFill>
                      <a:prstDash val="solid"/>
                      <a:round/>
                      <a:headEnd type="none" w="med" len="med"/>
                      <a:tailEnd type="none" w="med" len="med"/>
                    </a:lnT>
                    <a:solidFill>
                      <a:srgbClr val="FFFFFF"/>
                    </a:solidFill>
                  </a:tcPr>
                </a:tc>
                <a:tc>
                  <a:txBody>
                    <a:bodyPr/>
                    <a:lstStyle/>
                    <a:p>
                      <a:pPr algn="l"/>
                      <a:r>
                        <a:rPr lang="en-US" sz="2000" b="1" dirty="0">
                          <a:effectLst/>
                          <a:latin typeface="Calibri" panose="020F0502020204030204" pitchFamily="34" charset="0"/>
                          <a:cs typeface="Calibri" panose="020F0502020204030204" pitchFamily="34" charset="0"/>
                        </a:rPr>
                        <a:t>CVD, DM, CKD or 10-year CVD risk ≥7.5%:</a:t>
                      </a:r>
                      <a:br>
                        <a:rPr lang="en-US" sz="2000" dirty="0">
                          <a:effectLst/>
                          <a:latin typeface="Calibri" panose="020F0502020204030204" pitchFamily="34" charset="0"/>
                          <a:cs typeface="Calibri" panose="020F0502020204030204" pitchFamily="34" charset="0"/>
                        </a:rPr>
                      </a:br>
                      <a:r>
                        <a:rPr lang="en-US" sz="2000" dirty="0">
                          <a:effectLst/>
                          <a:latin typeface="Calibri" panose="020F0502020204030204" pitchFamily="34" charset="0"/>
                          <a:cs typeface="Calibri" panose="020F0502020204030204" pitchFamily="34" charset="0"/>
                        </a:rPr>
                        <a:t>Start with both nonpharmacologic and pharmacologic therapy. Reassess BP in 1 month. If at goal, reassess every 3-6 months. If not at goal, assess for medication adherence and consider intensification of therapy.</a:t>
                      </a:r>
                    </a:p>
                  </a:txBody>
                  <a:tcPr marL="23445" marR="23445" marT="23445" marB="23445" anchor="ctr">
                    <a:lnL w="9525" cap="flat" cmpd="sng" algn="ctr">
                      <a:solidFill>
                        <a:srgbClr val="A8A8A8"/>
                      </a:solidFill>
                      <a:prstDash val="solid"/>
                      <a:round/>
                      <a:headEnd type="none" w="med" len="med"/>
                      <a:tailEnd type="none" w="med" len="med"/>
                    </a:lnL>
                    <a:lnR w="9525" cap="flat" cmpd="sng" algn="ctr">
                      <a:solidFill>
                        <a:srgbClr val="A0CB18"/>
                      </a:solidFill>
                      <a:prstDash val="solid"/>
                      <a:round/>
                      <a:headEnd type="none" w="med" len="med"/>
                      <a:tailEnd type="none" w="med" len="med"/>
                    </a:lnR>
                    <a:lnT w="9525" cap="flat" cmpd="sng" algn="ctr">
                      <a:solidFill>
                        <a:srgbClr val="70F118"/>
                      </a:solidFill>
                      <a:prstDash val="solid"/>
                      <a:round/>
                      <a:headEnd type="none" w="med" len="med"/>
                      <a:tailEnd type="none" w="med" len="med"/>
                    </a:lnT>
                    <a:lnB w="9525" cap="flat" cmpd="sng" algn="ctr">
                      <a:solidFill>
                        <a:srgbClr val="E0EF18"/>
                      </a:solidFill>
                      <a:prstDash val="solid"/>
                      <a:round/>
                      <a:headEnd type="none" w="med" len="med"/>
                      <a:tailEnd type="none" w="med" len="med"/>
                    </a:lnB>
                    <a:solidFill>
                      <a:srgbClr val="FFFFFF"/>
                    </a:solidFill>
                  </a:tcPr>
                </a:tc>
                <a:extLst>
                  <a:ext uri="{0D108BD9-81ED-4DB2-BD59-A6C34878D82A}">
                    <a16:rowId xmlns:a16="http://schemas.microsoft.com/office/drawing/2014/main" val="683753562"/>
                  </a:ext>
                </a:extLst>
              </a:tr>
              <a:tr h="1561993">
                <a:tc vMerge="1">
                  <a:txBody>
                    <a:bodyPr/>
                    <a:lstStyle/>
                    <a:p>
                      <a:endParaRPr lang="en-US"/>
                    </a:p>
                  </a:txBody>
                  <a:tcPr/>
                </a:tc>
                <a:tc>
                  <a:txBody>
                    <a:bodyPr/>
                    <a:lstStyle/>
                    <a:p>
                      <a:pPr algn="l"/>
                      <a:r>
                        <a:rPr lang="en-US" sz="2000" b="1" dirty="0">
                          <a:solidFill>
                            <a:schemeClr val="tx1"/>
                          </a:solidFill>
                          <a:effectLst/>
                          <a:latin typeface="Calibri" panose="020F0502020204030204" pitchFamily="34" charset="0"/>
                          <a:cs typeface="Calibri" panose="020F0502020204030204" pitchFamily="34" charset="0"/>
                        </a:rPr>
                        <a:t>No CVD and 10-year CVD risk &lt;7.5%:</a:t>
                      </a:r>
                      <a:br>
                        <a:rPr lang="en-US" sz="2000" dirty="0">
                          <a:solidFill>
                            <a:schemeClr val="tx1"/>
                          </a:solidFill>
                          <a:effectLst/>
                          <a:latin typeface="Calibri" panose="020F0502020204030204" pitchFamily="34" charset="0"/>
                          <a:cs typeface="Calibri" panose="020F0502020204030204" pitchFamily="34" charset="0"/>
                        </a:rPr>
                      </a:br>
                      <a:r>
                        <a:rPr lang="en-US" sz="2000" dirty="0">
                          <a:solidFill>
                            <a:schemeClr val="tx1"/>
                          </a:solidFill>
                          <a:effectLst/>
                          <a:latin typeface="Calibri" panose="020F0502020204030204" pitchFamily="34" charset="0"/>
                          <a:cs typeface="Calibri" panose="020F0502020204030204" pitchFamily="34" charset="0"/>
                        </a:rPr>
                        <a:t>Start with nonpharmacologic therapy, reassess BP in 3-6 months. If at goal continue lifestyle management and reassess every 3-6months. If not at goal, initiate pharmacologic therapy.</a:t>
                      </a:r>
                    </a:p>
                  </a:txBody>
                  <a:tcPr marL="23445" marR="23445" marT="23445" marB="23445" anchor="ctr">
                    <a:lnL w="9525" cap="flat" cmpd="sng" algn="ctr">
                      <a:solidFill>
                        <a:srgbClr val="A8A8A8"/>
                      </a:solidFill>
                      <a:prstDash val="solid"/>
                      <a:round/>
                      <a:headEnd type="none" w="med" len="med"/>
                      <a:tailEnd type="none" w="med" len="med"/>
                    </a:lnL>
                    <a:lnR w="9525" cap="flat" cmpd="sng" algn="ctr">
                      <a:solidFill>
                        <a:srgbClr val="90E718"/>
                      </a:solidFill>
                      <a:prstDash val="solid"/>
                      <a:round/>
                      <a:headEnd type="none" w="med" len="med"/>
                      <a:tailEnd type="none" w="med" len="med"/>
                    </a:lnR>
                    <a:lnT w="9525" cap="flat" cmpd="sng" algn="ctr">
                      <a:solidFill>
                        <a:srgbClr val="E0EF18"/>
                      </a:solidFill>
                      <a:prstDash val="solid"/>
                      <a:round/>
                      <a:headEnd type="none" w="med" len="med"/>
                      <a:tailEnd type="none" w="med" len="med"/>
                    </a:lnT>
                    <a:lnB w="9525" cap="flat" cmpd="sng" algn="ctr">
                      <a:solidFill>
                        <a:srgbClr val="90F218"/>
                      </a:solidFill>
                      <a:prstDash val="solid"/>
                      <a:round/>
                      <a:headEnd type="none" w="med" len="med"/>
                      <a:tailEnd type="none" w="med" len="med"/>
                    </a:lnB>
                    <a:solidFill>
                      <a:srgbClr val="FFFFFF"/>
                    </a:solidFill>
                  </a:tcPr>
                </a:tc>
                <a:extLst>
                  <a:ext uri="{0D108BD9-81ED-4DB2-BD59-A6C34878D82A}">
                    <a16:rowId xmlns:a16="http://schemas.microsoft.com/office/drawing/2014/main" val="332928517"/>
                  </a:ext>
                </a:extLst>
              </a:tr>
              <a:tr h="1540788">
                <a:tc>
                  <a:txBody>
                    <a:bodyPr/>
                    <a:lstStyle/>
                    <a:p>
                      <a:pPr algn="ctr"/>
                      <a:r>
                        <a:rPr lang="en-US" sz="2000" dirty="0">
                          <a:effectLst/>
                          <a:latin typeface="Calibri" panose="020F0502020204030204" pitchFamily="34" charset="0"/>
                          <a:cs typeface="Calibri" panose="020F0502020204030204" pitchFamily="34" charset="0"/>
                        </a:rPr>
                        <a:t>Stage 2 Hypertension</a:t>
                      </a:r>
                    </a:p>
                    <a:p>
                      <a:pPr algn="ctr"/>
                      <a:r>
                        <a:rPr lang="en-US" sz="2000">
                          <a:effectLst/>
                          <a:latin typeface="Calibri" panose="020F0502020204030204" pitchFamily="34" charset="0"/>
                          <a:cs typeface="Calibri" panose="020F0502020204030204" pitchFamily="34" charset="0"/>
                        </a:rPr>
                        <a:t>Systolic ≥</a:t>
                      </a:r>
                      <a:r>
                        <a:rPr lang="en-US" sz="2000" dirty="0">
                          <a:effectLst/>
                          <a:latin typeface="Calibri" panose="020F0502020204030204" pitchFamily="34" charset="0"/>
                          <a:cs typeface="Calibri" panose="020F0502020204030204" pitchFamily="34" charset="0"/>
                        </a:rPr>
                        <a:t>140 </a:t>
                      </a:r>
                      <a:r>
                        <a:rPr lang="en-US" sz="2000">
                          <a:effectLst/>
                          <a:latin typeface="Calibri" panose="020F0502020204030204" pitchFamily="34" charset="0"/>
                          <a:cs typeface="Calibri" panose="020F0502020204030204" pitchFamily="34" charset="0"/>
                        </a:rPr>
                        <a:t>or Diastolic ≥90 mmHg</a:t>
                      </a:r>
                    </a:p>
                  </a:txBody>
                  <a:tcPr marL="23445" marR="23445" marT="23445" marB="23445" anchor="ctr">
                    <a:lnL w="9525" cap="flat" cmpd="sng" algn="ctr">
                      <a:solidFill>
                        <a:srgbClr val="A8A8A8"/>
                      </a:solidFill>
                      <a:prstDash val="solid"/>
                      <a:round/>
                      <a:headEnd type="none" w="med" len="med"/>
                      <a:tailEnd type="none" w="med" len="med"/>
                    </a:lnL>
                    <a:lnR w="9525" cap="flat" cmpd="sng" algn="ctr">
                      <a:solidFill>
                        <a:srgbClr val="A8A8A8"/>
                      </a:solidFill>
                      <a:prstDash val="solid"/>
                      <a:round/>
                      <a:headEnd type="none" w="med" len="med"/>
                      <a:tailEnd type="none" w="med" len="med"/>
                    </a:lnR>
                    <a:lnB w="9525" cap="flat" cmpd="sng" algn="ctr">
                      <a:solidFill>
                        <a:srgbClr val="A8A8A8"/>
                      </a:solidFill>
                      <a:prstDash val="solid"/>
                      <a:round/>
                      <a:headEnd type="none" w="med" len="med"/>
                      <a:tailEnd type="none" w="med" len="med"/>
                    </a:lnB>
                    <a:solidFill>
                      <a:srgbClr val="FFFFFF"/>
                    </a:solidFill>
                  </a:tcPr>
                </a:tc>
                <a:tc>
                  <a:txBody>
                    <a:bodyPr/>
                    <a:lstStyle/>
                    <a:p>
                      <a:pPr algn="l"/>
                      <a:r>
                        <a:rPr lang="en-US" sz="2000" dirty="0">
                          <a:effectLst/>
                          <a:latin typeface="Calibri" panose="020F0502020204030204" pitchFamily="34" charset="0"/>
                          <a:cs typeface="Calibri" panose="020F0502020204030204" pitchFamily="34" charset="0"/>
                        </a:rPr>
                        <a:t>Start with both </a:t>
                      </a:r>
                      <a:r>
                        <a:rPr lang="en-US" sz="2000" dirty="0" err="1">
                          <a:effectLst/>
                          <a:latin typeface="Calibri" panose="020F0502020204030204" pitchFamily="34" charset="0"/>
                          <a:cs typeface="Calibri" panose="020F0502020204030204" pitchFamily="34" charset="0"/>
                        </a:rPr>
                        <a:t>nonpharm</a:t>
                      </a:r>
                      <a:r>
                        <a:rPr lang="en-US" sz="2000" dirty="0">
                          <a:effectLst/>
                          <a:latin typeface="Calibri" panose="020F0502020204030204" pitchFamily="34" charset="0"/>
                          <a:cs typeface="Calibri" panose="020F0502020204030204" pitchFamily="34" charset="0"/>
                        </a:rPr>
                        <a:t> and pharmacologic therapy for all. Reassess BP in 1 month. If at goal, reassess every 3-6 months. If not at goal, assess for medication adherence and consider intensification of therapy.</a:t>
                      </a:r>
                    </a:p>
                  </a:txBody>
                  <a:tcPr marL="23445" marR="23445" marT="23445" marB="23445" anchor="ctr">
                    <a:lnL w="9525" cap="flat" cmpd="sng" algn="ctr">
                      <a:solidFill>
                        <a:srgbClr val="A8A8A8"/>
                      </a:solidFill>
                      <a:prstDash val="solid"/>
                      <a:round/>
                      <a:headEnd type="none" w="med" len="med"/>
                      <a:tailEnd type="none" w="med" len="med"/>
                    </a:lnL>
                    <a:lnR w="9525" cap="flat" cmpd="sng" algn="ctr">
                      <a:solidFill>
                        <a:srgbClr val="50D018"/>
                      </a:solidFill>
                      <a:prstDash val="solid"/>
                      <a:round/>
                      <a:headEnd type="none" w="med" len="med"/>
                      <a:tailEnd type="none" w="med" len="med"/>
                    </a:lnR>
                    <a:lnT w="9525" cap="flat" cmpd="sng" algn="ctr">
                      <a:solidFill>
                        <a:srgbClr val="90F218"/>
                      </a:solidFill>
                      <a:prstDash val="solid"/>
                      <a:round/>
                      <a:headEnd type="none" w="med" len="med"/>
                      <a:tailEnd type="none" w="med" len="med"/>
                    </a:lnT>
                    <a:lnB w="9525" cap="flat" cmpd="sng" algn="ctr">
                      <a:solidFill>
                        <a:srgbClr val="A8A8A8"/>
                      </a:solidFill>
                      <a:prstDash val="solid"/>
                      <a:round/>
                      <a:headEnd type="none" w="med" len="med"/>
                      <a:tailEnd type="none" w="med" len="med"/>
                    </a:lnB>
                    <a:solidFill>
                      <a:srgbClr val="FFFFFF"/>
                    </a:solidFill>
                  </a:tcPr>
                </a:tc>
                <a:extLst>
                  <a:ext uri="{0D108BD9-81ED-4DB2-BD59-A6C34878D82A}">
                    <a16:rowId xmlns:a16="http://schemas.microsoft.com/office/drawing/2014/main" val="3997353417"/>
                  </a:ext>
                </a:extLst>
              </a:tr>
            </a:tbl>
          </a:graphicData>
        </a:graphic>
      </p:graphicFrame>
    </p:spTree>
    <p:extLst>
      <p:ext uri="{BB962C8B-B14F-4D97-AF65-F5344CB8AC3E}">
        <p14:creationId xmlns:p14="http://schemas.microsoft.com/office/powerpoint/2010/main" val="18899945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88"/>
        <p:cNvGrpSpPr/>
        <p:nvPr/>
      </p:nvGrpSpPr>
      <p:grpSpPr>
        <a:xfrm>
          <a:off x="0" y="0"/>
          <a:ext cx="0" cy="0"/>
          <a:chOff x="0" y="0"/>
          <a:chExt cx="0" cy="0"/>
        </a:xfrm>
      </p:grpSpPr>
      <p:sp>
        <p:nvSpPr>
          <p:cNvPr id="989" name="Google Shape;989;p128"/>
          <p:cNvSpPr txBox="1">
            <a:spLocks noGrp="1"/>
          </p:cNvSpPr>
          <p:nvPr>
            <p:ph type="title"/>
          </p:nvPr>
        </p:nvSpPr>
        <p:spPr>
          <a:xfrm>
            <a:off x="1676400" y="76200"/>
            <a:ext cx="8763000" cy="1143000"/>
          </a:xfrm>
          <a:prstGeom prst="rect">
            <a:avLst/>
          </a:prstGeom>
          <a:noFill/>
          <a:ln>
            <a:noFill/>
          </a:ln>
        </p:spPr>
        <p:txBody>
          <a:bodyPr spcFirstLastPara="1" wrap="square" lIns="50800" tIns="50800" rIns="50800" bIns="50800" anchor="ctr" anchorCtr="0">
            <a:noAutofit/>
          </a:bodyPr>
          <a:lstStyle/>
          <a:p>
            <a:r>
              <a:rPr lang="en-US"/>
              <a:t>Withholding Drug Treatment of HTN</a:t>
            </a:r>
            <a:endParaRPr/>
          </a:p>
        </p:txBody>
      </p:sp>
      <p:sp>
        <p:nvSpPr>
          <p:cNvPr id="990" name="Google Shape;990;p128"/>
          <p:cNvSpPr txBox="1">
            <a:spLocks noGrp="1"/>
          </p:cNvSpPr>
          <p:nvPr>
            <p:ph type="body" idx="1"/>
          </p:nvPr>
        </p:nvSpPr>
        <p:spPr>
          <a:xfrm>
            <a:off x="772997" y="1219200"/>
            <a:ext cx="10963373" cy="5410200"/>
          </a:xfrm>
          <a:prstGeom prst="rect">
            <a:avLst/>
          </a:prstGeom>
          <a:noFill/>
          <a:ln>
            <a:noFill/>
          </a:ln>
        </p:spPr>
        <p:txBody>
          <a:bodyPr spcFirstLastPara="1" wrap="square" lIns="50800" tIns="50800" rIns="50800" bIns="50800" anchor="t" anchorCtr="0">
            <a:noAutofit/>
          </a:bodyPr>
          <a:lstStyle/>
          <a:p>
            <a:pPr marL="342900" indent="-342900">
              <a:spcBef>
                <a:spcPts val="0"/>
              </a:spcBef>
            </a:pPr>
            <a:r>
              <a:rPr lang="en-US"/>
              <a:t>Consider withholding antihypertensive treatment and tolerating a higher BP in stage I HTN (130-139/ 80-89) in patients who are over age 75 with: </a:t>
            </a:r>
            <a:endParaRPr/>
          </a:p>
          <a:p>
            <a:pPr marL="782638" lvl="1" indent="-325438"/>
            <a:r>
              <a:rPr lang="en-US"/>
              <a:t>Recurrent falls </a:t>
            </a:r>
            <a:endParaRPr/>
          </a:p>
          <a:p>
            <a:pPr marL="782638" lvl="1" indent="-325438"/>
            <a:r>
              <a:rPr lang="en-US"/>
              <a:t>Dementia</a:t>
            </a:r>
            <a:endParaRPr/>
          </a:p>
          <a:p>
            <a:pPr marL="782638" lvl="1" indent="-325438"/>
            <a:r>
              <a:rPr lang="en-US"/>
              <a:t>ECF residence </a:t>
            </a:r>
            <a:endParaRPr/>
          </a:p>
          <a:p>
            <a:pPr marL="782638" lvl="1" indent="-325438"/>
            <a:r>
              <a:rPr lang="en-US"/>
              <a:t>Multiple comorbidities (not HTN risks)</a:t>
            </a:r>
            <a:endParaRPr/>
          </a:p>
          <a:p>
            <a:pPr marL="782638" lvl="1" indent="-325438"/>
            <a:r>
              <a:rPr lang="en-US"/>
              <a:t>Orthostatic hypotension </a:t>
            </a:r>
            <a:endParaRPr/>
          </a:p>
          <a:p>
            <a:pPr marL="782638" lvl="1" indent="-325438"/>
            <a:r>
              <a:rPr lang="en-US"/>
              <a:t>Limited life expectancy</a:t>
            </a:r>
            <a:endParaRPr/>
          </a:p>
          <a:p>
            <a:pPr marL="0" indent="0">
              <a:buNone/>
            </a:pPr>
            <a:r>
              <a:rPr lang="en-US"/>
              <a:t>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62"/>
        <p:cNvGrpSpPr/>
        <p:nvPr/>
      </p:nvGrpSpPr>
      <p:grpSpPr>
        <a:xfrm>
          <a:off x="0" y="0"/>
          <a:ext cx="0" cy="0"/>
          <a:chOff x="0" y="0"/>
          <a:chExt cx="0" cy="0"/>
        </a:xfrm>
      </p:grpSpPr>
      <p:sp>
        <p:nvSpPr>
          <p:cNvPr id="1063" name="Google Shape;1063;p139"/>
          <p:cNvSpPr txBox="1">
            <a:spLocks noGrp="1"/>
          </p:cNvSpPr>
          <p:nvPr>
            <p:ph type="title"/>
          </p:nvPr>
        </p:nvSpPr>
        <p:spPr>
          <a:xfrm>
            <a:off x="1981200" y="304800"/>
            <a:ext cx="8229600" cy="838200"/>
          </a:xfrm>
          <a:prstGeom prst="rect">
            <a:avLst/>
          </a:prstGeom>
          <a:noFill/>
          <a:ln>
            <a:noFill/>
          </a:ln>
        </p:spPr>
        <p:txBody>
          <a:bodyPr spcFirstLastPara="1" wrap="square" lIns="50800" tIns="50800" rIns="50800" bIns="50800" anchor="ctr" anchorCtr="0">
            <a:noAutofit/>
          </a:bodyPr>
          <a:lstStyle/>
          <a:p>
            <a:r>
              <a:rPr lang="en-US"/>
              <a:t>Antihypertensive Drug Classes</a:t>
            </a:r>
            <a:endParaRPr/>
          </a:p>
        </p:txBody>
      </p:sp>
      <p:sp>
        <p:nvSpPr>
          <p:cNvPr id="1064" name="Google Shape;1064;p139"/>
          <p:cNvSpPr txBox="1">
            <a:spLocks noGrp="1"/>
          </p:cNvSpPr>
          <p:nvPr>
            <p:ph type="body" idx="1"/>
          </p:nvPr>
        </p:nvSpPr>
        <p:spPr>
          <a:xfrm>
            <a:off x="829559" y="1295400"/>
            <a:ext cx="10935093" cy="5426075"/>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a:t>Diuretics- thiazide, loop, potassium sparing, aldosterone antagonist</a:t>
            </a:r>
            <a:endParaRPr/>
          </a:p>
          <a:p>
            <a:pPr marL="342900" indent="-342900"/>
            <a:r>
              <a:rPr lang="en-US"/>
              <a:t>Angiotensin converting enzyme inhibitors</a:t>
            </a:r>
            <a:endParaRPr/>
          </a:p>
          <a:p>
            <a:pPr marL="342900" indent="-342900"/>
            <a:r>
              <a:rPr lang="en-US"/>
              <a:t>Angiotensin receptor blockers</a:t>
            </a:r>
            <a:endParaRPr/>
          </a:p>
          <a:p>
            <a:pPr marL="342900" indent="-342900"/>
            <a:r>
              <a:rPr lang="en-US"/>
              <a:t>Calcium channel blockers</a:t>
            </a:r>
            <a:endParaRPr/>
          </a:p>
          <a:p>
            <a:pPr marL="342900" indent="-342900">
              <a:buClr>
                <a:srgbClr val="000000"/>
              </a:buClr>
            </a:pPr>
            <a:r>
              <a:rPr lang="en-US">
                <a:solidFill>
                  <a:srgbClr val="000000"/>
                </a:solidFill>
              </a:rPr>
              <a:t>Beta blockers</a:t>
            </a:r>
            <a:endParaRPr/>
          </a:p>
          <a:p>
            <a:pPr marL="342900" indent="-342900"/>
            <a:r>
              <a:rPr lang="en-US"/>
              <a:t>Alpha 1 adrenergic blockers</a:t>
            </a:r>
            <a:endParaRPr/>
          </a:p>
          <a:p>
            <a:pPr marL="342900" indent="-342900"/>
            <a:r>
              <a:rPr lang="en-US"/>
              <a:t>Alpha/beta blockers</a:t>
            </a:r>
            <a:endParaRPr/>
          </a:p>
          <a:p>
            <a:pPr marL="342900" indent="-342900"/>
            <a:r>
              <a:rPr lang="en-US"/>
              <a:t>Centrally acting adrenergic agonists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88"/>
        <p:cNvGrpSpPr/>
        <p:nvPr/>
      </p:nvGrpSpPr>
      <p:grpSpPr>
        <a:xfrm>
          <a:off x="0" y="0"/>
          <a:ext cx="0" cy="0"/>
          <a:chOff x="0" y="0"/>
          <a:chExt cx="0" cy="0"/>
        </a:xfrm>
      </p:grpSpPr>
      <p:sp>
        <p:nvSpPr>
          <p:cNvPr id="989" name="Google Shape;989;p128"/>
          <p:cNvSpPr txBox="1">
            <a:spLocks noGrp="1"/>
          </p:cNvSpPr>
          <p:nvPr>
            <p:ph type="title"/>
          </p:nvPr>
        </p:nvSpPr>
        <p:spPr>
          <a:xfrm>
            <a:off x="1981200" y="76200"/>
            <a:ext cx="8229600" cy="1143000"/>
          </a:xfrm>
          <a:prstGeom prst="rect">
            <a:avLst/>
          </a:prstGeom>
          <a:noFill/>
          <a:ln>
            <a:noFill/>
          </a:ln>
        </p:spPr>
        <p:txBody>
          <a:bodyPr spcFirstLastPara="1" wrap="square" lIns="50800" tIns="50800" rIns="50800" bIns="50800" anchor="ctr" anchorCtr="0">
            <a:noAutofit/>
          </a:bodyPr>
          <a:lstStyle/>
          <a:p>
            <a:r>
              <a:rPr lang="en-US"/>
              <a:t>Treatment of Hypertension</a:t>
            </a:r>
            <a:endParaRPr/>
          </a:p>
        </p:txBody>
      </p:sp>
      <p:sp>
        <p:nvSpPr>
          <p:cNvPr id="990" name="Google Shape;990;p128"/>
          <p:cNvSpPr txBox="1">
            <a:spLocks noGrp="1"/>
          </p:cNvSpPr>
          <p:nvPr>
            <p:ph type="body" idx="1"/>
          </p:nvPr>
        </p:nvSpPr>
        <p:spPr>
          <a:xfrm>
            <a:off x="659875" y="1219200"/>
            <a:ext cx="10916239" cy="5143893"/>
          </a:xfrm>
          <a:prstGeom prst="rect">
            <a:avLst/>
          </a:prstGeom>
          <a:noFill/>
          <a:ln>
            <a:noFill/>
          </a:ln>
        </p:spPr>
        <p:txBody>
          <a:bodyPr spcFirstLastPara="1" wrap="square" lIns="50800" tIns="50800" rIns="50800" bIns="50800" anchor="t" anchorCtr="0">
            <a:noAutofit/>
          </a:bodyPr>
          <a:lstStyle/>
          <a:p>
            <a:pPr marL="342900" indent="-342900">
              <a:spcBef>
                <a:spcPts val="0"/>
              </a:spcBef>
            </a:pPr>
            <a:r>
              <a:rPr lang="en-US"/>
              <a:t>For patients indicated to begin antihypertensive medication beyond lifestyle changes consider the following: </a:t>
            </a:r>
          </a:p>
          <a:p>
            <a:pPr marL="457200" lvl="1" indent="0">
              <a:spcBef>
                <a:spcPts val="0"/>
              </a:spcBef>
              <a:buNone/>
            </a:pPr>
            <a:endParaRPr lang="en-US"/>
          </a:p>
          <a:p>
            <a:pPr marL="971550" lvl="1" indent="-514350">
              <a:spcBef>
                <a:spcPts val="0"/>
              </a:spcBef>
              <a:buFont typeface="+mj-lt"/>
              <a:buAutoNum type="arabicPeriod"/>
            </a:pPr>
            <a:r>
              <a:rPr lang="en-US"/>
              <a:t>Determine if monotherapy or combination therapy is needed</a:t>
            </a:r>
          </a:p>
          <a:p>
            <a:pPr marL="971550" lvl="1" indent="-514350">
              <a:spcBef>
                <a:spcPts val="0"/>
              </a:spcBef>
              <a:buFont typeface="+mj-lt"/>
              <a:buAutoNum type="arabicPeriod"/>
            </a:pPr>
            <a:r>
              <a:rPr lang="en-US"/>
              <a:t>Determine if there is a compelling indication such as associated comorbidities for a particular class of anti-hypertensive.</a:t>
            </a:r>
          </a:p>
          <a:p>
            <a:pPr marL="971550" lvl="1" indent="-514350">
              <a:spcBef>
                <a:spcPts val="0"/>
              </a:spcBef>
              <a:buFont typeface="+mj-lt"/>
              <a:buAutoNum type="arabicPeriod"/>
            </a:pPr>
            <a:r>
              <a:rPr lang="en-US"/>
              <a:t>Look at other patient characteristics such as child-bearing, pregnant, and race to determine if there is a strong reason to chose or avoid a drug class. </a:t>
            </a:r>
          </a:p>
          <a:p>
            <a:pPr marL="342900" indent="-342900">
              <a:spcBef>
                <a:spcPts val="0"/>
              </a:spcBef>
            </a:pPr>
            <a:endParaRPr lang="en-US"/>
          </a:p>
          <a:p>
            <a:pPr marL="342900" indent="-342900">
              <a:spcBef>
                <a:spcPts val="0"/>
              </a:spcBef>
            </a:pPr>
            <a:endParaRPr/>
          </a:p>
          <a:p>
            <a:pPr marL="0" indent="0">
              <a:buNone/>
            </a:pPr>
            <a:r>
              <a:rPr lang="en-US"/>
              <a:t> </a:t>
            </a:r>
            <a:endParaRPr/>
          </a:p>
        </p:txBody>
      </p:sp>
    </p:spTree>
    <p:extLst>
      <p:ext uri="{BB962C8B-B14F-4D97-AF65-F5344CB8AC3E}">
        <p14:creationId xmlns:p14="http://schemas.microsoft.com/office/powerpoint/2010/main" val="7650008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19"/>
        <p:cNvGrpSpPr/>
        <p:nvPr/>
      </p:nvGrpSpPr>
      <p:grpSpPr>
        <a:xfrm>
          <a:off x="0" y="0"/>
          <a:ext cx="0" cy="0"/>
          <a:chOff x="0" y="0"/>
          <a:chExt cx="0" cy="0"/>
        </a:xfrm>
      </p:grpSpPr>
      <p:sp>
        <p:nvSpPr>
          <p:cNvPr id="1020" name="Google Shape;1020;p133"/>
          <p:cNvSpPr txBox="1">
            <a:spLocks noGrp="1"/>
          </p:cNvSpPr>
          <p:nvPr>
            <p:ph type="title"/>
          </p:nvPr>
        </p:nvSpPr>
        <p:spPr>
          <a:xfrm>
            <a:off x="1981200" y="233478"/>
            <a:ext cx="8229600" cy="974725"/>
          </a:xfrm>
          <a:prstGeom prst="rect">
            <a:avLst/>
          </a:prstGeom>
          <a:noFill/>
          <a:ln>
            <a:noFill/>
          </a:ln>
        </p:spPr>
        <p:txBody>
          <a:bodyPr spcFirstLastPara="1" wrap="square" lIns="50800" tIns="50800" rIns="50800" bIns="50800" anchor="ctr" anchorCtr="0">
            <a:noAutofit/>
          </a:bodyPr>
          <a:lstStyle/>
          <a:p>
            <a:r>
              <a:rPr lang="en-US" sz="3600"/>
              <a:t>HTN Drug Treatment Principles</a:t>
            </a:r>
            <a:br>
              <a:rPr lang="en-US" sz="3600"/>
            </a:br>
            <a:r>
              <a:rPr lang="en-US" sz="3600"/>
              <a:t>Mono- or Combination Therapy</a:t>
            </a:r>
            <a:endParaRPr sz="3600"/>
          </a:p>
        </p:txBody>
      </p:sp>
      <p:sp>
        <p:nvSpPr>
          <p:cNvPr id="1021" name="Google Shape;1021;p133"/>
          <p:cNvSpPr txBox="1">
            <a:spLocks noGrp="1"/>
          </p:cNvSpPr>
          <p:nvPr>
            <p:ph type="body" idx="1"/>
          </p:nvPr>
        </p:nvSpPr>
        <p:spPr>
          <a:xfrm>
            <a:off x="584462" y="1285186"/>
            <a:ext cx="11283885" cy="5502275"/>
          </a:xfrm>
          <a:prstGeom prst="rect">
            <a:avLst/>
          </a:prstGeom>
          <a:noFill/>
          <a:ln>
            <a:noFill/>
          </a:ln>
        </p:spPr>
        <p:txBody>
          <a:bodyPr spcFirstLastPara="1" wrap="square" lIns="91425" tIns="45700" rIns="91425" bIns="45700" anchor="t" anchorCtr="0">
            <a:noAutofit/>
          </a:bodyPr>
          <a:lstStyle/>
          <a:p>
            <a:pPr marL="342900" indent="-342900"/>
            <a:r>
              <a:rPr lang="en-US" sz="2800" b="1" dirty="0">
                <a:latin typeface="Calibri" panose="020F0502020204030204" pitchFamily="34" charset="0"/>
                <a:cs typeface="Calibri" panose="020F0502020204030204" pitchFamily="34" charset="0"/>
              </a:rPr>
              <a:t>In stage 1 hypertension, a single agent</a:t>
            </a:r>
            <a:r>
              <a:rPr lang="en-US" sz="2800" dirty="0">
                <a:latin typeface="Calibri" panose="020F0502020204030204" pitchFamily="34" charset="0"/>
                <a:cs typeface="Calibri" panose="020F0502020204030204" pitchFamily="34" charset="0"/>
              </a:rPr>
              <a:t> is generally sufficient to lower the blood pressure to goal of &lt;130 and &lt;80 mmHg.</a:t>
            </a:r>
            <a:endParaRPr sz="2800" dirty="0">
              <a:latin typeface="Calibri" panose="020F0502020204030204" pitchFamily="34" charset="0"/>
              <a:cs typeface="Calibri" panose="020F0502020204030204" pitchFamily="34" charset="0"/>
            </a:endParaRPr>
          </a:p>
          <a:p>
            <a:pPr marL="342900" indent="-342900"/>
            <a:r>
              <a:rPr lang="en-US" sz="2800" b="1" dirty="0">
                <a:latin typeface="Calibri" panose="020F0502020204030204" pitchFamily="34" charset="0"/>
                <a:cs typeface="Calibri" panose="020F0502020204030204" pitchFamily="34" charset="0"/>
              </a:rPr>
              <a:t>In stage 2 hypertension, strongly consider initiation of two drugs </a:t>
            </a:r>
            <a:r>
              <a:rPr lang="en-US" sz="2800" dirty="0">
                <a:latin typeface="Calibri" panose="020F0502020204030204" pitchFamily="34" charset="0"/>
                <a:cs typeface="Calibri" panose="020F0502020204030204" pitchFamily="34" charset="0"/>
              </a:rPr>
              <a:t>at low dose (except ACE-I or ARB) within a fixed dose combination pill to improve your chances of getting to goal.</a:t>
            </a:r>
          </a:p>
          <a:p>
            <a:pPr marL="800100" lvl="1" indent="-342900"/>
            <a:r>
              <a:rPr lang="en-US" sz="2800" b="0" i="0" dirty="0">
                <a:solidFill>
                  <a:srgbClr val="232323"/>
                </a:solidFill>
                <a:effectLst/>
                <a:latin typeface="Calibri" panose="020F0502020204030204" pitchFamily="34" charset="0"/>
                <a:cs typeface="Calibri" panose="020F0502020204030204" pitchFamily="34" charset="0"/>
              </a:rPr>
              <a:t>Combination therapy lowers blood pressure more than monotherapy </a:t>
            </a:r>
          </a:p>
          <a:p>
            <a:pPr marL="800100" lvl="1" indent="-342900"/>
            <a:r>
              <a:rPr lang="en-US" sz="2800" dirty="0">
                <a:solidFill>
                  <a:srgbClr val="232323"/>
                </a:solidFill>
                <a:latin typeface="Calibri" panose="020F0502020204030204" pitchFamily="34" charset="0"/>
                <a:cs typeface="Calibri" panose="020F0502020204030204" pitchFamily="34" charset="0"/>
              </a:rPr>
              <a:t>I</a:t>
            </a:r>
            <a:r>
              <a:rPr lang="en-US" sz="2800" b="0" i="0" dirty="0">
                <a:solidFill>
                  <a:srgbClr val="232323"/>
                </a:solidFill>
                <a:effectLst/>
                <a:latin typeface="Calibri" panose="020F0502020204030204" pitchFamily="34" charset="0"/>
                <a:cs typeface="Calibri" panose="020F0502020204030204" pitchFamily="34" charset="0"/>
              </a:rPr>
              <a:t>ncreases the likelihood that target blood pressure will be achieved in a reasonable time period </a:t>
            </a:r>
          </a:p>
          <a:p>
            <a:pPr marL="800100" lvl="1" indent="-342900"/>
            <a:r>
              <a:rPr lang="en-US" sz="2800" dirty="0">
                <a:solidFill>
                  <a:srgbClr val="232323"/>
                </a:solidFill>
                <a:latin typeface="Calibri" panose="020F0502020204030204" pitchFamily="34" charset="0"/>
                <a:cs typeface="Calibri" panose="020F0502020204030204" pitchFamily="34" charset="0"/>
              </a:rPr>
              <a:t>Reduced risk of dose dependent side effects</a:t>
            </a:r>
            <a:r>
              <a:rPr lang="en-US" sz="2800" dirty="0">
                <a:latin typeface="Calibri" panose="020F0502020204030204" pitchFamily="34" charset="0"/>
                <a:cs typeface="Calibri" panose="020F0502020204030204" pitchFamily="34" charset="0"/>
              </a:rPr>
              <a:t> 	</a:t>
            </a:r>
          </a:p>
          <a:p>
            <a:pPr marL="800100" lvl="1" indent="-342900"/>
            <a:r>
              <a:rPr lang="en-US" sz="2800" dirty="0">
                <a:latin typeface="Calibri" panose="020F0502020204030204" pitchFamily="34" charset="0"/>
                <a:cs typeface="Calibri" panose="020F0502020204030204" pitchFamily="34" charset="0"/>
              </a:rPr>
              <a:t>Improves adherence</a:t>
            </a:r>
            <a:r>
              <a:rPr lang="en-US" dirty="0"/>
              <a:t>	</a:t>
            </a:r>
            <a:endParaRPr dirty="0">
              <a:latin typeface="Constantia"/>
              <a:ea typeface="Constantia"/>
              <a:cs typeface="Constantia"/>
              <a:sym typeface="Constanti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12"/>
        <p:cNvGrpSpPr/>
        <p:nvPr/>
      </p:nvGrpSpPr>
      <p:grpSpPr>
        <a:xfrm>
          <a:off x="0" y="0"/>
          <a:ext cx="0" cy="0"/>
          <a:chOff x="0" y="0"/>
          <a:chExt cx="0" cy="0"/>
        </a:xfrm>
      </p:grpSpPr>
      <p:sp>
        <p:nvSpPr>
          <p:cNvPr id="1013" name="Google Shape;1013;p132"/>
          <p:cNvSpPr txBox="1">
            <a:spLocks noGrp="1"/>
          </p:cNvSpPr>
          <p:nvPr>
            <p:ph type="title"/>
          </p:nvPr>
        </p:nvSpPr>
        <p:spPr>
          <a:xfrm>
            <a:off x="1981200" y="92076"/>
            <a:ext cx="8229600" cy="974725"/>
          </a:xfrm>
          <a:prstGeom prst="rect">
            <a:avLst/>
          </a:prstGeom>
          <a:noFill/>
          <a:ln>
            <a:noFill/>
          </a:ln>
        </p:spPr>
        <p:txBody>
          <a:bodyPr spcFirstLastPara="1" wrap="square" lIns="50800" tIns="50800" rIns="50800" bIns="50800" anchor="ctr" anchorCtr="0">
            <a:noAutofit/>
          </a:bodyPr>
          <a:lstStyle/>
          <a:p>
            <a:r>
              <a:rPr lang="en-US"/>
              <a:t>Compelling Indications</a:t>
            </a:r>
            <a:endParaRPr/>
          </a:p>
        </p:txBody>
      </p:sp>
      <p:sp>
        <p:nvSpPr>
          <p:cNvPr id="1014" name="Google Shape;1014;p132"/>
          <p:cNvSpPr txBox="1">
            <a:spLocks noGrp="1"/>
          </p:cNvSpPr>
          <p:nvPr>
            <p:ph type="body" idx="1"/>
          </p:nvPr>
        </p:nvSpPr>
        <p:spPr>
          <a:xfrm>
            <a:off x="499622" y="990600"/>
            <a:ext cx="11481846" cy="5730875"/>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dirty="0"/>
              <a:t>Compelling indications: High-risk conditions that are direct sequela of HTN or are commonly associated with HTN.  </a:t>
            </a:r>
          </a:p>
          <a:p>
            <a:pPr marL="342900" indent="-342900">
              <a:spcBef>
                <a:spcPts val="0"/>
              </a:spcBef>
            </a:pPr>
            <a:r>
              <a:rPr lang="en-US" dirty="0"/>
              <a:t>In these disease states, </a:t>
            </a:r>
            <a:r>
              <a:rPr lang="en-US" b="1" i="1" dirty="0"/>
              <a:t>a specific class of drugs should be initiated because the class has evidence-based survival benefit.</a:t>
            </a:r>
            <a:endParaRPr dirty="0"/>
          </a:p>
          <a:p>
            <a:pPr marL="342900" indent="-139700">
              <a:buNone/>
            </a:pPr>
            <a:endParaRPr sz="2000" dirty="0"/>
          </a:p>
          <a:p>
            <a:pPr marL="342900" indent="-342900"/>
            <a:r>
              <a:rPr lang="en-US" dirty="0"/>
              <a:t>Some compelling indications are:</a:t>
            </a:r>
            <a:endParaRPr dirty="0"/>
          </a:p>
          <a:p>
            <a:pPr marL="457200" lvl="1" indent="0">
              <a:buNone/>
            </a:pPr>
            <a:r>
              <a:rPr lang="en-US" dirty="0"/>
              <a:t>Heart Failure			Post MI </a:t>
            </a:r>
          </a:p>
          <a:p>
            <a:pPr marL="457200" lvl="1" indent="0">
              <a:buNone/>
            </a:pPr>
            <a:r>
              <a:rPr lang="en-US" dirty="0"/>
              <a:t>CAD				*PAD</a:t>
            </a:r>
          </a:p>
          <a:p>
            <a:pPr marL="457200" lvl="1" indent="0">
              <a:buNone/>
            </a:pPr>
            <a:r>
              <a:rPr lang="en-US" dirty="0" err="1"/>
              <a:t>Afib</a:t>
            </a:r>
            <a:r>
              <a:rPr lang="en-US" dirty="0"/>
              <a:t>				Stroke</a:t>
            </a:r>
          </a:p>
          <a:p>
            <a:pPr marL="457200" lvl="1" indent="0">
              <a:buNone/>
            </a:pPr>
            <a:r>
              <a:rPr lang="en-US" dirty="0"/>
              <a:t>Diabetes Mellitus		CKD				</a:t>
            </a:r>
            <a:endParaRPr dirty="0">
              <a:latin typeface="Constantia"/>
              <a:ea typeface="Constantia"/>
              <a:cs typeface="Constantia"/>
              <a:sym typeface="Constanti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41"/>
        <p:cNvGrpSpPr/>
        <p:nvPr/>
      </p:nvGrpSpPr>
      <p:grpSpPr>
        <a:xfrm>
          <a:off x="0" y="0"/>
          <a:ext cx="0" cy="0"/>
          <a:chOff x="0" y="0"/>
          <a:chExt cx="0" cy="0"/>
        </a:xfrm>
      </p:grpSpPr>
      <p:sp>
        <p:nvSpPr>
          <p:cNvPr id="1042" name="Google Shape;1042;p136"/>
          <p:cNvSpPr txBox="1">
            <a:spLocks noGrp="1"/>
          </p:cNvSpPr>
          <p:nvPr>
            <p:ph type="title"/>
          </p:nvPr>
        </p:nvSpPr>
        <p:spPr>
          <a:xfrm>
            <a:off x="1981200" y="92076"/>
            <a:ext cx="8229600" cy="974725"/>
          </a:xfrm>
          <a:prstGeom prst="rect">
            <a:avLst/>
          </a:prstGeom>
          <a:noFill/>
          <a:ln>
            <a:noFill/>
          </a:ln>
        </p:spPr>
        <p:txBody>
          <a:bodyPr spcFirstLastPara="1" wrap="square" lIns="50800" tIns="50800" rIns="50800" bIns="50800" anchor="ctr" anchorCtr="0">
            <a:noAutofit/>
          </a:bodyPr>
          <a:lstStyle/>
          <a:p>
            <a:r>
              <a:rPr lang="en-US"/>
              <a:t>Drug Treatment Principles</a:t>
            </a:r>
            <a:endParaRPr/>
          </a:p>
        </p:txBody>
      </p:sp>
      <p:sp>
        <p:nvSpPr>
          <p:cNvPr id="1043" name="Google Shape;1043;p136"/>
          <p:cNvSpPr txBox="1">
            <a:spLocks noGrp="1"/>
          </p:cNvSpPr>
          <p:nvPr>
            <p:ph type="body" idx="1"/>
          </p:nvPr>
        </p:nvSpPr>
        <p:spPr>
          <a:xfrm>
            <a:off x="556181" y="1066801"/>
            <a:ext cx="10614582" cy="5654675"/>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dirty="0"/>
              <a:t>The following drugs are indicated in the presence of these compelling indications</a:t>
            </a:r>
            <a:endParaRPr sz="2500" dirty="0"/>
          </a:p>
          <a:p>
            <a:pPr marL="342900" indent="-342900"/>
            <a:r>
              <a:rPr lang="en-US" b="1" u="sng" dirty="0"/>
              <a:t>Heart failure (Systolic Dysfunction)</a:t>
            </a:r>
            <a:r>
              <a:rPr lang="en-US" dirty="0"/>
              <a:t>: </a:t>
            </a:r>
            <a:r>
              <a:rPr lang="en-US" b="1" i="1" dirty="0"/>
              <a:t>ACEI or ARB + beta-blocker + aldosterone antagonist + diuretic</a:t>
            </a:r>
            <a:r>
              <a:rPr lang="en-US" dirty="0"/>
              <a:t>, try to get at least the first 2-3 on board (avoid non-DHP CCB)</a:t>
            </a:r>
            <a:endParaRPr dirty="0"/>
          </a:p>
          <a:p>
            <a:pPr marL="342900" indent="-215900">
              <a:buSzPts val="2000"/>
              <a:buNone/>
            </a:pPr>
            <a:endParaRPr sz="2000" dirty="0"/>
          </a:p>
          <a:p>
            <a:pPr marL="342900" indent="-342900"/>
            <a:r>
              <a:rPr lang="en-US" b="1" u="sng" dirty="0"/>
              <a:t>*Post-myocardial infarction</a:t>
            </a:r>
            <a:r>
              <a:rPr lang="en-US" dirty="0"/>
              <a:t>: </a:t>
            </a:r>
            <a:r>
              <a:rPr lang="en-US" b="1" i="1" dirty="0"/>
              <a:t>beta blocker + ACEI or ARB</a:t>
            </a:r>
            <a:r>
              <a:rPr lang="en-US" dirty="0"/>
              <a:t>, try to get both on board</a:t>
            </a:r>
            <a:endParaRPr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48"/>
        <p:cNvGrpSpPr/>
        <p:nvPr/>
      </p:nvGrpSpPr>
      <p:grpSpPr>
        <a:xfrm>
          <a:off x="0" y="0"/>
          <a:ext cx="0" cy="0"/>
          <a:chOff x="0" y="0"/>
          <a:chExt cx="0" cy="0"/>
        </a:xfrm>
      </p:grpSpPr>
      <p:sp>
        <p:nvSpPr>
          <p:cNvPr id="1049" name="Google Shape;1049;p137"/>
          <p:cNvSpPr txBox="1">
            <a:spLocks noGrp="1"/>
          </p:cNvSpPr>
          <p:nvPr>
            <p:ph type="title"/>
          </p:nvPr>
        </p:nvSpPr>
        <p:spPr>
          <a:xfrm>
            <a:off x="1981200" y="92076"/>
            <a:ext cx="8229600" cy="974725"/>
          </a:xfrm>
          <a:prstGeom prst="rect">
            <a:avLst/>
          </a:prstGeom>
          <a:noFill/>
          <a:ln>
            <a:noFill/>
          </a:ln>
        </p:spPr>
        <p:txBody>
          <a:bodyPr spcFirstLastPara="1" wrap="square" lIns="50800" tIns="50800" rIns="50800" bIns="50800" anchor="ctr" anchorCtr="0">
            <a:noAutofit/>
          </a:bodyPr>
          <a:lstStyle/>
          <a:p>
            <a:r>
              <a:rPr lang="en-US"/>
              <a:t>Drug Treatment Principles</a:t>
            </a:r>
            <a:endParaRPr/>
          </a:p>
        </p:txBody>
      </p:sp>
      <p:sp>
        <p:nvSpPr>
          <p:cNvPr id="1050" name="Google Shape;1050;p137"/>
          <p:cNvSpPr txBox="1">
            <a:spLocks noGrp="1"/>
          </p:cNvSpPr>
          <p:nvPr>
            <p:ph type="body" idx="1"/>
          </p:nvPr>
        </p:nvSpPr>
        <p:spPr>
          <a:xfrm>
            <a:off x="433633" y="1219201"/>
            <a:ext cx="11274457" cy="5153320"/>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sz="2800" b="1" u="sng" dirty="0"/>
              <a:t>CAD</a:t>
            </a:r>
            <a:r>
              <a:rPr lang="en-US" sz="2800" dirty="0"/>
              <a:t>: </a:t>
            </a:r>
            <a:r>
              <a:rPr lang="en-US" sz="2800" b="1" dirty="0"/>
              <a:t>Beta blocker, </a:t>
            </a:r>
            <a:r>
              <a:rPr lang="en-US" sz="2800" b="1" i="1" dirty="0"/>
              <a:t>ACEI or ARB, </a:t>
            </a:r>
            <a:r>
              <a:rPr lang="en-US" sz="2800" dirty="0"/>
              <a:t>then a DHP-CCB or thiazide</a:t>
            </a:r>
          </a:p>
          <a:p>
            <a:pPr marL="342900" indent="-342900">
              <a:spcBef>
                <a:spcPts val="0"/>
              </a:spcBef>
            </a:pPr>
            <a:endParaRPr lang="en-US" sz="2800" dirty="0"/>
          </a:p>
          <a:p>
            <a:pPr marL="342900" indent="-342900">
              <a:spcBef>
                <a:spcPts val="0"/>
              </a:spcBef>
            </a:pPr>
            <a:r>
              <a:rPr lang="en-US" sz="2800" b="1" u="sng" dirty="0" err="1"/>
              <a:t>Afib</a:t>
            </a:r>
            <a:r>
              <a:rPr lang="en-US" sz="2800" b="1" u="sng" dirty="0"/>
              <a:t>:</a:t>
            </a:r>
            <a:r>
              <a:rPr lang="en-US" sz="2800" dirty="0"/>
              <a:t> </a:t>
            </a:r>
            <a:r>
              <a:rPr lang="en-US" sz="2800" b="1" dirty="0"/>
              <a:t>Beta blocker </a:t>
            </a:r>
            <a:r>
              <a:rPr lang="en-US" sz="2800" b="1" u="sng" dirty="0"/>
              <a:t>or</a:t>
            </a:r>
            <a:r>
              <a:rPr lang="en-US" sz="2800" b="1" dirty="0"/>
              <a:t> non-DHP CCB, </a:t>
            </a:r>
            <a:r>
              <a:rPr lang="en-US" sz="2800" b="1" i="1" dirty="0"/>
              <a:t>ACEI or ARB, </a:t>
            </a:r>
            <a:r>
              <a:rPr lang="en-US" sz="2800" dirty="0"/>
              <a:t>then thiazide diuretic</a:t>
            </a:r>
            <a:endParaRPr sz="2800" dirty="0"/>
          </a:p>
          <a:p>
            <a:pPr marL="342900" indent="-222250">
              <a:buSzPts val="1900"/>
              <a:buNone/>
            </a:pPr>
            <a:endParaRPr sz="2800" dirty="0"/>
          </a:p>
          <a:p>
            <a:pPr marL="342900" indent="-342900"/>
            <a:r>
              <a:rPr lang="en-US" sz="2800" b="1" u="sng" dirty="0"/>
              <a:t>Diabetes</a:t>
            </a:r>
            <a:r>
              <a:rPr lang="en-US" sz="2800" dirty="0"/>
              <a:t>: </a:t>
            </a:r>
            <a:r>
              <a:rPr lang="en-US" sz="2800" b="1" i="1" dirty="0"/>
              <a:t>ACEI or ARB, </a:t>
            </a:r>
            <a:r>
              <a:rPr lang="en-US" sz="2800" dirty="0"/>
              <a:t>then either a DHP-CCB or thiazide</a:t>
            </a:r>
            <a:endParaRPr sz="2800" dirty="0"/>
          </a:p>
          <a:p>
            <a:pPr marL="342900" indent="-222250">
              <a:buSzPts val="1900"/>
              <a:buNone/>
            </a:pPr>
            <a:endParaRPr sz="2800" dirty="0"/>
          </a:p>
          <a:p>
            <a:pPr marL="342900" indent="-342900"/>
            <a:r>
              <a:rPr lang="en-US" sz="2800" b="1" u="sng" dirty="0"/>
              <a:t>Chronic kidney disease/ Proteinuria</a:t>
            </a:r>
            <a:r>
              <a:rPr lang="en-US" sz="2800" dirty="0"/>
              <a:t>: </a:t>
            </a:r>
            <a:r>
              <a:rPr lang="en-US" sz="2800" b="1" i="1" dirty="0"/>
              <a:t>ACEI or ARB</a:t>
            </a:r>
            <a:r>
              <a:rPr lang="en-US" sz="2800" dirty="0"/>
              <a:t>, then either a DHP-CCB or a thiazide</a:t>
            </a:r>
            <a:endParaRPr sz="2800" dirty="0"/>
          </a:p>
          <a:p>
            <a:pPr marL="342900" indent="-222250">
              <a:buSzPts val="1900"/>
              <a:buNone/>
            </a:pPr>
            <a:endParaRPr sz="2800" dirty="0"/>
          </a:p>
          <a:p>
            <a:pPr marL="342900" indent="-342900"/>
            <a:r>
              <a:rPr lang="en-US" sz="2800" b="1" u="sng" dirty="0"/>
              <a:t>Recurrent stroke prevention</a:t>
            </a:r>
            <a:r>
              <a:rPr lang="en-US" sz="2800" dirty="0"/>
              <a:t>: </a:t>
            </a:r>
            <a:r>
              <a:rPr lang="en-US" sz="2800" b="1" i="1" dirty="0"/>
              <a:t>ACEI or ARB</a:t>
            </a:r>
            <a:r>
              <a:rPr lang="en-US" sz="2800" dirty="0"/>
              <a:t>, then either a thiazide or a DHP-CCB		</a:t>
            </a:r>
            <a:endParaRPr sz="2800" dirty="0">
              <a:latin typeface="Constantia"/>
              <a:ea typeface="Constantia"/>
              <a:cs typeface="Constantia"/>
              <a:sym typeface="Constanti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55"/>
        <p:cNvGrpSpPr/>
        <p:nvPr/>
      </p:nvGrpSpPr>
      <p:grpSpPr>
        <a:xfrm>
          <a:off x="0" y="0"/>
          <a:ext cx="0" cy="0"/>
          <a:chOff x="0" y="0"/>
          <a:chExt cx="0" cy="0"/>
        </a:xfrm>
      </p:grpSpPr>
      <p:sp>
        <p:nvSpPr>
          <p:cNvPr id="1056" name="Google Shape;1056;p138"/>
          <p:cNvSpPr txBox="1">
            <a:spLocks noGrp="1"/>
          </p:cNvSpPr>
          <p:nvPr>
            <p:ph type="title"/>
          </p:nvPr>
        </p:nvSpPr>
        <p:spPr>
          <a:xfrm>
            <a:off x="1981200" y="92076"/>
            <a:ext cx="8229600" cy="974725"/>
          </a:xfrm>
          <a:prstGeom prst="rect">
            <a:avLst/>
          </a:prstGeom>
          <a:noFill/>
          <a:ln>
            <a:noFill/>
          </a:ln>
        </p:spPr>
        <p:txBody>
          <a:bodyPr spcFirstLastPara="1" wrap="square" lIns="50800" tIns="50800" rIns="50800" bIns="50800" anchor="ctr" anchorCtr="0">
            <a:noAutofit/>
          </a:bodyPr>
          <a:lstStyle/>
          <a:p>
            <a:r>
              <a:rPr lang="en-US"/>
              <a:t>Drug Treatment Principles</a:t>
            </a:r>
            <a:endParaRPr/>
          </a:p>
        </p:txBody>
      </p:sp>
      <p:sp>
        <p:nvSpPr>
          <p:cNvPr id="1057" name="Google Shape;1057;p138"/>
          <p:cNvSpPr txBox="1">
            <a:spLocks noGrp="1"/>
          </p:cNvSpPr>
          <p:nvPr>
            <p:ph type="body" idx="1"/>
          </p:nvPr>
        </p:nvSpPr>
        <p:spPr>
          <a:xfrm>
            <a:off x="631595" y="1219200"/>
            <a:ext cx="11293311" cy="5546725"/>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dirty="0"/>
              <a:t>Other factors to consider when choosing a drug regimen.</a:t>
            </a:r>
            <a:endParaRPr dirty="0"/>
          </a:p>
          <a:p>
            <a:pPr marL="514350" indent="-514350">
              <a:buFont typeface="+mj-lt"/>
              <a:buAutoNum type="arabicPeriod"/>
            </a:pPr>
            <a:r>
              <a:rPr lang="en-US" b="1" i="1" dirty="0"/>
              <a:t>Pregnancy potential</a:t>
            </a:r>
            <a:r>
              <a:rPr lang="en-US" dirty="0"/>
              <a:t>: </a:t>
            </a:r>
            <a:r>
              <a:rPr lang="en-US" b="1" dirty="0"/>
              <a:t>NO ACEI or ARB</a:t>
            </a:r>
            <a:r>
              <a:rPr lang="en-US" dirty="0"/>
              <a:t>; however, thiazides, DHP-CCB or BB are okay</a:t>
            </a:r>
            <a:endParaRPr sz="1500" dirty="0"/>
          </a:p>
          <a:p>
            <a:pPr marL="514350" indent="-514350">
              <a:buFont typeface="+mj-lt"/>
              <a:buAutoNum type="arabicPeriod"/>
            </a:pPr>
            <a:r>
              <a:rPr lang="en-US" b="1" dirty="0">
                <a:solidFill>
                  <a:schemeClr val="tx1"/>
                </a:solidFill>
              </a:rPr>
              <a:t>Age &gt;60 years: </a:t>
            </a:r>
            <a:r>
              <a:rPr lang="en-US" dirty="0">
                <a:solidFill>
                  <a:schemeClr val="tx1"/>
                </a:solidFill>
              </a:rPr>
              <a:t>Thiazide, ACE-I or ARB preferred</a:t>
            </a:r>
            <a:endParaRPr dirty="0">
              <a:solidFill>
                <a:schemeClr val="tx1"/>
              </a:solidFill>
            </a:endParaRPr>
          </a:p>
          <a:p>
            <a:pPr marL="782638" lvl="1" indent="-325438"/>
            <a:r>
              <a:rPr lang="en-US" i="1" u="sng" dirty="0">
                <a:solidFill>
                  <a:schemeClr val="tx1"/>
                </a:solidFill>
              </a:rPr>
              <a:t>Gout, urinary incontinence, SSRI treatment or low serum sodium</a:t>
            </a:r>
            <a:r>
              <a:rPr lang="en-US" dirty="0">
                <a:solidFill>
                  <a:schemeClr val="tx1"/>
                </a:solidFill>
              </a:rPr>
              <a:t>: </a:t>
            </a:r>
            <a:r>
              <a:rPr lang="en-US" b="1" dirty="0">
                <a:solidFill>
                  <a:schemeClr val="tx1"/>
                </a:solidFill>
              </a:rPr>
              <a:t>avoid thiazide diuretics</a:t>
            </a:r>
            <a:r>
              <a:rPr lang="en-US" dirty="0">
                <a:solidFill>
                  <a:schemeClr val="tx1"/>
                </a:solidFill>
              </a:rPr>
              <a:t>.</a:t>
            </a:r>
            <a:endParaRPr dirty="0">
              <a:solidFill>
                <a:schemeClr val="tx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55"/>
        <p:cNvGrpSpPr/>
        <p:nvPr/>
      </p:nvGrpSpPr>
      <p:grpSpPr>
        <a:xfrm>
          <a:off x="0" y="0"/>
          <a:ext cx="0" cy="0"/>
          <a:chOff x="0" y="0"/>
          <a:chExt cx="0" cy="0"/>
        </a:xfrm>
      </p:grpSpPr>
      <p:sp>
        <p:nvSpPr>
          <p:cNvPr id="1056" name="Google Shape;1056;p138"/>
          <p:cNvSpPr txBox="1">
            <a:spLocks noGrp="1"/>
          </p:cNvSpPr>
          <p:nvPr>
            <p:ph type="title"/>
          </p:nvPr>
        </p:nvSpPr>
        <p:spPr>
          <a:xfrm>
            <a:off x="1981200" y="92076"/>
            <a:ext cx="8229600" cy="974725"/>
          </a:xfrm>
          <a:prstGeom prst="rect">
            <a:avLst/>
          </a:prstGeom>
          <a:noFill/>
          <a:ln>
            <a:noFill/>
          </a:ln>
        </p:spPr>
        <p:txBody>
          <a:bodyPr spcFirstLastPara="1" wrap="square" lIns="50800" tIns="50800" rIns="50800" bIns="50800" anchor="ctr" anchorCtr="0">
            <a:noAutofit/>
          </a:bodyPr>
          <a:lstStyle/>
          <a:p>
            <a:r>
              <a:rPr lang="en-US"/>
              <a:t>Drug Treatment Principles</a:t>
            </a:r>
            <a:endParaRPr/>
          </a:p>
        </p:txBody>
      </p:sp>
      <p:sp>
        <p:nvSpPr>
          <p:cNvPr id="1057" name="Google Shape;1057;p138"/>
          <p:cNvSpPr txBox="1">
            <a:spLocks noGrp="1"/>
          </p:cNvSpPr>
          <p:nvPr>
            <p:ph type="body" idx="1"/>
          </p:nvPr>
        </p:nvSpPr>
        <p:spPr>
          <a:xfrm>
            <a:off x="622169" y="1066801"/>
            <a:ext cx="11133056" cy="5699124"/>
          </a:xfrm>
          <a:prstGeom prst="rect">
            <a:avLst/>
          </a:prstGeom>
          <a:noFill/>
          <a:ln>
            <a:noFill/>
          </a:ln>
        </p:spPr>
        <p:txBody>
          <a:bodyPr spcFirstLastPara="1" wrap="square" lIns="91425" tIns="45700" rIns="91425" bIns="45700" anchor="t" anchorCtr="0">
            <a:noAutofit/>
          </a:bodyPr>
          <a:lstStyle/>
          <a:p>
            <a:pPr marL="514350" indent="-514350">
              <a:spcBef>
                <a:spcPts val="600"/>
              </a:spcBef>
              <a:spcAft>
                <a:spcPts val="600"/>
              </a:spcAft>
              <a:buFont typeface="+mj-lt"/>
              <a:buAutoNum type="arabicPeriod" startAt="3"/>
            </a:pPr>
            <a:r>
              <a:rPr lang="en-US" b="1" dirty="0"/>
              <a:t>Race/ Ethnicity</a:t>
            </a:r>
            <a:r>
              <a:rPr lang="en-US" dirty="0"/>
              <a:t>:</a:t>
            </a:r>
          </a:p>
          <a:p>
            <a:pPr marL="514350" indent="-514350">
              <a:spcBef>
                <a:spcPts val="600"/>
              </a:spcBef>
              <a:spcAft>
                <a:spcPts val="600"/>
              </a:spcAft>
            </a:pPr>
            <a:r>
              <a:rPr lang="en-US" b="1" dirty="0"/>
              <a:t>ACEI and ARBs work best in a Caucasian or Asian patients with hypertension.</a:t>
            </a:r>
          </a:p>
          <a:p>
            <a:pPr marL="514350" indent="-514350">
              <a:spcBef>
                <a:spcPts val="600"/>
              </a:spcBef>
              <a:spcAft>
                <a:spcPts val="600"/>
              </a:spcAft>
            </a:pPr>
            <a:r>
              <a:rPr lang="en-US" b="1" dirty="0"/>
              <a:t>Calcium channel blockers and thiazide diuretics work best in AA patients with hypertension.</a:t>
            </a:r>
          </a:p>
          <a:p>
            <a:pPr marL="514350" indent="-514350">
              <a:spcBef>
                <a:spcPts val="600"/>
              </a:spcBef>
              <a:spcAft>
                <a:spcPts val="600"/>
              </a:spcAft>
            </a:pPr>
            <a:endParaRPr lang="en-US" sz="2000" dirty="0"/>
          </a:p>
          <a:p>
            <a:pPr marL="514350" indent="-514350">
              <a:spcBef>
                <a:spcPts val="0"/>
              </a:spcBef>
            </a:pPr>
            <a:endParaRPr dirty="0"/>
          </a:p>
          <a:p>
            <a:pPr marL="342900" indent="-139700">
              <a:buNone/>
            </a:pPr>
            <a:endParaRPr dirty="0">
              <a:latin typeface="Calibri"/>
              <a:ea typeface="Calibri"/>
              <a:cs typeface="Calibri"/>
              <a:sym typeface="Calibri"/>
            </a:endParaRPr>
          </a:p>
        </p:txBody>
      </p:sp>
    </p:spTree>
    <p:extLst>
      <p:ext uri="{BB962C8B-B14F-4D97-AF65-F5344CB8AC3E}">
        <p14:creationId xmlns:p14="http://schemas.microsoft.com/office/powerpoint/2010/main" val="14159832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026"/>
        <p:cNvGrpSpPr/>
        <p:nvPr/>
      </p:nvGrpSpPr>
      <p:grpSpPr>
        <a:xfrm>
          <a:off x="0" y="0"/>
          <a:ext cx="0" cy="0"/>
          <a:chOff x="0" y="0"/>
          <a:chExt cx="0" cy="0"/>
        </a:xfrm>
      </p:grpSpPr>
      <p:sp>
        <p:nvSpPr>
          <p:cNvPr id="1027" name="Google Shape;1027;p134"/>
          <p:cNvSpPr txBox="1">
            <a:spLocks noGrp="1"/>
          </p:cNvSpPr>
          <p:nvPr>
            <p:ph type="title"/>
          </p:nvPr>
        </p:nvSpPr>
        <p:spPr>
          <a:xfrm>
            <a:off x="1981200" y="73223"/>
            <a:ext cx="8229600" cy="974725"/>
          </a:xfrm>
          <a:prstGeom prst="rect">
            <a:avLst/>
          </a:prstGeom>
          <a:noFill/>
          <a:ln>
            <a:noFill/>
          </a:ln>
        </p:spPr>
        <p:txBody>
          <a:bodyPr spcFirstLastPara="1" wrap="square" lIns="50800" tIns="50800" rIns="50800" bIns="50800" anchor="ctr" anchorCtr="0">
            <a:noAutofit/>
          </a:bodyPr>
          <a:lstStyle/>
          <a:p>
            <a:r>
              <a:rPr lang="en-US"/>
              <a:t>Drug Treatment Principles</a:t>
            </a:r>
            <a:br>
              <a:rPr lang="en-US"/>
            </a:br>
            <a:r>
              <a:rPr lang="en-US"/>
              <a:t>First Line Drug Classes for HTN</a:t>
            </a:r>
            <a:endParaRPr/>
          </a:p>
        </p:txBody>
      </p:sp>
      <p:sp>
        <p:nvSpPr>
          <p:cNvPr id="1028" name="Google Shape;1028;p134"/>
          <p:cNvSpPr txBox="1">
            <a:spLocks noGrp="1"/>
          </p:cNvSpPr>
          <p:nvPr>
            <p:ph type="body" idx="1"/>
          </p:nvPr>
        </p:nvSpPr>
        <p:spPr>
          <a:xfrm>
            <a:off x="575035" y="1219200"/>
            <a:ext cx="9972649" cy="5502275"/>
          </a:xfrm>
          <a:prstGeom prst="rect">
            <a:avLst/>
          </a:prstGeom>
          <a:noFill/>
          <a:ln>
            <a:noFill/>
          </a:ln>
        </p:spPr>
        <p:txBody>
          <a:bodyPr spcFirstLastPara="1" wrap="square" lIns="91425" tIns="45700" rIns="91425" bIns="45700" anchor="t" anchorCtr="0">
            <a:noAutofit/>
          </a:bodyPr>
          <a:lstStyle/>
          <a:p>
            <a:pPr marL="91440" indent="-342900">
              <a:spcBef>
                <a:spcPts val="600"/>
              </a:spcBef>
            </a:pPr>
            <a:r>
              <a:rPr lang="en-US"/>
              <a:t>Should be initiated for those w/o other compelling indications or contraindications</a:t>
            </a:r>
          </a:p>
          <a:p>
            <a:pPr marL="548640" lvl="2" indent="-342900">
              <a:spcBef>
                <a:spcPts val="600"/>
              </a:spcBef>
            </a:pPr>
            <a:r>
              <a:rPr lang="en-US" b="1" i="1"/>
              <a:t>ACEIs or ARBs </a:t>
            </a:r>
          </a:p>
          <a:p>
            <a:pPr marL="548640" lvl="2" indent="-342900">
              <a:spcBef>
                <a:spcPts val="600"/>
              </a:spcBef>
            </a:pPr>
            <a:r>
              <a:rPr lang="en-US" b="1" i="1"/>
              <a:t>Calcium channel blockers (CCBs) </a:t>
            </a:r>
          </a:p>
          <a:p>
            <a:pPr marL="548640" lvl="2" indent="-342900">
              <a:spcBef>
                <a:spcPts val="600"/>
              </a:spcBef>
            </a:pPr>
            <a:r>
              <a:rPr lang="en-US" b="1" i="1"/>
              <a:t>Thiazide-type diuretics </a:t>
            </a:r>
            <a:endParaRPr/>
          </a:p>
          <a:p>
            <a:pPr marL="342900" indent="-139700">
              <a:spcBef>
                <a:spcPts val="1400"/>
              </a:spcBef>
              <a:buNone/>
            </a:pPr>
            <a:endParaRPr sz="2000"/>
          </a:p>
          <a:p>
            <a:pPr marL="342900" indent="-342900">
              <a:spcBef>
                <a:spcPts val="1400"/>
              </a:spcBef>
            </a:pPr>
            <a:r>
              <a:rPr lang="en-US"/>
              <a:t>However, the clinician may need to use other options if the patient develops compelling indications for a class or comorbidities that preclude the use of some drug classes.</a:t>
            </a:r>
            <a:endParaRPr/>
          </a:p>
          <a:p>
            <a:pPr marL="0" indent="0">
              <a:spcBef>
                <a:spcPts val="1400"/>
              </a:spcBef>
              <a:buNone/>
            </a:pPr>
            <a:r>
              <a:rPr lang="en-US"/>
              <a:t>		</a:t>
            </a:r>
            <a:endParaRPr>
              <a:latin typeface="Constantia"/>
              <a:ea typeface="Constantia"/>
              <a:cs typeface="Constantia"/>
              <a:sym typeface="Constanti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026"/>
        <p:cNvGrpSpPr/>
        <p:nvPr/>
      </p:nvGrpSpPr>
      <p:grpSpPr>
        <a:xfrm>
          <a:off x="0" y="0"/>
          <a:ext cx="0" cy="0"/>
          <a:chOff x="0" y="0"/>
          <a:chExt cx="0" cy="0"/>
        </a:xfrm>
      </p:grpSpPr>
      <p:sp>
        <p:nvSpPr>
          <p:cNvPr id="1027" name="Google Shape;1027;p134"/>
          <p:cNvSpPr txBox="1">
            <a:spLocks noGrp="1"/>
          </p:cNvSpPr>
          <p:nvPr>
            <p:ph type="title"/>
          </p:nvPr>
        </p:nvSpPr>
        <p:spPr>
          <a:xfrm>
            <a:off x="1981200" y="92076"/>
            <a:ext cx="8229600" cy="974725"/>
          </a:xfrm>
          <a:prstGeom prst="rect">
            <a:avLst/>
          </a:prstGeom>
          <a:noFill/>
          <a:ln>
            <a:noFill/>
          </a:ln>
        </p:spPr>
        <p:txBody>
          <a:bodyPr spcFirstLastPara="1" wrap="square" lIns="50800" tIns="50800" rIns="50800" bIns="50800" anchor="ctr" anchorCtr="0">
            <a:noAutofit/>
          </a:bodyPr>
          <a:lstStyle/>
          <a:p>
            <a:r>
              <a:rPr lang="en-US"/>
              <a:t>Drug Treatment Principles</a:t>
            </a:r>
            <a:endParaRPr/>
          </a:p>
        </p:txBody>
      </p:sp>
      <p:sp>
        <p:nvSpPr>
          <p:cNvPr id="1028" name="Google Shape;1028;p134"/>
          <p:cNvSpPr txBox="1">
            <a:spLocks noGrp="1"/>
          </p:cNvSpPr>
          <p:nvPr>
            <p:ph type="body" idx="1"/>
          </p:nvPr>
        </p:nvSpPr>
        <p:spPr>
          <a:xfrm>
            <a:off x="820131" y="1219200"/>
            <a:ext cx="10605155" cy="5502275"/>
          </a:xfrm>
          <a:prstGeom prst="rect">
            <a:avLst/>
          </a:prstGeom>
          <a:noFill/>
          <a:ln>
            <a:noFill/>
          </a:ln>
        </p:spPr>
        <p:txBody>
          <a:bodyPr spcFirstLastPara="1" wrap="square" lIns="91425" tIns="45700" rIns="91425" bIns="45700" anchor="t" anchorCtr="0">
            <a:noAutofit/>
          </a:bodyPr>
          <a:lstStyle/>
          <a:p>
            <a:pPr marL="0" indent="0">
              <a:spcBef>
                <a:spcPts val="600"/>
              </a:spcBef>
              <a:spcAft>
                <a:spcPts val="600"/>
              </a:spcAft>
              <a:buSzPct val="80000"/>
              <a:buNone/>
            </a:pPr>
            <a:r>
              <a:rPr lang="en-US"/>
              <a:t>Several medications are now designated as later-line alternatives for the treatment of hypertension but are still routinely used.</a:t>
            </a:r>
          </a:p>
          <a:p>
            <a:pPr marL="548640" lvl="2" indent="-457200">
              <a:spcBef>
                <a:spcPts val="600"/>
              </a:spcBef>
              <a:spcAft>
                <a:spcPts val="600"/>
              </a:spcAft>
              <a:buSzPct val="80000"/>
              <a:buFont typeface="Arial" panose="020B0604020202020204" pitchFamily="34" charset="0"/>
              <a:buChar char="•"/>
            </a:pPr>
            <a:r>
              <a:rPr lang="en-US"/>
              <a:t>Aldosterone antagonists (spironolactone) </a:t>
            </a:r>
          </a:p>
          <a:p>
            <a:pPr marL="548640" lvl="2" indent="-342900">
              <a:spcBef>
                <a:spcPts val="600"/>
              </a:spcBef>
              <a:buSzPct val="80000"/>
            </a:pPr>
            <a:r>
              <a:rPr lang="en-US"/>
              <a:t>Alpha1/beta-blockers (carvedilol) </a:t>
            </a:r>
          </a:p>
          <a:p>
            <a:pPr marL="548640" lvl="2" indent="-342900">
              <a:spcBef>
                <a:spcPts val="600"/>
              </a:spcBef>
              <a:buSzPct val="80000"/>
            </a:pPr>
            <a:r>
              <a:rPr lang="en-US"/>
              <a:t>Beta-blockers (metoprolol)</a:t>
            </a:r>
          </a:p>
          <a:p>
            <a:pPr marL="548640" lvl="2" indent="-342900">
              <a:spcBef>
                <a:spcPts val="600"/>
              </a:spcBef>
              <a:buSzPct val="80000"/>
            </a:pPr>
            <a:r>
              <a:rPr lang="en-US"/>
              <a:t>Alpha-blockers (doxazosin)</a:t>
            </a:r>
          </a:p>
          <a:p>
            <a:pPr marL="548640" lvl="2" indent="-342900">
              <a:spcBef>
                <a:spcPts val="600"/>
              </a:spcBef>
              <a:buSzPct val="80000"/>
            </a:pPr>
            <a:r>
              <a:rPr lang="en-US"/>
              <a:t>Central alpha2-adrenergic agonists (clonidine)</a:t>
            </a:r>
          </a:p>
          <a:p>
            <a:pPr marL="548640" lvl="2" indent="-342900">
              <a:spcBef>
                <a:spcPts val="600"/>
              </a:spcBef>
              <a:buSzPct val="80000"/>
            </a:pPr>
            <a:r>
              <a:rPr lang="en-US"/>
              <a:t>Direct arterial vasodilators (hydralazine)</a:t>
            </a:r>
          </a:p>
          <a:p>
            <a:pPr marL="0" indent="0">
              <a:spcBef>
                <a:spcPts val="1400"/>
              </a:spcBef>
              <a:buNone/>
            </a:pPr>
            <a:r>
              <a:rPr lang="en-US"/>
              <a:t>	</a:t>
            </a:r>
            <a:endParaRPr>
              <a:latin typeface="Constantia"/>
              <a:ea typeface="Constantia"/>
              <a:cs typeface="Constantia"/>
              <a:sym typeface="Constantia"/>
            </a:endParaRPr>
          </a:p>
        </p:txBody>
      </p:sp>
    </p:spTree>
    <p:extLst>
      <p:ext uri="{BB962C8B-B14F-4D97-AF65-F5344CB8AC3E}">
        <p14:creationId xmlns:p14="http://schemas.microsoft.com/office/powerpoint/2010/main" val="41504255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070"/>
        <p:cNvGrpSpPr/>
        <p:nvPr/>
      </p:nvGrpSpPr>
      <p:grpSpPr>
        <a:xfrm>
          <a:off x="0" y="0"/>
          <a:ext cx="0" cy="0"/>
          <a:chOff x="0" y="0"/>
          <a:chExt cx="0" cy="0"/>
        </a:xfrm>
      </p:grpSpPr>
      <p:sp>
        <p:nvSpPr>
          <p:cNvPr id="1071" name="Google Shape;1071;p140"/>
          <p:cNvSpPr txBox="1">
            <a:spLocks noGrp="1"/>
          </p:cNvSpPr>
          <p:nvPr>
            <p:ph type="title"/>
          </p:nvPr>
        </p:nvSpPr>
        <p:spPr>
          <a:xfrm>
            <a:off x="1981200" y="92076"/>
            <a:ext cx="8229600" cy="1050925"/>
          </a:xfrm>
          <a:prstGeom prst="rect">
            <a:avLst/>
          </a:prstGeom>
          <a:noFill/>
          <a:ln>
            <a:noFill/>
          </a:ln>
        </p:spPr>
        <p:txBody>
          <a:bodyPr spcFirstLastPara="1" wrap="square" lIns="50800" tIns="50800" rIns="50800" bIns="50800" anchor="ctr" anchorCtr="0">
            <a:noAutofit/>
          </a:bodyPr>
          <a:lstStyle/>
          <a:p>
            <a:r>
              <a:rPr lang="en-US"/>
              <a:t>Diuretics</a:t>
            </a:r>
            <a:endParaRPr/>
          </a:p>
        </p:txBody>
      </p:sp>
      <p:sp>
        <p:nvSpPr>
          <p:cNvPr id="1072" name="Google Shape;1072;p140"/>
          <p:cNvSpPr txBox="1">
            <a:spLocks noGrp="1"/>
          </p:cNvSpPr>
          <p:nvPr>
            <p:ph type="body" idx="1"/>
          </p:nvPr>
        </p:nvSpPr>
        <p:spPr>
          <a:xfrm>
            <a:off x="546755" y="1143000"/>
            <a:ext cx="11180189" cy="5622925"/>
          </a:xfrm>
          <a:prstGeom prst="rect">
            <a:avLst/>
          </a:prstGeom>
          <a:noFill/>
          <a:ln>
            <a:noFill/>
          </a:ln>
        </p:spPr>
        <p:txBody>
          <a:bodyPr spcFirstLastPara="1" wrap="square" lIns="91425" tIns="45700" rIns="91425" bIns="45700" anchor="t" anchorCtr="0">
            <a:noAutofit/>
          </a:bodyPr>
          <a:lstStyle/>
          <a:p>
            <a:pPr marL="342900" indent="-342900">
              <a:spcBef>
                <a:spcPts val="0"/>
              </a:spcBef>
              <a:buSzPts val="3000"/>
            </a:pPr>
            <a:r>
              <a:rPr lang="en-US" sz="3000"/>
              <a:t>Diuretics stimulate the production of urine by the kidneys, by </a:t>
            </a:r>
            <a:r>
              <a:rPr lang="en-US" sz="3000" b="1" i="1"/>
              <a:t>decreasing the kidney’s ability to reabsorb water</a:t>
            </a:r>
            <a:r>
              <a:rPr lang="en-US" sz="3000"/>
              <a:t> from the filtrate passing through the nephron. </a:t>
            </a:r>
            <a:endParaRPr/>
          </a:p>
          <a:p>
            <a:pPr marL="342900" indent="-228600">
              <a:buSzPts val="1800"/>
              <a:buNone/>
            </a:pPr>
            <a:endParaRPr sz="1800"/>
          </a:p>
          <a:p>
            <a:pPr marL="342900" indent="-342900">
              <a:buSzPts val="3000"/>
            </a:pPr>
            <a:r>
              <a:rPr lang="en-US" sz="3000"/>
              <a:t>Increasing urine production lowers blood volume and CO temporarily, leading to increased PVR, however 6-8wk later CO normalizes and PVR reduces. </a:t>
            </a:r>
          </a:p>
          <a:p>
            <a:pPr marL="342900" indent="-342900">
              <a:buSzPts val="3000"/>
            </a:pPr>
            <a:endParaRPr sz="1800"/>
          </a:p>
          <a:p>
            <a:pPr marL="342900" indent="-342900">
              <a:buSzPts val="3000"/>
            </a:pPr>
            <a:r>
              <a:rPr lang="en-US" sz="3000"/>
              <a:t>Types of diuretics that lower blood pressure include thiazides, loop, and potassium sparing diuretics.</a:t>
            </a:r>
            <a:endParaRPr sz="3000">
              <a:latin typeface="Constantia"/>
              <a:ea typeface="Constantia"/>
              <a:cs typeface="Constantia"/>
              <a:sym typeface="Constanti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077"/>
        <p:cNvGrpSpPr/>
        <p:nvPr/>
      </p:nvGrpSpPr>
      <p:grpSpPr>
        <a:xfrm>
          <a:off x="0" y="0"/>
          <a:ext cx="0" cy="0"/>
          <a:chOff x="0" y="0"/>
          <a:chExt cx="0" cy="0"/>
        </a:xfrm>
      </p:grpSpPr>
      <p:sp>
        <p:nvSpPr>
          <p:cNvPr id="1078" name="Google Shape;1078;p141"/>
          <p:cNvSpPr txBox="1">
            <a:spLocks noGrp="1"/>
          </p:cNvSpPr>
          <p:nvPr>
            <p:ph type="title"/>
          </p:nvPr>
        </p:nvSpPr>
        <p:spPr>
          <a:xfrm>
            <a:off x="1981200" y="704850"/>
            <a:ext cx="8229600" cy="590550"/>
          </a:xfrm>
          <a:prstGeom prst="rect">
            <a:avLst/>
          </a:prstGeom>
          <a:noFill/>
          <a:ln>
            <a:noFill/>
          </a:ln>
        </p:spPr>
        <p:txBody>
          <a:bodyPr spcFirstLastPara="1" wrap="square" lIns="50800" tIns="50800" rIns="50800" bIns="50800" anchor="ctr" anchorCtr="0">
            <a:noAutofit/>
          </a:bodyPr>
          <a:lstStyle/>
          <a:p>
            <a:r>
              <a:rPr lang="en-US"/>
              <a:t>Diuretics</a:t>
            </a:r>
            <a:endParaRPr/>
          </a:p>
        </p:txBody>
      </p:sp>
      <p:grpSp>
        <p:nvGrpSpPr>
          <p:cNvPr id="1081" name="Google Shape;1081;p141"/>
          <p:cNvGrpSpPr/>
          <p:nvPr/>
        </p:nvGrpSpPr>
        <p:grpSpPr>
          <a:xfrm>
            <a:off x="2521744" y="1362075"/>
            <a:ext cx="7148512" cy="3627437"/>
            <a:chOff x="631" y="853"/>
            <a:chExt cx="4503" cy="2285"/>
          </a:xfrm>
        </p:grpSpPr>
        <p:sp>
          <p:nvSpPr>
            <p:cNvPr id="1082" name="Google Shape;1082;p141"/>
            <p:cNvSpPr txBox="1"/>
            <p:nvPr/>
          </p:nvSpPr>
          <p:spPr>
            <a:xfrm>
              <a:off x="631" y="853"/>
              <a:ext cx="116" cy="174"/>
            </a:xfrm>
            <a:prstGeom prst="rect">
              <a:avLst/>
            </a:prstGeom>
            <a:solidFill>
              <a:srgbClr val="FFFFFF"/>
            </a:solidFill>
            <a:ln>
              <a:noFill/>
            </a:ln>
          </p:spPr>
          <p:txBody>
            <a:bodyPr spcFirstLastPara="1" wrap="square" lIns="91425" tIns="45700" rIns="91425" bIns="45700" anchor="t" anchorCtr="0">
              <a:spAutoFit/>
            </a:bodyPr>
            <a:lstStyle/>
            <a:p>
              <a:endParaRPr sz="1200" u="sng">
                <a:solidFill>
                  <a:schemeClr val="dk1"/>
                </a:solidFill>
              </a:endParaRPr>
            </a:p>
          </p:txBody>
        </p:sp>
        <p:sp>
          <p:nvSpPr>
            <p:cNvPr id="1083" name="Google Shape;1083;p141"/>
            <p:cNvSpPr txBox="1"/>
            <p:nvPr/>
          </p:nvSpPr>
          <p:spPr>
            <a:xfrm>
              <a:off x="3816" y="2263"/>
              <a:ext cx="1232" cy="496"/>
            </a:xfrm>
            <a:prstGeom prst="rect">
              <a:avLst/>
            </a:prstGeom>
            <a:solidFill>
              <a:srgbClr val="FFFFFF"/>
            </a:solidFill>
            <a:ln>
              <a:noFill/>
            </a:ln>
          </p:spPr>
          <p:txBody>
            <a:bodyPr spcFirstLastPara="1" wrap="square" lIns="91425" tIns="45700" rIns="91425" bIns="45700" anchor="t" anchorCtr="0">
              <a:noAutofit/>
            </a:bodyPr>
            <a:lstStyle/>
            <a:p>
              <a:pPr algn="ctr"/>
              <a:r>
                <a:rPr lang="en-US" sz="1200" b="1">
                  <a:solidFill>
                    <a:srgbClr val="003366"/>
                  </a:solidFill>
                  <a:latin typeface="Comic Sans MS"/>
                  <a:ea typeface="Comic Sans MS"/>
                  <a:cs typeface="Comic Sans MS"/>
                  <a:sym typeface="Comic Sans MS"/>
                </a:rPr>
                <a:t>Loop diuretics</a:t>
              </a:r>
              <a:endParaRPr sz="1200" u="sng">
                <a:solidFill>
                  <a:schemeClr val="dk1"/>
                </a:solidFill>
              </a:endParaRPr>
            </a:p>
          </p:txBody>
        </p:sp>
        <p:sp>
          <p:nvSpPr>
            <p:cNvPr id="1084" name="Google Shape;1084;p141"/>
            <p:cNvSpPr txBox="1"/>
            <p:nvPr/>
          </p:nvSpPr>
          <p:spPr>
            <a:xfrm>
              <a:off x="3271" y="1418"/>
              <a:ext cx="1863" cy="276"/>
            </a:xfrm>
            <a:prstGeom prst="rect">
              <a:avLst/>
            </a:prstGeom>
            <a:solidFill>
              <a:srgbClr val="FFFFFF"/>
            </a:solidFill>
            <a:ln>
              <a:noFill/>
            </a:ln>
          </p:spPr>
          <p:txBody>
            <a:bodyPr spcFirstLastPara="1" wrap="square" lIns="91425" tIns="45700" rIns="91425" bIns="45700" anchor="t" anchorCtr="0">
              <a:noAutofit/>
            </a:bodyPr>
            <a:lstStyle/>
            <a:p>
              <a:r>
                <a:rPr lang="en-US" sz="1200" b="1">
                  <a:solidFill>
                    <a:srgbClr val="003366"/>
                  </a:solidFill>
                  <a:latin typeface="Comic Sans MS"/>
                  <a:ea typeface="Comic Sans MS"/>
                  <a:cs typeface="Comic Sans MS"/>
                  <a:sym typeface="Comic Sans MS"/>
                </a:rPr>
                <a:t>Thiazide diuretics</a:t>
              </a:r>
              <a:endParaRPr sz="1200" u="sng">
                <a:solidFill>
                  <a:schemeClr val="dk1"/>
                </a:solidFill>
                <a:latin typeface="Comic Sans MS"/>
                <a:ea typeface="Comic Sans MS"/>
                <a:cs typeface="Comic Sans MS"/>
                <a:sym typeface="Comic Sans MS"/>
              </a:endParaRPr>
            </a:p>
          </p:txBody>
        </p:sp>
        <p:sp>
          <p:nvSpPr>
            <p:cNvPr id="1085" name="Google Shape;1085;p141"/>
            <p:cNvSpPr txBox="1"/>
            <p:nvPr/>
          </p:nvSpPr>
          <p:spPr>
            <a:xfrm>
              <a:off x="3887" y="2652"/>
              <a:ext cx="1197" cy="486"/>
            </a:xfrm>
            <a:prstGeom prst="rect">
              <a:avLst/>
            </a:prstGeom>
            <a:solidFill>
              <a:srgbClr val="FFFFFF"/>
            </a:solidFill>
            <a:ln>
              <a:noFill/>
            </a:ln>
          </p:spPr>
          <p:txBody>
            <a:bodyPr spcFirstLastPara="1" wrap="square" lIns="91425" tIns="45700" rIns="91425" bIns="45700" anchor="t" anchorCtr="0">
              <a:noAutofit/>
            </a:bodyPr>
            <a:lstStyle/>
            <a:p>
              <a:pPr algn="ctr"/>
              <a:r>
                <a:rPr lang="en-US" sz="1200" b="1">
                  <a:solidFill>
                    <a:srgbClr val="003366"/>
                  </a:solidFill>
                  <a:latin typeface="Comic Sans MS"/>
                  <a:ea typeface="Comic Sans MS"/>
                  <a:cs typeface="Comic Sans MS"/>
                  <a:sym typeface="Comic Sans MS"/>
                </a:rPr>
                <a:t>Potassium sparing diuretics</a:t>
              </a:r>
              <a:endParaRPr sz="1200" u="sng">
                <a:solidFill>
                  <a:schemeClr val="dk1"/>
                </a:solidFill>
              </a:endParaRPr>
            </a:p>
          </p:txBody>
        </p:sp>
        <p:cxnSp>
          <p:nvCxnSpPr>
            <p:cNvPr id="1086" name="Google Shape;1086;p141"/>
            <p:cNvCxnSpPr/>
            <p:nvPr/>
          </p:nvCxnSpPr>
          <p:spPr>
            <a:xfrm rot="10800000">
              <a:off x="3012" y="2429"/>
              <a:ext cx="902" cy="0"/>
            </a:xfrm>
            <a:prstGeom prst="straightConnector1">
              <a:avLst/>
            </a:prstGeom>
            <a:noFill/>
            <a:ln w="9525" cap="flat" cmpd="sng">
              <a:solidFill>
                <a:srgbClr val="000000"/>
              </a:solidFill>
              <a:prstDash val="solid"/>
              <a:round/>
              <a:headEnd type="none" w="med" len="med"/>
              <a:tailEnd type="none" w="med" len="med"/>
            </a:ln>
          </p:spPr>
        </p:cxnSp>
      </p:grpSp>
      <p:cxnSp>
        <p:nvCxnSpPr>
          <p:cNvPr id="1087" name="Google Shape;1087;p141"/>
          <p:cNvCxnSpPr/>
          <p:nvPr/>
        </p:nvCxnSpPr>
        <p:spPr>
          <a:xfrm>
            <a:off x="7332663" y="4387850"/>
            <a:ext cx="685800" cy="0"/>
          </a:xfrm>
          <a:prstGeom prst="straightConnector1">
            <a:avLst/>
          </a:prstGeom>
          <a:noFill/>
          <a:ln w="9525" cap="flat" cmpd="sng">
            <a:solidFill>
              <a:schemeClr val="dk1"/>
            </a:solidFill>
            <a:prstDash val="solid"/>
            <a:round/>
            <a:headEnd type="none" w="med" len="med"/>
            <a:tailEnd type="none" w="med" len="med"/>
          </a:ln>
        </p:spPr>
      </p:cxnSp>
      <p:pic>
        <p:nvPicPr>
          <p:cNvPr id="2" name="Picture 3" descr="A picture containing diagram&#10;&#10;Description automatically generated">
            <a:extLst>
              <a:ext uri="{FF2B5EF4-FFF2-40B4-BE49-F238E27FC236}">
                <a16:creationId xmlns:a16="http://schemas.microsoft.com/office/drawing/2014/main" id="{F2CA9A1F-94EC-FB7B-6A09-5B1C55100FA7}"/>
              </a:ext>
            </a:extLst>
          </p:cNvPr>
          <p:cNvPicPr>
            <a:picLocks noChangeAspect="1"/>
          </p:cNvPicPr>
          <p:nvPr/>
        </p:nvPicPr>
        <p:blipFill rotWithShape="1">
          <a:blip r:embed="rId3"/>
          <a:srcRect l="15891" r="194" b="-255"/>
          <a:stretch/>
        </p:blipFill>
        <p:spPr>
          <a:xfrm>
            <a:off x="4756475" y="192564"/>
            <a:ext cx="7128769" cy="6472872"/>
          </a:xfrm>
          <a:prstGeom prst="rect">
            <a:avLst/>
          </a:prstGeom>
        </p:spPr>
      </p:pic>
      <p:pic>
        <p:nvPicPr>
          <p:cNvPr id="3" name="Picture 4" descr="Diagram&#10;&#10;Description automatically generated">
            <a:extLst>
              <a:ext uri="{FF2B5EF4-FFF2-40B4-BE49-F238E27FC236}">
                <a16:creationId xmlns:a16="http://schemas.microsoft.com/office/drawing/2014/main" id="{147FFC23-FE18-F9F4-83D0-79B66F75F712}"/>
              </a:ext>
            </a:extLst>
          </p:cNvPr>
          <p:cNvPicPr>
            <a:picLocks noChangeAspect="1"/>
          </p:cNvPicPr>
          <p:nvPr/>
        </p:nvPicPr>
        <p:blipFill>
          <a:blip r:embed="rId4"/>
          <a:stretch>
            <a:fillRect/>
          </a:stretch>
        </p:blipFill>
        <p:spPr>
          <a:xfrm>
            <a:off x="164850" y="704850"/>
            <a:ext cx="5158596" cy="3447350"/>
          </a:xfrm>
          <a:prstGeom prst="rect">
            <a:avLst/>
          </a:prstGeom>
        </p:spPr>
      </p:pic>
      <p:sp>
        <p:nvSpPr>
          <p:cNvPr id="1079" name="Google Shape;1079;p141"/>
          <p:cNvSpPr txBox="1"/>
          <p:nvPr/>
        </p:nvSpPr>
        <p:spPr>
          <a:xfrm>
            <a:off x="194469" y="5049692"/>
            <a:ext cx="5128978" cy="1323399"/>
          </a:xfrm>
          <a:prstGeom prst="rect">
            <a:avLst/>
          </a:prstGeom>
          <a:noFill/>
          <a:ln>
            <a:noFill/>
          </a:ln>
        </p:spPr>
        <p:txBody>
          <a:bodyPr spcFirstLastPara="1" wrap="square" lIns="91425" tIns="45700" rIns="91425" bIns="45700" anchor="t" anchorCtr="0">
            <a:spAutoFit/>
          </a:bodyPr>
          <a:lstStyle/>
          <a:p>
            <a:pPr algn="ctr"/>
            <a:r>
              <a:rPr lang="en-US" sz="2000">
                <a:solidFill>
                  <a:schemeClr val="accent2"/>
                </a:solidFill>
                <a:latin typeface="Comic Sans MS"/>
                <a:ea typeface="Comic Sans MS"/>
                <a:cs typeface="Comic Sans MS"/>
                <a:sym typeface="Comic Sans MS"/>
              </a:rPr>
              <a:t>Diuretics reduce the rate at which water is reabsorbed. This results in more water being lost from the body and ultimately a fall in blood volume </a:t>
            </a:r>
            <a:endParaRPr sz="2000">
              <a:solidFill>
                <a:schemeClr val="dk1"/>
              </a:solidFill>
              <a:latin typeface="Comic Sans MS"/>
              <a:ea typeface="Comic Sans MS"/>
              <a:cs typeface="Comic Sans MS"/>
              <a:sym typeface="Comic Sans M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091"/>
        <p:cNvGrpSpPr/>
        <p:nvPr/>
      </p:nvGrpSpPr>
      <p:grpSpPr>
        <a:xfrm>
          <a:off x="0" y="0"/>
          <a:ext cx="0" cy="0"/>
          <a:chOff x="0" y="0"/>
          <a:chExt cx="0" cy="0"/>
        </a:xfrm>
      </p:grpSpPr>
      <p:sp>
        <p:nvSpPr>
          <p:cNvPr id="1092" name="Google Shape;1092;p142"/>
          <p:cNvSpPr txBox="1">
            <a:spLocks noGrp="1"/>
          </p:cNvSpPr>
          <p:nvPr>
            <p:ph type="title"/>
          </p:nvPr>
        </p:nvSpPr>
        <p:spPr>
          <a:xfrm>
            <a:off x="1981200" y="92076"/>
            <a:ext cx="8229600" cy="822325"/>
          </a:xfrm>
          <a:prstGeom prst="rect">
            <a:avLst/>
          </a:prstGeom>
          <a:noFill/>
          <a:ln>
            <a:noFill/>
          </a:ln>
        </p:spPr>
        <p:txBody>
          <a:bodyPr spcFirstLastPara="1" wrap="square" lIns="50800" tIns="50800" rIns="50800" bIns="50800" anchor="ctr" anchorCtr="0">
            <a:noAutofit/>
          </a:bodyPr>
          <a:lstStyle/>
          <a:p>
            <a:r>
              <a:rPr lang="en-US"/>
              <a:t>Thiazide Diuretics</a:t>
            </a:r>
            <a:endParaRPr/>
          </a:p>
        </p:txBody>
      </p:sp>
      <p:sp>
        <p:nvSpPr>
          <p:cNvPr id="1093" name="Google Shape;1093;p142"/>
          <p:cNvSpPr txBox="1">
            <a:spLocks noGrp="1"/>
          </p:cNvSpPr>
          <p:nvPr>
            <p:ph type="body" idx="1"/>
          </p:nvPr>
        </p:nvSpPr>
        <p:spPr>
          <a:xfrm>
            <a:off x="509047" y="1363663"/>
            <a:ext cx="11510128" cy="5357813"/>
          </a:xfrm>
          <a:prstGeom prst="rect">
            <a:avLst/>
          </a:prstGeom>
          <a:noFill/>
          <a:ln>
            <a:noFill/>
          </a:ln>
        </p:spPr>
        <p:txBody>
          <a:bodyPr spcFirstLastPara="1" wrap="square" lIns="91425" tIns="45700" rIns="91425" bIns="45700" anchor="t" anchorCtr="0">
            <a:noAutofit/>
          </a:bodyPr>
          <a:lstStyle/>
          <a:p>
            <a:pPr marL="0" lvl="1" indent="0">
              <a:spcBef>
                <a:spcPts val="0"/>
              </a:spcBef>
              <a:buNone/>
            </a:pPr>
            <a:r>
              <a:rPr lang="en-US" dirty="0"/>
              <a:t>Preferred due to a longer duration of action, effective BP lowering although a greater risk of hypokalemia, hypercalcemia and relatively cheap</a:t>
            </a:r>
            <a:endParaRPr dirty="0"/>
          </a:p>
          <a:p>
            <a:pPr marL="342900" lvl="1" indent="-342900">
              <a:buFont typeface="Arial"/>
              <a:buChar char="•"/>
            </a:pPr>
            <a:r>
              <a:rPr lang="en-US" b="1" dirty="0"/>
              <a:t>Chlorthalidone-</a:t>
            </a:r>
            <a:r>
              <a:rPr lang="en-US" dirty="0"/>
              <a:t>longest duration</a:t>
            </a:r>
          </a:p>
          <a:p>
            <a:pPr marL="0" lvl="1" indent="0">
              <a:buNone/>
            </a:pPr>
            <a:r>
              <a:rPr lang="en-US" dirty="0"/>
              <a:t>    of action of thiazides. 12.5-25mg daily</a:t>
            </a:r>
          </a:p>
          <a:p>
            <a:pPr marL="342900" lvl="1" indent="-342900">
              <a:buFont typeface="Arial"/>
              <a:buChar char="•"/>
            </a:pPr>
            <a:r>
              <a:rPr lang="en-US" b="1" dirty="0"/>
              <a:t>Indapamide (</a:t>
            </a:r>
            <a:r>
              <a:rPr lang="en-US" b="1" dirty="0" err="1"/>
              <a:t>Lozol</a:t>
            </a:r>
            <a:r>
              <a:rPr lang="en-US" b="1" dirty="0"/>
              <a:t>) </a:t>
            </a:r>
            <a:r>
              <a:rPr lang="en-US" dirty="0"/>
              <a:t>1.25-2.5mg daily</a:t>
            </a:r>
          </a:p>
          <a:p>
            <a:pPr marL="342900" lvl="1" indent="-342900">
              <a:buFont typeface="Arial"/>
              <a:buChar char="•"/>
            </a:pPr>
            <a:r>
              <a:rPr lang="en-US" dirty="0"/>
              <a:t>Metolazone (</a:t>
            </a:r>
            <a:r>
              <a:rPr lang="en-US" dirty="0" err="1"/>
              <a:t>Zaroxolyn</a:t>
            </a:r>
            <a:r>
              <a:rPr lang="en-US" dirty="0"/>
              <a:t>)</a:t>
            </a:r>
          </a:p>
          <a:p>
            <a:pPr marL="342900" lvl="1" indent="-342900">
              <a:buFont typeface="Arial"/>
              <a:buChar char="•"/>
            </a:pPr>
            <a:r>
              <a:rPr lang="en-US" b="1" dirty="0"/>
              <a:t>Hydrochlorothiazide/HCTZ</a:t>
            </a:r>
            <a:r>
              <a:rPr lang="en-US" dirty="0"/>
              <a:t>  12.5-25mg </a:t>
            </a:r>
            <a:endParaRPr dirty="0">
              <a:latin typeface="Constantia"/>
              <a:ea typeface="Constantia"/>
              <a:cs typeface="Constantia"/>
              <a:sym typeface="Constantia"/>
            </a:endParaRPr>
          </a:p>
        </p:txBody>
      </p:sp>
      <p:sp>
        <p:nvSpPr>
          <p:cNvPr id="1094" name="Google Shape;1094;p142"/>
          <p:cNvSpPr txBox="1">
            <a:spLocks noGrp="1"/>
          </p:cNvSpPr>
          <p:nvPr>
            <p:ph type="sldNum" idx="12"/>
          </p:nvPr>
        </p:nvSpPr>
        <p:spPr>
          <a:xfrm>
            <a:off x="9448800" y="6356351"/>
            <a:ext cx="762000" cy="365125"/>
          </a:xfrm>
          <a:prstGeom prst="rect">
            <a:avLst/>
          </a:prstGeom>
          <a:noFill/>
          <a:ln>
            <a:noFill/>
          </a:ln>
        </p:spPr>
        <p:txBody>
          <a:bodyPr spcFirstLastPara="1" wrap="square" lIns="91425" tIns="45700" rIns="91425" bIns="45700" anchor="t" anchorCtr="0">
            <a:noAutofit/>
          </a:bodyPr>
          <a:lstStyle/>
          <a:p>
            <a:fld id="{00000000-1234-1234-1234-123412341234}" type="slidenum">
              <a:rPr lang="en-US" sz="1200">
                <a:solidFill>
                  <a:schemeClr val="lt1"/>
                </a:solidFill>
                <a:latin typeface="Constantia"/>
                <a:ea typeface="Constantia"/>
                <a:cs typeface="Constantia"/>
                <a:sym typeface="Constantia"/>
              </a:rPr>
              <a:pPr/>
              <a:t>34</a:t>
            </a:fld>
            <a:endParaRPr sz="1200">
              <a:solidFill>
                <a:schemeClr val="lt1"/>
              </a:solidFill>
              <a:latin typeface="Constantia"/>
              <a:ea typeface="Constantia"/>
              <a:cs typeface="Constantia"/>
              <a:sym typeface="Constantia"/>
            </a:endParaRPr>
          </a:p>
        </p:txBody>
      </p:sp>
      <p:pic>
        <p:nvPicPr>
          <p:cNvPr id="1096" name="Google Shape;1096;p142" descr="Thiazide Diuretics Refresher - Thiazides are commonly prescribed for  hypertension (one of the"/>
          <p:cNvPicPr preferRelativeResize="0"/>
          <p:nvPr/>
        </p:nvPicPr>
        <p:blipFill rotWithShape="1">
          <a:blip r:embed="rId3">
            <a:alphaModFix/>
          </a:blip>
          <a:srcRect/>
          <a:stretch/>
        </p:blipFill>
        <p:spPr>
          <a:xfrm>
            <a:off x="7447176" y="2498103"/>
            <a:ext cx="4572000" cy="4223373"/>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100"/>
        <p:cNvGrpSpPr/>
        <p:nvPr/>
      </p:nvGrpSpPr>
      <p:grpSpPr>
        <a:xfrm>
          <a:off x="0" y="0"/>
          <a:ext cx="0" cy="0"/>
          <a:chOff x="0" y="0"/>
          <a:chExt cx="0" cy="0"/>
        </a:xfrm>
      </p:grpSpPr>
      <p:sp>
        <p:nvSpPr>
          <p:cNvPr id="1101" name="Google Shape;1101;p143"/>
          <p:cNvSpPr txBox="1">
            <a:spLocks noGrp="1"/>
          </p:cNvSpPr>
          <p:nvPr>
            <p:ph type="title"/>
          </p:nvPr>
        </p:nvSpPr>
        <p:spPr>
          <a:xfrm>
            <a:off x="1981200" y="92077"/>
            <a:ext cx="8229600" cy="513434"/>
          </a:xfrm>
          <a:prstGeom prst="rect">
            <a:avLst/>
          </a:prstGeom>
          <a:noFill/>
          <a:ln>
            <a:noFill/>
          </a:ln>
        </p:spPr>
        <p:txBody>
          <a:bodyPr spcFirstLastPara="1" wrap="square" lIns="50800" tIns="50800" rIns="50800" bIns="50800" anchor="ctr" anchorCtr="0">
            <a:noAutofit/>
          </a:bodyPr>
          <a:lstStyle/>
          <a:p>
            <a:r>
              <a:rPr lang="en-US"/>
              <a:t>Thiazide Diuretics</a:t>
            </a:r>
            <a:endParaRPr/>
          </a:p>
        </p:txBody>
      </p:sp>
      <p:sp>
        <p:nvSpPr>
          <p:cNvPr id="1102" name="Google Shape;1102;p143"/>
          <p:cNvSpPr txBox="1">
            <a:spLocks noGrp="1"/>
          </p:cNvSpPr>
          <p:nvPr>
            <p:ph type="body" idx="1"/>
          </p:nvPr>
        </p:nvSpPr>
        <p:spPr>
          <a:xfrm>
            <a:off x="340936" y="1033498"/>
            <a:ext cx="11510128" cy="5498184"/>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sz="2800">
                <a:latin typeface="Calibri" panose="020F0502020204030204" pitchFamily="34" charset="0"/>
                <a:cs typeface="Calibri" panose="020F0502020204030204" pitchFamily="34" charset="0"/>
              </a:rPr>
              <a:t>These drugs work by increasing renal excretion of sodium and may have some vasodilator effects.</a:t>
            </a:r>
          </a:p>
          <a:p>
            <a:pPr marL="342900" indent="-215900">
              <a:lnSpc>
                <a:spcPts val="2300"/>
              </a:lnSpc>
              <a:spcBef>
                <a:spcPts val="0"/>
              </a:spcBef>
              <a:buSzPts val="2000"/>
              <a:buNone/>
            </a:pPr>
            <a:endParaRPr lang="en-US" sz="2800">
              <a:latin typeface="Calibri" panose="020F0502020204030204" pitchFamily="34" charset="0"/>
              <a:cs typeface="Calibri" panose="020F0502020204030204" pitchFamily="34" charset="0"/>
            </a:endParaRPr>
          </a:p>
          <a:p>
            <a:pPr marL="342900" indent="-342900"/>
            <a:r>
              <a:rPr lang="en-US" sz="2800" b="1">
                <a:latin typeface="Calibri" panose="020F0502020204030204" pitchFamily="34" charset="0"/>
                <a:cs typeface="Calibri" panose="020F0502020204030204" pitchFamily="34" charset="0"/>
              </a:rPr>
              <a:t>Clinical outcome benefits (reduction of strokes and major cardiovascular events) have been best established with chlorthalidone, and indapamide. No benefit has been noted with HCTZ</a:t>
            </a:r>
          </a:p>
          <a:p>
            <a:pPr marL="342900" indent="-342900">
              <a:lnSpc>
                <a:spcPts val="2300"/>
              </a:lnSpc>
              <a:spcBef>
                <a:spcPts val="0"/>
              </a:spcBef>
            </a:pPr>
            <a:endParaRPr lang="en-US" sz="2800">
              <a:latin typeface="Calibri" panose="020F0502020204030204" pitchFamily="34" charset="0"/>
              <a:cs typeface="Calibri" panose="020F0502020204030204" pitchFamily="34" charset="0"/>
            </a:endParaRPr>
          </a:p>
          <a:p>
            <a:pPr marL="342900" indent="-342900"/>
            <a:r>
              <a:rPr lang="en-US" sz="2800">
                <a:latin typeface="Calibri" panose="020F0502020204030204" pitchFamily="34" charset="0"/>
                <a:cs typeface="Calibri" panose="020F0502020204030204" pitchFamily="34" charset="0"/>
              </a:rPr>
              <a:t>Efficacy in reduction of BP is more so seen with chlorthalidone (1.5-2x greater) and indapamide vs HCTZ. Efficacy improves with addition of ACEI or ARB</a:t>
            </a:r>
            <a:endParaRPr sz="2800">
              <a:latin typeface="Calibri" panose="020F0502020204030204" pitchFamily="34" charset="0"/>
              <a:cs typeface="Calibri" panose="020F0502020204030204" pitchFamily="34" charset="0"/>
            </a:endParaRPr>
          </a:p>
          <a:p>
            <a:pPr marL="342900" indent="-215900">
              <a:lnSpc>
                <a:spcPts val="2300"/>
              </a:lnSpc>
              <a:spcBef>
                <a:spcPts val="0"/>
              </a:spcBef>
              <a:buSzPts val="2000"/>
              <a:buNone/>
            </a:pPr>
            <a:endParaRPr sz="2800">
              <a:latin typeface="Calibri" panose="020F0502020204030204" pitchFamily="34" charset="0"/>
              <a:ea typeface="Constantia"/>
              <a:cs typeface="Calibri" panose="020F0502020204030204" pitchFamily="34" charset="0"/>
              <a:sym typeface="Constantia"/>
            </a:endParaRPr>
          </a:p>
          <a:p>
            <a:pPr marL="342900" indent="-342900"/>
            <a:r>
              <a:rPr lang="en-US" sz="2800" b="1" i="1">
                <a:latin typeface="Calibri" panose="020F0502020204030204" pitchFamily="34" charset="0"/>
                <a:cs typeface="Calibri" panose="020F0502020204030204" pitchFamily="34" charset="0"/>
              </a:rPr>
              <a:t>Diuretics are relatively weak anti-hypertensives and most effective when combined with ACEI or ARBs</a:t>
            </a:r>
            <a:r>
              <a:rPr lang="en-US" sz="2800">
                <a:latin typeface="Calibri" panose="020F0502020204030204" pitchFamily="34" charset="0"/>
                <a:cs typeface="Calibri" panose="020F0502020204030204" pitchFamily="34" charset="0"/>
              </a:rPr>
              <a:t>, may be used with CCBs.  </a:t>
            </a:r>
            <a:endParaRPr sz="2800">
              <a:latin typeface="Calibri" panose="020F0502020204030204" pitchFamily="34" charset="0"/>
              <a:ea typeface="Constantia"/>
              <a:cs typeface="Calibri" panose="020F0502020204030204" pitchFamily="34" charset="0"/>
              <a:sym typeface="Constantia"/>
            </a:endParaRPr>
          </a:p>
        </p:txBody>
      </p:sp>
      <p:sp>
        <p:nvSpPr>
          <p:cNvPr id="1103" name="Google Shape;1103;p143"/>
          <p:cNvSpPr txBox="1">
            <a:spLocks noGrp="1"/>
          </p:cNvSpPr>
          <p:nvPr>
            <p:ph type="sldNum" idx="12"/>
          </p:nvPr>
        </p:nvSpPr>
        <p:spPr>
          <a:xfrm>
            <a:off x="9448800" y="6356351"/>
            <a:ext cx="762000" cy="365125"/>
          </a:xfrm>
          <a:prstGeom prst="rect">
            <a:avLst/>
          </a:prstGeom>
          <a:noFill/>
          <a:ln>
            <a:noFill/>
          </a:ln>
        </p:spPr>
        <p:txBody>
          <a:bodyPr spcFirstLastPara="1" wrap="square" lIns="91425" tIns="45700" rIns="91425" bIns="45700" anchor="t" anchorCtr="0">
            <a:noAutofit/>
          </a:bodyPr>
          <a:lstStyle/>
          <a:p>
            <a:fld id="{00000000-1234-1234-1234-123412341234}" type="slidenum">
              <a:rPr lang="en-US" sz="1200">
                <a:solidFill>
                  <a:schemeClr val="lt1"/>
                </a:solidFill>
                <a:latin typeface="Constantia"/>
                <a:ea typeface="Constantia"/>
                <a:cs typeface="Constantia"/>
                <a:sym typeface="Constantia"/>
              </a:rPr>
              <a:pPr/>
              <a:t>35</a:t>
            </a:fld>
            <a:endParaRPr sz="1200">
              <a:solidFill>
                <a:schemeClr val="lt1"/>
              </a:solidFill>
              <a:latin typeface="Constantia"/>
              <a:ea typeface="Constantia"/>
              <a:cs typeface="Constantia"/>
              <a:sym typeface="Constanti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108"/>
        <p:cNvGrpSpPr/>
        <p:nvPr/>
      </p:nvGrpSpPr>
      <p:grpSpPr>
        <a:xfrm>
          <a:off x="0" y="0"/>
          <a:ext cx="0" cy="0"/>
          <a:chOff x="0" y="0"/>
          <a:chExt cx="0" cy="0"/>
        </a:xfrm>
      </p:grpSpPr>
      <p:sp>
        <p:nvSpPr>
          <p:cNvPr id="1109" name="Google Shape;1109;p144"/>
          <p:cNvSpPr txBox="1">
            <a:spLocks noGrp="1"/>
          </p:cNvSpPr>
          <p:nvPr>
            <p:ph type="title"/>
          </p:nvPr>
        </p:nvSpPr>
        <p:spPr>
          <a:xfrm>
            <a:off x="1981200" y="92076"/>
            <a:ext cx="8229600" cy="822325"/>
          </a:xfrm>
          <a:prstGeom prst="rect">
            <a:avLst/>
          </a:prstGeom>
          <a:noFill/>
          <a:ln>
            <a:noFill/>
          </a:ln>
        </p:spPr>
        <p:txBody>
          <a:bodyPr spcFirstLastPara="1" wrap="square" lIns="50800" tIns="50800" rIns="50800" bIns="50800" anchor="ctr" anchorCtr="0">
            <a:noAutofit/>
          </a:bodyPr>
          <a:lstStyle/>
          <a:p>
            <a:r>
              <a:rPr lang="en-US"/>
              <a:t>Thiazide Diuretics</a:t>
            </a:r>
            <a:endParaRPr/>
          </a:p>
        </p:txBody>
      </p:sp>
      <p:sp>
        <p:nvSpPr>
          <p:cNvPr id="1110" name="Google Shape;1110;p144"/>
          <p:cNvSpPr txBox="1">
            <a:spLocks noGrp="1"/>
          </p:cNvSpPr>
          <p:nvPr>
            <p:ph type="body" idx="1"/>
          </p:nvPr>
        </p:nvSpPr>
        <p:spPr>
          <a:xfrm>
            <a:off x="593889" y="990601"/>
            <a:ext cx="10680569" cy="5730875"/>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sz="2800">
                <a:latin typeface="Calibri" panose="020F0502020204030204" pitchFamily="34" charset="0"/>
                <a:cs typeface="Calibri" panose="020F0502020204030204" pitchFamily="34" charset="0"/>
              </a:rPr>
              <a:t>These drugs are given in the morning to avoid nocturnal diuresis</a:t>
            </a:r>
            <a:endParaRPr sz="2800">
              <a:latin typeface="Calibri" panose="020F0502020204030204" pitchFamily="34" charset="0"/>
              <a:cs typeface="Calibri" panose="020F0502020204030204" pitchFamily="34" charset="0"/>
            </a:endParaRPr>
          </a:p>
          <a:p>
            <a:pPr marL="342900" indent="-342900"/>
            <a:r>
              <a:rPr lang="en-US" sz="2800" u="sng">
                <a:latin typeface="Calibri" panose="020F0502020204030204" pitchFamily="34" charset="0"/>
                <a:cs typeface="Calibri" panose="020F0502020204030204" pitchFamily="34" charset="0"/>
              </a:rPr>
              <a:t>Adverse effects</a:t>
            </a:r>
            <a:r>
              <a:rPr lang="en-US" sz="2800">
                <a:latin typeface="Calibri" panose="020F0502020204030204" pitchFamily="34" charset="0"/>
                <a:cs typeface="Calibri" panose="020F0502020204030204" pitchFamily="34" charset="0"/>
              </a:rPr>
              <a:t>:</a:t>
            </a:r>
            <a:endParaRPr sz="2800">
              <a:latin typeface="Calibri" panose="020F0502020204030204" pitchFamily="34" charset="0"/>
              <a:cs typeface="Calibri" panose="020F0502020204030204" pitchFamily="34" charset="0"/>
            </a:endParaRPr>
          </a:p>
          <a:p>
            <a:pPr marL="782638" lvl="1" indent="-325438"/>
            <a:r>
              <a:rPr lang="en-US" sz="2800" b="1" i="1">
                <a:latin typeface="Calibri" panose="020F0502020204030204" pitchFamily="34" charset="0"/>
                <a:cs typeface="Calibri" panose="020F0502020204030204" pitchFamily="34" charset="0"/>
              </a:rPr>
              <a:t>Electrolyte abnormalities</a:t>
            </a:r>
            <a:r>
              <a:rPr lang="en-US" sz="2800">
                <a:latin typeface="Calibri" panose="020F0502020204030204" pitchFamily="34" charset="0"/>
                <a:cs typeface="Calibri" panose="020F0502020204030204" pitchFamily="34" charset="0"/>
              </a:rPr>
              <a:t>: hypokalemia, hyponatremia, </a:t>
            </a:r>
            <a:r>
              <a:rPr lang="en-US" sz="2800" err="1">
                <a:latin typeface="Calibri" panose="020F0502020204030204" pitchFamily="34" charset="0"/>
                <a:cs typeface="Calibri" panose="020F0502020204030204" pitchFamily="34" charset="0"/>
              </a:rPr>
              <a:t>hypoMg</a:t>
            </a:r>
            <a:r>
              <a:rPr lang="en-US" sz="2800">
                <a:latin typeface="Calibri" panose="020F0502020204030204" pitchFamily="34" charset="0"/>
                <a:cs typeface="Calibri" panose="020F0502020204030204" pitchFamily="34" charset="0"/>
              </a:rPr>
              <a:t>, </a:t>
            </a:r>
            <a:r>
              <a:rPr lang="en-US" sz="2800" err="1">
                <a:latin typeface="Calibri" panose="020F0502020204030204" pitchFamily="34" charset="0"/>
                <a:cs typeface="Calibri" panose="020F0502020204030204" pitchFamily="34" charset="0"/>
              </a:rPr>
              <a:t>hyperCa</a:t>
            </a:r>
            <a:r>
              <a:rPr lang="en-US" sz="2800">
                <a:latin typeface="Calibri" panose="020F0502020204030204" pitchFamily="34" charset="0"/>
                <a:cs typeface="Calibri" panose="020F0502020204030204" pitchFamily="34" charset="0"/>
              </a:rPr>
              <a:t> (usually seen in first 2 weeks of therapy until body adjusts)</a:t>
            </a:r>
            <a:endParaRPr sz="2800">
              <a:latin typeface="Calibri" panose="020F0502020204030204" pitchFamily="34" charset="0"/>
              <a:cs typeface="Calibri" panose="020F0502020204030204" pitchFamily="34" charset="0"/>
            </a:endParaRPr>
          </a:p>
          <a:p>
            <a:pPr marL="782638" lvl="1" indent="-325438"/>
            <a:r>
              <a:rPr lang="en-US" sz="2800" b="1" i="1">
                <a:latin typeface="Calibri" panose="020F0502020204030204" pitchFamily="34" charset="0"/>
                <a:cs typeface="Calibri" panose="020F0502020204030204" pitchFamily="34" charset="0"/>
              </a:rPr>
              <a:t>Gout-</a:t>
            </a:r>
            <a:r>
              <a:rPr lang="en-US" sz="2800">
                <a:latin typeface="Calibri" panose="020F0502020204030204" pitchFamily="34" charset="0"/>
                <a:cs typeface="Calibri" panose="020F0502020204030204" pitchFamily="34" charset="0"/>
              </a:rPr>
              <a:t> hyperuricemia </a:t>
            </a:r>
            <a:endParaRPr sz="2800">
              <a:latin typeface="Calibri" panose="020F0502020204030204" pitchFamily="34" charset="0"/>
              <a:cs typeface="Calibri" panose="020F0502020204030204" pitchFamily="34" charset="0"/>
            </a:endParaRPr>
          </a:p>
          <a:p>
            <a:pPr marL="782638" lvl="1" indent="-325438"/>
            <a:r>
              <a:rPr lang="en-US" sz="2800" b="1" i="1">
                <a:latin typeface="Calibri" panose="020F0502020204030204" pitchFamily="34" charset="0"/>
                <a:cs typeface="Calibri" panose="020F0502020204030204" pitchFamily="34" charset="0"/>
              </a:rPr>
              <a:t>Hyperglycemia-</a:t>
            </a:r>
            <a:r>
              <a:rPr lang="en-US" sz="2800">
                <a:latin typeface="Calibri" panose="020F0502020204030204" pitchFamily="34" charset="0"/>
                <a:cs typeface="Calibri" panose="020F0502020204030204" pitchFamily="34" charset="0"/>
              </a:rPr>
              <a:t> worsening DM control</a:t>
            </a:r>
            <a:endParaRPr sz="2800">
              <a:latin typeface="Calibri" panose="020F0502020204030204" pitchFamily="34" charset="0"/>
              <a:cs typeface="Calibri" panose="020F0502020204030204" pitchFamily="34" charset="0"/>
            </a:endParaRPr>
          </a:p>
          <a:p>
            <a:pPr marL="782638" lvl="1" indent="-325438"/>
            <a:r>
              <a:rPr lang="en-US" sz="2800" b="1" i="1">
                <a:latin typeface="Calibri" panose="020F0502020204030204" pitchFamily="34" charset="0"/>
                <a:cs typeface="Calibri" panose="020F0502020204030204" pitchFamily="34" charset="0"/>
              </a:rPr>
              <a:t>Hypovolemia</a:t>
            </a:r>
            <a:r>
              <a:rPr lang="en-US" sz="2800">
                <a:latin typeface="Calibri" panose="020F0502020204030204" pitchFamily="34" charset="0"/>
                <a:cs typeface="Calibri" panose="020F0502020204030204" pitchFamily="34" charset="0"/>
              </a:rPr>
              <a:t> (</a:t>
            </a:r>
            <a:r>
              <a:rPr lang="en-US" sz="2800" err="1">
                <a:latin typeface="Calibri" panose="020F0502020204030204" pitchFamily="34" charset="0"/>
                <a:cs typeface="Calibri" panose="020F0502020204030204" pitchFamily="34" charset="0"/>
              </a:rPr>
              <a:t>overdiuresis</a:t>
            </a:r>
            <a:r>
              <a:rPr lang="en-US" sz="2800">
                <a:latin typeface="Calibri" panose="020F0502020204030204" pitchFamily="34" charset="0"/>
                <a:cs typeface="Calibri" panose="020F0502020204030204" pitchFamily="34" charset="0"/>
              </a:rPr>
              <a:t>)</a:t>
            </a:r>
            <a:endParaRPr sz="2800">
              <a:latin typeface="Calibri" panose="020F0502020204030204" pitchFamily="34" charset="0"/>
              <a:cs typeface="Calibri" panose="020F0502020204030204" pitchFamily="34" charset="0"/>
            </a:endParaRPr>
          </a:p>
          <a:p>
            <a:pPr marL="342900" indent="-139700">
              <a:buNone/>
            </a:pPr>
            <a:endParaRPr lang="en-US" sz="2800">
              <a:latin typeface="Calibri" panose="020F0502020204030204" pitchFamily="34" charset="0"/>
              <a:ea typeface="Constantia"/>
              <a:cs typeface="Calibri" panose="020F0502020204030204" pitchFamily="34" charset="0"/>
              <a:sym typeface="Constantia"/>
            </a:endParaRPr>
          </a:p>
          <a:p>
            <a:pPr marL="342900" indent="-139700">
              <a:buNone/>
            </a:pPr>
            <a:r>
              <a:rPr lang="en-US" sz="2800" i="1">
                <a:latin typeface="Calibri" panose="020F0502020204030204" pitchFamily="34" charset="0"/>
                <a:cs typeface="Calibri" panose="020F0502020204030204" pitchFamily="34" charset="0"/>
              </a:rPr>
              <a:t>SBP and LDL cholesterol levels were lower in patients taking chlorthalidone </a:t>
            </a:r>
            <a:r>
              <a:rPr lang="en-US" sz="2800">
                <a:latin typeface="Calibri" panose="020F0502020204030204" pitchFamily="34" charset="0"/>
                <a:cs typeface="Calibri" panose="020F0502020204030204" pitchFamily="34" charset="0"/>
              </a:rPr>
              <a:t>compared to HCTZ</a:t>
            </a:r>
            <a:endParaRPr sz="2800">
              <a:latin typeface="Calibri" panose="020F0502020204030204" pitchFamily="34" charset="0"/>
              <a:ea typeface="Constantia"/>
              <a:cs typeface="Calibri" panose="020F0502020204030204" pitchFamily="34" charset="0"/>
              <a:sym typeface="Constantia"/>
            </a:endParaRPr>
          </a:p>
        </p:txBody>
      </p:sp>
      <p:sp>
        <p:nvSpPr>
          <p:cNvPr id="1111" name="Google Shape;1111;p144"/>
          <p:cNvSpPr txBox="1">
            <a:spLocks noGrp="1"/>
          </p:cNvSpPr>
          <p:nvPr>
            <p:ph type="sldNum" idx="12"/>
          </p:nvPr>
        </p:nvSpPr>
        <p:spPr>
          <a:xfrm>
            <a:off x="9448800" y="6356351"/>
            <a:ext cx="762000" cy="365125"/>
          </a:xfrm>
          <a:prstGeom prst="rect">
            <a:avLst/>
          </a:prstGeom>
          <a:noFill/>
          <a:ln>
            <a:noFill/>
          </a:ln>
        </p:spPr>
        <p:txBody>
          <a:bodyPr spcFirstLastPara="1" wrap="square" lIns="91425" tIns="45700" rIns="91425" bIns="45700" anchor="t" anchorCtr="0">
            <a:noAutofit/>
          </a:bodyPr>
          <a:lstStyle/>
          <a:p>
            <a:fld id="{00000000-1234-1234-1234-123412341234}" type="slidenum">
              <a:rPr lang="en-US" sz="1200">
                <a:solidFill>
                  <a:schemeClr val="lt1"/>
                </a:solidFill>
                <a:latin typeface="Constantia"/>
                <a:ea typeface="Constantia"/>
                <a:cs typeface="Constantia"/>
                <a:sym typeface="Constantia"/>
              </a:rPr>
              <a:pPr/>
              <a:t>36</a:t>
            </a:fld>
            <a:endParaRPr sz="1200">
              <a:solidFill>
                <a:schemeClr val="lt1"/>
              </a:solidFill>
              <a:latin typeface="Constantia"/>
              <a:ea typeface="Constantia"/>
              <a:cs typeface="Constantia"/>
              <a:sym typeface="Constanti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116"/>
        <p:cNvGrpSpPr/>
        <p:nvPr/>
      </p:nvGrpSpPr>
      <p:grpSpPr>
        <a:xfrm>
          <a:off x="0" y="0"/>
          <a:ext cx="0" cy="0"/>
          <a:chOff x="0" y="0"/>
          <a:chExt cx="0" cy="0"/>
        </a:xfrm>
      </p:grpSpPr>
      <p:sp>
        <p:nvSpPr>
          <p:cNvPr id="1117" name="Google Shape;1117;p145"/>
          <p:cNvSpPr txBox="1">
            <a:spLocks noGrp="1"/>
          </p:cNvSpPr>
          <p:nvPr>
            <p:ph type="title"/>
          </p:nvPr>
        </p:nvSpPr>
        <p:spPr>
          <a:xfrm>
            <a:off x="1981200" y="92076"/>
            <a:ext cx="8229600" cy="822325"/>
          </a:xfrm>
          <a:prstGeom prst="rect">
            <a:avLst/>
          </a:prstGeom>
          <a:noFill/>
          <a:ln>
            <a:noFill/>
          </a:ln>
        </p:spPr>
        <p:txBody>
          <a:bodyPr spcFirstLastPara="1" wrap="square" lIns="50800" tIns="50800" rIns="50800" bIns="50800" anchor="ctr" anchorCtr="0">
            <a:noAutofit/>
          </a:bodyPr>
          <a:lstStyle/>
          <a:p>
            <a:r>
              <a:rPr lang="en-US"/>
              <a:t>Thiazide Diuretics</a:t>
            </a:r>
            <a:endParaRPr/>
          </a:p>
        </p:txBody>
      </p:sp>
      <p:sp>
        <p:nvSpPr>
          <p:cNvPr id="1118" name="Google Shape;1118;p145"/>
          <p:cNvSpPr txBox="1">
            <a:spLocks noGrp="1"/>
          </p:cNvSpPr>
          <p:nvPr>
            <p:ph type="body" idx="1"/>
          </p:nvPr>
        </p:nvSpPr>
        <p:spPr>
          <a:xfrm>
            <a:off x="782425" y="1348032"/>
            <a:ext cx="10850251" cy="5267851"/>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a:t>Due to their mild glucose raising effects, clinicians should avoid prescribing thiazides as first line in diabetic patients, although they can be used.</a:t>
            </a:r>
            <a:endParaRPr>
              <a:latin typeface="Constantia"/>
              <a:ea typeface="Constantia"/>
              <a:cs typeface="Constantia"/>
              <a:sym typeface="Constantia"/>
            </a:endParaRPr>
          </a:p>
          <a:p>
            <a:pPr marL="342900" indent="-139700">
              <a:buNone/>
            </a:pPr>
            <a:endParaRPr>
              <a:latin typeface="Constantia"/>
              <a:ea typeface="Constantia"/>
              <a:cs typeface="Constantia"/>
              <a:sym typeface="Constantia"/>
            </a:endParaRPr>
          </a:p>
          <a:p>
            <a:pPr marL="342900" indent="-342900"/>
            <a:r>
              <a:rPr lang="en-US"/>
              <a:t>Patients newly started on a thiazide or loop diuretic or if prescribed a dosage increase should have a </a:t>
            </a:r>
            <a:r>
              <a:rPr lang="en-US" b="1" i="1"/>
              <a:t>chemistry panel checked within 5-7 days of initiation </a:t>
            </a:r>
            <a:r>
              <a:rPr lang="en-US"/>
              <a:t>to evaluate for: </a:t>
            </a:r>
            <a:endParaRPr/>
          </a:p>
          <a:p>
            <a:pPr marL="782638" lvl="1" indent="-325438"/>
            <a:r>
              <a:rPr lang="en-US"/>
              <a:t>Hypokalemia</a:t>
            </a:r>
            <a:endParaRPr/>
          </a:p>
          <a:p>
            <a:pPr marL="782638" lvl="1" indent="-325438"/>
            <a:r>
              <a:rPr lang="en-US"/>
              <a:t>Hyponatremia</a:t>
            </a:r>
            <a:endParaRPr/>
          </a:p>
        </p:txBody>
      </p:sp>
      <p:sp>
        <p:nvSpPr>
          <p:cNvPr id="1119" name="Google Shape;1119;p145"/>
          <p:cNvSpPr txBox="1">
            <a:spLocks noGrp="1"/>
          </p:cNvSpPr>
          <p:nvPr>
            <p:ph type="sldNum" idx="12"/>
          </p:nvPr>
        </p:nvSpPr>
        <p:spPr>
          <a:xfrm>
            <a:off x="9448800" y="6356351"/>
            <a:ext cx="762000" cy="365125"/>
          </a:xfrm>
          <a:prstGeom prst="rect">
            <a:avLst/>
          </a:prstGeom>
          <a:noFill/>
          <a:ln>
            <a:noFill/>
          </a:ln>
        </p:spPr>
        <p:txBody>
          <a:bodyPr spcFirstLastPara="1" wrap="square" lIns="91425" tIns="45700" rIns="91425" bIns="45700" anchor="t" anchorCtr="0">
            <a:noAutofit/>
          </a:bodyPr>
          <a:lstStyle/>
          <a:p>
            <a:fld id="{00000000-1234-1234-1234-123412341234}" type="slidenum">
              <a:rPr lang="en-US" sz="1200">
                <a:solidFill>
                  <a:schemeClr val="lt1"/>
                </a:solidFill>
                <a:latin typeface="Constantia"/>
                <a:ea typeface="Constantia"/>
                <a:cs typeface="Constantia"/>
                <a:sym typeface="Constantia"/>
              </a:rPr>
              <a:pPr/>
              <a:t>37</a:t>
            </a:fld>
            <a:endParaRPr sz="1200">
              <a:solidFill>
                <a:schemeClr val="lt1"/>
              </a:solidFill>
              <a:latin typeface="Constantia"/>
              <a:ea typeface="Constantia"/>
              <a:cs typeface="Constantia"/>
              <a:sym typeface="Constanti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132"/>
        <p:cNvGrpSpPr/>
        <p:nvPr/>
      </p:nvGrpSpPr>
      <p:grpSpPr>
        <a:xfrm>
          <a:off x="0" y="0"/>
          <a:ext cx="0" cy="0"/>
          <a:chOff x="0" y="0"/>
          <a:chExt cx="0" cy="0"/>
        </a:xfrm>
      </p:grpSpPr>
      <p:sp>
        <p:nvSpPr>
          <p:cNvPr id="1133" name="Google Shape;1133;p147"/>
          <p:cNvSpPr txBox="1">
            <a:spLocks noGrp="1"/>
          </p:cNvSpPr>
          <p:nvPr>
            <p:ph type="title"/>
          </p:nvPr>
        </p:nvSpPr>
        <p:spPr>
          <a:xfrm>
            <a:off x="1981200" y="92076"/>
            <a:ext cx="5181600" cy="822325"/>
          </a:xfrm>
          <a:prstGeom prst="rect">
            <a:avLst/>
          </a:prstGeom>
          <a:noFill/>
          <a:ln>
            <a:noFill/>
          </a:ln>
        </p:spPr>
        <p:txBody>
          <a:bodyPr spcFirstLastPara="1" wrap="square" lIns="50800" tIns="50800" rIns="50800" bIns="50800" anchor="ctr" anchorCtr="0">
            <a:noAutofit/>
          </a:bodyPr>
          <a:lstStyle/>
          <a:p>
            <a:r>
              <a:rPr lang="en-US"/>
              <a:t>Loop Diuretics </a:t>
            </a:r>
            <a:endParaRPr/>
          </a:p>
        </p:txBody>
      </p:sp>
      <p:sp>
        <p:nvSpPr>
          <p:cNvPr id="1134" name="Google Shape;1134;p147"/>
          <p:cNvSpPr txBox="1">
            <a:spLocks noGrp="1"/>
          </p:cNvSpPr>
          <p:nvPr>
            <p:ph type="body" idx="1"/>
          </p:nvPr>
        </p:nvSpPr>
        <p:spPr>
          <a:xfrm>
            <a:off x="1050305" y="2514662"/>
            <a:ext cx="8305799" cy="1433572"/>
          </a:xfrm>
          <a:prstGeom prst="rect">
            <a:avLst/>
          </a:prstGeom>
          <a:noFill/>
          <a:ln>
            <a:noFill/>
          </a:ln>
        </p:spPr>
        <p:txBody>
          <a:bodyPr spcFirstLastPara="1" wrap="square" lIns="91425" tIns="45700" rIns="91425" bIns="45700" anchor="t" anchorCtr="0">
            <a:noAutofit/>
          </a:bodyPr>
          <a:lstStyle/>
          <a:p>
            <a:pPr marL="0" indent="0">
              <a:spcBef>
                <a:spcPts val="0"/>
              </a:spcBef>
              <a:buNone/>
            </a:pPr>
            <a:r>
              <a:rPr lang="en-US"/>
              <a:t>management of heart failure, ascites, </a:t>
            </a:r>
          </a:p>
          <a:p>
            <a:pPr marL="0" indent="0">
              <a:spcBef>
                <a:spcPts val="0"/>
              </a:spcBef>
              <a:buNone/>
            </a:pPr>
            <a:r>
              <a:rPr lang="en-US"/>
              <a:t>CKD and edema.</a:t>
            </a:r>
            <a:endParaRPr sz="1000"/>
          </a:p>
          <a:p>
            <a:pPr marL="342900" indent="-139700">
              <a:buNone/>
            </a:pPr>
            <a:endParaRPr>
              <a:latin typeface="Constantia"/>
              <a:ea typeface="Constantia"/>
              <a:cs typeface="Constantia"/>
              <a:sym typeface="Constantia"/>
            </a:endParaRPr>
          </a:p>
        </p:txBody>
      </p:sp>
      <p:pic>
        <p:nvPicPr>
          <p:cNvPr id="1136" name="Google Shape;1136;p147" descr="Gotta Go, Gotta Go, Gotta Go Right Now! | DaoCloud.com"/>
          <p:cNvPicPr preferRelativeResize="0"/>
          <p:nvPr/>
        </p:nvPicPr>
        <p:blipFill rotWithShape="1">
          <a:blip r:embed="rId3">
            <a:alphaModFix/>
          </a:blip>
          <a:srcRect/>
          <a:stretch/>
        </p:blipFill>
        <p:spPr>
          <a:xfrm>
            <a:off x="8083550" y="503238"/>
            <a:ext cx="3492500" cy="2324100"/>
          </a:xfrm>
          <a:prstGeom prst="rect">
            <a:avLst/>
          </a:prstGeom>
          <a:noFill/>
          <a:ln>
            <a:noFill/>
          </a:ln>
        </p:spPr>
      </p:pic>
      <p:sp>
        <p:nvSpPr>
          <p:cNvPr id="1137" name="Google Shape;1137;p147"/>
          <p:cNvSpPr txBox="1"/>
          <p:nvPr/>
        </p:nvSpPr>
        <p:spPr>
          <a:xfrm>
            <a:off x="615950" y="1072020"/>
            <a:ext cx="7330846" cy="1569620"/>
          </a:xfrm>
          <a:prstGeom prst="rect">
            <a:avLst/>
          </a:prstGeom>
          <a:noFill/>
          <a:ln>
            <a:noFill/>
          </a:ln>
        </p:spPr>
        <p:txBody>
          <a:bodyPr spcFirstLastPara="1" wrap="square" lIns="91425" tIns="45700" rIns="91425" bIns="45700" anchor="t" anchorCtr="0">
            <a:spAutoFit/>
          </a:bodyPr>
          <a:lstStyle/>
          <a:p>
            <a:pPr marL="457200" indent="-457200">
              <a:buClr>
                <a:schemeClr val="dk1"/>
              </a:buClr>
              <a:buSzPts val="3200"/>
              <a:buFont typeface="Arial"/>
              <a:buChar char="•"/>
            </a:pPr>
            <a:r>
              <a:rPr lang="en-US" sz="3200">
                <a:solidFill>
                  <a:schemeClr val="dk1"/>
                </a:solidFill>
                <a:latin typeface="Calibri"/>
                <a:ea typeface="Calibri"/>
                <a:cs typeface="Calibri"/>
                <a:sym typeface="Calibri"/>
              </a:rPr>
              <a:t>Loop diuretics are not usually used for hypertension treatment, instead they are frequently used for symptomatic</a:t>
            </a:r>
            <a:endParaRPr sz="1200">
              <a:solidFill>
                <a:schemeClr val="dk1"/>
              </a:solidFill>
              <a:latin typeface="Helvetica Neue"/>
              <a:ea typeface="Helvetica Neue"/>
              <a:cs typeface="Helvetica Neue"/>
              <a:sym typeface="Helvetica Neue"/>
            </a:endParaRPr>
          </a:p>
        </p:txBody>
      </p:sp>
      <p:sp>
        <p:nvSpPr>
          <p:cNvPr id="1138" name="Google Shape;1138;p147"/>
          <p:cNvSpPr txBox="1"/>
          <p:nvPr/>
        </p:nvSpPr>
        <p:spPr>
          <a:xfrm>
            <a:off x="615950" y="4046575"/>
            <a:ext cx="10960100" cy="1754286"/>
          </a:xfrm>
          <a:prstGeom prst="rect">
            <a:avLst/>
          </a:prstGeom>
          <a:noFill/>
          <a:ln>
            <a:noFill/>
          </a:ln>
        </p:spPr>
        <p:txBody>
          <a:bodyPr spcFirstLastPara="1" wrap="square" lIns="91425" tIns="45700" rIns="91425" bIns="45700" anchor="t" anchorCtr="0">
            <a:spAutoFit/>
          </a:bodyPr>
          <a:lstStyle/>
          <a:p>
            <a:pPr marL="457200" indent="-457200">
              <a:buClr>
                <a:schemeClr val="dk1"/>
              </a:buClr>
              <a:buSzPts val="3200"/>
              <a:buFont typeface="Arial"/>
              <a:buChar char="•"/>
            </a:pPr>
            <a:r>
              <a:rPr lang="en-US" sz="3200">
                <a:solidFill>
                  <a:schemeClr val="dk1"/>
                </a:solidFill>
                <a:latin typeface="Calibri"/>
                <a:ea typeface="Calibri"/>
                <a:cs typeface="Calibri"/>
                <a:sym typeface="Calibri"/>
              </a:rPr>
              <a:t>However, these drugs do contribute to blood pressure lowering, so their effects must be taken into account when discussing an anti-hypertensive regimen. </a:t>
            </a:r>
            <a:endParaRPr/>
          </a:p>
          <a:p>
            <a:endParaRPr sz="1200">
              <a:solidFill>
                <a:schemeClr val="dk1"/>
              </a:solidFill>
              <a:latin typeface="Helvetica Neue"/>
              <a:ea typeface="Helvetica Neue"/>
              <a:cs typeface="Helvetica Neue"/>
              <a:sym typeface="Helvetica Neue"/>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142"/>
        <p:cNvGrpSpPr/>
        <p:nvPr/>
      </p:nvGrpSpPr>
      <p:grpSpPr>
        <a:xfrm>
          <a:off x="0" y="0"/>
          <a:ext cx="0" cy="0"/>
          <a:chOff x="0" y="0"/>
          <a:chExt cx="0" cy="0"/>
        </a:xfrm>
      </p:grpSpPr>
      <p:sp>
        <p:nvSpPr>
          <p:cNvPr id="1143" name="Google Shape;1143;p148"/>
          <p:cNvSpPr txBox="1">
            <a:spLocks noGrp="1"/>
          </p:cNvSpPr>
          <p:nvPr>
            <p:ph type="title"/>
          </p:nvPr>
        </p:nvSpPr>
        <p:spPr>
          <a:xfrm>
            <a:off x="1981200" y="92076"/>
            <a:ext cx="8229600" cy="822325"/>
          </a:xfrm>
          <a:prstGeom prst="rect">
            <a:avLst/>
          </a:prstGeom>
          <a:noFill/>
          <a:ln>
            <a:noFill/>
          </a:ln>
        </p:spPr>
        <p:txBody>
          <a:bodyPr spcFirstLastPara="1" wrap="square" lIns="50800" tIns="50800" rIns="50800" bIns="50800" anchor="ctr" anchorCtr="0">
            <a:noAutofit/>
          </a:bodyPr>
          <a:lstStyle/>
          <a:p>
            <a:r>
              <a:rPr lang="en-US"/>
              <a:t>Loop Diuretics</a:t>
            </a:r>
            <a:endParaRPr/>
          </a:p>
        </p:txBody>
      </p:sp>
      <p:sp>
        <p:nvSpPr>
          <p:cNvPr id="1144" name="Google Shape;1144;p148"/>
          <p:cNvSpPr txBox="1">
            <a:spLocks noGrp="1"/>
          </p:cNvSpPr>
          <p:nvPr>
            <p:ph type="body" idx="1"/>
          </p:nvPr>
        </p:nvSpPr>
        <p:spPr>
          <a:xfrm>
            <a:off x="534185" y="1066801"/>
            <a:ext cx="11123629" cy="5791200"/>
          </a:xfrm>
          <a:prstGeom prst="rect">
            <a:avLst/>
          </a:prstGeom>
          <a:noFill/>
          <a:ln>
            <a:noFill/>
          </a:ln>
        </p:spPr>
        <p:txBody>
          <a:bodyPr spcFirstLastPara="1" wrap="square" lIns="91425" tIns="45700" rIns="91425" bIns="45700" anchor="t" anchorCtr="0">
            <a:noAutofit/>
          </a:bodyPr>
          <a:lstStyle/>
          <a:p>
            <a:pPr marL="0" indent="0">
              <a:spcBef>
                <a:spcPts val="0"/>
              </a:spcBef>
              <a:buNone/>
            </a:pPr>
            <a:r>
              <a:rPr lang="en-US" sz="2800" dirty="0"/>
              <a:t>Account for most of sodium excretion in the thick ascending limb, are sulfonamide derivatives and relatively cheap except ethacrynic acid. </a:t>
            </a:r>
          </a:p>
          <a:p>
            <a:pPr marL="0" indent="0">
              <a:spcBef>
                <a:spcPts val="0"/>
              </a:spcBef>
              <a:buNone/>
            </a:pPr>
            <a:endParaRPr lang="en-US" sz="2800" dirty="0"/>
          </a:p>
          <a:p>
            <a:pPr marL="342900" indent="-342900">
              <a:spcBef>
                <a:spcPts val="0"/>
              </a:spcBef>
            </a:pPr>
            <a:r>
              <a:rPr lang="en-US" sz="2800" b="1" dirty="0"/>
              <a:t>Furosemide</a:t>
            </a:r>
            <a:r>
              <a:rPr lang="en-US" sz="2800" dirty="0"/>
              <a:t> </a:t>
            </a:r>
            <a:r>
              <a:rPr lang="en-US" sz="2800" b="1" dirty="0"/>
              <a:t>(Lasix) </a:t>
            </a:r>
            <a:r>
              <a:rPr lang="en-US" sz="2800" dirty="0"/>
              <a:t>20-80 mg PO daily or bid, less bioavailable than other loops, so an IV dose of the same milligram is roughly twice as effective as an oral dose</a:t>
            </a:r>
          </a:p>
          <a:p>
            <a:pPr marL="342900" indent="-342900">
              <a:spcBef>
                <a:spcPts val="0"/>
              </a:spcBef>
            </a:pPr>
            <a:r>
              <a:rPr lang="en-US" sz="2800" dirty="0"/>
              <a:t>Bumetanide (Bumex)</a:t>
            </a:r>
            <a:r>
              <a:rPr lang="en-US" sz="2800" b="1" dirty="0"/>
              <a:t> </a:t>
            </a:r>
            <a:r>
              <a:rPr lang="en-US" sz="2800" dirty="0"/>
              <a:t>0.5-2 mg daily or bid, highly bioavailable</a:t>
            </a:r>
            <a:endParaRPr sz="2800" dirty="0"/>
          </a:p>
          <a:p>
            <a:pPr marL="342900" indent="-342900"/>
            <a:r>
              <a:rPr lang="en-US" sz="2800" dirty="0"/>
              <a:t>Torsemide (Demadex) 10-80 mg daily/bid, highly bioavailable</a:t>
            </a:r>
          </a:p>
          <a:p>
            <a:pPr marL="342900" indent="-342900"/>
            <a:r>
              <a:rPr lang="en-US" sz="2800" dirty="0"/>
              <a:t>Ethacrynic acid (</a:t>
            </a:r>
            <a:r>
              <a:rPr lang="en-US" sz="2800" dirty="0" err="1"/>
              <a:t>Edecrin</a:t>
            </a:r>
            <a:r>
              <a:rPr lang="en-US" sz="2800" dirty="0"/>
              <a:t>)-a non-sulfa loop for those patients with severe sulfa allergy.</a:t>
            </a:r>
            <a:endParaRPr sz="2800" dirty="0"/>
          </a:p>
          <a:p>
            <a:pPr marL="342900" indent="-139700">
              <a:buNone/>
            </a:pPr>
            <a:endParaRPr dirty="0"/>
          </a:p>
          <a:p>
            <a:pPr marL="0" indent="0">
              <a:buNone/>
            </a:pPr>
            <a:endParaRPr dirty="0"/>
          </a:p>
          <a:p>
            <a:pPr marL="342900" indent="-279400">
              <a:buSzPts val="1000"/>
              <a:buNone/>
            </a:pPr>
            <a:endParaRPr sz="1000" dirty="0"/>
          </a:p>
          <a:p>
            <a:pPr marL="342900" indent="-139700">
              <a:buNone/>
            </a:pPr>
            <a:endParaRPr dirty="0">
              <a:latin typeface="Constantia"/>
              <a:ea typeface="Constantia"/>
              <a:cs typeface="Constantia"/>
              <a:sym typeface="Constantia"/>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149"/>
        <p:cNvGrpSpPr/>
        <p:nvPr/>
      </p:nvGrpSpPr>
      <p:grpSpPr>
        <a:xfrm>
          <a:off x="0" y="0"/>
          <a:ext cx="0" cy="0"/>
          <a:chOff x="0" y="0"/>
          <a:chExt cx="0" cy="0"/>
        </a:xfrm>
      </p:grpSpPr>
      <p:sp>
        <p:nvSpPr>
          <p:cNvPr id="1150" name="Google Shape;1150;p149"/>
          <p:cNvSpPr txBox="1">
            <a:spLocks noGrp="1"/>
          </p:cNvSpPr>
          <p:nvPr>
            <p:ph type="title"/>
          </p:nvPr>
        </p:nvSpPr>
        <p:spPr>
          <a:xfrm>
            <a:off x="1981200" y="92076"/>
            <a:ext cx="8229600" cy="822325"/>
          </a:xfrm>
          <a:prstGeom prst="rect">
            <a:avLst/>
          </a:prstGeom>
          <a:noFill/>
          <a:ln>
            <a:noFill/>
          </a:ln>
        </p:spPr>
        <p:txBody>
          <a:bodyPr spcFirstLastPara="1" wrap="square" lIns="50800" tIns="50800" rIns="50800" bIns="50800" anchor="ctr" anchorCtr="0">
            <a:noAutofit/>
          </a:bodyPr>
          <a:lstStyle/>
          <a:p>
            <a:r>
              <a:rPr lang="en-US"/>
              <a:t>Loop Diuretics Dosing </a:t>
            </a:r>
            <a:endParaRPr/>
          </a:p>
        </p:txBody>
      </p:sp>
      <p:sp>
        <p:nvSpPr>
          <p:cNvPr id="1151" name="Google Shape;1151;p149"/>
          <p:cNvSpPr txBox="1">
            <a:spLocks noGrp="1"/>
          </p:cNvSpPr>
          <p:nvPr>
            <p:ph type="body" idx="1"/>
          </p:nvPr>
        </p:nvSpPr>
        <p:spPr>
          <a:xfrm>
            <a:off x="405353" y="1143000"/>
            <a:ext cx="10803117" cy="5562600"/>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a:t>In equipotent doses, the effects of each of the loop diuretics is very similar.</a:t>
            </a:r>
            <a:endParaRPr/>
          </a:p>
          <a:p>
            <a:pPr marL="342900" indent="-342900"/>
            <a:r>
              <a:rPr lang="en-US"/>
              <a:t>Lasix 40 mg = Bumex 1 mg = Demadex 20mg.</a:t>
            </a:r>
            <a:endParaRPr/>
          </a:p>
          <a:p>
            <a:pPr marL="342900" indent="-139700">
              <a:buNone/>
            </a:pPr>
            <a:endParaRPr/>
          </a:p>
          <a:p>
            <a:pPr marL="342900" indent="-342900"/>
            <a:r>
              <a:rPr lang="en-US" b="1"/>
              <a:t>All the loop diuretics are available IV</a:t>
            </a:r>
            <a:r>
              <a:rPr lang="en-US"/>
              <a:t>, and </a:t>
            </a:r>
            <a:r>
              <a:rPr lang="en-US" b="1" i="1"/>
              <a:t>the degree of diuresis is largely determined by the rate at which the drug reaches its’ site of action in the nephron.</a:t>
            </a:r>
            <a:endParaRPr/>
          </a:p>
          <a:p>
            <a:pPr marL="342900" indent="-279400">
              <a:buSzPts val="1000"/>
              <a:buNone/>
            </a:pPr>
            <a:endParaRPr sz="1000"/>
          </a:p>
          <a:p>
            <a:pPr marL="342900" indent="-139700">
              <a:buNone/>
            </a:pPr>
            <a:endParaRPr>
              <a:latin typeface="Constantia"/>
              <a:ea typeface="Constantia"/>
              <a:cs typeface="Constantia"/>
              <a:sym typeface="Constantia"/>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156"/>
        <p:cNvGrpSpPr/>
        <p:nvPr/>
      </p:nvGrpSpPr>
      <p:grpSpPr>
        <a:xfrm>
          <a:off x="0" y="0"/>
          <a:ext cx="0" cy="0"/>
          <a:chOff x="0" y="0"/>
          <a:chExt cx="0" cy="0"/>
        </a:xfrm>
      </p:grpSpPr>
      <p:sp>
        <p:nvSpPr>
          <p:cNvPr id="1157" name="Google Shape;1157;p150"/>
          <p:cNvSpPr txBox="1">
            <a:spLocks noGrp="1"/>
          </p:cNvSpPr>
          <p:nvPr>
            <p:ph type="title"/>
          </p:nvPr>
        </p:nvSpPr>
        <p:spPr>
          <a:xfrm>
            <a:off x="1981200" y="92076"/>
            <a:ext cx="8229600" cy="822325"/>
          </a:xfrm>
          <a:prstGeom prst="rect">
            <a:avLst/>
          </a:prstGeom>
          <a:noFill/>
          <a:ln>
            <a:noFill/>
          </a:ln>
        </p:spPr>
        <p:txBody>
          <a:bodyPr spcFirstLastPara="1" wrap="square" lIns="50800" tIns="50800" rIns="50800" bIns="50800" anchor="ctr" anchorCtr="0">
            <a:noAutofit/>
          </a:bodyPr>
          <a:lstStyle/>
          <a:p>
            <a:r>
              <a:rPr lang="en-US"/>
              <a:t>Loop Diuretics Dosing </a:t>
            </a:r>
            <a:endParaRPr/>
          </a:p>
        </p:txBody>
      </p:sp>
      <p:sp>
        <p:nvSpPr>
          <p:cNvPr id="1158" name="Google Shape;1158;p150"/>
          <p:cNvSpPr txBox="1">
            <a:spLocks noGrp="1"/>
          </p:cNvSpPr>
          <p:nvPr>
            <p:ph type="body" idx="1"/>
          </p:nvPr>
        </p:nvSpPr>
        <p:spPr>
          <a:xfrm>
            <a:off x="716437" y="1029878"/>
            <a:ext cx="11048215" cy="5562600"/>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b="1" i="1" dirty="0"/>
              <a:t>Higher doses </a:t>
            </a:r>
            <a:r>
              <a:rPr lang="en-US" dirty="0"/>
              <a:t>of loop diuretics may be needed in patients with: </a:t>
            </a:r>
            <a:endParaRPr dirty="0"/>
          </a:p>
          <a:p>
            <a:pPr marL="514350" indent="-514350">
              <a:buFont typeface="Calibri"/>
              <a:buAutoNum type="arabicPeriod"/>
            </a:pPr>
            <a:r>
              <a:rPr lang="en-US" dirty="0"/>
              <a:t>Significantly decreased glomerular filtration rate from CKD or AKI </a:t>
            </a:r>
            <a:r>
              <a:rPr lang="en-US" i="1" u="sng" dirty="0"/>
              <a:t>or</a:t>
            </a:r>
            <a:endParaRPr dirty="0"/>
          </a:p>
          <a:p>
            <a:pPr marL="514350" indent="-514350">
              <a:buFont typeface="Calibri"/>
              <a:buAutoNum type="arabicPeriod"/>
            </a:pPr>
            <a:r>
              <a:rPr lang="en-US" dirty="0"/>
              <a:t>If the patient is accustomed to the medication  </a:t>
            </a:r>
            <a:endParaRPr dirty="0"/>
          </a:p>
          <a:p>
            <a:pPr marL="514350" indent="-355600">
              <a:buSzPts val="2500"/>
              <a:buNone/>
            </a:pPr>
            <a:endParaRPr sz="2500" dirty="0"/>
          </a:p>
          <a:p>
            <a:pPr marL="342900" indent="-342900"/>
            <a:r>
              <a:rPr lang="en-US" b="1" i="1" dirty="0"/>
              <a:t>IV formulations (bolus/ drip) </a:t>
            </a:r>
            <a:r>
              <a:rPr lang="en-US" dirty="0"/>
              <a:t>of loops are given: </a:t>
            </a:r>
            <a:endParaRPr dirty="0"/>
          </a:p>
          <a:p>
            <a:pPr marL="514350" indent="-514350">
              <a:buFont typeface="Calibri"/>
              <a:buAutoNum type="arabicPeriod"/>
            </a:pPr>
            <a:r>
              <a:rPr lang="en-US" dirty="0"/>
              <a:t>In acutely decompensated heart failure</a:t>
            </a:r>
            <a:endParaRPr dirty="0"/>
          </a:p>
          <a:p>
            <a:pPr marL="514350" indent="-514350">
              <a:buFont typeface="Calibri"/>
              <a:buAutoNum type="arabicPeriod"/>
            </a:pPr>
            <a:r>
              <a:rPr lang="en-US" dirty="0"/>
              <a:t>When there is poor GI absorption (edema of the bowel from volume overload)</a:t>
            </a:r>
            <a:endParaRPr dirty="0"/>
          </a:p>
          <a:p>
            <a:pPr marL="342900" indent="-139700">
              <a:buNone/>
            </a:pPr>
            <a:endParaRPr dirty="0"/>
          </a:p>
          <a:p>
            <a:pPr marL="342900" indent="-279400">
              <a:buSzPts val="1000"/>
              <a:buNone/>
            </a:pPr>
            <a:endParaRPr sz="1000" dirty="0"/>
          </a:p>
          <a:p>
            <a:pPr marL="342900" indent="-139700">
              <a:buNone/>
            </a:pPr>
            <a:endParaRPr dirty="0">
              <a:latin typeface="Constantia"/>
              <a:ea typeface="Constantia"/>
              <a:cs typeface="Constantia"/>
              <a:sym typeface="Constantia"/>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163"/>
        <p:cNvGrpSpPr/>
        <p:nvPr/>
      </p:nvGrpSpPr>
      <p:grpSpPr>
        <a:xfrm>
          <a:off x="0" y="0"/>
          <a:ext cx="0" cy="0"/>
          <a:chOff x="0" y="0"/>
          <a:chExt cx="0" cy="0"/>
        </a:xfrm>
      </p:grpSpPr>
      <p:sp>
        <p:nvSpPr>
          <p:cNvPr id="1164" name="Google Shape;1164;p151"/>
          <p:cNvSpPr txBox="1">
            <a:spLocks noGrp="1"/>
          </p:cNvSpPr>
          <p:nvPr>
            <p:ph type="title"/>
          </p:nvPr>
        </p:nvSpPr>
        <p:spPr>
          <a:xfrm>
            <a:off x="1981200" y="92076"/>
            <a:ext cx="8229600" cy="822325"/>
          </a:xfrm>
          <a:prstGeom prst="rect">
            <a:avLst/>
          </a:prstGeom>
          <a:noFill/>
          <a:ln>
            <a:noFill/>
          </a:ln>
        </p:spPr>
        <p:txBody>
          <a:bodyPr spcFirstLastPara="1" wrap="square" lIns="50800" tIns="50800" rIns="50800" bIns="50800" anchor="ctr" anchorCtr="0">
            <a:noAutofit/>
          </a:bodyPr>
          <a:lstStyle/>
          <a:p>
            <a:r>
              <a:rPr lang="en-US"/>
              <a:t>Loop Diuretics Dosing </a:t>
            </a:r>
            <a:endParaRPr/>
          </a:p>
        </p:txBody>
      </p:sp>
      <p:sp>
        <p:nvSpPr>
          <p:cNvPr id="1165" name="Google Shape;1165;p151"/>
          <p:cNvSpPr txBox="1">
            <a:spLocks noGrp="1"/>
          </p:cNvSpPr>
          <p:nvPr>
            <p:ph type="body" idx="1"/>
          </p:nvPr>
        </p:nvSpPr>
        <p:spPr>
          <a:xfrm>
            <a:off x="650449" y="1143000"/>
            <a:ext cx="10605155" cy="5562600"/>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dirty="0"/>
              <a:t>Loop diuretics are almost always given with supplemental potassium in order to avoid hypokalemia. </a:t>
            </a:r>
            <a:endParaRPr dirty="0"/>
          </a:p>
          <a:p>
            <a:pPr marL="342900" indent="-215900">
              <a:buSzPts val="2000"/>
              <a:buNone/>
            </a:pPr>
            <a:endParaRPr sz="2000" dirty="0"/>
          </a:p>
          <a:p>
            <a:pPr marL="342900" indent="-342900"/>
            <a:r>
              <a:rPr lang="en-US" dirty="0"/>
              <a:t>In a healthy kidney, about 20mEq of potassium is given for every 40 mg of Lasix- although this can vary, and chemistry panel should be used to adjust this dose if needed.</a:t>
            </a:r>
            <a:endParaRPr dirty="0"/>
          </a:p>
          <a:p>
            <a:pPr marL="342900" indent="-215900">
              <a:buSzPts val="2000"/>
              <a:buNone/>
            </a:pPr>
            <a:endParaRPr sz="2000" dirty="0"/>
          </a:p>
          <a:p>
            <a:pPr marL="342900" indent="-342900"/>
            <a:r>
              <a:rPr lang="en-US" dirty="0"/>
              <a:t>Loop diuretics are given in AM or afternoon (if bid no later than 5pm) to avoid a nocturnal diuresis</a:t>
            </a:r>
            <a:endParaRPr dirty="0"/>
          </a:p>
          <a:p>
            <a:pPr marL="0" indent="0">
              <a:buNone/>
            </a:pPr>
            <a:endParaRPr dirty="0"/>
          </a:p>
          <a:p>
            <a:pPr marL="342900" indent="-139700">
              <a:buNone/>
            </a:pPr>
            <a:endParaRPr dirty="0"/>
          </a:p>
          <a:p>
            <a:pPr marL="342900" indent="-139700">
              <a:buNone/>
            </a:pPr>
            <a:endParaRPr dirty="0"/>
          </a:p>
          <a:p>
            <a:pPr marL="342900" indent="-279400">
              <a:buSzPts val="1000"/>
              <a:buNone/>
            </a:pPr>
            <a:endParaRPr sz="1000" dirty="0"/>
          </a:p>
          <a:p>
            <a:pPr marL="342900" indent="-139700">
              <a:buNone/>
            </a:pPr>
            <a:endParaRPr dirty="0">
              <a:latin typeface="Constantia"/>
              <a:ea typeface="Constantia"/>
              <a:cs typeface="Constantia"/>
              <a:sym typeface="Constantia"/>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170"/>
        <p:cNvGrpSpPr/>
        <p:nvPr/>
      </p:nvGrpSpPr>
      <p:grpSpPr>
        <a:xfrm>
          <a:off x="0" y="0"/>
          <a:ext cx="0" cy="0"/>
          <a:chOff x="0" y="0"/>
          <a:chExt cx="0" cy="0"/>
        </a:xfrm>
      </p:grpSpPr>
      <p:sp>
        <p:nvSpPr>
          <p:cNvPr id="1171" name="Google Shape;1171;p152"/>
          <p:cNvSpPr txBox="1">
            <a:spLocks noGrp="1"/>
          </p:cNvSpPr>
          <p:nvPr>
            <p:ph type="title"/>
          </p:nvPr>
        </p:nvSpPr>
        <p:spPr>
          <a:xfrm>
            <a:off x="1981200" y="92076"/>
            <a:ext cx="8229600" cy="822325"/>
          </a:xfrm>
          <a:prstGeom prst="rect">
            <a:avLst/>
          </a:prstGeom>
          <a:noFill/>
          <a:ln>
            <a:noFill/>
          </a:ln>
        </p:spPr>
        <p:txBody>
          <a:bodyPr spcFirstLastPara="1" wrap="square" lIns="50800" tIns="50800" rIns="50800" bIns="50800" anchor="ctr" anchorCtr="0">
            <a:noAutofit/>
          </a:bodyPr>
          <a:lstStyle/>
          <a:p>
            <a:r>
              <a:rPr lang="en-US"/>
              <a:t>Loop Diuretics- Adverse Reactions </a:t>
            </a:r>
            <a:endParaRPr/>
          </a:p>
        </p:txBody>
      </p:sp>
      <p:sp>
        <p:nvSpPr>
          <p:cNvPr id="1172" name="Google Shape;1172;p152"/>
          <p:cNvSpPr txBox="1">
            <a:spLocks noGrp="1"/>
          </p:cNvSpPr>
          <p:nvPr>
            <p:ph type="body" idx="1"/>
          </p:nvPr>
        </p:nvSpPr>
        <p:spPr>
          <a:xfrm>
            <a:off x="848412" y="990600"/>
            <a:ext cx="10661716" cy="5715000"/>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b="1" i="1"/>
              <a:t>Diuretic effects</a:t>
            </a:r>
            <a:r>
              <a:rPr lang="en-US"/>
              <a:t>:</a:t>
            </a:r>
            <a:endParaRPr/>
          </a:p>
          <a:p>
            <a:pPr marL="782638" lvl="1" indent="-325438"/>
            <a:r>
              <a:rPr lang="en-US"/>
              <a:t>Electrolytes: hypokalemia, hyponatremia</a:t>
            </a:r>
            <a:endParaRPr/>
          </a:p>
          <a:p>
            <a:pPr marL="782638" lvl="1" indent="-325438"/>
            <a:r>
              <a:rPr lang="en-US" err="1"/>
              <a:t>Overdiuresis</a:t>
            </a:r>
            <a:r>
              <a:rPr lang="en-US"/>
              <a:t>/ hypovolemia and contraction alkalosis</a:t>
            </a:r>
            <a:endParaRPr/>
          </a:p>
          <a:p>
            <a:pPr marL="782638" lvl="1" indent="-325438"/>
            <a:r>
              <a:rPr lang="en-US"/>
              <a:t>Gout/ hyperuricemia</a:t>
            </a:r>
            <a:endParaRPr/>
          </a:p>
          <a:p>
            <a:pPr marL="782638" lvl="1" indent="-230187">
              <a:buSzPts val="1500"/>
              <a:buNone/>
            </a:pPr>
            <a:endParaRPr sz="1500"/>
          </a:p>
          <a:p>
            <a:pPr marL="342900" indent="-342900"/>
            <a:r>
              <a:rPr lang="en-US" b="1" i="1"/>
              <a:t>Hypersensitivity reactions: </a:t>
            </a:r>
            <a:r>
              <a:rPr lang="en-US"/>
              <a:t>rash and rare acute interstitial nephritis</a:t>
            </a:r>
            <a:endParaRPr/>
          </a:p>
          <a:p>
            <a:pPr marL="342900" indent="-247650">
              <a:buSzPts val="1500"/>
              <a:buNone/>
            </a:pPr>
            <a:endParaRPr sz="1500"/>
          </a:p>
          <a:p>
            <a:pPr marL="342900" indent="-342900"/>
            <a:r>
              <a:rPr lang="en-US" b="1" i="1"/>
              <a:t>Ototoxicity</a:t>
            </a:r>
            <a:r>
              <a:rPr lang="en-US"/>
              <a:t> (tinnitus and hearing loss), transient to irreversible, usually occurs with very high dose</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177"/>
        <p:cNvGrpSpPr/>
        <p:nvPr/>
      </p:nvGrpSpPr>
      <p:grpSpPr>
        <a:xfrm>
          <a:off x="0" y="0"/>
          <a:ext cx="0" cy="0"/>
          <a:chOff x="0" y="0"/>
          <a:chExt cx="0" cy="0"/>
        </a:xfrm>
      </p:grpSpPr>
      <p:sp>
        <p:nvSpPr>
          <p:cNvPr id="1178" name="Google Shape;1178;p153"/>
          <p:cNvSpPr txBox="1">
            <a:spLocks noGrp="1"/>
          </p:cNvSpPr>
          <p:nvPr>
            <p:ph type="title"/>
          </p:nvPr>
        </p:nvSpPr>
        <p:spPr>
          <a:xfrm>
            <a:off x="1981200" y="92076"/>
            <a:ext cx="8229600" cy="822325"/>
          </a:xfrm>
          <a:prstGeom prst="rect">
            <a:avLst/>
          </a:prstGeom>
          <a:noFill/>
          <a:ln>
            <a:noFill/>
          </a:ln>
        </p:spPr>
        <p:txBody>
          <a:bodyPr spcFirstLastPara="1" wrap="square" lIns="50800" tIns="50800" rIns="50800" bIns="50800" anchor="ctr" anchorCtr="0">
            <a:noAutofit/>
          </a:bodyPr>
          <a:lstStyle/>
          <a:p>
            <a:r>
              <a:rPr lang="en-US"/>
              <a:t>Potassium Sparing Diuretics</a:t>
            </a:r>
            <a:endParaRPr/>
          </a:p>
        </p:txBody>
      </p:sp>
      <p:sp>
        <p:nvSpPr>
          <p:cNvPr id="1179" name="Google Shape;1179;p153"/>
          <p:cNvSpPr txBox="1">
            <a:spLocks noGrp="1"/>
          </p:cNvSpPr>
          <p:nvPr>
            <p:ph type="body" idx="1"/>
          </p:nvPr>
        </p:nvSpPr>
        <p:spPr>
          <a:xfrm>
            <a:off x="358219" y="1066800"/>
            <a:ext cx="11425286" cy="5654675"/>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a:t>Triamterene (</a:t>
            </a:r>
            <a:r>
              <a:rPr lang="en-US" err="1"/>
              <a:t>Dyazide</a:t>
            </a:r>
            <a:r>
              <a:rPr lang="en-US"/>
              <a:t> or </a:t>
            </a:r>
            <a:r>
              <a:rPr lang="en-US" err="1"/>
              <a:t>Maxzide</a:t>
            </a:r>
            <a:r>
              <a:rPr lang="en-US"/>
              <a:t>) when used in combination with HCTZ </a:t>
            </a:r>
          </a:p>
          <a:p>
            <a:pPr marL="342900" indent="-342900">
              <a:spcBef>
                <a:spcPts val="0"/>
              </a:spcBef>
            </a:pPr>
            <a:r>
              <a:rPr lang="en-US"/>
              <a:t>Amiloride (</a:t>
            </a:r>
            <a:r>
              <a:rPr lang="en-US" err="1"/>
              <a:t>Midamor</a:t>
            </a:r>
            <a:r>
              <a:rPr lang="en-US"/>
              <a:t>)</a:t>
            </a:r>
          </a:p>
          <a:p>
            <a:pPr marL="342900" indent="-342900">
              <a:spcBef>
                <a:spcPts val="0"/>
              </a:spcBef>
            </a:pPr>
            <a:r>
              <a:rPr lang="en-US" b="1" err="1"/>
              <a:t>Spironalactone</a:t>
            </a:r>
            <a:r>
              <a:rPr lang="en-US" b="1"/>
              <a:t> (Aldactone)</a:t>
            </a:r>
            <a:endParaRPr/>
          </a:p>
          <a:p>
            <a:pPr marL="342900" indent="-342900"/>
            <a:r>
              <a:rPr lang="en-US"/>
              <a:t>Eplerenone (</a:t>
            </a:r>
            <a:r>
              <a:rPr lang="en-US" err="1"/>
              <a:t>Inspra</a:t>
            </a:r>
            <a:r>
              <a:rPr lang="en-US"/>
              <a:t>)</a:t>
            </a:r>
            <a:endParaRPr/>
          </a:p>
          <a:p>
            <a:pPr marL="342900" indent="-215900">
              <a:buSzPts val="2000"/>
              <a:buNone/>
            </a:pPr>
            <a:endParaRPr sz="2000" b="1"/>
          </a:p>
          <a:p>
            <a:pPr marL="342900" indent="-342900"/>
            <a:r>
              <a:rPr lang="en-US"/>
              <a:t>Triamterene and amiloride directly block sodium channels in the distal tubule leading to a weak diuretic effect, but conservation of potassium.  Amiloride is better tolerated and less nephrotoxic than triamterene.</a:t>
            </a:r>
            <a:endParaRPr b="1"/>
          </a:p>
        </p:txBody>
      </p:sp>
      <p:pic>
        <p:nvPicPr>
          <p:cNvPr id="1181" name="Google Shape;1181;p153" descr="Save the Bananas — Haley Schrenk - art director"/>
          <p:cNvPicPr preferRelativeResize="0"/>
          <p:nvPr/>
        </p:nvPicPr>
        <p:blipFill rotWithShape="1">
          <a:blip r:embed="rId3">
            <a:alphaModFix/>
          </a:blip>
          <a:srcRect l="34280" t="13333" r="34279" b="38888"/>
          <a:stretch/>
        </p:blipFill>
        <p:spPr>
          <a:xfrm>
            <a:off x="9815240" y="1782452"/>
            <a:ext cx="1850065" cy="22098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185"/>
        <p:cNvGrpSpPr/>
        <p:nvPr/>
      </p:nvGrpSpPr>
      <p:grpSpPr>
        <a:xfrm>
          <a:off x="0" y="0"/>
          <a:ext cx="0" cy="0"/>
          <a:chOff x="0" y="0"/>
          <a:chExt cx="0" cy="0"/>
        </a:xfrm>
      </p:grpSpPr>
      <p:sp>
        <p:nvSpPr>
          <p:cNvPr id="1186" name="Google Shape;1186;p154"/>
          <p:cNvSpPr txBox="1">
            <a:spLocks noGrp="1"/>
          </p:cNvSpPr>
          <p:nvPr>
            <p:ph type="title"/>
          </p:nvPr>
        </p:nvSpPr>
        <p:spPr>
          <a:xfrm>
            <a:off x="1981200" y="92076"/>
            <a:ext cx="8229600" cy="822325"/>
          </a:xfrm>
          <a:prstGeom prst="rect">
            <a:avLst/>
          </a:prstGeom>
          <a:noFill/>
          <a:ln>
            <a:noFill/>
          </a:ln>
        </p:spPr>
        <p:txBody>
          <a:bodyPr spcFirstLastPara="1" wrap="square" lIns="50800" tIns="50800" rIns="50800" bIns="50800" anchor="ctr" anchorCtr="0">
            <a:noAutofit/>
          </a:bodyPr>
          <a:lstStyle/>
          <a:p>
            <a:r>
              <a:rPr lang="en-US"/>
              <a:t>Potassium Sparing Diuretics</a:t>
            </a:r>
            <a:endParaRPr/>
          </a:p>
        </p:txBody>
      </p:sp>
      <p:sp>
        <p:nvSpPr>
          <p:cNvPr id="1187" name="Google Shape;1187;p154"/>
          <p:cNvSpPr txBox="1">
            <a:spLocks noGrp="1"/>
          </p:cNvSpPr>
          <p:nvPr>
            <p:ph type="body" idx="1"/>
          </p:nvPr>
        </p:nvSpPr>
        <p:spPr>
          <a:xfrm>
            <a:off x="556181" y="990600"/>
            <a:ext cx="11123629" cy="5715000"/>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a:t>Like all diuretics, give in the morning to avoid nocturnal diuresis, and if used BID, avoid giving after 5pm</a:t>
            </a:r>
            <a:endParaRPr/>
          </a:p>
          <a:p>
            <a:pPr marL="342900" indent="-139700">
              <a:buNone/>
            </a:pPr>
            <a:endParaRPr/>
          </a:p>
          <a:p>
            <a:pPr marL="342900" indent="-342900"/>
            <a:r>
              <a:rPr lang="en-US"/>
              <a:t>Adverse effects of the potassium sparing diuretics include:</a:t>
            </a:r>
            <a:endParaRPr/>
          </a:p>
          <a:p>
            <a:pPr marL="782638" lvl="1" indent="-325438"/>
            <a:r>
              <a:rPr lang="en-US" b="1"/>
              <a:t>Hyperkalemia</a:t>
            </a:r>
            <a:r>
              <a:rPr lang="en-US"/>
              <a:t>: particularly in diabetics and CKD patients, or patients on an ACEI or ARB</a:t>
            </a:r>
            <a:endParaRPr/>
          </a:p>
          <a:p>
            <a:pPr marL="782638" lvl="1" indent="-325438"/>
            <a:r>
              <a:rPr lang="en-US"/>
              <a:t>Crystalluria and cast formation is seen with triamterene- leading to kidney stones and AKI</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192"/>
        <p:cNvGrpSpPr/>
        <p:nvPr/>
      </p:nvGrpSpPr>
      <p:grpSpPr>
        <a:xfrm>
          <a:off x="0" y="0"/>
          <a:ext cx="0" cy="0"/>
          <a:chOff x="0" y="0"/>
          <a:chExt cx="0" cy="0"/>
        </a:xfrm>
      </p:grpSpPr>
      <p:sp>
        <p:nvSpPr>
          <p:cNvPr id="1193" name="Google Shape;1193;p155"/>
          <p:cNvSpPr txBox="1">
            <a:spLocks noGrp="1"/>
          </p:cNvSpPr>
          <p:nvPr>
            <p:ph type="title"/>
          </p:nvPr>
        </p:nvSpPr>
        <p:spPr>
          <a:xfrm>
            <a:off x="1981200" y="92076"/>
            <a:ext cx="8229600" cy="1203325"/>
          </a:xfrm>
          <a:prstGeom prst="rect">
            <a:avLst/>
          </a:prstGeom>
          <a:noFill/>
          <a:ln>
            <a:noFill/>
          </a:ln>
        </p:spPr>
        <p:txBody>
          <a:bodyPr spcFirstLastPara="1" wrap="square" lIns="50800" tIns="50800" rIns="50800" bIns="50800" anchor="ctr" anchorCtr="0">
            <a:noAutofit/>
          </a:bodyPr>
          <a:lstStyle/>
          <a:p>
            <a:r>
              <a:rPr lang="en-US"/>
              <a:t>Potassium Sparing Diuretics/ Aldosterone Antagonists</a:t>
            </a:r>
            <a:endParaRPr/>
          </a:p>
        </p:txBody>
      </p:sp>
      <p:sp>
        <p:nvSpPr>
          <p:cNvPr id="1194" name="Google Shape;1194;p155"/>
          <p:cNvSpPr txBox="1">
            <a:spLocks noGrp="1"/>
          </p:cNvSpPr>
          <p:nvPr>
            <p:ph type="body" idx="1"/>
          </p:nvPr>
        </p:nvSpPr>
        <p:spPr>
          <a:xfrm>
            <a:off x="433633" y="1524001"/>
            <a:ext cx="11274458" cy="5197475"/>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dirty="0"/>
              <a:t>Two of the potassium sparing diuretics work by a different mechanism, </a:t>
            </a:r>
            <a:r>
              <a:rPr lang="en-US" b="1" i="1" dirty="0"/>
              <a:t>competitively inhibiting the </a:t>
            </a:r>
            <a:r>
              <a:rPr lang="en-US" b="1" i="1" dirty="0" err="1"/>
              <a:t>mineralcorticoid</a:t>
            </a:r>
            <a:r>
              <a:rPr lang="en-US" b="1" i="1" dirty="0"/>
              <a:t> (aldosterone) receptor in the distal tubule</a:t>
            </a:r>
            <a:r>
              <a:rPr lang="en-US" dirty="0"/>
              <a:t> which decreases the number of Na-K pumps and increases serum potassium, while increasing sodium loss in the urine.</a:t>
            </a:r>
            <a:endParaRPr dirty="0"/>
          </a:p>
          <a:p>
            <a:pPr marL="342900" indent="-247650">
              <a:buSzPts val="1500"/>
              <a:buNone/>
            </a:pPr>
            <a:endParaRPr sz="1500" dirty="0"/>
          </a:p>
          <a:p>
            <a:pPr marL="342900" indent="-342900"/>
            <a:r>
              <a:rPr lang="en-US" b="1" dirty="0"/>
              <a:t>Eplerenone (</a:t>
            </a:r>
            <a:r>
              <a:rPr lang="en-US" b="1" dirty="0" err="1"/>
              <a:t>Inspra</a:t>
            </a:r>
            <a:r>
              <a:rPr lang="en-US" b="1" dirty="0"/>
              <a:t>) </a:t>
            </a:r>
          </a:p>
          <a:p>
            <a:pPr marL="342900" indent="-342900"/>
            <a:r>
              <a:rPr lang="en-US" b="1" dirty="0"/>
              <a:t>Spironolactone (Aldactone)</a:t>
            </a:r>
            <a:endParaRPr b="1" dirty="0"/>
          </a:p>
          <a:p>
            <a:pPr marL="342900" indent="-139700">
              <a:buNone/>
            </a:pPr>
            <a:endParaRPr dirty="0"/>
          </a:p>
          <a:p>
            <a:pPr marL="342900" indent="-139700">
              <a:buNone/>
            </a:pPr>
            <a:endParaRPr dirty="0"/>
          </a:p>
          <a:p>
            <a:pPr marL="342900" indent="-152400">
              <a:buSzPts val="3000"/>
              <a:buNone/>
            </a:pPr>
            <a:endParaRPr sz="3000" dirty="0"/>
          </a:p>
          <a:p>
            <a:pPr marL="782638" lvl="1" indent="-147637">
              <a:buSzPts val="2800"/>
              <a:buNone/>
            </a:pPr>
            <a:endParaRPr sz="2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199"/>
        <p:cNvGrpSpPr/>
        <p:nvPr/>
      </p:nvGrpSpPr>
      <p:grpSpPr>
        <a:xfrm>
          <a:off x="0" y="0"/>
          <a:ext cx="0" cy="0"/>
          <a:chOff x="0" y="0"/>
          <a:chExt cx="0" cy="0"/>
        </a:xfrm>
      </p:grpSpPr>
      <p:sp>
        <p:nvSpPr>
          <p:cNvPr id="1200" name="Google Shape;1200;p156"/>
          <p:cNvSpPr txBox="1">
            <a:spLocks noGrp="1"/>
          </p:cNvSpPr>
          <p:nvPr>
            <p:ph type="title"/>
          </p:nvPr>
        </p:nvSpPr>
        <p:spPr>
          <a:xfrm>
            <a:off x="1981200" y="92076"/>
            <a:ext cx="8229600" cy="974725"/>
          </a:xfrm>
          <a:prstGeom prst="rect">
            <a:avLst/>
          </a:prstGeom>
          <a:noFill/>
          <a:ln>
            <a:noFill/>
          </a:ln>
        </p:spPr>
        <p:txBody>
          <a:bodyPr spcFirstLastPara="1" wrap="square" lIns="50800" tIns="50800" rIns="50800" bIns="50800" anchor="ctr" anchorCtr="0">
            <a:noAutofit/>
          </a:bodyPr>
          <a:lstStyle/>
          <a:p>
            <a:r>
              <a:rPr lang="en-US"/>
              <a:t>Aldosterone Antagonists</a:t>
            </a:r>
            <a:endParaRPr/>
          </a:p>
        </p:txBody>
      </p:sp>
      <p:sp>
        <p:nvSpPr>
          <p:cNvPr id="1201" name="Google Shape;1201;p156"/>
          <p:cNvSpPr txBox="1">
            <a:spLocks noGrp="1"/>
          </p:cNvSpPr>
          <p:nvPr>
            <p:ph type="body" idx="1"/>
          </p:nvPr>
        </p:nvSpPr>
        <p:spPr>
          <a:xfrm>
            <a:off x="537329" y="3231254"/>
            <a:ext cx="8861195" cy="2667000"/>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a:t>For that reason, they carry a compelling indication for </a:t>
            </a:r>
            <a:r>
              <a:rPr lang="en-US" err="1"/>
              <a:t>HFrEF</a:t>
            </a:r>
            <a:r>
              <a:rPr lang="en-US"/>
              <a:t> and are the initial diuretic of choice in a patient with ascites from chronic liver disease.</a:t>
            </a:r>
            <a:endParaRPr/>
          </a:p>
          <a:p>
            <a:pPr marL="342900" indent="-139700">
              <a:buNone/>
            </a:pPr>
            <a:endParaRPr/>
          </a:p>
          <a:p>
            <a:pPr marL="342900" indent="-152400">
              <a:buSzPts val="3000"/>
              <a:buNone/>
            </a:pPr>
            <a:endParaRPr sz="3000"/>
          </a:p>
          <a:p>
            <a:pPr marL="782638" lvl="1" indent="-147637">
              <a:buSzPts val="2800"/>
              <a:buNone/>
            </a:pPr>
            <a:endParaRPr sz="2800"/>
          </a:p>
        </p:txBody>
      </p:sp>
      <p:pic>
        <p:nvPicPr>
          <p:cNvPr id="1203" name="Google Shape;1203;p156" descr="What is Heart Failure? Everything You Need To Know"/>
          <p:cNvPicPr preferRelativeResize="0"/>
          <p:nvPr/>
        </p:nvPicPr>
        <p:blipFill rotWithShape="1">
          <a:blip r:embed="rId3">
            <a:alphaModFix/>
          </a:blip>
          <a:srcRect l="16737" t="4443" r="15522" b="1990"/>
          <a:stretch/>
        </p:blipFill>
        <p:spPr>
          <a:xfrm>
            <a:off x="9646371" y="3334949"/>
            <a:ext cx="1905001" cy="2814333"/>
          </a:xfrm>
          <a:prstGeom prst="rect">
            <a:avLst/>
          </a:prstGeom>
          <a:noFill/>
          <a:ln>
            <a:noFill/>
          </a:ln>
        </p:spPr>
      </p:pic>
      <p:sp>
        <p:nvSpPr>
          <p:cNvPr id="1204" name="Google Shape;1204;p156"/>
          <p:cNvSpPr txBox="1"/>
          <p:nvPr/>
        </p:nvSpPr>
        <p:spPr>
          <a:xfrm>
            <a:off x="537329" y="1373595"/>
            <a:ext cx="11123628" cy="1754286"/>
          </a:xfrm>
          <a:prstGeom prst="rect">
            <a:avLst/>
          </a:prstGeom>
          <a:noFill/>
          <a:ln>
            <a:noFill/>
          </a:ln>
        </p:spPr>
        <p:txBody>
          <a:bodyPr spcFirstLastPara="1" wrap="square" lIns="91425" tIns="45700" rIns="91425" bIns="45700" anchor="t" anchorCtr="0">
            <a:spAutoFit/>
          </a:bodyPr>
          <a:lstStyle/>
          <a:p>
            <a:pPr marL="457200" indent="-457200">
              <a:buClr>
                <a:schemeClr val="dk1"/>
              </a:buClr>
              <a:buSzPts val="3200"/>
              <a:buFont typeface="Arial"/>
              <a:buChar char="•"/>
            </a:pPr>
            <a:r>
              <a:rPr lang="en-US" sz="3200">
                <a:solidFill>
                  <a:schemeClr val="dk1"/>
                </a:solidFill>
                <a:latin typeface="Calibri"/>
                <a:ea typeface="Calibri"/>
                <a:cs typeface="Calibri"/>
                <a:sym typeface="Calibri"/>
              </a:rPr>
              <a:t>Although they are beneficial for their weak diuretic effect- they are more commonly </a:t>
            </a:r>
            <a:r>
              <a:rPr lang="en-US" sz="3200" b="1" i="1">
                <a:solidFill>
                  <a:schemeClr val="dk1"/>
                </a:solidFill>
                <a:latin typeface="Calibri"/>
                <a:ea typeface="Calibri"/>
                <a:cs typeface="Calibri"/>
                <a:sym typeface="Calibri"/>
              </a:rPr>
              <a:t>valued for their ability to block the effects of aldosterone on the kidney, vasculature and heart.</a:t>
            </a:r>
            <a:endParaRPr/>
          </a:p>
          <a:p>
            <a:endParaRPr sz="1200">
              <a:solidFill>
                <a:schemeClr val="dk1"/>
              </a:solidFill>
              <a:latin typeface="Helvetica Neue"/>
              <a:ea typeface="Helvetica Neue"/>
              <a:cs typeface="Helvetica Neue"/>
              <a:sym typeface="Helvetica Neue"/>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208"/>
        <p:cNvGrpSpPr/>
        <p:nvPr/>
      </p:nvGrpSpPr>
      <p:grpSpPr>
        <a:xfrm>
          <a:off x="0" y="0"/>
          <a:ext cx="0" cy="0"/>
          <a:chOff x="0" y="0"/>
          <a:chExt cx="0" cy="0"/>
        </a:xfrm>
      </p:grpSpPr>
      <p:sp>
        <p:nvSpPr>
          <p:cNvPr id="1209" name="Google Shape;1209;p157"/>
          <p:cNvSpPr txBox="1">
            <a:spLocks noGrp="1"/>
          </p:cNvSpPr>
          <p:nvPr>
            <p:ph type="title"/>
          </p:nvPr>
        </p:nvSpPr>
        <p:spPr>
          <a:xfrm>
            <a:off x="1981200" y="92076"/>
            <a:ext cx="8229600" cy="1203325"/>
          </a:xfrm>
          <a:prstGeom prst="rect">
            <a:avLst/>
          </a:prstGeom>
          <a:noFill/>
          <a:ln>
            <a:noFill/>
          </a:ln>
        </p:spPr>
        <p:txBody>
          <a:bodyPr spcFirstLastPara="1" wrap="square" lIns="50800" tIns="50800" rIns="50800" bIns="50800" anchor="ctr" anchorCtr="0">
            <a:noAutofit/>
          </a:bodyPr>
          <a:lstStyle/>
          <a:p>
            <a:r>
              <a:rPr lang="en-US"/>
              <a:t>Aldosterone Antagonists: Adverse Effects</a:t>
            </a:r>
            <a:endParaRPr/>
          </a:p>
        </p:txBody>
      </p:sp>
      <p:sp>
        <p:nvSpPr>
          <p:cNvPr id="1210" name="Google Shape;1210;p157"/>
          <p:cNvSpPr txBox="1">
            <a:spLocks noGrp="1"/>
          </p:cNvSpPr>
          <p:nvPr>
            <p:ph type="body" idx="1"/>
          </p:nvPr>
        </p:nvSpPr>
        <p:spPr>
          <a:xfrm>
            <a:off x="631596" y="1447801"/>
            <a:ext cx="11180190" cy="5273675"/>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b="1" i="1" dirty="0"/>
              <a:t>Hyperkalemia</a:t>
            </a:r>
            <a:r>
              <a:rPr lang="en-US" dirty="0"/>
              <a:t> especially if given in combination with ACEI, ARB or potassium supplements, use with caution and monitor chem panel, especially in GFR &lt; 50, diabetics and pts with proteinuria. </a:t>
            </a:r>
            <a:endParaRPr dirty="0"/>
          </a:p>
          <a:p>
            <a:pPr marL="342900" indent="-139700">
              <a:buNone/>
            </a:pPr>
            <a:endParaRPr dirty="0"/>
          </a:p>
          <a:p>
            <a:pPr marL="342900" indent="-342900"/>
            <a:r>
              <a:rPr lang="en-US" b="1" i="1" dirty="0"/>
              <a:t>Endocrine side effects</a:t>
            </a:r>
            <a:r>
              <a:rPr lang="en-US" dirty="0"/>
              <a:t>: spironolactone is less specific to the mineralocorticoid receptor, and binds to estrogen and progesterone receptors, resulting in </a:t>
            </a:r>
            <a:r>
              <a:rPr lang="en-US" b="1" i="1" dirty="0"/>
              <a:t>gynecomastia, irregular menstrual periods and impotence.</a:t>
            </a:r>
          </a:p>
          <a:p>
            <a:pPr marL="800100" lvl="1" indent="-342900"/>
            <a:r>
              <a:rPr lang="en-US" dirty="0"/>
              <a:t>Eplerenone (</a:t>
            </a:r>
            <a:r>
              <a:rPr lang="en-US" dirty="0" err="1"/>
              <a:t>Inspra</a:t>
            </a:r>
            <a:r>
              <a:rPr lang="en-US" dirty="0"/>
              <a:t>) more selective thus reducing potential for endocrine SEs.</a:t>
            </a:r>
            <a:endParaRPr dirty="0"/>
          </a:p>
          <a:p>
            <a:pPr marL="342900" indent="-152400">
              <a:buSzPts val="3000"/>
              <a:buNone/>
            </a:pPr>
            <a:endParaRPr sz="3000" dirty="0"/>
          </a:p>
          <a:p>
            <a:pPr marL="782638" lvl="1" indent="-147637">
              <a:buSzPts val="2800"/>
              <a:buNone/>
            </a:pPr>
            <a:endParaRPr sz="2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216"/>
        <p:cNvGrpSpPr/>
        <p:nvPr/>
      </p:nvGrpSpPr>
      <p:grpSpPr>
        <a:xfrm>
          <a:off x="0" y="0"/>
          <a:ext cx="0" cy="0"/>
          <a:chOff x="0" y="0"/>
          <a:chExt cx="0" cy="0"/>
        </a:xfrm>
      </p:grpSpPr>
      <p:sp>
        <p:nvSpPr>
          <p:cNvPr id="1217" name="Google Shape;1217;p158"/>
          <p:cNvSpPr txBox="1">
            <a:spLocks noGrp="1"/>
          </p:cNvSpPr>
          <p:nvPr>
            <p:ph type="title"/>
          </p:nvPr>
        </p:nvSpPr>
        <p:spPr>
          <a:xfrm>
            <a:off x="1600200" y="92076"/>
            <a:ext cx="8915400" cy="1127125"/>
          </a:xfrm>
          <a:prstGeom prst="rect">
            <a:avLst/>
          </a:prstGeom>
          <a:noFill/>
          <a:ln>
            <a:noFill/>
          </a:ln>
        </p:spPr>
        <p:txBody>
          <a:bodyPr spcFirstLastPara="1" wrap="square" lIns="50800" tIns="50800" rIns="50800" bIns="50800" anchor="ctr" anchorCtr="0">
            <a:noAutofit/>
          </a:bodyPr>
          <a:lstStyle/>
          <a:p>
            <a:r>
              <a:rPr lang="en-US" sz="4000"/>
              <a:t>Angiotensin Converting Enzyme (ACE) Inhibitors</a:t>
            </a:r>
            <a:endParaRPr/>
          </a:p>
        </p:txBody>
      </p:sp>
      <p:sp>
        <p:nvSpPr>
          <p:cNvPr id="1218" name="Google Shape;1218;p158"/>
          <p:cNvSpPr txBox="1">
            <a:spLocks noGrp="1"/>
          </p:cNvSpPr>
          <p:nvPr>
            <p:ph type="body" idx="1"/>
          </p:nvPr>
        </p:nvSpPr>
        <p:spPr>
          <a:xfrm>
            <a:off x="395927" y="1414021"/>
            <a:ext cx="6822648" cy="3657600"/>
          </a:xfrm>
          <a:prstGeom prst="rect">
            <a:avLst/>
          </a:prstGeom>
          <a:noFill/>
          <a:ln>
            <a:noFill/>
          </a:ln>
        </p:spPr>
        <p:txBody>
          <a:bodyPr spcFirstLastPara="1" wrap="square" lIns="91425" tIns="45700" rIns="91425" bIns="45700" anchor="t" anchorCtr="0">
            <a:noAutofit/>
          </a:bodyPr>
          <a:lstStyle/>
          <a:p>
            <a:pPr marL="342900" indent="-342900">
              <a:spcBef>
                <a:spcPts val="0"/>
              </a:spcBef>
              <a:buSzPts val="3200"/>
            </a:pPr>
            <a:r>
              <a:rPr lang="en-US" sz="3200"/>
              <a:t>Benazepril (Lotensin)</a:t>
            </a:r>
            <a:endParaRPr/>
          </a:p>
          <a:p>
            <a:pPr marL="342900" indent="-342900">
              <a:buSzPts val="3200"/>
            </a:pPr>
            <a:r>
              <a:rPr lang="en-US" sz="3200"/>
              <a:t>Captopril (</a:t>
            </a:r>
            <a:r>
              <a:rPr lang="en-US" sz="3200" err="1"/>
              <a:t>Capoten</a:t>
            </a:r>
            <a:r>
              <a:rPr lang="en-US" sz="3200"/>
              <a:t>)</a:t>
            </a:r>
            <a:endParaRPr/>
          </a:p>
          <a:p>
            <a:pPr marL="342900" indent="-342900">
              <a:buSzPts val="3200"/>
            </a:pPr>
            <a:r>
              <a:rPr lang="en-US" sz="3200" b="1"/>
              <a:t>Enalapril (Vasotec) PO- Enalaprilat IV</a:t>
            </a:r>
            <a:endParaRPr b="1"/>
          </a:p>
          <a:p>
            <a:pPr marL="342900" indent="-342900">
              <a:buSzPts val="3200"/>
            </a:pPr>
            <a:r>
              <a:rPr lang="en-US" sz="3200" err="1"/>
              <a:t>Fosinopril</a:t>
            </a:r>
            <a:r>
              <a:rPr lang="en-US" sz="3200"/>
              <a:t> (</a:t>
            </a:r>
            <a:r>
              <a:rPr lang="en-US" sz="3200" err="1"/>
              <a:t>Monopril</a:t>
            </a:r>
            <a:r>
              <a:rPr lang="en-US" sz="3200"/>
              <a:t>)</a:t>
            </a:r>
            <a:endParaRPr/>
          </a:p>
          <a:p>
            <a:pPr marL="342900" indent="-342900">
              <a:buSzPts val="3200"/>
            </a:pPr>
            <a:r>
              <a:rPr lang="en-US" sz="3200" b="1"/>
              <a:t>Lisinopril (Prinivil, Zestril) </a:t>
            </a:r>
            <a:endParaRPr b="1"/>
          </a:p>
        </p:txBody>
      </p:sp>
      <p:sp>
        <p:nvSpPr>
          <p:cNvPr id="1219" name="Google Shape;1219;p158"/>
          <p:cNvSpPr txBox="1">
            <a:spLocks noGrp="1"/>
          </p:cNvSpPr>
          <p:nvPr>
            <p:ph type="body" idx="2"/>
          </p:nvPr>
        </p:nvSpPr>
        <p:spPr>
          <a:xfrm>
            <a:off x="7218575" y="1414021"/>
            <a:ext cx="4038600" cy="3505200"/>
          </a:xfrm>
          <a:prstGeom prst="rect">
            <a:avLst/>
          </a:prstGeom>
          <a:noFill/>
          <a:ln>
            <a:noFill/>
          </a:ln>
        </p:spPr>
        <p:txBody>
          <a:bodyPr spcFirstLastPara="1" wrap="square" lIns="91425" tIns="45700" rIns="91425" bIns="45700" anchor="t" anchorCtr="0">
            <a:noAutofit/>
          </a:bodyPr>
          <a:lstStyle/>
          <a:p>
            <a:pPr marL="342900" indent="-342900">
              <a:spcBef>
                <a:spcPts val="0"/>
              </a:spcBef>
              <a:buSzPts val="3200"/>
            </a:pPr>
            <a:r>
              <a:rPr lang="en-US" sz="3200" err="1"/>
              <a:t>Moexipril</a:t>
            </a:r>
            <a:r>
              <a:rPr lang="en-US" sz="3200"/>
              <a:t> (</a:t>
            </a:r>
            <a:r>
              <a:rPr lang="en-US" sz="3200" err="1"/>
              <a:t>Univasc</a:t>
            </a:r>
            <a:r>
              <a:rPr lang="en-US" sz="3200"/>
              <a:t>)</a:t>
            </a:r>
            <a:endParaRPr/>
          </a:p>
          <a:p>
            <a:pPr marL="342900" indent="-342900">
              <a:buSzPts val="3200"/>
            </a:pPr>
            <a:r>
              <a:rPr lang="en-US" sz="3200"/>
              <a:t>Perindopril (</a:t>
            </a:r>
            <a:r>
              <a:rPr lang="en-US" sz="3200" err="1"/>
              <a:t>Aceon</a:t>
            </a:r>
            <a:r>
              <a:rPr lang="en-US" sz="3200"/>
              <a:t>)</a:t>
            </a:r>
            <a:endParaRPr/>
          </a:p>
          <a:p>
            <a:pPr marL="342900" indent="-342900">
              <a:buSzPts val="3200"/>
            </a:pPr>
            <a:r>
              <a:rPr lang="en-US" sz="3200"/>
              <a:t>Quinapril (Accupril)</a:t>
            </a:r>
            <a:endParaRPr/>
          </a:p>
          <a:p>
            <a:pPr marL="342900" indent="-342900">
              <a:buSzPts val="3200"/>
            </a:pPr>
            <a:r>
              <a:rPr lang="en-US" sz="3200"/>
              <a:t>Ramipril (</a:t>
            </a:r>
            <a:r>
              <a:rPr lang="en-US" sz="3200" err="1"/>
              <a:t>Altace</a:t>
            </a:r>
            <a:r>
              <a:rPr lang="en-US" sz="3200"/>
              <a:t>)</a:t>
            </a:r>
            <a:endParaRPr/>
          </a:p>
          <a:p>
            <a:pPr marL="342900" indent="-342900">
              <a:buSzPts val="3200"/>
            </a:pPr>
            <a:r>
              <a:rPr lang="en-US" sz="3200"/>
              <a:t>Trandolapril (</a:t>
            </a:r>
            <a:r>
              <a:rPr lang="en-US" sz="3200" err="1"/>
              <a:t>Mavik</a:t>
            </a:r>
            <a:r>
              <a:rPr lang="en-US" sz="3200"/>
              <a:t>)</a:t>
            </a:r>
            <a:endParaRPr/>
          </a:p>
          <a:p>
            <a:pPr marL="342900" indent="-139700">
              <a:buSzPts val="3200"/>
              <a:buNone/>
            </a:pPr>
            <a:endParaRPr sz="3200"/>
          </a:p>
        </p:txBody>
      </p:sp>
      <p:pic>
        <p:nvPicPr>
          <p:cNvPr id="1221" name="Google Shape;1221;p158" descr="Amazon.com: Ace Of Hearts: Poker Card Notebook With Lined Wide Ruled Paper  For Work, Home Or School. Cool 8.5 x 11 Notepad Journal For Taking Notes,  Diaries Or Journaling For Poker Fans"/>
          <p:cNvPicPr preferRelativeResize="0"/>
          <p:nvPr/>
        </p:nvPicPr>
        <p:blipFill rotWithShape="1">
          <a:blip r:embed="rId3">
            <a:alphaModFix/>
          </a:blip>
          <a:srcRect l="13077" t="23214" r="22307" b="4761"/>
          <a:stretch/>
        </p:blipFill>
        <p:spPr>
          <a:xfrm>
            <a:off x="8077200" y="4597400"/>
            <a:ext cx="1234314" cy="1778000"/>
          </a:xfrm>
          <a:prstGeom prst="rect">
            <a:avLst/>
          </a:prstGeom>
          <a:noFill/>
          <a:ln>
            <a:noFill/>
          </a:ln>
        </p:spPr>
      </p:pic>
      <p:sp>
        <p:nvSpPr>
          <p:cNvPr id="2" name="TextBox 1">
            <a:extLst>
              <a:ext uri="{FF2B5EF4-FFF2-40B4-BE49-F238E27FC236}">
                <a16:creationId xmlns:a16="http://schemas.microsoft.com/office/drawing/2014/main" id="{863126A6-1074-0C19-DDB2-26E4BD6928DC}"/>
              </a:ext>
            </a:extLst>
          </p:cNvPr>
          <p:cNvSpPr txBox="1"/>
          <p:nvPr/>
        </p:nvSpPr>
        <p:spPr>
          <a:xfrm>
            <a:off x="2091934" y="5486400"/>
            <a:ext cx="2979687" cy="523220"/>
          </a:xfrm>
          <a:prstGeom prst="rect">
            <a:avLst/>
          </a:prstGeom>
          <a:noFill/>
        </p:spPr>
        <p:txBody>
          <a:bodyPr wrap="square" rtlCol="0">
            <a:spAutoFit/>
          </a:bodyPr>
          <a:lstStyle/>
          <a:p>
            <a:r>
              <a:rPr lang="en-US" sz="2800">
                <a:latin typeface="Calibri" panose="020F0502020204030204" pitchFamily="34" charset="0"/>
                <a:cs typeface="Calibri" panose="020F0502020204030204" pitchFamily="34" charset="0"/>
              </a:rPr>
              <a:t>Relatively Cheap</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226"/>
        <p:cNvGrpSpPr/>
        <p:nvPr/>
      </p:nvGrpSpPr>
      <p:grpSpPr>
        <a:xfrm>
          <a:off x="0" y="0"/>
          <a:ext cx="0" cy="0"/>
          <a:chOff x="0" y="0"/>
          <a:chExt cx="0" cy="0"/>
        </a:xfrm>
      </p:grpSpPr>
      <p:sp>
        <p:nvSpPr>
          <p:cNvPr id="1227" name="Google Shape;1227;p159"/>
          <p:cNvSpPr txBox="1">
            <a:spLocks noGrp="1"/>
          </p:cNvSpPr>
          <p:nvPr>
            <p:ph type="title"/>
          </p:nvPr>
        </p:nvSpPr>
        <p:spPr>
          <a:xfrm>
            <a:off x="1600200" y="92076"/>
            <a:ext cx="8915400" cy="1127125"/>
          </a:xfrm>
          <a:prstGeom prst="rect">
            <a:avLst/>
          </a:prstGeom>
          <a:noFill/>
          <a:ln>
            <a:noFill/>
          </a:ln>
        </p:spPr>
        <p:txBody>
          <a:bodyPr spcFirstLastPara="1" wrap="square" lIns="50800" tIns="50800" rIns="50800" bIns="50800" anchor="ctr" anchorCtr="0">
            <a:noAutofit/>
          </a:bodyPr>
          <a:lstStyle/>
          <a:p>
            <a:r>
              <a:rPr lang="en-US" sz="4000"/>
              <a:t>Angiotensin Converting Enzyme (ACE) Inhibitors</a:t>
            </a:r>
            <a:endParaRPr/>
          </a:p>
        </p:txBody>
      </p:sp>
      <p:sp>
        <p:nvSpPr>
          <p:cNvPr id="1228" name="Google Shape;1228;p159"/>
          <p:cNvSpPr txBox="1">
            <a:spLocks noGrp="1"/>
          </p:cNvSpPr>
          <p:nvPr>
            <p:ph type="body" idx="1"/>
          </p:nvPr>
        </p:nvSpPr>
        <p:spPr>
          <a:xfrm>
            <a:off x="565607" y="1447800"/>
            <a:ext cx="10887959" cy="5318124"/>
          </a:xfrm>
          <a:prstGeom prst="rect">
            <a:avLst/>
          </a:prstGeom>
          <a:noFill/>
          <a:ln>
            <a:noFill/>
          </a:ln>
        </p:spPr>
        <p:txBody>
          <a:bodyPr spcFirstLastPara="1" wrap="square" lIns="91425" tIns="45700" rIns="91425" bIns="45700" anchor="t" anchorCtr="0">
            <a:noAutofit/>
          </a:bodyPr>
          <a:lstStyle/>
          <a:p>
            <a:pPr marL="342900" indent="-342900">
              <a:spcBef>
                <a:spcPts val="0"/>
              </a:spcBef>
              <a:buSzPts val="3200"/>
            </a:pPr>
            <a:r>
              <a:rPr lang="en-US" sz="3200" dirty="0"/>
              <a:t>ACE inhibitors work by </a:t>
            </a:r>
            <a:r>
              <a:rPr lang="en-US" sz="3200" b="1" i="1" dirty="0"/>
              <a:t>blocking conversion of angiotensin I to angiotensin II </a:t>
            </a:r>
          </a:p>
          <a:p>
            <a:pPr marL="800100" lvl="1" indent="-342900">
              <a:spcBef>
                <a:spcPts val="0"/>
              </a:spcBef>
              <a:buSzPts val="3200"/>
            </a:pPr>
            <a:r>
              <a:rPr lang="en-US" sz="2800" b="1" i="1" dirty="0"/>
              <a:t>End result- </a:t>
            </a:r>
            <a:r>
              <a:rPr lang="en-US" sz="2800" dirty="0"/>
              <a:t>inhibiting both vasoconstriction and release of aldosterone. </a:t>
            </a:r>
            <a:endParaRPr dirty="0"/>
          </a:p>
          <a:p>
            <a:pPr marL="342900" indent="-266700">
              <a:buSzPts val="1200"/>
              <a:buNone/>
            </a:pPr>
            <a:endParaRPr sz="1200" dirty="0"/>
          </a:p>
          <a:p>
            <a:pPr marL="342900" indent="-342900">
              <a:buSzPts val="3200"/>
            </a:pPr>
            <a:r>
              <a:rPr lang="en-US" sz="3200" dirty="0"/>
              <a:t>ACEI also increase bradykinin levels, a potent vasodilator.</a:t>
            </a:r>
            <a:endParaRPr dirty="0"/>
          </a:p>
          <a:p>
            <a:pPr marL="342900" indent="-266700">
              <a:buSzPts val="1200"/>
              <a:buNone/>
            </a:pPr>
            <a:endParaRPr sz="1200" dirty="0"/>
          </a:p>
          <a:p>
            <a:pPr marL="342900" indent="-342900">
              <a:buSzPts val="3200"/>
            </a:pPr>
            <a:r>
              <a:rPr lang="en-US" sz="3200" dirty="0"/>
              <a:t>Generally, ACEI are </a:t>
            </a:r>
            <a:r>
              <a:rPr lang="en-US" sz="3200" b="1" i="1" dirty="0"/>
              <a:t>more effective for antihypertensive treatment in Whites and less effective in Blacks.</a:t>
            </a:r>
            <a:endParaRPr b="1" i="1"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233"/>
        <p:cNvGrpSpPr/>
        <p:nvPr/>
      </p:nvGrpSpPr>
      <p:grpSpPr>
        <a:xfrm>
          <a:off x="0" y="0"/>
          <a:ext cx="0" cy="0"/>
          <a:chOff x="0" y="0"/>
          <a:chExt cx="0" cy="0"/>
        </a:xfrm>
      </p:grpSpPr>
      <p:sp>
        <p:nvSpPr>
          <p:cNvPr id="1234" name="Google Shape;1234;p160"/>
          <p:cNvSpPr txBox="1">
            <a:spLocks noGrp="1"/>
          </p:cNvSpPr>
          <p:nvPr>
            <p:ph type="title"/>
          </p:nvPr>
        </p:nvSpPr>
        <p:spPr>
          <a:xfrm>
            <a:off x="1676400" y="92076"/>
            <a:ext cx="8763000" cy="1050925"/>
          </a:xfrm>
          <a:prstGeom prst="rect">
            <a:avLst/>
          </a:prstGeom>
          <a:noFill/>
          <a:ln>
            <a:noFill/>
          </a:ln>
        </p:spPr>
        <p:txBody>
          <a:bodyPr spcFirstLastPara="1" wrap="square" lIns="50800" tIns="50800" rIns="50800" bIns="50800" anchor="ctr" anchorCtr="0">
            <a:noAutofit/>
          </a:bodyPr>
          <a:lstStyle/>
          <a:p>
            <a:r>
              <a:rPr lang="en-US"/>
              <a:t>Lots of Uses for ACE Inhibitors</a:t>
            </a:r>
            <a:endParaRPr/>
          </a:p>
        </p:txBody>
      </p:sp>
      <p:sp>
        <p:nvSpPr>
          <p:cNvPr id="1235" name="Google Shape;1235;p160"/>
          <p:cNvSpPr txBox="1">
            <a:spLocks noGrp="1"/>
          </p:cNvSpPr>
          <p:nvPr>
            <p:ph type="body" idx="1"/>
          </p:nvPr>
        </p:nvSpPr>
        <p:spPr>
          <a:xfrm>
            <a:off x="527901" y="1143000"/>
            <a:ext cx="10869105" cy="5562600"/>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a:t>ACEIs are used to treat HTN and certain disease states who don’t have HTN.</a:t>
            </a:r>
            <a:endParaRPr/>
          </a:p>
          <a:p>
            <a:pPr marL="782638" lvl="1" indent="-325438">
              <a:buSzPts val="3000"/>
            </a:pPr>
            <a:r>
              <a:rPr lang="en-US" sz="3000"/>
              <a:t>ACEI are the treatment of choice in patients with </a:t>
            </a:r>
            <a:r>
              <a:rPr lang="en-US" sz="3000" b="1" i="1"/>
              <a:t>chronic kidney disease and proteinuria to prevent progression</a:t>
            </a:r>
            <a:r>
              <a:rPr lang="en-US" sz="3000"/>
              <a:t>. </a:t>
            </a:r>
            <a:endParaRPr/>
          </a:p>
          <a:p>
            <a:pPr marL="782638" lvl="1" indent="-325438">
              <a:buSzPts val="3000"/>
            </a:pPr>
            <a:r>
              <a:rPr lang="en-US" sz="3000"/>
              <a:t>ACEI reduce morbidity and mortality rates in patients with </a:t>
            </a:r>
            <a:r>
              <a:rPr lang="en-US" sz="3000" b="1" i="1" err="1"/>
              <a:t>HFrEF</a:t>
            </a:r>
            <a:r>
              <a:rPr lang="en-US" sz="3000" b="1" i="1"/>
              <a:t> and recent myocardial infarctions.</a:t>
            </a:r>
            <a:endParaRPr/>
          </a:p>
          <a:p>
            <a:pPr marL="782638" lvl="1" indent="-325438">
              <a:buSzPts val="3000"/>
            </a:pPr>
            <a:r>
              <a:rPr lang="en-US" sz="3000"/>
              <a:t>ACEI may </a:t>
            </a:r>
            <a:r>
              <a:rPr lang="en-US" sz="3000" b="1" i="1"/>
              <a:t>halt or may regress remodeling of the left ventricle in HF, CAD and cardiomyopathies</a:t>
            </a:r>
            <a:endParaRPr sz="3000" b="1" i="1"/>
          </a:p>
          <a:p>
            <a:pPr marL="342900" indent="-254000">
              <a:buSzPts val="1400"/>
              <a:buNone/>
            </a:pPr>
            <a:endParaRPr sz="1400" b="1" i="1"/>
          </a:p>
          <a:p>
            <a:pPr marL="342900" indent="-139700">
              <a:buNone/>
            </a:pP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248"/>
        <p:cNvGrpSpPr/>
        <p:nvPr/>
      </p:nvGrpSpPr>
      <p:grpSpPr>
        <a:xfrm>
          <a:off x="0" y="0"/>
          <a:ext cx="0" cy="0"/>
          <a:chOff x="0" y="0"/>
          <a:chExt cx="0" cy="0"/>
        </a:xfrm>
      </p:grpSpPr>
      <p:sp>
        <p:nvSpPr>
          <p:cNvPr id="1249" name="Google Shape;1249;p162"/>
          <p:cNvSpPr txBox="1">
            <a:spLocks noGrp="1"/>
          </p:cNvSpPr>
          <p:nvPr>
            <p:ph type="title"/>
          </p:nvPr>
        </p:nvSpPr>
        <p:spPr>
          <a:xfrm>
            <a:off x="1676400" y="92076"/>
            <a:ext cx="8839200" cy="1279525"/>
          </a:xfrm>
          <a:prstGeom prst="rect">
            <a:avLst/>
          </a:prstGeom>
          <a:noFill/>
          <a:ln>
            <a:noFill/>
          </a:ln>
        </p:spPr>
        <p:txBody>
          <a:bodyPr spcFirstLastPara="1" wrap="square" lIns="50800" tIns="50800" rIns="50800" bIns="50800" anchor="ctr" anchorCtr="0">
            <a:noAutofit/>
          </a:bodyPr>
          <a:lstStyle/>
          <a:p>
            <a:r>
              <a:rPr lang="en-US"/>
              <a:t>ACE Inhibitors: </a:t>
            </a:r>
            <a:br>
              <a:rPr lang="en-US"/>
            </a:br>
            <a:r>
              <a:rPr lang="en-US"/>
              <a:t>Nephroprotective </a:t>
            </a:r>
            <a:r>
              <a:rPr lang="en-US" u="sng"/>
              <a:t>and</a:t>
            </a:r>
            <a:r>
              <a:rPr lang="en-US"/>
              <a:t> Nephrotoxic	</a:t>
            </a:r>
            <a:endParaRPr/>
          </a:p>
        </p:txBody>
      </p:sp>
      <p:sp>
        <p:nvSpPr>
          <p:cNvPr id="1250" name="Google Shape;1250;p162"/>
          <p:cNvSpPr txBox="1">
            <a:spLocks noGrp="1"/>
          </p:cNvSpPr>
          <p:nvPr>
            <p:ph type="body" idx="1"/>
          </p:nvPr>
        </p:nvSpPr>
        <p:spPr>
          <a:xfrm>
            <a:off x="527901" y="1524001"/>
            <a:ext cx="11114202" cy="5197475"/>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dirty="0"/>
              <a:t>Some patients with a specific disease process have constant or near constant activation of the RAAS in an attempt to keep their glomerular pressure and filtration at normal levels.</a:t>
            </a:r>
            <a:endParaRPr dirty="0"/>
          </a:p>
          <a:p>
            <a:pPr marL="342900" indent="-139700">
              <a:buNone/>
            </a:pPr>
            <a:endParaRPr dirty="0"/>
          </a:p>
          <a:p>
            <a:pPr marL="342900" indent="-342900"/>
            <a:r>
              <a:rPr lang="en-US" dirty="0"/>
              <a:t>Who are these patients?</a:t>
            </a:r>
            <a:endParaRPr dirty="0"/>
          </a:p>
          <a:p>
            <a:pPr marL="342900" indent="-139700">
              <a:buNone/>
            </a:pPr>
            <a:endParaRPr dirty="0"/>
          </a:p>
          <a:p>
            <a:pPr marL="342900" indent="-342900"/>
            <a:r>
              <a:rPr lang="en-US" dirty="0"/>
              <a:t>What will happen when you suddenly block their RAAS?</a:t>
            </a:r>
            <a:endParaRPr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248"/>
        <p:cNvGrpSpPr/>
        <p:nvPr/>
      </p:nvGrpSpPr>
      <p:grpSpPr>
        <a:xfrm>
          <a:off x="0" y="0"/>
          <a:ext cx="0" cy="0"/>
          <a:chOff x="0" y="0"/>
          <a:chExt cx="0" cy="0"/>
        </a:xfrm>
      </p:grpSpPr>
      <p:sp>
        <p:nvSpPr>
          <p:cNvPr id="1249" name="Google Shape;1249;p162"/>
          <p:cNvSpPr txBox="1">
            <a:spLocks noGrp="1"/>
          </p:cNvSpPr>
          <p:nvPr>
            <p:ph type="title"/>
          </p:nvPr>
        </p:nvSpPr>
        <p:spPr>
          <a:xfrm>
            <a:off x="1676400" y="92076"/>
            <a:ext cx="8839200" cy="1279525"/>
          </a:xfrm>
          <a:prstGeom prst="rect">
            <a:avLst/>
          </a:prstGeom>
          <a:noFill/>
          <a:ln>
            <a:noFill/>
          </a:ln>
        </p:spPr>
        <p:txBody>
          <a:bodyPr spcFirstLastPara="1" wrap="square" lIns="50800" tIns="50800" rIns="50800" bIns="50800" anchor="ctr" anchorCtr="0">
            <a:noAutofit/>
          </a:bodyPr>
          <a:lstStyle/>
          <a:p>
            <a:r>
              <a:rPr lang="en-US"/>
              <a:t>ACE Inhibitors: </a:t>
            </a:r>
            <a:br>
              <a:rPr lang="en-US"/>
            </a:br>
            <a:r>
              <a:rPr lang="en-US"/>
              <a:t>Nephroprotective </a:t>
            </a:r>
            <a:r>
              <a:rPr lang="en-US" u="sng"/>
              <a:t>and</a:t>
            </a:r>
            <a:r>
              <a:rPr lang="en-US"/>
              <a:t> Nephrotoxic	</a:t>
            </a:r>
            <a:endParaRPr/>
          </a:p>
        </p:txBody>
      </p:sp>
      <p:sp>
        <p:nvSpPr>
          <p:cNvPr id="1250" name="Google Shape;1250;p162"/>
          <p:cNvSpPr txBox="1">
            <a:spLocks noGrp="1"/>
          </p:cNvSpPr>
          <p:nvPr>
            <p:ph type="body" idx="1"/>
          </p:nvPr>
        </p:nvSpPr>
        <p:spPr>
          <a:xfrm>
            <a:off x="527901" y="1524001"/>
            <a:ext cx="11067068" cy="5197475"/>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a:t>ACE-I can worsen kidney function during times of illness.</a:t>
            </a:r>
          </a:p>
          <a:p>
            <a:pPr marL="800100" lvl="1" indent="-342900">
              <a:spcBef>
                <a:spcPts val="0"/>
              </a:spcBef>
            </a:pPr>
            <a:r>
              <a:rPr lang="en-US"/>
              <a:t>Primarily this occurs when the patient develops hypovolemia- due to poor po intake, N/V/D, a GI bleed or </a:t>
            </a:r>
            <a:r>
              <a:rPr lang="en-US" err="1"/>
              <a:t>overdiuresis</a:t>
            </a:r>
            <a:r>
              <a:rPr lang="en-US"/>
              <a:t>.</a:t>
            </a:r>
          </a:p>
          <a:p>
            <a:pPr marL="800100" lvl="1" indent="-342900">
              <a:spcBef>
                <a:spcPts val="0"/>
              </a:spcBef>
            </a:pPr>
            <a:endParaRPr lang="en-US"/>
          </a:p>
        </p:txBody>
      </p:sp>
    </p:spTree>
    <p:extLst>
      <p:ext uri="{BB962C8B-B14F-4D97-AF65-F5344CB8AC3E}">
        <p14:creationId xmlns:p14="http://schemas.microsoft.com/office/powerpoint/2010/main" val="3515914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255"/>
        <p:cNvGrpSpPr/>
        <p:nvPr/>
      </p:nvGrpSpPr>
      <p:grpSpPr>
        <a:xfrm>
          <a:off x="0" y="0"/>
          <a:ext cx="0" cy="0"/>
          <a:chOff x="0" y="0"/>
          <a:chExt cx="0" cy="0"/>
        </a:xfrm>
      </p:grpSpPr>
      <p:sp>
        <p:nvSpPr>
          <p:cNvPr id="1256" name="Google Shape;1256;p163"/>
          <p:cNvSpPr txBox="1">
            <a:spLocks noGrp="1"/>
          </p:cNvSpPr>
          <p:nvPr>
            <p:ph type="title"/>
          </p:nvPr>
        </p:nvSpPr>
        <p:spPr>
          <a:xfrm>
            <a:off x="1676400" y="92076"/>
            <a:ext cx="8839200" cy="974725"/>
          </a:xfrm>
          <a:prstGeom prst="rect">
            <a:avLst/>
          </a:prstGeom>
          <a:noFill/>
          <a:ln>
            <a:noFill/>
          </a:ln>
        </p:spPr>
        <p:txBody>
          <a:bodyPr spcFirstLastPara="1" wrap="square" lIns="50800" tIns="50800" rIns="50800" bIns="50800" anchor="ctr" anchorCtr="0">
            <a:noAutofit/>
          </a:bodyPr>
          <a:lstStyle/>
          <a:p>
            <a:r>
              <a:rPr lang="en-US"/>
              <a:t>ACE Inhibitor Monitoring</a:t>
            </a:r>
            <a:endParaRPr/>
          </a:p>
        </p:txBody>
      </p:sp>
      <p:sp>
        <p:nvSpPr>
          <p:cNvPr id="1257" name="Google Shape;1257;p163"/>
          <p:cNvSpPr txBox="1">
            <a:spLocks noGrp="1"/>
          </p:cNvSpPr>
          <p:nvPr>
            <p:ph type="body" idx="1"/>
          </p:nvPr>
        </p:nvSpPr>
        <p:spPr>
          <a:xfrm>
            <a:off x="675587" y="1159955"/>
            <a:ext cx="10840825" cy="5654675"/>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b="1" i="1"/>
              <a:t>Monitor serum potassium and BUN/Cr within 5-10 days of initiation or dose increase</a:t>
            </a:r>
            <a:r>
              <a:rPr lang="en-US"/>
              <a:t>.  Usually, creatinine will temporarily increase a little as GFR falls, then improves.  </a:t>
            </a:r>
            <a:endParaRPr/>
          </a:p>
          <a:p>
            <a:pPr marL="342900" indent="-215900">
              <a:buSzPts val="2000"/>
              <a:buNone/>
            </a:pPr>
            <a:endParaRPr sz="2000"/>
          </a:p>
          <a:p>
            <a:pPr marL="342900" indent="-342900"/>
            <a:r>
              <a:rPr lang="en-US"/>
              <a:t>The drug must be stopped if the patient develops a persistent hyperkalemia or increasing serum creatinine (&gt;30%).</a:t>
            </a:r>
            <a:endParaRPr/>
          </a:p>
          <a:p>
            <a:pPr marL="342900" indent="-215900">
              <a:buSzPts val="2000"/>
              <a:buNone/>
            </a:pPr>
            <a:endParaRPr sz="2000"/>
          </a:p>
          <a:p>
            <a:pPr marL="342900" indent="-342900"/>
            <a:r>
              <a:rPr lang="en-US"/>
              <a:t>A nephrologist may initiate an ACE inhibitor in more severe CKD than an IM/FP provider.</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262"/>
        <p:cNvGrpSpPr/>
        <p:nvPr/>
      </p:nvGrpSpPr>
      <p:grpSpPr>
        <a:xfrm>
          <a:off x="0" y="0"/>
          <a:ext cx="0" cy="0"/>
          <a:chOff x="0" y="0"/>
          <a:chExt cx="0" cy="0"/>
        </a:xfrm>
      </p:grpSpPr>
      <p:sp>
        <p:nvSpPr>
          <p:cNvPr id="1263" name="Google Shape;1263;p164"/>
          <p:cNvSpPr txBox="1">
            <a:spLocks noGrp="1"/>
          </p:cNvSpPr>
          <p:nvPr>
            <p:ph type="title"/>
          </p:nvPr>
        </p:nvSpPr>
        <p:spPr>
          <a:xfrm>
            <a:off x="1676400" y="92076"/>
            <a:ext cx="8809038" cy="974725"/>
          </a:xfrm>
          <a:prstGeom prst="rect">
            <a:avLst/>
          </a:prstGeom>
          <a:noFill/>
          <a:ln>
            <a:noFill/>
          </a:ln>
        </p:spPr>
        <p:txBody>
          <a:bodyPr spcFirstLastPara="1" wrap="square" lIns="50800" tIns="50800" rIns="50800" bIns="50800" anchor="ctr" anchorCtr="0">
            <a:noAutofit/>
          </a:bodyPr>
          <a:lstStyle/>
          <a:p>
            <a:r>
              <a:rPr lang="en-US"/>
              <a:t>Adverse effects of ACE Inhibitors	</a:t>
            </a:r>
            <a:endParaRPr/>
          </a:p>
        </p:txBody>
      </p:sp>
      <p:sp>
        <p:nvSpPr>
          <p:cNvPr id="1264" name="Google Shape;1264;p164"/>
          <p:cNvSpPr txBox="1">
            <a:spLocks noGrp="1"/>
          </p:cNvSpPr>
          <p:nvPr>
            <p:ph type="body" idx="1"/>
          </p:nvPr>
        </p:nvSpPr>
        <p:spPr>
          <a:xfrm>
            <a:off x="970961" y="1066800"/>
            <a:ext cx="9888717" cy="5654675"/>
          </a:xfrm>
          <a:prstGeom prst="rect">
            <a:avLst/>
          </a:prstGeom>
          <a:noFill/>
          <a:ln>
            <a:noFill/>
          </a:ln>
        </p:spPr>
        <p:txBody>
          <a:bodyPr spcFirstLastPara="1" wrap="square" lIns="91425" tIns="45700" rIns="91425" bIns="45700" anchor="t" anchorCtr="0">
            <a:noAutofit/>
          </a:bodyPr>
          <a:lstStyle/>
          <a:p>
            <a:pPr marL="514350" indent="-514350">
              <a:spcBef>
                <a:spcPts val="0"/>
              </a:spcBef>
              <a:buFont typeface="+mj-lt"/>
              <a:buAutoNum type="arabicPeriod"/>
            </a:pPr>
            <a:r>
              <a:rPr lang="en-US" b="1" i="1"/>
              <a:t>Dry cough</a:t>
            </a:r>
            <a:r>
              <a:rPr lang="en-US"/>
              <a:t>: typically occurs 1wk-6mth after initiation of the medication however may occur at any time even if the pt has been tolerating the drug for years</a:t>
            </a:r>
            <a:endParaRPr/>
          </a:p>
          <a:p>
            <a:pPr marL="782638" lvl="1" indent="-325438">
              <a:buSzPts val="2800"/>
              <a:buFont typeface="Arial"/>
              <a:buChar char="•"/>
            </a:pPr>
            <a:r>
              <a:rPr lang="en-US" sz="2800"/>
              <a:t>More common in women</a:t>
            </a:r>
          </a:p>
          <a:p>
            <a:pPr marL="782638" lvl="1" indent="-325438">
              <a:buSzPts val="2800"/>
              <a:buFont typeface="Arial"/>
              <a:buChar char="•"/>
            </a:pPr>
            <a:r>
              <a:rPr lang="en-US" sz="2800"/>
              <a:t>Discontinuation of the medication resolves the cough</a:t>
            </a:r>
          </a:p>
          <a:p>
            <a:pPr marL="457200" lvl="1" indent="0">
              <a:buSzPts val="2800"/>
              <a:buNone/>
            </a:pPr>
            <a:endParaRPr lang="en-US" sz="2800"/>
          </a:p>
          <a:p>
            <a:pPr marL="311150" indent="-514350">
              <a:spcBef>
                <a:spcPts val="0"/>
              </a:spcBef>
              <a:buFont typeface="+mj-lt"/>
              <a:buAutoNum type="arabicPeriod"/>
            </a:pPr>
            <a:r>
              <a:rPr lang="en-US" b="1" i="1"/>
              <a:t>Hyperkalemia</a:t>
            </a:r>
            <a:r>
              <a:rPr lang="en-US"/>
              <a:t>: particularly in CKD IV or V and diabetics, also if an aldosterone antagonist (spironolactone or </a:t>
            </a:r>
            <a:r>
              <a:rPr lang="en-US" err="1"/>
              <a:t>eplerone</a:t>
            </a:r>
            <a:r>
              <a:rPr lang="en-US"/>
              <a:t>) is used concurrently.</a:t>
            </a:r>
          </a:p>
          <a:p>
            <a:pPr marL="457200" lvl="1" indent="0">
              <a:buSzPts val="2800"/>
              <a:buNone/>
            </a:pP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262"/>
        <p:cNvGrpSpPr/>
        <p:nvPr/>
      </p:nvGrpSpPr>
      <p:grpSpPr>
        <a:xfrm>
          <a:off x="0" y="0"/>
          <a:ext cx="0" cy="0"/>
          <a:chOff x="0" y="0"/>
          <a:chExt cx="0" cy="0"/>
        </a:xfrm>
      </p:grpSpPr>
      <p:sp>
        <p:nvSpPr>
          <p:cNvPr id="1263" name="Google Shape;1263;p164"/>
          <p:cNvSpPr txBox="1">
            <a:spLocks noGrp="1"/>
          </p:cNvSpPr>
          <p:nvPr>
            <p:ph type="title"/>
          </p:nvPr>
        </p:nvSpPr>
        <p:spPr>
          <a:xfrm>
            <a:off x="1676400" y="92076"/>
            <a:ext cx="8809038" cy="974725"/>
          </a:xfrm>
          <a:prstGeom prst="rect">
            <a:avLst/>
          </a:prstGeom>
          <a:noFill/>
          <a:ln>
            <a:noFill/>
          </a:ln>
        </p:spPr>
        <p:txBody>
          <a:bodyPr spcFirstLastPara="1" wrap="square" lIns="50800" tIns="50800" rIns="50800" bIns="50800" anchor="ctr" anchorCtr="0">
            <a:noAutofit/>
          </a:bodyPr>
          <a:lstStyle/>
          <a:p>
            <a:r>
              <a:rPr lang="en-US"/>
              <a:t>Adverse effects of ACE Inhibitors	</a:t>
            </a:r>
            <a:endParaRPr/>
          </a:p>
        </p:txBody>
      </p:sp>
      <p:sp>
        <p:nvSpPr>
          <p:cNvPr id="1264" name="Google Shape;1264;p164"/>
          <p:cNvSpPr txBox="1">
            <a:spLocks noGrp="1"/>
          </p:cNvSpPr>
          <p:nvPr>
            <p:ph type="body" idx="1"/>
          </p:nvPr>
        </p:nvSpPr>
        <p:spPr>
          <a:xfrm>
            <a:off x="441489" y="748230"/>
            <a:ext cx="8064190" cy="3657600"/>
          </a:xfrm>
          <a:prstGeom prst="rect">
            <a:avLst/>
          </a:prstGeom>
          <a:noFill/>
          <a:ln>
            <a:noFill/>
          </a:ln>
        </p:spPr>
        <p:txBody>
          <a:bodyPr spcFirstLastPara="1" wrap="square" lIns="91425" tIns="45700" rIns="91425" bIns="45700" anchor="t" anchorCtr="0">
            <a:noAutofit/>
          </a:bodyPr>
          <a:lstStyle/>
          <a:p>
            <a:pPr marL="514350" indent="-514350">
              <a:buFont typeface="+mj-lt"/>
              <a:buAutoNum type="arabicPeriod" startAt="3"/>
            </a:pPr>
            <a:r>
              <a:rPr lang="en-US" sz="2800" b="1" i="1" dirty="0"/>
              <a:t>Angioedema: Life Threatening</a:t>
            </a:r>
          </a:p>
          <a:p>
            <a:pPr marL="971550" lvl="1" indent="-514350">
              <a:buFont typeface="Arial" panose="020B0604020202020204" pitchFamily="34" charset="0"/>
              <a:buChar char="•"/>
            </a:pPr>
            <a:r>
              <a:rPr lang="en-US" sz="2800" dirty="0"/>
              <a:t>Sudden swelling of the lips, tongue and pharynx. </a:t>
            </a:r>
          </a:p>
          <a:p>
            <a:pPr marL="971550" lvl="1" indent="-514350">
              <a:buFont typeface="Arial" panose="020B0604020202020204" pitchFamily="34" charset="0"/>
              <a:buChar char="•"/>
            </a:pPr>
            <a:r>
              <a:rPr lang="en-US" sz="2800" dirty="0"/>
              <a:t>More common in Blacks and Asians.</a:t>
            </a:r>
          </a:p>
          <a:p>
            <a:pPr marL="971550" lvl="1" indent="-514350">
              <a:buFont typeface="Arial" panose="020B0604020202020204" pitchFamily="34" charset="0"/>
              <a:buChar char="•"/>
            </a:pPr>
            <a:r>
              <a:rPr lang="en-US" sz="2800" dirty="0"/>
              <a:t>50% of cases occur w/in 1</a:t>
            </a:r>
            <a:r>
              <a:rPr lang="en-US" sz="2800" baseline="30000" dirty="0"/>
              <a:t>st</a:t>
            </a:r>
            <a:r>
              <a:rPr lang="en-US" sz="2800" dirty="0"/>
              <a:t> week of initiation</a:t>
            </a:r>
          </a:p>
          <a:p>
            <a:pPr marL="971550" lvl="1" indent="-514350">
              <a:buFont typeface="Arial" panose="020B0604020202020204" pitchFamily="34" charset="0"/>
              <a:buChar char="•"/>
            </a:pPr>
            <a:r>
              <a:rPr lang="en-US" sz="2800" dirty="0"/>
              <a:t>Treat with Benadryl, Solumedrol and Pepcid. Protect airway and intubate if required</a:t>
            </a:r>
          </a:p>
          <a:p>
            <a:pPr marL="971550" lvl="1" indent="-514350">
              <a:buFont typeface="Arial" panose="020B0604020202020204" pitchFamily="34" charset="0"/>
              <a:buChar char="•"/>
            </a:pPr>
            <a:r>
              <a:rPr lang="en-US" sz="2800" dirty="0"/>
              <a:t>Discontinue the medication and never prescribe another ACE-I</a:t>
            </a:r>
            <a:endParaRPr sz="2800" dirty="0"/>
          </a:p>
        </p:txBody>
      </p:sp>
      <p:pic>
        <p:nvPicPr>
          <p:cNvPr id="1266" name="Google Shape;1266;p164"/>
          <p:cNvPicPr preferRelativeResize="0"/>
          <p:nvPr/>
        </p:nvPicPr>
        <p:blipFill rotWithShape="1">
          <a:blip r:embed="rId3">
            <a:alphaModFix/>
          </a:blip>
          <a:srcRect/>
          <a:stretch/>
        </p:blipFill>
        <p:spPr>
          <a:xfrm>
            <a:off x="8505679" y="960307"/>
            <a:ext cx="3365500" cy="3086100"/>
          </a:xfrm>
          <a:prstGeom prst="rect">
            <a:avLst/>
          </a:prstGeom>
          <a:noFill/>
          <a:ln>
            <a:noFill/>
          </a:ln>
        </p:spPr>
      </p:pic>
      <p:sp>
        <p:nvSpPr>
          <p:cNvPr id="1267" name="Google Shape;1267;p164"/>
          <p:cNvSpPr txBox="1"/>
          <p:nvPr/>
        </p:nvSpPr>
        <p:spPr>
          <a:xfrm>
            <a:off x="441489" y="5044861"/>
            <a:ext cx="7722124" cy="1492676"/>
          </a:xfrm>
          <a:prstGeom prst="rect">
            <a:avLst/>
          </a:prstGeom>
          <a:noFill/>
          <a:ln>
            <a:noFill/>
          </a:ln>
        </p:spPr>
        <p:txBody>
          <a:bodyPr spcFirstLastPara="1" wrap="square" lIns="91425" tIns="45700" rIns="91425" bIns="45700" anchor="t" anchorCtr="0">
            <a:spAutoFit/>
          </a:bodyPr>
          <a:lstStyle/>
          <a:p>
            <a:pPr marL="311150" indent="-514350">
              <a:spcBef>
                <a:spcPts val="1200"/>
              </a:spcBef>
              <a:buClr>
                <a:schemeClr val="dk1"/>
              </a:buClr>
              <a:buSzPts val="3200"/>
              <a:buFont typeface="+mj-lt"/>
              <a:buAutoNum type="arabicPeriod" startAt="4"/>
            </a:pPr>
            <a:r>
              <a:rPr lang="en-US" sz="3200" b="1" i="1">
                <a:solidFill>
                  <a:schemeClr val="dk1"/>
                </a:solidFill>
                <a:latin typeface="Calibri"/>
                <a:ea typeface="Calibri"/>
                <a:cs typeface="Calibri"/>
                <a:sym typeface="Calibri"/>
              </a:rPr>
              <a:t>Contraindicated in pregnancy: </a:t>
            </a:r>
            <a:r>
              <a:rPr lang="en-US" sz="3200">
                <a:solidFill>
                  <a:schemeClr val="dk1"/>
                </a:solidFill>
                <a:latin typeface="Calibri"/>
                <a:ea typeface="Calibri"/>
                <a:cs typeface="Calibri"/>
                <a:sym typeface="Calibri"/>
              </a:rPr>
              <a:t>Category X due to risk of renal agenesis in the fetus.</a:t>
            </a:r>
            <a:endParaRPr/>
          </a:p>
          <a:p>
            <a:pPr>
              <a:spcBef>
                <a:spcPts val="600"/>
              </a:spcBef>
            </a:pPr>
            <a:endParaRPr sz="1200">
              <a:solidFill>
                <a:schemeClr val="dk1"/>
              </a:solidFill>
              <a:latin typeface="Helvetica Neue"/>
              <a:ea typeface="Helvetica Neue"/>
              <a:cs typeface="Helvetica Neue"/>
              <a:sym typeface="Helvetica Neue"/>
            </a:endParaRPr>
          </a:p>
        </p:txBody>
      </p:sp>
    </p:spTree>
    <p:extLst>
      <p:ext uri="{BB962C8B-B14F-4D97-AF65-F5344CB8AC3E}">
        <p14:creationId xmlns:p14="http://schemas.microsoft.com/office/powerpoint/2010/main" val="277101392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271"/>
        <p:cNvGrpSpPr/>
        <p:nvPr/>
      </p:nvGrpSpPr>
      <p:grpSpPr>
        <a:xfrm>
          <a:off x="0" y="0"/>
          <a:ext cx="0" cy="0"/>
          <a:chOff x="0" y="0"/>
          <a:chExt cx="0" cy="0"/>
        </a:xfrm>
      </p:grpSpPr>
      <p:sp>
        <p:nvSpPr>
          <p:cNvPr id="1272" name="Google Shape;1272;p165"/>
          <p:cNvSpPr txBox="1">
            <a:spLocks noGrp="1"/>
          </p:cNvSpPr>
          <p:nvPr>
            <p:ph type="title"/>
          </p:nvPr>
        </p:nvSpPr>
        <p:spPr>
          <a:xfrm>
            <a:off x="1981200" y="92076"/>
            <a:ext cx="8229600" cy="898525"/>
          </a:xfrm>
          <a:prstGeom prst="rect">
            <a:avLst/>
          </a:prstGeom>
          <a:noFill/>
          <a:ln>
            <a:noFill/>
          </a:ln>
        </p:spPr>
        <p:txBody>
          <a:bodyPr spcFirstLastPara="1" wrap="square" lIns="50800" tIns="50800" rIns="50800" bIns="50800" anchor="ctr" anchorCtr="0">
            <a:noAutofit/>
          </a:bodyPr>
          <a:lstStyle/>
          <a:p>
            <a:r>
              <a:rPr lang="en-US"/>
              <a:t>ARBs  </a:t>
            </a:r>
            <a:r>
              <a:rPr lang="en-US" sz="3600"/>
              <a:t>(Angiotensin II Receptor Blockers)</a:t>
            </a:r>
            <a:endParaRPr/>
          </a:p>
        </p:txBody>
      </p:sp>
      <p:sp>
        <p:nvSpPr>
          <p:cNvPr id="1273" name="Google Shape;1273;p165"/>
          <p:cNvSpPr txBox="1">
            <a:spLocks noGrp="1"/>
          </p:cNvSpPr>
          <p:nvPr>
            <p:ph type="body" idx="1"/>
          </p:nvPr>
        </p:nvSpPr>
        <p:spPr>
          <a:xfrm>
            <a:off x="1752600" y="1066800"/>
            <a:ext cx="8763000" cy="5638800"/>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b="1" dirty="0"/>
              <a:t>Losartan (Cozaar)</a:t>
            </a:r>
            <a:r>
              <a:rPr lang="en-US" dirty="0"/>
              <a:t>		</a:t>
            </a:r>
            <a:r>
              <a:rPr lang="en-US" dirty="0" err="1"/>
              <a:t>Candesarten</a:t>
            </a:r>
            <a:r>
              <a:rPr lang="en-US" dirty="0"/>
              <a:t> (</a:t>
            </a:r>
            <a:r>
              <a:rPr lang="en-US" dirty="0" err="1"/>
              <a:t>Atacand</a:t>
            </a:r>
            <a:r>
              <a:rPr lang="en-US" dirty="0"/>
              <a:t>)</a:t>
            </a:r>
            <a:endParaRPr dirty="0"/>
          </a:p>
          <a:p>
            <a:pPr marL="342900" indent="-342900"/>
            <a:r>
              <a:rPr lang="en-US" dirty="0"/>
              <a:t>Valsartan (Diovan)		</a:t>
            </a:r>
            <a:r>
              <a:rPr lang="en-US" dirty="0" err="1"/>
              <a:t>Eprosartan</a:t>
            </a:r>
            <a:r>
              <a:rPr lang="en-US" dirty="0"/>
              <a:t> (</a:t>
            </a:r>
            <a:r>
              <a:rPr lang="en-US" dirty="0" err="1"/>
              <a:t>Teveten</a:t>
            </a:r>
            <a:r>
              <a:rPr lang="en-US" dirty="0"/>
              <a:t>)</a:t>
            </a:r>
            <a:endParaRPr dirty="0"/>
          </a:p>
          <a:p>
            <a:pPr marL="342900" indent="-342900"/>
            <a:r>
              <a:rPr lang="en-US" dirty="0"/>
              <a:t>Olmesartan (Benicar)	</a:t>
            </a:r>
            <a:r>
              <a:rPr lang="en-US" dirty="0" err="1"/>
              <a:t>Azilsartan</a:t>
            </a:r>
            <a:r>
              <a:rPr lang="en-US" dirty="0"/>
              <a:t> (</a:t>
            </a:r>
            <a:r>
              <a:rPr lang="en-US" dirty="0" err="1"/>
              <a:t>Edarbi</a:t>
            </a:r>
            <a:r>
              <a:rPr lang="en-US" dirty="0"/>
              <a:t>)</a:t>
            </a:r>
            <a:endParaRPr dirty="0"/>
          </a:p>
          <a:p>
            <a:pPr marL="342900" indent="-342900"/>
            <a:r>
              <a:rPr lang="en-US" dirty="0"/>
              <a:t>Telmisartan (</a:t>
            </a:r>
            <a:r>
              <a:rPr lang="en-US" dirty="0" err="1"/>
              <a:t>Micardis</a:t>
            </a:r>
            <a:r>
              <a:rPr lang="en-US" dirty="0"/>
              <a:t>)     Irbesartan (Avapro)</a:t>
            </a:r>
            <a:endParaRPr dirty="0"/>
          </a:p>
          <a:p>
            <a:pPr marL="342900" indent="-215900">
              <a:buSzPts val="2000"/>
              <a:buNone/>
            </a:pPr>
            <a:endParaRPr sz="2000" dirty="0"/>
          </a:p>
          <a:p>
            <a:pPr marL="342900" indent="-215900">
              <a:buSzPts val="2000"/>
              <a:buNone/>
            </a:pPr>
            <a:endParaRPr sz="2000" dirty="0"/>
          </a:p>
          <a:p>
            <a:pPr marL="342900" indent="-342900"/>
            <a:r>
              <a:rPr lang="en-US" dirty="0">
                <a:latin typeface="Calibri"/>
                <a:ea typeface="Calibri"/>
                <a:cs typeface="Calibri"/>
                <a:sym typeface="Calibri"/>
              </a:rPr>
              <a:t>Relatively Cheap</a:t>
            </a:r>
            <a:endParaRPr dirty="0"/>
          </a:p>
          <a:p>
            <a:pPr marL="342900" indent="-139700">
              <a:buNone/>
            </a:pPr>
            <a:endParaRPr dirty="0">
              <a:latin typeface="Calibri"/>
              <a:ea typeface="Calibri"/>
              <a:cs typeface="Calibri"/>
              <a:sym typeface="Calibri"/>
            </a:endParaRPr>
          </a:p>
          <a:p>
            <a:pPr marL="342900" indent="-342900"/>
            <a:r>
              <a:rPr lang="en-US" dirty="0">
                <a:latin typeface="Calibri"/>
                <a:ea typeface="Calibri"/>
                <a:cs typeface="Calibri"/>
                <a:sym typeface="Calibri"/>
              </a:rPr>
              <a:t>ARBs have efficacy similar to ACEI and are generally </a:t>
            </a:r>
            <a:r>
              <a:rPr lang="en-US" b="1" i="1" dirty="0">
                <a:latin typeface="Calibri"/>
                <a:ea typeface="Calibri"/>
                <a:cs typeface="Calibri"/>
                <a:sym typeface="Calibri"/>
              </a:rPr>
              <a:t>more effective in </a:t>
            </a:r>
            <a:r>
              <a:rPr lang="en-US" b="1" i="1" dirty="0"/>
              <a:t>w</a:t>
            </a:r>
            <a:r>
              <a:rPr lang="en-US" b="1" i="1" dirty="0">
                <a:latin typeface="Calibri"/>
                <a:ea typeface="Calibri"/>
                <a:cs typeface="Calibri"/>
                <a:sym typeface="Calibri"/>
              </a:rPr>
              <a:t>hite patients</a:t>
            </a:r>
            <a:endParaRPr b="1" i="1"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279"/>
        <p:cNvGrpSpPr/>
        <p:nvPr/>
      </p:nvGrpSpPr>
      <p:grpSpPr>
        <a:xfrm>
          <a:off x="0" y="0"/>
          <a:ext cx="0" cy="0"/>
          <a:chOff x="0" y="0"/>
          <a:chExt cx="0" cy="0"/>
        </a:xfrm>
      </p:grpSpPr>
      <p:sp>
        <p:nvSpPr>
          <p:cNvPr id="1284" name="Google Shape;1284;p166"/>
          <p:cNvSpPr txBox="1"/>
          <p:nvPr/>
        </p:nvSpPr>
        <p:spPr>
          <a:xfrm>
            <a:off x="842913" y="1697791"/>
            <a:ext cx="4817096" cy="2554505"/>
          </a:xfrm>
          <a:prstGeom prst="rect">
            <a:avLst/>
          </a:prstGeom>
          <a:noFill/>
          <a:ln>
            <a:noFill/>
          </a:ln>
        </p:spPr>
        <p:txBody>
          <a:bodyPr spcFirstLastPara="1" wrap="square" lIns="91425" tIns="45700" rIns="91425" bIns="45700" anchor="t" anchorCtr="0">
            <a:spAutoFit/>
          </a:bodyPr>
          <a:lstStyle/>
          <a:p>
            <a:pPr marL="457200" indent="-457200">
              <a:buClr>
                <a:schemeClr val="dk1"/>
              </a:buClr>
              <a:buSzPts val="3200"/>
              <a:buFont typeface="Arial"/>
              <a:buChar char="•"/>
            </a:pPr>
            <a:r>
              <a:rPr lang="en-US" sz="3200">
                <a:solidFill>
                  <a:schemeClr val="dk1"/>
                </a:solidFill>
                <a:latin typeface="Calibri"/>
                <a:ea typeface="Calibri"/>
                <a:cs typeface="Calibri"/>
                <a:sym typeface="Calibri"/>
              </a:rPr>
              <a:t>ARBs inhibit the action of angiotensin II by blocking angiotensin II from binding to AT1 and AT2 receptors.</a:t>
            </a:r>
            <a:endParaRPr sz="1200">
              <a:solidFill>
                <a:schemeClr val="dk1"/>
              </a:solidFill>
              <a:latin typeface="Helvetica Neue"/>
              <a:ea typeface="Helvetica Neue"/>
              <a:cs typeface="Helvetica Neue"/>
              <a:sym typeface="Helvetica Neue"/>
            </a:endParaRPr>
          </a:p>
        </p:txBody>
      </p:sp>
      <p:grpSp>
        <p:nvGrpSpPr>
          <p:cNvPr id="3" name="Group 2">
            <a:extLst>
              <a:ext uri="{FF2B5EF4-FFF2-40B4-BE49-F238E27FC236}">
                <a16:creationId xmlns:a16="http://schemas.microsoft.com/office/drawing/2014/main" id="{2BE3B7A0-D6A1-63A0-97C2-5561A33C425B}"/>
              </a:ext>
            </a:extLst>
          </p:cNvPr>
          <p:cNvGrpSpPr/>
          <p:nvPr/>
        </p:nvGrpSpPr>
        <p:grpSpPr>
          <a:xfrm>
            <a:off x="6713232" y="95453"/>
            <a:ext cx="4670475" cy="6667094"/>
            <a:chOff x="3819203" y="95452"/>
            <a:chExt cx="4670475" cy="6667094"/>
          </a:xfrm>
        </p:grpSpPr>
        <p:pic>
          <p:nvPicPr>
            <p:cNvPr id="4" name="Content Placeholder 3">
              <a:extLst>
                <a:ext uri="{FF2B5EF4-FFF2-40B4-BE49-F238E27FC236}">
                  <a16:creationId xmlns:a16="http://schemas.microsoft.com/office/drawing/2014/main" id="{50BB89EB-D880-48EE-AE03-7877CB147ED1}"/>
                </a:ext>
              </a:extLst>
            </p:cNvPr>
            <p:cNvPicPr>
              <a:picLocks noChangeAspect="1"/>
            </p:cNvPicPr>
            <p:nvPr/>
          </p:nvPicPr>
          <p:blipFill>
            <a:blip r:embed="rId3"/>
            <a:stretch>
              <a:fillRect/>
            </a:stretch>
          </p:blipFill>
          <p:spPr>
            <a:xfrm>
              <a:off x="3819203" y="95452"/>
              <a:ext cx="4670475" cy="6667094"/>
            </a:xfrm>
            <a:prstGeom prst="rect">
              <a:avLst/>
            </a:prstGeom>
          </p:spPr>
        </p:pic>
        <p:sp>
          <p:nvSpPr>
            <p:cNvPr id="5" name="Arrow: Right 4">
              <a:extLst>
                <a:ext uri="{FF2B5EF4-FFF2-40B4-BE49-F238E27FC236}">
                  <a16:creationId xmlns:a16="http://schemas.microsoft.com/office/drawing/2014/main" id="{6E2FB1D9-D4CD-356B-3F9E-ECC66FAEA88F}"/>
                </a:ext>
              </a:extLst>
            </p:cNvPr>
            <p:cNvSpPr/>
            <p:nvPr/>
          </p:nvSpPr>
          <p:spPr>
            <a:xfrm rot="840000">
              <a:off x="4643513" y="3086042"/>
              <a:ext cx="977660" cy="488830"/>
            </a:xfrm>
            <a:prstGeom prst="rightArrow">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BB4FE864-0034-0D3B-7E73-1823E12540B4}"/>
                </a:ext>
              </a:extLst>
            </p:cNvPr>
            <p:cNvCxnSpPr>
              <a:cxnSpLocks/>
            </p:cNvCxnSpPr>
            <p:nvPr/>
          </p:nvCxnSpPr>
          <p:spPr>
            <a:xfrm flipH="1" flipV="1">
              <a:off x="5551055" y="3759199"/>
              <a:ext cx="406400" cy="6465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E60A0D5-9583-B2DE-28F3-66C8A766F0EC}"/>
                </a:ext>
              </a:extLst>
            </p:cNvPr>
            <p:cNvCxnSpPr>
              <a:cxnSpLocks/>
            </p:cNvCxnSpPr>
            <p:nvPr/>
          </p:nvCxnSpPr>
          <p:spPr>
            <a:xfrm flipH="1">
              <a:off x="6576291" y="3685871"/>
              <a:ext cx="323273" cy="14721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8" name="Google Shape;1272;p165">
            <a:extLst>
              <a:ext uri="{FF2B5EF4-FFF2-40B4-BE49-F238E27FC236}">
                <a16:creationId xmlns:a16="http://schemas.microsoft.com/office/drawing/2014/main" id="{99ADD572-2C01-A884-74F3-D0FE6780FEEA}"/>
              </a:ext>
            </a:extLst>
          </p:cNvPr>
          <p:cNvSpPr txBox="1">
            <a:spLocks/>
          </p:cNvSpPr>
          <p:nvPr/>
        </p:nvSpPr>
        <p:spPr>
          <a:xfrm>
            <a:off x="274948" y="312270"/>
            <a:ext cx="5953027" cy="898525"/>
          </a:xfrm>
          <a:prstGeom prst="rect">
            <a:avLst/>
          </a:prstGeom>
          <a:noFill/>
          <a:ln>
            <a:noFill/>
          </a:ln>
        </p:spPr>
        <p:txBody>
          <a:bodyPr spcFirstLastPara="1" wrap="square" lIns="50800" tIns="50800" rIns="50800" bIns="508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t> </a:t>
            </a:r>
            <a:r>
              <a:rPr lang="en-US" sz="3200">
                <a:latin typeface="Calibri" panose="020F0502020204030204" pitchFamily="34" charset="0"/>
                <a:cs typeface="Calibri" panose="020F0502020204030204" pitchFamily="34" charset="0"/>
              </a:rPr>
              <a:t> (Angiotensin II Receptor Blockers)</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288"/>
        <p:cNvGrpSpPr/>
        <p:nvPr/>
      </p:nvGrpSpPr>
      <p:grpSpPr>
        <a:xfrm>
          <a:off x="0" y="0"/>
          <a:ext cx="0" cy="0"/>
          <a:chOff x="0" y="0"/>
          <a:chExt cx="0" cy="0"/>
        </a:xfrm>
      </p:grpSpPr>
      <p:sp>
        <p:nvSpPr>
          <p:cNvPr id="1289" name="Google Shape;1289;p167"/>
          <p:cNvSpPr txBox="1">
            <a:spLocks noGrp="1"/>
          </p:cNvSpPr>
          <p:nvPr>
            <p:ph type="title"/>
          </p:nvPr>
        </p:nvSpPr>
        <p:spPr>
          <a:xfrm>
            <a:off x="1981200" y="92076"/>
            <a:ext cx="8229600" cy="898525"/>
          </a:xfrm>
          <a:prstGeom prst="rect">
            <a:avLst/>
          </a:prstGeom>
          <a:noFill/>
          <a:ln>
            <a:noFill/>
          </a:ln>
        </p:spPr>
        <p:txBody>
          <a:bodyPr spcFirstLastPara="1" wrap="square" lIns="50800" tIns="50800" rIns="50800" bIns="50800" anchor="ctr" anchorCtr="0">
            <a:noAutofit/>
          </a:bodyPr>
          <a:lstStyle/>
          <a:p>
            <a:r>
              <a:rPr lang="en-US"/>
              <a:t>ARBs  </a:t>
            </a:r>
            <a:r>
              <a:rPr lang="en-US" sz="3600"/>
              <a:t>(Angiotensin II Receptor Blockers)</a:t>
            </a:r>
            <a:endParaRPr/>
          </a:p>
        </p:txBody>
      </p:sp>
      <p:sp>
        <p:nvSpPr>
          <p:cNvPr id="1290" name="Google Shape;1290;p167"/>
          <p:cNvSpPr txBox="1">
            <a:spLocks noGrp="1"/>
          </p:cNvSpPr>
          <p:nvPr>
            <p:ph type="body" idx="1"/>
          </p:nvPr>
        </p:nvSpPr>
        <p:spPr>
          <a:xfrm>
            <a:off x="584462" y="1066800"/>
            <a:ext cx="11114202" cy="5638800"/>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dirty="0"/>
              <a:t>ARBs are generally preferred over ACE inhibitors because they </a:t>
            </a:r>
            <a:r>
              <a:rPr lang="en-US" b="1" i="1" dirty="0"/>
              <a:t>cause less cough and have a lower risk of angioedema</a:t>
            </a:r>
            <a:r>
              <a:rPr lang="en-US" sz="3000" b="1" i="1" dirty="0"/>
              <a:t>.</a:t>
            </a:r>
            <a:endParaRPr b="1" i="1" dirty="0"/>
          </a:p>
          <a:p>
            <a:pPr marL="342900" indent="-152400">
              <a:buSzPts val="3000"/>
              <a:buNone/>
            </a:pPr>
            <a:endParaRPr sz="3000" dirty="0"/>
          </a:p>
          <a:p>
            <a:pPr marL="342900" indent="-342900"/>
            <a:r>
              <a:rPr lang="en-US" b="1" i="1" dirty="0"/>
              <a:t>ARBs can be utilized in patients who have a history of ACEI associated angioedema. </a:t>
            </a:r>
            <a:r>
              <a:rPr lang="en-US" dirty="0"/>
              <a:t>(use caution and provide education)</a:t>
            </a:r>
          </a:p>
          <a:p>
            <a:pPr marL="342900" indent="-342900"/>
            <a:endParaRPr lang="en-US" b="1" i="1" dirty="0"/>
          </a:p>
          <a:p>
            <a:pPr marL="342900" indent="-342900"/>
            <a:r>
              <a:rPr lang="en-US" dirty="0"/>
              <a:t>ARBs can be trialed in patients with an ACE associated cough, just counsel them to discontinue the ARB if a persistent cough occurs.</a:t>
            </a:r>
            <a:endParaRPr dirty="0"/>
          </a:p>
          <a:p>
            <a:pPr marL="342900" indent="-279400">
              <a:buSzPts val="1000"/>
              <a:buNone/>
            </a:pPr>
            <a:endParaRPr sz="1000" dirty="0"/>
          </a:p>
          <a:p>
            <a:pPr marL="342900" indent="-139700">
              <a:buNone/>
            </a:pPr>
            <a:endParaRPr dirty="0">
              <a:latin typeface="Constantia"/>
              <a:ea typeface="Constantia"/>
              <a:cs typeface="Constantia"/>
              <a:sym typeface="Constantia"/>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288"/>
        <p:cNvGrpSpPr/>
        <p:nvPr/>
      </p:nvGrpSpPr>
      <p:grpSpPr>
        <a:xfrm>
          <a:off x="0" y="0"/>
          <a:ext cx="0" cy="0"/>
          <a:chOff x="0" y="0"/>
          <a:chExt cx="0" cy="0"/>
        </a:xfrm>
      </p:grpSpPr>
      <p:sp>
        <p:nvSpPr>
          <p:cNvPr id="1289" name="Google Shape;1289;p167"/>
          <p:cNvSpPr txBox="1">
            <a:spLocks noGrp="1"/>
          </p:cNvSpPr>
          <p:nvPr>
            <p:ph type="title"/>
          </p:nvPr>
        </p:nvSpPr>
        <p:spPr>
          <a:xfrm>
            <a:off x="1981200" y="92075"/>
            <a:ext cx="8229600" cy="1176840"/>
          </a:xfrm>
          <a:prstGeom prst="rect">
            <a:avLst/>
          </a:prstGeom>
          <a:noFill/>
          <a:ln>
            <a:noFill/>
          </a:ln>
        </p:spPr>
        <p:txBody>
          <a:bodyPr spcFirstLastPara="1" wrap="square" lIns="50800" tIns="50800" rIns="50800" bIns="50800" anchor="ctr" anchorCtr="0">
            <a:noAutofit/>
          </a:bodyPr>
          <a:lstStyle/>
          <a:p>
            <a:r>
              <a:rPr lang="en-US"/>
              <a:t>ARBs  </a:t>
            </a:r>
            <a:r>
              <a:rPr lang="en-US" sz="3600"/>
              <a:t>(Angiotensin II Receptor Blockers)</a:t>
            </a:r>
            <a:endParaRPr/>
          </a:p>
        </p:txBody>
      </p:sp>
      <p:sp>
        <p:nvSpPr>
          <p:cNvPr id="1290" name="Google Shape;1290;p167"/>
          <p:cNvSpPr txBox="1">
            <a:spLocks noGrp="1"/>
          </p:cNvSpPr>
          <p:nvPr>
            <p:ph type="body" idx="1"/>
          </p:nvPr>
        </p:nvSpPr>
        <p:spPr>
          <a:xfrm>
            <a:off x="603315" y="1284790"/>
            <a:ext cx="11123629" cy="5420810"/>
          </a:xfrm>
          <a:prstGeom prst="rect">
            <a:avLst/>
          </a:prstGeom>
          <a:noFill/>
          <a:ln>
            <a:noFill/>
          </a:ln>
        </p:spPr>
        <p:txBody>
          <a:bodyPr spcFirstLastPara="1" wrap="square" lIns="91425" tIns="45700" rIns="91425" bIns="45700" anchor="t" anchorCtr="0">
            <a:noAutofit/>
          </a:bodyPr>
          <a:lstStyle/>
          <a:p>
            <a:pPr indent="-457200"/>
            <a:r>
              <a:rPr lang="en-US"/>
              <a:t>Like ACE inhibitors, </a:t>
            </a:r>
            <a:r>
              <a:rPr lang="en-US" b="1" i="1"/>
              <a:t>angiotensin II receptor blockers are contraindicated in pregnancy </a:t>
            </a:r>
            <a:r>
              <a:rPr lang="en-US"/>
              <a:t>due to the risk of renal agenesis. </a:t>
            </a:r>
          </a:p>
          <a:p>
            <a:pPr indent="-457200"/>
            <a:endParaRPr lang="en-US" b="1" i="1"/>
          </a:p>
          <a:p>
            <a:pPr indent="-457200"/>
            <a:r>
              <a:rPr lang="en-US"/>
              <a:t>Clinicians need to </a:t>
            </a:r>
            <a:r>
              <a:rPr lang="en-US" b="1" i="1"/>
              <a:t>monitor their patient’s renal status and potassium </a:t>
            </a:r>
            <a:r>
              <a:rPr lang="en-US"/>
              <a:t>when initiating an ARB or after a dosage escalation by obtaining a serum chemistry panel in 5-7 days. </a:t>
            </a:r>
            <a:endParaRPr/>
          </a:p>
          <a:p>
            <a:pPr marL="342900" indent="-152400">
              <a:buSzPts val="3000"/>
              <a:buNone/>
            </a:pPr>
            <a:endParaRPr sz="3000"/>
          </a:p>
          <a:p>
            <a:pPr marL="342900" indent="-279400">
              <a:buSzPts val="1000"/>
              <a:buNone/>
            </a:pPr>
            <a:endParaRPr sz="1000"/>
          </a:p>
          <a:p>
            <a:pPr marL="342900" indent="-139700">
              <a:buNone/>
            </a:pPr>
            <a:endParaRPr>
              <a:latin typeface="Constantia"/>
              <a:ea typeface="Constantia"/>
              <a:cs typeface="Constantia"/>
              <a:sym typeface="Constantia"/>
            </a:endParaRPr>
          </a:p>
        </p:txBody>
      </p:sp>
    </p:spTree>
    <p:extLst>
      <p:ext uri="{BB962C8B-B14F-4D97-AF65-F5344CB8AC3E}">
        <p14:creationId xmlns:p14="http://schemas.microsoft.com/office/powerpoint/2010/main" val="236987341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295"/>
        <p:cNvGrpSpPr/>
        <p:nvPr/>
      </p:nvGrpSpPr>
      <p:grpSpPr>
        <a:xfrm>
          <a:off x="0" y="0"/>
          <a:ext cx="0" cy="0"/>
          <a:chOff x="0" y="0"/>
          <a:chExt cx="0" cy="0"/>
        </a:xfrm>
      </p:grpSpPr>
      <p:sp>
        <p:nvSpPr>
          <p:cNvPr id="1296" name="Google Shape;1296;p168"/>
          <p:cNvSpPr txBox="1">
            <a:spLocks noGrp="1"/>
          </p:cNvSpPr>
          <p:nvPr>
            <p:ph type="title"/>
          </p:nvPr>
        </p:nvSpPr>
        <p:spPr>
          <a:xfrm>
            <a:off x="1600200" y="92076"/>
            <a:ext cx="8915400" cy="974725"/>
          </a:xfrm>
          <a:prstGeom prst="rect">
            <a:avLst/>
          </a:prstGeom>
          <a:noFill/>
          <a:ln>
            <a:noFill/>
          </a:ln>
        </p:spPr>
        <p:txBody>
          <a:bodyPr spcFirstLastPara="1" wrap="square" lIns="50800" tIns="50800" rIns="50800" bIns="50800" anchor="ctr" anchorCtr="0">
            <a:noAutofit/>
          </a:bodyPr>
          <a:lstStyle/>
          <a:p>
            <a:r>
              <a:rPr lang="en-US" sz="4000"/>
              <a:t>Should we combine and ACEI and an ARB?</a:t>
            </a:r>
            <a:endParaRPr/>
          </a:p>
        </p:txBody>
      </p:sp>
      <p:sp>
        <p:nvSpPr>
          <p:cNvPr id="1297" name="Google Shape;1297;p168"/>
          <p:cNvSpPr txBox="1">
            <a:spLocks noGrp="1"/>
          </p:cNvSpPr>
          <p:nvPr>
            <p:ph type="body" idx="1"/>
          </p:nvPr>
        </p:nvSpPr>
        <p:spPr>
          <a:xfrm>
            <a:off x="735291" y="1143000"/>
            <a:ext cx="11114202" cy="5486400"/>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b="1"/>
              <a:t>Absolutely NOT </a:t>
            </a:r>
          </a:p>
          <a:p>
            <a:pPr marL="342900" indent="-342900">
              <a:spcBef>
                <a:spcPts val="0"/>
              </a:spcBef>
            </a:pPr>
            <a:endParaRPr lang="en-US" sz="2800" b="1"/>
          </a:p>
          <a:p>
            <a:pPr marL="342900" indent="-342900">
              <a:spcBef>
                <a:spcPts val="0"/>
              </a:spcBef>
            </a:pPr>
            <a:r>
              <a:rPr lang="en-US" sz="2800"/>
              <a:t>ONTARGET Trial: </a:t>
            </a:r>
            <a:r>
              <a:rPr lang="en-US" sz="2400" u="sng" err="1"/>
              <a:t>ON</a:t>
            </a:r>
            <a:r>
              <a:rPr lang="en-US" sz="2400" err="1"/>
              <a:t>going</a:t>
            </a:r>
            <a:r>
              <a:rPr lang="en-US" sz="2400"/>
              <a:t> </a:t>
            </a:r>
            <a:r>
              <a:rPr lang="en-US" sz="2400" u="sng"/>
              <a:t>T</a:t>
            </a:r>
            <a:r>
              <a:rPr lang="en-US" sz="2400"/>
              <a:t>elmisartan </a:t>
            </a:r>
            <a:r>
              <a:rPr lang="en-US" sz="2400" u="sng"/>
              <a:t>A</a:t>
            </a:r>
            <a:r>
              <a:rPr lang="en-US" sz="2400"/>
              <a:t>lone and in combination with </a:t>
            </a:r>
            <a:r>
              <a:rPr lang="en-US" sz="2400" u="sng"/>
              <a:t>R</a:t>
            </a:r>
            <a:r>
              <a:rPr lang="en-US" sz="2400"/>
              <a:t>amipril </a:t>
            </a:r>
            <a:r>
              <a:rPr lang="en-US" sz="2400" u="sng"/>
              <a:t>G</a:t>
            </a:r>
            <a:r>
              <a:rPr lang="en-US" sz="2400"/>
              <a:t>lobal </a:t>
            </a:r>
            <a:r>
              <a:rPr lang="en-US" sz="2400" u="sng"/>
              <a:t>E</a:t>
            </a:r>
            <a:r>
              <a:rPr lang="en-US" sz="2400"/>
              <a:t>ndpoint </a:t>
            </a:r>
            <a:r>
              <a:rPr lang="en-US" sz="2400" u="sng"/>
              <a:t>T</a:t>
            </a:r>
            <a:r>
              <a:rPr lang="en-US" sz="2400"/>
              <a:t>rial </a:t>
            </a:r>
            <a:endParaRPr/>
          </a:p>
          <a:p>
            <a:pPr marL="342900" indent="-342900">
              <a:buSzPts val="2800"/>
            </a:pPr>
            <a:r>
              <a:rPr lang="en-US" sz="2800"/>
              <a:t>Prospective, randomized, multicenter, double-blind trial; patients randomized to ramipril, telmisartan, or a combination of both</a:t>
            </a:r>
            <a:endParaRPr/>
          </a:p>
          <a:p>
            <a:pPr marL="782638" lvl="1" indent="-325438">
              <a:buSzPts val="2800"/>
            </a:pPr>
            <a:r>
              <a:rPr lang="en-US" sz="2800"/>
              <a:t>25,620 patients &gt; age 55 </a:t>
            </a:r>
            <a:r>
              <a:rPr lang="en-US" sz="2800" err="1"/>
              <a:t>yr</a:t>
            </a:r>
            <a:r>
              <a:rPr lang="en-US" sz="2800"/>
              <a:t> with DM &amp; end-organ damage or established atherosclerotic vascular </a:t>
            </a:r>
            <a:r>
              <a:rPr lang="en-US" sz="2800" err="1"/>
              <a:t>dz</a:t>
            </a:r>
            <a:endParaRPr/>
          </a:p>
          <a:p>
            <a:pPr marL="342900" indent="-342900">
              <a:buSzPts val="2800"/>
            </a:pPr>
            <a:r>
              <a:rPr lang="en-US" sz="2800" b="1" i="1"/>
              <a:t>Combination therapy reduces proteinuria more than monotherapy but worsens major renal outcomes</a:t>
            </a:r>
            <a:endParaRPr/>
          </a:p>
          <a:p>
            <a:pPr marL="342900" indent="-139700">
              <a:buNone/>
            </a:pPr>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308"/>
        <p:cNvGrpSpPr/>
        <p:nvPr/>
      </p:nvGrpSpPr>
      <p:grpSpPr>
        <a:xfrm>
          <a:off x="0" y="0"/>
          <a:ext cx="0" cy="0"/>
          <a:chOff x="0" y="0"/>
          <a:chExt cx="0" cy="0"/>
        </a:xfrm>
      </p:grpSpPr>
      <p:sp>
        <p:nvSpPr>
          <p:cNvPr id="1309" name="Google Shape;1309;p170"/>
          <p:cNvSpPr txBox="1">
            <a:spLocks noGrp="1"/>
          </p:cNvSpPr>
          <p:nvPr>
            <p:ph type="title"/>
          </p:nvPr>
        </p:nvSpPr>
        <p:spPr>
          <a:xfrm>
            <a:off x="1981200" y="92076"/>
            <a:ext cx="8229600" cy="974725"/>
          </a:xfrm>
          <a:prstGeom prst="rect">
            <a:avLst/>
          </a:prstGeom>
          <a:noFill/>
          <a:ln>
            <a:noFill/>
          </a:ln>
        </p:spPr>
        <p:txBody>
          <a:bodyPr spcFirstLastPara="1" wrap="square" lIns="50800" tIns="50800" rIns="50800" bIns="50800" anchor="ctr" anchorCtr="0">
            <a:noAutofit/>
          </a:bodyPr>
          <a:lstStyle/>
          <a:p>
            <a:r>
              <a:rPr lang="en-US"/>
              <a:t>Calcium Channel Blockers (CCBs)</a:t>
            </a:r>
            <a:endParaRPr/>
          </a:p>
        </p:txBody>
      </p:sp>
      <p:sp>
        <p:nvSpPr>
          <p:cNvPr id="1310" name="Google Shape;1310;p170"/>
          <p:cNvSpPr txBox="1">
            <a:spLocks noGrp="1"/>
          </p:cNvSpPr>
          <p:nvPr>
            <p:ph type="body" idx="1"/>
          </p:nvPr>
        </p:nvSpPr>
        <p:spPr>
          <a:xfrm>
            <a:off x="556181" y="1219200"/>
            <a:ext cx="10803118" cy="5486400"/>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dirty="0"/>
              <a:t>Calcium channel blockers inhibit the influx of calcium</a:t>
            </a:r>
            <a:r>
              <a:rPr lang="en-US" baseline="30000" dirty="0"/>
              <a:t> </a:t>
            </a:r>
            <a:r>
              <a:rPr lang="en-US" dirty="0"/>
              <a:t>(and possibly sodium) across </a:t>
            </a:r>
            <a:r>
              <a:rPr lang="en-US" b="1" dirty="0"/>
              <a:t>cardiac</a:t>
            </a:r>
            <a:r>
              <a:rPr lang="en-US" dirty="0"/>
              <a:t> and </a:t>
            </a:r>
            <a:r>
              <a:rPr lang="en-US" b="1" dirty="0"/>
              <a:t>smooth muscle </a:t>
            </a:r>
            <a:r>
              <a:rPr lang="en-US" dirty="0"/>
              <a:t>cell membranes.</a:t>
            </a:r>
          </a:p>
          <a:p>
            <a:pPr marL="342900" indent="-342900">
              <a:spcBef>
                <a:spcPts val="0"/>
              </a:spcBef>
            </a:pPr>
            <a:endParaRPr lang="en-US" dirty="0"/>
          </a:p>
          <a:p>
            <a:pPr marL="342900" indent="-342900">
              <a:spcBef>
                <a:spcPts val="0"/>
              </a:spcBef>
            </a:pPr>
            <a:r>
              <a:rPr lang="en-US" dirty="0"/>
              <a:t>This results in: </a:t>
            </a:r>
          </a:p>
          <a:p>
            <a:pPr marL="514350" indent="-514350">
              <a:spcBef>
                <a:spcPts val="0"/>
              </a:spcBef>
              <a:buFont typeface="+mj-lt"/>
              <a:buAutoNum type="arabicPeriod"/>
            </a:pPr>
            <a:r>
              <a:rPr lang="en-US" b="1" i="1" dirty="0"/>
              <a:t>Slower electrical</a:t>
            </a:r>
            <a:r>
              <a:rPr lang="en-US" dirty="0"/>
              <a:t> </a:t>
            </a:r>
            <a:r>
              <a:rPr lang="en-US" b="1" i="1" dirty="0"/>
              <a:t>impulse</a:t>
            </a:r>
            <a:r>
              <a:rPr lang="en-US" dirty="0"/>
              <a:t> </a:t>
            </a:r>
            <a:r>
              <a:rPr lang="en-US" b="1" i="1" dirty="0"/>
              <a:t>conduction through the SA &amp; AV node leading to lower heart rate.</a:t>
            </a:r>
          </a:p>
          <a:p>
            <a:pPr marL="514350" indent="-514350">
              <a:spcBef>
                <a:spcPts val="0"/>
              </a:spcBef>
              <a:buFont typeface="+mj-lt"/>
              <a:buAutoNum type="arabicPeriod"/>
            </a:pPr>
            <a:r>
              <a:rPr lang="en-US" b="1" i="1" dirty="0"/>
              <a:t>A decreased in cardiac contractility. </a:t>
            </a:r>
          </a:p>
          <a:p>
            <a:pPr marL="514350" indent="-514350">
              <a:spcBef>
                <a:spcPts val="0"/>
              </a:spcBef>
              <a:buFont typeface="+mj-lt"/>
              <a:buAutoNum type="arabicPeriod"/>
            </a:pPr>
            <a:r>
              <a:rPr lang="en-US" b="1" i="1" dirty="0"/>
              <a:t>A decrease in blood pressure </a:t>
            </a:r>
            <a:r>
              <a:rPr lang="en-US" dirty="0"/>
              <a:t>due to peripheral arterial vasodilation.</a:t>
            </a:r>
            <a:endParaRPr dirty="0"/>
          </a:p>
          <a:p>
            <a:pPr marL="342900" indent="-247650">
              <a:buSzPts val="1500"/>
              <a:buNone/>
            </a:pPr>
            <a:endParaRPr sz="15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308"/>
        <p:cNvGrpSpPr/>
        <p:nvPr/>
      </p:nvGrpSpPr>
      <p:grpSpPr>
        <a:xfrm>
          <a:off x="0" y="0"/>
          <a:ext cx="0" cy="0"/>
          <a:chOff x="0" y="0"/>
          <a:chExt cx="0" cy="0"/>
        </a:xfrm>
      </p:grpSpPr>
      <p:sp>
        <p:nvSpPr>
          <p:cNvPr id="1309" name="Google Shape;1309;p170"/>
          <p:cNvSpPr txBox="1">
            <a:spLocks noGrp="1"/>
          </p:cNvSpPr>
          <p:nvPr>
            <p:ph type="title"/>
          </p:nvPr>
        </p:nvSpPr>
        <p:spPr>
          <a:xfrm>
            <a:off x="1981200" y="92076"/>
            <a:ext cx="8229600" cy="974725"/>
          </a:xfrm>
          <a:prstGeom prst="rect">
            <a:avLst/>
          </a:prstGeom>
          <a:noFill/>
          <a:ln>
            <a:noFill/>
          </a:ln>
        </p:spPr>
        <p:txBody>
          <a:bodyPr spcFirstLastPara="1" wrap="square" lIns="50800" tIns="50800" rIns="50800" bIns="50800" anchor="ctr" anchorCtr="0">
            <a:noAutofit/>
          </a:bodyPr>
          <a:lstStyle/>
          <a:p>
            <a:r>
              <a:rPr lang="en-US"/>
              <a:t>Calcium Channel Blockers (CCBs)</a:t>
            </a:r>
            <a:endParaRPr/>
          </a:p>
        </p:txBody>
      </p:sp>
      <p:sp>
        <p:nvSpPr>
          <p:cNvPr id="1310" name="Google Shape;1310;p170"/>
          <p:cNvSpPr txBox="1">
            <a:spLocks noGrp="1"/>
          </p:cNvSpPr>
          <p:nvPr>
            <p:ph type="body" idx="1"/>
          </p:nvPr>
        </p:nvSpPr>
        <p:spPr>
          <a:xfrm>
            <a:off x="424206" y="972274"/>
            <a:ext cx="11161336" cy="5733327"/>
          </a:xfrm>
          <a:prstGeom prst="rect">
            <a:avLst/>
          </a:prstGeom>
          <a:noFill/>
          <a:ln>
            <a:noFill/>
          </a:ln>
        </p:spPr>
        <p:txBody>
          <a:bodyPr spcFirstLastPara="1" wrap="square" lIns="91425" tIns="45700" rIns="91425" bIns="45700" anchor="t" anchorCtr="0">
            <a:noAutofit/>
          </a:bodyPr>
          <a:lstStyle/>
          <a:p>
            <a:pPr indent="-457200"/>
            <a:r>
              <a:rPr lang="en-US"/>
              <a:t>There are two main sub-classes of calcium channel blockers: </a:t>
            </a:r>
            <a:r>
              <a:rPr lang="en-US" b="1" i="1"/>
              <a:t>dihydropyridine CCBs and non-dihydropyridine CCBs</a:t>
            </a:r>
          </a:p>
          <a:p>
            <a:pPr indent="-457200"/>
            <a:endParaRPr lang="en-US" sz="2500"/>
          </a:p>
          <a:p>
            <a:pPr indent="-457200"/>
            <a:r>
              <a:rPr lang="en-US" b="1"/>
              <a:t>DHP CCBs act more strongly on peripheral vessels while non-DHPs act more strongly at the heart</a:t>
            </a:r>
            <a:r>
              <a:rPr lang="en-US"/>
              <a:t>.</a:t>
            </a:r>
          </a:p>
          <a:p>
            <a:pPr indent="-457200"/>
            <a:endParaRPr lang="en-US" sz="2500"/>
          </a:p>
          <a:p>
            <a:pPr indent="-457200"/>
            <a:r>
              <a:rPr lang="en-US" b="1" i="1"/>
              <a:t>Both have similar antihypertensive efficacy</a:t>
            </a:r>
            <a:r>
              <a:rPr lang="en-US"/>
              <a:t>, but one sub-class is often selected over the other when prescribed for hypertension with consideration for their effects on the heart.</a:t>
            </a:r>
            <a:endParaRPr/>
          </a:p>
        </p:txBody>
      </p:sp>
    </p:spTree>
    <p:extLst>
      <p:ext uri="{BB962C8B-B14F-4D97-AF65-F5344CB8AC3E}">
        <p14:creationId xmlns:p14="http://schemas.microsoft.com/office/powerpoint/2010/main" val="146864983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308"/>
        <p:cNvGrpSpPr/>
        <p:nvPr/>
      </p:nvGrpSpPr>
      <p:grpSpPr>
        <a:xfrm>
          <a:off x="0" y="0"/>
          <a:ext cx="0" cy="0"/>
          <a:chOff x="0" y="0"/>
          <a:chExt cx="0" cy="0"/>
        </a:xfrm>
      </p:grpSpPr>
      <p:sp>
        <p:nvSpPr>
          <p:cNvPr id="1309" name="Google Shape;1309;p170"/>
          <p:cNvSpPr txBox="1">
            <a:spLocks noGrp="1"/>
          </p:cNvSpPr>
          <p:nvPr>
            <p:ph type="title"/>
          </p:nvPr>
        </p:nvSpPr>
        <p:spPr>
          <a:xfrm>
            <a:off x="1981200" y="92076"/>
            <a:ext cx="8229600" cy="974725"/>
          </a:xfrm>
          <a:prstGeom prst="rect">
            <a:avLst/>
          </a:prstGeom>
          <a:noFill/>
          <a:ln>
            <a:noFill/>
          </a:ln>
        </p:spPr>
        <p:txBody>
          <a:bodyPr spcFirstLastPara="1" wrap="square" lIns="50800" tIns="50800" rIns="50800" bIns="50800" anchor="ctr" anchorCtr="0">
            <a:noAutofit/>
          </a:bodyPr>
          <a:lstStyle/>
          <a:p>
            <a:r>
              <a:rPr lang="en-US"/>
              <a:t>Calcium Channel Blockers (CCBs)</a:t>
            </a:r>
            <a:endParaRPr/>
          </a:p>
        </p:txBody>
      </p:sp>
      <p:sp>
        <p:nvSpPr>
          <p:cNvPr id="1310" name="Google Shape;1310;p170"/>
          <p:cNvSpPr txBox="1">
            <a:spLocks noGrp="1"/>
          </p:cNvSpPr>
          <p:nvPr>
            <p:ph type="body" idx="1"/>
          </p:nvPr>
        </p:nvSpPr>
        <p:spPr>
          <a:xfrm>
            <a:off x="678730" y="1219200"/>
            <a:ext cx="10869105" cy="5486400"/>
          </a:xfrm>
          <a:prstGeom prst="rect">
            <a:avLst/>
          </a:prstGeom>
          <a:noFill/>
          <a:ln>
            <a:noFill/>
          </a:ln>
        </p:spPr>
        <p:txBody>
          <a:bodyPr spcFirstLastPara="1" wrap="square" lIns="91425" tIns="45700" rIns="91425" bIns="45700" anchor="t" anchorCtr="0">
            <a:noAutofit/>
          </a:bodyPr>
          <a:lstStyle/>
          <a:p>
            <a:pPr marL="304800" indent="-304800">
              <a:buSzPts val="2600"/>
            </a:pPr>
            <a:r>
              <a:rPr lang="en-US" b="1" u="sng"/>
              <a:t>Di</a:t>
            </a:r>
            <a:r>
              <a:rPr lang="en-US" b="1"/>
              <a:t>hydropyridine CCBs primarily block calcium channels in the peripheral vasculature causing vaso</a:t>
            </a:r>
            <a:r>
              <a:rPr lang="en-US" b="1" u="sng"/>
              <a:t>di</a:t>
            </a:r>
            <a:r>
              <a:rPr lang="en-US" b="1"/>
              <a:t>lation</a:t>
            </a:r>
            <a:r>
              <a:rPr lang="en-US"/>
              <a:t>.  They are considered heart rate neutral.</a:t>
            </a:r>
          </a:p>
          <a:p>
            <a:pPr marL="304800" indent="-304800">
              <a:buSzPts val="2600"/>
            </a:pPr>
            <a:endParaRPr lang="en-US"/>
          </a:p>
          <a:p>
            <a:pPr marL="171450" indent="-203200">
              <a:spcBef>
                <a:spcPts val="0"/>
              </a:spcBef>
              <a:buClr>
                <a:srgbClr val="000000"/>
              </a:buClr>
            </a:pPr>
            <a:r>
              <a:rPr lang="en-US" b="1" u="sng">
                <a:solidFill>
                  <a:srgbClr val="000000"/>
                </a:solidFill>
              </a:rPr>
              <a:t>Dihydropyridine CCBs:</a:t>
            </a:r>
            <a:endParaRPr lang="en-US"/>
          </a:p>
          <a:p>
            <a:pPr marL="171450" indent="-203200">
              <a:spcBef>
                <a:spcPts val="1200"/>
              </a:spcBef>
              <a:buClr>
                <a:srgbClr val="000000"/>
              </a:buClr>
            </a:pPr>
            <a:r>
              <a:rPr lang="en-US">
                <a:solidFill>
                  <a:srgbClr val="000000"/>
                </a:solidFill>
              </a:rPr>
              <a:t>   </a:t>
            </a:r>
            <a:r>
              <a:rPr lang="en-US" b="1">
                <a:solidFill>
                  <a:srgbClr val="000000"/>
                </a:solidFill>
              </a:rPr>
              <a:t>Amlodipine (Norvasc)</a:t>
            </a:r>
            <a:endParaRPr lang="en-US" b="1"/>
          </a:p>
          <a:p>
            <a:pPr indent="-457200">
              <a:spcBef>
                <a:spcPts val="1200"/>
              </a:spcBef>
              <a:buClr>
                <a:srgbClr val="000000"/>
              </a:buClr>
            </a:pPr>
            <a:r>
              <a:rPr lang="en-US">
                <a:solidFill>
                  <a:srgbClr val="000000"/>
                </a:solidFill>
              </a:rPr>
              <a:t>Felodipine (</a:t>
            </a:r>
            <a:r>
              <a:rPr lang="en-US" err="1">
                <a:solidFill>
                  <a:srgbClr val="000000"/>
                </a:solidFill>
              </a:rPr>
              <a:t>Plendil</a:t>
            </a:r>
            <a:r>
              <a:rPr lang="en-US">
                <a:solidFill>
                  <a:srgbClr val="000000"/>
                </a:solidFill>
              </a:rPr>
              <a:t>) </a:t>
            </a:r>
          </a:p>
          <a:p>
            <a:pPr indent="-457200">
              <a:spcBef>
                <a:spcPts val="1200"/>
              </a:spcBef>
              <a:buClr>
                <a:srgbClr val="000000"/>
              </a:buClr>
            </a:pPr>
            <a:r>
              <a:rPr lang="en-US">
                <a:solidFill>
                  <a:srgbClr val="000000"/>
                </a:solidFill>
              </a:rPr>
              <a:t>Nifedipine (Procardia, Adalat</a:t>
            </a:r>
            <a:r>
              <a:rPr lang="en-US" b="1">
                <a:solidFill>
                  <a:srgbClr val="000000"/>
                </a:solidFill>
              </a:rPr>
              <a:t>)</a:t>
            </a:r>
          </a:p>
          <a:p>
            <a:pPr indent="-457200">
              <a:spcBef>
                <a:spcPts val="1200"/>
              </a:spcBef>
              <a:buClr>
                <a:srgbClr val="000000"/>
              </a:buClr>
            </a:pPr>
            <a:r>
              <a:rPr lang="en-US">
                <a:solidFill>
                  <a:srgbClr val="000000"/>
                </a:solidFill>
              </a:rPr>
              <a:t>Nicardipine (</a:t>
            </a:r>
            <a:r>
              <a:rPr lang="en-US" err="1">
                <a:solidFill>
                  <a:srgbClr val="000000"/>
                </a:solidFill>
              </a:rPr>
              <a:t>Cardene</a:t>
            </a:r>
            <a:r>
              <a:rPr lang="en-US">
                <a:solidFill>
                  <a:srgbClr val="000000"/>
                </a:solidFill>
              </a:rPr>
              <a:t>) IV</a:t>
            </a:r>
            <a:endParaRPr/>
          </a:p>
        </p:txBody>
      </p:sp>
    </p:spTree>
    <p:extLst>
      <p:ext uri="{BB962C8B-B14F-4D97-AF65-F5344CB8AC3E}">
        <p14:creationId xmlns:p14="http://schemas.microsoft.com/office/powerpoint/2010/main" val="368311209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308"/>
        <p:cNvGrpSpPr/>
        <p:nvPr/>
      </p:nvGrpSpPr>
      <p:grpSpPr>
        <a:xfrm>
          <a:off x="0" y="0"/>
          <a:ext cx="0" cy="0"/>
          <a:chOff x="0" y="0"/>
          <a:chExt cx="0" cy="0"/>
        </a:xfrm>
      </p:grpSpPr>
      <p:sp>
        <p:nvSpPr>
          <p:cNvPr id="1309" name="Google Shape;1309;p170"/>
          <p:cNvSpPr txBox="1">
            <a:spLocks noGrp="1"/>
          </p:cNvSpPr>
          <p:nvPr>
            <p:ph type="title"/>
          </p:nvPr>
        </p:nvSpPr>
        <p:spPr>
          <a:xfrm>
            <a:off x="1981200" y="92076"/>
            <a:ext cx="8229600" cy="974725"/>
          </a:xfrm>
          <a:prstGeom prst="rect">
            <a:avLst/>
          </a:prstGeom>
          <a:noFill/>
          <a:ln>
            <a:noFill/>
          </a:ln>
        </p:spPr>
        <p:txBody>
          <a:bodyPr spcFirstLastPara="1" wrap="square" lIns="50800" tIns="50800" rIns="50800" bIns="50800" anchor="ctr" anchorCtr="0">
            <a:noAutofit/>
          </a:bodyPr>
          <a:lstStyle/>
          <a:p>
            <a:r>
              <a:rPr lang="en-US"/>
              <a:t>Calcium Channel Blockers (CCBs)</a:t>
            </a:r>
            <a:endParaRPr/>
          </a:p>
        </p:txBody>
      </p:sp>
      <p:sp>
        <p:nvSpPr>
          <p:cNvPr id="1310" name="Google Shape;1310;p170"/>
          <p:cNvSpPr txBox="1">
            <a:spLocks noGrp="1"/>
          </p:cNvSpPr>
          <p:nvPr>
            <p:ph type="body" idx="1"/>
          </p:nvPr>
        </p:nvSpPr>
        <p:spPr>
          <a:xfrm>
            <a:off x="509048" y="1219200"/>
            <a:ext cx="7494309" cy="5486400"/>
          </a:xfrm>
          <a:prstGeom prst="rect">
            <a:avLst/>
          </a:prstGeom>
          <a:noFill/>
          <a:ln>
            <a:noFill/>
          </a:ln>
        </p:spPr>
        <p:txBody>
          <a:bodyPr spcFirstLastPara="1" wrap="square" lIns="91425" tIns="45700" rIns="91425" bIns="45700" anchor="t" anchorCtr="0">
            <a:noAutofit/>
          </a:bodyPr>
          <a:lstStyle/>
          <a:p>
            <a:pPr marL="304800" indent="-304800">
              <a:buSzPts val="2600"/>
            </a:pPr>
            <a:r>
              <a:rPr lang="en-US" sz="2800" b="1" u="sng"/>
              <a:t>N</a:t>
            </a:r>
            <a:r>
              <a:rPr lang="en-US" sz="2800" b="1"/>
              <a:t>on-dihydropyridine CCBs block cardiac calcium channels </a:t>
            </a:r>
            <a:r>
              <a:rPr lang="en-US" sz="2800"/>
              <a:t>primarily, with less effect on the peripheral vasculature.  Non DHP CCBs will decrease cardiac contractility (negative inotropic effect) and SA &amp; AV </a:t>
            </a:r>
            <a:r>
              <a:rPr lang="en-US" sz="2800" u="sng"/>
              <a:t>n</a:t>
            </a:r>
            <a:r>
              <a:rPr lang="en-US" sz="2800"/>
              <a:t>ode conduction (negative chronotropic effect).</a:t>
            </a:r>
          </a:p>
          <a:p>
            <a:pPr marL="304800" indent="-304800">
              <a:buSzPts val="2600"/>
            </a:pPr>
            <a:endParaRPr lang="en-US" sz="2800"/>
          </a:p>
          <a:p>
            <a:pPr marL="342900" lvl="1" indent="-342900">
              <a:spcBef>
                <a:spcPts val="1200"/>
              </a:spcBef>
              <a:buClr>
                <a:srgbClr val="000000"/>
              </a:buClr>
              <a:buSzPts val="3000"/>
              <a:buFont typeface="Arial"/>
              <a:buChar char="•"/>
            </a:pPr>
            <a:r>
              <a:rPr lang="en-US" sz="2800" b="1" u="sng">
                <a:solidFill>
                  <a:srgbClr val="000000"/>
                </a:solidFill>
              </a:rPr>
              <a:t>Non- Dihydropyridine CCB: </a:t>
            </a:r>
            <a:r>
              <a:rPr lang="en-US" sz="2800">
                <a:solidFill>
                  <a:srgbClr val="000000"/>
                </a:solidFill>
              </a:rPr>
              <a:t>AFIB (indication)</a:t>
            </a:r>
            <a:endParaRPr lang="en-US" sz="2800"/>
          </a:p>
          <a:p>
            <a:pPr marL="342900" lvl="1" indent="-342900">
              <a:spcBef>
                <a:spcPts val="1200"/>
              </a:spcBef>
              <a:buClr>
                <a:srgbClr val="000000"/>
              </a:buClr>
              <a:buSzPts val="3000"/>
              <a:buFont typeface="Arial"/>
              <a:buChar char="•"/>
            </a:pPr>
            <a:r>
              <a:rPr lang="en-US" sz="2800" b="1">
                <a:solidFill>
                  <a:srgbClr val="000000"/>
                </a:solidFill>
              </a:rPr>
              <a:t>Diltiazem (Cardizem, </a:t>
            </a:r>
            <a:r>
              <a:rPr lang="en-US" sz="2800" err="1">
                <a:solidFill>
                  <a:srgbClr val="000000"/>
                </a:solidFill>
              </a:rPr>
              <a:t>Tiazac</a:t>
            </a:r>
            <a:r>
              <a:rPr lang="en-US" sz="2800">
                <a:solidFill>
                  <a:srgbClr val="000000"/>
                </a:solidFill>
              </a:rPr>
              <a:t>, </a:t>
            </a:r>
            <a:r>
              <a:rPr lang="en-US" sz="2800" err="1">
                <a:solidFill>
                  <a:srgbClr val="000000"/>
                </a:solidFill>
              </a:rPr>
              <a:t>Cartia</a:t>
            </a:r>
            <a:r>
              <a:rPr lang="en-US" sz="2800" b="1">
                <a:solidFill>
                  <a:srgbClr val="000000"/>
                </a:solidFill>
              </a:rPr>
              <a:t>) </a:t>
            </a:r>
            <a:r>
              <a:rPr lang="en-US" sz="2800">
                <a:solidFill>
                  <a:srgbClr val="000000"/>
                </a:solidFill>
              </a:rPr>
              <a:t>PO/IV</a:t>
            </a:r>
            <a:endParaRPr lang="en-US" sz="2800"/>
          </a:p>
          <a:p>
            <a:pPr marL="342900" lvl="1" indent="-342900">
              <a:spcBef>
                <a:spcPts val="1200"/>
              </a:spcBef>
              <a:buClr>
                <a:srgbClr val="000000"/>
              </a:buClr>
              <a:buSzPts val="3000"/>
              <a:buFont typeface="Arial"/>
              <a:buChar char="•"/>
            </a:pPr>
            <a:r>
              <a:rPr lang="en-US" sz="2800">
                <a:solidFill>
                  <a:srgbClr val="000000"/>
                </a:solidFill>
              </a:rPr>
              <a:t>Verapamil (</a:t>
            </a:r>
            <a:r>
              <a:rPr lang="en-US" sz="2800" err="1">
                <a:solidFill>
                  <a:srgbClr val="000000"/>
                </a:solidFill>
              </a:rPr>
              <a:t>Calan</a:t>
            </a:r>
            <a:r>
              <a:rPr lang="en-US" sz="2800">
                <a:solidFill>
                  <a:srgbClr val="000000"/>
                </a:solidFill>
              </a:rPr>
              <a:t>, </a:t>
            </a:r>
            <a:r>
              <a:rPr lang="en-US" sz="2800" err="1">
                <a:solidFill>
                  <a:srgbClr val="000000"/>
                </a:solidFill>
              </a:rPr>
              <a:t>Verelan</a:t>
            </a:r>
            <a:r>
              <a:rPr lang="en-US" sz="2800">
                <a:solidFill>
                  <a:srgbClr val="000000"/>
                </a:solidFill>
              </a:rPr>
              <a:t>) PO/IV</a:t>
            </a:r>
            <a:endParaRPr lang="en-US" sz="2800"/>
          </a:p>
        </p:txBody>
      </p:sp>
      <p:pic>
        <p:nvPicPr>
          <p:cNvPr id="2" name="Picture 1">
            <a:extLst>
              <a:ext uri="{FF2B5EF4-FFF2-40B4-BE49-F238E27FC236}">
                <a16:creationId xmlns:a16="http://schemas.microsoft.com/office/drawing/2014/main" id="{9576939A-4468-E2BE-9BFB-2D3E66A99563}"/>
              </a:ext>
            </a:extLst>
          </p:cNvPr>
          <p:cNvPicPr>
            <a:picLocks noChangeAspect="1"/>
          </p:cNvPicPr>
          <p:nvPr/>
        </p:nvPicPr>
        <p:blipFill rotWithShape="1">
          <a:blip r:embed="rId3"/>
          <a:srcRect t="36460" r="73196"/>
          <a:stretch/>
        </p:blipFill>
        <p:spPr>
          <a:xfrm>
            <a:off x="8092911" y="1219200"/>
            <a:ext cx="3590041" cy="5385382"/>
          </a:xfrm>
          <a:prstGeom prst="rect">
            <a:avLst/>
          </a:prstGeom>
        </p:spPr>
      </p:pic>
    </p:spTree>
    <p:extLst>
      <p:ext uri="{BB962C8B-B14F-4D97-AF65-F5344CB8AC3E}">
        <p14:creationId xmlns:p14="http://schemas.microsoft.com/office/powerpoint/2010/main" val="150854076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323"/>
        <p:cNvGrpSpPr/>
        <p:nvPr/>
      </p:nvGrpSpPr>
      <p:grpSpPr>
        <a:xfrm>
          <a:off x="0" y="0"/>
          <a:ext cx="0" cy="0"/>
          <a:chOff x="0" y="0"/>
          <a:chExt cx="0" cy="0"/>
        </a:xfrm>
      </p:grpSpPr>
      <p:graphicFrame>
        <p:nvGraphicFramePr>
          <p:cNvPr id="1324" name="Google Shape;1324;p172"/>
          <p:cNvGraphicFramePr/>
          <p:nvPr>
            <p:extLst>
              <p:ext uri="{D42A27DB-BD31-4B8C-83A1-F6EECF244321}">
                <p14:modId xmlns:p14="http://schemas.microsoft.com/office/powerpoint/2010/main" val="962737413"/>
              </p:ext>
            </p:extLst>
          </p:nvPr>
        </p:nvGraphicFramePr>
        <p:xfrm>
          <a:off x="1676400" y="152401"/>
          <a:ext cx="8991600" cy="6644705"/>
        </p:xfrm>
        <a:graphic>
          <a:graphicData uri="http://schemas.openxmlformats.org/drawingml/2006/table">
            <a:tbl>
              <a:tblPr>
                <a:noFill/>
                <a:tableStyleId>{5CA6CF68-EC4B-4158-8A7C-682902D774E9}</a:tableStyleId>
              </a:tblPr>
              <a:tblGrid>
                <a:gridCol w="4114800">
                  <a:extLst>
                    <a:ext uri="{9D8B030D-6E8A-4147-A177-3AD203B41FA5}">
                      <a16:colId xmlns:a16="http://schemas.microsoft.com/office/drawing/2014/main" val="20000"/>
                    </a:ext>
                  </a:extLst>
                </a:gridCol>
                <a:gridCol w="4876800">
                  <a:extLst>
                    <a:ext uri="{9D8B030D-6E8A-4147-A177-3AD203B41FA5}">
                      <a16:colId xmlns:a16="http://schemas.microsoft.com/office/drawing/2014/main" val="20001"/>
                    </a:ext>
                  </a:extLst>
                </a:gridCol>
              </a:tblGrid>
              <a:tr h="487725">
                <a:tc>
                  <a:txBody>
                    <a:bodyPr/>
                    <a:lstStyle/>
                    <a:p>
                      <a:pPr marL="0" marR="0" lvl="0" indent="0" algn="ctr" rtl="0">
                        <a:lnSpc>
                          <a:spcPct val="100000"/>
                        </a:lnSpc>
                        <a:spcBef>
                          <a:spcPts val="0"/>
                        </a:spcBef>
                        <a:spcAft>
                          <a:spcPts val="0"/>
                        </a:spcAft>
                        <a:buClr>
                          <a:srgbClr val="FFFFFF"/>
                        </a:buClr>
                        <a:buSzPts val="2600"/>
                        <a:buFont typeface="Calibri"/>
                        <a:buNone/>
                      </a:pPr>
                      <a:r>
                        <a:rPr lang="en-US" sz="2600" b="1" i="0" u="none" strike="noStrike" cap="none">
                          <a:solidFill>
                            <a:srgbClr val="FFFFFF"/>
                          </a:solidFill>
                          <a:latin typeface="Calibri"/>
                          <a:ea typeface="Calibri"/>
                          <a:cs typeface="Calibri"/>
                          <a:sym typeface="Calibri"/>
                        </a:rPr>
                        <a:t>Dihydropyridine CCB</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2"/>
                    </a:solidFill>
                  </a:tcPr>
                </a:tc>
                <a:tc>
                  <a:txBody>
                    <a:bodyPr/>
                    <a:lstStyle/>
                    <a:p>
                      <a:pPr marL="0" marR="0" lvl="0" indent="0" algn="ctr" rtl="0">
                        <a:lnSpc>
                          <a:spcPct val="100000"/>
                        </a:lnSpc>
                        <a:spcBef>
                          <a:spcPts val="0"/>
                        </a:spcBef>
                        <a:spcAft>
                          <a:spcPts val="0"/>
                        </a:spcAft>
                        <a:buClr>
                          <a:srgbClr val="FFFFFF"/>
                        </a:buClr>
                        <a:buSzPts val="2600"/>
                        <a:buFont typeface="Calibri"/>
                        <a:buNone/>
                      </a:pPr>
                      <a:r>
                        <a:rPr lang="en-US" sz="2600" b="1" i="0" u="none" strike="noStrike" cap="none">
                          <a:solidFill>
                            <a:srgbClr val="FFFFFF"/>
                          </a:solidFill>
                          <a:latin typeface="Calibri"/>
                          <a:ea typeface="Calibri"/>
                          <a:cs typeface="Calibri"/>
                          <a:sym typeface="Calibri"/>
                        </a:rPr>
                        <a:t>Non-dihydropyridine CCB</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2"/>
                    </a:solidFill>
                  </a:tcPr>
                </a:tc>
                <a:extLst>
                  <a:ext uri="{0D108BD9-81ED-4DB2-BD59-A6C34878D82A}">
                    <a16:rowId xmlns:a16="http://schemas.microsoft.com/office/drawing/2014/main" val="10000"/>
                  </a:ext>
                </a:extLst>
              </a:tr>
              <a:tr h="2286500">
                <a:tc>
                  <a:txBody>
                    <a:bodyPr/>
                    <a:lstStyle/>
                    <a:p>
                      <a:pPr marL="0" marR="0" lvl="0" indent="0" algn="ctr"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Potent arteriolar vasodilators with </a:t>
                      </a:r>
                      <a:r>
                        <a:rPr lang="en-US" sz="2800" b="1" i="0" u="sng" strike="noStrike" cap="none">
                          <a:solidFill>
                            <a:srgbClr val="000000"/>
                          </a:solidFill>
                          <a:latin typeface="Calibri"/>
                          <a:ea typeface="Calibri"/>
                          <a:cs typeface="Calibri"/>
                          <a:sym typeface="Calibri"/>
                        </a:rPr>
                        <a:t>negligible</a:t>
                      </a:r>
                      <a:r>
                        <a:rPr lang="en-US" sz="2800" b="0" i="0" u="none" strike="noStrike" cap="none">
                          <a:solidFill>
                            <a:srgbClr val="000000"/>
                          </a:solidFill>
                          <a:latin typeface="Calibri"/>
                          <a:ea typeface="Calibri"/>
                          <a:cs typeface="Calibri"/>
                          <a:sym typeface="Calibri"/>
                        </a:rPr>
                        <a:t> effect on AV nodal conduction</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8E8EF"/>
                    </a:solidFill>
                  </a:tcPr>
                </a:tc>
                <a:tc>
                  <a:txBody>
                    <a:bodyPr/>
                    <a:lstStyle/>
                    <a:p>
                      <a:pPr marL="457200" marR="0" lvl="1" indent="0" algn="ctr"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Decrease HR by blocking the SA and AV nodes, used to slow atrioventricular nodal conduction</a:t>
                      </a:r>
                      <a:endParaRPr/>
                    </a:p>
                    <a:p>
                      <a:pPr marL="457200" marR="0" lvl="1" indent="0" algn="ctr"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may treat supraventricular tachyarrhythmias </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8E8EF"/>
                    </a:solidFill>
                  </a:tcPr>
                </a:tc>
                <a:extLst>
                  <a:ext uri="{0D108BD9-81ED-4DB2-BD59-A6C34878D82A}">
                    <a16:rowId xmlns:a16="http://schemas.microsoft.com/office/drawing/2014/main" val="10001"/>
                  </a:ext>
                </a:extLst>
              </a:tr>
              <a:tr h="2621550">
                <a:tc>
                  <a:txBody>
                    <a:bodyPr/>
                    <a:lstStyle/>
                    <a:p>
                      <a:pPr marL="0" marR="0" lvl="1" indent="0" algn="ctr"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Adverse Effects: baroreceptor-mediated </a:t>
                      </a:r>
                      <a:r>
                        <a:rPr lang="en-US" sz="2800" b="1" i="1" u="none" strike="noStrike" cap="none">
                          <a:solidFill>
                            <a:srgbClr val="000000"/>
                          </a:solidFill>
                          <a:latin typeface="Calibri"/>
                          <a:ea typeface="Calibri"/>
                          <a:cs typeface="Calibri"/>
                          <a:sym typeface="Calibri"/>
                        </a:rPr>
                        <a:t>reflex tachycardia </a:t>
                      </a:r>
                      <a:r>
                        <a:rPr lang="en-US" sz="2800" b="0" i="0" u="none" strike="noStrike" cap="none">
                          <a:solidFill>
                            <a:srgbClr val="000000"/>
                          </a:solidFill>
                          <a:latin typeface="Calibri"/>
                          <a:ea typeface="Calibri"/>
                          <a:cs typeface="Calibri"/>
                          <a:sym typeface="Calibri"/>
                        </a:rPr>
                        <a:t>due to potent vasodilating effects (avoid short acting forms), may cause or worsen peripheral </a:t>
                      </a:r>
                      <a:r>
                        <a:rPr lang="en-US" sz="2800" b="1" i="1" u="none" strike="noStrike" cap="none">
                          <a:solidFill>
                            <a:srgbClr val="000000"/>
                          </a:solidFill>
                          <a:latin typeface="Calibri"/>
                          <a:ea typeface="Calibri"/>
                          <a:cs typeface="Calibri"/>
                          <a:sym typeface="Calibri"/>
                        </a:rPr>
                        <a:t>edema</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DCDDE"/>
                    </a:solidFill>
                  </a:tcPr>
                </a:tc>
                <a:tc>
                  <a:txBody>
                    <a:bodyPr/>
                    <a:lstStyle/>
                    <a:p>
                      <a:pPr marL="457200" marR="0" lvl="1" indent="0" algn="ctr" rtl="0">
                        <a:lnSpc>
                          <a:spcPct val="100000"/>
                        </a:lnSpc>
                        <a:spcBef>
                          <a:spcPts val="0"/>
                        </a:spcBef>
                        <a:spcAft>
                          <a:spcPts val="0"/>
                        </a:spcAft>
                        <a:buClr>
                          <a:schemeClr val="dk1"/>
                        </a:buClr>
                        <a:buSzPts val="2800"/>
                        <a:buFont typeface="Calibri"/>
                        <a:buNone/>
                      </a:pPr>
                      <a:endParaRPr sz="2800" b="0" i="0" u="none" strike="noStrike" cap="none" dirty="0">
                        <a:solidFill>
                          <a:srgbClr val="000000"/>
                        </a:solidFill>
                        <a:latin typeface="Calibri"/>
                        <a:ea typeface="Calibri"/>
                        <a:cs typeface="Calibri"/>
                        <a:sym typeface="Calibri"/>
                      </a:endParaRPr>
                    </a:p>
                    <a:p>
                      <a:pPr marL="457200" marR="0" lvl="1" indent="0" algn="ctr" rtl="0">
                        <a:lnSpc>
                          <a:spcPct val="100000"/>
                        </a:lnSpc>
                        <a:spcBef>
                          <a:spcPts val="0"/>
                        </a:spcBef>
                        <a:spcAft>
                          <a:spcPts val="0"/>
                        </a:spcAft>
                        <a:buClr>
                          <a:srgbClr val="000000"/>
                        </a:buClr>
                        <a:buSzPts val="2800"/>
                        <a:buFont typeface="Calibri"/>
                        <a:buNone/>
                      </a:pPr>
                      <a:r>
                        <a:rPr lang="en-US" sz="2800" b="0" i="0" u="none" strike="noStrike" cap="none" dirty="0">
                          <a:solidFill>
                            <a:srgbClr val="000000"/>
                          </a:solidFill>
                          <a:latin typeface="Calibri"/>
                          <a:ea typeface="Calibri"/>
                          <a:cs typeface="Calibri"/>
                          <a:sym typeface="Calibri"/>
                        </a:rPr>
                        <a:t>Adverse </a:t>
                      </a:r>
                      <a:r>
                        <a:rPr lang="en-US" sz="2800" b="0" i="0" u="none" strike="noStrike" cap="none" dirty="0" err="1">
                          <a:solidFill>
                            <a:srgbClr val="000000"/>
                          </a:solidFill>
                          <a:latin typeface="Calibri"/>
                          <a:ea typeface="Calibri"/>
                          <a:cs typeface="Calibri"/>
                          <a:sym typeface="Calibri"/>
                        </a:rPr>
                        <a:t>Effects:</a:t>
                      </a:r>
                      <a:r>
                        <a:rPr lang="en-US" sz="2800" b="1" i="1" u="none" strike="noStrike" cap="none" dirty="0" err="1">
                          <a:solidFill>
                            <a:srgbClr val="000000"/>
                          </a:solidFill>
                          <a:latin typeface="Calibri"/>
                          <a:ea typeface="Calibri"/>
                          <a:cs typeface="Calibri"/>
                          <a:sym typeface="Calibri"/>
                        </a:rPr>
                        <a:t>bradycardia</a:t>
                      </a:r>
                      <a:r>
                        <a:rPr lang="en-US" sz="2800" b="1" i="1" u="none" strike="noStrike" cap="none" dirty="0">
                          <a:solidFill>
                            <a:srgbClr val="000000"/>
                          </a:solidFill>
                          <a:latin typeface="Calibri"/>
                          <a:ea typeface="Calibri"/>
                          <a:cs typeface="Calibri"/>
                          <a:sym typeface="Calibri"/>
                        </a:rPr>
                        <a:t>,</a:t>
                      </a:r>
                      <a:endParaRPr dirty="0"/>
                    </a:p>
                    <a:p>
                      <a:pPr marL="457200" marR="0" lvl="1" indent="0" algn="ctr" rtl="0">
                        <a:lnSpc>
                          <a:spcPct val="100000"/>
                        </a:lnSpc>
                        <a:spcBef>
                          <a:spcPts val="0"/>
                        </a:spcBef>
                        <a:spcAft>
                          <a:spcPts val="0"/>
                        </a:spcAft>
                        <a:buClr>
                          <a:srgbClr val="000000"/>
                        </a:buClr>
                        <a:buSzPts val="2800"/>
                        <a:buFont typeface="Calibri"/>
                        <a:buNone/>
                      </a:pPr>
                      <a:r>
                        <a:rPr lang="en-US" sz="2800" b="1" i="1" u="none" strike="noStrike" cap="none" dirty="0">
                          <a:solidFill>
                            <a:srgbClr val="000000"/>
                          </a:solidFill>
                          <a:latin typeface="Calibri"/>
                          <a:ea typeface="Calibri"/>
                          <a:cs typeface="Calibri"/>
                          <a:sym typeface="Calibri"/>
                        </a:rPr>
                        <a:t>atrioventricular block,</a:t>
                      </a:r>
                      <a:endParaRPr dirty="0"/>
                    </a:p>
                    <a:p>
                      <a:pPr marL="457200" marR="0" lvl="1" indent="0" algn="ctr" rtl="0">
                        <a:lnSpc>
                          <a:spcPct val="100000"/>
                        </a:lnSpc>
                        <a:spcBef>
                          <a:spcPts val="0"/>
                        </a:spcBef>
                        <a:spcAft>
                          <a:spcPts val="0"/>
                        </a:spcAft>
                        <a:buClr>
                          <a:srgbClr val="000000"/>
                        </a:buClr>
                        <a:buSzPts val="2800"/>
                        <a:buFont typeface="Calibri"/>
                        <a:buNone/>
                      </a:pPr>
                      <a:r>
                        <a:rPr lang="en-US" sz="2800" b="1" i="1" u="none" strike="noStrike" cap="none" dirty="0">
                          <a:solidFill>
                            <a:srgbClr val="000000"/>
                          </a:solidFill>
                          <a:latin typeface="Calibri"/>
                          <a:ea typeface="Calibri"/>
                          <a:cs typeface="Calibri"/>
                          <a:sym typeface="Calibri"/>
                        </a:rPr>
                        <a:t>systolic HF</a:t>
                      </a:r>
                      <a:r>
                        <a:rPr lang="en-US" sz="2800" b="0" i="0" u="none" strike="noStrike" cap="none" dirty="0">
                          <a:solidFill>
                            <a:srgbClr val="000000"/>
                          </a:solidFill>
                          <a:latin typeface="Calibri"/>
                          <a:ea typeface="Calibri"/>
                          <a:cs typeface="Calibri"/>
                          <a:sym typeface="Calibri"/>
                        </a:rPr>
                        <a:t>, less likely to cause or worsen edema.  Caution with concurrent use with β-blockers.</a:t>
                      </a:r>
                      <a:endParaRPr dirty="0"/>
                    </a:p>
                    <a:p>
                      <a:pPr marL="0" marR="0" lvl="0" indent="0" algn="ctr" rtl="0">
                        <a:lnSpc>
                          <a:spcPct val="100000"/>
                        </a:lnSpc>
                        <a:spcBef>
                          <a:spcPts val="0"/>
                        </a:spcBef>
                        <a:spcAft>
                          <a:spcPts val="0"/>
                        </a:spcAft>
                        <a:buClr>
                          <a:schemeClr val="dk1"/>
                        </a:buClr>
                        <a:buSzPts val="2800"/>
                        <a:buFont typeface="Calibri"/>
                        <a:buNone/>
                      </a:pPr>
                      <a:endParaRPr sz="2800" b="0" i="0" u="none" strike="noStrike" cap="none" dirty="0">
                        <a:solidFill>
                          <a:srgbClr val="000000"/>
                        </a:solidFill>
                        <a:latin typeface="Calibri"/>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DCDDE"/>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329"/>
        <p:cNvGrpSpPr/>
        <p:nvPr/>
      </p:nvGrpSpPr>
      <p:grpSpPr>
        <a:xfrm>
          <a:off x="0" y="0"/>
          <a:ext cx="0" cy="0"/>
          <a:chOff x="0" y="0"/>
          <a:chExt cx="0" cy="0"/>
        </a:xfrm>
      </p:grpSpPr>
      <p:sp>
        <p:nvSpPr>
          <p:cNvPr id="1330" name="Google Shape;1330;p173"/>
          <p:cNvSpPr txBox="1">
            <a:spLocks noGrp="1"/>
          </p:cNvSpPr>
          <p:nvPr>
            <p:ph type="title"/>
          </p:nvPr>
        </p:nvSpPr>
        <p:spPr>
          <a:xfrm>
            <a:off x="1752600" y="92076"/>
            <a:ext cx="8763000" cy="1584325"/>
          </a:xfrm>
          <a:prstGeom prst="rect">
            <a:avLst/>
          </a:prstGeom>
          <a:noFill/>
          <a:ln>
            <a:noFill/>
          </a:ln>
        </p:spPr>
        <p:txBody>
          <a:bodyPr spcFirstLastPara="1" wrap="square" lIns="50800" tIns="50800" rIns="50800" bIns="50800" anchor="ctr" anchorCtr="0">
            <a:noAutofit/>
          </a:bodyPr>
          <a:lstStyle/>
          <a:p>
            <a:pPr lvl="1"/>
            <a:r>
              <a:rPr lang="en-US"/>
              <a:t>DHP CCBs Adverse Reactions</a:t>
            </a:r>
            <a:br>
              <a:rPr lang="en-US"/>
            </a:br>
            <a:r>
              <a:rPr lang="en-US" sz="2400">
                <a:solidFill>
                  <a:srgbClr val="000000"/>
                </a:solidFill>
              </a:rPr>
              <a:t> Amlodipine (Norvasc), Felodipine (</a:t>
            </a:r>
            <a:r>
              <a:rPr lang="en-US" sz="2400" err="1">
                <a:solidFill>
                  <a:srgbClr val="000000"/>
                </a:solidFill>
              </a:rPr>
              <a:t>Plendil</a:t>
            </a:r>
            <a:r>
              <a:rPr lang="en-US" sz="2400">
                <a:solidFill>
                  <a:srgbClr val="000000"/>
                </a:solidFill>
              </a:rPr>
              <a:t>)</a:t>
            </a:r>
            <a:br>
              <a:rPr lang="en-US" sz="2400">
                <a:solidFill>
                  <a:srgbClr val="000000"/>
                </a:solidFill>
              </a:rPr>
            </a:br>
            <a:r>
              <a:rPr lang="en-US" sz="2400">
                <a:solidFill>
                  <a:srgbClr val="000000"/>
                </a:solidFill>
              </a:rPr>
              <a:t>Nifedipine (Procardia, Adalat)</a:t>
            </a:r>
            <a:endParaRPr/>
          </a:p>
        </p:txBody>
      </p:sp>
      <p:sp>
        <p:nvSpPr>
          <p:cNvPr id="1331" name="Google Shape;1331;p173"/>
          <p:cNvSpPr txBox="1">
            <a:spLocks noGrp="1"/>
          </p:cNvSpPr>
          <p:nvPr>
            <p:ph type="body" idx="1"/>
          </p:nvPr>
        </p:nvSpPr>
        <p:spPr>
          <a:xfrm>
            <a:off x="659875" y="1981200"/>
            <a:ext cx="10963373" cy="4724400"/>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a:t>DHP CCBs can cause </a:t>
            </a:r>
            <a:r>
              <a:rPr lang="en-US" b="1" i="1"/>
              <a:t>flushing, lightheadedness, dizziness, and HA </a:t>
            </a:r>
            <a:r>
              <a:rPr lang="en-US"/>
              <a:t>in 10- 20% of patients.</a:t>
            </a:r>
          </a:p>
          <a:p>
            <a:pPr marL="342900" indent="-342900">
              <a:spcBef>
                <a:spcPts val="0"/>
              </a:spcBef>
            </a:pPr>
            <a:endParaRPr lang="en-US"/>
          </a:p>
          <a:p>
            <a:pPr marL="342900" indent="-342900">
              <a:spcBef>
                <a:spcPts val="0"/>
              </a:spcBef>
            </a:pPr>
            <a:r>
              <a:rPr lang="en-US"/>
              <a:t>DHP CCBs, in their short acting form, can cause </a:t>
            </a:r>
            <a:r>
              <a:rPr lang="en-US" b="1" i="1"/>
              <a:t>reflex tachycardia</a:t>
            </a:r>
            <a:r>
              <a:rPr lang="en-US"/>
              <a:t>.  This is because the short acting form stimulates a very sudden and significant drop in blood pressure.  For this reason, short acting forms are very rarely used.  </a:t>
            </a:r>
            <a:endParaRPr/>
          </a:p>
          <a:p>
            <a:pPr marL="342900" indent="-139700">
              <a:buNone/>
            </a:pPr>
            <a:endParaRPr/>
          </a:p>
          <a:p>
            <a:pPr marL="342900" indent="-139700">
              <a:buNone/>
            </a:pPr>
            <a:endParaRPr/>
          </a:p>
          <a:p>
            <a:pPr marL="342900" indent="-139700">
              <a:buNone/>
            </a:pPr>
            <a:endParaRPr u="sng"/>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329"/>
        <p:cNvGrpSpPr/>
        <p:nvPr/>
      </p:nvGrpSpPr>
      <p:grpSpPr>
        <a:xfrm>
          <a:off x="0" y="0"/>
          <a:ext cx="0" cy="0"/>
          <a:chOff x="0" y="0"/>
          <a:chExt cx="0" cy="0"/>
        </a:xfrm>
      </p:grpSpPr>
      <p:sp>
        <p:nvSpPr>
          <p:cNvPr id="1330" name="Google Shape;1330;p173"/>
          <p:cNvSpPr txBox="1">
            <a:spLocks noGrp="1"/>
          </p:cNvSpPr>
          <p:nvPr>
            <p:ph type="title"/>
          </p:nvPr>
        </p:nvSpPr>
        <p:spPr>
          <a:xfrm>
            <a:off x="1981200" y="92076"/>
            <a:ext cx="8229600" cy="1584325"/>
          </a:xfrm>
          <a:prstGeom prst="rect">
            <a:avLst/>
          </a:prstGeom>
          <a:noFill/>
          <a:ln>
            <a:noFill/>
          </a:ln>
        </p:spPr>
        <p:txBody>
          <a:bodyPr spcFirstLastPara="1" wrap="square" lIns="50800" tIns="50800" rIns="50800" bIns="50800" anchor="ctr" anchorCtr="0">
            <a:noAutofit/>
          </a:bodyPr>
          <a:lstStyle/>
          <a:p>
            <a:pPr lvl="1"/>
            <a:r>
              <a:rPr lang="en-US"/>
              <a:t>DHP CCBs Adverse Reactions</a:t>
            </a:r>
            <a:br>
              <a:rPr lang="en-US"/>
            </a:br>
            <a:r>
              <a:rPr lang="en-US" sz="2400">
                <a:solidFill>
                  <a:srgbClr val="000000"/>
                </a:solidFill>
              </a:rPr>
              <a:t> Amlodipine (Norvasc), Felodipine (</a:t>
            </a:r>
            <a:r>
              <a:rPr lang="en-US" sz="2400" err="1">
                <a:solidFill>
                  <a:srgbClr val="000000"/>
                </a:solidFill>
              </a:rPr>
              <a:t>Plendil</a:t>
            </a:r>
            <a:r>
              <a:rPr lang="en-US" sz="2400">
                <a:solidFill>
                  <a:srgbClr val="000000"/>
                </a:solidFill>
              </a:rPr>
              <a:t>)</a:t>
            </a:r>
            <a:br>
              <a:rPr lang="en-US" sz="2400">
                <a:solidFill>
                  <a:srgbClr val="000000"/>
                </a:solidFill>
              </a:rPr>
            </a:br>
            <a:r>
              <a:rPr lang="en-US" sz="2400">
                <a:solidFill>
                  <a:srgbClr val="000000"/>
                </a:solidFill>
              </a:rPr>
              <a:t>Nifedipine (Procardia, Adalat)</a:t>
            </a:r>
            <a:endParaRPr/>
          </a:p>
        </p:txBody>
      </p:sp>
      <p:sp>
        <p:nvSpPr>
          <p:cNvPr id="1331" name="Google Shape;1331;p173"/>
          <p:cNvSpPr txBox="1">
            <a:spLocks noGrp="1"/>
          </p:cNvSpPr>
          <p:nvPr>
            <p:ph type="body" idx="1"/>
          </p:nvPr>
        </p:nvSpPr>
        <p:spPr>
          <a:xfrm>
            <a:off x="395926" y="1794076"/>
            <a:ext cx="11472420" cy="4911524"/>
          </a:xfrm>
          <a:prstGeom prst="rect">
            <a:avLst/>
          </a:prstGeom>
          <a:noFill/>
          <a:ln>
            <a:noFill/>
          </a:ln>
        </p:spPr>
        <p:txBody>
          <a:bodyPr spcFirstLastPara="1" wrap="square" lIns="91425" tIns="45700" rIns="91425" bIns="45700" anchor="t" anchorCtr="0">
            <a:noAutofit/>
          </a:bodyPr>
          <a:lstStyle/>
          <a:p>
            <a:pPr indent="-457200"/>
            <a:r>
              <a:rPr lang="en-US"/>
              <a:t>DHP CCBs increase vascular permeability, which may lead to </a:t>
            </a:r>
            <a:r>
              <a:rPr lang="en-US" b="1" i="1"/>
              <a:t>peripheral edema- </a:t>
            </a:r>
            <a:r>
              <a:rPr lang="en-US"/>
              <a:t>this is less common when administered at the same time as a RAAS blocker, but the edema is not usually responsive to diuretics because it is not due to increased plasma volume.</a:t>
            </a:r>
          </a:p>
          <a:p>
            <a:pPr indent="-457200"/>
            <a:endParaRPr lang="en-US"/>
          </a:p>
          <a:p>
            <a:pPr indent="-457200"/>
            <a:r>
              <a:rPr lang="en-US"/>
              <a:t>If significant edema occurs the clinician may need to stop the DHP calcium channel blocker.</a:t>
            </a:r>
            <a:endParaRPr/>
          </a:p>
          <a:p>
            <a:pPr marL="342900" indent="-139700">
              <a:buNone/>
            </a:pPr>
            <a:endParaRPr/>
          </a:p>
          <a:p>
            <a:pPr marL="342900" indent="-139700">
              <a:buNone/>
            </a:pPr>
            <a:endParaRPr u="sng"/>
          </a:p>
        </p:txBody>
      </p:sp>
    </p:spTree>
    <p:extLst>
      <p:ext uri="{BB962C8B-B14F-4D97-AF65-F5344CB8AC3E}">
        <p14:creationId xmlns:p14="http://schemas.microsoft.com/office/powerpoint/2010/main" val="367421232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336"/>
        <p:cNvGrpSpPr/>
        <p:nvPr/>
      </p:nvGrpSpPr>
      <p:grpSpPr>
        <a:xfrm>
          <a:off x="0" y="0"/>
          <a:ext cx="0" cy="0"/>
          <a:chOff x="0" y="0"/>
          <a:chExt cx="0" cy="0"/>
        </a:xfrm>
      </p:grpSpPr>
      <p:sp>
        <p:nvSpPr>
          <p:cNvPr id="1337" name="Google Shape;1337;p174"/>
          <p:cNvSpPr txBox="1">
            <a:spLocks noGrp="1"/>
          </p:cNvSpPr>
          <p:nvPr>
            <p:ph type="title"/>
          </p:nvPr>
        </p:nvSpPr>
        <p:spPr>
          <a:xfrm>
            <a:off x="1686046" y="92075"/>
            <a:ext cx="8829554" cy="1273738"/>
          </a:xfrm>
          <a:prstGeom prst="rect">
            <a:avLst/>
          </a:prstGeom>
          <a:noFill/>
          <a:ln>
            <a:noFill/>
          </a:ln>
        </p:spPr>
        <p:txBody>
          <a:bodyPr spcFirstLastPara="1" wrap="square" lIns="50800" tIns="50800" rIns="50800" bIns="50800" anchor="ctr" anchorCtr="0">
            <a:noAutofit/>
          </a:bodyPr>
          <a:lstStyle/>
          <a:p>
            <a:r>
              <a:rPr lang="en-US"/>
              <a:t>Non-DHP CCBs Adverse Reactions</a:t>
            </a:r>
            <a:br>
              <a:rPr lang="en-US"/>
            </a:br>
            <a:r>
              <a:rPr lang="en-US" sz="2400"/>
              <a:t>Verapamil (</a:t>
            </a:r>
            <a:r>
              <a:rPr lang="en-US" sz="2400" err="1"/>
              <a:t>Calan</a:t>
            </a:r>
            <a:r>
              <a:rPr lang="en-US" sz="2400"/>
              <a:t>, </a:t>
            </a:r>
            <a:r>
              <a:rPr lang="en-US" sz="2400" err="1"/>
              <a:t>Verelan</a:t>
            </a:r>
            <a:r>
              <a:rPr lang="en-US" sz="2400"/>
              <a:t>) or Diltiazem (</a:t>
            </a:r>
            <a:r>
              <a:rPr lang="en-US" sz="2400">
                <a:solidFill>
                  <a:srgbClr val="000000"/>
                </a:solidFill>
              </a:rPr>
              <a:t>Cardizem, </a:t>
            </a:r>
            <a:r>
              <a:rPr lang="en-US" sz="2400" err="1">
                <a:solidFill>
                  <a:srgbClr val="000000"/>
                </a:solidFill>
              </a:rPr>
              <a:t>Tiazac</a:t>
            </a:r>
            <a:r>
              <a:rPr lang="en-US" sz="2400">
                <a:solidFill>
                  <a:srgbClr val="000000"/>
                </a:solidFill>
              </a:rPr>
              <a:t>, </a:t>
            </a:r>
            <a:r>
              <a:rPr lang="en-US" sz="2400" err="1">
                <a:solidFill>
                  <a:srgbClr val="000000"/>
                </a:solidFill>
              </a:rPr>
              <a:t>Cartia</a:t>
            </a:r>
            <a:r>
              <a:rPr lang="en-US" sz="2400">
                <a:solidFill>
                  <a:srgbClr val="000000"/>
                </a:solidFill>
              </a:rPr>
              <a:t>)</a:t>
            </a:r>
            <a:endParaRPr sz="2400"/>
          </a:p>
        </p:txBody>
      </p:sp>
      <p:sp>
        <p:nvSpPr>
          <p:cNvPr id="1338" name="Google Shape;1338;p174"/>
          <p:cNvSpPr txBox="1">
            <a:spLocks noGrp="1"/>
          </p:cNvSpPr>
          <p:nvPr>
            <p:ph type="body" idx="1"/>
          </p:nvPr>
        </p:nvSpPr>
        <p:spPr>
          <a:xfrm>
            <a:off x="622169" y="1620457"/>
            <a:ext cx="10831398" cy="5085143"/>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a:t>Verapamil and to a lesser degree diltiazem will </a:t>
            </a:r>
            <a:r>
              <a:rPr lang="en-US" b="1" i="1"/>
              <a:t>decrease cardiac contractility and heart rate- </a:t>
            </a:r>
            <a:r>
              <a:rPr lang="en-US"/>
              <a:t>therefore these drugs </a:t>
            </a:r>
            <a:r>
              <a:rPr lang="en-US" b="1" i="1"/>
              <a:t>should not be used in </a:t>
            </a:r>
            <a:r>
              <a:rPr lang="en-US" b="1" i="1" err="1"/>
              <a:t>bradyarrhythmias</a:t>
            </a:r>
            <a:r>
              <a:rPr lang="en-US"/>
              <a:t>- such as sick sinus syndrome (SSS), or higher degree heart blocks (2</a:t>
            </a:r>
            <a:r>
              <a:rPr lang="en-US" baseline="30000"/>
              <a:t>nd</a:t>
            </a:r>
            <a:r>
              <a:rPr lang="en-US"/>
              <a:t>/3</a:t>
            </a:r>
            <a:r>
              <a:rPr lang="en-US" baseline="30000"/>
              <a:t>rd</a:t>
            </a:r>
            <a:r>
              <a:rPr lang="en-US"/>
              <a:t> AVB).</a:t>
            </a:r>
          </a:p>
          <a:p>
            <a:pPr marL="342900" indent="-342900">
              <a:spcBef>
                <a:spcPts val="0"/>
              </a:spcBef>
            </a:pPr>
            <a:endParaRPr lang="en-US"/>
          </a:p>
          <a:p>
            <a:pPr marL="342900" indent="-342900">
              <a:spcBef>
                <a:spcPts val="0"/>
              </a:spcBef>
            </a:pPr>
            <a:r>
              <a:rPr lang="en-US"/>
              <a:t>Because of their effect on heart rate, the clinician must be </a:t>
            </a:r>
            <a:r>
              <a:rPr lang="en-US" b="1" i="1"/>
              <a:t>cautious when prescribing non-DHP CCBs with a beta blocker</a:t>
            </a:r>
            <a:r>
              <a:rPr lang="en-US"/>
              <a:t>.</a:t>
            </a:r>
            <a:endParaRPr/>
          </a:p>
          <a:p>
            <a:pPr marL="342900" indent="-279400">
              <a:buSzPts val="1000"/>
              <a:buNone/>
            </a:pPr>
            <a:endParaRPr sz="1000"/>
          </a:p>
          <a:p>
            <a:pPr marL="342900" indent="-139700">
              <a:buNone/>
            </a:pPr>
            <a:endParaRPr/>
          </a:p>
          <a:p>
            <a:pPr marL="342900" indent="-139700">
              <a:buNone/>
            </a:pPr>
            <a:endParaRPr u="sng"/>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336"/>
        <p:cNvGrpSpPr/>
        <p:nvPr/>
      </p:nvGrpSpPr>
      <p:grpSpPr>
        <a:xfrm>
          <a:off x="0" y="0"/>
          <a:ext cx="0" cy="0"/>
          <a:chOff x="0" y="0"/>
          <a:chExt cx="0" cy="0"/>
        </a:xfrm>
      </p:grpSpPr>
      <p:sp>
        <p:nvSpPr>
          <p:cNvPr id="1337" name="Google Shape;1337;p174"/>
          <p:cNvSpPr txBox="1">
            <a:spLocks noGrp="1"/>
          </p:cNvSpPr>
          <p:nvPr>
            <p:ph type="title"/>
          </p:nvPr>
        </p:nvSpPr>
        <p:spPr>
          <a:xfrm>
            <a:off x="1686046" y="92075"/>
            <a:ext cx="8829554" cy="1482082"/>
          </a:xfrm>
          <a:prstGeom prst="rect">
            <a:avLst/>
          </a:prstGeom>
          <a:noFill/>
          <a:ln>
            <a:noFill/>
          </a:ln>
        </p:spPr>
        <p:txBody>
          <a:bodyPr spcFirstLastPara="1" wrap="square" lIns="50800" tIns="50800" rIns="50800" bIns="50800" anchor="ctr" anchorCtr="0">
            <a:noAutofit/>
          </a:bodyPr>
          <a:lstStyle/>
          <a:p>
            <a:r>
              <a:rPr lang="en-US"/>
              <a:t>Non-DHP CCBs Adverse Reactions</a:t>
            </a:r>
            <a:br>
              <a:rPr lang="en-US"/>
            </a:br>
            <a:r>
              <a:rPr lang="en-US" sz="2400"/>
              <a:t>Verapamil (</a:t>
            </a:r>
            <a:r>
              <a:rPr lang="en-US" sz="2400" err="1"/>
              <a:t>Calan</a:t>
            </a:r>
            <a:r>
              <a:rPr lang="en-US" sz="2400"/>
              <a:t>, </a:t>
            </a:r>
            <a:r>
              <a:rPr lang="en-US" sz="2400" err="1"/>
              <a:t>Verelan</a:t>
            </a:r>
            <a:r>
              <a:rPr lang="en-US" sz="2400"/>
              <a:t>) or Diltiazem (</a:t>
            </a:r>
            <a:r>
              <a:rPr lang="en-US" sz="2400">
                <a:solidFill>
                  <a:srgbClr val="000000"/>
                </a:solidFill>
              </a:rPr>
              <a:t>Cardizem, </a:t>
            </a:r>
            <a:r>
              <a:rPr lang="en-US" sz="2400" err="1">
                <a:solidFill>
                  <a:srgbClr val="000000"/>
                </a:solidFill>
              </a:rPr>
              <a:t>Tiazac</a:t>
            </a:r>
            <a:r>
              <a:rPr lang="en-US" sz="2400">
                <a:solidFill>
                  <a:srgbClr val="000000"/>
                </a:solidFill>
              </a:rPr>
              <a:t>, </a:t>
            </a:r>
            <a:r>
              <a:rPr lang="en-US" sz="2400" err="1">
                <a:solidFill>
                  <a:srgbClr val="000000"/>
                </a:solidFill>
              </a:rPr>
              <a:t>Cartia</a:t>
            </a:r>
            <a:r>
              <a:rPr lang="en-US" sz="2400">
                <a:solidFill>
                  <a:srgbClr val="000000"/>
                </a:solidFill>
              </a:rPr>
              <a:t>)</a:t>
            </a:r>
            <a:endParaRPr sz="2400"/>
          </a:p>
        </p:txBody>
      </p:sp>
      <p:sp>
        <p:nvSpPr>
          <p:cNvPr id="1338" name="Google Shape;1338;p174"/>
          <p:cNvSpPr txBox="1">
            <a:spLocks noGrp="1"/>
          </p:cNvSpPr>
          <p:nvPr>
            <p:ph type="body" idx="1"/>
          </p:nvPr>
        </p:nvSpPr>
        <p:spPr>
          <a:xfrm>
            <a:off x="452487" y="1574158"/>
            <a:ext cx="11349872" cy="5131442"/>
          </a:xfrm>
          <a:prstGeom prst="rect">
            <a:avLst/>
          </a:prstGeom>
          <a:noFill/>
          <a:ln>
            <a:noFill/>
          </a:ln>
        </p:spPr>
        <p:txBody>
          <a:bodyPr spcFirstLastPara="1" wrap="square" lIns="91425" tIns="45700" rIns="91425" bIns="45700" anchor="t" anchorCtr="0">
            <a:noAutofit/>
          </a:bodyPr>
          <a:lstStyle/>
          <a:p>
            <a:pPr indent="-457200"/>
            <a:r>
              <a:rPr lang="en-US" dirty="0"/>
              <a:t>In addition, non-DHP CCBs </a:t>
            </a:r>
            <a:r>
              <a:rPr lang="en-US" b="1" i="1" dirty="0"/>
              <a:t>may worsen heart failure and should not be used in acutely decompensated </a:t>
            </a:r>
            <a:r>
              <a:rPr lang="en-US" b="1" i="1" dirty="0" err="1"/>
              <a:t>HFrEF</a:t>
            </a:r>
            <a:r>
              <a:rPr lang="en-US" dirty="0"/>
              <a:t>.  </a:t>
            </a:r>
          </a:p>
          <a:p>
            <a:pPr marL="0" indent="0">
              <a:buNone/>
            </a:pPr>
            <a:endParaRPr lang="en-US" dirty="0"/>
          </a:p>
          <a:p>
            <a:pPr indent="-457200"/>
            <a:r>
              <a:rPr lang="en-US" dirty="0"/>
              <a:t>Once HF decompensation has been addressed (usually 24 hours of diuresis), non DHP CCBs can be resumed.</a:t>
            </a:r>
          </a:p>
          <a:p>
            <a:pPr indent="-457200"/>
            <a:endParaRPr dirty="0"/>
          </a:p>
          <a:p>
            <a:pPr marL="342900" indent="-342900"/>
            <a:r>
              <a:rPr lang="en-US" b="1" i="1" dirty="0"/>
              <a:t>Constipation</a:t>
            </a:r>
            <a:r>
              <a:rPr lang="en-US" dirty="0"/>
              <a:t>- especially verapamil (25%)</a:t>
            </a:r>
            <a:endParaRPr dirty="0"/>
          </a:p>
          <a:p>
            <a:pPr marL="342900" indent="-139700">
              <a:buNone/>
            </a:pPr>
            <a:endParaRPr dirty="0"/>
          </a:p>
          <a:p>
            <a:pPr marL="342900" indent="-139700">
              <a:buNone/>
            </a:pPr>
            <a:endParaRPr u="sng" dirty="0"/>
          </a:p>
        </p:txBody>
      </p:sp>
    </p:spTree>
    <p:extLst>
      <p:ext uri="{BB962C8B-B14F-4D97-AF65-F5344CB8AC3E}">
        <p14:creationId xmlns:p14="http://schemas.microsoft.com/office/powerpoint/2010/main" val="73144882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343"/>
        <p:cNvGrpSpPr/>
        <p:nvPr/>
      </p:nvGrpSpPr>
      <p:grpSpPr>
        <a:xfrm>
          <a:off x="0" y="0"/>
          <a:ext cx="0" cy="0"/>
          <a:chOff x="0" y="0"/>
          <a:chExt cx="0" cy="0"/>
        </a:xfrm>
      </p:grpSpPr>
      <p:sp>
        <p:nvSpPr>
          <p:cNvPr id="1344" name="Google Shape;1344;p175"/>
          <p:cNvSpPr txBox="1">
            <a:spLocks noGrp="1"/>
          </p:cNvSpPr>
          <p:nvPr>
            <p:ph type="title"/>
          </p:nvPr>
        </p:nvSpPr>
        <p:spPr>
          <a:xfrm>
            <a:off x="1981200" y="92076"/>
            <a:ext cx="8229600" cy="714041"/>
          </a:xfrm>
          <a:prstGeom prst="rect">
            <a:avLst/>
          </a:prstGeom>
          <a:noFill/>
          <a:ln>
            <a:noFill/>
          </a:ln>
        </p:spPr>
        <p:txBody>
          <a:bodyPr spcFirstLastPara="1" wrap="square" lIns="50800" tIns="50800" rIns="50800" bIns="50800" anchor="ctr" anchorCtr="0">
            <a:noAutofit/>
          </a:bodyPr>
          <a:lstStyle/>
          <a:p>
            <a:r>
              <a:rPr lang="en-US"/>
              <a:t>CCB Overdose</a:t>
            </a:r>
            <a:endParaRPr/>
          </a:p>
        </p:txBody>
      </p:sp>
      <p:sp>
        <p:nvSpPr>
          <p:cNvPr id="1345" name="Google Shape;1345;p175"/>
          <p:cNvSpPr txBox="1">
            <a:spLocks noGrp="1"/>
          </p:cNvSpPr>
          <p:nvPr>
            <p:ph type="body" idx="1"/>
          </p:nvPr>
        </p:nvSpPr>
        <p:spPr>
          <a:xfrm>
            <a:off x="641023" y="950496"/>
            <a:ext cx="10906811" cy="5755105"/>
          </a:xfrm>
          <a:prstGeom prst="rect">
            <a:avLst/>
          </a:prstGeom>
          <a:noFill/>
          <a:ln>
            <a:noFill/>
          </a:ln>
        </p:spPr>
        <p:txBody>
          <a:bodyPr spcFirstLastPara="1" wrap="square" lIns="91425" tIns="45700" rIns="91425" bIns="45700" anchor="t" anchorCtr="0">
            <a:noAutofit/>
          </a:bodyPr>
          <a:lstStyle/>
          <a:p>
            <a:pPr marL="342900" indent="-342900">
              <a:spcBef>
                <a:spcPts val="600"/>
              </a:spcBef>
              <a:spcAft>
                <a:spcPts val="600"/>
              </a:spcAft>
            </a:pPr>
            <a:r>
              <a:rPr lang="en-US"/>
              <a:t>At 5-10x the usual dose, patients develop </a:t>
            </a:r>
            <a:r>
              <a:rPr lang="en-US" b="1" i="1"/>
              <a:t>bradycardia and prolongation of the PR interval </a:t>
            </a:r>
            <a:r>
              <a:rPr lang="en-US"/>
              <a:t>in addition to </a:t>
            </a:r>
            <a:r>
              <a:rPr lang="en-US" b="1" i="1"/>
              <a:t>hypotension</a:t>
            </a:r>
            <a:r>
              <a:rPr lang="en-US"/>
              <a:t> due to the effects of the CCB, even a DHP CCB, on the AV node.</a:t>
            </a:r>
            <a:endParaRPr/>
          </a:p>
          <a:p>
            <a:pPr marL="342900" indent="-139700">
              <a:spcBef>
                <a:spcPts val="600"/>
              </a:spcBef>
              <a:spcAft>
                <a:spcPts val="600"/>
              </a:spcAft>
              <a:buNone/>
            </a:pPr>
            <a:endParaRPr sz="2400"/>
          </a:p>
          <a:p>
            <a:pPr marL="342900" indent="-342900">
              <a:spcBef>
                <a:spcPts val="600"/>
              </a:spcBef>
              <a:spcAft>
                <a:spcPts val="600"/>
              </a:spcAft>
            </a:pPr>
            <a:r>
              <a:rPr lang="en-US"/>
              <a:t>Patients develop </a:t>
            </a:r>
            <a:r>
              <a:rPr lang="en-US" b="1" i="1"/>
              <a:t>hyperglycemia</a:t>
            </a:r>
            <a:r>
              <a:rPr lang="en-US"/>
              <a:t> as the pancreas is prevented from releasing insulin, although this is rarely clinically significant.</a:t>
            </a:r>
            <a:endParaRPr/>
          </a:p>
          <a:p>
            <a:pPr marL="342900" indent="-139700">
              <a:buNone/>
            </a:pPr>
            <a:endParaRPr/>
          </a:p>
          <a:p>
            <a:pPr marL="0" indent="0">
              <a:buNone/>
            </a:pPr>
            <a:endParaRPr/>
          </a:p>
          <a:p>
            <a:pPr marL="342900" indent="-139700">
              <a:buNone/>
            </a:pPr>
            <a:endParaRPr u="sng"/>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350"/>
        <p:cNvGrpSpPr/>
        <p:nvPr/>
      </p:nvGrpSpPr>
      <p:grpSpPr>
        <a:xfrm>
          <a:off x="0" y="0"/>
          <a:ext cx="0" cy="0"/>
          <a:chOff x="0" y="0"/>
          <a:chExt cx="0" cy="0"/>
        </a:xfrm>
      </p:grpSpPr>
      <p:sp>
        <p:nvSpPr>
          <p:cNvPr id="1351" name="Google Shape;1351;p176"/>
          <p:cNvSpPr txBox="1">
            <a:spLocks noGrp="1"/>
          </p:cNvSpPr>
          <p:nvPr>
            <p:ph type="title"/>
          </p:nvPr>
        </p:nvSpPr>
        <p:spPr>
          <a:xfrm>
            <a:off x="1981200" y="92076"/>
            <a:ext cx="8229600" cy="974725"/>
          </a:xfrm>
          <a:prstGeom prst="rect">
            <a:avLst/>
          </a:prstGeom>
          <a:noFill/>
          <a:ln>
            <a:noFill/>
          </a:ln>
        </p:spPr>
        <p:txBody>
          <a:bodyPr spcFirstLastPara="1" wrap="square" lIns="50800" tIns="50800" rIns="50800" bIns="50800" anchor="ctr" anchorCtr="0">
            <a:noAutofit/>
          </a:bodyPr>
          <a:lstStyle/>
          <a:p>
            <a:r>
              <a:rPr lang="en-US"/>
              <a:t>CCB Overdose</a:t>
            </a:r>
            <a:endParaRPr/>
          </a:p>
        </p:txBody>
      </p:sp>
      <p:sp>
        <p:nvSpPr>
          <p:cNvPr id="1352" name="Google Shape;1352;p176"/>
          <p:cNvSpPr txBox="1">
            <a:spLocks noGrp="1"/>
          </p:cNvSpPr>
          <p:nvPr>
            <p:ph type="body" idx="1"/>
          </p:nvPr>
        </p:nvSpPr>
        <p:spPr>
          <a:xfrm>
            <a:off x="565608" y="1066800"/>
            <a:ext cx="11123629" cy="5638800"/>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a:t>Despite hypotension, CCB-poisoned persons may maintain clear mentation, but </a:t>
            </a:r>
            <a:r>
              <a:rPr lang="en-US" b="1" i="1"/>
              <a:t>neurologic status may deteriorate precipitously</a:t>
            </a:r>
            <a:r>
              <a:rPr lang="en-US"/>
              <a:t> once their cerebral perfusion becomes critically low- recheck their neuro status frequently!!</a:t>
            </a:r>
          </a:p>
          <a:p>
            <a:pPr marL="342900" indent="-342900">
              <a:spcBef>
                <a:spcPts val="0"/>
              </a:spcBef>
            </a:pPr>
            <a:endParaRPr sz="1000"/>
          </a:p>
          <a:p>
            <a:pPr marL="342900" indent="-342900"/>
            <a:r>
              <a:rPr lang="en-US"/>
              <a:t>Initially give IVF resuscitation for hypotension, atropine for bradycardia- it may not be effective.</a:t>
            </a:r>
          </a:p>
          <a:p>
            <a:pPr marL="342900" indent="-342900"/>
            <a:endParaRPr sz="1000"/>
          </a:p>
          <a:p>
            <a:pPr marL="342900" indent="-342900"/>
            <a:r>
              <a:rPr lang="en-US"/>
              <a:t>GI decontamination (AC), administration of IV calcium, glucagon, pressors (</a:t>
            </a:r>
            <a:r>
              <a:rPr lang="en-US" err="1"/>
              <a:t>norepi</a:t>
            </a:r>
            <a:r>
              <a:rPr lang="en-US"/>
              <a:t>) and high dose insulin therapy can all be used.</a:t>
            </a:r>
            <a:endParaRPr/>
          </a:p>
          <a:p>
            <a:pPr marL="342900" indent="-139700">
              <a:buNone/>
            </a:pPr>
            <a:endParaRPr/>
          </a:p>
          <a:p>
            <a:pPr marL="342900" indent="-139700">
              <a:buNone/>
            </a:pPr>
            <a:endParaRPr u="sng"/>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357"/>
        <p:cNvGrpSpPr/>
        <p:nvPr/>
      </p:nvGrpSpPr>
      <p:grpSpPr>
        <a:xfrm>
          <a:off x="0" y="0"/>
          <a:ext cx="0" cy="0"/>
          <a:chOff x="0" y="0"/>
          <a:chExt cx="0" cy="0"/>
        </a:xfrm>
      </p:grpSpPr>
      <p:sp>
        <p:nvSpPr>
          <p:cNvPr id="1358" name="Google Shape;1358;p177"/>
          <p:cNvSpPr txBox="1">
            <a:spLocks noGrp="1"/>
          </p:cNvSpPr>
          <p:nvPr>
            <p:ph type="title"/>
          </p:nvPr>
        </p:nvSpPr>
        <p:spPr>
          <a:xfrm>
            <a:off x="1981200" y="92076"/>
            <a:ext cx="8229600" cy="974725"/>
          </a:xfrm>
          <a:prstGeom prst="rect">
            <a:avLst/>
          </a:prstGeom>
          <a:noFill/>
          <a:ln>
            <a:noFill/>
          </a:ln>
        </p:spPr>
        <p:txBody>
          <a:bodyPr spcFirstLastPara="1" wrap="square" lIns="50800" tIns="50800" rIns="50800" bIns="50800" anchor="ctr" anchorCtr="0">
            <a:noAutofit/>
          </a:bodyPr>
          <a:lstStyle/>
          <a:p>
            <a:r>
              <a:rPr lang="en-US"/>
              <a:t>β-Receptors</a:t>
            </a:r>
            <a:endParaRPr/>
          </a:p>
        </p:txBody>
      </p:sp>
      <p:sp>
        <p:nvSpPr>
          <p:cNvPr id="1359" name="Google Shape;1359;p177"/>
          <p:cNvSpPr txBox="1">
            <a:spLocks noGrp="1"/>
          </p:cNvSpPr>
          <p:nvPr>
            <p:ph type="body" idx="1"/>
          </p:nvPr>
        </p:nvSpPr>
        <p:spPr>
          <a:xfrm>
            <a:off x="659875" y="1461154"/>
            <a:ext cx="10765411" cy="5244445"/>
          </a:xfrm>
          <a:prstGeom prst="rect">
            <a:avLst/>
          </a:prstGeom>
          <a:noFill/>
          <a:ln>
            <a:noFill/>
          </a:ln>
        </p:spPr>
        <p:txBody>
          <a:bodyPr spcFirstLastPara="1" wrap="square" lIns="91425" tIns="45700" rIns="91425" bIns="45700" anchor="t" anchorCtr="0">
            <a:noAutofit/>
          </a:bodyPr>
          <a:lstStyle/>
          <a:p>
            <a:pPr marL="342900" indent="-342900">
              <a:spcBef>
                <a:spcPts val="0"/>
              </a:spcBef>
              <a:buSzPts val="3000"/>
            </a:pPr>
            <a:r>
              <a:rPr lang="en-US" sz="3000" dirty="0"/>
              <a:t>Distributed throughout the body and concentrated differently in certain organs &amp; tissues</a:t>
            </a:r>
            <a:endParaRPr dirty="0"/>
          </a:p>
          <a:p>
            <a:pPr marL="342900" indent="-279400">
              <a:buSzPts val="1000"/>
              <a:buNone/>
            </a:pPr>
            <a:endParaRPr sz="1000" dirty="0"/>
          </a:p>
          <a:p>
            <a:pPr marL="342900" indent="-342900">
              <a:buSzPts val="3100"/>
            </a:pPr>
            <a:r>
              <a:rPr lang="en-US" sz="3100" u="sng" dirty="0"/>
              <a:t>β1 receptors</a:t>
            </a:r>
            <a:r>
              <a:rPr lang="en-US" sz="3100" dirty="0"/>
              <a:t>: heart, kidney</a:t>
            </a:r>
            <a:endParaRPr dirty="0"/>
          </a:p>
          <a:p>
            <a:pPr marL="782638" lvl="1" indent="-325438">
              <a:buSzPts val="3100"/>
            </a:pPr>
            <a:r>
              <a:rPr lang="en-US" sz="3100" dirty="0"/>
              <a:t>stimulation increases HR, heart contractility, renin release</a:t>
            </a:r>
            <a:endParaRPr dirty="0"/>
          </a:p>
          <a:p>
            <a:pPr marL="342900" indent="-342900">
              <a:buSzPts val="3100"/>
            </a:pPr>
            <a:r>
              <a:rPr lang="en-US" sz="3100" u="sng" dirty="0"/>
              <a:t>β2 receptors</a:t>
            </a:r>
            <a:r>
              <a:rPr lang="en-US" sz="3100" dirty="0"/>
              <a:t>: </a:t>
            </a:r>
            <a:r>
              <a:rPr lang="en-US" sz="3100" b="1" dirty="0"/>
              <a:t>lungs</a:t>
            </a:r>
            <a:r>
              <a:rPr lang="en-US" sz="3100" dirty="0"/>
              <a:t>, liver, pancreas, arteriolar smooth muscle</a:t>
            </a:r>
            <a:endParaRPr dirty="0"/>
          </a:p>
          <a:p>
            <a:pPr marL="782638" lvl="1" indent="-325438">
              <a:buSzPts val="3100"/>
            </a:pPr>
            <a:r>
              <a:rPr lang="en-US" sz="3100" dirty="0"/>
              <a:t>stimulation causes </a:t>
            </a:r>
            <a:r>
              <a:rPr lang="en-US" sz="3100" b="1" dirty="0"/>
              <a:t>bronchodilation</a:t>
            </a:r>
            <a:r>
              <a:rPr lang="en-US" sz="3100" dirty="0"/>
              <a:t> and vasodilation </a:t>
            </a:r>
            <a:endParaRPr dirty="0"/>
          </a:p>
          <a:p>
            <a:pPr marL="782638" lvl="1" indent="-325438">
              <a:buSzPts val="3100"/>
            </a:pPr>
            <a:r>
              <a:rPr lang="en-US" sz="3100" dirty="0"/>
              <a:t>mediate insulin secretion and glycogenolysis</a:t>
            </a:r>
            <a:endParaRPr dirty="0"/>
          </a:p>
          <a:p>
            <a:pPr marL="342900" indent="-139700">
              <a:buNone/>
            </a:pPr>
            <a:endParaRPr dirty="0">
              <a:latin typeface="Constantia"/>
              <a:ea typeface="Constantia"/>
              <a:cs typeface="Constantia"/>
              <a:sym typeface="Constantia"/>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365"/>
        <p:cNvGrpSpPr/>
        <p:nvPr/>
      </p:nvGrpSpPr>
      <p:grpSpPr>
        <a:xfrm>
          <a:off x="0" y="0"/>
          <a:ext cx="0" cy="0"/>
          <a:chOff x="0" y="0"/>
          <a:chExt cx="0" cy="0"/>
        </a:xfrm>
      </p:grpSpPr>
      <p:sp>
        <p:nvSpPr>
          <p:cNvPr id="1366" name="Google Shape;1366;p178"/>
          <p:cNvSpPr txBox="1">
            <a:spLocks noGrp="1"/>
          </p:cNvSpPr>
          <p:nvPr>
            <p:ph type="title"/>
          </p:nvPr>
        </p:nvSpPr>
        <p:spPr>
          <a:xfrm>
            <a:off x="1981200" y="92076"/>
            <a:ext cx="8229600" cy="1050925"/>
          </a:xfrm>
          <a:prstGeom prst="rect">
            <a:avLst/>
          </a:prstGeom>
          <a:noFill/>
          <a:ln>
            <a:noFill/>
          </a:ln>
        </p:spPr>
        <p:txBody>
          <a:bodyPr spcFirstLastPara="1" wrap="square" lIns="50800" tIns="50800" rIns="50800" bIns="50800" anchor="ctr" anchorCtr="0">
            <a:noAutofit/>
          </a:bodyPr>
          <a:lstStyle/>
          <a:p>
            <a:r>
              <a:rPr lang="en-US"/>
              <a:t>β-Blockers MOA</a:t>
            </a:r>
            <a:endParaRPr/>
          </a:p>
        </p:txBody>
      </p:sp>
      <p:sp>
        <p:nvSpPr>
          <p:cNvPr id="1367" name="Google Shape;1367;p178"/>
          <p:cNvSpPr txBox="1">
            <a:spLocks noGrp="1"/>
          </p:cNvSpPr>
          <p:nvPr>
            <p:ph type="body" idx="1"/>
          </p:nvPr>
        </p:nvSpPr>
        <p:spPr>
          <a:xfrm>
            <a:off x="377072" y="1143000"/>
            <a:ext cx="11481848" cy="5562600"/>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sz="2800" err="1"/>
              <a:t>Cardioselective</a:t>
            </a:r>
            <a:r>
              <a:rPr lang="en-US" sz="2800"/>
              <a:t> Beta-blockers bind to and block the cardiac beta 1 receptors reducing responsiveness to sympathetic activity (epinephrine/norepinephrine); </a:t>
            </a:r>
            <a:r>
              <a:rPr lang="en-US" sz="2800" b="1"/>
              <a:t>at higher doses they may also target beta 2 receptors in the lungs</a:t>
            </a:r>
          </a:p>
          <a:p>
            <a:pPr marL="342900" indent="-342900">
              <a:spcBef>
                <a:spcPts val="0"/>
              </a:spcBef>
            </a:pPr>
            <a:endParaRPr lang="en-US" sz="2800"/>
          </a:p>
          <a:p>
            <a:pPr marL="342900" indent="-342900">
              <a:spcBef>
                <a:spcPts val="0"/>
              </a:spcBef>
            </a:pPr>
            <a:r>
              <a:rPr lang="en-US" sz="2800"/>
              <a:t>Non-</a:t>
            </a:r>
            <a:r>
              <a:rPr lang="en-US" sz="2800" err="1"/>
              <a:t>Cardioselective</a:t>
            </a:r>
            <a:r>
              <a:rPr lang="en-US" sz="2800"/>
              <a:t> Beta-blockers bind to and block B1 and B2 receptors.  </a:t>
            </a:r>
            <a:endParaRPr sz="2800"/>
          </a:p>
          <a:p>
            <a:pPr marL="0" indent="0">
              <a:buNone/>
            </a:pPr>
            <a:endParaRPr sz="2800"/>
          </a:p>
          <a:p>
            <a:pPr marL="342900" indent="-342900"/>
            <a:r>
              <a:rPr lang="en-US" sz="2800"/>
              <a:t>Therefore, use caution in the setting of </a:t>
            </a:r>
            <a:r>
              <a:rPr lang="en-US" sz="2800" b="1" i="1"/>
              <a:t>asthma or chronic obstructive pulmonary disease </a:t>
            </a:r>
            <a:r>
              <a:rPr lang="en-US" sz="2800"/>
              <a:t>(COPD), </a:t>
            </a:r>
            <a:r>
              <a:rPr lang="en-US" sz="2800" u="sng"/>
              <a:t>regardless of beta-selectivity profile.</a:t>
            </a:r>
            <a:r>
              <a:rPr lang="en-US" sz="2800"/>
              <a:t> </a:t>
            </a:r>
            <a:endParaRPr sz="2800"/>
          </a:p>
          <a:p>
            <a:pPr marL="342900" indent="-139700">
              <a:lnSpc>
                <a:spcPct val="90000"/>
              </a:lnSpc>
              <a:buNone/>
            </a:pPr>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372"/>
        <p:cNvGrpSpPr/>
        <p:nvPr/>
      </p:nvGrpSpPr>
      <p:grpSpPr>
        <a:xfrm>
          <a:off x="0" y="0"/>
          <a:ext cx="0" cy="0"/>
          <a:chOff x="0" y="0"/>
          <a:chExt cx="0" cy="0"/>
        </a:xfrm>
      </p:grpSpPr>
      <p:sp>
        <p:nvSpPr>
          <p:cNvPr id="1373" name="Google Shape;1373;p179"/>
          <p:cNvSpPr txBox="1">
            <a:spLocks noGrp="1"/>
          </p:cNvSpPr>
          <p:nvPr>
            <p:ph type="title"/>
          </p:nvPr>
        </p:nvSpPr>
        <p:spPr>
          <a:xfrm>
            <a:off x="1981200" y="92076"/>
            <a:ext cx="8229600" cy="1050925"/>
          </a:xfrm>
          <a:prstGeom prst="rect">
            <a:avLst/>
          </a:prstGeom>
          <a:noFill/>
          <a:ln>
            <a:noFill/>
          </a:ln>
        </p:spPr>
        <p:txBody>
          <a:bodyPr spcFirstLastPara="1" wrap="square" lIns="50800" tIns="50800" rIns="50800" bIns="50800" anchor="ctr" anchorCtr="0">
            <a:noAutofit/>
          </a:bodyPr>
          <a:lstStyle/>
          <a:p>
            <a:r>
              <a:rPr lang="en-US"/>
              <a:t>Indications for β-Blockers </a:t>
            </a:r>
            <a:endParaRPr b="1"/>
          </a:p>
        </p:txBody>
      </p:sp>
      <p:sp>
        <p:nvSpPr>
          <p:cNvPr id="1374" name="Google Shape;1374;p179"/>
          <p:cNvSpPr txBox="1">
            <a:spLocks noGrp="1"/>
          </p:cNvSpPr>
          <p:nvPr>
            <p:ph type="body" idx="1"/>
          </p:nvPr>
        </p:nvSpPr>
        <p:spPr>
          <a:xfrm>
            <a:off x="575035" y="1143001"/>
            <a:ext cx="11142483" cy="5562600"/>
          </a:xfrm>
          <a:prstGeom prst="rect">
            <a:avLst/>
          </a:prstGeom>
          <a:noFill/>
          <a:ln>
            <a:noFill/>
          </a:ln>
        </p:spPr>
        <p:txBody>
          <a:bodyPr spcFirstLastPara="1" wrap="square" lIns="91425" tIns="45700" rIns="91425" bIns="45700" anchor="t" anchorCtr="0">
            <a:noAutofit/>
          </a:bodyPr>
          <a:lstStyle/>
          <a:p>
            <a:pPr marL="91440" indent="-342900">
              <a:spcBef>
                <a:spcPts val="600"/>
              </a:spcBef>
            </a:pPr>
            <a:r>
              <a:rPr lang="en-US" sz="2800" dirty="0"/>
              <a:t>Beta blockers are </a:t>
            </a:r>
            <a:r>
              <a:rPr lang="en-US" sz="2800" b="1" dirty="0"/>
              <a:t>not recommended as first line treatment of hypertension except</a:t>
            </a:r>
            <a:r>
              <a:rPr lang="en-US" sz="2800" dirty="0"/>
              <a:t> in the case of a compelling cardiac indication: </a:t>
            </a:r>
          </a:p>
          <a:p>
            <a:pPr marL="548640" lvl="2" indent="-342900">
              <a:spcBef>
                <a:spcPts val="600"/>
              </a:spcBef>
            </a:pPr>
            <a:r>
              <a:rPr lang="en-US" sz="2800" b="1" i="1" dirty="0"/>
              <a:t>Post-MI: </a:t>
            </a:r>
            <a:r>
              <a:rPr lang="en-US" sz="2800" dirty="0"/>
              <a:t>started after STEMI or NSTEMI, beta blockers are first line</a:t>
            </a:r>
          </a:p>
          <a:p>
            <a:pPr marL="548640" lvl="2" indent="-342900">
              <a:lnSpc>
                <a:spcPts val="2300"/>
              </a:lnSpc>
              <a:spcBef>
                <a:spcPts val="0"/>
              </a:spcBef>
            </a:pPr>
            <a:endParaRPr lang="en-US" sz="2800" dirty="0"/>
          </a:p>
          <a:p>
            <a:pPr marL="548640" lvl="2" indent="-342900">
              <a:spcBef>
                <a:spcPts val="600"/>
              </a:spcBef>
            </a:pPr>
            <a:r>
              <a:rPr lang="en-US" sz="2800" b="1" i="1" dirty="0"/>
              <a:t>Compensated HFrEF </a:t>
            </a:r>
            <a:r>
              <a:rPr lang="en-US" sz="2800" dirty="0"/>
              <a:t>and any </a:t>
            </a:r>
            <a:r>
              <a:rPr lang="en-US" sz="2800" b="1" i="1" dirty="0"/>
              <a:t>symptomatic or asymptomatic left ventricular dysfunction</a:t>
            </a:r>
            <a:r>
              <a:rPr lang="en-US" sz="2800" dirty="0"/>
              <a:t>.  Patients with a decrease in LV EF &lt; 50% are begun on beta blockers</a:t>
            </a:r>
          </a:p>
          <a:p>
            <a:pPr marL="205740" lvl="2" indent="0">
              <a:lnSpc>
                <a:spcPts val="2300"/>
              </a:lnSpc>
              <a:spcBef>
                <a:spcPts val="0"/>
              </a:spcBef>
              <a:buNone/>
            </a:pPr>
            <a:endParaRPr lang="en-US" sz="2800" dirty="0"/>
          </a:p>
          <a:p>
            <a:pPr marL="548640" lvl="2" indent="-342900">
              <a:spcBef>
                <a:spcPts val="600"/>
              </a:spcBef>
            </a:pPr>
            <a:r>
              <a:rPr lang="en-US" sz="2800" dirty="0"/>
              <a:t>CAD and </a:t>
            </a:r>
            <a:r>
              <a:rPr lang="en-US" sz="2800" dirty="0" err="1"/>
              <a:t>Afib</a:t>
            </a:r>
            <a:r>
              <a:rPr lang="en-US" sz="2800" dirty="0"/>
              <a:t> are other indications</a:t>
            </a:r>
            <a:endParaRPr sz="2800" dirty="0"/>
          </a:p>
          <a:p>
            <a:pPr marL="342900" indent="-139700">
              <a:buNone/>
            </a:pPr>
            <a:endParaRPr lang="en-US" dirty="0"/>
          </a:p>
          <a:p>
            <a:pPr marL="342900" indent="-139700">
              <a:buNone/>
            </a:pPr>
            <a:r>
              <a:rPr lang="en-US" dirty="0"/>
              <a:t>BB have not been shown to reduce risk of stroke or mortality associated with HTN</a:t>
            </a:r>
            <a:endParaRPr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372"/>
        <p:cNvGrpSpPr/>
        <p:nvPr/>
      </p:nvGrpSpPr>
      <p:grpSpPr>
        <a:xfrm>
          <a:off x="0" y="0"/>
          <a:ext cx="0" cy="0"/>
          <a:chOff x="0" y="0"/>
          <a:chExt cx="0" cy="0"/>
        </a:xfrm>
      </p:grpSpPr>
      <p:sp>
        <p:nvSpPr>
          <p:cNvPr id="1373" name="Google Shape;1373;p179"/>
          <p:cNvSpPr txBox="1">
            <a:spLocks noGrp="1"/>
          </p:cNvSpPr>
          <p:nvPr>
            <p:ph type="title"/>
          </p:nvPr>
        </p:nvSpPr>
        <p:spPr>
          <a:xfrm>
            <a:off x="1981200" y="92076"/>
            <a:ext cx="8229600" cy="1050925"/>
          </a:xfrm>
          <a:prstGeom prst="rect">
            <a:avLst/>
          </a:prstGeom>
          <a:noFill/>
          <a:ln>
            <a:noFill/>
          </a:ln>
        </p:spPr>
        <p:txBody>
          <a:bodyPr spcFirstLastPara="1" wrap="square" lIns="50800" tIns="50800" rIns="50800" bIns="50800" anchor="ctr" anchorCtr="0">
            <a:noAutofit/>
          </a:bodyPr>
          <a:lstStyle/>
          <a:p>
            <a:r>
              <a:rPr lang="en-US"/>
              <a:t>Indications for β-Blockers </a:t>
            </a:r>
            <a:endParaRPr b="1"/>
          </a:p>
        </p:txBody>
      </p:sp>
      <p:sp>
        <p:nvSpPr>
          <p:cNvPr id="1374" name="Google Shape;1374;p179"/>
          <p:cNvSpPr txBox="1">
            <a:spLocks noGrp="1"/>
          </p:cNvSpPr>
          <p:nvPr>
            <p:ph type="body" idx="1"/>
          </p:nvPr>
        </p:nvSpPr>
        <p:spPr>
          <a:xfrm>
            <a:off x="452487" y="1238492"/>
            <a:ext cx="11095348" cy="5467109"/>
          </a:xfrm>
          <a:prstGeom prst="rect">
            <a:avLst/>
          </a:prstGeom>
          <a:noFill/>
          <a:ln>
            <a:noFill/>
          </a:ln>
        </p:spPr>
        <p:txBody>
          <a:bodyPr spcFirstLastPara="1" wrap="square" lIns="91425" tIns="45700" rIns="91425" bIns="45700" anchor="t" anchorCtr="0">
            <a:noAutofit/>
          </a:bodyPr>
          <a:lstStyle/>
          <a:p>
            <a:pPr indent="-457200"/>
            <a:r>
              <a:rPr lang="en-US"/>
              <a:t>Beta blockers are </a:t>
            </a:r>
            <a:r>
              <a:rPr lang="en-US" b="1" i="1"/>
              <a:t>less effective for hypertension in Black patients</a:t>
            </a:r>
            <a:r>
              <a:rPr lang="en-US"/>
              <a:t> than in other ethnicities.</a:t>
            </a:r>
          </a:p>
          <a:p>
            <a:pPr lvl="1" indent="-457200"/>
            <a:r>
              <a:rPr lang="en-US"/>
              <a:t>But remember that </a:t>
            </a:r>
            <a:r>
              <a:rPr lang="en-US" b="1"/>
              <a:t>compelling indications </a:t>
            </a:r>
            <a:r>
              <a:rPr lang="en-US"/>
              <a:t>trump all else- so beta blockers should be used first line for HTN in a Black patient with prior MI, HF or asymptomatic LV dysfunction.</a:t>
            </a:r>
          </a:p>
          <a:p>
            <a:pPr marL="342900" indent="-342900"/>
            <a:endParaRPr lang="en-US"/>
          </a:p>
          <a:p>
            <a:pPr marL="342900" indent="-342900"/>
            <a:r>
              <a:rPr lang="en-US"/>
              <a:t>Beta blockers are to be </a:t>
            </a:r>
            <a:r>
              <a:rPr lang="en-US" b="1" i="1"/>
              <a:t>used with caution in patients older than 60 years </a:t>
            </a:r>
            <a:r>
              <a:rPr lang="en-US"/>
              <a:t>in the absence of compelling indications.</a:t>
            </a:r>
          </a:p>
        </p:txBody>
      </p:sp>
    </p:spTree>
    <p:extLst>
      <p:ext uri="{BB962C8B-B14F-4D97-AF65-F5344CB8AC3E}">
        <p14:creationId xmlns:p14="http://schemas.microsoft.com/office/powerpoint/2010/main" val="115339412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379"/>
        <p:cNvGrpSpPr/>
        <p:nvPr/>
      </p:nvGrpSpPr>
      <p:grpSpPr>
        <a:xfrm>
          <a:off x="0" y="0"/>
          <a:ext cx="0" cy="0"/>
          <a:chOff x="0" y="0"/>
          <a:chExt cx="0" cy="0"/>
        </a:xfrm>
      </p:grpSpPr>
      <p:sp>
        <p:nvSpPr>
          <p:cNvPr id="1380" name="Google Shape;1380;gf7b10500a7_0_0"/>
          <p:cNvSpPr txBox="1">
            <a:spLocks noGrp="1"/>
          </p:cNvSpPr>
          <p:nvPr>
            <p:ph type="title"/>
          </p:nvPr>
        </p:nvSpPr>
        <p:spPr>
          <a:xfrm>
            <a:off x="1981200" y="92076"/>
            <a:ext cx="8229600" cy="882483"/>
          </a:xfrm>
          <a:prstGeom prst="rect">
            <a:avLst/>
          </a:prstGeom>
          <a:noFill/>
          <a:ln>
            <a:noFill/>
          </a:ln>
        </p:spPr>
        <p:txBody>
          <a:bodyPr spcFirstLastPara="1" wrap="square" lIns="50800" tIns="50800" rIns="50800" bIns="50800" anchor="ctr" anchorCtr="0">
            <a:noAutofit/>
          </a:bodyPr>
          <a:lstStyle/>
          <a:p>
            <a:r>
              <a:rPr lang="en-US"/>
              <a:t>β-Blockers Side Effects</a:t>
            </a:r>
            <a:endParaRPr/>
          </a:p>
        </p:txBody>
      </p:sp>
      <p:sp>
        <p:nvSpPr>
          <p:cNvPr id="1381" name="Google Shape;1381;gf7b10500a7_0_0"/>
          <p:cNvSpPr txBox="1">
            <a:spLocks noGrp="1"/>
          </p:cNvSpPr>
          <p:nvPr>
            <p:ph type="body" idx="1"/>
          </p:nvPr>
        </p:nvSpPr>
        <p:spPr>
          <a:xfrm>
            <a:off x="631595" y="1142975"/>
            <a:ext cx="10850251" cy="5622950"/>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a:t>Just like the DHP CCBs, beta blockers may also </a:t>
            </a:r>
            <a:r>
              <a:rPr lang="en-US" b="1" i="1"/>
              <a:t>precipitate heart block or bradyarrhythmia.  </a:t>
            </a:r>
          </a:p>
          <a:p>
            <a:pPr marL="342900" indent="-342900">
              <a:spcBef>
                <a:spcPts val="0"/>
              </a:spcBef>
            </a:pPr>
            <a:endParaRPr lang="en-US" b="1" i="1"/>
          </a:p>
          <a:p>
            <a:pPr marL="342900" indent="-342900">
              <a:spcBef>
                <a:spcPts val="0"/>
              </a:spcBef>
            </a:pPr>
            <a:r>
              <a:rPr lang="en-US"/>
              <a:t>If a patient develops a bradycardic arrhythmia or heart block while on a beta blocker, the drug should be d/c.</a:t>
            </a:r>
            <a:endParaRPr/>
          </a:p>
          <a:p>
            <a:pPr marL="342900" indent="-215900">
              <a:buSzPts val="2000"/>
              <a:buNone/>
            </a:pPr>
            <a:endParaRPr sz="1000"/>
          </a:p>
          <a:p>
            <a:pPr marL="342900" indent="-342900"/>
            <a:r>
              <a:rPr lang="en-US"/>
              <a:t>Other side effects associated with b-blockers include </a:t>
            </a:r>
            <a:r>
              <a:rPr lang="en-US" b="1" i="1"/>
              <a:t>reduced sexual function in men (impotence), fatigue, and reduced exercise tolerance.</a:t>
            </a:r>
          </a:p>
          <a:p>
            <a:pPr marL="0" indent="0">
              <a:buNone/>
            </a:pPr>
            <a:endParaRPr b="1" i="1"/>
          </a:p>
          <a:p>
            <a:pPr marL="342900" indent="-279400">
              <a:lnSpc>
                <a:spcPct val="90000"/>
              </a:lnSpc>
              <a:buSzPts val="1000"/>
              <a:buNone/>
            </a:pPr>
            <a:endParaRPr sz="100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386"/>
        <p:cNvGrpSpPr/>
        <p:nvPr/>
      </p:nvGrpSpPr>
      <p:grpSpPr>
        <a:xfrm>
          <a:off x="0" y="0"/>
          <a:ext cx="0" cy="0"/>
          <a:chOff x="0" y="0"/>
          <a:chExt cx="0" cy="0"/>
        </a:xfrm>
      </p:grpSpPr>
      <p:sp>
        <p:nvSpPr>
          <p:cNvPr id="1387" name="Google Shape;1387;p180"/>
          <p:cNvSpPr txBox="1">
            <a:spLocks noGrp="1"/>
          </p:cNvSpPr>
          <p:nvPr>
            <p:ph type="title"/>
          </p:nvPr>
        </p:nvSpPr>
        <p:spPr>
          <a:xfrm>
            <a:off x="1981200" y="92076"/>
            <a:ext cx="8229600" cy="1050925"/>
          </a:xfrm>
          <a:prstGeom prst="rect">
            <a:avLst/>
          </a:prstGeom>
          <a:noFill/>
          <a:ln>
            <a:noFill/>
          </a:ln>
        </p:spPr>
        <p:txBody>
          <a:bodyPr spcFirstLastPara="1" wrap="square" lIns="50800" tIns="50800" rIns="50800" bIns="50800" anchor="ctr" anchorCtr="0">
            <a:noAutofit/>
          </a:bodyPr>
          <a:lstStyle/>
          <a:p>
            <a:r>
              <a:rPr lang="en-US"/>
              <a:t>Diabetics and β-Blockers</a:t>
            </a:r>
            <a:endParaRPr/>
          </a:p>
        </p:txBody>
      </p:sp>
      <p:sp>
        <p:nvSpPr>
          <p:cNvPr id="1388" name="Google Shape;1388;p180"/>
          <p:cNvSpPr txBox="1">
            <a:spLocks noGrp="1"/>
          </p:cNvSpPr>
          <p:nvPr>
            <p:ph type="body" idx="1"/>
          </p:nvPr>
        </p:nvSpPr>
        <p:spPr>
          <a:xfrm>
            <a:off x="443060" y="1143001"/>
            <a:ext cx="11227324" cy="5622924"/>
          </a:xfrm>
          <a:prstGeom prst="rect">
            <a:avLst/>
          </a:prstGeom>
          <a:noFill/>
          <a:ln>
            <a:noFill/>
          </a:ln>
        </p:spPr>
        <p:txBody>
          <a:bodyPr spcFirstLastPara="1" wrap="square" lIns="91425" tIns="45700" rIns="91425" bIns="45700" anchor="t" anchorCtr="0">
            <a:noAutofit/>
          </a:bodyPr>
          <a:lstStyle/>
          <a:p>
            <a:pPr indent="-457200"/>
            <a:r>
              <a:rPr lang="en-US" dirty="0"/>
              <a:t>When a person becomes hypoglycemic, the hypoglycemia activates the sympathetic nervous system → causing tremors, sweating, increased heart rate and +/- palpitations.</a:t>
            </a:r>
          </a:p>
          <a:p>
            <a:pPr marL="342900" indent="-342900"/>
            <a:endParaRPr sz="1000" dirty="0"/>
          </a:p>
          <a:p>
            <a:pPr marL="342900" indent="-342900"/>
            <a:r>
              <a:rPr lang="en-US" dirty="0"/>
              <a:t>If a patient is taking a beta blocker, the target receptors of the sympathetic system are blocked.</a:t>
            </a:r>
          </a:p>
          <a:p>
            <a:pPr marL="342900" indent="-342900"/>
            <a:endParaRPr lang="en-US" sz="1000" dirty="0"/>
          </a:p>
          <a:p>
            <a:pPr marL="342900" indent="-342900"/>
            <a:r>
              <a:rPr lang="en-US" dirty="0"/>
              <a:t>Therefore, in patients taking beta blockers, these warning signs of hypoglycemia may be absent, allowing dangerously low glucose levels to develop without patient awareness.</a:t>
            </a:r>
            <a:endParaRPr dirty="0"/>
          </a:p>
          <a:p>
            <a:pPr marL="342900" indent="-279400">
              <a:lnSpc>
                <a:spcPct val="90000"/>
              </a:lnSpc>
              <a:buSzPts val="1000"/>
              <a:buNone/>
            </a:pPr>
            <a:endParaRPr sz="1000" dirty="0"/>
          </a:p>
        </p:txBody>
      </p:sp>
    </p:spTree>
    <p:extLst>
      <p:ext uri="{BB962C8B-B14F-4D97-AF65-F5344CB8AC3E}">
        <p14:creationId xmlns:p14="http://schemas.microsoft.com/office/powerpoint/2010/main" val="320911341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1386"/>
        <p:cNvGrpSpPr/>
        <p:nvPr/>
      </p:nvGrpSpPr>
      <p:grpSpPr>
        <a:xfrm>
          <a:off x="0" y="0"/>
          <a:ext cx="0" cy="0"/>
          <a:chOff x="0" y="0"/>
          <a:chExt cx="0" cy="0"/>
        </a:xfrm>
      </p:grpSpPr>
      <p:sp>
        <p:nvSpPr>
          <p:cNvPr id="1387" name="Google Shape;1387;p180"/>
          <p:cNvSpPr txBox="1">
            <a:spLocks noGrp="1"/>
          </p:cNvSpPr>
          <p:nvPr>
            <p:ph type="title"/>
          </p:nvPr>
        </p:nvSpPr>
        <p:spPr>
          <a:xfrm>
            <a:off x="1981200" y="92075"/>
            <a:ext cx="8229600" cy="1138414"/>
          </a:xfrm>
          <a:prstGeom prst="rect">
            <a:avLst/>
          </a:prstGeom>
          <a:noFill/>
          <a:ln>
            <a:noFill/>
          </a:ln>
        </p:spPr>
        <p:txBody>
          <a:bodyPr spcFirstLastPara="1" wrap="square" lIns="50800" tIns="50800" rIns="50800" bIns="50800" anchor="ctr" anchorCtr="0">
            <a:noAutofit/>
          </a:bodyPr>
          <a:lstStyle/>
          <a:p>
            <a:r>
              <a:rPr lang="en-US"/>
              <a:t>Diabetics and β-Blockers</a:t>
            </a:r>
            <a:endParaRPr/>
          </a:p>
        </p:txBody>
      </p:sp>
      <p:sp>
        <p:nvSpPr>
          <p:cNvPr id="1388" name="Google Shape;1388;p180"/>
          <p:cNvSpPr txBox="1">
            <a:spLocks noGrp="1"/>
          </p:cNvSpPr>
          <p:nvPr>
            <p:ph type="body" idx="1"/>
          </p:nvPr>
        </p:nvSpPr>
        <p:spPr>
          <a:xfrm>
            <a:off x="612742" y="1357460"/>
            <a:ext cx="10925666" cy="5408465"/>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a:t>Beta blockers have </a:t>
            </a:r>
            <a:r>
              <a:rPr lang="en-US" b="1" i="1"/>
              <a:t>an adverse effect on glucose metabolism, </a:t>
            </a:r>
            <a:r>
              <a:rPr lang="en-US"/>
              <a:t>because they decrease insulin release from pancreatic beta cells.</a:t>
            </a:r>
          </a:p>
          <a:p>
            <a:pPr marL="0" indent="0">
              <a:spcBef>
                <a:spcPts val="0"/>
              </a:spcBef>
              <a:buNone/>
            </a:pPr>
            <a:endParaRPr lang="en-US" b="1" i="1"/>
          </a:p>
          <a:p>
            <a:pPr marL="342900" indent="-342900">
              <a:spcBef>
                <a:spcPts val="0"/>
              </a:spcBef>
            </a:pPr>
            <a:r>
              <a:rPr lang="en-US" b="1" i="1"/>
              <a:t>Therefore beta blockers are not recommended for HTN treatment in diabetics- unless there is a compelling indication.</a:t>
            </a:r>
          </a:p>
          <a:p>
            <a:pPr marL="342900" indent="-342900">
              <a:spcBef>
                <a:spcPts val="0"/>
              </a:spcBef>
            </a:pPr>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1393"/>
        <p:cNvGrpSpPr/>
        <p:nvPr/>
      </p:nvGrpSpPr>
      <p:grpSpPr>
        <a:xfrm>
          <a:off x="0" y="0"/>
          <a:ext cx="0" cy="0"/>
          <a:chOff x="0" y="0"/>
          <a:chExt cx="0" cy="0"/>
        </a:xfrm>
      </p:grpSpPr>
      <p:sp>
        <p:nvSpPr>
          <p:cNvPr id="1394" name="Google Shape;1394;p181"/>
          <p:cNvSpPr txBox="1">
            <a:spLocks noGrp="1"/>
          </p:cNvSpPr>
          <p:nvPr>
            <p:ph type="title"/>
          </p:nvPr>
        </p:nvSpPr>
        <p:spPr>
          <a:xfrm>
            <a:off x="1600200" y="92076"/>
            <a:ext cx="8915400" cy="746125"/>
          </a:xfrm>
          <a:prstGeom prst="rect">
            <a:avLst/>
          </a:prstGeom>
          <a:noFill/>
          <a:ln>
            <a:noFill/>
          </a:ln>
        </p:spPr>
        <p:txBody>
          <a:bodyPr spcFirstLastPara="1" wrap="square" lIns="50800" tIns="50800" rIns="50800" bIns="50800" anchor="ctr" anchorCtr="0">
            <a:noAutofit/>
          </a:bodyPr>
          <a:lstStyle/>
          <a:p>
            <a:r>
              <a:rPr lang="en-US"/>
              <a:t>Types of β-Blockers </a:t>
            </a:r>
            <a:endParaRPr/>
          </a:p>
        </p:txBody>
      </p:sp>
      <p:sp>
        <p:nvSpPr>
          <p:cNvPr id="1395" name="Google Shape;1395;p181"/>
          <p:cNvSpPr txBox="1">
            <a:spLocks noGrp="1"/>
          </p:cNvSpPr>
          <p:nvPr>
            <p:ph type="body" idx="1"/>
          </p:nvPr>
        </p:nvSpPr>
        <p:spPr>
          <a:xfrm>
            <a:off x="593889" y="1414020"/>
            <a:ext cx="11170763" cy="5291579"/>
          </a:xfrm>
          <a:prstGeom prst="rect">
            <a:avLst/>
          </a:prstGeom>
          <a:noFill/>
          <a:ln>
            <a:noFill/>
          </a:ln>
        </p:spPr>
        <p:txBody>
          <a:bodyPr spcFirstLastPara="1" wrap="square" lIns="91425" tIns="45700" rIns="91425" bIns="45700" anchor="t" anchorCtr="0">
            <a:noAutofit/>
          </a:bodyPr>
          <a:lstStyle/>
          <a:p>
            <a:pPr marL="342900" indent="-342900">
              <a:spcBef>
                <a:spcPts val="0"/>
              </a:spcBef>
              <a:buClr>
                <a:srgbClr val="000000"/>
              </a:buClr>
            </a:pPr>
            <a:r>
              <a:rPr lang="en-US" b="1" dirty="0" err="1">
                <a:solidFill>
                  <a:srgbClr val="000000"/>
                </a:solidFill>
              </a:rPr>
              <a:t>Cardioselective</a:t>
            </a:r>
            <a:r>
              <a:rPr lang="en-US" b="1" dirty="0">
                <a:solidFill>
                  <a:srgbClr val="000000"/>
                </a:solidFill>
              </a:rPr>
              <a:t>: </a:t>
            </a:r>
            <a:r>
              <a:rPr lang="en-US" dirty="0">
                <a:solidFill>
                  <a:srgbClr val="000000"/>
                </a:solidFill>
              </a:rPr>
              <a:t>Indicated to control tachyarrhythmias, such as atrial fib or sinus tachycardia.  But remember: β1 selectivity is lost at higher doses</a:t>
            </a:r>
            <a:endParaRPr dirty="0"/>
          </a:p>
          <a:p>
            <a:pPr marL="342900" indent="-279400">
              <a:spcBef>
                <a:spcPts val="1200"/>
              </a:spcBef>
              <a:buSzPts val="1000"/>
              <a:buNone/>
            </a:pPr>
            <a:endParaRPr sz="500" dirty="0">
              <a:solidFill>
                <a:srgbClr val="000000"/>
              </a:solidFill>
            </a:endParaRPr>
          </a:p>
          <a:p>
            <a:pPr marL="457200" lvl="1" indent="-457200">
              <a:spcBef>
                <a:spcPts val="1200"/>
              </a:spcBef>
              <a:buClr>
                <a:srgbClr val="000000"/>
              </a:buClr>
              <a:buFont typeface="Arial"/>
              <a:buChar char="•"/>
            </a:pPr>
            <a:r>
              <a:rPr lang="en-US" dirty="0">
                <a:solidFill>
                  <a:srgbClr val="000000"/>
                </a:solidFill>
              </a:rPr>
              <a:t>Bisoprolol (</a:t>
            </a:r>
            <a:r>
              <a:rPr lang="en-US" dirty="0" err="1">
                <a:solidFill>
                  <a:srgbClr val="000000"/>
                </a:solidFill>
              </a:rPr>
              <a:t>Zebeta</a:t>
            </a:r>
            <a:r>
              <a:rPr lang="en-US" dirty="0">
                <a:solidFill>
                  <a:srgbClr val="000000"/>
                </a:solidFill>
              </a:rPr>
              <a:t>)</a:t>
            </a:r>
          </a:p>
          <a:p>
            <a:pPr marL="457200" lvl="1" indent="-457200">
              <a:spcBef>
                <a:spcPts val="1200"/>
              </a:spcBef>
              <a:buClr>
                <a:srgbClr val="000000"/>
              </a:buClr>
              <a:buFont typeface="Arial"/>
              <a:buChar char="•"/>
            </a:pPr>
            <a:r>
              <a:rPr lang="en-US" b="1" dirty="0">
                <a:solidFill>
                  <a:srgbClr val="000000"/>
                </a:solidFill>
              </a:rPr>
              <a:t>Metoprolol succinate (Toprol XL), </a:t>
            </a:r>
            <a:r>
              <a:rPr lang="en-US" dirty="0">
                <a:solidFill>
                  <a:srgbClr val="000000"/>
                </a:solidFill>
              </a:rPr>
              <a:t>once daily dosing</a:t>
            </a:r>
            <a:endParaRPr dirty="0"/>
          </a:p>
          <a:p>
            <a:pPr marL="457200" lvl="1" indent="-457200">
              <a:spcBef>
                <a:spcPts val="1200"/>
              </a:spcBef>
              <a:buClr>
                <a:srgbClr val="000000"/>
              </a:buClr>
              <a:buFont typeface="Arial"/>
              <a:buChar char="•"/>
            </a:pPr>
            <a:r>
              <a:rPr lang="en-US" b="1" dirty="0">
                <a:solidFill>
                  <a:srgbClr val="000000"/>
                </a:solidFill>
              </a:rPr>
              <a:t>Metoprolol tartrate (Lopressor), </a:t>
            </a:r>
            <a:r>
              <a:rPr lang="en-US" dirty="0">
                <a:solidFill>
                  <a:srgbClr val="000000"/>
                </a:solidFill>
              </a:rPr>
              <a:t>twice daily dosing</a:t>
            </a:r>
            <a:endParaRPr dirty="0"/>
          </a:p>
          <a:p>
            <a:pPr marL="457200" lvl="1" indent="-457200">
              <a:spcBef>
                <a:spcPts val="1200"/>
              </a:spcBef>
              <a:buClr>
                <a:srgbClr val="000000"/>
              </a:buClr>
              <a:buFont typeface="Arial"/>
              <a:buChar char="•"/>
            </a:pPr>
            <a:r>
              <a:rPr lang="en-US" b="1" dirty="0">
                <a:solidFill>
                  <a:srgbClr val="000000"/>
                </a:solidFill>
              </a:rPr>
              <a:t>Atenolol (Tenormin)</a:t>
            </a:r>
            <a:endParaRPr dirty="0"/>
          </a:p>
          <a:p>
            <a:pPr marL="342900" indent="-139700">
              <a:lnSpc>
                <a:spcPct val="90000"/>
              </a:lnSpc>
              <a:spcBef>
                <a:spcPts val="1400"/>
              </a:spcBef>
              <a:buNone/>
            </a:pPr>
            <a:endParaRPr dirty="0">
              <a:solidFill>
                <a:srgbClr val="000000"/>
              </a:solidFill>
            </a:endParaRPr>
          </a:p>
          <a:p>
            <a:pPr marL="342900" indent="-139700">
              <a:lnSpc>
                <a:spcPct val="90000"/>
              </a:lnSpc>
              <a:buNone/>
            </a:pPr>
            <a:endParaRPr dirty="0">
              <a:solidFill>
                <a:srgbClr val="000000"/>
              </a:solidFill>
            </a:endParaRPr>
          </a:p>
          <a:p>
            <a:pPr marL="342900" indent="-139700">
              <a:lnSpc>
                <a:spcPct val="90000"/>
              </a:lnSpc>
              <a:buNone/>
            </a:pPr>
            <a:endParaRPr dirty="0">
              <a:solidFill>
                <a:srgbClr val="000000"/>
              </a:solidFill>
            </a:endParaRPr>
          </a:p>
          <a:p>
            <a:pPr marL="342900" indent="-279400">
              <a:lnSpc>
                <a:spcPct val="90000"/>
              </a:lnSpc>
              <a:buSzPts val="1000"/>
              <a:buNone/>
            </a:pPr>
            <a:endParaRPr sz="10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1400"/>
        <p:cNvGrpSpPr/>
        <p:nvPr/>
      </p:nvGrpSpPr>
      <p:grpSpPr>
        <a:xfrm>
          <a:off x="0" y="0"/>
          <a:ext cx="0" cy="0"/>
          <a:chOff x="0" y="0"/>
          <a:chExt cx="0" cy="0"/>
        </a:xfrm>
      </p:grpSpPr>
      <p:sp>
        <p:nvSpPr>
          <p:cNvPr id="1401" name="Google Shape;1401;p182"/>
          <p:cNvSpPr txBox="1">
            <a:spLocks noGrp="1"/>
          </p:cNvSpPr>
          <p:nvPr>
            <p:ph type="title"/>
          </p:nvPr>
        </p:nvSpPr>
        <p:spPr>
          <a:xfrm>
            <a:off x="1600200" y="92076"/>
            <a:ext cx="8915400" cy="1050925"/>
          </a:xfrm>
          <a:prstGeom prst="rect">
            <a:avLst/>
          </a:prstGeom>
          <a:noFill/>
          <a:ln>
            <a:noFill/>
          </a:ln>
        </p:spPr>
        <p:txBody>
          <a:bodyPr spcFirstLastPara="1" wrap="square" lIns="50800" tIns="50800" rIns="50800" bIns="50800" anchor="ctr" anchorCtr="0">
            <a:noAutofit/>
          </a:bodyPr>
          <a:lstStyle/>
          <a:p>
            <a:r>
              <a:rPr lang="en-US"/>
              <a:t>Types of β-Blockers </a:t>
            </a:r>
            <a:endParaRPr/>
          </a:p>
        </p:txBody>
      </p:sp>
      <p:sp>
        <p:nvSpPr>
          <p:cNvPr id="1402" name="Google Shape;1402;p182"/>
          <p:cNvSpPr txBox="1">
            <a:spLocks noGrp="1"/>
          </p:cNvSpPr>
          <p:nvPr>
            <p:ph type="body" idx="1"/>
          </p:nvPr>
        </p:nvSpPr>
        <p:spPr>
          <a:xfrm>
            <a:off x="595459" y="1234911"/>
            <a:ext cx="11001081" cy="4848520"/>
          </a:xfrm>
          <a:prstGeom prst="rect">
            <a:avLst/>
          </a:prstGeom>
          <a:noFill/>
          <a:ln>
            <a:noFill/>
          </a:ln>
        </p:spPr>
        <p:txBody>
          <a:bodyPr spcFirstLastPara="1" wrap="square" lIns="91425" tIns="45700" rIns="91425" bIns="45700" anchor="t" anchorCtr="0">
            <a:noAutofit/>
          </a:bodyPr>
          <a:lstStyle/>
          <a:p>
            <a:pPr marL="342900" indent="-342900">
              <a:spcBef>
                <a:spcPts val="0"/>
              </a:spcBef>
              <a:buClr>
                <a:srgbClr val="000000"/>
              </a:buClr>
            </a:pPr>
            <a:r>
              <a:rPr lang="en-US" b="1">
                <a:solidFill>
                  <a:srgbClr val="000000"/>
                </a:solidFill>
              </a:rPr>
              <a:t>Non- selective</a:t>
            </a:r>
            <a:r>
              <a:rPr lang="en-US">
                <a:solidFill>
                  <a:srgbClr val="000000"/>
                </a:solidFill>
              </a:rPr>
              <a:t>: Inhibit both β1 &amp; β2 receptors at all doses, often not used for hypertension.</a:t>
            </a:r>
            <a:endParaRPr/>
          </a:p>
          <a:p>
            <a:pPr marL="342900" indent="-215900">
              <a:spcBef>
                <a:spcPts val="1200"/>
              </a:spcBef>
              <a:buSzPts val="2000"/>
              <a:buNone/>
            </a:pPr>
            <a:endParaRPr sz="2000">
              <a:solidFill>
                <a:srgbClr val="000000"/>
              </a:solidFill>
            </a:endParaRPr>
          </a:p>
          <a:p>
            <a:pPr marL="342900" indent="-342900">
              <a:spcBef>
                <a:spcPts val="1200"/>
              </a:spcBef>
              <a:buClr>
                <a:srgbClr val="000000"/>
              </a:buClr>
            </a:pPr>
            <a:r>
              <a:rPr lang="en-US">
                <a:solidFill>
                  <a:srgbClr val="000000"/>
                </a:solidFill>
              </a:rPr>
              <a:t>Instead, </a:t>
            </a:r>
            <a:r>
              <a:rPr lang="en-US" b="1" i="1">
                <a:solidFill>
                  <a:srgbClr val="000000"/>
                </a:solidFill>
              </a:rPr>
              <a:t>non-selective BB are commonly used for migraine prophylaxis, anxiety, essential tremor, portal hypertension and thyrotoxicosis.</a:t>
            </a:r>
            <a:endParaRPr/>
          </a:p>
          <a:p>
            <a:pPr marL="342900" indent="-215900">
              <a:spcBef>
                <a:spcPts val="1200"/>
              </a:spcBef>
              <a:buSzPts val="2000"/>
              <a:buNone/>
            </a:pPr>
            <a:endParaRPr sz="1000">
              <a:solidFill>
                <a:srgbClr val="000000"/>
              </a:solidFill>
            </a:endParaRPr>
          </a:p>
          <a:p>
            <a:pPr marL="779462" lvl="2" indent="-342900">
              <a:spcBef>
                <a:spcPts val="1200"/>
              </a:spcBef>
              <a:buClr>
                <a:srgbClr val="000000"/>
              </a:buClr>
            </a:pPr>
            <a:r>
              <a:rPr lang="en-US">
                <a:solidFill>
                  <a:srgbClr val="000000"/>
                </a:solidFill>
              </a:rPr>
              <a:t>Nadolol (</a:t>
            </a:r>
            <a:r>
              <a:rPr lang="en-US" err="1">
                <a:solidFill>
                  <a:srgbClr val="000000"/>
                </a:solidFill>
              </a:rPr>
              <a:t>Corgard</a:t>
            </a:r>
            <a:r>
              <a:rPr lang="en-US">
                <a:solidFill>
                  <a:srgbClr val="000000"/>
                </a:solidFill>
              </a:rPr>
              <a:t>) </a:t>
            </a:r>
          </a:p>
          <a:p>
            <a:pPr marL="779462" lvl="2" indent="-342900">
              <a:spcBef>
                <a:spcPts val="1200"/>
              </a:spcBef>
              <a:buClr>
                <a:srgbClr val="000000"/>
              </a:buClr>
            </a:pPr>
            <a:r>
              <a:rPr lang="en-US" b="1">
                <a:solidFill>
                  <a:srgbClr val="000000"/>
                </a:solidFill>
              </a:rPr>
              <a:t>Propranolol (Inderal) </a:t>
            </a:r>
          </a:p>
          <a:p>
            <a:pPr marL="779462" lvl="2" indent="-342900">
              <a:spcBef>
                <a:spcPts val="1200"/>
              </a:spcBef>
              <a:buClr>
                <a:srgbClr val="000000"/>
              </a:buClr>
            </a:pPr>
            <a:r>
              <a:rPr lang="en-US">
                <a:solidFill>
                  <a:srgbClr val="000000"/>
                </a:solidFill>
              </a:rPr>
              <a:t>Timolol (</a:t>
            </a:r>
            <a:r>
              <a:rPr lang="en-US" err="1">
                <a:solidFill>
                  <a:srgbClr val="000000"/>
                </a:solidFill>
              </a:rPr>
              <a:t>Biocadren</a:t>
            </a:r>
            <a:r>
              <a:rPr lang="en-US">
                <a:solidFill>
                  <a:srgbClr val="000000"/>
                </a:solidFill>
              </a:rPr>
              <a:t>)</a:t>
            </a:r>
            <a:endParaRPr>
              <a:solidFill>
                <a:srgbClr val="000000"/>
              </a:solidFill>
            </a:endParaRPr>
          </a:p>
          <a:p>
            <a:pPr marL="342900" indent="-139700">
              <a:lnSpc>
                <a:spcPct val="90000"/>
              </a:lnSpc>
              <a:buNone/>
            </a:pPr>
            <a:endParaRPr>
              <a:solidFill>
                <a:srgbClr val="000000"/>
              </a:solidFill>
            </a:endParaRPr>
          </a:p>
          <a:p>
            <a:pPr marL="342900" indent="-139700">
              <a:lnSpc>
                <a:spcPct val="90000"/>
              </a:lnSpc>
              <a:buNone/>
            </a:pPr>
            <a:endParaRPr>
              <a:solidFill>
                <a:srgbClr val="000000"/>
              </a:solidFill>
            </a:endParaRPr>
          </a:p>
          <a:p>
            <a:pPr marL="342900" indent="-139700">
              <a:lnSpc>
                <a:spcPct val="90000"/>
              </a:lnSpc>
              <a:buNone/>
            </a:pPr>
            <a:endParaRPr>
              <a:solidFill>
                <a:srgbClr val="000000"/>
              </a:solidFill>
            </a:endParaRPr>
          </a:p>
          <a:p>
            <a:pPr marL="342900" indent="-279400">
              <a:lnSpc>
                <a:spcPct val="90000"/>
              </a:lnSpc>
              <a:buSzPts val="1000"/>
              <a:buNone/>
            </a:pPr>
            <a:endParaRPr sz="100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1407"/>
        <p:cNvGrpSpPr/>
        <p:nvPr/>
      </p:nvGrpSpPr>
      <p:grpSpPr>
        <a:xfrm>
          <a:off x="0" y="0"/>
          <a:ext cx="0" cy="0"/>
          <a:chOff x="0" y="0"/>
          <a:chExt cx="0" cy="0"/>
        </a:xfrm>
      </p:grpSpPr>
      <p:sp>
        <p:nvSpPr>
          <p:cNvPr id="1408" name="Google Shape;1408;p183"/>
          <p:cNvSpPr txBox="1">
            <a:spLocks noGrp="1"/>
          </p:cNvSpPr>
          <p:nvPr>
            <p:ph type="title"/>
          </p:nvPr>
        </p:nvSpPr>
        <p:spPr>
          <a:xfrm>
            <a:off x="1600200" y="92076"/>
            <a:ext cx="8915400" cy="1050925"/>
          </a:xfrm>
          <a:prstGeom prst="rect">
            <a:avLst/>
          </a:prstGeom>
          <a:noFill/>
          <a:ln>
            <a:noFill/>
          </a:ln>
        </p:spPr>
        <p:txBody>
          <a:bodyPr spcFirstLastPara="1" wrap="square" lIns="50800" tIns="50800" rIns="50800" bIns="50800" anchor="ctr" anchorCtr="0">
            <a:noAutofit/>
          </a:bodyPr>
          <a:lstStyle/>
          <a:p>
            <a:r>
              <a:rPr lang="en-US"/>
              <a:t>Types of β-Blockers </a:t>
            </a:r>
            <a:endParaRPr/>
          </a:p>
        </p:txBody>
      </p:sp>
      <p:sp>
        <p:nvSpPr>
          <p:cNvPr id="1409" name="Google Shape;1409;p183"/>
          <p:cNvSpPr txBox="1">
            <a:spLocks noGrp="1"/>
          </p:cNvSpPr>
          <p:nvPr>
            <p:ph type="body" idx="1"/>
          </p:nvPr>
        </p:nvSpPr>
        <p:spPr>
          <a:xfrm>
            <a:off x="386499" y="1295400"/>
            <a:ext cx="11208470" cy="5410200"/>
          </a:xfrm>
          <a:prstGeom prst="rect">
            <a:avLst/>
          </a:prstGeom>
          <a:noFill/>
          <a:ln>
            <a:noFill/>
          </a:ln>
        </p:spPr>
        <p:txBody>
          <a:bodyPr spcFirstLastPara="1" wrap="square" lIns="91425" tIns="45700" rIns="91425" bIns="45700" anchor="t" anchorCtr="0">
            <a:noAutofit/>
          </a:bodyPr>
          <a:lstStyle/>
          <a:p>
            <a:pPr marL="342900" indent="-342900">
              <a:spcBef>
                <a:spcPts val="0"/>
              </a:spcBef>
              <a:buClr>
                <a:srgbClr val="000000"/>
              </a:buClr>
            </a:pPr>
            <a:r>
              <a:rPr lang="en-US">
                <a:solidFill>
                  <a:srgbClr val="000000"/>
                </a:solidFill>
              </a:rPr>
              <a:t>Intrinsic Sympathomimetic Activity: Partial β-receptor agonists, do not reduce resting heart rate or cardiac output.</a:t>
            </a:r>
          </a:p>
          <a:p>
            <a:pPr marL="342900" indent="-342900">
              <a:spcBef>
                <a:spcPts val="0"/>
              </a:spcBef>
              <a:buClr>
                <a:srgbClr val="000000"/>
              </a:buClr>
            </a:pPr>
            <a:endParaRPr sz="1000"/>
          </a:p>
          <a:p>
            <a:pPr marL="342900" indent="-342900">
              <a:buClr>
                <a:srgbClr val="000000"/>
              </a:buClr>
            </a:pPr>
            <a:r>
              <a:rPr lang="en-US">
                <a:solidFill>
                  <a:srgbClr val="000000"/>
                </a:solidFill>
              </a:rPr>
              <a:t>ISAs have a niche place in therapy, possibly patients with bradycardia in need of BB, but they are contraindicated post-MI or in high-risk patients.  </a:t>
            </a:r>
            <a:endParaRPr/>
          </a:p>
          <a:p>
            <a:pPr marL="342900" indent="-342900">
              <a:buClr>
                <a:srgbClr val="000000"/>
              </a:buClr>
            </a:pPr>
            <a:r>
              <a:rPr lang="en-US">
                <a:solidFill>
                  <a:srgbClr val="000000"/>
                </a:solidFill>
              </a:rPr>
              <a:t>Not as cardioprotective as a selective BB.</a:t>
            </a:r>
            <a:endParaRPr/>
          </a:p>
          <a:p>
            <a:pPr marL="342900" indent="-139700">
              <a:buNone/>
            </a:pPr>
            <a:endParaRPr sz="1000">
              <a:solidFill>
                <a:srgbClr val="000000"/>
              </a:solidFill>
            </a:endParaRPr>
          </a:p>
          <a:p>
            <a:pPr marL="325438" indent="-325438">
              <a:buClr>
                <a:srgbClr val="000000"/>
              </a:buClr>
            </a:pPr>
            <a:r>
              <a:rPr lang="en-US">
                <a:solidFill>
                  <a:srgbClr val="000000"/>
                </a:solidFill>
              </a:rPr>
              <a:t>Acebutolol (</a:t>
            </a:r>
            <a:r>
              <a:rPr lang="en-US" err="1">
                <a:solidFill>
                  <a:srgbClr val="000000"/>
                </a:solidFill>
              </a:rPr>
              <a:t>Sectral</a:t>
            </a:r>
            <a:r>
              <a:rPr lang="en-US">
                <a:solidFill>
                  <a:srgbClr val="000000"/>
                </a:solidFill>
              </a:rPr>
              <a:t>)</a:t>
            </a:r>
            <a:endParaRPr>
              <a:solidFill>
                <a:srgbClr val="000000"/>
              </a:solidFill>
            </a:endParaRPr>
          </a:p>
          <a:p>
            <a:pPr marL="342900" indent="-139700">
              <a:lnSpc>
                <a:spcPct val="90000"/>
              </a:lnSpc>
              <a:buNone/>
            </a:pPr>
            <a:endParaRPr>
              <a:solidFill>
                <a:srgbClr val="000000"/>
              </a:solidFill>
            </a:endParaRPr>
          </a:p>
          <a:p>
            <a:pPr marL="342900" indent="-139700">
              <a:lnSpc>
                <a:spcPct val="90000"/>
              </a:lnSpc>
              <a:buNone/>
            </a:pPr>
            <a:endParaRPr>
              <a:solidFill>
                <a:srgbClr val="000000"/>
              </a:solidFill>
            </a:endParaRPr>
          </a:p>
          <a:p>
            <a:pPr marL="342900" indent="-279400">
              <a:lnSpc>
                <a:spcPct val="90000"/>
              </a:lnSpc>
              <a:buSzPts val="1000"/>
              <a:buNone/>
            </a:pPr>
            <a:endParaRPr sz="100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1413"/>
        <p:cNvGrpSpPr/>
        <p:nvPr/>
      </p:nvGrpSpPr>
      <p:grpSpPr>
        <a:xfrm>
          <a:off x="0" y="0"/>
          <a:ext cx="0" cy="0"/>
          <a:chOff x="0" y="0"/>
          <a:chExt cx="0" cy="0"/>
        </a:xfrm>
      </p:grpSpPr>
      <p:sp>
        <p:nvSpPr>
          <p:cNvPr id="1414" name="Google Shape;1414;p184"/>
          <p:cNvSpPr txBox="1">
            <a:spLocks noGrp="1"/>
          </p:cNvSpPr>
          <p:nvPr>
            <p:ph type="title"/>
          </p:nvPr>
        </p:nvSpPr>
        <p:spPr>
          <a:xfrm>
            <a:off x="1981200" y="92076"/>
            <a:ext cx="8229600" cy="898525"/>
          </a:xfrm>
          <a:prstGeom prst="rect">
            <a:avLst/>
          </a:prstGeom>
          <a:noFill/>
          <a:ln>
            <a:noFill/>
          </a:ln>
        </p:spPr>
        <p:txBody>
          <a:bodyPr spcFirstLastPara="1" wrap="square" lIns="50800" tIns="50800" rIns="50800" bIns="50800" anchor="ctr" anchorCtr="0">
            <a:noAutofit/>
          </a:bodyPr>
          <a:lstStyle/>
          <a:p>
            <a:r>
              <a:rPr lang="en-US"/>
              <a:t>β-Blockers  </a:t>
            </a:r>
            <a:endParaRPr/>
          </a:p>
        </p:txBody>
      </p:sp>
      <p:sp>
        <p:nvSpPr>
          <p:cNvPr id="1415" name="Google Shape;1415;p184"/>
          <p:cNvSpPr txBox="1">
            <a:spLocks noGrp="1"/>
          </p:cNvSpPr>
          <p:nvPr>
            <p:ph type="body" idx="1"/>
          </p:nvPr>
        </p:nvSpPr>
        <p:spPr>
          <a:xfrm>
            <a:off x="669303" y="1143002"/>
            <a:ext cx="10982227" cy="5220092"/>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a:latin typeface="Calibri" panose="020F0502020204030204" pitchFamily="34" charset="0"/>
                <a:cs typeface="Calibri" panose="020F0502020204030204" pitchFamily="34" charset="0"/>
              </a:rPr>
              <a:t>Beta blockers </a:t>
            </a:r>
            <a:r>
              <a:rPr lang="en-US" b="1" i="1">
                <a:latin typeface="Calibri" panose="020F0502020204030204" pitchFamily="34" charset="0"/>
                <a:cs typeface="Calibri" panose="020F0502020204030204" pitchFamily="34" charset="0"/>
              </a:rPr>
              <a:t>must be started at a low dose and  titrated up cautiously in persons with LV dysfunction and </a:t>
            </a:r>
            <a:r>
              <a:rPr lang="en-US" b="1" i="1" err="1">
                <a:latin typeface="Calibri" panose="020F0502020204030204" pitchFamily="34" charset="0"/>
                <a:cs typeface="Calibri" panose="020F0502020204030204" pitchFamily="34" charset="0"/>
              </a:rPr>
              <a:t>HFrEF</a:t>
            </a:r>
            <a:r>
              <a:rPr lang="en-US" b="1" i="1">
                <a:latin typeface="Calibri" panose="020F0502020204030204" pitchFamily="34" charset="0"/>
                <a:cs typeface="Calibri" panose="020F0502020204030204" pitchFamily="34" charset="0"/>
              </a:rPr>
              <a:t> </a:t>
            </a:r>
            <a:r>
              <a:rPr lang="en-US">
                <a:latin typeface="Calibri" panose="020F0502020204030204" pitchFamily="34" charset="0"/>
                <a:cs typeface="Calibri" panose="020F0502020204030204" pitchFamily="34" charset="0"/>
              </a:rPr>
              <a:t>due to the drug’s depressive effects on myocardial contractility and heart rate.</a:t>
            </a:r>
            <a:endParaRPr>
              <a:latin typeface="Calibri" panose="020F0502020204030204" pitchFamily="34" charset="0"/>
              <a:cs typeface="Calibri" panose="020F0502020204030204" pitchFamily="34" charset="0"/>
            </a:endParaRPr>
          </a:p>
          <a:p>
            <a:pPr marL="782638" lvl="1" indent="-230187">
              <a:buSzPts val="1500"/>
              <a:buNone/>
            </a:pPr>
            <a:endParaRPr sz="2800">
              <a:latin typeface="Calibri" panose="020F0502020204030204" pitchFamily="34" charset="0"/>
              <a:ea typeface="Constantia"/>
              <a:cs typeface="Calibri" panose="020F0502020204030204" pitchFamily="34" charset="0"/>
              <a:sym typeface="Constantia"/>
            </a:endParaRPr>
          </a:p>
          <a:p>
            <a:pPr marL="342900" indent="-342900"/>
            <a:r>
              <a:rPr lang="en-US">
                <a:latin typeface="Calibri" panose="020F0502020204030204" pitchFamily="34" charset="0"/>
                <a:cs typeface="Calibri" panose="020F0502020204030204" pitchFamily="34" charset="0"/>
              </a:rPr>
              <a:t>Beta blockers </a:t>
            </a:r>
            <a:r>
              <a:rPr lang="en-US" b="1" i="1">
                <a:latin typeface="Calibri" panose="020F0502020204030204" pitchFamily="34" charset="0"/>
                <a:cs typeface="Calibri" panose="020F0502020204030204" pitchFamily="34" charset="0"/>
              </a:rPr>
              <a:t>should not be abruptly discontinued, </a:t>
            </a:r>
            <a:r>
              <a:rPr lang="en-US">
                <a:latin typeface="Calibri" panose="020F0502020204030204" pitchFamily="34" charset="0"/>
                <a:cs typeface="Calibri" panose="020F0502020204030204" pitchFamily="34" charset="0"/>
              </a:rPr>
              <a:t>if possible, since this may cause rebound HTN, worsening angina or MI.  If able, slowly wean the beta blocker dose down over 1-2 weeks.</a:t>
            </a:r>
            <a:endParaRPr>
              <a:latin typeface="Calibri" panose="020F0502020204030204" pitchFamily="34" charset="0"/>
              <a:cs typeface="Calibri" panose="020F0502020204030204" pitchFamily="34" charset="0"/>
            </a:endParaRPr>
          </a:p>
          <a:p>
            <a:pPr marL="342900" indent="-247650">
              <a:buSzPts val="1500"/>
              <a:buNone/>
            </a:pPr>
            <a:endParaRPr sz="1500"/>
          </a:p>
          <a:p>
            <a:pPr marL="0" indent="0">
              <a:buNone/>
            </a:pPr>
            <a:r>
              <a:rPr lang="en-US">
                <a:latin typeface="Constantia"/>
                <a:ea typeface="Constantia"/>
                <a:cs typeface="Constantia"/>
                <a:sym typeface="Constantia"/>
              </a:rPr>
              <a:t> </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1420"/>
        <p:cNvGrpSpPr/>
        <p:nvPr/>
      </p:nvGrpSpPr>
      <p:grpSpPr>
        <a:xfrm>
          <a:off x="0" y="0"/>
          <a:ext cx="0" cy="0"/>
          <a:chOff x="0" y="0"/>
          <a:chExt cx="0" cy="0"/>
        </a:xfrm>
      </p:grpSpPr>
      <p:sp>
        <p:nvSpPr>
          <p:cNvPr id="1421" name="Google Shape;1421;p185"/>
          <p:cNvSpPr txBox="1">
            <a:spLocks noGrp="1"/>
          </p:cNvSpPr>
          <p:nvPr>
            <p:ph type="title"/>
          </p:nvPr>
        </p:nvSpPr>
        <p:spPr>
          <a:xfrm>
            <a:off x="1981200" y="92076"/>
            <a:ext cx="8229600" cy="898525"/>
          </a:xfrm>
          <a:prstGeom prst="rect">
            <a:avLst/>
          </a:prstGeom>
          <a:noFill/>
          <a:ln>
            <a:noFill/>
          </a:ln>
        </p:spPr>
        <p:txBody>
          <a:bodyPr spcFirstLastPara="1" wrap="square" lIns="50800" tIns="50800" rIns="50800" bIns="50800" anchor="ctr" anchorCtr="0">
            <a:noAutofit/>
          </a:bodyPr>
          <a:lstStyle/>
          <a:p>
            <a:r>
              <a:rPr lang="en-US"/>
              <a:t>β-Blocker Overdose  </a:t>
            </a:r>
            <a:endParaRPr/>
          </a:p>
        </p:txBody>
      </p:sp>
      <p:sp>
        <p:nvSpPr>
          <p:cNvPr id="1422" name="Google Shape;1422;p185"/>
          <p:cNvSpPr txBox="1">
            <a:spLocks noGrp="1"/>
          </p:cNvSpPr>
          <p:nvPr>
            <p:ph type="body" idx="1"/>
          </p:nvPr>
        </p:nvSpPr>
        <p:spPr>
          <a:xfrm>
            <a:off x="527901" y="1143001"/>
            <a:ext cx="11199043" cy="5578475"/>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a:t>Findings of beta blocker overdose include </a:t>
            </a:r>
            <a:r>
              <a:rPr lang="en-US" b="1" i="1"/>
              <a:t>hypotension,  bradyarrhythmia, confusion, hyperkalemia and hypoglycemia</a:t>
            </a:r>
            <a:r>
              <a:rPr lang="en-US"/>
              <a:t>.  Profound myocardial depression and cardiogenic shock are sometimes seen.</a:t>
            </a:r>
            <a:endParaRPr/>
          </a:p>
          <a:p>
            <a:pPr marL="342900" indent="-139700">
              <a:buNone/>
            </a:pPr>
            <a:endParaRPr/>
          </a:p>
          <a:p>
            <a:pPr marL="342900" indent="-342900"/>
            <a:r>
              <a:rPr lang="en-US" err="1"/>
              <a:t>Propanolol</a:t>
            </a:r>
            <a:r>
              <a:rPr lang="en-US"/>
              <a:t> and carvedilol are the most lipophilic of the beta blockers and because they can cross the BBB easily, will therefore cause the most neurotoxicity, precipitating seizures and delirium.</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1427"/>
        <p:cNvGrpSpPr/>
        <p:nvPr/>
      </p:nvGrpSpPr>
      <p:grpSpPr>
        <a:xfrm>
          <a:off x="0" y="0"/>
          <a:ext cx="0" cy="0"/>
          <a:chOff x="0" y="0"/>
          <a:chExt cx="0" cy="0"/>
        </a:xfrm>
      </p:grpSpPr>
      <p:sp>
        <p:nvSpPr>
          <p:cNvPr id="1428" name="Google Shape;1428;p186"/>
          <p:cNvSpPr txBox="1">
            <a:spLocks noGrp="1"/>
          </p:cNvSpPr>
          <p:nvPr>
            <p:ph type="title"/>
          </p:nvPr>
        </p:nvSpPr>
        <p:spPr>
          <a:xfrm>
            <a:off x="1981200" y="92076"/>
            <a:ext cx="8229600" cy="898525"/>
          </a:xfrm>
          <a:prstGeom prst="rect">
            <a:avLst/>
          </a:prstGeom>
          <a:noFill/>
          <a:ln>
            <a:noFill/>
          </a:ln>
        </p:spPr>
        <p:txBody>
          <a:bodyPr spcFirstLastPara="1" wrap="square" lIns="50800" tIns="50800" rIns="50800" bIns="50800" anchor="ctr" anchorCtr="0">
            <a:noAutofit/>
          </a:bodyPr>
          <a:lstStyle/>
          <a:p>
            <a:r>
              <a:rPr lang="en-US"/>
              <a:t>β-Blocker Overdose  </a:t>
            </a:r>
            <a:endParaRPr/>
          </a:p>
        </p:txBody>
      </p:sp>
      <p:sp>
        <p:nvSpPr>
          <p:cNvPr id="1429" name="Google Shape;1429;p186"/>
          <p:cNvSpPr txBox="1">
            <a:spLocks noGrp="1"/>
          </p:cNvSpPr>
          <p:nvPr>
            <p:ph type="body" idx="1"/>
          </p:nvPr>
        </p:nvSpPr>
        <p:spPr>
          <a:xfrm>
            <a:off x="593889" y="1143001"/>
            <a:ext cx="11189616" cy="5578475"/>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dirty="0"/>
              <a:t>BB overdose is treated with IV fluids and atropine initially.</a:t>
            </a:r>
            <a:endParaRPr dirty="0"/>
          </a:p>
          <a:p>
            <a:pPr marL="342900" indent="-215900">
              <a:buSzPts val="2000"/>
              <a:buNone/>
            </a:pPr>
            <a:endParaRPr sz="2000" dirty="0"/>
          </a:p>
          <a:p>
            <a:pPr marL="342900" indent="-342900"/>
            <a:r>
              <a:rPr lang="en-US" dirty="0"/>
              <a:t>Additional treatments include </a:t>
            </a:r>
            <a:endParaRPr dirty="0"/>
          </a:p>
          <a:p>
            <a:pPr marL="782638" lvl="1" indent="-325438"/>
            <a:r>
              <a:rPr lang="en-US" dirty="0"/>
              <a:t>IV calcium: increases heart rate </a:t>
            </a:r>
            <a:endParaRPr dirty="0"/>
          </a:p>
          <a:p>
            <a:pPr marL="782638" lvl="1" indent="-325438"/>
            <a:r>
              <a:rPr lang="en-US" dirty="0"/>
              <a:t>IV glucagon: augments cardiac contractility</a:t>
            </a:r>
            <a:endParaRPr dirty="0"/>
          </a:p>
          <a:p>
            <a:pPr marL="782638" lvl="1" indent="-325438"/>
            <a:r>
              <a:rPr lang="en-US" dirty="0"/>
              <a:t>Vasopressors</a:t>
            </a:r>
            <a:endParaRPr dirty="0"/>
          </a:p>
          <a:p>
            <a:pPr marL="782638" lvl="1" indent="-325438"/>
            <a:r>
              <a:rPr lang="en-US" dirty="0"/>
              <a:t>High dose IV insulin and glucose: insulin improves cardiac contractility</a:t>
            </a:r>
          </a:p>
          <a:p>
            <a:pPr marL="782638" lvl="1" indent="-325438"/>
            <a:r>
              <a:rPr lang="en-US" dirty="0"/>
              <a:t>Lipid emulsion: surrounds lipophilic meds rendering them ineffective</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1441"/>
        <p:cNvGrpSpPr/>
        <p:nvPr/>
      </p:nvGrpSpPr>
      <p:grpSpPr>
        <a:xfrm>
          <a:off x="0" y="0"/>
          <a:ext cx="0" cy="0"/>
          <a:chOff x="0" y="0"/>
          <a:chExt cx="0" cy="0"/>
        </a:xfrm>
      </p:grpSpPr>
      <p:sp>
        <p:nvSpPr>
          <p:cNvPr id="1442" name="Google Shape;1442;p188"/>
          <p:cNvSpPr txBox="1">
            <a:spLocks noGrp="1"/>
          </p:cNvSpPr>
          <p:nvPr>
            <p:ph type="title"/>
          </p:nvPr>
        </p:nvSpPr>
        <p:spPr>
          <a:xfrm>
            <a:off x="1981200" y="92076"/>
            <a:ext cx="8229600" cy="1050925"/>
          </a:xfrm>
          <a:prstGeom prst="rect">
            <a:avLst/>
          </a:prstGeom>
          <a:noFill/>
          <a:ln>
            <a:noFill/>
          </a:ln>
        </p:spPr>
        <p:txBody>
          <a:bodyPr spcFirstLastPara="1" wrap="square" lIns="50800" tIns="50800" rIns="50800" bIns="50800" anchor="ctr" anchorCtr="0">
            <a:noAutofit/>
          </a:bodyPr>
          <a:lstStyle/>
          <a:p>
            <a:r>
              <a:rPr lang="en-US"/>
              <a:t>Mixed α1- &amp; β-blockers</a:t>
            </a:r>
            <a:endParaRPr/>
          </a:p>
        </p:txBody>
      </p:sp>
      <p:sp>
        <p:nvSpPr>
          <p:cNvPr id="1443" name="Google Shape;1443;p188"/>
          <p:cNvSpPr txBox="1">
            <a:spLocks noGrp="1"/>
          </p:cNvSpPr>
          <p:nvPr>
            <p:ph type="body" idx="1"/>
          </p:nvPr>
        </p:nvSpPr>
        <p:spPr>
          <a:xfrm>
            <a:off x="452488" y="1219200"/>
            <a:ext cx="11387578" cy="5410200"/>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dirty="0"/>
              <a:t>These drugs block β receptors which decreases HR and myocardial oxygen demand as well as blocking α1 receptors causing peripheral vasodilation.</a:t>
            </a:r>
            <a:endParaRPr dirty="0"/>
          </a:p>
          <a:p>
            <a:pPr marL="342900" indent="-215900">
              <a:buSzPts val="2000"/>
              <a:buNone/>
            </a:pPr>
            <a:endParaRPr sz="2000" dirty="0"/>
          </a:p>
          <a:p>
            <a:pPr marL="342900" indent="-342900"/>
            <a:r>
              <a:rPr lang="en-US" b="1" i="1" dirty="0"/>
              <a:t>Carvedilol has been shown to reduce mortality in patients with systolic dysfunction and </a:t>
            </a:r>
            <a:r>
              <a:rPr lang="en-US" b="1" i="1" dirty="0" err="1"/>
              <a:t>HFrEF</a:t>
            </a:r>
            <a:r>
              <a:rPr lang="en-US" b="1" i="1" dirty="0"/>
              <a:t>.</a:t>
            </a:r>
            <a:endParaRPr b="1" i="1" dirty="0"/>
          </a:p>
          <a:p>
            <a:pPr marL="0" indent="0">
              <a:buSzPts val="1000"/>
              <a:buNone/>
            </a:pPr>
            <a:endParaRPr sz="1000" dirty="0"/>
          </a:p>
          <a:p>
            <a:pPr marL="342900" indent="-342900"/>
            <a:r>
              <a:rPr lang="en-US" u="sng" dirty="0"/>
              <a:t>Adverse effects</a:t>
            </a:r>
            <a:r>
              <a:rPr lang="en-US" dirty="0"/>
              <a:t>: Lowers standing BP more than supine BP, so the additional blockade </a:t>
            </a:r>
            <a:r>
              <a:rPr lang="en-US" b="1" i="1" dirty="0"/>
              <a:t>produces more orthostatic hypotension than a BB alone</a:t>
            </a:r>
            <a:r>
              <a:rPr lang="en-US" dirty="0"/>
              <a:t>.</a:t>
            </a:r>
            <a:endParaRPr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1434"/>
        <p:cNvGrpSpPr/>
        <p:nvPr/>
      </p:nvGrpSpPr>
      <p:grpSpPr>
        <a:xfrm>
          <a:off x="0" y="0"/>
          <a:ext cx="0" cy="0"/>
          <a:chOff x="0" y="0"/>
          <a:chExt cx="0" cy="0"/>
        </a:xfrm>
      </p:grpSpPr>
      <p:sp>
        <p:nvSpPr>
          <p:cNvPr id="1435" name="Google Shape;1435;p187"/>
          <p:cNvSpPr txBox="1">
            <a:spLocks noGrp="1"/>
          </p:cNvSpPr>
          <p:nvPr>
            <p:ph type="title"/>
          </p:nvPr>
        </p:nvSpPr>
        <p:spPr>
          <a:xfrm>
            <a:off x="1981200" y="92076"/>
            <a:ext cx="8229600" cy="1050925"/>
          </a:xfrm>
          <a:prstGeom prst="rect">
            <a:avLst/>
          </a:prstGeom>
          <a:noFill/>
          <a:ln>
            <a:noFill/>
          </a:ln>
        </p:spPr>
        <p:txBody>
          <a:bodyPr spcFirstLastPara="1" wrap="square" lIns="50800" tIns="50800" rIns="50800" bIns="50800" anchor="ctr" anchorCtr="0">
            <a:noAutofit/>
          </a:bodyPr>
          <a:lstStyle/>
          <a:p>
            <a:r>
              <a:rPr lang="en-US"/>
              <a:t>Mixed α1- &amp; β-blockers</a:t>
            </a:r>
            <a:endParaRPr/>
          </a:p>
        </p:txBody>
      </p:sp>
      <p:sp>
        <p:nvSpPr>
          <p:cNvPr id="1436" name="Google Shape;1436;p187"/>
          <p:cNvSpPr txBox="1">
            <a:spLocks noGrp="1"/>
          </p:cNvSpPr>
          <p:nvPr>
            <p:ph type="body" idx="1"/>
          </p:nvPr>
        </p:nvSpPr>
        <p:spPr>
          <a:xfrm>
            <a:off x="448559" y="1098551"/>
            <a:ext cx="11294882" cy="5622925"/>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b="1" dirty="0"/>
              <a:t>Carvedilol (Coreg): </a:t>
            </a:r>
            <a:r>
              <a:rPr lang="en-US" dirty="0"/>
              <a:t>Frequently used for BP lowering in patients with </a:t>
            </a:r>
            <a:r>
              <a:rPr lang="en-US" dirty="0" err="1"/>
              <a:t>HFrEF</a:t>
            </a:r>
            <a:r>
              <a:rPr lang="en-US" dirty="0"/>
              <a:t>, has been shown to have mortality benefit.  </a:t>
            </a:r>
            <a:endParaRPr dirty="0"/>
          </a:p>
          <a:p>
            <a:pPr marL="342900" indent="-342900"/>
            <a:r>
              <a:rPr lang="en-US" dirty="0"/>
              <a:t>Considered to have less of an effect on glucose metabolism than a straight BB.</a:t>
            </a:r>
            <a:endParaRPr sz="2000" dirty="0"/>
          </a:p>
          <a:p>
            <a:pPr marL="342900" indent="-342900"/>
            <a:r>
              <a:rPr lang="en-US" b="1" dirty="0"/>
              <a:t>Labetalol (</a:t>
            </a:r>
            <a:r>
              <a:rPr lang="en-US" b="1" dirty="0" err="1"/>
              <a:t>Trandate</a:t>
            </a:r>
            <a:r>
              <a:rPr lang="en-US" b="1" dirty="0"/>
              <a:t>): </a:t>
            </a:r>
          </a:p>
          <a:p>
            <a:pPr marL="782638" lvl="1" indent="-325438"/>
            <a:r>
              <a:rPr lang="en-US" dirty="0"/>
              <a:t>Used as an oral med for BP</a:t>
            </a:r>
          </a:p>
          <a:p>
            <a:pPr marL="782638" lvl="1" indent="-325438"/>
            <a:r>
              <a:rPr lang="en-US" dirty="0"/>
              <a:t>Frequently given </a:t>
            </a:r>
            <a:r>
              <a:rPr lang="en-US" b="1" dirty="0"/>
              <a:t>IV</a:t>
            </a:r>
            <a:r>
              <a:rPr lang="en-US" dirty="0"/>
              <a:t> prn to control BP or when pts cannot take their usual dose of oral BB.</a:t>
            </a:r>
            <a:endParaRPr dirty="0"/>
          </a:p>
          <a:p>
            <a:pPr marL="782638" lvl="1" indent="-325438"/>
            <a:r>
              <a:rPr lang="en-US" b="1" dirty="0"/>
              <a:t>Used in pregnancy- </a:t>
            </a:r>
            <a:r>
              <a:rPr lang="en-US" dirty="0"/>
              <a:t>lots of experience, safe.</a:t>
            </a:r>
            <a:endParaRPr dirty="0"/>
          </a:p>
          <a:p>
            <a:pPr marL="342900" indent="-279400">
              <a:buSzPts val="1000"/>
              <a:buNone/>
            </a:pPr>
            <a:endParaRPr sz="10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1448"/>
        <p:cNvGrpSpPr/>
        <p:nvPr/>
      </p:nvGrpSpPr>
      <p:grpSpPr>
        <a:xfrm>
          <a:off x="0" y="0"/>
          <a:ext cx="0" cy="0"/>
          <a:chOff x="0" y="0"/>
          <a:chExt cx="0" cy="0"/>
        </a:xfrm>
      </p:grpSpPr>
      <p:sp>
        <p:nvSpPr>
          <p:cNvPr id="1449" name="Google Shape;1449;p189"/>
          <p:cNvSpPr txBox="1">
            <a:spLocks noGrp="1"/>
          </p:cNvSpPr>
          <p:nvPr>
            <p:ph type="title"/>
          </p:nvPr>
        </p:nvSpPr>
        <p:spPr>
          <a:xfrm>
            <a:off x="1981200" y="92076"/>
            <a:ext cx="8229600" cy="974725"/>
          </a:xfrm>
          <a:prstGeom prst="rect">
            <a:avLst/>
          </a:prstGeom>
          <a:noFill/>
          <a:ln>
            <a:noFill/>
          </a:ln>
        </p:spPr>
        <p:txBody>
          <a:bodyPr spcFirstLastPara="1" wrap="square" lIns="50800" tIns="50800" rIns="50800" bIns="50800" anchor="ctr" anchorCtr="0">
            <a:noAutofit/>
          </a:bodyPr>
          <a:lstStyle/>
          <a:p>
            <a:r>
              <a:rPr lang="en-US"/>
              <a:t>α</a:t>
            </a:r>
            <a:r>
              <a:rPr lang="en-US" baseline="-25000"/>
              <a:t>1</a:t>
            </a:r>
            <a:r>
              <a:rPr lang="en-US"/>
              <a:t>-Blockers</a:t>
            </a:r>
            <a:endParaRPr/>
          </a:p>
        </p:txBody>
      </p:sp>
      <p:sp>
        <p:nvSpPr>
          <p:cNvPr id="1450" name="Google Shape;1450;p189"/>
          <p:cNvSpPr txBox="1">
            <a:spLocks noGrp="1"/>
          </p:cNvSpPr>
          <p:nvPr>
            <p:ph type="body" idx="1"/>
          </p:nvPr>
        </p:nvSpPr>
        <p:spPr>
          <a:xfrm>
            <a:off x="685799" y="968376"/>
            <a:ext cx="11050571" cy="5486400"/>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a:t>Terazosin (Hytrin)</a:t>
            </a:r>
            <a:endParaRPr/>
          </a:p>
          <a:p>
            <a:pPr marL="342900" indent="-342900"/>
            <a:r>
              <a:rPr lang="en-US" b="1"/>
              <a:t>Doxazosin (Cardura)</a:t>
            </a:r>
            <a:endParaRPr/>
          </a:p>
          <a:p>
            <a:pPr marL="342900" indent="-342900"/>
            <a:r>
              <a:rPr lang="en-US"/>
              <a:t>Prazosin (Minipress)</a:t>
            </a:r>
          </a:p>
          <a:p>
            <a:pPr marL="0" indent="0">
              <a:buNone/>
            </a:pPr>
            <a:endParaRPr sz="1500"/>
          </a:p>
          <a:p>
            <a:pPr marL="342900" indent="-342900"/>
            <a:r>
              <a:rPr lang="en-US"/>
              <a:t>Not appropriate monotherapy for HTN but are </a:t>
            </a:r>
            <a:r>
              <a:rPr lang="en-US" b="1" i="1"/>
              <a:t>often used when both HTN and comorbid BPH needs to be treated</a:t>
            </a:r>
            <a:r>
              <a:rPr lang="en-US"/>
              <a:t>. </a:t>
            </a:r>
            <a:endParaRPr/>
          </a:p>
          <a:p>
            <a:pPr marL="342900" indent="-247650">
              <a:buSzPts val="1500"/>
              <a:buNone/>
            </a:pPr>
            <a:endParaRPr sz="1500"/>
          </a:p>
          <a:p>
            <a:pPr marL="342900" indent="-342900"/>
            <a:r>
              <a:rPr lang="en-US"/>
              <a:t>Blockade of α</a:t>
            </a:r>
            <a:r>
              <a:rPr lang="en-US" baseline="-25000"/>
              <a:t>1 </a:t>
            </a:r>
            <a:r>
              <a:rPr lang="en-US"/>
              <a:t>causes peripheral vasodilation of veins and arteries leading to BP lowering; these drugs also block α</a:t>
            </a:r>
            <a:r>
              <a:rPr lang="en-US" baseline="-25000"/>
              <a:t>1 </a:t>
            </a:r>
            <a:r>
              <a:rPr lang="en-US"/>
              <a:t>receptors on the prostate, allowing for easier urine flow </a:t>
            </a:r>
            <a:endParaRPr/>
          </a:p>
          <a:p>
            <a:pPr marL="342900" indent="-139700">
              <a:buNone/>
            </a:pPr>
            <a:endParaRPr>
              <a:latin typeface="Constantia"/>
              <a:ea typeface="Constantia"/>
              <a:cs typeface="Constantia"/>
              <a:sym typeface="Constantia"/>
            </a:endParaRPr>
          </a:p>
          <a:p>
            <a:pPr marL="342900" indent="-139700">
              <a:buNone/>
            </a:pPr>
            <a:endParaRPr>
              <a:latin typeface="Constantia"/>
              <a:ea typeface="Constantia"/>
              <a:cs typeface="Constantia"/>
              <a:sym typeface="Constantia"/>
            </a:endParaRPr>
          </a:p>
          <a:p>
            <a:pPr marL="342900" indent="-139700">
              <a:buNone/>
            </a:pPr>
            <a:endParaRPr>
              <a:latin typeface="Constantia"/>
              <a:ea typeface="Constantia"/>
              <a:cs typeface="Constantia"/>
              <a:sym typeface="Constantia"/>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1455"/>
        <p:cNvGrpSpPr/>
        <p:nvPr/>
      </p:nvGrpSpPr>
      <p:grpSpPr>
        <a:xfrm>
          <a:off x="0" y="0"/>
          <a:ext cx="0" cy="0"/>
          <a:chOff x="0" y="0"/>
          <a:chExt cx="0" cy="0"/>
        </a:xfrm>
      </p:grpSpPr>
      <p:sp>
        <p:nvSpPr>
          <p:cNvPr id="1456" name="Google Shape;1456;p190"/>
          <p:cNvSpPr txBox="1">
            <a:spLocks noGrp="1"/>
          </p:cNvSpPr>
          <p:nvPr>
            <p:ph type="title"/>
          </p:nvPr>
        </p:nvSpPr>
        <p:spPr>
          <a:xfrm>
            <a:off x="1981200" y="92076"/>
            <a:ext cx="8229600" cy="1127125"/>
          </a:xfrm>
          <a:prstGeom prst="rect">
            <a:avLst/>
          </a:prstGeom>
          <a:noFill/>
          <a:ln>
            <a:noFill/>
          </a:ln>
        </p:spPr>
        <p:txBody>
          <a:bodyPr spcFirstLastPara="1" wrap="square" lIns="50800" tIns="50800" rIns="50800" bIns="50800" anchor="ctr" anchorCtr="0">
            <a:noAutofit/>
          </a:bodyPr>
          <a:lstStyle/>
          <a:p>
            <a:r>
              <a:rPr lang="en-US"/>
              <a:t>α</a:t>
            </a:r>
            <a:r>
              <a:rPr lang="en-US" baseline="-25000"/>
              <a:t>1</a:t>
            </a:r>
            <a:r>
              <a:rPr lang="en-US"/>
              <a:t>-Blockers</a:t>
            </a:r>
            <a:endParaRPr/>
          </a:p>
        </p:txBody>
      </p:sp>
      <p:sp>
        <p:nvSpPr>
          <p:cNvPr id="1457" name="Google Shape;1457;p190"/>
          <p:cNvSpPr txBox="1">
            <a:spLocks noGrp="1"/>
          </p:cNvSpPr>
          <p:nvPr>
            <p:ph type="body" idx="1"/>
          </p:nvPr>
        </p:nvSpPr>
        <p:spPr>
          <a:xfrm>
            <a:off x="669303" y="1143000"/>
            <a:ext cx="11170763" cy="5578475"/>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b="1" dirty="0"/>
              <a:t>Dosed at bedtime to limit the effect of orthostasis</a:t>
            </a:r>
            <a:endParaRPr b="1" dirty="0"/>
          </a:p>
          <a:p>
            <a:pPr marL="342900" indent="-215900">
              <a:buSzPts val="2000"/>
              <a:buNone/>
            </a:pPr>
            <a:endParaRPr sz="2000" dirty="0"/>
          </a:p>
          <a:p>
            <a:pPr marL="342900" indent="-342900"/>
            <a:r>
              <a:rPr lang="en-US" u="sng" dirty="0"/>
              <a:t>Adverse effects</a:t>
            </a:r>
            <a:r>
              <a:rPr lang="en-US" dirty="0"/>
              <a:t>: </a:t>
            </a:r>
            <a:endParaRPr dirty="0"/>
          </a:p>
          <a:p>
            <a:pPr marL="782638" lvl="1" indent="-325438"/>
            <a:r>
              <a:rPr lang="en-US" b="1" dirty="0"/>
              <a:t>Orthostatic hypotension</a:t>
            </a:r>
            <a:r>
              <a:rPr lang="en-US" dirty="0"/>
              <a:t>: especially in older patients</a:t>
            </a:r>
            <a:endParaRPr dirty="0"/>
          </a:p>
          <a:p>
            <a:pPr marL="782638" lvl="1" indent="-325438"/>
            <a:r>
              <a:rPr lang="en-US" dirty="0"/>
              <a:t>1</a:t>
            </a:r>
            <a:r>
              <a:rPr lang="en-US" baseline="30000" dirty="0"/>
              <a:t>st</a:t>
            </a:r>
            <a:r>
              <a:rPr lang="en-US" dirty="0"/>
              <a:t> dose phenomenon: transient dizziness, faintness, palpitations, syncope within 1 to 3 hours of the 1</a:t>
            </a:r>
            <a:r>
              <a:rPr lang="en-US" baseline="30000" dirty="0"/>
              <a:t>st</a:t>
            </a:r>
            <a:r>
              <a:rPr lang="en-US" dirty="0"/>
              <a:t> dose</a:t>
            </a:r>
            <a:endParaRPr dirty="0"/>
          </a:p>
          <a:p>
            <a:pPr marL="782638" lvl="1" indent="-325438"/>
            <a:r>
              <a:rPr lang="en-US" b="1" dirty="0"/>
              <a:t>Edema</a:t>
            </a:r>
            <a:r>
              <a:rPr lang="en-US" dirty="0"/>
              <a:t>, may give with a diuretic, but monitor for worsening orthostasis</a:t>
            </a:r>
            <a:endParaRPr dirty="0"/>
          </a:p>
          <a:p>
            <a:pPr marL="342900" indent="-139700">
              <a:buNone/>
            </a:pPr>
            <a:endParaRPr dirty="0"/>
          </a:p>
          <a:p>
            <a:pPr marL="342900" indent="-139700">
              <a:buNone/>
            </a:pPr>
            <a:endParaRPr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1462"/>
        <p:cNvGrpSpPr/>
        <p:nvPr/>
      </p:nvGrpSpPr>
      <p:grpSpPr>
        <a:xfrm>
          <a:off x="0" y="0"/>
          <a:ext cx="0" cy="0"/>
          <a:chOff x="0" y="0"/>
          <a:chExt cx="0" cy="0"/>
        </a:xfrm>
      </p:grpSpPr>
      <p:sp>
        <p:nvSpPr>
          <p:cNvPr id="1463" name="Google Shape;1463;p191"/>
          <p:cNvSpPr txBox="1">
            <a:spLocks noGrp="1"/>
          </p:cNvSpPr>
          <p:nvPr>
            <p:ph type="title"/>
          </p:nvPr>
        </p:nvSpPr>
        <p:spPr>
          <a:xfrm>
            <a:off x="1981200" y="92076"/>
            <a:ext cx="8229600" cy="974725"/>
          </a:xfrm>
          <a:prstGeom prst="rect">
            <a:avLst/>
          </a:prstGeom>
          <a:noFill/>
          <a:ln>
            <a:noFill/>
          </a:ln>
        </p:spPr>
        <p:txBody>
          <a:bodyPr spcFirstLastPara="1" wrap="square" lIns="50800" tIns="50800" rIns="50800" bIns="50800" anchor="ctr" anchorCtr="0">
            <a:noAutofit/>
          </a:bodyPr>
          <a:lstStyle/>
          <a:p>
            <a:r>
              <a:rPr lang="en-US"/>
              <a:t>Central α</a:t>
            </a:r>
            <a:r>
              <a:rPr lang="en-US" baseline="-25000"/>
              <a:t>2</a:t>
            </a:r>
            <a:r>
              <a:rPr lang="en-US"/>
              <a:t>-Agonists</a:t>
            </a:r>
            <a:endParaRPr/>
          </a:p>
        </p:txBody>
      </p:sp>
      <p:sp>
        <p:nvSpPr>
          <p:cNvPr id="1464" name="Google Shape;1464;p191"/>
          <p:cNvSpPr txBox="1">
            <a:spLocks noGrp="1"/>
          </p:cNvSpPr>
          <p:nvPr>
            <p:ph type="body" idx="1"/>
          </p:nvPr>
        </p:nvSpPr>
        <p:spPr>
          <a:xfrm>
            <a:off x="659876" y="1066801"/>
            <a:ext cx="11104776" cy="5654674"/>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b="1"/>
              <a:t>Clonidine</a:t>
            </a:r>
            <a:r>
              <a:rPr lang="en-US"/>
              <a:t> (Catapres) PO or Patch</a:t>
            </a:r>
            <a:endParaRPr/>
          </a:p>
          <a:p>
            <a:pPr marL="342900" indent="-342900"/>
            <a:r>
              <a:rPr lang="en-US" b="1"/>
              <a:t>Methyldopa </a:t>
            </a:r>
            <a:r>
              <a:rPr lang="en-US"/>
              <a:t>(</a:t>
            </a:r>
            <a:r>
              <a:rPr lang="en-US" err="1"/>
              <a:t>Aldomet</a:t>
            </a:r>
            <a:r>
              <a:rPr lang="en-US"/>
              <a:t>) </a:t>
            </a:r>
            <a:endParaRPr/>
          </a:p>
          <a:p>
            <a:pPr marL="342900" indent="-342900"/>
            <a:r>
              <a:rPr lang="en-US"/>
              <a:t>Guanfacine (Tenex)</a:t>
            </a:r>
            <a:endParaRPr/>
          </a:p>
          <a:p>
            <a:pPr marL="342900" indent="-184150">
              <a:buSzPts val="2500"/>
              <a:buNone/>
            </a:pPr>
            <a:endParaRPr sz="2500"/>
          </a:p>
          <a:p>
            <a:pPr marL="342900" indent="-342900"/>
            <a:r>
              <a:rPr lang="en-US"/>
              <a:t>These drugs stimulate α</a:t>
            </a:r>
            <a:r>
              <a:rPr lang="en-US" baseline="-25000"/>
              <a:t>2</a:t>
            </a:r>
            <a:r>
              <a:rPr lang="en-US"/>
              <a:t>-adrenergic receptors in the brain  </a:t>
            </a:r>
            <a:endParaRPr/>
          </a:p>
          <a:p>
            <a:pPr marL="782638" lvl="1" indent="-325438">
              <a:buSzPts val="3000"/>
            </a:pPr>
            <a:r>
              <a:rPr lang="en-US" sz="3000" b="1" i="1"/>
              <a:t>Reduces sympathetic outflow from the CNS and increases vagal tone </a:t>
            </a:r>
            <a:endParaRPr b="1" i="1"/>
          </a:p>
          <a:p>
            <a:pPr marL="782638" lvl="1" indent="-325438">
              <a:buSzPts val="3000"/>
            </a:pPr>
            <a:r>
              <a:rPr lang="en-US" sz="3000" b="1" i="1"/>
              <a:t>Peripheral stimulation of presynaptic α</a:t>
            </a:r>
            <a:r>
              <a:rPr lang="en-US" sz="3000" b="1" i="1" baseline="-25000"/>
              <a:t>2</a:t>
            </a:r>
            <a:r>
              <a:rPr lang="en-US" sz="3000" b="1" i="1"/>
              <a:t>-receptors </a:t>
            </a:r>
            <a:r>
              <a:rPr lang="en-US" sz="3000"/>
              <a:t>may further reduce sympathetic tone </a:t>
            </a:r>
            <a:endParaRPr/>
          </a:p>
          <a:p>
            <a:pPr marL="342900" indent="-139700">
              <a:buNone/>
            </a:pPr>
            <a:endParaRPr>
              <a:latin typeface="Constantia"/>
              <a:ea typeface="Constantia"/>
              <a:cs typeface="Constantia"/>
              <a:sym typeface="Constantia"/>
            </a:endParaRPr>
          </a:p>
          <a:p>
            <a:pPr marL="782638" lvl="1" indent="-122237">
              <a:buNone/>
            </a:pPr>
            <a:endParaRPr>
              <a:latin typeface="Constantia"/>
              <a:ea typeface="Constantia"/>
              <a:cs typeface="Constantia"/>
              <a:sym typeface="Constantia"/>
            </a:endParaRPr>
          </a:p>
          <a:p>
            <a:pPr marL="782638" lvl="1" indent="-122237">
              <a:buNone/>
            </a:pPr>
            <a:endParaRPr>
              <a:latin typeface="Constantia"/>
              <a:ea typeface="Constantia"/>
              <a:cs typeface="Constantia"/>
              <a:sym typeface="Constantia"/>
            </a:endParaRPr>
          </a:p>
          <a:p>
            <a:pPr marL="342900" indent="-139700">
              <a:buNone/>
            </a:pPr>
            <a:endParaRPr>
              <a:latin typeface="Constantia"/>
              <a:ea typeface="Constantia"/>
              <a:cs typeface="Constantia"/>
              <a:sym typeface="Constantia"/>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1477"/>
        <p:cNvGrpSpPr/>
        <p:nvPr/>
      </p:nvGrpSpPr>
      <p:grpSpPr>
        <a:xfrm>
          <a:off x="0" y="0"/>
          <a:ext cx="0" cy="0"/>
          <a:chOff x="0" y="0"/>
          <a:chExt cx="0" cy="0"/>
        </a:xfrm>
      </p:grpSpPr>
      <p:sp>
        <p:nvSpPr>
          <p:cNvPr id="1478" name="Google Shape;1478;p193"/>
          <p:cNvSpPr txBox="1">
            <a:spLocks noGrp="1"/>
          </p:cNvSpPr>
          <p:nvPr>
            <p:ph type="title"/>
          </p:nvPr>
        </p:nvSpPr>
        <p:spPr>
          <a:xfrm>
            <a:off x="1981200" y="92076"/>
            <a:ext cx="8229600" cy="974725"/>
          </a:xfrm>
          <a:prstGeom prst="rect">
            <a:avLst/>
          </a:prstGeom>
          <a:noFill/>
          <a:ln>
            <a:noFill/>
          </a:ln>
        </p:spPr>
        <p:txBody>
          <a:bodyPr spcFirstLastPara="1" wrap="square" lIns="50800" tIns="50800" rIns="50800" bIns="50800" anchor="ctr" anchorCtr="0">
            <a:noAutofit/>
          </a:bodyPr>
          <a:lstStyle/>
          <a:p>
            <a:r>
              <a:rPr lang="en-US"/>
              <a:t>Central α</a:t>
            </a:r>
            <a:r>
              <a:rPr lang="en-US" baseline="-25000"/>
              <a:t>2</a:t>
            </a:r>
            <a:r>
              <a:rPr lang="en-US"/>
              <a:t>-Agonists</a:t>
            </a:r>
            <a:endParaRPr/>
          </a:p>
        </p:txBody>
      </p:sp>
      <p:sp>
        <p:nvSpPr>
          <p:cNvPr id="1479" name="Google Shape;1479;p193"/>
          <p:cNvSpPr txBox="1">
            <a:spLocks noGrp="1"/>
          </p:cNvSpPr>
          <p:nvPr>
            <p:ph type="body" idx="1"/>
          </p:nvPr>
        </p:nvSpPr>
        <p:spPr>
          <a:xfrm>
            <a:off x="669303" y="1159497"/>
            <a:ext cx="11123629" cy="5458284"/>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b="1" dirty="0"/>
              <a:t>Methyldopa: </a:t>
            </a:r>
            <a:r>
              <a:rPr lang="en-US" dirty="0"/>
              <a:t>one of the safest drugs to use in pregnant hypertensives.  Rarely used otherwise.</a:t>
            </a:r>
          </a:p>
          <a:p>
            <a:pPr marL="342900" indent="-342900">
              <a:spcBef>
                <a:spcPts val="0"/>
              </a:spcBef>
            </a:pPr>
            <a:endParaRPr sz="2000" dirty="0"/>
          </a:p>
          <a:p>
            <a:pPr marL="342900" indent="-342900"/>
            <a:r>
              <a:rPr lang="en-US" b="1" dirty="0"/>
              <a:t>Clonidine:</a:t>
            </a:r>
          </a:p>
          <a:p>
            <a:pPr marL="800100" lvl="1" indent="-342900">
              <a:buChar char="•"/>
            </a:pPr>
            <a:r>
              <a:rPr lang="en-US" b="1" i="1" dirty="0"/>
              <a:t>Compliance issues</a:t>
            </a:r>
            <a:r>
              <a:rPr lang="en-US" b="1" dirty="0"/>
              <a:t>:</a:t>
            </a:r>
            <a:r>
              <a:rPr lang="en-US" dirty="0"/>
              <a:t> PO bid-</a:t>
            </a:r>
            <a:r>
              <a:rPr lang="en-US" dirty="0" err="1"/>
              <a:t>tid</a:t>
            </a:r>
            <a:r>
              <a:rPr lang="en-US" dirty="0"/>
              <a:t>; may be given by patch once weekly ($$$).  </a:t>
            </a:r>
          </a:p>
          <a:p>
            <a:pPr marL="800100" lvl="1" indent="-342900">
              <a:buChar char="•"/>
            </a:pPr>
            <a:r>
              <a:rPr lang="en-US" b="1" i="1" u="sng" dirty="0"/>
              <a:t>ESRD</a:t>
            </a:r>
            <a:r>
              <a:rPr lang="en-US" b="1" u="sng" dirty="0"/>
              <a:t>: </a:t>
            </a:r>
            <a:r>
              <a:rPr lang="en-US" u="sng" dirty="0"/>
              <a:t>safe in renal failure and fairly strong- used in ESRD pts with severe HTN</a:t>
            </a:r>
            <a:r>
              <a:rPr lang="en-US" dirty="0"/>
              <a:t>.  </a:t>
            </a:r>
          </a:p>
          <a:p>
            <a:pPr marL="800100" lvl="1" indent="-342900">
              <a:buChar char="•"/>
            </a:pPr>
            <a:r>
              <a:rPr lang="en-US" b="1" i="1" dirty="0"/>
              <a:t>Alcohol withdrawal</a:t>
            </a:r>
            <a:r>
              <a:rPr lang="en-US" dirty="0"/>
              <a:t>: directly counteracts the withdrawal symptoms mediated by increased sympathetic CNS tone.</a:t>
            </a:r>
            <a:endParaRPr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1484"/>
        <p:cNvGrpSpPr/>
        <p:nvPr/>
      </p:nvGrpSpPr>
      <p:grpSpPr>
        <a:xfrm>
          <a:off x="0" y="0"/>
          <a:ext cx="0" cy="0"/>
          <a:chOff x="0" y="0"/>
          <a:chExt cx="0" cy="0"/>
        </a:xfrm>
      </p:grpSpPr>
      <p:sp>
        <p:nvSpPr>
          <p:cNvPr id="1485" name="Google Shape;1485;p194"/>
          <p:cNvSpPr txBox="1">
            <a:spLocks noGrp="1"/>
          </p:cNvSpPr>
          <p:nvPr>
            <p:ph type="title"/>
          </p:nvPr>
        </p:nvSpPr>
        <p:spPr>
          <a:xfrm>
            <a:off x="1761068" y="92076"/>
            <a:ext cx="8647289" cy="974725"/>
          </a:xfrm>
          <a:prstGeom prst="rect">
            <a:avLst/>
          </a:prstGeom>
          <a:noFill/>
          <a:ln>
            <a:noFill/>
          </a:ln>
        </p:spPr>
        <p:txBody>
          <a:bodyPr spcFirstLastPara="1" wrap="square" lIns="50800" tIns="50800" rIns="50800" bIns="50800" anchor="ctr" anchorCtr="0">
            <a:noAutofit/>
          </a:bodyPr>
          <a:lstStyle/>
          <a:p>
            <a:r>
              <a:rPr lang="en-US"/>
              <a:t>Central α</a:t>
            </a:r>
            <a:r>
              <a:rPr lang="en-US" baseline="-25000"/>
              <a:t>2</a:t>
            </a:r>
            <a:r>
              <a:rPr lang="en-US"/>
              <a:t>-Agonists: Adverse Effects</a:t>
            </a:r>
            <a:endParaRPr/>
          </a:p>
        </p:txBody>
      </p:sp>
      <p:sp>
        <p:nvSpPr>
          <p:cNvPr id="1486" name="Google Shape;1486;p194"/>
          <p:cNvSpPr txBox="1">
            <a:spLocks noGrp="1"/>
          </p:cNvSpPr>
          <p:nvPr>
            <p:ph type="body" idx="1"/>
          </p:nvPr>
        </p:nvSpPr>
        <p:spPr>
          <a:xfrm>
            <a:off x="829559" y="1143000"/>
            <a:ext cx="10850251" cy="5578475"/>
          </a:xfrm>
          <a:prstGeom prst="rect">
            <a:avLst/>
          </a:prstGeom>
          <a:noFill/>
          <a:ln>
            <a:noFill/>
          </a:ln>
        </p:spPr>
        <p:txBody>
          <a:bodyPr spcFirstLastPara="1" wrap="square" lIns="91425" tIns="45700" rIns="91425" bIns="45700" anchor="t" anchorCtr="0">
            <a:noAutofit/>
          </a:bodyPr>
          <a:lstStyle/>
          <a:p>
            <a:pPr indent="-457200">
              <a:buFont typeface="Arial" panose="020B0604020202020204" pitchFamily="34" charset="0"/>
              <a:buChar char="•"/>
            </a:pPr>
            <a:r>
              <a:rPr lang="en-US" b="1" i="1"/>
              <a:t>Abrupt discontinuation may cause rebound HTN </a:t>
            </a:r>
            <a:r>
              <a:rPr lang="en-US"/>
              <a:t>(clonidine), this is a significant risk.</a:t>
            </a:r>
            <a:endParaRPr/>
          </a:p>
          <a:p>
            <a:pPr indent="-457200">
              <a:buFont typeface="Arial" panose="020B0604020202020204" pitchFamily="34" charset="0"/>
              <a:buChar char="•"/>
            </a:pPr>
            <a:r>
              <a:rPr lang="en-US"/>
              <a:t>Orthostatic hypotension</a:t>
            </a:r>
            <a:endParaRPr/>
          </a:p>
          <a:p>
            <a:pPr indent="-457200">
              <a:buFont typeface="Arial" panose="020B0604020202020204" pitchFamily="34" charset="0"/>
              <a:buChar char="•"/>
            </a:pPr>
            <a:r>
              <a:rPr lang="en-US"/>
              <a:t>Bradycardia </a:t>
            </a:r>
            <a:endParaRPr/>
          </a:p>
          <a:p>
            <a:pPr indent="-457200">
              <a:buFont typeface="Arial" panose="020B0604020202020204" pitchFamily="34" charset="0"/>
              <a:buChar char="•"/>
            </a:pPr>
            <a:r>
              <a:rPr lang="en-US"/>
              <a:t>Dizziness, drowsiness, HA and fatigue</a:t>
            </a:r>
            <a:endParaRPr/>
          </a:p>
          <a:p>
            <a:pPr indent="-457200">
              <a:buFont typeface="Arial" panose="020B0604020202020204" pitchFamily="34" charset="0"/>
              <a:buChar char="•"/>
            </a:pPr>
            <a:r>
              <a:rPr lang="en-US"/>
              <a:t>Anticholinergic side effects (clonidine)- dry mouth, constipation, flushing, abdominal pain from a slow gut.</a:t>
            </a:r>
            <a:endParaRPr/>
          </a:p>
          <a:p>
            <a:pPr indent="-457200">
              <a:buFont typeface="Arial" panose="020B0604020202020204" pitchFamily="34" charset="0"/>
              <a:buChar char="•"/>
            </a:pPr>
            <a:r>
              <a:rPr lang="en-US"/>
              <a:t>Sodium/water retention leading to edema</a:t>
            </a:r>
            <a:endParaRPr/>
          </a:p>
          <a:p>
            <a:pPr marL="457200" lvl="1" indent="0">
              <a:buNone/>
            </a:pPr>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1491"/>
        <p:cNvGrpSpPr/>
        <p:nvPr/>
      </p:nvGrpSpPr>
      <p:grpSpPr>
        <a:xfrm>
          <a:off x="0" y="0"/>
          <a:ext cx="0" cy="0"/>
          <a:chOff x="0" y="0"/>
          <a:chExt cx="0" cy="0"/>
        </a:xfrm>
      </p:grpSpPr>
      <p:sp>
        <p:nvSpPr>
          <p:cNvPr id="1492" name="Google Shape;1492;p195"/>
          <p:cNvSpPr txBox="1">
            <a:spLocks noGrp="1"/>
          </p:cNvSpPr>
          <p:nvPr>
            <p:ph type="title"/>
          </p:nvPr>
        </p:nvSpPr>
        <p:spPr>
          <a:xfrm>
            <a:off x="1981200" y="92076"/>
            <a:ext cx="8229600" cy="974725"/>
          </a:xfrm>
          <a:prstGeom prst="rect">
            <a:avLst/>
          </a:prstGeom>
          <a:noFill/>
          <a:ln>
            <a:noFill/>
          </a:ln>
        </p:spPr>
        <p:txBody>
          <a:bodyPr spcFirstLastPara="1" wrap="square" lIns="50800" tIns="50800" rIns="50800" bIns="50800" anchor="ctr" anchorCtr="0">
            <a:noAutofit/>
          </a:bodyPr>
          <a:lstStyle/>
          <a:p>
            <a:r>
              <a:rPr lang="en-US"/>
              <a:t>Central α</a:t>
            </a:r>
            <a:r>
              <a:rPr lang="en-US" baseline="-25000"/>
              <a:t>2</a:t>
            </a:r>
            <a:r>
              <a:rPr lang="en-US"/>
              <a:t>-Agonists Overdose</a:t>
            </a:r>
            <a:endParaRPr/>
          </a:p>
        </p:txBody>
      </p:sp>
      <p:sp>
        <p:nvSpPr>
          <p:cNvPr id="1493" name="Google Shape;1493;p195"/>
          <p:cNvSpPr txBox="1">
            <a:spLocks noGrp="1"/>
          </p:cNvSpPr>
          <p:nvPr>
            <p:ph type="body" idx="1"/>
          </p:nvPr>
        </p:nvSpPr>
        <p:spPr>
          <a:xfrm>
            <a:off x="678731" y="1143000"/>
            <a:ext cx="11378152" cy="5578475"/>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sz="2800"/>
              <a:t>Overdose with tablets becomes symptomatic in one hour, OD with patch maybe longer.  </a:t>
            </a:r>
            <a:endParaRPr sz="2800"/>
          </a:p>
          <a:p>
            <a:pPr marL="342900" indent="-139700">
              <a:buNone/>
            </a:pPr>
            <a:endParaRPr sz="2800"/>
          </a:p>
          <a:p>
            <a:pPr marL="342900" indent="-342900"/>
            <a:r>
              <a:rPr lang="en-US" sz="2800"/>
              <a:t>Clonidine overdose presents like an opioid overdose with </a:t>
            </a:r>
            <a:r>
              <a:rPr lang="en-US" sz="2800" b="1" i="1"/>
              <a:t>pinpoint pupils, depressed LOC, hypotension, coma and respiratory depression</a:t>
            </a:r>
            <a:r>
              <a:rPr lang="en-US" sz="2800"/>
              <a:t>.</a:t>
            </a:r>
          </a:p>
          <a:p>
            <a:pPr marL="342900" indent="-342900"/>
            <a:endParaRPr sz="2800"/>
          </a:p>
          <a:p>
            <a:pPr marL="342900" indent="-342900"/>
            <a:r>
              <a:rPr lang="en-US" sz="2800"/>
              <a:t>Patients also develop </a:t>
            </a:r>
            <a:r>
              <a:rPr lang="en-US" sz="2800" b="1" i="1"/>
              <a:t>hypothermia.</a:t>
            </a:r>
            <a:endParaRPr sz="2800" b="1" i="1"/>
          </a:p>
          <a:p>
            <a:pPr marL="342900" indent="-139700">
              <a:buNone/>
            </a:pPr>
            <a:endParaRPr sz="2800"/>
          </a:p>
          <a:p>
            <a:pPr marL="342900" indent="-342900"/>
            <a:r>
              <a:rPr lang="en-US" sz="2800"/>
              <a:t>Treatment with naloxone, IV fluids, atropine, pacing, and vasopressors.</a:t>
            </a:r>
            <a:endParaRPr sz="280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1498"/>
        <p:cNvGrpSpPr/>
        <p:nvPr/>
      </p:nvGrpSpPr>
      <p:grpSpPr>
        <a:xfrm>
          <a:off x="0" y="0"/>
          <a:ext cx="0" cy="0"/>
          <a:chOff x="0" y="0"/>
          <a:chExt cx="0" cy="0"/>
        </a:xfrm>
      </p:grpSpPr>
      <p:sp>
        <p:nvSpPr>
          <p:cNvPr id="1499" name="Google Shape;1499;p196"/>
          <p:cNvSpPr txBox="1">
            <a:spLocks noGrp="1"/>
          </p:cNvSpPr>
          <p:nvPr>
            <p:ph type="title"/>
          </p:nvPr>
        </p:nvSpPr>
        <p:spPr>
          <a:xfrm>
            <a:off x="1981200" y="92076"/>
            <a:ext cx="8229600" cy="822325"/>
          </a:xfrm>
          <a:prstGeom prst="rect">
            <a:avLst/>
          </a:prstGeom>
          <a:noFill/>
          <a:ln>
            <a:noFill/>
          </a:ln>
        </p:spPr>
        <p:txBody>
          <a:bodyPr spcFirstLastPara="1" wrap="square" lIns="50800" tIns="50800" rIns="50800" bIns="50800" anchor="ctr" anchorCtr="0">
            <a:noAutofit/>
          </a:bodyPr>
          <a:lstStyle/>
          <a:p>
            <a:r>
              <a:rPr lang="en-US"/>
              <a:t>Direct Arterial Vasodilators </a:t>
            </a:r>
            <a:endParaRPr/>
          </a:p>
        </p:txBody>
      </p:sp>
      <p:sp>
        <p:nvSpPr>
          <p:cNvPr id="1500" name="Google Shape;1500;p196"/>
          <p:cNvSpPr txBox="1">
            <a:spLocks noGrp="1"/>
          </p:cNvSpPr>
          <p:nvPr>
            <p:ph type="body" idx="1"/>
          </p:nvPr>
        </p:nvSpPr>
        <p:spPr>
          <a:xfrm>
            <a:off x="546755" y="1143000"/>
            <a:ext cx="11095347" cy="5622925"/>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dirty="0"/>
              <a:t>Directly </a:t>
            </a:r>
            <a:r>
              <a:rPr lang="en-US" b="1" dirty="0"/>
              <a:t>relaxes arterial smooth </a:t>
            </a:r>
            <a:r>
              <a:rPr lang="en-US" dirty="0"/>
              <a:t>muscle causing an antihypertensive effect with little/no venous vasodilation.</a:t>
            </a:r>
            <a:endParaRPr dirty="0"/>
          </a:p>
          <a:p>
            <a:pPr marL="342900" indent="-279400">
              <a:buSzPts val="1000"/>
              <a:buNone/>
            </a:pPr>
            <a:endParaRPr sz="1000" dirty="0"/>
          </a:p>
          <a:p>
            <a:pPr marL="342900" indent="-342900"/>
            <a:r>
              <a:rPr lang="en-US" b="1" dirty="0"/>
              <a:t>Hydralazine: </a:t>
            </a:r>
            <a:r>
              <a:rPr lang="en-US" dirty="0"/>
              <a:t>commonly used IV but also used PO to control BP, is heart rate neutral.  May be used as part of a combination of drugs in a pts with heart failure.   </a:t>
            </a:r>
            <a:r>
              <a:rPr lang="en-US" b="1" dirty="0"/>
              <a:t>Also used for ESRD patients, safe in CKD/ AKI.</a:t>
            </a:r>
            <a:endParaRPr b="1" dirty="0"/>
          </a:p>
          <a:p>
            <a:pPr marL="342900" indent="-215900">
              <a:buSzPts val="2000"/>
              <a:buNone/>
            </a:pPr>
            <a:endParaRPr sz="2000" dirty="0"/>
          </a:p>
          <a:p>
            <a:pPr marL="342900" indent="-342900"/>
            <a:r>
              <a:rPr lang="en-US" dirty="0"/>
              <a:t>Minoxidil: often used for renal failure patients with difficult to control hypertension.</a:t>
            </a:r>
            <a:endParaRPr dirty="0"/>
          </a:p>
          <a:p>
            <a:pPr marL="342900" indent="-279400">
              <a:buSzPts val="1000"/>
              <a:buNone/>
            </a:pPr>
            <a:endParaRPr sz="1000" dirty="0"/>
          </a:p>
          <a:p>
            <a:pPr marL="342900" indent="-139700">
              <a:buNone/>
            </a:pPr>
            <a:endParaRPr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1505"/>
        <p:cNvGrpSpPr/>
        <p:nvPr/>
      </p:nvGrpSpPr>
      <p:grpSpPr>
        <a:xfrm>
          <a:off x="0" y="0"/>
          <a:ext cx="0" cy="0"/>
          <a:chOff x="0" y="0"/>
          <a:chExt cx="0" cy="0"/>
        </a:xfrm>
      </p:grpSpPr>
      <p:sp>
        <p:nvSpPr>
          <p:cNvPr id="1506" name="Google Shape;1506;p197"/>
          <p:cNvSpPr txBox="1">
            <a:spLocks noGrp="1"/>
          </p:cNvSpPr>
          <p:nvPr>
            <p:ph type="title"/>
          </p:nvPr>
        </p:nvSpPr>
        <p:spPr>
          <a:xfrm>
            <a:off x="1981200" y="92075"/>
            <a:ext cx="8229600" cy="1296458"/>
          </a:xfrm>
          <a:prstGeom prst="rect">
            <a:avLst/>
          </a:prstGeom>
          <a:noFill/>
          <a:ln>
            <a:noFill/>
          </a:ln>
        </p:spPr>
        <p:txBody>
          <a:bodyPr spcFirstLastPara="1" wrap="square" lIns="50800" tIns="50800" rIns="50800" bIns="50800" anchor="ctr" anchorCtr="0">
            <a:noAutofit/>
          </a:bodyPr>
          <a:lstStyle/>
          <a:p>
            <a:r>
              <a:rPr lang="en-US"/>
              <a:t>Direct Arterial Vasodilators: Adverse Effects </a:t>
            </a:r>
            <a:endParaRPr/>
          </a:p>
        </p:txBody>
      </p:sp>
      <p:sp>
        <p:nvSpPr>
          <p:cNvPr id="1507" name="Google Shape;1507;p197"/>
          <p:cNvSpPr txBox="1">
            <a:spLocks noGrp="1"/>
          </p:cNvSpPr>
          <p:nvPr>
            <p:ph type="body" idx="1"/>
          </p:nvPr>
        </p:nvSpPr>
        <p:spPr>
          <a:xfrm>
            <a:off x="405353" y="1478845"/>
            <a:ext cx="11491273" cy="3635023"/>
          </a:xfrm>
          <a:prstGeom prst="rect">
            <a:avLst/>
          </a:prstGeom>
          <a:noFill/>
          <a:ln>
            <a:noFill/>
          </a:ln>
        </p:spPr>
        <p:txBody>
          <a:bodyPr spcFirstLastPara="1" wrap="square" lIns="91425" tIns="45700" rIns="91425" bIns="45700" anchor="t" anchorCtr="0">
            <a:noAutofit/>
          </a:bodyPr>
          <a:lstStyle/>
          <a:p>
            <a:pPr marL="514350" indent="-514350"/>
            <a:r>
              <a:rPr lang="en-US"/>
              <a:t>Sodium/water retention causing edema, may use with diuretic (loop) in order to minimize</a:t>
            </a:r>
            <a:endParaRPr/>
          </a:p>
          <a:p>
            <a:pPr marL="514350" indent="-514350"/>
            <a:r>
              <a:rPr lang="en-US"/>
              <a:t>Angina, caution in patients with CAD, may cause vascular steal.</a:t>
            </a:r>
            <a:endParaRPr/>
          </a:p>
          <a:p>
            <a:pPr marL="514350" indent="-514350"/>
            <a:r>
              <a:rPr lang="en-US"/>
              <a:t>Reflex tachycardia due to excessive vasodilation.</a:t>
            </a:r>
          </a:p>
          <a:p>
            <a:pPr marL="514350" indent="-514350"/>
            <a:r>
              <a:rPr lang="en-US"/>
              <a:t>Hydralazine is known to cause drug induced lupus.</a:t>
            </a:r>
            <a:endParaRPr/>
          </a:p>
        </p:txBody>
      </p:sp>
      <p:pic>
        <p:nvPicPr>
          <p:cNvPr id="1509" name="Google Shape;1509;p197" descr="Finasteride vs. Minoxidil: Which men's hair loss treatment is best?"/>
          <p:cNvPicPr preferRelativeResize="0"/>
          <p:nvPr/>
        </p:nvPicPr>
        <p:blipFill rotWithShape="1">
          <a:blip r:embed="rId3">
            <a:alphaModFix/>
          </a:blip>
          <a:srcRect/>
          <a:stretch/>
        </p:blipFill>
        <p:spPr>
          <a:xfrm>
            <a:off x="7985466" y="4481307"/>
            <a:ext cx="3801181" cy="2217208"/>
          </a:xfrm>
          <a:prstGeom prst="rect">
            <a:avLst/>
          </a:prstGeom>
          <a:noFill/>
          <a:ln>
            <a:noFill/>
          </a:ln>
        </p:spPr>
      </p:pic>
      <p:sp>
        <p:nvSpPr>
          <p:cNvPr id="2" name="TextBox 1">
            <a:extLst>
              <a:ext uri="{FF2B5EF4-FFF2-40B4-BE49-F238E27FC236}">
                <a16:creationId xmlns:a16="http://schemas.microsoft.com/office/drawing/2014/main" id="{02EC2315-81F5-EC38-613D-29DA64ED02B0}"/>
              </a:ext>
            </a:extLst>
          </p:cNvPr>
          <p:cNvSpPr txBox="1"/>
          <p:nvPr/>
        </p:nvSpPr>
        <p:spPr>
          <a:xfrm>
            <a:off x="405353" y="4283344"/>
            <a:ext cx="7720552" cy="738664"/>
          </a:xfrm>
          <a:prstGeom prst="rect">
            <a:avLst/>
          </a:prstGeom>
          <a:noFill/>
        </p:spPr>
        <p:txBody>
          <a:bodyPr wrap="square" rtlCol="0">
            <a:spAutoFit/>
          </a:bodyPr>
          <a:lstStyle/>
          <a:p>
            <a:pPr marL="514350" indent="-514350"/>
            <a:endParaRPr lang="en-US" sz="1000">
              <a:latin typeface="Calibri" panose="020F0502020204030204" pitchFamily="34" charset="0"/>
              <a:cs typeface="Calibri" panose="020F0502020204030204" pitchFamily="34" charset="0"/>
            </a:endParaRPr>
          </a:p>
          <a:p>
            <a:pPr marL="514350" indent="-514350">
              <a:buFont typeface="Arial" panose="020B0604020202020204" pitchFamily="34" charset="0"/>
              <a:buChar char="•"/>
            </a:pPr>
            <a:r>
              <a:rPr lang="en-US" sz="3200">
                <a:latin typeface="Calibri" panose="020F0502020204030204" pitchFamily="34" charset="0"/>
                <a:cs typeface="Calibri" panose="020F0502020204030204" pitchFamily="34" charset="0"/>
              </a:rPr>
              <a:t>Excessive hair growth with minoxidil.</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1513"/>
        <p:cNvGrpSpPr/>
        <p:nvPr/>
      </p:nvGrpSpPr>
      <p:grpSpPr>
        <a:xfrm>
          <a:off x="0" y="0"/>
          <a:ext cx="0" cy="0"/>
          <a:chOff x="0" y="0"/>
          <a:chExt cx="0" cy="0"/>
        </a:xfrm>
      </p:grpSpPr>
      <p:sp>
        <p:nvSpPr>
          <p:cNvPr id="1514" name="Google Shape;1514;p198"/>
          <p:cNvSpPr txBox="1">
            <a:spLocks noGrp="1"/>
          </p:cNvSpPr>
          <p:nvPr>
            <p:ph type="title"/>
          </p:nvPr>
        </p:nvSpPr>
        <p:spPr>
          <a:xfrm>
            <a:off x="1828800" y="92075"/>
            <a:ext cx="8534400" cy="1459998"/>
          </a:xfrm>
          <a:prstGeom prst="rect">
            <a:avLst/>
          </a:prstGeom>
          <a:noFill/>
          <a:ln>
            <a:noFill/>
          </a:ln>
        </p:spPr>
        <p:txBody>
          <a:bodyPr spcFirstLastPara="1" wrap="square" lIns="50800" tIns="50800" rIns="50800" bIns="50800" anchor="ctr" anchorCtr="0">
            <a:noAutofit/>
          </a:bodyPr>
          <a:lstStyle/>
          <a:p>
            <a:r>
              <a:rPr lang="en-US"/>
              <a:t>Putting it all Together</a:t>
            </a:r>
            <a:br>
              <a:rPr lang="en-US"/>
            </a:br>
            <a:r>
              <a:rPr lang="en-US"/>
              <a:t>Treating the Hypertensive Patient</a:t>
            </a:r>
            <a:endParaRPr/>
          </a:p>
        </p:txBody>
      </p:sp>
      <p:sp>
        <p:nvSpPr>
          <p:cNvPr id="1515" name="Google Shape;1515;p198"/>
          <p:cNvSpPr txBox="1">
            <a:spLocks noGrp="1"/>
          </p:cNvSpPr>
          <p:nvPr>
            <p:ph type="body" idx="1"/>
          </p:nvPr>
        </p:nvSpPr>
        <p:spPr>
          <a:xfrm>
            <a:off x="631596" y="1732547"/>
            <a:ext cx="11180190" cy="4988927"/>
          </a:xfrm>
          <a:prstGeom prst="rect">
            <a:avLst/>
          </a:prstGeom>
          <a:noFill/>
          <a:ln>
            <a:noFill/>
          </a:ln>
        </p:spPr>
        <p:txBody>
          <a:bodyPr spcFirstLastPara="1" wrap="square" lIns="91425" tIns="45700" rIns="91425" bIns="45700" anchor="t" anchorCtr="0">
            <a:noAutofit/>
          </a:bodyPr>
          <a:lstStyle/>
          <a:p>
            <a:pPr marL="514350" indent="-514350">
              <a:spcBef>
                <a:spcPts val="1200"/>
              </a:spcBef>
              <a:spcAft>
                <a:spcPts val="1200"/>
              </a:spcAft>
              <a:buFont typeface="Calibri"/>
              <a:buAutoNum type="arabicPeriod"/>
            </a:pPr>
            <a:r>
              <a:rPr lang="en-US" dirty="0"/>
              <a:t>Evaluate the BP appropriately and determine the stage of HTN.  - Evaluate if h/o CVD risk, DM, CKD and calculate the patient’s 10-year CVD risk using Prevent Calculator.</a:t>
            </a:r>
          </a:p>
          <a:p>
            <a:pPr marL="514350" indent="-514350">
              <a:spcBef>
                <a:spcPts val="1200"/>
              </a:spcBef>
              <a:spcAft>
                <a:spcPts val="1200"/>
              </a:spcAft>
              <a:buFont typeface="Calibri"/>
              <a:buAutoNum type="arabicPeriod"/>
            </a:pPr>
            <a:r>
              <a:rPr lang="en-US" dirty="0"/>
              <a:t>Review the patient’s medical history and determine if there is a compelling indication.</a:t>
            </a:r>
          </a:p>
          <a:p>
            <a:pPr marL="514350" indent="-514350">
              <a:spcBef>
                <a:spcPts val="1200"/>
              </a:spcBef>
              <a:spcAft>
                <a:spcPts val="1200"/>
              </a:spcAft>
              <a:buFont typeface="Calibri"/>
              <a:buAutoNum type="arabicPeriod"/>
            </a:pPr>
            <a:r>
              <a:rPr lang="en-US" dirty="0"/>
              <a:t>Review the history and demographics to consider other factors (race, comorbidities, age). </a:t>
            </a:r>
            <a:endParaRPr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1513"/>
        <p:cNvGrpSpPr/>
        <p:nvPr/>
      </p:nvGrpSpPr>
      <p:grpSpPr>
        <a:xfrm>
          <a:off x="0" y="0"/>
          <a:ext cx="0" cy="0"/>
          <a:chOff x="0" y="0"/>
          <a:chExt cx="0" cy="0"/>
        </a:xfrm>
      </p:grpSpPr>
      <p:sp>
        <p:nvSpPr>
          <p:cNvPr id="1514" name="Google Shape;1514;p198"/>
          <p:cNvSpPr txBox="1">
            <a:spLocks noGrp="1"/>
          </p:cNvSpPr>
          <p:nvPr>
            <p:ph type="title"/>
          </p:nvPr>
        </p:nvSpPr>
        <p:spPr>
          <a:xfrm>
            <a:off x="1828800" y="92075"/>
            <a:ext cx="8534400" cy="1435936"/>
          </a:xfrm>
          <a:prstGeom prst="rect">
            <a:avLst/>
          </a:prstGeom>
          <a:noFill/>
          <a:ln>
            <a:noFill/>
          </a:ln>
        </p:spPr>
        <p:txBody>
          <a:bodyPr spcFirstLastPara="1" wrap="square" lIns="50800" tIns="50800" rIns="50800" bIns="50800" anchor="ctr" anchorCtr="0">
            <a:noAutofit/>
          </a:bodyPr>
          <a:lstStyle/>
          <a:p>
            <a:r>
              <a:rPr lang="en-US"/>
              <a:t>Putting it all Together</a:t>
            </a:r>
            <a:br>
              <a:rPr lang="en-US"/>
            </a:br>
            <a:r>
              <a:rPr lang="en-US"/>
              <a:t>Treating the Hypertensive Patient</a:t>
            </a:r>
            <a:endParaRPr/>
          </a:p>
        </p:txBody>
      </p:sp>
      <p:sp>
        <p:nvSpPr>
          <p:cNvPr id="1515" name="Google Shape;1515;p198"/>
          <p:cNvSpPr txBox="1">
            <a:spLocks noGrp="1"/>
          </p:cNvSpPr>
          <p:nvPr>
            <p:ph type="body" idx="1"/>
          </p:nvPr>
        </p:nvSpPr>
        <p:spPr>
          <a:xfrm>
            <a:off x="509047" y="1816768"/>
            <a:ext cx="11406433" cy="4904706"/>
          </a:xfrm>
          <a:prstGeom prst="rect">
            <a:avLst/>
          </a:prstGeom>
          <a:noFill/>
          <a:ln>
            <a:noFill/>
          </a:ln>
        </p:spPr>
        <p:txBody>
          <a:bodyPr spcFirstLastPara="1" wrap="square" lIns="91425" tIns="45700" rIns="91425" bIns="45700" anchor="t" anchorCtr="0">
            <a:noAutofit/>
          </a:bodyPr>
          <a:lstStyle/>
          <a:p>
            <a:pPr marL="91440" indent="-514350">
              <a:spcBef>
                <a:spcPts val="600"/>
              </a:spcBef>
              <a:buFont typeface="Calibri"/>
              <a:buAutoNum type="arabicPeriod"/>
            </a:pPr>
            <a:r>
              <a:rPr lang="en-US" dirty="0"/>
              <a:t>If Stage II HTN &gt;140 or &gt;90 </a:t>
            </a:r>
            <a:r>
              <a:rPr lang="en-US" dirty="0">
                <a:sym typeface="Wingdings" pitchFamily="2" charset="2"/>
              </a:rPr>
              <a:t> t</a:t>
            </a:r>
            <a:r>
              <a:rPr lang="en-US" dirty="0"/>
              <a:t>hen the patient should be started on combination medication (</a:t>
            </a:r>
            <a:r>
              <a:rPr lang="en-US" b="1" dirty="0"/>
              <a:t>dual therapy</a:t>
            </a:r>
            <a:r>
              <a:rPr lang="en-US" dirty="0"/>
              <a:t>) immediately along with TLC </a:t>
            </a:r>
          </a:p>
          <a:p>
            <a:pPr marL="1005840" lvl="2" indent="-514350">
              <a:spcBef>
                <a:spcPts val="600"/>
              </a:spcBef>
              <a:buFont typeface="Calibri" panose="020F0502020204030204" pitchFamily="34" charset="0"/>
              <a:buChar char="-"/>
            </a:pPr>
            <a:r>
              <a:rPr lang="en-US" dirty="0"/>
              <a:t>Goal systolic &lt;130 and diastolic &lt; 80.</a:t>
            </a:r>
          </a:p>
        </p:txBody>
      </p:sp>
    </p:spTree>
    <p:extLst>
      <p:ext uri="{BB962C8B-B14F-4D97-AF65-F5344CB8AC3E}">
        <p14:creationId xmlns:p14="http://schemas.microsoft.com/office/powerpoint/2010/main" val="96575680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1513"/>
        <p:cNvGrpSpPr/>
        <p:nvPr/>
      </p:nvGrpSpPr>
      <p:grpSpPr>
        <a:xfrm>
          <a:off x="0" y="0"/>
          <a:ext cx="0" cy="0"/>
          <a:chOff x="0" y="0"/>
          <a:chExt cx="0" cy="0"/>
        </a:xfrm>
      </p:grpSpPr>
      <p:sp>
        <p:nvSpPr>
          <p:cNvPr id="1514" name="Google Shape;1514;p198"/>
          <p:cNvSpPr txBox="1">
            <a:spLocks noGrp="1"/>
          </p:cNvSpPr>
          <p:nvPr>
            <p:ph type="title"/>
          </p:nvPr>
        </p:nvSpPr>
        <p:spPr>
          <a:xfrm>
            <a:off x="1828800" y="136525"/>
            <a:ext cx="8534400" cy="1050925"/>
          </a:xfrm>
          <a:prstGeom prst="rect">
            <a:avLst/>
          </a:prstGeom>
          <a:noFill/>
          <a:ln>
            <a:noFill/>
          </a:ln>
        </p:spPr>
        <p:txBody>
          <a:bodyPr spcFirstLastPara="1" wrap="square" lIns="50800" tIns="50800" rIns="50800" bIns="50800" anchor="ctr" anchorCtr="0">
            <a:noAutofit/>
          </a:bodyPr>
          <a:lstStyle/>
          <a:p>
            <a:r>
              <a:rPr lang="en-US"/>
              <a:t>Putting It All Together</a:t>
            </a:r>
            <a:endParaRPr/>
          </a:p>
        </p:txBody>
      </p:sp>
      <p:sp>
        <p:nvSpPr>
          <p:cNvPr id="1515" name="Google Shape;1515;p198"/>
          <p:cNvSpPr txBox="1">
            <a:spLocks noGrp="1"/>
          </p:cNvSpPr>
          <p:nvPr>
            <p:ph type="body" idx="1"/>
          </p:nvPr>
        </p:nvSpPr>
        <p:spPr>
          <a:xfrm>
            <a:off x="593889" y="1058780"/>
            <a:ext cx="11076495" cy="5662695"/>
          </a:xfrm>
          <a:prstGeom prst="rect">
            <a:avLst/>
          </a:prstGeom>
          <a:noFill/>
          <a:ln>
            <a:noFill/>
          </a:ln>
        </p:spPr>
        <p:txBody>
          <a:bodyPr spcFirstLastPara="1" wrap="square" lIns="91425" tIns="45700" rIns="91425" bIns="45700" anchor="t" anchorCtr="0">
            <a:noAutofit/>
          </a:bodyPr>
          <a:lstStyle/>
          <a:p>
            <a:pPr marL="514350" indent="-514350">
              <a:buFont typeface="+mj-lt"/>
              <a:buAutoNum type="arabicPeriod"/>
            </a:pPr>
            <a:r>
              <a:rPr lang="en-US" dirty="0"/>
              <a:t>If the patient’s CVD risk is less than 7.5% with no known CVD risk factors and </a:t>
            </a:r>
            <a:r>
              <a:rPr lang="en-US" b="1" i="1" dirty="0"/>
              <a:t>Stage I HTN</a:t>
            </a:r>
            <a:r>
              <a:rPr lang="en-US" dirty="0"/>
              <a:t>: SBP 130-139 or DBP 80-90 </a:t>
            </a:r>
            <a:endParaRPr dirty="0"/>
          </a:p>
          <a:p>
            <a:pPr marL="782638" lvl="1" indent="-325438"/>
            <a:r>
              <a:rPr lang="en-US" dirty="0"/>
              <a:t>First, lifestyle management with close monitoring and f/u BP in 6 months.  </a:t>
            </a:r>
          </a:p>
          <a:p>
            <a:pPr marL="782638" lvl="1" indent="-325438"/>
            <a:r>
              <a:rPr lang="en-US" dirty="0">
                <a:solidFill>
                  <a:schemeClr val="tx1"/>
                </a:solidFill>
              </a:rPr>
              <a:t>Second, addition of </a:t>
            </a:r>
            <a:r>
              <a:rPr lang="en-US" b="1" dirty="0">
                <a:solidFill>
                  <a:schemeClr val="tx1"/>
                </a:solidFill>
              </a:rPr>
              <a:t>monotherapy</a:t>
            </a:r>
            <a:r>
              <a:rPr lang="en-US" dirty="0">
                <a:solidFill>
                  <a:schemeClr val="tx1"/>
                </a:solidFill>
              </a:rPr>
              <a:t> is begun in stage I HTN after 6 months of unsuccessful lifestyle management</a:t>
            </a:r>
            <a:r>
              <a:rPr lang="en-US" dirty="0"/>
              <a:t>.</a:t>
            </a:r>
          </a:p>
          <a:p>
            <a:pPr marL="782638" lvl="1" indent="-325438"/>
            <a:r>
              <a:rPr lang="en-US" dirty="0"/>
              <a:t>Goal systolic &lt;130 and diastolic &lt;80</a:t>
            </a:r>
            <a:endParaRPr dirty="0"/>
          </a:p>
        </p:txBody>
      </p:sp>
    </p:spTree>
    <p:extLst>
      <p:ext uri="{BB962C8B-B14F-4D97-AF65-F5344CB8AC3E}">
        <p14:creationId xmlns:p14="http://schemas.microsoft.com/office/powerpoint/2010/main" val="85380642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1527"/>
        <p:cNvGrpSpPr/>
        <p:nvPr/>
      </p:nvGrpSpPr>
      <p:grpSpPr>
        <a:xfrm>
          <a:off x="0" y="0"/>
          <a:ext cx="0" cy="0"/>
          <a:chOff x="0" y="0"/>
          <a:chExt cx="0" cy="0"/>
        </a:xfrm>
      </p:grpSpPr>
      <p:sp>
        <p:nvSpPr>
          <p:cNvPr id="1528" name="Google Shape;1528;p200"/>
          <p:cNvSpPr txBox="1">
            <a:spLocks noGrp="1"/>
          </p:cNvSpPr>
          <p:nvPr>
            <p:ph type="body" idx="1"/>
          </p:nvPr>
        </p:nvSpPr>
        <p:spPr>
          <a:xfrm>
            <a:off x="472912" y="1190136"/>
            <a:ext cx="11246176" cy="5295506"/>
          </a:xfrm>
          <a:prstGeom prst="rect">
            <a:avLst/>
          </a:prstGeom>
          <a:noFill/>
          <a:ln>
            <a:noFill/>
          </a:ln>
        </p:spPr>
        <p:txBody>
          <a:bodyPr spcFirstLastPara="1" wrap="square" lIns="91425" tIns="45700" rIns="91425" bIns="45700" anchor="t" anchorCtr="0">
            <a:noAutofit/>
          </a:bodyPr>
          <a:lstStyle/>
          <a:p>
            <a:pPr marL="514350" indent="-514350">
              <a:spcBef>
                <a:spcPts val="0"/>
              </a:spcBef>
              <a:buFont typeface="Calibri"/>
              <a:buAutoNum type="arabicPeriod"/>
            </a:pPr>
            <a:r>
              <a:rPr lang="en-US" dirty="0"/>
              <a:t>If risk ≥ 7.5%, DM, CKD, known CVD and </a:t>
            </a:r>
            <a:r>
              <a:rPr lang="en-US" b="1" i="1" dirty="0"/>
              <a:t>Stage I HTN</a:t>
            </a:r>
            <a:r>
              <a:rPr lang="en-US" dirty="0"/>
              <a:t>: SBP 130-139 or DBP 80-90:</a:t>
            </a:r>
          </a:p>
          <a:p>
            <a:pPr marL="971550" lvl="1" indent="-514350">
              <a:spcBef>
                <a:spcPts val="0"/>
              </a:spcBef>
              <a:buFont typeface="Calibri" panose="020F0502020204030204" pitchFamily="34" charset="0"/>
              <a:buChar char="−"/>
            </a:pPr>
            <a:r>
              <a:rPr lang="en-US" dirty="0"/>
              <a:t>Begin monotherapy and TLC</a:t>
            </a:r>
          </a:p>
          <a:p>
            <a:pPr marL="971550" lvl="1" indent="-514350">
              <a:spcBef>
                <a:spcPts val="0"/>
              </a:spcBef>
              <a:buFont typeface="Calibri" panose="020F0502020204030204" pitchFamily="34" charset="0"/>
              <a:buChar char="−"/>
            </a:pPr>
            <a:r>
              <a:rPr lang="en-US" dirty="0"/>
              <a:t>Goal systolic &lt;130 and diastolic &lt;80</a:t>
            </a:r>
            <a:endParaRPr dirty="0"/>
          </a:p>
        </p:txBody>
      </p:sp>
      <p:sp>
        <p:nvSpPr>
          <p:cNvPr id="2" name="Google Shape;1514;p198">
            <a:extLst>
              <a:ext uri="{FF2B5EF4-FFF2-40B4-BE49-F238E27FC236}">
                <a16:creationId xmlns:a16="http://schemas.microsoft.com/office/drawing/2014/main" id="{AE5EBBB3-7107-1600-4467-206B203F87C9}"/>
              </a:ext>
            </a:extLst>
          </p:cNvPr>
          <p:cNvSpPr txBox="1">
            <a:spLocks noGrp="1"/>
          </p:cNvSpPr>
          <p:nvPr>
            <p:ph type="title"/>
          </p:nvPr>
        </p:nvSpPr>
        <p:spPr>
          <a:xfrm>
            <a:off x="1828800" y="136525"/>
            <a:ext cx="8534400" cy="1050925"/>
          </a:xfrm>
          <a:prstGeom prst="rect">
            <a:avLst/>
          </a:prstGeom>
          <a:noFill/>
          <a:ln>
            <a:noFill/>
          </a:ln>
        </p:spPr>
        <p:txBody>
          <a:bodyPr spcFirstLastPara="1" wrap="square" lIns="50800" tIns="50800" rIns="50800" bIns="50800" anchor="ctr" anchorCtr="0">
            <a:noAutofit/>
          </a:bodyPr>
          <a:lstStyle/>
          <a:p>
            <a:r>
              <a:rPr lang="en-US"/>
              <a:t>Putting It All Together</a:t>
            </a:r>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1533"/>
        <p:cNvGrpSpPr/>
        <p:nvPr/>
      </p:nvGrpSpPr>
      <p:grpSpPr>
        <a:xfrm>
          <a:off x="0" y="0"/>
          <a:ext cx="0" cy="0"/>
          <a:chOff x="0" y="0"/>
          <a:chExt cx="0" cy="0"/>
        </a:xfrm>
      </p:grpSpPr>
      <p:sp>
        <p:nvSpPr>
          <p:cNvPr id="1534" name="Google Shape;1534;p201"/>
          <p:cNvSpPr txBox="1">
            <a:spLocks noGrp="1"/>
          </p:cNvSpPr>
          <p:nvPr>
            <p:ph type="title"/>
          </p:nvPr>
        </p:nvSpPr>
        <p:spPr>
          <a:xfrm>
            <a:off x="1676400" y="92076"/>
            <a:ext cx="8763000" cy="822325"/>
          </a:xfrm>
          <a:prstGeom prst="rect">
            <a:avLst/>
          </a:prstGeom>
          <a:noFill/>
          <a:ln>
            <a:noFill/>
          </a:ln>
        </p:spPr>
        <p:txBody>
          <a:bodyPr spcFirstLastPara="1" wrap="square" lIns="50800" tIns="50800" rIns="50800" bIns="50800" anchor="ctr" anchorCtr="0">
            <a:noAutofit/>
          </a:bodyPr>
          <a:lstStyle/>
          <a:p>
            <a:r>
              <a:rPr lang="en-US"/>
              <a:t>Putting It All Together</a:t>
            </a:r>
            <a:endParaRPr/>
          </a:p>
        </p:txBody>
      </p:sp>
      <p:sp>
        <p:nvSpPr>
          <p:cNvPr id="1535" name="Google Shape;1535;p201"/>
          <p:cNvSpPr txBox="1">
            <a:spLocks noGrp="1"/>
          </p:cNvSpPr>
          <p:nvPr>
            <p:ph type="body" idx="1"/>
          </p:nvPr>
        </p:nvSpPr>
        <p:spPr>
          <a:xfrm>
            <a:off x="669303" y="1143000"/>
            <a:ext cx="11104775" cy="5486400"/>
          </a:xfrm>
          <a:prstGeom prst="rect">
            <a:avLst/>
          </a:prstGeom>
          <a:noFill/>
          <a:ln>
            <a:noFill/>
          </a:ln>
        </p:spPr>
        <p:txBody>
          <a:bodyPr spcFirstLastPara="1" wrap="square" lIns="91425" tIns="45700" rIns="91425" bIns="45700" anchor="t" anchorCtr="0">
            <a:noAutofit/>
          </a:bodyPr>
          <a:lstStyle/>
          <a:p>
            <a:pPr marL="514350" indent="-514350">
              <a:spcBef>
                <a:spcPts val="0"/>
              </a:spcBef>
              <a:buFont typeface="Calibri"/>
              <a:buAutoNum type="arabicPeriod" startAt="2"/>
            </a:pPr>
            <a:r>
              <a:rPr lang="en-US" dirty="0"/>
              <a:t>Evaluate for any compelling indications</a:t>
            </a:r>
          </a:p>
          <a:p>
            <a:pPr marL="971550" lvl="1" indent="-514350">
              <a:spcBef>
                <a:spcPts val="0"/>
              </a:spcBef>
              <a:buFont typeface="Calibri" panose="020F0502020204030204" pitchFamily="34" charset="0"/>
              <a:buChar char="─"/>
            </a:pPr>
            <a:r>
              <a:rPr lang="en-US" dirty="0">
                <a:hlinkClick r:id="rId3" action="ppaction://hlinksldjump"/>
              </a:rPr>
              <a:t>See Slides 26-27</a:t>
            </a:r>
            <a:endParaRPr lang="en-US" dirty="0"/>
          </a:p>
          <a:p>
            <a:pPr marL="0" indent="0">
              <a:spcBef>
                <a:spcPts val="0"/>
              </a:spcBef>
              <a:buNone/>
            </a:pPr>
            <a:endParaRPr lang="en-US" b="1"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1547"/>
        <p:cNvGrpSpPr/>
        <p:nvPr/>
      </p:nvGrpSpPr>
      <p:grpSpPr>
        <a:xfrm>
          <a:off x="0" y="0"/>
          <a:ext cx="0" cy="0"/>
          <a:chOff x="0" y="0"/>
          <a:chExt cx="0" cy="0"/>
        </a:xfrm>
      </p:grpSpPr>
      <p:sp>
        <p:nvSpPr>
          <p:cNvPr id="1548" name="Google Shape;1548;p203"/>
          <p:cNvSpPr txBox="1">
            <a:spLocks noGrp="1"/>
          </p:cNvSpPr>
          <p:nvPr>
            <p:ph type="title"/>
          </p:nvPr>
        </p:nvSpPr>
        <p:spPr>
          <a:xfrm>
            <a:off x="1676400" y="92076"/>
            <a:ext cx="8763000" cy="822325"/>
          </a:xfrm>
          <a:prstGeom prst="rect">
            <a:avLst/>
          </a:prstGeom>
          <a:noFill/>
          <a:ln>
            <a:noFill/>
          </a:ln>
        </p:spPr>
        <p:txBody>
          <a:bodyPr spcFirstLastPara="1" wrap="square" lIns="50800" tIns="50800" rIns="50800" bIns="50800" anchor="ctr" anchorCtr="0">
            <a:noAutofit/>
          </a:bodyPr>
          <a:lstStyle/>
          <a:p>
            <a:r>
              <a:rPr lang="en-US"/>
              <a:t>Putting It All Together</a:t>
            </a:r>
            <a:endParaRPr/>
          </a:p>
        </p:txBody>
      </p:sp>
      <p:sp>
        <p:nvSpPr>
          <p:cNvPr id="1549" name="Google Shape;1549;p203"/>
          <p:cNvSpPr txBox="1">
            <a:spLocks noGrp="1"/>
          </p:cNvSpPr>
          <p:nvPr>
            <p:ph type="body" idx="1"/>
          </p:nvPr>
        </p:nvSpPr>
        <p:spPr>
          <a:xfrm>
            <a:off x="367645" y="1143000"/>
            <a:ext cx="11481848" cy="5486400"/>
          </a:xfrm>
          <a:prstGeom prst="rect">
            <a:avLst/>
          </a:prstGeom>
          <a:noFill/>
          <a:ln>
            <a:noFill/>
          </a:ln>
        </p:spPr>
        <p:txBody>
          <a:bodyPr spcFirstLastPara="1" wrap="square" lIns="91425" tIns="45700" rIns="91425" bIns="45700" anchor="t" anchorCtr="0">
            <a:noAutofit/>
          </a:bodyPr>
          <a:lstStyle/>
          <a:p>
            <a:pPr marL="514350" indent="-514350">
              <a:spcBef>
                <a:spcPts val="0"/>
              </a:spcBef>
              <a:buFont typeface="Calibri"/>
              <a:buAutoNum type="arabicPeriod" startAt="3"/>
            </a:pPr>
            <a:r>
              <a:rPr lang="en-US" dirty="0"/>
              <a:t>Factor in other needs/ benefits/ patient characteristics</a:t>
            </a:r>
            <a:endParaRPr dirty="0"/>
          </a:p>
          <a:p>
            <a:pPr marL="514350" indent="-311150">
              <a:buNone/>
            </a:pPr>
            <a:endParaRPr dirty="0"/>
          </a:p>
          <a:p>
            <a:pPr marL="342900" indent="-342900"/>
            <a:r>
              <a:rPr lang="en-US" b="1" dirty="0"/>
              <a:t>African American patients of any age</a:t>
            </a:r>
            <a:r>
              <a:rPr lang="en-US" dirty="0"/>
              <a:t>: </a:t>
            </a:r>
            <a:r>
              <a:rPr lang="en-US" sz="3000" b="1" i="1" dirty="0"/>
              <a:t>CCB and thiazide diuretics are more effective</a:t>
            </a:r>
            <a:r>
              <a:rPr lang="en-US" sz="3000" dirty="0"/>
              <a:t>, whereas ACE inhibitors and ARBs are less effective but still considered second or third line.</a:t>
            </a:r>
            <a:endParaRPr dirty="0"/>
          </a:p>
          <a:p>
            <a:pPr marL="342900" indent="-279400">
              <a:buSzPts val="1000"/>
              <a:buNone/>
            </a:pPr>
            <a:endParaRPr sz="1000" dirty="0"/>
          </a:p>
          <a:p>
            <a:pPr marL="342900" indent="-342900"/>
            <a:r>
              <a:rPr lang="en-US" b="1" dirty="0"/>
              <a:t>Caucasian or non-white patients (&lt; 60 yrs): </a:t>
            </a:r>
            <a:r>
              <a:rPr lang="en-US" dirty="0"/>
              <a:t>ACEI or ARB are the first choice, followed by CCB or thiazide.</a:t>
            </a:r>
            <a:endParaRPr sz="30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1554"/>
        <p:cNvGrpSpPr/>
        <p:nvPr/>
      </p:nvGrpSpPr>
      <p:grpSpPr>
        <a:xfrm>
          <a:off x="0" y="0"/>
          <a:ext cx="0" cy="0"/>
          <a:chOff x="0" y="0"/>
          <a:chExt cx="0" cy="0"/>
        </a:xfrm>
      </p:grpSpPr>
      <p:sp>
        <p:nvSpPr>
          <p:cNvPr id="1555" name="Google Shape;1555;p204"/>
          <p:cNvSpPr txBox="1">
            <a:spLocks noGrp="1"/>
          </p:cNvSpPr>
          <p:nvPr>
            <p:ph type="title"/>
          </p:nvPr>
        </p:nvSpPr>
        <p:spPr>
          <a:xfrm>
            <a:off x="1676400" y="92076"/>
            <a:ext cx="8763000" cy="822325"/>
          </a:xfrm>
          <a:prstGeom prst="rect">
            <a:avLst/>
          </a:prstGeom>
          <a:noFill/>
          <a:ln>
            <a:noFill/>
          </a:ln>
        </p:spPr>
        <p:txBody>
          <a:bodyPr spcFirstLastPara="1" wrap="square" lIns="50800" tIns="50800" rIns="50800" bIns="50800" anchor="ctr" anchorCtr="0">
            <a:noAutofit/>
          </a:bodyPr>
          <a:lstStyle/>
          <a:p>
            <a:r>
              <a:rPr lang="en-US"/>
              <a:t>Putting It All Together</a:t>
            </a:r>
            <a:endParaRPr/>
          </a:p>
        </p:txBody>
      </p:sp>
      <p:sp>
        <p:nvSpPr>
          <p:cNvPr id="1556" name="Google Shape;1556;p204"/>
          <p:cNvSpPr txBox="1">
            <a:spLocks noGrp="1"/>
          </p:cNvSpPr>
          <p:nvPr>
            <p:ph type="body" idx="1"/>
          </p:nvPr>
        </p:nvSpPr>
        <p:spPr>
          <a:xfrm>
            <a:off x="490194" y="1010653"/>
            <a:ext cx="11302738" cy="5755272"/>
          </a:xfrm>
          <a:prstGeom prst="rect">
            <a:avLst/>
          </a:prstGeom>
          <a:noFill/>
          <a:ln>
            <a:noFill/>
          </a:ln>
        </p:spPr>
        <p:txBody>
          <a:bodyPr spcFirstLastPara="1" wrap="square" lIns="91425" tIns="45700" rIns="91425" bIns="45700" anchor="t" anchorCtr="0">
            <a:noAutofit/>
          </a:bodyPr>
          <a:lstStyle/>
          <a:p>
            <a:pPr marL="514350" indent="-514350">
              <a:spcBef>
                <a:spcPts val="0"/>
              </a:spcBef>
              <a:buFont typeface="Calibri"/>
              <a:buAutoNum type="arabicPeriod" startAt="3"/>
            </a:pPr>
            <a:r>
              <a:rPr lang="en-US"/>
              <a:t>Factor in other needs/ benefits/ patient characteristics</a:t>
            </a:r>
            <a:endParaRPr/>
          </a:p>
          <a:p>
            <a:pPr marL="342900" indent="-279400">
              <a:buSzPts val="1000"/>
              <a:buNone/>
            </a:pPr>
            <a:endParaRPr sz="1000"/>
          </a:p>
          <a:p>
            <a:pPr marL="342900" indent="-342900"/>
            <a:r>
              <a:rPr lang="en-US" b="1"/>
              <a:t>Elderly patients </a:t>
            </a:r>
            <a:r>
              <a:rPr lang="en-US"/>
              <a:t>often develop isolated systolic HTN and may be more sensitive to drug effects. </a:t>
            </a:r>
          </a:p>
          <a:p>
            <a:pPr marL="800100" lvl="1" indent="-342900">
              <a:buFont typeface="Arial"/>
              <a:buChar char="•"/>
            </a:pPr>
            <a:r>
              <a:rPr lang="en-US"/>
              <a:t>In Caucasians- ACEI or ARBs are first line</a:t>
            </a:r>
          </a:p>
          <a:p>
            <a:pPr marL="800100" lvl="1" indent="-342900">
              <a:buFont typeface="Arial"/>
              <a:buChar char="•"/>
            </a:pPr>
            <a:r>
              <a:rPr lang="en-US"/>
              <a:t>In Blacks- CCB or thiazides are first line</a:t>
            </a:r>
          </a:p>
          <a:p>
            <a:pPr marL="457200" lvl="1" indent="0">
              <a:buNone/>
            </a:pPr>
            <a:r>
              <a:rPr lang="en-US"/>
              <a:t>  </a:t>
            </a:r>
            <a:endParaRPr sz="2500" b="1" i="1"/>
          </a:p>
          <a:p>
            <a:pPr marL="342900" indent="-342900"/>
            <a:r>
              <a:rPr lang="en-US"/>
              <a:t>Therapy in these patients should be </a:t>
            </a:r>
            <a:r>
              <a:rPr lang="en-US" b="1" i="1"/>
              <a:t>started at low dose </a:t>
            </a:r>
            <a:r>
              <a:rPr lang="en-US"/>
              <a:t>and</a:t>
            </a:r>
            <a:r>
              <a:rPr lang="en-US" b="1" i="1"/>
              <a:t> titrated gradually with a single agent.  The target BP may be less aggressive</a:t>
            </a:r>
            <a:r>
              <a:rPr lang="en-US"/>
              <a:t>. </a:t>
            </a:r>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1554"/>
        <p:cNvGrpSpPr/>
        <p:nvPr/>
      </p:nvGrpSpPr>
      <p:grpSpPr>
        <a:xfrm>
          <a:off x="0" y="0"/>
          <a:ext cx="0" cy="0"/>
          <a:chOff x="0" y="0"/>
          <a:chExt cx="0" cy="0"/>
        </a:xfrm>
      </p:grpSpPr>
      <p:sp>
        <p:nvSpPr>
          <p:cNvPr id="1555" name="Google Shape;1555;p204"/>
          <p:cNvSpPr txBox="1">
            <a:spLocks noGrp="1"/>
          </p:cNvSpPr>
          <p:nvPr>
            <p:ph type="title"/>
          </p:nvPr>
        </p:nvSpPr>
        <p:spPr>
          <a:xfrm>
            <a:off x="1676400" y="92076"/>
            <a:ext cx="8763000" cy="822325"/>
          </a:xfrm>
          <a:prstGeom prst="rect">
            <a:avLst/>
          </a:prstGeom>
          <a:noFill/>
          <a:ln>
            <a:noFill/>
          </a:ln>
        </p:spPr>
        <p:txBody>
          <a:bodyPr spcFirstLastPara="1" wrap="square" lIns="50800" tIns="50800" rIns="50800" bIns="50800" anchor="ctr" anchorCtr="0">
            <a:noAutofit/>
          </a:bodyPr>
          <a:lstStyle/>
          <a:p>
            <a:r>
              <a:rPr lang="en-US"/>
              <a:t>Putting It All Together</a:t>
            </a:r>
            <a:endParaRPr/>
          </a:p>
        </p:txBody>
      </p:sp>
      <p:sp>
        <p:nvSpPr>
          <p:cNvPr id="1556" name="Google Shape;1556;p204"/>
          <p:cNvSpPr txBox="1">
            <a:spLocks noGrp="1"/>
          </p:cNvSpPr>
          <p:nvPr>
            <p:ph type="body" idx="1"/>
          </p:nvPr>
        </p:nvSpPr>
        <p:spPr>
          <a:xfrm>
            <a:off x="348791" y="1010653"/>
            <a:ext cx="11500701" cy="5755272"/>
          </a:xfrm>
          <a:prstGeom prst="rect">
            <a:avLst/>
          </a:prstGeom>
          <a:noFill/>
          <a:ln>
            <a:noFill/>
          </a:ln>
        </p:spPr>
        <p:txBody>
          <a:bodyPr spcFirstLastPara="1" wrap="square" lIns="91425" tIns="45700" rIns="91425" bIns="45700" anchor="t" anchorCtr="0">
            <a:noAutofit/>
          </a:bodyPr>
          <a:lstStyle/>
          <a:p>
            <a:pPr marL="514350" indent="-514350">
              <a:spcBef>
                <a:spcPts val="0"/>
              </a:spcBef>
              <a:buFont typeface="Calibri"/>
              <a:buAutoNum type="arabicPeriod" startAt="3"/>
            </a:pPr>
            <a:r>
              <a:rPr lang="en-US"/>
              <a:t>Factor in other needs/ benefits/ patient characteristics.</a:t>
            </a:r>
            <a:endParaRPr sz="1000"/>
          </a:p>
          <a:p>
            <a:pPr marL="342900" indent="-342900"/>
            <a:r>
              <a:rPr lang="en-US" b="1" i="1"/>
              <a:t>Pregnancy potential- </a:t>
            </a:r>
            <a:r>
              <a:rPr lang="en-US"/>
              <a:t>avoid ACE/ ARB due to teratogenicity</a:t>
            </a:r>
          </a:p>
          <a:p>
            <a:pPr marL="342900" indent="-342900"/>
            <a:endParaRPr lang="en-US" sz="1500"/>
          </a:p>
          <a:p>
            <a:pPr marL="342900" indent="-342900"/>
            <a:r>
              <a:rPr lang="en-US" b="1" i="1"/>
              <a:t>Advanced CKD/ ESRD- </a:t>
            </a:r>
            <a:r>
              <a:rPr lang="en-US"/>
              <a:t>CCB, BB, direct arterial vasodilators and alpha 2 agonists are frequently used because they are safe in ESRD.</a:t>
            </a:r>
          </a:p>
          <a:p>
            <a:pPr marL="342900" indent="-342900"/>
            <a:endParaRPr lang="en-US" sz="1500"/>
          </a:p>
          <a:p>
            <a:pPr marL="342900" indent="-342900"/>
            <a:r>
              <a:rPr lang="en-US" b="1" i="1"/>
              <a:t>Balance issues, urinary incontinence, SSRIs, gout or hyponatremia</a:t>
            </a:r>
            <a:r>
              <a:rPr lang="en-US">
                <a:sym typeface="Wingdings" pitchFamily="2" charset="2"/>
              </a:rPr>
              <a:t> avoid thiazide diuretics</a:t>
            </a:r>
            <a:endParaRPr lang="en-US"/>
          </a:p>
          <a:p>
            <a:pPr marL="342900" indent="-342900"/>
            <a:endParaRPr/>
          </a:p>
        </p:txBody>
      </p:sp>
    </p:spTree>
    <p:extLst>
      <p:ext uri="{BB962C8B-B14F-4D97-AF65-F5344CB8AC3E}">
        <p14:creationId xmlns:p14="http://schemas.microsoft.com/office/powerpoint/2010/main" val="116867142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1561"/>
        <p:cNvGrpSpPr/>
        <p:nvPr/>
      </p:nvGrpSpPr>
      <p:grpSpPr>
        <a:xfrm>
          <a:off x="0" y="0"/>
          <a:ext cx="0" cy="0"/>
          <a:chOff x="0" y="0"/>
          <a:chExt cx="0" cy="0"/>
        </a:xfrm>
      </p:grpSpPr>
      <p:sp>
        <p:nvSpPr>
          <p:cNvPr id="1562" name="Google Shape;1562;p205"/>
          <p:cNvSpPr txBox="1">
            <a:spLocks noGrp="1"/>
          </p:cNvSpPr>
          <p:nvPr>
            <p:ph type="title"/>
          </p:nvPr>
        </p:nvSpPr>
        <p:spPr>
          <a:xfrm>
            <a:off x="1981200" y="76200"/>
            <a:ext cx="8229600" cy="914400"/>
          </a:xfrm>
          <a:prstGeom prst="rect">
            <a:avLst/>
          </a:prstGeom>
          <a:noFill/>
          <a:ln>
            <a:noFill/>
          </a:ln>
        </p:spPr>
        <p:txBody>
          <a:bodyPr spcFirstLastPara="1" wrap="square" lIns="50800" tIns="50800" rIns="50800" bIns="50800" anchor="ctr" anchorCtr="0">
            <a:noAutofit/>
          </a:bodyPr>
          <a:lstStyle/>
          <a:p>
            <a:r>
              <a:rPr lang="en-US" sz="4300"/>
              <a:t>Resistant Hypertension</a:t>
            </a:r>
            <a:endParaRPr/>
          </a:p>
        </p:txBody>
      </p:sp>
      <p:sp>
        <p:nvSpPr>
          <p:cNvPr id="1563" name="Google Shape;1563;p205"/>
          <p:cNvSpPr txBox="1">
            <a:spLocks noGrp="1"/>
          </p:cNvSpPr>
          <p:nvPr>
            <p:ph type="body" idx="1"/>
          </p:nvPr>
        </p:nvSpPr>
        <p:spPr>
          <a:xfrm>
            <a:off x="490193" y="1219200"/>
            <a:ext cx="10887959" cy="5410200"/>
          </a:xfrm>
          <a:prstGeom prst="rect">
            <a:avLst/>
          </a:prstGeom>
          <a:noFill/>
          <a:ln>
            <a:noFill/>
          </a:ln>
        </p:spPr>
        <p:txBody>
          <a:bodyPr spcFirstLastPara="1" wrap="square" lIns="50800" tIns="50800" rIns="50800" bIns="50800" anchor="t" anchorCtr="0">
            <a:noAutofit/>
          </a:bodyPr>
          <a:lstStyle/>
          <a:p>
            <a:pPr marL="342900" indent="-342900">
              <a:spcBef>
                <a:spcPts val="0"/>
              </a:spcBef>
            </a:pPr>
            <a:r>
              <a:rPr lang="en-US" dirty="0"/>
              <a:t>Resistant hypertension is defined as </a:t>
            </a:r>
            <a:r>
              <a:rPr lang="en-US" b="1" i="1" dirty="0"/>
              <a:t>hypertension that is not controlled to goal using the maximum tolerated dosage of three anti-hypertensives</a:t>
            </a:r>
            <a:r>
              <a:rPr lang="en-US" dirty="0"/>
              <a:t>, one of which is a thiazide diuretic.</a:t>
            </a:r>
          </a:p>
          <a:p>
            <a:pPr marL="0" indent="0">
              <a:spcBef>
                <a:spcPts val="0"/>
              </a:spcBef>
              <a:buNone/>
            </a:pPr>
            <a:endParaRPr lang="en-US" dirty="0"/>
          </a:p>
          <a:p>
            <a:pPr marL="342900" indent="-342900">
              <a:spcBef>
                <a:spcPts val="0"/>
              </a:spcBef>
            </a:pPr>
            <a:r>
              <a:rPr lang="en-US" dirty="0"/>
              <a:t>The most widely used three-drug combination for hypertension is an ACEI + CCB + thiazide or an ARB + CCB + thiazide, which will control BP in 80% of patients.</a:t>
            </a:r>
          </a:p>
          <a:p>
            <a:pPr marL="342900" indent="-342900">
              <a:spcBef>
                <a:spcPts val="0"/>
              </a:spcBef>
            </a:pPr>
            <a:endParaRPr lang="en-US" dirty="0"/>
          </a:p>
          <a:p>
            <a:pPr marL="342900" indent="-139700">
              <a:buNone/>
            </a:pPr>
            <a:endParaRPr dirty="0"/>
          </a:p>
          <a:p>
            <a:pPr marL="342900" indent="-139700">
              <a:buNone/>
            </a:pPr>
            <a:endParaRPr dirty="0"/>
          </a:p>
          <a:p>
            <a:pPr marL="342900" indent="-215900">
              <a:buSzPts val="2000"/>
              <a:buNone/>
            </a:pPr>
            <a:endParaRPr sz="20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1567"/>
        <p:cNvGrpSpPr/>
        <p:nvPr/>
      </p:nvGrpSpPr>
      <p:grpSpPr>
        <a:xfrm>
          <a:off x="0" y="0"/>
          <a:ext cx="0" cy="0"/>
          <a:chOff x="0" y="0"/>
          <a:chExt cx="0" cy="0"/>
        </a:xfrm>
      </p:grpSpPr>
      <p:sp>
        <p:nvSpPr>
          <p:cNvPr id="1568" name="Google Shape;1568;p206"/>
          <p:cNvSpPr txBox="1">
            <a:spLocks noGrp="1"/>
          </p:cNvSpPr>
          <p:nvPr>
            <p:ph type="title"/>
          </p:nvPr>
        </p:nvSpPr>
        <p:spPr>
          <a:xfrm>
            <a:off x="1981200" y="76200"/>
            <a:ext cx="8229600" cy="914400"/>
          </a:xfrm>
          <a:prstGeom prst="rect">
            <a:avLst/>
          </a:prstGeom>
          <a:noFill/>
          <a:ln>
            <a:noFill/>
          </a:ln>
        </p:spPr>
        <p:txBody>
          <a:bodyPr spcFirstLastPara="1" wrap="square" lIns="50800" tIns="50800" rIns="50800" bIns="50800" anchor="ctr" anchorCtr="0">
            <a:noAutofit/>
          </a:bodyPr>
          <a:lstStyle/>
          <a:p>
            <a:r>
              <a:rPr lang="en-US" sz="4300"/>
              <a:t>Resistant Hypertension</a:t>
            </a:r>
            <a:endParaRPr/>
          </a:p>
        </p:txBody>
      </p:sp>
      <p:sp>
        <p:nvSpPr>
          <p:cNvPr id="1569" name="Google Shape;1569;p206"/>
          <p:cNvSpPr txBox="1">
            <a:spLocks noGrp="1"/>
          </p:cNvSpPr>
          <p:nvPr>
            <p:ph type="body" idx="1"/>
          </p:nvPr>
        </p:nvSpPr>
        <p:spPr>
          <a:xfrm>
            <a:off x="424206" y="1128888"/>
            <a:ext cx="11019934" cy="5652912"/>
          </a:xfrm>
          <a:prstGeom prst="rect">
            <a:avLst/>
          </a:prstGeom>
          <a:noFill/>
          <a:ln>
            <a:noFill/>
          </a:ln>
        </p:spPr>
        <p:txBody>
          <a:bodyPr spcFirstLastPara="1" wrap="square" lIns="50800" tIns="50800" rIns="50800" bIns="50800" anchor="t" anchorCtr="0">
            <a:noAutofit/>
          </a:bodyPr>
          <a:lstStyle/>
          <a:p>
            <a:pPr marL="342900" indent="-342900">
              <a:spcBef>
                <a:spcPts val="0"/>
              </a:spcBef>
            </a:pPr>
            <a:r>
              <a:rPr lang="en-US"/>
              <a:t>If BP is not controlled by adding a third drug, ensure medication compliance, monitor BP at home, and assure no use of another med/ intake that would cause resistant HTN.</a:t>
            </a:r>
            <a:endParaRPr/>
          </a:p>
          <a:p>
            <a:pPr marL="342900" indent="-215900">
              <a:buSzPts val="2000"/>
              <a:buNone/>
            </a:pPr>
            <a:endParaRPr sz="2000"/>
          </a:p>
          <a:p>
            <a:pPr marL="342900" indent="-342900"/>
            <a:r>
              <a:rPr lang="en-US"/>
              <a:t>Add a 4</a:t>
            </a:r>
            <a:r>
              <a:rPr lang="en-US" baseline="30000"/>
              <a:t>th</a:t>
            </a:r>
            <a:r>
              <a:rPr lang="en-US"/>
              <a:t> drug: an aldosterone antagonist, b-blocker, centrally acting agent, a-blocker, or a direct vasodilator. </a:t>
            </a:r>
            <a:endParaRPr/>
          </a:p>
          <a:p>
            <a:pPr marL="342900" indent="-215900">
              <a:buSzPts val="2000"/>
              <a:buNone/>
            </a:pPr>
            <a:endParaRPr sz="2000"/>
          </a:p>
          <a:p>
            <a:pPr marL="342900" indent="-342900"/>
            <a:r>
              <a:rPr lang="en-US"/>
              <a:t>Consider referral to a HTN specialist and/or a work-up for secondary HTN.</a:t>
            </a:r>
            <a:endParaRPr/>
          </a:p>
        </p:txBody>
      </p:sp>
    </p:spTree>
  </p:cSld>
  <p:clrMapOvr>
    <a:masterClrMapping/>
  </p:clrMapOvr>
</p:sld>
</file>

<file path=ppt/theme/theme1.xml><?xml version="1.0" encoding="utf-8"?>
<a:theme xmlns:a="http://schemas.openxmlformats.org/drawingml/2006/main" name="Default - Title Slide">
  <a:themeElements>
    <a:clrScheme name="">
      <a:dk1>
        <a:srgbClr val="000000"/>
      </a:dk1>
      <a:lt1>
        <a:srgbClr val="FFFFFF"/>
      </a:lt1>
      <a:dk2>
        <a:srgbClr val="000000"/>
      </a:dk2>
      <a:lt2>
        <a:srgbClr val="000000"/>
      </a:lt2>
      <a:accent1>
        <a:srgbClr val="FFFFFF"/>
      </a:accent1>
      <a:accent2>
        <a:srgbClr val="333399"/>
      </a:accent2>
      <a:accent3>
        <a:srgbClr val="FFFFFF"/>
      </a:accent3>
      <a:accent4>
        <a:srgbClr val="000000"/>
      </a:accent4>
      <a:accent5>
        <a:srgbClr val="FFFFF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Default - Title and Content">
  <a:themeElements>
    <a:clrScheme name="">
      <a:dk1>
        <a:srgbClr val="000000"/>
      </a:dk1>
      <a:lt1>
        <a:srgbClr val="FFFFFF"/>
      </a:lt1>
      <a:dk2>
        <a:srgbClr val="000000"/>
      </a:dk2>
      <a:lt2>
        <a:srgbClr val="000000"/>
      </a:lt2>
      <a:accent1>
        <a:srgbClr val="FFFFFF"/>
      </a:accent1>
      <a:accent2>
        <a:srgbClr val="333399"/>
      </a:accent2>
      <a:accent3>
        <a:srgbClr val="FFFFFF"/>
      </a:accent3>
      <a:accent4>
        <a:srgbClr val="000000"/>
      </a:accent4>
      <a:accent5>
        <a:srgbClr val="FFFFF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753</TotalTime>
  <Words>6821</Words>
  <Application>Microsoft Office PowerPoint</Application>
  <PresentationFormat>Widescreen</PresentationFormat>
  <Paragraphs>744</Paragraphs>
  <Slides>105</Slides>
  <Notes>105</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105</vt:i4>
      </vt:variant>
    </vt:vector>
  </HeadingPairs>
  <TitlesOfParts>
    <vt:vector size="113" baseType="lpstr">
      <vt:lpstr>Arial</vt:lpstr>
      <vt:lpstr>Calibri</vt:lpstr>
      <vt:lpstr>Comic Sans MS</vt:lpstr>
      <vt:lpstr>Wingdings</vt:lpstr>
      <vt:lpstr>Constantia</vt:lpstr>
      <vt:lpstr>Helvetica Neue</vt:lpstr>
      <vt:lpstr>Default - Title Slide</vt:lpstr>
      <vt:lpstr>Default - Title and Content</vt:lpstr>
      <vt:lpstr>HYPERTENSION Part III</vt:lpstr>
      <vt:lpstr>Treatment of Hypertension</vt:lpstr>
      <vt:lpstr>Motivational Interviewing in the Treatment of Hypertension</vt:lpstr>
      <vt:lpstr>How Do Clinicians Decide On BP Treatment?</vt:lpstr>
      <vt:lpstr>Who is Running This Show?</vt:lpstr>
      <vt:lpstr>Goals of Antihypertensive Treatment</vt:lpstr>
      <vt:lpstr>Lifestyle Management Recommendations in HTN</vt:lpstr>
      <vt:lpstr>Lifestyle Management Recommendations in HTN</vt:lpstr>
      <vt:lpstr>Lifestyle Management Recommendations in HTN</vt:lpstr>
      <vt:lpstr>Lifestyle Management Recommendations in HTN</vt:lpstr>
      <vt:lpstr>Lifestyle Management Recommendations in HTN</vt:lpstr>
      <vt:lpstr>Treatment: Lifestyle Modifications</vt:lpstr>
      <vt:lpstr>Long Term Management of HTN</vt:lpstr>
      <vt:lpstr>Long Term Management of HTN</vt:lpstr>
      <vt:lpstr>Long Term Management of HTN</vt:lpstr>
      <vt:lpstr>Long Term Management of HTN</vt:lpstr>
      <vt:lpstr>Long Term Management of HTN</vt:lpstr>
      <vt:lpstr>PowerPoint Presentation</vt:lpstr>
      <vt:lpstr>PowerPoint Presentation</vt:lpstr>
      <vt:lpstr>PowerPoint Presentation</vt:lpstr>
      <vt:lpstr>Withholding Drug Treatment of HTN</vt:lpstr>
      <vt:lpstr>Antihypertensive Drug Classes</vt:lpstr>
      <vt:lpstr>Treatment of Hypertension</vt:lpstr>
      <vt:lpstr>HTN Drug Treatment Principles Mono- or Combination Therapy</vt:lpstr>
      <vt:lpstr>Compelling Indications</vt:lpstr>
      <vt:lpstr>Drug Treatment Principles</vt:lpstr>
      <vt:lpstr>Drug Treatment Principles</vt:lpstr>
      <vt:lpstr>Drug Treatment Principles</vt:lpstr>
      <vt:lpstr>Drug Treatment Principles</vt:lpstr>
      <vt:lpstr>Drug Treatment Principles First Line Drug Classes for HTN</vt:lpstr>
      <vt:lpstr>Drug Treatment Principles</vt:lpstr>
      <vt:lpstr>Diuretics</vt:lpstr>
      <vt:lpstr>Diuretics</vt:lpstr>
      <vt:lpstr>Thiazide Diuretics</vt:lpstr>
      <vt:lpstr>Thiazide Diuretics</vt:lpstr>
      <vt:lpstr>Thiazide Diuretics</vt:lpstr>
      <vt:lpstr>Thiazide Diuretics</vt:lpstr>
      <vt:lpstr>Loop Diuretics </vt:lpstr>
      <vt:lpstr>Loop Diuretics</vt:lpstr>
      <vt:lpstr>Loop Diuretics Dosing </vt:lpstr>
      <vt:lpstr>Loop Diuretics Dosing </vt:lpstr>
      <vt:lpstr>Loop Diuretics Dosing </vt:lpstr>
      <vt:lpstr>Loop Diuretics- Adverse Reactions </vt:lpstr>
      <vt:lpstr>Potassium Sparing Diuretics</vt:lpstr>
      <vt:lpstr>Potassium Sparing Diuretics</vt:lpstr>
      <vt:lpstr>Potassium Sparing Diuretics/ Aldosterone Antagonists</vt:lpstr>
      <vt:lpstr>Aldosterone Antagonists</vt:lpstr>
      <vt:lpstr>Aldosterone Antagonists: Adverse Effects</vt:lpstr>
      <vt:lpstr>Angiotensin Converting Enzyme (ACE) Inhibitors</vt:lpstr>
      <vt:lpstr>Angiotensin Converting Enzyme (ACE) Inhibitors</vt:lpstr>
      <vt:lpstr>Lots of Uses for ACE Inhibitors</vt:lpstr>
      <vt:lpstr>ACE Inhibitors:  Nephroprotective and Nephrotoxic </vt:lpstr>
      <vt:lpstr>ACE Inhibitors:  Nephroprotective and Nephrotoxic </vt:lpstr>
      <vt:lpstr>ACE Inhibitor Monitoring</vt:lpstr>
      <vt:lpstr>Adverse effects of ACE Inhibitors </vt:lpstr>
      <vt:lpstr>Adverse effects of ACE Inhibitors </vt:lpstr>
      <vt:lpstr>ARBs  (Angiotensin II Receptor Blockers)</vt:lpstr>
      <vt:lpstr>PowerPoint Presentation</vt:lpstr>
      <vt:lpstr>ARBs  (Angiotensin II Receptor Blockers)</vt:lpstr>
      <vt:lpstr>ARBs  (Angiotensin II Receptor Blockers)</vt:lpstr>
      <vt:lpstr>Should we combine and ACEI and an ARB?</vt:lpstr>
      <vt:lpstr>Calcium Channel Blockers (CCBs)</vt:lpstr>
      <vt:lpstr>Calcium Channel Blockers (CCBs)</vt:lpstr>
      <vt:lpstr>Calcium Channel Blockers (CCBs)</vt:lpstr>
      <vt:lpstr>Calcium Channel Blockers (CCBs)</vt:lpstr>
      <vt:lpstr>PowerPoint Presentation</vt:lpstr>
      <vt:lpstr>DHP CCBs Adverse Reactions  Amlodipine (Norvasc), Felodipine (Plendil) Nifedipine (Procardia, Adalat)</vt:lpstr>
      <vt:lpstr>DHP CCBs Adverse Reactions  Amlodipine (Norvasc), Felodipine (Plendil) Nifedipine (Procardia, Adalat)</vt:lpstr>
      <vt:lpstr>Non-DHP CCBs Adverse Reactions Verapamil (Calan, Verelan) or Diltiazem (Cardizem, Tiazac, Cartia)</vt:lpstr>
      <vt:lpstr>Non-DHP CCBs Adverse Reactions Verapamil (Calan, Verelan) or Diltiazem (Cardizem, Tiazac, Cartia)</vt:lpstr>
      <vt:lpstr>CCB Overdose</vt:lpstr>
      <vt:lpstr>CCB Overdose</vt:lpstr>
      <vt:lpstr>β-Receptors</vt:lpstr>
      <vt:lpstr>β-Blockers MOA</vt:lpstr>
      <vt:lpstr>Indications for β-Blockers </vt:lpstr>
      <vt:lpstr>Indications for β-Blockers </vt:lpstr>
      <vt:lpstr>β-Blockers Side Effects</vt:lpstr>
      <vt:lpstr>Diabetics and β-Blockers</vt:lpstr>
      <vt:lpstr>Diabetics and β-Blockers</vt:lpstr>
      <vt:lpstr>Types of β-Blockers </vt:lpstr>
      <vt:lpstr>Types of β-Blockers </vt:lpstr>
      <vt:lpstr>Types of β-Blockers </vt:lpstr>
      <vt:lpstr>β-Blockers  </vt:lpstr>
      <vt:lpstr>β-Blocker Overdose  </vt:lpstr>
      <vt:lpstr>β-Blocker Overdose  </vt:lpstr>
      <vt:lpstr>Mixed α1- &amp; β-blockers</vt:lpstr>
      <vt:lpstr>Mixed α1- &amp; β-blockers</vt:lpstr>
      <vt:lpstr>α1-Blockers</vt:lpstr>
      <vt:lpstr>α1-Blockers</vt:lpstr>
      <vt:lpstr>Central α2-Agonists</vt:lpstr>
      <vt:lpstr>Central α2-Agonists</vt:lpstr>
      <vt:lpstr>Central α2-Agonists: Adverse Effects</vt:lpstr>
      <vt:lpstr>Central α2-Agonists Overdose</vt:lpstr>
      <vt:lpstr>Direct Arterial Vasodilators </vt:lpstr>
      <vt:lpstr>Direct Arterial Vasodilators: Adverse Effects </vt:lpstr>
      <vt:lpstr>Putting it all Together Treating the Hypertensive Patient</vt:lpstr>
      <vt:lpstr>Putting it all Together Treating the Hypertensive Patient</vt:lpstr>
      <vt:lpstr>Putting It All Together</vt:lpstr>
      <vt:lpstr>Putting It All Together</vt:lpstr>
      <vt:lpstr>Putting It All Together</vt:lpstr>
      <vt:lpstr>Putting It All Together</vt:lpstr>
      <vt:lpstr>Putting It All Together</vt:lpstr>
      <vt:lpstr>Putting It All Together</vt:lpstr>
      <vt:lpstr>Resistant Hypertension</vt:lpstr>
      <vt:lpstr>Resistant Hypertension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HYPERTENSION</dc:title>
  <dc:creator>Gulczinski, Jill-Renae</dc:creator>
  <cp:lastModifiedBy>Veal, Breanna</cp:lastModifiedBy>
  <cp:revision>5</cp:revision>
  <dcterms:modified xsi:type="dcterms:W3CDTF">2026-10-19T17:42:23Z</dcterms:modified>
</cp:coreProperties>
</file>