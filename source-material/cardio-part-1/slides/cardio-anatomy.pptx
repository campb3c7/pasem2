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9"/>
  </p:notesMasterIdLst>
  <p:handoutMasterIdLst>
    <p:handoutMasterId r:id="rId90"/>
  </p:handoutMasterIdLst>
  <p:sldIdLst>
    <p:sldId id="256" r:id="rId5"/>
    <p:sldId id="290" r:id="rId6"/>
    <p:sldId id="257" r:id="rId7"/>
    <p:sldId id="263" r:id="rId8"/>
    <p:sldId id="323" r:id="rId9"/>
    <p:sldId id="258" r:id="rId10"/>
    <p:sldId id="324" r:id="rId11"/>
    <p:sldId id="312" r:id="rId12"/>
    <p:sldId id="307" r:id="rId13"/>
    <p:sldId id="291" r:id="rId14"/>
    <p:sldId id="264" r:id="rId15"/>
    <p:sldId id="292" r:id="rId16"/>
    <p:sldId id="313" r:id="rId17"/>
    <p:sldId id="259" r:id="rId18"/>
    <p:sldId id="260" r:id="rId19"/>
    <p:sldId id="261" r:id="rId20"/>
    <p:sldId id="262" r:id="rId21"/>
    <p:sldId id="293" r:id="rId22"/>
    <p:sldId id="332" r:id="rId23"/>
    <p:sldId id="325" r:id="rId24"/>
    <p:sldId id="265" r:id="rId25"/>
    <p:sldId id="326" r:id="rId26"/>
    <p:sldId id="266" r:id="rId27"/>
    <p:sldId id="296" r:id="rId28"/>
    <p:sldId id="314" r:id="rId29"/>
    <p:sldId id="327" r:id="rId30"/>
    <p:sldId id="270" r:id="rId31"/>
    <p:sldId id="271" r:id="rId32"/>
    <p:sldId id="267" r:id="rId33"/>
    <p:sldId id="294" r:id="rId34"/>
    <p:sldId id="311" r:id="rId35"/>
    <p:sldId id="315" r:id="rId36"/>
    <p:sldId id="297" r:id="rId37"/>
    <p:sldId id="316" r:id="rId38"/>
    <p:sldId id="268" r:id="rId39"/>
    <p:sldId id="295" r:id="rId40"/>
    <p:sldId id="317" r:id="rId41"/>
    <p:sldId id="272" r:id="rId42"/>
    <p:sldId id="318" r:id="rId43"/>
    <p:sldId id="298" r:id="rId44"/>
    <p:sldId id="269" r:id="rId45"/>
    <p:sldId id="335" r:id="rId46"/>
    <p:sldId id="336" r:id="rId47"/>
    <p:sldId id="328" r:id="rId48"/>
    <p:sldId id="286" r:id="rId49"/>
    <p:sldId id="287" r:id="rId50"/>
    <p:sldId id="288" r:id="rId51"/>
    <p:sldId id="289" r:id="rId52"/>
    <p:sldId id="299" r:id="rId53"/>
    <p:sldId id="304" r:id="rId54"/>
    <p:sldId id="329" r:id="rId55"/>
    <p:sldId id="273" r:id="rId56"/>
    <p:sldId id="305" r:id="rId57"/>
    <p:sldId id="274" r:id="rId58"/>
    <p:sldId id="300" r:id="rId59"/>
    <p:sldId id="330" r:id="rId60"/>
    <p:sldId id="275" r:id="rId61"/>
    <p:sldId id="301" r:id="rId62"/>
    <p:sldId id="333" r:id="rId63"/>
    <p:sldId id="331" r:id="rId64"/>
    <p:sldId id="306" r:id="rId65"/>
    <p:sldId id="302" r:id="rId66"/>
    <p:sldId id="347" r:id="rId67"/>
    <p:sldId id="303" r:id="rId68"/>
    <p:sldId id="276" r:id="rId69"/>
    <p:sldId id="310" r:id="rId70"/>
    <p:sldId id="319" r:id="rId71"/>
    <p:sldId id="334" r:id="rId72"/>
    <p:sldId id="309" r:id="rId73"/>
    <p:sldId id="320" r:id="rId74"/>
    <p:sldId id="321" r:id="rId75"/>
    <p:sldId id="308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6" r:id="rId84"/>
    <p:sldId id="344" r:id="rId85"/>
    <p:sldId id="345" r:id="rId86"/>
    <p:sldId id="348" r:id="rId87"/>
    <p:sldId id="349" r:id="rId8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88AA4B-8905-43D7-A08A-5AB549BD34C0}" v="4" dt="2025-09-28T22:30:56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6" Type="http://schemas.openxmlformats.org/officeDocument/2006/relationships/slide" Target="slides/slide72.xml"/><Relationship Id="rId84" Type="http://schemas.openxmlformats.org/officeDocument/2006/relationships/slide" Target="slides/slide80.xml"/><Relationship Id="rId89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87" Type="http://schemas.openxmlformats.org/officeDocument/2006/relationships/slide" Target="slides/slide83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90" Type="http://schemas.openxmlformats.org/officeDocument/2006/relationships/handoutMaster" Target="handoutMasters/handoutMaster1.xml"/><Relationship Id="rId95" Type="http://schemas.microsoft.com/office/2016/11/relationships/changesInfo" Target="changesInfos/changesInfo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presProps" Target="presProps.xml"/><Relationship Id="rId9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mer, Caroline" userId="af6fc57e-91ce-4a9c-9f86-f4b62c881051" providerId="ADAL" clId="{2B352DF8-81FB-4418-9C29-28636A150575}"/>
    <pc:docChg chg="undo custSel addSld modSld">
      <pc:chgData name="Palmer, Caroline" userId="af6fc57e-91ce-4a9c-9f86-f4b62c881051" providerId="ADAL" clId="{2B352DF8-81FB-4418-9C29-28636A150575}" dt="2022-09-23T21:11:41.597" v="290" actId="20577"/>
      <pc:docMkLst>
        <pc:docMk/>
      </pc:docMkLst>
      <pc:sldChg chg="modNotesTx">
        <pc:chgData name="Palmer, Caroline" userId="af6fc57e-91ce-4a9c-9f86-f4b62c881051" providerId="ADAL" clId="{2B352DF8-81FB-4418-9C29-28636A150575}" dt="2022-09-23T18:13:38.763" v="233" actId="20577"/>
        <pc:sldMkLst>
          <pc:docMk/>
          <pc:sldMk cId="0" sldId="272"/>
        </pc:sldMkLst>
      </pc:sldChg>
      <pc:sldChg chg="addSp modSp">
        <pc:chgData name="Palmer, Caroline" userId="af6fc57e-91ce-4a9c-9f86-f4b62c881051" providerId="ADAL" clId="{2B352DF8-81FB-4418-9C29-28636A150575}" dt="2022-09-23T20:41:45.975" v="281" actId="14100"/>
        <pc:sldMkLst>
          <pc:docMk/>
          <pc:sldMk cId="0" sldId="273"/>
        </pc:sldMkLst>
        <pc:spChg chg="add mod">
          <ac:chgData name="Palmer, Caroline" userId="af6fc57e-91ce-4a9c-9f86-f4b62c881051" providerId="ADAL" clId="{2B352DF8-81FB-4418-9C29-28636A150575}" dt="2022-09-23T18:44:50.132" v="244" actId="1582"/>
          <ac:spMkLst>
            <pc:docMk/>
            <pc:sldMk cId="0" sldId="273"/>
            <ac:spMk id="2" creationId="{214DA8A0-271F-4E4F-AF9B-06C0D66AC325}"/>
          </ac:spMkLst>
        </pc:spChg>
        <pc:spChg chg="add mod">
          <ac:chgData name="Palmer, Caroline" userId="af6fc57e-91ce-4a9c-9f86-f4b62c881051" providerId="ADAL" clId="{2B352DF8-81FB-4418-9C29-28636A150575}" dt="2022-09-23T18:46:27.274" v="248" actId="1582"/>
          <ac:spMkLst>
            <pc:docMk/>
            <pc:sldMk cId="0" sldId="273"/>
            <ac:spMk id="3" creationId="{DBE158FF-4AC6-4CB7-AF23-ACB7F119C3F9}"/>
          </ac:spMkLst>
        </pc:spChg>
        <pc:spChg chg="add mod">
          <ac:chgData name="Palmer, Caroline" userId="af6fc57e-91ce-4a9c-9f86-f4b62c881051" providerId="ADAL" clId="{2B352DF8-81FB-4418-9C29-28636A150575}" dt="2022-09-23T20:41:45.975" v="281" actId="14100"/>
          <ac:spMkLst>
            <pc:docMk/>
            <pc:sldMk cId="0" sldId="273"/>
            <ac:spMk id="5" creationId="{9DF2FF9B-31BC-47A3-A59C-D9BDE7094BB2}"/>
          </ac:spMkLst>
        </pc:spChg>
        <pc:spChg chg="add mod">
          <ac:chgData name="Palmer, Caroline" userId="af6fc57e-91ce-4a9c-9f86-f4b62c881051" providerId="ADAL" clId="{2B352DF8-81FB-4418-9C29-28636A150575}" dt="2022-09-23T20:40:01.619" v="269" actId="1076"/>
          <ac:spMkLst>
            <pc:docMk/>
            <pc:sldMk cId="0" sldId="273"/>
            <ac:spMk id="6" creationId="{54963262-1F3D-42B6-B3FC-70141A1D1FFD}"/>
          </ac:spMkLst>
        </pc:spChg>
        <pc:spChg chg="add mod">
          <ac:chgData name="Palmer, Caroline" userId="af6fc57e-91ce-4a9c-9f86-f4b62c881051" providerId="ADAL" clId="{2B352DF8-81FB-4418-9C29-28636A150575}" dt="2022-09-23T20:38:30.070" v="258" actId="1582"/>
          <ac:spMkLst>
            <pc:docMk/>
            <pc:sldMk cId="0" sldId="273"/>
            <ac:spMk id="7" creationId="{1AAE9E9C-AC89-4CE7-B91F-977F44F4BCBD}"/>
          </ac:spMkLst>
        </pc:spChg>
        <pc:spChg chg="add mod">
          <ac:chgData name="Palmer, Caroline" userId="af6fc57e-91ce-4a9c-9f86-f4b62c881051" providerId="ADAL" clId="{2B352DF8-81FB-4418-9C29-28636A150575}" dt="2022-09-23T20:39:24.090" v="264" actId="14100"/>
          <ac:spMkLst>
            <pc:docMk/>
            <pc:sldMk cId="0" sldId="273"/>
            <ac:spMk id="8" creationId="{ED26AAC2-C4EA-473D-A753-84F435AF1B84}"/>
          </ac:spMkLst>
        </pc:spChg>
        <pc:spChg chg="add mod">
          <ac:chgData name="Palmer, Caroline" userId="af6fc57e-91ce-4a9c-9f86-f4b62c881051" providerId="ADAL" clId="{2B352DF8-81FB-4418-9C29-28636A150575}" dt="2022-09-23T20:39:51.592" v="268" actId="1582"/>
          <ac:spMkLst>
            <pc:docMk/>
            <pc:sldMk cId="0" sldId="273"/>
            <ac:spMk id="9" creationId="{5FC023A2-8A46-4AC6-B496-F94BFDDDEA9C}"/>
          </ac:spMkLst>
        </pc:spChg>
        <pc:spChg chg="add mod">
          <ac:chgData name="Palmer, Caroline" userId="af6fc57e-91ce-4a9c-9f86-f4b62c881051" providerId="ADAL" clId="{2B352DF8-81FB-4418-9C29-28636A150575}" dt="2022-09-23T20:40:32.718" v="273" actId="1582"/>
          <ac:spMkLst>
            <pc:docMk/>
            <pc:sldMk cId="0" sldId="273"/>
            <ac:spMk id="10" creationId="{B4B2644A-0BE2-489F-94E8-6F2591AFC7B7}"/>
          </ac:spMkLst>
        </pc:spChg>
        <pc:spChg chg="add mod">
          <ac:chgData name="Palmer, Caroline" userId="af6fc57e-91ce-4a9c-9f86-f4b62c881051" providerId="ADAL" clId="{2B352DF8-81FB-4418-9C29-28636A150575}" dt="2022-09-23T20:41:28.704" v="279" actId="1582"/>
          <ac:spMkLst>
            <pc:docMk/>
            <pc:sldMk cId="0" sldId="273"/>
            <ac:spMk id="11" creationId="{C083EAC8-85E0-4F5D-8ACB-E369F0C8778C}"/>
          </ac:spMkLst>
        </pc:spChg>
        <pc:picChg chg="mod">
          <ac:chgData name="Palmer, Caroline" userId="af6fc57e-91ce-4a9c-9f86-f4b62c881051" providerId="ADAL" clId="{2B352DF8-81FB-4418-9C29-28636A150575}" dt="2022-09-23T20:40:57.924" v="275" actId="1076"/>
          <ac:picMkLst>
            <pc:docMk/>
            <pc:sldMk cId="0" sldId="273"/>
            <ac:picMk id="4" creationId="{00000000-0000-0000-0000-000000000000}"/>
          </ac:picMkLst>
        </pc:picChg>
      </pc:sldChg>
      <pc:sldChg chg="modNotesTx">
        <pc:chgData name="Palmer, Caroline" userId="af6fc57e-91ce-4a9c-9f86-f4b62c881051" providerId="ADAL" clId="{2B352DF8-81FB-4418-9C29-28636A150575}" dt="2022-09-23T17:55:12.434" v="31" actId="20577"/>
        <pc:sldMkLst>
          <pc:docMk/>
          <pc:sldMk cId="0" sldId="294"/>
        </pc:sldMkLst>
      </pc:sldChg>
      <pc:sldChg chg="modSp">
        <pc:chgData name="Palmer, Caroline" userId="af6fc57e-91ce-4a9c-9f86-f4b62c881051" providerId="ADAL" clId="{2B352DF8-81FB-4418-9C29-28636A150575}" dt="2022-09-23T18:07:19.914" v="83" actId="207"/>
        <pc:sldMkLst>
          <pc:docMk/>
          <pc:sldMk cId="0" sldId="295"/>
        </pc:sldMkLst>
        <pc:spChg chg="mod">
          <ac:chgData name="Palmer, Caroline" userId="af6fc57e-91ce-4a9c-9f86-f4b62c881051" providerId="ADAL" clId="{2B352DF8-81FB-4418-9C29-28636A150575}" dt="2022-09-23T18:07:19.914" v="83" actId="207"/>
          <ac:spMkLst>
            <pc:docMk/>
            <pc:sldMk cId="0" sldId="295"/>
            <ac:spMk id="3" creationId="{00000000-0000-0000-0000-000000000000}"/>
          </ac:spMkLst>
        </pc:spChg>
      </pc:sldChg>
      <pc:sldChg chg="modSp">
        <pc:chgData name="Palmer, Caroline" userId="af6fc57e-91ce-4a9c-9f86-f4b62c881051" providerId="ADAL" clId="{2B352DF8-81FB-4418-9C29-28636A150575}" dt="2022-09-23T21:11:41.597" v="290" actId="20577"/>
        <pc:sldMkLst>
          <pc:docMk/>
          <pc:sldMk cId="0" sldId="305"/>
        </pc:sldMkLst>
        <pc:spChg chg="mod">
          <ac:chgData name="Palmer, Caroline" userId="af6fc57e-91ce-4a9c-9f86-f4b62c881051" providerId="ADAL" clId="{2B352DF8-81FB-4418-9C29-28636A150575}" dt="2022-09-23T21:11:41.597" v="290" actId="20577"/>
          <ac:spMkLst>
            <pc:docMk/>
            <pc:sldMk cId="0" sldId="305"/>
            <ac:spMk id="3" creationId="{00000000-0000-0000-0000-000000000000}"/>
          </ac:spMkLst>
        </pc:spChg>
      </pc:sldChg>
      <pc:sldChg chg="modSp">
        <pc:chgData name="Palmer, Caroline" userId="af6fc57e-91ce-4a9c-9f86-f4b62c881051" providerId="ADAL" clId="{2B352DF8-81FB-4418-9C29-28636A150575}" dt="2022-09-23T17:56:24.107" v="32" actId="15"/>
        <pc:sldMkLst>
          <pc:docMk/>
          <pc:sldMk cId="2586734353" sldId="315"/>
        </pc:sldMkLst>
        <pc:spChg chg="mod">
          <ac:chgData name="Palmer, Caroline" userId="af6fc57e-91ce-4a9c-9f86-f4b62c881051" providerId="ADAL" clId="{2B352DF8-81FB-4418-9C29-28636A150575}" dt="2022-09-23T17:56:24.107" v="32" actId="15"/>
          <ac:spMkLst>
            <pc:docMk/>
            <pc:sldMk cId="2586734353" sldId="315"/>
            <ac:spMk id="3" creationId="{00000000-0000-0000-0000-000000000000}"/>
          </ac:spMkLst>
        </pc:spChg>
      </pc:sldChg>
      <pc:sldChg chg="modSp">
        <pc:chgData name="Palmer, Caroline" userId="af6fc57e-91ce-4a9c-9f86-f4b62c881051" providerId="ADAL" clId="{2B352DF8-81FB-4418-9C29-28636A150575}" dt="2022-09-23T18:10:27.231" v="150" actId="20577"/>
        <pc:sldMkLst>
          <pc:docMk/>
          <pc:sldMk cId="919376539" sldId="317"/>
        </pc:sldMkLst>
        <pc:spChg chg="mod">
          <ac:chgData name="Palmer, Caroline" userId="af6fc57e-91ce-4a9c-9f86-f4b62c881051" providerId="ADAL" clId="{2B352DF8-81FB-4418-9C29-28636A150575}" dt="2022-09-23T18:10:27.231" v="150" actId="20577"/>
          <ac:spMkLst>
            <pc:docMk/>
            <pc:sldMk cId="919376539" sldId="317"/>
            <ac:spMk id="3" creationId="{00000000-0000-0000-0000-000000000000}"/>
          </ac:spMkLst>
        </pc:spChg>
      </pc:sldChg>
      <pc:sldChg chg="addSp delSp modSp add">
        <pc:chgData name="Palmer, Caroline" userId="af6fc57e-91ce-4a9c-9f86-f4b62c881051" providerId="ADAL" clId="{2B352DF8-81FB-4418-9C29-28636A150575}" dt="2022-09-23T18:35:33.350" v="241" actId="1076"/>
        <pc:sldMkLst>
          <pc:docMk/>
          <pc:sldMk cId="2880337519" sldId="336"/>
        </pc:sldMkLst>
        <pc:picChg chg="add del mod">
          <ac:chgData name="Palmer, Caroline" userId="af6fc57e-91ce-4a9c-9f86-f4b62c881051" providerId="ADAL" clId="{2B352DF8-81FB-4418-9C29-28636A150575}" dt="2022-09-23T18:34:05.946" v="238"/>
          <ac:picMkLst>
            <pc:docMk/>
            <pc:sldMk cId="2880337519" sldId="336"/>
            <ac:picMk id="1026" creationId="{E65B313F-51F0-43F7-8170-D02745924ABB}"/>
          </ac:picMkLst>
        </pc:picChg>
        <pc:picChg chg="add mod">
          <ac:chgData name="Palmer, Caroline" userId="af6fc57e-91ce-4a9c-9f86-f4b62c881051" providerId="ADAL" clId="{2B352DF8-81FB-4418-9C29-28636A150575}" dt="2022-09-23T18:35:33.350" v="241" actId="1076"/>
          <ac:picMkLst>
            <pc:docMk/>
            <pc:sldMk cId="2880337519" sldId="336"/>
            <ac:picMk id="1028" creationId="{D58FF4AC-3DE5-46C5-AC6C-9309A59D4DCD}"/>
          </ac:picMkLst>
        </pc:picChg>
      </pc:sldChg>
    </pc:docChg>
  </pc:docChgLst>
  <pc:docChgLst>
    <pc:chgData name="Palmer, Caroline" userId="af6fc57e-91ce-4a9c-9f86-f4b62c881051" providerId="ADAL" clId="{1AEB0D87-6CA8-47FF-8DB9-C4E059CE21FE}"/>
    <pc:docChg chg="custSel addSld modSld">
      <pc:chgData name="Palmer, Caroline" userId="af6fc57e-91ce-4a9c-9f86-f4b62c881051" providerId="ADAL" clId="{1AEB0D87-6CA8-47FF-8DB9-C4E059CE21FE}" dt="2023-09-26T18:16:11.704" v="1054" actId="20577"/>
      <pc:docMkLst>
        <pc:docMk/>
      </pc:docMkLst>
      <pc:sldChg chg="modSp mod">
        <pc:chgData name="Palmer, Caroline" userId="af6fc57e-91ce-4a9c-9f86-f4b62c881051" providerId="ADAL" clId="{1AEB0D87-6CA8-47FF-8DB9-C4E059CE21FE}" dt="2023-09-26T18:16:11.704" v="1054" actId="20577"/>
        <pc:sldMkLst>
          <pc:docMk/>
          <pc:sldMk cId="0" sldId="256"/>
        </pc:sldMkLst>
        <pc:spChg chg="mod">
          <ac:chgData name="Palmer, Caroline" userId="af6fc57e-91ce-4a9c-9f86-f4b62c881051" providerId="ADAL" clId="{1AEB0D87-6CA8-47FF-8DB9-C4E059CE21FE}" dt="2023-09-26T18:16:11.704" v="1054" actId="20577"/>
          <ac:spMkLst>
            <pc:docMk/>
            <pc:sldMk cId="0" sldId="256"/>
            <ac:spMk id="2" creationId="{00000000-0000-0000-0000-000000000000}"/>
          </ac:spMkLst>
        </pc:spChg>
      </pc:sldChg>
      <pc:sldChg chg="addSp delSp modSp new mod">
        <pc:chgData name="Palmer, Caroline" userId="af6fc57e-91ce-4a9c-9f86-f4b62c881051" providerId="ADAL" clId="{1AEB0D87-6CA8-47FF-8DB9-C4E059CE21FE}" dt="2023-09-26T17:40:10.691" v="326" actId="27636"/>
        <pc:sldMkLst>
          <pc:docMk/>
          <pc:sldMk cId="1104120481" sldId="337"/>
        </pc:sldMkLst>
        <pc:spChg chg="del mod">
          <ac:chgData name="Palmer, Caroline" userId="af6fc57e-91ce-4a9c-9f86-f4b62c881051" providerId="ADAL" clId="{1AEB0D87-6CA8-47FF-8DB9-C4E059CE21FE}" dt="2023-09-26T17:28:29.677" v="71" actId="21"/>
          <ac:spMkLst>
            <pc:docMk/>
            <pc:sldMk cId="1104120481" sldId="337"/>
            <ac:spMk id="2" creationId="{3BD58A52-5317-9428-B017-1F8AE7B6F670}"/>
          </ac:spMkLst>
        </pc:spChg>
        <pc:spChg chg="add del mod">
          <ac:chgData name="Palmer, Caroline" userId="af6fc57e-91ce-4a9c-9f86-f4b62c881051" providerId="ADAL" clId="{1AEB0D87-6CA8-47FF-8DB9-C4E059CE21FE}" dt="2023-09-26T17:28:15.291" v="43"/>
          <ac:spMkLst>
            <pc:docMk/>
            <pc:sldMk cId="1104120481" sldId="337"/>
            <ac:spMk id="3" creationId="{4B44F6FB-7B15-B72A-D4FD-4E40D05B4037}"/>
          </ac:spMkLst>
        </pc:spChg>
        <pc:spChg chg="add mod">
          <ac:chgData name="Palmer, Caroline" userId="af6fc57e-91ce-4a9c-9f86-f4b62c881051" providerId="ADAL" clId="{1AEB0D87-6CA8-47FF-8DB9-C4E059CE21FE}" dt="2023-09-26T17:40:10.691" v="326" actId="27636"/>
          <ac:spMkLst>
            <pc:docMk/>
            <pc:sldMk cId="1104120481" sldId="337"/>
            <ac:spMk id="5" creationId="{04EDFECB-49E6-6B96-AEB4-DDD555BEED08}"/>
          </ac:spMkLst>
        </pc:spChg>
        <pc:picChg chg="add del mod">
          <ac:chgData name="Palmer, Caroline" userId="af6fc57e-91ce-4a9c-9f86-f4b62c881051" providerId="ADAL" clId="{1AEB0D87-6CA8-47FF-8DB9-C4E059CE21FE}" dt="2023-09-26T17:28:05.576" v="42"/>
          <ac:picMkLst>
            <pc:docMk/>
            <pc:sldMk cId="1104120481" sldId="337"/>
            <ac:picMk id="4" creationId="{C5084B12-8A54-EBF2-59EA-AE6E97FAC305}"/>
          </ac:picMkLst>
        </pc:picChg>
      </pc:sldChg>
      <pc:sldChg chg="addSp delSp modSp new mod chgLayout">
        <pc:chgData name="Palmer, Caroline" userId="af6fc57e-91ce-4a9c-9f86-f4b62c881051" providerId="ADAL" clId="{1AEB0D87-6CA8-47FF-8DB9-C4E059CE21FE}" dt="2023-09-26T17:31:45.436" v="168" actId="14100"/>
        <pc:sldMkLst>
          <pc:docMk/>
          <pc:sldMk cId="2947800864" sldId="338"/>
        </pc:sldMkLst>
        <pc:spChg chg="del">
          <ac:chgData name="Palmer, Caroline" userId="af6fc57e-91ce-4a9c-9f86-f4b62c881051" providerId="ADAL" clId="{1AEB0D87-6CA8-47FF-8DB9-C4E059CE21FE}" dt="2023-09-26T17:29:17.678" v="80" actId="21"/>
          <ac:spMkLst>
            <pc:docMk/>
            <pc:sldMk cId="2947800864" sldId="338"/>
            <ac:spMk id="2" creationId="{1F101CE4-D5AA-97AA-76F1-36A4E24D15AF}"/>
          </ac:spMkLst>
        </pc:spChg>
        <pc:spChg chg="del">
          <ac:chgData name="Palmer, Caroline" userId="af6fc57e-91ce-4a9c-9f86-f4b62c881051" providerId="ADAL" clId="{1AEB0D87-6CA8-47FF-8DB9-C4E059CE21FE}" dt="2023-09-26T17:29:10.947" v="79"/>
          <ac:spMkLst>
            <pc:docMk/>
            <pc:sldMk cId="2947800864" sldId="338"/>
            <ac:spMk id="3" creationId="{3F2D31B5-0996-4A4C-1CBC-30A66A7F97B6}"/>
          </ac:spMkLst>
        </pc:spChg>
        <pc:spChg chg="add mod ord">
          <ac:chgData name="Palmer, Caroline" userId="af6fc57e-91ce-4a9c-9f86-f4b62c881051" providerId="ADAL" clId="{1AEB0D87-6CA8-47FF-8DB9-C4E059CE21FE}" dt="2023-09-26T17:31:45.436" v="168" actId="14100"/>
          <ac:spMkLst>
            <pc:docMk/>
            <pc:sldMk cId="2947800864" sldId="338"/>
            <ac:spMk id="5" creationId="{9C23C832-0479-4181-AA74-091F80586A16}"/>
          </ac:spMkLst>
        </pc:spChg>
        <pc:picChg chg="add mod ord">
          <ac:chgData name="Palmer, Caroline" userId="af6fc57e-91ce-4a9c-9f86-f4b62c881051" providerId="ADAL" clId="{1AEB0D87-6CA8-47FF-8DB9-C4E059CE21FE}" dt="2023-09-26T17:31:38.740" v="167" actId="14100"/>
          <ac:picMkLst>
            <pc:docMk/>
            <pc:sldMk cId="2947800864" sldId="338"/>
            <ac:picMk id="4" creationId="{1BACD433-2E32-3B80-C8AE-C1E6D928994E}"/>
          </ac:picMkLst>
        </pc:picChg>
      </pc:sldChg>
      <pc:sldChg chg="addSp delSp modSp new mod">
        <pc:chgData name="Palmer, Caroline" userId="af6fc57e-91ce-4a9c-9f86-f4b62c881051" providerId="ADAL" clId="{1AEB0D87-6CA8-47FF-8DB9-C4E059CE21FE}" dt="2023-09-26T17:30:12.060" v="88" actId="1076"/>
        <pc:sldMkLst>
          <pc:docMk/>
          <pc:sldMk cId="3552840255" sldId="339"/>
        </pc:sldMkLst>
        <pc:spChg chg="del">
          <ac:chgData name="Palmer, Caroline" userId="af6fc57e-91ce-4a9c-9f86-f4b62c881051" providerId="ADAL" clId="{1AEB0D87-6CA8-47FF-8DB9-C4E059CE21FE}" dt="2023-09-26T17:30:06.034" v="86" actId="21"/>
          <ac:spMkLst>
            <pc:docMk/>
            <pc:sldMk cId="3552840255" sldId="339"/>
            <ac:spMk id="2" creationId="{D433186D-4EBB-FE22-95BD-AD27755FACE3}"/>
          </ac:spMkLst>
        </pc:spChg>
        <pc:spChg chg="del mod">
          <ac:chgData name="Palmer, Caroline" userId="af6fc57e-91ce-4a9c-9f86-f4b62c881051" providerId="ADAL" clId="{1AEB0D87-6CA8-47FF-8DB9-C4E059CE21FE}" dt="2023-09-26T17:30:00.925" v="85"/>
          <ac:spMkLst>
            <pc:docMk/>
            <pc:sldMk cId="3552840255" sldId="339"/>
            <ac:spMk id="3" creationId="{20FA03F8-D9D6-DE3A-45FA-AD039F4E30CD}"/>
          </ac:spMkLst>
        </pc:spChg>
        <pc:picChg chg="add mod">
          <ac:chgData name="Palmer, Caroline" userId="af6fc57e-91ce-4a9c-9f86-f4b62c881051" providerId="ADAL" clId="{1AEB0D87-6CA8-47FF-8DB9-C4E059CE21FE}" dt="2023-09-26T17:30:12.060" v="88" actId="1076"/>
          <ac:picMkLst>
            <pc:docMk/>
            <pc:sldMk cId="3552840255" sldId="339"/>
            <ac:picMk id="4" creationId="{7BC8A000-18F3-605C-4EEC-543A35851D08}"/>
          </ac:picMkLst>
        </pc:picChg>
      </pc:sldChg>
      <pc:sldChg chg="addSp delSp modSp new mod">
        <pc:chgData name="Palmer, Caroline" userId="af6fc57e-91ce-4a9c-9f86-f4b62c881051" providerId="ADAL" clId="{1AEB0D87-6CA8-47FF-8DB9-C4E059CE21FE}" dt="2023-09-26T17:30:58.198" v="131" actId="20577"/>
        <pc:sldMkLst>
          <pc:docMk/>
          <pc:sldMk cId="3968893967" sldId="340"/>
        </pc:sldMkLst>
        <pc:spChg chg="mod">
          <ac:chgData name="Palmer, Caroline" userId="af6fc57e-91ce-4a9c-9f86-f4b62c881051" providerId="ADAL" clId="{1AEB0D87-6CA8-47FF-8DB9-C4E059CE21FE}" dt="2023-09-26T17:30:58.198" v="131" actId="20577"/>
          <ac:spMkLst>
            <pc:docMk/>
            <pc:sldMk cId="3968893967" sldId="340"/>
            <ac:spMk id="2" creationId="{0DA90A45-5B26-0952-DDD8-220E7E6DDE30}"/>
          </ac:spMkLst>
        </pc:spChg>
        <pc:spChg chg="del mod">
          <ac:chgData name="Palmer, Caroline" userId="af6fc57e-91ce-4a9c-9f86-f4b62c881051" providerId="ADAL" clId="{1AEB0D87-6CA8-47FF-8DB9-C4E059CE21FE}" dt="2023-09-26T17:30:47.832" v="91"/>
          <ac:spMkLst>
            <pc:docMk/>
            <pc:sldMk cId="3968893967" sldId="340"/>
            <ac:spMk id="3" creationId="{DD6D2D67-48B2-C25E-F51E-C44823663676}"/>
          </ac:spMkLst>
        </pc:spChg>
        <pc:picChg chg="add mod">
          <ac:chgData name="Palmer, Caroline" userId="af6fc57e-91ce-4a9c-9f86-f4b62c881051" providerId="ADAL" clId="{1AEB0D87-6CA8-47FF-8DB9-C4E059CE21FE}" dt="2023-09-26T17:30:47.832" v="91"/>
          <ac:picMkLst>
            <pc:docMk/>
            <pc:sldMk cId="3968893967" sldId="340"/>
            <ac:picMk id="4" creationId="{12B5446A-F8A1-9E01-098B-551D93068021}"/>
          </ac:picMkLst>
        </pc:picChg>
      </pc:sldChg>
      <pc:sldChg chg="modSp new mod modNotesTx">
        <pc:chgData name="Palmer, Caroline" userId="af6fc57e-91ce-4a9c-9f86-f4b62c881051" providerId="ADAL" clId="{1AEB0D87-6CA8-47FF-8DB9-C4E059CE21FE}" dt="2023-09-26T17:49:01.106" v="694" actId="20577"/>
        <pc:sldMkLst>
          <pc:docMk/>
          <pc:sldMk cId="2004672892" sldId="341"/>
        </pc:sldMkLst>
        <pc:spChg chg="mod">
          <ac:chgData name="Palmer, Caroline" userId="af6fc57e-91ce-4a9c-9f86-f4b62c881051" providerId="ADAL" clId="{1AEB0D87-6CA8-47FF-8DB9-C4E059CE21FE}" dt="2023-09-26T17:42:09.962" v="402" actId="1076"/>
          <ac:spMkLst>
            <pc:docMk/>
            <pc:sldMk cId="2004672892" sldId="341"/>
            <ac:spMk id="2" creationId="{F8D0D90B-EB3E-4A2E-7B87-B05A48A8C4A1}"/>
          </ac:spMkLst>
        </pc:spChg>
        <pc:spChg chg="mod">
          <ac:chgData name="Palmer, Caroline" userId="af6fc57e-91ce-4a9c-9f86-f4b62c881051" providerId="ADAL" clId="{1AEB0D87-6CA8-47FF-8DB9-C4E059CE21FE}" dt="2023-09-26T17:45:32.417" v="460" actId="20577"/>
          <ac:spMkLst>
            <pc:docMk/>
            <pc:sldMk cId="2004672892" sldId="341"/>
            <ac:spMk id="3" creationId="{38D51F6F-0BA8-2B63-D0C7-65B632E01438}"/>
          </ac:spMkLst>
        </pc:spChg>
      </pc:sldChg>
      <pc:sldChg chg="addSp delSp modSp new mod">
        <pc:chgData name="Palmer, Caroline" userId="af6fc57e-91ce-4a9c-9f86-f4b62c881051" providerId="ADAL" clId="{1AEB0D87-6CA8-47FF-8DB9-C4E059CE21FE}" dt="2023-09-26T17:57:21.753" v="797" actId="20577"/>
        <pc:sldMkLst>
          <pc:docMk/>
          <pc:sldMk cId="3432433783" sldId="342"/>
        </pc:sldMkLst>
        <pc:spChg chg="mod">
          <ac:chgData name="Palmer, Caroline" userId="af6fc57e-91ce-4a9c-9f86-f4b62c881051" providerId="ADAL" clId="{1AEB0D87-6CA8-47FF-8DB9-C4E059CE21FE}" dt="2023-09-26T17:57:21.753" v="797" actId="20577"/>
          <ac:spMkLst>
            <pc:docMk/>
            <pc:sldMk cId="3432433783" sldId="342"/>
            <ac:spMk id="2" creationId="{2C666EB9-6698-E024-F7BF-F5C27F8EEB5A}"/>
          </ac:spMkLst>
        </pc:spChg>
        <pc:spChg chg="del">
          <ac:chgData name="Palmer, Caroline" userId="af6fc57e-91ce-4a9c-9f86-f4b62c881051" providerId="ADAL" clId="{1AEB0D87-6CA8-47FF-8DB9-C4E059CE21FE}" dt="2023-09-26T17:54:13.132" v="732"/>
          <ac:spMkLst>
            <pc:docMk/>
            <pc:sldMk cId="3432433783" sldId="342"/>
            <ac:spMk id="3" creationId="{22DEB3EF-A2C7-282D-C35D-B637348E8495}"/>
          </ac:spMkLst>
        </pc:spChg>
        <pc:spChg chg="add mod">
          <ac:chgData name="Palmer, Caroline" userId="af6fc57e-91ce-4a9c-9f86-f4b62c881051" providerId="ADAL" clId="{1AEB0D87-6CA8-47FF-8DB9-C4E059CE21FE}" dt="2023-09-26T17:55:26.592" v="739" actId="207"/>
          <ac:spMkLst>
            <pc:docMk/>
            <pc:sldMk cId="3432433783" sldId="342"/>
            <ac:spMk id="4" creationId="{61EC0036-AF74-59E8-1E27-08D181A125F2}"/>
          </ac:spMkLst>
        </pc:spChg>
      </pc:sldChg>
      <pc:sldChg chg="addSp delSp modSp new mod modNotesTx">
        <pc:chgData name="Palmer, Caroline" userId="af6fc57e-91ce-4a9c-9f86-f4b62c881051" providerId="ADAL" clId="{1AEB0D87-6CA8-47FF-8DB9-C4E059CE21FE}" dt="2023-09-26T17:55:12.300" v="738"/>
        <pc:sldMkLst>
          <pc:docMk/>
          <pc:sldMk cId="3239582335" sldId="343"/>
        </pc:sldMkLst>
        <pc:spChg chg="del">
          <ac:chgData name="Palmer, Caroline" userId="af6fc57e-91ce-4a9c-9f86-f4b62c881051" providerId="ADAL" clId="{1AEB0D87-6CA8-47FF-8DB9-C4E059CE21FE}" dt="2023-09-26T17:54:43.929" v="735" actId="21"/>
          <ac:spMkLst>
            <pc:docMk/>
            <pc:sldMk cId="3239582335" sldId="343"/>
            <ac:spMk id="2" creationId="{F1EC0389-7CA0-57B0-8810-536BBB2D17AA}"/>
          </ac:spMkLst>
        </pc:spChg>
        <pc:spChg chg="del">
          <ac:chgData name="Palmer, Caroline" userId="af6fc57e-91ce-4a9c-9f86-f4b62c881051" providerId="ADAL" clId="{1AEB0D87-6CA8-47FF-8DB9-C4E059CE21FE}" dt="2023-09-26T17:54:39.802" v="734"/>
          <ac:spMkLst>
            <pc:docMk/>
            <pc:sldMk cId="3239582335" sldId="343"/>
            <ac:spMk id="3" creationId="{A1AD28CB-2E9B-14E9-A492-7E08109E9F9B}"/>
          </ac:spMkLst>
        </pc:spChg>
        <pc:picChg chg="add mod">
          <ac:chgData name="Palmer, Caroline" userId="af6fc57e-91ce-4a9c-9f86-f4b62c881051" providerId="ADAL" clId="{1AEB0D87-6CA8-47FF-8DB9-C4E059CE21FE}" dt="2023-09-26T17:54:48.642" v="737" actId="1076"/>
          <ac:picMkLst>
            <pc:docMk/>
            <pc:sldMk cId="3239582335" sldId="343"/>
            <ac:picMk id="4" creationId="{82B623F9-5D25-7218-17D3-C78AF4B1A633}"/>
          </ac:picMkLst>
        </pc:picChg>
      </pc:sldChg>
      <pc:sldChg chg="addSp delSp modSp new mod modNotesTx">
        <pc:chgData name="Palmer, Caroline" userId="af6fc57e-91ce-4a9c-9f86-f4b62c881051" providerId="ADAL" clId="{1AEB0D87-6CA8-47FF-8DB9-C4E059CE21FE}" dt="2023-09-26T18:00:05.501" v="798"/>
        <pc:sldMkLst>
          <pc:docMk/>
          <pc:sldMk cId="2616732482" sldId="344"/>
        </pc:sldMkLst>
        <pc:spChg chg="mod">
          <ac:chgData name="Palmer, Caroline" userId="af6fc57e-91ce-4a9c-9f86-f4b62c881051" providerId="ADAL" clId="{1AEB0D87-6CA8-47FF-8DB9-C4E059CE21FE}" dt="2023-09-26T17:56:57.284" v="781" actId="20577"/>
          <ac:spMkLst>
            <pc:docMk/>
            <pc:sldMk cId="2616732482" sldId="344"/>
            <ac:spMk id="2" creationId="{23E58E3F-F879-AE3E-855D-E8F78124D5DE}"/>
          </ac:spMkLst>
        </pc:spChg>
        <pc:spChg chg="del">
          <ac:chgData name="Palmer, Caroline" userId="af6fc57e-91ce-4a9c-9f86-f4b62c881051" providerId="ADAL" clId="{1AEB0D87-6CA8-47FF-8DB9-C4E059CE21FE}" dt="2023-09-26T17:56:48.398" v="741"/>
          <ac:spMkLst>
            <pc:docMk/>
            <pc:sldMk cId="2616732482" sldId="344"/>
            <ac:spMk id="3" creationId="{166AD96F-3BC9-EBA9-9D7B-FEB31C931275}"/>
          </ac:spMkLst>
        </pc:spChg>
        <pc:picChg chg="add mod">
          <ac:chgData name="Palmer, Caroline" userId="af6fc57e-91ce-4a9c-9f86-f4b62c881051" providerId="ADAL" clId="{1AEB0D87-6CA8-47FF-8DB9-C4E059CE21FE}" dt="2023-09-26T17:56:48.398" v="741"/>
          <ac:picMkLst>
            <pc:docMk/>
            <pc:sldMk cId="2616732482" sldId="344"/>
            <ac:picMk id="4" creationId="{3C03EACE-A833-E7B5-4C48-ADF7C4916462}"/>
          </ac:picMkLst>
        </pc:picChg>
      </pc:sldChg>
      <pc:sldChg chg="modSp new mod">
        <pc:chgData name="Palmer, Caroline" userId="af6fc57e-91ce-4a9c-9f86-f4b62c881051" providerId="ADAL" clId="{1AEB0D87-6CA8-47FF-8DB9-C4E059CE21FE}" dt="2023-09-26T18:11:49.498" v="1033" actId="27636"/>
        <pc:sldMkLst>
          <pc:docMk/>
          <pc:sldMk cId="2190347189" sldId="345"/>
        </pc:sldMkLst>
        <pc:spChg chg="mod">
          <ac:chgData name="Palmer, Caroline" userId="af6fc57e-91ce-4a9c-9f86-f4b62c881051" providerId="ADAL" clId="{1AEB0D87-6CA8-47FF-8DB9-C4E059CE21FE}" dt="2023-09-26T18:10:27.082" v="998" actId="20577"/>
          <ac:spMkLst>
            <pc:docMk/>
            <pc:sldMk cId="2190347189" sldId="345"/>
            <ac:spMk id="2" creationId="{8968266C-4759-17AE-A5D3-1C5CBF1E61C0}"/>
          </ac:spMkLst>
        </pc:spChg>
        <pc:spChg chg="mod">
          <ac:chgData name="Palmer, Caroline" userId="af6fc57e-91ce-4a9c-9f86-f4b62c881051" providerId="ADAL" clId="{1AEB0D87-6CA8-47FF-8DB9-C4E059CE21FE}" dt="2023-09-26T18:11:49.498" v="1033" actId="27636"/>
          <ac:spMkLst>
            <pc:docMk/>
            <pc:sldMk cId="2190347189" sldId="345"/>
            <ac:spMk id="3" creationId="{6EAAF008-61FA-CF74-FBCF-77141F8C7662}"/>
          </ac:spMkLst>
        </pc:spChg>
      </pc:sldChg>
      <pc:sldChg chg="addSp delSp modSp new mod modNotesTx">
        <pc:chgData name="Palmer, Caroline" userId="af6fc57e-91ce-4a9c-9f86-f4b62c881051" providerId="ADAL" clId="{1AEB0D87-6CA8-47FF-8DB9-C4E059CE21FE}" dt="2023-09-26T18:07:47.232" v="934" actId="20577"/>
        <pc:sldMkLst>
          <pc:docMk/>
          <pc:sldMk cId="2578461048" sldId="346"/>
        </pc:sldMkLst>
        <pc:spChg chg="del">
          <ac:chgData name="Palmer, Caroline" userId="af6fc57e-91ce-4a9c-9f86-f4b62c881051" providerId="ADAL" clId="{1AEB0D87-6CA8-47FF-8DB9-C4E059CE21FE}" dt="2023-09-26T18:02:12.051" v="802" actId="21"/>
          <ac:spMkLst>
            <pc:docMk/>
            <pc:sldMk cId="2578461048" sldId="346"/>
            <ac:spMk id="2" creationId="{07ABE6F8-4410-D261-F73C-83768F91F7E9}"/>
          </ac:spMkLst>
        </pc:spChg>
        <pc:spChg chg="del">
          <ac:chgData name="Palmer, Caroline" userId="af6fc57e-91ce-4a9c-9f86-f4b62c881051" providerId="ADAL" clId="{1AEB0D87-6CA8-47FF-8DB9-C4E059CE21FE}" dt="2023-09-26T18:02:06.316" v="801"/>
          <ac:spMkLst>
            <pc:docMk/>
            <pc:sldMk cId="2578461048" sldId="346"/>
            <ac:spMk id="3" creationId="{B343E2DE-0E59-AAFC-BADB-8C1B7224994F}"/>
          </ac:spMkLst>
        </pc:spChg>
        <pc:picChg chg="add mod">
          <ac:chgData name="Palmer, Caroline" userId="af6fc57e-91ce-4a9c-9f86-f4b62c881051" providerId="ADAL" clId="{1AEB0D87-6CA8-47FF-8DB9-C4E059CE21FE}" dt="2023-09-26T18:02:20.099" v="804" actId="14100"/>
          <ac:picMkLst>
            <pc:docMk/>
            <pc:sldMk cId="2578461048" sldId="346"/>
            <ac:picMk id="4" creationId="{0A497856-A6D7-0EE3-F44B-68ECBDB89295}"/>
          </ac:picMkLst>
        </pc:picChg>
      </pc:sldChg>
    </pc:docChg>
  </pc:docChgLst>
  <pc:docChgLst>
    <pc:chgData name="Palmer, Caroline" userId="af6fc57e-91ce-4a9c-9f86-f4b62c881051" providerId="ADAL" clId="{3B88AA4B-8905-43D7-A08A-5AB549BD34C0}"/>
    <pc:docChg chg="custSel addSld modSld">
      <pc:chgData name="Palmer, Caroline" userId="af6fc57e-91ce-4a9c-9f86-f4b62c881051" providerId="ADAL" clId="{3B88AA4B-8905-43D7-A08A-5AB549BD34C0}" dt="2025-09-28T22:31:03.030" v="657" actId="1076"/>
      <pc:docMkLst>
        <pc:docMk/>
      </pc:docMkLst>
      <pc:sldChg chg="modSp mod">
        <pc:chgData name="Palmer, Caroline" userId="af6fc57e-91ce-4a9c-9f86-f4b62c881051" providerId="ADAL" clId="{3B88AA4B-8905-43D7-A08A-5AB549BD34C0}" dt="2025-09-19T17:28:48.359" v="366" actId="20577"/>
        <pc:sldMkLst>
          <pc:docMk/>
          <pc:sldMk cId="0" sldId="302"/>
        </pc:sldMkLst>
        <pc:spChg chg="mod">
          <ac:chgData name="Palmer, Caroline" userId="af6fc57e-91ce-4a9c-9f86-f4b62c881051" providerId="ADAL" clId="{3B88AA4B-8905-43D7-A08A-5AB549BD34C0}" dt="2025-09-19T17:28:48.359" v="366" actId="20577"/>
          <ac:spMkLst>
            <pc:docMk/>
            <pc:sldMk cId="0" sldId="302"/>
            <ac:spMk id="3" creationId="{00000000-0000-0000-0000-000000000000}"/>
          </ac:spMkLst>
        </pc:spChg>
      </pc:sldChg>
      <pc:sldChg chg="modSp mod">
        <pc:chgData name="Palmer, Caroline" userId="af6fc57e-91ce-4a9c-9f86-f4b62c881051" providerId="ADAL" clId="{3B88AA4B-8905-43D7-A08A-5AB549BD34C0}" dt="2025-09-19T17:39:04.078" v="385" actId="20577"/>
        <pc:sldMkLst>
          <pc:docMk/>
          <pc:sldMk cId="1748262618" sldId="320"/>
        </pc:sldMkLst>
        <pc:spChg chg="mod">
          <ac:chgData name="Palmer, Caroline" userId="af6fc57e-91ce-4a9c-9f86-f4b62c881051" providerId="ADAL" clId="{3B88AA4B-8905-43D7-A08A-5AB549BD34C0}" dt="2025-09-19T17:39:04.078" v="385" actId="20577"/>
          <ac:spMkLst>
            <pc:docMk/>
            <pc:sldMk cId="1748262618" sldId="320"/>
            <ac:spMk id="3" creationId="{00000000-0000-0000-0000-000000000000}"/>
          </ac:spMkLst>
        </pc:spChg>
      </pc:sldChg>
      <pc:sldChg chg="modSp mod">
        <pc:chgData name="Palmer, Caroline" userId="af6fc57e-91ce-4a9c-9f86-f4b62c881051" providerId="ADAL" clId="{3B88AA4B-8905-43D7-A08A-5AB549BD34C0}" dt="2025-09-18T13:36:35.246" v="252" actId="27636"/>
        <pc:sldMkLst>
          <pc:docMk/>
          <pc:sldMk cId="1709227952" sldId="326"/>
        </pc:sldMkLst>
        <pc:spChg chg="mod">
          <ac:chgData name="Palmer, Caroline" userId="af6fc57e-91ce-4a9c-9f86-f4b62c881051" providerId="ADAL" clId="{3B88AA4B-8905-43D7-A08A-5AB549BD34C0}" dt="2025-09-18T13:36:35.246" v="252" actId="27636"/>
          <ac:spMkLst>
            <pc:docMk/>
            <pc:sldMk cId="1709227952" sldId="326"/>
            <ac:spMk id="3" creationId="{EAE4B41A-48BE-4F73-8500-419FA51CF9D7}"/>
          </ac:spMkLst>
        </pc:spChg>
      </pc:sldChg>
      <pc:sldChg chg="modSp mod">
        <pc:chgData name="Palmer, Caroline" userId="af6fc57e-91ce-4a9c-9f86-f4b62c881051" providerId="ADAL" clId="{3B88AA4B-8905-43D7-A08A-5AB549BD34C0}" dt="2025-09-19T16:38:56.189" v="253" actId="20577"/>
        <pc:sldMkLst>
          <pc:docMk/>
          <pc:sldMk cId="1610280141" sldId="335"/>
        </pc:sldMkLst>
        <pc:spChg chg="mod">
          <ac:chgData name="Palmer, Caroline" userId="af6fc57e-91ce-4a9c-9f86-f4b62c881051" providerId="ADAL" clId="{3B88AA4B-8905-43D7-A08A-5AB549BD34C0}" dt="2025-09-19T16:38:56.189" v="253" actId="20577"/>
          <ac:spMkLst>
            <pc:docMk/>
            <pc:sldMk cId="1610280141" sldId="335"/>
            <ac:spMk id="3" creationId="{0F3A6153-6AB9-48C1-B42D-3E2F8B8C80E4}"/>
          </ac:spMkLst>
        </pc:spChg>
      </pc:sldChg>
      <pc:sldChg chg="modSp mod">
        <pc:chgData name="Palmer, Caroline" userId="af6fc57e-91ce-4a9c-9f86-f4b62c881051" providerId="ADAL" clId="{3B88AA4B-8905-43D7-A08A-5AB549BD34C0}" dt="2025-09-19T17:46:27.929" v="386" actId="20577"/>
        <pc:sldMkLst>
          <pc:docMk/>
          <pc:sldMk cId="2004672892" sldId="341"/>
        </pc:sldMkLst>
        <pc:spChg chg="mod">
          <ac:chgData name="Palmer, Caroline" userId="af6fc57e-91ce-4a9c-9f86-f4b62c881051" providerId="ADAL" clId="{3B88AA4B-8905-43D7-A08A-5AB549BD34C0}" dt="2025-09-19T17:46:27.929" v="386" actId="20577"/>
          <ac:spMkLst>
            <pc:docMk/>
            <pc:sldMk cId="2004672892" sldId="341"/>
            <ac:spMk id="3" creationId="{38D51F6F-0BA8-2B63-D0C7-65B632E01438}"/>
          </ac:spMkLst>
        </pc:spChg>
      </pc:sldChg>
      <pc:sldChg chg="addSp delSp modSp new mod">
        <pc:chgData name="Palmer, Caroline" userId="af6fc57e-91ce-4a9c-9f86-f4b62c881051" providerId="ADAL" clId="{3B88AA4B-8905-43D7-A08A-5AB549BD34C0}" dt="2025-09-19T17:07:37.886" v="278" actId="14100"/>
        <pc:sldMkLst>
          <pc:docMk/>
          <pc:sldMk cId="3858177144" sldId="347"/>
        </pc:sldMkLst>
        <pc:spChg chg="del">
          <ac:chgData name="Palmer, Caroline" userId="af6fc57e-91ce-4a9c-9f86-f4b62c881051" providerId="ADAL" clId="{3B88AA4B-8905-43D7-A08A-5AB549BD34C0}" dt="2025-09-19T17:07:03.014" v="275" actId="21"/>
          <ac:spMkLst>
            <pc:docMk/>
            <pc:sldMk cId="3858177144" sldId="347"/>
            <ac:spMk id="2" creationId="{E820DF60-7AFE-8C3D-C370-A71261A85BC7}"/>
          </ac:spMkLst>
        </pc:spChg>
        <pc:spChg chg="del">
          <ac:chgData name="Palmer, Caroline" userId="af6fc57e-91ce-4a9c-9f86-f4b62c881051" providerId="ADAL" clId="{3B88AA4B-8905-43D7-A08A-5AB549BD34C0}" dt="2025-09-19T17:05:18.855" v="255"/>
          <ac:spMkLst>
            <pc:docMk/>
            <pc:sldMk cId="3858177144" sldId="347"/>
            <ac:spMk id="3" creationId="{FFC8B791-3A8F-4BE2-9FF6-437B15CA7642}"/>
          </ac:spMkLst>
        </pc:spChg>
        <pc:picChg chg="add mod">
          <ac:chgData name="Palmer, Caroline" userId="af6fc57e-91ce-4a9c-9f86-f4b62c881051" providerId="ADAL" clId="{3B88AA4B-8905-43D7-A08A-5AB549BD34C0}" dt="2025-09-19T17:07:37.886" v="278" actId="14100"/>
          <ac:picMkLst>
            <pc:docMk/>
            <pc:sldMk cId="3858177144" sldId="347"/>
            <ac:picMk id="4" creationId="{2D202B26-9429-7607-54A2-A9517DD09C29}"/>
          </ac:picMkLst>
        </pc:picChg>
      </pc:sldChg>
      <pc:sldChg chg="modSp new mod">
        <pc:chgData name="Palmer, Caroline" userId="af6fc57e-91ce-4a9c-9f86-f4b62c881051" providerId="ADAL" clId="{3B88AA4B-8905-43D7-A08A-5AB549BD34C0}" dt="2025-09-19T18:00:42.260" v="646" actId="20577"/>
        <pc:sldMkLst>
          <pc:docMk/>
          <pc:sldMk cId="1172980388" sldId="348"/>
        </pc:sldMkLst>
        <pc:spChg chg="mod">
          <ac:chgData name="Palmer, Caroline" userId="af6fc57e-91ce-4a9c-9f86-f4b62c881051" providerId="ADAL" clId="{3B88AA4B-8905-43D7-A08A-5AB549BD34C0}" dt="2025-09-19T17:58:46.660" v="402" actId="20577"/>
          <ac:spMkLst>
            <pc:docMk/>
            <pc:sldMk cId="1172980388" sldId="348"/>
            <ac:spMk id="2" creationId="{F587E455-6FAC-548B-0157-2F0F7F14EC64}"/>
          </ac:spMkLst>
        </pc:spChg>
        <pc:spChg chg="mod">
          <ac:chgData name="Palmer, Caroline" userId="af6fc57e-91ce-4a9c-9f86-f4b62c881051" providerId="ADAL" clId="{3B88AA4B-8905-43D7-A08A-5AB549BD34C0}" dt="2025-09-19T18:00:42.260" v="646" actId="20577"/>
          <ac:spMkLst>
            <pc:docMk/>
            <pc:sldMk cId="1172980388" sldId="348"/>
            <ac:spMk id="3" creationId="{982B7289-5F80-031F-B5C0-553585A2D546}"/>
          </ac:spMkLst>
        </pc:spChg>
      </pc:sldChg>
      <pc:sldChg chg="addSp delSp modSp new mod">
        <pc:chgData name="Palmer, Caroline" userId="af6fc57e-91ce-4a9c-9f86-f4b62c881051" providerId="ADAL" clId="{3B88AA4B-8905-43D7-A08A-5AB549BD34C0}" dt="2025-09-28T22:31:03.030" v="657" actId="1076"/>
        <pc:sldMkLst>
          <pc:docMk/>
          <pc:sldMk cId="1271838125" sldId="349"/>
        </pc:sldMkLst>
        <pc:spChg chg="mod">
          <ac:chgData name="Palmer, Caroline" userId="af6fc57e-91ce-4a9c-9f86-f4b62c881051" providerId="ADAL" clId="{3B88AA4B-8905-43D7-A08A-5AB549BD34C0}" dt="2025-09-19T18:02:37.204" v="654" actId="20577"/>
          <ac:spMkLst>
            <pc:docMk/>
            <pc:sldMk cId="1271838125" sldId="349"/>
            <ac:spMk id="2" creationId="{9D4B7E0C-6154-7CE3-9C89-81521B420AD2}"/>
          </ac:spMkLst>
        </pc:spChg>
        <pc:spChg chg="del">
          <ac:chgData name="Palmer, Caroline" userId="af6fc57e-91ce-4a9c-9f86-f4b62c881051" providerId="ADAL" clId="{3B88AA4B-8905-43D7-A08A-5AB549BD34C0}" dt="2025-09-28T22:30:56.681" v="655"/>
          <ac:spMkLst>
            <pc:docMk/>
            <pc:sldMk cId="1271838125" sldId="349"/>
            <ac:spMk id="3" creationId="{388BEC49-D2D7-9966-5840-61767B083F4E}"/>
          </ac:spMkLst>
        </pc:spChg>
        <pc:picChg chg="add mod">
          <ac:chgData name="Palmer, Caroline" userId="af6fc57e-91ce-4a9c-9f86-f4b62c881051" providerId="ADAL" clId="{3B88AA4B-8905-43D7-A08A-5AB549BD34C0}" dt="2025-09-28T22:31:03.030" v="657" actId="1076"/>
          <ac:picMkLst>
            <pc:docMk/>
            <pc:sldMk cId="1271838125" sldId="349"/>
            <ac:picMk id="4" creationId="{DB334687-2E3F-2117-2ED5-1D6ABAD0D06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4AA0D-71B2-4813-BF84-7A87F6524B4E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1ABB75-0591-4582-832F-4DDF4A568B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18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99A01-0939-4C81-8F0C-63568E1F8B86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16D2F-5207-486E-8CF5-62BB1F3E2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00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Thorax = sternum, thoracic vertebrae, and the ribs </a:t>
            </a:r>
          </a:p>
          <a:p>
            <a:r>
              <a:rPr lang="en-US" dirty="0"/>
              <a:t>Thoracic cavity- space in between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B16D2F-5207-486E-8CF5-62BB1F3E23A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159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 shaped projection= auricle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B16D2F-5207-486E-8CF5-62BB1F3E23A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48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Semilunar valves = pulmonary and aortic</a:t>
            </a:r>
          </a:p>
          <a:p>
            <a:r>
              <a:rPr lang="en-US" dirty="0"/>
              <a:t>AV valves = tricuspid and mitral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B16D2F-5207-486E-8CF5-62BB1F3E23A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99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Diseased valves become stiff or leaky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B16D2F-5207-486E-8CF5-62BB1F3E23A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600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Supplies the right atrium and most of rt ventricle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B16D2F-5207-486E-8CF5-62BB1F3E23A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39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B16D2F-5207-486E-8CF5-62BB1F3E23A3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567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Superficial veins found in the subcutaneous tissue and deep in the fascia</a:t>
            </a:r>
          </a:p>
          <a:p>
            <a:r>
              <a:rPr lang="en-US" dirty="0"/>
              <a:t>Deep run with the major arteries</a:t>
            </a:r>
          </a:p>
          <a:p>
            <a:r>
              <a:rPr lang="en-US" dirty="0"/>
              <a:t>Great saphenous is a continuation of the medial marginal vein of the foot and ends in the femoral vein, distal to the inguinal ligament</a:t>
            </a:r>
          </a:p>
          <a:p>
            <a:r>
              <a:rPr lang="en-US" dirty="0"/>
              <a:t>Small saphenous is continuation of the lateral marginal vein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B16D2F-5207-486E-8CF5-62BB1F3E23A3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643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subclavian artery becomes the axillary artery at the lateral border of 1st rib</a:t>
            </a:r>
          </a:p>
          <a:p>
            <a:r>
              <a:rPr lang="en-US" dirty="0"/>
              <a:t>The axillary artery becomes the brachial artery at the inferior border of Teres Major (perforated line)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B16D2F-5207-486E-8CF5-62BB1F3E23A3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099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Forearm: branches of the radial and ulnar arteries </a:t>
            </a:r>
          </a:p>
          <a:p>
            <a:r>
              <a:rPr lang="en-US" dirty="0"/>
              <a:t>Hand: anastomosing of those arteries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B16D2F-5207-486E-8CF5-62BB1F3E23A3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297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superficial veins of upper limb are the cephalic and basilic</a:t>
            </a:r>
          </a:p>
          <a:p>
            <a:r>
              <a:rPr lang="en-US" dirty="0"/>
              <a:t>Perforating veins form communications between the superficial and deep veins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B16D2F-5207-486E-8CF5-62BB1F3E23A3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35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ADD7-7BEE-4320-A725-C60BE2DB8432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1569-55D9-47D0-8E88-95DDD21561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ADD7-7BEE-4320-A725-C60BE2DB8432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1569-55D9-47D0-8E88-95DDD21561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ADD7-7BEE-4320-A725-C60BE2DB8432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1569-55D9-47D0-8E88-95DDD21561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ADD7-7BEE-4320-A725-C60BE2DB8432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1569-55D9-47D0-8E88-95DDD21561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ADD7-7BEE-4320-A725-C60BE2DB8432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1569-55D9-47D0-8E88-95DDD21561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ADD7-7BEE-4320-A725-C60BE2DB8432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1569-55D9-47D0-8E88-95DDD21561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ADD7-7BEE-4320-A725-C60BE2DB8432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1569-55D9-47D0-8E88-95DDD21561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ADD7-7BEE-4320-A725-C60BE2DB8432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1569-55D9-47D0-8E88-95DDD21561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ADD7-7BEE-4320-A725-C60BE2DB8432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1569-55D9-47D0-8E88-95DDD21561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ADD7-7BEE-4320-A725-C60BE2DB8432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1569-55D9-47D0-8E88-95DDD21561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ADD7-7BEE-4320-A725-C60BE2DB8432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1569-55D9-47D0-8E88-95DDD21561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5ADD7-7BEE-4320-A725-C60BE2DB8432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D1569-55D9-47D0-8E88-95DDD215613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file:///D:\PPT_ImageInsertion\input\Chapter_1\jpg\Figure%201.006.jpg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file:///D:\PPT_ImageInsertion\input\Chapter_1\jpg\Figure%201.027.jpg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file:///D:\PPT_ImageInsertion\input\Chapter_1\jpg\Figure%201.042.jpg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file:///D:\PPT_ImageInsertion\input\Chapter_1\jpg\Figure%201.042.jpg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file:///D:\PPT_ImageInsertion\input\Chapter_1\jpg\Figure%201.026.jpg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file:///D:\PPT_ImageInsertion\input\Chapter_1\jpg\Figure%201.044.jpg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file:///D:\PPT_ImageInsertion\input\Chapter_1\jpg\Figure%201.046.jpg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file:///D:\PPT_ImageInsertion\input\Chapter_1\jpg\Figure%201.052.jpg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file:///D:\PPT_ImageInsertion\input\Chapter_1\jpg\Figure%201.052(continued).jpg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file:///D:\PPT_ImageInsertion\input\Chapter_1\jpg\Figure%201.055.jpg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file:///D:\PPT_ImageInsertion\input\Chapter_1\jpg\Figure%201.051.jpg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gi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gi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gi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gi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file:///D:\PPT_ImageInsertion\input\Chapter_1\jpg\Figure%201.059.jpg" TargetMode="Externa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file:///D:\PPT_ImageInsertion\input\Chapter_1\jpg\Figure%201.061.jpg" TargetMode="External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file:///D:\PPT_ImageInsertion\input\Chapter_1\jpg\Figure%201.062.jpg" TargetMode="Externa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file:///D:\PPT_ImageInsertion\input\Chapter_1\jpg\Figure%201.067.jpg" TargetMode="External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5" Type="http://schemas.openxmlformats.org/officeDocument/2006/relationships/image" Target="file:///D:\PPT_ImageInsertion\input\Chapter_1\jpg\Figure%201.072.jpg" TargetMode="External"/><Relationship Id="rId4" Type="http://schemas.openxmlformats.org/officeDocument/2006/relationships/image" Target="../media/image36.jpe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file:///D:\PPT_ImageInsertion\input\Chapter_2\jpg\Figure%202.083.jpg" TargetMode="External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file:///D:\PPT_ImageInsertion\input\Chapter_1\jpg\Figure%201.074.jpg" TargetMode="External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34751"/>
            <a:ext cx="7772400" cy="1470025"/>
          </a:xfrm>
        </p:spPr>
        <p:txBody>
          <a:bodyPr>
            <a:normAutofit/>
          </a:bodyPr>
          <a:lstStyle/>
          <a:p>
            <a:r>
              <a:rPr lang="en-US"/>
              <a:t>Cardiovascular </a:t>
            </a:r>
            <a:r>
              <a:rPr lang="en-US" dirty="0"/>
              <a:t>System</a:t>
            </a:r>
            <a:br>
              <a:rPr lang="en-US" dirty="0"/>
            </a:br>
            <a:r>
              <a:rPr lang="en-US" dirty="0"/>
              <a:t>Anatomy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Caroline Palmer, MPAS, PA-C</a:t>
            </a:r>
          </a:p>
          <a:p>
            <a:pPr marR="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Assistant Professor </a:t>
            </a:r>
          </a:p>
          <a:p>
            <a:pPr marR="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Physician Assistant Department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Thoracic Cage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Formed by ribs and costal cartilages, the sternum, and thoracic vertebrae</a:t>
            </a:r>
          </a:p>
          <a:p>
            <a:r>
              <a:rPr lang="en-US" dirty="0"/>
              <a:t>Ribs – 12 pair (7 true [1-7], False [8-10], and Floating [11 &amp; 12])</a:t>
            </a:r>
          </a:p>
          <a:p>
            <a:r>
              <a:rPr lang="en-US" dirty="0"/>
              <a:t>Sternum – 3 segments (Manubrium, body, &amp; xiphoid process)</a:t>
            </a:r>
          </a:p>
          <a:p>
            <a:r>
              <a:rPr lang="en-US" dirty="0"/>
              <a:t>Thoracic Vertebrae –articulates with heads and tubercles of ribs</a:t>
            </a:r>
          </a:p>
          <a:p>
            <a:r>
              <a:rPr lang="en-US" dirty="0"/>
              <a:t>Blood vessels (costal arteries &amp; veins) and nerves lie on the inferior internal aspect of each rib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The Thoracic Cage</a:t>
            </a:r>
          </a:p>
        </p:txBody>
      </p:sp>
      <p:pic>
        <p:nvPicPr>
          <p:cNvPr id="4" name="Picture 1028" descr="D:\Projects\FRC\Moore\Project_SRC\PPT-With_Images_New_standard\Splitted\Chapter01\jpg\F11181-001-001A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9906" y="1295399"/>
            <a:ext cx="5973894" cy="51096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The Sternum</a:t>
            </a: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953000"/>
          </a:xfrm>
        </p:spPr>
        <p:txBody>
          <a:bodyPr>
            <a:normAutofit/>
          </a:bodyPr>
          <a:lstStyle/>
          <a:p>
            <a:r>
              <a:rPr lang="en-US" dirty="0"/>
              <a:t>Flat, elongated bone that forms middle of anterior part of thoracic cage</a:t>
            </a:r>
          </a:p>
          <a:p>
            <a:r>
              <a:rPr lang="en-US" dirty="0"/>
              <a:t>Protects mediastinal viscera and most of heart</a:t>
            </a:r>
          </a:p>
          <a:p>
            <a:r>
              <a:rPr lang="en-US" dirty="0"/>
              <a:t>3 parts:</a:t>
            </a:r>
          </a:p>
          <a:p>
            <a:pPr lvl="1"/>
            <a:r>
              <a:rPr lang="en-US" dirty="0"/>
              <a:t>Manubrium</a:t>
            </a:r>
          </a:p>
          <a:p>
            <a:pPr lvl="1"/>
            <a:r>
              <a:rPr lang="en-US" dirty="0"/>
              <a:t>Body</a:t>
            </a:r>
          </a:p>
          <a:p>
            <a:pPr lvl="1"/>
            <a:r>
              <a:rPr lang="en-US" dirty="0"/>
              <a:t>Xiphoid process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8D88B-4519-4954-AA72-DFD84BDFF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Sternum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58472-F2E3-4A6E-9211-0A1404322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/>
              <a:t>Manubrium</a:t>
            </a:r>
          </a:p>
          <a:p>
            <a:pPr lvl="1"/>
            <a:r>
              <a:rPr lang="en-US" dirty="0"/>
              <a:t>Widest and thickest part of sternum</a:t>
            </a:r>
          </a:p>
          <a:p>
            <a:pPr lvl="1"/>
            <a:r>
              <a:rPr lang="en-US" dirty="0"/>
              <a:t>The concave center </a:t>
            </a:r>
            <a:r>
              <a:rPr lang="en-US" dirty="0">
                <a:solidFill>
                  <a:srgbClr val="FF0000"/>
                </a:solidFill>
              </a:rPr>
              <a:t>Jugular notch </a:t>
            </a:r>
            <a:r>
              <a:rPr lang="en-US" dirty="0"/>
              <a:t>(or Suprasternal notch) is easily palpated</a:t>
            </a:r>
          </a:p>
          <a:p>
            <a:pPr lvl="1"/>
            <a:r>
              <a:rPr lang="en-US" dirty="0"/>
              <a:t>It articulates with clavicles superior and laterally and articulates with 1</a:t>
            </a:r>
            <a:r>
              <a:rPr lang="en-US" baseline="30000" dirty="0"/>
              <a:t>st</a:t>
            </a:r>
            <a:r>
              <a:rPr lang="en-US" dirty="0"/>
              <a:t> rib laterally </a:t>
            </a:r>
          </a:p>
          <a:p>
            <a:pPr lvl="1"/>
            <a:r>
              <a:rPr lang="en-US" dirty="0"/>
              <a:t>Junction of the manubrium to the body of the sternum is called the </a:t>
            </a:r>
            <a:r>
              <a:rPr lang="en-US" dirty="0">
                <a:solidFill>
                  <a:srgbClr val="FF0000"/>
                </a:solidFill>
              </a:rPr>
              <a:t>sternal angle </a:t>
            </a:r>
          </a:p>
          <a:p>
            <a:pPr lvl="2"/>
            <a:r>
              <a:rPr lang="en-US" dirty="0"/>
              <a:t>Manubriosternal joint</a:t>
            </a:r>
          </a:p>
          <a:p>
            <a:pPr lvl="2"/>
            <a:r>
              <a:rPr lang="en-US" dirty="0"/>
              <a:t>Palpable immediately lateral to the sternal angle is the articulation of the </a:t>
            </a:r>
            <a:r>
              <a:rPr lang="en-US" dirty="0">
                <a:solidFill>
                  <a:srgbClr val="FF0000"/>
                </a:solidFill>
              </a:rPr>
              <a:t>2nd rib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726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Sternum</a:t>
            </a:r>
          </a:p>
        </p:txBody>
      </p:sp>
      <p:pic>
        <p:nvPicPr>
          <p:cNvPr id="4" name="Content Placeholder 3" descr="D:\PPT_ImageInsertion\input\Chapter_1\jpg\Figure 1.006.jpg"/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457200" y="1642373"/>
            <a:ext cx="8229600" cy="444161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4898E-707C-4789-9A2A-6CE863961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Sternum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831E1-E878-44BB-9A70-4E8B9AF21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body</a:t>
            </a:r>
          </a:p>
          <a:p>
            <a:pPr lvl="1"/>
            <a:r>
              <a:rPr lang="en-US" dirty="0"/>
              <a:t>Longer, narrower, and thinner than manubrium</a:t>
            </a:r>
          </a:p>
          <a:p>
            <a:pPr lvl="1"/>
            <a:r>
              <a:rPr lang="en-US" dirty="0"/>
              <a:t>T5-T9</a:t>
            </a:r>
          </a:p>
          <a:p>
            <a:pPr lvl="1"/>
            <a:r>
              <a:rPr lang="en-US" dirty="0"/>
              <a:t>Costal cartilages prolong ribs and contribute to elasticity of thoracic wall, flexible attachment for their ends</a:t>
            </a:r>
          </a:p>
        </p:txBody>
      </p:sp>
    </p:spTree>
    <p:extLst>
      <p:ext uri="{BB962C8B-B14F-4D97-AF65-F5344CB8AC3E}">
        <p14:creationId xmlns:p14="http://schemas.microsoft.com/office/powerpoint/2010/main" val="3785488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Sternum</a:t>
            </a:r>
            <a:br>
              <a:rPr lang="en-US" dirty="0"/>
            </a:b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xiphoid process</a:t>
            </a:r>
          </a:p>
          <a:p>
            <a:pPr lvl="1"/>
            <a:r>
              <a:rPr lang="en-US" dirty="0"/>
              <a:t>Junction of the body and the xiphoid process is called the </a:t>
            </a:r>
            <a:r>
              <a:rPr lang="en-US" i="1" dirty="0">
                <a:solidFill>
                  <a:srgbClr val="FF0000"/>
                </a:solidFill>
              </a:rPr>
              <a:t>infrasternal</a:t>
            </a:r>
            <a:r>
              <a:rPr lang="en-US" i="1" dirty="0"/>
              <a:t> </a:t>
            </a:r>
            <a:r>
              <a:rPr lang="en-US" dirty="0"/>
              <a:t>or </a:t>
            </a:r>
            <a:r>
              <a:rPr lang="en-US" i="1" dirty="0">
                <a:solidFill>
                  <a:srgbClr val="FF0000"/>
                </a:solidFill>
              </a:rPr>
              <a:t>subcostal angle</a:t>
            </a:r>
          </a:p>
          <a:p>
            <a:pPr lvl="1"/>
            <a:r>
              <a:rPr lang="en-US" dirty="0"/>
              <a:t>It marks the inferior limit of the heart, superior limit of the liver and diaphragm</a:t>
            </a:r>
          </a:p>
          <a:p>
            <a:pPr lvl="1"/>
            <a:r>
              <a:rPr lang="en-US" dirty="0"/>
              <a:t> It is also the location of articulations with the 7</a:t>
            </a:r>
            <a:r>
              <a:rPr lang="en-US" baseline="30000" dirty="0"/>
              <a:t>th</a:t>
            </a:r>
            <a:r>
              <a:rPr lang="en-US" dirty="0"/>
              <a:t> ribs</a:t>
            </a:r>
          </a:p>
          <a:p>
            <a:r>
              <a:rPr lang="en-US" dirty="0"/>
              <a:t>The inferior tip of the xiphoid process is at the level of T-10</a:t>
            </a:r>
          </a:p>
        </p:txBody>
      </p:sp>
    </p:spTree>
    <p:extLst>
      <p:ext uri="{BB962C8B-B14F-4D97-AF65-F5344CB8AC3E}">
        <p14:creationId xmlns:p14="http://schemas.microsoft.com/office/powerpoint/2010/main" val="2720057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Surface lines of the Thorax</a:t>
            </a:r>
            <a:br>
              <a:rPr lang="en-US" sz="1400" dirty="0"/>
            </a:b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4" name="Content Placeholder 3" descr="D:\PPT_ImageInsertion\input\Chapter_1\jpg\Figure 1.027.jpg"/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457200" y="2540293"/>
            <a:ext cx="8229600" cy="264577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Thoracic Cavities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Thoracic Cavity is divided into 3 spaces</a:t>
            </a:r>
          </a:p>
          <a:p>
            <a:pPr lvl="1"/>
            <a:r>
              <a:rPr lang="en-US" dirty="0"/>
              <a:t>Mediastinum housing the heart and associated structures</a:t>
            </a:r>
          </a:p>
          <a:p>
            <a:pPr lvl="1"/>
            <a:r>
              <a:rPr lang="en-US" dirty="0"/>
              <a:t>Left and right pulmonary cavities for lungs and associated structures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 this module, we will focus on only the mediastinum and its contents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Thoracic Cavity</a:t>
            </a:r>
          </a:p>
        </p:txBody>
      </p:sp>
      <p:pic>
        <p:nvPicPr>
          <p:cNvPr id="4" name="Content Placeholder 3" descr="thoraxxsectsubdivided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52601" y="2057401"/>
            <a:ext cx="5563556" cy="3661076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Mediastinum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Central cavity of the thoracic cavity</a:t>
            </a:r>
          </a:p>
          <a:p>
            <a:r>
              <a:rPr lang="en-US" dirty="0"/>
              <a:t>Divided into superior and inferior segments</a:t>
            </a:r>
          </a:p>
          <a:p>
            <a:r>
              <a:rPr lang="en-US" dirty="0"/>
              <a:t>Superior mediastinum</a:t>
            </a:r>
          </a:p>
          <a:p>
            <a:pPr lvl="1"/>
            <a:r>
              <a:rPr lang="en-US" dirty="0"/>
              <a:t>Extends from superior thoracic aperture to sternal angle anteriorly</a:t>
            </a:r>
          </a:p>
          <a:p>
            <a:pPr lvl="1"/>
            <a:r>
              <a:rPr lang="en-US" dirty="0"/>
              <a:t>Passes through the junction of IV disk of T4 and T5</a:t>
            </a:r>
          </a:p>
          <a:p>
            <a:pPr lvl="2"/>
            <a:r>
              <a:rPr lang="en-US" dirty="0"/>
              <a:t>Transverse thoracic plane</a:t>
            </a:r>
          </a:p>
          <a:p>
            <a:pPr lvl="1"/>
            <a:r>
              <a:rPr lang="en-US" dirty="0"/>
              <a:t> It contains great vessels, trachea, esophagus, and thymus gland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Mediastinum</a:t>
            </a:r>
            <a:r>
              <a:rPr lang="en-US" sz="1800" dirty="0"/>
              <a:t> (cont)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Inferior mediastinum is divided into 3 sections</a:t>
            </a:r>
          </a:p>
          <a:p>
            <a:pPr lvl="1"/>
            <a:r>
              <a:rPr lang="en-US" dirty="0"/>
              <a:t>Anterior section contains fat, connective tissue, lymph nodes, nerves, and blood vessels</a:t>
            </a:r>
          </a:p>
          <a:p>
            <a:pPr lvl="1"/>
            <a:r>
              <a:rPr lang="en-US" dirty="0"/>
              <a:t>The middle section (largest) contains the pericardium, pericardial fluid, heart, and root of great vessels</a:t>
            </a:r>
          </a:p>
          <a:p>
            <a:pPr lvl="1"/>
            <a:r>
              <a:rPr lang="en-US" dirty="0"/>
              <a:t> Posterior section contains descending aorta, trachea, and esophagus</a:t>
            </a:r>
          </a:p>
        </p:txBody>
      </p:sp>
    </p:spTree>
    <p:extLst>
      <p:ext uri="{BB962C8B-B14F-4D97-AF65-F5344CB8AC3E}">
        <p14:creationId xmlns:p14="http://schemas.microsoft.com/office/powerpoint/2010/main" val="397020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Mediastinum</a:t>
            </a:r>
            <a:br>
              <a:rPr lang="en-US" dirty="0"/>
            </a:br>
            <a:endParaRPr lang="en-US" dirty="0"/>
          </a:p>
        </p:txBody>
      </p:sp>
      <p:pic>
        <p:nvPicPr>
          <p:cNvPr id="8" name="Picture 3" descr="D:\PPT_ImageInsertion\input\Chapter_1\jpg\Figure 1.042.jpg"/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25076" y="1752600"/>
            <a:ext cx="9030524" cy="387728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CE07E2-248F-4BEB-9488-5EC29C467B0C}"/>
              </a:ext>
            </a:extLst>
          </p:cNvPr>
          <p:cNvSpPr txBox="1"/>
          <p:nvPr/>
        </p:nvSpPr>
        <p:spPr>
          <a:xfrm>
            <a:off x="7010400" y="2057400"/>
            <a:ext cx="1066800" cy="5217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9B3851-C84D-4810-A37C-9F7EDB984ACC}"/>
              </a:ext>
            </a:extLst>
          </p:cNvPr>
          <p:cNvSpPr txBox="1"/>
          <p:nvPr/>
        </p:nvSpPr>
        <p:spPr>
          <a:xfrm>
            <a:off x="8065000" y="3429000"/>
            <a:ext cx="990600" cy="381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Superior Mediastinum</a:t>
            </a:r>
          </a:p>
        </p:txBody>
      </p:sp>
      <p:pic>
        <p:nvPicPr>
          <p:cNvPr id="6" name="Picture 4" descr="D:\Projects\FRC\Moore\Project_SRC\PPT-With_Images_New_standard\Splitted\Chapter01\jpg\F11181-001-066a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213210"/>
            <a:ext cx="6242031" cy="48356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/>
              <a:t>Inferior Mediastinum</a:t>
            </a:r>
          </a:p>
        </p:txBody>
      </p:sp>
      <p:pic>
        <p:nvPicPr>
          <p:cNvPr id="4" name="Content Placeholder 3" descr="D:\PPT_ImageInsertion\input\Chapter_1\jpg\Figure 1.042.jpg"/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457200" y="1066800"/>
            <a:ext cx="8229600" cy="353340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" y="4549676"/>
            <a:ext cx="7696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Anterior division contains lymph nodes &amp; vessels, fat &amp; loose connective tissue, branches of the internal thoracic vessels, and in children the inferior part of the thymus gland.</a:t>
            </a:r>
          </a:p>
          <a:p>
            <a:r>
              <a:rPr lang="en-US" dirty="0"/>
              <a:t>Middle division contains the heart (inside its pericardium), and the root of the major vessels (Aorta, SVC &amp; IVC)</a:t>
            </a:r>
          </a:p>
          <a:p>
            <a:r>
              <a:rPr lang="en-US" dirty="0"/>
              <a:t>Posterior division contains the thoracic aorta, thoracic duct and lymphatic trunks, lymph nodes, azygos and hemiazygos veins, esophagus and esophageal nerve plexus.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Cardiac Landmarks</a:t>
            </a:r>
          </a:p>
        </p:txBody>
      </p:sp>
      <p:pic>
        <p:nvPicPr>
          <p:cNvPr id="4" name="Content Placeholder 3" descr="D:\PPT_ImageInsertion\input\Chapter_1\jpg\Figure 1.026.jpg"/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2033684" y="1600200"/>
            <a:ext cx="5076631" cy="45259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Pericardium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Composed of fibrous and serous layers</a:t>
            </a:r>
          </a:p>
          <a:p>
            <a:r>
              <a:rPr lang="en-US" dirty="0"/>
              <a:t>Fibrous layer blends with fibrous layer of roots of great vessels and central tendon of diaphragm for stability</a:t>
            </a:r>
          </a:p>
          <a:p>
            <a:r>
              <a:rPr lang="en-US" dirty="0"/>
              <a:t>Serous layer produces pericardial fluid (~ 30 – 50 mL) to allow smooth contractions of the heart within the pericardial cavity (a potential space); two portions – parietal and visceral</a:t>
            </a:r>
          </a:p>
          <a:p>
            <a:pPr lvl="1"/>
            <a:r>
              <a:rPr lang="en-US" dirty="0"/>
              <a:t> Parietal is lining of fibrous pericardium</a:t>
            </a:r>
          </a:p>
          <a:p>
            <a:pPr lvl="1"/>
            <a:r>
              <a:rPr lang="en-US" dirty="0"/>
              <a:t>Visceral is the </a:t>
            </a:r>
            <a:r>
              <a:rPr lang="en-US" i="1" dirty="0"/>
              <a:t>epicardium</a:t>
            </a:r>
            <a:r>
              <a:rPr lang="en-US" dirty="0"/>
              <a:t> covering the heart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210AB-74CD-4037-AF74-98507FA14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Pericardium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088E918-C718-4D7E-86B7-241C6BEEDA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295400"/>
            <a:ext cx="6975921" cy="528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070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14A86-4B7D-490B-A0F4-3CBD56747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Pericardium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47B58-53CF-45F6-809B-D96C27E1E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924800" cy="4525963"/>
          </a:xfrm>
        </p:spPr>
        <p:txBody>
          <a:bodyPr/>
          <a:lstStyle/>
          <a:p>
            <a:r>
              <a:rPr lang="en-US" dirty="0"/>
              <a:t>The heart and roots of great vessels within the pericardial sac lie posterior to the sternum, costal cartilages, and anterior ends of 3</a:t>
            </a:r>
            <a:r>
              <a:rPr lang="en-US" baseline="30000" dirty="0"/>
              <a:t>rd</a:t>
            </a:r>
            <a:r>
              <a:rPr lang="en-US" dirty="0"/>
              <a:t>-5</a:t>
            </a:r>
            <a:r>
              <a:rPr lang="en-US" baseline="30000" dirty="0"/>
              <a:t>th</a:t>
            </a:r>
            <a:r>
              <a:rPr lang="en-US" dirty="0"/>
              <a:t> ribs</a:t>
            </a:r>
          </a:p>
          <a:p>
            <a:r>
              <a:rPr lang="en-US" dirty="0"/>
              <a:t>2/3 of heart sits to the left of midsternal line and 1/3 to the right</a:t>
            </a:r>
          </a:p>
        </p:txBody>
      </p:sp>
    </p:spTree>
    <p:extLst>
      <p:ext uri="{BB962C8B-B14F-4D97-AF65-F5344CB8AC3E}">
        <p14:creationId xmlns:p14="http://schemas.microsoft.com/office/powerpoint/2010/main" val="999433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 Mediastinum - Pericardium</a:t>
            </a:r>
          </a:p>
        </p:txBody>
      </p:sp>
      <p:pic>
        <p:nvPicPr>
          <p:cNvPr id="4" name="Content Placeholder 3" descr="D:\PPT_ImageInsertion\input\Chapter_1\jpg\Figure 1.044.jpg"/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1686676" y="1600200"/>
            <a:ext cx="5770647" cy="45259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33C0D-1DDB-4D9E-8DA8-4E963C663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Pericardium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4B41A-48BE-4F73-8500-419FA51CF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Transverse pericardial sinus</a:t>
            </a:r>
          </a:p>
          <a:p>
            <a:pPr lvl="1"/>
            <a:r>
              <a:rPr lang="en-US" dirty="0"/>
              <a:t>Passage that separates the ascending aorta and pulmonary trunk from the SVC, IVC, and pulmonary veins</a:t>
            </a:r>
          </a:p>
          <a:p>
            <a:pPr lvl="1"/>
            <a:r>
              <a:rPr lang="en-US" dirty="0"/>
              <a:t>During cardiac surgery, the sinus allows a surgeon to isolate the pulmonary trunk and ascending aorta and apply a clamp </a:t>
            </a:r>
          </a:p>
          <a:p>
            <a:pPr lvl="1"/>
            <a:endParaRPr lang="en-US" dirty="0"/>
          </a:p>
          <a:p>
            <a:r>
              <a:rPr lang="en-US" dirty="0"/>
              <a:t>Oblique pericardial sinus</a:t>
            </a:r>
          </a:p>
          <a:p>
            <a:pPr lvl="1"/>
            <a:r>
              <a:rPr lang="en-US" dirty="0"/>
              <a:t>Posterior pocket-like recess within the pericardium</a:t>
            </a:r>
          </a:p>
          <a:p>
            <a:pPr lvl="2"/>
            <a:r>
              <a:rPr lang="en-US" dirty="0"/>
              <a:t>Fluid builds up here during pericardial effusion and can be seen on imaging</a:t>
            </a:r>
          </a:p>
        </p:txBody>
      </p:sp>
    </p:spTree>
    <p:extLst>
      <p:ext uri="{BB962C8B-B14F-4D97-AF65-F5344CB8AC3E}">
        <p14:creationId xmlns:p14="http://schemas.microsoft.com/office/powerpoint/2010/main" val="1709227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 Mediastinum - Pericardium</a:t>
            </a:r>
          </a:p>
        </p:txBody>
      </p:sp>
      <p:pic>
        <p:nvPicPr>
          <p:cNvPr id="4" name="Content Placeholder 3" descr="D:\PPT_ImageInsertion\input\Chapter_1\jpg\Figure 1.046.jpg"/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2399922" y="1524000"/>
            <a:ext cx="4344155" cy="45259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BC055B-288B-4750-A590-124ABD559DE7}"/>
              </a:ext>
            </a:extLst>
          </p:cNvPr>
          <p:cNvSpPr txBox="1"/>
          <p:nvPr/>
        </p:nvSpPr>
        <p:spPr>
          <a:xfrm>
            <a:off x="2057400" y="2590800"/>
            <a:ext cx="1066800" cy="1143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C92CD3-9299-43E3-AC26-9216E7BCBC72}"/>
              </a:ext>
            </a:extLst>
          </p:cNvPr>
          <p:cNvSpPr txBox="1"/>
          <p:nvPr/>
        </p:nvSpPr>
        <p:spPr>
          <a:xfrm>
            <a:off x="2362200" y="5029200"/>
            <a:ext cx="1066800" cy="609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Heart</a:t>
            </a:r>
            <a:br>
              <a:rPr lang="en-US" dirty="0"/>
            </a:br>
            <a:r>
              <a:rPr lang="en-US" sz="1800" dirty="0"/>
              <a:t>(External surface anatomy)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4953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Apex </a:t>
            </a:r>
          </a:p>
          <a:p>
            <a:pPr lvl="1"/>
            <a:r>
              <a:rPr lang="en-US" dirty="0"/>
              <a:t>Blunt rounded end of heart formed by left ventricle</a:t>
            </a:r>
          </a:p>
          <a:p>
            <a:pPr lvl="1"/>
            <a:r>
              <a:rPr lang="en-US" dirty="0"/>
              <a:t>Lies in the </a:t>
            </a:r>
            <a:r>
              <a:rPr lang="en-US" dirty="0">
                <a:solidFill>
                  <a:srgbClr val="FF0000"/>
                </a:solidFill>
              </a:rPr>
              <a:t>left 5</a:t>
            </a:r>
            <a:r>
              <a:rPr lang="en-US" baseline="30000" dirty="0">
                <a:solidFill>
                  <a:srgbClr val="FF0000"/>
                </a:solidFill>
              </a:rPr>
              <a:t>th</a:t>
            </a:r>
            <a:r>
              <a:rPr lang="en-US" dirty="0">
                <a:solidFill>
                  <a:srgbClr val="FF0000"/>
                </a:solidFill>
              </a:rPr>
              <a:t> ICS slightly medial to the MCL ~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9cm from midline</a:t>
            </a:r>
          </a:p>
          <a:p>
            <a:pPr lvl="1"/>
            <a:r>
              <a:rPr lang="en-US" dirty="0"/>
              <a:t>Sounds of mitral valve closure are maximal here</a:t>
            </a:r>
          </a:p>
          <a:p>
            <a:r>
              <a:rPr lang="en-US" dirty="0"/>
              <a:t>Base </a:t>
            </a:r>
          </a:p>
          <a:p>
            <a:pPr lvl="1"/>
            <a:r>
              <a:rPr lang="en-US" dirty="0"/>
              <a:t>Posterior aspect of heart formed mostly from left atrium &amp; some right atrium</a:t>
            </a:r>
          </a:p>
          <a:p>
            <a:pPr lvl="1"/>
            <a:endParaRPr lang="en-US" dirty="0"/>
          </a:p>
          <a:p>
            <a:r>
              <a:rPr lang="en-US" dirty="0"/>
              <a:t>Right border – IVC, SVC, &amp; Rt. Atrium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Heart</a:t>
            </a:r>
            <a:br>
              <a:rPr lang="en-US" dirty="0"/>
            </a:br>
            <a:r>
              <a:rPr lang="en-US" sz="2000" dirty="0"/>
              <a:t>(External surface anatomy - cont)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3886199"/>
          </a:xfrm>
        </p:spPr>
        <p:txBody>
          <a:bodyPr>
            <a:normAutofit/>
          </a:bodyPr>
          <a:lstStyle/>
          <a:p>
            <a:r>
              <a:rPr lang="en-US" dirty="0"/>
              <a:t>Left border – left ventricle, aortic arch, pulmonary trunk, left auricle</a:t>
            </a:r>
          </a:p>
          <a:p>
            <a:r>
              <a:rPr lang="en-US" dirty="0"/>
              <a:t>Coronary sulcus – groove on external surface of heart that separates atria from ventricles</a:t>
            </a:r>
          </a:p>
          <a:p>
            <a:r>
              <a:rPr lang="en-US" dirty="0"/>
              <a:t>Anterior and Posterior interventricular sulci – grooves on front and back of heart that delineate the right from left ventricle</a:t>
            </a:r>
          </a:p>
        </p:txBody>
      </p:sp>
    </p:spTree>
    <p:extLst>
      <p:ext uri="{BB962C8B-B14F-4D97-AF65-F5344CB8AC3E}">
        <p14:creationId xmlns:p14="http://schemas.microsoft.com/office/powerpoint/2010/main" val="2253348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18F2F-7DF2-4976-B31F-2A790223F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Heart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1320D-8CBD-424A-B68A-DBE9F4491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Inferior border</a:t>
            </a:r>
          </a:p>
          <a:p>
            <a:pPr lvl="1"/>
            <a:r>
              <a:rPr lang="en-US" dirty="0"/>
              <a:t>Right ventricle and slightly by left ventricle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Superior border</a:t>
            </a:r>
          </a:p>
          <a:p>
            <a:pPr lvl="1"/>
            <a:r>
              <a:rPr lang="en-US" dirty="0"/>
              <a:t>Formed by right and left atria and auricles anteriorly</a:t>
            </a:r>
          </a:p>
          <a:p>
            <a:pPr lvl="1"/>
            <a:r>
              <a:rPr lang="en-US" dirty="0"/>
              <a:t>Ascending aorta and pulmonary trunk  and SVC on right side</a:t>
            </a:r>
          </a:p>
          <a:p>
            <a:pPr lvl="2"/>
            <a:r>
              <a:rPr lang="en-US" dirty="0"/>
              <a:t>Boundary of the transverse pericardial sinus</a:t>
            </a:r>
          </a:p>
        </p:txBody>
      </p:sp>
    </p:spTree>
    <p:extLst>
      <p:ext uri="{BB962C8B-B14F-4D97-AF65-F5344CB8AC3E}">
        <p14:creationId xmlns:p14="http://schemas.microsoft.com/office/powerpoint/2010/main" val="1363826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The Heart </a:t>
            </a:r>
          </a:p>
        </p:txBody>
      </p:sp>
      <p:pic>
        <p:nvPicPr>
          <p:cNvPr id="4" name="Content Placeholder 3" descr="D:\PPT_ImageInsertion\input\Chapter_1\jpg\Figure 1.052.jpg"/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762000" y="1123289"/>
            <a:ext cx="7696200" cy="5453054"/>
          </a:xfrm>
          <a:prstGeom prst="rect">
            <a:avLst/>
          </a:prstGeom>
          <a:noFill/>
          <a:ln w="9525" algn="ctr">
            <a:solidFill>
              <a:srgbClr val="00B0F0"/>
            </a:solidFill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7467600" y="5410200"/>
            <a:ext cx="914400" cy="533400"/>
          </a:xfrm>
          <a:prstGeom prst="rect">
            <a:avLst/>
          </a:prstGeom>
          <a:noFill/>
          <a:ln w="158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7467600" y="6172200"/>
            <a:ext cx="83820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2000" y="5181600"/>
            <a:ext cx="457200" cy="381000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5800" y="5715000"/>
            <a:ext cx="533400" cy="381000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05400" y="990600"/>
            <a:ext cx="1752600" cy="1143000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3733800" y="6553200"/>
            <a:ext cx="99060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4022186-83CF-4F79-B16C-D721E8B1D7D6}"/>
              </a:ext>
            </a:extLst>
          </p:cNvPr>
          <p:cNvSpPr txBox="1"/>
          <p:nvPr/>
        </p:nvSpPr>
        <p:spPr>
          <a:xfrm>
            <a:off x="7467600" y="4791086"/>
            <a:ext cx="990600" cy="36933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9C99EE-06CE-4231-9579-A213045BA456}"/>
              </a:ext>
            </a:extLst>
          </p:cNvPr>
          <p:cNvSpPr txBox="1"/>
          <p:nvPr/>
        </p:nvSpPr>
        <p:spPr>
          <a:xfrm>
            <a:off x="1904999" y="5867400"/>
            <a:ext cx="838199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EA6645-454D-4353-AB80-7938FB9E3FEE}"/>
              </a:ext>
            </a:extLst>
          </p:cNvPr>
          <p:cNvSpPr txBox="1"/>
          <p:nvPr/>
        </p:nvSpPr>
        <p:spPr>
          <a:xfrm>
            <a:off x="685800" y="4791086"/>
            <a:ext cx="609600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The Heart </a:t>
            </a:r>
          </a:p>
        </p:txBody>
      </p:sp>
      <p:pic>
        <p:nvPicPr>
          <p:cNvPr id="4" name="Content Placeholder 3" descr="D:\PPT_ImageInsertion\input\Chapter_1\jpg\Figure 1.052(continued).jpg"/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169194" y="1219200"/>
            <a:ext cx="8856418" cy="5257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52400" y="2819400"/>
            <a:ext cx="914400" cy="228600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3886200" y="6477000"/>
            <a:ext cx="144780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76600" y="4114800"/>
            <a:ext cx="609600" cy="381000"/>
          </a:xfrm>
          <a:prstGeom prst="rect">
            <a:avLst/>
          </a:prstGeom>
          <a:noFill/>
          <a:ln w="158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276600" y="5638800"/>
            <a:ext cx="990600" cy="533400"/>
          </a:xfrm>
          <a:prstGeom prst="rect">
            <a:avLst/>
          </a:prstGeom>
          <a:noFill/>
          <a:ln w="158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Heart </a:t>
            </a:r>
            <a:endParaRPr lang="en-US" sz="18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Three tissue layers</a:t>
            </a:r>
          </a:p>
          <a:p>
            <a:pPr indent="-1588">
              <a:buFont typeface="Wingdings" pitchFamily="2" charset="2"/>
              <a:buChar char="Ø"/>
            </a:pPr>
            <a:r>
              <a:rPr lang="en-US" dirty="0"/>
              <a:t>Epicardium – thin external layer formed by the visceral pericardium.</a:t>
            </a:r>
          </a:p>
          <a:p>
            <a:pPr indent="-1588">
              <a:buFont typeface="Wingdings" pitchFamily="2" charset="2"/>
              <a:buChar char="Ø"/>
            </a:pPr>
            <a:r>
              <a:rPr lang="en-US" dirty="0"/>
              <a:t>Myocardium – thickest layer; cardiac muscle tissue; left ventricle thickest muscle</a:t>
            </a:r>
          </a:p>
          <a:p>
            <a:pPr indent="-1588">
              <a:buFont typeface="Wingdings" pitchFamily="2" charset="2"/>
              <a:buChar char="Ø"/>
            </a:pPr>
            <a:r>
              <a:rPr lang="en-US" dirty="0"/>
              <a:t>Endocardium – thin inner layer of epithelial tissue covering entire chambers and valves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The Heart- 4 chambers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Autofit/>
          </a:bodyPr>
          <a:lstStyle/>
          <a:p>
            <a:pPr algn="ctr">
              <a:buNone/>
            </a:pPr>
            <a:endParaRPr lang="en-US" sz="3600" dirty="0"/>
          </a:p>
          <a:p>
            <a:r>
              <a:rPr lang="en-US" sz="3600" dirty="0"/>
              <a:t>Right Atrium</a:t>
            </a:r>
          </a:p>
          <a:p>
            <a:pPr lvl="1"/>
            <a:r>
              <a:rPr lang="en-US" sz="2400" dirty="0"/>
              <a:t>Receives blood from body via IVC &amp; SVC plus from the heart via coronary sinus during systole</a:t>
            </a:r>
          </a:p>
          <a:p>
            <a:pPr lvl="1"/>
            <a:r>
              <a:rPr lang="en-US" sz="2400" dirty="0"/>
              <a:t>Right auricle is extra room when needed</a:t>
            </a:r>
          </a:p>
          <a:p>
            <a:pPr lvl="1"/>
            <a:r>
              <a:rPr lang="en-US" sz="2400" dirty="0"/>
              <a:t>Has opening into the right ventricle</a:t>
            </a:r>
          </a:p>
          <a:p>
            <a:pPr lvl="1"/>
            <a:r>
              <a:rPr lang="en-US" sz="2400" dirty="0"/>
              <a:t>Fossa ovale – remnant of foramen ovale in embryo (site of ASD if fails to close)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Heart </a:t>
            </a:r>
            <a:r>
              <a:rPr lang="en-US" sz="1800" dirty="0"/>
              <a:t>(cont)</a:t>
            </a:r>
            <a:br>
              <a:rPr lang="en-US" sz="1800" dirty="0"/>
            </a:br>
            <a:r>
              <a:rPr lang="en-US" sz="1800" dirty="0"/>
              <a:t>(Four Chambers)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Right Ventricle </a:t>
            </a:r>
          </a:p>
          <a:p>
            <a:pPr lvl="1"/>
            <a:r>
              <a:rPr lang="en-US" dirty="0"/>
              <a:t>Makes up major portion of the anterior surface of the heart and almost entire inferior border</a:t>
            </a:r>
          </a:p>
          <a:p>
            <a:pPr lvl="1"/>
            <a:r>
              <a:rPr lang="en-US" dirty="0"/>
              <a:t>The upper portion of the chamber leading to the pulmonary trunk is called the “Conus Arteriosus” </a:t>
            </a:r>
          </a:p>
          <a:p>
            <a:pPr lvl="1"/>
            <a:r>
              <a:rPr lang="en-US" dirty="0"/>
              <a:t>Receives blood from the right atrium during diastole</a:t>
            </a:r>
          </a:p>
          <a:p>
            <a:pPr lvl="1"/>
            <a:r>
              <a:rPr lang="en-US" dirty="0"/>
              <a:t>Tricuspid valve opens into ventricle and is attached to papillary muscles via chordae tendineae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Heart </a:t>
            </a:r>
            <a:r>
              <a:rPr lang="en-US" sz="1800" dirty="0"/>
              <a:t>(cont)</a:t>
            </a:r>
            <a:br>
              <a:rPr lang="en-US" sz="1800" dirty="0"/>
            </a:br>
            <a:r>
              <a:rPr lang="en-US" sz="1800" dirty="0"/>
              <a:t>(Four Chambers)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Right Ventricle</a:t>
            </a:r>
            <a:r>
              <a:rPr lang="en-US" sz="1800" dirty="0"/>
              <a:t> </a:t>
            </a:r>
          </a:p>
          <a:p>
            <a:pPr lvl="1"/>
            <a:r>
              <a:rPr lang="en-US" dirty="0"/>
              <a:t> The “Moderator Band” (Septomarginal Trabecula) connects the Interventricular Septum to the Anterior papillary muscle acting as a “moderator”</a:t>
            </a:r>
          </a:p>
          <a:p>
            <a:pPr lvl="2"/>
            <a:r>
              <a:rPr lang="en-US" dirty="0"/>
              <a:t>Prevents overdistension of the ventricle and contains part of the right AV bundle of the conducting system </a:t>
            </a:r>
          </a:p>
          <a:p>
            <a:pPr lvl="1"/>
            <a:r>
              <a:rPr lang="en-US" dirty="0"/>
              <a:t>The IV Septum is mostly muscle, but the upper portion is membranous and the site of a potential VSD</a:t>
            </a:r>
          </a:p>
          <a:p>
            <a:pPr lvl="1"/>
            <a:r>
              <a:rPr lang="en-US" dirty="0"/>
              <a:t>Blood exits the chamber during systole through the pulmonic valve into the pulmonary trunk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7343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>
            <a:normAutofit/>
          </a:bodyPr>
          <a:lstStyle/>
          <a:p>
            <a:pPr marL="1588" indent="-1588"/>
            <a:r>
              <a:rPr lang="en-US" dirty="0"/>
              <a:t>The Heart </a:t>
            </a:r>
            <a:r>
              <a:rPr lang="en-US" sz="1800" dirty="0"/>
              <a:t>(cont)</a:t>
            </a:r>
            <a:br>
              <a:rPr lang="en-US" sz="1800" dirty="0"/>
            </a:br>
            <a:r>
              <a:rPr lang="en-US" sz="2000" dirty="0"/>
              <a:t>Four chambers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3733800"/>
          </a:xfrm>
        </p:spPr>
        <p:txBody>
          <a:bodyPr>
            <a:normAutofit/>
          </a:bodyPr>
          <a:lstStyle/>
          <a:p>
            <a:pPr indent="-1588"/>
            <a:r>
              <a:rPr lang="en-US" dirty="0"/>
              <a:t>Left Atrium </a:t>
            </a:r>
          </a:p>
          <a:p>
            <a:pPr lvl="1" indent="-1588"/>
            <a:r>
              <a:rPr lang="en-US" dirty="0"/>
              <a:t>Receives blood from 4 pulmonary veins</a:t>
            </a:r>
          </a:p>
          <a:p>
            <a:pPr lvl="2" indent="-1588"/>
            <a:r>
              <a:rPr lang="en-US" dirty="0"/>
              <a:t>2 superior and 2 inferior</a:t>
            </a:r>
          </a:p>
          <a:p>
            <a:pPr lvl="1" indent="-1588"/>
            <a:r>
              <a:rPr lang="en-US" dirty="0"/>
              <a:t>Slightly thicker wall than the RA</a:t>
            </a:r>
          </a:p>
          <a:p>
            <a:pPr lvl="1" indent="-1588"/>
            <a:r>
              <a:rPr lang="en-US" dirty="0"/>
              <a:t>Opening into Left ventricle</a:t>
            </a:r>
          </a:p>
          <a:p>
            <a:pPr lvl="1" indent="-1588"/>
            <a:r>
              <a:rPr lang="en-US" dirty="0"/>
              <a:t>A larger smooth walled part and smaller muscular auricle containing pectinate muscle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Heart </a:t>
            </a:r>
            <a:r>
              <a:rPr lang="en-US" sz="2000" dirty="0"/>
              <a:t>(cont)</a:t>
            </a:r>
            <a:br>
              <a:rPr lang="en-US" sz="2000" dirty="0"/>
            </a:br>
            <a:r>
              <a:rPr lang="en-US" sz="2000" dirty="0"/>
              <a:t>Four chambers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indent="-1588"/>
            <a:r>
              <a:rPr lang="en-US" dirty="0"/>
              <a:t>Left Ventricle </a:t>
            </a:r>
          </a:p>
          <a:p>
            <a:pPr lvl="1" indent="-1588"/>
            <a:r>
              <a:rPr lang="en-US" dirty="0"/>
              <a:t>The apex of the heart</a:t>
            </a:r>
          </a:p>
          <a:p>
            <a:pPr lvl="1" indent="-1588"/>
            <a:r>
              <a:rPr lang="en-US" dirty="0"/>
              <a:t>Walls are 2-3 times thicker than RV</a:t>
            </a:r>
          </a:p>
          <a:p>
            <a:pPr lvl="1" indent="-1588"/>
            <a:r>
              <a:rPr lang="en-US" dirty="0"/>
              <a:t>Nearly all the left pulmonary surface and border, and most of the diaphragmatic surface</a:t>
            </a:r>
          </a:p>
          <a:p>
            <a:pPr lvl="1" indent="-1588"/>
            <a:r>
              <a:rPr lang="en-US" dirty="0"/>
              <a:t>Mitral (bicuspid) valve attaches to papillary muscles via chordae tendineae </a:t>
            </a:r>
          </a:p>
          <a:p>
            <a:pPr lvl="1" indent="-1588"/>
            <a:r>
              <a:rPr lang="en-US" dirty="0"/>
              <a:t>Papillary muscles are also larger than RV </a:t>
            </a:r>
          </a:p>
          <a:p>
            <a:pPr lvl="1" indent="-1588"/>
            <a:r>
              <a:rPr lang="en-US" dirty="0"/>
              <a:t>Opening superiorly to the aorta through aortic valve</a:t>
            </a:r>
          </a:p>
        </p:txBody>
      </p:sp>
    </p:spTree>
    <p:extLst>
      <p:ext uri="{BB962C8B-B14F-4D97-AF65-F5344CB8AC3E}">
        <p14:creationId xmlns:p14="http://schemas.microsoft.com/office/powerpoint/2010/main" val="25497641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Heart Blood Flow</a:t>
            </a:r>
          </a:p>
        </p:txBody>
      </p:sp>
      <p:pic>
        <p:nvPicPr>
          <p:cNvPr id="4" name="Picture 4" descr="D:\Projects\FRC\Moore\Project_SRC\PPT-With_Images_New_standard\Splitted\Chapter01\jpg\F11181-001-049a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295399"/>
            <a:ext cx="5449607" cy="517047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/>
          <a:lstStyle/>
          <a:p>
            <a:r>
              <a:rPr lang="en-US" dirty="0"/>
              <a:t>The Heart </a:t>
            </a:r>
            <a:r>
              <a:rPr lang="en-US" sz="1800" dirty="0"/>
              <a:t>(cont)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/>
              <a:t>Four one way valves</a:t>
            </a:r>
          </a:p>
          <a:p>
            <a:pPr indent="-1588">
              <a:buFont typeface="Wingdings" pitchFamily="2" charset="2"/>
              <a:buChar char="Ø"/>
            </a:pPr>
            <a:r>
              <a:rPr lang="en-US" dirty="0"/>
              <a:t>Tricuspid – lies behind the right half of the sternum at the 4</a:t>
            </a:r>
            <a:r>
              <a:rPr lang="en-US" baseline="30000" dirty="0"/>
              <a:t>th</a:t>
            </a:r>
            <a:r>
              <a:rPr lang="en-US" dirty="0"/>
              <a:t> ICS; most audible at left lower costal margin; opens with diastole and closes with systole; </a:t>
            </a:r>
            <a:r>
              <a:rPr lang="en-US" dirty="0">
                <a:solidFill>
                  <a:srgbClr val="FF0000"/>
                </a:solidFill>
              </a:rPr>
              <a:t>closure contributes to 1</a:t>
            </a:r>
            <a:r>
              <a:rPr lang="en-US" baseline="30000" dirty="0">
                <a:solidFill>
                  <a:srgbClr val="FF0000"/>
                </a:solidFill>
              </a:rPr>
              <a:t>st</a:t>
            </a:r>
            <a:r>
              <a:rPr lang="en-US" dirty="0">
                <a:solidFill>
                  <a:srgbClr val="FF0000"/>
                </a:solidFill>
              </a:rPr>
              <a:t> heart sound (“</a:t>
            </a:r>
            <a:r>
              <a:rPr lang="en-US" dirty="0" err="1">
                <a:solidFill>
                  <a:srgbClr val="FF0000"/>
                </a:solidFill>
              </a:rPr>
              <a:t>lub</a:t>
            </a:r>
            <a:r>
              <a:rPr lang="en-US" dirty="0">
                <a:solidFill>
                  <a:srgbClr val="FF0000"/>
                </a:solidFill>
              </a:rPr>
              <a:t>”)</a:t>
            </a:r>
          </a:p>
          <a:p>
            <a:pPr indent="-1588">
              <a:buFont typeface="Wingdings" pitchFamily="2" charset="2"/>
              <a:buChar char="Ø"/>
            </a:pPr>
            <a:r>
              <a:rPr lang="en-US" dirty="0"/>
              <a:t>Pulmonic – lies behind medial end of left 3</a:t>
            </a:r>
            <a:r>
              <a:rPr lang="en-US" baseline="30000" dirty="0"/>
              <a:t>rd</a:t>
            </a:r>
            <a:r>
              <a:rPr lang="en-US" dirty="0"/>
              <a:t> costal cartilage; most audible at left second ICS sternal border; opens with systole and shuts just slightly after aortic valve; </a:t>
            </a:r>
            <a:r>
              <a:rPr lang="en-US" dirty="0">
                <a:solidFill>
                  <a:srgbClr val="FF0000"/>
                </a:solidFill>
              </a:rPr>
              <a:t>part of 2</a:t>
            </a:r>
            <a:r>
              <a:rPr lang="en-US" baseline="30000" dirty="0">
                <a:solidFill>
                  <a:srgbClr val="FF0000"/>
                </a:solidFill>
              </a:rPr>
              <a:t>nd</a:t>
            </a:r>
            <a:r>
              <a:rPr lang="en-US" dirty="0">
                <a:solidFill>
                  <a:srgbClr val="FF0000"/>
                </a:solidFill>
              </a:rPr>
              <a:t> heart sound (“dub”)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The Heart </a:t>
            </a:r>
            <a:r>
              <a:rPr lang="en-US" sz="1800" dirty="0">
                <a:solidFill>
                  <a:prstClr val="black"/>
                </a:solidFill>
              </a:rPr>
              <a:t>(cont)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01000" cy="4876800"/>
          </a:xfrm>
        </p:spPr>
        <p:txBody>
          <a:bodyPr>
            <a:normAutofit lnSpcReduction="10000"/>
          </a:bodyPr>
          <a:lstStyle/>
          <a:p>
            <a:pPr indent="-1588">
              <a:buFont typeface="Wingdings" pitchFamily="2" charset="2"/>
              <a:buChar char="Ø"/>
            </a:pPr>
            <a:r>
              <a:rPr lang="en-US" dirty="0"/>
              <a:t>Bicuspid (Mitral) – lies behind left half of sternum at 4</a:t>
            </a:r>
            <a:r>
              <a:rPr lang="en-US" baseline="30000" dirty="0"/>
              <a:t>th</a:t>
            </a:r>
            <a:r>
              <a:rPr lang="en-US" dirty="0"/>
              <a:t> costal cartilage; most audible at apex (left 5</a:t>
            </a:r>
            <a:r>
              <a:rPr lang="en-US" baseline="30000" dirty="0"/>
              <a:t>th</a:t>
            </a:r>
            <a:r>
              <a:rPr lang="en-US" dirty="0"/>
              <a:t> ICS MCL); closes slightly before tricuspid &amp; contributes to</a:t>
            </a:r>
            <a:r>
              <a:rPr lang="en-US" dirty="0">
                <a:solidFill>
                  <a:srgbClr val="FF0000"/>
                </a:solidFill>
              </a:rPr>
              <a:t> 1</a:t>
            </a:r>
            <a:r>
              <a:rPr lang="en-US" baseline="30000" dirty="0">
                <a:solidFill>
                  <a:srgbClr val="FF0000"/>
                </a:solidFill>
              </a:rPr>
              <a:t>st</a:t>
            </a:r>
            <a:r>
              <a:rPr lang="en-US" dirty="0">
                <a:solidFill>
                  <a:srgbClr val="FF0000"/>
                </a:solidFill>
              </a:rPr>
              <a:t> heart sound (“</a:t>
            </a:r>
            <a:r>
              <a:rPr lang="en-US" dirty="0" err="1">
                <a:solidFill>
                  <a:srgbClr val="FF0000"/>
                </a:solidFill>
              </a:rPr>
              <a:t>lub</a:t>
            </a:r>
            <a:r>
              <a:rPr lang="en-US" dirty="0">
                <a:solidFill>
                  <a:srgbClr val="FF0000"/>
                </a:solidFill>
              </a:rPr>
              <a:t>”)</a:t>
            </a:r>
          </a:p>
          <a:p>
            <a:pPr marL="341312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indent="-1588">
              <a:buFont typeface="Wingdings" pitchFamily="2" charset="2"/>
              <a:buChar char="Ø"/>
            </a:pPr>
            <a:r>
              <a:rPr lang="en-US" dirty="0"/>
              <a:t>Aortic – Lies behind left half of sternum opposite 3</a:t>
            </a:r>
            <a:r>
              <a:rPr lang="en-US" baseline="30000" dirty="0"/>
              <a:t>rd</a:t>
            </a:r>
            <a:r>
              <a:rPr lang="en-US" dirty="0"/>
              <a:t> ICS; most audible at right 2</a:t>
            </a:r>
            <a:r>
              <a:rPr lang="en-US" baseline="30000" dirty="0"/>
              <a:t>nd</a:t>
            </a:r>
            <a:r>
              <a:rPr lang="en-US" dirty="0"/>
              <a:t> ICS sternal border; closure at start of diastole contributes to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rgbClr val="FF0000"/>
                </a:solidFill>
              </a:rPr>
              <a:t>nd</a:t>
            </a:r>
            <a:r>
              <a:rPr lang="en-US" dirty="0">
                <a:solidFill>
                  <a:srgbClr val="FF0000"/>
                </a:solidFill>
              </a:rPr>
              <a:t> heart sound (“dub”)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3765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The Heart Valves</a:t>
            </a:r>
          </a:p>
        </p:txBody>
      </p:sp>
      <p:pic>
        <p:nvPicPr>
          <p:cNvPr id="4" name="Content Placeholder 3" descr="D:\PPT_ImageInsertion\input\Chapter_1\jpg\Figure 1.055.jpg"/>
          <p:cNvPicPr>
            <a:picLocks noGrp="1" noChangeAspect="1" noChangeArrowheads="1"/>
          </p:cNvPicPr>
          <p:nvPr>
            <p:ph idx="1"/>
          </p:nvPr>
        </p:nvPicPr>
        <p:blipFill>
          <a:blip r:embed="rId3" r:link="rId4" cstate="print"/>
          <a:srcRect/>
          <a:stretch>
            <a:fillRect/>
          </a:stretch>
        </p:blipFill>
        <p:spPr bwMode="auto">
          <a:xfrm>
            <a:off x="1524000" y="1158839"/>
            <a:ext cx="6172199" cy="54762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The Heart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Thick connective tissue forms 4 connecting rings for heart valve attachment</a:t>
            </a:r>
          </a:p>
          <a:p>
            <a:r>
              <a:rPr lang="en-US" dirty="0"/>
              <a:t>Fibrous skeleton:</a:t>
            </a:r>
          </a:p>
          <a:p>
            <a:pPr lvl="1"/>
            <a:r>
              <a:rPr lang="en-US" dirty="0"/>
              <a:t>Separates atria from ventricles</a:t>
            </a:r>
          </a:p>
          <a:p>
            <a:pPr lvl="1"/>
            <a:r>
              <a:rPr lang="en-US" dirty="0"/>
              <a:t>Keeps orifices of the AV and semilunar valves patent and prevents them from being overly distended by increased volume of blood pumping through</a:t>
            </a:r>
          </a:p>
          <a:p>
            <a:pPr lvl="1"/>
            <a:r>
              <a:rPr lang="en-US" dirty="0"/>
              <a:t>Provides attachment for the leaflets and cusps of the valves</a:t>
            </a:r>
          </a:p>
          <a:p>
            <a:pPr lvl="1"/>
            <a:r>
              <a:rPr lang="en-US" dirty="0"/>
              <a:t>Provides attachment for the myocardial muscles</a:t>
            </a:r>
          </a:p>
          <a:p>
            <a:pPr lvl="1"/>
            <a:r>
              <a:rPr lang="en-US" dirty="0"/>
              <a:t>Forms an electrical “insulator” by separating the conducted impulses of the atria and ventricles so that they conduct independently</a:t>
            </a:r>
          </a:p>
        </p:txBody>
      </p:sp>
    </p:spTree>
    <p:extLst>
      <p:ext uri="{BB962C8B-B14F-4D97-AF65-F5344CB8AC3E}">
        <p14:creationId xmlns:p14="http://schemas.microsoft.com/office/powerpoint/2010/main" val="29241901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Cardiac Internal Fibrous “Skeleton”</a:t>
            </a:r>
          </a:p>
        </p:txBody>
      </p:sp>
      <p:pic>
        <p:nvPicPr>
          <p:cNvPr id="4" name="Picture 1027" descr="D:\PPT_ImageInsertion\input\Chapter_1\jpg\Figure 1.051.jpg"/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2228603" y="1600200"/>
            <a:ext cx="4686793" cy="45259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The heart valves </a:t>
            </a:r>
            <a:br>
              <a:rPr lang="en-US" u="sng" dirty="0"/>
            </a:br>
            <a:r>
              <a:rPr lang="en-US" sz="1800" dirty="0"/>
              <a:t>(during cardiac cycle)</a:t>
            </a:r>
          </a:p>
        </p:txBody>
      </p:sp>
      <p:pic>
        <p:nvPicPr>
          <p:cNvPr id="4" name="Content Placeholder 3" descr="D:\Projects\FRC\Moore\Project_SRC\PPT-With_Images_New_standard\Splitted\Chapter01\jpg\F11181-001-049b-f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126678"/>
            <a:ext cx="8229600" cy="34730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5ADCF-F251-4AE6-8389-9A50D37CA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Heart valves and Fibrous Skeleton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A6153-6AB9-48C1-B42D-3E2F8B8C8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/>
          </a:bodyPr>
          <a:lstStyle/>
          <a:p>
            <a:r>
              <a:rPr lang="en-US" dirty="0"/>
              <a:t>To prevent the AV valves from being pushed up into the atrium (prolapse) the valves are attached to the myocardium via Chordae Tendineae &amp; Papillary muscles</a:t>
            </a:r>
          </a:p>
          <a:p>
            <a:r>
              <a:rPr lang="en-US" dirty="0"/>
              <a:t>Aortic and pulmonary valves catch blood flowing backward toward heart and seal together preventing backflow (when healthy tissue)</a:t>
            </a:r>
          </a:p>
          <a:p>
            <a:r>
              <a:rPr lang="en-US" dirty="0"/>
              <a:t> Diseased or worn-out cusps don’t close efficiently, and murmurs can be detected again by the turbulent flow of the moving blood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2801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mvpresource.com/what-are-the-papillary-muscles">
            <a:extLst>
              <a:ext uri="{FF2B5EF4-FFF2-40B4-BE49-F238E27FC236}">
                <a16:creationId xmlns:a16="http://schemas.microsoft.com/office/drawing/2014/main" id="{D58FF4AC-3DE5-46C5-AC6C-9309A59D4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447800"/>
            <a:ext cx="5048250" cy="346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03375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362DF-074A-4669-8E72-55CA78640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98414"/>
          </a:xfrm>
        </p:spPr>
        <p:txBody>
          <a:bodyPr/>
          <a:lstStyle/>
          <a:p>
            <a:r>
              <a:rPr lang="en-US" dirty="0"/>
              <a:t>Heart sounds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B10AD-C9BC-4C3B-A3EE-7324FB2F0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r>
              <a:rPr lang="en-US" sz="2400" dirty="0"/>
              <a:t>Blood carries the sound in the direction of its flow. The auscultation areas are in direction of blood flow and not at exact position of valve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D62E9-1A91-4446-B080-4FF63DA01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2947910"/>
            <a:ext cx="4343400" cy="36375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A7C379-AF8A-4B88-A6F1-B8B8CC5D9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68" y="2943669"/>
            <a:ext cx="3303431" cy="384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0712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Aortic Valve in relationship to </a:t>
            </a:r>
            <a:br>
              <a:rPr lang="en-US" dirty="0"/>
            </a:br>
            <a:r>
              <a:rPr lang="en-US" dirty="0"/>
              <a:t>heart sounds</a:t>
            </a:r>
          </a:p>
        </p:txBody>
      </p:sp>
      <p:pic>
        <p:nvPicPr>
          <p:cNvPr id="8" name="Content Placeholder 7" descr="semi_a1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81000" y="2286000"/>
            <a:ext cx="2381250" cy="1885950"/>
          </a:xfrm>
        </p:spPr>
      </p:pic>
      <p:pic>
        <p:nvPicPr>
          <p:cNvPr id="9" name="Picture 8" descr="semi_a2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52800" y="2286000"/>
            <a:ext cx="2381250" cy="1876425"/>
          </a:xfrm>
          <a:prstGeom prst="rect">
            <a:avLst/>
          </a:prstGeom>
        </p:spPr>
      </p:pic>
      <p:pic>
        <p:nvPicPr>
          <p:cNvPr id="10" name="Picture 9" descr="semi_a3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24600" y="2286000"/>
            <a:ext cx="2381250" cy="18573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1000" y="4724400"/>
            <a:ext cx="830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Note that the surface projection is behind the sternum opposite the 3rd intercostal space whereas the valve is auscultated at the </a:t>
            </a:r>
            <a:r>
              <a:rPr lang="en-US" sz="2400" b="1" dirty="0"/>
              <a:t>second intercostal space </a:t>
            </a:r>
            <a:r>
              <a:rPr lang="en-US" sz="2400" dirty="0"/>
              <a:t>to the </a:t>
            </a:r>
            <a:r>
              <a:rPr lang="en-US" sz="2400" b="1" dirty="0"/>
              <a:t>right </a:t>
            </a:r>
            <a:r>
              <a:rPr lang="en-US" sz="2400" dirty="0"/>
              <a:t>of the body of the sternum.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rot="16200000" flipV="1">
            <a:off x="1447800" y="2743200"/>
            <a:ext cx="152400" cy="1524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1524000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 = surface projection of valve location              </a:t>
            </a:r>
          </a:p>
          <a:p>
            <a:r>
              <a:rPr lang="en-US" dirty="0">
                <a:solidFill>
                  <a:srgbClr val="FF0000"/>
                </a:solidFill>
              </a:rPr>
              <a:t>X= Auscultation point of valve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724400" y="1828800"/>
            <a:ext cx="762000" cy="1588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62600" y="1600200"/>
            <a:ext cx="320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Direction of blood flow and sound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7467600" cy="1143000"/>
          </a:xfrm>
        </p:spPr>
        <p:txBody>
          <a:bodyPr>
            <a:noAutofit/>
          </a:bodyPr>
          <a:lstStyle/>
          <a:p>
            <a:r>
              <a:rPr lang="en-US" sz="3600" dirty="0"/>
              <a:t>Pulmonic valve in relationship to </a:t>
            </a:r>
            <a:br>
              <a:rPr lang="en-US" sz="3600" dirty="0"/>
            </a:br>
            <a:r>
              <a:rPr lang="en-US" sz="3600" dirty="0"/>
              <a:t>heart sounds</a:t>
            </a:r>
          </a:p>
        </p:txBody>
      </p:sp>
      <p:pic>
        <p:nvPicPr>
          <p:cNvPr id="4" name="Content Placeholder 3" descr="semi_p1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09600" y="2438400"/>
            <a:ext cx="2381250" cy="1876425"/>
          </a:xfrm>
        </p:spPr>
      </p:pic>
      <p:pic>
        <p:nvPicPr>
          <p:cNvPr id="5" name="Picture 4" descr="semi_p2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81400" y="2438400"/>
            <a:ext cx="2381250" cy="1905000"/>
          </a:xfrm>
          <a:prstGeom prst="rect">
            <a:avLst/>
          </a:prstGeom>
        </p:spPr>
      </p:pic>
      <p:pic>
        <p:nvPicPr>
          <p:cNvPr id="6" name="Picture 5" descr="semi_p3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77000" y="2438400"/>
            <a:ext cx="2381250" cy="1866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524000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 = surface projection of valve location              </a:t>
            </a:r>
          </a:p>
          <a:p>
            <a:r>
              <a:rPr lang="en-US" dirty="0">
                <a:solidFill>
                  <a:srgbClr val="FF0000"/>
                </a:solidFill>
              </a:rPr>
              <a:t>X= Auscultation point of valve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495800" y="1752600"/>
            <a:ext cx="10668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562600" y="1524000"/>
            <a:ext cx="3381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Direction of blood flow and sound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4876800"/>
            <a:ext cx="822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surface projection is on the left side of the sternum opposite the left 3rd intercostal junction whereas the valve is auscultated on the </a:t>
            </a:r>
            <a:r>
              <a:rPr lang="en-US" sz="2400" b="1" dirty="0"/>
              <a:t>left side </a:t>
            </a:r>
            <a:r>
              <a:rPr lang="en-US" sz="2400" dirty="0"/>
              <a:t>of the sternum at the</a:t>
            </a:r>
            <a:r>
              <a:rPr lang="en-US" sz="2400" b="1" dirty="0"/>
              <a:t> 2nd intercostal junction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rot="5400000" flipH="1" flipV="1">
            <a:off x="1943100" y="2933700"/>
            <a:ext cx="228600" cy="1524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Tricuspid valve in relationship to </a:t>
            </a:r>
            <a:br>
              <a:rPr lang="en-US" dirty="0"/>
            </a:br>
            <a:r>
              <a:rPr lang="en-US" dirty="0"/>
              <a:t>heart sounds</a:t>
            </a:r>
          </a:p>
        </p:txBody>
      </p:sp>
      <p:pic>
        <p:nvPicPr>
          <p:cNvPr id="4" name="Content Placeholder 3" descr="tricus1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3400" y="2667000"/>
            <a:ext cx="2381250" cy="1895475"/>
          </a:xfrm>
        </p:spPr>
      </p:pic>
      <p:pic>
        <p:nvPicPr>
          <p:cNvPr id="5" name="Picture 4" descr="tricus2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05200" y="2667000"/>
            <a:ext cx="2381250" cy="1876425"/>
          </a:xfrm>
          <a:prstGeom prst="rect">
            <a:avLst/>
          </a:prstGeom>
        </p:spPr>
      </p:pic>
      <p:pic>
        <p:nvPicPr>
          <p:cNvPr id="6" name="Picture 5" descr="tricus3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00800" y="2667000"/>
            <a:ext cx="2381250" cy="1857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76400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 = surface projection of valve location              </a:t>
            </a:r>
          </a:p>
          <a:p>
            <a:r>
              <a:rPr lang="en-US" dirty="0">
                <a:solidFill>
                  <a:srgbClr val="FF0000"/>
                </a:solidFill>
              </a:rPr>
              <a:t>X= Auscultation point of valve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724400" y="1981200"/>
            <a:ext cx="762000" cy="15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562600" y="1752600"/>
            <a:ext cx="3381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Direction of blood flow and sound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rot="16200000" flipH="1">
            <a:off x="1714500" y="3390900"/>
            <a:ext cx="228600" cy="1524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33400" y="4800600"/>
            <a:ext cx="822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surface projection is behind the sternum opposite the 4-5th intercostal junction whereas the valve is auscultated at the </a:t>
            </a:r>
            <a:r>
              <a:rPr lang="en-US" sz="2400" b="1" dirty="0"/>
              <a:t>lower left quadrant </a:t>
            </a:r>
            <a:r>
              <a:rPr lang="en-US" sz="2400" dirty="0"/>
              <a:t>of the body of the sternum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Mitral valve in relationship to </a:t>
            </a:r>
            <a:br>
              <a:rPr lang="en-US" dirty="0"/>
            </a:br>
            <a:r>
              <a:rPr lang="en-US" dirty="0"/>
              <a:t>heart sounds </a:t>
            </a:r>
          </a:p>
        </p:txBody>
      </p:sp>
      <p:pic>
        <p:nvPicPr>
          <p:cNvPr id="4" name="Content Placeholder 3" descr="bicus1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3400" y="2819400"/>
            <a:ext cx="2381250" cy="1857375"/>
          </a:xfrm>
        </p:spPr>
      </p:pic>
      <p:pic>
        <p:nvPicPr>
          <p:cNvPr id="5" name="Picture 4" descr="bicus2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29000" y="2819400"/>
            <a:ext cx="2381250" cy="1847850"/>
          </a:xfrm>
          <a:prstGeom prst="rect">
            <a:avLst/>
          </a:prstGeom>
        </p:spPr>
      </p:pic>
      <p:pic>
        <p:nvPicPr>
          <p:cNvPr id="6" name="Picture 5" descr="bicus3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48400" y="2819400"/>
            <a:ext cx="238125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905000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 = surface projection of valve location              </a:t>
            </a:r>
          </a:p>
          <a:p>
            <a:r>
              <a:rPr lang="en-US" dirty="0">
                <a:solidFill>
                  <a:srgbClr val="FF0000"/>
                </a:solidFill>
              </a:rPr>
              <a:t>X= Auscultation point of valve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724400" y="2286000"/>
            <a:ext cx="762000" cy="1588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562600" y="2057400"/>
            <a:ext cx="3381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Direction of blood flow and sound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rot="16200000" flipH="1">
            <a:off x="1676400" y="3581400"/>
            <a:ext cx="381000" cy="3810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33400" y="4876800"/>
            <a:ext cx="8077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surface projection is to the left of the 4th intercostal junction whereas the valve is auscultated at the </a:t>
            </a:r>
            <a:r>
              <a:rPr lang="en-US" sz="2800" b="1" dirty="0"/>
              <a:t>5th intercostal space </a:t>
            </a:r>
            <a:r>
              <a:rPr lang="en-US" sz="2800" dirty="0"/>
              <a:t>in the </a:t>
            </a:r>
            <a:r>
              <a:rPr lang="en-US" sz="2800" b="1" dirty="0"/>
              <a:t>mid-clavicular line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Cardiac Circulation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Coronary Arteries – first branches off aorta; supply epicardium and myocardium; much variation in distribution.</a:t>
            </a:r>
          </a:p>
          <a:p>
            <a:pPr indent="0">
              <a:buFont typeface="Wingdings" pitchFamily="2" charset="2"/>
              <a:buChar char="Ø"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Right coronary (RCA) </a:t>
            </a:r>
            <a:r>
              <a:rPr lang="en-US" sz="2800" dirty="0"/>
              <a:t>– arises from right aortic sinus passing to the right side of the pulmonary trunk in the coronary sulcus; branches include – </a:t>
            </a:r>
          </a:p>
          <a:p>
            <a:pPr marL="685800" indent="0">
              <a:buFont typeface="Wingdings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</a:rPr>
              <a:t>Right marginal</a:t>
            </a:r>
            <a:r>
              <a:rPr lang="en-US" sz="2400" dirty="0"/>
              <a:t> – supplies rt. border of heart toward apex (doesn’t reach it) </a:t>
            </a:r>
          </a:p>
          <a:p>
            <a:pPr marL="685800" indent="0">
              <a:buFont typeface="Wingdings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</a:rPr>
              <a:t>SA nodal </a:t>
            </a:r>
            <a:r>
              <a:rPr lang="en-US" sz="2400" dirty="0"/>
              <a:t>– supplies SA node (60% of people)</a:t>
            </a:r>
          </a:p>
          <a:p>
            <a:pPr marL="685800" indent="0">
              <a:buFont typeface="Wingdings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</a:rPr>
              <a:t>AV nodal </a:t>
            </a:r>
            <a:r>
              <a:rPr lang="en-US" sz="2400" dirty="0"/>
              <a:t>– supplies AV node (80% of people)</a:t>
            </a:r>
          </a:p>
          <a:p>
            <a:pPr marL="685800" indent="0">
              <a:buFont typeface="Wingdings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</a:rPr>
              <a:t>Posterior (Descending) Interventricular (PIV) </a:t>
            </a:r>
            <a:r>
              <a:rPr lang="en-US" sz="2400" dirty="0"/>
              <a:t>– supplies posterior adjacent areas of </a:t>
            </a:r>
            <a:r>
              <a:rPr lang="en-US" sz="2400" u="sng" dirty="0"/>
              <a:t>both</a:t>
            </a:r>
            <a:r>
              <a:rPr lang="en-US" sz="2400" dirty="0"/>
              <a:t> ventricles</a:t>
            </a:r>
          </a:p>
          <a:p>
            <a:pPr marL="917575" indent="0">
              <a:buFont typeface="Wingdings" pitchFamily="2" charset="2"/>
              <a:buChar char="§"/>
            </a:pPr>
            <a:r>
              <a:rPr lang="en-US" sz="2100" dirty="0">
                <a:solidFill>
                  <a:srgbClr val="FF0000"/>
                </a:solidFill>
              </a:rPr>
              <a:t>Interventricular septal </a:t>
            </a:r>
            <a:r>
              <a:rPr lang="en-US" sz="2100" dirty="0"/>
              <a:t>– penetrating branch of PIV; supplies posterior 1/3</a:t>
            </a:r>
            <a:r>
              <a:rPr lang="en-US" sz="2100" baseline="30000" dirty="0"/>
              <a:t>rd</a:t>
            </a:r>
            <a:r>
              <a:rPr lang="en-US" sz="2100" dirty="0"/>
              <a:t> of septum and part of left ventricle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Cardiac Circulation</a:t>
            </a:r>
            <a:r>
              <a:rPr lang="en-US" sz="1800" dirty="0"/>
              <a:t> (cont)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81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Coronary Arteries </a:t>
            </a:r>
            <a:r>
              <a:rPr lang="en-US" sz="1800" dirty="0"/>
              <a:t>(cont)</a:t>
            </a:r>
          </a:p>
          <a:p>
            <a:pPr indent="0">
              <a:buFont typeface="Wingdings" pitchFamily="2" charset="2"/>
              <a:buChar char="Ø"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Left coronary artery (LCA) </a:t>
            </a:r>
            <a:r>
              <a:rPr lang="en-US" sz="2800" dirty="0"/>
              <a:t>– arises from left aortic sinus of aorta; passes between left auricle and left side of pulmonary trunk and continues in the coronary sulcus; its branches are as follows:</a:t>
            </a:r>
          </a:p>
          <a:p>
            <a:pPr marL="685800" indent="0">
              <a:buFont typeface="Wingdings" pitchFamily="2" charset="2"/>
              <a:buChar char="ü"/>
            </a:pP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Left anterior (IV) descending </a:t>
            </a:r>
            <a:r>
              <a:rPr lang="en-US" sz="2400" dirty="0"/>
              <a:t>– supplies anterior parts of both ventricles, anterior 2/3 of IVS,  the apex, &amp; many times anastomoses with Rt. PIV</a:t>
            </a:r>
          </a:p>
          <a:p>
            <a:pPr marL="971550" indent="0">
              <a:buFont typeface="Wingdings" pitchFamily="2" charset="2"/>
              <a:buChar char="§"/>
            </a:pP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Lateral branch </a:t>
            </a:r>
            <a:r>
              <a:rPr lang="en-US" sz="2000" dirty="0"/>
              <a:t>– supplies anterior surface of heart</a:t>
            </a:r>
          </a:p>
          <a:p>
            <a:pPr marL="685800" indent="0">
              <a:buFont typeface="Wingdings" pitchFamily="2" charset="2"/>
              <a:buChar char="ü"/>
            </a:pP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Circumflex</a:t>
            </a:r>
            <a:r>
              <a:rPr lang="en-US" sz="2400" dirty="0"/>
              <a:t> – follows sulcus around left border to posterior surface of heart supplying the left atrium, mitral valve, and most of the posterior left ventricle</a:t>
            </a:r>
          </a:p>
          <a:p>
            <a:pPr marL="971550" indent="0">
              <a:buFont typeface="Wingdings" pitchFamily="2" charset="2"/>
              <a:buChar char="§"/>
            </a:pP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Left marginal </a:t>
            </a:r>
            <a:r>
              <a:rPr lang="en-US" sz="2000" dirty="0"/>
              <a:t>– supplies left ventricle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1DC36-9B6C-4434-9D18-96A6FF65C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Cardiac Circulation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9794C-2038-42F2-BB61-DF2C71BDE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Left Coronary artery (LCA) </a:t>
            </a:r>
            <a:r>
              <a:rPr lang="en-US" dirty="0"/>
              <a:t>supplies:</a:t>
            </a:r>
          </a:p>
          <a:p>
            <a:pPr lvl="1"/>
            <a:r>
              <a:rPr lang="en-US" dirty="0"/>
              <a:t>Left atrium</a:t>
            </a:r>
          </a:p>
          <a:p>
            <a:pPr lvl="1"/>
            <a:r>
              <a:rPr lang="en-US" dirty="0"/>
              <a:t>Most of left ventricle</a:t>
            </a:r>
          </a:p>
          <a:p>
            <a:pPr lvl="1"/>
            <a:r>
              <a:rPr lang="en-US" dirty="0"/>
              <a:t>Part of right ventricle</a:t>
            </a:r>
          </a:p>
          <a:p>
            <a:pPr lvl="1"/>
            <a:r>
              <a:rPr lang="en-US" dirty="0"/>
              <a:t>Most of IVS (anterior 2/3) including AV bundle of conducting system</a:t>
            </a:r>
          </a:p>
          <a:p>
            <a:pPr lvl="1"/>
            <a:r>
              <a:rPr lang="en-US" dirty="0"/>
              <a:t>SA node in 40% of people </a:t>
            </a:r>
          </a:p>
        </p:txBody>
      </p:sp>
    </p:spTree>
    <p:extLst>
      <p:ext uri="{BB962C8B-B14F-4D97-AF65-F5344CB8AC3E}">
        <p14:creationId xmlns:p14="http://schemas.microsoft.com/office/powerpoint/2010/main" val="31225077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:\PPT_ImageInsertion\input\Chapter_1\jpg\Figure 1.059.jpg"/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1447800" y="96819"/>
            <a:ext cx="5845795" cy="666436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4DA8A0-271F-4E4F-AF9B-06C0D66AC325}"/>
              </a:ext>
            </a:extLst>
          </p:cNvPr>
          <p:cNvSpPr txBox="1"/>
          <p:nvPr/>
        </p:nvSpPr>
        <p:spPr>
          <a:xfrm>
            <a:off x="1371600" y="1600200"/>
            <a:ext cx="762000" cy="457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158FF-4AC6-4CB7-AF23-ACB7F119C3F9}"/>
              </a:ext>
            </a:extLst>
          </p:cNvPr>
          <p:cNvSpPr txBox="1"/>
          <p:nvPr/>
        </p:nvSpPr>
        <p:spPr>
          <a:xfrm>
            <a:off x="1447800" y="990600"/>
            <a:ext cx="685800" cy="457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F2FF9B-31BC-47A3-A59C-D9BDE7094BB2}"/>
              </a:ext>
            </a:extLst>
          </p:cNvPr>
          <p:cNvSpPr txBox="1"/>
          <p:nvPr/>
        </p:nvSpPr>
        <p:spPr>
          <a:xfrm>
            <a:off x="1371600" y="2579132"/>
            <a:ext cx="894184" cy="3156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963262-1F3D-42B6-B3FC-70141A1D1FFD}"/>
              </a:ext>
            </a:extLst>
          </p:cNvPr>
          <p:cNvSpPr txBox="1"/>
          <p:nvPr/>
        </p:nvSpPr>
        <p:spPr>
          <a:xfrm>
            <a:off x="3657600" y="2946127"/>
            <a:ext cx="1295400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AE9E9C-AC89-4CE7-B91F-977F44F4BCBD}"/>
              </a:ext>
            </a:extLst>
          </p:cNvPr>
          <p:cNvSpPr txBox="1"/>
          <p:nvPr/>
        </p:nvSpPr>
        <p:spPr>
          <a:xfrm>
            <a:off x="3962400" y="685800"/>
            <a:ext cx="990600" cy="369332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26AAC2-C4EA-473D-A753-84F435AF1B84}"/>
              </a:ext>
            </a:extLst>
          </p:cNvPr>
          <p:cNvSpPr txBox="1"/>
          <p:nvPr/>
        </p:nvSpPr>
        <p:spPr>
          <a:xfrm>
            <a:off x="3962400" y="1055132"/>
            <a:ext cx="838200" cy="369332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C023A2-8A46-4AC6-B496-F94BFDDDEA9C}"/>
              </a:ext>
            </a:extLst>
          </p:cNvPr>
          <p:cNvSpPr txBox="1"/>
          <p:nvPr/>
        </p:nvSpPr>
        <p:spPr>
          <a:xfrm>
            <a:off x="4267200" y="1600200"/>
            <a:ext cx="685800" cy="369332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B2644A-0BE2-489F-94E8-6F2591AFC7B7}"/>
              </a:ext>
            </a:extLst>
          </p:cNvPr>
          <p:cNvSpPr txBox="1"/>
          <p:nvPr/>
        </p:nvSpPr>
        <p:spPr>
          <a:xfrm>
            <a:off x="4191000" y="1969532"/>
            <a:ext cx="838200" cy="697468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83EAC8-85E0-4F5D-8ACB-E369F0C8778C}"/>
              </a:ext>
            </a:extLst>
          </p:cNvPr>
          <p:cNvSpPr txBox="1"/>
          <p:nvPr/>
        </p:nvSpPr>
        <p:spPr>
          <a:xfrm>
            <a:off x="1219200" y="2057400"/>
            <a:ext cx="990600" cy="5217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Coronary Venous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86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Coronary Sinus – Main blood return to right atrium; all veins empty into it (except smallest cardiac veins that empty directly into atria)</a:t>
            </a:r>
          </a:p>
          <a:p>
            <a:pPr indent="0">
              <a:buFont typeface="Wingdings" pitchFamily="2" charset="2"/>
              <a:buChar char="Ø"/>
            </a:pPr>
            <a:r>
              <a:rPr lang="en-US" sz="2800" dirty="0"/>
              <a:t>Great cardiac vein – main contributor</a:t>
            </a:r>
          </a:p>
          <a:p>
            <a:pPr lvl="1" indent="0">
              <a:buFont typeface="Wingdings" pitchFamily="2" charset="2"/>
              <a:buChar char="Ø"/>
            </a:pPr>
            <a:r>
              <a:rPr lang="en-US" sz="2000" dirty="0"/>
              <a:t>IV vein – 1</a:t>
            </a:r>
            <a:r>
              <a:rPr lang="en-US" sz="2000" baseline="30000" dirty="0"/>
              <a:t>st</a:t>
            </a:r>
            <a:r>
              <a:rPr lang="en-US" sz="2000" dirty="0"/>
              <a:t> part, begins near the apex of heart and returns blood from area supplied by LCA</a:t>
            </a:r>
          </a:p>
          <a:p>
            <a:pPr indent="0">
              <a:buFont typeface="Wingdings" pitchFamily="2" charset="2"/>
              <a:buChar char="Ø"/>
            </a:pPr>
            <a:r>
              <a:rPr lang="en-US" sz="2800" dirty="0"/>
              <a:t>Middle cardiac vein (aka posterior IV) – returns blood from area supplied by RCA</a:t>
            </a:r>
          </a:p>
          <a:p>
            <a:pPr indent="0">
              <a:buFont typeface="Wingdings" pitchFamily="2" charset="2"/>
              <a:buChar char="Ø"/>
            </a:pPr>
            <a:r>
              <a:rPr lang="en-US" sz="2800" dirty="0"/>
              <a:t>Small cardiac vein – travels from the area supplied by the right marginal artery of the RCA</a:t>
            </a:r>
          </a:p>
          <a:p>
            <a:pPr indent="0">
              <a:buFont typeface="Wingdings" pitchFamily="2" charset="2"/>
              <a:buChar char="Ø"/>
            </a:pPr>
            <a:r>
              <a:rPr lang="en-US" sz="2800" dirty="0"/>
              <a:t>Posterior vein of LV – drains LV into Coronary sinus</a:t>
            </a:r>
          </a:p>
          <a:p>
            <a:pPr indent="0">
              <a:buFont typeface="Wingdings" pitchFamily="2" charset="2"/>
              <a:buChar char="Ø"/>
            </a:pPr>
            <a:r>
              <a:rPr lang="en-US" sz="2800" dirty="0"/>
              <a:t>Some smaller anterior cardiac veins either empty directly in to RA or connect to small cardiac vein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Venous system of heart</a:t>
            </a:r>
          </a:p>
        </p:txBody>
      </p:sp>
      <p:pic>
        <p:nvPicPr>
          <p:cNvPr id="4" name="Content Placeholder 3" descr="D:\PPT_ImageInsertion\input\Chapter_1\jpg\Figure 1.061.jpg"/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228600" y="1981200"/>
            <a:ext cx="8686800" cy="353618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r>
              <a:rPr lang="en-US" dirty="0"/>
              <a:t>Electrical Conducting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Sinoatrial (SA) node </a:t>
            </a:r>
          </a:p>
          <a:p>
            <a:pPr lvl="1"/>
            <a:r>
              <a:rPr lang="en-US" dirty="0"/>
              <a:t>The pacemaker of heart</a:t>
            </a:r>
          </a:p>
          <a:p>
            <a:pPr lvl="1"/>
            <a:r>
              <a:rPr lang="en-US" dirty="0"/>
              <a:t>Initiates and regulates the impulses for contractions </a:t>
            </a:r>
          </a:p>
          <a:p>
            <a:pPr lvl="1"/>
            <a:r>
              <a:rPr lang="en-US" dirty="0"/>
              <a:t>Located anterolaterally just deep to the epicardium at the junction of the SVC &amp; Rt. Atrium</a:t>
            </a:r>
          </a:p>
          <a:p>
            <a:pPr lvl="1"/>
            <a:r>
              <a:rPr lang="en-US" dirty="0"/>
              <a:t>Stimulated by sympathetic autonomic nervous system (ANS) &amp; inhibited by the parasympathetic ANS</a:t>
            </a:r>
          </a:p>
          <a:p>
            <a:r>
              <a:rPr lang="en-US" dirty="0"/>
              <a:t>Atrioventricular (AV) node </a:t>
            </a:r>
          </a:p>
          <a:p>
            <a:pPr lvl="1"/>
            <a:r>
              <a:rPr lang="en-US" dirty="0"/>
              <a:t>Smaller than SA node</a:t>
            </a:r>
          </a:p>
          <a:p>
            <a:pPr lvl="1"/>
            <a:r>
              <a:rPr lang="en-US" dirty="0"/>
              <a:t>Located in posteroinferior region of interatrial septum near opening of coronary sinus</a:t>
            </a:r>
          </a:p>
          <a:p>
            <a:pPr lvl="1"/>
            <a:r>
              <a:rPr lang="en-US" dirty="0"/>
              <a:t>The signal generated by the SA node passes through the walls of the right atrium to the AV node </a:t>
            </a:r>
          </a:p>
          <a:p>
            <a:pPr lvl="1"/>
            <a:r>
              <a:rPr lang="en-US" dirty="0"/>
              <a:t>Which then distribute the signal to the ventricles through the AV Bundle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81B44-E77A-40EF-81D1-467F760CA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Electrical Conducting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7C9EC-EFC3-4E18-9039-8C82E7076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AV Bundle (Bundle of His)</a:t>
            </a:r>
          </a:p>
          <a:p>
            <a:pPr lvl="1"/>
            <a:r>
              <a:rPr lang="en-US" dirty="0"/>
              <a:t>Only electrical connection between atria and ventricles</a:t>
            </a:r>
          </a:p>
          <a:p>
            <a:pPr lvl="1"/>
            <a:r>
              <a:rPr lang="en-US" dirty="0"/>
              <a:t>Passes through fibrous skeleton of heart and along the membranous part of IVS</a:t>
            </a:r>
          </a:p>
          <a:p>
            <a:pPr lvl="1"/>
            <a:r>
              <a:rPr lang="en-US" dirty="0"/>
              <a:t> At the junction of the membranous and muscular parts of IVS, the AV bundle divides into the right and left bundles</a:t>
            </a:r>
          </a:p>
          <a:p>
            <a:r>
              <a:rPr lang="en-US" dirty="0"/>
              <a:t>Right &amp; left bundle branches</a:t>
            </a:r>
          </a:p>
          <a:p>
            <a:pPr lvl="1"/>
            <a:r>
              <a:rPr lang="en-US" dirty="0"/>
              <a:t>Right branch supplies right ventricle, left branch supplies left ventricle</a:t>
            </a:r>
          </a:p>
          <a:p>
            <a:pPr lvl="1"/>
            <a:r>
              <a:rPr lang="en-US" dirty="0"/>
              <a:t>These branches proceed on each side of muscular IVS and then become the Purkinje fibers </a:t>
            </a:r>
          </a:p>
          <a:p>
            <a:r>
              <a:rPr lang="en-US" dirty="0"/>
              <a:t>Subendocardial branches (Purkinje fibers) </a:t>
            </a:r>
          </a:p>
          <a:p>
            <a:pPr lvl="1"/>
            <a:r>
              <a:rPr lang="en-US" dirty="0"/>
              <a:t>Extend into the walls of each respective ventricle and stimulate the muscles along with the IVS.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3801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Electrical Conducting System</a:t>
            </a:r>
          </a:p>
        </p:txBody>
      </p:sp>
      <p:pic>
        <p:nvPicPr>
          <p:cNvPr id="4" name="Content Placeholder 3" descr="D:\PPT_ImageInsertion\input\Chapter_1\jpg\Figure 1.062.jpg"/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457200" y="1986624"/>
            <a:ext cx="8229600" cy="375311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dirty="0"/>
              <a:t>Major Vessels </a:t>
            </a:r>
            <a:r>
              <a:rPr lang="en-US" sz="4000" dirty="0"/>
              <a:t>of</a:t>
            </a:r>
            <a:r>
              <a:rPr lang="en-US" dirty="0"/>
              <a:t> Body Circulation</a:t>
            </a:r>
            <a:br>
              <a:rPr lang="en-US" sz="1800" dirty="0"/>
            </a:br>
            <a:r>
              <a:rPr lang="en-US" sz="1800" dirty="0"/>
              <a:t>(Thorax)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7150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All arteries &amp; veins have 3 layers </a:t>
            </a:r>
          </a:p>
          <a:p>
            <a:pPr lvl="1"/>
            <a:r>
              <a:rPr lang="en-US" dirty="0"/>
              <a:t>Tunica intima (inner layer of endothelium)</a:t>
            </a:r>
          </a:p>
          <a:p>
            <a:pPr lvl="1"/>
            <a:r>
              <a:rPr lang="en-US" dirty="0"/>
              <a:t>Tunica media (middle layer of smooth muscle)</a:t>
            </a:r>
          </a:p>
          <a:p>
            <a:pPr lvl="1"/>
            <a:r>
              <a:rPr lang="en-US" dirty="0"/>
              <a:t>Tunica Adventitia (outer layer of connective tissue) 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Aortic root (Ascending aorta)</a:t>
            </a:r>
          </a:p>
          <a:p>
            <a:pPr lvl="1"/>
            <a:r>
              <a:rPr lang="en-US" dirty="0"/>
              <a:t> Coronary arteries first vessels off aorta</a:t>
            </a:r>
          </a:p>
          <a:p>
            <a:r>
              <a:rPr lang="en-US" dirty="0"/>
              <a:t>Aortic arch</a:t>
            </a:r>
          </a:p>
          <a:p>
            <a:pPr indent="0">
              <a:buFont typeface="Wingdings" pitchFamily="2" charset="2"/>
              <a:buChar char="Ø"/>
            </a:pPr>
            <a:r>
              <a:rPr lang="en-US" sz="2800" dirty="0"/>
              <a:t>Brachiocephalic trunk</a:t>
            </a:r>
          </a:p>
          <a:p>
            <a:pPr marL="685800" indent="0">
              <a:buFont typeface="Wingdings" pitchFamily="2" charset="2"/>
              <a:buChar char="§"/>
            </a:pPr>
            <a:r>
              <a:rPr lang="en-US" sz="2400" dirty="0"/>
              <a:t> Right subclavian</a:t>
            </a:r>
          </a:p>
          <a:p>
            <a:pPr marL="685800" indent="0">
              <a:buFont typeface="Wingdings" pitchFamily="2" charset="2"/>
              <a:buChar char="§"/>
            </a:pPr>
            <a:r>
              <a:rPr lang="en-US" sz="2400" dirty="0"/>
              <a:t> Right Common Carotid</a:t>
            </a:r>
          </a:p>
          <a:p>
            <a:pPr indent="0">
              <a:buFont typeface="Wingdings" pitchFamily="2" charset="2"/>
              <a:buChar char="Ø"/>
            </a:pPr>
            <a:r>
              <a:rPr lang="en-US" sz="2800" dirty="0"/>
              <a:t> Left Common Carotid</a:t>
            </a:r>
          </a:p>
          <a:p>
            <a:pPr indent="0">
              <a:buFont typeface="Wingdings" pitchFamily="2" charset="2"/>
              <a:buChar char="Ø"/>
            </a:pPr>
            <a:r>
              <a:rPr lang="en-US" sz="2800" dirty="0"/>
              <a:t> Left Subclavian</a:t>
            </a:r>
            <a:endParaRPr lang="en-US" sz="2400" dirty="0"/>
          </a:p>
          <a:p>
            <a:pPr marL="0" indent="0"/>
            <a:r>
              <a:rPr lang="en-US" dirty="0"/>
              <a:t> Thoracic (Descending) Aorta</a:t>
            </a:r>
          </a:p>
          <a:p>
            <a:pPr marL="685800" indent="0">
              <a:buFont typeface="Wingdings" pitchFamily="2" charset="2"/>
              <a:buChar char="§"/>
            </a:pPr>
            <a:r>
              <a:rPr lang="en-US" sz="2400" dirty="0"/>
              <a:t> Posterior Intercostals, subcostals, phrenic, and visceral branches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8D38-2F49-4C4B-A63B-728FBC28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/>
              <a:t>Major Vessels of Body Circulation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47B59-5FFF-4F16-A415-BBADC4C69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410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Arch of the aorta</a:t>
            </a:r>
          </a:p>
          <a:p>
            <a:pPr lvl="1"/>
            <a:r>
              <a:rPr lang="en-US" sz="2200" dirty="0"/>
              <a:t>Begins posterior to the 2</a:t>
            </a:r>
            <a:r>
              <a:rPr lang="en-US" sz="2200" baseline="30000" dirty="0"/>
              <a:t>nd</a:t>
            </a:r>
            <a:r>
              <a:rPr lang="en-US" sz="2200" dirty="0"/>
              <a:t> right sternocostal joint at level of sternal angle</a:t>
            </a:r>
          </a:p>
          <a:p>
            <a:pPr lvl="1"/>
            <a:r>
              <a:rPr lang="en-US" dirty="0"/>
              <a:t>3 main branches</a:t>
            </a:r>
          </a:p>
          <a:p>
            <a:pPr lvl="2"/>
            <a:r>
              <a:rPr lang="en-US" dirty="0"/>
              <a:t>Brachiocephalic truck</a:t>
            </a:r>
          </a:p>
          <a:p>
            <a:pPr lvl="3"/>
            <a:r>
              <a:rPr lang="en-US" dirty="0"/>
              <a:t>First and largest branch, posterior to manubrium, anterior to trachea and posterior to left brachiocephalic vein</a:t>
            </a:r>
          </a:p>
          <a:p>
            <a:pPr lvl="2"/>
            <a:r>
              <a:rPr lang="en-US" dirty="0"/>
              <a:t>Left common carotid</a:t>
            </a:r>
          </a:p>
          <a:p>
            <a:pPr lvl="3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branch, posterior to manubrium, slightly posterior and to left of the brachiocephalic trunk, anterior to trachea and enters neck passing posterior to left SC joint</a:t>
            </a:r>
          </a:p>
          <a:p>
            <a:pPr lvl="2"/>
            <a:r>
              <a:rPr lang="en-US" dirty="0"/>
              <a:t>Left subclavian artery</a:t>
            </a:r>
          </a:p>
          <a:p>
            <a:pPr lvl="3"/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branch, posterior part of arch and just posterior to left common carotid; ascends lateral to trachea and as it leaves thorax and enters the neck it passes posterior to the SC joint </a:t>
            </a:r>
          </a:p>
        </p:txBody>
      </p:sp>
    </p:spTree>
    <p:extLst>
      <p:ext uri="{BB962C8B-B14F-4D97-AF65-F5344CB8AC3E}">
        <p14:creationId xmlns:p14="http://schemas.microsoft.com/office/powerpoint/2010/main" val="6229673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A368F-31E4-47A8-B4D9-852F81A8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Vessels of Body Circulation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3E7E4-4086-4724-9099-FCEB81FA4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Thoracic (descending) aorta</a:t>
            </a:r>
          </a:p>
          <a:p>
            <a:pPr lvl="1"/>
            <a:r>
              <a:rPr lang="en-US" dirty="0"/>
              <a:t>Esophageal and pericardial branches anteriorly</a:t>
            </a:r>
          </a:p>
          <a:p>
            <a:pPr lvl="1"/>
            <a:r>
              <a:rPr lang="en-US" dirty="0"/>
              <a:t>Bronchial arterials laterally</a:t>
            </a:r>
          </a:p>
          <a:p>
            <a:pPr lvl="1"/>
            <a:r>
              <a:rPr lang="en-US" dirty="0"/>
              <a:t>Posterior intercostal and subcostal arteries arise </a:t>
            </a:r>
            <a:r>
              <a:rPr lang="en-US" dirty="0" err="1"/>
              <a:t>posterolaterally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9689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:\PPT_ImageInsertion\input\Chapter_1\jpg\Figure 1.067.jpg"/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413237" y="1524000"/>
            <a:ext cx="4178081" cy="45259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5" name="Picture 3" descr="D:\PPT_ImageInsertion\input\Chapter_1\jpg\Figure 1.072.jpg"/>
          <p:cNvPicPr>
            <a:picLocks noChangeAspect="1" noChangeArrowheads="1"/>
          </p:cNvPicPr>
          <p:nvPr/>
        </p:nvPicPr>
        <p:blipFill>
          <a:blip r:embed="rId4" r:link="rId5" cstate="print"/>
          <a:srcRect/>
          <a:stretch>
            <a:fillRect/>
          </a:stretch>
        </p:blipFill>
        <p:spPr bwMode="auto">
          <a:xfrm>
            <a:off x="5181600" y="268848"/>
            <a:ext cx="3429000" cy="63203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 fontScale="90000"/>
          </a:bodyPr>
          <a:lstStyle/>
          <a:p>
            <a:r>
              <a:rPr lang="en-US" dirty="0"/>
              <a:t>Major Vessels </a:t>
            </a:r>
            <a:r>
              <a:rPr lang="en-US" sz="4000" dirty="0"/>
              <a:t>of</a:t>
            </a:r>
            <a:r>
              <a:rPr lang="en-US" dirty="0"/>
              <a:t> Body Circulation</a:t>
            </a:r>
            <a:br>
              <a:rPr lang="en-US" sz="18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229600" cy="5638800"/>
          </a:xfrm>
        </p:spPr>
        <p:txBody>
          <a:bodyPr>
            <a:normAutofit fontScale="92500"/>
          </a:bodyPr>
          <a:lstStyle/>
          <a:p>
            <a:r>
              <a:rPr lang="en-US" sz="3000" dirty="0"/>
              <a:t>Vessels of the wall of the abdomen</a:t>
            </a:r>
          </a:p>
          <a:p>
            <a:pPr lvl="1"/>
            <a:r>
              <a:rPr lang="en-US" sz="2600" b="1" dirty="0"/>
              <a:t>Superior epigastric artery- </a:t>
            </a:r>
            <a:r>
              <a:rPr lang="en-US" sz="2600" dirty="0"/>
              <a:t>from internal thoracic artery</a:t>
            </a:r>
          </a:p>
          <a:p>
            <a:pPr lvl="2"/>
            <a:r>
              <a:rPr lang="en-US" sz="2200" dirty="0"/>
              <a:t>Enters the rectus sheath posteriorly </a:t>
            </a:r>
          </a:p>
          <a:p>
            <a:pPr lvl="2"/>
            <a:r>
              <a:rPr lang="en-US" sz="2200" dirty="0"/>
              <a:t>Supplies part of the rectus abdominis and anastomoses with inferior epigastric a.</a:t>
            </a:r>
          </a:p>
          <a:p>
            <a:pPr lvl="1"/>
            <a:r>
              <a:rPr lang="en-US" sz="2600" b="1" dirty="0"/>
              <a:t>Musculophrenic</a:t>
            </a:r>
            <a:r>
              <a:rPr lang="en-US" sz="2600" dirty="0"/>
              <a:t>- from internal thoracic artery</a:t>
            </a:r>
          </a:p>
          <a:p>
            <a:pPr lvl="2"/>
            <a:r>
              <a:rPr lang="en-US" sz="2200" dirty="0"/>
              <a:t>Descends along costal margin</a:t>
            </a:r>
          </a:p>
          <a:p>
            <a:pPr lvl="2"/>
            <a:r>
              <a:rPr lang="en-US" sz="2200" dirty="0"/>
              <a:t>Supplies superficial and deep abdominal wall </a:t>
            </a:r>
          </a:p>
          <a:p>
            <a:pPr lvl="1"/>
            <a:r>
              <a:rPr lang="en-US" sz="2600" b="1" dirty="0"/>
              <a:t>Posterior intercostal arteries (10</a:t>
            </a:r>
            <a:r>
              <a:rPr lang="en-US" sz="2600" b="1" baseline="30000" dirty="0"/>
              <a:t>th</a:t>
            </a:r>
            <a:r>
              <a:rPr lang="en-US" sz="2600" b="1" dirty="0"/>
              <a:t> and 11</a:t>
            </a:r>
            <a:r>
              <a:rPr lang="en-US" sz="2600" b="1" baseline="30000" dirty="0"/>
              <a:t>th</a:t>
            </a:r>
            <a:r>
              <a:rPr lang="en-US" sz="2600" b="1" dirty="0"/>
              <a:t> ribs)- </a:t>
            </a:r>
            <a:r>
              <a:rPr lang="en-US" sz="2600" dirty="0"/>
              <a:t>aorta</a:t>
            </a:r>
          </a:p>
          <a:p>
            <a:pPr lvl="2"/>
            <a:r>
              <a:rPr lang="en-US" sz="1800" dirty="0"/>
              <a:t>Continue beyond ribs to descend in abdominal wall between internal obliques and transverse abdominis muscles</a:t>
            </a:r>
          </a:p>
          <a:p>
            <a:pPr marL="914400" lvl="2" indent="0">
              <a:buNone/>
            </a:pPr>
            <a:endParaRPr lang="en-US" sz="1800" dirty="0"/>
          </a:p>
          <a:p>
            <a:pPr lvl="1"/>
            <a:r>
              <a:rPr lang="en-US" sz="2600" dirty="0"/>
              <a:t>Inferior epigastric artery, deep and superficial circumflex iliac, and external iliac- below aorta</a:t>
            </a:r>
          </a:p>
          <a:p>
            <a:pPr indent="0">
              <a:buFont typeface="Wingdings" pitchFamily="2" charset="2"/>
              <a:buChar char="Ø"/>
            </a:pPr>
            <a:endParaRPr lang="en-US" sz="2800" dirty="0"/>
          </a:p>
          <a:p>
            <a:pPr marL="685800" indent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202B26-9429-7607-54A2-A9517DD09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7619" y="1066498"/>
            <a:ext cx="5883781" cy="493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771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Major Vessels </a:t>
            </a:r>
            <a:r>
              <a:rPr lang="en-US" sz="4000" dirty="0"/>
              <a:t>of</a:t>
            </a:r>
            <a:r>
              <a:rPr lang="en-US" dirty="0"/>
              <a:t> Body Circulation</a:t>
            </a:r>
            <a:br>
              <a:rPr lang="en-US" sz="18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en-US" b="1" dirty="0"/>
              <a:t>Abdominal (Descending) aorta</a:t>
            </a:r>
          </a:p>
          <a:p>
            <a:pPr indent="0">
              <a:buFont typeface="Wingdings" pitchFamily="2" charset="2"/>
              <a:buChar char="Ø"/>
            </a:pPr>
            <a:r>
              <a:rPr lang="en-US" sz="2800" dirty="0"/>
              <a:t> Vessels of the Viscera</a:t>
            </a:r>
          </a:p>
          <a:p>
            <a:pPr marL="685800" indent="0">
              <a:buFont typeface="Wingdings" pitchFamily="2" charset="2"/>
              <a:buChar char="§"/>
            </a:pPr>
            <a:r>
              <a:rPr lang="en-US" sz="2400" dirty="0"/>
              <a:t> Celiac trunk (off aorta)</a:t>
            </a:r>
          </a:p>
          <a:p>
            <a:pPr marL="914400" indent="0">
              <a:buFont typeface="Wingdings" pitchFamily="2" charset="2"/>
              <a:buChar char="ü"/>
            </a:pPr>
            <a:r>
              <a:rPr lang="en-US" sz="2000" dirty="0"/>
              <a:t> Left gastric</a:t>
            </a:r>
          </a:p>
          <a:p>
            <a:pPr marL="914400" indent="0">
              <a:buFont typeface="Wingdings" pitchFamily="2" charset="2"/>
              <a:buChar char="ü"/>
            </a:pPr>
            <a:r>
              <a:rPr lang="en-US" sz="2000" dirty="0"/>
              <a:t> Splenic artery</a:t>
            </a:r>
          </a:p>
          <a:p>
            <a:pPr marL="914400" indent="0">
              <a:buFont typeface="Wingdings" pitchFamily="2" charset="2"/>
              <a:buChar char="ü"/>
            </a:pPr>
            <a:r>
              <a:rPr lang="en-US" sz="2000" dirty="0"/>
              <a:t>Hepatic (common) divides into right and left proper hepatics</a:t>
            </a:r>
            <a:endParaRPr lang="en-US" sz="1800" dirty="0"/>
          </a:p>
          <a:p>
            <a:pPr marL="685800" indent="0">
              <a:buFont typeface="Wingdings" pitchFamily="2" charset="2"/>
              <a:buChar char="§"/>
            </a:pPr>
            <a:r>
              <a:rPr lang="en-US" sz="2400" dirty="0"/>
              <a:t> Superior Mesenteric</a:t>
            </a:r>
          </a:p>
          <a:p>
            <a:pPr marL="685800" indent="0">
              <a:buFont typeface="Wingdings" pitchFamily="2" charset="2"/>
              <a:buChar char="§"/>
            </a:pPr>
            <a:r>
              <a:rPr lang="en-US" sz="2400" dirty="0"/>
              <a:t> Renals &amp; Suprarenals (Kidneys &amp; Adrenals)</a:t>
            </a:r>
          </a:p>
          <a:p>
            <a:pPr marL="685800" indent="0">
              <a:buFont typeface="Wingdings" pitchFamily="2" charset="2"/>
              <a:buChar char="§"/>
            </a:pPr>
            <a:r>
              <a:rPr lang="en-US" sz="2400" dirty="0"/>
              <a:t> Right and Left Testiculars (Ovarians) </a:t>
            </a:r>
          </a:p>
          <a:p>
            <a:pPr marL="685800" indent="0">
              <a:buFont typeface="Wingdings" pitchFamily="2" charset="2"/>
              <a:buChar char="§"/>
            </a:pPr>
            <a:r>
              <a:rPr lang="en-US" sz="2400" dirty="0"/>
              <a:t>Inferior Mesenteric</a:t>
            </a:r>
          </a:p>
          <a:p>
            <a:pPr indent="0">
              <a:buFont typeface="Wingdings" pitchFamily="2" charset="2"/>
              <a:buChar char="Ø"/>
            </a:pPr>
            <a:r>
              <a:rPr lang="en-US" sz="2800" dirty="0"/>
              <a:t> Common iliacs</a:t>
            </a:r>
            <a:endParaRPr lang="en-US" sz="3000" dirty="0"/>
          </a:p>
          <a:p>
            <a:pPr marL="914400" indent="0">
              <a:buFont typeface="Wingdings" pitchFamily="2" charset="2"/>
              <a:buChar char="ü"/>
            </a:pPr>
            <a:endParaRPr lang="en-US" sz="2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r>
              <a:rPr lang="en-US" dirty="0"/>
              <a:t>Abdominal Arteries</a:t>
            </a:r>
          </a:p>
        </p:txBody>
      </p:sp>
      <p:pic>
        <p:nvPicPr>
          <p:cNvPr id="4" name="Picture 4" descr="D:\Projects\FRC\Moore\Project_SRC\PPT-With_Images_New_standard\Splitted\Chapter02\jpg\F011181-002-032a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1" y="609600"/>
            <a:ext cx="7465542" cy="620268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1"/>
          </a:xfrm>
        </p:spPr>
        <p:txBody>
          <a:bodyPr>
            <a:normAutofit fontScale="90000"/>
          </a:bodyPr>
          <a:lstStyle/>
          <a:p>
            <a:r>
              <a:rPr lang="en-US" dirty="0"/>
              <a:t>Abdominal Arteries </a:t>
            </a:r>
            <a:r>
              <a:rPr lang="en-US" sz="1800" dirty="0"/>
              <a:t>(cont)</a:t>
            </a:r>
            <a:endParaRPr lang="en-US" dirty="0"/>
          </a:p>
        </p:txBody>
      </p:sp>
      <p:pic>
        <p:nvPicPr>
          <p:cNvPr id="4" name="Content Placeholder 3" descr="D:\PPT_ImageInsertion\input\Chapter_2\jpg\Figure 2.083.jpg"/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2194380" y="1600200"/>
            <a:ext cx="4755239" cy="45259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209800" y="2743200"/>
            <a:ext cx="533400" cy="3048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09800" y="2362200"/>
            <a:ext cx="838200" cy="228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953000" y="2057400"/>
            <a:ext cx="1447800" cy="152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38800" y="3581400"/>
            <a:ext cx="1219200" cy="152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57800" y="4724400"/>
            <a:ext cx="1066800" cy="152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133600" y="5410200"/>
            <a:ext cx="838200" cy="228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257800" y="5410200"/>
            <a:ext cx="1752600" cy="228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33600" y="5638800"/>
            <a:ext cx="1143000" cy="228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2133600" y="2286000"/>
            <a:ext cx="6096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257800" y="5257800"/>
            <a:ext cx="10668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57800" y="5791200"/>
            <a:ext cx="10668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57800" y="6019800"/>
            <a:ext cx="6858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133600" y="1752600"/>
            <a:ext cx="762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676900" y="3886200"/>
            <a:ext cx="1181100" cy="152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Venous Return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/>
          <a:lstStyle/>
          <a:p>
            <a:r>
              <a:rPr lang="en-US" dirty="0"/>
              <a:t>Superior Vena Cava (SVC)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 Right Brachiocephalic Vein</a:t>
            </a:r>
          </a:p>
          <a:p>
            <a:pPr lvl="2">
              <a:buFont typeface="Courier New" pitchFamily="49" charset="0"/>
              <a:buChar char="o"/>
            </a:pPr>
            <a:r>
              <a:rPr lang="en-US" sz="2000" dirty="0"/>
              <a:t>Right subclavian  vein (from right upper extremity)</a:t>
            </a:r>
          </a:p>
          <a:p>
            <a:pPr lvl="2">
              <a:buFont typeface="Courier New" pitchFamily="49" charset="0"/>
              <a:buChar char="o"/>
            </a:pPr>
            <a:r>
              <a:rPr lang="en-US" sz="2000" dirty="0"/>
              <a:t>Right Jugular vein (from right head &amp; neck)</a:t>
            </a:r>
          </a:p>
          <a:p>
            <a:pPr marL="919163" lvl="2" indent="-457200">
              <a:buFont typeface="Wingdings" pitchFamily="2" charset="2"/>
              <a:buChar char="q"/>
            </a:pPr>
            <a:r>
              <a:rPr lang="en-US" sz="2800" dirty="0"/>
              <a:t>Left Brachiocephalic Vein</a:t>
            </a:r>
          </a:p>
          <a:p>
            <a:pPr lvl="2">
              <a:buFont typeface="Courier New" pitchFamily="49" charset="0"/>
              <a:buChar char="o"/>
            </a:pPr>
            <a:r>
              <a:rPr lang="en-US" sz="2000" dirty="0"/>
              <a:t>Left subclavian vein (from left upper extremity)</a:t>
            </a:r>
          </a:p>
          <a:p>
            <a:pPr lvl="2">
              <a:buFont typeface="Courier New" pitchFamily="49" charset="0"/>
              <a:buChar char="o"/>
            </a:pPr>
            <a:r>
              <a:rPr lang="en-US" sz="2000" dirty="0"/>
              <a:t>Left Jugular vein (from left head &amp; neck)</a:t>
            </a:r>
          </a:p>
          <a:p>
            <a:pPr lvl="2">
              <a:buFont typeface="Courier New" pitchFamily="49" charset="0"/>
              <a:buChar char="o"/>
            </a:pPr>
            <a:endParaRPr lang="en-US" sz="2000" dirty="0"/>
          </a:p>
          <a:p>
            <a:pPr lvl="2"/>
            <a:r>
              <a:rPr lang="en-US" dirty="0"/>
              <a:t>Brachiocephalic veins shunt blood from the head, neck, and upper limbs to the right atrium</a:t>
            </a:r>
          </a:p>
          <a:p>
            <a:pPr marL="457200" lvl="1" indent="0">
              <a:buNone/>
            </a:pPr>
            <a:endParaRPr lang="en-US" sz="2400" dirty="0"/>
          </a:p>
          <a:p>
            <a:pPr lvl="1">
              <a:buFont typeface="Courier New" pitchFamily="49" charset="0"/>
              <a:buChar char="o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623173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3EFE1-1653-47AE-88CD-E2EF3E46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Venous Return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DC650-B502-435D-BD25-A18EC1F33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SVC</a:t>
            </a:r>
          </a:p>
          <a:p>
            <a:pPr lvl="1"/>
            <a:r>
              <a:rPr lang="en-US" dirty="0"/>
              <a:t>Returns blood from all structures superior to the diaphragm except lungs and heart</a:t>
            </a:r>
          </a:p>
          <a:p>
            <a:pPr lvl="1"/>
            <a:r>
              <a:rPr lang="en-US" dirty="0"/>
              <a:t>Passes inferiorly and ends at 3</a:t>
            </a:r>
            <a:r>
              <a:rPr lang="en-US" baseline="30000" dirty="0"/>
              <a:t>rd</a:t>
            </a:r>
            <a:r>
              <a:rPr lang="en-US" dirty="0"/>
              <a:t> costal cartilage and enters right atrium</a:t>
            </a:r>
          </a:p>
          <a:p>
            <a:pPr lvl="1"/>
            <a:r>
              <a:rPr lang="en-US" dirty="0"/>
              <a:t>Lies to the right of superior mediastinum, anterolateral to trachea, and posterolateral to ascending aorta</a:t>
            </a:r>
          </a:p>
        </p:txBody>
      </p:sp>
    </p:spTree>
    <p:extLst>
      <p:ext uri="{BB962C8B-B14F-4D97-AF65-F5344CB8AC3E}">
        <p14:creationId xmlns:p14="http://schemas.microsoft.com/office/powerpoint/2010/main" val="15766522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SVC venous return</a:t>
            </a:r>
          </a:p>
        </p:txBody>
      </p:sp>
      <p:pic>
        <p:nvPicPr>
          <p:cNvPr id="4" name="Picture 4" descr="D:\Projects\FRC\Moore\Project_SRC\PPT-With_Images_New_standard\PPTs\issues-fixed\jpg\F11181-001-073A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1600200"/>
            <a:ext cx="4980016" cy="4953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Inferior Vena Cava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052535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Branches into:</a:t>
            </a:r>
          </a:p>
          <a:p>
            <a:r>
              <a:rPr lang="en-US" sz="2800" dirty="0"/>
              <a:t>Right Common Iliac vein (from right lower extremity)</a:t>
            </a:r>
          </a:p>
          <a:p>
            <a:r>
              <a:rPr lang="en-US" sz="2800" dirty="0"/>
              <a:t>Left Common Iliac vein (from left lower extremity)</a:t>
            </a:r>
          </a:p>
          <a:p>
            <a:r>
              <a:rPr lang="en-US" sz="2800" dirty="0"/>
              <a:t>Ascending lumbar veins (contiguous with azygos &amp; hemi-azygos veins)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Multiple veins from viscera of abdomen (will be discussed more in the GI module)</a:t>
            </a:r>
          </a:p>
        </p:txBody>
      </p:sp>
    </p:spTree>
    <p:extLst>
      <p:ext uri="{BB962C8B-B14F-4D97-AF65-F5344CB8AC3E}">
        <p14:creationId xmlns:p14="http://schemas.microsoft.com/office/powerpoint/2010/main" val="174826261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Azygos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 each side of the vertebrae</a:t>
            </a:r>
          </a:p>
          <a:p>
            <a:r>
              <a:rPr lang="en-US" dirty="0"/>
              <a:t>Consist of Azygos vein, hemi-azygos vein, and accessory hemi-azygos vein</a:t>
            </a:r>
          </a:p>
          <a:p>
            <a:r>
              <a:rPr lang="en-US" dirty="0"/>
              <a:t>Drains the back and thoracoabdominal walls and mediastinal viscera</a:t>
            </a:r>
          </a:p>
          <a:p>
            <a:r>
              <a:rPr lang="en-US" dirty="0"/>
              <a:t>Large amount of variation</a:t>
            </a:r>
          </a:p>
        </p:txBody>
      </p:sp>
    </p:spTree>
    <p:extLst>
      <p:ext uri="{BB962C8B-B14F-4D97-AF65-F5344CB8AC3E}">
        <p14:creationId xmlns:p14="http://schemas.microsoft.com/office/powerpoint/2010/main" val="20834661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886"/>
            <a:ext cx="8229600" cy="1143000"/>
          </a:xfrm>
        </p:spPr>
        <p:txBody>
          <a:bodyPr/>
          <a:lstStyle/>
          <a:p>
            <a:r>
              <a:rPr lang="en-US" dirty="0"/>
              <a:t>Azygos venous system</a:t>
            </a:r>
          </a:p>
        </p:txBody>
      </p:sp>
      <p:pic>
        <p:nvPicPr>
          <p:cNvPr id="4" name="Content Placeholder 3" descr="D:\PPT_ImageInsertion\input\Chapter_1\jpg\Figure 1.074.jpg"/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914400" y="1005750"/>
            <a:ext cx="7315200" cy="5714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EDFECB-49E6-6B96-AEB4-DDD555BEE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248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u="sng" dirty="0"/>
              <a:t>Arteries of the Lower Extremity</a:t>
            </a:r>
          </a:p>
          <a:p>
            <a:r>
              <a:rPr lang="en-US" dirty="0">
                <a:solidFill>
                  <a:schemeClr val="tx1"/>
                </a:solidFill>
              </a:rPr>
              <a:t>Gluteal region – branches of Internal iliac</a:t>
            </a:r>
          </a:p>
          <a:p>
            <a:r>
              <a:rPr lang="en-US" dirty="0">
                <a:solidFill>
                  <a:schemeClr val="tx1"/>
                </a:solidFill>
              </a:rPr>
              <a:t>Anterior Thigh – branches off Femoral</a:t>
            </a:r>
          </a:p>
          <a:p>
            <a:r>
              <a:rPr lang="en-US" dirty="0">
                <a:solidFill>
                  <a:schemeClr val="tx1"/>
                </a:solidFill>
              </a:rPr>
              <a:t>Posterior Thigh – branches off Internal iliac</a:t>
            </a:r>
          </a:p>
          <a:p>
            <a:r>
              <a:rPr lang="en-US" dirty="0">
                <a:solidFill>
                  <a:schemeClr val="tx1"/>
                </a:solidFill>
              </a:rPr>
              <a:t>Medial Thigh – branches off Femoral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Anterior leg – Anterior Tibial</a:t>
            </a:r>
          </a:p>
          <a:p>
            <a:r>
              <a:rPr lang="en-US" dirty="0">
                <a:solidFill>
                  <a:schemeClr val="tx1"/>
                </a:solidFill>
              </a:rPr>
              <a:t>Lateral leg – Posterior Tibial &amp; Fibular</a:t>
            </a:r>
          </a:p>
          <a:p>
            <a:r>
              <a:rPr lang="en-US" dirty="0">
                <a:solidFill>
                  <a:schemeClr val="tx1"/>
                </a:solidFill>
              </a:rPr>
              <a:t>Posterior leg – Posterior Tibial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Foot – Dorsalis Pedis, medial &amp; lateral plantar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12048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C23C832-0479-4181-AA74-091F80586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03788" cy="868362"/>
          </a:xfrm>
        </p:spPr>
        <p:txBody>
          <a:bodyPr/>
          <a:lstStyle/>
          <a:p>
            <a:r>
              <a:rPr lang="en-US" dirty="0"/>
              <a:t>Arteries of the lower extremity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BACD433-2E32-3B80-C8AE-C1E6D92899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799" y="1413710"/>
            <a:ext cx="7975189" cy="529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0086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BC8A000-18F3-605C-4EEC-543A35851D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066800"/>
            <a:ext cx="7428816" cy="498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84025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90A45-5B26-0952-DDD8-220E7E6DD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Veins of the lower extremity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2B5446A-F8A1-9E01-098B-551D930680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8106" y="1600200"/>
            <a:ext cx="7447787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9396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0D90B-EB3E-4A2E-7B87-B05A48A8C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204" y="129619"/>
            <a:ext cx="8229600" cy="1143000"/>
          </a:xfrm>
        </p:spPr>
        <p:txBody>
          <a:bodyPr/>
          <a:lstStyle/>
          <a:p>
            <a:r>
              <a:rPr lang="en-US" dirty="0"/>
              <a:t>Deep vs superficial veins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51F6F-0BA8-2B63-D0C7-65B632E01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2619"/>
            <a:ext cx="8229600" cy="543298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Superficial veins </a:t>
            </a:r>
          </a:p>
          <a:p>
            <a:pPr lvl="1"/>
            <a:r>
              <a:rPr lang="fr-FR" dirty="0"/>
              <a:t>Great saphenous vein</a:t>
            </a:r>
          </a:p>
          <a:p>
            <a:pPr lvl="1"/>
            <a:r>
              <a:rPr lang="fr-FR" dirty="0"/>
              <a:t>Small saphenous vein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Deep veins of the foot</a:t>
            </a:r>
          </a:p>
          <a:p>
            <a:pPr lvl="1"/>
            <a:r>
              <a:rPr lang="en-US" dirty="0"/>
              <a:t> plantar veins</a:t>
            </a:r>
          </a:p>
          <a:p>
            <a:pPr lvl="1"/>
            <a:r>
              <a:rPr lang="en-US" dirty="0"/>
              <a:t>dorsal veins</a:t>
            </a:r>
          </a:p>
          <a:p>
            <a:r>
              <a:rPr lang="en-US" dirty="0"/>
              <a:t>Deep veins of the leg</a:t>
            </a:r>
          </a:p>
          <a:p>
            <a:pPr lvl="1"/>
            <a:r>
              <a:rPr lang="en-US" dirty="0"/>
              <a:t>anterior tibial veins</a:t>
            </a:r>
          </a:p>
          <a:p>
            <a:pPr lvl="1"/>
            <a:r>
              <a:rPr lang="en-US" dirty="0"/>
              <a:t>posterior tibial veins</a:t>
            </a:r>
          </a:p>
          <a:p>
            <a:pPr lvl="1"/>
            <a:r>
              <a:rPr lang="en-US" dirty="0"/>
              <a:t>fibular veins</a:t>
            </a:r>
          </a:p>
          <a:p>
            <a:r>
              <a:rPr lang="en-US" dirty="0"/>
              <a:t>Deep veins of the knee</a:t>
            </a:r>
          </a:p>
          <a:p>
            <a:pPr lvl="1"/>
            <a:r>
              <a:rPr lang="en-US" dirty="0"/>
              <a:t>popliteal vein</a:t>
            </a:r>
          </a:p>
          <a:p>
            <a:r>
              <a:rPr lang="en-US" dirty="0"/>
              <a:t>Deep veins of the thigh</a:t>
            </a:r>
          </a:p>
          <a:p>
            <a:pPr lvl="1"/>
            <a:r>
              <a:rPr lang="en-US" dirty="0"/>
              <a:t>femoral vein and its tributaries</a:t>
            </a:r>
          </a:p>
        </p:txBody>
      </p:sp>
    </p:spTree>
    <p:extLst>
      <p:ext uri="{BB962C8B-B14F-4D97-AF65-F5344CB8AC3E}">
        <p14:creationId xmlns:p14="http://schemas.microsoft.com/office/powerpoint/2010/main" val="20046728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66EB9-6698-E024-F7BF-F5C27F8EE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Arterial supply to the arm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EC0036-AF74-59E8-1E27-08D181A1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All blood supply to the shoulder and arm are supplied from branches off the </a:t>
            </a:r>
            <a:r>
              <a:rPr lang="en-US" i="1" dirty="0"/>
              <a:t>Subclavian, Axillary, or Brachial arteries</a:t>
            </a:r>
          </a:p>
          <a:p>
            <a:r>
              <a:rPr lang="en-US" dirty="0"/>
              <a:t>Subclavian branches – Internal thoracic, Thyrocervical, suprascapular (may branch from thyrocervical)</a:t>
            </a:r>
          </a:p>
          <a:p>
            <a:r>
              <a:rPr lang="en-US" dirty="0"/>
              <a:t>Axillary branches – Superior thoracic, thoraco-acromial, Lateral thoracic, circumflex humeral</a:t>
            </a:r>
          </a:p>
          <a:p>
            <a:r>
              <a:rPr lang="en-US" dirty="0"/>
              <a:t>Brachial – deep brachial, superior ulnar collateral, &amp; inferior ulnar collateral</a:t>
            </a:r>
          </a:p>
        </p:txBody>
      </p:sp>
    </p:spTree>
    <p:extLst>
      <p:ext uri="{BB962C8B-B14F-4D97-AF65-F5344CB8AC3E}">
        <p14:creationId xmlns:p14="http://schemas.microsoft.com/office/powerpoint/2010/main" val="343243378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2B623F9-5D25-7218-17D3-C78AF4B1A6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5800" y="785018"/>
            <a:ext cx="7569485" cy="528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58233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A497856-A6D7-0EE3-F44B-68ECBDB892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48180" y="609600"/>
            <a:ext cx="5386020" cy="579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46104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8E3F-F879-AE3E-855D-E8F78124D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Superficial venous supply to arm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C03EACE-A833-E7B5-4C48-ADF7C49164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16580" y="1600200"/>
            <a:ext cx="331084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73248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8266C-4759-17AE-A5D3-1C5CBF1E6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Superficial vs deep veins of upper extremity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AF008-61FA-CF74-FBCF-77141F8C7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Veins of the arm and axilla 	</a:t>
            </a:r>
          </a:p>
          <a:p>
            <a:pPr lvl="1"/>
            <a:r>
              <a:rPr lang="en-US" dirty="0"/>
              <a:t>Superficial veins: Basilic vein, cephalic vein</a:t>
            </a:r>
          </a:p>
          <a:p>
            <a:pPr lvl="1"/>
            <a:r>
              <a:rPr lang="en-US" dirty="0"/>
              <a:t>Deep veins: Brachial veins, axillary vein, subclavian vein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Veins of the forearm</a:t>
            </a:r>
          </a:p>
          <a:p>
            <a:pPr lvl="1"/>
            <a:r>
              <a:rPr lang="en-US" dirty="0"/>
              <a:t>Superficial veins: Basilic vein, cephalic vein</a:t>
            </a:r>
          </a:p>
          <a:p>
            <a:pPr lvl="1"/>
            <a:r>
              <a:rPr lang="en-US" dirty="0"/>
              <a:t>Deep veins: Anterior and posterior interosseous veins, ulnar veins, radial veins</a:t>
            </a:r>
          </a:p>
          <a:p>
            <a:r>
              <a:rPr lang="en-US" dirty="0"/>
              <a:t>Veins of the hand</a:t>
            </a:r>
          </a:p>
          <a:p>
            <a:pPr lvl="1"/>
            <a:r>
              <a:rPr lang="en-US" dirty="0"/>
              <a:t>Superficial veins: Dorsal digital veins, palmar digital veins, dorsal venous network</a:t>
            </a:r>
          </a:p>
          <a:p>
            <a:pPr lvl="1"/>
            <a:r>
              <a:rPr lang="en-US" dirty="0"/>
              <a:t>Deep veins: Superficial venous palmar arch, deep venous palmar arch, dorsal metacarpal veins, palmar metacarpal veins</a:t>
            </a:r>
          </a:p>
        </p:txBody>
      </p:sp>
    </p:spTree>
    <p:extLst>
      <p:ext uri="{BB962C8B-B14F-4D97-AF65-F5344CB8AC3E}">
        <p14:creationId xmlns:p14="http://schemas.microsoft.com/office/powerpoint/2010/main" val="219034718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7E455-6FAC-548B-0157-2F0F7F14E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quiz!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B7289-5F80-031F-B5C0-553585A2D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05000"/>
            <a:ext cx="8229600" cy="4525963"/>
          </a:xfrm>
        </p:spPr>
        <p:txBody>
          <a:bodyPr/>
          <a:lstStyle/>
          <a:p>
            <a:r>
              <a:rPr lang="en-US" dirty="0"/>
              <a:t>Where is the apex of the heart located?</a:t>
            </a:r>
          </a:p>
          <a:p>
            <a:endParaRPr lang="en-US" dirty="0"/>
          </a:p>
          <a:p>
            <a:r>
              <a:rPr lang="en-US" dirty="0"/>
              <a:t>Which valves close during the 1</a:t>
            </a:r>
            <a:r>
              <a:rPr lang="en-US" baseline="30000" dirty="0"/>
              <a:t>st</a:t>
            </a:r>
            <a:r>
              <a:rPr lang="en-US" dirty="0"/>
              <a:t> heart sound? </a:t>
            </a:r>
          </a:p>
          <a:p>
            <a:endParaRPr lang="en-US" dirty="0"/>
          </a:p>
          <a:p>
            <a:r>
              <a:rPr lang="en-US" dirty="0"/>
              <a:t>What does the right coronary artery (RCA) and branches supply? Think main sections of the heart </a:t>
            </a:r>
          </a:p>
        </p:txBody>
      </p:sp>
    </p:spTree>
    <p:extLst>
      <p:ext uri="{BB962C8B-B14F-4D97-AF65-F5344CB8AC3E}">
        <p14:creationId xmlns:p14="http://schemas.microsoft.com/office/powerpoint/2010/main" val="117298038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B7E0C-6154-7CE3-9C89-81521B420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End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334687-2E3F-2117-2ED5-1D6ABAD0D0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400" y="1600200"/>
            <a:ext cx="4448606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838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0C60B2C77D864AA4EB4714A107E598" ma:contentTypeVersion="10" ma:contentTypeDescription="Create a new document." ma:contentTypeScope="" ma:versionID="8c18fb02c14bd21e9a254fcfc853db65">
  <xsd:schema xmlns:xsd="http://www.w3.org/2001/XMLSchema" xmlns:xs="http://www.w3.org/2001/XMLSchema" xmlns:p="http://schemas.microsoft.com/office/2006/metadata/properties" xmlns:ns3="4f14baff-bad7-40ed-a564-b85440d9c670" targetNamespace="http://schemas.microsoft.com/office/2006/metadata/properties" ma:root="true" ma:fieldsID="989462bb75dea23d33642a5b6ffd2c5c" ns3:_="">
    <xsd:import namespace="4f14baff-bad7-40ed-a564-b85440d9c67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14baff-bad7-40ed-a564-b85440d9c6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20293D-FEB7-4C6D-B408-AC8C2994D3AF}">
  <ds:schemaRefs>
    <ds:schemaRef ds:uri="http://schemas.openxmlformats.org/package/2006/metadata/core-properties"/>
    <ds:schemaRef ds:uri="4f14baff-bad7-40ed-a564-b85440d9c670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5B7A8ED-0AAC-44D9-879E-675B9E9DCA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14baff-bad7-40ed-a564-b85440d9c6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DB0DC1F-E2EE-429F-9C03-83D7D2B3385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37144</TotalTime>
  <Words>3590</Words>
  <Application>Microsoft Office PowerPoint</Application>
  <PresentationFormat>On-screen Show (4:3)</PresentationFormat>
  <Paragraphs>414</Paragraphs>
  <Slides>84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9" baseType="lpstr">
      <vt:lpstr>Arial</vt:lpstr>
      <vt:lpstr>Calibri</vt:lpstr>
      <vt:lpstr>Courier New</vt:lpstr>
      <vt:lpstr>Wingdings</vt:lpstr>
      <vt:lpstr>Office Theme</vt:lpstr>
      <vt:lpstr>Cardiovascular System Anatomy</vt:lpstr>
      <vt:lpstr>The Thoracic Cage</vt:lpstr>
      <vt:lpstr>The Thoracic Cage</vt:lpstr>
      <vt:lpstr> The Sternum </vt:lpstr>
      <vt:lpstr>The Sternum</vt:lpstr>
      <vt:lpstr>The Sternum</vt:lpstr>
      <vt:lpstr>The Sternum</vt:lpstr>
      <vt:lpstr>The Sternum </vt:lpstr>
      <vt:lpstr>Surface lines of the Thorax </vt:lpstr>
      <vt:lpstr>The Thoracic Cavities</vt:lpstr>
      <vt:lpstr>The Thoracic Cavity</vt:lpstr>
      <vt:lpstr>The Mediastinum</vt:lpstr>
      <vt:lpstr>The Mediastinum (cont)</vt:lpstr>
      <vt:lpstr>The Mediastinum </vt:lpstr>
      <vt:lpstr>Superior Mediastinum</vt:lpstr>
      <vt:lpstr>Inferior Mediastinum</vt:lpstr>
      <vt:lpstr>Cardiac Landmarks</vt:lpstr>
      <vt:lpstr>Pericardium</vt:lpstr>
      <vt:lpstr>Pericardium</vt:lpstr>
      <vt:lpstr>Pericardium</vt:lpstr>
      <vt:lpstr>Middle Mediastinum - Pericardium</vt:lpstr>
      <vt:lpstr>Pericardium</vt:lpstr>
      <vt:lpstr>Middle Mediastinum - Pericardium</vt:lpstr>
      <vt:lpstr>The Heart (External surface anatomy)</vt:lpstr>
      <vt:lpstr>The Heart (External surface anatomy - cont)</vt:lpstr>
      <vt:lpstr>The Heart</vt:lpstr>
      <vt:lpstr>The Heart </vt:lpstr>
      <vt:lpstr>The Heart </vt:lpstr>
      <vt:lpstr>The Heart </vt:lpstr>
      <vt:lpstr>The Heart- 4 chambers</vt:lpstr>
      <vt:lpstr>The Heart (cont) (Four Chambers)</vt:lpstr>
      <vt:lpstr>The Heart (cont) (Four Chambers)</vt:lpstr>
      <vt:lpstr>The Heart (cont) Four chambers </vt:lpstr>
      <vt:lpstr>The Heart (cont) Four chambers </vt:lpstr>
      <vt:lpstr>The Heart Blood Flow</vt:lpstr>
      <vt:lpstr>The Heart (cont)</vt:lpstr>
      <vt:lpstr>The Heart (cont)</vt:lpstr>
      <vt:lpstr>The Heart Valves</vt:lpstr>
      <vt:lpstr>The Heart </vt:lpstr>
      <vt:lpstr>Cardiac Internal Fibrous “Skeleton”</vt:lpstr>
      <vt:lpstr>The heart valves  (during cardiac cycle)</vt:lpstr>
      <vt:lpstr>Heart valves and Fibrous Skeleton</vt:lpstr>
      <vt:lpstr>PowerPoint Presentation</vt:lpstr>
      <vt:lpstr>Heart sounds</vt:lpstr>
      <vt:lpstr>Aortic Valve in relationship to  heart sounds</vt:lpstr>
      <vt:lpstr>Pulmonic valve in relationship to  heart sounds</vt:lpstr>
      <vt:lpstr>Tricuspid valve in relationship to  heart sounds</vt:lpstr>
      <vt:lpstr>Mitral valve in relationship to  heart sounds </vt:lpstr>
      <vt:lpstr>Cardiac Circulation</vt:lpstr>
      <vt:lpstr>Cardiac Circulation (cont)</vt:lpstr>
      <vt:lpstr>Cardiac Circulation</vt:lpstr>
      <vt:lpstr>PowerPoint Presentation</vt:lpstr>
      <vt:lpstr>Coronary Venous Return</vt:lpstr>
      <vt:lpstr>Venous system of heart</vt:lpstr>
      <vt:lpstr>Electrical Conducting System</vt:lpstr>
      <vt:lpstr>Electrical Conducting System</vt:lpstr>
      <vt:lpstr>Electrical Conducting System</vt:lpstr>
      <vt:lpstr>Major Vessels of Body Circulation (Thorax)</vt:lpstr>
      <vt:lpstr>Major Vessels of Body Circulation</vt:lpstr>
      <vt:lpstr>Major Vessels of Body Circulation</vt:lpstr>
      <vt:lpstr>PowerPoint Presentation</vt:lpstr>
      <vt:lpstr>Major Vessels of Body Circulation </vt:lpstr>
      <vt:lpstr>PowerPoint Presentation</vt:lpstr>
      <vt:lpstr>Major Vessels of Body Circulation </vt:lpstr>
      <vt:lpstr>Abdominal Arteries</vt:lpstr>
      <vt:lpstr>Abdominal Arteries (cont)</vt:lpstr>
      <vt:lpstr>Venous Return System</vt:lpstr>
      <vt:lpstr>Venous Return System</vt:lpstr>
      <vt:lpstr>SVC venous return</vt:lpstr>
      <vt:lpstr>Inferior Vena Cava</vt:lpstr>
      <vt:lpstr>Azygos System</vt:lpstr>
      <vt:lpstr>Azygos venous system</vt:lpstr>
      <vt:lpstr>PowerPoint Presentation</vt:lpstr>
      <vt:lpstr>Arteries of the lower extremity</vt:lpstr>
      <vt:lpstr>PowerPoint Presentation</vt:lpstr>
      <vt:lpstr>Veins of the lower extremity</vt:lpstr>
      <vt:lpstr>Deep vs superficial veins</vt:lpstr>
      <vt:lpstr>Arterial supply to the arm</vt:lpstr>
      <vt:lpstr>PowerPoint Presentation</vt:lpstr>
      <vt:lpstr>PowerPoint Presentation</vt:lpstr>
      <vt:lpstr>Superficial venous supply to arm</vt:lpstr>
      <vt:lpstr>Superficial vs deep veins of upper extremity</vt:lpstr>
      <vt:lpstr>Quick quiz!</vt:lpstr>
      <vt:lpstr>The End</vt:lpstr>
    </vt:vector>
  </TitlesOfParts>
  <Company>KHN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Thorax – Wall &amp; Cavity for Cardiovascular System</dc:title>
  <dc:creator>exga</dc:creator>
  <cp:lastModifiedBy>Palmer, Caroline</cp:lastModifiedBy>
  <cp:revision>2185</cp:revision>
  <dcterms:created xsi:type="dcterms:W3CDTF">2011-02-23T12:57:10Z</dcterms:created>
  <dcterms:modified xsi:type="dcterms:W3CDTF">2025-09-28T22:31:05Z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0x010100C50C60B2C77D864AA4EB4714A107E598</vt:lpwstr>
  </property>
</Properties>
</file>