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69"/>
  </p:notesMasterIdLst>
  <p:sldIdLst>
    <p:sldId id="256" r:id="rId3"/>
    <p:sldId id="540" r:id="rId4"/>
    <p:sldId id="544" r:id="rId5"/>
    <p:sldId id="257" r:id="rId6"/>
    <p:sldId id="524" r:id="rId7"/>
    <p:sldId id="259" r:id="rId8"/>
    <p:sldId id="261" r:id="rId9"/>
    <p:sldId id="263" r:id="rId10"/>
    <p:sldId id="264" r:id="rId11"/>
    <p:sldId id="533" r:id="rId12"/>
    <p:sldId id="534" r:id="rId13"/>
    <p:sldId id="538" r:id="rId14"/>
    <p:sldId id="268" r:id="rId15"/>
    <p:sldId id="269" r:id="rId16"/>
    <p:sldId id="270" r:id="rId17"/>
    <p:sldId id="545" r:id="rId18"/>
    <p:sldId id="273" r:id="rId19"/>
    <p:sldId id="271" r:id="rId20"/>
    <p:sldId id="272" r:id="rId21"/>
    <p:sldId id="274" r:id="rId22"/>
    <p:sldId id="275" r:id="rId23"/>
    <p:sldId id="368" r:id="rId24"/>
    <p:sldId id="276" r:id="rId25"/>
    <p:sldId id="277" r:id="rId26"/>
    <p:sldId id="537" r:id="rId27"/>
    <p:sldId id="535" r:id="rId28"/>
    <p:sldId id="278" r:id="rId29"/>
    <p:sldId id="541" r:id="rId30"/>
    <p:sldId id="542" r:id="rId31"/>
    <p:sldId id="279" r:id="rId32"/>
    <p:sldId id="539" r:id="rId33"/>
    <p:sldId id="281" r:id="rId34"/>
    <p:sldId id="282" r:id="rId35"/>
    <p:sldId id="283" r:id="rId36"/>
    <p:sldId id="284" r:id="rId37"/>
    <p:sldId id="285" r:id="rId38"/>
    <p:sldId id="265" r:id="rId39"/>
    <p:sldId id="266" r:id="rId40"/>
    <p:sldId id="267" r:id="rId41"/>
    <p:sldId id="286" r:id="rId42"/>
    <p:sldId id="288" r:id="rId43"/>
    <p:sldId id="290" r:id="rId44"/>
    <p:sldId id="543"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516" r:id="rId62"/>
    <p:sldId id="307" r:id="rId63"/>
    <p:sldId id="517" r:id="rId64"/>
    <p:sldId id="308" r:id="rId65"/>
    <p:sldId id="536" r:id="rId66"/>
    <p:sldId id="309" r:id="rId67"/>
    <p:sldId id="518" r:id="rId68"/>
  </p:sldIdLst>
  <p:sldSz cx="12192000" cy="6858000"/>
  <p:notesSz cx="6858000" cy="9144000"/>
  <p:embeddedFontLst>
    <p:embeddedFont>
      <p:font typeface="Constantia" panose="02030602050306030303" pitchFamily="18" charset="0"/>
      <p:regular r:id="rId70"/>
      <p:bold r:id="rId71"/>
      <p:italic r:id="rId72"/>
      <p:boldItalic r:id="rId73"/>
    </p:embeddedFont>
    <p:embeddedFont>
      <p:font typeface="Helvetica Neue" panose="020B0604020202020204" charset="0"/>
      <p:regular r:id="rId74"/>
      <p:bold r:id="rId75"/>
      <p:italic r:id="rId76"/>
      <p:boldItalic r:id="rId77"/>
    </p:embeddedFont>
    <p:embeddedFont>
      <p:font typeface="Merriweather Sans" pitchFamily="2" charset="0"/>
      <p:regular r:id="rId78"/>
      <p:bold r:id="rId79"/>
      <p:italic r:id="rId80"/>
      <p:boldItalic r:id="rId81"/>
    </p:embeddedFont>
    <p:embeddedFont>
      <p:font typeface="Nunito" pitchFamily="2" charset="0"/>
      <p:regular r:id="rId82"/>
      <p:bold r:id="rId83"/>
      <p:italic r:id="rId84"/>
      <p:boldItalic r:id="rId85"/>
    </p:embeddedFont>
    <p:embeddedFont>
      <p:font typeface="Source Sans Pro" panose="020B0503030403020204" pitchFamily="34" charset="0"/>
      <p:regular r:id="rId86"/>
      <p:bold r:id="rId87"/>
      <p:italic r:id="rId88"/>
      <p:boldItalic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1" roundtripDataSignature="AMtx7mhv9okJ2d/14MPsiQ5245EjDuh8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500EC1-2580-4279-ABFF-E99678A4F935}">
  <a:tblStyle styleId="{EC500EC1-2580-4279-ABFF-E99678A4F93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chemeClr val="accent5"/>
          </a:solidFill>
        </a:fill>
      </a:tcStyle>
    </a:wholeTbl>
    <a:band1H>
      <a:tcTxStyle/>
      <a:tcStyle>
        <a:tcBdr/>
        <a:fill>
          <a:solidFill>
            <a:schemeClr val="accent5"/>
          </a:solidFill>
        </a:fill>
      </a:tcStyle>
    </a:band1H>
    <a:band2H>
      <a:tcTxStyle/>
      <a:tcStyle>
        <a:tcBdr/>
      </a:tcStyle>
    </a:band2H>
    <a:band1V>
      <a:tcTxStyle/>
      <a:tcStyle>
        <a:tcBdr/>
        <a:fill>
          <a:solidFill>
            <a:schemeClr val="accent5"/>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9176C877-5902-4F01-AA12-915402B82F07}"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 styleId="{5CA6CF68-EC4B-4158-8A7C-682902D774E9}"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82547C-5184-4841-A74E-8B02F8914B86}" styleName="Table_3">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chemeClr val="accent1"/>
          </a:solidFill>
        </a:fill>
      </a:tcStyle>
    </a:wholeTbl>
    <a:band1H>
      <a:tcTxStyle/>
      <a:tcStyle>
        <a:tcBdr/>
        <a:fill>
          <a:solidFill>
            <a:schemeClr val="accent1"/>
          </a:solidFill>
        </a:fill>
      </a:tcStyle>
    </a:band1H>
    <a:band2H>
      <a:tcTxStyle/>
      <a:tcStyle>
        <a:tcBdr/>
      </a:tcStyle>
    </a:band2H>
    <a:band1V>
      <a:tcTxStyle/>
      <a:tcStyle>
        <a:tcBdr/>
        <a:fill>
          <a:solidFill>
            <a:schemeClr val="accent1"/>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80494" autoAdjust="0"/>
  </p:normalViewPr>
  <p:slideViewPr>
    <p:cSldViewPr snapToGrid="0">
      <p:cViewPr varScale="1">
        <p:scale>
          <a:sx n="77" d="100"/>
          <a:sy n="77" d="100"/>
        </p:scale>
        <p:origin x="749" y="53"/>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81" Type="http://customschemas.google.com/relationships/presentationmetadata" Target="metadata"/><Relationship Id="rId286" Type="http://schemas.microsoft.com/office/2016/11/relationships/changesInfo" Target="changesInfos/changesInfo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font" Target="fonts/font7.fntdata"/><Relationship Id="rId84" Type="http://schemas.openxmlformats.org/officeDocument/2006/relationships/font" Target="fonts/font15.fntdata"/><Relationship Id="rId89" Type="http://schemas.openxmlformats.org/officeDocument/2006/relationships/font" Target="fonts/font20.fntdata"/><Relationship Id="rId7" Type="http://schemas.openxmlformats.org/officeDocument/2006/relationships/slide" Target="slides/slide5.xml"/><Relationship Id="rId71" Type="http://schemas.openxmlformats.org/officeDocument/2006/relationships/font" Target="fonts/font2.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284" Type="http://schemas.openxmlformats.org/officeDocument/2006/relationships/theme" Target="theme/theme1.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font" Target="fonts/font5.fntdata"/><Relationship Id="rId79" Type="http://schemas.openxmlformats.org/officeDocument/2006/relationships/font" Target="fonts/font10.fntdata"/><Relationship Id="rId87" Type="http://schemas.openxmlformats.org/officeDocument/2006/relationships/font" Target="fonts/font18.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font" Target="fonts/font13.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77" Type="http://schemas.openxmlformats.org/officeDocument/2006/relationships/font" Target="fonts/font8.fntdata"/><Relationship Id="rId282"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3.fntdata"/><Relationship Id="rId80" Type="http://schemas.openxmlformats.org/officeDocument/2006/relationships/font" Target="fonts/font11.fntdata"/><Relationship Id="rId85" Type="http://schemas.openxmlformats.org/officeDocument/2006/relationships/font" Target="fonts/font16.fntdata"/><Relationship Id="rId3" Type="http://schemas.openxmlformats.org/officeDocument/2006/relationships/slide" Target="slides/slide1.xml"/><Relationship Id="rId285" Type="http://schemas.openxmlformats.org/officeDocument/2006/relationships/tableStyles" Target="tableStyles.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1.fntdata"/><Relationship Id="rId75" Type="http://schemas.openxmlformats.org/officeDocument/2006/relationships/font" Target="fonts/font6.fntdata"/><Relationship Id="rId83" Type="http://schemas.openxmlformats.org/officeDocument/2006/relationships/font" Target="fonts/font14.fntdata"/><Relationship Id="rId88"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283"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4.fntdata"/><Relationship Id="rId78" Type="http://schemas.openxmlformats.org/officeDocument/2006/relationships/font" Target="fonts/font9.fntdata"/><Relationship Id="rId81" Type="http://schemas.openxmlformats.org/officeDocument/2006/relationships/font" Target="fonts/font12.fntdata"/><Relationship Id="rId86" Type="http://schemas.openxmlformats.org/officeDocument/2006/relationships/font" Target="fonts/font17.fntdata"/><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al, Breanna" userId="9dd65cb9-b789-4014-8a75-5340e8ea9a9e" providerId="ADAL" clId="{ACED115F-8C23-4612-8EFF-7965D144131C}"/>
    <pc:docChg chg="custSel modSld">
      <pc:chgData name="Veal, Breanna" userId="9dd65cb9-b789-4014-8a75-5340e8ea9a9e" providerId="ADAL" clId="{ACED115F-8C23-4612-8EFF-7965D144131C}" dt="2026-10-19T16:37:08.892" v="103" actId="368"/>
      <pc:docMkLst>
        <pc:docMk/>
      </pc:docMkLst>
      <pc:sldChg chg="modNotes">
        <pc:chgData name="Veal, Breanna" userId="9dd65cb9-b789-4014-8a75-5340e8ea9a9e" providerId="ADAL" clId="{ACED115F-8C23-4612-8EFF-7965D144131C}" dt="2026-10-19T16:37:07.258" v="3" actId="368"/>
        <pc:sldMkLst>
          <pc:docMk/>
          <pc:sldMk cId="0" sldId="257"/>
        </pc:sldMkLst>
      </pc:sldChg>
      <pc:sldChg chg="modNotes">
        <pc:chgData name="Veal, Breanna" userId="9dd65cb9-b789-4014-8a75-5340e8ea9a9e" providerId="ADAL" clId="{ACED115F-8C23-4612-8EFF-7965D144131C}" dt="2026-10-19T16:37:07.297" v="7" actId="368"/>
        <pc:sldMkLst>
          <pc:docMk/>
          <pc:sldMk cId="0" sldId="259"/>
        </pc:sldMkLst>
      </pc:sldChg>
      <pc:sldChg chg="modNotes">
        <pc:chgData name="Veal, Breanna" userId="9dd65cb9-b789-4014-8a75-5340e8ea9a9e" providerId="ADAL" clId="{ACED115F-8C23-4612-8EFF-7965D144131C}" dt="2026-10-19T16:37:07.336" v="9" actId="368"/>
        <pc:sldMkLst>
          <pc:docMk/>
          <pc:sldMk cId="0" sldId="261"/>
        </pc:sldMkLst>
      </pc:sldChg>
      <pc:sldChg chg="modNotes">
        <pc:chgData name="Veal, Breanna" userId="9dd65cb9-b789-4014-8a75-5340e8ea9a9e" providerId="ADAL" clId="{ACED115F-8C23-4612-8EFF-7965D144131C}" dt="2026-10-19T16:37:07.357" v="11" actId="368"/>
        <pc:sldMkLst>
          <pc:docMk/>
          <pc:sldMk cId="0" sldId="263"/>
        </pc:sldMkLst>
      </pc:sldChg>
      <pc:sldChg chg="modNotes">
        <pc:chgData name="Veal, Breanna" userId="9dd65cb9-b789-4014-8a75-5340e8ea9a9e" providerId="ADAL" clId="{ACED115F-8C23-4612-8EFF-7965D144131C}" dt="2026-10-19T16:37:07.377" v="13" actId="368"/>
        <pc:sldMkLst>
          <pc:docMk/>
          <pc:sldMk cId="0" sldId="264"/>
        </pc:sldMkLst>
      </pc:sldChg>
      <pc:sldChg chg="modNotes">
        <pc:chgData name="Veal, Breanna" userId="9dd65cb9-b789-4014-8a75-5340e8ea9a9e" providerId="ADAL" clId="{ACED115F-8C23-4612-8EFF-7965D144131C}" dt="2026-10-19T16:37:08.180" v="59" actId="368"/>
        <pc:sldMkLst>
          <pc:docMk/>
          <pc:sldMk cId="0" sldId="265"/>
        </pc:sldMkLst>
      </pc:sldChg>
      <pc:sldChg chg="modNotes">
        <pc:chgData name="Veal, Breanna" userId="9dd65cb9-b789-4014-8a75-5340e8ea9a9e" providerId="ADAL" clId="{ACED115F-8C23-4612-8EFF-7965D144131C}" dt="2026-10-19T16:37:08.212" v="61" actId="368"/>
        <pc:sldMkLst>
          <pc:docMk/>
          <pc:sldMk cId="0" sldId="266"/>
        </pc:sldMkLst>
      </pc:sldChg>
      <pc:sldChg chg="modNotes">
        <pc:chgData name="Veal, Breanna" userId="9dd65cb9-b789-4014-8a75-5340e8ea9a9e" providerId="ADAL" clId="{ACED115F-8C23-4612-8EFF-7965D144131C}" dt="2026-10-19T16:37:08.433" v="63" actId="368"/>
        <pc:sldMkLst>
          <pc:docMk/>
          <pc:sldMk cId="0" sldId="267"/>
        </pc:sldMkLst>
      </pc:sldChg>
      <pc:sldChg chg="modNotes">
        <pc:chgData name="Veal, Breanna" userId="9dd65cb9-b789-4014-8a75-5340e8ea9a9e" providerId="ADAL" clId="{ACED115F-8C23-4612-8EFF-7965D144131C}" dt="2026-10-19T16:37:07.499" v="19" actId="368"/>
        <pc:sldMkLst>
          <pc:docMk/>
          <pc:sldMk cId="0" sldId="268"/>
        </pc:sldMkLst>
      </pc:sldChg>
      <pc:sldChg chg="modNotes">
        <pc:chgData name="Veal, Breanna" userId="9dd65cb9-b789-4014-8a75-5340e8ea9a9e" providerId="ADAL" clId="{ACED115F-8C23-4612-8EFF-7965D144131C}" dt="2026-10-19T16:37:07.547" v="21" actId="368"/>
        <pc:sldMkLst>
          <pc:docMk/>
          <pc:sldMk cId="0" sldId="269"/>
        </pc:sldMkLst>
      </pc:sldChg>
      <pc:sldChg chg="modNotes">
        <pc:chgData name="Veal, Breanna" userId="9dd65cb9-b789-4014-8a75-5340e8ea9a9e" providerId="ADAL" clId="{ACED115F-8C23-4612-8EFF-7965D144131C}" dt="2026-10-19T16:37:07.592" v="23" actId="368"/>
        <pc:sldMkLst>
          <pc:docMk/>
          <pc:sldMk cId="0" sldId="270"/>
        </pc:sldMkLst>
      </pc:sldChg>
      <pc:sldChg chg="modNotes">
        <pc:chgData name="Veal, Breanna" userId="9dd65cb9-b789-4014-8a75-5340e8ea9a9e" providerId="ADAL" clId="{ACED115F-8C23-4612-8EFF-7965D144131C}" dt="2026-10-19T16:37:07.684" v="29" actId="368"/>
        <pc:sldMkLst>
          <pc:docMk/>
          <pc:sldMk cId="0" sldId="271"/>
        </pc:sldMkLst>
      </pc:sldChg>
      <pc:sldChg chg="modNotes">
        <pc:chgData name="Veal, Breanna" userId="9dd65cb9-b789-4014-8a75-5340e8ea9a9e" providerId="ADAL" clId="{ACED115F-8C23-4612-8EFF-7965D144131C}" dt="2026-10-19T16:37:07.713" v="31" actId="368"/>
        <pc:sldMkLst>
          <pc:docMk/>
          <pc:sldMk cId="0" sldId="272"/>
        </pc:sldMkLst>
      </pc:sldChg>
      <pc:sldChg chg="modNotes">
        <pc:chgData name="Veal, Breanna" userId="9dd65cb9-b789-4014-8a75-5340e8ea9a9e" providerId="ADAL" clId="{ACED115F-8C23-4612-8EFF-7965D144131C}" dt="2026-10-19T16:37:07.654" v="27" actId="368"/>
        <pc:sldMkLst>
          <pc:docMk/>
          <pc:sldMk cId="0" sldId="273"/>
        </pc:sldMkLst>
      </pc:sldChg>
      <pc:sldChg chg="modNotes">
        <pc:chgData name="Veal, Breanna" userId="9dd65cb9-b789-4014-8a75-5340e8ea9a9e" providerId="ADAL" clId="{ACED115F-8C23-4612-8EFF-7965D144131C}" dt="2026-10-19T16:37:07.755" v="33" actId="368"/>
        <pc:sldMkLst>
          <pc:docMk/>
          <pc:sldMk cId="0" sldId="274"/>
        </pc:sldMkLst>
      </pc:sldChg>
      <pc:sldChg chg="modNotes">
        <pc:chgData name="Veal, Breanna" userId="9dd65cb9-b789-4014-8a75-5340e8ea9a9e" providerId="ADAL" clId="{ACED115F-8C23-4612-8EFF-7965D144131C}" dt="2026-10-19T16:37:07.781" v="35" actId="368"/>
        <pc:sldMkLst>
          <pc:docMk/>
          <pc:sldMk cId="0" sldId="275"/>
        </pc:sldMkLst>
      </pc:sldChg>
      <pc:sldChg chg="modNotes">
        <pc:chgData name="Veal, Breanna" userId="9dd65cb9-b789-4014-8a75-5340e8ea9a9e" providerId="ADAL" clId="{ACED115F-8C23-4612-8EFF-7965D144131C}" dt="2026-10-19T16:37:07.857" v="39" actId="368"/>
        <pc:sldMkLst>
          <pc:docMk/>
          <pc:sldMk cId="0" sldId="277"/>
        </pc:sldMkLst>
      </pc:sldChg>
      <pc:sldChg chg="modNotes">
        <pc:chgData name="Veal, Breanna" userId="9dd65cb9-b789-4014-8a75-5340e8ea9a9e" providerId="ADAL" clId="{ACED115F-8C23-4612-8EFF-7965D144131C}" dt="2026-10-19T16:37:07.966" v="45" actId="368"/>
        <pc:sldMkLst>
          <pc:docMk/>
          <pc:sldMk cId="0" sldId="278"/>
        </pc:sldMkLst>
      </pc:sldChg>
      <pc:sldChg chg="modNotes">
        <pc:chgData name="Veal, Breanna" userId="9dd65cb9-b789-4014-8a75-5340e8ea9a9e" providerId="ADAL" clId="{ACED115F-8C23-4612-8EFF-7965D144131C}" dt="2026-10-19T16:37:08.018" v="47" actId="368"/>
        <pc:sldMkLst>
          <pc:docMk/>
          <pc:sldMk cId="0" sldId="279"/>
        </pc:sldMkLst>
      </pc:sldChg>
      <pc:sldChg chg="modNotes">
        <pc:chgData name="Veal, Breanna" userId="9dd65cb9-b789-4014-8a75-5340e8ea9a9e" providerId="ADAL" clId="{ACED115F-8C23-4612-8EFF-7965D144131C}" dt="2026-10-19T16:37:08.056" v="49" actId="368"/>
        <pc:sldMkLst>
          <pc:docMk/>
          <pc:sldMk cId="0" sldId="281"/>
        </pc:sldMkLst>
      </pc:sldChg>
      <pc:sldChg chg="modNotes">
        <pc:chgData name="Veal, Breanna" userId="9dd65cb9-b789-4014-8a75-5340e8ea9a9e" providerId="ADAL" clId="{ACED115F-8C23-4612-8EFF-7965D144131C}" dt="2026-10-19T16:37:08.082" v="51" actId="368"/>
        <pc:sldMkLst>
          <pc:docMk/>
          <pc:sldMk cId="0" sldId="282"/>
        </pc:sldMkLst>
      </pc:sldChg>
      <pc:sldChg chg="modNotes">
        <pc:chgData name="Veal, Breanna" userId="9dd65cb9-b789-4014-8a75-5340e8ea9a9e" providerId="ADAL" clId="{ACED115F-8C23-4612-8EFF-7965D144131C}" dt="2026-10-19T16:37:08.110" v="53" actId="368"/>
        <pc:sldMkLst>
          <pc:docMk/>
          <pc:sldMk cId="0" sldId="283"/>
        </pc:sldMkLst>
      </pc:sldChg>
      <pc:sldChg chg="modNotes">
        <pc:chgData name="Veal, Breanna" userId="9dd65cb9-b789-4014-8a75-5340e8ea9a9e" providerId="ADAL" clId="{ACED115F-8C23-4612-8EFF-7965D144131C}" dt="2026-10-19T16:37:08.132" v="55" actId="368"/>
        <pc:sldMkLst>
          <pc:docMk/>
          <pc:sldMk cId="0" sldId="284"/>
        </pc:sldMkLst>
      </pc:sldChg>
      <pc:sldChg chg="modNotes">
        <pc:chgData name="Veal, Breanna" userId="9dd65cb9-b789-4014-8a75-5340e8ea9a9e" providerId="ADAL" clId="{ACED115F-8C23-4612-8EFF-7965D144131C}" dt="2026-10-19T16:37:08.150" v="57" actId="368"/>
        <pc:sldMkLst>
          <pc:docMk/>
          <pc:sldMk cId="0" sldId="285"/>
        </pc:sldMkLst>
      </pc:sldChg>
      <pc:sldChg chg="modNotes">
        <pc:chgData name="Veal, Breanna" userId="9dd65cb9-b789-4014-8a75-5340e8ea9a9e" providerId="ADAL" clId="{ACED115F-8C23-4612-8EFF-7965D144131C}" dt="2026-10-19T16:37:08.456" v="65" actId="368"/>
        <pc:sldMkLst>
          <pc:docMk/>
          <pc:sldMk cId="0" sldId="286"/>
        </pc:sldMkLst>
      </pc:sldChg>
      <pc:sldChg chg="modNotes">
        <pc:chgData name="Veal, Breanna" userId="9dd65cb9-b789-4014-8a75-5340e8ea9a9e" providerId="ADAL" clId="{ACED115F-8C23-4612-8EFF-7965D144131C}" dt="2026-10-19T16:37:08.503" v="67" actId="368"/>
        <pc:sldMkLst>
          <pc:docMk/>
          <pc:sldMk cId="0" sldId="290"/>
        </pc:sldMkLst>
      </pc:sldChg>
      <pc:sldChg chg="modNotes">
        <pc:chgData name="Veal, Breanna" userId="9dd65cb9-b789-4014-8a75-5340e8ea9a9e" providerId="ADAL" clId="{ACED115F-8C23-4612-8EFF-7965D144131C}" dt="2026-10-19T16:37:08.527" v="69" actId="368"/>
        <pc:sldMkLst>
          <pc:docMk/>
          <pc:sldMk cId="0" sldId="291"/>
        </pc:sldMkLst>
      </pc:sldChg>
      <pc:sldChg chg="modNotes">
        <pc:chgData name="Veal, Breanna" userId="9dd65cb9-b789-4014-8a75-5340e8ea9a9e" providerId="ADAL" clId="{ACED115F-8C23-4612-8EFF-7965D144131C}" dt="2026-10-19T16:37:08.552" v="71" actId="368"/>
        <pc:sldMkLst>
          <pc:docMk/>
          <pc:sldMk cId="0" sldId="292"/>
        </pc:sldMkLst>
      </pc:sldChg>
      <pc:sldChg chg="modNotes">
        <pc:chgData name="Veal, Breanna" userId="9dd65cb9-b789-4014-8a75-5340e8ea9a9e" providerId="ADAL" clId="{ACED115F-8C23-4612-8EFF-7965D144131C}" dt="2026-10-19T16:37:08.566" v="73" actId="368"/>
        <pc:sldMkLst>
          <pc:docMk/>
          <pc:sldMk cId="0" sldId="293"/>
        </pc:sldMkLst>
      </pc:sldChg>
      <pc:sldChg chg="modNotes">
        <pc:chgData name="Veal, Breanna" userId="9dd65cb9-b789-4014-8a75-5340e8ea9a9e" providerId="ADAL" clId="{ACED115F-8C23-4612-8EFF-7965D144131C}" dt="2026-10-19T16:37:08.584" v="75" actId="368"/>
        <pc:sldMkLst>
          <pc:docMk/>
          <pc:sldMk cId="0" sldId="294"/>
        </pc:sldMkLst>
      </pc:sldChg>
      <pc:sldChg chg="modNotes">
        <pc:chgData name="Veal, Breanna" userId="9dd65cb9-b789-4014-8a75-5340e8ea9a9e" providerId="ADAL" clId="{ACED115F-8C23-4612-8EFF-7965D144131C}" dt="2026-10-19T16:37:08.591" v="77" actId="368"/>
        <pc:sldMkLst>
          <pc:docMk/>
          <pc:sldMk cId="0" sldId="295"/>
        </pc:sldMkLst>
      </pc:sldChg>
      <pc:sldChg chg="modNotes">
        <pc:chgData name="Veal, Breanna" userId="9dd65cb9-b789-4014-8a75-5340e8ea9a9e" providerId="ADAL" clId="{ACED115F-8C23-4612-8EFF-7965D144131C}" dt="2026-10-19T16:37:08.626" v="79" actId="368"/>
        <pc:sldMkLst>
          <pc:docMk/>
          <pc:sldMk cId="0" sldId="296"/>
        </pc:sldMkLst>
      </pc:sldChg>
      <pc:sldChg chg="modNotes">
        <pc:chgData name="Veal, Breanna" userId="9dd65cb9-b789-4014-8a75-5340e8ea9a9e" providerId="ADAL" clId="{ACED115F-8C23-4612-8EFF-7965D144131C}" dt="2026-10-19T16:37:08.655" v="81" actId="368"/>
        <pc:sldMkLst>
          <pc:docMk/>
          <pc:sldMk cId="0" sldId="297"/>
        </pc:sldMkLst>
      </pc:sldChg>
      <pc:sldChg chg="modNotes">
        <pc:chgData name="Veal, Breanna" userId="9dd65cb9-b789-4014-8a75-5340e8ea9a9e" providerId="ADAL" clId="{ACED115F-8C23-4612-8EFF-7965D144131C}" dt="2026-10-19T16:37:08.679" v="83" actId="368"/>
        <pc:sldMkLst>
          <pc:docMk/>
          <pc:sldMk cId="0" sldId="298"/>
        </pc:sldMkLst>
      </pc:sldChg>
      <pc:sldChg chg="modNotes">
        <pc:chgData name="Veal, Breanna" userId="9dd65cb9-b789-4014-8a75-5340e8ea9a9e" providerId="ADAL" clId="{ACED115F-8C23-4612-8EFF-7965D144131C}" dt="2026-10-19T16:37:08.710" v="85" actId="368"/>
        <pc:sldMkLst>
          <pc:docMk/>
          <pc:sldMk cId="0" sldId="299"/>
        </pc:sldMkLst>
      </pc:sldChg>
      <pc:sldChg chg="modNotes">
        <pc:chgData name="Veal, Breanna" userId="9dd65cb9-b789-4014-8a75-5340e8ea9a9e" providerId="ADAL" clId="{ACED115F-8C23-4612-8EFF-7965D144131C}" dt="2026-10-19T16:37:08.717" v="87" actId="368"/>
        <pc:sldMkLst>
          <pc:docMk/>
          <pc:sldMk cId="0" sldId="300"/>
        </pc:sldMkLst>
      </pc:sldChg>
      <pc:sldChg chg="modNotes">
        <pc:chgData name="Veal, Breanna" userId="9dd65cb9-b789-4014-8a75-5340e8ea9a9e" providerId="ADAL" clId="{ACED115F-8C23-4612-8EFF-7965D144131C}" dt="2026-10-19T16:37:08.733" v="89" actId="368"/>
        <pc:sldMkLst>
          <pc:docMk/>
          <pc:sldMk cId="0" sldId="301"/>
        </pc:sldMkLst>
      </pc:sldChg>
      <pc:sldChg chg="modNotes">
        <pc:chgData name="Veal, Breanna" userId="9dd65cb9-b789-4014-8a75-5340e8ea9a9e" providerId="ADAL" clId="{ACED115F-8C23-4612-8EFF-7965D144131C}" dt="2026-10-19T16:37:08.749" v="91" actId="368"/>
        <pc:sldMkLst>
          <pc:docMk/>
          <pc:sldMk cId="0" sldId="302"/>
        </pc:sldMkLst>
      </pc:sldChg>
      <pc:sldChg chg="modNotes">
        <pc:chgData name="Veal, Breanna" userId="9dd65cb9-b789-4014-8a75-5340e8ea9a9e" providerId="ADAL" clId="{ACED115F-8C23-4612-8EFF-7965D144131C}" dt="2026-10-19T16:37:08.780" v="93" actId="368"/>
        <pc:sldMkLst>
          <pc:docMk/>
          <pc:sldMk cId="0" sldId="303"/>
        </pc:sldMkLst>
      </pc:sldChg>
      <pc:sldChg chg="modNotes">
        <pc:chgData name="Veal, Breanna" userId="9dd65cb9-b789-4014-8a75-5340e8ea9a9e" providerId="ADAL" clId="{ACED115F-8C23-4612-8EFF-7965D144131C}" dt="2026-10-19T16:37:08.797" v="95" actId="368"/>
        <pc:sldMkLst>
          <pc:docMk/>
          <pc:sldMk cId="0" sldId="304"/>
        </pc:sldMkLst>
      </pc:sldChg>
      <pc:sldChg chg="modNotes">
        <pc:chgData name="Veal, Breanna" userId="9dd65cb9-b789-4014-8a75-5340e8ea9a9e" providerId="ADAL" clId="{ACED115F-8C23-4612-8EFF-7965D144131C}" dt="2026-10-19T16:37:08.811" v="97" actId="368"/>
        <pc:sldMkLst>
          <pc:docMk/>
          <pc:sldMk cId="0" sldId="305"/>
        </pc:sldMkLst>
      </pc:sldChg>
      <pc:sldChg chg="modNotes">
        <pc:chgData name="Veal, Breanna" userId="9dd65cb9-b789-4014-8a75-5340e8ea9a9e" providerId="ADAL" clId="{ACED115F-8C23-4612-8EFF-7965D144131C}" dt="2026-10-19T16:37:08.860" v="101" actId="368"/>
        <pc:sldMkLst>
          <pc:docMk/>
          <pc:sldMk cId="0" sldId="307"/>
        </pc:sldMkLst>
      </pc:sldChg>
      <pc:sldChg chg="modNotes">
        <pc:chgData name="Veal, Breanna" userId="9dd65cb9-b789-4014-8a75-5340e8ea9a9e" providerId="ADAL" clId="{ACED115F-8C23-4612-8EFF-7965D144131C}" dt="2026-10-19T16:37:08.892" v="103" actId="368"/>
        <pc:sldMkLst>
          <pc:docMk/>
          <pc:sldMk cId="0" sldId="309"/>
        </pc:sldMkLst>
      </pc:sldChg>
      <pc:sldChg chg="modNotes">
        <pc:chgData name="Veal, Breanna" userId="9dd65cb9-b789-4014-8a75-5340e8ea9a9e" providerId="ADAL" clId="{ACED115F-8C23-4612-8EFF-7965D144131C}" dt="2026-10-19T16:37:07.810" v="37" actId="368"/>
        <pc:sldMkLst>
          <pc:docMk/>
          <pc:sldMk cId="1390908188" sldId="368"/>
        </pc:sldMkLst>
      </pc:sldChg>
      <pc:sldChg chg="modNotes">
        <pc:chgData name="Veal, Breanna" userId="9dd65cb9-b789-4014-8a75-5340e8ea9a9e" providerId="ADAL" clId="{ACED115F-8C23-4612-8EFF-7965D144131C}" dt="2026-10-19T16:37:08.843" v="99" actId="368"/>
        <pc:sldMkLst>
          <pc:docMk/>
          <pc:sldMk cId="366759098" sldId="516"/>
        </pc:sldMkLst>
      </pc:sldChg>
      <pc:sldChg chg="modNotes">
        <pc:chgData name="Veal, Breanna" userId="9dd65cb9-b789-4014-8a75-5340e8ea9a9e" providerId="ADAL" clId="{ACED115F-8C23-4612-8EFF-7965D144131C}" dt="2026-10-19T16:37:07.280" v="5" actId="368"/>
        <pc:sldMkLst>
          <pc:docMk/>
          <pc:sldMk cId="3991815171" sldId="524"/>
        </pc:sldMkLst>
      </pc:sldChg>
      <pc:sldChg chg="modNotes">
        <pc:chgData name="Veal, Breanna" userId="9dd65cb9-b789-4014-8a75-5340e8ea9a9e" providerId="ADAL" clId="{ACED115F-8C23-4612-8EFF-7965D144131C}" dt="2026-10-19T16:37:07.411" v="15" actId="368"/>
        <pc:sldMkLst>
          <pc:docMk/>
          <pc:sldMk cId="1050679664" sldId="533"/>
        </pc:sldMkLst>
      </pc:sldChg>
      <pc:sldChg chg="modNotes">
        <pc:chgData name="Veal, Breanna" userId="9dd65cb9-b789-4014-8a75-5340e8ea9a9e" providerId="ADAL" clId="{ACED115F-8C23-4612-8EFF-7965D144131C}" dt="2026-10-19T16:37:07.450" v="17" actId="368"/>
        <pc:sldMkLst>
          <pc:docMk/>
          <pc:sldMk cId="4063738683" sldId="534"/>
        </pc:sldMkLst>
      </pc:sldChg>
      <pc:sldChg chg="modNotes">
        <pc:chgData name="Veal, Breanna" userId="9dd65cb9-b789-4014-8a75-5340e8ea9a9e" providerId="ADAL" clId="{ACED115F-8C23-4612-8EFF-7965D144131C}" dt="2026-10-19T16:37:07.935" v="43" actId="368"/>
        <pc:sldMkLst>
          <pc:docMk/>
          <pc:sldMk cId="3284510529" sldId="535"/>
        </pc:sldMkLst>
      </pc:sldChg>
      <pc:sldChg chg="modNotes">
        <pc:chgData name="Veal, Breanna" userId="9dd65cb9-b789-4014-8a75-5340e8ea9a9e" providerId="ADAL" clId="{ACED115F-8C23-4612-8EFF-7965D144131C}" dt="2026-10-19T16:37:07.893" v="41" actId="368"/>
        <pc:sldMkLst>
          <pc:docMk/>
          <pc:sldMk cId="432046459" sldId="537"/>
        </pc:sldMkLst>
      </pc:sldChg>
      <pc:sldChg chg="modNotes">
        <pc:chgData name="Veal, Breanna" userId="9dd65cb9-b789-4014-8a75-5340e8ea9a9e" providerId="ADAL" clId="{ACED115F-8C23-4612-8EFF-7965D144131C}" dt="2026-10-19T16:37:07.239" v="1" actId="368"/>
        <pc:sldMkLst>
          <pc:docMk/>
          <pc:sldMk cId="2988208229" sldId="540"/>
        </pc:sldMkLst>
      </pc:sldChg>
      <pc:sldChg chg="modNotes">
        <pc:chgData name="Veal, Breanna" userId="9dd65cb9-b789-4014-8a75-5340e8ea9a9e" providerId="ADAL" clId="{ACED115F-8C23-4612-8EFF-7965D144131C}" dt="2026-10-19T16:37:07.625" v="25" actId="368"/>
        <pc:sldMkLst>
          <pc:docMk/>
          <pc:sldMk cId="3125274652" sldId="54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L="914400" marR="0" lvl="1"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2pPr>
            <a:lvl3pPr marL="1371600" marR="0" lvl="2"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3pPr>
            <a:lvl4pPr marL="1828800" marR="0" lvl="3"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4pPr>
            <a:lvl5pPr marL="2286000" marR="0" lvl="4" indent="-22860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29834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1671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5" name="Google Shape;12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9" name="Google Shape;13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6" name="Google Shape;14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4101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878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3: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13</a:t>
            </a:fld>
            <a:endParaRPr sz="1200">
              <a:solidFill>
                <a:schemeClr val="dk1"/>
              </a:solidFill>
              <a:latin typeface="Calibri"/>
              <a:ea typeface="Calibri"/>
              <a:cs typeface="Calibri"/>
              <a:sym typeface="Calibri"/>
            </a:endParaRPr>
          </a:p>
        </p:txBody>
      </p:sp>
      <p:sp>
        <p:nvSpPr>
          <p:cNvPr id="177" name="Google Shape;17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8" name="Google Shape;178;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4: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14</a:t>
            </a:fld>
            <a:endParaRPr sz="1200">
              <a:solidFill>
                <a:schemeClr val="dk1"/>
              </a:solidFill>
              <a:latin typeface="Calibri"/>
              <a:ea typeface="Calibri"/>
              <a:cs typeface="Calibri"/>
              <a:sym typeface="Calibri"/>
            </a:endParaRPr>
          </a:p>
        </p:txBody>
      </p:sp>
      <p:sp>
        <p:nvSpPr>
          <p:cNvPr id="185" name="Google Shape;18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en-US" dirty="0">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5: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15</a:t>
            </a:fld>
            <a:endParaRPr sz="1200">
              <a:solidFill>
                <a:schemeClr val="dk1"/>
              </a:solidFill>
              <a:latin typeface="Calibri"/>
              <a:ea typeface="Calibri"/>
              <a:cs typeface="Calibri"/>
              <a:sym typeface="Calibri"/>
            </a:endParaRPr>
          </a:p>
        </p:txBody>
      </p:sp>
      <p:sp>
        <p:nvSpPr>
          <p:cNvPr id="194" name="Google Shape;19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5" name="Google Shape;195;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08135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p:txBody>
      </p:sp>
      <p:sp>
        <p:nvSpPr>
          <p:cNvPr id="230" name="Google Shape;23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202" name="Google Shape;20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208" name="Google Shape;20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9:notes"/>
          <p:cNvSpPr txBox="1">
            <a:spLocks noGrp="1"/>
          </p:cNvSpPr>
          <p:nvPr>
            <p:ph type="sldNum" idx="12"/>
          </p:nvPr>
        </p:nvSpPr>
        <p:spPr>
          <a:xfrm>
            <a:off x="3884613" y="8685213"/>
            <a:ext cx="2971800" cy="457200"/>
          </a:xfrm>
          <a:prstGeom prst="rect">
            <a:avLst/>
          </a:prstGeom>
          <a:noFill/>
          <a:ln>
            <a:noFill/>
          </a:ln>
        </p:spPr>
        <p:txBody>
          <a:bodyPr spcFirstLastPara="1" wrap="square" lIns="89250" tIns="44625" rIns="89250" bIns="44625" anchor="t" anchorCtr="0">
            <a:noAutofit/>
          </a:bodyPr>
          <a:lstStyle/>
          <a:p>
            <a:pPr marL="0" marR="0" lvl="0" indent="0" algn="l"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20</a:t>
            </a:fld>
            <a:endParaRPr sz="1200">
              <a:solidFill>
                <a:schemeClr val="dk1"/>
              </a:solidFill>
              <a:latin typeface="Calibri"/>
              <a:ea typeface="Calibri"/>
              <a:cs typeface="Calibri"/>
              <a:sym typeface="Calibri"/>
            </a:endParaRPr>
          </a:p>
        </p:txBody>
      </p:sp>
      <p:sp>
        <p:nvSpPr>
          <p:cNvPr id="236" name="Google Shape;23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7" name="Google Shape;237;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244" name="Google Shape;24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0B3101-0DB2-43B2-886C-AF5F31CD6E2D}" type="slidenum">
              <a:rPr lang="en-US" smtClean="0"/>
              <a:t>22</a:t>
            </a:fld>
            <a:endParaRPr lang="en-US"/>
          </a:p>
        </p:txBody>
      </p:sp>
    </p:spTree>
    <p:extLst>
      <p:ext uri="{BB962C8B-B14F-4D97-AF65-F5344CB8AC3E}">
        <p14:creationId xmlns:p14="http://schemas.microsoft.com/office/powerpoint/2010/main" val="4259291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0" name="Google Shape;25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57" name="Google Shape;257;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FontTx/>
              <a:buChar char="-"/>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391115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1027533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4" name="Google Shape;26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529224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0" name="Google Shape;27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82" name="Google Shape;282;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ym typeface="Merriweather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89" name="Google Shape;289;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296" name="Google Shape;296;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2" name="Google Shape;302;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8" name="Google Shape;308;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54" name="Google Shape;15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endParaRPr lang="en-US" dirty="0">
              <a:sym typeface="Wingdings" panose="05000000000000000000" pitchFamily="2" charset="2"/>
            </a:endParaRPr>
          </a:p>
        </p:txBody>
      </p:sp>
      <p:sp>
        <p:nvSpPr>
          <p:cNvPr id="162" name="Google Shape;16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69" name="Google Shape;16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171450" lvl="0" indent="-171450" algn="l" rtl="0">
              <a:spcBef>
                <a:spcPts val="0"/>
              </a:spcBef>
              <a:spcAft>
                <a:spcPts val="0"/>
              </a:spcAft>
              <a:buFontTx/>
              <a:buChar char="-"/>
            </a:pPr>
            <a:endParaRPr dirty="0"/>
          </a:p>
        </p:txBody>
      </p:sp>
      <p:sp>
        <p:nvSpPr>
          <p:cNvPr id="314" name="Google Shape;314;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26" name="Google Shape;32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38" name="Google Shape;338;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en-US" dirty="0">
              <a:sym typeface="Merriweather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44" name="Google Shape;344;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ym typeface="Merriweather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50" name="Google Shape;350;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58" name="Google Shape;358;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66" name="Google Shape;366;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72" name="Google Shape;372;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378" name="Google Shape;37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84" name="Google Shape;38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90" name="Google Shape;390;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98" name="Google Shape;398;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06" name="Google Shape;406;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16" name="Google Shape;41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28" name="Google Shape;428;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171450" lvl="0" indent="-171450" algn="l" rtl="0">
              <a:spcBef>
                <a:spcPts val="0"/>
              </a:spcBef>
              <a:spcAft>
                <a:spcPts val="0"/>
              </a:spcAft>
              <a:buFontTx/>
              <a:buChar char="-"/>
            </a:pPr>
            <a:endParaRPr dirty="0"/>
          </a:p>
        </p:txBody>
      </p:sp>
      <p:sp>
        <p:nvSpPr>
          <p:cNvPr id="437" name="Google Shape;437;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53" name="Google Shape;453;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60" name="Google Shape;460;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32481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68" name="Google Shape;468;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495530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423903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80" name="Google Shape;480;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88" name="Google Shape;488;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05787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
        <p:cNvGrpSpPr/>
        <p:nvPr/>
      </p:nvGrpSpPr>
      <p:grpSpPr>
        <a:xfrm>
          <a:off x="0" y="0"/>
          <a:ext cx="0" cy="0"/>
          <a:chOff x="0" y="0"/>
          <a:chExt cx="0" cy="0"/>
        </a:xfrm>
      </p:grpSpPr>
      <p:sp>
        <p:nvSpPr>
          <p:cNvPr id="9" name="Google Shape;9;p255"/>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 name="Google Shape;10;p255"/>
          <p:cNvSpPr txBox="1">
            <a:spLocks noGrp="1"/>
          </p:cNvSpPr>
          <p:nvPr>
            <p:ph type="body" idx="1"/>
          </p:nvPr>
        </p:nvSpPr>
        <p:spPr>
          <a:xfrm>
            <a:off x="1828800" y="3886200"/>
            <a:ext cx="8534400" cy="29718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a:lvl1pPr>
            <a:lvl2pPr marL="914400" lvl="1" indent="-228600" algn="ctr">
              <a:spcBef>
                <a:spcPts val="800"/>
              </a:spcBef>
              <a:spcAft>
                <a:spcPts val="0"/>
              </a:spcAft>
              <a:buSzPts val="1400"/>
              <a:buNone/>
              <a:defRPr/>
            </a:lvl2pPr>
            <a:lvl3pPr marL="1371600" lvl="2" indent="-228600" algn="ctr">
              <a:spcBef>
                <a:spcPts val="800"/>
              </a:spcBef>
              <a:spcAft>
                <a:spcPts val="0"/>
              </a:spcAft>
              <a:buSzPts val="1400"/>
              <a:buNone/>
              <a:defRPr/>
            </a:lvl3pPr>
            <a:lvl4pPr marL="1828800" lvl="3" indent="-228600" algn="ctr">
              <a:spcBef>
                <a:spcPts val="800"/>
              </a:spcBef>
              <a:spcAft>
                <a:spcPts val="0"/>
              </a:spcAft>
              <a:buSzPts val="1400"/>
              <a:buNone/>
              <a:defRPr/>
            </a:lvl4pPr>
            <a:lvl5pPr marL="2286000" lvl="4" indent="-228600" algn="ctr">
              <a:spcBef>
                <a:spcPts val="800"/>
              </a:spcBef>
              <a:spcAft>
                <a:spcPts val="0"/>
              </a:spcAft>
              <a:buSzPts val="1400"/>
              <a:buNone/>
              <a:defRPr/>
            </a:lvl5pPr>
            <a:lvl6pPr marL="2743200" lvl="5" indent="-228600" algn="ctr">
              <a:spcBef>
                <a:spcPts val="800"/>
              </a:spcBef>
              <a:spcAft>
                <a:spcPts val="0"/>
              </a:spcAft>
              <a:buSzPts val="1400"/>
              <a:buNone/>
              <a:defRPr/>
            </a:lvl6pPr>
            <a:lvl7pPr marL="3200400" lvl="6" indent="-228600" algn="ctr">
              <a:spcBef>
                <a:spcPts val="800"/>
              </a:spcBef>
              <a:spcAft>
                <a:spcPts val="0"/>
              </a:spcAft>
              <a:buSzPts val="1400"/>
              <a:buNone/>
              <a:defRPr/>
            </a:lvl7pPr>
            <a:lvl8pPr marL="3657600" lvl="7" indent="-228600" algn="ctr">
              <a:spcBef>
                <a:spcPts val="800"/>
              </a:spcBef>
              <a:spcAft>
                <a:spcPts val="0"/>
              </a:spcAft>
              <a:buSzPts val="1400"/>
              <a:buNone/>
              <a:defRPr/>
            </a:lvl8pPr>
            <a:lvl9pPr marL="4114800" lvl="8" indent="-228600" algn="ctr">
              <a:spcBef>
                <a:spcPts val="80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61"/>
          <p:cNvSpPr txBox="1">
            <a:spLocks noGrp="1"/>
          </p:cNvSpPr>
          <p:nvPr>
            <p:ph type="ctrTitle"/>
          </p:nvPr>
        </p:nvSpPr>
        <p:spPr>
          <a:xfrm>
            <a:off x="914400" y="2130426"/>
            <a:ext cx="10363200" cy="14700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 name="Google Shape;13;p261"/>
          <p:cNvSpPr txBox="1">
            <a:spLocks noGrp="1"/>
          </p:cNvSpPr>
          <p:nvPr>
            <p:ph type="subTitle" idx="1"/>
          </p:nvPr>
        </p:nvSpPr>
        <p:spPr>
          <a:xfrm>
            <a:off x="1828800" y="3886200"/>
            <a:ext cx="8534400" cy="1752600"/>
          </a:xfrm>
          <a:prstGeom prst="rect">
            <a:avLst/>
          </a:prstGeom>
          <a:noFill/>
          <a:ln>
            <a:noFill/>
          </a:ln>
        </p:spPr>
        <p:txBody>
          <a:bodyPr spcFirstLastPara="1" wrap="square" lIns="50800" tIns="50800" rIns="50800" bIns="50800" anchor="t" anchorCtr="0">
            <a:noAutofit/>
          </a:bodyPr>
          <a:lstStyle>
            <a:lvl1pPr lvl="0" algn="ctr">
              <a:spcBef>
                <a:spcPts val="800"/>
              </a:spcBef>
              <a:spcAft>
                <a:spcPts val="0"/>
              </a:spcAft>
              <a:buClr>
                <a:srgbClr val="878787"/>
              </a:buClr>
              <a:buSzPts val="3200"/>
              <a:buFont typeface="Calibri"/>
              <a:buNone/>
              <a:defRPr/>
            </a:lvl1pPr>
            <a:lvl2pPr lvl="1" algn="ctr">
              <a:spcBef>
                <a:spcPts val="800"/>
              </a:spcBef>
              <a:spcAft>
                <a:spcPts val="0"/>
              </a:spcAft>
              <a:buClr>
                <a:srgbClr val="878787"/>
              </a:buClr>
              <a:buSzPts val="3200"/>
              <a:buFont typeface="Calibri"/>
              <a:buNone/>
              <a:defRPr/>
            </a:lvl2pPr>
            <a:lvl3pPr lvl="2" algn="ctr">
              <a:spcBef>
                <a:spcPts val="800"/>
              </a:spcBef>
              <a:spcAft>
                <a:spcPts val="0"/>
              </a:spcAft>
              <a:buClr>
                <a:srgbClr val="878787"/>
              </a:buClr>
              <a:buSzPts val="3200"/>
              <a:buFont typeface="Calibri"/>
              <a:buNone/>
              <a:defRPr/>
            </a:lvl3pPr>
            <a:lvl4pPr lvl="3" algn="ctr">
              <a:spcBef>
                <a:spcPts val="800"/>
              </a:spcBef>
              <a:spcAft>
                <a:spcPts val="0"/>
              </a:spcAft>
              <a:buClr>
                <a:srgbClr val="878787"/>
              </a:buClr>
              <a:buSzPts val="3200"/>
              <a:buFont typeface="Calibri"/>
              <a:buNone/>
              <a:defRPr/>
            </a:lvl4pPr>
            <a:lvl5pPr lvl="4" algn="ctr">
              <a:spcBef>
                <a:spcPts val="800"/>
              </a:spcBef>
              <a:spcAft>
                <a:spcPts val="0"/>
              </a:spcAft>
              <a:buClr>
                <a:srgbClr val="878787"/>
              </a:buClr>
              <a:buSzPts val="3200"/>
              <a:buFont typeface="Calibri"/>
              <a:buNone/>
              <a:defRPr/>
            </a:lvl5pPr>
            <a:lvl6pPr lvl="5" algn="ctr">
              <a:spcBef>
                <a:spcPts val="800"/>
              </a:spcBef>
              <a:spcAft>
                <a:spcPts val="0"/>
              </a:spcAft>
              <a:buClr>
                <a:srgbClr val="878787"/>
              </a:buClr>
              <a:buSzPts val="3200"/>
              <a:buFont typeface="Calibri"/>
              <a:buNone/>
              <a:defRPr/>
            </a:lvl6pPr>
            <a:lvl7pPr lvl="6" algn="ctr">
              <a:spcBef>
                <a:spcPts val="800"/>
              </a:spcBef>
              <a:spcAft>
                <a:spcPts val="0"/>
              </a:spcAft>
              <a:buClr>
                <a:srgbClr val="878787"/>
              </a:buClr>
              <a:buSzPts val="3200"/>
              <a:buFont typeface="Calibri"/>
              <a:buNone/>
              <a:defRPr/>
            </a:lvl7pPr>
            <a:lvl8pPr lvl="7" algn="ctr">
              <a:spcBef>
                <a:spcPts val="800"/>
              </a:spcBef>
              <a:spcAft>
                <a:spcPts val="0"/>
              </a:spcAft>
              <a:buClr>
                <a:srgbClr val="878787"/>
              </a:buClr>
              <a:buSzPts val="3200"/>
              <a:buFont typeface="Calibri"/>
              <a:buNone/>
              <a:defRPr/>
            </a:lvl8pPr>
            <a:lvl9pPr lvl="8" algn="ctr">
              <a:spcBef>
                <a:spcPts val="800"/>
              </a:spcBef>
              <a:spcAft>
                <a:spcPts val="0"/>
              </a:spcAft>
              <a:buClr>
                <a:srgbClr val="878787"/>
              </a:buClr>
              <a:buSzPts val="3200"/>
              <a:buFont typeface="Calibri"/>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262"/>
          <p:cNvSpPr txBox="1">
            <a:spLocks noGrp="1"/>
          </p:cNvSpPr>
          <p:nvPr>
            <p:ph type="title"/>
          </p:nvPr>
        </p:nvSpPr>
        <p:spPr>
          <a:xfrm>
            <a:off x="963084" y="4406901"/>
            <a:ext cx="10363200" cy="1362075"/>
          </a:xfrm>
          <a:prstGeom prst="rect">
            <a:avLst/>
          </a:prstGeom>
          <a:noFill/>
          <a:ln>
            <a:noFill/>
          </a:ln>
        </p:spPr>
        <p:txBody>
          <a:bodyPr spcFirstLastPara="1" wrap="square" lIns="50800" tIns="50800" rIns="50800" bIns="508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 name="Google Shape;16;p262"/>
          <p:cNvSpPr txBox="1">
            <a:spLocks noGrp="1"/>
          </p:cNvSpPr>
          <p:nvPr>
            <p:ph type="body" idx="1"/>
          </p:nvPr>
        </p:nvSpPr>
        <p:spPr>
          <a:xfrm>
            <a:off x="963084" y="2906713"/>
            <a:ext cx="10363200" cy="1500187"/>
          </a:xfrm>
          <a:prstGeom prst="rect">
            <a:avLst/>
          </a:prstGeom>
          <a:noFill/>
          <a:ln>
            <a:noFill/>
          </a:ln>
        </p:spPr>
        <p:txBody>
          <a:bodyPr spcFirstLastPara="1" wrap="square" lIns="50800" tIns="50800" rIns="50800" bIns="50800" anchor="b" anchorCtr="0">
            <a:noAutofit/>
          </a:bodyPr>
          <a:lstStyle>
            <a:lvl1pPr marL="457200" lvl="0" indent="-228600" algn="ctr">
              <a:spcBef>
                <a:spcPts val="800"/>
              </a:spcBef>
              <a:spcAft>
                <a:spcPts val="0"/>
              </a:spcAft>
              <a:buClr>
                <a:srgbClr val="878787"/>
              </a:buClr>
              <a:buSzPts val="2000"/>
              <a:buFont typeface="Calibri"/>
              <a:buNone/>
              <a:defRPr sz="2000"/>
            </a:lvl1pPr>
            <a:lvl2pPr marL="914400" lvl="1" indent="-228600" algn="ctr">
              <a:spcBef>
                <a:spcPts val="800"/>
              </a:spcBef>
              <a:spcAft>
                <a:spcPts val="0"/>
              </a:spcAft>
              <a:buClr>
                <a:srgbClr val="878787"/>
              </a:buClr>
              <a:buSzPts val="1800"/>
              <a:buFont typeface="Calibri"/>
              <a:buNone/>
              <a:defRPr sz="1800"/>
            </a:lvl2pPr>
            <a:lvl3pPr marL="1371600" lvl="2" indent="-228600" algn="ctr">
              <a:spcBef>
                <a:spcPts val="800"/>
              </a:spcBef>
              <a:spcAft>
                <a:spcPts val="0"/>
              </a:spcAft>
              <a:buClr>
                <a:srgbClr val="878787"/>
              </a:buClr>
              <a:buSzPts val="1600"/>
              <a:buFont typeface="Calibri"/>
              <a:buNone/>
              <a:defRPr sz="1600"/>
            </a:lvl3pPr>
            <a:lvl4pPr marL="1828800" lvl="3" indent="-228600" algn="ctr">
              <a:spcBef>
                <a:spcPts val="800"/>
              </a:spcBef>
              <a:spcAft>
                <a:spcPts val="0"/>
              </a:spcAft>
              <a:buClr>
                <a:srgbClr val="878787"/>
              </a:buClr>
              <a:buSzPts val="1400"/>
              <a:buFont typeface="Calibri"/>
              <a:buNone/>
              <a:defRPr sz="1400"/>
            </a:lvl4pPr>
            <a:lvl5pPr marL="2286000" lvl="4" indent="-228600" algn="ctr">
              <a:spcBef>
                <a:spcPts val="800"/>
              </a:spcBef>
              <a:spcAft>
                <a:spcPts val="0"/>
              </a:spcAft>
              <a:buClr>
                <a:srgbClr val="878787"/>
              </a:buClr>
              <a:buSzPts val="1400"/>
              <a:buFont typeface="Calibri"/>
              <a:buNone/>
              <a:defRPr sz="1400"/>
            </a:lvl5pPr>
            <a:lvl6pPr marL="2743200" lvl="5" indent="-228600" algn="ctr">
              <a:spcBef>
                <a:spcPts val="800"/>
              </a:spcBef>
              <a:spcAft>
                <a:spcPts val="0"/>
              </a:spcAft>
              <a:buClr>
                <a:srgbClr val="878787"/>
              </a:buClr>
              <a:buSzPts val="1400"/>
              <a:buFont typeface="Calibri"/>
              <a:buNone/>
              <a:defRPr sz="1400"/>
            </a:lvl6pPr>
            <a:lvl7pPr marL="3200400" lvl="6" indent="-228600" algn="ctr">
              <a:spcBef>
                <a:spcPts val="800"/>
              </a:spcBef>
              <a:spcAft>
                <a:spcPts val="0"/>
              </a:spcAft>
              <a:buClr>
                <a:srgbClr val="878787"/>
              </a:buClr>
              <a:buSzPts val="1400"/>
              <a:buFont typeface="Calibri"/>
              <a:buNone/>
              <a:defRPr sz="1400"/>
            </a:lvl7pPr>
            <a:lvl8pPr marL="3657600" lvl="7" indent="-228600" algn="ctr">
              <a:spcBef>
                <a:spcPts val="800"/>
              </a:spcBef>
              <a:spcAft>
                <a:spcPts val="0"/>
              </a:spcAft>
              <a:buClr>
                <a:srgbClr val="878787"/>
              </a:buClr>
              <a:buSzPts val="1400"/>
              <a:buFont typeface="Calibri"/>
              <a:buNone/>
              <a:defRPr sz="1400"/>
            </a:lvl8pPr>
            <a:lvl9pPr marL="4114800" lvl="8" indent="-228600" algn="ctr">
              <a:spcBef>
                <a:spcPts val="800"/>
              </a:spcBef>
              <a:spcAft>
                <a:spcPts val="0"/>
              </a:spcAft>
              <a:buClr>
                <a:srgbClr val="878787"/>
              </a:buClr>
              <a:buSzPts val="1400"/>
              <a:buFont typeface="Calibri"/>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
        <p:cNvGrpSpPr/>
        <p:nvPr/>
      </p:nvGrpSpPr>
      <p:grpSpPr>
        <a:xfrm>
          <a:off x="0" y="0"/>
          <a:ext cx="0" cy="0"/>
          <a:chOff x="0" y="0"/>
          <a:chExt cx="0" cy="0"/>
        </a:xfrm>
      </p:grpSpPr>
      <p:sp>
        <p:nvSpPr>
          <p:cNvPr id="18" name="Google Shape;18;p263"/>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 name="Google Shape;19;p263"/>
          <p:cNvSpPr txBox="1">
            <a:spLocks noGrp="1"/>
          </p:cNvSpPr>
          <p:nvPr>
            <p:ph type="body" idx="1"/>
          </p:nvPr>
        </p:nvSpPr>
        <p:spPr>
          <a:xfrm>
            <a:off x="1828800" y="3886200"/>
            <a:ext cx="4165600" cy="29718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800"/>
            </a:lvl1pPr>
            <a:lvl2pPr marL="914400" lvl="1" indent="-228600" algn="ctr">
              <a:spcBef>
                <a:spcPts val="800"/>
              </a:spcBef>
              <a:spcAft>
                <a:spcPts val="0"/>
              </a:spcAft>
              <a:buSzPts val="1400"/>
              <a:buNone/>
              <a:defRPr sz="2400"/>
            </a:lvl2pPr>
            <a:lvl3pPr marL="1371600" lvl="2" indent="-228600" algn="ctr">
              <a:spcBef>
                <a:spcPts val="800"/>
              </a:spcBef>
              <a:spcAft>
                <a:spcPts val="0"/>
              </a:spcAft>
              <a:buSzPts val="1400"/>
              <a:buNone/>
              <a:defRPr sz="2000"/>
            </a:lvl3pPr>
            <a:lvl4pPr marL="1828800" lvl="3" indent="-228600" algn="ctr">
              <a:spcBef>
                <a:spcPts val="800"/>
              </a:spcBef>
              <a:spcAft>
                <a:spcPts val="0"/>
              </a:spcAft>
              <a:buSzPts val="1400"/>
              <a:buNone/>
              <a:defRPr sz="1800"/>
            </a:lvl4pPr>
            <a:lvl5pPr marL="2286000" lvl="4" indent="-228600" algn="ctr">
              <a:spcBef>
                <a:spcPts val="800"/>
              </a:spcBef>
              <a:spcAft>
                <a:spcPts val="0"/>
              </a:spcAft>
              <a:buSzPts val="1400"/>
              <a:buNone/>
              <a:defRPr sz="1800"/>
            </a:lvl5pPr>
            <a:lvl6pPr marL="2743200" lvl="5" indent="-228600" algn="ctr">
              <a:spcBef>
                <a:spcPts val="800"/>
              </a:spcBef>
              <a:spcAft>
                <a:spcPts val="0"/>
              </a:spcAft>
              <a:buSzPts val="1400"/>
              <a:buNone/>
              <a:defRPr sz="1800"/>
            </a:lvl6pPr>
            <a:lvl7pPr marL="3200400" lvl="6" indent="-228600" algn="ctr">
              <a:spcBef>
                <a:spcPts val="800"/>
              </a:spcBef>
              <a:spcAft>
                <a:spcPts val="0"/>
              </a:spcAft>
              <a:buSzPts val="1400"/>
              <a:buNone/>
              <a:defRPr sz="1800"/>
            </a:lvl7pPr>
            <a:lvl8pPr marL="3657600" lvl="7" indent="-228600" algn="ctr">
              <a:spcBef>
                <a:spcPts val="800"/>
              </a:spcBef>
              <a:spcAft>
                <a:spcPts val="0"/>
              </a:spcAft>
              <a:buSzPts val="1400"/>
              <a:buNone/>
              <a:defRPr sz="1800"/>
            </a:lvl8pPr>
            <a:lvl9pPr marL="4114800" lvl="8" indent="-228600" algn="ctr">
              <a:spcBef>
                <a:spcPts val="800"/>
              </a:spcBef>
              <a:spcAft>
                <a:spcPts val="0"/>
              </a:spcAft>
              <a:buSzPts val="1400"/>
              <a:buNone/>
              <a:defRPr sz="1800"/>
            </a:lvl9pPr>
          </a:lstStyle>
          <a:p>
            <a:endParaRPr/>
          </a:p>
        </p:txBody>
      </p:sp>
      <p:sp>
        <p:nvSpPr>
          <p:cNvPr id="20" name="Google Shape;20;p263"/>
          <p:cNvSpPr txBox="1">
            <a:spLocks noGrp="1"/>
          </p:cNvSpPr>
          <p:nvPr>
            <p:ph type="body" idx="2"/>
          </p:nvPr>
        </p:nvSpPr>
        <p:spPr>
          <a:xfrm>
            <a:off x="6197600" y="3886200"/>
            <a:ext cx="4165600" cy="29718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800"/>
            </a:lvl1pPr>
            <a:lvl2pPr marL="914400" lvl="1" indent="-228600" algn="ctr">
              <a:spcBef>
                <a:spcPts val="800"/>
              </a:spcBef>
              <a:spcAft>
                <a:spcPts val="0"/>
              </a:spcAft>
              <a:buSzPts val="1400"/>
              <a:buNone/>
              <a:defRPr sz="2400"/>
            </a:lvl2pPr>
            <a:lvl3pPr marL="1371600" lvl="2" indent="-228600" algn="ctr">
              <a:spcBef>
                <a:spcPts val="800"/>
              </a:spcBef>
              <a:spcAft>
                <a:spcPts val="0"/>
              </a:spcAft>
              <a:buSzPts val="1400"/>
              <a:buNone/>
              <a:defRPr sz="2000"/>
            </a:lvl3pPr>
            <a:lvl4pPr marL="1828800" lvl="3" indent="-228600" algn="ctr">
              <a:spcBef>
                <a:spcPts val="800"/>
              </a:spcBef>
              <a:spcAft>
                <a:spcPts val="0"/>
              </a:spcAft>
              <a:buSzPts val="1400"/>
              <a:buNone/>
              <a:defRPr sz="1800"/>
            </a:lvl4pPr>
            <a:lvl5pPr marL="2286000" lvl="4" indent="-228600" algn="ctr">
              <a:spcBef>
                <a:spcPts val="800"/>
              </a:spcBef>
              <a:spcAft>
                <a:spcPts val="0"/>
              </a:spcAft>
              <a:buSzPts val="1400"/>
              <a:buNone/>
              <a:defRPr sz="1800"/>
            </a:lvl5pPr>
            <a:lvl6pPr marL="2743200" lvl="5" indent="-228600" algn="ctr">
              <a:spcBef>
                <a:spcPts val="800"/>
              </a:spcBef>
              <a:spcAft>
                <a:spcPts val="0"/>
              </a:spcAft>
              <a:buSzPts val="1400"/>
              <a:buNone/>
              <a:defRPr sz="1800"/>
            </a:lvl6pPr>
            <a:lvl7pPr marL="3200400" lvl="6" indent="-228600" algn="ctr">
              <a:spcBef>
                <a:spcPts val="800"/>
              </a:spcBef>
              <a:spcAft>
                <a:spcPts val="0"/>
              </a:spcAft>
              <a:buSzPts val="1400"/>
              <a:buNone/>
              <a:defRPr sz="1800"/>
            </a:lvl7pPr>
            <a:lvl8pPr marL="3657600" lvl="7" indent="-228600" algn="ctr">
              <a:spcBef>
                <a:spcPts val="800"/>
              </a:spcBef>
              <a:spcAft>
                <a:spcPts val="0"/>
              </a:spcAft>
              <a:buSzPts val="1400"/>
              <a:buNone/>
              <a:defRPr sz="1800"/>
            </a:lvl8pPr>
            <a:lvl9pPr marL="4114800" lvl="8" indent="-228600" algn="ctr">
              <a:spcBef>
                <a:spcPts val="800"/>
              </a:spcBef>
              <a:spcAft>
                <a:spcPts val="0"/>
              </a:spcAft>
              <a:buSzPts val="14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
        <p:cNvGrpSpPr/>
        <p:nvPr/>
      </p:nvGrpSpPr>
      <p:grpSpPr>
        <a:xfrm>
          <a:off x="0" y="0"/>
          <a:ext cx="0" cy="0"/>
          <a:chOff x="0" y="0"/>
          <a:chExt cx="0" cy="0"/>
        </a:xfrm>
      </p:grpSpPr>
      <p:sp>
        <p:nvSpPr>
          <p:cNvPr id="22" name="Google Shape;22;p264"/>
          <p:cNvSpPr txBox="1">
            <a:spLocks noGrp="1"/>
          </p:cNvSpPr>
          <p:nvPr>
            <p:ph type="title"/>
          </p:nvPr>
        </p:nvSpPr>
        <p:spPr>
          <a:xfrm>
            <a:off x="609600" y="274638"/>
            <a:ext cx="10972800" cy="11430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264"/>
          <p:cNvSpPr txBox="1">
            <a:spLocks noGrp="1"/>
          </p:cNvSpPr>
          <p:nvPr>
            <p:ph type="body" idx="1"/>
          </p:nvPr>
        </p:nvSpPr>
        <p:spPr>
          <a:xfrm>
            <a:off x="609600" y="1535113"/>
            <a:ext cx="5386917" cy="639762"/>
          </a:xfrm>
          <a:prstGeom prst="rect">
            <a:avLst/>
          </a:prstGeom>
          <a:noFill/>
          <a:ln>
            <a:noFill/>
          </a:ln>
        </p:spPr>
        <p:txBody>
          <a:bodyPr spcFirstLastPara="1" wrap="square" lIns="50800" tIns="50800" rIns="50800" bIns="50800" anchor="b" anchorCtr="0">
            <a:noAutofit/>
          </a:bodyPr>
          <a:lstStyle>
            <a:lvl1pPr marL="457200" lvl="0" indent="-228600" algn="ctr">
              <a:spcBef>
                <a:spcPts val="800"/>
              </a:spcBef>
              <a:spcAft>
                <a:spcPts val="0"/>
              </a:spcAft>
              <a:buClr>
                <a:srgbClr val="878787"/>
              </a:buClr>
              <a:buSzPts val="2400"/>
              <a:buFont typeface="Calibri"/>
              <a:buNone/>
              <a:defRPr sz="2400" b="1"/>
            </a:lvl1pPr>
            <a:lvl2pPr marL="914400" lvl="1" indent="-228600" algn="ctr">
              <a:spcBef>
                <a:spcPts val="800"/>
              </a:spcBef>
              <a:spcAft>
                <a:spcPts val="0"/>
              </a:spcAft>
              <a:buClr>
                <a:srgbClr val="878787"/>
              </a:buClr>
              <a:buSzPts val="2000"/>
              <a:buFont typeface="Calibri"/>
              <a:buNone/>
              <a:defRPr sz="2000" b="1"/>
            </a:lvl2pPr>
            <a:lvl3pPr marL="1371600" lvl="2" indent="-228600" algn="ctr">
              <a:spcBef>
                <a:spcPts val="800"/>
              </a:spcBef>
              <a:spcAft>
                <a:spcPts val="0"/>
              </a:spcAft>
              <a:buClr>
                <a:srgbClr val="878787"/>
              </a:buClr>
              <a:buSzPts val="1800"/>
              <a:buFont typeface="Calibri"/>
              <a:buNone/>
              <a:defRPr sz="1800" b="1"/>
            </a:lvl3pPr>
            <a:lvl4pPr marL="1828800" lvl="3" indent="-228600" algn="ctr">
              <a:spcBef>
                <a:spcPts val="800"/>
              </a:spcBef>
              <a:spcAft>
                <a:spcPts val="0"/>
              </a:spcAft>
              <a:buClr>
                <a:srgbClr val="878787"/>
              </a:buClr>
              <a:buSzPts val="1600"/>
              <a:buFont typeface="Calibri"/>
              <a:buNone/>
              <a:defRPr sz="1600" b="1"/>
            </a:lvl4pPr>
            <a:lvl5pPr marL="2286000" lvl="4" indent="-228600" algn="ctr">
              <a:spcBef>
                <a:spcPts val="800"/>
              </a:spcBef>
              <a:spcAft>
                <a:spcPts val="0"/>
              </a:spcAft>
              <a:buClr>
                <a:srgbClr val="878787"/>
              </a:buClr>
              <a:buSzPts val="1600"/>
              <a:buFont typeface="Calibri"/>
              <a:buNone/>
              <a:defRPr sz="1600" b="1"/>
            </a:lvl5pPr>
            <a:lvl6pPr marL="2743200" lvl="5" indent="-228600" algn="ctr">
              <a:spcBef>
                <a:spcPts val="800"/>
              </a:spcBef>
              <a:spcAft>
                <a:spcPts val="0"/>
              </a:spcAft>
              <a:buClr>
                <a:srgbClr val="878787"/>
              </a:buClr>
              <a:buSzPts val="1600"/>
              <a:buFont typeface="Calibri"/>
              <a:buNone/>
              <a:defRPr sz="1600" b="1"/>
            </a:lvl6pPr>
            <a:lvl7pPr marL="3200400" lvl="6" indent="-228600" algn="ctr">
              <a:spcBef>
                <a:spcPts val="800"/>
              </a:spcBef>
              <a:spcAft>
                <a:spcPts val="0"/>
              </a:spcAft>
              <a:buClr>
                <a:srgbClr val="878787"/>
              </a:buClr>
              <a:buSzPts val="1600"/>
              <a:buFont typeface="Calibri"/>
              <a:buNone/>
              <a:defRPr sz="1600" b="1"/>
            </a:lvl7pPr>
            <a:lvl8pPr marL="3657600" lvl="7" indent="-228600" algn="ctr">
              <a:spcBef>
                <a:spcPts val="800"/>
              </a:spcBef>
              <a:spcAft>
                <a:spcPts val="0"/>
              </a:spcAft>
              <a:buClr>
                <a:srgbClr val="878787"/>
              </a:buClr>
              <a:buSzPts val="1600"/>
              <a:buFont typeface="Calibri"/>
              <a:buNone/>
              <a:defRPr sz="1600" b="1"/>
            </a:lvl8pPr>
            <a:lvl9pPr marL="4114800" lvl="8" indent="-228600" algn="ctr">
              <a:spcBef>
                <a:spcPts val="800"/>
              </a:spcBef>
              <a:spcAft>
                <a:spcPts val="0"/>
              </a:spcAft>
              <a:buClr>
                <a:srgbClr val="878787"/>
              </a:buClr>
              <a:buSzPts val="1600"/>
              <a:buFont typeface="Calibri"/>
              <a:buNone/>
              <a:defRPr sz="1600" b="1"/>
            </a:lvl9pPr>
          </a:lstStyle>
          <a:p>
            <a:endParaRPr/>
          </a:p>
        </p:txBody>
      </p:sp>
      <p:sp>
        <p:nvSpPr>
          <p:cNvPr id="24" name="Google Shape;24;p264"/>
          <p:cNvSpPr txBox="1">
            <a:spLocks noGrp="1"/>
          </p:cNvSpPr>
          <p:nvPr>
            <p:ph type="body" idx="2"/>
          </p:nvPr>
        </p:nvSpPr>
        <p:spPr>
          <a:xfrm>
            <a:off x="609600" y="2174875"/>
            <a:ext cx="5386917" cy="3951288"/>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400"/>
            </a:lvl1pPr>
            <a:lvl2pPr marL="914400" lvl="1" indent="-228600" algn="ctr">
              <a:spcBef>
                <a:spcPts val="800"/>
              </a:spcBef>
              <a:spcAft>
                <a:spcPts val="0"/>
              </a:spcAft>
              <a:buSzPts val="1400"/>
              <a:buNone/>
              <a:defRPr sz="2000"/>
            </a:lvl2pPr>
            <a:lvl3pPr marL="1371600" lvl="2" indent="-228600" algn="ctr">
              <a:spcBef>
                <a:spcPts val="800"/>
              </a:spcBef>
              <a:spcAft>
                <a:spcPts val="0"/>
              </a:spcAft>
              <a:buSzPts val="1400"/>
              <a:buNone/>
              <a:defRPr sz="1800"/>
            </a:lvl3pPr>
            <a:lvl4pPr marL="1828800" lvl="3" indent="-228600" algn="ctr">
              <a:spcBef>
                <a:spcPts val="800"/>
              </a:spcBef>
              <a:spcAft>
                <a:spcPts val="0"/>
              </a:spcAft>
              <a:buSzPts val="1400"/>
              <a:buNone/>
              <a:defRPr sz="1600"/>
            </a:lvl4pPr>
            <a:lvl5pPr marL="2286000" lvl="4" indent="-228600" algn="ctr">
              <a:spcBef>
                <a:spcPts val="800"/>
              </a:spcBef>
              <a:spcAft>
                <a:spcPts val="0"/>
              </a:spcAft>
              <a:buSzPts val="1400"/>
              <a:buNone/>
              <a:defRPr sz="1600"/>
            </a:lvl5pPr>
            <a:lvl6pPr marL="2743200" lvl="5" indent="-228600" algn="ctr">
              <a:spcBef>
                <a:spcPts val="800"/>
              </a:spcBef>
              <a:spcAft>
                <a:spcPts val="0"/>
              </a:spcAft>
              <a:buSzPts val="1400"/>
              <a:buNone/>
              <a:defRPr sz="1600"/>
            </a:lvl6pPr>
            <a:lvl7pPr marL="3200400" lvl="6" indent="-228600" algn="ctr">
              <a:spcBef>
                <a:spcPts val="800"/>
              </a:spcBef>
              <a:spcAft>
                <a:spcPts val="0"/>
              </a:spcAft>
              <a:buSzPts val="1400"/>
              <a:buNone/>
              <a:defRPr sz="1600"/>
            </a:lvl7pPr>
            <a:lvl8pPr marL="3657600" lvl="7" indent="-228600" algn="ctr">
              <a:spcBef>
                <a:spcPts val="800"/>
              </a:spcBef>
              <a:spcAft>
                <a:spcPts val="0"/>
              </a:spcAft>
              <a:buSzPts val="1400"/>
              <a:buNone/>
              <a:defRPr sz="1600"/>
            </a:lvl8pPr>
            <a:lvl9pPr marL="4114800" lvl="8" indent="-228600" algn="ctr">
              <a:spcBef>
                <a:spcPts val="800"/>
              </a:spcBef>
              <a:spcAft>
                <a:spcPts val="0"/>
              </a:spcAft>
              <a:buSzPts val="1400"/>
              <a:buNone/>
              <a:defRPr sz="1600"/>
            </a:lvl9pPr>
          </a:lstStyle>
          <a:p>
            <a:endParaRPr/>
          </a:p>
        </p:txBody>
      </p:sp>
      <p:sp>
        <p:nvSpPr>
          <p:cNvPr id="25" name="Google Shape;25;p264"/>
          <p:cNvSpPr txBox="1">
            <a:spLocks noGrp="1"/>
          </p:cNvSpPr>
          <p:nvPr>
            <p:ph type="body" idx="3"/>
          </p:nvPr>
        </p:nvSpPr>
        <p:spPr>
          <a:xfrm>
            <a:off x="6193368" y="1535113"/>
            <a:ext cx="5389033" cy="639762"/>
          </a:xfrm>
          <a:prstGeom prst="rect">
            <a:avLst/>
          </a:prstGeom>
          <a:noFill/>
          <a:ln>
            <a:noFill/>
          </a:ln>
        </p:spPr>
        <p:txBody>
          <a:bodyPr spcFirstLastPara="1" wrap="square" lIns="50800" tIns="50800" rIns="50800" bIns="50800" anchor="b" anchorCtr="0">
            <a:noAutofit/>
          </a:bodyPr>
          <a:lstStyle>
            <a:lvl1pPr marL="457200" lvl="0" indent="-228600" algn="ctr">
              <a:spcBef>
                <a:spcPts val="800"/>
              </a:spcBef>
              <a:spcAft>
                <a:spcPts val="0"/>
              </a:spcAft>
              <a:buClr>
                <a:srgbClr val="878787"/>
              </a:buClr>
              <a:buSzPts val="2400"/>
              <a:buFont typeface="Calibri"/>
              <a:buNone/>
              <a:defRPr sz="2400" b="1"/>
            </a:lvl1pPr>
            <a:lvl2pPr marL="914400" lvl="1" indent="-228600" algn="ctr">
              <a:spcBef>
                <a:spcPts val="800"/>
              </a:spcBef>
              <a:spcAft>
                <a:spcPts val="0"/>
              </a:spcAft>
              <a:buClr>
                <a:srgbClr val="878787"/>
              </a:buClr>
              <a:buSzPts val="2000"/>
              <a:buFont typeface="Calibri"/>
              <a:buNone/>
              <a:defRPr sz="2000" b="1"/>
            </a:lvl2pPr>
            <a:lvl3pPr marL="1371600" lvl="2" indent="-228600" algn="ctr">
              <a:spcBef>
                <a:spcPts val="800"/>
              </a:spcBef>
              <a:spcAft>
                <a:spcPts val="0"/>
              </a:spcAft>
              <a:buClr>
                <a:srgbClr val="878787"/>
              </a:buClr>
              <a:buSzPts val="1800"/>
              <a:buFont typeface="Calibri"/>
              <a:buNone/>
              <a:defRPr sz="1800" b="1"/>
            </a:lvl3pPr>
            <a:lvl4pPr marL="1828800" lvl="3" indent="-228600" algn="ctr">
              <a:spcBef>
                <a:spcPts val="800"/>
              </a:spcBef>
              <a:spcAft>
                <a:spcPts val="0"/>
              </a:spcAft>
              <a:buClr>
                <a:srgbClr val="878787"/>
              </a:buClr>
              <a:buSzPts val="1600"/>
              <a:buFont typeface="Calibri"/>
              <a:buNone/>
              <a:defRPr sz="1600" b="1"/>
            </a:lvl4pPr>
            <a:lvl5pPr marL="2286000" lvl="4" indent="-228600" algn="ctr">
              <a:spcBef>
                <a:spcPts val="800"/>
              </a:spcBef>
              <a:spcAft>
                <a:spcPts val="0"/>
              </a:spcAft>
              <a:buClr>
                <a:srgbClr val="878787"/>
              </a:buClr>
              <a:buSzPts val="1600"/>
              <a:buFont typeface="Calibri"/>
              <a:buNone/>
              <a:defRPr sz="1600" b="1"/>
            </a:lvl5pPr>
            <a:lvl6pPr marL="2743200" lvl="5" indent="-228600" algn="ctr">
              <a:spcBef>
                <a:spcPts val="800"/>
              </a:spcBef>
              <a:spcAft>
                <a:spcPts val="0"/>
              </a:spcAft>
              <a:buClr>
                <a:srgbClr val="878787"/>
              </a:buClr>
              <a:buSzPts val="1600"/>
              <a:buFont typeface="Calibri"/>
              <a:buNone/>
              <a:defRPr sz="1600" b="1"/>
            </a:lvl6pPr>
            <a:lvl7pPr marL="3200400" lvl="6" indent="-228600" algn="ctr">
              <a:spcBef>
                <a:spcPts val="800"/>
              </a:spcBef>
              <a:spcAft>
                <a:spcPts val="0"/>
              </a:spcAft>
              <a:buClr>
                <a:srgbClr val="878787"/>
              </a:buClr>
              <a:buSzPts val="1600"/>
              <a:buFont typeface="Calibri"/>
              <a:buNone/>
              <a:defRPr sz="1600" b="1"/>
            </a:lvl7pPr>
            <a:lvl8pPr marL="3657600" lvl="7" indent="-228600" algn="ctr">
              <a:spcBef>
                <a:spcPts val="800"/>
              </a:spcBef>
              <a:spcAft>
                <a:spcPts val="0"/>
              </a:spcAft>
              <a:buClr>
                <a:srgbClr val="878787"/>
              </a:buClr>
              <a:buSzPts val="1600"/>
              <a:buFont typeface="Calibri"/>
              <a:buNone/>
              <a:defRPr sz="1600" b="1"/>
            </a:lvl8pPr>
            <a:lvl9pPr marL="4114800" lvl="8" indent="-228600" algn="ctr">
              <a:spcBef>
                <a:spcPts val="800"/>
              </a:spcBef>
              <a:spcAft>
                <a:spcPts val="0"/>
              </a:spcAft>
              <a:buClr>
                <a:srgbClr val="878787"/>
              </a:buClr>
              <a:buSzPts val="1600"/>
              <a:buFont typeface="Calibri"/>
              <a:buNone/>
              <a:defRPr sz="1600" b="1"/>
            </a:lvl9pPr>
          </a:lstStyle>
          <a:p>
            <a:endParaRPr/>
          </a:p>
        </p:txBody>
      </p:sp>
      <p:sp>
        <p:nvSpPr>
          <p:cNvPr id="26" name="Google Shape;26;p264"/>
          <p:cNvSpPr txBox="1">
            <a:spLocks noGrp="1"/>
          </p:cNvSpPr>
          <p:nvPr>
            <p:ph type="body" idx="4"/>
          </p:nvPr>
        </p:nvSpPr>
        <p:spPr>
          <a:xfrm>
            <a:off x="6193368" y="2174875"/>
            <a:ext cx="5389033" cy="3951288"/>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2400"/>
            </a:lvl1pPr>
            <a:lvl2pPr marL="914400" lvl="1" indent="-228600" algn="ctr">
              <a:spcBef>
                <a:spcPts val="800"/>
              </a:spcBef>
              <a:spcAft>
                <a:spcPts val="0"/>
              </a:spcAft>
              <a:buSzPts val="1400"/>
              <a:buNone/>
              <a:defRPr sz="2000"/>
            </a:lvl2pPr>
            <a:lvl3pPr marL="1371600" lvl="2" indent="-228600" algn="ctr">
              <a:spcBef>
                <a:spcPts val="800"/>
              </a:spcBef>
              <a:spcAft>
                <a:spcPts val="0"/>
              </a:spcAft>
              <a:buSzPts val="1400"/>
              <a:buNone/>
              <a:defRPr sz="1800"/>
            </a:lvl3pPr>
            <a:lvl4pPr marL="1828800" lvl="3" indent="-228600" algn="ctr">
              <a:spcBef>
                <a:spcPts val="800"/>
              </a:spcBef>
              <a:spcAft>
                <a:spcPts val="0"/>
              </a:spcAft>
              <a:buSzPts val="1400"/>
              <a:buNone/>
              <a:defRPr sz="1600"/>
            </a:lvl4pPr>
            <a:lvl5pPr marL="2286000" lvl="4" indent="-228600" algn="ctr">
              <a:spcBef>
                <a:spcPts val="800"/>
              </a:spcBef>
              <a:spcAft>
                <a:spcPts val="0"/>
              </a:spcAft>
              <a:buSzPts val="1400"/>
              <a:buNone/>
              <a:defRPr sz="1600"/>
            </a:lvl5pPr>
            <a:lvl6pPr marL="2743200" lvl="5" indent="-228600" algn="ctr">
              <a:spcBef>
                <a:spcPts val="800"/>
              </a:spcBef>
              <a:spcAft>
                <a:spcPts val="0"/>
              </a:spcAft>
              <a:buSzPts val="1400"/>
              <a:buNone/>
              <a:defRPr sz="1600"/>
            </a:lvl6pPr>
            <a:lvl7pPr marL="3200400" lvl="6" indent="-228600" algn="ctr">
              <a:spcBef>
                <a:spcPts val="800"/>
              </a:spcBef>
              <a:spcAft>
                <a:spcPts val="0"/>
              </a:spcAft>
              <a:buSzPts val="1400"/>
              <a:buNone/>
              <a:defRPr sz="1600"/>
            </a:lvl7pPr>
            <a:lvl8pPr marL="3657600" lvl="7" indent="-228600" algn="ctr">
              <a:spcBef>
                <a:spcPts val="800"/>
              </a:spcBef>
              <a:spcAft>
                <a:spcPts val="0"/>
              </a:spcAft>
              <a:buSzPts val="1400"/>
              <a:buNone/>
              <a:defRPr sz="1600"/>
            </a:lvl8pPr>
            <a:lvl9pPr marL="4114800" lvl="8" indent="-228600" algn="ctr">
              <a:spcBef>
                <a:spcPts val="800"/>
              </a:spcBef>
              <a:spcAft>
                <a:spcPts val="0"/>
              </a:spcAft>
              <a:buSzPts val="14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265"/>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0"/>
        <p:cNvGrpSpPr/>
        <p:nvPr/>
      </p:nvGrpSpPr>
      <p:grpSpPr>
        <a:xfrm>
          <a:off x="0" y="0"/>
          <a:ext cx="0" cy="0"/>
          <a:chOff x="0" y="0"/>
          <a:chExt cx="0" cy="0"/>
        </a:xfrm>
      </p:grpSpPr>
      <p:sp>
        <p:nvSpPr>
          <p:cNvPr id="31" name="Google Shape;31;p267"/>
          <p:cNvSpPr txBox="1">
            <a:spLocks noGrp="1"/>
          </p:cNvSpPr>
          <p:nvPr>
            <p:ph type="title"/>
          </p:nvPr>
        </p:nvSpPr>
        <p:spPr>
          <a:xfrm>
            <a:off x="609601" y="273050"/>
            <a:ext cx="4011084" cy="1162050"/>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267"/>
          <p:cNvSpPr txBox="1">
            <a:spLocks noGrp="1"/>
          </p:cNvSpPr>
          <p:nvPr>
            <p:ph type="body" idx="1"/>
          </p:nvPr>
        </p:nvSpPr>
        <p:spPr>
          <a:xfrm>
            <a:off x="4766733" y="273051"/>
            <a:ext cx="6815667" cy="5853113"/>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sz="3200"/>
            </a:lvl1pPr>
            <a:lvl2pPr marL="914400" lvl="1" indent="-228600" algn="ctr">
              <a:spcBef>
                <a:spcPts val="800"/>
              </a:spcBef>
              <a:spcAft>
                <a:spcPts val="0"/>
              </a:spcAft>
              <a:buSzPts val="1400"/>
              <a:buNone/>
              <a:defRPr sz="2800"/>
            </a:lvl2pPr>
            <a:lvl3pPr marL="1371600" lvl="2" indent="-228600" algn="ctr">
              <a:spcBef>
                <a:spcPts val="800"/>
              </a:spcBef>
              <a:spcAft>
                <a:spcPts val="0"/>
              </a:spcAft>
              <a:buSzPts val="1400"/>
              <a:buNone/>
              <a:defRPr sz="2400"/>
            </a:lvl3pPr>
            <a:lvl4pPr marL="1828800" lvl="3" indent="-228600" algn="ctr">
              <a:spcBef>
                <a:spcPts val="800"/>
              </a:spcBef>
              <a:spcAft>
                <a:spcPts val="0"/>
              </a:spcAft>
              <a:buSzPts val="1400"/>
              <a:buNone/>
              <a:defRPr sz="2000"/>
            </a:lvl4pPr>
            <a:lvl5pPr marL="2286000" lvl="4" indent="-228600" algn="ctr">
              <a:spcBef>
                <a:spcPts val="800"/>
              </a:spcBef>
              <a:spcAft>
                <a:spcPts val="0"/>
              </a:spcAft>
              <a:buSzPts val="1400"/>
              <a:buNone/>
              <a:defRPr sz="2000"/>
            </a:lvl5pPr>
            <a:lvl6pPr marL="2743200" lvl="5" indent="-228600" algn="ctr">
              <a:spcBef>
                <a:spcPts val="800"/>
              </a:spcBef>
              <a:spcAft>
                <a:spcPts val="0"/>
              </a:spcAft>
              <a:buSzPts val="1400"/>
              <a:buNone/>
              <a:defRPr sz="2000"/>
            </a:lvl6pPr>
            <a:lvl7pPr marL="3200400" lvl="6" indent="-228600" algn="ctr">
              <a:spcBef>
                <a:spcPts val="800"/>
              </a:spcBef>
              <a:spcAft>
                <a:spcPts val="0"/>
              </a:spcAft>
              <a:buSzPts val="1400"/>
              <a:buNone/>
              <a:defRPr sz="2000"/>
            </a:lvl7pPr>
            <a:lvl8pPr marL="3657600" lvl="7" indent="-228600" algn="ctr">
              <a:spcBef>
                <a:spcPts val="800"/>
              </a:spcBef>
              <a:spcAft>
                <a:spcPts val="0"/>
              </a:spcAft>
              <a:buSzPts val="1400"/>
              <a:buNone/>
              <a:defRPr sz="2000"/>
            </a:lvl8pPr>
            <a:lvl9pPr marL="4114800" lvl="8" indent="-228600" algn="ctr">
              <a:spcBef>
                <a:spcPts val="800"/>
              </a:spcBef>
              <a:spcAft>
                <a:spcPts val="0"/>
              </a:spcAft>
              <a:buSzPts val="1400"/>
              <a:buNone/>
              <a:defRPr sz="2000"/>
            </a:lvl9pPr>
          </a:lstStyle>
          <a:p>
            <a:endParaRPr/>
          </a:p>
        </p:txBody>
      </p:sp>
      <p:sp>
        <p:nvSpPr>
          <p:cNvPr id="33" name="Google Shape;33;p267"/>
          <p:cNvSpPr txBox="1">
            <a:spLocks noGrp="1"/>
          </p:cNvSpPr>
          <p:nvPr>
            <p:ph type="body" idx="2"/>
          </p:nvPr>
        </p:nvSpPr>
        <p:spPr>
          <a:xfrm>
            <a:off x="609601" y="1435101"/>
            <a:ext cx="4011084" cy="4691063"/>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Clr>
                <a:srgbClr val="878787"/>
              </a:buClr>
              <a:buSzPts val="1400"/>
              <a:buFont typeface="Calibri"/>
              <a:buNone/>
              <a:defRPr sz="1400"/>
            </a:lvl1pPr>
            <a:lvl2pPr marL="914400" lvl="1" indent="-228600" algn="ctr">
              <a:spcBef>
                <a:spcPts val="800"/>
              </a:spcBef>
              <a:spcAft>
                <a:spcPts val="0"/>
              </a:spcAft>
              <a:buClr>
                <a:srgbClr val="878787"/>
              </a:buClr>
              <a:buSzPts val="1200"/>
              <a:buFont typeface="Calibri"/>
              <a:buNone/>
              <a:defRPr sz="1200"/>
            </a:lvl2pPr>
            <a:lvl3pPr marL="1371600" lvl="2" indent="-228600" algn="ctr">
              <a:spcBef>
                <a:spcPts val="800"/>
              </a:spcBef>
              <a:spcAft>
                <a:spcPts val="0"/>
              </a:spcAft>
              <a:buClr>
                <a:srgbClr val="878787"/>
              </a:buClr>
              <a:buSzPts val="1000"/>
              <a:buFont typeface="Calibri"/>
              <a:buNone/>
              <a:defRPr sz="1000"/>
            </a:lvl3pPr>
            <a:lvl4pPr marL="1828800" lvl="3" indent="-228600" algn="ctr">
              <a:spcBef>
                <a:spcPts val="800"/>
              </a:spcBef>
              <a:spcAft>
                <a:spcPts val="0"/>
              </a:spcAft>
              <a:buClr>
                <a:srgbClr val="878787"/>
              </a:buClr>
              <a:buSzPts val="900"/>
              <a:buFont typeface="Calibri"/>
              <a:buNone/>
              <a:defRPr sz="900"/>
            </a:lvl4pPr>
            <a:lvl5pPr marL="2286000" lvl="4" indent="-228600" algn="ctr">
              <a:spcBef>
                <a:spcPts val="800"/>
              </a:spcBef>
              <a:spcAft>
                <a:spcPts val="0"/>
              </a:spcAft>
              <a:buClr>
                <a:srgbClr val="878787"/>
              </a:buClr>
              <a:buSzPts val="900"/>
              <a:buFont typeface="Calibri"/>
              <a:buNone/>
              <a:defRPr sz="900"/>
            </a:lvl5pPr>
            <a:lvl6pPr marL="2743200" lvl="5" indent="-228600" algn="ctr">
              <a:spcBef>
                <a:spcPts val="800"/>
              </a:spcBef>
              <a:spcAft>
                <a:spcPts val="0"/>
              </a:spcAft>
              <a:buClr>
                <a:srgbClr val="878787"/>
              </a:buClr>
              <a:buSzPts val="900"/>
              <a:buFont typeface="Calibri"/>
              <a:buNone/>
              <a:defRPr sz="900"/>
            </a:lvl6pPr>
            <a:lvl7pPr marL="3200400" lvl="6" indent="-228600" algn="ctr">
              <a:spcBef>
                <a:spcPts val="800"/>
              </a:spcBef>
              <a:spcAft>
                <a:spcPts val="0"/>
              </a:spcAft>
              <a:buClr>
                <a:srgbClr val="878787"/>
              </a:buClr>
              <a:buSzPts val="900"/>
              <a:buFont typeface="Calibri"/>
              <a:buNone/>
              <a:defRPr sz="900"/>
            </a:lvl7pPr>
            <a:lvl8pPr marL="3657600" lvl="7" indent="-228600" algn="ctr">
              <a:spcBef>
                <a:spcPts val="800"/>
              </a:spcBef>
              <a:spcAft>
                <a:spcPts val="0"/>
              </a:spcAft>
              <a:buClr>
                <a:srgbClr val="878787"/>
              </a:buClr>
              <a:buSzPts val="900"/>
              <a:buFont typeface="Calibri"/>
              <a:buNone/>
              <a:defRPr sz="900"/>
            </a:lvl8pPr>
            <a:lvl9pPr marL="4114800" lvl="8" indent="-228600" algn="ctr">
              <a:spcBef>
                <a:spcPts val="800"/>
              </a:spcBef>
              <a:spcAft>
                <a:spcPts val="0"/>
              </a:spcAft>
              <a:buClr>
                <a:srgbClr val="878787"/>
              </a:buClr>
              <a:buSzPts val="900"/>
              <a:buFont typeface="Calibri"/>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4"/>
        <p:cNvGrpSpPr/>
        <p:nvPr/>
      </p:nvGrpSpPr>
      <p:grpSpPr>
        <a:xfrm>
          <a:off x="0" y="0"/>
          <a:ext cx="0" cy="0"/>
          <a:chOff x="0" y="0"/>
          <a:chExt cx="0" cy="0"/>
        </a:xfrm>
      </p:grpSpPr>
      <p:sp>
        <p:nvSpPr>
          <p:cNvPr id="35" name="Google Shape;35;p268"/>
          <p:cNvSpPr txBox="1">
            <a:spLocks noGrp="1"/>
          </p:cNvSpPr>
          <p:nvPr>
            <p:ph type="title"/>
          </p:nvPr>
        </p:nvSpPr>
        <p:spPr>
          <a:xfrm>
            <a:off x="2389717" y="4800600"/>
            <a:ext cx="7315200" cy="566738"/>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268"/>
          <p:cNvSpPr>
            <a:spLocks noGrp="1"/>
          </p:cNvSpPr>
          <p:nvPr>
            <p:ph type="pic" idx="2"/>
          </p:nvPr>
        </p:nvSpPr>
        <p:spPr>
          <a:xfrm>
            <a:off x="2389717" y="612775"/>
            <a:ext cx="7315200" cy="4114800"/>
          </a:xfrm>
          <a:prstGeom prst="rect">
            <a:avLst/>
          </a:prstGeom>
          <a:noFill/>
          <a:ln>
            <a:noFill/>
          </a:ln>
        </p:spPr>
      </p:sp>
      <p:sp>
        <p:nvSpPr>
          <p:cNvPr id="37" name="Google Shape;37;p268"/>
          <p:cNvSpPr txBox="1">
            <a:spLocks noGrp="1"/>
          </p:cNvSpPr>
          <p:nvPr>
            <p:ph type="body" idx="1"/>
          </p:nvPr>
        </p:nvSpPr>
        <p:spPr>
          <a:xfrm>
            <a:off x="2389717" y="5367338"/>
            <a:ext cx="7315200" cy="804862"/>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Clr>
                <a:srgbClr val="878787"/>
              </a:buClr>
              <a:buSzPts val="1400"/>
              <a:buFont typeface="Calibri"/>
              <a:buNone/>
              <a:defRPr sz="1400"/>
            </a:lvl1pPr>
            <a:lvl2pPr marL="914400" lvl="1" indent="-228600" algn="ctr">
              <a:spcBef>
                <a:spcPts val="800"/>
              </a:spcBef>
              <a:spcAft>
                <a:spcPts val="0"/>
              </a:spcAft>
              <a:buClr>
                <a:srgbClr val="878787"/>
              </a:buClr>
              <a:buSzPts val="1200"/>
              <a:buFont typeface="Calibri"/>
              <a:buNone/>
              <a:defRPr sz="1200"/>
            </a:lvl2pPr>
            <a:lvl3pPr marL="1371600" lvl="2" indent="-228600" algn="ctr">
              <a:spcBef>
                <a:spcPts val="800"/>
              </a:spcBef>
              <a:spcAft>
                <a:spcPts val="0"/>
              </a:spcAft>
              <a:buClr>
                <a:srgbClr val="878787"/>
              </a:buClr>
              <a:buSzPts val="1000"/>
              <a:buFont typeface="Calibri"/>
              <a:buNone/>
              <a:defRPr sz="1000"/>
            </a:lvl3pPr>
            <a:lvl4pPr marL="1828800" lvl="3" indent="-228600" algn="ctr">
              <a:spcBef>
                <a:spcPts val="800"/>
              </a:spcBef>
              <a:spcAft>
                <a:spcPts val="0"/>
              </a:spcAft>
              <a:buClr>
                <a:srgbClr val="878787"/>
              </a:buClr>
              <a:buSzPts val="900"/>
              <a:buFont typeface="Calibri"/>
              <a:buNone/>
              <a:defRPr sz="900"/>
            </a:lvl4pPr>
            <a:lvl5pPr marL="2286000" lvl="4" indent="-228600" algn="ctr">
              <a:spcBef>
                <a:spcPts val="800"/>
              </a:spcBef>
              <a:spcAft>
                <a:spcPts val="0"/>
              </a:spcAft>
              <a:buClr>
                <a:srgbClr val="878787"/>
              </a:buClr>
              <a:buSzPts val="900"/>
              <a:buFont typeface="Calibri"/>
              <a:buNone/>
              <a:defRPr sz="900"/>
            </a:lvl5pPr>
            <a:lvl6pPr marL="2743200" lvl="5" indent="-228600" algn="ctr">
              <a:spcBef>
                <a:spcPts val="800"/>
              </a:spcBef>
              <a:spcAft>
                <a:spcPts val="0"/>
              </a:spcAft>
              <a:buClr>
                <a:srgbClr val="878787"/>
              </a:buClr>
              <a:buSzPts val="900"/>
              <a:buFont typeface="Calibri"/>
              <a:buNone/>
              <a:defRPr sz="900"/>
            </a:lvl6pPr>
            <a:lvl7pPr marL="3200400" lvl="6" indent="-228600" algn="ctr">
              <a:spcBef>
                <a:spcPts val="800"/>
              </a:spcBef>
              <a:spcAft>
                <a:spcPts val="0"/>
              </a:spcAft>
              <a:buClr>
                <a:srgbClr val="878787"/>
              </a:buClr>
              <a:buSzPts val="900"/>
              <a:buFont typeface="Calibri"/>
              <a:buNone/>
              <a:defRPr sz="900"/>
            </a:lvl7pPr>
            <a:lvl8pPr marL="3657600" lvl="7" indent="-228600" algn="ctr">
              <a:spcBef>
                <a:spcPts val="800"/>
              </a:spcBef>
              <a:spcAft>
                <a:spcPts val="0"/>
              </a:spcAft>
              <a:buClr>
                <a:srgbClr val="878787"/>
              </a:buClr>
              <a:buSzPts val="900"/>
              <a:buFont typeface="Calibri"/>
              <a:buNone/>
              <a:defRPr sz="900"/>
            </a:lvl8pPr>
            <a:lvl9pPr marL="4114800" lvl="8" indent="-228600" algn="ctr">
              <a:spcBef>
                <a:spcPts val="800"/>
              </a:spcBef>
              <a:spcAft>
                <a:spcPts val="0"/>
              </a:spcAft>
              <a:buClr>
                <a:srgbClr val="878787"/>
              </a:buClr>
              <a:buSzPts val="900"/>
              <a:buFont typeface="Calibri"/>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8"/>
        <p:cNvGrpSpPr/>
        <p:nvPr/>
      </p:nvGrpSpPr>
      <p:grpSpPr>
        <a:xfrm>
          <a:off x="0" y="0"/>
          <a:ext cx="0" cy="0"/>
          <a:chOff x="0" y="0"/>
          <a:chExt cx="0" cy="0"/>
        </a:xfrm>
      </p:grpSpPr>
      <p:sp>
        <p:nvSpPr>
          <p:cNvPr id="39" name="Google Shape;39;p269"/>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269"/>
          <p:cNvSpPr txBox="1">
            <a:spLocks noGrp="1"/>
          </p:cNvSpPr>
          <p:nvPr>
            <p:ph type="body" idx="1"/>
          </p:nvPr>
        </p:nvSpPr>
        <p:spPr>
          <a:xfrm rot="5400000">
            <a:off x="4610100" y="1104900"/>
            <a:ext cx="2971800" cy="85344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a:lvl1pPr>
            <a:lvl2pPr marL="914400" lvl="1" indent="-228600" algn="ctr">
              <a:spcBef>
                <a:spcPts val="800"/>
              </a:spcBef>
              <a:spcAft>
                <a:spcPts val="0"/>
              </a:spcAft>
              <a:buSzPts val="1400"/>
              <a:buNone/>
              <a:defRPr/>
            </a:lvl2pPr>
            <a:lvl3pPr marL="1371600" lvl="2" indent="-228600" algn="ctr">
              <a:spcBef>
                <a:spcPts val="800"/>
              </a:spcBef>
              <a:spcAft>
                <a:spcPts val="0"/>
              </a:spcAft>
              <a:buSzPts val="1400"/>
              <a:buNone/>
              <a:defRPr/>
            </a:lvl3pPr>
            <a:lvl4pPr marL="1828800" lvl="3" indent="-228600" algn="ctr">
              <a:spcBef>
                <a:spcPts val="800"/>
              </a:spcBef>
              <a:spcAft>
                <a:spcPts val="0"/>
              </a:spcAft>
              <a:buSzPts val="1400"/>
              <a:buNone/>
              <a:defRPr/>
            </a:lvl4pPr>
            <a:lvl5pPr marL="2286000" lvl="4" indent="-228600" algn="ctr">
              <a:spcBef>
                <a:spcPts val="800"/>
              </a:spcBef>
              <a:spcAft>
                <a:spcPts val="0"/>
              </a:spcAft>
              <a:buSzPts val="1400"/>
              <a:buNone/>
              <a:defRPr/>
            </a:lvl5pPr>
            <a:lvl6pPr marL="2743200" lvl="5" indent="-228600" algn="ctr">
              <a:spcBef>
                <a:spcPts val="800"/>
              </a:spcBef>
              <a:spcAft>
                <a:spcPts val="0"/>
              </a:spcAft>
              <a:buSzPts val="1400"/>
              <a:buNone/>
              <a:defRPr/>
            </a:lvl6pPr>
            <a:lvl7pPr marL="3200400" lvl="6" indent="-228600" algn="ctr">
              <a:spcBef>
                <a:spcPts val="800"/>
              </a:spcBef>
              <a:spcAft>
                <a:spcPts val="0"/>
              </a:spcAft>
              <a:buSzPts val="1400"/>
              <a:buNone/>
              <a:defRPr/>
            </a:lvl7pPr>
            <a:lvl8pPr marL="3657600" lvl="7" indent="-228600" algn="ctr">
              <a:spcBef>
                <a:spcPts val="800"/>
              </a:spcBef>
              <a:spcAft>
                <a:spcPts val="0"/>
              </a:spcAft>
              <a:buSzPts val="1400"/>
              <a:buNone/>
              <a:defRPr/>
            </a:lvl8pPr>
            <a:lvl9pPr marL="4114800" lvl="8" indent="-228600" algn="ctr">
              <a:spcBef>
                <a:spcPts val="80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1"/>
        <p:cNvGrpSpPr/>
        <p:nvPr/>
      </p:nvGrpSpPr>
      <p:grpSpPr>
        <a:xfrm>
          <a:off x="0" y="0"/>
          <a:ext cx="0" cy="0"/>
          <a:chOff x="0" y="0"/>
          <a:chExt cx="0" cy="0"/>
        </a:xfrm>
      </p:grpSpPr>
      <p:sp>
        <p:nvSpPr>
          <p:cNvPr id="42" name="Google Shape;42;p270"/>
          <p:cNvSpPr txBox="1">
            <a:spLocks noGrp="1"/>
          </p:cNvSpPr>
          <p:nvPr>
            <p:ph type="title"/>
          </p:nvPr>
        </p:nvSpPr>
        <p:spPr>
          <a:xfrm rot="5400000">
            <a:off x="7475538" y="3055938"/>
            <a:ext cx="5013325" cy="25908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270"/>
          <p:cNvSpPr txBox="1">
            <a:spLocks noGrp="1"/>
          </p:cNvSpPr>
          <p:nvPr>
            <p:ph type="body" idx="1"/>
          </p:nvPr>
        </p:nvSpPr>
        <p:spPr>
          <a:xfrm rot="5400000">
            <a:off x="2192338" y="566738"/>
            <a:ext cx="5013325" cy="7569200"/>
          </a:xfrm>
          <a:prstGeom prst="rect">
            <a:avLst/>
          </a:prstGeom>
          <a:noFill/>
          <a:ln>
            <a:noFill/>
          </a:ln>
        </p:spPr>
        <p:txBody>
          <a:bodyPr spcFirstLastPara="1" wrap="square" lIns="50800" tIns="50800" rIns="50800" bIns="50800" anchor="t" anchorCtr="0">
            <a:noAutofit/>
          </a:bodyPr>
          <a:lstStyle>
            <a:lvl1pPr marL="457200" lvl="0" indent="-228600" algn="ctr">
              <a:spcBef>
                <a:spcPts val="800"/>
              </a:spcBef>
              <a:spcAft>
                <a:spcPts val="0"/>
              </a:spcAft>
              <a:buSzPts val="1400"/>
              <a:buNone/>
              <a:defRPr/>
            </a:lvl1pPr>
            <a:lvl2pPr marL="914400" lvl="1" indent="-228600" algn="ctr">
              <a:spcBef>
                <a:spcPts val="800"/>
              </a:spcBef>
              <a:spcAft>
                <a:spcPts val="0"/>
              </a:spcAft>
              <a:buSzPts val="1400"/>
              <a:buNone/>
              <a:defRPr/>
            </a:lvl2pPr>
            <a:lvl3pPr marL="1371600" lvl="2" indent="-228600" algn="ctr">
              <a:spcBef>
                <a:spcPts val="800"/>
              </a:spcBef>
              <a:spcAft>
                <a:spcPts val="0"/>
              </a:spcAft>
              <a:buSzPts val="1400"/>
              <a:buNone/>
              <a:defRPr/>
            </a:lvl3pPr>
            <a:lvl4pPr marL="1828800" lvl="3" indent="-228600" algn="ctr">
              <a:spcBef>
                <a:spcPts val="800"/>
              </a:spcBef>
              <a:spcAft>
                <a:spcPts val="0"/>
              </a:spcAft>
              <a:buSzPts val="1400"/>
              <a:buNone/>
              <a:defRPr/>
            </a:lvl4pPr>
            <a:lvl5pPr marL="2286000" lvl="4" indent="-228600" algn="ctr">
              <a:spcBef>
                <a:spcPts val="800"/>
              </a:spcBef>
              <a:spcAft>
                <a:spcPts val="0"/>
              </a:spcAft>
              <a:buSzPts val="1400"/>
              <a:buNone/>
              <a:defRPr/>
            </a:lvl5pPr>
            <a:lvl6pPr marL="2743200" lvl="5" indent="-228600" algn="ctr">
              <a:spcBef>
                <a:spcPts val="800"/>
              </a:spcBef>
              <a:spcAft>
                <a:spcPts val="0"/>
              </a:spcAft>
              <a:buSzPts val="1400"/>
              <a:buNone/>
              <a:defRPr/>
            </a:lvl6pPr>
            <a:lvl7pPr marL="3200400" lvl="6" indent="-228600" algn="ctr">
              <a:spcBef>
                <a:spcPts val="800"/>
              </a:spcBef>
              <a:spcAft>
                <a:spcPts val="0"/>
              </a:spcAft>
              <a:buSzPts val="1400"/>
              <a:buNone/>
              <a:defRPr/>
            </a:lvl7pPr>
            <a:lvl8pPr marL="3657600" lvl="7" indent="-228600" algn="ctr">
              <a:spcBef>
                <a:spcPts val="800"/>
              </a:spcBef>
              <a:spcAft>
                <a:spcPts val="0"/>
              </a:spcAft>
              <a:buSzPts val="1400"/>
              <a:buNone/>
              <a:defRPr/>
            </a:lvl8pPr>
            <a:lvl9pPr marL="4114800" lvl="8" indent="-228600" algn="ctr">
              <a:spcBef>
                <a:spcPts val="80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6"/>
        <p:cNvGrpSpPr/>
        <p:nvPr/>
      </p:nvGrpSpPr>
      <p:grpSpPr>
        <a:xfrm>
          <a:off x="0" y="0"/>
          <a:ext cx="0" cy="0"/>
          <a:chOff x="0" y="0"/>
          <a:chExt cx="0" cy="0"/>
        </a:xfrm>
      </p:grpSpPr>
      <p:sp>
        <p:nvSpPr>
          <p:cNvPr id="47" name="Google Shape;47;p257"/>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257"/>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49"/>
        <p:cNvGrpSpPr/>
        <p:nvPr/>
      </p:nvGrpSpPr>
      <p:grpSpPr>
        <a:xfrm>
          <a:off x="0" y="0"/>
          <a:ext cx="0" cy="0"/>
          <a:chOff x="0" y="0"/>
          <a:chExt cx="0" cy="0"/>
        </a:xfrm>
      </p:grpSpPr>
      <p:sp>
        <p:nvSpPr>
          <p:cNvPr id="50" name="Google Shape;50;p258"/>
          <p:cNvSpPr txBox="1">
            <a:spLocks noGrp="1"/>
          </p:cNvSpPr>
          <p:nvPr>
            <p:ph type="title"/>
          </p:nvPr>
        </p:nvSpPr>
        <p:spPr>
          <a:xfrm>
            <a:off x="2438400" y="228600"/>
            <a:ext cx="8839200" cy="11430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258"/>
          <p:cNvSpPr txBox="1">
            <a:spLocks noGrp="1"/>
          </p:cNvSpPr>
          <p:nvPr>
            <p:ph type="body" idx="1"/>
          </p:nvPr>
        </p:nvSpPr>
        <p:spPr>
          <a:xfrm>
            <a:off x="508000" y="1447800"/>
            <a:ext cx="5740400" cy="44196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
        <p:nvSpPr>
          <p:cNvPr id="52" name="Google Shape;52;p258"/>
          <p:cNvSpPr txBox="1">
            <a:spLocks noGrp="1"/>
          </p:cNvSpPr>
          <p:nvPr>
            <p:ph type="body" idx="2"/>
          </p:nvPr>
        </p:nvSpPr>
        <p:spPr>
          <a:xfrm>
            <a:off x="6451600" y="1447800"/>
            <a:ext cx="5740400" cy="44196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
        <p:nvSpPr>
          <p:cNvPr id="53" name="Google Shape;53;p258"/>
          <p:cNvSpPr txBox="1">
            <a:spLocks noGrp="1"/>
          </p:cNvSpPr>
          <p:nvPr>
            <p:ph type="ftr" idx="11"/>
          </p:nvPr>
        </p:nvSpPr>
        <p:spPr>
          <a:xfrm>
            <a:off x="3556000" y="6356351"/>
            <a:ext cx="4470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2pPr>
            <a:lvl3pPr marR="0" lvl="2"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3pPr>
            <a:lvl4pPr marR="0" lvl="3"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4pPr>
            <a:lvl5pPr marR="0" lvl="4"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5pPr>
            <a:lvl6pPr marR="0" lvl="5"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6pPr>
            <a:lvl7pPr marR="0" lvl="6"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7pPr>
            <a:lvl8pPr marR="0" lvl="7"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8pPr>
            <a:lvl9pPr marR="0" lvl="8"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9pPr>
          </a:lstStyle>
          <a:p>
            <a:endParaRPr/>
          </a:p>
        </p:txBody>
      </p:sp>
      <p:sp>
        <p:nvSpPr>
          <p:cNvPr id="54" name="Google Shape;54;p258"/>
          <p:cNvSpPr txBox="1">
            <a:spLocks noGrp="1"/>
          </p:cNvSpPr>
          <p:nvPr>
            <p:ph type="sldNum" idx="12"/>
          </p:nvPr>
        </p:nvSpPr>
        <p:spPr>
          <a:xfrm>
            <a:off x="10566400" y="6356351"/>
            <a:ext cx="10160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200">
                <a:solidFill>
                  <a:schemeClr val="dk1"/>
                </a:solidFill>
                <a:latin typeface="Helvetica Neue"/>
                <a:ea typeface="Helvetica Neue"/>
                <a:cs typeface="Helvetica Neue"/>
                <a:sym typeface="Helvetica Neue"/>
              </a:defRPr>
            </a:lvl1pPr>
            <a:lvl2pPr marL="0" marR="0" lvl="1" indent="0" algn="l" rtl="0">
              <a:spcBef>
                <a:spcPts val="0"/>
              </a:spcBef>
              <a:spcAft>
                <a:spcPts val="0"/>
              </a:spcAft>
              <a:buNone/>
              <a:defRPr sz="1200">
                <a:solidFill>
                  <a:schemeClr val="dk1"/>
                </a:solidFill>
                <a:latin typeface="Helvetica Neue"/>
                <a:ea typeface="Helvetica Neue"/>
                <a:cs typeface="Helvetica Neue"/>
                <a:sym typeface="Helvetica Neue"/>
              </a:defRPr>
            </a:lvl2pPr>
            <a:lvl3pPr marL="0" marR="0" lvl="2" indent="0" algn="l" rtl="0">
              <a:spcBef>
                <a:spcPts val="0"/>
              </a:spcBef>
              <a:spcAft>
                <a:spcPts val="0"/>
              </a:spcAft>
              <a:buNone/>
              <a:defRPr sz="1200">
                <a:solidFill>
                  <a:schemeClr val="dk1"/>
                </a:solidFill>
                <a:latin typeface="Helvetica Neue"/>
                <a:ea typeface="Helvetica Neue"/>
                <a:cs typeface="Helvetica Neue"/>
                <a:sym typeface="Helvetica Neue"/>
              </a:defRPr>
            </a:lvl3pPr>
            <a:lvl4pPr marL="0" marR="0" lvl="3" indent="0" algn="l" rtl="0">
              <a:spcBef>
                <a:spcPts val="0"/>
              </a:spcBef>
              <a:spcAft>
                <a:spcPts val="0"/>
              </a:spcAft>
              <a:buNone/>
              <a:defRPr sz="1200">
                <a:solidFill>
                  <a:schemeClr val="dk1"/>
                </a:solidFill>
                <a:latin typeface="Helvetica Neue"/>
                <a:ea typeface="Helvetica Neue"/>
                <a:cs typeface="Helvetica Neue"/>
                <a:sym typeface="Helvetica Neue"/>
              </a:defRPr>
            </a:lvl4pPr>
            <a:lvl5pPr marL="0" marR="0" lvl="4" indent="0" algn="l" rtl="0">
              <a:spcBef>
                <a:spcPts val="0"/>
              </a:spcBef>
              <a:spcAft>
                <a:spcPts val="0"/>
              </a:spcAft>
              <a:buNone/>
              <a:defRPr sz="1200">
                <a:solidFill>
                  <a:schemeClr val="dk1"/>
                </a:solidFill>
                <a:latin typeface="Helvetica Neue"/>
                <a:ea typeface="Helvetica Neue"/>
                <a:cs typeface="Helvetica Neue"/>
                <a:sym typeface="Helvetica Neue"/>
              </a:defRPr>
            </a:lvl5pPr>
            <a:lvl6pPr marL="0" marR="0" lvl="5" indent="0" algn="l" rtl="0">
              <a:spcBef>
                <a:spcPts val="0"/>
              </a:spcBef>
              <a:spcAft>
                <a:spcPts val="0"/>
              </a:spcAft>
              <a:buNone/>
              <a:defRPr sz="1200">
                <a:solidFill>
                  <a:schemeClr val="dk1"/>
                </a:solidFill>
                <a:latin typeface="Helvetica Neue"/>
                <a:ea typeface="Helvetica Neue"/>
                <a:cs typeface="Helvetica Neue"/>
                <a:sym typeface="Helvetica Neue"/>
              </a:defRPr>
            </a:lvl6pPr>
            <a:lvl7pPr marL="0" marR="0" lvl="6" indent="0" algn="l" rtl="0">
              <a:spcBef>
                <a:spcPts val="0"/>
              </a:spcBef>
              <a:spcAft>
                <a:spcPts val="0"/>
              </a:spcAft>
              <a:buNone/>
              <a:defRPr sz="1200">
                <a:solidFill>
                  <a:schemeClr val="dk1"/>
                </a:solidFill>
                <a:latin typeface="Helvetica Neue"/>
                <a:ea typeface="Helvetica Neue"/>
                <a:cs typeface="Helvetica Neue"/>
                <a:sym typeface="Helvetica Neue"/>
              </a:defRPr>
            </a:lvl7pPr>
            <a:lvl8pPr marL="0" marR="0" lvl="7" indent="0" algn="l" rtl="0">
              <a:spcBef>
                <a:spcPts val="0"/>
              </a:spcBef>
              <a:spcAft>
                <a:spcPts val="0"/>
              </a:spcAft>
              <a:buNone/>
              <a:defRPr sz="1200">
                <a:solidFill>
                  <a:schemeClr val="dk1"/>
                </a:solidFill>
                <a:latin typeface="Helvetica Neue"/>
                <a:ea typeface="Helvetica Neue"/>
                <a:cs typeface="Helvetica Neue"/>
                <a:sym typeface="Helvetica Neue"/>
              </a:defRPr>
            </a:lvl8pPr>
            <a:lvl9pPr marL="0" marR="0" lvl="8" indent="0" algn="l" rtl="0">
              <a:spcBef>
                <a:spcPts val="0"/>
              </a:spcBef>
              <a:spcAft>
                <a:spcPts val="0"/>
              </a:spcAft>
              <a:buNone/>
              <a:defRPr sz="1200">
                <a:solidFill>
                  <a:schemeClr val="dk1"/>
                </a:solidFill>
                <a:latin typeface="Helvetica Neue"/>
                <a:ea typeface="Helvetica Neue"/>
                <a:cs typeface="Helvetica Neue"/>
                <a:sym typeface="Helvetica Neue"/>
              </a:defRPr>
            </a:lvl9pPr>
          </a:lstStyle>
          <a:p>
            <a:fld id="{00000000-1234-1234-1234-123412341234}"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6"/>
        <p:cNvGrpSpPr/>
        <p:nvPr/>
      </p:nvGrpSpPr>
      <p:grpSpPr>
        <a:xfrm>
          <a:off x="0" y="0"/>
          <a:ext cx="0" cy="0"/>
          <a:chOff x="0" y="0"/>
          <a:chExt cx="0" cy="0"/>
        </a:xfrm>
      </p:grpSpPr>
      <p:sp>
        <p:nvSpPr>
          <p:cNvPr id="57" name="Google Shape;57;p260"/>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8" name="Google Shape;58;p260"/>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9" name="Google Shape;59;p260"/>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271"/>
          <p:cNvSpPr txBox="1">
            <a:spLocks noGrp="1"/>
          </p:cNvSpPr>
          <p:nvPr>
            <p:ph type="ctrTitle"/>
          </p:nvPr>
        </p:nvSpPr>
        <p:spPr>
          <a:xfrm>
            <a:off x="914400" y="2130426"/>
            <a:ext cx="10363200" cy="14700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271"/>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marR="0" lvl="0"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2pPr>
            <a:lvl3pPr marR="0" lvl="2"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3pPr>
            <a:lvl4pPr marR="0" lvl="3"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4pPr>
            <a:lvl5pPr marR="0" lvl="4"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5pPr>
            <a:lvl6pPr marR="0" lvl="5"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6pPr>
            <a:lvl7pPr marR="0" lvl="6"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7pPr>
            <a:lvl8pPr marR="0" lvl="7"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8pPr>
            <a:lvl9pPr marR="0" lvl="8" algn="ctr" rtl="0">
              <a:spcBef>
                <a:spcPts val="8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3"/>
        <p:cNvGrpSpPr/>
        <p:nvPr/>
      </p:nvGrpSpPr>
      <p:grpSpPr>
        <a:xfrm>
          <a:off x="0" y="0"/>
          <a:ext cx="0" cy="0"/>
          <a:chOff x="0" y="0"/>
          <a:chExt cx="0" cy="0"/>
        </a:xfrm>
      </p:grpSpPr>
      <p:sp>
        <p:nvSpPr>
          <p:cNvPr id="64" name="Google Shape;64;p272"/>
          <p:cNvSpPr txBox="1">
            <a:spLocks noGrp="1"/>
          </p:cNvSpPr>
          <p:nvPr>
            <p:ph type="title"/>
          </p:nvPr>
        </p:nvSpPr>
        <p:spPr>
          <a:xfrm>
            <a:off x="963084" y="4406901"/>
            <a:ext cx="10363200" cy="1362075"/>
          </a:xfrm>
          <a:prstGeom prst="rect">
            <a:avLst/>
          </a:prstGeom>
          <a:noFill/>
          <a:ln>
            <a:noFill/>
          </a:ln>
        </p:spPr>
        <p:txBody>
          <a:bodyPr spcFirstLastPara="1" wrap="square" lIns="50800" tIns="50800" rIns="50800" bIns="508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5" name="Google Shape;65;p272"/>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8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6"/>
        <p:cNvGrpSpPr/>
        <p:nvPr/>
      </p:nvGrpSpPr>
      <p:grpSpPr>
        <a:xfrm>
          <a:off x="0" y="0"/>
          <a:ext cx="0" cy="0"/>
          <a:chOff x="0" y="0"/>
          <a:chExt cx="0" cy="0"/>
        </a:xfrm>
      </p:grpSpPr>
      <p:sp>
        <p:nvSpPr>
          <p:cNvPr id="67" name="Google Shape;67;p273"/>
          <p:cNvSpPr txBox="1">
            <a:spLocks noGrp="1"/>
          </p:cNvSpPr>
          <p:nvPr>
            <p:ph type="title"/>
          </p:nvPr>
        </p:nvSpPr>
        <p:spPr>
          <a:xfrm>
            <a:off x="609600" y="274638"/>
            <a:ext cx="10972800" cy="11430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273"/>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8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9" name="Google Shape;69;p273"/>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70" name="Google Shape;70;p273"/>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8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1" name="Google Shape;71;p273"/>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8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8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274"/>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4"/>
        <p:cNvGrpSpPr/>
        <p:nvPr/>
      </p:nvGrpSpPr>
      <p:grpSpPr>
        <a:xfrm>
          <a:off x="0" y="0"/>
          <a:ext cx="0" cy="0"/>
          <a:chOff x="0" y="0"/>
          <a:chExt cx="0" cy="0"/>
        </a:xfrm>
      </p:grpSpPr>
      <p:sp>
        <p:nvSpPr>
          <p:cNvPr id="75" name="Google Shape;75;p275"/>
          <p:cNvSpPr txBox="1">
            <a:spLocks noGrp="1"/>
          </p:cNvSpPr>
          <p:nvPr>
            <p:ph type="title"/>
          </p:nvPr>
        </p:nvSpPr>
        <p:spPr>
          <a:xfrm>
            <a:off x="609601" y="273050"/>
            <a:ext cx="4011084" cy="1162050"/>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 name="Google Shape;76;p275"/>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8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7" name="Google Shape;77;p275"/>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276"/>
          <p:cNvSpPr txBox="1">
            <a:spLocks noGrp="1"/>
          </p:cNvSpPr>
          <p:nvPr>
            <p:ph type="title"/>
          </p:nvPr>
        </p:nvSpPr>
        <p:spPr>
          <a:xfrm>
            <a:off x="2389717" y="4800600"/>
            <a:ext cx="7315200" cy="566738"/>
          </a:xfrm>
          <a:prstGeom prst="rect">
            <a:avLst/>
          </a:prstGeom>
          <a:noFill/>
          <a:ln>
            <a:noFill/>
          </a:ln>
        </p:spPr>
        <p:txBody>
          <a:bodyPr spcFirstLastPara="1" wrap="square" lIns="50800" tIns="50800" rIns="50800" bIns="508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276"/>
          <p:cNvSpPr>
            <a:spLocks noGrp="1"/>
          </p:cNvSpPr>
          <p:nvPr>
            <p:ph type="pic" idx="2"/>
          </p:nvPr>
        </p:nvSpPr>
        <p:spPr>
          <a:xfrm>
            <a:off x="2389717" y="612775"/>
            <a:ext cx="7315200" cy="4114800"/>
          </a:xfrm>
          <a:prstGeom prst="rect">
            <a:avLst/>
          </a:prstGeom>
          <a:noFill/>
          <a:ln>
            <a:noFill/>
          </a:ln>
        </p:spPr>
      </p:sp>
      <p:sp>
        <p:nvSpPr>
          <p:cNvPr id="81" name="Google Shape;81;p276"/>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8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8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8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8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2"/>
        <p:cNvGrpSpPr/>
        <p:nvPr/>
      </p:nvGrpSpPr>
      <p:grpSpPr>
        <a:xfrm>
          <a:off x="0" y="0"/>
          <a:ext cx="0" cy="0"/>
          <a:chOff x="0" y="0"/>
          <a:chExt cx="0" cy="0"/>
        </a:xfrm>
      </p:grpSpPr>
      <p:sp>
        <p:nvSpPr>
          <p:cNvPr id="83" name="Google Shape;83;p277"/>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 name="Google Shape;84;p277"/>
          <p:cNvSpPr txBox="1">
            <a:spLocks noGrp="1"/>
          </p:cNvSpPr>
          <p:nvPr>
            <p:ph type="body" idx="1"/>
          </p:nvPr>
        </p:nvSpPr>
        <p:spPr>
          <a:xfrm rot="5400000">
            <a:off x="3833019" y="-1623219"/>
            <a:ext cx="4525963" cy="10972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278"/>
          <p:cNvSpPr txBox="1">
            <a:spLocks noGrp="1"/>
          </p:cNvSpPr>
          <p:nvPr>
            <p:ph type="title"/>
          </p:nvPr>
        </p:nvSpPr>
        <p:spPr>
          <a:xfrm rot="5400000">
            <a:off x="7193756" y="1737519"/>
            <a:ext cx="6034088" cy="2743200"/>
          </a:xfrm>
          <a:prstGeom prst="rect">
            <a:avLst/>
          </a:prstGeom>
          <a:noFill/>
          <a:ln>
            <a:noFill/>
          </a:ln>
        </p:spPr>
        <p:txBody>
          <a:bodyPr spcFirstLastPara="1" wrap="square" lIns="50800" tIns="50800" rIns="50800" bIns="508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7" name="Google Shape;87;p278"/>
          <p:cNvSpPr txBox="1">
            <a:spLocks noGrp="1"/>
          </p:cNvSpPr>
          <p:nvPr>
            <p:ph type="body" idx="1"/>
          </p:nvPr>
        </p:nvSpPr>
        <p:spPr>
          <a:xfrm rot="5400000">
            <a:off x="1605756" y="-904081"/>
            <a:ext cx="6034088" cy="80264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4pPr>
            <a:lvl5pPr marL="2286000" marR="0" lvl="4"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5pPr>
            <a:lvl6pPr marL="2743200" marR="0" lvl="5"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6pPr>
            <a:lvl7pPr marL="3200400" marR="0" lvl="6"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7pPr>
            <a:lvl8pPr marL="3657600" marR="0" lvl="7"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8pPr>
            <a:lvl9pPr marL="4114800" marR="0" lvl="8" indent="-431800" algn="l" rtl="0">
              <a:spcBef>
                <a:spcPts val="8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54"/>
          <p:cNvSpPr txBox="1">
            <a:spLocks noGrp="1"/>
          </p:cNvSpPr>
          <p:nvPr>
            <p:ph type="title"/>
          </p:nvPr>
        </p:nvSpPr>
        <p:spPr>
          <a:xfrm>
            <a:off x="914400" y="1844676"/>
            <a:ext cx="10363200" cy="2041525"/>
          </a:xfrm>
          <a:prstGeom prst="rect">
            <a:avLst/>
          </a:prstGeom>
          <a:noFill/>
          <a:ln>
            <a:noFill/>
          </a:ln>
        </p:spPr>
        <p:txBody>
          <a:bodyPr spcFirstLastPara="1" wrap="square" lIns="50800" tIns="50800" rIns="50800" bIns="508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7" name="Google Shape;7;p254"/>
          <p:cNvSpPr txBox="1">
            <a:spLocks noGrp="1"/>
          </p:cNvSpPr>
          <p:nvPr>
            <p:ph type="body" idx="1"/>
          </p:nvPr>
        </p:nvSpPr>
        <p:spPr>
          <a:xfrm>
            <a:off x="1828800" y="3886200"/>
            <a:ext cx="8534400" cy="2971800"/>
          </a:xfrm>
          <a:prstGeom prst="rect">
            <a:avLst/>
          </a:prstGeom>
          <a:noFill/>
          <a:ln>
            <a:noFill/>
          </a:ln>
        </p:spPr>
        <p:txBody>
          <a:bodyPr spcFirstLastPara="1" wrap="square" lIns="50800" tIns="50800" rIns="50800" bIns="50800" anchor="t" anchorCtr="0">
            <a:noAutofit/>
          </a:bodyPr>
          <a:lstStyle>
            <a:lvl1pPr marL="457200" marR="0" lvl="0"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1pPr>
            <a:lvl2pPr marL="914400" marR="0" lvl="1"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2pPr>
            <a:lvl3pPr marL="1371600" marR="0" lvl="2"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3pPr>
            <a:lvl4pPr marL="1828800" marR="0" lvl="3"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4pPr>
            <a:lvl5pPr marL="2286000" marR="0" lvl="4"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5pPr>
            <a:lvl6pPr marL="2743200" marR="0" lvl="5"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6pPr>
            <a:lvl7pPr marL="3200400" marR="0" lvl="6"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7pPr>
            <a:lvl8pPr marL="3657600" marR="0" lvl="7"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8pPr>
            <a:lvl9pPr marL="4114800" marR="0" lvl="8" indent="-228600" algn="ctr" rtl="0">
              <a:spcBef>
                <a:spcPts val="800"/>
              </a:spcBef>
              <a:spcAft>
                <a:spcPts val="0"/>
              </a:spcAft>
              <a:buSzPts val="1400"/>
              <a:buNone/>
              <a:defRPr sz="3200" b="0" i="0" u="none" strike="noStrike" cap="none">
                <a:solidFill>
                  <a:srgbClr val="878787"/>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
        <p:cNvGrpSpPr/>
        <p:nvPr/>
      </p:nvGrpSpPr>
      <p:grpSpPr>
        <a:xfrm>
          <a:off x="0" y="0"/>
          <a:ext cx="0" cy="0"/>
          <a:chOff x="0" y="0"/>
          <a:chExt cx="0" cy="0"/>
        </a:xfrm>
      </p:grpSpPr>
      <p:sp>
        <p:nvSpPr>
          <p:cNvPr id="45" name="Google Shape;45;p256"/>
          <p:cNvSpPr txBox="1">
            <a:spLocks noGrp="1"/>
          </p:cNvSpPr>
          <p:nvPr>
            <p:ph type="title"/>
          </p:nvPr>
        </p:nvSpPr>
        <p:spPr>
          <a:xfrm>
            <a:off x="609600" y="92076"/>
            <a:ext cx="10972800" cy="1508125"/>
          </a:xfrm>
          <a:prstGeom prst="rect">
            <a:avLst/>
          </a:prstGeom>
          <a:noFill/>
          <a:ln>
            <a:noFill/>
          </a:ln>
        </p:spPr>
        <p:txBody>
          <a:bodyPr spcFirstLastPara="1" wrap="square" lIns="50800" tIns="50800" rIns="50800" bIns="508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0.xml"/><Relationship Id="rId1" Type="http://schemas.openxmlformats.org/officeDocument/2006/relationships/slideLayout" Target="../slideLayouts/slideLayout19.xml"/><Relationship Id="rId4" Type="http://schemas.openxmlformats.org/officeDocument/2006/relationships/image" Target="../media/image11.jpe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3" Type="http://schemas.openxmlformats.org/officeDocument/2006/relationships/hyperlink" Target="http://content.nejm.org/content/vol344/issue6/images/large/07f2.jpeg" TargetMode="External"/><Relationship Id="rId2" Type="http://schemas.openxmlformats.org/officeDocument/2006/relationships/notesSlide" Target="../notesSlides/notesSlide49.xml"/><Relationship Id="rId1" Type="http://schemas.openxmlformats.org/officeDocument/2006/relationships/slideLayout" Target="../slideLayouts/slideLayout1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hyperlink" Target="http://content.nejm.org/content/vol342/issue4/images/large/07f4.jpeg" TargetMode="External"/><Relationship Id="rId2" Type="http://schemas.openxmlformats.org/officeDocument/2006/relationships/notesSlide" Target="../notesSlides/notesSlide52.xml"/><Relationship Id="rId1" Type="http://schemas.openxmlformats.org/officeDocument/2006/relationships/slideLayout" Target="../slideLayouts/slideLayout15.xml"/><Relationship Id="rId5" Type="http://schemas.openxmlformats.org/officeDocument/2006/relationships/image" Target="../media/image34.png"/><Relationship Id="rId4" Type="http://schemas.openxmlformats.org/officeDocument/2006/relationships/image" Target="../media/image33.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3" name="Picture 2" descr="A stethoscope formed in a heart">
            <a:extLst>
              <a:ext uri="{FF2B5EF4-FFF2-40B4-BE49-F238E27FC236}">
                <a16:creationId xmlns:a16="http://schemas.microsoft.com/office/drawing/2014/main" id="{EB6263B5-E719-F598-7E38-53DEC758A849}"/>
              </a:ext>
            </a:extLst>
          </p:cNvPr>
          <p:cNvPicPr>
            <a:picLocks noChangeAspect="1"/>
          </p:cNvPicPr>
          <p:nvPr/>
        </p:nvPicPr>
        <p:blipFill rotWithShape="1">
          <a:blip r:embed="rId3">
            <a:extLst>
              <a:ext uri="{28A0092B-C50C-407E-A947-70E740481C1C}">
                <a14:useLocalDpi xmlns:a14="http://schemas.microsoft.com/office/drawing/2010/main" val="0"/>
              </a:ext>
            </a:extLst>
          </a:blip>
          <a:srcRect t="17" b="12774"/>
          <a:stretch/>
        </p:blipFill>
        <p:spPr>
          <a:xfrm>
            <a:off x="0" y="0"/>
            <a:ext cx="12191999" cy="6857990"/>
          </a:xfrm>
          <a:prstGeom prst="rect">
            <a:avLst/>
          </a:prstGeom>
        </p:spPr>
      </p:pic>
      <p:sp>
        <p:nvSpPr>
          <p:cNvPr id="92" name="Google Shape;92;p1"/>
          <p:cNvSpPr txBox="1">
            <a:spLocks noGrp="1"/>
          </p:cNvSpPr>
          <p:nvPr>
            <p:ph type="title"/>
          </p:nvPr>
        </p:nvSpPr>
        <p:spPr>
          <a:xfrm>
            <a:off x="5783094" y="0"/>
            <a:ext cx="7924800" cy="2838450"/>
          </a:xfrm>
          <a:prstGeom prst="rect">
            <a:avLst/>
          </a:prstGeom>
          <a:noFill/>
          <a:ln>
            <a:noFill/>
          </a:ln>
        </p:spPr>
        <p:txBody>
          <a:bodyPr spcFirstLastPara="1" wrap="square" lIns="50800" tIns="50800" rIns="50800" bIns="50800" anchor="ctr" anchorCtr="0">
            <a:noAutofit/>
          </a:bodyPr>
          <a:lstStyle/>
          <a:p>
            <a:r>
              <a:rPr lang="en-US" dirty="0"/>
              <a:t>HYPERTENSION</a:t>
            </a:r>
            <a:br>
              <a:rPr lang="en-US" dirty="0"/>
            </a:br>
            <a:r>
              <a:rPr lang="en-US" dirty="0"/>
              <a:t>Part I</a:t>
            </a:r>
            <a:endParaRPr dirty="0"/>
          </a:p>
        </p:txBody>
      </p:sp>
      <p:sp>
        <p:nvSpPr>
          <p:cNvPr id="93" name="Google Shape;93;p1"/>
          <p:cNvSpPr txBox="1">
            <a:spLocks noGrp="1"/>
          </p:cNvSpPr>
          <p:nvPr>
            <p:ph type="body" idx="1"/>
          </p:nvPr>
        </p:nvSpPr>
        <p:spPr>
          <a:xfrm>
            <a:off x="3764603" y="2838450"/>
            <a:ext cx="3166355" cy="1410511"/>
          </a:xfrm>
          <a:prstGeom prst="rect">
            <a:avLst/>
          </a:prstGeom>
          <a:noFill/>
          <a:ln>
            <a:noFill/>
          </a:ln>
        </p:spPr>
        <p:txBody>
          <a:bodyPr spcFirstLastPara="1" wrap="square" lIns="50800" tIns="50800" rIns="50800" bIns="50800" anchor="t" anchorCtr="0">
            <a:noAutofit/>
          </a:bodyPr>
          <a:lstStyle/>
          <a:p>
            <a:pPr marL="0" indent="0"/>
            <a:r>
              <a:rPr lang="en-US" dirty="0">
                <a:solidFill>
                  <a:schemeClr val="tx1"/>
                </a:solidFill>
              </a:rPr>
              <a:t>Breanna Veal, MHS, PA-C</a:t>
            </a:r>
          </a:p>
        </p:txBody>
      </p:sp>
      <p:sp>
        <p:nvSpPr>
          <p:cNvPr id="2" name="TextBox 1">
            <a:extLst>
              <a:ext uri="{FF2B5EF4-FFF2-40B4-BE49-F238E27FC236}">
                <a16:creationId xmlns:a16="http://schemas.microsoft.com/office/drawing/2014/main" id="{15015A01-91FF-020C-2C5B-5E77848A1389}"/>
              </a:ext>
            </a:extLst>
          </p:cNvPr>
          <p:cNvSpPr txBox="1"/>
          <p:nvPr/>
        </p:nvSpPr>
        <p:spPr>
          <a:xfrm>
            <a:off x="3586264" y="5170249"/>
            <a:ext cx="7756187" cy="1569660"/>
          </a:xfrm>
          <a:prstGeom prst="rect">
            <a:avLst/>
          </a:prstGeom>
          <a:noFill/>
        </p:spPr>
        <p:txBody>
          <a:bodyPr wrap="square" rtlCol="0">
            <a:spAutoFit/>
          </a:bodyPr>
          <a:lstStyle/>
          <a:p>
            <a:pPr algn="ctr"/>
            <a:r>
              <a:rPr lang="en-US" sz="2400" dirty="0">
                <a:latin typeface="Calibri" panose="020F0502020204030204" pitchFamily="34" charset="0"/>
                <a:cs typeface="Calibri" panose="020F0502020204030204" pitchFamily="34" charset="0"/>
              </a:rPr>
              <a:t>Epidemiology</a:t>
            </a:r>
          </a:p>
          <a:p>
            <a:pPr algn="ctr"/>
            <a:r>
              <a:rPr lang="en-US" sz="2400" dirty="0">
                <a:latin typeface="Calibri" panose="020F0502020204030204" pitchFamily="34" charset="0"/>
                <a:cs typeface="Calibri" panose="020F0502020204030204" pitchFamily="34" charset="0"/>
              </a:rPr>
              <a:t>Review of Blood Pressure Regulation</a:t>
            </a:r>
          </a:p>
          <a:p>
            <a:pPr algn="ctr"/>
            <a:r>
              <a:rPr lang="en-US" sz="2400" dirty="0">
                <a:latin typeface="Calibri" panose="020F0502020204030204" pitchFamily="34" charset="0"/>
                <a:cs typeface="Calibri" panose="020F0502020204030204" pitchFamily="34" charset="0"/>
              </a:rPr>
              <a:t>Pathophysiology and Risk Factors of Primary</a:t>
            </a:r>
          </a:p>
          <a:p>
            <a:pPr algn="ctr"/>
            <a:r>
              <a:rPr lang="en-US" sz="2400" dirty="0">
                <a:latin typeface="Calibri" panose="020F0502020204030204" pitchFamily="34" charset="0"/>
                <a:cs typeface="Calibri" panose="020F0502020204030204" pitchFamily="34" charset="0"/>
              </a:rPr>
              <a:t> Secondary Hypertension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ED4AF-B7A7-97E1-8381-404C1110D62B}"/>
              </a:ext>
            </a:extLst>
          </p:cNvPr>
          <p:cNvSpPr>
            <a:spLocks noGrp="1"/>
          </p:cNvSpPr>
          <p:nvPr>
            <p:ph type="title"/>
          </p:nvPr>
        </p:nvSpPr>
        <p:spPr/>
        <p:txBody>
          <a:bodyPr/>
          <a:lstStyle/>
          <a:p>
            <a:r>
              <a:rPr lang="en-US" dirty="0"/>
              <a:t>Hypertension Definition</a:t>
            </a:r>
          </a:p>
        </p:txBody>
      </p:sp>
      <p:pic>
        <p:nvPicPr>
          <p:cNvPr id="4" name="Picture 3" descr="Table showing diastolic and systolic ranges for normal, elevated, and high blood pressure">
            <a:extLst>
              <a:ext uri="{FF2B5EF4-FFF2-40B4-BE49-F238E27FC236}">
                <a16:creationId xmlns:a16="http://schemas.microsoft.com/office/drawing/2014/main" id="{23F266BB-6E9C-4AFC-5B62-BD8C557697E0}"/>
              </a:ext>
            </a:extLst>
          </p:cNvPr>
          <p:cNvPicPr>
            <a:picLocks noChangeAspect="1"/>
          </p:cNvPicPr>
          <p:nvPr/>
        </p:nvPicPr>
        <p:blipFill>
          <a:blip r:embed="rId3"/>
          <a:stretch>
            <a:fillRect/>
          </a:stretch>
        </p:blipFill>
        <p:spPr>
          <a:xfrm>
            <a:off x="1660634" y="1479988"/>
            <a:ext cx="9144000" cy="5143500"/>
          </a:xfrm>
          <a:prstGeom prst="rect">
            <a:avLst/>
          </a:prstGeom>
        </p:spPr>
      </p:pic>
      <p:sp>
        <p:nvSpPr>
          <p:cNvPr id="5" name="Oval 4">
            <a:extLst>
              <a:ext uri="{FF2B5EF4-FFF2-40B4-BE49-F238E27FC236}">
                <a16:creationId xmlns:a16="http://schemas.microsoft.com/office/drawing/2014/main" id="{A5B9D358-F57B-8924-C94E-6A9A99E42674}"/>
              </a:ext>
            </a:extLst>
          </p:cNvPr>
          <p:cNvSpPr/>
          <p:nvPr/>
        </p:nvSpPr>
        <p:spPr>
          <a:xfrm>
            <a:off x="3804745" y="1923392"/>
            <a:ext cx="5559971" cy="1505607"/>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8208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A26C-F9C1-9BB5-8AC5-5FE58721FFB3}"/>
              </a:ext>
            </a:extLst>
          </p:cNvPr>
          <p:cNvSpPr>
            <a:spLocks noGrp="1"/>
          </p:cNvSpPr>
          <p:nvPr>
            <p:ph type="title"/>
          </p:nvPr>
        </p:nvSpPr>
        <p:spPr/>
        <p:txBody>
          <a:bodyPr/>
          <a:lstStyle/>
          <a:p>
            <a:r>
              <a:rPr lang="en-US" dirty="0"/>
              <a:t>HTN Epidemiology</a:t>
            </a:r>
          </a:p>
        </p:txBody>
      </p:sp>
    </p:spTree>
    <p:extLst>
      <p:ext uri="{BB962C8B-B14F-4D97-AF65-F5344CB8AC3E}">
        <p14:creationId xmlns:p14="http://schemas.microsoft.com/office/powerpoint/2010/main" val="2442665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1981200" y="274638"/>
            <a:ext cx="8229600" cy="715962"/>
          </a:xfrm>
          <a:prstGeom prst="rect">
            <a:avLst/>
          </a:prstGeom>
          <a:noFill/>
          <a:ln>
            <a:noFill/>
          </a:ln>
        </p:spPr>
        <p:txBody>
          <a:bodyPr spcFirstLastPara="1" wrap="square" lIns="50800" tIns="50800" rIns="50800" bIns="50800" anchor="ctr" anchorCtr="0">
            <a:noAutofit/>
          </a:bodyPr>
          <a:lstStyle/>
          <a:p>
            <a:r>
              <a:rPr lang="en-US" dirty="0"/>
              <a:t>HTN: GLOBAL EPIDEMIOLOGY</a:t>
            </a:r>
            <a:endParaRPr dirty="0"/>
          </a:p>
        </p:txBody>
      </p:sp>
      <p:sp>
        <p:nvSpPr>
          <p:cNvPr id="101" name="Google Shape;101;p2"/>
          <p:cNvSpPr txBox="1">
            <a:spLocks noGrp="1"/>
          </p:cNvSpPr>
          <p:nvPr>
            <p:ph type="body" idx="1"/>
          </p:nvPr>
        </p:nvSpPr>
        <p:spPr>
          <a:xfrm>
            <a:off x="642026" y="1340651"/>
            <a:ext cx="10836612" cy="5118515"/>
          </a:xfrm>
          <a:prstGeom prst="rect">
            <a:avLst/>
          </a:prstGeom>
          <a:noFill/>
          <a:ln>
            <a:noFill/>
          </a:ln>
        </p:spPr>
        <p:txBody>
          <a:bodyPr spcFirstLastPara="1" wrap="square" lIns="91425" tIns="45700" rIns="91425" bIns="45700" anchor="t" anchorCtr="0">
            <a:noAutofit/>
          </a:bodyPr>
          <a:lstStyle/>
          <a:p>
            <a:pPr marL="342900" indent="-342900">
              <a:spcBef>
                <a:spcPts val="0"/>
              </a:spcBef>
              <a:buSzPts val="3000"/>
            </a:pPr>
            <a:r>
              <a:rPr lang="en-US" sz="3000" dirty="0"/>
              <a:t>Hypertension is a global problem and is the </a:t>
            </a:r>
            <a:r>
              <a:rPr lang="en-US" sz="3000" b="1" dirty="0"/>
              <a:t>leading cause of cardiovascular disease and premature death worldwide</a:t>
            </a:r>
          </a:p>
          <a:p>
            <a:pPr marL="800100" lvl="1" indent="-342900">
              <a:spcBef>
                <a:spcPts val="0"/>
              </a:spcBef>
              <a:buSzPts val="3000"/>
              <a:buChar char="•"/>
            </a:pPr>
            <a:r>
              <a:rPr lang="en-US" sz="3000" dirty="0"/>
              <a:t>Affects &gt; 1 billion people worldwide</a:t>
            </a:r>
          </a:p>
          <a:p>
            <a:pPr marL="1257300" lvl="2" indent="-342900">
              <a:spcBef>
                <a:spcPts val="0"/>
              </a:spcBef>
              <a:buSzPts val="3000"/>
            </a:pPr>
            <a:r>
              <a:rPr lang="en-US" sz="3000" dirty="0"/>
              <a:t>Highest prevalence of HTN in Africa (27%)</a:t>
            </a:r>
          </a:p>
          <a:p>
            <a:pPr marL="1257300" lvl="2" indent="-342900">
              <a:spcBef>
                <a:spcPts val="0"/>
              </a:spcBef>
              <a:buSzPts val="3000"/>
            </a:pPr>
            <a:r>
              <a:rPr lang="en-US" sz="3000" dirty="0"/>
              <a:t>Lowest prevalence of HTN in Americas (18%)</a:t>
            </a:r>
          </a:p>
          <a:p>
            <a:pPr marL="800100" lvl="1" indent="-342900">
              <a:spcBef>
                <a:spcPts val="0"/>
              </a:spcBef>
              <a:buSzPts val="3000"/>
              <a:buChar char="•"/>
            </a:pPr>
            <a:r>
              <a:rPr lang="en-US" sz="3000" dirty="0"/>
              <a:t>Accounts for more than 9.4 million deaths/year worldwide</a:t>
            </a:r>
          </a:p>
          <a:p>
            <a:pPr marL="800100" lvl="1" indent="-342900">
              <a:spcBef>
                <a:spcPts val="0"/>
              </a:spcBef>
              <a:buSzPts val="3000"/>
              <a:buChar char="•"/>
            </a:pPr>
            <a:r>
              <a:rPr lang="en-US" sz="3000" b="1" dirty="0"/>
              <a:t>46% are unaware they have HTN</a:t>
            </a:r>
          </a:p>
          <a:p>
            <a:pPr marL="800100" lvl="1" indent="-342900">
              <a:spcBef>
                <a:spcPts val="0"/>
              </a:spcBef>
              <a:buSzPts val="3000"/>
              <a:buChar char="•"/>
            </a:pPr>
            <a:r>
              <a:rPr lang="en-US" sz="3000" dirty="0"/>
              <a:t>Less than 50% who have HTN are treated</a:t>
            </a:r>
          </a:p>
          <a:p>
            <a:pPr marL="800100" lvl="1" indent="-342900">
              <a:spcBef>
                <a:spcPts val="0"/>
              </a:spcBef>
              <a:buSzPts val="3000"/>
              <a:buChar char="•"/>
            </a:pPr>
            <a:r>
              <a:rPr lang="en-US" sz="3000" b="1" dirty="0"/>
              <a:t>1 in 5 have HTN under control</a:t>
            </a:r>
          </a:p>
          <a:p>
            <a:pPr marL="0" indent="0">
              <a:spcBef>
                <a:spcPts val="0"/>
              </a:spcBef>
              <a:buSzPts val="3000"/>
              <a:buNone/>
            </a:pP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1981200" y="274638"/>
            <a:ext cx="8229600" cy="715962"/>
          </a:xfrm>
          <a:prstGeom prst="rect">
            <a:avLst/>
          </a:prstGeom>
          <a:noFill/>
          <a:ln>
            <a:noFill/>
          </a:ln>
        </p:spPr>
        <p:txBody>
          <a:bodyPr spcFirstLastPara="1" wrap="square" lIns="50800" tIns="50800" rIns="50800" bIns="50800" anchor="ctr" anchorCtr="0">
            <a:noAutofit/>
          </a:bodyPr>
          <a:lstStyle/>
          <a:p>
            <a:r>
              <a:rPr lang="en-US" dirty="0"/>
              <a:t>HTN: US EPIDEMIOLOGY</a:t>
            </a:r>
            <a:endParaRPr dirty="0"/>
          </a:p>
        </p:txBody>
      </p:sp>
      <p:sp>
        <p:nvSpPr>
          <p:cNvPr id="101" name="Google Shape;101;p2"/>
          <p:cNvSpPr txBox="1">
            <a:spLocks noGrp="1"/>
          </p:cNvSpPr>
          <p:nvPr>
            <p:ph type="body" idx="1"/>
          </p:nvPr>
        </p:nvSpPr>
        <p:spPr>
          <a:xfrm>
            <a:off x="342900" y="1081087"/>
            <a:ext cx="3276600" cy="5502275"/>
          </a:xfrm>
          <a:prstGeom prst="rect">
            <a:avLst/>
          </a:prstGeom>
          <a:noFill/>
          <a:ln>
            <a:noFill/>
          </a:ln>
        </p:spPr>
        <p:txBody>
          <a:bodyPr spcFirstLastPara="1" wrap="square" lIns="91425" tIns="45700" rIns="91425" bIns="45700" anchor="t" anchorCtr="0">
            <a:noAutofit/>
          </a:bodyPr>
          <a:lstStyle/>
          <a:p>
            <a:pPr marL="342900" indent="-342900">
              <a:spcBef>
                <a:spcPts val="0"/>
              </a:spcBef>
              <a:buSzPts val="3000"/>
            </a:pPr>
            <a:r>
              <a:rPr lang="en-US" sz="2400" b="1" i="1" dirty="0"/>
              <a:t>Hypertension is the most common cardiovascular disease</a:t>
            </a:r>
            <a:r>
              <a:rPr lang="en-US" sz="2400" dirty="0"/>
              <a:t> in the US, affecting 119 million people with BP ≥130/80 or about </a:t>
            </a:r>
            <a:r>
              <a:rPr lang="en-US" sz="2400" b="1" dirty="0"/>
              <a:t>48% of all American adults</a:t>
            </a:r>
            <a:r>
              <a:rPr lang="en-US" sz="2400" dirty="0"/>
              <a:t>.</a:t>
            </a:r>
          </a:p>
          <a:p>
            <a:pPr marL="342900" indent="-342900">
              <a:spcBef>
                <a:spcPts val="0"/>
              </a:spcBef>
              <a:buSzPts val="3000"/>
            </a:pPr>
            <a:r>
              <a:rPr lang="en-US" sz="2400" dirty="0"/>
              <a:t>HTN contributed to more than 685K deaths in the US</a:t>
            </a:r>
            <a:endParaRPr sz="2400" dirty="0"/>
          </a:p>
        </p:txBody>
      </p:sp>
      <p:pic>
        <p:nvPicPr>
          <p:cNvPr id="3" name="Picture 2">
            <a:extLst>
              <a:ext uri="{FF2B5EF4-FFF2-40B4-BE49-F238E27FC236}">
                <a16:creationId xmlns:a16="http://schemas.microsoft.com/office/drawing/2014/main" id="{2687BC36-4F69-E5E5-B4AB-680A89D320E4}"/>
              </a:ext>
            </a:extLst>
          </p:cNvPr>
          <p:cNvPicPr>
            <a:picLocks noChangeAspect="1"/>
          </p:cNvPicPr>
          <p:nvPr/>
        </p:nvPicPr>
        <p:blipFill>
          <a:blip r:embed="rId3"/>
          <a:stretch>
            <a:fillRect/>
          </a:stretch>
        </p:blipFill>
        <p:spPr>
          <a:xfrm>
            <a:off x="3489434" y="914401"/>
            <a:ext cx="8576441" cy="5941166"/>
          </a:xfrm>
          <a:prstGeom prst="rect">
            <a:avLst/>
          </a:prstGeom>
        </p:spPr>
      </p:pic>
    </p:spTree>
    <p:extLst>
      <p:ext uri="{BB962C8B-B14F-4D97-AF65-F5344CB8AC3E}">
        <p14:creationId xmlns:p14="http://schemas.microsoft.com/office/powerpoint/2010/main" val="3991815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1981200" y="274638"/>
            <a:ext cx="8229600" cy="715962"/>
          </a:xfrm>
          <a:prstGeom prst="rect">
            <a:avLst/>
          </a:prstGeom>
          <a:noFill/>
          <a:ln>
            <a:noFill/>
          </a:ln>
        </p:spPr>
        <p:txBody>
          <a:bodyPr spcFirstLastPara="1" wrap="square" lIns="50800" tIns="50800" rIns="50800" bIns="50800" anchor="ctr" anchorCtr="0">
            <a:noAutofit/>
          </a:bodyPr>
          <a:lstStyle/>
          <a:p>
            <a:r>
              <a:rPr lang="en-US" dirty="0"/>
              <a:t>HTN: US EPIDEMIOLOGY</a:t>
            </a:r>
            <a:endParaRPr dirty="0"/>
          </a:p>
        </p:txBody>
      </p:sp>
      <p:sp>
        <p:nvSpPr>
          <p:cNvPr id="114" name="Google Shape;114;p4"/>
          <p:cNvSpPr txBox="1">
            <a:spLocks noGrp="1"/>
          </p:cNvSpPr>
          <p:nvPr>
            <p:ph type="body" idx="1"/>
          </p:nvPr>
        </p:nvSpPr>
        <p:spPr>
          <a:xfrm>
            <a:off x="700391" y="1420238"/>
            <a:ext cx="10982528" cy="5361563"/>
          </a:xfrm>
          <a:prstGeom prst="rect">
            <a:avLst/>
          </a:prstGeom>
          <a:noFill/>
          <a:ln>
            <a:noFill/>
          </a:ln>
        </p:spPr>
        <p:txBody>
          <a:bodyPr spcFirstLastPara="1" wrap="square" lIns="91425" tIns="45700" rIns="91425" bIns="45700" anchor="t" anchorCtr="0">
            <a:noAutofit/>
          </a:bodyPr>
          <a:lstStyle/>
          <a:p>
            <a:pPr marL="342900" indent="-342900">
              <a:spcBef>
                <a:spcPts val="0"/>
              </a:spcBef>
              <a:buSzPts val="3000"/>
            </a:pPr>
            <a:r>
              <a:rPr lang="en-US" sz="2800" dirty="0"/>
              <a:t>Men (50%) &gt; Women (44%) </a:t>
            </a:r>
            <a:endParaRPr sz="2800" dirty="0"/>
          </a:p>
          <a:p>
            <a:pPr marL="342900" indent="-342900">
              <a:buSzPts val="3000"/>
            </a:pPr>
            <a:r>
              <a:rPr lang="en-US" sz="2800" b="1" dirty="0"/>
              <a:t>Blacks (56%) &gt; Whites (48%) &gt; Asians (46%) &gt; Hispanics (39%) </a:t>
            </a:r>
            <a:endParaRPr sz="2800" b="1" dirty="0"/>
          </a:p>
          <a:p>
            <a:pPr marL="342900" indent="-342900">
              <a:buSzPts val="3000"/>
            </a:pPr>
            <a:r>
              <a:rPr lang="en-US" sz="2800" dirty="0"/>
              <a:t>Hypertension prevalence increases with age.</a:t>
            </a:r>
          </a:p>
          <a:p>
            <a:pPr marL="800100" lvl="1" indent="-342900">
              <a:buSzPts val="3000"/>
              <a:buChar char="•"/>
            </a:pPr>
            <a:r>
              <a:rPr lang="en-US" sz="2800" dirty="0"/>
              <a:t>70% &gt; age 65</a:t>
            </a:r>
            <a:endParaRPr sz="2800" dirty="0"/>
          </a:p>
          <a:p>
            <a:pPr marL="292100" indent="-292100">
              <a:buSzPts val="2800"/>
            </a:pPr>
            <a:r>
              <a:rPr lang="en-US" sz="2800" dirty="0"/>
              <a:t>HTN is the most common reason for non-pregnant adults to visit their PCP and the most common indication for a prescription drug in the US.</a:t>
            </a:r>
            <a:endParaRPr sz="2800" dirty="0"/>
          </a:p>
          <a:p>
            <a:pPr marL="292100" indent="-292100">
              <a:buSzPts val="2800"/>
            </a:pPr>
            <a:r>
              <a:rPr lang="en-US" sz="2800" dirty="0"/>
              <a:t>HTN costs the United States $131 billion annually.</a:t>
            </a:r>
            <a:endParaRPr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1981200" y="152400"/>
            <a:ext cx="8229600" cy="990600"/>
          </a:xfrm>
          <a:prstGeom prst="rect">
            <a:avLst/>
          </a:prstGeom>
          <a:noFill/>
          <a:ln>
            <a:noFill/>
          </a:ln>
        </p:spPr>
        <p:txBody>
          <a:bodyPr spcFirstLastPara="1" wrap="square" lIns="50800" tIns="50800" rIns="50800" bIns="50800" anchor="ctr" anchorCtr="0">
            <a:noAutofit/>
          </a:bodyPr>
          <a:lstStyle/>
          <a:p>
            <a:r>
              <a:rPr lang="en-US" dirty="0"/>
              <a:t>Do US citizens have control?</a:t>
            </a:r>
            <a:endParaRPr dirty="0"/>
          </a:p>
        </p:txBody>
      </p:sp>
      <p:sp>
        <p:nvSpPr>
          <p:cNvPr id="128" name="Google Shape;128;p6"/>
          <p:cNvSpPr txBox="1">
            <a:spLocks noGrp="1"/>
          </p:cNvSpPr>
          <p:nvPr>
            <p:ph type="body" idx="1"/>
          </p:nvPr>
        </p:nvSpPr>
        <p:spPr>
          <a:xfrm>
            <a:off x="544749" y="1219200"/>
            <a:ext cx="11167353" cy="55626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sz="2800" dirty="0"/>
              <a:t>Only about 1 of every 4 adults with hypertension have their disease under control. </a:t>
            </a:r>
          </a:p>
          <a:p>
            <a:pPr marL="800100" lvl="1" indent="-342900">
              <a:spcBef>
                <a:spcPts val="0"/>
              </a:spcBef>
            </a:pPr>
            <a:r>
              <a:rPr lang="en-US" sz="2800" dirty="0"/>
              <a:t>Blood pressure control is highest in Whites (32%) and lowest in Asians (19%), with about the same level of control in Blacks and Hispanics (25%). </a:t>
            </a:r>
          </a:p>
          <a:p>
            <a:pPr marL="342900" indent="-342900">
              <a:spcBef>
                <a:spcPts val="0"/>
              </a:spcBef>
            </a:pPr>
            <a:endParaRPr lang="en-US" sz="1600" b="0" i="0" dirty="0">
              <a:solidFill>
                <a:srgbClr val="1C1D1F"/>
              </a:solidFill>
              <a:effectLst/>
              <a:latin typeface="Nunito" pitchFamily="2" charset="0"/>
            </a:endParaRPr>
          </a:p>
          <a:p>
            <a:pPr marL="342900" indent="-342900">
              <a:spcBef>
                <a:spcPts val="0"/>
              </a:spcBef>
            </a:pPr>
            <a:r>
              <a:rPr lang="en-US" sz="2800" dirty="0">
                <a:solidFill>
                  <a:srgbClr val="1C1D1F"/>
                </a:solidFill>
                <a:latin typeface="Calibri" panose="020F0502020204030204" pitchFamily="34" charset="0"/>
                <a:cs typeface="Calibri" panose="020F0502020204030204" pitchFamily="34" charset="0"/>
              </a:rPr>
              <a:t>~45% </a:t>
            </a:r>
            <a:r>
              <a:rPr lang="en-US" sz="2800" b="0" i="0" dirty="0">
                <a:solidFill>
                  <a:srgbClr val="1C1D1F"/>
                </a:solidFill>
                <a:effectLst/>
                <a:latin typeface="Calibri" panose="020F0502020204030204" pitchFamily="34" charset="0"/>
                <a:cs typeface="Calibri" panose="020F0502020204030204" pitchFamily="34" charset="0"/>
              </a:rPr>
              <a:t>with uncontrolled HTN have a blood pressure &gt;140/90. </a:t>
            </a:r>
            <a:endParaRPr sz="2800" dirty="0">
              <a:latin typeface="Calibri" panose="020F0502020204030204" pitchFamily="34" charset="0"/>
              <a:cs typeface="Calibri" panose="020F0502020204030204" pitchFamily="34" charset="0"/>
            </a:endParaRPr>
          </a:p>
          <a:p>
            <a:pPr marL="342900" indent="-342900"/>
            <a:r>
              <a:rPr lang="en-US" sz="2800" dirty="0"/>
              <a:t>1 of every 5 adults are unaware that they have HTN and another 10% know they have hypertension and chose not to treat it.</a:t>
            </a:r>
            <a:endParaRPr sz="2800" dirty="0"/>
          </a:p>
          <a:p>
            <a:pPr marL="292100" indent="-88900">
              <a:buNone/>
            </a:pPr>
            <a:endParaRPr sz="2800" dirty="0"/>
          </a:p>
          <a:p>
            <a:pPr marL="292100" indent="-8890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8"/>
          <p:cNvSpPr txBox="1">
            <a:spLocks noGrp="1"/>
          </p:cNvSpPr>
          <p:nvPr>
            <p:ph type="body" idx="1"/>
          </p:nvPr>
        </p:nvSpPr>
        <p:spPr>
          <a:xfrm>
            <a:off x="6478623" y="408562"/>
            <a:ext cx="5155657" cy="6003587"/>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dirty="0"/>
              <a:t>HTN increases the relative risk for CAD, HF, stroke, AF, CKD, PAD, and dementias (vascular/ AD) by 2-4 fold</a:t>
            </a:r>
          </a:p>
          <a:p>
            <a:pPr marL="342900" indent="-342900">
              <a:spcBef>
                <a:spcPts val="0"/>
              </a:spcBef>
            </a:pPr>
            <a:endParaRPr lang="en-US" dirty="0"/>
          </a:p>
          <a:p>
            <a:pPr marL="342900" indent="-342900">
              <a:spcBef>
                <a:spcPts val="0"/>
              </a:spcBef>
            </a:pPr>
            <a:r>
              <a:rPr lang="en-US" dirty="0"/>
              <a:t>The lowest risk of CV and renal complications is seen with a BP of about 115/75 or less.</a:t>
            </a:r>
          </a:p>
          <a:p>
            <a:pPr marL="292100" indent="-88900">
              <a:buNone/>
            </a:pPr>
            <a:endParaRPr lang="en-US" dirty="0"/>
          </a:p>
        </p:txBody>
      </p:sp>
      <p:pic>
        <p:nvPicPr>
          <p:cNvPr id="143" name="Google Shape;143;p8"/>
          <p:cNvPicPr preferRelativeResize="0"/>
          <p:nvPr/>
        </p:nvPicPr>
        <p:blipFill rotWithShape="1">
          <a:blip r:embed="rId3">
            <a:alphaModFix/>
          </a:blip>
          <a:srcRect t="4125" b="2368"/>
          <a:stretch/>
        </p:blipFill>
        <p:spPr>
          <a:xfrm>
            <a:off x="408561" y="228599"/>
            <a:ext cx="5304817" cy="6553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9"/>
          <p:cNvSpPr txBox="1">
            <a:spLocks noGrp="1"/>
          </p:cNvSpPr>
          <p:nvPr>
            <p:ph type="title"/>
          </p:nvPr>
        </p:nvSpPr>
        <p:spPr>
          <a:xfrm>
            <a:off x="1981200" y="152400"/>
            <a:ext cx="8229600" cy="990600"/>
          </a:xfrm>
          <a:prstGeom prst="rect">
            <a:avLst/>
          </a:prstGeom>
          <a:noFill/>
          <a:ln>
            <a:noFill/>
          </a:ln>
        </p:spPr>
        <p:txBody>
          <a:bodyPr spcFirstLastPara="1" wrap="square" lIns="50800" tIns="50800" rIns="50800" bIns="50800" anchor="ctr" anchorCtr="0">
            <a:noAutofit/>
          </a:bodyPr>
          <a:lstStyle/>
          <a:p>
            <a:r>
              <a:rPr lang="en-US"/>
              <a:t>Shutting the Gate!</a:t>
            </a:r>
            <a:endParaRPr/>
          </a:p>
        </p:txBody>
      </p:sp>
      <p:sp>
        <p:nvSpPr>
          <p:cNvPr id="149" name="Google Shape;149;p9"/>
          <p:cNvSpPr txBox="1">
            <a:spLocks noGrp="1"/>
          </p:cNvSpPr>
          <p:nvPr>
            <p:ph type="body" idx="1"/>
          </p:nvPr>
        </p:nvSpPr>
        <p:spPr>
          <a:xfrm>
            <a:off x="622570" y="1219200"/>
            <a:ext cx="11031166" cy="33528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For all persons with HTN, controlling their BP to goal will result in:</a:t>
            </a:r>
            <a:endParaRPr dirty="0"/>
          </a:p>
          <a:p>
            <a:pPr marL="731838" lvl="1" indent="-292100"/>
            <a:r>
              <a:rPr lang="en-US" dirty="0"/>
              <a:t>20-25% reduction in the risk of MI</a:t>
            </a:r>
            <a:endParaRPr dirty="0"/>
          </a:p>
          <a:p>
            <a:pPr marL="731838" lvl="1" indent="-292100"/>
            <a:r>
              <a:rPr lang="en-US" dirty="0"/>
              <a:t>50% reduction in risk of heart failure</a:t>
            </a:r>
            <a:endParaRPr dirty="0"/>
          </a:p>
          <a:p>
            <a:pPr marL="731838" lvl="1" indent="-292100"/>
            <a:r>
              <a:rPr lang="en-US" dirty="0"/>
              <a:t>30-40% reduction in the risk of stroke</a:t>
            </a:r>
            <a:endParaRPr dirty="0"/>
          </a:p>
          <a:p>
            <a:pPr marL="731838" lvl="1" indent="-292100"/>
            <a:r>
              <a:rPr lang="en-US" dirty="0"/>
              <a:t>11% reduction in overall mortality</a:t>
            </a:r>
            <a:endParaRPr dirty="0"/>
          </a:p>
          <a:p>
            <a:pPr marL="731838" lvl="1" indent="-88900">
              <a:buNone/>
            </a:pPr>
            <a:endParaRPr dirty="0"/>
          </a:p>
        </p:txBody>
      </p:sp>
      <p:pic>
        <p:nvPicPr>
          <p:cNvPr id="150" name="Google Shape;150;p9"/>
          <p:cNvPicPr preferRelativeResize="0"/>
          <p:nvPr/>
        </p:nvPicPr>
        <p:blipFill rotWithShape="1">
          <a:blip r:embed="rId3">
            <a:alphaModFix/>
          </a:blip>
          <a:srcRect/>
          <a:stretch/>
        </p:blipFill>
        <p:spPr>
          <a:xfrm>
            <a:off x="5696014" y="4724400"/>
            <a:ext cx="4801658" cy="1981200"/>
          </a:xfrm>
          <a:prstGeom prst="rect">
            <a:avLst/>
          </a:prstGeom>
          <a:noFill/>
          <a:ln>
            <a:noFill/>
          </a:ln>
        </p:spPr>
      </p:pic>
      <p:sp>
        <p:nvSpPr>
          <p:cNvPr id="151" name="Google Shape;151;p9"/>
          <p:cNvSpPr txBox="1"/>
          <p:nvPr/>
        </p:nvSpPr>
        <p:spPr>
          <a:xfrm>
            <a:off x="1676400" y="4800600"/>
            <a:ext cx="3733800" cy="2123658"/>
          </a:xfrm>
          <a:prstGeom prst="rect">
            <a:avLst/>
          </a:prstGeom>
          <a:noFill/>
          <a:ln>
            <a:noFill/>
          </a:ln>
        </p:spPr>
        <p:txBody>
          <a:bodyPr spcFirstLastPara="1" wrap="square" lIns="91425" tIns="45700" rIns="91425" bIns="45700" anchor="t" anchorCtr="0">
            <a:spAutoFit/>
          </a:bodyPr>
          <a:lstStyle/>
          <a:p>
            <a:pPr marL="457200" indent="-457200">
              <a:buClr>
                <a:schemeClr val="dk1"/>
              </a:buClr>
              <a:buSzPts val="3000"/>
              <a:buFont typeface="Arial"/>
              <a:buChar char="•"/>
            </a:pPr>
            <a:r>
              <a:rPr lang="en-US" sz="3000">
                <a:solidFill>
                  <a:schemeClr val="dk1"/>
                </a:solidFill>
                <a:latin typeface="Calibri"/>
                <a:ea typeface="Calibri"/>
                <a:cs typeface="Calibri"/>
                <a:sym typeface="Calibri"/>
              </a:rPr>
              <a:t>Benefits are likely even greater for those persons above 65 years.</a:t>
            </a:r>
            <a:endParaRPr/>
          </a:p>
          <a:p>
            <a:endParaRPr sz="1200">
              <a:solidFill>
                <a:schemeClr val="dk1"/>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1640306" y="274638"/>
            <a:ext cx="8911389" cy="715962"/>
          </a:xfrm>
          <a:prstGeom prst="rect">
            <a:avLst/>
          </a:prstGeom>
          <a:noFill/>
          <a:ln>
            <a:noFill/>
          </a:ln>
        </p:spPr>
        <p:txBody>
          <a:bodyPr spcFirstLastPara="1" wrap="square" lIns="50800" tIns="50800" rIns="50800" bIns="50800" anchor="ctr" anchorCtr="0">
            <a:noAutofit/>
          </a:bodyPr>
          <a:lstStyle/>
          <a:p>
            <a:r>
              <a:rPr lang="en-US" dirty="0"/>
              <a:t>Social Determinants of Hypertension</a:t>
            </a:r>
            <a:endParaRPr dirty="0"/>
          </a:p>
        </p:txBody>
      </p:sp>
      <p:sp>
        <p:nvSpPr>
          <p:cNvPr id="101" name="Google Shape;101;p2"/>
          <p:cNvSpPr txBox="1">
            <a:spLocks noGrp="1"/>
          </p:cNvSpPr>
          <p:nvPr>
            <p:ph type="body" idx="1"/>
          </p:nvPr>
        </p:nvSpPr>
        <p:spPr>
          <a:xfrm>
            <a:off x="369652" y="1575881"/>
            <a:ext cx="11352178" cy="5145594"/>
          </a:xfrm>
          <a:prstGeom prst="rect">
            <a:avLst/>
          </a:prstGeom>
          <a:noFill/>
          <a:ln>
            <a:noFill/>
          </a:ln>
        </p:spPr>
        <p:txBody>
          <a:bodyPr spcFirstLastPara="1" wrap="square" lIns="91425" tIns="45700" rIns="91425" bIns="45700" anchor="t" anchorCtr="0">
            <a:noAutofit/>
          </a:bodyPr>
          <a:lstStyle/>
          <a:p>
            <a:pPr marL="342900" indent="-342900">
              <a:spcBef>
                <a:spcPts val="0"/>
              </a:spcBef>
              <a:buSzPts val="3000"/>
            </a:pPr>
            <a:r>
              <a:rPr lang="en-US" dirty="0">
                <a:latin typeface="Calibri" panose="020F0502020204030204" pitchFamily="34" charset="0"/>
                <a:cs typeface="Calibri" panose="020F0502020204030204" pitchFamily="34" charset="0"/>
              </a:rPr>
              <a:t>Social determinants of health</a:t>
            </a:r>
            <a:r>
              <a:rPr lang="en-US" i="0" dirty="0">
                <a:solidFill>
                  <a:srgbClr val="000000"/>
                </a:solidFill>
                <a:effectLst/>
                <a:latin typeface="Calibri" panose="020F0502020204030204" pitchFamily="34" charset="0"/>
                <a:cs typeface="Calibri" panose="020F0502020204030204" pitchFamily="34" charset="0"/>
              </a:rPr>
              <a:t> are conditions in the places where people live, learn, work, and play that affect a wide range of health and quality-of life-risks and outcomes.</a:t>
            </a:r>
          </a:p>
          <a:p>
            <a:pPr marL="342900" indent="-342900">
              <a:spcBef>
                <a:spcPts val="0"/>
              </a:spcBef>
              <a:buSzPts val="3000"/>
            </a:pPr>
            <a:endParaRPr lang="en-US" dirty="0">
              <a:solidFill>
                <a:srgbClr val="000000"/>
              </a:solidFill>
              <a:latin typeface="Calibri" panose="020F0502020204030204" pitchFamily="34" charset="0"/>
              <a:cs typeface="Calibri" panose="020F0502020204030204" pitchFamily="34" charset="0"/>
            </a:endParaRPr>
          </a:p>
          <a:p>
            <a:pPr marL="342900" indent="-342900">
              <a:spcBef>
                <a:spcPts val="0"/>
              </a:spcBef>
              <a:buSzPts val="3000"/>
            </a:pPr>
            <a:r>
              <a:rPr lang="en-US" dirty="0">
                <a:solidFill>
                  <a:srgbClr val="000000"/>
                </a:solidFill>
                <a:latin typeface="Calibri" panose="020F0502020204030204" pitchFamily="34" charset="0"/>
                <a:cs typeface="Calibri" panose="020F0502020204030204" pitchFamily="34" charset="0"/>
              </a:rPr>
              <a:t>SDOH as defined by the CDC include 5 key areas:</a:t>
            </a:r>
          </a:p>
          <a:p>
            <a:pPr marL="800100" lvl="1" indent="-342900">
              <a:spcBef>
                <a:spcPts val="0"/>
              </a:spcBef>
              <a:buSzPts val="3000"/>
              <a:buChar char="•"/>
            </a:pPr>
            <a:r>
              <a:rPr lang="en-US" dirty="0">
                <a:solidFill>
                  <a:srgbClr val="000000"/>
                </a:solidFill>
                <a:latin typeface="Calibri" panose="020F0502020204030204" pitchFamily="34" charset="0"/>
                <a:cs typeface="Calibri" panose="020F0502020204030204" pitchFamily="34" charset="0"/>
              </a:rPr>
              <a:t>Healthcare access and quality</a:t>
            </a:r>
          </a:p>
          <a:p>
            <a:pPr marL="800100" lvl="1" indent="-342900">
              <a:spcBef>
                <a:spcPts val="0"/>
              </a:spcBef>
              <a:buSzPts val="3000"/>
              <a:buChar char="•"/>
            </a:pPr>
            <a:r>
              <a:rPr lang="en-US" dirty="0">
                <a:solidFill>
                  <a:srgbClr val="000000"/>
                </a:solidFill>
                <a:latin typeface="Calibri" panose="020F0502020204030204" pitchFamily="34" charset="0"/>
                <a:cs typeface="Calibri" panose="020F0502020204030204" pitchFamily="34" charset="0"/>
              </a:rPr>
              <a:t>Education access and quality</a:t>
            </a:r>
          </a:p>
          <a:p>
            <a:pPr marL="800100" lvl="1" indent="-342900">
              <a:spcBef>
                <a:spcPts val="0"/>
              </a:spcBef>
              <a:buSzPts val="3000"/>
              <a:buChar char="•"/>
            </a:pPr>
            <a:r>
              <a:rPr lang="en-US" dirty="0">
                <a:solidFill>
                  <a:srgbClr val="000000"/>
                </a:solidFill>
                <a:latin typeface="Calibri" panose="020F0502020204030204" pitchFamily="34" charset="0"/>
                <a:cs typeface="Calibri" panose="020F0502020204030204" pitchFamily="34" charset="0"/>
              </a:rPr>
              <a:t>Social and community context</a:t>
            </a:r>
          </a:p>
          <a:p>
            <a:pPr marL="800100" lvl="1" indent="-342900">
              <a:spcBef>
                <a:spcPts val="0"/>
              </a:spcBef>
              <a:buSzPts val="3000"/>
              <a:buChar char="•"/>
            </a:pPr>
            <a:r>
              <a:rPr lang="en-US" dirty="0">
                <a:solidFill>
                  <a:srgbClr val="000000"/>
                </a:solidFill>
                <a:latin typeface="Calibri" panose="020F0502020204030204" pitchFamily="34" charset="0"/>
                <a:cs typeface="Calibri" panose="020F0502020204030204" pitchFamily="34" charset="0"/>
              </a:rPr>
              <a:t>Economic stability</a:t>
            </a:r>
          </a:p>
          <a:p>
            <a:pPr marL="800100" lvl="1" indent="-342900">
              <a:spcBef>
                <a:spcPts val="0"/>
              </a:spcBef>
              <a:buSzPts val="3000"/>
              <a:buChar char="•"/>
            </a:pPr>
            <a:r>
              <a:rPr lang="en-US" dirty="0">
                <a:solidFill>
                  <a:srgbClr val="000000"/>
                </a:solidFill>
                <a:latin typeface="Calibri" panose="020F0502020204030204" pitchFamily="34" charset="0"/>
                <a:cs typeface="Calibri" panose="020F0502020204030204" pitchFamily="34" charset="0"/>
              </a:rPr>
              <a:t>Neighborhood and work environment</a:t>
            </a:r>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50679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1640306" y="274638"/>
            <a:ext cx="8911389" cy="715962"/>
          </a:xfrm>
          <a:prstGeom prst="rect">
            <a:avLst/>
          </a:prstGeom>
          <a:noFill/>
          <a:ln>
            <a:noFill/>
          </a:ln>
        </p:spPr>
        <p:txBody>
          <a:bodyPr spcFirstLastPara="1" wrap="square" lIns="50800" tIns="50800" rIns="50800" bIns="50800" anchor="ctr" anchorCtr="0">
            <a:noAutofit/>
          </a:bodyPr>
          <a:lstStyle/>
          <a:p>
            <a:r>
              <a:rPr lang="en-US" dirty="0"/>
              <a:t>Social Determinants of Hypertension</a:t>
            </a:r>
            <a:endParaRPr dirty="0"/>
          </a:p>
        </p:txBody>
      </p:sp>
      <p:sp>
        <p:nvSpPr>
          <p:cNvPr id="101" name="Google Shape;101;p2"/>
          <p:cNvSpPr txBox="1">
            <a:spLocks noGrp="1"/>
          </p:cNvSpPr>
          <p:nvPr>
            <p:ph type="body" idx="1"/>
          </p:nvPr>
        </p:nvSpPr>
        <p:spPr>
          <a:xfrm>
            <a:off x="321012" y="1204304"/>
            <a:ext cx="11235447" cy="5379058"/>
          </a:xfrm>
          <a:prstGeom prst="rect">
            <a:avLst/>
          </a:prstGeom>
          <a:noFill/>
          <a:ln>
            <a:noFill/>
          </a:ln>
        </p:spPr>
        <p:txBody>
          <a:bodyPr spcFirstLastPara="1" wrap="square" lIns="91425" tIns="45700" rIns="91425" bIns="45700" anchor="t" anchorCtr="0">
            <a:noAutofit/>
          </a:bodyPr>
          <a:lstStyle/>
          <a:p>
            <a:pPr indent="-457200">
              <a:spcBef>
                <a:spcPts val="0"/>
              </a:spcBef>
              <a:buSzPts val="3000"/>
            </a:pPr>
            <a:r>
              <a:rPr lang="en-US" dirty="0">
                <a:solidFill>
                  <a:srgbClr val="000000"/>
                </a:solidFill>
                <a:latin typeface="Calibri" panose="020F0502020204030204" pitchFamily="34" charset="0"/>
                <a:cs typeface="Calibri" panose="020F0502020204030204" pitchFamily="34" charset="0"/>
              </a:rPr>
              <a:t>Persons who are economically disadvantaged have higher rates of hypertension and are less likely to have control of their blood pressure.</a:t>
            </a:r>
          </a:p>
          <a:p>
            <a:pPr indent="-457200">
              <a:spcBef>
                <a:spcPts val="0"/>
              </a:spcBef>
              <a:buSzPts val="3000"/>
            </a:pPr>
            <a:endParaRPr lang="en-US" dirty="0">
              <a:solidFill>
                <a:srgbClr val="000000"/>
              </a:solidFill>
              <a:latin typeface="Calibri" panose="020F0502020204030204" pitchFamily="34" charset="0"/>
              <a:cs typeface="Calibri" panose="020F0502020204030204" pitchFamily="34" charset="0"/>
            </a:endParaRPr>
          </a:p>
          <a:p>
            <a:pPr indent="-457200">
              <a:spcBef>
                <a:spcPts val="0"/>
              </a:spcBef>
              <a:buSzPts val="3000"/>
            </a:pPr>
            <a:r>
              <a:rPr lang="en-US" dirty="0">
                <a:solidFill>
                  <a:srgbClr val="000000"/>
                </a:solidFill>
                <a:latin typeface="Calibri" panose="020F0502020204030204" pitchFamily="34" charset="0"/>
                <a:cs typeface="Calibri" panose="020F0502020204030204" pitchFamily="34" charset="0"/>
              </a:rPr>
              <a:t>When talking to patients about their HTN diagnosis we need to determine their level of health literacy and tailor counseling to this level.</a:t>
            </a:r>
          </a:p>
          <a:p>
            <a:pPr indent="-457200">
              <a:spcBef>
                <a:spcPts val="0"/>
              </a:spcBef>
              <a:buSzPts val="3000"/>
            </a:pPr>
            <a:endParaRPr lang="en-US" dirty="0">
              <a:solidFill>
                <a:srgbClr val="000000"/>
              </a:solidFill>
              <a:latin typeface="Calibri" panose="020F0502020204030204" pitchFamily="34" charset="0"/>
              <a:cs typeface="Calibri" panose="020F0502020204030204" pitchFamily="34" charset="0"/>
            </a:endParaRPr>
          </a:p>
          <a:p>
            <a:pPr indent="-457200">
              <a:spcBef>
                <a:spcPts val="0"/>
              </a:spcBef>
              <a:buSzPts val="3000"/>
            </a:pPr>
            <a:r>
              <a:rPr lang="en-US" dirty="0">
                <a:solidFill>
                  <a:srgbClr val="000000"/>
                </a:solidFill>
                <a:latin typeface="Calibri" panose="020F0502020204030204" pitchFamily="34" charset="0"/>
                <a:cs typeface="Calibri" panose="020F0502020204030204" pitchFamily="34" charset="0"/>
              </a:rPr>
              <a:t>The clinician should also talk with the patient to identify barriers to successful treatment that may be part of SDOH- what are some of these?</a:t>
            </a:r>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63738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DA6BF-3478-EF16-BE5B-8165444070E6}"/>
              </a:ext>
            </a:extLst>
          </p:cNvPr>
          <p:cNvSpPr>
            <a:spLocks noGrp="1"/>
          </p:cNvSpPr>
          <p:nvPr>
            <p:ph type="title"/>
          </p:nvPr>
        </p:nvSpPr>
        <p:spPr/>
        <p:txBody>
          <a:bodyPr/>
          <a:lstStyle/>
          <a:p>
            <a:r>
              <a:rPr lang="en-US" dirty="0"/>
              <a:t>Review Normal BP Physiology</a:t>
            </a:r>
          </a:p>
        </p:txBody>
      </p:sp>
    </p:spTree>
    <p:extLst>
      <p:ext uri="{BB962C8B-B14F-4D97-AF65-F5344CB8AC3E}">
        <p14:creationId xmlns:p14="http://schemas.microsoft.com/office/powerpoint/2010/main" val="2010588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3"/>
          <p:cNvSpPr txBox="1">
            <a:spLocks noGrp="1"/>
          </p:cNvSpPr>
          <p:nvPr>
            <p:ph type="title"/>
          </p:nvPr>
        </p:nvSpPr>
        <p:spPr>
          <a:xfrm>
            <a:off x="6450250" y="-128081"/>
            <a:ext cx="5672847" cy="929803"/>
          </a:xfrm>
          <a:prstGeom prst="rect">
            <a:avLst/>
          </a:prstGeom>
          <a:noFill/>
          <a:ln>
            <a:noFill/>
          </a:ln>
        </p:spPr>
        <p:txBody>
          <a:bodyPr spcFirstLastPara="1" wrap="square" lIns="50800" tIns="50800" rIns="50800" bIns="50800" anchor="ctr" anchorCtr="0">
            <a:noAutofit/>
          </a:bodyPr>
          <a:lstStyle/>
          <a:p>
            <a:r>
              <a:rPr lang="en-US" dirty="0"/>
              <a:t>Normal Hemodynamics</a:t>
            </a:r>
            <a:endParaRPr dirty="0"/>
          </a:p>
        </p:txBody>
      </p:sp>
      <p:sp>
        <p:nvSpPr>
          <p:cNvPr id="181" name="Google Shape;181;p13"/>
          <p:cNvSpPr txBox="1">
            <a:spLocks noGrp="1"/>
          </p:cNvSpPr>
          <p:nvPr>
            <p:ph type="body" idx="1"/>
          </p:nvPr>
        </p:nvSpPr>
        <p:spPr>
          <a:xfrm>
            <a:off x="256160" y="519619"/>
            <a:ext cx="6631658" cy="5865779"/>
          </a:xfrm>
          <a:prstGeom prst="rect">
            <a:avLst/>
          </a:prstGeom>
          <a:noFill/>
          <a:ln>
            <a:noFill/>
          </a:ln>
        </p:spPr>
        <p:txBody>
          <a:bodyPr spcFirstLastPara="1" wrap="square" lIns="91425" tIns="45700" rIns="91425" bIns="45700" anchor="t" anchorCtr="0">
            <a:noAutofit/>
          </a:bodyPr>
          <a:lstStyle/>
          <a:p>
            <a:pPr marL="342900" indent="-342900">
              <a:spcBef>
                <a:spcPts val="0"/>
              </a:spcBef>
              <a:buSzPts val="2800"/>
            </a:pPr>
            <a:r>
              <a:rPr lang="en-US" sz="2800" dirty="0"/>
              <a:t>Maintaining mean arterial pressure (MAP) between 70-100mmHg is required to provide a constant flow of blood to all of the body tissues, delivering oxygen and nutrients to the tissues and removing CO</a:t>
            </a:r>
            <a:r>
              <a:rPr lang="en-US" sz="2800" baseline="-25000" dirty="0"/>
              <a:t>2</a:t>
            </a:r>
            <a:r>
              <a:rPr lang="en-US" sz="2800" dirty="0"/>
              <a:t> and waste</a:t>
            </a:r>
            <a:endParaRPr dirty="0"/>
          </a:p>
          <a:p>
            <a:pPr marL="342900" indent="-342900">
              <a:buSzPts val="2800"/>
            </a:pPr>
            <a:r>
              <a:rPr lang="en-US" sz="2800" dirty="0"/>
              <a:t>This helps push the blood from the arteries into the capillaries</a:t>
            </a:r>
            <a:endParaRPr dirty="0"/>
          </a:p>
          <a:p>
            <a:pPr marL="342900" indent="-342900">
              <a:spcBef>
                <a:spcPts val="1400"/>
              </a:spcBef>
              <a:buSzPts val="2800"/>
            </a:pPr>
            <a:r>
              <a:rPr lang="en-US" sz="2800" dirty="0"/>
              <a:t>In the capillaries, gas exchange, nutrients and waste occur</a:t>
            </a:r>
            <a:endParaRPr lang="en-US" dirty="0"/>
          </a:p>
          <a:p>
            <a:pPr marL="0" indent="0">
              <a:spcBef>
                <a:spcPts val="1400"/>
              </a:spcBef>
              <a:buSzPts val="2800"/>
              <a:buNone/>
            </a:pPr>
            <a:r>
              <a:rPr lang="en-US" sz="2800" dirty="0"/>
              <a:t>MAP = CO X total peripheral resistance (TPR)</a:t>
            </a:r>
          </a:p>
        </p:txBody>
      </p:sp>
      <p:pic>
        <p:nvPicPr>
          <p:cNvPr id="182" name="Google Shape;182;p13" descr="und_18-02-a.jpg"/>
          <p:cNvPicPr preferRelativeResize="0">
            <a:picLocks noGrp="1"/>
          </p:cNvPicPr>
          <p:nvPr>
            <p:ph type="body" idx="2"/>
          </p:nvPr>
        </p:nvPicPr>
        <p:blipFill rotWithShape="1">
          <a:blip r:embed="rId3">
            <a:alphaModFix/>
          </a:blip>
          <a:srcRect l="-155" r="22221"/>
          <a:stretch/>
        </p:blipFill>
        <p:spPr>
          <a:xfrm>
            <a:off x="6824765" y="1167319"/>
            <a:ext cx="5298332" cy="485248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4"/>
          <p:cNvSpPr txBox="1">
            <a:spLocks noGrp="1"/>
          </p:cNvSpPr>
          <p:nvPr>
            <p:ph type="title"/>
          </p:nvPr>
        </p:nvSpPr>
        <p:spPr>
          <a:xfrm>
            <a:off x="1828800" y="35176"/>
            <a:ext cx="8534400" cy="1066800"/>
          </a:xfrm>
          <a:prstGeom prst="rect">
            <a:avLst/>
          </a:prstGeom>
          <a:noFill/>
          <a:ln>
            <a:noFill/>
          </a:ln>
        </p:spPr>
        <p:txBody>
          <a:bodyPr spcFirstLastPara="1" wrap="square" lIns="50800" tIns="50800" rIns="50800" bIns="50800" anchor="ctr" anchorCtr="0">
            <a:noAutofit/>
          </a:bodyPr>
          <a:lstStyle/>
          <a:p>
            <a:r>
              <a:rPr lang="en-US" dirty="0"/>
              <a:t>Normal Systole Hemodynamics</a:t>
            </a:r>
            <a:endParaRPr dirty="0"/>
          </a:p>
        </p:txBody>
      </p:sp>
      <p:sp>
        <p:nvSpPr>
          <p:cNvPr id="189" name="Google Shape;189;p14"/>
          <p:cNvSpPr txBox="1">
            <a:spLocks noGrp="1"/>
          </p:cNvSpPr>
          <p:nvPr>
            <p:ph type="body" idx="1"/>
          </p:nvPr>
        </p:nvSpPr>
        <p:spPr>
          <a:xfrm>
            <a:off x="564345" y="4001310"/>
            <a:ext cx="11381362" cy="2493523"/>
          </a:xfrm>
          <a:prstGeom prst="rect">
            <a:avLst/>
          </a:prstGeom>
          <a:noFill/>
          <a:ln>
            <a:noFill/>
          </a:ln>
        </p:spPr>
        <p:txBody>
          <a:bodyPr spcFirstLastPara="1" wrap="square" lIns="91425" tIns="45700" rIns="91425" bIns="45700" anchor="t" anchorCtr="0">
            <a:noAutofit/>
          </a:bodyPr>
          <a:lstStyle/>
          <a:p>
            <a:pPr indent="-457200">
              <a:spcBef>
                <a:spcPts val="0"/>
              </a:spcBef>
            </a:pPr>
            <a:r>
              <a:rPr lang="en-US" sz="2800" dirty="0"/>
              <a:t>During systole (ventricular ejection), the pressure (force of blood) on the arteries increases as the heart pumps blood into the arterial system, accounting for the higher systolic BP than diastolic BP. </a:t>
            </a:r>
            <a:endParaRPr sz="2800" dirty="0"/>
          </a:p>
          <a:p>
            <a:pPr marL="342900" indent="-342900">
              <a:spcBef>
                <a:spcPts val="1600"/>
              </a:spcBef>
            </a:pPr>
            <a:r>
              <a:rPr lang="en-US" sz="2800" dirty="0"/>
              <a:t>As the pressure increases, the elastic walls of the arteries stretch (compliance).  This can be felt as a pulse in the arteries</a:t>
            </a:r>
            <a:endParaRPr sz="2800" dirty="0"/>
          </a:p>
          <a:p>
            <a:pPr marL="342900" indent="-139700">
              <a:buNone/>
            </a:pPr>
            <a:endParaRPr dirty="0">
              <a:latin typeface="Constantia"/>
              <a:ea typeface="Constantia"/>
              <a:cs typeface="Constantia"/>
              <a:sym typeface="Constantia"/>
            </a:endParaRPr>
          </a:p>
        </p:txBody>
      </p:sp>
      <p:pic>
        <p:nvPicPr>
          <p:cNvPr id="190" name="Google Shape;190;p14"/>
          <p:cNvPicPr preferRelativeResize="0">
            <a:picLocks noGrp="1"/>
          </p:cNvPicPr>
          <p:nvPr>
            <p:ph type="body" idx="2"/>
          </p:nvPr>
        </p:nvPicPr>
        <p:blipFill rotWithShape="1">
          <a:blip r:embed="rId3">
            <a:alphaModFix/>
          </a:blip>
          <a:srcRect l="1566" r="2507" b="52727"/>
          <a:stretch/>
        </p:blipFill>
        <p:spPr>
          <a:xfrm>
            <a:off x="3198255" y="1146031"/>
            <a:ext cx="5477435" cy="29447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5"/>
          <p:cNvSpPr txBox="1">
            <a:spLocks noGrp="1"/>
          </p:cNvSpPr>
          <p:nvPr>
            <p:ph type="body" idx="1"/>
          </p:nvPr>
        </p:nvSpPr>
        <p:spPr>
          <a:xfrm>
            <a:off x="671209" y="4267200"/>
            <a:ext cx="10933889" cy="2438400"/>
          </a:xfrm>
          <a:prstGeom prst="rect">
            <a:avLst/>
          </a:prstGeom>
          <a:noFill/>
          <a:ln>
            <a:noFill/>
          </a:ln>
        </p:spPr>
        <p:txBody>
          <a:bodyPr spcFirstLastPara="1" wrap="square" lIns="91425" tIns="45700" rIns="91425" bIns="45700" anchor="t" anchorCtr="0">
            <a:noAutofit/>
          </a:bodyPr>
          <a:lstStyle/>
          <a:p>
            <a:pPr marL="342900" indent="-342900">
              <a:spcBef>
                <a:spcPts val="0"/>
              </a:spcBef>
            </a:pPr>
            <a:r>
              <a:rPr lang="en-US" dirty="0"/>
              <a:t>In diastole, there is recoil of the elastic arteries. The diastolic pressure generated is the remaining force of blood on the walls of the artery when the heart is relaxing and recorded as the minimum pressure just before the start of systole. </a:t>
            </a:r>
            <a:endParaRPr dirty="0"/>
          </a:p>
          <a:p>
            <a:pPr marL="342900" indent="-165100">
              <a:spcBef>
                <a:spcPts val="1400"/>
              </a:spcBef>
              <a:buSzPts val="2800"/>
              <a:buNone/>
            </a:pPr>
            <a:endParaRPr sz="2800" dirty="0"/>
          </a:p>
          <a:p>
            <a:pPr marL="342900" indent="-139700">
              <a:buNone/>
            </a:pPr>
            <a:endParaRPr dirty="0">
              <a:latin typeface="Constantia"/>
              <a:ea typeface="Constantia"/>
              <a:cs typeface="Constantia"/>
              <a:sym typeface="Constantia"/>
            </a:endParaRPr>
          </a:p>
        </p:txBody>
      </p:sp>
      <p:pic>
        <p:nvPicPr>
          <p:cNvPr id="198" name="Google Shape;198;p15"/>
          <p:cNvPicPr preferRelativeResize="0">
            <a:picLocks noGrp="1"/>
          </p:cNvPicPr>
          <p:nvPr>
            <p:ph type="body" idx="2"/>
          </p:nvPr>
        </p:nvPicPr>
        <p:blipFill rotWithShape="1">
          <a:blip r:embed="rId3">
            <a:alphaModFix/>
          </a:blip>
          <a:srcRect l="1566" t="47272" r="11159"/>
          <a:stretch/>
        </p:blipFill>
        <p:spPr>
          <a:xfrm>
            <a:off x="1905001" y="336884"/>
            <a:ext cx="5433847" cy="3581400"/>
          </a:xfrm>
          <a:prstGeom prst="rect">
            <a:avLst/>
          </a:prstGeom>
          <a:noFill/>
          <a:ln>
            <a:noFill/>
          </a:ln>
        </p:spPr>
      </p:pic>
      <p:sp>
        <p:nvSpPr>
          <p:cNvPr id="199" name="Google Shape;199;p15"/>
          <p:cNvSpPr txBox="1">
            <a:spLocks noGrp="1"/>
          </p:cNvSpPr>
          <p:nvPr>
            <p:ph type="title"/>
          </p:nvPr>
        </p:nvSpPr>
        <p:spPr>
          <a:xfrm>
            <a:off x="7196847" y="152400"/>
            <a:ext cx="4894634" cy="3429000"/>
          </a:xfrm>
          <a:prstGeom prst="rect">
            <a:avLst/>
          </a:prstGeom>
          <a:noFill/>
          <a:ln>
            <a:noFill/>
          </a:ln>
        </p:spPr>
        <p:txBody>
          <a:bodyPr spcFirstLastPara="1" wrap="square" lIns="50800" tIns="50800" rIns="50800" bIns="50800" anchor="ctr" anchorCtr="0">
            <a:noAutofit/>
          </a:bodyPr>
          <a:lstStyle/>
          <a:p>
            <a:r>
              <a:rPr lang="en-US" dirty="0"/>
              <a:t>Normal Diastole Hemodynamics</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788C654-493A-DE3F-BA4A-D3ECE3D059F6}"/>
              </a:ext>
            </a:extLst>
          </p:cNvPr>
          <p:cNvPicPr>
            <a:picLocks noChangeAspect="1"/>
          </p:cNvPicPr>
          <p:nvPr/>
        </p:nvPicPr>
        <p:blipFill>
          <a:blip r:embed="rId3"/>
          <a:stretch>
            <a:fillRect/>
          </a:stretch>
        </p:blipFill>
        <p:spPr>
          <a:xfrm>
            <a:off x="658030" y="129208"/>
            <a:ext cx="11245707" cy="6217340"/>
          </a:xfrm>
          <a:prstGeom prst="rect">
            <a:avLst/>
          </a:prstGeom>
        </p:spPr>
      </p:pic>
    </p:spTree>
    <p:extLst>
      <p:ext uri="{BB962C8B-B14F-4D97-AF65-F5344CB8AC3E}">
        <p14:creationId xmlns:p14="http://schemas.microsoft.com/office/powerpoint/2010/main" val="3125274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8"/>
          <p:cNvSpPr txBox="1">
            <a:spLocks noGrp="1"/>
          </p:cNvSpPr>
          <p:nvPr>
            <p:ph type="title"/>
          </p:nvPr>
        </p:nvSpPr>
        <p:spPr>
          <a:xfrm>
            <a:off x="1981199" y="218873"/>
            <a:ext cx="8229600" cy="663102"/>
          </a:xfrm>
          <a:prstGeom prst="rect">
            <a:avLst/>
          </a:prstGeom>
          <a:noFill/>
          <a:ln>
            <a:noFill/>
          </a:ln>
        </p:spPr>
        <p:txBody>
          <a:bodyPr spcFirstLastPara="1" wrap="square" lIns="50800" tIns="50800" rIns="50800" bIns="50800" anchor="ctr" anchorCtr="0">
            <a:noAutofit/>
          </a:bodyPr>
          <a:lstStyle/>
          <a:p>
            <a:r>
              <a:rPr lang="en-US" dirty="0"/>
              <a:t>Important Terms</a:t>
            </a:r>
            <a:endParaRPr dirty="0"/>
          </a:p>
        </p:txBody>
      </p:sp>
      <p:sp>
        <p:nvSpPr>
          <p:cNvPr id="233" name="Google Shape;233;p18"/>
          <p:cNvSpPr txBox="1">
            <a:spLocks noGrp="1"/>
          </p:cNvSpPr>
          <p:nvPr>
            <p:ph type="body" idx="1"/>
          </p:nvPr>
        </p:nvSpPr>
        <p:spPr>
          <a:xfrm>
            <a:off x="371271" y="963541"/>
            <a:ext cx="11449455" cy="54864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sz="2800" b="1" dirty="0">
                <a:latin typeface="Calibri" panose="020F0502020204030204" pitchFamily="34" charset="0"/>
                <a:cs typeface="Calibri" panose="020F0502020204030204" pitchFamily="34" charset="0"/>
              </a:rPr>
              <a:t>Preload</a:t>
            </a:r>
            <a:endParaRPr sz="2800" b="1" dirty="0">
              <a:latin typeface="Calibri" panose="020F0502020204030204" pitchFamily="34" charset="0"/>
              <a:cs typeface="Calibri" panose="020F0502020204030204" pitchFamily="34" charset="0"/>
            </a:endParaRPr>
          </a:p>
          <a:p>
            <a:pPr marL="292100" indent="-88900">
              <a:buNone/>
            </a:pPr>
            <a:r>
              <a:rPr lang="en-US" sz="2400" dirty="0">
                <a:latin typeface="Calibri" panose="020F0502020204030204" pitchFamily="34" charset="0"/>
                <a:cs typeface="Calibri" panose="020F0502020204030204" pitchFamily="34" charset="0"/>
              </a:rPr>
              <a:t>Pre-Contraction load. The load on cardiac musculature, the stretch, caused by blood entering the heart from the venous system, PRIOR to heart contracting. Measured as end diastolic volume (EDV)</a:t>
            </a:r>
            <a:endParaRPr sz="2400" dirty="0">
              <a:latin typeface="Calibri" panose="020F0502020204030204" pitchFamily="34" charset="0"/>
              <a:cs typeface="Calibri" panose="020F0502020204030204" pitchFamily="34" charset="0"/>
            </a:endParaRPr>
          </a:p>
          <a:p>
            <a:pPr marL="292100" indent="-292100"/>
            <a:r>
              <a:rPr lang="en-US" sz="2800" b="1" dirty="0">
                <a:latin typeface="Calibri" panose="020F0502020204030204" pitchFamily="34" charset="0"/>
                <a:cs typeface="Calibri" panose="020F0502020204030204" pitchFamily="34" charset="0"/>
              </a:rPr>
              <a:t>Inotrope</a:t>
            </a:r>
            <a:endParaRPr sz="2800" b="1" dirty="0">
              <a:latin typeface="Calibri" panose="020F0502020204030204" pitchFamily="34" charset="0"/>
              <a:cs typeface="Calibri" panose="020F0502020204030204" pitchFamily="34" charset="0"/>
            </a:endParaRPr>
          </a:p>
          <a:p>
            <a:pPr marL="292100" indent="-88900">
              <a:buNone/>
            </a:pPr>
            <a:r>
              <a:rPr lang="en-US" sz="2400" dirty="0">
                <a:latin typeface="Calibri" panose="020F0502020204030204" pitchFamily="34" charset="0"/>
                <a:cs typeface="Calibri" panose="020F0502020204030204" pitchFamily="34" charset="0"/>
              </a:rPr>
              <a:t>A medicine that changes the force of contraction (“</a:t>
            </a:r>
            <a:r>
              <a:rPr lang="en-US" sz="2400" dirty="0" err="1">
                <a:latin typeface="Calibri" panose="020F0502020204030204" pitchFamily="34" charset="0"/>
                <a:cs typeface="Calibri" panose="020F0502020204030204" pitchFamily="34" charset="0"/>
              </a:rPr>
              <a:t>Ino</a:t>
            </a:r>
            <a:r>
              <a:rPr lang="en-US" sz="2400" dirty="0">
                <a:latin typeface="Calibri" panose="020F0502020204030204" pitchFamily="34" charset="0"/>
                <a:cs typeface="Calibri" panose="020F0502020204030204" pitchFamily="34" charset="0"/>
              </a:rPr>
              <a:t>” meaning “fiber” or muscle fiber and “tropic” meaning “turning” or “changing”) A muscle fiber changing medication. </a:t>
            </a:r>
            <a:endParaRPr dirty="0">
              <a:latin typeface="Calibri" panose="020F0502020204030204" pitchFamily="34" charset="0"/>
              <a:cs typeface="Calibri" panose="020F0502020204030204" pitchFamily="34" charset="0"/>
            </a:endParaRPr>
          </a:p>
          <a:p>
            <a:pPr marL="292100" indent="-292100"/>
            <a:r>
              <a:rPr lang="en-US" sz="2800" b="1" dirty="0" err="1">
                <a:latin typeface="Calibri" panose="020F0502020204030204" pitchFamily="34" charset="0"/>
                <a:cs typeface="Calibri" panose="020F0502020204030204" pitchFamily="34" charset="0"/>
              </a:rPr>
              <a:t>Chronotrope</a:t>
            </a:r>
            <a:endParaRPr sz="2800" b="1" dirty="0">
              <a:latin typeface="Calibri" panose="020F0502020204030204" pitchFamily="34" charset="0"/>
              <a:cs typeface="Calibri" panose="020F0502020204030204" pitchFamily="34" charset="0"/>
            </a:endParaRPr>
          </a:p>
          <a:p>
            <a:pPr marL="292100" indent="-88900">
              <a:buNone/>
            </a:pPr>
            <a:r>
              <a:rPr lang="en-US" sz="2400" dirty="0">
                <a:latin typeface="Calibri" panose="020F0502020204030204" pitchFamily="34" charset="0"/>
                <a:cs typeface="Calibri" panose="020F0502020204030204" pitchFamily="34" charset="0"/>
              </a:rPr>
              <a:t>A medicine that changes the rate of contraction (“chrono” as in “chronological” or timing) A “time changing” medication</a:t>
            </a:r>
            <a:endParaRPr sz="2400" dirty="0">
              <a:latin typeface="Calibri" panose="020F0502020204030204" pitchFamily="34" charset="0"/>
              <a:cs typeface="Calibri" panose="020F0502020204030204" pitchFamily="34" charset="0"/>
            </a:endParaRPr>
          </a:p>
          <a:p>
            <a:pPr marL="292100" indent="-292100"/>
            <a:r>
              <a:rPr lang="en-US" sz="2800" b="1" dirty="0">
                <a:latin typeface="Calibri" panose="020F0502020204030204" pitchFamily="34" charset="0"/>
                <a:cs typeface="Calibri" panose="020F0502020204030204" pitchFamily="34" charset="0"/>
              </a:rPr>
              <a:t>Afterload</a:t>
            </a:r>
            <a:endParaRPr sz="2800" b="1" dirty="0">
              <a:latin typeface="Calibri" panose="020F0502020204030204" pitchFamily="34" charset="0"/>
              <a:cs typeface="Calibri" panose="020F0502020204030204" pitchFamily="34" charset="0"/>
            </a:endParaRPr>
          </a:p>
          <a:p>
            <a:pPr marL="292100" indent="-88900">
              <a:buNone/>
            </a:pPr>
            <a:r>
              <a:rPr lang="en-US" sz="2400" dirty="0">
                <a:solidFill>
                  <a:srgbClr val="040C28"/>
                </a:solidFill>
                <a:latin typeface="Calibri" panose="020F0502020204030204" pitchFamily="34" charset="0"/>
                <a:cs typeface="Calibri" panose="020F0502020204030204" pitchFamily="34" charset="0"/>
              </a:rPr>
              <a:t>The amount of pressure that the heart needs to exert to eject the blood during ventricular contraction</a:t>
            </a:r>
            <a:r>
              <a:rPr lang="en-US" sz="2400" dirty="0">
                <a:solidFill>
                  <a:srgbClr val="202124"/>
                </a:solidFill>
                <a:latin typeface="Calibri" panose="020F0502020204030204" pitchFamily="34" charset="0"/>
                <a:cs typeface="Calibri" panose="020F0502020204030204" pitchFamily="34" charset="0"/>
              </a:rPr>
              <a:t>. </a:t>
            </a:r>
            <a:r>
              <a:rPr lang="en-US" sz="2400" b="1" dirty="0">
                <a:solidFill>
                  <a:srgbClr val="202124"/>
                </a:solidFill>
                <a:latin typeface="Calibri" panose="020F0502020204030204" pitchFamily="34" charset="0"/>
                <a:cs typeface="Calibri" panose="020F0502020204030204" pitchFamily="34" charset="0"/>
              </a:rPr>
              <a:t>This is the systolic blood pressure. </a:t>
            </a:r>
            <a:endParaRPr sz="2400" b="1" dirty="0">
              <a:latin typeface="Calibri" panose="020F0502020204030204" pitchFamily="34" charset="0"/>
              <a:cs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6"/>
          <p:cNvSpPr txBox="1">
            <a:spLocks noGrp="1"/>
          </p:cNvSpPr>
          <p:nvPr>
            <p:ph type="title"/>
          </p:nvPr>
        </p:nvSpPr>
        <p:spPr>
          <a:xfrm>
            <a:off x="1981200" y="348574"/>
            <a:ext cx="8229600" cy="685800"/>
          </a:xfrm>
          <a:prstGeom prst="rect">
            <a:avLst/>
          </a:prstGeom>
          <a:noFill/>
          <a:ln>
            <a:noFill/>
          </a:ln>
        </p:spPr>
        <p:txBody>
          <a:bodyPr spcFirstLastPara="1" wrap="square" lIns="50800" tIns="50800" rIns="50800" bIns="50800" anchor="ctr" anchorCtr="0">
            <a:noAutofit/>
          </a:bodyPr>
          <a:lstStyle/>
          <a:p>
            <a:r>
              <a:rPr lang="en-US" dirty="0"/>
              <a:t>Normal BP Physiology</a:t>
            </a:r>
            <a:endParaRPr dirty="0"/>
          </a:p>
        </p:txBody>
      </p:sp>
      <p:sp>
        <p:nvSpPr>
          <p:cNvPr id="205" name="Google Shape;205;p16"/>
          <p:cNvSpPr txBox="1">
            <a:spLocks noGrp="1"/>
          </p:cNvSpPr>
          <p:nvPr>
            <p:ph type="body" idx="1"/>
          </p:nvPr>
        </p:nvSpPr>
        <p:spPr>
          <a:xfrm>
            <a:off x="522051" y="1313110"/>
            <a:ext cx="11147897" cy="5196316"/>
          </a:xfrm>
          <a:prstGeom prst="rect">
            <a:avLst/>
          </a:prstGeom>
          <a:noFill/>
          <a:ln>
            <a:noFill/>
          </a:ln>
        </p:spPr>
        <p:txBody>
          <a:bodyPr spcFirstLastPara="1" wrap="square" lIns="50800" tIns="50800" rIns="50800" bIns="50800" anchor="t" anchorCtr="0">
            <a:noAutofit/>
          </a:bodyPr>
          <a:lstStyle/>
          <a:p>
            <a:pPr marL="342900" indent="-342900">
              <a:spcBef>
                <a:spcPts val="0"/>
              </a:spcBef>
              <a:buSzPts val="3000"/>
            </a:pPr>
            <a:r>
              <a:rPr lang="en-US" dirty="0"/>
              <a:t>BP regulation is very complex, depending on:</a:t>
            </a:r>
          </a:p>
          <a:p>
            <a:pPr marL="342900" indent="-342900">
              <a:spcBef>
                <a:spcPts val="0"/>
              </a:spcBef>
              <a:buSzPts val="3000"/>
            </a:pPr>
            <a:endParaRPr lang="en-US" b="1" i="1" dirty="0"/>
          </a:p>
          <a:p>
            <a:pPr marL="342900" indent="-342900">
              <a:spcBef>
                <a:spcPts val="0"/>
              </a:spcBef>
              <a:buSzPts val="3000"/>
            </a:pPr>
            <a:r>
              <a:rPr lang="en-US" b="1" i="1" dirty="0"/>
              <a:t>Cardiac output</a:t>
            </a:r>
            <a:r>
              <a:rPr lang="en-US" dirty="0"/>
              <a:t>: the amount of blood pumped from the heart every minute (SV x HR), which is affected by sodium intake, renal function, mineralocorticoids and sympathetic/parasympathetic nervous system.</a:t>
            </a:r>
          </a:p>
          <a:p>
            <a:pPr marL="342900" indent="-342900">
              <a:spcBef>
                <a:spcPts val="0"/>
              </a:spcBef>
              <a:buSzPts val="3000"/>
            </a:pPr>
            <a:endParaRPr lang="en-US" b="1" i="1" dirty="0"/>
          </a:p>
          <a:p>
            <a:pPr marL="342900" indent="-342900">
              <a:spcBef>
                <a:spcPts val="0"/>
              </a:spcBef>
              <a:buSzPts val="3000"/>
            </a:pPr>
            <a:r>
              <a:rPr lang="en-US" b="1" i="1" dirty="0"/>
              <a:t>Peripheral vascular resistance</a:t>
            </a:r>
            <a:r>
              <a:rPr lang="en-US" dirty="0"/>
              <a:t>: the resistance to arterial distention dependent upon the sympathetic nervous system, humoral factors, and local vasculature autoregulation.</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7"/>
          <p:cNvSpPr txBox="1">
            <a:spLocks noGrp="1"/>
          </p:cNvSpPr>
          <p:nvPr>
            <p:ph type="title"/>
          </p:nvPr>
        </p:nvSpPr>
        <p:spPr>
          <a:xfrm>
            <a:off x="1981200" y="76200"/>
            <a:ext cx="8229600" cy="685800"/>
          </a:xfrm>
          <a:prstGeom prst="rect">
            <a:avLst/>
          </a:prstGeom>
          <a:noFill/>
          <a:ln>
            <a:noFill/>
          </a:ln>
        </p:spPr>
        <p:txBody>
          <a:bodyPr spcFirstLastPara="1" wrap="square" lIns="50800" tIns="50800" rIns="50800" bIns="50800" anchor="ctr" anchorCtr="0">
            <a:noAutofit/>
          </a:bodyPr>
          <a:lstStyle/>
          <a:p>
            <a:r>
              <a:rPr lang="en-US"/>
              <a:t>Normal BP Physiology</a:t>
            </a:r>
            <a:endParaRPr/>
          </a:p>
        </p:txBody>
      </p:sp>
      <p:sp>
        <p:nvSpPr>
          <p:cNvPr id="211" name="Google Shape;211;p17"/>
          <p:cNvSpPr/>
          <p:nvPr/>
        </p:nvSpPr>
        <p:spPr>
          <a:xfrm>
            <a:off x="2136175" y="1015425"/>
            <a:ext cx="2187300" cy="930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US" sz="1600"/>
              <a:t>Size of the Vascular Compartment</a:t>
            </a:r>
            <a:endParaRPr sz="1600"/>
          </a:p>
        </p:txBody>
      </p:sp>
      <p:sp>
        <p:nvSpPr>
          <p:cNvPr id="212" name="Google Shape;212;p17"/>
          <p:cNvSpPr/>
          <p:nvPr/>
        </p:nvSpPr>
        <p:spPr>
          <a:xfrm>
            <a:off x="4720525" y="1015413"/>
            <a:ext cx="1452900" cy="9300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US" sz="1600"/>
              <a:t>Myocardial Contractility</a:t>
            </a:r>
            <a:endParaRPr sz="1600"/>
          </a:p>
        </p:txBody>
      </p:sp>
      <p:sp>
        <p:nvSpPr>
          <p:cNvPr id="213" name="Google Shape;213;p17"/>
          <p:cNvSpPr/>
          <p:nvPr/>
        </p:nvSpPr>
        <p:spPr>
          <a:xfrm>
            <a:off x="3132000" y="2589600"/>
            <a:ext cx="1511100" cy="930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sz="1600"/>
              <a:t>Stroke Volume</a:t>
            </a:r>
            <a:endParaRPr sz="1600"/>
          </a:p>
        </p:txBody>
      </p:sp>
      <p:sp>
        <p:nvSpPr>
          <p:cNvPr id="214" name="Google Shape;214;p17"/>
          <p:cNvSpPr/>
          <p:nvPr/>
        </p:nvSpPr>
        <p:spPr>
          <a:xfrm>
            <a:off x="5224225" y="2589600"/>
            <a:ext cx="1391700" cy="930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US" sz="1600"/>
              <a:t>Heart Rate</a:t>
            </a:r>
            <a:endParaRPr sz="1600"/>
          </a:p>
        </p:txBody>
      </p:sp>
      <p:sp>
        <p:nvSpPr>
          <p:cNvPr id="215" name="Google Shape;215;p17"/>
          <p:cNvSpPr/>
          <p:nvPr/>
        </p:nvSpPr>
        <p:spPr>
          <a:xfrm>
            <a:off x="3994200" y="4126600"/>
            <a:ext cx="2101800" cy="930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US" sz="1700"/>
              <a:t>Cardiac Output</a:t>
            </a:r>
            <a:endParaRPr sz="1700"/>
          </a:p>
        </p:txBody>
      </p:sp>
      <p:sp>
        <p:nvSpPr>
          <p:cNvPr id="216" name="Google Shape;216;p17"/>
          <p:cNvSpPr/>
          <p:nvPr/>
        </p:nvSpPr>
        <p:spPr>
          <a:xfrm>
            <a:off x="7839550" y="4077975"/>
            <a:ext cx="2371200" cy="930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US" sz="1700"/>
              <a:t>Vascular Resistance</a:t>
            </a:r>
            <a:endParaRPr sz="1700"/>
          </a:p>
        </p:txBody>
      </p:sp>
      <p:sp>
        <p:nvSpPr>
          <p:cNvPr id="217" name="Google Shape;217;p17"/>
          <p:cNvSpPr/>
          <p:nvPr/>
        </p:nvSpPr>
        <p:spPr>
          <a:xfrm>
            <a:off x="6980399" y="2576625"/>
            <a:ext cx="1511100" cy="930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US" sz="1600"/>
              <a:t>Vascular Structure</a:t>
            </a:r>
            <a:endParaRPr sz="1600"/>
          </a:p>
        </p:txBody>
      </p:sp>
      <p:sp>
        <p:nvSpPr>
          <p:cNvPr id="218" name="Google Shape;218;p17"/>
          <p:cNvSpPr/>
          <p:nvPr/>
        </p:nvSpPr>
        <p:spPr>
          <a:xfrm>
            <a:off x="8682275" y="2589600"/>
            <a:ext cx="1782300" cy="930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US" sz="1600"/>
              <a:t>Vasoconstriction/ Vasodilation</a:t>
            </a:r>
            <a:endParaRPr sz="1600"/>
          </a:p>
        </p:txBody>
      </p:sp>
      <p:sp>
        <p:nvSpPr>
          <p:cNvPr id="219" name="Google Shape;219;p17"/>
          <p:cNvSpPr/>
          <p:nvPr/>
        </p:nvSpPr>
        <p:spPr>
          <a:xfrm>
            <a:off x="5340450" y="5841075"/>
            <a:ext cx="3451200" cy="930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US" sz="2000"/>
              <a:t>Systemic Arterial Pressure</a:t>
            </a:r>
            <a:endParaRPr sz="2000"/>
          </a:p>
        </p:txBody>
      </p:sp>
      <p:cxnSp>
        <p:nvCxnSpPr>
          <p:cNvPr id="220" name="Google Shape;220;p17"/>
          <p:cNvCxnSpPr/>
          <p:nvPr/>
        </p:nvCxnSpPr>
        <p:spPr>
          <a:xfrm>
            <a:off x="2667000" y="2024500"/>
            <a:ext cx="416400" cy="465000"/>
          </a:xfrm>
          <a:prstGeom prst="straightConnector1">
            <a:avLst/>
          </a:prstGeom>
          <a:noFill/>
          <a:ln w="9525" cap="flat" cmpd="sng">
            <a:solidFill>
              <a:schemeClr val="dk2"/>
            </a:solidFill>
            <a:prstDash val="solid"/>
            <a:round/>
            <a:headEnd type="none" w="med" len="med"/>
            <a:tailEnd type="triangle" w="med" len="med"/>
          </a:ln>
        </p:spPr>
      </p:cxnSp>
      <p:cxnSp>
        <p:nvCxnSpPr>
          <p:cNvPr id="221" name="Google Shape;221;p17"/>
          <p:cNvCxnSpPr/>
          <p:nvPr/>
        </p:nvCxnSpPr>
        <p:spPr>
          <a:xfrm flipH="1">
            <a:off x="4643100" y="1995550"/>
            <a:ext cx="668400" cy="522900"/>
          </a:xfrm>
          <a:prstGeom prst="straightConnector1">
            <a:avLst/>
          </a:prstGeom>
          <a:noFill/>
          <a:ln w="9525" cap="flat" cmpd="sng">
            <a:solidFill>
              <a:schemeClr val="dk2"/>
            </a:solidFill>
            <a:prstDash val="solid"/>
            <a:round/>
            <a:headEnd type="none" w="med" len="med"/>
            <a:tailEnd type="triangle" w="med" len="med"/>
          </a:ln>
        </p:spPr>
      </p:cxnSp>
      <p:cxnSp>
        <p:nvCxnSpPr>
          <p:cNvPr id="222" name="Google Shape;222;p17"/>
          <p:cNvCxnSpPr>
            <a:cxnSpLocks/>
          </p:cNvCxnSpPr>
          <p:nvPr/>
        </p:nvCxnSpPr>
        <p:spPr>
          <a:xfrm>
            <a:off x="5765044" y="3583976"/>
            <a:ext cx="0" cy="474625"/>
          </a:xfrm>
          <a:prstGeom prst="straightConnector1">
            <a:avLst/>
          </a:prstGeom>
          <a:noFill/>
          <a:ln w="9525" cap="flat" cmpd="sng">
            <a:solidFill>
              <a:schemeClr val="dk2"/>
            </a:solidFill>
            <a:prstDash val="solid"/>
            <a:round/>
            <a:headEnd type="none" w="med" len="med"/>
            <a:tailEnd type="triangle" w="med" len="med"/>
          </a:ln>
        </p:spPr>
      </p:cxnSp>
      <p:cxnSp>
        <p:nvCxnSpPr>
          <p:cNvPr id="223" name="Google Shape;223;p17"/>
          <p:cNvCxnSpPr/>
          <p:nvPr/>
        </p:nvCxnSpPr>
        <p:spPr>
          <a:xfrm>
            <a:off x="7820175" y="3564600"/>
            <a:ext cx="290700" cy="455400"/>
          </a:xfrm>
          <a:prstGeom prst="straightConnector1">
            <a:avLst/>
          </a:prstGeom>
          <a:noFill/>
          <a:ln w="9525" cap="flat" cmpd="sng">
            <a:solidFill>
              <a:schemeClr val="dk2"/>
            </a:solidFill>
            <a:prstDash val="solid"/>
            <a:round/>
            <a:headEnd type="none" w="med" len="med"/>
            <a:tailEnd type="triangle" w="med" len="med"/>
          </a:ln>
        </p:spPr>
      </p:cxnSp>
      <p:cxnSp>
        <p:nvCxnSpPr>
          <p:cNvPr id="224" name="Google Shape;224;p17"/>
          <p:cNvCxnSpPr/>
          <p:nvPr/>
        </p:nvCxnSpPr>
        <p:spPr>
          <a:xfrm flipH="1">
            <a:off x="9573575" y="3583975"/>
            <a:ext cx="319500" cy="426300"/>
          </a:xfrm>
          <a:prstGeom prst="straightConnector1">
            <a:avLst/>
          </a:prstGeom>
          <a:noFill/>
          <a:ln w="9525" cap="flat" cmpd="sng">
            <a:solidFill>
              <a:schemeClr val="dk2"/>
            </a:solidFill>
            <a:prstDash val="solid"/>
            <a:round/>
            <a:headEnd type="none" w="med" len="med"/>
            <a:tailEnd type="triangle" w="med" len="med"/>
          </a:ln>
        </p:spPr>
      </p:cxnSp>
      <p:cxnSp>
        <p:nvCxnSpPr>
          <p:cNvPr id="225" name="Google Shape;225;p17"/>
          <p:cNvCxnSpPr>
            <a:stCxn id="215" idx="2"/>
          </p:cNvCxnSpPr>
          <p:nvPr/>
        </p:nvCxnSpPr>
        <p:spPr>
          <a:xfrm>
            <a:off x="5045100" y="5056600"/>
            <a:ext cx="939600" cy="745800"/>
          </a:xfrm>
          <a:prstGeom prst="straightConnector1">
            <a:avLst/>
          </a:prstGeom>
          <a:noFill/>
          <a:ln w="9525" cap="flat" cmpd="sng">
            <a:solidFill>
              <a:schemeClr val="dk2"/>
            </a:solidFill>
            <a:prstDash val="solid"/>
            <a:round/>
            <a:headEnd type="none" w="med" len="med"/>
            <a:tailEnd type="triangle" w="med" len="med"/>
          </a:ln>
        </p:spPr>
      </p:cxnSp>
      <p:cxnSp>
        <p:nvCxnSpPr>
          <p:cNvPr id="226" name="Google Shape;226;p17"/>
          <p:cNvCxnSpPr/>
          <p:nvPr/>
        </p:nvCxnSpPr>
        <p:spPr>
          <a:xfrm flipH="1">
            <a:off x="7665050" y="5104750"/>
            <a:ext cx="891300" cy="678000"/>
          </a:xfrm>
          <a:prstGeom prst="straightConnector1">
            <a:avLst/>
          </a:prstGeom>
          <a:noFill/>
          <a:ln w="9525" cap="flat" cmpd="sng">
            <a:solidFill>
              <a:schemeClr val="dk2"/>
            </a:solidFill>
            <a:prstDash val="solid"/>
            <a:round/>
            <a:headEnd type="none" w="med" len="med"/>
            <a:tailEnd type="triangle" w="med" len="med"/>
          </a:ln>
        </p:spPr>
      </p:cxnSp>
      <p:cxnSp>
        <p:nvCxnSpPr>
          <p:cNvPr id="227" name="Google Shape;227;p17"/>
          <p:cNvCxnSpPr/>
          <p:nvPr/>
        </p:nvCxnSpPr>
        <p:spPr>
          <a:xfrm>
            <a:off x="4042475" y="3613050"/>
            <a:ext cx="9600" cy="4164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9"/>
          <p:cNvSpPr txBox="1">
            <a:spLocks noGrp="1"/>
          </p:cNvSpPr>
          <p:nvPr>
            <p:ph type="title"/>
          </p:nvPr>
        </p:nvSpPr>
        <p:spPr>
          <a:xfrm>
            <a:off x="1828800" y="76200"/>
            <a:ext cx="8382000" cy="838200"/>
          </a:xfrm>
          <a:prstGeom prst="rect">
            <a:avLst/>
          </a:prstGeom>
          <a:noFill/>
          <a:ln>
            <a:noFill/>
          </a:ln>
        </p:spPr>
        <p:txBody>
          <a:bodyPr spcFirstLastPara="1" wrap="square" lIns="50800" tIns="50800" rIns="50800" bIns="50800" anchor="ctr" anchorCtr="0">
            <a:noAutofit/>
          </a:bodyPr>
          <a:lstStyle/>
          <a:p>
            <a:r>
              <a:rPr lang="en-US" sz="4800"/>
              <a:t>The Physiology of Blood Pressure</a:t>
            </a:r>
            <a:endParaRPr/>
          </a:p>
        </p:txBody>
      </p:sp>
      <p:pic>
        <p:nvPicPr>
          <p:cNvPr id="240" name="Google Shape;240;p19" descr="fig_18-013.jpg"/>
          <p:cNvPicPr preferRelativeResize="0">
            <a:picLocks noGrp="1"/>
          </p:cNvPicPr>
          <p:nvPr>
            <p:ph type="body" idx="1"/>
          </p:nvPr>
        </p:nvPicPr>
        <p:blipFill rotWithShape="1">
          <a:blip r:embed="rId3">
            <a:alphaModFix/>
          </a:blip>
          <a:srcRect b="5127"/>
          <a:stretch/>
        </p:blipFill>
        <p:spPr>
          <a:xfrm>
            <a:off x="1655806" y="925512"/>
            <a:ext cx="8880389" cy="5867400"/>
          </a:xfrm>
          <a:prstGeom prst="rect">
            <a:avLst/>
          </a:prstGeom>
          <a:noFill/>
          <a:ln>
            <a:noFill/>
          </a:ln>
        </p:spPr>
      </p:pic>
      <p:sp>
        <p:nvSpPr>
          <p:cNvPr id="241" name="Google Shape;241;p19"/>
          <p:cNvSpPr txBox="1"/>
          <p:nvPr/>
        </p:nvSpPr>
        <p:spPr>
          <a:xfrm>
            <a:off x="2460626" y="6400801"/>
            <a:ext cx="7521575" cy="538569"/>
          </a:xfrm>
          <a:prstGeom prst="rect">
            <a:avLst/>
          </a:prstGeom>
          <a:noFill/>
          <a:ln>
            <a:noFill/>
          </a:ln>
        </p:spPr>
        <p:txBody>
          <a:bodyPr spcFirstLastPara="1" wrap="square" lIns="91425" tIns="45700" rIns="91425" bIns="45700" anchor="t" anchorCtr="0">
            <a:spAutoFit/>
          </a:bodyPr>
          <a:lstStyle/>
          <a:p>
            <a:pPr algn="ctr"/>
            <a:endParaRPr sz="1200">
              <a:solidFill>
                <a:schemeClr val="accent2"/>
              </a:solidFill>
            </a:endParaRPr>
          </a:p>
          <a:p>
            <a:pPr>
              <a:spcBef>
                <a:spcPts val="600"/>
              </a:spcBef>
            </a:pPr>
            <a:endParaRPr sz="1200">
              <a:solidFill>
                <a:schemeClr val="accent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0"/>
          <p:cNvSpPr txBox="1">
            <a:spLocks noGrp="1"/>
          </p:cNvSpPr>
          <p:nvPr>
            <p:ph type="title"/>
          </p:nvPr>
        </p:nvSpPr>
        <p:spPr>
          <a:xfrm>
            <a:off x="1981200" y="76200"/>
            <a:ext cx="8229600" cy="721468"/>
          </a:xfrm>
          <a:prstGeom prst="rect">
            <a:avLst/>
          </a:prstGeom>
          <a:noFill/>
          <a:ln>
            <a:noFill/>
          </a:ln>
        </p:spPr>
        <p:txBody>
          <a:bodyPr spcFirstLastPara="1" wrap="square" lIns="50800" tIns="50800" rIns="50800" bIns="50800" anchor="ctr" anchorCtr="0">
            <a:noAutofit/>
          </a:bodyPr>
          <a:lstStyle/>
          <a:p>
            <a:r>
              <a:rPr lang="en-US" dirty="0"/>
              <a:t>Normal Blood Pressure Regulation</a:t>
            </a:r>
            <a:endParaRPr dirty="0"/>
          </a:p>
        </p:txBody>
      </p:sp>
      <p:sp>
        <p:nvSpPr>
          <p:cNvPr id="247" name="Google Shape;247;p20"/>
          <p:cNvSpPr txBox="1">
            <a:spLocks noGrp="1"/>
          </p:cNvSpPr>
          <p:nvPr>
            <p:ph type="body" idx="1"/>
          </p:nvPr>
        </p:nvSpPr>
        <p:spPr>
          <a:xfrm>
            <a:off x="126460" y="909536"/>
            <a:ext cx="11926109" cy="5948464"/>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sz="2800" b="1" dirty="0"/>
              <a:t>Short-term regulation of BP (minutes- hours) is </a:t>
            </a:r>
            <a:r>
              <a:rPr lang="en-US" sz="2800" b="1" i="1" dirty="0"/>
              <a:t>neural</a:t>
            </a:r>
            <a:r>
              <a:rPr lang="en-US" sz="2800" dirty="0"/>
              <a:t>.</a:t>
            </a:r>
            <a:endParaRPr sz="2800" dirty="0"/>
          </a:p>
          <a:p>
            <a:pPr marL="692150" lvl="1" indent="-234950">
              <a:spcBef>
                <a:spcPts val="700"/>
              </a:spcBef>
              <a:buSzPts val="2900"/>
            </a:pPr>
            <a:r>
              <a:rPr lang="en-US" sz="2400" b="1" i="1" dirty="0"/>
              <a:t>The medulla and pons </a:t>
            </a:r>
            <a:r>
              <a:rPr lang="en-US" sz="2400" dirty="0"/>
              <a:t>in the deep brain </a:t>
            </a:r>
            <a:r>
              <a:rPr lang="en-US" sz="2400" b="1" i="1" dirty="0"/>
              <a:t>integrate autonomic input from carotid and aortic baroreceptors</a:t>
            </a:r>
            <a:r>
              <a:rPr lang="en-US" sz="2400" dirty="0"/>
              <a:t> (stretch receptors)  &amp; chemoreceptors (sampling O</a:t>
            </a:r>
            <a:r>
              <a:rPr lang="en-US" sz="2400" baseline="-25000" dirty="0"/>
              <a:t>2</a:t>
            </a:r>
            <a:r>
              <a:rPr lang="en-US" sz="2400" dirty="0"/>
              <a:t>, CO</a:t>
            </a:r>
            <a:r>
              <a:rPr lang="en-US" sz="2400" baseline="-25000" dirty="0"/>
              <a:t>2</a:t>
            </a:r>
            <a:r>
              <a:rPr lang="en-US" sz="2400" dirty="0"/>
              <a:t> and H</a:t>
            </a:r>
            <a:r>
              <a:rPr lang="en-US" sz="2400" baseline="30000" dirty="0"/>
              <a:t>+</a:t>
            </a:r>
            <a:r>
              <a:rPr lang="en-US" sz="2400" dirty="0"/>
              <a:t>)</a:t>
            </a:r>
          </a:p>
          <a:p>
            <a:r>
              <a:rPr lang="en-US" sz="2800" dirty="0"/>
              <a:t>Baroreceptors sense arterial pressure indirectly from the </a:t>
            </a:r>
            <a:r>
              <a:rPr lang="en-US" sz="2800" b="1" dirty="0"/>
              <a:t>degree of stretch </a:t>
            </a:r>
            <a:r>
              <a:rPr lang="en-US" sz="2800" dirty="0"/>
              <a:t>of the elastic arterial walls</a:t>
            </a:r>
          </a:p>
          <a:p>
            <a:pPr lvl="1"/>
            <a:r>
              <a:rPr lang="en-US" sz="2800" dirty="0"/>
              <a:t>Increased stretch will increase action potential frequency to signal increased pressure to the medullary cardiovascular center in the medulla oblongata </a:t>
            </a:r>
          </a:p>
          <a:p>
            <a:pPr lvl="1"/>
            <a:r>
              <a:rPr lang="en-US" sz="2800" dirty="0"/>
              <a:t>Increased input simultaneously inhibits the sympathetic nervous system and triggers the parasympathetic nervous system</a:t>
            </a:r>
          </a:p>
          <a:p>
            <a:pPr lvl="1"/>
            <a:r>
              <a:rPr lang="en-US" sz="2800" dirty="0"/>
              <a:t>The opposite occurs with decreased stretch, activating the sympathetic nervous system</a:t>
            </a:r>
          </a:p>
          <a:p>
            <a:pPr marL="0" indent="-20638">
              <a:spcBef>
                <a:spcPts val="700"/>
              </a:spcBef>
              <a:buSzPts val="2900"/>
              <a:buNone/>
            </a:pPr>
            <a:endParaRPr lang="en-US" sz="2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iagram&#10;&#10;Description automatically generated">
            <a:extLst>
              <a:ext uri="{FF2B5EF4-FFF2-40B4-BE49-F238E27FC236}">
                <a16:creationId xmlns:a16="http://schemas.microsoft.com/office/drawing/2014/main" id="{9B3D6872-CE5D-0902-7A8F-E2C5255306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4901" y="150779"/>
            <a:ext cx="7480832" cy="6556442"/>
          </a:xfrm>
          <a:prstGeom prst="rect">
            <a:avLst/>
          </a:prstGeom>
        </p:spPr>
      </p:pic>
      <p:sp>
        <p:nvSpPr>
          <p:cNvPr id="5" name="Title 4">
            <a:extLst>
              <a:ext uri="{FF2B5EF4-FFF2-40B4-BE49-F238E27FC236}">
                <a16:creationId xmlns:a16="http://schemas.microsoft.com/office/drawing/2014/main" id="{7B3EED58-3423-9A6D-080D-4ADCF1F7643D}"/>
              </a:ext>
            </a:extLst>
          </p:cNvPr>
          <p:cNvSpPr>
            <a:spLocks noGrp="1"/>
          </p:cNvSpPr>
          <p:nvPr>
            <p:ph type="title"/>
          </p:nvPr>
        </p:nvSpPr>
        <p:spPr>
          <a:xfrm>
            <a:off x="418839" y="1037031"/>
            <a:ext cx="3873491" cy="994172"/>
          </a:xfrm>
        </p:spPr>
        <p:txBody>
          <a:bodyPr>
            <a:normAutofit fontScale="90000"/>
          </a:bodyPr>
          <a:lstStyle/>
          <a:p>
            <a:r>
              <a:rPr lang="en-US" dirty="0">
                <a:effectLst>
                  <a:outerShdw blurRad="38100" dist="38100" dir="2700000" algn="tl">
                    <a:srgbClr val="000000">
                      <a:alpha val="43137"/>
                    </a:srgbClr>
                  </a:outerShdw>
                </a:effectLst>
              </a:rPr>
              <a:t>Blood Pressure Regulation: Baroreceptor Reflex</a:t>
            </a:r>
          </a:p>
        </p:txBody>
      </p:sp>
      <p:pic>
        <p:nvPicPr>
          <p:cNvPr id="10" name="Picture 9" descr="Graphical user interface&#10;&#10;Description automatically generated with medium confidence">
            <a:extLst>
              <a:ext uri="{FF2B5EF4-FFF2-40B4-BE49-F238E27FC236}">
                <a16:creationId xmlns:a16="http://schemas.microsoft.com/office/drawing/2014/main" id="{803903B1-CD90-9444-DE1C-0DC6779513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6267" y="3749169"/>
            <a:ext cx="1521619" cy="1578769"/>
          </a:xfrm>
          <a:prstGeom prst="rect">
            <a:avLst/>
          </a:prstGeom>
        </p:spPr>
      </p:pic>
    </p:spTree>
    <p:extLst>
      <p:ext uri="{BB962C8B-B14F-4D97-AF65-F5344CB8AC3E}">
        <p14:creationId xmlns:p14="http://schemas.microsoft.com/office/powerpoint/2010/main" val="1390908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1"/>
          <p:cNvSpPr txBox="1">
            <a:spLocks noGrp="1"/>
          </p:cNvSpPr>
          <p:nvPr>
            <p:ph type="title"/>
          </p:nvPr>
        </p:nvSpPr>
        <p:spPr>
          <a:xfrm>
            <a:off x="609601" y="397213"/>
            <a:ext cx="3886193" cy="2362200"/>
          </a:xfrm>
          <a:prstGeom prst="rect">
            <a:avLst/>
          </a:prstGeom>
          <a:noFill/>
          <a:ln>
            <a:noFill/>
          </a:ln>
        </p:spPr>
        <p:txBody>
          <a:bodyPr spcFirstLastPara="1" wrap="square" lIns="50800" tIns="50800" rIns="50800" bIns="50800" anchor="ctr" anchorCtr="0">
            <a:noAutofit/>
          </a:bodyPr>
          <a:lstStyle/>
          <a:p>
            <a:r>
              <a:rPr lang="en-US" dirty="0"/>
              <a:t>Normal Blood Pressure Regulation</a:t>
            </a:r>
            <a:endParaRPr dirty="0"/>
          </a:p>
        </p:txBody>
      </p:sp>
      <p:pic>
        <p:nvPicPr>
          <p:cNvPr id="253" name="Google Shape;253;p21"/>
          <p:cNvPicPr preferRelativeResize="0"/>
          <p:nvPr/>
        </p:nvPicPr>
        <p:blipFill rotWithShape="1">
          <a:blip r:embed="rId3">
            <a:alphaModFix/>
          </a:blip>
          <a:srcRect/>
          <a:stretch/>
        </p:blipFill>
        <p:spPr>
          <a:xfrm>
            <a:off x="5867394" y="95840"/>
            <a:ext cx="4608813" cy="661609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2"/>
          <p:cNvSpPr txBox="1">
            <a:spLocks noGrp="1"/>
          </p:cNvSpPr>
          <p:nvPr>
            <p:ph type="title"/>
          </p:nvPr>
        </p:nvSpPr>
        <p:spPr>
          <a:xfrm>
            <a:off x="2710775" y="-311426"/>
            <a:ext cx="6594914" cy="1143000"/>
          </a:xfrm>
          <a:prstGeom prst="rect">
            <a:avLst/>
          </a:prstGeom>
          <a:noFill/>
          <a:ln>
            <a:noFill/>
          </a:ln>
        </p:spPr>
        <p:txBody>
          <a:bodyPr spcFirstLastPara="1" wrap="square" lIns="50800" tIns="50800" rIns="50800" bIns="50800" anchor="ctr" anchorCtr="0">
            <a:noAutofit/>
          </a:bodyPr>
          <a:lstStyle/>
          <a:p>
            <a:r>
              <a:rPr lang="en-US" sz="3600" dirty="0"/>
              <a:t>Normal Blood Pressure Regulation</a:t>
            </a:r>
            <a:endParaRPr sz="3600" dirty="0"/>
          </a:p>
        </p:txBody>
      </p:sp>
      <p:sp>
        <p:nvSpPr>
          <p:cNvPr id="260" name="Google Shape;260;p22"/>
          <p:cNvSpPr txBox="1">
            <a:spLocks noGrp="1"/>
          </p:cNvSpPr>
          <p:nvPr>
            <p:ph type="body" idx="1"/>
          </p:nvPr>
        </p:nvSpPr>
        <p:spPr>
          <a:xfrm>
            <a:off x="102704" y="831574"/>
            <a:ext cx="11986592" cy="5486400"/>
          </a:xfrm>
          <a:prstGeom prst="rect">
            <a:avLst/>
          </a:prstGeom>
          <a:noFill/>
          <a:ln>
            <a:noFill/>
          </a:ln>
        </p:spPr>
        <p:txBody>
          <a:bodyPr spcFirstLastPara="1" wrap="square" lIns="50800" tIns="50800" rIns="50800" bIns="50800" anchor="t" anchorCtr="0">
            <a:noAutofit/>
          </a:bodyPr>
          <a:lstStyle/>
          <a:p>
            <a:pPr marL="0" indent="0">
              <a:spcBef>
                <a:spcPts val="0"/>
              </a:spcBef>
              <a:buNone/>
            </a:pPr>
            <a:r>
              <a:rPr lang="en-US" sz="2600" b="1" i="1" dirty="0"/>
              <a:t>Long term control of the BP is humoral</a:t>
            </a:r>
            <a:r>
              <a:rPr lang="en-US" sz="2600" dirty="0"/>
              <a:t>:</a:t>
            </a:r>
            <a:endParaRPr sz="2600" dirty="0"/>
          </a:p>
          <a:p>
            <a:pPr indent="-457200">
              <a:spcBef>
                <a:spcPts val="700"/>
              </a:spcBef>
              <a:buSzPts val="3000"/>
              <a:buFont typeface="Calibri" panose="020F0502020204030204" pitchFamily="34" charset="0"/>
              <a:buChar char="─"/>
            </a:pPr>
            <a:r>
              <a:rPr lang="en-US" sz="2600" b="1" dirty="0">
                <a:solidFill>
                  <a:srgbClr val="FF0000"/>
                </a:solidFill>
              </a:rPr>
              <a:t>RAAS </a:t>
            </a:r>
            <a:r>
              <a:rPr lang="en-US" sz="2600" dirty="0">
                <a:solidFill>
                  <a:schemeClr val="tx1"/>
                </a:solidFill>
              </a:rPr>
              <a:t>activation</a:t>
            </a:r>
            <a:r>
              <a:rPr lang="en-US" sz="2600" b="1" dirty="0">
                <a:solidFill>
                  <a:srgbClr val="FF0000"/>
                </a:solidFill>
              </a:rPr>
              <a:t> </a:t>
            </a:r>
            <a:r>
              <a:rPr lang="en-US" sz="2600" dirty="0"/>
              <a:t>increases the vascular pressure and promotes sodium and water retention by the kidney and is regulated by </a:t>
            </a:r>
            <a:r>
              <a:rPr lang="en-US" sz="2600" u="sng" dirty="0"/>
              <a:t>3 methods</a:t>
            </a:r>
            <a:r>
              <a:rPr lang="en-US" sz="2600" dirty="0"/>
              <a:t>:  </a:t>
            </a:r>
          </a:p>
          <a:p>
            <a:pPr lvl="1" indent="-457200">
              <a:spcBef>
                <a:spcPts val="700"/>
              </a:spcBef>
              <a:buSzPts val="3000"/>
              <a:buFont typeface="Arial" panose="020B0604020202020204" pitchFamily="34" charset="0"/>
              <a:buChar char="•"/>
            </a:pPr>
            <a:r>
              <a:rPr lang="en-US" sz="2600" b="1" dirty="0"/>
              <a:t>Indirect activation of renal sympathetic nerve fibers </a:t>
            </a:r>
            <a:r>
              <a:rPr lang="en-US" sz="2600" dirty="0"/>
              <a:t>in response to the carotid and aortic baroreceptors sensing low stretch. This leads to NE release acting upon </a:t>
            </a:r>
            <a:r>
              <a:rPr lang="el-GR" sz="2600" dirty="0"/>
              <a:t>β</a:t>
            </a:r>
            <a:r>
              <a:rPr lang="en-US" sz="2600" baseline="-25000" dirty="0"/>
              <a:t>1</a:t>
            </a:r>
            <a:r>
              <a:rPr lang="en-US" sz="2600" dirty="0"/>
              <a:t> adrenergic receptors of juxtaglomerular cells, causing release of renin.</a:t>
            </a:r>
          </a:p>
          <a:p>
            <a:pPr lvl="1" indent="-457200">
              <a:spcBef>
                <a:spcPts val="700"/>
              </a:spcBef>
              <a:buSzPts val="3000"/>
              <a:buFont typeface="Arial" panose="020B0604020202020204" pitchFamily="34" charset="0"/>
              <a:buChar char="•"/>
            </a:pPr>
            <a:r>
              <a:rPr lang="en-US" sz="2600" b="1" dirty="0"/>
              <a:t>Baroreceptors in the juxtaglomerular cells which sense decreased volume and pressure </a:t>
            </a:r>
            <a:r>
              <a:rPr lang="en-US" sz="2600" dirty="0"/>
              <a:t>in the afferent arteriole the same as in the carotids. This decreased pressure allow for increased renin secretion.</a:t>
            </a:r>
          </a:p>
          <a:p>
            <a:pPr lvl="1" indent="-457200">
              <a:spcBef>
                <a:spcPts val="700"/>
              </a:spcBef>
              <a:buSzPts val="3000"/>
              <a:buFont typeface="Arial" panose="020B0604020202020204" pitchFamily="34" charset="0"/>
              <a:buChar char="•"/>
            </a:pPr>
            <a:r>
              <a:rPr lang="en-US" sz="2600" b="1" dirty="0"/>
              <a:t>Macula </a:t>
            </a:r>
            <a:r>
              <a:rPr lang="en-US" sz="2600" b="1" dirty="0" err="1"/>
              <a:t>densa</a:t>
            </a:r>
            <a:r>
              <a:rPr lang="en-US" sz="2600" b="1" dirty="0"/>
              <a:t>, </a:t>
            </a:r>
            <a:r>
              <a:rPr lang="en-US" sz="2600" dirty="0"/>
              <a:t>which is found in the thick ascending limb, will sense sodium concentration </a:t>
            </a:r>
            <a:r>
              <a:rPr lang="en-US" sz="2600" b="1" dirty="0"/>
              <a:t>via Tubulo-glomerular feedback </a:t>
            </a:r>
          </a:p>
          <a:p>
            <a:pPr lvl="1" indent="-457200">
              <a:spcBef>
                <a:spcPts val="700"/>
              </a:spcBef>
              <a:buSzPts val="3000"/>
              <a:buFont typeface="Arial" panose="020B0604020202020204" pitchFamily="34" charset="0"/>
              <a:buChar char="•"/>
            </a:pPr>
            <a:endParaRPr lang="en-US" sz="2600" b="1" dirty="0"/>
          </a:p>
          <a:p>
            <a:pPr marL="457200" lvl="1" indent="0" algn="ctr">
              <a:spcBef>
                <a:spcPts val="700"/>
              </a:spcBef>
              <a:buSzPts val="3000"/>
              <a:buNone/>
            </a:pPr>
            <a:r>
              <a:rPr lang="en-US" sz="2600" dirty="0"/>
              <a:t>Either low sodium or low pressure will stimulate release of renin</a:t>
            </a:r>
            <a:endParaRPr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949CA-BD61-6D0C-151A-1198C47BCF6E}"/>
              </a:ext>
            </a:extLst>
          </p:cNvPr>
          <p:cNvSpPr>
            <a:spLocks noGrp="1"/>
          </p:cNvSpPr>
          <p:nvPr>
            <p:ph type="title"/>
          </p:nvPr>
        </p:nvSpPr>
        <p:spPr/>
        <p:txBody>
          <a:bodyPr/>
          <a:lstStyle/>
          <a:p>
            <a:r>
              <a:rPr lang="en-US" dirty="0"/>
              <a:t>Normal Blood Pressure Regulation</a:t>
            </a:r>
          </a:p>
        </p:txBody>
      </p:sp>
      <p:sp>
        <p:nvSpPr>
          <p:cNvPr id="4" name="Text Placeholder 3">
            <a:extLst>
              <a:ext uri="{FF2B5EF4-FFF2-40B4-BE49-F238E27FC236}">
                <a16:creationId xmlns:a16="http://schemas.microsoft.com/office/drawing/2014/main" id="{6666726B-D529-D5BB-F5FD-0300E1A24CD5}"/>
              </a:ext>
            </a:extLst>
          </p:cNvPr>
          <p:cNvSpPr txBox="1">
            <a:spLocks noGrp="1"/>
          </p:cNvSpPr>
          <p:nvPr>
            <p:ph type="body" idx="1"/>
          </p:nvPr>
        </p:nvSpPr>
        <p:spPr>
          <a:xfrm>
            <a:off x="609600" y="1600200"/>
            <a:ext cx="10972800" cy="2082581"/>
          </a:xfrm>
          <a:prstGeom prst="rect">
            <a:avLst/>
          </a:prstGeom>
          <a:noFill/>
        </p:spPr>
        <p:txBody>
          <a:bodyPr wrap="square" rtlCol="0">
            <a:spAutoFit/>
          </a:bodyPr>
          <a:lstStyle/>
          <a:p>
            <a:r>
              <a:rPr lang="en-US" sz="2800" dirty="0">
                <a:latin typeface="Calibri" panose="020F0502020204030204" pitchFamily="34" charset="0"/>
                <a:cs typeface="Calibri" panose="020F0502020204030204" pitchFamily="34" charset="0"/>
              </a:rPr>
              <a:t>Tubulo-glomerular feedback refers to the ability of the kidney to regulate the glomerular filtration rate (GFR) in response to the solute concentration in the distal renal tubule.</a:t>
            </a:r>
            <a:endParaRPr lang="en-US" sz="2800" b="1" i="1" dirty="0">
              <a:latin typeface="Calibri" panose="020F0502020204030204" pitchFamily="34" charset="0"/>
              <a:cs typeface="Calibri" panose="020F0502020204030204" pitchFamily="34" charset="0"/>
            </a:endParaRPr>
          </a:p>
          <a:p>
            <a:endParaRPr lang="en-US" dirty="0"/>
          </a:p>
        </p:txBody>
      </p:sp>
      <p:sp>
        <p:nvSpPr>
          <p:cNvPr id="5" name="TextBox 4">
            <a:extLst>
              <a:ext uri="{FF2B5EF4-FFF2-40B4-BE49-F238E27FC236}">
                <a16:creationId xmlns:a16="http://schemas.microsoft.com/office/drawing/2014/main" id="{72AB0A12-CAFA-AD2B-8126-9B68E7B8700D}"/>
              </a:ext>
            </a:extLst>
          </p:cNvPr>
          <p:cNvSpPr txBox="1"/>
          <p:nvPr/>
        </p:nvSpPr>
        <p:spPr>
          <a:xfrm>
            <a:off x="818690" y="3269779"/>
            <a:ext cx="11124891" cy="2677656"/>
          </a:xfrm>
          <a:prstGeom prst="rect">
            <a:avLst/>
          </a:prstGeom>
          <a:noFill/>
        </p:spPr>
        <p:txBody>
          <a:bodyPr wrap="square" rtlCol="0">
            <a:spAutoFit/>
          </a:bodyPr>
          <a:lstStyle/>
          <a:p>
            <a:pPr marL="0" indent="0">
              <a:spcBef>
                <a:spcPts val="0"/>
              </a:spcBef>
              <a:buNone/>
            </a:pPr>
            <a:r>
              <a:rPr lang="en-US" sz="2800" dirty="0">
                <a:latin typeface="Calibri" panose="020F0502020204030204" pitchFamily="34" charset="0"/>
                <a:cs typeface="Calibri" panose="020F0502020204030204" pitchFamily="34" charset="0"/>
              </a:rPr>
              <a:t>Tubulo-glomerular feedback:</a:t>
            </a:r>
          </a:p>
          <a:p>
            <a:pPr indent="-457200">
              <a:spcBef>
                <a:spcPts val="0"/>
              </a:spcBef>
              <a:buFont typeface="Arial" panose="020B0604020202020204" pitchFamily="34" charset="0"/>
              <a:buChar char="•"/>
            </a:pPr>
            <a:r>
              <a:rPr lang="en-US" sz="2800" dirty="0">
                <a:latin typeface="Calibri" panose="020F0502020204030204" pitchFamily="34" charset="0"/>
                <a:cs typeface="Calibri" panose="020F0502020204030204" pitchFamily="34" charset="0"/>
              </a:rPr>
              <a:t>W</a:t>
            </a:r>
            <a:r>
              <a:rPr lang="en-US" sz="2800" b="0" i="0" dirty="0">
                <a:solidFill>
                  <a:srgbClr val="202122"/>
                </a:solidFill>
                <a:effectLst/>
                <a:latin typeface="Calibri" panose="020F0502020204030204" pitchFamily="34" charset="0"/>
                <a:cs typeface="Calibri" panose="020F0502020204030204" pitchFamily="34" charset="0"/>
              </a:rPr>
              <a:t>hen </a:t>
            </a:r>
            <a:r>
              <a:rPr lang="en-US" sz="2800" dirty="0">
                <a:solidFill>
                  <a:srgbClr val="202122"/>
                </a:solidFill>
                <a:latin typeface="Calibri" panose="020F0502020204030204" pitchFamily="34" charset="0"/>
                <a:cs typeface="Calibri" panose="020F0502020204030204" pitchFamily="34" charset="0"/>
              </a:rPr>
              <a:t>GFR (sodium concentration)</a:t>
            </a:r>
            <a:r>
              <a:rPr lang="en-US" sz="2800" b="0" i="0" dirty="0">
                <a:solidFill>
                  <a:srgbClr val="202122"/>
                </a:solidFill>
                <a:effectLst/>
                <a:latin typeface="Calibri" panose="020F0502020204030204" pitchFamily="34" charset="0"/>
                <a:cs typeface="Calibri" panose="020F0502020204030204" pitchFamily="34" charset="0"/>
              </a:rPr>
              <a:t> is moderately increased, the macula </a:t>
            </a:r>
            <a:r>
              <a:rPr lang="en-US" sz="2800" b="0" i="0" dirty="0" err="1">
                <a:solidFill>
                  <a:srgbClr val="202122"/>
                </a:solidFill>
                <a:effectLst/>
                <a:latin typeface="Calibri" panose="020F0502020204030204" pitchFamily="34" charset="0"/>
                <a:cs typeface="Calibri" panose="020F0502020204030204" pitchFamily="34" charset="0"/>
              </a:rPr>
              <a:t>densa</a:t>
            </a:r>
            <a:r>
              <a:rPr lang="en-US" sz="2800" b="0" i="0" dirty="0">
                <a:solidFill>
                  <a:srgbClr val="202122"/>
                </a:solidFill>
                <a:effectLst/>
                <a:latin typeface="Calibri" panose="020F0502020204030204" pitchFamily="34" charset="0"/>
                <a:cs typeface="Calibri" panose="020F0502020204030204" pitchFamily="34" charset="0"/>
              </a:rPr>
              <a:t> releases ATP causing afferent arteriolar vasoconstriction, thereby reducing GFR and allowing for sodium reabsorption to occur. </a:t>
            </a:r>
          </a:p>
          <a:p>
            <a:pPr indent="-457200">
              <a:spcBef>
                <a:spcPts val="0"/>
              </a:spcBef>
              <a:buFont typeface="Arial" panose="020B0604020202020204" pitchFamily="34" charset="0"/>
              <a:buChar char="•"/>
            </a:pPr>
            <a:r>
              <a:rPr lang="en-US" sz="2800" dirty="0">
                <a:solidFill>
                  <a:srgbClr val="343536"/>
                </a:solidFill>
                <a:latin typeface="Calibri" panose="020F0502020204030204" pitchFamily="34" charset="0"/>
                <a:cs typeface="Calibri" panose="020F0502020204030204" pitchFamily="34" charset="0"/>
              </a:rPr>
              <a:t>L</a:t>
            </a:r>
            <a:r>
              <a:rPr lang="en-US" sz="2800" b="0" i="0" dirty="0">
                <a:solidFill>
                  <a:srgbClr val="343536"/>
                </a:solidFill>
                <a:effectLst/>
                <a:latin typeface="Calibri" panose="020F0502020204030204" pitchFamily="34" charset="0"/>
                <a:cs typeface="Calibri" panose="020F0502020204030204" pitchFamily="34" charset="0"/>
              </a:rPr>
              <a:t>ow tubular sodium at the macula </a:t>
            </a:r>
            <a:r>
              <a:rPr lang="en-US" sz="2800" b="0" i="0" dirty="0" err="1">
                <a:solidFill>
                  <a:srgbClr val="343536"/>
                </a:solidFill>
                <a:effectLst/>
                <a:latin typeface="Calibri" panose="020F0502020204030204" pitchFamily="34" charset="0"/>
                <a:cs typeface="Calibri" panose="020F0502020204030204" pitchFamily="34" charset="0"/>
              </a:rPr>
              <a:t>densa</a:t>
            </a:r>
            <a:r>
              <a:rPr lang="en-US" sz="2800" b="0" i="0" dirty="0">
                <a:solidFill>
                  <a:srgbClr val="343536"/>
                </a:solidFill>
                <a:effectLst/>
                <a:latin typeface="Calibri" panose="020F0502020204030204" pitchFamily="34" charset="0"/>
                <a:cs typeface="Calibri" panose="020F0502020204030204" pitchFamily="34" charset="0"/>
              </a:rPr>
              <a:t> releases prostaglandins causing vasodilation and increased filtration. </a:t>
            </a:r>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2046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61;p22">
            <a:extLst>
              <a:ext uri="{FF2B5EF4-FFF2-40B4-BE49-F238E27FC236}">
                <a16:creationId xmlns:a16="http://schemas.microsoft.com/office/drawing/2014/main" id="{BE4A4E5A-8FDB-A5F7-7DF2-72E54867BF5B}"/>
              </a:ext>
            </a:extLst>
          </p:cNvPr>
          <p:cNvPicPr preferRelativeResize="0"/>
          <p:nvPr/>
        </p:nvPicPr>
        <p:blipFill rotWithShape="1">
          <a:blip r:embed="rId3">
            <a:alphaModFix/>
          </a:blip>
          <a:srcRect b="4277"/>
          <a:stretch/>
        </p:blipFill>
        <p:spPr>
          <a:xfrm>
            <a:off x="6721813" y="145916"/>
            <a:ext cx="5249693" cy="6415391"/>
          </a:xfrm>
          <a:prstGeom prst="rect">
            <a:avLst/>
          </a:prstGeom>
          <a:noFill/>
          <a:ln>
            <a:noFill/>
          </a:ln>
        </p:spPr>
      </p:pic>
      <p:sp>
        <p:nvSpPr>
          <p:cNvPr id="4" name="TextBox 3">
            <a:extLst>
              <a:ext uri="{FF2B5EF4-FFF2-40B4-BE49-F238E27FC236}">
                <a16:creationId xmlns:a16="http://schemas.microsoft.com/office/drawing/2014/main" id="{A85B70F8-013C-413F-2A56-302E67BDE48B}"/>
              </a:ext>
            </a:extLst>
          </p:cNvPr>
          <p:cNvSpPr txBox="1"/>
          <p:nvPr/>
        </p:nvSpPr>
        <p:spPr>
          <a:xfrm>
            <a:off x="401265" y="823024"/>
            <a:ext cx="6094378" cy="5691302"/>
          </a:xfrm>
          <a:prstGeom prst="rect">
            <a:avLst/>
          </a:prstGeom>
          <a:noFill/>
        </p:spPr>
        <p:txBody>
          <a:bodyPr wrap="square">
            <a:spAutoFit/>
          </a:bodyPr>
          <a:lstStyle/>
          <a:p>
            <a:pPr marL="692150" lvl="1" indent="-234950">
              <a:spcBef>
                <a:spcPts val="700"/>
              </a:spcBef>
              <a:buSzPts val="3000"/>
            </a:pPr>
            <a:r>
              <a:rPr lang="en-US" sz="3600" b="1" dirty="0">
                <a:latin typeface="Calibri" panose="020F0502020204030204" pitchFamily="34" charset="0"/>
                <a:cs typeface="Calibri" panose="020F0502020204030204" pitchFamily="34" charset="0"/>
              </a:rPr>
              <a:t>Angiotensin II functions</a:t>
            </a:r>
          </a:p>
          <a:p>
            <a:pPr marL="692150" lvl="1" indent="-234950">
              <a:spcBef>
                <a:spcPts val="700"/>
              </a:spcBef>
              <a:buSzPts val="3000"/>
            </a:pPr>
            <a:endParaRPr lang="en-US" sz="2800" dirty="0">
              <a:latin typeface="Calibri" panose="020F0502020204030204" pitchFamily="34" charset="0"/>
              <a:cs typeface="Calibri" panose="020F0502020204030204" pitchFamily="34" charset="0"/>
            </a:endParaRPr>
          </a:p>
          <a:p>
            <a:pPr algn="l">
              <a:buFont typeface="+mj-lt"/>
              <a:buAutoNum type="arabicPeriod"/>
            </a:pPr>
            <a:r>
              <a:rPr lang="en-US" sz="2800" dirty="0">
                <a:solidFill>
                  <a:srgbClr val="343536"/>
                </a:solidFill>
                <a:latin typeface="Calibri" panose="020F0502020204030204" pitchFamily="34" charset="0"/>
                <a:cs typeface="Calibri" panose="020F0502020204030204" pitchFamily="34" charset="0"/>
              </a:rPr>
              <a:t> Vasoconstriction</a:t>
            </a:r>
          </a:p>
          <a:p>
            <a:pPr algn="l">
              <a:buFont typeface="+mj-lt"/>
              <a:buAutoNum type="arabicPeriod"/>
            </a:pPr>
            <a:r>
              <a:rPr lang="en-US" sz="2800" dirty="0">
                <a:solidFill>
                  <a:srgbClr val="343536"/>
                </a:solidFill>
                <a:latin typeface="Calibri" panose="020F0502020204030204" pitchFamily="34" charset="0"/>
                <a:cs typeface="Calibri" panose="020F0502020204030204" pitchFamily="34" charset="0"/>
              </a:rPr>
              <a:t> Stimulate Aldosterone</a:t>
            </a:r>
          </a:p>
          <a:p>
            <a:pPr algn="l">
              <a:buFont typeface="+mj-lt"/>
              <a:buAutoNum type="arabicPeriod"/>
            </a:pPr>
            <a:r>
              <a:rPr lang="en-US" sz="2800" dirty="0">
                <a:solidFill>
                  <a:srgbClr val="343536"/>
                </a:solidFill>
                <a:latin typeface="Calibri" panose="020F0502020204030204" pitchFamily="34" charset="0"/>
                <a:cs typeface="Calibri" panose="020F0502020204030204" pitchFamily="34" charset="0"/>
              </a:rPr>
              <a:t> Reabsorb Na and Bicarb in the renal proximal tubule</a:t>
            </a:r>
          </a:p>
          <a:p>
            <a:pPr algn="l">
              <a:buFont typeface="+mj-lt"/>
              <a:buAutoNum type="arabicPeriod"/>
            </a:pPr>
            <a:r>
              <a:rPr lang="en-US" sz="2800" dirty="0">
                <a:solidFill>
                  <a:srgbClr val="343536"/>
                </a:solidFill>
                <a:latin typeface="Calibri" panose="020F0502020204030204" pitchFamily="34" charset="0"/>
                <a:cs typeface="Calibri" panose="020F0502020204030204" pitchFamily="34" charset="0"/>
              </a:rPr>
              <a:t> Stimulate thirst center in hypothalamus to promote water intake and release </a:t>
            </a:r>
            <a:r>
              <a:rPr lang="en-US" sz="2800" dirty="0">
                <a:latin typeface="Calibri" panose="020F0502020204030204" pitchFamily="34" charset="0"/>
                <a:cs typeface="Calibri" panose="020F0502020204030204" pitchFamily="34" charset="0"/>
              </a:rPr>
              <a:t>Vasopressin (ADH) from the posterior pituitary mobilizing aquaporin channels, decreasing water loss from the kidney</a:t>
            </a:r>
          </a:p>
          <a:p>
            <a:pPr algn="l">
              <a:buFont typeface="+mj-lt"/>
              <a:buAutoNum type="arabicPeriod"/>
            </a:pPr>
            <a:endParaRPr lang="en-US" dirty="0"/>
          </a:p>
        </p:txBody>
      </p:sp>
    </p:spTree>
    <p:extLst>
      <p:ext uri="{BB962C8B-B14F-4D97-AF65-F5344CB8AC3E}">
        <p14:creationId xmlns:p14="http://schemas.microsoft.com/office/powerpoint/2010/main" val="32845105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7" name="Google Shape;267;p23"/>
          <p:cNvPicPr preferRelativeResize="0"/>
          <p:nvPr/>
        </p:nvPicPr>
        <p:blipFill rotWithShape="1">
          <a:blip r:embed="rId3">
            <a:alphaModFix/>
          </a:blip>
          <a:srcRect/>
          <a:stretch/>
        </p:blipFill>
        <p:spPr>
          <a:xfrm>
            <a:off x="1235032" y="130513"/>
            <a:ext cx="9721936" cy="65969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A944D-4D53-8B8E-9599-BC4215B73337}"/>
              </a:ext>
            </a:extLst>
          </p:cNvPr>
          <p:cNvSpPr>
            <a:spLocks noGrp="1"/>
          </p:cNvSpPr>
          <p:nvPr>
            <p:ph type="title"/>
          </p:nvPr>
        </p:nvSpPr>
        <p:spPr/>
        <p:txBody>
          <a:bodyPr/>
          <a:lstStyle/>
          <a:p>
            <a:r>
              <a:rPr lang="en-US" dirty="0"/>
              <a:t>Normal Blood Pressure Regulation</a:t>
            </a:r>
            <a:br>
              <a:rPr lang="en-US" dirty="0"/>
            </a:br>
            <a:r>
              <a:rPr lang="en-US" dirty="0"/>
              <a:t>Other Regulators</a:t>
            </a:r>
          </a:p>
        </p:txBody>
      </p:sp>
      <p:sp>
        <p:nvSpPr>
          <p:cNvPr id="3" name="Text Placeholder 2">
            <a:extLst>
              <a:ext uri="{FF2B5EF4-FFF2-40B4-BE49-F238E27FC236}">
                <a16:creationId xmlns:a16="http://schemas.microsoft.com/office/drawing/2014/main" id="{07B947C6-BDE0-3C75-284A-2909B8B2B11E}"/>
              </a:ext>
            </a:extLst>
          </p:cNvPr>
          <p:cNvSpPr>
            <a:spLocks noGrp="1"/>
          </p:cNvSpPr>
          <p:nvPr>
            <p:ph type="body" idx="1"/>
          </p:nvPr>
        </p:nvSpPr>
        <p:spPr/>
        <p:txBody>
          <a:bodyPr/>
          <a:lstStyle/>
          <a:p>
            <a:r>
              <a:rPr lang="en-US" sz="2800" dirty="0"/>
              <a:t>Peripheral Chemoreceptors- located in common carotid artery and aortic arch. Stimulated by decreasing arterial PO</a:t>
            </a:r>
            <a:r>
              <a:rPr lang="en-US" sz="2800" baseline="-25000" dirty="0"/>
              <a:t>2</a:t>
            </a:r>
            <a:r>
              <a:rPr lang="en-US" sz="2800" dirty="0"/>
              <a:t>, leading to arteriolar vasoconstriction in the skeletal muscle, renal and splanchnic vascular beds</a:t>
            </a:r>
          </a:p>
          <a:p>
            <a:r>
              <a:rPr lang="en-US" sz="2800" dirty="0"/>
              <a:t>Central Chemoreceptors- located in the medulla. Stimulated by change in the arterial PCO</a:t>
            </a:r>
            <a:r>
              <a:rPr lang="en-US" sz="2800" baseline="-25000" dirty="0"/>
              <a:t>2</a:t>
            </a:r>
            <a:r>
              <a:rPr lang="en-US" sz="2800" dirty="0"/>
              <a:t> and the cerebrospinal fluid pH leading to sympathetic outflow and arteriolar vasoconstriction in several organs</a:t>
            </a:r>
          </a:p>
          <a:p>
            <a:r>
              <a:rPr lang="en-US" sz="2800" b="1" dirty="0"/>
              <a:t>Volume Receptors</a:t>
            </a:r>
            <a:r>
              <a:rPr lang="en-US" sz="2800" dirty="0"/>
              <a:t>- located on the venous side. Sensitive to blood volume. Increase stretch leads to decreased ADH, increased atrial natriuretic peptide (causing vasodilation) and decreased RAAS. </a:t>
            </a:r>
          </a:p>
        </p:txBody>
      </p:sp>
    </p:spTree>
    <p:extLst>
      <p:ext uri="{BB962C8B-B14F-4D97-AF65-F5344CB8AC3E}">
        <p14:creationId xmlns:p14="http://schemas.microsoft.com/office/powerpoint/2010/main" val="1345568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C54274-5100-0CCC-506D-E461206974A5}"/>
              </a:ext>
            </a:extLst>
          </p:cNvPr>
          <p:cNvPicPr>
            <a:picLocks noChangeAspect="1"/>
          </p:cNvPicPr>
          <p:nvPr/>
        </p:nvPicPr>
        <p:blipFill>
          <a:blip r:embed="rId3"/>
          <a:stretch>
            <a:fillRect/>
          </a:stretch>
        </p:blipFill>
        <p:spPr>
          <a:xfrm>
            <a:off x="1580839" y="250512"/>
            <a:ext cx="9030321" cy="6089203"/>
          </a:xfrm>
          <a:prstGeom prst="rect">
            <a:avLst/>
          </a:prstGeom>
        </p:spPr>
      </p:pic>
    </p:spTree>
    <p:extLst>
      <p:ext uri="{BB962C8B-B14F-4D97-AF65-F5344CB8AC3E}">
        <p14:creationId xmlns:p14="http://schemas.microsoft.com/office/powerpoint/2010/main" val="14395930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1981200" y="76200"/>
            <a:ext cx="8229600" cy="685800"/>
          </a:xfrm>
          <a:prstGeom prst="rect">
            <a:avLst/>
          </a:prstGeom>
          <a:noFill/>
          <a:ln>
            <a:noFill/>
          </a:ln>
        </p:spPr>
        <p:txBody>
          <a:bodyPr spcFirstLastPara="1" wrap="square" lIns="50800" tIns="50800" rIns="50800" bIns="50800" anchor="ctr" anchorCtr="0">
            <a:noAutofit/>
          </a:bodyPr>
          <a:lstStyle/>
          <a:p>
            <a:r>
              <a:rPr lang="en-US" b="1" dirty="0"/>
              <a:t>Low BP Physiology</a:t>
            </a:r>
            <a:endParaRPr b="1" dirty="0"/>
          </a:p>
        </p:txBody>
      </p:sp>
      <p:sp>
        <p:nvSpPr>
          <p:cNvPr id="273" name="Google Shape;273;p24"/>
          <p:cNvSpPr txBox="1">
            <a:spLocks noGrp="1"/>
          </p:cNvSpPr>
          <p:nvPr>
            <p:ph type="body" idx="1"/>
          </p:nvPr>
        </p:nvSpPr>
        <p:spPr>
          <a:xfrm>
            <a:off x="447472" y="914401"/>
            <a:ext cx="11108988" cy="4884821"/>
          </a:xfrm>
          <a:prstGeom prst="rect">
            <a:avLst/>
          </a:prstGeom>
          <a:noFill/>
          <a:ln>
            <a:noFill/>
          </a:ln>
        </p:spPr>
        <p:txBody>
          <a:bodyPr spcFirstLastPara="1" wrap="square" lIns="50800" tIns="50800" rIns="50800" bIns="50800" anchor="t" anchorCtr="0">
            <a:noAutofit/>
          </a:bodyPr>
          <a:lstStyle/>
          <a:p>
            <a:pPr marL="342900" indent="-342900">
              <a:spcBef>
                <a:spcPts val="0"/>
              </a:spcBef>
              <a:buSzPts val="3000"/>
            </a:pPr>
            <a:r>
              <a:rPr lang="en-US" sz="3000" dirty="0"/>
              <a:t>As BP falls, neural mechanisms (short term regulation) will kick in to compensate for lower BP and preserve essential organ perfusion.  Humoral mechanisms will also activate to provide a slower but more durable correction of BP.</a:t>
            </a:r>
          </a:p>
          <a:p>
            <a:pPr marL="342900" indent="-342900">
              <a:spcBef>
                <a:spcPts val="0"/>
              </a:spcBef>
              <a:buSzPts val="3000"/>
            </a:pPr>
            <a:endParaRPr dirty="0"/>
          </a:p>
          <a:p>
            <a:pPr marL="342900" indent="-342900">
              <a:buSzPts val="3000"/>
            </a:pPr>
            <a:r>
              <a:rPr lang="en-US" sz="3000" dirty="0"/>
              <a:t>The MAP or mean arterial pressure can be calculated with a clinical calculator: [(2x DBP) + SBP]/3.  MAP is used clinically to determine the adequacy of BP following an intervention for hypotension.  A “good” MAP is between 70 and 100.</a:t>
            </a:r>
            <a:endParaRPr dirty="0"/>
          </a:p>
        </p:txBody>
      </p:sp>
      <p:graphicFrame>
        <p:nvGraphicFramePr>
          <p:cNvPr id="2" name="Table 2">
            <a:extLst>
              <a:ext uri="{FF2B5EF4-FFF2-40B4-BE49-F238E27FC236}">
                <a16:creationId xmlns:a16="http://schemas.microsoft.com/office/drawing/2014/main" id="{7E5102C0-664E-673B-CDFA-26AD0D2A0AD0}"/>
              </a:ext>
            </a:extLst>
          </p:cNvPr>
          <p:cNvGraphicFramePr>
            <a:graphicFrameLocks noGrp="1"/>
          </p:cNvGraphicFramePr>
          <p:nvPr>
            <p:extLst>
              <p:ext uri="{D42A27DB-BD31-4B8C-83A1-F6EECF244321}">
                <p14:modId xmlns:p14="http://schemas.microsoft.com/office/powerpoint/2010/main" val="2034701072"/>
              </p:ext>
            </p:extLst>
          </p:nvPr>
        </p:nvGraphicFramePr>
        <p:xfrm>
          <a:off x="1600199" y="5999747"/>
          <a:ext cx="8915400" cy="502920"/>
        </p:xfrm>
        <a:graphic>
          <a:graphicData uri="http://schemas.openxmlformats.org/drawingml/2006/table">
            <a:tbl>
              <a:tblPr firstRow="1" bandRow="1">
                <a:tableStyleId>{284E427A-3D55-4303-BF80-6455036E1DE7}</a:tableStyleId>
              </a:tblPr>
              <a:tblGrid>
                <a:gridCol w="2971800">
                  <a:extLst>
                    <a:ext uri="{9D8B030D-6E8A-4147-A177-3AD203B41FA5}">
                      <a16:colId xmlns:a16="http://schemas.microsoft.com/office/drawing/2014/main" val="2617861756"/>
                    </a:ext>
                  </a:extLst>
                </a:gridCol>
                <a:gridCol w="2971800">
                  <a:extLst>
                    <a:ext uri="{9D8B030D-6E8A-4147-A177-3AD203B41FA5}">
                      <a16:colId xmlns:a16="http://schemas.microsoft.com/office/drawing/2014/main" val="3185143183"/>
                    </a:ext>
                  </a:extLst>
                </a:gridCol>
                <a:gridCol w="2971800">
                  <a:extLst>
                    <a:ext uri="{9D8B030D-6E8A-4147-A177-3AD203B41FA5}">
                      <a16:colId xmlns:a16="http://schemas.microsoft.com/office/drawing/2014/main" val="4176000544"/>
                    </a:ext>
                  </a:extLst>
                </a:gridCol>
              </a:tblGrid>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700" b="0" dirty="0">
                          <a:latin typeface="Calibri" panose="020F0502020204030204" pitchFamily="34" charset="0"/>
                          <a:cs typeface="Calibri" panose="020F0502020204030204" pitchFamily="34" charset="0"/>
                        </a:rPr>
                        <a:t>130/80 = MAP of 97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700" b="0" dirty="0">
                          <a:latin typeface="Calibri" panose="020F0502020204030204" pitchFamily="34" charset="0"/>
                          <a:cs typeface="Calibri" panose="020F0502020204030204" pitchFamily="34" charset="0"/>
                        </a:rPr>
                        <a:t>120/70 = MAP of 87</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700" b="0" dirty="0">
                          <a:latin typeface="Calibri" panose="020F0502020204030204" pitchFamily="34" charset="0"/>
                          <a:cs typeface="Calibri" panose="020F0502020204030204" pitchFamily="34" charset="0"/>
                        </a:rPr>
                        <a:t>100/50 = MAP of 67</a:t>
                      </a:r>
                    </a:p>
                  </a:txBody>
                  <a:tcPr/>
                </a:tc>
                <a:extLst>
                  <a:ext uri="{0D108BD9-81ED-4DB2-BD59-A6C34878D82A}">
                    <a16:rowId xmlns:a16="http://schemas.microsoft.com/office/drawing/2014/main" val="248030270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2D524-FC69-9CA3-19AF-6FC410069AF3}"/>
              </a:ext>
            </a:extLst>
          </p:cNvPr>
          <p:cNvSpPr>
            <a:spLocks noGrp="1"/>
          </p:cNvSpPr>
          <p:nvPr>
            <p:ph type="title"/>
          </p:nvPr>
        </p:nvSpPr>
        <p:spPr>
          <a:xfrm>
            <a:off x="1244010" y="2469670"/>
            <a:ext cx="10363200" cy="1362075"/>
          </a:xfrm>
        </p:spPr>
        <p:txBody>
          <a:bodyPr/>
          <a:lstStyle/>
          <a:p>
            <a:r>
              <a:rPr lang="en-US" dirty="0"/>
              <a:t>Primary (Essential) Hypertension</a:t>
            </a:r>
            <a:br>
              <a:rPr lang="en-US" dirty="0"/>
            </a:br>
            <a:endParaRPr lang="en-US" dirty="0"/>
          </a:p>
        </p:txBody>
      </p:sp>
      <p:sp>
        <p:nvSpPr>
          <p:cNvPr id="3" name="Text Placeholder 2">
            <a:extLst>
              <a:ext uri="{FF2B5EF4-FFF2-40B4-BE49-F238E27FC236}">
                <a16:creationId xmlns:a16="http://schemas.microsoft.com/office/drawing/2014/main" id="{68D64E60-87F7-2D3E-CF53-4A132CB228E7}"/>
              </a:ext>
            </a:extLst>
          </p:cNvPr>
          <p:cNvSpPr>
            <a:spLocks noGrp="1"/>
          </p:cNvSpPr>
          <p:nvPr>
            <p:ph type="body" idx="1"/>
          </p:nvPr>
        </p:nvSpPr>
        <p:spPr/>
        <p:txBody>
          <a:bodyPr/>
          <a:lstStyle/>
          <a:p>
            <a:r>
              <a:rPr lang="en-US" sz="2800" dirty="0"/>
              <a:t>Pathophysiology</a:t>
            </a:r>
          </a:p>
          <a:p>
            <a:r>
              <a:rPr lang="en-US" sz="2800" dirty="0"/>
              <a:t>Risk Factors</a:t>
            </a:r>
          </a:p>
        </p:txBody>
      </p:sp>
    </p:spTree>
    <p:extLst>
      <p:ext uri="{BB962C8B-B14F-4D97-AF65-F5344CB8AC3E}">
        <p14:creationId xmlns:p14="http://schemas.microsoft.com/office/powerpoint/2010/main" val="27041910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6"/>
          <p:cNvSpPr txBox="1">
            <a:spLocks noGrp="1"/>
          </p:cNvSpPr>
          <p:nvPr>
            <p:ph type="title"/>
          </p:nvPr>
        </p:nvSpPr>
        <p:spPr>
          <a:xfrm>
            <a:off x="1981200" y="76200"/>
            <a:ext cx="8229600" cy="883920"/>
          </a:xfrm>
          <a:prstGeom prst="rect">
            <a:avLst/>
          </a:prstGeom>
          <a:noFill/>
          <a:ln>
            <a:noFill/>
          </a:ln>
        </p:spPr>
        <p:txBody>
          <a:bodyPr spcFirstLastPara="1" wrap="square" lIns="50800" tIns="50800" rIns="50800" bIns="50800" anchor="ctr" anchorCtr="0">
            <a:noAutofit/>
          </a:bodyPr>
          <a:lstStyle/>
          <a:p>
            <a:r>
              <a:rPr lang="en-US"/>
              <a:t>Primary Hypertension</a:t>
            </a:r>
            <a:endParaRPr/>
          </a:p>
        </p:txBody>
      </p:sp>
      <p:sp>
        <p:nvSpPr>
          <p:cNvPr id="285" name="Google Shape;285;p26"/>
          <p:cNvSpPr txBox="1">
            <a:spLocks noGrp="1"/>
          </p:cNvSpPr>
          <p:nvPr>
            <p:ph type="body" idx="1"/>
          </p:nvPr>
        </p:nvSpPr>
        <p:spPr>
          <a:xfrm>
            <a:off x="1600200" y="960120"/>
            <a:ext cx="8915400" cy="566928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b="1" i="1" dirty="0"/>
              <a:t>90-95% of hypertension is primary </a:t>
            </a:r>
            <a:r>
              <a:rPr lang="en-US" dirty="0"/>
              <a:t>(</a:t>
            </a:r>
            <a:r>
              <a:rPr lang="en-US" sz="3000" dirty="0"/>
              <a:t>formerly called essential</a:t>
            </a:r>
            <a:r>
              <a:rPr lang="en-US" dirty="0"/>
              <a:t>) hypertension.</a:t>
            </a:r>
            <a:endParaRPr dirty="0"/>
          </a:p>
          <a:p>
            <a:pPr marL="292100" indent="-88900">
              <a:buNone/>
            </a:pPr>
            <a:endParaRPr dirty="0"/>
          </a:p>
          <a:p>
            <a:pPr marL="292100" indent="-292100"/>
            <a:r>
              <a:rPr lang="en-US" dirty="0"/>
              <a:t>In primary hypertension, there are identified risk factors or contributors but there is not an</a:t>
            </a:r>
            <a:r>
              <a:rPr lang="en-US" b="1" i="1" dirty="0"/>
              <a:t> exact known pathophysiologic process.  </a:t>
            </a:r>
            <a:endParaRPr dirty="0"/>
          </a:p>
        </p:txBody>
      </p:sp>
      <p:graphicFrame>
        <p:nvGraphicFramePr>
          <p:cNvPr id="286" name="Google Shape;286;p26"/>
          <p:cNvGraphicFramePr/>
          <p:nvPr/>
        </p:nvGraphicFramePr>
        <p:xfrm>
          <a:off x="1981200" y="5105400"/>
          <a:ext cx="8534400" cy="1341150"/>
        </p:xfrm>
        <a:graphic>
          <a:graphicData uri="http://schemas.openxmlformats.org/drawingml/2006/table">
            <a:tbl>
              <a:tblPr firstRow="1" bandRow="1">
                <a:noFill/>
                <a:tableStyleId>{EC500EC1-2580-4279-ABFF-E99678A4F935}</a:tableStyleId>
              </a:tblPr>
              <a:tblGrid>
                <a:gridCol w="1905000">
                  <a:extLst>
                    <a:ext uri="{9D8B030D-6E8A-4147-A177-3AD203B41FA5}">
                      <a16:colId xmlns:a16="http://schemas.microsoft.com/office/drawing/2014/main" val="20000"/>
                    </a:ext>
                  </a:extLst>
                </a:gridCol>
                <a:gridCol w="28194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447050">
                <a:tc>
                  <a:txBody>
                    <a:bodyPr/>
                    <a:lstStyle/>
                    <a:p>
                      <a:pPr marL="0" marR="0" lvl="0" indent="0" algn="l" rtl="0">
                        <a:spcBef>
                          <a:spcPts val="0"/>
                        </a:spcBef>
                        <a:spcAft>
                          <a:spcPts val="0"/>
                        </a:spcAft>
                        <a:buNone/>
                      </a:pPr>
                      <a:r>
                        <a:rPr lang="en-US" sz="1800" b="0" u="none" strike="noStrike" cap="none">
                          <a:solidFill>
                            <a:schemeClr val="dk1"/>
                          </a:solidFill>
                        </a:rPr>
                        <a:t>Advanced age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a:solidFill>
                            <a:schemeClr val="dk1"/>
                          </a:solidFill>
                        </a:rPr>
                        <a:t>Race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a:solidFill>
                            <a:schemeClr val="dk1"/>
                          </a:solidFill>
                        </a:rPr>
                        <a:t>High sodium/ low potassium diet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47050">
                <a:tc>
                  <a:txBody>
                    <a:bodyPr/>
                    <a:lstStyle/>
                    <a:p>
                      <a:pPr marL="0" marR="0" lvl="0" indent="0" algn="l" rtl="0">
                        <a:spcBef>
                          <a:spcPts val="0"/>
                        </a:spcBef>
                        <a:spcAft>
                          <a:spcPts val="0"/>
                        </a:spcAft>
                        <a:buNone/>
                      </a:pPr>
                      <a:r>
                        <a:rPr lang="en-US" sz="1800">
                          <a:solidFill>
                            <a:schemeClr val="dk1"/>
                          </a:solidFill>
                        </a:rPr>
                        <a:t>Obesity</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solidFill>
                            <a:schemeClr val="dk1"/>
                          </a:solidFill>
                        </a:rPr>
                        <a:t>Chronic kidney disease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solidFill>
                            <a:schemeClr val="dk1"/>
                          </a:solidFill>
                        </a:rPr>
                        <a:t>Excessive alcohol intake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47050">
                <a:tc>
                  <a:txBody>
                    <a:bodyPr/>
                    <a:lstStyle/>
                    <a:p>
                      <a:pPr marL="0" marR="0" lvl="0" indent="0" algn="l" rtl="0">
                        <a:spcBef>
                          <a:spcPts val="0"/>
                        </a:spcBef>
                        <a:spcAft>
                          <a:spcPts val="0"/>
                        </a:spcAft>
                        <a:buNone/>
                      </a:pPr>
                      <a:r>
                        <a:rPr lang="en-US" sz="1800">
                          <a:solidFill>
                            <a:schemeClr val="dk1"/>
                          </a:solidFill>
                        </a:rPr>
                        <a:t>Family history</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solidFill>
                            <a:schemeClr val="dk1"/>
                          </a:solidFill>
                        </a:rPr>
                        <a:t>Reduced nephron mass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dirty="0">
                          <a:solidFill>
                            <a:schemeClr val="dk1"/>
                          </a:solidFill>
                        </a:rPr>
                        <a:t>Physical inactivity/ sedentary lifestyle</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cxnSp>
        <p:nvCxnSpPr>
          <p:cNvPr id="291" name="Google Shape;291;p27"/>
          <p:cNvCxnSpPr/>
          <p:nvPr/>
        </p:nvCxnSpPr>
        <p:spPr>
          <a:xfrm rot="10800000">
            <a:off x="4114800" y="4114800"/>
            <a:ext cx="0" cy="304800"/>
          </a:xfrm>
          <a:prstGeom prst="straightConnector1">
            <a:avLst/>
          </a:prstGeom>
          <a:noFill/>
          <a:ln w="9525" cap="flat" cmpd="sng">
            <a:solidFill>
              <a:srgbClr val="4A7DBB"/>
            </a:solidFill>
            <a:prstDash val="solid"/>
            <a:round/>
            <a:headEnd type="none" w="med" len="med"/>
            <a:tailEnd type="stealth" w="lg" len="lg"/>
          </a:ln>
        </p:spPr>
      </p:cxnSp>
      <p:cxnSp>
        <p:nvCxnSpPr>
          <p:cNvPr id="292" name="Google Shape;292;p27"/>
          <p:cNvCxnSpPr/>
          <p:nvPr/>
        </p:nvCxnSpPr>
        <p:spPr>
          <a:xfrm>
            <a:off x="3962400" y="3665538"/>
            <a:ext cx="0" cy="304800"/>
          </a:xfrm>
          <a:prstGeom prst="straightConnector1">
            <a:avLst/>
          </a:prstGeom>
          <a:noFill/>
          <a:ln w="9525" cap="flat" cmpd="sng">
            <a:solidFill>
              <a:srgbClr val="4A7DBB"/>
            </a:solidFill>
            <a:prstDash val="solid"/>
            <a:round/>
            <a:headEnd type="none" w="med" len="med"/>
            <a:tailEnd type="stealth" w="lg" len="lg"/>
          </a:ln>
        </p:spPr>
      </p:cxnSp>
      <p:pic>
        <p:nvPicPr>
          <p:cNvPr id="293" name="Google Shape;293;p27" descr="Arterial Hypertension (20.08.2018)"/>
          <p:cNvPicPr preferRelativeResize="0"/>
          <p:nvPr/>
        </p:nvPicPr>
        <p:blipFill rotWithShape="1">
          <a:blip r:embed="rId3">
            <a:alphaModFix/>
          </a:blip>
          <a:srcRect/>
          <a:stretch/>
        </p:blipFill>
        <p:spPr>
          <a:xfrm>
            <a:off x="1764354" y="236708"/>
            <a:ext cx="8751247" cy="631183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8"/>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dirty="0"/>
              <a:t>Pathophysiology of Primary HTN</a:t>
            </a:r>
            <a:endParaRPr dirty="0"/>
          </a:p>
        </p:txBody>
      </p:sp>
      <p:sp>
        <p:nvSpPr>
          <p:cNvPr id="299" name="Google Shape;299;p28"/>
          <p:cNvSpPr txBox="1">
            <a:spLocks noGrp="1"/>
          </p:cNvSpPr>
          <p:nvPr>
            <p:ph type="body" idx="1"/>
          </p:nvPr>
        </p:nvSpPr>
        <p:spPr>
          <a:xfrm>
            <a:off x="554476" y="1483468"/>
            <a:ext cx="10885251" cy="548640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Multifactorial and complex.  Possible mechanisms include:</a:t>
            </a:r>
            <a:endParaRPr dirty="0"/>
          </a:p>
          <a:p>
            <a:pPr marL="692150" lvl="1" indent="-234950">
              <a:spcBef>
                <a:spcPts val="700"/>
              </a:spcBef>
            </a:pPr>
            <a:r>
              <a:rPr lang="en-US" b="1" i="1" dirty="0">
                <a:latin typeface="Calibri"/>
                <a:ea typeface="Calibri"/>
                <a:cs typeface="Calibri"/>
                <a:sym typeface="Calibri"/>
              </a:rPr>
              <a:t>Sympathetic nervous system hyperactivity</a:t>
            </a:r>
            <a:r>
              <a:rPr lang="en-US" b="1" dirty="0">
                <a:latin typeface="Calibri"/>
                <a:ea typeface="Calibri"/>
                <a:cs typeface="Calibri"/>
                <a:sym typeface="Calibri"/>
              </a:rPr>
              <a:t>: </a:t>
            </a:r>
            <a:r>
              <a:rPr lang="en-US" dirty="0"/>
              <a:t>over-activity of the sympathetic tone leads to increased vascular tone and HTN.</a:t>
            </a:r>
            <a:endParaRPr dirty="0"/>
          </a:p>
          <a:p>
            <a:pPr marL="692150" lvl="1" indent="-31750">
              <a:spcBef>
                <a:spcPts val="700"/>
              </a:spcBef>
              <a:buNone/>
            </a:pPr>
            <a:endParaRPr dirty="0"/>
          </a:p>
          <a:p>
            <a:pPr marL="692150" lvl="1" indent="-234950">
              <a:spcBef>
                <a:spcPts val="700"/>
              </a:spcBef>
            </a:pPr>
            <a:r>
              <a:rPr lang="en-US" dirty="0">
                <a:latin typeface="Calibri"/>
                <a:ea typeface="Calibri"/>
                <a:cs typeface="Calibri"/>
                <a:sym typeface="Calibri"/>
              </a:rPr>
              <a:t>Genetics</a:t>
            </a:r>
            <a:r>
              <a:rPr lang="en-US" dirty="0"/>
              <a:t>: HTN is twice as common in subjects who have 1-2 hypertensive parents and multiple epidemiologic studies support this conclusion.</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9"/>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dirty="0"/>
              <a:t>Pathophysiology of Primary HTN</a:t>
            </a:r>
            <a:endParaRPr dirty="0"/>
          </a:p>
        </p:txBody>
      </p:sp>
      <p:sp>
        <p:nvSpPr>
          <p:cNvPr id="305" name="Google Shape;305;p29"/>
          <p:cNvSpPr txBox="1">
            <a:spLocks noGrp="1"/>
          </p:cNvSpPr>
          <p:nvPr>
            <p:ph type="body" idx="1"/>
          </p:nvPr>
        </p:nvSpPr>
        <p:spPr>
          <a:xfrm>
            <a:off x="710120" y="1692612"/>
            <a:ext cx="10671242" cy="5012987"/>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dirty="0"/>
              <a:t>Multifactorial and complex.  Possible mechanisms include:</a:t>
            </a:r>
            <a:endParaRPr dirty="0"/>
          </a:p>
          <a:p>
            <a:pPr marL="692150" lvl="1" indent="-234950">
              <a:spcBef>
                <a:spcPts val="700"/>
              </a:spcBef>
            </a:pPr>
            <a:r>
              <a:rPr lang="en-US" b="1" i="1" dirty="0">
                <a:latin typeface="Calibri"/>
                <a:ea typeface="Calibri"/>
                <a:cs typeface="Calibri"/>
                <a:sym typeface="Calibri"/>
              </a:rPr>
              <a:t>Reduced adult nephron mass </a:t>
            </a:r>
            <a:r>
              <a:rPr lang="en-US" dirty="0"/>
              <a:t>may predispose to hypertension, may be related to genetic factors, fetal and lifetime events.</a:t>
            </a:r>
            <a:endParaRPr dirty="0"/>
          </a:p>
          <a:p>
            <a:pPr marL="692150" lvl="1" indent="-234950">
              <a:spcBef>
                <a:spcPts val="700"/>
              </a:spcBef>
            </a:pPr>
            <a:r>
              <a:rPr lang="en-US" b="1" i="1" dirty="0">
                <a:latin typeface="Calibri"/>
                <a:ea typeface="Calibri"/>
                <a:cs typeface="Calibri"/>
                <a:sym typeface="Calibri"/>
              </a:rPr>
              <a:t>Sodium intake</a:t>
            </a:r>
            <a:r>
              <a:rPr lang="en-US" b="1" dirty="0">
                <a:latin typeface="Calibri"/>
                <a:ea typeface="Calibri"/>
                <a:cs typeface="Calibri"/>
                <a:sym typeface="Calibri"/>
              </a:rPr>
              <a:t>: </a:t>
            </a:r>
            <a:r>
              <a:rPr lang="en-US" dirty="0"/>
              <a:t>increased salt intake triggers an increase in blood pressure followed by increased sodium excretion in urine normally by </a:t>
            </a:r>
            <a:r>
              <a:rPr lang="en-US" u="sng" dirty="0"/>
              <a:t>natriuretic peptides</a:t>
            </a:r>
            <a:r>
              <a:rPr lang="en-US" dirty="0"/>
              <a:t>.  In primary HTN this process may be disordered.</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0"/>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dirty="0"/>
              <a:t>Pathophysiology of Primary HTN</a:t>
            </a:r>
            <a:endParaRPr dirty="0"/>
          </a:p>
        </p:txBody>
      </p:sp>
      <p:sp>
        <p:nvSpPr>
          <p:cNvPr id="311" name="Google Shape;311;p30"/>
          <p:cNvSpPr txBox="1">
            <a:spLocks noGrp="1"/>
          </p:cNvSpPr>
          <p:nvPr>
            <p:ph type="body" idx="1"/>
          </p:nvPr>
        </p:nvSpPr>
        <p:spPr>
          <a:xfrm>
            <a:off x="612843" y="1143000"/>
            <a:ext cx="10729608" cy="5486400"/>
          </a:xfrm>
          <a:prstGeom prst="rect">
            <a:avLst/>
          </a:prstGeom>
          <a:noFill/>
          <a:ln>
            <a:noFill/>
          </a:ln>
        </p:spPr>
        <p:txBody>
          <a:bodyPr spcFirstLastPara="1" wrap="square" lIns="50800" tIns="50800" rIns="50800" bIns="50800" anchor="t" anchorCtr="0">
            <a:noAutofit/>
          </a:bodyPr>
          <a:lstStyle/>
          <a:p>
            <a:pPr marL="292100" indent="-292100">
              <a:spcBef>
                <a:spcPts val="0"/>
              </a:spcBef>
              <a:buSzPts val="3100"/>
            </a:pPr>
            <a:r>
              <a:rPr lang="en-US" sz="3100" dirty="0"/>
              <a:t>Multifactorial and complex.  Possible mechanisms include:</a:t>
            </a:r>
            <a:endParaRPr dirty="0"/>
          </a:p>
          <a:p>
            <a:pPr marL="692150" lvl="1" indent="-171450">
              <a:spcBef>
                <a:spcPts val="688"/>
              </a:spcBef>
              <a:buSzPts val="1000"/>
              <a:buNone/>
            </a:pPr>
            <a:endParaRPr sz="1000" dirty="0"/>
          </a:p>
          <a:p>
            <a:pPr marL="692150" lvl="1" indent="-234950">
              <a:spcBef>
                <a:spcPts val="688"/>
              </a:spcBef>
            </a:pPr>
            <a:r>
              <a:rPr lang="en-US" b="1" i="1" dirty="0"/>
              <a:t>Immunologic</a:t>
            </a:r>
            <a:r>
              <a:rPr lang="en-US" dirty="0"/>
              <a:t>: HTN is associated with renal infiltration of immune cells. Pharmacological immunosuppression decreases BP.</a:t>
            </a:r>
            <a:endParaRPr dirty="0"/>
          </a:p>
          <a:p>
            <a:pPr marL="692150" lvl="1" indent="-31750">
              <a:spcBef>
                <a:spcPts val="688"/>
              </a:spcBef>
              <a:buNone/>
            </a:pPr>
            <a:endParaRPr dirty="0"/>
          </a:p>
          <a:p>
            <a:pPr marL="692150" lvl="1" indent="-234950">
              <a:spcBef>
                <a:spcPts val="688"/>
              </a:spcBef>
            </a:pPr>
            <a:r>
              <a:rPr lang="en-US" b="1" i="1" dirty="0"/>
              <a:t>Cardiac malformation</a:t>
            </a:r>
            <a:r>
              <a:rPr lang="en-US" dirty="0"/>
              <a:t>: abnormal development of aortic elasticity or reduced development of the microvascular capillary network in fetal life (prematurity) causes adult onset HTN.</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0"/>
          <p:cNvSpPr txBox="1">
            <a:spLocks noGrp="1"/>
          </p:cNvSpPr>
          <p:nvPr>
            <p:ph type="title"/>
          </p:nvPr>
        </p:nvSpPr>
        <p:spPr>
          <a:xfrm>
            <a:off x="165371" y="254833"/>
            <a:ext cx="8657616" cy="990600"/>
          </a:xfrm>
          <a:prstGeom prst="rect">
            <a:avLst/>
          </a:prstGeom>
          <a:noFill/>
          <a:ln>
            <a:noFill/>
          </a:ln>
        </p:spPr>
        <p:txBody>
          <a:bodyPr spcFirstLastPara="1" wrap="square" lIns="50800" tIns="50800" rIns="50800" bIns="50800" anchor="ctr" anchorCtr="0">
            <a:noAutofit/>
          </a:bodyPr>
          <a:lstStyle/>
          <a:p>
            <a:r>
              <a:rPr lang="en-US" dirty="0"/>
              <a:t> Non-Modifiable Risk Factors for HTN</a:t>
            </a:r>
            <a:endParaRPr dirty="0"/>
          </a:p>
        </p:txBody>
      </p:sp>
      <p:sp>
        <p:nvSpPr>
          <p:cNvPr id="157" name="Google Shape;157;p10"/>
          <p:cNvSpPr txBox="1">
            <a:spLocks noGrp="1"/>
          </p:cNvSpPr>
          <p:nvPr>
            <p:ph type="body" idx="1"/>
          </p:nvPr>
        </p:nvSpPr>
        <p:spPr>
          <a:xfrm>
            <a:off x="291830" y="2241706"/>
            <a:ext cx="11546732" cy="40386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sz="2800" b="1" dirty="0"/>
              <a:t>Genetics</a:t>
            </a:r>
            <a:r>
              <a:rPr lang="en-US" sz="2800" dirty="0"/>
              <a:t>: Hypertension is twice as common in persons with 1-2 first degree relatives with HTN</a:t>
            </a:r>
            <a:endParaRPr sz="2800" dirty="0"/>
          </a:p>
          <a:p>
            <a:pPr marL="292100" indent="-292100">
              <a:spcBef>
                <a:spcPts val="0"/>
              </a:spcBef>
            </a:pPr>
            <a:r>
              <a:rPr lang="en-US" sz="2800" b="1" dirty="0"/>
              <a:t>African American race</a:t>
            </a:r>
            <a:r>
              <a:rPr lang="en-US" sz="2800" dirty="0"/>
              <a:t>: On average African Americans develop hypertension about 10 years prior to Caucasians, is more severe, and associated with more complications than other ethnic groups</a:t>
            </a:r>
          </a:p>
          <a:p>
            <a:pPr marL="292100" indent="-292100">
              <a:spcBef>
                <a:spcPts val="0"/>
              </a:spcBef>
            </a:pPr>
            <a:r>
              <a:rPr lang="en-US" sz="2800" dirty="0"/>
              <a:t>Males</a:t>
            </a:r>
          </a:p>
          <a:p>
            <a:pPr marL="292100" indent="-292100">
              <a:spcBef>
                <a:spcPts val="0"/>
              </a:spcBef>
            </a:pPr>
            <a:r>
              <a:rPr lang="en-US" sz="2800" dirty="0"/>
              <a:t>Psychosocial stress- Personality traits (hostile attitude, impatience), and depression.</a:t>
            </a:r>
          </a:p>
          <a:p>
            <a:pPr marL="292100" indent="-292100">
              <a:spcBef>
                <a:spcPts val="0"/>
              </a:spcBef>
            </a:pPr>
            <a:r>
              <a:rPr lang="en-US" sz="2800" b="1" dirty="0"/>
              <a:t>Low socioeconomic status</a:t>
            </a:r>
          </a:p>
          <a:p>
            <a:pPr marL="292100" indent="-292100">
              <a:spcBef>
                <a:spcPts val="0"/>
              </a:spcBef>
            </a:pPr>
            <a:endParaRPr lang="en-US" sz="2800" dirty="0"/>
          </a:p>
          <a:p>
            <a:pPr marL="292100" indent="-292100">
              <a:spcBef>
                <a:spcPts val="0"/>
              </a:spcBef>
            </a:pPr>
            <a:endParaRPr sz="2800" dirty="0"/>
          </a:p>
          <a:p>
            <a:pPr marL="292100" indent="-88900">
              <a:lnSpc>
                <a:spcPct val="90000"/>
              </a:lnSpc>
              <a:spcBef>
                <a:spcPts val="0"/>
              </a:spcBef>
              <a:buNone/>
            </a:pPr>
            <a:endParaRPr dirty="0"/>
          </a:p>
          <a:p>
            <a:pPr marL="292100" indent="-88900">
              <a:lnSpc>
                <a:spcPct val="90000"/>
              </a:lnSpc>
              <a:spcBef>
                <a:spcPts val="0"/>
              </a:spcBef>
              <a:buNone/>
            </a:pPr>
            <a:endParaRPr dirty="0">
              <a:latin typeface="Calibri"/>
              <a:ea typeface="Calibri"/>
              <a:cs typeface="Calibri"/>
              <a:sym typeface="Calibri"/>
            </a:endParaRPr>
          </a:p>
          <a:p>
            <a:pPr marL="292100" indent="-88900">
              <a:lnSpc>
                <a:spcPct val="90000"/>
              </a:lnSpc>
              <a:spcBef>
                <a:spcPts val="0"/>
              </a:spcBef>
              <a:buNone/>
            </a:pPr>
            <a:endParaRPr dirty="0">
              <a:latin typeface="Calibri"/>
              <a:ea typeface="Calibri"/>
              <a:cs typeface="Calibri"/>
              <a:sym typeface="Calibri"/>
            </a:endParaRPr>
          </a:p>
          <a:p>
            <a:pPr marL="292100" indent="-88900">
              <a:lnSpc>
                <a:spcPct val="90000"/>
              </a:lnSpc>
              <a:spcBef>
                <a:spcPts val="700"/>
              </a:spcBef>
              <a:buNone/>
            </a:pPr>
            <a:endParaRPr dirty="0"/>
          </a:p>
          <a:p>
            <a:pPr marL="292100" indent="-88900">
              <a:lnSpc>
                <a:spcPct val="90000"/>
              </a:lnSpc>
              <a:spcBef>
                <a:spcPts val="700"/>
              </a:spcBef>
              <a:buNone/>
            </a:pPr>
            <a:endParaRPr dirty="0"/>
          </a:p>
        </p:txBody>
      </p:sp>
      <p:pic>
        <p:nvPicPr>
          <p:cNvPr id="158" name="Google Shape;158;p10"/>
          <p:cNvPicPr preferRelativeResize="0"/>
          <p:nvPr/>
        </p:nvPicPr>
        <p:blipFill rotWithShape="1">
          <a:blip r:embed="rId3">
            <a:alphaModFix/>
          </a:blip>
          <a:srcRect/>
          <a:stretch/>
        </p:blipFill>
        <p:spPr>
          <a:xfrm>
            <a:off x="9179299" y="127157"/>
            <a:ext cx="2762250" cy="1657350"/>
          </a:xfrm>
          <a:prstGeom prst="rect">
            <a:avLst/>
          </a:prstGeom>
          <a:noFill/>
          <a:ln>
            <a:noFill/>
          </a:ln>
        </p:spPr>
      </p:pic>
      <p:sp>
        <p:nvSpPr>
          <p:cNvPr id="159" name="Google Shape;159;p10"/>
          <p:cNvSpPr txBox="1"/>
          <p:nvPr/>
        </p:nvSpPr>
        <p:spPr>
          <a:xfrm>
            <a:off x="250451" y="1245433"/>
            <a:ext cx="8657617" cy="1138733"/>
          </a:xfrm>
          <a:prstGeom prst="rect">
            <a:avLst/>
          </a:prstGeom>
          <a:noFill/>
          <a:ln>
            <a:noFill/>
          </a:ln>
        </p:spPr>
        <p:txBody>
          <a:bodyPr spcFirstLastPara="1" wrap="square" lIns="91425" tIns="45700" rIns="91425" bIns="45700" anchor="t" anchorCtr="0">
            <a:spAutoFit/>
          </a:bodyPr>
          <a:lstStyle/>
          <a:p>
            <a:pPr marL="457200" indent="-457200">
              <a:buClr>
                <a:schemeClr val="dk1"/>
              </a:buClr>
              <a:buSzPts val="3000"/>
              <a:buFont typeface="Arial" panose="020B0604020202020204" pitchFamily="34" charset="0"/>
              <a:buChar char="•"/>
            </a:pPr>
            <a:r>
              <a:rPr lang="en-US" sz="2800" b="1" dirty="0">
                <a:solidFill>
                  <a:schemeClr val="dk1"/>
                </a:solidFill>
                <a:latin typeface="Calibri" panose="020F0502020204030204" pitchFamily="34" charset="0"/>
                <a:ea typeface="Calibri"/>
                <a:cs typeface="Calibri" panose="020F0502020204030204" pitchFamily="34" charset="0"/>
                <a:sym typeface="Calibri"/>
              </a:rPr>
              <a:t>Age: </a:t>
            </a:r>
            <a:r>
              <a:rPr lang="en-US" sz="2800" dirty="0">
                <a:solidFill>
                  <a:schemeClr val="dk1"/>
                </a:solidFill>
                <a:latin typeface="Calibri" panose="020F0502020204030204" pitchFamily="34" charset="0"/>
                <a:ea typeface="Calibri"/>
                <a:cs typeface="Calibri" panose="020F0502020204030204" pitchFamily="34" charset="0"/>
                <a:sym typeface="Calibri"/>
              </a:rPr>
              <a:t>advancing age increases the risk, particularly of systolic hypertension.</a:t>
            </a:r>
            <a:endParaRPr sz="2800" dirty="0">
              <a:latin typeface="Calibri" panose="020F0502020204030204" pitchFamily="34" charset="0"/>
              <a:cs typeface="Calibri" panose="020F0502020204030204" pitchFamily="34" charset="0"/>
            </a:endParaRPr>
          </a:p>
          <a:p>
            <a:endParaRPr sz="1200" dirty="0">
              <a:solidFill>
                <a:schemeClr val="dk1"/>
              </a:solidFill>
              <a:latin typeface="Helvetica Neue"/>
              <a:ea typeface="Helvetica Neue"/>
              <a:cs typeface="Helvetica Neue"/>
              <a:sym typeface="Helvetica Neue"/>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1"/>
          <p:cNvSpPr txBox="1">
            <a:spLocks noGrp="1"/>
          </p:cNvSpPr>
          <p:nvPr>
            <p:ph type="title"/>
          </p:nvPr>
        </p:nvSpPr>
        <p:spPr>
          <a:xfrm>
            <a:off x="3094663" y="152401"/>
            <a:ext cx="7602260" cy="990600"/>
          </a:xfrm>
          <a:prstGeom prst="rect">
            <a:avLst/>
          </a:prstGeom>
          <a:noFill/>
          <a:ln>
            <a:noFill/>
          </a:ln>
        </p:spPr>
        <p:txBody>
          <a:bodyPr spcFirstLastPara="1" wrap="square" lIns="50800" tIns="50800" rIns="50800" bIns="50800" anchor="ctr" anchorCtr="0">
            <a:noAutofit/>
          </a:bodyPr>
          <a:lstStyle/>
          <a:p>
            <a:r>
              <a:rPr lang="en-US" dirty="0"/>
              <a:t> Modifiable Risk Factors for HTN</a:t>
            </a:r>
            <a:endParaRPr dirty="0"/>
          </a:p>
        </p:txBody>
      </p:sp>
      <p:sp>
        <p:nvSpPr>
          <p:cNvPr id="165" name="Google Shape;165;p11"/>
          <p:cNvSpPr txBox="1">
            <a:spLocks noGrp="1"/>
          </p:cNvSpPr>
          <p:nvPr>
            <p:ph type="body" idx="1"/>
          </p:nvPr>
        </p:nvSpPr>
        <p:spPr>
          <a:xfrm>
            <a:off x="474728" y="1556213"/>
            <a:ext cx="11507822" cy="4682247"/>
          </a:xfrm>
          <a:prstGeom prst="rect">
            <a:avLst/>
          </a:prstGeom>
          <a:noFill/>
          <a:ln>
            <a:noFill/>
          </a:ln>
        </p:spPr>
        <p:txBody>
          <a:bodyPr spcFirstLastPara="1" wrap="square" lIns="50800" tIns="50800" rIns="50800" bIns="50800" anchor="t" anchorCtr="0">
            <a:noAutofit/>
          </a:bodyPr>
          <a:lstStyle/>
          <a:p>
            <a:pPr marL="292100" indent="-292100">
              <a:spcBef>
                <a:spcPts val="0"/>
              </a:spcBef>
              <a:buSzPts val="3000"/>
            </a:pPr>
            <a:r>
              <a:rPr lang="en-US" sz="2800" b="1" dirty="0"/>
              <a:t>Obesity: </a:t>
            </a:r>
            <a:r>
              <a:rPr lang="en-US" sz="2800" dirty="0"/>
              <a:t> associated with an increase in intravascular volume, elevated cardiac output, increased sympathetic outflow, and activation of the renin-angiotensin system. Weight reduction lowers BP modestly. </a:t>
            </a:r>
          </a:p>
          <a:p>
            <a:pPr marL="292100" indent="-292100">
              <a:spcBef>
                <a:spcPts val="0"/>
              </a:spcBef>
              <a:buSzPts val="3000"/>
            </a:pPr>
            <a:endParaRPr lang="en-US" sz="3000" b="1" dirty="0"/>
          </a:p>
          <a:p>
            <a:pPr marL="292100" indent="-292100">
              <a:spcBef>
                <a:spcPts val="0"/>
              </a:spcBef>
              <a:buSzPts val="3000"/>
            </a:pPr>
            <a:r>
              <a:rPr lang="en-US" sz="3000" b="1" dirty="0"/>
              <a:t>Diabetes and dyslipidemia</a:t>
            </a:r>
            <a:r>
              <a:rPr lang="en-US" sz="3000" dirty="0"/>
              <a:t>: Both cardiovascular risk factors themselves, these diseases also increase the risk of developing hypertension.</a:t>
            </a:r>
          </a:p>
          <a:p>
            <a:pPr marL="292100" indent="-292100">
              <a:spcBef>
                <a:spcPts val="0"/>
              </a:spcBef>
              <a:buSzPts val="3000"/>
            </a:pPr>
            <a:endParaRPr sz="2000" dirty="0"/>
          </a:p>
          <a:p>
            <a:pPr marL="292100" indent="-292100">
              <a:spcBef>
                <a:spcPts val="700"/>
              </a:spcBef>
              <a:buSzPts val="3000"/>
            </a:pPr>
            <a:r>
              <a:rPr lang="en-US" sz="3000" dirty="0"/>
              <a:t>CKD:</a:t>
            </a:r>
            <a:r>
              <a:rPr lang="en-US" sz="3000" b="1" dirty="0"/>
              <a:t> </a:t>
            </a:r>
            <a:r>
              <a:rPr lang="en-US" sz="3000" dirty="0"/>
              <a:t>any decrease in adult nephron mass increases the risk.  The higher the stage of CKD, the more likely the patient is to have hypertension, and often, difficult to control HTN. </a:t>
            </a:r>
            <a:endParaRPr dirty="0"/>
          </a:p>
          <a:p>
            <a:pPr marL="292100" indent="-165100">
              <a:spcBef>
                <a:spcPts val="700"/>
              </a:spcBef>
              <a:buSzPts val="2000"/>
              <a:buNone/>
            </a:pPr>
            <a:endParaRPr sz="2000" dirty="0"/>
          </a:p>
        </p:txBody>
      </p:sp>
      <p:pic>
        <p:nvPicPr>
          <p:cNvPr id="166" name="Google Shape;166;p11"/>
          <p:cNvPicPr preferRelativeResize="0"/>
          <p:nvPr/>
        </p:nvPicPr>
        <p:blipFill rotWithShape="1">
          <a:blip r:embed="rId3">
            <a:alphaModFix/>
          </a:blip>
          <a:srcRect/>
          <a:stretch/>
        </p:blipFill>
        <p:spPr>
          <a:xfrm>
            <a:off x="474728" y="152401"/>
            <a:ext cx="2303929" cy="120011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2"/>
          <p:cNvSpPr txBox="1">
            <a:spLocks noGrp="1"/>
          </p:cNvSpPr>
          <p:nvPr>
            <p:ph type="title"/>
          </p:nvPr>
        </p:nvSpPr>
        <p:spPr>
          <a:xfrm>
            <a:off x="350196" y="374416"/>
            <a:ext cx="7498404" cy="990600"/>
          </a:xfrm>
          <a:prstGeom prst="rect">
            <a:avLst/>
          </a:prstGeom>
          <a:noFill/>
          <a:ln>
            <a:noFill/>
          </a:ln>
        </p:spPr>
        <p:txBody>
          <a:bodyPr spcFirstLastPara="1" wrap="square" lIns="50800" tIns="50800" rIns="50800" bIns="50800" anchor="ctr" anchorCtr="0">
            <a:noAutofit/>
          </a:bodyPr>
          <a:lstStyle/>
          <a:p>
            <a:r>
              <a:rPr lang="en-US" sz="3600" dirty="0"/>
              <a:t> Modifiable Risk Factors for HTN</a:t>
            </a:r>
            <a:endParaRPr sz="3600" dirty="0"/>
          </a:p>
        </p:txBody>
      </p:sp>
      <p:sp>
        <p:nvSpPr>
          <p:cNvPr id="172" name="Google Shape;172;p12"/>
          <p:cNvSpPr txBox="1">
            <a:spLocks noGrp="1"/>
          </p:cNvSpPr>
          <p:nvPr>
            <p:ph type="body" idx="1"/>
          </p:nvPr>
        </p:nvSpPr>
        <p:spPr>
          <a:xfrm>
            <a:off x="350196" y="1750978"/>
            <a:ext cx="11468910" cy="4954621"/>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sz="2800" b="1" dirty="0"/>
              <a:t>Excessive alcohol intake</a:t>
            </a:r>
            <a:r>
              <a:rPr lang="en-US" sz="2800" dirty="0"/>
              <a:t>: Greater than 2 drinks/day will increase the risk of developing HTN.</a:t>
            </a:r>
          </a:p>
          <a:p>
            <a:pPr marL="749300" lvl="1" indent="-292100">
              <a:spcBef>
                <a:spcPts val="0"/>
              </a:spcBef>
            </a:pPr>
            <a:r>
              <a:rPr lang="en-US" sz="2800" dirty="0"/>
              <a:t>raises BP, perhaps by increasing plasma catecholamines. HTN can be difficult to control in patients who consume more than 40 g of ethanol (two drinks) daily or those who drink in "binges."</a:t>
            </a:r>
          </a:p>
          <a:p>
            <a:pPr marL="292100" indent="-292100">
              <a:spcBef>
                <a:spcPts val="0"/>
              </a:spcBef>
            </a:pPr>
            <a:r>
              <a:rPr lang="en-US" sz="2800" b="1" dirty="0"/>
              <a:t>High sodium, low potassium diet: </a:t>
            </a:r>
            <a:r>
              <a:rPr lang="en-US" sz="2800" dirty="0"/>
              <a:t>excessive sodium intake increases the risk of HTN, and sodium restriction lowers BP</a:t>
            </a:r>
          </a:p>
          <a:p>
            <a:pPr marL="749300" lvl="1" indent="-292100">
              <a:spcBef>
                <a:spcPts val="0"/>
              </a:spcBef>
            </a:pPr>
            <a:r>
              <a:rPr lang="en-US" sz="2800" dirty="0"/>
              <a:t>increased salt probably increases BP in some individuals so dietary salt restriction of 2 gm per day is recommended in patients with hypertension.  Low serum potassium level may also contribute to hypertension. </a:t>
            </a:r>
            <a:r>
              <a:rPr lang="en-US" sz="2800" dirty="0">
                <a:solidFill>
                  <a:srgbClr val="343536"/>
                </a:solidFill>
                <a:latin typeface="Source Sans Pro" panose="020B0503030403020204" pitchFamily="34" charset="0"/>
              </a:rPr>
              <a:t> Intake of 90 mmol/day of potassium is recommended.</a:t>
            </a:r>
            <a:endParaRPr sz="2800" b="1" dirty="0"/>
          </a:p>
        </p:txBody>
      </p:sp>
      <p:pic>
        <p:nvPicPr>
          <p:cNvPr id="173" name="Google Shape;173;p12"/>
          <p:cNvPicPr preferRelativeResize="0"/>
          <p:nvPr/>
        </p:nvPicPr>
        <p:blipFill rotWithShape="1">
          <a:blip r:embed="rId3">
            <a:alphaModFix/>
          </a:blip>
          <a:srcRect/>
          <a:stretch/>
        </p:blipFill>
        <p:spPr>
          <a:xfrm>
            <a:off x="7848600" y="141054"/>
            <a:ext cx="1223962" cy="1223962"/>
          </a:xfrm>
          <a:prstGeom prst="rect">
            <a:avLst/>
          </a:prstGeom>
          <a:noFill/>
          <a:ln>
            <a:noFill/>
          </a:ln>
        </p:spPr>
      </p:pic>
      <p:pic>
        <p:nvPicPr>
          <p:cNvPr id="174" name="Google Shape;174;p12"/>
          <p:cNvPicPr preferRelativeResize="0"/>
          <p:nvPr/>
        </p:nvPicPr>
        <p:blipFill rotWithShape="1">
          <a:blip r:embed="rId4">
            <a:alphaModFix/>
          </a:blip>
          <a:srcRect/>
          <a:stretch/>
        </p:blipFill>
        <p:spPr>
          <a:xfrm>
            <a:off x="9242612" y="67235"/>
            <a:ext cx="1371600" cy="13716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1"/>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dirty="0"/>
              <a:t>Modifiable Risk Factor for HTN</a:t>
            </a:r>
            <a:endParaRPr dirty="0"/>
          </a:p>
        </p:txBody>
      </p:sp>
      <p:sp>
        <p:nvSpPr>
          <p:cNvPr id="317" name="Google Shape;317;p31"/>
          <p:cNvSpPr txBox="1">
            <a:spLocks noGrp="1"/>
          </p:cNvSpPr>
          <p:nvPr>
            <p:ph type="body" idx="1"/>
          </p:nvPr>
        </p:nvSpPr>
        <p:spPr>
          <a:xfrm>
            <a:off x="680935" y="1527242"/>
            <a:ext cx="10768519" cy="5178357"/>
          </a:xfrm>
          <a:prstGeom prst="rect">
            <a:avLst/>
          </a:prstGeom>
          <a:noFill/>
          <a:ln>
            <a:noFill/>
          </a:ln>
        </p:spPr>
        <p:txBody>
          <a:bodyPr spcFirstLastPara="1" wrap="square" lIns="50800" tIns="50800" rIns="50800" bIns="50800" anchor="t" anchorCtr="0">
            <a:noAutofit/>
          </a:bodyPr>
          <a:lstStyle/>
          <a:p>
            <a:pPr marL="292100" indent="-292100">
              <a:spcBef>
                <a:spcPts val="700"/>
              </a:spcBef>
            </a:pPr>
            <a:r>
              <a:rPr lang="en-US" sz="2800" b="1" dirty="0"/>
              <a:t>Lifestyle</a:t>
            </a:r>
            <a:r>
              <a:rPr lang="en-US" sz="2800" dirty="0"/>
              <a:t>: Weight gain and obesity, sedentary lifestyle and lack of physical activity will all increase the risk of developing HTN</a:t>
            </a:r>
          </a:p>
          <a:p>
            <a:pPr marL="749300" lvl="1" indent="-292100">
              <a:spcBef>
                <a:spcPts val="700"/>
              </a:spcBef>
            </a:pPr>
            <a:r>
              <a:rPr lang="en-US" sz="2800" dirty="0"/>
              <a:t>Aerobic exercise lowers BP in previously sedentary individuals, but increasingly strenuous exercise in already active subjects has less effect. </a:t>
            </a:r>
          </a:p>
          <a:p>
            <a:pPr indent="-457200">
              <a:spcBef>
                <a:spcPts val="0"/>
              </a:spcBef>
              <a:buSzPts val="3168"/>
            </a:pPr>
            <a:r>
              <a:rPr lang="en-US" sz="2800" b="1" dirty="0"/>
              <a:t>Smoking </a:t>
            </a:r>
            <a:r>
              <a:rPr lang="en-US" sz="2800" dirty="0"/>
              <a:t>raises BP by increasing plasma norepinephrine.</a:t>
            </a:r>
          </a:p>
          <a:p>
            <a:pPr lvl="1" indent="-457200">
              <a:spcBef>
                <a:spcPts val="0"/>
              </a:spcBef>
              <a:buSzPts val="3168"/>
            </a:pPr>
            <a:r>
              <a:rPr lang="en-US" sz="2800" dirty="0"/>
              <a:t>Synergistic effects of smoking and high blood pressure on cardiovascular risk are well documented. </a:t>
            </a:r>
            <a:endParaRPr lang="en-US" sz="2800" b="1" dirty="0"/>
          </a:p>
          <a:p>
            <a:pPr marL="292100" indent="-292100">
              <a:spcBef>
                <a:spcPts val="700"/>
              </a:spcBef>
            </a:pPr>
            <a:r>
              <a:rPr lang="en-US" sz="2800" b="1" dirty="0"/>
              <a:t>Insufficient sleep</a:t>
            </a:r>
            <a:r>
              <a:rPr lang="en-US" sz="2800" dirty="0"/>
              <a:t>: &lt;7hr nightly associated with HTN</a:t>
            </a:r>
          </a:p>
          <a:p>
            <a:pPr marL="292100" indent="-228600">
              <a:buSzPts val="1000"/>
              <a:buNone/>
            </a:pPr>
            <a:endParaRPr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9" name="Google Shape;329;p33"/>
          <p:cNvSpPr txBox="1">
            <a:spLocks noGrp="1"/>
          </p:cNvSpPr>
          <p:nvPr>
            <p:ph type="body" idx="1"/>
          </p:nvPr>
        </p:nvSpPr>
        <p:spPr>
          <a:xfrm>
            <a:off x="642026" y="1877438"/>
            <a:ext cx="10389140" cy="4751962"/>
          </a:xfrm>
          <a:prstGeom prst="rect">
            <a:avLst/>
          </a:prstGeom>
          <a:noFill/>
          <a:ln>
            <a:noFill/>
          </a:ln>
        </p:spPr>
        <p:txBody>
          <a:bodyPr spcFirstLastPara="1" wrap="square" lIns="50800" tIns="50800" rIns="50800" bIns="50800" anchor="t" anchorCtr="0">
            <a:noAutofit/>
          </a:bodyPr>
          <a:lstStyle/>
          <a:p>
            <a:pPr indent="-457200">
              <a:spcBef>
                <a:spcPts val="0"/>
              </a:spcBef>
              <a:buSzPts val="3168"/>
            </a:pPr>
            <a:r>
              <a:rPr lang="en-US" b="1" dirty="0">
                <a:latin typeface="Calibri"/>
                <a:ea typeface="Calibri"/>
                <a:cs typeface="Calibri"/>
                <a:sym typeface="Calibri"/>
              </a:rPr>
              <a:t>Polycythemia</a:t>
            </a:r>
            <a:r>
              <a:rPr lang="en-US" dirty="0"/>
              <a:t>: increases blood viscosity raises blood pressure. </a:t>
            </a:r>
          </a:p>
          <a:p>
            <a:pPr indent="-457200">
              <a:spcBef>
                <a:spcPts val="0"/>
              </a:spcBef>
              <a:buSzPts val="3168"/>
            </a:pPr>
            <a:r>
              <a:rPr lang="en-US" b="1" dirty="0"/>
              <a:t>NSAIDs</a:t>
            </a:r>
            <a:r>
              <a:rPr lang="en-US" dirty="0"/>
              <a:t> produce increases in BP averaging 5mm Hg and are best avoided in patients with borderline or elevated blood pressures. </a:t>
            </a:r>
          </a:p>
          <a:p>
            <a:pPr marL="514350" indent="-514350">
              <a:spcBef>
                <a:spcPts val="0"/>
              </a:spcBef>
              <a:buSzPts val="3168"/>
              <a:buFont typeface="+mj-lt"/>
              <a:buAutoNum type="arabicPeriod" startAt="5"/>
            </a:pPr>
            <a:endParaRPr dirty="0"/>
          </a:p>
        </p:txBody>
      </p:sp>
      <p:sp>
        <p:nvSpPr>
          <p:cNvPr id="4" name="Google Shape;316;p31">
            <a:extLst>
              <a:ext uri="{FF2B5EF4-FFF2-40B4-BE49-F238E27FC236}">
                <a16:creationId xmlns:a16="http://schemas.microsoft.com/office/drawing/2014/main" id="{018318A9-D415-E209-8084-21291A224379}"/>
              </a:ext>
            </a:extLst>
          </p:cNvPr>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dirty="0"/>
              <a:t>Other Contributors to Primary HTN</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5"/>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HTN Counseling and Management</a:t>
            </a:r>
            <a:endParaRPr/>
          </a:p>
        </p:txBody>
      </p:sp>
      <p:sp>
        <p:nvSpPr>
          <p:cNvPr id="341" name="Google Shape;341;p35"/>
          <p:cNvSpPr txBox="1">
            <a:spLocks noGrp="1"/>
          </p:cNvSpPr>
          <p:nvPr>
            <p:ph type="body" idx="1"/>
          </p:nvPr>
        </p:nvSpPr>
        <p:spPr>
          <a:xfrm>
            <a:off x="807395" y="1498060"/>
            <a:ext cx="10544783" cy="5207540"/>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a:t>So, in primary hypertension, we basically explain to the patient that numerous factors, only some of which they can change, are responsible for their disease.</a:t>
            </a:r>
            <a:endParaRPr/>
          </a:p>
          <a:p>
            <a:pPr marL="292100" indent="-88900">
              <a:spcBef>
                <a:spcPts val="0"/>
              </a:spcBef>
              <a:buNone/>
            </a:pPr>
            <a:endParaRPr/>
          </a:p>
          <a:p>
            <a:pPr marL="292100" indent="-292100">
              <a:spcBef>
                <a:spcPts val="0"/>
              </a:spcBef>
            </a:pPr>
            <a:r>
              <a:rPr lang="en-US"/>
              <a:t>We will counsel the patient about therapeutic lifestyle changes with motivational interviewing. </a:t>
            </a:r>
            <a:endParaRPr/>
          </a:p>
          <a:p>
            <a:pPr marL="292100" indent="-88900">
              <a:spcBef>
                <a:spcPts val="0"/>
              </a:spcBef>
              <a:buNone/>
            </a:pPr>
            <a:endParaRPr/>
          </a:p>
          <a:p>
            <a:pPr marL="292100" indent="-292100">
              <a:spcBef>
                <a:spcPts val="0"/>
              </a:spcBef>
            </a:pPr>
            <a:r>
              <a:rPr lang="en-US"/>
              <a:t>Often, we’ll need to give medication to control the patient’s blood pressure while they make these lifestyle changes.</a:t>
            </a:r>
            <a:endParaRPr b="1" i="1"/>
          </a:p>
          <a:p>
            <a:pPr marL="292100" indent="-88900">
              <a:spcBef>
                <a:spcPts val="788"/>
              </a:spcBef>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61E78DF-CF05-E57D-242C-C5B59036564B}"/>
              </a:ext>
            </a:extLst>
          </p:cNvPr>
          <p:cNvSpPr>
            <a:spLocks noGrp="1"/>
          </p:cNvSpPr>
          <p:nvPr>
            <p:ph type="title"/>
          </p:nvPr>
        </p:nvSpPr>
        <p:spPr/>
        <p:txBody>
          <a:bodyPr/>
          <a:lstStyle/>
          <a:p>
            <a:r>
              <a:rPr lang="en-US" dirty="0"/>
              <a:t>Secondary Hypertension Causes</a:t>
            </a:r>
          </a:p>
        </p:txBody>
      </p:sp>
    </p:spTree>
    <p:extLst>
      <p:ext uri="{BB962C8B-B14F-4D97-AF65-F5344CB8AC3E}">
        <p14:creationId xmlns:p14="http://schemas.microsoft.com/office/powerpoint/2010/main" val="30076880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6"/>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dirty="0"/>
              <a:t>Secondary HTN Classifications</a:t>
            </a:r>
            <a:endParaRPr dirty="0"/>
          </a:p>
        </p:txBody>
      </p:sp>
      <p:sp>
        <p:nvSpPr>
          <p:cNvPr id="347" name="Google Shape;347;p36"/>
          <p:cNvSpPr txBox="1">
            <a:spLocks noGrp="1"/>
          </p:cNvSpPr>
          <p:nvPr>
            <p:ph type="body" idx="1"/>
          </p:nvPr>
        </p:nvSpPr>
        <p:spPr>
          <a:xfrm>
            <a:off x="525294" y="1527242"/>
            <a:ext cx="10953344" cy="5178357"/>
          </a:xfrm>
          <a:prstGeom prst="rect">
            <a:avLst/>
          </a:prstGeom>
          <a:noFill/>
          <a:ln>
            <a:noFill/>
          </a:ln>
        </p:spPr>
        <p:txBody>
          <a:bodyPr spcFirstLastPara="1" wrap="square" lIns="50800" tIns="50800" rIns="50800" bIns="50800" anchor="t" anchorCtr="0">
            <a:noAutofit/>
          </a:bodyPr>
          <a:lstStyle/>
          <a:p>
            <a:pPr marL="474662" indent="-457200">
              <a:spcBef>
                <a:spcPts val="0"/>
              </a:spcBef>
            </a:pPr>
            <a:r>
              <a:rPr lang="en-US" sz="2800" b="1" i="1" dirty="0"/>
              <a:t>In 5% of cases, the elevated blood pressure is secondary to another identifiable illness </a:t>
            </a:r>
            <a:r>
              <a:rPr lang="en-US" sz="2800" dirty="0"/>
              <a:t>which causes HTN. </a:t>
            </a:r>
          </a:p>
          <a:p>
            <a:pPr marL="474662" indent="-457200">
              <a:spcBef>
                <a:spcPts val="0"/>
              </a:spcBef>
            </a:pPr>
            <a:endParaRPr lang="en-US" sz="2800" dirty="0"/>
          </a:p>
          <a:p>
            <a:pPr marL="474662" indent="-457200">
              <a:spcBef>
                <a:spcPts val="0"/>
              </a:spcBef>
            </a:pPr>
            <a:r>
              <a:rPr lang="en-US" sz="2800" dirty="0"/>
              <a:t>Often found in those diagnosed prior to age 20 or after age 50. </a:t>
            </a:r>
          </a:p>
          <a:p>
            <a:pPr marL="474662" indent="-457200">
              <a:spcBef>
                <a:spcPts val="0"/>
              </a:spcBef>
            </a:pPr>
            <a:endParaRPr sz="2800" dirty="0"/>
          </a:p>
          <a:p>
            <a:pPr marL="474662" indent="-457200">
              <a:spcBef>
                <a:spcPts val="788"/>
              </a:spcBef>
            </a:pPr>
            <a:r>
              <a:rPr lang="en-US" sz="2800" dirty="0"/>
              <a:t>Although these cases constitute a small part of overall hypertension, these disorders account for a considerable amount (20%) of resistant HTN.</a:t>
            </a:r>
          </a:p>
          <a:p>
            <a:pPr marL="931862" lvl="1" indent="-457200">
              <a:spcBef>
                <a:spcPts val="788"/>
              </a:spcBef>
            </a:pPr>
            <a:r>
              <a:rPr lang="en-US" sz="2800" b="1" i="1" dirty="0"/>
              <a:t>Resistant HTN</a:t>
            </a:r>
            <a:r>
              <a:rPr lang="en-US" sz="2800" dirty="0"/>
              <a:t>: BP that remains above goal despite treatment with maximal meds from 3 drug classes, including a thiazide diuretic</a:t>
            </a:r>
          </a:p>
          <a:p>
            <a:pPr marL="474662" lvl="1" indent="0">
              <a:spcBef>
                <a:spcPts val="788"/>
              </a:spcBef>
              <a:buNone/>
            </a:pPr>
            <a:endParaRPr lang="en-US" sz="2800" dirty="0"/>
          </a:p>
          <a:p>
            <a:pPr marL="17462" indent="0">
              <a:spcBef>
                <a:spcPts val="788"/>
              </a:spcBef>
              <a:buNone/>
            </a:pPr>
            <a:endParaRPr sz="2800" dirty="0"/>
          </a:p>
          <a:p>
            <a:pPr marL="17462" indent="0">
              <a:spcBef>
                <a:spcPts val="788"/>
              </a:spcBef>
              <a:buNone/>
            </a:pP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7"/>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Secondary HTN Etiologies</a:t>
            </a:r>
            <a:endParaRPr/>
          </a:p>
        </p:txBody>
      </p:sp>
      <p:sp>
        <p:nvSpPr>
          <p:cNvPr id="353" name="Google Shape;353;p37"/>
          <p:cNvSpPr txBox="1">
            <a:spLocks noGrp="1"/>
          </p:cNvSpPr>
          <p:nvPr>
            <p:ph type="body" idx="1"/>
          </p:nvPr>
        </p:nvSpPr>
        <p:spPr>
          <a:xfrm>
            <a:off x="593387" y="1143000"/>
            <a:ext cx="11138170" cy="1752600"/>
          </a:xfrm>
          <a:prstGeom prst="rect">
            <a:avLst/>
          </a:prstGeom>
          <a:noFill/>
          <a:ln>
            <a:noFill/>
          </a:ln>
        </p:spPr>
        <p:txBody>
          <a:bodyPr spcFirstLastPara="1" wrap="square" lIns="50800" tIns="50800" rIns="50800" bIns="50800" anchor="t" anchorCtr="0">
            <a:noAutofit/>
          </a:bodyPr>
          <a:lstStyle/>
          <a:p>
            <a:pPr marL="514350" indent="-514350">
              <a:spcBef>
                <a:spcPts val="0"/>
              </a:spcBef>
              <a:buFont typeface="Calibri"/>
              <a:buAutoNum type="arabicPeriod"/>
            </a:pPr>
            <a:r>
              <a:rPr lang="en-US" b="1" i="1" dirty="0"/>
              <a:t>Polycystic kidney disease </a:t>
            </a:r>
            <a:r>
              <a:rPr lang="en-US" dirty="0"/>
              <a:t>(PCKD)- an autosomal dominant disease</a:t>
            </a:r>
            <a:endParaRPr dirty="0"/>
          </a:p>
        </p:txBody>
      </p:sp>
      <p:pic>
        <p:nvPicPr>
          <p:cNvPr id="354" name="Google Shape;354;p37"/>
          <p:cNvPicPr preferRelativeResize="0"/>
          <p:nvPr/>
        </p:nvPicPr>
        <p:blipFill rotWithShape="1">
          <a:blip r:embed="rId3">
            <a:alphaModFix/>
          </a:blip>
          <a:srcRect/>
          <a:stretch/>
        </p:blipFill>
        <p:spPr>
          <a:xfrm>
            <a:off x="1571017" y="2725957"/>
            <a:ext cx="3757965" cy="3222812"/>
          </a:xfrm>
          <a:prstGeom prst="rect">
            <a:avLst/>
          </a:prstGeom>
          <a:noFill/>
          <a:ln>
            <a:noFill/>
          </a:ln>
        </p:spPr>
      </p:pic>
      <p:sp>
        <p:nvSpPr>
          <p:cNvPr id="355" name="Google Shape;355;p37"/>
          <p:cNvSpPr txBox="1"/>
          <p:nvPr/>
        </p:nvSpPr>
        <p:spPr>
          <a:xfrm>
            <a:off x="5640506" y="2183663"/>
            <a:ext cx="5486400" cy="4307400"/>
          </a:xfrm>
          <a:prstGeom prst="rect">
            <a:avLst/>
          </a:prstGeom>
          <a:noFill/>
          <a:ln>
            <a:noFill/>
          </a:ln>
        </p:spPr>
        <p:txBody>
          <a:bodyPr spcFirstLastPara="1" wrap="square" lIns="91425" tIns="45700" rIns="91425" bIns="45700" anchor="t" anchorCtr="0">
            <a:spAutoFit/>
          </a:bodyPr>
          <a:lstStyle/>
          <a:p>
            <a:pPr marL="692150" lvl="1" indent="-234950">
              <a:buClr>
                <a:schemeClr val="dk1"/>
              </a:buClr>
              <a:buSzPts val="3200"/>
              <a:buFont typeface="Arial"/>
              <a:buChar char="–"/>
            </a:pPr>
            <a:r>
              <a:rPr lang="en-US" sz="3200" dirty="0">
                <a:solidFill>
                  <a:schemeClr val="dk1"/>
                </a:solidFill>
                <a:latin typeface="Calibri"/>
                <a:ea typeface="Calibri"/>
                <a:cs typeface="Calibri"/>
                <a:sym typeface="Calibri"/>
              </a:rPr>
              <a:t>The kidneys progressively enlarge (up to 5x normal size) due to a large number of growing cysts.</a:t>
            </a:r>
            <a:endParaRPr dirty="0"/>
          </a:p>
          <a:p>
            <a:pPr marL="692150" lvl="1" indent="-234950">
              <a:spcBef>
                <a:spcPts val="700"/>
              </a:spcBef>
              <a:buClr>
                <a:schemeClr val="dk1"/>
              </a:buClr>
              <a:buSzPts val="3200"/>
              <a:buFont typeface="Arial"/>
              <a:buChar char="–"/>
            </a:pPr>
            <a:r>
              <a:rPr lang="en-US" sz="3200" dirty="0">
                <a:solidFill>
                  <a:schemeClr val="dk1"/>
                </a:solidFill>
                <a:latin typeface="Calibri"/>
                <a:ea typeface="Calibri"/>
                <a:cs typeface="Calibri"/>
                <a:sym typeface="Calibri"/>
              </a:rPr>
              <a:t>Patients have flank pain, hematuria, UTI, renal calculi and difficulty concentrating their urine.</a:t>
            </a:r>
            <a:endParaRPr dirty="0"/>
          </a:p>
          <a:p>
            <a:endParaRPr sz="1200" dirty="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8"/>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Secondary HTN Etiologies</a:t>
            </a:r>
            <a:endParaRPr/>
          </a:p>
        </p:txBody>
      </p:sp>
      <p:sp>
        <p:nvSpPr>
          <p:cNvPr id="361" name="Google Shape;361;p38"/>
          <p:cNvSpPr txBox="1">
            <a:spLocks noGrp="1"/>
          </p:cNvSpPr>
          <p:nvPr>
            <p:ph type="body" idx="1"/>
          </p:nvPr>
        </p:nvSpPr>
        <p:spPr>
          <a:xfrm>
            <a:off x="632298" y="1143000"/>
            <a:ext cx="8560340" cy="2752362"/>
          </a:xfrm>
          <a:prstGeom prst="rect">
            <a:avLst/>
          </a:prstGeom>
          <a:noFill/>
          <a:ln>
            <a:noFill/>
          </a:ln>
        </p:spPr>
        <p:txBody>
          <a:bodyPr spcFirstLastPara="1" wrap="square" lIns="50800" tIns="50800" rIns="50800" bIns="50800" anchor="t" anchorCtr="0">
            <a:noAutofit/>
          </a:bodyPr>
          <a:lstStyle/>
          <a:p>
            <a:pPr marL="514350" indent="-514350">
              <a:spcBef>
                <a:spcPts val="0"/>
              </a:spcBef>
              <a:buFont typeface="Calibri"/>
              <a:buAutoNum type="arabicPeriod" startAt="2"/>
            </a:pPr>
            <a:r>
              <a:rPr lang="en-US" b="1" dirty="0">
                <a:latin typeface="Calibri"/>
                <a:ea typeface="Calibri"/>
                <a:cs typeface="Calibri"/>
                <a:sym typeface="Calibri"/>
              </a:rPr>
              <a:t>Renovascular HTN </a:t>
            </a:r>
            <a:r>
              <a:rPr lang="en-US" b="1" dirty="0"/>
              <a:t>due to </a:t>
            </a:r>
            <a:r>
              <a:rPr lang="en-US" b="1" dirty="0">
                <a:latin typeface="Calibri"/>
                <a:ea typeface="Calibri"/>
                <a:cs typeface="Calibri"/>
                <a:sym typeface="Calibri"/>
              </a:rPr>
              <a:t>renal artery stenosis</a:t>
            </a:r>
            <a:endParaRPr dirty="0"/>
          </a:p>
          <a:p>
            <a:pPr marL="342900" indent="-342900">
              <a:spcBef>
                <a:spcPts val="700"/>
              </a:spcBef>
            </a:pPr>
            <a:r>
              <a:rPr lang="en-US" dirty="0">
                <a:latin typeface="Calibri"/>
                <a:ea typeface="Calibri"/>
                <a:cs typeface="Calibri"/>
                <a:sym typeface="Calibri"/>
              </a:rPr>
              <a:t>Occurs in two different populations:</a:t>
            </a:r>
            <a:endParaRPr dirty="0"/>
          </a:p>
          <a:p>
            <a:pPr marL="692150" lvl="1" indent="-234950">
              <a:spcBef>
                <a:spcPts val="600"/>
              </a:spcBef>
              <a:buSzPts val="3000"/>
            </a:pPr>
            <a:r>
              <a:rPr lang="en-US" sz="3000" b="1" i="1" dirty="0"/>
              <a:t>Atherosclerosis</a:t>
            </a:r>
            <a:r>
              <a:rPr lang="en-US" sz="3000" dirty="0"/>
              <a:t> in men&gt; age 50 with </a:t>
            </a:r>
            <a:r>
              <a:rPr lang="en-US" sz="3000" b="1" i="1" dirty="0"/>
              <a:t>CAD risk factors</a:t>
            </a:r>
            <a:endParaRPr dirty="0"/>
          </a:p>
          <a:p>
            <a:pPr marL="1128712" lvl="2" indent="-234950">
              <a:spcBef>
                <a:spcPts val="600"/>
              </a:spcBef>
              <a:buSzPts val="3000"/>
            </a:pPr>
            <a:r>
              <a:rPr lang="en-US" sz="3000" dirty="0"/>
              <a:t>HLD, tobacco abuse, DM, CKD, PAD</a:t>
            </a:r>
            <a:endParaRPr dirty="0"/>
          </a:p>
          <a:p>
            <a:pPr marL="692150" lvl="1" indent="-234950">
              <a:spcBef>
                <a:spcPts val="600"/>
              </a:spcBef>
              <a:buSzPts val="3000"/>
            </a:pPr>
            <a:r>
              <a:rPr lang="en-US" sz="3000" b="1" i="1" dirty="0"/>
              <a:t>Fibromuscular dysplasia </a:t>
            </a:r>
            <a:r>
              <a:rPr lang="en-US" sz="3000" dirty="0"/>
              <a:t>in women under 50 years</a:t>
            </a:r>
          </a:p>
          <a:p>
            <a:pPr marL="1149350" lvl="2" indent="-234950">
              <a:spcBef>
                <a:spcPts val="600"/>
              </a:spcBef>
              <a:buSzPts val="3000"/>
            </a:pPr>
            <a:r>
              <a:rPr lang="en-US" dirty="0"/>
              <a:t>“</a:t>
            </a:r>
            <a:r>
              <a:rPr lang="en-US" b="1" i="1" dirty="0"/>
              <a:t>String of beads</a:t>
            </a:r>
            <a:r>
              <a:rPr lang="en-US" dirty="0"/>
              <a:t>” finding on imaging</a:t>
            </a:r>
            <a:endParaRPr dirty="0"/>
          </a:p>
        </p:txBody>
      </p:sp>
      <p:pic>
        <p:nvPicPr>
          <p:cNvPr id="362" name="Google Shape;362;p38"/>
          <p:cNvPicPr preferRelativeResize="0"/>
          <p:nvPr/>
        </p:nvPicPr>
        <p:blipFill rotWithShape="1">
          <a:blip r:embed="rId3">
            <a:alphaModFix/>
          </a:blip>
          <a:srcRect l="-1" t="4645" r="2856"/>
          <a:stretch/>
        </p:blipFill>
        <p:spPr>
          <a:xfrm>
            <a:off x="8326877" y="3219855"/>
            <a:ext cx="3452508" cy="333821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9"/>
          <p:cNvSpPr txBox="1">
            <a:spLocks noGrp="1"/>
          </p:cNvSpPr>
          <p:nvPr>
            <p:ph type="title"/>
          </p:nvPr>
        </p:nvSpPr>
        <p:spPr>
          <a:xfrm>
            <a:off x="1981200" y="228600"/>
            <a:ext cx="8229600" cy="990600"/>
          </a:xfrm>
          <a:prstGeom prst="rect">
            <a:avLst/>
          </a:prstGeom>
          <a:noFill/>
          <a:ln>
            <a:noFill/>
          </a:ln>
        </p:spPr>
        <p:txBody>
          <a:bodyPr spcFirstLastPara="1" wrap="square" lIns="50800" tIns="50800" rIns="50800" bIns="50800" anchor="ctr" anchorCtr="0">
            <a:noAutofit/>
          </a:bodyPr>
          <a:lstStyle/>
          <a:p>
            <a:r>
              <a:rPr lang="en-US" dirty="0"/>
              <a:t>Secondary Hypertension Etiologies</a:t>
            </a:r>
            <a:br>
              <a:rPr lang="en-US" dirty="0"/>
            </a:br>
            <a:r>
              <a:rPr lang="en-US" b="1" dirty="0"/>
              <a:t>Renovascular Hypertension</a:t>
            </a:r>
            <a:endParaRPr b="1" dirty="0"/>
          </a:p>
        </p:txBody>
      </p:sp>
      <p:sp>
        <p:nvSpPr>
          <p:cNvPr id="369" name="Google Shape;369;p39"/>
          <p:cNvSpPr txBox="1">
            <a:spLocks noGrp="1"/>
          </p:cNvSpPr>
          <p:nvPr>
            <p:ph type="body" idx="1"/>
          </p:nvPr>
        </p:nvSpPr>
        <p:spPr>
          <a:xfrm>
            <a:off x="612843" y="1536970"/>
            <a:ext cx="11040893" cy="509243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dirty="0"/>
              <a:t>When renal artery stenosis occurs, </a:t>
            </a:r>
            <a:r>
              <a:rPr lang="en-US" b="1" i="1" dirty="0"/>
              <a:t>the renin-angiotensin-aldosterone system is constantly activated by the kidney that has low blood flow. </a:t>
            </a:r>
            <a:endParaRPr b="1" i="1" dirty="0"/>
          </a:p>
          <a:p>
            <a:pPr marL="0" indent="0">
              <a:spcBef>
                <a:spcPts val="0"/>
              </a:spcBef>
              <a:buNone/>
            </a:pPr>
            <a:endParaRPr dirty="0"/>
          </a:p>
          <a:p>
            <a:pPr marL="292100" indent="-292100">
              <a:spcBef>
                <a:spcPts val="1200"/>
              </a:spcBef>
            </a:pPr>
            <a:r>
              <a:rPr lang="en-US" dirty="0"/>
              <a:t>High levels of plasma renin causes conversion of angiotensin I to angiotensin II, causing severe arteriolar vasoconstriction and aldosterone release-&gt; plasma volume expansion and elevated BP. </a:t>
            </a:r>
            <a:endParaRPr dirty="0"/>
          </a:p>
          <a:p>
            <a:pPr marL="0" indent="0">
              <a:spcBef>
                <a:spcPts val="1200"/>
              </a:spcBef>
              <a:buNone/>
            </a:pPr>
            <a:endParaRPr dirty="0"/>
          </a:p>
          <a:p>
            <a:pPr marL="0" indent="0">
              <a:spcBef>
                <a:spcPts val="600"/>
              </a:spcBef>
              <a:buNone/>
            </a:pPr>
            <a:endParaRPr dirty="0"/>
          </a:p>
          <a:p>
            <a:pPr marL="292100" indent="-101600">
              <a:lnSpc>
                <a:spcPct val="80000"/>
              </a:lnSpc>
              <a:spcBef>
                <a:spcPts val="0"/>
              </a:spcBef>
              <a:buSzPts val="3000"/>
              <a:buNone/>
            </a:pPr>
            <a:endParaRPr sz="3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pic>
        <p:nvPicPr>
          <p:cNvPr id="375" name="Google Shape;375;p40" descr="Renal artery stenosis and Secondary hypertension - Creative Med Doses"/>
          <p:cNvPicPr preferRelativeResize="0"/>
          <p:nvPr/>
        </p:nvPicPr>
        <p:blipFill rotWithShape="1">
          <a:blip r:embed="rId3">
            <a:alphaModFix/>
          </a:blip>
          <a:srcRect/>
          <a:stretch/>
        </p:blipFill>
        <p:spPr>
          <a:xfrm>
            <a:off x="556098" y="381000"/>
            <a:ext cx="10826885" cy="6096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41"/>
          <p:cNvSpPr txBox="1">
            <a:spLocks noGrp="1"/>
          </p:cNvSpPr>
          <p:nvPr>
            <p:ph type="title"/>
          </p:nvPr>
        </p:nvSpPr>
        <p:spPr>
          <a:xfrm>
            <a:off x="1913105" y="348575"/>
            <a:ext cx="8229600" cy="990600"/>
          </a:xfrm>
          <a:prstGeom prst="rect">
            <a:avLst/>
          </a:prstGeom>
          <a:noFill/>
          <a:ln>
            <a:noFill/>
          </a:ln>
        </p:spPr>
        <p:txBody>
          <a:bodyPr spcFirstLastPara="1" wrap="square" lIns="50800" tIns="50800" rIns="50800" bIns="50800" anchor="ctr" anchorCtr="0">
            <a:noAutofit/>
          </a:bodyPr>
          <a:lstStyle/>
          <a:p>
            <a:r>
              <a:rPr lang="en-US" dirty="0"/>
              <a:t>Secondary Hypertension Etiologies</a:t>
            </a:r>
            <a:br>
              <a:rPr lang="en-US" dirty="0"/>
            </a:br>
            <a:r>
              <a:rPr lang="en-US" b="1" dirty="0"/>
              <a:t>Renovascular Hypertension</a:t>
            </a:r>
            <a:endParaRPr b="1" dirty="0"/>
          </a:p>
        </p:txBody>
      </p:sp>
      <p:sp>
        <p:nvSpPr>
          <p:cNvPr id="381" name="Google Shape;381;p41"/>
          <p:cNvSpPr txBox="1">
            <a:spLocks noGrp="1"/>
          </p:cNvSpPr>
          <p:nvPr>
            <p:ph type="body" idx="1"/>
          </p:nvPr>
        </p:nvSpPr>
        <p:spPr>
          <a:xfrm>
            <a:off x="804153" y="1639110"/>
            <a:ext cx="10583693" cy="5486400"/>
          </a:xfrm>
          <a:prstGeom prst="rect">
            <a:avLst/>
          </a:prstGeom>
          <a:noFill/>
          <a:ln>
            <a:noFill/>
          </a:ln>
        </p:spPr>
        <p:txBody>
          <a:bodyPr spcFirstLastPara="1" wrap="square" lIns="50800" tIns="50800" rIns="50800" bIns="50800" anchor="t" anchorCtr="0">
            <a:noAutofit/>
          </a:bodyPr>
          <a:lstStyle/>
          <a:p>
            <a:pPr marL="342900" indent="-342900">
              <a:spcBef>
                <a:spcPts val="0"/>
              </a:spcBef>
            </a:pPr>
            <a:r>
              <a:rPr lang="en-US" dirty="0"/>
              <a:t>Volume expansion and increasing the BP don’t solve the low blood flow problem to the affected kidney though, because there is a fixed obstruction- the stenosis.</a:t>
            </a:r>
            <a:endParaRPr dirty="0"/>
          </a:p>
          <a:p>
            <a:pPr marL="342900" indent="0">
              <a:spcBef>
                <a:spcPts val="0"/>
              </a:spcBef>
              <a:buNone/>
            </a:pPr>
            <a:endParaRPr dirty="0"/>
          </a:p>
          <a:p>
            <a:pPr marL="342900" indent="-342900">
              <a:spcBef>
                <a:spcPts val="0"/>
              </a:spcBef>
            </a:pPr>
            <a:r>
              <a:rPr lang="en-US" dirty="0"/>
              <a:t>Constant high BP increases cardiac work and causes remodeling of the heart and blood vessels.  It also stresses the normal kidney by creating very high vascular pressures.</a:t>
            </a:r>
            <a:endParaRPr dirty="0"/>
          </a:p>
          <a:p>
            <a:pPr marL="342900" indent="-152400">
              <a:spcBef>
                <a:spcPts val="600"/>
              </a:spcBef>
              <a:buSzPts val="3000"/>
              <a:buNone/>
            </a:pPr>
            <a:endParaRPr sz="3000" dirty="0"/>
          </a:p>
          <a:p>
            <a:pPr marL="0" indent="0">
              <a:spcBef>
                <a:spcPts val="0"/>
              </a:spcBef>
              <a:buNone/>
            </a:pPr>
            <a:endParaRPr dirty="0"/>
          </a:p>
          <a:p>
            <a:pPr marL="292100" indent="-101600">
              <a:lnSpc>
                <a:spcPct val="80000"/>
              </a:lnSpc>
              <a:spcBef>
                <a:spcPts val="0"/>
              </a:spcBef>
              <a:buSzPts val="3000"/>
              <a:buNone/>
            </a:pPr>
            <a:endParaRPr sz="3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2"/>
          <p:cNvSpPr txBox="1">
            <a:spLocks noGrp="1"/>
          </p:cNvSpPr>
          <p:nvPr>
            <p:ph type="title"/>
          </p:nvPr>
        </p:nvSpPr>
        <p:spPr>
          <a:xfrm>
            <a:off x="1981200" y="241570"/>
            <a:ext cx="8229600" cy="990600"/>
          </a:xfrm>
          <a:prstGeom prst="rect">
            <a:avLst/>
          </a:prstGeom>
          <a:noFill/>
          <a:ln>
            <a:noFill/>
          </a:ln>
        </p:spPr>
        <p:txBody>
          <a:bodyPr spcFirstLastPara="1" wrap="square" lIns="50800" tIns="50800" rIns="50800" bIns="50800" anchor="ctr" anchorCtr="0">
            <a:noAutofit/>
          </a:bodyPr>
          <a:lstStyle/>
          <a:p>
            <a:r>
              <a:rPr lang="en-US" dirty="0"/>
              <a:t>Secondary Hypertension Etiologies</a:t>
            </a:r>
            <a:br>
              <a:rPr lang="en-US" dirty="0"/>
            </a:br>
            <a:r>
              <a:rPr lang="en-US" b="1" dirty="0"/>
              <a:t>Renovascular Hypertension</a:t>
            </a:r>
            <a:endParaRPr b="1" dirty="0"/>
          </a:p>
        </p:txBody>
      </p:sp>
      <p:sp>
        <p:nvSpPr>
          <p:cNvPr id="387" name="Google Shape;387;p42"/>
          <p:cNvSpPr txBox="1">
            <a:spLocks noGrp="1"/>
          </p:cNvSpPr>
          <p:nvPr>
            <p:ph type="body" idx="1"/>
          </p:nvPr>
        </p:nvSpPr>
        <p:spPr>
          <a:xfrm>
            <a:off x="301558" y="1692612"/>
            <a:ext cx="11342452" cy="5012987"/>
          </a:xfrm>
          <a:prstGeom prst="rect">
            <a:avLst/>
          </a:prstGeom>
          <a:noFill/>
          <a:ln>
            <a:noFill/>
          </a:ln>
        </p:spPr>
        <p:txBody>
          <a:bodyPr spcFirstLastPara="1" wrap="square" lIns="50800" tIns="50800" rIns="50800" bIns="50800" anchor="t" anchorCtr="0">
            <a:noAutofit/>
          </a:bodyPr>
          <a:lstStyle/>
          <a:p>
            <a:pPr marL="474662" indent="-457200">
              <a:spcBef>
                <a:spcPts val="0"/>
              </a:spcBef>
            </a:pPr>
            <a:r>
              <a:rPr lang="en-US" dirty="0"/>
              <a:t>Suspect renal artery stenosis if: </a:t>
            </a:r>
            <a:endParaRPr dirty="0"/>
          </a:p>
          <a:p>
            <a:pPr marL="971550" lvl="1" indent="-514350">
              <a:spcBef>
                <a:spcPts val="600"/>
              </a:spcBef>
              <a:buFont typeface="Calibri"/>
              <a:buAutoNum type="arabicPeriod"/>
            </a:pPr>
            <a:r>
              <a:rPr lang="en-US" dirty="0"/>
              <a:t>Acute kidney injury develops with initiation of an ACEI/ARB- always check a chemistry panel within a week of drug initiation.</a:t>
            </a:r>
            <a:endParaRPr dirty="0"/>
          </a:p>
          <a:p>
            <a:pPr marL="971550" lvl="1" indent="-514350">
              <a:spcBef>
                <a:spcPts val="600"/>
              </a:spcBef>
              <a:buFont typeface="Calibri"/>
              <a:buAutoNum type="arabicPeriod"/>
            </a:pPr>
            <a:r>
              <a:rPr lang="en-US" dirty="0"/>
              <a:t>Refractory HTN occurs in a patient with risk factors for renal artery stenosis.</a:t>
            </a:r>
            <a:endParaRPr dirty="0"/>
          </a:p>
          <a:p>
            <a:pPr marL="971550" lvl="1" indent="-514350">
              <a:spcBef>
                <a:spcPts val="600"/>
              </a:spcBef>
              <a:buFont typeface="Calibri"/>
              <a:buAutoNum type="arabicPeriod"/>
            </a:pPr>
            <a:r>
              <a:rPr lang="en-US" dirty="0"/>
              <a:t>The patient has recurrent flash pulmonary edema. </a:t>
            </a:r>
            <a:endParaRPr dirty="0"/>
          </a:p>
          <a:p>
            <a:pPr marL="971550" lvl="1" indent="-514350">
              <a:spcBef>
                <a:spcPts val="600"/>
              </a:spcBef>
              <a:buFont typeface="Calibri"/>
              <a:buAutoNum type="arabicPeriod"/>
            </a:pPr>
            <a:r>
              <a:rPr lang="en-US" dirty="0"/>
              <a:t>An abdominal bruit is noted over the renal artery on exam.</a:t>
            </a:r>
            <a:endParaRPr dirty="0"/>
          </a:p>
          <a:p>
            <a:pPr marL="342900" indent="-139700">
              <a:spcBef>
                <a:spcPts val="600"/>
              </a:spcBef>
              <a:buNone/>
            </a:pP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43"/>
          <p:cNvSpPr txBox="1">
            <a:spLocks noGrp="1"/>
          </p:cNvSpPr>
          <p:nvPr>
            <p:ph type="title"/>
          </p:nvPr>
        </p:nvSpPr>
        <p:spPr>
          <a:xfrm>
            <a:off x="1981200" y="256516"/>
            <a:ext cx="8229600" cy="990600"/>
          </a:xfrm>
          <a:prstGeom prst="rect">
            <a:avLst/>
          </a:prstGeom>
          <a:noFill/>
          <a:ln>
            <a:noFill/>
          </a:ln>
        </p:spPr>
        <p:txBody>
          <a:bodyPr spcFirstLastPara="1" wrap="square" lIns="50800" tIns="50800" rIns="50800" bIns="50800" anchor="ctr" anchorCtr="0">
            <a:noAutofit/>
          </a:bodyPr>
          <a:lstStyle/>
          <a:p>
            <a:r>
              <a:rPr lang="en-US" dirty="0"/>
              <a:t>Secondary Hypertension Etiologies</a:t>
            </a:r>
            <a:br>
              <a:rPr lang="en-US" dirty="0"/>
            </a:br>
            <a:r>
              <a:rPr lang="en-US" dirty="0"/>
              <a:t>Renovascular Hypertension</a:t>
            </a:r>
            <a:endParaRPr dirty="0"/>
          </a:p>
        </p:txBody>
      </p:sp>
      <p:sp>
        <p:nvSpPr>
          <p:cNvPr id="393" name="Google Shape;393;p43"/>
          <p:cNvSpPr txBox="1">
            <a:spLocks noGrp="1"/>
          </p:cNvSpPr>
          <p:nvPr>
            <p:ph type="body" idx="1"/>
          </p:nvPr>
        </p:nvSpPr>
        <p:spPr>
          <a:xfrm>
            <a:off x="324459" y="1652258"/>
            <a:ext cx="5428034" cy="1849877"/>
          </a:xfrm>
          <a:prstGeom prst="rect">
            <a:avLst/>
          </a:prstGeom>
          <a:noFill/>
          <a:ln>
            <a:noFill/>
          </a:ln>
        </p:spPr>
        <p:txBody>
          <a:bodyPr spcFirstLastPara="1" wrap="square" lIns="50800" tIns="50800" rIns="50800" bIns="50800" anchor="t" anchorCtr="0">
            <a:noAutofit/>
          </a:bodyPr>
          <a:lstStyle/>
          <a:p>
            <a:pPr marL="252411" indent="-234950">
              <a:spcBef>
                <a:spcPts val="0"/>
              </a:spcBef>
            </a:pPr>
            <a:r>
              <a:rPr lang="en-US" dirty="0"/>
              <a:t>Diagnostic studies:</a:t>
            </a:r>
            <a:endParaRPr dirty="0"/>
          </a:p>
          <a:p>
            <a:pPr marL="971550" lvl="1" indent="-514350">
              <a:spcBef>
                <a:spcPts val="600"/>
              </a:spcBef>
              <a:buFont typeface="Calibri"/>
              <a:buAutoNum type="arabicPeriod"/>
            </a:pPr>
            <a:r>
              <a:rPr lang="en-US" dirty="0"/>
              <a:t>Duplex Doppler Renal artery U/S: cheap, non-invasive, and no radiation exposure.  </a:t>
            </a:r>
            <a:r>
              <a:rPr lang="en-US" b="1" dirty="0"/>
              <a:t>U/S is highly dependent on </a:t>
            </a:r>
            <a:r>
              <a:rPr lang="en-US" b="1" dirty="0" err="1"/>
              <a:t>ultrasonographer</a:t>
            </a:r>
            <a:r>
              <a:rPr lang="en-US" b="1" dirty="0"/>
              <a:t> and radiologist skill</a:t>
            </a:r>
            <a:endParaRPr b="1" dirty="0"/>
          </a:p>
          <a:p>
            <a:pPr marL="692150" lvl="1" indent="-107950">
              <a:spcBef>
                <a:spcPts val="600"/>
              </a:spcBef>
              <a:buSzPts val="2000"/>
              <a:buNone/>
            </a:pPr>
            <a:endParaRPr sz="2000" dirty="0"/>
          </a:p>
        </p:txBody>
      </p:sp>
      <p:pic>
        <p:nvPicPr>
          <p:cNvPr id="394" name="Google Shape;394;p43"/>
          <p:cNvPicPr preferRelativeResize="0"/>
          <p:nvPr/>
        </p:nvPicPr>
        <p:blipFill rotWithShape="1">
          <a:blip r:embed="rId3">
            <a:alphaModFix/>
          </a:blip>
          <a:srcRect/>
          <a:stretch/>
        </p:blipFill>
        <p:spPr>
          <a:xfrm>
            <a:off x="6304313" y="1652258"/>
            <a:ext cx="5324475" cy="3553483"/>
          </a:xfrm>
          <a:prstGeom prst="rect">
            <a:avLst/>
          </a:prstGeom>
          <a:noFill/>
          <a:ln>
            <a:noFill/>
          </a:ln>
        </p:spPr>
      </p:pic>
      <p:sp>
        <p:nvSpPr>
          <p:cNvPr id="395" name="Google Shape;395;p43"/>
          <p:cNvSpPr txBox="1"/>
          <p:nvPr/>
        </p:nvSpPr>
        <p:spPr>
          <a:xfrm>
            <a:off x="7683230" y="5610883"/>
            <a:ext cx="3124200" cy="1015663"/>
          </a:xfrm>
          <a:prstGeom prst="rect">
            <a:avLst/>
          </a:prstGeom>
          <a:noFill/>
          <a:ln>
            <a:noFill/>
          </a:ln>
        </p:spPr>
        <p:txBody>
          <a:bodyPr spcFirstLastPara="1" wrap="square" lIns="91425" tIns="45700" rIns="91425" bIns="45700" anchor="t" anchorCtr="0">
            <a:spAutoFit/>
          </a:bodyPr>
          <a:lstStyle/>
          <a:p>
            <a:r>
              <a:rPr lang="en-US" sz="2000" dirty="0">
                <a:solidFill>
                  <a:schemeClr val="dk1"/>
                </a:solidFill>
                <a:latin typeface="Calibri"/>
                <a:ea typeface="Calibri"/>
                <a:cs typeface="Calibri"/>
                <a:sym typeface="Calibri"/>
              </a:rPr>
              <a:t>Ultrasound is generally used as an initial test when suspicion for RAS is low.</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4"/>
          <p:cNvSpPr txBox="1">
            <a:spLocks noGrp="1"/>
          </p:cNvSpPr>
          <p:nvPr>
            <p:ph type="title"/>
          </p:nvPr>
        </p:nvSpPr>
        <p:spPr>
          <a:xfrm>
            <a:off x="1981200" y="228600"/>
            <a:ext cx="8229600" cy="990600"/>
          </a:xfrm>
          <a:prstGeom prst="rect">
            <a:avLst/>
          </a:prstGeom>
          <a:noFill/>
          <a:ln>
            <a:noFill/>
          </a:ln>
        </p:spPr>
        <p:txBody>
          <a:bodyPr spcFirstLastPara="1" wrap="square" lIns="50800" tIns="50800" rIns="50800" bIns="50800" anchor="ctr" anchorCtr="0">
            <a:noAutofit/>
          </a:bodyPr>
          <a:lstStyle/>
          <a:p>
            <a:r>
              <a:rPr lang="en-US" dirty="0"/>
              <a:t>Secondary Hypertension Etiologies</a:t>
            </a:r>
            <a:br>
              <a:rPr lang="en-US" dirty="0"/>
            </a:br>
            <a:r>
              <a:rPr lang="en-US" dirty="0"/>
              <a:t>Renovascular Hypertension</a:t>
            </a:r>
            <a:endParaRPr dirty="0"/>
          </a:p>
        </p:txBody>
      </p:sp>
      <p:pic>
        <p:nvPicPr>
          <p:cNvPr id="401" name="Google Shape;401;p44"/>
          <p:cNvPicPr preferRelativeResize="0"/>
          <p:nvPr/>
        </p:nvPicPr>
        <p:blipFill rotWithShape="1">
          <a:blip r:embed="rId3">
            <a:alphaModFix/>
          </a:blip>
          <a:srcRect t="6278" b="5054"/>
          <a:stretch/>
        </p:blipFill>
        <p:spPr>
          <a:xfrm>
            <a:off x="6705602" y="1752600"/>
            <a:ext cx="5257800" cy="3657601"/>
          </a:xfrm>
          <a:prstGeom prst="rect">
            <a:avLst/>
          </a:prstGeom>
          <a:noFill/>
          <a:ln>
            <a:noFill/>
          </a:ln>
        </p:spPr>
      </p:pic>
      <p:sp>
        <p:nvSpPr>
          <p:cNvPr id="402" name="Google Shape;402;p44"/>
          <p:cNvSpPr txBox="1"/>
          <p:nvPr/>
        </p:nvSpPr>
        <p:spPr>
          <a:xfrm>
            <a:off x="529348" y="5486401"/>
            <a:ext cx="11395954" cy="1200288"/>
          </a:xfrm>
          <a:prstGeom prst="rect">
            <a:avLst/>
          </a:prstGeom>
          <a:noFill/>
          <a:ln>
            <a:noFill/>
          </a:ln>
        </p:spPr>
        <p:txBody>
          <a:bodyPr spcFirstLastPara="1" wrap="square" lIns="91425" tIns="45700" rIns="91425" bIns="45700" anchor="t" anchorCtr="0">
            <a:spAutoFit/>
          </a:bodyPr>
          <a:lstStyle/>
          <a:p>
            <a:r>
              <a:rPr lang="en-US" sz="2400" dirty="0">
                <a:solidFill>
                  <a:schemeClr val="dk1"/>
                </a:solidFill>
                <a:latin typeface="Calibri"/>
                <a:ea typeface="Calibri"/>
                <a:cs typeface="Calibri"/>
                <a:sym typeface="Calibri"/>
              </a:rPr>
              <a:t>Reconstructed CT angiography showing a small area of right renal artery stenosis (A), a much more significant area of left renal artery stenosis (B) with loss of renal parenchyma and mild narrowing of the abdominal aorta (C).</a:t>
            </a:r>
            <a:endParaRPr dirty="0"/>
          </a:p>
        </p:txBody>
      </p:sp>
      <p:sp>
        <p:nvSpPr>
          <p:cNvPr id="403" name="Google Shape;403;p44"/>
          <p:cNvSpPr txBox="1">
            <a:spLocks noGrp="1"/>
          </p:cNvSpPr>
          <p:nvPr>
            <p:ph type="body" idx="1"/>
          </p:nvPr>
        </p:nvSpPr>
        <p:spPr>
          <a:xfrm>
            <a:off x="228598" y="1752600"/>
            <a:ext cx="6201385" cy="3048000"/>
          </a:xfrm>
          <a:prstGeom prst="rect">
            <a:avLst/>
          </a:prstGeom>
          <a:noFill/>
          <a:ln>
            <a:noFill/>
          </a:ln>
        </p:spPr>
        <p:txBody>
          <a:bodyPr spcFirstLastPara="1" wrap="square" lIns="50800" tIns="50800" rIns="50800" bIns="50800" anchor="t" anchorCtr="0">
            <a:noAutofit/>
          </a:bodyPr>
          <a:lstStyle/>
          <a:p>
            <a:pPr marL="252411" indent="-234950">
              <a:spcBef>
                <a:spcPts val="0"/>
              </a:spcBef>
            </a:pPr>
            <a:r>
              <a:rPr lang="en-US" dirty="0"/>
              <a:t>Diagnostic studies:</a:t>
            </a:r>
            <a:endParaRPr sz="2000" dirty="0"/>
          </a:p>
          <a:p>
            <a:pPr marL="971550" lvl="1" indent="-514350">
              <a:spcBef>
                <a:spcPts val="600"/>
              </a:spcBef>
              <a:buFont typeface="Calibri"/>
              <a:buAutoNum type="arabicPeriod" startAt="2"/>
            </a:pPr>
            <a:r>
              <a:rPr lang="en-US" dirty="0"/>
              <a:t>CT or MR angiography of renal vessels: more expensive but non-invasive; dye load, radiation exposure with CT.</a:t>
            </a:r>
            <a:endParaRPr dirty="0"/>
          </a:p>
          <a:p>
            <a:pPr marL="692150" lvl="1" indent="-107950">
              <a:spcBef>
                <a:spcPts val="600"/>
              </a:spcBef>
              <a:buSzPts val="2000"/>
              <a:buNone/>
            </a:pPr>
            <a:endParaRPr sz="2000" dirty="0"/>
          </a:p>
          <a:p>
            <a:pPr marL="342900" indent="-139700">
              <a:spcBef>
                <a:spcPts val="600"/>
              </a:spcBef>
              <a:buNone/>
            </a:pP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5"/>
          <p:cNvSpPr txBox="1">
            <a:spLocks noGrp="1"/>
          </p:cNvSpPr>
          <p:nvPr>
            <p:ph type="title"/>
          </p:nvPr>
        </p:nvSpPr>
        <p:spPr>
          <a:xfrm>
            <a:off x="894945" y="76200"/>
            <a:ext cx="9951395" cy="990600"/>
          </a:xfrm>
          <a:prstGeom prst="rect">
            <a:avLst/>
          </a:prstGeom>
          <a:noFill/>
          <a:ln>
            <a:noFill/>
          </a:ln>
        </p:spPr>
        <p:txBody>
          <a:bodyPr spcFirstLastPara="1" wrap="square" lIns="50800" tIns="50800" rIns="50800" bIns="50800" anchor="ctr" anchorCtr="0">
            <a:noAutofit/>
          </a:bodyPr>
          <a:lstStyle/>
          <a:p>
            <a:br>
              <a:rPr lang="en-US" dirty="0"/>
            </a:br>
            <a:r>
              <a:rPr lang="en-US" dirty="0"/>
              <a:t>Secondary Hypertension Etiologies Renovascular Hypertension Dx</a:t>
            </a:r>
            <a:endParaRPr dirty="0"/>
          </a:p>
        </p:txBody>
      </p:sp>
      <p:sp>
        <p:nvSpPr>
          <p:cNvPr id="409" name="Google Shape;409;p45"/>
          <p:cNvSpPr txBox="1">
            <a:spLocks noGrp="1"/>
          </p:cNvSpPr>
          <p:nvPr>
            <p:ph type="body" idx="1"/>
          </p:nvPr>
        </p:nvSpPr>
        <p:spPr>
          <a:xfrm>
            <a:off x="428017" y="1657350"/>
            <a:ext cx="11303540" cy="5048250"/>
          </a:xfrm>
          <a:prstGeom prst="rect">
            <a:avLst/>
          </a:prstGeom>
          <a:noFill/>
          <a:ln>
            <a:noFill/>
          </a:ln>
        </p:spPr>
        <p:txBody>
          <a:bodyPr spcFirstLastPara="1" wrap="square" lIns="50800" tIns="50800" rIns="50800" bIns="50800" anchor="t" anchorCtr="0">
            <a:noAutofit/>
          </a:bodyPr>
          <a:lstStyle/>
          <a:p>
            <a:pPr marL="531812" indent="-514350">
              <a:spcBef>
                <a:spcPts val="0"/>
              </a:spcBef>
              <a:buFont typeface="Calibri"/>
              <a:buAutoNum type="arabicPeriod" startAt="3"/>
            </a:pPr>
            <a:r>
              <a:rPr lang="en-US" dirty="0"/>
              <a:t>Angiogram of the abdominal aorta and renal arteries: </a:t>
            </a:r>
            <a:r>
              <a:rPr lang="en-US" b="1" dirty="0"/>
              <a:t>Gold Standard</a:t>
            </a:r>
            <a:r>
              <a:rPr lang="en-US" dirty="0"/>
              <a:t>. Invasive, dye load, but can also intervene at the same time.</a:t>
            </a:r>
            <a:endParaRPr dirty="0"/>
          </a:p>
          <a:p>
            <a:pPr marL="342900" indent="-139700">
              <a:spcBef>
                <a:spcPts val="600"/>
              </a:spcBef>
              <a:buNone/>
            </a:pPr>
            <a:endParaRPr dirty="0"/>
          </a:p>
        </p:txBody>
      </p:sp>
      <p:pic>
        <p:nvPicPr>
          <p:cNvPr id="410" name="Google Shape;410;p45"/>
          <p:cNvPicPr preferRelativeResize="0"/>
          <p:nvPr/>
        </p:nvPicPr>
        <p:blipFill rotWithShape="1">
          <a:blip r:embed="rId3">
            <a:alphaModFix/>
          </a:blip>
          <a:srcRect/>
          <a:stretch/>
        </p:blipFill>
        <p:spPr>
          <a:xfrm>
            <a:off x="1709736" y="3397389"/>
            <a:ext cx="4191000" cy="2305050"/>
          </a:xfrm>
          <a:prstGeom prst="rect">
            <a:avLst/>
          </a:prstGeom>
          <a:noFill/>
          <a:ln>
            <a:noFill/>
          </a:ln>
        </p:spPr>
      </p:pic>
      <p:pic>
        <p:nvPicPr>
          <p:cNvPr id="411" name="Google Shape;411;p45"/>
          <p:cNvPicPr preferRelativeResize="0"/>
          <p:nvPr/>
        </p:nvPicPr>
        <p:blipFill rotWithShape="1">
          <a:blip r:embed="rId4">
            <a:alphaModFix/>
          </a:blip>
          <a:srcRect l="11013"/>
          <a:stretch/>
        </p:blipFill>
        <p:spPr>
          <a:xfrm>
            <a:off x="6848940" y="2707846"/>
            <a:ext cx="4462464" cy="3592941"/>
          </a:xfrm>
          <a:prstGeom prst="rect">
            <a:avLst/>
          </a:prstGeom>
          <a:noFill/>
          <a:ln>
            <a:noFill/>
          </a:ln>
        </p:spPr>
      </p:pic>
      <p:sp>
        <p:nvSpPr>
          <p:cNvPr id="412" name="Google Shape;412;p45"/>
          <p:cNvSpPr txBox="1"/>
          <p:nvPr/>
        </p:nvSpPr>
        <p:spPr>
          <a:xfrm>
            <a:off x="1709736" y="5997714"/>
            <a:ext cx="4124327" cy="707886"/>
          </a:xfrm>
          <a:prstGeom prst="rect">
            <a:avLst/>
          </a:prstGeom>
          <a:noFill/>
          <a:ln>
            <a:noFill/>
          </a:ln>
        </p:spPr>
        <p:txBody>
          <a:bodyPr spcFirstLastPara="1" wrap="square" lIns="91425" tIns="45700" rIns="91425" bIns="45700" anchor="t" anchorCtr="0">
            <a:spAutoFit/>
          </a:bodyPr>
          <a:lstStyle/>
          <a:p>
            <a:r>
              <a:rPr lang="en-US" sz="2000" dirty="0">
                <a:solidFill>
                  <a:schemeClr val="dk1"/>
                </a:solidFill>
                <a:latin typeface="Calibri"/>
                <a:ea typeface="Calibri"/>
                <a:cs typeface="Calibri"/>
                <a:sym typeface="Calibri"/>
              </a:rPr>
              <a:t>Classic “string of pearls” appearance of RAS 2/2 fibromuscular dysplasia.</a:t>
            </a:r>
            <a:endParaRPr dirty="0"/>
          </a:p>
        </p:txBody>
      </p:sp>
      <p:sp>
        <p:nvSpPr>
          <p:cNvPr id="413" name="Google Shape;413;p45"/>
          <p:cNvSpPr txBox="1"/>
          <p:nvPr/>
        </p:nvSpPr>
        <p:spPr>
          <a:xfrm>
            <a:off x="7131798" y="6305490"/>
            <a:ext cx="4179606" cy="400110"/>
          </a:xfrm>
          <a:prstGeom prst="rect">
            <a:avLst/>
          </a:prstGeom>
          <a:noFill/>
          <a:ln>
            <a:noFill/>
          </a:ln>
        </p:spPr>
        <p:txBody>
          <a:bodyPr spcFirstLastPara="1" wrap="square" lIns="91425" tIns="45700" rIns="91425" bIns="45700" anchor="t" anchorCtr="0">
            <a:spAutoFit/>
          </a:bodyPr>
          <a:lstStyle/>
          <a:p>
            <a:r>
              <a:rPr lang="en-US" sz="2000" dirty="0">
                <a:solidFill>
                  <a:schemeClr val="dk1"/>
                </a:solidFill>
                <a:latin typeface="Calibri"/>
                <a:ea typeface="Calibri"/>
                <a:cs typeface="Calibri"/>
                <a:sym typeface="Calibri"/>
              </a:rPr>
              <a:t>RAS short arrow, aneurysm long arrow</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pic>
        <p:nvPicPr>
          <p:cNvPr id="418" name="Google Shape;418;p46" descr=" ">
            <a:hlinkClick r:id="rId3"/>
          </p:cNvPr>
          <p:cNvPicPr preferRelativeResize="0"/>
          <p:nvPr/>
        </p:nvPicPr>
        <p:blipFill rotWithShape="1">
          <a:blip r:embed="rId4">
            <a:alphaModFix/>
          </a:blip>
          <a:srcRect/>
          <a:stretch/>
        </p:blipFill>
        <p:spPr>
          <a:xfrm>
            <a:off x="4361750" y="2254624"/>
            <a:ext cx="3449638" cy="4572000"/>
          </a:xfrm>
          <a:prstGeom prst="rect">
            <a:avLst/>
          </a:prstGeom>
          <a:noFill/>
          <a:ln>
            <a:noFill/>
          </a:ln>
        </p:spPr>
      </p:pic>
      <p:pic>
        <p:nvPicPr>
          <p:cNvPr id="419" name="Google Shape;419;p46" descr=" ">
            <a:hlinkClick r:id="rId3"/>
          </p:cNvPr>
          <p:cNvPicPr preferRelativeResize="0"/>
          <p:nvPr/>
        </p:nvPicPr>
        <p:blipFill rotWithShape="1">
          <a:blip r:embed="rId5">
            <a:alphaModFix/>
          </a:blip>
          <a:srcRect/>
          <a:stretch/>
        </p:blipFill>
        <p:spPr>
          <a:xfrm>
            <a:off x="7766050" y="152400"/>
            <a:ext cx="2901950" cy="5715000"/>
          </a:xfrm>
          <a:prstGeom prst="rect">
            <a:avLst/>
          </a:prstGeom>
          <a:noFill/>
          <a:ln>
            <a:noFill/>
          </a:ln>
        </p:spPr>
      </p:pic>
      <p:sp>
        <p:nvSpPr>
          <p:cNvPr id="420" name="Google Shape;420;p46"/>
          <p:cNvSpPr txBox="1"/>
          <p:nvPr/>
        </p:nvSpPr>
        <p:spPr>
          <a:xfrm>
            <a:off x="1847104" y="5423665"/>
            <a:ext cx="2720975" cy="461665"/>
          </a:xfrm>
          <a:prstGeom prst="rect">
            <a:avLst/>
          </a:prstGeom>
          <a:noFill/>
          <a:ln>
            <a:noFill/>
          </a:ln>
        </p:spPr>
        <p:txBody>
          <a:bodyPr spcFirstLastPara="1" wrap="square" lIns="91425" tIns="45700" rIns="91425" bIns="45700" anchor="t" anchorCtr="0">
            <a:spAutoFit/>
          </a:bodyPr>
          <a:lstStyle/>
          <a:p>
            <a:r>
              <a:rPr lang="en-US" sz="1200">
                <a:solidFill>
                  <a:schemeClr val="dk1"/>
                </a:solidFill>
              </a:rPr>
              <a:t>Fibromuscular Dysplasia, before</a:t>
            </a:r>
            <a:endParaRPr/>
          </a:p>
          <a:p>
            <a:r>
              <a:rPr lang="en-US" sz="1200">
                <a:solidFill>
                  <a:schemeClr val="dk1"/>
                </a:solidFill>
              </a:rPr>
              <a:t>and after PTRA</a:t>
            </a:r>
            <a:endParaRPr/>
          </a:p>
        </p:txBody>
      </p:sp>
      <p:sp>
        <p:nvSpPr>
          <p:cNvPr id="421" name="Google Shape;421;p46"/>
          <p:cNvSpPr txBox="1"/>
          <p:nvPr/>
        </p:nvSpPr>
        <p:spPr>
          <a:xfrm>
            <a:off x="7766050" y="5899449"/>
            <a:ext cx="2901950" cy="461665"/>
          </a:xfrm>
          <a:prstGeom prst="rect">
            <a:avLst/>
          </a:prstGeom>
          <a:noFill/>
          <a:ln>
            <a:noFill/>
          </a:ln>
        </p:spPr>
        <p:txBody>
          <a:bodyPr spcFirstLastPara="1" wrap="square" lIns="91425" tIns="45700" rIns="91425" bIns="45700" anchor="t" anchorCtr="0">
            <a:spAutoFit/>
          </a:bodyPr>
          <a:lstStyle/>
          <a:p>
            <a:r>
              <a:rPr lang="en-US" sz="1200">
                <a:solidFill>
                  <a:schemeClr val="dk1"/>
                </a:solidFill>
              </a:rPr>
              <a:t>Atherosclerotic RAS before and after stent</a:t>
            </a:r>
            <a:endParaRPr/>
          </a:p>
        </p:txBody>
      </p:sp>
      <p:sp>
        <p:nvSpPr>
          <p:cNvPr id="422" name="Google Shape;422;p46"/>
          <p:cNvSpPr txBox="1"/>
          <p:nvPr/>
        </p:nvSpPr>
        <p:spPr>
          <a:xfrm>
            <a:off x="1676400" y="6491289"/>
            <a:ext cx="184150" cy="276959"/>
          </a:xfrm>
          <a:prstGeom prst="rect">
            <a:avLst/>
          </a:prstGeom>
          <a:noFill/>
          <a:ln>
            <a:noFill/>
          </a:ln>
        </p:spPr>
        <p:txBody>
          <a:bodyPr spcFirstLastPara="1" wrap="square" lIns="91425" tIns="45700" rIns="91425" bIns="45700" anchor="t" anchorCtr="0">
            <a:spAutoFit/>
          </a:bodyPr>
          <a:lstStyle/>
          <a:p>
            <a:endParaRPr sz="1200">
              <a:solidFill>
                <a:schemeClr val="dk1"/>
              </a:solidFill>
            </a:endParaRPr>
          </a:p>
        </p:txBody>
      </p:sp>
      <p:sp>
        <p:nvSpPr>
          <p:cNvPr id="423" name="Google Shape;423;p46"/>
          <p:cNvSpPr txBox="1"/>
          <p:nvPr/>
        </p:nvSpPr>
        <p:spPr>
          <a:xfrm>
            <a:off x="1676400" y="6491289"/>
            <a:ext cx="184150" cy="276959"/>
          </a:xfrm>
          <a:prstGeom prst="rect">
            <a:avLst/>
          </a:prstGeom>
          <a:noFill/>
          <a:ln>
            <a:noFill/>
          </a:ln>
        </p:spPr>
        <p:txBody>
          <a:bodyPr spcFirstLastPara="1" wrap="square" lIns="91425" tIns="45700" rIns="91425" bIns="45700" anchor="t" anchorCtr="0">
            <a:spAutoFit/>
          </a:bodyPr>
          <a:lstStyle/>
          <a:p>
            <a:endParaRPr sz="1200">
              <a:solidFill>
                <a:schemeClr val="dk1"/>
              </a:solidFill>
            </a:endParaRPr>
          </a:p>
        </p:txBody>
      </p:sp>
      <p:sp>
        <p:nvSpPr>
          <p:cNvPr id="424" name="Google Shape;424;p46"/>
          <p:cNvSpPr txBox="1"/>
          <p:nvPr/>
        </p:nvSpPr>
        <p:spPr>
          <a:xfrm>
            <a:off x="1431925" y="6361113"/>
            <a:ext cx="3206750" cy="461624"/>
          </a:xfrm>
          <a:prstGeom prst="rect">
            <a:avLst/>
          </a:prstGeom>
          <a:noFill/>
          <a:ln>
            <a:noFill/>
          </a:ln>
        </p:spPr>
        <p:txBody>
          <a:bodyPr spcFirstLastPara="1" wrap="square" lIns="91425" tIns="45700" rIns="91425" bIns="45700" anchor="t" anchorCtr="0">
            <a:spAutoFit/>
          </a:bodyPr>
          <a:lstStyle/>
          <a:p>
            <a:r>
              <a:rPr lang="en-US" sz="1200">
                <a:solidFill>
                  <a:schemeClr val="dk1"/>
                </a:solidFill>
              </a:rPr>
              <a:t>Safian &amp; Textor. NEJM 344:6;</a:t>
            </a:r>
            <a:endParaRPr/>
          </a:p>
          <a:p>
            <a:endParaRPr sz="1200">
              <a:solidFill>
                <a:schemeClr val="dk1"/>
              </a:solidFill>
            </a:endParaRPr>
          </a:p>
        </p:txBody>
      </p:sp>
      <p:pic>
        <p:nvPicPr>
          <p:cNvPr id="425" name="Google Shape;425;p46"/>
          <p:cNvPicPr preferRelativeResize="0"/>
          <p:nvPr/>
        </p:nvPicPr>
        <p:blipFill rotWithShape="1">
          <a:blip r:embed="rId6">
            <a:alphaModFix/>
          </a:blip>
          <a:srcRect l="7000" t="3398" r="5999"/>
          <a:stretch/>
        </p:blipFill>
        <p:spPr>
          <a:xfrm>
            <a:off x="1649506" y="228600"/>
            <a:ext cx="3517913" cy="25146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47"/>
          <p:cNvSpPr txBox="1">
            <a:spLocks noGrp="1"/>
          </p:cNvSpPr>
          <p:nvPr>
            <p:ph type="title"/>
          </p:nvPr>
        </p:nvSpPr>
        <p:spPr>
          <a:xfrm>
            <a:off x="242100" y="163749"/>
            <a:ext cx="6868820" cy="1143000"/>
          </a:xfrm>
          <a:prstGeom prst="rect">
            <a:avLst/>
          </a:prstGeom>
          <a:noFill/>
          <a:ln>
            <a:noFill/>
          </a:ln>
        </p:spPr>
        <p:txBody>
          <a:bodyPr spcFirstLastPara="1" wrap="square" lIns="50800" tIns="50800" rIns="50800" bIns="50800" anchor="ctr" anchorCtr="0">
            <a:noAutofit/>
          </a:bodyPr>
          <a:lstStyle/>
          <a:p>
            <a:r>
              <a:rPr lang="en-US" dirty="0"/>
              <a:t>Secondary HTN Etiologies</a:t>
            </a:r>
            <a:endParaRPr dirty="0"/>
          </a:p>
        </p:txBody>
      </p:sp>
      <p:sp>
        <p:nvSpPr>
          <p:cNvPr id="431" name="Google Shape;431;p47"/>
          <p:cNvSpPr txBox="1">
            <a:spLocks noGrp="1"/>
          </p:cNvSpPr>
          <p:nvPr>
            <p:ph type="body" idx="1"/>
          </p:nvPr>
        </p:nvSpPr>
        <p:spPr>
          <a:xfrm>
            <a:off x="516375" y="1609927"/>
            <a:ext cx="7227300" cy="2251800"/>
          </a:xfrm>
          <a:prstGeom prst="rect">
            <a:avLst/>
          </a:prstGeom>
          <a:noFill/>
          <a:ln>
            <a:noFill/>
          </a:ln>
        </p:spPr>
        <p:txBody>
          <a:bodyPr spcFirstLastPara="1" wrap="square" lIns="50800" tIns="50800" rIns="50800" bIns="50800" anchor="t" anchorCtr="0">
            <a:noAutofit/>
          </a:bodyPr>
          <a:lstStyle/>
          <a:p>
            <a:pPr marL="514350" indent="-514350">
              <a:lnSpc>
                <a:spcPct val="90000"/>
              </a:lnSpc>
              <a:spcBef>
                <a:spcPts val="0"/>
              </a:spcBef>
              <a:buFont typeface="Calibri"/>
              <a:buAutoNum type="arabicPeriod" startAt="3"/>
            </a:pPr>
            <a:r>
              <a:rPr lang="en-US" b="1" dirty="0">
                <a:latin typeface="Calibri"/>
                <a:ea typeface="Calibri"/>
                <a:cs typeface="Calibri"/>
                <a:sym typeface="Calibri"/>
              </a:rPr>
              <a:t>Coarctation of the aorta</a:t>
            </a:r>
            <a:endParaRPr b="1" dirty="0">
              <a:latin typeface="Calibri"/>
              <a:ea typeface="Calibri"/>
              <a:cs typeface="Calibri"/>
              <a:sym typeface="Calibri"/>
            </a:endParaRPr>
          </a:p>
          <a:p>
            <a:pPr marL="692150" lvl="1" indent="-234950">
              <a:spcBef>
                <a:spcPts val="600"/>
              </a:spcBef>
            </a:pPr>
            <a:r>
              <a:rPr lang="en-US" dirty="0"/>
              <a:t>An uncommon cause of secondary hypertension.</a:t>
            </a:r>
            <a:endParaRPr dirty="0"/>
          </a:p>
          <a:p>
            <a:pPr marL="782637" lvl="1" indent="-325437">
              <a:spcBef>
                <a:spcPts val="1200"/>
              </a:spcBef>
            </a:pPr>
            <a:r>
              <a:rPr lang="en-US" dirty="0"/>
              <a:t>Is usually discovered in</a:t>
            </a:r>
            <a:endParaRPr dirty="0"/>
          </a:p>
        </p:txBody>
      </p:sp>
      <p:pic>
        <p:nvPicPr>
          <p:cNvPr id="432" name="Google Shape;432;p47"/>
          <p:cNvPicPr preferRelativeResize="0"/>
          <p:nvPr/>
        </p:nvPicPr>
        <p:blipFill rotWithShape="1">
          <a:blip r:embed="rId3">
            <a:alphaModFix/>
          </a:blip>
          <a:srcRect l="49358" r="14920" b="51257"/>
          <a:stretch/>
        </p:blipFill>
        <p:spPr>
          <a:xfrm>
            <a:off x="7110920" y="350197"/>
            <a:ext cx="4795736" cy="3589506"/>
          </a:xfrm>
          <a:prstGeom prst="rect">
            <a:avLst/>
          </a:prstGeom>
          <a:noFill/>
          <a:ln>
            <a:noFill/>
          </a:ln>
        </p:spPr>
      </p:pic>
      <p:sp>
        <p:nvSpPr>
          <p:cNvPr id="433" name="Google Shape;433;p47"/>
          <p:cNvSpPr txBox="1"/>
          <p:nvPr/>
        </p:nvSpPr>
        <p:spPr>
          <a:xfrm>
            <a:off x="516375" y="3567122"/>
            <a:ext cx="9968700" cy="2462182"/>
          </a:xfrm>
          <a:prstGeom prst="rect">
            <a:avLst/>
          </a:prstGeom>
          <a:noFill/>
          <a:ln>
            <a:noFill/>
          </a:ln>
        </p:spPr>
        <p:txBody>
          <a:bodyPr spcFirstLastPara="1" wrap="square" lIns="91425" tIns="91425" rIns="91425" bIns="91425" anchor="ctr" anchorCtr="0">
            <a:spAutoFit/>
          </a:bodyPr>
          <a:lstStyle/>
          <a:p>
            <a:pPr marL="457200">
              <a:spcBef>
                <a:spcPts val="1200"/>
              </a:spcBef>
            </a:pPr>
            <a:r>
              <a:rPr lang="en-US" sz="3200" dirty="0">
                <a:solidFill>
                  <a:schemeClr val="dk1"/>
                </a:solidFill>
                <a:latin typeface="Calibri"/>
                <a:ea typeface="Calibri"/>
                <a:cs typeface="Calibri"/>
                <a:sym typeface="Calibri"/>
              </a:rPr>
              <a:t>childhood, as it is a congenital anomaly of the aorta, resulting in narrowing after the take-off of the great vessels that go to the head and upper extremities.</a:t>
            </a:r>
            <a:endParaRPr sz="3200" dirty="0">
              <a:solidFill>
                <a:schemeClr val="dk1"/>
              </a:solidFill>
              <a:latin typeface="Calibri"/>
              <a:ea typeface="Calibri"/>
              <a:cs typeface="Calibri"/>
              <a:sym typeface="Calibri"/>
            </a:endParaRPr>
          </a:p>
          <a:p>
            <a:pPr marL="692150" lvl="1" indent="-234950">
              <a:spcBef>
                <a:spcPts val="1200"/>
              </a:spcBef>
              <a:buClr>
                <a:schemeClr val="dk1"/>
              </a:buClr>
              <a:buSzPts val="3200"/>
              <a:buChar char="–"/>
            </a:pPr>
            <a:r>
              <a:rPr lang="en-US" sz="3200" dirty="0">
                <a:solidFill>
                  <a:schemeClr val="dk1"/>
                </a:solidFill>
                <a:latin typeface="Calibri"/>
                <a:ea typeface="Calibri"/>
                <a:cs typeface="Calibri"/>
                <a:sym typeface="Calibri"/>
              </a:rPr>
              <a:t>ECHO diagnostic in children, CTA in adults.</a:t>
            </a: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48"/>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Secondary HTN Etiologies</a:t>
            </a:r>
            <a:endParaRPr/>
          </a:p>
        </p:txBody>
      </p:sp>
      <p:pic>
        <p:nvPicPr>
          <p:cNvPr id="441" name="Google Shape;441;p48" descr="Coarctation of the aorta: MedlinePlus Medical Encyclopedia"/>
          <p:cNvPicPr preferRelativeResize="0"/>
          <p:nvPr/>
        </p:nvPicPr>
        <p:blipFill rotWithShape="1">
          <a:blip r:embed="rId3">
            <a:alphaModFix/>
          </a:blip>
          <a:srcRect/>
          <a:stretch/>
        </p:blipFill>
        <p:spPr>
          <a:xfrm>
            <a:off x="6095999" y="1631830"/>
            <a:ext cx="5644050" cy="4515225"/>
          </a:xfrm>
          <a:prstGeom prst="rect">
            <a:avLst/>
          </a:prstGeom>
          <a:noFill/>
          <a:ln>
            <a:noFill/>
          </a:ln>
        </p:spPr>
      </p:pic>
      <p:sp>
        <p:nvSpPr>
          <p:cNvPr id="440" name="Google Shape;440;p48"/>
          <p:cNvSpPr txBox="1">
            <a:spLocks noGrp="1"/>
          </p:cNvSpPr>
          <p:nvPr>
            <p:ph type="body" idx="1"/>
          </p:nvPr>
        </p:nvSpPr>
        <p:spPr>
          <a:xfrm>
            <a:off x="262646" y="1631830"/>
            <a:ext cx="5833353" cy="5524500"/>
          </a:xfrm>
          <a:prstGeom prst="rect">
            <a:avLst/>
          </a:prstGeom>
          <a:noFill/>
          <a:ln>
            <a:noFill/>
          </a:ln>
        </p:spPr>
        <p:txBody>
          <a:bodyPr spcFirstLastPara="1" wrap="square" lIns="50800" tIns="50800" rIns="50800" bIns="50800" anchor="t" anchorCtr="0">
            <a:noAutofit/>
          </a:bodyPr>
          <a:lstStyle/>
          <a:p>
            <a:pPr marL="514350" indent="-514350">
              <a:lnSpc>
                <a:spcPct val="90000"/>
              </a:lnSpc>
              <a:spcBef>
                <a:spcPts val="0"/>
              </a:spcBef>
              <a:buFont typeface="Calibri"/>
              <a:buAutoNum type="arabicPeriod" startAt="3"/>
            </a:pPr>
            <a:r>
              <a:rPr lang="en-US" b="1" dirty="0">
                <a:latin typeface="Calibri"/>
                <a:ea typeface="Calibri"/>
                <a:cs typeface="Calibri"/>
                <a:sym typeface="Calibri"/>
              </a:rPr>
              <a:t>Coarctation of the aorta signs: </a:t>
            </a:r>
          </a:p>
          <a:p>
            <a:pPr indent="-457200">
              <a:lnSpc>
                <a:spcPct val="90000"/>
              </a:lnSpc>
              <a:spcBef>
                <a:spcPts val="0"/>
              </a:spcBef>
            </a:pPr>
            <a:r>
              <a:rPr lang="en-US" dirty="0"/>
              <a:t>UE pulses and BP are higher than LE pulses or BP</a:t>
            </a:r>
          </a:p>
          <a:p>
            <a:pPr indent="-457200">
              <a:lnSpc>
                <a:spcPct val="90000"/>
              </a:lnSpc>
              <a:spcBef>
                <a:spcPts val="0"/>
              </a:spcBef>
            </a:pPr>
            <a:r>
              <a:rPr lang="en-US" dirty="0"/>
              <a:t>There is an audible bruit in the chest </a:t>
            </a:r>
          </a:p>
          <a:p>
            <a:pPr indent="-457200">
              <a:lnSpc>
                <a:spcPct val="90000"/>
              </a:lnSpc>
              <a:spcBef>
                <a:spcPts val="0"/>
              </a:spcBef>
            </a:pPr>
            <a:r>
              <a:rPr lang="en-US" dirty="0"/>
              <a:t>Rib notching is noted on CXR</a:t>
            </a:r>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9"/>
          <p:cNvSpPr txBox="1">
            <a:spLocks noGrp="1"/>
          </p:cNvSpPr>
          <p:nvPr>
            <p:ph type="title"/>
          </p:nvPr>
        </p:nvSpPr>
        <p:spPr>
          <a:xfrm>
            <a:off x="6353176" y="304800"/>
            <a:ext cx="3857625" cy="1371600"/>
          </a:xfrm>
          <a:prstGeom prst="rect">
            <a:avLst/>
          </a:prstGeom>
          <a:noFill/>
          <a:ln>
            <a:noFill/>
          </a:ln>
        </p:spPr>
        <p:txBody>
          <a:bodyPr spcFirstLastPara="1" wrap="square" lIns="50800" tIns="50800" rIns="50800" bIns="50800" anchor="ctr" anchorCtr="0">
            <a:noAutofit/>
          </a:bodyPr>
          <a:lstStyle/>
          <a:p>
            <a:r>
              <a:rPr lang="en-US"/>
              <a:t>Coarctation of the Aorta</a:t>
            </a:r>
            <a:endParaRPr/>
          </a:p>
        </p:txBody>
      </p:sp>
      <p:pic>
        <p:nvPicPr>
          <p:cNvPr id="447" name="Google Shape;447;p49" descr=" ">
            <a:hlinkClick r:id="rId3"/>
          </p:cNvPr>
          <p:cNvPicPr preferRelativeResize="0">
            <a:picLocks noGrp="1"/>
          </p:cNvPicPr>
          <p:nvPr>
            <p:ph type="body" idx="2"/>
          </p:nvPr>
        </p:nvPicPr>
        <p:blipFill rotWithShape="1">
          <a:blip r:embed="rId4">
            <a:alphaModFix/>
          </a:blip>
          <a:srcRect/>
          <a:stretch/>
        </p:blipFill>
        <p:spPr>
          <a:xfrm>
            <a:off x="1581150" y="207963"/>
            <a:ext cx="4972050" cy="6026150"/>
          </a:xfrm>
          <a:prstGeom prst="rect">
            <a:avLst/>
          </a:prstGeom>
          <a:noFill/>
          <a:ln>
            <a:noFill/>
          </a:ln>
        </p:spPr>
      </p:pic>
      <p:sp>
        <p:nvSpPr>
          <p:cNvPr id="448" name="Google Shape;448;p49"/>
          <p:cNvSpPr txBox="1"/>
          <p:nvPr/>
        </p:nvSpPr>
        <p:spPr>
          <a:xfrm>
            <a:off x="2041525" y="6208714"/>
            <a:ext cx="4311650" cy="276959"/>
          </a:xfrm>
          <a:prstGeom prst="rect">
            <a:avLst/>
          </a:prstGeom>
          <a:noFill/>
          <a:ln>
            <a:noFill/>
          </a:ln>
        </p:spPr>
        <p:txBody>
          <a:bodyPr spcFirstLastPara="1" wrap="square" lIns="91425" tIns="45700" rIns="91425" bIns="45700" anchor="t" anchorCtr="0">
            <a:spAutoFit/>
          </a:bodyPr>
          <a:lstStyle/>
          <a:p>
            <a:r>
              <a:rPr lang="en-US" sz="1200">
                <a:solidFill>
                  <a:schemeClr val="dk1"/>
                </a:solidFill>
              </a:rPr>
              <a:t>Brickner, et al. NEJM 2000;342:256-263 </a:t>
            </a:r>
            <a:endParaRPr/>
          </a:p>
        </p:txBody>
      </p:sp>
      <p:pic>
        <p:nvPicPr>
          <p:cNvPr id="449" name="Google Shape;449;p49"/>
          <p:cNvPicPr preferRelativeResize="0"/>
          <p:nvPr/>
        </p:nvPicPr>
        <p:blipFill rotWithShape="1">
          <a:blip r:embed="rId5">
            <a:alphaModFix/>
          </a:blip>
          <a:srcRect r="9453"/>
          <a:stretch/>
        </p:blipFill>
        <p:spPr>
          <a:xfrm>
            <a:off x="6810375" y="1771690"/>
            <a:ext cx="4191000" cy="3359804"/>
          </a:xfrm>
          <a:prstGeom prst="rect">
            <a:avLst/>
          </a:prstGeom>
          <a:noFill/>
          <a:ln>
            <a:noFill/>
          </a:ln>
        </p:spPr>
      </p:pic>
      <p:sp>
        <p:nvSpPr>
          <p:cNvPr id="450" name="Google Shape;450;p49"/>
          <p:cNvSpPr txBox="1"/>
          <p:nvPr/>
        </p:nvSpPr>
        <p:spPr>
          <a:xfrm>
            <a:off x="6943575" y="5226300"/>
            <a:ext cx="4057800" cy="1631700"/>
          </a:xfrm>
          <a:prstGeom prst="rect">
            <a:avLst/>
          </a:prstGeom>
          <a:noFill/>
          <a:ln>
            <a:noFill/>
          </a:ln>
        </p:spPr>
        <p:txBody>
          <a:bodyPr spcFirstLastPara="1" wrap="square" lIns="91425" tIns="45700" rIns="91425" bIns="45700" anchor="t" anchorCtr="0">
            <a:spAutoFit/>
          </a:bodyPr>
          <a:lstStyle/>
          <a:p>
            <a:r>
              <a:rPr lang="en-US" sz="2000" dirty="0">
                <a:solidFill>
                  <a:schemeClr val="dk1"/>
                </a:solidFill>
                <a:latin typeface="Calibri"/>
                <a:ea typeface="Calibri"/>
                <a:cs typeface="Calibri"/>
                <a:sym typeface="Calibri"/>
              </a:rPr>
              <a:t>Inferior rib notching- </a:t>
            </a:r>
            <a:r>
              <a:rPr lang="en-US" sz="2000" dirty="0" err="1">
                <a:solidFill>
                  <a:schemeClr val="dk1"/>
                </a:solidFill>
                <a:latin typeface="Calibri"/>
                <a:ea typeface="Calibri"/>
                <a:cs typeface="Calibri"/>
                <a:sym typeface="Calibri"/>
              </a:rPr>
              <a:t>Roesler</a:t>
            </a:r>
            <a:r>
              <a:rPr lang="en-US" sz="2000" dirty="0">
                <a:solidFill>
                  <a:schemeClr val="dk1"/>
                </a:solidFill>
                <a:latin typeface="Calibri"/>
                <a:ea typeface="Calibri"/>
                <a:cs typeface="Calibri"/>
                <a:sym typeface="Calibri"/>
              </a:rPr>
              <a:t> sign due to dilated intercostal collateral vessels which form to bypass the coarctation and supply the descending aorta</a:t>
            </a: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50"/>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Secondary HTN Etiologies</a:t>
            </a:r>
            <a:endParaRPr/>
          </a:p>
        </p:txBody>
      </p:sp>
      <p:sp>
        <p:nvSpPr>
          <p:cNvPr id="456" name="Google Shape;456;p50"/>
          <p:cNvSpPr txBox="1">
            <a:spLocks noGrp="1"/>
          </p:cNvSpPr>
          <p:nvPr>
            <p:ph type="body" idx="1"/>
          </p:nvPr>
        </p:nvSpPr>
        <p:spPr>
          <a:xfrm>
            <a:off x="434502" y="1553350"/>
            <a:ext cx="9776298" cy="5076050"/>
          </a:xfrm>
          <a:prstGeom prst="rect">
            <a:avLst/>
          </a:prstGeom>
          <a:noFill/>
          <a:ln>
            <a:noFill/>
          </a:ln>
        </p:spPr>
        <p:txBody>
          <a:bodyPr spcFirstLastPara="1" wrap="square" lIns="50800" tIns="50800" rIns="50800" bIns="50800" anchor="t" anchorCtr="0">
            <a:noAutofit/>
          </a:bodyPr>
          <a:lstStyle/>
          <a:p>
            <a:pPr marL="0" indent="0">
              <a:lnSpc>
                <a:spcPct val="90000"/>
              </a:lnSpc>
              <a:spcBef>
                <a:spcPts val="0"/>
              </a:spcBef>
              <a:buNone/>
            </a:pPr>
            <a:r>
              <a:rPr lang="en-US" b="1" dirty="0"/>
              <a:t>4. </a:t>
            </a:r>
            <a:r>
              <a:rPr lang="en-US" b="1" dirty="0">
                <a:latin typeface="Calibri"/>
                <a:ea typeface="Calibri"/>
                <a:cs typeface="Calibri"/>
                <a:sym typeface="Calibri"/>
              </a:rPr>
              <a:t>Thyroid disease</a:t>
            </a:r>
            <a:endParaRPr b="1" dirty="0">
              <a:latin typeface="Calibri"/>
              <a:ea typeface="Calibri"/>
              <a:cs typeface="Calibri"/>
              <a:sym typeface="Calibri"/>
            </a:endParaRPr>
          </a:p>
          <a:p>
            <a:pPr indent="-457200">
              <a:lnSpc>
                <a:spcPct val="90000"/>
              </a:lnSpc>
              <a:spcBef>
                <a:spcPts val="600"/>
              </a:spcBef>
            </a:pPr>
            <a:r>
              <a:rPr lang="en-US" dirty="0"/>
              <a:t>Either hypo/hyperthyroidism</a:t>
            </a:r>
          </a:p>
          <a:p>
            <a:pPr lvl="1" indent="-457200">
              <a:lnSpc>
                <a:spcPct val="90000"/>
              </a:lnSpc>
              <a:spcBef>
                <a:spcPts val="600"/>
              </a:spcBef>
            </a:pPr>
            <a:r>
              <a:rPr lang="en-US" dirty="0"/>
              <a:t>use a TSH to screen. </a:t>
            </a:r>
            <a:endParaRPr dirty="0"/>
          </a:p>
          <a:p>
            <a:pPr indent="-457200">
              <a:lnSpc>
                <a:spcPct val="90000"/>
              </a:lnSpc>
              <a:spcBef>
                <a:spcPts val="600"/>
              </a:spcBef>
            </a:pPr>
            <a:r>
              <a:rPr lang="en-US" dirty="0"/>
              <a:t> Hypothyroidism is very common, but HTN due to hypothyroidism is relatively uncommon.</a:t>
            </a:r>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51"/>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Secondary HTN Etiologies</a:t>
            </a:r>
            <a:endParaRPr/>
          </a:p>
        </p:txBody>
      </p:sp>
      <p:sp>
        <p:nvSpPr>
          <p:cNvPr id="463" name="Google Shape;463;p51"/>
          <p:cNvSpPr txBox="1">
            <a:spLocks noGrp="1"/>
          </p:cNvSpPr>
          <p:nvPr>
            <p:ph type="body" idx="1"/>
          </p:nvPr>
        </p:nvSpPr>
        <p:spPr>
          <a:xfrm>
            <a:off x="768485" y="1391055"/>
            <a:ext cx="10729609" cy="5274440"/>
          </a:xfrm>
          <a:prstGeom prst="rect">
            <a:avLst/>
          </a:prstGeom>
          <a:noFill/>
          <a:ln>
            <a:noFill/>
          </a:ln>
        </p:spPr>
        <p:txBody>
          <a:bodyPr spcFirstLastPara="1" wrap="square" lIns="50800" tIns="50800" rIns="50800" bIns="50800" anchor="t" anchorCtr="0">
            <a:noAutofit/>
          </a:bodyPr>
          <a:lstStyle/>
          <a:p>
            <a:pPr marL="514350" indent="-514350">
              <a:lnSpc>
                <a:spcPct val="90000"/>
              </a:lnSpc>
              <a:spcBef>
                <a:spcPts val="0"/>
              </a:spcBef>
              <a:buFont typeface="Calibri"/>
              <a:buAutoNum type="arabicPeriod" startAt="5"/>
            </a:pPr>
            <a:r>
              <a:rPr lang="en-US" b="1" dirty="0">
                <a:latin typeface="Calibri"/>
                <a:ea typeface="Calibri"/>
                <a:cs typeface="Calibri"/>
                <a:sym typeface="Calibri"/>
              </a:rPr>
              <a:t>Pheochromocytoma</a:t>
            </a:r>
            <a:endParaRPr b="1" dirty="0">
              <a:latin typeface="Calibri"/>
              <a:ea typeface="Calibri"/>
              <a:cs typeface="Calibri"/>
              <a:sym typeface="Calibri"/>
            </a:endParaRPr>
          </a:p>
          <a:p>
            <a:pPr marL="692150" lvl="1" indent="-234950">
              <a:spcBef>
                <a:spcPts val="600"/>
              </a:spcBef>
              <a:buSzPts val="3000"/>
            </a:pPr>
            <a:r>
              <a:rPr lang="en-US" sz="3000" dirty="0"/>
              <a:t>A pheochromocytoma is a rare tumor of the adrenal medulla. </a:t>
            </a:r>
          </a:p>
          <a:p>
            <a:pPr marL="692150" lvl="1" indent="-234950">
              <a:spcBef>
                <a:spcPts val="600"/>
              </a:spcBef>
              <a:buSzPts val="3000"/>
            </a:pPr>
            <a:r>
              <a:rPr lang="en-US" sz="3000" dirty="0"/>
              <a:t>Usually benign, the tumor is made of cells that synthesize catecholamines (norepinephrine, epinephrine) and the tumor will often release the catecholamines in an uncontrolled and sudden fashion.</a:t>
            </a:r>
          </a:p>
          <a:p>
            <a:pPr marL="692150" lvl="1" indent="-234950">
              <a:spcBef>
                <a:spcPts val="600"/>
              </a:spcBef>
              <a:buSzPts val="3000"/>
            </a:pPr>
            <a:r>
              <a:rPr lang="en-US" sz="3000" dirty="0"/>
              <a:t>This causes paroxysms of very high blood pressure, </a:t>
            </a:r>
            <a:r>
              <a:rPr lang="en-US" sz="3000" b="1" dirty="0"/>
              <a:t>palpitations, diaphoresis </a:t>
            </a:r>
            <a:r>
              <a:rPr lang="en-US" sz="3000" dirty="0"/>
              <a:t>and</a:t>
            </a:r>
            <a:r>
              <a:rPr lang="en-US" sz="3000" b="1" dirty="0"/>
              <a:t> pallor</a:t>
            </a:r>
            <a:r>
              <a:rPr lang="en-US" sz="3000" dirty="0"/>
              <a:t> when it dumps catecholamines into the bloodstream unexpectedly.</a:t>
            </a:r>
          </a:p>
          <a:p>
            <a:pPr marL="692150" lvl="1" indent="-234950">
              <a:spcBef>
                <a:spcPts val="600"/>
              </a:spcBef>
              <a:buSzPts val="3000"/>
            </a:pPr>
            <a:endParaRPr sz="2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51"/>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Secondary HTN Etiologies</a:t>
            </a:r>
            <a:endParaRPr/>
          </a:p>
        </p:txBody>
      </p:sp>
      <p:sp>
        <p:nvSpPr>
          <p:cNvPr id="463" name="Google Shape;463;p51"/>
          <p:cNvSpPr txBox="1">
            <a:spLocks noGrp="1"/>
          </p:cNvSpPr>
          <p:nvPr>
            <p:ph type="body" idx="1"/>
          </p:nvPr>
        </p:nvSpPr>
        <p:spPr>
          <a:xfrm>
            <a:off x="690664" y="1143001"/>
            <a:ext cx="11021438" cy="2671011"/>
          </a:xfrm>
          <a:prstGeom prst="rect">
            <a:avLst/>
          </a:prstGeom>
          <a:noFill/>
          <a:ln>
            <a:noFill/>
          </a:ln>
        </p:spPr>
        <p:txBody>
          <a:bodyPr spcFirstLastPara="1" wrap="square" lIns="50800" tIns="50800" rIns="50800" bIns="50800" anchor="t" anchorCtr="0">
            <a:noAutofit/>
          </a:bodyPr>
          <a:lstStyle/>
          <a:p>
            <a:pPr marL="514350" indent="-514350">
              <a:lnSpc>
                <a:spcPct val="90000"/>
              </a:lnSpc>
              <a:spcBef>
                <a:spcPts val="0"/>
              </a:spcBef>
              <a:buFont typeface="Calibri"/>
              <a:buAutoNum type="arabicPeriod" startAt="5"/>
            </a:pPr>
            <a:r>
              <a:rPr lang="en-US" b="1" dirty="0">
                <a:latin typeface="Calibri"/>
                <a:ea typeface="Calibri"/>
                <a:cs typeface="Calibri"/>
                <a:sym typeface="Calibri"/>
              </a:rPr>
              <a:t>Pheochromocytoma</a:t>
            </a:r>
            <a:endParaRPr b="1" dirty="0">
              <a:latin typeface="Calibri"/>
              <a:ea typeface="Calibri"/>
              <a:cs typeface="Calibri"/>
              <a:sym typeface="Calibri"/>
            </a:endParaRPr>
          </a:p>
          <a:p>
            <a:pPr marL="692150" lvl="1" indent="-234950">
              <a:spcBef>
                <a:spcPts val="600"/>
              </a:spcBef>
              <a:buSzPts val="3000"/>
            </a:pPr>
            <a:r>
              <a:rPr lang="en-US" sz="3000" dirty="0"/>
              <a:t>The patient will have normal to modestly elevated BP most of the time, but can have</a:t>
            </a:r>
            <a:r>
              <a:rPr lang="en-US" dirty="0"/>
              <a:t> </a:t>
            </a:r>
            <a:r>
              <a:rPr lang="en-US" sz="3000" dirty="0"/>
              <a:t>very severe and sudden elevations of blood pressure leading to flash pulmonary edema, MI (heart attack) and stroke.</a:t>
            </a:r>
            <a:endParaRPr dirty="0"/>
          </a:p>
          <a:p>
            <a:pPr marL="692150" lvl="1" indent="-57150">
              <a:lnSpc>
                <a:spcPct val="90000"/>
              </a:lnSpc>
              <a:spcBef>
                <a:spcPts val="600"/>
              </a:spcBef>
              <a:buSzPts val="2800"/>
              <a:buNone/>
            </a:pPr>
            <a:endParaRPr sz="2800" dirty="0"/>
          </a:p>
        </p:txBody>
      </p:sp>
      <p:pic>
        <p:nvPicPr>
          <p:cNvPr id="464" name="Google Shape;464;p51"/>
          <p:cNvPicPr preferRelativeResize="0"/>
          <p:nvPr/>
        </p:nvPicPr>
        <p:blipFill rotWithShape="1">
          <a:blip r:embed="rId3">
            <a:alphaModFix/>
          </a:blip>
          <a:srcRect/>
          <a:stretch/>
        </p:blipFill>
        <p:spPr>
          <a:xfrm>
            <a:off x="7480916" y="3930452"/>
            <a:ext cx="3524310" cy="2177716"/>
          </a:xfrm>
          <a:prstGeom prst="rect">
            <a:avLst/>
          </a:prstGeom>
          <a:noFill/>
          <a:ln>
            <a:noFill/>
          </a:ln>
        </p:spPr>
      </p:pic>
      <p:sp>
        <p:nvSpPr>
          <p:cNvPr id="465" name="Google Shape;465;p51"/>
          <p:cNvSpPr txBox="1"/>
          <p:nvPr/>
        </p:nvSpPr>
        <p:spPr>
          <a:xfrm>
            <a:off x="1186774" y="3819002"/>
            <a:ext cx="5871752" cy="2400617"/>
          </a:xfrm>
          <a:prstGeom prst="rect">
            <a:avLst/>
          </a:prstGeom>
          <a:noFill/>
          <a:ln>
            <a:noFill/>
          </a:ln>
        </p:spPr>
        <p:txBody>
          <a:bodyPr spcFirstLastPara="1" wrap="square" lIns="91425" tIns="45700" rIns="91425" bIns="45700" anchor="t" anchorCtr="0">
            <a:spAutoFit/>
          </a:bodyPr>
          <a:lstStyle/>
          <a:p>
            <a:r>
              <a:rPr lang="en-US" sz="3000" dirty="0">
                <a:solidFill>
                  <a:schemeClr val="dk1"/>
                </a:solidFill>
                <a:latin typeface="Calibri"/>
                <a:ea typeface="Calibri"/>
                <a:cs typeface="Calibri"/>
                <a:sym typeface="Calibri"/>
              </a:rPr>
              <a:t>--A 24-hour urine collection to measure metanephrines and catecholamines is ordered, and if elevated then adrenal CT or MRI with IV contrast is obtained.</a:t>
            </a:r>
            <a:endParaRPr dirty="0"/>
          </a:p>
        </p:txBody>
      </p:sp>
    </p:spTree>
    <p:extLst>
      <p:ext uri="{BB962C8B-B14F-4D97-AF65-F5344CB8AC3E}">
        <p14:creationId xmlns:p14="http://schemas.microsoft.com/office/powerpoint/2010/main" val="3667590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52"/>
          <p:cNvSpPr txBox="1">
            <a:spLocks noGrp="1"/>
          </p:cNvSpPr>
          <p:nvPr>
            <p:ph type="title"/>
          </p:nvPr>
        </p:nvSpPr>
        <p:spPr>
          <a:xfrm>
            <a:off x="1981201" y="76200"/>
            <a:ext cx="3463925" cy="1143000"/>
          </a:xfrm>
          <a:prstGeom prst="rect">
            <a:avLst/>
          </a:prstGeom>
          <a:noFill/>
          <a:ln>
            <a:noFill/>
          </a:ln>
        </p:spPr>
        <p:txBody>
          <a:bodyPr spcFirstLastPara="1" wrap="square" lIns="50800" tIns="50800" rIns="50800" bIns="50800" anchor="ctr" anchorCtr="0">
            <a:noAutofit/>
          </a:bodyPr>
          <a:lstStyle/>
          <a:p>
            <a:r>
              <a:rPr lang="en-US" dirty="0"/>
              <a:t>Secondary HTN Etiologies</a:t>
            </a:r>
            <a:endParaRPr dirty="0"/>
          </a:p>
        </p:txBody>
      </p:sp>
      <p:pic>
        <p:nvPicPr>
          <p:cNvPr id="1026" name="Picture 2" descr="Infographic primary aldosteronism - Adrenals.eu">
            <a:extLst>
              <a:ext uri="{FF2B5EF4-FFF2-40B4-BE49-F238E27FC236}">
                <a16:creationId xmlns:a16="http://schemas.microsoft.com/office/drawing/2014/main" id="{AB9981BF-21C0-AC82-5C96-A145E484C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7106" y="118310"/>
            <a:ext cx="4969100" cy="6621380"/>
          </a:xfrm>
          <a:prstGeom prst="rect">
            <a:avLst/>
          </a:prstGeom>
          <a:noFill/>
          <a:extLst>
            <a:ext uri="{909E8E84-426E-40DD-AFC4-6F175D3DCCD1}">
              <a14:hiddenFill xmlns:a14="http://schemas.microsoft.com/office/drawing/2010/main">
                <a:solidFill>
                  <a:srgbClr val="FFFFFF"/>
                </a:solidFill>
              </a14:hiddenFill>
            </a:ext>
          </a:extLst>
        </p:spPr>
      </p:pic>
      <p:sp>
        <p:nvSpPr>
          <p:cNvPr id="471" name="Google Shape;471;p52"/>
          <p:cNvSpPr txBox="1">
            <a:spLocks noGrp="1"/>
          </p:cNvSpPr>
          <p:nvPr>
            <p:ph type="body" idx="1"/>
          </p:nvPr>
        </p:nvSpPr>
        <p:spPr>
          <a:xfrm>
            <a:off x="515567" y="1646322"/>
            <a:ext cx="5787956" cy="1253290"/>
          </a:xfrm>
          <a:prstGeom prst="rect">
            <a:avLst/>
          </a:prstGeom>
          <a:noFill/>
          <a:ln>
            <a:noFill/>
          </a:ln>
        </p:spPr>
        <p:txBody>
          <a:bodyPr spcFirstLastPara="1" wrap="square" lIns="50800" tIns="50800" rIns="50800" bIns="50800" anchor="t" anchorCtr="0">
            <a:noAutofit/>
          </a:bodyPr>
          <a:lstStyle/>
          <a:p>
            <a:pPr marL="514350" indent="-514350">
              <a:spcBef>
                <a:spcPts val="0"/>
              </a:spcBef>
              <a:buFont typeface="Calibri"/>
              <a:buAutoNum type="arabicPeriod" startAt="6"/>
            </a:pPr>
            <a:r>
              <a:rPr lang="en-US" b="1" dirty="0"/>
              <a:t>Primary hyperaldosteronism</a:t>
            </a:r>
            <a:endParaRPr sz="2800" dirty="0"/>
          </a:p>
        </p:txBody>
      </p:sp>
      <p:sp>
        <p:nvSpPr>
          <p:cNvPr id="2" name="TextBox 1">
            <a:extLst>
              <a:ext uri="{FF2B5EF4-FFF2-40B4-BE49-F238E27FC236}">
                <a16:creationId xmlns:a16="http://schemas.microsoft.com/office/drawing/2014/main" id="{915A6C1F-CBE5-52B1-67E8-BCC530F10F81}"/>
              </a:ext>
            </a:extLst>
          </p:cNvPr>
          <p:cNvSpPr txBox="1"/>
          <p:nvPr/>
        </p:nvSpPr>
        <p:spPr>
          <a:xfrm>
            <a:off x="914401" y="2272967"/>
            <a:ext cx="4662720" cy="2462213"/>
          </a:xfrm>
          <a:prstGeom prst="rect">
            <a:avLst/>
          </a:prstGeom>
          <a:noFill/>
        </p:spPr>
        <p:txBody>
          <a:bodyPr wrap="square" rtlCol="0">
            <a:spAutoFit/>
          </a:bodyPr>
          <a:lstStyle/>
          <a:p>
            <a:pPr marL="514350" indent="-514350">
              <a:buFont typeface="Arial" panose="020B0604020202020204" pitchFamily="34" charset="0"/>
              <a:buChar char="•"/>
            </a:pPr>
            <a:r>
              <a:rPr lang="en-US" sz="2800" dirty="0">
                <a:latin typeface="Calibri" panose="020F0502020204030204" pitchFamily="34" charset="0"/>
                <a:cs typeface="Calibri" panose="020F0502020204030204" pitchFamily="34" charset="0"/>
              </a:rPr>
              <a:t>Is due to overproduction of aldosterone by hyperplasia of the adrenal gland or by an autonomous adrenal adenoma.</a:t>
            </a:r>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52"/>
          <p:cNvSpPr txBox="1">
            <a:spLocks noGrp="1"/>
          </p:cNvSpPr>
          <p:nvPr>
            <p:ph type="title"/>
          </p:nvPr>
        </p:nvSpPr>
        <p:spPr>
          <a:xfrm>
            <a:off x="1981200" y="426396"/>
            <a:ext cx="8229600" cy="1143000"/>
          </a:xfrm>
          <a:prstGeom prst="rect">
            <a:avLst/>
          </a:prstGeom>
          <a:noFill/>
          <a:ln>
            <a:noFill/>
          </a:ln>
        </p:spPr>
        <p:txBody>
          <a:bodyPr spcFirstLastPara="1" wrap="square" lIns="50800" tIns="50800" rIns="50800" bIns="50800" anchor="ctr" anchorCtr="0">
            <a:noAutofit/>
          </a:bodyPr>
          <a:lstStyle/>
          <a:p>
            <a:r>
              <a:rPr lang="en-US" dirty="0"/>
              <a:t>Secondary HTN Etiologies</a:t>
            </a:r>
            <a:br>
              <a:rPr lang="en-US" dirty="0"/>
            </a:br>
            <a:r>
              <a:rPr lang="en-US" dirty="0"/>
              <a:t>Hyperaldosteronism</a:t>
            </a:r>
            <a:endParaRPr dirty="0"/>
          </a:p>
        </p:txBody>
      </p:sp>
      <p:sp>
        <p:nvSpPr>
          <p:cNvPr id="471" name="Google Shape;471;p52"/>
          <p:cNvSpPr txBox="1">
            <a:spLocks noGrp="1"/>
          </p:cNvSpPr>
          <p:nvPr>
            <p:ph type="body" idx="1"/>
          </p:nvPr>
        </p:nvSpPr>
        <p:spPr>
          <a:xfrm>
            <a:off x="583660" y="1945532"/>
            <a:ext cx="11293812" cy="4836268"/>
          </a:xfrm>
          <a:prstGeom prst="rect">
            <a:avLst/>
          </a:prstGeom>
          <a:noFill/>
          <a:ln>
            <a:noFill/>
          </a:ln>
        </p:spPr>
        <p:txBody>
          <a:bodyPr spcFirstLastPara="1" wrap="square" lIns="50800" tIns="50800" rIns="50800" bIns="50800" anchor="t" anchorCtr="0">
            <a:noAutofit/>
          </a:bodyPr>
          <a:lstStyle/>
          <a:p>
            <a:pPr indent="-457200">
              <a:spcBef>
                <a:spcPts val="0"/>
              </a:spcBef>
            </a:pPr>
            <a:r>
              <a:rPr lang="en-US" dirty="0"/>
              <a:t>In primary hyperaldosteronism the patient secretes excessive aldosterone, causing sodium and water retention.</a:t>
            </a:r>
          </a:p>
          <a:p>
            <a:pPr indent="-457200">
              <a:spcBef>
                <a:spcPts val="0"/>
              </a:spcBef>
            </a:pPr>
            <a:endParaRPr dirty="0"/>
          </a:p>
          <a:p>
            <a:pPr indent="-457200">
              <a:spcBef>
                <a:spcPts val="1200"/>
              </a:spcBef>
              <a:buFont typeface="Arial" panose="020B0604020202020204" pitchFamily="34" charset="0"/>
              <a:buChar char="•"/>
            </a:pPr>
            <a:r>
              <a:rPr lang="en-US" dirty="0"/>
              <a:t>Constantly reabsorbing sodium creates a metabolic alkalosis and persistent hypokalemia, as H+ and K+ are wasted in the urine</a:t>
            </a:r>
          </a:p>
          <a:p>
            <a:pPr indent="-457200">
              <a:spcBef>
                <a:spcPts val="1200"/>
              </a:spcBef>
              <a:buFont typeface="Arial" panose="020B0604020202020204" pitchFamily="34" charset="0"/>
              <a:buChar char="•"/>
            </a:pPr>
            <a:endParaRPr dirty="0"/>
          </a:p>
          <a:p>
            <a:pPr indent="-457200">
              <a:spcBef>
                <a:spcPts val="1200"/>
              </a:spcBef>
              <a:buFont typeface="Arial" panose="020B0604020202020204" pitchFamily="34" charset="0"/>
              <a:buChar char="•"/>
            </a:pPr>
            <a:r>
              <a:rPr lang="en-US" dirty="0"/>
              <a:t>Patients primarily complain of generalized weakness due to persistent hypokalemia.</a:t>
            </a:r>
            <a:endParaRPr dirty="0"/>
          </a:p>
          <a:p>
            <a:pPr marL="692150" lvl="1" indent="-31750">
              <a:lnSpc>
                <a:spcPct val="90000"/>
              </a:lnSpc>
              <a:spcBef>
                <a:spcPts val="1200"/>
              </a:spcBef>
              <a:buNone/>
            </a:pPr>
            <a:endParaRPr dirty="0"/>
          </a:p>
          <a:p>
            <a:pPr marL="692150" lvl="1" indent="-57150">
              <a:lnSpc>
                <a:spcPct val="90000"/>
              </a:lnSpc>
              <a:spcBef>
                <a:spcPts val="600"/>
              </a:spcBef>
              <a:buSzPts val="2800"/>
              <a:buNone/>
            </a:pPr>
            <a:endParaRPr sz="2800" dirty="0"/>
          </a:p>
        </p:txBody>
      </p:sp>
    </p:spTree>
    <p:extLst>
      <p:ext uri="{BB962C8B-B14F-4D97-AF65-F5344CB8AC3E}">
        <p14:creationId xmlns:p14="http://schemas.microsoft.com/office/powerpoint/2010/main" val="5903144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3"/>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Secondary HTN Etiologies</a:t>
            </a:r>
            <a:endParaRPr/>
          </a:p>
        </p:txBody>
      </p:sp>
      <p:sp>
        <p:nvSpPr>
          <p:cNvPr id="477" name="Google Shape;477;p53"/>
          <p:cNvSpPr txBox="1">
            <a:spLocks noGrp="1"/>
          </p:cNvSpPr>
          <p:nvPr>
            <p:ph type="body" idx="1"/>
          </p:nvPr>
        </p:nvSpPr>
        <p:spPr>
          <a:xfrm>
            <a:off x="642026" y="1468876"/>
            <a:ext cx="11021438" cy="5312923"/>
          </a:xfrm>
          <a:prstGeom prst="rect">
            <a:avLst/>
          </a:prstGeom>
          <a:noFill/>
          <a:ln>
            <a:noFill/>
          </a:ln>
        </p:spPr>
        <p:txBody>
          <a:bodyPr spcFirstLastPara="1" wrap="square" lIns="50800" tIns="50800" rIns="50800" bIns="50800" anchor="t" anchorCtr="0">
            <a:noAutofit/>
          </a:bodyPr>
          <a:lstStyle/>
          <a:p>
            <a:pPr marL="531812" indent="-514350">
              <a:spcBef>
                <a:spcPts val="0"/>
              </a:spcBef>
              <a:buFont typeface="Calibri"/>
              <a:buAutoNum type="arabicPeriod" startAt="7"/>
            </a:pPr>
            <a:r>
              <a:rPr lang="en-US" b="1" dirty="0"/>
              <a:t>Cushing’s syndrome</a:t>
            </a:r>
            <a:r>
              <a:rPr lang="en-US" dirty="0"/>
              <a:t>: glucocorticoid excess from </a:t>
            </a:r>
            <a:endParaRPr dirty="0"/>
          </a:p>
          <a:p>
            <a:pPr marL="1028700" lvl="1" indent="-571500">
              <a:spcBef>
                <a:spcPts val="600"/>
              </a:spcBef>
              <a:buFont typeface="+mj-lt"/>
              <a:buAutoNum type="alphaLcPeriod"/>
            </a:pPr>
            <a:r>
              <a:rPr lang="en-US" sz="3000" dirty="0"/>
              <a:t>An autonomous pituitary adenoma that over-secretes ACTH</a:t>
            </a:r>
            <a:endParaRPr sz="3000" dirty="0"/>
          </a:p>
          <a:p>
            <a:pPr marL="1028700" lvl="1" indent="-571500">
              <a:spcBef>
                <a:spcPts val="600"/>
              </a:spcBef>
              <a:buFont typeface="+mj-lt"/>
              <a:buAutoNum type="alphaLcPeriod"/>
            </a:pPr>
            <a:r>
              <a:rPr lang="en-US" sz="3000" dirty="0"/>
              <a:t>An autonomous adrenal adenoma/hyperplasia that oversecretes cortisol</a:t>
            </a:r>
            <a:endParaRPr sz="3000" dirty="0"/>
          </a:p>
          <a:p>
            <a:pPr marL="1028700" lvl="1" indent="-571500">
              <a:spcBef>
                <a:spcPts val="600"/>
              </a:spcBef>
              <a:buFont typeface="+mj-lt"/>
              <a:buAutoNum type="alphaLcPeriod"/>
            </a:pPr>
            <a:r>
              <a:rPr lang="en-US" sz="3000" dirty="0"/>
              <a:t>A paraneoplastic syndrome from an ectopic source- usually a tumor that oversecretes ACTH, most often SCLC</a:t>
            </a:r>
            <a:endParaRPr sz="3000" dirty="0"/>
          </a:p>
          <a:p>
            <a:pPr marL="782638" lvl="1" indent="-325438">
              <a:spcBef>
                <a:spcPts val="600"/>
              </a:spcBef>
            </a:pPr>
            <a:r>
              <a:rPr lang="en-US" dirty="0"/>
              <a:t>Excess glucocorticoid causes retention of Na and water </a:t>
            </a:r>
            <a:r>
              <a:rPr lang="en-US" dirty="0">
                <a:sym typeface="Wingdings" pitchFamily="2" charset="2"/>
              </a:rPr>
              <a:t></a:t>
            </a:r>
            <a:r>
              <a:rPr lang="en-US" dirty="0"/>
              <a:t> HTN from volume expansion and mild increase in aldosterone levels.</a:t>
            </a:r>
            <a:endParaRPr dirty="0"/>
          </a:p>
          <a:p>
            <a:pPr marL="692150" lvl="1" indent="-57150">
              <a:lnSpc>
                <a:spcPct val="90000"/>
              </a:lnSpc>
              <a:spcBef>
                <a:spcPts val="600"/>
              </a:spcBef>
              <a:buSzPts val="2800"/>
              <a:buNone/>
            </a:pPr>
            <a:endParaRPr sz="2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3"/>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Secondary HTN Etiologies</a:t>
            </a:r>
            <a:endParaRPr/>
          </a:p>
        </p:txBody>
      </p:sp>
      <p:sp>
        <p:nvSpPr>
          <p:cNvPr id="477" name="Google Shape;477;p53"/>
          <p:cNvSpPr txBox="1">
            <a:spLocks noGrp="1"/>
          </p:cNvSpPr>
          <p:nvPr>
            <p:ph type="body" idx="1"/>
          </p:nvPr>
        </p:nvSpPr>
        <p:spPr>
          <a:xfrm>
            <a:off x="642026" y="1468877"/>
            <a:ext cx="11021438" cy="4192622"/>
          </a:xfrm>
          <a:prstGeom prst="rect">
            <a:avLst/>
          </a:prstGeom>
          <a:noFill/>
          <a:ln>
            <a:noFill/>
          </a:ln>
        </p:spPr>
        <p:txBody>
          <a:bodyPr spcFirstLastPara="1" wrap="square" lIns="50800" tIns="50800" rIns="50800" bIns="50800" anchor="t" anchorCtr="0">
            <a:noAutofit/>
          </a:bodyPr>
          <a:lstStyle/>
          <a:p>
            <a:pPr marL="531812" indent="-514350">
              <a:spcBef>
                <a:spcPts val="0"/>
              </a:spcBef>
              <a:buFont typeface="+mj-lt"/>
              <a:buAutoNum type="arabicPeriod" startAt="8"/>
            </a:pPr>
            <a:r>
              <a:rPr lang="en-US" b="1" dirty="0"/>
              <a:t>OSA</a:t>
            </a:r>
            <a:r>
              <a:rPr lang="en-US" dirty="0"/>
              <a:t> </a:t>
            </a:r>
            <a:endParaRPr dirty="0"/>
          </a:p>
          <a:p>
            <a:pPr marL="1092200" lvl="1" indent="-457200">
              <a:lnSpc>
                <a:spcPct val="90000"/>
              </a:lnSpc>
              <a:spcBef>
                <a:spcPts val="600"/>
              </a:spcBef>
              <a:buSzPts val="2800"/>
            </a:pPr>
            <a:r>
              <a:rPr lang="en-US" sz="2800" dirty="0"/>
              <a:t>Occurs in &gt;50% of individuals with HTN</a:t>
            </a:r>
          </a:p>
          <a:p>
            <a:pPr marL="1092200" lvl="1" indent="-457200">
              <a:lnSpc>
                <a:spcPct val="90000"/>
              </a:lnSpc>
              <a:spcBef>
                <a:spcPts val="600"/>
              </a:spcBef>
              <a:buSzPts val="2800"/>
            </a:pPr>
            <a:r>
              <a:rPr lang="en-US" sz="2800" b="1" dirty="0"/>
              <a:t>Should be considered in individuals with resistant HTN, snoring, obesity</a:t>
            </a:r>
          </a:p>
          <a:p>
            <a:pPr marL="1092200" lvl="1" indent="-457200">
              <a:lnSpc>
                <a:spcPct val="90000"/>
              </a:lnSpc>
              <a:spcBef>
                <a:spcPts val="600"/>
              </a:spcBef>
              <a:buSzPts val="2800"/>
            </a:pPr>
            <a:r>
              <a:rPr lang="en-US" sz="2800" dirty="0"/>
              <a:t>Hypoxia triggers </a:t>
            </a:r>
            <a:r>
              <a:rPr lang="en-US" sz="2800" b="1" dirty="0"/>
              <a:t>SNS activity </a:t>
            </a:r>
            <a:r>
              <a:rPr lang="en-US" sz="2800" dirty="0"/>
              <a:t>leading to HTN</a:t>
            </a:r>
          </a:p>
          <a:p>
            <a:pPr marL="1092200" lvl="1" indent="-457200">
              <a:lnSpc>
                <a:spcPct val="90000"/>
              </a:lnSpc>
              <a:spcBef>
                <a:spcPts val="600"/>
              </a:spcBef>
              <a:buSzPts val="2800"/>
            </a:pPr>
            <a:r>
              <a:rPr lang="en-US" sz="2800" dirty="0"/>
              <a:t>CPAP is effective treatment for OSA, however may not relieve HTN but make antihypertensive medication more responsive. </a:t>
            </a:r>
            <a:endParaRPr sz="2800" dirty="0"/>
          </a:p>
        </p:txBody>
      </p:sp>
    </p:spTree>
    <p:extLst>
      <p:ext uri="{BB962C8B-B14F-4D97-AF65-F5344CB8AC3E}">
        <p14:creationId xmlns:p14="http://schemas.microsoft.com/office/powerpoint/2010/main" val="7297814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4"/>
          <p:cNvSpPr txBox="1">
            <a:spLocks noGrp="1"/>
          </p:cNvSpPr>
          <p:nvPr>
            <p:ph type="title"/>
          </p:nvPr>
        </p:nvSpPr>
        <p:spPr>
          <a:xfrm>
            <a:off x="1981200" y="76200"/>
            <a:ext cx="8229600" cy="1143000"/>
          </a:xfrm>
          <a:prstGeom prst="rect">
            <a:avLst/>
          </a:prstGeom>
          <a:noFill/>
          <a:ln>
            <a:noFill/>
          </a:ln>
        </p:spPr>
        <p:txBody>
          <a:bodyPr spcFirstLastPara="1" wrap="square" lIns="50800" tIns="50800" rIns="50800" bIns="50800" anchor="ctr" anchorCtr="0">
            <a:noAutofit/>
          </a:bodyPr>
          <a:lstStyle/>
          <a:p>
            <a:r>
              <a:rPr lang="en-US"/>
              <a:t>Secondary HTN Etiologies</a:t>
            </a:r>
            <a:endParaRPr/>
          </a:p>
        </p:txBody>
      </p:sp>
      <p:sp>
        <p:nvSpPr>
          <p:cNvPr id="483" name="Google Shape;483;p54"/>
          <p:cNvSpPr txBox="1">
            <a:spLocks noGrp="1"/>
          </p:cNvSpPr>
          <p:nvPr>
            <p:ph type="body" idx="1"/>
          </p:nvPr>
        </p:nvSpPr>
        <p:spPr>
          <a:xfrm>
            <a:off x="457199" y="1143000"/>
            <a:ext cx="11274357" cy="3124200"/>
          </a:xfrm>
          <a:prstGeom prst="rect">
            <a:avLst/>
          </a:prstGeom>
          <a:noFill/>
          <a:ln>
            <a:noFill/>
          </a:ln>
        </p:spPr>
        <p:txBody>
          <a:bodyPr spcFirstLastPara="1" wrap="square" lIns="50800" tIns="50800" rIns="50800" bIns="50800" anchor="t" anchorCtr="0">
            <a:noAutofit/>
          </a:bodyPr>
          <a:lstStyle/>
          <a:p>
            <a:pPr marL="530225" indent="-514350">
              <a:lnSpc>
                <a:spcPct val="90000"/>
              </a:lnSpc>
              <a:spcBef>
                <a:spcPts val="0"/>
              </a:spcBef>
              <a:buFont typeface="+mj-lt"/>
              <a:buAutoNum type="arabicPeriod" startAt="9"/>
            </a:pPr>
            <a:r>
              <a:rPr lang="en-US" b="1" dirty="0"/>
              <a:t>Medications</a:t>
            </a:r>
            <a:endParaRPr dirty="0"/>
          </a:p>
          <a:p>
            <a:pPr marL="692150" lvl="1" indent="-234950">
              <a:spcBef>
                <a:spcPts val="600"/>
              </a:spcBef>
            </a:pPr>
            <a:r>
              <a:rPr lang="en-US" b="1" dirty="0"/>
              <a:t>Ethanol</a:t>
            </a:r>
            <a:r>
              <a:rPr lang="en-US" dirty="0"/>
              <a:t>: chronic alcohol use is a common cause of hypertension and can be very difficult to treat</a:t>
            </a:r>
            <a:endParaRPr dirty="0"/>
          </a:p>
          <a:p>
            <a:pPr marL="692150" lvl="1" indent="-234950">
              <a:spcBef>
                <a:spcPts val="600"/>
              </a:spcBef>
            </a:pPr>
            <a:r>
              <a:rPr lang="en-US" b="1" dirty="0"/>
              <a:t>Illicit sympathomimetic drug use</a:t>
            </a:r>
            <a:r>
              <a:rPr lang="en-US" dirty="0"/>
              <a:t>: cocaine, methamphetamine</a:t>
            </a:r>
            <a:endParaRPr dirty="0"/>
          </a:p>
          <a:p>
            <a:pPr marL="692150" lvl="1" indent="-234950">
              <a:spcBef>
                <a:spcPts val="600"/>
              </a:spcBef>
            </a:pPr>
            <a:r>
              <a:rPr lang="en-US" b="1" dirty="0"/>
              <a:t>Estrogens</a:t>
            </a:r>
            <a:endParaRPr dirty="0"/>
          </a:p>
          <a:p>
            <a:pPr marL="692150" lvl="1" indent="-234950">
              <a:spcBef>
                <a:spcPts val="600"/>
              </a:spcBef>
            </a:pPr>
            <a:r>
              <a:rPr lang="en-US" b="1" dirty="0"/>
              <a:t>Ephedra/ Pseudoephedrine</a:t>
            </a:r>
          </a:p>
          <a:p>
            <a:pPr marL="692150" lvl="1" indent="-234950">
              <a:spcBef>
                <a:spcPts val="600"/>
              </a:spcBef>
            </a:pPr>
            <a:r>
              <a:rPr lang="en-US" b="1" dirty="0"/>
              <a:t>NSAIDS</a:t>
            </a:r>
          </a:p>
          <a:p>
            <a:pPr marL="692150" lvl="1" indent="-234950">
              <a:spcBef>
                <a:spcPts val="600"/>
              </a:spcBef>
            </a:pPr>
            <a:r>
              <a:rPr lang="en-US" sz="3200" b="1" dirty="0">
                <a:solidFill>
                  <a:schemeClr val="dk1"/>
                </a:solidFill>
                <a:latin typeface="Calibri"/>
                <a:ea typeface="Calibri"/>
                <a:cs typeface="Calibri"/>
                <a:sym typeface="Calibri"/>
              </a:rPr>
              <a:t>Black licorice or licorice root </a:t>
            </a:r>
            <a:r>
              <a:rPr lang="en-US" sz="3200" dirty="0">
                <a:solidFill>
                  <a:schemeClr val="dk1"/>
                </a:solidFill>
                <a:latin typeface="Calibri"/>
                <a:ea typeface="Calibri"/>
                <a:cs typeface="Calibri"/>
                <a:sym typeface="Calibri"/>
              </a:rPr>
              <a:t>in herbal supplements contains a chemical that lowers K+ and raises BP</a:t>
            </a:r>
            <a:endParaRPr lang="en-US" dirty="0"/>
          </a:p>
          <a:p>
            <a:pPr marL="692150" lvl="1" indent="-234950">
              <a:spcBef>
                <a:spcPts val="600"/>
              </a:spcBef>
            </a:pPr>
            <a:endParaRPr lang="en-US" b="1" dirty="0"/>
          </a:p>
          <a:p>
            <a:pPr marL="692150" lvl="1" indent="-234950">
              <a:spcBef>
                <a:spcPts val="600"/>
              </a:spcBef>
            </a:pPr>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5"/>
          <p:cNvSpPr txBox="1">
            <a:spLocks noGrp="1"/>
          </p:cNvSpPr>
          <p:nvPr>
            <p:ph type="title"/>
          </p:nvPr>
        </p:nvSpPr>
        <p:spPr>
          <a:xfrm>
            <a:off x="1584158" y="108284"/>
            <a:ext cx="8939463" cy="1046749"/>
          </a:xfrm>
          <a:prstGeom prst="rect">
            <a:avLst/>
          </a:prstGeom>
          <a:noFill/>
          <a:ln>
            <a:noFill/>
          </a:ln>
        </p:spPr>
        <p:txBody>
          <a:bodyPr spcFirstLastPara="1" wrap="square" lIns="50800" tIns="50800" rIns="50800" bIns="50800" anchor="ctr" anchorCtr="0">
            <a:noAutofit/>
          </a:bodyPr>
          <a:lstStyle/>
          <a:p>
            <a:r>
              <a:rPr lang="en-US" dirty="0"/>
              <a:t> Secondary HTN, Let’s Summarize</a:t>
            </a:r>
            <a:endParaRPr dirty="0"/>
          </a:p>
        </p:txBody>
      </p:sp>
      <p:sp>
        <p:nvSpPr>
          <p:cNvPr id="491" name="Google Shape;491;p55"/>
          <p:cNvSpPr txBox="1">
            <a:spLocks noGrp="1"/>
          </p:cNvSpPr>
          <p:nvPr>
            <p:ph type="body" idx="1"/>
          </p:nvPr>
        </p:nvSpPr>
        <p:spPr>
          <a:xfrm>
            <a:off x="6276474" y="1335505"/>
            <a:ext cx="4102769" cy="5414212"/>
          </a:xfrm>
          <a:prstGeom prst="rect">
            <a:avLst/>
          </a:prstGeom>
          <a:noFill/>
          <a:ln>
            <a:noFill/>
          </a:ln>
        </p:spPr>
        <p:txBody>
          <a:bodyPr spcFirstLastPara="1" wrap="square" lIns="50800" tIns="50800" rIns="50800" bIns="50800" anchor="t" anchorCtr="0">
            <a:noAutofit/>
          </a:bodyPr>
          <a:lstStyle/>
          <a:p>
            <a:pPr marL="292100" indent="-292100">
              <a:spcBef>
                <a:spcPts val="0"/>
              </a:spcBef>
            </a:pPr>
            <a:r>
              <a:rPr lang="en-US" b="1" dirty="0"/>
              <a:t>Congenital etiologies</a:t>
            </a:r>
            <a:r>
              <a:rPr lang="en-US" dirty="0"/>
              <a:t>:</a:t>
            </a:r>
          </a:p>
          <a:p>
            <a:pPr marL="749300" lvl="1" indent="-292100">
              <a:spcBef>
                <a:spcPts val="0"/>
              </a:spcBef>
            </a:pPr>
            <a:r>
              <a:rPr lang="en-US" dirty="0"/>
              <a:t>Polycystic kidney disease</a:t>
            </a:r>
          </a:p>
          <a:p>
            <a:pPr marL="749300" lvl="1" indent="-292100">
              <a:spcBef>
                <a:spcPts val="0"/>
              </a:spcBef>
            </a:pPr>
            <a:r>
              <a:rPr lang="en-US" dirty="0"/>
              <a:t>Coarctation of the aorta</a:t>
            </a:r>
          </a:p>
          <a:p>
            <a:pPr marL="292100" indent="-292100">
              <a:spcBef>
                <a:spcPts val="0"/>
              </a:spcBef>
            </a:pPr>
            <a:endParaRPr lang="en-US" dirty="0"/>
          </a:p>
          <a:p>
            <a:pPr marL="292100" indent="-292100">
              <a:spcBef>
                <a:spcPts val="0"/>
              </a:spcBef>
            </a:pPr>
            <a:endParaRPr lang="en-US" b="1" dirty="0"/>
          </a:p>
          <a:p>
            <a:pPr marL="0" indent="0">
              <a:spcBef>
                <a:spcPts val="0"/>
              </a:spcBef>
              <a:buNone/>
            </a:pPr>
            <a:endParaRPr dirty="0"/>
          </a:p>
        </p:txBody>
      </p:sp>
      <p:sp>
        <p:nvSpPr>
          <p:cNvPr id="2" name="Text Placeholder 1">
            <a:extLst>
              <a:ext uri="{FF2B5EF4-FFF2-40B4-BE49-F238E27FC236}">
                <a16:creationId xmlns:a16="http://schemas.microsoft.com/office/drawing/2014/main" id="{95B2500D-7D64-8326-1952-EC308BC8F2B4}"/>
              </a:ext>
            </a:extLst>
          </p:cNvPr>
          <p:cNvSpPr>
            <a:spLocks noGrp="1"/>
          </p:cNvSpPr>
          <p:nvPr>
            <p:ph type="body" idx="2"/>
          </p:nvPr>
        </p:nvSpPr>
        <p:spPr>
          <a:xfrm>
            <a:off x="1680411" y="1251285"/>
            <a:ext cx="4596063" cy="5498433"/>
          </a:xfrm>
        </p:spPr>
        <p:txBody>
          <a:bodyPr/>
          <a:lstStyle/>
          <a:p>
            <a:r>
              <a:rPr lang="en-US" b="1" dirty="0"/>
              <a:t>Acquired etiologies</a:t>
            </a:r>
          </a:p>
          <a:p>
            <a:pPr lvl="1"/>
            <a:r>
              <a:rPr lang="en-US" dirty="0"/>
              <a:t>Renal artery stenosis</a:t>
            </a:r>
          </a:p>
          <a:p>
            <a:pPr lvl="1"/>
            <a:r>
              <a:rPr lang="en-US" dirty="0"/>
              <a:t>OSA</a:t>
            </a:r>
          </a:p>
          <a:p>
            <a:pPr lvl="1"/>
            <a:r>
              <a:rPr lang="en-US" dirty="0"/>
              <a:t>Medications</a:t>
            </a:r>
          </a:p>
          <a:p>
            <a:pPr lvl="1"/>
            <a:endParaRPr lang="en-US" dirty="0"/>
          </a:p>
          <a:p>
            <a:pPr marL="292100" indent="-292100">
              <a:spcBef>
                <a:spcPts val="0"/>
              </a:spcBef>
            </a:pPr>
            <a:r>
              <a:rPr lang="en-US" b="1" dirty="0"/>
              <a:t>Endocrine etiologies</a:t>
            </a:r>
            <a:r>
              <a:rPr lang="en-US" dirty="0"/>
              <a:t>:</a:t>
            </a:r>
          </a:p>
          <a:p>
            <a:pPr marL="749300" lvl="1" indent="-292100">
              <a:spcBef>
                <a:spcPts val="0"/>
              </a:spcBef>
            </a:pPr>
            <a:r>
              <a:rPr lang="en-US" dirty="0"/>
              <a:t>Hyperaldosteronism</a:t>
            </a:r>
          </a:p>
          <a:p>
            <a:pPr marL="749300" lvl="1" indent="-292100">
              <a:spcBef>
                <a:spcPts val="0"/>
              </a:spcBef>
            </a:pPr>
            <a:r>
              <a:rPr lang="en-US" dirty="0"/>
              <a:t>Cushing’s disease</a:t>
            </a:r>
          </a:p>
          <a:p>
            <a:pPr marL="749300" lvl="1" indent="-292100">
              <a:spcBef>
                <a:spcPts val="0"/>
              </a:spcBef>
            </a:pPr>
            <a:r>
              <a:rPr lang="en-US" dirty="0"/>
              <a:t>Pheochromocytoma</a:t>
            </a:r>
          </a:p>
          <a:p>
            <a:pPr marL="749300" lvl="1" indent="-292100">
              <a:spcBef>
                <a:spcPts val="0"/>
              </a:spcBef>
            </a:pPr>
            <a:r>
              <a:rPr lang="en-US" dirty="0"/>
              <a:t>Thyroid disease</a:t>
            </a:r>
          </a:p>
          <a:p>
            <a:pPr lvl="1"/>
            <a:endParaRPr lang="en-US" dirty="0"/>
          </a:p>
        </p:txBody>
      </p:sp>
    </p:spTree>
    <p:extLst>
      <p:ext uri="{BB962C8B-B14F-4D97-AF65-F5344CB8AC3E}">
        <p14:creationId xmlns:p14="http://schemas.microsoft.com/office/powerpoint/2010/main" val="3317080812"/>
      </p:ext>
    </p:extLst>
  </p:cSld>
  <p:clrMapOvr>
    <a:masterClrMapping/>
  </p:clrMapOvr>
</p:sld>
</file>

<file path=ppt/theme/theme1.xml><?xml version="1.0" encoding="utf-8"?>
<a:theme xmlns:a="http://schemas.openxmlformats.org/drawingml/2006/main" name="Default - Title Slide">
  <a:themeElements>
    <a:clrScheme name="">
      <a:dk1>
        <a:srgbClr val="000000"/>
      </a:dk1>
      <a:lt1>
        <a:srgbClr val="FFFFFF"/>
      </a:lt1>
      <a:dk2>
        <a:srgbClr val="000000"/>
      </a:dk2>
      <a:lt2>
        <a:srgbClr val="000000"/>
      </a:lt2>
      <a:accent1>
        <a:srgbClr val="FFFFFF"/>
      </a:accent1>
      <a:accent2>
        <a:srgbClr val="333399"/>
      </a:accent2>
      <a:accent3>
        <a:srgbClr val="FFFFFF"/>
      </a:accent3>
      <a:accent4>
        <a:srgbClr val="000000"/>
      </a:accent4>
      <a:accent5>
        <a:srgbClr val="FFFFF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 Title and Content">
  <a:themeElements>
    <a:clrScheme name="">
      <a:dk1>
        <a:srgbClr val="000000"/>
      </a:dk1>
      <a:lt1>
        <a:srgbClr val="FFFFFF"/>
      </a:lt1>
      <a:dk2>
        <a:srgbClr val="000000"/>
      </a:dk2>
      <a:lt2>
        <a:srgbClr val="000000"/>
      </a:lt2>
      <a:accent1>
        <a:srgbClr val="FFFFFF"/>
      </a:accent1>
      <a:accent2>
        <a:srgbClr val="333399"/>
      </a:accent2>
      <a:accent3>
        <a:srgbClr val="FFFFFF"/>
      </a:accent3>
      <a:accent4>
        <a:srgbClr val="000000"/>
      </a:accent4>
      <a:accent5>
        <a:srgbClr val="FFFFF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33613</TotalTime>
  <Words>3459</Words>
  <Application>Microsoft Office PowerPoint</Application>
  <PresentationFormat>Widescreen</PresentationFormat>
  <Paragraphs>332</Paragraphs>
  <Slides>66</Slides>
  <Notes>61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66</vt:i4>
      </vt:variant>
    </vt:vector>
  </HeadingPairs>
  <TitlesOfParts>
    <vt:vector size="76" baseType="lpstr">
      <vt:lpstr>Arial</vt:lpstr>
      <vt:lpstr>Source Sans Pro</vt:lpstr>
      <vt:lpstr>Calibri</vt:lpstr>
      <vt:lpstr>Merriweather Sans</vt:lpstr>
      <vt:lpstr>Nunito</vt:lpstr>
      <vt:lpstr>Wingdings</vt:lpstr>
      <vt:lpstr>Helvetica Neue</vt:lpstr>
      <vt:lpstr>Constantia</vt:lpstr>
      <vt:lpstr>Default - Title Slide</vt:lpstr>
      <vt:lpstr>Default - Title and Content</vt:lpstr>
      <vt:lpstr>HYPERTENSION Part I</vt:lpstr>
      <vt:lpstr>Hypertension Definition</vt:lpstr>
      <vt:lpstr>HTN Epidemiology</vt:lpstr>
      <vt:lpstr>HTN: GLOBAL EPIDEMIOLOGY</vt:lpstr>
      <vt:lpstr>HTN: US EPIDEMIOLOGY</vt:lpstr>
      <vt:lpstr>HTN: US EPIDEMIOLOGY</vt:lpstr>
      <vt:lpstr>Do US citizens have control?</vt:lpstr>
      <vt:lpstr>PowerPoint Presentation</vt:lpstr>
      <vt:lpstr>Shutting the Gate!</vt:lpstr>
      <vt:lpstr>Social Determinants of Hypertension</vt:lpstr>
      <vt:lpstr>Social Determinants of Hypertension</vt:lpstr>
      <vt:lpstr>Review Normal BP Physiology</vt:lpstr>
      <vt:lpstr>Normal Hemodynamics</vt:lpstr>
      <vt:lpstr>Normal Systole Hemodynamics</vt:lpstr>
      <vt:lpstr>Normal Diastole Hemodynamics</vt:lpstr>
      <vt:lpstr>PowerPoint Presentation</vt:lpstr>
      <vt:lpstr>Important Terms</vt:lpstr>
      <vt:lpstr>Normal BP Physiology</vt:lpstr>
      <vt:lpstr>Normal BP Physiology</vt:lpstr>
      <vt:lpstr>The Physiology of Blood Pressure</vt:lpstr>
      <vt:lpstr>Normal Blood Pressure Regulation</vt:lpstr>
      <vt:lpstr>Blood Pressure Regulation: Baroreceptor Reflex</vt:lpstr>
      <vt:lpstr>Normal Blood Pressure Regulation</vt:lpstr>
      <vt:lpstr>Normal Blood Pressure Regulation</vt:lpstr>
      <vt:lpstr>Normal Blood Pressure Regulation</vt:lpstr>
      <vt:lpstr>PowerPoint Presentation</vt:lpstr>
      <vt:lpstr>PowerPoint Presentation</vt:lpstr>
      <vt:lpstr>Normal Blood Pressure Regulation Other Regulators</vt:lpstr>
      <vt:lpstr>PowerPoint Presentation</vt:lpstr>
      <vt:lpstr>Low BP Physiology</vt:lpstr>
      <vt:lpstr>Primary (Essential) Hypertension </vt:lpstr>
      <vt:lpstr>Primary Hypertension</vt:lpstr>
      <vt:lpstr>PowerPoint Presentation</vt:lpstr>
      <vt:lpstr>Pathophysiology of Primary HTN</vt:lpstr>
      <vt:lpstr>Pathophysiology of Primary HTN</vt:lpstr>
      <vt:lpstr>Pathophysiology of Primary HTN</vt:lpstr>
      <vt:lpstr> Non-Modifiable Risk Factors for HTN</vt:lpstr>
      <vt:lpstr> Modifiable Risk Factors for HTN</vt:lpstr>
      <vt:lpstr> Modifiable Risk Factors for HTN</vt:lpstr>
      <vt:lpstr>Modifiable Risk Factor for HTN</vt:lpstr>
      <vt:lpstr>Other Contributors to Primary HTN</vt:lpstr>
      <vt:lpstr>HTN Counseling and Management</vt:lpstr>
      <vt:lpstr>Secondary Hypertension Causes</vt:lpstr>
      <vt:lpstr>Secondary HTN Classifications</vt:lpstr>
      <vt:lpstr>Secondary HTN Etiologies</vt:lpstr>
      <vt:lpstr>Secondary HTN Etiologies</vt:lpstr>
      <vt:lpstr>Secondary Hypertension Etiologies Renovascular Hypertension</vt:lpstr>
      <vt:lpstr>PowerPoint Presentation</vt:lpstr>
      <vt:lpstr>Secondary Hypertension Etiologies Renovascular Hypertension</vt:lpstr>
      <vt:lpstr>Secondary Hypertension Etiologies Renovascular Hypertension</vt:lpstr>
      <vt:lpstr>Secondary Hypertension Etiologies Renovascular Hypertension</vt:lpstr>
      <vt:lpstr>Secondary Hypertension Etiologies Renovascular Hypertension</vt:lpstr>
      <vt:lpstr> Secondary Hypertension Etiologies Renovascular Hypertension Dx</vt:lpstr>
      <vt:lpstr>PowerPoint Presentation</vt:lpstr>
      <vt:lpstr>Secondary HTN Etiologies</vt:lpstr>
      <vt:lpstr>Secondary HTN Etiologies</vt:lpstr>
      <vt:lpstr>Coarctation of the Aorta</vt:lpstr>
      <vt:lpstr>Secondary HTN Etiologies</vt:lpstr>
      <vt:lpstr>Secondary HTN Etiologies</vt:lpstr>
      <vt:lpstr>Secondary HTN Etiologies</vt:lpstr>
      <vt:lpstr>Secondary HTN Etiologies</vt:lpstr>
      <vt:lpstr>Secondary HTN Etiologies Hyperaldosteronism</vt:lpstr>
      <vt:lpstr>Secondary HTN Etiologies</vt:lpstr>
      <vt:lpstr>Secondary HTN Etiologies</vt:lpstr>
      <vt:lpstr>Secondary HTN Etiologies</vt:lpstr>
      <vt:lpstr> Secondary HTN, Let’s Summarize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HYPERTENSION</dc:title>
  <dc:creator>Gulczinski, Jill-Renae</dc:creator>
  <cp:lastModifiedBy>Veal, Breanna</cp:lastModifiedBy>
  <cp:revision>18</cp:revision>
  <dcterms:modified xsi:type="dcterms:W3CDTF">2026-10-19T16:37:16Z</dcterms:modified>
</cp:coreProperties>
</file>