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56"/>
  </p:notesMasterIdLst>
  <p:sldIdLst>
    <p:sldId id="256" r:id="rId3"/>
    <p:sldId id="526" r:id="rId4"/>
    <p:sldId id="258" r:id="rId5"/>
    <p:sldId id="520" r:id="rId6"/>
    <p:sldId id="519" r:id="rId7"/>
    <p:sldId id="311" r:id="rId8"/>
    <p:sldId id="521" r:id="rId9"/>
    <p:sldId id="312" r:id="rId10"/>
    <p:sldId id="313" r:id="rId11"/>
    <p:sldId id="314" r:id="rId12"/>
    <p:sldId id="316" r:id="rId13"/>
    <p:sldId id="317" r:id="rId14"/>
    <p:sldId id="318" r:id="rId15"/>
    <p:sldId id="319" r:id="rId16"/>
    <p:sldId id="320" r:id="rId17"/>
    <p:sldId id="321" r:id="rId18"/>
    <p:sldId id="322" r:id="rId19"/>
    <p:sldId id="326" r:id="rId20"/>
    <p:sldId id="327" r:id="rId21"/>
    <p:sldId id="328" r:id="rId22"/>
    <p:sldId id="334" r:id="rId23"/>
    <p:sldId id="335" r:id="rId24"/>
    <p:sldId id="336" r:id="rId25"/>
    <p:sldId id="337" r:id="rId26"/>
    <p:sldId id="338" r:id="rId27"/>
    <p:sldId id="524" r:id="rId28"/>
    <p:sldId id="339" r:id="rId29"/>
    <p:sldId id="527" r:id="rId30"/>
    <p:sldId id="340" r:id="rId31"/>
    <p:sldId id="341" r:id="rId32"/>
    <p:sldId id="342" r:id="rId33"/>
    <p:sldId id="343" r:id="rId34"/>
    <p:sldId id="344" r:id="rId35"/>
    <p:sldId id="345" r:id="rId36"/>
    <p:sldId id="346" r:id="rId37"/>
    <p:sldId id="347" r:id="rId38"/>
    <p:sldId id="522" r:id="rId39"/>
    <p:sldId id="348" r:id="rId40"/>
    <p:sldId id="350" r:id="rId41"/>
    <p:sldId id="352" r:id="rId42"/>
    <p:sldId id="525" r:id="rId43"/>
    <p:sldId id="353" r:id="rId44"/>
    <p:sldId id="354" r:id="rId45"/>
    <p:sldId id="355" r:id="rId46"/>
    <p:sldId id="523" r:id="rId47"/>
    <p:sldId id="356" r:id="rId48"/>
    <p:sldId id="357" r:id="rId49"/>
    <p:sldId id="358" r:id="rId50"/>
    <p:sldId id="359" r:id="rId51"/>
    <p:sldId id="360" r:id="rId52"/>
    <p:sldId id="361" r:id="rId53"/>
    <p:sldId id="362" r:id="rId54"/>
    <p:sldId id="363" r:id="rId55"/>
  </p:sldIdLst>
  <p:sldSz cx="12192000" cy="6858000"/>
  <p:notesSz cx="6858000" cy="9144000"/>
  <p:embeddedFontLst>
    <p:embeddedFont>
      <p:font typeface="Constantia" panose="02030602050306030303" pitchFamily="18" charset="0"/>
      <p:regular r:id="rId57"/>
      <p:bold r:id="rId58"/>
      <p:italic r:id="rId59"/>
      <p:boldItalic r:id="rId60"/>
    </p:embeddedFont>
    <p:embeddedFont>
      <p:font typeface="Helvetica Neue" panose="020B060402020202020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1" roundtripDataSignature="AMtx7mhv9okJ2d/14MPsiQ5245EjDuh8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500EC1-2580-4279-ABFF-E99678A4F935}">
  <a:tblStyle styleId="{EC500EC1-2580-4279-ABFF-E99678A4F9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5"/>
          </a:solidFill>
        </a:fill>
      </a:tcStyle>
    </a:wholeTbl>
    <a:band1H>
      <a:tcTxStyle/>
      <a:tcStyle>
        <a:tcBdr/>
        <a:fill>
          <a:solidFill>
            <a:schemeClr val="accent5"/>
          </a:solidFill>
        </a:fill>
      </a:tcStyle>
    </a:band1H>
    <a:band2H>
      <a:tcTxStyle/>
      <a:tcStyle>
        <a:tcBdr/>
      </a:tcStyle>
    </a:band2H>
    <a:band1V>
      <a:tcTxStyle/>
      <a:tcStyle>
        <a:tcBdr/>
        <a:fill>
          <a:solidFill>
            <a:schemeClr val="accent5"/>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9176C877-5902-4F01-AA12-915402B82F0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5CA6CF68-EC4B-4158-8A7C-682902D774E9}"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82547C-5184-4841-A74E-8B02F8914B86}"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7838" autoAdjust="0"/>
  </p:normalViewPr>
  <p:slideViewPr>
    <p:cSldViewPr snapToGrid="0">
      <p:cViewPr varScale="1">
        <p:scale>
          <a:sx n="74" d="100"/>
          <a:sy n="74" d="100"/>
        </p:scale>
        <p:origin x="81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1" d="100"/>
          <a:sy n="81" d="100"/>
        </p:scale>
        <p:origin x="397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81" Type="http://customschemas.google.com/relationships/presentationmetadata" Target="metadata"/><Relationship Id="rId286"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7.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28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1.fntdata"/><Relationship Id="rId61" Type="http://schemas.openxmlformats.org/officeDocument/2006/relationships/font" Target="fonts/font5.fntdata"/><Relationship Id="rId28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openxmlformats.org/officeDocument/2006/relationships/font" Target="fonts/font8.fntdata"/><Relationship Id="rId282"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28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al, Breanna" userId="9dd65cb9-b789-4014-8a75-5340e8ea9a9e" providerId="ADAL" clId="{ACED115F-8C23-4612-8EFF-7965D144131C}"/>
    <pc:docChg chg="custSel modSld">
      <pc:chgData name="Veal, Breanna" userId="9dd65cb9-b789-4014-8a75-5340e8ea9a9e" providerId="ADAL" clId="{ACED115F-8C23-4612-8EFF-7965D144131C}" dt="2026-10-19T17:33:46.896" v="57" actId="368"/>
      <pc:docMkLst>
        <pc:docMk/>
      </pc:docMkLst>
      <pc:sldChg chg="modNotes">
        <pc:chgData name="Veal, Breanna" userId="9dd65cb9-b789-4014-8a75-5340e8ea9a9e" providerId="ADAL" clId="{ACED115F-8C23-4612-8EFF-7965D144131C}" dt="2026-10-19T17:33:46.375" v="1" actId="368"/>
        <pc:sldMkLst>
          <pc:docMk/>
          <pc:sldMk cId="0" sldId="258"/>
        </pc:sldMkLst>
      </pc:sldChg>
      <pc:sldChg chg="modNotes">
        <pc:chgData name="Veal, Breanna" userId="9dd65cb9-b789-4014-8a75-5340e8ea9a9e" providerId="ADAL" clId="{ACED115F-8C23-4612-8EFF-7965D144131C}" dt="2026-10-19T17:33:46.465" v="7" actId="368"/>
        <pc:sldMkLst>
          <pc:docMk/>
          <pc:sldMk cId="0" sldId="316"/>
        </pc:sldMkLst>
      </pc:sldChg>
      <pc:sldChg chg="modNotes">
        <pc:chgData name="Veal, Breanna" userId="9dd65cb9-b789-4014-8a75-5340e8ea9a9e" providerId="ADAL" clId="{ACED115F-8C23-4612-8EFF-7965D144131C}" dt="2026-10-19T17:33:46.477" v="9" actId="368"/>
        <pc:sldMkLst>
          <pc:docMk/>
          <pc:sldMk cId="0" sldId="317"/>
        </pc:sldMkLst>
      </pc:sldChg>
      <pc:sldChg chg="modNotes">
        <pc:chgData name="Veal, Breanna" userId="9dd65cb9-b789-4014-8a75-5340e8ea9a9e" providerId="ADAL" clId="{ACED115F-8C23-4612-8EFF-7965D144131C}" dt="2026-10-19T17:33:46.498" v="11" actId="368"/>
        <pc:sldMkLst>
          <pc:docMk/>
          <pc:sldMk cId="0" sldId="319"/>
        </pc:sldMkLst>
      </pc:sldChg>
      <pc:sldChg chg="modNotes">
        <pc:chgData name="Veal, Breanna" userId="9dd65cb9-b789-4014-8a75-5340e8ea9a9e" providerId="ADAL" clId="{ACED115F-8C23-4612-8EFF-7965D144131C}" dt="2026-10-19T17:33:46.520" v="13" actId="368"/>
        <pc:sldMkLst>
          <pc:docMk/>
          <pc:sldMk cId="0" sldId="321"/>
        </pc:sldMkLst>
      </pc:sldChg>
      <pc:sldChg chg="modNotes">
        <pc:chgData name="Veal, Breanna" userId="9dd65cb9-b789-4014-8a75-5340e8ea9a9e" providerId="ADAL" clId="{ACED115F-8C23-4612-8EFF-7965D144131C}" dt="2026-10-19T17:33:46.532" v="15" actId="368"/>
        <pc:sldMkLst>
          <pc:docMk/>
          <pc:sldMk cId="0" sldId="322"/>
        </pc:sldMkLst>
      </pc:sldChg>
      <pc:sldChg chg="modNotes">
        <pc:chgData name="Veal, Breanna" userId="9dd65cb9-b789-4014-8a75-5340e8ea9a9e" providerId="ADAL" clId="{ACED115F-8C23-4612-8EFF-7965D144131C}" dt="2026-10-19T17:33:46.534" v="17" actId="368"/>
        <pc:sldMkLst>
          <pc:docMk/>
          <pc:sldMk cId="0" sldId="326"/>
        </pc:sldMkLst>
      </pc:sldChg>
      <pc:sldChg chg="modNotes">
        <pc:chgData name="Veal, Breanna" userId="9dd65cb9-b789-4014-8a75-5340e8ea9a9e" providerId="ADAL" clId="{ACED115F-8C23-4612-8EFF-7965D144131C}" dt="2026-10-19T17:33:46.559" v="19" actId="368"/>
        <pc:sldMkLst>
          <pc:docMk/>
          <pc:sldMk cId="0" sldId="328"/>
        </pc:sldMkLst>
      </pc:sldChg>
      <pc:sldChg chg="modNotes">
        <pc:chgData name="Veal, Breanna" userId="9dd65cb9-b789-4014-8a75-5340e8ea9a9e" providerId="ADAL" clId="{ACED115F-8C23-4612-8EFF-7965D144131C}" dt="2026-10-19T17:33:46.587" v="21" actId="368"/>
        <pc:sldMkLst>
          <pc:docMk/>
          <pc:sldMk cId="0" sldId="336"/>
        </pc:sldMkLst>
      </pc:sldChg>
      <pc:sldChg chg="modNotes">
        <pc:chgData name="Veal, Breanna" userId="9dd65cb9-b789-4014-8a75-5340e8ea9a9e" providerId="ADAL" clId="{ACED115F-8C23-4612-8EFF-7965D144131C}" dt="2026-10-19T17:33:46.599" v="23" actId="368"/>
        <pc:sldMkLst>
          <pc:docMk/>
          <pc:sldMk cId="0" sldId="337"/>
        </pc:sldMkLst>
      </pc:sldChg>
      <pc:sldChg chg="modNotes">
        <pc:chgData name="Veal, Breanna" userId="9dd65cb9-b789-4014-8a75-5340e8ea9a9e" providerId="ADAL" clId="{ACED115F-8C23-4612-8EFF-7965D144131C}" dt="2026-10-19T17:33:46.608" v="25" actId="368"/>
        <pc:sldMkLst>
          <pc:docMk/>
          <pc:sldMk cId="0" sldId="338"/>
        </pc:sldMkLst>
      </pc:sldChg>
      <pc:sldChg chg="modNotes">
        <pc:chgData name="Veal, Breanna" userId="9dd65cb9-b789-4014-8a75-5340e8ea9a9e" providerId="ADAL" clId="{ACED115F-8C23-4612-8EFF-7965D144131C}" dt="2026-10-19T17:33:46.626" v="27" actId="368"/>
        <pc:sldMkLst>
          <pc:docMk/>
          <pc:sldMk cId="0" sldId="340"/>
        </pc:sldMkLst>
      </pc:sldChg>
      <pc:sldChg chg="modNotes">
        <pc:chgData name="Veal, Breanna" userId="9dd65cb9-b789-4014-8a75-5340e8ea9a9e" providerId="ADAL" clId="{ACED115F-8C23-4612-8EFF-7965D144131C}" dt="2026-10-19T17:33:46.649" v="29" actId="368"/>
        <pc:sldMkLst>
          <pc:docMk/>
          <pc:sldMk cId="0" sldId="341"/>
        </pc:sldMkLst>
      </pc:sldChg>
      <pc:sldChg chg="modNotes">
        <pc:chgData name="Veal, Breanna" userId="9dd65cb9-b789-4014-8a75-5340e8ea9a9e" providerId="ADAL" clId="{ACED115F-8C23-4612-8EFF-7965D144131C}" dt="2026-10-19T17:33:46.659" v="31" actId="368"/>
        <pc:sldMkLst>
          <pc:docMk/>
          <pc:sldMk cId="0" sldId="342"/>
        </pc:sldMkLst>
      </pc:sldChg>
      <pc:sldChg chg="modNotes">
        <pc:chgData name="Veal, Breanna" userId="9dd65cb9-b789-4014-8a75-5340e8ea9a9e" providerId="ADAL" clId="{ACED115F-8C23-4612-8EFF-7965D144131C}" dt="2026-10-19T17:33:46.671" v="33" actId="368"/>
        <pc:sldMkLst>
          <pc:docMk/>
          <pc:sldMk cId="0" sldId="344"/>
        </pc:sldMkLst>
      </pc:sldChg>
      <pc:sldChg chg="modNotes">
        <pc:chgData name="Veal, Breanna" userId="9dd65cb9-b789-4014-8a75-5340e8ea9a9e" providerId="ADAL" clId="{ACED115F-8C23-4612-8EFF-7965D144131C}" dt="2026-10-19T17:33:46.687" v="35" actId="368"/>
        <pc:sldMkLst>
          <pc:docMk/>
          <pc:sldMk cId="0" sldId="345"/>
        </pc:sldMkLst>
      </pc:sldChg>
      <pc:sldChg chg="modNotes">
        <pc:chgData name="Veal, Breanna" userId="9dd65cb9-b789-4014-8a75-5340e8ea9a9e" providerId="ADAL" clId="{ACED115F-8C23-4612-8EFF-7965D144131C}" dt="2026-10-19T17:33:46.703" v="37" actId="368"/>
        <pc:sldMkLst>
          <pc:docMk/>
          <pc:sldMk cId="0" sldId="346"/>
        </pc:sldMkLst>
      </pc:sldChg>
      <pc:sldChg chg="modNotes">
        <pc:chgData name="Veal, Breanna" userId="9dd65cb9-b789-4014-8a75-5340e8ea9a9e" providerId="ADAL" clId="{ACED115F-8C23-4612-8EFF-7965D144131C}" dt="2026-10-19T17:33:46.703" v="39" actId="368"/>
        <pc:sldMkLst>
          <pc:docMk/>
          <pc:sldMk cId="0" sldId="347"/>
        </pc:sldMkLst>
      </pc:sldChg>
      <pc:sldChg chg="modNotes">
        <pc:chgData name="Veal, Breanna" userId="9dd65cb9-b789-4014-8a75-5340e8ea9a9e" providerId="ADAL" clId="{ACED115F-8C23-4612-8EFF-7965D144131C}" dt="2026-10-19T17:33:46.750" v="43" actId="368"/>
        <pc:sldMkLst>
          <pc:docMk/>
          <pc:sldMk cId="0" sldId="350"/>
        </pc:sldMkLst>
      </pc:sldChg>
      <pc:sldChg chg="modNotes">
        <pc:chgData name="Veal, Breanna" userId="9dd65cb9-b789-4014-8a75-5340e8ea9a9e" providerId="ADAL" clId="{ACED115F-8C23-4612-8EFF-7965D144131C}" dt="2026-10-19T17:33:46.759" v="45" actId="368"/>
        <pc:sldMkLst>
          <pc:docMk/>
          <pc:sldMk cId="0" sldId="352"/>
        </pc:sldMkLst>
      </pc:sldChg>
      <pc:sldChg chg="modNotes">
        <pc:chgData name="Veal, Breanna" userId="9dd65cb9-b789-4014-8a75-5340e8ea9a9e" providerId="ADAL" clId="{ACED115F-8C23-4612-8EFF-7965D144131C}" dt="2026-10-19T17:33:46.782" v="47" actId="368"/>
        <pc:sldMkLst>
          <pc:docMk/>
          <pc:sldMk cId="0" sldId="354"/>
        </pc:sldMkLst>
      </pc:sldChg>
      <pc:sldChg chg="modNotes">
        <pc:chgData name="Veal, Breanna" userId="9dd65cb9-b789-4014-8a75-5340e8ea9a9e" providerId="ADAL" clId="{ACED115F-8C23-4612-8EFF-7965D144131C}" dt="2026-10-19T17:33:46.822" v="51" actId="368"/>
        <pc:sldMkLst>
          <pc:docMk/>
          <pc:sldMk cId="0" sldId="356"/>
        </pc:sldMkLst>
      </pc:sldChg>
      <pc:sldChg chg="modNotes">
        <pc:chgData name="Veal, Breanna" userId="9dd65cb9-b789-4014-8a75-5340e8ea9a9e" providerId="ADAL" clId="{ACED115F-8C23-4612-8EFF-7965D144131C}" dt="2026-10-19T17:33:46.860" v="53" actId="368"/>
        <pc:sldMkLst>
          <pc:docMk/>
          <pc:sldMk cId="0" sldId="361"/>
        </pc:sldMkLst>
      </pc:sldChg>
      <pc:sldChg chg="modNotes">
        <pc:chgData name="Veal, Breanna" userId="9dd65cb9-b789-4014-8a75-5340e8ea9a9e" providerId="ADAL" clId="{ACED115F-8C23-4612-8EFF-7965D144131C}" dt="2026-10-19T17:33:46.876" v="55" actId="368"/>
        <pc:sldMkLst>
          <pc:docMk/>
          <pc:sldMk cId="0" sldId="362"/>
        </pc:sldMkLst>
      </pc:sldChg>
      <pc:sldChg chg="modNotes">
        <pc:chgData name="Veal, Breanna" userId="9dd65cb9-b789-4014-8a75-5340e8ea9a9e" providerId="ADAL" clId="{ACED115F-8C23-4612-8EFF-7965D144131C}" dt="2026-10-19T17:33:46.896" v="57" actId="368"/>
        <pc:sldMkLst>
          <pc:docMk/>
          <pc:sldMk cId="0" sldId="363"/>
        </pc:sldMkLst>
      </pc:sldChg>
      <pc:sldChg chg="modNotes">
        <pc:chgData name="Veal, Breanna" userId="9dd65cb9-b789-4014-8a75-5340e8ea9a9e" providerId="ADAL" clId="{ACED115F-8C23-4612-8EFF-7965D144131C}" dt="2026-10-19T17:33:46.403" v="5" actId="368"/>
        <pc:sldMkLst>
          <pc:docMk/>
          <pc:sldMk cId="3410696225" sldId="519"/>
        </pc:sldMkLst>
      </pc:sldChg>
      <pc:sldChg chg="modNotes">
        <pc:chgData name="Veal, Breanna" userId="9dd65cb9-b789-4014-8a75-5340e8ea9a9e" providerId="ADAL" clId="{ACED115F-8C23-4612-8EFF-7965D144131C}" dt="2026-10-19T17:33:46.392" v="3" actId="368"/>
        <pc:sldMkLst>
          <pc:docMk/>
          <pc:sldMk cId="3124934101" sldId="520"/>
        </pc:sldMkLst>
      </pc:sldChg>
      <pc:sldChg chg="modNotes">
        <pc:chgData name="Veal, Breanna" userId="9dd65cb9-b789-4014-8a75-5340e8ea9a9e" providerId="ADAL" clId="{ACED115F-8C23-4612-8EFF-7965D144131C}" dt="2026-10-19T17:33:46.734" v="41" actId="368"/>
        <pc:sldMkLst>
          <pc:docMk/>
          <pc:sldMk cId="2329840080" sldId="522"/>
        </pc:sldMkLst>
      </pc:sldChg>
      <pc:sldChg chg="modNotes">
        <pc:chgData name="Veal, Breanna" userId="9dd65cb9-b789-4014-8a75-5340e8ea9a9e" providerId="ADAL" clId="{ACED115F-8C23-4612-8EFF-7965D144131C}" dt="2026-10-19T17:33:46.810" v="49" actId="368"/>
        <pc:sldMkLst>
          <pc:docMk/>
          <pc:sldMk cId="3642779635" sldId="5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L="914400" marR="0" lvl="1"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2pPr>
            <a:lvl3pPr marL="1371600" marR="0" lvl="2"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4pPr>
            <a:lvl5pPr marL="2286000" marR="0" lvl="4"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3411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6" name="Google Shape;586;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292100" lvl="0" indent="-292100" algn="l" rtl="0">
              <a:spcBef>
                <a:spcPts val="800"/>
              </a:spcBef>
              <a:spcAft>
                <a:spcPts val="0"/>
              </a:spcAft>
              <a:buClr>
                <a:schemeClr val="dk1"/>
              </a:buClr>
              <a:buSzPts val="2800"/>
              <a:buChar char="•"/>
            </a:pPr>
            <a:endParaRPr dirty="0">
              <a:sym typeface="Calibri"/>
            </a:endParaRPr>
          </a:p>
        </p:txBody>
      </p:sp>
      <p:sp>
        <p:nvSpPr>
          <p:cNvPr id="587" name="Google Shape;587;p68: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4</a:t>
            </a:fld>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9144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88" name="Google Shape;488;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6921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4" name="Google Shape;494;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4" name="Google Shape;494;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0791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6" name="Google Shape;506;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30" name="Google Shape;530;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36" name="Google Shape;536;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42" name="Google Shape;542;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48" name="Google Shape;548;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61" name="Google Shape;561;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80" name="Google Shape;580;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5" name="Google Shape;605;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9" name="Google Shape;619;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87" name="Google Shape;687;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93" name="Google Shape;693;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699" name="Google Shape;699;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1" name="Google Shape;711;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718" name="Google Shape;718;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26" name="Google Shape;726;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740" name="Google Shape;740;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47" name="Google Shape;747;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3" name="Google Shape;753;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759" name="Google Shape;759;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8800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65" name="Google Shape;765;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777" name="Google Shape;777;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0" name="Google Shape;79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6" name="Google Shape;796;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02" name="Google Shape;802;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08" name="Google Shape;808;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49298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4" name="Google Shape;814;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0" name="Google Shape;820;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2" name="Google Shape;832;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844" name="Google Shape;84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52" name="Google Shape;852;p1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0" name="Google Shape;860;p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25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255"/>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61"/>
          <p:cNvSpPr txBox="1">
            <a:spLocks noGrp="1"/>
          </p:cNvSpPr>
          <p:nvPr>
            <p:ph type="subTitle" idx="1"/>
          </p:nvPr>
        </p:nvSpPr>
        <p:spPr>
          <a:xfrm>
            <a:off x="1828800" y="3886200"/>
            <a:ext cx="8534400" cy="1752600"/>
          </a:xfrm>
          <a:prstGeom prst="rect">
            <a:avLst/>
          </a:prstGeom>
          <a:noFill/>
          <a:ln>
            <a:noFill/>
          </a:ln>
        </p:spPr>
        <p:txBody>
          <a:bodyPr spcFirstLastPara="1" wrap="square" lIns="50800" tIns="50800" rIns="50800" bIns="50800" anchor="t" anchorCtr="0">
            <a:noAutofit/>
          </a:bodyPr>
          <a:lstStyle>
            <a:lvl1pPr lvl="0" algn="ctr">
              <a:spcBef>
                <a:spcPts val="800"/>
              </a:spcBef>
              <a:spcAft>
                <a:spcPts val="0"/>
              </a:spcAft>
              <a:buClr>
                <a:srgbClr val="878787"/>
              </a:buClr>
              <a:buSzPts val="3200"/>
              <a:buFont typeface="Calibri"/>
              <a:buNone/>
              <a:defRPr/>
            </a:lvl1pPr>
            <a:lvl2pPr lvl="1" algn="ctr">
              <a:spcBef>
                <a:spcPts val="800"/>
              </a:spcBef>
              <a:spcAft>
                <a:spcPts val="0"/>
              </a:spcAft>
              <a:buClr>
                <a:srgbClr val="878787"/>
              </a:buClr>
              <a:buSzPts val="3200"/>
              <a:buFont typeface="Calibri"/>
              <a:buNone/>
              <a:defRPr/>
            </a:lvl2pPr>
            <a:lvl3pPr lvl="2" algn="ctr">
              <a:spcBef>
                <a:spcPts val="800"/>
              </a:spcBef>
              <a:spcAft>
                <a:spcPts val="0"/>
              </a:spcAft>
              <a:buClr>
                <a:srgbClr val="878787"/>
              </a:buClr>
              <a:buSzPts val="3200"/>
              <a:buFont typeface="Calibri"/>
              <a:buNone/>
              <a:defRPr/>
            </a:lvl3pPr>
            <a:lvl4pPr lvl="3" algn="ctr">
              <a:spcBef>
                <a:spcPts val="800"/>
              </a:spcBef>
              <a:spcAft>
                <a:spcPts val="0"/>
              </a:spcAft>
              <a:buClr>
                <a:srgbClr val="878787"/>
              </a:buClr>
              <a:buSzPts val="3200"/>
              <a:buFont typeface="Calibri"/>
              <a:buNone/>
              <a:defRPr/>
            </a:lvl4pPr>
            <a:lvl5pPr lvl="4" algn="ctr">
              <a:spcBef>
                <a:spcPts val="800"/>
              </a:spcBef>
              <a:spcAft>
                <a:spcPts val="0"/>
              </a:spcAft>
              <a:buClr>
                <a:srgbClr val="878787"/>
              </a:buClr>
              <a:buSzPts val="3200"/>
              <a:buFont typeface="Calibri"/>
              <a:buNone/>
              <a:defRPr/>
            </a:lvl5pPr>
            <a:lvl6pPr lvl="5" algn="ctr">
              <a:spcBef>
                <a:spcPts val="800"/>
              </a:spcBef>
              <a:spcAft>
                <a:spcPts val="0"/>
              </a:spcAft>
              <a:buClr>
                <a:srgbClr val="878787"/>
              </a:buClr>
              <a:buSzPts val="3200"/>
              <a:buFont typeface="Calibri"/>
              <a:buNone/>
              <a:defRPr/>
            </a:lvl6pPr>
            <a:lvl7pPr lvl="6" algn="ctr">
              <a:spcBef>
                <a:spcPts val="800"/>
              </a:spcBef>
              <a:spcAft>
                <a:spcPts val="0"/>
              </a:spcAft>
              <a:buClr>
                <a:srgbClr val="878787"/>
              </a:buClr>
              <a:buSzPts val="3200"/>
              <a:buFont typeface="Calibri"/>
              <a:buNone/>
              <a:defRPr/>
            </a:lvl7pPr>
            <a:lvl8pPr lvl="7" algn="ctr">
              <a:spcBef>
                <a:spcPts val="800"/>
              </a:spcBef>
              <a:spcAft>
                <a:spcPts val="0"/>
              </a:spcAft>
              <a:buClr>
                <a:srgbClr val="878787"/>
              </a:buClr>
              <a:buSzPts val="3200"/>
              <a:buFont typeface="Calibri"/>
              <a:buNone/>
              <a:defRPr/>
            </a:lvl8pPr>
            <a:lvl9pPr lvl="8" algn="ctr">
              <a:spcBef>
                <a:spcPts val="800"/>
              </a:spcBef>
              <a:spcAft>
                <a:spcPts val="0"/>
              </a:spcAft>
              <a:buClr>
                <a:srgbClr val="878787"/>
              </a:buClr>
              <a:buSzPts val="3200"/>
              <a:buFont typeface="Calibri"/>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26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262"/>
          <p:cNvSpPr txBox="1">
            <a:spLocks noGrp="1"/>
          </p:cNvSpPr>
          <p:nvPr>
            <p:ph type="body" idx="1"/>
          </p:nvPr>
        </p:nvSpPr>
        <p:spPr>
          <a:xfrm>
            <a:off x="963084" y="2906713"/>
            <a:ext cx="10363200" cy="1500187"/>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000"/>
              <a:buFont typeface="Calibri"/>
              <a:buNone/>
              <a:defRPr sz="2000"/>
            </a:lvl1pPr>
            <a:lvl2pPr marL="914400" lvl="1" indent="-228600" algn="ctr">
              <a:spcBef>
                <a:spcPts val="800"/>
              </a:spcBef>
              <a:spcAft>
                <a:spcPts val="0"/>
              </a:spcAft>
              <a:buClr>
                <a:srgbClr val="878787"/>
              </a:buClr>
              <a:buSzPts val="1800"/>
              <a:buFont typeface="Calibri"/>
              <a:buNone/>
              <a:defRPr sz="1800"/>
            </a:lvl2pPr>
            <a:lvl3pPr marL="1371600" lvl="2" indent="-228600" algn="ctr">
              <a:spcBef>
                <a:spcPts val="800"/>
              </a:spcBef>
              <a:spcAft>
                <a:spcPts val="0"/>
              </a:spcAft>
              <a:buClr>
                <a:srgbClr val="878787"/>
              </a:buClr>
              <a:buSzPts val="1600"/>
              <a:buFont typeface="Calibri"/>
              <a:buNone/>
              <a:defRPr sz="1600"/>
            </a:lvl3pPr>
            <a:lvl4pPr marL="1828800" lvl="3" indent="-228600" algn="ctr">
              <a:spcBef>
                <a:spcPts val="800"/>
              </a:spcBef>
              <a:spcAft>
                <a:spcPts val="0"/>
              </a:spcAft>
              <a:buClr>
                <a:srgbClr val="878787"/>
              </a:buClr>
              <a:buSzPts val="1400"/>
              <a:buFont typeface="Calibri"/>
              <a:buNone/>
              <a:defRPr sz="1400"/>
            </a:lvl4pPr>
            <a:lvl5pPr marL="2286000" lvl="4" indent="-228600" algn="ctr">
              <a:spcBef>
                <a:spcPts val="800"/>
              </a:spcBef>
              <a:spcAft>
                <a:spcPts val="0"/>
              </a:spcAft>
              <a:buClr>
                <a:srgbClr val="878787"/>
              </a:buClr>
              <a:buSzPts val="1400"/>
              <a:buFont typeface="Calibri"/>
              <a:buNone/>
              <a:defRPr sz="1400"/>
            </a:lvl5pPr>
            <a:lvl6pPr marL="2743200" lvl="5" indent="-228600" algn="ctr">
              <a:spcBef>
                <a:spcPts val="800"/>
              </a:spcBef>
              <a:spcAft>
                <a:spcPts val="0"/>
              </a:spcAft>
              <a:buClr>
                <a:srgbClr val="878787"/>
              </a:buClr>
              <a:buSzPts val="1400"/>
              <a:buFont typeface="Calibri"/>
              <a:buNone/>
              <a:defRPr sz="1400"/>
            </a:lvl6pPr>
            <a:lvl7pPr marL="3200400" lvl="6" indent="-228600" algn="ctr">
              <a:spcBef>
                <a:spcPts val="800"/>
              </a:spcBef>
              <a:spcAft>
                <a:spcPts val="0"/>
              </a:spcAft>
              <a:buClr>
                <a:srgbClr val="878787"/>
              </a:buClr>
              <a:buSzPts val="1400"/>
              <a:buFont typeface="Calibri"/>
              <a:buNone/>
              <a:defRPr sz="1400"/>
            </a:lvl7pPr>
            <a:lvl8pPr marL="3657600" lvl="7" indent="-228600" algn="ctr">
              <a:spcBef>
                <a:spcPts val="800"/>
              </a:spcBef>
              <a:spcAft>
                <a:spcPts val="0"/>
              </a:spcAft>
              <a:buClr>
                <a:srgbClr val="878787"/>
              </a:buClr>
              <a:buSzPts val="1400"/>
              <a:buFont typeface="Calibri"/>
              <a:buNone/>
              <a:defRPr sz="1400"/>
            </a:lvl8pPr>
            <a:lvl9pPr marL="4114800" lvl="8" indent="-228600" algn="ctr">
              <a:spcBef>
                <a:spcPts val="800"/>
              </a:spcBef>
              <a:spcAft>
                <a:spcPts val="0"/>
              </a:spcAft>
              <a:buClr>
                <a:srgbClr val="878787"/>
              </a:buClr>
              <a:buSzPts val="1400"/>
              <a:buFont typeface="Calibri"/>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263"/>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263"/>
          <p:cNvSpPr txBox="1">
            <a:spLocks noGrp="1"/>
          </p:cNvSpPr>
          <p:nvPr>
            <p:ph type="body" idx="1"/>
          </p:nvPr>
        </p:nvSpPr>
        <p:spPr>
          <a:xfrm>
            <a:off x="18288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
        <p:nvSpPr>
          <p:cNvPr id="20" name="Google Shape;20;p263"/>
          <p:cNvSpPr txBox="1">
            <a:spLocks noGrp="1"/>
          </p:cNvSpPr>
          <p:nvPr>
            <p:ph type="body" idx="2"/>
          </p:nvPr>
        </p:nvSpPr>
        <p:spPr>
          <a:xfrm>
            <a:off x="61976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264"/>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64"/>
          <p:cNvSpPr txBox="1">
            <a:spLocks noGrp="1"/>
          </p:cNvSpPr>
          <p:nvPr>
            <p:ph type="body" idx="1"/>
          </p:nvPr>
        </p:nvSpPr>
        <p:spPr>
          <a:xfrm>
            <a:off x="609600" y="1535113"/>
            <a:ext cx="5386917"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4" name="Google Shape;24;p264"/>
          <p:cNvSpPr txBox="1">
            <a:spLocks noGrp="1"/>
          </p:cNvSpPr>
          <p:nvPr>
            <p:ph type="body" idx="2"/>
          </p:nvPr>
        </p:nvSpPr>
        <p:spPr>
          <a:xfrm>
            <a:off x="609600" y="2174875"/>
            <a:ext cx="5386917"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
        <p:nvSpPr>
          <p:cNvPr id="25" name="Google Shape;25;p264"/>
          <p:cNvSpPr txBox="1">
            <a:spLocks noGrp="1"/>
          </p:cNvSpPr>
          <p:nvPr>
            <p:ph type="body" idx="3"/>
          </p:nvPr>
        </p:nvSpPr>
        <p:spPr>
          <a:xfrm>
            <a:off x="6193368" y="1535113"/>
            <a:ext cx="5389033"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6" name="Google Shape;26;p264"/>
          <p:cNvSpPr txBox="1">
            <a:spLocks noGrp="1"/>
          </p:cNvSpPr>
          <p:nvPr>
            <p:ph type="body" idx="4"/>
          </p:nvPr>
        </p:nvSpPr>
        <p:spPr>
          <a:xfrm>
            <a:off x="6193368" y="2174875"/>
            <a:ext cx="5389033"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6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0"/>
        <p:cNvGrpSpPr/>
        <p:nvPr/>
      </p:nvGrpSpPr>
      <p:grpSpPr>
        <a:xfrm>
          <a:off x="0" y="0"/>
          <a:ext cx="0" cy="0"/>
          <a:chOff x="0" y="0"/>
          <a:chExt cx="0" cy="0"/>
        </a:xfrm>
      </p:grpSpPr>
      <p:sp>
        <p:nvSpPr>
          <p:cNvPr id="31" name="Google Shape;31;p267"/>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67"/>
          <p:cNvSpPr txBox="1">
            <a:spLocks noGrp="1"/>
          </p:cNvSpPr>
          <p:nvPr>
            <p:ph type="body" idx="1"/>
          </p:nvPr>
        </p:nvSpPr>
        <p:spPr>
          <a:xfrm>
            <a:off x="4766733" y="273051"/>
            <a:ext cx="6815667" cy="585311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3200"/>
            </a:lvl1pPr>
            <a:lvl2pPr marL="914400" lvl="1" indent="-228600" algn="ctr">
              <a:spcBef>
                <a:spcPts val="800"/>
              </a:spcBef>
              <a:spcAft>
                <a:spcPts val="0"/>
              </a:spcAft>
              <a:buSzPts val="1400"/>
              <a:buNone/>
              <a:defRPr sz="2800"/>
            </a:lvl2pPr>
            <a:lvl3pPr marL="1371600" lvl="2" indent="-228600" algn="ctr">
              <a:spcBef>
                <a:spcPts val="800"/>
              </a:spcBef>
              <a:spcAft>
                <a:spcPts val="0"/>
              </a:spcAft>
              <a:buSzPts val="1400"/>
              <a:buNone/>
              <a:defRPr sz="2400"/>
            </a:lvl3pPr>
            <a:lvl4pPr marL="1828800" lvl="3" indent="-228600" algn="ctr">
              <a:spcBef>
                <a:spcPts val="800"/>
              </a:spcBef>
              <a:spcAft>
                <a:spcPts val="0"/>
              </a:spcAft>
              <a:buSzPts val="1400"/>
              <a:buNone/>
              <a:defRPr sz="2000"/>
            </a:lvl4pPr>
            <a:lvl5pPr marL="2286000" lvl="4" indent="-228600" algn="ctr">
              <a:spcBef>
                <a:spcPts val="800"/>
              </a:spcBef>
              <a:spcAft>
                <a:spcPts val="0"/>
              </a:spcAft>
              <a:buSzPts val="1400"/>
              <a:buNone/>
              <a:defRPr sz="2000"/>
            </a:lvl5pPr>
            <a:lvl6pPr marL="2743200" lvl="5" indent="-228600" algn="ctr">
              <a:spcBef>
                <a:spcPts val="800"/>
              </a:spcBef>
              <a:spcAft>
                <a:spcPts val="0"/>
              </a:spcAft>
              <a:buSzPts val="1400"/>
              <a:buNone/>
              <a:defRPr sz="2000"/>
            </a:lvl6pPr>
            <a:lvl7pPr marL="3200400" lvl="6" indent="-228600" algn="ctr">
              <a:spcBef>
                <a:spcPts val="800"/>
              </a:spcBef>
              <a:spcAft>
                <a:spcPts val="0"/>
              </a:spcAft>
              <a:buSzPts val="1400"/>
              <a:buNone/>
              <a:defRPr sz="2000"/>
            </a:lvl7pPr>
            <a:lvl8pPr marL="3657600" lvl="7" indent="-228600" algn="ctr">
              <a:spcBef>
                <a:spcPts val="800"/>
              </a:spcBef>
              <a:spcAft>
                <a:spcPts val="0"/>
              </a:spcAft>
              <a:buSzPts val="1400"/>
              <a:buNone/>
              <a:defRPr sz="2000"/>
            </a:lvl8pPr>
            <a:lvl9pPr marL="4114800" lvl="8" indent="-228600" algn="ctr">
              <a:spcBef>
                <a:spcPts val="800"/>
              </a:spcBef>
              <a:spcAft>
                <a:spcPts val="0"/>
              </a:spcAft>
              <a:buSzPts val="1400"/>
              <a:buNone/>
              <a:defRPr sz="2000"/>
            </a:lvl9pPr>
          </a:lstStyle>
          <a:p>
            <a:endParaRPr/>
          </a:p>
        </p:txBody>
      </p:sp>
      <p:sp>
        <p:nvSpPr>
          <p:cNvPr id="33" name="Google Shape;33;p267"/>
          <p:cNvSpPr txBox="1">
            <a:spLocks noGrp="1"/>
          </p:cNvSpPr>
          <p:nvPr>
            <p:ph type="body" idx="2"/>
          </p:nvPr>
        </p:nvSpPr>
        <p:spPr>
          <a:xfrm>
            <a:off x="609601" y="1435101"/>
            <a:ext cx="4011084" cy="469106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268"/>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68"/>
          <p:cNvSpPr>
            <a:spLocks noGrp="1"/>
          </p:cNvSpPr>
          <p:nvPr>
            <p:ph type="pic" idx="2"/>
          </p:nvPr>
        </p:nvSpPr>
        <p:spPr>
          <a:xfrm>
            <a:off x="2389717" y="612775"/>
            <a:ext cx="7315200" cy="4114800"/>
          </a:xfrm>
          <a:prstGeom prst="rect">
            <a:avLst/>
          </a:prstGeom>
          <a:noFill/>
          <a:ln>
            <a:noFill/>
          </a:ln>
        </p:spPr>
      </p:sp>
      <p:sp>
        <p:nvSpPr>
          <p:cNvPr id="37" name="Google Shape;37;p268"/>
          <p:cNvSpPr txBox="1">
            <a:spLocks noGrp="1"/>
          </p:cNvSpPr>
          <p:nvPr>
            <p:ph type="body" idx="1"/>
          </p:nvPr>
        </p:nvSpPr>
        <p:spPr>
          <a:xfrm>
            <a:off x="2389717" y="5367338"/>
            <a:ext cx="7315200" cy="804862"/>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269"/>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69"/>
          <p:cNvSpPr txBox="1">
            <a:spLocks noGrp="1"/>
          </p:cNvSpPr>
          <p:nvPr>
            <p:ph type="body" idx="1"/>
          </p:nvPr>
        </p:nvSpPr>
        <p:spPr>
          <a:xfrm rot="5400000">
            <a:off x="4610100" y="1104900"/>
            <a:ext cx="2971800" cy="85344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270"/>
          <p:cNvSpPr txBox="1">
            <a:spLocks noGrp="1"/>
          </p:cNvSpPr>
          <p:nvPr>
            <p:ph type="title"/>
          </p:nvPr>
        </p:nvSpPr>
        <p:spPr>
          <a:xfrm rot="5400000">
            <a:off x="7475538" y="3055938"/>
            <a:ext cx="5013325" cy="25908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270"/>
          <p:cNvSpPr txBox="1">
            <a:spLocks noGrp="1"/>
          </p:cNvSpPr>
          <p:nvPr>
            <p:ph type="body" idx="1"/>
          </p:nvPr>
        </p:nvSpPr>
        <p:spPr>
          <a:xfrm rot="5400000">
            <a:off x="2192338" y="566738"/>
            <a:ext cx="5013325" cy="75692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25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25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260"/>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260"/>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260"/>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27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71"/>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2pPr>
            <a:lvl3pPr marR="0" lvl="2"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3pPr>
            <a:lvl4pPr marR="0" lvl="3"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4pPr>
            <a:lvl5pPr marR="0" lvl="4"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5pPr>
            <a:lvl6pPr marR="0" lvl="5"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6pPr>
            <a:lvl7pPr marR="0" lvl="6"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7pPr>
            <a:lvl8pPr marR="0" lvl="7"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8pPr>
            <a:lvl9pPr marR="0" lvl="8"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27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 name="Google Shape;65;p27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273"/>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7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9" name="Google Shape;69;p27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0" name="Google Shape;70;p27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1" name="Google Shape;71;p27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274"/>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275"/>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27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27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76"/>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76"/>
          <p:cNvSpPr>
            <a:spLocks noGrp="1"/>
          </p:cNvSpPr>
          <p:nvPr>
            <p:ph type="pic" idx="2"/>
          </p:nvPr>
        </p:nvSpPr>
        <p:spPr>
          <a:xfrm>
            <a:off x="2389717" y="612775"/>
            <a:ext cx="7315200" cy="4114800"/>
          </a:xfrm>
          <a:prstGeom prst="rect">
            <a:avLst/>
          </a:prstGeom>
          <a:noFill/>
          <a:ln>
            <a:noFill/>
          </a:ln>
        </p:spPr>
      </p:sp>
      <p:sp>
        <p:nvSpPr>
          <p:cNvPr id="81" name="Google Shape;81;p27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27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277"/>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78"/>
          <p:cNvSpPr txBox="1">
            <a:spLocks noGrp="1"/>
          </p:cNvSpPr>
          <p:nvPr>
            <p:ph type="title"/>
          </p:nvPr>
        </p:nvSpPr>
        <p:spPr>
          <a:xfrm rot="5400000">
            <a:off x="7193756" y="1737519"/>
            <a:ext cx="6034088" cy="2743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 name="Google Shape;87;p278"/>
          <p:cNvSpPr txBox="1">
            <a:spLocks noGrp="1"/>
          </p:cNvSpPr>
          <p:nvPr>
            <p:ph type="body" idx="1"/>
          </p:nvPr>
        </p:nvSpPr>
        <p:spPr>
          <a:xfrm rot="5400000">
            <a:off x="1605756" y="-904081"/>
            <a:ext cx="6034088"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4"/>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54"/>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marR="0" lvl="0"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1pPr>
            <a:lvl2pPr marL="914400" marR="0" lvl="1"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2pPr>
            <a:lvl3pPr marL="1371600" marR="0" lvl="2"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3pPr>
            <a:lvl4pPr marL="1828800" marR="0" lvl="3"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4pPr>
            <a:lvl5pPr marL="2286000" marR="0" lvl="4"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5pPr>
            <a:lvl6pPr marL="2743200" marR="0" lvl="5"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6pPr>
            <a:lvl7pPr marL="3200400" marR="0" lvl="6"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7pPr>
            <a:lvl8pPr marL="3657600" marR="0" lvl="7"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8pPr>
            <a:lvl9pPr marL="4114800" marR="0" lvl="8"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256"/>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 name="Picture 1" descr="A stethoscope formed in a heart">
            <a:extLst>
              <a:ext uri="{FF2B5EF4-FFF2-40B4-BE49-F238E27FC236}">
                <a16:creationId xmlns:a16="http://schemas.microsoft.com/office/drawing/2014/main" id="{68618E94-2252-8279-13DD-DA445EB756C6}"/>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t="17" b="12774"/>
          <a:stretch/>
        </p:blipFill>
        <p:spPr>
          <a:xfrm>
            <a:off x="-3048" y="10"/>
            <a:ext cx="12191997" cy="6857990"/>
          </a:xfrm>
          <a:prstGeom prst="rect">
            <a:avLst/>
          </a:prstGeom>
          <a:solidFill>
            <a:schemeClr val="accent1"/>
          </a:solidFill>
        </p:spPr>
      </p:pic>
      <p:sp>
        <p:nvSpPr>
          <p:cNvPr id="92" name="Google Shape;92;p1"/>
          <p:cNvSpPr txBox="1">
            <a:spLocks noGrp="1"/>
          </p:cNvSpPr>
          <p:nvPr>
            <p:ph type="title"/>
          </p:nvPr>
        </p:nvSpPr>
        <p:spPr>
          <a:xfrm>
            <a:off x="4542182" y="0"/>
            <a:ext cx="7924800" cy="2838450"/>
          </a:xfrm>
          <a:prstGeom prst="rect">
            <a:avLst/>
          </a:prstGeom>
          <a:noFill/>
          <a:ln>
            <a:noFill/>
          </a:ln>
        </p:spPr>
        <p:txBody>
          <a:bodyPr spcFirstLastPara="1" wrap="square" lIns="50800" tIns="50800" rIns="50800" bIns="50800" anchor="ctr" anchorCtr="0">
            <a:noAutofit/>
          </a:bodyPr>
          <a:lstStyle/>
          <a:p>
            <a:r>
              <a:rPr lang="en-US" dirty="0"/>
              <a:t>HYPERTENSION</a:t>
            </a:r>
            <a:br>
              <a:rPr lang="en-US" dirty="0"/>
            </a:br>
            <a:r>
              <a:rPr lang="en-US" dirty="0"/>
              <a:t>Part II</a:t>
            </a:r>
            <a:endParaRPr dirty="0"/>
          </a:p>
        </p:txBody>
      </p:sp>
      <p:sp>
        <p:nvSpPr>
          <p:cNvPr id="93" name="Google Shape;93;p1"/>
          <p:cNvSpPr txBox="1">
            <a:spLocks noGrp="1"/>
          </p:cNvSpPr>
          <p:nvPr>
            <p:ph type="body" idx="1"/>
          </p:nvPr>
        </p:nvSpPr>
        <p:spPr>
          <a:xfrm>
            <a:off x="3564006" y="1959664"/>
            <a:ext cx="5063988" cy="878786"/>
          </a:xfrm>
          <a:prstGeom prst="rect">
            <a:avLst/>
          </a:prstGeom>
          <a:noFill/>
          <a:ln>
            <a:noFill/>
          </a:ln>
        </p:spPr>
        <p:txBody>
          <a:bodyPr spcFirstLastPara="1" wrap="square" lIns="50800" tIns="50800" rIns="50800" bIns="50800" anchor="t" anchorCtr="0">
            <a:noAutofit/>
          </a:bodyPr>
          <a:lstStyle/>
          <a:p>
            <a:pPr marL="0" indent="0"/>
            <a:endParaRPr dirty="0"/>
          </a:p>
          <a:p>
            <a:pPr marL="0" indent="0"/>
            <a:endParaRPr dirty="0"/>
          </a:p>
          <a:p>
            <a:pPr marL="0" indent="0"/>
            <a:r>
              <a:rPr lang="en-US" dirty="0">
                <a:solidFill>
                  <a:schemeClr val="tx1"/>
                </a:solidFill>
              </a:rPr>
              <a:t>Breanna Veal, MHS, PA-C</a:t>
            </a:r>
          </a:p>
        </p:txBody>
      </p:sp>
      <p:sp>
        <p:nvSpPr>
          <p:cNvPr id="3" name="TextBox 2">
            <a:extLst>
              <a:ext uri="{FF2B5EF4-FFF2-40B4-BE49-F238E27FC236}">
                <a16:creationId xmlns:a16="http://schemas.microsoft.com/office/drawing/2014/main" id="{8F65DF9B-8C3B-F346-5A0C-0BEE019D065D}"/>
              </a:ext>
            </a:extLst>
          </p:cNvPr>
          <p:cNvSpPr txBox="1"/>
          <p:nvPr/>
        </p:nvSpPr>
        <p:spPr>
          <a:xfrm>
            <a:off x="2415210" y="4705918"/>
            <a:ext cx="8388626" cy="1569660"/>
          </a:xfrm>
          <a:prstGeom prst="rect">
            <a:avLst/>
          </a:prstGeom>
          <a:noFill/>
        </p:spPr>
        <p:txBody>
          <a:bodyPr wrap="square" rtlCol="0">
            <a:spAutoFit/>
          </a:bodyPr>
          <a:lstStyle/>
          <a:p>
            <a:pPr algn="ctr"/>
            <a:r>
              <a:rPr lang="en-US" sz="2400" dirty="0">
                <a:solidFill>
                  <a:schemeClr val="tx1"/>
                </a:solidFill>
                <a:latin typeface="Calibri" panose="020F0502020204030204" pitchFamily="34" charset="0"/>
                <a:cs typeface="Calibri" panose="020F0502020204030204" pitchFamily="34" charset="0"/>
              </a:rPr>
              <a:t>Blood Pressure Screening, Classification and Diagnosis of HTN</a:t>
            </a:r>
          </a:p>
          <a:p>
            <a:pPr algn="ctr"/>
            <a:r>
              <a:rPr lang="en-US" sz="2400" dirty="0">
                <a:solidFill>
                  <a:schemeClr val="tx1"/>
                </a:solidFill>
                <a:latin typeface="Calibri" panose="020F0502020204030204" pitchFamily="34" charset="0"/>
                <a:cs typeface="Calibri" panose="020F0502020204030204" pitchFamily="34" charset="0"/>
              </a:rPr>
              <a:t>BP Measurement and Technique</a:t>
            </a:r>
          </a:p>
          <a:p>
            <a:pPr algn="ctr"/>
            <a:r>
              <a:rPr lang="en-US" sz="2400" dirty="0">
                <a:solidFill>
                  <a:schemeClr val="tx1"/>
                </a:solidFill>
                <a:latin typeface="Calibri" panose="020F0502020204030204" pitchFamily="34" charset="0"/>
                <a:cs typeface="Calibri" panose="020F0502020204030204" pitchFamily="34" charset="0"/>
              </a:rPr>
              <a:t>End Organ Damage of HTN </a:t>
            </a:r>
          </a:p>
          <a:p>
            <a:pPr algn="ctr"/>
            <a:r>
              <a:rPr lang="en-US" sz="2400" dirty="0">
                <a:solidFill>
                  <a:schemeClr val="tx1"/>
                </a:solidFill>
                <a:latin typeface="Calibri" panose="020F0502020204030204" pitchFamily="34" charset="0"/>
                <a:cs typeface="Calibri" panose="020F0502020204030204" pitchFamily="34" charset="0"/>
              </a:rPr>
              <a:t>History Taking and Laboratory w/u of HTN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4064F-1BB8-CDAB-040B-6096ABA61DB8}"/>
              </a:ext>
            </a:extLst>
          </p:cNvPr>
          <p:cNvSpPr>
            <a:spLocks noGrp="1"/>
          </p:cNvSpPr>
          <p:nvPr>
            <p:ph type="title"/>
          </p:nvPr>
        </p:nvSpPr>
        <p:spPr/>
        <p:txBody>
          <a:bodyPr/>
          <a:lstStyle/>
          <a:p>
            <a:r>
              <a:rPr lang="en-US" dirty="0"/>
              <a:t>Making the Diagnosis</a:t>
            </a:r>
          </a:p>
        </p:txBody>
      </p:sp>
    </p:spTree>
    <p:extLst>
      <p:ext uri="{BB962C8B-B14F-4D97-AF65-F5344CB8AC3E}">
        <p14:creationId xmlns:p14="http://schemas.microsoft.com/office/powerpoint/2010/main" val="441450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1053548" y="355187"/>
            <a:ext cx="10535478" cy="1387475"/>
          </a:xfrm>
          <a:prstGeom prst="rect">
            <a:avLst/>
          </a:prstGeom>
          <a:noFill/>
          <a:ln>
            <a:noFill/>
          </a:ln>
        </p:spPr>
        <p:txBody>
          <a:bodyPr spcFirstLastPara="1" wrap="square" lIns="50800" tIns="50800" rIns="50800" bIns="50800" anchor="ctr" anchorCtr="0">
            <a:noAutofit/>
          </a:bodyPr>
          <a:lstStyle/>
          <a:p>
            <a:r>
              <a:rPr lang="en-US" dirty="0"/>
              <a:t>Blood Pressure Screening Recommendations</a:t>
            </a:r>
            <a:endParaRPr dirty="0"/>
          </a:p>
        </p:txBody>
      </p:sp>
      <p:sp>
        <p:nvSpPr>
          <p:cNvPr id="107" name="Google Shape;107;p3"/>
          <p:cNvSpPr txBox="1">
            <a:spLocks noGrp="1"/>
          </p:cNvSpPr>
          <p:nvPr>
            <p:ph type="body" idx="1"/>
          </p:nvPr>
        </p:nvSpPr>
        <p:spPr>
          <a:xfrm>
            <a:off x="828261" y="1610138"/>
            <a:ext cx="10535478" cy="4892675"/>
          </a:xfrm>
          <a:prstGeom prst="rect">
            <a:avLst/>
          </a:prstGeom>
          <a:noFill/>
          <a:ln>
            <a:noFill/>
          </a:ln>
        </p:spPr>
        <p:txBody>
          <a:bodyPr spcFirstLastPara="1" wrap="square" lIns="91425" tIns="45700" rIns="91425" bIns="45700" anchor="t" anchorCtr="0">
            <a:noAutofit/>
          </a:bodyPr>
          <a:lstStyle/>
          <a:p>
            <a:pPr marL="342900" indent="-342900" algn="l">
              <a:spcBef>
                <a:spcPts val="0"/>
              </a:spcBef>
              <a:buSzPts val="3000"/>
            </a:pPr>
            <a:r>
              <a:rPr lang="en-US" sz="3000" b="1" dirty="0">
                <a:solidFill>
                  <a:schemeClr val="tx1"/>
                </a:solidFill>
              </a:rPr>
              <a:t>Every 3-5 years</a:t>
            </a:r>
          </a:p>
          <a:p>
            <a:pPr lvl="1" indent="-457200" algn="l">
              <a:spcBef>
                <a:spcPts val="0"/>
              </a:spcBef>
              <a:buSzPts val="3000"/>
              <a:buFont typeface="Arial" panose="020B0604020202020204" pitchFamily="34" charset="0"/>
              <a:buChar char="•"/>
            </a:pPr>
            <a:r>
              <a:rPr lang="en-US" sz="3000" dirty="0">
                <a:solidFill>
                  <a:schemeClr val="tx1"/>
                </a:solidFill>
              </a:rPr>
              <a:t>Beginning age 18-39 without elevated BP or cardiovascular risk factors</a:t>
            </a:r>
          </a:p>
          <a:p>
            <a:pPr marL="342900" indent="-342900" algn="l">
              <a:spcBef>
                <a:spcPts val="0"/>
              </a:spcBef>
              <a:buSzPts val="3000"/>
            </a:pPr>
            <a:endParaRPr lang="en-US" sz="3000" b="1" dirty="0">
              <a:solidFill>
                <a:schemeClr val="tx1"/>
              </a:solidFill>
            </a:endParaRPr>
          </a:p>
          <a:p>
            <a:pPr marL="342900" indent="-342900" algn="l">
              <a:spcBef>
                <a:spcPts val="0"/>
              </a:spcBef>
              <a:buSzPts val="3000"/>
            </a:pPr>
            <a:endParaRPr lang="en-US" sz="3000" b="1" dirty="0">
              <a:solidFill>
                <a:schemeClr val="tx1"/>
              </a:solidFill>
            </a:endParaRPr>
          </a:p>
          <a:p>
            <a:pPr marL="342900" indent="-342900" algn="l">
              <a:spcBef>
                <a:spcPts val="0"/>
              </a:spcBef>
              <a:buSzPts val="3000"/>
            </a:pPr>
            <a:r>
              <a:rPr lang="en-US" sz="3000" b="1" dirty="0">
                <a:solidFill>
                  <a:schemeClr val="tx1"/>
                </a:solidFill>
              </a:rPr>
              <a:t>Annually</a:t>
            </a:r>
          </a:p>
          <a:p>
            <a:pPr marL="800100" lvl="1" indent="-342900" algn="l">
              <a:spcBef>
                <a:spcPts val="0"/>
              </a:spcBef>
              <a:buSzPts val="3000"/>
              <a:buChar char="•"/>
            </a:pPr>
            <a:r>
              <a:rPr lang="en-US" sz="3000" dirty="0">
                <a:solidFill>
                  <a:schemeClr val="tx1"/>
                </a:solidFill>
              </a:rPr>
              <a:t>Age &gt;40</a:t>
            </a:r>
          </a:p>
          <a:p>
            <a:pPr marL="800100" lvl="1" indent="-342900" algn="l">
              <a:spcBef>
                <a:spcPts val="0"/>
              </a:spcBef>
              <a:buSzPts val="3000"/>
              <a:buChar char="•"/>
            </a:pPr>
            <a:r>
              <a:rPr lang="en-US" sz="3000" dirty="0">
                <a:solidFill>
                  <a:schemeClr val="tx1"/>
                </a:solidFill>
              </a:rPr>
              <a:t>Risk factors: prior BP &gt;130/80, African American, overweight or obese</a:t>
            </a:r>
          </a:p>
          <a:p>
            <a:pPr marL="800100" lvl="1" indent="-342900" algn="l">
              <a:spcBef>
                <a:spcPts val="0"/>
              </a:spcBef>
              <a:buSzPts val="3000"/>
              <a:buChar char="•"/>
            </a:pPr>
            <a:r>
              <a:rPr lang="en-US" sz="3000" dirty="0">
                <a:solidFill>
                  <a:schemeClr val="tx1"/>
                </a:solidFill>
              </a:rPr>
              <a:t>Additional risk factors: dyslipidemia, DM, smoking, high-salt diet</a:t>
            </a:r>
          </a:p>
          <a:p>
            <a:pPr marL="457200" lvl="1" indent="0" algn="l">
              <a:spcBef>
                <a:spcPts val="0"/>
              </a:spcBef>
              <a:buSzPts val="3000"/>
            </a:pPr>
            <a:endParaRPr lang="en-US" sz="3000" dirty="0">
              <a:solidFill>
                <a:schemeClr val="tx1"/>
              </a:solidFill>
            </a:endParaRPr>
          </a:p>
        </p:txBody>
      </p:sp>
      <p:sp>
        <p:nvSpPr>
          <p:cNvPr id="2" name="Arrow: Down 1">
            <a:extLst>
              <a:ext uri="{FF2B5EF4-FFF2-40B4-BE49-F238E27FC236}">
                <a16:creationId xmlns:a16="http://schemas.microsoft.com/office/drawing/2014/main" id="{995C4CBF-92FA-712B-123A-F17D81DD8D4E}"/>
              </a:ext>
            </a:extLst>
          </p:cNvPr>
          <p:cNvSpPr/>
          <p:nvPr/>
        </p:nvSpPr>
        <p:spPr>
          <a:xfrm>
            <a:off x="5853973" y="3122468"/>
            <a:ext cx="484632" cy="6130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692F715A-907C-D6DA-771F-6A865EF755AA}"/>
              </a:ext>
            </a:extLst>
          </p:cNvPr>
          <p:cNvSpPr txBox="1"/>
          <p:nvPr/>
        </p:nvSpPr>
        <p:spPr>
          <a:xfrm>
            <a:off x="6409957" y="3198167"/>
            <a:ext cx="2439558" cy="461665"/>
          </a:xfrm>
          <a:prstGeom prst="rect">
            <a:avLst/>
          </a:prstGeom>
          <a:noFill/>
        </p:spPr>
        <p:txBody>
          <a:bodyPr wrap="square" rtlCol="0">
            <a:spAutoFit/>
          </a:bodyPr>
          <a:lstStyle/>
          <a:p>
            <a:r>
              <a:rPr lang="en-US" sz="2400" dirty="0"/>
              <a:t>Exceptions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68"/>
          <p:cNvSpPr txBox="1">
            <a:spLocks noGrp="1"/>
          </p:cNvSpPr>
          <p:nvPr>
            <p:ph type="title"/>
          </p:nvPr>
        </p:nvSpPr>
        <p:spPr>
          <a:xfrm>
            <a:off x="1981200" y="0"/>
            <a:ext cx="8229600" cy="1143000"/>
          </a:xfrm>
          <a:prstGeom prst="rect">
            <a:avLst/>
          </a:prstGeom>
          <a:noFill/>
          <a:ln>
            <a:noFill/>
          </a:ln>
        </p:spPr>
        <p:txBody>
          <a:bodyPr spcFirstLastPara="1" wrap="square" lIns="50800" tIns="50800" rIns="50800" bIns="50800" anchor="ctr" anchorCtr="0">
            <a:noAutofit/>
          </a:bodyPr>
          <a:lstStyle/>
          <a:p>
            <a:r>
              <a:rPr lang="en-US" b="1" dirty="0"/>
              <a:t>AHA/ACC Adult Classification of BP </a:t>
            </a:r>
            <a:endParaRPr b="1" dirty="0"/>
          </a:p>
        </p:txBody>
      </p:sp>
      <p:sp>
        <p:nvSpPr>
          <p:cNvPr id="591" name="Google Shape;591;p68"/>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rgbClr val="045C75"/>
                </a:solidFill>
                <a:latin typeface="Constantia"/>
                <a:ea typeface="Constantia"/>
                <a:cs typeface="Constantia"/>
                <a:sym typeface="Constantia"/>
              </a:rPr>
              <a:pPr/>
              <a:t>4</a:t>
            </a:fld>
            <a:endParaRPr sz="1200">
              <a:solidFill>
                <a:srgbClr val="045C75"/>
              </a:solidFill>
              <a:latin typeface="Constantia"/>
              <a:ea typeface="Constantia"/>
              <a:cs typeface="Constantia"/>
              <a:sym typeface="Constantia"/>
            </a:endParaRPr>
          </a:p>
        </p:txBody>
      </p:sp>
      <p:graphicFrame>
        <p:nvGraphicFramePr>
          <p:cNvPr id="2" name="Table 2">
            <a:extLst>
              <a:ext uri="{FF2B5EF4-FFF2-40B4-BE49-F238E27FC236}">
                <a16:creationId xmlns:a16="http://schemas.microsoft.com/office/drawing/2014/main" id="{4EA77410-2811-B7F0-D688-19DC5F64FFC7}"/>
              </a:ext>
            </a:extLst>
          </p:cNvPr>
          <p:cNvGraphicFramePr>
            <a:graphicFrameLocks noGrp="1"/>
          </p:cNvGraphicFramePr>
          <p:nvPr>
            <p:extLst>
              <p:ext uri="{D42A27DB-BD31-4B8C-83A1-F6EECF244321}">
                <p14:modId xmlns:p14="http://schemas.microsoft.com/office/powerpoint/2010/main" val="323918361"/>
              </p:ext>
            </p:extLst>
          </p:nvPr>
        </p:nvGraphicFramePr>
        <p:xfrm>
          <a:off x="629479" y="1254700"/>
          <a:ext cx="10933042" cy="5503909"/>
        </p:xfrm>
        <a:graphic>
          <a:graphicData uri="http://schemas.openxmlformats.org/drawingml/2006/table">
            <a:tbl>
              <a:tblPr firstRow="1" bandRow="1">
                <a:tableStyleId>{EC500EC1-2580-4279-ABFF-E99678A4F935}</a:tableStyleId>
              </a:tblPr>
              <a:tblGrid>
                <a:gridCol w="3559789">
                  <a:extLst>
                    <a:ext uri="{9D8B030D-6E8A-4147-A177-3AD203B41FA5}">
                      <a16:colId xmlns:a16="http://schemas.microsoft.com/office/drawing/2014/main" val="2341650270"/>
                    </a:ext>
                  </a:extLst>
                </a:gridCol>
                <a:gridCol w="3207116">
                  <a:extLst>
                    <a:ext uri="{9D8B030D-6E8A-4147-A177-3AD203B41FA5}">
                      <a16:colId xmlns:a16="http://schemas.microsoft.com/office/drawing/2014/main" val="3651027590"/>
                    </a:ext>
                  </a:extLst>
                </a:gridCol>
                <a:gridCol w="848618">
                  <a:extLst>
                    <a:ext uri="{9D8B030D-6E8A-4147-A177-3AD203B41FA5}">
                      <a16:colId xmlns:a16="http://schemas.microsoft.com/office/drawing/2014/main" val="3978585317"/>
                    </a:ext>
                  </a:extLst>
                </a:gridCol>
                <a:gridCol w="3317519">
                  <a:extLst>
                    <a:ext uri="{9D8B030D-6E8A-4147-A177-3AD203B41FA5}">
                      <a16:colId xmlns:a16="http://schemas.microsoft.com/office/drawing/2014/main" val="628854303"/>
                    </a:ext>
                  </a:extLst>
                </a:gridCol>
              </a:tblGrid>
              <a:tr h="959519">
                <a:tc>
                  <a:txBody>
                    <a:bodyPr/>
                    <a:lstStyle/>
                    <a:p>
                      <a:r>
                        <a:rPr lang="en-US" sz="2600" dirty="0">
                          <a:solidFill>
                            <a:schemeClr val="tx1"/>
                          </a:solidFill>
                        </a:rPr>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solidFill>
                            <a:schemeClr val="tx1"/>
                          </a:solidFill>
                        </a:rPr>
                        <a:t>Systolic BP mmHg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solidFill>
                            <a:schemeClr val="tx1"/>
                          </a:solidFill>
                        </a:rPr>
                        <a:t>Diastolic BP mmHg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1810459"/>
                  </a:ext>
                </a:extLst>
              </a:tr>
              <a:tr h="529389">
                <a:tc>
                  <a:txBody>
                    <a:bodyPr/>
                    <a:lstStyle/>
                    <a:p>
                      <a:r>
                        <a:rPr lang="en-US" sz="2600" dirty="0"/>
                        <a:t>Normal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Less than 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Less than 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355110"/>
                  </a:ext>
                </a:extLst>
              </a:tr>
              <a:tr h="565353">
                <a:tc>
                  <a:txBody>
                    <a:bodyPr/>
                    <a:lstStyle/>
                    <a:p>
                      <a:r>
                        <a:rPr lang="en-US" sz="2600" dirty="0"/>
                        <a:t>Elevated BP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120-129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600" dirty="0"/>
                        <a:t>Less than 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3557899"/>
                  </a:ext>
                </a:extLst>
              </a:tr>
              <a:tr h="529389">
                <a:tc>
                  <a:txBody>
                    <a:bodyPr/>
                    <a:lstStyle/>
                    <a:p>
                      <a:r>
                        <a:rPr lang="en-US" sz="2600" dirty="0"/>
                        <a:t>Stage I HTN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130-139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80-89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362832"/>
                  </a:ext>
                </a:extLst>
              </a:tr>
              <a:tr h="529389">
                <a:tc>
                  <a:txBody>
                    <a:bodyPr/>
                    <a:lstStyle/>
                    <a:p>
                      <a:r>
                        <a:rPr lang="en-US" sz="2600" dirty="0"/>
                        <a:t>Stage II HTN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chemeClr val="dk1"/>
                        </a:buClr>
                        <a:buSzPts val="2600"/>
                        <a:buFont typeface="Calibri"/>
                        <a:buNone/>
                      </a:pPr>
                      <a:r>
                        <a:rPr lang="en-US" sz="2600" b="0" i="0" u="sng" strike="noStrike" cap="none" dirty="0">
                          <a:solidFill>
                            <a:schemeClr val="dk1"/>
                          </a:solidFill>
                          <a:latin typeface="Calibri"/>
                          <a:ea typeface="Calibri"/>
                          <a:cs typeface="Calibri"/>
                          <a:sym typeface="Calibri"/>
                        </a:rPr>
                        <a:t>&gt;</a:t>
                      </a:r>
                      <a:r>
                        <a:rPr lang="en-US" sz="2600" b="0" i="0" u="none" strike="noStrike" cap="none" dirty="0">
                          <a:solidFill>
                            <a:schemeClr val="dk1"/>
                          </a:solidFill>
                          <a:latin typeface="Calibri"/>
                          <a:ea typeface="Calibri"/>
                          <a:cs typeface="Calibri"/>
                          <a:sym typeface="Calibri"/>
                        </a:rPr>
                        <a:t> 140</a:t>
                      </a:r>
                      <a:endParaRPr lang="en-US" sz="2600" b="0" i="0" u="sng" strike="noStrike" cap="none" dirty="0">
                        <a:solidFill>
                          <a:schemeClr val="dk1"/>
                        </a:solidFill>
                        <a:latin typeface="Calibri"/>
                        <a:ea typeface="Calibri"/>
                        <a:cs typeface="Calibri"/>
                        <a:sym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chemeClr val="dk1"/>
                        </a:buClr>
                        <a:buSzPts val="2600"/>
                        <a:buFont typeface="Calibri"/>
                        <a:buNone/>
                      </a:pPr>
                      <a:r>
                        <a:rPr lang="en-US" sz="2600" b="0" i="0" u="sng" strike="noStrike" cap="none" dirty="0">
                          <a:solidFill>
                            <a:schemeClr val="dk1"/>
                          </a:solidFill>
                          <a:latin typeface="Calibri"/>
                          <a:ea typeface="Calibri"/>
                          <a:cs typeface="Calibri"/>
                          <a:sym typeface="Calibri"/>
                        </a:rPr>
                        <a:t>&gt;</a:t>
                      </a:r>
                      <a:r>
                        <a:rPr lang="en-US" sz="2600" b="0" i="0" u="none" strike="noStrike" cap="none" dirty="0">
                          <a:solidFill>
                            <a:schemeClr val="dk1"/>
                          </a:solidFill>
                          <a:latin typeface="Calibri"/>
                          <a:ea typeface="Calibri"/>
                          <a:cs typeface="Calibri"/>
                          <a:sym typeface="Calibri"/>
                        </a:rPr>
                        <a:t> 90</a:t>
                      </a:r>
                      <a:endParaRPr lang="en-US" sz="2600" b="0" i="0" u="sng" strike="noStrike" cap="none" dirty="0">
                        <a:solidFill>
                          <a:schemeClr val="dk1"/>
                        </a:solidFill>
                        <a:latin typeface="Calibri"/>
                        <a:ea typeface="Calibri"/>
                        <a:cs typeface="Calibri"/>
                        <a:sym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5063926"/>
                  </a:ext>
                </a:extLst>
              </a:tr>
              <a:tr h="492496">
                <a:tc>
                  <a:txBody>
                    <a:bodyPr/>
                    <a:lstStyle/>
                    <a:p>
                      <a:r>
                        <a:rPr lang="en-US" sz="2600" dirty="0"/>
                        <a:t>Isolated systolic HTN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130 or higher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and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600" dirty="0"/>
                        <a:t>Less than 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8293775"/>
                  </a:ext>
                </a:extLst>
              </a:tr>
              <a:tr h="526774">
                <a:tc>
                  <a:txBody>
                    <a:bodyPr/>
                    <a:lstStyle/>
                    <a:p>
                      <a:r>
                        <a:rPr lang="en-US" sz="2600" dirty="0"/>
                        <a:t>Isolated diastolic HTN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Less than 130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dirty="0"/>
                        <a:t>80 or higher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872254"/>
                  </a:ext>
                </a:extLst>
              </a:tr>
              <a:tr h="0">
                <a:tc>
                  <a:txBody>
                    <a:bodyPr/>
                    <a:lstStyle/>
                    <a:p>
                      <a:r>
                        <a:rPr lang="en-US" sz="2600" dirty="0"/>
                        <a:t>Hypertensive Urgency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600" b="0" i="0" u="sng" strike="noStrike" cap="none" dirty="0">
                          <a:solidFill>
                            <a:schemeClr val="dk1"/>
                          </a:solidFill>
                          <a:latin typeface="Calibri"/>
                          <a:ea typeface="Calibri"/>
                          <a:cs typeface="Calibri"/>
                          <a:sym typeface="Calibri"/>
                        </a:rPr>
                        <a:t>&gt;</a:t>
                      </a:r>
                      <a:r>
                        <a:rPr lang="en-US" sz="2600"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600" b="0" i="0" u="sng" strike="noStrike" cap="none" dirty="0">
                          <a:solidFill>
                            <a:schemeClr val="dk1"/>
                          </a:solidFill>
                          <a:latin typeface="Calibri"/>
                          <a:ea typeface="Calibri"/>
                          <a:cs typeface="Calibri"/>
                          <a:sym typeface="Calibri"/>
                        </a:rPr>
                        <a:t>&gt;</a:t>
                      </a:r>
                      <a:r>
                        <a:rPr lang="en-US" sz="2600" dirty="0"/>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699828"/>
                  </a:ext>
                </a:extLst>
              </a:tr>
              <a:tr h="526774">
                <a:tc>
                  <a:txBody>
                    <a:bodyPr/>
                    <a:lstStyle/>
                    <a:p>
                      <a:r>
                        <a:rPr lang="en-US" sz="2600" dirty="0"/>
                        <a:t>Hypertensive Emergency</a:t>
                      </a:r>
                    </a:p>
                    <a:p>
                      <a:r>
                        <a:rPr lang="en-US" sz="2600" dirty="0"/>
                        <a:t>(end organ damage)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0" i="0" u="sng" strike="noStrike" cap="none" dirty="0">
                          <a:solidFill>
                            <a:schemeClr val="dk1"/>
                          </a:solidFill>
                          <a:latin typeface="Calibri"/>
                          <a:ea typeface="Calibri"/>
                          <a:cs typeface="Calibri"/>
                          <a:sym typeface="Calibri"/>
                        </a:rPr>
                        <a:t>&gt;</a:t>
                      </a:r>
                      <a:r>
                        <a:rPr lang="en-US" sz="2600"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1" dirty="0"/>
                        <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600" b="0" i="0" u="sng" strike="noStrike" cap="none" dirty="0">
                          <a:solidFill>
                            <a:schemeClr val="dk1"/>
                          </a:solidFill>
                          <a:latin typeface="Calibri"/>
                          <a:ea typeface="Calibri"/>
                          <a:cs typeface="Calibri"/>
                          <a:sym typeface="Calibri"/>
                        </a:rPr>
                        <a:t>&gt;</a:t>
                      </a:r>
                      <a:r>
                        <a:rPr lang="en-US" sz="2600" dirty="0"/>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769227"/>
                  </a:ext>
                </a:extLst>
              </a:tr>
            </a:tbl>
          </a:graphicData>
        </a:graphic>
      </p:graphicFrame>
    </p:spTree>
    <p:extLst>
      <p:ext uri="{BB962C8B-B14F-4D97-AF65-F5344CB8AC3E}">
        <p14:creationId xmlns:p14="http://schemas.microsoft.com/office/powerpoint/2010/main" val="3124934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5"/>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dirty="0"/>
              <a:t> Making the Diagnosis of HTN</a:t>
            </a:r>
            <a:endParaRPr dirty="0"/>
          </a:p>
        </p:txBody>
      </p:sp>
      <p:sp>
        <p:nvSpPr>
          <p:cNvPr id="491" name="Google Shape;491;p55"/>
          <p:cNvSpPr txBox="1">
            <a:spLocks noGrp="1"/>
          </p:cNvSpPr>
          <p:nvPr>
            <p:ph type="body" idx="1"/>
          </p:nvPr>
        </p:nvSpPr>
        <p:spPr>
          <a:xfrm>
            <a:off x="437322" y="1143000"/>
            <a:ext cx="11449877" cy="55626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BP varies dramatically in a 24-hour period and from day to day, so </a:t>
            </a:r>
            <a:r>
              <a:rPr lang="en-US" sz="2800" i="1" dirty="0"/>
              <a:t>a single BP reading is ALMOST NEVER used to make a diagnosis of HTN</a:t>
            </a:r>
            <a:r>
              <a:rPr lang="en-US" sz="2800" dirty="0"/>
              <a:t>.</a:t>
            </a:r>
          </a:p>
          <a:p>
            <a:pPr marL="749300" lvl="1" indent="-292100">
              <a:spcBef>
                <a:spcPts val="0"/>
              </a:spcBef>
            </a:pPr>
            <a:r>
              <a:rPr lang="en-US" sz="2800" b="1" dirty="0"/>
              <a:t>Exception:</a:t>
            </a:r>
            <a:r>
              <a:rPr lang="en-US" sz="2800" dirty="0"/>
              <a:t> </a:t>
            </a:r>
            <a:r>
              <a:rPr lang="en-US" sz="2800" b="1" dirty="0"/>
              <a:t>BP </a:t>
            </a:r>
            <a:r>
              <a:rPr lang="en-US" sz="2800" b="1" u="sng" dirty="0"/>
              <a:t>&gt;</a:t>
            </a:r>
            <a:r>
              <a:rPr lang="en-US" sz="2800" b="1" dirty="0"/>
              <a:t> 180 systolic or </a:t>
            </a:r>
            <a:r>
              <a:rPr lang="en-US" sz="2800" b="1" u="sng" dirty="0"/>
              <a:t>&gt;</a:t>
            </a:r>
            <a:r>
              <a:rPr lang="en-US" sz="2800" b="1" dirty="0"/>
              <a:t>120 diastolic</a:t>
            </a:r>
          </a:p>
          <a:p>
            <a:pPr marL="2286000" lvl="5" indent="0">
              <a:spcBef>
                <a:spcPts val="0"/>
              </a:spcBef>
              <a:buNone/>
            </a:pPr>
            <a:r>
              <a:rPr lang="en-US" sz="2800" b="1" dirty="0"/>
              <a:t>BP </a:t>
            </a:r>
            <a:r>
              <a:rPr lang="en-US" sz="2800" b="1" u="sng" dirty="0"/>
              <a:t>&gt;</a:t>
            </a:r>
            <a:r>
              <a:rPr lang="en-US" sz="2800" b="1" dirty="0"/>
              <a:t> 160 systolic or </a:t>
            </a:r>
            <a:r>
              <a:rPr lang="en-US" sz="2800" b="1" u="sng" dirty="0"/>
              <a:t>&gt;</a:t>
            </a:r>
            <a:r>
              <a:rPr lang="en-US" sz="2800" b="1" dirty="0"/>
              <a:t>100 diastolic with known end organ target damage</a:t>
            </a:r>
            <a:endParaRPr sz="2800" b="1" dirty="0"/>
          </a:p>
          <a:p>
            <a:pPr marL="292100" indent="-292100"/>
            <a:r>
              <a:rPr lang="en-US" sz="2800" b="1" dirty="0"/>
              <a:t>Clinical criteria for defining hypertension:</a:t>
            </a:r>
          </a:p>
          <a:p>
            <a:pPr marL="749300" lvl="1" indent="-292100">
              <a:buChar char="•"/>
            </a:pPr>
            <a:r>
              <a:rPr lang="en-US" sz="2800" dirty="0"/>
              <a:t>Average of 2 or more seated BP readings separated by at least 1-2 min, during each of 2 or more outpatient visits.</a:t>
            </a:r>
          </a:p>
          <a:p>
            <a:pPr marL="749300" lvl="1" indent="-292100">
              <a:buChar char="•"/>
            </a:pPr>
            <a:r>
              <a:rPr lang="en-US" sz="2800" dirty="0"/>
              <a:t>Out of office monitoring is preferred via home BP monitoring or ambulatory BP monitoring when making the diagnosis. </a:t>
            </a:r>
          </a:p>
          <a:p>
            <a:pPr marL="1206500" lvl="2" indent="-292100"/>
            <a:r>
              <a:rPr lang="en-US" sz="2800" dirty="0"/>
              <a:t>If out of office monitoring can’t be achieved, office BP reading should be repeated within 1-2wk after initial screening. </a:t>
            </a:r>
            <a:endParaRPr sz="2800" dirty="0"/>
          </a:p>
        </p:txBody>
      </p:sp>
    </p:spTree>
    <p:extLst>
      <p:ext uri="{BB962C8B-B14F-4D97-AF65-F5344CB8AC3E}">
        <p14:creationId xmlns:p14="http://schemas.microsoft.com/office/powerpoint/2010/main" val="3410696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6"/>
          <p:cNvSpPr txBox="1">
            <a:spLocks noGrp="1"/>
          </p:cNvSpPr>
          <p:nvPr>
            <p:ph type="title"/>
          </p:nvPr>
        </p:nvSpPr>
        <p:spPr>
          <a:xfrm>
            <a:off x="1676400" y="76200"/>
            <a:ext cx="8915400" cy="838200"/>
          </a:xfrm>
          <a:prstGeom prst="rect">
            <a:avLst/>
          </a:prstGeom>
          <a:noFill/>
          <a:ln>
            <a:noFill/>
          </a:ln>
        </p:spPr>
        <p:txBody>
          <a:bodyPr spcFirstLastPara="1" wrap="square" lIns="50800" tIns="50800" rIns="50800" bIns="50800" anchor="ctr" anchorCtr="0">
            <a:noAutofit/>
          </a:bodyPr>
          <a:lstStyle/>
          <a:p>
            <a:r>
              <a:rPr lang="en-US"/>
              <a:t>Measurement of BP- OBPM Technique</a:t>
            </a:r>
            <a:endParaRPr/>
          </a:p>
        </p:txBody>
      </p:sp>
      <p:sp>
        <p:nvSpPr>
          <p:cNvPr id="497" name="Google Shape;497;p56"/>
          <p:cNvSpPr txBox="1">
            <a:spLocks noGrp="1"/>
          </p:cNvSpPr>
          <p:nvPr>
            <p:ph type="body" idx="1"/>
          </p:nvPr>
        </p:nvSpPr>
        <p:spPr>
          <a:xfrm>
            <a:off x="569843" y="1540565"/>
            <a:ext cx="11052313" cy="1119809"/>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BP needs to be measured with an appropriately sized cuff and the </a:t>
            </a:r>
            <a:r>
              <a:rPr lang="en-US" b="1" dirty="0"/>
              <a:t>bladder should be 80%</a:t>
            </a:r>
            <a:r>
              <a:rPr lang="en-US" dirty="0"/>
              <a:t> of the patient’s arm length. </a:t>
            </a:r>
            <a:endParaRPr dirty="0"/>
          </a:p>
          <a:p>
            <a:pPr marL="292100" indent="-133350">
              <a:buSzPts val="2500"/>
              <a:buNone/>
            </a:pPr>
            <a:endParaRPr sz="2500" dirty="0"/>
          </a:p>
          <a:p>
            <a:pPr marL="292100" indent="-139700">
              <a:buSzPts val="2400"/>
              <a:buNone/>
            </a:pPr>
            <a:endParaRPr sz="2400" dirty="0"/>
          </a:p>
        </p:txBody>
      </p:sp>
      <p:graphicFrame>
        <p:nvGraphicFramePr>
          <p:cNvPr id="4" name="Table 4">
            <a:extLst>
              <a:ext uri="{FF2B5EF4-FFF2-40B4-BE49-F238E27FC236}">
                <a16:creationId xmlns:a16="http://schemas.microsoft.com/office/drawing/2014/main" id="{56D2F9FF-7B98-B2C6-8A61-E50F331CDCF3}"/>
              </a:ext>
            </a:extLst>
          </p:cNvPr>
          <p:cNvGraphicFramePr>
            <a:graphicFrameLocks noGrp="1"/>
          </p:cNvGraphicFramePr>
          <p:nvPr>
            <p:extLst>
              <p:ext uri="{D42A27DB-BD31-4B8C-83A1-F6EECF244321}">
                <p14:modId xmlns:p14="http://schemas.microsoft.com/office/powerpoint/2010/main" val="2441723281"/>
              </p:ext>
            </p:extLst>
          </p:nvPr>
        </p:nvGraphicFramePr>
        <p:xfrm>
          <a:off x="1861378" y="3200400"/>
          <a:ext cx="8128000" cy="2590800"/>
        </p:xfrm>
        <a:graphic>
          <a:graphicData uri="http://schemas.openxmlformats.org/drawingml/2006/table">
            <a:tbl>
              <a:tblPr firstRow="1" bandRow="1">
                <a:tableStyleId>{5CA6CF68-EC4B-4158-8A7C-682902D774E9}</a:tableStyleId>
              </a:tblPr>
              <a:tblGrid>
                <a:gridCol w="4064000">
                  <a:extLst>
                    <a:ext uri="{9D8B030D-6E8A-4147-A177-3AD203B41FA5}">
                      <a16:colId xmlns:a16="http://schemas.microsoft.com/office/drawing/2014/main" val="3433684717"/>
                    </a:ext>
                  </a:extLst>
                </a:gridCol>
                <a:gridCol w="4064000">
                  <a:extLst>
                    <a:ext uri="{9D8B030D-6E8A-4147-A177-3AD203B41FA5}">
                      <a16:colId xmlns:a16="http://schemas.microsoft.com/office/drawing/2014/main" val="1629648158"/>
                    </a:ext>
                  </a:extLst>
                </a:gridCol>
              </a:tblGrid>
              <a:tr h="370840">
                <a:tc>
                  <a:txBody>
                    <a:bodyPr/>
                    <a:lstStyle/>
                    <a:p>
                      <a:r>
                        <a:rPr lang="en-US" sz="2800" dirty="0">
                          <a:latin typeface="Calibri" panose="020F0502020204030204" pitchFamily="34" charset="0"/>
                          <a:cs typeface="Calibri" panose="020F0502020204030204" pitchFamily="34" charset="0"/>
                        </a:rPr>
                        <a:t>Arm Circumference</a:t>
                      </a:r>
                    </a:p>
                  </a:txBody>
                  <a:tcPr/>
                </a:tc>
                <a:tc>
                  <a:txBody>
                    <a:bodyPr/>
                    <a:lstStyle/>
                    <a:p>
                      <a:r>
                        <a:rPr lang="en-US" sz="2800" dirty="0">
                          <a:latin typeface="Calibri" panose="020F0502020204030204" pitchFamily="34" charset="0"/>
                          <a:cs typeface="Calibri" panose="020F0502020204030204" pitchFamily="34" charset="0"/>
                        </a:rPr>
                        <a:t>Usual Cuff Size</a:t>
                      </a:r>
                    </a:p>
                  </a:txBody>
                  <a:tcPr/>
                </a:tc>
                <a:extLst>
                  <a:ext uri="{0D108BD9-81ED-4DB2-BD59-A6C34878D82A}">
                    <a16:rowId xmlns:a16="http://schemas.microsoft.com/office/drawing/2014/main" val="2086438189"/>
                  </a:ext>
                </a:extLst>
              </a:tr>
              <a:tr h="370840">
                <a:tc>
                  <a:txBody>
                    <a:bodyPr/>
                    <a:lstStyle/>
                    <a:p>
                      <a:r>
                        <a:rPr lang="en-US" sz="2800" dirty="0">
                          <a:latin typeface="Calibri" panose="020F0502020204030204" pitchFamily="34" charset="0"/>
                          <a:cs typeface="Calibri" panose="020F0502020204030204" pitchFamily="34" charset="0"/>
                        </a:rPr>
                        <a:t>22-26cm</a:t>
                      </a:r>
                    </a:p>
                  </a:txBody>
                  <a:tcPr/>
                </a:tc>
                <a:tc>
                  <a:txBody>
                    <a:bodyPr/>
                    <a:lstStyle/>
                    <a:p>
                      <a:r>
                        <a:rPr lang="en-US" sz="2800" dirty="0">
                          <a:latin typeface="Calibri" panose="020F0502020204030204" pitchFamily="34" charset="0"/>
                          <a:cs typeface="Calibri" panose="020F0502020204030204" pitchFamily="34" charset="0"/>
                        </a:rPr>
                        <a:t>Small Adult</a:t>
                      </a:r>
                    </a:p>
                  </a:txBody>
                  <a:tcPr/>
                </a:tc>
                <a:extLst>
                  <a:ext uri="{0D108BD9-81ED-4DB2-BD59-A6C34878D82A}">
                    <a16:rowId xmlns:a16="http://schemas.microsoft.com/office/drawing/2014/main" val="530771076"/>
                  </a:ext>
                </a:extLst>
              </a:tr>
              <a:tr h="370840">
                <a:tc>
                  <a:txBody>
                    <a:bodyPr/>
                    <a:lstStyle/>
                    <a:p>
                      <a:r>
                        <a:rPr lang="en-US" sz="2800" dirty="0">
                          <a:latin typeface="Calibri" panose="020F0502020204030204" pitchFamily="34" charset="0"/>
                          <a:cs typeface="Calibri" panose="020F0502020204030204" pitchFamily="34" charset="0"/>
                        </a:rPr>
                        <a:t>27-34cm</a:t>
                      </a:r>
                    </a:p>
                  </a:txBody>
                  <a:tcPr/>
                </a:tc>
                <a:tc>
                  <a:txBody>
                    <a:bodyPr/>
                    <a:lstStyle/>
                    <a:p>
                      <a:r>
                        <a:rPr lang="en-US" sz="2800" dirty="0">
                          <a:latin typeface="Calibri" panose="020F0502020204030204" pitchFamily="34" charset="0"/>
                          <a:cs typeface="Calibri" panose="020F0502020204030204" pitchFamily="34" charset="0"/>
                        </a:rPr>
                        <a:t>Adult</a:t>
                      </a:r>
                    </a:p>
                  </a:txBody>
                  <a:tcPr/>
                </a:tc>
                <a:extLst>
                  <a:ext uri="{0D108BD9-81ED-4DB2-BD59-A6C34878D82A}">
                    <a16:rowId xmlns:a16="http://schemas.microsoft.com/office/drawing/2014/main" val="4226388261"/>
                  </a:ext>
                </a:extLst>
              </a:tr>
              <a:tr h="370840">
                <a:tc>
                  <a:txBody>
                    <a:bodyPr/>
                    <a:lstStyle/>
                    <a:p>
                      <a:r>
                        <a:rPr lang="en-US" sz="2800" dirty="0">
                          <a:latin typeface="Calibri" panose="020F0502020204030204" pitchFamily="34" charset="0"/>
                          <a:cs typeface="Calibri" panose="020F0502020204030204" pitchFamily="34" charset="0"/>
                        </a:rPr>
                        <a:t>35-44cm</a:t>
                      </a:r>
                    </a:p>
                  </a:txBody>
                  <a:tcPr/>
                </a:tc>
                <a:tc>
                  <a:txBody>
                    <a:bodyPr/>
                    <a:lstStyle/>
                    <a:p>
                      <a:r>
                        <a:rPr lang="en-US" sz="2800" dirty="0">
                          <a:latin typeface="Calibri" panose="020F0502020204030204" pitchFamily="34" charset="0"/>
                          <a:cs typeface="Calibri" panose="020F0502020204030204" pitchFamily="34" charset="0"/>
                        </a:rPr>
                        <a:t>Large Adult</a:t>
                      </a:r>
                    </a:p>
                  </a:txBody>
                  <a:tcPr/>
                </a:tc>
                <a:extLst>
                  <a:ext uri="{0D108BD9-81ED-4DB2-BD59-A6C34878D82A}">
                    <a16:rowId xmlns:a16="http://schemas.microsoft.com/office/drawing/2014/main" val="1702854853"/>
                  </a:ext>
                </a:extLst>
              </a:tr>
              <a:tr h="370840">
                <a:tc>
                  <a:txBody>
                    <a:bodyPr/>
                    <a:lstStyle/>
                    <a:p>
                      <a:r>
                        <a:rPr lang="en-US" sz="2800" dirty="0">
                          <a:latin typeface="Calibri" panose="020F0502020204030204" pitchFamily="34" charset="0"/>
                          <a:cs typeface="Calibri" panose="020F0502020204030204" pitchFamily="34" charset="0"/>
                        </a:rPr>
                        <a:t>45-52cm</a:t>
                      </a:r>
                    </a:p>
                  </a:txBody>
                  <a:tcPr/>
                </a:tc>
                <a:tc>
                  <a:txBody>
                    <a:bodyPr/>
                    <a:lstStyle/>
                    <a:p>
                      <a:r>
                        <a:rPr lang="en-US" sz="2800" dirty="0">
                          <a:latin typeface="Calibri" panose="020F0502020204030204" pitchFamily="34" charset="0"/>
                          <a:cs typeface="Calibri" panose="020F0502020204030204" pitchFamily="34" charset="0"/>
                        </a:rPr>
                        <a:t>Adult thigh</a:t>
                      </a:r>
                    </a:p>
                  </a:txBody>
                  <a:tcPr/>
                </a:tc>
                <a:extLst>
                  <a:ext uri="{0D108BD9-81ED-4DB2-BD59-A6C34878D82A}">
                    <a16:rowId xmlns:a16="http://schemas.microsoft.com/office/drawing/2014/main" val="54759672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6"/>
          <p:cNvSpPr txBox="1">
            <a:spLocks noGrp="1"/>
          </p:cNvSpPr>
          <p:nvPr>
            <p:ph type="title"/>
          </p:nvPr>
        </p:nvSpPr>
        <p:spPr>
          <a:xfrm>
            <a:off x="1676400" y="76200"/>
            <a:ext cx="8915400" cy="838200"/>
          </a:xfrm>
          <a:prstGeom prst="rect">
            <a:avLst/>
          </a:prstGeom>
          <a:noFill/>
          <a:ln>
            <a:noFill/>
          </a:ln>
        </p:spPr>
        <p:txBody>
          <a:bodyPr spcFirstLastPara="1" wrap="square" lIns="50800" tIns="50800" rIns="50800" bIns="50800" anchor="ctr" anchorCtr="0">
            <a:noAutofit/>
          </a:bodyPr>
          <a:lstStyle/>
          <a:p>
            <a:r>
              <a:rPr lang="en-US"/>
              <a:t>Measurement of BP- OBPM Technique</a:t>
            </a:r>
            <a:endParaRPr/>
          </a:p>
        </p:txBody>
      </p:sp>
      <p:sp>
        <p:nvSpPr>
          <p:cNvPr id="497" name="Google Shape;497;p56"/>
          <p:cNvSpPr txBox="1">
            <a:spLocks noGrp="1"/>
          </p:cNvSpPr>
          <p:nvPr>
            <p:ph type="body" idx="1"/>
          </p:nvPr>
        </p:nvSpPr>
        <p:spPr>
          <a:xfrm>
            <a:off x="556591" y="1066800"/>
            <a:ext cx="11052313" cy="5715000"/>
          </a:xfrm>
          <a:prstGeom prst="rect">
            <a:avLst/>
          </a:prstGeom>
          <a:noFill/>
          <a:ln>
            <a:noFill/>
          </a:ln>
        </p:spPr>
        <p:txBody>
          <a:bodyPr spcFirstLastPara="1" wrap="square" lIns="50800" tIns="50800" rIns="50800" bIns="50800" anchor="t" anchorCtr="0">
            <a:noAutofit/>
          </a:bodyPr>
          <a:lstStyle/>
          <a:p>
            <a:pPr marL="292100" indent="-292100"/>
            <a:r>
              <a:rPr lang="en-US" b="1" dirty="0"/>
              <a:t>No exercise, caffeine or smoking for 30 minutes prior </a:t>
            </a:r>
            <a:r>
              <a:rPr lang="en-US" dirty="0"/>
              <a:t>to checking the BP.  The patient should have an empty bladder prior to sitting down.</a:t>
            </a:r>
            <a:endParaRPr dirty="0"/>
          </a:p>
          <a:p>
            <a:pPr marL="292100" indent="-133350">
              <a:buSzPts val="2500"/>
              <a:buNone/>
            </a:pPr>
            <a:endParaRPr sz="2500" dirty="0"/>
          </a:p>
          <a:p>
            <a:pPr marL="292100" indent="-292100"/>
            <a:r>
              <a:rPr lang="en-US" dirty="0"/>
              <a:t>Seat the patient in a chair with feet firmly on the floor and back supported firmly for </a:t>
            </a:r>
            <a:r>
              <a:rPr lang="en-US" b="1" dirty="0"/>
              <a:t>at least 5 minutes </a:t>
            </a:r>
            <a:r>
              <a:rPr lang="en-US" dirty="0"/>
              <a:t>prior to readings (taken two times in both arms-at initial visit).</a:t>
            </a:r>
          </a:p>
          <a:p>
            <a:pPr marL="292100" indent="-292100"/>
            <a:endParaRPr lang="en-US" dirty="0"/>
          </a:p>
          <a:p>
            <a:pPr marL="292100" indent="-292100"/>
            <a:r>
              <a:rPr lang="en-US" dirty="0"/>
              <a:t>Blood pressure </a:t>
            </a:r>
            <a:r>
              <a:rPr lang="en-US" b="1" dirty="0"/>
              <a:t>cuff should be applied to bare arm </a:t>
            </a:r>
            <a:r>
              <a:rPr lang="en-US" dirty="0"/>
              <a:t>(avoid simply rolling up the sleeve as this acts as a tourniquet)</a:t>
            </a:r>
            <a:endParaRPr dirty="0"/>
          </a:p>
          <a:p>
            <a:pPr marL="292100" indent="-139700">
              <a:buSzPts val="2400"/>
              <a:buNone/>
            </a:pPr>
            <a:endParaRPr sz="2400" dirty="0"/>
          </a:p>
        </p:txBody>
      </p:sp>
    </p:spTree>
    <p:extLst>
      <p:ext uri="{BB962C8B-B14F-4D97-AF65-F5344CB8AC3E}">
        <p14:creationId xmlns:p14="http://schemas.microsoft.com/office/powerpoint/2010/main" val="237634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7"/>
          <p:cNvSpPr txBox="1">
            <a:spLocks noGrp="1"/>
          </p:cNvSpPr>
          <p:nvPr>
            <p:ph type="title"/>
          </p:nvPr>
        </p:nvSpPr>
        <p:spPr>
          <a:xfrm>
            <a:off x="1676400" y="76200"/>
            <a:ext cx="8915400" cy="838200"/>
          </a:xfrm>
          <a:prstGeom prst="rect">
            <a:avLst/>
          </a:prstGeom>
          <a:noFill/>
          <a:ln>
            <a:noFill/>
          </a:ln>
        </p:spPr>
        <p:txBody>
          <a:bodyPr spcFirstLastPara="1" wrap="square" lIns="50800" tIns="50800" rIns="50800" bIns="50800" anchor="ctr" anchorCtr="0">
            <a:noAutofit/>
          </a:bodyPr>
          <a:lstStyle/>
          <a:p>
            <a:r>
              <a:rPr lang="en-US"/>
              <a:t>Measurement of BP- OBPM Technique</a:t>
            </a:r>
            <a:endParaRPr/>
          </a:p>
        </p:txBody>
      </p:sp>
      <p:sp>
        <p:nvSpPr>
          <p:cNvPr id="503" name="Google Shape;503;p57"/>
          <p:cNvSpPr txBox="1">
            <a:spLocks noGrp="1"/>
          </p:cNvSpPr>
          <p:nvPr>
            <p:ph type="body" idx="1"/>
          </p:nvPr>
        </p:nvSpPr>
        <p:spPr>
          <a:xfrm>
            <a:off x="646043" y="1066800"/>
            <a:ext cx="11032435" cy="5572539"/>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000"/>
            </a:pPr>
            <a:r>
              <a:rPr lang="en-US" sz="2800" dirty="0"/>
              <a:t>The arm should be supported at the level of the heart, otherwise the BP will be elevated by 10-12 mmHg due to added hydrostatic pressure from gravity.</a:t>
            </a:r>
            <a:endParaRPr sz="2800" dirty="0"/>
          </a:p>
          <a:p>
            <a:pPr marL="292100" indent="-101600">
              <a:buSzPts val="3000"/>
              <a:buNone/>
            </a:pPr>
            <a:endParaRPr sz="2800" dirty="0"/>
          </a:p>
          <a:p>
            <a:pPr marL="292100" indent="-292100">
              <a:buSzPts val="3000"/>
            </a:pPr>
            <a:r>
              <a:rPr lang="en-US" sz="2800" dirty="0"/>
              <a:t>The person taking the blood pressure and the patient should NOT TALK at all.</a:t>
            </a:r>
          </a:p>
          <a:p>
            <a:pPr marL="292100" indent="-292100">
              <a:buSzPts val="3000"/>
            </a:pPr>
            <a:endParaRPr lang="en-US" sz="2800" dirty="0"/>
          </a:p>
          <a:p>
            <a:pPr marL="292100" indent="-292100">
              <a:buSzPts val="3000"/>
            </a:pPr>
            <a:r>
              <a:rPr lang="en-US" sz="2800" dirty="0"/>
              <a:t> </a:t>
            </a:r>
            <a:r>
              <a:rPr lang="en-US" sz="2800" b="1" dirty="0"/>
              <a:t>Ideally, BP is measured with an automated </a:t>
            </a:r>
            <a:r>
              <a:rPr lang="en-US" sz="2800" b="1" dirty="0" err="1"/>
              <a:t>oscillometric</a:t>
            </a:r>
            <a:r>
              <a:rPr lang="en-US" sz="2800" b="1" dirty="0"/>
              <a:t> meter with no clinical staff in the room</a:t>
            </a:r>
            <a:r>
              <a:rPr lang="en-US" sz="2800" dirty="0"/>
              <a:t>.</a:t>
            </a:r>
            <a:endParaRPr sz="2800" dirty="0"/>
          </a:p>
          <a:p>
            <a:pPr marL="292100" indent="-139700">
              <a:buSzPts val="2400"/>
              <a:buNone/>
            </a:pP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8"/>
          <p:cNvSpPr txBox="1">
            <a:spLocks noGrp="1"/>
          </p:cNvSpPr>
          <p:nvPr>
            <p:ph type="title"/>
          </p:nvPr>
        </p:nvSpPr>
        <p:spPr>
          <a:xfrm>
            <a:off x="1676400" y="76200"/>
            <a:ext cx="8915400" cy="838200"/>
          </a:xfrm>
          <a:prstGeom prst="rect">
            <a:avLst/>
          </a:prstGeom>
          <a:noFill/>
          <a:ln>
            <a:noFill/>
          </a:ln>
        </p:spPr>
        <p:txBody>
          <a:bodyPr spcFirstLastPara="1" wrap="square" lIns="50800" tIns="50800" rIns="50800" bIns="50800" anchor="ctr" anchorCtr="0">
            <a:noAutofit/>
          </a:bodyPr>
          <a:lstStyle/>
          <a:p>
            <a:r>
              <a:rPr lang="en-US"/>
              <a:t>Measurement of BP-OBPM Technique</a:t>
            </a:r>
            <a:endParaRPr/>
          </a:p>
        </p:txBody>
      </p:sp>
      <p:sp>
        <p:nvSpPr>
          <p:cNvPr id="509" name="Google Shape;509;p58"/>
          <p:cNvSpPr txBox="1">
            <a:spLocks noGrp="1"/>
          </p:cNvSpPr>
          <p:nvPr>
            <p:ph type="body" idx="1"/>
          </p:nvPr>
        </p:nvSpPr>
        <p:spPr>
          <a:xfrm>
            <a:off x="457199" y="1066800"/>
            <a:ext cx="11261035"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BP should be measured in both arms, </a:t>
            </a:r>
            <a:r>
              <a:rPr lang="en-US" i="1" dirty="0"/>
              <a:t>at least at the initial visit</a:t>
            </a:r>
            <a:r>
              <a:rPr lang="en-US" dirty="0"/>
              <a:t>, and if disparity exists, </a:t>
            </a:r>
            <a:r>
              <a:rPr lang="en-US" b="1" dirty="0"/>
              <a:t>the arm with the higher reading should be used for future readings</a:t>
            </a:r>
            <a:r>
              <a:rPr lang="en-US" dirty="0"/>
              <a:t>.</a:t>
            </a:r>
            <a:endParaRPr dirty="0"/>
          </a:p>
          <a:p>
            <a:pPr marL="292100" indent="-177800">
              <a:buSzPts val="1800"/>
              <a:buNone/>
            </a:pPr>
            <a:endParaRPr sz="1800" dirty="0"/>
          </a:p>
          <a:p>
            <a:pPr marL="292100" indent="-292100"/>
            <a:r>
              <a:rPr lang="en-US" dirty="0"/>
              <a:t>BP should also be measured after 5 min supine and then at 1 to 3 minutes after standing to evaluate for the effect of postural change (particularly important in the older adult)</a:t>
            </a:r>
          </a:p>
          <a:p>
            <a:pPr marL="749300" lvl="1" indent="-292100"/>
            <a:r>
              <a:rPr lang="en-US" dirty="0"/>
              <a:t>Systolic drop of 20mmHg and/or Diastolic drop of 10mmHg</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9"/>
          <p:cNvSpPr txBox="1">
            <a:spLocks noGrp="1"/>
          </p:cNvSpPr>
          <p:nvPr>
            <p:ph type="title"/>
          </p:nvPr>
        </p:nvSpPr>
        <p:spPr>
          <a:xfrm>
            <a:off x="1524000" y="76200"/>
            <a:ext cx="9144000" cy="838200"/>
          </a:xfrm>
          <a:prstGeom prst="rect">
            <a:avLst/>
          </a:prstGeom>
          <a:noFill/>
          <a:ln>
            <a:noFill/>
          </a:ln>
        </p:spPr>
        <p:txBody>
          <a:bodyPr spcFirstLastPara="1" wrap="square" lIns="50800" tIns="50800" rIns="50800" bIns="50800" anchor="ctr" anchorCtr="0">
            <a:noAutofit/>
          </a:bodyPr>
          <a:lstStyle/>
          <a:p>
            <a:r>
              <a:rPr lang="en-US"/>
              <a:t>Measurement of BP-OBPM Technique</a:t>
            </a:r>
            <a:endParaRPr/>
          </a:p>
        </p:txBody>
      </p:sp>
      <p:sp>
        <p:nvSpPr>
          <p:cNvPr id="515" name="Google Shape;515;p59"/>
          <p:cNvSpPr txBox="1">
            <a:spLocks noGrp="1"/>
          </p:cNvSpPr>
          <p:nvPr>
            <p:ph type="body" idx="1"/>
          </p:nvPr>
        </p:nvSpPr>
        <p:spPr>
          <a:xfrm>
            <a:off x="1752600" y="1066800"/>
            <a:ext cx="8686800"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a:t>“Blood pressure reading does not seem to be done correctly in any clinic…It appears to be so simple that anyone can do it, but they can’t…” JAMA 2008; 299:2842</a:t>
            </a:r>
            <a:endParaRPr/>
          </a:p>
        </p:txBody>
      </p:sp>
      <p:graphicFrame>
        <p:nvGraphicFramePr>
          <p:cNvPr id="516" name="Google Shape;516;p59"/>
          <p:cNvGraphicFramePr/>
          <p:nvPr/>
        </p:nvGraphicFramePr>
        <p:xfrm>
          <a:off x="1752600" y="3429000"/>
          <a:ext cx="8458200" cy="3095650"/>
        </p:xfrm>
        <a:graphic>
          <a:graphicData uri="http://schemas.openxmlformats.org/drawingml/2006/table">
            <a:tbl>
              <a:tblPr firstRow="1" bandRow="1">
                <a:noFill/>
                <a:tableStyleId>{9176C877-5902-4F01-AA12-915402B82F07}</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837300">
                <a:tc>
                  <a:txBody>
                    <a:bodyPr/>
                    <a:lstStyle/>
                    <a:p>
                      <a:pPr marL="0" marR="0" lvl="0" indent="0" algn="l" rtl="0">
                        <a:spcBef>
                          <a:spcPts val="0"/>
                        </a:spcBef>
                        <a:spcAft>
                          <a:spcPts val="0"/>
                        </a:spcAft>
                        <a:buNone/>
                      </a:pPr>
                      <a:r>
                        <a:rPr lang="en-US" sz="2400"/>
                        <a:t>Technique</a:t>
                      </a:r>
                      <a:endParaRPr/>
                    </a:p>
                  </a:txBody>
                  <a:tcPr marL="91450" marR="91450" marT="45700" marB="45700"/>
                </a:tc>
                <a:tc>
                  <a:txBody>
                    <a:bodyPr/>
                    <a:lstStyle/>
                    <a:p>
                      <a:pPr marL="0" marR="0" lvl="0" indent="0" algn="l" rtl="0">
                        <a:spcBef>
                          <a:spcPts val="0"/>
                        </a:spcBef>
                        <a:spcAft>
                          <a:spcPts val="0"/>
                        </a:spcAft>
                        <a:buNone/>
                      </a:pPr>
                      <a:r>
                        <a:rPr lang="en-US" sz="2400"/>
                        <a:t>Change in BP if not done correctly</a:t>
                      </a:r>
                      <a:endParaRPr/>
                    </a:p>
                  </a:txBody>
                  <a:tcPr marL="91450" marR="91450" marT="45700" marB="45700"/>
                </a:tc>
                <a:extLst>
                  <a:ext uri="{0D108BD9-81ED-4DB2-BD59-A6C34878D82A}">
                    <a16:rowId xmlns:a16="http://schemas.microsoft.com/office/drawing/2014/main" val="10000"/>
                  </a:ext>
                </a:extLst>
              </a:tr>
              <a:tr h="478475">
                <a:tc>
                  <a:txBody>
                    <a:bodyPr/>
                    <a:lstStyle/>
                    <a:p>
                      <a:pPr marL="0" marR="0" lvl="0" indent="0" algn="l" rtl="0">
                        <a:spcBef>
                          <a:spcPts val="0"/>
                        </a:spcBef>
                        <a:spcAft>
                          <a:spcPts val="0"/>
                        </a:spcAft>
                        <a:buNone/>
                      </a:pPr>
                      <a:r>
                        <a:rPr lang="en-US" sz="2400"/>
                        <a:t>Rest quietly for 5+ minutes</a:t>
                      </a:r>
                      <a:endParaRPr/>
                    </a:p>
                  </a:txBody>
                  <a:tcPr marL="91450" marR="91450" marT="45700" marB="45700"/>
                </a:tc>
                <a:tc>
                  <a:txBody>
                    <a:bodyPr/>
                    <a:lstStyle/>
                    <a:p>
                      <a:pPr marL="0" marR="0" lvl="0" indent="0" algn="l" rtl="0">
                        <a:spcBef>
                          <a:spcPts val="0"/>
                        </a:spcBef>
                        <a:spcAft>
                          <a:spcPts val="0"/>
                        </a:spcAft>
                        <a:buNone/>
                      </a:pPr>
                      <a:r>
                        <a:rPr lang="en-US" sz="2400"/>
                        <a:t>   12/6</a:t>
                      </a:r>
                      <a:endParaRPr/>
                    </a:p>
                  </a:txBody>
                  <a:tcPr marL="91450" marR="91450" marT="45700" marB="45700"/>
                </a:tc>
                <a:extLst>
                  <a:ext uri="{0D108BD9-81ED-4DB2-BD59-A6C34878D82A}">
                    <a16:rowId xmlns:a16="http://schemas.microsoft.com/office/drawing/2014/main" val="10001"/>
                  </a:ext>
                </a:extLst>
              </a:tr>
              <a:tr h="478475">
                <a:tc>
                  <a:txBody>
                    <a:bodyPr/>
                    <a:lstStyle/>
                    <a:p>
                      <a:pPr marL="0" marR="0" lvl="0" indent="0" algn="l" rtl="0">
                        <a:spcBef>
                          <a:spcPts val="0"/>
                        </a:spcBef>
                        <a:spcAft>
                          <a:spcPts val="0"/>
                        </a:spcAft>
                        <a:buNone/>
                      </a:pPr>
                      <a:r>
                        <a:rPr lang="en-US" sz="2400"/>
                        <a:t>Seated, back supported</a:t>
                      </a:r>
                      <a:endParaRPr sz="2400"/>
                    </a:p>
                  </a:txBody>
                  <a:tcPr marL="91450" marR="91450" marT="45700" marB="45700"/>
                </a:tc>
                <a:tc>
                  <a:txBody>
                    <a:bodyPr/>
                    <a:lstStyle/>
                    <a:p>
                      <a:pPr marL="0" marR="0" lvl="0" indent="0" algn="l" rtl="0">
                        <a:spcBef>
                          <a:spcPts val="0"/>
                        </a:spcBef>
                        <a:spcAft>
                          <a:spcPts val="0"/>
                        </a:spcAft>
                        <a:buNone/>
                      </a:pPr>
                      <a:r>
                        <a:rPr lang="en-US" sz="2400" dirty="0"/>
                        <a:t>    6/8</a:t>
                      </a:r>
                      <a:endParaRPr dirty="0"/>
                    </a:p>
                  </a:txBody>
                  <a:tcPr marL="91450" marR="91450" marT="45700" marB="45700"/>
                </a:tc>
                <a:extLst>
                  <a:ext uri="{0D108BD9-81ED-4DB2-BD59-A6C34878D82A}">
                    <a16:rowId xmlns:a16="http://schemas.microsoft.com/office/drawing/2014/main" val="10002"/>
                  </a:ext>
                </a:extLst>
              </a:tr>
              <a:tr h="822925">
                <a:tc>
                  <a:txBody>
                    <a:bodyPr/>
                    <a:lstStyle/>
                    <a:p>
                      <a:pPr marL="0" marR="0" lvl="0" indent="0" algn="l" rtl="0">
                        <a:spcBef>
                          <a:spcPts val="0"/>
                        </a:spcBef>
                        <a:spcAft>
                          <a:spcPts val="0"/>
                        </a:spcAft>
                        <a:buNone/>
                      </a:pPr>
                      <a:r>
                        <a:rPr lang="en-US" sz="2400"/>
                        <a:t>Correct cuff size</a:t>
                      </a:r>
                      <a:endParaRPr/>
                    </a:p>
                  </a:txBody>
                  <a:tcPr marL="91450" marR="91450" marT="45700" marB="45700"/>
                </a:tc>
                <a:tc>
                  <a:txBody>
                    <a:bodyPr/>
                    <a:lstStyle/>
                    <a:p>
                      <a:pPr marL="0" marR="0" lvl="0" indent="0" algn="l" rtl="0">
                        <a:spcBef>
                          <a:spcPts val="0"/>
                        </a:spcBef>
                        <a:spcAft>
                          <a:spcPts val="0"/>
                        </a:spcAft>
                        <a:buNone/>
                      </a:pPr>
                      <a:r>
                        <a:rPr lang="en-US" sz="2400"/>
                        <a:t>   6-18/4-13 if too small,   7/5 if too large</a:t>
                      </a:r>
                      <a:endParaRPr/>
                    </a:p>
                  </a:txBody>
                  <a:tcPr marL="91450" marR="91450" marT="45700" marB="45700"/>
                </a:tc>
                <a:extLst>
                  <a:ext uri="{0D108BD9-81ED-4DB2-BD59-A6C34878D82A}">
                    <a16:rowId xmlns:a16="http://schemas.microsoft.com/office/drawing/2014/main" val="10003"/>
                  </a:ext>
                </a:extLst>
              </a:tr>
              <a:tr h="478475">
                <a:tc>
                  <a:txBody>
                    <a:bodyPr/>
                    <a:lstStyle/>
                    <a:p>
                      <a:pPr marL="0" marR="0" lvl="0" indent="0" algn="l" rtl="0">
                        <a:spcBef>
                          <a:spcPts val="0"/>
                        </a:spcBef>
                        <a:spcAft>
                          <a:spcPts val="0"/>
                        </a:spcAft>
                        <a:buNone/>
                      </a:pPr>
                      <a:r>
                        <a:rPr lang="en-US" sz="2400"/>
                        <a:t>No talking during measurement</a:t>
                      </a:r>
                      <a:endParaRPr sz="2400"/>
                    </a:p>
                  </a:txBody>
                  <a:tcPr marL="91450" marR="91450" marT="45700" marB="45700"/>
                </a:tc>
                <a:tc>
                  <a:txBody>
                    <a:bodyPr/>
                    <a:lstStyle/>
                    <a:p>
                      <a:pPr marL="0" marR="0" lvl="0" indent="0" algn="l" rtl="0">
                        <a:spcBef>
                          <a:spcPts val="0"/>
                        </a:spcBef>
                        <a:spcAft>
                          <a:spcPts val="0"/>
                        </a:spcAft>
                        <a:buNone/>
                      </a:pPr>
                      <a:r>
                        <a:rPr lang="en-US" sz="2400" dirty="0"/>
                        <a:t>   17/13</a:t>
                      </a:r>
                      <a:endParaRPr dirty="0"/>
                    </a:p>
                  </a:txBody>
                  <a:tcPr marL="91450" marR="91450" marT="45700" marB="45700"/>
                </a:tc>
                <a:extLst>
                  <a:ext uri="{0D108BD9-81ED-4DB2-BD59-A6C34878D82A}">
                    <a16:rowId xmlns:a16="http://schemas.microsoft.com/office/drawing/2014/main" val="10004"/>
                  </a:ext>
                </a:extLst>
              </a:tr>
            </a:tbl>
          </a:graphicData>
        </a:graphic>
      </p:graphicFrame>
      <p:cxnSp>
        <p:nvCxnSpPr>
          <p:cNvPr id="517" name="Google Shape;517;p59"/>
          <p:cNvCxnSpPr/>
          <p:nvPr/>
        </p:nvCxnSpPr>
        <p:spPr>
          <a:xfrm rot="10800000">
            <a:off x="6172200" y="4343400"/>
            <a:ext cx="0" cy="304800"/>
          </a:xfrm>
          <a:prstGeom prst="straightConnector1">
            <a:avLst/>
          </a:prstGeom>
          <a:noFill/>
          <a:ln w="25400" cap="flat" cmpd="sng">
            <a:solidFill>
              <a:srgbClr val="4F81BD"/>
            </a:solidFill>
            <a:prstDash val="solid"/>
            <a:round/>
            <a:headEnd type="none" w="med" len="med"/>
            <a:tailEnd type="triangle" w="med" len="med"/>
          </a:ln>
        </p:spPr>
      </p:cxnSp>
      <p:cxnSp>
        <p:nvCxnSpPr>
          <p:cNvPr id="518" name="Google Shape;518;p59"/>
          <p:cNvCxnSpPr/>
          <p:nvPr/>
        </p:nvCxnSpPr>
        <p:spPr>
          <a:xfrm rot="10800000" flipH="1">
            <a:off x="6172201" y="4813300"/>
            <a:ext cx="4763" cy="304800"/>
          </a:xfrm>
          <a:prstGeom prst="straightConnector1">
            <a:avLst/>
          </a:prstGeom>
          <a:noFill/>
          <a:ln w="25400" cap="flat" cmpd="sng">
            <a:solidFill>
              <a:srgbClr val="4F81BD"/>
            </a:solidFill>
            <a:prstDash val="solid"/>
            <a:round/>
            <a:headEnd type="none" w="med" len="med"/>
            <a:tailEnd type="triangle" w="med" len="med"/>
          </a:ln>
        </p:spPr>
      </p:cxnSp>
      <p:cxnSp>
        <p:nvCxnSpPr>
          <p:cNvPr id="519" name="Google Shape;519;p59"/>
          <p:cNvCxnSpPr/>
          <p:nvPr/>
        </p:nvCxnSpPr>
        <p:spPr>
          <a:xfrm rot="10800000">
            <a:off x="6172200" y="5257800"/>
            <a:ext cx="0" cy="304800"/>
          </a:xfrm>
          <a:prstGeom prst="straightConnector1">
            <a:avLst/>
          </a:prstGeom>
          <a:noFill/>
          <a:ln w="25400" cap="flat" cmpd="sng">
            <a:solidFill>
              <a:srgbClr val="4F81BD"/>
            </a:solidFill>
            <a:prstDash val="solid"/>
            <a:round/>
            <a:headEnd type="none" w="med" len="med"/>
            <a:tailEnd type="triangle" w="med" len="med"/>
          </a:ln>
        </p:spPr>
      </p:cxnSp>
      <p:cxnSp>
        <p:nvCxnSpPr>
          <p:cNvPr id="520" name="Google Shape;520;p59"/>
          <p:cNvCxnSpPr/>
          <p:nvPr/>
        </p:nvCxnSpPr>
        <p:spPr>
          <a:xfrm>
            <a:off x="9144000" y="5257800"/>
            <a:ext cx="0" cy="304800"/>
          </a:xfrm>
          <a:prstGeom prst="straightConnector1">
            <a:avLst/>
          </a:prstGeom>
          <a:noFill/>
          <a:ln w="25400" cap="flat" cmpd="sng">
            <a:solidFill>
              <a:srgbClr val="4F81BD"/>
            </a:solidFill>
            <a:prstDash val="solid"/>
            <a:round/>
            <a:headEnd type="none" w="med" len="med"/>
            <a:tailEnd type="triangle" w="med" len="med"/>
          </a:ln>
        </p:spPr>
      </p:cxnSp>
      <p:cxnSp>
        <p:nvCxnSpPr>
          <p:cNvPr id="521" name="Google Shape;521;p59"/>
          <p:cNvCxnSpPr/>
          <p:nvPr/>
        </p:nvCxnSpPr>
        <p:spPr>
          <a:xfrm rot="10800000">
            <a:off x="6172200" y="6096000"/>
            <a:ext cx="0" cy="304800"/>
          </a:xfrm>
          <a:prstGeom prst="straightConnector1">
            <a:avLst/>
          </a:prstGeom>
          <a:noFill/>
          <a:ln w="25400" cap="flat" cmpd="sng">
            <a:solidFill>
              <a:srgbClr val="4F81BD"/>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61"/>
          <p:cNvSpPr txBox="1">
            <a:spLocks noGrp="1"/>
          </p:cNvSpPr>
          <p:nvPr>
            <p:ph type="title"/>
          </p:nvPr>
        </p:nvSpPr>
        <p:spPr>
          <a:xfrm>
            <a:off x="1676400" y="76200"/>
            <a:ext cx="8991600" cy="838200"/>
          </a:xfrm>
          <a:prstGeom prst="rect">
            <a:avLst/>
          </a:prstGeom>
          <a:noFill/>
          <a:ln>
            <a:noFill/>
          </a:ln>
        </p:spPr>
        <p:txBody>
          <a:bodyPr spcFirstLastPara="1" wrap="square" lIns="50800" tIns="50800" rIns="50800" bIns="50800" anchor="ctr" anchorCtr="0">
            <a:noAutofit/>
          </a:bodyPr>
          <a:lstStyle/>
          <a:p>
            <a:r>
              <a:rPr lang="en-US"/>
              <a:t>Measurement of BP-HBPM Technique</a:t>
            </a:r>
            <a:endParaRPr/>
          </a:p>
        </p:txBody>
      </p:sp>
      <p:sp>
        <p:nvSpPr>
          <p:cNvPr id="533" name="Google Shape;533;p61"/>
          <p:cNvSpPr txBox="1">
            <a:spLocks noGrp="1"/>
          </p:cNvSpPr>
          <p:nvPr>
            <p:ph type="body" idx="1"/>
          </p:nvPr>
        </p:nvSpPr>
        <p:spPr>
          <a:xfrm>
            <a:off x="526773" y="1066800"/>
            <a:ext cx="11390243" cy="57150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sz="2800" dirty="0"/>
              <a:t>The </a:t>
            </a:r>
            <a:r>
              <a:rPr lang="en-US" sz="2800" b="1" dirty="0"/>
              <a:t>accuracy of the home device should be verified in the clinician's office </a:t>
            </a:r>
            <a:endParaRPr sz="2800" b="1" dirty="0"/>
          </a:p>
          <a:p>
            <a:pPr marL="342900" indent="-342900"/>
            <a:r>
              <a:rPr lang="en-US" sz="2800" dirty="0"/>
              <a:t>The patient should measure BP properly- seated (with feet flat on the floor), arm supported and after &gt;5min rest </a:t>
            </a:r>
            <a:endParaRPr sz="2800" dirty="0"/>
          </a:p>
          <a:p>
            <a:pPr marL="342900" indent="-342900"/>
            <a:r>
              <a:rPr lang="en-US" sz="2800" b="1" dirty="0"/>
              <a:t>Measure BP for 2wk after medication change or 1wk prior to clinic visit</a:t>
            </a:r>
            <a:r>
              <a:rPr lang="en-US" sz="2800" dirty="0"/>
              <a:t>. </a:t>
            </a:r>
            <a:endParaRPr sz="2800" dirty="0"/>
          </a:p>
          <a:p>
            <a:pPr marL="782638" lvl="1" indent="-325438">
              <a:buSzPts val="3000"/>
            </a:pPr>
            <a:r>
              <a:rPr lang="en-US" sz="2800" dirty="0"/>
              <a:t>Measure BP twice in the morning before medication and in the evening prior to dinner, with each reading separated by 1min.  </a:t>
            </a:r>
          </a:p>
          <a:p>
            <a:pPr marL="782638" lvl="1" indent="-325438">
              <a:buSzPts val="3000"/>
            </a:pPr>
            <a:r>
              <a:rPr lang="en-US" sz="2800" dirty="0"/>
              <a:t>Patients BP should be stored in the memory of the automated </a:t>
            </a:r>
            <a:r>
              <a:rPr lang="en-US" sz="2800" dirty="0" err="1"/>
              <a:t>oscillometric</a:t>
            </a:r>
            <a:r>
              <a:rPr lang="en-US" sz="2800" dirty="0"/>
              <a:t> meter or recorded on paper. </a:t>
            </a:r>
            <a:endParaRPr sz="2800" dirty="0"/>
          </a:p>
          <a:p>
            <a:pPr marL="342900" indent="-342900"/>
            <a:r>
              <a:rPr lang="en-US" sz="2800" dirty="0"/>
              <a:t>Home blood pressure should not be used for diagnosis and management if it cannot be performed adequately.</a:t>
            </a:r>
            <a:endParaRPr sz="2800" dirty="0"/>
          </a:p>
          <a:p>
            <a:pPr marL="292100" indent="-889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2"/>
          <p:cNvSpPr txBox="1">
            <a:spLocks noGrp="1"/>
          </p:cNvSpPr>
          <p:nvPr>
            <p:ph type="title"/>
          </p:nvPr>
        </p:nvSpPr>
        <p:spPr>
          <a:xfrm>
            <a:off x="1676400" y="76200"/>
            <a:ext cx="8839200" cy="838200"/>
          </a:xfrm>
          <a:prstGeom prst="rect">
            <a:avLst/>
          </a:prstGeom>
          <a:noFill/>
          <a:ln>
            <a:noFill/>
          </a:ln>
        </p:spPr>
        <p:txBody>
          <a:bodyPr spcFirstLastPara="1" wrap="square" lIns="50800" tIns="50800" rIns="50800" bIns="50800" anchor="ctr" anchorCtr="0">
            <a:noAutofit/>
          </a:bodyPr>
          <a:lstStyle/>
          <a:p>
            <a:r>
              <a:rPr lang="en-US"/>
              <a:t>Measurement of BP-ABPM Technique</a:t>
            </a:r>
            <a:endParaRPr/>
          </a:p>
        </p:txBody>
      </p:sp>
      <p:sp>
        <p:nvSpPr>
          <p:cNvPr id="539" name="Google Shape;539;p62"/>
          <p:cNvSpPr txBox="1">
            <a:spLocks noGrp="1"/>
          </p:cNvSpPr>
          <p:nvPr>
            <p:ph type="body" idx="1"/>
          </p:nvPr>
        </p:nvSpPr>
        <p:spPr>
          <a:xfrm>
            <a:off x="616226" y="1066800"/>
            <a:ext cx="11161644"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b="1" i="1" dirty="0"/>
              <a:t>ABPM: the preferred method for diagnosing hypertension </a:t>
            </a:r>
            <a:r>
              <a:rPr lang="en-US" dirty="0"/>
              <a:t>and white coat hypertension. </a:t>
            </a:r>
            <a:endParaRPr dirty="0"/>
          </a:p>
          <a:p>
            <a:pPr marL="292100" indent="-292100"/>
            <a:r>
              <a:rPr lang="en-US" dirty="0"/>
              <a:t>ABPM predicts target-organ damage and cardiovascular events better than OBPM.</a:t>
            </a:r>
            <a:endParaRPr dirty="0"/>
          </a:p>
          <a:p>
            <a:pPr marL="0" indent="0">
              <a:buNone/>
            </a:pPr>
            <a:r>
              <a:rPr lang="en-US" dirty="0"/>
              <a:t> </a:t>
            </a:r>
            <a:endParaRPr dirty="0"/>
          </a:p>
          <a:p>
            <a:pPr marL="292100" indent="-292100"/>
            <a:r>
              <a:rPr lang="en-US" dirty="0"/>
              <a:t>ABPM records the BP at preset intervals over 24 hours-usually every 15-20 minutes during day and every 30 to 60 minutes during sleep. </a:t>
            </a:r>
            <a:endParaRPr dirty="0"/>
          </a:p>
          <a:p>
            <a:pPr marL="292100" indent="-292100"/>
            <a:r>
              <a:rPr lang="en-US" dirty="0"/>
              <a:t>It is also the only method of BP measurement that can reliably obtain nocturnal readings.</a:t>
            </a:r>
            <a:endParaRPr dirty="0"/>
          </a:p>
          <a:p>
            <a:pPr marL="292100" indent="-889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3"/>
          <p:cNvSpPr txBox="1">
            <a:spLocks noGrp="1"/>
          </p:cNvSpPr>
          <p:nvPr>
            <p:ph type="title"/>
          </p:nvPr>
        </p:nvSpPr>
        <p:spPr>
          <a:xfrm>
            <a:off x="1967474" y="455140"/>
            <a:ext cx="8229600" cy="838200"/>
          </a:xfrm>
          <a:prstGeom prst="rect">
            <a:avLst/>
          </a:prstGeom>
          <a:noFill/>
          <a:ln>
            <a:noFill/>
          </a:ln>
        </p:spPr>
        <p:txBody>
          <a:bodyPr spcFirstLastPara="1" wrap="square" lIns="50800" tIns="50800" rIns="50800" bIns="50800" anchor="ctr" anchorCtr="0">
            <a:noAutofit/>
          </a:bodyPr>
          <a:lstStyle/>
          <a:p>
            <a:r>
              <a:rPr lang="en-US" dirty="0"/>
              <a:t>Hypertension Comparable Values</a:t>
            </a:r>
            <a:endParaRPr dirty="0"/>
          </a:p>
        </p:txBody>
      </p:sp>
      <p:sp>
        <p:nvSpPr>
          <p:cNvPr id="545" name="Google Shape;545;p63"/>
          <p:cNvSpPr txBox="1">
            <a:spLocks noGrp="1"/>
          </p:cNvSpPr>
          <p:nvPr>
            <p:ph type="body" idx="1"/>
          </p:nvPr>
        </p:nvSpPr>
        <p:spPr>
          <a:xfrm>
            <a:off x="586409" y="990600"/>
            <a:ext cx="11181521" cy="5715000"/>
          </a:xfrm>
          <a:prstGeom prst="rect">
            <a:avLst/>
          </a:prstGeom>
          <a:noFill/>
          <a:ln>
            <a:noFill/>
          </a:ln>
        </p:spPr>
        <p:txBody>
          <a:bodyPr spcFirstLastPara="1" wrap="square" lIns="50800" tIns="50800" rIns="50800" bIns="50800" anchor="t" anchorCtr="0">
            <a:noAutofit/>
          </a:bodyPr>
          <a:lstStyle/>
          <a:p>
            <a:pPr marL="0" indent="0">
              <a:buNone/>
            </a:pPr>
            <a:endParaRPr dirty="0"/>
          </a:p>
          <a:p>
            <a:pPr marL="292100" indent="-95250">
              <a:spcBef>
                <a:spcPts val="775"/>
              </a:spcBef>
              <a:buSzPts val="3100"/>
              <a:buNone/>
            </a:pPr>
            <a:endParaRPr sz="3100" dirty="0"/>
          </a:p>
        </p:txBody>
      </p:sp>
      <p:graphicFrame>
        <p:nvGraphicFramePr>
          <p:cNvPr id="2" name="Table 2">
            <a:extLst>
              <a:ext uri="{FF2B5EF4-FFF2-40B4-BE49-F238E27FC236}">
                <a16:creationId xmlns:a16="http://schemas.microsoft.com/office/drawing/2014/main" id="{23BCB96B-EC89-B648-93C0-C63799F5BF44}"/>
              </a:ext>
            </a:extLst>
          </p:cNvPr>
          <p:cNvGraphicFramePr>
            <a:graphicFrameLocks noGrp="1"/>
          </p:cNvGraphicFramePr>
          <p:nvPr>
            <p:extLst>
              <p:ext uri="{D42A27DB-BD31-4B8C-83A1-F6EECF244321}">
                <p14:modId xmlns:p14="http://schemas.microsoft.com/office/powerpoint/2010/main" val="2648549723"/>
              </p:ext>
            </p:extLst>
          </p:nvPr>
        </p:nvGraphicFramePr>
        <p:xfrm>
          <a:off x="288234" y="1693700"/>
          <a:ext cx="11588080" cy="3870960"/>
        </p:xfrm>
        <a:graphic>
          <a:graphicData uri="http://schemas.openxmlformats.org/drawingml/2006/table">
            <a:tbl>
              <a:tblPr firstRow="1" bandRow="1">
                <a:tableStyleId>{5CA6CF68-EC4B-4158-8A7C-682902D774E9}</a:tableStyleId>
              </a:tblPr>
              <a:tblGrid>
                <a:gridCol w="3338379">
                  <a:extLst>
                    <a:ext uri="{9D8B030D-6E8A-4147-A177-3AD203B41FA5}">
                      <a16:colId xmlns:a16="http://schemas.microsoft.com/office/drawing/2014/main" val="1720560360"/>
                    </a:ext>
                  </a:extLst>
                </a:gridCol>
                <a:gridCol w="2430738">
                  <a:extLst>
                    <a:ext uri="{9D8B030D-6E8A-4147-A177-3AD203B41FA5}">
                      <a16:colId xmlns:a16="http://schemas.microsoft.com/office/drawing/2014/main" val="1993781229"/>
                    </a:ext>
                  </a:extLst>
                </a:gridCol>
                <a:gridCol w="1319857">
                  <a:extLst>
                    <a:ext uri="{9D8B030D-6E8A-4147-A177-3AD203B41FA5}">
                      <a16:colId xmlns:a16="http://schemas.microsoft.com/office/drawing/2014/main" val="2679626308"/>
                    </a:ext>
                  </a:extLst>
                </a:gridCol>
                <a:gridCol w="1451844">
                  <a:extLst>
                    <a:ext uri="{9D8B030D-6E8A-4147-A177-3AD203B41FA5}">
                      <a16:colId xmlns:a16="http://schemas.microsoft.com/office/drawing/2014/main" val="715450209"/>
                    </a:ext>
                  </a:extLst>
                </a:gridCol>
                <a:gridCol w="1649822">
                  <a:extLst>
                    <a:ext uri="{9D8B030D-6E8A-4147-A177-3AD203B41FA5}">
                      <a16:colId xmlns:a16="http://schemas.microsoft.com/office/drawing/2014/main" val="41345773"/>
                    </a:ext>
                  </a:extLst>
                </a:gridCol>
                <a:gridCol w="1397440">
                  <a:extLst>
                    <a:ext uri="{9D8B030D-6E8A-4147-A177-3AD203B41FA5}">
                      <a16:colId xmlns:a16="http://schemas.microsoft.com/office/drawing/2014/main" val="551297657"/>
                    </a:ext>
                  </a:extLst>
                </a:gridCol>
              </a:tblGrid>
              <a:tr h="370840">
                <a:tc>
                  <a:txBody>
                    <a:bodyPr/>
                    <a:lstStyle/>
                    <a:p>
                      <a:r>
                        <a:rPr lang="en-US" sz="2800" b="1" dirty="0">
                          <a:latin typeface="Calibri" panose="020F0502020204030204" pitchFamily="34" charset="0"/>
                          <a:cs typeface="Calibri" panose="020F0502020204030204" pitchFamily="34" charset="0"/>
                        </a:rPr>
                        <a:t>Blood Pressure Stage</a:t>
                      </a:r>
                    </a:p>
                  </a:txBody>
                  <a:tcPr/>
                </a:tc>
                <a:tc>
                  <a:txBody>
                    <a:bodyPr/>
                    <a:lstStyle/>
                    <a:p>
                      <a:r>
                        <a:rPr lang="en-US" sz="2800" b="1" dirty="0">
                          <a:latin typeface="Calibri" panose="020F0502020204030204" pitchFamily="34" charset="0"/>
                          <a:cs typeface="Calibri" panose="020F0502020204030204" pitchFamily="34" charset="0"/>
                        </a:rPr>
                        <a:t>Clinic</a:t>
                      </a:r>
                    </a:p>
                  </a:txBody>
                  <a:tcPr/>
                </a:tc>
                <a:tc>
                  <a:txBody>
                    <a:bodyPr/>
                    <a:lstStyle/>
                    <a:p>
                      <a:r>
                        <a:rPr lang="en-US" sz="2800" b="1" dirty="0">
                          <a:latin typeface="Calibri" panose="020F0502020204030204" pitchFamily="34" charset="0"/>
                          <a:cs typeface="Calibri" panose="020F0502020204030204" pitchFamily="34" charset="0"/>
                        </a:rPr>
                        <a:t>HBPM</a:t>
                      </a:r>
                    </a:p>
                  </a:txBody>
                  <a:tcPr/>
                </a:tc>
                <a:tc>
                  <a:txBody>
                    <a:bodyPr/>
                    <a:lstStyle/>
                    <a:p>
                      <a:r>
                        <a:rPr lang="en-US" sz="2800" dirty="0">
                          <a:latin typeface="Calibri" panose="020F0502020204030204" pitchFamily="34" charset="0"/>
                          <a:cs typeface="Calibri" panose="020F0502020204030204" pitchFamily="34" charset="0"/>
                        </a:rPr>
                        <a:t>Daytime ABPM</a:t>
                      </a:r>
                    </a:p>
                  </a:txBody>
                  <a:tcPr/>
                </a:tc>
                <a:tc>
                  <a:txBody>
                    <a:bodyPr/>
                    <a:lstStyle/>
                    <a:p>
                      <a:r>
                        <a:rPr lang="en-US" sz="2800" dirty="0">
                          <a:latin typeface="Calibri" panose="020F0502020204030204" pitchFamily="34" charset="0"/>
                          <a:cs typeface="Calibri" panose="020F0502020204030204" pitchFamily="34" charset="0"/>
                        </a:rPr>
                        <a:t>Nighttime ABPM</a:t>
                      </a:r>
                    </a:p>
                  </a:txBody>
                  <a:tcPr/>
                </a:tc>
                <a:tc>
                  <a:txBody>
                    <a:bodyPr/>
                    <a:lstStyle/>
                    <a:p>
                      <a:r>
                        <a:rPr lang="en-US" sz="2800" b="1" dirty="0">
                          <a:latin typeface="Calibri" panose="020F0502020204030204" pitchFamily="34" charset="0"/>
                          <a:cs typeface="Calibri" panose="020F0502020204030204" pitchFamily="34" charset="0"/>
                        </a:rPr>
                        <a:t>24-HOUR ABPM</a:t>
                      </a:r>
                    </a:p>
                  </a:txBody>
                  <a:tcPr/>
                </a:tc>
                <a:extLst>
                  <a:ext uri="{0D108BD9-81ED-4DB2-BD59-A6C34878D82A}">
                    <a16:rowId xmlns:a16="http://schemas.microsoft.com/office/drawing/2014/main" val="2704057498"/>
                  </a:ext>
                </a:extLst>
              </a:tr>
              <a:tr h="370840">
                <a:tc>
                  <a:txBody>
                    <a:bodyPr/>
                    <a:lstStyle/>
                    <a:p>
                      <a:r>
                        <a:rPr lang="en-US" sz="2800" b="1" dirty="0">
                          <a:latin typeface="Calibri" panose="020F0502020204030204" pitchFamily="34" charset="0"/>
                          <a:cs typeface="Calibri" panose="020F0502020204030204" pitchFamily="34" charset="0"/>
                        </a:rPr>
                        <a:t>Elevated BP</a:t>
                      </a:r>
                    </a:p>
                  </a:txBody>
                  <a:tcPr/>
                </a:tc>
                <a:tc>
                  <a:txBody>
                    <a:bodyPr/>
                    <a:lstStyle/>
                    <a:p>
                      <a:r>
                        <a:rPr lang="en-US" sz="2800" b="1" dirty="0">
                          <a:latin typeface="Calibri" panose="020F0502020204030204" pitchFamily="34" charset="0"/>
                          <a:cs typeface="Calibri" panose="020F0502020204030204" pitchFamily="34" charset="0"/>
                        </a:rPr>
                        <a:t>120-129/80</a:t>
                      </a:r>
                    </a:p>
                  </a:txBody>
                  <a:tcPr/>
                </a:tc>
                <a:tc>
                  <a:txBody>
                    <a:bodyPr/>
                    <a:lstStyle/>
                    <a:p>
                      <a:r>
                        <a:rPr lang="en-US" sz="2800" b="1" dirty="0">
                          <a:latin typeface="Calibri" panose="020F0502020204030204" pitchFamily="34" charset="0"/>
                          <a:cs typeface="Calibri" panose="020F0502020204030204" pitchFamily="34" charset="0"/>
                        </a:rPr>
                        <a:t>120/80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latin typeface="Calibri" panose="020F0502020204030204" pitchFamily="34" charset="0"/>
                          <a:cs typeface="Calibri" panose="020F0502020204030204" pitchFamily="34" charset="0"/>
                        </a:rPr>
                        <a:t>120/80</a:t>
                      </a:r>
                    </a:p>
                  </a:txBody>
                  <a:tcPr/>
                </a:tc>
                <a:tc>
                  <a:txBody>
                    <a:bodyPr/>
                    <a:lstStyle/>
                    <a:p>
                      <a:r>
                        <a:rPr lang="en-US" sz="2800" dirty="0">
                          <a:latin typeface="Calibri" panose="020F0502020204030204" pitchFamily="34" charset="0"/>
                          <a:cs typeface="Calibri" panose="020F0502020204030204" pitchFamily="34" charset="0"/>
                        </a:rPr>
                        <a:t>100/65</a:t>
                      </a:r>
                    </a:p>
                  </a:txBody>
                  <a:tcPr/>
                </a:tc>
                <a:tc>
                  <a:txBody>
                    <a:bodyPr/>
                    <a:lstStyle/>
                    <a:p>
                      <a:r>
                        <a:rPr lang="en-US" sz="2800" b="1" dirty="0">
                          <a:latin typeface="Calibri" panose="020F0502020204030204" pitchFamily="34" charset="0"/>
                          <a:cs typeface="Calibri" panose="020F0502020204030204" pitchFamily="34" charset="0"/>
                        </a:rPr>
                        <a:t>115/75</a:t>
                      </a:r>
                    </a:p>
                  </a:txBody>
                  <a:tcPr/>
                </a:tc>
                <a:extLst>
                  <a:ext uri="{0D108BD9-81ED-4DB2-BD59-A6C34878D82A}">
                    <a16:rowId xmlns:a16="http://schemas.microsoft.com/office/drawing/2014/main" val="3979966375"/>
                  </a:ext>
                </a:extLst>
              </a:tr>
              <a:tr h="370840">
                <a:tc>
                  <a:txBody>
                    <a:bodyPr/>
                    <a:lstStyle/>
                    <a:p>
                      <a:r>
                        <a:rPr lang="en-US" sz="2800" b="1" dirty="0">
                          <a:latin typeface="Calibri" panose="020F0502020204030204" pitchFamily="34" charset="0"/>
                          <a:cs typeface="Calibri" panose="020F0502020204030204" pitchFamily="34" charset="0"/>
                        </a:rPr>
                        <a:t>Stage 1 HTN</a:t>
                      </a:r>
                    </a:p>
                  </a:txBody>
                  <a:tcPr/>
                </a:tc>
                <a:tc>
                  <a:txBody>
                    <a:bodyPr/>
                    <a:lstStyle/>
                    <a:p>
                      <a:r>
                        <a:rPr lang="en-US" sz="2800" b="1" dirty="0">
                          <a:latin typeface="Calibri" panose="020F0502020204030204" pitchFamily="34" charset="0"/>
                          <a:cs typeface="Calibri" panose="020F0502020204030204" pitchFamily="34" charset="0"/>
                        </a:rPr>
                        <a:t>130-139/80-89</a:t>
                      </a:r>
                    </a:p>
                  </a:txBody>
                  <a:tcPr/>
                </a:tc>
                <a:tc>
                  <a:txBody>
                    <a:bodyPr/>
                    <a:lstStyle/>
                    <a:p>
                      <a:r>
                        <a:rPr lang="en-US" sz="2800" b="1" dirty="0">
                          <a:latin typeface="Calibri" panose="020F0502020204030204" pitchFamily="34" charset="0"/>
                          <a:cs typeface="Calibri" panose="020F0502020204030204" pitchFamily="34" charset="0"/>
                        </a:rPr>
                        <a:t>130/80</a:t>
                      </a:r>
                    </a:p>
                  </a:txBody>
                  <a:tcPr/>
                </a:tc>
                <a:tc>
                  <a:txBody>
                    <a:bodyPr/>
                    <a:lstStyle/>
                    <a:p>
                      <a:r>
                        <a:rPr lang="en-US" sz="2800" dirty="0">
                          <a:latin typeface="Calibri" panose="020F0502020204030204" pitchFamily="34" charset="0"/>
                          <a:cs typeface="Calibri" panose="020F0502020204030204" pitchFamily="34" charset="0"/>
                        </a:rPr>
                        <a:t>130/80</a:t>
                      </a:r>
                    </a:p>
                  </a:txBody>
                  <a:tcPr/>
                </a:tc>
                <a:tc>
                  <a:txBody>
                    <a:bodyPr/>
                    <a:lstStyle/>
                    <a:p>
                      <a:r>
                        <a:rPr lang="en-US" sz="2800" dirty="0">
                          <a:latin typeface="Calibri" panose="020F0502020204030204" pitchFamily="34" charset="0"/>
                          <a:cs typeface="Calibri" panose="020F0502020204030204" pitchFamily="34" charset="0"/>
                        </a:rPr>
                        <a:t>110/65</a:t>
                      </a:r>
                    </a:p>
                  </a:txBody>
                  <a:tcPr/>
                </a:tc>
                <a:tc>
                  <a:txBody>
                    <a:bodyPr/>
                    <a:lstStyle/>
                    <a:p>
                      <a:r>
                        <a:rPr lang="en-US" sz="2800" b="1" dirty="0">
                          <a:latin typeface="Calibri" panose="020F0502020204030204" pitchFamily="34" charset="0"/>
                          <a:cs typeface="Calibri" panose="020F0502020204030204" pitchFamily="34" charset="0"/>
                        </a:rPr>
                        <a:t>125/75</a:t>
                      </a:r>
                    </a:p>
                  </a:txBody>
                  <a:tcPr/>
                </a:tc>
                <a:extLst>
                  <a:ext uri="{0D108BD9-81ED-4DB2-BD59-A6C34878D82A}">
                    <a16:rowId xmlns:a16="http://schemas.microsoft.com/office/drawing/2014/main" val="1035911768"/>
                  </a:ext>
                </a:extLst>
              </a:tr>
              <a:tr h="370840">
                <a:tc>
                  <a:txBody>
                    <a:bodyPr/>
                    <a:lstStyle/>
                    <a:p>
                      <a:r>
                        <a:rPr lang="en-US" sz="2800" b="1" dirty="0">
                          <a:latin typeface="Calibri" panose="020F0502020204030204" pitchFamily="34" charset="0"/>
                          <a:cs typeface="Calibri" panose="020F0502020204030204" pitchFamily="34" charset="0"/>
                        </a:rPr>
                        <a:t>Stage 2  HTN</a:t>
                      </a:r>
                    </a:p>
                  </a:txBody>
                  <a:tcPr/>
                </a:tc>
                <a:tc>
                  <a:txBody>
                    <a:bodyPr/>
                    <a:lstStyle/>
                    <a:p>
                      <a:r>
                        <a:rPr lang="en-US" sz="2800" b="1" dirty="0">
                          <a:latin typeface="Calibri" panose="020F0502020204030204" pitchFamily="34" charset="0"/>
                          <a:cs typeface="Calibri" panose="020F0502020204030204" pitchFamily="34" charset="0"/>
                        </a:rPr>
                        <a:t>140/90</a:t>
                      </a:r>
                    </a:p>
                  </a:txBody>
                  <a:tcPr/>
                </a:tc>
                <a:tc>
                  <a:txBody>
                    <a:bodyPr/>
                    <a:lstStyle/>
                    <a:p>
                      <a:r>
                        <a:rPr lang="en-US" sz="2800" b="1" dirty="0">
                          <a:latin typeface="Calibri" panose="020F0502020204030204" pitchFamily="34" charset="0"/>
                          <a:cs typeface="Calibri" panose="020F0502020204030204" pitchFamily="34" charset="0"/>
                        </a:rPr>
                        <a:t>135/85</a:t>
                      </a:r>
                    </a:p>
                  </a:txBody>
                  <a:tcPr/>
                </a:tc>
                <a:tc>
                  <a:txBody>
                    <a:bodyPr/>
                    <a:lstStyle/>
                    <a:p>
                      <a:r>
                        <a:rPr lang="en-US" sz="2800" dirty="0">
                          <a:latin typeface="Calibri" panose="020F0502020204030204" pitchFamily="34" charset="0"/>
                          <a:cs typeface="Calibri" panose="020F0502020204030204" pitchFamily="34" charset="0"/>
                        </a:rPr>
                        <a:t>135/85</a:t>
                      </a:r>
                    </a:p>
                  </a:txBody>
                  <a:tcPr/>
                </a:tc>
                <a:tc>
                  <a:txBody>
                    <a:bodyPr/>
                    <a:lstStyle/>
                    <a:p>
                      <a:r>
                        <a:rPr lang="en-US" sz="2800" dirty="0">
                          <a:latin typeface="Calibri" panose="020F0502020204030204" pitchFamily="34" charset="0"/>
                          <a:cs typeface="Calibri" panose="020F0502020204030204" pitchFamily="34" charset="0"/>
                        </a:rPr>
                        <a:t>120/70</a:t>
                      </a:r>
                    </a:p>
                  </a:txBody>
                  <a:tcPr/>
                </a:tc>
                <a:tc>
                  <a:txBody>
                    <a:bodyPr/>
                    <a:lstStyle/>
                    <a:p>
                      <a:r>
                        <a:rPr lang="en-US" sz="2800" b="1" dirty="0">
                          <a:latin typeface="Calibri" panose="020F0502020204030204" pitchFamily="34" charset="0"/>
                          <a:cs typeface="Calibri" panose="020F0502020204030204" pitchFamily="34" charset="0"/>
                        </a:rPr>
                        <a:t>130/80</a:t>
                      </a:r>
                    </a:p>
                  </a:txBody>
                  <a:tcPr/>
                </a:tc>
                <a:extLst>
                  <a:ext uri="{0D108BD9-81ED-4DB2-BD59-A6C34878D82A}">
                    <a16:rowId xmlns:a16="http://schemas.microsoft.com/office/drawing/2014/main" val="244181772"/>
                  </a:ext>
                </a:extLst>
              </a:tr>
              <a:tr h="370840">
                <a:tc>
                  <a:txBody>
                    <a:bodyPr/>
                    <a:lstStyle/>
                    <a:p>
                      <a:r>
                        <a:rPr lang="en-US" sz="2800" b="1" dirty="0">
                          <a:latin typeface="Calibri" panose="020F0502020204030204" pitchFamily="34" charset="0"/>
                          <a:cs typeface="Calibri" panose="020F0502020204030204" pitchFamily="34" charset="0"/>
                        </a:rPr>
                        <a:t>HTN </a:t>
                      </a:r>
                      <a:r>
                        <a:rPr lang="en-US" sz="2800" b="1">
                          <a:latin typeface="Calibri" panose="020F0502020204030204" pitchFamily="34" charset="0"/>
                          <a:cs typeface="Calibri" panose="020F0502020204030204" pitchFamily="34" charset="0"/>
                        </a:rPr>
                        <a:t>dx at single </a:t>
                      </a:r>
                      <a:r>
                        <a:rPr lang="en-US" sz="2800" b="1" dirty="0">
                          <a:latin typeface="Calibri" panose="020F0502020204030204" pitchFamily="34" charset="0"/>
                          <a:cs typeface="Calibri" panose="020F0502020204030204" pitchFamily="34" charset="0"/>
                        </a:rPr>
                        <a:t>visit if end organ damage</a:t>
                      </a:r>
                    </a:p>
                  </a:txBody>
                  <a:tcPr/>
                </a:tc>
                <a:tc>
                  <a:txBody>
                    <a:bodyPr/>
                    <a:lstStyle/>
                    <a:p>
                      <a:r>
                        <a:rPr lang="en-US" sz="2800" b="1" dirty="0">
                          <a:latin typeface="Calibri" panose="020F0502020204030204" pitchFamily="34" charset="0"/>
                          <a:cs typeface="Calibri" panose="020F0502020204030204" pitchFamily="34" charset="0"/>
                        </a:rPr>
                        <a:t>160/100</a:t>
                      </a:r>
                    </a:p>
                  </a:txBody>
                  <a:tcPr/>
                </a:tc>
                <a:tc>
                  <a:txBody>
                    <a:bodyPr/>
                    <a:lstStyle/>
                    <a:p>
                      <a:r>
                        <a:rPr lang="en-US" sz="2800" b="1" dirty="0">
                          <a:latin typeface="Calibri" panose="020F0502020204030204" pitchFamily="34" charset="0"/>
                          <a:cs typeface="Calibri" panose="020F0502020204030204" pitchFamily="34" charset="0"/>
                        </a:rPr>
                        <a:t>145/90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latin typeface="Calibri" panose="020F0502020204030204" pitchFamily="34" charset="0"/>
                          <a:cs typeface="Calibri" panose="020F0502020204030204" pitchFamily="34" charset="0"/>
                        </a:rPr>
                        <a:t>145/90</a:t>
                      </a:r>
                    </a:p>
                  </a:txBody>
                  <a:tcPr/>
                </a:tc>
                <a:tc>
                  <a:txBody>
                    <a:bodyPr/>
                    <a:lstStyle/>
                    <a:p>
                      <a:r>
                        <a:rPr lang="en-US" sz="2800" dirty="0">
                          <a:latin typeface="Calibri" panose="020F0502020204030204" pitchFamily="34" charset="0"/>
                          <a:cs typeface="Calibri" panose="020F0502020204030204" pitchFamily="34" charset="0"/>
                        </a:rPr>
                        <a:t>140/85</a:t>
                      </a:r>
                    </a:p>
                  </a:txBody>
                  <a:tcPr/>
                </a:tc>
                <a:tc>
                  <a:txBody>
                    <a:bodyPr/>
                    <a:lstStyle/>
                    <a:p>
                      <a:r>
                        <a:rPr lang="en-US" sz="2800" b="1" dirty="0">
                          <a:latin typeface="Calibri" panose="020F0502020204030204" pitchFamily="34" charset="0"/>
                          <a:cs typeface="Calibri" panose="020F0502020204030204" pitchFamily="34" charset="0"/>
                        </a:rPr>
                        <a:t>145/90</a:t>
                      </a:r>
                    </a:p>
                  </a:txBody>
                  <a:tcPr/>
                </a:tc>
                <a:extLst>
                  <a:ext uri="{0D108BD9-81ED-4DB2-BD59-A6C34878D82A}">
                    <a16:rowId xmlns:a16="http://schemas.microsoft.com/office/drawing/2014/main" val="417646396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64"/>
          <p:cNvSpPr txBox="1">
            <a:spLocks noGrp="1"/>
          </p:cNvSpPr>
          <p:nvPr>
            <p:ph type="title"/>
          </p:nvPr>
        </p:nvSpPr>
        <p:spPr>
          <a:xfrm>
            <a:off x="1981200" y="76200"/>
            <a:ext cx="8229600" cy="762000"/>
          </a:xfrm>
          <a:prstGeom prst="rect">
            <a:avLst/>
          </a:prstGeom>
          <a:noFill/>
          <a:ln>
            <a:noFill/>
          </a:ln>
        </p:spPr>
        <p:txBody>
          <a:bodyPr spcFirstLastPara="1" wrap="square" lIns="50800" tIns="50800" rIns="50800" bIns="50800" anchor="ctr" anchorCtr="0">
            <a:noAutofit/>
          </a:bodyPr>
          <a:lstStyle/>
          <a:p>
            <a:r>
              <a:rPr lang="en-US" sz="4800"/>
              <a:t>BP Measurement Techniques</a:t>
            </a:r>
            <a:endParaRPr/>
          </a:p>
        </p:txBody>
      </p:sp>
      <p:sp>
        <p:nvSpPr>
          <p:cNvPr id="551" name="Google Shape;551;p64"/>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rgbClr val="045C75"/>
                </a:solidFill>
                <a:latin typeface="Constantia"/>
                <a:ea typeface="Constantia"/>
                <a:cs typeface="Constantia"/>
                <a:sym typeface="Constantia"/>
              </a:rPr>
              <a:pPr/>
              <a:t>14</a:t>
            </a:fld>
            <a:endParaRPr sz="1200">
              <a:solidFill>
                <a:srgbClr val="045C75"/>
              </a:solidFill>
              <a:latin typeface="Constantia"/>
              <a:ea typeface="Constantia"/>
              <a:cs typeface="Constantia"/>
              <a:sym typeface="Constantia"/>
            </a:endParaRPr>
          </a:p>
        </p:txBody>
      </p:sp>
      <p:graphicFrame>
        <p:nvGraphicFramePr>
          <p:cNvPr id="552" name="Google Shape;552;p64"/>
          <p:cNvGraphicFramePr/>
          <p:nvPr>
            <p:extLst>
              <p:ext uri="{D42A27DB-BD31-4B8C-83A1-F6EECF244321}">
                <p14:modId xmlns:p14="http://schemas.microsoft.com/office/powerpoint/2010/main" val="515996307"/>
              </p:ext>
            </p:extLst>
          </p:nvPr>
        </p:nvGraphicFramePr>
        <p:xfrm>
          <a:off x="1676400" y="914400"/>
          <a:ext cx="8839200" cy="5816600"/>
        </p:xfrm>
        <a:graphic>
          <a:graphicData uri="http://schemas.openxmlformats.org/drawingml/2006/table">
            <a:tbl>
              <a:tblPr>
                <a:noFill/>
                <a:tableStyleId>{5CA6CF68-EC4B-4158-8A7C-682902D774E9}</a:tableStyleId>
              </a:tblPr>
              <a:tblGrid>
                <a:gridCol w="1592275">
                  <a:extLst>
                    <a:ext uri="{9D8B030D-6E8A-4147-A177-3AD203B41FA5}">
                      <a16:colId xmlns:a16="http://schemas.microsoft.com/office/drawing/2014/main" val="20000"/>
                    </a:ext>
                  </a:extLst>
                </a:gridCol>
                <a:gridCol w="7246925">
                  <a:extLst>
                    <a:ext uri="{9D8B030D-6E8A-4147-A177-3AD203B41FA5}">
                      <a16:colId xmlns:a16="http://schemas.microsoft.com/office/drawing/2014/main" val="20001"/>
                    </a:ext>
                  </a:extLst>
                </a:gridCol>
              </a:tblGrid>
              <a:tr h="365775">
                <a:tc>
                  <a:txBody>
                    <a:bodyPr/>
                    <a:lstStyle/>
                    <a:p>
                      <a:pPr marL="0" marR="0" lvl="0" indent="0" algn="l" rtl="0">
                        <a:lnSpc>
                          <a:spcPct val="100000"/>
                        </a:lnSpc>
                        <a:spcBef>
                          <a:spcPts val="0"/>
                        </a:spcBef>
                        <a:spcAft>
                          <a:spcPts val="0"/>
                        </a:spcAft>
                        <a:buClr>
                          <a:srgbClr val="FFFFFF"/>
                        </a:buClr>
                        <a:buSzPts val="1800"/>
                        <a:buFont typeface="Constantia"/>
                        <a:buNone/>
                      </a:pPr>
                      <a:r>
                        <a:rPr lang="en-US" sz="1800" b="1" i="0" u="none" strike="noStrike" cap="none">
                          <a:solidFill>
                            <a:srgbClr val="FFFFFF"/>
                          </a:solidFill>
                          <a:latin typeface="Constantia"/>
                          <a:ea typeface="Constantia"/>
                          <a:cs typeface="Constantia"/>
                          <a:sym typeface="Constantia"/>
                        </a:rPr>
                        <a:t>Method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onstantia"/>
                        <a:buNone/>
                      </a:pPr>
                      <a:r>
                        <a:rPr lang="en-US" sz="1800" b="1" i="0" u="none" strike="noStrike" cap="none">
                          <a:solidFill>
                            <a:srgbClr val="FFFFFF"/>
                          </a:solidFill>
                          <a:latin typeface="Constantia"/>
                          <a:ea typeface="Constantia"/>
                          <a:cs typeface="Constantia"/>
                          <a:sym typeface="Constantia"/>
                        </a:rPr>
                        <a:t>Notes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538375">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In-office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CD5EA"/>
                    </a:solidFill>
                  </a:tcPr>
                </a:tc>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At least 2 readings, at least 1-2 minutes apart, sitting in chair, confirm elevated reading in contralateral arm.  </a:t>
                      </a:r>
                      <a:endParaRPr dirty="0"/>
                    </a:p>
                    <a:p>
                      <a:pPr marL="0" marR="0" lvl="0" indent="0" algn="l" rtl="0">
                        <a:lnSpc>
                          <a:spcPct val="100000"/>
                        </a:lnSpc>
                        <a:spcBef>
                          <a:spcPts val="0"/>
                        </a:spcBef>
                        <a:spcAft>
                          <a:spcPts val="0"/>
                        </a:spcAft>
                        <a:buClr>
                          <a:schemeClr val="dk1"/>
                        </a:buClr>
                        <a:buSzPts val="1800"/>
                        <a:buFont typeface="Calibri"/>
                        <a:buNone/>
                      </a:pPr>
                      <a:endParaRPr lang="en-US" sz="1800" b="0" i="0" u="none" strike="noStrike" cap="none" dirty="0">
                        <a:solidFill>
                          <a:srgbClr val="000000"/>
                        </a:solidFill>
                        <a:latin typeface="Constantia"/>
                        <a:ea typeface="Constantia"/>
                        <a:cs typeface="Constantia"/>
                        <a:sym typeface="Constanti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CD5EA"/>
                    </a:solidFill>
                  </a:tcPr>
                </a:tc>
                <a:extLst>
                  <a:ext uri="{0D108BD9-81ED-4DB2-BD59-A6C34878D82A}">
                    <a16:rowId xmlns:a16="http://schemas.microsoft.com/office/drawing/2014/main" val="10001"/>
                  </a:ext>
                </a:extLst>
              </a:tr>
              <a:tr h="2175000">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Ambulatory BP Monitoring</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EBF5"/>
                    </a:solidFill>
                  </a:tcPr>
                </a:tc>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Of increasing importance as absence of 10-20% BP decrease during sleep may indicate increased CVD risk.</a:t>
                      </a:r>
                      <a:endParaRPr dirty="0"/>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  </a:t>
                      </a:r>
                      <a:endParaRPr dirty="0"/>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Used more extensively in England, the problem in the US is getting ABPM paid for by insurance. </a:t>
                      </a:r>
                      <a:endParaRPr dirty="0"/>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 </a:t>
                      </a:r>
                      <a:endParaRPr dirty="0"/>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Potentially useful for evaluation of “white coat hypertension”. </a:t>
                      </a:r>
                      <a:endParaRPr sz="1800" b="0" i="0" u="none" strike="noStrike" cap="none" dirty="0">
                        <a:solidFill>
                          <a:srgbClr val="000000"/>
                        </a:solidFill>
                        <a:latin typeface="Constantia"/>
                        <a:ea typeface="Constantia"/>
                        <a:cs typeface="Constantia"/>
                        <a:sym typeface="Constanti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EBF5"/>
                    </a:solidFill>
                  </a:tcPr>
                </a:tc>
                <a:extLst>
                  <a:ext uri="{0D108BD9-81ED-4DB2-BD59-A6C34878D82A}">
                    <a16:rowId xmlns:a16="http://schemas.microsoft.com/office/drawing/2014/main" val="10002"/>
                  </a:ext>
                </a:extLst>
              </a:tr>
              <a:tr h="1737450">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Patient self-check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CD5EA"/>
                    </a:solidFill>
                  </a:tcPr>
                </a:tc>
                <a:tc>
                  <a:txBody>
                    <a:bodyPr/>
                    <a:lstStyle/>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Requires an accurate BP monitor, so have patient bring it in to the office for evaluation.  </a:t>
                      </a:r>
                      <a:endParaRPr dirty="0"/>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Provides info on response to therapy. </a:t>
                      </a:r>
                      <a:endParaRPr dirty="0"/>
                    </a:p>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Constantia"/>
                        <a:ea typeface="Constantia"/>
                        <a:cs typeface="Constantia"/>
                        <a:sym typeface="Constantia"/>
                      </a:endParaRPr>
                    </a:p>
                    <a:p>
                      <a:pPr marL="0" marR="0" lvl="0" indent="0" algn="l" rtl="0">
                        <a:lnSpc>
                          <a:spcPct val="100000"/>
                        </a:lnSpc>
                        <a:spcBef>
                          <a:spcPts val="0"/>
                        </a:spcBef>
                        <a:spcAft>
                          <a:spcPts val="0"/>
                        </a:spcAft>
                        <a:buClr>
                          <a:srgbClr val="000000"/>
                        </a:buClr>
                        <a:buSzPts val="1800"/>
                        <a:buFont typeface="Constantia"/>
                        <a:buNone/>
                      </a:pPr>
                      <a:r>
                        <a:rPr lang="en-US" sz="1800" b="0" i="0" u="none" strike="noStrike" cap="none" dirty="0">
                          <a:solidFill>
                            <a:srgbClr val="000000"/>
                          </a:solidFill>
                          <a:latin typeface="Constantia"/>
                          <a:ea typeface="Constantia"/>
                          <a:cs typeface="Constantia"/>
                          <a:sym typeface="Constantia"/>
                        </a:rPr>
                        <a:t>May help improve adherence to therapy and is useful for evaluating “white coat hypertension”.</a:t>
                      </a:r>
                      <a:endParaRPr sz="1800" b="0" i="0" u="none" strike="noStrike" cap="none" dirty="0">
                        <a:solidFill>
                          <a:srgbClr val="000000"/>
                        </a:solidFill>
                        <a:latin typeface="Constantia"/>
                        <a:ea typeface="Constantia"/>
                        <a:cs typeface="Constantia"/>
                        <a:sym typeface="Constanti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CD5E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5"/>
          <p:cNvSpPr txBox="1">
            <a:spLocks noGrp="1"/>
          </p:cNvSpPr>
          <p:nvPr>
            <p:ph type="title"/>
          </p:nvPr>
        </p:nvSpPr>
        <p:spPr>
          <a:xfrm>
            <a:off x="1981200" y="76200"/>
            <a:ext cx="8229600" cy="838200"/>
          </a:xfrm>
          <a:prstGeom prst="rect">
            <a:avLst/>
          </a:prstGeom>
          <a:noFill/>
          <a:ln>
            <a:noFill/>
          </a:ln>
        </p:spPr>
        <p:txBody>
          <a:bodyPr spcFirstLastPara="1" wrap="square" lIns="50800" tIns="50800" rIns="50800" bIns="50800" anchor="ctr" anchorCtr="0">
            <a:noAutofit/>
          </a:bodyPr>
          <a:lstStyle/>
          <a:p>
            <a:r>
              <a:rPr lang="en-US"/>
              <a:t>Elevated BP . . . Now what?</a:t>
            </a:r>
            <a:endParaRPr/>
          </a:p>
        </p:txBody>
      </p:sp>
      <p:sp>
        <p:nvSpPr>
          <p:cNvPr id="558" name="Google Shape;558;p65"/>
          <p:cNvSpPr txBox="1">
            <a:spLocks noGrp="1"/>
          </p:cNvSpPr>
          <p:nvPr>
            <p:ph type="body" idx="1"/>
          </p:nvPr>
        </p:nvSpPr>
        <p:spPr>
          <a:xfrm>
            <a:off x="655983" y="990600"/>
            <a:ext cx="10952921"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latin typeface="Calibri"/>
                <a:ea typeface="Calibri"/>
                <a:cs typeface="Calibri"/>
                <a:sym typeface="Calibri"/>
              </a:rPr>
              <a:t>So, to summarize, after an elevated BP reading is detected, the patient and provider determine the best method for follow-up of blood pressure measurements.</a:t>
            </a:r>
            <a:endParaRPr dirty="0"/>
          </a:p>
          <a:p>
            <a:pPr marL="731838" lvl="1" indent="-292100"/>
            <a:r>
              <a:rPr lang="en-US" dirty="0">
                <a:latin typeface="Calibri"/>
                <a:ea typeface="Calibri"/>
                <a:cs typeface="Calibri"/>
                <a:sym typeface="Calibri"/>
              </a:rPr>
              <a:t>Ambulatory BP monitoring</a:t>
            </a:r>
            <a:endParaRPr dirty="0"/>
          </a:p>
          <a:p>
            <a:pPr marL="731838" lvl="1" indent="-292100"/>
            <a:r>
              <a:rPr lang="en-US" dirty="0">
                <a:latin typeface="Calibri"/>
                <a:ea typeface="Calibri"/>
                <a:cs typeface="Calibri"/>
                <a:sym typeface="Calibri"/>
              </a:rPr>
              <a:t>Home BP monitoring</a:t>
            </a:r>
            <a:endParaRPr dirty="0"/>
          </a:p>
          <a:p>
            <a:pPr marL="731838" lvl="1" indent="-292100"/>
            <a:r>
              <a:rPr lang="en-US" dirty="0">
                <a:latin typeface="Calibri"/>
                <a:ea typeface="Calibri"/>
                <a:cs typeface="Calibri"/>
                <a:sym typeface="Calibri"/>
              </a:rPr>
              <a:t>Office BP monitoring</a:t>
            </a:r>
            <a:endParaRPr dirty="0"/>
          </a:p>
          <a:p>
            <a:pPr marL="731838" lvl="1" indent="-88900">
              <a:buNone/>
            </a:pPr>
            <a:endParaRPr dirty="0">
              <a:latin typeface="Calibri"/>
              <a:ea typeface="Calibri"/>
              <a:cs typeface="Calibri"/>
              <a:sym typeface="Calibri"/>
            </a:endParaRPr>
          </a:p>
          <a:p>
            <a:pPr marL="292100" indent="-292100"/>
            <a:r>
              <a:rPr lang="en-US" dirty="0">
                <a:latin typeface="Calibri"/>
                <a:ea typeface="Calibri"/>
                <a:cs typeface="Calibri"/>
                <a:sym typeface="Calibri"/>
              </a:rPr>
              <a:t>A second visit with the provider is arranged in about 2 weeks to follow-up on the BP readings.</a:t>
            </a:r>
            <a:endParaRPr dirty="0"/>
          </a:p>
          <a:p>
            <a:pPr marL="292100" indent="-88900">
              <a:buNone/>
            </a:pPr>
            <a:endParaRPr dirty="0">
              <a:latin typeface="Calibri"/>
              <a:ea typeface="Calibri"/>
              <a:cs typeface="Calibri"/>
              <a:sym typeface="Calibri"/>
            </a:endParaRPr>
          </a:p>
          <a:p>
            <a:pPr marL="292100" indent="-88900">
              <a:buNone/>
            </a:pPr>
            <a:endParaRPr dirty="0"/>
          </a:p>
          <a:p>
            <a:pPr marL="0" indent="0">
              <a:buNone/>
            </a:pPr>
            <a:endParaRPr dirty="0"/>
          </a:p>
          <a:p>
            <a:pPr marL="292100" indent="-95250">
              <a:spcBef>
                <a:spcPts val="775"/>
              </a:spcBef>
              <a:buSzPts val="3100"/>
              <a:buNone/>
            </a:pPr>
            <a:endParaRPr sz="3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4" name="Google Shape;564;p66"/>
          <p:cNvSpPr/>
          <p:nvPr/>
        </p:nvSpPr>
        <p:spPr>
          <a:xfrm>
            <a:off x="1676400" y="914400"/>
            <a:ext cx="3048000" cy="914400"/>
          </a:xfrm>
          <a:prstGeom prst="rightArrowCallout">
            <a:avLst>
              <a:gd name="adj1" fmla="val 25000"/>
              <a:gd name="adj2" fmla="val 25000"/>
              <a:gd name="adj3" fmla="val 25000"/>
              <a:gd name="adj4" fmla="val 87032"/>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b="1" dirty="0">
                <a:solidFill>
                  <a:schemeClr val="dk1"/>
                </a:solidFill>
                <a:latin typeface="Helvetica Neue"/>
                <a:ea typeface="Helvetica Neue"/>
                <a:cs typeface="Helvetica Neue"/>
                <a:sym typeface="Helvetica Neue"/>
              </a:rPr>
              <a:t>Visit #1</a:t>
            </a:r>
            <a:endParaRPr dirty="0"/>
          </a:p>
          <a:p>
            <a:pPr algn="ctr"/>
            <a:r>
              <a:rPr lang="en-US" dirty="0">
                <a:solidFill>
                  <a:schemeClr val="dk1"/>
                </a:solidFill>
                <a:latin typeface="Helvetica Neue"/>
                <a:ea typeface="Helvetica Neue"/>
                <a:cs typeface="Helvetica Neue"/>
                <a:sym typeface="Helvetica Neue"/>
              </a:rPr>
              <a:t>History, Physical and Diagnostic Labs</a:t>
            </a:r>
            <a:endParaRPr dirty="0"/>
          </a:p>
        </p:txBody>
      </p:sp>
      <p:sp>
        <p:nvSpPr>
          <p:cNvPr id="565" name="Google Shape;565;p66"/>
          <p:cNvSpPr/>
          <p:nvPr/>
        </p:nvSpPr>
        <p:spPr>
          <a:xfrm>
            <a:off x="4893849" y="725705"/>
            <a:ext cx="2576097" cy="1432244"/>
          </a:xfrm>
          <a:prstGeom prst="rightArrowCallout">
            <a:avLst>
              <a:gd name="adj1" fmla="val 25000"/>
              <a:gd name="adj2" fmla="val 25000"/>
              <a:gd name="adj3" fmla="val 25000"/>
              <a:gd name="adj4" fmla="val 80574"/>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r>
              <a:rPr lang="en-US" sz="1800" dirty="0">
                <a:solidFill>
                  <a:schemeClr val="dk1"/>
                </a:solidFill>
                <a:latin typeface="Helvetica Neue"/>
                <a:ea typeface="Helvetica Neue"/>
                <a:cs typeface="Helvetica Neue"/>
                <a:sym typeface="Helvetica Neue"/>
              </a:rPr>
              <a:t>BP</a:t>
            </a:r>
            <a:r>
              <a:rPr lang="en-US" sz="1200" dirty="0">
                <a:solidFill>
                  <a:schemeClr val="dk1"/>
                </a:solidFill>
                <a:latin typeface="Helvetica Neue"/>
                <a:ea typeface="Helvetica Neue"/>
                <a:cs typeface="Helvetica Neue"/>
                <a:sym typeface="Helvetica Neue"/>
              </a:rPr>
              <a:t> </a:t>
            </a:r>
            <a:r>
              <a:rPr lang="en-US" sz="1800" dirty="0">
                <a:solidFill>
                  <a:schemeClr val="dk1"/>
                </a:solidFill>
                <a:latin typeface="Helvetica Neue"/>
                <a:ea typeface="Helvetica Neue"/>
                <a:cs typeface="Helvetica Neue"/>
                <a:sym typeface="Helvetica Neue"/>
              </a:rPr>
              <a:t>≥180/ ≥ 120</a:t>
            </a:r>
            <a:endParaRPr dirty="0"/>
          </a:p>
          <a:p>
            <a:r>
              <a:rPr lang="en-US" sz="1800" dirty="0">
                <a:solidFill>
                  <a:schemeClr val="dk1"/>
                </a:solidFill>
                <a:latin typeface="Helvetica Neue"/>
                <a:ea typeface="Helvetica Neue"/>
                <a:cs typeface="Helvetica Neue"/>
                <a:sym typeface="Helvetica Neue"/>
              </a:rPr>
              <a:t>Or</a:t>
            </a:r>
            <a:endParaRPr dirty="0"/>
          </a:p>
          <a:p>
            <a:r>
              <a:rPr lang="en-US" sz="1800" dirty="0">
                <a:solidFill>
                  <a:schemeClr val="dk1"/>
                </a:solidFill>
                <a:latin typeface="Helvetica Neue"/>
                <a:ea typeface="Helvetica Neue"/>
                <a:cs typeface="Helvetica Neue"/>
                <a:sym typeface="Helvetica Neue"/>
              </a:rPr>
              <a:t>BP ≥160/ ≥ 100 with known target organ damage</a:t>
            </a:r>
            <a:endParaRPr dirty="0"/>
          </a:p>
          <a:p>
            <a:endParaRPr sz="1800" dirty="0">
              <a:solidFill>
                <a:schemeClr val="dk1"/>
              </a:solidFill>
              <a:latin typeface="Helvetica Neue"/>
              <a:ea typeface="Helvetica Neue"/>
              <a:cs typeface="Helvetica Neue"/>
              <a:sym typeface="Helvetica Neue"/>
            </a:endParaRPr>
          </a:p>
        </p:txBody>
      </p:sp>
      <p:sp>
        <p:nvSpPr>
          <p:cNvPr id="566" name="Google Shape;566;p66"/>
          <p:cNvSpPr/>
          <p:nvPr/>
        </p:nvSpPr>
        <p:spPr>
          <a:xfrm>
            <a:off x="7620000" y="1143000"/>
            <a:ext cx="2286000" cy="4572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r>
              <a:rPr lang="en-US" sz="1800">
                <a:solidFill>
                  <a:schemeClr val="dk1"/>
                </a:solidFill>
                <a:latin typeface="Helvetica Neue"/>
                <a:ea typeface="Helvetica Neue"/>
                <a:cs typeface="Helvetica Neue"/>
                <a:sym typeface="Helvetica Neue"/>
              </a:rPr>
              <a:t>Hypertension</a:t>
            </a:r>
            <a:endParaRPr/>
          </a:p>
        </p:txBody>
      </p:sp>
      <p:sp>
        <p:nvSpPr>
          <p:cNvPr id="567" name="Google Shape;567;p66"/>
          <p:cNvSpPr/>
          <p:nvPr/>
        </p:nvSpPr>
        <p:spPr>
          <a:xfrm>
            <a:off x="2438400" y="1828800"/>
            <a:ext cx="457200" cy="381000"/>
          </a:xfrm>
          <a:prstGeom prst="downArrow">
            <a:avLst>
              <a:gd name="adj1" fmla="val 50000"/>
              <a:gd name="adj2" fmla="val 50000"/>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endParaRPr sz="1200">
              <a:solidFill>
                <a:schemeClr val="dk1"/>
              </a:solidFill>
              <a:latin typeface="Helvetica Neue"/>
              <a:ea typeface="Helvetica Neue"/>
              <a:cs typeface="Helvetica Neue"/>
              <a:sym typeface="Helvetica Neue"/>
            </a:endParaRPr>
          </a:p>
        </p:txBody>
      </p:sp>
      <p:sp>
        <p:nvSpPr>
          <p:cNvPr id="568" name="Google Shape;568;p66"/>
          <p:cNvSpPr/>
          <p:nvPr/>
        </p:nvSpPr>
        <p:spPr>
          <a:xfrm>
            <a:off x="1752600" y="3810000"/>
            <a:ext cx="3722686" cy="1371600"/>
          </a:xfrm>
          <a:prstGeom prst="rightArrowCallout">
            <a:avLst>
              <a:gd name="adj1" fmla="val 25000"/>
              <a:gd name="adj2" fmla="val 25000"/>
              <a:gd name="adj3" fmla="val 24997"/>
              <a:gd name="adj4" fmla="val 85880"/>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b="1" dirty="0">
                <a:solidFill>
                  <a:schemeClr val="dk1"/>
                </a:solidFill>
                <a:latin typeface="Helvetica Neue"/>
                <a:ea typeface="Helvetica Neue"/>
                <a:cs typeface="Helvetica Neue"/>
                <a:sym typeface="Helvetica Neue"/>
              </a:rPr>
              <a:t>Visit #2</a:t>
            </a:r>
            <a:r>
              <a:rPr lang="en-US" sz="1800" dirty="0">
                <a:solidFill>
                  <a:schemeClr val="dk1"/>
                </a:solidFill>
                <a:latin typeface="Helvetica Neue"/>
                <a:ea typeface="Helvetica Neue"/>
                <a:cs typeface="Helvetica Neue"/>
                <a:sym typeface="Helvetica Neue"/>
              </a:rPr>
              <a:t> </a:t>
            </a:r>
            <a:endParaRPr dirty="0"/>
          </a:p>
          <a:p>
            <a:pPr algn="ctr"/>
            <a:r>
              <a:rPr lang="en-US" sz="1800" dirty="0">
                <a:solidFill>
                  <a:schemeClr val="dk1"/>
                </a:solidFill>
                <a:latin typeface="Helvetica Neue"/>
                <a:ea typeface="Helvetica Neue"/>
                <a:cs typeface="Helvetica Neue"/>
                <a:sym typeface="Helvetica Neue"/>
              </a:rPr>
              <a:t>Daytime ABPM  ≥130/ ≥80,  </a:t>
            </a:r>
            <a:endParaRPr dirty="0"/>
          </a:p>
          <a:p>
            <a:pPr algn="ctr"/>
            <a:r>
              <a:rPr lang="en-US" sz="1800" dirty="0">
                <a:solidFill>
                  <a:schemeClr val="dk1"/>
                </a:solidFill>
                <a:latin typeface="Helvetica Neue"/>
                <a:ea typeface="Helvetica Neue"/>
                <a:cs typeface="Helvetica Neue"/>
                <a:sym typeface="Helvetica Neue"/>
              </a:rPr>
              <a:t>Or</a:t>
            </a:r>
            <a:endParaRPr dirty="0"/>
          </a:p>
          <a:p>
            <a:pPr algn="ctr"/>
            <a:r>
              <a:rPr lang="en-US" sz="1800" dirty="0">
                <a:solidFill>
                  <a:schemeClr val="dk1"/>
                </a:solidFill>
                <a:latin typeface="Helvetica Neue"/>
                <a:ea typeface="Helvetica Neue"/>
                <a:cs typeface="Helvetica Neue"/>
                <a:sym typeface="Helvetica Neue"/>
              </a:rPr>
              <a:t>HBP ≥130/≥80 mmHg</a:t>
            </a:r>
            <a:endParaRPr sz="1800" dirty="0">
              <a:solidFill>
                <a:schemeClr val="dk1"/>
              </a:solidFill>
              <a:latin typeface="Helvetica Neue"/>
              <a:ea typeface="Helvetica Neue"/>
              <a:cs typeface="Helvetica Neue"/>
              <a:sym typeface="Helvetica Neue"/>
            </a:endParaRPr>
          </a:p>
        </p:txBody>
      </p:sp>
      <p:sp>
        <p:nvSpPr>
          <p:cNvPr id="569" name="Google Shape;569;p66"/>
          <p:cNvSpPr/>
          <p:nvPr/>
        </p:nvSpPr>
        <p:spPr>
          <a:xfrm>
            <a:off x="1676400" y="2362200"/>
            <a:ext cx="3048000" cy="1371600"/>
          </a:xfrm>
          <a:prstGeom prst="downArrowCallout">
            <a:avLst>
              <a:gd name="adj1" fmla="val 25009"/>
              <a:gd name="adj2" fmla="val 25000"/>
              <a:gd name="adj3" fmla="val 25000"/>
              <a:gd name="adj4" fmla="val 64977"/>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a:solidFill>
                  <a:schemeClr val="dk1"/>
                </a:solidFill>
                <a:latin typeface="Helvetica Neue"/>
                <a:ea typeface="Helvetica Neue"/>
                <a:cs typeface="Helvetica Neue"/>
                <a:sym typeface="Helvetica Neue"/>
              </a:rPr>
              <a:t>OBPM ≥130/ ≥ 80, perform out of office assessment.  ABPM preferred</a:t>
            </a:r>
            <a:endParaRPr/>
          </a:p>
        </p:txBody>
      </p:sp>
      <p:sp>
        <p:nvSpPr>
          <p:cNvPr id="570" name="Google Shape;570;p66"/>
          <p:cNvSpPr/>
          <p:nvPr/>
        </p:nvSpPr>
        <p:spPr>
          <a:xfrm>
            <a:off x="2857500" y="5173663"/>
            <a:ext cx="685800" cy="685800"/>
          </a:xfrm>
          <a:prstGeom prst="downArrow">
            <a:avLst>
              <a:gd name="adj1" fmla="val 50000"/>
              <a:gd name="adj2" fmla="val 54231"/>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endParaRPr sz="1200">
              <a:solidFill>
                <a:schemeClr val="dk1"/>
              </a:solidFill>
              <a:latin typeface="Helvetica Neue"/>
              <a:ea typeface="Helvetica Neue"/>
              <a:cs typeface="Helvetica Neue"/>
              <a:sym typeface="Helvetica Neue"/>
            </a:endParaRPr>
          </a:p>
        </p:txBody>
      </p:sp>
      <p:sp>
        <p:nvSpPr>
          <p:cNvPr id="571" name="Google Shape;571;p66"/>
          <p:cNvSpPr/>
          <p:nvPr/>
        </p:nvSpPr>
        <p:spPr>
          <a:xfrm>
            <a:off x="1903413" y="6011863"/>
            <a:ext cx="2286000" cy="6858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a:solidFill>
                  <a:schemeClr val="dk1"/>
                </a:solidFill>
                <a:latin typeface="Helvetica Neue"/>
                <a:ea typeface="Helvetica Neue"/>
                <a:cs typeface="Helvetica Neue"/>
                <a:sym typeface="Helvetica Neue"/>
              </a:rPr>
              <a:t>Yes- Hypertension is diagnosed</a:t>
            </a:r>
            <a:endParaRPr/>
          </a:p>
        </p:txBody>
      </p:sp>
      <p:sp>
        <p:nvSpPr>
          <p:cNvPr id="572" name="Google Shape;572;p66"/>
          <p:cNvSpPr/>
          <p:nvPr/>
        </p:nvSpPr>
        <p:spPr>
          <a:xfrm>
            <a:off x="5566017" y="3713956"/>
            <a:ext cx="1693863" cy="2935288"/>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a:solidFill>
                  <a:schemeClr val="dk1"/>
                </a:solidFill>
                <a:latin typeface="Helvetica Neue"/>
                <a:ea typeface="Helvetica Neue"/>
                <a:cs typeface="Helvetica Neue"/>
                <a:sym typeface="Helvetica Neue"/>
              </a:rPr>
              <a:t>No- Patient has white coat hypertension.</a:t>
            </a:r>
            <a:endParaRPr/>
          </a:p>
          <a:p>
            <a:pPr algn="ctr"/>
            <a:r>
              <a:rPr lang="en-US" sz="1800">
                <a:solidFill>
                  <a:schemeClr val="dk1"/>
                </a:solidFill>
                <a:latin typeface="Helvetica Neue"/>
                <a:ea typeface="Helvetica Neue"/>
                <a:cs typeface="Helvetica Neue"/>
                <a:sym typeface="Helvetica Neue"/>
              </a:rPr>
              <a:t>Periodically reassess for development of hypertension</a:t>
            </a:r>
            <a:endParaRPr/>
          </a:p>
        </p:txBody>
      </p:sp>
      <p:cxnSp>
        <p:nvCxnSpPr>
          <p:cNvPr id="573" name="Google Shape;573;p66"/>
          <p:cNvCxnSpPr/>
          <p:nvPr/>
        </p:nvCxnSpPr>
        <p:spPr>
          <a:xfrm>
            <a:off x="5118652" y="3008244"/>
            <a:ext cx="2057400" cy="0"/>
          </a:xfrm>
          <a:prstGeom prst="straightConnector1">
            <a:avLst/>
          </a:prstGeom>
          <a:noFill/>
          <a:ln w="25400" cap="flat" cmpd="sng">
            <a:solidFill>
              <a:srgbClr val="4F81BD"/>
            </a:solidFill>
            <a:prstDash val="solid"/>
            <a:round/>
            <a:headEnd type="none" w="med" len="med"/>
            <a:tailEnd type="triangle" w="med" len="med"/>
          </a:ln>
        </p:spPr>
      </p:cxnSp>
      <p:sp>
        <p:nvSpPr>
          <p:cNvPr id="574" name="Google Shape;574;p66"/>
          <p:cNvSpPr txBox="1"/>
          <p:nvPr/>
        </p:nvSpPr>
        <p:spPr>
          <a:xfrm>
            <a:off x="7451725" y="4086225"/>
            <a:ext cx="3086100" cy="1200150"/>
          </a:xfrm>
          <a:prstGeom prst="rect">
            <a:avLst/>
          </a:prstGeom>
          <a:noFill/>
          <a:ln w="9525" cap="flat" cmpd="sng">
            <a:solidFill>
              <a:srgbClr val="0070C0"/>
            </a:solidFill>
            <a:prstDash val="solid"/>
            <a:miter lim="800000"/>
            <a:headEnd type="none" w="sm" len="sm"/>
            <a:tailEnd type="none" w="sm" len="sm"/>
          </a:ln>
        </p:spPr>
        <p:txBody>
          <a:bodyPr spcFirstLastPara="1" wrap="square" lIns="91425" tIns="45700" rIns="91425" bIns="45700" anchor="t" anchorCtr="0">
            <a:spAutoFit/>
          </a:bodyPr>
          <a:lstStyle/>
          <a:p>
            <a:pPr algn="ctr"/>
            <a:r>
              <a:rPr lang="en-US" sz="1800" b="1" dirty="0">
                <a:solidFill>
                  <a:schemeClr val="dk1"/>
                </a:solidFill>
                <a:latin typeface="Helvetica Neue"/>
                <a:ea typeface="Helvetica Neue"/>
                <a:cs typeface="Helvetica Neue"/>
                <a:sym typeface="Helvetica Neue"/>
              </a:rPr>
              <a:t>Visit #2 </a:t>
            </a:r>
            <a:endParaRPr dirty="0"/>
          </a:p>
          <a:p>
            <a:pPr algn="ctr"/>
            <a:r>
              <a:rPr lang="en-US" sz="1800" dirty="0">
                <a:solidFill>
                  <a:schemeClr val="dk1"/>
                </a:solidFill>
                <a:latin typeface="Helvetica Neue"/>
                <a:ea typeface="Helvetica Neue"/>
                <a:cs typeface="Helvetica Neue"/>
                <a:sym typeface="Helvetica Neue"/>
              </a:rPr>
              <a:t>If the OBPMs average ≥130/≥80 mmHg, hypertension is diagnosed.</a:t>
            </a:r>
            <a:endParaRPr dirty="0"/>
          </a:p>
        </p:txBody>
      </p:sp>
      <p:sp>
        <p:nvSpPr>
          <p:cNvPr id="575" name="Google Shape;575;p66"/>
          <p:cNvSpPr/>
          <p:nvPr/>
        </p:nvSpPr>
        <p:spPr>
          <a:xfrm>
            <a:off x="7467600" y="2057401"/>
            <a:ext cx="3086100" cy="1947863"/>
          </a:xfrm>
          <a:prstGeom prst="downArrowCallout">
            <a:avLst>
              <a:gd name="adj1" fmla="val 25000"/>
              <a:gd name="adj2" fmla="val 25000"/>
              <a:gd name="adj3" fmla="val 25000"/>
              <a:gd name="adj4" fmla="val 64977"/>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r>
              <a:rPr lang="en-US" sz="1800" dirty="0">
                <a:solidFill>
                  <a:schemeClr val="dk1"/>
                </a:solidFill>
                <a:latin typeface="Helvetica Neue"/>
                <a:ea typeface="Helvetica Neue"/>
                <a:cs typeface="Helvetica Neue"/>
                <a:sym typeface="Helvetica Neue"/>
              </a:rPr>
              <a:t>If ABPM or HBPM are not available- obtain at least one or more additional office blood pressure readings.  </a:t>
            </a:r>
            <a:endParaRPr dirty="0"/>
          </a:p>
          <a:p>
            <a:endParaRPr sz="1200" dirty="0">
              <a:solidFill>
                <a:schemeClr val="dk1"/>
              </a:solidFill>
              <a:latin typeface="Helvetica Neue"/>
              <a:ea typeface="Helvetica Neue"/>
              <a:cs typeface="Helvetica Neue"/>
              <a:sym typeface="Helvetica Neue"/>
            </a:endParaRPr>
          </a:p>
        </p:txBody>
      </p:sp>
      <p:sp>
        <p:nvSpPr>
          <p:cNvPr id="576" name="Google Shape;576;p66"/>
          <p:cNvSpPr/>
          <p:nvPr/>
        </p:nvSpPr>
        <p:spPr>
          <a:xfrm>
            <a:off x="8572500" y="5286375"/>
            <a:ext cx="685800" cy="685800"/>
          </a:xfrm>
          <a:prstGeom prst="downArrow">
            <a:avLst>
              <a:gd name="adj1" fmla="val 50000"/>
              <a:gd name="adj2" fmla="val 54231"/>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endParaRPr sz="1200">
              <a:solidFill>
                <a:schemeClr val="dk1"/>
              </a:solidFill>
              <a:latin typeface="Helvetica Neue"/>
              <a:ea typeface="Helvetica Neue"/>
              <a:cs typeface="Helvetica Neue"/>
              <a:sym typeface="Helvetica Neue"/>
            </a:endParaRPr>
          </a:p>
        </p:txBody>
      </p:sp>
      <p:sp>
        <p:nvSpPr>
          <p:cNvPr id="577" name="Google Shape;577;p66"/>
          <p:cNvSpPr/>
          <p:nvPr/>
        </p:nvSpPr>
        <p:spPr>
          <a:xfrm>
            <a:off x="7851775" y="6011863"/>
            <a:ext cx="2286000" cy="6858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91425" tIns="45700" rIns="91425" bIns="45700" anchor="t" anchorCtr="0">
            <a:noAutofit/>
          </a:bodyPr>
          <a:lstStyle/>
          <a:p>
            <a:pPr algn="ctr"/>
            <a:r>
              <a:rPr lang="en-US" sz="1800">
                <a:solidFill>
                  <a:schemeClr val="dk1"/>
                </a:solidFill>
                <a:latin typeface="Helvetica Neue"/>
                <a:ea typeface="Helvetica Neue"/>
                <a:cs typeface="Helvetica Neue"/>
                <a:sym typeface="Helvetica Neue"/>
              </a:rPr>
              <a:t>Yes- Hypertension is diagnosed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67"/>
          <p:cNvSpPr txBox="1">
            <a:spLocks noGrp="1"/>
          </p:cNvSpPr>
          <p:nvPr>
            <p:ph type="title"/>
          </p:nvPr>
        </p:nvSpPr>
        <p:spPr>
          <a:xfrm>
            <a:off x="1600200" y="76200"/>
            <a:ext cx="8915400" cy="1066800"/>
          </a:xfrm>
          <a:prstGeom prst="rect">
            <a:avLst/>
          </a:prstGeom>
          <a:noFill/>
          <a:ln>
            <a:noFill/>
          </a:ln>
        </p:spPr>
        <p:txBody>
          <a:bodyPr spcFirstLastPara="1" wrap="square" lIns="50800" tIns="50800" rIns="50800" bIns="50800" anchor="ctr" anchorCtr="0">
            <a:noAutofit/>
          </a:bodyPr>
          <a:lstStyle/>
          <a:p>
            <a:r>
              <a:rPr lang="en-US"/>
              <a:t>Making the HTN Diagnosis</a:t>
            </a:r>
            <a:endParaRPr/>
          </a:p>
        </p:txBody>
      </p:sp>
      <p:sp>
        <p:nvSpPr>
          <p:cNvPr id="583" name="Google Shape;583;p67"/>
          <p:cNvSpPr txBox="1">
            <a:spLocks noGrp="1"/>
          </p:cNvSpPr>
          <p:nvPr>
            <p:ph type="body" idx="1"/>
          </p:nvPr>
        </p:nvSpPr>
        <p:spPr>
          <a:xfrm>
            <a:off x="745435" y="1295400"/>
            <a:ext cx="10764078" cy="52578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b="1" dirty="0"/>
              <a:t>A diagnosis of HTN can be made, without further confirmatory readings, in the following uncommon scenarios</a:t>
            </a:r>
            <a:r>
              <a:rPr lang="en-US" dirty="0"/>
              <a:t>:</a:t>
            </a:r>
            <a:endParaRPr dirty="0"/>
          </a:p>
          <a:p>
            <a:pPr marL="514350" indent="-514350">
              <a:buFont typeface="Calibri"/>
              <a:buAutoNum type="arabicPeriod"/>
            </a:pPr>
            <a:r>
              <a:rPr lang="en-US" dirty="0"/>
              <a:t>A patient with hypertensive urgency or emergency (blood pressure ≥180/≥120) </a:t>
            </a:r>
            <a:endParaRPr dirty="0"/>
          </a:p>
          <a:p>
            <a:pPr marL="514350" indent="-514350">
              <a:buFont typeface="Calibri"/>
              <a:buAutoNum type="arabicPeriod"/>
            </a:pPr>
            <a:r>
              <a:rPr lang="en-US" dirty="0"/>
              <a:t>A patient who presents with an initial screening blood pressure ≥160/≥100 mmHg and who also has known target end-organ damage (coronary artery disease, heart failure, left ventricular hypertrophy, stroke, hypertensive retinopathy, chronic kidney disease)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71"/>
          <p:cNvSpPr txBox="1">
            <a:spLocks noGrp="1"/>
          </p:cNvSpPr>
          <p:nvPr>
            <p:ph type="title"/>
          </p:nvPr>
        </p:nvSpPr>
        <p:spPr>
          <a:xfrm>
            <a:off x="1981200" y="76200"/>
            <a:ext cx="8229600" cy="838200"/>
          </a:xfrm>
          <a:prstGeom prst="rect">
            <a:avLst/>
          </a:prstGeom>
          <a:noFill/>
          <a:ln>
            <a:noFill/>
          </a:ln>
        </p:spPr>
        <p:txBody>
          <a:bodyPr spcFirstLastPara="1" wrap="square" lIns="50800" tIns="50800" rIns="50800" bIns="50800" anchor="ctr" anchorCtr="0">
            <a:noAutofit/>
          </a:bodyPr>
          <a:lstStyle/>
          <a:p>
            <a:r>
              <a:rPr lang="en-US" dirty="0"/>
              <a:t>Let’s Practice . . . </a:t>
            </a:r>
            <a:endParaRPr dirty="0"/>
          </a:p>
        </p:txBody>
      </p:sp>
      <p:sp>
        <p:nvSpPr>
          <p:cNvPr id="608" name="Google Shape;608;p71"/>
          <p:cNvSpPr txBox="1">
            <a:spLocks noGrp="1"/>
          </p:cNvSpPr>
          <p:nvPr>
            <p:ph type="body" idx="1"/>
          </p:nvPr>
        </p:nvSpPr>
        <p:spPr>
          <a:xfrm>
            <a:off x="944217" y="1066800"/>
            <a:ext cx="10485783"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A 49-year-old woman with a history of hypertension from age 40-42, resolved after  bariatric surgery and 90 </a:t>
            </a:r>
            <a:r>
              <a:rPr lang="en-US" dirty="0" err="1"/>
              <a:t>lb</a:t>
            </a:r>
            <a:r>
              <a:rPr lang="en-US" dirty="0"/>
              <a:t> weight loss.</a:t>
            </a:r>
            <a:endParaRPr dirty="0"/>
          </a:p>
          <a:p>
            <a:pPr marL="292100" indent="-228600">
              <a:buSzPts val="1000"/>
              <a:buNone/>
            </a:pPr>
            <a:endParaRPr sz="1000" dirty="0"/>
          </a:p>
          <a:p>
            <a:pPr marL="292100" indent="-228600">
              <a:buSzPts val="1000"/>
              <a:buNone/>
            </a:pPr>
            <a:endParaRPr sz="1000" dirty="0"/>
          </a:p>
          <a:p>
            <a:pPr marL="292100" indent="-292100"/>
            <a:r>
              <a:rPr lang="en-US" dirty="0"/>
              <a:t>Unfortunately, the pt gained back about 40 </a:t>
            </a:r>
            <a:r>
              <a:rPr lang="en-US" dirty="0" err="1"/>
              <a:t>lbs</a:t>
            </a:r>
            <a:r>
              <a:rPr lang="en-US" dirty="0"/>
              <a:t> over the last two years and on routine visit has a BP of 138/82.  Home and ambulatory BP monitoring cannot be done, so  you ask her to return to the clinic for 4-5 nurse visits over the next 14 days to check her BP and make an appointment for her for two weeks from today.</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72"/>
          <p:cNvSpPr txBox="1">
            <a:spLocks noGrp="1"/>
          </p:cNvSpPr>
          <p:nvPr>
            <p:ph type="title"/>
          </p:nvPr>
        </p:nvSpPr>
        <p:spPr>
          <a:xfrm>
            <a:off x="1981200" y="76200"/>
            <a:ext cx="8229600" cy="838200"/>
          </a:xfrm>
          <a:prstGeom prst="rect">
            <a:avLst/>
          </a:prstGeom>
          <a:noFill/>
          <a:ln>
            <a:noFill/>
          </a:ln>
        </p:spPr>
        <p:txBody>
          <a:bodyPr spcFirstLastPara="1" wrap="square" lIns="50800" tIns="50800" rIns="50800" bIns="50800" anchor="ctr" anchorCtr="0">
            <a:noAutofit/>
          </a:bodyPr>
          <a:lstStyle/>
          <a:p>
            <a:r>
              <a:rPr lang="en-US" dirty="0"/>
              <a:t>Let’s Practice . . . </a:t>
            </a:r>
            <a:endParaRPr dirty="0"/>
          </a:p>
        </p:txBody>
      </p:sp>
      <p:sp>
        <p:nvSpPr>
          <p:cNvPr id="614" name="Google Shape;614;p72"/>
          <p:cNvSpPr txBox="1">
            <a:spLocks noGrp="1"/>
          </p:cNvSpPr>
          <p:nvPr>
            <p:ph type="body" idx="1"/>
          </p:nvPr>
        </p:nvSpPr>
        <p:spPr>
          <a:xfrm>
            <a:off x="646043" y="1066800"/>
            <a:ext cx="8497957" cy="3810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The first time she returns, the nurse declines to check her BP, noting that she has consumed half of a pumpkin spice latte with extra espresso.</a:t>
            </a:r>
            <a:endParaRPr sz="1000" dirty="0"/>
          </a:p>
          <a:p>
            <a:pPr marL="292100" indent="-228600">
              <a:buSzPts val="1000"/>
              <a:buNone/>
            </a:pPr>
            <a:endParaRPr sz="1000" dirty="0"/>
          </a:p>
          <a:p>
            <a:pPr marL="292100" indent="-292100"/>
            <a:r>
              <a:rPr lang="en-US" dirty="0"/>
              <a:t>Precautions are reiterated and she does better on subsequent visits:</a:t>
            </a:r>
            <a:endParaRPr dirty="0"/>
          </a:p>
        </p:txBody>
      </p:sp>
      <p:graphicFrame>
        <p:nvGraphicFramePr>
          <p:cNvPr id="615" name="Google Shape;615;p72"/>
          <p:cNvGraphicFramePr/>
          <p:nvPr>
            <p:extLst>
              <p:ext uri="{D42A27DB-BD31-4B8C-83A1-F6EECF244321}">
                <p14:modId xmlns:p14="http://schemas.microsoft.com/office/powerpoint/2010/main" val="3339181955"/>
              </p:ext>
            </p:extLst>
          </p:nvPr>
        </p:nvGraphicFramePr>
        <p:xfrm>
          <a:off x="1676400" y="4572000"/>
          <a:ext cx="8839200" cy="1554490"/>
        </p:xfrm>
        <a:graphic>
          <a:graphicData uri="http://schemas.openxmlformats.org/drawingml/2006/table">
            <a:tbl>
              <a:tblPr firstRow="1" bandRow="1">
                <a:noFill/>
                <a:tableStyleId>{6982547C-5184-4841-A74E-8B02F8914B86}</a:tableStyleId>
              </a:tblPr>
              <a:tblGrid>
                <a:gridCol w="1140000">
                  <a:extLst>
                    <a:ext uri="{9D8B030D-6E8A-4147-A177-3AD203B41FA5}">
                      <a16:colId xmlns:a16="http://schemas.microsoft.com/office/drawing/2014/main" val="20000"/>
                    </a:ext>
                  </a:extLst>
                </a:gridCol>
                <a:gridCol w="1099875">
                  <a:extLst>
                    <a:ext uri="{9D8B030D-6E8A-4147-A177-3AD203B41FA5}">
                      <a16:colId xmlns:a16="http://schemas.microsoft.com/office/drawing/2014/main" val="20001"/>
                    </a:ext>
                  </a:extLst>
                </a:gridCol>
                <a:gridCol w="1170075">
                  <a:extLst>
                    <a:ext uri="{9D8B030D-6E8A-4147-A177-3AD203B41FA5}">
                      <a16:colId xmlns:a16="http://schemas.microsoft.com/office/drawing/2014/main" val="20002"/>
                    </a:ext>
                  </a:extLst>
                </a:gridCol>
                <a:gridCol w="1123000">
                  <a:extLst>
                    <a:ext uri="{9D8B030D-6E8A-4147-A177-3AD203B41FA5}">
                      <a16:colId xmlns:a16="http://schemas.microsoft.com/office/drawing/2014/main" val="20003"/>
                    </a:ext>
                  </a:extLst>
                </a:gridCol>
                <a:gridCol w="1061550">
                  <a:extLst>
                    <a:ext uri="{9D8B030D-6E8A-4147-A177-3AD203B41FA5}">
                      <a16:colId xmlns:a16="http://schemas.microsoft.com/office/drawing/2014/main" val="20004"/>
                    </a:ext>
                  </a:extLst>
                </a:gridCol>
                <a:gridCol w="1090850">
                  <a:extLst>
                    <a:ext uri="{9D8B030D-6E8A-4147-A177-3AD203B41FA5}">
                      <a16:colId xmlns:a16="http://schemas.microsoft.com/office/drawing/2014/main" val="20005"/>
                    </a:ext>
                  </a:extLst>
                </a:gridCol>
                <a:gridCol w="1123000">
                  <a:extLst>
                    <a:ext uri="{9D8B030D-6E8A-4147-A177-3AD203B41FA5}">
                      <a16:colId xmlns:a16="http://schemas.microsoft.com/office/drawing/2014/main" val="20006"/>
                    </a:ext>
                  </a:extLst>
                </a:gridCol>
                <a:gridCol w="1030850">
                  <a:extLst>
                    <a:ext uri="{9D8B030D-6E8A-4147-A177-3AD203B41FA5}">
                      <a16:colId xmlns:a16="http://schemas.microsoft.com/office/drawing/2014/main" val="20007"/>
                    </a:ext>
                  </a:extLst>
                </a:gridCol>
              </a:tblGrid>
              <a:tr h="609600">
                <a:tc gridSpan="2">
                  <a:txBody>
                    <a:bodyPr/>
                    <a:lstStyle/>
                    <a:p>
                      <a:pPr marL="0" marR="0" lvl="0" indent="0" algn="ctr" rtl="0">
                        <a:spcBef>
                          <a:spcPts val="0"/>
                        </a:spcBef>
                        <a:spcAft>
                          <a:spcPts val="0"/>
                        </a:spcAft>
                        <a:buNone/>
                      </a:pPr>
                      <a:r>
                        <a:rPr lang="en-US" sz="1800">
                          <a:solidFill>
                            <a:schemeClr val="dk1"/>
                          </a:solidFill>
                        </a:rPr>
                        <a:t>Wednesday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dirty="0">
                          <a:solidFill>
                            <a:schemeClr val="dk1"/>
                          </a:solidFill>
                        </a:rPr>
                        <a:t>Monday</a:t>
                      </a:r>
                      <a:endParaRPr dirty="0"/>
                    </a:p>
                    <a:p>
                      <a:pPr marL="0" marR="0" lvl="0" indent="0" algn="ctr" rtl="0">
                        <a:spcBef>
                          <a:spcPts val="0"/>
                        </a:spcBef>
                        <a:spcAft>
                          <a:spcPts val="0"/>
                        </a:spcAft>
                        <a:buNone/>
                      </a:pPr>
                      <a:r>
                        <a:rPr lang="en-US" sz="1800" dirty="0">
                          <a:solidFill>
                            <a:schemeClr val="dk1"/>
                          </a:solidFill>
                        </a:rPr>
                        <a:t>Right       Left</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a:solidFill>
                            <a:schemeClr val="dk1"/>
                          </a:solidFill>
                        </a:rPr>
                        <a:t>Thursday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a:solidFill>
                            <a:schemeClr val="dk1"/>
                          </a:solidFill>
                        </a:rPr>
                        <a:t>Friday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800" dirty="0"/>
                        <a:t>144/81</a:t>
                      </a:r>
                      <a:endParaRPr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134/68</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128/80</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130/64</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140/62</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126/66</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129/70</a:t>
                      </a:r>
                      <a:endParaRPr dirty="0"/>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126/75</a:t>
                      </a:r>
                      <a:endParaRPr dirty="0"/>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800" dirty="0"/>
                        <a:t>142/78</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132/66</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134/72</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128/58</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150/76</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132/67</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134/74</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124/68</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616" name="Google Shape;616;p72" descr="5 Shots of Celebs Holding Beverages—Because This Is the Best Way Ever to  See Their Cute Nails | Glamour"/>
          <p:cNvPicPr preferRelativeResize="0"/>
          <p:nvPr/>
        </p:nvPicPr>
        <p:blipFill rotWithShape="1">
          <a:blip r:embed="rId3">
            <a:alphaModFix/>
          </a:blip>
          <a:srcRect/>
          <a:stretch/>
        </p:blipFill>
        <p:spPr>
          <a:xfrm>
            <a:off x="9806057" y="1009650"/>
            <a:ext cx="1739900" cy="2552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73"/>
          <p:cNvSpPr txBox="1">
            <a:spLocks noGrp="1"/>
          </p:cNvSpPr>
          <p:nvPr>
            <p:ph type="title"/>
          </p:nvPr>
        </p:nvSpPr>
        <p:spPr>
          <a:xfrm>
            <a:off x="1981200" y="76200"/>
            <a:ext cx="8229600" cy="838200"/>
          </a:xfrm>
          <a:prstGeom prst="rect">
            <a:avLst/>
          </a:prstGeom>
          <a:noFill/>
          <a:ln>
            <a:noFill/>
          </a:ln>
        </p:spPr>
        <p:txBody>
          <a:bodyPr spcFirstLastPara="1" wrap="square" lIns="50800" tIns="50800" rIns="50800" bIns="50800" anchor="ctr" anchorCtr="0">
            <a:noAutofit/>
          </a:bodyPr>
          <a:lstStyle/>
          <a:p>
            <a:r>
              <a:rPr lang="en-US" dirty="0"/>
              <a:t>Let’s Practice . . . </a:t>
            </a:r>
            <a:endParaRPr dirty="0"/>
          </a:p>
        </p:txBody>
      </p:sp>
      <p:sp>
        <p:nvSpPr>
          <p:cNvPr id="622" name="Google Shape;622;p73"/>
          <p:cNvSpPr txBox="1">
            <a:spLocks noGrp="1"/>
          </p:cNvSpPr>
          <p:nvPr>
            <p:ph type="body" idx="1"/>
          </p:nvPr>
        </p:nvSpPr>
        <p:spPr>
          <a:xfrm>
            <a:off x="1676400" y="1066800"/>
            <a:ext cx="8839200" cy="167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Average the two readings, spaced 1-2 minutes apart, for each arm followed by averaging the week values of each arm.</a:t>
            </a:r>
            <a:endParaRPr dirty="0"/>
          </a:p>
        </p:txBody>
      </p:sp>
      <p:graphicFrame>
        <p:nvGraphicFramePr>
          <p:cNvPr id="623" name="Google Shape;623;p73"/>
          <p:cNvGraphicFramePr/>
          <p:nvPr>
            <p:extLst>
              <p:ext uri="{D42A27DB-BD31-4B8C-83A1-F6EECF244321}">
                <p14:modId xmlns:p14="http://schemas.microsoft.com/office/powerpoint/2010/main" val="758029566"/>
              </p:ext>
            </p:extLst>
          </p:nvPr>
        </p:nvGraphicFramePr>
        <p:xfrm>
          <a:off x="1676400" y="2728913"/>
          <a:ext cx="8839200" cy="1995490"/>
        </p:xfrm>
        <a:graphic>
          <a:graphicData uri="http://schemas.openxmlformats.org/drawingml/2006/table">
            <a:tbl>
              <a:tblPr firstRow="1" bandRow="1">
                <a:noFill/>
                <a:tableStyleId>{6982547C-5184-4841-A74E-8B02F8914B86}</a:tableStyleId>
              </a:tblPr>
              <a:tblGrid>
                <a:gridCol w="1140000">
                  <a:extLst>
                    <a:ext uri="{9D8B030D-6E8A-4147-A177-3AD203B41FA5}">
                      <a16:colId xmlns:a16="http://schemas.microsoft.com/office/drawing/2014/main" val="20000"/>
                    </a:ext>
                  </a:extLst>
                </a:gridCol>
                <a:gridCol w="1099875">
                  <a:extLst>
                    <a:ext uri="{9D8B030D-6E8A-4147-A177-3AD203B41FA5}">
                      <a16:colId xmlns:a16="http://schemas.microsoft.com/office/drawing/2014/main" val="20001"/>
                    </a:ext>
                  </a:extLst>
                </a:gridCol>
                <a:gridCol w="1170075">
                  <a:extLst>
                    <a:ext uri="{9D8B030D-6E8A-4147-A177-3AD203B41FA5}">
                      <a16:colId xmlns:a16="http://schemas.microsoft.com/office/drawing/2014/main" val="20002"/>
                    </a:ext>
                  </a:extLst>
                </a:gridCol>
                <a:gridCol w="1123000">
                  <a:extLst>
                    <a:ext uri="{9D8B030D-6E8A-4147-A177-3AD203B41FA5}">
                      <a16:colId xmlns:a16="http://schemas.microsoft.com/office/drawing/2014/main" val="20003"/>
                    </a:ext>
                  </a:extLst>
                </a:gridCol>
                <a:gridCol w="1061550">
                  <a:extLst>
                    <a:ext uri="{9D8B030D-6E8A-4147-A177-3AD203B41FA5}">
                      <a16:colId xmlns:a16="http://schemas.microsoft.com/office/drawing/2014/main" val="20004"/>
                    </a:ext>
                  </a:extLst>
                </a:gridCol>
                <a:gridCol w="1090850">
                  <a:extLst>
                    <a:ext uri="{9D8B030D-6E8A-4147-A177-3AD203B41FA5}">
                      <a16:colId xmlns:a16="http://schemas.microsoft.com/office/drawing/2014/main" val="20005"/>
                    </a:ext>
                  </a:extLst>
                </a:gridCol>
                <a:gridCol w="1123000">
                  <a:extLst>
                    <a:ext uri="{9D8B030D-6E8A-4147-A177-3AD203B41FA5}">
                      <a16:colId xmlns:a16="http://schemas.microsoft.com/office/drawing/2014/main" val="20006"/>
                    </a:ext>
                  </a:extLst>
                </a:gridCol>
                <a:gridCol w="1030850">
                  <a:extLst>
                    <a:ext uri="{9D8B030D-6E8A-4147-A177-3AD203B41FA5}">
                      <a16:colId xmlns:a16="http://schemas.microsoft.com/office/drawing/2014/main" val="20007"/>
                    </a:ext>
                  </a:extLst>
                </a:gridCol>
              </a:tblGrid>
              <a:tr h="609600">
                <a:tc gridSpan="2">
                  <a:txBody>
                    <a:bodyPr/>
                    <a:lstStyle/>
                    <a:p>
                      <a:pPr marL="0" marR="0" lvl="0" indent="0" algn="ctr" rtl="0">
                        <a:spcBef>
                          <a:spcPts val="0"/>
                        </a:spcBef>
                        <a:spcAft>
                          <a:spcPts val="0"/>
                        </a:spcAft>
                        <a:buNone/>
                      </a:pPr>
                      <a:r>
                        <a:rPr lang="en-US" sz="1800">
                          <a:solidFill>
                            <a:schemeClr val="dk1"/>
                          </a:solidFill>
                        </a:rPr>
                        <a:t>Wednesday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a:solidFill>
                            <a:schemeClr val="dk1"/>
                          </a:solidFill>
                        </a:rPr>
                        <a:t>Monday</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a:solidFill>
                            <a:schemeClr val="dk1"/>
                          </a:solidFill>
                        </a:rPr>
                        <a:t>Thursday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US" sz="1800">
                          <a:solidFill>
                            <a:schemeClr val="dk1"/>
                          </a:solidFill>
                        </a:rPr>
                        <a:t>Friday </a:t>
                      </a:r>
                      <a:endParaRPr/>
                    </a:p>
                    <a:p>
                      <a:pPr marL="0" marR="0" lvl="0" indent="0" algn="ctr" rtl="0">
                        <a:spcBef>
                          <a:spcPts val="0"/>
                        </a:spcBef>
                        <a:spcAft>
                          <a:spcPts val="0"/>
                        </a:spcAft>
                        <a:buNone/>
                      </a:pPr>
                      <a:r>
                        <a:rPr lang="en-US" sz="1800">
                          <a:solidFill>
                            <a:schemeClr val="dk1"/>
                          </a:solidFill>
                        </a:rPr>
                        <a:t>Right       Left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800" dirty="0"/>
                        <a:t>144/81</a:t>
                      </a:r>
                      <a:endParaRPr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134/68</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128/80</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130/64</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140/62</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126/66</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129/70</a:t>
                      </a:r>
                      <a:endParaRPr/>
                    </a:p>
                  </a:txBody>
                  <a:tcPr marL="91450" marR="91450" marT="45725" marB="45725">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t>126/75</a:t>
                      </a:r>
                      <a:endParaRPr dirty="0"/>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800"/>
                        <a:t>142/78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132/66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134/72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128/58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150/76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132/67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134/74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124/68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1000">
                <a:tc>
                  <a:txBody>
                    <a:bodyPr/>
                    <a:lstStyle/>
                    <a:p>
                      <a:pPr marL="0" marR="0" lvl="0" indent="0" algn="l" rtl="0">
                        <a:spcBef>
                          <a:spcPts val="0"/>
                        </a:spcBef>
                        <a:spcAft>
                          <a:spcPts val="0"/>
                        </a:spcAft>
                        <a:buNone/>
                      </a:pPr>
                      <a:r>
                        <a:rPr lang="en-US" sz="1800" b="1"/>
                        <a:t>143/80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133/67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131/76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129/61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145/69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129/67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t>132/72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dirty="0"/>
                        <a:t>125/72</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632" name="Google Shape;632;p73"/>
          <p:cNvSpPr txBox="1"/>
          <p:nvPr/>
        </p:nvSpPr>
        <p:spPr>
          <a:xfrm>
            <a:off x="1981200" y="5250240"/>
            <a:ext cx="7696200" cy="1569660"/>
          </a:xfrm>
          <a:prstGeom prst="rect">
            <a:avLst/>
          </a:prstGeom>
          <a:noFill/>
          <a:ln>
            <a:noFill/>
          </a:ln>
        </p:spPr>
        <p:txBody>
          <a:bodyPr spcFirstLastPara="1" wrap="square" lIns="91425" tIns="45700" rIns="91425" bIns="45700" anchor="t" anchorCtr="0">
            <a:spAutoFit/>
          </a:bodyPr>
          <a:lstStyle/>
          <a:p>
            <a:r>
              <a:rPr lang="en-US" sz="3200">
                <a:solidFill>
                  <a:schemeClr val="dk1"/>
                </a:solidFill>
                <a:latin typeface="Calibri"/>
                <a:ea typeface="Calibri"/>
                <a:cs typeface="Calibri"/>
                <a:sym typeface="Calibri"/>
              </a:rPr>
              <a:t>Average right arm = 138/74</a:t>
            </a:r>
            <a:endParaRPr/>
          </a:p>
          <a:p>
            <a:r>
              <a:rPr lang="en-US" sz="3200">
                <a:solidFill>
                  <a:schemeClr val="dk1"/>
                </a:solidFill>
                <a:latin typeface="Calibri"/>
                <a:ea typeface="Calibri"/>
                <a:cs typeface="Calibri"/>
                <a:sym typeface="Calibri"/>
              </a:rPr>
              <a:t>Average left arm = 129/68</a:t>
            </a:r>
            <a:endParaRPr/>
          </a:p>
          <a:p>
            <a:r>
              <a:rPr lang="en-US" sz="3200">
                <a:solidFill>
                  <a:schemeClr val="dk1"/>
                </a:solidFill>
                <a:latin typeface="Calibri"/>
                <a:ea typeface="Calibri"/>
                <a:cs typeface="Calibri"/>
                <a:sym typeface="Calibri"/>
              </a:rPr>
              <a:t>Conclusion?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79"/>
          <p:cNvSpPr txBox="1">
            <a:spLocks noGrp="1"/>
          </p:cNvSpPr>
          <p:nvPr>
            <p:ph type="title"/>
          </p:nvPr>
        </p:nvSpPr>
        <p:spPr>
          <a:xfrm>
            <a:off x="1981200" y="76200"/>
            <a:ext cx="8229600" cy="838200"/>
          </a:xfrm>
          <a:prstGeom prst="rect">
            <a:avLst/>
          </a:prstGeom>
          <a:noFill/>
          <a:ln>
            <a:noFill/>
          </a:ln>
        </p:spPr>
        <p:txBody>
          <a:bodyPr spcFirstLastPara="1" wrap="square" lIns="50800" tIns="50800" rIns="50800" bIns="50800" anchor="ctr" anchorCtr="0">
            <a:noAutofit/>
          </a:bodyPr>
          <a:lstStyle/>
          <a:p>
            <a:r>
              <a:rPr lang="en-US"/>
              <a:t>Hypertension Defined</a:t>
            </a:r>
            <a:endParaRPr/>
          </a:p>
        </p:txBody>
      </p:sp>
      <p:sp>
        <p:nvSpPr>
          <p:cNvPr id="678" name="Google Shape;678;p79"/>
          <p:cNvSpPr txBox="1">
            <a:spLocks noGrp="1"/>
          </p:cNvSpPr>
          <p:nvPr>
            <p:ph type="body" idx="1"/>
          </p:nvPr>
        </p:nvSpPr>
        <p:spPr>
          <a:xfrm>
            <a:off x="606287" y="1066800"/>
            <a:ext cx="11241156" cy="5715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These definitions apply to </a:t>
            </a:r>
            <a:r>
              <a:rPr lang="en-US" dirty="0">
                <a:latin typeface="Calibri"/>
                <a:ea typeface="Calibri"/>
                <a:cs typeface="Calibri"/>
                <a:sym typeface="Calibri"/>
              </a:rPr>
              <a:t>adults on no anti-HTN medications </a:t>
            </a:r>
            <a:r>
              <a:rPr lang="en-US" dirty="0"/>
              <a:t>and who are </a:t>
            </a:r>
            <a:r>
              <a:rPr lang="en-US" dirty="0">
                <a:latin typeface="Calibri"/>
                <a:ea typeface="Calibri"/>
                <a:cs typeface="Calibri"/>
                <a:sym typeface="Calibri"/>
              </a:rPr>
              <a:t>not acutely ill</a:t>
            </a:r>
            <a:r>
              <a:rPr lang="en-US" dirty="0"/>
              <a:t>. </a:t>
            </a:r>
            <a:endParaRPr dirty="0"/>
          </a:p>
          <a:p>
            <a:pPr marL="292100" indent="-127000">
              <a:buSzPts val="2600"/>
              <a:buNone/>
            </a:pPr>
            <a:endParaRPr sz="2600" dirty="0"/>
          </a:p>
          <a:p>
            <a:pPr marL="292100" indent="-292100"/>
            <a:r>
              <a:rPr lang="en-US" b="1" dirty="0"/>
              <a:t>If there is a disparity in category between the systolic and diastolic pressures, the higher value determines the severity of the hypertension.</a:t>
            </a:r>
            <a:endParaRPr b="1" dirty="0"/>
          </a:p>
          <a:p>
            <a:pPr marL="292100" indent="-127000">
              <a:buSzPts val="2600"/>
              <a:buNone/>
            </a:pPr>
            <a:endParaRPr sz="2600" dirty="0"/>
          </a:p>
          <a:p>
            <a:pPr marL="292100" indent="-292100"/>
            <a:r>
              <a:rPr lang="en-US" dirty="0"/>
              <a:t>Once on anti-HTN meds, patients are always referred to as hypertensive regardless of BP, unless they make lifestyle changes and come off drug treatment, maintaining normal BP</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0"/>
          <p:cNvSpPr txBox="1">
            <a:spLocks noGrp="1"/>
          </p:cNvSpPr>
          <p:nvPr>
            <p:ph type="title"/>
          </p:nvPr>
        </p:nvSpPr>
        <p:spPr>
          <a:xfrm>
            <a:off x="1600200" y="76200"/>
            <a:ext cx="8915400" cy="1066800"/>
          </a:xfrm>
          <a:prstGeom prst="rect">
            <a:avLst/>
          </a:prstGeom>
          <a:noFill/>
          <a:ln>
            <a:noFill/>
          </a:ln>
        </p:spPr>
        <p:txBody>
          <a:bodyPr spcFirstLastPara="1" wrap="square" lIns="50800" tIns="50800" rIns="50800" bIns="50800" anchor="ctr" anchorCtr="0">
            <a:noAutofit/>
          </a:bodyPr>
          <a:lstStyle/>
          <a:p>
            <a:r>
              <a:rPr lang="en-US" dirty="0"/>
              <a:t>All Hypertension Is NOT Created Equal</a:t>
            </a:r>
            <a:br>
              <a:rPr lang="en-US" dirty="0"/>
            </a:br>
            <a:r>
              <a:rPr lang="en-US" dirty="0"/>
              <a:t>Non-Dippers</a:t>
            </a:r>
            <a:endParaRPr dirty="0"/>
          </a:p>
        </p:txBody>
      </p:sp>
      <p:sp>
        <p:nvSpPr>
          <p:cNvPr id="684" name="Google Shape;684;p80"/>
          <p:cNvSpPr txBox="1">
            <a:spLocks noGrp="1"/>
          </p:cNvSpPr>
          <p:nvPr>
            <p:ph type="body" idx="1"/>
          </p:nvPr>
        </p:nvSpPr>
        <p:spPr>
          <a:xfrm>
            <a:off x="586409" y="1343526"/>
            <a:ext cx="11072191" cy="5438274"/>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Blood pressure generally decreases by 15% during periods of sleep, however some persons do not have this decline.</a:t>
            </a:r>
            <a:endParaRPr dirty="0"/>
          </a:p>
          <a:p>
            <a:pPr marL="292100" indent="-88900">
              <a:buNone/>
            </a:pPr>
            <a:endParaRPr b="1" i="1" dirty="0"/>
          </a:p>
          <a:p>
            <a:pPr marL="292100" indent="-292100"/>
            <a:r>
              <a:rPr lang="en-US" b="1" i="1" dirty="0"/>
              <a:t>Failure of the BP to decrease nocturnally in these “non-dippers” confers additional cardiovascular disease risk</a:t>
            </a:r>
            <a:endParaRPr dirty="0"/>
          </a:p>
          <a:p>
            <a:pPr marL="292100" indent="-88900">
              <a:buNone/>
            </a:pPr>
            <a:endParaRPr b="1" i="1" dirty="0"/>
          </a:p>
          <a:p>
            <a:pPr marL="292100" indent="-292100"/>
            <a:r>
              <a:rPr lang="en-US" dirty="0"/>
              <a:t>This is only readily detectable on ambulatory BP monitoring.</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81"/>
          <p:cNvSpPr txBox="1">
            <a:spLocks noGrp="1"/>
          </p:cNvSpPr>
          <p:nvPr>
            <p:ph type="title"/>
          </p:nvPr>
        </p:nvSpPr>
        <p:spPr>
          <a:xfrm>
            <a:off x="1600200" y="76200"/>
            <a:ext cx="8915400" cy="1066800"/>
          </a:xfrm>
          <a:prstGeom prst="rect">
            <a:avLst/>
          </a:prstGeom>
          <a:noFill/>
          <a:ln>
            <a:noFill/>
          </a:ln>
        </p:spPr>
        <p:txBody>
          <a:bodyPr spcFirstLastPara="1" wrap="square" lIns="50800" tIns="50800" rIns="50800" bIns="50800" anchor="ctr" anchorCtr="0">
            <a:noAutofit/>
          </a:bodyPr>
          <a:lstStyle/>
          <a:p>
            <a:r>
              <a:rPr lang="en-US" dirty="0"/>
              <a:t>All Hypertension Is NOT Created Equal</a:t>
            </a:r>
            <a:br>
              <a:rPr lang="en-US" dirty="0"/>
            </a:br>
            <a:r>
              <a:rPr lang="en-US" dirty="0"/>
              <a:t>Young vs Old patients</a:t>
            </a:r>
            <a:endParaRPr dirty="0"/>
          </a:p>
        </p:txBody>
      </p:sp>
      <p:sp>
        <p:nvSpPr>
          <p:cNvPr id="690" name="Google Shape;690;p81"/>
          <p:cNvSpPr txBox="1">
            <a:spLocks noGrp="1"/>
          </p:cNvSpPr>
          <p:nvPr>
            <p:ph type="body" idx="1"/>
          </p:nvPr>
        </p:nvSpPr>
        <p:spPr>
          <a:xfrm>
            <a:off x="894521" y="1295400"/>
            <a:ext cx="10525539" cy="52578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In </a:t>
            </a:r>
            <a:r>
              <a:rPr lang="en-US" b="1" i="1" dirty="0"/>
              <a:t>younger patients </a:t>
            </a:r>
            <a:r>
              <a:rPr lang="en-US" dirty="0"/>
              <a:t>without comorbidities, it is the </a:t>
            </a:r>
            <a:r>
              <a:rPr lang="en-US" b="1" i="1" dirty="0"/>
              <a:t>diastolic BP </a:t>
            </a:r>
            <a:r>
              <a:rPr lang="en-US" dirty="0"/>
              <a:t>that is most closely associated with cardiovascular risk.</a:t>
            </a:r>
            <a:endParaRPr dirty="0"/>
          </a:p>
          <a:p>
            <a:pPr marL="292100" indent="-196850">
              <a:buSzPts val="1500"/>
              <a:buNone/>
            </a:pPr>
            <a:endParaRPr sz="1500" dirty="0"/>
          </a:p>
          <a:p>
            <a:pPr marL="292100" indent="-292100"/>
            <a:r>
              <a:rPr lang="en-US" dirty="0"/>
              <a:t>As we age, </a:t>
            </a:r>
            <a:r>
              <a:rPr lang="en-US" b="1" i="1" dirty="0"/>
              <a:t>many older adults have isolated systolic hypertension </a:t>
            </a:r>
            <a:r>
              <a:rPr lang="en-US" dirty="0"/>
              <a:t>with normal diastolic BP’s and therefore a wider pulse pressure (systolic BP- diastolic BP), reflecting vascular non-compliance.  </a:t>
            </a:r>
            <a:endParaRPr dirty="0"/>
          </a:p>
          <a:p>
            <a:pPr marL="292100" indent="-196850">
              <a:buSzPts val="1500"/>
              <a:buNone/>
            </a:pPr>
            <a:endParaRPr sz="1500" dirty="0"/>
          </a:p>
          <a:p>
            <a:pPr marL="292100" indent="-292100"/>
            <a:r>
              <a:rPr lang="en-US" b="1" i="1" dirty="0"/>
              <a:t>In adults over 60, systolic BP remains the primary determiner of cardiovascular risk.</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82"/>
          <p:cNvSpPr txBox="1">
            <a:spLocks noGrp="1"/>
          </p:cNvSpPr>
          <p:nvPr>
            <p:ph type="title"/>
          </p:nvPr>
        </p:nvSpPr>
        <p:spPr>
          <a:xfrm>
            <a:off x="1524000" y="76200"/>
            <a:ext cx="8915400" cy="1143000"/>
          </a:xfrm>
          <a:prstGeom prst="rect">
            <a:avLst/>
          </a:prstGeom>
          <a:noFill/>
          <a:ln>
            <a:noFill/>
          </a:ln>
        </p:spPr>
        <p:txBody>
          <a:bodyPr spcFirstLastPara="1" wrap="square" lIns="50800" tIns="50800" rIns="50800" bIns="50800" anchor="ctr" anchorCtr="0">
            <a:noAutofit/>
          </a:bodyPr>
          <a:lstStyle/>
          <a:p>
            <a:r>
              <a:rPr lang="en-US" dirty="0"/>
              <a:t>All Hypertension Is NOT Created Equal</a:t>
            </a:r>
            <a:br>
              <a:rPr lang="en-US" dirty="0"/>
            </a:br>
            <a:r>
              <a:rPr lang="en-US" dirty="0"/>
              <a:t>Black Patients</a:t>
            </a:r>
            <a:endParaRPr dirty="0"/>
          </a:p>
        </p:txBody>
      </p:sp>
      <p:sp>
        <p:nvSpPr>
          <p:cNvPr id="696" name="Google Shape;696;p82"/>
          <p:cNvSpPr txBox="1">
            <a:spLocks noGrp="1"/>
          </p:cNvSpPr>
          <p:nvPr>
            <p:ph type="body" idx="1"/>
          </p:nvPr>
        </p:nvSpPr>
        <p:spPr>
          <a:xfrm>
            <a:off x="1033669" y="1219200"/>
            <a:ext cx="10406269" cy="54864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Hypertension is a particularly common finding in black individuals. </a:t>
            </a:r>
            <a:endParaRPr dirty="0"/>
          </a:p>
          <a:p>
            <a:pPr marL="342900" indent="-139700">
              <a:buNone/>
            </a:pPr>
            <a:endParaRPr dirty="0"/>
          </a:p>
          <a:p>
            <a:pPr marL="342900" indent="-342900"/>
            <a:r>
              <a:rPr lang="en-US" b="1" i="1" dirty="0"/>
              <a:t>Hypertension in black patients</a:t>
            </a:r>
            <a:r>
              <a:rPr lang="en-US" dirty="0"/>
              <a:t> is generally </a:t>
            </a:r>
            <a:r>
              <a:rPr lang="en-US" b="1" i="1" dirty="0"/>
              <a:t>more responsive to sodium intake, obesity and diet</a:t>
            </a:r>
            <a:r>
              <a:rPr lang="en-US" dirty="0"/>
              <a:t> than white persons.</a:t>
            </a:r>
            <a:endParaRPr dirty="0"/>
          </a:p>
          <a:p>
            <a:pPr marL="292100" indent="-88900">
              <a:buNone/>
            </a:pPr>
            <a:endParaRPr dirty="0"/>
          </a:p>
          <a:p>
            <a:pPr marL="342900" indent="-342900"/>
            <a:r>
              <a:rPr lang="en-US" b="1" i="1" dirty="0"/>
              <a:t>Hypertension occurs at a younger age and is often more severe </a:t>
            </a:r>
            <a:r>
              <a:rPr lang="en-US" dirty="0"/>
              <a:t>in terms of blood pressure levels </a:t>
            </a:r>
            <a:r>
              <a:rPr lang="en-US" b="1" i="1" dirty="0"/>
              <a:t>in black patients </a:t>
            </a:r>
            <a:r>
              <a:rPr lang="en-US" dirty="0"/>
              <a:t>than in white persons.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83"/>
          <p:cNvSpPr txBox="1">
            <a:spLocks noGrp="1"/>
          </p:cNvSpPr>
          <p:nvPr>
            <p:ph type="title"/>
          </p:nvPr>
        </p:nvSpPr>
        <p:spPr>
          <a:xfrm>
            <a:off x="1600200" y="76200"/>
            <a:ext cx="8839200" cy="1066800"/>
          </a:xfrm>
          <a:prstGeom prst="rect">
            <a:avLst/>
          </a:prstGeom>
          <a:noFill/>
          <a:ln>
            <a:noFill/>
          </a:ln>
        </p:spPr>
        <p:txBody>
          <a:bodyPr spcFirstLastPara="1" wrap="square" lIns="50800" tIns="50800" rIns="50800" bIns="50800" anchor="ctr" anchorCtr="0">
            <a:noAutofit/>
          </a:bodyPr>
          <a:lstStyle/>
          <a:p>
            <a:r>
              <a:rPr lang="en-US" dirty="0"/>
              <a:t>All Hypertension Is NOT Created Equal</a:t>
            </a:r>
            <a:br>
              <a:rPr lang="en-US" dirty="0"/>
            </a:br>
            <a:r>
              <a:rPr lang="en-US" dirty="0"/>
              <a:t>Black Patients</a:t>
            </a:r>
            <a:endParaRPr dirty="0"/>
          </a:p>
        </p:txBody>
      </p:sp>
      <p:sp>
        <p:nvSpPr>
          <p:cNvPr id="702" name="Google Shape;702;p83"/>
          <p:cNvSpPr txBox="1">
            <a:spLocks noGrp="1"/>
          </p:cNvSpPr>
          <p:nvPr>
            <p:ph type="body" idx="1"/>
          </p:nvPr>
        </p:nvSpPr>
        <p:spPr>
          <a:xfrm>
            <a:off x="805069" y="1219200"/>
            <a:ext cx="10704443" cy="53340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sz="2800" b="1" i="1" dirty="0"/>
              <a:t>Black patients </a:t>
            </a:r>
            <a:r>
              <a:rPr lang="en-US" sz="2800" dirty="0"/>
              <a:t>with hypertension are particularly </a:t>
            </a:r>
            <a:r>
              <a:rPr lang="en-US" sz="2800" b="1" i="1" dirty="0"/>
              <a:t>vulnerable to strokes and hypertensive kidney disease.</a:t>
            </a:r>
          </a:p>
          <a:p>
            <a:pPr marL="342900" indent="-342900">
              <a:spcBef>
                <a:spcPts val="0"/>
              </a:spcBef>
            </a:pPr>
            <a:endParaRPr lang="en-US" sz="2800" b="1" i="1" dirty="0"/>
          </a:p>
          <a:p>
            <a:pPr marL="342900" indent="-342900">
              <a:spcBef>
                <a:spcPts val="0"/>
              </a:spcBef>
            </a:pPr>
            <a:r>
              <a:rPr lang="en-US" sz="2800" dirty="0"/>
              <a:t>Blacks have a 1.3 times greater risk of nonfatal stroke, 1.8 times greater risk of fatal strokes.</a:t>
            </a:r>
          </a:p>
          <a:p>
            <a:pPr marL="0" indent="0">
              <a:spcBef>
                <a:spcPts val="0"/>
              </a:spcBef>
              <a:buNone/>
            </a:pPr>
            <a:endParaRPr sz="2800" dirty="0"/>
          </a:p>
          <a:p>
            <a:pPr marL="342900" indent="-342900"/>
            <a:r>
              <a:rPr lang="en-US" sz="2800" b="1" i="1" dirty="0"/>
              <a:t>Blacks are 4 times as likely </a:t>
            </a:r>
            <a:r>
              <a:rPr lang="en-US" sz="2800" dirty="0"/>
              <a:t>as whites </a:t>
            </a:r>
            <a:r>
              <a:rPr lang="en-US" sz="2800" b="1" i="1" dirty="0"/>
              <a:t>to have renal complications and end-stage kidney disease due to hypertension.</a:t>
            </a:r>
            <a:endParaRPr sz="2800" dirty="0"/>
          </a:p>
          <a:p>
            <a:pPr marL="342900" indent="-139700">
              <a:buNone/>
            </a:pPr>
            <a:endParaRPr sz="2800" dirty="0"/>
          </a:p>
          <a:p>
            <a:pPr marL="342900" indent="-342900"/>
            <a:r>
              <a:rPr lang="en-US" sz="2800" dirty="0"/>
              <a:t>There are significant medication efficacy differences between blacks and whites.</a:t>
            </a:r>
            <a:endParaRPr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C444-9D39-2968-030B-E1DD51970271}"/>
              </a:ext>
            </a:extLst>
          </p:cNvPr>
          <p:cNvSpPr>
            <a:spLocks noGrp="1"/>
          </p:cNvSpPr>
          <p:nvPr>
            <p:ph type="title"/>
          </p:nvPr>
        </p:nvSpPr>
        <p:spPr/>
        <p:txBody>
          <a:bodyPr/>
          <a:lstStyle/>
          <a:p>
            <a:r>
              <a:rPr lang="en-US" dirty="0"/>
              <a:t>HTN Complications</a:t>
            </a:r>
            <a:br>
              <a:rPr lang="en-US" dirty="0"/>
            </a:br>
            <a:r>
              <a:rPr lang="en-US" sz="2400" dirty="0"/>
              <a:t>A closer look at the pathophysiology surrounding the complications in the heart, brain and kidneys</a:t>
            </a:r>
            <a:endParaRPr lang="en-US" dirty="0"/>
          </a:p>
        </p:txBody>
      </p:sp>
    </p:spTree>
    <p:extLst>
      <p:ext uri="{BB962C8B-B14F-4D97-AF65-F5344CB8AC3E}">
        <p14:creationId xmlns:p14="http://schemas.microsoft.com/office/powerpoint/2010/main" val="2295091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84"/>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 Natural History of HTN</a:t>
            </a:r>
            <a:endParaRPr/>
          </a:p>
        </p:txBody>
      </p:sp>
      <p:sp>
        <p:nvSpPr>
          <p:cNvPr id="708" name="Google Shape;708;p84"/>
          <p:cNvSpPr txBox="1">
            <a:spLocks noGrp="1"/>
          </p:cNvSpPr>
          <p:nvPr>
            <p:ph type="body" idx="1"/>
          </p:nvPr>
        </p:nvSpPr>
        <p:spPr>
          <a:xfrm>
            <a:off x="805069" y="1219200"/>
            <a:ext cx="10724321" cy="548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Prehypertension: asymptomatic increased cardiac output and intermittently elevated BP</a:t>
            </a:r>
            <a:endParaRPr dirty="0"/>
          </a:p>
          <a:p>
            <a:pPr marL="292100" indent="-292100"/>
            <a:r>
              <a:rPr lang="en-US" dirty="0"/>
              <a:t>Early hypertension: persistently increased peripheral resistance</a:t>
            </a:r>
            <a:endParaRPr dirty="0"/>
          </a:p>
          <a:p>
            <a:pPr marL="292100" indent="-292100"/>
            <a:r>
              <a:rPr lang="en-US" dirty="0"/>
              <a:t>Established hypertension: vascular remodeling changes are occurring and there is progressive damage</a:t>
            </a:r>
            <a:endParaRPr dirty="0"/>
          </a:p>
          <a:p>
            <a:pPr marL="292100" indent="-292100"/>
            <a:r>
              <a:rPr lang="en-US" dirty="0"/>
              <a:t>Complicated hypertension causes end-organ damage</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07A23B-A4EE-6C33-715D-4208C2E7508C}"/>
              </a:ext>
            </a:extLst>
          </p:cNvPr>
          <p:cNvSpPr>
            <a:spLocks noGrp="1"/>
          </p:cNvSpPr>
          <p:nvPr>
            <p:ph type="title"/>
          </p:nvPr>
        </p:nvSpPr>
        <p:spPr>
          <a:xfrm>
            <a:off x="609600" y="92077"/>
            <a:ext cx="10972800" cy="978188"/>
          </a:xfrm>
        </p:spPr>
        <p:txBody>
          <a:bodyPr/>
          <a:lstStyle/>
          <a:p>
            <a:r>
              <a:rPr lang="en-US" dirty="0"/>
              <a:t>HTN Complications</a:t>
            </a:r>
          </a:p>
        </p:txBody>
      </p:sp>
      <p:sp>
        <p:nvSpPr>
          <p:cNvPr id="6" name="Text Placeholder 5">
            <a:extLst>
              <a:ext uri="{FF2B5EF4-FFF2-40B4-BE49-F238E27FC236}">
                <a16:creationId xmlns:a16="http://schemas.microsoft.com/office/drawing/2014/main" id="{C24C2301-AD91-62F1-56E5-2C14F4CB15AA}"/>
              </a:ext>
            </a:extLst>
          </p:cNvPr>
          <p:cNvSpPr>
            <a:spLocks noGrp="1"/>
          </p:cNvSpPr>
          <p:nvPr>
            <p:ph type="body" idx="1"/>
          </p:nvPr>
        </p:nvSpPr>
        <p:spPr>
          <a:xfrm>
            <a:off x="609600" y="1166018"/>
            <a:ext cx="10972800" cy="4525963"/>
          </a:xfrm>
        </p:spPr>
        <p:txBody>
          <a:bodyPr/>
          <a:lstStyle/>
          <a:p>
            <a:r>
              <a:rPr lang="en-US" dirty="0"/>
              <a:t>Chronic hypertension contributes to the progression of chronic kidney disease (CKD). </a:t>
            </a:r>
          </a:p>
          <a:p>
            <a:r>
              <a:rPr lang="en-US" dirty="0"/>
              <a:t>Left ventricular hypertrophy </a:t>
            </a:r>
          </a:p>
          <a:p>
            <a:r>
              <a:rPr lang="en-US" dirty="0"/>
              <a:t>Heart failure, both systolic and diastolic </a:t>
            </a:r>
          </a:p>
          <a:p>
            <a:r>
              <a:rPr lang="en-US" dirty="0"/>
              <a:t>Ischemic stroke</a:t>
            </a:r>
          </a:p>
          <a:p>
            <a:r>
              <a:rPr lang="en-US" dirty="0"/>
              <a:t>Intracerebral hemorrhage </a:t>
            </a:r>
          </a:p>
          <a:p>
            <a:r>
              <a:rPr lang="en-US" dirty="0"/>
              <a:t>Ischemic heart disease, including MI and coronary interventions</a:t>
            </a:r>
          </a:p>
          <a:p>
            <a:r>
              <a:rPr lang="en-US" dirty="0"/>
              <a:t>Hypertensive retinopathy</a:t>
            </a:r>
          </a:p>
        </p:txBody>
      </p:sp>
    </p:spTree>
    <p:extLst>
      <p:ext uri="{BB962C8B-B14F-4D97-AF65-F5344CB8AC3E}">
        <p14:creationId xmlns:p14="http://schemas.microsoft.com/office/powerpoint/2010/main" val="1014409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85"/>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Vascular Remodeling of HTN</a:t>
            </a:r>
            <a:endParaRPr/>
          </a:p>
        </p:txBody>
      </p:sp>
      <p:sp>
        <p:nvSpPr>
          <p:cNvPr id="714" name="Google Shape;714;p85"/>
          <p:cNvSpPr txBox="1">
            <a:spLocks noGrp="1"/>
          </p:cNvSpPr>
          <p:nvPr>
            <p:ph type="body" idx="1"/>
          </p:nvPr>
        </p:nvSpPr>
        <p:spPr>
          <a:xfrm>
            <a:off x="367748" y="1143000"/>
            <a:ext cx="5194852" cy="548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Chronic hypertension (increases afterload) causing </a:t>
            </a:r>
            <a:r>
              <a:rPr lang="en-US" b="1" i="1" dirty="0"/>
              <a:t>increased arterial wall stiffness (less compliance), increased systolic blood pressure</a:t>
            </a:r>
            <a:r>
              <a:rPr lang="en-US" dirty="0"/>
              <a:t> (BP), and </a:t>
            </a:r>
            <a:r>
              <a:rPr lang="en-US" b="1" i="1" dirty="0"/>
              <a:t>widened pulse pressures. </a:t>
            </a:r>
            <a:endParaRPr dirty="0"/>
          </a:p>
          <a:p>
            <a:pPr marL="292100" indent="-88900">
              <a:buNone/>
            </a:pPr>
            <a:endParaRPr dirty="0"/>
          </a:p>
        </p:txBody>
      </p:sp>
      <p:pic>
        <p:nvPicPr>
          <p:cNvPr id="715" name="Google Shape;715;p85"/>
          <p:cNvPicPr preferRelativeResize="0"/>
          <p:nvPr/>
        </p:nvPicPr>
        <p:blipFill rotWithShape="1">
          <a:blip r:embed="rId3">
            <a:alphaModFix/>
          </a:blip>
          <a:srcRect/>
          <a:stretch/>
        </p:blipFill>
        <p:spPr>
          <a:xfrm>
            <a:off x="6337854" y="1308653"/>
            <a:ext cx="4937125" cy="4937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86"/>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Cardiac Pathophysiology of HTN</a:t>
            </a:r>
            <a:endParaRPr dirty="0"/>
          </a:p>
        </p:txBody>
      </p:sp>
      <p:sp>
        <p:nvSpPr>
          <p:cNvPr id="721" name="Google Shape;721;p86"/>
          <p:cNvSpPr txBox="1">
            <a:spLocks noGrp="1"/>
          </p:cNvSpPr>
          <p:nvPr>
            <p:ph type="body" idx="1"/>
          </p:nvPr>
        </p:nvSpPr>
        <p:spPr>
          <a:xfrm>
            <a:off x="318051" y="1143001"/>
            <a:ext cx="11420061" cy="2403475"/>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The increased afterload of hypertension</a:t>
            </a:r>
            <a:endParaRPr dirty="0"/>
          </a:p>
          <a:p>
            <a:pPr marL="971550" lvl="1" indent="-514350">
              <a:buFont typeface="Calibri"/>
              <a:buAutoNum type="arabicPeriod"/>
            </a:pPr>
            <a:r>
              <a:rPr lang="en-US" dirty="0"/>
              <a:t>Decreases coronary perfusion pressures to an already overworked myocardium, </a:t>
            </a:r>
            <a:endParaRPr dirty="0"/>
          </a:p>
          <a:p>
            <a:pPr marL="971550" lvl="1" indent="-514350">
              <a:buFont typeface="Calibri"/>
              <a:buAutoNum type="arabicPeriod"/>
            </a:pPr>
            <a:r>
              <a:rPr lang="en-US" dirty="0"/>
              <a:t>Increases myocardial oxygen consumption</a:t>
            </a:r>
            <a:endParaRPr dirty="0"/>
          </a:p>
        </p:txBody>
      </p:sp>
      <p:pic>
        <p:nvPicPr>
          <p:cNvPr id="722" name="Google Shape;722;p86"/>
          <p:cNvPicPr preferRelativeResize="0"/>
          <p:nvPr/>
        </p:nvPicPr>
        <p:blipFill rotWithShape="1">
          <a:blip r:embed="rId3">
            <a:alphaModFix/>
          </a:blip>
          <a:srcRect/>
          <a:stretch/>
        </p:blipFill>
        <p:spPr>
          <a:xfrm>
            <a:off x="5791200" y="3546475"/>
            <a:ext cx="4648200" cy="3297238"/>
          </a:xfrm>
          <a:prstGeom prst="rect">
            <a:avLst/>
          </a:prstGeom>
          <a:noFill/>
          <a:ln>
            <a:noFill/>
          </a:ln>
        </p:spPr>
      </p:pic>
      <p:sp>
        <p:nvSpPr>
          <p:cNvPr id="723" name="Google Shape;723;p86"/>
          <p:cNvSpPr txBox="1"/>
          <p:nvPr/>
        </p:nvSpPr>
        <p:spPr>
          <a:xfrm>
            <a:off x="783274" y="3546475"/>
            <a:ext cx="4648200" cy="2739171"/>
          </a:xfrm>
          <a:prstGeom prst="rect">
            <a:avLst/>
          </a:prstGeom>
          <a:noFill/>
          <a:ln>
            <a:noFill/>
          </a:ln>
        </p:spPr>
        <p:txBody>
          <a:bodyPr spcFirstLastPara="1" wrap="square" lIns="91425" tIns="45700" rIns="91425" bIns="45700" anchor="t" anchorCtr="0">
            <a:spAutoFit/>
          </a:bodyPr>
          <a:lstStyle/>
          <a:p>
            <a:pPr marL="228600" indent="-228600">
              <a:buClr>
                <a:schemeClr val="dk1"/>
              </a:buClr>
              <a:buSzPts val="3200"/>
              <a:buFont typeface="Calibri"/>
              <a:buAutoNum type="arabicPeriod" startAt="3"/>
            </a:pPr>
            <a:r>
              <a:rPr lang="en-US" sz="3200" dirty="0">
                <a:solidFill>
                  <a:schemeClr val="dk1"/>
                </a:solidFill>
                <a:latin typeface="Calibri"/>
                <a:ea typeface="Calibri"/>
                <a:cs typeface="Calibri"/>
                <a:sym typeface="Calibri"/>
              </a:rPr>
              <a:t> Leads to </a:t>
            </a:r>
            <a:r>
              <a:rPr lang="en-US" sz="3200" b="1" i="1" dirty="0">
                <a:solidFill>
                  <a:schemeClr val="dk1"/>
                </a:solidFill>
                <a:latin typeface="Calibri"/>
                <a:ea typeface="Calibri"/>
                <a:cs typeface="Calibri"/>
                <a:sym typeface="Calibri"/>
              </a:rPr>
              <a:t>hypertrophy of the left ventricular myocytes </a:t>
            </a:r>
            <a:r>
              <a:rPr lang="en-US" sz="3200" dirty="0">
                <a:solidFill>
                  <a:schemeClr val="dk1"/>
                </a:solidFill>
                <a:latin typeface="Calibri"/>
                <a:ea typeface="Calibri"/>
                <a:cs typeface="Calibri"/>
                <a:sym typeface="Calibri"/>
              </a:rPr>
              <a:t>(LVH)</a:t>
            </a:r>
            <a:r>
              <a:rPr lang="en-US" sz="3200" dirty="0">
                <a:solidFill>
                  <a:schemeClr val="dk1"/>
                </a:solidFill>
                <a:latin typeface="Calibri"/>
                <a:ea typeface="Calibri"/>
                <a:cs typeface="Calibri"/>
                <a:sym typeface="Wingdings" pitchFamily="2" charset="2"/>
              </a:rPr>
              <a:t> hypertensive heart disease.</a:t>
            </a:r>
            <a:endParaRPr dirty="0"/>
          </a:p>
          <a:p>
            <a:endParaRPr sz="1200" dirty="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87"/>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Cardiac Pathophysiology of HTN</a:t>
            </a:r>
            <a:endParaRPr/>
          </a:p>
        </p:txBody>
      </p:sp>
      <p:sp>
        <p:nvSpPr>
          <p:cNvPr id="729" name="Google Shape;729;p87"/>
          <p:cNvSpPr txBox="1">
            <a:spLocks noGrp="1"/>
          </p:cNvSpPr>
          <p:nvPr>
            <p:ph type="body" idx="1"/>
          </p:nvPr>
        </p:nvSpPr>
        <p:spPr>
          <a:xfrm>
            <a:off x="735496" y="1219200"/>
            <a:ext cx="10942982" cy="548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When left ventricular hypertrophy is present, the myocardium has undergone structural changes in response to increased afterload.</a:t>
            </a:r>
            <a:endParaRPr dirty="0"/>
          </a:p>
          <a:p>
            <a:pPr marL="292100" indent="-165100">
              <a:buSzPts val="2000"/>
              <a:buNone/>
            </a:pPr>
            <a:endParaRPr sz="2000" dirty="0"/>
          </a:p>
          <a:p>
            <a:pPr marL="292100" indent="-292100"/>
            <a:r>
              <a:rPr lang="en-US" dirty="0"/>
              <a:t>Cardiac myocytes have hypertrophied, allowing the heart to pump more strongly against the elevated vascular pressure in the aorta due to vascular resistance. </a:t>
            </a:r>
            <a:endParaRPr dirty="0"/>
          </a:p>
          <a:p>
            <a:pPr marL="292100" indent="-165100">
              <a:buSzPts val="2000"/>
              <a:buNone/>
            </a:pPr>
            <a:endParaRPr sz="2000" dirty="0"/>
          </a:p>
          <a:p>
            <a:pPr marL="292100" indent="-292100"/>
            <a:r>
              <a:rPr lang="en-US" b="1" i="1" dirty="0"/>
              <a:t>Diastolic dysfunction occurs first in HTN </a:t>
            </a:r>
            <a:r>
              <a:rPr lang="en-US" dirty="0"/>
              <a:t>and is caused by an </a:t>
            </a:r>
            <a:r>
              <a:rPr lang="en-US" b="1" i="1" dirty="0"/>
              <a:t>incomplete passive relaxation of the stiff, hypertrophied left ventricle</a:t>
            </a:r>
            <a:r>
              <a:rPr lang="en-US" dirty="0"/>
              <a:t> during diastole. </a:t>
            </a:r>
            <a:endParaRPr dirty="0"/>
          </a:p>
          <a:p>
            <a:pPr marL="0" indent="0">
              <a:buNone/>
            </a:pPr>
            <a:endParaRPr dirty="0"/>
          </a:p>
          <a:p>
            <a:pPr marL="292100" indent="-88900">
              <a:buNone/>
            </a:pP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88"/>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Cardiac Pathophysiology of HTN</a:t>
            </a:r>
            <a:endParaRPr/>
          </a:p>
        </p:txBody>
      </p:sp>
      <p:sp>
        <p:nvSpPr>
          <p:cNvPr id="735" name="Google Shape;735;p88"/>
          <p:cNvSpPr txBox="1">
            <a:spLocks noGrp="1"/>
          </p:cNvSpPr>
          <p:nvPr>
            <p:ph type="body" idx="1"/>
          </p:nvPr>
        </p:nvSpPr>
        <p:spPr>
          <a:xfrm>
            <a:off x="586409" y="1219200"/>
            <a:ext cx="11161643" cy="2286000"/>
          </a:xfrm>
          <a:prstGeom prst="rect">
            <a:avLst/>
          </a:prstGeom>
          <a:noFill/>
          <a:ln>
            <a:noFill/>
          </a:ln>
        </p:spPr>
        <p:txBody>
          <a:bodyPr spcFirstLastPara="1" wrap="square" lIns="50800" tIns="50800" rIns="50800" bIns="50800" anchor="t" anchorCtr="0">
            <a:noAutofit/>
          </a:bodyPr>
          <a:lstStyle/>
          <a:p>
            <a:pPr marL="342900" indent="-342900">
              <a:spcBef>
                <a:spcPts val="0"/>
              </a:spcBef>
              <a:buSzPts val="3000"/>
            </a:pPr>
            <a:r>
              <a:rPr lang="en-US" sz="3000" dirty="0"/>
              <a:t>As the hypertrophied LV does not relax completely during early diastole, </a:t>
            </a:r>
            <a:r>
              <a:rPr lang="en-US" sz="3000" b="1" i="1" dirty="0"/>
              <a:t>left ventricular end-diastolic pressure increases, further increasing left atrial pressure</a:t>
            </a:r>
            <a:r>
              <a:rPr lang="en-US" sz="3000" dirty="0"/>
              <a:t> in late diastole, causing distortion of the cardiac and great vessel architecture. </a:t>
            </a:r>
            <a:endParaRPr dirty="0"/>
          </a:p>
          <a:p>
            <a:pPr marL="342900" indent="-279400">
              <a:buSzPts val="1000"/>
              <a:buNone/>
            </a:pPr>
            <a:endParaRPr sz="1000" dirty="0"/>
          </a:p>
          <a:p>
            <a:pPr marL="0" indent="0">
              <a:buNone/>
            </a:pPr>
            <a:endParaRPr dirty="0"/>
          </a:p>
        </p:txBody>
      </p:sp>
      <p:pic>
        <p:nvPicPr>
          <p:cNvPr id="736" name="Google Shape;736;p88"/>
          <p:cNvPicPr preferRelativeResize="0"/>
          <p:nvPr/>
        </p:nvPicPr>
        <p:blipFill rotWithShape="1">
          <a:blip r:embed="rId3">
            <a:alphaModFix/>
          </a:blip>
          <a:srcRect/>
          <a:stretch/>
        </p:blipFill>
        <p:spPr>
          <a:xfrm>
            <a:off x="1752600" y="3590925"/>
            <a:ext cx="3683000" cy="3079750"/>
          </a:xfrm>
          <a:prstGeom prst="rect">
            <a:avLst/>
          </a:prstGeom>
          <a:noFill/>
          <a:ln>
            <a:noFill/>
          </a:ln>
        </p:spPr>
      </p:pic>
      <p:pic>
        <p:nvPicPr>
          <p:cNvPr id="737" name="Google Shape;737;p88"/>
          <p:cNvPicPr preferRelativeResize="0"/>
          <p:nvPr/>
        </p:nvPicPr>
        <p:blipFill rotWithShape="1">
          <a:blip r:embed="rId4">
            <a:alphaModFix/>
          </a:blip>
          <a:srcRect r="600" b="24411"/>
          <a:stretch/>
        </p:blipFill>
        <p:spPr>
          <a:xfrm>
            <a:off x="5764213" y="3878264"/>
            <a:ext cx="4678362" cy="26749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89"/>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Cardiac Pathophysiology of HTN</a:t>
            </a:r>
            <a:endParaRPr/>
          </a:p>
        </p:txBody>
      </p:sp>
      <p:sp>
        <p:nvSpPr>
          <p:cNvPr id="743" name="Google Shape;743;p89"/>
          <p:cNvSpPr txBox="1">
            <a:spLocks noGrp="1"/>
          </p:cNvSpPr>
          <p:nvPr>
            <p:ph type="body" idx="1"/>
          </p:nvPr>
        </p:nvSpPr>
        <p:spPr>
          <a:xfrm>
            <a:off x="725557" y="1143000"/>
            <a:ext cx="10942981"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Eventually, </a:t>
            </a:r>
            <a:r>
              <a:rPr lang="en-US" b="1" i="1" dirty="0"/>
              <a:t>LVH begins to impinge on the heart cavity, limiting diastolic filling and stroke volume</a:t>
            </a:r>
            <a:r>
              <a:rPr lang="en-US" dirty="0"/>
              <a:t>. </a:t>
            </a:r>
            <a:endParaRPr dirty="0"/>
          </a:p>
          <a:p>
            <a:pPr marL="292100" indent="-228600">
              <a:buSzPts val="1000"/>
              <a:buNone/>
            </a:pPr>
            <a:endParaRPr sz="1000" dirty="0"/>
          </a:p>
          <a:p>
            <a:pPr marL="292100" indent="-292100"/>
            <a:r>
              <a:rPr lang="en-US" dirty="0"/>
              <a:t>Once this occurs, the long preserved systolic function of the heart begins to fail.</a:t>
            </a:r>
            <a:endParaRPr dirty="0"/>
          </a:p>
          <a:p>
            <a:pPr marL="0" indent="0">
              <a:buNone/>
            </a:pPr>
            <a:endParaRPr dirty="0"/>
          </a:p>
        </p:txBody>
      </p:sp>
      <p:pic>
        <p:nvPicPr>
          <p:cNvPr id="744" name="Google Shape;744;p89"/>
          <p:cNvPicPr preferRelativeResize="0"/>
          <p:nvPr/>
        </p:nvPicPr>
        <p:blipFill rotWithShape="1">
          <a:blip r:embed="rId3">
            <a:alphaModFix/>
          </a:blip>
          <a:srcRect/>
          <a:stretch/>
        </p:blipFill>
        <p:spPr>
          <a:xfrm>
            <a:off x="3276600" y="4114800"/>
            <a:ext cx="5951538" cy="2590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90"/>
          <p:cNvSpPr txBox="1">
            <a:spLocks noGrp="1"/>
          </p:cNvSpPr>
          <p:nvPr>
            <p:ph type="title"/>
          </p:nvPr>
        </p:nvSpPr>
        <p:spPr>
          <a:xfrm>
            <a:off x="1981200" y="76200"/>
            <a:ext cx="8229600" cy="886326"/>
          </a:xfrm>
          <a:prstGeom prst="rect">
            <a:avLst/>
          </a:prstGeom>
          <a:noFill/>
          <a:ln>
            <a:noFill/>
          </a:ln>
        </p:spPr>
        <p:txBody>
          <a:bodyPr spcFirstLastPara="1" wrap="square" lIns="50800" tIns="50800" rIns="50800" bIns="50800" anchor="ctr" anchorCtr="0">
            <a:noAutofit/>
          </a:bodyPr>
          <a:lstStyle/>
          <a:p>
            <a:r>
              <a:rPr lang="en-US" dirty="0"/>
              <a:t>Cardiac Pathophysiology of HTN</a:t>
            </a:r>
            <a:endParaRPr dirty="0"/>
          </a:p>
        </p:txBody>
      </p:sp>
      <p:sp>
        <p:nvSpPr>
          <p:cNvPr id="750" name="Google Shape;750;p90"/>
          <p:cNvSpPr txBox="1">
            <a:spLocks noGrp="1"/>
          </p:cNvSpPr>
          <p:nvPr>
            <p:ph type="body" idx="1"/>
          </p:nvPr>
        </p:nvSpPr>
        <p:spPr>
          <a:xfrm>
            <a:off x="665924" y="962526"/>
            <a:ext cx="11082130" cy="5231296"/>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Hypertensive heart disease manifests as a continuum of changes:</a:t>
            </a:r>
            <a:endParaRPr dirty="0"/>
          </a:p>
          <a:p>
            <a:pPr marL="692150" lvl="1" indent="-234950">
              <a:spcBef>
                <a:spcPts val="700"/>
              </a:spcBef>
              <a:buSzPts val="2800"/>
            </a:pPr>
            <a:r>
              <a:rPr lang="en-US" sz="3000" dirty="0"/>
              <a:t>Left ventricular hypertrophy and </a:t>
            </a:r>
            <a:r>
              <a:rPr lang="en-US" sz="3000" dirty="0" err="1"/>
              <a:t>HFpEF</a:t>
            </a:r>
            <a:r>
              <a:rPr lang="en-US" sz="3000" dirty="0"/>
              <a:t> (diastolic)</a:t>
            </a:r>
            <a:endParaRPr sz="3000" dirty="0"/>
          </a:p>
          <a:p>
            <a:pPr marL="692150" lvl="1" indent="-234950">
              <a:spcBef>
                <a:spcPts val="700"/>
              </a:spcBef>
              <a:buSzPts val="2800"/>
            </a:pPr>
            <a:r>
              <a:rPr lang="en-US" sz="3000" dirty="0"/>
              <a:t>Left atrial enlargement </a:t>
            </a:r>
          </a:p>
          <a:p>
            <a:pPr marL="692150" lvl="1" indent="-234950">
              <a:spcBef>
                <a:spcPts val="700"/>
              </a:spcBef>
              <a:buSzPts val="2800"/>
            </a:pPr>
            <a:r>
              <a:rPr lang="en-US" sz="3000" dirty="0"/>
              <a:t>Systolic heart failure, </a:t>
            </a:r>
            <a:r>
              <a:rPr lang="en-US" sz="3000" dirty="0" err="1"/>
              <a:t>HFrEF</a:t>
            </a:r>
            <a:r>
              <a:rPr lang="en-US" sz="3000" dirty="0"/>
              <a:t>, leads to . . . </a:t>
            </a:r>
            <a:endParaRPr sz="3000" dirty="0"/>
          </a:p>
          <a:p>
            <a:pPr marL="692150" lvl="1" indent="-234950">
              <a:spcBef>
                <a:spcPts val="700"/>
              </a:spcBef>
              <a:buSzPts val="2800"/>
            </a:pPr>
            <a:r>
              <a:rPr lang="en-US" sz="3000" dirty="0"/>
              <a:t>Aortic root dilatation and valve incompetence</a:t>
            </a:r>
            <a:endParaRPr sz="3000" dirty="0"/>
          </a:p>
          <a:p>
            <a:pPr marL="692150" lvl="1" indent="-234950">
              <a:spcBef>
                <a:spcPts val="700"/>
              </a:spcBef>
              <a:buSzPts val="2800"/>
            </a:pPr>
            <a:r>
              <a:rPr lang="en-US" sz="3000" dirty="0"/>
              <a:t>Atrial and ventricular arrhythmias </a:t>
            </a:r>
            <a:endParaRPr sz="3000" dirty="0"/>
          </a:p>
          <a:p>
            <a:pPr marL="692150" lvl="1" indent="-234950">
              <a:spcBef>
                <a:spcPts val="700"/>
              </a:spcBef>
              <a:buSzPts val="2800"/>
            </a:pPr>
            <a:r>
              <a:rPr lang="en-US" sz="3000" dirty="0"/>
              <a:t>Ischemic heart disease/ cardiomyopathy</a:t>
            </a:r>
            <a:endParaRPr sz="3000" dirty="0"/>
          </a:p>
          <a:p>
            <a:pPr marL="292100" indent="-114300">
              <a:buSzPts val="2800"/>
              <a:buNone/>
            </a:pPr>
            <a:endParaRPr sz="2800" dirty="0"/>
          </a:p>
          <a:p>
            <a:pPr marL="292100" indent="-292100"/>
            <a:r>
              <a:rPr lang="en-US" b="1" dirty="0"/>
              <a:t>LVH</a:t>
            </a:r>
            <a:r>
              <a:rPr lang="en-US" dirty="0"/>
              <a:t> is associated with an </a:t>
            </a:r>
            <a:r>
              <a:rPr lang="en-US" b="1" i="1" dirty="0"/>
              <a:t>increased risk of premature death and morbidity</a:t>
            </a:r>
            <a:r>
              <a:rPr lang="en-US" dirty="0"/>
              <a:t>.</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91"/>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sz="3200" b="1" dirty="0"/>
              <a:t>Pathophysiology of HTN in the CNS</a:t>
            </a:r>
            <a:endParaRPr sz="3200" b="1" dirty="0"/>
          </a:p>
        </p:txBody>
      </p:sp>
      <p:sp>
        <p:nvSpPr>
          <p:cNvPr id="756" name="Google Shape;756;p91"/>
          <p:cNvSpPr txBox="1">
            <a:spLocks noGrp="1"/>
          </p:cNvSpPr>
          <p:nvPr>
            <p:ph type="body" idx="1"/>
          </p:nvPr>
        </p:nvSpPr>
        <p:spPr>
          <a:xfrm>
            <a:off x="745435" y="953386"/>
            <a:ext cx="10485782" cy="54102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In normotensive or mildly hypertensive patients, a rapid rise in BP can cause: </a:t>
            </a:r>
            <a:endParaRPr sz="2800" dirty="0"/>
          </a:p>
          <a:p>
            <a:pPr marL="954088" lvl="1" indent="-514350">
              <a:spcBef>
                <a:spcPts val="1200"/>
              </a:spcBef>
              <a:buFont typeface="Calibri"/>
              <a:buAutoNum type="arabicPeriod"/>
            </a:pPr>
            <a:r>
              <a:rPr lang="en-US" sz="2800" dirty="0" err="1"/>
              <a:t>Hyperperfusion</a:t>
            </a:r>
            <a:r>
              <a:rPr lang="en-US" sz="2800" dirty="0"/>
              <a:t>/increased cerebral blood flow </a:t>
            </a:r>
            <a:endParaRPr sz="2800" dirty="0"/>
          </a:p>
          <a:p>
            <a:pPr marL="954088" lvl="1" indent="-514350">
              <a:spcBef>
                <a:spcPts val="1200"/>
              </a:spcBef>
              <a:buFont typeface="Calibri"/>
              <a:buAutoNum type="arabicPeriod"/>
            </a:pPr>
            <a:r>
              <a:rPr lang="en-US" sz="2800" dirty="0"/>
              <a:t>Increased intracranial pressure</a:t>
            </a:r>
            <a:endParaRPr sz="2800" dirty="0"/>
          </a:p>
          <a:p>
            <a:pPr marL="954088" lvl="1" indent="-514350">
              <a:spcBef>
                <a:spcPts val="1200"/>
              </a:spcBef>
              <a:buFont typeface="Calibri"/>
              <a:buAutoNum type="arabicPeriod"/>
            </a:pPr>
            <a:r>
              <a:rPr lang="en-US" sz="2800" dirty="0"/>
              <a:t>Cerebral edema (end organ damage) </a:t>
            </a:r>
            <a:endParaRPr sz="2800" dirty="0"/>
          </a:p>
          <a:p>
            <a:pPr marL="954088" lvl="1" indent="-514350">
              <a:spcBef>
                <a:spcPts val="1200"/>
              </a:spcBef>
              <a:buFont typeface="Calibri"/>
              <a:buAutoNum type="arabicPeriod"/>
            </a:pPr>
            <a:r>
              <a:rPr lang="en-US" sz="2800" dirty="0"/>
              <a:t>Cerebral/ carotid artery dissection</a:t>
            </a:r>
            <a:endParaRPr sz="2800" dirty="0"/>
          </a:p>
          <a:p>
            <a:pPr marL="954088" lvl="1" indent="-514350">
              <a:spcBef>
                <a:spcPts val="1200"/>
              </a:spcBef>
              <a:buFont typeface="Calibri"/>
              <a:buAutoNum type="arabicPeriod"/>
            </a:pPr>
            <a:r>
              <a:rPr lang="en-US" sz="2800" u="sng" dirty="0"/>
              <a:t>Ischemic stroke due to in situ thrombus or arteriosclerotic embolus</a:t>
            </a:r>
            <a:endParaRPr sz="2800" u="sng" dirty="0"/>
          </a:p>
          <a:p>
            <a:pPr marL="954088" lvl="1" indent="-514350">
              <a:spcBef>
                <a:spcPts val="1200"/>
              </a:spcBef>
              <a:buFont typeface="Calibri"/>
              <a:buAutoNum type="arabicPeriod"/>
            </a:pPr>
            <a:r>
              <a:rPr lang="en-US" sz="2800" u="sng" dirty="0"/>
              <a:t>Hemorrhagic stroke</a:t>
            </a:r>
          </a:p>
          <a:p>
            <a:pPr marL="439738" lvl="1" indent="0" algn="ctr">
              <a:spcBef>
                <a:spcPts val="1200"/>
              </a:spcBef>
              <a:buNone/>
            </a:pPr>
            <a:r>
              <a:rPr lang="en-US" dirty="0"/>
              <a:t>CPP = MAP − ICP</a:t>
            </a:r>
            <a:endParaRPr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92"/>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Pathophysiology of HTN in the CNS</a:t>
            </a:r>
            <a:endParaRPr/>
          </a:p>
        </p:txBody>
      </p:sp>
      <p:sp>
        <p:nvSpPr>
          <p:cNvPr id="762" name="Google Shape;762;p92"/>
          <p:cNvSpPr txBox="1">
            <a:spLocks noGrp="1"/>
          </p:cNvSpPr>
          <p:nvPr>
            <p:ph type="body" idx="1"/>
          </p:nvPr>
        </p:nvSpPr>
        <p:spPr>
          <a:xfrm>
            <a:off x="540026" y="1004238"/>
            <a:ext cx="11111948" cy="5422232"/>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b="1" dirty="0"/>
              <a:t>Cerebral autoregulation </a:t>
            </a:r>
            <a:r>
              <a:rPr lang="en-US" dirty="0"/>
              <a:t>is the ability of the cerebral vasculature to maintain a </a:t>
            </a:r>
            <a:r>
              <a:rPr lang="en-US" b="1" i="1" dirty="0"/>
              <a:t>constant cerebral blood flow</a:t>
            </a:r>
            <a:r>
              <a:rPr lang="en-US" dirty="0"/>
              <a:t> across a wide range of perfusion pressures coming from the heart. </a:t>
            </a:r>
          </a:p>
          <a:p>
            <a:pPr marL="749300" lvl="1" indent="-292100">
              <a:spcBef>
                <a:spcPts val="0"/>
              </a:spcBef>
            </a:pPr>
            <a:r>
              <a:rPr lang="en-US" sz="2800" b="0" i="0" dirty="0">
                <a:solidFill>
                  <a:schemeClr val="tx1"/>
                </a:solidFill>
                <a:effectLst/>
                <a:latin typeface="Calibri" panose="020F0502020204030204" pitchFamily="34" charset="0"/>
                <a:cs typeface="Calibri" panose="020F0502020204030204" pitchFamily="34" charset="0"/>
              </a:rPr>
              <a:t>If systemic blood pressure drops, cerebral perfusion is preserved through vasodilation of arteries in the brain to allow for increased blood volume to flow in th</a:t>
            </a:r>
            <a:r>
              <a:rPr lang="en-US" sz="2800" dirty="0">
                <a:solidFill>
                  <a:schemeClr val="tx1"/>
                </a:solidFill>
                <a:latin typeface="Calibri" panose="020F0502020204030204" pitchFamily="34" charset="0"/>
                <a:cs typeface="Calibri" panose="020F0502020204030204" pitchFamily="34" charset="0"/>
              </a:rPr>
              <a:t>e brain to </a:t>
            </a:r>
            <a:r>
              <a:rPr lang="en-US" sz="2800" b="0" i="0" dirty="0">
                <a:solidFill>
                  <a:schemeClr val="tx1"/>
                </a:solidFill>
                <a:effectLst/>
                <a:latin typeface="Calibri" panose="020F0502020204030204" pitchFamily="34" charset="0"/>
                <a:cs typeface="Calibri" panose="020F0502020204030204" pitchFamily="34" charset="0"/>
              </a:rPr>
              <a:t>continue perfusion</a:t>
            </a:r>
          </a:p>
          <a:p>
            <a:pPr marL="749300" lvl="1" indent="-292100">
              <a:spcBef>
                <a:spcPts val="0"/>
              </a:spcBef>
            </a:pPr>
            <a:r>
              <a:rPr lang="en-US" sz="2800" dirty="0">
                <a:solidFill>
                  <a:schemeClr val="tx1"/>
                </a:solidFill>
                <a:latin typeface="Calibri" panose="020F0502020204030204" pitchFamily="34" charset="0"/>
                <a:cs typeface="Calibri" panose="020F0502020204030204" pitchFamily="34" charset="0"/>
              </a:rPr>
              <a:t>If systemic blood pressure increases</a:t>
            </a:r>
            <a:r>
              <a:rPr lang="en-US" sz="2800" b="0" i="0" dirty="0">
                <a:solidFill>
                  <a:schemeClr val="tx1"/>
                </a:solidFill>
                <a:effectLst/>
                <a:latin typeface="Calibri" panose="020F0502020204030204" pitchFamily="34" charset="0"/>
                <a:cs typeface="Calibri" panose="020F0502020204030204" pitchFamily="34" charset="0"/>
              </a:rPr>
              <a:t>, arteriolar vasoconstriction occurs to prevent </a:t>
            </a:r>
            <a:r>
              <a:rPr lang="en-US" sz="2800" b="0" i="0" dirty="0" err="1">
                <a:solidFill>
                  <a:schemeClr val="tx1"/>
                </a:solidFill>
                <a:effectLst/>
                <a:latin typeface="Calibri" panose="020F0502020204030204" pitchFamily="34" charset="0"/>
                <a:cs typeface="Calibri" panose="020F0502020204030204" pitchFamily="34" charset="0"/>
              </a:rPr>
              <a:t>hyperperfusion</a:t>
            </a:r>
            <a:endParaRPr sz="2800" dirty="0">
              <a:solidFill>
                <a:schemeClr val="tx1"/>
              </a:solidFill>
              <a:latin typeface="Calibri" panose="020F0502020204030204" pitchFamily="34" charset="0"/>
              <a:cs typeface="Calibri" panose="020F0502020204030204" pitchFamily="34" charset="0"/>
            </a:endParaRPr>
          </a:p>
          <a:p>
            <a:pPr marL="292100" indent="-88900">
              <a:spcBef>
                <a:spcPts val="0"/>
              </a:spcBef>
              <a:buNone/>
            </a:pPr>
            <a:endParaRPr dirty="0"/>
          </a:p>
          <a:p>
            <a:pPr marL="292100" indent="-292100">
              <a:spcBef>
                <a:spcPts val="0"/>
              </a:spcBef>
            </a:pPr>
            <a:r>
              <a:rPr lang="en-US" b="1" i="1" dirty="0"/>
              <a:t>When chronic elevated BP </a:t>
            </a:r>
            <a:r>
              <a:rPr lang="en-US" dirty="0"/>
              <a:t>is present, </a:t>
            </a:r>
            <a:r>
              <a:rPr lang="en-US" b="1" i="1" dirty="0"/>
              <a:t>the CNS </a:t>
            </a:r>
            <a:r>
              <a:rPr lang="en-US" dirty="0"/>
              <a:t>will, over time, </a:t>
            </a:r>
            <a:r>
              <a:rPr lang="en-US" b="1" i="1" dirty="0"/>
              <a:t>become accustomed to these elevated perfusion pressures </a:t>
            </a:r>
            <a:r>
              <a:rPr lang="en-US" dirty="0"/>
              <a:t>and begin to consider them normal.</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35B9-5658-8945-BB88-6873A37524FE}"/>
              </a:ext>
            </a:extLst>
          </p:cNvPr>
          <p:cNvSpPr>
            <a:spLocks noGrp="1"/>
          </p:cNvSpPr>
          <p:nvPr>
            <p:ph type="title"/>
          </p:nvPr>
        </p:nvSpPr>
        <p:spPr>
          <a:xfrm>
            <a:off x="609600" y="92077"/>
            <a:ext cx="10972800" cy="1194464"/>
          </a:xfrm>
        </p:spPr>
        <p:txBody>
          <a:bodyPr/>
          <a:lstStyle/>
          <a:p>
            <a:r>
              <a:rPr lang="en-US" dirty="0"/>
              <a:t>Cerebral Autoregulation</a:t>
            </a:r>
          </a:p>
        </p:txBody>
      </p:sp>
      <p:pic>
        <p:nvPicPr>
          <p:cNvPr id="1026" name="Picture 2" descr="A line graph shows a normal cerebral autoregulation curve.">
            <a:extLst>
              <a:ext uri="{FF2B5EF4-FFF2-40B4-BE49-F238E27FC236}">
                <a16:creationId xmlns:a16="http://schemas.microsoft.com/office/drawing/2014/main" id="{E40E1C11-B5D6-0C19-A11C-ED429CA154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900"/>
          <a:stretch/>
        </p:blipFill>
        <p:spPr bwMode="auto">
          <a:xfrm>
            <a:off x="4155559" y="1022745"/>
            <a:ext cx="7581014" cy="58352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EF53EA7-309C-481B-D497-A145F44A8649}"/>
              </a:ext>
            </a:extLst>
          </p:cNvPr>
          <p:cNvSpPr txBox="1"/>
          <p:nvPr/>
        </p:nvSpPr>
        <p:spPr>
          <a:xfrm>
            <a:off x="691116" y="1913860"/>
            <a:ext cx="3464443" cy="1384995"/>
          </a:xfrm>
          <a:prstGeom prst="rect">
            <a:avLst/>
          </a:prstGeom>
          <a:noFill/>
        </p:spPr>
        <p:txBody>
          <a:bodyPr wrap="square" rtlCol="0">
            <a:spAutoFit/>
          </a:bodyPr>
          <a:lstStyle/>
          <a:p>
            <a:r>
              <a:rPr lang="en-US" sz="2800" dirty="0">
                <a:latin typeface="Calibri" panose="020F0502020204030204" pitchFamily="34" charset="0"/>
                <a:cs typeface="Calibri" panose="020F0502020204030204" pitchFamily="34" charset="0"/>
              </a:rPr>
              <a:t>Cerebral flow is constant with MAP 60-150mmHg</a:t>
            </a:r>
          </a:p>
        </p:txBody>
      </p:sp>
    </p:spTree>
    <p:extLst>
      <p:ext uri="{BB962C8B-B14F-4D97-AF65-F5344CB8AC3E}">
        <p14:creationId xmlns:p14="http://schemas.microsoft.com/office/powerpoint/2010/main" val="2329840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93"/>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Pathophysiology of HTN in the CNS</a:t>
            </a:r>
            <a:endParaRPr/>
          </a:p>
        </p:txBody>
      </p:sp>
      <p:sp>
        <p:nvSpPr>
          <p:cNvPr id="768" name="Google Shape;768;p93"/>
          <p:cNvSpPr txBox="1">
            <a:spLocks noGrp="1"/>
          </p:cNvSpPr>
          <p:nvPr>
            <p:ph type="body" idx="1"/>
          </p:nvPr>
        </p:nvSpPr>
        <p:spPr>
          <a:xfrm>
            <a:off x="496957" y="1295400"/>
            <a:ext cx="11310730" cy="5334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Chronic hypertensive patients adapt by increasing the cerebral vascular resistance and are </a:t>
            </a:r>
            <a:r>
              <a:rPr lang="en-US" sz="2800" b="1" i="1" dirty="0"/>
              <a:t>more prone to cerebral ischemia when flow decreases</a:t>
            </a:r>
            <a:r>
              <a:rPr lang="en-US" sz="2800" dirty="0"/>
              <a:t>, especially if the BP is decreased rapidly into the normotensive range. </a:t>
            </a:r>
            <a:endParaRPr sz="2800" dirty="0"/>
          </a:p>
          <a:p>
            <a:pPr marL="292100" indent="-88900">
              <a:spcBef>
                <a:spcPts val="1300"/>
              </a:spcBef>
              <a:buNone/>
            </a:pPr>
            <a:endParaRPr sz="2800" dirty="0"/>
          </a:p>
          <a:p>
            <a:pPr marL="292100" indent="-292100">
              <a:spcBef>
                <a:spcPts val="1300"/>
              </a:spcBef>
            </a:pPr>
            <a:r>
              <a:rPr lang="en-US" sz="2800" dirty="0"/>
              <a:t>Therefore, </a:t>
            </a:r>
            <a:r>
              <a:rPr lang="en-US" sz="2800" b="1" i="1" dirty="0"/>
              <a:t>for patients with long-standing HTN, it can be just as dangerous to lower their BP too precipitously as it is to let it stay elevated</a:t>
            </a:r>
            <a:r>
              <a:rPr lang="en-US" sz="2800" dirty="0"/>
              <a:t>.</a:t>
            </a:r>
          </a:p>
          <a:p>
            <a:pPr marL="292100" indent="-292100">
              <a:spcBef>
                <a:spcPts val="1300"/>
              </a:spcBef>
            </a:pPr>
            <a:endParaRPr lang="en-US" sz="2800" dirty="0"/>
          </a:p>
          <a:p>
            <a:pPr marL="292100" indent="-292100">
              <a:spcBef>
                <a:spcPts val="1300"/>
              </a:spcBef>
            </a:pPr>
            <a:r>
              <a:rPr lang="en-US" sz="2800" dirty="0"/>
              <a:t>In patients with long-standing HTN it is best to allow the BP to normalize slowly over a period of a few weeks as medications are gradually titrated to allow for autoregulation to return back to the normal set point</a:t>
            </a:r>
            <a:r>
              <a:rPr lang="en-US" dirty="0"/>
              <a:t>.</a:t>
            </a:r>
          </a:p>
          <a:p>
            <a:pPr marL="292100" indent="-88900">
              <a:lnSpc>
                <a:spcPct val="80000"/>
              </a:lnSpc>
              <a:spcBef>
                <a:spcPts val="1300"/>
              </a:spcBef>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95"/>
          <p:cNvSpPr txBox="1">
            <a:spLocks noGrp="1"/>
          </p:cNvSpPr>
          <p:nvPr>
            <p:ph type="title"/>
          </p:nvPr>
        </p:nvSpPr>
        <p:spPr>
          <a:xfrm>
            <a:off x="1676400" y="76200"/>
            <a:ext cx="8763000" cy="1143000"/>
          </a:xfrm>
          <a:prstGeom prst="rect">
            <a:avLst/>
          </a:prstGeom>
          <a:noFill/>
          <a:ln>
            <a:noFill/>
          </a:ln>
        </p:spPr>
        <p:txBody>
          <a:bodyPr spcFirstLastPara="1" wrap="square" lIns="50800" tIns="50800" rIns="50800" bIns="50800" anchor="ctr" anchorCtr="0">
            <a:noAutofit/>
          </a:bodyPr>
          <a:lstStyle/>
          <a:p>
            <a:r>
              <a:rPr lang="en-US" sz="3200" dirty="0"/>
              <a:t>Pathophysiology of HTN in the Kidney</a:t>
            </a:r>
            <a:endParaRPr sz="3200" dirty="0"/>
          </a:p>
        </p:txBody>
      </p:sp>
      <p:sp>
        <p:nvSpPr>
          <p:cNvPr id="780" name="Google Shape;780;p95"/>
          <p:cNvSpPr txBox="1">
            <a:spLocks noGrp="1"/>
          </p:cNvSpPr>
          <p:nvPr>
            <p:ph type="body" idx="1"/>
          </p:nvPr>
        </p:nvSpPr>
        <p:spPr>
          <a:xfrm>
            <a:off x="288235" y="1002311"/>
            <a:ext cx="11903765" cy="2357115"/>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Chronic HTN causes pathologic sclerotic changes to the small arteries of the kidney, resulting in endothelial cell dysfunction and impaired vasodilation. </a:t>
            </a:r>
            <a:endParaRPr sz="2800" dirty="0"/>
          </a:p>
          <a:p>
            <a:pPr marL="292100" indent="-292100">
              <a:spcBef>
                <a:spcPts val="0"/>
              </a:spcBef>
            </a:pPr>
            <a:r>
              <a:rPr lang="en-US" sz="2800" dirty="0"/>
              <a:t>This damage alters renal autoregulation of blood flow to the glomerulus.</a:t>
            </a:r>
          </a:p>
          <a:p>
            <a:pPr marL="0" indent="0">
              <a:spcBef>
                <a:spcPts val="0"/>
              </a:spcBef>
              <a:buNone/>
            </a:pPr>
            <a:endParaRPr lang="en-US" dirty="0"/>
          </a:p>
          <a:p>
            <a:pPr marL="292100" indent="-88900">
              <a:lnSpc>
                <a:spcPct val="80000"/>
              </a:lnSpc>
              <a:spcBef>
                <a:spcPts val="0"/>
              </a:spcBef>
              <a:buNone/>
            </a:pPr>
            <a:endParaRPr dirty="0"/>
          </a:p>
        </p:txBody>
      </p:sp>
      <p:pic>
        <p:nvPicPr>
          <p:cNvPr id="1026" name="Picture 2" descr="Physiology - Tubuloglomerular feedback, Glomerular filtration, Azotemia ...">
            <a:extLst>
              <a:ext uri="{FF2B5EF4-FFF2-40B4-BE49-F238E27FC236}">
                <a16:creationId xmlns:a16="http://schemas.microsoft.com/office/drawing/2014/main" id="{4BDE7939-BC3D-593F-1249-E753C56BC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6932" y="2977116"/>
            <a:ext cx="3687417" cy="3104805"/>
          </a:xfrm>
          <a:prstGeom prst="rect">
            <a:avLst/>
          </a:prstGeom>
          <a:noFill/>
          <a:extLst>
            <a:ext uri="{909E8E84-426E-40DD-AFC4-6F175D3DCCD1}">
              <a14:hiddenFill xmlns:a14="http://schemas.microsoft.com/office/drawing/2010/main">
                <a:solidFill>
                  <a:srgbClr val="FFFFFF"/>
                </a:solidFill>
              </a14:hiddenFill>
            </a:ext>
          </a:extLst>
        </p:spPr>
      </p:pic>
      <p:sp>
        <p:nvSpPr>
          <p:cNvPr id="787" name="Google Shape;787;p96"/>
          <p:cNvSpPr txBox="1">
            <a:spLocks/>
          </p:cNvSpPr>
          <p:nvPr/>
        </p:nvSpPr>
        <p:spPr>
          <a:xfrm>
            <a:off x="288235" y="2479506"/>
            <a:ext cx="7908697" cy="3030280"/>
          </a:xfrm>
          <a:prstGeom prst="rect">
            <a:avLst/>
          </a:prstGeom>
          <a:noFill/>
          <a:ln>
            <a:noFill/>
          </a:ln>
        </p:spPr>
        <p:txBody>
          <a:bodyPr spcFirstLastPara="1" wrap="square" lIns="50800" tIns="50800" rIns="50800" bIns="508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lnSpc>
                <a:spcPct val="100000"/>
              </a:lnSpc>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pPr marL="292100" indent="-292100">
              <a:spcBef>
                <a:spcPts val="0"/>
              </a:spcBef>
            </a:pPr>
            <a:r>
              <a:rPr lang="en-US" sz="2800" dirty="0"/>
              <a:t>When the renal autoregulatory system is disrupted, the intraglomerular pressure starts to vary directly with the systemic arterial pressure, which means that the kidney has no protection during swings in BP. </a:t>
            </a:r>
          </a:p>
          <a:p>
            <a:pPr marL="292100" indent="-292100">
              <a:spcBef>
                <a:spcPts val="0"/>
              </a:spcBef>
            </a:pPr>
            <a:r>
              <a:rPr lang="en-US" sz="2800" b="1" i="1" dirty="0"/>
              <a:t>Volume expansion </a:t>
            </a:r>
            <a:r>
              <a:rPr lang="en-US" sz="2800" dirty="0"/>
              <a:t>plays a key role in </a:t>
            </a:r>
            <a:r>
              <a:rPr lang="en-US" sz="2800" u="sng" dirty="0"/>
              <a:t>hypertension</a:t>
            </a:r>
            <a:r>
              <a:rPr lang="en-US" sz="2800" dirty="0"/>
              <a:t> in patients with </a:t>
            </a:r>
            <a:r>
              <a:rPr lang="en-US" sz="2800" b="1" i="1" dirty="0"/>
              <a:t>glomerular disease </a:t>
            </a:r>
            <a:r>
              <a:rPr lang="en-US" sz="2800" dirty="0"/>
              <a:t>(nephrotic and nephritic syndrome), as the patient becomes volume overloaded. </a:t>
            </a:r>
          </a:p>
          <a:p>
            <a:pPr marL="292100" indent="-88900">
              <a:lnSpc>
                <a:spcPct val="80000"/>
              </a:lnSpc>
              <a:spcBef>
                <a:spcPts val="0"/>
              </a:spcBef>
              <a:buFont typeface="Arial"/>
              <a:buNone/>
            </a:pPr>
            <a:endParaRPr lang="en-US" sz="2800" dirty="0"/>
          </a:p>
          <a:p>
            <a:pPr marL="292100" indent="-88900">
              <a:lnSpc>
                <a:spcPct val="80000"/>
              </a:lnSpc>
              <a:spcBef>
                <a:spcPts val="0"/>
              </a:spcBef>
              <a:buFont typeface="Arial"/>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97"/>
          <p:cNvSpPr txBox="1">
            <a:spLocks noGrp="1"/>
          </p:cNvSpPr>
          <p:nvPr>
            <p:ph type="title"/>
          </p:nvPr>
        </p:nvSpPr>
        <p:spPr>
          <a:xfrm>
            <a:off x="1676400" y="76200"/>
            <a:ext cx="8763000" cy="1143000"/>
          </a:xfrm>
          <a:prstGeom prst="rect">
            <a:avLst/>
          </a:prstGeom>
          <a:noFill/>
          <a:ln>
            <a:noFill/>
          </a:ln>
        </p:spPr>
        <p:txBody>
          <a:bodyPr spcFirstLastPara="1" wrap="square" lIns="50800" tIns="50800" rIns="50800" bIns="50800" anchor="ctr" anchorCtr="0">
            <a:noAutofit/>
          </a:bodyPr>
          <a:lstStyle/>
          <a:p>
            <a:r>
              <a:rPr lang="en-US"/>
              <a:t>Pathophysiology of HTN in the Kidney</a:t>
            </a:r>
            <a:endParaRPr/>
          </a:p>
        </p:txBody>
      </p:sp>
      <p:sp>
        <p:nvSpPr>
          <p:cNvPr id="793" name="Google Shape;793;p97"/>
          <p:cNvSpPr txBox="1">
            <a:spLocks noGrp="1"/>
          </p:cNvSpPr>
          <p:nvPr>
            <p:ph type="body" idx="1"/>
          </p:nvPr>
        </p:nvSpPr>
        <p:spPr>
          <a:xfrm>
            <a:off x="487017" y="1295400"/>
            <a:ext cx="11280913" cy="53340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In patients with </a:t>
            </a:r>
            <a:r>
              <a:rPr lang="en-US" b="1" i="1" dirty="0"/>
              <a:t>renal vascular disease (RAS), hypertension </a:t>
            </a:r>
            <a:r>
              <a:rPr lang="en-US" dirty="0"/>
              <a:t>is the result of the near- constant </a:t>
            </a:r>
            <a:r>
              <a:rPr lang="en-US" b="1" i="1" dirty="0"/>
              <a:t>activation of the renin-angiotensin system</a:t>
            </a:r>
            <a:r>
              <a:rPr lang="en-US" dirty="0"/>
              <a:t>, which is often secondary to tissue ischemia. </a:t>
            </a:r>
            <a:endParaRPr dirty="0"/>
          </a:p>
          <a:p>
            <a:pPr marL="292100" indent="-88900">
              <a:spcBef>
                <a:spcPts val="500"/>
              </a:spcBef>
              <a:buNone/>
            </a:pPr>
            <a:endParaRPr dirty="0"/>
          </a:p>
          <a:p>
            <a:pPr marL="292100" indent="-292100">
              <a:spcBef>
                <a:spcPts val="500"/>
              </a:spcBef>
            </a:pPr>
            <a:r>
              <a:rPr lang="en-US" dirty="0"/>
              <a:t>The combination of </a:t>
            </a:r>
            <a:r>
              <a:rPr lang="en-US" b="1" i="1" dirty="0"/>
              <a:t>volume expansion and the activation of the renin-angiotensin system </a:t>
            </a:r>
            <a:r>
              <a:rPr lang="en-US" dirty="0"/>
              <a:t>is believed to be the main factor behind </a:t>
            </a:r>
            <a:r>
              <a:rPr lang="en-US" b="1" i="1" dirty="0"/>
              <a:t>HTN in patients with chronic renal failure</a:t>
            </a:r>
            <a:r>
              <a:rPr lang="en-US" dirty="0"/>
              <a:t>. </a:t>
            </a:r>
            <a:endParaRPr dirty="0"/>
          </a:p>
          <a:p>
            <a:pPr marL="292100" indent="-88900">
              <a:spcBef>
                <a:spcPts val="500"/>
              </a:spcBef>
              <a:buNone/>
            </a:pPr>
            <a:endParaRPr dirty="0"/>
          </a:p>
          <a:p>
            <a:pPr marL="292100" indent="-88900">
              <a:lnSpc>
                <a:spcPct val="80000"/>
              </a:lnSpc>
              <a:spcBef>
                <a:spcPts val="500"/>
              </a:spcBef>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1DC1F-E6AC-748B-BEE2-483FED74BDA9}"/>
              </a:ext>
            </a:extLst>
          </p:cNvPr>
          <p:cNvSpPr>
            <a:spLocks noGrp="1"/>
          </p:cNvSpPr>
          <p:nvPr>
            <p:ph type="title"/>
          </p:nvPr>
        </p:nvSpPr>
        <p:spPr>
          <a:xfrm>
            <a:off x="828002" y="3429000"/>
            <a:ext cx="10363200" cy="1362075"/>
          </a:xfrm>
        </p:spPr>
        <p:txBody>
          <a:bodyPr/>
          <a:lstStyle/>
          <a:p>
            <a:r>
              <a:rPr lang="en-US" dirty="0"/>
              <a:t>History</a:t>
            </a:r>
            <a:br>
              <a:rPr lang="en-US" dirty="0"/>
            </a:br>
            <a:r>
              <a:rPr lang="en-US" dirty="0"/>
              <a:t>Physical Exam</a:t>
            </a:r>
            <a:br>
              <a:rPr lang="en-US" dirty="0"/>
            </a:br>
            <a:r>
              <a:rPr lang="en-US" dirty="0"/>
              <a:t>Diagnostics</a:t>
            </a:r>
          </a:p>
        </p:txBody>
      </p:sp>
    </p:spTree>
    <p:extLst>
      <p:ext uri="{BB962C8B-B14F-4D97-AF65-F5344CB8AC3E}">
        <p14:creationId xmlns:p14="http://schemas.microsoft.com/office/powerpoint/2010/main" val="3057398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98"/>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799" name="Google Shape;799;p98"/>
          <p:cNvSpPr txBox="1">
            <a:spLocks noGrp="1"/>
          </p:cNvSpPr>
          <p:nvPr>
            <p:ph type="body" idx="1"/>
          </p:nvPr>
        </p:nvSpPr>
        <p:spPr>
          <a:xfrm>
            <a:off x="636103" y="1143000"/>
            <a:ext cx="10823713" cy="5562600"/>
          </a:xfrm>
          <a:prstGeom prst="rect">
            <a:avLst/>
          </a:prstGeom>
          <a:noFill/>
          <a:ln>
            <a:noFill/>
          </a:ln>
        </p:spPr>
        <p:txBody>
          <a:bodyPr spcFirstLastPara="1" wrap="square" lIns="50800" tIns="50800" rIns="50800" bIns="50800" anchor="t" anchorCtr="0">
            <a:noAutofit/>
          </a:bodyPr>
          <a:lstStyle/>
          <a:p>
            <a:pPr indent="-457200">
              <a:spcBef>
                <a:spcPts val="0"/>
              </a:spcBef>
            </a:pPr>
            <a:r>
              <a:rPr lang="en-US" dirty="0"/>
              <a:t>Often, high blood pressure is only one of several cardiovascular risk factors that require attention when a person is diagnosed with hypertension.</a:t>
            </a:r>
            <a:endParaRPr dirty="0"/>
          </a:p>
          <a:p>
            <a:pPr marL="0" indent="0">
              <a:buNone/>
            </a:pPr>
            <a:endParaRPr dirty="0"/>
          </a:p>
          <a:p>
            <a:pPr marL="342900" indent="-342900"/>
            <a:r>
              <a:rPr lang="en-US" dirty="0"/>
              <a:t>When diagnosing a patient with hypertension, the clinician is assessing the history for the possibility of </a:t>
            </a:r>
            <a:r>
              <a:rPr lang="en-US" b="1" i="1" dirty="0"/>
              <a:t>end organ damage </a:t>
            </a:r>
            <a:r>
              <a:rPr lang="en-US" dirty="0"/>
              <a:t>from hypertension as well as evaluating </a:t>
            </a:r>
            <a:r>
              <a:rPr lang="en-US" b="1" i="1" dirty="0"/>
              <a:t>risk factors for cardiometabolic disease </a:t>
            </a:r>
            <a:r>
              <a:rPr lang="en-US" dirty="0"/>
              <a:t>that may be modified to improve future health outcomes.</a:t>
            </a:r>
            <a:endParaRPr dirty="0"/>
          </a:p>
          <a:p>
            <a:pPr marL="0" indent="0">
              <a:buSzPts val="2000"/>
              <a:buNone/>
            </a:pPr>
            <a:endParaRPr sz="2000" dirty="0"/>
          </a:p>
          <a:p>
            <a:pPr marL="782638" lvl="1" indent="-147637">
              <a:buSzPts val="2800"/>
              <a:buNone/>
            </a:pPr>
            <a:endParaRPr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99"/>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805" name="Google Shape;805;p99"/>
          <p:cNvSpPr txBox="1">
            <a:spLocks noGrp="1"/>
          </p:cNvSpPr>
          <p:nvPr>
            <p:ph type="body" idx="1"/>
          </p:nvPr>
        </p:nvSpPr>
        <p:spPr>
          <a:xfrm>
            <a:off x="1752600" y="1143000"/>
            <a:ext cx="8763000"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Important previous events include:</a:t>
            </a:r>
            <a:endParaRPr dirty="0"/>
          </a:p>
          <a:p>
            <a:pPr marL="782638" lvl="1" indent="-325438">
              <a:spcBef>
                <a:spcPts val="2600"/>
              </a:spcBef>
            </a:pPr>
            <a:r>
              <a:rPr lang="en-US" dirty="0"/>
              <a:t>Heart failure or s/s suggestive of heart failure</a:t>
            </a:r>
            <a:endParaRPr dirty="0"/>
          </a:p>
          <a:p>
            <a:pPr marL="782638" lvl="1" indent="-325438">
              <a:spcBef>
                <a:spcPts val="2600"/>
              </a:spcBef>
            </a:pPr>
            <a:r>
              <a:rPr lang="en-US" dirty="0"/>
              <a:t>Obstructive sleep apnea</a:t>
            </a:r>
            <a:endParaRPr dirty="0"/>
          </a:p>
          <a:p>
            <a:pPr marL="782638" lvl="1" indent="-325438">
              <a:spcBef>
                <a:spcPts val="2600"/>
              </a:spcBef>
            </a:pPr>
            <a:r>
              <a:rPr lang="en-US" dirty="0"/>
              <a:t>Chronic kidney disease</a:t>
            </a:r>
            <a:endParaRPr dirty="0"/>
          </a:p>
          <a:p>
            <a:pPr marL="782638" lvl="1" indent="-325438">
              <a:spcBef>
                <a:spcPts val="2600"/>
              </a:spcBef>
            </a:pPr>
            <a:r>
              <a:rPr lang="en-US" dirty="0"/>
              <a:t>Stroke or TIA</a:t>
            </a:r>
            <a:endParaRPr dirty="0"/>
          </a:p>
          <a:p>
            <a:pPr marL="782638" lvl="1" indent="-325438">
              <a:spcBef>
                <a:spcPts val="2600"/>
              </a:spcBef>
            </a:pPr>
            <a:r>
              <a:rPr lang="en-US" dirty="0"/>
              <a:t>Diabetes or glucose intolerance</a:t>
            </a:r>
            <a:endParaRPr dirty="0"/>
          </a:p>
          <a:p>
            <a:pPr marL="782638" lvl="1" indent="-325438">
              <a:spcBef>
                <a:spcPts val="2600"/>
              </a:spcBef>
            </a:pPr>
            <a:r>
              <a:rPr lang="en-US" dirty="0"/>
              <a:t>Peripheral arterial disease</a:t>
            </a:r>
            <a:endParaRPr dirty="0"/>
          </a:p>
          <a:p>
            <a:pPr marL="782638" lvl="1" indent="-122237">
              <a:buNone/>
            </a:pPr>
            <a:endParaRPr dirty="0"/>
          </a:p>
          <a:p>
            <a:pPr marL="782638" lvl="1" indent="-147637">
              <a:buSzPts val="2800"/>
              <a:buNone/>
            </a:pPr>
            <a:endParaRPr sz="2800" dirty="0"/>
          </a:p>
          <a:p>
            <a:pPr marL="782638" lvl="1" indent="-147637">
              <a:buSzPts val="2800"/>
              <a:buNone/>
            </a:pPr>
            <a:endParaRPr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100"/>
          <p:cNvSpPr txBox="1">
            <a:spLocks noGrp="1"/>
          </p:cNvSpPr>
          <p:nvPr>
            <p:ph type="title"/>
          </p:nvPr>
        </p:nvSpPr>
        <p:spPr>
          <a:xfrm>
            <a:off x="1981200" y="76200"/>
            <a:ext cx="8229600" cy="441960"/>
          </a:xfrm>
          <a:prstGeom prst="rect">
            <a:avLst/>
          </a:prstGeom>
          <a:noFill/>
          <a:ln>
            <a:noFill/>
          </a:ln>
        </p:spPr>
        <p:txBody>
          <a:bodyPr spcFirstLastPara="1" wrap="square" lIns="50800" tIns="50800" rIns="50800" bIns="50800" anchor="ctr" anchorCtr="0">
            <a:noAutofit/>
          </a:bodyPr>
          <a:lstStyle/>
          <a:p>
            <a:r>
              <a:rPr lang="en-US" dirty="0"/>
              <a:t>History in the Diagnosis of HTN</a:t>
            </a:r>
            <a:endParaRPr dirty="0"/>
          </a:p>
        </p:txBody>
      </p:sp>
      <p:sp>
        <p:nvSpPr>
          <p:cNvPr id="811" name="Google Shape;811;p100"/>
          <p:cNvSpPr txBox="1">
            <a:spLocks noGrp="1"/>
          </p:cNvSpPr>
          <p:nvPr>
            <p:ph type="body" idx="1"/>
          </p:nvPr>
        </p:nvSpPr>
        <p:spPr>
          <a:xfrm>
            <a:off x="447040" y="647700"/>
            <a:ext cx="11582399" cy="55626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End organ damage may also be present on diagnostic studies or uncovered by history:</a:t>
            </a:r>
            <a:endParaRPr sz="2800" b="1" dirty="0"/>
          </a:p>
          <a:p>
            <a:pPr marL="782638" lvl="1" indent="-325438"/>
            <a:r>
              <a:rPr lang="en-US" sz="2800" b="1" dirty="0"/>
              <a:t>Heart</a:t>
            </a:r>
            <a:r>
              <a:rPr lang="en-US" sz="2800" dirty="0"/>
              <a:t>: chest pain, sob, fatigue, leg swelling? </a:t>
            </a:r>
          </a:p>
          <a:p>
            <a:pPr marL="457200" lvl="1" indent="0">
              <a:buNone/>
            </a:pPr>
            <a:r>
              <a:rPr lang="en-US" sz="2800" dirty="0"/>
              <a:t>	Eval for left ventricular hypertrophy, diastolic dysfunction, systolic       	dysfunction, wall motion abnormalities on EKG or echocardiogram</a:t>
            </a:r>
            <a:endParaRPr sz="2800" dirty="0"/>
          </a:p>
          <a:p>
            <a:pPr marL="782638" lvl="1" indent="-325438"/>
            <a:r>
              <a:rPr lang="en-US" sz="2800" b="1" dirty="0"/>
              <a:t>Brain</a:t>
            </a:r>
            <a:r>
              <a:rPr lang="en-US" sz="2800" dirty="0"/>
              <a:t>: headaches?</a:t>
            </a:r>
          </a:p>
          <a:p>
            <a:pPr marL="457200" lvl="1" indent="0">
              <a:buNone/>
            </a:pPr>
            <a:r>
              <a:rPr lang="en-US" sz="2800" dirty="0"/>
              <a:t>	Cerebral atrophy greater than expected for age on CT or MRI, dementia</a:t>
            </a:r>
            <a:endParaRPr sz="2800" dirty="0"/>
          </a:p>
          <a:p>
            <a:pPr marL="782638" lvl="1" indent="-325438"/>
            <a:r>
              <a:rPr lang="en-US" sz="2800" b="1" dirty="0"/>
              <a:t>Chronic kidney disease: </a:t>
            </a:r>
            <a:r>
              <a:rPr lang="en-US" sz="2800" dirty="0"/>
              <a:t>Oliguria, Anuria, hematuria, flank pain?</a:t>
            </a:r>
            <a:r>
              <a:rPr lang="en-US" sz="2800" b="1" dirty="0"/>
              <a:t> </a:t>
            </a:r>
          </a:p>
          <a:p>
            <a:pPr marL="457200" lvl="1" indent="0">
              <a:buNone/>
            </a:pPr>
            <a:r>
              <a:rPr lang="en-US" sz="2800" b="1" dirty="0"/>
              <a:t>	</a:t>
            </a:r>
            <a:r>
              <a:rPr lang="en-US" sz="2800" dirty="0"/>
              <a:t>Routine labs</a:t>
            </a:r>
            <a:endParaRPr sz="2800" dirty="0"/>
          </a:p>
          <a:p>
            <a:pPr marL="782638" lvl="1" indent="-325438"/>
            <a:r>
              <a:rPr lang="en-US" sz="2800" b="1" dirty="0"/>
              <a:t>Vasculature: </a:t>
            </a:r>
            <a:r>
              <a:rPr lang="en-US" sz="2800" dirty="0"/>
              <a:t>extremity pain, hair loss, pallor, cool? </a:t>
            </a:r>
          </a:p>
          <a:p>
            <a:pPr marL="457200" lvl="1" indent="0">
              <a:buNone/>
            </a:pPr>
            <a:r>
              <a:rPr lang="en-US" sz="2800" dirty="0"/>
              <a:t>	Peripheral arterial disease</a:t>
            </a:r>
            <a:endParaRPr sz="2800" dirty="0"/>
          </a:p>
          <a:p>
            <a:pPr marL="782638" lvl="1" indent="-325438"/>
            <a:r>
              <a:rPr lang="en-US" sz="2800" b="1" dirty="0"/>
              <a:t>Eye: </a:t>
            </a:r>
            <a:r>
              <a:rPr lang="en-US" sz="2800" dirty="0"/>
              <a:t>retinopathy</a:t>
            </a:r>
            <a:endParaRPr sz="2800" dirty="0"/>
          </a:p>
          <a:p>
            <a:pPr marL="0" indent="0">
              <a:buSzPts val="2700"/>
              <a:buNone/>
            </a:pPr>
            <a:endParaRPr sz="2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47F6-0E12-D847-13CF-B16C28F2706D}"/>
              </a:ext>
            </a:extLst>
          </p:cNvPr>
          <p:cNvSpPr>
            <a:spLocks noGrp="1"/>
          </p:cNvSpPr>
          <p:nvPr>
            <p:ph type="title"/>
          </p:nvPr>
        </p:nvSpPr>
        <p:spPr>
          <a:xfrm>
            <a:off x="609600" y="92077"/>
            <a:ext cx="10972800" cy="568324"/>
          </a:xfrm>
        </p:spPr>
        <p:txBody>
          <a:bodyPr/>
          <a:lstStyle/>
          <a:p>
            <a:r>
              <a:rPr lang="en-US" dirty="0"/>
              <a:t>Physical Exam in HTN</a:t>
            </a:r>
          </a:p>
        </p:txBody>
      </p:sp>
      <p:sp>
        <p:nvSpPr>
          <p:cNvPr id="3" name="Text Placeholder 2">
            <a:extLst>
              <a:ext uri="{FF2B5EF4-FFF2-40B4-BE49-F238E27FC236}">
                <a16:creationId xmlns:a16="http://schemas.microsoft.com/office/drawing/2014/main" id="{B2BD18C5-48B0-6D89-5BD2-A17062DFC143}"/>
              </a:ext>
            </a:extLst>
          </p:cNvPr>
          <p:cNvSpPr>
            <a:spLocks noGrp="1"/>
          </p:cNvSpPr>
          <p:nvPr>
            <p:ph type="body" idx="1"/>
          </p:nvPr>
        </p:nvSpPr>
        <p:spPr>
          <a:xfrm>
            <a:off x="243840" y="660401"/>
            <a:ext cx="11765280" cy="4525963"/>
          </a:xfrm>
        </p:spPr>
        <p:txBody>
          <a:bodyPr/>
          <a:lstStyle/>
          <a:p>
            <a:r>
              <a:rPr lang="en-US" sz="2600" dirty="0"/>
              <a:t>Vitals: BP, height, weight, waist circumference</a:t>
            </a:r>
          </a:p>
          <a:p>
            <a:r>
              <a:rPr lang="en-US" sz="2600" dirty="0"/>
              <a:t>Eyes: Cotton wool spots, AV nicking, arteriolar narrowing, hemorrhages, exudate, papilledema</a:t>
            </a:r>
          </a:p>
          <a:p>
            <a:r>
              <a:rPr lang="en-US" sz="2600" dirty="0"/>
              <a:t>Vessels: Palpation and auscultation of pulses</a:t>
            </a:r>
          </a:p>
          <a:p>
            <a:pPr lvl="1"/>
            <a:r>
              <a:rPr lang="en-US" sz="2600" dirty="0"/>
              <a:t>Delay in the femoral pulse when compared to the radial pulse could indicate coarctation of aorta</a:t>
            </a:r>
          </a:p>
          <a:p>
            <a:pPr lvl="1"/>
            <a:r>
              <a:rPr lang="en-US" sz="2600" dirty="0"/>
              <a:t>Weak or absent pedal pulses could indicate PAD</a:t>
            </a:r>
          </a:p>
          <a:p>
            <a:pPr lvl="1"/>
            <a:r>
              <a:rPr lang="en-US" sz="2600" dirty="0"/>
              <a:t>Bruits in carotid, abdomen or femoral could indicate stenosis or atherosclerosis </a:t>
            </a:r>
          </a:p>
          <a:p>
            <a:r>
              <a:rPr lang="en-US" sz="2600" dirty="0"/>
              <a:t>Heart: Inspect and palpate for heaves. Palpate for displaced apical impulse. Auscultate for S4</a:t>
            </a:r>
          </a:p>
          <a:p>
            <a:r>
              <a:rPr lang="en-US" sz="2600" dirty="0"/>
              <a:t>Lungs: Auscultate for rales</a:t>
            </a:r>
          </a:p>
          <a:p>
            <a:r>
              <a:rPr lang="en-US" sz="2600" dirty="0"/>
              <a:t>Brain: Neurologic examination</a:t>
            </a:r>
          </a:p>
        </p:txBody>
      </p:sp>
    </p:spTree>
    <p:extLst>
      <p:ext uri="{BB962C8B-B14F-4D97-AF65-F5344CB8AC3E}">
        <p14:creationId xmlns:p14="http://schemas.microsoft.com/office/powerpoint/2010/main" val="3642779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101"/>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817" name="Google Shape;817;p101"/>
          <p:cNvSpPr txBox="1">
            <a:spLocks noGrp="1"/>
          </p:cNvSpPr>
          <p:nvPr>
            <p:ph type="body" idx="1"/>
          </p:nvPr>
        </p:nvSpPr>
        <p:spPr>
          <a:xfrm>
            <a:off x="824947" y="1143000"/>
            <a:ext cx="10754139"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b="1" dirty="0"/>
              <a:t>Following a diagnosis of hypertension, we must also make an assessment of the patients’ cardiovascular risk status.</a:t>
            </a:r>
            <a:endParaRPr dirty="0"/>
          </a:p>
          <a:p>
            <a:pPr marL="782638" lvl="1" indent="-325438"/>
            <a:r>
              <a:rPr lang="en-US" dirty="0"/>
              <a:t>Tobacco use (cigarettes, chewing tobacco)</a:t>
            </a:r>
            <a:endParaRPr sz="1500" dirty="0"/>
          </a:p>
          <a:p>
            <a:pPr marL="782638" lvl="1" indent="-325438"/>
            <a:r>
              <a:rPr lang="en-US" dirty="0"/>
              <a:t>Elevated LDL or low HDL cholesterol</a:t>
            </a:r>
            <a:endParaRPr sz="1500" dirty="0"/>
          </a:p>
          <a:p>
            <a:pPr marL="782638" lvl="1" indent="-325438"/>
            <a:r>
              <a:rPr lang="en-US" dirty="0"/>
              <a:t>Diabetes mellitus</a:t>
            </a:r>
            <a:endParaRPr sz="1500" dirty="0"/>
          </a:p>
          <a:p>
            <a:pPr marL="782638" lvl="1" indent="-325438"/>
            <a:r>
              <a:rPr lang="en-US" dirty="0"/>
              <a:t>Obesity (BMI ≥30 kg/m</a:t>
            </a:r>
            <a:r>
              <a:rPr lang="en-US" baseline="30000" dirty="0"/>
              <a:t>2</a:t>
            </a:r>
            <a:r>
              <a:rPr lang="en-US" dirty="0"/>
              <a:t>) </a:t>
            </a:r>
            <a:endParaRPr sz="1500" dirty="0"/>
          </a:p>
          <a:p>
            <a:pPr marL="782638" lvl="1" indent="-325438"/>
            <a:r>
              <a:rPr lang="en-US" dirty="0"/>
              <a:t>Lack of exercise</a:t>
            </a:r>
            <a:endParaRPr dirty="0"/>
          </a:p>
          <a:p>
            <a:pPr marL="457200" lvl="1" indent="0">
              <a:lnSpc>
                <a:spcPct val="80000"/>
              </a:lnSpc>
              <a:buNone/>
            </a:pP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102"/>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823" name="Google Shape;823;p102"/>
          <p:cNvSpPr txBox="1">
            <a:spLocks noGrp="1"/>
          </p:cNvSpPr>
          <p:nvPr>
            <p:ph type="body" idx="1"/>
          </p:nvPr>
        </p:nvSpPr>
        <p:spPr>
          <a:xfrm>
            <a:off x="775251" y="1143000"/>
            <a:ext cx="10684565"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b="1" dirty="0"/>
              <a:t>Assessment of a patient’s cardiovascular risk status</a:t>
            </a:r>
            <a:endParaRPr dirty="0"/>
          </a:p>
          <a:p>
            <a:pPr marL="782638" lvl="1" indent="-325438"/>
            <a:r>
              <a:rPr lang="en-US" dirty="0"/>
              <a:t>Age &gt;55 years for men or &gt;65 years for women: increased risk begins at the respective ages</a:t>
            </a:r>
            <a:endParaRPr dirty="0"/>
          </a:p>
          <a:p>
            <a:pPr marL="782638" lvl="1" indent="-293688">
              <a:buSzPts val="500"/>
              <a:buNone/>
            </a:pPr>
            <a:endParaRPr sz="500" dirty="0"/>
          </a:p>
          <a:p>
            <a:pPr marL="782638" lvl="1" indent="-325438"/>
            <a:r>
              <a:rPr lang="en-US" dirty="0"/>
              <a:t>Estimated GFR &lt; 60 mL/min (stage III CKD)</a:t>
            </a:r>
            <a:endParaRPr dirty="0"/>
          </a:p>
          <a:p>
            <a:pPr marL="782638" lvl="1" indent="-293688">
              <a:buSzPts val="500"/>
              <a:buNone/>
            </a:pPr>
            <a:endParaRPr sz="500" dirty="0"/>
          </a:p>
          <a:p>
            <a:pPr marL="782638" lvl="1" indent="-325438"/>
            <a:r>
              <a:rPr lang="en-US" dirty="0"/>
              <a:t>Microalbuminuria: spot urine protein to creatinine ratio</a:t>
            </a:r>
            <a:endParaRPr dirty="0"/>
          </a:p>
          <a:p>
            <a:pPr marL="782638" lvl="1" indent="-293688">
              <a:buSzPts val="500"/>
              <a:buNone/>
            </a:pPr>
            <a:endParaRPr sz="500" dirty="0"/>
          </a:p>
          <a:p>
            <a:pPr marL="782638" lvl="1" indent="-325438"/>
            <a:r>
              <a:rPr lang="en-US" dirty="0"/>
              <a:t>Family history of premature CAD (male relatives &lt; 55; female relatives &lt; 65 </a:t>
            </a:r>
            <a:r>
              <a:rPr lang="en-US" dirty="0" err="1"/>
              <a:t>yrs</a:t>
            </a:r>
            <a:r>
              <a:rPr lang="en-US" dirty="0"/>
              <a:t>)</a:t>
            </a:r>
            <a:endParaRPr dirty="0"/>
          </a:p>
          <a:p>
            <a:pPr marL="782638" lvl="1" indent="-122237">
              <a:lnSpc>
                <a:spcPct val="80000"/>
              </a:lnSpc>
              <a:buNone/>
            </a:pP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03"/>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829" name="Google Shape;829;p103"/>
          <p:cNvSpPr txBox="1">
            <a:spLocks noGrp="1"/>
          </p:cNvSpPr>
          <p:nvPr>
            <p:ph type="body" idx="1"/>
          </p:nvPr>
        </p:nvSpPr>
        <p:spPr>
          <a:xfrm>
            <a:off x="844825" y="1066800"/>
            <a:ext cx="10734261" cy="56388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b="1" dirty="0"/>
              <a:t>We must also exclude secondary causes of hypertension</a:t>
            </a:r>
            <a:endParaRPr dirty="0"/>
          </a:p>
          <a:p>
            <a:pPr marL="782638" lvl="1" indent="-325438"/>
            <a:r>
              <a:rPr lang="en-US" dirty="0"/>
              <a:t>OTC meds, oral contraceptives, EtOH and illicit drugs (meth, cocaine)</a:t>
            </a:r>
            <a:endParaRPr dirty="0"/>
          </a:p>
          <a:p>
            <a:pPr marL="782638" lvl="1" indent="-198437">
              <a:buSzPts val="2000"/>
              <a:buNone/>
            </a:pPr>
            <a:endParaRPr sz="2000" dirty="0"/>
          </a:p>
          <a:p>
            <a:pPr marL="782638" lvl="1" indent="-325438"/>
            <a:r>
              <a:rPr lang="en-US" dirty="0"/>
              <a:t>Elevated creatinine, abdominal masses or bruits, anemia suggests </a:t>
            </a:r>
            <a:r>
              <a:rPr lang="en-US" b="1" dirty="0"/>
              <a:t>CKD or RAS</a:t>
            </a:r>
            <a:r>
              <a:rPr lang="en-US" dirty="0"/>
              <a:t> </a:t>
            </a:r>
            <a:endParaRPr dirty="0"/>
          </a:p>
          <a:p>
            <a:pPr marL="782638" lvl="1" indent="-198437">
              <a:buSzPts val="2000"/>
              <a:buNone/>
            </a:pPr>
            <a:endParaRPr sz="2000" dirty="0"/>
          </a:p>
          <a:p>
            <a:pPr marL="782638" lvl="1" indent="-325438"/>
            <a:r>
              <a:rPr lang="en-US" dirty="0"/>
              <a:t>Episodes of sweating, labile hypertension, HA and palpitations suggests </a:t>
            </a:r>
            <a:r>
              <a:rPr lang="en-US" b="1" dirty="0"/>
              <a:t>pheochromocytoma</a:t>
            </a:r>
            <a:r>
              <a:rPr lang="en-US" dirty="0"/>
              <a:t>. </a:t>
            </a:r>
            <a:endParaRPr dirty="0"/>
          </a:p>
          <a:p>
            <a:pPr marL="782638" lvl="1" indent="-261937">
              <a:buSzPts val="1000"/>
              <a:buNone/>
            </a:pPr>
            <a:endParaRPr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104"/>
          <p:cNvSpPr txBox="1">
            <a:spLocks noGrp="1"/>
          </p:cNvSpPr>
          <p:nvPr>
            <p:ph type="title"/>
          </p:nvPr>
        </p:nvSpPr>
        <p:spPr>
          <a:xfrm>
            <a:off x="1981200" y="76200"/>
            <a:ext cx="8229600" cy="990600"/>
          </a:xfrm>
          <a:prstGeom prst="rect">
            <a:avLst/>
          </a:prstGeom>
          <a:noFill/>
          <a:ln>
            <a:noFill/>
          </a:ln>
        </p:spPr>
        <p:txBody>
          <a:bodyPr spcFirstLastPara="1" wrap="square" lIns="50800" tIns="50800" rIns="50800" bIns="50800" anchor="ctr" anchorCtr="0">
            <a:noAutofit/>
          </a:bodyPr>
          <a:lstStyle/>
          <a:p>
            <a:r>
              <a:rPr lang="en-US"/>
              <a:t>History in the Diagnosis of HTN</a:t>
            </a:r>
            <a:endParaRPr/>
          </a:p>
        </p:txBody>
      </p:sp>
      <p:sp>
        <p:nvSpPr>
          <p:cNvPr id="835" name="Google Shape;835;p104"/>
          <p:cNvSpPr txBox="1">
            <a:spLocks noGrp="1"/>
          </p:cNvSpPr>
          <p:nvPr>
            <p:ph type="body" idx="1"/>
          </p:nvPr>
        </p:nvSpPr>
        <p:spPr>
          <a:xfrm>
            <a:off x="596347" y="1066800"/>
            <a:ext cx="10962861" cy="56388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b="1" dirty="0"/>
              <a:t>We must also exclude secondary causes of hypertension</a:t>
            </a:r>
            <a:endParaRPr sz="1000" dirty="0"/>
          </a:p>
          <a:p>
            <a:pPr marL="782638" lvl="1" indent="-325438"/>
            <a:r>
              <a:rPr lang="en-US" dirty="0"/>
              <a:t>H/o cold or heat tolerance, sweating, lack of energy, and bradycardia or tachycardia may indicate </a:t>
            </a:r>
            <a:r>
              <a:rPr lang="en-US" b="1" dirty="0"/>
              <a:t>thyroid disease</a:t>
            </a:r>
            <a:r>
              <a:rPr lang="en-US" dirty="0"/>
              <a:t>. </a:t>
            </a:r>
            <a:endParaRPr dirty="0"/>
          </a:p>
          <a:p>
            <a:pPr marL="782638" lvl="1" indent="-198437">
              <a:buSzPts val="2000"/>
              <a:buNone/>
            </a:pPr>
            <a:endParaRPr sz="2000" dirty="0"/>
          </a:p>
          <a:p>
            <a:pPr marL="782638" lvl="1" indent="-325438"/>
            <a:r>
              <a:rPr lang="en-US" dirty="0"/>
              <a:t>A history of </a:t>
            </a:r>
            <a:r>
              <a:rPr lang="en-US" b="1" dirty="0"/>
              <a:t>obstructive sleep apnea</a:t>
            </a:r>
            <a:r>
              <a:rPr lang="en-US" dirty="0"/>
              <a:t>, heavy snoring, daytime sleepiness</a:t>
            </a:r>
            <a:endParaRPr dirty="0"/>
          </a:p>
          <a:p>
            <a:pPr marL="782638" lvl="1" indent="-198437">
              <a:buSzPts val="2000"/>
              <a:buNone/>
            </a:pPr>
            <a:endParaRPr sz="2000" dirty="0"/>
          </a:p>
          <a:p>
            <a:pPr marL="782638" lvl="1" indent="-325438"/>
            <a:r>
              <a:rPr lang="en-US" dirty="0"/>
              <a:t>A history of generalized weakness coupled with hypokalemia suggests </a:t>
            </a:r>
            <a:r>
              <a:rPr lang="en-US" b="1" dirty="0"/>
              <a:t>hyperaldosteronism</a:t>
            </a:r>
            <a:r>
              <a:rPr lang="en-US" dirty="0"/>
              <a:t>. </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05"/>
          <p:cNvSpPr txBox="1">
            <a:spLocks noGrp="1"/>
          </p:cNvSpPr>
          <p:nvPr>
            <p:ph type="title"/>
          </p:nvPr>
        </p:nvSpPr>
        <p:spPr>
          <a:xfrm>
            <a:off x="1981200" y="92076"/>
            <a:ext cx="8229600" cy="1050925"/>
          </a:xfrm>
          <a:prstGeom prst="rect">
            <a:avLst/>
          </a:prstGeom>
          <a:noFill/>
          <a:ln>
            <a:noFill/>
          </a:ln>
        </p:spPr>
        <p:txBody>
          <a:bodyPr spcFirstLastPara="1" wrap="square" lIns="50800" tIns="50800" rIns="50800" bIns="50800" anchor="ctr" anchorCtr="0">
            <a:noAutofit/>
          </a:bodyPr>
          <a:lstStyle/>
          <a:p>
            <a:r>
              <a:rPr lang="en-US" dirty="0"/>
              <a:t>Screening for </a:t>
            </a:r>
            <a:r>
              <a:rPr lang="en-US" u="sng" dirty="0"/>
              <a:t>Secondary</a:t>
            </a:r>
            <a:r>
              <a:rPr lang="en-US" dirty="0"/>
              <a:t> HTN</a:t>
            </a:r>
            <a:endParaRPr dirty="0"/>
          </a:p>
        </p:txBody>
      </p:sp>
      <p:sp>
        <p:nvSpPr>
          <p:cNvPr id="841" name="Google Shape;841;p105"/>
          <p:cNvSpPr txBox="1">
            <a:spLocks noGrp="1"/>
          </p:cNvSpPr>
          <p:nvPr>
            <p:ph type="body" idx="1"/>
          </p:nvPr>
        </p:nvSpPr>
        <p:spPr>
          <a:xfrm>
            <a:off x="874643" y="1219200"/>
            <a:ext cx="10764079" cy="54102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Testing is expensive and requires clinical suspicion and knowledge of limitations of different tests</a:t>
            </a:r>
            <a:endParaRPr dirty="0"/>
          </a:p>
          <a:p>
            <a:pPr marL="342900" indent="-342900"/>
            <a:r>
              <a:rPr lang="en-US" b="1" i="1" dirty="0"/>
              <a:t>When to screen</a:t>
            </a:r>
            <a:r>
              <a:rPr lang="en-US" dirty="0"/>
              <a:t>:</a:t>
            </a:r>
            <a:endParaRPr dirty="0"/>
          </a:p>
          <a:p>
            <a:pPr marL="782638" lvl="1" indent="-325438"/>
            <a:r>
              <a:rPr lang="en-US" b="1" i="1" dirty="0"/>
              <a:t>New onset HTN if younger than 20-25 years old</a:t>
            </a:r>
          </a:p>
          <a:p>
            <a:pPr marL="1239838" lvl="2" indent="-325438"/>
            <a:r>
              <a:rPr lang="en-US" b="1" i="1" dirty="0"/>
              <a:t>Can occur at younger age in black patients</a:t>
            </a:r>
            <a:endParaRPr dirty="0"/>
          </a:p>
          <a:p>
            <a:pPr marL="782638" lvl="1" indent="-325438"/>
            <a:r>
              <a:rPr lang="en-US" b="1" i="1" dirty="0"/>
              <a:t>HTN refractory to medical Rx (&gt;3-4 meds)</a:t>
            </a:r>
            <a:endParaRPr dirty="0"/>
          </a:p>
          <a:p>
            <a:pPr marL="782638" lvl="1" indent="-325438"/>
            <a:r>
              <a:rPr lang="en-US" b="1" i="1" dirty="0"/>
              <a:t>Specific clinical/lab features typical for disease</a:t>
            </a:r>
            <a:endParaRPr dirty="0"/>
          </a:p>
          <a:p>
            <a:pPr marL="1219200" lvl="2" indent="-304800"/>
            <a:r>
              <a:rPr lang="en-US" dirty="0"/>
              <a:t>Persistent hypokalemia, epigastric bruits, different BP in arms, episodic HTN/flushing/palpitations, </a:t>
            </a:r>
            <a:r>
              <a:rPr lang="en-US" dirty="0" err="1"/>
              <a:t>etc</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106"/>
          <p:cNvSpPr txBox="1">
            <a:spLocks noGrp="1"/>
          </p:cNvSpPr>
          <p:nvPr>
            <p:ph type="title"/>
          </p:nvPr>
        </p:nvSpPr>
        <p:spPr>
          <a:xfrm>
            <a:off x="1676400" y="92076"/>
            <a:ext cx="8839200" cy="898525"/>
          </a:xfrm>
          <a:prstGeom prst="rect">
            <a:avLst/>
          </a:prstGeom>
          <a:noFill/>
          <a:ln>
            <a:noFill/>
          </a:ln>
        </p:spPr>
        <p:txBody>
          <a:bodyPr spcFirstLastPara="1" wrap="square" lIns="50800" tIns="50800" rIns="50800" bIns="50800" anchor="ctr" anchorCtr="0">
            <a:noAutofit/>
          </a:bodyPr>
          <a:lstStyle/>
          <a:p>
            <a:r>
              <a:rPr lang="en-US"/>
              <a:t>Causes of Drug Induced Hypertension</a:t>
            </a:r>
            <a:endParaRPr/>
          </a:p>
        </p:txBody>
      </p:sp>
      <p:sp>
        <p:nvSpPr>
          <p:cNvPr id="847" name="Google Shape;847;p106"/>
          <p:cNvSpPr txBox="1">
            <a:spLocks noGrp="1"/>
          </p:cNvSpPr>
          <p:nvPr>
            <p:ph type="body" idx="1"/>
          </p:nvPr>
        </p:nvSpPr>
        <p:spPr>
          <a:xfrm>
            <a:off x="1676400" y="1143000"/>
            <a:ext cx="3733800" cy="5486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u="sng" dirty="0"/>
              <a:t>Prescription drugs</a:t>
            </a:r>
            <a:r>
              <a:rPr lang="en-US" dirty="0"/>
              <a:t>:</a:t>
            </a:r>
            <a:endParaRPr dirty="0"/>
          </a:p>
          <a:p>
            <a:pPr marL="782638" lvl="1" indent="-325438">
              <a:buSzPts val="2800"/>
            </a:pPr>
            <a:r>
              <a:rPr lang="en-US" sz="2800" b="1" dirty="0"/>
              <a:t>NSAIDs</a:t>
            </a:r>
            <a:r>
              <a:rPr lang="en-US" sz="2800" dirty="0"/>
              <a:t>, COX-2 inhibitors</a:t>
            </a:r>
            <a:endParaRPr dirty="0"/>
          </a:p>
          <a:p>
            <a:pPr marL="782638" lvl="1" indent="-325438">
              <a:buSzPts val="2800"/>
            </a:pPr>
            <a:r>
              <a:rPr lang="en-US" sz="2800" b="1" dirty="0"/>
              <a:t>Psych meds </a:t>
            </a:r>
            <a:r>
              <a:rPr lang="en-US" sz="2800" dirty="0"/>
              <a:t>(SSNRI, tricyclic antidepressants)</a:t>
            </a:r>
            <a:endParaRPr dirty="0"/>
          </a:p>
          <a:p>
            <a:pPr marL="782638" lvl="1" indent="-325438">
              <a:buSzPts val="2800"/>
            </a:pPr>
            <a:r>
              <a:rPr lang="en-US" sz="2800" dirty="0"/>
              <a:t>Carbamazepine</a:t>
            </a:r>
            <a:endParaRPr dirty="0"/>
          </a:p>
          <a:p>
            <a:pPr marL="782638" lvl="1" indent="-325438">
              <a:buSzPts val="2800"/>
            </a:pPr>
            <a:r>
              <a:rPr lang="en-US" sz="2800" dirty="0"/>
              <a:t>Metoclopramide</a:t>
            </a:r>
            <a:endParaRPr dirty="0"/>
          </a:p>
          <a:p>
            <a:pPr marL="782638" lvl="1" indent="-325438">
              <a:buSzPts val="2800"/>
            </a:pPr>
            <a:r>
              <a:rPr lang="en-US" sz="2800" dirty="0"/>
              <a:t>Migraine meds</a:t>
            </a:r>
            <a:endParaRPr dirty="0"/>
          </a:p>
          <a:p>
            <a:pPr marL="782638" lvl="1" indent="-325438">
              <a:buSzPts val="2800"/>
            </a:pPr>
            <a:r>
              <a:rPr lang="en-US" sz="2800" b="1" dirty="0"/>
              <a:t>High dose OCs</a:t>
            </a:r>
            <a:endParaRPr dirty="0"/>
          </a:p>
          <a:p>
            <a:pPr marL="782638" lvl="1" indent="-325438">
              <a:buSzPts val="2800"/>
            </a:pPr>
            <a:r>
              <a:rPr lang="en-US" sz="2800" b="1" dirty="0"/>
              <a:t>Pseudoephedrine</a:t>
            </a:r>
            <a:endParaRPr dirty="0"/>
          </a:p>
        </p:txBody>
      </p:sp>
      <p:sp>
        <p:nvSpPr>
          <p:cNvPr id="848" name="Google Shape;848;p106"/>
          <p:cNvSpPr txBox="1">
            <a:spLocks noGrp="1"/>
          </p:cNvSpPr>
          <p:nvPr>
            <p:ph type="body" idx="2"/>
          </p:nvPr>
        </p:nvSpPr>
        <p:spPr>
          <a:xfrm>
            <a:off x="5181600" y="1143000"/>
            <a:ext cx="5334000" cy="5486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u="sng" dirty="0"/>
              <a:t>Situations with prescription drugs</a:t>
            </a:r>
            <a:endParaRPr dirty="0"/>
          </a:p>
          <a:p>
            <a:pPr marL="782638" lvl="1" indent="-325438">
              <a:buSzPts val="2800"/>
            </a:pPr>
            <a:r>
              <a:rPr lang="en-US" sz="2800" dirty="0"/>
              <a:t>Abrupt d/c of β-blocker or centrally acting α-agonists </a:t>
            </a:r>
            <a:endParaRPr dirty="0"/>
          </a:p>
          <a:p>
            <a:pPr marL="782638" lvl="1" indent="-325438">
              <a:buSzPts val="2800"/>
            </a:pPr>
            <a:r>
              <a:rPr lang="en-US" sz="2800" b="1" dirty="0"/>
              <a:t>β-blocker without α-blocker first when treating cocaine- induced HTN or </a:t>
            </a:r>
            <a:r>
              <a:rPr lang="en-US" sz="2800" b="1" dirty="0" err="1"/>
              <a:t>pheo</a:t>
            </a:r>
            <a:endParaRPr dirty="0"/>
          </a:p>
          <a:p>
            <a:pPr marL="342900" indent="-342900"/>
            <a:r>
              <a:rPr lang="en-US" u="sng" dirty="0"/>
              <a:t>Food substances</a:t>
            </a:r>
            <a:r>
              <a:rPr lang="en-US" dirty="0"/>
              <a:t>:  </a:t>
            </a:r>
            <a:endParaRPr dirty="0"/>
          </a:p>
          <a:p>
            <a:pPr marL="782638" lvl="1" indent="-325438">
              <a:buSzPts val="2800"/>
            </a:pPr>
            <a:r>
              <a:rPr lang="en-US" sz="2800" b="1" dirty="0"/>
              <a:t>Sodium</a:t>
            </a:r>
            <a:endParaRPr dirty="0"/>
          </a:p>
          <a:p>
            <a:pPr marL="782638" lvl="1" indent="-325438">
              <a:buSzPts val="2800"/>
            </a:pPr>
            <a:r>
              <a:rPr lang="en-US" sz="2800" b="1" dirty="0"/>
              <a:t>Ethanol</a:t>
            </a:r>
            <a:r>
              <a:rPr lang="en-US" sz="2800" dirty="0"/>
              <a:t> </a:t>
            </a:r>
            <a:endParaRPr dirty="0"/>
          </a:p>
          <a:p>
            <a:pPr marL="782638" lvl="1" indent="-325438">
              <a:buSzPts val="2800"/>
            </a:pPr>
            <a:r>
              <a:rPr lang="en-US" sz="2800" dirty="0"/>
              <a:t>Black licorice</a:t>
            </a:r>
            <a:endParaRPr dirty="0"/>
          </a:p>
          <a:p>
            <a:pPr marL="342900" indent="-165100">
              <a:buNone/>
            </a:pP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107"/>
          <p:cNvSpPr txBox="1">
            <a:spLocks noGrp="1"/>
          </p:cNvSpPr>
          <p:nvPr>
            <p:ph type="body" idx="1"/>
          </p:nvPr>
        </p:nvSpPr>
        <p:spPr>
          <a:xfrm>
            <a:off x="1905000" y="1752600"/>
            <a:ext cx="4267200" cy="4876800"/>
          </a:xfrm>
          <a:prstGeom prst="rect">
            <a:avLst/>
          </a:prstGeom>
          <a:noFill/>
          <a:ln>
            <a:noFill/>
          </a:ln>
        </p:spPr>
        <p:txBody>
          <a:bodyPr spcFirstLastPara="1" wrap="square" lIns="91425" tIns="45700" rIns="91425" bIns="45700" anchor="t" anchorCtr="0">
            <a:noAutofit/>
          </a:bodyPr>
          <a:lstStyle/>
          <a:p>
            <a:pPr marL="782638" lvl="1" indent="-325438">
              <a:spcBef>
                <a:spcPts val="0"/>
              </a:spcBef>
              <a:buSzPts val="2800"/>
            </a:pPr>
            <a:r>
              <a:rPr lang="en-US" sz="2800" b="1" dirty="0"/>
              <a:t>cocaine</a:t>
            </a:r>
            <a:endParaRPr dirty="0"/>
          </a:p>
          <a:p>
            <a:pPr marL="782638" lvl="1" indent="-325438">
              <a:buSzPts val="2800"/>
            </a:pPr>
            <a:r>
              <a:rPr lang="en-US" sz="2800" b="1" dirty="0"/>
              <a:t>cocaine withdrawal</a:t>
            </a:r>
            <a:endParaRPr dirty="0"/>
          </a:p>
          <a:p>
            <a:pPr marL="782638" lvl="1" indent="-325438">
              <a:buSzPts val="2800"/>
            </a:pPr>
            <a:r>
              <a:rPr lang="en-US" sz="2800" dirty="0"/>
              <a:t>ephedra alkaloids     (e.g., ma-</a:t>
            </a:r>
            <a:r>
              <a:rPr lang="en-US" sz="2800" dirty="0" err="1"/>
              <a:t>huang</a:t>
            </a:r>
            <a:r>
              <a:rPr lang="en-US" sz="2800" dirty="0"/>
              <a:t>)</a:t>
            </a:r>
            <a:endParaRPr dirty="0"/>
          </a:p>
          <a:p>
            <a:pPr marL="782638" lvl="1" indent="-325438">
              <a:buSzPts val="2800"/>
            </a:pPr>
            <a:r>
              <a:rPr lang="en-US" sz="2800" dirty="0"/>
              <a:t>“herbal ecstasy”</a:t>
            </a:r>
            <a:endParaRPr sz="2800" dirty="0"/>
          </a:p>
          <a:p>
            <a:pPr marL="782638" lvl="1" indent="-325438">
              <a:buSzPts val="2800"/>
            </a:pPr>
            <a:r>
              <a:rPr lang="en-US" sz="2800" dirty="0"/>
              <a:t>phenylpropanolamine analogs</a:t>
            </a:r>
            <a:endParaRPr dirty="0"/>
          </a:p>
          <a:p>
            <a:pPr marL="782638" lvl="1" indent="-325438">
              <a:buSzPts val="2800"/>
            </a:pPr>
            <a:r>
              <a:rPr lang="en-US" sz="2800" dirty="0"/>
              <a:t>nicotine withdrawal</a:t>
            </a:r>
            <a:endParaRPr dirty="0"/>
          </a:p>
          <a:p>
            <a:pPr marL="342900" indent="-165100">
              <a:buNone/>
            </a:pPr>
            <a:endParaRPr dirty="0">
              <a:latin typeface="Constantia"/>
              <a:ea typeface="Constantia"/>
              <a:cs typeface="Constantia"/>
              <a:sym typeface="Constantia"/>
            </a:endParaRPr>
          </a:p>
        </p:txBody>
      </p:sp>
      <p:sp>
        <p:nvSpPr>
          <p:cNvPr id="855" name="Google Shape;855;p107"/>
          <p:cNvSpPr txBox="1">
            <a:spLocks noGrp="1"/>
          </p:cNvSpPr>
          <p:nvPr>
            <p:ph type="body" idx="2"/>
          </p:nvPr>
        </p:nvSpPr>
        <p:spPr>
          <a:xfrm>
            <a:off x="6096000" y="1752600"/>
            <a:ext cx="4267200" cy="4876800"/>
          </a:xfrm>
          <a:prstGeom prst="rect">
            <a:avLst/>
          </a:prstGeom>
          <a:noFill/>
          <a:ln>
            <a:noFill/>
          </a:ln>
        </p:spPr>
        <p:txBody>
          <a:bodyPr spcFirstLastPara="1" wrap="square" lIns="91425" tIns="45700" rIns="91425" bIns="45700" anchor="t" anchorCtr="0">
            <a:noAutofit/>
          </a:bodyPr>
          <a:lstStyle/>
          <a:p>
            <a:pPr marL="782638" lvl="1" indent="-325438">
              <a:spcBef>
                <a:spcPts val="0"/>
              </a:spcBef>
              <a:buSzPts val="2800"/>
            </a:pPr>
            <a:r>
              <a:rPr lang="en-US" sz="2800" dirty="0"/>
              <a:t>anabolic steroids</a:t>
            </a:r>
            <a:endParaRPr dirty="0"/>
          </a:p>
          <a:p>
            <a:pPr marL="782638" lvl="1" indent="-325438">
              <a:buSzPts val="2800"/>
            </a:pPr>
            <a:r>
              <a:rPr lang="en-US" sz="2800" b="1" dirty="0"/>
              <a:t>narcotic withdrawal</a:t>
            </a:r>
            <a:endParaRPr dirty="0"/>
          </a:p>
          <a:p>
            <a:pPr marL="782638" lvl="1" indent="-325438">
              <a:buSzPts val="2800"/>
            </a:pPr>
            <a:r>
              <a:rPr lang="en-US" sz="2800" dirty="0"/>
              <a:t>methylphenidate</a:t>
            </a:r>
            <a:endParaRPr dirty="0"/>
          </a:p>
          <a:p>
            <a:pPr marL="782638" lvl="1" indent="-325438">
              <a:buSzPts val="2800"/>
            </a:pPr>
            <a:r>
              <a:rPr lang="en-US" sz="2800" dirty="0"/>
              <a:t>phencyclidine</a:t>
            </a:r>
            <a:endParaRPr dirty="0"/>
          </a:p>
          <a:p>
            <a:pPr marL="782638" lvl="1" indent="-325438">
              <a:buSzPts val="2800"/>
            </a:pPr>
            <a:r>
              <a:rPr lang="en-US" sz="2800" dirty="0"/>
              <a:t>ketamine</a:t>
            </a:r>
            <a:endParaRPr dirty="0"/>
          </a:p>
          <a:p>
            <a:pPr marL="782638" lvl="1" indent="-325438">
              <a:buSzPts val="2800"/>
            </a:pPr>
            <a:r>
              <a:rPr lang="en-US" sz="2800" dirty="0"/>
              <a:t>ergot-containing herbal products</a:t>
            </a:r>
            <a:endParaRPr dirty="0"/>
          </a:p>
          <a:p>
            <a:pPr marL="782638" lvl="1" indent="-325438">
              <a:buSzPts val="2800"/>
            </a:pPr>
            <a:r>
              <a:rPr lang="en-US" sz="2800" b="1" dirty="0"/>
              <a:t>St. John's wort</a:t>
            </a:r>
            <a:endParaRPr dirty="0"/>
          </a:p>
          <a:p>
            <a:pPr marL="342900" indent="-165100">
              <a:buNone/>
            </a:pPr>
            <a:endParaRPr dirty="0">
              <a:latin typeface="Constantia"/>
              <a:ea typeface="Constantia"/>
              <a:cs typeface="Constantia"/>
              <a:sym typeface="Constantia"/>
            </a:endParaRPr>
          </a:p>
        </p:txBody>
      </p:sp>
      <p:sp>
        <p:nvSpPr>
          <p:cNvPr id="857" name="Google Shape;857;p107"/>
          <p:cNvSpPr txBox="1">
            <a:spLocks noGrp="1"/>
          </p:cNvSpPr>
          <p:nvPr>
            <p:ph type="title"/>
          </p:nvPr>
        </p:nvSpPr>
        <p:spPr>
          <a:xfrm>
            <a:off x="1524000" y="228600"/>
            <a:ext cx="9144000" cy="1614488"/>
          </a:xfrm>
          <a:prstGeom prst="rect">
            <a:avLst/>
          </a:prstGeom>
          <a:noFill/>
          <a:ln>
            <a:noFill/>
          </a:ln>
        </p:spPr>
        <p:txBody>
          <a:bodyPr spcFirstLastPara="1" wrap="square" lIns="50800" tIns="50800" rIns="50800" bIns="50800" anchor="ctr" anchorCtr="0">
            <a:noAutofit/>
          </a:bodyPr>
          <a:lstStyle/>
          <a:p>
            <a:r>
              <a:rPr lang="en-US"/>
              <a:t>Causes of Drug Induced Hypertension</a:t>
            </a:r>
            <a:br>
              <a:rPr lang="en-US"/>
            </a:br>
            <a:r>
              <a:rPr lang="en-US" sz="3000" u="sng"/>
              <a:t>Street drugs, other natural products</a:t>
            </a:r>
            <a:r>
              <a:rPr lang="en-US" sz="3000"/>
              <a:t>:  </a:t>
            </a:r>
            <a:br>
              <a:rPr lang="en-US" sz="3000"/>
            </a:br>
            <a:endParaRPr sz="3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108"/>
          <p:cNvSpPr txBox="1">
            <a:spLocks noGrp="1"/>
          </p:cNvSpPr>
          <p:nvPr>
            <p:ph type="title"/>
          </p:nvPr>
        </p:nvSpPr>
        <p:spPr>
          <a:xfrm>
            <a:off x="1656348" y="76200"/>
            <a:ext cx="8859253" cy="990600"/>
          </a:xfrm>
          <a:prstGeom prst="rect">
            <a:avLst/>
          </a:prstGeom>
          <a:noFill/>
          <a:ln>
            <a:noFill/>
          </a:ln>
        </p:spPr>
        <p:txBody>
          <a:bodyPr spcFirstLastPara="1" wrap="square" lIns="50800" tIns="50800" rIns="50800" bIns="50800" anchor="ctr" anchorCtr="0">
            <a:noAutofit/>
          </a:bodyPr>
          <a:lstStyle/>
          <a:p>
            <a:r>
              <a:rPr lang="en-US" sz="4200" dirty="0"/>
              <a:t>Diagnostic Work-up of New Onset HTN</a:t>
            </a:r>
            <a:endParaRPr sz="4200" dirty="0"/>
          </a:p>
        </p:txBody>
      </p:sp>
      <p:sp>
        <p:nvSpPr>
          <p:cNvPr id="863" name="Google Shape;863;p108"/>
          <p:cNvSpPr txBox="1">
            <a:spLocks noGrp="1"/>
          </p:cNvSpPr>
          <p:nvPr>
            <p:ph type="body" idx="1"/>
          </p:nvPr>
        </p:nvSpPr>
        <p:spPr>
          <a:xfrm>
            <a:off x="735495" y="1143000"/>
            <a:ext cx="10614991" cy="5562600"/>
          </a:xfrm>
          <a:prstGeom prst="rect">
            <a:avLst/>
          </a:prstGeom>
          <a:noFill/>
          <a:ln>
            <a:noFill/>
          </a:ln>
        </p:spPr>
        <p:txBody>
          <a:bodyPr spcFirstLastPara="1" wrap="square" lIns="50800" tIns="50800" rIns="50800" bIns="50800" anchor="t" anchorCtr="0">
            <a:noAutofit/>
          </a:bodyPr>
          <a:lstStyle/>
          <a:p>
            <a:pPr marL="342900" indent="-342900">
              <a:spcBef>
                <a:spcPts val="0"/>
              </a:spcBef>
              <a:buSzPts val="2800"/>
            </a:pPr>
            <a:r>
              <a:rPr lang="en-US" sz="2800" dirty="0"/>
              <a:t>Initial laboratory tests include: </a:t>
            </a:r>
            <a:endParaRPr dirty="0"/>
          </a:p>
          <a:p>
            <a:pPr marL="782638" lvl="1" indent="-325438">
              <a:buSzPts val="2800"/>
            </a:pPr>
            <a:r>
              <a:rPr lang="en-US" sz="2800" b="1" dirty="0"/>
              <a:t>Urinalysis</a:t>
            </a:r>
            <a:r>
              <a:rPr lang="en-US" sz="2800" dirty="0"/>
              <a:t>, looking for protein</a:t>
            </a:r>
            <a:endParaRPr dirty="0"/>
          </a:p>
          <a:p>
            <a:pPr marL="782638" lvl="1" indent="-325438">
              <a:buSzPts val="2800"/>
            </a:pPr>
            <a:r>
              <a:rPr lang="en-US" sz="2800" b="1" dirty="0"/>
              <a:t>Fasting blood glucose </a:t>
            </a:r>
            <a:r>
              <a:rPr lang="en-US" sz="2800" dirty="0"/>
              <a:t>and</a:t>
            </a:r>
            <a:r>
              <a:rPr lang="en-US" sz="2800" b="1" dirty="0"/>
              <a:t> A1c, </a:t>
            </a:r>
            <a:r>
              <a:rPr lang="en-US" sz="2800" dirty="0"/>
              <a:t>looking for diabetes</a:t>
            </a:r>
            <a:endParaRPr dirty="0"/>
          </a:p>
          <a:p>
            <a:pPr marL="782638" lvl="1" indent="-325438">
              <a:buSzPts val="2800"/>
            </a:pPr>
            <a:r>
              <a:rPr lang="en-US" sz="2800" b="1" dirty="0"/>
              <a:t>CBC</a:t>
            </a:r>
            <a:r>
              <a:rPr lang="en-US" sz="2800" dirty="0"/>
              <a:t>: looking at hematocrit </a:t>
            </a:r>
            <a:endParaRPr dirty="0"/>
          </a:p>
          <a:p>
            <a:pPr marL="782638" lvl="1" indent="-325438">
              <a:buSzPts val="2800"/>
            </a:pPr>
            <a:r>
              <a:rPr lang="en-US" sz="2800" b="1" dirty="0"/>
              <a:t>Electrolytes</a:t>
            </a:r>
            <a:r>
              <a:rPr lang="en-US" sz="2800" dirty="0"/>
              <a:t>: serum sodium, potassium, creatinine (estimated glomerular filtration rate-GFR), and calcium</a:t>
            </a:r>
          </a:p>
          <a:p>
            <a:pPr marL="782638" lvl="1" indent="-325438">
              <a:buSzPts val="2800"/>
            </a:pPr>
            <a:r>
              <a:rPr lang="en-US" sz="2800" b="1" dirty="0"/>
              <a:t>TSH</a:t>
            </a:r>
            <a:endParaRPr b="1" dirty="0"/>
          </a:p>
          <a:p>
            <a:pPr marL="782638" lvl="1" indent="-325438">
              <a:buSzPts val="2800"/>
            </a:pPr>
            <a:r>
              <a:rPr lang="en-US" sz="2800" b="1" dirty="0"/>
              <a:t>Fasting lipid profile </a:t>
            </a:r>
            <a:r>
              <a:rPr lang="en-US" sz="2800" dirty="0"/>
              <a:t>following a 12-hour fast (total cholesterol, HDL, LDL cholesterol, and triglycerides).</a:t>
            </a:r>
            <a:endParaRPr dirty="0"/>
          </a:p>
          <a:p>
            <a:pPr marL="782638" lvl="1" indent="-325438">
              <a:buSzPts val="2800"/>
            </a:pPr>
            <a:r>
              <a:rPr lang="en-US" sz="2800" b="1" dirty="0"/>
              <a:t>Baseline EKG to assess for LVH</a:t>
            </a:r>
            <a:r>
              <a:rPr lang="en-US" sz="2800" dirty="0"/>
              <a:t>, consider echo if abnormal</a:t>
            </a:r>
            <a:endParaRPr dirty="0"/>
          </a:p>
        </p:txBody>
      </p:sp>
    </p:spTree>
  </p:cSld>
  <p:clrMapOvr>
    <a:masterClrMapping/>
  </p:clrMapOvr>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 Title and Content">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15980</TotalTime>
  <Words>3524</Words>
  <Application>Microsoft Office PowerPoint</Application>
  <PresentationFormat>Widescreen</PresentationFormat>
  <Paragraphs>488</Paragraphs>
  <Slides>53</Slides>
  <Notes>50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53</vt:i4>
      </vt:variant>
    </vt:vector>
  </HeadingPairs>
  <TitlesOfParts>
    <vt:vector size="59" baseType="lpstr">
      <vt:lpstr>Arial</vt:lpstr>
      <vt:lpstr>Calibri</vt:lpstr>
      <vt:lpstr>Constantia</vt:lpstr>
      <vt:lpstr>Helvetica Neue</vt:lpstr>
      <vt:lpstr>Default - Title Slide</vt:lpstr>
      <vt:lpstr>Default - Title and Content</vt:lpstr>
      <vt:lpstr>HYPERTENSION Part II</vt:lpstr>
      <vt:lpstr>Making the Diagnosis</vt:lpstr>
      <vt:lpstr>Blood Pressure Screening Recommendations</vt:lpstr>
      <vt:lpstr>AHA/ACC Adult Classification of BP </vt:lpstr>
      <vt:lpstr> Making the Diagnosis of HTN</vt:lpstr>
      <vt:lpstr>Measurement of BP- OBPM Technique</vt:lpstr>
      <vt:lpstr>Measurement of BP- OBPM Technique</vt:lpstr>
      <vt:lpstr>Measurement of BP- OBPM Technique</vt:lpstr>
      <vt:lpstr>Measurement of BP-OBPM Technique</vt:lpstr>
      <vt:lpstr>Measurement of BP-OBPM Technique</vt:lpstr>
      <vt:lpstr>Measurement of BP-HBPM Technique</vt:lpstr>
      <vt:lpstr>Measurement of BP-ABPM Technique</vt:lpstr>
      <vt:lpstr>Hypertension Comparable Values</vt:lpstr>
      <vt:lpstr>BP Measurement Techniques</vt:lpstr>
      <vt:lpstr>Elevated BP . . . Now what?</vt:lpstr>
      <vt:lpstr>PowerPoint Presentation</vt:lpstr>
      <vt:lpstr>Making the HTN Diagnosis</vt:lpstr>
      <vt:lpstr>Let’s Practice . . . </vt:lpstr>
      <vt:lpstr>Let’s Practice . . . </vt:lpstr>
      <vt:lpstr>Let’s Practice . . . </vt:lpstr>
      <vt:lpstr>Hypertension Defined</vt:lpstr>
      <vt:lpstr>All Hypertension Is NOT Created Equal Non-Dippers</vt:lpstr>
      <vt:lpstr>All Hypertension Is NOT Created Equal Young vs Old patients</vt:lpstr>
      <vt:lpstr>All Hypertension Is NOT Created Equal Black Patients</vt:lpstr>
      <vt:lpstr>All Hypertension Is NOT Created Equal Black Patients</vt:lpstr>
      <vt:lpstr>HTN Complications A closer look at the pathophysiology surrounding the complications in the heart, brain and kidneys</vt:lpstr>
      <vt:lpstr> Natural History of HTN</vt:lpstr>
      <vt:lpstr>HTN Complications</vt:lpstr>
      <vt:lpstr>Vascular Remodeling of HTN</vt:lpstr>
      <vt:lpstr>Cardiac Pathophysiology of HTN</vt:lpstr>
      <vt:lpstr>Cardiac Pathophysiology of HTN</vt:lpstr>
      <vt:lpstr>Cardiac Pathophysiology of HTN</vt:lpstr>
      <vt:lpstr>Cardiac Pathophysiology of HTN</vt:lpstr>
      <vt:lpstr>Cardiac Pathophysiology of HTN</vt:lpstr>
      <vt:lpstr>Pathophysiology of HTN in the CNS</vt:lpstr>
      <vt:lpstr>Pathophysiology of HTN in the CNS</vt:lpstr>
      <vt:lpstr>Cerebral Autoregulation</vt:lpstr>
      <vt:lpstr>Pathophysiology of HTN in the CNS</vt:lpstr>
      <vt:lpstr>Pathophysiology of HTN in the Kidney</vt:lpstr>
      <vt:lpstr>Pathophysiology of HTN in the Kidney</vt:lpstr>
      <vt:lpstr>History Physical Exam Diagnostics</vt:lpstr>
      <vt:lpstr>History in the Diagnosis of HTN</vt:lpstr>
      <vt:lpstr>History in the Diagnosis of HTN</vt:lpstr>
      <vt:lpstr>History in the Diagnosis of HTN</vt:lpstr>
      <vt:lpstr>Physical Exam in HTN</vt:lpstr>
      <vt:lpstr>History in the Diagnosis of HTN</vt:lpstr>
      <vt:lpstr>History in the Diagnosis of HTN</vt:lpstr>
      <vt:lpstr>History in the Diagnosis of HTN</vt:lpstr>
      <vt:lpstr>History in the Diagnosis of HTN</vt:lpstr>
      <vt:lpstr>Screening for Secondary HTN</vt:lpstr>
      <vt:lpstr>Causes of Drug Induced Hypertension</vt:lpstr>
      <vt:lpstr>Causes of Drug Induced Hypertension Street drugs, other natural products:   </vt:lpstr>
      <vt:lpstr>Diagnostic Work-up of New Onset HTN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HYPERTENSION</dc:title>
  <dc:creator>Gulczinski, Jill-Renae</dc:creator>
  <cp:lastModifiedBy>Veal, Breanna</cp:lastModifiedBy>
  <cp:revision>16</cp:revision>
  <dcterms:modified xsi:type="dcterms:W3CDTF">2026-10-19T17:33:57Z</dcterms:modified>
</cp:coreProperties>
</file>