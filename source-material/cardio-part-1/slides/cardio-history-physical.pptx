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4"/>
    <p:sldMasterId id="2147483721" r:id="rId5"/>
  </p:sldMasterIdLst>
  <p:notesMasterIdLst>
    <p:notesMasterId r:id="rId99"/>
  </p:notesMasterIdLst>
  <p:sldIdLst>
    <p:sldId id="256" r:id="rId6"/>
    <p:sldId id="314" r:id="rId7"/>
    <p:sldId id="261" r:id="rId8"/>
    <p:sldId id="315" r:id="rId9"/>
    <p:sldId id="307" r:id="rId10"/>
    <p:sldId id="308" r:id="rId11"/>
    <p:sldId id="309" r:id="rId12"/>
    <p:sldId id="310" r:id="rId13"/>
    <p:sldId id="311" r:id="rId14"/>
    <p:sldId id="312" r:id="rId15"/>
    <p:sldId id="334" r:id="rId16"/>
    <p:sldId id="313" r:id="rId17"/>
    <p:sldId id="335" r:id="rId18"/>
    <p:sldId id="263" r:id="rId19"/>
    <p:sldId id="264" r:id="rId20"/>
    <p:sldId id="265" r:id="rId21"/>
    <p:sldId id="267" r:id="rId22"/>
    <p:sldId id="316" r:id="rId23"/>
    <p:sldId id="266" r:id="rId24"/>
    <p:sldId id="268" r:id="rId25"/>
    <p:sldId id="306" r:id="rId26"/>
    <p:sldId id="366" r:id="rId27"/>
    <p:sldId id="320" r:id="rId28"/>
    <p:sldId id="336" r:id="rId29"/>
    <p:sldId id="338" r:id="rId30"/>
    <p:sldId id="269" r:id="rId31"/>
    <p:sldId id="317" r:id="rId32"/>
    <p:sldId id="304" r:id="rId33"/>
    <p:sldId id="273" r:id="rId34"/>
    <p:sldId id="275" r:id="rId35"/>
    <p:sldId id="276" r:id="rId36"/>
    <p:sldId id="274" r:id="rId37"/>
    <p:sldId id="278" r:id="rId38"/>
    <p:sldId id="279" r:id="rId39"/>
    <p:sldId id="280" r:id="rId40"/>
    <p:sldId id="283" r:id="rId41"/>
    <p:sldId id="281" r:id="rId42"/>
    <p:sldId id="282" r:id="rId43"/>
    <p:sldId id="327" r:id="rId44"/>
    <p:sldId id="328" r:id="rId45"/>
    <p:sldId id="329" r:id="rId46"/>
    <p:sldId id="330" r:id="rId47"/>
    <p:sldId id="331" r:id="rId48"/>
    <p:sldId id="289" r:id="rId49"/>
    <p:sldId id="322" r:id="rId50"/>
    <p:sldId id="286" r:id="rId51"/>
    <p:sldId id="305" r:id="rId52"/>
    <p:sldId id="288" r:id="rId53"/>
    <p:sldId id="321" r:id="rId54"/>
    <p:sldId id="291" r:id="rId55"/>
    <p:sldId id="296" r:id="rId56"/>
    <p:sldId id="297" r:id="rId57"/>
    <p:sldId id="284" r:id="rId58"/>
    <p:sldId id="292" r:id="rId59"/>
    <p:sldId id="293" r:id="rId60"/>
    <p:sldId id="365" r:id="rId61"/>
    <p:sldId id="294" r:id="rId62"/>
    <p:sldId id="295" r:id="rId63"/>
    <p:sldId id="299" r:id="rId64"/>
    <p:sldId id="300" r:id="rId65"/>
    <p:sldId id="332" r:id="rId66"/>
    <p:sldId id="354" r:id="rId67"/>
    <p:sldId id="344" r:id="rId68"/>
    <p:sldId id="345" r:id="rId69"/>
    <p:sldId id="347" r:id="rId70"/>
    <p:sldId id="346" r:id="rId71"/>
    <p:sldId id="333" r:id="rId72"/>
    <p:sldId id="339" r:id="rId73"/>
    <p:sldId id="340" r:id="rId74"/>
    <p:sldId id="341" r:id="rId75"/>
    <p:sldId id="342" r:id="rId76"/>
    <p:sldId id="343" r:id="rId77"/>
    <p:sldId id="348" r:id="rId78"/>
    <p:sldId id="349" r:id="rId79"/>
    <p:sldId id="350" r:id="rId80"/>
    <p:sldId id="351" r:id="rId81"/>
    <p:sldId id="356" r:id="rId82"/>
    <p:sldId id="357" r:id="rId83"/>
    <p:sldId id="352" r:id="rId84"/>
    <p:sldId id="353" r:id="rId85"/>
    <p:sldId id="358" r:id="rId86"/>
    <p:sldId id="359" r:id="rId87"/>
    <p:sldId id="360" r:id="rId88"/>
    <p:sldId id="363" r:id="rId89"/>
    <p:sldId id="361" r:id="rId90"/>
    <p:sldId id="362" r:id="rId91"/>
    <p:sldId id="302" r:id="rId92"/>
    <p:sldId id="319" r:id="rId93"/>
    <p:sldId id="323" r:id="rId94"/>
    <p:sldId id="364" r:id="rId95"/>
    <p:sldId id="324" r:id="rId96"/>
    <p:sldId id="325" r:id="rId97"/>
    <p:sldId id="326" r:id="rId9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0F27"/>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13790D-FC26-479D-895E-613B3C0550E0}" v="28" dt="2026-10-05T15:52:20.5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012" autoAdjust="0"/>
  </p:normalViewPr>
  <p:slideViewPr>
    <p:cSldViewPr snapToGrid="0" snapToObjects="1">
      <p:cViewPr varScale="1">
        <p:scale>
          <a:sx n="87" d="100"/>
          <a:sy n="87" d="100"/>
        </p:scale>
        <p:origin x="1476" y="8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slide" Target="slides/slide74.xml"/><Relationship Id="rId87" Type="http://schemas.openxmlformats.org/officeDocument/2006/relationships/slide" Target="slides/slide82.xml"/><Relationship Id="rId102"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slide" Target="slides/slide77.xml"/><Relationship Id="rId90" Type="http://schemas.openxmlformats.org/officeDocument/2006/relationships/slide" Target="slides/slide85.xml"/><Relationship Id="rId95" Type="http://schemas.openxmlformats.org/officeDocument/2006/relationships/slide" Target="slides/slide90.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presProps" Target="presProps.xml"/><Relationship Id="rId105"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riott, Christine" userId="8af12a81-88c2-43d3-832b-ecb7273d7566" providerId="ADAL" clId="{0EDCEBC4-CF50-4262-9F1A-244879827C09}"/>
    <pc:docChg chg="custSel delSld modSld">
      <pc:chgData name="Marriott, Christine" userId="8af12a81-88c2-43d3-832b-ecb7273d7566" providerId="ADAL" clId="{0EDCEBC4-CF50-4262-9F1A-244879827C09}" dt="2026-10-05T15:52:55.222" v="74" actId="47"/>
      <pc:docMkLst>
        <pc:docMk/>
      </pc:docMkLst>
      <pc:sldChg chg="modNotes">
        <pc:chgData name="Marriott, Christine" userId="8af12a81-88c2-43d3-832b-ecb7273d7566" providerId="ADAL" clId="{0EDCEBC4-CF50-4262-9F1A-244879827C09}" dt="2026-10-05T15:52:20.438" v="17" actId="368"/>
        <pc:sldMkLst>
          <pc:docMk/>
          <pc:sldMk cId="4027475066" sldId="266"/>
        </pc:sldMkLst>
      </pc:sldChg>
      <pc:sldChg chg="modNotes">
        <pc:chgData name="Marriott, Christine" userId="8af12a81-88c2-43d3-832b-ecb7273d7566" providerId="ADAL" clId="{0EDCEBC4-CF50-4262-9F1A-244879827C09}" dt="2026-10-05T15:52:20.575" v="33" actId="368"/>
        <pc:sldMkLst>
          <pc:docMk/>
          <pc:sldMk cId="4227203907" sldId="292"/>
        </pc:sldMkLst>
      </pc:sldChg>
      <pc:sldChg chg="modNotes">
        <pc:chgData name="Marriott, Christine" userId="8af12a81-88c2-43d3-832b-ecb7273d7566" providerId="ADAL" clId="{0EDCEBC4-CF50-4262-9F1A-244879827C09}" dt="2026-10-05T15:52:20.575" v="35" actId="368"/>
        <pc:sldMkLst>
          <pc:docMk/>
          <pc:sldMk cId="1368833398" sldId="293"/>
        </pc:sldMkLst>
      </pc:sldChg>
      <pc:sldChg chg="modNotes">
        <pc:chgData name="Marriott, Christine" userId="8af12a81-88c2-43d3-832b-ecb7273d7566" providerId="ADAL" clId="{0EDCEBC4-CF50-4262-9F1A-244879827C09}" dt="2026-10-05T15:52:20.554" v="31" actId="368"/>
        <pc:sldMkLst>
          <pc:docMk/>
          <pc:sldMk cId="4202956657" sldId="296"/>
        </pc:sldMkLst>
      </pc:sldChg>
      <pc:sldChg chg="modNotes">
        <pc:chgData name="Marriott, Christine" userId="8af12a81-88c2-43d3-832b-ecb7273d7566" providerId="ADAL" clId="{0EDCEBC4-CF50-4262-9F1A-244879827C09}" dt="2026-10-05T15:52:20.706" v="67" actId="368"/>
        <pc:sldMkLst>
          <pc:docMk/>
          <pc:sldMk cId="4177105896" sldId="302"/>
        </pc:sldMkLst>
      </pc:sldChg>
      <pc:sldChg chg="modNotes">
        <pc:chgData name="Marriott, Christine" userId="8af12a81-88c2-43d3-832b-ecb7273d7566" providerId="ADAL" clId="{0EDCEBC4-CF50-4262-9F1A-244879827C09}" dt="2026-10-05T15:52:20.475" v="25" actId="368"/>
        <pc:sldMkLst>
          <pc:docMk/>
          <pc:sldMk cId="1202145953" sldId="304"/>
        </pc:sldMkLst>
      </pc:sldChg>
      <pc:sldChg chg="modNotes">
        <pc:chgData name="Marriott, Christine" userId="8af12a81-88c2-43d3-832b-ecb7273d7566" providerId="ADAL" clId="{0EDCEBC4-CF50-4262-9F1A-244879827C09}" dt="2026-10-05T15:52:20.390" v="3" actId="368"/>
        <pc:sldMkLst>
          <pc:docMk/>
          <pc:sldMk cId="80882222" sldId="307"/>
        </pc:sldMkLst>
      </pc:sldChg>
      <pc:sldChg chg="modNotes">
        <pc:chgData name="Marriott, Christine" userId="8af12a81-88c2-43d3-832b-ecb7273d7566" providerId="ADAL" clId="{0EDCEBC4-CF50-4262-9F1A-244879827C09}" dt="2026-10-05T15:52:20.390" v="5" actId="368"/>
        <pc:sldMkLst>
          <pc:docMk/>
          <pc:sldMk cId="1065556625" sldId="308"/>
        </pc:sldMkLst>
      </pc:sldChg>
      <pc:sldChg chg="modNotes">
        <pc:chgData name="Marriott, Christine" userId="8af12a81-88c2-43d3-832b-ecb7273d7566" providerId="ADAL" clId="{0EDCEBC4-CF50-4262-9F1A-244879827C09}" dt="2026-10-05T15:52:20.390" v="7" actId="368"/>
        <pc:sldMkLst>
          <pc:docMk/>
          <pc:sldMk cId="1643953278" sldId="309"/>
        </pc:sldMkLst>
      </pc:sldChg>
      <pc:sldChg chg="modNotes">
        <pc:chgData name="Marriott, Christine" userId="8af12a81-88c2-43d3-832b-ecb7273d7566" providerId="ADAL" clId="{0EDCEBC4-CF50-4262-9F1A-244879827C09}" dt="2026-10-05T15:52:20.406" v="9" actId="368"/>
        <pc:sldMkLst>
          <pc:docMk/>
          <pc:sldMk cId="2211234561" sldId="310"/>
        </pc:sldMkLst>
      </pc:sldChg>
      <pc:sldChg chg="modNotes">
        <pc:chgData name="Marriott, Christine" userId="8af12a81-88c2-43d3-832b-ecb7273d7566" providerId="ADAL" clId="{0EDCEBC4-CF50-4262-9F1A-244879827C09}" dt="2026-10-05T15:52:20.406" v="11" actId="368"/>
        <pc:sldMkLst>
          <pc:docMk/>
          <pc:sldMk cId="2200638280" sldId="311"/>
        </pc:sldMkLst>
      </pc:sldChg>
      <pc:sldChg chg="modNotes">
        <pc:chgData name="Marriott, Christine" userId="8af12a81-88c2-43d3-832b-ecb7273d7566" providerId="ADAL" clId="{0EDCEBC4-CF50-4262-9F1A-244879827C09}" dt="2026-10-05T15:52:20.422" v="13" actId="368"/>
        <pc:sldMkLst>
          <pc:docMk/>
          <pc:sldMk cId="2859846374" sldId="312"/>
        </pc:sldMkLst>
      </pc:sldChg>
      <pc:sldChg chg="modNotes">
        <pc:chgData name="Marriott, Christine" userId="8af12a81-88c2-43d3-832b-ecb7273d7566" providerId="ADAL" clId="{0EDCEBC4-CF50-4262-9F1A-244879827C09}" dt="2026-10-05T15:52:20.422" v="15" actId="368"/>
        <pc:sldMkLst>
          <pc:docMk/>
          <pc:sldMk cId="2042680669" sldId="313"/>
        </pc:sldMkLst>
      </pc:sldChg>
      <pc:sldChg chg="modNotes">
        <pc:chgData name="Marriott, Christine" userId="8af12a81-88c2-43d3-832b-ecb7273d7566" providerId="ADAL" clId="{0EDCEBC4-CF50-4262-9F1A-244879827C09}" dt="2026-10-05T15:52:20.375" v="1" actId="368"/>
        <pc:sldMkLst>
          <pc:docMk/>
          <pc:sldMk cId="3565372568" sldId="315"/>
        </pc:sldMkLst>
      </pc:sldChg>
      <pc:sldChg chg="modNotes">
        <pc:chgData name="Marriott, Christine" userId="8af12a81-88c2-43d3-832b-ecb7273d7566" providerId="ADAL" clId="{0EDCEBC4-CF50-4262-9F1A-244879827C09}" dt="2026-10-05T15:52:20.469" v="23" actId="368"/>
        <pc:sldMkLst>
          <pc:docMk/>
          <pc:sldMk cId="940452251" sldId="317"/>
        </pc:sldMkLst>
      </pc:sldChg>
      <pc:sldChg chg="del">
        <pc:chgData name="Marriott, Christine" userId="8af12a81-88c2-43d3-832b-ecb7273d7566" providerId="ADAL" clId="{0EDCEBC4-CF50-4262-9F1A-244879827C09}" dt="2026-10-05T15:52:55.222" v="74" actId="47"/>
        <pc:sldMkLst>
          <pc:docMk/>
          <pc:sldMk cId="706925116" sldId="318"/>
        </pc:sldMkLst>
      </pc:sldChg>
      <pc:sldChg chg="modNotes">
        <pc:chgData name="Marriott, Christine" userId="8af12a81-88c2-43d3-832b-ecb7273d7566" providerId="ADAL" clId="{0EDCEBC4-CF50-4262-9F1A-244879827C09}" dt="2026-10-05T15:52:20.453" v="19" actId="368"/>
        <pc:sldMkLst>
          <pc:docMk/>
          <pc:sldMk cId="4195020107" sldId="320"/>
        </pc:sldMkLst>
      </pc:sldChg>
      <pc:sldChg chg="modNotes">
        <pc:chgData name="Marriott, Christine" userId="8af12a81-88c2-43d3-832b-ecb7273d7566" providerId="ADAL" clId="{0EDCEBC4-CF50-4262-9F1A-244879827C09}" dt="2026-10-05T15:52:20.722" v="69" actId="368"/>
        <pc:sldMkLst>
          <pc:docMk/>
          <pc:sldMk cId="2603083643" sldId="323"/>
        </pc:sldMkLst>
      </pc:sldChg>
      <pc:sldChg chg="modNotes">
        <pc:chgData name="Marriott, Christine" userId="8af12a81-88c2-43d3-832b-ecb7273d7566" providerId="ADAL" clId="{0EDCEBC4-CF50-4262-9F1A-244879827C09}" dt="2026-10-05T15:52:20.722" v="71" actId="368"/>
        <pc:sldMkLst>
          <pc:docMk/>
          <pc:sldMk cId="118656908" sldId="324"/>
        </pc:sldMkLst>
      </pc:sldChg>
      <pc:sldChg chg="modNotes">
        <pc:chgData name="Marriott, Christine" userId="8af12a81-88c2-43d3-832b-ecb7273d7566" providerId="ADAL" clId="{0EDCEBC4-CF50-4262-9F1A-244879827C09}" dt="2026-10-05T15:52:20.737" v="73" actId="368"/>
        <pc:sldMkLst>
          <pc:docMk/>
          <pc:sldMk cId="2279093363" sldId="325"/>
        </pc:sldMkLst>
      </pc:sldChg>
      <pc:sldChg chg="modNotes">
        <pc:chgData name="Marriott, Christine" userId="8af12a81-88c2-43d3-832b-ecb7273d7566" providerId="ADAL" clId="{0EDCEBC4-CF50-4262-9F1A-244879827C09}" dt="2026-10-05T15:52:20.522" v="27" actId="368"/>
        <pc:sldMkLst>
          <pc:docMk/>
          <pc:sldMk cId="2847926199" sldId="327"/>
        </pc:sldMkLst>
      </pc:sldChg>
      <pc:sldChg chg="modNotes">
        <pc:chgData name="Marriott, Christine" userId="8af12a81-88c2-43d3-832b-ecb7273d7566" providerId="ADAL" clId="{0EDCEBC4-CF50-4262-9F1A-244879827C09}" dt="2026-10-05T15:52:20.522" v="29" actId="368"/>
        <pc:sldMkLst>
          <pc:docMk/>
          <pc:sldMk cId="3461859005" sldId="330"/>
        </pc:sldMkLst>
      </pc:sldChg>
      <pc:sldChg chg="modNotes">
        <pc:chgData name="Marriott, Christine" userId="8af12a81-88c2-43d3-832b-ecb7273d7566" providerId="ADAL" clId="{0EDCEBC4-CF50-4262-9F1A-244879827C09}" dt="2026-10-05T15:52:20.607" v="39" actId="368"/>
        <pc:sldMkLst>
          <pc:docMk/>
          <pc:sldMk cId="373005317" sldId="332"/>
        </pc:sldMkLst>
      </pc:sldChg>
      <pc:sldChg chg="modNotes">
        <pc:chgData name="Marriott, Christine" userId="8af12a81-88c2-43d3-832b-ecb7273d7566" providerId="ADAL" clId="{0EDCEBC4-CF50-4262-9F1A-244879827C09}" dt="2026-10-05T15:52:20.638" v="49" actId="368"/>
        <pc:sldMkLst>
          <pc:docMk/>
          <pc:sldMk cId="627266370" sldId="333"/>
        </pc:sldMkLst>
      </pc:sldChg>
      <pc:sldChg chg="modNotes">
        <pc:chgData name="Marriott, Christine" userId="8af12a81-88c2-43d3-832b-ecb7273d7566" providerId="ADAL" clId="{0EDCEBC4-CF50-4262-9F1A-244879827C09}" dt="2026-10-05T15:52:20.453" v="21" actId="368"/>
        <pc:sldMkLst>
          <pc:docMk/>
          <pc:sldMk cId="3039967761" sldId="338"/>
        </pc:sldMkLst>
      </pc:sldChg>
      <pc:sldChg chg="modNotes">
        <pc:chgData name="Marriott, Christine" userId="8af12a81-88c2-43d3-832b-ecb7273d7566" providerId="ADAL" clId="{0EDCEBC4-CF50-4262-9F1A-244879827C09}" dt="2026-10-05T15:52:20.638" v="51" actId="368"/>
        <pc:sldMkLst>
          <pc:docMk/>
          <pc:sldMk cId="867728229" sldId="339"/>
        </pc:sldMkLst>
      </pc:sldChg>
      <pc:sldChg chg="modNotes">
        <pc:chgData name="Marriott, Christine" userId="8af12a81-88c2-43d3-832b-ecb7273d7566" providerId="ADAL" clId="{0EDCEBC4-CF50-4262-9F1A-244879827C09}" dt="2026-10-05T15:52:20.654" v="53" actId="368"/>
        <pc:sldMkLst>
          <pc:docMk/>
          <pc:sldMk cId="1912487509" sldId="340"/>
        </pc:sldMkLst>
      </pc:sldChg>
      <pc:sldChg chg="modNotes">
        <pc:chgData name="Marriott, Christine" userId="8af12a81-88c2-43d3-832b-ecb7273d7566" providerId="ADAL" clId="{0EDCEBC4-CF50-4262-9F1A-244879827C09}" dt="2026-10-05T15:52:20.654" v="55" actId="368"/>
        <pc:sldMkLst>
          <pc:docMk/>
          <pc:sldMk cId="1484861960" sldId="341"/>
        </pc:sldMkLst>
      </pc:sldChg>
      <pc:sldChg chg="modNotes">
        <pc:chgData name="Marriott, Christine" userId="8af12a81-88c2-43d3-832b-ecb7273d7566" providerId="ADAL" clId="{0EDCEBC4-CF50-4262-9F1A-244879827C09}" dt="2026-10-05T15:52:20.654" v="57" actId="368"/>
        <pc:sldMkLst>
          <pc:docMk/>
          <pc:sldMk cId="1967558526" sldId="342"/>
        </pc:sldMkLst>
      </pc:sldChg>
      <pc:sldChg chg="modNotes">
        <pc:chgData name="Marriott, Christine" userId="8af12a81-88c2-43d3-832b-ecb7273d7566" providerId="ADAL" clId="{0EDCEBC4-CF50-4262-9F1A-244879827C09}" dt="2026-10-05T15:52:20.670" v="59" actId="368"/>
        <pc:sldMkLst>
          <pc:docMk/>
          <pc:sldMk cId="3349874539" sldId="343"/>
        </pc:sldMkLst>
      </pc:sldChg>
      <pc:sldChg chg="modNotes">
        <pc:chgData name="Marriott, Christine" userId="8af12a81-88c2-43d3-832b-ecb7273d7566" providerId="ADAL" clId="{0EDCEBC4-CF50-4262-9F1A-244879827C09}" dt="2026-10-05T15:52:20.607" v="41" actId="368"/>
        <pc:sldMkLst>
          <pc:docMk/>
          <pc:sldMk cId="2647095700" sldId="344"/>
        </pc:sldMkLst>
      </pc:sldChg>
      <pc:sldChg chg="modNotes">
        <pc:chgData name="Marriott, Christine" userId="8af12a81-88c2-43d3-832b-ecb7273d7566" providerId="ADAL" clId="{0EDCEBC4-CF50-4262-9F1A-244879827C09}" dt="2026-10-05T15:52:20.622" v="43" actId="368"/>
        <pc:sldMkLst>
          <pc:docMk/>
          <pc:sldMk cId="1205039837" sldId="345"/>
        </pc:sldMkLst>
      </pc:sldChg>
      <pc:sldChg chg="modNotes">
        <pc:chgData name="Marriott, Christine" userId="8af12a81-88c2-43d3-832b-ecb7273d7566" providerId="ADAL" clId="{0EDCEBC4-CF50-4262-9F1A-244879827C09}" dt="2026-10-05T15:52:20.638" v="47" actId="368"/>
        <pc:sldMkLst>
          <pc:docMk/>
          <pc:sldMk cId="4166602133" sldId="346"/>
        </pc:sldMkLst>
      </pc:sldChg>
      <pc:sldChg chg="modNotes">
        <pc:chgData name="Marriott, Christine" userId="8af12a81-88c2-43d3-832b-ecb7273d7566" providerId="ADAL" clId="{0EDCEBC4-CF50-4262-9F1A-244879827C09}" dt="2026-10-05T15:52:20.622" v="45" actId="368"/>
        <pc:sldMkLst>
          <pc:docMk/>
          <pc:sldMk cId="464412677" sldId="347"/>
        </pc:sldMkLst>
      </pc:sldChg>
      <pc:sldChg chg="modNotes">
        <pc:chgData name="Marriott, Christine" userId="8af12a81-88c2-43d3-832b-ecb7273d7566" providerId="ADAL" clId="{0EDCEBC4-CF50-4262-9F1A-244879827C09}" dt="2026-10-05T15:52:20.675" v="61" actId="368"/>
        <pc:sldMkLst>
          <pc:docMk/>
          <pc:sldMk cId="4033749729" sldId="348"/>
        </pc:sldMkLst>
      </pc:sldChg>
      <pc:sldChg chg="modNotes">
        <pc:chgData name="Marriott, Christine" userId="8af12a81-88c2-43d3-832b-ecb7273d7566" providerId="ADAL" clId="{0EDCEBC4-CF50-4262-9F1A-244879827C09}" dt="2026-10-05T15:52:20.675" v="63" actId="368"/>
        <pc:sldMkLst>
          <pc:docMk/>
          <pc:sldMk cId="1015829583" sldId="356"/>
        </pc:sldMkLst>
      </pc:sldChg>
      <pc:sldChg chg="modNotes">
        <pc:chgData name="Marriott, Christine" userId="8af12a81-88c2-43d3-832b-ecb7273d7566" providerId="ADAL" clId="{0EDCEBC4-CF50-4262-9F1A-244879827C09}" dt="2026-10-05T15:52:20.690" v="65" actId="368"/>
        <pc:sldMkLst>
          <pc:docMk/>
          <pc:sldMk cId="1419667858" sldId="363"/>
        </pc:sldMkLst>
      </pc:sldChg>
      <pc:sldChg chg="modNotes">
        <pc:chgData name="Marriott, Christine" userId="8af12a81-88c2-43d3-832b-ecb7273d7566" providerId="ADAL" clId="{0EDCEBC4-CF50-4262-9F1A-244879827C09}" dt="2026-10-05T15:52:20.575" v="37" actId="368"/>
        <pc:sldMkLst>
          <pc:docMk/>
          <pc:sldMk cId="1899611789" sldId="3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CF408D4-88C3-884A-9DC3-00D53E06787A}" type="datetimeFigureOut">
              <a:rPr lang="en-US" smtClean="0"/>
              <a:t>10/5/2026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71CF4C-991F-234B-8EA8-AC9F72958216}" type="slidenum">
              <a:rPr lang="en-US" smtClean="0"/>
              <a:t>‹#›</a:t>
            </a:fld>
            <a:endParaRPr lang="en-US"/>
          </a:p>
        </p:txBody>
      </p:sp>
    </p:spTree>
    <p:extLst>
      <p:ext uri="{BB962C8B-B14F-4D97-AF65-F5344CB8AC3E}">
        <p14:creationId xmlns:p14="http://schemas.microsoft.com/office/powerpoint/2010/main" val="158017466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9B2C62-FE30-453D-946B-754E9E42C8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7375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9B2C62-FE30-453D-946B-754E9E42C8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7991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D71CF4C-991F-234B-8EA8-AC9F72958216}" type="slidenum">
              <a:rPr lang="en-US" smtClean="0"/>
              <a:t>3</a:t>
            </a:fld>
            <a:endParaRPr lang="en-US"/>
          </a:p>
        </p:txBody>
      </p:sp>
    </p:spTree>
    <p:extLst>
      <p:ext uri="{BB962C8B-B14F-4D97-AF65-F5344CB8AC3E}">
        <p14:creationId xmlns:p14="http://schemas.microsoft.com/office/powerpoint/2010/main" val="2527528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D71CF4C-991F-234B-8EA8-AC9F72958216}" type="slidenum">
              <a:rPr lang="en-US" smtClean="0"/>
              <a:t>4</a:t>
            </a:fld>
            <a:endParaRPr lang="en-US"/>
          </a:p>
        </p:txBody>
      </p:sp>
    </p:spTree>
    <p:extLst>
      <p:ext uri="{BB962C8B-B14F-4D97-AF65-F5344CB8AC3E}">
        <p14:creationId xmlns:p14="http://schemas.microsoft.com/office/powerpoint/2010/main" val="1713339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D71CF4C-991F-234B-8EA8-AC9F72958216}" type="slidenum">
              <a:rPr lang="en-US" smtClean="0"/>
              <a:t>5</a:t>
            </a:fld>
            <a:endParaRPr lang="en-US"/>
          </a:p>
        </p:txBody>
      </p:sp>
    </p:spTree>
    <p:extLst>
      <p:ext uri="{BB962C8B-B14F-4D97-AF65-F5344CB8AC3E}">
        <p14:creationId xmlns:p14="http://schemas.microsoft.com/office/powerpoint/2010/main" val="569439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71CF4C-991F-234B-8EA8-AC9F72958216}" type="slidenum">
              <a:rPr lang="en-US" smtClean="0"/>
              <a:t>6</a:t>
            </a:fld>
            <a:endParaRPr lang="en-US"/>
          </a:p>
        </p:txBody>
      </p:sp>
    </p:spTree>
    <p:extLst>
      <p:ext uri="{BB962C8B-B14F-4D97-AF65-F5344CB8AC3E}">
        <p14:creationId xmlns:p14="http://schemas.microsoft.com/office/powerpoint/2010/main" val="3657233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71CF4C-991F-234B-8EA8-AC9F72958216}" type="slidenum">
              <a:rPr lang="en-US" smtClean="0"/>
              <a:t>7</a:t>
            </a:fld>
            <a:endParaRPr lang="en-US"/>
          </a:p>
        </p:txBody>
      </p:sp>
    </p:spTree>
    <p:extLst>
      <p:ext uri="{BB962C8B-B14F-4D97-AF65-F5344CB8AC3E}">
        <p14:creationId xmlns:p14="http://schemas.microsoft.com/office/powerpoint/2010/main" val="4143373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71CF4C-991F-234B-8EA8-AC9F72958216}" type="slidenum">
              <a:rPr lang="en-US" smtClean="0"/>
              <a:t>8</a:t>
            </a:fld>
            <a:endParaRPr lang="en-US"/>
          </a:p>
        </p:txBody>
      </p:sp>
    </p:spTree>
    <p:extLst>
      <p:ext uri="{BB962C8B-B14F-4D97-AF65-F5344CB8AC3E}">
        <p14:creationId xmlns:p14="http://schemas.microsoft.com/office/powerpoint/2010/main" val="325477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71CF4C-991F-234B-8EA8-AC9F72958216}" type="slidenum">
              <a:rPr lang="en-US" smtClean="0"/>
              <a:t>9</a:t>
            </a:fld>
            <a:endParaRPr lang="en-US"/>
          </a:p>
        </p:txBody>
      </p:sp>
    </p:spTree>
    <p:extLst>
      <p:ext uri="{BB962C8B-B14F-4D97-AF65-F5344CB8AC3E}">
        <p14:creationId xmlns:p14="http://schemas.microsoft.com/office/powerpoint/2010/main" val="12150930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71CF4C-991F-234B-8EA8-AC9F72958216}" type="slidenum">
              <a:rPr lang="en-US" smtClean="0"/>
              <a:t>10</a:t>
            </a:fld>
            <a:endParaRPr lang="en-US"/>
          </a:p>
        </p:txBody>
      </p:sp>
    </p:spTree>
    <p:extLst>
      <p:ext uri="{BB962C8B-B14F-4D97-AF65-F5344CB8AC3E}">
        <p14:creationId xmlns:p14="http://schemas.microsoft.com/office/powerpoint/2010/main" val="1163985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71CF4C-991F-234B-8EA8-AC9F72958216}" type="slidenum">
              <a:rPr lang="en-US" smtClean="0"/>
              <a:t>12</a:t>
            </a:fld>
            <a:endParaRPr lang="en-US"/>
          </a:p>
        </p:txBody>
      </p:sp>
    </p:spTree>
    <p:extLst>
      <p:ext uri="{BB962C8B-B14F-4D97-AF65-F5344CB8AC3E}">
        <p14:creationId xmlns:p14="http://schemas.microsoft.com/office/powerpoint/2010/main" val="1767473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xfrm>
            <a:off x="381000" y="685800"/>
            <a:ext cx="6096000" cy="3429000"/>
          </a:xfrm>
          <a:ln/>
        </p:spPr>
      </p:sp>
      <p:sp>
        <p:nvSpPr>
          <p:cNvPr id="45059"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dirty="0">
              <a:latin typeface="Arial" pitchFamily="34" charset="0"/>
              <a:ea typeface="ＭＳ Ｐゴシック" pitchFamily="34" charset="-128"/>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95075F59-33E5-4F94-9D04-3266958050BD}" type="slidenum">
              <a:rPr lang="en-US" smtClean="0">
                <a:solidFill>
                  <a:prstClr val="black"/>
                </a:solidFill>
              </a:rPr>
              <a:pPr eaLnBrk="1" hangingPunct="1"/>
              <a:t>15</a:t>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pitchFamily="34" charset="0"/>
              <a:ea typeface="ＭＳ Ｐゴシック" pitchFamily="34" charset="-128"/>
            </a:endParaRPr>
          </a:p>
        </p:txBody>
      </p:sp>
      <p:sp>
        <p:nvSpPr>
          <p:cNvPr id="10547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51788EFC-F699-4C5D-AE21-4C1BD4114C36}" type="slidenum">
              <a:rPr lang="en-US" altLang="en-US">
                <a:solidFill>
                  <a:prstClr val="black"/>
                </a:solidFill>
              </a:rPr>
              <a:pPr eaLnBrk="1" hangingPunct="1"/>
              <a:t>17</a:t>
            </a:fld>
            <a:endParaRPr lang="en-US" alt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D71CF4C-991F-234B-8EA8-AC9F72958216}" type="slidenum">
              <a:rPr lang="en-US" smtClean="0"/>
              <a:t>19</a:t>
            </a:fld>
            <a:endParaRPr lang="en-US"/>
          </a:p>
        </p:txBody>
      </p:sp>
    </p:spTree>
    <p:extLst>
      <p:ext uri="{BB962C8B-B14F-4D97-AF65-F5344CB8AC3E}">
        <p14:creationId xmlns:p14="http://schemas.microsoft.com/office/powerpoint/2010/main" val="38139168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23</a:t>
            </a:fld>
            <a:endParaRPr lang="en-US"/>
          </a:p>
        </p:txBody>
      </p:sp>
    </p:spTree>
    <p:extLst>
      <p:ext uri="{BB962C8B-B14F-4D97-AF65-F5344CB8AC3E}">
        <p14:creationId xmlns:p14="http://schemas.microsoft.com/office/powerpoint/2010/main" val="3307930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25</a:t>
            </a:fld>
            <a:endParaRPr lang="en-US"/>
          </a:p>
        </p:txBody>
      </p:sp>
    </p:spTree>
    <p:extLst>
      <p:ext uri="{BB962C8B-B14F-4D97-AF65-F5344CB8AC3E}">
        <p14:creationId xmlns:p14="http://schemas.microsoft.com/office/powerpoint/2010/main" val="1266189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9B2C62-FE30-453D-946B-754E9E42C8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8032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28</a:t>
            </a:fld>
            <a:endParaRPr lang="en-US"/>
          </a:p>
        </p:txBody>
      </p:sp>
    </p:spTree>
    <p:extLst>
      <p:ext uri="{BB962C8B-B14F-4D97-AF65-F5344CB8AC3E}">
        <p14:creationId xmlns:p14="http://schemas.microsoft.com/office/powerpoint/2010/main" val="17849501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35D77C04-CC33-4DA6-94BD-7A06E57D3BAB}" type="slidenum">
              <a:rPr lang="en-US" smtClean="0">
                <a:solidFill>
                  <a:prstClr val="black"/>
                </a:solidFill>
              </a:rPr>
              <a:pPr eaLnBrk="1" hangingPunct="1"/>
              <a:t>29</a:t>
            </a:fld>
            <a:endParaRPr lang="en-US">
              <a:solidFill>
                <a:prstClr val="black"/>
              </a:solidFill>
            </a:endParaRPr>
          </a:p>
        </p:txBody>
      </p:sp>
      <p:sp>
        <p:nvSpPr>
          <p:cNvPr id="50179" name="Rectangle 2"/>
          <p:cNvSpPr>
            <a:spLocks noGrp="1" noRot="1" noChangeAspect="1" noChangeArrowheads="1" noTextEdit="1"/>
          </p:cNvSpPr>
          <p:nvPr>
            <p:ph type="sldImg"/>
          </p:nvPr>
        </p:nvSpPr>
        <p:spPr>
          <a:xfrm>
            <a:off x="381000" y="685800"/>
            <a:ext cx="6096000" cy="3429000"/>
          </a:xfrm>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a typeface="ＭＳ Ｐゴシック"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xfrm>
            <a:off x="381000" y="685800"/>
            <a:ext cx="6096000" cy="3429000"/>
          </a:xfrm>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ea typeface="ＭＳ Ｐゴシック" pitchFamily="34" charset="-128"/>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A7E02C88-7565-4D29-AC74-F29219A88743}" type="slidenum">
              <a:rPr lang="en-US" smtClean="0">
                <a:solidFill>
                  <a:prstClr val="black"/>
                </a:solidFill>
              </a:rPr>
              <a:pPr eaLnBrk="1" hangingPunct="1"/>
              <a:t>32</a:t>
            </a:fld>
            <a:endParaRPr 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xfrm>
            <a:off x="381000" y="685800"/>
            <a:ext cx="6096000" cy="3429000"/>
          </a:xfrm>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b="0" i="0" dirty="0">
              <a:latin typeface="Arial" pitchFamily="34" charset="0"/>
              <a:ea typeface="ＭＳ Ｐゴシック" pitchFamily="34" charset="-128"/>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C1C2AAA5-AD9E-4996-A151-5CCBCED608CB}" type="slidenum">
              <a:rPr lang="en-US" smtClean="0">
                <a:solidFill>
                  <a:prstClr val="black"/>
                </a:solidFill>
              </a:rPr>
              <a:pPr eaLnBrk="1" hangingPunct="1"/>
              <a:t>33</a:t>
            </a:fld>
            <a:endParaRPr 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Arial" pitchFamily="34" charset="0"/>
              <a:ea typeface="ＭＳ Ｐゴシック" pitchFamily="34" charset="-128"/>
            </a:endParaRP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9F0F7E92-5E84-4E84-A982-F35BA550E18D}" type="slidenum">
              <a:rPr lang="en-US" smtClean="0">
                <a:solidFill>
                  <a:prstClr val="black"/>
                </a:solidFill>
              </a:rPr>
              <a:pPr eaLnBrk="1" hangingPunct="1"/>
              <a:t>34</a:t>
            </a:fld>
            <a:endParaRPr 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xfrm>
            <a:off x="381000" y="685800"/>
            <a:ext cx="6096000" cy="3429000"/>
          </a:xfrm>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0F52BBB3-69D2-4BE9-A876-CCE162B435B2}" type="slidenum">
              <a:rPr lang="en-US" smtClean="0">
                <a:solidFill>
                  <a:prstClr val="black"/>
                </a:solidFill>
              </a:rPr>
              <a:pPr eaLnBrk="1" hangingPunct="1"/>
              <a:t>35</a:t>
            </a:fld>
            <a:endParaRPr 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381000" y="685800"/>
            <a:ext cx="6096000" cy="3429000"/>
          </a:xfrm>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CEAD6393-046F-4EA7-BEDC-E8B796C63562}" type="slidenum">
              <a:rPr lang="en-US" smtClean="0">
                <a:solidFill>
                  <a:prstClr val="black"/>
                </a:solidFill>
              </a:rPr>
              <a:pPr eaLnBrk="1" hangingPunct="1"/>
              <a:t>36</a:t>
            </a:fld>
            <a:endParaRPr 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xfrm>
            <a:off x="381000" y="685800"/>
            <a:ext cx="6096000" cy="3429000"/>
          </a:xfrm>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AF914FF8-B9F5-4913-AD0A-B94154910755}" type="slidenum">
              <a:rPr lang="en-US" smtClean="0">
                <a:solidFill>
                  <a:prstClr val="black"/>
                </a:solidFill>
              </a:rPr>
              <a:pPr eaLnBrk="1" hangingPunct="1"/>
              <a:t>37</a:t>
            </a:fld>
            <a:endParaRPr 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xfrm>
            <a:off x="381000" y="685800"/>
            <a:ext cx="6096000" cy="3429000"/>
          </a:xfrm>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851834BA-883E-42A4-B10C-956F7ACFAD47}" type="slidenum">
              <a:rPr lang="en-US" smtClean="0">
                <a:solidFill>
                  <a:prstClr val="black"/>
                </a:solidFill>
              </a:rPr>
              <a:pPr eaLnBrk="1" hangingPunct="1"/>
              <a:t>38</a:t>
            </a:fld>
            <a:endParaRPr 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39</a:t>
            </a:fld>
            <a:endParaRPr lang="en-US"/>
          </a:p>
        </p:txBody>
      </p:sp>
    </p:spTree>
    <p:extLst>
      <p:ext uri="{BB962C8B-B14F-4D97-AF65-F5344CB8AC3E}">
        <p14:creationId xmlns:p14="http://schemas.microsoft.com/office/powerpoint/2010/main" val="381311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42</a:t>
            </a:fld>
            <a:endParaRPr lang="en-US"/>
          </a:p>
        </p:txBody>
      </p:sp>
    </p:spTree>
    <p:extLst>
      <p:ext uri="{BB962C8B-B14F-4D97-AF65-F5344CB8AC3E}">
        <p14:creationId xmlns:p14="http://schemas.microsoft.com/office/powerpoint/2010/main" val="16715928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43</a:t>
            </a:fld>
            <a:endParaRPr lang="en-US"/>
          </a:p>
        </p:txBody>
      </p:sp>
    </p:spTree>
    <p:extLst>
      <p:ext uri="{BB962C8B-B14F-4D97-AF65-F5344CB8AC3E}">
        <p14:creationId xmlns:p14="http://schemas.microsoft.com/office/powerpoint/2010/main" val="25803491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xfrm>
            <a:off x="381000" y="685800"/>
            <a:ext cx="6096000" cy="3429000"/>
          </a:xfrm>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91252EFA-9604-4595-AACD-B95082E03C5D}" type="slidenum">
              <a:rPr lang="en-US" smtClean="0">
                <a:solidFill>
                  <a:prstClr val="black"/>
                </a:solidFill>
              </a:rPr>
              <a:pPr eaLnBrk="1" hangingPunct="1"/>
              <a:t>44</a:t>
            </a:fld>
            <a:endParaRPr lang="en-US">
              <a:solidFill>
                <a:prstClr val="black"/>
              </a:solidFill>
            </a:endParaRPr>
          </a:p>
        </p:txBody>
      </p:sp>
    </p:spTree>
    <p:extLst>
      <p:ext uri="{BB962C8B-B14F-4D97-AF65-F5344CB8AC3E}">
        <p14:creationId xmlns:p14="http://schemas.microsoft.com/office/powerpoint/2010/main" val="1262220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xfrm>
            <a:off x="381000" y="685800"/>
            <a:ext cx="6096000" cy="3429000"/>
          </a:xfrm>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91252EFA-9604-4595-AACD-B95082E03C5D}" type="slidenum">
              <a:rPr lang="en-US" smtClean="0">
                <a:solidFill>
                  <a:prstClr val="black"/>
                </a:solidFill>
              </a:rPr>
              <a:pPr eaLnBrk="1" hangingPunct="1"/>
              <a:t>45</a:t>
            </a:fld>
            <a:endParaRPr lang="en-US">
              <a:solidFill>
                <a:prstClr val="black"/>
              </a:solidFill>
            </a:endParaRPr>
          </a:p>
        </p:txBody>
      </p:sp>
    </p:spTree>
    <p:extLst>
      <p:ext uri="{BB962C8B-B14F-4D97-AF65-F5344CB8AC3E}">
        <p14:creationId xmlns:p14="http://schemas.microsoft.com/office/powerpoint/2010/main" val="20488149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xfrm>
            <a:off x="381000" y="685800"/>
            <a:ext cx="6096000" cy="3429000"/>
          </a:xfrm>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7A4F8E36-D93F-41B9-BB66-0221DE6BEB79}" type="slidenum">
              <a:rPr lang="en-US" smtClean="0">
                <a:solidFill>
                  <a:prstClr val="black"/>
                </a:solidFill>
              </a:rPr>
              <a:pPr eaLnBrk="1" hangingPunct="1"/>
              <a:t>46</a:t>
            </a:fld>
            <a:endParaRPr 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47</a:t>
            </a:fld>
            <a:endParaRPr lang="en-US"/>
          </a:p>
        </p:txBody>
      </p:sp>
    </p:spTree>
    <p:extLst>
      <p:ext uri="{BB962C8B-B14F-4D97-AF65-F5344CB8AC3E}">
        <p14:creationId xmlns:p14="http://schemas.microsoft.com/office/powerpoint/2010/main" val="37796084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381000" y="685800"/>
            <a:ext cx="6096000" cy="3429000"/>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581512EE-9449-48DC-9ECA-9A9992B9ADC6}" type="slidenum">
              <a:rPr lang="en-US" smtClean="0">
                <a:solidFill>
                  <a:prstClr val="black"/>
                </a:solidFill>
              </a:rPr>
              <a:pPr eaLnBrk="1" hangingPunct="1"/>
              <a:t>48</a:t>
            </a:fld>
            <a:endParaRPr 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381000" y="685800"/>
            <a:ext cx="6096000" cy="3429000"/>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581512EE-9449-48DC-9ECA-9A9992B9ADC6}" type="slidenum">
              <a:rPr lang="en-US" smtClean="0">
                <a:solidFill>
                  <a:prstClr val="black"/>
                </a:solidFill>
              </a:rPr>
              <a:pPr eaLnBrk="1" hangingPunct="1"/>
              <a:t>49</a:t>
            </a:fld>
            <a:endParaRPr lang="en-US">
              <a:solidFill>
                <a:prstClr val="black"/>
              </a:solidFill>
            </a:endParaRPr>
          </a:p>
        </p:txBody>
      </p:sp>
    </p:spTree>
    <p:extLst>
      <p:ext uri="{BB962C8B-B14F-4D97-AF65-F5344CB8AC3E}">
        <p14:creationId xmlns:p14="http://schemas.microsoft.com/office/powerpoint/2010/main" val="11053342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xfrm>
            <a:off x="381000" y="685800"/>
            <a:ext cx="6096000" cy="3429000"/>
          </a:xfrm>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9FADF1DB-94D5-4D21-BB1C-4147972F0A3B}" type="slidenum">
              <a:rPr lang="en-US" smtClean="0">
                <a:solidFill>
                  <a:prstClr val="black"/>
                </a:solidFill>
              </a:rPr>
              <a:pPr eaLnBrk="1" hangingPunct="1"/>
              <a:t>50</a:t>
            </a:fld>
            <a:endParaRPr lang="en-US">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51</a:t>
            </a:fld>
            <a:endParaRPr lang="en-US"/>
          </a:p>
        </p:txBody>
      </p:sp>
    </p:spTree>
    <p:extLst>
      <p:ext uri="{BB962C8B-B14F-4D97-AF65-F5344CB8AC3E}">
        <p14:creationId xmlns:p14="http://schemas.microsoft.com/office/powerpoint/2010/main" val="11051253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xfrm>
            <a:off x="381000" y="685800"/>
            <a:ext cx="6096000" cy="3429000"/>
          </a:xfrm>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Arial" pitchFamily="34" charset="0"/>
              <a:ea typeface="ＭＳ Ｐゴシック" pitchFamily="34" charset="-128"/>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92668AEE-24F2-4D7B-B01E-A68CD19CCCA5}" type="slidenum">
              <a:rPr lang="en-US" smtClean="0">
                <a:solidFill>
                  <a:prstClr val="black"/>
                </a:solidFill>
              </a:rPr>
              <a:pPr eaLnBrk="1" hangingPunct="1"/>
              <a:t>53</a:t>
            </a:fld>
            <a:endParaRPr 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54</a:t>
            </a:fld>
            <a:endParaRPr lang="en-US"/>
          </a:p>
        </p:txBody>
      </p:sp>
    </p:spTree>
    <p:extLst>
      <p:ext uri="{BB962C8B-B14F-4D97-AF65-F5344CB8AC3E}">
        <p14:creationId xmlns:p14="http://schemas.microsoft.com/office/powerpoint/2010/main" val="13831322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55</a:t>
            </a:fld>
            <a:endParaRPr lang="en-US"/>
          </a:p>
        </p:txBody>
      </p:sp>
    </p:spTree>
    <p:extLst>
      <p:ext uri="{BB962C8B-B14F-4D97-AF65-F5344CB8AC3E}">
        <p14:creationId xmlns:p14="http://schemas.microsoft.com/office/powerpoint/2010/main" val="25613185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56</a:t>
            </a:fld>
            <a:endParaRPr lang="en-US"/>
          </a:p>
        </p:txBody>
      </p:sp>
    </p:spTree>
    <p:extLst>
      <p:ext uri="{BB962C8B-B14F-4D97-AF65-F5344CB8AC3E}">
        <p14:creationId xmlns:p14="http://schemas.microsoft.com/office/powerpoint/2010/main" val="17917944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xfrm>
            <a:off x="381000" y="685800"/>
            <a:ext cx="6096000" cy="3429000"/>
          </a:xfrm>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D6A09563-D8F4-4D0E-971F-6C18615A190D}" type="slidenum">
              <a:rPr lang="en-US" smtClean="0">
                <a:solidFill>
                  <a:prstClr val="black"/>
                </a:solidFill>
              </a:rPr>
              <a:pPr eaLnBrk="1" hangingPunct="1"/>
              <a:t>57</a:t>
            </a:fld>
            <a:endParaRPr lang="en-US">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xfrm>
            <a:off x="381000" y="685800"/>
            <a:ext cx="6096000" cy="3429000"/>
          </a:xfrm>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87402E0B-3B2F-48F0-9105-350CC3E29C78}" type="slidenum">
              <a:rPr lang="en-US" smtClean="0">
                <a:solidFill>
                  <a:prstClr val="black"/>
                </a:solidFill>
              </a:rPr>
              <a:pPr eaLnBrk="1" hangingPunct="1"/>
              <a:t>58</a:t>
            </a:fld>
            <a:endParaRPr lang="en-US">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xfrm>
            <a:off x="381000" y="685800"/>
            <a:ext cx="6096000" cy="3429000"/>
          </a:xfrm>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D5304414-4657-4661-BFFA-E8838E24C15C}" type="slidenum">
              <a:rPr lang="en-US" smtClean="0">
                <a:solidFill>
                  <a:prstClr val="black"/>
                </a:solidFill>
              </a:rPr>
              <a:pPr eaLnBrk="1" hangingPunct="1"/>
              <a:t>59</a:t>
            </a:fld>
            <a:endParaRPr lang="en-US">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xfrm>
            <a:off x="381000" y="685800"/>
            <a:ext cx="6096000" cy="3429000"/>
          </a:xfrm>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AC37B7D1-4C86-47A3-B0F0-4C56547BAEA9}" type="slidenum">
              <a:rPr lang="en-US" smtClean="0">
                <a:solidFill>
                  <a:prstClr val="black"/>
                </a:solidFill>
              </a:rPr>
              <a:pPr eaLnBrk="1" hangingPunct="1"/>
              <a:t>60</a:t>
            </a:fld>
            <a:endParaRPr lang="en-US">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61</a:t>
            </a:fld>
            <a:endParaRPr lang="en-US"/>
          </a:p>
        </p:txBody>
      </p:sp>
    </p:spTree>
    <p:extLst>
      <p:ext uri="{BB962C8B-B14F-4D97-AF65-F5344CB8AC3E}">
        <p14:creationId xmlns:p14="http://schemas.microsoft.com/office/powerpoint/2010/main" val="25531195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C742E01-98DC-4247-8719-F066976EF359}" type="slidenum">
              <a:rPr lang="en-US" smtClean="0">
                <a:solidFill>
                  <a:prstClr val="black"/>
                </a:solidFill>
              </a:rPr>
              <a:pPr>
                <a:defRPr/>
              </a:pPr>
              <a:t>62</a:t>
            </a:fld>
            <a:endParaRPr lang="en-US">
              <a:solidFill>
                <a:prstClr val="black"/>
              </a:solidFill>
            </a:endParaRPr>
          </a:p>
        </p:txBody>
      </p:sp>
    </p:spTree>
    <p:extLst>
      <p:ext uri="{BB962C8B-B14F-4D97-AF65-F5344CB8AC3E}">
        <p14:creationId xmlns:p14="http://schemas.microsoft.com/office/powerpoint/2010/main" val="18420270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63</a:t>
            </a:fld>
            <a:endParaRPr lang="en-US"/>
          </a:p>
        </p:txBody>
      </p:sp>
    </p:spTree>
    <p:extLst>
      <p:ext uri="{BB962C8B-B14F-4D97-AF65-F5344CB8AC3E}">
        <p14:creationId xmlns:p14="http://schemas.microsoft.com/office/powerpoint/2010/main" val="13037103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64</a:t>
            </a:fld>
            <a:endParaRPr lang="en-US"/>
          </a:p>
        </p:txBody>
      </p:sp>
    </p:spTree>
    <p:extLst>
      <p:ext uri="{BB962C8B-B14F-4D97-AF65-F5344CB8AC3E}">
        <p14:creationId xmlns:p14="http://schemas.microsoft.com/office/powerpoint/2010/main" val="18974241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65</a:t>
            </a:fld>
            <a:endParaRPr lang="en-US"/>
          </a:p>
        </p:txBody>
      </p:sp>
    </p:spTree>
    <p:extLst>
      <p:ext uri="{BB962C8B-B14F-4D97-AF65-F5344CB8AC3E}">
        <p14:creationId xmlns:p14="http://schemas.microsoft.com/office/powerpoint/2010/main" val="12537079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66</a:t>
            </a:fld>
            <a:endParaRPr lang="en-US"/>
          </a:p>
        </p:txBody>
      </p:sp>
    </p:spTree>
    <p:extLst>
      <p:ext uri="{BB962C8B-B14F-4D97-AF65-F5344CB8AC3E}">
        <p14:creationId xmlns:p14="http://schemas.microsoft.com/office/powerpoint/2010/main" val="24240451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67</a:t>
            </a:fld>
            <a:endParaRPr lang="en-US"/>
          </a:p>
        </p:txBody>
      </p:sp>
    </p:spTree>
    <p:extLst>
      <p:ext uri="{BB962C8B-B14F-4D97-AF65-F5344CB8AC3E}">
        <p14:creationId xmlns:p14="http://schemas.microsoft.com/office/powerpoint/2010/main" val="9162144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68</a:t>
            </a:fld>
            <a:endParaRPr lang="en-US"/>
          </a:p>
        </p:txBody>
      </p:sp>
    </p:spTree>
    <p:extLst>
      <p:ext uri="{BB962C8B-B14F-4D97-AF65-F5344CB8AC3E}">
        <p14:creationId xmlns:p14="http://schemas.microsoft.com/office/powerpoint/2010/main" val="38379563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69</a:t>
            </a:fld>
            <a:endParaRPr lang="en-US"/>
          </a:p>
        </p:txBody>
      </p:sp>
    </p:spTree>
    <p:extLst>
      <p:ext uri="{BB962C8B-B14F-4D97-AF65-F5344CB8AC3E}">
        <p14:creationId xmlns:p14="http://schemas.microsoft.com/office/powerpoint/2010/main" val="4011640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70</a:t>
            </a:fld>
            <a:endParaRPr lang="en-US"/>
          </a:p>
        </p:txBody>
      </p:sp>
    </p:spTree>
    <p:extLst>
      <p:ext uri="{BB962C8B-B14F-4D97-AF65-F5344CB8AC3E}">
        <p14:creationId xmlns:p14="http://schemas.microsoft.com/office/powerpoint/2010/main" val="18524748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71</a:t>
            </a:fld>
            <a:endParaRPr lang="en-US"/>
          </a:p>
        </p:txBody>
      </p:sp>
    </p:spTree>
    <p:extLst>
      <p:ext uri="{BB962C8B-B14F-4D97-AF65-F5344CB8AC3E}">
        <p14:creationId xmlns:p14="http://schemas.microsoft.com/office/powerpoint/2010/main" val="4314438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72</a:t>
            </a:fld>
            <a:endParaRPr lang="en-US"/>
          </a:p>
        </p:txBody>
      </p:sp>
    </p:spTree>
    <p:extLst>
      <p:ext uri="{BB962C8B-B14F-4D97-AF65-F5344CB8AC3E}">
        <p14:creationId xmlns:p14="http://schemas.microsoft.com/office/powerpoint/2010/main" val="35918890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73</a:t>
            </a:fld>
            <a:endParaRPr lang="en-US"/>
          </a:p>
        </p:txBody>
      </p:sp>
    </p:spTree>
    <p:extLst>
      <p:ext uri="{BB962C8B-B14F-4D97-AF65-F5344CB8AC3E}">
        <p14:creationId xmlns:p14="http://schemas.microsoft.com/office/powerpoint/2010/main" val="35021776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75</a:t>
            </a:fld>
            <a:endParaRPr lang="en-US"/>
          </a:p>
        </p:txBody>
      </p:sp>
    </p:spTree>
    <p:extLst>
      <p:ext uri="{BB962C8B-B14F-4D97-AF65-F5344CB8AC3E}">
        <p14:creationId xmlns:p14="http://schemas.microsoft.com/office/powerpoint/2010/main" val="42427382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77</a:t>
            </a:fld>
            <a:endParaRPr lang="en-US"/>
          </a:p>
        </p:txBody>
      </p:sp>
    </p:spTree>
    <p:extLst>
      <p:ext uri="{BB962C8B-B14F-4D97-AF65-F5344CB8AC3E}">
        <p14:creationId xmlns:p14="http://schemas.microsoft.com/office/powerpoint/2010/main" val="30833401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
        <p:nvSpPr>
          <p:cNvPr id="10854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8CA8DFEF-AC28-462D-B672-8FAC946256D0}" type="slidenum">
              <a:rPr lang="en-US" altLang="en-US">
                <a:solidFill>
                  <a:prstClr val="black"/>
                </a:solidFill>
              </a:rPr>
              <a:pPr eaLnBrk="1" hangingPunct="1"/>
              <a:t>82</a:t>
            </a:fld>
            <a:endParaRPr lang="en-US" altLang="en-US">
              <a:solidFill>
                <a:prstClr val="black"/>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C742E01-98DC-4247-8719-F066976EF359}" type="slidenum">
              <a:rPr lang="en-US" smtClean="0">
                <a:solidFill>
                  <a:prstClr val="black"/>
                </a:solidFill>
              </a:rPr>
              <a:pPr>
                <a:defRPr/>
              </a:pPr>
              <a:t>83</a:t>
            </a:fld>
            <a:endParaRPr lang="en-US">
              <a:solidFill>
                <a:prstClr val="black"/>
              </a:solidFill>
            </a:endParaRPr>
          </a:p>
        </p:txBody>
      </p:sp>
    </p:spTree>
    <p:extLst>
      <p:ext uri="{BB962C8B-B14F-4D97-AF65-F5344CB8AC3E}">
        <p14:creationId xmlns:p14="http://schemas.microsoft.com/office/powerpoint/2010/main" val="259951583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4C742E01-98DC-4247-8719-F066976EF359}" type="slidenum">
              <a:rPr lang="en-US" smtClean="0">
                <a:solidFill>
                  <a:prstClr val="black"/>
                </a:solidFill>
              </a:rPr>
              <a:pPr>
                <a:defRPr/>
              </a:pPr>
              <a:t>84</a:t>
            </a:fld>
            <a:endParaRPr lang="en-US">
              <a:solidFill>
                <a:prstClr val="black"/>
              </a:solidFill>
            </a:endParaRPr>
          </a:p>
        </p:txBody>
      </p:sp>
    </p:spTree>
    <p:extLst>
      <p:ext uri="{BB962C8B-B14F-4D97-AF65-F5344CB8AC3E}">
        <p14:creationId xmlns:p14="http://schemas.microsoft.com/office/powerpoint/2010/main" val="218582558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spcBef>
                <a:spcPct val="40000"/>
              </a:spcBef>
            </a:pPr>
            <a:endParaRPr lang="en-US" altLang="en-US"/>
          </a:p>
        </p:txBody>
      </p:sp>
      <p:sp>
        <p:nvSpPr>
          <p:cNvPr id="10957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437" eaLnBrk="0" hangingPunct="0">
              <a:defRPr>
                <a:solidFill>
                  <a:schemeClr val="tx1"/>
                </a:solidFill>
                <a:latin typeface="Arial" pitchFamily="34" charset="0"/>
                <a:ea typeface="ＭＳ Ｐゴシック" pitchFamily="34" charset="-128"/>
              </a:defRPr>
            </a:lvl1pPr>
            <a:lvl2pPr marL="729057" indent="-280406" defTabSz="914437" eaLnBrk="0" hangingPunct="0">
              <a:defRPr>
                <a:solidFill>
                  <a:schemeClr val="tx1"/>
                </a:solidFill>
                <a:latin typeface="Arial" pitchFamily="34" charset="0"/>
                <a:ea typeface="ＭＳ Ｐゴシック" pitchFamily="34" charset="-128"/>
              </a:defRPr>
            </a:lvl2pPr>
            <a:lvl3pPr marL="1121626" indent="-224325" defTabSz="914437" eaLnBrk="0" hangingPunct="0">
              <a:defRPr>
                <a:solidFill>
                  <a:schemeClr val="tx1"/>
                </a:solidFill>
                <a:latin typeface="Arial" pitchFamily="34" charset="0"/>
                <a:ea typeface="ＭＳ Ｐゴシック" pitchFamily="34" charset="-128"/>
              </a:defRPr>
            </a:lvl3pPr>
            <a:lvl4pPr marL="1570276" indent="-224325" defTabSz="914437" eaLnBrk="0" hangingPunct="0">
              <a:defRPr>
                <a:solidFill>
                  <a:schemeClr val="tx1"/>
                </a:solidFill>
                <a:latin typeface="Arial" pitchFamily="34" charset="0"/>
                <a:ea typeface="ＭＳ Ｐゴシック" pitchFamily="34" charset="-128"/>
              </a:defRPr>
            </a:lvl4pPr>
            <a:lvl5pPr marL="2018927" indent="-224325" defTabSz="914437" eaLnBrk="0" hangingPunct="0">
              <a:defRPr>
                <a:solidFill>
                  <a:schemeClr val="tx1"/>
                </a:solidFill>
                <a:latin typeface="Arial" pitchFamily="34" charset="0"/>
                <a:ea typeface="ＭＳ Ｐゴシック" pitchFamily="34" charset="-128"/>
              </a:defRPr>
            </a:lvl5pPr>
            <a:lvl6pPr marL="246757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6pPr>
            <a:lvl7pPr marL="2916227"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7pPr>
            <a:lvl8pPr marL="336487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8pPr>
            <a:lvl9pPr marL="3813528" indent="-224325" algn="r" defTabSz="914437"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8DC0119A-C2FB-40F0-8A95-7B6681A1CF75}" type="slidenum">
              <a:rPr lang="en-US" altLang="en-US">
                <a:solidFill>
                  <a:prstClr val="black"/>
                </a:solidFill>
              </a:rPr>
              <a:pPr eaLnBrk="1" hangingPunct="1"/>
              <a:t>85</a:t>
            </a:fld>
            <a:endParaRPr lang="en-US" altLang="en-US">
              <a:solidFill>
                <a:prstClr val="black"/>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C742E01-98DC-4247-8719-F066976EF359}" type="slidenum">
              <a:rPr lang="en-US" smtClean="0">
                <a:solidFill>
                  <a:prstClr val="black"/>
                </a:solidFill>
              </a:rPr>
              <a:pPr>
                <a:defRPr/>
              </a:pPr>
              <a:t>86</a:t>
            </a:fld>
            <a:endParaRPr lang="en-US">
              <a:solidFill>
                <a:prstClr val="black"/>
              </a:solidFill>
            </a:endParaRPr>
          </a:p>
        </p:txBody>
      </p:sp>
    </p:spTree>
    <p:extLst>
      <p:ext uri="{BB962C8B-B14F-4D97-AF65-F5344CB8AC3E}">
        <p14:creationId xmlns:p14="http://schemas.microsoft.com/office/powerpoint/2010/main" val="11483257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71CF4C-991F-234B-8EA8-AC9F72958216}" type="slidenum">
              <a:rPr lang="en-US" smtClean="0"/>
              <a:t>87</a:t>
            </a:fld>
            <a:endParaRPr lang="en-US"/>
          </a:p>
        </p:txBody>
      </p:sp>
    </p:spTree>
    <p:extLst>
      <p:ext uri="{BB962C8B-B14F-4D97-AF65-F5344CB8AC3E}">
        <p14:creationId xmlns:p14="http://schemas.microsoft.com/office/powerpoint/2010/main" val="124700702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9B2C62-FE30-453D-946B-754E9E42C8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412821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89</a:t>
            </a:fld>
            <a:endParaRPr lang="en-US"/>
          </a:p>
        </p:txBody>
      </p:sp>
    </p:spTree>
    <p:extLst>
      <p:ext uri="{BB962C8B-B14F-4D97-AF65-F5344CB8AC3E}">
        <p14:creationId xmlns:p14="http://schemas.microsoft.com/office/powerpoint/2010/main" val="17181310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91</a:t>
            </a:fld>
            <a:endParaRPr lang="en-US"/>
          </a:p>
        </p:txBody>
      </p:sp>
    </p:spTree>
    <p:extLst>
      <p:ext uri="{BB962C8B-B14F-4D97-AF65-F5344CB8AC3E}">
        <p14:creationId xmlns:p14="http://schemas.microsoft.com/office/powerpoint/2010/main" val="127424380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71CF4C-991F-234B-8EA8-AC9F72958216}" type="slidenum">
              <a:rPr lang="en-US" smtClean="0"/>
              <a:t>92</a:t>
            </a:fld>
            <a:endParaRPr lang="en-US"/>
          </a:p>
        </p:txBody>
      </p:sp>
    </p:spTree>
    <p:extLst>
      <p:ext uri="{BB962C8B-B14F-4D97-AF65-F5344CB8AC3E}">
        <p14:creationId xmlns:p14="http://schemas.microsoft.com/office/powerpoint/2010/main" val="333670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solidFill>
                <a:srgbClr val="000066"/>
              </a:solidFill>
            </a:endParaRPr>
          </a:p>
        </p:txBody>
      </p:sp>
      <p:sp>
        <p:nvSpPr>
          <p:cNvPr id="5" name="Footer Placeholder 4"/>
          <p:cNvSpPr>
            <a:spLocks noGrp="1"/>
          </p:cNvSpPr>
          <p:nvPr>
            <p:ph type="ftr" sz="quarter" idx="11"/>
          </p:nvPr>
        </p:nvSpPr>
        <p:spPr/>
        <p:txBody>
          <a:bodyPr/>
          <a:lstStyle/>
          <a:p>
            <a:pPr>
              <a:defRPr/>
            </a:pPr>
            <a:endParaRPr lang="en-US">
              <a:solidFill>
                <a:srgbClr val="000066"/>
              </a:solidFill>
            </a:endParaRPr>
          </a:p>
        </p:txBody>
      </p:sp>
      <p:sp>
        <p:nvSpPr>
          <p:cNvPr id="6" name="Slide Number Placeholder 5"/>
          <p:cNvSpPr>
            <a:spLocks noGrp="1"/>
          </p:cNvSpPr>
          <p:nvPr>
            <p:ph type="sldNum" sz="quarter" idx="12"/>
          </p:nvPr>
        </p:nvSpPr>
        <p:spPr/>
        <p:txBody>
          <a:bodyPr/>
          <a:lstStyle/>
          <a:p>
            <a:pPr>
              <a:defRPr/>
            </a:pPr>
            <a:fld id="{B8C167BF-6EE7-4734-9CD4-F0A5DDA7BA31}"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106274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solidFill>
                <a:srgbClr val="000066"/>
              </a:solidFill>
            </a:endParaRPr>
          </a:p>
        </p:txBody>
      </p:sp>
      <p:sp>
        <p:nvSpPr>
          <p:cNvPr id="5" name="Footer Placeholder 4"/>
          <p:cNvSpPr>
            <a:spLocks noGrp="1"/>
          </p:cNvSpPr>
          <p:nvPr>
            <p:ph type="ftr" sz="quarter" idx="11"/>
          </p:nvPr>
        </p:nvSpPr>
        <p:spPr/>
        <p:txBody>
          <a:bodyPr/>
          <a:lstStyle/>
          <a:p>
            <a:pPr>
              <a:defRPr/>
            </a:pPr>
            <a:endParaRPr lang="en-US">
              <a:solidFill>
                <a:srgbClr val="000066"/>
              </a:solidFill>
            </a:endParaRPr>
          </a:p>
        </p:txBody>
      </p:sp>
      <p:sp>
        <p:nvSpPr>
          <p:cNvPr id="6" name="Slide Number Placeholder 5"/>
          <p:cNvSpPr>
            <a:spLocks noGrp="1"/>
          </p:cNvSpPr>
          <p:nvPr>
            <p:ph type="sldNum" sz="quarter" idx="12"/>
          </p:nvPr>
        </p:nvSpPr>
        <p:spPr/>
        <p:txBody>
          <a:bodyPr/>
          <a:lstStyle/>
          <a:p>
            <a:pPr>
              <a:defRPr/>
            </a:pPr>
            <a:fld id="{ADB9FA76-48D3-4728-B23D-0FCAC9EEF296}"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56778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solidFill>
                <a:srgbClr val="000066"/>
              </a:solidFill>
            </a:endParaRPr>
          </a:p>
        </p:txBody>
      </p:sp>
      <p:sp>
        <p:nvSpPr>
          <p:cNvPr id="5" name="Footer Placeholder 4"/>
          <p:cNvSpPr>
            <a:spLocks noGrp="1"/>
          </p:cNvSpPr>
          <p:nvPr>
            <p:ph type="ftr" sz="quarter" idx="11"/>
          </p:nvPr>
        </p:nvSpPr>
        <p:spPr/>
        <p:txBody>
          <a:bodyPr/>
          <a:lstStyle/>
          <a:p>
            <a:pPr>
              <a:defRPr/>
            </a:pPr>
            <a:endParaRPr lang="en-US">
              <a:solidFill>
                <a:srgbClr val="000066"/>
              </a:solidFill>
            </a:endParaRPr>
          </a:p>
        </p:txBody>
      </p:sp>
      <p:sp>
        <p:nvSpPr>
          <p:cNvPr id="6" name="Slide Number Placeholder 5"/>
          <p:cNvSpPr>
            <a:spLocks noGrp="1"/>
          </p:cNvSpPr>
          <p:nvPr>
            <p:ph type="sldNum" sz="quarter" idx="12"/>
          </p:nvPr>
        </p:nvSpPr>
        <p:spPr/>
        <p:txBody>
          <a:bodyPr/>
          <a:lstStyle/>
          <a:p>
            <a:pPr>
              <a:defRPr/>
            </a:pPr>
            <a:fld id="{B6232604-5F2D-45FF-AD0A-3B9B3FE9A70F}"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755681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solidFill>
                <a:srgbClr val="000066"/>
              </a:solidFill>
            </a:endParaRPr>
          </a:p>
        </p:txBody>
      </p:sp>
      <p:sp>
        <p:nvSpPr>
          <p:cNvPr id="6" name="Footer Placeholder 5"/>
          <p:cNvSpPr>
            <a:spLocks noGrp="1"/>
          </p:cNvSpPr>
          <p:nvPr>
            <p:ph type="ftr" sz="quarter" idx="11"/>
          </p:nvPr>
        </p:nvSpPr>
        <p:spPr/>
        <p:txBody>
          <a:bodyPr/>
          <a:lstStyle/>
          <a:p>
            <a:pPr>
              <a:defRPr/>
            </a:pPr>
            <a:endParaRPr lang="en-US">
              <a:solidFill>
                <a:srgbClr val="000066"/>
              </a:solidFill>
            </a:endParaRPr>
          </a:p>
        </p:txBody>
      </p:sp>
      <p:sp>
        <p:nvSpPr>
          <p:cNvPr id="7" name="Slide Number Placeholder 6"/>
          <p:cNvSpPr>
            <a:spLocks noGrp="1"/>
          </p:cNvSpPr>
          <p:nvPr>
            <p:ph type="sldNum" sz="quarter" idx="12"/>
          </p:nvPr>
        </p:nvSpPr>
        <p:spPr/>
        <p:txBody>
          <a:bodyPr/>
          <a:lstStyle/>
          <a:p>
            <a:pPr>
              <a:defRPr/>
            </a:pPr>
            <a:fld id="{2B08BE7F-51EC-4181-A1E2-4E6B4F3ABD75}"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142462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solidFill>
                <a:srgbClr val="000066"/>
              </a:solidFill>
            </a:endParaRPr>
          </a:p>
        </p:txBody>
      </p:sp>
      <p:sp>
        <p:nvSpPr>
          <p:cNvPr id="8" name="Footer Placeholder 7"/>
          <p:cNvSpPr>
            <a:spLocks noGrp="1"/>
          </p:cNvSpPr>
          <p:nvPr>
            <p:ph type="ftr" sz="quarter" idx="11"/>
          </p:nvPr>
        </p:nvSpPr>
        <p:spPr/>
        <p:txBody>
          <a:bodyPr/>
          <a:lstStyle/>
          <a:p>
            <a:pPr>
              <a:defRPr/>
            </a:pPr>
            <a:endParaRPr lang="en-US">
              <a:solidFill>
                <a:srgbClr val="000066"/>
              </a:solidFill>
            </a:endParaRPr>
          </a:p>
        </p:txBody>
      </p:sp>
      <p:sp>
        <p:nvSpPr>
          <p:cNvPr id="9" name="Slide Number Placeholder 8"/>
          <p:cNvSpPr>
            <a:spLocks noGrp="1"/>
          </p:cNvSpPr>
          <p:nvPr>
            <p:ph type="sldNum" sz="quarter" idx="12"/>
          </p:nvPr>
        </p:nvSpPr>
        <p:spPr/>
        <p:txBody>
          <a:bodyPr/>
          <a:lstStyle/>
          <a:p>
            <a:pPr>
              <a:defRPr/>
            </a:pPr>
            <a:fld id="{C940D7CA-74E2-4779-8DDC-3C03045A10CE}"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818161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solidFill>
                <a:srgbClr val="000066"/>
              </a:solidFill>
            </a:endParaRPr>
          </a:p>
        </p:txBody>
      </p:sp>
      <p:sp>
        <p:nvSpPr>
          <p:cNvPr id="4" name="Footer Placeholder 3"/>
          <p:cNvSpPr>
            <a:spLocks noGrp="1"/>
          </p:cNvSpPr>
          <p:nvPr>
            <p:ph type="ftr" sz="quarter" idx="11"/>
          </p:nvPr>
        </p:nvSpPr>
        <p:spPr/>
        <p:txBody>
          <a:bodyPr/>
          <a:lstStyle/>
          <a:p>
            <a:pPr>
              <a:defRPr/>
            </a:pPr>
            <a:endParaRPr lang="en-US">
              <a:solidFill>
                <a:srgbClr val="000066"/>
              </a:solidFill>
            </a:endParaRPr>
          </a:p>
        </p:txBody>
      </p:sp>
      <p:sp>
        <p:nvSpPr>
          <p:cNvPr id="5" name="Slide Number Placeholder 4"/>
          <p:cNvSpPr>
            <a:spLocks noGrp="1"/>
          </p:cNvSpPr>
          <p:nvPr>
            <p:ph type="sldNum" sz="quarter" idx="12"/>
          </p:nvPr>
        </p:nvSpPr>
        <p:spPr/>
        <p:txBody>
          <a:bodyPr/>
          <a:lstStyle/>
          <a:p>
            <a:pPr>
              <a:defRPr/>
            </a:pPr>
            <a:fld id="{E328A58F-E86F-4E2E-AC70-6787BF413540}"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50373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solidFill>
                <a:srgbClr val="000066"/>
              </a:solidFill>
            </a:endParaRPr>
          </a:p>
        </p:txBody>
      </p:sp>
      <p:sp>
        <p:nvSpPr>
          <p:cNvPr id="3" name="Footer Placeholder 2"/>
          <p:cNvSpPr>
            <a:spLocks noGrp="1"/>
          </p:cNvSpPr>
          <p:nvPr>
            <p:ph type="ftr" sz="quarter" idx="11"/>
          </p:nvPr>
        </p:nvSpPr>
        <p:spPr/>
        <p:txBody>
          <a:bodyPr/>
          <a:lstStyle/>
          <a:p>
            <a:pPr>
              <a:defRPr/>
            </a:pPr>
            <a:endParaRPr lang="en-US">
              <a:solidFill>
                <a:srgbClr val="000066"/>
              </a:solidFill>
            </a:endParaRPr>
          </a:p>
        </p:txBody>
      </p:sp>
      <p:sp>
        <p:nvSpPr>
          <p:cNvPr id="4" name="Slide Number Placeholder 3"/>
          <p:cNvSpPr>
            <a:spLocks noGrp="1"/>
          </p:cNvSpPr>
          <p:nvPr>
            <p:ph type="sldNum" sz="quarter" idx="12"/>
          </p:nvPr>
        </p:nvSpPr>
        <p:spPr/>
        <p:txBody>
          <a:bodyPr/>
          <a:lstStyle/>
          <a:p>
            <a:pPr>
              <a:defRPr/>
            </a:pPr>
            <a:fld id="{5E17F12C-5B93-497B-8FA1-46CFAB139ED7}"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436528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solidFill>
                <a:srgbClr val="000066"/>
              </a:solidFill>
            </a:endParaRPr>
          </a:p>
        </p:txBody>
      </p:sp>
      <p:sp>
        <p:nvSpPr>
          <p:cNvPr id="6" name="Footer Placeholder 5"/>
          <p:cNvSpPr>
            <a:spLocks noGrp="1"/>
          </p:cNvSpPr>
          <p:nvPr>
            <p:ph type="ftr" sz="quarter" idx="11"/>
          </p:nvPr>
        </p:nvSpPr>
        <p:spPr/>
        <p:txBody>
          <a:bodyPr/>
          <a:lstStyle/>
          <a:p>
            <a:pPr>
              <a:defRPr/>
            </a:pPr>
            <a:endParaRPr lang="en-US">
              <a:solidFill>
                <a:srgbClr val="000066"/>
              </a:solidFill>
            </a:endParaRPr>
          </a:p>
        </p:txBody>
      </p:sp>
      <p:sp>
        <p:nvSpPr>
          <p:cNvPr id="7" name="Slide Number Placeholder 6"/>
          <p:cNvSpPr>
            <a:spLocks noGrp="1"/>
          </p:cNvSpPr>
          <p:nvPr>
            <p:ph type="sldNum" sz="quarter" idx="12"/>
          </p:nvPr>
        </p:nvSpPr>
        <p:spPr/>
        <p:txBody>
          <a:bodyPr/>
          <a:lstStyle/>
          <a:p>
            <a:pPr>
              <a:defRPr/>
            </a:pPr>
            <a:fld id="{69B2578A-D5A8-4DDF-957C-CC11A039B171}"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838814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solidFill>
                <a:srgbClr val="000066"/>
              </a:solidFill>
            </a:endParaRPr>
          </a:p>
        </p:txBody>
      </p:sp>
      <p:sp>
        <p:nvSpPr>
          <p:cNvPr id="6" name="Footer Placeholder 5"/>
          <p:cNvSpPr>
            <a:spLocks noGrp="1"/>
          </p:cNvSpPr>
          <p:nvPr>
            <p:ph type="ftr" sz="quarter" idx="11"/>
          </p:nvPr>
        </p:nvSpPr>
        <p:spPr/>
        <p:txBody>
          <a:bodyPr/>
          <a:lstStyle/>
          <a:p>
            <a:pPr>
              <a:defRPr/>
            </a:pPr>
            <a:endParaRPr lang="en-US">
              <a:solidFill>
                <a:srgbClr val="000066"/>
              </a:solidFill>
            </a:endParaRPr>
          </a:p>
        </p:txBody>
      </p:sp>
      <p:sp>
        <p:nvSpPr>
          <p:cNvPr id="7" name="Slide Number Placeholder 6"/>
          <p:cNvSpPr>
            <a:spLocks noGrp="1"/>
          </p:cNvSpPr>
          <p:nvPr>
            <p:ph type="sldNum" sz="quarter" idx="12"/>
          </p:nvPr>
        </p:nvSpPr>
        <p:spPr/>
        <p:txBody>
          <a:bodyPr/>
          <a:lstStyle/>
          <a:p>
            <a:pPr>
              <a:defRPr/>
            </a:pPr>
            <a:fld id="{F21F2A9A-4137-4224-B65D-760403066BB6}"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456604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solidFill>
                <a:srgbClr val="000066"/>
              </a:solidFill>
            </a:endParaRPr>
          </a:p>
        </p:txBody>
      </p:sp>
      <p:sp>
        <p:nvSpPr>
          <p:cNvPr id="5" name="Footer Placeholder 4"/>
          <p:cNvSpPr>
            <a:spLocks noGrp="1"/>
          </p:cNvSpPr>
          <p:nvPr>
            <p:ph type="ftr" sz="quarter" idx="11"/>
          </p:nvPr>
        </p:nvSpPr>
        <p:spPr/>
        <p:txBody>
          <a:bodyPr/>
          <a:lstStyle/>
          <a:p>
            <a:pPr>
              <a:defRPr/>
            </a:pPr>
            <a:endParaRPr lang="en-US">
              <a:solidFill>
                <a:srgbClr val="000066"/>
              </a:solidFill>
            </a:endParaRPr>
          </a:p>
        </p:txBody>
      </p:sp>
      <p:sp>
        <p:nvSpPr>
          <p:cNvPr id="6" name="Slide Number Placeholder 5"/>
          <p:cNvSpPr>
            <a:spLocks noGrp="1"/>
          </p:cNvSpPr>
          <p:nvPr>
            <p:ph type="sldNum" sz="quarter" idx="12"/>
          </p:nvPr>
        </p:nvSpPr>
        <p:spPr/>
        <p:txBody>
          <a:bodyPr/>
          <a:lstStyle/>
          <a:p>
            <a:pPr>
              <a:defRPr/>
            </a:pPr>
            <a:fld id="{19726FA1-8392-47FE-84BD-FBD51E205761}"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228188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solidFill>
                <a:srgbClr val="000066"/>
              </a:solidFill>
            </a:endParaRPr>
          </a:p>
        </p:txBody>
      </p:sp>
      <p:sp>
        <p:nvSpPr>
          <p:cNvPr id="5" name="Footer Placeholder 4"/>
          <p:cNvSpPr>
            <a:spLocks noGrp="1"/>
          </p:cNvSpPr>
          <p:nvPr>
            <p:ph type="ftr" sz="quarter" idx="11"/>
          </p:nvPr>
        </p:nvSpPr>
        <p:spPr/>
        <p:txBody>
          <a:bodyPr/>
          <a:lstStyle/>
          <a:p>
            <a:pPr>
              <a:defRPr/>
            </a:pPr>
            <a:endParaRPr lang="en-US">
              <a:solidFill>
                <a:srgbClr val="000066"/>
              </a:solidFill>
            </a:endParaRPr>
          </a:p>
        </p:txBody>
      </p:sp>
      <p:sp>
        <p:nvSpPr>
          <p:cNvPr id="6" name="Slide Number Placeholder 5"/>
          <p:cNvSpPr>
            <a:spLocks noGrp="1"/>
          </p:cNvSpPr>
          <p:nvPr>
            <p:ph type="sldNum" sz="quarter" idx="12"/>
          </p:nvPr>
        </p:nvSpPr>
        <p:spPr/>
        <p:txBody>
          <a:bodyPr/>
          <a:lstStyle/>
          <a:p>
            <a:pPr>
              <a:defRPr/>
            </a:pPr>
            <a:fld id="{7C7DADDF-B8DE-4B24-AC05-DEE6DD2D7669}"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409091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2"/>
        </a:solidFill>
        <a:effectLst/>
      </p:bgPr>
    </p:bg>
    <p:spTree>
      <p:nvGrpSpPr>
        <p:cNvPr id="1" name=""/>
        <p:cNvGrpSpPr/>
        <p:nvPr/>
      </p:nvGrpSpPr>
      <p:grpSpPr>
        <a:xfrm>
          <a:off x="0" y="0"/>
          <a:ext cx="0" cy="0"/>
          <a:chOff x="0" y="0"/>
          <a:chExt cx="0" cy="0"/>
        </a:xfrm>
      </p:grpSpPr>
      <p:sp>
        <p:nvSpPr>
          <p:cNvPr id="12" name="Text Placeholder 21">
            <a:extLst>
              <a:ext uri="{FF2B5EF4-FFF2-40B4-BE49-F238E27FC236}">
                <a16:creationId xmlns:a16="http://schemas.microsoft.com/office/drawing/2014/main" id="{F2964EA8-200F-47C5-90C2-1DBA3D6D7CDB}"/>
              </a:ext>
            </a:extLst>
          </p:cNvPr>
          <p:cNvSpPr>
            <a:spLocks noGrp="1"/>
          </p:cNvSpPr>
          <p:nvPr>
            <p:ph type="body" sz="quarter" idx="12"/>
          </p:nvPr>
        </p:nvSpPr>
        <p:spPr>
          <a:xfrm>
            <a:off x="1028700" y="5078187"/>
            <a:ext cx="3222058" cy="964620"/>
          </a:xfrm>
        </p:spPr>
        <p:txBody>
          <a:bodyPr>
            <a:noAutofit/>
          </a:bodyPr>
          <a:lstStyle>
            <a:lvl1pPr marL="0" indent="0">
              <a:buNone/>
              <a:defRPr sz="1400">
                <a:solidFill>
                  <a:schemeClr val="accent2">
                    <a:lumMod val="50000"/>
                  </a:schemeClr>
                </a:solidFill>
              </a:defRPr>
            </a:lvl1pPr>
            <a:lvl2pPr marL="457200" indent="0">
              <a:buNone/>
              <a:defRPr sz="1400">
                <a:solidFill>
                  <a:schemeClr val="bg2">
                    <a:lumMod val="50000"/>
                  </a:schemeClr>
                </a:solidFill>
              </a:defRPr>
            </a:lvl2pPr>
            <a:lvl3pPr marL="914400" indent="0">
              <a:buNone/>
              <a:defRPr sz="1400">
                <a:solidFill>
                  <a:schemeClr val="bg2">
                    <a:lumMod val="50000"/>
                  </a:schemeClr>
                </a:solidFill>
              </a:defRPr>
            </a:lvl3pPr>
            <a:lvl4pPr marL="1371600" indent="0">
              <a:buNone/>
              <a:defRPr sz="1400">
                <a:solidFill>
                  <a:schemeClr val="bg2">
                    <a:lumMod val="50000"/>
                  </a:schemeClr>
                </a:solidFill>
              </a:defRPr>
            </a:lvl4pPr>
            <a:lvl5pPr marL="1828800" indent="0">
              <a:buNone/>
              <a:defRPr sz="1400">
                <a:solidFill>
                  <a:schemeClr val="bg2">
                    <a:lumMod val="50000"/>
                  </a:schemeClr>
                </a:solidFill>
              </a:defRPr>
            </a:lvl5pPr>
          </a:lstStyle>
          <a:p>
            <a:pPr lvl="0"/>
            <a:r>
              <a:rPr lang="en-US"/>
              <a:t>Click to edit Master text styles</a:t>
            </a:r>
          </a:p>
        </p:txBody>
      </p:sp>
      <p:sp>
        <p:nvSpPr>
          <p:cNvPr id="13" name="Picture Placeholder 19">
            <a:extLst>
              <a:ext uri="{FF2B5EF4-FFF2-40B4-BE49-F238E27FC236}">
                <a16:creationId xmlns:a16="http://schemas.microsoft.com/office/drawing/2014/main" id="{7878E298-5074-4E51-993E-34931A897F12}"/>
              </a:ext>
            </a:extLst>
          </p:cNvPr>
          <p:cNvSpPr>
            <a:spLocks noGrp="1"/>
          </p:cNvSpPr>
          <p:nvPr>
            <p:ph type="pic" sz="quarter" idx="11"/>
          </p:nvPr>
        </p:nvSpPr>
        <p:spPr>
          <a:xfrm>
            <a:off x="6221413" y="0"/>
            <a:ext cx="4941887" cy="5726113"/>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42D26D0E-18C6-4DB1-B3A5-75E29BD65B17}"/>
              </a:ext>
            </a:extLst>
          </p:cNvPr>
          <p:cNvCxnSpPr>
            <a:cxnSpLocks/>
          </p:cNvCxnSpPr>
          <p:nvPr userDrawn="1"/>
        </p:nvCxnSpPr>
        <p:spPr>
          <a:xfrm>
            <a:off x="1028700" y="457211"/>
            <a:ext cx="1142999" cy="0"/>
          </a:xfrm>
          <a:prstGeom prst="line">
            <a:avLst/>
          </a:prstGeom>
          <a:noFill/>
          <a:ln w="15875" cap="flat" cmpd="sng" algn="ctr">
            <a:solidFill>
              <a:schemeClr val="accent2">
                <a:lumMod val="50000"/>
              </a:schemeClr>
            </a:solidFill>
            <a:prstDash val="solid"/>
            <a:miter lim="800000"/>
          </a:ln>
          <a:effectLst/>
        </p:spPr>
      </p:cxnSp>
      <p:sp>
        <p:nvSpPr>
          <p:cNvPr id="2" name="Title 1">
            <a:extLst>
              <a:ext uri="{FF2B5EF4-FFF2-40B4-BE49-F238E27FC236}">
                <a16:creationId xmlns:a16="http://schemas.microsoft.com/office/drawing/2014/main" id="{3989B90B-5C3C-4760-9360-5AE10BF87B9D}"/>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lnSpc>
                <a:spcPct val="90000"/>
              </a:lnSpc>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237870628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661D25CF-5413-4949-A54A-8716608406B5}"/>
              </a:ext>
            </a:extLst>
          </p:cNvPr>
          <p:cNvSpPr>
            <a:spLocks noGrp="1"/>
          </p:cNvSpPr>
          <p:nvPr>
            <p:ph type="body" sz="quarter" idx="11"/>
          </p:nvPr>
        </p:nvSpPr>
        <p:spPr>
          <a:xfrm>
            <a:off x="7258050" y="2000250"/>
            <a:ext cx="4667250" cy="3398837"/>
          </a:xfrm>
        </p:spPr>
        <p:txBody>
          <a:bodyPr>
            <a:normAutofit/>
          </a:bodyPr>
          <a:lstStyle>
            <a:lvl1pPr marL="0" indent="0">
              <a:lnSpc>
                <a:spcPct val="150000"/>
              </a:lnSpc>
              <a:buNone/>
              <a:defRPr sz="2000">
                <a:solidFill>
                  <a:schemeClr val="accent2">
                    <a:lumMod val="50000"/>
                  </a:schemeClr>
                </a:solidFill>
              </a:defRPr>
            </a:lvl1pPr>
          </a:lstStyle>
          <a:p>
            <a:pPr lvl="0"/>
            <a:r>
              <a:rPr lang="en-US"/>
              <a:t>Click to edit Master text styles</a:t>
            </a:r>
          </a:p>
        </p:txBody>
      </p:sp>
      <p:sp>
        <p:nvSpPr>
          <p:cNvPr id="35" name="Date Placeholder 3">
            <a:extLst>
              <a:ext uri="{FF2B5EF4-FFF2-40B4-BE49-F238E27FC236}">
                <a16:creationId xmlns:a16="http://schemas.microsoft.com/office/drawing/2014/main" id="{224E3A4F-8479-4D38-A6D4-85F0883F379F}"/>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09D4DA8-2D4A-4F06-BECA-044AF4113FB4}" type="datetime1">
              <a:rPr lang="en-US" smtClean="0"/>
              <a:t>10/5/2026</a:t>
            </a:fld>
            <a:endParaRPr lang="en-US" dirty="0"/>
          </a:p>
        </p:txBody>
      </p:sp>
      <p:sp>
        <p:nvSpPr>
          <p:cNvPr id="36" name="Slide Number Placeholder 5">
            <a:extLst>
              <a:ext uri="{FF2B5EF4-FFF2-40B4-BE49-F238E27FC236}">
                <a16:creationId xmlns:a16="http://schemas.microsoft.com/office/drawing/2014/main" id="{D5A5341A-4863-40E8-8B9A-FB4E719257AE}"/>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AD2FED0-CD95-48B0-B54A-1F64F952C6C0}"/>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p>
        </p:txBody>
      </p:sp>
      <p:cxnSp>
        <p:nvCxnSpPr>
          <p:cNvPr id="3" name="Straight Connector 2">
            <a:extLst>
              <a:ext uri="{FF2B5EF4-FFF2-40B4-BE49-F238E27FC236}">
                <a16:creationId xmlns:a16="http://schemas.microsoft.com/office/drawing/2014/main" id="{68EF5E91-A275-4181-9C62-BC0773AD0512}"/>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596301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accent1"/>
        </a:solidFill>
        <a:effectLst/>
      </p:bgPr>
    </p:bg>
    <p:spTree>
      <p:nvGrpSpPr>
        <p:cNvPr id="1" name=""/>
        <p:cNvGrpSpPr/>
        <p:nvPr/>
      </p:nvGrpSpPr>
      <p:grpSpPr>
        <a:xfrm>
          <a:off x="0" y="0"/>
          <a:ext cx="0" cy="0"/>
          <a:chOff x="0" y="0"/>
          <a:chExt cx="0" cy="0"/>
        </a:xfrm>
      </p:grpSpPr>
      <p:sp>
        <p:nvSpPr>
          <p:cNvPr id="17" name="Picture Placeholder 15">
            <a:extLst>
              <a:ext uri="{FF2B5EF4-FFF2-40B4-BE49-F238E27FC236}">
                <a16:creationId xmlns:a16="http://schemas.microsoft.com/office/drawing/2014/main" id="{423630CA-0A51-4B04-A57B-9E412A8FCD1F}"/>
              </a:ext>
            </a:extLst>
          </p:cNvPr>
          <p:cNvSpPr>
            <a:spLocks noGrp="1"/>
          </p:cNvSpPr>
          <p:nvPr>
            <p:ph type="pic" sz="quarter" idx="12"/>
          </p:nvPr>
        </p:nvSpPr>
        <p:spPr>
          <a:xfrm>
            <a:off x="8847137" y="3862387"/>
            <a:ext cx="2316163" cy="2538413"/>
          </a:xfrm>
        </p:spPr>
        <p:txBody>
          <a:bodyPr/>
          <a:lstStyle/>
          <a:p>
            <a:r>
              <a:rPr lang="en-US"/>
              <a:t>Click icon to add picture</a:t>
            </a:r>
          </a:p>
        </p:txBody>
      </p:sp>
      <p:sp>
        <p:nvSpPr>
          <p:cNvPr id="16" name="Picture Placeholder 15">
            <a:extLst>
              <a:ext uri="{FF2B5EF4-FFF2-40B4-BE49-F238E27FC236}">
                <a16:creationId xmlns:a16="http://schemas.microsoft.com/office/drawing/2014/main" id="{3C994AE8-9E30-418E-8361-5D851AFA42C5}"/>
              </a:ext>
            </a:extLst>
          </p:cNvPr>
          <p:cNvSpPr>
            <a:spLocks noGrp="1"/>
          </p:cNvSpPr>
          <p:nvPr>
            <p:ph type="pic" sz="quarter" idx="11"/>
          </p:nvPr>
        </p:nvSpPr>
        <p:spPr>
          <a:xfrm>
            <a:off x="6210300" y="3854450"/>
            <a:ext cx="2316163" cy="2538413"/>
          </a:xfrm>
        </p:spPr>
        <p:txBody>
          <a:bodyPr/>
          <a:lstStyle/>
          <a:p>
            <a:r>
              <a:rPr lang="en-US"/>
              <a:t>Click icon to add picture</a:t>
            </a:r>
          </a:p>
        </p:txBody>
      </p:sp>
      <p:sp>
        <p:nvSpPr>
          <p:cNvPr id="14" name="Picture Placeholder 13">
            <a:extLst>
              <a:ext uri="{FF2B5EF4-FFF2-40B4-BE49-F238E27FC236}">
                <a16:creationId xmlns:a16="http://schemas.microsoft.com/office/drawing/2014/main" id="{3D4E5783-2917-458E-BE61-F3D5AAA8F976}"/>
              </a:ext>
            </a:extLst>
          </p:cNvPr>
          <p:cNvSpPr>
            <a:spLocks noGrp="1"/>
          </p:cNvSpPr>
          <p:nvPr>
            <p:ph type="pic" sz="quarter" idx="10"/>
          </p:nvPr>
        </p:nvSpPr>
        <p:spPr>
          <a:xfrm>
            <a:off x="6210300" y="465138"/>
            <a:ext cx="4953000" cy="3090862"/>
          </a:xfrm>
        </p:spPr>
        <p:txBody>
          <a:bodyPr/>
          <a:lstStyle/>
          <a:p>
            <a:r>
              <a:rPr lang="en-US"/>
              <a:t>Click icon to add picture</a:t>
            </a:r>
          </a:p>
        </p:txBody>
      </p:sp>
      <p:sp>
        <p:nvSpPr>
          <p:cNvPr id="23" name="Text Placeholder 22">
            <a:extLst>
              <a:ext uri="{FF2B5EF4-FFF2-40B4-BE49-F238E27FC236}">
                <a16:creationId xmlns:a16="http://schemas.microsoft.com/office/drawing/2014/main" id="{B1D734B5-5F1C-4E34-81FF-AD75105E8391}"/>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latin typeface="+mj-lt"/>
              </a:defRPr>
            </a:lvl1pPr>
          </a:lstStyle>
          <a:p>
            <a:pPr lvl="0"/>
            <a:r>
              <a:rPr lang="en-US" dirty="0"/>
              <a:t>01</a:t>
            </a:r>
          </a:p>
        </p:txBody>
      </p:sp>
      <p:sp>
        <p:nvSpPr>
          <p:cNvPr id="19" name="Text Placeholder 18">
            <a:extLst>
              <a:ext uri="{FF2B5EF4-FFF2-40B4-BE49-F238E27FC236}">
                <a16:creationId xmlns:a16="http://schemas.microsoft.com/office/drawing/2014/main" id="{65757DE8-43D6-4A47-ABC9-B39EC8016CB2}"/>
              </a:ext>
            </a:extLst>
          </p:cNvPr>
          <p:cNvSpPr>
            <a:spLocks noGrp="1"/>
          </p:cNvSpPr>
          <p:nvPr>
            <p:ph type="body" sz="quarter" idx="13"/>
          </p:nvPr>
        </p:nvSpPr>
        <p:spPr>
          <a:xfrm>
            <a:off x="1040130" y="2009775"/>
            <a:ext cx="3924300" cy="4391025"/>
          </a:xfrm>
        </p:spPr>
        <p:txBody>
          <a:bodyPr>
            <a:normAutofit/>
          </a:bodyPr>
          <a:lstStyle>
            <a:lvl1pPr marL="0" indent="0">
              <a:lnSpc>
                <a:spcPct val="150000"/>
              </a:lnSpc>
              <a:buNone/>
              <a:defRPr sz="1600">
                <a:solidFill>
                  <a:schemeClr val="accent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30" name="Date Placeholder 3">
            <a:extLst>
              <a:ext uri="{FF2B5EF4-FFF2-40B4-BE49-F238E27FC236}">
                <a16:creationId xmlns:a16="http://schemas.microsoft.com/office/drawing/2014/main" id="{984C97B0-0D42-4831-9ABD-390370C0F0B6}"/>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C81873-7D47-483D-BCB4-50DD9806C720}" type="datetime1">
              <a:rPr lang="en-US" smtClean="0"/>
              <a:t>10/5/2026</a:t>
            </a:fld>
            <a:endParaRPr lang="en-US" dirty="0"/>
          </a:p>
        </p:txBody>
      </p:sp>
      <p:sp>
        <p:nvSpPr>
          <p:cNvPr id="31" name="Slide Number Placeholder 5">
            <a:extLst>
              <a:ext uri="{FF2B5EF4-FFF2-40B4-BE49-F238E27FC236}">
                <a16:creationId xmlns:a16="http://schemas.microsoft.com/office/drawing/2014/main" id="{CE8438DF-723C-49AB-AD18-1C40F107F5B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032FDE8-62A6-4290-88E6-2795313DE27E}"/>
              </a:ext>
            </a:extLst>
          </p:cNvPr>
          <p:cNvSpPr>
            <a:spLocks noGrp="1"/>
          </p:cNvSpPr>
          <p:nvPr>
            <p:ph type="title" hasCustomPrompt="1"/>
          </p:nvPr>
        </p:nvSpPr>
        <p:spPr>
          <a:xfrm>
            <a:off x="1028700" y="465137"/>
            <a:ext cx="3935647" cy="1340615"/>
          </a:xfrm>
        </p:spPr>
        <p:txBody>
          <a:bodyPr vert="horz" lIns="91440" tIns="45720" rIns="91440" bIns="45720" rtlCol="0" anchor="ctr">
            <a:noAutofit/>
          </a:bodyPr>
          <a:lstStyle>
            <a:lvl1pPr>
              <a:defRPr lang="en-US">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32383977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BC85317C-3A2D-483F-B913-714129E195A2}"/>
              </a:ext>
            </a:extLst>
          </p:cNvPr>
          <p:cNvSpPr>
            <a:spLocks noGrp="1"/>
          </p:cNvSpPr>
          <p:nvPr>
            <p:ph type="body" sz="quarter" idx="13" hasCustomPrompt="1"/>
          </p:nvPr>
        </p:nvSpPr>
        <p:spPr>
          <a:xfrm>
            <a:off x="2773045" y="2426610"/>
            <a:ext cx="2378075" cy="1111250"/>
          </a:xfrm>
        </p:spPr>
        <p:txBody>
          <a:bodyPr>
            <a:noAutofit/>
          </a:bodyPr>
          <a:lstStyle>
            <a:lvl1pPr marL="0" indent="0">
              <a:lnSpc>
                <a:spcPct val="90000"/>
              </a:lnSpc>
              <a:buNone/>
              <a:defRPr sz="8800">
                <a:solidFill>
                  <a:schemeClr val="bg1"/>
                </a:solidFill>
              </a:defRPr>
            </a:lvl1pPr>
          </a:lstStyle>
          <a:p>
            <a:pPr lvl="0"/>
            <a:r>
              <a:rPr lang="en-US" dirty="0"/>
              <a:t>02</a:t>
            </a:r>
          </a:p>
        </p:txBody>
      </p:sp>
      <p:sp>
        <p:nvSpPr>
          <p:cNvPr id="2" name="Title 1">
            <a:extLst>
              <a:ext uri="{FF2B5EF4-FFF2-40B4-BE49-F238E27FC236}">
                <a16:creationId xmlns:a16="http://schemas.microsoft.com/office/drawing/2014/main" id="{C45DFEC7-1EEC-4FF2-868A-9799EA69FE87}"/>
              </a:ext>
            </a:extLst>
          </p:cNvPr>
          <p:cNvSpPr>
            <a:spLocks noGrp="1"/>
          </p:cNvSpPr>
          <p:nvPr>
            <p:ph type="title"/>
          </p:nvPr>
        </p:nvSpPr>
        <p:spPr>
          <a:xfrm>
            <a:off x="3037155" y="2714986"/>
            <a:ext cx="6674802" cy="655320"/>
          </a:xfrm>
        </p:spPr>
        <p:txBody>
          <a:bodyPr vert="horz" lIns="91440" tIns="45720" rIns="91440" bIns="45720" rtlCol="0">
            <a:normAutofit/>
          </a:bodyPr>
          <a:lstStyle>
            <a:lvl1pPr>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8877599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and Graph">
    <p:bg>
      <p:bgPr>
        <a:solidFill>
          <a:schemeClr val="bg2"/>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10/5/2026</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212838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10/5/2026</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7" name="Picture Placeholder 6">
            <a:extLst>
              <a:ext uri="{FF2B5EF4-FFF2-40B4-BE49-F238E27FC236}">
                <a16:creationId xmlns:a16="http://schemas.microsoft.com/office/drawing/2014/main" id="{2364FFEF-B933-46C6-A918-A80C987DB70F}"/>
              </a:ext>
            </a:extLst>
          </p:cNvPr>
          <p:cNvSpPr>
            <a:spLocks noGrp="1"/>
          </p:cNvSpPr>
          <p:nvPr>
            <p:ph type="pic" sz="quarter" idx="10"/>
          </p:nvPr>
        </p:nvSpPr>
        <p:spPr>
          <a:xfrm>
            <a:off x="1022147" y="0"/>
            <a:ext cx="3938588" cy="6400800"/>
          </a:xfrm>
        </p:spPr>
        <p:txBody>
          <a:bodyPr/>
          <a:lstStyle/>
          <a:p>
            <a:r>
              <a:rPr lang="en-US"/>
              <a:t>Click icon to add picture</a:t>
            </a:r>
          </a:p>
        </p:txBody>
      </p:sp>
      <p:pic>
        <p:nvPicPr>
          <p:cNvPr id="4" name="Picture 3" hidden="1">
            <a:extLst>
              <a:ext uri="{FF2B5EF4-FFF2-40B4-BE49-F238E27FC236}">
                <a16:creationId xmlns:a16="http://schemas.microsoft.com/office/drawing/2014/main" id="{59E5EAF8-68C2-4910-8F66-D9320B9574C2}"/>
              </a:ext>
            </a:extLst>
          </p:cNvPr>
          <p:cNvPicPr>
            <a:picLocks noChangeAspect="1"/>
          </p:cNvPicPr>
          <p:nvPr userDrawn="1"/>
        </p:nvPicPr>
        <p:blipFill>
          <a:blip r:embed="rId2"/>
          <a:stretch>
            <a:fillRect/>
          </a:stretch>
        </p:blipFill>
        <p:spPr>
          <a:xfrm>
            <a:off x="5947967" y="2105933"/>
            <a:ext cx="5297883" cy="1024217"/>
          </a:xfrm>
          <a:prstGeom prst="rect">
            <a:avLst/>
          </a:prstGeom>
        </p:spPr>
      </p:pic>
      <p:sp>
        <p:nvSpPr>
          <p:cNvPr id="5" name="Title 4">
            <a:extLst>
              <a:ext uri="{FF2B5EF4-FFF2-40B4-BE49-F238E27FC236}">
                <a16:creationId xmlns:a16="http://schemas.microsoft.com/office/drawing/2014/main" id="{E3BE48E1-D3BE-4B52-B2EC-13A514CB0530}"/>
              </a:ext>
            </a:extLst>
          </p:cNvPr>
          <p:cNvSpPr>
            <a:spLocks noGrp="1"/>
          </p:cNvSpPr>
          <p:nvPr>
            <p:ph type="title"/>
          </p:nvPr>
        </p:nvSpPr>
        <p:spPr>
          <a:xfrm>
            <a:off x="5947966" y="2105933"/>
            <a:ext cx="5297883" cy="2237467"/>
          </a:xfrm>
        </p:spPr>
        <p:txBody>
          <a:bodyPr anchor="t">
            <a:normAutofit/>
          </a:bodyPr>
          <a:lstStyle>
            <a:lvl1pPr>
              <a:lnSpc>
                <a:spcPct val="150000"/>
              </a:lnSpc>
              <a:spcBef>
                <a:spcPts val="1000"/>
              </a:spcBef>
              <a:defRPr sz="2000">
                <a:solidFill>
                  <a:schemeClr val="accent2">
                    <a:lumMod val="50000"/>
                  </a:schemeClr>
                </a:solidFill>
              </a:defRPr>
            </a:lvl1pPr>
          </a:lstStyle>
          <a:p>
            <a:r>
              <a:rPr lang="en-US"/>
              <a:t>Click to edit Master title style</a:t>
            </a:r>
          </a:p>
        </p:txBody>
      </p:sp>
    </p:spTree>
    <p:extLst>
      <p:ext uri="{BB962C8B-B14F-4D97-AF65-F5344CB8AC3E}">
        <p14:creationId xmlns:p14="http://schemas.microsoft.com/office/powerpoint/2010/main" val="15884669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bg>
      <p:bgRef idx="1001">
        <a:schemeClr val="bg2"/>
      </p:bgRef>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50815B22-13FE-47CD-9F79-73704A278BD7}"/>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5DB74C9-B808-4394-A017-79C83B2524EF}" type="datetime1">
              <a:rPr lang="en-US" smtClean="0"/>
              <a:t>10/5/2026</a:t>
            </a:fld>
            <a:endParaRPr lang="en-US" dirty="0"/>
          </a:p>
        </p:txBody>
      </p:sp>
      <p:sp>
        <p:nvSpPr>
          <p:cNvPr id="16" name="Slide Number Placeholder 5">
            <a:extLst>
              <a:ext uri="{FF2B5EF4-FFF2-40B4-BE49-F238E27FC236}">
                <a16:creationId xmlns:a16="http://schemas.microsoft.com/office/drawing/2014/main" id="{D7669539-CB64-44F5-999D-7B9E61F8AF9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822BA076-F3B9-47CB-80C2-BE29F157D044}"/>
              </a:ext>
            </a:extLst>
          </p:cNvPr>
          <p:cNvSpPr>
            <a:spLocks noGrp="1"/>
          </p:cNvSpPr>
          <p:nvPr>
            <p:ph sz="quarter" idx="11"/>
          </p:nvPr>
        </p:nvSpPr>
        <p:spPr>
          <a:xfrm>
            <a:off x="854075" y="1625600"/>
            <a:ext cx="1049972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E909627E-FE70-43A1-B0CB-4D4F6C32C2D0}"/>
              </a:ext>
            </a:extLst>
          </p:cNvPr>
          <p:cNvSpPr>
            <a:spLocks noGrp="1"/>
          </p:cNvSpPr>
          <p:nvPr>
            <p:ph type="title" hasCustomPrompt="1"/>
          </p:nvPr>
        </p:nvSpPr>
        <p:spPr>
          <a:xfrm>
            <a:off x="854074" y="122239"/>
            <a:ext cx="10499725" cy="1355724"/>
          </a:xfrm>
        </p:spPr>
        <p:txBody>
          <a:bodyPr vert="horz" lIns="91440" tIns="45720" rIns="91440" bIns="45720" rtlCol="0" anchor="ctr">
            <a:normAutofit/>
          </a:bodyPr>
          <a:lstStyle>
            <a:lvl1pPr algn="ctr">
              <a:defRPr lang="en-US">
                <a:solidFill>
                  <a:schemeClr val="accent2">
                    <a:lumMod val="50000"/>
                  </a:schemeClr>
                </a:solidFill>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239210368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accent2"/>
        </a:solidFill>
        <a:effectLst/>
      </p:bgPr>
    </p:bg>
    <p:spTree>
      <p:nvGrpSpPr>
        <p:cNvPr id="1" name=""/>
        <p:cNvGrpSpPr/>
        <p:nvPr/>
      </p:nvGrpSpPr>
      <p:grpSpPr>
        <a:xfrm>
          <a:off x="0" y="0"/>
          <a:ext cx="0" cy="0"/>
          <a:chOff x="0" y="0"/>
          <a:chExt cx="0" cy="0"/>
        </a:xfrm>
      </p:grpSpPr>
      <p:sp>
        <p:nvSpPr>
          <p:cNvPr id="34" name="Text Placeholder 22">
            <a:extLst>
              <a:ext uri="{FF2B5EF4-FFF2-40B4-BE49-F238E27FC236}">
                <a16:creationId xmlns:a16="http://schemas.microsoft.com/office/drawing/2014/main" id="{41BF345D-81AF-4851-83A1-623398489054}"/>
              </a:ext>
            </a:extLst>
          </p:cNvPr>
          <p:cNvSpPr>
            <a:spLocks noGrp="1"/>
          </p:cNvSpPr>
          <p:nvPr>
            <p:ph type="body" sz="quarter" idx="21" hasCustomPrompt="1"/>
          </p:nvPr>
        </p:nvSpPr>
        <p:spPr>
          <a:xfrm>
            <a:off x="761917" y="517972"/>
            <a:ext cx="3108960" cy="1333500"/>
          </a:xfrm>
        </p:spPr>
        <p:txBody>
          <a:bodyPr>
            <a:noAutofit/>
          </a:bodyPr>
          <a:lstStyle>
            <a:lvl1pPr marL="0" indent="0">
              <a:lnSpc>
                <a:spcPct val="90000"/>
              </a:lnSpc>
              <a:buNone/>
              <a:defRPr sz="8800" b="1">
                <a:solidFill>
                  <a:schemeClr val="tx1"/>
                </a:solidFill>
              </a:defRPr>
            </a:lvl1pPr>
          </a:lstStyle>
          <a:p>
            <a:pPr lvl="0"/>
            <a:r>
              <a:rPr lang="en-US" dirty="0"/>
              <a:t>01</a:t>
            </a:r>
          </a:p>
        </p:txBody>
      </p:sp>
      <p:sp>
        <p:nvSpPr>
          <p:cNvPr id="21" name="Picture Placeholder 20">
            <a:extLst>
              <a:ext uri="{FF2B5EF4-FFF2-40B4-BE49-F238E27FC236}">
                <a16:creationId xmlns:a16="http://schemas.microsoft.com/office/drawing/2014/main" id="{EC4F3A57-45ED-498D-858C-3EE63DF129C4}"/>
              </a:ext>
            </a:extLst>
          </p:cNvPr>
          <p:cNvSpPr>
            <a:spLocks noGrp="1"/>
          </p:cNvSpPr>
          <p:nvPr>
            <p:ph type="pic" sz="quarter" idx="11"/>
          </p:nvPr>
        </p:nvSpPr>
        <p:spPr>
          <a:xfrm>
            <a:off x="1036601" y="3552677"/>
            <a:ext cx="1874874" cy="2848123"/>
          </a:xfrm>
        </p:spPr>
        <p:txBody>
          <a:bodyPr/>
          <a:lstStyle/>
          <a:p>
            <a:r>
              <a:rPr lang="en-US"/>
              <a:t>Click icon to add picture</a:t>
            </a:r>
          </a:p>
        </p:txBody>
      </p:sp>
      <p:sp>
        <p:nvSpPr>
          <p:cNvPr id="22" name="Picture Placeholder 20">
            <a:extLst>
              <a:ext uri="{FF2B5EF4-FFF2-40B4-BE49-F238E27FC236}">
                <a16:creationId xmlns:a16="http://schemas.microsoft.com/office/drawing/2014/main" id="{1AC5BB09-E3BA-4948-93B3-EDCAAB803112}"/>
              </a:ext>
            </a:extLst>
          </p:cNvPr>
          <p:cNvSpPr>
            <a:spLocks noGrp="1"/>
          </p:cNvSpPr>
          <p:nvPr>
            <p:ph type="pic" sz="quarter" idx="12"/>
          </p:nvPr>
        </p:nvSpPr>
        <p:spPr>
          <a:xfrm>
            <a:off x="3101197" y="3552677"/>
            <a:ext cx="1874874" cy="2848123"/>
          </a:xfrm>
        </p:spPr>
        <p:txBody>
          <a:bodyPr/>
          <a:lstStyle/>
          <a:p>
            <a:r>
              <a:rPr lang="en-US"/>
              <a:t>Click icon to add picture</a:t>
            </a:r>
            <a:endParaRPr lang="en-US" dirty="0"/>
          </a:p>
        </p:txBody>
      </p:sp>
      <p:sp>
        <p:nvSpPr>
          <p:cNvPr id="23" name="Picture Placeholder 20">
            <a:extLst>
              <a:ext uri="{FF2B5EF4-FFF2-40B4-BE49-F238E27FC236}">
                <a16:creationId xmlns:a16="http://schemas.microsoft.com/office/drawing/2014/main" id="{BF83C6B7-5484-4586-8830-098BDCD9C987}"/>
              </a:ext>
            </a:extLst>
          </p:cNvPr>
          <p:cNvSpPr>
            <a:spLocks noGrp="1"/>
          </p:cNvSpPr>
          <p:nvPr>
            <p:ph type="pic" sz="quarter" idx="13"/>
          </p:nvPr>
        </p:nvSpPr>
        <p:spPr>
          <a:xfrm>
            <a:off x="5166324" y="3552677"/>
            <a:ext cx="1874874" cy="2848123"/>
          </a:xfrm>
        </p:spPr>
        <p:txBody>
          <a:bodyPr/>
          <a:lstStyle/>
          <a:p>
            <a:r>
              <a:rPr lang="en-US"/>
              <a:t>Click icon to add picture</a:t>
            </a:r>
          </a:p>
        </p:txBody>
      </p:sp>
      <p:sp>
        <p:nvSpPr>
          <p:cNvPr id="24" name="Picture Placeholder 20">
            <a:extLst>
              <a:ext uri="{FF2B5EF4-FFF2-40B4-BE49-F238E27FC236}">
                <a16:creationId xmlns:a16="http://schemas.microsoft.com/office/drawing/2014/main" id="{0C5663B1-EED6-4D80-A7C2-19E1366387A4}"/>
              </a:ext>
            </a:extLst>
          </p:cNvPr>
          <p:cNvSpPr>
            <a:spLocks noGrp="1"/>
          </p:cNvSpPr>
          <p:nvPr>
            <p:ph type="pic" sz="quarter" idx="14"/>
          </p:nvPr>
        </p:nvSpPr>
        <p:spPr>
          <a:xfrm>
            <a:off x="7239069" y="3552677"/>
            <a:ext cx="1874874" cy="2848123"/>
          </a:xfrm>
        </p:spPr>
        <p:txBody>
          <a:bodyPr/>
          <a:lstStyle/>
          <a:p>
            <a:r>
              <a:rPr lang="en-US"/>
              <a:t>Click icon to add picture</a:t>
            </a:r>
          </a:p>
        </p:txBody>
      </p:sp>
      <p:sp>
        <p:nvSpPr>
          <p:cNvPr id="25" name="Picture Placeholder 20">
            <a:extLst>
              <a:ext uri="{FF2B5EF4-FFF2-40B4-BE49-F238E27FC236}">
                <a16:creationId xmlns:a16="http://schemas.microsoft.com/office/drawing/2014/main" id="{D21E7B61-407B-40A7-9AF6-0D7E7106BCFC}"/>
              </a:ext>
            </a:extLst>
          </p:cNvPr>
          <p:cNvSpPr>
            <a:spLocks noGrp="1"/>
          </p:cNvSpPr>
          <p:nvPr>
            <p:ph type="pic" sz="quarter" idx="15"/>
          </p:nvPr>
        </p:nvSpPr>
        <p:spPr>
          <a:xfrm>
            <a:off x="9296046" y="3552677"/>
            <a:ext cx="1874874" cy="2848123"/>
          </a:xfrm>
        </p:spPr>
        <p:txBody>
          <a:bodyPr/>
          <a:lstStyle/>
          <a:p>
            <a:r>
              <a:rPr lang="en-US"/>
              <a:t>Click icon to add picture</a:t>
            </a:r>
          </a:p>
        </p:txBody>
      </p:sp>
      <p:sp>
        <p:nvSpPr>
          <p:cNvPr id="30" name="Date Placeholder 3">
            <a:extLst>
              <a:ext uri="{FF2B5EF4-FFF2-40B4-BE49-F238E27FC236}">
                <a16:creationId xmlns:a16="http://schemas.microsoft.com/office/drawing/2014/main" id="{415C3ACC-5A8A-46E6-BA0D-90ADD27E2F85}"/>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AD2DF6D-B715-4785-8DEA-9165C638CF44}" type="datetime1">
              <a:rPr lang="en-US" smtClean="0"/>
              <a:t>10/5/2026</a:t>
            </a:fld>
            <a:endParaRPr lang="en-US" dirty="0"/>
          </a:p>
        </p:txBody>
      </p:sp>
      <p:sp>
        <p:nvSpPr>
          <p:cNvPr id="31" name="Slide Number Placeholder 5">
            <a:extLst>
              <a:ext uri="{FF2B5EF4-FFF2-40B4-BE49-F238E27FC236}">
                <a16:creationId xmlns:a16="http://schemas.microsoft.com/office/drawing/2014/main" id="{0D00A5C2-DCEE-4CB3-9307-61EB88B1D59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3E8CB70-B054-4294-AD29-EE7A75C723E5}"/>
              </a:ext>
            </a:extLst>
          </p:cNvPr>
          <p:cNvSpPr>
            <a:spLocks noGrp="1"/>
          </p:cNvSpPr>
          <p:nvPr>
            <p:ph type="title"/>
          </p:nvPr>
        </p:nvSpPr>
        <p:spPr>
          <a:xfrm>
            <a:off x="1051560" y="651507"/>
            <a:ext cx="8991563" cy="1005839"/>
          </a:xfrm>
        </p:spPr>
        <p:txBody>
          <a:bodyPr vert="horz" lIns="91440" tIns="45720" rIns="91440" bIns="45720" rtlCol="0" anchor="ctr">
            <a:noAutofit/>
          </a:bodyPr>
          <a:lstStyle>
            <a:lvl1pPr>
              <a:lnSpc>
                <a:spcPct val="90000"/>
              </a:lnSpc>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
        <p:nvSpPr>
          <p:cNvPr id="4" name="Text Placeholder 3">
            <a:extLst>
              <a:ext uri="{FF2B5EF4-FFF2-40B4-BE49-F238E27FC236}">
                <a16:creationId xmlns:a16="http://schemas.microsoft.com/office/drawing/2014/main" id="{28E0D608-4E7A-4014-9F62-CB43A0C83943}"/>
              </a:ext>
            </a:extLst>
          </p:cNvPr>
          <p:cNvSpPr>
            <a:spLocks noGrp="1"/>
          </p:cNvSpPr>
          <p:nvPr>
            <p:ph type="body" sz="quarter" idx="16" hasCustomPrompt="1"/>
          </p:nvPr>
        </p:nvSpPr>
        <p:spPr>
          <a:xfrm>
            <a:off x="1036638" y="2717800"/>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6" name="Text Placeholder 3">
            <a:extLst>
              <a:ext uri="{FF2B5EF4-FFF2-40B4-BE49-F238E27FC236}">
                <a16:creationId xmlns:a16="http://schemas.microsoft.com/office/drawing/2014/main" id="{9C3A63B0-4EEA-45BC-A016-5FDA0969EA00}"/>
              </a:ext>
            </a:extLst>
          </p:cNvPr>
          <p:cNvSpPr>
            <a:spLocks noGrp="1"/>
          </p:cNvSpPr>
          <p:nvPr>
            <p:ph type="body" sz="quarter" idx="17" hasCustomPrompt="1"/>
          </p:nvPr>
        </p:nvSpPr>
        <p:spPr>
          <a:xfrm>
            <a:off x="30861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7" name="Text Placeholder 3">
            <a:extLst>
              <a:ext uri="{FF2B5EF4-FFF2-40B4-BE49-F238E27FC236}">
                <a16:creationId xmlns:a16="http://schemas.microsoft.com/office/drawing/2014/main" id="{7080679B-5220-4478-B631-7112F870B7AC}"/>
              </a:ext>
            </a:extLst>
          </p:cNvPr>
          <p:cNvSpPr>
            <a:spLocks noGrp="1"/>
          </p:cNvSpPr>
          <p:nvPr>
            <p:ph type="body" sz="quarter" idx="18" hasCustomPrompt="1"/>
          </p:nvPr>
        </p:nvSpPr>
        <p:spPr>
          <a:xfrm>
            <a:off x="51435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8" name="Text Placeholder 3">
            <a:extLst>
              <a:ext uri="{FF2B5EF4-FFF2-40B4-BE49-F238E27FC236}">
                <a16:creationId xmlns:a16="http://schemas.microsoft.com/office/drawing/2014/main" id="{9E4F61A3-2797-46FB-ACA7-0443E3BBDD20}"/>
              </a:ext>
            </a:extLst>
          </p:cNvPr>
          <p:cNvSpPr>
            <a:spLocks noGrp="1"/>
          </p:cNvSpPr>
          <p:nvPr>
            <p:ph type="body" sz="quarter" idx="19" hasCustomPrompt="1"/>
          </p:nvPr>
        </p:nvSpPr>
        <p:spPr>
          <a:xfrm>
            <a:off x="723907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9" name="Text Placeholder 3">
            <a:extLst>
              <a:ext uri="{FF2B5EF4-FFF2-40B4-BE49-F238E27FC236}">
                <a16:creationId xmlns:a16="http://schemas.microsoft.com/office/drawing/2014/main" id="{14ED733B-1DE9-4FDC-BD5F-2BE3BB07C93E}"/>
              </a:ext>
            </a:extLst>
          </p:cNvPr>
          <p:cNvSpPr>
            <a:spLocks noGrp="1"/>
          </p:cNvSpPr>
          <p:nvPr>
            <p:ph type="body" sz="quarter" idx="20" hasCustomPrompt="1"/>
          </p:nvPr>
        </p:nvSpPr>
        <p:spPr>
          <a:xfrm>
            <a:off x="930402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Tree>
    <p:extLst>
      <p:ext uri="{BB962C8B-B14F-4D97-AF65-F5344CB8AC3E}">
        <p14:creationId xmlns:p14="http://schemas.microsoft.com/office/powerpoint/2010/main" val="393017562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1 Column">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275B11D-8F3F-472B-BBCC-A4F7415AC0A5}"/>
              </a:ext>
            </a:extLst>
          </p:cNvPr>
          <p:cNvSpPr>
            <a:spLocks noGrp="1"/>
          </p:cNvSpPr>
          <p:nvPr>
            <p:ph type="pic" sz="quarter" idx="10"/>
          </p:nvPr>
        </p:nvSpPr>
        <p:spPr>
          <a:xfrm>
            <a:off x="1028700" y="3543300"/>
            <a:ext cx="3924300" cy="3314700"/>
          </a:xfrm>
        </p:spPr>
        <p:txBody>
          <a:bodyPr/>
          <a:lstStyle/>
          <a:p>
            <a:r>
              <a:rPr lang="en-US"/>
              <a:t>Click icon to add picture</a:t>
            </a:r>
          </a:p>
        </p:txBody>
      </p:sp>
      <p:sp>
        <p:nvSpPr>
          <p:cNvPr id="6" name="Content Placeholder 2">
            <a:extLst>
              <a:ext uri="{FF2B5EF4-FFF2-40B4-BE49-F238E27FC236}">
                <a16:creationId xmlns:a16="http://schemas.microsoft.com/office/drawing/2014/main" id="{99F0629D-1A5F-4F4F-90D6-430379624EFF}"/>
              </a:ext>
            </a:extLst>
          </p:cNvPr>
          <p:cNvSpPr>
            <a:spLocks noGrp="1"/>
          </p:cNvSpPr>
          <p:nvPr>
            <p:ph idx="4294967295"/>
          </p:nvPr>
        </p:nvSpPr>
        <p:spPr>
          <a:xfrm>
            <a:off x="6191250" y="1981200"/>
            <a:ext cx="4972050" cy="4473575"/>
          </a:xfrm>
        </p:spPr>
        <p:txBody>
          <a:bodyPr>
            <a:normAutofit/>
          </a:bodyPr>
          <a:lstStyle>
            <a:lvl1pPr marL="0" indent="0">
              <a:buNone/>
              <a:defRPr/>
            </a:lvl1pPr>
          </a:lstStyle>
          <a:p>
            <a:pPr lvl="0"/>
            <a:r>
              <a:rPr lang="en-US" sz="1600">
                <a:solidFill>
                  <a:schemeClr val="tx2">
                    <a:lumMod val="50000"/>
                  </a:schemeClr>
                </a:solidFill>
                <a:latin typeface="Biome Light" panose="020B0303030204020804" pitchFamily="34" charset="0"/>
                <a:cs typeface="Biome Light" panose="020B0303030204020804" pitchFamily="34" charset="0"/>
              </a:rPr>
              <a:t>Click to edit Master text styles</a:t>
            </a:r>
          </a:p>
        </p:txBody>
      </p:sp>
      <p:sp>
        <p:nvSpPr>
          <p:cNvPr id="17" name="Date Placeholder 3">
            <a:extLst>
              <a:ext uri="{FF2B5EF4-FFF2-40B4-BE49-F238E27FC236}">
                <a16:creationId xmlns:a16="http://schemas.microsoft.com/office/drawing/2014/main" id="{218C063B-0EE9-4FD5-A116-241C245452A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37AE72A-09B6-4D56-855D-4360BD347914}" type="datetime1">
              <a:rPr lang="en-US" smtClean="0"/>
              <a:t>10/5/2026</a:t>
            </a:fld>
            <a:endParaRPr lang="en-US" dirty="0"/>
          </a:p>
        </p:txBody>
      </p:sp>
      <p:sp>
        <p:nvSpPr>
          <p:cNvPr id="18" name="Slide Number Placeholder 5">
            <a:extLst>
              <a:ext uri="{FF2B5EF4-FFF2-40B4-BE49-F238E27FC236}">
                <a16:creationId xmlns:a16="http://schemas.microsoft.com/office/drawing/2014/main" id="{D417B369-6569-4DCC-B684-BE1A7C5D0B8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4AEEC1A7-43C3-481E-95D0-5616242E1A01}"/>
              </a:ext>
            </a:extLst>
          </p:cNvPr>
          <p:cNvSpPr>
            <a:spLocks noGrp="1"/>
          </p:cNvSpPr>
          <p:nvPr>
            <p:ph type="title" hasCustomPrompt="1"/>
          </p:nvPr>
        </p:nvSpPr>
        <p:spPr>
          <a:xfrm>
            <a:off x="895534" y="539225"/>
            <a:ext cx="3924300" cy="2434386"/>
          </a:xfrm>
        </p:spPr>
        <p:txBody>
          <a:bodyPr vert="horz" lIns="91440" tIns="45720" rIns="91440" bIns="45720" rtlCol="0" anchor="ctr">
            <a:norm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DC6CF0E0-8FF2-4FE7-AC69-85BEFA656508}"/>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4713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337C3D7-7DDB-42A8-901A-EC153DD27458}"/>
              </a:ext>
            </a:extLst>
          </p:cNvPr>
          <p:cNvSpPr>
            <a:spLocks noGrp="1"/>
          </p:cNvSpPr>
          <p:nvPr>
            <p:ph type="pic" sz="quarter" idx="10"/>
          </p:nvPr>
        </p:nvSpPr>
        <p:spPr>
          <a:xfrm>
            <a:off x="6210300" y="0"/>
            <a:ext cx="4953000" cy="3302000"/>
          </a:xfrm>
        </p:spPr>
        <p:txBody>
          <a:bodyPr/>
          <a:lstStyle/>
          <a:p>
            <a:r>
              <a:rPr lang="en-US"/>
              <a:t>Click icon to add picture</a:t>
            </a:r>
          </a:p>
        </p:txBody>
      </p:sp>
      <p:sp>
        <p:nvSpPr>
          <p:cNvPr id="10" name="Content Placeholder 2">
            <a:extLst>
              <a:ext uri="{FF2B5EF4-FFF2-40B4-BE49-F238E27FC236}">
                <a16:creationId xmlns:a16="http://schemas.microsoft.com/office/drawing/2014/main" id="{27B95226-A076-4D55-B408-1389A2F8C7A0}"/>
              </a:ext>
            </a:extLst>
          </p:cNvPr>
          <p:cNvSpPr>
            <a:spLocks noGrp="1"/>
          </p:cNvSpPr>
          <p:nvPr>
            <p:ph idx="4294967295" hasCustomPrompt="1"/>
          </p:nvPr>
        </p:nvSpPr>
        <p:spPr>
          <a:xfrm>
            <a:off x="1028700" y="3556002"/>
            <a:ext cx="3108960" cy="2286000"/>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4" name="Content Placeholder 2">
            <a:extLst>
              <a:ext uri="{FF2B5EF4-FFF2-40B4-BE49-F238E27FC236}">
                <a16:creationId xmlns:a16="http://schemas.microsoft.com/office/drawing/2014/main" id="{86673F10-179D-4539-AA33-AE34EC0457EF}"/>
              </a:ext>
            </a:extLst>
          </p:cNvPr>
          <p:cNvSpPr>
            <a:spLocks noGrp="1"/>
          </p:cNvSpPr>
          <p:nvPr>
            <p:ph idx="4294967295" hasCustomPrompt="1"/>
          </p:nvPr>
        </p:nvSpPr>
        <p:spPr>
          <a:xfrm>
            <a:off x="454152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9" name="Content Placeholder 2">
            <a:extLst>
              <a:ext uri="{FF2B5EF4-FFF2-40B4-BE49-F238E27FC236}">
                <a16:creationId xmlns:a16="http://schemas.microsoft.com/office/drawing/2014/main" id="{EB6CFC30-1A59-4D28-9E30-0FF7D632C6A2}"/>
              </a:ext>
            </a:extLst>
          </p:cNvPr>
          <p:cNvSpPr>
            <a:spLocks noGrp="1"/>
          </p:cNvSpPr>
          <p:nvPr>
            <p:ph idx="4294967295" hasCustomPrompt="1"/>
          </p:nvPr>
        </p:nvSpPr>
        <p:spPr>
          <a:xfrm>
            <a:off x="805434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24" name="Date Placeholder 3">
            <a:extLst>
              <a:ext uri="{FF2B5EF4-FFF2-40B4-BE49-F238E27FC236}">
                <a16:creationId xmlns:a16="http://schemas.microsoft.com/office/drawing/2014/main" id="{C4F3CC75-F9FA-4F77-9DD5-7E6C0F5C9829}"/>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199D1A0-04AB-4DD4-B9DB-BDEC5E64C94C}" type="datetime1">
              <a:rPr lang="en-US" smtClean="0"/>
              <a:t>10/5/2026</a:t>
            </a:fld>
            <a:endParaRPr lang="en-US" dirty="0"/>
          </a:p>
        </p:txBody>
      </p:sp>
      <p:sp>
        <p:nvSpPr>
          <p:cNvPr id="25" name="Slide Number Placeholder 5">
            <a:extLst>
              <a:ext uri="{FF2B5EF4-FFF2-40B4-BE49-F238E27FC236}">
                <a16:creationId xmlns:a16="http://schemas.microsoft.com/office/drawing/2014/main" id="{93B5B65C-5DE0-4F81-8115-758CDB591FA7}"/>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1" name="Title 1">
            <a:extLst>
              <a:ext uri="{FF2B5EF4-FFF2-40B4-BE49-F238E27FC236}">
                <a16:creationId xmlns:a16="http://schemas.microsoft.com/office/drawing/2014/main" id="{EF4A2ACE-2D85-4F78-818F-BBA6F6F0CC53}"/>
              </a:ext>
            </a:extLst>
          </p:cNvPr>
          <p:cNvSpPr>
            <a:spLocks noGrp="1"/>
          </p:cNvSpPr>
          <p:nvPr>
            <p:ph type="title" hasCustomPrompt="1"/>
          </p:nvPr>
        </p:nvSpPr>
        <p:spPr>
          <a:xfrm>
            <a:off x="895530" y="539225"/>
            <a:ext cx="3924300" cy="2434386"/>
          </a:xfrm>
        </p:spPr>
        <p:txBody>
          <a:bodyPr vert="horz" lIns="91440" tIns="45720" rIns="91440" bIns="45720" rtlCol="0" anchor="ctr">
            <a:normAutofit/>
          </a:bodyPr>
          <a:lstStyle>
            <a:lvl1pPr>
              <a:defRPr lang="en-US" sz="7200" dirty="0">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Click to add title</a:t>
            </a:r>
          </a:p>
        </p:txBody>
      </p:sp>
      <p:cxnSp>
        <p:nvCxnSpPr>
          <p:cNvPr id="3" name="Straight Connector 2">
            <a:extLst>
              <a:ext uri="{FF2B5EF4-FFF2-40B4-BE49-F238E27FC236}">
                <a16:creationId xmlns:a16="http://schemas.microsoft.com/office/drawing/2014/main" id="{E4DCD8D3-DF79-446E-9961-5797EE888B4C}"/>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662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2"/>
        </a:solidFill>
        <a:effectLst/>
      </p:bgPr>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FCB4EDDC-C544-421C-905C-A4D40D98A51D}"/>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F53EA80-260A-4EE9-83BB-E6DD04DEA906}" type="datetime1">
              <a:rPr lang="en-US" smtClean="0"/>
              <a:t>10/5/2026</a:t>
            </a:fld>
            <a:endParaRPr lang="en-US" dirty="0"/>
          </a:p>
        </p:txBody>
      </p:sp>
      <p:sp>
        <p:nvSpPr>
          <p:cNvPr id="16" name="Slide Number Placeholder 5">
            <a:extLst>
              <a:ext uri="{FF2B5EF4-FFF2-40B4-BE49-F238E27FC236}">
                <a16:creationId xmlns:a16="http://schemas.microsoft.com/office/drawing/2014/main" id="{D9CBFDBF-2D2B-469A-9B2F-72F90474FB6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1BA55D6-2810-4163-9D43-FEDA674E2D4C}"/>
              </a:ext>
            </a:extLst>
          </p:cNvPr>
          <p:cNvSpPr>
            <a:spLocks noGrp="1"/>
          </p:cNvSpPr>
          <p:nvPr>
            <p:ph type="title" hasCustomPrompt="1"/>
          </p:nvPr>
        </p:nvSpPr>
        <p:spPr>
          <a:xfrm>
            <a:off x="896829" y="573503"/>
            <a:ext cx="10156826" cy="1369591"/>
          </a:xfrm>
        </p:spPr>
        <p:txBody>
          <a:bodyPr vert="horz" lIns="91440" tIns="45720" rIns="91440" bIns="45720" rtlCol="0" anchor="ctr">
            <a:no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C9E87E0B-D644-4037-B322-715C648BAD3B}"/>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611161"/>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9" name="Picture Placeholder 15">
            <a:extLst>
              <a:ext uri="{FF2B5EF4-FFF2-40B4-BE49-F238E27FC236}">
                <a16:creationId xmlns:a16="http://schemas.microsoft.com/office/drawing/2014/main" id="{940246AD-CE4F-4FD8-BCF6-5BA9ED62ACDA}"/>
              </a:ext>
            </a:extLst>
          </p:cNvPr>
          <p:cNvSpPr>
            <a:spLocks noGrp="1"/>
          </p:cNvSpPr>
          <p:nvPr>
            <p:ph type="pic" sz="quarter" idx="11"/>
          </p:nvPr>
        </p:nvSpPr>
        <p:spPr>
          <a:xfrm>
            <a:off x="6210300" y="3543302"/>
            <a:ext cx="4953000" cy="2849562"/>
          </a:xfrm>
        </p:spPr>
        <p:txBody>
          <a:bodyPr/>
          <a:lstStyle/>
          <a:p>
            <a:r>
              <a:rPr lang="en-US"/>
              <a:t>Click icon to add picture</a:t>
            </a:r>
            <a:endParaRPr lang="en-US" dirty="0"/>
          </a:p>
        </p:txBody>
      </p:sp>
      <p:sp>
        <p:nvSpPr>
          <p:cNvPr id="10" name="Picture Placeholder 13">
            <a:extLst>
              <a:ext uri="{FF2B5EF4-FFF2-40B4-BE49-F238E27FC236}">
                <a16:creationId xmlns:a16="http://schemas.microsoft.com/office/drawing/2014/main" id="{F8ECBB79-D5D3-4ECE-99F9-1B6834629E46}"/>
              </a:ext>
            </a:extLst>
          </p:cNvPr>
          <p:cNvSpPr>
            <a:spLocks noGrp="1"/>
          </p:cNvSpPr>
          <p:nvPr>
            <p:ph type="pic" sz="quarter" idx="10"/>
          </p:nvPr>
        </p:nvSpPr>
        <p:spPr>
          <a:xfrm>
            <a:off x="6210300" y="465138"/>
            <a:ext cx="4953000" cy="2849562"/>
          </a:xfrm>
        </p:spPr>
        <p:txBody>
          <a:bodyPr/>
          <a:lstStyle/>
          <a:p>
            <a:r>
              <a:rPr lang="en-US"/>
              <a:t>Click icon to add picture</a:t>
            </a:r>
            <a:endParaRPr lang="en-US" dirty="0"/>
          </a:p>
        </p:txBody>
      </p:sp>
      <p:sp>
        <p:nvSpPr>
          <p:cNvPr id="11" name="Text Placeholder 22">
            <a:extLst>
              <a:ext uri="{FF2B5EF4-FFF2-40B4-BE49-F238E27FC236}">
                <a16:creationId xmlns:a16="http://schemas.microsoft.com/office/drawing/2014/main" id="{C667C6DE-A3D4-4738-B7FC-43FB39FD7A28}"/>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defRPr>
            </a:lvl1pPr>
          </a:lstStyle>
          <a:p>
            <a:pPr lvl="0"/>
            <a:r>
              <a:rPr lang="en-US" dirty="0"/>
              <a:t>01</a:t>
            </a:r>
          </a:p>
        </p:txBody>
      </p:sp>
      <p:sp>
        <p:nvSpPr>
          <p:cNvPr id="12" name="Text Placeholder 18">
            <a:extLst>
              <a:ext uri="{FF2B5EF4-FFF2-40B4-BE49-F238E27FC236}">
                <a16:creationId xmlns:a16="http://schemas.microsoft.com/office/drawing/2014/main" id="{12C18C04-19C8-4ECC-83E8-6E65128CEF48}"/>
              </a:ext>
            </a:extLst>
          </p:cNvPr>
          <p:cNvSpPr>
            <a:spLocks noGrp="1"/>
          </p:cNvSpPr>
          <p:nvPr>
            <p:ph type="body" sz="quarter" idx="13"/>
          </p:nvPr>
        </p:nvSpPr>
        <p:spPr>
          <a:xfrm>
            <a:off x="1040130" y="2009776"/>
            <a:ext cx="3924300" cy="2849562"/>
          </a:xfrm>
        </p:spPr>
        <p:txBody>
          <a:bodyPr>
            <a:normAutofit/>
          </a:bodyPr>
          <a:lstStyle>
            <a:lvl1pPr marL="0" indent="0">
              <a:buNone/>
              <a:defRPr sz="1600">
                <a:solidFill>
                  <a:schemeClr val="tx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15" name="Text Placeholder 14">
            <a:extLst>
              <a:ext uri="{FF2B5EF4-FFF2-40B4-BE49-F238E27FC236}">
                <a16:creationId xmlns:a16="http://schemas.microsoft.com/office/drawing/2014/main" id="{4D14E5D8-EB42-4C87-B4AE-4746909A2D33}"/>
              </a:ext>
            </a:extLst>
          </p:cNvPr>
          <p:cNvSpPr>
            <a:spLocks noGrp="1"/>
          </p:cNvSpPr>
          <p:nvPr>
            <p:ph type="body" sz="quarter" idx="16"/>
          </p:nvPr>
        </p:nvSpPr>
        <p:spPr>
          <a:xfrm>
            <a:off x="1039813" y="5067300"/>
            <a:ext cx="3913187" cy="1319213"/>
          </a:xfrm>
        </p:spPr>
        <p:txBody>
          <a:bodyPr>
            <a:normAutofit/>
          </a:bodyPr>
          <a:lstStyle>
            <a:lvl1pPr>
              <a:defRPr lang="en-US" sz="1600" kern="1200" dirty="0" smtClean="0">
                <a:solidFill>
                  <a:schemeClr val="tx2">
                    <a:lumMod val="50000"/>
                  </a:schemeClr>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20" name="Date Placeholder 3">
            <a:extLst>
              <a:ext uri="{FF2B5EF4-FFF2-40B4-BE49-F238E27FC236}">
                <a16:creationId xmlns:a16="http://schemas.microsoft.com/office/drawing/2014/main" id="{0649945F-7BBD-4042-AA34-709CE3402EE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CD80274-DEF2-4F5D-8F74-69D0554CED55}" type="datetime1">
              <a:rPr lang="en-US" smtClean="0"/>
              <a:t>10/5/2026</a:t>
            </a:fld>
            <a:endParaRPr lang="en-US" dirty="0"/>
          </a:p>
        </p:txBody>
      </p:sp>
      <p:sp>
        <p:nvSpPr>
          <p:cNvPr id="21" name="Slide Number Placeholder 5">
            <a:extLst>
              <a:ext uri="{FF2B5EF4-FFF2-40B4-BE49-F238E27FC236}">
                <a16:creationId xmlns:a16="http://schemas.microsoft.com/office/drawing/2014/main" id="{51936C4A-DE5F-4BFE-AED0-47E48CD4605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4" name="Title 1">
            <a:extLst>
              <a:ext uri="{FF2B5EF4-FFF2-40B4-BE49-F238E27FC236}">
                <a16:creationId xmlns:a16="http://schemas.microsoft.com/office/drawing/2014/main" id="{F981B703-4F1F-41A6-AD71-3FFB2820FF1D}"/>
              </a:ext>
            </a:extLst>
          </p:cNvPr>
          <p:cNvSpPr>
            <a:spLocks noGrp="1"/>
          </p:cNvSpPr>
          <p:nvPr>
            <p:ph type="title" hasCustomPrompt="1"/>
          </p:nvPr>
        </p:nvSpPr>
        <p:spPr>
          <a:xfrm>
            <a:off x="1040130" y="465136"/>
            <a:ext cx="3935647" cy="1340615"/>
          </a:xfrm>
        </p:spPr>
        <p:txBody>
          <a:bodyPr vert="horz" lIns="91440" tIns="45720" rIns="91440" bIns="45720" rtlCol="0" anchor="ctr">
            <a:noAutofit/>
          </a:bodyPr>
          <a:lstStyle>
            <a:lvl1pPr>
              <a:defRPr lang="en-US" dirty="0">
                <a:solidFill>
                  <a:schemeClr val="tx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1110552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914400" fontAlgn="base">
              <a:spcBef>
                <a:spcPct val="0"/>
              </a:spcBef>
              <a:spcAft>
                <a:spcPct val="0"/>
              </a:spcAft>
              <a:defRPr/>
            </a:pPr>
            <a:endParaRPr lang="en-US">
              <a:solidFill>
                <a:srgbClr val="000066"/>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fontAlgn="base">
              <a:spcBef>
                <a:spcPct val="0"/>
              </a:spcBef>
              <a:spcAft>
                <a:spcPct val="0"/>
              </a:spcAft>
              <a:defRPr/>
            </a:pPr>
            <a:endParaRPr lang="en-US">
              <a:solidFill>
                <a:srgbClr val="000066"/>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914400" fontAlgn="base">
              <a:spcBef>
                <a:spcPct val="0"/>
              </a:spcBef>
              <a:spcAft>
                <a:spcPct val="0"/>
              </a:spcAft>
              <a:defRPr/>
            </a:pPr>
            <a:fld id="{464F2354-1307-4277-9D51-30829A65CBF5}" type="slidenum">
              <a:rPr lang="en-US" smtClean="0">
                <a:solidFill>
                  <a:srgbClr val="FFFFFF"/>
                </a:solidFill>
                <a:ea typeface="ＭＳ Ｐゴシック" pitchFamily="34" charset="-128"/>
              </a:rPr>
              <a:pPr defTabSz="914400" fontAlgn="base">
                <a:spcBef>
                  <a:spcPct val="0"/>
                </a:spcBef>
                <a:spcAft>
                  <a:spcPct val="0"/>
                </a:spcAft>
                <a:defRPr/>
              </a:pPr>
              <a:t>‹#›</a:t>
            </a:fld>
            <a:endParaRPr lang="en-US">
              <a:solidFill>
                <a:srgbClr val="FFFFFF"/>
              </a:solidFill>
              <a:ea typeface="ＭＳ Ｐゴシック" pitchFamily="34" charset="-128"/>
            </a:endParaRPr>
          </a:p>
        </p:txBody>
      </p:sp>
    </p:spTree>
    <p:extLst>
      <p:ext uri="{BB962C8B-B14F-4D97-AF65-F5344CB8AC3E}">
        <p14:creationId xmlns:p14="http://schemas.microsoft.com/office/powerpoint/2010/main" val="1796837801"/>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E5577C8-AB8C-4B8A-A01F-113B16C4DCA3}" type="datetime1">
              <a:rPr lang="en-US" smtClean="0"/>
              <a:t>10/5/2026</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031602423"/>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8">
          <p15:clr>
            <a:srgbClr val="F26B43"/>
          </p15:clr>
        </p15:guide>
        <p15:guide id="2" pos="1176">
          <p15:clr>
            <a:srgbClr val="F26B43"/>
          </p15:clr>
        </p15:guide>
        <p15:guide id="3" pos="1296">
          <p15:clr>
            <a:srgbClr val="F26B43"/>
          </p15:clr>
        </p15:guide>
        <p15:guide id="4" pos="1824">
          <p15:clr>
            <a:srgbClr val="F26B43"/>
          </p15:clr>
        </p15:guide>
        <p15:guide id="5" pos="1944">
          <p15:clr>
            <a:srgbClr val="F26B43"/>
          </p15:clr>
        </p15:guide>
        <p15:guide id="6" pos="2472">
          <p15:clr>
            <a:srgbClr val="F26B43"/>
          </p15:clr>
        </p15:guide>
        <p15:guide id="7" pos="2592">
          <p15:clr>
            <a:srgbClr val="F26B43"/>
          </p15:clr>
        </p15:guide>
        <p15:guide id="8" pos="3120">
          <p15:clr>
            <a:srgbClr val="F26B43"/>
          </p15:clr>
        </p15:guide>
        <p15:guide id="9" pos="3240">
          <p15:clr>
            <a:srgbClr val="F26B43"/>
          </p15:clr>
        </p15:guide>
        <p15:guide id="10" pos="3792">
          <p15:clr>
            <a:srgbClr val="F26B43"/>
          </p15:clr>
        </p15:guide>
        <p15:guide id="11" pos="3912">
          <p15:clr>
            <a:srgbClr val="F26B43"/>
          </p15:clr>
        </p15:guide>
        <p15:guide id="12" pos="4416">
          <p15:clr>
            <a:srgbClr val="F26B43"/>
          </p15:clr>
        </p15:guide>
        <p15:guide id="13" pos="4560">
          <p15:clr>
            <a:srgbClr val="F26B43"/>
          </p15:clr>
        </p15:guide>
        <p15:guide id="14" pos="5088">
          <p15:clr>
            <a:srgbClr val="F26B43"/>
          </p15:clr>
        </p15:guide>
        <p15:guide id="15" pos="5208">
          <p15:clr>
            <a:srgbClr val="F26B43"/>
          </p15:clr>
        </p15:guide>
        <p15:guide id="16" pos="5736">
          <p15:clr>
            <a:srgbClr val="F26B43"/>
          </p15:clr>
        </p15:guide>
        <p15:guide id="17" pos="5856">
          <p15:clr>
            <a:srgbClr val="F26B43"/>
          </p15:clr>
        </p15:guide>
        <p15:guide id="18" pos="6384">
          <p15:clr>
            <a:srgbClr val="F26B43"/>
          </p15:clr>
        </p15:guide>
        <p15:guide id="19" pos="6504">
          <p15:clr>
            <a:srgbClr val="F26B43"/>
          </p15:clr>
        </p15:guide>
        <p15:guide id="20" pos="7032">
          <p15:clr>
            <a:srgbClr val="F26B43"/>
          </p15:clr>
        </p15:guide>
        <p15:guide id="21" orient="horz" pos="288">
          <p15:clr>
            <a:srgbClr val="F26B43"/>
          </p15:clr>
        </p15:guide>
        <p15:guide id="22" orient="horz" pos="1128">
          <p15:clr>
            <a:srgbClr val="F26B43"/>
          </p15:clr>
        </p15:guide>
        <p15:guide id="23" orient="horz" pos="1248">
          <p15:clr>
            <a:srgbClr val="F26B43"/>
          </p15:clr>
        </p15:guide>
        <p15:guide id="24" orient="horz" pos="2088">
          <p15:clr>
            <a:srgbClr val="F26B43"/>
          </p15:clr>
        </p15:guide>
        <p15:guide id="25" orient="horz" pos="2232">
          <p15:clr>
            <a:srgbClr val="F26B43"/>
          </p15:clr>
        </p15:guide>
        <p15:guide id="26" orient="horz" pos="3048">
          <p15:clr>
            <a:srgbClr val="F26B43"/>
          </p15:clr>
        </p15:guide>
        <p15:guide id="27" orient="horz" pos="3192">
          <p15:clr>
            <a:srgbClr val="F26B43"/>
          </p15:clr>
        </p15:guide>
        <p15:guide id="28" orient="horz" pos="403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25.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https://www.youtube.com/embed/mJrG85CJfSg" TargetMode="External"/><Relationship Id="rId1" Type="http://schemas.openxmlformats.org/officeDocument/2006/relationships/video" Target="https://www.youtube.com/embed/jsBLwcrJH2o" TargetMode="Externa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notesSlide" Target="../notesSlides/notesSlide33.xml"/></Relationships>
</file>

<file path=ppt/slides/_rels/slide4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m4a"/><Relationship Id="rId1" Type="http://schemas.openxmlformats.org/officeDocument/2006/relationships/audio" Target="NULL" TargetMode="External"/><Relationship Id="rId5" Type="http://schemas.openxmlformats.org/officeDocument/2006/relationships/image" Target="../media/image30.png"/><Relationship Id="rId4" Type="http://schemas.openxmlformats.org/officeDocument/2006/relationships/notesSlide" Target="../notesSlides/notesSlide36.xml"/></Relationships>
</file>

<file path=ppt/slides/_rels/slide5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6.xml"/><Relationship Id="rId1" Type="http://schemas.openxmlformats.org/officeDocument/2006/relationships/video" Target="https://www.youtube.com/embed/AWxbAg0E3E4?start=212&amp;feature=oembed" TargetMode="External"/><Relationship Id="rId4" Type="http://schemas.openxmlformats.org/officeDocument/2006/relationships/image" Target="../media/image38.jpe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3.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6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4.xml"/><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7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5.xml"/><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7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6.xml"/><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7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7.xml"/><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m4a"/><Relationship Id="rId1" Type="http://schemas.openxmlformats.org/officeDocument/2006/relationships/audio" Target="NULL" TargetMode="External"/><Relationship Id="rId5" Type="http://schemas.openxmlformats.org/officeDocument/2006/relationships/image" Target="../media/image30.png"/><Relationship Id="rId4"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video" Target="https://www.youtube.com/embed/KnJDrmfIXGw?start=72&amp;feature=oembed" TargetMode="External"/><Relationship Id="rId4" Type="http://schemas.openxmlformats.org/officeDocument/2006/relationships/image" Target="../media/image53.jpeg"/></Relationships>
</file>

<file path=ppt/slides/_rels/slide8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4.xml"/><Relationship Id="rId1" Type="http://schemas.openxmlformats.org/officeDocument/2006/relationships/slideLayout" Target="../slideLayouts/slideLayout6.xml"/><Relationship Id="rId4" Type="http://schemas.openxmlformats.org/officeDocument/2006/relationships/image" Target="../media/image55.jpeg"/></Relationships>
</file>

<file path=ppt/slides/_rels/slide8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8467C95-DF23-40B9-B265-2E6F3DE29030}"/>
              </a:ext>
            </a:extLst>
          </p:cNvPr>
          <p:cNvSpPr>
            <a:spLocks noGrp="1"/>
          </p:cNvSpPr>
          <p:nvPr>
            <p:ph type="title"/>
          </p:nvPr>
        </p:nvSpPr>
        <p:spPr>
          <a:xfrm>
            <a:off x="640079" y="325369"/>
            <a:ext cx="5308899" cy="1956841"/>
          </a:xfrm>
        </p:spPr>
        <p:txBody>
          <a:bodyPr vert="horz" lIns="91440" tIns="45720" rIns="91440" bIns="45720" rtlCol="0" anchor="b">
            <a:noAutofit/>
          </a:bodyPr>
          <a:lstStyle/>
          <a:p>
            <a:r>
              <a:rPr lang="en-US" sz="5500" dirty="0">
                <a:solidFill>
                  <a:schemeClr val="tx1"/>
                </a:solidFill>
                <a:ea typeface="+mj-ea"/>
                <a:cs typeface="+mj-cs"/>
              </a:rPr>
              <a:t>Cardiovascular</a:t>
            </a:r>
            <a:br>
              <a:rPr lang="en-US" sz="5500" dirty="0">
                <a:solidFill>
                  <a:schemeClr val="tx1"/>
                </a:solidFill>
                <a:ea typeface="+mj-ea"/>
                <a:cs typeface="+mj-cs"/>
              </a:rPr>
            </a:br>
            <a:r>
              <a:rPr lang="en-US" sz="5500" dirty="0">
                <a:solidFill>
                  <a:schemeClr val="tx1"/>
                </a:solidFill>
                <a:ea typeface="+mj-ea"/>
                <a:cs typeface="+mj-cs"/>
              </a:rPr>
              <a:t>H&amp;P</a:t>
            </a:r>
          </a:p>
        </p:txBody>
      </p:sp>
      <p:sp>
        <p:nvSpPr>
          <p:cNvPr id="104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27A48A35-E5E4-4A5F-9F91-BAEA4F5DF21D}"/>
              </a:ext>
            </a:extLst>
          </p:cNvPr>
          <p:cNvSpPr>
            <a:spLocks noGrp="1"/>
          </p:cNvSpPr>
          <p:nvPr>
            <p:ph type="body" sz="quarter" idx="12"/>
          </p:nvPr>
        </p:nvSpPr>
        <p:spPr>
          <a:xfrm>
            <a:off x="640080" y="2872899"/>
            <a:ext cx="2985247" cy="464661"/>
          </a:xfrm>
        </p:spPr>
        <p:txBody>
          <a:bodyPr vert="horz" lIns="91440" tIns="45720" rIns="91440" bIns="45720" rtlCol="0">
            <a:normAutofit fontScale="77500" lnSpcReduction="20000"/>
          </a:bodyPr>
          <a:lstStyle/>
          <a:p>
            <a:pPr>
              <a:lnSpc>
                <a:spcPct val="90000"/>
              </a:lnSpc>
            </a:pPr>
            <a:r>
              <a:rPr lang="en-US" sz="2200">
                <a:solidFill>
                  <a:schemeClr val="tx1"/>
                </a:solidFill>
              </a:rPr>
              <a:t>Christine Marriott, PA-C</a:t>
            </a:r>
          </a:p>
          <a:p>
            <a:pPr indent="-228600">
              <a:lnSpc>
                <a:spcPct val="90000"/>
              </a:lnSpc>
              <a:buFont typeface="Arial" panose="020B0604020202020204" pitchFamily="34" charset="0"/>
              <a:buChar char="•"/>
            </a:pPr>
            <a:endParaRPr lang="en-US" sz="2200">
              <a:solidFill>
                <a:schemeClr val="tx1"/>
              </a:solidFill>
            </a:endParaRPr>
          </a:p>
        </p:txBody>
      </p:sp>
      <p:pic>
        <p:nvPicPr>
          <p:cNvPr id="1036" name="Picture 12" descr="Association between physical activity paradox and risk variables for  cardiovascular disease">
            <a:extLst>
              <a:ext uri="{FF2B5EF4-FFF2-40B4-BE49-F238E27FC236}">
                <a16:creationId xmlns:a16="http://schemas.microsoft.com/office/drawing/2014/main" id="{29AC2E7B-648A-439B-B5AD-578ED98557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629" r="12417" b="-1"/>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E10650BA-D090-4A23-98E3-B48BBAEA9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6" name="Picture 12" descr="Association between physical activity paradox and risk variables for  cardiovascular disease">
            <a:extLst>
              <a:ext uri="{FF2B5EF4-FFF2-40B4-BE49-F238E27FC236}">
                <a16:creationId xmlns:a16="http://schemas.microsoft.com/office/drawing/2014/main" id="{29AC2E7B-648A-439B-B5AD-578ED98557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624" r="17412" b="-2"/>
          <a:stretch/>
        </p:blipFill>
        <p:spPr bwMode="auto">
          <a:xfrm>
            <a:off x="-9527" y="3725"/>
            <a:ext cx="5846165" cy="6850548"/>
          </a:xfrm>
          <a:prstGeom prst="rect">
            <a:avLst/>
          </a:prstGeom>
          <a:noFill/>
          <a:extLst>
            <a:ext uri="{909E8E84-426E-40DD-AFC4-6F175D3DCCD1}">
              <a14:hiddenFill xmlns:a14="http://schemas.microsoft.com/office/drawing/2010/main">
                <a:solidFill>
                  <a:srgbClr val="FFFFFF"/>
                </a:solidFill>
              </a14:hiddenFill>
            </a:ext>
          </a:extLst>
        </p:spPr>
      </p:pic>
      <p:grpSp>
        <p:nvGrpSpPr>
          <p:cNvPr id="1043" name="Group 1042">
            <a:extLst>
              <a:ext uri="{FF2B5EF4-FFF2-40B4-BE49-F238E27FC236}">
                <a16:creationId xmlns:a16="http://schemas.microsoft.com/office/drawing/2014/main" id="{FFB939B9-73CE-4644-87BB-72AEBF0011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27" y="-6558"/>
            <a:ext cx="6254832" cy="6874766"/>
            <a:chOff x="-9149" y="3725"/>
            <a:chExt cx="6254832" cy="6887203"/>
          </a:xfrm>
        </p:grpSpPr>
        <p:sp>
          <p:nvSpPr>
            <p:cNvPr id="1044" name="Freeform: Shape 1043">
              <a:extLst>
                <a:ext uri="{FF2B5EF4-FFF2-40B4-BE49-F238E27FC236}">
                  <a16:creationId xmlns:a16="http://schemas.microsoft.com/office/drawing/2014/main" id="{15F2A0CF-7879-4629-AC2B-4069D77A3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8645"/>
              <a:ext cx="5933139" cy="6387893"/>
            </a:xfrm>
            <a:custGeom>
              <a:avLst/>
              <a:gdLst>
                <a:gd name="connsiteX0" fmla="*/ 5852909 w 5933139"/>
                <a:gd name="connsiteY0" fmla="*/ 2469528 h 6335678"/>
                <a:gd name="connsiteX1" fmla="*/ 5830799 w 5933139"/>
                <a:gd name="connsiteY1" fmla="*/ 2394015 h 6335678"/>
                <a:gd name="connsiteX2" fmla="*/ 5805878 w 5933139"/>
                <a:gd name="connsiteY2" fmla="*/ 2319439 h 6335678"/>
                <a:gd name="connsiteX3" fmla="*/ 5778708 w 5933139"/>
                <a:gd name="connsiteY3" fmla="*/ 2245800 h 6335678"/>
                <a:gd name="connsiteX4" fmla="*/ 5652978 w 5933139"/>
                <a:gd name="connsiteY4" fmla="*/ 1959675 h 6335678"/>
                <a:gd name="connsiteX5" fmla="*/ 5327691 w 5933139"/>
                <a:gd name="connsiteY5" fmla="*/ 1432958 h 6335678"/>
                <a:gd name="connsiteX6" fmla="*/ 4921458 w 5933139"/>
                <a:gd name="connsiteY6" fmla="*/ 973322 h 6335678"/>
                <a:gd name="connsiteX7" fmla="*/ 4450018 w 5933139"/>
                <a:gd name="connsiteY7" fmla="*/ 586764 h 6335678"/>
                <a:gd name="connsiteX8" fmla="*/ 4193311 w 5933139"/>
                <a:gd name="connsiteY8" fmla="*/ 423558 h 6335678"/>
                <a:gd name="connsiteX9" fmla="*/ 3924237 w 5933139"/>
                <a:gd name="connsiteY9" fmla="*/ 281901 h 6335678"/>
                <a:gd name="connsiteX10" fmla="*/ 3352175 w 5933139"/>
                <a:gd name="connsiteY10" fmla="*/ 75786 h 6335678"/>
                <a:gd name="connsiteX11" fmla="*/ 3051997 w 5933139"/>
                <a:gd name="connsiteY11" fmla="*/ 19011 h 6335678"/>
                <a:gd name="connsiteX12" fmla="*/ 2745823 w 5933139"/>
                <a:gd name="connsiteY12" fmla="*/ 86 h 6335678"/>
                <a:gd name="connsiteX13" fmla="*/ 2141720 w 5933139"/>
                <a:gd name="connsiteY13" fmla="*/ 55550 h 6335678"/>
                <a:gd name="connsiteX14" fmla="*/ 1551295 w 5933139"/>
                <a:gd name="connsiteY14" fmla="*/ 216319 h 6335678"/>
                <a:gd name="connsiteX15" fmla="*/ 1001718 w 5933139"/>
                <a:gd name="connsiteY15" fmla="*/ 498134 h 6335678"/>
                <a:gd name="connsiteX16" fmla="*/ 754755 w 5933139"/>
                <a:gd name="connsiteY16" fmla="*/ 685886 h 6335678"/>
                <a:gd name="connsiteX17" fmla="*/ 533462 w 5933139"/>
                <a:gd name="connsiteY17" fmla="*/ 903056 h 6335678"/>
                <a:gd name="connsiteX18" fmla="*/ 0 w 5933139"/>
                <a:gd name="connsiteY18" fmla="*/ 1646568 h 6335678"/>
                <a:gd name="connsiteX19" fmla="*/ 0 w 5933139"/>
                <a:gd name="connsiteY19" fmla="*/ 4709059 h 6335678"/>
                <a:gd name="connsiteX20" fmla="*/ 120671 w 5933139"/>
                <a:gd name="connsiteY20" fmla="*/ 4907491 h 6335678"/>
                <a:gd name="connsiteX21" fmla="*/ 507979 w 5933139"/>
                <a:gd name="connsiteY21" fmla="*/ 5384178 h 6335678"/>
                <a:gd name="connsiteX22" fmla="*/ 972112 w 5933139"/>
                <a:gd name="connsiteY22" fmla="*/ 5778607 h 6335678"/>
                <a:gd name="connsiteX23" fmla="*/ 1229943 w 5933139"/>
                <a:gd name="connsiteY23" fmla="*/ 5939939 h 6335678"/>
                <a:gd name="connsiteX24" fmla="*/ 1502389 w 5933139"/>
                <a:gd name="connsiteY24" fmla="*/ 6073913 h 6335678"/>
                <a:gd name="connsiteX25" fmla="*/ 2673870 w 5933139"/>
                <a:gd name="connsiteY25" fmla="*/ 6333993 h 6335678"/>
                <a:gd name="connsiteX26" fmla="*/ 2749196 w 5933139"/>
                <a:gd name="connsiteY26" fmla="*/ 6335679 h 6335678"/>
                <a:gd name="connsiteX27" fmla="*/ 2787983 w 5933139"/>
                <a:gd name="connsiteY27" fmla="*/ 6335492 h 6335678"/>
                <a:gd name="connsiteX28" fmla="*/ 2826770 w 5933139"/>
                <a:gd name="connsiteY28" fmla="*/ 6334368 h 6335678"/>
                <a:gd name="connsiteX29" fmla="*/ 2981918 w 5933139"/>
                <a:gd name="connsiteY29" fmla="*/ 6319939 h 6335678"/>
                <a:gd name="connsiteX30" fmla="*/ 3285282 w 5933139"/>
                <a:gd name="connsiteY30" fmla="*/ 6241803 h 6335678"/>
                <a:gd name="connsiteX31" fmla="*/ 3566347 w 5933139"/>
                <a:gd name="connsiteY31" fmla="*/ 6104831 h 6335678"/>
                <a:gd name="connsiteX32" fmla="*/ 3818369 w 5933139"/>
                <a:gd name="connsiteY32" fmla="*/ 5926823 h 6335678"/>
                <a:gd name="connsiteX33" fmla="*/ 4044908 w 5933139"/>
                <a:gd name="connsiteY33" fmla="*/ 5726329 h 6335678"/>
                <a:gd name="connsiteX34" fmla="*/ 4151151 w 5933139"/>
                <a:gd name="connsiteY34" fmla="*/ 5622147 h 6335678"/>
                <a:gd name="connsiteX35" fmla="*/ 4253834 w 5933139"/>
                <a:gd name="connsiteY35" fmla="*/ 5516841 h 6335678"/>
                <a:gd name="connsiteX36" fmla="*/ 4452453 w 5933139"/>
                <a:gd name="connsiteY36" fmla="*/ 5306979 h 6335678"/>
                <a:gd name="connsiteX37" fmla="*/ 4548578 w 5933139"/>
                <a:gd name="connsiteY37" fmla="*/ 5202797 h 6335678"/>
                <a:gd name="connsiteX38" fmla="*/ 4596546 w 5933139"/>
                <a:gd name="connsiteY38" fmla="*/ 5151456 h 6335678"/>
                <a:gd name="connsiteX39" fmla="*/ 4643016 w 5933139"/>
                <a:gd name="connsiteY39" fmla="*/ 5103300 h 6335678"/>
                <a:gd name="connsiteX40" fmla="*/ 4739515 w 5933139"/>
                <a:gd name="connsiteY40" fmla="*/ 5013172 h 6335678"/>
                <a:gd name="connsiteX41" fmla="*/ 4842198 w 5933139"/>
                <a:gd name="connsiteY41" fmla="*/ 4930164 h 6335678"/>
                <a:gd name="connsiteX42" fmla="*/ 5071360 w 5933139"/>
                <a:gd name="connsiteY42" fmla="*/ 4780449 h 6335678"/>
                <a:gd name="connsiteX43" fmla="*/ 5332001 w 5933139"/>
                <a:gd name="connsiteY43" fmla="*/ 4615932 h 6335678"/>
                <a:gd name="connsiteX44" fmla="*/ 5397396 w 5933139"/>
                <a:gd name="connsiteY44" fmla="*/ 4563655 h 6335678"/>
                <a:gd name="connsiteX45" fmla="*/ 5459417 w 5933139"/>
                <a:gd name="connsiteY45" fmla="*/ 4505380 h 6335678"/>
                <a:gd name="connsiteX46" fmla="*/ 5567159 w 5933139"/>
                <a:gd name="connsiteY46" fmla="*/ 4374029 h 6335678"/>
                <a:gd name="connsiteX47" fmla="*/ 5651292 w 5933139"/>
                <a:gd name="connsiteY47" fmla="*/ 4231810 h 6335678"/>
                <a:gd name="connsiteX48" fmla="*/ 5716686 w 5933139"/>
                <a:gd name="connsiteY48" fmla="*/ 4085655 h 6335678"/>
                <a:gd name="connsiteX49" fmla="*/ 5820681 w 5933139"/>
                <a:gd name="connsiteY49" fmla="*/ 3791848 h 6335678"/>
                <a:gd name="connsiteX50" fmla="*/ 5898629 w 5933139"/>
                <a:gd name="connsiteY50" fmla="*/ 3487922 h 6335678"/>
                <a:gd name="connsiteX51" fmla="*/ 5932170 w 5933139"/>
                <a:gd name="connsiteY51" fmla="*/ 3174066 h 6335678"/>
                <a:gd name="connsiteX52" fmla="*/ 5872209 w 5933139"/>
                <a:gd name="connsiteY52" fmla="*/ 2545978 h 6335678"/>
                <a:gd name="connsiteX53" fmla="*/ 5852909 w 5933139"/>
                <a:gd name="connsiteY53" fmla="*/ 2469528 h 6335678"/>
                <a:gd name="connsiteX54" fmla="*/ 5507386 w 5933139"/>
                <a:gd name="connsiteY54" fmla="*/ 3724580 h 6335678"/>
                <a:gd name="connsiteX55" fmla="*/ 5453609 w 5933139"/>
                <a:gd name="connsiteY55" fmla="*/ 3989906 h 6335678"/>
                <a:gd name="connsiteX56" fmla="*/ 5344181 w 5933139"/>
                <a:gd name="connsiteY56" fmla="*/ 4220380 h 6335678"/>
                <a:gd name="connsiteX57" fmla="*/ 5171419 w 5933139"/>
                <a:gd name="connsiteY57" fmla="*/ 4388644 h 6335678"/>
                <a:gd name="connsiteX58" fmla="*/ 5057868 w 5933139"/>
                <a:gd name="connsiteY58" fmla="*/ 4453851 h 6335678"/>
                <a:gd name="connsiteX59" fmla="*/ 4930265 w 5933139"/>
                <a:gd name="connsiteY59" fmla="*/ 4516810 h 6335678"/>
                <a:gd name="connsiteX60" fmla="*/ 4660067 w 5933139"/>
                <a:gd name="connsiteY60" fmla="*/ 4664276 h 6335678"/>
                <a:gd name="connsiteX61" fmla="*/ 4408794 w 5933139"/>
                <a:gd name="connsiteY61" fmla="*/ 4857836 h 6335678"/>
                <a:gd name="connsiteX62" fmla="*/ 4352207 w 5933139"/>
                <a:gd name="connsiteY62" fmla="*/ 4911988 h 6335678"/>
                <a:gd name="connsiteX63" fmla="*/ 4299366 w 5933139"/>
                <a:gd name="connsiteY63" fmla="*/ 4965390 h 6335678"/>
                <a:gd name="connsiteX64" fmla="*/ 4197621 w 5933139"/>
                <a:gd name="connsiteY64" fmla="*/ 5074257 h 6335678"/>
                <a:gd name="connsiteX65" fmla="*/ 4008744 w 5933139"/>
                <a:gd name="connsiteY65" fmla="*/ 5297985 h 6335678"/>
                <a:gd name="connsiteX66" fmla="*/ 3917304 w 5933139"/>
                <a:gd name="connsiteY66" fmla="*/ 5409100 h 6335678"/>
                <a:gd name="connsiteX67" fmla="*/ 3826052 w 5933139"/>
                <a:gd name="connsiteY67" fmla="*/ 5518153 h 6335678"/>
                <a:gd name="connsiteX68" fmla="*/ 3637925 w 5933139"/>
                <a:gd name="connsiteY68" fmla="*/ 5725017 h 6335678"/>
                <a:gd name="connsiteX69" fmla="*/ 3433497 w 5933139"/>
                <a:gd name="connsiteY69" fmla="*/ 5906586 h 6335678"/>
                <a:gd name="connsiteX70" fmla="*/ 3204522 w 5933139"/>
                <a:gd name="connsiteY70" fmla="*/ 6046744 h 6335678"/>
                <a:gd name="connsiteX71" fmla="*/ 2950439 w 5933139"/>
                <a:gd name="connsiteY71" fmla="*/ 6129190 h 6335678"/>
                <a:gd name="connsiteX72" fmla="*/ 2816839 w 5933139"/>
                <a:gd name="connsiteY72" fmla="*/ 6146428 h 6335678"/>
                <a:gd name="connsiteX73" fmla="*/ 2749009 w 5933139"/>
                <a:gd name="connsiteY73" fmla="*/ 6149051 h 6335678"/>
                <a:gd name="connsiteX74" fmla="*/ 2678930 w 5933139"/>
                <a:gd name="connsiteY74" fmla="*/ 6148677 h 6335678"/>
                <a:gd name="connsiteX75" fmla="*/ 2125793 w 5933139"/>
                <a:gd name="connsiteY75" fmla="*/ 6065481 h 6335678"/>
                <a:gd name="connsiteX76" fmla="*/ 1610506 w 5933139"/>
                <a:gd name="connsiteY76" fmla="*/ 5851310 h 6335678"/>
                <a:gd name="connsiteX77" fmla="*/ 1373099 w 5933139"/>
                <a:gd name="connsiteY77" fmla="*/ 5706279 h 6335678"/>
                <a:gd name="connsiteX78" fmla="*/ 1315949 w 5933139"/>
                <a:gd name="connsiteY78" fmla="*/ 5666743 h 6335678"/>
                <a:gd name="connsiteX79" fmla="*/ 1259923 w 5933139"/>
                <a:gd name="connsiteY79" fmla="*/ 5625894 h 6335678"/>
                <a:gd name="connsiteX80" fmla="*/ 1204647 w 5933139"/>
                <a:gd name="connsiteY80" fmla="*/ 5583922 h 6335678"/>
                <a:gd name="connsiteX81" fmla="*/ 1150308 w 5933139"/>
                <a:gd name="connsiteY81" fmla="*/ 5540826 h 6335678"/>
                <a:gd name="connsiteX82" fmla="*/ 751569 w 5933139"/>
                <a:gd name="connsiteY82" fmla="*/ 5158015 h 6335678"/>
                <a:gd name="connsiteX83" fmla="*/ 663315 w 5933139"/>
                <a:gd name="connsiteY83" fmla="*/ 5052146 h 6335678"/>
                <a:gd name="connsiteX84" fmla="*/ 580869 w 5933139"/>
                <a:gd name="connsiteY84" fmla="*/ 4942718 h 6335678"/>
                <a:gd name="connsiteX85" fmla="*/ 432279 w 5933139"/>
                <a:gd name="connsiteY85" fmla="*/ 4713369 h 6335678"/>
                <a:gd name="connsiteX86" fmla="*/ 205553 w 5933139"/>
                <a:gd name="connsiteY86" fmla="*/ 4219443 h 6335678"/>
                <a:gd name="connsiteX87" fmla="*/ 79448 w 5933139"/>
                <a:gd name="connsiteY87" fmla="*/ 3693850 h 6335678"/>
                <a:gd name="connsiteX88" fmla="*/ 53590 w 5933139"/>
                <a:gd name="connsiteY88" fmla="*/ 3425339 h 6335678"/>
                <a:gd name="connsiteX89" fmla="*/ 49655 w 5933139"/>
                <a:gd name="connsiteY89" fmla="*/ 3155890 h 6335678"/>
                <a:gd name="connsiteX90" fmla="*/ 67830 w 5933139"/>
                <a:gd name="connsiteY90" fmla="*/ 2886817 h 6335678"/>
                <a:gd name="connsiteX91" fmla="*/ 108679 w 5933139"/>
                <a:gd name="connsiteY91" fmla="*/ 2619992 h 6335678"/>
                <a:gd name="connsiteX92" fmla="*/ 263077 w 5933139"/>
                <a:gd name="connsiteY92" fmla="*/ 2101520 h 6335678"/>
                <a:gd name="connsiteX93" fmla="*/ 837575 w 5933139"/>
                <a:gd name="connsiteY93" fmla="*/ 1186370 h 6335678"/>
                <a:gd name="connsiteX94" fmla="*/ 1031698 w 5933139"/>
                <a:gd name="connsiteY94" fmla="*/ 996932 h 6335678"/>
                <a:gd name="connsiteX95" fmla="*/ 1236688 w 5933139"/>
                <a:gd name="connsiteY95" fmla="*/ 819298 h 6335678"/>
                <a:gd name="connsiteX96" fmla="*/ 1687143 w 5933139"/>
                <a:gd name="connsiteY96" fmla="*/ 511438 h 6335678"/>
                <a:gd name="connsiteX97" fmla="*/ 2196246 w 5933139"/>
                <a:gd name="connsiteY97" fmla="*/ 300639 h 6335678"/>
                <a:gd name="connsiteX98" fmla="*/ 2745823 w 5933139"/>
                <a:gd name="connsiteY98" fmla="*/ 229248 h 6335678"/>
                <a:gd name="connsiteX99" fmla="*/ 3019206 w 5933139"/>
                <a:gd name="connsiteY99" fmla="*/ 252108 h 6335678"/>
                <a:gd name="connsiteX100" fmla="*/ 3288092 w 5933139"/>
                <a:gd name="connsiteY100" fmla="*/ 313006 h 6335678"/>
                <a:gd name="connsiteX101" fmla="*/ 3548172 w 5933139"/>
                <a:gd name="connsiteY101" fmla="*/ 407069 h 6335678"/>
                <a:gd name="connsiteX102" fmla="*/ 3611505 w 5933139"/>
                <a:gd name="connsiteY102" fmla="*/ 435176 h 6335678"/>
                <a:gd name="connsiteX103" fmla="*/ 3674089 w 5933139"/>
                <a:gd name="connsiteY103" fmla="*/ 464968 h 6335678"/>
                <a:gd name="connsiteX104" fmla="*/ 3735736 w 5933139"/>
                <a:gd name="connsiteY104" fmla="*/ 496823 h 6335678"/>
                <a:gd name="connsiteX105" fmla="*/ 3796634 w 5933139"/>
                <a:gd name="connsiteY105" fmla="*/ 530176 h 6335678"/>
                <a:gd name="connsiteX106" fmla="*/ 4251585 w 5933139"/>
                <a:gd name="connsiteY106" fmla="*/ 847405 h 6335678"/>
                <a:gd name="connsiteX107" fmla="*/ 4644515 w 5933139"/>
                <a:gd name="connsiteY107" fmla="*/ 1236775 h 6335678"/>
                <a:gd name="connsiteX108" fmla="*/ 4816527 w 5933139"/>
                <a:gd name="connsiteY108" fmla="*/ 1451883 h 6335678"/>
                <a:gd name="connsiteX109" fmla="*/ 4970738 w 5933139"/>
                <a:gd name="connsiteY109" fmla="*/ 1678610 h 6335678"/>
                <a:gd name="connsiteX110" fmla="*/ 5223885 w 5933139"/>
                <a:gd name="connsiteY110" fmla="*/ 2159232 h 6335678"/>
                <a:gd name="connsiteX111" fmla="*/ 5395709 w 5933139"/>
                <a:gd name="connsiteY111" fmla="*/ 2666087 h 6335678"/>
                <a:gd name="connsiteX112" fmla="*/ 5458855 w 5933139"/>
                <a:gd name="connsiteY112" fmla="*/ 2924292 h 6335678"/>
                <a:gd name="connsiteX113" fmla="*/ 5499142 w 5933139"/>
                <a:gd name="connsiteY113" fmla="*/ 3186995 h 6335678"/>
                <a:gd name="connsiteX114" fmla="*/ 5516755 w 5933139"/>
                <a:gd name="connsiteY114" fmla="*/ 3454007 h 6335678"/>
                <a:gd name="connsiteX115" fmla="*/ 5507386 w 5933139"/>
                <a:gd name="connsiteY115" fmla="*/ 3724580 h 633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933139" h="6335678">
                  <a:moveTo>
                    <a:pt x="5852909" y="2469528"/>
                  </a:moveTo>
                  <a:lnTo>
                    <a:pt x="5830799" y="2394015"/>
                  </a:lnTo>
                  <a:lnTo>
                    <a:pt x="5805878" y="2319439"/>
                  </a:lnTo>
                  <a:cubicBezTo>
                    <a:pt x="5797446" y="2294705"/>
                    <a:pt x="5787890" y="2270346"/>
                    <a:pt x="5778708" y="2245800"/>
                  </a:cubicBezTo>
                  <a:cubicBezTo>
                    <a:pt x="5740858" y="2148364"/>
                    <a:pt x="5699073" y="2052614"/>
                    <a:pt x="5652978" y="1959675"/>
                  </a:cubicBezTo>
                  <a:cubicBezTo>
                    <a:pt x="5559664" y="1773985"/>
                    <a:pt x="5450986" y="1597663"/>
                    <a:pt x="5327691" y="1432958"/>
                  </a:cubicBezTo>
                  <a:cubicBezTo>
                    <a:pt x="5204960" y="1268067"/>
                    <a:pt x="5068362" y="1114980"/>
                    <a:pt x="4921458" y="973322"/>
                  </a:cubicBezTo>
                  <a:cubicBezTo>
                    <a:pt x="4774742" y="831665"/>
                    <a:pt x="4616408" y="703125"/>
                    <a:pt x="4450018" y="586764"/>
                  </a:cubicBezTo>
                  <a:cubicBezTo>
                    <a:pt x="4366822" y="528489"/>
                    <a:pt x="4281003" y="474337"/>
                    <a:pt x="4193311" y="423558"/>
                  </a:cubicBezTo>
                  <a:cubicBezTo>
                    <a:pt x="4105806" y="372404"/>
                    <a:pt x="4015865" y="325560"/>
                    <a:pt x="3924237" y="281901"/>
                  </a:cubicBezTo>
                  <a:cubicBezTo>
                    <a:pt x="3740983" y="195333"/>
                    <a:pt x="3549483" y="125067"/>
                    <a:pt x="3352175" y="75786"/>
                  </a:cubicBezTo>
                  <a:cubicBezTo>
                    <a:pt x="3253428" y="51240"/>
                    <a:pt x="3153368" y="31565"/>
                    <a:pt x="3051997" y="19011"/>
                  </a:cubicBezTo>
                  <a:cubicBezTo>
                    <a:pt x="2950814" y="5895"/>
                    <a:pt x="2848506" y="-851"/>
                    <a:pt x="2745823" y="86"/>
                  </a:cubicBezTo>
                  <a:cubicBezTo>
                    <a:pt x="2543643" y="1585"/>
                    <a:pt x="2341838" y="20135"/>
                    <a:pt x="2141720" y="55550"/>
                  </a:cubicBezTo>
                  <a:cubicBezTo>
                    <a:pt x="1941976" y="91339"/>
                    <a:pt x="1743356" y="143055"/>
                    <a:pt x="1551295" y="216319"/>
                  </a:cubicBezTo>
                  <a:cubicBezTo>
                    <a:pt x="1359233" y="289396"/>
                    <a:pt x="1173917" y="383459"/>
                    <a:pt x="1001718" y="498134"/>
                  </a:cubicBezTo>
                  <a:cubicBezTo>
                    <a:pt x="915712" y="555659"/>
                    <a:pt x="832141" y="617119"/>
                    <a:pt x="754755" y="685886"/>
                  </a:cubicBezTo>
                  <a:cubicBezTo>
                    <a:pt x="677555" y="754841"/>
                    <a:pt x="604666" y="828293"/>
                    <a:pt x="533462" y="903056"/>
                  </a:cubicBezTo>
                  <a:cubicBezTo>
                    <a:pt x="323413" y="1125660"/>
                    <a:pt x="143906" y="1376370"/>
                    <a:pt x="0" y="1646568"/>
                  </a:cubicBezTo>
                  <a:lnTo>
                    <a:pt x="0" y="4709059"/>
                  </a:lnTo>
                  <a:cubicBezTo>
                    <a:pt x="37850" y="4776702"/>
                    <a:pt x="78136" y="4843033"/>
                    <a:pt x="120671" y="4907491"/>
                  </a:cubicBezTo>
                  <a:cubicBezTo>
                    <a:pt x="234034" y="5078941"/>
                    <a:pt x="365198" y="5239336"/>
                    <a:pt x="507979" y="5384178"/>
                  </a:cubicBezTo>
                  <a:cubicBezTo>
                    <a:pt x="650948" y="5529395"/>
                    <a:pt x="805909" y="5662059"/>
                    <a:pt x="972112" y="5778607"/>
                  </a:cubicBezTo>
                  <a:cubicBezTo>
                    <a:pt x="1055308" y="5836881"/>
                    <a:pt x="1141314" y="5890846"/>
                    <a:pt x="1229943" y="5939939"/>
                  </a:cubicBezTo>
                  <a:cubicBezTo>
                    <a:pt x="1318385" y="5989406"/>
                    <a:pt x="1409450" y="6033815"/>
                    <a:pt x="1502389" y="6073913"/>
                  </a:cubicBezTo>
                  <a:cubicBezTo>
                    <a:pt x="1874145" y="6233559"/>
                    <a:pt x="2272884" y="6320689"/>
                    <a:pt x="2673870" y="6333993"/>
                  </a:cubicBezTo>
                  <a:lnTo>
                    <a:pt x="2749196" y="6335679"/>
                  </a:lnTo>
                  <a:lnTo>
                    <a:pt x="2787983" y="6335492"/>
                  </a:lnTo>
                  <a:lnTo>
                    <a:pt x="2826770" y="6334368"/>
                  </a:lnTo>
                  <a:cubicBezTo>
                    <a:pt x="2878486" y="6332494"/>
                    <a:pt x="2930390" y="6327247"/>
                    <a:pt x="2981918" y="6319939"/>
                  </a:cubicBezTo>
                  <a:cubicBezTo>
                    <a:pt x="3085163" y="6304949"/>
                    <a:pt x="3187096" y="6278529"/>
                    <a:pt x="3285282" y="6241803"/>
                  </a:cubicBezTo>
                  <a:cubicBezTo>
                    <a:pt x="3383467" y="6205265"/>
                    <a:pt x="3477530" y="6158608"/>
                    <a:pt x="3566347" y="6104831"/>
                  </a:cubicBezTo>
                  <a:cubicBezTo>
                    <a:pt x="3655164" y="6051053"/>
                    <a:pt x="3739109" y="5990905"/>
                    <a:pt x="3818369" y="5926823"/>
                  </a:cubicBezTo>
                  <a:cubicBezTo>
                    <a:pt x="3897630" y="5862739"/>
                    <a:pt x="3973143" y="5795471"/>
                    <a:pt x="4044908" y="5726329"/>
                  </a:cubicBezTo>
                  <a:cubicBezTo>
                    <a:pt x="4080884" y="5691852"/>
                    <a:pt x="4116299" y="5656999"/>
                    <a:pt x="4151151" y="5622147"/>
                  </a:cubicBezTo>
                  <a:cubicBezTo>
                    <a:pt x="4185816" y="5586920"/>
                    <a:pt x="4220106" y="5552068"/>
                    <a:pt x="4253834" y="5516841"/>
                  </a:cubicBezTo>
                  <a:cubicBezTo>
                    <a:pt x="4321289" y="5446388"/>
                    <a:pt x="4387808" y="5376871"/>
                    <a:pt x="4452453" y="5306979"/>
                  </a:cubicBezTo>
                  <a:lnTo>
                    <a:pt x="4548578" y="5202797"/>
                  </a:lnTo>
                  <a:lnTo>
                    <a:pt x="4596546" y="5151456"/>
                  </a:lnTo>
                  <a:cubicBezTo>
                    <a:pt x="4612661" y="5134592"/>
                    <a:pt x="4627276" y="5119040"/>
                    <a:pt x="4643016" y="5103300"/>
                  </a:cubicBezTo>
                  <a:cubicBezTo>
                    <a:pt x="4674308" y="5072196"/>
                    <a:pt x="4706162" y="5041841"/>
                    <a:pt x="4739515" y="5013172"/>
                  </a:cubicBezTo>
                  <a:cubicBezTo>
                    <a:pt x="4772493" y="4984128"/>
                    <a:pt x="4806596" y="4956397"/>
                    <a:pt x="4842198" y="4930164"/>
                  </a:cubicBezTo>
                  <a:cubicBezTo>
                    <a:pt x="4913026" y="4876949"/>
                    <a:pt x="4988914" y="4828980"/>
                    <a:pt x="5071360" y="4780449"/>
                  </a:cubicBezTo>
                  <a:cubicBezTo>
                    <a:pt x="5153243" y="4731544"/>
                    <a:pt x="5243372" y="4682076"/>
                    <a:pt x="5332001" y="4615932"/>
                  </a:cubicBezTo>
                  <a:cubicBezTo>
                    <a:pt x="5354111" y="4599443"/>
                    <a:pt x="5376035" y="4582205"/>
                    <a:pt x="5397396" y="4563655"/>
                  </a:cubicBezTo>
                  <a:cubicBezTo>
                    <a:pt x="5418757" y="4545104"/>
                    <a:pt x="5439368" y="4525617"/>
                    <a:pt x="5459417" y="4505380"/>
                  </a:cubicBezTo>
                  <a:cubicBezTo>
                    <a:pt x="5499329" y="4464719"/>
                    <a:pt x="5535493" y="4420311"/>
                    <a:pt x="5567159" y="4374029"/>
                  </a:cubicBezTo>
                  <a:cubicBezTo>
                    <a:pt x="5599388" y="4328121"/>
                    <a:pt x="5626558" y="4279965"/>
                    <a:pt x="5651292" y="4231810"/>
                  </a:cubicBezTo>
                  <a:cubicBezTo>
                    <a:pt x="5675651" y="4183466"/>
                    <a:pt x="5697012" y="4134561"/>
                    <a:pt x="5716686" y="4085655"/>
                  </a:cubicBezTo>
                  <a:cubicBezTo>
                    <a:pt x="5756223" y="3987845"/>
                    <a:pt x="5789576" y="3891158"/>
                    <a:pt x="5820681" y="3791848"/>
                  </a:cubicBezTo>
                  <a:cubicBezTo>
                    <a:pt x="5851972" y="3692726"/>
                    <a:pt x="5878955" y="3591167"/>
                    <a:pt x="5898629" y="3487922"/>
                  </a:cubicBezTo>
                  <a:cubicBezTo>
                    <a:pt x="5918116" y="3384490"/>
                    <a:pt x="5929172" y="3279372"/>
                    <a:pt x="5932170" y="3174066"/>
                  </a:cubicBezTo>
                  <a:cubicBezTo>
                    <a:pt x="5937604" y="2963454"/>
                    <a:pt x="5920552" y="2750968"/>
                    <a:pt x="5872209" y="2545978"/>
                  </a:cubicBezTo>
                  <a:cubicBezTo>
                    <a:pt x="5865838" y="2520307"/>
                    <a:pt x="5860029" y="2494637"/>
                    <a:pt x="5852909" y="2469528"/>
                  </a:cubicBezTo>
                  <a:close/>
                  <a:moveTo>
                    <a:pt x="5507386" y="3724580"/>
                  </a:moveTo>
                  <a:cubicBezTo>
                    <a:pt x="5497830" y="3814521"/>
                    <a:pt x="5480591" y="3905586"/>
                    <a:pt x="5453609" y="3989906"/>
                  </a:cubicBezTo>
                  <a:cubicBezTo>
                    <a:pt x="5426439" y="4074413"/>
                    <a:pt x="5390088" y="4152924"/>
                    <a:pt x="5344181" y="4220380"/>
                  </a:cubicBezTo>
                  <a:cubicBezTo>
                    <a:pt x="5297898" y="4287835"/>
                    <a:pt x="5241311" y="4342549"/>
                    <a:pt x="5171419" y="4388644"/>
                  </a:cubicBezTo>
                  <a:cubicBezTo>
                    <a:pt x="5136755" y="4411879"/>
                    <a:pt x="5098342" y="4433052"/>
                    <a:pt x="5057868" y="4453851"/>
                  </a:cubicBezTo>
                  <a:cubicBezTo>
                    <a:pt x="5017395" y="4474837"/>
                    <a:pt x="4974298" y="4495449"/>
                    <a:pt x="4930265" y="4516810"/>
                  </a:cubicBezTo>
                  <a:cubicBezTo>
                    <a:pt x="4841823" y="4559719"/>
                    <a:pt x="4748696" y="4607126"/>
                    <a:pt x="4660067" y="4664276"/>
                  </a:cubicBezTo>
                  <a:cubicBezTo>
                    <a:pt x="4571251" y="4721238"/>
                    <a:pt x="4486181" y="4786071"/>
                    <a:pt x="4408794" y="4857836"/>
                  </a:cubicBezTo>
                  <a:cubicBezTo>
                    <a:pt x="4389682" y="4875637"/>
                    <a:pt x="4370008" y="4894375"/>
                    <a:pt x="4352207" y="4911988"/>
                  </a:cubicBezTo>
                  <a:lnTo>
                    <a:pt x="4299366" y="4965390"/>
                  </a:lnTo>
                  <a:cubicBezTo>
                    <a:pt x="4264514" y="5001179"/>
                    <a:pt x="4230599" y="5037531"/>
                    <a:pt x="4197621" y="5074257"/>
                  </a:cubicBezTo>
                  <a:cubicBezTo>
                    <a:pt x="4131664" y="5147896"/>
                    <a:pt x="4070204" y="5223784"/>
                    <a:pt x="4008744" y="5297985"/>
                  </a:cubicBezTo>
                  <a:lnTo>
                    <a:pt x="3917304" y="5409100"/>
                  </a:lnTo>
                  <a:cubicBezTo>
                    <a:pt x="3886949" y="5446013"/>
                    <a:pt x="3856782" y="5482364"/>
                    <a:pt x="3826052" y="5518153"/>
                  </a:cubicBezTo>
                  <a:cubicBezTo>
                    <a:pt x="3764592" y="5589544"/>
                    <a:pt x="3702758" y="5659435"/>
                    <a:pt x="3637925" y="5725017"/>
                  </a:cubicBezTo>
                  <a:cubicBezTo>
                    <a:pt x="3573093" y="5790412"/>
                    <a:pt x="3505637" y="5852059"/>
                    <a:pt x="3433497" y="5906586"/>
                  </a:cubicBezTo>
                  <a:cubicBezTo>
                    <a:pt x="3361544" y="5961112"/>
                    <a:pt x="3285469" y="6009268"/>
                    <a:pt x="3204522" y="6046744"/>
                  </a:cubicBezTo>
                  <a:cubicBezTo>
                    <a:pt x="3123763" y="6084594"/>
                    <a:pt x="3038506" y="6112513"/>
                    <a:pt x="2950439" y="6129190"/>
                  </a:cubicBezTo>
                  <a:cubicBezTo>
                    <a:pt x="2906405" y="6137809"/>
                    <a:pt x="2861810" y="6143055"/>
                    <a:pt x="2816839" y="6146428"/>
                  </a:cubicBezTo>
                  <a:cubicBezTo>
                    <a:pt x="2794354" y="6147927"/>
                    <a:pt x="2771681" y="6148677"/>
                    <a:pt x="2749009" y="6149051"/>
                  </a:cubicBezTo>
                  <a:lnTo>
                    <a:pt x="2678930" y="6148677"/>
                  </a:lnTo>
                  <a:cubicBezTo>
                    <a:pt x="2491927" y="6144367"/>
                    <a:pt x="2305675" y="6116260"/>
                    <a:pt x="2125793" y="6065481"/>
                  </a:cubicBezTo>
                  <a:cubicBezTo>
                    <a:pt x="1945911" y="6014515"/>
                    <a:pt x="1773524" y="5940501"/>
                    <a:pt x="1610506" y="5851310"/>
                  </a:cubicBezTo>
                  <a:cubicBezTo>
                    <a:pt x="1528997" y="5806714"/>
                    <a:pt x="1449924" y="5757808"/>
                    <a:pt x="1373099" y="5706279"/>
                  </a:cubicBezTo>
                  <a:lnTo>
                    <a:pt x="1315949" y="5666743"/>
                  </a:lnTo>
                  <a:lnTo>
                    <a:pt x="1259923" y="5625894"/>
                  </a:lnTo>
                  <a:lnTo>
                    <a:pt x="1204647" y="5583922"/>
                  </a:lnTo>
                  <a:cubicBezTo>
                    <a:pt x="1186284" y="5569869"/>
                    <a:pt x="1168483" y="5555066"/>
                    <a:pt x="1150308" y="5540826"/>
                  </a:cubicBezTo>
                  <a:cubicBezTo>
                    <a:pt x="1006402" y="5424839"/>
                    <a:pt x="872615" y="5296860"/>
                    <a:pt x="751569" y="5158015"/>
                  </a:cubicBezTo>
                  <a:cubicBezTo>
                    <a:pt x="721214" y="5123350"/>
                    <a:pt x="691983" y="5087935"/>
                    <a:pt x="663315" y="5052146"/>
                  </a:cubicBezTo>
                  <a:cubicBezTo>
                    <a:pt x="635021" y="5016170"/>
                    <a:pt x="607289" y="4980006"/>
                    <a:pt x="580869" y="4942718"/>
                  </a:cubicBezTo>
                  <a:cubicBezTo>
                    <a:pt x="527654" y="4868517"/>
                    <a:pt x="478186" y="4791880"/>
                    <a:pt x="432279" y="4713369"/>
                  </a:cubicBezTo>
                  <a:cubicBezTo>
                    <a:pt x="340651" y="4556159"/>
                    <a:pt x="264764" y="4390330"/>
                    <a:pt x="205553" y="4219443"/>
                  </a:cubicBezTo>
                  <a:cubicBezTo>
                    <a:pt x="146154" y="4048555"/>
                    <a:pt x="104369" y="3872045"/>
                    <a:pt x="79448" y="3693850"/>
                  </a:cubicBezTo>
                  <a:cubicBezTo>
                    <a:pt x="67268" y="3604659"/>
                    <a:pt x="58087" y="3515092"/>
                    <a:pt x="53590" y="3425339"/>
                  </a:cubicBezTo>
                  <a:cubicBezTo>
                    <a:pt x="47969" y="3335585"/>
                    <a:pt x="47406" y="3245644"/>
                    <a:pt x="49655" y="3155890"/>
                  </a:cubicBezTo>
                  <a:cubicBezTo>
                    <a:pt x="52278" y="3066137"/>
                    <a:pt x="58274" y="2976383"/>
                    <a:pt x="67830" y="2886817"/>
                  </a:cubicBezTo>
                  <a:cubicBezTo>
                    <a:pt x="77761" y="2797438"/>
                    <a:pt x="91253" y="2708246"/>
                    <a:pt x="108679" y="2619992"/>
                  </a:cubicBezTo>
                  <a:cubicBezTo>
                    <a:pt x="143906" y="2443108"/>
                    <a:pt x="195809" y="2269409"/>
                    <a:pt x="263077" y="2101520"/>
                  </a:cubicBezTo>
                  <a:cubicBezTo>
                    <a:pt x="397614" y="1765740"/>
                    <a:pt x="593048" y="1453382"/>
                    <a:pt x="837575" y="1186370"/>
                  </a:cubicBezTo>
                  <a:cubicBezTo>
                    <a:pt x="898473" y="1119289"/>
                    <a:pt x="964242" y="1056893"/>
                    <a:pt x="1031698" y="996932"/>
                  </a:cubicBezTo>
                  <a:cubicBezTo>
                    <a:pt x="1099154" y="936784"/>
                    <a:pt x="1166235" y="876261"/>
                    <a:pt x="1236688" y="819298"/>
                  </a:cubicBezTo>
                  <a:cubicBezTo>
                    <a:pt x="1377221" y="704999"/>
                    <a:pt x="1526935" y="600442"/>
                    <a:pt x="1687143" y="511438"/>
                  </a:cubicBezTo>
                  <a:cubicBezTo>
                    <a:pt x="1847163" y="422621"/>
                    <a:pt x="2017676" y="348795"/>
                    <a:pt x="2196246" y="300639"/>
                  </a:cubicBezTo>
                  <a:cubicBezTo>
                    <a:pt x="2374629" y="251921"/>
                    <a:pt x="2560320" y="227749"/>
                    <a:pt x="2745823" y="229248"/>
                  </a:cubicBezTo>
                  <a:cubicBezTo>
                    <a:pt x="2837076" y="230372"/>
                    <a:pt x="2928516" y="238055"/>
                    <a:pt x="3019206" y="252108"/>
                  </a:cubicBezTo>
                  <a:cubicBezTo>
                    <a:pt x="3109710" y="266724"/>
                    <a:pt x="3199650" y="286773"/>
                    <a:pt x="3288092" y="313006"/>
                  </a:cubicBezTo>
                  <a:cubicBezTo>
                    <a:pt x="3376347" y="339426"/>
                    <a:pt x="3463477" y="370343"/>
                    <a:pt x="3548172" y="407069"/>
                  </a:cubicBezTo>
                  <a:cubicBezTo>
                    <a:pt x="3569345" y="416438"/>
                    <a:pt x="3590519" y="425432"/>
                    <a:pt x="3611505" y="435176"/>
                  </a:cubicBezTo>
                  <a:lnTo>
                    <a:pt x="3674089" y="464968"/>
                  </a:lnTo>
                  <a:lnTo>
                    <a:pt x="3735736" y="496823"/>
                  </a:lnTo>
                  <a:cubicBezTo>
                    <a:pt x="3756160" y="507690"/>
                    <a:pt x="3776397" y="519120"/>
                    <a:pt x="3796634" y="530176"/>
                  </a:cubicBezTo>
                  <a:cubicBezTo>
                    <a:pt x="3957965" y="621054"/>
                    <a:pt x="4110303" y="728046"/>
                    <a:pt x="4251585" y="847405"/>
                  </a:cubicBezTo>
                  <a:cubicBezTo>
                    <a:pt x="4393242" y="966390"/>
                    <a:pt x="4524781" y="1096991"/>
                    <a:pt x="4644515" y="1236775"/>
                  </a:cubicBezTo>
                  <a:cubicBezTo>
                    <a:pt x="4704663" y="1306479"/>
                    <a:pt x="4762375" y="1378057"/>
                    <a:pt x="4816527" y="1451883"/>
                  </a:cubicBezTo>
                  <a:cubicBezTo>
                    <a:pt x="4870679" y="1525897"/>
                    <a:pt x="4922020" y="1601598"/>
                    <a:pt x="4970738" y="1678610"/>
                  </a:cubicBezTo>
                  <a:cubicBezTo>
                    <a:pt x="5067799" y="1833008"/>
                    <a:pt x="5152494" y="1993965"/>
                    <a:pt x="5223885" y="2159232"/>
                  </a:cubicBezTo>
                  <a:cubicBezTo>
                    <a:pt x="5295275" y="2324686"/>
                    <a:pt x="5349615" y="2495199"/>
                    <a:pt x="5395709" y="2666087"/>
                  </a:cubicBezTo>
                  <a:cubicBezTo>
                    <a:pt x="5418757" y="2751718"/>
                    <a:pt x="5440680" y="2837537"/>
                    <a:pt x="5458855" y="2924292"/>
                  </a:cubicBezTo>
                  <a:cubicBezTo>
                    <a:pt x="5477406" y="3011048"/>
                    <a:pt x="5490522" y="3098740"/>
                    <a:pt x="5499142" y="3186995"/>
                  </a:cubicBezTo>
                  <a:cubicBezTo>
                    <a:pt x="5507761" y="3275250"/>
                    <a:pt x="5513944" y="3364254"/>
                    <a:pt x="5516755" y="3454007"/>
                  </a:cubicBezTo>
                  <a:cubicBezTo>
                    <a:pt x="5518629" y="3543761"/>
                    <a:pt x="5516755" y="3634264"/>
                    <a:pt x="5507386" y="3724580"/>
                  </a:cubicBezTo>
                  <a:close/>
                </a:path>
              </a:pathLst>
            </a:custGeom>
            <a:solidFill>
              <a:schemeClr val="bg1">
                <a:alpha val="30000"/>
              </a:schemeClr>
            </a:solidFill>
            <a:ln w="18736" cap="flat">
              <a:noFill/>
              <a:prstDash val="solid"/>
              <a:miter/>
            </a:ln>
          </p:spPr>
          <p:txBody>
            <a:bodyPr rtlCol="0" anchor="ctr"/>
            <a:lstStyle/>
            <a:p>
              <a:endParaRPr lang="en-US"/>
            </a:p>
          </p:txBody>
        </p:sp>
        <p:sp>
          <p:nvSpPr>
            <p:cNvPr id="1045" name="Freeform: Shape 1044">
              <a:extLst>
                <a:ext uri="{FF2B5EF4-FFF2-40B4-BE49-F238E27FC236}">
                  <a16:creationId xmlns:a16="http://schemas.microsoft.com/office/drawing/2014/main" id="{C7E50BFD-51AC-4ACE-820C-A285E6672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41478"/>
              <a:ext cx="5953893" cy="6434152"/>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317011 w 5953893"/>
                <a:gd name="connsiteY8" fmla="*/ 3797009 h 6434152"/>
                <a:gd name="connsiteX9" fmla="*/ 5176478 w 5953893"/>
                <a:gd name="connsiteY9" fmla="*/ 4100747 h 6434152"/>
                <a:gd name="connsiteX10" fmla="*/ 4942257 w 5953893"/>
                <a:gd name="connsiteY10" fmla="*/ 4250274 h 6434152"/>
                <a:gd name="connsiteX11" fmla="*/ 4216171 w 5953893"/>
                <a:gd name="connsiteY11" fmla="*/ 4773243 h 6434152"/>
                <a:gd name="connsiteX12" fmla="*/ 3905125 w 5953893"/>
                <a:gd name="connsiteY12" fmla="*/ 5105837 h 6434152"/>
                <a:gd name="connsiteX13" fmla="*/ 3308329 w 5953893"/>
                <a:gd name="connsiteY13" fmla="*/ 5682022 h 6434152"/>
                <a:gd name="connsiteX14" fmla="*/ 2739452 w 5953893"/>
                <a:gd name="connsiteY14" fmla="*/ 5870898 h 6434152"/>
                <a:gd name="connsiteX15" fmla="*/ 1647419 w 5953893"/>
                <a:gd name="connsiteY15" fmla="*/ 5625809 h 6434152"/>
                <a:gd name="connsiteX16" fmla="*/ 781175 w 5953893"/>
                <a:gd name="connsiteY16" fmla="*/ 4960620 h 6434152"/>
                <a:gd name="connsiteX17" fmla="*/ 312545 w 5953893"/>
                <a:gd name="connsiteY17" fmla="*/ 4165205 h 6434152"/>
                <a:gd name="connsiteX18" fmla="*/ 142032 w 5953893"/>
                <a:gd name="connsiteY18" fmla="*/ 3217451 h 6434152"/>
                <a:gd name="connsiteX19" fmla="*/ 347210 w 5953893"/>
                <a:gd name="connsiteY19" fmla="*/ 2181444 h 6434152"/>
                <a:gd name="connsiteX20" fmla="*/ 906155 w 5953893"/>
                <a:gd name="connsiteY20" fmla="*/ 1337497 h 6434152"/>
                <a:gd name="connsiteX21" fmla="*/ 2739265 w 5953893"/>
                <a:gd name="connsiteY21" fmla="*/ 563818 h 6434152"/>
                <a:gd name="connsiteX22" fmla="*/ 3849849 w 5953893"/>
                <a:gd name="connsiteY22" fmla="*/ 881796 h 6434152"/>
                <a:gd name="connsiteX23" fmla="*/ 4834515 w 5953893"/>
                <a:gd name="connsiteY23" fmla="*/ 1742419 h 6434152"/>
                <a:gd name="connsiteX24" fmla="*/ 5325256 w 5953893"/>
                <a:gd name="connsiteY24" fmla="*/ 2742076 h 6434152"/>
                <a:gd name="connsiteX25" fmla="*/ 5317011 w 5953893"/>
                <a:gd name="connsiteY25" fmla="*/ 3797009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317011" y="3797009"/>
                  </a:moveTo>
                  <a:cubicBezTo>
                    <a:pt x="5275976" y="3943538"/>
                    <a:pt x="5228756" y="4045658"/>
                    <a:pt x="5176478" y="4100747"/>
                  </a:cubicBezTo>
                  <a:cubicBezTo>
                    <a:pt x="5131883" y="4147591"/>
                    <a:pt x="5061991" y="4186004"/>
                    <a:pt x="4942257" y="4250274"/>
                  </a:cubicBezTo>
                  <a:cubicBezTo>
                    <a:pt x="4753381" y="4351458"/>
                    <a:pt x="4494613" y="4489929"/>
                    <a:pt x="4216171" y="4773243"/>
                  </a:cubicBezTo>
                  <a:cubicBezTo>
                    <a:pt x="4106555" y="4884733"/>
                    <a:pt x="4004247" y="4997159"/>
                    <a:pt x="3905125" y="5105837"/>
                  </a:cubicBezTo>
                  <a:cubicBezTo>
                    <a:pt x="3701071" y="5329753"/>
                    <a:pt x="3508260" y="5541302"/>
                    <a:pt x="3308329" y="5682022"/>
                  </a:cubicBezTo>
                  <a:cubicBezTo>
                    <a:pt x="3122826" y="5812624"/>
                    <a:pt x="2947441" y="5870898"/>
                    <a:pt x="2739452" y="5870898"/>
                  </a:cubicBezTo>
                  <a:cubicBezTo>
                    <a:pt x="2357765" y="5870898"/>
                    <a:pt x="1990319" y="5788452"/>
                    <a:pt x="1647419" y="5625809"/>
                  </a:cubicBezTo>
                  <a:cubicBezTo>
                    <a:pt x="1319509" y="5470286"/>
                    <a:pt x="1019893" y="5240187"/>
                    <a:pt x="781175" y="4960620"/>
                  </a:cubicBezTo>
                  <a:cubicBezTo>
                    <a:pt x="579370" y="4724151"/>
                    <a:pt x="421598" y="4456576"/>
                    <a:pt x="312545" y="4165205"/>
                  </a:cubicBezTo>
                  <a:cubicBezTo>
                    <a:pt x="199369" y="3863153"/>
                    <a:pt x="142032" y="3544237"/>
                    <a:pt x="142032" y="3217451"/>
                  </a:cubicBezTo>
                  <a:cubicBezTo>
                    <a:pt x="142032" y="2857688"/>
                    <a:pt x="211174" y="2509166"/>
                    <a:pt x="347210" y="2181444"/>
                  </a:cubicBezTo>
                  <a:cubicBezTo>
                    <a:pt x="478561" y="1865339"/>
                    <a:pt x="666688" y="1581275"/>
                    <a:pt x="906155" y="1337497"/>
                  </a:cubicBezTo>
                  <a:cubicBezTo>
                    <a:pt x="1396334" y="838512"/>
                    <a:pt x="2047469" y="563818"/>
                    <a:pt x="2739265" y="563818"/>
                  </a:cubicBezTo>
                  <a:cubicBezTo>
                    <a:pt x="3094157" y="563818"/>
                    <a:pt x="3478280" y="673808"/>
                    <a:pt x="3849849" y="881796"/>
                  </a:cubicBezTo>
                  <a:cubicBezTo>
                    <a:pt x="4226851" y="1092783"/>
                    <a:pt x="4567316" y="1390338"/>
                    <a:pt x="4834515" y="1742419"/>
                  </a:cubicBezTo>
                  <a:cubicBezTo>
                    <a:pt x="5070798" y="2053653"/>
                    <a:pt x="5240374" y="2399363"/>
                    <a:pt x="5325256" y="2742076"/>
                  </a:cubicBezTo>
                  <a:cubicBezTo>
                    <a:pt x="5414634" y="3102964"/>
                    <a:pt x="5411824" y="3458044"/>
                    <a:pt x="5317011" y="3797009"/>
                  </a:cubicBezTo>
                  <a:close/>
                </a:path>
              </a:pathLst>
            </a:custGeom>
            <a:solidFill>
              <a:schemeClr val="bg1">
                <a:alpha val="30000"/>
              </a:schemeClr>
            </a:solidFill>
            <a:ln w="18736" cap="flat">
              <a:noFill/>
              <a:prstDash val="solid"/>
              <a:miter/>
            </a:ln>
          </p:spPr>
          <p:txBody>
            <a:bodyPr rtlCol="0" anchor="ctr"/>
            <a:lstStyle/>
            <a:p>
              <a:endParaRPr lang="en-US"/>
            </a:p>
          </p:txBody>
        </p:sp>
        <p:sp>
          <p:nvSpPr>
            <p:cNvPr id="1046" name="Freeform: Shape 1045">
              <a:extLst>
                <a:ext uri="{FF2B5EF4-FFF2-40B4-BE49-F238E27FC236}">
                  <a16:creationId xmlns:a16="http://schemas.microsoft.com/office/drawing/2014/main" id="{A0394888-C50F-41C1-92D4-0E2B4315A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1462"/>
              <a:ext cx="5953893" cy="6444167"/>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208520 w 5953893"/>
                <a:gd name="connsiteY8" fmla="*/ 3766654 h 6434152"/>
                <a:gd name="connsiteX9" fmla="*/ 5094782 w 5953893"/>
                <a:gd name="connsiteY9" fmla="*/ 4022985 h 6434152"/>
                <a:gd name="connsiteX10" fmla="*/ 4888855 w 5953893"/>
                <a:gd name="connsiteY10" fmla="*/ 4150777 h 6434152"/>
                <a:gd name="connsiteX11" fmla="*/ 4135411 w 5953893"/>
                <a:gd name="connsiteY11" fmla="*/ 4694170 h 6434152"/>
                <a:gd name="connsiteX12" fmla="*/ 3821555 w 5953893"/>
                <a:gd name="connsiteY12" fmla="*/ 5029762 h 6434152"/>
                <a:gd name="connsiteX13" fmla="*/ 2739265 w 5953893"/>
                <a:gd name="connsiteY13" fmla="*/ 5758097 h 6434152"/>
                <a:gd name="connsiteX14" fmla="*/ 1695575 w 5953893"/>
                <a:gd name="connsiteY14" fmla="*/ 5523876 h 6434152"/>
                <a:gd name="connsiteX15" fmla="*/ 866619 w 5953893"/>
                <a:gd name="connsiteY15" fmla="*/ 4887356 h 6434152"/>
                <a:gd name="connsiteX16" fmla="*/ 417851 w 5953893"/>
                <a:gd name="connsiteY16" fmla="*/ 4125481 h 6434152"/>
                <a:gd name="connsiteX17" fmla="*/ 254645 w 5953893"/>
                <a:gd name="connsiteY17" fmla="*/ 3217264 h 6434152"/>
                <a:gd name="connsiteX18" fmla="*/ 451204 w 5953893"/>
                <a:gd name="connsiteY18" fmla="*/ 2224540 h 6434152"/>
                <a:gd name="connsiteX19" fmla="*/ 986540 w 5953893"/>
                <a:gd name="connsiteY19" fmla="*/ 1416383 h 6434152"/>
                <a:gd name="connsiteX20" fmla="*/ 2739452 w 5953893"/>
                <a:gd name="connsiteY20" fmla="*/ 676244 h 6434152"/>
                <a:gd name="connsiteX21" fmla="*/ 3794947 w 5953893"/>
                <a:gd name="connsiteY21" fmla="*/ 979795 h 6434152"/>
                <a:gd name="connsiteX22" fmla="*/ 4744762 w 5953893"/>
                <a:gd name="connsiteY22" fmla="*/ 1810250 h 6434152"/>
                <a:gd name="connsiteX23" fmla="*/ 5215827 w 5953893"/>
                <a:gd name="connsiteY23" fmla="*/ 2768871 h 6434152"/>
                <a:gd name="connsiteX24" fmla="*/ 5208520 w 5953893"/>
                <a:gd name="connsiteY24" fmla="*/ 3766654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208520" y="3766654"/>
                  </a:moveTo>
                  <a:cubicBezTo>
                    <a:pt x="5173667" y="3891634"/>
                    <a:pt x="5133194" y="3982699"/>
                    <a:pt x="5094782" y="4022985"/>
                  </a:cubicBezTo>
                  <a:cubicBezTo>
                    <a:pt x="5060492" y="4058962"/>
                    <a:pt x="4984792" y="4099435"/>
                    <a:pt x="4888855" y="4150777"/>
                  </a:cubicBezTo>
                  <a:cubicBezTo>
                    <a:pt x="4693420" y="4255333"/>
                    <a:pt x="4426033" y="4398489"/>
                    <a:pt x="4135411" y="4694170"/>
                  </a:cubicBezTo>
                  <a:cubicBezTo>
                    <a:pt x="4024297" y="4807158"/>
                    <a:pt x="3921239" y="4920334"/>
                    <a:pt x="3821555" y="5029762"/>
                  </a:cubicBezTo>
                  <a:cubicBezTo>
                    <a:pt x="3385341" y="5508324"/>
                    <a:pt x="3138940" y="5758097"/>
                    <a:pt x="2739265" y="5758097"/>
                  </a:cubicBezTo>
                  <a:cubicBezTo>
                    <a:pt x="2374442" y="5758097"/>
                    <a:pt x="2023297" y="5679211"/>
                    <a:pt x="1695575" y="5523876"/>
                  </a:cubicBezTo>
                  <a:cubicBezTo>
                    <a:pt x="1381906" y="5375098"/>
                    <a:pt x="1095219" y="5154930"/>
                    <a:pt x="866619" y="4887356"/>
                  </a:cubicBezTo>
                  <a:cubicBezTo>
                    <a:pt x="673246" y="4661005"/>
                    <a:pt x="522220" y="4404673"/>
                    <a:pt x="417851" y="4125481"/>
                  </a:cubicBezTo>
                  <a:cubicBezTo>
                    <a:pt x="309547" y="3836171"/>
                    <a:pt x="254645" y="3530558"/>
                    <a:pt x="254645" y="3217264"/>
                  </a:cubicBezTo>
                  <a:cubicBezTo>
                    <a:pt x="254645" y="2872490"/>
                    <a:pt x="320790" y="2538585"/>
                    <a:pt x="451204" y="2224540"/>
                  </a:cubicBezTo>
                  <a:cubicBezTo>
                    <a:pt x="577121" y="1921739"/>
                    <a:pt x="757191" y="1649855"/>
                    <a:pt x="986540" y="1416383"/>
                  </a:cubicBezTo>
                  <a:cubicBezTo>
                    <a:pt x="1455357" y="939134"/>
                    <a:pt x="2078011" y="676244"/>
                    <a:pt x="2739452" y="676244"/>
                  </a:cubicBezTo>
                  <a:cubicBezTo>
                    <a:pt x="3075232" y="676244"/>
                    <a:pt x="3440243" y="781175"/>
                    <a:pt x="3794947" y="979795"/>
                  </a:cubicBezTo>
                  <a:cubicBezTo>
                    <a:pt x="4158459" y="1183286"/>
                    <a:pt x="4486931" y="1470348"/>
                    <a:pt x="4744762" y="1810250"/>
                  </a:cubicBezTo>
                  <a:cubicBezTo>
                    <a:pt x="4971862" y="2109491"/>
                    <a:pt x="5134693" y="2440961"/>
                    <a:pt x="5215827" y="2768871"/>
                  </a:cubicBezTo>
                  <a:cubicBezTo>
                    <a:pt x="5300334" y="3110834"/>
                    <a:pt x="5297898" y="3446614"/>
                    <a:pt x="5208520" y="3766654"/>
                  </a:cubicBezTo>
                  <a:close/>
                </a:path>
              </a:pathLst>
            </a:custGeom>
            <a:solidFill>
              <a:schemeClr val="bg1">
                <a:alpha val="30000"/>
              </a:schemeClr>
            </a:solidFill>
            <a:ln w="18736" cap="flat">
              <a:noFill/>
              <a:prstDash val="solid"/>
              <a:miter/>
            </a:ln>
          </p:spPr>
          <p:txBody>
            <a:bodyPr rtlCol="0" anchor="ctr"/>
            <a:lstStyle/>
            <a:p>
              <a:endParaRPr lang="en-US"/>
            </a:p>
          </p:txBody>
        </p:sp>
        <p:sp useBgFill="1">
          <p:nvSpPr>
            <p:cNvPr id="1047" name="Freeform: Shape 1046">
              <a:extLst>
                <a:ext uri="{FF2B5EF4-FFF2-40B4-BE49-F238E27FC236}">
                  <a16:creationId xmlns:a16="http://schemas.microsoft.com/office/drawing/2014/main" id="{F22C906F-48B7-4ABF-B36E-0C0A056A5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3725"/>
              <a:ext cx="5855313" cy="6880645"/>
            </a:xfrm>
            <a:custGeom>
              <a:avLst/>
              <a:gdLst>
                <a:gd name="connsiteX0" fmla="*/ 5855313 w 5855313"/>
                <a:gd name="connsiteY0" fmla="*/ 4717843 h 6880645"/>
                <a:gd name="connsiteX1" fmla="*/ 5855313 w 5855313"/>
                <a:gd name="connsiteY1" fmla="*/ 6880645 h 6880645"/>
                <a:gd name="connsiteX2" fmla="*/ 0 w 5855313"/>
                <a:gd name="connsiteY2" fmla="*/ 6880645 h 6880645"/>
                <a:gd name="connsiteX3" fmla="*/ 0 w 5855313"/>
                <a:gd name="connsiteY3" fmla="*/ 5268859 h 6880645"/>
                <a:gd name="connsiteX4" fmla="*/ 36130 w 5855313"/>
                <a:gd name="connsiteY4" fmla="*/ 5327430 h 6880645"/>
                <a:gd name="connsiteX5" fmla="*/ 2782721 w 5855313"/>
                <a:gd name="connsiteY5" fmla="*/ 6765687 h 6880645"/>
                <a:gd name="connsiteX6" fmla="*/ 5834702 w 5855313"/>
                <a:gd name="connsiteY6" fmla="*/ 4773305 h 6880645"/>
                <a:gd name="connsiteX7" fmla="*/ 9148 w 5855313"/>
                <a:gd name="connsiteY7" fmla="*/ 0 h 6880645"/>
                <a:gd name="connsiteX8" fmla="*/ 5855312 w 5855313"/>
                <a:gd name="connsiteY8" fmla="*/ 0 h 6880645"/>
                <a:gd name="connsiteX9" fmla="*/ 5855312 w 5855313"/>
                <a:gd name="connsiteY9" fmla="*/ 96759 h 6880645"/>
                <a:gd name="connsiteX10" fmla="*/ 5855313 w 5855313"/>
                <a:gd name="connsiteY10" fmla="*/ 96759 h 6880645"/>
                <a:gd name="connsiteX11" fmla="*/ 5855313 w 5855313"/>
                <a:gd name="connsiteY11" fmla="*/ 2289203 h 6880645"/>
                <a:gd name="connsiteX12" fmla="*/ 5834702 w 5855313"/>
                <a:gd name="connsiteY12" fmla="*/ 2233742 h 6880645"/>
                <a:gd name="connsiteX13" fmla="*/ 2782721 w 5855313"/>
                <a:gd name="connsiteY13" fmla="*/ 241359 h 6880645"/>
                <a:gd name="connsiteX14" fmla="*/ 36130 w 5855313"/>
                <a:gd name="connsiteY14" fmla="*/ 1679616 h 6880645"/>
                <a:gd name="connsiteX15" fmla="*/ 0 w 5855313"/>
                <a:gd name="connsiteY15" fmla="*/ 1738187 h 6880645"/>
                <a:gd name="connsiteX16" fmla="*/ 0 w 5855313"/>
                <a:gd name="connsiteY16" fmla="*/ 96759 h 6880645"/>
                <a:gd name="connsiteX17" fmla="*/ 9148 w 5855313"/>
                <a:gd name="connsiteY17" fmla="*/ 96759 h 688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55313" h="6880645">
                  <a:moveTo>
                    <a:pt x="5855313" y="4717843"/>
                  </a:moveTo>
                  <a:lnTo>
                    <a:pt x="5855313" y="6880645"/>
                  </a:lnTo>
                  <a:lnTo>
                    <a:pt x="0" y="6880645"/>
                  </a:lnTo>
                  <a:lnTo>
                    <a:pt x="0" y="5268859"/>
                  </a:lnTo>
                  <a:lnTo>
                    <a:pt x="36130" y="5327430"/>
                  </a:lnTo>
                  <a:cubicBezTo>
                    <a:pt x="631370" y="6195172"/>
                    <a:pt x="1639396" y="6765687"/>
                    <a:pt x="2782721" y="6765687"/>
                  </a:cubicBezTo>
                  <a:cubicBezTo>
                    <a:pt x="4154711" y="6765687"/>
                    <a:pt x="5331871" y="5944145"/>
                    <a:pt x="5834702" y="4773305"/>
                  </a:cubicBezTo>
                  <a:close/>
                  <a:moveTo>
                    <a:pt x="9148" y="0"/>
                  </a:moveTo>
                  <a:lnTo>
                    <a:pt x="5855312" y="0"/>
                  </a:lnTo>
                  <a:lnTo>
                    <a:pt x="5855312" y="96759"/>
                  </a:lnTo>
                  <a:lnTo>
                    <a:pt x="5855313" y="96759"/>
                  </a:lnTo>
                  <a:lnTo>
                    <a:pt x="5855313" y="2289203"/>
                  </a:lnTo>
                  <a:lnTo>
                    <a:pt x="5834702" y="2233742"/>
                  </a:lnTo>
                  <a:cubicBezTo>
                    <a:pt x="5331871" y="1062902"/>
                    <a:pt x="4154711" y="241359"/>
                    <a:pt x="2782721" y="241359"/>
                  </a:cubicBezTo>
                  <a:cubicBezTo>
                    <a:pt x="1639396" y="241359"/>
                    <a:pt x="631370" y="811875"/>
                    <a:pt x="36130" y="1679616"/>
                  </a:cubicBezTo>
                  <a:lnTo>
                    <a:pt x="0" y="1738187"/>
                  </a:lnTo>
                  <a:lnTo>
                    <a:pt x="0" y="96759"/>
                  </a:lnTo>
                  <a:lnTo>
                    <a:pt x="9148" y="9675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48" name="Freeform: Shape 1047">
              <a:extLst>
                <a:ext uri="{FF2B5EF4-FFF2-40B4-BE49-F238E27FC236}">
                  <a16:creationId xmlns:a16="http://schemas.microsoft.com/office/drawing/2014/main" id="{B4ABE2AA-A788-450F-94A8-AED4B698F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6370"/>
              <a:ext cx="6254832" cy="6864558"/>
            </a:xfrm>
            <a:custGeom>
              <a:avLst/>
              <a:gdLst>
                <a:gd name="connsiteX0" fmla="*/ 2766060 w 6254832"/>
                <a:gd name="connsiteY0" fmla="*/ 0 h 6864558"/>
                <a:gd name="connsiteX1" fmla="*/ 0 w 6254832"/>
                <a:gd name="connsiteY1" fmla="*/ 1340683 h 6864558"/>
                <a:gd name="connsiteX2" fmla="*/ 0 w 6254832"/>
                <a:gd name="connsiteY2" fmla="*/ 2201306 h 6864558"/>
                <a:gd name="connsiteX3" fmla="*/ 1312 w 6254832"/>
                <a:gd name="connsiteY3" fmla="*/ 2197746 h 6864558"/>
                <a:gd name="connsiteX4" fmla="*/ 612723 w 6254832"/>
                <a:gd name="connsiteY4" fmla="*/ 1201649 h 6864558"/>
                <a:gd name="connsiteX5" fmla="*/ 1571344 w 6254832"/>
                <a:gd name="connsiteY5" fmla="*/ 483245 h 6864558"/>
                <a:gd name="connsiteX6" fmla="*/ 1641235 w 6254832"/>
                <a:gd name="connsiteY6" fmla="*/ 452328 h 6864558"/>
                <a:gd name="connsiteX7" fmla="*/ 1711502 w 6254832"/>
                <a:gd name="connsiteY7" fmla="*/ 422348 h 6864558"/>
                <a:gd name="connsiteX8" fmla="*/ 1783080 w 6254832"/>
                <a:gd name="connsiteY8" fmla="*/ 395178 h 6864558"/>
                <a:gd name="connsiteX9" fmla="*/ 1855220 w 6254832"/>
                <a:gd name="connsiteY9" fmla="*/ 369133 h 6864558"/>
                <a:gd name="connsiteX10" fmla="*/ 1928297 w 6254832"/>
                <a:gd name="connsiteY10" fmla="*/ 345711 h 6864558"/>
                <a:gd name="connsiteX11" fmla="*/ 2001749 w 6254832"/>
                <a:gd name="connsiteY11" fmla="*/ 323600 h 6864558"/>
                <a:gd name="connsiteX12" fmla="*/ 2076138 w 6254832"/>
                <a:gd name="connsiteY12" fmla="*/ 304300 h 6864558"/>
                <a:gd name="connsiteX13" fmla="*/ 2113426 w 6254832"/>
                <a:gd name="connsiteY13" fmla="*/ 294744 h 6864558"/>
                <a:gd name="connsiteX14" fmla="*/ 2132163 w 6254832"/>
                <a:gd name="connsiteY14" fmla="*/ 290060 h 6864558"/>
                <a:gd name="connsiteX15" fmla="*/ 2151089 w 6254832"/>
                <a:gd name="connsiteY15" fmla="*/ 286312 h 6864558"/>
                <a:gd name="connsiteX16" fmla="*/ 2763249 w 6254832"/>
                <a:gd name="connsiteY16" fmla="*/ 218482 h 6864558"/>
                <a:gd name="connsiteX17" fmla="*/ 3372225 w 6254832"/>
                <a:gd name="connsiteY17" fmla="*/ 301302 h 6864558"/>
                <a:gd name="connsiteX18" fmla="*/ 3663596 w 6254832"/>
                <a:gd name="connsiteY18" fmla="*/ 398364 h 6864558"/>
                <a:gd name="connsiteX19" fmla="*/ 3941663 w 6254832"/>
                <a:gd name="connsiteY19" fmla="*/ 526717 h 6864558"/>
                <a:gd name="connsiteX20" fmla="*/ 4204366 w 6254832"/>
                <a:gd name="connsiteY20" fmla="*/ 681678 h 6864558"/>
                <a:gd name="connsiteX21" fmla="*/ 4450018 w 6254832"/>
                <a:gd name="connsiteY21" fmla="*/ 860061 h 6864558"/>
                <a:gd name="connsiteX22" fmla="*/ 4678992 w 6254832"/>
                <a:gd name="connsiteY22" fmla="*/ 1057181 h 6864558"/>
                <a:gd name="connsiteX23" fmla="*/ 4889791 w 6254832"/>
                <a:gd name="connsiteY23" fmla="*/ 1271166 h 6864558"/>
                <a:gd name="connsiteX24" fmla="*/ 5083164 w 6254832"/>
                <a:gd name="connsiteY24" fmla="*/ 1498642 h 6864558"/>
                <a:gd name="connsiteX25" fmla="*/ 5257987 w 6254832"/>
                <a:gd name="connsiteY25" fmla="*/ 1738484 h 6864558"/>
                <a:gd name="connsiteX26" fmla="*/ 5413510 w 6254832"/>
                <a:gd name="connsiteY26" fmla="*/ 1989195 h 6864558"/>
                <a:gd name="connsiteX27" fmla="*/ 5548609 w 6254832"/>
                <a:gd name="connsiteY27" fmla="*/ 2249462 h 6864558"/>
                <a:gd name="connsiteX28" fmla="*/ 5747791 w 6254832"/>
                <a:gd name="connsiteY28" fmla="*/ 2795666 h 6864558"/>
                <a:gd name="connsiteX29" fmla="*/ 5806814 w 6254832"/>
                <a:gd name="connsiteY29" fmla="*/ 3078980 h 6864558"/>
                <a:gd name="connsiteX30" fmla="*/ 5816933 w 6254832"/>
                <a:gd name="connsiteY30" fmla="*/ 3150558 h 6864558"/>
                <a:gd name="connsiteX31" fmla="*/ 5825178 w 6254832"/>
                <a:gd name="connsiteY31" fmla="*/ 3222323 h 6864558"/>
                <a:gd name="connsiteX32" fmla="*/ 5831923 w 6254832"/>
                <a:gd name="connsiteY32" fmla="*/ 3294276 h 6864558"/>
                <a:gd name="connsiteX33" fmla="*/ 5836233 w 6254832"/>
                <a:gd name="connsiteY33" fmla="*/ 3366416 h 6864558"/>
                <a:gd name="connsiteX34" fmla="*/ 5833047 w 6254832"/>
                <a:gd name="connsiteY34" fmla="*/ 3655726 h 6864558"/>
                <a:gd name="connsiteX35" fmla="*/ 5827426 w 6254832"/>
                <a:gd name="connsiteY35" fmla="*/ 3728054 h 6864558"/>
                <a:gd name="connsiteX36" fmla="*/ 5819556 w 6254832"/>
                <a:gd name="connsiteY36" fmla="*/ 3800194 h 6864558"/>
                <a:gd name="connsiteX37" fmla="*/ 5809063 w 6254832"/>
                <a:gd name="connsiteY37" fmla="*/ 3872147 h 6864558"/>
                <a:gd name="connsiteX38" fmla="*/ 5796696 w 6254832"/>
                <a:gd name="connsiteY38" fmla="*/ 3943912 h 6864558"/>
                <a:gd name="connsiteX39" fmla="*/ 5725305 w 6254832"/>
                <a:gd name="connsiteY39" fmla="*/ 4225165 h 6864558"/>
                <a:gd name="connsiteX40" fmla="*/ 5605384 w 6254832"/>
                <a:gd name="connsiteY40" fmla="*/ 4478312 h 6864558"/>
                <a:gd name="connsiteX41" fmla="*/ 5412573 w 6254832"/>
                <a:gd name="connsiteY41" fmla="*/ 4677306 h 6864558"/>
                <a:gd name="connsiteX42" fmla="*/ 5155867 w 6254832"/>
                <a:gd name="connsiteY42" fmla="*/ 4834703 h 6864558"/>
                <a:gd name="connsiteX43" fmla="*/ 4645452 w 6254832"/>
                <a:gd name="connsiteY43" fmla="*/ 5207396 h 6864558"/>
                <a:gd name="connsiteX44" fmla="*/ 4536211 w 6254832"/>
                <a:gd name="connsiteY44" fmla="*/ 5319072 h 6864558"/>
                <a:gd name="connsiteX45" fmla="*/ 4430343 w 6254832"/>
                <a:gd name="connsiteY45" fmla="*/ 5432061 h 6864558"/>
                <a:gd name="connsiteX46" fmla="*/ 4220668 w 6254832"/>
                <a:gd name="connsiteY46" fmla="*/ 5657663 h 6864558"/>
                <a:gd name="connsiteX47" fmla="*/ 4115174 w 6254832"/>
                <a:gd name="connsiteY47" fmla="*/ 5768777 h 6864558"/>
                <a:gd name="connsiteX48" fmla="*/ 4007245 w 6254832"/>
                <a:gd name="connsiteY48" fmla="*/ 5876707 h 6864558"/>
                <a:gd name="connsiteX49" fmla="*/ 3781081 w 6254832"/>
                <a:gd name="connsiteY49" fmla="*/ 6078887 h 6864558"/>
                <a:gd name="connsiteX50" fmla="*/ 3534493 w 6254832"/>
                <a:gd name="connsiteY50" fmla="*/ 6249775 h 6864558"/>
                <a:gd name="connsiteX51" fmla="*/ 3265232 w 6254832"/>
                <a:gd name="connsiteY51" fmla="*/ 6373068 h 6864558"/>
                <a:gd name="connsiteX52" fmla="*/ 3194779 w 6254832"/>
                <a:gd name="connsiteY52" fmla="*/ 6394804 h 6864558"/>
                <a:gd name="connsiteX53" fmla="*/ 3123575 w 6254832"/>
                <a:gd name="connsiteY53" fmla="*/ 6412792 h 6864558"/>
                <a:gd name="connsiteX54" fmla="*/ 3051435 w 6254832"/>
                <a:gd name="connsiteY54" fmla="*/ 6426471 h 6864558"/>
                <a:gd name="connsiteX55" fmla="*/ 2978733 w 6254832"/>
                <a:gd name="connsiteY55" fmla="*/ 6436214 h 6864558"/>
                <a:gd name="connsiteX56" fmla="*/ 2905656 w 6254832"/>
                <a:gd name="connsiteY56" fmla="*/ 6442211 h 6864558"/>
                <a:gd name="connsiteX57" fmla="*/ 2832204 w 6254832"/>
                <a:gd name="connsiteY57" fmla="*/ 6444459 h 6864558"/>
                <a:gd name="connsiteX58" fmla="*/ 2758565 w 6254832"/>
                <a:gd name="connsiteY58" fmla="*/ 6443335 h 6864558"/>
                <a:gd name="connsiteX59" fmla="*/ 2683239 w 6254832"/>
                <a:gd name="connsiteY59" fmla="*/ 6438463 h 6864558"/>
                <a:gd name="connsiteX60" fmla="*/ 2091503 w 6254832"/>
                <a:gd name="connsiteY60" fmla="*/ 6343275 h 6864558"/>
                <a:gd name="connsiteX61" fmla="*/ 1948347 w 6254832"/>
                <a:gd name="connsiteY61" fmla="*/ 6301490 h 6864558"/>
                <a:gd name="connsiteX62" fmla="*/ 1807626 w 6254832"/>
                <a:gd name="connsiteY62" fmla="*/ 6252585 h 6864558"/>
                <a:gd name="connsiteX63" fmla="*/ 1738297 w 6254832"/>
                <a:gd name="connsiteY63" fmla="*/ 6225790 h 6864558"/>
                <a:gd name="connsiteX64" fmla="*/ 1669529 w 6254832"/>
                <a:gd name="connsiteY64" fmla="*/ 6197684 h 6864558"/>
                <a:gd name="connsiteX65" fmla="*/ 1635239 w 6254832"/>
                <a:gd name="connsiteY65" fmla="*/ 6183630 h 6864558"/>
                <a:gd name="connsiteX66" fmla="*/ 1601699 w 6254832"/>
                <a:gd name="connsiteY66" fmla="*/ 6167891 h 6864558"/>
                <a:gd name="connsiteX67" fmla="*/ 1534618 w 6254832"/>
                <a:gd name="connsiteY67" fmla="*/ 6136411 h 6864558"/>
                <a:gd name="connsiteX68" fmla="*/ 592299 w 6254832"/>
                <a:gd name="connsiteY68" fmla="*/ 5443116 h 6864558"/>
                <a:gd name="connsiteX69" fmla="*/ 0 w 6254832"/>
                <a:gd name="connsiteY69" fmla="*/ 4496675 h 6864558"/>
                <a:gd name="connsiteX70" fmla="*/ 0 w 6254832"/>
                <a:gd name="connsiteY70" fmla="*/ 5523875 h 6864558"/>
                <a:gd name="connsiteX71" fmla="*/ 2766060 w 6254832"/>
                <a:gd name="connsiteY71" fmla="*/ 6864559 h 6864558"/>
                <a:gd name="connsiteX72" fmla="*/ 6254833 w 6254832"/>
                <a:gd name="connsiteY72" fmla="*/ 3432373 h 6864558"/>
                <a:gd name="connsiteX73" fmla="*/ 2766060 w 6254832"/>
                <a:gd name="connsiteY73" fmla="*/ 0 h 686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254832" h="6864558">
                  <a:moveTo>
                    <a:pt x="2766060" y="0"/>
                  </a:moveTo>
                  <a:cubicBezTo>
                    <a:pt x="1639549" y="0"/>
                    <a:pt x="637831" y="525405"/>
                    <a:pt x="0" y="1340683"/>
                  </a:cubicBezTo>
                  <a:lnTo>
                    <a:pt x="0" y="2201306"/>
                  </a:lnTo>
                  <a:cubicBezTo>
                    <a:pt x="375" y="2200181"/>
                    <a:pt x="937" y="2198870"/>
                    <a:pt x="1312" y="2197746"/>
                  </a:cubicBezTo>
                  <a:cubicBezTo>
                    <a:pt x="142969" y="1837045"/>
                    <a:pt x="347959" y="1497143"/>
                    <a:pt x="612723" y="1201649"/>
                  </a:cubicBezTo>
                  <a:cubicBezTo>
                    <a:pt x="876550" y="906155"/>
                    <a:pt x="1201836" y="655258"/>
                    <a:pt x="1571344" y="483245"/>
                  </a:cubicBezTo>
                  <a:lnTo>
                    <a:pt x="1641235" y="452328"/>
                  </a:lnTo>
                  <a:cubicBezTo>
                    <a:pt x="1664658" y="442210"/>
                    <a:pt x="1687518" y="430967"/>
                    <a:pt x="1711502" y="422348"/>
                  </a:cubicBezTo>
                  <a:lnTo>
                    <a:pt x="1783080" y="395178"/>
                  </a:lnTo>
                  <a:cubicBezTo>
                    <a:pt x="1807064" y="386372"/>
                    <a:pt x="1830674" y="376441"/>
                    <a:pt x="1855220" y="369133"/>
                  </a:cubicBezTo>
                  <a:lnTo>
                    <a:pt x="1928297" y="345711"/>
                  </a:lnTo>
                  <a:cubicBezTo>
                    <a:pt x="1952656" y="338028"/>
                    <a:pt x="1976828" y="329409"/>
                    <a:pt x="2001749" y="323600"/>
                  </a:cubicBezTo>
                  <a:lnTo>
                    <a:pt x="2076138" y="304300"/>
                  </a:lnTo>
                  <a:lnTo>
                    <a:pt x="2113426" y="294744"/>
                  </a:lnTo>
                  <a:lnTo>
                    <a:pt x="2132163" y="290060"/>
                  </a:lnTo>
                  <a:lnTo>
                    <a:pt x="2151089" y="286312"/>
                  </a:lnTo>
                  <a:cubicBezTo>
                    <a:pt x="2351395" y="241716"/>
                    <a:pt x="2557322" y="219044"/>
                    <a:pt x="2763249" y="218482"/>
                  </a:cubicBezTo>
                  <a:cubicBezTo>
                    <a:pt x="2968802" y="218294"/>
                    <a:pt x="3174167" y="247900"/>
                    <a:pt x="3372225" y="301302"/>
                  </a:cubicBezTo>
                  <a:cubicBezTo>
                    <a:pt x="3471347" y="327910"/>
                    <a:pt x="3568596" y="360513"/>
                    <a:pt x="3663596" y="398364"/>
                  </a:cubicBezTo>
                  <a:cubicBezTo>
                    <a:pt x="3758784" y="435652"/>
                    <a:pt x="3851348" y="479311"/>
                    <a:pt x="3941663" y="526717"/>
                  </a:cubicBezTo>
                  <a:cubicBezTo>
                    <a:pt x="4031979" y="573936"/>
                    <a:pt x="4119297" y="626402"/>
                    <a:pt x="4204366" y="681678"/>
                  </a:cubicBezTo>
                  <a:cubicBezTo>
                    <a:pt x="4289060" y="737516"/>
                    <a:pt x="4370944" y="797289"/>
                    <a:pt x="4450018" y="860061"/>
                  </a:cubicBezTo>
                  <a:cubicBezTo>
                    <a:pt x="4529091" y="922832"/>
                    <a:pt x="4605540" y="988601"/>
                    <a:pt x="4678992" y="1057181"/>
                  </a:cubicBezTo>
                  <a:cubicBezTo>
                    <a:pt x="4752444" y="1125574"/>
                    <a:pt x="4822335" y="1197527"/>
                    <a:pt x="4889791" y="1271166"/>
                  </a:cubicBezTo>
                  <a:cubicBezTo>
                    <a:pt x="4957247" y="1344805"/>
                    <a:pt x="5021705" y="1420693"/>
                    <a:pt x="5083164" y="1498642"/>
                  </a:cubicBezTo>
                  <a:cubicBezTo>
                    <a:pt x="5144062" y="1576965"/>
                    <a:pt x="5202899" y="1656601"/>
                    <a:pt x="5257987" y="1738484"/>
                  </a:cubicBezTo>
                  <a:cubicBezTo>
                    <a:pt x="5313076" y="1820368"/>
                    <a:pt x="5365354" y="1903751"/>
                    <a:pt x="5413510" y="1989195"/>
                  </a:cubicBezTo>
                  <a:cubicBezTo>
                    <a:pt x="5462041" y="2074451"/>
                    <a:pt x="5507011" y="2161207"/>
                    <a:pt x="5548609" y="2249462"/>
                  </a:cubicBezTo>
                  <a:cubicBezTo>
                    <a:pt x="5631430" y="2426158"/>
                    <a:pt x="5698323" y="2608851"/>
                    <a:pt x="5747791" y="2795666"/>
                  </a:cubicBezTo>
                  <a:cubicBezTo>
                    <a:pt x="5771963" y="2889167"/>
                    <a:pt x="5791825" y="2983792"/>
                    <a:pt x="5806814" y="3078980"/>
                  </a:cubicBezTo>
                  <a:cubicBezTo>
                    <a:pt x="5810562" y="3102777"/>
                    <a:pt x="5814497" y="3126574"/>
                    <a:pt x="5816933" y="3150558"/>
                  </a:cubicBezTo>
                  <a:cubicBezTo>
                    <a:pt x="5819556" y="3174542"/>
                    <a:pt x="5823304" y="3198339"/>
                    <a:pt x="5825178" y="3222323"/>
                  </a:cubicBezTo>
                  <a:cubicBezTo>
                    <a:pt x="5827426" y="3246308"/>
                    <a:pt x="5830050" y="3270292"/>
                    <a:pt x="5831923" y="3294276"/>
                  </a:cubicBezTo>
                  <a:lnTo>
                    <a:pt x="5836233" y="3366416"/>
                  </a:lnTo>
                  <a:cubicBezTo>
                    <a:pt x="5839981" y="3462728"/>
                    <a:pt x="5839981" y="3559227"/>
                    <a:pt x="5833047" y="3655726"/>
                  </a:cubicBezTo>
                  <a:cubicBezTo>
                    <a:pt x="5830986" y="3679711"/>
                    <a:pt x="5830237" y="3704069"/>
                    <a:pt x="5827426" y="3728054"/>
                  </a:cubicBezTo>
                  <a:lnTo>
                    <a:pt x="5819556" y="3800194"/>
                  </a:lnTo>
                  <a:lnTo>
                    <a:pt x="5809063" y="3872147"/>
                  </a:lnTo>
                  <a:cubicBezTo>
                    <a:pt x="5805690" y="3896131"/>
                    <a:pt x="5800818" y="3919928"/>
                    <a:pt x="5796696" y="3943912"/>
                  </a:cubicBezTo>
                  <a:cubicBezTo>
                    <a:pt x="5778708" y="4039287"/>
                    <a:pt x="5755848" y="4134662"/>
                    <a:pt x="5725305" y="4225165"/>
                  </a:cubicBezTo>
                  <a:cubicBezTo>
                    <a:pt x="5694763" y="4315669"/>
                    <a:pt x="5656726" y="4402237"/>
                    <a:pt x="5605384" y="4478312"/>
                  </a:cubicBezTo>
                  <a:cubicBezTo>
                    <a:pt x="5554980" y="4555324"/>
                    <a:pt x="5489960" y="4620718"/>
                    <a:pt x="5412573" y="4677306"/>
                  </a:cubicBezTo>
                  <a:cubicBezTo>
                    <a:pt x="5335374" y="4734269"/>
                    <a:pt x="5245995" y="4782987"/>
                    <a:pt x="5155867" y="4834703"/>
                  </a:cubicBezTo>
                  <a:cubicBezTo>
                    <a:pt x="4973924" y="4936261"/>
                    <a:pt x="4794791" y="5058806"/>
                    <a:pt x="4645452" y="5207396"/>
                  </a:cubicBezTo>
                  <a:cubicBezTo>
                    <a:pt x="4607414" y="5244497"/>
                    <a:pt x="4571813" y="5281597"/>
                    <a:pt x="4536211" y="5319072"/>
                  </a:cubicBezTo>
                  <a:lnTo>
                    <a:pt x="4430343" y="5432061"/>
                  </a:lnTo>
                  <a:cubicBezTo>
                    <a:pt x="4360264" y="5507574"/>
                    <a:pt x="4290934" y="5583087"/>
                    <a:pt x="4220668" y="5657663"/>
                  </a:cubicBezTo>
                  <a:cubicBezTo>
                    <a:pt x="4185628" y="5694951"/>
                    <a:pt x="4150589" y="5732052"/>
                    <a:pt x="4115174" y="5768777"/>
                  </a:cubicBezTo>
                  <a:cubicBezTo>
                    <a:pt x="4079573" y="5805316"/>
                    <a:pt x="4043597" y="5841292"/>
                    <a:pt x="4007245" y="5876707"/>
                  </a:cubicBezTo>
                  <a:cubicBezTo>
                    <a:pt x="3934543" y="5947723"/>
                    <a:pt x="3859405" y="6015740"/>
                    <a:pt x="3781081" y="6078887"/>
                  </a:cubicBezTo>
                  <a:cubicBezTo>
                    <a:pt x="3702945" y="6142220"/>
                    <a:pt x="3620312" y="6199557"/>
                    <a:pt x="3534493" y="6249775"/>
                  </a:cubicBezTo>
                  <a:cubicBezTo>
                    <a:pt x="3448300" y="6299429"/>
                    <a:pt x="3358359" y="6341589"/>
                    <a:pt x="3265232" y="6373068"/>
                  </a:cubicBezTo>
                  <a:cubicBezTo>
                    <a:pt x="3241998" y="6381313"/>
                    <a:pt x="3218201" y="6387497"/>
                    <a:pt x="3194779" y="6394804"/>
                  </a:cubicBezTo>
                  <a:cubicBezTo>
                    <a:pt x="3171169" y="6401175"/>
                    <a:pt x="3147185" y="6406797"/>
                    <a:pt x="3123575" y="6412792"/>
                  </a:cubicBezTo>
                  <a:cubicBezTo>
                    <a:pt x="3099404" y="6417477"/>
                    <a:pt x="3075420" y="6422161"/>
                    <a:pt x="3051435" y="6426471"/>
                  </a:cubicBezTo>
                  <a:cubicBezTo>
                    <a:pt x="3027076" y="6429657"/>
                    <a:pt x="3002904" y="6433591"/>
                    <a:pt x="2978733" y="6436214"/>
                  </a:cubicBezTo>
                  <a:cubicBezTo>
                    <a:pt x="2954374" y="6438088"/>
                    <a:pt x="2930015" y="6440899"/>
                    <a:pt x="2905656" y="6442211"/>
                  </a:cubicBezTo>
                  <a:cubicBezTo>
                    <a:pt x="2881109" y="6442960"/>
                    <a:pt x="2856751" y="6444272"/>
                    <a:pt x="2832204" y="6444459"/>
                  </a:cubicBezTo>
                  <a:cubicBezTo>
                    <a:pt x="2807658" y="6444084"/>
                    <a:pt x="2783298" y="6444084"/>
                    <a:pt x="2758565" y="6443335"/>
                  </a:cubicBezTo>
                  <a:lnTo>
                    <a:pt x="2683239" y="6438463"/>
                  </a:lnTo>
                  <a:cubicBezTo>
                    <a:pt x="2482559" y="6425909"/>
                    <a:pt x="2284126" y="6393492"/>
                    <a:pt x="2091503" y="6343275"/>
                  </a:cubicBezTo>
                  <a:lnTo>
                    <a:pt x="1948347" y="6301490"/>
                  </a:lnTo>
                  <a:cubicBezTo>
                    <a:pt x="1901127" y="6286126"/>
                    <a:pt x="1854658" y="6268699"/>
                    <a:pt x="1807626" y="6252585"/>
                  </a:cubicBezTo>
                  <a:cubicBezTo>
                    <a:pt x="1784017" y="6245090"/>
                    <a:pt x="1761344" y="6234972"/>
                    <a:pt x="1738297" y="6225790"/>
                  </a:cubicBezTo>
                  <a:lnTo>
                    <a:pt x="1669529" y="6197684"/>
                  </a:lnTo>
                  <a:lnTo>
                    <a:pt x="1635239" y="6183630"/>
                  </a:lnTo>
                  <a:lnTo>
                    <a:pt x="1601699" y="6167891"/>
                  </a:lnTo>
                  <a:lnTo>
                    <a:pt x="1534618" y="6136411"/>
                  </a:lnTo>
                  <a:cubicBezTo>
                    <a:pt x="1179164" y="5964961"/>
                    <a:pt x="857250" y="5729616"/>
                    <a:pt x="592299" y="5443116"/>
                  </a:cubicBezTo>
                  <a:cubicBezTo>
                    <a:pt x="336904" y="5166173"/>
                    <a:pt x="137160" y="4842573"/>
                    <a:pt x="0" y="4496675"/>
                  </a:cubicBezTo>
                  <a:lnTo>
                    <a:pt x="0" y="5523875"/>
                  </a:lnTo>
                  <a:cubicBezTo>
                    <a:pt x="637831" y="6338966"/>
                    <a:pt x="1639549" y="6864559"/>
                    <a:pt x="2766060" y="6864559"/>
                  </a:cubicBezTo>
                  <a:cubicBezTo>
                    <a:pt x="4692858" y="6864559"/>
                    <a:pt x="6254833" y="5327879"/>
                    <a:pt x="6254833" y="3432373"/>
                  </a:cubicBezTo>
                  <a:cubicBezTo>
                    <a:pt x="6254833" y="1536679"/>
                    <a:pt x="4692858" y="0"/>
                    <a:pt x="2766060" y="0"/>
                  </a:cubicBezTo>
                  <a:close/>
                </a:path>
              </a:pathLst>
            </a:custGeom>
            <a:ln w="18736" cap="flat">
              <a:noFill/>
              <a:prstDash val="solid"/>
              <a:miter/>
            </a:ln>
          </p:spPr>
          <p:txBody>
            <a:bodyPr rtlCol="0" anchor="ctr"/>
            <a:lstStyle/>
            <a:p>
              <a:endParaRPr lang="en-US"/>
            </a:p>
          </p:txBody>
        </p:sp>
      </p:grpSp>
      <p:sp>
        <p:nvSpPr>
          <p:cNvPr id="4" name="Title 3">
            <a:extLst>
              <a:ext uri="{FF2B5EF4-FFF2-40B4-BE49-F238E27FC236}">
                <a16:creationId xmlns:a16="http://schemas.microsoft.com/office/drawing/2014/main" id="{88467C95-DF23-40B9-B265-2E6F3DE29030}"/>
              </a:ext>
            </a:extLst>
          </p:cNvPr>
          <p:cNvSpPr>
            <a:spLocks noGrp="1"/>
          </p:cNvSpPr>
          <p:nvPr>
            <p:ph type="title"/>
          </p:nvPr>
        </p:nvSpPr>
        <p:spPr>
          <a:xfrm>
            <a:off x="6245305" y="2612000"/>
            <a:ext cx="4977976" cy="1608233"/>
          </a:xfrm>
        </p:spPr>
        <p:txBody>
          <a:bodyPr vert="horz" lIns="91440" tIns="45720" rIns="91440" bIns="45720" rtlCol="0" anchor="b">
            <a:noAutofit/>
          </a:bodyPr>
          <a:lstStyle/>
          <a:p>
            <a:pPr algn="ctr"/>
            <a:r>
              <a:rPr lang="en-US" sz="5000" dirty="0">
                <a:solidFill>
                  <a:schemeClr val="tx2"/>
                </a:solidFill>
                <a:ea typeface="+mj-ea"/>
                <a:cs typeface="+mj-cs"/>
              </a:rPr>
              <a:t>Cardiovascular</a:t>
            </a:r>
            <a:br>
              <a:rPr lang="en-US" sz="5000" dirty="0">
                <a:solidFill>
                  <a:schemeClr val="tx2"/>
                </a:solidFill>
                <a:ea typeface="+mj-ea"/>
                <a:cs typeface="+mj-cs"/>
              </a:rPr>
            </a:br>
            <a:r>
              <a:rPr lang="en-US" sz="5000" dirty="0">
                <a:solidFill>
                  <a:schemeClr val="tx2"/>
                </a:solidFill>
                <a:ea typeface="+mj-ea"/>
                <a:cs typeface="+mj-cs"/>
              </a:rPr>
              <a:t>History</a:t>
            </a:r>
          </a:p>
        </p:txBody>
      </p:sp>
    </p:spTree>
    <p:extLst>
      <p:ext uri="{BB962C8B-B14F-4D97-AF65-F5344CB8AC3E}">
        <p14:creationId xmlns:p14="http://schemas.microsoft.com/office/powerpoint/2010/main" val="445598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B634D1-8EC6-40A0-BC40-ED08F5D38ABB}"/>
              </a:ext>
            </a:extLst>
          </p:cNvPr>
          <p:cNvSpPr>
            <a:spLocks noGrp="1"/>
          </p:cNvSpPr>
          <p:nvPr>
            <p:ph type="title"/>
          </p:nvPr>
        </p:nvSpPr>
        <p:spPr>
          <a:xfrm>
            <a:off x="838200" y="365125"/>
            <a:ext cx="10930666" cy="1325563"/>
          </a:xfrm>
        </p:spPr>
        <p:txBody>
          <a:bodyPr/>
          <a:lstStyle/>
          <a:p>
            <a:r>
              <a:rPr lang="en-US"/>
              <a:t>Approaching the Cardiovascular Disease History</a:t>
            </a:r>
          </a:p>
        </p:txBody>
      </p:sp>
      <p:sp>
        <p:nvSpPr>
          <p:cNvPr id="9219" name="Content Placeholder 2"/>
          <p:cNvSpPr>
            <a:spLocks noGrp="1"/>
          </p:cNvSpPr>
          <p:nvPr>
            <p:ph idx="1"/>
          </p:nvPr>
        </p:nvSpPr>
        <p:spPr/>
        <p:txBody>
          <a:bodyPr/>
          <a:lstStyle/>
          <a:p>
            <a:r>
              <a:rPr lang="en-US"/>
              <a:t>Is the blood supply to the heart adequate?</a:t>
            </a:r>
          </a:p>
          <a:p>
            <a:r>
              <a:rPr lang="en-US"/>
              <a:t>Is the electrical system of the heart functioning normally?</a:t>
            </a:r>
          </a:p>
          <a:p>
            <a:r>
              <a:rPr lang="en-US"/>
              <a:t>Is the heart adequately moving blood through circulation and supplying the organs?</a:t>
            </a:r>
          </a:p>
        </p:txBody>
      </p:sp>
    </p:spTree>
    <p:extLst>
      <p:ext uri="{BB962C8B-B14F-4D97-AF65-F5344CB8AC3E}">
        <p14:creationId xmlns:p14="http://schemas.microsoft.com/office/powerpoint/2010/main" val="2922168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B634D1-8EC6-40A0-BC40-ED08F5D38ABB}"/>
              </a:ext>
            </a:extLst>
          </p:cNvPr>
          <p:cNvSpPr>
            <a:spLocks noGrp="1"/>
          </p:cNvSpPr>
          <p:nvPr>
            <p:ph type="title"/>
          </p:nvPr>
        </p:nvSpPr>
        <p:spPr/>
        <p:txBody>
          <a:bodyPr/>
          <a:lstStyle/>
          <a:p>
            <a:r>
              <a:rPr lang="en-US" dirty="0"/>
              <a:t>Common Symptoms of Cardiovascular Disease</a:t>
            </a:r>
          </a:p>
        </p:txBody>
      </p:sp>
      <p:sp>
        <p:nvSpPr>
          <p:cNvPr id="9219" name="Content Placeholder 2"/>
          <p:cNvSpPr>
            <a:spLocks noGrp="1"/>
          </p:cNvSpPr>
          <p:nvPr>
            <p:ph idx="1"/>
          </p:nvPr>
        </p:nvSpPr>
        <p:spPr>
          <a:xfrm>
            <a:off x="838200" y="1825624"/>
            <a:ext cx="10515600" cy="4895215"/>
          </a:xfrm>
        </p:spPr>
        <p:txBody>
          <a:bodyPr>
            <a:normAutofit/>
          </a:bodyPr>
          <a:lstStyle/>
          <a:p>
            <a:r>
              <a:rPr lang="en-US" dirty="0"/>
              <a:t>Angina (chest pain)</a:t>
            </a:r>
          </a:p>
          <a:p>
            <a:r>
              <a:rPr lang="en-US" dirty="0"/>
              <a:t>Palpitations</a:t>
            </a:r>
          </a:p>
          <a:p>
            <a:r>
              <a:rPr lang="en-US" dirty="0"/>
              <a:t>Shortness of breath: dyspnea, orthopnea, paroxysmal nocturnal dyspnea</a:t>
            </a:r>
          </a:p>
          <a:p>
            <a:r>
              <a:rPr lang="en-US" dirty="0"/>
              <a:t>Edema</a:t>
            </a:r>
          </a:p>
          <a:p>
            <a:r>
              <a:rPr lang="en-US" dirty="0"/>
              <a:t>Peripheral vascular (pain, skin changes, hair changes, etc.)</a:t>
            </a:r>
          </a:p>
          <a:p>
            <a:r>
              <a:rPr lang="en-US" dirty="0"/>
              <a:t>Syncope</a:t>
            </a:r>
          </a:p>
          <a:p>
            <a:r>
              <a:rPr lang="en-US" dirty="0"/>
              <a:t>Abdominal, back, flank pain</a:t>
            </a:r>
          </a:p>
        </p:txBody>
      </p:sp>
    </p:spTree>
    <p:extLst>
      <p:ext uri="{BB962C8B-B14F-4D97-AF65-F5344CB8AC3E}">
        <p14:creationId xmlns:p14="http://schemas.microsoft.com/office/powerpoint/2010/main" val="3565372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t>Angina (Chest Pain)</a:t>
            </a:r>
          </a:p>
        </p:txBody>
      </p:sp>
      <p:sp>
        <p:nvSpPr>
          <p:cNvPr id="9219" name="Content Placeholder 2"/>
          <p:cNvSpPr>
            <a:spLocks noGrp="1"/>
          </p:cNvSpPr>
          <p:nvPr>
            <p:ph idx="1"/>
          </p:nvPr>
        </p:nvSpPr>
        <p:spPr>
          <a:xfrm>
            <a:off x="838200" y="1825624"/>
            <a:ext cx="10515600" cy="4865631"/>
          </a:xfrm>
        </p:spPr>
        <p:txBody>
          <a:bodyPr>
            <a:normAutofit/>
          </a:bodyPr>
          <a:lstStyle/>
          <a:p>
            <a:r>
              <a:rPr lang="en-US" dirty="0"/>
              <a:t>One of the most serious of all patient complaints</a:t>
            </a:r>
          </a:p>
          <a:p>
            <a:r>
              <a:rPr lang="en-US" dirty="0"/>
              <a:t>Patients with ACS (acute coronary syndrome) may present with classic symptoms of angina</a:t>
            </a:r>
          </a:p>
          <a:p>
            <a:pPr lvl="1"/>
            <a:r>
              <a:rPr lang="en-US" dirty="0"/>
              <a:t>Classic symptoms include </a:t>
            </a:r>
            <a:r>
              <a:rPr lang="en-US" b="1" dirty="0"/>
              <a:t>exertional pain</a:t>
            </a:r>
            <a:r>
              <a:rPr lang="en-US" dirty="0"/>
              <a:t>, </a:t>
            </a:r>
            <a:r>
              <a:rPr lang="en-US" b="1" dirty="0"/>
              <a:t>pressure</a:t>
            </a:r>
            <a:r>
              <a:rPr lang="en-US" dirty="0"/>
              <a:t>, or </a:t>
            </a:r>
            <a:r>
              <a:rPr lang="en-US" b="1" dirty="0"/>
              <a:t>discomfort</a:t>
            </a:r>
            <a:r>
              <a:rPr lang="en-US" dirty="0"/>
              <a:t> in chest</a:t>
            </a:r>
          </a:p>
          <a:p>
            <a:pPr lvl="1"/>
            <a:r>
              <a:rPr lang="en-US" dirty="0"/>
              <a:t>However, </a:t>
            </a:r>
            <a:r>
              <a:rPr lang="en-US" b="1" dirty="0"/>
              <a:t>females</a:t>
            </a:r>
            <a:r>
              <a:rPr lang="en-US" dirty="0"/>
              <a:t> (particularly those over the age of 65) are more likely to report </a:t>
            </a:r>
            <a:r>
              <a:rPr lang="en-US" b="1" dirty="0"/>
              <a:t>atypical symptoms </a:t>
            </a:r>
            <a:r>
              <a:rPr lang="en-US" dirty="0"/>
              <a:t>that may go unrecognized</a:t>
            </a:r>
          </a:p>
          <a:p>
            <a:pPr lvl="2"/>
            <a:r>
              <a:rPr lang="en-US" dirty="0"/>
              <a:t>Upper back pain, neck pain, jaw pain, shortness of breath, </a:t>
            </a:r>
            <a:r>
              <a:rPr lang="en-US" dirty="0">
                <a:ea typeface="ＭＳ Ｐゴシック" pitchFamily="34" charset="-128"/>
              </a:rPr>
              <a:t>paroxysmal nocturnal dyspnea</a:t>
            </a:r>
            <a:r>
              <a:rPr lang="en-US" dirty="0"/>
              <a:t>, nausea, vomiting, and/or fatigue</a:t>
            </a:r>
          </a:p>
          <a:p>
            <a:pPr lvl="1"/>
            <a:r>
              <a:rPr lang="en-US" dirty="0"/>
              <a:t>Careful history taking is especially important</a:t>
            </a:r>
          </a:p>
        </p:txBody>
      </p:sp>
    </p:spTree>
    <p:extLst>
      <p:ext uri="{BB962C8B-B14F-4D97-AF65-F5344CB8AC3E}">
        <p14:creationId xmlns:p14="http://schemas.microsoft.com/office/powerpoint/2010/main" val="8088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t>Angina (Chest Pain)</a:t>
            </a:r>
          </a:p>
        </p:txBody>
      </p:sp>
      <p:sp>
        <p:nvSpPr>
          <p:cNvPr id="9219" name="Content Placeholder 2"/>
          <p:cNvSpPr>
            <a:spLocks noGrp="1"/>
          </p:cNvSpPr>
          <p:nvPr>
            <p:ph idx="1"/>
          </p:nvPr>
        </p:nvSpPr>
        <p:spPr>
          <a:xfrm>
            <a:off x="838200" y="1825624"/>
            <a:ext cx="10515600" cy="4930178"/>
          </a:xfrm>
        </p:spPr>
        <p:txBody>
          <a:bodyPr>
            <a:normAutofit lnSpcReduction="10000"/>
          </a:bodyPr>
          <a:lstStyle/>
          <a:p>
            <a:r>
              <a:rPr lang="en-US"/>
              <a:t>Begin with open ended questions</a:t>
            </a:r>
          </a:p>
          <a:p>
            <a:pPr lvl="1"/>
            <a:r>
              <a:rPr lang="en-US"/>
              <a:t>“Please tell me about any symptoms you might be having in your chest.”</a:t>
            </a:r>
          </a:p>
          <a:p>
            <a:pPr lvl="1"/>
            <a:r>
              <a:rPr lang="en-US"/>
              <a:t>Ask the patient to point to the pain</a:t>
            </a:r>
          </a:p>
          <a:p>
            <a:r>
              <a:rPr lang="en-US"/>
              <a:t>Then start to ask more associated questions as you start to relate to more likely diagnoses</a:t>
            </a:r>
          </a:p>
          <a:p>
            <a:pPr lvl="1"/>
            <a:r>
              <a:rPr lang="en-US"/>
              <a:t>Does the pain get worse or better with exertion?</a:t>
            </a:r>
          </a:p>
          <a:p>
            <a:pPr lvl="1"/>
            <a:r>
              <a:rPr lang="en-US"/>
              <a:t>How would you characterize the pain?</a:t>
            </a:r>
          </a:p>
          <a:p>
            <a:pPr lvl="1"/>
            <a:r>
              <a:rPr lang="en-US"/>
              <a:t>Does it radiate into your shoulder, back, or down your arm?</a:t>
            </a:r>
          </a:p>
          <a:p>
            <a:pPr lvl="1"/>
            <a:r>
              <a:rPr lang="en-US"/>
              <a:t>Do you have SOB, sweating, palpitations, or nausea?</a:t>
            </a:r>
          </a:p>
          <a:p>
            <a:pPr lvl="1"/>
            <a:r>
              <a:rPr lang="en-US"/>
              <a:t>Does it ever wake you up at night?</a:t>
            </a:r>
          </a:p>
        </p:txBody>
      </p:sp>
    </p:spTree>
    <p:extLst>
      <p:ext uri="{BB962C8B-B14F-4D97-AF65-F5344CB8AC3E}">
        <p14:creationId xmlns:p14="http://schemas.microsoft.com/office/powerpoint/2010/main" val="1065556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Content Placeholder 2"/>
          <p:cNvSpPr>
            <a:spLocks noGrp="1"/>
          </p:cNvSpPr>
          <p:nvPr>
            <p:ph idx="1"/>
          </p:nvPr>
        </p:nvSpPr>
        <p:spPr>
          <a:xfrm>
            <a:off x="838200" y="1825625"/>
            <a:ext cx="10515600" cy="4908662"/>
          </a:xfrm>
        </p:spPr>
        <p:txBody>
          <a:bodyPr>
            <a:normAutofit fontScale="92500" lnSpcReduction="10000"/>
          </a:bodyPr>
          <a:lstStyle/>
          <a:p>
            <a:r>
              <a:rPr lang="en-US" dirty="0"/>
              <a:t>An </a:t>
            </a:r>
            <a:r>
              <a:rPr lang="en-US" b="1" dirty="0"/>
              <a:t>unpleasant awareness of the heartbeat</a:t>
            </a:r>
          </a:p>
          <a:p>
            <a:r>
              <a:rPr lang="en-US" dirty="0"/>
              <a:t>Patients use various terms to describe palpitations:</a:t>
            </a:r>
          </a:p>
          <a:p>
            <a:pPr lvl="1"/>
            <a:r>
              <a:rPr lang="en-US" dirty="0"/>
              <a:t>Skipping</a:t>
            </a:r>
          </a:p>
          <a:p>
            <a:pPr lvl="1"/>
            <a:r>
              <a:rPr lang="en-US" dirty="0"/>
              <a:t>Racing</a:t>
            </a:r>
          </a:p>
          <a:p>
            <a:pPr lvl="1"/>
            <a:r>
              <a:rPr lang="en-US" dirty="0"/>
              <a:t>Fluttering</a:t>
            </a:r>
          </a:p>
          <a:p>
            <a:pPr lvl="1"/>
            <a:r>
              <a:rPr lang="en-US" dirty="0"/>
              <a:t>Pounding</a:t>
            </a:r>
          </a:p>
          <a:p>
            <a:pPr lvl="1"/>
            <a:r>
              <a:rPr lang="en-US" dirty="0"/>
              <a:t>Stopping of the heart</a:t>
            </a:r>
          </a:p>
          <a:p>
            <a:r>
              <a:rPr lang="en-US" dirty="0"/>
              <a:t>May be irregular, rapidly slow down or accelerate, or arise from increased forcefulness of cardiac contraction</a:t>
            </a:r>
          </a:p>
          <a:p>
            <a:r>
              <a:rPr lang="en-US" dirty="0"/>
              <a:t>May ask the patient to tap out the rhythm they experience with a hand or a finger (or investigate their smart watch!)</a:t>
            </a:r>
          </a:p>
        </p:txBody>
      </p:sp>
      <p:sp>
        <p:nvSpPr>
          <p:cNvPr id="5" name="Title 4">
            <a:extLst>
              <a:ext uri="{FF2B5EF4-FFF2-40B4-BE49-F238E27FC236}">
                <a16:creationId xmlns:a16="http://schemas.microsoft.com/office/drawing/2014/main" id="{8A1F5CA5-B8BE-48C9-BA8C-D9D309E975F5}"/>
              </a:ext>
            </a:extLst>
          </p:cNvPr>
          <p:cNvSpPr>
            <a:spLocks noGrp="1"/>
          </p:cNvSpPr>
          <p:nvPr>
            <p:ph type="title"/>
          </p:nvPr>
        </p:nvSpPr>
        <p:spPr/>
        <p:txBody>
          <a:bodyPr/>
          <a:lstStyle/>
          <a:p>
            <a:r>
              <a:rPr lang="en-US"/>
              <a:t>Palpitations</a:t>
            </a:r>
          </a:p>
        </p:txBody>
      </p:sp>
    </p:spTree>
    <p:extLst>
      <p:ext uri="{BB962C8B-B14F-4D97-AF65-F5344CB8AC3E}">
        <p14:creationId xmlns:p14="http://schemas.microsoft.com/office/powerpoint/2010/main" val="1643953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Content Placeholder 2"/>
          <p:cNvSpPr>
            <a:spLocks noGrp="1"/>
          </p:cNvSpPr>
          <p:nvPr>
            <p:ph idx="1"/>
          </p:nvPr>
        </p:nvSpPr>
        <p:spPr/>
        <p:txBody>
          <a:bodyPr/>
          <a:lstStyle/>
          <a:p>
            <a:r>
              <a:rPr lang="en-US" dirty="0"/>
              <a:t>Clues in the history (need EKG to confirm):</a:t>
            </a:r>
          </a:p>
          <a:p>
            <a:pPr lvl="1"/>
            <a:r>
              <a:rPr lang="en-US" dirty="0"/>
              <a:t>Transient skips and flip-flops: possible premature contractions</a:t>
            </a:r>
          </a:p>
          <a:p>
            <a:pPr lvl="1"/>
            <a:r>
              <a:rPr lang="en-US" dirty="0"/>
              <a:t>Rapid regular beating of sudden onset and offset: possible paroxysmal supraventricular tachycardia</a:t>
            </a:r>
          </a:p>
          <a:p>
            <a:pPr lvl="1"/>
            <a:r>
              <a:rPr lang="en-US" dirty="0"/>
              <a:t>Rapid regular rate of &lt;120 beats per minute, especially if gradually starting and stopping: possible sinus tachycardia</a:t>
            </a:r>
          </a:p>
        </p:txBody>
      </p:sp>
      <p:sp>
        <p:nvSpPr>
          <p:cNvPr id="5" name="Title 4">
            <a:extLst>
              <a:ext uri="{FF2B5EF4-FFF2-40B4-BE49-F238E27FC236}">
                <a16:creationId xmlns:a16="http://schemas.microsoft.com/office/drawing/2014/main" id="{35993942-85B9-4E83-951F-2B8F97708879}"/>
              </a:ext>
            </a:extLst>
          </p:cNvPr>
          <p:cNvSpPr>
            <a:spLocks noGrp="1"/>
          </p:cNvSpPr>
          <p:nvPr>
            <p:ph type="title"/>
          </p:nvPr>
        </p:nvSpPr>
        <p:spPr/>
        <p:txBody>
          <a:bodyPr/>
          <a:lstStyle/>
          <a:p>
            <a:r>
              <a:rPr lang="en-US"/>
              <a:t>Palpitations</a:t>
            </a:r>
          </a:p>
        </p:txBody>
      </p:sp>
    </p:spTree>
    <p:extLst>
      <p:ext uri="{BB962C8B-B14F-4D97-AF65-F5344CB8AC3E}">
        <p14:creationId xmlns:p14="http://schemas.microsoft.com/office/powerpoint/2010/main" val="2211234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t>Shortness of Breath (SOB)</a:t>
            </a:r>
          </a:p>
        </p:txBody>
      </p:sp>
      <p:sp>
        <p:nvSpPr>
          <p:cNvPr id="9219" name="Content Placeholder 2"/>
          <p:cNvSpPr>
            <a:spLocks noGrp="1"/>
          </p:cNvSpPr>
          <p:nvPr>
            <p:ph idx="1"/>
          </p:nvPr>
        </p:nvSpPr>
        <p:spPr>
          <a:xfrm>
            <a:off x="838200" y="1825625"/>
            <a:ext cx="10515600" cy="4919420"/>
          </a:xfrm>
        </p:spPr>
        <p:txBody>
          <a:bodyPr>
            <a:normAutofit/>
          </a:bodyPr>
          <a:lstStyle/>
          <a:p>
            <a:r>
              <a:rPr lang="en-US" b="1" dirty="0"/>
              <a:t>Dyspnea</a:t>
            </a:r>
            <a:r>
              <a:rPr lang="en-US" dirty="0"/>
              <a:t>: an uncomfortable awareness of breathing that is inappropriate to a given level of exertion</a:t>
            </a:r>
          </a:p>
          <a:p>
            <a:pPr lvl="1"/>
            <a:r>
              <a:rPr lang="en-US" dirty="0"/>
              <a:t>Common in cardiac or pulmonary problems</a:t>
            </a:r>
          </a:p>
          <a:p>
            <a:r>
              <a:rPr lang="en-US" b="1" dirty="0"/>
              <a:t>Orthopnea</a:t>
            </a:r>
            <a:r>
              <a:rPr lang="en-US" dirty="0"/>
              <a:t>: dyspnea that occurs when the patient is supine and improves when the patient sits up</a:t>
            </a:r>
          </a:p>
          <a:p>
            <a:pPr lvl="1"/>
            <a:r>
              <a:rPr lang="en-US" dirty="0"/>
              <a:t>Do they sleep with lots of pillows at night?</a:t>
            </a:r>
          </a:p>
          <a:p>
            <a:r>
              <a:rPr lang="en-US" b="1" dirty="0"/>
              <a:t>Paroxysmal nocturnal dyspnea </a:t>
            </a:r>
            <a:r>
              <a:rPr lang="en-US" dirty="0"/>
              <a:t>(PND): episodes of sudden dyspnea and orthopnea that awaken the patient from sleep, usually 1-2 hours after going to bed, prompting the patient to sit up, stand up, or go to a window for air</a:t>
            </a:r>
          </a:p>
        </p:txBody>
      </p:sp>
    </p:spTree>
    <p:extLst>
      <p:ext uri="{BB962C8B-B14F-4D97-AF65-F5344CB8AC3E}">
        <p14:creationId xmlns:p14="http://schemas.microsoft.com/office/powerpoint/2010/main" val="2200638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Content Placeholder 2"/>
          <p:cNvSpPr>
            <a:spLocks noGrp="1"/>
          </p:cNvSpPr>
          <p:nvPr>
            <p:ph idx="1"/>
          </p:nvPr>
        </p:nvSpPr>
        <p:spPr>
          <a:xfrm>
            <a:off x="838200" y="1825624"/>
            <a:ext cx="10515600" cy="4876389"/>
          </a:xfrm>
        </p:spPr>
        <p:txBody>
          <a:bodyPr>
            <a:normAutofit/>
          </a:bodyPr>
          <a:lstStyle/>
          <a:p>
            <a:r>
              <a:rPr lang="en-US" dirty="0"/>
              <a:t>Accumulation of excess fluid in the extravascular </a:t>
            </a:r>
            <a:r>
              <a:rPr lang="en-US" b="1" dirty="0"/>
              <a:t>interstitial space</a:t>
            </a:r>
          </a:p>
          <a:p>
            <a:r>
              <a:rPr lang="en-US" dirty="0"/>
              <a:t>Focus on the location (unilateral vs. bilateral), timing, and setting of the swelling and any associated symptoms</a:t>
            </a:r>
          </a:p>
          <a:p>
            <a:r>
              <a:rPr lang="en-US" dirty="0"/>
              <a:t>Consider asking patients who retain fluid to record daily morning weights because edema may not be obvious until several liters of extra fluid have accumulated</a:t>
            </a:r>
          </a:p>
          <a:p>
            <a:r>
              <a:rPr lang="en-US" dirty="0"/>
              <a:t>Causes are frequently cardiac or pulmonary but can also be nutritional and/or positional</a:t>
            </a:r>
          </a:p>
        </p:txBody>
      </p:sp>
      <p:sp>
        <p:nvSpPr>
          <p:cNvPr id="5" name="Title 4">
            <a:extLst>
              <a:ext uri="{FF2B5EF4-FFF2-40B4-BE49-F238E27FC236}">
                <a16:creationId xmlns:a16="http://schemas.microsoft.com/office/drawing/2014/main" id="{08030233-1927-44E9-A98C-5CF296BEB99F}"/>
              </a:ext>
            </a:extLst>
          </p:cNvPr>
          <p:cNvSpPr>
            <a:spLocks noGrp="1"/>
          </p:cNvSpPr>
          <p:nvPr>
            <p:ph type="title"/>
          </p:nvPr>
        </p:nvSpPr>
        <p:spPr/>
        <p:txBody>
          <a:bodyPr/>
          <a:lstStyle/>
          <a:p>
            <a:r>
              <a:rPr lang="en-US"/>
              <a:t>Edema (Swelling)</a:t>
            </a:r>
          </a:p>
        </p:txBody>
      </p:sp>
    </p:spTree>
    <p:extLst>
      <p:ext uri="{BB962C8B-B14F-4D97-AF65-F5344CB8AC3E}">
        <p14:creationId xmlns:p14="http://schemas.microsoft.com/office/powerpoint/2010/main" val="2859846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CC5C-80CC-4862-94FE-EA168D1AD8A1}"/>
              </a:ext>
            </a:extLst>
          </p:cNvPr>
          <p:cNvSpPr>
            <a:spLocks noGrp="1"/>
          </p:cNvSpPr>
          <p:nvPr>
            <p:ph type="title"/>
          </p:nvPr>
        </p:nvSpPr>
        <p:spPr/>
        <p:txBody>
          <a:bodyPr/>
          <a:lstStyle/>
          <a:p>
            <a:r>
              <a:rPr lang="en-US" dirty="0"/>
              <a:t>Peripheral Vascular</a:t>
            </a:r>
          </a:p>
        </p:txBody>
      </p:sp>
      <p:sp>
        <p:nvSpPr>
          <p:cNvPr id="3" name="Content Placeholder 2">
            <a:extLst>
              <a:ext uri="{FF2B5EF4-FFF2-40B4-BE49-F238E27FC236}">
                <a16:creationId xmlns:a16="http://schemas.microsoft.com/office/drawing/2014/main" id="{FD57FFC9-3C11-4338-8B46-56A89B596D56}"/>
              </a:ext>
            </a:extLst>
          </p:cNvPr>
          <p:cNvSpPr>
            <a:spLocks noGrp="1"/>
          </p:cNvSpPr>
          <p:nvPr>
            <p:ph idx="1"/>
          </p:nvPr>
        </p:nvSpPr>
        <p:spPr/>
        <p:txBody>
          <a:bodyPr>
            <a:normAutofit/>
          </a:bodyPr>
          <a:lstStyle/>
          <a:p>
            <a:r>
              <a:rPr lang="en-US" b="1" dirty="0"/>
              <a:t>Pain or cramping in legs </a:t>
            </a:r>
            <a:r>
              <a:rPr lang="en-US" dirty="0"/>
              <a:t>with exertion (clarify how far they can walk before pain comes on) or at rest</a:t>
            </a:r>
          </a:p>
          <a:p>
            <a:pPr lvl="1"/>
            <a:r>
              <a:rPr lang="en-US" dirty="0"/>
              <a:t>Peripheral arterial disease (PAD)</a:t>
            </a:r>
          </a:p>
          <a:p>
            <a:r>
              <a:rPr lang="en-US" dirty="0"/>
              <a:t>Associated </a:t>
            </a:r>
            <a:r>
              <a:rPr lang="en-US" b="1" dirty="0"/>
              <a:t>edema</a:t>
            </a:r>
          </a:p>
          <a:p>
            <a:pPr lvl="1"/>
            <a:r>
              <a:rPr lang="en-US" dirty="0"/>
              <a:t>Deep venous thromboembolism (DVT)</a:t>
            </a:r>
          </a:p>
          <a:p>
            <a:pPr lvl="1"/>
            <a:r>
              <a:rPr lang="en-US" dirty="0"/>
              <a:t>Venous insufficiency</a:t>
            </a:r>
          </a:p>
          <a:p>
            <a:r>
              <a:rPr lang="en-US" b="1" dirty="0"/>
              <a:t>Coldness</a:t>
            </a:r>
            <a:r>
              <a:rPr lang="en-US" dirty="0"/>
              <a:t>, </a:t>
            </a:r>
            <a:r>
              <a:rPr lang="en-US" b="1" dirty="0"/>
              <a:t>numbness</a:t>
            </a:r>
            <a:r>
              <a:rPr lang="en-US" dirty="0"/>
              <a:t>, </a:t>
            </a:r>
            <a:r>
              <a:rPr lang="en-US" b="1" dirty="0"/>
              <a:t>pallor</a:t>
            </a:r>
            <a:r>
              <a:rPr lang="en-US" dirty="0"/>
              <a:t>, or </a:t>
            </a:r>
            <a:r>
              <a:rPr lang="en-US" b="1" dirty="0"/>
              <a:t>discoloration</a:t>
            </a:r>
            <a:r>
              <a:rPr lang="en-US" dirty="0"/>
              <a:t> of extremities or hair loss particularly over anterior tibial surfaces</a:t>
            </a:r>
          </a:p>
          <a:p>
            <a:pPr lvl="1"/>
            <a:r>
              <a:rPr lang="en-US" dirty="0"/>
              <a:t>Decreased arterial perfusion</a:t>
            </a:r>
          </a:p>
        </p:txBody>
      </p:sp>
    </p:spTree>
    <p:extLst>
      <p:ext uri="{BB962C8B-B14F-4D97-AF65-F5344CB8AC3E}">
        <p14:creationId xmlns:p14="http://schemas.microsoft.com/office/powerpoint/2010/main" val="3436539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Content Placeholder 2"/>
          <p:cNvSpPr>
            <a:spLocks noGrp="1"/>
          </p:cNvSpPr>
          <p:nvPr>
            <p:ph idx="1"/>
          </p:nvPr>
        </p:nvSpPr>
        <p:spPr/>
        <p:txBody>
          <a:bodyPr/>
          <a:lstStyle/>
          <a:p>
            <a:r>
              <a:rPr lang="en-US" b="1" dirty="0"/>
              <a:t>Transient loss of consciousness </a:t>
            </a:r>
            <a:r>
              <a:rPr lang="en-US" dirty="0"/>
              <a:t>followed by recovery</a:t>
            </a:r>
          </a:p>
          <a:p>
            <a:r>
              <a:rPr lang="en-US" dirty="0"/>
              <a:t>Most common cause is neurocardiogenic</a:t>
            </a:r>
          </a:p>
          <a:p>
            <a:pPr lvl="1"/>
            <a:r>
              <a:rPr lang="en-US" dirty="0"/>
              <a:t>Vasovagal syncope (most common), postural orthostatic tachycardia syndrome (POTS), carotid sinus syncope, and orthostatic hypotension</a:t>
            </a:r>
          </a:p>
          <a:p>
            <a:pPr lvl="1"/>
            <a:r>
              <a:rPr lang="en-US" dirty="0"/>
              <a:t>Cardiac arrhythmias: especially ventricular tachycardia and brady arrhythmias</a:t>
            </a:r>
          </a:p>
        </p:txBody>
      </p:sp>
      <p:sp>
        <p:nvSpPr>
          <p:cNvPr id="5" name="Title 4">
            <a:extLst>
              <a:ext uri="{FF2B5EF4-FFF2-40B4-BE49-F238E27FC236}">
                <a16:creationId xmlns:a16="http://schemas.microsoft.com/office/drawing/2014/main" id="{FE60986E-6518-4A2A-AE18-2594A35F0D44}"/>
              </a:ext>
            </a:extLst>
          </p:cNvPr>
          <p:cNvSpPr>
            <a:spLocks noGrp="1"/>
          </p:cNvSpPr>
          <p:nvPr>
            <p:ph type="title"/>
          </p:nvPr>
        </p:nvSpPr>
        <p:spPr/>
        <p:txBody>
          <a:bodyPr/>
          <a:lstStyle/>
          <a:p>
            <a:r>
              <a:rPr lang="en-US"/>
              <a:t>Syncope</a:t>
            </a:r>
          </a:p>
        </p:txBody>
      </p:sp>
    </p:spTree>
    <p:extLst>
      <p:ext uri="{BB962C8B-B14F-4D97-AF65-F5344CB8AC3E}">
        <p14:creationId xmlns:p14="http://schemas.microsoft.com/office/powerpoint/2010/main" val="2042680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0C04-98AA-49F4-BFF4-0C62DC809B4B}"/>
              </a:ext>
            </a:extLst>
          </p:cNvPr>
          <p:cNvSpPr>
            <a:spLocks noGrp="1"/>
          </p:cNvSpPr>
          <p:nvPr>
            <p:ph type="title"/>
          </p:nvPr>
        </p:nvSpPr>
        <p:spPr/>
        <p:txBody>
          <a:bodyPr/>
          <a:lstStyle/>
          <a:p>
            <a:r>
              <a:rPr lang="en-US" dirty="0"/>
              <a:t>Abdominal, Back, Flank Pain</a:t>
            </a:r>
          </a:p>
        </p:txBody>
      </p:sp>
      <p:sp>
        <p:nvSpPr>
          <p:cNvPr id="3" name="Content Placeholder 2">
            <a:extLst>
              <a:ext uri="{FF2B5EF4-FFF2-40B4-BE49-F238E27FC236}">
                <a16:creationId xmlns:a16="http://schemas.microsoft.com/office/drawing/2014/main" id="{E0491CF3-1B05-4720-9AE7-D8E9928F5871}"/>
              </a:ext>
            </a:extLst>
          </p:cNvPr>
          <p:cNvSpPr>
            <a:spLocks noGrp="1"/>
          </p:cNvSpPr>
          <p:nvPr>
            <p:ph idx="1"/>
          </p:nvPr>
        </p:nvSpPr>
        <p:spPr/>
        <p:txBody>
          <a:bodyPr/>
          <a:lstStyle/>
          <a:p>
            <a:r>
              <a:rPr lang="en-US" dirty="0"/>
              <a:t>Acute symptoms raise suspicion of arterial thrombosis</a:t>
            </a:r>
          </a:p>
          <a:p>
            <a:r>
              <a:rPr lang="en-US" dirty="0"/>
              <a:t>May also be related to oxygen supply-demand mismatch (i.e., pain worse with eating when abdominal viscera needs greater oxygen supply)</a:t>
            </a:r>
          </a:p>
          <a:p>
            <a:r>
              <a:rPr lang="en-US" dirty="0"/>
              <a:t>Sudden tearing pain suggests concern for abdominal aortic dissection</a:t>
            </a:r>
          </a:p>
        </p:txBody>
      </p:sp>
    </p:spTree>
    <p:extLst>
      <p:ext uri="{BB962C8B-B14F-4D97-AF65-F5344CB8AC3E}">
        <p14:creationId xmlns:p14="http://schemas.microsoft.com/office/powerpoint/2010/main" val="2896317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838200" y="255811"/>
            <a:ext cx="10515600" cy="1325563"/>
          </a:xfrm>
        </p:spPr>
        <p:txBody>
          <a:bodyPr/>
          <a:lstStyle/>
          <a:p>
            <a:r>
              <a:rPr lang="en-US"/>
              <a:t>Cardiovascular Health History: General Questions</a:t>
            </a:r>
          </a:p>
        </p:txBody>
      </p:sp>
      <p:sp>
        <p:nvSpPr>
          <p:cNvPr id="11267" name="Content Placeholder 2"/>
          <p:cNvSpPr>
            <a:spLocks noGrp="1"/>
          </p:cNvSpPr>
          <p:nvPr>
            <p:ph idx="1"/>
          </p:nvPr>
        </p:nvSpPr>
        <p:spPr>
          <a:xfrm>
            <a:off x="838200" y="1581374"/>
            <a:ext cx="10515600" cy="5276626"/>
          </a:xfrm>
        </p:spPr>
        <p:txBody>
          <a:bodyPr>
            <a:normAutofit fontScale="92500" lnSpcReduction="10000"/>
          </a:bodyPr>
          <a:lstStyle/>
          <a:p>
            <a:r>
              <a:rPr lang="en-US" dirty="0"/>
              <a:t>Have you ever had any problems with your heart? </a:t>
            </a:r>
          </a:p>
          <a:p>
            <a:r>
              <a:rPr lang="en-US" dirty="0"/>
              <a:t>Have you ever had angina or a heart attack? </a:t>
            </a:r>
          </a:p>
          <a:p>
            <a:r>
              <a:rPr lang="en-US" dirty="0"/>
              <a:t>Have you ever had a stress test?  If so, when?  What were the results?</a:t>
            </a:r>
          </a:p>
          <a:p>
            <a:r>
              <a:rPr lang="en-US" dirty="0"/>
              <a:t>Have you ever had a cardiac catheterization or heart surgery?  If so, when? </a:t>
            </a:r>
          </a:p>
          <a:p>
            <a:r>
              <a:rPr lang="en-US" dirty="0"/>
              <a:t>Do you currently have or have had a history of high blood pressure?  Do you take blood pressure medication?</a:t>
            </a:r>
          </a:p>
          <a:p>
            <a:r>
              <a:rPr lang="en-US" dirty="0"/>
              <a:t>Have you ever been told you have an irregular heartbeat?  If so, do you take any medications for it?</a:t>
            </a:r>
          </a:p>
          <a:p>
            <a:r>
              <a:rPr lang="en-US" dirty="0"/>
              <a:t>Have you ever been told you had a heart murmur or had rheumatic fever?</a:t>
            </a:r>
          </a:p>
        </p:txBody>
      </p:sp>
    </p:spTree>
    <p:extLst>
      <p:ext uri="{BB962C8B-B14F-4D97-AF65-F5344CB8AC3E}">
        <p14:creationId xmlns:p14="http://schemas.microsoft.com/office/powerpoint/2010/main" val="405834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p:txBody>
          <a:bodyPr/>
          <a:lstStyle/>
          <a:p>
            <a:r>
              <a:rPr lang="en-US"/>
              <a:t>Cardiovascular Health History: General Questions</a:t>
            </a:r>
          </a:p>
        </p:txBody>
      </p:sp>
      <p:sp>
        <p:nvSpPr>
          <p:cNvPr id="12290" name="Content Placeholder 2"/>
          <p:cNvSpPr>
            <a:spLocks noGrp="1"/>
          </p:cNvSpPr>
          <p:nvPr>
            <p:ph idx="1"/>
          </p:nvPr>
        </p:nvSpPr>
        <p:spPr>
          <a:xfrm>
            <a:off x="838200" y="1825624"/>
            <a:ext cx="10515600" cy="4918075"/>
          </a:xfrm>
        </p:spPr>
        <p:txBody>
          <a:bodyPr>
            <a:normAutofit/>
          </a:bodyPr>
          <a:lstStyle/>
          <a:p>
            <a:r>
              <a:rPr lang="en-US" dirty="0"/>
              <a:t>Do you have chest pain on exertion (walking up the stairs)?</a:t>
            </a:r>
          </a:p>
          <a:p>
            <a:r>
              <a:rPr lang="en-US" dirty="0"/>
              <a:t>Is your chest pain worse in cold weather?</a:t>
            </a:r>
          </a:p>
          <a:p>
            <a:r>
              <a:rPr lang="en-US" dirty="0"/>
              <a:t>Have you ever noticed bluish colored skin?</a:t>
            </a:r>
          </a:p>
          <a:p>
            <a:r>
              <a:rPr lang="en-US" dirty="0"/>
              <a:t>Do you have any shortness of breath?</a:t>
            </a:r>
          </a:p>
          <a:p>
            <a:r>
              <a:rPr lang="en-US" dirty="0"/>
              <a:t>Do you ever wake up at night feeling short of breath (paroxysmal nocturnal dyspnea)?</a:t>
            </a:r>
          </a:p>
          <a:p>
            <a:r>
              <a:rPr lang="en-US" dirty="0"/>
              <a:t>How many pillows do you sleep on at night (orthopnea)?</a:t>
            </a:r>
          </a:p>
          <a:p>
            <a:r>
              <a:rPr lang="en-US" dirty="0"/>
              <a:t>How far can you walk before you become short of breath?</a:t>
            </a:r>
          </a:p>
          <a:p>
            <a:endParaRPr lang="en-US" dirty="0"/>
          </a:p>
          <a:p>
            <a:endParaRPr lang="en-US" dirty="0"/>
          </a:p>
        </p:txBody>
      </p:sp>
    </p:spTree>
    <p:extLst>
      <p:ext uri="{BB962C8B-B14F-4D97-AF65-F5344CB8AC3E}">
        <p14:creationId xmlns:p14="http://schemas.microsoft.com/office/powerpoint/2010/main" val="3669736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title"/>
          </p:nvPr>
        </p:nvSpPr>
        <p:spPr/>
        <p:txBody>
          <a:bodyPr/>
          <a:lstStyle/>
          <a:p>
            <a:r>
              <a:rPr lang="en-US" dirty="0"/>
              <a:t>Cardiovascular Health History: General Questions</a:t>
            </a:r>
          </a:p>
        </p:txBody>
      </p:sp>
      <p:sp>
        <p:nvSpPr>
          <p:cNvPr id="13314" name="Content Placeholder 2"/>
          <p:cNvSpPr>
            <a:spLocks noGrp="1"/>
          </p:cNvSpPr>
          <p:nvPr>
            <p:ph idx="1"/>
          </p:nvPr>
        </p:nvSpPr>
        <p:spPr/>
        <p:txBody>
          <a:bodyPr>
            <a:normAutofit/>
          </a:bodyPr>
          <a:lstStyle/>
          <a:p>
            <a:r>
              <a:rPr lang="en-US" dirty="0"/>
              <a:t>Have you ever had pain or swelling in your legs?</a:t>
            </a:r>
          </a:p>
          <a:p>
            <a:r>
              <a:rPr lang="en-US" dirty="0"/>
              <a:t>When did you first notice the pain or swelling?</a:t>
            </a:r>
          </a:p>
          <a:p>
            <a:r>
              <a:rPr lang="en-US" dirty="0"/>
              <a:t>Did it appear suddenly or gradually?</a:t>
            </a:r>
          </a:p>
          <a:p>
            <a:r>
              <a:rPr lang="en-US" dirty="0"/>
              <a:t>Is the swelling worse in the morning or evening?</a:t>
            </a:r>
          </a:p>
          <a:p>
            <a:r>
              <a:rPr lang="en-US" dirty="0"/>
              <a:t>Are you taking any medications for swelling?  If so, which ones?</a:t>
            </a:r>
          </a:p>
        </p:txBody>
      </p:sp>
    </p:spTree>
    <p:extLst>
      <p:ext uri="{BB962C8B-B14F-4D97-AF65-F5344CB8AC3E}">
        <p14:creationId xmlns:p14="http://schemas.microsoft.com/office/powerpoint/2010/main" val="3722859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Cardiovascular Health History: General Questions</a:t>
            </a:r>
          </a:p>
        </p:txBody>
      </p:sp>
      <p:sp>
        <p:nvSpPr>
          <p:cNvPr id="35843" name="Content Placeholder 2"/>
          <p:cNvSpPr>
            <a:spLocks noGrp="1"/>
          </p:cNvSpPr>
          <p:nvPr>
            <p:ph idx="1"/>
          </p:nvPr>
        </p:nvSpPr>
        <p:spPr>
          <a:xfrm>
            <a:off x="838200" y="1825624"/>
            <a:ext cx="10515600" cy="4826635"/>
          </a:xfrm>
        </p:spPr>
        <p:txBody>
          <a:bodyPr>
            <a:normAutofit/>
          </a:bodyPr>
          <a:lstStyle/>
          <a:p>
            <a:r>
              <a:rPr lang="en-US" dirty="0"/>
              <a:t>Have you been told by a provider that you have a blood vessel circulation problem in your feet or legs?</a:t>
            </a:r>
          </a:p>
          <a:p>
            <a:r>
              <a:rPr lang="en-US" dirty="0"/>
              <a:t>Have you had a vascular bypass of the blood vessels in your feet or legs?</a:t>
            </a:r>
          </a:p>
          <a:p>
            <a:r>
              <a:rPr lang="en-US" dirty="0"/>
              <a:t>Are you bothered by cold feet?</a:t>
            </a:r>
          </a:p>
          <a:p>
            <a:r>
              <a:rPr lang="en-US" dirty="0"/>
              <a:t>When you sit with your shoes and socks off, what color is the skin on your feet?</a:t>
            </a:r>
          </a:p>
          <a:p>
            <a:r>
              <a:rPr lang="en-US" dirty="0"/>
              <a:t>Have you ever had a slow healing ulcer on your legs or feet?</a:t>
            </a:r>
          </a:p>
          <a:p>
            <a:r>
              <a:rPr lang="en-US" dirty="0"/>
              <a:t>Have you had a leg, foot, or toe amputation?</a:t>
            </a:r>
          </a:p>
        </p:txBody>
      </p:sp>
    </p:spTree>
    <p:extLst>
      <p:ext uri="{BB962C8B-B14F-4D97-AF65-F5344CB8AC3E}">
        <p14:creationId xmlns:p14="http://schemas.microsoft.com/office/powerpoint/2010/main" val="3833894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title"/>
          </p:nvPr>
        </p:nvSpPr>
        <p:spPr/>
        <p:txBody>
          <a:bodyPr/>
          <a:lstStyle/>
          <a:p>
            <a:r>
              <a:rPr lang="en-US"/>
              <a:t>Cardiovascular Health History: General Questions</a:t>
            </a:r>
          </a:p>
        </p:txBody>
      </p:sp>
      <p:sp>
        <p:nvSpPr>
          <p:cNvPr id="13314" name="Content Placeholder 2"/>
          <p:cNvSpPr>
            <a:spLocks noGrp="1"/>
          </p:cNvSpPr>
          <p:nvPr>
            <p:ph idx="1"/>
          </p:nvPr>
        </p:nvSpPr>
        <p:spPr/>
        <p:txBody>
          <a:bodyPr>
            <a:normAutofit/>
          </a:bodyPr>
          <a:lstStyle/>
          <a:p>
            <a:r>
              <a:rPr lang="en-US" dirty="0"/>
              <a:t>Assessing cardiovascular risk factors:</a:t>
            </a:r>
          </a:p>
          <a:p>
            <a:pPr lvl="1"/>
            <a:r>
              <a:rPr lang="en-US" dirty="0"/>
              <a:t>Hypertension</a:t>
            </a:r>
          </a:p>
          <a:p>
            <a:pPr lvl="1"/>
            <a:r>
              <a:rPr lang="en-US" dirty="0"/>
              <a:t>Atherosclerosis</a:t>
            </a:r>
          </a:p>
          <a:p>
            <a:pPr lvl="1"/>
            <a:r>
              <a:rPr lang="en-US" dirty="0"/>
              <a:t>Diabetes</a:t>
            </a:r>
          </a:p>
          <a:p>
            <a:pPr lvl="1"/>
            <a:r>
              <a:rPr lang="en-US" dirty="0"/>
              <a:t>Dyslipidemias</a:t>
            </a:r>
          </a:p>
          <a:p>
            <a:pPr lvl="1"/>
            <a:r>
              <a:rPr lang="en-US" dirty="0"/>
              <a:t>Metabolic syndrome</a:t>
            </a:r>
          </a:p>
          <a:p>
            <a:pPr lvl="1"/>
            <a:r>
              <a:rPr lang="en-US" dirty="0"/>
              <a:t>Smoking</a:t>
            </a:r>
          </a:p>
          <a:p>
            <a:pPr lvl="1"/>
            <a:r>
              <a:rPr lang="en-US" dirty="0"/>
              <a:t>Obesity</a:t>
            </a:r>
          </a:p>
          <a:p>
            <a:pPr lvl="1"/>
            <a:r>
              <a:rPr lang="en-US" dirty="0"/>
              <a:t>Family history</a:t>
            </a:r>
          </a:p>
        </p:txBody>
      </p:sp>
    </p:spTree>
    <p:extLst>
      <p:ext uri="{BB962C8B-B14F-4D97-AF65-F5344CB8AC3E}">
        <p14:creationId xmlns:p14="http://schemas.microsoft.com/office/powerpoint/2010/main" val="2385527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CB8DEC8-E2F7-44E1-9888-E90C645150BF}"/>
              </a:ext>
            </a:extLst>
          </p:cNvPr>
          <p:cNvSpPr>
            <a:spLocks noGrp="1"/>
          </p:cNvSpPr>
          <p:nvPr>
            <p:ph type="title"/>
          </p:nvPr>
        </p:nvSpPr>
        <p:spPr/>
        <p:txBody>
          <a:bodyPr/>
          <a:lstStyle/>
          <a:p>
            <a:r>
              <a:rPr lang="en-US"/>
              <a:t>Pain Complaints</a:t>
            </a:r>
          </a:p>
        </p:txBody>
      </p:sp>
      <p:sp>
        <p:nvSpPr>
          <p:cNvPr id="8" name="Content Placeholder 7">
            <a:extLst>
              <a:ext uri="{FF2B5EF4-FFF2-40B4-BE49-F238E27FC236}">
                <a16:creationId xmlns:a16="http://schemas.microsoft.com/office/drawing/2014/main" id="{2B7599AF-DC6C-4826-A769-20599BA22EA2}"/>
              </a:ext>
            </a:extLst>
          </p:cNvPr>
          <p:cNvSpPr>
            <a:spLocks noGrp="1"/>
          </p:cNvSpPr>
          <p:nvPr>
            <p:ph idx="1"/>
          </p:nvPr>
        </p:nvSpPr>
        <p:spPr>
          <a:xfrm>
            <a:off x="838200" y="1825625"/>
            <a:ext cx="10515600" cy="4801086"/>
          </a:xfrm>
        </p:spPr>
        <p:txBody>
          <a:bodyPr>
            <a:normAutofit/>
          </a:bodyPr>
          <a:lstStyle/>
          <a:p>
            <a:r>
              <a:rPr lang="en-US" b="1"/>
              <a:t>O</a:t>
            </a:r>
            <a:r>
              <a:rPr lang="en-US"/>
              <a:t>nset</a:t>
            </a:r>
          </a:p>
          <a:p>
            <a:r>
              <a:rPr lang="en-US" b="1"/>
              <a:t>L</a:t>
            </a:r>
            <a:r>
              <a:rPr lang="en-US"/>
              <a:t>ocation</a:t>
            </a:r>
          </a:p>
          <a:p>
            <a:r>
              <a:rPr lang="en-US" b="1"/>
              <a:t>D</a:t>
            </a:r>
            <a:r>
              <a:rPr lang="en-US"/>
              <a:t>uration</a:t>
            </a:r>
          </a:p>
          <a:p>
            <a:r>
              <a:rPr lang="en-US" b="1"/>
              <a:t>C</a:t>
            </a:r>
            <a:r>
              <a:rPr lang="en-US"/>
              <a:t>haracter</a:t>
            </a:r>
          </a:p>
          <a:p>
            <a:r>
              <a:rPr lang="en-US" b="1"/>
              <a:t>A</a:t>
            </a:r>
            <a:r>
              <a:rPr lang="en-US"/>
              <a:t>ggravating/</a:t>
            </a:r>
            <a:r>
              <a:rPr lang="en-US" b="1"/>
              <a:t>A</a:t>
            </a:r>
            <a:r>
              <a:rPr lang="en-US"/>
              <a:t>lleviating factors</a:t>
            </a:r>
          </a:p>
          <a:p>
            <a:r>
              <a:rPr lang="en-US" b="1"/>
              <a:t>R</a:t>
            </a:r>
            <a:r>
              <a:rPr lang="en-US"/>
              <a:t>adiation</a:t>
            </a:r>
          </a:p>
          <a:p>
            <a:r>
              <a:rPr lang="en-US" b="1"/>
              <a:t>T</a:t>
            </a:r>
            <a:r>
              <a:rPr lang="en-US"/>
              <a:t>iming</a:t>
            </a:r>
          </a:p>
          <a:p>
            <a:r>
              <a:rPr lang="en-US" b="1"/>
              <a:t>S</a:t>
            </a:r>
            <a:r>
              <a:rPr lang="en-US"/>
              <a:t>everity</a:t>
            </a:r>
          </a:p>
          <a:p>
            <a:endParaRPr lang="en-US"/>
          </a:p>
        </p:txBody>
      </p:sp>
    </p:spTree>
    <p:extLst>
      <p:ext uri="{BB962C8B-B14F-4D97-AF65-F5344CB8AC3E}">
        <p14:creationId xmlns:p14="http://schemas.microsoft.com/office/powerpoint/2010/main" val="4027475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t>Example: Questions for Angina</a:t>
            </a:r>
          </a:p>
        </p:txBody>
      </p:sp>
      <p:sp>
        <p:nvSpPr>
          <p:cNvPr id="16387" name="Content Placeholder 2"/>
          <p:cNvSpPr>
            <a:spLocks noGrp="1"/>
          </p:cNvSpPr>
          <p:nvPr>
            <p:ph idx="1"/>
          </p:nvPr>
        </p:nvSpPr>
        <p:spPr>
          <a:xfrm>
            <a:off x="838200" y="1549102"/>
            <a:ext cx="10515600" cy="5206700"/>
          </a:xfrm>
        </p:spPr>
        <p:txBody>
          <a:bodyPr>
            <a:normAutofit fontScale="85000" lnSpcReduction="20000"/>
          </a:bodyPr>
          <a:lstStyle/>
          <a:p>
            <a:r>
              <a:rPr lang="en-US" dirty="0"/>
              <a:t>When did the pain first start?</a:t>
            </a:r>
          </a:p>
          <a:p>
            <a:r>
              <a:rPr lang="en-US" dirty="0"/>
              <a:t>Where is the pain (point)?</a:t>
            </a:r>
          </a:p>
          <a:p>
            <a:r>
              <a:rPr lang="en-US" dirty="0"/>
              <a:t>How long does it last?</a:t>
            </a:r>
          </a:p>
          <a:p>
            <a:r>
              <a:rPr lang="en-US" dirty="0"/>
              <a:t>How would you describe the pain (burning, pressing, stabbing, crushing, dull, aching, throbbing, sharp, constricting)?</a:t>
            </a:r>
          </a:p>
          <a:p>
            <a:r>
              <a:rPr lang="en-US" dirty="0"/>
              <a:t>Does anything make the pain feel worse or better?</a:t>
            </a:r>
          </a:p>
          <a:p>
            <a:r>
              <a:rPr lang="en-US" dirty="0"/>
              <a:t>Does the pain occur at rest, with exertion, with stress, after eating, when moving your arms, or during intercourse?</a:t>
            </a:r>
          </a:p>
          <a:p>
            <a:r>
              <a:rPr lang="en-US" dirty="0"/>
              <a:t>Does the pain radiate?  If so, where?</a:t>
            </a:r>
          </a:p>
          <a:p>
            <a:r>
              <a:rPr lang="en-US" dirty="0"/>
              <a:t>How often do you have the pain?  Did it come on suddenly or gradually?</a:t>
            </a:r>
          </a:p>
          <a:p>
            <a:r>
              <a:rPr lang="en-US" dirty="0"/>
              <a:t>How severe is the pain?  Is it limiting your daily activities?</a:t>
            </a:r>
          </a:p>
          <a:p>
            <a:r>
              <a:rPr lang="en-US" dirty="0"/>
              <a:t>Do you have any other symptoms with the pain such as SOB, diaphoresis, palpitations, N/V, coughing, fever, leg pain?</a:t>
            </a:r>
          </a:p>
        </p:txBody>
      </p:sp>
    </p:spTree>
    <p:extLst>
      <p:ext uri="{BB962C8B-B14F-4D97-AF65-F5344CB8AC3E}">
        <p14:creationId xmlns:p14="http://schemas.microsoft.com/office/powerpoint/2010/main" val="1052804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EE201-5077-4024-AD5F-73ACA1160F24}"/>
              </a:ext>
            </a:extLst>
          </p:cNvPr>
          <p:cNvSpPr>
            <a:spLocks noGrp="1"/>
          </p:cNvSpPr>
          <p:nvPr>
            <p:ph type="title"/>
          </p:nvPr>
        </p:nvSpPr>
        <p:spPr/>
        <p:txBody>
          <a:bodyPr/>
          <a:lstStyle/>
          <a:p>
            <a:r>
              <a:rPr lang="en-US" dirty="0"/>
              <a:t>Obtain Historical Context</a:t>
            </a:r>
            <a:endParaRPr lang="en-US"/>
          </a:p>
        </p:txBody>
      </p:sp>
      <p:sp>
        <p:nvSpPr>
          <p:cNvPr id="3" name="Content Placeholder 2">
            <a:extLst>
              <a:ext uri="{FF2B5EF4-FFF2-40B4-BE49-F238E27FC236}">
                <a16:creationId xmlns:a16="http://schemas.microsoft.com/office/drawing/2014/main" id="{1B5768C9-1FAD-4CB5-ACC6-BBAE9CCA90CA}"/>
              </a:ext>
            </a:extLst>
          </p:cNvPr>
          <p:cNvSpPr>
            <a:spLocks noGrp="1"/>
          </p:cNvSpPr>
          <p:nvPr>
            <p:ph idx="1"/>
          </p:nvPr>
        </p:nvSpPr>
        <p:spPr/>
        <p:txBody>
          <a:bodyPr/>
          <a:lstStyle/>
          <a:p>
            <a:r>
              <a:rPr lang="en-US" dirty="0"/>
              <a:t>In addition to using OLDCARTS, asking the patient questions to understand the context of their symptoms can be helpful  </a:t>
            </a:r>
          </a:p>
          <a:p>
            <a:pPr lvl="1"/>
            <a:r>
              <a:rPr lang="en-US" dirty="0"/>
              <a:t>Where were you when the symptoms began?</a:t>
            </a:r>
          </a:p>
          <a:p>
            <a:pPr lvl="1"/>
            <a:r>
              <a:rPr lang="en-US" dirty="0"/>
              <a:t>What were you doing when the symptoms started?</a:t>
            </a:r>
          </a:p>
          <a:p>
            <a:pPr lvl="1"/>
            <a:r>
              <a:rPr lang="en-US" dirty="0"/>
              <a:t>Have you ever had symptoms like this before?</a:t>
            </a:r>
          </a:p>
          <a:p>
            <a:pPr lvl="1"/>
            <a:r>
              <a:rPr lang="en-US" dirty="0"/>
              <a:t>Have you had any recent travel?</a:t>
            </a:r>
          </a:p>
          <a:p>
            <a:pPr lvl="1"/>
            <a:r>
              <a:rPr lang="en-US" dirty="0"/>
              <a:t>Have you had any recent lifestyle changes?</a:t>
            </a:r>
          </a:p>
        </p:txBody>
      </p:sp>
    </p:spTree>
    <p:extLst>
      <p:ext uri="{BB962C8B-B14F-4D97-AF65-F5344CB8AC3E}">
        <p14:creationId xmlns:p14="http://schemas.microsoft.com/office/powerpoint/2010/main" val="3960160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BFD24-F655-3096-AA90-84A9EA4E0BDD}"/>
              </a:ext>
            </a:extLst>
          </p:cNvPr>
          <p:cNvSpPr>
            <a:spLocks noGrp="1"/>
          </p:cNvSpPr>
          <p:nvPr>
            <p:ph type="title"/>
          </p:nvPr>
        </p:nvSpPr>
        <p:spPr/>
        <p:txBody>
          <a:bodyPr/>
          <a:lstStyle/>
          <a:p>
            <a:r>
              <a:rPr lang="en-US" dirty="0"/>
              <a:t>Chronic Care Questions</a:t>
            </a:r>
          </a:p>
        </p:txBody>
      </p:sp>
      <p:sp>
        <p:nvSpPr>
          <p:cNvPr id="3" name="Content Placeholder 2">
            <a:extLst>
              <a:ext uri="{FF2B5EF4-FFF2-40B4-BE49-F238E27FC236}">
                <a16:creationId xmlns:a16="http://schemas.microsoft.com/office/drawing/2014/main" id="{83F19ECB-0B3C-6121-BE32-03E646B97925}"/>
              </a:ext>
            </a:extLst>
          </p:cNvPr>
          <p:cNvSpPr>
            <a:spLocks noGrp="1"/>
          </p:cNvSpPr>
          <p:nvPr>
            <p:ph idx="1"/>
          </p:nvPr>
        </p:nvSpPr>
        <p:spPr>
          <a:xfrm>
            <a:off x="838200" y="1825625"/>
            <a:ext cx="10515600" cy="4801086"/>
          </a:xfrm>
        </p:spPr>
        <p:txBody>
          <a:bodyPr>
            <a:normAutofit/>
          </a:bodyPr>
          <a:lstStyle/>
          <a:p>
            <a:r>
              <a:rPr lang="en-US" dirty="0"/>
              <a:t>Can use acronym </a:t>
            </a:r>
            <a:r>
              <a:rPr lang="en-US" b="1" dirty="0"/>
              <a:t>OCHMEDPRA</a:t>
            </a:r>
          </a:p>
          <a:p>
            <a:pPr lvl="1"/>
            <a:r>
              <a:rPr lang="en-US" b="1" dirty="0"/>
              <a:t>O</a:t>
            </a:r>
            <a:r>
              <a:rPr lang="en-US" dirty="0"/>
              <a:t>nset of condition</a:t>
            </a:r>
          </a:p>
          <a:p>
            <a:pPr lvl="1"/>
            <a:r>
              <a:rPr lang="en-US" b="1" dirty="0"/>
              <a:t>C</a:t>
            </a:r>
            <a:r>
              <a:rPr lang="en-US" dirty="0"/>
              <a:t>urrent concerns</a:t>
            </a:r>
          </a:p>
          <a:p>
            <a:pPr lvl="1"/>
            <a:r>
              <a:rPr lang="en-US" b="1" dirty="0"/>
              <a:t>H</a:t>
            </a:r>
            <a:r>
              <a:rPr lang="en-US" dirty="0"/>
              <a:t>ome readings</a:t>
            </a:r>
          </a:p>
          <a:p>
            <a:pPr lvl="1"/>
            <a:r>
              <a:rPr lang="en-US" b="1" dirty="0"/>
              <a:t>M</a:t>
            </a:r>
            <a:r>
              <a:rPr lang="en-US" dirty="0"/>
              <a:t>edications (compliance and side effects)</a:t>
            </a:r>
          </a:p>
          <a:p>
            <a:pPr lvl="1"/>
            <a:r>
              <a:rPr lang="en-US" b="1" dirty="0"/>
              <a:t>E</a:t>
            </a:r>
            <a:r>
              <a:rPr lang="en-US" dirty="0"/>
              <a:t>xercise</a:t>
            </a:r>
          </a:p>
          <a:p>
            <a:pPr lvl="1"/>
            <a:r>
              <a:rPr lang="en-US" b="1" dirty="0"/>
              <a:t>D</a:t>
            </a:r>
            <a:r>
              <a:rPr lang="en-US" dirty="0"/>
              <a:t>iet</a:t>
            </a:r>
          </a:p>
          <a:p>
            <a:pPr lvl="1"/>
            <a:r>
              <a:rPr lang="en-US" b="1" dirty="0"/>
              <a:t>P</a:t>
            </a:r>
            <a:r>
              <a:rPr lang="en-US" dirty="0"/>
              <a:t>revious imaging/procedures</a:t>
            </a:r>
          </a:p>
          <a:p>
            <a:pPr lvl="1"/>
            <a:r>
              <a:rPr lang="en-US" b="1" dirty="0"/>
              <a:t>R</a:t>
            </a:r>
            <a:r>
              <a:rPr lang="en-US" dirty="0"/>
              <a:t>isk factors</a:t>
            </a:r>
          </a:p>
          <a:p>
            <a:pPr lvl="1"/>
            <a:r>
              <a:rPr lang="en-US" b="1" dirty="0"/>
              <a:t>A</a:t>
            </a:r>
            <a:r>
              <a:rPr lang="en-US" dirty="0"/>
              <a:t>ssociated symptoms</a:t>
            </a:r>
          </a:p>
        </p:txBody>
      </p:sp>
      <p:sp>
        <p:nvSpPr>
          <p:cNvPr id="6" name="Star: 5 Points 5">
            <a:extLst>
              <a:ext uri="{FF2B5EF4-FFF2-40B4-BE49-F238E27FC236}">
                <a16:creationId xmlns:a16="http://schemas.microsoft.com/office/drawing/2014/main" id="{CBBB0C9F-412C-AA3D-ADAB-31DFE3CD38A2}"/>
              </a:ext>
            </a:extLst>
          </p:cNvPr>
          <p:cNvSpPr/>
          <p:nvPr/>
        </p:nvSpPr>
        <p:spPr>
          <a:xfrm>
            <a:off x="9122485" y="365125"/>
            <a:ext cx="1280160" cy="1206912"/>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583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98682-F1A2-4ADE-AED6-AEA147983B68}"/>
              </a:ext>
            </a:extLst>
          </p:cNvPr>
          <p:cNvSpPr>
            <a:spLocks noGrp="1"/>
          </p:cNvSpPr>
          <p:nvPr>
            <p:ph type="title"/>
          </p:nvPr>
        </p:nvSpPr>
        <p:spPr/>
        <p:txBody>
          <a:bodyPr/>
          <a:lstStyle/>
          <a:p>
            <a:r>
              <a:rPr lang="en-US" dirty="0"/>
              <a:t>Chronic Care Questions</a:t>
            </a:r>
          </a:p>
        </p:txBody>
      </p:sp>
      <p:sp>
        <p:nvSpPr>
          <p:cNvPr id="3" name="Content Placeholder 2">
            <a:extLst>
              <a:ext uri="{FF2B5EF4-FFF2-40B4-BE49-F238E27FC236}">
                <a16:creationId xmlns:a16="http://schemas.microsoft.com/office/drawing/2014/main" id="{B2B3F5A8-EEDA-4B2F-A034-E64A328B1430}"/>
              </a:ext>
            </a:extLst>
          </p:cNvPr>
          <p:cNvSpPr>
            <a:spLocks noGrp="1"/>
          </p:cNvSpPr>
          <p:nvPr>
            <p:ph idx="1"/>
          </p:nvPr>
        </p:nvSpPr>
        <p:spPr>
          <a:xfrm>
            <a:off x="838200" y="1825624"/>
            <a:ext cx="10515600" cy="4838065"/>
          </a:xfrm>
        </p:spPr>
        <p:txBody>
          <a:bodyPr>
            <a:normAutofit fontScale="92500"/>
          </a:bodyPr>
          <a:lstStyle/>
          <a:p>
            <a:r>
              <a:rPr lang="en-US" b="1" dirty="0"/>
              <a:t>Onset</a:t>
            </a:r>
            <a:r>
              <a:rPr lang="en-US" dirty="0"/>
              <a:t>:  When was the chronic condition diagnosed?</a:t>
            </a:r>
          </a:p>
          <a:p>
            <a:r>
              <a:rPr lang="en-US" b="1" dirty="0"/>
              <a:t>Current concerns</a:t>
            </a:r>
            <a:r>
              <a:rPr lang="en-US" dirty="0"/>
              <a:t>:  Does the patient have any concerns or problems regarding/relating to their chronic condition they were hoping to discuss today?</a:t>
            </a:r>
          </a:p>
          <a:p>
            <a:r>
              <a:rPr lang="en-US" b="1" dirty="0"/>
              <a:t>Home readings </a:t>
            </a:r>
            <a:r>
              <a:rPr lang="en-US" dirty="0"/>
              <a:t>(if applicable):  Did the patient bring their readings/documentation they take from monitoring at home?</a:t>
            </a:r>
          </a:p>
          <a:p>
            <a:pPr lvl="1"/>
            <a:r>
              <a:rPr lang="en-US" dirty="0"/>
              <a:t>Hypertension: home blood pressure readings</a:t>
            </a:r>
          </a:p>
          <a:p>
            <a:pPr lvl="1"/>
            <a:r>
              <a:rPr lang="en-US" dirty="0"/>
              <a:t>Heart failure: home weights</a:t>
            </a:r>
          </a:p>
          <a:p>
            <a:pPr lvl="1"/>
            <a:r>
              <a:rPr lang="en-US" dirty="0"/>
              <a:t>Note how the readings were taken, how frequently they were taken, what the numbers are showing (averages, highest, and lowest readings), what time of day readings are taken, etc.</a:t>
            </a:r>
          </a:p>
        </p:txBody>
      </p:sp>
    </p:spTree>
    <p:extLst>
      <p:ext uri="{BB962C8B-B14F-4D97-AF65-F5344CB8AC3E}">
        <p14:creationId xmlns:p14="http://schemas.microsoft.com/office/powerpoint/2010/main" val="4195020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98682-F1A2-4ADE-AED6-AEA147983B68}"/>
              </a:ext>
            </a:extLst>
          </p:cNvPr>
          <p:cNvSpPr>
            <a:spLocks noGrp="1"/>
          </p:cNvSpPr>
          <p:nvPr>
            <p:ph type="title"/>
          </p:nvPr>
        </p:nvSpPr>
        <p:spPr/>
        <p:txBody>
          <a:bodyPr/>
          <a:lstStyle/>
          <a:p>
            <a:r>
              <a:rPr lang="en-US"/>
              <a:t>Chronic Care Questions</a:t>
            </a:r>
          </a:p>
        </p:txBody>
      </p:sp>
      <p:sp>
        <p:nvSpPr>
          <p:cNvPr id="3" name="Content Placeholder 2">
            <a:extLst>
              <a:ext uri="{FF2B5EF4-FFF2-40B4-BE49-F238E27FC236}">
                <a16:creationId xmlns:a16="http://schemas.microsoft.com/office/drawing/2014/main" id="{B2B3F5A8-EEDA-4B2F-A034-E64A328B1430}"/>
              </a:ext>
            </a:extLst>
          </p:cNvPr>
          <p:cNvSpPr>
            <a:spLocks noGrp="1"/>
          </p:cNvSpPr>
          <p:nvPr>
            <p:ph idx="1"/>
          </p:nvPr>
        </p:nvSpPr>
        <p:spPr>
          <a:xfrm>
            <a:off x="838200" y="1825624"/>
            <a:ext cx="10515600" cy="4811844"/>
          </a:xfrm>
        </p:spPr>
        <p:txBody>
          <a:bodyPr>
            <a:normAutofit/>
          </a:bodyPr>
          <a:lstStyle/>
          <a:p>
            <a:r>
              <a:rPr lang="en-US" b="1" dirty="0"/>
              <a:t>Medications </a:t>
            </a:r>
            <a:r>
              <a:rPr lang="en-US" dirty="0"/>
              <a:t>(compliance and side effects):  Are they taking their medications as prescribed?  Are they having any side effects or problems with their medications?</a:t>
            </a:r>
          </a:p>
          <a:p>
            <a:r>
              <a:rPr lang="en-US" b="1" dirty="0"/>
              <a:t>Exercise</a:t>
            </a:r>
            <a:r>
              <a:rPr lang="en-US" dirty="0"/>
              <a:t>:  Are they sticking to a regular exercise regimen? What is their activity like?</a:t>
            </a:r>
          </a:p>
          <a:p>
            <a:r>
              <a:rPr lang="en-US" b="1" dirty="0"/>
              <a:t>Diet</a:t>
            </a:r>
            <a:r>
              <a:rPr lang="en-US" dirty="0"/>
              <a:t>:  Are they eating healthy, unhealthy, or following a specific diet plan? How do they feel that is affecting their chronic condition? Is there anything this patient should be watching out for in their diet with relation to their chronic condition?</a:t>
            </a:r>
          </a:p>
        </p:txBody>
      </p:sp>
    </p:spTree>
    <p:extLst>
      <p:ext uri="{BB962C8B-B14F-4D97-AF65-F5344CB8AC3E}">
        <p14:creationId xmlns:p14="http://schemas.microsoft.com/office/powerpoint/2010/main" val="3094882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7639F-B9FB-4FF6-97E4-2533157AD16C}"/>
              </a:ext>
            </a:extLst>
          </p:cNvPr>
          <p:cNvSpPr>
            <a:spLocks noGrp="1"/>
          </p:cNvSpPr>
          <p:nvPr>
            <p:ph type="title"/>
          </p:nvPr>
        </p:nvSpPr>
        <p:spPr/>
        <p:txBody>
          <a:bodyPr/>
          <a:lstStyle/>
          <a:p>
            <a:r>
              <a:rPr lang="en-US" dirty="0"/>
              <a:t>Chronic Care Questions</a:t>
            </a:r>
          </a:p>
        </p:txBody>
      </p:sp>
      <p:sp>
        <p:nvSpPr>
          <p:cNvPr id="3" name="Content Placeholder 2">
            <a:extLst>
              <a:ext uri="{FF2B5EF4-FFF2-40B4-BE49-F238E27FC236}">
                <a16:creationId xmlns:a16="http://schemas.microsoft.com/office/drawing/2014/main" id="{FC359CF3-FFB5-47C0-AD9D-4A150B574CD0}"/>
              </a:ext>
            </a:extLst>
          </p:cNvPr>
          <p:cNvSpPr>
            <a:spLocks noGrp="1"/>
          </p:cNvSpPr>
          <p:nvPr>
            <p:ph idx="1"/>
          </p:nvPr>
        </p:nvSpPr>
        <p:spPr>
          <a:xfrm>
            <a:off x="838200" y="1825625"/>
            <a:ext cx="10515600" cy="4919420"/>
          </a:xfrm>
        </p:spPr>
        <p:txBody>
          <a:bodyPr>
            <a:normAutofit lnSpcReduction="10000"/>
          </a:bodyPr>
          <a:lstStyle/>
          <a:p>
            <a:r>
              <a:rPr lang="en-US" b="1" dirty="0"/>
              <a:t>Previous related imaging or procedures</a:t>
            </a:r>
            <a:r>
              <a:rPr lang="en-US" dirty="0"/>
              <a:t>: </a:t>
            </a:r>
            <a:r>
              <a:rPr lang="en-US" b="1" dirty="0"/>
              <a:t> </a:t>
            </a:r>
            <a:r>
              <a:rPr lang="en-US" dirty="0"/>
              <a:t>Have they had any testing related to their chronic condition? Labs (cholesterol, AIC), stress test, echo, cardiac </a:t>
            </a:r>
            <a:r>
              <a:rPr lang="en-US" dirty="0" err="1"/>
              <a:t>cath</a:t>
            </a:r>
            <a:r>
              <a:rPr lang="en-US" dirty="0"/>
              <a:t>, etc.?</a:t>
            </a:r>
          </a:p>
          <a:p>
            <a:r>
              <a:rPr lang="en-US" b="1" dirty="0"/>
              <a:t>Risk factors</a:t>
            </a:r>
            <a:r>
              <a:rPr lang="en-US" dirty="0"/>
              <a:t>:  What are their risk factors that may worsen their condition or increase their likelihood of further complications from this chronic condition?</a:t>
            </a:r>
          </a:p>
          <a:p>
            <a:r>
              <a:rPr lang="en-US" b="1" dirty="0"/>
              <a:t>Associated symptoms</a:t>
            </a:r>
            <a:r>
              <a:rPr lang="en-US" dirty="0"/>
              <a:t>:  Are they having any new symptoms related to their chronic condition?</a:t>
            </a:r>
          </a:p>
          <a:p>
            <a:pPr lvl="1"/>
            <a:r>
              <a:rPr lang="en-US" dirty="0"/>
              <a:t>Specifically ask about symptoms including headaches, vision changes, chest pain/pressure, shortness of breath, difficulty sleeping, fatigue, leg swelling or pain, etc.</a:t>
            </a:r>
          </a:p>
        </p:txBody>
      </p:sp>
    </p:spTree>
    <p:extLst>
      <p:ext uri="{BB962C8B-B14F-4D97-AF65-F5344CB8AC3E}">
        <p14:creationId xmlns:p14="http://schemas.microsoft.com/office/powerpoint/2010/main" val="3039967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CE3BFC4-E8AB-42DC-A39B-81CDA7BC5C49}"/>
              </a:ext>
            </a:extLst>
          </p:cNvPr>
          <p:cNvSpPr>
            <a:spLocks noGrp="1"/>
          </p:cNvSpPr>
          <p:nvPr>
            <p:ph type="title"/>
          </p:nvPr>
        </p:nvSpPr>
        <p:spPr/>
        <p:txBody>
          <a:bodyPr/>
          <a:lstStyle/>
          <a:p>
            <a:r>
              <a:rPr lang="en-US"/>
              <a:t>History Documentation Example: Cardiovascular</a:t>
            </a:r>
          </a:p>
        </p:txBody>
      </p:sp>
      <p:sp>
        <p:nvSpPr>
          <p:cNvPr id="5" name="Content Placeholder 4">
            <a:extLst>
              <a:ext uri="{FF2B5EF4-FFF2-40B4-BE49-F238E27FC236}">
                <a16:creationId xmlns:a16="http://schemas.microsoft.com/office/drawing/2014/main" id="{38B74B2B-3961-47C1-9424-EF3B8A3127D4}"/>
              </a:ext>
            </a:extLst>
          </p:cNvPr>
          <p:cNvSpPr>
            <a:spLocks noGrp="1"/>
          </p:cNvSpPr>
          <p:nvPr>
            <p:ph idx="1"/>
          </p:nvPr>
        </p:nvSpPr>
        <p:spPr>
          <a:xfrm>
            <a:off x="838200" y="1825624"/>
            <a:ext cx="10515600" cy="4918075"/>
          </a:xfrm>
        </p:spPr>
        <p:txBody>
          <a:bodyPr>
            <a:normAutofit/>
          </a:bodyPr>
          <a:lstStyle/>
          <a:p>
            <a:r>
              <a:rPr lang="en-US" dirty="0"/>
              <a:t>Patient denies history of chest pain or pressure.  No history of palpitations.  No history of blood clots.  Denies dyspnea, PND, orthopnea, cyanosis, peripheral edema, claudication, varicosities, or ulcerations.  Denies color change in fingertips or toes during cold weather.  Denies history of murmur, rheumatic fever, hypertension, coronary artery disease, or syncope.  States last EKG and echocardiogram were in 2024 by Dr. Goodheart, cardiologist, and all results were within normal limits.</a:t>
            </a:r>
          </a:p>
        </p:txBody>
      </p:sp>
      <p:sp>
        <p:nvSpPr>
          <p:cNvPr id="8" name="Star: 5 Points 7">
            <a:extLst>
              <a:ext uri="{FF2B5EF4-FFF2-40B4-BE49-F238E27FC236}">
                <a16:creationId xmlns:a16="http://schemas.microsoft.com/office/drawing/2014/main" id="{7F63B03B-F9FD-4D61-88FF-90C965EFB405}"/>
              </a:ext>
            </a:extLst>
          </p:cNvPr>
          <p:cNvSpPr/>
          <p:nvPr/>
        </p:nvSpPr>
        <p:spPr>
          <a:xfrm>
            <a:off x="9122485" y="365125"/>
            <a:ext cx="1280160" cy="1206912"/>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4151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E10650BA-D090-4A23-98E3-B48BBAEA9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pic>
        <p:nvPicPr>
          <p:cNvPr id="1036" name="Picture 12" descr="Association between physical activity paradox and risk variables for  cardiovascular disease">
            <a:extLst>
              <a:ext uri="{FF2B5EF4-FFF2-40B4-BE49-F238E27FC236}">
                <a16:creationId xmlns:a16="http://schemas.microsoft.com/office/drawing/2014/main" id="{29AC2E7B-648A-439B-B5AD-578ED98557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624" r="17412" b="-2"/>
          <a:stretch/>
        </p:blipFill>
        <p:spPr bwMode="auto">
          <a:xfrm>
            <a:off x="-9527" y="3725"/>
            <a:ext cx="5846165" cy="6850548"/>
          </a:xfrm>
          <a:prstGeom prst="rect">
            <a:avLst/>
          </a:prstGeom>
          <a:noFill/>
          <a:extLst>
            <a:ext uri="{909E8E84-426E-40DD-AFC4-6F175D3DCCD1}">
              <a14:hiddenFill xmlns:a14="http://schemas.microsoft.com/office/drawing/2010/main">
                <a:solidFill>
                  <a:srgbClr val="FFFFFF"/>
                </a:solidFill>
              </a14:hiddenFill>
            </a:ext>
          </a:extLst>
        </p:spPr>
      </p:pic>
      <p:grpSp>
        <p:nvGrpSpPr>
          <p:cNvPr id="1043" name="Group 1042">
            <a:extLst>
              <a:ext uri="{FF2B5EF4-FFF2-40B4-BE49-F238E27FC236}">
                <a16:creationId xmlns:a16="http://schemas.microsoft.com/office/drawing/2014/main" id="{FFB939B9-73CE-4644-87BB-72AEBF0011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27" y="-6558"/>
            <a:ext cx="6254832" cy="6874766"/>
            <a:chOff x="-9149" y="3725"/>
            <a:chExt cx="6254832" cy="6887203"/>
          </a:xfrm>
        </p:grpSpPr>
        <p:sp>
          <p:nvSpPr>
            <p:cNvPr id="1044" name="Freeform: Shape 1043">
              <a:extLst>
                <a:ext uri="{FF2B5EF4-FFF2-40B4-BE49-F238E27FC236}">
                  <a16:creationId xmlns:a16="http://schemas.microsoft.com/office/drawing/2014/main" id="{15F2A0CF-7879-4629-AC2B-4069D77A3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8645"/>
              <a:ext cx="5933139" cy="6387893"/>
            </a:xfrm>
            <a:custGeom>
              <a:avLst/>
              <a:gdLst>
                <a:gd name="connsiteX0" fmla="*/ 5852909 w 5933139"/>
                <a:gd name="connsiteY0" fmla="*/ 2469528 h 6335678"/>
                <a:gd name="connsiteX1" fmla="*/ 5830799 w 5933139"/>
                <a:gd name="connsiteY1" fmla="*/ 2394015 h 6335678"/>
                <a:gd name="connsiteX2" fmla="*/ 5805878 w 5933139"/>
                <a:gd name="connsiteY2" fmla="*/ 2319439 h 6335678"/>
                <a:gd name="connsiteX3" fmla="*/ 5778708 w 5933139"/>
                <a:gd name="connsiteY3" fmla="*/ 2245800 h 6335678"/>
                <a:gd name="connsiteX4" fmla="*/ 5652978 w 5933139"/>
                <a:gd name="connsiteY4" fmla="*/ 1959675 h 6335678"/>
                <a:gd name="connsiteX5" fmla="*/ 5327691 w 5933139"/>
                <a:gd name="connsiteY5" fmla="*/ 1432958 h 6335678"/>
                <a:gd name="connsiteX6" fmla="*/ 4921458 w 5933139"/>
                <a:gd name="connsiteY6" fmla="*/ 973322 h 6335678"/>
                <a:gd name="connsiteX7" fmla="*/ 4450018 w 5933139"/>
                <a:gd name="connsiteY7" fmla="*/ 586764 h 6335678"/>
                <a:gd name="connsiteX8" fmla="*/ 4193311 w 5933139"/>
                <a:gd name="connsiteY8" fmla="*/ 423558 h 6335678"/>
                <a:gd name="connsiteX9" fmla="*/ 3924237 w 5933139"/>
                <a:gd name="connsiteY9" fmla="*/ 281901 h 6335678"/>
                <a:gd name="connsiteX10" fmla="*/ 3352175 w 5933139"/>
                <a:gd name="connsiteY10" fmla="*/ 75786 h 6335678"/>
                <a:gd name="connsiteX11" fmla="*/ 3051997 w 5933139"/>
                <a:gd name="connsiteY11" fmla="*/ 19011 h 6335678"/>
                <a:gd name="connsiteX12" fmla="*/ 2745823 w 5933139"/>
                <a:gd name="connsiteY12" fmla="*/ 86 h 6335678"/>
                <a:gd name="connsiteX13" fmla="*/ 2141720 w 5933139"/>
                <a:gd name="connsiteY13" fmla="*/ 55550 h 6335678"/>
                <a:gd name="connsiteX14" fmla="*/ 1551295 w 5933139"/>
                <a:gd name="connsiteY14" fmla="*/ 216319 h 6335678"/>
                <a:gd name="connsiteX15" fmla="*/ 1001718 w 5933139"/>
                <a:gd name="connsiteY15" fmla="*/ 498134 h 6335678"/>
                <a:gd name="connsiteX16" fmla="*/ 754755 w 5933139"/>
                <a:gd name="connsiteY16" fmla="*/ 685886 h 6335678"/>
                <a:gd name="connsiteX17" fmla="*/ 533462 w 5933139"/>
                <a:gd name="connsiteY17" fmla="*/ 903056 h 6335678"/>
                <a:gd name="connsiteX18" fmla="*/ 0 w 5933139"/>
                <a:gd name="connsiteY18" fmla="*/ 1646568 h 6335678"/>
                <a:gd name="connsiteX19" fmla="*/ 0 w 5933139"/>
                <a:gd name="connsiteY19" fmla="*/ 4709059 h 6335678"/>
                <a:gd name="connsiteX20" fmla="*/ 120671 w 5933139"/>
                <a:gd name="connsiteY20" fmla="*/ 4907491 h 6335678"/>
                <a:gd name="connsiteX21" fmla="*/ 507979 w 5933139"/>
                <a:gd name="connsiteY21" fmla="*/ 5384178 h 6335678"/>
                <a:gd name="connsiteX22" fmla="*/ 972112 w 5933139"/>
                <a:gd name="connsiteY22" fmla="*/ 5778607 h 6335678"/>
                <a:gd name="connsiteX23" fmla="*/ 1229943 w 5933139"/>
                <a:gd name="connsiteY23" fmla="*/ 5939939 h 6335678"/>
                <a:gd name="connsiteX24" fmla="*/ 1502389 w 5933139"/>
                <a:gd name="connsiteY24" fmla="*/ 6073913 h 6335678"/>
                <a:gd name="connsiteX25" fmla="*/ 2673870 w 5933139"/>
                <a:gd name="connsiteY25" fmla="*/ 6333993 h 6335678"/>
                <a:gd name="connsiteX26" fmla="*/ 2749196 w 5933139"/>
                <a:gd name="connsiteY26" fmla="*/ 6335679 h 6335678"/>
                <a:gd name="connsiteX27" fmla="*/ 2787983 w 5933139"/>
                <a:gd name="connsiteY27" fmla="*/ 6335492 h 6335678"/>
                <a:gd name="connsiteX28" fmla="*/ 2826770 w 5933139"/>
                <a:gd name="connsiteY28" fmla="*/ 6334368 h 6335678"/>
                <a:gd name="connsiteX29" fmla="*/ 2981918 w 5933139"/>
                <a:gd name="connsiteY29" fmla="*/ 6319939 h 6335678"/>
                <a:gd name="connsiteX30" fmla="*/ 3285282 w 5933139"/>
                <a:gd name="connsiteY30" fmla="*/ 6241803 h 6335678"/>
                <a:gd name="connsiteX31" fmla="*/ 3566347 w 5933139"/>
                <a:gd name="connsiteY31" fmla="*/ 6104831 h 6335678"/>
                <a:gd name="connsiteX32" fmla="*/ 3818369 w 5933139"/>
                <a:gd name="connsiteY32" fmla="*/ 5926823 h 6335678"/>
                <a:gd name="connsiteX33" fmla="*/ 4044908 w 5933139"/>
                <a:gd name="connsiteY33" fmla="*/ 5726329 h 6335678"/>
                <a:gd name="connsiteX34" fmla="*/ 4151151 w 5933139"/>
                <a:gd name="connsiteY34" fmla="*/ 5622147 h 6335678"/>
                <a:gd name="connsiteX35" fmla="*/ 4253834 w 5933139"/>
                <a:gd name="connsiteY35" fmla="*/ 5516841 h 6335678"/>
                <a:gd name="connsiteX36" fmla="*/ 4452453 w 5933139"/>
                <a:gd name="connsiteY36" fmla="*/ 5306979 h 6335678"/>
                <a:gd name="connsiteX37" fmla="*/ 4548578 w 5933139"/>
                <a:gd name="connsiteY37" fmla="*/ 5202797 h 6335678"/>
                <a:gd name="connsiteX38" fmla="*/ 4596546 w 5933139"/>
                <a:gd name="connsiteY38" fmla="*/ 5151456 h 6335678"/>
                <a:gd name="connsiteX39" fmla="*/ 4643016 w 5933139"/>
                <a:gd name="connsiteY39" fmla="*/ 5103300 h 6335678"/>
                <a:gd name="connsiteX40" fmla="*/ 4739515 w 5933139"/>
                <a:gd name="connsiteY40" fmla="*/ 5013172 h 6335678"/>
                <a:gd name="connsiteX41" fmla="*/ 4842198 w 5933139"/>
                <a:gd name="connsiteY41" fmla="*/ 4930164 h 6335678"/>
                <a:gd name="connsiteX42" fmla="*/ 5071360 w 5933139"/>
                <a:gd name="connsiteY42" fmla="*/ 4780449 h 6335678"/>
                <a:gd name="connsiteX43" fmla="*/ 5332001 w 5933139"/>
                <a:gd name="connsiteY43" fmla="*/ 4615932 h 6335678"/>
                <a:gd name="connsiteX44" fmla="*/ 5397396 w 5933139"/>
                <a:gd name="connsiteY44" fmla="*/ 4563655 h 6335678"/>
                <a:gd name="connsiteX45" fmla="*/ 5459417 w 5933139"/>
                <a:gd name="connsiteY45" fmla="*/ 4505380 h 6335678"/>
                <a:gd name="connsiteX46" fmla="*/ 5567159 w 5933139"/>
                <a:gd name="connsiteY46" fmla="*/ 4374029 h 6335678"/>
                <a:gd name="connsiteX47" fmla="*/ 5651292 w 5933139"/>
                <a:gd name="connsiteY47" fmla="*/ 4231810 h 6335678"/>
                <a:gd name="connsiteX48" fmla="*/ 5716686 w 5933139"/>
                <a:gd name="connsiteY48" fmla="*/ 4085655 h 6335678"/>
                <a:gd name="connsiteX49" fmla="*/ 5820681 w 5933139"/>
                <a:gd name="connsiteY49" fmla="*/ 3791848 h 6335678"/>
                <a:gd name="connsiteX50" fmla="*/ 5898629 w 5933139"/>
                <a:gd name="connsiteY50" fmla="*/ 3487922 h 6335678"/>
                <a:gd name="connsiteX51" fmla="*/ 5932170 w 5933139"/>
                <a:gd name="connsiteY51" fmla="*/ 3174066 h 6335678"/>
                <a:gd name="connsiteX52" fmla="*/ 5872209 w 5933139"/>
                <a:gd name="connsiteY52" fmla="*/ 2545978 h 6335678"/>
                <a:gd name="connsiteX53" fmla="*/ 5852909 w 5933139"/>
                <a:gd name="connsiteY53" fmla="*/ 2469528 h 6335678"/>
                <a:gd name="connsiteX54" fmla="*/ 5507386 w 5933139"/>
                <a:gd name="connsiteY54" fmla="*/ 3724580 h 6335678"/>
                <a:gd name="connsiteX55" fmla="*/ 5453609 w 5933139"/>
                <a:gd name="connsiteY55" fmla="*/ 3989906 h 6335678"/>
                <a:gd name="connsiteX56" fmla="*/ 5344181 w 5933139"/>
                <a:gd name="connsiteY56" fmla="*/ 4220380 h 6335678"/>
                <a:gd name="connsiteX57" fmla="*/ 5171419 w 5933139"/>
                <a:gd name="connsiteY57" fmla="*/ 4388644 h 6335678"/>
                <a:gd name="connsiteX58" fmla="*/ 5057868 w 5933139"/>
                <a:gd name="connsiteY58" fmla="*/ 4453851 h 6335678"/>
                <a:gd name="connsiteX59" fmla="*/ 4930265 w 5933139"/>
                <a:gd name="connsiteY59" fmla="*/ 4516810 h 6335678"/>
                <a:gd name="connsiteX60" fmla="*/ 4660067 w 5933139"/>
                <a:gd name="connsiteY60" fmla="*/ 4664276 h 6335678"/>
                <a:gd name="connsiteX61" fmla="*/ 4408794 w 5933139"/>
                <a:gd name="connsiteY61" fmla="*/ 4857836 h 6335678"/>
                <a:gd name="connsiteX62" fmla="*/ 4352207 w 5933139"/>
                <a:gd name="connsiteY62" fmla="*/ 4911988 h 6335678"/>
                <a:gd name="connsiteX63" fmla="*/ 4299366 w 5933139"/>
                <a:gd name="connsiteY63" fmla="*/ 4965390 h 6335678"/>
                <a:gd name="connsiteX64" fmla="*/ 4197621 w 5933139"/>
                <a:gd name="connsiteY64" fmla="*/ 5074257 h 6335678"/>
                <a:gd name="connsiteX65" fmla="*/ 4008744 w 5933139"/>
                <a:gd name="connsiteY65" fmla="*/ 5297985 h 6335678"/>
                <a:gd name="connsiteX66" fmla="*/ 3917304 w 5933139"/>
                <a:gd name="connsiteY66" fmla="*/ 5409100 h 6335678"/>
                <a:gd name="connsiteX67" fmla="*/ 3826052 w 5933139"/>
                <a:gd name="connsiteY67" fmla="*/ 5518153 h 6335678"/>
                <a:gd name="connsiteX68" fmla="*/ 3637925 w 5933139"/>
                <a:gd name="connsiteY68" fmla="*/ 5725017 h 6335678"/>
                <a:gd name="connsiteX69" fmla="*/ 3433497 w 5933139"/>
                <a:gd name="connsiteY69" fmla="*/ 5906586 h 6335678"/>
                <a:gd name="connsiteX70" fmla="*/ 3204522 w 5933139"/>
                <a:gd name="connsiteY70" fmla="*/ 6046744 h 6335678"/>
                <a:gd name="connsiteX71" fmla="*/ 2950439 w 5933139"/>
                <a:gd name="connsiteY71" fmla="*/ 6129190 h 6335678"/>
                <a:gd name="connsiteX72" fmla="*/ 2816839 w 5933139"/>
                <a:gd name="connsiteY72" fmla="*/ 6146428 h 6335678"/>
                <a:gd name="connsiteX73" fmla="*/ 2749009 w 5933139"/>
                <a:gd name="connsiteY73" fmla="*/ 6149051 h 6335678"/>
                <a:gd name="connsiteX74" fmla="*/ 2678930 w 5933139"/>
                <a:gd name="connsiteY74" fmla="*/ 6148677 h 6335678"/>
                <a:gd name="connsiteX75" fmla="*/ 2125793 w 5933139"/>
                <a:gd name="connsiteY75" fmla="*/ 6065481 h 6335678"/>
                <a:gd name="connsiteX76" fmla="*/ 1610506 w 5933139"/>
                <a:gd name="connsiteY76" fmla="*/ 5851310 h 6335678"/>
                <a:gd name="connsiteX77" fmla="*/ 1373099 w 5933139"/>
                <a:gd name="connsiteY77" fmla="*/ 5706279 h 6335678"/>
                <a:gd name="connsiteX78" fmla="*/ 1315949 w 5933139"/>
                <a:gd name="connsiteY78" fmla="*/ 5666743 h 6335678"/>
                <a:gd name="connsiteX79" fmla="*/ 1259923 w 5933139"/>
                <a:gd name="connsiteY79" fmla="*/ 5625894 h 6335678"/>
                <a:gd name="connsiteX80" fmla="*/ 1204647 w 5933139"/>
                <a:gd name="connsiteY80" fmla="*/ 5583922 h 6335678"/>
                <a:gd name="connsiteX81" fmla="*/ 1150308 w 5933139"/>
                <a:gd name="connsiteY81" fmla="*/ 5540826 h 6335678"/>
                <a:gd name="connsiteX82" fmla="*/ 751569 w 5933139"/>
                <a:gd name="connsiteY82" fmla="*/ 5158015 h 6335678"/>
                <a:gd name="connsiteX83" fmla="*/ 663315 w 5933139"/>
                <a:gd name="connsiteY83" fmla="*/ 5052146 h 6335678"/>
                <a:gd name="connsiteX84" fmla="*/ 580869 w 5933139"/>
                <a:gd name="connsiteY84" fmla="*/ 4942718 h 6335678"/>
                <a:gd name="connsiteX85" fmla="*/ 432279 w 5933139"/>
                <a:gd name="connsiteY85" fmla="*/ 4713369 h 6335678"/>
                <a:gd name="connsiteX86" fmla="*/ 205553 w 5933139"/>
                <a:gd name="connsiteY86" fmla="*/ 4219443 h 6335678"/>
                <a:gd name="connsiteX87" fmla="*/ 79448 w 5933139"/>
                <a:gd name="connsiteY87" fmla="*/ 3693850 h 6335678"/>
                <a:gd name="connsiteX88" fmla="*/ 53590 w 5933139"/>
                <a:gd name="connsiteY88" fmla="*/ 3425339 h 6335678"/>
                <a:gd name="connsiteX89" fmla="*/ 49655 w 5933139"/>
                <a:gd name="connsiteY89" fmla="*/ 3155890 h 6335678"/>
                <a:gd name="connsiteX90" fmla="*/ 67830 w 5933139"/>
                <a:gd name="connsiteY90" fmla="*/ 2886817 h 6335678"/>
                <a:gd name="connsiteX91" fmla="*/ 108679 w 5933139"/>
                <a:gd name="connsiteY91" fmla="*/ 2619992 h 6335678"/>
                <a:gd name="connsiteX92" fmla="*/ 263077 w 5933139"/>
                <a:gd name="connsiteY92" fmla="*/ 2101520 h 6335678"/>
                <a:gd name="connsiteX93" fmla="*/ 837575 w 5933139"/>
                <a:gd name="connsiteY93" fmla="*/ 1186370 h 6335678"/>
                <a:gd name="connsiteX94" fmla="*/ 1031698 w 5933139"/>
                <a:gd name="connsiteY94" fmla="*/ 996932 h 6335678"/>
                <a:gd name="connsiteX95" fmla="*/ 1236688 w 5933139"/>
                <a:gd name="connsiteY95" fmla="*/ 819298 h 6335678"/>
                <a:gd name="connsiteX96" fmla="*/ 1687143 w 5933139"/>
                <a:gd name="connsiteY96" fmla="*/ 511438 h 6335678"/>
                <a:gd name="connsiteX97" fmla="*/ 2196246 w 5933139"/>
                <a:gd name="connsiteY97" fmla="*/ 300639 h 6335678"/>
                <a:gd name="connsiteX98" fmla="*/ 2745823 w 5933139"/>
                <a:gd name="connsiteY98" fmla="*/ 229248 h 6335678"/>
                <a:gd name="connsiteX99" fmla="*/ 3019206 w 5933139"/>
                <a:gd name="connsiteY99" fmla="*/ 252108 h 6335678"/>
                <a:gd name="connsiteX100" fmla="*/ 3288092 w 5933139"/>
                <a:gd name="connsiteY100" fmla="*/ 313006 h 6335678"/>
                <a:gd name="connsiteX101" fmla="*/ 3548172 w 5933139"/>
                <a:gd name="connsiteY101" fmla="*/ 407069 h 6335678"/>
                <a:gd name="connsiteX102" fmla="*/ 3611505 w 5933139"/>
                <a:gd name="connsiteY102" fmla="*/ 435176 h 6335678"/>
                <a:gd name="connsiteX103" fmla="*/ 3674089 w 5933139"/>
                <a:gd name="connsiteY103" fmla="*/ 464968 h 6335678"/>
                <a:gd name="connsiteX104" fmla="*/ 3735736 w 5933139"/>
                <a:gd name="connsiteY104" fmla="*/ 496823 h 6335678"/>
                <a:gd name="connsiteX105" fmla="*/ 3796634 w 5933139"/>
                <a:gd name="connsiteY105" fmla="*/ 530176 h 6335678"/>
                <a:gd name="connsiteX106" fmla="*/ 4251585 w 5933139"/>
                <a:gd name="connsiteY106" fmla="*/ 847405 h 6335678"/>
                <a:gd name="connsiteX107" fmla="*/ 4644515 w 5933139"/>
                <a:gd name="connsiteY107" fmla="*/ 1236775 h 6335678"/>
                <a:gd name="connsiteX108" fmla="*/ 4816527 w 5933139"/>
                <a:gd name="connsiteY108" fmla="*/ 1451883 h 6335678"/>
                <a:gd name="connsiteX109" fmla="*/ 4970738 w 5933139"/>
                <a:gd name="connsiteY109" fmla="*/ 1678610 h 6335678"/>
                <a:gd name="connsiteX110" fmla="*/ 5223885 w 5933139"/>
                <a:gd name="connsiteY110" fmla="*/ 2159232 h 6335678"/>
                <a:gd name="connsiteX111" fmla="*/ 5395709 w 5933139"/>
                <a:gd name="connsiteY111" fmla="*/ 2666087 h 6335678"/>
                <a:gd name="connsiteX112" fmla="*/ 5458855 w 5933139"/>
                <a:gd name="connsiteY112" fmla="*/ 2924292 h 6335678"/>
                <a:gd name="connsiteX113" fmla="*/ 5499142 w 5933139"/>
                <a:gd name="connsiteY113" fmla="*/ 3186995 h 6335678"/>
                <a:gd name="connsiteX114" fmla="*/ 5516755 w 5933139"/>
                <a:gd name="connsiteY114" fmla="*/ 3454007 h 6335678"/>
                <a:gd name="connsiteX115" fmla="*/ 5507386 w 5933139"/>
                <a:gd name="connsiteY115" fmla="*/ 3724580 h 633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933139" h="6335678">
                  <a:moveTo>
                    <a:pt x="5852909" y="2469528"/>
                  </a:moveTo>
                  <a:lnTo>
                    <a:pt x="5830799" y="2394015"/>
                  </a:lnTo>
                  <a:lnTo>
                    <a:pt x="5805878" y="2319439"/>
                  </a:lnTo>
                  <a:cubicBezTo>
                    <a:pt x="5797446" y="2294705"/>
                    <a:pt x="5787890" y="2270346"/>
                    <a:pt x="5778708" y="2245800"/>
                  </a:cubicBezTo>
                  <a:cubicBezTo>
                    <a:pt x="5740858" y="2148364"/>
                    <a:pt x="5699073" y="2052614"/>
                    <a:pt x="5652978" y="1959675"/>
                  </a:cubicBezTo>
                  <a:cubicBezTo>
                    <a:pt x="5559664" y="1773985"/>
                    <a:pt x="5450986" y="1597663"/>
                    <a:pt x="5327691" y="1432958"/>
                  </a:cubicBezTo>
                  <a:cubicBezTo>
                    <a:pt x="5204960" y="1268067"/>
                    <a:pt x="5068362" y="1114980"/>
                    <a:pt x="4921458" y="973322"/>
                  </a:cubicBezTo>
                  <a:cubicBezTo>
                    <a:pt x="4774742" y="831665"/>
                    <a:pt x="4616408" y="703125"/>
                    <a:pt x="4450018" y="586764"/>
                  </a:cubicBezTo>
                  <a:cubicBezTo>
                    <a:pt x="4366822" y="528489"/>
                    <a:pt x="4281003" y="474337"/>
                    <a:pt x="4193311" y="423558"/>
                  </a:cubicBezTo>
                  <a:cubicBezTo>
                    <a:pt x="4105806" y="372404"/>
                    <a:pt x="4015865" y="325560"/>
                    <a:pt x="3924237" y="281901"/>
                  </a:cubicBezTo>
                  <a:cubicBezTo>
                    <a:pt x="3740983" y="195333"/>
                    <a:pt x="3549483" y="125067"/>
                    <a:pt x="3352175" y="75786"/>
                  </a:cubicBezTo>
                  <a:cubicBezTo>
                    <a:pt x="3253428" y="51240"/>
                    <a:pt x="3153368" y="31565"/>
                    <a:pt x="3051997" y="19011"/>
                  </a:cubicBezTo>
                  <a:cubicBezTo>
                    <a:pt x="2950814" y="5895"/>
                    <a:pt x="2848506" y="-851"/>
                    <a:pt x="2745823" y="86"/>
                  </a:cubicBezTo>
                  <a:cubicBezTo>
                    <a:pt x="2543643" y="1585"/>
                    <a:pt x="2341838" y="20135"/>
                    <a:pt x="2141720" y="55550"/>
                  </a:cubicBezTo>
                  <a:cubicBezTo>
                    <a:pt x="1941976" y="91339"/>
                    <a:pt x="1743356" y="143055"/>
                    <a:pt x="1551295" y="216319"/>
                  </a:cubicBezTo>
                  <a:cubicBezTo>
                    <a:pt x="1359233" y="289396"/>
                    <a:pt x="1173917" y="383459"/>
                    <a:pt x="1001718" y="498134"/>
                  </a:cubicBezTo>
                  <a:cubicBezTo>
                    <a:pt x="915712" y="555659"/>
                    <a:pt x="832141" y="617119"/>
                    <a:pt x="754755" y="685886"/>
                  </a:cubicBezTo>
                  <a:cubicBezTo>
                    <a:pt x="677555" y="754841"/>
                    <a:pt x="604666" y="828293"/>
                    <a:pt x="533462" y="903056"/>
                  </a:cubicBezTo>
                  <a:cubicBezTo>
                    <a:pt x="323413" y="1125660"/>
                    <a:pt x="143906" y="1376370"/>
                    <a:pt x="0" y="1646568"/>
                  </a:cubicBezTo>
                  <a:lnTo>
                    <a:pt x="0" y="4709059"/>
                  </a:lnTo>
                  <a:cubicBezTo>
                    <a:pt x="37850" y="4776702"/>
                    <a:pt x="78136" y="4843033"/>
                    <a:pt x="120671" y="4907491"/>
                  </a:cubicBezTo>
                  <a:cubicBezTo>
                    <a:pt x="234034" y="5078941"/>
                    <a:pt x="365198" y="5239336"/>
                    <a:pt x="507979" y="5384178"/>
                  </a:cubicBezTo>
                  <a:cubicBezTo>
                    <a:pt x="650948" y="5529395"/>
                    <a:pt x="805909" y="5662059"/>
                    <a:pt x="972112" y="5778607"/>
                  </a:cubicBezTo>
                  <a:cubicBezTo>
                    <a:pt x="1055308" y="5836881"/>
                    <a:pt x="1141314" y="5890846"/>
                    <a:pt x="1229943" y="5939939"/>
                  </a:cubicBezTo>
                  <a:cubicBezTo>
                    <a:pt x="1318385" y="5989406"/>
                    <a:pt x="1409450" y="6033815"/>
                    <a:pt x="1502389" y="6073913"/>
                  </a:cubicBezTo>
                  <a:cubicBezTo>
                    <a:pt x="1874145" y="6233559"/>
                    <a:pt x="2272884" y="6320689"/>
                    <a:pt x="2673870" y="6333993"/>
                  </a:cubicBezTo>
                  <a:lnTo>
                    <a:pt x="2749196" y="6335679"/>
                  </a:lnTo>
                  <a:lnTo>
                    <a:pt x="2787983" y="6335492"/>
                  </a:lnTo>
                  <a:lnTo>
                    <a:pt x="2826770" y="6334368"/>
                  </a:lnTo>
                  <a:cubicBezTo>
                    <a:pt x="2878486" y="6332494"/>
                    <a:pt x="2930390" y="6327247"/>
                    <a:pt x="2981918" y="6319939"/>
                  </a:cubicBezTo>
                  <a:cubicBezTo>
                    <a:pt x="3085163" y="6304949"/>
                    <a:pt x="3187096" y="6278529"/>
                    <a:pt x="3285282" y="6241803"/>
                  </a:cubicBezTo>
                  <a:cubicBezTo>
                    <a:pt x="3383467" y="6205265"/>
                    <a:pt x="3477530" y="6158608"/>
                    <a:pt x="3566347" y="6104831"/>
                  </a:cubicBezTo>
                  <a:cubicBezTo>
                    <a:pt x="3655164" y="6051053"/>
                    <a:pt x="3739109" y="5990905"/>
                    <a:pt x="3818369" y="5926823"/>
                  </a:cubicBezTo>
                  <a:cubicBezTo>
                    <a:pt x="3897630" y="5862739"/>
                    <a:pt x="3973143" y="5795471"/>
                    <a:pt x="4044908" y="5726329"/>
                  </a:cubicBezTo>
                  <a:cubicBezTo>
                    <a:pt x="4080884" y="5691852"/>
                    <a:pt x="4116299" y="5656999"/>
                    <a:pt x="4151151" y="5622147"/>
                  </a:cubicBezTo>
                  <a:cubicBezTo>
                    <a:pt x="4185816" y="5586920"/>
                    <a:pt x="4220106" y="5552068"/>
                    <a:pt x="4253834" y="5516841"/>
                  </a:cubicBezTo>
                  <a:cubicBezTo>
                    <a:pt x="4321289" y="5446388"/>
                    <a:pt x="4387808" y="5376871"/>
                    <a:pt x="4452453" y="5306979"/>
                  </a:cubicBezTo>
                  <a:lnTo>
                    <a:pt x="4548578" y="5202797"/>
                  </a:lnTo>
                  <a:lnTo>
                    <a:pt x="4596546" y="5151456"/>
                  </a:lnTo>
                  <a:cubicBezTo>
                    <a:pt x="4612661" y="5134592"/>
                    <a:pt x="4627276" y="5119040"/>
                    <a:pt x="4643016" y="5103300"/>
                  </a:cubicBezTo>
                  <a:cubicBezTo>
                    <a:pt x="4674308" y="5072196"/>
                    <a:pt x="4706162" y="5041841"/>
                    <a:pt x="4739515" y="5013172"/>
                  </a:cubicBezTo>
                  <a:cubicBezTo>
                    <a:pt x="4772493" y="4984128"/>
                    <a:pt x="4806596" y="4956397"/>
                    <a:pt x="4842198" y="4930164"/>
                  </a:cubicBezTo>
                  <a:cubicBezTo>
                    <a:pt x="4913026" y="4876949"/>
                    <a:pt x="4988914" y="4828980"/>
                    <a:pt x="5071360" y="4780449"/>
                  </a:cubicBezTo>
                  <a:cubicBezTo>
                    <a:pt x="5153243" y="4731544"/>
                    <a:pt x="5243372" y="4682076"/>
                    <a:pt x="5332001" y="4615932"/>
                  </a:cubicBezTo>
                  <a:cubicBezTo>
                    <a:pt x="5354111" y="4599443"/>
                    <a:pt x="5376035" y="4582205"/>
                    <a:pt x="5397396" y="4563655"/>
                  </a:cubicBezTo>
                  <a:cubicBezTo>
                    <a:pt x="5418757" y="4545104"/>
                    <a:pt x="5439368" y="4525617"/>
                    <a:pt x="5459417" y="4505380"/>
                  </a:cubicBezTo>
                  <a:cubicBezTo>
                    <a:pt x="5499329" y="4464719"/>
                    <a:pt x="5535493" y="4420311"/>
                    <a:pt x="5567159" y="4374029"/>
                  </a:cubicBezTo>
                  <a:cubicBezTo>
                    <a:pt x="5599388" y="4328121"/>
                    <a:pt x="5626558" y="4279965"/>
                    <a:pt x="5651292" y="4231810"/>
                  </a:cubicBezTo>
                  <a:cubicBezTo>
                    <a:pt x="5675651" y="4183466"/>
                    <a:pt x="5697012" y="4134561"/>
                    <a:pt x="5716686" y="4085655"/>
                  </a:cubicBezTo>
                  <a:cubicBezTo>
                    <a:pt x="5756223" y="3987845"/>
                    <a:pt x="5789576" y="3891158"/>
                    <a:pt x="5820681" y="3791848"/>
                  </a:cubicBezTo>
                  <a:cubicBezTo>
                    <a:pt x="5851972" y="3692726"/>
                    <a:pt x="5878955" y="3591167"/>
                    <a:pt x="5898629" y="3487922"/>
                  </a:cubicBezTo>
                  <a:cubicBezTo>
                    <a:pt x="5918116" y="3384490"/>
                    <a:pt x="5929172" y="3279372"/>
                    <a:pt x="5932170" y="3174066"/>
                  </a:cubicBezTo>
                  <a:cubicBezTo>
                    <a:pt x="5937604" y="2963454"/>
                    <a:pt x="5920552" y="2750968"/>
                    <a:pt x="5872209" y="2545978"/>
                  </a:cubicBezTo>
                  <a:cubicBezTo>
                    <a:pt x="5865838" y="2520307"/>
                    <a:pt x="5860029" y="2494637"/>
                    <a:pt x="5852909" y="2469528"/>
                  </a:cubicBezTo>
                  <a:close/>
                  <a:moveTo>
                    <a:pt x="5507386" y="3724580"/>
                  </a:moveTo>
                  <a:cubicBezTo>
                    <a:pt x="5497830" y="3814521"/>
                    <a:pt x="5480591" y="3905586"/>
                    <a:pt x="5453609" y="3989906"/>
                  </a:cubicBezTo>
                  <a:cubicBezTo>
                    <a:pt x="5426439" y="4074413"/>
                    <a:pt x="5390088" y="4152924"/>
                    <a:pt x="5344181" y="4220380"/>
                  </a:cubicBezTo>
                  <a:cubicBezTo>
                    <a:pt x="5297898" y="4287835"/>
                    <a:pt x="5241311" y="4342549"/>
                    <a:pt x="5171419" y="4388644"/>
                  </a:cubicBezTo>
                  <a:cubicBezTo>
                    <a:pt x="5136755" y="4411879"/>
                    <a:pt x="5098342" y="4433052"/>
                    <a:pt x="5057868" y="4453851"/>
                  </a:cubicBezTo>
                  <a:cubicBezTo>
                    <a:pt x="5017395" y="4474837"/>
                    <a:pt x="4974298" y="4495449"/>
                    <a:pt x="4930265" y="4516810"/>
                  </a:cubicBezTo>
                  <a:cubicBezTo>
                    <a:pt x="4841823" y="4559719"/>
                    <a:pt x="4748696" y="4607126"/>
                    <a:pt x="4660067" y="4664276"/>
                  </a:cubicBezTo>
                  <a:cubicBezTo>
                    <a:pt x="4571251" y="4721238"/>
                    <a:pt x="4486181" y="4786071"/>
                    <a:pt x="4408794" y="4857836"/>
                  </a:cubicBezTo>
                  <a:cubicBezTo>
                    <a:pt x="4389682" y="4875637"/>
                    <a:pt x="4370008" y="4894375"/>
                    <a:pt x="4352207" y="4911988"/>
                  </a:cubicBezTo>
                  <a:lnTo>
                    <a:pt x="4299366" y="4965390"/>
                  </a:lnTo>
                  <a:cubicBezTo>
                    <a:pt x="4264514" y="5001179"/>
                    <a:pt x="4230599" y="5037531"/>
                    <a:pt x="4197621" y="5074257"/>
                  </a:cubicBezTo>
                  <a:cubicBezTo>
                    <a:pt x="4131664" y="5147896"/>
                    <a:pt x="4070204" y="5223784"/>
                    <a:pt x="4008744" y="5297985"/>
                  </a:cubicBezTo>
                  <a:lnTo>
                    <a:pt x="3917304" y="5409100"/>
                  </a:lnTo>
                  <a:cubicBezTo>
                    <a:pt x="3886949" y="5446013"/>
                    <a:pt x="3856782" y="5482364"/>
                    <a:pt x="3826052" y="5518153"/>
                  </a:cubicBezTo>
                  <a:cubicBezTo>
                    <a:pt x="3764592" y="5589544"/>
                    <a:pt x="3702758" y="5659435"/>
                    <a:pt x="3637925" y="5725017"/>
                  </a:cubicBezTo>
                  <a:cubicBezTo>
                    <a:pt x="3573093" y="5790412"/>
                    <a:pt x="3505637" y="5852059"/>
                    <a:pt x="3433497" y="5906586"/>
                  </a:cubicBezTo>
                  <a:cubicBezTo>
                    <a:pt x="3361544" y="5961112"/>
                    <a:pt x="3285469" y="6009268"/>
                    <a:pt x="3204522" y="6046744"/>
                  </a:cubicBezTo>
                  <a:cubicBezTo>
                    <a:pt x="3123763" y="6084594"/>
                    <a:pt x="3038506" y="6112513"/>
                    <a:pt x="2950439" y="6129190"/>
                  </a:cubicBezTo>
                  <a:cubicBezTo>
                    <a:pt x="2906405" y="6137809"/>
                    <a:pt x="2861810" y="6143055"/>
                    <a:pt x="2816839" y="6146428"/>
                  </a:cubicBezTo>
                  <a:cubicBezTo>
                    <a:pt x="2794354" y="6147927"/>
                    <a:pt x="2771681" y="6148677"/>
                    <a:pt x="2749009" y="6149051"/>
                  </a:cubicBezTo>
                  <a:lnTo>
                    <a:pt x="2678930" y="6148677"/>
                  </a:lnTo>
                  <a:cubicBezTo>
                    <a:pt x="2491927" y="6144367"/>
                    <a:pt x="2305675" y="6116260"/>
                    <a:pt x="2125793" y="6065481"/>
                  </a:cubicBezTo>
                  <a:cubicBezTo>
                    <a:pt x="1945911" y="6014515"/>
                    <a:pt x="1773524" y="5940501"/>
                    <a:pt x="1610506" y="5851310"/>
                  </a:cubicBezTo>
                  <a:cubicBezTo>
                    <a:pt x="1528997" y="5806714"/>
                    <a:pt x="1449924" y="5757808"/>
                    <a:pt x="1373099" y="5706279"/>
                  </a:cubicBezTo>
                  <a:lnTo>
                    <a:pt x="1315949" y="5666743"/>
                  </a:lnTo>
                  <a:lnTo>
                    <a:pt x="1259923" y="5625894"/>
                  </a:lnTo>
                  <a:lnTo>
                    <a:pt x="1204647" y="5583922"/>
                  </a:lnTo>
                  <a:cubicBezTo>
                    <a:pt x="1186284" y="5569869"/>
                    <a:pt x="1168483" y="5555066"/>
                    <a:pt x="1150308" y="5540826"/>
                  </a:cubicBezTo>
                  <a:cubicBezTo>
                    <a:pt x="1006402" y="5424839"/>
                    <a:pt x="872615" y="5296860"/>
                    <a:pt x="751569" y="5158015"/>
                  </a:cubicBezTo>
                  <a:cubicBezTo>
                    <a:pt x="721214" y="5123350"/>
                    <a:pt x="691983" y="5087935"/>
                    <a:pt x="663315" y="5052146"/>
                  </a:cubicBezTo>
                  <a:cubicBezTo>
                    <a:pt x="635021" y="5016170"/>
                    <a:pt x="607289" y="4980006"/>
                    <a:pt x="580869" y="4942718"/>
                  </a:cubicBezTo>
                  <a:cubicBezTo>
                    <a:pt x="527654" y="4868517"/>
                    <a:pt x="478186" y="4791880"/>
                    <a:pt x="432279" y="4713369"/>
                  </a:cubicBezTo>
                  <a:cubicBezTo>
                    <a:pt x="340651" y="4556159"/>
                    <a:pt x="264764" y="4390330"/>
                    <a:pt x="205553" y="4219443"/>
                  </a:cubicBezTo>
                  <a:cubicBezTo>
                    <a:pt x="146154" y="4048555"/>
                    <a:pt x="104369" y="3872045"/>
                    <a:pt x="79448" y="3693850"/>
                  </a:cubicBezTo>
                  <a:cubicBezTo>
                    <a:pt x="67268" y="3604659"/>
                    <a:pt x="58087" y="3515092"/>
                    <a:pt x="53590" y="3425339"/>
                  </a:cubicBezTo>
                  <a:cubicBezTo>
                    <a:pt x="47969" y="3335585"/>
                    <a:pt x="47406" y="3245644"/>
                    <a:pt x="49655" y="3155890"/>
                  </a:cubicBezTo>
                  <a:cubicBezTo>
                    <a:pt x="52278" y="3066137"/>
                    <a:pt x="58274" y="2976383"/>
                    <a:pt x="67830" y="2886817"/>
                  </a:cubicBezTo>
                  <a:cubicBezTo>
                    <a:pt x="77761" y="2797438"/>
                    <a:pt x="91253" y="2708246"/>
                    <a:pt x="108679" y="2619992"/>
                  </a:cubicBezTo>
                  <a:cubicBezTo>
                    <a:pt x="143906" y="2443108"/>
                    <a:pt x="195809" y="2269409"/>
                    <a:pt x="263077" y="2101520"/>
                  </a:cubicBezTo>
                  <a:cubicBezTo>
                    <a:pt x="397614" y="1765740"/>
                    <a:pt x="593048" y="1453382"/>
                    <a:pt x="837575" y="1186370"/>
                  </a:cubicBezTo>
                  <a:cubicBezTo>
                    <a:pt x="898473" y="1119289"/>
                    <a:pt x="964242" y="1056893"/>
                    <a:pt x="1031698" y="996932"/>
                  </a:cubicBezTo>
                  <a:cubicBezTo>
                    <a:pt x="1099154" y="936784"/>
                    <a:pt x="1166235" y="876261"/>
                    <a:pt x="1236688" y="819298"/>
                  </a:cubicBezTo>
                  <a:cubicBezTo>
                    <a:pt x="1377221" y="704999"/>
                    <a:pt x="1526935" y="600442"/>
                    <a:pt x="1687143" y="511438"/>
                  </a:cubicBezTo>
                  <a:cubicBezTo>
                    <a:pt x="1847163" y="422621"/>
                    <a:pt x="2017676" y="348795"/>
                    <a:pt x="2196246" y="300639"/>
                  </a:cubicBezTo>
                  <a:cubicBezTo>
                    <a:pt x="2374629" y="251921"/>
                    <a:pt x="2560320" y="227749"/>
                    <a:pt x="2745823" y="229248"/>
                  </a:cubicBezTo>
                  <a:cubicBezTo>
                    <a:pt x="2837076" y="230372"/>
                    <a:pt x="2928516" y="238055"/>
                    <a:pt x="3019206" y="252108"/>
                  </a:cubicBezTo>
                  <a:cubicBezTo>
                    <a:pt x="3109710" y="266724"/>
                    <a:pt x="3199650" y="286773"/>
                    <a:pt x="3288092" y="313006"/>
                  </a:cubicBezTo>
                  <a:cubicBezTo>
                    <a:pt x="3376347" y="339426"/>
                    <a:pt x="3463477" y="370343"/>
                    <a:pt x="3548172" y="407069"/>
                  </a:cubicBezTo>
                  <a:cubicBezTo>
                    <a:pt x="3569345" y="416438"/>
                    <a:pt x="3590519" y="425432"/>
                    <a:pt x="3611505" y="435176"/>
                  </a:cubicBezTo>
                  <a:lnTo>
                    <a:pt x="3674089" y="464968"/>
                  </a:lnTo>
                  <a:lnTo>
                    <a:pt x="3735736" y="496823"/>
                  </a:lnTo>
                  <a:cubicBezTo>
                    <a:pt x="3756160" y="507690"/>
                    <a:pt x="3776397" y="519120"/>
                    <a:pt x="3796634" y="530176"/>
                  </a:cubicBezTo>
                  <a:cubicBezTo>
                    <a:pt x="3957965" y="621054"/>
                    <a:pt x="4110303" y="728046"/>
                    <a:pt x="4251585" y="847405"/>
                  </a:cubicBezTo>
                  <a:cubicBezTo>
                    <a:pt x="4393242" y="966390"/>
                    <a:pt x="4524781" y="1096991"/>
                    <a:pt x="4644515" y="1236775"/>
                  </a:cubicBezTo>
                  <a:cubicBezTo>
                    <a:pt x="4704663" y="1306479"/>
                    <a:pt x="4762375" y="1378057"/>
                    <a:pt x="4816527" y="1451883"/>
                  </a:cubicBezTo>
                  <a:cubicBezTo>
                    <a:pt x="4870679" y="1525897"/>
                    <a:pt x="4922020" y="1601598"/>
                    <a:pt x="4970738" y="1678610"/>
                  </a:cubicBezTo>
                  <a:cubicBezTo>
                    <a:pt x="5067799" y="1833008"/>
                    <a:pt x="5152494" y="1993965"/>
                    <a:pt x="5223885" y="2159232"/>
                  </a:cubicBezTo>
                  <a:cubicBezTo>
                    <a:pt x="5295275" y="2324686"/>
                    <a:pt x="5349615" y="2495199"/>
                    <a:pt x="5395709" y="2666087"/>
                  </a:cubicBezTo>
                  <a:cubicBezTo>
                    <a:pt x="5418757" y="2751718"/>
                    <a:pt x="5440680" y="2837537"/>
                    <a:pt x="5458855" y="2924292"/>
                  </a:cubicBezTo>
                  <a:cubicBezTo>
                    <a:pt x="5477406" y="3011048"/>
                    <a:pt x="5490522" y="3098740"/>
                    <a:pt x="5499142" y="3186995"/>
                  </a:cubicBezTo>
                  <a:cubicBezTo>
                    <a:pt x="5507761" y="3275250"/>
                    <a:pt x="5513944" y="3364254"/>
                    <a:pt x="5516755" y="3454007"/>
                  </a:cubicBezTo>
                  <a:cubicBezTo>
                    <a:pt x="5518629" y="3543761"/>
                    <a:pt x="5516755" y="3634264"/>
                    <a:pt x="5507386" y="3724580"/>
                  </a:cubicBezTo>
                  <a:close/>
                </a:path>
              </a:pathLst>
            </a:custGeom>
            <a:solidFill>
              <a:schemeClr val="bg1">
                <a:alpha val="30000"/>
              </a:schemeClr>
            </a:solidFill>
            <a:ln w="1873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sp>
          <p:nvSpPr>
            <p:cNvPr id="1045" name="Freeform: Shape 1044">
              <a:extLst>
                <a:ext uri="{FF2B5EF4-FFF2-40B4-BE49-F238E27FC236}">
                  <a16:creationId xmlns:a16="http://schemas.microsoft.com/office/drawing/2014/main" id="{C7E50BFD-51AC-4ACE-820C-A285E6672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41478"/>
              <a:ext cx="5953893" cy="6434152"/>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317011 w 5953893"/>
                <a:gd name="connsiteY8" fmla="*/ 3797009 h 6434152"/>
                <a:gd name="connsiteX9" fmla="*/ 5176478 w 5953893"/>
                <a:gd name="connsiteY9" fmla="*/ 4100747 h 6434152"/>
                <a:gd name="connsiteX10" fmla="*/ 4942257 w 5953893"/>
                <a:gd name="connsiteY10" fmla="*/ 4250274 h 6434152"/>
                <a:gd name="connsiteX11" fmla="*/ 4216171 w 5953893"/>
                <a:gd name="connsiteY11" fmla="*/ 4773243 h 6434152"/>
                <a:gd name="connsiteX12" fmla="*/ 3905125 w 5953893"/>
                <a:gd name="connsiteY12" fmla="*/ 5105837 h 6434152"/>
                <a:gd name="connsiteX13" fmla="*/ 3308329 w 5953893"/>
                <a:gd name="connsiteY13" fmla="*/ 5682022 h 6434152"/>
                <a:gd name="connsiteX14" fmla="*/ 2739452 w 5953893"/>
                <a:gd name="connsiteY14" fmla="*/ 5870898 h 6434152"/>
                <a:gd name="connsiteX15" fmla="*/ 1647419 w 5953893"/>
                <a:gd name="connsiteY15" fmla="*/ 5625809 h 6434152"/>
                <a:gd name="connsiteX16" fmla="*/ 781175 w 5953893"/>
                <a:gd name="connsiteY16" fmla="*/ 4960620 h 6434152"/>
                <a:gd name="connsiteX17" fmla="*/ 312545 w 5953893"/>
                <a:gd name="connsiteY17" fmla="*/ 4165205 h 6434152"/>
                <a:gd name="connsiteX18" fmla="*/ 142032 w 5953893"/>
                <a:gd name="connsiteY18" fmla="*/ 3217451 h 6434152"/>
                <a:gd name="connsiteX19" fmla="*/ 347210 w 5953893"/>
                <a:gd name="connsiteY19" fmla="*/ 2181444 h 6434152"/>
                <a:gd name="connsiteX20" fmla="*/ 906155 w 5953893"/>
                <a:gd name="connsiteY20" fmla="*/ 1337497 h 6434152"/>
                <a:gd name="connsiteX21" fmla="*/ 2739265 w 5953893"/>
                <a:gd name="connsiteY21" fmla="*/ 563818 h 6434152"/>
                <a:gd name="connsiteX22" fmla="*/ 3849849 w 5953893"/>
                <a:gd name="connsiteY22" fmla="*/ 881796 h 6434152"/>
                <a:gd name="connsiteX23" fmla="*/ 4834515 w 5953893"/>
                <a:gd name="connsiteY23" fmla="*/ 1742419 h 6434152"/>
                <a:gd name="connsiteX24" fmla="*/ 5325256 w 5953893"/>
                <a:gd name="connsiteY24" fmla="*/ 2742076 h 6434152"/>
                <a:gd name="connsiteX25" fmla="*/ 5317011 w 5953893"/>
                <a:gd name="connsiteY25" fmla="*/ 3797009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317011" y="3797009"/>
                  </a:moveTo>
                  <a:cubicBezTo>
                    <a:pt x="5275976" y="3943538"/>
                    <a:pt x="5228756" y="4045658"/>
                    <a:pt x="5176478" y="4100747"/>
                  </a:cubicBezTo>
                  <a:cubicBezTo>
                    <a:pt x="5131883" y="4147591"/>
                    <a:pt x="5061991" y="4186004"/>
                    <a:pt x="4942257" y="4250274"/>
                  </a:cubicBezTo>
                  <a:cubicBezTo>
                    <a:pt x="4753381" y="4351458"/>
                    <a:pt x="4494613" y="4489929"/>
                    <a:pt x="4216171" y="4773243"/>
                  </a:cubicBezTo>
                  <a:cubicBezTo>
                    <a:pt x="4106555" y="4884733"/>
                    <a:pt x="4004247" y="4997159"/>
                    <a:pt x="3905125" y="5105837"/>
                  </a:cubicBezTo>
                  <a:cubicBezTo>
                    <a:pt x="3701071" y="5329753"/>
                    <a:pt x="3508260" y="5541302"/>
                    <a:pt x="3308329" y="5682022"/>
                  </a:cubicBezTo>
                  <a:cubicBezTo>
                    <a:pt x="3122826" y="5812624"/>
                    <a:pt x="2947441" y="5870898"/>
                    <a:pt x="2739452" y="5870898"/>
                  </a:cubicBezTo>
                  <a:cubicBezTo>
                    <a:pt x="2357765" y="5870898"/>
                    <a:pt x="1990319" y="5788452"/>
                    <a:pt x="1647419" y="5625809"/>
                  </a:cubicBezTo>
                  <a:cubicBezTo>
                    <a:pt x="1319509" y="5470286"/>
                    <a:pt x="1019893" y="5240187"/>
                    <a:pt x="781175" y="4960620"/>
                  </a:cubicBezTo>
                  <a:cubicBezTo>
                    <a:pt x="579370" y="4724151"/>
                    <a:pt x="421598" y="4456576"/>
                    <a:pt x="312545" y="4165205"/>
                  </a:cubicBezTo>
                  <a:cubicBezTo>
                    <a:pt x="199369" y="3863153"/>
                    <a:pt x="142032" y="3544237"/>
                    <a:pt x="142032" y="3217451"/>
                  </a:cubicBezTo>
                  <a:cubicBezTo>
                    <a:pt x="142032" y="2857688"/>
                    <a:pt x="211174" y="2509166"/>
                    <a:pt x="347210" y="2181444"/>
                  </a:cubicBezTo>
                  <a:cubicBezTo>
                    <a:pt x="478561" y="1865339"/>
                    <a:pt x="666688" y="1581275"/>
                    <a:pt x="906155" y="1337497"/>
                  </a:cubicBezTo>
                  <a:cubicBezTo>
                    <a:pt x="1396334" y="838512"/>
                    <a:pt x="2047469" y="563818"/>
                    <a:pt x="2739265" y="563818"/>
                  </a:cubicBezTo>
                  <a:cubicBezTo>
                    <a:pt x="3094157" y="563818"/>
                    <a:pt x="3478280" y="673808"/>
                    <a:pt x="3849849" y="881796"/>
                  </a:cubicBezTo>
                  <a:cubicBezTo>
                    <a:pt x="4226851" y="1092783"/>
                    <a:pt x="4567316" y="1390338"/>
                    <a:pt x="4834515" y="1742419"/>
                  </a:cubicBezTo>
                  <a:cubicBezTo>
                    <a:pt x="5070798" y="2053653"/>
                    <a:pt x="5240374" y="2399363"/>
                    <a:pt x="5325256" y="2742076"/>
                  </a:cubicBezTo>
                  <a:cubicBezTo>
                    <a:pt x="5414634" y="3102964"/>
                    <a:pt x="5411824" y="3458044"/>
                    <a:pt x="5317011" y="3797009"/>
                  </a:cubicBezTo>
                  <a:close/>
                </a:path>
              </a:pathLst>
            </a:custGeom>
            <a:solidFill>
              <a:schemeClr val="bg1">
                <a:alpha val="30000"/>
              </a:schemeClr>
            </a:solidFill>
            <a:ln w="1873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sp>
          <p:nvSpPr>
            <p:cNvPr id="1046" name="Freeform: Shape 1045">
              <a:extLst>
                <a:ext uri="{FF2B5EF4-FFF2-40B4-BE49-F238E27FC236}">
                  <a16:creationId xmlns:a16="http://schemas.microsoft.com/office/drawing/2014/main" id="{A0394888-C50F-41C1-92D4-0E2B4315A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1462"/>
              <a:ext cx="5953893" cy="6444167"/>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208520 w 5953893"/>
                <a:gd name="connsiteY8" fmla="*/ 3766654 h 6434152"/>
                <a:gd name="connsiteX9" fmla="*/ 5094782 w 5953893"/>
                <a:gd name="connsiteY9" fmla="*/ 4022985 h 6434152"/>
                <a:gd name="connsiteX10" fmla="*/ 4888855 w 5953893"/>
                <a:gd name="connsiteY10" fmla="*/ 4150777 h 6434152"/>
                <a:gd name="connsiteX11" fmla="*/ 4135411 w 5953893"/>
                <a:gd name="connsiteY11" fmla="*/ 4694170 h 6434152"/>
                <a:gd name="connsiteX12" fmla="*/ 3821555 w 5953893"/>
                <a:gd name="connsiteY12" fmla="*/ 5029762 h 6434152"/>
                <a:gd name="connsiteX13" fmla="*/ 2739265 w 5953893"/>
                <a:gd name="connsiteY13" fmla="*/ 5758097 h 6434152"/>
                <a:gd name="connsiteX14" fmla="*/ 1695575 w 5953893"/>
                <a:gd name="connsiteY14" fmla="*/ 5523876 h 6434152"/>
                <a:gd name="connsiteX15" fmla="*/ 866619 w 5953893"/>
                <a:gd name="connsiteY15" fmla="*/ 4887356 h 6434152"/>
                <a:gd name="connsiteX16" fmla="*/ 417851 w 5953893"/>
                <a:gd name="connsiteY16" fmla="*/ 4125481 h 6434152"/>
                <a:gd name="connsiteX17" fmla="*/ 254645 w 5953893"/>
                <a:gd name="connsiteY17" fmla="*/ 3217264 h 6434152"/>
                <a:gd name="connsiteX18" fmla="*/ 451204 w 5953893"/>
                <a:gd name="connsiteY18" fmla="*/ 2224540 h 6434152"/>
                <a:gd name="connsiteX19" fmla="*/ 986540 w 5953893"/>
                <a:gd name="connsiteY19" fmla="*/ 1416383 h 6434152"/>
                <a:gd name="connsiteX20" fmla="*/ 2739452 w 5953893"/>
                <a:gd name="connsiteY20" fmla="*/ 676244 h 6434152"/>
                <a:gd name="connsiteX21" fmla="*/ 3794947 w 5953893"/>
                <a:gd name="connsiteY21" fmla="*/ 979795 h 6434152"/>
                <a:gd name="connsiteX22" fmla="*/ 4744762 w 5953893"/>
                <a:gd name="connsiteY22" fmla="*/ 1810250 h 6434152"/>
                <a:gd name="connsiteX23" fmla="*/ 5215827 w 5953893"/>
                <a:gd name="connsiteY23" fmla="*/ 2768871 h 6434152"/>
                <a:gd name="connsiteX24" fmla="*/ 5208520 w 5953893"/>
                <a:gd name="connsiteY24" fmla="*/ 3766654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208520" y="3766654"/>
                  </a:moveTo>
                  <a:cubicBezTo>
                    <a:pt x="5173667" y="3891634"/>
                    <a:pt x="5133194" y="3982699"/>
                    <a:pt x="5094782" y="4022985"/>
                  </a:cubicBezTo>
                  <a:cubicBezTo>
                    <a:pt x="5060492" y="4058962"/>
                    <a:pt x="4984792" y="4099435"/>
                    <a:pt x="4888855" y="4150777"/>
                  </a:cubicBezTo>
                  <a:cubicBezTo>
                    <a:pt x="4693420" y="4255333"/>
                    <a:pt x="4426033" y="4398489"/>
                    <a:pt x="4135411" y="4694170"/>
                  </a:cubicBezTo>
                  <a:cubicBezTo>
                    <a:pt x="4024297" y="4807158"/>
                    <a:pt x="3921239" y="4920334"/>
                    <a:pt x="3821555" y="5029762"/>
                  </a:cubicBezTo>
                  <a:cubicBezTo>
                    <a:pt x="3385341" y="5508324"/>
                    <a:pt x="3138940" y="5758097"/>
                    <a:pt x="2739265" y="5758097"/>
                  </a:cubicBezTo>
                  <a:cubicBezTo>
                    <a:pt x="2374442" y="5758097"/>
                    <a:pt x="2023297" y="5679211"/>
                    <a:pt x="1695575" y="5523876"/>
                  </a:cubicBezTo>
                  <a:cubicBezTo>
                    <a:pt x="1381906" y="5375098"/>
                    <a:pt x="1095219" y="5154930"/>
                    <a:pt x="866619" y="4887356"/>
                  </a:cubicBezTo>
                  <a:cubicBezTo>
                    <a:pt x="673246" y="4661005"/>
                    <a:pt x="522220" y="4404673"/>
                    <a:pt x="417851" y="4125481"/>
                  </a:cubicBezTo>
                  <a:cubicBezTo>
                    <a:pt x="309547" y="3836171"/>
                    <a:pt x="254645" y="3530558"/>
                    <a:pt x="254645" y="3217264"/>
                  </a:cubicBezTo>
                  <a:cubicBezTo>
                    <a:pt x="254645" y="2872490"/>
                    <a:pt x="320790" y="2538585"/>
                    <a:pt x="451204" y="2224540"/>
                  </a:cubicBezTo>
                  <a:cubicBezTo>
                    <a:pt x="577121" y="1921739"/>
                    <a:pt x="757191" y="1649855"/>
                    <a:pt x="986540" y="1416383"/>
                  </a:cubicBezTo>
                  <a:cubicBezTo>
                    <a:pt x="1455357" y="939134"/>
                    <a:pt x="2078011" y="676244"/>
                    <a:pt x="2739452" y="676244"/>
                  </a:cubicBezTo>
                  <a:cubicBezTo>
                    <a:pt x="3075232" y="676244"/>
                    <a:pt x="3440243" y="781175"/>
                    <a:pt x="3794947" y="979795"/>
                  </a:cubicBezTo>
                  <a:cubicBezTo>
                    <a:pt x="4158459" y="1183286"/>
                    <a:pt x="4486931" y="1470348"/>
                    <a:pt x="4744762" y="1810250"/>
                  </a:cubicBezTo>
                  <a:cubicBezTo>
                    <a:pt x="4971862" y="2109491"/>
                    <a:pt x="5134693" y="2440961"/>
                    <a:pt x="5215827" y="2768871"/>
                  </a:cubicBezTo>
                  <a:cubicBezTo>
                    <a:pt x="5300334" y="3110834"/>
                    <a:pt x="5297898" y="3446614"/>
                    <a:pt x="5208520" y="3766654"/>
                  </a:cubicBezTo>
                  <a:close/>
                </a:path>
              </a:pathLst>
            </a:custGeom>
            <a:solidFill>
              <a:schemeClr val="bg1">
                <a:alpha val="30000"/>
              </a:schemeClr>
            </a:solidFill>
            <a:ln w="1873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sp useBgFill="1">
          <p:nvSpPr>
            <p:cNvPr id="1047" name="Freeform: Shape 1046">
              <a:extLst>
                <a:ext uri="{FF2B5EF4-FFF2-40B4-BE49-F238E27FC236}">
                  <a16:creationId xmlns:a16="http://schemas.microsoft.com/office/drawing/2014/main" id="{F22C906F-48B7-4ABF-B36E-0C0A056A5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3725"/>
              <a:ext cx="5855313" cy="6880645"/>
            </a:xfrm>
            <a:custGeom>
              <a:avLst/>
              <a:gdLst>
                <a:gd name="connsiteX0" fmla="*/ 5855313 w 5855313"/>
                <a:gd name="connsiteY0" fmla="*/ 4717843 h 6880645"/>
                <a:gd name="connsiteX1" fmla="*/ 5855313 w 5855313"/>
                <a:gd name="connsiteY1" fmla="*/ 6880645 h 6880645"/>
                <a:gd name="connsiteX2" fmla="*/ 0 w 5855313"/>
                <a:gd name="connsiteY2" fmla="*/ 6880645 h 6880645"/>
                <a:gd name="connsiteX3" fmla="*/ 0 w 5855313"/>
                <a:gd name="connsiteY3" fmla="*/ 5268859 h 6880645"/>
                <a:gd name="connsiteX4" fmla="*/ 36130 w 5855313"/>
                <a:gd name="connsiteY4" fmla="*/ 5327430 h 6880645"/>
                <a:gd name="connsiteX5" fmla="*/ 2782721 w 5855313"/>
                <a:gd name="connsiteY5" fmla="*/ 6765687 h 6880645"/>
                <a:gd name="connsiteX6" fmla="*/ 5834702 w 5855313"/>
                <a:gd name="connsiteY6" fmla="*/ 4773305 h 6880645"/>
                <a:gd name="connsiteX7" fmla="*/ 9148 w 5855313"/>
                <a:gd name="connsiteY7" fmla="*/ 0 h 6880645"/>
                <a:gd name="connsiteX8" fmla="*/ 5855312 w 5855313"/>
                <a:gd name="connsiteY8" fmla="*/ 0 h 6880645"/>
                <a:gd name="connsiteX9" fmla="*/ 5855312 w 5855313"/>
                <a:gd name="connsiteY9" fmla="*/ 96759 h 6880645"/>
                <a:gd name="connsiteX10" fmla="*/ 5855313 w 5855313"/>
                <a:gd name="connsiteY10" fmla="*/ 96759 h 6880645"/>
                <a:gd name="connsiteX11" fmla="*/ 5855313 w 5855313"/>
                <a:gd name="connsiteY11" fmla="*/ 2289203 h 6880645"/>
                <a:gd name="connsiteX12" fmla="*/ 5834702 w 5855313"/>
                <a:gd name="connsiteY12" fmla="*/ 2233742 h 6880645"/>
                <a:gd name="connsiteX13" fmla="*/ 2782721 w 5855313"/>
                <a:gd name="connsiteY13" fmla="*/ 241359 h 6880645"/>
                <a:gd name="connsiteX14" fmla="*/ 36130 w 5855313"/>
                <a:gd name="connsiteY14" fmla="*/ 1679616 h 6880645"/>
                <a:gd name="connsiteX15" fmla="*/ 0 w 5855313"/>
                <a:gd name="connsiteY15" fmla="*/ 1738187 h 6880645"/>
                <a:gd name="connsiteX16" fmla="*/ 0 w 5855313"/>
                <a:gd name="connsiteY16" fmla="*/ 96759 h 6880645"/>
                <a:gd name="connsiteX17" fmla="*/ 9148 w 5855313"/>
                <a:gd name="connsiteY17" fmla="*/ 96759 h 688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55313" h="6880645">
                  <a:moveTo>
                    <a:pt x="5855313" y="4717843"/>
                  </a:moveTo>
                  <a:lnTo>
                    <a:pt x="5855313" y="6880645"/>
                  </a:lnTo>
                  <a:lnTo>
                    <a:pt x="0" y="6880645"/>
                  </a:lnTo>
                  <a:lnTo>
                    <a:pt x="0" y="5268859"/>
                  </a:lnTo>
                  <a:lnTo>
                    <a:pt x="36130" y="5327430"/>
                  </a:lnTo>
                  <a:cubicBezTo>
                    <a:pt x="631370" y="6195172"/>
                    <a:pt x="1639396" y="6765687"/>
                    <a:pt x="2782721" y="6765687"/>
                  </a:cubicBezTo>
                  <a:cubicBezTo>
                    <a:pt x="4154711" y="6765687"/>
                    <a:pt x="5331871" y="5944145"/>
                    <a:pt x="5834702" y="4773305"/>
                  </a:cubicBezTo>
                  <a:close/>
                  <a:moveTo>
                    <a:pt x="9148" y="0"/>
                  </a:moveTo>
                  <a:lnTo>
                    <a:pt x="5855312" y="0"/>
                  </a:lnTo>
                  <a:lnTo>
                    <a:pt x="5855312" y="96759"/>
                  </a:lnTo>
                  <a:lnTo>
                    <a:pt x="5855313" y="96759"/>
                  </a:lnTo>
                  <a:lnTo>
                    <a:pt x="5855313" y="2289203"/>
                  </a:lnTo>
                  <a:lnTo>
                    <a:pt x="5834702" y="2233742"/>
                  </a:lnTo>
                  <a:cubicBezTo>
                    <a:pt x="5331871" y="1062902"/>
                    <a:pt x="4154711" y="241359"/>
                    <a:pt x="2782721" y="241359"/>
                  </a:cubicBezTo>
                  <a:cubicBezTo>
                    <a:pt x="1639396" y="241359"/>
                    <a:pt x="631370" y="811875"/>
                    <a:pt x="36130" y="1679616"/>
                  </a:cubicBezTo>
                  <a:lnTo>
                    <a:pt x="0" y="1738187"/>
                  </a:lnTo>
                  <a:lnTo>
                    <a:pt x="0" y="96759"/>
                  </a:lnTo>
                  <a:lnTo>
                    <a:pt x="9148" y="9675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sp useBgFill="1">
          <p:nvSpPr>
            <p:cNvPr id="1048" name="Freeform: Shape 1047">
              <a:extLst>
                <a:ext uri="{FF2B5EF4-FFF2-40B4-BE49-F238E27FC236}">
                  <a16:creationId xmlns:a16="http://schemas.microsoft.com/office/drawing/2014/main" id="{B4ABE2AA-A788-450F-94A8-AED4B698F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6370"/>
              <a:ext cx="6254832" cy="6864558"/>
            </a:xfrm>
            <a:custGeom>
              <a:avLst/>
              <a:gdLst>
                <a:gd name="connsiteX0" fmla="*/ 2766060 w 6254832"/>
                <a:gd name="connsiteY0" fmla="*/ 0 h 6864558"/>
                <a:gd name="connsiteX1" fmla="*/ 0 w 6254832"/>
                <a:gd name="connsiteY1" fmla="*/ 1340683 h 6864558"/>
                <a:gd name="connsiteX2" fmla="*/ 0 w 6254832"/>
                <a:gd name="connsiteY2" fmla="*/ 2201306 h 6864558"/>
                <a:gd name="connsiteX3" fmla="*/ 1312 w 6254832"/>
                <a:gd name="connsiteY3" fmla="*/ 2197746 h 6864558"/>
                <a:gd name="connsiteX4" fmla="*/ 612723 w 6254832"/>
                <a:gd name="connsiteY4" fmla="*/ 1201649 h 6864558"/>
                <a:gd name="connsiteX5" fmla="*/ 1571344 w 6254832"/>
                <a:gd name="connsiteY5" fmla="*/ 483245 h 6864558"/>
                <a:gd name="connsiteX6" fmla="*/ 1641235 w 6254832"/>
                <a:gd name="connsiteY6" fmla="*/ 452328 h 6864558"/>
                <a:gd name="connsiteX7" fmla="*/ 1711502 w 6254832"/>
                <a:gd name="connsiteY7" fmla="*/ 422348 h 6864558"/>
                <a:gd name="connsiteX8" fmla="*/ 1783080 w 6254832"/>
                <a:gd name="connsiteY8" fmla="*/ 395178 h 6864558"/>
                <a:gd name="connsiteX9" fmla="*/ 1855220 w 6254832"/>
                <a:gd name="connsiteY9" fmla="*/ 369133 h 6864558"/>
                <a:gd name="connsiteX10" fmla="*/ 1928297 w 6254832"/>
                <a:gd name="connsiteY10" fmla="*/ 345711 h 6864558"/>
                <a:gd name="connsiteX11" fmla="*/ 2001749 w 6254832"/>
                <a:gd name="connsiteY11" fmla="*/ 323600 h 6864558"/>
                <a:gd name="connsiteX12" fmla="*/ 2076138 w 6254832"/>
                <a:gd name="connsiteY12" fmla="*/ 304300 h 6864558"/>
                <a:gd name="connsiteX13" fmla="*/ 2113426 w 6254832"/>
                <a:gd name="connsiteY13" fmla="*/ 294744 h 6864558"/>
                <a:gd name="connsiteX14" fmla="*/ 2132163 w 6254832"/>
                <a:gd name="connsiteY14" fmla="*/ 290060 h 6864558"/>
                <a:gd name="connsiteX15" fmla="*/ 2151089 w 6254832"/>
                <a:gd name="connsiteY15" fmla="*/ 286312 h 6864558"/>
                <a:gd name="connsiteX16" fmla="*/ 2763249 w 6254832"/>
                <a:gd name="connsiteY16" fmla="*/ 218482 h 6864558"/>
                <a:gd name="connsiteX17" fmla="*/ 3372225 w 6254832"/>
                <a:gd name="connsiteY17" fmla="*/ 301302 h 6864558"/>
                <a:gd name="connsiteX18" fmla="*/ 3663596 w 6254832"/>
                <a:gd name="connsiteY18" fmla="*/ 398364 h 6864558"/>
                <a:gd name="connsiteX19" fmla="*/ 3941663 w 6254832"/>
                <a:gd name="connsiteY19" fmla="*/ 526717 h 6864558"/>
                <a:gd name="connsiteX20" fmla="*/ 4204366 w 6254832"/>
                <a:gd name="connsiteY20" fmla="*/ 681678 h 6864558"/>
                <a:gd name="connsiteX21" fmla="*/ 4450018 w 6254832"/>
                <a:gd name="connsiteY21" fmla="*/ 860061 h 6864558"/>
                <a:gd name="connsiteX22" fmla="*/ 4678992 w 6254832"/>
                <a:gd name="connsiteY22" fmla="*/ 1057181 h 6864558"/>
                <a:gd name="connsiteX23" fmla="*/ 4889791 w 6254832"/>
                <a:gd name="connsiteY23" fmla="*/ 1271166 h 6864558"/>
                <a:gd name="connsiteX24" fmla="*/ 5083164 w 6254832"/>
                <a:gd name="connsiteY24" fmla="*/ 1498642 h 6864558"/>
                <a:gd name="connsiteX25" fmla="*/ 5257987 w 6254832"/>
                <a:gd name="connsiteY25" fmla="*/ 1738484 h 6864558"/>
                <a:gd name="connsiteX26" fmla="*/ 5413510 w 6254832"/>
                <a:gd name="connsiteY26" fmla="*/ 1989195 h 6864558"/>
                <a:gd name="connsiteX27" fmla="*/ 5548609 w 6254832"/>
                <a:gd name="connsiteY27" fmla="*/ 2249462 h 6864558"/>
                <a:gd name="connsiteX28" fmla="*/ 5747791 w 6254832"/>
                <a:gd name="connsiteY28" fmla="*/ 2795666 h 6864558"/>
                <a:gd name="connsiteX29" fmla="*/ 5806814 w 6254832"/>
                <a:gd name="connsiteY29" fmla="*/ 3078980 h 6864558"/>
                <a:gd name="connsiteX30" fmla="*/ 5816933 w 6254832"/>
                <a:gd name="connsiteY30" fmla="*/ 3150558 h 6864558"/>
                <a:gd name="connsiteX31" fmla="*/ 5825178 w 6254832"/>
                <a:gd name="connsiteY31" fmla="*/ 3222323 h 6864558"/>
                <a:gd name="connsiteX32" fmla="*/ 5831923 w 6254832"/>
                <a:gd name="connsiteY32" fmla="*/ 3294276 h 6864558"/>
                <a:gd name="connsiteX33" fmla="*/ 5836233 w 6254832"/>
                <a:gd name="connsiteY33" fmla="*/ 3366416 h 6864558"/>
                <a:gd name="connsiteX34" fmla="*/ 5833047 w 6254832"/>
                <a:gd name="connsiteY34" fmla="*/ 3655726 h 6864558"/>
                <a:gd name="connsiteX35" fmla="*/ 5827426 w 6254832"/>
                <a:gd name="connsiteY35" fmla="*/ 3728054 h 6864558"/>
                <a:gd name="connsiteX36" fmla="*/ 5819556 w 6254832"/>
                <a:gd name="connsiteY36" fmla="*/ 3800194 h 6864558"/>
                <a:gd name="connsiteX37" fmla="*/ 5809063 w 6254832"/>
                <a:gd name="connsiteY37" fmla="*/ 3872147 h 6864558"/>
                <a:gd name="connsiteX38" fmla="*/ 5796696 w 6254832"/>
                <a:gd name="connsiteY38" fmla="*/ 3943912 h 6864558"/>
                <a:gd name="connsiteX39" fmla="*/ 5725305 w 6254832"/>
                <a:gd name="connsiteY39" fmla="*/ 4225165 h 6864558"/>
                <a:gd name="connsiteX40" fmla="*/ 5605384 w 6254832"/>
                <a:gd name="connsiteY40" fmla="*/ 4478312 h 6864558"/>
                <a:gd name="connsiteX41" fmla="*/ 5412573 w 6254832"/>
                <a:gd name="connsiteY41" fmla="*/ 4677306 h 6864558"/>
                <a:gd name="connsiteX42" fmla="*/ 5155867 w 6254832"/>
                <a:gd name="connsiteY42" fmla="*/ 4834703 h 6864558"/>
                <a:gd name="connsiteX43" fmla="*/ 4645452 w 6254832"/>
                <a:gd name="connsiteY43" fmla="*/ 5207396 h 6864558"/>
                <a:gd name="connsiteX44" fmla="*/ 4536211 w 6254832"/>
                <a:gd name="connsiteY44" fmla="*/ 5319072 h 6864558"/>
                <a:gd name="connsiteX45" fmla="*/ 4430343 w 6254832"/>
                <a:gd name="connsiteY45" fmla="*/ 5432061 h 6864558"/>
                <a:gd name="connsiteX46" fmla="*/ 4220668 w 6254832"/>
                <a:gd name="connsiteY46" fmla="*/ 5657663 h 6864558"/>
                <a:gd name="connsiteX47" fmla="*/ 4115174 w 6254832"/>
                <a:gd name="connsiteY47" fmla="*/ 5768777 h 6864558"/>
                <a:gd name="connsiteX48" fmla="*/ 4007245 w 6254832"/>
                <a:gd name="connsiteY48" fmla="*/ 5876707 h 6864558"/>
                <a:gd name="connsiteX49" fmla="*/ 3781081 w 6254832"/>
                <a:gd name="connsiteY49" fmla="*/ 6078887 h 6864558"/>
                <a:gd name="connsiteX50" fmla="*/ 3534493 w 6254832"/>
                <a:gd name="connsiteY50" fmla="*/ 6249775 h 6864558"/>
                <a:gd name="connsiteX51" fmla="*/ 3265232 w 6254832"/>
                <a:gd name="connsiteY51" fmla="*/ 6373068 h 6864558"/>
                <a:gd name="connsiteX52" fmla="*/ 3194779 w 6254832"/>
                <a:gd name="connsiteY52" fmla="*/ 6394804 h 6864558"/>
                <a:gd name="connsiteX53" fmla="*/ 3123575 w 6254832"/>
                <a:gd name="connsiteY53" fmla="*/ 6412792 h 6864558"/>
                <a:gd name="connsiteX54" fmla="*/ 3051435 w 6254832"/>
                <a:gd name="connsiteY54" fmla="*/ 6426471 h 6864558"/>
                <a:gd name="connsiteX55" fmla="*/ 2978733 w 6254832"/>
                <a:gd name="connsiteY55" fmla="*/ 6436214 h 6864558"/>
                <a:gd name="connsiteX56" fmla="*/ 2905656 w 6254832"/>
                <a:gd name="connsiteY56" fmla="*/ 6442211 h 6864558"/>
                <a:gd name="connsiteX57" fmla="*/ 2832204 w 6254832"/>
                <a:gd name="connsiteY57" fmla="*/ 6444459 h 6864558"/>
                <a:gd name="connsiteX58" fmla="*/ 2758565 w 6254832"/>
                <a:gd name="connsiteY58" fmla="*/ 6443335 h 6864558"/>
                <a:gd name="connsiteX59" fmla="*/ 2683239 w 6254832"/>
                <a:gd name="connsiteY59" fmla="*/ 6438463 h 6864558"/>
                <a:gd name="connsiteX60" fmla="*/ 2091503 w 6254832"/>
                <a:gd name="connsiteY60" fmla="*/ 6343275 h 6864558"/>
                <a:gd name="connsiteX61" fmla="*/ 1948347 w 6254832"/>
                <a:gd name="connsiteY61" fmla="*/ 6301490 h 6864558"/>
                <a:gd name="connsiteX62" fmla="*/ 1807626 w 6254832"/>
                <a:gd name="connsiteY62" fmla="*/ 6252585 h 6864558"/>
                <a:gd name="connsiteX63" fmla="*/ 1738297 w 6254832"/>
                <a:gd name="connsiteY63" fmla="*/ 6225790 h 6864558"/>
                <a:gd name="connsiteX64" fmla="*/ 1669529 w 6254832"/>
                <a:gd name="connsiteY64" fmla="*/ 6197684 h 6864558"/>
                <a:gd name="connsiteX65" fmla="*/ 1635239 w 6254832"/>
                <a:gd name="connsiteY65" fmla="*/ 6183630 h 6864558"/>
                <a:gd name="connsiteX66" fmla="*/ 1601699 w 6254832"/>
                <a:gd name="connsiteY66" fmla="*/ 6167891 h 6864558"/>
                <a:gd name="connsiteX67" fmla="*/ 1534618 w 6254832"/>
                <a:gd name="connsiteY67" fmla="*/ 6136411 h 6864558"/>
                <a:gd name="connsiteX68" fmla="*/ 592299 w 6254832"/>
                <a:gd name="connsiteY68" fmla="*/ 5443116 h 6864558"/>
                <a:gd name="connsiteX69" fmla="*/ 0 w 6254832"/>
                <a:gd name="connsiteY69" fmla="*/ 4496675 h 6864558"/>
                <a:gd name="connsiteX70" fmla="*/ 0 w 6254832"/>
                <a:gd name="connsiteY70" fmla="*/ 5523875 h 6864558"/>
                <a:gd name="connsiteX71" fmla="*/ 2766060 w 6254832"/>
                <a:gd name="connsiteY71" fmla="*/ 6864559 h 6864558"/>
                <a:gd name="connsiteX72" fmla="*/ 6254833 w 6254832"/>
                <a:gd name="connsiteY72" fmla="*/ 3432373 h 6864558"/>
                <a:gd name="connsiteX73" fmla="*/ 2766060 w 6254832"/>
                <a:gd name="connsiteY73" fmla="*/ 0 h 686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254832" h="6864558">
                  <a:moveTo>
                    <a:pt x="2766060" y="0"/>
                  </a:moveTo>
                  <a:cubicBezTo>
                    <a:pt x="1639549" y="0"/>
                    <a:pt x="637831" y="525405"/>
                    <a:pt x="0" y="1340683"/>
                  </a:cubicBezTo>
                  <a:lnTo>
                    <a:pt x="0" y="2201306"/>
                  </a:lnTo>
                  <a:cubicBezTo>
                    <a:pt x="375" y="2200181"/>
                    <a:pt x="937" y="2198870"/>
                    <a:pt x="1312" y="2197746"/>
                  </a:cubicBezTo>
                  <a:cubicBezTo>
                    <a:pt x="142969" y="1837045"/>
                    <a:pt x="347959" y="1497143"/>
                    <a:pt x="612723" y="1201649"/>
                  </a:cubicBezTo>
                  <a:cubicBezTo>
                    <a:pt x="876550" y="906155"/>
                    <a:pt x="1201836" y="655258"/>
                    <a:pt x="1571344" y="483245"/>
                  </a:cubicBezTo>
                  <a:lnTo>
                    <a:pt x="1641235" y="452328"/>
                  </a:lnTo>
                  <a:cubicBezTo>
                    <a:pt x="1664658" y="442210"/>
                    <a:pt x="1687518" y="430967"/>
                    <a:pt x="1711502" y="422348"/>
                  </a:cubicBezTo>
                  <a:lnTo>
                    <a:pt x="1783080" y="395178"/>
                  </a:lnTo>
                  <a:cubicBezTo>
                    <a:pt x="1807064" y="386372"/>
                    <a:pt x="1830674" y="376441"/>
                    <a:pt x="1855220" y="369133"/>
                  </a:cubicBezTo>
                  <a:lnTo>
                    <a:pt x="1928297" y="345711"/>
                  </a:lnTo>
                  <a:cubicBezTo>
                    <a:pt x="1952656" y="338028"/>
                    <a:pt x="1976828" y="329409"/>
                    <a:pt x="2001749" y="323600"/>
                  </a:cubicBezTo>
                  <a:lnTo>
                    <a:pt x="2076138" y="304300"/>
                  </a:lnTo>
                  <a:lnTo>
                    <a:pt x="2113426" y="294744"/>
                  </a:lnTo>
                  <a:lnTo>
                    <a:pt x="2132163" y="290060"/>
                  </a:lnTo>
                  <a:lnTo>
                    <a:pt x="2151089" y="286312"/>
                  </a:lnTo>
                  <a:cubicBezTo>
                    <a:pt x="2351395" y="241716"/>
                    <a:pt x="2557322" y="219044"/>
                    <a:pt x="2763249" y="218482"/>
                  </a:cubicBezTo>
                  <a:cubicBezTo>
                    <a:pt x="2968802" y="218294"/>
                    <a:pt x="3174167" y="247900"/>
                    <a:pt x="3372225" y="301302"/>
                  </a:cubicBezTo>
                  <a:cubicBezTo>
                    <a:pt x="3471347" y="327910"/>
                    <a:pt x="3568596" y="360513"/>
                    <a:pt x="3663596" y="398364"/>
                  </a:cubicBezTo>
                  <a:cubicBezTo>
                    <a:pt x="3758784" y="435652"/>
                    <a:pt x="3851348" y="479311"/>
                    <a:pt x="3941663" y="526717"/>
                  </a:cubicBezTo>
                  <a:cubicBezTo>
                    <a:pt x="4031979" y="573936"/>
                    <a:pt x="4119297" y="626402"/>
                    <a:pt x="4204366" y="681678"/>
                  </a:cubicBezTo>
                  <a:cubicBezTo>
                    <a:pt x="4289060" y="737516"/>
                    <a:pt x="4370944" y="797289"/>
                    <a:pt x="4450018" y="860061"/>
                  </a:cubicBezTo>
                  <a:cubicBezTo>
                    <a:pt x="4529091" y="922832"/>
                    <a:pt x="4605540" y="988601"/>
                    <a:pt x="4678992" y="1057181"/>
                  </a:cubicBezTo>
                  <a:cubicBezTo>
                    <a:pt x="4752444" y="1125574"/>
                    <a:pt x="4822335" y="1197527"/>
                    <a:pt x="4889791" y="1271166"/>
                  </a:cubicBezTo>
                  <a:cubicBezTo>
                    <a:pt x="4957247" y="1344805"/>
                    <a:pt x="5021705" y="1420693"/>
                    <a:pt x="5083164" y="1498642"/>
                  </a:cubicBezTo>
                  <a:cubicBezTo>
                    <a:pt x="5144062" y="1576965"/>
                    <a:pt x="5202899" y="1656601"/>
                    <a:pt x="5257987" y="1738484"/>
                  </a:cubicBezTo>
                  <a:cubicBezTo>
                    <a:pt x="5313076" y="1820368"/>
                    <a:pt x="5365354" y="1903751"/>
                    <a:pt x="5413510" y="1989195"/>
                  </a:cubicBezTo>
                  <a:cubicBezTo>
                    <a:pt x="5462041" y="2074451"/>
                    <a:pt x="5507011" y="2161207"/>
                    <a:pt x="5548609" y="2249462"/>
                  </a:cubicBezTo>
                  <a:cubicBezTo>
                    <a:pt x="5631430" y="2426158"/>
                    <a:pt x="5698323" y="2608851"/>
                    <a:pt x="5747791" y="2795666"/>
                  </a:cubicBezTo>
                  <a:cubicBezTo>
                    <a:pt x="5771963" y="2889167"/>
                    <a:pt x="5791825" y="2983792"/>
                    <a:pt x="5806814" y="3078980"/>
                  </a:cubicBezTo>
                  <a:cubicBezTo>
                    <a:pt x="5810562" y="3102777"/>
                    <a:pt x="5814497" y="3126574"/>
                    <a:pt x="5816933" y="3150558"/>
                  </a:cubicBezTo>
                  <a:cubicBezTo>
                    <a:pt x="5819556" y="3174542"/>
                    <a:pt x="5823304" y="3198339"/>
                    <a:pt x="5825178" y="3222323"/>
                  </a:cubicBezTo>
                  <a:cubicBezTo>
                    <a:pt x="5827426" y="3246308"/>
                    <a:pt x="5830050" y="3270292"/>
                    <a:pt x="5831923" y="3294276"/>
                  </a:cubicBezTo>
                  <a:lnTo>
                    <a:pt x="5836233" y="3366416"/>
                  </a:lnTo>
                  <a:cubicBezTo>
                    <a:pt x="5839981" y="3462728"/>
                    <a:pt x="5839981" y="3559227"/>
                    <a:pt x="5833047" y="3655726"/>
                  </a:cubicBezTo>
                  <a:cubicBezTo>
                    <a:pt x="5830986" y="3679711"/>
                    <a:pt x="5830237" y="3704069"/>
                    <a:pt x="5827426" y="3728054"/>
                  </a:cubicBezTo>
                  <a:lnTo>
                    <a:pt x="5819556" y="3800194"/>
                  </a:lnTo>
                  <a:lnTo>
                    <a:pt x="5809063" y="3872147"/>
                  </a:lnTo>
                  <a:cubicBezTo>
                    <a:pt x="5805690" y="3896131"/>
                    <a:pt x="5800818" y="3919928"/>
                    <a:pt x="5796696" y="3943912"/>
                  </a:cubicBezTo>
                  <a:cubicBezTo>
                    <a:pt x="5778708" y="4039287"/>
                    <a:pt x="5755848" y="4134662"/>
                    <a:pt x="5725305" y="4225165"/>
                  </a:cubicBezTo>
                  <a:cubicBezTo>
                    <a:pt x="5694763" y="4315669"/>
                    <a:pt x="5656726" y="4402237"/>
                    <a:pt x="5605384" y="4478312"/>
                  </a:cubicBezTo>
                  <a:cubicBezTo>
                    <a:pt x="5554980" y="4555324"/>
                    <a:pt x="5489960" y="4620718"/>
                    <a:pt x="5412573" y="4677306"/>
                  </a:cubicBezTo>
                  <a:cubicBezTo>
                    <a:pt x="5335374" y="4734269"/>
                    <a:pt x="5245995" y="4782987"/>
                    <a:pt x="5155867" y="4834703"/>
                  </a:cubicBezTo>
                  <a:cubicBezTo>
                    <a:pt x="4973924" y="4936261"/>
                    <a:pt x="4794791" y="5058806"/>
                    <a:pt x="4645452" y="5207396"/>
                  </a:cubicBezTo>
                  <a:cubicBezTo>
                    <a:pt x="4607414" y="5244497"/>
                    <a:pt x="4571813" y="5281597"/>
                    <a:pt x="4536211" y="5319072"/>
                  </a:cubicBezTo>
                  <a:lnTo>
                    <a:pt x="4430343" y="5432061"/>
                  </a:lnTo>
                  <a:cubicBezTo>
                    <a:pt x="4360264" y="5507574"/>
                    <a:pt x="4290934" y="5583087"/>
                    <a:pt x="4220668" y="5657663"/>
                  </a:cubicBezTo>
                  <a:cubicBezTo>
                    <a:pt x="4185628" y="5694951"/>
                    <a:pt x="4150589" y="5732052"/>
                    <a:pt x="4115174" y="5768777"/>
                  </a:cubicBezTo>
                  <a:cubicBezTo>
                    <a:pt x="4079573" y="5805316"/>
                    <a:pt x="4043597" y="5841292"/>
                    <a:pt x="4007245" y="5876707"/>
                  </a:cubicBezTo>
                  <a:cubicBezTo>
                    <a:pt x="3934543" y="5947723"/>
                    <a:pt x="3859405" y="6015740"/>
                    <a:pt x="3781081" y="6078887"/>
                  </a:cubicBezTo>
                  <a:cubicBezTo>
                    <a:pt x="3702945" y="6142220"/>
                    <a:pt x="3620312" y="6199557"/>
                    <a:pt x="3534493" y="6249775"/>
                  </a:cubicBezTo>
                  <a:cubicBezTo>
                    <a:pt x="3448300" y="6299429"/>
                    <a:pt x="3358359" y="6341589"/>
                    <a:pt x="3265232" y="6373068"/>
                  </a:cubicBezTo>
                  <a:cubicBezTo>
                    <a:pt x="3241998" y="6381313"/>
                    <a:pt x="3218201" y="6387497"/>
                    <a:pt x="3194779" y="6394804"/>
                  </a:cubicBezTo>
                  <a:cubicBezTo>
                    <a:pt x="3171169" y="6401175"/>
                    <a:pt x="3147185" y="6406797"/>
                    <a:pt x="3123575" y="6412792"/>
                  </a:cubicBezTo>
                  <a:cubicBezTo>
                    <a:pt x="3099404" y="6417477"/>
                    <a:pt x="3075420" y="6422161"/>
                    <a:pt x="3051435" y="6426471"/>
                  </a:cubicBezTo>
                  <a:cubicBezTo>
                    <a:pt x="3027076" y="6429657"/>
                    <a:pt x="3002904" y="6433591"/>
                    <a:pt x="2978733" y="6436214"/>
                  </a:cubicBezTo>
                  <a:cubicBezTo>
                    <a:pt x="2954374" y="6438088"/>
                    <a:pt x="2930015" y="6440899"/>
                    <a:pt x="2905656" y="6442211"/>
                  </a:cubicBezTo>
                  <a:cubicBezTo>
                    <a:pt x="2881109" y="6442960"/>
                    <a:pt x="2856751" y="6444272"/>
                    <a:pt x="2832204" y="6444459"/>
                  </a:cubicBezTo>
                  <a:cubicBezTo>
                    <a:pt x="2807658" y="6444084"/>
                    <a:pt x="2783298" y="6444084"/>
                    <a:pt x="2758565" y="6443335"/>
                  </a:cubicBezTo>
                  <a:lnTo>
                    <a:pt x="2683239" y="6438463"/>
                  </a:lnTo>
                  <a:cubicBezTo>
                    <a:pt x="2482559" y="6425909"/>
                    <a:pt x="2284126" y="6393492"/>
                    <a:pt x="2091503" y="6343275"/>
                  </a:cubicBezTo>
                  <a:lnTo>
                    <a:pt x="1948347" y="6301490"/>
                  </a:lnTo>
                  <a:cubicBezTo>
                    <a:pt x="1901127" y="6286126"/>
                    <a:pt x="1854658" y="6268699"/>
                    <a:pt x="1807626" y="6252585"/>
                  </a:cubicBezTo>
                  <a:cubicBezTo>
                    <a:pt x="1784017" y="6245090"/>
                    <a:pt x="1761344" y="6234972"/>
                    <a:pt x="1738297" y="6225790"/>
                  </a:cubicBezTo>
                  <a:lnTo>
                    <a:pt x="1669529" y="6197684"/>
                  </a:lnTo>
                  <a:lnTo>
                    <a:pt x="1635239" y="6183630"/>
                  </a:lnTo>
                  <a:lnTo>
                    <a:pt x="1601699" y="6167891"/>
                  </a:lnTo>
                  <a:lnTo>
                    <a:pt x="1534618" y="6136411"/>
                  </a:lnTo>
                  <a:cubicBezTo>
                    <a:pt x="1179164" y="5964961"/>
                    <a:pt x="857250" y="5729616"/>
                    <a:pt x="592299" y="5443116"/>
                  </a:cubicBezTo>
                  <a:cubicBezTo>
                    <a:pt x="336904" y="5166173"/>
                    <a:pt x="137160" y="4842573"/>
                    <a:pt x="0" y="4496675"/>
                  </a:cubicBezTo>
                  <a:lnTo>
                    <a:pt x="0" y="5523875"/>
                  </a:lnTo>
                  <a:cubicBezTo>
                    <a:pt x="637831" y="6338966"/>
                    <a:pt x="1639549" y="6864559"/>
                    <a:pt x="2766060" y="6864559"/>
                  </a:cubicBezTo>
                  <a:cubicBezTo>
                    <a:pt x="4692858" y="6864559"/>
                    <a:pt x="6254833" y="5327879"/>
                    <a:pt x="6254833" y="3432373"/>
                  </a:cubicBezTo>
                  <a:cubicBezTo>
                    <a:pt x="6254833" y="1536679"/>
                    <a:pt x="4692858" y="0"/>
                    <a:pt x="2766060" y="0"/>
                  </a:cubicBezTo>
                  <a:close/>
                </a:path>
              </a:pathLst>
            </a:custGeom>
            <a:ln w="1873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grpSp>
      <p:sp>
        <p:nvSpPr>
          <p:cNvPr id="4" name="Title 3">
            <a:extLst>
              <a:ext uri="{FF2B5EF4-FFF2-40B4-BE49-F238E27FC236}">
                <a16:creationId xmlns:a16="http://schemas.microsoft.com/office/drawing/2014/main" id="{88467C95-DF23-40B9-B265-2E6F3DE29030}"/>
              </a:ext>
            </a:extLst>
          </p:cNvPr>
          <p:cNvSpPr>
            <a:spLocks noGrp="1"/>
          </p:cNvSpPr>
          <p:nvPr>
            <p:ph type="title"/>
          </p:nvPr>
        </p:nvSpPr>
        <p:spPr>
          <a:xfrm>
            <a:off x="6245305" y="2526447"/>
            <a:ext cx="4977976" cy="1779340"/>
          </a:xfrm>
        </p:spPr>
        <p:txBody>
          <a:bodyPr vert="horz" lIns="91440" tIns="45720" rIns="91440" bIns="45720" rtlCol="0" anchor="b">
            <a:noAutofit/>
          </a:bodyPr>
          <a:lstStyle/>
          <a:p>
            <a:pPr algn="ctr"/>
            <a:r>
              <a:rPr lang="en-US" sz="5000" dirty="0">
                <a:solidFill>
                  <a:schemeClr val="tx2"/>
                </a:solidFill>
                <a:ea typeface="+mj-ea"/>
                <a:cs typeface="+mj-cs"/>
              </a:rPr>
              <a:t>Cardiovascular</a:t>
            </a:r>
            <a:br>
              <a:rPr lang="en-US" sz="5000" dirty="0">
                <a:solidFill>
                  <a:schemeClr val="tx2"/>
                </a:solidFill>
                <a:ea typeface="+mj-ea"/>
                <a:cs typeface="+mj-cs"/>
              </a:rPr>
            </a:br>
            <a:r>
              <a:rPr lang="en-US" sz="5000" dirty="0">
                <a:solidFill>
                  <a:schemeClr val="tx2"/>
                </a:solidFill>
                <a:ea typeface="+mj-ea"/>
                <a:cs typeface="+mj-cs"/>
              </a:rPr>
              <a:t>Physical Exam</a:t>
            </a:r>
          </a:p>
        </p:txBody>
      </p:sp>
    </p:spTree>
    <p:extLst>
      <p:ext uri="{BB962C8B-B14F-4D97-AF65-F5344CB8AC3E}">
        <p14:creationId xmlns:p14="http://schemas.microsoft.com/office/powerpoint/2010/main" val="940452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8292E-F710-42A0-B4A6-F2BFCF6E3F2E}"/>
              </a:ext>
            </a:extLst>
          </p:cNvPr>
          <p:cNvSpPr>
            <a:spLocks noGrp="1"/>
          </p:cNvSpPr>
          <p:nvPr>
            <p:ph type="title"/>
          </p:nvPr>
        </p:nvSpPr>
        <p:spPr/>
        <p:txBody>
          <a:bodyPr/>
          <a:lstStyle/>
          <a:p>
            <a:r>
              <a:rPr lang="en-US"/>
              <a:t>Cardiovascular Exam Considerations</a:t>
            </a:r>
          </a:p>
        </p:txBody>
      </p:sp>
      <p:sp>
        <p:nvSpPr>
          <p:cNvPr id="3" name="Content Placeholder 2">
            <a:extLst>
              <a:ext uri="{FF2B5EF4-FFF2-40B4-BE49-F238E27FC236}">
                <a16:creationId xmlns:a16="http://schemas.microsoft.com/office/drawing/2014/main" id="{F7DD9203-B701-4A11-A3F0-03C98FB218C5}"/>
              </a:ext>
            </a:extLst>
          </p:cNvPr>
          <p:cNvSpPr>
            <a:spLocks noGrp="1"/>
          </p:cNvSpPr>
          <p:nvPr>
            <p:ph idx="1"/>
          </p:nvPr>
        </p:nvSpPr>
        <p:spPr/>
        <p:txBody>
          <a:bodyPr>
            <a:normAutofit/>
          </a:bodyPr>
          <a:lstStyle/>
          <a:p>
            <a:r>
              <a:rPr lang="en-US" dirty="0"/>
              <a:t>Gown open to the front</a:t>
            </a:r>
          </a:p>
          <a:p>
            <a:r>
              <a:rPr lang="en-US" dirty="0"/>
              <a:t>Stand at the patient’s right side</a:t>
            </a:r>
          </a:p>
          <a:p>
            <a:r>
              <a:rPr lang="en-US" dirty="0"/>
              <a:t>Keeping the right chest draped, ask the patient to gently lift or displace the left breast to assist you in examining the cardiac system</a:t>
            </a:r>
          </a:p>
          <a:p>
            <a:r>
              <a:rPr lang="en-US" dirty="0"/>
              <a:t>Bed positioned at 30 degrees (learn how to maneuver the various exam tables, i.e., gurney, table, etc.)</a:t>
            </a:r>
          </a:p>
          <a:p>
            <a:r>
              <a:rPr lang="en-US" dirty="0"/>
              <a:t>Listen stethoscope to skin</a:t>
            </a:r>
          </a:p>
        </p:txBody>
      </p:sp>
    </p:spTree>
    <p:extLst>
      <p:ext uri="{BB962C8B-B14F-4D97-AF65-F5344CB8AC3E}">
        <p14:creationId xmlns:p14="http://schemas.microsoft.com/office/powerpoint/2010/main" val="1202145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Key Components of Cardiovascular Exam</a:t>
            </a:r>
          </a:p>
        </p:txBody>
      </p:sp>
      <p:sp>
        <p:nvSpPr>
          <p:cNvPr id="21507" name="Rectangle 3"/>
          <p:cNvSpPr>
            <a:spLocks noGrp="1" noChangeArrowheads="1"/>
          </p:cNvSpPr>
          <p:nvPr>
            <p:ph idx="1"/>
          </p:nvPr>
        </p:nvSpPr>
        <p:spPr>
          <a:xfrm>
            <a:off x="838200" y="1690688"/>
            <a:ext cx="10515600" cy="5167312"/>
          </a:xfrm>
        </p:spPr>
        <p:txBody>
          <a:bodyPr>
            <a:normAutofit/>
          </a:bodyPr>
          <a:lstStyle/>
          <a:p>
            <a:r>
              <a:rPr lang="en-US" dirty="0"/>
              <a:t>Note general appearance and vitals related to CV exam</a:t>
            </a:r>
          </a:p>
          <a:p>
            <a:r>
              <a:rPr lang="en-US" dirty="0"/>
              <a:t>Assess skin related to cardiovascular exam</a:t>
            </a:r>
          </a:p>
          <a:p>
            <a:r>
              <a:rPr lang="en-US" dirty="0"/>
              <a:t>Identify the point of maximal impulse (PMI)</a:t>
            </a:r>
          </a:p>
          <a:p>
            <a:r>
              <a:rPr lang="en-US" dirty="0"/>
              <a:t>Inspect and palpate chest wall</a:t>
            </a:r>
          </a:p>
          <a:p>
            <a:r>
              <a:rPr lang="en-US" dirty="0"/>
              <a:t>Auscultate S1, S2, and any extra sounds (S3, S4)</a:t>
            </a:r>
          </a:p>
          <a:p>
            <a:r>
              <a:rPr lang="en-US" dirty="0"/>
              <a:t>Augment any murmurs</a:t>
            </a:r>
          </a:p>
          <a:p>
            <a:r>
              <a:rPr lang="en-US" dirty="0"/>
              <a:t>Estimate jugular venous pressure (JVP)</a:t>
            </a:r>
          </a:p>
          <a:p>
            <a:r>
              <a:rPr lang="en-US" dirty="0"/>
              <a:t>Palpate and auscultate pulses</a:t>
            </a:r>
          </a:p>
          <a:p>
            <a:r>
              <a:rPr lang="en-US" dirty="0"/>
              <a:t>Perform special tests</a:t>
            </a:r>
          </a:p>
        </p:txBody>
      </p:sp>
    </p:spTree>
    <p:extLst>
      <p:ext uri="{BB962C8B-B14F-4D97-AF65-F5344CB8AC3E}">
        <p14:creationId xmlns:p14="http://schemas.microsoft.com/office/powerpoint/2010/main" val="16133599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A8F666-5BA4-4FAB-93D8-C44AD349DF11}"/>
              </a:ext>
            </a:extLst>
          </p:cNvPr>
          <p:cNvSpPr>
            <a:spLocks noGrp="1"/>
          </p:cNvSpPr>
          <p:nvPr>
            <p:ph type="title"/>
          </p:nvPr>
        </p:nvSpPr>
        <p:spPr/>
        <p:txBody>
          <a:bodyPr/>
          <a:lstStyle/>
          <a:p>
            <a:r>
              <a:rPr lang="en-US" dirty="0"/>
              <a:t>Surface Landmarks</a:t>
            </a:r>
          </a:p>
        </p:txBody>
      </p:sp>
      <p:sp>
        <p:nvSpPr>
          <p:cNvPr id="5" name="Content Placeholder 4">
            <a:extLst>
              <a:ext uri="{FF2B5EF4-FFF2-40B4-BE49-F238E27FC236}">
                <a16:creationId xmlns:a16="http://schemas.microsoft.com/office/drawing/2014/main" id="{CD9761F5-2F34-48D2-A35E-F60A496BFDA8}"/>
              </a:ext>
            </a:extLst>
          </p:cNvPr>
          <p:cNvSpPr>
            <a:spLocks noGrp="1"/>
          </p:cNvSpPr>
          <p:nvPr>
            <p:ph idx="1"/>
          </p:nvPr>
        </p:nvSpPr>
        <p:spPr/>
        <p:txBody>
          <a:bodyPr/>
          <a:lstStyle/>
          <a:p>
            <a:r>
              <a:rPr lang="en-US" dirty="0"/>
              <a:t>Midsternal line</a:t>
            </a:r>
          </a:p>
          <a:p>
            <a:r>
              <a:rPr lang="en-US" dirty="0"/>
              <a:t>Midclavicular line</a:t>
            </a:r>
          </a:p>
          <a:p>
            <a:r>
              <a:rPr lang="en-US" dirty="0"/>
              <a:t>Anterior axillary line</a:t>
            </a:r>
          </a:p>
          <a:p>
            <a:r>
              <a:rPr lang="en-US" dirty="0"/>
              <a:t>Midaxillary line</a:t>
            </a:r>
          </a:p>
          <a:p>
            <a:r>
              <a:rPr lang="en-US" dirty="0"/>
              <a:t>Posterior axillary line</a:t>
            </a:r>
          </a:p>
        </p:txBody>
      </p:sp>
    </p:spTree>
    <p:extLst>
      <p:ext uri="{BB962C8B-B14F-4D97-AF65-F5344CB8AC3E}">
        <p14:creationId xmlns:p14="http://schemas.microsoft.com/office/powerpoint/2010/main" val="2590463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9" name="Picture 4" descr="lateral chest axillary lines.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9446" y="1555376"/>
            <a:ext cx="4684713"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220BCE05-A751-4EDA-A1F4-0E834144DA4F}"/>
              </a:ext>
            </a:extLst>
          </p:cNvPr>
          <p:cNvSpPr>
            <a:spLocks noGrp="1"/>
          </p:cNvSpPr>
          <p:nvPr>
            <p:ph type="title"/>
          </p:nvPr>
        </p:nvSpPr>
        <p:spPr/>
        <p:txBody>
          <a:bodyPr/>
          <a:lstStyle/>
          <a:p>
            <a:r>
              <a:rPr lang="en-US" dirty="0"/>
              <a:t>Surface Landmarks</a:t>
            </a:r>
          </a:p>
        </p:txBody>
      </p:sp>
      <p:pic>
        <p:nvPicPr>
          <p:cNvPr id="6" name="Picture 7" descr="UNF2876-007-004">
            <a:extLst>
              <a:ext uri="{FF2B5EF4-FFF2-40B4-BE49-F238E27FC236}">
                <a16:creationId xmlns:a16="http://schemas.microsoft.com/office/drawing/2014/main" id="{A85C225D-35D1-444E-A04B-6CA2FE9B3F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74877"/>
            <a:ext cx="4819465" cy="4402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493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2" name="Picture 5" descr="intercostal spaces.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81568" y="1434582"/>
            <a:ext cx="5195888" cy="522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6">
            <a:extLst>
              <a:ext uri="{FF2B5EF4-FFF2-40B4-BE49-F238E27FC236}">
                <a16:creationId xmlns:a16="http://schemas.microsoft.com/office/drawing/2014/main" id="{30D09BDB-7202-4CC0-BE0A-8774B59217C3}"/>
              </a:ext>
            </a:extLst>
          </p:cNvPr>
          <p:cNvSpPr>
            <a:spLocks noGrp="1"/>
          </p:cNvSpPr>
          <p:nvPr>
            <p:ph type="title"/>
          </p:nvPr>
        </p:nvSpPr>
        <p:spPr/>
        <p:txBody>
          <a:bodyPr/>
          <a:lstStyle/>
          <a:p>
            <a:r>
              <a:rPr lang="en-US" dirty="0"/>
              <a:t>Surface Landmarks: Interspaces</a:t>
            </a:r>
          </a:p>
        </p:txBody>
      </p:sp>
      <p:sp>
        <p:nvSpPr>
          <p:cNvPr id="5" name="Content Placeholder 4">
            <a:extLst>
              <a:ext uri="{FF2B5EF4-FFF2-40B4-BE49-F238E27FC236}">
                <a16:creationId xmlns:a16="http://schemas.microsoft.com/office/drawing/2014/main" id="{188FAD9D-E2C6-4205-8329-A1AAB13A8C95}"/>
              </a:ext>
            </a:extLst>
          </p:cNvPr>
          <p:cNvSpPr>
            <a:spLocks noGrp="1"/>
          </p:cNvSpPr>
          <p:nvPr>
            <p:ph idx="1"/>
          </p:nvPr>
        </p:nvSpPr>
        <p:spPr>
          <a:xfrm>
            <a:off x="838200" y="1825625"/>
            <a:ext cx="5562600" cy="4831832"/>
          </a:xfrm>
        </p:spPr>
        <p:txBody>
          <a:bodyPr>
            <a:normAutofit/>
          </a:bodyPr>
          <a:lstStyle/>
          <a:p>
            <a:r>
              <a:rPr lang="en-US" dirty="0"/>
              <a:t>To count interspaces, find the </a:t>
            </a:r>
            <a:r>
              <a:rPr lang="en-US" b="1" dirty="0"/>
              <a:t>suprasternal notch </a:t>
            </a:r>
            <a:r>
              <a:rPr lang="en-US" dirty="0"/>
              <a:t>and </a:t>
            </a:r>
            <a:r>
              <a:rPr lang="en-US" b="1" dirty="0"/>
              <a:t>sternal angle</a:t>
            </a:r>
          </a:p>
          <a:p>
            <a:r>
              <a:rPr lang="en-US" dirty="0"/>
              <a:t>Once you find the sternal angle, you can move laterally to find the second rib in line with the sternal angle</a:t>
            </a:r>
          </a:p>
          <a:p>
            <a:r>
              <a:rPr lang="en-US" dirty="0"/>
              <a:t>Move down from there and you fall into the </a:t>
            </a:r>
            <a:r>
              <a:rPr lang="en-US" b="1" dirty="0"/>
              <a:t>2</a:t>
            </a:r>
            <a:r>
              <a:rPr lang="en-US" b="1" baseline="30000" dirty="0"/>
              <a:t>nd</a:t>
            </a:r>
            <a:r>
              <a:rPr lang="en-US" b="1" dirty="0"/>
              <a:t> intercostal space</a:t>
            </a:r>
          </a:p>
        </p:txBody>
      </p:sp>
    </p:spTree>
    <p:extLst>
      <p:ext uri="{BB962C8B-B14F-4D97-AF65-F5344CB8AC3E}">
        <p14:creationId xmlns:p14="http://schemas.microsoft.com/office/powerpoint/2010/main" val="13273217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7" name="Picture 4" descr="Anatomy LV and apical impuls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7500" y="1515054"/>
            <a:ext cx="6477000"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6" name="Title 1"/>
          <p:cNvSpPr>
            <a:spLocks noGrp="1"/>
          </p:cNvSpPr>
          <p:nvPr>
            <p:ph type="title"/>
          </p:nvPr>
        </p:nvSpPr>
        <p:spPr/>
        <p:txBody>
          <a:bodyPr/>
          <a:lstStyle/>
          <a:p>
            <a:r>
              <a:rPr lang="en-US"/>
              <a:t>Visualize Anatomy Beneath Chest Wall</a:t>
            </a:r>
          </a:p>
        </p:txBody>
      </p:sp>
    </p:spTree>
    <p:extLst>
      <p:ext uri="{BB962C8B-B14F-4D97-AF65-F5344CB8AC3E}">
        <p14:creationId xmlns:p14="http://schemas.microsoft.com/office/powerpoint/2010/main" val="21554530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normAutofit/>
          </a:bodyPr>
          <a:lstStyle/>
          <a:p>
            <a:r>
              <a:rPr lang="en-US"/>
              <a:t>Visualize Chambers of the Heart and Important Great Vessels</a:t>
            </a:r>
          </a:p>
        </p:txBody>
      </p:sp>
      <p:pic>
        <p:nvPicPr>
          <p:cNvPr id="27651" name="Content Placeholder 3" descr="Anatomy of the heart chambers interior.png"/>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71931" y="1545024"/>
            <a:ext cx="5541763" cy="5200021"/>
          </a:xfrm>
        </p:spPr>
      </p:pic>
    </p:spTree>
    <p:extLst>
      <p:ext uri="{BB962C8B-B14F-4D97-AF65-F5344CB8AC3E}">
        <p14:creationId xmlns:p14="http://schemas.microsoft.com/office/powerpoint/2010/main" val="40011194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Content Placeholder 3" descr="tricus1.gif"/>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634699" y="2406597"/>
            <a:ext cx="3567954" cy="2840092"/>
          </a:xfrm>
        </p:spPr>
      </p:pic>
      <p:pic>
        <p:nvPicPr>
          <p:cNvPr id="28676" name="Picture 4" descr="tricus2.g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56441" y="2406597"/>
            <a:ext cx="3604178" cy="2840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5" descr="tricus3.gi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914407" y="2406597"/>
            <a:ext cx="3641144" cy="2840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TextBox 6"/>
          <p:cNvSpPr txBox="1">
            <a:spLocks noChangeArrowheads="1"/>
          </p:cNvSpPr>
          <p:nvPr/>
        </p:nvSpPr>
        <p:spPr bwMode="auto">
          <a:xfrm>
            <a:off x="634699" y="1676401"/>
            <a:ext cx="4267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en-US" sz="2000" dirty="0">
                <a:solidFill>
                  <a:srgbClr val="C00000"/>
                </a:solidFill>
                <a:latin typeface="+mn-lt"/>
              </a:rPr>
              <a:t>O = surface projection of valve location</a:t>
            </a:r>
          </a:p>
          <a:p>
            <a:pPr defTabSz="914400" eaLnBrk="1" fontAlgn="base" hangingPunct="1">
              <a:spcBef>
                <a:spcPct val="0"/>
              </a:spcBef>
              <a:spcAft>
                <a:spcPct val="0"/>
              </a:spcAft>
            </a:pPr>
            <a:r>
              <a:rPr lang="en-US" sz="2000" dirty="0">
                <a:solidFill>
                  <a:srgbClr val="C00000"/>
                </a:solidFill>
                <a:latin typeface="+mn-lt"/>
              </a:rPr>
              <a:t>X = auscultation point of valve</a:t>
            </a:r>
          </a:p>
        </p:txBody>
      </p:sp>
      <p:sp>
        <p:nvSpPr>
          <p:cNvPr id="28680" name="Rectangle 8"/>
          <p:cNvSpPr>
            <a:spLocks noChangeArrowheads="1"/>
          </p:cNvSpPr>
          <p:nvPr/>
        </p:nvSpPr>
        <p:spPr bwMode="auto">
          <a:xfrm>
            <a:off x="6353626" y="1863976"/>
            <a:ext cx="52538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defTabSz="914400" fontAlgn="base">
              <a:spcBef>
                <a:spcPct val="0"/>
              </a:spcBef>
              <a:spcAft>
                <a:spcPct val="0"/>
              </a:spcAft>
            </a:pPr>
            <a:r>
              <a:rPr lang="en-US" sz="2000" dirty="0">
                <a:ea typeface="ＭＳ Ｐゴシック" pitchFamily="34" charset="-128"/>
              </a:rPr>
              <a:t>white arrow = direction of blood flow and sound</a:t>
            </a:r>
          </a:p>
        </p:txBody>
      </p:sp>
      <p:cxnSp>
        <p:nvCxnSpPr>
          <p:cNvPr id="13" name="Straight Arrow Connector 12"/>
          <p:cNvCxnSpPr>
            <a:cxnSpLocks/>
          </p:cNvCxnSpPr>
          <p:nvPr/>
        </p:nvCxnSpPr>
        <p:spPr>
          <a:xfrm>
            <a:off x="2491290" y="3443595"/>
            <a:ext cx="230393" cy="383048"/>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8682" name="Rectangle 13"/>
          <p:cNvSpPr>
            <a:spLocks noChangeArrowheads="1"/>
          </p:cNvSpPr>
          <p:nvPr/>
        </p:nvSpPr>
        <p:spPr bwMode="auto">
          <a:xfrm>
            <a:off x="531829" y="5287721"/>
            <a:ext cx="1125967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defTabSz="914400" fontAlgn="base">
              <a:spcBef>
                <a:spcPct val="0"/>
              </a:spcBef>
              <a:spcAft>
                <a:spcPct val="0"/>
              </a:spcAft>
              <a:buFont typeface="Arial" panose="020B0604020202020204" pitchFamily="34" charset="0"/>
              <a:buChar char="•"/>
            </a:pPr>
            <a:r>
              <a:rPr lang="en-US" sz="2800" dirty="0">
                <a:ea typeface="ＭＳ Ｐゴシック" pitchFamily="34" charset="-128"/>
              </a:rPr>
              <a:t>Surface projection of sound: behind right side of sternum at 4</a:t>
            </a:r>
            <a:r>
              <a:rPr lang="en-US" sz="2800" baseline="30000" dirty="0">
                <a:ea typeface="ＭＳ Ｐゴシック" pitchFamily="34" charset="-128"/>
              </a:rPr>
              <a:t>th</a:t>
            </a:r>
            <a:r>
              <a:rPr lang="en-US" sz="2800" dirty="0">
                <a:ea typeface="ＭＳ Ｐゴシック" pitchFamily="34" charset="-128"/>
              </a:rPr>
              <a:t> to 5</a:t>
            </a:r>
            <a:r>
              <a:rPr lang="en-US" sz="2800" baseline="30000" dirty="0">
                <a:ea typeface="ＭＳ Ｐゴシック" pitchFamily="34" charset="-128"/>
              </a:rPr>
              <a:t>th</a:t>
            </a:r>
            <a:r>
              <a:rPr lang="en-US" sz="2800" dirty="0">
                <a:ea typeface="ＭＳ Ｐゴシック" pitchFamily="34" charset="-128"/>
              </a:rPr>
              <a:t> intercostal junction</a:t>
            </a:r>
          </a:p>
          <a:p>
            <a:pPr marL="457200" indent="-457200" defTabSz="914400" fontAlgn="base">
              <a:spcBef>
                <a:spcPct val="0"/>
              </a:spcBef>
              <a:spcAft>
                <a:spcPct val="0"/>
              </a:spcAft>
              <a:buFont typeface="Arial" panose="020B0604020202020204" pitchFamily="34" charset="0"/>
              <a:buChar char="•"/>
            </a:pPr>
            <a:r>
              <a:rPr lang="en-US" sz="2800" dirty="0">
                <a:ea typeface="ＭＳ Ｐゴシック" pitchFamily="34" charset="-128"/>
              </a:rPr>
              <a:t>Valve auscultated: </a:t>
            </a:r>
            <a:r>
              <a:rPr lang="en-US" sz="2800" b="1" dirty="0">
                <a:ea typeface="ＭＳ Ｐゴシック" pitchFamily="34" charset="-128"/>
              </a:rPr>
              <a:t>left side of sternum in left 5</a:t>
            </a:r>
            <a:r>
              <a:rPr lang="en-US" sz="2800" b="1" baseline="30000" dirty="0">
                <a:ea typeface="ＭＳ Ｐゴシック" pitchFamily="34" charset="-128"/>
              </a:rPr>
              <a:t>th</a:t>
            </a:r>
            <a:r>
              <a:rPr lang="en-US" sz="2800" b="1" dirty="0">
                <a:ea typeface="ＭＳ Ｐゴシック" pitchFamily="34" charset="-128"/>
              </a:rPr>
              <a:t> intercostal space</a:t>
            </a:r>
          </a:p>
        </p:txBody>
      </p:sp>
      <p:sp>
        <p:nvSpPr>
          <p:cNvPr id="11" name="Title 1">
            <a:extLst>
              <a:ext uri="{FF2B5EF4-FFF2-40B4-BE49-F238E27FC236}">
                <a16:creationId xmlns:a16="http://schemas.microsoft.com/office/drawing/2014/main" id="{BB1A5871-46F6-438E-A9FB-468AA0C4D396}"/>
              </a:ext>
            </a:extLst>
          </p:cNvPr>
          <p:cNvSpPr txBox="1">
            <a:spLocks/>
          </p:cNvSpPr>
          <p:nvPr/>
        </p:nvSpPr>
        <p:spPr>
          <a:xfrm>
            <a:off x="838199" y="365125"/>
            <a:ext cx="1076930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Tricuspid</a:t>
            </a:r>
            <a:r>
              <a:rPr lang="en-US"/>
              <a:t> Valve in Relationship to Heart Sounds</a:t>
            </a:r>
          </a:p>
        </p:txBody>
      </p:sp>
    </p:spTree>
    <p:extLst>
      <p:ext uri="{BB962C8B-B14F-4D97-AF65-F5344CB8AC3E}">
        <p14:creationId xmlns:p14="http://schemas.microsoft.com/office/powerpoint/2010/main" val="39906022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Content Placeholder 3" descr="semi_p1.gif"/>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655317" y="2384287"/>
            <a:ext cx="3628459" cy="2859226"/>
          </a:xfrm>
        </p:spPr>
      </p:pic>
      <p:pic>
        <p:nvPicPr>
          <p:cNvPr id="31748" name="Picture 4" descr="semi_p2.g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54039" y="2384287"/>
            <a:ext cx="3574033" cy="2859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5" descr="semi_p3.gi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998334" y="2384286"/>
            <a:ext cx="3646971" cy="28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1">
            <a:extLst>
              <a:ext uri="{FF2B5EF4-FFF2-40B4-BE49-F238E27FC236}">
                <a16:creationId xmlns:a16="http://schemas.microsoft.com/office/drawing/2014/main" id="{9D0B8AE3-0628-4E11-8AFA-2993D1BC3420}"/>
              </a:ext>
            </a:extLst>
          </p:cNvPr>
          <p:cNvSpPr txBox="1">
            <a:spLocks/>
          </p:cNvSpPr>
          <p:nvPr/>
        </p:nvSpPr>
        <p:spPr>
          <a:xfrm>
            <a:off x="838199" y="365125"/>
            <a:ext cx="1076930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Pulmonic</a:t>
            </a:r>
            <a:r>
              <a:rPr lang="en-US"/>
              <a:t> Valve in Relationship to Heart Sounds</a:t>
            </a:r>
          </a:p>
        </p:txBody>
      </p:sp>
      <p:sp>
        <p:nvSpPr>
          <p:cNvPr id="14" name="TextBox 6">
            <a:extLst>
              <a:ext uri="{FF2B5EF4-FFF2-40B4-BE49-F238E27FC236}">
                <a16:creationId xmlns:a16="http://schemas.microsoft.com/office/drawing/2014/main" id="{6E7C1B77-4C35-4C32-BC95-64E956FD1035}"/>
              </a:ext>
            </a:extLst>
          </p:cNvPr>
          <p:cNvSpPr txBox="1">
            <a:spLocks noChangeArrowheads="1"/>
          </p:cNvSpPr>
          <p:nvPr/>
        </p:nvSpPr>
        <p:spPr bwMode="auto">
          <a:xfrm>
            <a:off x="634699" y="1676401"/>
            <a:ext cx="4267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en-US" sz="2000" dirty="0">
                <a:solidFill>
                  <a:srgbClr val="C00000"/>
                </a:solidFill>
                <a:latin typeface="+mn-lt"/>
              </a:rPr>
              <a:t>O = surface projection of valve location</a:t>
            </a:r>
          </a:p>
          <a:p>
            <a:pPr defTabSz="914400" eaLnBrk="1" fontAlgn="base" hangingPunct="1">
              <a:spcBef>
                <a:spcPct val="0"/>
              </a:spcBef>
              <a:spcAft>
                <a:spcPct val="0"/>
              </a:spcAft>
            </a:pPr>
            <a:r>
              <a:rPr lang="en-US" sz="2000" dirty="0">
                <a:solidFill>
                  <a:srgbClr val="C00000"/>
                </a:solidFill>
                <a:latin typeface="+mn-lt"/>
              </a:rPr>
              <a:t>X = auscultation point of valve</a:t>
            </a:r>
          </a:p>
        </p:txBody>
      </p:sp>
      <p:sp>
        <p:nvSpPr>
          <p:cNvPr id="15" name="Rectangle 8">
            <a:extLst>
              <a:ext uri="{FF2B5EF4-FFF2-40B4-BE49-F238E27FC236}">
                <a16:creationId xmlns:a16="http://schemas.microsoft.com/office/drawing/2014/main" id="{D15E4D02-1E0F-4270-8C1A-D4B4CAB95443}"/>
              </a:ext>
            </a:extLst>
          </p:cNvPr>
          <p:cNvSpPr>
            <a:spLocks noChangeArrowheads="1"/>
          </p:cNvSpPr>
          <p:nvPr/>
        </p:nvSpPr>
        <p:spPr bwMode="auto">
          <a:xfrm>
            <a:off x="6353626" y="1863976"/>
            <a:ext cx="52538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defTabSz="914400" fontAlgn="base">
              <a:spcBef>
                <a:spcPct val="0"/>
              </a:spcBef>
              <a:spcAft>
                <a:spcPct val="0"/>
              </a:spcAft>
            </a:pPr>
            <a:r>
              <a:rPr lang="en-US" sz="2000">
                <a:ea typeface="ＭＳ Ｐゴシック" pitchFamily="34" charset="-128"/>
              </a:rPr>
              <a:t>white arrow = direction of blood flow and sound</a:t>
            </a:r>
          </a:p>
        </p:txBody>
      </p:sp>
      <p:sp>
        <p:nvSpPr>
          <p:cNvPr id="16" name="Rectangle 13">
            <a:extLst>
              <a:ext uri="{FF2B5EF4-FFF2-40B4-BE49-F238E27FC236}">
                <a16:creationId xmlns:a16="http://schemas.microsoft.com/office/drawing/2014/main" id="{3F4BB6A8-ACA4-458C-9BC7-D4B6BA196D18}"/>
              </a:ext>
            </a:extLst>
          </p:cNvPr>
          <p:cNvSpPr>
            <a:spLocks noChangeArrowheads="1"/>
          </p:cNvSpPr>
          <p:nvPr/>
        </p:nvSpPr>
        <p:spPr bwMode="auto">
          <a:xfrm>
            <a:off x="531829" y="5280979"/>
            <a:ext cx="1125967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defTabSz="914400" fontAlgn="base">
              <a:spcBef>
                <a:spcPct val="0"/>
              </a:spcBef>
              <a:spcAft>
                <a:spcPct val="0"/>
              </a:spcAft>
              <a:buFont typeface="Arial" panose="020B0604020202020204" pitchFamily="34" charset="0"/>
              <a:buChar char="•"/>
            </a:pPr>
            <a:r>
              <a:rPr lang="en-US" sz="2800" dirty="0">
                <a:ea typeface="ＭＳ Ｐゴシック" pitchFamily="34" charset="-128"/>
              </a:rPr>
              <a:t>Surface projection of sound: left side of sternum opposite left 3</a:t>
            </a:r>
            <a:r>
              <a:rPr lang="en-US" sz="2800" baseline="30000" dirty="0">
                <a:ea typeface="ＭＳ Ｐゴシック" pitchFamily="34" charset="-128"/>
              </a:rPr>
              <a:t>rd</a:t>
            </a:r>
            <a:r>
              <a:rPr lang="en-US" sz="2800" dirty="0">
                <a:ea typeface="ＭＳ Ｐゴシック" pitchFamily="34" charset="-128"/>
              </a:rPr>
              <a:t> intercostal junction</a:t>
            </a:r>
          </a:p>
          <a:p>
            <a:pPr marL="457200" indent="-457200" defTabSz="914400" fontAlgn="base">
              <a:spcBef>
                <a:spcPct val="0"/>
              </a:spcBef>
              <a:spcAft>
                <a:spcPct val="0"/>
              </a:spcAft>
              <a:buFont typeface="Arial" panose="020B0604020202020204" pitchFamily="34" charset="0"/>
              <a:buChar char="•"/>
            </a:pPr>
            <a:r>
              <a:rPr lang="en-US" sz="2800" dirty="0">
                <a:ea typeface="ＭＳ Ｐゴシック" pitchFamily="34" charset="-128"/>
              </a:rPr>
              <a:t>Valve auscultated: </a:t>
            </a:r>
            <a:r>
              <a:rPr lang="en-US" sz="2800" b="1" dirty="0">
                <a:ea typeface="ＭＳ Ｐゴシック" pitchFamily="34" charset="-128"/>
              </a:rPr>
              <a:t>left side of sternum in left 2</a:t>
            </a:r>
            <a:r>
              <a:rPr lang="en-US" sz="2800" b="1" baseline="30000" dirty="0">
                <a:ea typeface="ＭＳ Ｐゴシック" pitchFamily="34" charset="-128"/>
              </a:rPr>
              <a:t>nd</a:t>
            </a:r>
            <a:r>
              <a:rPr lang="en-US" sz="2800" b="1" dirty="0">
                <a:ea typeface="ＭＳ Ｐゴシック" pitchFamily="34" charset="-128"/>
              </a:rPr>
              <a:t> intercostal space</a:t>
            </a:r>
          </a:p>
        </p:txBody>
      </p:sp>
      <p:cxnSp>
        <p:nvCxnSpPr>
          <p:cNvPr id="17" name="Straight Arrow Connector 16">
            <a:extLst>
              <a:ext uri="{FF2B5EF4-FFF2-40B4-BE49-F238E27FC236}">
                <a16:creationId xmlns:a16="http://schemas.microsoft.com/office/drawing/2014/main" id="{313EC18A-78C1-4316-901A-2FC8442A9FFE}"/>
              </a:ext>
            </a:extLst>
          </p:cNvPr>
          <p:cNvCxnSpPr>
            <a:cxnSpLocks/>
          </p:cNvCxnSpPr>
          <p:nvPr/>
        </p:nvCxnSpPr>
        <p:spPr>
          <a:xfrm flipV="1">
            <a:off x="2447809" y="2894079"/>
            <a:ext cx="277458" cy="348387"/>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49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Content Placeholder 3" descr="bicus1.gif"/>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634698" y="2384288"/>
            <a:ext cx="3669746" cy="2862402"/>
          </a:xfrm>
        </p:spPr>
      </p:pic>
      <p:pic>
        <p:nvPicPr>
          <p:cNvPr id="29700" name="Picture 4" descr="bicus2.g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61146" y="2384286"/>
            <a:ext cx="3688664" cy="2862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5" descr="bicus3.gi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095754" y="2384288"/>
            <a:ext cx="3727086" cy="2862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1">
            <a:extLst>
              <a:ext uri="{FF2B5EF4-FFF2-40B4-BE49-F238E27FC236}">
                <a16:creationId xmlns:a16="http://schemas.microsoft.com/office/drawing/2014/main" id="{AE4C4D9F-35B8-4649-A547-7C17163BD037}"/>
              </a:ext>
            </a:extLst>
          </p:cNvPr>
          <p:cNvSpPr txBox="1">
            <a:spLocks/>
          </p:cNvSpPr>
          <p:nvPr/>
        </p:nvSpPr>
        <p:spPr>
          <a:xfrm>
            <a:off x="838199" y="365125"/>
            <a:ext cx="1076930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Mitral</a:t>
            </a:r>
            <a:r>
              <a:rPr lang="en-US"/>
              <a:t> Valve in Relationship to Heart Sounds</a:t>
            </a:r>
          </a:p>
        </p:txBody>
      </p:sp>
      <p:sp>
        <p:nvSpPr>
          <p:cNvPr id="14" name="TextBox 6">
            <a:extLst>
              <a:ext uri="{FF2B5EF4-FFF2-40B4-BE49-F238E27FC236}">
                <a16:creationId xmlns:a16="http://schemas.microsoft.com/office/drawing/2014/main" id="{5FD333E1-28A3-4C7E-95B4-521F7CDEA81A}"/>
              </a:ext>
            </a:extLst>
          </p:cNvPr>
          <p:cNvSpPr txBox="1">
            <a:spLocks noChangeArrowheads="1"/>
          </p:cNvSpPr>
          <p:nvPr/>
        </p:nvSpPr>
        <p:spPr bwMode="auto">
          <a:xfrm>
            <a:off x="634699" y="1676401"/>
            <a:ext cx="4267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en-US" sz="2000" dirty="0">
                <a:solidFill>
                  <a:srgbClr val="C00000"/>
                </a:solidFill>
                <a:latin typeface="+mn-lt"/>
              </a:rPr>
              <a:t>O = surface projection of valve location</a:t>
            </a:r>
          </a:p>
          <a:p>
            <a:pPr defTabSz="914400" eaLnBrk="1" fontAlgn="base" hangingPunct="1">
              <a:spcBef>
                <a:spcPct val="0"/>
              </a:spcBef>
              <a:spcAft>
                <a:spcPct val="0"/>
              </a:spcAft>
            </a:pPr>
            <a:r>
              <a:rPr lang="en-US" sz="2000" dirty="0">
                <a:solidFill>
                  <a:srgbClr val="C00000"/>
                </a:solidFill>
                <a:latin typeface="+mn-lt"/>
              </a:rPr>
              <a:t>X = auscultation point of valve</a:t>
            </a:r>
          </a:p>
        </p:txBody>
      </p:sp>
      <p:sp>
        <p:nvSpPr>
          <p:cNvPr id="15" name="Rectangle 8">
            <a:extLst>
              <a:ext uri="{FF2B5EF4-FFF2-40B4-BE49-F238E27FC236}">
                <a16:creationId xmlns:a16="http://schemas.microsoft.com/office/drawing/2014/main" id="{C4EBB124-61C8-4B50-8A29-A64BF5F75515}"/>
              </a:ext>
            </a:extLst>
          </p:cNvPr>
          <p:cNvSpPr>
            <a:spLocks noChangeArrowheads="1"/>
          </p:cNvSpPr>
          <p:nvPr/>
        </p:nvSpPr>
        <p:spPr bwMode="auto">
          <a:xfrm>
            <a:off x="6353626" y="1863976"/>
            <a:ext cx="52538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defTabSz="914400" fontAlgn="base">
              <a:spcBef>
                <a:spcPct val="0"/>
              </a:spcBef>
              <a:spcAft>
                <a:spcPct val="0"/>
              </a:spcAft>
            </a:pPr>
            <a:r>
              <a:rPr lang="en-US" sz="2000">
                <a:ea typeface="ＭＳ Ｐゴシック" pitchFamily="34" charset="-128"/>
              </a:rPr>
              <a:t>white arrow = direction of blood flow and sound</a:t>
            </a:r>
          </a:p>
        </p:txBody>
      </p:sp>
      <p:sp>
        <p:nvSpPr>
          <p:cNvPr id="16" name="Rectangle 13">
            <a:extLst>
              <a:ext uri="{FF2B5EF4-FFF2-40B4-BE49-F238E27FC236}">
                <a16:creationId xmlns:a16="http://schemas.microsoft.com/office/drawing/2014/main" id="{4425F9C1-6168-4EF4-B9CA-B6700F934E7A}"/>
              </a:ext>
            </a:extLst>
          </p:cNvPr>
          <p:cNvSpPr>
            <a:spLocks noChangeArrowheads="1"/>
          </p:cNvSpPr>
          <p:nvPr/>
        </p:nvSpPr>
        <p:spPr bwMode="auto">
          <a:xfrm>
            <a:off x="531829" y="5326699"/>
            <a:ext cx="1125967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defTabSz="914400" fontAlgn="base">
              <a:spcBef>
                <a:spcPct val="0"/>
              </a:spcBef>
              <a:spcAft>
                <a:spcPct val="0"/>
              </a:spcAft>
              <a:buFont typeface="Arial" panose="020B0604020202020204" pitchFamily="34" charset="0"/>
              <a:buChar char="•"/>
            </a:pPr>
            <a:r>
              <a:rPr lang="en-US" sz="2800" dirty="0">
                <a:ea typeface="ＭＳ Ｐゴシック" pitchFamily="34" charset="-128"/>
              </a:rPr>
              <a:t>Surface projection of sound: left of sternum at 4</a:t>
            </a:r>
            <a:r>
              <a:rPr lang="en-US" sz="2800" baseline="30000" dirty="0">
                <a:ea typeface="ＭＳ Ｐゴシック" pitchFamily="34" charset="-128"/>
              </a:rPr>
              <a:t>th</a:t>
            </a:r>
            <a:r>
              <a:rPr lang="en-US" sz="2800" dirty="0">
                <a:ea typeface="ＭＳ Ｐゴシック" pitchFamily="34" charset="-128"/>
              </a:rPr>
              <a:t> intercostal junction</a:t>
            </a:r>
          </a:p>
          <a:p>
            <a:pPr marL="457200" indent="-457200" defTabSz="914400" fontAlgn="base">
              <a:spcBef>
                <a:spcPct val="0"/>
              </a:spcBef>
              <a:spcAft>
                <a:spcPct val="0"/>
              </a:spcAft>
              <a:buFont typeface="Arial" panose="020B0604020202020204" pitchFamily="34" charset="0"/>
              <a:buChar char="•"/>
            </a:pPr>
            <a:r>
              <a:rPr lang="en-US" sz="2800" dirty="0">
                <a:ea typeface="ＭＳ Ｐゴシック" pitchFamily="34" charset="-128"/>
              </a:rPr>
              <a:t>Valve auscultated: </a:t>
            </a:r>
            <a:r>
              <a:rPr lang="en-US" sz="2800" b="1" dirty="0">
                <a:ea typeface="ＭＳ Ｐゴシック" pitchFamily="34" charset="-128"/>
              </a:rPr>
              <a:t>5</a:t>
            </a:r>
            <a:r>
              <a:rPr lang="en-US" sz="2800" b="1" baseline="30000" dirty="0">
                <a:ea typeface="ＭＳ Ｐゴシック" pitchFamily="34" charset="-128"/>
              </a:rPr>
              <a:t>th</a:t>
            </a:r>
            <a:r>
              <a:rPr lang="en-US" sz="2800" b="1" dirty="0">
                <a:ea typeface="ＭＳ Ｐゴシック" pitchFamily="34" charset="-128"/>
              </a:rPr>
              <a:t> intercostal space in mid-clavicular line</a:t>
            </a:r>
          </a:p>
        </p:txBody>
      </p:sp>
      <p:cxnSp>
        <p:nvCxnSpPr>
          <p:cNvPr id="17" name="Straight Arrow Connector 16">
            <a:extLst>
              <a:ext uri="{FF2B5EF4-FFF2-40B4-BE49-F238E27FC236}">
                <a16:creationId xmlns:a16="http://schemas.microsoft.com/office/drawing/2014/main" id="{EEC122E9-4A01-4F0C-A387-BB8079CFCB00}"/>
              </a:ext>
            </a:extLst>
          </p:cNvPr>
          <p:cNvCxnSpPr>
            <a:cxnSpLocks/>
          </p:cNvCxnSpPr>
          <p:nvPr/>
        </p:nvCxnSpPr>
        <p:spPr>
          <a:xfrm>
            <a:off x="2360629" y="3636706"/>
            <a:ext cx="692526" cy="65102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52410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3" name="Content Placeholder 7" descr="semi_a1.gif"/>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666749" y="2395362"/>
            <a:ext cx="3619501" cy="2866645"/>
          </a:xfrm>
        </p:spPr>
      </p:pic>
      <p:pic>
        <p:nvPicPr>
          <p:cNvPr id="30724" name="Picture 8" descr="semi_a2.g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43401" y="2395362"/>
            <a:ext cx="3637874" cy="2866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9" descr="semi_a3.gi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038425" y="2384287"/>
            <a:ext cx="3689385" cy="2877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a:extLst>
              <a:ext uri="{FF2B5EF4-FFF2-40B4-BE49-F238E27FC236}">
                <a16:creationId xmlns:a16="http://schemas.microsoft.com/office/drawing/2014/main" id="{4D5A5561-E3D3-4D8A-8FF3-690725B7F02F}"/>
              </a:ext>
            </a:extLst>
          </p:cNvPr>
          <p:cNvSpPr txBox="1">
            <a:spLocks/>
          </p:cNvSpPr>
          <p:nvPr/>
        </p:nvSpPr>
        <p:spPr>
          <a:xfrm>
            <a:off x="838199" y="365125"/>
            <a:ext cx="1076930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Aortic</a:t>
            </a:r>
            <a:r>
              <a:rPr lang="en-US"/>
              <a:t> Valve in Relationship to Heart Sounds</a:t>
            </a:r>
          </a:p>
        </p:txBody>
      </p:sp>
      <p:sp>
        <p:nvSpPr>
          <p:cNvPr id="15" name="TextBox 6">
            <a:extLst>
              <a:ext uri="{FF2B5EF4-FFF2-40B4-BE49-F238E27FC236}">
                <a16:creationId xmlns:a16="http://schemas.microsoft.com/office/drawing/2014/main" id="{15052801-1B38-41B8-9586-DE971288D178}"/>
              </a:ext>
            </a:extLst>
          </p:cNvPr>
          <p:cNvSpPr txBox="1">
            <a:spLocks noChangeArrowheads="1"/>
          </p:cNvSpPr>
          <p:nvPr/>
        </p:nvSpPr>
        <p:spPr bwMode="auto">
          <a:xfrm>
            <a:off x="634699" y="1676401"/>
            <a:ext cx="4267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algn="r"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en-US" sz="2000" dirty="0">
                <a:solidFill>
                  <a:srgbClr val="C00000"/>
                </a:solidFill>
                <a:latin typeface="+mn-lt"/>
              </a:rPr>
              <a:t>O = surface projection of valve location</a:t>
            </a:r>
          </a:p>
          <a:p>
            <a:pPr defTabSz="914400" eaLnBrk="1" fontAlgn="base" hangingPunct="1">
              <a:spcBef>
                <a:spcPct val="0"/>
              </a:spcBef>
              <a:spcAft>
                <a:spcPct val="0"/>
              </a:spcAft>
            </a:pPr>
            <a:r>
              <a:rPr lang="en-US" sz="2000" dirty="0">
                <a:solidFill>
                  <a:srgbClr val="C00000"/>
                </a:solidFill>
                <a:latin typeface="+mn-lt"/>
              </a:rPr>
              <a:t>X = auscultation point of valve</a:t>
            </a:r>
          </a:p>
        </p:txBody>
      </p:sp>
      <p:sp>
        <p:nvSpPr>
          <p:cNvPr id="16" name="Rectangle 8">
            <a:extLst>
              <a:ext uri="{FF2B5EF4-FFF2-40B4-BE49-F238E27FC236}">
                <a16:creationId xmlns:a16="http://schemas.microsoft.com/office/drawing/2014/main" id="{5A9CCAA0-F3F5-435B-B785-4106D0B270E6}"/>
              </a:ext>
            </a:extLst>
          </p:cNvPr>
          <p:cNvSpPr>
            <a:spLocks noChangeArrowheads="1"/>
          </p:cNvSpPr>
          <p:nvPr/>
        </p:nvSpPr>
        <p:spPr bwMode="auto">
          <a:xfrm>
            <a:off x="6353626" y="1863976"/>
            <a:ext cx="52538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defTabSz="914400" fontAlgn="base">
              <a:spcBef>
                <a:spcPct val="0"/>
              </a:spcBef>
              <a:spcAft>
                <a:spcPct val="0"/>
              </a:spcAft>
            </a:pPr>
            <a:r>
              <a:rPr lang="en-US" sz="2000">
                <a:ea typeface="ＭＳ Ｐゴシック" pitchFamily="34" charset="-128"/>
              </a:rPr>
              <a:t>white arrow = direction of blood flow and sound</a:t>
            </a:r>
          </a:p>
        </p:txBody>
      </p:sp>
      <p:sp>
        <p:nvSpPr>
          <p:cNvPr id="17" name="Rectangle 13">
            <a:extLst>
              <a:ext uri="{FF2B5EF4-FFF2-40B4-BE49-F238E27FC236}">
                <a16:creationId xmlns:a16="http://schemas.microsoft.com/office/drawing/2014/main" id="{9EB9F31B-38D4-4A1A-98A1-1468CF9D6984}"/>
              </a:ext>
            </a:extLst>
          </p:cNvPr>
          <p:cNvSpPr>
            <a:spLocks noChangeArrowheads="1"/>
          </p:cNvSpPr>
          <p:nvPr/>
        </p:nvSpPr>
        <p:spPr bwMode="auto">
          <a:xfrm>
            <a:off x="554689" y="5258119"/>
            <a:ext cx="1125967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defTabSz="914400" fontAlgn="base">
              <a:spcBef>
                <a:spcPct val="0"/>
              </a:spcBef>
              <a:spcAft>
                <a:spcPct val="0"/>
              </a:spcAft>
              <a:buFont typeface="Arial" panose="020B0604020202020204" pitchFamily="34" charset="0"/>
              <a:buChar char="•"/>
            </a:pPr>
            <a:r>
              <a:rPr lang="en-US" sz="2800" dirty="0">
                <a:ea typeface="ＭＳ Ｐゴシック" pitchFamily="34" charset="-128"/>
              </a:rPr>
              <a:t>Surface projection of sound: behind sternum opposite 3</a:t>
            </a:r>
            <a:r>
              <a:rPr lang="en-US" sz="2800" baseline="30000" dirty="0">
                <a:ea typeface="ＭＳ Ｐゴシック" pitchFamily="34" charset="-128"/>
              </a:rPr>
              <a:t>rd</a:t>
            </a:r>
            <a:r>
              <a:rPr lang="en-US" sz="2800" dirty="0">
                <a:ea typeface="ＭＳ Ｐゴシック" pitchFamily="34" charset="-128"/>
              </a:rPr>
              <a:t> intercostal space</a:t>
            </a:r>
          </a:p>
          <a:p>
            <a:pPr marL="457200" indent="-457200" defTabSz="914400" fontAlgn="base">
              <a:spcBef>
                <a:spcPct val="0"/>
              </a:spcBef>
              <a:spcAft>
                <a:spcPct val="0"/>
              </a:spcAft>
              <a:buFont typeface="Arial" panose="020B0604020202020204" pitchFamily="34" charset="0"/>
              <a:buChar char="•"/>
            </a:pPr>
            <a:r>
              <a:rPr lang="en-US" sz="2800" dirty="0">
                <a:ea typeface="ＭＳ Ｐゴシック" pitchFamily="34" charset="-128"/>
              </a:rPr>
              <a:t>Valve auscultated: </a:t>
            </a:r>
            <a:r>
              <a:rPr lang="en-US" sz="2800" b="1" dirty="0">
                <a:ea typeface="ＭＳ Ｐゴシック" pitchFamily="34" charset="-128"/>
              </a:rPr>
              <a:t>right side of sternum in 2</a:t>
            </a:r>
            <a:r>
              <a:rPr lang="en-US" sz="2800" b="1" baseline="30000" dirty="0">
                <a:ea typeface="ＭＳ Ｐゴシック" pitchFamily="34" charset="-128"/>
              </a:rPr>
              <a:t>nd</a:t>
            </a:r>
            <a:r>
              <a:rPr lang="en-US" sz="2800" b="1" dirty="0">
                <a:ea typeface="ＭＳ Ｐゴシック" pitchFamily="34" charset="-128"/>
              </a:rPr>
              <a:t> intercostal space</a:t>
            </a:r>
          </a:p>
        </p:txBody>
      </p:sp>
      <p:cxnSp>
        <p:nvCxnSpPr>
          <p:cNvPr id="18" name="Straight Arrow Connector 17">
            <a:extLst>
              <a:ext uri="{FF2B5EF4-FFF2-40B4-BE49-F238E27FC236}">
                <a16:creationId xmlns:a16="http://schemas.microsoft.com/office/drawing/2014/main" id="{6130D3BC-3B65-4A7C-9B22-CC575940D469}"/>
              </a:ext>
            </a:extLst>
          </p:cNvPr>
          <p:cNvCxnSpPr>
            <a:cxnSpLocks/>
          </p:cNvCxnSpPr>
          <p:nvPr/>
        </p:nvCxnSpPr>
        <p:spPr>
          <a:xfrm flipH="1" flipV="1">
            <a:off x="2078020" y="3160059"/>
            <a:ext cx="398479" cy="430927"/>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4998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0941E-5DC1-4BF8-809F-9C4B2EDDEFBA}"/>
              </a:ext>
            </a:extLst>
          </p:cNvPr>
          <p:cNvSpPr>
            <a:spLocks noGrp="1"/>
          </p:cNvSpPr>
          <p:nvPr>
            <p:ph type="title"/>
          </p:nvPr>
        </p:nvSpPr>
        <p:spPr/>
        <p:txBody>
          <a:bodyPr/>
          <a:lstStyle/>
          <a:p>
            <a:r>
              <a:rPr lang="en-US" dirty="0"/>
              <a:t>Assess Skin</a:t>
            </a:r>
          </a:p>
        </p:txBody>
      </p:sp>
      <p:sp>
        <p:nvSpPr>
          <p:cNvPr id="3" name="Content Placeholder 2">
            <a:extLst>
              <a:ext uri="{FF2B5EF4-FFF2-40B4-BE49-F238E27FC236}">
                <a16:creationId xmlns:a16="http://schemas.microsoft.com/office/drawing/2014/main" id="{2E4BC031-8CF4-4D5D-B549-7C759FBC1567}"/>
              </a:ext>
            </a:extLst>
          </p:cNvPr>
          <p:cNvSpPr>
            <a:spLocks noGrp="1"/>
          </p:cNvSpPr>
          <p:nvPr>
            <p:ph idx="1"/>
          </p:nvPr>
        </p:nvSpPr>
        <p:spPr>
          <a:xfrm>
            <a:off x="838200" y="1825625"/>
            <a:ext cx="10515600" cy="4769486"/>
          </a:xfrm>
        </p:spPr>
        <p:txBody>
          <a:bodyPr>
            <a:normAutofit/>
          </a:bodyPr>
          <a:lstStyle/>
          <a:p>
            <a:r>
              <a:rPr lang="en-US" dirty="0"/>
              <a:t>Skin examination in relation to cardiovascular system</a:t>
            </a:r>
          </a:p>
          <a:p>
            <a:pPr lvl="1"/>
            <a:r>
              <a:rPr lang="en-US" dirty="0"/>
              <a:t>Assess for ulcers, nonhealing wounds, or abnormal venous patterns and examine skin color and hair distribution</a:t>
            </a:r>
          </a:p>
          <a:p>
            <a:r>
              <a:rPr lang="en-US" dirty="0"/>
              <a:t>Observe fingernails for </a:t>
            </a:r>
            <a:r>
              <a:rPr lang="en-US" b="1" dirty="0"/>
              <a:t>clubbing</a:t>
            </a:r>
            <a:r>
              <a:rPr lang="en-US" dirty="0"/>
              <a:t>: bulbous swelling of the soft tissue at the nail base seen in hypoxic conditions and certain heart conditions</a:t>
            </a:r>
          </a:p>
          <a:p>
            <a:r>
              <a:rPr lang="en-US" dirty="0"/>
              <a:t>Check </a:t>
            </a:r>
            <a:r>
              <a:rPr lang="en-US" b="1" dirty="0"/>
              <a:t>capillary refill </a:t>
            </a:r>
            <a:r>
              <a:rPr lang="en-US" dirty="0"/>
              <a:t>in fingernails and toenails: greater than 5 seconds suggest poor peripheral circulation</a:t>
            </a:r>
          </a:p>
          <a:p>
            <a:r>
              <a:rPr lang="en-US" dirty="0"/>
              <a:t>Observe lips for </a:t>
            </a:r>
            <a:r>
              <a:rPr lang="en-US" b="1" dirty="0"/>
              <a:t>cyanosis</a:t>
            </a:r>
            <a:r>
              <a:rPr lang="en-US" dirty="0"/>
              <a:t>: bluish-tinged lips suggest hypoxia</a:t>
            </a:r>
          </a:p>
          <a:p>
            <a:endParaRPr lang="en-US" dirty="0"/>
          </a:p>
        </p:txBody>
      </p:sp>
    </p:spTree>
    <p:extLst>
      <p:ext uri="{BB962C8B-B14F-4D97-AF65-F5344CB8AC3E}">
        <p14:creationId xmlns:p14="http://schemas.microsoft.com/office/powerpoint/2010/main" val="28479261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A8091-FBAD-41BD-910E-66D9FE863109}"/>
              </a:ext>
            </a:extLst>
          </p:cNvPr>
          <p:cNvSpPr>
            <a:spLocks noGrp="1"/>
          </p:cNvSpPr>
          <p:nvPr>
            <p:ph type="title"/>
          </p:nvPr>
        </p:nvSpPr>
        <p:spPr/>
        <p:txBody>
          <a:bodyPr/>
          <a:lstStyle/>
          <a:p>
            <a:r>
              <a:rPr lang="en-US" dirty="0"/>
              <a:t>Fingernail Clubbing</a:t>
            </a:r>
          </a:p>
        </p:txBody>
      </p:sp>
      <p:pic>
        <p:nvPicPr>
          <p:cNvPr id="2052" name="Picture 4" descr="Clubbed Nails Picture Image on MedicineNet.com">
            <a:extLst>
              <a:ext uri="{FF2B5EF4-FFF2-40B4-BE49-F238E27FC236}">
                <a16:creationId xmlns:a16="http://schemas.microsoft.com/office/drawing/2014/main" id="{B6D94489-3F4C-49F6-8E0E-F5F629A997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706" r="8676"/>
          <a:stretch/>
        </p:blipFill>
        <p:spPr bwMode="auto">
          <a:xfrm>
            <a:off x="6050280" y="1533524"/>
            <a:ext cx="5820033" cy="48500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4763F72-5A5B-40FD-A22C-0B6F30265B91}"/>
              </a:ext>
            </a:extLst>
          </p:cNvPr>
          <p:cNvPicPr>
            <a:picLocks noChangeAspect="1"/>
          </p:cNvPicPr>
          <p:nvPr/>
        </p:nvPicPr>
        <p:blipFill>
          <a:blip r:embed="rId3"/>
          <a:stretch>
            <a:fillRect/>
          </a:stretch>
        </p:blipFill>
        <p:spPr>
          <a:xfrm>
            <a:off x="319089" y="1533524"/>
            <a:ext cx="5574983" cy="4851948"/>
          </a:xfrm>
          <a:prstGeom prst="rect">
            <a:avLst/>
          </a:prstGeom>
        </p:spPr>
      </p:pic>
    </p:spTree>
    <p:extLst>
      <p:ext uri="{BB962C8B-B14F-4D97-AF65-F5344CB8AC3E}">
        <p14:creationId xmlns:p14="http://schemas.microsoft.com/office/powerpoint/2010/main" val="35140363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65993-BB0C-497D-AA62-C5FCB677CD27}"/>
              </a:ext>
            </a:extLst>
          </p:cNvPr>
          <p:cNvSpPr>
            <a:spLocks noGrp="1"/>
          </p:cNvSpPr>
          <p:nvPr>
            <p:ph type="title"/>
          </p:nvPr>
        </p:nvSpPr>
        <p:spPr/>
        <p:txBody>
          <a:bodyPr/>
          <a:lstStyle/>
          <a:p>
            <a:r>
              <a:rPr lang="en-US" dirty="0"/>
              <a:t>Cyanotic Lips</a:t>
            </a:r>
          </a:p>
        </p:txBody>
      </p:sp>
      <p:pic>
        <p:nvPicPr>
          <p:cNvPr id="3074" name="Picture 2" descr="Cyanotic Lips or Central Cyanosis at Southeast Asian, Chinese Young Man  with Congenital Heart Disease. Stock Image - Image of breathlessness,  discoloured: 181044705">
            <a:extLst>
              <a:ext uri="{FF2B5EF4-FFF2-40B4-BE49-F238E27FC236}">
                <a16:creationId xmlns:a16="http://schemas.microsoft.com/office/drawing/2014/main" id="{81E2C7B0-CD24-4A83-8C63-A8F163573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803" y="1850708"/>
            <a:ext cx="5546453" cy="384143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yanotic Lips Central Cyanosis Southeast Asian Stock Photo 1642558072 |  Shutterstock">
            <a:extLst>
              <a:ext uri="{FF2B5EF4-FFF2-40B4-BE49-F238E27FC236}">
                <a16:creationId xmlns:a16="http://schemas.microsoft.com/office/drawing/2014/main" id="{30775CBF-E209-4D99-AA71-E94EDEB458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143"/>
          <a:stretch/>
        </p:blipFill>
        <p:spPr bwMode="auto">
          <a:xfrm>
            <a:off x="5904428" y="1850708"/>
            <a:ext cx="5983769" cy="3841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06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0941E-5DC1-4BF8-809F-9C4B2EDDEFBA}"/>
              </a:ext>
            </a:extLst>
          </p:cNvPr>
          <p:cNvSpPr>
            <a:spLocks noGrp="1"/>
          </p:cNvSpPr>
          <p:nvPr>
            <p:ph type="title"/>
          </p:nvPr>
        </p:nvSpPr>
        <p:spPr/>
        <p:txBody>
          <a:bodyPr/>
          <a:lstStyle/>
          <a:p>
            <a:r>
              <a:rPr lang="en-US" dirty="0"/>
              <a:t>Assess Skin</a:t>
            </a:r>
          </a:p>
        </p:txBody>
      </p:sp>
      <p:sp>
        <p:nvSpPr>
          <p:cNvPr id="3" name="Content Placeholder 2">
            <a:extLst>
              <a:ext uri="{FF2B5EF4-FFF2-40B4-BE49-F238E27FC236}">
                <a16:creationId xmlns:a16="http://schemas.microsoft.com/office/drawing/2014/main" id="{2E4BC031-8CF4-4D5D-B549-7C759FBC1567}"/>
              </a:ext>
            </a:extLst>
          </p:cNvPr>
          <p:cNvSpPr>
            <a:spLocks noGrp="1"/>
          </p:cNvSpPr>
          <p:nvPr>
            <p:ph idx="1"/>
          </p:nvPr>
        </p:nvSpPr>
        <p:spPr>
          <a:xfrm>
            <a:off x="838200" y="1825624"/>
            <a:ext cx="11049000" cy="4860925"/>
          </a:xfrm>
        </p:spPr>
        <p:txBody>
          <a:bodyPr>
            <a:normAutofit lnSpcReduction="10000"/>
          </a:bodyPr>
          <a:lstStyle/>
          <a:p>
            <a:r>
              <a:rPr lang="en-US" dirty="0"/>
              <a:t>Palpate for </a:t>
            </a:r>
            <a:r>
              <a:rPr lang="en-US" b="1" dirty="0"/>
              <a:t>lower extremity edema </a:t>
            </a:r>
            <a:r>
              <a:rPr lang="en-US" dirty="0"/>
              <a:t>by pressing firmly but gently with your thumb for 1-2 seconds over the dorsum of each foot, behind each medial malleolus, and over the anterior tibia</a:t>
            </a:r>
          </a:p>
          <a:p>
            <a:r>
              <a:rPr lang="en-US" dirty="0"/>
              <a:t>Look for </a:t>
            </a:r>
            <a:r>
              <a:rPr lang="en-US" b="1" dirty="0"/>
              <a:t>pitting</a:t>
            </a:r>
            <a:r>
              <a:rPr lang="en-US" dirty="0"/>
              <a:t>: a depression caused by pressure from your thumb</a:t>
            </a:r>
          </a:p>
          <a:p>
            <a:pPr lvl="1"/>
            <a:r>
              <a:rPr lang="en-US" b="1" dirty="0"/>
              <a:t>No pitting = normal</a:t>
            </a:r>
          </a:p>
          <a:p>
            <a:pPr lvl="1"/>
            <a:r>
              <a:rPr lang="en-US" dirty="0"/>
              <a:t>1+ = barely detectable impression (&lt; 2 mm) when finger is pressed into skin</a:t>
            </a:r>
          </a:p>
          <a:p>
            <a:pPr lvl="1"/>
            <a:r>
              <a:rPr lang="en-US" dirty="0"/>
              <a:t>2+ = slight indentation (2-4 mm), 15 seconds to rebound</a:t>
            </a:r>
          </a:p>
          <a:p>
            <a:pPr lvl="1"/>
            <a:r>
              <a:rPr lang="en-US" dirty="0"/>
              <a:t>3+ = deeper indentation (4-6 mm), 30 seconds to rebound</a:t>
            </a:r>
          </a:p>
          <a:p>
            <a:pPr lvl="1"/>
            <a:r>
              <a:rPr lang="en-US" dirty="0"/>
              <a:t>4+ = very deep indentation (6-8 mm), &gt; 30 seconds to rebound</a:t>
            </a:r>
          </a:p>
        </p:txBody>
      </p:sp>
    </p:spTree>
    <p:extLst>
      <p:ext uri="{BB962C8B-B14F-4D97-AF65-F5344CB8AC3E}">
        <p14:creationId xmlns:p14="http://schemas.microsoft.com/office/powerpoint/2010/main" val="34618590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65609-561C-4710-89A8-09BA4ACE7682}"/>
              </a:ext>
            </a:extLst>
          </p:cNvPr>
          <p:cNvSpPr>
            <a:spLocks noGrp="1"/>
          </p:cNvSpPr>
          <p:nvPr>
            <p:ph type="title"/>
          </p:nvPr>
        </p:nvSpPr>
        <p:spPr/>
        <p:txBody>
          <a:bodyPr/>
          <a:lstStyle/>
          <a:p>
            <a:r>
              <a:rPr lang="en-US" dirty="0"/>
              <a:t>Pitting Edema</a:t>
            </a:r>
          </a:p>
        </p:txBody>
      </p:sp>
      <p:pic>
        <p:nvPicPr>
          <p:cNvPr id="4" name="Picture 3">
            <a:extLst>
              <a:ext uri="{FF2B5EF4-FFF2-40B4-BE49-F238E27FC236}">
                <a16:creationId xmlns:a16="http://schemas.microsoft.com/office/drawing/2014/main" id="{136998B2-A4E5-4A45-9A0E-35F61EACE795}"/>
              </a:ext>
            </a:extLst>
          </p:cNvPr>
          <p:cNvPicPr>
            <a:picLocks noChangeAspect="1"/>
          </p:cNvPicPr>
          <p:nvPr/>
        </p:nvPicPr>
        <p:blipFill>
          <a:blip r:embed="rId3"/>
          <a:stretch>
            <a:fillRect/>
          </a:stretch>
        </p:blipFill>
        <p:spPr>
          <a:xfrm>
            <a:off x="1051560" y="1549717"/>
            <a:ext cx="4331970" cy="4411602"/>
          </a:xfrm>
          <a:prstGeom prst="rect">
            <a:avLst/>
          </a:prstGeom>
        </p:spPr>
      </p:pic>
      <p:pic>
        <p:nvPicPr>
          <p:cNvPr id="4100" name="Picture 4" descr="Pitting edema: Symptoms, causes, and when to see a doctor">
            <a:extLst>
              <a:ext uri="{FF2B5EF4-FFF2-40B4-BE49-F238E27FC236}">
                <a16:creationId xmlns:a16="http://schemas.microsoft.com/office/drawing/2014/main" id="{2224C069-8622-46B8-ACF2-1C40FADE25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7324" y="1027906"/>
            <a:ext cx="4633661" cy="265226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49B6E1C-BDD5-4FEE-8E95-D87CD17D8970}"/>
              </a:ext>
            </a:extLst>
          </p:cNvPr>
          <p:cNvPicPr>
            <a:picLocks noChangeAspect="1"/>
          </p:cNvPicPr>
          <p:nvPr/>
        </p:nvPicPr>
        <p:blipFill>
          <a:blip r:embed="rId5"/>
          <a:stretch>
            <a:fillRect/>
          </a:stretch>
        </p:blipFill>
        <p:spPr>
          <a:xfrm>
            <a:off x="6537960" y="3755518"/>
            <a:ext cx="3280409" cy="2944817"/>
          </a:xfrm>
          <a:prstGeom prst="rect">
            <a:avLst/>
          </a:prstGeom>
        </p:spPr>
      </p:pic>
    </p:spTree>
    <p:extLst>
      <p:ext uri="{BB962C8B-B14F-4D97-AF65-F5344CB8AC3E}">
        <p14:creationId xmlns:p14="http://schemas.microsoft.com/office/powerpoint/2010/main" val="15713955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BDB3E5-B952-4095-93C2-3B4C2DACF499}"/>
              </a:ext>
            </a:extLst>
          </p:cNvPr>
          <p:cNvSpPr>
            <a:spLocks noGrp="1"/>
          </p:cNvSpPr>
          <p:nvPr>
            <p:ph type="title"/>
          </p:nvPr>
        </p:nvSpPr>
        <p:spPr/>
        <p:txBody>
          <a:bodyPr/>
          <a:lstStyle/>
          <a:p>
            <a:r>
              <a:rPr lang="en-US" dirty="0"/>
              <a:t>Identify Point of Maximal Impulse (PMI)</a:t>
            </a:r>
          </a:p>
        </p:txBody>
      </p:sp>
      <p:sp>
        <p:nvSpPr>
          <p:cNvPr id="4" name="Content Placeholder 3">
            <a:extLst>
              <a:ext uri="{FF2B5EF4-FFF2-40B4-BE49-F238E27FC236}">
                <a16:creationId xmlns:a16="http://schemas.microsoft.com/office/drawing/2014/main" id="{10881F6B-4FA6-4F75-A760-41EE130E1E52}"/>
              </a:ext>
            </a:extLst>
          </p:cNvPr>
          <p:cNvSpPr>
            <a:spLocks noGrp="1"/>
          </p:cNvSpPr>
          <p:nvPr>
            <p:ph idx="1"/>
          </p:nvPr>
        </p:nvSpPr>
        <p:spPr>
          <a:xfrm>
            <a:off x="838200" y="1825624"/>
            <a:ext cx="10515600" cy="4826635"/>
          </a:xfrm>
        </p:spPr>
        <p:txBody>
          <a:bodyPr>
            <a:normAutofit/>
          </a:bodyPr>
          <a:lstStyle/>
          <a:p>
            <a:r>
              <a:rPr lang="en-US" b="1" dirty="0"/>
              <a:t>Inspect</a:t>
            </a:r>
            <a:r>
              <a:rPr lang="en-US" dirty="0"/>
              <a:t> the left anterior chest for a visible PMI</a:t>
            </a:r>
          </a:p>
          <a:p>
            <a:r>
              <a:rPr lang="en-US" dirty="0"/>
              <a:t>Using your finger pads, </a:t>
            </a:r>
            <a:r>
              <a:rPr lang="en-US" b="1" dirty="0"/>
              <a:t>palpate</a:t>
            </a:r>
            <a:r>
              <a:rPr lang="en-US" dirty="0"/>
              <a:t> at the apex for the PMI</a:t>
            </a:r>
          </a:p>
          <a:p>
            <a:r>
              <a:rPr lang="en-US" b="1" dirty="0"/>
              <a:t>Locate</a:t>
            </a:r>
            <a:r>
              <a:rPr lang="en-US" dirty="0"/>
              <a:t> the PMI by intercostal space (usually the 5</a:t>
            </a:r>
            <a:r>
              <a:rPr lang="en-US" baseline="30000" dirty="0"/>
              <a:t>th</a:t>
            </a:r>
            <a:r>
              <a:rPr lang="en-US" dirty="0"/>
              <a:t> or 4</a:t>
            </a:r>
            <a:r>
              <a:rPr lang="en-US" baseline="30000" dirty="0"/>
              <a:t>th</a:t>
            </a:r>
            <a:r>
              <a:rPr lang="en-US" dirty="0"/>
              <a:t>, gives vertical location) and the distance in centimeters from the midclavicular line (gives horizontal location)</a:t>
            </a:r>
          </a:p>
          <a:p>
            <a:pPr lvl="1"/>
            <a:r>
              <a:rPr lang="en-US" dirty="0"/>
              <a:t>Assess the diameter of the PMI: should occupy one interspace and be </a:t>
            </a:r>
            <a:r>
              <a:rPr lang="en-US" b="1" dirty="0"/>
              <a:t>less than 2.5 cm</a:t>
            </a:r>
          </a:p>
          <a:p>
            <a:pPr lvl="1"/>
            <a:r>
              <a:rPr lang="en-US" dirty="0"/>
              <a:t>Assess the amplitude and duration of the PMI: should be </a:t>
            </a:r>
            <a:r>
              <a:rPr lang="en-US" b="1" dirty="0"/>
              <a:t>brisk</a:t>
            </a:r>
            <a:r>
              <a:rPr lang="en-US" dirty="0"/>
              <a:t> and </a:t>
            </a:r>
            <a:r>
              <a:rPr lang="en-US" b="1" dirty="0"/>
              <a:t>non-sustained</a:t>
            </a:r>
          </a:p>
        </p:txBody>
      </p:sp>
    </p:spTree>
    <p:extLst>
      <p:ext uri="{BB962C8B-B14F-4D97-AF65-F5344CB8AC3E}">
        <p14:creationId xmlns:p14="http://schemas.microsoft.com/office/powerpoint/2010/main" val="13645248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BDB3E5-B952-4095-93C2-3B4C2DACF499}"/>
              </a:ext>
            </a:extLst>
          </p:cNvPr>
          <p:cNvSpPr>
            <a:spLocks noGrp="1"/>
          </p:cNvSpPr>
          <p:nvPr>
            <p:ph type="title"/>
          </p:nvPr>
        </p:nvSpPr>
        <p:spPr/>
        <p:txBody>
          <a:bodyPr/>
          <a:lstStyle/>
          <a:p>
            <a:r>
              <a:rPr lang="en-US" dirty="0"/>
              <a:t>Identify Point of Maximal Impulse (PMI)</a:t>
            </a:r>
          </a:p>
        </p:txBody>
      </p:sp>
      <p:sp>
        <p:nvSpPr>
          <p:cNvPr id="4" name="Content Placeholder 3">
            <a:extLst>
              <a:ext uri="{FF2B5EF4-FFF2-40B4-BE49-F238E27FC236}">
                <a16:creationId xmlns:a16="http://schemas.microsoft.com/office/drawing/2014/main" id="{10881F6B-4FA6-4F75-A760-41EE130E1E52}"/>
              </a:ext>
            </a:extLst>
          </p:cNvPr>
          <p:cNvSpPr>
            <a:spLocks noGrp="1"/>
          </p:cNvSpPr>
          <p:nvPr>
            <p:ph idx="1"/>
          </p:nvPr>
        </p:nvSpPr>
        <p:spPr/>
        <p:txBody>
          <a:bodyPr>
            <a:normAutofit/>
          </a:bodyPr>
          <a:lstStyle/>
          <a:p>
            <a:r>
              <a:rPr lang="en-US" dirty="0"/>
              <a:t>The PMI may be:</a:t>
            </a:r>
          </a:p>
          <a:p>
            <a:pPr lvl="1"/>
            <a:r>
              <a:rPr lang="en-US" b="1" dirty="0"/>
              <a:t>Tapping</a:t>
            </a:r>
            <a:r>
              <a:rPr lang="en-US" dirty="0"/>
              <a:t>: normal</a:t>
            </a:r>
          </a:p>
          <a:p>
            <a:pPr lvl="1"/>
            <a:r>
              <a:rPr lang="en-US" b="1" dirty="0"/>
              <a:t>Forceful and terminates quickly</a:t>
            </a:r>
            <a:r>
              <a:rPr lang="en-US" dirty="0"/>
              <a:t>: suggests hyperkinesis from hypermetabolic states or aortic regurgitation</a:t>
            </a:r>
          </a:p>
          <a:p>
            <a:pPr lvl="1"/>
            <a:r>
              <a:rPr lang="en-US" b="1" dirty="0"/>
              <a:t>Diffuse and/or displaced</a:t>
            </a:r>
            <a:r>
              <a:rPr lang="en-US" dirty="0"/>
              <a:t>: suggests a dilated ventricle from heart failure or cardiomyopathy</a:t>
            </a:r>
          </a:p>
        </p:txBody>
      </p:sp>
    </p:spTree>
    <p:extLst>
      <p:ext uri="{BB962C8B-B14F-4D97-AF65-F5344CB8AC3E}">
        <p14:creationId xmlns:p14="http://schemas.microsoft.com/office/powerpoint/2010/main" val="12500248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Inspect the Chest Wall</a:t>
            </a:r>
          </a:p>
        </p:txBody>
      </p:sp>
      <p:sp>
        <p:nvSpPr>
          <p:cNvPr id="3" name="Content Placeholder 2"/>
          <p:cNvSpPr>
            <a:spLocks noGrp="1"/>
          </p:cNvSpPr>
          <p:nvPr>
            <p:ph idx="1"/>
          </p:nvPr>
        </p:nvSpPr>
        <p:spPr>
          <a:xfrm>
            <a:off x="838200" y="1825625"/>
            <a:ext cx="5257800" cy="4351338"/>
          </a:xfrm>
        </p:spPr>
        <p:txBody>
          <a:bodyPr/>
          <a:lstStyle/>
          <a:p>
            <a:r>
              <a:rPr lang="en-US" dirty="0"/>
              <a:t>Inspect for </a:t>
            </a:r>
            <a:r>
              <a:rPr lang="en-US" b="1" dirty="0"/>
              <a:t>lifts/heaves </a:t>
            </a:r>
            <a:r>
              <a:rPr lang="en-US" dirty="0"/>
              <a:t>using </a:t>
            </a:r>
            <a:r>
              <a:rPr lang="en-US" b="1" dirty="0"/>
              <a:t>tangential light</a:t>
            </a:r>
            <a:r>
              <a:rPr lang="en-US" dirty="0"/>
              <a:t>: produced by forceful cardiac contractions</a:t>
            </a:r>
          </a:p>
          <a:p>
            <a:pPr lvl="1"/>
            <a:r>
              <a:rPr lang="en-US" dirty="0"/>
              <a:t>Aortic</a:t>
            </a:r>
          </a:p>
          <a:p>
            <a:pPr lvl="1"/>
            <a:r>
              <a:rPr lang="en-US" dirty="0"/>
              <a:t>Pulmonic</a:t>
            </a:r>
          </a:p>
          <a:p>
            <a:pPr lvl="1"/>
            <a:r>
              <a:rPr lang="en-US" dirty="0"/>
              <a:t>Left 3</a:t>
            </a:r>
            <a:r>
              <a:rPr lang="en-US" baseline="30000" dirty="0"/>
              <a:t>rd</a:t>
            </a:r>
            <a:r>
              <a:rPr lang="en-US" dirty="0"/>
              <a:t> interspace</a:t>
            </a:r>
          </a:p>
          <a:p>
            <a:pPr lvl="1"/>
            <a:r>
              <a:rPr lang="en-US" dirty="0"/>
              <a:t>Apex (PMI)</a:t>
            </a:r>
          </a:p>
        </p:txBody>
      </p:sp>
      <p:pic>
        <p:nvPicPr>
          <p:cNvPr id="4" name="Picture 6" descr="UNF2876-008-028">
            <a:extLst>
              <a:ext uri="{FF2B5EF4-FFF2-40B4-BE49-F238E27FC236}">
                <a16:creationId xmlns:a16="http://schemas.microsoft.com/office/drawing/2014/main" id="{A35A359B-986E-43A3-AEAF-79511B7AAC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333734"/>
            <a:ext cx="5730240" cy="4976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15855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93987F-108F-44E7-B579-4C971DA4D85A}"/>
              </a:ext>
            </a:extLst>
          </p:cNvPr>
          <p:cNvSpPr>
            <a:spLocks noGrp="1"/>
          </p:cNvSpPr>
          <p:nvPr>
            <p:ph type="title"/>
          </p:nvPr>
        </p:nvSpPr>
        <p:spPr/>
        <p:txBody>
          <a:bodyPr/>
          <a:lstStyle/>
          <a:p>
            <a:r>
              <a:rPr lang="en-US" dirty="0"/>
              <a:t>Cardiac Heaves</a:t>
            </a:r>
          </a:p>
        </p:txBody>
      </p:sp>
      <p:pic>
        <p:nvPicPr>
          <p:cNvPr id="12" name="Online Media 11">
            <a:hlinkClick r:id="" action="ppaction://media"/>
            <a:extLst>
              <a:ext uri="{FF2B5EF4-FFF2-40B4-BE49-F238E27FC236}">
                <a16:creationId xmlns:a16="http://schemas.microsoft.com/office/drawing/2014/main" id="{200D2F7D-E204-4D09-98B7-67B392293245}"/>
              </a:ext>
            </a:extLst>
          </p:cNvPr>
          <p:cNvPicPr>
            <a:picLocks noGrp="1" noRot="1" noChangeAspect="1"/>
          </p:cNvPicPr>
          <p:nvPr>
            <p:ph sz="quarter" idx="4294967295"/>
            <a:videoFile r:link="rId1"/>
          </p:nvPr>
        </p:nvPicPr>
        <p:blipFill>
          <a:blip r:embed="rId5"/>
          <a:stretch>
            <a:fillRect/>
          </a:stretch>
        </p:blipFill>
        <p:spPr>
          <a:xfrm>
            <a:off x="6101199" y="1917200"/>
            <a:ext cx="6067941" cy="3413430"/>
          </a:xfrm>
          <a:prstGeom prst="rect">
            <a:avLst/>
          </a:prstGeom>
        </p:spPr>
      </p:pic>
      <p:pic>
        <p:nvPicPr>
          <p:cNvPr id="7" name="Online Media 12">
            <a:hlinkClick r:id="" action="ppaction://media"/>
            <a:extLst>
              <a:ext uri="{FF2B5EF4-FFF2-40B4-BE49-F238E27FC236}">
                <a16:creationId xmlns:a16="http://schemas.microsoft.com/office/drawing/2014/main" id="{43044D45-D5E4-4238-B2DC-D7ACAEA24C46}"/>
              </a:ext>
            </a:extLst>
          </p:cNvPr>
          <p:cNvPicPr>
            <a:picLocks noRot="1" noChangeAspect="1"/>
          </p:cNvPicPr>
          <p:nvPr>
            <a:videoFile r:link="rId2"/>
          </p:nvPr>
        </p:nvPicPr>
        <p:blipFill>
          <a:blip r:embed="rId6"/>
          <a:stretch>
            <a:fillRect/>
          </a:stretch>
        </p:blipFill>
        <p:spPr>
          <a:xfrm>
            <a:off x="38642" y="1917200"/>
            <a:ext cx="6045928" cy="3413430"/>
          </a:xfrm>
          <a:prstGeom prst="rect">
            <a:avLst/>
          </a:prstGeom>
        </p:spPr>
      </p:pic>
    </p:spTree>
    <p:extLst>
      <p:ext uri="{BB962C8B-B14F-4D97-AF65-F5344CB8AC3E}">
        <p14:creationId xmlns:p14="http://schemas.microsoft.com/office/powerpoint/2010/main" val="5594730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20" name="Picture 6" descr="UNF2876-008-0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333734"/>
            <a:ext cx="5730240" cy="4976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5"/>
          <p:cNvSpPr txBox="1">
            <a:spLocks noChangeArrowheads="1"/>
          </p:cNvSpPr>
          <p:nvPr/>
        </p:nvSpPr>
        <p:spPr>
          <a:xfrm>
            <a:off x="4771655" y="2263139"/>
            <a:ext cx="2920847" cy="4800267"/>
          </a:xfrm>
          <a:prstGeom prst="rect">
            <a:avLst/>
          </a:prstGeom>
        </p:spPr>
        <p:txBody>
          <a:bodyPr/>
          <a:lstStyle/>
          <a:p>
            <a:pPr defTabSz="914400" eaLnBrk="0" fontAlgn="base" hangingPunct="0">
              <a:spcBef>
                <a:spcPct val="50000"/>
              </a:spcBef>
              <a:spcAft>
                <a:spcPct val="0"/>
              </a:spcAft>
              <a:buClr>
                <a:srgbClr val="000066"/>
              </a:buClr>
              <a:defRPr/>
            </a:pPr>
            <a:endParaRPr lang="en-US" sz="2800" kern="0" dirty="0">
              <a:solidFill>
                <a:srgbClr val="000066"/>
              </a:solidFill>
              <a:latin typeface="Arial"/>
              <a:ea typeface="ＭＳ Ｐゴシック" pitchFamily="34" charset="-128"/>
            </a:endParaRPr>
          </a:p>
        </p:txBody>
      </p:sp>
      <p:sp>
        <p:nvSpPr>
          <p:cNvPr id="4" name="Title 3">
            <a:extLst>
              <a:ext uri="{FF2B5EF4-FFF2-40B4-BE49-F238E27FC236}">
                <a16:creationId xmlns:a16="http://schemas.microsoft.com/office/drawing/2014/main" id="{F5F511D1-DA7B-4D8D-877B-225F07E6F277}"/>
              </a:ext>
            </a:extLst>
          </p:cNvPr>
          <p:cNvSpPr>
            <a:spLocks noGrp="1"/>
          </p:cNvSpPr>
          <p:nvPr>
            <p:ph type="title"/>
          </p:nvPr>
        </p:nvSpPr>
        <p:spPr/>
        <p:txBody>
          <a:bodyPr/>
          <a:lstStyle/>
          <a:p>
            <a:r>
              <a:rPr lang="en-US" dirty="0"/>
              <a:t>Palpate the Chest Wall</a:t>
            </a:r>
          </a:p>
        </p:txBody>
      </p:sp>
      <p:sp>
        <p:nvSpPr>
          <p:cNvPr id="5" name="Content Placeholder 4">
            <a:extLst>
              <a:ext uri="{FF2B5EF4-FFF2-40B4-BE49-F238E27FC236}">
                <a16:creationId xmlns:a16="http://schemas.microsoft.com/office/drawing/2014/main" id="{D39CE358-5DBD-4EB3-809B-51B1DD60D0D5}"/>
              </a:ext>
            </a:extLst>
          </p:cNvPr>
          <p:cNvSpPr>
            <a:spLocks noGrp="1"/>
          </p:cNvSpPr>
          <p:nvPr>
            <p:ph idx="1"/>
          </p:nvPr>
        </p:nvSpPr>
        <p:spPr>
          <a:xfrm>
            <a:off x="838200" y="1825625"/>
            <a:ext cx="5257800" cy="4667250"/>
          </a:xfrm>
        </p:spPr>
        <p:txBody>
          <a:bodyPr>
            <a:normAutofit/>
          </a:bodyPr>
          <a:lstStyle/>
          <a:p>
            <a:r>
              <a:rPr lang="en-US" dirty="0"/>
              <a:t>Palpate for </a:t>
            </a:r>
            <a:r>
              <a:rPr lang="en-US" b="1" dirty="0"/>
              <a:t>heaves/impulses </a:t>
            </a:r>
            <a:r>
              <a:rPr lang="en-US" dirty="0"/>
              <a:t>using </a:t>
            </a:r>
            <a:r>
              <a:rPr lang="en-US" b="1" dirty="0"/>
              <a:t>finger pads</a:t>
            </a:r>
            <a:r>
              <a:rPr lang="en-US" dirty="0"/>
              <a:t>: produced by enlarged right or left ventricle and ventricular aneurysms</a:t>
            </a:r>
          </a:p>
          <a:p>
            <a:pPr lvl="1"/>
            <a:r>
              <a:rPr lang="en-US" dirty="0"/>
              <a:t>Aortic</a:t>
            </a:r>
          </a:p>
          <a:p>
            <a:pPr lvl="1"/>
            <a:r>
              <a:rPr lang="en-US" dirty="0"/>
              <a:t>Pulmonic</a:t>
            </a:r>
          </a:p>
          <a:p>
            <a:pPr lvl="1"/>
            <a:r>
              <a:rPr lang="en-US" dirty="0"/>
              <a:t>Apex (PMI)</a:t>
            </a:r>
          </a:p>
        </p:txBody>
      </p:sp>
    </p:spTree>
    <p:extLst>
      <p:ext uri="{BB962C8B-B14F-4D97-AF65-F5344CB8AC3E}">
        <p14:creationId xmlns:p14="http://schemas.microsoft.com/office/powerpoint/2010/main" val="41815270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p:cNvSpPr txBox="1">
            <a:spLocks noChangeArrowheads="1"/>
          </p:cNvSpPr>
          <p:nvPr/>
        </p:nvSpPr>
        <p:spPr>
          <a:xfrm>
            <a:off x="4771655" y="2263139"/>
            <a:ext cx="2920847" cy="4800267"/>
          </a:xfrm>
          <a:prstGeom prst="rect">
            <a:avLst/>
          </a:prstGeom>
        </p:spPr>
        <p:txBody>
          <a:bodyPr/>
          <a:lstStyle/>
          <a:p>
            <a:pPr defTabSz="914400" eaLnBrk="0" fontAlgn="base" hangingPunct="0">
              <a:spcBef>
                <a:spcPct val="50000"/>
              </a:spcBef>
              <a:spcAft>
                <a:spcPct val="0"/>
              </a:spcAft>
              <a:buClr>
                <a:srgbClr val="000066"/>
              </a:buClr>
              <a:defRPr/>
            </a:pPr>
            <a:endParaRPr lang="en-US" sz="2800" kern="0" dirty="0">
              <a:solidFill>
                <a:srgbClr val="000066"/>
              </a:solidFill>
              <a:latin typeface="Arial"/>
              <a:ea typeface="ＭＳ Ｐゴシック" pitchFamily="34" charset="-128"/>
            </a:endParaRPr>
          </a:p>
        </p:txBody>
      </p:sp>
      <p:sp>
        <p:nvSpPr>
          <p:cNvPr id="4" name="Title 3">
            <a:extLst>
              <a:ext uri="{FF2B5EF4-FFF2-40B4-BE49-F238E27FC236}">
                <a16:creationId xmlns:a16="http://schemas.microsoft.com/office/drawing/2014/main" id="{F5F511D1-DA7B-4D8D-877B-225F07E6F277}"/>
              </a:ext>
            </a:extLst>
          </p:cNvPr>
          <p:cNvSpPr>
            <a:spLocks noGrp="1"/>
          </p:cNvSpPr>
          <p:nvPr>
            <p:ph type="title"/>
          </p:nvPr>
        </p:nvSpPr>
        <p:spPr/>
        <p:txBody>
          <a:bodyPr/>
          <a:lstStyle/>
          <a:p>
            <a:r>
              <a:rPr lang="en-US" dirty="0"/>
              <a:t>Palpate the Chest Wall</a:t>
            </a:r>
          </a:p>
        </p:txBody>
      </p:sp>
      <p:sp>
        <p:nvSpPr>
          <p:cNvPr id="5" name="Content Placeholder 4">
            <a:extLst>
              <a:ext uri="{FF2B5EF4-FFF2-40B4-BE49-F238E27FC236}">
                <a16:creationId xmlns:a16="http://schemas.microsoft.com/office/drawing/2014/main" id="{D39CE358-5DBD-4EB3-809B-51B1DD60D0D5}"/>
              </a:ext>
            </a:extLst>
          </p:cNvPr>
          <p:cNvSpPr>
            <a:spLocks noGrp="1"/>
          </p:cNvSpPr>
          <p:nvPr>
            <p:ph idx="1"/>
          </p:nvPr>
        </p:nvSpPr>
        <p:spPr>
          <a:xfrm>
            <a:off x="838200" y="1825625"/>
            <a:ext cx="5257800" cy="4351338"/>
          </a:xfrm>
        </p:spPr>
        <p:txBody>
          <a:bodyPr/>
          <a:lstStyle/>
          <a:p>
            <a:r>
              <a:rPr lang="en-US" dirty="0"/>
              <a:t>Palpate for </a:t>
            </a:r>
            <a:r>
              <a:rPr lang="en-US" b="1" dirty="0"/>
              <a:t>thrills</a:t>
            </a:r>
            <a:r>
              <a:rPr lang="en-US" dirty="0"/>
              <a:t> using </a:t>
            </a:r>
            <a:r>
              <a:rPr lang="en-US" b="1" dirty="0"/>
              <a:t>ball/heel of hand</a:t>
            </a:r>
            <a:r>
              <a:rPr lang="en-US" dirty="0"/>
              <a:t>: produced by underlying turbulent flow</a:t>
            </a:r>
          </a:p>
          <a:p>
            <a:pPr lvl="1"/>
            <a:r>
              <a:rPr lang="en-US" dirty="0"/>
              <a:t>Left sternal border (4</a:t>
            </a:r>
            <a:r>
              <a:rPr lang="en-US" baseline="30000" dirty="0"/>
              <a:t>th</a:t>
            </a:r>
            <a:r>
              <a:rPr lang="en-US" dirty="0"/>
              <a:t>/5</a:t>
            </a:r>
            <a:r>
              <a:rPr lang="en-US" baseline="30000" dirty="0"/>
              <a:t>th</a:t>
            </a:r>
            <a:r>
              <a:rPr lang="en-US" dirty="0"/>
              <a:t> interspace)</a:t>
            </a:r>
          </a:p>
          <a:p>
            <a:pPr lvl="1"/>
            <a:r>
              <a:rPr lang="en-US" dirty="0"/>
              <a:t>Apex (PMI)</a:t>
            </a:r>
          </a:p>
          <a:p>
            <a:endParaRPr lang="en-US" dirty="0"/>
          </a:p>
        </p:txBody>
      </p:sp>
      <p:pic>
        <p:nvPicPr>
          <p:cNvPr id="8" name="Picture 6" descr="UNF2876-008-028">
            <a:extLst>
              <a:ext uri="{FF2B5EF4-FFF2-40B4-BE49-F238E27FC236}">
                <a16:creationId xmlns:a16="http://schemas.microsoft.com/office/drawing/2014/main" id="{1857E2B7-0E8B-4B55-B5E1-3A994C87B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333734"/>
            <a:ext cx="5730240" cy="4976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55577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2155E-AE27-4355-8A0A-578C51BE7E49}"/>
              </a:ext>
            </a:extLst>
          </p:cNvPr>
          <p:cNvSpPr>
            <a:spLocks noGrp="1"/>
          </p:cNvSpPr>
          <p:nvPr>
            <p:ph type="title"/>
          </p:nvPr>
        </p:nvSpPr>
        <p:spPr/>
        <p:txBody>
          <a:bodyPr/>
          <a:lstStyle/>
          <a:p>
            <a:r>
              <a:rPr lang="en-US" dirty="0"/>
              <a:t>Auscultate the Heart</a:t>
            </a:r>
          </a:p>
        </p:txBody>
      </p:sp>
      <p:sp>
        <p:nvSpPr>
          <p:cNvPr id="3" name="Content Placeholder 2">
            <a:extLst>
              <a:ext uri="{FF2B5EF4-FFF2-40B4-BE49-F238E27FC236}">
                <a16:creationId xmlns:a16="http://schemas.microsoft.com/office/drawing/2014/main" id="{0180D9A9-F3C4-4DE5-B561-F38E5C35A4A7}"/>
              </a:ext>
            </a:extLst>
          </p:cNvPr>
          <p:cNvSpPr>
            <a:spLocks noGrp="1"/>
          </p:cNvSpPr>
          <p:nvPr>
            <p:ph idx="1"/>
          </p:nvPr>
        </p:nvSpPr>
        <p:spPr/>
        <p:txBody>
          <a:bodyPr>
            <a:normAutofit/>
          </a:bodyPr>
          <a:lstStyle/>
          <a:p>
            <a:r>
              <a:rPr lang="en-US" dirty="0"/>
              <a:t>The </a:t>
            </a:r>
            <a:r>
              <a:rPr lang="en-US" b="1" dirty="0"/>
              <a:t>diaphragm</a:t>
            </a:r>
            <a:r>
              <a:rPr lang="en-US" dirty="0"/>
              <a:t> is best for detecting </a:t>
            </a:r>
            <a:r>
              <a:rPr lang="en-US" b="1" dirty="0"/>
              <a:t>high-pitched</a:t>
            </a:r>
            <a:r>
              <a:rPr lang="en-US" dirty="0"/>
              <a:t> sounds like </a:t>
            </a:r>
            <a:r>
              <a:rPr lang="en-US" b="1" dirty="0"/>
              <a:t>S1</a:t>
            </a:r>
            <a:r>
              <a:rPr lang="en-US" dirty="0"/>
              <a:t>, </a:t>
            </a:r>
            <a:r>
              <a:rPr lang="en-US" b="1" dirty="0"/>
              <a:t>S2</a:t>
            </a:r>
            <a:r>
              <a:rPr lang="en-US" dirty="0"/>
              <a:t>, the murmurs of </a:t>
            </a:r>
            <a:r>
              <a:rPr lang="en-US" b="1" dirty="0"/>
              <a:t>aortic</a:t>
            </a:r>
            <a:r>
              <a:rPr lang="en-US" dirty="0"/>
              <a:t> and </a:t>
            </a:r>
            <a:r>
              <a:rPr lang="en-US" b="1" dirty="0"/>
              <a:t>mitral regurgitation</a:t>
            </a:r>
            <a:r>
              <a:rPr lang="en-US" dirty="0"/>
              <a:t>, and </a:t>
            </a:r>
            <a:r>
              <a:rPr lang="en-US" b="1" dirty="0"/>
              <a:t>pericardial friction rubs</a:t>
            </a:r>
          </a:p>
          <a:p>
            <a:pPr lvl="1"/>
            <a:r>
              <a:rPr lang="en-US" dirty="0"/>
              <a:t>Auscultate over 2</a:t>
            </a:r>
            <a:r>
              <a:rPr lang="en-US" baseline="30000" dirty="0"/>
              <a:t>nd</a:t>
            </a:r>
            <a:r>
              <a:rPr lang="en-US" dirty="0"/>
              <a:t> right ICS (aortic), 2</a:t>
            </a:r>
            <a:r>
              <a:rPr lang="en-US" baseline="30000" dirty="0"/>
              <a:t>nd</a:t>
            </a:r>
            <a:r>
              <a:rPr lang="en-US" dirty="0"/>
              <a:t> left ICS (pulmonic), 3</a:t>
            </a:r>
            <a:r>
              <a:rPr lang="en-US" baseline="30000" dirty="0"/>
              <a:t>rd</a:t>
            </a:r>
            <a:r>
              <a:rPr lang="en-US" dirty="0"/>
              <a:t> left ICS, 4</a:t>
            </a:r>
            <a:r>
              <a:rPr lang="en-US" baseline="30000" dirty="0"/>
              <a:t>th</a:t>
            </a:r>
            <a:r>
              <a:rPr lang="en-US" dirty="0"/>
              <a:t> left ICS, 5</a:t>
            </a:r>
            <a:r>
              <a:rPr lang="en-US" baseline="30000" dirty="0"/>
              <a:t>th</a:t>
            </a:r>
            <a:r>
              <a:rPr lang="en-US" dirty="0"/>
              <a:t> left ICS (tricuspid), and apex (mitral)</a:t>
            </a:r>
          </a:p>
          <a:p>
            <a:r>
              <a:rPr lang="en-US" dirty="0"/>
              <a:t>The </a:t>
            </a:r>
            <a:r>
              <a:rPr lang="en-US" b="1" dirty="0"/>
              <a:t>bell</a:t>
            </a:r>
            <a:r>
              <a:rPr lang="en-US" dirty="0"/>
              <a:t> is best for detecting </a:t>
            </a:r>
            <a:r>
              <a:rPr lang="en-US" b="1" dirty="0"/>
              <a:t>low-pitched</a:t>
            </a:r>
            <a:r>
              <a:rPr lang="en-US" dirty="0"/>
              <a:t> sounds like </a:t>
            </a:r>
            <a:r>
              <a:rPr lang="en-US" b="1" dirty="0"/>
              <a:t>S3</a:t>
            </a:r>
            <a:r>
              <a:rPr lang="en-US" dirty="0"/>
              <a:t>, </a:t>
            </a:r>
            <a:r>
              <a:rPr lang="en-US" b="1" dirty="0"/>
              <a:t>S4</a:t>
            </a:r>
            <a:r>
              <a:rPr lang="en-US" dirty="0"/>
              <a:t>, and the murmur of </a:t>
            </a:r>
            <a:r>
              <a:rPr lang="en-US" b="1" dirty="0"/>
              <a:t>mitral stenosis</a:t>
            </a:r>
          </a:p>
          <a:p>
            <a:pPr lvl="1"/>
            <a:r>
              <a:rPr lang="en-US" dirty="0"/>
              <a:t>Auscultate over 4</a:t>
            </a:r>
            <a:r>
              <a:rPr lang="en-US" baseline="30000" dirty="0"/>
              <a:t>th</a:t>
            </a:r>
            <a:r>
              <a:rPr lang="en-US" dirty="0"/>
              <a:t> left ICS, 5</a:t>
            </a:r>
            <a:r>
              <a:rPr lang="en-US" baseline="30000" dirty="0"/>
              <a:t>th</a:t>
            </a:r>
            <a:r>
              <a:rPr lang="en-US" dirty="0"/>
              <a:t> left ICS (tricuspid), and apex (mitral)</a:t>
            </a:r>
          </a:p>
        </p:txBody>
      </p:sp>
      <p:grpSp>
        <p:nvGrpSpPr>
          <p:cNvPr id="6" name="Group 5">
            <a:extLst>
              <a:ext uri="{FF2B5EF4-FFF2-40B4-BE49-F238E27FC236}">
                <a16:creationId xmlns:a16="http://schemas.microsoft.com/office/drawing/2014/main" id="{C70CAC99-7EFE-8CEB-6497-516972FB228F}"/>
              </a:ext>
            </a:extLst>
          </p:cNvPr>
          <p:cNvGrpSpPr/>
          <p:nvPr/>
        </p:nvGrpSpPr>
        <p:grpSpPr>
          <a:xfrm>
            <a:off x="1547994" y="5702300"/>
            <a:ext cx="1914627" cy="1011182"/>
            <a:chOff x="1046189" y="5702300"/>
            <a:chExt cx="1914627" cy="1011182"/>
          </a:xfrm>
        </p:grpSpPr>
        <p:pic>
          <p:nvPicPr>
            <p:cNvPr id="4" name="Pericardial Friction Rub">
              <a:hlinkClick r:id="" action="ppaction://media"/>
              <a:extLst>
                <a:ext uri="{FF2B5EF4-FFF2-40B4-BE49-F238E27FC236}">
                  <a16:creationId xmlns:a16="http://schemas.microsoft.com/office/drawing/2014/main" id="{7889F504-784D-EDD3-65D5-714C8DD19D13}"/>
                </a:ext>
              </a:extLst>
            </p:cNvPr>
            <p:cNvPicPr>
              <a:picLocks noChangeAspect="1"/>
            </p:cNvPicPr>
            <p:nvPr>
              <a:audioFile r:link="rId1"/>
              <p:extLst>
                <p:ext uri="{DAA4B4D4-6D71-4841-9C94-3DE7FCFB9230}">
                  <p14:media xmlns:p14="http://schemas.microsoft.com/office/powerpoint/2010/main" r:embed="rId2">
                    <p14:trim st="1641" end="228.2653"/>
                  </p14:media>
                </p:ext>
              </p:extLst>
            </p:nvPr>
          </p:nvPicPr>
          <p:blipFill>
            <a:blip r:embed="rId5"/>
            <a:stretch>
              <a:fillRect/>
            </a:stretch>
          </p:blipFill>
          <p:spPr>
            <a:xfrm>
              <a:off x="1698703" y="5702300"/>
              <a:ext cx="609600" cy="609600"/>
            </a:xfrm>
            <a:prstGeom prst="rect">
              <a:avLst/>
            </a:prstGeom>
          </p:spPr>
        </p:pic>
        <p:sp>
          <p:nvSpPr>
            <p:cNvPr id="5" name="TextBox 4">
              <a:extLst>
                <a:ext uri="{FF2B5EF4-FFF2-40B4-BE49-F238E27FC236}">
                  <a16:creationId xmlns:a16="http://schemas.microsoft.com/office/drawing/2014/main" id="{0FBA0501-9135-E856-FF11-6900B688ABEF}"/>
                </a:ext>
              </a:extLst>
            </p:cNvPr>
            <p:cNvSpPr txBox="1"/>
            <p:nvPr/>
          </p:nvSpPr>
          <p:spPr>
            <a:xfrm>
              <a:off x="1046189" y="6405705"/>
              <a:ext cx="1914627" cy="307777"/>
            </a:xfrm>
            <a:prstGeom prst="rect">
              <a:avLst/>
            </a:prstGeom>
            <a:noFill/>
          </p:spPr>
          <p:txBody>
            <a:bodyPr wrap="none" rtlCol="0">
              <a:spAutoFit/>
            </a:bodyPr>
            <a:lstStyle/>
            <a:p>
              <a:r>
                <a:rPr lang="en-US" sz="1400" b="1" dirty="0"/>
                <a:t>Pericardial Friction Rub</a:t>
              </a:r>
            </a:p>
          </p:txBody>
        </p:sp>
      </p:grpSp>
    </p:spTree>
    <p:extLst>
      <p:ext uri="{BB962C8B-B14F-4D97-AF65-F5344CB8AC3E}">
        <p14:creationId xmlns:p14="http://schemas.microsoft.com/office/powerpoint/2010/main" val="507609514"/>
      </p:ext>
    </p:extLst>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4"/>
                </p:tgtEl>
              </p:cMediaNode>
            </p:audio>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dirty="0"/>
              <a:t>Auscultation</a:t>
            </a:r>
          </a:p>
        </p:txBody>
      </p:sp>
      <p:pic>
        <p:nvPicPr>
          <p:cNvPr id="40963" name="Picture 6" descr="UNF2876-008-0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228726"/>
            <a:ext cx="586740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0964" name="Curved Connector 6"/>
          <p:cNvCxnSpPr>
            <a:cxnSpLocks noChangeShapeType="1"/>
          </p:cNvCxnSpPr>
          <p:nvPr/>
        </p:nvCxnSpPr>
        <p:spPr bwMode="auto">
          <a:xfrm rot="10800000" flipV="1">
            <a:off x="4970034" y="2066925"/>
            <a:ext cx="4021567" cy="1143000"/>
          </a:xfrm>
          <a:prstGeom prst="curvedConnector3">
            <a:avLst>
              <a:gd name="adj1" fmla="val 50000"/>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65" name="Curved Connector 10"/>
          <p:cNvCxnSpPr>
            <a:cxnSpLocks noChangeShapeType="1"/>
          </p:cNvCxnSpPr>
          <p:nvPr/>
        </p:nvCxnSpPr>
        <p:spPr bwMode="auto">
          <a:xfrm rot="10800000" flipV="1">
            <a:off x="5638800" y="2295525"/>
            <a:ext cx="3352800" cy="914400"/>
          </a:xfrm>
          <a:prstGeom prst="curvedConnector3">
            <a:avLst>
              <a:gd name="adj1" fmla="val 50000"/>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66" name="Curved Connector 13"/>
          <p:cNvCxnSpPr>
            <a:cxnSpLocks noChangeShapeType="1"/>
          </p:cNvCxnSpPr>
          <p:nvPr/>
        </p:nvCxnSpPr>
        <p:spPr bwMode="auto">
          <a:xfrm rot="10800000" flipV="1">
            <a:off x="5638800" y="2524125"/>
            <a:ext cx="3352802" cy="1066800"/>
          </a:xfrm>
          <a:prstGeom prst="curvedConnector3">
            <a:avLst>
              <a:gd name="adj1" fmla="val 50000"/>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67" name="Curved Connector 15"/>
          <p:cNvCxnSpPr>
            <a:cxnSpLocks noChangeShapeType="1"/>
          </p:cNvCxnSpPr>
          <p:nvPr/>
        </p:nvCxnSpPr>
        <p:spPr bwMode="auto">
          <a:xfrm rot="10800000" flipV="1">
            <a:off x="5658522" y="2752724"/>
            <a:ext cx="3333078" cy="1216847"/>
          </a:xfrm>
          <a:prstGeom prst="curvedConnector3">
            <a:avLst>
              <a:gd name="adj1" fmla="val 50000"/>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68" name="Curved Connector 16"/>
          <p:cNvCxnSpPr>
            <a:cxnSpLocks noChangeShapeType="1"/>
          </p:cNvCxnSpPr>
          <p:nvPr/>
        </p:nvCxnSpPr>
        <p:spPr bwMode="auto">
          <a:xfrm rot="10800000" flipV="1">
            <a:off x="5638801" y="3041893"/>
            <a:ext cx="3352801" cy="1158632"/>
          </a:xfrm>
          <a:prstGeom prst="curvedConnector3">
            <a:avLst>
              <a:gd name="adj1" fmla="val 50000"/>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69" name="Curved Connector 18"/>
          <p:cNvCxnSpPr>
            <a:cxnSpLocks noChangeShapeType="1"/>
          </p:cNvCxnSpPr>
          <p:nvPr/>
        </p:nvCxnSpPr>
        <p:spPr bwMode="auto">
          <a:xfrm rot="10800000" flipV="1">
            <a:off x="5981700" y="3362324"/>
            <a:ext cx="3009902" cy="1035535"/>
          </a:xfrm>
          <a:prstGeom prst="curvedConnector3">
            <a:avLst>
              <a:gd name="adj1" fmla="val 50000"/>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3" name="TextBox 22"/>
          <p:cNvSpPr txBox="1"/>
          <p:nvPr/>
        </p:nvSpPr>
        <p:spPr>
          <a:xfrm>
            <a:off x="9372600" y="2383629"/>
            <a:ext cx="1295400" cy="738188"/>
          </a:xfrm>
          <a:prstGeom prst="rect">
            <a:avLst/>
          </a:prstGeom>
          <a:solidFill>
            <a:schemeClr val="accent3">
              <a:lumMod val="85000"/>
            </a:schemeClr>
          </a:solidFill>
        </p:spPr>
        <p:style>
          <a:lnRef idx="2">
            <a:schemeClr val="dk1"/>
          </a:lnRef>
          <a:fillRef idx="1">
            <a:schemeClr val="lt1"/>
          </a:fillRef>
          <a:effectRef idx="0">
            <a:schemeClr val="dk1"/>
          </a:effectRef>
          <a:fontRef idx="minor">
            <a:schemeClr val="dk1"/>
          </a:fontRef>
        </p:style>
        <p:txBody>
          <a:bodyPr>
            <a:spAutoFit/>
          </a:bodyPr>
          <a:lstStyle/>
          <a:p>
            <a:pPr algn="ctr" defTabSz="914400" fontAlgn="base">
              <a:spcBef>
                <a:spcPct val="0"/>
              </a:spcBef>
              <a:spcAft>
                <a:spcPct val="0"/>
              </a:spcAft>
              <a:defRPr/>
            </a:pPr>
            <a:r>
              <a:rPr lang="en-US" sz="1400" b="1" i="1" dirty="0">
                <a:solidFill>
                  <a:srgbClr val="000066"/>
                </a:solidFill>
                <a:latin typeface="Arial"/>
              </a:rPr>
              <a:t>DIAPHRAGM of Stethoscope</a:t>
            </a:r>
          </a:p>
        </p:txBody>
      </p:sp>
      <p:sp>
        <p:nvSpPr>
          <p:cNvPr id="40971" name="Right Brace 24"/>
          <p:cNvSpPr>
            <a:spLocks/>
          </p:cNvSpPr>
          <p:nvPr/>
        </p:nvSpPr>
        <p:spPr bwMode="auto">
          <a:xfrm>
            <a:off x="9144000" y="2066925"/>
            <a:ext cx="152400" cy="1371600"/>
          </a:xfrm>
          <a:prstGeom prst="rightBrace">
            <a:avLst>
              <a:gd name="adj1" fmla="val 8333"/>
              <a:gd name="adj2" fmla="val 50000"/>
            </a:avLst>
          </a:prstGeom>
          <a:solidFill>
            <a:schemeClr val="accent1"/>
          </a:solidFill>
          <a:ln w="9525">
            <a:solidFill>
              <a:schemeClr val="tx1"/>
            </a:solidFill>
            <a:round/>
            <a:headEnd/>
            <a:tailEnd/>
          </a:ln>
        </p:spPr>
        <p:txBody>
          <a:bodyPr/>
          <a:lstStyle/>
          <a:p>
            <a:pPr algn="r" defTabSz="914400" fontAlgn="base">
              <a:spcBef>
                <a:spcPct val="0"/>
              </a:spcBef>
              <a:spcAft>
                <a:spcPct val="0"/>
              </a:spcAft>
            </a:pPr>
            <a:endParaRPr lang="en-US">
              <a:solidFill>
                <a:srgbClr val="000066"/>
              </a:solidFill>
              <a:latin typeface="Arial" pitchFamily="34" charset="0"/>
              <a:ea typeface="ＭＳ Ｐゴシック" pitchFamily="34" charset="-128"/>
            </a:endParaRPr>
          </a:p>
        </p:txBody>
      </p:sp>
    </p:spTree>
    <p:extLst>
      <p:ext uri="{BB962C8B-B14F-4D97-AF65-F5344CB8AC3E}">
        <p14:creationId xmlns:p14="http://schemas.microsoft.com/office/powerpoint/2010/main" val="42029566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dirty="0"/>
              <a:t>Auscultation</a:t>
            </a:r>
          </a:p>
        </p:txBody>
      </p:sp>
      <p:pic>
        <p:nvPicPr>
          <p:cNvPr id="41987" name="Picture 6" descr="UNF2876-008-0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228726"/>
            <a:ext cx="586740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1988" name="Curved Connector 15"/>
          <p:cNvCxnSpPr>
            <a:cxnSpLocks noChangeShapeType="1"/>
          </p:cNvCxnSpPr>
          <p:nvPr/>
        </p:nvCxnSpPr>
        <p:spPr bwMode="auto">
          <a:xfrm rot="10800000" flipV="1">
            <a:off x="5690796" y="2752724"/>
            <a:ext cx="3300805" cy="1206089"/>
          </a:xfrm>
          <a:prstGeom prst="curvedConnector3">
            <a:avLst>
              <a:gd name="adj1" fmla="val 50000"/>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989" name="Curved Connector 16"/>
          <p:cNvCxnSpPr>
            <a:cxnSpLocks noChangeShapeType="1"/>
          </p:cNvCxnSpPr>
          <p:nvPr/>
        </p:nvCxnSpPr>
        <p:spPr bwMode="auto">
          <a:xfrm rot="10800000" flipV="1">
            <a:off x="5638800" y="3048001"/>
            <a:ext cx="3352800" cy="1152524"/>
          </a:xfrm>
          <a:prstGeom prst="curvedConnector3">
            <a:avLst>
              <a:gd name="adj1" fmla="val 50000"/>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990" name="Curved Connector 18"/>
          <p:cNvCxnSpPr>
            <a:cxnSpLocks noChangeShapeType="1"/>
          </p:cNvCxnSpPr>
          <p:nvPr/>
        </p:nvCxnSpPr>
        <p:spPr bwMode="auto">
          <a:xfrm rot="10800000" flipV="1">
            <a:off x="5959736" y="3286124"/>
            <a:ext cx="3031864" cy="1167541"/>
          </a:xfrm>
          <a:prstGeom prst="curvedConnector3">
            <a:avLst>
              <a:gd name="adj1" fmla="val 50000"/>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3" name="TextBox 22"/>
          <p:cNvSpPr txBox="1"/>
          <p:nvPr/>
        </p:nvSpPr>
        <p:spPr>
          <a:xfrm>
            <a:off x="9372600" y="2524126"/>
            <a:ext cx="1295400" cy="523875"/>
          </a:xfrm>
          <a:prstGeom prst="rect">
            <a:avLst/>
          </a:prstGeom>
          <a:solidFill>
            <a:schemeClr val="accent3">
              <a:lumMod val="85000"/>
            </a:schemeClr>
          </a:solidFill>
        </p:spPr>
        <p:style>
          <a:lnRef idx="2">
            <a:schemeClr val="dk1"/>
          </a:lnRef>
          <a:fillRef idx="1">
            <a:schemeClr val="lt1"/>
          </a:fillRef>
          <a:effectRef idx="0">
            <a:schemeClr val="dk1"/>
          </a:effectRef>
          <a:fontRef idx="minor">
            <a:schemeClr val="dk1"/>
          </a:fontRef>
        </p:style>
        <p:txBody>
          <a:bodyPr>
            <a:spAutoFit/>
          </a:bodyPr>
          <a:lstStyle/>
          <a:p>
            <a:pPr algn="ctr" defTabSz="914400" fontAlgn="base">
              <a:spcBef>
                <a:spcPct val="0"/>
              </a:spcBef>
              <a:spcAft>
                <a:spcPct val="0"/>
              </a:spcAft>
              <a:defRPr/>
            </a:pPr>
            <a:r>
              <a:rPr lang="en-US" sz="1400" b="1" i="1" dirty="0">
                <a:solidFill>
                  <a:srgbClr val="000066"/>
                </a:solidFill>
                <a:latin typeface="Arial"/>
              </a:rPr>
              <a:t>BELL of Stethoscope</a:t>
            </a:r>
          </a:p>
        </p:txBody>
      </p:sp>
      <p:sp>
        <p:nvSpPr>
          <p:cNvPr id="41992" name="Right Brace 24"/>
          <p:cNvSpPr>
            <a:spLocks/>
          </p:cNvSpPr>
          <p:nvPr/>
        </p:nvSpPr>
        <p:spPr bwMode="auto">
          <a:xfrm>
            <a:off x="9144000" y="2066925"/>
            <a:ext cx="152400" cy="1371600"/>
          </a:xfrm>
          <a:prstGeom prst="rightBrace">
            <a:avLst>
              <a:gd name="adj1" fmla="val 8333"/>
              <a:gd name="adj2" fmla="val 50000"/>
            </a:avLst>
          </a:prstGeom>
          <a:solidFill>
            <a:schemeClr val="accent1"/>
          </a:solidFill>
          <a:ln w="9525">
            <a:solidFill>
              <a:schemeClr val="tx1"/>
            </a:solidFill>
            <a:round/>
            <a:headEnd/>
            <a:tailEnd/>
          </a:ln>
        </p:spPr>
        <p:txBody>
          <a:bodyPr/>
          <a:lstStyle/>
          <a:p>
            <a:pPr algn="r" defTabSz="914400" fontAlgn="base">
              <a:spcBef>
                <a:spcPct val="0"/>
              </a:spcBef>
              <a:spcAft>
                <a:spcPct val="0"/>
              </a:spcAft>
            </a:pPr>
            <a:endParaRPr lang="en-US">
              <a:solidFill>
                <a:srgbClr val="000066"/>
              </a:solidFill>
              <a:latin typeface="Arial" pitchFamily="34" charset="0"/>
              <a:ea typeface="ＭＳ Ｐゴシック" pitchFamily="34" charset="-128"/>
            </a:endParaRPr>
          </a:p>
        </p:txBody>
      </p:sp>
    </p:spTree>
    <p:extLst>
      <p:ext uri="{BB962C8B-B14F-4D97-AF65-F5344CB8AC3E}">
        <p14:creationId xmlns:p14="http://schemas.microsoft.com/office/powerpoint/2010/main" val="31805759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ormAutofit/>
          </a:bodyPr>
          <a:lstStyle/>
          <a:p>
            <a:r>
              <a:rPr lang="en-US">
                <a:ea typeface="ＭＳ Ｐゴシック" pitchFamily="34" charset="-128"/>
              </a:rPr>
              <a:t>Cardiovascular </a:t>
            </a:r>
            <a:r>
              <a:rPr lang="en-US" dirty="0">
                <a:ea typeface="ＭＳ Ｐゴシック" pitchFamily="34" charset="-128"/>
              </a:rPr>
              <a:t>Auscultation </a:t>
            </a:r>
            <a:r>
              <a:rPr lang="en-US">
                <a:ea typeface="ＭＳ Ｐゴシック" pitchFamily="34" charset="-128"/>
              </a:rPr>
              <a:t>Fields</a:t>
            </a:r>
            <a:endParaRPr lang="en-US" dirty="0">
              <a:ea typeface="ＭＳ Ｐゴシック" pitchFamily="34" charset="-128"/>
            </a:endParaRPr>
          </a:p>
        </p:txBody>
      </p:sp>
      <p:pic>
        <p:nvPicPr>
          <p:cNvPr id="32771" name="Content Placeholder 3" descr="auscultatory findings to the chest wall.png"/>
          <p:cNvPicPr>
            <a:picLocks noGrp="1" noChangeAspect="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5958840" y="1429366"/>
            <a:ext cx="5824538" cy="5319713"/>
          </a:xfrm>
        </p:spPr>
      </p:pic>
      <p:pic>
        <p:nvPicPr>
          <p:cNvPr id="3" name="Picture 2">
            <a:extLst>
              <a:ext uri="{FF2B5EF4-FFF2-40B4-BE49-F238E27FC236}">
                <a16:creationId xmlns:a16="http://schemas.microsoft.com/office/drawing/2014/main" id="{DA700FD1-3640-4C67-A0AD-404A308713D6}"/>
              </a:ext>
            </a:extLst>
          </p:cNvPr>
          <p:cNvPicPr>
            <a:picLocks noChangeAspect="1"/>
          </p:cNvPicPr>
          <p:nvPr/>
        </p:nvPicPr>
        <p:blipFill>
          <a:blip r:embed="rId4"/>
          <a:stretch>
            <a:fillRect/>
          </a:stretch>
        </p:blipFill>
        <p:spPr>
          <a:xfrm>
            <a:off x="621030" y="1636059"/>
            <a:ext cx="5276850" cy="4953000"/>
          </a:xfrm>
          <a:prstGeom prst="rect">
            <a:avLst/>
          </a:prstGeom>
        </p:spPr>
      </p:pic>
    </p:spTree>
    <p:extLst>
      <p:ext uri="{BB962C8B-B14F-4D97-AF65-F5344CB8AC3E}">
        <p14:creationId xmlns:p14="http://schemas.microsoft.com/office/powerpoint/2010/main" val="30755362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b="1" dirty="0"/>
              <a:t>S1</a:t>
            </a:r>
            <a:r>
              <a:rPr lang="en-US" dirty="0"/>
              <a:t> Heart Sound</a:t>
            </a:r>
          </a:p>
        </p:txBody>
      </p:sp>
      <p:sp>
        <p:nvSpPr>
          <p:cNvPr id="3" name="Content Placeholder 2"/>
          <p:cNvSpPr>
            <a:spLocks noGrp="1"/>
          </p:cNvSpPr>
          <p:nvPr>
            <p:ph idx="1"/>
          </p:nvPr>
        </p:nvSpPr>
        <p:spPr/>
        <p:txBody>
          <a:bodyPr/>
          <a:lstStyle/>
          <a:p>
            <a:r>
              <a:rPr lang="en-US" dirty="0"/>
              <a:t>Generated by the </a:t>
            </a:r>
            <a:r>
              <a:rPr lang="en-US" b="1" dirty="0"/>
              <a:t>closure of the mitral and tricuspid valves</a:t>
            </a:r>
          </a:p>
          <a:p>
            <a:r>
              <a:rPr lang="en-US" dirty="0"/>
              <a:t>Identified during the cardiac cycle by auscultation of the heart while </a:t>
            </a:r>
            <a:r>
              <a:rPr lang="en-US" b="1" dirty="0"/>
              <a:t>palpating the carotid pulse</a:t>
            </a:r>
          </a:p>
          <a:p>
            <a:pPr lvl="1"/>
            <a:r>
              <a:rPr lang="en-US" dirty="0"/>
              <a:t>S1 falls just before the carotid upstroke</a:t>
            </a:r>
          </a:p>
          <a:p>
            <a:pPr lvl="1"/>
            <a:r>
              <a:rPr lang="en-US" dirty="0"/>
              <a:t>S2 follows the carotid upstroke</a:t>
            </a:r>
          </a:p>
          <a:p>
            <a:r>
              <a:rPr lang="en-US" dirty="0"/>
              <a:t>Best heard with the </a:t>
            </a:r>
            <a:r>
              <a:rPr lang="en-US" b="1" dirty="0"/>
              <a:t>diaphragm</a:t>
            </a:r>
            <a:r>
              <a:rPr lang="en-US" dirty="0"/>
              <a:t> of the stethoscope</a:t>
            </a:r>
          </a:p>
          <a:p>
            <a:r>
              <a:rPr lang="en-US" dirty="0"/>
              <a:t>Best heard in the </a:t>
            </a:r>
            <a:r>
              <a:rPr lang="en-US" b="1" dirty="0"/>
              <a:t>left fifth intercostal space </a:t>
            </a:r>
            <a:r>
              <a:rPr lang="en-US" dirty="0"/>
              <a:t>at the </a:t>
            </a:r>
            <a:r>
              <a:rPr lang="en-US" b="1" dirty="0"/>
              <a:t>midclavicular line </a:t>
            </a:r>
            <a:r>
              <a:rPr lang="en-US" dirty="0"/>
              <a:t>at the </a:t>
            </a:r>
            <a:r>
              <a:rPr lang="en-US" b="1" dirty="0"/>
              <a:t>PMI</a:t>
            </a:r>
          </a:p>
        </p:txBody>
      </p:sp>
    </p:spTree>
    <p:extLst>
      <p:ext uri="{BB962C8B-B14F-4D97-AF65-F5344CB8AC3E}">
        <p14:creationId xmlns:p14="http://schemas.microsoft.com/office/powerpoint/2010/main" val="42272039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b="1" dirty="0"/>
              <a:t>S2</a:t>
            </a:r>
            <a:r>
              <a:rPr lang="en-US" dirty="0"/>
              <a:t> Heart Sound</a:t>
            </a:r>
          </a:p>
        </p:txBody>
      </p:sp>
      <p:sp>
        <p:nvSpPr>
          <p:cNvPr id="3" name="Content Placeholder 2"/>
          <p:cNvSpPr>
            <a:spLocks noGrp="1"/>
          </p:cNvSpPr>
          <p:nvPr>
            <p:ph idx="1"/>
          </p:nvPr>
        </p:nvSpPr>
        <p:spPr/>
        <p:txBody>
          <a:bodyPr>
            <a:normAutofit/>
          </a:bodyPr>
          <a:lstStyle/>
          <a:p>
            <a:r>
              <a:rPr lang="en-US" dirty="0"/>
              <a:t>Generated by the </a:t>
            </a:r>
            <a:r>
              <a:rPr lang="en-US" b="1" dirty="0"/>
              <a:t>closure of the aortic (A2) and pulmonic valves (P2)</a:t>
            </a:r>
          </a:p>
          <a:p>
            <a:r>
              <a:rPr lang="en-US" dirty="0"/>
              <a:t>Best heard with the </a:t>
            </a:r>
            <a:r>
              <a:rPr lang="en-US" b="1" dirty="0"/>
              <a:t>diaphragm</a:t>
            </a:r>
            <a:r>
              <a:rPr lang="en-US" dirty="0"/>
              <a:t> of the stethoscope over the </a:t>
            </a:r>
            <a:r>
              <a:rPr lang="en-US" b="1" dirty="0"/>
              <a:t>left second intercostal space </a:t>
            </a:r>
            <a:r>
              <a:rPr lang="en-US" dirty="0"/>
              <a:t>close to the sternal border</a:t>
            </a:r>
          </a:p>
          <a:p>
            <a:r>
              <a:rPr lang="en-US" dirty="0"/>
              <a:t>Intensity of the S2 heart sound is usually </a:t>
            </a:r>
            <a:r>
              <a:rPr lang="en-US" b="1" dirty="0"/>
              <a:t>single during expiration</a:t>
            </a:r>
          </a:p>
          <a:p>
            <a:r>
              <a:rPr lang="en-US" dirty="0"/>
              <a:t>Separation of A2 and P2 may occur during </a:t>
            </a:r>
            <a:r>
              <a:rPr lang="en-US" b="1" dirty="0"/>
              <a:t>inspiration</a:t>
            </a:r>
            <a:r>
              <a:rPr lang="en-US" dirty="0"/>
              <a:t>, this is referred to as the “</a:t>
            </a:r>
            <a:r>
              <a:rPr lang="en-US" b="1" dirty="0"/>
              <a:t>physiological split</a:t>
            </a:r>
            <a:r>
              <a:rPr lang="en-US" dirty="0"/>
              <a:t>”</a:t>
            </a:r>
          </a:p>
        </p:txBody>
      </p:sp>
    </p:spTree>
    <p:extLst>
      <p:ext uri="{BB962C8B-B14F-4D97-AF65-F5344CB8AC3E}">
        <p14:creationId xmlns:p14="http://schemas.microsoft.com/office/powerpoint/2010/main" val="13688333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90E82-A73D-4048-8018-E9C6E4711404}"/>
              </a:ext>
            </a:extLst>
          </p:cNvPr>
          <p:cNvSpPr>
            <a:spLocks noGrp="1"/>
          </p:cNvSpPr>
          <p:nvPr>
            <p:ph type="title"/>
          </p:nvPr>
        </p:nvSpPr>
        <p:spPr/>
        <p:txBody>
          <a:bodyPr/>
          <a:lstStyle/>
          <a:p>
            <a:r>
              <a:rPr lang="en-US" dirty="0"/>
              <a:t>S1 and S2 Heart Sounds</a:t>
            </a:r>
          </a:p>
        </p:txBody>
      </p:sp>
      <p:pic>
        <p:nvPicPr>
          <p:cNvPr id="3" name="Picture 2">
            <a:extLst>
              <a:ext uri="{FF2B5EF4-FFF2-40B4-BE49-F238E27FC236}">
                <a16:creationId xmlns:a16="http://schemas.microsoft.com/office/drawing/2014/main" id="{3F867F9D-92D1-4E6F-8708-E6B7F3F31C01}"/>
              </a:ext>
            </a:extLst>
          </p:cNvPr>
          <p:cNvPicPr>
            <a:picLocks noChangeAspect="1"/>
          </p:cNvPicPr>
          <p:nvPr/>
        </p:nvPicPr>
        <p:blipFill>
          <a:blip r:embed="rId3"/>
          <a:stretch>
            <a:fillRect/>
          </a:stretch>
        </p:blipFill>
        <p:spPr>
          <a:xfrm>
            <a:off x="197078" y="1687564"/>
            <a:ext cx="11797843" cy="4656086"/>
          </a:xfrm>
          <a:prstGeom prst="rect">
            <a:avLst/>
          </a:prstGeom>
        </p:spPr>
      </p:pic>
    </p:spTree>
    <p:extLst>
      <p:ext uri="{BB962C8B-B14F-4D97-AF65-F5344CB8AC3E}">
        <p14:creationId xmlns:p14="http://schemas.microsoft.com/office/powerpoint/2010/main" val="18996117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b="1" dirty="0"/>
              <a:t>S3</a:t>
            </a:r>
            <a:r>
              <a:rPr lang="en-US" dirty="0"/>
              <a:t> Heart Sound</a:t>
            </a:r>
          </a:p>
        </p:txBody>
      </p:sp>
      <p:sp>
        <p:nvSpPr>
          <p:cNvPr id="3" name="Content Placeholder 2"/>
          <p:cNvSpPr>
            <a:spLocks noGrp="1"/>
          </p:cNvSpPr>
          <p:nvPr>
            <p:ph idx="1"/>
          </p:nvPr>
        </p:nvSpPr>
        <p:spPr>
          <a:xfrm>
            <a:off x="838200" y="1825624"/>
            <a:ext cx="10515600" cy="4860925"/>
          </a:xfrm>
        </p:spPr>
        <p:txBody>
          <a:bodyPr>
            <a:normAutofit fontScale="92500" lnSpcReduction="10000"/>
          </a:bodyPr>
          <a:lstStyle/>
          <a:p>
            <a:r>
              <a:rPr lang="en-US" dirty="0"/>
              <a:t>Also called the </a:t>
            </a:r>
            <a:r>
              <a:rPr lang="en-US" b="1" dirty="0"/>
              <a:t>ventricular diastolic gallop </a:t>
            </a:r>
          </a:p>
          <a:p>
            <a:r>
              <a:rPr lang="en-US" b="1" dirty="0"/>
              <a:t>Low-pitched</a:t>
            </a:r>
            <a:r>
              <a:rPr lang="en-US" dirty="0"/>
              <a:t> sound occurring at the </a:t>
            </a:r>
            <a:r>
              <a:rPr lang="en-US" b="1" dirty="0"/>
              <a:t>beginning of diastole </a:t>
            </a:r>
            <a:r>
              <a:rPr lang="en-US" dirty="0"/>
              <a:t>shortly after S2</a:t>
            </a:r>
          </a:p>
          <a:p>
            <a:r>
              <a:rPr lang="en-US" dirty="0"/>
              <a:t>Best heard at the </a:t>
            </a:r>
            <a:r>
              <a:rPr lang="en-US" b="1" dirty="0"/>
              <a:t>cardiac apex </a:t>
            </a:r>
            <a:r>
              <a:rPr lang="en-US" dirty="0"/>
              <a:t>with the </a:t>
            </a:r>
            <a:r>
              <a:rPr lang="en-US" b="1" dirty="0"/>
              <a:t>bell </a:t>
            </a:r>
            <a:r>
              <a:rPr lang="en-US" dirty="0"/>
              <a:t>and</a:t>
            </a:r>
            <a:r>
              <a:rPr lang="en-US" b="1" dirty="0"/>
              <a:t> </a:t>
            </a:r>
            <a:r>
              <a:rPr lang="en-US" dirty="0"/>
              <a:t>with the patient in the </a:t>
            </a:r>
            <a:r>
              <a:rPr lang="en-US" b="1" dirty="0"/>
              <a:t>left lateral decubitus</a:t>
            </a:r>
            <a:r>
              <a:rPr lang="en-US" dirty="0"/>
              <a:t> position</a:t>
            </a:r>
          </a:p>
          <a:p>
            <a:r>
              <a:rPr lang="en-US" dirty="0"/>
              <a:t>Produced by blood entering the ventricle during the </a:t>
            </a:r>
            <a:r>
              <a:rPr lang="en-US" b="1" dirty="0"/>
              <a:t>rapid filling phase of diastole</a:t>
            </a:r>
          </a:p>
          <a:p>
            <a:pPr lvl="1"/>
            <a:r>
              <a:rPr lang="en-US" dirty="0"/>
              <a:t>Heard in </a:t>
            </a:r>
            <a:r>
              <a:rPr lang="en-US" b="1" dirty="0"/>
              <a:t>hyperdynamic states</a:t>
            </a:r>
            <a:r>
              <a:rPr lang="en-US" dirty="0"/>
              <a:t>, where it likely results from rapid early diastolic filling</a:t>
            </a:r>
          </a:p>
          <a:p>
            <a:r>
              <a:rPr lang="en-US" dirty="0"/>
              <a:t>Maneuvers that</a:t>
            </a:r>
            <a:r>
              <a:rPr lang="en-US" b="1" dirty="0"/>
              <a:t> increase venous return accentuate S3 </a:t>
            </a:r>
            <a:r>
              <a:rPr lang="en-US" dirty="0"/>
              <a:t>and maneuvers that </a:t>
            </a:r>
            <a:r>
              <a:rPr lang="en-US" b="1" dirty="0"/>
              <a:t>decrease venous return soften S3</a:t>
            </a:r>
          </a:p>
        </p:txBody>
      </p:sp>
    </p:spTree>
    <p:extLst>
      <p:ext uri="{BB962C8B-B14F-4D97-AF65-F5344CB8AC3E}">
        <p14:creationId xmlns:p14="http://schemas.microsoft.com/office/powerpoint/2010/main" val="37810873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b="1" dirty="0"/>
              <a:t>S4</a:t>
            </a:r>
            <a:r>
              <a:rPr lang="en-US" dirty="0"/>
              <a:t> Heart Sound</a:t>
            </a:r>
          </a:p>
        </p:txBody>
      </p:sp>
      <p:sp>
        <p:nvSpPr>
          <p:cNvPr id="3" name="Content Placeholder 2"/>
          <p:cNvSpPr>
            <a:spLocks noGrp="1"/>
          </p:cNvSpPr>
          <p:nvPr>
            <p:ph idx="1"/>
          </p:nvPr>
        </p:nvSpPr>
        <p:spPr>
          <a:xfrm>
            <a:off x="838200" y="1825624"/>
            <a:ext cx="10515600" cy="4826635"/>
          </a:xfrm>
        </p:spPr>
        <p:txBody>
          <a:bodyPr>
            <a:normAutofit lnSpcReduction="10000"/>
          </a:bodyPr>
          <a:lstStyle/>
          <a:p>
            <a:r>
              <a:rPr lang="en-US" dirty="0"/>
              <a:t>Also called the </a:t>
            </a:r>
            <a:r>
              <a:rPr lang="en-US" b="1" dirty="0"/>
              <a:t>atrial diastolic gallop</a:t>
            </a:r>
          </a:p>
          <a:p>
            <a:r>
              <a:rPr lang="en-US" b="1" dirty="0"/>
              <a:t>Low-pitched</a:t>
            </a:r>
            <a:r>
              <a:rPr lang="en-US" dirty="0"/>
              <a:t> sound occurring at the </a:t>
            </a:r>
            <a:r>
              <a:rPr lang="en-US" b="1" dirty="0"/>
              <a:t>end of diastole </a:t>
            </a:r>
            <a:r>
              <a:rPr lang="en-US" dirty="0"/>
              <a:t>immediately before S1</a:t>
            </a:r>
            <a:endParaRPr lang="en-US" b="1" dirty="0"/>
          </a:p>
          <a:p>
            <a:r>
              <a:rPr lang="en-US" dirty="0"/>
              <a:t>Best heard at the </a:t>
            </a:r>
            <a:r>
              <a:rPr lang="en-US" b="1" dirty="0"/>
              <a:t>cardiac apex </a:t>
            </a:r>
            <a:r>
              <a:rPr lang="en-US" dirty="0"/>
              <a:t>with the </a:t>
            </a:r>
            <a:r>
              <a:rPr lang="en-US" b="1" dirty="0"/>
              <a:t>bell</a:t>
            </a:r>
            <a:r>
              <a:rPr lang="en-US" dirty="0"/>
              <a:t> of the stethoscope</a:t>
            </a:r>
          </a:p>
          <a:p>
            <a:r>
              <a:rPr lang="en-US" dirty="0"/>
              <a:t>Produced by the sound of blood being </a:t>
            </a:r>
            <a:r>
              <a:rPr lang="en-US" b="1" dirty="0"/>
              <a:t>forced into a stiff or hypertrophic ventricle</a:t>
            </a:r>
          </a:p>
          <a:p>
            <a:pPr lvl="1"/>
            <a:r>
              <a:rPr lang="en-US" dirty="0"/>
              <a:t>Heard in left ventricular hypertrophy, (i.e., hypertension, aortic stenosis, hypertrophic cardiomyopathy), acute myocardial ischemia, and hyperkinetic states</a:t>
            </a:r>
          </a:p>
          <a:p>
            <a:r>
              <a:rPr lang="en-US" dirty="0"/>
              <a:t>Frequently, S4 is also </a:t>
            </a:r>
            <a:r>
              <a:rPr lang="en-US" b="1" dirty="0"/>
              <a:t>palpable at the cardiac apex </a:t>
            </a:r>
          </a:p>
        </p:txBody>
      </p:sp>
    </p:spTree>
    <p:extLst>
      <p:ext uri="{BB962C8B-B14F-4D97-AF65-F5344CB8AC3E}">
        <p14:creationId xmlns:p14="http://schemas.microsoft.com/office/powerpoint/2010/main" val="24240465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dirty="0"/>
              <a:t>Augment Murmurs: Mitral Stenosis</a:t>
            </a:r>
          </a:p>
        </p:txBody>
      </p:sp>
      <p:sp>
        <p:nvSpPr>
          <p:cNvPr id="2" name="Content Placeholder 1">
            <a:extLst>
              <a:ext uri="{FF2B5EF4-FFF2-40B4-BE49-F238E27FC236}">
                <a16:creationId xmlns:a16="http://schemas.microsoft.com/office/drawing/2014/main" id="{CF8BB05D-4258-4291-BCB6-776FB9DF40BD}"/>
              </a:ext>
            </a:extLst>
          </p:cNvPr>
          <p:cNvSpPr>
            <a:spLocks noGrp="1"/>
          </p:cNvSpPr>
          <p:nvPr>
            <p:ph idx="1"/>
          </p:nvPr>
        </p:nvSpPr>
        <p:spPr>
          <a:xfrm>
            <a:off x="838200" y="1825625"/>
            <a:ext cx="5257800" cy="4351338"/>
          </a:xfrm>
        </p:spPr>
        <p:txBody>
          <a:bodyPr/>
          <a:lstStyle/>
          <a:p>
            <a:r>
              <a:rPr lang="en-US" dirty="0"/>
              <a:t>Ask the patient to roll partly onto the left side into the </a:t>
            </a:r>
            <a:r>
              <a:rPr lang="en-US" b="1" dirty="0"/>
              <a:t>left lateral decubitus </a:t>
            </a:r>
            <a:r>
              <a:rPr lang="en-US" dirty="0"/>
              <a:t>position, bringing the left ventricle close to the chest wall</a:t>
            </a:r>
          </a:p>
          <a:p>
            <a:r>
              <a:rPr lang="en-US" dirty="0"/>
              <a:t>Place the </a:t>
            </a:r>
            <a:r>
              <a:rPr lang="en-US" b="1" dirty="0"/>
              <a:t>bell</a:t>
            </a:r>
            <a:r>
              <a:rPr lang="en-US" dirty="0"/>
              <a:t> of your stethoscope on the </a:t>
            </a:r>
            <a:r>
              <a:rPr lang="en-US" b="1" dirty="0"/>
              <a:t>apical impulse</a:t>
            </a:r>
          </a:p>
        </p:txBody>
      </p:sp>
      <p:pic>
        <p:nvPicPr>
          <p:cNvPr id="6" name="Content Placeholder 3" descr="left lateral position for augmentation.png">
            <a:extLst>
              <a:ext uri="{FF2B5EF4-FFF2-40B4-BE49-F238E27FC236}">
                <a16:creationId xmlns:a16="http://schemas.microsoft.com/office/drawing/2014/main" id="{C248FBAD-F8E3-49C3-B569-4E183564F4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2171" y="1690688"/>
            <a:ext cx="6100920" cy="4850232"/>
          </a:xfrm>
          <a:prstGeom prst="rect">
            <a:avLst/>
          </a:prstGeom>
        </p:spPr>
      </p:pic>
    </p:spTree>
    <p:extLst>
      <p:ext uri="{BB962C8B-B14F-4D97-AF65-F5344CB8AC3E}">
        <p14:creationId xmlns:p14="http://schemas.microsoft.com/office/powerpoint/2010/main" val="42094346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dirty="0"/>
              <a:t>Augment Murmurs: Aortic Regurgitation</a:t>
            </a:r>
          </a:p>
        </p:txBody>
      </p:sp>
      <p:sp>
        <p:nvSpPr>
          <p:cNvPr id="3" name="Content Placeholder 2">
            <a:extLst>
              <a:ext uri="{FF2B5EF4-FFF2-40B4-BE49-F238E27FC236}">
                <a16:creationId xmlns:a16="http://schemas.microsoft.com/office/drawing/2014/main" id="{2910A030-BA50-48C1-A3A7-8359201DE27A}"/>
              </a:ext>
            </a:extLst>
          </p:cNvPr>
          <p:cNvSpPr>
            <a:spLocks noGrp="1"/>
          </p:cNvSpPr>
          <p:nvPr>
            <p:ph idx="1"/>
          </p:nvPr>
        </p:nvSpPr>
        <p:spPr>
          <a:xfrm>
            <a:off x="838200" y="1825625"/>
            <a:ext cx="5257800" cy="4351338"/>
          </a:xfrm>
        </p:spPr>
        <p:txBody>
          <a:bodyPr>
            <a:normAutofit/>
          </a:bodyPr>
          <a:lstStyle/>
          <a:p>
            <a:r>
              <a:rPr lang="en-US" dirty="0"/>
              <a:t>Ask the patient to sit up, </a:t>
            </a:r>
            <a:r>
              <a:rPr lang="en-US" b="1" dirty="0"/>
              <a:t>lean forward</a:t>
            </a:r>
            <a:r>
              <a:rPr lang="en-US" dirty="0"/>
              <a:t>, exhale completely, and </a:t>
            </a:r>
            <a:r>
              <a:rPr lang="en-US" b="1" dirty="0"/>
              <a:t>pause breathing in expiration</a:t>
            </a:r>
          </a:p>
          <a:p>
            <a:r>
              <a:rPr lang="en-US" dirty="0"/>
              <a:t>Place the </a:t>
            </a:r>
            <a:r>
              <a:rPr lang="en-US" b="1" dirty="0"/>
              <a:t>diaphragm</a:t>
            </a:r>
            <a:r>
              <a:rPr lang="en-US" dirty="0"/>
              <a:t> of your stethoscope along the </a:t>
            </a:r>
            <a:r>
              <a:rPr lang="en-US" b="1" dirty="0"/>
              <a:t>left sternal border</a:t>
            </a:r>
            <a:r>
              <a:rPr lang="en-US" dirty="0"/>
              <a:t> (3</a:t>
            </a:r>
            <a:r>
              <a:rPr lang="en-US" baseline="30000" dirty="0"/>
              <a:t>rd</a:t>
            </a:r>
            <a:r>
              <a:rPr lang="en-US" dirty="0"/>
              <a:t>/4</a:t>
            </a:r>
            <a:r>
              <a:rPr lang="en-US" baseline="30000" dirty="0"/>
              <a:t>th</a:t>
            </a:r>
            <a:r>
              <a:rPr lang="en-US" dirty="0"/>
              <a:t> interspaces) and at the </a:t>
            </a:r>
            <a:r>
              <a:rPr lang="en-US" b="1" dirty="0"/>
              <a:t>apex</a:t>
            </a:r>
          </a:p>
        </p:txBody>
      </p:sp>
      <p:pic>
        <p:nvPicPr>
          <p:cNvPr id="6" name="Content Placeholder 5" descr="Leaning forward for augmentation.png">
            <a:extLst>
              <a:ext uri="{FF2B5EF4-FFF2-40B4-BE49-F238E27FC236}">
                <a16:creationId xmlns:a16="http://schemas.microsoft.com/office/drawing/2014/main" id="{418CB38A-C6E1-41A4-9D67-1D882FE1A7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9610" y="1702118"/>
            <a:ext cx="5751122" cy="4802187"/>
          </a:xfrm>
          <a:prstGeom prst="rect">
            <a:avLst/>
          </a:prstGeom>
        </p:spPr>
      </p:pic>
    </p:spTree>
    <p:extLst>
      <p:ext uri="{BB962C8B-B14F-4D97-AF65-F5344CB8AC3E}">
        <p14:creationId xmlns:p14="http://schemas.microsoft.com/office/powerpoint/2010/main" val="16482985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300AC-7719-439D-ADEA-1D5BE376E177}"/>
              </a:ext>
            </a:extLst>
          </p:cNvPr>
          <p:cNvSpPr>
            <a:spLocks noGrp="1"/>
          </p:cNvSpPr>
          <p:nvPr>
            <p:ph type="title"/>
          </p:nvPr>
        </p:nvSpPr>
        <p:spPr/>
        <p:txBody>
          <a:bodyPr/>
          <a:lstStyle/>
          <a:p>
            <a:r>
              <a:rPr lang="en-US" dirty="0"/>
              <a:t>Estimate Jugular Venous Pressure (JVP)</a:t>
            </a:r>
          </a:p>
        </p:txBody>
      </p:sp>
      <p:sp>
        <p:nvSpPr>
          <p:cNvPr id="3" name="Content Placeholder 2">
            <a:extLst>
              <a:ext uri="{FF2B5EF4-FFF2-40B4-BE49-F238E27FC236}">
                <a16:creationId xmlns:a16="http://schemas.microsoft.com/office/drawing/2014/main" id="{7D1244A9-9270-4E7D-A852-9342F567CAB6}"/>
              </a:ext>
            </a:extLst>
          </p:cNvPr>
          <p:cNvSpPr>
            <a:spLocks noGrp="1"/>
          </p:cNvSpPr>
          <p:nvPr>
            <p:ph idx="1"/>
          </p:nvPr>
        </p:nvSpPr>
        <p:spPr/>
        <p:txBody>
          <a:bodyPr/>
          <a:lstStyle/>
          <a:p>
            <a:r>
              <a:rPr lang="en-US" dirty="0"/>
              <a:t>Reflects </a:t>
            </a:r>
            <a:r>
              <a:rPr lang="en-US" b="1" dirty="0"/>
              <a:t>right atrial pressure</a:t>
            </a:r>
            <a:r>
              <a:rPr lang="en-US" dirty="0"/>
              <a:t>, which, in turn, equals central venous pressure and right ventricular end-diastolic pressure</a:t>
            </a:r>
          </a:p>
          <a:p>
            <a:r>
              <a:rPr lang="en-US" dirty="0"/>
              <a:t>Best estimated from the </a:t>
            </a:r>
            <a:r>
              <a:rPr lang="en-US" b="1" dirty="0"/>
              <a:t>right </a:t>
            </a:r>
            <a:r>
              <a:rPr lang="en-US" b="1" u="sng" dirty="0"/>
              <a:t>internal</a:t>
            </a:r>
            <a:r>
              <a:rPr lang="en-US" b="1" dirty="0"/>
              <a:t> jugular vein</a:t>
            </a:r>
            <a:r>
              <a:rPr lang="en-US" dirty="0"/>
              <a:t>, which has the most direct channel into the right atrium</a:t>
            </a:r>
          </a:p>
          <a:p>
            <a:r>
              <a:rPr lang="en-US" dirty="0"/>
              <a:t>Find the highest point of </a:t>
            </a:r>
            <a:r>
              <a:rPr lang="en-US" b="1" dirty="0"/>
              <a:t>oscillation</a:t>
            </a:r>
            <a:r>
              <a:rPr lang="en-US" dirty="0"/>
              <a:t> in the right internal jugular vein (near where it appears to then collapse)</a:t>
            </a:r>
          </a:p>
        </p:txBody>
      </p:sp>
    </p:spTree>
    <p:extLst>
      <p:ext uri="{BB962C8B-B14F-4D97-AF65-F5344CB8AC3E}">
        <p14:creationId xmlns:p14="http://schemas.microsoft.com/office/powerpoint/2010/main" val="3730053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 Jugular Venous Pressure (JVP)</a:t>
            </a:r>
          </a:p>
        </p:txBody>
      </p:sp>
      <p:pic>
        <p:nvPicPr>
          <p:cNvPr id="5" name="Picture 4">
            <a:extLst>
              <a:ext uri="{FF2B5EF4-FFF2-40B4-BE49-F238E27FC236}">
                <a16:creationId xmlns:a16="http://schemas.microsoft.com/office/drawing/2014/main" id="{6E72033F-203D-31C1-772D-38651AB104E0}"/>
              </a:ext>
            </a:extLst>
          </p:cNvPr>
          <p:cNvPicPr>
            <a:picLocks noChangeAspect="1"/>
          </p:cNvPicPr>
          <p:nvPr/>
        </p:nvPicPr>
        <p:blipFill rotWithShape="1">
          <a:blip r:embed="rId3"/>
          <a:srcRect t="15772" b="3739"/>
          <a:stretch/>
        </p:blipFill>
        <p:spPr>
          <a:xfrm>
            <a:off x="3086693" y="1545691"/>
            <a:ext cx="5767376" cy="5100436"/>
          </a:xfrm>
          <a:prstGeom prst="rect">
            <a:avLst/>
          </a:prstGeom>
        </p:spPr>
      </p:pic>
      <p:sp>
        <p:nvSpPr>
          <p:cNvPr id="6" name="Oval 5">
            <a:extLst>
              <a:ext uri="{FF2B5EF4-FFF2-40B4-BE49-F238E27FC236}">
                <a16:creationId xmlns:a16="http://schemas.microsoft.com/office/drawing/2014/main" id="{BC45E93D-37CF-0C1C-CA3E-3F82E6BB9B2C}"/>
              </a:ext>
            </a:extLst>
          </p:cNvPr>
          <p:cNvSpPr/>
          <p:nvPr/>
        </p:nvSpPr>
        <p:spPr>
          <a:xfrm>
            <a:off x="3412273" y="2352642"/>
            <a:ext cx="2107580" cy="947853"/>
          </a:xfrm>
          <a:prstGeom prst="ellipse">
            <a:avLst/>
          </a:prstGeom>
          <a:no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61961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300AC-7719-439D-ADEA-1D5BE376E177}"/>
              </a:ext>
            </a:extLst>
          </p:cNvPr>
          <p:cNvSpPr>
            <a:spLocks noGrp="1"/>
          </p:cNvSpPr>
          <p:nvPr>
            <p:ph type="title"/>
          </p:nvPr>
        </p:nvSpPr>
        <p:spPr/>
        <p:txBody>
          <a:bodyPr/>
          <a:lstStyle/>
          <a:p>
            <a:r>
              <a:rPr lang="en-US" dirty="0"/>
              <a:t>Estimate Jugular Venous Pressure (JVP)</a:t>
            </a:r>
          </a:p>
        </p:txBody>
      </p:sp>
      <p:sp>
        <p:nvSpPr>
          <p:cNvPr id="3" name="Content Placeholder 2">
            <a:extLst>
              <a:ext uri="{FF2B5EF4-FFF2-40B4-BE49-F238E27FC236}">
                <a16:creationId xmlns:a16="http://schemas.microsoft.com/office/drawing/2014/main" id="{7D1244A9-9270-4E7D-A852-9342F567CAB6}"/>
              </a:ext>
            </a:extLst>
          </p:cNvPr>
          <p:cNvSpPr>
            <a:spLocks noGrp="1"/>
          </p:cNvSpPr>
          <p:nvPr>
            <p:ph idx="1"/>
          </p:nvPr>
        </p:nvSpPr>
        <p:spPr>
          <a:xfrm>
            <a:off x="838200" y="1825624"/>
            <a:ext cx="10515600" cy="4826635"/>
          </a:xfrm>
        </p:spPr>
        <p:txBody>
          <a:bodyPr>
            <a:normAutofit/>
          </a:bodyPr>
          <a:lstStyle/>
          <a:p>
            <a:r>
              <a:rPr lang="en-US" dirty="0"/>
              <a:t>Raise the head of the bed or examining table to about 30°, turn the patient’s head slightly away from the side you are inspecting, and ensure they are comfortable to relax the SCM muscles</a:t>
            </a:r>
          </a:p>
          <a:p>
            <a:r>
              <a:rPr lang="en-US" dirty="0"/>
              <a:t>Use tangential lighting and examine both sides of the neck to identify the </a:t>
            </a:r>
            <a:r>
              <a:rPr lang="en-US" b="1" dirty="0"/>
              <a:t>internal jugular venous pulsations</a:t>
            </a:r>
          </a:p>
          <a:p>
            <a:r>
              <a:rPr lang="en-US" dirty="0"/>
              <a:t>If necessary, raise or lower the head of the bed until you can see the oscillation point or meniscus of the internal jugular venous pulsations in the lower half of the neck</a:t>
            </a:r>
          </a:p>
        </p:txBody>
      </p:sp>
    </p:spTree>
    <p:extLst>
      <p:ext uri="{BB962C8B-B14F-4D97-AF65-F5344CB8AC3E}">
        <p14:creationId xmlns:p14="http://schemas.microsoft.com/office/powerpoint/2010/main" val="26470957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300AC-7719-439D-ADEA-1D5BE376E177}"/>
              </a:ext>
            </a:extLst>
          </p:cNvPr>
          <p:cNvSpPr>
            <a:spLocks noGrp="1"/>
          </p:cNvSpPr>
          <p:nvPr>
            <p:ph type="title"/>
          </p:nvPr>
        </p:nvSpPr>
        <p:spPr/>
        <p:txBody>
          <a:bodyPr/>
          <a:lstStyle/>
          <a:p>
            <a:r>
              <a:rPr lang="en-US" dirty="0"/>
              <a:t>Estimate Jugular Venous Pressure (JVP)</a:t>
            </a:r>
          </a:p>
        </p:txBody>
      </p:sp>
      <p:sp>
        <p:nvSpPr>
          <p:cNvPr id="3" name="Content Placeholder 2">
            <a:extLst>
              <a:ext uri="{FF2B5EF4-FFF2-40B4-BE49-F238E27FC236}">
                <a16:creationId xmlns:a16="http://schemas.microsoft.com/office/drawing/2014/main" id="{7D1244A9-9270-4E7D-A852-9342F567CAB6}"/>
              </a:ext>
            </a:extLst>
          </p:cNvPr>
          <p:cNvSpPr>
            <a:spLocks noGrp="1"/>
          </p:cNvSpPr>
          <p:nvPr>
            <p:ph idx="1"/>
          </p:nvPr>
        </p:nvSpPr>
        <p:spPr/>
        <p:txBody>
          <a:bodyPr/>
          <a:lstStyle/>
          <a:p>
            <a:r>
              <a:rPr lang="en-US" dirty="0"/>
              <a:t>Look for pulsations in the suprasternal notch, between the attachments of the SCM muscle on the sternum and clavicle, or just posterior to the SCM</a:t>
            </a:r>
          </a:p>
          <a:p>
            <a:r>
              <a:rPr lang="en-US" dirty="0"/>
              <a:t>Distinguish the pulsations of the internal jugular vein from those of the carotid artery</a:t>
            </a:r>
          </a:p>
        </p:txBody>
      </p:sp>
    </p:spTree>
    <p:extLst>
      <p:ext uri="{BB962C8B-B14F-4D97-AF65-F5344CB8AC3E}">
        <p14:creationId xmlns:p14="http://schemas.microsoft.com/office/powerpoint/2010/main" val="12050398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300AC-7719-439D-ADEA-1D5BE376E177}"/>
              </a:ext>
            </a:extLst>
          </p:cNvPr>
          <p:cNvSpPr>
            <a:spLocks noGrp="1"/>
          </p:cNvSpPr>
          <p:nvPr>
            <p:ph type="title"/>
          </p:nvPr>
        </p:nvSpPr>
        <p:spPr/>
        <p:txBody>
          <a:bodyPr/>
          <a:lstStyle/>
          <a:p>
            <a:r>
              <a:rPr lang="en-US" dirty="0"/>
              <a:t>Estimate Jugular Venous Pressure (JVP)</a:t>
            </a:r>
          </a:p>
        </p:txBody>
      </p:sp>
      <p:sp>
        <p:nvSpPr>
          <p:cNvPr id="3" name="Content Placeholder 2">
            <a:extLst>
              <a:ext uri="{FF2B5EF4-FFF2-40B4-BE49-F238E27FC236}">
                <a16:creationId xmlns:a16="http://schemas.microsoft.com/office/drawing/2014/main" id="{7D1244A9-9270-4E7D-A852-9342F567CAB6}"/>
              </a:ext>
            </a:extLst>
          </p:cNvPr>
          <p:cNvSpPr>
            <a:spLocks noGrp="1"/>
          </p:cNvSpPr>
          <p:nvPr>
            <p:ph idx="1"/>
          </p:nvPr>
        </p:nvSpPr>
        <p:spPr>
          <a:xfrm>
            <a:off x="838200" y="1690688"/>
            <a:ext cx="10515600" cy="5097463"/>
          </a:xfrm>
        </p:spPr>
        <p:txBody>
          <a:bodyPr>
            <a:normAutofit/>
          </a:bodyPr>
          <a:lstStyle/>
          <a:p>
            <a:r>
              <a:rPr lang="en-US" dirty="0"/>
              <a:t>Identify the </a:t>
            </a:r>
            <a:r>
              <a:rPr lang="en-US" b="1" dirty="0"/>
              <a:t>highest point of pulsation </a:t>
            </a:r>
            <a:r>
              <a:rPr lang="en-US" dirty="0"/>
              <a:t>in the right jugular vein</a:t>
            </a:r>
          </a:p>
          <a:p>
            <a:r>
              <a:rPr lang="en-US" dirty="0"/>
              <a:t>Extend a </a:t>
            </a:r>
            <a:r>
              <a:rPr lang="en-US" b="1" dirty="0"/>
              <a:t>long rectangular object horizontally </a:t>
            </a:r>
            <a:r>
              <a:rPr lang="en-US" dirty="0"/>
              <a:t>from this point and a </a:t>
            </a:r>
            <a:r>
              <a:rPr lang="en-US" b="1" dirty="0"/>
              <a:t>centimeter</a:t>
            </a:r>
            <a:r>
              <a:rPr lang="en-US" dirty="0"/>
              <a:t> </a:t>
            </a:r>
            <a:r>
              <a:rPr lang="en-US" b="1" dirty="0"/>
              <a:t>ruler vertically from the sternal angle</a:t>
            </a:r>
            <a:r>
              <a:rPr lang="en-US" dirty="0"/>
              <a:t>, making an exact right angle</a:t>
            </a:r>
          </a:p>
          <a:p>
            <a:r>
              <a:rPr lang="en-US" dirty="0"/>
              <a:t>Measure the </a:t>
            </a:r>
            <a:r>
              <a:rPr lang="en-US" b="1" dirty="0"/>
              <a:t>vertical distance in centimeters </a:t>
            </a:r>
            <a:r>
              <a:rPr lang="en-US" dirty="0"/>
              <a:t>above the sternal angle where the horizontal object crosses the ruler</a:t>
            </a:r>
          </a:p>
          <a:p>
            <a:r>
              <a:rPr lang="en-US" b="1" dirty="0"/>
              <a:t>Add</a:t>
            </a:r>
            <a:r>
              <a:rPr lang="en-US" dirty="0"/>
              <a:t> to this distance </a:t>
            </a:r>
            <a:r>
              <a:rPr lang="en-US" b="1" dirty="0"/>
              <a:t>5 cm </a:t>
            </a:r>
            <a:r>
              <a:rPr lang="en-US" dirty="0"/>
              <a:t>(the distance from the sternal angle to the center of the right atrium) to get the JVP</a:t>
            </a:r>
          </a:p>
          <a:p>
            <a:pPr lvl="1"/>
            <a:r>
              <a:rPr lang="en-US" sz="3200" dirty="0"/>
              <a:t>Normal is </a:t>
            </a:r>
            <a:r>
              <a:rPr lang="en-US" sz="3200" b="1" dirty="0"/>
              <a:t>6 to 8 cm</a:t>
            </a:r>
          </a:p>
        </p:txBody>
      </p:sp>
      <p:pic>
        <p:nvPicPr>
          <p:cNvPr id="5" name="Picture 4">
            <a:extLst>
              <a:ext uri="{FF2B5EF4-FFF2-40B4-BE49-F238E27FC236}">
                <a16:creationId xmlns:a16="http://schemas.microsoft.com/office/drawing/2014/main" id="{755625D1-C87D-48A2-8C41-1493166B6144}"/>
              </a:ext>
            </a:extLst>
          </p:cNvPr>
          <p:cNvPicPr>
            <a:picLocks noChangeAspect="1"/>
          </p:cNvPicPr>
          <p:nvPr/>
        </p:nvPicPr>
        <p:blipFill>
          <a:blip r:embed="rId3"/>
          <a:stretch>
            <a:fillRect/>
          </a:stretch>
        </p:blipFill>
        <p:spPr>
          <a:xfrm>
            <a:off x="9637870" y="69849"/>
            <a:ext cx="2496980" cy="1664653"/>
          </a:xfrm>
          <a:prstGeom prst="rect">
            <a:avLst/>
          </a:prstGeom>
        </p:spPr>
      </p:pic>
    </p:spTree>
    <p:extLst>
      <p:ext uri="{BB962C8B-B14F-4D97-AF65-F5344CB8AC3E}">
        <p14:creationId xmlns:p14="http://schemas.microsoft.com/office/powerpoint/2010/main" val="4644126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A2A63-0AAC-4130-A06B-51071FC80E99}"/>
              </a:ext>
            </a:extLst>
          </p:cNvPr>
          <p:cNvSpPr>
            <a:spLocks noGrp="1"/>
          </p:cNvSpPr>
          <p:nvPr>
            <p:ph type="title"/>
          </p:nvPr>
        </p:nvSpPr>
        <p:spPr/>
        <p:txBody>
          <a:bodyPr/>
          <a:lstStyle/>
          <a:p>
            <a:r>
              <a:rPr lang="en-US" dirty="0"/>
              <a:t>Estimate Jugular Venous Pressure (JVP)</a:t>
            </a:r>
          </a:p>
        </p:txBody>
      </p:sp>
      <p:pic>
        <p:nvPicPr>
          <p:cNvPr id="7" name="Online Media 6" title="Examination of the Neck Veins (Stanford Medicine 25)">
            <a:hlinkClick r:id="" action="ppaction://media"/>
            <a:extLst>
              <a:ext uri="{FF2B5EF4-FFF2-40B4-BE49-F238E27FC236}">
                <a16:creationId xmlns:a16="http://schemas.microsoft.com/office/drawing/2014/main" id="{D3458EE4-3438-4292-A5B0-E41FE3F24B17}"/>
              </a:ext>
            </a:extLst>
          </p:cNvPr>
          <p:cNvPicPr>
            <a:picLocks noRot="1" noChangeAspect="1"/>
          </p:cNvPicPr>
          <p:nvPr>
            <a:videoFile r:link="rId1"/>
          </p:nvPr>
        </p:nvPicPr>
        <p:blipFill>
          <a:blip r:embed="rId4"/>
          <a:stretch>
            <a:fillRect/>
          </a:stretch>
        </p:blipFill>
        <p:spPr>
          <a:xfrm>
            <a:off x="1588618" y="1399534"/>
            <a:ext cx="9014763" cy="5093341"/>
          </a:xfrm>
          <a:prstGeom prst="rect">
            <a:avLst/>
          </a:prstGeom>
        </p:spPr>
      </p:pic>
    </p:spTree>
    <p:extLst>
      <p:ext uri="{BB962C8B-B14F-4D97-AF65-F5344CB8AC3E}">
        <p14:creationId xmlns:p14="http://schemas.microsoft.com/office/powerpoint/2010/main" val="4166602133"/>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CC498-D22A-4655-B23F-DE34A456A91E}"/>
              </a:ext>
            </a:extLst>
          </p:cNvPr>
          <p:cNvSpPr>
            <a:spLocks noGrp="1"/>
          </p:cNvSpPr>
          <p:nvPr>
            <p:ph type="title"/>
          </p:nvPr>
        </p:nvSpPr>
        <p:spPr/>
        <p:txBody>
          <a:bodyPr/>
          <a:lstStyle/>
          <a:p>
            <a:r>
              <a:rPr lang="en-US" dirty="0"/>
              <a:t>Palpate Pulses</a:t>
            </a:r>
          </a:p>
        </p:txBody>
      </p:sp>
      <p:sp>
        <p:nvSpPr>
          <p:cNvPr id="3" name="Content Placeholder 2">
            <a:extLst>
              <a:ext uri="{FF2B5EF4-FFF2-40B4-BE49-F238E27FC236}">
                <a16:creationId xmlns:a16="http://schemas.microsoft.com/office/drawing/2014/main" id="{E394683A-B0EE-40CB-996B-0C8C372FF37B}"/>
              </a:ext>
            </a:extLst>
          </p:cNvPr>
          <p:cNvSpPr>
            <a:spLocks noGrp="1"/>
          </p:cNvSpPr>
          <p:nvPr>
            <p:ph idx="1"/>
          </p:nvPr>
        </p:nvSpPr>
        <p:spPr>
          <a:xfrm>
            <a:off x="838200" y="1825624"/>
            <a:ext cx="10515600" cy="4792345"/>
          </a:xfrm>
        </p:spPr>
        <p:txBody>
          <a:bodyPr>
            <a:normAutofit fontScale="92500" lnSpcReduction="10000"/>
          </a:bodyPr>
          <a:lstStyle/>
          <a:p>
            <a:r>
              <a:rPr lang="en-US" dirty="0"/>
              <a:t>Use the </a:t>
            </a:r>
            <a:r>
              <a:rPr lang="en-US" b="1" dirty="0"/>
              <a:t>pads of your second and third fingers</a:t>
            </a:r>
            <a:r>
              <a:rPr lang="en-US" dirty="0"/>
              <a:t> and </a:t>
            </a:r>
            <a:r>
              <a:rPr lang="en-US" b="1" dirty="0"/>
              <a:t>compare bilaterally</a:t>
            </a:r>
          </a:p>
          <a:p>
            <a:pPr lvl="1"/>
            <a:r>
              <a:rPr lang="pt-BR" dirty="0"/>
              <a:t>Temporal, carotid, brachial, radial, ulnar, femoral, popliteal, posterior tibialis, dorsalis pedis</a:t>
            </a:r>
          </a:p>
          <a:p>
            <a:r>
              <a:rPr lang="pt-BR" dirty="0"/>
              <a:t>Use the </a:t>
            </a:r>
            <a:r>
              <a:rPr lang="pt-BR" b="1" dirty="0"/>
              <a:t>entire hand </a:t>
            </a:r>
            <a:r>
              <a:rPr lang="pt-BR" dirty="0"/>
              <a:t>to palpate the </a:t>
            </a:r>
            <a:r>
              <a:rPr lang="pt-BR" b="1" dirty="0"/>
              <a:t>aortic pulse </a:t>
            </a:r>
            <a:r>
              <a:rPr lang="pt-BR" dirty="0"/>
              <a:t>by pressing deeply in the upper abdomen, slightly left of midline</a:t>
            </a:r>
          </a:p>
          <a:p>
            <a:r>
              <a:rPr lang="en-US" dirty="0"/>
              <a:t>Grade pulses based on the amplitude</a:t>
            </a:r>
          </a:p>
          <a:p>
            <a:pPr lvl="1"/>
            <a:r>
              <a:rPr lang="en-US" dirty="0"/>
              <a:t>3+ = bounding</a:t>
            </a:r>
          </a:p>
          <a:p>
            <a:pPr lvl="1"/>
            <a:r>
              <a:rPr lang="en-US" b="1" dirty="0"/>
              <a:t>2+ = brisk, expected (normal)</a:t>
            </a:r>
          </a:p>
          <a:p>
            <a:pPr lvl="1"/>
            <a:r>
              <a:rPr lang="en-US" dirty="0"/>
              <a:t>1+ = diminished, weak</a:t>
            </a:r>
          </a:p>
          <a:p>
            <a:pPr lvl="1"/>
            <a:r>
              <a:rPr lang="en-US" dirty="0"/>
              <a:t>0 = absent, cannot palpate</a:t>
            </a:r>
          </a:p>
        </p:txBody>
      </p:sp>
    </p:spTree>
    <p:extLst>
      <p:ext uri="{BB962C8B-B14F-4D97-AF65-F5344CB8AC3E}">
        <p14:creationId xmlns:p14="http://schemas.microsoft.com/office/powerpoint/2010/main" val="6272663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7C43-B2DE-44B7-AF4E-08C85B55CFF1}"/>
              </a:ext>
            </a:extLst>
          </p:cNvPr>
          <p:cNvSpPr>
            <a:spLocks noGrp="1"/>
          </p:cNvSpPr>
          <p:nvPr>
            <p:ph type="title"/>
          </p:nvPr>
        </p:nvSpPr>
        <p:spPr>
          <a:xfrm>
            <a:off x="838200" y="365125"/>
            <a:ext cx="4597147" cy="1325563"/>
          </a:xfrm>
        </p:spPr>
        <p:txBody>
          <a:bodyPr/>
          <a:lstStyle/>
          <a:p>
            <a:r>
              <a:rPr lang="en-US" dirty="0"/>
              <a:t>Temporal Pulse</a:t>
            </a:r>
          </a:p>
        </p:txBody>
      </p:sp>
      <p:pic>
        <p:nvPicPr>
          <p:cNvPr id="3" name="Picture 2">
            <a:extLst>
              <a:ext uri="{FF2B5EF4-FFF2-40B4-BE49-F238E27FC236}">
                <a16:creationId xmlns:a16="http://schemas.microsoft.com/office/drawing/2014/main" id="{7F782B98-2C41-473B-9CE6-769A270CA0E8}"/>
              </a:ext>
            </a:extLst>
          </p:cNvPr>
          <p:cNvPicPr>
            <a:picLocks noChangeAspect="1"/>
          </p:cNvPicPr>
          <p:nvPr/>
        </p:nvPicPr>
        <p:blipFill>
          <a:blip r:embed="rId3"/>
          <a:stretch>
            <a:fillRect/>
          </a:stretch>
        </p:blipFill>
        <p:spPr>
          <a:xfrm>
            <a:off x="711327" y="1690689"/>
            <a:ext cx="4897755" cy="4081462"/>
          </a:xfrm>
          <a:prstGeom prst="rect">
            <a:avLst/>
          </a:prstGeom>
        </p:spPr>
      </p:pic>
      <p:sp>
        <p:nvSpPr>
          <p:cNvPr id="4" name="Title 1">
            <a:extLst>
              <a:ext uri="{FF2B5EF4-FFF2-40B4-BE49-F238E27FC236}">
                <a16:creationId xmlns:a16="http://schemas.microsoft.com/office/drawing/2014/main" id="{F83D6073-C5C5-4C9B-8213-F9E983D9C997}"/>
              </a:ext>
            </a:extLst>
          </p:cNvPr>
          <p:cNvSpPr txBox="1">
            <a:spLocks/>
          </p:cNvSpPr>
          <p:nvPr/>
        </p:nvSpPr>
        <p:spPr>
          <a:xfrm>
            <a:off x="6756653" y="423067"/>
            <a:ext cx="459714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Carotid Pulse</a:t>
            </a:r>
          </a:p>
        </p:txBody>
      </p:sp>
      <p:pic>
        <p:nvPicPr>
          <p:cNvPr id="5" name="Picture 4">
            <a:extLst>
              <a:ext uri="{FF2B5EF4-FFF2-40B4-BE49-F238E27FC236}">
                <a16:creationId xmlns:a16="http://schemas.microsoft.com/office/drawing/2014/main" id="{993D74D5-8CCA-4C28-A823-61773ACE9861}"/>
              </a:ext>
            </a:extLst>
          </p:cNvPr>
          <p:cNvPicPr>
            <a:picLocks noChangeAspect="1"/>
          </p:cNvPicPr>
          <p:nvPr/>
        </p:nvPicPr>
        <p:blipFill>
          <a:blip r:embed="rId4"/>
          <a:stretch>
            <a:fillRect/>
          </a:stretch>
        </p:blipFill>
        <p:spPr>
          <a:xfrm>
            <a:off x="6202637" y="1690688"/>
            <a:ext cx="5278036" cy="4081463"/>
          </a:xfrm>
          <a:prstGeom prst="rect">
            <a:avLst/>
          </a:prstGeom>
        </p:spPr>
      </p:pic>
    </p:spTree>
    <p:extLst>
      <p:ext uri="{BB962C8B-B14F-4D97-AF65-F5344CB8AC3E}">
        <p14:creationId xmlns:p14="http://schemas.microsoft.com/office/powerpoint/2010/main" val="8677282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7C43-B2DE-44B7-AF4E-08C85B55CFF1}"/>
              </a:ext>
            </a:extLst>
          </p:cNvPr>
          <p:cNvSpPr>
            <a:spLocks noGrp="1"/>
          </p:cNvSpPr>
          <p:nvPr>
            <p:ph type="title"/>
          </p:nvPr>
        </p:nvSpPr>
        <p:spPr>
          <a:xfrm>
            <a:off x="838200" y="365125"/>
            <a:ext cx="4597147" cy="1325563"/>
          </a:xfrm>
        </p:spPr>
        <p:txBody>
          <a:bodyPr/>
          <a:lstStyle/>
          <a:p>
            <a:r>
              <a:rPr lang="en-US" dirty="0"/>
              <a:t>Brachial Pulse</a:t>
            </a:r>
          </a:p>
        </p:txBody>
      </p:sp>
      <p:sp>
        <p:nvSpPr>
          <p:cNvPr id="4" name="Title 1">
            <a:extLst>
              <a:ext uri="{FF2B5EF4-FFF2-40B4-BE49-F238E27FC236}">
                <a16:creationId xmlns:a16="http://schemas.microsoft.com/office/drawing/2014/main" id="{F83D6073-C5C5-4C9B-8213-F9E983D9C997}"/>
              </a:ext>
            </a:extLst>
          </p:cNvPr>
          <p:cNvSpPr txBox="1">
            <a:spLocks/>
          </p:cNvSpPr>
          <p:nvPr/>
        </p:nvSpPr>
        <p:spPr>
          <a:xfrm>
            <a:off x="6756655" y="381934"/>
            <a:ext cx="459714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Radial Pulse</a:t>
            </a:r>
          </a:p>
        </p:txBody>
      </p:sp>
      <p:pic>
        <p:nvPicPr>
          <p:cNvPr id="6" name="Picture 5">
            <a:extLst>
              <a:ext uri="{FF2B5EF4-FFF2-40B4-BE49-F238E27FC236}">
                <a16:creationId xmlns:a16="http://schemas.microsoft.com/office/drawing/2014/main" id="{652D0AC9-E6CF-4B51-ACD2-F725DF9BE6BD}"/>
              </a:ext>
            </a:extLst>
          </p:cNvPr>
          <p:cNvPicPr>
            <a:picLocks noChangeAspect="1"/>
          </p:cNvPicPr>
          <p:nvPr/>
        </p:nvPicPr>
        <p:blipFill>
          <a:blip r:embed="rId3"/>
          <a:stretch>
            <a:fillRect/>
          </a:stretch>
        </p:blipFill>
        <p:spPr>
          <a:xfrm>
            <a:off x="6423089" y="1696703"/>
            <a:ext cx="5211128" cy="4097639"/>
          </a:xfrm>
          <a:prstGeom prst="rect">
            <a:avLst/>
          </a:prstGeom>
        </p:spPr>
      </p:pic>
      <p:pic>
        <p:nvPicPr>
          <p:cNvPr id="7" name="Picture 6">
            <a:extLst>
              <a:ext uri="{FF2B5EF4-FFF2-40B4-BE49-F238E27FC236}">
                <a16:creationId xmlns:a16="http://schemas.microsoft.com/office/drawing/2014/main" id="{0041FA9E-D591-4310-9E38-FFF1A314F830}"/>
              </a:ext>
            </a:extLst>
          </p:cNvPr>
          <p:cNvPicPr>
            <a:picLocks noChangeAspect="1"/>
          </p:cNvPicPr>
          <p:nvPr/>
        </p:nvPicPr>
        <p:blipFill>
          <a:blip r:embed="rId4"/>
          <a:stretch>
            <a:fillRect/>
          </a:stretch>
        </p:blipFill>
        <p:spPr>
          <a:xfrm>
            <a:off x="523786" y="1690687"/>
            <a:ext cx="5225974" cy="4097639"/>
          </a:xfrm>
          <a:prstGeom prst="rect">
            <a:avLst/>
          </a:prstGeom>
        </p:spPr>
      </p:pic>
    </p:spTree>
    <p:extLst>
      <p:ext uri="{BB962C8B-B14F-4D97-AF65-F5344CB8AC3E}">
        <p14:creationId xmlns:p14="http://schemas.microsoft.com/office/powerpoint/2010/main" val="19124875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7C43-B2DE-44B7-AF4E-08C85B55CFF1}"/>
              </a:ext>
            </a:extLst>
          </p:cNvPr>
          <p:cNvSpPr>
            <a:spLocks noGrp="1"/>
          </p:cNvSpPr>
          <p:nvPr>
            <p:ph type="title"/>
          </p:nvPr>
        </p:nvSpPr>
        <p:spPr>
          <a:xfrm>
            <a:off x="838200" y="365125"/>
            <a:ext cx="4597147" cy="1325563"/>
          </a:xfrm>
        </p:spPr>
        <p:txBody>
          <a:bodyPr/>
          <a:lstStyle/>
          <a:p>
            <a:r>
              <a:rPr lang="en-US" dirty="0"/>
              <a:t>Ulnar Pulse</a:t>
            </a:r>
          </a:p>
        </p:txBody>
      </p:sp>
      <p:sp>
        <p:nvSpPr>
          <p:cNvPr id="4" name="Title 1">
            <a:extLst>
              <a:ext uri="{FF2B5EF4-FFF2-40B4-BE49-F238E27FC236}">
                <a16:creationId xmlns:a16="http://schemas.microsoft.com/office/drawing/2014/main" id="{F83D6073-C5C5-4C9B-8213-F9E983D9C997}"/>
              </a:ext>
            </a:extLst>
          </p:cNvPr>
          <p:cNvSpPr txBox="1">
            <a:spLocks/>
          </p:cNvSpPr>
          <p:nvPr/>
        </p:nvSpPr>
        <p:spPr>
          <a:xfrm>
            <a:off x="7037070" y="365124"/>
            <a:ext cx="459714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Aortic Pulse</a:t>
            </a:r>
          </a:p>
        </p:txBody>
      </p:sp>
      <p:pic>
        <p:nvPicPr>
          <p:cNvPr id="3" name="Picture 2">
            <a:extLst>
              <a:ext uri="{FF2B5EF4-FFF2-40B4-BE49-F238E27FC236}">
                <a16:creationId xmlns:a16="http://schemas.microsoft.com/office/drawing/2014/main" id="{06A9A949-6848-40F1-B006-AC121C40CF2F}"/>
              </a:ext>
            </a:extLst>
          </p:cNvPr>
          <p:cNvPicPr>
            <a:picLocks noChangeAspect="1"/>
          </p:cNvPicPr>
          <p:nvPr/>
        </p:nvPicPr>
        <p:blipFill>
          <a:blip r:embed="rId3"/>
          <a:stretch>
            <a:fillRect/>
          </a:stretch>
        </p:blipFill>
        <p:spPr>
          <a:xfrm>
            <a:off x="609147" y="1534477"/>
            <a:ext cx="5055251" cy="4340543"/>
          </a:xfrm>
          <a:prstGeom prst="rect">
            <a:avLst/>
          </a:prstGeom>
        </p:spPr>
      </p:pic>
      <p:pic>
        <p:nvPicPr>
          <p:cNvPr id="5" name="Picture 4">
            <a:extLst>
              <a:ext uri="{FF2B5EF4-FFF2-40B4-BE49-F238E27FC236}">
                <a16:creationId xmlns:a16="http://schemas.microsoft.com/office/drawing/2014/main" id="{8C8C2C25-CDE0-4437-B411-AB1F45CCFAC3}"/>
              </a:ext>
            </a:extLst>
          </p:cNvPr>
          <p:cNvPicPr>
            <a:picLocks noChangeAspect="1"/>
          </p:cNvPicPr>
          <p:nvPr/>
        </p:nvPicPr>
        <p:blipFill>
          <a:blip r:embed="rId4"/>
          <a:stretch>
            <a:fillRect/>
          </a:stretch>
        </p:blipFill>
        <p:spPr>
          <a:xfrm>
            <a:off x="6128767" y="2159781"/>
            <a:ext cx="5505450" cy="3089934"/>
          </a:xfrm>
          <a:prstGeom prst="rect">
            <a:avLst/>
          </a:prstGeom>
        </p:spPr>
      </p:pic>
    </p:spTree>
    <p:extLst>
      <p:ext uri="{BB962C8B-B14F-4D97-AF65-F5344CB8AC3E}">
        <p14:creationId xmlns:p14="http://schemas.microsoft.com/office/powerpoint/2010/main" val="14848619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7C43-B2DE-44B7-AF4E-08C85B55CFF1}"/>
              </a:ext>
            </a:extLst>
          </p:cNvPr>
          <p:cNvSpPr>
            <a:spLocks noGrp="1"/>
          </p:cNvSpPr>
          <p:nvPr>
            <p:ph type="title"/>
          </p:nvPr>
        </p:nvSpPr>
        <p:spPr>
          <a:xfrm>
            <a:off x="838200" y="365125"/>
            <a:ext cx="4597147" cy="1325563"/>
          </a:xfrm>
        </p:spPr>
        <p:txBody>
          <a:bodyPr/>
          <a:lstStyle/>
          <a:p>
            <a:r>
              <a:rPr lang="en-US" dirty="0"/>
              <a:t>Femoral Pulse</a:t>
            </a:r>
          </a:p>
        </p:txBody>
      </p:sp>
      <p:sp>
        <p:nvSpPr>
          <p:cNvPr id="4" name="Title 1">
            <a:extLst>
              <a:ext uri="{FF2B5EF4-FFF2-40B4-BE49-F238E27FC236}">
                <a16:creationId xmlns:a16="http://schemas.microsoft.com/office/drawing/2014/main" id="{F83D6073-C5C5-4C9B-8213-F9E983D9C997}"/>
              </a:ext>
            </a:extLst>
          </p:cNvPr>
          <p:cNvSpPr txBox="1">
            <a:spLocks/>
          </p:cNvSpPr>
          <p:nvPr/>
        </p:nvSpPr>
        <p:spPr>
          <a:xfrm>
            <a:off x="6756653" y="365124"/>
            <a:ext cx="459714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Popliteal Pulse</a:t>
            </a:r>
          </a:p>
        </p:txBody>
      </p:sp>
      <p:pic>
        <p:nvPicPr>
          <p:cNvPr id="5" name="Picture 4">
            <a:extLst>
              <a:ext uri="{FF2B5EF4-FFF2-40B4-BE49-F238E27FC236}">
                <a16:creationId xmlns:a16="http://schemas.microsoft.com/office/drawing/2014/main" id="{A5157168-B765-4944-97CA-EAC62AB6C438}"/>
              </a:ext>
            </a:extLst>
          </p:cNvPr>
          <p:cNvPicPr>
            <a:picLocks noChangeAspect="1"/>
          </p:cNvPicPr>
          <p:nvPr/>
        </p:nvPicPr>
        <p:blipFill>
          <a:blip r:embed="rId3"/>
          <a:stretch>
            <a:fillRect/>
          </a:stretch>
        </p:blipFill>
        <p:spPr>
          <a:xfrm>
            <a:off x="842200" y="1553527"/>
            <a:ext cx="3464243" cy="4915665"/>
          </a:xfrm>
          <a:prstGeom prst="rect">
            <a:avLst/>
          </a:prstGeom>
        </p:spPr>
      </p:pic>
      <p:pic>
        <p:nvPicPr>
          <p:cNvPr id="6" name="Picture 5">
            <a:extLst>
              <a:ext uri="{FF2B5EF4-FFF2-40B4-BE49-F238E27FC236}">
                <a16:creationId xmlns:a16="http://schemas.microsoft.com/office/drawing/2014/main" id="{871028D0-D9A9-4F21-B5D8-7BCDE60BC74E}"/>
              </a:ext>
            </a:extLst>
          </p:cNvPr>
          <p:cNvPicPr>
            <a:picLocks noChangeAspect="1"/>
          </p:cNvPicPr>
          <p:nvPr/>
        </p:nvPicPr>
        <p:blipFill>
          <a:blip r:embed="rId4"/>
          <a:stretch>
            <a:fillRect/>
          </a:stretch>
        </p:blipFill>
        <p:spPr>
          <a:xfrm>
            <a:off x="5255895" y="1916811"/>
            <a:ext cx="6572250" cy="4086225"/>
          </a:xfrm>
          <a:prstGeom prst="rect">
            <a:avLst/>
          </a:prstGeom>
        </p:spPr>
      </p:pic>
    </p:spTree>
    <p:extLst>
      <p:ext uri="{BB962C8B-B14F-4D97-AF65-F5344CB8AC3E}">
        <p14:creationId xmlns:p14="http://schemas.microsoft.com/office/powerpoint/2010/main" val="19675585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7C43-B2DE-44B7-AF4E-08C85B55CFF1}"/>
              </a:ext>
            </a:extLst>
          </p:cNvPr>
          <p:cNvSpPr>
            <a:spLocks noGrp="1"/>
          </p:cNvSpPr>
          <p:nvPr>
            <p:ph type="title"/>
          </p:nvPr>
        </p:nvSpPr>
        <p:spPr>
          <a:xfrm>
            <a:off x="581702" y="387351"/>
            <a:ext cx="5257800" cy="1325563"/>
          </a:xfrm>
        </p:spPr>
        <p:txBody>
          <a:bodyPr/>
          <a:lstStyle/>
          <a:p>
            <a:r>
              <a:rPr lang="en-US" dirty="0"/>
              <a:t>Posterior Tibialis Pulse</a:t>
            </a:r>
          </a:p>
        </p:txBody>
      </p:sp>
      <p:sp>
        <p:nvSpPr>
          <p:cNvPr id="4" name="Title 1">
            <a:extLst>
              <a:ext uri="{FF2B5EF4-FFF2-40B4-BE49-F238E27FC236}">
                <a16:creationId xmlns:a16="http://schemas.microsoft.com/office/drawing/2014/main" id="{F83D6073-C5C5-4C9B-8213-F9E983D9C997}"/>
              </a:ext>
            </a:extLst>
          </p:cNvPr>
          <p:cNvSpPr txBox="1">
            <a:spLocks/>
          </p:cNvSpPr>
          <p:nvPr/>
        </p:nvSpPr>
        <p:spPr>
          <a:xfrm>
            <a:off x="6299516" y="387351"/>
            <a:ext cx="523875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Dorsalis Pedis Pulse</a:t>
            </a:r>
          </a:p>
        </p:txBody>
      </p:sp>
      <p:pic>
        <p:nvPicPr>
          <p:cNvPr id="3" name="Picture 2">
            <a:extLst>
              <a:ext uri="{FF2B5EF4-FFF2-40B4-BE49-F238E27FC236}">
                <a16:creationId xmlns:a16="http://schemas.microsoft.com/office/drawing/2014/main" id="{35E8F2AB-08E4-4C16-B831-30C928D987EB}"/>
              </a:ext>
            </a:extLst>
          </p:cNvPr>
          <p:cNvPicPr>
            <a:picLocks noChangeAspect="1"/>
          </p:cNvPicPr>
          <p:nvPr/>
        </p:nvPicPr>
        <p:blipFill>
          <a:blip r:embed="rId3"/>
          <a:stretch>
            <a:fillRect/>
          </a:stretch>
        </p:blipFill>
        <p:spPr>
          <a:xfrm>
            <a:off x="6069509" y="1587819"/>
            <a:ext cx="5698764" cy="4286250"/>
          </a:xfrm>
          <a:prstGeom prst="rect">
            <a:avLst/>
          </a:prstGeom>
        </p:spPr>
      </p:pic>
      <p:pic>
        <p:nvPicPr>
          <p:cNvPr id="6" name="Picture 5">
            <a:extLst>
              <a:ext uri="{FF2B5EF4-FFF2-40B4-BE49-F238E27FC236}">
                <a16:creationId xmlns:a16="http://schemas.microsoft.com/office/drawing/2014/main" id="{22DCD5C7-03CC-4751-8858-E91A5B77752C}"/>
              </a:ext>
            </a:extLst>
          </p:cNvPr>
          <p:cNvPicPr>
            <a:picLocks noChangeAspect="1"/>
          </p:cNvPicPr>
          <p:nvPr/>
        </p:nvPicPr>
        <p:blipFill>
          <a:blip r:embed="rId4"/>
          <a:stretch>
            <a:fillRect/>
          </a:stretch>
        </p:blipFill>
        <p:spPr>
          <a:xfrm>
            <a:off x="438610" y="1587818"/>
            <a:ext cx="5223868" cy="4286251"/>
          </a:xfrm>
          <a:prstGeom prst="rect">
            <a:avLst/>
          </a:prstGeom>
        </p:spPr>
      </p:pic>
    </p:spTree>
    <p:extLst>
      <p:ext uri="{BB962C8B-B14F-4D97-AF65-F5344CB8AC3E}">
        <p14:creationId xmlns:p14="http://schemas.microsoft.com/office/powerpoint/2010/main" val="33498745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1320E-EDE9-45F0-A8FB-2889A445CD46}"/>
              </a:ext>
            </a:extLst>
          </p:cNvPr>
          <p:cNvSpPr>
            <a:spLocks noGrp="1"/>
          </p:cNvSpPr>
          <p:nvPr>
            <p:ph type="title"/>
          </p:nvPr>
        </p:nvSpPr>
        <p:spPr/>
        <p:txBody>
          <a:bodyPr/>
          <a:lstStyle/>
          <a:p>
            <a:r>
              <a:rPr lang="en-US" dirty="0"/>
              <a:t>Auscultate Pulses</a:t>
            </a:r>
          </a:p>
        </p:txBody>
      </p:sp>
      <p:sp>
        <p:nvSpPr>
          <p:cNvPr id="3" name="Content Placeholder 2">
            <a:extLst>
              <a:ext uri="{FF2B5EF4-FFF2-40B4-BE49-F238E27FC236}">
                <a16:creationId xmlns:a16="http://schemas.microsoft.com/office/drawing/2014/main" id="{8A74020A-2414-423C-8AD8-9BE57EF923A1}"/>
              </a:ext>
            </a:extLst>
          </p:cNvPr>
          <p:cNvSpPr>
            <a:spLocks noGrp="1"/>
          </p:cNvSpPr>
          <p:nvPr>
            <p:ph idx="1"/>
          </p:nvPr>
        </p:nvSpPr>
        <p:spPr/>
        <p:txBody>
          <a:bodyPr/>
          <a:lstStyle/>
          <a:p>
            <a:r>
              <a:rPr lang="en-US" b="1" dirty="0"/>
              <a:t>Auscultate</a:t>
            </a:r>
            <a:r>
              <a:rPr lang="en-US" dirty="0"/>
              <a:t> pulses for </a:t>
            </a:r>
            <a:r>
              <a:rPr lang="en-US" b="1" dirty="0"/>
              <a:t>bruits</a:t>
            </a:r>
          </a:p>
          <a:p>
            <a:pPr lvl="1"/>
            <a:r>
              <a:rPr lang="en-US" dirty="0"/>
              <a:t>Temporal, carotid (hold breath), aortic, renal, iliac, femoral</a:t>
            </a:r>
          </a:p>
          <a:p>
            <a:r>
              <a:rPr lang="en-US" dirty="0"/>
              <a:t>Use the </a:t>
            </a:r>
            <a:r>
              <a:rPr lang="en-US" b="1" dirty="0"/>
              <a:t>bell</a:t>
            </a:r>
            <a:r>
              <a:rPr lang="en-US" dirty="0"/>
              <a:t> of the stethoscope</a:t>
            </a:r>
          </a:p>
        </p:txBody>
      </p:sp>
      <p:grpSp>
        <p:nvGrpSpPr>
          <p:cNvPr id="8" name="Group 7">
            <a:extLst>
              <a:ext uri="{FF2B5EF4-FFF2-40B4-BE49-F238E27FC236}">
                <a16:creationId xmlns:a16="http://schemas.microsoft.com/office/drawing/2014/main" id="{8164642C-9BCB-0E78-7081-69D2DB99ADCF}"/>
              </a:ext>
            </a:extLst>
          </p:cNvPr>
          <p:cNvGrpSpPr/>
          <p:nvPr/>
        </p:nvGrpSpPr>
        <p:grpSpPr>
          <a:xfrm>
            <a:off x="9909716" y="4451196"/>
            <a:ext cx="1252654" cy="1001909"/>
            <a:chOff x="9909716" y="4451196"/>
            <a:chExt cx="1252654" cy="1001909"/>
          </a:xfrm>
        </p:grpSpPr>
        <p:pic>
          <p:nvPicPr>
            <p:cNvPr id="6" name="Carotid Bruit">
              <a:hlinkClick r:id="" action="ppaction://media"/>
              <a:extLst>
                <a:ext uri="{FF2B5EF4-FFF2-40B4-BE49-F238E27FC236}">
                  <a16:creationId xmlns:a16="http://schemas.microsoft.com/office/drawing/2014/main" id="{894ABD34-6EC8-4801-DF36-0DAEAB92BDBA}"/>
                </a:ext>
              </a:extLst>
            </p:cNvPr>
            <p:cNvPicPr>
              <a:picLocks noChangeAspect="1"/>
            </p:cNvPicPr>
            <p:nvPr>
              <a:audioFile r:link="rId1"/>
              <p:extLst>
                <p:ext uri="{DAA4B4D4-6D71-4841-9C94-3DE7FCFB9230}">
                  <p14:media xmlns:p14="http://schemas.microsoft.com/office/powerpoint/2010/main" r:embed="rId2">
                    <p14:trim st="1731" end="1563.8843"/>
                  </p14:media>
                </p:ext>
              </p:extLst>
            </p:nvPr>
          </p:nvPicPr>
          <p:blipFill>
            <a:blip r:embed="rId5"/>
            <a:stretch>
              <a:fillRect/>
            </a:stretch>
          </p:blipFill>
          <p:spPr>
            <a:xfrm>
              <a:off x="10062117" y="4451196"/>
              <a:ext cx="609600" cy="609600"/>
            </a:xfrm>
            <a:prstGeom prst="rect">
              <a:avLst/>
            </a:prstGeom>
          </p:spPr>
        </p:pic>
        <p:sp>
          <p:nvSpPr>
            <p:cNvPr id="7" name="TextBox 6">
              <a:extLst>
                <a:ext uri="{FF2B5EF4-FFF2-40B4-BE49-F238E27FC236}">
                  <a16:creationId xmlns:a16="http://schemas.microsoft.com/office/drawing/2014/main" id="{29B8D0EF-9966-3624-8E61-7F96AC38FF95}"/>
                </a:ext>
              </a:extLst>
            </p:cNvPr>
            <p:cNvSpPr txBox="1"/>
            <p:nvPr/>
          </p:nvSpPr>
          <p:spPr>
            <a:xfrm>
              <a:off x="9909716" y="5145328"/>
              <a:ext cx="1252654" cy="307777"/>
            </a:xfrm>
            <a:prstGeom prst="rect">
              <a:avLst/>
            </a:prstGeom>
            <a:noFill/>
          </p:spPr>
          <p:txBody>
            <a:bodyPr wrap="square" rtlCol="0">
              <a:spAutoFit/>
            </a:bodyPr>
            <a:lstStyle/>
            <a:p>
              <a:r>
                <a:rPr lang="en-US" sz="1400" b="1" dirty="0"/>
                <a:t>Carotid Bruit</a:t>
              </a:r>
            </a:p>
          </p:txBody>
        </p:sp>
      </p:grpSp>
    </p:spTree>
    <p:extLst>
      <p:ext uri="{BB962C8B-B14F-4D97-AF65-F5344CB8AC3E}">
        <p14:creationId xmlns:p14="http://schemas.microsoft.com/office/powerpoint/2010/main" val="4033749729"/>
      </p:ext>
    </p:extLst>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6"/>
                </p:tgtEl>
              </p:cMediaNode>
            </p:audio>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9073F-4F46-4D4C-9702-7098F00CBCD7}"/>
              </a:ext>
            </a:extLst>
          </p:cNvPr>
          <p:cNvSpPr>
            <a:spLocks noGrp="1"/>
          </p:cNvSpPr>
          <p:nvPr>
            <p:ph type="title"/>
          </p:nvPr>
        </p:nvSpPr>
        <p:spPr/>
        <p:txBody>
          <a:bodyPr/>
          <a:lstStyle/>
          <a:p>
            <a:r>
              <a:rPr lang="en-US" dirty="0"/>
              <a:t>Auscultate Pulses</a:t>
            </a:r>
          </a:p>
        </p:txBody>
      </p:sp>
      <p:pic>
        <p:nvPicPr>
          <p:cNvPr id="3" name="Picture 2">
            <a:extLst>
              <a:ext uri="{FF2B5EF4-FFF2-40B4-BE49-F238E27FC236}">
                <a16:creationId xmlns:a16="http://schemas.microsoft.com/office/drawing/2014/main" id="{97F385AF-E33F-4718-893E-670753A98A6A}"/>
              </a:ext>
            </a:extLst>
          </p:cNvPr>
          <p:cNvPicPr>
            <a:picLocks noChangeAspect="1"/>
          </p:cNvPicPr>
          <p:nvPr/>
        </p:nvPicPr>
        <p:blipFill rotWithShape="1">
          <a:blip r:embed="rId2"/>
          <a:srcRect b="1453"/>
          <a:stretch/>
        </p:blipFill>
        <p:spPr>
          <a:xfrm>
            <a:off x="3748087" y="1281113"/>
            <a:ext cx="4695825" cy="5359718"/>
          </a:xfrm>
          <a:prstGeom prst="rect">
            <a:avLst/>
          </a:prstGeom>
        </p:spPr>
      </p:pic>
    </p:spTree>
    <p:extLst>
      <p:ext uri="{BB962C8B-B14F-4D97-AF65-F5344CB8AC3E}">
        <p14:creationId xmlns:p14="http://schemas.microsoft.com/office/powerpoint/2010/main" val="13854870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B427F-9350-4067-81F4-7C027E1585A5}"/>
              </a:ext>
            </a:extLst>
          </p:cNvPr>
          <p:cNvSpPr>
            <a:spLocks noGrp="1"/>
          </p:cNvSpPr>
          <p:nvPr>
            <p:ph type="title"/>
          </p:nvPr>
        </p:nvSpPr>
        <p:spPr/>
        <p:txBody>
          <a:bodyPr/>
          <a:lstStyle/>
          <a:p>
            <a:r>
              <a:rPr lang="en-US" dirty="0"/>
              <a:t>Special Tests: Allen Test</a:t>
            </a:r>
          </a:p>
        </p:txBody>
      </p:sp>
      <p:sp>
        <p:nvSpPr>
          <p:cNvPr id="3" name="Content Placeholder 2">
            <a:extLst>
              <a:ext uri="{FF2B5EF4-FFF2-40B4-BE49-F238E27FC236}">
                <a16:creationId xmlns:a16="http://schemas.microsoft.com/office/drawing/2014/main" id="{5BDBFF38-18BE-4A10-AF7F-AD1F6AF30521}"/>
              </a:ext>
            </a:extLst>
          </p:cNvPr>
          <p:cNvSpPr>
            <a:spLocks noGrp="1"/>
          </p:cNvSpPr>
          <p:nvPr>
            <p:ph idx="1"/>
          </p:nvPr>
        </p:nvSpPr>
        <p:spPr>
          <a:xfrm>
            <a:off x="838200" y="1825624"/>
            <a:ext cx="10515600" cy="4826635"/>
          </a:xfrm>
        </p:spPr>
        <p:txBody>
          <a:bodyPr>
            <a:normAutofit lnSpcReduction="10000"/>
          </a:bodyPr>
          <a:lstStyle/>
          <a:p>
            <a:r>
              <a:rPr lang="en-US" dirty="0"/>
              <a:t>Compares </a:t>
            </a:r>
            <a:r>
              <a:rPr lang="en-US" b="1" dirty="0"/>
              <a:t>patency of ulnar and radial arteries</a:t>
            </a:r>
          </a:p>
          <a:p>
            <a:pPr lvl="1"/>
            <a:r>
              <a:rPr lang="en-US" dirty="0"/>
              <a:t>Performed before an </a:t>
            </a:r>
            <a:r>
              <a:rPr lang="en-US" b="1" dirty="0"/>
              <a:t>arterial blood gas (ABG)</a:t>
            </a:r>
            <a:r>
              <a:rPr lang="en-US" dirty="0"/>
              <a:t> to ensure patency</a:t>
            </a:r>
          </a:p>
          <a:p>
            <a:r>
              <a:rPr lang="en-US" dirty="0"/>
              <a:t>Ask patient to make tight fist with one hand</a:t>
            </a:r>
          </a:p>
          <a:p>
            <a:r>
              <a:rPr lang="en-US" dirty="0"/>
              <a:t>Compress radial and ulnar arteries firmly between thumb and fingers</a:t>
            </a:r>
          </a:p>
          <a:p>
            <a:r>
              <a:rPr lang="en-US" dirty="0"/>
              <a:t>Ask patient to open hand into relaxed, slightly flexed position</a:t>
            </a:r>
          </a:p>
          <a:p>
            <a:r>
              <a:rPr lang="en-US" dirty="0"/>
              <a:t>Release compression on radial artery and look for blood return to hand (3-5 seconds)</a:t>
            </a:r>
          </a:p>
          <a:p>
            <a:r>
              <a:rPr lang="en-US" dirty="0"/>
              <a:t>Repeat compression of both arteries again, but the second time, release the ulnar artery compression</a:t>
            </a:r>
          </a:p>
        </p:txBody>
      </p:sp>
    </p:spTree>
    <p:extLst>
      <p:ext uri="{BB962C8B-B14F-4D97-AF65-F5344CB8AC3E}">
        <p14:creationId xmlns:p14="http://schemas.microsoft.com/office/powerpoint/2010/main" val="34281265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772B7-5871-48F6-8114-5AF4C77507ED}"/>
              </a:ext>
            </a:extLst>
          </p:cNvPr>
          <p:cNvSpPr>
            <a:spLocks noGrp="1"/>
          </p:cNvSpPr>
          <p:nvPr>
            <p:ph type="title"/>
          </p:nvPr>
        </p:nvSpPr>
        <p:spPr/>
        <p:txBody>
          <a:bodyPr/>
          <a:lstStyle/>
          <a:p>
            <a:r>
              <a:rPr lang="en-US" dirty="0"/>
              <a:t>Special Tests: Allen Test</a:t>
            </a:r>
          </a:p>
        </p:txBody>
      </p:sp>
      <p:pic>
        <p:nvPicPr>
          <p:cNvPr id="3" name="Picture 2">
            <a:extLst>
              <a:ext uri="{FF2B5EF4-FFF2-40B4-BE49-F238E27FC236}">
                <a16:creationId xmlns:a16="http://schemas.microsoft.com/office/drawing/2014/main" id="{DD2BB842-F27F-48B9-9978-43B6B4848228}"/>
              </a:ext>
            </a:extLst>
          </p:cNvPr>
          <p:cNvPicPr>
            <a:picLocks noChangeAspect="1"/>
          </p:cNvPicPr>
          <p:nvPr/>
        </p:nvPicPr>
        <p:blipFill>
          <a:blip r:embed="rId2"/>
          <a:stretch>
            <a:fillRect/>
          </a:stretch>
        </p:blipFill>
        <p:spPr>
          <a:xfrm>
            <a:off x="546734" y="2070737"/>
            <a:ext cx="3619500" cy="3179630"/>
          </a:xfrm>
          <a:prstGeom prst="rect">
            <a:avLst/>
          </a:prstGeom>
        </p:spPr>
      </p:pic>
      <p:pic>
        <p:nvPicPr>
          <p:cNvPr id="5" name="Picture 4">
            <a:extLst>
              <a:ext uri="{FF2B5EF4-FFF2-40B4-BE49-F238E27FC236}">
                <a16:creationId xmlns:a16="http://schemas.microsoft.com/office/drawing/2014/main" id="{DDE6D5D5-51D8-4E64-935C-C941041CBBCB}"/>
              </a:ext>
            </a:extLst>
          </p:cNvPr>
          <p:cNvPicPr>
            <a:picLocks noChangeAspect="1"/>
          </p:cNvPicPr>
          <p:nvPr/>
        </p:nvPicPr>
        <p:blipFill>
          <a:blip r:embed="rId3"/>
          <a:stretch>
            <a:fillRect/>
          </a:stretch>
        </p:blipFill>
        <p:spPr>
          <a:xfrm>
            <a:off x="4277676" y="2070736"/>
            <a:ext cx="3592730" cy="3179629"/>
          </a:xfrm>
          <a:prstGeom prst="rect">
            <a:avLst/>
          </a:prstGeom>
        </p:spPr>
      </p:pic>
      <p:pic>
        <p:nvPicPr>
          <p:cNvPr id="6" name="Picture 5">
            <a:extLst>
              <a:ext uri="{FF2B5EF4-FFF2-40B4-BE49-F238E27FC236}">
                <a16:creationId xmlns:a16="http://schemas.microsoft.com/office/drawing/2014/main" id="{1EB9CF02-4DE7-49CF-81DD-0BB0D4B420BB}"/>
              </a:ext>
            </a:extLst>
          </p:cNvPr>
          <p:cNvPicPr>
            <a:picLocks noChangeAspect="1"/>
          </p:cNvPicPr>
          <p:nvPr/>
        </p:nvPicPr>
        <p:blipFill>
          <a:blip r:embed="rId4"/>
          <a:stretch>
            <a:fillRect/>
          </a:stretch>
        </p:blipFill>
        <p:spPr>
          <a:xfrm>
            <a:off x="7981848" y="2070735"/>
            <a:ext cx="3592733" cy="3179631"/>
          </a:xfrm>
          <a:prstGeom prst="rect">
            <a:avLst/>
          </a:prstGeom>
        </p:spPr>
      </p:pic>
    </p:spTree>
    <p:extLst>
      <p:ext uri="{BB962C8B-B14F-4D97-AF65-F5344CB8AC3E}">
        <p14:creationId xmlns:p14="http://schemas.microsoft.com/office/powerpoint/2010/main" val="20337731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6781-223F-40FC-B7AA-441A7003A40D}"/>
              </a:ext>
            </a:extLst>
          </p:cNvPr>
          <p:cNvSpPr>
            <a:spLocks noGrp="1"/>
          </p:cNvSpPr>
          <p:nvPr>
            <p:ph type="title"/>
          </p:nvPr>
        </p:nvSpPr>
        <p:spPr/>
        <p:txBody>
          <a:bodyPr/>
          <a:lstStyle/>
          <a:p>
            <a:r>
              <a:rPr lang="en-US" dirty="0"/>
              <a:t>Special Tests: Thigh and Calf Circumference</a:t>
            </a:r>
          </a:p>
        </p:txBody>
      </p:sp>
      <p:sp>
        <p:nvSpPr>
          <p:cNvPr id="3" name="Content Placeholder 2">
            <a:extLst>
              <a:ext uri="{FF2B5EF4-FFF2-40B4-BE49-F238E27FC236}">
                <a16:creationId xmlns:a16="http://schemas.microsoft.com/office/drawing/2014/main" id="{2D8C0402-2052-4674-92F0-A9F249C705CB}"/>
              </a:ext>
            </a:extLst>
          </p:cNvPr>
          <p:cNvSpPr>
            <a:spLocks noGrp="1"/>
          </p:cNvSpPr>
          <p:nvPr>
            <p:ph idx="1"/>
          </p:nvPr>
        </p:nvSpPr>
        <p:spPr/>
        <p:txBody>
          <a:bodyPr/>
          <a:lstStyle/>
          <a:p>
            <a:r>
              <a:rPr lang="en-US" dirty="0"/>
              <a:t>Used to evaluate for </a:t>
            </a:r>
            <a:r>
              <a:rPr lang="en-US" b="1" dirty="0"/>
              <a:t>edema</a:t>
            </a:r>
            <a:r>
              <a:rPr lang="en-US" dirty="0"/>
              <a:t> and </a:t>
            </a:r>
            <a:r>
              <a:rPr lang="en-US" b="1" dirty="0"/>
              <a:t>occlusion</a:t>
            </a:r>
          </a:p>
          <a:p>
            <a:r>
              <a:rPr lang="en-US" dirty="0"/>
              <a:t>Measure 15 cm from the proximal patella (thigh) and 15 cm from the distal patella (calf) and compare bilaterally</a:t>
            </a:r>
          </a:p>
          <a:p>
            <a:pPr lvl="1"/>
            <a:r>
              <a:rPr lang="en-US" b="1" dirty="0"/>
              <a:t>&gt; 1 cm difference is abnormal</a:t>
            </a:r>
          </a:p>
        </p:txBody>
      </p:sp>
    </p:spTree>
    <p:extLst>
      <p:ext uri="{BB962C8B-B14F-4D97-AF65-F5344CB8AC3E}">
        <p14:creationId xmlns:p14="http://schemas.microsoft.com/office/powerpoint/2010/main" val="10158295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2B94E-09DF-494B-B4F1-BF1E592771FE}"/>
              </a:ext>
            </a:extLst>
          </p:cNvPr>
          <p:cNvSpPr>
            <a:spLocks noGrp="1"/>
          </p:cNvSpPr>
          <p:nvPr>
            <p:ph type="title"/>
          </p:nvPr>
        </p:nvSpPr>
        <p:spPr/>
        <p:txBody>
          <a:bodyPr/>
          <a:lstStyle/>
          <a:p>
            <a:r>
              <a:rPr lang="en-US" dirty="0"/>
              <a:t>Special Tests: Thigh Tenderness</a:t>
            </a:r>
          </a:p>
        </p:txBody>
      </p:sp>
      <p:sp>
        <p:nvSpPr>
          <p:cNvPr id="3" name="Content Placeholder 2">
            <a:extLst>
              <a:ext uri="{FF2B5EF4-FFF2-40B4-BE49-F238E27FC236}">
                <a16:creationId xmlns:a16="http://schemas.microsoft.com/office/drawing/2014/main" id="{2B807510-EFF4-4D5D-A796-7AF39ACF3465}"/>
              </a:ext>
            </a:extLst>
          </p:cNvPr>
          <p:cNvSpPr>
            <a:spLocks noGrp="1"/>
          </p:cNvSpPr>
          <p:nvPr>
            <p:ph idx="1"/>
          </p:nvPr>
        </p:nvSpPr>
        <p:spPr/>
        <p:txBody>
          <a:bodyPr/>
          <a:lstStyle/>
          <a:p>
            <a:r>
              <a:rPr lang="en-US" dirty="0"/>
              <a:t>Suggests </a:t>
            </a:r>
            <a:r>
              <a:rPr lang="en-US" b="1" dirty="0"/>
              <a:t>venous insufficiency </a:t>
            </a:r>
            <a:r>
              <a:rPr lang="en-US" dirty="0"/>
              <a:t>or </a:t>
            </a:r>
            <a:r>
              <a:rPr lang="en-US" b="1" dirty="0"/>
              <a:t>large deep venous thrombosis (DVT)</a:t>
            </a:r>
          </a:p>
          <a:p>
            <a:r>
              <a:rPr lang="en-US" dirty="0"/>
              <a:t>With an appropriate pressure, </a:t>
            </a:r>
            <a:r>
              <a:rPr lang="en-US" b="1" dirty="0"/>
              <a:t>squeeze the back of the thigh for tenderness</a:t>
            </a:r>
          </a:p>
          <a:p>
            <a:r>
              <a:rPr lang="en-US" dirty="0"/>
              <a:t>Repeat bilaterally</a:t>
            </a:r>
          </a:p>
        </p:txBody>
      </p:sp>
    </p:spTree>
    <p:extLst>
      <p:ext uri="{BB962C8B-B14F-4D97-AF65-F5344CB8AC3E}">
        <p14:creationId xmlns:p14="http://schemas.microsoft.com/office/powerpoint/2010/main" val="24219112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2D16CF-CA94-401C-873C-FF0D87002F07}"/>
              </a:ext>
            </a:extLst>
          </p:cNvPr>
          <p:cNvSpPr>
            <a:spLocks noGrp="1"/>
          </p:cNvSpPr>
          <p:nvPr>
            <p:ph type="title"/>
          </p:nvPr>
        </p:nvSpPr>
        <p:spPr/>
        <p:txBody>
          <a:bodyPr/>
          <a:lstStyle/>
          <a:p>
            <a:r>
              <a:rPr lang="en-US" dirty="0"/>
              <a:t>Special Tests: Homan Sign</a:t>
            </a:r>
          </a:p>
        </p:txBody>
      </p:sp>
      <p:sp>
        <p:nvSpPr>
          <p:cNvPr id="5" name="Content Placeholder 4">
            <a:extLst>
              <a:ext uri="{FF2B5EF4-FFF2-40B4-BE49-F238E27FC236}">
                <a16:creationId xmlns:a16="http://schemas.microsoft.com/office/drawing/2014/main" id="{E202955A-F72C-4A0E-AB55-8983FC072519}"/>
              </a:ext>
            </a:extLst>
          </p:cNvPr>
          <p:cNvSpPr>
            <a:spLocks noGrp="1"/>
          </p:cNvSpPr>
          <p:nvPr>
            <p:ph idx="1"/>
          </p:nvPr>
        </p:nvSpPr>
        <p:spPr/>
        <p:txBody>
          <a:bodyPr/>
          <a:lstStyle/>
          <a:p>
            <a:r>
              <a:rPr lang="en-US" dirty="0"/>
              <a:t>Not very sensitive or specific, but can help determine next step in diagnosing </a:t>
            </a:r>
            <a:r>
              <a:rPr lang="en-US" b="1" dirty="0"/>
              <a:t>DVT</a:t>
            </a:r>
          </a:p>
          <a:p>
            <a:r>
              <a:rPr lang="en-US" b="1" dirty="0"/>
              <a:t>Dorsiflex foot and palpate calf for tenderness</a:t>
            </a:r>
          </a:p>
          <a:p>
            <a:r>
              <a:rPr lang="en-US" dirty="0"/>
              <a:t>Repeat bilaterally</a:t>
            </a:r>
          </a:p>
        </p:txBody>
      </p:sp>
    </p:spTree>
    <p:extLst>
      <p:ext uri="{BB962C8B-B14F-4D97-AF65-F5344CB8AC3E}">
        <p14:creationId xmlns:p14="http://schemas.microsoft.com/office/powerpoint/2010/main" val="26765428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FD1D6-3651-4984-BED4-ABCAA9EF492F}"/>
              </a:ext>
            </a:extLst>
          </p:cNvPr>
          <p:cNvSpPr>
            <a:spLocks noGrp="1"/>
          </p:cNvSpPr>
          <p:nvPr>
            <p:ph type="title"/>
          </p:nvPr>
        </p:nvSpPr>
        <p:spPr/>
        <p:txBody>
          <a:bodyPr/>
          <a:lstStyle/>
          <a:p>
            <a:r>
              <a:rPr lang="en-US" dirty="0"/>
              <a:t>Special Tests: Stemmer Sign</a:t>
            </a:r>
          </a:p>
        </p:txBody>
      </p:sp>
      <p:sp>
        <p:nvSpPr>
          <p:cNvPr id="3" name="Content Placeholder 2">
            <a:extLst>
              <a:ext uri="{FF2B5EF4-FFF2-40B4-BE49-F238E27FC236}">
                <a16:creationId xmlns:a16="http://schemas.microsoft.com/office/drawing/2014/main" id="{8C593815-017E-47C6-AF50-605CF789427A}"/>
              </a:ext>
            </a:extLst>
          </p:cNvPr>
          <p:cNvSpPr>
            <a:spLocks noGrp="1"/>
          </p:cNvSpPr>
          <p:nvPr>
            <p:ph idx="1"/>
          </p:nvPr>
        </p:nvSpPr>
        <p:spPr/>
        <p:txBody>
          <a:bodyPr/>
          <a:lstStyle/>
          <a:p>
            <a:r>
              <a:rPr lang="en-US" dirty="0"/>
              <a:t>Assess for </a:t>
            </a:r>
            <a:r>
              <a:rPr lang="en-US" b="1" dirty="0"/>
              <a:t>lymphedema</a:t>
            </a:r>
          </a:p>
          <a:p>
            <a:r>
              <a:rPr lang="en-US" b="1" dirty="0"/>
              <a:t>Pinch and lift skin fold at base of second toe </a:t>
            </a:r>
            <a:r>
              <a:rPr lang="en-US" dirty="0"/>
              <a:t>and second finger</a:t>
            </a:r>
          </a:p>
          <a:p>
            <a:r>
              <a:rPr lang="en-US" dirty="0"/>
              <a:t>If you cannot pinch the skin of the dorsum of the foot or hand, then this positive finding is associated with lymphedema</a:t>
            </a:r>
          </a:p>
        </p:txBody>
      </p:sp>
    </p:spTree>
    <p:extLst>
      <p:ext uri="{BB962C8B-B14F-4D97-AF65-F5344CB8AC3E}">
        <p14:creationId xmlns:p14="http://schemas.microsoft.com/office/powerpoint/2010/main" val="7573512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32D56-C4A8-47FB-B3D4-C4EC1013CEF8}"/>
              </a:ext>
            </a:extLst>
          </p:cNvPr>
          <p:cNvSpPr>
            <a:spLocks noGrp="1"/>
          </p:cNvSpPr>
          <p:nvPr>
            <p:ph type="title"/>
          </p:nvPr>
        </p:nvSpPr>
        <p:spPr/>
        <p:txBody>
          <a:bodyPr/>
          <a:lstStyle/>
          <a:p>
            <a:r>
              <a:rPr lang="en-US" dirty="0"/>
              <a:t>Special Tests: Lower Extremity Arterial Insufficiency Test</a:t>
            </a:r>
          </a:p>
        </p:txBody>
      </p:sp>
      <p:sp>
        <p:nvSpPr>
          <p:cNvPr id="3" name="Content Placeholder 2">
            <a:extLst>
              <a:ext uri="{FF2B5EF4-FFF2-40B4-BE49-F238E27FC236}">
                <a16:creationId xmlns:a16="http://schemas.microsoft.com/office/drawing/2014/main" id="{56AC0330-0156-4E9B-B5B4-5DE750736139}"/>
              </a:ext>
            </a:extLst>
          </p:cNvPr>
          <p:cNvSpPr>
            <a:spLocks noGrp="1"/>
          </p:cNvSpPr>
          <p:nvPr>
            <p:ph idx="1"/>
          </p:nvPr>
        </p:nvSpPr>
        <p:spPr>
          <a:xfrm>
            <a:off x="838200" y="1825624"/>
            <a:ext cx="10515600" cy="4894665"/>
          </a:xfrm>
        </p:spPr>
        <p:txBody>
          <a:bodyPr>
            <a:normAutofit lnSpcReduction="10000"/>
          </a:bodyPr>
          <a:lstStyle/>
          <a:p>
            <a:r>
              <a:rPr lang="en-US" dirty="0"/>
              <a:t>Assess for arterial insufficiency in lower extremities, such as in </a:t>
            </a:r>
            <a:r>
              <a:rPr lang="en-US" b="1" dirty="0"/>
              <a:t>peripheral arterial disease (PAD)</a:t>
            </a:r>
          </a:p>
          <a:p>
            <a:r>
              <a:rPr lang="en-US" dirty="0"/>
              <a:t>Patient begins by laying supine on the examination table</a:t>
            </a:r>
          </a:p>
          <a:p>
            <a:r>
              <a:rPr lang="en-US" dirty="0"/>
              <a:t>Examiner raises both legs to 60° until maximal pallor of the feet develops (usually within 30-60 seconds)</a:t>
            </a:r>
          </a:p>
          <a:p>
            <a:r>
              <a:rPr lang="en-US" dirty="0"/>
              <a:t>Examiner lowers legs as patient sits up, so legs dangle down over the table</a:t>
            </a:r>
          </a:p>
          <a:p>
            <a:r>
              <a:rPr lang="en-US" dirty="0"/>
              <a:t>Compare both feet, noting the time required for return of color to the feet</a:t>
            </a:r>
          </a:p>
          <a:p>
            <a:pPr lvl="1"/>
            <a:r>
              <a:rPr lang="en-US" sz="3200" dirty="0"/>
              <a:t>Normal is </a:t>
            </a:r>
            <a:r>
              <a:rPr lang="en-US" sz="3200" b="1" dirty="0"/>
              <a:t>&lt; 10 seconds</a:t>
            </a:r>
          </a:p>
        </p:txBody>
      </p:sp>
    </p:spTree>
    <p:extLst>
      <p:ext uri="{BB962C8B-B14F-4D97-AF65-F5344CB8AC3E}">
        <p14:creationId xmlns:p14="http://schemas.microsoft.com/office/powerpoint/2010/main" val="15144075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dirty="0"/>
              <a:t>Special Tests: Ankle Brachial Index</a:t>
            </a:r>
          </a:p>
        </p:txBody>
      </p:sp>
      <p:sp>
        <p:nvSpPr>
          <p:cNvPr id="36867" name="Content Placeholder 2"/>
          <p:cNvSpPr>
            <a:spLocks noGrp="1"/>
          </p:cNvSpPr>
          <p:nvPr>
            <p:ph idx="1"/>
          </p:nvPr>
        </p:nvSpPr>
        <p:spPr/>
        <p:txBody>
          <a:bodyPr/>
          <a:lstStyle/>
          <a:p>
            <a:r>
              <a:rPr lang="en-US" dirty="0"/>
              <a:t>Tests for subclinical or suspected </a:t>
            </a:r>
            <a:r>
              <a:rPr lang="en-US" b="1" dirty="0"/>
              <a:t>peripheral arterial disease (PAD)</a:t>
            </a:r>
          </a:p>
          <a:p>
            <a:r>
              <a:rPr lang="en-US" dirty="0"/>
              <a:t>Quick and noninvasive test</a:t>
            </a:r>
          </a:p>
          <a:p>
            <a:r>
              <a:rPr lang="en-US" dirty="0"/>
              <a:t>Detects stenosis of 50% or more in major vessels of legs</a:t>
            </a:r>
          </a:p>
        </p:txBody>
      </p:sp>
    </p:spTree>
    <p:extLst>
      <p:ext uri="{BB962C8B-B14F-4D97-AF65-F5344CB8AC3E}">
        <p14:creationId xmlns:p14="http://schemas.microsoft.com/office/powerpoint/2010/main" val="41055612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dirty="0"/>
              <a:t>Special Tests: Ankle Brachial Index</a:t>
            </a:r>
          </a:p>
        </p:txBody>
      </p:sp>
      <p:sp>
        <p:nvSpPr>
          <p:cNvPr id="3" name="Content Placeholder 2"/>
          <p:cNvSpPr>
            <a:spLocks noGrp="1"/>
          </p:cNvSpPr>
          <p:nvPr>
            <p:ph idx="1"/>
          </p:nvPr>
        </p:nvSpPr>
        <p:spPr/>
        <p:txBody>
          <a:bodyPr/>
          <a:lstStyle/>
          <a:p>
            <a:pPr>
              <a:spcAft>
                <a:spcPts val="1600"/>
              </a:spcAft>
            </a:pPr>
            <a:r>
              <a:rPr lang="en-US" dirty="0"/>
              <a:t>Compares lower extremity systolic BP to upper extremity systolic BP using Doppler ultrasonography</a:t>
            </a:r>
          </a:p>
          <a:p>
            <a:pPr lvl="1">
              <a:spcAft>
                <a:spcPts val="1600"/>
              </a:spcAft>
            </a:pPr>
            <a:r>
              <a:rPr lang="en-US" sz="3200" b="1" dirty="0"/>
              <a:t>Right ABI </a:t>
            </a:r>
            <a:r>
              <a:rPr lang="en-US" sz="3200" dirty="0"/>
              <a:t>= highest pressure obtained in </a:t>
            </a:r>
            <a:r>
              <a:rPr lang="en-US" sz="3200" b="1" dirty="0"/>
              <a:t>right foot </a:t>
            </a:r>
            <a:r>
              <a:rPr lang="en-US" sz="3200" dirty="0"/>
              <a:t>divided by the highest pressure obtained in either arm</a:t>
            </a:r>
          </a:p>
          <a:p>
            <a:pPr lvl="1">
              <a:spcAft>
                <a:spcPts val="1600"/>
              </a:spcAft>
            </a:pPr>
            <a:r>
              <a:rPr lang="en-US" sz="3200" b="1" dirty="0"/>
              <a:t>Left ABI </a:t>
            </a:r>
            <a:r>
              <a:rPr lang="en-US" sz="3200" dirty="0"/>
              <a:t>= highest pressure obtained in </a:t>
            </a:r>
            <a:r>
              <a:rPr lang="en-US" sz="3200" b="1" dirty="0"/>
              <a:t>left foot</a:t>
            </a:r>
            <a:r>
              <a:rPr lang="en-US" sz="3200" dirty="0"/>
              <a:t> divided by the highest pressure obtained in either arm</a:t>
            </a:r>
          </a:p>
        </p:txBody>
      </p:sp>
    </p:spTree>
    <p:extLst>
      <p:ext uri="{BB962C8B-B14F-4D97-AF65-F5344CB8AC3E}">
        <p14:creationId xmlns:p14="http://schemas.microsoft.com/office/powerpoint/2010/main" val="6307051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dirty="0"/>
              <a:t>Special Tests: Ankle Brachial Index</a:t>
            </a:r>
          </a:p>
        </p:txBody>
      </p:sp>
      <p:pic>
        <p:nvPicPr>
          <p:cNvPr id="5" name="Online Media 4" title="Ankle Brachial Index (ABI) Test: How to Perform">
            <a:hlinkClick r:id="" action="ppaction://media"/>
            <a:extLst>
              <a:ext uri="{FF2B5EF4-FFF2-40B4-BE49-F238E27FC236}">
                <a16:creationId xmlns:a16="http://schemas.microsoft.com/office/drawing/2014/main" id="{AD34FDEF-7B39-4C06-A586-86B46694AF9E}"/>
              </a:ext>
            </a:extLst>
          </p:cNvPr>
          <p:cNvPicPr>
            <a:picLocks noRot="1" noChangeAspect="1"/>
          </p:cNvPicPr>
          <p:nvPr>
            <a:videoFile r:link="rId1"/>
          </p:nvPr>
        </p:nvPicPr>
        <p:blipFill>
          <a:blip r:embed="rId4"/>
          <a:stretch>
            <a:fillRect/>
          </a:stretch>
        </p:blipFill>
        <p:spPr>
          <a:xfrm>
            <a:off x="1858808" y="1485709"/>
            <a:ext cx="8862240" cy="5007166"/>
          </a:xfrm>
          <a:prstGeom prst="rect">
            <a:avLst/>
          </a:prstGeom>
        </p:spPr>
      </p:pic>
    </p:spTree>
    <p:extLst>
      <p:ext uri="{BB962C8B-B14F-4D97-AF65-F5344CB8AC3E}">
        <p14:creationId xmlns:p14="http://schemas.microsoft.com/office/powerpoint/2010/main" val="1419667858"/>
      </p:ext>
    </p:extLst>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en-US" dirty="0"/>
              <a:t>Special Tests: Ankle Brachial Index</a:t>
            </a:r>
          </a:p>
        </p:txBody>
      </p:sp>
      <p:pic>
        <p:nvPicPr>
          <p:cNvPr id="5" name="Picture 2" descr="E:\Instructor Materials\Teaching Tools\Image Bank\image_bank\images\jpg\Tabfig 12-2.1.jpg"/>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tretch>
            <a:fillRect/>
          </a:stretch>
        </p:blipFill>
        <p:spPr bwMode="auto">
          <a:xfrm>
            <a:off x="373380" y="1690688"/>
            <a:ext cx="5722620" cy="43784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2" descr="E:\Instructor Materials\Teaching Tools\Image Bank\image_bank\images\jpg\Tabfig 12-2.2.jpg"/>
          <p:cNvPicPr>
            <a:picLocks noGrp="1" noChangeAspect="1" noChangeArrowheads="1"/>
          </p:cNvPicPr>
          <p:nvPr>
            <p:ph sz="half" idx="4294967295"/>
          </p:nvPr>
        </p:nvPicPr>
        <p:blipFill>
          <a:blip r:embed="rId4" cstate="print">
            <a:extLst>
              <a:ext uri="{28A0092B-C50C-407E-A947-70E740481C1C}">
                <a14:useLocalDpi xmlns:a14="http://schemas.microsoft.com/office/drawing/2010/main" val="0"/>
              </a:ext>
            </a:extLst>
          </a:blip>
          <a:stretch>
            <a:fillRect/>
          </a:stretch>
        </p:blipFill>
        <p:spPr>
          <a:xfrm>
            <a:off x="6438899" y="2375126"/>
            <a:ext cx="5540945" cy="4002814"/>
          </a:xfrm>
          <a:noFill/>
        </p:spPr>
      </p:pic>
    </p:spTree>
    <p:extLst>
      <p:ext uri="{BB962C8B-B14F-4D97-AF65-F5344CB8AC3E}">
        <p14:creationId xmlns:p14="http://schemas.microsoft.com/office/powerpoint/2010/main" val="28870880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dirty="0"/>
              <a:t>Special Tests: Ankle Brachial Index</a:t>
            </a:r>
          </a:p>
        </p:txBody>
      </p:sp>
      <p:pic>
        <p:nvPicPr>
          <p:cNvPr id="5" name="Picture 2" descr="http://japha.org/data/Journals/JAPhA/20408/10.1331_154434504322904596-table1.png"/>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b="14802"/>
          <a:stretch/>
        </p:blipFill>
        <p:spPr>
          <a:xfrm>
            <a:off x="838200" y="1956594"/>
            <a:ext cx="10515600" cy="3484086"/>
          </a:xfrm>
        </p:spPr>
      </p:pic>
    </p:spTree>
    <p:extLst>
      <p:ext uri="{BB962C8B-B14F-4D97-AF65-F5344CB8AC3E}">
        <p14:creationId xmlns:p14="http://schemas.microsoft.com/office/powerpoint/2010/main" val="17465983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3C5293F-6F92-4ACC-AE6C-4217A2F9819C}"/>
              </a:ext>
            </a:extLst>
          </p:cNvPr>
          <p:cNvSpPr>
            <a:spLocks noGrp="1"/>
          </p:cNvSpPr>
          <p:nvPr>
            <p:ph type="title"/>
          </p:nvPr>
        </p:nvSpPr>
        <p:spPr/>
        <p:txBody>
          <a:bodyPr/>
          <a:lstStyle/>
          <a:p>
            <a:r>
              <a:rPr lang="en-US"/>
              <a:t>Physical Exam Documentation Example: Cardiovascular</a:t>
            </a:r>
          </a:p>
        </p:txBody>
      </p:sp>
      <p:sp>
        <p:nvSpPr>
          <p:cNvPr id="5" name="Content Placeholder 4">
            <a:extLst>
              <a:ext uri="{FF2B5EF4-FFF2-40B4-BE49-F238E27FC236}">
                <a16:creationId xmlns:a16="http://schemas.microsoft.com/office/drawing/2014/main" id="{2B3AF072-C271-45DD-AEEF-B7579DB2A9B9}"/>
              </a:ext>
            </a:extLst>
          </p:cNvPr>
          <p:cNvSpPr>
            <a:spLocks noGrp="1"/>
          </p:cNvSpPr>
          <p:nvPr>
            <p:ph idx="1"/>
          </p:nvPr>
        </p:nvSpPr>
        <p:spPr>
          <a:xfrm>
            <a:off x="838200" y="1825624"/>
            <a:ext cx="10515600" cy="4872356"/>
          </a:xfrm>
        </p:spPr>
        <p:txBody>
          <a:bodyPr>
            <a:normAutofit/>
          </a:bodyPr>
          <a:lstStyle/>
          <a:p>
            <a:r>
              <a:rPr lang="en-US" dirty="0"/>
              <a:t>Heart is regular rate and rhythm.  No lifts or heaves.  Crisp S1 and S2 with no murmurs, rubs, or gallops.  PMI is tapping and located at 5</a:t>
            </a:r>
            <a:r>
              <a:rPr lang="en-US" baseline="30000" dirty="0"/>
              <a:t>th</a:t>
            </a:r>
            <a:r>
              <a:rPr lang="en-US" dirty="0"/>
              <a:t> interspace at MCL.  JVP measured at 6 cm with head of bed elevated to 30 degrees.  Carotid upstrokes are brisk without bruits.  Symmetric and 2+ temporal, carotid, brachial, radial, ulnar, aortic, popliteal, posterior tibial, and dorsalis pedis pulses palpated.  Temporal, carotid, aortic, renal, iliac, femoral pulses auscultated without bruits.  Allen test demonstrates patency of radial and ulnar arteries bilaterally.  Negative Homan sign.  Negative Stemmer sign.</a:t>
            </a:r>
          </a:p>
        </p:txBody>
      </p:sp>
      <p:sp>
        <p:nvSpPr>
          <p:cNvPr id="10" name="Star: 5 Points 9">
            <a:extLst>
              <a:ext uri="{FF2B5EF4-FFF2-40B4-BE49-F238E27FC236}">
                <a16:creationId xmlns:a16="http://schemas.microsoft.com/office/drawing/2014/main" id="{9C2E4A62-8F9D-46AD-9B71-520FAA200AC8}"/>
              </a:ext>
            </a:extLst>
          </p:cNvPr>
          <p:cNvSpPr/>
          <p:nvPr/>
        </p:nvSpPr>
        <p:spPr>
          <a:xfrm>
            <a:off x="10073640" y="483776"/>
            <a:ext cx="1280160" cy="1206912"/>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71058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E10650BA-D090-4A23-98E3-B48BBAEA9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pic>
        <p:nvPicPr>
          <p:cNvPr id="1036" name="Picture 12" descr="Association between physical activity paradox and risk variables for  cardiovascular disease">
            <a:extLst>
              <a:ext uri="{FF2B5EF4-FFF2-40B4-BE49-F238E27FC236}">
                <a16:creationId xmlns:a16="http://schemas.microsoft.com/office/drawing/2014/main" id="{29AC2E7B-648A-439B-B5AD-578ED98557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624" r="17412" b="-2"/>
          <a:stretch/>
        </p:blipFill>
        <p:spPr bwMode="auto">
          <a:xfrm>
            <a:off x="-9527" y="3725"/>
            <a:ext cx="5846165" cy="6850548"/>
          </a:xfrm>
          <a:prstGeom prst="rect">
            <a:avLst/>
          </a:prstGeom>
          <a:noFill/>
          <a:extLst>
            <a:ext uri="{909E8E84-426E-40DD-AFC4-6F175D3DCCD1}">
              <a14:hiddenFill xmlns:a14="http://schemas.microsoft.com/office/drawing/2010/main">
                <a:solidFill>
                  <a:srgbClr val="FFFFFF"/>
                </a:solidFill>
              </a14:hiddenFill>
            </a:ext>
          </a:extLst>
        </p:spPr>
      </p:pic>
      <p:grpSp>
        <p:nvGrpSpPr>
          <p:cNvPr id="1043" name="Group 1042">
            <a:extLst>
              <a:ext uri="{FF2B5EF4-FFF2-40B4-BE49-F238E27FC236}">
                <a16:creationId xmlns:a16="http://schemas.microsoft.com/office/drawing/2014/main" id="{FFB939B9-73CE-4644-87BB-72AEBF0011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27" y="-6558"/>
            <a:ext cx="6254832" cy="6874766"/>
            <a:chOff x="-9149" y="3725"/>
            <a:chExt cx="6254832" cy="6887203"/>
          </a:xfrm>
        </p:grpSpPr>
        <p:sp>
          <p:nvSpPr>
            <p:cNvPr id="1044" name="Freeform: Shape 1043">
              <a:extLst>
                <a:ext uri="{FF2B5EF4-FFF2-40B4-BE49-F238E27FC236}">
                  <a16:creationId xmlns:a16="http://schemas.microsoft.com/office/drawing/2014/main" id="{15F2A0CF-7879-4629-AC2B-4069D77A3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8645"/>
              <a:ext cx="5933139" cy="6387893"/>
            </a:xfrm>
            <a:custGeom>
              <a:avLst/>
              <a:gdLst>
                <a:gd name="connsiteX0" fmla="*/ 5852909 w 5933139"/>
                <a:gd name="connsiteY0" fmla="*/ 2469528 h 6335678"/>
                <a:gd name="connsiteX1" fmla="*/ 5830799 w 5933139"/>
                <a:gd name="connsiteY1" fmla="*/ 2394015 h 6335678"/>
                <a:gd name="connsiteX2" fmla="*/ 5805878 w 5933139"/>
                <a:gd name="connsiteY2" fmla="*/ 2319439 h 6335678"/>
                <a:gd name="connsiteX3" fmla="*/ 5778708 w 5933139"/>
                <a:gd name="connsiteY3" fmla="*/ 2245800 h 6335678"/>
                <a:gd name="connsiteX4" fmla="*/ 5652978 w 5933139"/>
                <a:gd name="connsiteY4" fmla="*/ 1959675 h 6335678"/>
                <a:gd name="connsiteX5" fmla="*/ 5327691 w 5933139"/>
                <a:gd name="connsiteY5" fmla="*/ 1432958 h 6335678"/>
                <a:gd name="connsiteX6" fmla="*/ 4921458 w 5933139"/>
                <a:gd name="connsiteY6" fmla="*/ 973322 h 6335678"/>
                <a:gd name="connsiteX7" fmla="*/ 4450018 w 5933139"/>
                <a:gd name="connsiteY7" fmla="*/ 586764 h 6335678"/>
                <a:gd name="connsiteX8" fmla="*/ 4193311 w 5933139"/>
                <a:gd name="connsiteY8" fmla="*/ 423558 h 6335678"/>
                <a:gd name="connsiteX9" fmla="*/ 3924237 w 5933139"/>
                <a:gd name="connsiteY9" fmla="*/ 281901 h 6335678"/>
                <a:gd name="connsiteX10" fmla="*/ 3352175 w 5933139"/>
                <a:gd name="connsiteY10" fmla="*/ 75786 h 6335678"/>
                <a:gd name="connsiteX11" fmla="*/ 3051997 w 5933139"/>
                <a:gd name="connsiteY11" fmla="*/ 19011 h 6335678"/>
                <a:gd name="connsiteX12" fmla="*/ 2745823 w 5933139"/>
                <a:gd name="connsiteY12" fmla="*/ 86 h 6335678"/>
                <a:gd name="connsiteX13" fmla="*/ 2141720 w 5933139"/>
                <a:gd name="connsiteY13" fmla="*/ 55550 h 6335678"/>
                <a:gd name="connsiteX14" fmla="*/ 1551295 w 5933139"/>
                <a:gd name="connsiteY14" fmla="*/ 216319 h 6335678"/>
                <a:gd name="connsiteX15" fmla="*/ 1001718 w 5933139"/>
                <a:gd name="connsiteY15" fmla="*/ 498134 h 6335678"/>
                <a:gd name="connsiteX16" fmla="*/ 754755 w 5933139"/>
                <a:gd name="connsiteY16" fmla="*/ 685886 h 6335678"/>
                <a:gd name="connsiteX17" fmla="*/ 533462 w 5933139"/>
                <a:gd name="connsiteY17" fmla="*/ 903056 h 6335678"/>
                <a:gd name="connsiteX18" fmla="*/ 0 w 5933139"/>
                <a:gd name="connsiteY18" fmla="*/ 1646568 h 6335678"/>
                <a:gd name="connsiteX19" fmla="*/ 0 w 5933139"/>
                <a:gd name="connsiteY19" fmla="*/ 4709059 h 6335678"/>
                <a:gd name="connsiteX20" fmla="*/ 120671 w 5933139"/>
                <a:gd name="connsiteY20" fmla="*/ 4907491 h 6335678"/>
                <a:gd name="connsiteX21" fmla="*/ 507979 w 5933139"/>
                <a:gd name="connsiteY21" fmla="*/ 5384178 h 6335678"/>
                <a:gd name="connsiteX22" fmla="*/ 972112 w 5933139"/>
                <a:gd name="connsiteY22" fmla="*/ 5778607 h 6335678"/>
                <a:gd name="connsiteX23" fmla="*/ 1229943 w 5933139"/>
                <a:gd name="connsiteY23" fmla="*/ 5939939 h 6335678"/>
                <a:gd name="connsiteX24" fmla="*/ 1502389 w 5933139"/>
                <a:gd name="connsiteY24" fmla="*/ 6073913 h 6335678"/>
                <a:gd name="connsiteX25" fmla="*/ 2673870 w 5933139"/>
                <a:gd name="connsiteY25" fmla="*/ 6333993 h 6335678"/>
                <a:gd name="connsiteX26" fmla="*/ 2749196 w 5933139"/>
                <a:gd name="connsiteY26" fmla="*/ 6335679 h 6335678"/>
                <a:gd name="connsiteX27" fmla="*/ 2787983 w 5933139"/>
                <a:gd name="connsiteY27" fmla="*/ 6335492 h 6335678"/>
                <a:gd name="connsiteX28" fmla="*/ 2826770 w 5933139"/>
                <a:gd name="connsiteY28" fmla="*/ 6334368 h 6335678"/>
                <a:gd name="connsiteX29" fmla="*/ 2981918 w 5933139"/>
                <a:gd name="connsiteY29" fmla="*/ 6319939 h 6335678"/>
                <a:gd name="connsiteX30" fmla="*/ 3285282 w 5933139"/>
                <a:gd name="connsiteY30" fmla="*/ 6241803 h 6335678"/>
                <a:gd name="connsiteX31" fmla="*/ 3566347 w 5933139"/>
                <a:gd name="connsiteY31" fmla="*/ 6104831 h 6335678"/>
                <a:gd name="connsiteX32" fmla="*/ 3818369 w 5933139"/>
                <a:gd name="connsiteY32" fmla="*/ 5926823 h 6335678"/>
                <a:gd name="connsiteX33" fmla="*/ 4044908 w 5933139"/>
                <a:gd name="connsiteY33" fmla="*/ 5726329 h 6335678"/>
                <a:gd name="connsiteX34" fmla="*/ 4151151 w 5933139"/>
                <a:gd name="connsiteY34" fmla="*/ 5622147 h 6335678"/>
                <a:gd name="connsiteX35" fmla="*/ 4253834 w 5933139"/>
                <a:gd name="connsiteY35" fmla="*/ 5516841 h 6335678"/>
                <a:gd name="connsiteX36" fmla="*/ 4452453 w 5933139"/>
                <a:gd name="connsiteY36" fmla="*/ 5306979 h 6335678"/>
                <a:gd name="connsiteX37" fmla="*/ 4548578 w 5933139"/>
                <a:gd name="connsiteY37" fmla="*/ 5202797 h 6335678"/>
                <a:gd name="connsiteX38" fmla="*/ 4596546 w 5933139"/>
                <a:gd name="connsiteY38" fmla="*/ 5151456 h 6335678"/>
                <a:gd name="connsiteX39" fmla="*/ 4643016 w 5933139"/>
                <a:gd name="connsiteY39" fmla="*/ 5103300 h 6335678"/>
                <a:gd name="connsiteX40" fmla="*/ 4739515 w 5933139"/>
                <a:gd name="connsiteY40" fmla="*/ 5013172 h 6335678"/>
                <a:gd name="connsiteX41" fmla="*/ 4842198 w 5933139"/>
                <a:gd name="connsiteY41" fmla="*/ 4930164 h 6335678"/>
                <a:gd name="connsiteX42" fmla="*/ 5071360 w 5933139"/>
                <a:gd name="connsiteY42" fmla="*/ 4780449 h 6335678"/>
                <a:gd name="connsiteX43" fmla="*/ 5332001 w 5933139"/>
                <a:gd name="connsiteY43" fmla="*/ 4615932 h 6335678"/>
                <a:gd name="connsiteX44" fmla="*/ 5397396 w 5933139"/>
                <a:gd name="connsiteY44" fmla="*/ 4563655 h 6335678"/>
                <a:gd name="connsiteX45" fmla="*/ 5459417 w 5933139"/>
                <a:gd name="connsiteY45" fmla="*/ 4505380 h 6335678"/>
                <a:gd name="connsiteX46" fmla="*/ 5567159 w 5933139"/>
                <a:gd name="connsiteY46" fmla="*/ 4374029 h 6335678"/>
                <a:gd name="connsiteX47" fmla="*/ 5651292 w 5933139"/>
                <a:gd name="connsiteY47" fmla="*/ 4231810 h 6335678"/>
                <a:gd name="connsiteX48" fmla="*/ 5716686 w 5933139"/>
                <a:gd name="connsiteY48" fmla="*/ 4085655 h 6335678"/>
                <a:gd name="connsiteX49" fmla="*/ 5820681 w 5933139"/>
                <a:gd name="connsiteY49" fmla="*/ 3791848 h 6335678"/>
                <a:gd name="connsiteX50" fmla="*/ 5898629 w 5933139"/>
                <a:gd name="connsiteY50" fmla="*/ 3487922 h 6335678"/>
                <a:gd name="connsiteX51" fmla="*/ 5932170 w 5933139"/>
                <a:gd name="connsiteY51" fmla="*/ 3174066 h 6335678"/>
                <a:gd name="connsiteX52" fmla="*/ 5872209 w 5933139"/>
                <a:gd name="connsiteY52" fmla="*/ 2545978 h 6335678"/>
                <a:gd name="connsiteX53" fmla="*/ 5852909 w 5933139"/>
                <a:gd name="connsiteY53" fmla="*/ 2469528 h 6335678"/>
                <a:gd name="connsiteX54" fmla="*/ 5507386 w 5933139"/>
                <a:gd name="connsiteY54" fmla="*/ 3724580 h 6335678"/>
                <a:gd name="connsiteX55" fmla="*/ 5453609 w 5933139"/>
                <a:gd name="connsiteY55" fmla="*/ 3989906 h 6335678"/>
                <a:gd name="connsiteX56" fmla="*/ 5344181 w 5933139"/>
                <a:gd name="connsiteY56" fmla="*/ 4220380 h 6335678"/>
                <a:gd name="connsiteX57" fmla="*/ 5171419 w 5933139"/>
                <a:gd name="connsiteY57" fmla="*/ 4388644 h 6335678"/>
                <a:gd name="connsiteX58" fmla="*/ 5057868 w 5933139"/>
                <a:gd name="connsiteY58" fmla="*/ 4453851 h 6335678"/>
                <a:gd name="connsiteX59" fmla="*/ 4930265 w 5933139"/>
                <a:gd name="connsiteY59" fmla="*/ 4516810 h 6335678"/>
                <a:gd name="connsiteX60" fmla="*/ 4660067 w 5933139"/>
                <a:gd name="connsiteY60" fmla="*/ 4664276 h 6335678"/>
                <a:gd name="connsiteX61" fmla="*/ 4408794 w 5933139"/>
                <a:gd name="connsiteY61" fmla="*/ 4857836 h 6335678"/>
                <a:gd name="connsiteX62" fmla="*/ 4352207 w 5933139"/>
                <a:gd name="connsiteY62" fmla="*/ 4911988 h 6335678"/>
                <a:gd name="connsiteX63" fmla="*/ 4299366 w 5933139"/>
                <a:gd name="connsiteY63" fmla="*/ 4965390 h 6335678"/>
                <a:gd name="connsiteX64" fmla="*/ 4197621 w 5933139"/>
                <a:gd name="connsiteY64" fmla="*/ 5074257 h 6335678"/>
                <a:gd name="connsiteX65" fmla="*/ 4008744 w 5933139"/>
                <a:gd name="connsiteY65" fmla="*/ 5297985 h 6335678"/>
                <a:gd name="connsiteX66" fmla="*/ 3917304 w 5933139"/>
                <a:gd name="connsiteY66" fmla="*/ 5409100 h 6335678"/>
                <a:gd name="connsiteX67" fmla="*/ 3826052 w 5933139"/>
                <a:gd name="connsiteY67" fmla="*/ 5518153 h 6335678"/>
                <a:gd name="connsiteX68" fmla="*/ 3637925 w 5933139"/>
                <a:gd name="connsiteY68" fmla="*/ 5725017 h 6335678"/>
                <a:gd name="connsiteX69" fmla="*/ 3433497 w 5933139"/>
                <a:gd name="connsiteY69" fmla="*/ 5906586 h 6335678"/>
                <a:gd name="connsiteX70" fmla="*/ 3204522 w 5933139"/>
                <a:gd name="connsiteY70" fmla="*/ 6046744 h 6335678"/>
                <a:gd name="connsiteX71" fmla="*/ 2950439 w 5933139"/>
                <a:gd name="connsiteY71" fmla="*/ 6129190 h 6335678"/>
                <a:gd name="connsiteX72" fmla="*/ 2816839 w 5933139"/>
                <a:gd name="connsiteY72" fmla="*/ 6146428 h 6335678"/>
                <a:gd name="connsiteX73" fmla="*/ 2749009 w 5933139"/>
                <a:gd name="connsiteY73" fmla="*/ 6149051 h 6335678"/>
                <a:gd name="connsiteX74" fmla="*/ 2678930 w 5933139"/>
                <a:gd name="connsiteY74" fmla="*/ 6148677 h 6335678"/>
                <a:gd name="connsiteX75" fmla="*/ 2125793 w 5933139"/>
                <a:gd name="connsiteY75" fmla="*/ 6065481 h 6335678"/>
                <a:gd name="connsiteX76" fmla="*/ 1610506 w 5933139"/>
                <a:gd name="connsiteY76" fmla="*/ 5851310 h 6335678"/>
                <a:gd name="connsiteX77" fmla="*/ 1373099 w 5933139"/>
                <a:gd name="connsiteY77" fmla="*/ 5706279 h 6335678"/>
                <a:gd name="connsiteX78" fmla="*/ 1315949 w 5933139"/>
                <a:gd name="connsiteY78" fmla="*/ 5666743 h 6335678"/>
                <a:gd name="connsiteX79" fmla="*/ 1259923 w 5933139"/>
                <a:gd name="connsiteY79" fmla="*/ 5625894 h 6335678"/>
                <a:gd name="connsiteX80" fmla="*/ 1204647 w 5933139"/>
                <a:gd name="connsiteY80" fmla="*/ 5583922 h 6335678"/>
                <a:gd name="connsiteX81" fmla="*/ 1150308 w 5933139"/>
                <a:gd name="connsiteY81" fmla="*/ 5540826 h 6335678"/>
                <a:gd name="connsiteX82" fmla="*/ 751569 w 5933139"/>
                <a:gd name="connsiteY82" fmla="*/ 5158015 h 6335678"/>
                <a:gd name="connsiteX83" fmla="*/ 663315 w 5933139"/>
                <a:gd name="connsiteY83" fmla="*/ 5052146 h 6335678"/>
                <a:gd name="connsiteX84" fmla="*/ 580869 w 5933139"/>
                <a:gd name="connsiteY84" fmla="*/ 4942718 h 6335678"/>
                <a:gd name="connsiteX85" fmla="*/ 432279 w 5933139"/>
                <a:gd name="connsiteY85" fmla="*/ 4713369 h 6335678"/>
                <a:gd name="connsiteX86" fmla="*/ 205553 w 5933139"/>
                <a:gd name="connsiteY86" fmla="*/ 4219443 h 6335678"/>
                <a:gd name="connsiteX87" fmla="*/ 79448 w 5933139"/>
                <a:gd name="connsiteY87" fmla="*/ 3693850 h 6335678"/>
                <a:gd name="connsiteX88" fmla="*/ 53590 w 5933139"/>
                <a:gd name="connsiteY88" fmla="*/ 3425339 h 6335678"/>
                <a:gd name="connsiteX89" fmla="*/ 49655 w 5933139"/>
                <a:gd name="connsiteY89" fmla="*/ 3155890 h 6335678"/>
                <a:gd name="connsiteX90" fmla="*/ 67830 w 5933139"/>
                <a:gd name="connsiteY90" fmla="*/ 2886817 h 6335678"/>
                <a:gd name="connsiteX91" fmla="*/ 108679 w 5933139"/>
                <a:gd name="connsiteY91" fmla="*/ 2619992 h 6335678"/>
                <a:gd name="connsiteX92" fmla="*/ 263077 w 5933139"/>
                <a:gd name="connsiteY92" fmla="*/ 2101520 h 6335678"/>
                <a:gd name="connsiteX93" fmla="*/ 837575 w 5933139"/>
                <a:gd name="connsiteY93" fmla="*/ 1186370 h 6335678"/>
                <a:gd name="connsiteX94" fmla="*/ 1031698 w 5933139"/>
                <a:gd name="connsiteY94" fmla="*/ 996932 h 6335678"/>
                <a:gd name="connsiteX95" fmla="*/ 1236688 w 5933139"/>
                <a:gd name="connsiteY95" fmla="*/ 819298 h 6335678"/>
                <a:gd name="connsiteX96" fmla="*/ 1687143 w 5933139"/>
                <a:gd name="connsiteY96" fmla="*/ 511438 h 6335678"/>
                <a:gd name="connsiteX97" fmla="*/ 2196246 w 5933139"/>
                <a:gd name="connsiteY97" fmla="*/ 300639 h 6335678"/>
                <a:gd name="connsiteX98" fmla="*/ 2745823 w 5933139"/>
                <a:gd name="connsiteY98" fmla="*/ 229248 h 6335678"/>
                <a:gd name="connsiteX99" fmla="*/ 3019206 w 5933139"/>
                <a:gd name="connsiteY99" fmla="*/ 252108 h 6335678"/>
                <a:gd name="connsiteX100" fmla="*/ 3288092 w 5933139"/>
                <a:gd name="connsiteY100" fmla="*/ 313006 h 6335678"/>
                <a:gd name="connsiteX101" fmla="*/ 3548172 w 5933139"/>
                <a:gd name="connsiteY101" fmla="*/ 407069 h 6335678"/>
                <a:gd name="connsiteX102" fmla="*/ 3611505 w 5933139"/>
                <a:gd name="connsiteY102" fmla="*/ 435176 h 6335678"/>
                <a:gd name="connsiteX103" fmla="*/ 3674089 w 5933139"/>
                <a:gd name="connsiteY103" fmla="*/ 464968 h 6335678"/>
                <a:gd name="connsiteX104" fmla="*/ 3735736 w 5933139"/>
                <a:gd name="connsiteY104" fmla="*/ 496823 h 6335678"/>
                <a:gd name="connsiteX105" fmla="*/ 3796634 w 5933139"/>
                <a:gd name="connsiteY105" fmla="*/ 530176 h 6335678"/>
                <a:gd name="connsiteX106" fmla="*/ 4251585 w 5933139"/>
                <a:gd name="connsiteY106" fmla="*/ 847405 h 6335678"/>
                <a:gd name="connsiteX107" fmla="*/ 4644515 w 5933139"/>
                <a:gd name="connsiteY107" fmla="*/ 1236775 h 6335678"/>
                <a:gd name="connsiteX108" fmla="*/ 4816527 w 5933139"/>
                <a:gd name="connsiteY108" fmla="*/ 1451883 h 6335678"/>
                <a:gd name="connsiteX109" fmla="*/ 4970738 w 5933139"/>
                <a:gd name="connsiteY109" fmla="*/ 1678610 h 6335678"/>
                <a:gd name="connsiteX110" fmla="*/ 5223885 w 5933139"/>
                <a:gd name="connsiteY110" fmla="*/ 2159232 h 6335678"/>
                <a:gd name="connsiteX111" fmla="*/ 5395709 w 5933139"/>
                <a:gd name="connsiteY111" fmla="*/ 2666087 h 6335678"/>
                <a:gd name="connsiteX112" fmla="*/ 5458855 w 5933139"/>
                <a:gd name="connsiteY112" fmla="*/ 2924292 h 6335678"/>
                <a:gd name="connsiteX113" fmla="*/ 5499142 w 5933139"/>
                <a:gd name="connsiteY113" fmla="*/ 3186995 h 6335678"/>
                <a:gd name="connsiteX114" fmla="*/ 5516755 w 5933139"/>
                <a:gd name="connsiteY114" fmla="*/ 3454007 h 6335678"/>
                <a:gd name="connsiteX115" fmla="*/ 5507386 w 5933139"/>
                <a:gd name="connsiteY115" fmla="*/ 3724580 h 633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933139" h="6335678">
                  <a:moveTo>
                    <a:pt x="5852909" y="2469528"/>
                  </a:moveTo>
                  <a:lnTo>
                    <a:pt x="5830799" y="2394015"/>
                  </a:lnTo>
                  <a:lnTo>
                    <a:pt x="5805878" y="2319439"/>
                  </a:lnTo>
                  <a:cubicBezTo>
                    <a:pt x="5797446" y="2294705"/>
                    <a:pt x="5787890" y="2270346"/>
                    <a:pt x="5778708" y="2245800"/>
                  </a:cubicBezTo>
                  <a:cubicBezTo>
                    <a:pt x="5740858" y="2148364"/>
                    <a:pt x="5699073" y="2052614"/>
                    <a:pt x="5652978" y="1959675"/>
                  </a:cubicBezTo>
                  <a:cubicBezTo>
                    <a:pt x="5559664" y="1773985"/>
                    <a:pt x="5450986" y="1597663"/>
                    <a:pt x="5327691" y="1432958"/>
                  </a:cubicBezTo>
                  <a:cubicBezTo>
                    <a:pt x="5204960" y="1268067"/>
                    <a:pt x="5068362" y="1114980"/>
                    <a:pt x="4921458" y="973322"/>
                  </a:cubicBezTo>
                  <a:cubicBezTo>
                    <a:pt x="4774742" y="831665"/>
                    <a:pt x="4616408" y="703125"/>
                    <a:pt x="4450018" y="586764"/>
                  </a:cubicBezTo>
                  <a:cubicBezTo>
                    <a:pt x="4366822" y="528489"/>
                    <a:pt x="4281003" y="474337"/>
                    <a:pt x="4193311" y="423558"/>
                  </a:cubicBezTo>
                  <a:cubicBezTo>
                    <a:pt x="4105806" y="372404"/>
                    <a:pt x="4015865" y="325560"/>
                    <a:pt x="3924237" y="281901"/>
                  </a:cubicBezTo>
                  <a:cubicBezTo>
                    <a:pt x="3740983" y="195333"/>
                    <a:pt x="3549483" y="125067"/>
                    <a:pt x="3352175" y="75786"/>
                  </a:cubicBezTo>
                  <a:cubicBezTo>
                    <a:pt x="3253428" y="51240"/>
                    <a:pt x="3153368" y="31565"/>
                    <a:pt x="3051997" y="19011"/>
                  </a:cubicBezTo>
                  <a:cubicBezTo>
                    <a:pt x="2950814" y="5895"/>
                    <a:pt x="2848506" y="-851"/>
                    <a:pt x="2745823" y="86"/>
                  </a:cubicBezTo>
                  <a:cubicBezTo>
                    <a:pt x="2543643" y="1585"/>
                    <a:pt x="2341838" y="20135"/>
                    <a:pt x="2141720" y="55550"/>
                  </a:cubicBezTo>
                  <a:cubicBezTo>
                    <a:pt x="1941976" y="91339"/>
                    <a:pt x="1743356" y="143055"/>
                    <a:pt x="1551295" y="216319"/>
                  </a:cubicBezTo>
                  <a:cubicBezTo>
                    <a:pt x="1359233" y="289396"/>
                    <a:pt x="1173917" y="383459"/>
                    <a:pt x="1001718" y="498134"/>
                  </a:cubicBezTo>
                  <a:cubicBezTo>
                    <a:pt x="915712" y="555659"/>
                    <a:pt x="832141" y="617119"/>
                    <a:pt x="754755" y="685886"/>
                  </a:cubicBezTo>
                  <a:cubicBezTo>
                    <a:pt x="677555" y="754841"/>
                    <a:pt x="604666" y="828293"/>
                    <a:pt x="533462" y="903056"/>
                  </a:cubicBezTo>
                  <a:cubicBezTo>
                    <a:pt x="323413" y="1125660"/>
                    <a:pt x="143906" y="1376370"/>
                    <a:pt x="0" y="1646568"/>
                  </a:cubicBezTo>
                  <a:lnTo>
                    <a:pt x="0" y="4709059"/>
                  </a:lnTo>
                  <a:cubicBezTo>
                    <a:pt x="37850" y="4776702"/>
                    <a:pt x="78136" y="4843033"/>
                    <a:pt x="120671" y="4907491"/>
                  </a:cubicBezTo>
                  <a:cubicBezTo>
                    <a:pt x="234034" y="5078941"/>
                    <a:pt x="365198" y="5239336"/>
                    <a:pt x="507979" y="5384178"/>
                  </a:cubicBezTo>
                  <a:cubicBezTo>
                    <a:pt x="650948" y="5529395"/>
                    <a:pt x="805909" y="5662059"/>
                    <a:pt x="972112" y="5778607"/>
                  </a:cubicBezTo>
                  <a:cubicBezTo>
                    <a:pt x="1055308" y="5836881"/>
                    <a:pt x="1141314" y="5890846"/>
                    <a:pt x="1229943" y="5939939"/>
                  </a:cubicBezTo>
                  <a:cubicBezTo>
                    <a:pt x="1318385" y="5989406"/>
                    <a:pt x="1409450" y="6033815"/>
                    <a:pt x="1502389" y="6073913"/>
                  </a:cubicBezTo>
                  <a:cubicBezTo>
                    <a:pt x="1874145" y="6233559"/>
                    <a:pt x="2272884" y="6320689"/>
                    <a:pt x="2673870" y="6333993"/>
                  </a:cubicBezTo>
                  <a:lnTo>
                    <a:pt x="2749196" y="6335679"/>
                  </a:lnTo>
                  <a:lnTo>
                    <a:pt x="2787983" y="6335492"/>
                  </a:lnTo>
                  <a:lnTo>
                    <a:pt x="2826770" y="6334368"/>
                  </a:lnTo>
                  <a:cubicBezTo>
                    <a:pt x="2878486" y="6332494"/>
                    <a:pt x="2930390" y="6327247"/>
                    <a:pt x="2981918" y="6319939"/>
                  </a:cubicBezTo>
                  <a:cubicBezTo>
                    <a:pt x="3085163" y="6304949"/>
                    <a:pt x="3187096" y="6278529"/>
                    <a:pt x="3285282" y="6241803"/>
                  </a:cubicBezTo>
                  <a:cubicBezTo>
                    <a:pt x="3383467" y="6205265"/>
                    <a:pt x="3477530" y="6158608"/>
                    <a:pt x="3566347" y="6104831"/>
                  </a:cubicBezTo>
                  <a:cubicBezTo>
                    <a:pt x="3655164" y="6051053"/>
                    <a:pt x="3739109" y="5990905"/>
                    <a:pt x="3818369" y="5926823"/>
                  </a:cubicBezTo>
                  <a:cubicBezTo>
                    <a:pt x="3897630" y="5862739"/>
                    <a:pt x="3973143" y="5795471"/>
                    <a:pt x="4044908" y="5726329"/>
                  </a:cubicBezTo>
                  <a:cubicBezTo>
                    <a:pt x="4080884" y="5691852"/>
                    <a:pt x="4116299" y="5656999"/>
                    <a:pt x="4151151" y="5622147"/>
                  </a:cubicBezTo>
                  <a:cubicBezTo>
                    <a:pt x="4185816" y="5586920"/>
                    <a:pt x="4220106" y="5552068"/>
                    <a:pt x="4253834" y="5516841"/>
                  </a:cubicBezTo>
                  <a:cubicBezTo>
                    <a:pt x="4321289" y="5446388"/>
                    <a:pt x="4387808" y="5376871"/>
                    <a:pt x="4452453" y="5306979"/>
                  </a:cubicBezTo>
                  <a:lnTo>
                    <a:pt x="4548578" y="5202797"/>
                  </a:lnTo>
                  <a:lnTo>
                    <a:pt x="4596546" y="5151456"/>
                  </a:lnTo>
                  <a:cubicBezTo>
                    <a:pt x="4612661" y="5134592"/>
                    <a:pt x="4627276" y="5119040"/>
                    <a:pt x="4643016" y="5103300"/>
                  </a:cubicBezTo>
                  <a:cubicBezTo>
                    <a:pt x="4674308" y="5072196"/>
                    <a:pt x="4706162" y="5041841"/>
                    <a:pt x="4739515" y="5013172"/>
                  </a:cubicBezTo>
                  <a:cubicBezTo>
                    <a:pt x="4772493" y="4984128"/>
                    <a:pt x="4806596" y="4956397"/>
                    <a:pt x="4842198" y="4930164"/>
                  </a:cubicBezTo>
                  <a:cubicBezTo>
                    <a:pt x="4913026" y="4876949"/>
                    <a:pt x="4988914" y="4828980"/>
                    <a:pt x="5071360" y="4780449"/>
                  </a:cubicBezTo>
                  <a:cubicBezTo>
                    <a:pt x="5153243" y="4731544"/>
                    <a:pt x="5243372" y="4682076"/>
                    <a:pt x="5332001" y="4615932"/>
                  </a:cubicBezTo>
                  <a:cubicBezTo>
                    <a:pt x="5354111" y="4599443"/>
                    <a:pt x="5376035" y="4582205"/>
                    <a:pt x="5397396" y="4563655"/>
                  </a:cubicBezTo>
                  <a:cubicBezTo>
                    <a:pt x="5418757" y="4545104"/>
                    <a:pt x="5439368" y="4525617"/>
                    <a:pt x="5459417" y="4505380"/>
                  </a:cubicBezTo>
                  <a:cubicBezTo>
                    <a:pt x="5499329" y="4464719"/>
                    <a:pt x="5535493" y="4420311"/>
                    <a:pt x="5567159" y="4374029"/>
                  </a:cubicBezTo>
                  <a:cubicBezTo>
                    <a:pt x="5599388" y="4328121"/>
                    <a:pt x="5626558" y="4279965"/>
                    <a:pt x="5651292" y="4231810"/>
                  </a:cubicBezTo>
                  <a:cubicBezTo>
                    <a:pt x="5675651" y="4183466"/>
                    <a:pt x="5697012" y="4134561"/>
                    <a:pt x="5716686" y="4085655"/>
                  </a:cubicBezTo>
                  <a:cubicBezTo>
                    <a:pt x="5756223" y="3987845"/>
                    <a:pt x="5789576" y="3891158"/>
                    <a:pt x="5820681" y="3791848"/>
                  </a:cubicBezTo>
                  <a:cubicBezTo>
                    <a:pt x="5851972" y="3692726"/>
                    <a:pt x="5878955" y="3591167"/>
                    <a:pt x="5898629" y="3487922"/>
                  </a:cubicBezTo>
                  <a:cubicBezTo>
                    <a:pt x="5918116" y="3384490"/>
                    <a:pt x="5929172" y="3279372"/>
                    <a:pt x="5932170" y="3174066"/>
                  </a:cubicBezTo>
                  <a:cubicBezTo>
                    <a:pt x="5937604" y="2963454"/>
                    <a:pt x="5920552" y="2750968"/>
                    <a:pt x="5872209" y="2545978"/>
                  </a:cubicBezTo>
                  <a:cubicBezTo>
                    <a:pt x="5865838" y="2520307"/>
                    <a:pt x="5860029" y="2494637"/>
                    <a:pt x="5852909" y="2469528"/>
                  </a:cubicBezTo>
                  <a:close/>
                  <a:moveTo>
                    <a:pt x="5507386" y="3724580"/>
                  </a:moveTo>
                  <a:cubicBezTo>
                    <a:pt x="5497830" y="3814521"/>
                    <a:pt x="5480591" y="3905586"/>
                    <a:pt x="5453609" y="3989906"/>
                  </a:cubicBezTo>
                  <a:cubicBezTo>
                    <a:pt x="5426439" y="4074413"/>
                    <a:pt x="5390088" y="4152924"/>
                    <a:pt x="5344181" y="4220380"/>
                  </a:cubicBezTo>
                  <a:cubicBezTo>
                    <a:pt x="5297898" y="4287835"/>
                    <a:pt x="5241311" y="4342549"/>
                    <a:pt x="5171419" y="4388644"/>
                  </a:cubicBezTo>
                  <a:cubicBezTo>
                    <a:pt x="5136755" y="4411879"/>
                    <a:pt x="5098342" y="4433052"/>
                    <a:pt x="5057868" y="4453851"/>
                  </a:cubicBezTo>
                  <a:cubicBezTo>
                    <a:pt x="5017395" y="4474837"/>
                    <a:pt x="4974298" y="4495449"/>
                    <a:pt x="4930265" y="4516810"/>
                  </a:cubicBezTo>
                  <a:cubicBezTo>
                    <a:pt x="4841823" y="4559719"/>
                    <a:pt x="4748696" y="4607126"/>
                    <a:pt x="4660067" y="4664276"/>
                  </a:cubicBezTo>
                  <a:cubicBezTo>
                    <a:pt x="4571251" y="4721238"/>
                    <a:pt x="4486181" y="4786071"/>
                    <a:pt x="4408794" y="4857836"/>
                  </a:cubicBezTo>
                  <a:cubicBezTo>
                    <a:pt x="4389682" y="4875637"/>
                    <a:pt x="4370008" y="4894375"/>
                    <a:pt x="4352207" y="4911988"/>
                  </a:cubicBezTo>
                  <a:lnTo>
                    <a:pt x="4299366" y="4965390"/>
                  </a:lnTo>
                  <a:cubicBezTo>
                    <a:pt x="4264514" y="5001179"/>
                    <a:pt x="4230599" y="5037531"/>
                    <a:pt x="4197621" y="5074257"/>
                  </a:cubicBezTo>
                  <a:cubicBezTo>
                    <a:pt x="4131664" y="5147896"/>
                    <a:pt x="4070204" y="5223784"/>
                    <a:pt x="4008744" y="5297985"/>
                  </a:cubicBezTo>
                  <a:lnTo>
                    <a:pt x="3917304" y="5409100"/>
                  </a:lnTo>
                  <a:cubicBezTo>
                    <a:pt x="3886949" y="5446013"/>
                    <a:pt x="3856782" y="5482364"/>
                    <a:pt x="3826052" y="5518153"/>
                  </a:cubicBezTo>
                  <a:cubicBezTo>
                    <a:pt x="3764592" y="5589544"/>
                    <a:pt x="3702758" y="5659435"/>
                    <a:pt x="3637925" y="5725017"/>
                  </a:cubicBezTo>
                  <a:cubicBezTo>
                    <a:pt x="3573093" y="5790412"/>
                    <a:pt x="3505637" y="5852059"/>
                    <a:pt x="3433497" y="5906586"/>
                  </a:cubicBezTo>
                  <a:cubicBezTo>
                    <a:pt x="3361544" y="5961112"/>
                    <a:pt x="3285469" y="6009268"/>
                    <a:pt x="3204522" y="6046744"/>
                  </a:cubicBezTo>
                  <a:cubicBezTo>
                    <a:pt x="3123763" y="6084594"/>
                    <a:pt x="3038506" y="6112513"/>
                    <a:pt x="2950439" y="6129190"/>
                  </a:cubicBezTo>
                  <a:cubicBezTo>
                    <a:pt x="2906405" y="6137809"/>
                    <a:pt x="2861810" y="6143055"/>
                    <a:pt x="2816839" y="6146428"/>
                  </a:cubicBezTo>
                  <a:cubicBezTo>
                    <a:pt x="2794354" y="6147927"/>
                    <a:pt x="2771681" y="6148677"/>
                    <a:pt x="2749009" y="6149051"/>
                  </a:cubicBezTo>
                  <a:lnTo>
                    <a:pt x="2678930" y="6148677"/>
                  </a:lnTo>
                  <a:cubicBezTo>
                    <a:pt x="2491927" y="6144367"/>
                    <a:pt x="2305675" y="6116260"/>
                    <a:pt x="2125793" y="6065481"/>
                  </a:cubicBezTo>
                  <a:cubicBezTo>
                    <a:pt x="1945911" y="6014515"/>
                    <a:pt x="1773524" y="5940501"/>
                    <a:pt x="1610506" y="5851310"/>
                  </a:cubicBezTo>
                  <a:cubicBezTo>
                    <a:pt x="1528997" y="5806714"/>
                    <a:pt x="1449924" y="5757808"/>
                    <a:pt x="1373099" y="5706279"/>
                  </a:cubicBezTo>
                  <a:lnTo>
                    <a:pt x="1315949" y="5666743"/>
                  </a:lnTo>
                  <a:lnTo>
                    <a:pt x="1259923" y="5625894"/>
                  </a:lnTo>
                  <a:lnTo>
                    <a:pt x="1204647" y="5583922"/>
                  </a:lnTo>
                  <a:cubicBezTo>
                    <a:pt x="1186284" y="5569869"/>
                    <a:pt x="1168483" y="5555066"/>
                    <a:pt x="1150308" y="5540826"/>
                  </a:cubicBezTo>
                  <a:cubicBezTo>
                    <a:pt x="1006402" y="5424839"/>
                    <a:pt x="872615" y="5296860"/>
                    <a:pt x="751569" y="5158015"/>
                  </a:cubicBezTo>
                  <a:cubicBezTo>
                    <a:pt x="721214" y="5123350"/>
                    <a:pt x="691983" y="5087935"/>
                    <a:pt x="663315" y="5052146"/>
                  </a:cubicBezTo>
                  <a:cubicBezTo>
                    <a:pt x="635021" y="5016170"/>
                    <a:pt x="607289" y="4980006"/>
                    <a:pt x="580869" y="4942718"/>
                  </a:cubicBezTo>
                  <a:cubicBezTo>
                    <a:pt x="527654" y="4868517"/>
                    <a:pt x="478186" y="4791880"/>
                    <a:pt x="432279" y="4713369"/>
                  </a:cubicBezTo>
                  <a:cubicBezTo>
                    <a:pt x="340651" y="4556159"/>
                    <a:pt x="264764" y="4390330"/>
                    <a:pt x="205553" y="4219443"/>
                  </a:cubicBezTo>
                  <a:cubicBezTo>
                    <a:pt x="146154" y="4048555"/>
                    <a:pt x="104369" y="3872045"/>
                    <a:pt x="79448" y="3693850"/>
                  </a:cubicBezTo>
                  <a:cubicBezTo>
                    <a:pt x="67268" y="3604659"/>
                    <a:pt x="58087" y="3515092"/>
                    <a:pt x="53590" y="3425339"/>
                  </a:cubicBezTo>
                  <a:cubicBezTo>
                    <a:pt x="47969" y="3335585"/>
                    <a:pt x="47406" y="3245644"/>
                    <a:pt x="49655" y="3155890"/>
                  </a:cubicBezTo>
                  <a:cubicBezTo>
                    <a:pt x="52278" y="3066137"/>
                    <a:pt x="58274" y="2976383"/>
                    <a:pt x="67830" y="2886817"/>
                  </a:cubicBezTo>
                  <a:cubicBezTo>
                    <a:pt x="77761" y="2797438"/>
                    <a:pt x="91253" y="2708246"/>
                    <a:pt x="108679" y="2619992"/>
                  </a:cubicBezTo>
                  <a:cubicBezTo>
                    <a:pt x="143906" y="2443108"/>
                    <a:pt x="195809" y="2269409"/>
                    <a:pt x="263077" y="2101520"/>
                  </a:cubicBezTo>
                  <a:cubicBezTo>
                    <a:pt x="397614" y="1765740"/>
                    <a:pt x="593048" y="1453382"/>
                    <a:pt x="837575" y="1186370"/>
                  </a:cubicBezTo>
                  <a:cubicBezTo>
                    <a:pt x="898473" y="1119289"/>
                    <a:pt x="964242" y="1056893"/>
                    <a:pt x="1031698" y="996932"/>
                  </a:cubicBezTo>
                  <a:cubicBezTo>
                    <a:pt x="1099154" y="936784"/>
                    <a:pt x="1166235" y="876261"/>
                    <a:pt x="1236688" y="819298"/>
                  </a:cubicBezTo>
                  <a:cubicBezTo>
                    <a:pt x="1377221" y="704999"/>
                    <a:pt x="1526935" y="600442"/>
                    <a:pt x="1687143" y="511438"/>
                  </a:cubicBezTo>
                  <a:cubicBezTo>
                    <a:pt x="1847163" y="422621"/>
                    <a:pt x="2017676" y="348795"/>
                    <a:pt x="2196246" y="300639"/>
                  </a:cubicBezTo>
                  <a:cubicBezTo>
                    <a:pt x="2374629" y="251921"/>
                    <a:pt x="2560320" y="227749"/>
                    <a:pt x="2745823" y="229248"/>
                  </a:cubicBezTo>
                  <a:cubicBezTo>
                    <a:pt x="2837076" y="230372"/>
                    <a:pt x="2928516" y="238055"/>
                    <a:pt x="3019206" y="252108"/>
                  </a:cubicBezTo>
                  <a:cubicBezTo>
                    <a:pt x="3109710" y="266724"/>
                    <a:pt x="3199650" y="286773"/>
                    <a:pt x="3288092" y="313006"/>
                  </a:cubicBezTo>
                  <a:cubicBezTo>
                    <a:pt x="3376347" y="339426"/>
                    <a:pt x="3463477" y="370343"/>
                    <a:pt x="3548172" y="407069"/>
                  </a:cubicBezTo>
                  <a:cubicBezTo>
                    <a:pt x="3569345" y="416438"/>
                    <a:pt x="3590519" y="425432"/>
                    <a:pt x="3611505" y="435176"/>
                  </a:cubicBezTo>
                  <a:lnTo>
                    <a:pt x="3674089" y="464968"/>
                  </a:lnTo>
                  <a:lnTo>
                    <a:pt x="3735736" y="496823"/>
                  </a:lnTo>
                  <a:cubicBezTo>
                    <a:pt x="3756160" y="507690"/>
                    <a:pt x="3776397" y="519120"/>
                    <a:pt x="3796634" y="530176"/>
                  </a:cubicBezTo>
                  <a:cubicBezTo>
                    <a:pt x="3957965" y="621054"/>
                    <a:pt x="4110303" y="728046"/>
                    <a:pt x="4251585" y="847405"/>
                  </a:cubicBezTo>
                  <a:cubicBezTo>
                    <a:pt x="4393242" y="966390"/>
                    <a:pt x="4524781" y="1096991"/>
                    <a:pt x="4644515" y="1236775"/>
                  </a:cubicBezTo>
                  <a:cubicBezTo>
                    <a:pt x="4704663" y="1306479"/>
                    <a:pt x="4762375" y="1378057"/>
                    <a:pt x="4816527" y="1451883"/>
                  </a:cubicBezTo>
                  <a:cubicBezTo>
                    <a:pt x="4870679" y="1525897"/>
                    <a:pt x="4922020" y="1601598"/>
                    <a:pt x="4970738" y="1678610"/>
                  </a:cubicBezTo>
                  <a:cubicBezTo>
                    <a:pt x="5067799" y="1833008"/>
                    <a:pt x="5152494" y="1993965"/>
                    <a:pt x="5223885" y="2159232"/>
                  </a:cubicBezTo>
                  <a:cubicBezTo>
                    <a:pt x="5295275" y="2324686"/>
                    <a:pt x="5349615" y="2495199"/>
                    <a:pt x="5395709" y="2666087"/>
                  </a:cubicBezTo>
                  <a:cubicBezTo>
                    <a:pt x="5418757" y="2751718"/>
                    <a:pt x="5440680" y="2837537"/>
                    <a:pt x="5458855" y="2924292"/>
                  </a:cubicBezTo>
                  <a:cubicBezTo>
                    <a:pt x="5477406" y="3011048"/>
                    <a:pt x="5490522" y="3098740"/>
                    <a:pt x="5499142" y="3186995"/>
                  </a:cubicBezTo>
                  <a:cubicBezTo>
                    <a:pt x="5507761" y="3275250"/>
                    <a:pt x="5513944" y="3364254"/>
                    <a:pt x="5516755" y="3454007"/>
                  </a:cubicBezTo>
                  <a:cubicBezTo>
                    <a:pt x="5518629" y="3543761"/>
                    <a:pt x="5516755" y="3634264"/>
                    <a:pt x="5507386" y="3724580"/>
                  </a:cubicBezTo>
                  <a:close/>
                </a:path>
              </a:pathLst>
            </a:custGeom>
            <a:solidFill>
              <a:schemeClr val="bg1">
                <a:alpha val="30000"/>
              </a:schemeClr>
            </a:solidFill>
            <a:ln w="1873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sp>
          <p:nvSpPr>
            <p:cNvPr id="1045" name="Freeform: Shape 1044">
              <a:extLst>
                <a:ext uri="{FF2B5EF4-FFF2-40B4-BE49-F238E27FC236}">
                  <a16:creationId xmlns:a16="http://schemas.microsoft.com/office/drawing/2014/main" id="{C7E50BFD-51AC-4ACE-820C-A285E6672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41478"/>
              <a:ext cx="5953893" cy="6434152"/>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317011 w 5953893"/>
                <a:gd name="connsiteY8" fmla="*/ 3797009 h 6434152"/>
                <a:gd name="connsiteX9" fmla="*/ 5176478 w 5953893"/>
                <a:gd name="connsiteY9" fmla="*/ 4100747 h 6434152"/>
                <a:gd name="connsiteX10" fmla="*/ 4942257 w 5953893"/>
                <a:gd name="connsiteY10" fmla="*/ 4250274 h 6434152"/>
                <a:gd name="connsiteX11" fmla="*/ 4216171 w 5953893"/>
                <a:gd name="connsiteY11" fmla="*/ 4773243 h 6434152"/>
                <a:gd name="connsiteX12" fmla="*/ 3905125 w 5953893"/>
                <a:gd name="connsiteY12" fmla="*/ 5105837 h 6434152"/>
                <a:gd name="connsiteX13" fmla="*/ 3308329 w 5953893"/>
                <a:gd name="connsiteY13" fmla="*/ 5682022 h 6434152"/>
                <a:gd name="connsiteX14" fmla="*/ 2739452 w 5953893"/>
                <a:gd name="connsiteY14" fmla="*/ 5870898 h 6434152"/>
                <a:gd name="connsiteX15" fmla="*/ 1647419 w 5953893"/>
                <a:gd name="connsiteY15" fmla="*/ 5625809 h 6434152"/>
                <a:gd name="connsiteX16" fmla="*/ 781175 w 5953893"/>
                <a:gd name="connsiteY16" fmla="*/ 4960620 h 6434152"/>
                <a:gd name="connsiteX17" fmla="*/ 312545 w 5953893"/>
                <a:gd name="connsiteY17" fmla="*/ 4165205 h 6434152"/>
                <a:gd name="connsiteX18" fmla="*/ 142032 w 5953893"/>
                <a:gd name="connsiteY18" fmla="*/ 3217451 h 6434152"/>
                <a:gd name="connsiteX19" fmla="*/ 347210 w 5953893"/>
                <a:gd name="connsiteY19" fmla="*/ 2181444 h 6434152"/>
                <a:gd name="connsiteX20" fmla="*/ 906155 w 5953893"/>
                <a:gd name="connsiteY20" fmla="*/ 1337497 h 6434152"/>
                <a:gd name="connsiteX21" fmla="*/ 2739265 w 5953893"/>
                <a:gd name="connsiteY21" fmla="*/ 563818 h 6434152"/>
                <a:gd name="connsiteX22" fmla="*/ 3849849 w 5953893"/>
                <a:gd name="connsiteY22" fmla="*/ 881796 h 6434152"/>
                <a:gd name="connsiteX23" fmla="*/ 4834515 w 5953893"/>
                <a:gd name="connsiteY23" fmla="*/ 1742419 h 6434152"/>
                <a:gd name="connsiteX24" fmla="*/ 5325256 w 5953893"/>
                <a:gd name="connsiteY24" fmla="*/ 2742076 h 6434152"/>
                <a:gd name="connsiteX25" fmla="*/ 5317011 w 5953893"/>
                <a:gd name="connsiteY25" fmla="*/ 3797009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317011" y="3797009"/>
                  </a:moveTo>
                  <a:cubicBezTo>
                    <a:pt x="5275976" y="3943538"/>
                    <a:pt x="5228756" y="4045658"/>
                    <a:pt x="5176478" y="4100747"/>
                  </a:cubicBezTo>
                  <a:cubicBezTo>
                    <a:pt x="5131883" y="4147591"/>
                    <a:pt x="5061991" y="4186004"/>
                    <a:pt x="4942257" y="4250274"/>
                  </a:cubicBezTo>
                  <a:cubicBezTo>
                    <a:pt x="4753381" y="4351458"/>
                    <a:pt x="4494613" y="4489929"/>
                    <a:pt x="4216171" y="4773243"/>
                  </a:cubicBezTo>
                  <a:cubicBezTo>
                    <a:pt x="4106555" y="4884733"/>
                    <a:pt x="4004247" y="4997159"/>
                    <a:pt x="3905125" y="5105837"/>
                  </a:cubicBezTo>
                  <a:cubicBezTo>
                    <a:pt x="3701071" y="5329753"/>
                    <a:pt x="3508260" y="5541302"/>
                    <a:pt x="3308329" y="5682022"/>
                  </a:cubicBezTo>
                  <a:cubicBezTo>
                    <a:pt x="3122826" y="5812624"/>
                    <a:pt x="2947441" y="5870898"/>
                    <a:pt x="2739452" y="5870898"/>
                  </a:cubicBezTo>
                  <a:cubicBezTo>
                    <a:pt x="2357765" y="5870898"/>
                    <a:pt x="1990319" y="5788452"/>
                    <a:pt x="1647419" y="5625809"/>
                  </a:cubicBezTo>
                  <a:cubicBezTo>
                    <a:pt x="1319509" y="5470286"/>
                    <a:pt x="1019893" y="5240187"/>
                    <a:pt x="781175" y="4960620"/>
                  </a:cubicBezTo>
                  <a:cubicBezTo>
                    <a:pt x="579370" y="4724151"/>
                    <a:pt x="421598" y="4456576"/>
                    <a:pt x="312545" y="4165205"/>
                  </a:cubicBezTo>
                  <a:cubicBezTo>
                    <a:pt x="199369" y="3863153"/>
                    <a:pt x="142032" y="3544237"/>
                    <a:pt x="142032" y="3217451"/>
                  </a:cubicBezTo>
                  <a:cubicBezTo>
                    <a:pt x="142032" y="2857688"/>
                    <a:pt x="211174" y="2509166"/>
                    <a:pt x="347210" y="2181444"/>
                  </a:cubicBezTo>
                  <a:cubicBezTo>
                    <a:pt x="478561" y="1865339"/>
                    <a:pt x="666688" y="1581275"/>
                    <a:pt x="906155" y="1337497"/>
                  </a:cubicBezTo>
                  <a:cubicBezTo>
                    <a:pt x="1396334" y="838512"/>
                    <a:pt x="2047469" y="563818"/>
                    <a:pt x="2739265" y="563818"/>
                  </a:cubicBezTo>
                  <a:cubicBezTo>
                    <a:pt x="3094157" y="563818"/>
                    <a:pt x="3478280" y="673808"/>
                    <a:pt x="3849849" y="881796"/>
                  </a:cubicBezTo>
                  <a:cubicBezTo>
                    <a:pt x="4226851" y="1092783"/>
                    <a:pt x="4567316" y="1390338"/>
                    <a:pt x="4834515" y="1742419"/>
                  </a:cubicBezTo>
                  <a:cubicBezTo>
                    <a:pt x="5070798" y="2053653"/>
                    <a:pt x="5240374" y="2399363"/>
                    <a:pt x="5325256" y="2742076"/>
                  </a:cubicBezTo>
                  <a:cubicBezTo>
                    <a:pt x="5414634" y="3102964"/>
                    <a:pt x="5411824" y="3458044"/>
                    <a:pt x="5317011" y="3797009"/>
                  </a:cubicBezTo>
                  <a:close/>
                </a:path>
              </a:pathLst>
            </a:custGeom>
            <a:solidFill>
              <a:schemeClr val="bg1">
                <a:alpha val="30000"/>
              </a:schemeClr>
            </a:solidFill>
            <a:ln w="1873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sp>
          <p:nvSpPr>
            <p:cNvPr id="1046" name="Freeform: Shape 1045">
              <a:extLst>
                <a:ext uri="{FF2B5EF4-FFF2-40B4-BE49-F238E27FC236}">
                  <a16:creationId xmlns:a16="http://schemas.microsoft.com/office/drawing/2014/main" id="{A0394888-C50F-41C1-92D4-0E2B4315A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1462"/>
              <a:ext cx="5953893" cy="6444167"/>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208520 w 5953893"/>
                <a:gd name="connsiteY8" fmla="*/ 3766654 h 6434152"/>
                <a:gd name="connsiteX9" fmla="*/ 5094782 w 5953893"/>
                <a:gd name="connsiteY9" fmla="*/ 4022985 h 6434152"/>
                <a:gd name="connsiteX10" fmla="*/ 4888855 w 5953893"/>
                <a:gd name="connsiteY10" fmla="*/ 4150777 h 6434152"/>
                <a:gd name="connsiteX11" fmla="*/ 4135411 w 5953893"/>
                <a:gd name="connsiteY11" fmla="*/ 4694170 h 6434152"/>
                <a:gd name="connsiteX12" fmla="*/ 3821555 w 5953893"/>
                <a:gd name="connsiteY12" fmla="*/ 5029762 h 6434152"/>
                <a:gd name="connsiteX13" fmla="*/ 2739265 w 5953893"/>
                <a:gd name="connsiteY13" fmla="*/ 5758097 h 6434152"/>
                <a:gd name="connsiteX14" fmla="*/ 1695575 w 5953893"/>
                <a:gd name="connsiteY14" fmla="*/ 5523876 h 6434152"/>
                <a:gd name="connsiteX15" fmla="*/ 866619 w 5953893"/>
                <a:gd name="connsiteY15" fmla="*/ 4887356 h 6434152"/>
                <a:gd name="connsiteX16" fmla="*/ 417851 w 5953893"/>
                <a:gd name="connsiteY16" fmla="*/ 4125481 h 6434152"/>
                <a:gd name="connsiteX17" fmla="*/ 254645 w 5953893"/>
                <a:gd name="connsiteY17" fmla="*/ 3217264 h 6434152"/>
                <a:gd name="connsiteX18" fmla="*/ 451204 w 5953893"/>
                <a:gd name="connsiteY18" fmla="*/ 2224540 h 6434152"/>
                <a:gd name="connsiteX19" fmla="*/ 986540 w 5953893"/>
                <a:gd name="connsiteY19" fmla="*/ 1416383 h 6434152"/>
                <a:gd name="connsiteX20" fmla="*/ 2739452 w 5953893"/>
                <a:gd name="connsiteY20" fmla="*/ 676244 h 6434152"/>
                <a:gd name="connsiteX21" fmla="*/ 3794947 w 5953893"/>
                <a:gd name="connsiteY21" fmla="*/ 979795 h 6434152"/>
                <a:gd name="connsiteX22" fmla="*/ 4744762 w 5953893"/>
                <a:gd name="connsiteY22" fmla="*/ 1810250 h 6434152"/>
                <a:gd name="connsiteX23" fmla="*/ 5215827 w 5953893"/>
                <a:gd name="connsiteY23" fmla="*/ 2768871 h 6434152"/>
                <a:gd name="connsiteX24" fmla="*/ 5208520 w 5953893"/>
                <a:gd name="connsiteY24" fmla="*/ 3766654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208520" y="3766654"/>
                  </a:moveTo>
                  <a:cubicBezTo>
                    <a:pt x="5173667" y="3891634"/>
                    <a:pt x="5133194" y="3982699"/>
                    <a:pt x="5094782" y="4022985"/>
                  </a:cubicBezTo>
                  <a:cubicBezTo>
                    <a:pt x="5060492" y="4058962"/>
                    <a:pt x="4984792" y="4099435"/>
                    <a:pt x="4888855" y="4150777"/>
                  </a:cubicBezTo>
                  <a:cubicBezTo>
                    <a:pt x="4693420" y="4255333"/>
                    <a:pt x="4426033" y="4398489"/>
                    <a:pt x="4135411" y="4694170"/>
                  </a:cubicBezTo>
                  <a:cubicBezTo>
                    <a:pt x="4024297" y="4807158"/>
                    <a:pt x="3921239" y="4920334"/>
                    <a:pt x="3821555" y="5029762"/>
                  </a:cubicBezTo>
                  <a:cubicBezTo>
                    <a:pt x="3385341" y="5508324"/>
                    <a:pt x="3138940" y="5758097"/>
                    <a:pt x="2739265" y="5758097"/>
                  </a:cubicBezTo>
                  <a:cubicBezTo>
                    <a:pt x="2374442" y="5758097"/>
                    <a:pt x="2023297" y="5679211"/>
                    <a:pt x="1695575" y="5523876"/>
                  </a:cubicBezTo>
                  <a:cubicBezTo>
                    <a:pt x="1381906" y="5375098"/>
                    <a:pt x="1095219" y="5154930"/>
                    <a:pt x="866619" y="4887356"/>
                  </a:cubicBezTo>
                  <a:cubicBezTo>
                    <a:pt x="673246" y="4661005"/>
                    <a:pt x="522220" y="4404673"/>
                    <a:pt x="417851" y="4125481"/>
                  </a:cubicBezTo>
                  <a:cubicBezTo>
                    <a:pt x="309547" y="3836171"/>
                    <a:pt x="254645" y="3530558"/>
                    <a:pt x="254645" y="3217264"/>
                  </a:cubicBezTo>
                  <a:cubicBezTo>
                    <a:pt x="254645" y="2872490"/>
                    <a:pt x="320790" y="2538585"/>
                    <a:pt x="451204" y="2224540"/>
                  </a:cubicBezTo>
                  <a:cubicBezTo>
                    <a:pt x="577121" y="1921739"/>
                    <a:pt x="757191" y="1649855"/>
                    <a:pt x="986540" y="1416383"/>
                  </a:cubicBezTo>
                  <a:cubicBezTo>
                    <a:pt x="1455357" y="939134"/>
                    <a:pt x="2078011" y="676244"/>
                    <a:pt x="2739452" y="676244"/>
                  </a:cubicBezTo>
                  <a:cubicBezTo>
                    <a:pt x="3075232" y="676244"/>
                    <a:pt x="3440243" y="781175"/>
                    <a:pt x="3794947" y="979795"/>
                  </a:cubicBezTo>
                  <a:cubicBezTo>
                    <a:pt x="4158459" y="1183286"/>
                    <a:pt x="4486931" y="1470348"/>
                    <a:pt x="4744762" y="1810250"/>
                  </a:cubicBezTo>
                  <a:cubicBezTo>
                    <a:pt x="4971862" y="2109491"/>
                    <a:pt x="5134693" y="2440961"/>
                    <a:pt x="5215827" y="2768871"/>
                  </a:cubicBezTo>
                  <a:cubicBezTo>
                    <a:pt x="5300334" y="3110834"/>
                    <a:pt x="5297898" y="3446614"/>
                    <a:pt x="5208520" y="3766654"/>
                  </a:cubicBezTo>
                  <a:close/>
                </a:path>
              </a:pathLst>
            </a:custGeom>
            <a:solidFill>
              <a:schemeClr val="bg1">
                <a:alpha val="30000"/>
              </a:schemeClr>
            </a:solidFill>
            <a:ln w="1873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sp useBgFill="1">
          <p:nvSpPr>
            <p:cNvPr id="1047" name="Freeform: Shape 1046">
              <a:extLst>
                <a:ext uri="{FF2B5EF4-FFF2-40B4-BE49-F238E27FC236}">
                  <a16:creationId xmlns:a16="http://schemas.microsoft.com/office/drawing/2014/main" id="{F22C906F-48B7-4ABF-B36E-0C0A056A5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3725"/>
              <a:ext cx="5855313" cy="6880645"/>
            </a:xfrm>
            <a:custGeom>
              <a:avLst/>
              <a:gdLst>
                <a:gd name="connsiteX0" fmla="*/ 5855313 w 5855313"/>
                <a:gd name="connsiteY0" fmla="*/ 4717843 h 6880645"/>
                <a:gd name="connsiteX1" fmla="*/ 5855313 w 5855313"/>
                <a:gd name="connsiteY1" fmla="*/ 6880645 h 6880645"/>
                <a:gd name="connsiteX2" fmla="*/ 0 w 5855313"/>
                <a:gd name="connsiteY2" fmla="*/ 6880645 h 6880645"/>
                <a:gd name="connsiteX3" fmla="*/ 0 w 5855313"/>
                <a:gd name="connsiteY3" fmla="*/ 5268859 h 6880645"/>
                <a:gd name="connsiteX4" fmla="*/ 36130 w 5855313"/>
                <a:gd name="connsiteY4" fmla="*/ 5327430 h 6880645"/>
                <a:gd name="connsiteX5" fmla="*/ 2782721 w 5855313"/>
                <a:gd name="connsiteY5" fmla="*/ 6765687 h 6880645"/>
                <a:gd name="connsiteX6" fmla="*/ 5834702 w 5855313"/>
                <a:gd name="connsiteY6" fmla="*/ 4773305 h 6880645"/>
                <a:gd name="connsiteX7" fmla="*/ 9148 w 5855313"/>
                <a:gd name="connsiteY7" fmla="*/ 0 h 6880645"/>
                <a:gd name="connsiteX8" fmla="*/ 5855312 w 5855313"/>
                <a:gd name="connsiteY8" fmla="*/ 0 h 6880645"/>
                <a:gd name="connsiteX9" fmla="*/ 5855312 w 5855313"/>
                <a:gd name="connsiteY9" fmla="*/ 96759 h 6880645"/>
                <a:gd name="connsiteX10" fmla="*/ 5855313 w 5855313"/>
                <a:gd name="connsiteY10" fmla="*/ 96759 h 6880645"/>
                <a:gd name="connsiteX11" fmla="*/ 5855313 w 5855313"/>
                <a:gd name="connsiteY11" fmla="*/ 2289203 h 6880645"/>
                <a:gd name="connsiteX12" fmla="*/ 5834702 w 5855313"/>
                <a:gd name="connsiteY12" fmla="*/ 2233742 h 6880645"/>
                <a:gd name="connsiteX13" fmla="*/ 2782721 w 5855313"/>
                <a:gd name="connsiteY13" fmla="*/ 241359 h 6880645"/>
                <a:gd name="connsiteX14" fmla="*/ 36130 w 5855313"/>
                <a:gd name="connsiteY14" fmla="*/ 1679616 h 6880645"/>
                <a:gd name="connsiteX15" fmla="*/ 0 w 5855313"/>
                <a:gd name="connsiteY15" fmla="*/ 1738187 h 6880645"/>
                <a:gd name="connsiteX16" fmla="*/ 0 w 5855313"/>
                <a:gd name="connsiteY16" fmla="*/ 96759 h 6880645"/>
                <a:gd name="connsiteX17" fmla="*/ 9148 w 5855313"/>
                <a:gd name="connsiteY17" fmla="*/ 96759 h 688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55313" h="6880645">
                  <a:moveTo>
                    <a:pt x="5855313" y="4717843"/>
                  </a:moveTo>
                  <a:lnTo>
                    <a:pt x="5855313" y="6880645"/>
                  </a:lnTo>
                  <a:lnTo>
                    <a:pt x="0" y="6880645"/>
                  </a:lnTo>
                  <a:lnTo>
                    <a:pt x="0" y="5268859"/>
                  </a:lnTo>
                  <a:lnTo>
                    <a:pt x="36130" y="5327430"/>
                  </a:lnTo>
                  <a:cubicBezTo>
                    <a:pt x="631370" y="6195172"/>
                    <a:pt x="1639396" y="6765687"/>
                    <a:pt x="2782721" y="6765687"/>
                  </a:cubicBezTo>
                  <a:cubicBezTo>
                    <a:pt x="4154711" y="6765687"/>
                    <a:pt x="5331871" y="5944145"/>
                    <a:pt x="5834702" y="4773305"/>
                  </a:cubicBezTo>
                  <a:close/>
                  <a:moveTo>
                    <a:pt x="9148" y="0"/>
                  </a:moveTo>
                  <a:lnTo>
                    <a:pt x="5855312" y="0"/>
                  </a:lnTo>
                  <a:lnTo>
                    <a:pt x="5855312" y="96759"/>
                  </a:lnTo>
                  <a:lnTo>
                    <a:pt x="5855313" y="96759"/>
                  </a:lnTo>
                  <a:lnTo>
                    <a:pt x="5855313" y="2289203"/>
                  </a:lnTo>
                  <a:lnTo>
                    <a:pt x="5834702" y="2233742"/>
                  </a:lnTo>
                  <a:cubicBezTo>
                    <a:pt x="5331871" y="1062902"/>
                    <a:pt x="4154711" y="241359"/>
                    <a:pt x="2782721" y="241359"/>
                  </a:cubicBezTo>
                  <a:cubicBezTo>
                    <a:pt x="1639396" y="241359"/>
                    <a:pt x="631370" y="811875"/>
                    <a:pt x="36130" y="1679616"/>
                  </a:cubicBezTo>
                  <a:lnTo>
                    <a:pt x="0" y="1738187"/>
                  </a:lnTo>
                  <a:lnTo>
                    <a:pt x="0" y="96759"/>
                  </a:lnTo>
                  <a:lnTo>
                    <a:pt x="9148" y="9675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sp useBgFill="1">
          <p:nvSpPr>
            <p:cNvPr id="1048" name="Freeform: Shape 1047">
              <a:extLst>
                <a:ext uri="{FF2B5EF4-FFF2-40B4-BE49-F238E27FC236}">
                  <a16:creationId xmlns:a16="http://schemas.microsoft.com/office/drawing/2014/main" id="{B4ABE2AA-A788-450F-94A8-AED4B698F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6370"/>
              <a:ext cx="6254832" cy="6864558"/>
            </a:xfrm>
            <a:custGeom>
              <a:avLst/>
              <a:gdLst>
                <a:gd name="connsiteX0" fmla="*/ 2766060 w 6254832"/>
                <a:gd name="connsiteY0" fmla="*/ 0 h 6864558"/>
                <a:gd name="connsiteX1" fmla="*/ 0 w 6254832"/>
                <a:gd name="connsiteY1" fmla="*/ 1340683 h 6864558"/>
                <a:gd name="connsiteX2" fmla="*/ 0 w 6254832"/>
                <a:gd name="connsiteY2" fmla="*/ 2201306 h 6864558"/>
                <a:gd name="connsiteX3" fmla="*/ 1312 w 6254832"/>
                <a:gd name="connsiteY3" fmla="*/ 2197746 h 6864558"/>
                <a:gd name="connsiteX4" fmla="*/ 612723 w 6254832"/>
                <a:gd name="connsiteY4" fmla="*/ 1201649 h 6864558"/>
                <a:gd name="connsiteX5" fmla="*/ 1571344 w 6254832"/>
                <a:gd name="connsiteY5" fmla="*/ 483245 h 6864558"/>
                <a:gd name="connsiteX6" fmla="*/ 1641235 w 6254832"/>
                <a:gd name="connsiteY6" fmla="*/ 452328 h 6864558"/>
                <a:gd name="connsiteX7" fmla="*/ 1711502 w 6254832"/>
                <a:gd name="connsiteY7" fmla="*/ 422348 h 6864558"/>
                <a:gd name="connsiteX8" fmla="*/ 1783080 w 6254832"/>
                <a:gd name="connsiteY8" fmla="*/ 395178 h 6864558"/>
                <a:gd name="connsiteX9" fmla="*/ 1855220 w 6254832"/>
                <a:gd name="connsiteY9" fmla="*/ 369133 h 6864558"/>
                <a:gd name="connsiteX10" fmla="*/ 1928297 w 6254832"/>
                <a:gd name="connsiteY10" fmla="*/ 345711 h 6864558"/>
                <a:gd name="connsiteX11" fmla="*/ 2001749 w 6254832"/>
                <a:gd name="connsiteY11" fmla="*/ 323600 h 6864558"/>
                <a:gd name="connsiteX12" fmla="*/ 2076138 w 6254832"/>
                <a:gd name="connsiteY12" fmla="*/ 304300 h 6864558"/>
                <a:gd name="connsiteX13" fmla="*/ 2113426 w 6254832"/>
                <a:gd name="connsiteY13" fmla="*/ 294744 h 6864558"/>
                <a:gd name="connsiteX14" fmla="*/ 2132163 w 6254832"/>
                <a:gd name="connsiteY14" fmla="*/ 290060 h 6864558"/>
                <a:gd name="connsiteX15" fmla="*/ 2151089 w 6254832"/>
                <a:gd name="connsiteY15" fmla="*/ 286312 h 6864558"/>
                <a:gd name="connsiteX16" fmla="*/ 2763249 w 6254832"/>
                <a:gd name="connsiteY16" fmla="*/ 218482 h 6864558"/>
                <a:gd name="connsiteX17" fmla="*/ 3372225 w 6254832"/>
                <a:gd name="connsiteY17" fmla="*/ 301302 h 6864558"/>
                <a:gd name="connsiteX18" fmla="*/ 3663596 w 6254832"/>
                <a:gd name="connsiteY18" fmla="*/ 398364 h 6864558"/>
                <a:gd name="connsiteX19" fmla="*/ 3941663 w 6254832"/>
                <a:gd name="connsiteY19" fmla="*/ 526717 h 6864558"/>
                <a:gd name="connsiteX20" fmla="*/ 4204366 w 6254832"/>
                <a:gd name="connsiteY20" fmla="*/ 681678 h 6864558"/>
                <a:gd name="connsiteX21" fmla="*/ 4450018 w 6254832"/>
                <a:gd name="connsiteY21" fmla="*/ 860061 h 6864558"/>
                <a:gd name="connsiteX22" fmla="*/ 4678992 w 6254832"/>
                <a:gd name="connsiteY22" fmla="*/ 1057181 h 6864558"/>
                <a:gd name="connsiteX23" fmla="*/ 4889791 w 6254832"/>
                <a:gd name="connsiteY23" fmla="*/ 1271166 h 6864558"/>
                <a:gd name="connsiteX24" fmla="*/ 5083164 w 6254832"/>
                <a:gd name="connsiteY24" fmla="*/ 1498642 h 6864558"/>
                <a:gd name="connsiteX25" fmla="*/ 5257987 w 6254832"/>
                <a:gd name="connsiteY25" fmla="*/ 1738484 h 6864558"/>
                <a:gd name="connsiteX26" fmla="*/ 5413510 w 6254832"/>
                <a:gd name="connsiteY26" fmla="*/ 1989195 h 6864558"/>
                <a:gd name="connsiteX27" fmla="*/ 5548609 w 6254832"/>
                <a:gd name="connsiteY27" fmla="*/ 2249462 h 6864558"/>
                <a:gd name="connsiteX28" fmla="*/ 5747791 w 6254832"/>
                <a:gd name="connsiteY28" fmla="*/ 2795666 h 6864558"/>
                <a:gd name="connsiteX29" fmla="*/ 5806814 w 6254832"/>
                <a:gd name="connsiteY29" fmla="*/ 3078980 h 6864558"/>
                <a:gd name="connsiteX30" fmla="*/ 5816933 w 6254832"/>
                <a:gd name="connsiteY30" fmla="*/ 3150558 h 6864558"/>
                <a:gd name="connsiteX31" fmla="*/ 5825178 w 6254832"/>
                <a:gd name="connsiteY31" fmla="*/ 3222323 h 6864558"/>
                <a:gd name="connsiteX32" fmla="*/ 5831923 w 6254832"/>
                <a:gd name="connsiteY32" fmla="*/ 3294276 h 6864558"/>
                <a:gd name="connsiteX33" fmla="*/ 5836233 w 6254832"/>
                <a:gd name="connsiteY33" fmla="*/ 3366416 h 6864558"/>
                <a:gd name="connsiteX34" fmla="*/ 5833047 w 6254832"/>
                <a:gd name="connsiteY34" fmla="*/ 3655726 h 6864558"/>
                <a:gd name="connsiteX35" fmla="*/ 5827426 w 6254832"/>
                <a:gd name="connsiteY35" fmla="*/ 3728054 h 6864558"/>
                <a:gd name="connsiteX36" fmla="*/ 5819556 w 6254832"/>
                <a:gd name="connsiteY36" fmla="*/ 3800194 h 6864558"/>
                <a:gd name="connsiteX37" fmla="*/ 5809063 w 6254832"/>
                <a:gd name="connsiteY37" fmla="*/ 3872147 h 6864558"/>
                <a:gd name="connsiteX38" fmla="*/ 5796696 w 6254832"/>
                <a:gd name="connsiteY38" fmla="*/ 3943912 h 6864558"/>
                <a:gd name="connsiteX39" fmla="*/ 5725305 w 6254832"/>
                <a:gd name="connsiteY39" fmla="*/ 4225165 h 6864558"/>
                <a:gd name="connsiteX40" fmla="*/ 5605384 w 6254832"/>
                <a:gd name="connsiteY40" fmla="*/ 4478312 h 6864558"/>
                <a:gd name="connsiteX41" fmla="*/ 5412573 w 6254832"/>
                <a:gd name="connsiteY41" fmla="*/ 4677306 h 6864558"/>
                <a:gd name="connsiteX42" fmla="*/ 5155867 w 6254832"/>
                <a:gd name="connsiteY42" fmla="*/ 4834703 h 6864558"/>
                <a:gd name="connsiteX43" fmla="*/ 4645452 w 6254832"/>
                <a:gd name="connsiteY43" fmla="*/ 5207396 h 6864558"/>
                <a:gd name="connsiteX44" fmla="*/ 4536211 w 6254832"/>
                <a:gd name="connsiteY44" fmla="*/ 5319072 h 6864558"/>
                <a:gd name="connsiteX45" fmla="*/ 4430343 w 6254832"/>
                <a:gd name="connsiteY45" fmla="*/ 5432061 h 6864558"/>
                <a:gd name="connsiteX46" fmla="*/ 4220668 w 6254832"/>
                <a:gd name="connsiteY46" fmla="*/ 5657663 h 6864558"/>
                <a:gd name="connsiteX47" fmla="*/ 4115174 w 6254832"/>
                <a:gd name="connsiteY47" fmla="*/ 5768777 h 6864558"/>
                <a:gd name="connsiteX48" fmla="*/ 4007245 w 6254832"/>
                <a:gd name="connsiteY48" fmla="*/ 5876707 h 6864558"/>
                <a:gd name="connsiteX49" fmla="*/ 3781081 w 6254832"/>
                <a:gd name="connsiteY49" fmla="*/ 6078887 h 6864558"/>
                <a:gd name="connsiteX50" fmla="*/ 3534493 w 6254832"/>
                <a:gd name="connsiteY50" fmla="*/ 6249775 h 6864558"/>
                <a:gd name="connsiteX51" fmla="*/ 3265232 w 6254832"/>
                <a:gd name="connsiteY51" fmla="*/ 6373068 h 6864558"/>
                <a:gd name="connsiteX52" fmla="*/ 3194779 w 6254832"/>
                <a:gd name="connsiteY52" fmla="*/ 6394804 h 6864558"/>
                <a:gd name="connsiteX53" fmla="*/ 3123575 w 6254832"/>
                <a:gd name="connsiteY53" fmla="*/ 6412792 h 6864558"/>
                <a:gd name="connsiteX54" fmla="*/ 3051435 w 6254832"/>
                <a:gd name="connsiteY54" fmla="*/ 6426471 h 6864558"/>
                <a:gd name="connsiteX55" fmla="*/ 2978733 w 6254832"/>
                <a:gd name="connsiteY55" fmla="*/ 6436214 h 6864558"/>
                <a:gd name="connsiteX56" fmla="*/ 2905656 w 6254832"/>
                <a:gd name="connsiteY56" fmla="*/ 6442211 h 6864558"/>
                <a:gd name="connsiteX57" fmla="*/ 2832204 w 6254832"/>
                <a:gd name="connsiteY57" fmla="*/ 6444459 h 6864558"/>
                <a:gd name="connsiteX58" fmla="*/ 2758565 w 6254832"/>
                <a:gd name="connsiteY58" fmla="*/ 6443335 h 6864558"/>
                <a:gd name="connsiteX59" fmla="*/ 2683239 w 6254832"/>
                <a:gd name="connsiteY59" fmla="*/ 6438463 h 6864558"/>
                <a:gd name="connsiteX60" fmla="*/ 2091503 w 6254832"/>
                <a:gd name="connsiteY60" fmla="*/ 6343275 h 6864558"/>
                <a:gd name="connsiteX61" fmla="*/ 1948347 w 6254832"/>
                <a:gd name="connsiteY61" fmla="*/ 6301490 h 6864558"/>
                <a:gd name="connsiteX62" fmla="*/ 1807626 w 6254832"/>
                <a:gd name="connsiteY62" fmla="*/ 6252585 h 6864558"/>
                <a:gd name="connsiteX63" fmla="*/ 1738297 w 6254832"/>
                <a:gd name="connsiteY63" fmla="*/ 6225790 h 6864558"/>
                <a:gd name="connsiteX64" fmla="*/ 1669529 w 6254832"/>
                <a:gd name="connsiteY64" fmla="*/ 6197684 h 6864558"/>
                <a:gd name="connsiteX65" fmla="*/ 1635239 w 6254832"/>
                <a:gd name="connsiteY65" fmla="*/ 6183630 h 6864558"/>
                <a:gd name="connsiteX66" fmla="*/ 1601699 w 6254832"/>
                <a:gd name="connsiteY66" fmla="*/ 6167891 h 6864558"/>
                <a:gd name="connsiteX67" fmla="*/ 1534618 w 6254832"/>
                <a:gd name="connsiteY67" fmla="*/ 6136411 h 6864558"/>
                <a:gd name="connsiteX68" fmla="*/ 592299 w 6254832"/>
                <a:gd name="connsiteY68" fmla="*/ 5443116 h 6864558"/>
                <a:gd name="connsiteX69" fmla="*/ 0 w 6254832"/>
                <a:gd name="connsiteY69" fmla="*/ 4496675 h 6864558"/>
                <a:gd name="connsiteX70" fmla="*/ 0 w 6254832"/>
                <a:gd name="connsiteY70" fmla="*/ 5523875 h 6864558"/>
                <a:gd name="connsiteX71" fmla="*/ 2766060 w 6254832"/>
                <a:gd name="connsiteY71" fmla="*/ 6864559 h 6864558"/>
                <a:gd name="connsiteX72" fmla="*/ 6254833 w 6254832"/>
                <a:gd name="connsiteY72" fmla="*/ 3432373 h 6864558"/>
                <a:gd name="connsiteX73" fmla="*/ 2766060 w 6254832"/>
                <a:gd name="connsiteY73" fmla="*/ 0 h 686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254832" h="6864558">
                  <a:moveTo>
                    <a:pt x="2766060" y="0"/>
                  </a:moveTo>
                  <a:cubicBezTo>
                    <a:pt x="1639549" y="0"/>
                    <a:pt x="637831" y="525405"/>
                    <a:pt x="0" y="1340683"/>
                  </a:cubicBezTo>
                  <a:lnTo>
                    <a:pt x="0" y="2201306"/>
                  </a:lnTo>
                  <a:cubicBezTo>
                    <a:pt x="375" y="2200181"/>
                    <a:pt x="937" y="2198870"/>
                    <a:pt x="1312" y="2197746"/>
                  </a:cubicBezTo>
                  <a:cubicBezTo>
                    <a:pt x="142969" y="1837045"/>
                    <a:pt x="347959" y="1497143"/>
                    <a:pt x="612723" y="1201649"/>
                  </a:cubicBezTo>
                  <a:cubicBezTo>
                    <a:pt x="876550" y="906155"/>
                    <a:pt x="1201836" y="655258"/>
                    <a:pt x="1571344" y="483245"/>
                  </a:cubicBezTo>
                  <a:lnTo>
                    <a:pt x="1641235" y="452328"/>
                  </a:lnTo>
                  <a:cubicBezTo>
                    <a:pt x="1664658" y="442210"/>
                    <a:pt x="1687518" y="430967"/>
                    <a:pt x="1711502" y="422348"/>
                  </a:cubicBezTo>
                  <a:lnTo>
                    <a:pt x="1783080" y="395178"/>
                  </a:lnTo>
                  <a:cubicBezTo>
                    <a:pt x="1807064" y="386372"/>
                    <a:pt x="1830674" y="376441"/>
                    <a:pt x="1855220" y="369133"/>
                  </a:cubicBezTo>
                  <a:lnTo>
                    <a:pt x="1928297" y="345711"/>
                  </a:lnTo>
                  <a:cubicBezTo>
                    <a:pt x="1952656" y="338028"/>
                    <a:pt x="1976828" y="329409"/>
                    <a:pt x="2001749" y="323600"/>
                  </a:cubicBezTo>
                  <a:lnTo>
                    <a:pt x="2076138" y="304300"/>
                  </a:lnTo>
                  <a:lnTo>
                    <a:pt x="2113426" y="294744"/>
                  </a:lnTo>
                  <a:lnTo>
                    <a:pt x="2132163" y="290060"/>
                  </a:lnTo>
                  <a:lnTo>
                    <a:pt x="2151089" y="286312"/>
                  </a:lnTo>
                  <a:cubicBezTo>
                    <a:pt x="2351395" y="241716"/>
                    <a:pt x="2557322" y="219044"/>
                    <a:pt x="2763249" y="218482"/>
                  </a:cubicBezTo>
                  <a:cubicBezTo>
                    <a:pt x="2968802" y="218294"/>
                    <a:pt x="3174167" y="247900"/>
                    <a:pt x="3372225" y="301302"/>
                  </a:cubicBezTo>
                  <a:cubicBezTo>
                    <a:pt x="3471347" y="327910"/>
                    <a:pt x="3568596" y="360513"/>
                    <a:pt x="3663596" y="398364"/>
                  </a:cubicBezTo>
                  <a:cubicBezTo>
                    <a:pt x="3758784" y="435652"/>
                    <a:pt x="3851348" y="479311"/>
                    <a:pt x="3941663" y="526717"/>
                  </a:cubicBezTo>
                  <a:cubicBezTo>
                    <a:pt x="4031979" y="573936"/>
                    <a:pt x="4119297" y="626402"/>
                    <a:pt x="4204366" y="681678"/>
                  </a:cubicBezTo>
                  <a:cubicBezTo>
                    <a:pt x="4289060" y="737516"/>
                    <a:pt x="4370944" y="797289"/>
                    <a:pt x="4450018" y="860061"/>
                  </a:cubicBezTo>
                  <a:cubicBezTo>
                    <a:pt x="4529091" y="922832"/>
                    <a:pt x="4605540" y="988601"/>
                    <a:pt x="4678992" y="1057181"/>
                  </a:cubicBezTo>
                  <a:cubicBezTo>
                    <a:pt x="4752444" y="1125574"/>
                    <a:pt x="4822335" y="1197527"/>
                    <a:pt x="4889791" y="1271166"/>
                  </a:cubicBezTo>
                  <a:cubicBezTo>
                    <a:pt x="4957247" y="1344805"/>
                    <a:pt x="5021705" y="1420693"/>
                    <a:pt x="5083164" y="1498642"/>
                  </a:cubicBezTo>
                  <a:cubicBezTo>
                    <a:pt x="5144062" y="1576965"/>
                    <a:pt x="5202899" y="1656601"/>
                    <a:pt x="5257987" y="1738484"/>
                  </a:cubicBezTo>
                  <a:cubicBezTo>
                    <a:pt x="5313076" y="1820368"/>
                    <a:pt x="5365354" y="1903751"/>
                    <a:pt x="5413510" y="1989195"/>
                  </a:cubicBezTo>
                  <a:cubicBezTo>
                    <a:pt x="5462041" y="2074451"/>
                    <a:pt x="5507011" y="2161207"/>
                    <a:pt x="5548609" y="2249462"/>
                  </a:cubicBezTo>
                  <a:cubicBezTo>
                    <a:pt x="5631430" y="2426158"/>
                    <a:pt x="5698323" y="2608851"/>
                    <a:pt x="5747791" y="2795666"/>
                  </a:cubicBezTo>
                  <a:cubicBezTo>
                    <a:pt x="5771963" y="2889167"/>
                    <a:pt x="5791825" y="2983792"/>
                    <a:pt x="5806814" y="3078980"/>
                  </a:cubicBezTo>
                  <a:cubicBezTo>
                    <a:pt x="5810562" y="3102777"/>
                    <a:pt x="5814497" y="3126574"/>
                    <a:pt x="5816933" y="3150558"/>
                  </a:cubicBezTo>
                  <a:cubicBezTo>
                    <a:pt x="5819556" y="3174542"/>
                    <a:pt x="5823304" y="3198339"/>
                    <a:pt x="5825178" y="3222323"/>
                  </a:cubicBezTo>
                  <a:cubicBezTo>
                    <a:pt x="5827426" y="3246308"/>
                    <a:pt x="5830050" y="3270292"/>
                    <a:pt x="5831923" y="3294276"/>
                  </a:cubicBezTo>
                  <a:lnTo>
                    <a:pt x="5836233" y="3366416"/>
                  </a:lnTo>
                  <a:cubicBezTo>
                    <a:pt x="5839981" y="3462728"/>
                    <a:pt x="5839981" y="3559227"/>
                    <a:pt x="5833047" y="3655726"/>
                  </a:cubicBezTo>
                  <a:cubicBezTo>
                    <a:pt x="5830986" y="3679711"/>
                    <a:pt x="5830237" y="3704069"/>
                    <a:pt x="5827426" y="3728054"/>
                  </a:cubicBezTo>
                  <a:lnTo>
                    <a:pt x="5819556" y="3800194"/>
                  </a:lnTo>
                  <a:lnTo>
                    <a:pt x="5809063" y="3872147"/>
                  </a:lnTo>
                  <a:cubicBezTo>
                    <a:pt x="5805690" y="3896131"/>
                    <a:pt x="5800818" y="3919928"/>
                    <a:pt x="5796696" y="3943912"/>
                  </a:cubicBezTo>
                  <a:cubicBezTo>
                    <a:pt x="5778708" y="4039287"/>
                    <a:pt x="5755848" y="4134662"/>
                    <a:pt x="5725305" y="4225165"/>
                  </a:cubicBezTo>
                  <a:cubicBezTo>
                    <a:pt x="5694763" y="4315669"/>
                    <a:pt x="5656726" y="4402237"/>
                    <a:pt x="5605384" y="4478312"/>
                  </a:cubicBezTo>
                  <a:cubicBezTo>
                    <a:pt x="5554980" y="4555324"/>
                    <a:pt x="5489960" y="4620718"/>
                    <a:pt x="5412573" y="4677306"/>
                  </a:cubicBezTo>
                  <a:cubicBezTo>
                    <a:pt x="5335374" y="4734269"/>
                    <a:pt x="5245995" y="4782987"/>
                    <a:pt x="5155867" y="4834703"/>
                  </a:cubicBezTo>
                  <a:cubicBezTo>
                    <a:pt x="4973924" y="4936261"/>
                    <a:pt x="4794791" y="5058806"/>
                    <a:pt x="4645452" y="5207396"/>
                  </a:cubicBezTo>
                  <a:cubicBezTo>
                    <a:pt x="4607414" y="5244497"/>
                    <a:pt x="4571813" y="5281597"/>
                    <a:pt x="4536211" y="5319072"/>
                  </a:cubicBezTo>
                  <a:lnTo>
                    <a:pt x="4430343" y="5432061"/>
                  </a:lnTo>
                  <a:cubicBezTo>
                    <a:pt x="4360264" y="5507574"/>
                    <a:pt x="4290934" y="5583087"/>
                    <a:pt x="4220668" y="5657663"/>
                  </a:cubicBezTo>
                  <a:cubicBezTo>
                    <a:pt x="4185628" y="5694951"/>
                    <a:pt x="4150589" y="5732052"/>
                    <a:pt x="4115174" y="5768777"/>
                  </a:cubicBezTo>
                  <a:cubicBezTo>
                    <a:pt x="4079573" y="5805316"/>
                    <a:pt x="4043597" y="5841292"/>
                    <a:pt x="4007245" y="5876707"/>
                  </a:cubicBezTo>
                  <a:cubicBezTo>
                    <a:pt x="3934543" y="5947723"/>
                    <a:pt x="3859405" y="6015740"/>
                    <a:pt x="3781081" y="6078887"/>
                  </a:cubicBezTo>
                  <a:cubicBezTo>
                    <a:pt x="3702945" y="6142220"/>
                    <a:pt x="3620312" y="6199557"/>
                    <a:pt x="3534493" y="6249775"/>
                  </a:cubicBezTo>
                  <a:cubicBezTo>
                    <a:pt x="3448300" y="6299429"/>
                    <a:pt x="3358359" y="6341589"/>
                    <a:pt x="3265232" y="6373068"/>
                  </a:cubicBezTo>
                  <a:cubicBezTo>
                    <a:pt x="3241998" y="6381313"/>
                    <a:pt x="3218201" y="6387497"/>
                    <a:pt x="3194779" y="6394804"/>
                  </a:cubicBezTo>
                  <a:cubicBezTo>
                    <a:pt x="3171169" y="6401175"/>
                    <a:pt x="3147185" y="6406797"/>
                    <a:pt x="3123575" y="6412792"/>
                  </a:cubicBezTo>
                  <a:cubicBezTo>
                    <a:pt x="3099404" y="6417477"/>
                    <a:pt x="3075420" y="6422161"/>
                    <a:pt x="3051435" y="6426471"/>
                  </a:cubicBezTo>
                  <a:cubicBezTo>
                    <a:pt x="3027076" y="6429657"/>
                    <a:pt x="3002904" y="6433591"/>
                    <a:pt x="2978733" y="6436214"/>
                  </a:cubicBezTo>
                  <a:cubicBezTo>
                    <a:pt x="2954374" y="6438088"/>
                    <a:pt x="2930015" y="6440899"/>
                    <a:pt x="2905656" y="6442211"/>
                  </a:cubicBezTo>
                  <a:cubicBezTo>
                    <a:pt x="2881109" y="6442960"/>
                    <a:pt x="2856751" y="6444272"/>
                    <a:pt x="2832204" y="6444459"/>
                  </a:cubicBezTo>
                  <a:cubicBezTo>
                    <a:pt x="2807658" y="6444084"/>
                    <a:pt x="2783298" y="6444084"/>
                    <a:pt x="2758565" y="6443335"/>
                  </a:cubicBezTo>
                  <a:lnTo>
                    <a:pt x="2683239" y="6438463"/>
                  </a:lnTo>
                  <a:cubicBezTo>
                    <a:pt x="2482559" y="6425909"/>
                    <a:pt x="2284126" y="6393492"/>
                    <a:pt x="2091503" y="6343275"/>
                  </a:cubicBezTo>
                  <a:lnTo>
                    <a:pt x="1948347" y="6301490"/>
                  </a:lnTo>
                  <a:cubicBezTo>
                    <a:pt x="1901127" y="6286126"/>
                    <a:pt x="1854658" y="6268699"/>
                    <a:pt x="1807626" y="6252585"/>
                  </a:cubicBezTo>
                  <a:cubicBezTo>
                    <a:pt x="1784017" y="6245090"/>
                    <a:pt x="1761344" y="6234972"/>
                    <a:pt x="1738297" y="6225790"/>
                  </a:cubicBezTo>
                  <a:lnTo>
                    <a:pt x="1669529" y="6197684"/>
                  </a:lnTo>
                  <a:lnTo>
                    <a:pt x="1635239" y="6183630"/>
                  </a:lnTo>
                  <a:lnTo>
                    <a:pt x="1601699" y="6167891"/>
                  </a:lnTo>
                  <a:lnTo>
                    <a:pt x="1534618" y="6136411"/>
                  </a:lnTo>
                  <a:cubicBezTo>
                    <a:pt x="1179164" y="5964961"/>
                    <a:pt x="857250" y="5729616"/>
                    <a:pt x="592299" y="5443116"/>
                  </a:cubicBezTo>
                  <a:cubicBezTo>
                    <a:pt x="336904" y="5166173"/>
                    <a:pt x="137160" y="4842573"/>
                    <a:pt x="0" y="4496675"/>
                  </a:cubicBezTo>
                  <a:lnTo>
                    <a:pt x="0" y="5523875"/>
                  </a:lnTo>
                  <a:cubicBezTo>
                    <a:pt x="637831" y="6338966"/>
                    <a:pt x="1639549" y="6864559"/>
                    <a:pt x="2766060" y="6864559"/>
                  </a:cubicBezTo>
                  <a:cubicBezTo>
                    <a:pt x="4692858" y="6864559"/>
                    <a:pt x="6254833" y="5327879"/>
                    <a:pt x="6254833" y="3432373"/>
                  </a:cubicBezTo>
                  <a:cubicBezTo>
                    <a:pt x="6254833" y="1536679"/>
                    <a:pt x="4692858" y="0"/>
                    <a:pt x="2766060" y="0"/>
                  </a:cubicBezTo>
                  <a:close/>
                </a:path>
              </a:pathLst>
            </a:custGeom>
            <a:ln w="1873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ome Light"/>
                <a:ea typeface="+mn-ea"/>
                <a:cs typeface="+mn-cs"/>
              </a:endParaRPr>
            </a:p>
          </p:txBody>
        </p:sp>
      </p:grpSp>
      <p:sp>
        <p:nvSpPr>
          <p:cNvPr id="4" name="Title 3">
            <a:extLst>
              <a:ext uri="{FF2B5EF4-FFF2-40B4-BE49-F238E27FC236}">
                <a16:creationId xmlns:a16="http://schemas.microsoft.com/office/drawing/2014/main" id="{88467C95-DF23-40B9-B265-2E6F3DE29030}"/>
              </a:ext>
            </a:extLst>
          </p:cNvPr>
          <p:cNvSpPr>
            <a:spLocks noGrp="1"/>
          </p:cNvSpPr>
          <p:nvPr>
            <p:ph type="title"/>
          </p:nvPr>
        </p:nvSpPr>
        <p:spPr>
          <a:xfrm>
            <a:off x="5448069" y="2526447"/>
            <a:ext cx="6723528" cy="1779340"/>
          </a:xfrm>
        </p:spPr>
        <p:txBody>
          <a:bodyPr vert="horz" lIns="91440" tIns="45720" rIns="91440" bIns="45720" rtlCol="0" anchor="b">
            <a:noAutofit/>
          </a:bodyPr>
          <a:lstStyle/>
          <a:p>
            <a:pPr algn="ctr"/>
            <a:r>
              <a:rPr lang="en-US" sz="5400">
                <a:solidFill>
                  <a:schemeClr val="tx2"/>
                </a:solidFill>
                <a:ea typeface="+mj-ea"/>
                <a:cs typeface="+mj-cs"/>
              </a:rPr>
              <a:t>Cardiovascular</a:t>
            </a:r>
            <a:br>
              <a:rPr lang="en-US" sz="5400">
                <a:solidFill>
                  <a:schemeClr val="tx2"/>
                </a:solidFill>
                <a:ea typeface="+mj-ea"/>
                <a:cs typeface="+mj-cs"/>
              </a:rPr>
            </a:br>
            <a:r>
              <a:rPr lang="en-US" sz="5400">
                <a:solidFill>
                  <a:schemeClr val="tx2"/>
                </a:solidFill>
                <a:ea typeface="+mj-ea"/>
                <a:cs typeface="+mj-cs"/>
              </a:rPr>
              <a:t>Cultural Considerations</a:t>
            </a:r>
          </a:p>
        </p:txBody>
      </p:sp>
    </p:spTree>
    <p:extLst>
      <p:ext uri="{BB962C8B-B14F-4D97-AF65-F5344CB8AC3E}">
        <p14:creationId xmlns:p14="http://schemas.microsoft.com/office/powerpoint/2010/main" val="17491193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93F5A-2DB7-4D91-90B0-0DD041F2BB77}"/>
              </a:ext>
            </a:extLst>
          </p:cNvPr>
          <p:cNvSpPr>
            <a:spLocks noGrp="1"/>
          </p:cNvSpPr>
          <p:nvPr>
            <p:ph type="title"/>
          </p:nvPr>
        </p:nvSpPr>
        <p:spPr/>
        <p:txBody>
          <a:bodyPr/>
          <a:lstStyle/>
          <a:p>
            <a:r>
              <a:rPr lang="en-US" dirty="0"/>
              <a:t>Cardiovascular Cultural Considerations</a:t>
            </a:r>
          </a:p>
        </p:txBody>
      </p:sp>
      <p:sp>
        <p:nvSpPr>
          <p:cNvPr id="3" name="Content Placeholder 2">
            <a:extLst>
              <a:ext uri="{FF2B5EF4-FFF2-40B4-BE49-F238E27FC236}">
                <a16:creationId xmlns:a16="http://schemas.microsoft.com/office/drawing/2014/main" id="{DC7D312E-82CB-47D3-B680-B0AB5A08E6A1}"/>
              </a:ext>
            </a:extLst>
          </p:cNvPr>
          <p:cNvSpPr>
            <a:spLocks noGrp="1"/>
          </p:cNvSpPr>
          <p:nvPr>
            <p:ph idx="1"/>
          </p:nvPr>
        </p:nvSpPr>
        <p:spPr>
          <a:xfrm>
            <a:off x="838200" y="1825624"/>
            <a:ext cx="10515600" cy="5032376"/>
          </a:xfrm>
        </p:spPr>
        <p:txBody>
          <a:bodyPr>
            <a:normAutofit lnSpcReduction="10000"/>
          </a:bodyPr>
          <a:lstStyle/>
          <a:p>
            <a:r>
              <a:rPr lang="en-US" dirty="0"/>
              <a:t>Minorities have been shown to receive inferior healthcare in areas such as referral for cardiac diagnostics and care for heart failure (among others)</a:t>
            </a:r>
          </a:p>
          <a:p>
            <a:r>
              <a:rPr lang="en-US" dirty="0"/>
              <a:t>Minorities also have less health insurance coverage, less healthcare access, more acute and chronic illnesses, and lower life expectancies</a:t>
            </a:r>
          </a:p>
          <a:p>
            <a:r>
              <a:rPr lang="en-US" dirty="0"/>
              <a:t>There may also be less effective communication with ethnic minorities</a:t>
            </a:r>
          </a:p>
          <a:p>
            <a:r>
              <a:rPr lang="en-US" dirty="0"/>
              <a:t>For groups who have been historically marginalized based on their race or ethnicity, mistrust in the healthcare system may be borne out of experiences of discrimination</a:t>
            </a:r>
          </a:p>
        </p:txBody>
      </p:sp>
    </p:spTree>
    <p:extLst>
      <p:ext uri="{BB962C8B-B14F-4D97-AF65-F5344CB8AC3E}">
        <p14:creationId xmlns:p14="http://schemas.microsoft.com/office/powerpoint/2010/main" val="26030836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F37E1-196C-472C-B568-A6F17DA153CE}"/>
              </a:ext>
            </a:extLst>
          </p:cNvPr>
          <p:cNvSpPr>
            <a:spLocks noGrp="1"/>
          </p:cNvSpPr>
          <p:nvPr>
            <p:ph type="title"/>
          </p:nvPr>
        </p:nvSpPr>
        <p:spPr/>
        <p:txBody>
          <a:bodyPr/>
          <a:lstStyle/>
          <a:p>
            <a:r>
              <a:rPr lang="en-US" dirty="0"/>
              <a:t>Cardiovascular Cultural Considerations</a:t>
            </a:r>
          </a:p>
        </p:txBody>
      </p:sp>
      <p:sp>
        <p:nvSpPr>
          <p:cNvPr id="3" name="Content Placeholder 2">
            <a:extLst>
              <a:ext uri="{FF2B5EF4-FFF2-40B4-BE49-F238E27FC236}">
                <a16:creationId xmlns:a16="http://schemas.microsoft.com/office/drawing/2014/main" id="{B9DE1655-801B-43A6-A696-93062A0DF08D}"/>
              </a:ext>
            </a:extLst>
          </p:cNvPr>
          <p:cNvSpPr>
            <a:spLocks noGrp="1"/>
          </p:cNvSpPr>
          <p:nvPr>
            <p:ph idx="1"/>
          </p:nvPr>
        </p:nvSpPr>
        <p:spPr>
          <a:xfrm>
            <a:off x="838200" y="1825624"/>
            <a:ext cx="10515600" cy="5032375"/>
          </a:xfrm>
        </p:spPr>
        <p:txBody>
          <a:bodyPr>
            <a:normAutofit fontScale="92500" lnSpcReduction="10000"/>
          </a:bodyPr>
          <a:lstStyle/>
          <a:p>
            <a:r>
              <a:rPr lang="en-US" dirty="0"/>
              <a:t>Studies have shown that compared with non-Hispanic white patients, non-Hispanic Black and Hispanic patients are more likely to report mistrust in health professionals</a:t>
            </a:r>
          </a:p>
          <a:p>
            <a:r>
              <a:rPr lang="en-US" dirty="0"/>
              <a:t>Researchers found a strong association between perceived discrimination and medical mistrust as well as not having a consistent health professional correlated with greater levels of mistrust</a:t>
            </a:r>
          </a:p>
          <a:p>
            <a:r>
              <a:rPr lang="en-US" dirty="0"/>
              <a:t>Drawing on previous research, researchers suggest that this mistrust is due to implicit racial and ethnic bias in health professionals</a:t>
            </a:r>
          </a:p>
          <a:p>
            <a:r>
              <a:rPr lang="en-US" dirty="0"/>
              <a:t>Solution is multilevel community- and theory-based training models to counter implicit bias</a:t>
            </a:r>
          </a:p>
        </p:txBody>
      </p:sp>
    </p:spTree>
    <p:extLst>
      <p:ext uri="{BB962C8B-B14F-4D97-AF65-F5344CB8AC3E}">
        <p14:creationId xmlns:p14="http://schemas.microsoft.com/office/powerpoint/2010/main" val="5299674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4311-92BD-4BD7-B395-17BC294452C6}"/>
              </a:ext>
            </a:extLst>
          </p:cNvPr>
          <p:cNvSpPr>
            <a:spLocks noGrp="1"/>
          </p:cNvSpPr>
          <p:nvPr>
            <p:ph type="title"/>
          </p:nvPr>
        </p:nvSpPr>
        <p:spPr/>
        <p:txBody>
          <a:bodyPr/>
          <a:lstStyle/>
          <a:p>
            <a:r>
              <a:rPr lang="en-US" dirty="0"/>
              <a:t>Cardiovascular Cultural Considerations</a:t>
            </a:r>
          </a:p>
        </p:txBody>
      </p:sp>
      <p:sp>
        <p:nvSpPr>
          <p:cNvPr id="3" name="Content Placeholder 2">
            <a:extLst>
              <a:ext uri="{FF2B5EF4-FFF2-40B4-BE49-F238E27FC236}">
                <a16:creationId xmlns:a16="http://schemas.microsoft.com/office/drawing/2014/main" id="{0A566CDF-589F-4E77-8BF5-EAD07520CCCC}"/>
              </a:ext>
            </a:extLst>
          </p:cNvPr>
          <p:cNvSpPr>
            <a:spLocks noGrp="1"/>
          </p:cNvSpPr>
          <p:nvPr>
            <p:ph idx="1"/>
          </p:nvPr>
        </p:nvSpPr>
        <p:spPr>
          <a:xfrm>
            <a:off x="838200" y="1825624"/>
            <a:ext cx="10515600" cy="4918075"/>
          </a:xfrm>
        </p:spPr>
        <p:txBody>
          <a:bodyPr/>
          <a:lstStyle/>
          <a:p>
            <a:r>
              <a:rPr lang="en-US" dirty="0"/>
              <a:t>Ethnic groups from Asia or South Asia may report feeling like their “heart is empty” or “there is a fire elevation” in their chest to describe emotionally upsetting conditions not necessarily related to cardiac symptoms</a:t>
            </a:r>
          </a:p>
          <a:p>
            <a:r>
              <a:rPr lang="en-US" dirty="0"/>
              <a:t>Eliciting a history may require a “talk story” (Hawaiian term): chat and converse about patients’ lives to establish rapport before asking medical symptoms (which may give you valuable family history or social history)</a:t>
            </a:r>
          </a:p>
          <a:p>
            <a:r>
              <a:rPr lang="en-US" dirty="0"/>
              <a:t>The lifestyle of certain ethnic groups may increase risk of coronary artery disease</a:t>
            </a:r>
          </a:p>
        </p:txBody>
      </p:sp>
    </p:spTree>
    <p:extLst>
      <p:ext uri="{BB962C8B-B14F-4D97-AF65-F5344CB8AC3E}">
        <p14:creationId xmlns:p14="http://schemas.microsoft.com/office/powerpoint/2010/main" val="1186569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F1D5-6038-4A86-B01E-E65C205D8CFB}"/>
              </a:ext>
            </a:extLst>
          </p:cNvPr>
          <p:cNvSpPr>
            <a:spLocks noGrp="1"/>
          </p:cNvSpPr>
          <p:nvPr>
            <p:ph type="title"/>
          </p:nvPr>
        </p:nvSpPr>
        <p:spPr/>
        <p:txBody>
          <a:bodyPr/>
          <a:lstStyle/>
          <a:p>
            <a:r>
              <a:rPr lang="en-US" dirty="0"/>
              <a:t>Cardiovascular Cultural Considerations</a:t>
            </a:r>
          </a:p>
        </p:txBody>
      </p:sp>
      <p:sp>
        <p:nvSpPr>
          <p:cNvPr id="3" name="Content Placeholder 2">
            <a:extLst>
              <a:ext uri="{FF2B5EF4-FFF2-40B4-BE49-F238E27FC236}">
                <a16:creationId xmlns:a16="http://schemas.microsoft.com/office/drawing/2014/main" id="{E8605D4E-CC41-4721-A401-0C469609029E}"/>
              </a:ext>
            </a:extLst>
          </p:cNvPr>
          <p:cNvSpPr>
            <a:spLocks noGrp="1"/>
          </p:cNvSpPr>
          <p:nvPr>
            <p:ph idx="1"/>
          </p:nvPr>
        </p:nvSpPr>
        <p:spPr>
          <a:xfrm>
            <a:off x="838200" y="1825625"/>
            <a:ext cx="10515600" cy="4667250"/>
          </a:xfrm>
        </p:spPr>
        <p:txBody>
          <a:bodyPr/>
          <a:lstStyle/>
          <a:p>
            <a:r>
              <a:rPr lang="en-US" dirty="0"/>
              <a:t>The cardiac exam involves exposing the chest, requiring protection of patients’ modesty</a:t>
            </a:r>
          </a:p>
          <a:p>
            <a:r>
              <a:rPr lang="en-US" dirty="0"/>
              <a:t>Be cognizant of patients’ ethnic or personal background when asking permission to expose patients for the exam</a:t>
            </a:r>
          </a:p>
          <a:p>
            <a:pPr lvl="1"/>
            <a:r>
              <a:rPr lang="en-US" dirty="0"/>
              <a:t>Keep in mind that private or erotic zones may differ among cultural groups and require additional sensitivity and respect to preserve the dignity and comfort of patients</a:t>
            </a:r>
          </a:p>
          <a:p>
            <a:pPr lvl="1"/>
            <a:r>
              <a:rPr lang="en-US" dirty="0"/>
              <a:t>Also consider the differences in “personal space” among various ethnic groups</a:t>
            </a:r>
          </a:p>
        </p:txBody>
      </p:sp>
    </p:spTree>
    <p:extLst>
      <p:ext uri="{BB962C8B-B14F-4D97-AF65-F5344CB8AC3E}">
        <p14:creationId xmlns:p14="http://schemas.microsoft.com/office/powerpoint/2010/main" val="227909336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F1D5-6038-4A86-B01E-E65C205D8CFB}"/>
              </a:ext>
            </a:extLst>
          </p:cNvPr>
          <p:cNvSpPr>
            <a:spLocks noGrp="1"/>
          </p:cNvSpPr>
          <p:nvPr>
            <p:ph type="title"/>
          </p:nvPr>
        </p:nvSpPr>
        <p:spPr/>
        <p:txBody>
          <a:bodyPr/>
          <a:lstStyle/>
          <a:p>
            <a:r>
              <a:rPr lang="en-US" dirty="0"/>
              <a:t>Cardiovascular Cultural Considerations</a:t>
            </a:r>
          </a:p>
        </p:txBody>
      </p:sp>
      <p:sp>
        <p:nvSpPr>
          <p:cNvPr id="3" name="Content Placeholder 2">
            <a:extLst>
              <a:ext uri="{FF2B5EF4-FFF2-40B4-BE49-F238E27FC236}">
                <a16:creationId xmlns:a16="http://schemas.microsoft.com/office/drawing/2014/main" id="{E8605D4E-CC41-4721-A401-0C469609029E}"/>
              </a:ext>
            </a:extLst>
          </p:cNvPr>
          <p:cNvSpPr>
            <a:spLocks noGrp="1"/>
          </p:cNvSpPr>
          <p:nvPr>
            <p:ph idx="1"/>
          </p:nvPr>
        </p:nvSpPr>
        <p:spPr/>
        <p:txBody>
          <a:bodyPr/>
          <a:lstStyle/>
          <a:p>
            <a:r>
              <a:rPr lang="en-US" dirty="0"/>
              <a:t>Patients may request examination by the same gender if possible</a:t>
            </a:r>
          </a:p>
          <a:p>
            <a:pPr lvl="1"/>
            <a:r>
              <a:rPr lang="en-US" dirty="0"/>
              <a:t>If not possible, consider having a nurse of the same gender or family member present for the exam (with permission of course) to ease the patient’s discomfort</a:t>
            </a:r>
          </a:p>
          <a:p>
            <a:r>
              <a:rPr lang="en-US" dirty="0"/>
              <a:t>Patients have the right to refuse any exam, which then must be documented accordingly</a:t>
            </a:r>
          </a:p>
        </p:txBody>
      </p:sp>
    </p:spTree>
    <p:extLst>
      <p:ext uri="{BB962C8B-B14F-4D97-AF65-F5344CB8AC3E}">
        <p14:creationId xmlns:p14="http://schemas.microsoft.com/office/powerpoint/2010/main" val="37367297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1_Office Theme">
  <a:themeElements>
    <a:clrScheme name="Minimalist Presentation">
      <a:dk1>
        <a:sysClr val="windowText" lastClr="000000"/>
      </a:dk1>
      <a:lt1>
        <a:sysClr val="window" lastClr="FFFFFF"/>
      </a:lt1>
      <a:dk2>
        <a:srgbClr val="ABABAB"/>
      </a:dk2>
      <a:lt2>
        <a:srgbClr val="F2F1EE"/>
      </a:lt2>
      <a:accent1>
        <a:srgbClr val="D8D2CD"/>
      </a:accent1>
      <a:accent2>
        <a:srgbClr val="C0C9C2"/>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Biome Light"/>
        <a:ea typeface=""/>
        <a:cs typeface=""/>
      </a:majorFont>
      <a:minorFont>
        <a:latin typeface="Biom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color presentation_Win32_LW_v2.potx" id="{B7F4C684-7BE5-4BD8-BEBE-7F207A45F474}" vid="{9091DE1E-F617-4C59-950B-F96736B889D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1498D1813F5B7489844C116D59CB270" ma:contentTypeVersion="14" ma:contentTypeDescription="Create a new document." ma:contentTypeScope="" ma:versionID="7ae608a28800e85df5ccb212cc9bee17">
  <xsd:schema xmlns:xsd="http://www.w3.org/2001/XMLSchema" xmlns:xs="http://www.w3.org/2001/XMLSchema" xmlns:p="http://schemas.microsoft.com/office/2006/metadata/properties" xmlns:ns3="90b4a485-7536-4ad8-80e9-e779e2d3adeb" xmlns:ns4="84873ab4-d6db-41d6-ac3e-ec8756e702a8" targetNamespace="http://schemas.microsoft.com/office/2006/metadata/properties" ma:root="true" ma:fieldsID="b3242b121e3445a350593cb1f5edfb44" ns3:_="" ns4:_="">
    <xsd:import namespace="90b4a485-7536-4ad8-80e9-e779e2d3adeb"/>
    <xsd:import namespace="84873ab4-d6db-41d6-ac3e-ec8756e702a8"/>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b4a485-7536-4ad8-80e9-e779e2d3ad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4873ab4-d6db-41d6-ac3e-ec8756e702a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2650A9E-D350-49F4-944E-818836046F91}">
  <ds:schemaRefs>
    <ds:schemaRef ds:uri="http://schemas.microsoft.com/sharepoint/v3/contenttype/forms"/>
  </ds:schemaRefs>
</ds:datastoreItem>
</file>

<file path=customXml/itemProps2.xml><?xml version="1.0" encoding="utf-8"?>
<ds:datastoreItem xmlns:ds="http://schemas.openxmlformats.org/officeDocument/2006/customXml" ds:itemID="{80CE9ACA-02C1-40F7-921F-4C101D8BF865}">
  <ds:schemaRefs>
    <ds:schemaRef ds:uri="84873ab4-d6db-41d6-ac3e-ec8756e702a8"/>
    <ds:schemaRef ds:uri="90b4a485-7536-4ad8-80e9-e779e2d3ade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E4E003D-3DC1-417A-938F-754786238BAB}">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84873ab4-d6db-41d6-ac3e-ec8756e702a8"/>
    <ds:schemaRef ds:uri="90b4a485-7536-4ad8-80e9-e779e2d3adeb"/>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12631</TotalTime>
  <Words>4588</Words>
  <Application>Microsoft Office PowerPoint</Application>
  <PresentationFormat>Widescreen</PresentationFormat>
  <Paragraphs>495</Paragraphs>
  <Slides>93</Slides>
  <Notes>70</Notes>
  <HiddenSlides>0</HiddenSlides>
  <MMClips>6</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93</vt:i4>
      </vt:variant>
    </vt:vector>
  </HeadingPairs>
  <TitlesOfParts>
    <vt:vector size="100" baseType="lpstr">
      <vt:lpstr>ＭＳ Ｐゴシック</vt:lpstr>
      <vt:lpstr>Arial</vt:lpstr>
      <vt:lpstr>Biome Light</vt:lpstr>
      <vt:lpstr>Calibri</vt:lpstr>
      <vt:lpstr>Calibri Light</vt:lpstr>
      <vt:lpstr>Office Theme</vt:lpstr>
      <vt:lpstr>1_Office Theme</vt:lpstr>
      <vt:lpstr>Cardiovascular H&amp;P</vt:lpstr>
      <vt:lpstr>Cardiovascular History</vt:lpstr>
      <vt:lpstr>Approaching the Cardiovascular Disease History</vt:lpstr>
      <vt:lpstr>Common Symptoms of Cardiovascular Disease</vt:lpstr>
      <vt:lpstr>Angina (Chest Pain)</vt:lpstr>
      <vt:lpstr>Angina (Chest Pain)</vt:lpstr>
      <vt:lpstr>Palpitations</vt:lpstr>
      <vt:lpstr>Palpitations</vt:lpstr>
      <vt:lpstr>Shortness of Breath (SOB)</vt:lpstr>
      <vt:lpstr>Edema (Swelling)</vt:lpstr>
      <vt:lpstr>Peripheral Vascular</vt:lpstr>
      <vt:lpstr>Syncope</vt:lpstr>
      <vt:lpstr>Abdominal, Back, Flank Pain</vt:lpstr>
      <vt:lpstr>Cardiovascular Health History: General Questions</vt:lpstr>
      <vt:lpstr>Cardiovascular Health History: General Questions</vt:lpstr>
      <vt:lpstr>Cardiovascular Health History: General Questions</vt:lpstr>
      <vt:lpstr>Cardiovascular Health History: General Questions</vt:lpstr>
      <vt:lpstr>Cardiovascular Health History: General Questions</vt:lpstr>
      <vt:lpstr>Pain Complaints</vt:lpstr>
      <vt:lpstr>Example: Questions for Angina</vt:lpstr>
      <vt:lpstr>Obtain Historical Context</vt:lpstr>
      <vt:lpstr>Chronic Care Questions</vt:lpstr>
      <vt:lpstr>Chronic Care Questions</vt:lpstr>
      <vt:lpstr>Chronic Care Questions</vt:lpstr>
      <vt:lpstr>Chronic Care Questions</vt:lpstr>
      <vt:lpstr>History Documentation Example: Cardiovascular</vt:lpstr>
      <vt:lpstr>Cardiovascular Physical Exam</vt:lpstr>
      <vt:lpstr>Cardiovascular Exam Considerations</vt:lpstr>
      <vt:lpstr>Key Components of Cardiovascular Exam</vt:lpstr>
      <vt:lpstr>Surface Landmarks</vt:lpstr>
      <vt:lpstr>Surface Landmarks</vt:lpstr>
      <vt:lpstr>Surface Landmarks: Interspaces</vt:lpstr>
      <vt:lpstr>Visualize Anatomy Beneath Chest Wall</vt:lpstr>
      <vt:lpstr>Visualize Chambers of the Heart and Important Great Vessels</vt:lpstr>
      <vt:lpstr>PowerPoint Presentation</vt:lpstr>
      <vt:lpstr>PowerPoint Presentation</vt:lpstr>
      <vt:lpstr>PowerPoint Presentation</vt:lpstr>
      <vt:lpstr>PowerPoint Presentation</vt:lpstr>
      <vt:lpstr>Assess Skin</vt:lpstr>
      <vt:lpstr>Fingernail Clubbing</vt:lpstr>
      <vt:lpstr>Cyanotic Lips</vt:lpstr>
      <vt:lpstr>Assess Skin</vt:lpstr>
      <vt:lpstr>Pitting Edema</vt:lpstr>
      <vt:lpstr>Identify Point of Maximal Impulse (PMI)</vt:lpstr>
      <vt:lpstr>Identify Point of Maximal Impulse (PMI)</vt:lpstr>
      <vt:lpstr>Inspect the Chest Wall</vt:lpstr>
      <vt:lpstr>Cardiac Heaves</vt:lpstr>
      <vt:lpstr>Palpate the Chest Wall</vt:lpstr>
      <vt:lpstr>Palpate the Chest Wall</vt:lpstr>
      <vt:lpstr>Auscultate the Heart</vt:lpstr>
      <vt:lpstr>Auscultation</vt:lpstr>
      <vt:lpstr>Auscultation</vt:lpstr>
      <vt:lpstr>Cardiovascular Auscultation Fields</vt:lpstr>
      <vt:lpstr>S1 Heart Sound</vt:lpstr>
      <vt:lpstr>S2 Heart Sound</vt:lpstr>
      <vt:lpstr>S1 and S2 Heart Sounds</vt:lpstr>
      <vt:lpstr>S3 Heart Sound</vt:lpstr>
      <vt:lpstr>S4 Heart Sound</vt:lpstr>
      <vt:lpstr>Augment Murmurs: Mitral Stenosis</vt:lpstr>
      <vt:lpstr>Augment Murmurs: Aortic Regurgitation</vt:lpstr>
      <vt:lpstr>Estimate Jugular Venous Pressure (JVP)</vt:lpstr>
      <vt:lpstr>Estimate Jugular Venous Pressure (JVP)</vt:lpstr>
      <vt:lpstr>Estimate Jugular Venous Pressure (JVP)</vt:lpstr>
      <vt:lpstr>Estimate Jugular Venous Pressure (JVP)</vt:lpstr>
      <vt:lpstr>Estimate Jugular Venous Pressure (JVP)</vt:lpstr>
      <vt:lpstr>Estimate Jugular Venous Pressure (JVP)</vt:lpstr>
      <vt:lpstr>Palpate Pulses</vt:lpstr>
      <vt:lpstr>Temporal Pulse</vt:lpstr>
      <vt:lpstr>Brachial Pulse</vt:lpstr>
      <vt:lpstr>Ulnar Pulse</vt:lpstr>
      <vt:lpstr>Femoral Pulse</vt:lpstr>
      <vt:lpstr>Posterior Tibialis Pulse</vt:lpstr>
      <vt:lpstr>Auscultate Pulses</vt:lpstr>
      <vt:lpstr>Auscultate Pulses</vt:lpstr>
      <vt:lpstr>Special Tests: Allen Test</vt:lpstr>
      <vt:lpstr>Special Tests: Allen Test</vt:lpstr>
      <vt:lpstr>Special Tests: Thigh and Calf Circumference</vt:lpstr>
      <vt:lpstr>Special Tests: Thigh Tenderness</vt:lpstr>
      <vt:lpstr>Special Tests: Homan Sign</vt:lpstr>
      <vt:lpstr>Special Tests: Stemmer Sign</vt:lpstr>
      <vt:lpstr>Special Tests: Lower Extremity Arterial Insufficiency Test</vt:lpstr>
      <vt:lpstr>Special Tests: Ankle Brachial Index</vt:lpstr>
      <vt:lpstr>Special Tests: Ankle Brachial Index</vt:lpstr>
      <vt:lpstr>Special Tests: Ankle Brachial Index</vt:lpstr>
      <vt:lpstr>Special Tests: Ankle Brachial Index</vt:lpstr>
      <vt:lpstr>Special Tests: Ankle Brachial Index</vt:lpstr>
      <vt:lpstr>Physical Exam Documentation Example: Cardiovascular</vt:lpstr>
      <vt:lpstr>Cardiovascular Cultural Considerations</vt:lpstr>
      <vt:lpstr>Cardiovascular Cultural Considerations</vt:lpstr>
      <vt:lpstr>Cardiovascular Cultural Considerations</vt:lpstr>
      <vt:lpstr>Cardiovascular Cultural Considerations</vt:lpstr>
      <vt:lpstr>Cardiovascular Cultural Considerations</vt:lpstr>
      <vt:lpstr>Cardiovascular Cultural Considerations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Cardiovascular EXAM History and Physical</dc:title>
  <dc:creator>Marriott, Christine</dc:creator>
  <cp:lastModifiedBy>Marriott, Christine</cp:lastModifiedBy>
  <cp:revision>61</cp:revision>
  <dcterms:created xsi:type="dcterms:W3CDTF">2015-10-16T17:40:21Z</dcterms:created>
  <dcterms:modified xsi:type="dcterms:W3CDTF">2026-10-05T15:53:06Z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0x01010051498D1813F5B7489844C116D59CB270</vt:lpwstr>
  </property>
</Properties>
</file>