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71"/>
  </p:notesMasterIdLst>
  <p:sldIdLst>
    <p:sldId id="256" r:id="rId5"/>
    <p:sldId id="257" r:id="rId6"/>
    <p:sldId id="325" r:id="rId7"/>
    <p:sldId id="314" r:id="rId8"/>
    <p:sldId id="263" r:id="rId9"/>
    <p:sldId id="259" r:id="rId10"/>
    <p:sldId id="265" r:id="rId11"/>
    <p:sldId id="266" r:id="rId12"/>
    <p:sldId id="316" r:id="rId13"/>
    <p:sldId id="267" r:id="rId14"/>
    <p:sldId id="268" r:id="rId15"/>
    <p:sldId id="326" r:id="rId16"/>
    <p:sldId id="269" r:id="rId17"/>
    <p:sldId id="317" r:id="rId18"/>
    <p:sldId id="328" r:id="rId19"/>
    <p:sldId id="260" r:id="rId20"/>
    <p:sldId id="271" r:id="rId21"/>
    <p:sldId id="281" r:id="rId22"/>
    <p:sldId id="272" r:id="rId23"/>
    <p:sldId id="331" r:id="rId24"/>
    <p:sldId id="277" r:id="rId25"/>
    <p:sldId id="278" r:id="rId26"/>
    <p:sldId id="279" r:id="rId27"/>
    <p:sldId id="280" r:id="rId28"/>
    <p:sldId id="282" r:id="rId29"/>
    <p:sldId id="283" r:id="rId30"/>
    <p:sldId id="284" r:id="rId31"/>
    <p:sldId id="261" r:id="rId32"/>
    <p:sldId id="273" r:id="rId33"/>
    <p:sldId id="285" r:id="rId34"/>
    <p:sldId id="286" r:id="rId35"/>
    <p:sldId id="287" r:id="rId36"/>
    <p:sldId id="288" r:id="rId37"/>
    <p:sldId id="289" r:id="rId38"/>
    <p:sldId id="290" r:id="rId39"/>
    <p:sldId id="274" r:id="rId40"/>
    <p:sldId id="291" r:id="rId41"/>
    <p:sldId id="293" r:id="rId42"/>
    <p:sldId id="330" r:id="rId43"/>
    <p:sldId id="275" r:id="rId44"/>
    <p:sldId id="276" r:id="rId45"/>
    <p:sldId id="262" r:id="rId46"/>
    <p:sldId id="299" r:id="rId47"/>
    <p:sldId id="300" r:id="rId48"/>
    <p:sldId id="301" r:id="rId49"/>
    <p:sldId id="294" r:id="rId50"/>
    <p:sldId id="302" r:id="rId51"/>
    <p:sldId id="303" r:id="rId52"/>
    <p:sldId id="295" r:id="rId53"/>
    <p:sldId id="304" r:id="rId54"/>
    <p:sldId id="332" r:id="rId55"/>
    <p:sldId id="296" r:id="rId56"/>
    <p:sldId id="305" r:id="rId57"/>
    <p:sldId id="297" r:id="rId58"/>
    <p:sldId id="306" r:id="rId59"/>
    <p:sldId id="307" r:id="rId60"/>
    <p:sldId id="309" r:id="rId61"/>
    <p:sldId id="308" r:id="rId62"/>
    <p:sldId id="310" r:id="rId63"/>
    <p:sldId id="311" r:id="rId64"/>
    <p:sldId id="312" r:id="rId65"/>
    <p:sldId id="313" r:id="rId66"/>
    <p:sldId id="298" r:id="rId67"/>
    <p:sldId id="323" r:id="rId68"/>
    <p:sldId id="324" r:id="rId69"/>
    <p:sldId id="329" r:id="rId7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4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402"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microsoft.com/office/2016/11/relationships/changesInfo" Target="changesInfos/changesInfo1.xml"/><Relationship Id="rId7" Type="http://schemas.openxmlformats.org/officeDocument/2006/relationships/slide" Target="slides/slide3.xml"/><Relationship Id="rId71"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slide" Target="slides/slide57.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mer, Caroline" userId="af6fc57e-91ce-4a9c-9f86-f4b62c881051" providerId="ADAL" clId="{A3E3413F-6C7C-4EFA-B903-E7E123CC51F9}"/>
    <pc:docChg chg="custSel addSld modSld">
      <pc:chgData name="Palmer, Caroline" userId="af6fc57e-91ce-4a9c-9f86-f4b62c881051" providerId="ADAL" clId="{A3E3413F-6C7C-4EFA-B903-E7E123CC51F9}" dt="2026-10-15T14:25:58.421" v="21" actId="1076"/>
      <pc:docMkLst>
        <pc:docMk/>
      </pc:docMkLst>
      <pc:sldChg chg="modSp mod">
        <pc:chgData name="Palmer, Caroline" userId="af6fc57e-91ce-4a9c-9f86-f4b62c881051" providerId="ADAL" clId="{A3E3413F-6C7C-4EFA-B903-E7E123CC51F9}" dt="2026-10-15T14:03:00.103" v="10" actId="20577"/>
        <pc:sldMkLst>
          <pc:docMk/>
          <pc:sldMk cId="4260498789" sldId="289"/>
        </pc:sldMkLst>
        <pc:spChg chg="mod">
          <ac:chgData name="Palmer, Caroline" userId="af6fc57e-91ce-4a9c-9f86-f4b62c881051" providerId="ADAL" clId="{A3E3413F-6C7C-4EFA-B903-E7E123CC51F9}" dt="2026-10-15T14:03:00.103" v="10" actId="20577"/>
          <ac:spMkLst>
            <pc:docMk/>
            <pc:sldMk cId="4260498789" sldId="289"/>
            <ac:spMk id="3" creationId="{00000000-0000-0000-0000-000000000000}"/>
          </ac:spMkLst>
        </pc:spChg>
      </pc:sldChg>
      <pc:sldChg chg="addSp delSp modSp new mod">
        <pc:chgData name="Palmer, Caroline" userId="af6fc57e-91ce-4a9c-9f86-f4b62c881051" providerId="ADAL" clId="{A3E3413F-6C7C-4EFA-B903-E7E123CC51F9}" dt="2026-10-15T14:02:31.375" v="4" actId="14100"/>
        <pc:sldMkLst>
          <pc:docMk/>
          <pc:sldMk cId="829383885" sldId="330"/>
        </pc:sldMkLst>
        <pc:spChg chg="del">
          <ac:chgData name="Palmer, Caroline" userId="af6fc57e-91ce-4a9c-9f86-f4b62c881051" providerId="ADAL" clId="{A3E3413F-6C7C-4EFA-B903-E7E123CC51F9}" dt="2026-10-15T14:01:36.286" v="2" actId="21"/>
          <ac:spMkLst>
            <pc:docMk/>
            <pc:sldMk cId="829383885" sldId="330"/>
            <ac:spMk id="2" creationId="{AEF5F26F-D0DF-CD00-1427-50A1C6C80749}"/>
          </ac:spMkLst>
        </pc:spChg>
        <pc:spChg chg="del">
          <ac:chgData name="Palmer, Caroline" userId="af6fc57e-91ce-4a9c-9f86-f4b62c881051" providerId="ADAL" clId="{A3E3413F-6C7C-4EFA-B903-E7E123CC51F9}" dt="2026-10-15T14:01:25.806" v="1" actId="22"/>
          <ac:spMkLst>
            <pc:docMk/>
            <pc:sldMk cId="829383885" sldId="330"/>
            <ac:spMk id="3" creationId="{DBF9C8DC-17CF-FC79-A8A4-3C779377BC23}"/>
          </ac:spMkLst>
        </pc:spChg>
        <pc:picChg chg="add mod ord">
          <ac:chgData name="Palmer, Caroline" userId="af6fc57e-91ce-4a9c-9f86-f4b62c881051" providerId="ADAL" clId="{A3E3413F-6C7C-4EFA-B903-E7E123CC51F9}" dt="2026-10-15T14:02:31.375" v="4" actId="14100"/>
          <ac:picMkLst>
            <pc:docMk/>
            <pc:sldMk cId="829383885" sldId="330"/>
            <ac:picMk id="5" creationId="{5C3C3FFF-1DBD-64A3-3617-3E2018066FED}"/>
          </ac:picMkLst>
        </pc:picChg>
      </pc:sldChg>
      <pc:sldChg chg="addSp delSp modSp new mod">
        <pc:chgData name="Palmer, Caroline" userId="af6fc57e-91ce-4a9c-9f86-f4b62c881051" providerId="ADAL" clId="{A3E3413F-6C7C-4EFA-B903-E7E123CC51F9}" dt="2026-10-15T14:15:14.517" v="16" actId="1076"/>
        <pc:sldMkLst>
          <pc:docMk/>
          <pc:sldMk cId="2200910873" sldId="331"/>
        </pc:sldMkLst>
        <pc:spChg chg="del">
          <ac:chgData name="Palmer, Caroline" userId="af6fc57e-91ce-4a9c-9f86-f4b62c881051" providerId="ADAL" clId="{A3E3413F-6C7C-4EFA-B903-E7E123CC51F9}" dt="2026-10-15T14:14:56.927" v="13" actId="21"/>
          <ac:spMkLst>
            <pc:docMk/>
            <pc:sldMk cId="2200910873" sldId="331"/>
            <ac:spMk id="2" creationId="{2585DB0C-1ED3-42F7-8D51-D3D7679B1559}"/>
          </ac:spMkLst>
        </pc:spChg>
        <pc:spChg chg="del">
          <ac:chgData name="Palmer, Caroline" userId="af6fc57e-91ce-4a9c-9f86-f4b62c881051" providerId="ADAL" clId="{A3E3413F-6C7C-4EFA-B903-E7E123CC51F9}" dt="2026-10-15T14:14:46.466" v="12" actId="22"/>
          <ac:spMkLst>
            <pc:docMk/>
            <pc:sldMk cId="2200910873" sldId="331"/>
            <ac:spMk id="3" creationId="{2EAAF23C-D498-C312-BD68-263B9DDCCE4A}"/>
          </ac:spMkLst>
        </pc:spChg>
        <pc:picChg chg="add mod ord">
          <ac:chgData name="Palmer, Caroline" userId="af6fc57e-91ce-4a9c-9f86-f4b62c881051" providerId="ADAL" clId="{A3E3413F-6C7C-4EFA-B903-E7E123CC51F9}" dt="2026-10-15T14:15:14.517" v="16" actId="1076"/>
          <ac:picMkLst>
            <pc:docMk/>
            <pc:sldMk cId="2200910873" sldId="331"/>
            <ac:picMk id="5" creationId="{BDA7A874-E936-0431-397C-CBA1DC872EE6}"/>
          </ac:picMkLst>
        </pc:picChg>
      </pc:sldChg>
      <pc:sldChg chg="addSp delSp modSp new mod">
        <pc:chgData name="Palmer, Caroline" userId="af6fc57e-91ce-4a9c-9f86-f4b62c881051" providerId="ADAL" clId="{A3E3413F-6C7C-4EFA-B903-E7E123CC51F9}" dt="2026-10-15T14:25:58.421" v="21" actId="1076"/>
        <pc:sldMkLst>
          <pc:docMk/>
          <pc:sldMk cId="4220256456" sldId="332"/>
        </pc:sldMkLst>
        <pc:spChg chg="del">
          <ac:chgData name="Palmer, Caroline" userId="af6fc57e-91ce-4a9c-9f86-f4b62c881051" providerId="ADAL" clId="{A3E3413F-6C7C-4EFA-B903-E7E123CC51F9}" dt="2026-10-15T14:25:52.349" v="19" actId="21"/>
          <ac:spMkLst>
            <pc:docMk/>
            <pc:sldMk cId="4220256456" sldId="332"/>
            <ac:spMk id="2" creationId="{2E116E8B-7956-5524-22D0-714E257F7994}"/>
          </ac:spMkLst>
        </pc:spChg>
        <pc:spChg chg="del">
          <ac:chgData name="Palmer, Caroline" userId="af6fc57e-91ce-4a9c-9f86-f4b62c881051" providerId="ADAL" clId="{A3E3413F-6C7C-4EFA-B903-E7E123CC51F9}" dt="2026-10-15T14:25:41.248" v="18" actId="22"/>
          <ac:spMkLst>
            <pc:docMk/>
            <pc:sldMk cId="4220256456" sldId="332"/>
            <ac:spMk id="3" creationId="{DA3BBAF3-96FF-32AA-A8FF-3E2BF85FC225}"/>
          </ac:spMkLst>
        </pc:spChg>
        <pc:picChg chg="add mod ord">
          <ac:chgData name="Palmer, Caroline" userId="af6fc57e-91ce-4a9c-9f86-f4b62c881051" providerId="ADAL" clId="{A3E3413F-6C7C-4EFA-B903-E7E123CC51F9}" dt="2026-10-15T14:25:58.421" v="21" actId="1076"/>
          <ac:picMkLst>
            <pc:docMk/>
            <pc:sldMk cId="4220256456" sldId="332"/>
            <ac:picMk id="5" creationId="{15CA69BC-3F12-CB40-D0E2-D86CE98FDEF2}"/>
          </ac:picMkLst>
        </pc:picChg>
      </pc:sldChg>
    </pc:docChg>
  </pc:docChgLst>
  <pc:docChgLst>
    <pc:chgData name="Palmer, Caroline" userId="af6fc57e-91ce-4a9c-9f86-f4b62c881051" providerId="ADAL" clId="{E1CE8F32-2BAD-4B10-9E13-27871302AB91}"/>
    <pc:docChg chg="modSld sldOrd">
      <pc:chgData name="Palmer, Caroline" userId="af6fc57e-91ce-4a9c-9f86-f4b62c881051" providerId="ADAL" clId="{E1CE8F32-2BAD-4B10-9E13-27871302AB91}" dt="2026-10-14T14:17:16.070" v="7" actId="20577"/>
      <pc:docMkLst>
        <pc:docMk/>
      </pc:docMkLst>
      <pc:sldChg chg="modSp mod ord">
        <pc:chgData name="Palmer, Caroline" userId="af6fc57e-91ce-4a9c-9f86-f4b62c881051" providerId="ADAL" clId="{E1CE8F32-2BAD-4B10-9E13-27871302AB91}" dt="2026-10-14T14:17:16.070" v="7" actId="20577"/>
        <pc:sldMkLst>
          <pc:docMk/>
          <pc:sldMk cId="2534185805" sldId="272"/>
        </pc:sldMkLst>
        <pc:spChg chg="mod">
          <ac:chgData name="Palmer, Caroline" userId="af6fc57e-91ce-4a9c-9f86-f4b62c881051" providerId="ADAL" clId="{E1CE8F32-2BAD-4B10-9E13-27871302AB91}" dt="2026-10-14T14:17:16.070" v="7" actId="20577"/>
          <ac:spMkLst>
            <pc:docMk/>
            <pc:sldMk cId="2534185805" sldId="272"/>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7B0054-73FA-4EFA-A535-E23F599E5255}" type="datetimeFigureOut">
              <a:rPr lang="en-US" smtClean="0"/>
              <a:t>10/15/2026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C90C2B-67C3-4879-9160-040CFA268111}" type="slidenum">
              <a:rPr lang="en-US" smtClean="0"/>
              <a:t>‹#›</a:t>
            </a:fld>
            <a:endParaRPr lang="en-US"/>
          </a:p>
        </p:txBody>
      </p:sp>
    </p:spTree>
    <p:extLst>
      <p:ext uri="{BB962C8B-B14F-4D97-AF65-F5344CB8AC3E}">
        <p14:creationId xmlns:p14="http://schemas.microsoft.com/office/powerpoint/2010/main" val="33497530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Relative refractory period- cell is capable of responding to a greater than normal stimulus. It begins when membrane potential is phase 3 reaches TP and ends just before end of phase 3</a:t>
            </a:r>
          </a:p>
          <a:p>
            <a:r>
              <a:rPr lang="en-US" dirty="0"/>
              <a:t>SN- a weak stimulus can evoke a response </a:t>
            </a:r>
          </a:p>
        </p:txBody>
      </p:sp>
      <p:sp>
        <p:nvSpPr>
          <p:cNvPr id="4" name="Slide Number Placeholder 3"/>
          <p:cNvSpPr>
            <a:spLocks noGrp="1"/>
          </p:cNvSpPr>
          <p:nvPr>
            <p:ph type="sldNum" sz="quarter" idx="10"/>
          </p:nvPr>
        </p:nvSpPr>
        <p:spPr/>
        <p:txBody>
          <a:bodyPr/>
          <a:lstStyle/>
          <a:p>
            <a:fld id="{34C90C2B-67C3-4879-9160-040CFA268111}" type="slidenum">
              <a:rPr lang="en-US" smtClean="0"/>
              <a:t>27</a:t>
            </a:fld>
            <a:endParaRPr lang="en-US"/>
          </a:p>
        </p:txBody>
      </p:sp>
    </p:spTree>
    <p:extLst>
      <p:ext uri="{BB962C8B-B14F-4D97-AF65-F5344CB8AC3E}">
        <p14:creationId xmlns:p14="http://schemas.microsoft.com/office/powerpoint/2010/main" val="2952192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Stimulation of the sympathetic nervous system during stress or exercise causes local constriction of veins and arterioles </a:t>
            </a:r>
            <a:r>
              <a:rPr lang="en-US" dirty="0" err="1"/>
              <a:t>bc</a:t>
            </a:r>
            <a:r>
              <a:rPr lang="en-US" dirty="0"/>
              <a:t> of release of </a:t>
            </a:r>
            <a:r>
              <a:rPr lang="en-US" dirty="0" err="1"/>
              <a:t>norepi</a:t>
            </a:r>
            <a:r>
              <a:rPr lang="en-US" dirty="0"/>
              <a:t> from sympathetic nerve endings </a:t>
            </a:r>
          </a:p>
        </p:txBody>
      </p:sp>
      <p:sp>
        <p:nvSpPr>
          <p:cNvPr id="4" name="Slide Number Placeholder 3"/>
          <p:cNvSpPr>
            <a:spLocks noGrp="1"/>
          </p:cNvSpPr>
          <p:nvPr>
            <p:ph type="sldNum" sz="quarter" idx="10"/>
          </p:nvPr>
        </p:nvSpPr>
        <p:spPr/>
        <p:txBody>
          <a:bodyPr/>
          <a:lstStyle/>
          <a:p>
            <a:fld id="{34C90C2B-67C3-4879-9160-040CFA268111}" type="slidenum">
              <a:rPr lang="en-US" smtClean="0"/>
              <a:t>59</a:t>
            </a:fld>
            <a:endParaRPr lang="en-US"/>
          </a:p>
        </p:txBody>
      </p:sp>
    </p:spTree>
    <p:extLst>
      <p:ext uri="{BB962C8B-B14F-4D97-AF65-F5344CB8AC3E}">
        <p14:creationId xmlns:p14="http://schemas.microsoft.com/office/powerpoint/2010/main" val="3885268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0D0FC3-707C-4561-8C34-54CF725D231E}"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F1D3BC-DD57-477E-8B30-A87510013FC3}" type="slidenum">
              <a:rPr lang="en-US" smtClean="0"/>
              <a:pPr/>
              <a:t>‹#›</a:t>
            </a:fld>
            <a:endParaRPr lang="en-US"/>
          </a:p>
        </p:txBody>
      </p:sp>
    </p:spTree>
    <p:extLst>
      <p:ext uri="{BB962C8B-B14F-4D97-AF65-F5344CB8AC3E}">
        <p14:creationId xmlns:p14="http://schemas.microsoft.com/office/powerpoint/2010/main" val="540458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0D0FC3-707C-4561-8C34-54CF725D231E}"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F1D3BC-DD57-477E-8B30-A87510013FC3}" type="slidenum">
              <a:rPr lang="en-US" smtClean="0"/>
              <a:pPr/>
              <a:t>‹#›</a:t>
            </a:fld>
            <a:endParaRPr lang="en-US"/>
          </a:p>
        </p:txBody>
      </p:sp>
    </p:spTree>
    <p:extLst>
      <p:ext uri="{BB962C8B-B14F-4D97-AF65-F5344CB8AC3E}">
        <p14:creationId xmlns:p14="http://schemas.microsoft.com/office/powerpoint/2010/main" val="3987915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0D0FC3-707C-4561-8C34-54CF725D231E}"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F1D3BC-DD57-477E-8B30-A87510013FC3}" type="slidenum">
              <a:rPr lang="en-US" smtClean="0"/>
              <a:pPr/>
              <a:t>‹#›</a:t>
            </a:fld>
            <a:endParaRPr lang="en-US"/>
          </a:p>
        </p:txBody>
      </p:sp>
    </p:spTree>
    <p:extLst>
      <p:ext uri="{BB962C8B-B14F-4D97-AF65-F5344CB8AC3E}">
        <p14:creationId xmlns:p14="http://schemas.microsoft.com/office/powerpoint/2010/main" val="29155348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0D0FC3-707C-4561-8C34-54CF725D231E}"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F1D3BC-DD57-477E-8B30-A87510013FC3}" type="slidenum">
              <a:rPr lang="en-US" smtClean="0"/>
              <a:pPr/>
              <a:t>‹#›</a:t>
            </a:fld>
            <a:endParaRPr lang="en-US"/>
          </a:p>
        </p:txBody>
      </p:sp>
    </p:spTree>
    <p:extLst>
      <p:ext uri="{BB962C8B-B14F-4D97-AF65-F5344CB8AC3E}">
        <p14:creationId xmlns:p14="http://schemas.microsoft.com/office/powerpoint/2010/main" val="2171015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0D0FC3-707C-4561-8C34-54CF725D231E}" type="datetimeFigureOut">
              <a:rPr lang="en-US" smtClean="0"/>
              <a:pPr/>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F1D3BC-DD57-477E-8B30-A87510013FC3}" type="slidenum">
              <a:rPr lang="en-US" smtClean="0"/>
              <a:pPr/>
              <a:t>‹#›</a:t>
            </a:fld>
            <a:endParaRPr lang="en-US"/>
          </a:p>
        </p:txBody>
      </p:sp>
    </p:spTree>
    <p:extLst>
      <p:ext uri="{BB962C8B-B14F-4D97-AF65-F5344CB8AC3E}">
        <p14:creationId xmlns:p14="http://schemas.microsoft.com/office/powerpoint/2010/main" val="34448172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0D0FC3-707C-4561-8C34-54CF725D231E}" type="datetimeFigureOut">
              <a:rPr lang="en-US" smtClean="0"/>
              <a:pPr/>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F1D3BC-DD57-477E-8B30-A87510013FC3}" type="slidenum">
              <a:rPr lang="en-US" smtClean="0"/>
              <a:pPr/>
              <a:t>‹#›</a:t>
            </a:fld>
            <a:endParaRPr lang="en-US"/>
          </a:p>
        </p:txBody>
      </p:sp>
    </p:spTree>
    <p:extLst>
      <p:ext uri="{BB962C8B-B14F-4D97-AF65-F5344CB8AC3E}">
        <p14:creationId xmlns:p14="http://schemas.microsoft.com/office/powerpoint/2010/main" val="2778632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0D0FC3-707C-4561-8C34-54CF725D231E}" type="datetimeFigureOut">
              <a:rPr lang="en-US" smtClean="0"/>
              <a:pPr/>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F1D3BC-DD57-477E-8B30-A87510013FC3}" type="slidenum">
              <a:rPr lang="en-US" smtClean="0"/>
              <a:pPr/>
              <a:t>‹#›</a:t>
            </a:fld>
            <a:endParaRPr lang="en-US"/>
          </a:p>
        </p:txBody>
      </p:sp>
    </p:spTree>
    <p:extLst>
      <p:ext uri="{BB962C8B-B14F-4D97-AF65-F5344CB8AC3E}">
        <p14:creationId xmlns:p14="http://schemas.microsoft.com/office/powerpoint/2010/main" val="406946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0D0FC3-707C-4561-8C34-54CF725D231E}"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F1D3BC-DD57-477E-8B30-A87510013FC3}" type="slidenum">
              <a:rPr lang="en-US" smtClean="0"/>
              <a:pPr/>
              <a:t>‹#›</a:t>
            </a:fld>
            <a:endParaRPr lang="en-US"/>
          </a:p>
        </p:txBody>
      </p:sp>
    </p:spTree>
    <p:extLst>
      <p:ext uri="{BB962C8B-B14F-4D97-AF65-F5344CB8AC3E}">
        <p14:creationId xmlns:p14="http://schemas.microsoft.com/office/powerpoint/2010/main" val="39813218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0D0FC3-707C-4561-8C34-54CF725D231E}"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F1D3BC-DD57-477E-8B30-A87510013FC3}" type="slidenum">
              <a:rPr lang="en-US" smtClean="0"/>
              <a:pPr/>
              <a:t>‹#›</a:t>
            </a:fld>
            <a:endParaRPr lang="en-US"/>
          </a:p>
        </p:txBody>
      </p:sp>
    </p:spTree>
    <p:extLst>
      <p:ext uri="{BB962C8B-B14F-4D97-AF65-F5344CB8AC3E}">
        <p14:creationId xmlns:p14="http://schemas.microsoft.com/office/powerpoint/2010/main" val="36346563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0D0FC3-707C-4561-8C34-54CF725D231E}"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F1D3BC-DD57-477E-8B30-A87510013FC3}" type="slidenum">
              <a:rPr lang="en-US" smtClean="0"/>
              <a:pPr/>
              <a:t>‹#›</a:t>
            </a:fld>
            <a:endParaRPr lang="en-US"/>
          </a:p>
        </p:txBody>
      </p:sp>
    </p:spTree>
    <p:extLst>
      <p:ext uri="{BB962C8B-B14F-4D97-AF65-F5344CB8AC3E}">
        <p14:creationId xmlns:p14="http://schemas.microsoft.com/office/powerpoint/2010/main" val="18885589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0D0FC3-707C-4561-8C34-54CF725D231E}"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F1D3BC-DD57-477E-8B30-A87510013FC3}" type="slidenum">
              <a:rPr lang="en-US" smtClean="0"/>
              <a:pPr/>
              <a:t>‹#›</a:t>
            </a:fld>
            <a:endParaRPr lang="en-US"/>
          </a:p>
        </p:txBody>
      </p:sp>
    </p:spTree>
    <p:extLst>
      <p:ext uri="{BB962C8B-B14F-4D97-AF65-F5344CB8AC3E}">
        <p14:creationId xmlns:p14="http://schemas.microsoft.com/office/powerpoint/2010/main" val="2889814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0D0FC3-707C-4561-8C34-54CF725D231E}" type="datetimeFigureOut">
              <a:rPr lang="en-US" smtClean="0"/>
              <a:pPr/>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F1D3BC-DD57-477E-8B30-A87510013FC3}" type="slidenum">
              <a:rPr lang="en-US" smtClean="0"/>
              <a:pPr/>
              <a:t>‹#›</a:t>
            </a:fld>
            <a:endParaRPr lang="en-US"/>
          </a:p>
        </p:txBody>
      </p:sp>
    </p:spTree>
    <p:extLst>
      <p:ext uri="{BB962C8B-B14F-4D97-AF65-F5344CB8AC3E}">
        <p14:creationId xmlns:p14="http://schemas.microsoft.com/office/powerpoint/2010/main" val="36484684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Cardiovascular Physiology</a:t>
            </a:r>
          </a:p>
        </p:txBody>
      </p:sp>
      <p:sp>
        <p:nvSpPr>
          <p:cNvPr id="3" name="Subtitle 2"/>
          <p:cNvSpPr>
            <a:spLocks noGrp="1"/>
          </p:cNvSpPr>
          <p:nvPr>
            <p:ph type="subTitle" idx="1"/>
          </p:nvPr>
        </p:nvSpPr>
        <p:spPr/>
        <p:txBody>
          <a:bodyPr>
            <a:normAutofit/>
          </a:bodyPr>
          <a:lstStyle/>
          <a:p>
            <a:r>
              <a:rPr lang="en-US" sz="2400" dirty="0">
                <a:solidFill>
                  <a:schemeClr val="tx1"/>
                </a:solidFill>
              </a:rPr>
              <a:t>Caroline Palmer, MPAS, PA-C</a:t>
            </a:r>
          </a:p>
          <a:p>
            <a:r>
              <a:rPr lang="en-US" sz="2400" dirty="0">
                <a:solidFill>
                  <a:schemeClr val="tx1"/>
                </a:solidFill>
              </a:rPr>
              <a:t>Assistant Professor</a:t>
            </a:r>
          </a:p>
          <a:p>
            <a:r>
              <a:rPr lang="en-US" sz="2400" dirty="0">
                <a:solidFill>
                  <a:schemeClr val="tx1"/>
                </a:solidFill>
              </a:rPr>
              <a:t>Physician Assistant Department</a:t>
            </a:r>
          </a:p>
        </p:txBody>
      </p:sp>
    </p:spTree>
    <p:extLst>
      <p:ext uri="{BB962C8B-B14F-4D97-AF65-F5344CB8AC3E}">
        <p14:creationId xmlns:p14="http://schemas.microsoft.com/office/powerpoint/2010/main" val="419850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Organization of the Circulatory System</a:t>
            </a:r>
          </a:p>
        </p:txBody>
      </p:sp>
      <p:sp>
        <p:nvSpPr>
          <p:cNvPr id="3" name="Content Placeholder 2"/>
          <p:cNvSpPr>
            <a:spLocks noGrp="1"/>
          </p:cNvSpPr>
          <p:nvPr>
            <p:ph idx="1"/>
          </p:nvPr>
        </p:nvSpPr>
        <p:spPr>
          <a:xfrm>
            <a:off x="457200" y="1600200"/>
            <a:ext cx="8229600" cy="5105400"/>
          </a:xfrm>
        </p:spPr>
        <p:txBody>
          <a:bodyPr>
            <a:normAutofit/>
          </a:bodyPr>
          <a:lstStyle/>
          <a:p>
            <a:r>
              <a:rPr lang="en-US" dirty="0"/>
              <a:t>Pulmonary circulation </a:t>
            </a:r>
          </a:p>
          <a:p>
            <a:pPr lvl="1"/>
            <a:r>
              <a:rPr lang="en-US" dirty="0"/>
              <a:t>Right side of heart &amp; pulmonary vessels (arteries, capillaries, &amp; veins)</a:t>
            </a:r>
          </a:p>
          <a:p>
            <a:pPr lvl="1"/>
            <a:r>
              <a:rPr lang="en-US" dirty="0"/>
              <a:t>Smaller of two circulations, lower pressures allow blood to move slowly through lungs to improve gaseous exchange</a:t>
            </a:r>
          </a:p>
          <a:p>
            <a:r>
              <a:rPr lang="en-US" dirty="0"/>
              <a:t>Systemic circulation </a:t>
            </a:r>
          </a:p>
          <a:p>
            <a:pPr lvl="1"/>
            <a:r>
              <a:rPr lang="en-US" dirty="0"/>
              <a:t>Left side of heart &amp; peripheral vessels &amp; lymphatic system</a:t>
            </a:r>
          </a:p>
          <a:p>
            <a:pPr lvl="1"/>
            <a:r>
              <a:rPr lang="en-US" dirty="0"/>
              <a:t>Larger of two circulations and higher pressures </a:t>
            </a:r>
          </a:p>
        </p:txBody>
      </p:sp>
    </p:spTree>
    <p:extLst>
      <p:ext uri="{BB962C8B-B14F-4D97-AF65-F5344CB8AC3E}">
        <p14:creationId xmlns:p14="http://schemas.microsoft.com/office/powerpoint/2010/main" val="3107242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39EB4-3694-4CE1-96D7-42766EFC88B4}"/>
              </a:ext>
            </a:extLst>
          </p:cNvPr>
          <p:cNvSpPr>
            <a:spLocks noGrp="1"/>
          </p:cNvSpPr>
          <p:nvPr>
            <p:ph type="title"/>
          </p:nvPr>
        </p:nvSpPr>
        <p:spPr/>
        <p:txBody>
          <a:bodyPr/>
          <a:lstStyle/>
          <a:p>
            <a:r>
              <a:rPr lang="en-US" dirty="0"/>
              <a:t>Central vs Peripheral</a:t>
            </a:r>
          </a:p>
        </p:txBody>
      </p:sp>
      <p:sp>
        <p:nvSpPr>
          <p:cNvPr id="3" name="Content Placeholder 2">
            <a:extLst>
              <a:ext uri="{FF2B5EF4-FFF2-40B4-BE49-F238E27FC236}">
                <a16:creationId xmlns:a16="http://schemas.microsoft.com/office/drawing/2014/main" id="{36E203A5-A5A3-45B3-8428-06E670F922DA}"/>
              </a:ext>
            </a:extLst>
          </p:cNvPr>
          <p:cNvSpPr>
            <a:spLocks noGrp="1"/>
          </p:cNvSpPr>
          <p:nvPr>
            <p:ph idx="1"/>
          </p:nvPr>
        </p:nvSpPr>
        <p:spPr/>
        <p:txBody>
          <a:bodyPr/>
          <a:lstStyle/>
          <a:p>
            <a:r>
              <a:rPr lang="en-US" dirty="0"/>
              <a:t>Blood in the heart and pulmonary circulation is called </a:t>
            </a:r>
            <a:r>
              <a:rPr lang="en-US" i="1" dirty="0"/>
              <a:t>Central Circulation.</a:t>
            </a:r>
          </a:p>
          <a:p>
            <a:r>
              <a:rPr lang="en-US" dirty="0"/>
              <a:t>Blood outside of the </a:t>
            </a:r>
            <a:r>
              <a:rPr lang="en-US" i="1" dirty="0"/>
              <a:t>central circulation</a:t>
            </a:r>
            <a:r>
              <a:rPr lang="en-US" dirty="0"/>
              <a:t> is called </a:t>
            </a:r>
            <a:r>
              <a:rPr lang="en-US" i="1" dirty="0"/>
              <a:t>Peripheral Circulation. </a:t>
            </a:r>
            <a:r>
              <a:rPr lang="en-US" dirty="0"/>
              <a:t>This is mainly peripheral blood vessels and lymphatic vessels.</a:t>
            </a:r>
          </a:p>
        </p:txBody>
      </p:sp>
    </p:spTree>
    <p:extLst>
      <p:ext uri="{BB962C8B-B14F-4D97-AF65-F5344CB8AC3E}">
        <p14:creationId xmlns:p14="http://schemas.microsoft.com/office/powerpoint/2010/main" val="32322867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Organization of the Circulatory System</a:t>
            </a:r>
          </a:p>
        </p:txBody>
      </p:sp>
      <p:pic>
        <p:nvPicPr>
          <p:cNvPr id="4" name="Content Placeholder 3"/>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23450" t="36153" r="61111" b="8877"/>
          <a:stretch/>
        </p:blipFill>
        <p:spPr>
          <a:xfrm>
            <a:off x="2895600" y="1524000"/>
            <a:ext cx="3352800" cy="4775200"/>
          </a:xfrm>
        </p:spPr>
      </p:pic>
    </p:spTree>
    <p:extLst>
      <p:ext uri="{BB962C8B-B14F-4D97-AF65-F5344CB8AC3E}">
        <p14:creationId xmlns:p14="http://schemas.microsoft.com/office/powerpoint/2010/main" val="20994079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Organization of the Circulatory System</a:t>
            </a:r>
          </a:p>
        </p:txBody>
      </p:sp>
      <p:sp>
        <p:nvSpPr>
          <p:cNvPr id="3" name="Content Placeholder 2"/>
          <p:cNvSpPr>
            <a:spLocks noGrp="1"/>
          </p:cNvSpPr>
          <p:nvPr>
            <p:ph idx="1"/>
          </p:nvPr>
        </p:nvSpPr>
        <p:spPr/>
        <p:txBody>
          <a:bodyPr>
            <a:normAutofit lnSpcReduction="10000"/>
          </a:bodyPr>
          <a:lstStyle/>
          <a:p>
            <a:r>
              <a:rPr lang="en-US" dirty="0"/>
              <a:t>Right Heart – pumps blood thru gas exchange into vessels in lungs</a:t>
            </a:r>
          </a:p>
          <a:p>
            <a:r>
              <a:rPr lang="en-US" dirty="0"/>
              <a:t>Left heart – pumps blood to rest of body</a:t>
            </a:r>
          </a:p>
          <a:p>
            <a:r>
              <a:rPr lang="en-US" dirty="0"/>
              <a:t>Atria – upper </a:t>
            </a:r>
            <a:r>
              <a:rPr lang="en-US" u="sng" dirty="0"/>
              <a:t>receiving</a:t>
            </a:r>
            <a:r>
              <a:rPr lang="en-US" dirty="0"/>
              <a:t> chambers; assist filling of ventricles; right receives from body &amp; heart, pumps to right ventricle; left receives from pulmonary circuit; pumps to left ventricle</a:t>
            </a:r>
          </a:p>
          <a:p>
            <a:r>
              <a:rPr lang="en-US" dirty="0"/>
              <a:t>Ventricles – lower </a:t>
            </a:r>
            <a:r>
              <a:rPr lang="en-US" u="sng" dirty="0"/>
              <a:t>pumping</a:t>
            </a:r>
            <a:r>
              <a:rPr lang="en-US" dirty="0"/>
              <a:t> chambers; right pumps to lungs; left pumps to body</a:t>
            </a:r>
          </a:p>
        </p:txBody>
      </p:sp>
    </p:spTree>
    <p:extLst>
      <p:ext uri="{BB962C8B-B14F-4D97-AF65-F5344CB8AC3E}">
        <p14:creationId xmlns:p14="http://schemas.microsoft.com/office/powerpoint/2010/main" val="3322026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Principles of Blood Flow </a:t>
            </a:r>
            <a:br>
              <a:rPr lang="en-US" dirty="0"/>
            </a:br>
            <a:r>
              <a:rPr lang="en-US" sz="2000" dirty="0"/>
              <a:t>(</a:t>
            </a:r>
            <a:r>
              <a:rPr lang="en-US" sz="2000" i="1" dirty="0"/>
              <a:t>Hemodynamics)</a:t>
            </a:r>
            <a:endParaRPr lang="en-US" dirty="0"/>
          </a:p>
        </p:txBody>
      </p:sp>
      <p:sp>
        <p:nvSpPr>
          <p:cNvPr id="3" name="Content Placeholder 2"/>
          <p:cNvSpPr>
            <a:spLocks noGrp="1"/>
          </p:cNvSpPr>
          <p:nvPr>
            <p:ph idx="1"/>
          </p:nvPr>
        </p:nvSpPr>
        <p:spPr/>
        <p:txBody>
          <a:bodyPr/>
          <a:lstStyle/>
          <a:p>
            <a:r>
              <a:rPr lang="en-US" dirty="0"/>
              <a:t>Pressure, Resistance, &amp; Flow</a:t>
            </a:r>
          </a:p>
          <a:p>
            <a:r>
              <a:rPr lang="en-US" dirty="0"/>
              <a:t>Laminar vs. Turbulent Flow</a:t>
            </a:r>
          </a:p>
          <a:p>
            <a:r>
              <a:rPr lang="en-US" dirty="0"/>
              <a:t>Wall tension, Radius &amp; Pressure</a:t>
            </a:r>
          </a:p>
          <a:p>
            <a:r>
              <a:rPr lang="en-US" dirty="0"/>
              <a:t>Distensibility &amp; Compliance</a:t>
            </a:r>
          </a:p>
        </p:txBody>
      </p:sp>
    </p:spTree>
    <p:extLst>
      <p:ext uri="{BB962C8B-B14F-4D97-AF65-F5344CB8AC3E}">
        <p14:creationId xmlns:p14="http://schemas.microsoft.com/office/powerpoint/2010/main" val="222668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pPr marL="342900" lvl="0" indent="-342900">
              <a:spcBef>
                <a:spcPct val="20000"/>
              </a:spcBef>
            </a:pPr>
            <a:r>
              <a:rPr lang="en-US" dirty="0">
                <a:solidFill>
                  <a:prstClr val="black"/>
                </a:solidFill>
              </a:rPr>
              <a:t>Pressure, Resistance, &amp; Flow</a:t>
            </a:r>
            <a:endParaRPr lang="en-US" dirty="0"/>
          </a:p>
        </p:txBody>
      </p:sp>
      <p:sp>
        <p:nvSpPr>
          <p:cNvPr id="3" name="Content Placeholder 2"/>
          <p:cNvSpPr>
            <a:spLocks noGrp="1"/>
          </p:cNvSpPr>
          <p:nvPr>
            <p:ph idx="1"/>
          </p:nvPr>
        </p:nvSpPr>
        <p:spPr>
          <a:xfrm>
            <a:off x="457200" y="1524000"/>
            <a:ext cx="8305800" cy="5181600"/>
          </a:xfrm>
        </p:spPr>
        <p:txBody>
          <a:bodyPr>
            <a:normAutofit fontScale="85000" lnSpcReduction="10000"/>
          </a:bodyPr>
          <a:lstStyle/>
          <a:p>
            <a:r>
              <a:rPr lang="en-US" u="sng" dirty="0"/>
              <a:t>Flow</a:t>
            </a:r>
            <a:r>
              <a:rPr lang="en-US" dirty="0"/>
              <a:t>, a volume measurement, determined by difference of pressure at each end of a vessel or group of vessels.</a:t>
            </a:r>
          </a:p>
          <a:p>
            <a:r>
              <a:rPr lang="en-US" u="sng" dirty="0"/>
              <a:t>Resistance</a:t>
            </a:r>
            <a:r>
              <a:rPr lang="en-US" dirty="0"/>
              <a:t> is opposition to that flow; caused by friction between blood components and vessel walls. Blood viscosity is part of resistance.</a:t>
            </a:r>
          </a:p>
          <a:p>
            <a:pPr lvl="1"/>
            <a:r>
              <a:rPr lang="en-US" dirty="0"/>
              <a:t>Resistance of all vessels combined is termed </a:t>
            </a:r>
            <a:r>
              <a:rPr lang="en-US" i="1" dirty="0"/>
              <a:t>Peripheral Vascular Resistance </a:t>
            </a:r>
            <a:r>
              <a:rPr lang="en-US" dirty="0"/>
              <a:t>or </a:t>
            </a:r>
            <a:r>
              <a:rPr lang="en-US" i="1" dirty="0"/>
              <a:t>Systemic Vascular Resistance.</a:t>
            </a:r>
          </a:p>
          <a:p>
            <a:r>
              <a:rPr lang="en-US" u="sng" dirty="0"/>
              <a:t>Pressure</a:t>
            </a:r>
            <a:r>
              <a:rPr lang="en-US" dirty="0"/>
              <a:t> is determined by force from behind and against the vessel walls by the blood volume</a:t>
            </a:r>
          </a:p>
          <a:p>
            <a:pPr marL="0" indent="0">
              <a:buNone/>
            </a:pPr>
            <a:endParaRPr lang="en-US" dirty="0"/>
          </a:p>
          <a:p>
            <a:r>
              <a:rPr lang="en-US" dirty="0"/>
              <a:t>Flow = </a:t>
            </a:r>
            <a:r>
              <a:rPr lang="en-US" u="sng" dirty="0"/>
              <a:t>Change in pressure</a:t>
            </a:r>
          </a:p>
          <a:p>
            <a:pPr marL="0" indent="0">
              <a:buNone/>
            </a:pPr>
            <a:r>
              <a:rPr lang="en-US" dirty="0"/>
              <a:t>                    Resistance</a:t>
            </a:r>
          </a:p>
        </p:txBody>
      </p:sp>
    </p:spTree>
    <p:extLst>
      <p:ext uri="{BB962C8B-B14F-4D97-AF65-F5344CB8AC3E}">
        <p14:creationId xmlns:p14="http://schemas.microsoft.com/office/powerpoint/2010/main" val="39416396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Laminar vs. Turbulent Flow</a:t>
            </a:r>
          </a:p>
        </p:txBody>
      </p:sp>
      <p:sp>
        <p:nvSpPr>
          <p:cNvPr id="3" name="Content Placeholder 2"/>
          <p:cNvSpPr>
            <a:spLocks noGrp="1"/>
          </p:cNvSpPr>
          <p:nvPr>
            <p:ph idx="1"/>
          </p:nvPr>
        </p:nvSpPr>
        <p:spPr>
          <a:xfrm>
            <a:off x="457200" y="1371600"/>
            <a:ext cx="8229600" cy="5105400"/>
          </a:xfrm>
        </p:spPr>
        <p:txBody>
          <a:bodyPr>
            <a:normAutofit fontScale="85000" lnSpcReduction="20000"/>
          </a:bodyPr>
          <a:lstStyle/>
          <a:p>
            <a:r>
              <a:rPr lang="en-US" b="1" dirty="0"/>
              <a:t>Laminar flow </a:t>
            </a:r>
            <a:r>
              <a:rPr lang="en-US" dirty="0"/>
              <a:t>is smooth or </a:t>
            </a:r>
            <a:r>
              <a:rPr lang="en-US" i="1" dirty="0"/>
              <a:t>streamlined</a:t>
            </a:r>
            <a:r>
              <a:rPr lang="en-US" dirty="0"/>
              <a:t> flow which requires less pressure to move forward</a:t>
            </a:r>
          </a:p>
          <a:p>
            <a:r>
              <a:rPr lang="en-US" b="1" dirty="0"/>
              <a:t>Turbulent flow </a:t>
            </a:r>
            <a:r>
              <a:rPr lang="en-US" dirty="0"/>
              <a:t>creates a movement of flow in all directions and requires greater pressure to move forward.</a:t>
            </a:r>
          </a:p>
          <a:p>
            <a:r>
              <a:rPr lang="en-US" dirty="0"/>
              <a:t>Atherosclerotic plaque disrupts the smooth vessel lining creating a turbulent flow and thus raises pressure in order to move blood forward</a:t>
            </a:r>
          </a:p>
          <a:p>
            <a:r>
              <a:rPr lang="en-US" dirty="0"/>
              <a:t>Higher viscosity (friction between molecules of a flowing fluid) also creates increased turbulence</a:t>
            </a:r>
          </a:p>
          <a:p>
            <a:r>
              <a:rPr lang="en-US" dirty="0"/>
              <a:t>Heart murmurs result from turbulent blood flow through a diseased heart valve. The turbulence of the flow is what you perceive as the sound of a murmur</a:t>
            </a:r>
          </a:p>
        </p:txBody>
      </p:sp>
    </p:spTree>
    <p:extLst>
      <p:ext uri="{BB962C8B-B14F-4D97-AF65-F5344CB8AC3E}">
        <p14:creationId xmlns:p14="http://schemas.microsoft.com/office/powerpoint/2010/main" val="20513343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Laminar vs. Turbulent Flow</a:t>
            </a:r>
          </a:p>
        </p:txBody>
      </p:sp>
      <p:pic>
        <p:nvPicPr>
          <p:cNvPr id="6" name="Content Placeholder 5"/>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29298" t="32644" r="60526" b="48643"/>
          <a:stretch/>
        </p:blipFill>
        <p:spPr>
          <a:xfrm>
            <a:off x="2362200" y="2133600"/>
            <a:ext cx="4350536" cy="3200400"/>
          </a:xfrm>
        </p:spPr>
      </p:pic>
      <p:sp>
        <p:nvSpPr>
          <p:cNvPr id="7" name="Rectangle 6"/>
          <p:cNvSpPr/>
          <p:nvPr/>
        </p:nvSpPr>
        <p:spPr>
          <a:xfrm>
            <a:off x="2895600" y="2362200"/>
            <a:ext cx="7620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2905225" y="3962400"/>
            <a:ext cx="7620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2895600" y="2362200"/>
            <a:ext cx="1219200" cy="276999"/>
          </a:xfrm>
          <a:prstGeom prst="rect">
            <a:avLst/>
          </a:prstGeom>
          <a:noFill/>
        </p:spPr>
        <p:txBody>
          <a:bodyPr wrap="square" rtlCol="0">
            <a:spAutoFit/>
          </a:bodyPr>
          <a:lstStyle/>
          <a:p>
            <a:r>
              <a:rPr lang="en-US" sz="1200" dirty="0"/>
              <a:t>Laminar Flow</a:t>
            </a:r>
          </a:p>
        </p:txBody>
      </p:sp>
      <p:sp>
        <p:nvSpPr>
          <p:cNvPr id="10" name="TextBox 9"/>
          <p:cNvSpPr txBox="1"/>
          <p:nvPr/>
        </p:nvSpPr>
        <p:spPr>
          <a:xfrm>
            <a:off x="2905225" y="3886200"/>
            <a:ext cx="1209575" cy="276999"/>
          </a:xfrm>
          <a:prstGeom prst="rect">
            <a:avLst/>
          </a:prstGeom>
          <a:noFill/>
        </p:spPr>
        <p:txBody>
          <a:bodyPr wrap="square" rtlCol="0">
            <a:spAutoFit/>
          </a:bodyPr>
          <a:lstStyle/>
          <a:p>
            <a:r>
              <a:rPr lang="en-US" sz="1200" dirty="0"/>
              <a:t>Turbulent Flow</a:t>
            </a:r>
          </a:p>
        </p:txBody>
      </p:sp>
    </p:spTree>
    <p:extLst>
      <p:ext uri="{BB962C8B-B14F-4D97-AF65-F5344CB8AC3E}">
        <p14:creationId xmlns:p14="http://schemas.microsoft.com/office/powerpoint/2010/main" val="372737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Wall Tension, Radius &amp; Pressure</a:t>
            </a:r>
          </a:p>
        </p:txBody>
      </p:sp>
      <p:sp>
        <p:nvSpPr>
          <p:cNvPr id="3" name="Content Placeholder 2"/>
          <p:cNvSpPr>
            <a:spLocks noGrp="1"/>
          </p:cNvSpPr>
          <p:nvPr>
            <p:ph idx="1"/>
          </p:nvPr>
        </p:nvSpPr>
        <p:spPr/>
        <p:txBody>
          <a:bodyPr/>
          <a:lstStyle/>
          <a:p>
            <a:r>
              <a:rPr lang="en-US" dirty="0"/>
              <a:t>Wall tension = force in vessel wall that opposes distending pressure inside.</a:t>
            </a:r>
          </a:p>
          <a:p>
            <a:r>
              <a:rPr lang="en-US" dirty="0"/>
              <a:t>Pressure inside vessel MUST be higher than wall tension pressure of vessel wall or it will collapse. This is called </a:t>
            </a:r>
            <a:r>
              <a:rPr lang="en-US" i="1" dirty="0"/>
              <a:t>critical closing pressure</a:t>
            </a:r>
            <a:r>
              <a:rPr lang="en-US" dirty="0"/>
              <a:t>.</a:t>
            </a:r>
          </a:p>
          <a:p>
            <a:r>
              <a:rPr lang="en-US" dirty="0"/>
              <a:t>Circulatory shock - pressure drops in small vessels to the point of “critical closing pressure” and perfusion of tissues lessens.</a:t>
            </a:r>
          </a:p>
        </p:txBody>
      </p:sp>
    </p:spTree>
    <p:extLst>
      <p:ext uri="{BB962C8B-B14F-4D97-AF65-F5344CB8AC3E}">
        <p14:creationId xmlns:p14="http://schemas.microsoft.com/office/powerpoint/2010/main" val="10498165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Distensibility &amp; Compliance</a:t>
            </a:r>
          </a:p>
        </p:txBody>
      </p:sp>
      <p:sp>
        <p:nvSpPr>
          <p:cNvPr id="3" name="Content Placeholder 2"/>
          <p:cNvSpPr>
            <a:spLocks noGrp="1"/>
          </p:cNvSpPr>
          <p:nvPr>
            <p:ph idx="1"/>
          </p:nvPr>
        </p:nvSpPr>
        <p:spPr>
          <a:xfrm>
            <a:off x="457200" y="1600200"/>
            <a:ext cx="8229600" cy="5029200"/>
          </a:xfrm>
        </p:spPr>
        <p:txBody>
          <a:bodyPr>
            <a:normAutofit fontScale="92500" lnSpcReduction="20000"/>
          </a:bodyPr>
          <a:lstStyle/>
          <a:p>
            <a:r>
              <a:rPr lang="en-US" i="1" dirty="0"/>
              <a:t>Distensibility</a:t>
            </a:r>
            <a:r>
              <a:rPr lang="en-US" dirty="0"/>
              <a:t> = ability of vessel to be stretched and accommodate increase in volume of blood</a:t>
            </a:r>
          </a:p>
          <a:p>
            <a:r>
              <a:rPr lang="en-US" i="1" dirty="0"/>
              <a:t>Compliance</a:t>
            </a:r>
            <a:r>
              <a:rPr lang="en-US" dirty="0"/>
              <a:t> = total quantity of blood that can be stored in a given portion of the circulation for each millimeter mercury rise in pressure</a:t>
            </a:r>
          </a:p>
          <a:p>
            <a:pPr marL="0" indent="0">
              <a:buNone/>
            </a:pPr>
            <a:endParaRPr lang="en-US" dirty="0"/>
          </a:p>
          <a:p>
            <a:r>
              <a:rPr lang="en-US" dirty="0"/>
              <a:t>Compliance = </a:t>
            </a:r>
            <a:r>
              <a:rPr lang="en-US" u="sng" dirty="0"/>
              <a:t>Change in volume</a:t>
            </a:r>
          </a:p>
          <a:p>
            <a:pPr marL="0" indent="0">
              <a:buNone/>
            </a:pPr>
            <a:r>
              <a:rPr lang="en-US" dirty="0"/>
              <a:t>                              Change in pressure</a:t>
            </a:r>
          </a:p>
          <a:p>
            <a:pPr marL="0" indent="0">
              <a:buNone/>
            </a:pPr>
            <a:endParaRPr lang="en-US" dirty="0"/>
          </a:p>
          <a:p>
            <a:r>
              <a:rPr lang="en-US" dirty="0"/>
              <a:t>The higher the compliance of a structure, the more easily it can be stretched</a:t>
            </a:r>
          </a:p>
        </p:txBody>
      </p:sp>
    </p:spTree>
    <p:extLst>
      <p:ext uri="{BB962C8B-B14F-4D97-AF65-F5344CB8AC3E}">
        <p14:creationId xmlns:p14="http://schemas.microsoft.com/office/powerpoint/2010/main" val="3604312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D6FF2-9FF2-410C-94F3-8D2A4307B951}"/>
              </a:ext>
            </a:extLst>
          </p:cNvPr>
          <p:cNvSpPr>
            <a:spLocks noGrp="1"/>
          </p:cNvSpPr>
          <p:nvPr>
            <p:ph type="title"/>
          </p:nvPr>
        </p:nvSpPr>
        <p:spPr/>
        <p:txBody>
          <a:bodyPr/>
          <a:lstStyle/>
          <a:p>
            <a:r>
              <a:rPr lang="en-US" dirty="0"/>
              <a:t>Distensibility and Compliance</a:t>
            </a:r>
          </a:p>
        </p:txBody>
      </p:sp>
      <p:sp>
        <p:nvSpPr>
          <p:cNvPr id="3" name="Content Placeholder 2">
            <a:extLst>
              <a:ext uri="{FF2B5EF4-FFF2-40B4-BE49-F238E27FC236}">
                <a16:creationId xmlns:a16="http://schemas.microsoft.com/office/drawing/2014/main" id="{F7B5283D-4C75-4D1B-9B5C-9945D122D8E6}"/>
              </a:ext>
            </a:extLst>
          </p:cNvPr>
          <p:cNvSpPr>
            <a:spLocks noGrp="1"/>
          </p:cNvSpPr>
          <p:nvPr>
            <p:ph idx="1"/>
          </p:nvPr>
        </p:nvSpPr>
        <p:spPr>
          <a:xfrm>
            <a:off x="457200" y="1600200"/>
            <a:ext cx="8229600" cy="4983162"/>
          </a:xfrm>
        </p:spPr>
        <p:txBody>
          <a:bodyPr>
            <a:normAutofit fontScale="85000" lnSpcReduction="20000"/>
          </a:bodyPr>
          <a:lstStyle/>
          <a:p>
            <a:r>
              <a:rPr lang="en-US" dirty="0"/>
              <a:t>Contraction of ventricles ejects blood into the pulmonary and systemic arteries during systole</a:t>
            </a:r>
          </a:p>
          <a:p>
            <a:r>
              <a:rPr lang="en-US" dirty="0"/>
              <a:t>If there was an equal quantity of blood flow, the volume of blood in the arteries would remain constant and arterial pressure would not change</a:t>
            </a:r>
          </a:p>
          <a:p>
            <a:pPr lvl="1"/>
            <a:r>
              <a:rPr lang="en-US" dirty="0"/>
              <a:t>Only a 1/3 of stroke volume leaves the arteries and the rest remains during systole which distends them and increases the pressure </a:t>
            </a:r>
          </a:p>
          <a:p>
            <a:pPr lvl="1"/>
            <a:r>
              <a:rPr lang="en-US" dirty="0"/>
              <a:t>When ventricular contraction ends, the stretched arterial walls recoil and blood continues to be driven into the arterioles during diastole </a:t>
            </a:r>
          </a:p>
          <a:p>
            <a:pPr lvl="1"/>
            <a:r>
              <a:rPr lang="en-US" dirty="0"/>
              <a:t>As blood leaves the arteries, the arterial volume and pressure slowly fall but the next ventricular contraction occurs,  so pressure does not fall to 0</a:t>
            </a:r>
          </a:p>
          <a:p>
            <a:endParaRPr lang="en-US" dirty="0"/>
          </a:p>
        </p:txBody>
      </p:sp>
    </p:spTree>
    <p:extLst>
      <p:ext uri="{BB962C8B-B14F-4D97-AF65-F5344CB8AC3E}">
        <p14:creationId xmlns:p14="http://schemas.microsoft.com/office/powerpoint/2010/main" val="11650195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Heart as a “Pump”</a:t>
            </a:r>
          </a:p>
        </p:txBody>
      </p:sp>
      <p:sp>
        <p:nvSpPr>
          <p:cNvPr id="3" name="Content Placeholder 2"/>
          <p:cNvSpPr>
            <a:spLocks noGrp="1"/>
          </p:cNvSpPr>
          <p:nvPr>
            <p:ph idx="1"/>
          </p:nvPr>
        </p:nvSpPr>
        <p:spPr>
          <a:xfrm>
            <a:off x="457200" y="1600200"/>
            <a:ext cx="8229600" cy="5181600"/>
          </a:xfrm>
        </p:spPr>
        <p:txBody>
          <a:bodyPr>
            <a:normAutofit fontScale="77500" lnSpcReduction="20000"/>
          </a:bodyPr>
          <a:lstStyle/>
          <a:p>
            <a:r>
              <a:rPr lang="en-US" dirty="0"/>
              <a:t>Pericardium </a:t>
            </a:r>
          </a:p>
          <a:p>
            <a:pPr lvl="1"/>
            <a:r>
              <a:rPr lang="en-US" dirty="0"/>
              <a:t>Sac surrounding heart that protects it from rubbing on external structures</a:t>
            </a:r>
          </a:p>
          <a:p>
            <a:pPr lvl="1"/>
            <a:r>
              <a:rPr lang="en-US" dirty="0"/>
              <a:t>Anchors heart &amp; large vessels to diaphragm and mediastinum</a:t>
            </a:r>
          </a:p>
          <a:p>
            <a:pPr lvl="1"/>
            <a:r>
              <a:rPr lang="en-US" dirty="0"/>
              <a:t>Fibrous layer and serous layer</a:t>
            </a:r>
          </a:p>
          <a:p>
            <a:pPr lvl="1"/>
            <a:r>
              <a:rPr lang="en-US" dirty="0"/>
              <a:t>Narrow space between the parietal and visceral layer of pericardium filled with fluid that helps lubricate as heart moves</a:t>
            </a:r>
          </a:p>
          <a:p>
            <a:pPr marL="457200" lvl="1" indent="0">
              <a:buNone/>
            </a:pPr>
            <a:endParaRPr lang="en-US" dirty="0"/>
          </a:p>
          <a:p>
            <a:r>
              <a:rPr lang="en-US" dirty="0"/>
              <a:t>Epicardium</a:t>
            </a:r>
          </a:p>
          <a:p>
            <a:pPr lvl="1"/>
            <a:r>
              <a:rPr lang="en-US" dirty="0"/>
              <a:t>Membrane closely affixed to the heart</a:t>
            </a:r>
          </a:p>
          <a:p>
            <a:pPr marL="457200" lvl="1" indent="0">
              <a:buNone/>
            </a:pPr>
            <a:endParaRPr lang="en-US" dirty="0"/>
          </a:p>
          <a:p>
            <a:r>
              <a:rPr lang="en-US" dirty="0"/>
              <a:t>Endocardium</a:t>
            </a:r>
          </a:p>
          <a:p>
            <a:pPr lvl="1"/>
            <a:r>
              <a:rPr lang="en-US" dirty="0"/>
              <a:t>Thin layer of cells that line chambers of heart and is continuous with endothelium of blood vessels</a:t>
            </a:r>
          </a:p>
          <a:p>
            <a:pPr lvl="1"/>
            <a:r>
              <a:rPr lang="en-US" dirty="0"/>
              <a:t> Reduces friction and hence, turbulence</a:t>
            </a:r>
          </a:p>
        </p:txBody>
      </p:sp>
    </p:spTree>
    <p:extLst>
      <p:ext uri="{BB962C8B-B14F-4D97-AF65-F5344CB8AC3E}">
        <p14:creationId xmlns:p14="http://schemas.microsoft.com/office/powerpoint/2010/main" val="15441995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Heart as a “Pump”</a:t>
            </a:r>
          </a:p>
        </p:txBody>
      </p:sp>
      <p:sp>
        <p:nvSpPr>
          <p:cNvPr id="3" name="Content Placeholder 2"/>
          <p:cNvSpPr>
            <a:spLocks noGrp="1"/>
          </p:cNvSpPr>
          <p:nvPr>
            <p:ph idx="1"/>
          </p:nvPr>
        </p:nvSpPr>
        <p:spPr/>
        <p:txBody>
          <a:bodyPr>
            <a:normAutofit lnSpcReduction="10000"/>
          </a:bodyPr>
          <a:lstStyle/>
          <a:p>
            <a:pPr lvl="0"/>
            <a:r>
              <a:rPr lang="en-US" sz="2900" dirty="0">
                <a:solidFill>
                  <a:prstClr val="black"/>
                </a:solidFill>
              </a:rPr>
              <a:t>Myocardium </a:t>
            </a:r>
          </a:p>
          <a:p>
            <a:pPr lvl="1"/>
            <a:r>
              <a:rPr lang="en-US" sz="2500" dirty="0">
                <a:solidFill>
                  <a:prstClr val="black"/>
                </a:solidFill>
              </a:rPr>
              <a:t>The muscle layer, thickest in left ventricle for more contraction power</a:t>
            </a:r>
          </a:p>
          <a:p>
            <a:pPr lvl="1"/>
            <a:r>
              <a:rPr lang="en-US" sz="2500" dirty="0">
                <a:solidFill>
                  <a:prstClr val="black"/>
                </a:solidFill>
              </a:rPr>
              <a:t>Cardiac muscle combines properties of both skeletal and smooth muscle</a:t>
            </a:r>
          </a:p>
          <a:p>
            <a:pPr lvl="2"/>
            <a:r>
              <a:rPr lang="en-US" sz="2100" dirty="0">
                <a:solidFill>
                  <a:prstClr val="black"/>
                </a:solidFill>
              </a:rPr>
              <a:t>Cells are striated (thick myosin and thin actin filaments)</a:t>
            </a:r>
          </a:p>
          <a:p>
            <a:pPr lvl="1"/>
            <a:r>
              <a:rPr lang="en-US" sz="2500" dirty="0">
                <a:solidFill>
                  <a:prstClr val="black"/>
                </a:solidFill>
              </a:rPr>
              <a:t>Intercalated disks join individual muscle cells to make depolarization faster</a:t>
            </a:r>
          </a:p>
          <a:p>
            <a:pPr lvl="1"/>
            <a:r>
              <a:rPr lang="en-US" sz="2500" dirty="0">
                <a:solidFill>
                  <a:prstClr val="black"/>
                </a:solidFill>
              </a:rPr>
              <a:t>Cells depolarize so as to contract as a unit, squeezing from superior to inferior in atria and inferior to superior in ventricles, thus moving blood efficiently</a:t>
            </a:r>
          </a:p>
        </p:txBody>
      </p:sp>
    </p:spTree>
    <p:extLst>
      <p:ext uri="{BB962C8B-B14F-4D97-AF65-F5344CB8AC3E}">
        <p14:creationId xmlns:p14="http://schemas.microsoft.com/office/powerpoint/2010/main" val="4877943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968D6-5DC4-AE98-5719-9636AA22178C}"/>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3D8B1EEE-AD10-FDF8-C5B3-D210A35DC298}"/>
              </a:ext>
            </a:extLst>
          </p:cNvPr>
          <p:cNvPicPr>
            <a:picLocks noGrp="1" noChangeAspect="1"/>
          </p:cNvPicPr>
          <p:nvPr>
            <p:ph idx="1"/>
          </p:nvPr>
        </p:nvPicPr>
        <p:blipFill>
          <a:blip r:embed="rId2"/>
          <a:stretch>
            <a:fillRect/>
          </a:stretch>
        </p:blipFill>
        <p:spPr>
          <a:xfrm>
            <a:off x="229413" y="1548197"/>
            <a:ext cx="8685174" cy="3761605"/>
          </a:xfrm>
          <a:prstGeom prst="rect">
            <a:avLst/>
          </a:prstGeom>
        </p:spPr>
      </p:pic>
    </p:spTree>
    <p:extLst>
      <p:ext uri="{BB962C8B-B14F-4D97-AF65-F5344CB8AC3E}">
        <p14:creationId xmlns:p14="http://schemas.microsoft.com/office/powerpoint/2010/main" val="31414730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a:t>Cardiac Conducting System</a:t>
            </a:r>
          </a:p>
        </p:txBody>
      </p:sp>
      <p:sp>
        <p:nvSpPr>
          <p:cNvPr id="3" name="Content Placeholder 2"/>
          <p:cNvSpPr>
            <a:spLocks noGrp="1"/>
          </p:cNvSpPr>
          <p:nvPr>
            <p:ph idx="1"/>
          </p:nvPr>
        </p:nvSpPr>
        <p:spPr>
          <a:xfrm>
            <a:off x="457200" y="1219200"/>
            <a:ext cx="8382000" cy="5486400"/>
          </a:xfrm>
        </p:spPr>
        <p:txBody>
          <a:bodyPr>
            <a:normAutofit fontScale="85000" lnSpcReduction="10000"/>
          </a:bodyPr>
          <a:lstStyle/>
          <a:p>
            <a:pPr marL="0" indent="0">
              <a:buNone/>
            </a:pPr>
            <a:endParaRPr lang="en-US" dirty="0"/>
          </a:p>
          <a:p>
            <a:r>
              <a:rPr lang="en-US" dirty="0"/>
              <a:t>The sinoatrial (SA) node “normally” is the initiator of the “pace” or rate of the heart</a:t>
            </a:r>
          </a:p>
          <a:p>
            <a:r>
              <a:rPr lang="en-US" dirty="0"/>
              <a:t>Its depolarization generates the action potential that leads to depolarization of all other cardiac muscle cells</a:t>
            </a:r>
          </a:p>
          <a:p>
            <a:pPr lvl="1"/>
            <a:r>
              <a:rPr lang="en-US" dirty="0"/>
              <a:t>Its discharge rate determines the heart rate</a:t>
            </a:r>
          </a:p>
          <a:p>
            <a:pPr lvl="2"/>
            <a:r>
              <a:rPr lang="en-US" dirty="0"/>
              <a:t>Number of times the heart contracts per minute</a:t>
            </a:r>
          </a:p>
          <a:p>
            <a:r>
              <a:rPr lang="en-US" dirty="0"/>
              <a:t> It depolarizes at a rate of 60 to 100 times per minute (which is faster than other myocardial cells)</a:t>
            </a:r>
          </a:p>
          <a:p>
            <a:r>
              <a:rPr lang="en-US" dirty="0"/>
              <a:t>Impulse from the SA node travels through the internodal pathways in both atria to the Atrioventricular (AV) node, while causing depolarization of the atrial myocardium and thus contraction.</a:t>
            </a:r>
          </a:p>
          <a:p>
            <a:endParaRPr lang="en-US" dirty="0"/>
          </a:p>
        </p:txBody>
      </p:sp>
    </p:spTree>
    <p:extLst>
      <p:ext uri="{BB962C8B-B14F-4D97-AF65-F5344CB8AC3E}">
        <p14:creationId xmlns:p14="http://schemas.microsoft.com/office/powerpoint/2010/main" val="41272037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261"/>
            <a:ext cx="8229600" cy="1143000"/>
          </a:xfrm>
        </p:spPr>
        <p:txBody>
          <a:bodyPr/>
          <a:lstStyle/>
          <a:p>
            <a:r>
              <a:rPr lang="en-US" dirty="0"/>
              <a:t>Cardiac Conducting System</a:t>
            </a:r>
          </a:p>
        </p:txBody>
      </p:sp>
      <p:sp>
        <p:nvSpPr>
          <p:cNvPr id="3" name="Content Placeholder 2"/>
          <p:cNvSpPr>
            <a:spLocks noGrp="1"/>
          </p:cNvSpPr>
          <p:nvPr>
            <p:ph idx="1"/>
          </p:nvPr>
        </p:nvSpPr>
        <p:spPr>
          <a:xfrm>
            <a:off x="457200" y="1600200"/>
            <a:ext cx="8229600" cy="5181600"/>
          </a:xfrm>
        </p:spPr>
        <p:txBody>
          <a:bodyPr>
            <a:noAutofit/>
          </a:bodyPr>
          <a:lstStyle/>
          <a:p>
            <a:r>
              <a:rPr lang="en-US" sz="2800" dirty="0"/>
              <a:t>Within the AV node, atrial fibers connect with junctional fibers of the node itself</a:t>
            </a:r>
          </a:p>
          <a:p>
            <a:r>
              <a:rPr lang="en-US" sz="2800" dirty="0"/>
              <a:t>These connections, the zone surrounding, and the AV node is referred to as the </a:t>
            </a:r>
            <a:r>
              <a:rPr lang="en-US" sz="2800" i="1" dirty="0"/>
              <a:t>AV junctional area</a:t>
            </a:r>
          </a:p>
          <a:p>
            <a:r>
              <a:rPr lang="en-US" sz="2800" dirty="0"/>
              <a:t> Depolarization is very slow through these fibers before arriving at the AV node itself, which also delays the depolarization of the ventricles</a:t>
            </a:r>
          </a:p>
          <a:p>
            <a:r>
              <a:rPr lang="en-US" sz="2800" dirty="0"/>
              <a:t>This allows the atria to complete its depolarization and contraction fully</a:t>
            </a:r>
          </a:p>
        </p:txBody>
      </p:sp>
    </p:spTree>
    <p:extLst>
      <p:ext uri="{BB962C8B-B14F-4D97-AF65-F5344CB8AC3E}">
        <p14:creationId xmlns:p14="http://schemas.microsoft.com/office/powerpoint/2010/main" val="40685350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Cardiac Conducting System</a:t>
            </a:r>
          </a:p>
        </p:txBody>
      </p:sp>
      <p:sp>
        <p:nvSpPr>
          <p:cNvPr id="3" name="Content Placeholder 2"/>
          <p:cNvSpPr>
            <a:spLocks noGrp="1"/>
          </p:cNvSpPr>
          <p:nvPr>
            <p:ph idx="1"/>
          </p:nvPr>
        </p:nvSpPr>
        <p:spPr/>
        <p:txBody>
          <a:bodyPr/>
          <a:lstStyle/>
          <a:p>
            <a:r>
              <a:rPr lang="en-US" dirty="0"/>
              <a:t>As depolarization continues, it passes through the AV node into the AV bundle (</a:t>
            </a:r>
            <a:r>
              <a:rPr lang="en-US" i="1" dirty="0"/>
              <a:t>Bundle of His</a:t>
            </a:r>
            <a:r>
              <a:rPr lang="en-US" dirty="0"/>
              <a:t>) and down the right and left bundle branches in the respective ventricular septal walls to the Purkinje fibers in the ventricular walls.</a:t>
            </a:r>
          </a:p>
          <a:p>
            <a:r>
              <a:rPr lang="en-US" dirty="0"/>
              <a:t> From here depolarization of the ventricles begins and contraction progresses from the apex toward the base. </a:t>
            </a:r>
          </a:p>
          <a:p>
            <a:pPr marL="0" indent="0">
              <a:buNone/>
            </a:pPr>
            <a:endParaRPr lang="en-US" dirty="0"/>
          </a:p>
        </p:txBody>
      </p:sp>
    </p:spTree>
    <p:extLst>
      <p:ext uri="{BB962C8B-B14F-4D97-AF65-F5344CB8AC3E}">
        <p14:creationId xmlns:p14="http://schemas.microsoft.com/office/powerpoint/2010/main" val="31496716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Cardiac Conducting System</a:t>
            </a:r>
          </a:p>
        </p:txBody>
      </p:sp>
      <p:sp>
        <p:nvSpPr>
          <p:cNvPr id="3" name="Content Placeholder 2"/>
          <p:cNvSpPr>
            <a:spLocks noGrp="1"/>
          </p:cNvSpPr>
          <p:nvPr>
            <p:ph idx="1"/>
          </p:nvPr>
        </p:nvSpPr>
        <p:spPr/>
        <p:txBody>
          <a:bodyPr/>
          <a:lstStyle/>
          <a:p>
            <a:r>
              <a:rPr lang="en-US" dirty="0"/>
              <a:t>If SA node does not fire, AV node CAN fire on its own BUT at its internal rate </a:t>
            </a:r>
            <a:r>
              <a:rPr lang="en-US"/>
              <a:t>of 40 to 60 </a:t>
            </a:r>
            <a:r>
              <a:rPr lang="en-US" dirty="0"/>
              <a:t>times per minute</a:t>
            </a:r>
          </a:p>
          <a:p>
            <a:r>
              <a:rPr lang="en-US" dirty="0"/>
              <a:t>If there is a problem with the AV node not firing, the Purkinje fibers themselves can fire, but at a rate between 15 and 40 per minute. </a:t>
            </a:r>
          </a:p>
          <a:p>
            <a:r>
              <a:rPr lang="en-US" dirty="0"/>
              <a:t>Disruption anywhere along the conducting system can be seen on the tracings of an ECG.</a:t>
            </a:r>
          </a:p>
        </p:txBody>
      </p:sp>
    </p:spTree>
    <p:extLst>
      <p:ext uri="{BB962C8B-B14F-4D97-AF65-F5344CB8AC3E}">
        <p14:creationId xmlns:p14="http://schemas.microsoft.com/office/powerpoint/2010/main" val="25341858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DA7A874-E936-0431-397C-CBA1DC872EE6}"/>
              </a:ext>
            </a:extLst>
          </p:cNvPr>
          <p:cNvPicPr>
            <a:picLocks noGrp="1" noChangeAspect="1"/>
          </p:cNvPicPr>
          <p:nvPr>
            <p:ph idx="1"/>
          </p:nvPr>
        </p:nvPicPr>
        <p:blipFill>
          <a:blip r:embed="rId2"/>
          <a:stretch>
            <a:fillRect/>
          </a:stretch>
        </p:blipFill>
        <p:spPr>
          <a:xfrm>
            <a:off x="1676400" y="529669"/>
            <a:ext cx="5575636" cy="5798662"/>
          </a:xfrm>
          <a:prstGeom prst="rect">
            <a:avLst/>
          </a:prstGeom>
        </p:spPr>
      </p:pic>
    </p:spTree>
    <p:extLst>
      <p:ext uri="{BB962C8B-B14F-4D97-AF65-F5344CB8AC3E}">
        <p14:creationId xmlns:p14="http://schemas.microsoft.com/office/powerpoint/2010/main" val="22009108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Action Potentials of Myocardium</a:t>
            </a:r>
          </a:p>
        </p:txBody>
      </p:sp>
      <p:sp>
        <p:nvSpPr>
          <p:cNvPr id="3" name="Content Placeholder 2"/>
          <p:cNvSpPr>
            <a:spLocks noGrp="1"/>
          </p:cNvSpPr>
          <p:nvPr>
            <p:ph idx="1"/>
          </p:nvPr>
        </p:nvSpPr>
        <p:spPr>
          <a:xfrm>
            <a:off x="457200" y="1600200"/>
            <a:ext cx="7848600" cy="4525963"/>
          </a:xfrm>
        </p:spPr>
        <p:txBody>
          <a:bodyPr>
            <a:normAutofit lnSpcReduction="10000"/>
          </a:bodyPr>
          <a:lstStyle/>
          <a:p>
            <a:r>
              <a:rPr lang="en-US" dirty="0"/>
              <a:t>Major charge (+) carriers in myocardial cells are Sodium (Na</a:t>
            </a:r>
            <a:r>
              <a:rPr lang="en-US" baseline="30000" dirty="0"/>
              <a:t>+</a:t>
            </a:r>
            <a:r>
              <a:rPr lang="en-US" dirty="0"/>
              <a:t>), Potassium (K</a:t>
            </a:r>
            <a:r>
              <a:rPr lang="en-US" baseline="30000" dirty="0"/>
              <a:t>+</a:t>
            </a:r>
            <a:r>
              <a:rPr lang="en-US" dirty="0"/>
              <a:t>), and Calcium (Ca</a:t>
            </a:r>
            <a:r>
              <a:rPr lang="en-US" baseline="30000" dirty="0"/>
              <a:t>2+</a:t>
            </a:r>
            <a:r>
              <a:rPr lang="en-US" dirty="0"/>
              <a:t>)</a:t>
            </a:r>
          </a:p>
          <a:p>
            <a:r>
              <a:rPr lang="en-US" dirty="0"/>
              <a:t>They change the polarity of the myocardial cell membrane depending on the opening of the ion channels</a:t>
            </a:r>
          </a:p>
          <a:p>
            <a:r>
              <a:rPr lang="en-US" dirty="0"/>
              <a:t>The “action potential” of each cell membrane is divided into 5 phases of state of ion movement (starting with phase 0)</a:t>
            </a:r>
          </a:p>
        </p:txBody>
      </p:sp>
    </p:spTree>
    <p:extLst>
      <p:ext uri="{BB962C8B-B14F-4D97-AF65-F5344CB8AC3E}">
        <p14:creationId xmlns:p14="http://schemas.microsoft.com/office/powerpoint/2010/main" val="17585908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Action Potentials of Myocardium</a:t>
            </a:r>
          </a:p>
        </p:txBody>
      </p:sp>
      <p:sp>
        <p:nvSpPr>
          <p:cNvPr id="3" name="Content Placeholder 2"/>
          <p:cNvSpPr>
            <a:spLocks noGrp="1"/>
          </p:cNvSpPr>
          <p:nvPr>
            <p:ph idx="1"/>
          </p:nvPr>
        </p:nvSpPr>
        <p:spPr/>
        <p:txBody>
          <a:bodyPr/>
          <a:lstStyle/>
          <a:p>
            <a:r>
              <a:rPr lang="en-US" dirty="0"/>
              <a:t>Phase 0 – rapid depolarization</a:t>
            </a:r>
          </a:p>
          <a:p>
            <a:r>
              <a:rPr lang="en-US" dirty="0"/>
              <a:t>Phase 1 – early repolarization</a:t>
            </a:r>
          </a:p>
          <a:p>
            <a:r>
              <a:rPr lang="en-US" dirty="0"/>
              <a:t>Phase 2 – the plateau</a:t>
            </a:r>
          </a:p>
          <a:p>
            <a:r>
              <a:rPr lang="en-US" dirty="0"/>
              <a:t>Phase 3 – rapid repolarization</a:t>
            </a:r>
          </a:p>
          <a:p>
            <a:r>
              <a:rPr lang="en-US" dirty="0"/>
              <a:t>Phase 4 – resting membrane</a:t>
            </a:r>
          </a:p>
          <a:p>
            <a:endParaRPr lang="en-US" dirty="0"/>
          </a:p>
        </p:txBody>
      </p:sp>
    </p:spTree>
    <p:extLst>
      <p:ext uri="{BB962C8B-B14F-4D97-AF65-F5344CB8AC3E}">
        <p14:creationId xmlns:p14="http://schemas.microsoft.com/office/powerpoint/2010/main" val="29905687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Action Potentials of Myocardium</a:t>
            </a:r>
          </a:p>
        </p:txBody>
      </p:sp>
      <p:sp>
        <p:nvSpPr>
          <p:cNvPr id="3" name="Content Placeholder 2"/>
          <p:cNvSpPr>
            <a:spLocks noGrp="1"/>
          </p:cNvSpPr>
          <p:nvPr>
            <p:ph idx="1"/>
          </p:nvPr>
        </p:nvSpPr>
        <p:spPr>
          <a:xfrm>
            <a:off x="457200" y="1600200"/>
            <a:ext cx="8001000" cy="4983162"/>
          </a:xfrm>
        </p:spPr>
        <p:txBody>
          <a:bodyPr>
            <a:normAutofit lnSpcReduction="10000"/>
          </a:bodyPr>
          <a:lstStyle/>
          <a:p>
            <a:r>
              <a:rPr lang="en-US" dirty="0"/>
              <a:t>Three types of ion channels in myocardial cells</a:t>
            </a:r>
          </a:p>
          <a:p>
            <a:pPr marL="514350" indent="-514350">
              <a:buAutoNum type="arabicPeriod"/>
            </a:pPr>
            <a:r>
              <a:rPr lang="en-US" dirty="0"/>
              <a:t>Fast sodium channels</a:t>
            </a:r>
          </a:p>
          <a:p>
            <a:pPr marL="514350" indent="-514350">
              <a:buAutoNum type="arabicPeriod"/>
            </a:pPr>
            <a:r>
              <a:rPr lang="en-US" dirty="0"/>
              <a:t>Slow calcium-sodium channels</a:t>
            </a:r>
          </a:p>
          <a:p>
            <a:pPr marL="514350" indent="-514350">
              <a:buAutoNum type="arabicPeriod"/>
            </a:pPr>
            <a:r>
              <a:rPr lang="en-US" dirty="0"/>
              <a:t>Potassium channels</a:t>
            </a:r>
          </a:p>
          <a:p>
            <a:pPr marL="514350" indent="-514350">
              <a:buAutoNum type="arabicPeriod"/>
            </a:pPr>
            <a:endParaRPr lang="en-US" dirty="0"/>
          </a:p>
          <a:p>
            <a:r>
              <a:rPr lang="en-US" b="1" dirty="0"/>
              <a:t>Phase 0- </a:t>
            </a:r>
            <a:r>
              <a:rPr lang="en-US" dirty="0"/>
              <a:t>fast sodium channels open allowing rapid inflow of sodium</a:t>
            </a:r>
          </a:p>
          <a:p>
            <a:pPr lvl="1"/>
            <a:r>
              <a:rPr lang="en-US" dirty="0"/>
              <a:t>Changing the membrane potential from -90 mV to +20 mV and rapid depolarization begins.</a:t>
            </a:r>
          </a:p>
          <a:p>
            <a:pPr marL="0" indent="0">
              <a:buNone/>
            </a:pPr>
            <a:endParaRPr lang="en-US" dirty="0"/>
          </a:p>
        </p:txBody>
      </p:sp>
    </p:spTree>
    <p:extLst>
      <p:ext uri="{BB962C8B-B14F-4D97-AF65-F5344CB8AC3E}">
        <p14:creationId xmlns:p14="http://schemas.microsoft.com/office/powerpoint/2010/main" val="1345396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Action Potentials of Myocardium</a:t>
            </a:r>
          </a:p>
        </p:txBody>
      </p:sp>
      <p:sp>
        <p:nvSpPr>
          <p:cNvPr id="3" name="Content Placeholder 2"/>
          <p:cNvSpPr>
            <a:spLocks noGrp="1"/>
          </p:cNvSpPr>
          <p:nvPr>
            <p:ph idx="1"/>
          </p:nvPr>
        </p:nvSpPr>
        <p:spPr/>
        <p:txBody>
          <a:bodyPr>
            <a:normAutofit/>
          </a:bodyPr>
          <a:lstStyle/>
          <a:p>
            <a:r>
              <a:rPr lang="en-US" b="1" dirty="0"/>
              <a:t>Phase 1 </a:t>
            </a:r>
            <a:r>
              <a:rPr lang="en-US" dirty="0"/>
              <a:t>– is at the peak of the action potential and inactivation of the rapid sodium channels</a:t>
            </a:r>
          </a:p>
          <a:p>
            <a:pPr marL="0" indent="0">
              <a:buNone/>
            </a:pPr>
            <a:endParaRPr lang="en-US" dirty="0"/>
          </a:p>
          <a:p>
            <a:r>
              <a:rPr lang="en-US" b="1" dirty="0"/>
              <a:t>Phase 2 </a:t>
            </a:r>
            <a:r>
              <a:rPr lang="en-US" dirty="0"/>
              <a:t>– slow opening of calcium channels occurs thus extending the action potential by 3 to 15 times longer than that of skeletal muscle, thereby extending contraction</a:t>
            </a:r>
          </a:p>
          <a:p>
            <a:pPr lvl="1"/>
            <a:r>
              <a:rPr lang="en-US" dirty="0"/>
              <a:t> This is called the “plateau” phase</a:t>
            </a:r>
          </a:p>
        </p:txBody>
      </p:sp>
    </p:spTree>
    <p:extLst>
      <p:ext uri="{BB962C8B-B14F-4D97-AF65-F5344CB8AC3E}">
        <p14:creationId xmlns:p14="http://schemas.microsoft.com/office/powerpoint/2010/main" val="31984117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Action Potentials of Myocardium</a:t>
            </a:r>
          </a:p>
        </p:txBody>
      </p:sp>
      <p:sp>
        <p:nvSpPr>
          <p:cNvPr id="3" name="Content Placeholder 2"/>
          <p:cNvSpPr>
            <a:spLocks noGrp="1"/>
          </p:cNvSpPr>
          <p:nvPr>
            <p:ph idx="1"/>
          </p:nvPr>
        </p:nvSpPr>
        <p:spPr>
          <a:xfrm>
            <a:off x="457200" y="1600200"/>
            <a:ext cx="8229600" cy="4983162"/>
          </a:xfrm>
        </p:spPr>
        <p:txBody>
          <a:bodyPr>
            <a:normAutofit fontScale="92500" lnSpcReduction="10000"/>
          </a:bodyPr>
          <a:lstStyle/>
          <a:p>
            <a:r>
              <a:rPr lang="en-US" b="1" dirty="0"/>
              <a:t>Phase 3 </a:t>
            </a:r>
            <a:r>
              <a:rPr lang="en-US" dirty="0"/>
              <a:t>-  Rapid repolarization occurs</a:t>
            </a:r>
          </a:p>
          <a:p>
            <a:pPr lvl="1"/>
            <a:r>
              <a:rPr lang="en-US" dirty="0"/>
              <a:t>Calcium/Sodium channels close and Potassium channels open allowing K+ to move to the extracellular space thus reversing the polarity of the cell membrane.</a:t>
            </a:r>
          </a:p>
          <a:p>
            <a:pPr marL="0" indent="0">
              <a:buNone/>
            </a:pPr>
            <a:endParaRPr lang="en-US" dirty="0"/>
          </a:p>
          <a:p>
            <a:r>
              <a:rPr lang="en-US" b="1" dirty="0"/>
              <a:t>Phase 4 </a:t>
            </a:r>
            <a:r>
              <a:rPr lang="en-US" dirty="0"/>
              <a:t>– Resting phase</a:t>
            </a:r>
          </a:p>
          <a:p>
            <a:pPr lvl="1"/>
            <a:r>
              <a:rPr lang="en-US" dirty="0"/>
              <a:t> Sodium/Potassium pump returns sodium to the extracellular space and Potassium back intracellular. </a:t>
            </a:r>
          </a:p>
          <a:p>
            <a:pPr marL="0" indent="0">
              <a:buNone/>
            </a:pPr>
            <a:endParaRPr lang="en-US" dirty="0"/>
          </a:p>
          <a:p>
            <a:r>
              <a:rPr lang="en-US" dirty="0"/>
              <a:t>Then the phases all start again</a:t>
            </a:r>
          </a:p>
        </p:txBody>
      </p:sp>
    </p:spTree>
    <p:extLst>
      <p:ext uri="{BB962C8B-B14F-4D97-AF65-F5344CB8AC3E}">
        <p14:creationId xmlns:p14="http://schemas.microsoft.com/office/powerpoint/2010/main" val="15183498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Absolute &amp; Relative Refractory Periods</a:t>
            </a:r>
          </a:p>
        </p:txBody>
      </p:sp>
      <p:sp>
        <p:nvSpPr>
          <p:cNvPr id="3" name="Content Placeholder 2"/>
          <p:cNvSpPr>
            <a:spLocks noGrp="1"/>
          </p:cNvSpPr>
          <p:nvPr>
            <p:ph idx="1"/>
          </p:nvPr>
        </p:nvSpPr>
        <p:spPr/>
        <p:txBody>
          <a:bodyPr>
            <a:normAutofit fontScale="85000" lnSpcReduction="20000"/>
          </a:bodyPr>
          <a:lstStyle/>
          <a:p>
            <a:r>
              <a:rPr lang="en-US" dirty="0"/>
              <a:t>Absolute Refractory Period – the period of time in the action potential curve where NO stimuli can generate another action potential</a:t>
            </a:r>
          </a:p>
          <a:p>
            <a:pPr lvl="1"/>
            <a:r>
              <a:rPr lang="en-US" dirty="0"/>
              <a:t>This includes Phases 0, 1, 2, and part of 3. This period is almost as long as the contraction, thus blocking another contraction from occurring until the first is over. </a:t>
            </a:r>
          </a:p>
          <a:p>
            <a:r>
              <a:rPr lang="en-US" dirty="0"/>
              <a:t>Relative Refractory Period – repolarization has returned membrane potential to a level just below that of threshold potential, but cell is capable of re-depolarization to a greater than normal stimulus.</a:t>
            </a:r>
          </a:p>
          <a:p>
            <a:r>
              <a:rPr lang="en-US" dirty="0"/>
              <a:t>Supernormal Excitatory Period – very short time during which a weak stimulus can evoke a response. Period where arrhythmias can develop.</a:t>
            </a:r>
          </a:p>
        </p:txBody>
      </p:sp>
    </p:spTree>
    <p:extLst>
      <p:ext uri="{BB962C8B-B14F-4D97-AF65-F5344CB8AC3E}">
        <p14:creationId xmlns:p14="http://schemas.microsoft.com/office/powerpoint/2010/main" val="38251054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Absolute &amp; Relative Refractory Periods</a:t>
            </a:r>
          </a:p>
        </p:txBody>
      </p:sp>
      <p:sp>
        <p:nvSpPr>
          <p:cNvPr id="5" name="TextBox 4"/>
          <p:cNvSpPr txBox="1"/>
          <p:nvPr/>
        </p:nvSpPr>
        <p:spPr>
          <a:xfrm>
            <a:off x="381000" y="2514600"/>
            <a:ext cx="3886200" cy="2308324"/>
          </a:xfrm>
          <a:prstGeom prst="rect">
            <a:avLst/>
          </a:prstGeom>
          <a:noFill/>
        </p:spPr>
        <p:txBody>
          <a:bodyPr wrap="square" rtlCol="0">
            <a:spAutoFit/>
          </a:bodyPr>
          <a:lstStyle/>
          <a:p>
            <a:r>
              <a:rPr lang="en-US" dirty="0"/>
              <a:t>TP = Threshold Potential</a:t>
            </a:r>
          </a:p>
          <a:p>
            <a:r>
              <a:rPr lang="en-US" dirty="0"/>
              <a:t>RMP = Resting Membrane Potential</a:t>
            </a:r>
          </a:p>
          <a:p>
            <a:r>
              <a:rPr lang="en-US" dirty="0"/>
              <a:t>ARP = Absolute Refractory Period</a:t>
            </a:r>
          </a:p>
          <a:p>
            <a:r>
              <a:rPr lang="en-US" dirty="0"/>
              <a:t>RRP = Relative Refractory Period</a:t>
            </a:r>
          </a:p>
          <a:p>
            <a:r>
              <a:rPr lang="en-US" dirty="0"/>
              <a:t>SN = Supernormal Excitatory Period</a:t>
            </a:r>
          </a:p>
          <a:p>
            <a:endParaRPr lang="en-US" dirty="0"/>
          </a:p>
          <a:p>
            <a:r>
              <a:rPr lang="en-US" dirty="0"/>
              <a:t>Numbers represent Phases of Action Potential (0 to 4)</a:t>
            </a:r>
          </a:p>
        </p:txBody>
      </p:sp>
      <p:pic>
        <p:nvPicPr>
          <p:cNvPr id="6" name="Content Placeholder 5"/>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rcRect l="24152" t="40538" r="62866" b="29345"/>
          <a:stretch/>
        </p:blipFill>
        <p:spPr>
          <a:xfrm>
            <a:off x="4267200" y="1828800"/>
            <a:ext cx="4188036" cy="3886200"/>
          </a:xfrm>
        </p:spPr>
      </p:pic>
    </p:spTree>
    <p:extLst>
      <p:ext uri="{BB962C8B-B14F-4D97-AF65-F5344CB8AC3E}">
        <p14:creationId xmlns:p14="http://schemas.microsoft.com/office/powerpoint/2010/main" val="24914594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Cardiac Cycle</a:t>
            </a:r>
          </a:p>
        </p:txBody>
      </p:sp>
      <p:sp>
        <p:nvSpPr>
          <p:cNvPr id="3" name="Content Placeholder 2"/>
          <p:cNvSpPr>
            <a:spLocks noGrp="1"/>
          </p:cNvSpPr>
          <p:nvPr>
            <p:ph idx="1"/>
          </p:nvPr>
        </p:nvSpPr>
        <p:spPr/>
        <p:txBody>
          <a:bodyPr>
            <a:normAutofit fontScale="85000" lnSpcReduction="10000"/>
          </a:bodyPr>
          <a:lstStyle/>
          <a:p>
            <a:r>
              <a:rPr lang="en-US" dirty="0"/>
              <a:t>Divided into two distinct parts – Systole &amp; Diastole</a:t>
            </a:r>
          </a:p>
          <a:p>
            <a:r>
              <a:rPr lang="en-US" dirty="0"/>
              <a:t>Systole = phase of ventricular contraction and pumping of blood out of the ventricles.</a:t>
            </a:r>
          </a:p>
          <a:p>
            <a:r>
              <a:rPr lang="en-US" dirty="0"/>
              <a:t>Diastole = phase of ventricular relaxation and filling of the ventricle with blood.</a:t>
            </a:r>
          </a:p>
          <a:p>
            <a:r>
              <a:rPr lang="en-US" dirty="0"/>
              <a:t>During Systole the AV valves are closed preventing backflow into the atria and forcing blood out the open Semilunar valves</a:t>
            </a:r>
          </a:p>
          <a:p>
            <a:r>
              <a:rPr lang="en-US" dirty="0"/>
              <a:t>During Diastole the AV valves open allowing blood to fill the relaxed ventricles while the Semilunar valves shut preventing backflow of blood from the vessels.</a:t>
            </a:r>
          </a:p>
        </p:txBody>
      </p:sp>
    </p:spTree>
    <p:extLst>
      <p:ext uri="{BB962C8B-B14F-4D97-AF65-F5344CB8AC3E}">
        <p14:creationId xmlns:p14="http://schemas.microsoft.com/office/powerpoint/2010/main" val="41050714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Ventricular Systole &amp; Diastole</a:t>
            </a:r>
          </a:p>
        </p:txBody>
      </p:sp>
      <p:sp>
        <p:nvSpPr>
          <p:cNvPr id="3" name="Content Placeholder 2"/>
          <p:cNvSpPr>
            <a:spLocks noGrp="1"/>
          </p:cNvSpPr>
          <p:nvPr>
            <p:ph idx="1"/>
          </p:nvPr>
        </p:nvSpPr>
        <p:spPr>
          <a:xfrm>
            <a:off x="457200" y="1219200"/>
            <a:ext cx="8458200" cy="5715000"/>
          </a:xfrm>
        </p:spPr>
        <p:txBody>
          <a:bodyPr>
            <a:normAutofit fontScale="92500" lnSpcReduction="20000"/>
          </a:bodyPr>
          <a:lstStyle/>
          <a:p>
            <a:r>
              <a:rPr lang="en-US" dirty="0"/>
              <a:t>Systole – divided into two phases – </a:t>
            </a:r>
          </a:p>
          <a:p>
            <a:pPr lvl="1"/>
            <a:r>
              <a:rPr lang="en-US" dirty="0"/>
              <a:t>“isovolumetric contraction period” &amp; “ejection period”</a:t>
            </a:r>
          </a:p>
          <a:p>
            <a:pPr marL="457200" lvl="1" indent="0">
              <a:buNone/>
            </a:pPr>
            <a:endParaRPr lang="en-US" dirty="0"/>
          </a:p>
          <a:p>
            <a:r>
              <a:rPr lang="en-US" dirty="0"/>
              <a:t>“Isovolumetric contraction period” – begins with closing of AV valves (1</a:t>
            </a:r>
            <a:r>
              <a:rPr lang="en-US" baseline="30000" dirty="0"/>
              <a:t>st</a:t>
            </a:r>
            <a:r>
              <a:rPr lang="en-US" dirty="0"/>
              <a:t> heart sound) but before opening of semilunar valves. Contraction begins and intraventricular fluid pressure rises.</a:t>
            </a:r>
          </a:p>
          <a:p>
            <a:pPr marL="0" indent="0">
              <a:buNone/>
            </a:pPr>
            <a:endParaRPr lang="en-US" dirty="0"/>
          </a:p>
          <a:p>
            <a:r>
              <a:rPr lang="en-US" dirty="0"/>
              <a:t>“Ejection period” – once pressure in ventricles exceeds the aorta and pulmonary trunk, the semilunar valves open and ejection period occurs</a:t>
            </a:r>
          </a:p>
          <a:p>
            <a:pPr lvl="1"/>
            <a:r>
              <a:rPr lang="en-US" dirty="0"/>
              <a:t> It continues until pressure in great vessels becomes higher than in the ventricles thus causing semilunar valves to close (2</a:t>
            </a:r>
            <a:r>
              <a:rPr lang="en-US" baseline="30000" dirty="0"/>
              <a:t>nd</a:t>
            </a:r>
            <a:r>
              <a:rPr lang="en-US" dirty="0"/>
              <a:t> heart sound).</a:t>
            </a:r>
          </a:p>
        </p:txBody>
      </p:sp>
    </p:spTree>
    <p:extLst>
      <p:ext uri="{BB962C8B-B14F-4D97-AF65-F5344CB8AC3E}">
        <p14:creationId xmlns:p14="http://schemas.microsoft.com/office/powerpoint/2010/main" val="36301026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Ventricular Systole &amp; Diastole</a:t>
            </a:r>
          </a:p>
        </p:txBody>
      </p:sp>
      <p:sp>
        <p:nvSpPr>
          <p:cNvPr id="3" name="Content Placeholder 2"/>
          <p:cNvSpPr>
            <a:spLocks noGrp="1"/>
          </p:cNvSpPr>
          <p:nvPr>
            <p:ph idx="1"/>
          </p:nvPr>
        </p:nvSpPr>
        <p:spPr>
          <a:xfrm>
            <a:off x="457200" y="1143000"/>
            <a:ext cx="8229600" cy="5715000"/>
          </a:xfrm>
        </p:spPr>
        <p:txBody>
          <a:bodyPr>
            <a:normAutofit fontScale="77500" lnSpcReduction="20000"/>
          </a:bodyPr>
          <a:lstStyle/>
          <a:p>
            <a:r>
              <a:rPr lang="en-US" dirty="0"/>
              <a:t>Diastole – also divided into two phases </a:t>
            </a:r>
          </a:p>
          <a:p>
            <a:pPr marL="0" indent="0">
              <a:buNone/>
            </a:pPr>
            <a:endParaRPr lang="en-US" dirty="0"/>
          </a:p>
          <a:p>
            <a:r>
              <a:rPr lang="en-US" dirty="0"/>
              <a:t>“Isovolumetric relaxation period” </a:t>
            </a:r>
          </a:p>
          <a:p>
            <a:pPr lvl="1"/>
            <a:r>
              <a:rPr lang="en-US" dirty="0"/>
              <a:t> Begins with the closing of the semilunar valves and ventricles begin relaxing</a:t>
            </a:r>
          </a:p>
          <a:p>
            <a:pPr lvl="1"/>
            <a:r>
              <a:rPr lang="en-US" dirty="0"/>
              <a:t> Intraventricular pressures fall below that of the atria and AV valves open</a:t>
            </a:r>
          </a:p>
          <a:p>
            <a:pPr marL="457200" lvl="1" indent="0">
              <a:buNone/>
            </a:pPr>
            <a:endParaRPr lang="en-US" dirty="0"/>
          </a:p>
          <a:p>
            <a:r>
              <a:rPr lang="en-US" dirty="0"/>
              <a:t>“Rapid filling phase” </a:t>
            </a:r>
          </a:p>
          <a:p>
            <a:pPr lvl="1"/>
            <a:r>
              <a:rPr lang="en-US" dirty="0"/>
              <a:t>Begins with opening of AV valves and ends with complete filling of ventricles</a:t>
            </a:r>
          </a:p>
          <a:p>
            <a:pPr lvl="1"/>
            <a:r>
              <a:rPr lang="en-US" dirty="0"/>
              <a:t>If a person has an over-distended or non-compliant ventricle, a 3</a:t>
            </a:r>
            <a:r>
              <a:rPr lang="en-US" baseline="30000" dirty="0"/>
              <a:t>rd</a:t>
            </a:r>
            <a:r>
              <a:rPr lang="en-US" dirty="0"/>
              <a:t> heart sound may be heard. It is a sound heard at the end of the filling phase due to vibrations that are caused by abrupt cessation of blood entering the ventricles, but before the atria contract at the end of diastole</a:t>
            </a:r>
          </a:p>
          <a:p>
            <a:pPr lvl="1"/>
            <a:r>
              <a:rPr lang="en-US" dirty="0"/>
              <a:t> A 4</a:t>
            </a:r>
            <a:r>
              <a:rPr lang="en-US" baseline="30000" dirty="0"/>
              <a:t>th</a:t>
            </a:r>
            <a:r>
              <a:rPr lang="en-US" dirty="0"/>
              <a:t> heart sound may be heard during the last 1/3</a:t>
            </a:r>
            <a:r>
              <a:rPr lang="en-US" baseline="30000" dirty="0"/>
              <a:t>rd</a:t>
            </a:r>
            <a:r>
              <a:rPr lang="en-US" dirty="0"/>
              <a:t> of diastole when the atria contract and the rush of blood is turbulent.</a:t>
            </a:r>
          </a:p>
        </p:txBody>
      </p:sp>
    </p:spTree>
    <p:extLst>
      <p:ext uri="{BB962C8B-B14F-4D97-AF65-F5344CB8AC3E}">
        <p14:creationId xmlns:p14="http://schemas.microsoft.com/office/powerpoint/2010/main" val="10828066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Atrial Filling &amp; Contraction</a:t>
            </a:r>
          </a:p>
        </p:txBody>
      </p:sp>
      <p:sp>
        <p:nvSpPr>
          <p:cNvPr id="3" name="Content Placeholder 2"/>
          <p:cNvSpPr>
            <a:spLocks noGrp="1"/>
          </p:cNvSpPr>
          <p:nvPr>
            <p:ph idx="1"/>
          </p:nvPr>
        </p:nvSpPr>
        <p:spPr/>
        <p:txBody>
          <a:bodyPr/>
          <a:lstStyle/>
          <a:p>
            <a:r>
              <a:rPr lang="en-US" dirty="0"/>
              <a:t>NO valves between the great veins and the atria.</a:t>
            </a:r>
          </a:p>
          <a:p>
            <a:r>
              <a:rPr lang="en-US" dirty="0"/>
              <a:t>Blood enters atria during both systole and diastole due to such low pressures. This allows ease of flow into the atria.</a:t>
            </a:r>
          </a:p>
          <a:p>
            <a:r>
              <a:rPr lang="en-US" dirty="0"/>
              <a:t>Three main phases of atrial pressure waves – “C-wave”, “V-wave”, &amp; “A-wave”</a:t>
            </a:r>
          </a:p>
        </p:txBody>
      </p:sp>
    </p:spTree>
    <p:extLst>
      <p:ext uri="{BB962C8B-B14F-4D97-AF65-F5344CB8AC3E}">
        <p14:creationId xmlns:p14="http://schemas.microsoft.com/office/powerpoint/2010/main" val="10160013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Atrial Filling &amp; Contraction</a:t>
            </a:r>
          </a:p>
        </p:txBody>
      </p:sp>
      <p:sp>
        <p:nvSpPr>
          <p:cNvPr id="3" name="Content Placeholder 2"/>
          <p:cNvSpPr>
            <a:spLocks noGrp="1"/>
          </p:cNvSpPr>
          <p:nvPr>
            <p:ph idx="1"/>
          </p:nvPr>
        </p:nvSpPr>
        <p:spPr/>
        <p:txBody>
          <a:bodyPr>
            <a:normAutofit fontScale="92500" lnSpcReduction="20000"/>
          </a:bodyPr>
          <a:lstStyle/>
          <a:p>
            <a:r>
              <a:rPr lang="en-US" dirty="0"/>
              <a:t>“C-wave” – begins at start of systole when AV valves close and bulge into atria causing an increase in atrial pressure and stopping inflow of blood for a very short time.</a:t>
            </a:r>
          </a:p>
          <a:p>
            <a:r>
              <a:rPr lang="en-US" dirty="0"/>
              <a:t>“V-wave” – begins toward the end of systole with the AV valves still closed, but pressure from systemic vessels is greater than atrial pressure and a filling with blood occurs.</a:t>
            </a:r>
          </a:p>
          <a:p>
            <a:r>
              <a:rPr lang="en-US" dirty="0"/>
              <a:t>“A-wave” – during the last phase of diastole and the AV valves are open and the atria contract to push the last amount of blood they can push.</a:t>
            </a:r>
          </a:p>
        </p:txBody>
      </p:sp>
    </p:spTree>
    <p:extLst>
      <p:ext uri="{BB962C8B-B14F-4D97-AF65-F5344CB8AC3E}">
        <p14:creationId xmlns:p14="http://schemas.microsoft.com/office/powerpoint/2010/main" val="35927958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Atrial Filling &amp; Contraction</a:t>
            </a:r>
          </a:p>
        </p:txBody>
      </p:sp>
      <p:sp>
        <p:nvSpPr>
          <p:cNvPr id="3" name="Content Placeholder 2"/>
          <p:cNvSpPr>
            <a:spLocks noGrp="1"/>
          </p:cNvSpPr>
          <p:nvPr>
            <p:ph idx="1"/>
          </p:nvPr>
        </p:nvSpPr>
        <p:spPr/>
        <p:txBody>
          <a:bodyPr>
            <a:normAutofit fontScale="85000" lnSpcReduction="10000"/>
          </a:bodyPr>
          <a:lstStyle/>
          <a:p>
            <a:r>
              <a:rPr lang="en-US" dirty="0"/>
              <a:t>Right atrial pressure can be seen in the internal jugular veins as pulsations. These can be measured to assess cardiac function.</a:t>
            </a:r>
          </a:p>
          <a:p>
            <a:r>
              <a:rPr lang="en-US" dirty="0"/>
              <a:t>Right atrial pressure/filling is predicated on the ability of the right ventricle to pump blood out to the lungs</a:t>
            </a:r>
          </a:p>
          <a:p>
            <a:pPr lvl="1"/>
            <a:r>
              <a:rPr lang="en-US" dirty="0"/>
              <a:t> When the heart pumps strongly, atrial pressure drops which increases filling.</a:t>
            </a:r>
          </a:p>
          <a:p>
            <a:r>
              <a:rPr lang="en-US" dirty="0"/>
              <a:t>Right atrium pressures also affected by intrathoracic pressures. Decreased with inspiration. Increased with coughing or forced exhalation.</a:t>
            </a:r>
          </a:p>
        </p:txBody>
      </p:sp>
    </p:spTree>
    <p:extLst>
      <p:ext uri="{BB962C8B-B14F-4D97-AF65-F5344CB8AC3E}">
        <p14:creationId xmlns:p14="http://schemas.microsoft.com/office/powerpoint/2010/main" val="30981281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Regulation of Cardiac Performance</a:t>
            </a:r>
          </a:p>
        </p:txBody>
      </p:sp>
      <p:sp>
        <p:nvSpPr>
          <p:cNvPr id="3" name="Content Placeholder 2"/>
          <p:cNvSpPr>
            <a:spLocks noGrp="1"/>
          </p:cNvSpPr>
          <p:nvPr>
            <p:ph idx="1"/>
          </p:nvPr>
        </p:nvSpPr>
        <p:spPr/>
        <p:txBody>
          <a:bodyPr/>
          <a:lstStyle/>
          <a:p>
            <a:r>
              <a:rPr lang="en-US" dirty="0"/>
              <a:t>Cardiac Output – amount of blood the heart pumps per minute (Liters/minute)</a:t>
            </a:r>
          </a:p>
          <a:p>
            <a:r>
              <a:rPr lang="en-US" dirty="0"/>
              <a:t>Stroke volume – amount of blood ejected by each ventricle with each beat</a:t>
            </a:r>
          </a:p>
          <a:p>
            <a:r>
              <a:rPr lang="en-US" dirty="0"/>
              <a:t>Heart rate – number of beats per minute</a:t>
            </a:r>
          </a:p>
          <a:p>
            <a:r>
              <a:rPr lang="en-US" dirty="0"/>
              <a:t>Cardiac Output = Stroke volume x Heart rate</a:t>
            </a:r>
          </a:p>
          <a:p>
            <a:pPr marL="0" indent="0">
              <a:buNone/>
            </a:pPr>
            <a:r>
              <a:rPr lang="en-US" dirty="0"/>
              <a:t>          CO = SV x HR</a:t>
            </a:r>
          </a:p>
          <a:p>
            <a:r>
              <a:rPr lang="en-US" dirty="0"/>
              <a:t>Normal adult CO = 4.0 to 8.0 L/min.</a:t>
            </a:r>
          </a:p>
        </p:txBody>
      </p:sp>
    </p:spTree>
    <p:extLst>
      <p:ext uri="{BB962C8B-B14F-4D97-AF65-F5344CB8AC3E}">
        <p14:creationId xmlns:p14="http://schemas.microsoft.com/office/powerpoint/2010/main" val="42604987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Regulation of Cardiac Performance</a:t>
            </a:r>
          </a:p>
        </p:txBody>
      </p:sp>
      <p:sp>
        <p:nvSpPr>
          <p:cNvPr id="3" name="Content Placeholder 2"/>
          <p:cNvSpPr>
            <a:spLocks noGrp="1"/>
          </p:cNvSpPr>
          <p:nvPr>
            <p:ph idx="1"/>
          </p:nvPr>
        </p:nvSpPr>
        <p:spPr/>
        <p:txBody>
          <a:bodyPr/>
          <a:lstStyle/>
          <a:p>
            <a:r>
              <a:rPr lang="en-US" dirty="0"/>
              <a:t>Cardiac Reserve – maximum increase in CO that can be achieved above normal CO.</a:t>
            </a:r>
          </a:p>
          <a:p>
            <a:r>
              <a:rPr lang="en-US" dirty="0"/>
              <a:t>Normal young healthy adult – 300 to 400% above normal CO.</a:t>
            </a:r>
          </a:p>
          <a:p>
            <a:r>
              <a:rPr lang="en-US" dirty="0"/>
              <a:t>Heart’s ability to increase CO mainly depends on 4 factors – the </a:t>
            </a:r>
            <a:r>
              <a:rPr lang="en-US" i="1" dirty="0"/>
              <a:t>preload</a:t>
            </a:r>
            <a:r>
              <a:rPr lang="en-US" dirty="0"/>
              <a:t>, the </a:t>
            </a:r>
            <a:r>
              <a:rPr lang="en-US" i="1" dirty="0"/>
              <a:t>afterload</a:t>
            </a:r>
            <a:r>
              <a:rPr lang="en-US" dirty="0"/>
              <a:t>, </a:t>
            </a:r>
            <a:r>
              <a:rPr lang="en-US" i="1" dirty="0"/>
              <a:t>cardiac contractility</a:t>
            </a:r>
            <a:r>
              <a:rPr lang="en-US" dirty="0"/>
              <a:t>, &amp; </a:t>
            </a:r>
            <a:r>
              <a:rPr lang="en-US" i="1" dirty="0"/>
              <a:t>heart rate.</a:t>
            </a:r>
            <a:endParaRPr lang="en-US" dirty="0"/>
          </a:p>
        </p:txBody>
      </p:sp>
    </p:spTree>
    <p:extLst>
      <p:ext uri="{BB962C8B-B14F-4D97-AF65-F5344CB8AC3E}">
        <p14:creationId xmlns:p14="http://schemas.microsoft.com/office/powerpoint/2010/main" val="21933809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Preload</a:t>
            </a:r>
          </a:p>
        </p:txBody>
      </p:sp>
      <p:sp>
        <p:nvSpPr>
          <p:cNvPr id="3" name="Content Placeholder 2"/>
          <p:cNvSpPr>
            <a:spLocks noGrp="1"/>
          </p:cNvSpPr>
          <p:nvPr>
            <p:ph idx="1"/>
          </p:nvPr>
        </p:nvSpPr>
        <p:spPr/>
        <p:txBody>
          <a:bodyPr/>
          <a:lstStyle/>
          <a:p>
            <a:r>
              <a:rPr lang="en-US" dirty="0"/>
              <a:t>Preload = volume work of the heart</a:t>
            </a:r>
          </a:p>
          <a:p>
            <a:pPr lvl="1"/>
            <a:r>
              <a:rPr lang="en-US" dirty="0"/>
              <a:t> Called </a:t>
            </a:r>
            <a:r>
              <a:rPr lang="en-US" i="1" dirty="0"/>
              <a:t>Preload</a:t>
            </a:r>
            <a:r>
              <a:rPr lang="en-US" dirty="0"/>
              <a:t> because it is the work or </a:t>
            </a:r>
            <a:r>
              <a:rPr lang="en-US" i="1" dirty="0"/>
              <a:t>load</a:t>
            </a:r>
            <a:r>
              <a:rPr lang="en-US" dirty="0"/>
              <a:t> that the heart does </a:t>
            </a:r>
            <a:r>
              <a:rPr lang="en-US" i="1" dirty="0"/>
              <a:t>BEFORE</a:t>
            </a:r>
            <a:r>
              <a:rPr lang="en-US" dirty="0"/>
              <a:t> (</a:t>
            </a:r>
            <a:r>
              <a:rPr lang="en-US" i="1" dirty="0"/>
              <a:t>Pre</a:t>
            </a:r>
            <a:r>
              <a:rPr lang="en-US" dirty="0"/>
              <a:t>) the ventricular contraction begins</a:t>
            </a:r>
          </a:p>
          <a:p>
            <a:pPr lvl="1"/>
            <a:r>
              <a:rPr lang="en-US" dirty="0"/>
              <a:t> It is the amount of blood the heart must pump with each beat or the volume of blood stretching the ventricular muscle fibers at the end of diastole (</a:t>
            </a:r>
            <a:r>
              <a:rPr lang="en-US" i="1" dirty="0"/>
              <a:t>End Diastolic Volume</a:t>
            </a:r>
            <a:r>
              <a:rPr lang="en-US" dirty="0"/>
              <a:t>)</a:t>
            </a:r>
          </a:p>
        </p:txBody>
      </p:sp>
    </p:spTree>
    <p:extLst>
      <p:ext uri="{BB962C8B-B14F-4D97-AF65-F5344CB8AC3E}">
        <p14:creationId xmlns:p14="http://schemas.microsoft.com/office/powerpoint/2010/main" val="33936970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Frank-Starling Mechanism </a:t>
            </a:r>
            <a:br>
              <a:rPr lang="en-US" dirty="0"/>
            </a:br>
            <a:r>
              <a:rPr lang="en-US" dirty="0"/>
              <a:t>(Starling Law)</a:t>
            </a:r>
          </a:p>
        </p:txBody>
      </p:sp>
      <p:sp>
        <p:nvSpPr>
          <p:cNvPr id="3" name="Content Placeholder 2"/>
          <p:cNvSpPr>
            <a:spLocks noGrp="1"/>
          </p:cNvSpPr>
          <p:nvPr>
            <p:ph idx="1"/>
          </p:nvPr>
        </p:nvSpPr>
        <p:spPr>
          <a:xfrm>
            <a:off x="457200" y="2057400"/>
            <a:ext cx="8229600" cy="4419600"/>
          </a:xfrm>
        </p:spPr>
        <p:txBody>
          <a:bodyPr>
            <a:normAutofit/>
          </a:bodyPr>
          <a:lstStyle/>
          <a:p>
            <a:r>
              <a:rPr lang="en-US" dirty="0"/>
              <a:t>The increased force of contraction that accompanies an increase in ventricular end-diastolic volume is called the </a:t>
            </a:r>
            <a:r>
              <a:rPr lang="en-US" i="1" dirty="0"/>
              <a:t>Frank-Starling Mechanism</a:t>
            </a:r>
            <a:r>
              <a:rPr lang="en-US" dirty="0"/>
              <a:t> or </a:t>
            </a:r>
            <a:r>
              <a:rPr lang="en-US" i="1" dirty="0"/>
              <a:t>Starling Law</a:t>
            </a:r>
          </a:p>
          <a:p>
            <a:pPr lvl="1"/>
            <a:r>
              <a:rPr lang="en-US" dirty="0"/>
              <a:t>The ventricle contracts more forcefully during systole when it has been filled to a greater degree during diastole</a:t>
            </a:r>
          </a:p>
          <a:p>
            <a:pPr marL="457200" lvl="1" indent="0">
              <a:buNone/>
            </a:pPr>
            <a:endParaRPr lang="en-US" dirty="0"/>
          </a:p>
        </p:txBody>
      </p:sp>
    </p:spTree>
    <p:extLst>
      <p:ext uri="{BB962C8B-B14F-4D97-AF65-F5344CB8AC3E}">
        <p14:creationId xmlns:p14="http://schemas.microsoft.com/office/powerpoint/2010/main" val="21822581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Afterload</a:t>
            </a:r>
          </a:p>
        </p:txBody>
      </p:sp>
      <p:sp>
        <p:nvSpPr>
          <p:cNvPr id="3" name="Content Placeholder 2"/>
          <p:cNvSpPr>
            <a:spLocks noGrp="1"/>
          </p:cNvSpPr>
          <p:nvPr>
            <p:ph idx="1"/>
          </p:nvPr>
        </p:nvSpPr>
        <p:spPr/>
        <p:txBody>
          <a:bodyPr>
            <a:normAutofit lnSpcReduction="10000"/>
          </a:bodyPr>
          <a:lstStyle/>
          <a:p>
            <a:r>
              <a:rPr lang="en-US" dirty="0"/>
              <a:t>The pressure or tension work of the heart. The pressure the heart MUST generate to move blood into the aorta.</a:t>
            </a:r>
          </a:p>
          <a:p>
            <a:r>
              <a:rPr lang="en-US" dirty="0"/>
              <a:t>Called </a:t>
            </a:r>
            <a:r>
              <a:rPr lang="en-US" i="1" dirty="0"/>
              <a:t>Afterload</a:t>
            </a:r>
            <a:r>
              <a:rPr lang="en-US" dirty="0"/>
              <a:t> because it is the work (</a:t>
            </a:r>
            <a:r>
              <a:rPr lang="en-US" i="1" dirty="0"/>
              <a:t>Load</a:t>
            </a:r>
            <a:r>
              <a:rPr lang="en-US" dirty="0"/>
              <a:t>)  presented to the heart </a:t>
            </a:r>
            <a:r>
              <a:rPr lang="en-US" i="1" dirty="0"/>
              <a:t>AFTER</a:t>
            </a:r>
            <a:r>
              <a:rPr lang="en-US" dirty="0"/>
              <a:t> the contraction has commenced.</a:t>
            </a:r>
          </a:p>
          <a:p>
            <a:r>
              <a:rPr lang="en-US" dirty="0"/>
              <a:t>Systemic &amp; Pulmonary B/P is main source of </a:t>
            </a:r>
            <a:r>
              <a:rPr lang="en-US" i="1" dirty="0"/>
              <a:t>afterload</a:t>
            </a:r>
            <a:r>
              <a:rPr lang="en-US" dirty="0"/>
              <a:t> for left and right ventricles respectfully. </a:t>
            </a:r>
          </a:p>
        </p:txBody>
      </p:sp>
    </p:spTree>
    <p:extLst>
      <p:ext uri="{BB962C8B-B14F-4D97-AF65-F5344CB8AC3E}">
        <p14:creationId xmlns:p14="http://schemas.microsoft.com/office/powerpoint/2010/main" val="10164450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C3C3FFF-1DBD-64A3-3617-3E2018066FED}"/>
              </a:ext>
            </a:extLst>
          </p:cNvPr>
          <p:cNvPicPr>
            <a:picLocks noGrp="1" noChangeAspect="1"/>
          </p:cNvPicPr>
          <p:nvPr>
            <p:ph idx="1"/>
          </p:nvPr>
        </p:nvPicPr>
        <p:blipFill>
          <a:blip r:embed="rId2"/>
          <a:stretch>
            <a:fillRect/>
          </a:stretch>
        </p:blipFill>
        <p:spPr>
          <a:xfrm>
            <a:off x="1600200" y="315595"/>
            <a:ext cx="5334000" cy="6367463"/>
          </a:xfrm>
          <a:prstGeom prst="rect">
            <a:avLst/>
          </a:prstGeom>
        </p:spPr>
      </p:pic>
    </p:spTree>
    <p:extLst>
      <p:ext uri="{BB962C8B-B14F-4D97-AF65-F5344CB8AC3E}">
        <p14:creationId xmlns:p14="http://schemas.microsoft.com/office/powerpoint/2010/main" val="8293838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Cardiac Contractility</a:t>
            </a:r>
          </a:p>
        </p:txBody>
      </p:sp>
      <p:sp>
        <p:nvSpPr>
          <p:cNvPr id="3" name="Content Placeholder 2"/>
          <p:cNvSpPr>
            <a:spLocks noGrp="1"/>
          </p:cNvSpPr>
          <p:nvPr>
            <p:ph idx="1"/>
          </p:nvPr>
        </p:nvSpPr>
        <p:spPr/>
        <p:txBody>
          <a:bodyPr>
            <a:normAutofit fontScale="92500"/>
          </a:bodyPr>
          <a:lstStyle/>
          <a:p>
            <a:r>
              <a:rPr lang="en-US" dirty="0"/>
              <a:t>“Cardiac Contractility” = ability of the heart to change its force of contraction without changing its resting length</a:t>
            </a:r>
          </a:p>
          <a:p>
            <a:r>
              <a:rPr lang="en-US" dirty="0"/>
              <a:t>Contractility increases CO independent of preload and afterload</a:t>
            </a:r>
          </a:p>
          <a:p>
            <a:r>
              <a:rPr lang="en-US" dirty="0"/>
              <a:t>Interaction between actin and myosin filaments during cardiac muscle contraction and relaxation requires energy supplied by the breakdown of ATP and presence of calcium ions </a:t>
            </a:r>
          </a:p>
        </p:txBody>
      </p:sp>
    </p:spTree>
    <p:extLst>
      <p:ext uri="{BB962C8B-B14F-4D97-AF65-F5344CB8AC3E}">
        <p14:creationId xmlns:p14="http://schemas.microsoft.com/office/powerpoint/2010/main" val="22673010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Heart Rate</a:t>
            </a:r>
          </a:p>
        </p:txBody>
      </p:sp>
      <p:sp>
        <p:nvSpPr>
          <p:cNvPr id="3" name="Content Placeholder 2"/>
          <p:cNvSpPr>
            <a:spLocks noGrp="1"/>
          </p:cNvSpPr>
          <p:nvPr>
            <p:ph idx="1"/>
          </p:nvPr>
        </p:nvSpPr>
        <p:spPr/>
        <p:txBody>
          <a:bodyPr>
            <a:normAutofit fontScale="92500" lnSpcReduction="20000"/>
          </a:bodyPr>
          <a:lstStyle/>
          <a:p>
            <a:r>
              <a:rPr lang="en-US" dirty="0"/>
              <a:t>Depends on the frequency of ventricular contractions AND time spent in diastolic filling</a:t>
            </a:r>
          </a:p>
          <a:p>
            <a:pPr marL="0" indent="0">
              <a:buNone/>
            </a:pPr>
            <a:endParaRPr lang="en-US" dirty="0"/>
          </a:p>
          <a:p>
            <a:r>
              <a:rPr lang="en-US" dirty="0"/>
              <a:t>Faster the rate, the less time to fill</a:t>
            </a:r>
          </a:p>
          <a:p>
            <a:r>
              <a:rPr lang="en-US" dirty="0"/>
              <a:t>Less time to fill, less blood fills</a:t>
            </a:r>
          </a:p>
          <a:p>
            <a:r>
              <a:rPr lang="en-US" dirty="0"/>
              <a:t>Less blood fills, less CO</a:t>
            </a:r>
          </a:p>
          <a:p>
            <a:r>
              <a:rPr lang="en-US" dirty="0"/>
              <a:t>Less CO, less oxygen and nutrients for cells of body</a:t>
            </a:r>
          </a:p>
          <a:p>
            <a:r>
              <a:rPr lang="en-US" dirty="0"/>
              <a:t>Less oxygen &amp; nutrients, cells don’t like it and potentially can die</a:t>
            </a:r>
          </a:p>
          <a:p>
            <a:pPr marL="0" indent="0">
              <a:buNone/>
            </a:pPr>
            <a:endParaRPr lang="en-US" dirty="0"/>
          </a:p>
        </p:txBody>
      </p:sp>
    </p:spTree>
    <p:extLst>
      <p:ext uri="{BB962C8B-B14F-4D97-AF65-F5344CB8AC3E}">
        <p14:creationId xmlns:p14="http://schemas.microsoft.com/office/powerpoint/2010/main" val="31178873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Systemic Circulation</a:t>
            </a:r>
          </a:p>
        </p:txBody>
      </p:sp>
      <p:sp>
        <p:nvSpPr>
          <p:cNvPr id="3" name="Content Placeholder 2"/>
          <p:cNvSpPr>
            <a:spLocks noGrp="1"/>
          </p:cNvSpPr>
          <p:nvPr>
            <p:ph idx="1"/>
          </p:nvPr>
        </p:nvSpPr>
        <p:spPr/>
        <p:txBody>
          <a:bodyPr/>
          <a:lstStyle/>
          <a:p>
            <a:r>
              <a:rPr lang="en-US" dirty="0"/>
              <a:t>Function is to deliver oxygen &amp; nutrients to tissues and return carbon dioxide &amp; wastes.</a:t>
            </a:r>
          </a:p>
          <a:p>
            <a:r>
              <a:rPr lang="en-US" dirty="0"/>
              <a:t>Consists of arteries, arterioles, capillaries, venules, and veins.</a:t>
            </a:r>
          </a:p>
          <a:p>
            <a:r>
              <a:rPr lang="en-US" dirty="0"/>
              <a:t>Dynamic structures that constrict and relax to adjust B/P &amp; flow to meet varying demands of tissues and organ systems.</a:t>
            </a:r>
          </a:p>
        </p:txBody>
      </p:sp>
    </p:spTree>
    <p:extLst>
      <p:ext uri="{BB962C8B-B14F-4D97-AF65-F5344CB8AC3E}">
        <p14:creationId xmlns:p14="http://schemas.microsoft.com/office/powerpoint/2010/main" val="29632073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Blood Vessels</a:t>
            </a:r>
          </a:p>
        </p:txBody>
      </p:sp>
      <p:sp>
        <p:nvSpPr>
          <p:cNvPr id="3" name="Content Placeholder 2"/>
          <p:cNvSpPr>
            <a:spLocks noGrp="1"/>
          </p:cNvSpPr>
          <p:nvPr>
            <p:ph idx="1"/>
          </p:nvPr>
        </p:nvSpPr>
        <p:spPr/>
        <p:txBody>
          <a:bodyPr>
            <a:normAutofit fontScale="92500" lnSpcReduction="10000"/>
          </a:bodyPr>
          <a:lstStyle/>
          <a:p>
            <a:r>
              <a:rPr lang="en-US" dirty="0"/>
              <a:t>All vessels (except capillaries) have 3 layers or coats called </a:t>
            </a:r>
            <a:r>
              <a:rPr lang="en-US" i="1" dirty="0"/>
              <a:t>tunicae</a:t>
            </a:r>
            <a:r>
              <a:rPr lang="en-US" dirty="0"/>
              <a:t>.</a:t>
            </a:r>
          </a:p>
          <a:p>
            <a:r>
              <a:rPr lang="en-US" dirty="0"/>
              <a:t>Outer layer, loose connective tissue, is called </a:t>
            </a:r>
            <a:r>
              <a:rPr lang="en-US" i="1" dirty="0"/>
              <a:t>Tunica externa </a:t>
            </a:r>
            <a:r>
              <a:rPr lang="en-US" dirty="0"/>
              <a:t>or </a:t>
            </a:r>
            <a:r>
              <a:rPr lang="en-US" i="1" dirty="0"/>
              <a:t>adventitia. </a:t>
            </a:r>
            <a:r>
              <a:rPr lang="en-US" dirty="0"/>
              <a:t>Controls diameter of vessel.</a:t>
            </a:r>
            <a:endParaRPr lang="en-US" i="1" dirty="0"/>
          </a:p>
          <a:p>
            <a:r>
              <a:rPr lang="en-US" dirty="0"/>
              <a:t>Middle layer, smooth muscle tissue, is called </a:t>
            </a:r>
            <a:r>
              <a:rPr lang="en-US" i="1" dirty="0"/>
              <a:t>Tunica media.</a:t>
            </a:r>
            <a:endParaRPr lang="en-US" dirty="0"/>
          </a:p>
          <a:p>
            <a:r>
              <a:rPr lang="en-US" dirty="0"/>
              <a:t>Inner layer, epithelial tissue, is called </a:t>
            </a:r>
            <a:r>
              <a:rPr lang="en-US" i="1" dirty="0"/>
              <a:t>Tunica </a:t>
            </a:r>
            <a:r>
              <a:rPr lang="en-US" i="1" dirty="0" err="1"/>
              <a:t>intima</a:t>
            </a:r>
            <a:r>
              <a:rPr lang="en-US" i="1" dirty="0"/>
              <a:t>. </a:t>
            </a:r>
            <a:r>
              <a:rPr lang="en-US" dirty="0"/>
              <a:t>Smoothness prevents platelet adherence &amp; blood clotting.</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Vascular Smooth Muscle</a:t>
            </a:r>
          </a:p>
        </p:txBody>
      </p:sp>
      <p:sp>
        <p:nvSpPr>
          <p:cNvPr id="3" name="Content Placeholder 2"/>
          <p:cNvSpPr>
            <a:spLocks noGrp="1"/>
          </p:cNvSpPr>
          <p:nvPr>
            <p:ph idx="1"/>
          </p:nvPr>
        </p:nvSpPr>
        <p:spPr/>
        <p:txBody>
          <a:bodyPr>
            <a:normAutofit fontScale="92500" lnSpcReduction="20000"/>
          </a:bodyPr>
          <a:lstStyle/>
          <a:p>
            <a:r>
              <a:rPr lang="en-US" dirty="0"/>
              <a:t>Tunica media is in control of vasoconstriction and vasodilation.</a:t>
            </a:r>
          </a:p>
          <a:p>
            <a:r>
              <a:rPr lang="en-US" dirty="0"/>
              <a:t>Smooth muscle contracts slowly and generates high forces for long periods of time with low energy requirement (uses 1/10 to 1/300 the energy of skeletal muscle).</a:t>
            </a:r>
          </a:p>
          <a:p>
            <a:r>
              <a:rPr lang="en-US" dirty="0"/>
              <a:t>There is less developed sarcoplasmic reticulum for intracellular calcium storage, and very few fast sodium channels. </a:t>
            </a:r>
          </a:p>
          <a:p>
            <a:r>
              <a:rPr lang="en-US" dirty="0"/>
              <a:t>Depolarization for vasoconstriction therefore relies on extracellular calcium.</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Vascular Smooth Muscle</a:t>
            </a:r>
          </a:p>
        </p:txBody>
      </p:sp>
      <p:sp>
        <p:nvSpPr>
          <p:cNvPr id="3" name="Content Placeholder 2"/>
          <p:cNvSpPr>
            <a:spLocks noGrp="1"/>
          </p:cNvSpPr>
          <p:nvPr>
            <p:ph idx="1"/>
          </p:nvPr>
        </p:nvSpPr>
        <p:spPr>
          <a:xfrm>
            <a:off x="457200" y="1524000"/>
            <a:ext cx="8229600" cy="4953000"/>
          </a:xfrm>
        </p:spPr>
        <p:txBody>
          <a:bodyPr>
            <a:normAutofit fontScale="92500" lnSpcReduction="20000"/>
          </a:bodyPr>
          <a:lstStyle/>
          <a:p>
            <a:r>
              <a:rPr lang="en-US" dirty="0"/>
              <a:t>Sympathetic nervous system control of vascular smooth muscle tone occurs thru receptor-activated opening &amp; closing of the calcium channels. </a:t>
            </a:r>
          </a:p>
          <a:p>
            <a:r>
              <a:rPr lang="el-GR" dirty="0"/>
              <a:t>Α</a:t>
            </a:r>
            <a:r>
              <a:rPr lang="en-US" baseline="-25000" dirty="0"/>
              <a:t>1 &amp; 2</a:t>
            </a:r>
            <a:r>
              <a:rPr lang="en-US" dirty="0"/>
              <a:t>-adrenergic receptors are excitatory, causing calcium channels to open producing vasoconstriction.</a:t>
            </a:r>
          </a:p>
          <a:p>
            <a:r>
              <a:rPr lang="el-GR" dirty="0"/>
              <a:t>β</a:t>
            </a:r>
            <a:r>
              <a:rPr lang="en-US" baseline="-25000" dirty="0"/>
              <a:t>2</a:t>
            </a:r>
            <a:r>
              <a:rPr lang="en-US" dirty="0"/>
              <a:t>-adrenergic receptors are inhibitory, causing calcium channels to close producing vasodilation.</a:t>
            </a:r>
          </a:p>
          <a:p>
            <a:r>
              <a:rPr lang="en-US" dirty="0"/>
              <a:t>Calcium channel blocking drugs cause vasodilation by blocking calcium entry thru calcium channels in smooth muscle.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Arterial System</a:t>
            </a:r>
          </a:p>
        </p:txBody>
      </p:sp>
      <p:sp>
        <p:nvSpPr>
          <p:cNvPr id="3" name="Content Placeholder 2"/>
          <p:cNvSpPr>
            <a:spLocks noGrp="1"/>
          </p:cNvSpPr>
          <p:nvPr>
            <p:ph idx="1"/>
          </p:nvPr>
        </p:nvSpPr>
        <p:spPr/>
        <p:txBody>
          <a:bodyPr>
            <a:normAutofit lnSpcReduction="10000"/>
          </a:bodyPr>
          <a:lstStyle/>
          <a:p>
            <a:r>
              <a:rPr lang="en-US" dirty="0"/>
              <a:t>High pressure system</a:t>
            </a:r>
          </a:p>
          <a:p>
            <a:r>
              <a:rPr lang="en-US" dirty="0"/>
              <a:t>Consists of large and medium-sized arteries and arterioles</a:t>
            </a:r>
          </a:p>
          <a:p>
            <a:r>
              <a:rPr lang="en-US" dirty="0"/>
              <a:t>Thick-walled vessels with lots of elastic fibers that allow for flexibility of vessel during systole &amp; diastole</a:t>
            </a:r>
          </a:p>
          <a:p>
            <a:r>
              <a:rPr lang="en-US" dirty="0"/>
              <a:t>Arterioles (mostly smooth muscle) serve as resistance vessels for circulatory system and regulate B/P</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Arterial System</a:t>
            </a:r>
          </a:p>
        </p:txBody>
      </p:sp>
      <p:sp>
        <p:nvSpPr>
          <p:cNvPr id="3" name="Content Placeholder 2"/>
          <p:cNvSpPr>
            <a:spLocks noGrp="1"/>
          </p:cNvSpPr>
          <p:nvPr>
            <p:ph idx="1"/>
          </p:nvPr>
        </p:nvSpPr>
        <p:spPr/>
        <p:txBody>
          <a:bodyPr>
            <a:normAutofit/>
          </a:bodyPr>
          <a:lstStyle/>
          <a:p>
            <a:r>
              <a:rPr lang="en-US" dirty="0"/>
              <a:t>Arterial Pulse Pressures – waves of pressure generated by intermittent ejection of blood from left ventricle into aorta and large arteries along the entire length of the vessels.</a:t>
            </a:r>
          </a:p>
          <a:p>
            <a:pPr marL="0" indent="0">
              <a:buNone/>
            </a:pPr>
            <a:endParaRPr lang="en-US" dirty="0"/>
          </a:p>
          <a:p>
            <a:r>
              <a:rPr lang="en-US" dirty="0"/>
              <a:t>When taking a pulse, it is this pulse pressure that you are feeling.</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Arterial System</a:t>
            </a:r>
          </a:p>
        </p:txBody>
      </p:sp>
      <p:sp>
        <p:nvSpPr>
          <p:cNvPr id="3" name="Content Placeholder 2"/>
          <p:cNvSpPr>
            <a:spLocks noGrp="1"/>
          </p:cNvSpPr>
          <p:nvPr>
            <p:ph idx="1"/>
          </p:nvPr>
        </p:nvSpPr>
        <p:spPr/>
        <p:txBody>
          <a:bodyPr>
            <a:normAutofit lnSpcReduction="10000"/>
          </a:bodyPr>
          <a:lstStyle/>
          <a:p>
            <a:r>
              <a:rPr lang="en-US" dirty="0"/>
              <a:t>Pulse pressure wave gets smaller &amp; smaller the further down the system you move until at the capillaries, there is not much left, just enough to keep the capillaries open.</a:t>
            </a:r>
          </a:p>
          <a:p>
            <a:r>
              <a:rPr lang="en-US" dirty="0"/>
              <a:t>Local tissue control can open the system wider for more blood flow to occur (such as with a cut finger) such that you may feel a “pulsing” in the finger. This is allowing more blood to get there to help in healing process.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Venous System</a:t>
            </a:r>
          </a:p>
        </p:txBody>
      </p:sp>
      <p:sp>
        <p:nvSpPr>
          <p:cNvPr id="3" name="Content Placeholder 2"/>
          <p:cNvSpPr>
            <a:spLocks noGrp="1"/>
          </p:cNvSpPr>
          <p:nvPr>
            <p:ph idx="1"/>
          </p:nvPr>
        </p:nvSpPr>
        <p:spPr/>
        <p:txBody>
          <a:bodyPr>
            <a:normAutofit lnSpcReduction="10000"/>
          </a:bodyPr>
          <a:lstStyle/>
          <a:p>
            <a:r>
              <a:rPr lang="en-US" dirty="0"/>
              <a:t>Low pressure system</a:t>
            </a:r>
          </a:p>
          <a:p>
            <a:r>
              <a:rPr lang="en-US" dirty="0"/>
              <a:t>Returns blood from capillaries via venules to veins to right atrium.</a:t>
            </a:r>
          </a:p>
          <a:p>
            <a:r>
              <a:rPr lang="en-US" dirty="0"/>
              <a:t>Pressure in the right atrium (normal being 0mmHg) is called </a:t>
            </a:r>
            <a:r>
              <a:rPr lang="en-US" i="1" dirty="0"/>
              <a:t>Central Venous Pressure.</a:t>
            </a:r>
            <a:endParaRPr lang="en-US" dirty="0"/>
          </a:p>
          <a:p>
            <a:r>
              <a:rPr lang="en-US" dirty="0"/>
              <a:t>This pressure is regulated by the ability of the right ventricle to pump blood to the pulmonary circulation AND flow unimpeded into the right atrium.</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Venous System</a:t>
            </a:r>
          </a:p>
        </p:txBody>
      </p:sp>
      <p:sp>
        <p:nvSpPr>
          <p:cNvPr id="3" name="Content Placeholder 2"/>
          <p:cNvSpPr>
            <a:spLocks noGrp="1"/>
          </p:cNvSpPr>
          <p:nvPr>
            <p:ph idx="1"/>
          </p:nvPr>
        </p:nvSpPr>
        <p:spPr/>
        <p:txBody>
          <a:bodyPr>
            <a:normAutofit fontScale="85000" lnSpcReduction="10000"/>
          </a:bodyPr>
          <a:lstStyle/>
          <a:p>
            <a:r>
              <a:rPr lang="en-US" dirty="0"/>
              <a:t>Veins &amp; Venules are thin-walled, distensible, and collapsible.</a:t>
            </a:r>
          </a:p>
          <a:p>
            <a:r>
              <a:rPr lang="en-US" dirty="0"/>
              <a:t>Veins can enlarge and store large quantities of blood.</a:t>
            </a:r>
          </a:p>
          <a:p>
            <a:r>
              <a:rPr lang="en-US" dirty="0"/>
              <a:t>Veins still have muscle layer that allows for contraction and relaxation based on tissue demand.</a:t>
            </a:r>
          </a:p>
          <a:p>
            <a:r>
              <a:rPr lang="en-US" dirty="0"/>
              <a:t>Veins in the extremities (arms &amp; legs) have one-way valves (cups like the semilunar valves) that prevents retrograde flow of blood. </a:t>
            </a:r>
          </a:p>
          <a:p>
            <a:r>
              <a:rPr lang="en-US" dirty="0"/>
              <a:t>Muscles in the extremities contract intermittently to help move the blood forward toward the heart. This is called the </a:t>
            </a:r>
            <a:r>
              <a:rPr lang="en-US" i="1" dirty="0"/>
              <a:t>venous</a:t>
            </a:r>
            <a:r>
              <a:rPr lang="en-US" dirty="0"/>
              <a:t> or </a:t>
            </a:r>
            <a:r>
              <a:rPr lang="en-US" i="1" dirty="0"/>
              <a:t>muscle pump.</a:t>
            </a: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5CA69BC-3F12-CB40-D0E2-D86CE98FDEF2}"/>
              </a:ext>
            </a:extLst>
          </p:cNvPr>
          <p:cNvPicPr>
            <a:picLocks noGrp="1" noChangeAspect="1"/>
          </p:cNvPicPr>
          <p:nvPr>
            <p:ph idx="1"/>
          </p:nvPr>
        </p:nvPicPr>
        <p:blipFill>
          <a:blip r:embed="rId2"/>
          <a:stretch>
            <a:fillRect/>
          </a:stretch>
        </p:blipFill>
        <p:spPr>
          <a:xfrm>
            <a:off x="2209800" y="609600"/>
            <a:ext cx="4411468" cy="5516563"/>
          </a:xfrm>
          <a:prstGeom prst="rect">
            <a:avLst/>
          </a:prstGeom>
        </p:spPr>
      </p:pic>
    </p:spTree>
    <p:extLst>
      <p:ext uri="{BB962C8B-B14F-4D97-AF65-F5344CB8AC3E}">
        <p14:creationId xmlns:p14="http://schemas.microsoft.com/office/powerpoint/2010/main" val="42202564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Microcirculation &amp; Lymphatic System</a:t>
            </a:r>
          </a:p>
        </p:txBody>
      </p:sp>
      <p:sp>
        <p:nvSpPr>
          <p:cNvPr id="3" name="Content Placeholder 2"/>
          <p:cNvSpPr>
            <a:spLocks noGrp="1"/>
          </p:cNvSpPr>
          <p:nvPr>
            <p:ph idx="1"/>
          </p:nvPr>
        </p:nvSpPr>
        <p:spPr>
          <a:xfrm>
            <a:off x="457200" y="1600200"/>
            <a:ext cx="8229600" cy="5029200"/>
          </a:xfrm>
        </p:spPr>
        <p:txBody>
          <a:bodyPr>
            <a:normAutofit/>
          </a:bodyPr>
          <a:lstStyle/>
          <a:p>
            <a:r>
              <a:rPr lang="en-US" dirty="0"/>
              <a:t>Arterioles, capillaries, &amp; venules referred to as the </a:t>
            </a:r>
            <a:r>
              <a:rPr lang="en-US" i="1" dirty="0"/>
              <a:t>microcirculation</a:t>
            </a:r>
          </a:p>
          <a:p>
            <a:endParaRPr lang="en-US" dirty="0"/>
          </a:p>
          <a:p>
            <a:r>
              <a:rPr lang="en-US" dirty="0"/>
              <a:t>Arterioles channel blood into the capillaries via </a:t>
            </a:r>
            <a:r>
              <a:rPr lang="en-US" i="1" dirty="0"/>
              <a:t>precapillary sphincters</a:t>
            </a:r>
            <a:r>
              <a:rPr lang="en-US" dirty="0"/>
              <a:t> that open based on venous pressures and local tissue needs</a:t>
            </a:r>
          </a:p>
          <a:p>
            <a:pPr marL="0" indent="0">
              <a:buNone/>
            </a:pPr>
            <a:endParaRPr lang="en-US" dirty="0"/>
          </a:p>
          <a:p>
            <a:r>
              <a:rPr lang="en-US" dirty="0"/>
              <a:t>Capillaries are the site of gas, nutrients, &amp; waste exchange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Microcirculation &amp; Lymphatic System</a:t>
            </a:r>
          </a:p>
        </p:txBody>
      </p:sp>
      <p:sp>
        <p:nvSpPr>
          <p:cNvPr id="3" name="Content Placeholder 2"/>
          <p:cNvSpPr>
            <a:spLocks noGrp="1"/>
          </p:cNvSpPr>
          <p:nvPr>
            <p:ph idx="1"/>
          </p:nvPr>
        </p:nvSpPr>
        <p:spPr>
          <a:xfrm>
            <a:off x="304800" y="1417638"/>
            <a:ext cx="8153400" cy="5165724"/>
          </a:xfrm>
        </p:spPr>
        <p:txBody>
          <a:bodyPr>
            <a:normAutofit fontScale="77500" lnSpcReduction="20000"/>
          </a:bodyPr>
          <a:lstStyle/>
          <a:p>
            <a:r>
              <a:rPr lang="en-US" dirty="0"/>
              <a:t>Oxygen &amp; Nutrients leave the capillary into the extracellular space where they are then picked up by individual cells for use</a:t>
            </a:r>
          </a:p>
          <a:p>
            <a:endParaRPr lang="en-US" dirty="0"/>
          </a:p>
          <a:p>
            <a:r>
              <a:rPr lang="en-US" dirty="0"/>
              <a:t>Carbon Dioxide &amp; Waste products leave the cells into the extracellular space where it is either picked up by capillaries, if the products are small enough to fit into the pores of the capillary OR by the lymphatic vessels that can channel larger products back to the venous system via the </a:t>
            </a:r>
            <a:r>
              <a:rPr lang="en-US" i="1" dirty="0"/>
              <a:t>Thoracic duct </a:t>
            </a:r>
            <a:r>
              <a:rPr lang="en-US" dirty="0"/>
              <a:t>into the left subclavian vein or the </a:t>
            </a:r>
            <a:r>
              <a:rPr lang="en-US" i="1" dirty="0"/>
              <a:t>Right lymphatic duct</a:t>
            </a:r>
            <a:r>
              <a:rPr lang="en-US" dirty="0"/>
              <a:t> into the right subclavian</a:t>
            </a:r>
          </a:p>
          <a:p>
            <a:pPr marL="0" indent="0">
              <a:buNone/>
            </a:pPr>
            <a:endParaRPr lang="en-US" dirty="0"/>
          </a:p>
          <a:p>
            <a:r>
              <a:rPr lang="en-US" dirty="0"/>
              <a:t>Lymph nodes are interspersed along lymphatic vessels to help filter bacteria via B &amp; T cell lymphocytes (which also mature from differentiation).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Local &amp; Humoral Control of Blood Flow</a:t>
            </a:r>
          </a:p>
        </p:txBody>
      </p:sp>
      <p:sp>
        <p:nvSpPr>
          <p:cNvPr id="3" name="Content Placeholder 2"/>
          <p:cNvSpPr>
            <a:spLocks noGrp="1"/>
          </p:cNvSpPr>
          <p:nvPr>
            <p:ph idx="1"/>
          </p:nvPr>
        </p:nvSpPr>
        <p:spPr/>
        <p:txBody>
          <a:bodyPr/>
          <a:lstStyle/>
          <a:p>
            <a:r>
              <a:rPr lang="en-US" dirty="0"/>
              <a:t>Autoregulation</a:t>
            </a:r>
          </a:p>
          <a:p>
            <a:r>
              <a:rPr lang="en-US" dirty="0"/>
              <a:t>Endothelial Control</a:t>
            </a:r>
          </a:p>
          <a:p>
            <a:r>
              <a:rPr lang="en-US" dirty="0"/>
              <a:t>Humoral Control</a:t>
            </a:r>
          </a:p>
          <a:p>
            <a:pPr marL="0" indent="0">
              <a:buNone/>
            </a:pPr>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Autoregulation</a:t>
            </a:r>
          </a:p>
        </p:txBody>
      </p:sp>
      <p:sp>
        <p:nvSpPr>
          <p:cNvPr id="3" name="Content Placeholder 2"/>
          <p:cNvSpPr>
            <a:spLocks noGrp="1"/>
          </p:cNvSpPr>
          <p:nvPr>
            <p:ph idx="1"/>
          </p:nvPr>
        </p:nvSpPr>
        <p:spPr/>
        <p:txBody>
          <a:bodyPr>
            <a:normAutofit fontScale="92500" lnSpcReduction="20000"/>
          </a:bodyPr>
          <a:lstStyle/>
          <a:p>
            <a:r>
              <a:rPr lang="en-US" dirty="0"/>
              <a:t>Local control of blood flow governed by nutritional needs of the local tissue.</a:t>
            </a:r>
          </a:p>
          <a:p>
            <a:r>
              <a:rPr lang="en-US" dirty="0"/>
              <a:t>Heart, brain, &amp; kidneys blood flow stays relatively constant, even when systemic B/P changes even over a range from 60 to 180 mmHg. This preserves the vital organ function.</a:t>
            </a:r>
          </a:p>
          <a:p>
            <a:r>
              <a:rPr lang="en-US" dirty="0"/>
              <a:t>Mediated by changes in blood vessel tone or local tissue factors (such as low oxygen or accumulation of toxic metabolites).</a:t>
            </a:r>
          </a:p>
          <a:p>
            <a:r>
              <a:rPr lang="en-US" dirty="0"/>
              <a:t>Hyperemia (increased blood flow) is an example of autoregulation.</a:t>
            </a:r>
          </a:p>
        </p:txBody>
      </p:sp>
    </p:spTree>
    <p:extLst>
      <p:ext uri="{BB962C8B-B14F-4D97-AF65-F5344CB8AC3E}">
        <p14:creationId xmlns:p14="http://schemas.microsoft.com/office/powerpoint/2010/main" val="34296103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Endothelial Control</a:t>
            </a:r>
          </a:p>
        </p:txBody>
      </p:sp>
      <p:sp>
        <p:nvSpPr>
          <p:cNvPr id="3" name="Content Placeholder 2"/>
          <p:cNvSpPr>
            <a:spLocks noGrp="1"/>
          </p:cNvSpPr>
          <p:nvPr>
            <p:ph idx="1"/>
          </p:nvPr>
        </p:nvSpPr>
        <p:spPr>
          <a:xfrm>
            <a:off x="457200" y="1600200"/>
            <a:ext cx="8458200" cy="5105400"/>
          </a:xfrm>
        </p:spPr>
        <p:txBody>
          <a:bodyPr>
            <a:normAutofit fontScale="85000" lnSpcReduction="10000"/>
          </a:bodyPr>
          <a:lstStyle/>
          <a:p>
            <a:r>
              <a:rPr lang="en-US" dirty="0"/>
              <a:t>Important function of endothelial cells lining arterioles and small arteries is synthesis and release of factors that control vessel dilation</a:t>
            </a:r>
          </a:p>
          <a:p>
            <a:r>
              <a:rPr lang="en-US" dirty="0"/>
              <a:t>Endothelium produces </a:t>
            </a:r>
            <a:r>
              <a:rPr lang="en-US" i="1" dirty="0">
                <a:solidFill>
                  <a:srgbClr val="FF0000"/>
                </a:solidFill>
              </a:rPr>
              <a:t>nitric oxide</a:t>
            </a:r>
            <a:r>
              <a:rPr lang="en-US" dirty="0"/>
              <a:t> which relaxes vascular smooth muscle and has direct vasodilation effects </a:t>
            </a:r>
          </a:p>
          <a:p>
            <a:r>
              <a:rPr lang="en-US" dirty="0"/>
              <a:t> Nitric oxide inhibits platelet aggregation and secretion of platelet contents which causes vasoconstriction </a:t>
            </a:r>
          </a:p>
          <a:p>
            <a:r>
              <a:rPr lang="en-US" dirty="0"/>
              <a:t>This is under control by several agonists – acetylcholine, bradykinin, histamine, and thrombin</a:t>
            </a:r>
          </a:p>
          <a:p>
            <a:r>
              <a:rPr lang="en-US" i="1" dirty="0"/>
              <a:t>Sheer Stress</a:t>
            </a:r>
            <a:r>
              <a:rPr lang="en-US" dirty="0"/>
              <a:t> from increased blood flow or increased B/P can also cause release of nitric oxide</a:t>
            </a:r>
            <a:endParaRPr lang="en-US" i="1" dirty="0"/>
          </a:p>
        </p:txBody>
      </p:sp>
    </p:spTree>
    <p:extLst>
      <p:ext uri="{BB962C8B-B14F-4D97-AF65-F5344CB8AC3E}">
        <p14:creationId xmlns:p14="http://schemas.microsoft.com/office/powerpoint/2010/main" val="10813856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Endothelial Control</a:t>
            </a:r>
          </a:p>
        </p:txBody>
      </p:sp>
      <p:sp>
        <p:nvSpPr>
          <p:cNvPr id="3" name="Content Placeholder 2"/>
          <p:cNvSpPr>
            <a:spLocks noGrp="1"/>
          </p:cNvSpPr>
          <p:nvPr>
            <p:ph idx="1"/>
          </p:nvPr>
        </p:nvSpPr>
        <p:spPr/>
        <p:txBody>
          <a:bodyPr/>
          <a:lstStyle/>
          <a:p>
            <a:r>
              <a:rPr lang="en-US" dirty="0"/>
              <a:t>Endothelium also release vaso</a:t>
            </a:r>
            <a:r>
              <a:rPr lang="en-US" u="sng" dirty="0"/>
              <a:t>constrictor</a:t>
            </a:r>
            <a:r>
              <a:rPr lang="en-US" dirty="0"/>
              <a:t> substances – </a:t>
            </a:r>
            <a:r>
              <a:rPr lang="en-US" i="1" dirty="0"/>
              <a:t>angiotensin II, prostaglandins, </a:t>
            </a:r>
            <a:r>
              <a:rPr lang="en-US" dirty="0"/>
              <a:t>and</a:t>
            </a:r>
            <a:r>
              <a:rPr lang="en-US" i="1" dirty="0"/>
              <a:t> </a:t>
            </a:r>
            <a:r>
              <a:rPr lang="en-US" i="1" dirty="0" err="1"/>
              <a:t>endothelins</a:t>
            </a:r>
            <a:endParaRPr lang="en-US" i="1" dirty="0"/>
          </a:p>
          <a:p>
            <a:r>
              <a:rPr lang="en-US" dirty="0"/>
              <a:t>After a blood vessel is damaged, local endothelin is released to vasoconstrict the vessel and prevent extensive bleeding</a:t>
            </a:r>
          </a:p>
        </p:txBody>
      </p:sp>
    </p:spTree>
    <p:extLst>
      <p:ext uri="{BB962C8B-B14F-4D97-AF65-F5344CB8AC3E}">
        <p14:creationId xmlns:p14="http://schemas.microsoft.com/office/powerpoint/2010/main" val="25138487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Humoral Control</a:t>
            </a:r>
          </a:p>
        </p:txBody>
      </p:sp>
      <p:sp>
        <p:nvSpPr>
          <p:cNvPr id="3" name="Content Placeholder 2"/>
          <p:cNvSpPr>
            <a:spLocks noGrp="1"/>
          </p:cNvSpPr>
          <p:nvPr>
            <p:ph idx="1"/>
          </p:nvPr>
        </p:nvSpPr>
        <p:spPr/>
        <p:txBody>
          <a:bodyPr/>
          <a:lstStyle/>
          <a:p>
            <a:r>
              <a:rPr lang="en-US" dirty="0"/>
              <a:t>Vasoconstrictive &amp; vasodilative hormones circulate in the blood vessels from distant glands OR from local tissue.</a:t>
            </a:r>
          </a:p>
          <a:p>
            <a:r>
              <a:rPr lang="en-US" dirty="0"/>
              <a:t>Important hormones are: norepinephrine, epinephrine, angiotensin II, histamine, serotonin, bradykinin, and the prostaglandins.</a:t>
            </a:r>
          </a:p>
        </p:txBody>
      </p:sp>
    </p:spTree>
    <p:extLst>
      <p:ext uri="{BB962C8B-B14F-4D97-AF65-F5344CB8AC3E}">
        <p14:creationId xmlns:p14="http://schemas.microsoft.com/office/powerpoint/2010/main" val="188000659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Humoral Control</a:t>
            </a:r>
          </a:p>
        </p:txBody>
      </p:sp>
      <p:sp>
        <p:nvSpPr>
          <p:cNvPr id="3" name="Content Placeholder 2"/>
          <p:cNvSpPr>
            <a:spLocks noGrp="1"/>
          </p:cNvSpPr>
          <p:nvPr>
            <p:ph idx="1"/>
          </p:nvPr>
        </p:nvSpPr>
        <p:spPr/>
        <p:txBody>
          <a:bodyPr>
            <a:normAutofit lnSpcReduction="10000"/>
          </a:bodyPr>
          <a:lstStyle/>
          <a:p>
            <a:r>
              <a:rPr lang="en-US" dirty="0"/>
              <a:t>Norepinephrine – powerful vasoconstrictor</a:t>
            </a:r>
          </a:p>
          <a:p>
            <a:r>
              <a:rPr lang="en-US" dirty="0"/>
              <a:t>Epinephrine – not as powerful a vasoconstrictor; in skeletal muscle acts as a vasodilator.</a:t>
            </a:r>
          </a:p>
          <a:p>
            <a:r>
              <a:rPr lang="en-US" dirty="0"/>
              <a:t>Released by sympathetic nerve endings as well as the adrenal medulla.</a:t>
            </a:r>
          </a:p>
          <a:p>
            <a:r>
              <a:rPr lang="en-US" dirty="0"/>
              <a:t>Nerve endings release causes immediate reaction while adrenal release takes longer due to circulatory time.</a:t>
            </a:r>
          </a:p>
        </p:txBody>
      </p:sp>
    </p:spTree>
    <p:extLst>
      <p:ext uri="{BB962C8B-B14F-4D97-AF65-F5344CB8AC3E}">
        <p14:creationId xmlns:p14="http://schemas.microsoft.com/office/powerpoint/2010/main" val="41875777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Humoral Control</a:t>
            </a:r>
          </a:p>
        </p:txBody>
      </p:sp>
      <p:sp>
        <p:nvSpPr>
          <p:cNvPr id="3" name="Content Placeholder 2"/>
          <p:cNvSpPr>
            <a:spLocks noGrp="1"/>
          </p:cNvSpPr>
          <p:nvPr>
            <p:ph idx="1"/>
          </p:nvPr>
        </p:nvSpPr>
        <p:spPr/>
        <p:txBody>
          <a:bodyPr/>
          <a:lstStyle/>
          <a:p>
            <a:r>
              <a:rPr lang="en-US" dirty="0"/>
              <a:t>Angiotensin II – powerful vasoconstrictor; acts on arterioles to increase peripheral vascular resistance thereby increasing B/P.</a:t>
            </a:r>
          </a:p>
          <a:p>
            <a:r>
              <a:rPr lang="en-US" dirty="0"/>
              <a:t>Histamine – powerful vasodilator of arterioles and increases capillary permeability. Derived from mast cells in injured tissues and basophils in the blood.</a:t>
            </a:r>
          </a:p>
        </p:txBody>
      </p:sp>
    </p:spTree>
    <p:extLst>
      <p:ext uri="{BB962C8B-B14F-4D97-AF65-F5344CB8AC3E}">
        <p14:creationId xmlns:p14="http://schemas.microsoft.com/office/powerpoint/2010/main" val="26322409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Humoral Control</a:t>
            </a:r>
          </a:p>
        </p:txBody>
      </p:sp>
      <p:sp>
        <p:nvSpPr>
          <p:cNvPr id="3" name="Content Placeholder 2"/>
          <p:cNvSpPr>
            <a:spLocks noGrp="1"/>
          </p:cNvSpPr>
          <p:nvPr>
            <p:ph idx="1"/>
          </p:nvPr>
        </p:nvSpPr>
        <p:spPr/>
        <p:txBody>
          <a:bodyPr>
            <a:normAutofit lnSpcReduction="10000"/>
          </a:bodyPr>
          <a:lstStyle/>
          <a:p>
            <a:r>
              <a:rPr lang="en-US" dirty="0"/>
              <a:t>Serotonin – released from aggregating platelets during clotting process; causes vasoconstriction, important role in controlling bleeding.</a:t>
            </a:r>
          </a:p>
          <a:p>
            <a:r>
              <a:rPr lang="en-US" dirty="0"/>
              <a:t>Bradykinin – causes intense vasodilation of arterioles, increased capillary permeability, and constriction of venules. Helps regulate blood flow in the skin, salivary glands, &amp; GI tract.</a:t>
            </a:r>
          </a:p>
        </p:txBody>
      </p:sp>
    </p:spTree>
    <p:extLst>
      <p:ext uri="{BB962C8B-B14F-4D97-AF65-F5344CB8AC3E}">
        <p14:creationId xmlns:p14="http://schemas.microsoft.com/office/powerpoint/2010/main" val="37160055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Humoral Control</a:t>
            </a:r>
          </a:p>
        </p:txBody>
      </p:sp>
      <p:sp>
        <p:nvSpPr>
          <p:cNvPr id="3" name="Content Placeholder 2"/>
          <p:cNvSpPr>
            <a:spLocks noGrp="1"/>
          </p:cNvSpPr>
          <p:nvPr>
            <p:ph idx="1"/>
          </p:nvPr>
        </p:nvSpPr>
        <p:spPr/>
        <p:txBody>
          <a:bodyPr>
            <a:normAutofit fontScale="92500"/>
          </a:bodyPr>
          <a:lstStyle/>
          <a:p>
            <a:r>
              <a:rPr lang="en-US" dirty="0"/>
              <a:t>Prostaglandins – formed from constituents of cell membrane. Tissue injury incites release of these constituents which then initiates synthesis of prostaglandins. Some produce vasoconstriction while others produce </a:t>
            </a:r>
            <a:r>
              <a:rPr lang="en-US"/>
              <a:t>vasodilation </a:t>
            </a:r>
          </a:p>
          <a:p>
            <a:r>
              <a:rPr lang="en-US"/>
              <a:t>Corticosteroids </a:t>
            </a:r>
            <a:r>
              <a:rPr lang="en-US" dirty="0"/>
              <a:t>produce an anti-inflammatory response by blocking the release of constituents (arachidonic acid), preventing prostaglandin synthesis.</a:t>
            </a:r>
          </a:p>
        </p:txBody>
      </p:sp>
    </p:spTree>
    <p:extLst>
      <p:ext uri="{BB962C8B-B14F-4D97-AF65-F5344CB8AC3E}">
        <p14:creationId xmlns:p14="http://schemas.microsoft.com/office/powerpoint/2010/main" val="365121151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Neural Control of Circulatory Function</a:t>
            </a:r>
          </a:p>
        </p:txBody>
      </p:sp>
      <p:sp>
        <p:nvSpPr>
          <p:cNvPr id="3" name="Content Placeholder 2"/>
          <p:cNvSpPr>
            <a:spLocks noGrp="1"/>
          </p:cNvSpPr>
          <p:nvPr>
            <p:ph idx="1"/>
          </p:nvPr>
        </p:nvSpPr>
        <p:spPr/>
        <p:txBody>
          <a:bodyPr>
            <a:normAutofit fontScale="85000" lnSpcReduction="20000"/>
          </a:bodyPr>
          <a:lstStyle/>
          <a:p>
            <a:r>
              <a:rPr lang="en-US" dirty="0"/>
              <a:t>Neural control centers for regulation of cardiac function and B/P are in reticular formation of the lower Pons &amp; Medulla of the brain stem, where integration of the ANS responses occur.</a:t>
            </a:r>
          </a:p>
          <a:p>
            <a:r>
              <a:rPr lang="en-US" dirty="0"/>
              <a:t>Both sympathetic and parasympathetic divisions of the ANS innervate the heart.</a:t>
            </a:r>
          </a:p>
          <a:p>
            <a:r>
              <a:rPr lang="en-US" dirty="0"/>
              <a:t>Parasympathetic via the vagus nerve (CN X) which produces a slowing of the heart rate. Little to no effect on the vasculature.</a:t>
            </a:r>
          </a:p>
          <a:p>
            <a:r>
              <a:rPr lang="en-US" dirty="0"/>
              <a:t>Sympathetic has excitatory effect on heart rate and contractility AND controlling smooth muscle tone of the blood vessels.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ANS Control of B/P</a:t>
            </a:r>
          </a:p>
        </p:txBody>
      </p:sp>
      <p:sp>
        <p:nvSpPr>
          <p:cNvPr id="3" name="Content Placeholder 2"/>
          <p:cNvSpPr>
            <a:spLocks noGrp="1"/>
          </p:cNvSpPr>
          <p:nvPr>
            <p:ph idx="1"/>
          </p:nvPr>
        </p:nvSpPr>
        <p:spPr/>
        <p:txBody>
          <a:bodyPr/>
          <a:lstStyle/>
          <a:p>
            <a:r>
              <a:rPr lang="en-US" dirty="0"/>
              <a:t>Intrinsic &amp; Extrinsic reflexes work to assure adequate B/P.</a:t>
            </a:r>
          </a:p>
          <a:p>
            <a:r>
              <a:rPr lang="en-US" dirty="0"/>
              <a:t>Intrinsic = baroreceptors &amp; chemoreceptors</a:t>
            </a:r>
          </a:p>
          <a:p>
            <a:r>
              <a:rPr lang="en-US" dirty="0"/>
              <a:t>Extrinsic = reflexes of pain and cold work to shunt blood to central body where it is needed most.</a:t>
            </a:r>
          </a:p>
        </p:txBody>
      </p:sp>
    </p:spTree>
    <p:extLst>
      <p:ext uri="{BB962C8B-B14F-4D97-AF65-F5344CB8AC3E}">
        <p14:creationId xmlns:p14="http://schemas.microsoft.com/office/powerpoint/2010/main" val="422173027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rPr>
              <a:t>ANS Control of B/P</a:t>
            </a:r>
            <a:endParaRPr lang="en-US" dirty="0"/>
          </a:p>
        </p:txBody>
      </p:sp>
      <p:sp>
        <p:nvSpPr>
          <p:cNvPr id="3" name="Content Placeholder 2"/>
          <p:cNvSpPr>
            <a:spLocks noGrp="1"/>
          </p:cNvSpPr>
          <p:nvPr>
            <p:ph idx="1"/>
          </p:nvPr>
        </p:nvSpPr>
        <p:spPr/>
        <p:txBody>
          <a:bodyPr>
            <a:normAutofit fontScale="92500"/>
          </a:bodyPr>
          <a:lstStyle/>
          <a:p>
            <a:r>
              <a:rPr lang="en-US" dirty="0"/>
              <a:t>Baroreceptors – pressure sensitive receptors located in the walls of blood vessels and heart; respond to changes in stretch of vessel walls by sending impulses to CV center in brainstem.</a:t>
            </a:r>
          </a:p>
          <a:p>
            <a:r>
              <a:rPr lang="en-US" dirty="0"/>
              <a:t>Chemoreceptors monitor O</a:t>
            </a:r>
            <a:r>
              <a:rPr lang="en-US" baseline="-25000" dirty="0"/>
              <a:t>2</a:t>
            </a:r>
            <a:r>
              <a:rPr lang="en-US" dirty="0"/>
              <a:t> &amp; CO</a:t>
            </a:r>
            <a:r>
              <a:rPr lang="en-US" baseline="-25000" dirty="0"/>
              <a:t>2</a:t>
            </a:r>
            <a:r>
              <a:rPr lang="en-US" dirty="0"/>
              <a:t> &amp; H</a:t>
            </a:r>
            <a:r>
              <a:rPr lang="en-US" baseline="30000" dirty="0"/>
              <a:t>+</a:t>
            </a:r>
            <a:r>
              <a:rPr lang="en-US" dirty="0"/>
              <a:t> and located in the carotid bodies which lie in the bifurcation of the internal &amp; external carotids; they communicate with both the respiratory and cardiovascular centers of the brainstem.</a:t>
            </a:r>
          </a:p>
        </p:txBody>
      </p:sp>
    </p:spTree>
    <p:extLst>
      <p:ext uri="{BB962C8B-B14F-4D97-AF65-F5344CB8AC3E}">
        <p14:creationId xmlns:p14="http://schemas.microsoft.com/office/powerpoint/2010/main" val="25021493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655AF-A83A-CA8A-5AE9-A51198D92E89}"/>
              </a:ext>
            </a:extLst>
          </p:cNvPr>
          <p:cNvSpPr>
            <a:spLocks noGrp="1"/>
          </p:cNvSpPr>
          <p:nvPr>
            <p:ph type="title"/>
          </p:nvPr>
        </p:nvSpPr>
        <p:spPr/>
        <p:txBody>
          <a:bodyPr/>
          <a:lstStyle/>
          <a:p>
            <a:r>
              <a:rPr lang="en-US" dirty="0"/>
              <a:t>Quick quiz!</a:t>
            </a:r>
          </a:p>
        </p:txBody>
      </p:sp>
      <p:sp>
        <p:nvSpPr>
          <p:cNvPr id="3" name="Content Placeholder 2">
            <a:extLst>
              <a:ext uri="{FF2B5EF4-FFF2-40B4-BE49-F238E27FC236}">
                <a16:creationId xmlns:a16="http://schemas.microsoft.com/office/drawing/2014/main" id="{DF2518DD-E1F0-029B-9423-BD93BA076D55}"/>
              </a:ext>
            </a:extLst>
          </p:cNvPr>
          <p:cNvSpPr>
            <a:spLocks noGrp="1"/>
          </p:cNvSpPr>
          <p:nvPr>
            <p:ph idx="1"/>
          </p:nvPr>
        </p:nvSpPr>
        <p:spPr>
          <a:xfrm>
            <a:off x="471791" y="2071990"/>
            <a:ext cx="8229600" cy="4525963"/>
          </a:xfrm>
        </p:spPr>
        <p:txBody>
          <a:bodyPr/>
          <a:lstStyle/>
          <a:p>
            <a:r>
              <a:rPr lang="en-US" dirty="0"/>
              <a:t>What does compliance mean in terms of blood vessels?</a:t>
            </a:r>
          </a:p>
          <a:p>
            <a:endParaRPr lang="en-US" dirty="0"/>
          </a:p>
          <a:p>
            <a:r>
              <a:rPr lang="en-US" dirty="0"/>
              <a:t>What is preload of the heart? Afterload?</a:t>
            </a:r>
          </a:p>
        </p:txBody>
      </p:sp>
    </p:spTree>
    <p:extLst>
      <p:ext uri="{BB962C8B-B14F-4D97-AF65-F5344CB8AC3E}">
        <p14:creationId xmlns:p14="http://schemas.microsoft.com/office/powerpoint/2010/main" val="39979073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50C60B2C77D864AA4EB4714A107E598" ma:contentTypeVersion="10" ma:contentTypeDescription="Create a new document." ma:contentTypeScope="" ma:versionID="8c18fb02c14bd21e9a254fcfc853db65">
  <xsd:schema xmlns:xsd="http://www.w3.org/2001/XMLSchema" xmlns:xs="http://www.w3.org/2001/XMLSchema" xmlns:p="http://schemas.microsoft.com/office/2006/metadata/properties" xmlns:ns3="4f14baff-bad7-40ed-a564-b85440d9c670" targetNamespace="http://schemas.microsoft.com/office/2006/metadata/properties" ma:root="true" ma:fieldsID="989462bb75dea23d33642a5b6ffd2c5c" ns3:_="">
    <xsd:import namespace="4f14baff-bad7-40ed-a564-b85440d9c670"/>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ServiceOCR"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f14baff-bad7-40ed-a564-b85440d9c67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6F458FC-335A-4D3D-B519-13E4B56B45E2}">
  <ds:schemaRefs>
    <ds:schemaRef ds:uri="http://purl.org/dc/terms/"/>
    <ds:schemaRef ds:uri="http://schemas.openxmlformats.org/package/2006/metadata/core-properties"/>
    <ds:schemaRef ds:uri="4f14baff-bad7-40ed-a564-b85440d9c670"/>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www.w3.org/XML/1998/namespace"/>
    <ds:schemaRef ds:uri="http://purl.org/dc/dcmitype/"/>
  </ds:schemaRefs>
</ds:datastoreItem>
</file>

<file path=customXml/itemProps2.xml><?xml version="1.0" encoding="utf-8"?>
<ds:datastoreItem xmlns:ds="http://schemas.openxmlformats.org/officeDocument/2006/customXml" ds:itemID="{2D4AAF61-F030-4781-BF7F-30465F57686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f14baff-bad7-40ed-a564-b85440d9c67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96A0833-2D60-400B-A513-701EF5BC1B8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11853</TotalTime>
  <Words>4056</Words>
  <Application>Microsoft Office PowerPoint</Application>
  <PresentationFormat>On-screen Show (4:3)</PresentationFormat>
  <Paragraphs>326</Paragraphs>
  <Slides>66</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66</vt:i4>
      </vt:variant>
    </vt:vector>
  </HeadingPairs>
  <TitlesOfParts>
    <vt:vector size="69" baseType="lpstr">
      <vt:lpstr>Arial</vt:lpstr>
      <vt:lpstr>Calibri</vt:lpstr>
      <vt:lpstr>Office Theme</vt:lpstr>
      <vt:lpstr>Cardiovascular Physiology</vt:lpstr>
      <vt:lpstr>Organization of the Circulatory System</vt:lpstr>
      <vt:lpstr>Central vs Peripheral</vt:lpstr>
      <vt:lpstr>Organization of the Circulatory System</vt:lpstr>
      <vt:lpstr>Organization of the Circulatory System</vt:lpstr>
      <vt:lpstr>Principles of Blood Flow  (Hemodynamics)</vt:lpstr>
      <vt:lpstr>Pressure, Resistance, &amp; Flow</vt:lpstr>
      <vt:lpstr>Laminar vs. Turbulent Flow</vt:lpstr>
      <vt:lpstr>Laminar vs. Turbulent Flow</vt:lpstr>
      <vt:lpstr>Wall Tension, Radius &amp; Pressure</vt:lpstr>
      <vt:lpstr>Distensibility &amp; Compliance</vt:lpstr>
      <vt:lpstr>Distensibility and Compliance</vt:lpstr>
      <vt:lpstr>Heart as a “Pump”</vt:lpstr>
      <vt:lpstr>Heart as a “Pump”</vt:lpstr>
      <vt:lpstr>PowerPoint Presentation</vt:lpstr>
      <vt:lpstr>Cardiac Conducting System</vt:lpstr>
      <vt:lpstr>Cardiac Conducting System</vt:lpstr>
      <vt:lpstr>Cardiac Conducting System</vt:lpstr>
      <vt:lpstr>Cardiac Conducting System</vt:lpstr>
      <vt:lpstr>PowerPoint Presentation</vt:lpstr>
      <vt:lpstr>Action Potentials of Myocardium</vt:lpstr>
      <vt:lpstr>Action Potentials of Myocardium</vt:lpstr>
      <vt:lpstr>Action Potentials of Myocardium</vt:lpstr>
      <vt:lpstr>Action Potentials of Myocardium</vt:lpstr>
      <vt:lpstr>Action Potentials of Myocardium</vt:lpstr>
      <vt:lpstr>Absolute &amp; Relative Refractory Periods</vt:lpstr>
      <vt:lpstr>Absolute &amp; Relative Refractory Periods</vt:lpstr>
      <vt:lpstr>Cardiac Cycle</vt:lpstr>
      <vt:lpstr>Ventricular Systole &amp; Diastole</vt:lpstr>
      <vt:lpstr>Ventricular Systole &amp; Diastole</vt:lpstr>
      <vt:lpstr>Atrial Filling &amp; Contraction</vt:lpstr>
      <vt:lpstr>Atrial Filling &amp; Contraction</vt:lpstr>
      <vt:lpstr>Atrial Filling &amp; Contraction</vt:lpstr>
      <vt:lpstr>Regulation of Cardiac Performance</vt:lpstr>
      <vt:lpstr>Regulation of Cardiac Performance</vt:lpstr>
      <vt:lpstr>Preload</vt:lpstr>
      <vt:lpstr>Frank-Starling Mechanism  (Starling Law)</vt:lpstr>
      <vt:lpstr>Afterload</vt:lpstr>
      <vt:lpstr>PowerPoint Presentation</vt:lpstr>
      <vt:lpstr>Cardiac Contractility</vt:lpstr>
      <vt:lpstr>Heart Rate</vt:lpstr>
      <vt:lpstr>Systemic Circulation</vt:lpstr>
      <vt:lpstr>Blood Vessels</vt:lpstr>
      <vt:lpstr>Vascular Smooth Muscle</vt:lpstr>
      <vt:lpstr>Vascular Smooth Muscle</vt:lpstr>
      <vt:lpstr>Arterial System</vt:lpstr>
      <vt:lpstr>Arterial System</vt:lpstr>
      <vt:lpstr>Arterial System</vt:lpstr>
      <vt:lpstr>Venous System</vt:lpstr>
      <vt:lpstr>Venous System</vt:lpstr>
      <vt:lpstr>PowerPoint Presentation</vt:lpstr>
      <vt:lpstr>Microcirculation &amp; Lymphatic System</vt:lpstr>
      <vt:lpstr>Microcirculation &amp; Lymphatic System</vt:lpstr>
      <vt:lpstr>Local &amp; Humoral Control of Blood Flow</vt:lpstr>
      <vt:lpstr>Autoregulation</vt:lpstr>
      <vt:lpstr>Endothelial Control</vt:lpstr>
      <vt:lpstr>Endothelial Control</vt:lpstr>
      <vt:lpstr>Humoral Control</vt:lpstr>
      <vt:lpstr>Humoral Control</vt:lpstr>
      <vt:lpstr>Humoral Control</vt:lpstr>
      <vt:lpstr>Humoral Control</vt:lpstr>
      <vt:lpstr>Humoral Control</vt:lpstr>
      <vt:lpstr>Neural Control of Circulatory Function</vt:lpstr>
      <vt:lpstr>ANS Control of B/P</vt:lpstr>
      <vt:lpstr>ANS Control of B/P</vt:lpstr>
      <vt:lpstr>Quick quiz!</vt:lpstr>
    </vt:vector>
  </TitlesOfParts>
  <Company>Kettering Health Network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Cardiovascular Physiology</dc:title>
  <dc:creator>kcadmin</dc:creator>
  <cp:lastModifiedBy>Palmer, Caroline</cp:lastModifiedBy>
  <cp:revision>109</cp:revision>
  <dcterms:created xsi:type="dcterms:W3CDTF">2014-09-23T16:23:36Z</dcterms:created>
  <dcterms:modified xsi:type="dcterms:W3CDTF">2026-10-15T14:26:05Z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0x010100C50C60B2C77D864AA4EB4714A107E598</vt:lpwstr>
  </property>
</Properties>
</file>